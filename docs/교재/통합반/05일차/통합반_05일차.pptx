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판단의 재료인 지식과 규칙을 만들었습니다. 오늘은 그 재료로 실제로 일하는 에이전트를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본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94초 동안 에이전트가 한 일은 네 가지입니다. 센서 값을 읽었고, 그 값으로 원인 후보 셋 가운데 쿨러 핀 오염을 가렸고, 조치 후보 넷을 견주었고, 그 결과를 추천안으로 제출했습니다. 질문 하나에 답 하나를 내는 일과는 성격이 다릅니다. 이런 일을 맡길 수 있으려면 AI가 무엇을 갖추어야 하는지를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앞 시간에 이름을 본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다음 시간에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도구가 있어도 한 번 부르고 끝낼 수는 없습니다. 조치 후보를 평가하려면 원인을 입력으로 넣어야 하는데, 원인은 진단을 부른 뒤에야 알 수 있기 때문입니다. 앞 호출의 결과가 다음 호출의 입력을 정합니다. 그래서 호출과 관찰을 되풀이하는 틀이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단계들을 쿨러 사건의 기록에서 차례로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기록 앞부분입니다. 11시 13분 8초에 경보가 났고 1초 뒤에 에이전트 단계가 시작되었습니다. 에이전트는 맡은 업무와 입력을 받고, 가장 먼저 업무 지침인 에이전트 스킬을 읽었습니다. 마지막 줄은 에이전트가 스스로 적은 진행 설명이며, 무엇을 하려는지가 기록에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가리고 조치를 추천하라」는 목표는 그대로는 수행할 수 없으므로 도구 호출의 순서로 풀어야 합니다. 그것이 계획입니다. 쿨러 사건에서는 업무 지침에 다섯 단계가 적혀 있었고 에이전트는 이를 뼈대로 삼았습니다. 다만 지침은 뼈대일 뿐이어서, 실제로 어떤 값을 넣고 결과를 어떻게 읽을지는 그때마다 에이전트가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되돌아가는 장면입니다. 대안 평가가 돌려준 결과는 12만 자가 넘어 그대로 쓰기에는 너무 길었습니다. 에이전트는 이를 알아차리고 순위와 규정 판정만 간추리겠다고 계획을 고쳤으며, 6초 뒤에는 필요한 항목만 좁혀 다시 뽑겠다고 했습니다. 따옴표 안은 에이전트가 기록에 남긴 말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시도하는 데에는 한도가 있습니다. 조회문을 고쳐 다시 시도하는 것도, 형식이 틀린 결과를 고쳐 다시 내는 것도 두 번까지입니다. 한 번의 실행 전체에는 1,800초, 곧 30분의 제한이 걸려 있습니다. 한도를 넘기면 에이전트는 멈추고 그 작업은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마지막인 종료입니다. 에이전트는 판단 제출이라는 도구를 불러 추천안을 냈고 판단 번호를 돌려받았습니다. 그 뒤 정해진 형식의 결과를 남기고 단계를 끝냈습니다. 시작부터 1분 34초, 곧 94초가 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내는 것은 두 가지로 나뉩니다. 왼쪽의 답변은 질문한 사람이 읽으면 그것으로 끝납니다. 오른쪽의 업무 산출물은 승인할 담당자와 다음 단계의 시스템이 받으며, 그래서 항목이 정해져 있어야 합니다. 하나씩 실제 예로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칸의 단순 답변부터 봅니다. 완제품 재고가 가장 적은 설비를 묻자 에이전트는 업무 DB를 조회해 HYD-02의 100개라고 답했습니다. 답 아래에는 실행한 조회문이 근거로 붙어 있습니다. 답이 한 번이어도 에이전트는 기억이 아니라 도구로 읽은 값으로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칸의 업무 산출물입니다. 쿨러 사건의 추천안에는 네 가지가 들어 있습니다. 진단한 원인, 추천하는 조치 하나, 뒤진 대안 셋, 그리고 그렇게 판단한 이유와 판단 번호입니다. 대안이 왜 뒤졌는지까지 함께 내므로 담당자는 추천 하나만이 아니라 견준 과정을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어디로 넘어가는지를 시각과 함께 봅니다. 에이전트의 일은 맨 왼쪽에서, 곧 추천안을 내고 단계를 끝낸 11시 14분 42초에 끝납니다. 13초 뒤인 11시 14분 56초에 운전원이 승인하자 1초 뒤에 시스템이 팬 속도 명령을 만들었고, 재관측을 거쳐 핀 세척 작업지시도 시스템이 등록했습니다. 에이전트에게는 설비에 명령을 보낼 도구가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에이전트라는 말에 따라붙는 혼동 넷을 앞에서 본 장면으로 바로잡습니다. 에이전트는 더 뛰어난 모델이 아니라 모델에 도구와 고리를 더한 구성입니다. 한 번에 끝나지 않고 고쳐 가며 여러 번 부릅니다. 조치를 실행하지 않고 제안까지 합니다. 그리고 RAG와 에이전트는 맞서는 것이 아니어서, 문서 검색이 에이전트의 도구가 될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한 줄로 모았습니다. LLM은 학습한 내용으로 답하고, RAG는 문서를 찾아 읽고 답합니다. 에이전트는 도구를 부르고 결과를 보며 되풀이해 산출물을 냅니다. 그 산출물을 승인하는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앞 시간까지 만든 그래프입니다. 에이전트는 고장 유형에서 CAUSES를 거슬러 원인 후보 셋을, MITIGATED_BY를 따라 조치 방법을 얻었습니다. 그래프가 알려 주는 것은 후보까지이며, 셋 가운데 어느 것이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시계열 DB에서 읽은 값 하나를 자세히 봅니다. 냉각 효율 46.2는 한순간의 값이 아니라 최근 30초의 평균이며, 그렇게 읽으라는 방법은 지식 그래프의 증거에 적혀 있었습니다. 기준 70도 지식 그래프에서 왔습니다. 아래의 coverage는 그 30초 동안 표본이 30개 있었다는 뜻으로, 값이 띄엄띄엄 들어온 구간으로 평균을 내지 않았음을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DB에서 읽은 값입니다. 에이전트는 설비 이름 하나를 물음으로 넣어 이 설비에 걸린 생산오더를 받았습니다. 납기까지 5.98시간이 남았고 남은 수량은 1,500개입니다. 3일차에 부하를 낮추는 조치가 납기에서 점수를 잃은 것이 이 값 때문이었습니다. 출하 대기 로트도 같은 방식으로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정보원을 읽는 방식에는 공통점이 있습니다. 에이전트는 어느 데이터베이스에도 직접 접속하지 않고 도구를 거칩니다. 시계열 DB와 업무 DB를 읽는 도구는 읽기 전용이며, 한 번에 200행까지만 돌려주고 5초 안에 끝나지 않는 조회는 끊습니다. 에이전트가 조회문을 잘못 쓰더라도 데이터가 바뀌거나 시스템이 오래 붙잡히지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잘 바뀌지 않는 지식과 계속 변하는 값을 나누어 두었습니다. 모델이 이 둘을 섞으면 두 가지 꼴로 나타납니다. 왼쪽은 매뉴얼의 기준 70을 잰 값처럼 말하는 경우입니다. 오른쪽은 한 번 읽은 55.71을 한참 뒤에도 지금의 유온으로 쓰는 경우입니다. 두 문장 모두 숫자가 들어 있어 그럴듯하게 읽히므로, 읽는 사람이 알아차리기 어렵습니다.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혼동을 막는 첫째 장치는 규칙입니다.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장치는 값에 붙는 신선도입니다.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보류라는 말이 나왔으니 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멈춤 조건인 권한 제한입니다. 에이전트마다 부를 수 있는 도구가 허용 목록으로 정해져 있습니다. 목록 밖의 도구를 부르려 하면 실행되지 않고 권한 요청이 되며, 그 요청은 질문이 되어 사람에게 올라갑니다. 마지막 칸은 에이전트에게 주는 지시의 한 문장입니다. 사람이 질문에 답하더라도 그것으로 에이전트의 권한이 넓어지지는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멈추지 않고 끝까지 간 경우에 에이전트가 내는 결과의 형식입니다. 앞 시간에 배운 구조화 출력이 여기에도 쓰입니다.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낸 결과는 시스템이 먼저 검사합니다. 정해진 항목이 빠졌거나 모양이 어긋나면 그 결과는 승인 화면으로 가지 못하고, 거절됐다는 알림과 이유가 에이전트에게 되돌아갑니다. 에이전트는 같은 실행 안에서 고쳐서 다시 냅니다. 앞 단원에서 본 대로 이 교정은 두 번까지입니다.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결과와 함께 과정도 남습니다. 위의 상자가 처리 기록이며, 에이전트의 말과 도구 호출이 시각 순서로 한 줄씩 쌓입니다. 그 가운데 도구 호출 한 줄을 아래에 펼쳤습니다. 언제, 어느 도구에, 무엇을 물어, 무엇을 받았고, 얼마나 걸렸는지의 다섯 칸입니다. 입력과 출력이 모두 남으므로 추천안에 적힌 값이 어느 호출에서 왔는지를 찾아갈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기록은 결과가 이상해 보일 때 쓰입니다. 추천안의 값 하나가 의심스러우면 그 값을 돌려준 호출을 기록에서 찾습니다. 출력이 그 값이 맞다면 다음은 입력입니다. 엉뚱한 설비나 틀린 원인을 넣지 않았는지를 봅니다. 입력도 옳다면 문제는 도구나 그 뒤의 데이터에 있고, 입력이 틀렸다면 호출 사이의 말에서 에이전트가 왜 그렇게 했는지를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과정의 기록과 별도로, 결과 안에도 근거가 들어 있어야 합니다. 에이전트는 모든 판단에 지식 그래프의 식별자를 인용하도록 되어 있습니다. 「쿨러 핀 오염」이라는 이름만 있으면 그것이 등록된 지식인지 모델이 지어낸 말인지 구별할 수 없습니다. 식별자가 있으면 그 노드를 찾아가 출처인 매뉴얼의 절까지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근거를 적었다는 것만으로는 충분하지 않습니다. 그 근거 자체를 꾸며 낼 수 있기 때문입니다. 그래서 답에 적힌 조회가 실제 호출 기록에 있는지를 시스템이 대조합니다. 기록에 있으면 근거가 확인된 답으로, 없으면 근거가 확인되지 않은 답으로 구분해 보입니다. 실행 기록은 사람이 읽는 데에만 쓰이는 것이 아니라 이렇게 검사에도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것이 하나 더 있습니다. 유온이 오르는 동안 냉각 효율이 떨어졌다는 것만으로 쿨러가 원인이라고 적으면 안 됩니다. 같은 모습이 팬 구동 불량이나 주변 온도 상승에서도 나타나기 때문입니다. 쿨러 사건에서는 팬 진동과 캐비닛 온도를 기준에 대어 두 후보를 지우고 남은 하나만 확인된 원인으로 적었습니다. 값을 읽지 못해 지우지도 확인하지도 못한 후보가 있으면 가설이라고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모았습니다. 에이전트는 물음에 맞는 정보원을 도구로 읽고, 기준과 값을 섞지 않으며, 근거가 모자라면 멈춥니다. 끝까지 간 결과는 정해진 항목으로 제출하고, 그 과정은 호출마다 기록으로 남깁니다. 에이전트가 낸 추천을 사람이 확인하고 승인할 수 있는 것은 이 다섯 가지가 갖추어져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바이브 코딩으로 진행합니다. 공용 온톨로지의 관계와 제공된 센서 입력을 읽어 후보 원인과 증거, 다음 점검 순서를 내는 에이전트를 구성합니다.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불량 접수 메시지를 받아 후속 업무로 넘기는 작은 에이전트를 만듭니다. 출력은 품질 유형, 추가 확인 항목, 담당 부서, 대응 초안의 정해진 항목을 가진 품질 대응 카드입니다. 원인이 정해지지 않은 접수는 원인을 단정하지 않고 조사 요청으로 넘기는 갈래를 반드시 둡니다.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센서 시계열에서 이상 징후를 찾아 도표로 그립니다. 온도와 압력이 시간에 따라 어떻게 변했는지, 어느 구간에서 올랐는지를 비교합니다. 요약에는 이상 구간과 관련 태그와 조회 기간을 근거와 함께 적습니다. 마지막으로 그 출력이 함께 변한 값을 원인이라고 단정하지 않았는지를 점검합니다.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셋과 함께 실행 고리, 정보원, 신선도, 멈춤 조건, 보류, 실행 기록이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에이전트와 사람 사이의 책임 경계를 확인하는 문항입니다. 상황이 급하다는 것이 권한을 바꾸는지, 사람의 답변이 권한을 바꾸는지를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1번은 묵은 값을, 2번은 실패를 0으로, 3번은 후보를 확인된 원인으로 바꾸어 쓴 것입니다. 셋째 문항의 4번은 사람에게 물었다는 점에서 그럴듯하지만, 답변이 권한을 바꾸지 않는다는 점에서 틀렸습니다.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29.png"/><Relationship Id="rId5"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8.png"/><Relationship Id="rId6" Type="http://schemas.openxmlformats.org/officeDocument/2006/relationships/image" Target="../media/image38.png"/><Relationship Id="rId7" Type="http://schemas.openxmlformats.org/officeDocument/2006/relationships/image" Target="../media/image3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31.png"/><Relationship Id="rId7"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7.png"/><Relationship Id="rId4"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1.png"/><Relationship Id="rId4" Type="http://schemas.openxmlformats.org/officeDocument/2006/relationships/image" Target="../media/image47.png"/><Relationship Id="rId5"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9.png"/><Relationship Id="rId4"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54.png"/><Relationship Id="rId5"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4.png"/><Relationship Id="rId4" Type="http://schemas.openxmlformats.org/officeDocument/2006/relationships/image" Target="../media/image53.png"/><Relationship Id="rId5" Type="http://schemas.openxmlformats.org/officeDocument/2006/relationships/image" Target="../media/image19.png"/><Relationship Id="rId6" Type="http://schemas.openxmlformats.org/officeDocument/2006/relationships/image" Target="../media/image5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2.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3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9.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image" Target="../media/image2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2.png"/><Relationship Id="rId4" Type="http://schemas.openxmlformats.org/officeDocument/2006/relationships/image" Target="../media/image49.png"/><Relationship Id="rId5"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6.png"/><Relationship Id="rId4" Type="http://schemas.openxmlformats.org/officeDocument/2006/relationships/image" Target="../media/image5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 Id="rId4" Type="http://schemas.openxmlformats.org/officeDocument/2006/relationships/image" Target="../media/image3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8.png"/><Relationship Id="rId6" Type="http://schemas.openxmlformats.org/officeDocument/2006/relationships/image" Target="../media/image29.png"/><Relationship Id="rId7"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6.png"/><Relationship Id="rId4" Type="http://schemas.openxmlformats.org/officeDocument/2006/relationships/image" Target="../media/image19.png"/><Relationship Id="rId5" Type="http://schemas.openxmlformats.org/officeDocument/2006/relationships/image" Target="../media/image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38.png"/><Relationship Id="rId6" Type="http://schemas.openxmlformats.org/officeDocument/2006/relationships/image" Target="../media/image3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0.png"/><Relationship Id="rId4" Type="http://schemas.openxmlformats.org/officeDocument/2006/relationships/image" Target="../media/image44.png"/><Relationship Id="rId5" Type="http://schemas.openxmlformats.org/officeDocument/2006/relationships/image" Target="../media/image61.png"/><Relationship Id="rId6" Type="http://schemas.openxmlformats.org/officeDocument/2006/relationships/image" Target="../media/image5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2.png"/><Relationship Id="rId4" Type="http://schemas.openxmlformats.org/officeDocument/2006/relationships/image" Target="../media/image54.png"/><Relationship Id="rId5" Type="http://schemas.openxmlformats.org/officeDocument/2006/relationships/image" Target="../media/image3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5일차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지식으로 실제 문제를</a:t>
            </a:r>
          </a:p>
          <a:p>
            <a:pPr algn="l">
              <a:lnSpc>
                <a:spcPct val="110000"/>
              </a:lnSpc>
            </a:pPr>
            <a:r>
              <a:rPr sz="4000" b="1">
                <a:solidFill>
                  <a:srgbClr val="FFFFFF"/>
                </a:solidFill>
                <a:latin typeface="맑은 고딕"/>
                <a:ea typeface="맑은 고딕"/>
                <a:cs typeface="맑은 고딕"/>
              </a:rPr>
              <a:t>해결하는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요청 해석에서 종료까지의 단계를 실제 처리 기록에서 짚어 낸다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도구</a:t>
            </a:r>
          </a:p>
          <a:p>
            <a:pPr algn="l">
              <a:lnSpc>
                <a:spcPct val="110000"/>
              </a:lnSpc>
              <a:spcAft>
                <a:spcPts val="400"/>
              </a:spcAft>
            </a:pPr>
            <a:r>
              <a:rPr sz="1350" b="0">
                <a:solidFill>
                  <a:srgbClr val="1F2A3A"/>
                </a:solidFill>
                <a:latin typeface="맑은 고딕"/>
                <a:ea typeface="맑은 고딕"/>
                <a:cs typeface="맑은 고딕"/>
              </a:rPr>
              <a:t>온톨로지, 시계열 DB, 업무 DB, SOP가 답하는 물음을 가르고 지식과 현재값을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기록</a:t>
            </a:r>
          </a:p>
          <a:p>
            <a:pPr algn="l">
              <a:lnSpc>
                <a:spcPct val="110000"/>
              </a:lnSpc>
              <a:spcAft>
                <a:spcPts val="400"/>
              </a:spcAft>
            </a:pPr>
            <a:r>
              <a:rPr sz="1350" b="0">
                <a:solidFill>
                  <a:srgbClr val="1F2A3A"/>
                </a:solidFill>
                <a:latin typeface="맑은 고딕"/>
                <a:ea typeface="맑은 고딕"/>
                <a:cs typeface="맑은 고딕"/>
              </a:rPr>
              <a:t>에이전트가 멈춰야 하는 조건을 들고, 결과와 과정이 남는 형식을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질문하는 AI와 일하는 AI: 에이전트의 실행 고리</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정보원과 도구 사용 원리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질문하는 AI와 일하는 AI:</a:t>
            </a:r>
          </a:p>
          <a:p>
            <a:pPr algn="l">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목표에 이를 때까지 도구를 쓰며 일하는 에이전트의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905401808005698168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94초 동안 한 일: 조회, 판정, 비교, 제출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94초는 답 한 번을 만든 시간이 아니라, 값을 읽고 원인을 가리고 후보를 견주어 제출하는 여러 단계의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값을 읽는다</a:t>
            </a:r>
          </a:p>
          <a:p>
            <a:pPr algn="ctr">
              <a:lnSpc>
                <a:spcPct val="110000"/>
              </a:lnSpc>
              <a:spcAft>
                <a:spcPts val="400"/>
              </a:spcAft>
            </a:pPr>
            <a:r>
              <a:rPr sz="1350" b="0">
                <a:solidFill>
                  <a:srgbClr val="1F2A3A"/>
                </a:solidFill>
                <a:latin typeface="맑은 고딕"/>
                <a:ea typeface="맑은 고딕"/>
                <a:cs typeface="맑은 고딕"/>
              </a:rPr>
              <a:t>유온, 냉각 효율,</a:t>
            </a:r>
          </a:p>
          <a:p>
            <a:pPr algn="ctr">
              <a:lnSpc>
                <a:spcPct val="110000"/>
              </a:lnSpc>
              <a:spcAft>
                <a:spcPts val="400"/>
              </a:spcAft>
            </a:pPr>
            <a:r>
              <a:rPr sz="1350" b="0">
                <a:solidFill>
                  <a:srgbClr val="1F2A3A"/>
                </a:solidFill>
                <a:latin typeface="맑은 고딕"/>
                <a:ea typeface="맑은 고딕"/>
                <a:cs typeface="맑은 고딕"/>
              </a:rPr>
              <a:t>팬 진동, 캐비닛 온도</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가린다</a:t>
            </a:r>
          </a:p>
          <a:p>
            <a:pPr algn="ctr">
              <a:lnSpc>
                <a:spcPct val="110000"/>
              </a:lnSpc>
              <a:spcAft>
                <a:spcPts val="400"/>
              </a:spcAft>
            </a:pPr>
            <a:r>
              <a:rPr sz="1350" b="0">
                <a:solidFill>
                  <a:srgbClr val="1F2A3A"/>
                </a:solidFill>
                <a:latin typeface="맑은 고딕"/>
                <a:ea typeface="맑은 고딕"/>
                <a:cs typeface="맑은 고딕"/>
              </a:rPr>
              <a:t>후보 셋 가운데</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scale" descr="scal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후보를 견준다</a:t>
            </a:r>
          </a:p>
          <a:p>
            <a:pPr algn="ctr">
              <a:lnSpc>
                <a:spcPct val="110000"/>
              </a:lnSpc>
              <a:spcAft>
                <a:spcPts val="400"/>
              </a:spcAft>
            </a:pPr>
            <a:r>
              <a:rPr sz="1350" b="0">
                <a:solidFill>
                  <a:srgbClr val="1F2A3A"/>
                </a:solidFill>
                <a:latin typeface="맑은 고딕"/>
                <a:ea typeface="맑은 고딕"/>
                <a:cs typeface="맑은 고딕"/>
              </a:rPr>
              <a:t>조치 후보 넷의</a:t>
            </a:r>
          </a:p>
          <a:p>
            <a:pPr algn="ctr">
              <a:lnSpc>
                <a:spcPct val="110000"/>
              </a:lnSpc>
              <a:spcAft>
                <a:spcPts val="400"/>
              </a:spcAft>
            </a:pPr>
            <a:r>
              <a:rPr sz="1350" b="0">
                <a:solidFill>
                  <a:srgbClr val="1F2A3A"/>
                </a:solidFill>
                <a:latin typeface="맑은 고딕"/>
                <a:ea typeface="맑은 고딕"/>
                <a:cs typeface="맑은 고딕"/>
              </a:rPr>
              <a:t>규정, 예측 유온, 순위</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추천안을 제출한다</a:t>
            </a:r>
          </a:p>
          <a:p>
            <a:pPr algn="ctr">
              <a:lnSpc>
                <a:spcPct val="110000"/>
              </a:lnSpc>
              <a:spcAft>
                <a:spcPts val="400"/>
              </a:spcAft>
            </a:pPr>
            <a:r>
              <a:rPr sz="1350" b="0">
                <a:solidFill>
                  <a:srgbClr val="1F2A3A"/>
                </a:solidFill>
                <a:latin typeface="맑은 고딕"/>
                <a:ea typeface="맑은 고딕"/>
                <a:cs typeface="맑은 고딕"/>
              </a:rPr>
              <a:t>추천 하나와</a:t>
            </a:r>
          </a:p>
          <a:p>
            <a:pPr algn="ctr">
              <a:lnSpc>
                <a:spcPct val="110000"/>
              </a:lnSpc>
              <a:spcAft>
                <a:spcPts val="400"/>
              </a:spcAft>
            </a:pPr>
            <a:r>
              <a:rPr sz="1350" b="0">
                <a:solidFill>
                  <a:srgbClr val="1F2A3A"/>
                </a:solidFill>
                <a:latin typeface="맑은 고딕"/>
                <a:ea typeface="맑은 고딕"/>
                <a:cs typeface="맑은 고딕"/>
              </a:rPr>
              <a:t>뒤진 대안 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RAG는 질문과 가까운 문서 조각을 찾아 모델에 함께 넣어, 모델이 학습하지 않은 문서의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세요소.svg" descr="illust_428703662204008934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응답으로 끝낼 수 없는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알아야 견줄 조치 후보가 정해지므로, 앞 호출의 결과를 본 뒤에야 다음 호출의 입력을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번에 답한다면</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모르는 채로 조치를 말해야 한다</a:t>
            </a:r>
          </a:p>
          <a:p>
            <a:pPr algn="l">
              <a:lnSpc>
                <a:spcPct val="110000"/>
              </a:lnSpc>
              <a:spcAft>
                <a:spcPts val="600"/>
              </a:spcAft>
            </a:pPr>
            <a:r>
              <a:rPr sz="1450" b="0">
                <a:solidFill>
                  <a:srgbClr val="1F2A3A"/>
                </a:solidFill>
                <a:latin typeface="맑은 고딕"/>
                <a:ea typeface="맑은 고딕"/>
                <a:cs typeface="맑은 고딕"/>
              </a:rPr>
              <a:t>• 값을 읽기 전에 결론을 적어야 한다</a:t>
            </a:r>
          </a:p>
          <a:p>
            <a:pPr algn="l">
              <a:lnSpc>
                <a:spcPct val="110000"/>
              </a:lnSpc>
              <a:spcAft>
                <a:spcPts val="600"/>
              </a:spcAft>
            </a:pPr>
            <a:r>
              <a:rPr sz="1450" b="0">
                <a:solidFill>
                  <a:srgbClr val="1F2A3A"/>
                </a:solidFill>
                <a:latin typeface="맑은 고딕"/>
                <a:ea typeface="맑은 고딕"/>
                <a:cs typeface="맑은 고딕"/>
              </a:rPr>
              <a:t>• 도중에 어긋나도 고칠 기회가 없다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추측이 섞인다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결과를 보고 다음을 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진단의 결과로 원인이 정해진다</a:t>
            </a:r>
          </a:p>
          <a:p>
            <a:pPr algn="l">
              <a:lnSpc>
                <a:spcPct val="110000"/>
              </a:lnSpc>
              <a:spcAft>
                <a:spcPts val="600"/>
              </a:spcAft>
            </a:pPr>
            <a:r>
              <a:rPr sz="1450" b="0">
                <a:solidFill>
                  <a:srgbClr val="1F2A3A"/>
                </a:solidFill>
                <a:latin typeface="맑은 고딕"/>
                <a:ea typeface="맑은 고딕"/>
                <a:cs typeface="맑은 고딕"/>
              </a:rPr>
              <a:t>• 그 원인을 입력으로 넣어 후보를 평가한다</a:t>
            </a:r>
          </a:p>
          <a:p>
            <a:pPr algn="l">
              <a:lnSpc>
                <a:spcPct val="110000"/>
              </a:lnSpc>
              <a:spcAft>
                <a:spcPts val="600"/>
              </a:spcAft>
            </a:pPr>
            <a:r>
              <a:rPr sz="1450" b="0">
                <a:solidFill>
                  <a:srgbClr val="1F2A3A"/>
                </a:solidFill>
                <a:latin typeface="맑은 고딕"/>
                <a:ea typeface="맑은 고딕"/>
                <a:cs typeface="맑은 고딕"/>
              </a:rPr>
              <a:t>• 뜻대로 되지 않으면 방법을 바꾸어 다시 한다</a:t>
            </a:r>
          </a:p>
        </p:txBody>
      </p:sp>
      <p:sp>
        <p:nvSpPr>
          <p:cNvPr id="18" name="Rounded Rectangle 17"/>
          <p:cNvSpPr/>
          <p:nvPr/>
        </p:nvSpPr>
        <p:spPr>
          <a:xfrm>
            <a:off x="6781647" y="4945570"/>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이어진다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실행고리.svg" descr="illust_5262896766216802726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①: 요청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맡은 업무와 입력을 받고 업무 지침을 읽어, 무엇을 내야 하는지를 파악하는 데서 시작되었다.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11:13:08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열렸습니다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11:13:09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불러오겠습니다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받은 것</a:t>
            </a:r>
          </a:p>
          <a:p>
            <a:pPr algn="l">
              <a:lnSpc>
                <a:spcPct val="110000"/>
              </a:lnSpc>
              <a:spcAft>
                <a:spcPts val="400"/>
              </a:spcAft>
            </a:pPr>
            <a:r>
              <a:rPr sz="1400" b="0">
                <a:solidFill>
                  <a:srgbClr val="1F2A3A"/>
                </a:solidFill>
                <a:latin typeface="맑은 고딕"/>
                <a:ea typeface="맑은 고딕"/>
                <a:cs typeface="맑은 고딕"/>
              </a:rPr>
              <a:t>맡은 업무, 입력(설비 HYD-01과 경보 번호), 결과를 낼 형식이다.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읽음</a:t>
            </a:r>
          </a:p>
          <a:p>
            <a:pPr algn="l">
              <a:lnSpc>
                <a:spcPct val="110000"/>
              </a:lnSpc>
              <a:spcAft>
                <a:spcPts val="400"/>
              </a:spcAft>
            </a:pPr>
            <a:r>
              <a:rPr sz="1400" b="0">
                <a:solidFill>
                  <a:srgbClr val="1F2A3A"/>
                </a:solidFill>
                <a:latin typeface="맑은 고딕"/>
                <a:ea typeface="맑은 고딕"/>
                <a:cs typeface="맑은 고딕"/>
              </a:rPr>
              <a:t>업무 지침인 에이전트 스킬을 읽어 무엇을 어떤 순서로 할지 파악했다.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에이전트가 호출 사이에 적은 진행 설명이다. 기록에 그대로 남는다.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658081" y="3154426"/>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3837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55544"/>
            <a:ext cx="434340" cy="434340"/>
          </a:xfrm>
          <a:prstGeom prst="rect">
            <a:avLst/>
          </a:prstGeom>
        </p:spPr>
      </p:pic>
      <p:sp>
        <p:nvSpPr>
          <p:cNvPr id="9" name="Oval 8"/>
          <p:cNvSpPr/>
          <p:nvPr/>
        </p:nvSpPr>
        <p:spPr>
          <a:xfrm>
            <a:off x="1818101" y="269265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입력 확인</a:t>
            </a:r>
          </a:p>
          <a:p>
            <a:pPr algn="ctr">
              <a:lnSpc>
                <a:spcPct val="110000"/>
              </a:lnSpc>
              <a:spcAft>
                <a:spcPts val="400"/>
              </a:spcAft>
            </a:pPr>
            <a:r>
              <a:rPr sz="1300" b="0">
                <a:solidFill>
                  <a:srgbClr val="1F2A3A"/>
                </a:solidFill>
                <a:latin typeface="맑은 고딕"/>
                <a:ea typeface="맑은 고딕"/>
                <a:cs typeface="맑은 고딕"/>
              </a:rPr>
              <a:t>설비, 경보의 종류,</a:t>
            </a:r>
          </a:p>
          <a:p>
            <a:pPr algn="ctr">
              <a:lnSpc>
                <a:spcPct val="110000"/>
              </a:lnSpc>
              <a:spcAft>
                <a:spcPts val="400"/>
              </a:spcAft>
            </a:pPr>
            <a:r>
              <a:rPr sz="1300" b="0">
                <a:solidFill>
                  <a:srgbClr val="1F2A3A"/>
                </a:solidFill>
                <a:latin typeface="맑은 고딕"/>
                <a:ea typeface="맑은 고딕"/>
                <a:cs typeface="맑은 고딕"/>
              </a:rPr>
              <a:t>경보 번호를 읽는다</a:t>
            </a:r>
          </a:p>
        </p:txBody>
      </p:sp>
      <p:sp>
        <p:nvSpPr>
          <p:cNvPr id="12" name="Oval 11"/>
          <p:cNvSpPr/>
          <p:nvPr/>
        </p:nvSpPr>
        <p:spPr>
          <a:xfrm>
            <a:off x="3442624"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55544"/>
            <a:ext cx="434340" cy="434340"/>
          </a:xfrm>
          <a:prstGeom prst="rect">
            <a:avLst/>
          </a:prstGeom>
        </p:spPr>
      </p:pic>
      <p:sp>
        <p:nvSpPr>
          <p:cNvPr id="14" name="Oval 13"/>
          <p:cNvSpPr/>
          <p:nvPr/>
        </p:nvSpPr>
        <p:spPr>
          <a:xfrm>
            <a:off x="4036984" y="269265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원인 진단</a:t>
            </a:r>
          </a:p>
          <a:p>
            <a:pPr algn="ctr">
              <a:lnSpc>
                <a:spcPct val="110000"/>
              </a:lnSpc>
              <a:spcAft>
                <a:spcPts val="400"/>
              </a:spcAft>
            </a:pPr>
            <a:r>
              <a:rPr sz="1300" b="0">
                <a:solidFill>
                  <a:srgbClr val="1F2A3A"/>
                </a:solidFill>
                <a:latin typeface="맑은 고딕"/>
                <a:ea typeface="맑은 고딕"/>
                <a:cs typeface="맑은 고딕"/>
              </a:rPr>
              <a:t>원인 1순위와</a:t>
            </a:r>
          </a:p>
          <a:p>
            <a:pPr algn="ctr">
              <a:lnSpc>
                <a:spcPct val="110000"/>
              </a:lnSpc>
              <a:spcAft>
                <a:spcPts val="400"/>
              </a:spcAft>
            </a:pPr>
            <a:r>
              <a:rPr sz="1300" b="0">
                <a:solidFill>
                  <a:srgbClr val="1F2A3A"/>
                </a:solidFill>
                <a:latin typeface="맑은 고딕"/>
                <a:ea typeface="맑은 고딕"/>
                <a:cs typeface="맑은 고딕"/>
              </a:rPr>
              <a:t>고장 유형을 얻는다</a:t>
            </a:r>
          </a:p>
        </p:txBody>
      </p:sp>
      <p:sp>
        <p:nvSpPr>
          <p:cNvPr id="17" name="Oval 16"/>
          <p:cNvSpPr/>
          <p:nvPr/>
        </p:nvSpPr>
        <p:spPr>
          <a:xfrm>
            <a:off x="5661507"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55544"/>
            <a:ext cx="434340" cy="434340"/>
          </a:xfrm>
          <a:prstGeom prst="rect">
            <a:avLst/>
          </a:prstGeom>
        </p:spPr>
      </p:pic>
      <p:sp>
        <p:nvSpPr>
          <p:cNvPr id="19" name="Oval 18"/>
          <p:cNvSpPr/>
          <p:nvPr/>
        </p:nvSpPr>
        <p:spPr>
          <a:xfrm>
            <a:off x="6255867" y="269265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업무 값 확인</a:t>
            </a:r>
          </a:p>
          <a:p>
            <a:pPr algn="ctr">
              <a:lnSpc>
                <a:spcPct val="110000"/>
              </a:lnSpc>
              <a:spcAft>
                <a:spcPts val="400"/>
              </a:spcAft>
            </a:pPr>
            <a:r>
              <a:rPr sz="1300" b="0">
                <a:solidFill>
                  <a:srgbClr val="1F2A3A"/>
                </a:solidFill>
                <a:latin typeface="맑은 고딕"/>
                <a:ea typeface="맑은 고딕"/>
                <a:cs typeface="맑은 고딕"/>
              </a:rPr>
              <a:t>납기 오더와</a:t>
            </a:r>
          </a:p>
          <a:p>
            <a:pPr algn="ctr">
              <a:lnSpc>
                <a:spcPct val="110000"/>
              </a:lnSpc>
              <a:spcAft>
                <a:spcPts val="400"/>
              </a:spcAft>
            </a:pPr>
            <a:r>
              <a:rPr sz="1300" b="0">
                <a:solidFill>
                  <a:srgbClr val="1F2A3A"/>
                </a:solidFill>
                <a:latin typeface="맑은 고딕"/>
                <a:ea typeface="맑은 고딕"/>
                <a:cs typeface="맑은 고딕"/>
              </a:rPr>
              <a:t>출하 대기 로트를 본다</a:t>
            </a:r>
          </a:p>
        </p:txBody>
      </p:sp>
      <p:sp>
        <p:nvSpPr>
          <p:cNvPr id="22" name="Oval 21"/>
          <p:cNvSpPr/>
          <p:nvPr/>
        </p:nvSpPr>
        <p:spPr>
          <a:xfrm>
            <a:off x="7880390" y="2738374"/>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55544"/>
            <a:ext cx="434340" cy="434340"/>
          </a:xfrm>
          <a:prstGeom prst="rect">
            <a:avLst/>
          </a:prstGeom>
        </p:spPr>
      </p:pic>
      <p:sp>
        <p:nvSpPr>
          <p:cNvPr id="24" name="Oval 23"/>
          <p:cNvSpPr/>
          <p:nvPr/>
        </p:nvSpPr>
        <p:spPr>
          <a:xfrm>
            <a:off x="8474750" y="269265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대안 평가</a:t>
            </a:r>
          </a:p>
          <a:p>
            <a:pPr algn="ctr">
              <a:lnSpc>
                <a:spcPct val="110000"/>
              </a:lnSpc>
              <a:spcAft>
                <a:spcPts val="400"/>
              </a:spcAft>
            </a:pPr>
            <a:r>
              <a:rPr sz="1300" b="0">
                <a:solidFill>
                  <a:srgbClr val="1F2A3A"/>
                </a:solidFill>
                <a:latin typeface="맑은 고딕"/>
                <a:ea typeface="맑은 고딕"/>
                <a:cs typeface="맑은 고딕"/>
              </a:rPr>
              <a:t>후보의 규정 판정,</a:t>
            </a:r>
          </a:p>
          <a:p>
            <a:pPr algn="ctr">
              <a:lnSpc>
                <a:spcPct val="110000"/>
              </a:lnSpc>
              <a:spcAft>
                <a:spcPts val="400"/>
              </a:spcAft>
            </a:pPr>
            <a:r>
              <a:rPr sz="1300" b="0">
                <a:solidFill>
                  <a:srgbClr val="1F2A3A"/>
                </a:solidFill>
                <a:latin typeface="맑은 고딕"/>
                <a:ea typeface="맑은 고딕"/>
                <a:cs typeface="맑은 고딕"/>
              </a:rPr>
              <a:t>예측 유온, 순위를 본다</a:t>
            </a:r>
          </a:p>
        </p:txBody>
      </p:sp>
      <p:sp>
        <p:nvSpPr>
          <p:cNvPr id="27" name="Oval 26"/>
          <p:cNvSpPr/>
          <p:nvPr/>
        </p:nvSpPr>
        <p:spPr>
          <a:xfrm>
            <a:off x="10099273" y="2738374"/>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55544"/>
            <a:ext cx="434340" cy="434340"/>
          </a:xfrm>
          <a:prstGeom prst="rect">
            <a:avLst/>
          </a:prstGeom>
        </p:spPr>
      </p:pic>
      <p:sp>
        <p:nvSpPr>
          <p:cNvPr id="29" name="Oval 28"/>
          <p:cNvSpPr/>
          <p:nvPr/>
        </p:nvSpPr>
        <p:spPr>
          <a:xfrm>
            <a:off x="10693633" y="2692654"/>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판단 제출</a:t>
            </a:r>
          </a:p>
          <a:p>
            <a:pPr algn="ctr">
              <a:lnSpc>
                <a:spcPct val="110000"/>
              </a:lnSpc>
              <a:spcAft>
                <a:spcPts val="400"/>
              </a:spcAft>
            </a:pPr>
            <a:r>
              <a:rPr sz="1300" b="0">
                <a:solidFill>
                  <a:srgbClr val="1F2A3A"/>
                </a:solidFill>
                <a:latin typeface="맑은 고딕"/>
                <a:ea typeface="맑은 고딕"/>
                <a:cs typeface="맑은 고딕"/>
              </a:rPr>
              <a:t>추천안을 제출하고</a:t>
            </a:r>
          </a:p>
          <a:p>
            <a:pPr algn="ctr">
              <a:lnSpc>
                <a:spcPct val="110000"/>
              </a:lnSpc>
              <a:spcAft>
                <a:spcPts val="400"/>
              </a:spcAft>
            </a:pPr>
            <a:r>
              <a:rPr sz="1300" b="0">
                <a:solidFill>
                  <a:srgbClr val="1F2A3A"/>
                </a:solidFill>
                <a:latin typeface="맑은 고딕"/>
                <a:ea typeface="맑은 고딕"/>
                <a:cs typeface="맑은 고딕"/>
              </a:rPr>
              <a:t>판단 번호를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②: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③: 재시도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대안 평가가 돌려준 결과가 128,466자로 길자, 에이전트는 필요한 항목만 좁혀 다시 뽑는 쪽으로 계획을 고쳤다.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관찰</a:t>
            </a:r>
          </a:p>
          <a:p>
            <a:pPr algn="ctr">
              <a:lnSpc>
                <a:spcPct val="110000"/>
              </a:lnSpc>
              <a:spcAft>
                <a:spcPts val="400"/>
              </a:spcAft>
            </a:pPr>
            <a:r>
              <a:rPr sz="1350" b="0">
                <a:solidFill>
                  <a:srgbClr val="1F2A3A"/>
                </a:solidFill>
                <a:latin typeface="맑은 고딕"/>
                <a:ea typeface="맑은 고딕"/>
                <a:cs typeface="맑은 고딕"/>
              </a:rPr>
              <a:t>11:13:23</a:t>
            </a:r>
          </a:p>
          <a:p>
            <a:pPr algn="ctr">
              <a:lnSpc>
                <a:spcPct val="110000"/>
              </a:lnSpc>
              <a:spcAft>
                <a:spcPts val="400"/>
              </a:spcAft>
            </a:pPr>
            <a:r>
              <a:rPr sz="1350" b="0">
                <a:solidFill>
                  <a:srgbClr val="1F2A3A"/>
                </a:solidFill>
                <a:latin typeface="맑은 고딕"/>
                <a:ea typeface="맑은 고딕"/>
                <a:cs typeface="맑은 고딕"/>
              </a:rPr>
              <a:t>대안 평가의 결과가</a:t>
            </a:r>
          </a:p>
          <a:p>
            <a:pPr algn="ctr">
              <a:lnSpc>
                <a:spcPct val="110000"/>
              </a:lnSpc>
              <a:spcAft>
                <a:spcPts val="400"/>
              </a:spcAft>
            </a:pPr>
            <a:r>
              <a:rPr sz="1350" b="0">
                <a:solidFill>
                  <a:srgbClr val="1F2A3A"/>
                </a:solidFill>
                <a:latin typeface="맑은 고딕"/>
                <a:ea typeface="맑은 고딕"/>
                <a:cs typeface="맑은 고딕"/>
              </a:rPr>
              <a:t>128,466자이다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계획 수정</a:t>
            </a:r>
          </a:p>
          <a:p>
            <a:pPr algn="ctr">
              <a:lnSpc>
                <a:spcPct val="110000"/>
              </a:lnSpc>
              <a:spcAft>
                <a:spcPts val="400"/>
              </a:spcAft>
            </a:pPr>
            <a:r>
              <a:rPr sz="1350" b="0">
                <a:solidFill>
                  <a:srgbClr val="1F2A3A"/>
                </a:solidFill>
                <a:latin typeface="맑은 고딕"/>
                <a:ea typeface="맑은 고딕"/>
                <a:cs typeface="맑은 고딕"/>
              </a:rPr>
              <a:t>11:13:40</a:t>
            </a:r>
          </a:p>
          <a:p>
            <a:pPr algn="ctr">
              <a:lnSpc>
                <a:spcPct val="110000"/>
              </a:lnSpc>
              <a:spcAft>
                <a:spcPts val="400"/>
              </a:spcAft>
            </a:pPr>
            <a:r>
              <a:rPr sz="1350" b="0">
                <a:solidFill>
                  <a:srgbClr val="1F2A3A"/>
                </a:solidFill>
                <a:latin typeface="맑은 고딕"/>
                <a:ea typeface="맑은 고딕"/>
                <a:cs typeface="맑은 고딕"/>
              </a:rPr>
              <a:t>「순위와 규정 판정만</a:t>
            </a:r>
          </a:p>
          <a:p>
            <a:pPr algn="ctr">
              <a:lnSpc>
                <a:spcPct val="110000"/>
              </a:lnSpc>
              <a:spcAft>
                <a:spcPts val="400"/>
              </a:spcAft>
            </a:pPr>
            <a:r>
              <a:rPr sz="13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재시도</a:t>
            </a:r>
          </a:p>
          <a:p>
            <a:pPr algn="ctr">
              <a:lnSpc>
                <a:spcPct val="110000"/>
              </a:lnSpc>
              <a:spcAft>
                <a:spcPts val="400"/>
              </a:spcAft>
            </a:pPr>
            <a:r>
              <a:rPr sz="1350" b="0">
                <a:solidFill>
                  <a:srgbClr val="1F2A3A"/>
                </a:solidFill>
                <a:latin typeface="맑은 고딕"/>
                <a:ea typeface="맑은 고딕"/>
                <a:cs typeface="맑은 고딕"/>
              </a:rPr>
              <a:t>11:13:46</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재시도의 한도: 조회문 수정, 형식 교정, 실행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조회문 수정과 형식 교정은 두 번까지, 한 번의 실행은 1,800초까지이며, 한도를 넘긴 작업은 멈춰 사람에게 넘어간다.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조회문 수정</a:t>
            </a:r>
          </a:p>
          <a:p>
            <a:pPr algn="l">
              <a:lnSpc>
                <a:spcPct val="110000"/>
              </a:lnSpc>
              <a:spcAft>
                <a:spcPts val="400"/>
              </a:spcAft>
            </a:pPr>
            <a:r>
              <a:rPr sz="1400" b="0">
                <a:solidFill>
                  <a:srgbClr val="1F2A3A"/>
                </a:solidFill>
                <a:latin typeface="맑은 고딕"/>
                <a:ea typeface="맑은 고딕"/>
                <a:cs typeface="맑은 고딕"/>
              </a:rPr>
              <a:t>직접 쓴 조회문이 오류를 내면 고쳐서 다시 시도한다</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번까지</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형식 교정</a:t>
            </a:r>
          </a:p>
          <a:p>
            <a:pPr algn="l">
              <a:lnSpc>
                <a:spcPct val="110000"/>
              </a:lnSpc>
              <a:spcAft>
                <a:spcPts val="400"/>
              </a:spcAft>
            </a:pPr>
            <a:r>
              <a:rPr sz="1400" b="0">
                <a:solidFill>
                  <a:srgbClr val="1F2A3A"/>
                </a:solidFill>
                <a:latin typeface="맑은 고딕"/>
                <a:ea typeface="맑은 고딕"/>
                <a:cs typeface="맑은 고딕"/>
              </a:rPr>
              <a:t>제출한 결과가 형식 검사에서 거절되면 고쳐서 다시 낸다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번까지</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시간</a:t>
            </a:r>
          </a:p>
          <a:p>
            <a:pPr algn="l">
              <a:lnSpc>
                <a:spcPct val="110000"/>
              </a:lnSpc>
              <a:spcAft>
                <a:spcPts val="400"/>
              </a:spcAft>
            </a:pPr>
            <a:r>
              <a:rPr sz="1400" b="0">
                <a:solidFill>
                  <a:srgbClr val="1F2A3A"/>
                </a:solidFill>
                <a:latin typeface="맑은 고딕"/>
                <a:ea typeface="맑은 고딕"/>
                <a:cs typeface="맑은 고딕"/>
              </a:rPr>
              <a:t>• 한 번의 실행에 쓸 수 있는 시간이다</a:t>
            </a:r>
          </a:p>
          <a:p>
            <a:pPr algn="l">
              <a:lnSpc>
                <a:spcPct val="110000"/>
              </a:lnSpc>
              <a:spcAft>
                <a:spcPts val="400"/>
              </a:spcAft>
            </a:pPr>
            <a:r>
              <a:rPr sz="1400" b="0">
                <a:solidFill>
                  <a:srgbClr val="1F2A3A"/>
                </a:solidFill>
                <a:latin typeface="맑은 고딕"/>
                <a:ea typeface="맑은 고딕"/>
                <a:cs typeface="맑은 고딕"/>
              </a:rPr>
              <a:t>• 넘기면 작업이 멈춘 채 남고 사람이 닫는다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1,800초</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④: 종료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 ms)</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제출</a:t>
            </a:r>
          </a:p>
          <a:p>
            <a:pPr algn="l">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번호</a:t>
            </a:r>
          </a:p>
          <a:p>
            <a:pPr algn="l">
              <a:lnSpc>
                <a:spcPct val="110000"/>
              </a:lnSpc>
              <a:spcAft>
                <a:spcPts val="400"/>
              </a:spcAft>
            </a:pPr>
            <a:r>
              <a:rPr sz="1400" b="0">
                <a:solidFill>
                  <a:srgbClr val="1F2A3A"/>
                </a:solidFill>
                <a:latin typeface="맑은 고딕"/>
                <a:ea typeface="맑은 고딕"/>
                <a:cs typeface="맑은 고딕"/>
              </a:rPr>
              <a:t>DEC-1010-002-408b. 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 끝</a:t>
            </a:r>
          </a:p>
          <a:p>
            <a:pPr algn="l">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단순 답변과 업무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답변은 사람이 읽으면 끝나고, 업무 산출물은 정해진 형식으로 다음 단계에 넘어가 승인과 실행의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단순 답변</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받는 쪽: 질문한 사람</a:t>
            </a:r>
          </a:p>
          <a:p>
            <a:pPr algn="l">
              <a:lnSpc>
                <a:spcPct val="110000"/>
              </a:lnSpc>
              <a:spcAft>
                <a:spcPts val="600"/>
              </a:spcAft>
            </a:pPr>
            <a:r>
              <a:rPr sz="1450" b="0">
                <a:solidFill>
                  <a:srgbClr val="1F2A3A"/>
                </a:solidFill>
                <a:latin typeface="맑은 고딕"/>
                <a:ea typeface="맑은 고딕"/>
                <a:cs typeface="맑은 고딕"/>
              </a:rPr>
              <a:t>• 형식: 답과 근거, 또는 답할 수 없다는 사실과 그 이유</a:t>
            </a:r>
          </a:p>
          <a:p>
            <a:pPr algn="l">
              <a:lnSpc>
                <a:spcPct val="110000"/>
              </a:lnSpc>
              <a:spcAft>
                <a:spcPts val="600"/>
              </a:spcAft>
            </a:pPr>
            <a:r>
              <a:rPr sz="1450" b="0">
                <a:solidFill>
                  <a:srgbClr val="1F2A3A"/>
                </a:solidFill>
                <a:latin typeface="맑은 고딕"/>
                <a:ea typeface="맑은 고딕"/>
                <a:cs typeface="맑은 고딕"/>
              </a:rPr>
              <a:t>• 다음 행동: 없다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lipboard-check" descr="clipboard-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산출물</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받는 쪽: 승인할 담당자와 다음 단계의 시스템</a:t>
            </a:r>
          </a:p>
          <a:p>
            <a:pPr algn="l">
              <a:lnSpc>
                <a:spcPct val="110000"/>
              </a:lnSpc>
              <a:spcAft>
                <a:spcPts val="600"/>
              </a:spcAft>
            </a:pPr>
            <a:r>
              <a:rPr sz="1450" b="0">
                <a:solidFill>
                  <a:srgbClr val="1F2A3A"/>
                </a:solidFill>
                <a:latin typeface="맑은 고딕"/>
                <a:ea typeface="맑은 고딕"/>
                <a:cs typeface="맑은 고딕"/>
              </a:rPr>
              <a:t>• 형식: 원인, 추천, 대안, 설명, 판단 번호의 정해진 항목</a:t>
            </a:r>
          </a:p>
          <a:p>
            <a:pPr algn="l">
              <a:lnSpc>
                <a:spcPct val="110000"/>
              </a:lnSpc>
              <a:spcAft>
                <a:spcPts val="600"/>
              </a:spcAft>
            </a:pPr>
            <a:r>
              <a:rPr sz="1450" b="0">
                <a:solidFill>
                  <a:srgbClr val="1F2A3A"/>
                </a:solidFill>
                <a:latin typeface="맑은 고딕"/>
                <a:ea typeface="맑은 고딕"/>
                <a:cs typeface="맑은 고딕"/>
              </a:rPr>
              <a:t>• 다음 행동: 승인 뒤에 명령과 작업지시로 이어진다</a:t>
            </a:r>
          </a:p>
        </p:txBody>
      </p:sp>
      <p:sp>
        <p:nvSpPr>
          <p:cNvPr id="18" name="Rounded Rectangle 17"/>
          <p:cNvSpPr/>
          <p:nvPr/>
        </p:nvSpPr>
        <p:spPr>
          <a:xfrm>
            <a:off x="6781647" y="509600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단계로 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질문에 답하는 에이전트: 답과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질문에 답할 때에도 에이전트는 기억으로 말하지 않고 업무 DB를 조회하며, 실행한 조회문이 답의 근거로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p>
          <a:p>
            <a:pPr algn="l">
              <a:lnSpc>
                <a:spcPct val="110000"/>
              </a:lnSpc>
              <a:spcAft>
                <a:spcPts val="200"/>
              </a:spcAft>
            </a:pP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수량은</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a:lnSpc>
                <a:spcPct val="110000"/>
              </a:lnSpc>
              <a:spcAft>
                <a:spcPts val="200"/>
              </a:spcAft>
            </a:pPr>
            <a:r>
              <a:rPr sz="1300" b="0">
                <a:solidFill>
                  <a:srgbClr val="E8EEF6"/>
                </a:solidFill>
                <a:latin typeface="Consolas"/>
                <a:ea typeface="맑은 고딕"/>
                <a:cs typeface="맑은 고딕"/>
              </a:rPr>
              <a:t>HYD-02(</a:t>
            </a:r>
            <a:r>
              <a:rPr sz="1300" b="0">
                <a:solidFill>
                  <a:srgbClr val="E8EEF6"/>
                </a:solidFill>
                <a:latin typeface="맑은 고딕"/>
                <a:ea typeface="맑은 고딕"/>
                <a:cs typeface="맑은 고딕"/>
              </a:rPr>
              <a:t>유압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파워팩</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호기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FG-IND-3</a:t>
            </a:r>
          </a:p>
          <a:p>
            <a:pPr algn="l">
              <a:lnSpc>
                <a:spcPct val="110000"/>
              </a:lnSpc>
              <a:spcAft>
                <a:spcPts val="200"/>
              </a:spcAft>
            </a:pP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개입니다</a:t>
            </a:r>
            <a:r>
              <a:rPr sz="1300" b="0">
                <a:solidFill>
                  <a:srgbClr val="E8EEF6"/>
                </a:solidFill>
                <a:latin typeface="Consolas"/>
                <a:ea typeface="맑은 고딕"/>
                <a:cs typeface="맑은 고딕"/>
              </a:rPr>
              <a:t>(WH-1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창고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a:lnSpc>
                <a:spcPct val="110000"/>
              </a:lnSpc>
              <a:spcAft>
                <a:spcPts val="200"/>
              </a:spcAft>
            </a:pPr>
            <a:r>
              <a:rPr sz="1300" b="0">
                <a:solidFill>
                  <a:srgbClr val="E8EEF6"/>
                </a:solidFill>
                <a:latin typeface="Consolas"/>
                <a:ea typeface="맑은 고딕"/>
                <a:cs typeface="맑은 고딕"/>
              </a:rPr>
              <a:t>SELECT f.asset, a.name, f.fg_item,</a:t>
            </a:r>
          </a:p>
          <a:p>
            <a:pPr algn="l">
              <a:lnSpc>
                <a:spcPct val="110000"/>
              </a:lnSpc>
              <a:spcAft>
                <a:spcPts val="200"/>
              </a:spcAft>
            </a:pPr>
            <a:r>
              <a:rPr sz="1300" b="0">
                <a:solidFill>
                  <a:srgbClr val="E8EEF6"/>
                </a:solidFill>
                <a:latin typeface="Consolas"/>
                <a:ea typeface="맑은 고딕"/>
                <a:cs typeface="맑은 고딕"/>
              </a:rPr>
              <a:t>       f.fg_stock, f.warehouse</a:t>
            </a:r>
          </a:p>
          <a:p>
            <a:pPr algn="l">
              <a:lnSpc>
                <a:spcPct val="110000"/>
              </a:lnSpc>
              <a:spcAft>
                <a:spcPts val="200"/>
              </a:spcAft>
            </a:pPr>
            <a:r>
              <a:rPr sz="1300" b="0">
                <a:solidFill>
                  <a:srgbClr val="E8EEF6"/>
                </a:solidFill>
                <a:latin typeface="Consolas"/>
                <a:ea typeface="맑은 고딕"/>
                <a:cs typeface="맑은 고딕"/>
              </a:rPr>
              <a:t>FROM fg_inventory f</a:t>
            </a:r>
          </a:p>
          <a:p>
            <a:pPr algn="l">
              <a:lnSpc>
                <a:spcPct val="110000"/>
              </a:lnSpc>
              <a:spcAft>
                <a:spcPts val="200"/>
              </a:spcAft>
            </a:pPr>
            <a:r>
              <a:rPr sz="1300" b="0">
                <a:solidFill>
                  <a:srgbClr val="E8EEF6"/>
                </a:solidFill>
                <a:latin typeface="Consolas"/>
                <a:ea typeface="맑은 고딕"/>
                <a:cs typeface="맑은 고딕"/>
              </a:rPr>
              <a:t>JOIN assets a ON a.code = f.asset</a:t>
            </a:r>
          </a:p>
          <a:p>
            <a:pPr algn="l">
              <a:lnSpc>
                <a:spcPct val="110000"/>
              </a:lnSpc>
              <a:spcAft>
                <a:spcPts val="200"/>
              </a:spcAft>
            </a:pPr>
            <a:r>
              <a:rPr sz="1300" b="0">
                <a:solidFill>
                  <a:srgbClr val="E8EEF6"/>
                </a:solidFill>
                <a:latin typeface="Consolas"/>
                <a:ea typeface="맑은 고딕"/>
                <a:cs typeface="맑은 고딕"/>
              </a:rPr>
              <a:t>ORDER BY f.fg_stock ASC</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 호출 두 번</a:t>
            </a:r>
          </a:p>
          <a:p>
            <a:pPr algn="l">
              <a:lnSpc>
                <a:spcPct val="110000"/>
              </a:lnSpc>
              <a:spcAft>
                <a:spcPts val="400"/>
              </a:spcAft>
            </a:pPr>
            <a:r>
              <a:rPr sz="1400" b="0">
                <a:solidFill>
                  <a:srgbClr val="1F2A3A"/>
                </a:solidFill>
                <a:latin typeface="맑은 고딕"/>
                <a:ea typeface="맑은 고딕"/>
                <a:cs typeface="맑은 고딕"/>
              </a:rPr>
              <a:t>어떤 표가 있는지를 먼저 확인한 뒤 조회문을 실행했다.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답의 값이 어느 조회에서 나왔는지를 보인다. 결과는 3행이었다.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답할 수 없을 때</a:t>
            </a:r>
          </a:p>
          <a:p>
            <a:pPr algn="l">
              <a:lnSpc>
                <a:spcPct val="110000"/>
              </a:lnSpc>
              <a:spcAft>
                <a:spcPts val="400"/>
              </a:spcAft>
            </a:pPr>
            <a:r>
              <a:rPr sz="1400" b="0">
                <a:solidFill>
                  <a:srgbClr val="1F2A3A"/>
                </a:solidFill>
                <a:latin typeface="맑은 고딕"/>
                <a:ea typeface="맑은 고딕"/>
                <a:cs typeface="맑은 고딕"/>
              </a:rPr>
              <a:t>지어내지 않고, 답할 수 없다는 사실과 그 이유를 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350" b="0">
                <a:solidFill>
                  <a:srgbClr val="1F2A3A"/>
                </a:solidFill>
                <a:latin typeface="맑은 고딕"/>
                <a:ea typeface="맑은 고딕"/>
                <a:cs typeface="맑은 고딕"/>
              </a:rPr>
              <a:t>• 쿨러 핀 오염</a:t>
            </a:r>
          </a:p>
          <a:p>
            <a:pPr algn="l">
              <a:lnSpc>
                <a:spcPct val="110000"/>
              </a:lnSpc>
              <a:spcAft>
                <a:spcPts val="400"/>
              </a:spcAft>
            </a:pPr>
            <a:r>
              <a:rPr sz="1350" b="0">
                <a:solidFill>
                  <a:srgbClr val="1F2A3A"/>
                </a:solidFill>
                <a:latin typeface="맑은 고딕"/>
                <a:ea typeface="맑은 고딕"/>
                <a:cs typeface="맑은 고딕"/>
              </a:rPr>
              <a:t>• 고장 유형은 쿨러 냉각 성능 상실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2" name="Rounded Rectangle 11"/>
          <p:cNvSpPr/>
          <p:nvPr/>
        </p:nvSpPr>
        <p:spPr>
          <a:xfrm>
            <a:off x="3390823"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5CB8F2"/>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a:t>
            </a:r>
          </a:p>
          <a:p>
            <a:pPr algn="l">
              <a:lnSpc>
                <a:spcPct val="110000"/>
              </a:lnSpc>
              <a:spcAft>
                <a:spcPts val="400"/>
              </a:spcAft>
            </a:pPr>
            <a:r>
              <a:rPr sz="1350" b="0">
                <a:solidFill>
                  <a:srgbClr val="1F2A3A"/>
                </a:solidFill>
                <a:latin typeface="맑은 고딕"/>
                <a:ea typeface="맑은 고딕"/>
                <a:cs typeface="맑은 고딕"/>
              </a:rPr>
              <a:t>• 팬 최대 운전 · SOP-COOL-11</a:t>
            </a:r>
          </a:p>
          <a:p>
            <a:pPr algn="l">
              <a:lnSpc>
                <a:spcPct val="110000"/>
              </a:lnSpc>
              <a:spcAft>
                <a:spcPts val="400"/>
              </a:spcAft>
            </a:pPr>
            <a:r>
              <a:rPr sz="1350" b="0">
                <a:solidFill>
                  <a:srgbClr val="1F2A3A"/>
                </a:solidFill>
                <a:latin typeface="맑은 고딕"/>
                <a:ea typeface="맑은 고딕"/>
                <a:cs typeface="맑은 고딕"/>
              </a:rPr>
              <a:t>• 점수 3.38</a:t>
            </a:r>
          </a:p>
        </p:txBody>
      </p:sp>
      <p:sp>
        <p:nvSpPr>
          <p:cNvPr id="16" name="Rounded Rectangle 15"/>
          <p:cNvSpPr/>
          <p:nvPr/>
        </p:nvSpPr>
        <p:spPr>
          <a:xfrm>
            <a:off x="3619423" y="523894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1순위</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뒤진 대안</a:t>
            </a:r>
          </a:p>
          <a:p>
            <a:pPr algn="l">
              <a:lnSpc>
                <a:spcPct val="110000"/>
              </a:lnSpc>
              <a:spcAft>
                <a:spcPts val="400"/>
              </a:spcAft>
            </a:pPr>
            <a:r>
              <a:rPr sz="1350" b="0">
                <a:solidFill>
                  <a:srgbClr val="1F2A3A"/>
                </a:solidFill>
                <a:latin typeface="맑은 고딕"/>
                <a:ea typeface="맑은 고딕"/>
                <a:cs typeface="맑은 고딕"/>
              </a:rPr>
              <a:t>• 부하 70 %와 야간 핀 세척 2.75</a:t>
            </a:r>
          </a:p>
          <a:p>
            <a:pPr algn="l">
              <a:lnSpc>
                <a:spcPct val="110000"/>
              </a:lnSpc>
              <a:spcAft>
                <a:spcPts val="400"/>
              </a:spcAft>
            </a:pPr>
            <a:r>
              <a:rPr sz="1350" b="0">
                <a:solidFill>
                  <a:srgbClr val="1F2A3A"/>
                </a:solidFill>
                <a:latin typeface="맑은 고딕"/>
                <a:ea typeface="맑은 고딕"/>
                <a:cs typeface="맑은 고딕"/>
              </a:rPr>
              <a:t>• 팬 최대 운전과 부하 80 % 2.75</a:t>
            </a:r>
          </a:p>
          <a:p>
            <a:pPr algn="l">
              <a:lnSpc>
                <a:spcPct val="110000"/>
              </a:lnSpc>
              <a:spcAft>
                <a:spcPts val="400"/>
              </a:spcAft>
            </a:pPr>
            <a:r>
              <a:rPr sz="1350" b="0">
                <a:solidFill>
                  <a:srgbClr val="1F2A3A"/>
                </a:solidFill>
                <a:latin typeface="맑은 고딕"/>
                <a:ea typeface="맑은 고딕"/>
                <a:cs typeface="맑은 고딕"/>
              </a:rPr>
              <a:t>• 쿨러 핀 세척 -1.58</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대안 셋</a:t>
            </a:r>
          </a:p>
        </p:txBody>
      </p:sp>
      <p:sp>
        <p:nvSpPr>
          <p:cNvPr id="24" name="Rounded Rectangle 23"/>
          <p:cNvSpPr/>
          <p:nvPr/>
        </p:nvSpPr>
        <p:spPr>
          <a:xfrm>
            <a:off x="9075191"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E7F3FD"/>
          </a:solidFill>
          <a:ln>
            <a:noFill/>
          </a:ln>
        </p:spPr>
        <p:txBody>
          <a:bodyPr rtlCol="0" anchor="ctr"/>
          <a:lstStyle/>
          <a:p>
            <a:pPr algn="ctr"/>
          </a:p>
        </p:txBody>
      </p:sp>
      <p:pic>
        <p:nvPicPr>
          <p:cNvPr id="26" name="아이콘:id" descr="id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설명과 번호</a:t>
            </a:r>
          </a:p>
          <a:p>
            <a:pPr algn="l">
              <a:lnSpc>
                <a:spcPct val="110000"/>
              </a:lnSpc>
              <a:spcAft>
                <a:spcPts val="400"/>
              </a:spcAft>
            </a:pPr>
            <a:r>
              <a:rPr sz="1350" b="0">
                <a:solidFill>
                  <a:srgbClr val="1F2A3A"/>
                </a:solidFill>
                <a:latin typeface="맑은 고딕"/>
                <a:ea typeface="맑은 고딕"/>
                <a:cs typeface="맑은 고딕"/>
              </a:rPr>
              <a:t>• 추천이 앞서고 대안이 뒤지는 이유</a:t>
            </a:r>
          </a:p>
          <a:p>
            <a:pPr algn="l">
              <a:lnSpc>
                <a:spcPct val="110000"/>
              </a:lnSpc>
              <a:spcAft>
                <a:spcPts val="400"/>
              </a:spcAft>
            </a:pPr>
            <a:r>
              <a:rPr sz="1350" b="0">
                <a:solidFill>
                  <a:srgbClr val="1F2A3A"/>
                </a:solidFill>
                <a:latin typeface="맑은 고딕"/>
                <a:ea typeface="맑은 고딕"/>
                <a:cs typeface="맑은 고딕"/>
              </a:rPr>
              <a:t>• 판단 번호 DEC-1010-002-408b</a:t>
            </a:r>
          </a:p>
        </p:txBody>
      </p:sp>
      <p:sp>
        <p:nvSpPr>
          <p:cNvPr id="28" name="Rounded Rectangle 27"/>
          <p:cNvSpPr/>
          <p:nvPr/>
        </p:nvSpPr>
        <p:spPr>
          <a:xfrm>
            <a:off x="9303791" y="5238940"/>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넘어가는 곳: 승인 뒤에 만들어지는 명령과 작업지시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만드는 것은 제안까지이며, 설비 명령과 작업지시는 담당자가 승인한 뒤에 시스템이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612647" y="2330818"/>
            <a:ext cx="2090867"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에이전트</a:t>
            </a:r>
          </a:p>
        </p:txBody>
      </p:sp>
      <p:sp>
        <p:nvSpPr>
          <p:cNvPr id="8" name="Rounded Rectangle 7"/>
          <p:cNvSpPr/>
          <p:nvPr/>
        </p:nvSpPr>
        <p:spPr>
          <a:xfrm>
            <a:off x="2831531"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2831531"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사람</a:t>
            </a:r>
          </a:p>
        </p:txBody>
      </p:sp>
      <p:sp>
        <p:nvSpPr>
          <p:cNvPr id="10" name="Rounded Rectangle 9"/>
          <p:cNvSpPr/>
          <p:nvPr/>
        </p:nvSpPr>
        <p:spPr>
          <a:xfrm>
            <a:off x="5050414" y="2330818"/>
            <a:ext cx="6528633"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5050414" y="2385682"/>
            <a:ext cx="6528633"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시스템</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Oval 13"/>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3"/>
          <a:stretch>
            <a:fillRect/>
          </a:stretch>
        </p:blipFill>
        <p:spPr>
          <a:xfrm>
            <a:off x="1358088" y="3522135"/>
            <a:ext cx="599985" cy="599985"/>
          </a:xfrm>
          <a:prstGeom prst="rect">
            <a:avLst/>
          </a:prstGeom>
        </p:spPr>
      </p:pic>
      <p:sp>
        <p:nvSpPr>
          <p:cNvPr id="16" name="TextBox 15"/>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추천안</a:t>
            </a:r>
          </a:p>
          <a:p>
            <a:pPr algn="ctr">
              <a:lnSpc>
                <a:spcPct val="110000"/>
              </a:lnSpc>
              <a:spcAft>
                <a:spcPts val="400"/>
              </a:spcAft>
            </a:pPr>
            <a:r>
              <a:rPr sz="1300" b="0">
                <a:solidFill>
                  <a:srgbClr val="1F2A3A"/>
                </a:solidFill>
                <a:latin typeface="맑은 고딕"/>
                <a:ea typeface="맑은 고딕"/>
                <a:cs typeface="맑은 고딕"/>
              </a:rPr>
              <a:t>11:14:42 단계 끝</a:t>
            </a:r>
          </a:p>
          <a:p>
            <a:pPr algn="ctr">
              <a:lnSpc>
                <a:spcPct val="110000"/>
              </a:lnSpc>
              <a:spcAft>
                <a:spcPts val="400"/>
              </a:spcAft>
            </a:pPr>
            <a:r>
              <a:rPr sz="1300" b="0">
                <a:solidFill>
                  <a:srgbClr val="1F2A3A"/>
                </a:solidFill>
                <a:latin typeface="맑은 고딕"/>
                <a:ea typeface="맑은 고딕"/>
                <a:cs typeface="맑은 고딕"/>
              </a:rPr>
              <a:t>DEC-1010-002-408b</a:t>
            </a:r>
          </a:p>
        </p:txBody>
      </p:sp>
      <p:sp>
        <p:nvSpPr>
          <p:cNvPr id="17" name="Chevron 16"/>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8" name="Oval 17"/>
          <p:cNvSpPr/>
          <p:nvPr/>
        </p:nvSpPr>
        <p:spPr>
          <a:xfrm>
            <a:off x="3300054"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19" name="아이콘:user-check" descr="user-check_13294B_1.6.png"/>
          <p:cNvPicPr>
            <a:picLocks noChangeAspect="1"/>
          </p:cNvPicPr>
          <p:nvPr/>
        </p:nvPicPr>
        <p:blipFill>
          <a:blip r:embed="rId4"/>
          <a:stretch>
            <a:fillRect/>
          </a:stretch>
        </p:blipFill>
        <p:spPr>
          <a:xfrm>
            <a:off x="3576971" y="3522135"/>
            <a:ext cx="599985" cy="599985"/>
          </a:xfrm>
          <a:prstGeom prst="rect">
            <a:avLst/>
          </a:prstGeom>
        </p:spPr>
      </p:pic>
      <p:sp>
        <p:nvSpPr>
          <p:cNvPr id="20" name="TextBox 19"/>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승인</a:t>
            </a:r>
          </a:p>
          <a:p>
            <a:pPr algn="ctr">
              <a:lnSpc>
                <a:spcPct val="110000"/>
              </a:lnSpc>
              <a:spcAft>
                <a:spcPts val="400"/>
              </a:spcAft>
            </a:pPr>
            <a:r>
              <a:rPr sz="1300" b="0">
                <a:solidFill>
                  <a:srgbClr val="1F2A3A"/>
                </a:solidFill>
                <a:latin typeface="맑은 고딕"/>
                <a:ea typeface="맑은 고딕"/>
                <a:cs typeface="맑은 고딕"/>
              </a:rPr>
              <a:t>11:14:56</a:t>
            </a:r>
          </a:p>
          <a:p>
            <a:pPr algn="ctr">
              <a:lnSpc>
                <a:spcPct val="110000"/>
              </a:lnSpc>
              <a:spcAft>
                <a:spcPts val="400"/>
              </a:spcAft>
            </a:pPr>
            <a:r>
              <a:rPr sz="1300" b="0">
                <a:solidFill>
                  <a:srgbClr val="1F2A3A"/>
                </a:solidFill>
                <a:latin typeface="맑은 고딕"/>
                <a:ea typeface="맑은 고딕"/>
                <a:cs typeface="맑은 고딕"/>
              </a:rPr>
              <a:t>운전원</a:t>
            </a:r>
          </a:p>
        </p:txBody>
      </p:sp>
      <p:sp>
        <p:nvSpPr>
          <p:cNvPr id="21" name="Chevron 20"/>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2" name="Oval 21"/>
          <p:cNvSpPr/>
          <p:nvPr/>
        </p:nvSpPr>
        <p:spPr>
          <a:xfrm>
            <a:off x="5518938"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3" name="아이콘:settings-automation" descr="settings-automation_13294B_1.6.png"/>
          <p:cNvPicPr>
            <a:picLocks noChangeAspect="1"/>
          </p:cNvPicPr>
          <p:nvPr/>
        </p:nvPicPr>
        <p:blipFill>
          <a:blip r:embed="rId5"/>
          <a:stretch>
            <a:fillRect/>
          </a:stretch>
        </p:blipFill>
        <p:spPr>
          <a:xfrm>
            <a:off x="5795854" y="3522135"/>
            <a:ext cx="599985" cy="599985"/>
          </a:xfrm>
          <a:prstGeom prst="rect">
            <a:avLst/>
          </a:prstGeom>
        </p:spPr>
      </p:pic>
      <p:sp>
        <p:nvSpPr>
          <p:cNvPr id="24" name="TextBox 23"/>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 명령</a:t>
            </a:r>
          </a:p>
          <a:p>
            <a:pPr algn="ctr">
              <a:lnSpc>
                <a:spcPct val="110000"/>
              </a:lnSpc>
              <a:spcAft>
                <a:spcPts val="400"/>
              </a:spcAft>
            </a:pPr>
            <a:r>
              <a:rPr sz="1300" b="0">
                <a:solidFill>
                  <a:srgbClr val="1F2A3A"/>
                </a:solidFill>
                <a:latin typeface="맑은 고딕"/>
                <a:ea typeface="맑은 고딕"/>
                <a:cs typeface="맑은 고딕"/>
              </a:rPr>
              <a:t>11:14:57</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25" name="Chevron 24"/>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6" name="Oval 25"/>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zoom-check" descr="zoom-check_13294B_1.6.png"/>
          <p:cNvPicPr>
            <a:picLocks noChangeAspect="1"/>
          </p:cNvPicPr>
          <p:nvPr/>
        </p:nvPicPr>
        <p:blipFill>
          <a:blip r:embed="rId6"/>
          <a:stretch>
            <a:fillRect/>
          </a:stretch>
        </p:blipFill>
        <p:spPr>
          <a:xfrm>
            <a:off x="8014737" y="3522135"/>
            <a:ext cx="599985" cy="599985"/>
          </a:xfrm>
          <a:prstGeom prst="rect">
            <a:avLst/>
          </a:prstGeom>
        </p:spPr>
      </p:pic>
      <p:sp>
        <p:nvSpPr>
          <p:cNvPr id="28" name="TextBox 27"/>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재관측</a:t>
            </a:r>
          </a:p>
          <a:p>
            <a:pPr algn="ctr">
              <a:lnSpc>
                <a:spcPct val="110000"/>
              </a:lnSpc>
              <a:spcAft>
                <a:spcPts val="400"/>
              </a:spcAft>
            </a:pPr>
            <a:r>
              <a:rPr sz="1300" b="0">
                <a:solidFill>
                  <a:srgbClr val="1F2A3A"/>
                </a:solidFill>
                <a:latin typeface="맑은 고딕"/>
                <a:ea typeface="맑은 고딕"/>
                <a:cs typeface="맑은 고딕"/>
              </a:rPr>
              <a:t>유온 51.5 ℃</a:t>
            </a:r>
          </a:p>
          <a:p>
            <a:pPr algn="ctr">
              <a:lnSpc>
                <a:spcPct val="110000"/>
              </a:lnSpc>
              <a:spcAft>
                <a:spcPts val="400"/>
              </a:spcAft>
            </a:pPr>
            <a:r>
              <a:rPr sz="1300" b="0">
                <a:solidFill>
                  <a:srgbClr val="1F2A3A"/>
                </a:solidFill>
                <a:latin typeface="맑은 고딕"/>
                <a:ea typeface="맑은 고딕"/>
                <a:cs typeface="맑은 고딕"/>
              </a:rPr>
              <a:t>경보 해제</a:t>
            </a:r>
          </a:p>
        </p:txBody>
      </p:sp>
      <p:sp>
        <p:nvSpPr>
          <p:cNvPr id="29" name="Oval 28"/>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0" name="아이콘:clipboard-list" descr="clipboard-list_13294B_1.6.png"/>
          <p:cNvPicPr>
            <a:picLocks noChangeAspect="1"/>
          </p:cNvPicPr>
          <p:nvPr/>
        </p:nvPicPr>
        <p:blipFill>
          <a:blip r:embed="rId7"/>
          <a:stretch>
            <a:fillRect/>
          </a:stretch>
        </p:blipFill>
        <p:spPr>
          <a:xfrm>
            <a:off x="10233620" y="3522135"/>
            <a:ext cx="599985" cy="599985"/>
          </a:xfrm>
          <a:prstGeom prst="rect">
            <a:avLst/>
          </a:prstGeom>
        </p:spPr>
      </p:pic>
      <p:sp>
        <p:nvSpPr>
          <p:cNvPr id="31" name="TextBox 30"/>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작업지시</a:t>
            </a:r>
          </a:p>
          <a:p>
            <a:pPr algn="ctr">
              <a:lnSpc>
                <a:spcPct val="110000"/>
              </a:lnSpc>
              <a:spcAft>
                <a:spcPts val="400"/>
              </a:spcAft>
            </a:pPr>
            <a:r>
              <a:rPr sz="1300" b="0">
                <a:solidFill>
                  <a:srgbClr val="1F2A3A"/>
                </a:solidFill>
                <a:latin typeface="맑은 고딕"/>
                <a:ea typeface="맑은 고딕"/>
                <a:cs typeface="맑은 고딕"/>
              </a:rPr>
              <a:t>11:15:58</a:t>
            </a:r>
          </a:p>
          <a:p>
            <a:pPr algn="ctr">
              <a:lnSpc>
                <a:spcPct val="110000"/>
              </a:lnSpc>
              <a:spcAft>
                <a:spcPts val="400"/>
              </a:spcAft>
            </a:pPr>
            <a:r>
              <a:rPr sz="1300" b="0">
                <a:solidFill>
                  <a:srgbClr val="1F2A3A"/>
                </a:solidFill>
                <a:latin typeface="맑은 고딕"/>
                <a:ea typeface="맑은 고딕"/>
                <a:cs typeface="맑은 고딕"/>
              </a:rPr>
              <a:t>WO-1010-C058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에이전트에 대한 흔한 혼동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더 뛰어난 모델이나 스스로 실행하는 자동화로 이해하면 무엇을 맡기고 무엇을 확인할지를 그르친다.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흔한 생각</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확인한 장면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에이전트는 더 뛰어난 모델이다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모델은 그대로이고 도구와 실행 고리가 더해진 구성이다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요소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한 번 물으면 한 번에 끝난다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결과를 보고 고쳐 가며 도구를 여러 번 부른다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재시도</a:t>
            </a:r>
          </a:p>
          <a:p>
            <a:pPr algn="l">
              <a:lnSpc>
                <a:spcPct val="110000"/>
              </a:lnSpc>
            </a:pPr>
            <a:r>
              <a:rPr sz="1250" b="1">
                <a:solidFill>
                  <a:srgbClr val="556175"/>
                </a:solidFill>
                <a:latin typeface="맑은 고딕"/>
                <a:ea typeface="맑은 고딕"/>
                <a:cs typeface="맑은 고딕"/>
              </a:rPr>
              <a:t>11:13:46</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에이전트가 조치까지 실행한다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제안까지 하고, 실행은 승인 뒤에 시스템이 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11:14:56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RAG와 에이전트는 함께 쓸 수 없다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문서 검색도 에이전트가 부르는 도구의 하나가 될 수 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도구의 정의</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답하는 모델에서 일하는 에이전트까지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LLM에 문서 검색을 더한 것이 RAG이고, LLM에 도구와 실행 고리를 더한 것이 산출물을 내는 에이전트이다.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LLM</a:t>
            </a:r>
          </a:p>
          <a:p>
            <a:pPr algn="ctr">
              <a:lnSpc>
                <a:spcPct val="110000"/>
              </a:lnSpc>
              <a:spcAft>
                <a:spcPts val="400"/>
              </a:spcAft>
            </a:pPr>
            <a:r>
              <a:rPr sz="1250" b="0">
                <a:solidFill>
                  <a:srgbClr val="1F2A3A"/>
                </a:solidFill>
                <a:latin typeface="맑은 고딕"/>
                <a:ea typeface="맑은 고딕"/>
                <a:cs typeface="맑은 고딕"/>
              </a:rPr>
              <a:t>학습한 내용으로</a:t>
            </a:r>
          </a:p>
          <a:p>
            <a:pPr algn="ctr">
              <a:lnSpc>
                <a:spcPct val="110000"/>
              </a:lnSpc>
              <a:spcAft>
                <a:spcPts val="400"/>
              </a:spcAft>
            </a:pPr>
            <a:r>
              <a:rPr sz="1250" b="0">
                <a:solidFill>
                  <a:srgbClr val="1F2A3A"/>
                </a:solidFill>
                <a:latin typeface="맑은 고딕"/>
                <a:ea typeface="맑은 고딕"/>
                <a:cs typeface="맑은 고딕"/>
              </a:rPr>
              <a:t>답한다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RAG</a:t>
            </a:r>
          </a:p>
          <a:p>
            <a:pPr algn="ctr">
              <a:lnSpc>
                <a:spcPct val="110000"/>
              </a:lnSpc>
              <a:spcAft>
                <a:spcPts val="400"/>
              </a:spcAft>
            </a:pPr>
            <a:r>
              <a:rPr sz="1250" b="0">
                <a:solidFill>
                  <a:srgbClr val="1F2A3A"/>
                </a:solidFill>
                <a:latin typeface="맑은 고딕"/>
                <a:ea typeface="맑은 고딕"/>
                <a:cs typeface="맑은 고딕"/>
              </a:rPr>
              <a:t>문서를 찾아</a:t>
            </a:r>
          </a:p>
          <a:p>
            <a:pPr algn="ctr">
              <a:lnSpc>
                <a:spcPct val="110000"/>
              </a:lnSpc>
              <a:spcAft>
                <a:spcPts val="400"/>
              </a:spcAft>
            </a:pPr>
            <a:r>
              <a:rPr sz="1250" b="0">
                <a:solidFill>
                  <a:srgbClr val="1F2A3A"/>
                </a:solidFill>
                <a:latin typeface="맑은 고딕"/>
                <a:ea typeface="맑은 고딕"/>
                <a:cs typeface="맑은 고딕"/>
              </a:rPr>
              <a:t>읽고 답한다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809303"/>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a:t>
            </a:r>
          </a:p>
          <a:p>
            <a:pPr algn="ctr">
              <a:lnSpc>
                <a:spcPct val="110000"/>
              </a:lnSpc>
              <a:spcAft>
                <a:spcPts val="400"/>
              </a:spcAft>
            </a:pPr>
            <a:r>
              <a:rPr sz="1250" b="0">
                <a:solidFill>
                  <a:srgbClr val="1F2A3A"/>
                </a:solidFill>
                <a:latin typeface="맑은 고딕"/>
                <a:ea typeface="맑은 고딕"/>
                <a:cs typeface="맑은 고딕"/>
              </a:rPr>
              <a:t>도구를 부르고</a:t>
            </a:r>
          </a:p>
          <a:p>
            <a:pPr algn="ctr">
              <a:lnSpc>
                <a:spcPct val="110000"/>
              </a:lnSpc>
              <a:spcAft>
                <a:spcPts val="400"/>
              </a:spcAft>
            </a:pPr>
            <a:r>
              <a:rPr sz="1250" b="0">
                <a:solidFill>
                  <a:srgbClr val="1F2A3A"/>
                </a:solidFill>
                <a:latin typeface="맑은 고딕"/>
                <a:ea typeface="맑은 고딕"/>
                <a:cs typeface="맑은 고딕"/>
              </a:rPr>
              <a:t>결과를 보며</a:t>
            </a:r>
          </a:p>
          <a:p>
            <a:pPr algn="ctr">
              <a:lnSpc>
                <a:spcPct val="110000"/>
              </a:lnSpc>
              <a:spcAft>
                <a:spcPts val="400"/>
              </a:spcAft>
            </a:pPr>
            <a:r>
              <a:rPr sz="1250" b="0">
                <a:solidFill>
                  <a:srgbClr val="1F2A3A"/>
                </a:solidFill>
                <a:latin typeface="맑은 고딕"/>
                <a:ea typeface="맑은 고딕"/>
                <a:cs typeface="맑은 고딕"/>
              </a:rPr>
              <a:t>되풀이한다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clipboard-check" descr="clipboard-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산출물</a:t>
            </a:r>
          </a:p>
          <a:p>
            <a:pPr algn="ctr">
              <a:lnSpc>
                <a:spcPct val="110000"/>
              </a:lnSpc>
              <a:spcAft>
                <a:spcPts val="400"/>
              </a:spcAft>
            </a:pPr>
            <a:r>
              <a:rPr sz="1250" b="0">
                <a:solidFill>
                  <a:srgbClr val="1F2A3A"/>
                </a:solidFill>
                <a:latin typeface="맑은 고딕"/>
                <a:ea typeface="맑은 고딕"/>
                <a:cs typeface="맑은 고딕"/>
              </a:rPr>
              <a:t>정해진 항목을 가진</a:t>
            </a:r>
          </a:p>
          <a:p>
            <a:pPr algn="ctr">
              <a:lnSpc>
                <a:spcPct val="110000"/>
              </a:lnSpc>
              <a:spcAft>
                <a:spcPts val="400"/>
              </a:spcAft>
            </a:pPr>
            <a:r>
              <a:rPr sz="1250" b="0">
                <a:solidFill>
                  <a:srgbClr val="1F2A3A"/>
                </a:solidFill>
                <a:latin typeface="맑은 고딕"/>
                <a:ea typeface="맑은 고딕"/>
                <a:cs typeface="맑은 고딕"/>
              </a:rPr>
              <a:t>추천안</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사람이 결정하고</a:t>
            </a:r>
          </a:p>
          <a:p>
            <a:pPr algn="ctr">
              <a:lnSpc>
                <a:spcPct val="110000"/>
              </a:lnSpc>
              <a:spcAft>
                <a:spcPts val="400"/>
              </a:spcAft>
            </a:pPr>
            <a:r>
              <a:rPr sz="1250" b="0">
                <a:solidFill>
                  <a:srgbClr val="1F2A3A"/>
                </a:solidFill>
                <a:latin typeface="맑은 고딕"/>
                <a:ea typeface="맑은 고딕"/>
                <a:cs typeface="맑은 고딕"/>
              </a:rPr>
              <a:t>시스템이 실행한다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정보원과</a:t>
            </a:r>
          </a:p>
          <a:p>
            <a:pPr algn="l">
              <a:lnSpc>
                <a:spcPct val="110000"/>
              </a:lnSpc>
            </a:pPr>
            <a:r>
              <a:rPr sz="3400" b="1">
                <a:solidFill>
                  <a:srgbClr val="13294B"/>
                </a:solidFill>
                <a:latin typeface="맑은 고딕"/>
                <a:ea typeface="맑은 고딕"/>
                <a:cs typeface="맑은 고딕"/>
              </a:rPr>
              <a:t>도구 사용 원리</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물음에 맞는 정보원을 읽고, 근거가 모자라면 멈추며, 결과와 과정을 남기는 방식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정보원.svg" descr="illust_374359969156392219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시계열 DB에서 읽는 것: 판단하는 순간의 측정값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쓴 냉각 효율 46.2 %는 최근 30초의 평균이며, 그동안 값이 빠짐없이 들어왔는지도 함께 확인되었다.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p>
          <a:p>
            <a:pPr algn="l">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46.2</a:t>
            </a:r>
          </a:p>
          <a:p>
            <a:pPr algn="l">
              <a:lnSpc>
                <a:spcPct val="110000"/>
              </a:lnSpc>
              <a:spcAft>
                <a:spcPts val="200"/>
              </a:spcAft>
            </a:pP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&lt; 70</a:t>
            </a:r>
          </a:p>
          <a:p>
            <a:pPr algn="l">
              <a:lnSpc>
                <a:spcPct val="110000"/>
              </a:lnSpc>
              <a:spcAft>
                <a:spcPts val="200"/>
              </a:spcAft>
            </a:pP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PASS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충분했는가</a:t>
            </a:r>
          </a:p>
          <a:p>
            <a:pPr algn="l">
              <a:lnSpc>
                <a:spcPct val="110000"/>
              </a:lnSpc>
              <a:spcAft>
                <a:spcPts val="200"/>
              </a:spcAft>
            </a:pPr>
            <a:r>
              <a:rPr sz="1300" b="0">
                <a:solidFill>
                  <a:srgbClr val="E8EEF6"/>
                </a:solidFill>
                <a:latin typeface="Consolas"/>
                <a:ea typeface="맑은 고딕"/>
                <a:cs typeface="맑은 고딕"/>
              </a:rPr>
              <a:t>coverage: {"samples":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방법</a:t>
            </a:r>
          </a:p>
          <a:p>
            <a:pPr algn="l">
              <a:lnSpc>
                <a:spcPct val="110000"/>
              </a:lnSpc>
              <a:spcAft>
                <a:spcPts val="400"/>
              </a:spcAft>
            </a:pPr>
            <a:r>
              <a:rPr sz="1400" b="0">
                <a:solidFill>
                  <a:srgbClr val="1F2A3A"/>
                </a:solidFill>
                <a:latin typeface="맑은 고딕"/>
                <a:ea typeface="맑은 고딕"/>
                <a:cs typeface="맑은 고딕"/>
              </a:rPr>
              <a:t>지식 그래프의 증거에 적힌 방법 그대로이다. 에이전트가 짓지 않는다.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값과 기준</a:t>
            </a:r>
          </a:p>
          <a:p>
            <a:pPr algn="l">
              <a:lnSpc>
                <a:spcPct val="110000"/>
              </a:lnSpc>
              <a:spcAft>
                <a:spcPts val="400"/>
              </a:spcAft>
            </a:pPr>
            <a:r>
              <a:rPr sz="1400" b="0">
                <a:solidFill>
                  <a:srgbClr val="1F2A3A"/>
                </a:solidFill>
                <a:latin typeface="맑은 고딕"/>
                <a:ea typeface="맑은 고딕"/>
                <a:cs typeface="맑은 고딕"/>
              </a:rPr>
              <a:t>46.2는 시계열 DB에서, 70은 지식 그래프에서 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coverage</a:t>
            </a:r>
          </a:p>
          <a:p>
            <a:pPr algn="l">
              <a:lnSpc>
                <a:spcPct val="110000"/>
              </a:lnSpc>
              <a:spcAft>
                <a:spcPts val="400"/>
              </a:spcAft>
            </a:pPr>
            <a:r>
              <a:rPr sz="1400" b="0">
                <a:solidFill>
                  <a:srgbClr val="1F2A3A"/>
                </a:solidFill>
                <a:latin typeface="맑은 고딕"/>
                <a:ea typeface="맑은 고딕"/>
                <a:cs typeface="맑은 고딕"/>
              </a:rPr>
              <a:t>30초 동안 표본이 30개 있었다. 값이 빈 구간이 길면 판정을 미룬다.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Consolas"/>
                <a:ea typeface="맑은 고딕"/>
                <a:cs typeface="맑은 고딕"/>
              </a:rPr>
              <a:t>{"result":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system</a:t>
            </a:r>
          </a:p>
          <a:p>
            <a:pPr algn="l">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품질 쪽 조회</a:t>
            </a:r>
          </a:p>
          <a:p>
            <a:pPr algn="l">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에이전트는 데이터베이스에 직접 접속하지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에이전트와 데이터베이스 사이에는 읽기 전용 도구가 놓이며, 조회문이 잘못되어도 데이터는 바뀌지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도구경유.svg" descr="illust_812128500355487319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도구의 이름과</a:t>
            </a:r>
          </a:p>
          <a:p>
            <a:pPr algn="ctr">
              <a:lnSpc>
                <a:spcPct val="110000"/>
              </a:lnSpc>
              <a:spcAft>
                <a:spcPts val="100"/>
              </a:spcAft>
            </a:pPr>
            <a:r>
              <a:rPr sz="1300" b="0">
                <a:solidFill>
                  <a:srgbClr val="556175"/>
                </a:solidFill>
                <a:latin typeface="맑은 고딕"/>
                <a:ea typeface="맑은 고딕"/>
                <a:cs typeface="맑은 고딕"/>
              </a:rPr>
              <a:t>입력을 적는다</a:t>
            </a:r>
          </a:p>
        </p:txBody>
      </p:sp>
      <p:sp>
        <p:nvSpPr>
          <p:cNvPr id="8" name="TextBox 7"/>
          <p:cNvSpPr txBox="1"/>
          <p:nvPr/>
        </p:nvSpPr>
        <p:spPr>
          <a:xfrm>
            <a:off x="4273961" y="5031394"/>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읽기 전용이다</a:t>
            </a:r>
          </a:p>
          <a:p>
            <a:pPr algn="ctr">
              <a:lnSpc>
                <a:spcPct val="110000"/>
              </a:lnSpc>
              <a:spcAft>
                <a:spcPts val="100"/>
              </a:spcAft>
            </a:pPr>
            <a:r>
              <a:rPr sz="1300" b="0">
                <a:solidFill>
                  <a:srgbClr val="556175"/>
                </a:solidFill>
                <a:latin typeface="맑은 고딕"/>
                <a:ea typeface="맑은 고딕"/>
                <a:cs typeface="맑은 고딕"/>
              </a:rPr>
              <a:t>한 번에 200행까지, 5초까지</a:t>
            </a:r>
          </a:p>
        </p:txBody>
      </p:sp>
      <p:sp>
        <p:nvSpPr>
          <p:cNvPr id="9" name="TextBox 8"/>
          <p:cNvSpPr txBox="1"/>
          <p:nvPr/>
        </p:nvSpPr>
        <p:spPr>
          <a:xfrm>
            <a:off x="8768673" y="384953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접속하는 길은 없다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현재값을 섞는 두 가지 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기준을 지금의 값처럼 말하는 것과 읽어 둔 값을 계속 쓰는 것, 두 혼동 모두 그럴듯한 문장으로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기준을 값처럼 쓴다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효율은 70 %이다」</a:t>
            </a:r>
          </a:p>
          <a:p>
            <a:pPr algn="l">
              <a:lnSpc>
                <a:spcPct val="110000"/>
              </a:lnSpc>
              <a:spcAft>
                <a:spcPts val="600"/>
              </a:spcAft>
            </a:pPr>
            <a:r>
              <a:rPr sz="1450" b="0">
                <a:solidFill>
                  <a:srgbClr val="1F2A3A"/>
                </a:solidFill>
                <a:latin typeface="맑은 고딕"/>
                <a:ea typeface="맑은 고딕"/>
                <a:cs typeface="맑은 고딕"/>
              </a:rPr>
              <a:t>• 70은 매뉴얼의 판별 기준이며 잰 값이 아니다</a:t>
            </a:r>
          </a:p>
          <a:p>
            <a:pPr algn="l">
              <a:lnSpc>
                <a:spcPct val="110000"/>
              </a:lnSpc>
              <a:spcAft>
                <a:spcPts val="600"/>
              </a:spcAft>
            </a:pPr>
            <a:r>
              <a:rPr sz="1450" b="0">
                <a:solidFill>
                  <a:srgbClr val="1F2A3A"/>
                </a:solidFill>
                <a:latin typeface="맑은 고딕"/>
                <a:ea typeface="맑은 고딕"/>
                <a:cs typeface="맑은 고딕"/>
              </a:rPr>
              <a:t>• 잰 값은 46.2 %였다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지식을 값으로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history" descr="history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묵은 값을 지금의 값처럼 쓴다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「유온은 55.71 ℃이므로 인터록까지 여유가 있다」</a:t>
            </a:r>
          </a:p>
          <a:p>
            <a:pPr algn="l">
              <a:lnSpc>
                <a:spcPct val="110000"/>
              </a:lnSpc>
              <a:spcAft>
                <a:spcPts val="600"/>
              </a:spcAft>
            </a:pPr>
            <a:r>
              <a:rPr sz="1450" b="0">
                <a:solidFill>
                  <a:srgbClr val="1F2A3A"/>
                </a:solidFill>
                <a:latin typeface="맑은 고딕"/>
                <a:ea typeface="맑은 고딕"/>
                <a:cs typeface="맑은 고딕"/>
              </a:rPr>
              <a:t>• 55.71은 경보 순간에 읽은 값이다</a:t>
            </a:r>
          </a:p>
          <a:p>
            <a:pPr algn="l">
              <a:lnSpc>
                <a:spcPct val="110000"/>
              </a:lnSpc>
              <a:spcAft>
                <a:spcPts val="600"/>
              </a:spcAft>
            </a:pPr>
            <a:r>
              <a:rPr sz="1450" b="0">
                <a:solidFill>
                  <a:srgbClr val="1F2A3A"/>
                </a:solidFill>
                <a:latin typeface="맑은 고딕"/>
                <a:ea typeface="맑은 고딕"/>
                <a:cs typeface="맑은 고딕"/>
              </a:rPr>
              <a:t>• 승인 순간의 값은 61.8 ℃였다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지난 값을 지금으로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혼동을 막는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신선도.svg" descr="illust_639214459054179685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멈춤조건.svg" descr="illust_3445337004070725116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허용 목록</a:t>
            </a:r>
          </a:p>
          <a:p>
            <a:pPr algn="ctr">
              <a:lnSpc>
                <a:spcPct val="110000"/>
              </a:lnSpc>
              <a:spcAft>
                <a:spcPts val="400"/>
              </a:spcAft>
            </a:pPr>
            <a:r>
              <a:rPr sz="1350" b="0">
                <a:solidFill>
                  <a:srgbClr val="1F2A3A"/>
                </a:solidFill>
                <a:latin typeface="맑은 고딕"/>
                <a:ea typeface="맑은 고딕"/>
                <a:cs typeface="맑은 고딕"/>
              </a:rPr>
              <a:t>에이전트마다</a:t>
            </a:r>
          </a:p>
          <a:p>
            <a:pPr algn="ctr">
              <a:lnSpc>
                <a:spcPct val="110000"/>
              </a:lnSpc>
              <a:spcAft>
                <a:spcPts val="400"/>
              </a:spcAft>
            </a:pPr>
            <a:r>
              <a:rPr sz="1350" b="0">
                <a:solidFill>
                  <a:srgbClr val="1F2A3A"/>
                </a:solidFill>
                <a:latin typeface="맑은 고딕"/>
                <a:ea typeface="맑은 고딕"/>
                <a:cs typeface="맑은 고딕"/>
              </a:rPr>
              <a:t>부를 수 있는 도구가</a:t>
            </a:r>
          </a:p>
          <a:p>
            <a:pPr algn="ctr">
              <a:lnSpc>
                <a:spcPct val="110000"/>
              </a:lnSpc>
              <a:spcAft>
                <a:spcPts val="400"/>
              </a:spcAft>
            </a:pPr>
            <a:r>
              <a:rPr sz="13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목록 밖의 호출</a:t>
            </a:r>
          </a:p>
          <a:p>
            <a:pPr algn="ctr">
              <a:lnSpc>
                <a:spcPct val="110000"/>
              </a:lnSpc>
              <a:spcAft>
                <a:spcPts val="400"/>
              </a:spcAft>
            </a:pPr>
            <a:r>
              <a:rPr sz="1350" b="0">
                <a:solidFill>
                  <a:srgbClr val="1F2A3A"/>
                </a:solidFill>
                <a:latin typeface="맑은 고딕"/>
                <a:ea typeface="맑은 고딕"/>
                <a:cs typeface="맑은 고딕"/>
              </a:rPr>
              <a:t>실행되지 않고</a:t>
            </a:r>
          </a:p>
          <a:p>
            <a:pPr algn="ctr">
              <a:lnSpc>
                <a:spcPct val="110000"/>
              </a:lnSpc>
              <a:spcAft>
                <a:spcPts val="400"/>
              </a:spcAft>
            </a:pPr>
            <a:r>
              <a:rPr sz="13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사람에게 묻는다</a:t>
            </a:r>
          </a:p>
          <a:p>
            <a:pPr algn="ctr">
              <a:lnSpc>
                <a:spcPct val="110000"/>
              </a:lnSpc>
              <a:spcAft>
                <a:spcPts val="400"/>
              </a:spcAft>
            </a:pPr>
            <a:r>
              <a:rPr sz="1350" b="0">
                <a:solidFill>
                  <a:srgbClr val="1F2A3A"/>
                </a:solidFill>
                <a:latin typeface="맑은 고딕"/>
                <a:ea typeface="맑은 고딕"/>
                <a:cs typeface="맑은 고딕"/>
              </a:rPr>
              <a:t>요청이 질문이 되어</a:t>
            </a:r>
          </a:p>
          <a:p>
            <a:pPr algn="ctr">
              <a:lnSpc>
                <a:spcPct val="110000"/>
              </a:lnSpc>
              <a:spcAft>
                <a:spcPts val="400"/>
              </a:spcAft>
            </a:pPr>
            <a:r>
              <a:rPr sz="13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바뀌지 않는 것</a:t>
            </a:r>
          </a:p>
          <a:p>
            <a:pPr algn="ctr">
              <a:lnSpc>
                <a:spcPct val="110000"/>
              </a:lnSpc>
              <a:spcAft>
                <a:spcPts val="400"/>
              </a:spcAft>
            </a:pPr>
            <a:r>
              <a:rPr sz="1350" b="0">
                <a:solidFill>
                  <a:srgbClr val="1F2A3A"/>
                </a:solidFill>
                <a:latin typeface="맑은 고딕"/>
                <a:ea typeface="맑은 고딕"/>
                <a:cs typeface="맑은 고딕"/>
              </a:rPr>
              <a:t>「답변은 실행 권한을</a:t>
            </a:r>
          </a:p>
          <a:p>
            <a:pPr algn="ctr">
              <a:lnSpc>
                <a:spcPct val="110000"/>
              </a:lnSpc>
              <a:spcAft>
                <a:spcPts val="400"/>
              </a:spcAft>
            </a:pPr>
            <a:r>
              <a:rPr sz="1350" b="0">
                <a:solidFill>
                  <a:srgbClr val="1F2A3A"/>
                </a:solidFill>
                <a:latin typeface="맑은 고딕"/>
                <a:ea typeface="맑은 고딕"/>
                <a:cs typeface="맑은 고딕"/>
              </a:rPr>
              <a:t>바꾸지 않습니다.」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번호의 다섯 항목을 가진 JSON 객체 하나로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a:t>
            </a:r>
          </a:p>
          <a:p>
            <a:pPr algn="ctr">
              <a:lnSpc>
                <a:spcPct val="110000"/>
              </a:lnSpc>
              <a:spcAft>
                <a:spcPts val="400"/>
              </a:spcAft>
            </a:pPr>
            <a:r>
              <a:rPr sz="1350" b="0">
                <a:solidFill>
                  <a:srgbClr val="1F2A3A"/>
                </a:solidFill>
                <a:latin typeface="맑은 고딕"/>
                <a:ea typeface="맑은 고딕"/>
                <a:cs typeface="맑은 고딕"/>
              </a:rPr>
              <a:t>에이전트가</a:t>
            </a:r>
          </a:p>
          <a:p>
            <a:pPr algn="ctr">
              <a:lnSpc>
                <a:spcPct val="110000"/>
              </a:lnSpc>
              <a:spcAft>
                <a:spcPts val="400"/>
              </a:spcAft>
            </a:pPr>
            <a:r>
              <a:rPr sz="135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형식 검사</a:t>
            </a:r>
          </a:p>
          <a:p>
            <a:pPr algn="ctr">
              <a:lnSpc>
                <a:spcPct val="110000"/>
              </a:lnSpc>
              <a:spcAft>
                <a:spcPts val="400"/>
              </a:spcAft>
            </a:pPr>
            <a:r>
              <a:rPr sz="1350" b="0">
                <a:solidFill>
                  <a:srgbClr val="1F2A3A"/>
                </a:solidFill>
                <a:latin typeface="맑은 고딕"/>
                <a:ea typeface="맑은 고딕"/>
                <a:cs typeface="맑은 고딕"/>
              </a:rPr>
              <a:t>정해진 항목과</a:t>
            </a:r>
          </a:p>
          <a:p>
            <a:pPr algn="ctr">
              <a:lnSpc>
                <a:spcPct val="110000"/>
              </a:lnSpc>
              <a:spcAft>
                <a:spcPts val="400"/>
              </a:spcAft>
            </a:pPr>
            <a:r>
              <a:rPr sz="135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거절과 교정</a:t>
            </a:r>
          </a:p>
          <a:p>
            <a:pPr algn="ctr">
              <a:lnSpc>
                <a:spcPct val="110000"/>
              </a:lnSpc>
              <a:spcAft>
                <a:spcPts val="400"/>
              </a:spcAft>
            </a:pPr>
            <a:r>
              <a:rPr sz="1350" b="0">
                <a:solidFill>
                  <a:srgbClr val="1F2A3A"/>
                </a:solidFill>
                <a:latin typeface="맑은 고딕"/>
                <a:ea typeface="맑은 고딕"/>
                <a:cs typeface="맑은 고딕"/>
              </a:rPr>
              <a:t>「출력 형식 검사에서</a:t>
            </a:r>
          </a:p>
          <a:p>
            <a:pPr algn="ctr">
              <a:lnSpc>
                <a:spcPct val="110000"/>
              </a:lnSpc>
              <a:spcAft>
                <a:spcPts val="400"/>
              </a:spcAft>
            </a:pPr>
            <a:r>
              <a:rPr sz="1350" b="0">
                <a:solidFill>
                  <a:srgbClr val="1F2A3A"/>
                </a:solidFill>
                <a:latin typeface="맑은 고딕"/>
                <a:ea typeface="맑은 고딕"/>
                <a:cs typeface="맑은 고딕"/>
              </a:rPr>
              <a:t>거절됐습니다」를 받고</a:t>
            </a:r>
          </a:p>
          <a:p>
            <a:pPr algn="ctr">
              <a:lnSpc>
                <a:spcPct val="110000"/>
              </a:lnSpc>
              <a:spcAft>
                <a:spcPts val="400"/>
              </a:spcAft>
            </a:pPr>
            <a:r>
              <a:rPr sz="1350" b="0">
                <a:solidFill>
                  <a:srgbClr val="1F2A3A"/>
                </a:solidFill>
                <a:latin typeface="맑은 고딕"/>
                <a:ea typeface="맑은 고딕"/>
                <a:cs typeface="맑은 고딕"/>
              </a:rPr>
              <a:t>고쳐서 다시 낸다</a:t>
            </a:r>
          </a:p>
          <a:p>
            <a:pPr algn="ctr">
              <a:lnSpc>
                <a:spcPct val="110000"/>
              </a:lnSpc>
              <a:spcAft>
                <a:spcPts val="400"/>
              </a:spcAft>
            </a:pPr>
            <a:r>
              <a:rPr sz="135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통과</a:t>
            </a:r>
          </a:p>
          <a:p>
            <a:pPr algn="ctr">
              <a:lnSpc>
                <a:spcPct val="110000"/>
              </a:lnSpc>
              <a:spcAft>
                <a:spcPts val="400"/>
              </a:spcAft>
            </a:pPr>
            <a:r>
              <a:rPr sz="1350" b="0">
                <a:solidFill>
                  <a:srgbClr val="1F2A3A"/>
                </a:solidFill>
                <a:latin typeface="맑은 고딕"/>
                <a:ea typeface="맑은 고딕"/>
                <a:cs typeface="맑은 고딕"/>
              </a:rPr>
              <a:t>승인할 담당자에게</a:t>
            </a:r>
          </a:p>
          <a:p>
            <a:pPr algn="ctr">
              <a:lnSpc>
                <a:spcPct val="110000"/>
              </a:lnSpc>
              <a:spcAft>
                <a:spcPts val="400"/>
              </a:spcAft>
            </a:pPr>
            <a:r>
              <a:rPr sz="1350" b="0">
                <a:solidFill>
                  <a:srgbClr val="1F2A3A"/>
                </a:solidFill>
                <a:latin typeface="맑은 고딕"/>
                <a:ea typeface="맑은 고딕"/>
                <a:cs typeface="맑은 고딕"/>
              </a:rPr>
              <a:t>넘어간다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기록의 도구 호출 한 줄은 시각, 도구, 입력, 출력, 걸린 시간의 다섯 칸으로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기록한줄.svg" descr="illust_8512072030949059806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a:t>
            </a:r>
          </a:p>
          <a:p>
            <a:pPr algn="ctr">
              <a:lnSpc>
                <a:spcPct val="110000"/>
              </a:lnSpc>
              <a:spcAft>
                <a:spcPts val="100"/>
              </a:spcAft>
            </a:pPr>
            <a:r>
              <a:rPr sz="1300" b="0">
                <a:solidFill>
                  <a:srgbClr val="556175"/>
                </a:solidFill>
                <a:latin typeface="맑은 고딕"/>
                <a:ea typeface="맑은 고딕"/>
                <a:cs typeface="맑은 고딕"/>
              </a:rPr>
              <a:t>에이전트의 말과 도구 호출이 시각 순서로 쌓인다</a:t>
            </a:r>
          </a:p>
        </p:txBody>
      </p:sp>
      <p:sp>
        <p:nvSpPr>
          <p:cNvPr id="8" name="TextBox 7"/>
          <p:cNvSpPr txBox="1"/>
          <p:nvPr/>
        </p:nvSpPr>
        <p:spPr>
          <a:xfrm>
            <a:off x="1448402" y="4558649"/>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시각</a:t>
            </a:r>
          </a:p>
          <a:p>
            <a:pPr algn="ctr">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물음 (입력)</a:t>
            </a:r>
          </a:p>
          <a:p>
            <a:pPr algn="ctr">
              <a:lnSpc>
                <a:spcPct val="110000"/>
              </a:lnSpc>
              <a:spcAft>
                <a:spcPts val="100"/>
              </a:spcAft>
            </a:pPr>
            <a:r>
              <a:rPr sz="1300" b="0">
                <a:solidFill>
                  <a:srgbClr val="556175"/>
                </a:solidFill>
                <a:latin typeface="맑은 고딕"/>
                <a:ea typeface="맑은 고딕"/>
                <a:cs typeface="맑은 고딕"/>
              </a:rPr>
              <a:t>설비 HYD-01,</a:t>
            </a:r>
          </a:p>
          <a:p>
            <a:pPr algn="ctr">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받음 (출력)</a:t>
            </a:r>
          </a:p>
          <a:p>
            <a:pPr algn="ctr">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걸린 시간</a:t>
            </a:r>
          </a:p>
          <a:p>
            <a:pPr algn="ctr">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이상해 보일 때는 결과의 값에서 그 값을 돌려준 호출의 출력으로, 다시 그 호출의 입력으로 거슬러 올라간다.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결과의 값</a:t>
            </a:r>
          </a:p>
          <a:p>
            <a:pPr algn="ctr">
              <a:lnSpc>
                <a:spcPct val="110000"/>
              </a:lnSpc>
              <a:spcAft>
                <a:spcPts val="400"/>
              </a:spcAft>
            </a:pPr>
            <a:r>
              <a:rPr sz="1350" b="0">
                <a:solidFill>
                  <a:srgbClr val="1F2A3A"/>
                </a:solidFill>
                <a:latin typeface="맑은 고딕"/>
                <a:ea typeface="맑은 고딕"/>
                <a:cs typeface="맑은 고딕"/>
              </a:rPr>
              <a:t>추천안에서</a:t>
            </a:r>
          </a:p>
          <a:p>
            <a:pPr algn="ctr">
              <a:lnSpc>
                <a:spcPct val="110000"/>
              </a:lnSpc>
              <a:spcAft>
                <a:spcPts val="400"/>
              </a:spcAft>
            </a:pPr>
            <a:r>
              <a:rPr sz="1350" b="0">
                <a:solidFill>
                  <a:srgbClr val="1F2A3A"/>
                </a:solidFill>
                <a:latin typeface="맑은 고딕"/>
                <a:ea typeface="맑은 고딕"/>
                <a:cs typeface="맑은 고딕"/>
              </a:rPr>
              <a:t>의심스러운 값을 고른다</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출력</a:t>
            </a:r>
          </a:p>
          <a:p>
            <a:pPr algn="ctr">
              <a:lnSpc>
                <a:spcPct val="110000"/>
              </a:lnSpc>
              <a:spcAft>
                <a:spcPts val="400"/>
              </a:spcAft>
            </a:pPr>
            <a:r>
              <a:rPr sz="1350" b="0">
                <a:solidFill>
                  <a:srgbClr val="1F2A3A"/>
                </a:solidFill>
                <a:latin typeface="맑은 고딕"/>
                <a:ea typeface="맑은 고딕"/>
                <a:cs typeface="맑은 고딕"/>
              </a:rPr>
              <a:t>그 값을 돌려준 호출을</a:t>
            </a:r>
          </a:p>
          <a:p>
            <a:pPr algn="ctr">
              <a:lnSpc>
                <a:spcPct val="110000"/>
              </a:lnSpc>
              <a:spcAft>
                <a:spcPts val="400"/>
              </a:spcAft>
            </a:pPr>
            <a:r>
              <a:rPr sz="1350" b="0">
                <a:solidFill>
                  <a:srgbClr val="1F2A3A"/>
                </a:solidFill>
                <a:latin typeface="맑은 고딕"/>
                <a:ea typeface="맑은 고딕"/>
                <a:cs typeface="맑은 고딕"/>
              </a:rPr>
              <a:t>기록에서 찾는다</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입력</a:t>
            </a:r>
          </a:p>
          <a:p>
            <a:pPr algn="ctr">
              <a:lnSpc>
                <a:spcPct val="110000"/>
              </a:lnSpc>
              <a:spcAft>
                <a:spcPts val="400"/>
              </a:spcAft>
            </a:pPr>
            <a:r>
              <a:rPr sz="1350" b="0">
                <a:solidFill>
                  <a:srgbClr val="1F2A3A"/>
                </a:solidFill>
                <a:latin typeface="맑은 고딕"/>
                <a:ea typeface="맑은 고딕"/>
                <a:cs typeface="맑은 고딕"/>
              </a:rPr>
              <a:t>도구에 넣은 물음이</a:t>
            </a:r>
          </a:p>
          <a:p>
            <a:pPr algn="ctr">
              <a:lnSpc>
                <a:spcPct val="110000"/>
              </a:lnSpc>
              <a:spcAft>
                <a:spcPts val="400"/>
              </a:spcAft>
            </a:pPr>
            <a:r>
              <a:rPr sz="1350" b="0">
                <a:solidFill>
                  <a:srgbClr val="1F2A3A"/>
                </a:solidFill>
                <a:latin typeface="맑은 고딕"/>
                <a:ea typeface="맑은 고딕"/>
                <a:cs typeface="맑은 고딕"/>
              </a:rPr>
              <a:t>옳았는지를 본다</a:t>
            </a:r>
          </a:p>
        </p:txBody>
      </p:sp>
      <p:sp>
        <p:nvSpPr>
          <p:cNvPr id="22" name="Oval 21"/>
          <p:cNvSpPr/>
          <p:nvPr/>
        </p:nvSpPr>
        <p:spPr>
          <a:xfrm>
            <a:off x="9821913" y="2730627"/>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사이의 말</a:t>
            </a:r>
          </a:p>
          <a:p>
            <a:pPr algn="ctr">
              <a:lnSpc>
                <a:spcPct val="110000"/>
              </a:lnSpc>
              <a:spcAft>
                <a:spcPts val="400"/>
              </a:spcAft>
            </a:pPr>
            <a:r>
              <a:rPr sz="1350" b="0">
                <a:solidFill>
                  <a:srgbClr val="1F2A3A"/>
                </a:solidFill>
                <a:latin typeface="맑은 고딕"/>
                <a:ea typeface="맑은 고딕"/>
                <a:cs typeface="맑은 고딕"/>
              </a:rPr>
              <a:t>에이전트가 그 도구를</a:t>
            </a:r>
          </a:p>
          <a:p>
            <a:pPr algn="ctr">
              <a:lnSpc>
                <a:spcPct val="110000"/>
              </a:lnSpc>
              <a:spcAft>
                <a:spcPts val="400"/>
              </a:spcAft>
            </a:pPr>
            <a:r>
              <a:rPr sz="1350" b="0">
                <a:solidFill>
                  <a:srgbClr val="1F2A3A"/>
                </a:solidFill>
                <a:latin typeface="맑은 고딕"/>
                <a:ea typeface="맑은 고딕"/>
                <a:cs typeface="맑은 고딕"/>
              </a:rPr>
              <a:t>부른 까닭을 읽는다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 제시: 식별자의 인용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cause:cooler-fin-fouling 같은 식별자가 적혀 있어야 추천안의 원인이 등록된 지식인지 지어낸 말인지를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 cause:cooler-fin-fouling</a:t>
            </a:r>
          </a:p>
          <a:p>
            <a:pPr algn="l">
              <a:lnSpc>
                <a:spcPct val="110000"/>
              </a:lnSpc>
              <a:spcAft>
                <a:spcPts val="400"/>
              </a:spcAft>
            </a:pPr>
            <a:r>
              <a:rPr sz="1400" b="0">
                <a:solidFill>
                  <a:srgbClr val="1F2A3A"/>
                </a:solidFill>
                <a:latin typeface="맑은 고딕"/>
                <a:ea typeface="맑은 고딕"/>
                <a:cs typeface="맑은 고딕"/>
              </a:rPr>
              <a:t>• 쿨러 핀 오염</a:t>
            </a:r>
          </a:p>
        </p:txBody>
      </p:sp>
      <p:sp>
        <p:nvSpPr>
          <p:cNvPr id="10" name="Rounded Rectangle 9"/>
          <p:cNvSpPr/>
          <p:nvPr/>
        </p:nvSpPr>
        <p:spPr>
          <a:xfrm>
            <a:off x="777240" y="4932934"/>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cause:</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고장 유형</a:t>
            </a:r>
          </a:p>
          <a:p>
            <a:pPr algn="l">
              <a:lnSpc>
                <a:spcPct val="110000"/>
              </a:lnSpc>
              <a:spcAft>
                <a:spcPts val="400"/>
              </a:spcAft>
            </a:pPr>
            <a:r>
              <a:rPr sz="1400" b="0">
                <a:solidFill>
                  <a:srgbClr val="1F2A3A"/>
                </a:solidFill>
                <a:latin typeface="맑은 고딕"/>
                <a:ea typeface="맑은 고딕"/>
                <a:cs typeface="맑은 고딕"/>
              </a:rPr>
              <a:t>• fm:cooler-performance-loss</a:t>
            </a:r>
          </a:p>
          <a:p>
            <a:pPr algn="l">
              <a:lnSpc>
                <a:spcPct val="110000"/>
              </a:lnSpc>
              <a:spcAft>
                <a:spcPts val="400"/>
              </a:spcAft>
            </a:pPr>
            <a:r>
              <a:rPr sz="1400" b="0">
                <a:solidFill>
                  <a:srgbClr val="1F2A3A"/>
                </a:solidFill>
                <a:latin typeface="맑은 고딕"/>
                <a:ea typeface="맑은 고딕"/>
                <a:cs typeface="맑은 고딕"/>
              </a:rPr>
              <a:t>• 쿨러 냉각 성능 상실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fm:</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propeller" descr="propeller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방법</a:t>
            </a:r>
          </a:p>
          <a:p>
            <a:pPr algn="l">
              <a:lnSpc>
                <a:spcPct val="110000"/>
              </a:lnSpc>
              <a:spcAft>
                <a:spcPts val="400"/>
              </a:spcAft>
            </a:pPr>
            <a:r>
              <a:rPr sz="1400" b="0">
                <a:solidFill>
                  <a:srgbClr val="1F2A3A"/>
                </a:solidFill>
                <a:latin typeface="맑은 고딕"/>
                <a:ea typeface="맑은 고딕"/>
                <a:cs typeface="맑은 고딕"/>
              </a:rPr>
              <a:t>• skill:sop-cool-11</a:t>
            </a:r>
          </a:p>
          <a:p>
            <a:pPr algn="l">
              <a:lnSpc>
                <a:spcPct val="110000"/>
              </a:lnSpc>
              <a:spcAft>
                <a:spcPts val="400"/>
              </a:spcAft>
            </a:pPr>
            <a:r>
              <a:rPr sz="1400" b="0">
                <a:solidFill>
                  <a:srgbClr val="1F2A3A"/>
                </a:solidFill>
                <a:latin typeface="맑은 고딕"/>
                <a:ea typeface="맑은 고딕"/>
                <a:cs typeface="맑은 고딕"/>
              </a:rPr>
              <a:t>• 팬 최대 운전 · 출처 HM-8.5</a:t>
            </a:r>
          </a:p>
        </p:txBody>
      </p:sp>
      <p:sp>
        <p:nvSpPr>
          <p:cNvPr id="22" name="Rounded Rectangle 21"/>
          <p:cNvSpPr/>
          <p:nvPr/>
        </p:nvSpPr>
        <p:spPr>
          <a:xfrm>
            <a:off x="8356396" y="4932934"/>
            <a:ext cx="84124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대조: 적어 낸 근거가 호출 기록에 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근거라고 적은 조회가 실제 호출 기록에 있는지를 시스템이 대조해, 꾸며 낸 근거를 확인된 근거와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호출 기록에 있는 근거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답에 적힌 조회문이 실제로 실행한 조회와 같다</a:t>
            </a:r>
          </a:p>
          <a:p>
            <a:pPr algn="l">
              <a:lnSpc>
                <a:spcPct val="110000"/>
              </a:lnSpc>
              <a:spcAft>
                <a:spcPts val="600"/>
              </a:spcAft>
            </a:pPr>
            <a:r>
              <a:rPr sz="1450" b="0">
                <a:solidFill>
                  <a:srgbClr val="1F2A3A"/>
                </a:solidFill>
                <a:latin typeface="맑은 고딕"/>
                <a:ea typeface="맑은 고딕"/>
                <a:cs typeface="맑은 고딕"/>
              </a:rPr>
              <a:t>• 화면에 「근거 N개 확인」으로 보인다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확인된 답</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zoom-question" descr="zoom-questio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호출 기록에 없는 근거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답에 적힌 조회를 호출 기록에서 찾을 수 없다</a:t>
            </a:r>
          </a:p>
          <a:p>
            <a:pPr algn="l">
              <a:lnSpc>
                <a:spcPct val="110000"/>
              </a:lnSpc>
              <a:spcAft>
                <a:spcPts val="600"/>
              </a:spcAft>
            </a:pPr>
            <a:r>
              <a:rPr sz="1450" b="0">
                <a:solidFill>
                  <a:srgbClr val="1F2A3A"/>
                </a:solidFill>
                <a:latin typeface="맑은 고딕"/>
                <a:ea typeface="맑은 고딕"/>
                <a:cs typeface="맑은 고딕"/>
              </a:rPr>
              <a:t>• 화면에 「에이전트가 낸 답 (근거 확인 안 됨)」으로 보인다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확인되지 않은 답</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확인된 원인과 가설: 함께 변한 값만으로 단정하지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값이 함께 변했다는 사실만으로는 원인을 정할 수 없고, 등록된 증거 기준에 맞은 것만 확인된 원인으로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유온이 오르는 동안 냉각 효율이 떨어졌다</a:t>
            </a:r>
          </a:p>
          <a:p>
            <a:pPr algn="l">
              <a:lnSpc>
                <a:spcPct val="110000"/>
              </a:lnSpc>
              <a:spcAft>
                <a:spcPts val="600"/>
              </a:spcAft>
            </a:pPr>
            <a:r>
              <a:rPr sz="1450" b="0">
                <a:solidFill>
                  <a:srgbClr val="1F2A3A"/>
                </a:solidFill>
                <a:latin typeface="맑은 고딕"/>
                <a:ea typeface="맑은 고딕"/>
                <a:cs typeface="맑은 고딕"/>
              </a:rPr>
              <a:t>• 「쿨러가 원인이다」라고 적는다</a:t>
            </a:r>
          </a:p>
          <a:p>
            <a:pPr algn="l">
              <a:lnSpc>
                <a:spcPct val="110000"/>
              </a:lnSpc>
              <a:spcAft>
                <a:spcPts val="600"/>
              </a:spcAft>
            </a:pPr>
            <a:r>
              <a:rPr sz="1450" b="0">
                <a:solidFill>
                  <a:srgbClr val="1F2A3A"/>
                </a:solidFill>
                <a:latin typeface="맑은 고딕"/>
                <a:ea typeface="맑은 고딕"/>
                <a:cs typeface="맑은 고딕"/>
              </a:rPr>
              <a:t>• 팬 구동 불량이나 주변 온도 상승에서도 같은 모습이 나타난다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진동 0.575 mm/s는 기준 0.9 미만이므로 팬은 정상이다</a:t>
            </a:r>
          </a:p>
          <a:p>
            <a:pPr algn="l">
              <a:lnSpc>
                <a:spcPct val="110000"/>
              </a:lnSpc>
              <a:spcAft>
                <a:spcPts val="600"/>
              </a:spcAft>
            </a:pPr>
            <a:r>
              <a:rPr sz="1450" b="0">
                <a:solidFill>
                  <a:srgbClr val="1F2A3A"/>
                </a:solidFill>
                <a:latin typeface="맑은 고딕"/>
                <a:ea typeface="맑은 고딕"/>
                <a:cs typeface="맑은 고딕"/>
              </a:rPr>
              <a:t>• 캐비닛 온도 28 ℃는 기준 35 ℃에 못 미친다</a:t>
            </a:r>
          </a:p>
          <a:p>
            <a:pPr algn="l">
              <a:lnSpc>
                <a:spcPct val="110000"/>
              </a:lnSpc>
              <a:spcAft>
                <a:spcPts val="600"/>
              </a:spcAft>
            </a:pPr>
            <a:r>
              <a:rPr sz="1450" b="0">
                <a:solidFill>
                  <a:srgbClr val="1F2A3A"/>
                </a:solidFill>
                <a:latin typeface="맑은 고딕"/>
                <a:ea typeface="맑은 고딕"/>
                <a:cs typeface="맑은 고딕"/>
              </a:rPr>
              <a:t>• 남은 쿨러 핀 오염만 확인된 원인으로 적는다</a:t>
            </a:r>
          </a:p>
          <a:p>
            <a:pPr algn="l">
              <a:lnSpc>
                <a:spcPct val="110000"/>
              </a:lnSpc>
              <a:spcAft>
                <a:spcPts val="600"/>
              </a:spcAft>
            </a:pPr>
            <a:r>
              <a:rPr sz="14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24643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정보원에서 실행 기록까지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정보를 제자리에서 읽고, 모르면 멈추고, 결과와 과정을 형식에 맞춰 남기는 추천이어야 사람이 확인하고 승인할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정보원</a:t>
            </a:r>
          </a:p>
          <a:p>
            <a:pPr algn="ctr">
              <a:lnSpc>
                <a:spcPct val="110000"/>
              </a:lnSpc>
              <a:spcAft>
                <a:spcPts val="400"/>
              </a:spcAft>
            </a:pPr>
            <a:r>
              <a:rPr sz="1250" b="0">
                <a:solidFill>
                  <a:srgbClr val="1F2A3A"/>
                </a:solidFill>
                <a:latin typeface="맑은 고딕"/>
                <a:ea typeface="맑은 고딕"/>
                <a:cs typeface="맑은 고딕"/>
              </a:rPr>
              <a:t>물음에 맞는 곳을</a:t>
            </a:r>
          </a:p>
          <a:p>
            <a:pPr algn="ctr">
              <a:lnSpc>
                <a:spcPct val="110000"/>
              </a:lnSpc>
              <a:spcAft>
                <a:spcPts val="400"/>
              </a:spcAft>
            </a:pPr>
            <a:r>
              <a:rPr sz="1250" b="0">
                <a:solidFill>
                  <a:srgbClr val="1F2A3A"/>
                </a:solidFill>
                <a:latin typeface="맑은 고딕"/>
                <a:ea typeface="맑은 고딕"/>
                <a:cs typeface="맑은 고딕"/>
              </a:rPr>
              <a:t>도구로 읽는다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book-2" descr="book-2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지식과 값</a:t>
            </a:r>
          </a:p>
          <a:p>
            <a:pPr algn="ctr">
              <a:lnSpc>
                <a:spcPct val="110000"/>
              </a:lnSpc>
              <a:spcAft>
                <a:spcPts val="400"/>
              </a:spcAft>
            </a:pPr>
            <a:r>
              <a:rPr sz="1250" b="0">
                <a:solidFill>
                  <a:srgbClr val="1F2A3A"/>
                </a:solidFill>
                <a:latin typeface="맑은 고딕"/>
                <a:ea typeface="맑은 고딕"/>
                <a:cs typeface="맑은 고딕"/>
              </a:rPr>
              <a:t>기준은 지식에서,</a:t>
            </a:r>
          </a:p>
          <a:p>
            <a:pPr algn="ctr">
              <a:lnSpc>
                <a:spcPct val="110000"/>
              </a:lnSpc>
              <a:spcAft>
                <a:spcPts val="400"/>
              </a:spcAft>
            </a:pPr>
            <a:r>
              <a:rPr sz="1250" b="0">
                <a:solidFill>
                  <a:srgbClr val="1F2A3A"/>
                </a:solidFill>
                <a:latin typeface="맑은 고딕"/>
                <a:ea typeface="맑은 고딕"/>
                <a:cs typeface="맑은 고딕"/>
              </a:rPr>
              <a:t>값은 그때 읽는다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player-stop" descr="player-stop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멈춤 조건</a:t>
            </a:r>
          </a:p>
          <a:p>
            <a:pPr algn="ctr">
              <a:lnSpc>
                <a:spcPct val="110000"/>
              </a:lnSpc>
              <a:spcAft>
                <a:spcPts val="400"/>
              </a:spcAft>
            </a:pPr>
            <a:r>
              <a:rPr sz="1250" b="0">
                <a:solidFill>
                  <a:srgbClr val="1F2A3A"/>
                </a:solidFill>
                <a:latin typeface="맑은 고딕"/>
                <a:ea typeface="맑은 고딕"/>
                <a:cs typeface="맑은 고딕"/>
              </a:rPr>
              <a:t>근거가 모자라면</a:t>
            </a:r>
          </a:p>
          <a:p>
            <a:pPr algn="ctr">
              <a:lnSpc>
                <a:spcPct val="110000"/>
              </a:lnSpc>
              <a:spcAft>
                <a:spcPts val="400"/>
              </a:spcAft>
            </a:pPr>
            <a:r>
              <a:rPr sz="1250" b="0">
                <a:solidFill>
                  <a:srgbClr val="1F2A3A"/>
                </a:solidFill>
                <a:latin typeface="맑은 고딕"/>
                <a:ea typeface="맑은 고딕"/>
                <a:cs typeface="맑은 고딕"/>
              </a:rPr>
              <a:t>채우지 않고 멈춘다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braces" descr="braces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구조화 출력</a:t>
            </a:r>
          </a:p>
          <a:p>
            <a:pPr algn="ctr">
              <a:lnSpc>
                <a:spcPct val="110000"/>
              </a:lnSpc>
              <a:spcAft>
                <a:spcPts val="400"/>
              </a:spcAft>
            </a:pPr>
            <a:r>
              <a:rPr sz="1250" b="0">
                <a:solidFill>
                  <a:srgbClr val="1F2A3A"/>
                </a:solidFill>
                <a:latin typeface="맑은 고딕"/>
                <a:ea typeface="맑은 고딕"/>
                <a:cs typeface="맑은 고딕"/>
              </a:rPr>
              <a:t>정해진 항목으로</a:t>
            </a:r>
          </a:p>
          <a:p>
            <a:pPr algn="ctr">
              <a:lnSpc>
                <a:spcPct val="110000"/>
              </a:lnSpc>
              <a:spcAft>
                <a:spcPts val="400"/>
              </a:spcAft>
            </a:pPr>
            <a:r>
              <a:rPr sz="1250" b="0">
                <a:solidFill>
                  <a:srgbClr val="1F2A3A"/>
                </a:solidFill>
                <a:latin typeface="맑은 고딕"/>
                <a:ea typeface="맑은 고딕"/>
                <a:cs typeface="맑은 고딕"/>
              </a:rPr>
              <a:t>제출한다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history" descr="history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 기록</a:t>
            </a:r>
          </a:p>
          <a:p>
            <a:pPr algn="ctr">
              <a:lnSpc>
                <a:spcPct val="110000"/>
              </a:lnSpc>
              <a:spcAft>
                <a:spcPts val="400"/>
              </a:spcAft>
            </a:pPr>
            <a:r>
              <a:rPr sz="1250" b="0">
                <a:solidFill>
                  <a:srgbClr val="1F2A3A"/>
                </a:solidFill>
                <a:latin typeface="맑은 고딕"/>
                <a:ea typeface="맑은 고딕"/>
                <a:cs typeface="맑은 고딕"/>
              </a:rPr>
              <a:t>호출마다 입력과</a:t>
            </a:r>
          </a:p>
          <a:p>
            <a:pPr algn="ctr">
              <a:lnSpc>
                <a:spcPct val="110000"/>
              </a:lnSpc>
              <a:spcAft>
                <a:spcPts val="400"/>
              </a:spcAft>
            </a:pPr>
            <a:r>
              <a:rPr sz="1250" b="0">
                <a:solidFill>
                  <a:srgbClr val="1F2A3A"/>
                </a:solidFill>
                <a:latin typeface="맑은 고딕"/>
                <a:ea typeface="맑은 고딕"/>
                <a:cs typeface="맑은 고딕"/>
              </a:rPr>
              <a:t>출력이 남는다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도구가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바이브 코딩으로 온톨로지의 관계와 센서 입력을 읽어 점검 계획을 내는 에이전트를 구성한다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증거, 다음 점검 순서를 담은 점검 계획과 그 계획에 쓴 근거가 파일로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불량 접수 메시지를 분류해 구조화된 품질 대응 카드를 내는 작은 에이전트를 만든다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출력과 갈라지는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불량 접수 한 건을 품질 유형, 확인 항목, 담당 부서, 대응 초안을 갖춘 품질 대응 카드로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89479"/>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843098"/>
            <a:ext cx="424281" cy="424281"/>
          </a:xfrm>
          <a:prstGeom prst="rect">
            <a:avLst/>
          </a:prstGeom>
        </p:spPr>
      </p:pic>
      <p:sp>
        <p:nvSpPr>
          <p:cNvPr id="9" name="TextBox 8"/>
          <p:cNvSpPr txBox="1"/>
          <p:nvPr/>
        </p:nvSpPr>
        <p:spPr>
          <a:xfrm>
            <a:off x="713232"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품질 유형</a:t>
            </a:r>
          </a:p>
          <a:p>
            <a:pPr algn="l">
              <a:lnSpc>
                <a:spcPct val="110000"/>
              </a:lnSpc>
              <a:spcAft>
                <a:spcPts val="400"/>
              </a:spcAft>
            </a:pPr>
            <a:r>
              <a:rPr sz="1350" b="0">
                <a:solidFill>
                  <a:srgbClr val="1F2A3A"/>
                </a:solidFill>
                <a:latin typeface="맑은 고딕"/>
                <a:ea typeface="맑은 고딕"/>
                <a:cs typeface="맑은 고딕"/>
              </a:rPr>
              <a:t>제공된 분류 기준으로 접수 내용의 유형을 정한다</a:t>
            </a:r>
          </a:p>
        </p:txBody>
      </p:sp>
      <p:sp>
        <p:nvSpPr>
          <p:cNvPr id="10" name="Rounded Rectangle 9"/>
          <p:cNvSpPr/>
          <p:nvPr/>
        </p:nvSpPr>
        <p:spPr>
          <a:xfrm>
            <a:off x="777240" y="506463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89479"/>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843098"/>
            <a:ext cx="424281" cy="424281"/>
          </a:xfrm>
          <a:prstGeom prst="rect">
            <a:avLst/>
          </a:prstGeom>
        </p:spPr>
      </p:pic>
      <p:sp>
        <p:nvSpPr>
          <p:cNvPr id="15" name="TextBox 14"/>
          <p:cNvSpPr txBox="1"/>
          <p:nvPr/>
        </p:nvSpPr>
        <p:spPr>
          <a:xfrm>
            <a:off x="3555415"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확인 항목</a:t>
            </a:r>
          </a:p>
          <a:p>
            <a:pPr algn="l">
              <a:lnSpc>
                <a:spcPct val="110000"/>
              </a:lnSpc>
              <a:spcAft>
                <a:spcPts val="400"/>
              </a:spcAft>
            </a:pPr>
            <a:r>
              <a:rPr sz="1350" b="0">
                <a:solidFill>
                  <a:srgbClr val="1F2A3A"/>
                </a:solidFill>
                <a:latin typeface="맑은 고딕"/>
                <a:ea typeface="맑은 고딕"/>
                <a:cs typeface="맑은 고딕"/>
              </a:rPr>
              <a:t>판단에 모자란 정보를 확인 항목으로 적는다</a:t>
            </a:r>
          </a:p>
        </p:txBody>
      </p:sp>
      <p:sp>
        <p:nvSpPr>
          <p:cNvPr id="16" name="Rounded Rectangle 15"/>
          <p:cNvSpPr/>
          <p:nvPr/>
        </p:nvSpPr>
        <p:spPr>
          <a:xfrm>
            <a:off x="3619423" y="506463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89479"/>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843098"/>
            <a:ext cx="424281" cy="424281"/>
          </a:xfrm>
          <a:prstGeom prst="rect">
            <a:avLst/>
          </a:prstGeom>
        </p:spPr>
      </p:pic>
      <p:sp>
        <p:nvSpPr>
          <p:cNvPr id="21" name="TextBox 20"/>
          <p:cNvSpPr txBox="1"/>
          <p:nvPr/>
        </p:nvSpPr>
        <p:spPr>
          <a:xfrm>
            <a:off x="6397599"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 부서와 대응 초안</a:t>
            </a:r>
          </a:p>
          <a:p>
            <a:pPr algn="l">
              <a:lnSpc>
                <a:spcPct val="110000"/>
              </a:lnSpc>
              <a:spcAft>
                <a:spcPts val="400"/>
              </a:spcAft>
            </a:pPr>
            <a:r>
              <a:rPr sz="1350" b="0">
                <a:solidFill>
                  <a:srgbClr val="1F2A3A"/>
                </a:solidFill>
                <a:latin typeface="맑은 고딕"/>
                <a:ea typeface="맑은 고딕"/>
                <a:cs typeface="맑은 고딕"/>
              </a:rPr>
              <a:t>넘길 부서를 정하고 대응 초안을 쓴다</a:t>
            </a:r>
          </a:p>
        </p:txBody>
      </p:sp>
      <p:sp>
        <p:nvSpPr>
          <p:cNvPr id="22" name="Rounded Rectangle 21"/>
          <p:cNvSpPr/>
          <p:nvPr/>
        </p:nvSpPr>
        <p:spPr>
          <a:xfrm>
            <a:off x="6461607" y="506463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488311"/>
            <a:ext cx="2567863" cy="300608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89479"/>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843098"/>
            <a:ext cx="424281" cy="424281"/>
          </a:xfrm>
          <a:prstGeom prst="rect">
            <a:avLst/>
          </a:prstGeom>
        </p:spPr>
      </p:pic>
      <p:sp>
        <p:nvSpPr>
          <p:cNvPr id="27" name="TextBox 26"/>
          <p:cNvSpPr txBox="1"/>
          <p:nvPr/>
        </p:nvSpPr>
        <p:spPr>
          <a:xfrm>
            <a:off x="9239783"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미확정</a:t>
            </a:r>
          </a:p>
          <a:p>
            <a:pPr algn="l">
              <a:lnSpc>
                <a:spcPct val="110000"/>
              </a:lnSpc>
              <a:spcAft>
                <a:spcPts val="400"/>
              </a:spcAft>
            </a:pPr>
            <a:r>
              <a:rPr sz="1350" b="0">
                <a:solidFill>
                  <a:srgbClr val="1F2A3A"/>
                </a:solidFill>
                <a:latin typeface="맑은 고딕"/>
                <a:ea typeface="맑은 고딕"/>
                <a:cs typeface="맑은 고딕"/>
              </a:rPr>
              <a:t>원인이 정해지지 않았으면 단정하지 않고 조사 요청으로 넘긴다</a:t>
            </a:r>
          </a:p>
        </p:txBody>
      </p:sp>
      <p:sp>
        <p:nvSpPr>
          <p:cNvPr id="28" name="Rounded Rectangle 27"/>
          <p:cNvSpPr/>
          <p:nvPr/>
        </p:nvSpPr>
        <p:spPr>
          <a:xfrm>
            <a:off x="9303791" y="5064633"/>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646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조사 요청</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센서의 이상 징후 탐색과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센서 시계열에서 온도와 압력의 변화를 비교해 도표로 그리고 이상 구간을 요약한다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점검하는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값의 변화를 도표로 그리고, 이상 구간과 관련 태그와 조회 기간을 근거와 함께 요약한다.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도표를 그린다</a:t>
            </a:r>
          </a:p>
          <a:p>
            <a:pPr algn="l">
              <a:lnSpc>
                <a:spcPct val="110000"/>
              </a:lnSpc>
              <a:spcAft>
                <a:spcPts val="400"/>
              </a:spcAft>
            </a:pPr>
            <a:r>
              <a:rPr sz="1400" b="0">
                <a:solidFill>
                  <a:srgbClr val="1F2A3A"/>
                </a:solidFill>
                <a:latin typeface="맑은 고딕"/>
                <a:ea typeface="맑은 고딕"/>
                <a:cs typeface="맑은 고딕"/>
              </a:rPr>
              <a:t>• 온도와 압력의 시간 변화를 한 도표에 놓는다</a:t>
            </a:r>
          </a:p>
          <a:p>
            <a:pPr algn="l">
              <a:lnSpc>
                <a:spcPct val="110000"/>
              </a:lnSpc>
              <a:spcAft>
                <a:spcPts val="400"/>
              </a:spcAft>
            </a:pPr>
            <a:r>
              <a:rPr sz="1400" b="0">
                <a:solidFill>
                  <a:srgbClr val="1F2A3A"/>
                </a:solidFill>
                <a:latin typeface="맑은 고딕"/>
                <a:ea typeface="맑은 고딕"/>
                <a:cs typeface="맑은 고딕"/>
              </a:rPr>
              <a:t>• 값이 오르는 구간을 비교한다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요약한다</a:t>
            </a:r>
          </a:p>
          <a:p>
            <a:pPr algn="l">
              <a:lnSpc>
                <a:spcPct val="110000"/>
              </a:lnSpc>
              <a:spcAft>
                <a:spcPts val="400"/>
              </a:spcAft>
            </a:pPr>
            <a:r>
              <a:rPr sz="1400" b="0">
                <a:solidFill>
                  <a:srgbClr val="1F2A3A"/>
                </a:solidFill>
                <a:latin typeface="맑은 고딕"/>
                <a:ea typeface="맑은 고딕"/>
                <a:cs typeface="맑은 고딕"/>
              </a:rPr>
              <a:t>이상 구간, 관련 태그, 조회 기간을 근거와 함께 적는다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요약</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출력을 점검한다</a:t>
            </a:r>
          </a:p>
          <a:p>
            <a:pPr algn="l">
              <a:lnSpc>
                <a:spcPct val="110000"/>
              </a:lnSpc>
              <a:spcAft>
                <a:spcPts val="400"/>
              </a:spcAft>
            </a:pPr>
            <a:r>
              <a:rPr sz="1400" b="0">
                <a:solidFill>
                  <a:srgbClr val="1F2A3A"/>
                </a:solidFill>
                <a:latin typeface="맑은 고딕"/>
                <a:ea typeface="맑은 고딕"/>
                <a:cs typeface="맑은 고딕"/>
              </a:rPr>
              <a:t>함께 변한 값을 고장 원인으로 단정하지 않았는지 확인한다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