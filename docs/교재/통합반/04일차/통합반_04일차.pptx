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사흘 동안 지식을 담을 구조를 설계했고 조치 절차와 판단 규칙을 그 구조에 이었습니다. 오늘은 그 내용이 문서에서 어떻게 들어오는지를 따라갑니다. 마지막에는 나흘의 내용을 하나의 흐름으로 정리합니다.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첫날의 시연에서 추천안에는 원인과 조치와 출처가 함께 나왔습니다. 이 셋은 처음부터 지식 그래프에 있던 것이 아니라 쿨러 팬 정비 매뉴얼 HM-8에서 왔습니다. 오늘은 이 문서가 지식이 되는 과정을 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왼쪽은 매뉴얼 8.4절의 문장이고 오른쪽은 같은 내용이 등록된 모습입니다. 왼쪽을 오른쪽으로 바꾸는 일이 오늘의 주제입니다.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그래서 옮기는 일을 사람의 솜씨에 맡기지 않고 정해진 과정으로 둡니다. 과정이 정해져 있으면 누가 해도 같은 방법으로 되풀이할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문서를 지식으로 옮기는 정해진 과정에 붙은 이름이 인제스천입니다. 원래는 바깥의 자료를 시스템 안으로 받아들인다는 넓은 뜻의 말입니다. 원천 자료는 매뉴얼과 작업 절차서처럼 문장으로 된 것도 있고 업무 데이터베이스처럼 표로 된 것도 있어서 형태가 서로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윗줄 왼쪽부터 원천 확보와 보관, 문서 내용 분석, 지식 후보 추출, 스키마 · 식별자 매핑이고 아랫줄이 대조와 사람 검토, 승인된 지식 적재, 관계 · 출처 조회입니다. 일곱 단계 가운데 모델이 문서를 읽는 곳은 하늘색으로 묶은 두 단계입니다. 앞뒤는 정해진 절차와 사람의 확인입니다.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원문 보관을 봅니다. 뒤에서 추출 결과가 맞는지를 확인할 때 비교하는 대상이 이 원문이므로, 원문이 바뀔 수 있다면 대조가 의미를 잃습니다. 다음으로 가운데의 파일 이름은 바뀌고 겹칠 수 있어 문서를 가리키는 값으로 쓰지 못합니다. 그래서 오른쪽처럼 문서마다 식별자를 발급합니다. 둘째 날에 배운, 대상 하나를 가리키는 고유한 값이 문서에도 붙는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매뉴얼은 절로 나뉘고 절 안에 절차가 있으며 절차는 단계로 이루어집니다. 왼쪽이 쿨러 사건에서 추천된 팬 최대 운전의 원문입니다. 맨 윗줄이 절, 가운데 제목이 절차, 번호가 붙은 세 줄이 단계입니다. 제목과 번호만 보고도 셋을 가를 수 있으므로 이 구조를 먼저 가려 둡니다.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단계에서 구조를 가려 둔 원문이 이 단계의 입력입니다. 첫 줄부터 봅니다. 여기서 뽑은 것은 아직 지식이 아니라 후보입니다. 번호가 붙은 줄이 단계라는 것은 겉모양으로 알 수 있지만, 문장의 어느 부분이 기준이고 어느 부분이 결론인지는 뜻을 읽어야 알기 때문에 둘째 줄의 LLM이 이 일을 맡습니다. 셋째 줄의 다른 점 때문에 뒤에 대조와 검토가 붙습니다.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왼쪽입니다. 답이 긴 문장이면 그 답을 다시 사람이 읽어야 합니다. 가운데처럼 항목과 형식을 정해 주면 프로그램이 받아 처리할 수 있고, 그 형식으로 JSON을 씁니다. 오른쪽의 형식 검사는 숫자 자리에 숫자가 있는지까지만 봅니다. 그 숫자가 맞는지는 뒤의 대조와 검토가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위가 원문이고 아래가 모델이 낸 원인 한 건이며, 이름과 값의 쌍을 중괄호로 묶은 이 형식이 JSON입니다. 먼저 위의 세 줄을 봅니다. 식별자와 이름과 별칭은 둘째 날에 배운 그대로입니다. 다음으로 prior는 문장에 있던 값이고 맨 아래의 section은 근거가 된 절입니다. 그 사이의 failure_mode와 parts는 이 원인이 이어질 대상을 식별자로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문서를 읽었다고 새 클래스나 새 관계를 만들 수는 없으므로 후보는 스키마에 정의된 것 가운데 하나여야 합니다. 왼쪽은 문서가 새로 알려 주는 지식이어서 후보로 만듭니다. 오른쪽은 이미 등록된 대상이어서 새로 만들지 않고 식별자로 가리킵니다. 매뉴얼에 오일 쿨러라는 말이 나왔다고 오일 쿨러 노드를 하나 더 만들면 같은 구성 요소가 둘이 됩니다. 그래서 등록된 식별자의 목록을 모델에게 주고 그 안에서 고르게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점선으로 그린 하늘색 원이 새 후보이고 나머지 셋은 이미 등록된 대상입니다. 새 고장 유형은 처음부터 기존의 증상과 구성 요소에 이어진 채로 들어갑니다.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HM-8을 추출할 때 실제로 남은 알림입니다. 금지 문장이 있는데도 규칙으로 만들지 않은 이유를 모델이 적어 두었습니다. 모르는 것은 모른다고 남기게 하면 지어낸 값이 판단에 섞이지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모델의 출력이 틀릴 수 있는 방식은 크게 네 가지이고, 넷 모두 형식 검사를 통과합니다. 위의 둘부터 봅니다. 조건 문장이 통째로 빠지면 결과에는 틀린 글자가 하나도 없고, 단위만 바뀌면 숫자 자리에 숫자가 있으므로 프로그램이 이상을 찾지 못합니다. 아래의 둘은 매뉴얼이 쿨러 핀 오염에만 이은 핀 세척을 다른 원인에 짐작으로 잇는 오류와, 팬 최대 운전의 세 단계에 없는 단계를 만들어 넣는 오류입니다. 넷을 가려내는 방법은 원문과 인용을 나란히 놓고 읽는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실제로 기록된 예입니다. 먼저 위의 원문대로 읽으면 가장 빠른 곳은 C트레이딩이고 승인 공급사가 아니므로 이 견적에서는 이 절차가 쓰이지 않는 것이 맞습니다. 다음으로 아래의 추출 결과를 보면 발주처가 A정밀로 적혀 있습니다. 2단계의 조건을 미리 적용해 값을 바꾸어 적은 것으로, 조건의 누락과 잘못된 추론이 겹친 경우입니다. 바르게 옮기면 1단계의 기준은 그대로 두고 2단계의 조건은 셋째 날에 본 제외 규칙이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오류는 결과만 보아서는 드러나지 않으므로 대조하는 단계를 둡니다. 먼저 오른쪽 위의 지식 한 건에서 원문의 한 줄로 가는 화살표가 인용이며, 팬 최대 운전의 2단계는 원문의 1569번째 글자부터 1615번째 글자까지가 근거입니다. 다음으로 아래의 대조입니다. 프로그램이 인용문을 원문의 그 쪽에서 찾아보므로 원문에 없는 문장을 근거로 댄 후보는 여기서 돌려보내집니다. 다만 조건이 빠졌는지, 관계가 맞는지는 사람이 읽어야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인용문이 원문에 있는지는 프로그램이 대조하고, 조건과 수치와 순서와 연결이 맞는지는 사람이 검토합니다. 앞에서 본 오류의 종류가 그대로 검토의 점검 항목이 됩니다. 문서 전체를 다시 읽는 것이 아니라 인용이 가리키는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추출이 끝난 시점에 지식 그래프는 조금도 바뀌어 있지 않습니다. 조치를 사람이 승인해야 설비 명령이 나갔던 것과 같은 구조입니다. 일부만 들어가 절차는 있는데 금지 조건이 없는 상태가 생기지 않게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맨 위의 판본입니다. 문서 식별자는 그대로이고 내용이 바뀔 때마다 판본만 새로 생깁니다. 다음으로 판본 아래의 적재 기록에는 누가 언제 검토해 넣었는지와 넣기 전후의 지식 그래프의 상태가 들어갑니다. 기록 사이의 화살표는 새 기록이 앞 기록을 가리킨다는 뜻이고, 이 사슬이 그 문서의 개정 이력입니다. 전과 후의 상태를 비교하면 어느 개정에서 무엇이 바뀌었는지를 알 수 있고, 되돌릴 때는 가장 새 기록부터 되돌립니다.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단계의 끝이고, 쿨러 사건에서 추천안에 출처가 함께 나온 것이 이 단계의 결과입니다. 윗줄을 왼쪽부터 따라갑니다. 첫날에는 조치 방법과 근거 문서 사이를 화살표 하나로 보았는데, 펼치면 단계와 절이 그 사이에 있습니다. 다음으로 아래의 규칙도 자신이 나온 절을 가리킵니다. 그래서 출처는 따로 검색하는 것이 아니라 관계를 따라가면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문서를 활용하는 방식은 인제스천만 있는 것이 아닙니다. 왼쪽의 RAG는 이름을 풀면 검색으로 보강한 생성이라는 뜻이고, 문서를 그대로 쓰므로 준비가 빠르고 넓은 범위의 질문에 답할 수 있습니다. 같은 질문을 두 방식에 넣어 보면 왼쪽은 조각을 찾아 그때 해석하고 오른쪽은 등록된 규칙으로 판정합니다. 두 방식은 우열의 관계가 아니라 쓰임이 다릅니다. 같은 조건에서 같은 결론이 나와야 하는 설비 조치의 판단에는 등록된 지식이 맞고, 등록되지 않은 배경 설명이나 넓은 질문에는 검색이 도움이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날에 결정표에서 표에 적힌 것과 그때 읽어 오는 것을 나누어 보았고, 같은 구분을 지식 그래프 전체에 적용한 것입니다. 먼저 왼쪽입니다. 매뉴얼에서 뽑아 등록한 것은 모두 지식입니다. 다음으로 오른쪽의 값은 등록하지 않습니다. 편하다는 이유로 지금의 값을 노드의 속성으로 넣어 두면, 유온이 2분 사이에 6 ℃ 오른 쿨러 사건에서는 지난 값으로 판단하게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줄씩 읽으면 왼쪽은 기준이고 오른쪽은 그 기준에 댈 값입니다. 48과 65는 지식이고 지금의 유온은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위의 중괄호가 매뉴얼에서 추출해 등록한 증거 한 건이며, 무엇을 읽어 무엇과 비교할지는 있지만 지금의 냉각 효율은 들어 있지 않습니다. 다음으로 가운데의 조회문입니다. 판단하는 순간에 위의 방법이 이 조회문이 되고, 지식은 CE라는 이름으로 값을 가리킬 뿐 값은 원천에 그대로 있습니다. 맨 아래가 읽은 값 46.2를 기준 70과 비교한 결과입니다. 매뉴얼의 기준이 바뀌면 지식의 70만 고치면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 값은 태그 이름으로 이어졌고 업무 값은 표와 열의 위치로 이어집니다. 방법은 달라도 원리는 같습니다. 지식에는 값이 어디에 있는지를 적고 값은 원천에 둡니다.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사건의 처리 기록에 남은 값 셋입니다. 인용이 지식의 출처라면 이 기록은 값의 출처입니다. 나중에 판단을 따질 때 값이 틀렸는지 지식이 틀렸는지를 가를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단계를 한 문장으로 줄인 것입니다. 이 세 가지가 갖추어진 지식이라야 판단의 근거로 쓸 수 있습니다. 이제 이 과정을 직접 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단계를 매뉴얼 한 편으로 직접 진행합니다. 할 일의 중심은 검토입니다. 끝나면 문서 한 편이 출처를 가진 지식으로 바뀌어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추출하는 쪽을 직접 만듭니다. 지시에 들어가야 하는 것은 스키마의 클래스에 맞출 것, 정해진 형식으로 낼 것, 후보마다 인용을 붙일 것의 세 가지입니다.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오늘 배운 과정 그대로입니다. 둘째 날에 만든 설비 모델과 셋째 날의 조치와 규칙의 구조가 여기서 다시 쓰입니다. 고장 유형 하나에서 원문 출처까지 따라갈 수 있으면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칸마다 하늘색으로 칠한 부분이 그날 새로 더해진 것입니다. 앞 칸의 결과물이 다음 칸의 바탕이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첫날의 출발점은 쿨러 사건의 경보 한 건과 시계열 DB, PLC, 매뉴얼, MES에 흩어진 정보였고, 그 사이를 잇는 연결은 사람의 머릿속에만 있었습니다. 그 연결을 꺼내 적은 것이 이 그림입니다. 증상은 고장 유형을 가리키고, 원인은 고장 유형을 일으키며, 고장 유형은 조치로 완화된다는 세 문장을 화살표를 따라 읽습니다. 다만 그림에는 증상에서 조치로 CAUSES를 그어도 막을 방법이 없습니다. 그 틀을 만드는 것이 둘째 날의 일이었습니다.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줄부터 봅니다. 2일차가 받은 것은 설비 자료와 답할 질문이었고, 스키마 설계는 클래스가 아니라 질문에서 출발했습니다. 질문이 정해져야 무엇을 넣고 무엇을 넣지 않을지가 갈립니다. 둘째 줄의 스키마가 첫 결과물로, 첫날의 그림에 없던 틀입니다.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대상마다 식별자가 있고 관계는 스키마가 정한 방향으로 놓였습니다. Cypher로 이 관계를 따라가면 처음의 질문에 답이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날에 SOP의 구성요소로 본 것 가운데 셋이 3일차의 입력입니다. 첫 행에서 SOP 한 편이 조치 방법 노드 하나가 되고 번호가 붙은 줄이 작업 단계가 되었습니다. 둘째 행의 금지는 앞에서 본 대로 규칙으로 만들지 않았고, 부하를 60 % 아래로 내리지 못한다는 조치의 하한으로 남았습니다. 셋째 행의 전제 조건은 셋째 날에 본 제외 규칙이 되었습니다. 조건에 댈 운전 모드의 값은 규칙에 없고 판단할 때 읽어 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날에 조치가 지표에 미치는 영향을 따라가며 본 지표들입니다. 한 조치가 한 지표에는 이롭고 다른 지표에는 불리했습니다.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날과 셋째 날은 지식이 들어갈 자리를 만들었고, 오늘은 그 자리를 채우는 방법을 다루었습니다. 왼쪽부터 원문, 후보, 검토된 지식, 출처를 가진 지식의 순서입니다. 마지막 칸에는 내용과 함께 그것이 어디에서 왔고 누가 확인했는지가 같이 들어 있습니다. 내용만 있는 지식과 달리 뒤의 둘이 있어야 판단의 근거로 내놓을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걸음 전체의 밑그림은 첫날의 관계 그림입니다. 첫날 94초 동안 에이전트가 한 일이 이것이었고, 그것이 가능했던 것은 나흘의 결과물이 미리 쌓여 있었기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이상 패턴에서 증상을 거쳐 고장 유형까지 갑니다. 이 길은 누가 그때 생각해 낸 것이 아니라, 관계가 정의되어 있고 그 정의에 따라 인스턴스가 이어져 있어서 따라갈 수 있었습니다. 다음으로 오른쪽의 원인 후보 셋과 후보마다의 증거 기준은 모두 매뉴얼 HM-8.4에서 추출해 검토한 지식입니다. 기준 70이 원문과 다르게 옮겨졌다면 판단은 그 틀린 기준으로 원인을 가립니다. 에이전트는 등록된 지식을 그대로 조회하므로 넣기 전의 검토가 이 걸음을 믿을 수 있게 하는 조건입니다.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행마다 윗줄이 매뉴얼에서 온 기준이고 아랫줄이 그 순간에 시계열 DB에서 읽은 값입니다. 첫 행부터 봅니다. 기준 70은 지식이고 46.2는 읽은 값이며, 둘은 서로 다른 곳에 있다가 판단하는 순간에만 만납니다. 팬 진동 0.575는 팬이 정상이라는 뜻이어서 핀 오염에는 맞고 팬 구동 불량에는 맞지 않습니다. 캐비닛 온도도 기준에 못 미쳐 원인은 쿨러 핀 오염 하나로 정해졌습니다.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날에 본 순위 그대로입니다. 넷 모두 제외 규칙을 통과했고, 쿨러 핀 세척에는 경고가 붙었으며, 순서는 성과 기준이 정했습니다.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첫날의 시연에서는 추천에 근거가 붙어 나온다는 정도로 보고 지나간 화면입니다. 지금은 줄마다 그것이 어디에서 왔는지를 말할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위에서 아래로 스키마, 인스턴스 데이터, 값입니다. 위의 둘은 지식 그래프에 있고 맨 아래의 값은 지식 그래프 밖의 원천에 있습니다. 줄마다 둘째 줄이 그 층이 바뀌는 때입니다. 센서를 하나 새로 달면 인스턴스가 늘 뿐 스키마는 그대로이고, 매뉴얼의 기준이 바뀌면 인스턴스 데이터가 바뀌며, 유온은 매초 바뀝니다.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층을 나누어 둔 덕분에 어디를 보아야 하는지가 갈립니다. 기준이 틀렸으면 인용을 따라 문서로 가고, 숫자가 틀렸으면 출처 기록을 따라 원천으로 갑니다.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날에 결정표의 행으로 본 감점 규칙과 그 근거 문장입니다. 문서의 문장은 왜 그런 기준이 있는지를 사람에게 설명하고, 규칙은 지금 그 기준을 어떻게 판정할지를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규칙은 오른쪽으로 문서에 이어지고 아래로 값의 자리에 이어집니다. 근거는 문서 쪽으로, 값은 입력 데이터 쪽으로 따라갑니다.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규칙만 있고 근거가 없으면 어느 규칙을 고쳐야 하는지 찾을 수 없습니다. 출처 관계와 개정 이력이 여기서 함께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만든 것이 에이전트에게 무엇을 주는지를 왼쪽부터 봅니다. 지식 그래프는 따라갈 길과 댈 근거를 주므로 같은 경보에는 같은 후보와 같은 근거가 나옵니다. 가운데의 판단 규칙은 조건의 해석을 모델에 맡기지 않고 정해 둔 판정을 주며, 에이전트는 그 판정을 받아 추천에 반영합니다. 오른쪽의 값의 자리는 도구로 읽을 곳을 줍니다. 에이전트의 동작과 도구가 만들어지는 방식은 이후의 과정에서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첫날에 AI에게 그대로 물으면 답의 근거를 확인할 수 없다고 했습니다. 그 문제에 대한 답이 이 구분입니다.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나흘의 내용을 한 문장으로 줄인 것입니다. 이 과정의 제목에 있는 신뢰할 수 있는 판단 근거가 뜻하는 것이 이것입니다. 다음 시간부터는 이 재료로 실제로 판단하는 에이전트를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뜻은 앞에서 풀었으므로 여기서는 이름과 자리만 확인합니다. 이 일곱 개와 함께 원천 자료, 매핑, 판본, 개정 이력이 오늘의 용어입니다.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형식이 맞는 것과 내용이 맞는 것을 구분하는 문항입니다. 추출 결과와 인용문을 나란히 놓고 무엇이 다른지를 먼저 찾아보시기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 가운데 하나만 성격이 다릅니다. 문서가 개정되기 전에는 바뀌지 않는 것과 매초 바뀌는 것을 가려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추출한 후보를 기존 그래프에 잇는 원칙을 묻는 문항입니다. 같은 대상이 그래프에 둘이 되면 어떤 일이 생기는지를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문항의 1번이 틀린 이유는 형식 검사와 인용 대조가 내용의 누락까지 잡아 주지는 않기 때문입니다. 셋째 문항의 3번은 문서를 읽었다고 스키마에 새 클래스를 더할 수는 없다는 점에서 틀립니다. 스키마를 바꾸는 일은 추출이 아니라 설계의 일입니다.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2.png"/><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8.png"/><Relationship Id="rId4" Type="http://schemas.openxmlformats.org/officeDocument/2006/relationships/image" Target="../media/image12.png"/><Relationship Id="rId5" Type="http://schemas.openxmlformats.org/officeDocument/2006/relationships/image" Target="../media/image1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3.png"/><Relationship Id="rId4" Type="http://schemas.openxmlformats.org/officeDocument/2006/relationships/image" Target="../media/image2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2.png"/><Relationship Id="rId4" Type="http://schemas.openxmlformats.org/officeDocument/2006/relationships/image" Target="../media/image26.png"/><Relationship Id="rId5" Type="http://schemas.openxmlformats.org/officeDocument/2006/relationships/image" Target="../media/image2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5.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3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3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3.png"/><Relationship Id="rId4" Type="http://schemas.openxmlformats.org/officeDocument/2006/relationships/image" Target="../media/image30.png"/><Relationship Id="rId5" Type="http://schemas.openxmlformats.org/officeDocument/2006/relationships/image" Target="../media/image34.png"/><Relationship Id="rId6" Type="http://schemas.openxmlformats.org/officeDocument/2006/relationships/image" Target="../media/image11.png"/><Relationship Id="rId7" Type="http://schemas.openxmlformats.org/officeDocument/2006/relationships/image" Target="../media/image3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36.png"/><Relationship Id="rId4" Type="http://schemas.openxmlformats.org/officeDocument/2006/relationships/image" Target="../media/image3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11.png"/><Relationship Id="rId4"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3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7.png"/><Relationship Id="rId4" Type="http://schemas.openxmlformats.org/officeDocument/2006/relationships/image" Target="../media/image27.png"/><Relationship Id="rId5" Type="http://schemas.openxmlformats.org/officeDocument/2006/relationships/image" Target="../media/image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5.png"/><Relationship Id="rId4" Type="http://schemas.openxmlformats.org/officeDocument/2006/relationships/image" Target="../media/image42.png"/><Relationship Id="rId5" Type="http://schemas.openxmlformats.org/officeDocument/2006/relationships/image" Target="../media/image1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12.png"/><Relationship Id="rId4" Type="http://schemas.openxmlformats.org/officeDocument/2006/relationships/image" Target="../media/image43.png"/><Relationship Id="rId5" Type="http://schemas.openxmlformats.org/officeDocument/2006/relationships/image" Target="../media/image2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44.png"/><Relationship Id="rId4" Type="http://schemas.openxmlformats.org/officeDocument/2006/relationships/image" Target="../media/image24.png"/><Relationship Id="rId5" Type="http://schemas.openxmlformats.org/officeDocument/2006/relationships/image" Target="../media/image45.png"/><Relationship Id="rId6" Type="http://schemas.openxmlformats.org/officeDocument/2006/relationships/image" Target="../media/image4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4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image" Target="../media/image4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12.png"/><Relationship Id="rId4" Type="http://schemas.openxmlformats.org/officeDocument/2006/relationships/image" Target="../media/image21.png"/><Relationship Id="rId5" Type="http://schemas.openxmlformats.org/officeDocument/2006/relationships/image" Target="../media/image27.png"/><Relationship Id="rId6" Type="http://schemas.openxmlformats.org/officeDocument/2006/relationships/image" Target="../media/image1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54.png"/><Relationship Id="rId4" Type="http://schemas.openxmlformats.org/officeDocument/2006/relationships/image" Target="../media/image13.png"/><Relationship Id="rId5" Type="http://schemas.openxmlformats.org/officeDocument/2006/relationships/image" Target="../media/image8.png"/><Relationship Id="rId6" Type="http://schemas.openxmlformats.org/officeDocument/2006/relationships/image" Target="../media/image35.png"/><Relationship Id="rId7" Type="http://schemas.openxmlformats.org/officeDocument/2006/relationships/image" Target="../media/image5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5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12.png"/><Relationship Id="rId4" Type="http://schemas.openxmlformats.org/officeDocument/2006/relationships/image" Target="../media/image35.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35.png"/><Relationship Id="rId4" Type="http://schemas.openxmlformats.org/officeDocument/2006/relationships/image" Target="../media/image34.png"/><Relationship Id="rId5" Type="http://schemas.openxmlformats.org/officeDocument/2006/relationships/image" Target="../media/image11.png"/><Relationship Id="rId6" Type="http://schemas.openxmlformats.org/officeDocument/2006/relationships/image" Target="../media/image14.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12.png"/><Relationship Id="rId4" Type="http://schemas.openxmlformats.org/officeDocument/2006/relationships/image" Target="../media/image57.png"/><Relationship Id="rId5" Type="http://schemas.openxmlformats.org/officeDocument/2006/relationships/image" Target="../media/image58.png"/><Relationship Id="rId6" Type="http://schemas.openxmlformats.org/officeDocument/2006/relationships/image" Target="../media/image35.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13.png"/><Relationship Id="rId4" Type="http://schemas.openxmlformats.org/officeDocument/2006/relationships/image" Target="../media/image35.png"/><Relationship Id="rId5" Type="http://schemas.openxmlformats.org/officeDocument/2006/relationships/image" Target="../media/image59.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27.png"/><Relationship Id="rId4" Type="http://schemas.openxmlformats.org/officeDocument/2006/relationships/image" Target="../media/image26.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37.png"/><Relationship Id="rId4" Type="http://schemas.openxmlformats.org/officeDocument/2006/relationships/image" Target="../media/image55.png"/><Relationship Id="rId5" Type="http://schemas.openxmlformats.org/officeDocument/2006/relationships/image" Target="../media/image8.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4일차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현장 자료를 검증해 만드는</a:t>
            </a:r>
          </a:p>
          <a:p>
            <a:pPr algn="l">
              <a:lnSpc>
                <a:spcPct val="110000"/>
              </a:lnSpc>
            </a:pPr>
            <a:r>
              <a:rPr sz="4000" b="1">
                <a:solidFill>
                  <a:srgbClr val="FFFFFF"/>
                </a:solidFill>
                <a:latin typeface="맑은 고딕"/>
                <a:ea typeface="맑은 고딕"/>
                <a:cs typeface="맑은 고딕"/>
              </a:rPr>
              <a:t>신뢰할 수 있는 판단 근거</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매뉴얼의 문장이 출처를 가진 지식이 되기까지</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file-text" descr="file-tex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zoom-check" descr="zoom-check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topology-star-3" descr="topology-star-3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매뉴얼의 문장이 검토를 거쳐 출처를 가진 지식으로 등록되는 과정을 설명하고 지식과 값을 구분한다.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file-import" descr="file-import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인제스천의 과정</a:t>
            </a:r>
          </a:p>
          <a:p>
            <a:pPr algn="l">
              <a:lnSpc>
                <a:spcPct val="110000"/>
              </a:lnSpc>
              <a:spcAft>
                <a:spcPts val="400"/>
              </a:spcAft>
            </a:pPr>
            <a:r>
              <a:rPr sz="1350" b="0">
                <a:solidFill>
                  <a:srgbClr val="1F2A3A"/>
                </a:solidFill>
                <a:latin typeface="맑은 고딕"/>
                <a:ea typeface="맑은 고딕"/>
                <a:cs typeface="맑은 고딕"/>
              </a:rPr>
              <a:t>원천 자료가 지식이 되기까지의 단계를 순서대로 설명한다</a:t>
            </a:r>
          </a:p>
        </p:txBody>
      </p:sp>
      <p:sp>
        <p:nvSpPr>
          <p:cNvPr id="10" name="Rounded Rectangle 9"/>
          <p:cNvSpPr/>
          <p:nvPr/>
        </p:nvSpPr>
        <p:spPr>
          <a:xfrm>
            <a:off x="777240" y="5029771"/>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전체 과정</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alert-triangle" descr="alert-triangle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추출의 오류와 검토</a:t>
            </a:r>
          </a:p>
          <a:p>
            <a:pPr algn="l">
              <a:lnSpc>
                <a:spcPct val="110000"/>
              </a:lnSpc>
              <a:spcAft>
                <a:spcPts val="400"/>
              </a:spcAft>
            </a:pPr>
            <a:r>
              <a:rPr sz="1350" b="0">
                <a:solidFill>
                  <a:srgbClr val="1F2A3A"/>
                </a:solidFill>
                <a:latin typeface="맑은 고딕"/>
                <a:ea typeface="맑은 고딕"/>
                <a:cs typeface="맑은 고딕"/>
              </a:rPr>
              <a:t>추출에서 생기는 오류를 구분하고 대조와 검토가 맡는 일을 말한다</a:t>
            </a:r>
          </a:p>
        </p:txBody>
      </p:sp>
      <p:sp>
        <p:nvSpPr>
          <p:cNvPr id="16" name="Rounded Rectangle 15"/>
          <p:cNvSpPr/>
          <p:nvPr/>
        </p:nvSpPr>
        <p:spPr>
          <a:xfrm>
            <a:off x="3619423" y="5029771"/>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신뢰의 조건</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quote" descr="quote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출처와 개정 이력</a:t>
            </a:r>
          </a:p>
          <a:p>
            <a:pPr algn="l">
              <a:lnSpc>
                <a:spcPct val="110000"/>
              </a:lnSpc>
              <a:spcAft>
                <a:spcPts val="400"/>
              </a:spcAft>
            </a:pPr>
            <a:r>
              <a:rPr sz="1350" b="0">
                <a:solidFill>
                  <a:srgbClr val="1F2A3A"/>
                </a:solidFill>
                <a:latin typeface="맑은 고딕"/>
                <a:ea typeface="맑은 고딕"/>
                <a:cs typeface="맑은 고딕"/>
              </a:rPr>
              <a:t>지식이 문서의 어디에서 왔는지를 되짚는 방법을 설명한다</a:t>
            </a:r>
          </a:p>
        </p:txBody>
      </p:sp>
      <p:sp>
        <p:nvSpPr>
          <p:cNvPr id="22" name="Rounded Rectangle 21"/>
          <p:cNvSpPr/>
          <p:nvPr/>
        </p:nvSpPr>
        <p:spPr>
          <a:xfrm>
            <a:off x="6461607" y="5029771"/>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근거의 추적</a:t>
            </a:r>
          </a:p>
        </p:txBody>
      </p:sp>
      <p:sp>
        <p:nvSpPr>
          <p:cNvPr id="24" name="Rounded Rectangle 23"/>
          <p:cNvSpPr/>
          <p:nvPr/>
        </p:nvSpPr>
        <p:spPr>
          <a:xfrm>
            <a:off x="9075191"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5CB8F2"/>
          </a:solidFill>
          <a:ln>
            <a:noFill/>
          </a:ln>
        </p:spPr>
        <p:txBody>
          <a:bodyPr rtlCol="0" anchor="ctr"/>
          <a:lstStyle/>
          <a:p>
            <a:pPr algn="ctr"/>
          </a:p>
        </p:txBody>
      </p:sp>
      <p:pic>
        <p:nvPicPr>
          <p:cNvPr id="26" name="아이콘:activity" descr="activity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지식과 값의 구분</a:t>
            </a:r>
          </a:p>
          <a:p>
            <a:pPr algn="l">
              <a:lnSpc>
                <a:spcPct val="110000"/>
              </a:lnSpc>
              <a:spcAft>
                <a:spcPts val="400"/>
              </a:spcAft>
            </a:pPr>
            <a:r>
              <a:rPr sz="1350" b="0">
                <a:solidFill>
                  <a:srgbClr val="1F2A3A"/>
                </a:solidFill>
                <a:latin typeface="맑은 고딕"/>
                <a:ea typeface="맑은 고딕"/>
                <a:cs typeface="맑은 고딕"/>
              </a:rPr>
              <a:t>지식 그래프에 두는 것과 원천에서 읽는 것을 가른다</a:t>
            </a:r>
          </a:p>
        </p:txBody>
      </p:sp>
      <p:sp>
        <p:nvSpPr>
          <p:cNvPr id="28" name="Rounded Rectangle 27"/>
          <p:cNvSpPr/>
          <p:nvPr/>
        </p:nvSpPr>
        <p:spPr>
          <a:xfrm>
            <a:off x="9303791" y="5029771"/>
            <a:ext cx="132587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29771"/>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지식과 데이터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306323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306323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인제스천: 현장 자료에서 온톨로지 지식으로</a:t>
            </a:r>
          </a:p>
        </p:txBody>
      </p:sp>
      <p:sp>
        <p:nvSpPr>
          <p:cNvPr id="6" name="Rounded Rectangle 5"/>
          <p:cNvSpPr/>
          <p:nvPr/>
        </p:nvSpPr>
        <p:spPr>
          <a:xfrm>
            <a:off x="10088575" y="328269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328269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79475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79475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설계에서 지식 활용까지의 전체 과정</a:t>
            </a:r>
          </a:p>
        </p:txBody>
      </p:sp>
      <p:sp>
        <p:nvSpPr>
          <p:cNvPr id="11" name="Rounded Rectangle 10"/>
          <p:cNvSpPr/>
          <p:nvPr/>
        </p:nvSpPr>
        <p:spPr>
          <a:xfrm>
            <a:off x="10088575" y="401421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40142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13" name="TextBox 12"/>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인제스천: 현장 자료에서</a:t>
            </a:r>
          </a:p>
          <a:p>
            <a:pPr algn="l">
              <a:lnSpc>
                <a:spcPct val="110000"/>
              </a:lnSpc>
            </a:pPr>
            <a:r>
              <a:rPr sz="3400" b="1">
                <a:solidFill>
                  <a:srgbClr val="13294B"/>
                </a:solidFill>
                <a:latin typeface="맑은 고딕"/>
                <a:ea typeface="맑은 고딕"/>
                <a:cs typeface="맑은 고딕"/>
              </a:rPr>
              <a:t>온톨로지 지식으로</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매뉴얼의 문장을 추출하고 검토해 출처와 함께 지식 그래프에 등록하는 과정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추천안에 나온 원인, 조치, 출처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사건의 추천안에 나온 원인과 조치와 출처는 모두 매뉴얼 HM-8 한 편에서 온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929636"/>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원인</a:t>
            </a:r>
          </a:p>
          <a:p>
            <a:pPr algn="l">
              <a:lnSpc>
                <a:spcPct val="110000"/>
              </a:lnSpc>
              <a:spcAft>
                <a:spcPts val="400"/>
              </a:spcAft>
            </a:pPr>
            <a:r>
              <a:rPr sz="1400" b="0">
                <a:solidFill>
                  <a:srgbClr val="1F2A3A"/>
                </a:solidFill>
                <a:latin typeface="맑은 고딕"/>
                <a:ea typeface="맑은 고딕"/>
                <a:cs typeface="맑은 고딕"/>
              </a:rPr>
              <a:t>쿨러 핀 오염</a:t>
            </a:r>
          </a:p>
        </p:txBody>
      </p:sp>
      <p:sp>
        <p:nvSpPr>
          <p:cNvPr id="10" name="Rounded Rectangle 9"/>
          <p:cNvSpPr/>
          <p:nvPr/>
        </p:nvSpPr>
        <p:spPr>
          <a:xfrm>
            <a:off x="777240" y="4824476"/>
            <a:ext cx="90220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824476"/>
            <a:ext cx="9022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HM-8.4</a:t>
            </a:r>
          </a:p>
        </p:txBody>
      </p:sp>
      <p:sp>
        <p:nvSpPr>
          <p:cNvPr id="12" name="Rounded Rectangle 11"/>
          <p:cNvSpPr/>
          <p:nvPr/>
        </p:nvSpPr>
        <p:spPr>
          <a:xfrm>
            <a:off x="4338218"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929636"/>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3083255"/>
            <a:ext cx="424281" cy="424281"/>
          </a:xfrm>
          <a:prstGeom prst="rect">
            <a:avLst/>
          </a:prstGeom>
        </p:spPr>
      </p:pic>
      <p:sp>
        <p:nvSpPr>
          <p:cNvPr id="15" name="TextBox 14"/>
          <p:cNvSpPr txBox="1"/>
          <p:nvPr/>
        </p:nvSpPr>
        <p:spPr>
          <a:xfrm>
            <a:off x="4502810"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추천 조치</a:t>
            </a:r>
          </a:p>
          <a:p>
            <a:pPr algn="l">
              <a:lnSpc>
                <a:spcPct val="110000"/>
              </a:lnSpc>
              <a:spcAft>
                <a:spcPts val="400"/>
              </a:spcAft>
            </a:pPr>
            <a:r>
              <a:rPr sz="1400" b="0">
                <a:solidFill>
                  <a:srgbClr val="1F2A3A"/>
                </a:solidFill>
                <a:latin typeface="맑은 고딕"/>
                <a:ea typeface="맑은 고딕"/>
                <a:cs typeface="맑은 고딕"/>
              </a:rPr>
              <a:t>팬 최대 운전</a:t>
            </a:r>
          </a:p>
        </p:txBody>
      </p:sp>
      <p:sp>
        <p:nvSpPr>
          <p:cNvPr id="16" name="Rounded Rectangle 15"/>
          <p:cNvSpPr/>
          <p:nvPr/>
        </p:nvSpPr>
        <p:spPr>
          <a:xfrm>
            <a:off x="4566818" y="4824476"/>
            <a:ext cx="90220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824476"/>
            <a:ext cx="9022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HM-8.5</a:t>
            </a:r>
          </a:p>
        </p:txBody>
      </p:sp>
      <p:sp>
        <p:nvSpPr>
          <p:cNvPr id="18" name="Rounded Rectangle 17"/>
          <p:cNvSpPr/>
          <p:nvPr/>
        </p:nvSpPr>
        <p:spPr>
          <a:xfrm>
            <a:off x="8127796" y="2728468"/>
            <a:ext cx="3515258"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929636"/>
            <a:ext cx="731520" cy="731520"/>
          </a:xfrm>
          <a:prstGeom prst="ellipse">
            <a:avLst/>
          </a:prstGeom>
          <a:solidFill>
            <a:srgbClr val="5CB8F2"/>
          </a:solidFill>
          <a:ln>
            <a:noFill/>
          </a:ln>
        </p:spPr>
        <p:txBody>
          <a:bodyPr rtlCol="0" anchor="ctr"/>
          <a:lstStyle/>
          <a:p>
            <a:pPr algn="ctr"/>
          </a:p>
        </p:txBody>
      </p:sp>
      <p:pic>
        <p:nvPicPr>
          <p:cNvPr id="20" name="아이콘:book-2" descr="book-2_13294B_1.6.png"/>
          <p:cNvPicPr>
            <a:picLocks noChangeAspect="1"/>
          </p:cNvPicPr>
          <p:nvPr/>
        </p:nvPicPr>
        <p:blipFill>
          <a:blip r:embed="rId5"/>
          <a:stretch>
            <a:fillRect/>
          </a:stretch>
        </p:blipFill>
        <p:spPr>
          <a:xfrm>
            <a:off x="8510016" y="3083255"/>
            <a:ext cx="424281" cy="424281"/>
          </a:xfrm>
          <a:prstGeom prst="rect">
            <a:avLst/>
          </a:prstGeom>
        </p:spPr>
      </p:pic>
      <p:sp>
        <p:nvSpPr>
          <p:cNvPr id="21" name="TextBox 20"/>
          <p:cNvSpPr txBox="1"/>
          <p:nvPr/>
        </p:nvSpPr>
        <p:spPr>
          <a:xfrm>
            <a:off x="8292388"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출처</a:t>
            </a:r>
          </a:p>
          <a:p>
            <a:pPr algn="l">
              <a:lnSpc>
                <a:spcPct val="110000"/>
              </a:lnSpc>
              <a:spcAft>
                <a:spcPts val="400"/>
              </a:spcAft>
            </a:pPr>
            <a:r>
              <a:rPr sz="1400" b="0">
                <a:solidFill>
                  <a:srgbClr val="1F2A3A"/>
                </a:solidFill>
                <a:latin typeface="맑은 고딕"/>
                <a:ea typeface="맑은 고딕"/>
                <a:cs typeface="맑은 고딕"/>
              </a:rPr>
              <a:t>HM-8.5 즉시 완화 조치</a:t>
            </a:r>
          </a:p>
        </p:txBody>
      </p:sp>
      <p:sp>
        <p:nvSpPr>
          <p:cNvPr id="22" name="Rounded Rectangle 21"/>
          <p:cNvSpPr/>
          <p:nvPr/>
        </p:nvSpPr>
        <p:spPr>
          <a:xfrm>
            <a:off x="8356396" y="4824476"/>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82447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매뉴얼의 절</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문서에 적힌 지식과 지식 그래프에 등록된 지식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내용이라도 문서의 문장은 사람이 읽어야 쓸 수 있고, 등록된 지식은 컴퓨터가 관계를 따라갈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매뉴얼 HM-8.4의 문장</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「쿨러 핀 오염이 가장 흔하다. 최근 30초 냉각 효율 평균이 70 % 미만이고 팬은 정상이면 핀 오염으로 판정한다.」</a:t>
            </a:r>
          </a:p>
          <a:p>
            <a:pPr algn="l">
              <a:lnSpc>
                <a:spcPct val="110000"/>
              </a:lnSpc>
              <a:spcAft>
                <a:spcPts val="600"/>
              </a:spcAft>
            </a:pPr>
            <a:r>
              <a:rPr sz="1450" b="0">
                <a:solidFill>
                  <a:srgbClr val="1F2A3A"/>
                </a:solidFill>
                <a:latin typeface="맑은 고딕"/>
                <a:ea typeface="맑은 고딕"/>
                <a:cs typeface="맑은 고딕"/>
              </a:rPr>
              <a:t>• 원인, 기준값, 확인할 값이 한 문단에 섞여 있다</a:t>
            </a:r>
          </a:p>
        </p:txBody>
      </p:sp>
      <p:sp>
        <p:nvSpPr>
          <p:cNvPr id="11" name="Rounded Rectangle 10"/>
          <p:cNvSpPr/>
          <p:nvPr/>
        </p:nvSpPr>
        <p:spPr>
          <a:xfrm>
            <a:off x="868680" y="5096002"/>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문장</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topology-star-3" descr="topology-star-3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 그래프에 등록된 모습</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원인 「쿨러 핀 오염」이 고장 유형에 CAUSES로 이어진다</a:t>
            </a:r>
          </a:p>
          <a:p>
            <a:pPr algn="l">
              <a:lnSpc>
                <a:spcPct val="110000"/>
              </a:lnSpc>
              <a:spcAft>
                <a:spcPts val="600"/>
              </a:spcAft>
            </a:pPr>
            <a:r>
              <a:rPr sz="1450" b="0">
                <a:solidFill>
                  <a:srgbClr val="1F2A3A"/>
                </a:solidFill>
                <a:latin typeface="맑은 고딕"/>
                <a:ea typeface="맑은 고딕"/>
                <a:cs typeface="맑은 고딕"/>
              </a:rPr>
              <a:t>• 증거에 CE, 최근 30초 평균, 70 % 미만이 속성으로 들어 있다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노드와 관계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문서를 지식으로 옮기는 일을 과정으로 정해 두는 이유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사람이 손으로 옮기면 느리고 빠뜨리며, 문서가 개정될 때마다 같은 일을 다시 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clock" descr="clock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느리다</a:t>
            </a:r>
          </a:p>
          <a:p>
            <a:pPr algn="l">
              <a:lnSpc>
                <a:spcPct val="110000"/>
              </a:lnSpc>
              <a:spcAft>
                <a:spcPts val="400"/>
              </a:spcAft>
            </a:pPr>
            <a:r>
              <a:rPr sz="1400" b="0">
                <a:solidFill>
                  <a:srgbClr val="1F2A3A"/>
                </a:solidFill>
                <a:latin typeface="맑은 고딕"/>
                <a:ea typeface="맑은 고딕"/>
                <a:cs typeface="맑은 고딕"/>
              </a:rPr>
              <a:t>매뉴얼 한 편에 절이 여덟, 절차가 일곱이다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시간</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ban" descr="ban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빠뜨린다</a:t>
            </a:r>
          </a:p>
          <a:p>
            <a:pPr algn="l">
              <a:lnSpc>
                <a:spcPct val="110000"/>
              </a:lnSpc>
              <a:spcAft>
                <a:spcPts val="400"/>
              </a:spcAft>
            </a:pPr>
            <a:r>
              <a:rPr sz="1400" b="0">
                <a:solidFill>
                  <a:srgbClr val="1F2A3A"/>
                </a:solidFill>
                <a:latin typeface="맑은 고딕"/>
                <a:ea typeface="맑은 고딕"/>
                <a:cs typeface="맑은 고딕"/>
              </a:rPr>
              <a:t>금지 조건 한 줄이 빠져도 알아차리기 어렵다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누락</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되풀이된다</a:t>
            </a:r>
          </a:p>
          <a:p>
            <a:pPr algn="l">
              <a:lnSpc>
                <a:spcPct val="110000"/>
              </a:lnSpc>
              <a:spcAft>
                <a:spcPts val="400"/>
              </a:spcAft>
            </a:pPr>
            <a:r>
              <a:rPr sz="1400" b="0">
                <a:solidFill>
                  <a:srgbClr val="1F2A3A"/>
                </a:solidFill>
                <a:latin typeface="맑은 고딕"/>
                <a:ea typeface="맑은 고딕"/>
                <a:cs typeface="맑은 고딕"/>
              </a:rPr>
              <a:t>문서가 개정되면 같은 방법으로 다시 옮겨야 한다</a:t>
            </a:r>
          </a:p>
        </p:txBody>
      </p:sp>
      <p:sp>
        <p:nvSpPr>
          <p:cNvPr id="22" name="Rounded Rectangle 21"/>
          <p:cNvSpPr/>
          <p:nvPr/>
        </p:nvSpPr>
        <p:spPr>
          <a:xfrm>
            <a:off x="8356396" y="493293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개정</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인제스천: 원천 자료를 지식으로 들여오는 과정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문서와 데이터베이스 같은 원천 자료를 온톨로지에 맞는 지식으로 바꾸어 등록하는 과정을 인제스천이라고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인제스천</a:t>
            </a:r>
          </a:p>
          <a:p>
            <a:pPr algn="l">
              <a:lnSpc>
                <a:spcPct val="110000"/>
              </a:lnSpc>
              <a:spcAft>
                <a:spcPts val="200"/>
              </a:spcAft>
            </a:pPr>
            <a:r>
              <a:rPr sz="1150" b="0">
                <a:solidFill>
                  <a:srgbClr val="556175"/>
                </a:solidFill>
                <a:latin typeface="맑은 고딕"/>
                <a:ea typeface="맑은 고딕"/>
                <a:cs typeface="맑은 고딕"/>
              </a:rPr>
              <a:t>Ingestion</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바깥의 자료를 받아들여 시스템이 쓸 수 있는 형태로 바꾸어 넣는 과정이다.</a:t>
            </a:r>
          </a:p>
          <a:p>
            <a:pPr algn="l">
              <a:lnSpc>
                <a:spcPct val="110000"/>
              </a:lnSpc>
              <a:spcAft>
                <a:spcPts val="300"/>
              </a:spcAft>
            </a:pPr>
            <a:r>
              <a:rPr sz="1400" b="0">
                <a:solidFill>
                  <a:srgbClr val="1F2A3A"/>
                </a:solidFill>
                <a:latin typeface="맑은 고딕"/>
                <a:ea typeface="맑은 고딕"/>
                <a:cs typeface="맑은 고딕"/>
              </a:rPr>
              <a:t>여기서는 문서의 내용을 노드와 관계로 옮겨 지식 그래프에 등록하는 일이다.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원천 자료</a:t>
            </a:r>
          </a:p>
          <a:p>
            <a:pPr algn="l">
              <a:lnSpc>
                <a:spcPct val="110000"/>
              </a:lnSpc>
              <a:spcAft>
                <a:spcPts val="200"/>
              </a:spcAft>
            </a:pPr>
            <a:r>
              <a:rPr sz="1150" b="0">
                <a:solidFill>
                  <a:srgbClr val="556175"/>
                </a:solidFill>
                <a:latin typeface="맑은 고딕"/>
                <a:ea typeface="맑은 고딕"/>
                <a:cs typeface="맑은 고딕"/>
              </a:rPr>
              <a:t>Source</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지식의 출발점이 되는 자료이다. 매뉴얼, 작업 절차서, 업무 데이터베이스가 있다.</a:t>
            </a:r>
          </a:p>
          <a:p>
            <a:pPr algn="l">
              <a:lnSpc>
                <a:spcPct val="110000"/>
              </a:lnSpc>
              <a:spcAft>
                <a:spcPts val="300"/>
              </a:spcAft>
            </a:pPr>
            <a:r>
              <a:rPr sz="1400" b="0">
                <a:solidFill>
                  <a:srgbClr val="1F2A3A"/>
                </a:solidFill>
                <a:latin typeface="맑은 고딕"/>
                <a:ea typeface="맑은 고딕"/>
                <a:cs typeface="맑은 고딕"/>
              </a:rPr>
              <a:t>예: 쿨러 팬 정비 매뉴얼 HM-8, 정기 점검표 PM-02, 예비품 기준 PR-07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문서가 지식이 되는 일곱 단계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원천 자료는 보관, 분석, 추출, 매핑, 대조와 검토, 적재를 차례로 거친 뒤에야 조회할 수 있는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pic>
        <p:nvPicPr>
          <p:cNvPr id="6" name="삽화:인제스천_전체.svg" descr="illust_2399072258279372877_179171549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 원천 확보와 보관</a:t>
            </a:r>
          </a:p>
        </p:txBody>
      </p:sp>
      <p:sp>
        <p:nvSpPr>
          <p:cNvPr id="8" name="TextBox 7"/>
          <p:cNvSpPr txBox="1"/>
          <p:nvPr/>
        </p:nvSpPr>
        <p:spPr>
          <a:xfrm>
            <a:off x="3553935"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 문서 내용 분석</a:t>
            </a:r>
          </a:p>
        </p:txBody>
      </p:sp>
      <p:sp>
        <p:nvSpPr>
          <p:cNvPr id="9" name="TextBox 8"/>
          <p:cNvSpPr txBox="1"/>
          <p:nvPr/>
        </p:nvSpPr>
        <p:spPr>
          <a:xfrm>
            <a:off x="6237671" y="2927680"/>
            <a:ext cx="240008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3. 지식 후보 추출</a:t>
            </a:r>
          </a:p>
        </p:txBody>
      </p:sp>
      <p:sp>
        <p:nvSpPr>
          <p:cNvPr id="10" name="TextBox 9"/>
          <p:cNvSpPr txBox="1"/>
          <p:nvPr/>
        </p:nvSpPr>
        <p:spPr>
          <a:xfrm>
            <a:off x="8932316" y="2927680"/>
            <a:ext cx="2400088" cy="62382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4. 스키마 · 식별자 매핑</a:t>
            </a:r>
          </a:p>
        </p:txBody>
      </p:sp>
      <p:sp>
        <p:nvSpPr>
          <p:cNvPr id="11" name="TextBox 10"/>
          <p:cNvSpPr txBox="1"/>
          <p:nvPr/>
        </p:nvSpPr>
        <p:spPr>
          <a:xfrm>
            <a:off x="6608593" y="1674906"/>
            <a:ext cx="436379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언어 모델이 문서를 읽고 후보를 만드는 단계</a:t>
            </a:r>
          </a:p>
        </p:txBody>
      </p:sp>
      <p:sp>
        <p:nvSpPr>
          <p:cNvPr id="12" name="TextBox 11"/>
          <p:cNvSpPr txBox="1"/>
          <p:nvPr/>
        </p:nvSpPr>
        <p:spPr>
          <a:xfrm>
            <a:off x="859290"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 대조와 사람 검토</a:t>
            </a:r>
          </a:p>
        </p:txBody>
      </p:sp>
      <p:sp>
        <p:nvSpPr>
          <p:cNvPr id="13" name="TextBox 12"/>
          <p:cNvSpPr txBox="1"/>
          <p:nvPr/>
        </p:nvSpPr>
        <p:spPr>
          <a:xfrm>
            <a:off x="3553935"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 승인된 지식 적재</a:t>
            </a:r>
          </a:p>
        </p:txBody>
      </p:sp>
      <p:sp>
        <p:nvSpPr>
          <p:cNvPr id="14" name="TextBox 13"/>
          <p:cNvSpPr txBox="1"/>
          <p:nvPr/>
        </p:nvSpPr>
        <p:spPr>
          <a:xfrm>
            <a:off x="6237671"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7. 관계 · 출처 조회</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1단계 원천 확보와 보관: 원문 고정과 문서 식별자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원문을 고쳐지지 않게 보관하고 문서마다 식별자를 발급해야 뒤의 대조와 검토가 같은 원문과 같은 문서를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원문 보관</a:t>
            </a:r>
          </a:p>
          <a:p>
            <a:pPr algn="l">
              <a:lnSpc>
                <a:spcPct val="110000"/>
              </a:lnSpc>
              <a:spcAft>
                <a:spcPts val="400"/>
              </a:spcAft>
            </a:pPr>
            <a:r>
              <a:rPr sz="1400" b="0">
                <a:solidFill>
                  <a:srgbClr val="1F2A3A"/>
                </a:solidFill>
                <a:latin typeface="맑은 고딕"/>
                <a:ea typeface="맑은 고딕"/>
                <a:cs typeface="맑은 고딕"/>
              </a:rPr>
              <a:t>• 받은 문서를 고치지 못하게 그대로 보관한다</a:t>
            </a:r>
          </a:p>
          <a:p>
            <a:pPr algn="l">
              <a:lnSpc>
                <a:spcPct val="110000"/>
              </a:lnSpc>
              <a:spcAft>
                <a:spcPts val="400"/>
              </a:spcAft>
            </a:pPr>
            <a:r>
              <a:rPr sz="1400" b="0">
                <a:solidFill>
                  <a:srgbClr val="1F2A3A"/>
                </a:solidFill>
                <a:latin typeface="맑은 고딕"/>
                <a:ea typeface="맑은 고딕"/>
                <a:cs typeface="맑은 고딕"/>
              </a:rPr>
              <a:t>• 뒤의 대조와 검토가 모두 이 원문을 기준으로 한다</a:t>
            </a:r>
          </a:p>
        </p:txBody>
      </p:sp>
      <p:sp>
        <p:nvSpPr>
          <p:cNvPr id="10" name="Rounded Rectangle 9"/>
          <p:cNvSpPr/>
          <p:nvPr/>
        </p:nvSpPr>
        <p:spPr>
          <a:xfrm>
            <a:off x="777240" y="514985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고정된 원문</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file-text" descr="file-tex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파일 이름</a:t>
            </a:r>
          </a:p>
          <a:p>
            <a:pPr algn="l">
              <a:lnSpc>
                <a:spcPct val="110000"/>
              </a:lnSpc>
              <a:spcAft>
                <a:spcPts val="400"/>
              </a:spcAft>
            </a:pPr>
            <a:r>
              <a:rPr sz="1400" b="0">
                <a:solidFill>
                  <a:srgbClr val="1F2A3A"/>
                </a:solidFill>
                <a:latin typeface="맑은 고딕"/>
                <a:ea typeface="맑은 고딕"/>
                <a:cs typeface="맑은 고딕"/>
              </a:rPr>
              <a:t>• 누구나 바꿀 수 있다</a:t>
            </a:r>
          </a:p>
          <a:p>
            <a:pPr algn="l">
              <a:lnSpc>
                <a:spcPct val="110000"/>
              </a:lnSpc>
              <a:spcAft>
                <a:spcPts val="400"/>
              </a:spcAft>
            </a:pPr>
            <a:r>
              <a:rPr sz="1400" b="0">
                <a:solidFill>
                  <a:srgbClr val="1F2A3A"/>
                </a:solidFill>
                <a:latin typeface="맑은 고딕"/>
                <a:ea typeface="맑은 고딕"/>
                <a:cs typeface="맑은 고딕"/>
              </a:rPr>
              <a:t>• 서로 다른 문서가 같은 이름을 가질 수 있다</a:t>
            </a:r>
          </a:p>
        </p:txBody>
      </p:sp>
      <p:sp>
        <p:nvSpPr>
          <p:cNvPr id="16" name="Rounded Rectangle 15"/>
          <p:cNvSpPr/>
          <p:nvPr/>
        </p:nvSpPr>
        <p:spPr>
          <a:xfrm>
            <a:off x="4566818" y="5149850"/>
            <a:ext cx="132587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바뀌고 겹친다</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id" descr="id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문서 식별자</a:t>
            </a:r>
          </a:p>
          <a:p>
            <a:pPr algn="l">
              <a:lnSpc>
                <a:spcPct val="110000"/>
              </a:lnSpc>
              <a:spcAft>
                <a:spcPts val="400"/>
              </a:spcAft>
            </a:pPr>
            <a:r>
              <a:rPr sz="1400" b="0">
                <a:solidFill>
                  <a:srgbClr val="1F2A3A"/>
                </a:solidFill>
                <a:latin typeface="맑은 고딕"/>
                <a:ea typeface="맑은 고딕"/>
                <a:cs typeface="맑은 고딕"/>
              </a:rPr>
              <a:t>• 보관할 때 문서마다 새로 발급한다</a:t>
            </a:r>
          </a:p>
          <a:p>
            <a:pPr algn="l">
              <a:lnSpc>
                <a:spcPct val="110000"/>
              </a:lnSpc>
              <a:spcAft>
                <a:spcPts val="400"/>
              </a:spcAft>
            </a:pPr>
            <a:r>
              <a:rPr sz="1400" b="0">
                <a:solidFill>
                  <a:srgbClr val="1F2A3A"/>
                </a:solidFill>
                <a:latin typeface="맑은 고딕"/>
                <a:ea typeface="맑은 고딕"/>
                <a:cs typeface="맑은 고딕"/>
              </a:rPr>
              <a:t>• 개정판을 올려도 같은 문서는 같은 식별자를 쓴다</a:t>
            </a:r>
          </a:p>
        </p:txBody>
      </p:sp>
      <p:sp>
        <p:nvSpPr>
          <p:cNvPr id="22" name="Rounded Rectangle 21"/>
          <p:cNvSpPr/>
          <p:nvPr/>
        </p:nvSpPr>
        <p:spPr>
          <a:xfrm>
            <a:off x="8356396" y="5149850"/>
            <a:ext cx="14782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하나만 가리킨다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2단계 문서 내용 분석: 절, 절차, 단계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절과 절차의 제목과 번호 단계를 가려 두어야 추출한 지식이 원문의 어느 자리에서 나왔는지를 말할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p>
          <a:p>
            <a:pPr algn="l">
              <a:lnSpc>
                <a:spcPct val="110000"/>
              </a:lnSpc>
              <a:spcAft>
                <a:spcPts val="200"/>
              </a:spcAft>
            </a:pP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r>
              <a:rPr sz="1300" b="0">
                <a:solidFill>
                  <a:srgbClr val="E8EEF6"/>
                </a:solidFill>
                <a:latin typeface="Consolas"/>
                <a:ea typeface="맑은 고딕"/>
                <a:cs typeface="맑은 고딕"/>
              </a:rPr>
              <a:t>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100 %</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100 %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운전은</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절</a:t>
            </a:r>
          </a:p>
          <a:p>
            <a:pPr algn="l">
              <a:lnSpc>
                <a:spcPct val="110000"/>
              </a:lnSpc>
              <a:spcAft>
                <a:spcPts val="400"/>
              </a:spcAft>
            </a:pPr>
            <a:r>
              <a:rPr sz="1400" b="0">
                <a:solidFill>
                  <a:srgbClr val="1F2A3A"/>
                </a:solidFill>
                <a:latin typeface="맑은 고딕"/>
                <a:ea typeface="맑은 고딕"/>
                <a:cs typeface="맑은 고딕"/>
              </a:rPr>
              <a:t>HM-8.5 즉시 완화 조치. 절 번호가 뒤에 출처로 쓰인다.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절차</a:t>
            </a:r>
          </a:p>
          <a:p>
            <a:pPr algn="l">
              <a:lnSpc>
                <a:spcPct val="110000"/>
              </a:lnSpc>
              <a:spcAft>
                <a:spcPts val="400"/>
              </a:spcAft>
            </a:pPr>
            <a:r>
              <a:rPr sz="1400" b="0">
                <a:solidFill>
                  <a:srgbClr val="1F2A3A"/>
                </a:solidFill>
                <a:latin typeface="맑은 고딕"/>
                <a:ea typeface="맑은 고딕"/>
                <a:cs typeface="맑은 고딕"/>
              </a:rPr>
              <a:t>SOP-COOL-11 팬 최대 운전. 조치 방법 하나가 된다.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단계</a:t>
            </a:r>
          </a:p>
          <a:p>
            <a:pPr algn="l">
              <a:lnSpc>
                <a:spcPct val="110000"/>
              </a:lnSpc>
              <a:spcAft>
                <a:spcPts val="400"/>
              </a:spcAft>
            </a:pPr>
            <a:r>
              <a:rPr sz="1400" b="0">
                <a:solidFill>
                  <a:srgbClr val="1F2A3A"/>
                </a:solidFill>
                <a:latin typeface="맑은 고딕"/>
                <a:ea typeface="맑은 고딕"/>
                <a:cs typeface="맑은 고딕"/>
              </a:rPr>
              <a:t>번호가 붙은 세 줄. 순서가 있는 단계가 된다.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3단계 지식 후보 추출과 LLM</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정리되지 않은 문장에서 원인과 조건을 가리려면 뜻을 읽어야 하므로 지식 후보의 추출은 LLM이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지식 후보</a:t>
            </a:r>
          </a:p>
          <a:p>
            <a:pPr algn="l">
              <a:lnSpc>
                <a:spcPct val="110000"/>
              </a:lnSpc>
              <a:spcAft>
                <a:spcPts val="200"/>
              </a:spcAft>
            </a:pPr>
            <a:r>
              <a:rPr sz="1150" b="0">
                <a:solidFill>
                  <a:srgbClr val="556175"/>
                </a:solidFill>
                <a:latin typeface="맑은 고딕"/>
                <a:ea typeface="맑은 고딕"/>
                <a:cs typeface="맑은 고딕"/>
              </a:rPr>
              <a:t>3단계의 결과</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구조를 가려 둔 원문을 모델이 읽고 원인, 조치, 조건을 정해진 형식으로 뽑은 제안이다.</a:t>
            </a:r>
          </a:p>
          <a:p>
            <a:pPr algn="l">
              <a:lnSpc>
                <a:spcPct val="110000"/>
              </a:lnSpc>
              <a:spcAft>
                <a:spcPts val="300"/>
              </a:spcAft>
            </a:pPr>
            <a:r>
              <a:rPr sz="1400" b="0">
                <a:solidFill>
                  <a:srgbClr val="1F2A3A"/>
                </a:solidFill>
                <a:latin typeface="맑은 고딕"/>
                <a:ea typeface="맑은 고딕"/>
                <a:cs typeface="맑은 고딕"/>
              </a:rPr>
              <a:t>검토와 승인을 거치기 전이므로 아직 지식이 아니다.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LLM</a:t>
            </a:r>
          </a:p>
          <a:p>
            <a:pPr algn="l">
              <a:lnSpc>
                <a:spcPct val="110000"/>
              </a:lnSpc>
              <a:spcAft>
                <a:spcPts val="200"/>
              </a:spcAft>
            </a:pPr>
            <a:r>
              <a:rPr sz="1150" b="0">
                <a:solidFill>
                  <a:srgbClr val="556175"/>
                </a:solidFill>
                <a:latin typeface="맑은 고딕"/>
                <a:ea typeface="맑은 고딕"/>
                <a:cs typeface="맑은 고딕"/>
              </a:rPr>
              <a:t>Large Language Model</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방대한 글을 학습해 문장을 이해하고 만들어 내는 언어 모델이다.</a:t>
            </a:r>
          </a:p>
          <a:p>
            <a:pPr algn="l">
              <a:lnSpc>
                <a:spcPct val="110000"/>
              </a:lnSpc>
              <a:spcAft>
                <a:spcPts val="300"/>
              </a:spcAft>
            </a:pPr>
            <a:r>
              <a:rPr sz="1400" b="0">
                <a:solidFill>
                  <a:srgbClr val="1F2A3A"/>
                </a:solidFill>
                <a:latin typeface="맑은 고딕"/>
                <a:ea typeface="맑은 고딕"/>
                <a:cs typeface="맑은 고딕"/>
              </a:rPr>
              <a:t>예: 「팬은 정상이면 핀 오염으로 판정한다」에서 조건과 결론을 가려낸다.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문서를 처음 맡은 신입 사원</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처음 보는 문서도 읽고 요지를 항목으로 정리한다.</a:t>
            </a:r>
          </a:p>
          <a:p>
            <a:pPr algn="l">
              <a:lnSpc>
                <a:spcPct val="110000"/>
              </a:lnSpc>
              <a:spcAft>
                <a:spcPts val="300"/>
              </a:spcAft>
            </a:pPr>
            <a:r>
              <a:rPr sz="1400" b="0">
                <a:solidFill>
                  <a:srgbClr val="1F2A3A"/>
                </a:solidFill>
                <a:latin typeface="맑은 고딕"/>
                <a:ea typeface="맑은 고딕"/>
                <a:cs typeface="맑은 고딕"/>
              </a:rPr>
              <a:t>다른 점: 모르는 부분도 그럴듯하게 채워 적을 수 있어 원문과 대조해야 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구조화 출력과 형식 검사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답을 정해진 형식으로 받아야 프로그램이 검사할 수 있지만, 형식이 맞는 것과 내용이 맞는 것은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받는다</a:t>
            </a:r>
          </a:p>
          <a:p>
            <a:pPr algn="l">
              <a:lnSpc>
                <a:spcPct val="110000"/>
              </a:lnSpc>
              <a:spcAft>
                <a:spcPts val="400"/>
              </a:spcAft>
            </a:pPr>
            <a:r>
              <a:rPr sz="1400" b="0">
                <a:solidFill>
                  <a:srgbClr val="1F2A3A"/>
                </a:solidFill>
                <a:latin typeface="맑은 고딕"/>
                <a:ea typeface="맑은 고딕"/>
                <a:cs typeface="맑은 고딕"/>
              </a:rPr>
              <a:t>• 「이 문서에 따르면 원인은 핀 오염으로 보이며…」</a:t>
            </a:r>
          </a:p>
          <a:p>
            <a:pPr algn="l">
              <a:lnSpc>
                <a:spcPct val="110000"/>
              </a:lnSpc>
              <a:spcAft>
                <a:spcPts val="400"/>
              </a:spcAft>
            </a:pPr>
            <a:r>
              <a:rPr sz="1400" b="0">
                <a:solidFill>
                  <a:srgbClr val="1F2A3A"/>
                </a:solidFill>
                <a:latin typeface="맑은 고딕"/>
                <a:ea typeface="맑은 고딕"/>
                <a:cs typeface="맑은 고딕"/>
              </a:rPr>
              <a:t>• 사람이 다시 읽어야 한다</a:t>
            </a:r>
          </a:p>
        </p:txBody>
      </p:sp>
      <p:sp>
        <p:nvSpPr>
          <p:cNvPr id="10" name="Rounded Rectangle 9"/>
          <p:cNvSpPr/>
          <p:nvPr/>
        </p:nvSpPr>
        <p:spPr>
          <a:xfrm>
            <a:off x="777240" y="5366766"/>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사람이 읽는다</a:t>
            </a:r>
          </a:p>
        </p:txBody>
      </p:sp>
      <p:sp>
        <p:nvSpPr>
          <p:cNvPr id="12" name="Rounded Rectangle 11"/>
          <p:cNvSpPr/>
          <p:nvPr/>
        </p:nvSpPr>
        <p:spPr>
          <a:xfrm>
            <a:off x="4338218"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5CB8F2"/>
          </a:solidFill>
          <a:ln>
            <a:noFill/>
          </a:ln>
        </p:spPr>
        <p:txBody>
          <a:bodyPr rtlCol="0" anchor="ctr"/>
          <a:lstStyle/>
          <a:p>
            <a:pPr algn="ctr"/>
          </a:p>
        </p:txBody>
      </p:sp>
      <p:pic>
        <p:nvPicPr>
          <p:cNvPr id="14" name="아이콘:braces" descr="braces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구조화 출력</a:t>
            </a:r>
          </a:p>
          <a:p>
            <a:pPr algn="l">
              <a:lnSpc>
                <a:spcPct val="110000"/>
              </a:lnSpc>
              <a:spcAft>
                <a:spcPts val="400"/>
              </a:spcAft>
            </a:pPr>
            <a:r>
              <a:rPr sz="1400" b="0">
                <a:solidFill>
                  <a:srgbClr val="1F2A3A"/>
                </a:solidFill>
                <a:latin typeface="맑은 고딕"/>
                <a:ea typeface="맑은 고딕"/>
                <a:cs typeface="맑은 고딕"/>
              </a:rPr>
              <a:t>• Structured Output. 이름, 식별자, 근거 절 같은 항목이 정해져 있어 프로그램이 그대로 읽어 다음 단계로 넘긴다</a:t>
            </a:r>
          </a:p>
          <a:p>
            <a:pPr algn="l">
              <a:lnSpc>
                <a:spcPct val="110000"/>
              </a:lnSpc>
              <a:spcAft>
                <a:spcPts val="400"/>
              </a:spcAft>
            </a:pPr>
            <a:r>
              <a:rPr sz="1400" b="0">
                <a:solidFill>
                  <a:srgbClr val="1F2A3A"/>
                </a:solidFill>
                <a:latin typeface="맑은 고딕"/>
                <a:ea typeface="맑은 고딕"/>
                <a:cs typeface="맑은 고딕"/>
              </a:rPr>
              <a:t>• 형식은 JSON(JavaScript Object Notation)이다</a:t>
            </a:r>
          </a:p>
        </p:txBody>
      </p:sp>
      <p:sp>
        <p:nvSpPr>
          <p:cNvPr id="16" name="Rounded Rectangle 15"/>
          <p:cNvSpPr/>
          <p:nvPr/>
        </p:nvSpPr>
        <p:spPr>
          <a:xfrm>
            <a:off x="4566818" y="5366766"/>
            <a:ext cx="16306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366766"/>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프로그램이 읽는다</a:t>
            </a:r>
          </a:p>
        </p:txBody>
      </p:sp>
      <p:sp>
        <p:nvSpPr>
          <p:cNvPr id="18" name="Rounded Rectangle 17"/>
          <p:cNvSpPr/>
          <p:nvPr/>
        </p:nvSpPr>
        <p:spPr>
          <a:xfrm>
            <a:off x="8127796"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E7F3FD"/>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형식 검사</a:t>
            </a:r>
          </a:p>
          <a:p>
            <a:pPr algn="l">
              <a:lnSpc>
                <a:spcPct val="110000"/>
              </a:lnSpc>
              <a:spcAft>
                <a:spcPts val="400"/>
              </a:spcAft>
            </a:pPr>
            <a:r>
              <a:rPr sz="1400" b="0">
                <a:solidFill>
                  <a:srgbClr val="1F2A3A"/>
                </a:solidFill>
                <a:latin typeface="맑은 고딕"/>
                <a:ea typeface="맑은 고딕"/>
                <a:cs typeface="맑은 고딕"/>
              </a:rPr>
              <a:t>• 항목이 빠졌거나 형식이 어긋나면 걸러 내고 모델에게 다시 요청한다</a:t>
            </a:r>
          </a:p>
          <a:p>
            <a:pPr algn="l">
              <a:lnSpc>
                <a:spcPct val="110000"/>
              </a:lnSpc>
              <a:spcAft>
                <a:spcPts val="400"/>
              </a:spcAft>
            </a:pPr>
            <a:r>
              <a:rPr sz="1400" b="0">
                <a:solidFill>
                  <a:srgbClr val="1F2A3A"/>
                </a:solidFill>
                <a:latin typeface="맑은 고딕"/>
                <a:ea typeface="맑은 고딕"/>
                <a:cs typeface="맑은 고딕"/>
              </a:rPr>
              <a:t>• 0.6이 원문의 값과 같은지는 형식 검사로 알 수 없다</a:t>
            </a:r>
          </a:p>
        </p:txBody>
      </p:sp>
      <p:sp>
        <p:nvSpPr>
          <p:cNvPr id="22" name="Rounded Rectangle 21"/>
          <p:cNvSpPr/>
          <p:nvPr/>
        </p:nvSpPr>
        <p:spPr>
          <a:xfrm>
            <a:off x="8356396" y="5366766"/>
            <a:ext cx="132587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6676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내용은 남는다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추출 결과 읽기: 식별자, 값, 연결, 근거 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문장 하나에 섞여 있던 이름, 값, 연결, 근거가 항목으로 나뉘어야 그대로 노드와 속성과 관계가 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문장</a:t>
            </a: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사전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확률</a:t>
            </a:r>
            <a:r>
              <a:rPr sz="1300" b="0">
                <a:solidFill>
                  <a:srgbClr val="E8EEF6"/>
                </a:solidFill>
                <a:latin typeface="Consolas"/>
                <a:ea typeface="맑은 고딕"/>
                <a:cs typeface="맑은 고딕"/>
              </a:rPr>
              <a:t> 0.6). </a:t>
            </a:r>
            <a:r>
              <a:rPr sz="1300" b="0">
                <a:solidFill>
                  <a:srgbClr val="E8EEF6"/>
                </a:solidFill>
                <a:latin typeface="맑은 고딕"/>
                <a:ea typeface="맑은 고딕"/>
                <a:cs typeface="맑은 고딕"/>
              </a:rPr>
              <a:t>관련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부품은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코어다</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구조화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"id": "cause:cooler-fin-fouling",</a:t>
            </a:r>
          </a:p>
          <a:p>
            <a:pPr algn="l">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"aliases":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"prior": 0.6,</a:t>
            </a:r>
          </a:p>
          <a:p>
            <a:pPr algn="l">
              <a:lnSpc>
                <a:spcPct val="110000"/>
              </a:lnSpc>
              <a:spcAft>
                <a:spcPts val="200"/>
              </a:spcAft>
            </a:pPr>
            <a:r>
              <a:rPr sz="1300" b="0">
                <a:solidFill>
                  <a:srgbClr val="E8EEF6"/>
                </a:solidFill>
                <a:latin typeface="Consolas"/>
                <a:ea typeface="맑은 고딕"/>
                <a:cs typeface="맑은 고딕"/>
              </a:rPr>
              <a:t>  "failure_mode": "fm:cooler-performance-loss",</a:t>
            </a:r>
          </a:p>
          <a:p>
            <a:pPr algn="l">
              <a:lnSpc>
                <a:spcPct val="110000"/>
              </a:lnSpc>
              <a:spcAft>
                <a:spcPts val="200"/>
              </a:spcAft>
            </a:pPr>
            <a:r>
              <a:rPr sz="1300" b="0">
                <a:solidFill>
                  <a:srgbClr val="E8EEF6"/>
                </a:solidFill>
                <a:latin typeface="Consolas"/>
                <a:ea typeface="맑은 고딕"/>
                <a:cs typeface="맑은 고딕"/>
              </a:rPr>
              <a:t>  "parts": ["part:cooler-core"],</a:t>
            </a:r>
          </a:p>
          <a:p>
            <a:pPr algn="l">
              <a:lnSpc>
                <a:spcPct val="110000"/>
              </a:lnSpc>
              <a:spcAft>
                <a:spcPts val="200"/>
              </a:spcAft>
            </a:pPr>
            <a:r>
              <a:rPr sz="1300" b="0">
                <a:solidFill>
                  <a:srgbClr val="E8EEF6"/>
                </a:solidFill>
                <a:latin typeface="Consolas"/>
                <a:ea typeface="맑은 고딕"/>
                <a:cs typeface="맑은 고딕"/>
              </a:rPr>
              <a:t>  "section": "HM-8.4"</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JSON</a:t>
            </a:r>
          </a:p>
          <a:p>
            <a:pPr algn="l">
              <a:lnSpc>
                <a:spcPct val="110000"/>
              </a:lnSpc>
              <a:spcAft>
                <a:spcPts val="400"/>
              </a:spcAft>
            </a:pPr>
            <a:r>
              <a:rPr sz="1400" b="0">
                <a:solidFill>
                  <a:srgbClr val="1F2A3A"/>
                </a:solidFill>
                <a:latin typeface="맑은 고딕"/>
                <a:ea typeface="맑은 고딕"/>
                <a:cs typeface="맑은 고딕"/>
              </a:rPr>
              <a:t>이름과 값의 쌍으로 데이터를 적는 형식이다. 중괄호 안이 원인 한 건이다.</a:t>
            </a:r>
          </a:p>
        </p:txBody>
      </p:sp>
      <p:sp>
        <p:nvSpPr>
          <p:cNvPr id="9" name="TextBox 8"/>
          <p:cNvSpPr txBox="1"/>
          <p:nvPr/>
        </p:nvSpPr>
        <p:spPr>
          <a:xfrm>
            <a:off x="7635240" y="288264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id · name · aliases</a:t>
            </a:r>
          </a:p>
          <a:p>
            <a:pPr algn="l">
              <a:lnSpc>
                <a:spcPct val="110000"/>
              </a:lnSpc>
              <a:spcAft>
                <a:spcPts val="400"/>
              </a:spcAft>
            </a:pPr>
            <a:r>
              <a:rPr sz="1400" b="0">
                <a:solidFill>
                  <a:srgbClr val="1F2A3A"/>
                </a:solidFill>
                <a:latin typeface="맑은 고딕"/>
                <a:ea typeface="맑은 고딕"/>
                <a:cs typeface="맑은 고딕"/>
              </a:rPr>
              <a:t>식별자, 사람이 읽는 이름, 별칭이다. 접두사 cause가 클래스를 드러낸다.</a:t>
            </a:r>
          </a:p>
        </p:txBody>
      </p:sp>
      <p:sp>
        <p:nvSpPr>
          <p:cNvPr id="10" name="TextBox 9"/>
          <p:cNvSpPr txBox="1"/>
          <p:nvPr/>
        </p:nvSpPr>
        <p:spPr>
          <a:xfrm>
            <a:off x="7635240" y="399135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prior · section</a:t>
            </a:r>
          </a:p>
          <a:p>
            <a:pPr algn="l">
              <a:lnSpc>
                <a:spcPct val="110000"/>
              </a:lnSpc>
              <a:spcAft>
                <a:spcPts val="400"/>
              </a:spcAft>
            </a:pPr>
            <a:r>
              <a:rPr sz="1400" b="0">
                <a:solidFill>
                  <a:srgbClr val="1F2A3A"/>
                </a:solidFill>
                <a:latin typeface="맑은 고딕"/>
                <a:ea typeface="맑은 고딕"/>
                <a:cs typeface="맑은 고딕"/>
              </a:rPr>
              <a:t>문장의 「사전 확률 0.6」이 값으로 옮겨졌고, 이 내용이 나온 절의 번호가 붙었다.</a:t>
            </a:r>
          </a:p>
        </p:txBody>
      </p:sp>
      <p:sp>
        <p:nvSpPr>
          <p:cNvPr id="11" name="TextBox 10"/>
          <p:cNvSpPr txBox="1"/>
          <p:nvPr/>
        </p:nvSpPr>
        <p:spPr>
          <a:xfrm>
            <a:off x="7635240" y="510006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failure_mode · parts</a:t>
            </a:r>
          </a:p>
          <a:p>
            <a:pPr algn="l">
              <a:lnSpc>
                <a:spcPct val="110000"/>
              </a:lnSpc>
              <a:spcAft>
                <a:spcPts val="400"/>
              </a:spcAft>
            </a:pPr>
            <a:r>
              <a:rPr sz="1400" b="0">
                <a:solidFill>
                  <a:srgbClr val="1F2A3A"/>
                </a:solidFill>
                <a:latin typeface="맑은 고딕"/>
                <a:ea typeface="맑은 고딕"/>
                <a:cs typeface="맑은 고딕"/>
              </a:rPr>
              <a:t>이 원인이 이어질 고장 유형과 부품을 식별자로 가리킨다.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4단계 스키마 · 식별자 매핑: 새 지식과 등록된 대상</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후보는 스키마의 클래스에 맞추고 등록된 대상은 식별자로 가리켜야 새 지식이 기존 그래프에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문서가 새로 알려 주는 지식</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매뉴얼의 절, 조치 방법과 단계</a:t>
            </a:r>
          </a:p>
          <a:p>
            <a:pPr algn="l">
              <a:lnSpc>
                <a:spcPct val="110000"/>
              </a:lnSpc>
              <a:spcAft>
                <a:spcPts val="600"/>
              </a:spcAft>
            </a:pPr>
            <a:r>
              <a:rPr sz="1450" b="0">
                <a:solidFill>
                  <a:srgbClr val="1F2A3A"/>
                </a:solidFill>
                <a:latin typeface="맑은 고딕"/>
                <a:ea typeface="맑은 고딕"/>
                <a:cs typeface="맑은 고딕"/>
              </a:rPr>
              <a:t>• 고장 유형, 원인, 증거</a:t>
            </a:r>
          </a:p>
          <a:p>
            <a:pPr algn="l">
              <a:lnSpc>
                <a:spcPct val="110000"/>
              </a:lnSpc>
              <a:spcAft>
                <a:spcPts val="600"/>
              </a:spcAft>
            </a:pPr>
            <a:r>
              <a:rPr sz="1450" b="0">
                <a:solidFill>
                  <a:srgbClr val="1F2A3A"/>
                </a:solidFill>
                <a:latin typeface="맑은 고딕"/>
                <a:ea typeface="맑은 고딕"/>
                <a:cs typeface="맑은 고딕"/>
              </a:rPr>
              <a:t>• 판단 규칙</a:t>
            </a:r>
          </a:p>
        </p:txBody>
      </p:sp>
      <p:sp>
        <p:nvSpPr>
          <p:cNvPr id="11" name="Rounded Rectangle 10"/>
          <p:cNvSpPr/>
          <p:nvPr/>
        </p:nvSpPr>
        <p:spPr>
          <a:xfrm>
            <a:off x="868680" y="4945570"/>
            <a:ext cx="8686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 후보</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link" descr="lin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이미 등록된 대상</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구성 요소, 부품, 공급사, 증상</a:t>
            </a:r>
          </a:p>
          <a:p>
            <a:pPr algn="l">
              <a:lnSpc>
                <a:spcPct val="110000"/>
              </a:lnSpc>
              <a:spcAft>
                <a:spcPts val="600"/>
              </a:spcAft>
            </a:pPr>
            <a:r>
              <a:rPr sz="1450" b="0">
                <a:solidFill>
                  <a:srgbClr val="1F2A3A"/>
                </a:solidFill>
                <a:latin typeface="맑은 고딕"/>
                <a:ea typeface="맑은 고딕"/>
                <a:cs typeface="맑은 고딕"/>
              </a:rPr>
              <a:t>• 상태 변수, 성과 지표, 승인 역할</a:t>
            </a:r>
          </a:p>
          <a:p>
            <a:pPr algn="l">
              <a:lnSpc>
                <a:spcPct val="110000"/>
              </a:lnSpc>
              <a:spcAft>
                <a:spcPts val="600"/>
              </a:spcAft>
            </a:pPr>
            <a:r>
              <a:rPr sz="1450" b="0">
                <a:solidFill>
                  <a:srgbClr val="1F2A3A"/>
                </a:solidFill>
                <a:latin typeface="맑은 고딕"/>
                <a:ea typeface="맑은 고딕"/>
                <a:cs typeface="맑은 고딕"/>
              </a:rPr>
              <a:t>• 입력 데이터와 결정표</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기존 식별자</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매핑의 예: 한 문장에서 나온 새 후보와 기존 대상</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HM-8.4의 한 문장에서 고장 유형 하나가 새 후보로 만들어지고, 증상 둘과 구성 요소는 등록된 대상을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한문장.svg" descr="illust_1416106735713301458_179171549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895692" y="1934916"/>
            <a:ext cx="916397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상실은 오일 쿨러에서 생기는 고장이며 유온 상승과 냉각 효율 저하로 나타난다.</a:t>
            </a:r>
          </a:p>
        </p:txBody>
      </p:sp>
      <p:sp>
        <p:nvSpPr>
          <p:cNvPr id="8" name="TextBox 7"/>
          <p:cNvSpPr txBox="1"/>
          <p:nvPr/>
        </p:nvSpPr>
        <p:spPr>
          <a:xfrm>
            <a:off x="1437493" y="4889571"/>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증상 · 등록된 대상</a:t>
            </a:r>
          </a:p>
        </p:txBody>
      </p:sp>
      <p:sp>
        <p:nvSpPr>
          <p:cNvPr id="9" name="TextBox 8"/>
          <p:cNvSpPr txBox="1"/>
          <p:nvPr/>
        </p:nvSpPr>
        <p:spPr>
          <a:xfrm>
            <a:off x="2277524" y="5693237"/>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효율 저하</a:t>
            </a:r>
          </a:p>
          <a:p>
            <a:pPr algn="ctr">
              <a:lnSpc>
                <a:spcPct val="110000"/>
              </a:lnSpc>
              <a:spcAft>
                <a:spcPts val="100"/>
              </a:spcAft>
            </a:pPr>
            <a:r>
              <a:rPr sz="1300" b="0">
                <a:solidFill>
                  <a:srgbClr val="556175"/>
                </a:solidFill>
                <a:latin typeface="맑은 고딕"/>
                <a:ea typeface="맑은 고딕"/>
                <a:cs typeface="맑은 고딕"/>
              </a:rPr>
              <a:t>증상 · 등록된 대상</a:t>
            </a:r>
          </a:p>
        </p:txBody>
      </p:sp>
      <p:sp>
        <p:nvSpPr>
          <p:cNvPr id="10" name="TextBox 9"/>
          <p:cNvSpPr txBox="1"/>
          <p:nvPr/>
        </p:nvSpPr>
        <p:spPr>
          <a:xfrm>
            <a:off x="5299454" y="5078669"/>
            <a:ext cx="305465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고장 유형 · 새 후보</a:t>
            </a:r>
          </a:p>
        </p:txBody>
      </p:sp>
      <p:sp>
        <p:nvSpPr>
          <p:cNvPr id="11" name="TextBox 10"/>
          <p:cNvSpPr txBox="1"/>
          <p:nvPr/>
        </p:nvSpPr>
        <p:spPr>
          <a:xfrm>
            <a:off x="8845040" y="4889571"/>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오일 쿨러</a:t>
            </a:r>
          </a:p>
          <a:p>
            <a:pPr algn="ctr">
              <a:lnSpc>
                <a:spcPct val="110000"/>
              </a:lnSpc>
              <a:spcAft>
                <a:spcPts val="100"/>
              </a:spcAft>
            </a:pPr>
            <a:r>
              <a:rPr sz="1300" b="0">
                <a:solidFill>
                  <a:srgbClr val="556175"/>
                </a:solidFill>
                <a:latin typeface="맑은 고딕"/>
                <a:ea typeface="맑은 고딕"/>
                <a:cs typeface="맑은 고딕"/>
              </a:rPr>
              <a:t>구성 요소 · 등록된 대상</a:t>
            </a:r>
          </a:p>
        </p:txBody>
      </p:sp>
      <p:sp>
        <p:nvSpPr>
          <p:cNvPr id="12" name="TextBox 11"/>
          <p:cNvSpPr txBox="1"/>
          <p:nvPr/>
        </p:nvSpPr>
        <p:spPr>
          <a:xfrm>
            <a:off x="3368473" y="3778620"/>
            <a:ext cx="1309139"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p:txBody>
      </p:sp>
      <p:sp>
        <p:nvSpPr>
          <p:cNvPr id="13" name="TextBox 12"/>
          <p:cNvSpPr txBox="1"/>
          <p:nvPr/>
        </p:nvSpPr>
        <p:spPr>
          <a:xfrm>
            <a:off x="7568629" y="3778620"/>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OCCURS_IN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맞는 대상이 없을 때: 지어내지 않고 알린다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등록된 목록에 맞는 대상이 없으면 모델은 비슷한 것을 지어내지 않고 그 사실을 사람에게 알린다.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574544"/>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574544"/>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맞는 입력이 없어 규칙으로 만들지 않았다</a:t>
            </a:r>
          </a:p>
        </p:txBody>
      </p:sp>
      <p:sp>
        <p:nvSpPr>
          <p:cNvPr id="8" name="Oval 7"/>
          <p:cNvSpPr/>
          <p:nvPr/>
        </p:nvSpPr>
        <p:spPr>
          <a:xfrm>
            <a:off x="548640" y="3854704"/>
            <a:ext cx="731520" cy="731520"/>
          </a:xfrm>
          <a:prstGeom prst="ellipse">
            <a:avLst/>
          </a:prstGeom>
          <a:solidFill>
            <a:srgbClr val="E7F3FD"/>
          </a:solidFill>
          <a:ln>
            <a:noFill/>
          </a:ln>
        </p:spPr>
        <p:txBody>
          <a:bodyPr rtlCol="0" anchor="ctr"/>
          <a:lstStyle/>
          <a:p>
            <a:pPr algn="ctr"/>
          </a:p>
        </p:txBody>
      </p:sp>
      <p:pic>
        <p:nvPicPr>
          <p:cNvPr id="9" name="아이콘:file-text" descr="file-text_13294B_1.6.png"/>
          <p:cNvPicPr>
            <a:picLocks noChangeAspect="1"/>
          </p:cNvPicPr>
          <p:nvPr/>
        </p:nvPicPr>
        <p:blipFill>
          <a:blip r:embed="rId3"/>
          <a:stretch>
            <a:fillRect/>
          </a:stretch>
        </p:blipFill>
        <p:spPr>
          <a:xfrm>
            <a:off x="702259" y="4008323"/>
            <a:ext cx="424281" cy="424281"/>
          </a:xfrm>
          <a:prstGeom prst="rect">
            <a:avLst/>
          </a:prstGeom>
        </p:spPr>
      </p:pic>
      <p:sp>
        <p:nvSpPr>
          <p:cNvPr id="10" name="TextBox 9"/>
          <p:cNvSpPr txBox="1"/>
          <p:nvPr/>
        </p:nvSpPr>
        <p:spPr>
          <a:xfrm>
            <a:off x="1371600" y="3808984"/>
            <a:ext cx="2692298" cy="1736344"/>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원문</a:t>
            </a:r>
          </a:p>
          <a:p>
            <a:pPr algn="l">
              <a:lnSpc>
                <a:spcPct val="110000"/>
              </a:lnSpc>
              <a:spcAft>
                <a:spcPts val="400"/>
              </a:spcAft>
            </a:pPr>
            <a:r>
              <a:rPr sz="1400" b="0">
                <a:solidFill>
                  <a:srgbClr val="1F2A3A"/>
                </a:solidFill>
                <a:latin typeface="맑은 고딕"/>
                <a:ea typeface="맑은 고딕"/>
                <a:cs typeface="맑은 고딕"/>
              </a:rPr>
              <a:t>「펌프 부하는 60 % 아래로 내리지 않는다.」</a:t>
            </a:r>
          </a:p>
        </p:txBody>
      </p:sp>
      <p:sp>
        <p:nvSpPr>
          <p:cNvPr id="11" name="Oval 10"/>
          <p:cNvSpPr/>
          <p:nvPr/>
        </p:nvSpPr>
        <p:spPr>
          <a:xfrm>
            <a:off x="4338218" y="3854704"/>
            <a:ext cx="731520" cy="731520"/>
          </a:xfrm>
          <a:prstGeom prst="ellipse">
            <a:avLst/>
          </a:prstGeom>
          <a:solidFill>
            <a:srgbClr val="E7F3FD"/>
          </a:solidFill>
          <a:ln>
            <a:noFill/>
          </a:ln>
        </p:spPr>
        <p:txBody>
          <a:bodyPr rtlCol="0" anchor="ctr"/>
          <a:lstStyle/>
          <a:p>
            <a:pPr algn="ctr"/>
          </a:p>
        </p:txBody>
      </p:sp>
      <p:pic>
        <p:nvPicPr>
          <p:cNvPr id="12" name="아이콘:robot" descr="robot_13294B_1.6.png"/>
          <p:cNvPicPr>
            <a:picLocks noChangeAspect="1"/>
          </p:cNvPicPr>
          <p:nvPr/>
        </p:nvPicPr>
        <p:blipFill>
          <a:blip r:embed="rId4"/>
          <a:stretch>
            <a:fillRect/>
          </a:stretch>
        </p:blipFill>
        <p:spPr>
          <a:xfrm>
            <a:off x="4491837" y="4008323"/>
            <a:ext cx="424281" cy="424281"/>
          </a:xfrm>
          <a:prstGeom prst="rect">
            <a:avLst/>
          </a:prstGeom>
        </p:spPr>
      </p:pic>
      <p:sp>
        <p:nvSpPr>
          <p:cNvPr id="13" name="TextBox 12"/>
          <p:cNvSpPr txBox="1"/>
          <p:nvPr/>
        </p:nvSpPr>
        <p:spPr>
          <a:xfrm>
            <a:off x="5161178" y="3808984"/>
            <a:ext cx="2692298" cy="1736344"/>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모델의 처리</a:t>
            </a:r>
          </a:p>
          <a:p>
            <a:pPr algn="l">
              <a:lnSpc>
                <a:spcPct val="110000"/>
              </a:lnSpc>
              <a:spcAft>
                <a:spcPts val="400"/>
              </a:spcAft>
            </a:pPr>
            <a:r>
              <a:rPr sz="1400" b="0">
                <a:solidFill>
                  <a:srgbClr val="1F2A3A"/>
                </a:solidFill>
                <a:latin typeface="맑은 고딕"/>
                <a:ea typeface="맑은 고딕"/>
                <a:cs typeface="맑은 고딕"/>
              </a:rPr>
              <a:t>펌프 부하 설정값을 가리킬 입력 데이터가 목록에 없어 규칙을 만들지 않고 알림으로 남겼다</a:t>
            </a:r>
          </a:p>
        </p:txBody>
      </p:sp>
      <p:sp>
        <p:nvSpPr>
          <p:cNvPr id="14" name="Oval 13"/>
          <p:cNvSpPr/>
          <p:nvPr/>
        </p:nvSpPr>
        <p:spPr>
          <a:xfrm>
            <a:off x="8127796" y="3854704"/>
            <a:ext cx="731520" cy="731520"/>
          </a:xfrm>
          <a:prstGeom prst="ellipse">
            <a:avLst/>
          </a:prstGeom>
          <a:solidFill>
            <a:srgbClr val="E7F3FD"/>
          </a:solidFill>
          <a:ln>
            <a:noFill/>
          </a:ln>
        </p:spPr>
        <p:txBody>
          <a:bodyPr rtlCol="0" anchor="ctr"/>
          <a:lstStyle/>
          <a:p>
            <a:pPr algn="ctr"/>
          </a:p>
        </p:txBody>
      </p:sp>
      <p:pic>
        <p:nvPicPr>
          <p:cNvPr id="15" name="아이콘:user-check" descr="user-check_13294B_1.6.png"/>
          <p:cNvPicPr>
            <a:picLocks noChangeAspect="1"/>
          </p:cNvPicPr>
          <p:nvPr/>
        </p:nvPicPr>
        <p:blipFill>
          <a:blip r:embed="rId5"/>
          <a:stretch>
            <a:fillRect/>
          </a:stretch>
        </p:blipFill>
        <p:spPr>
          <a:xfrm>
            <a:off x="8281416" y="4008323"/>
            <a:ext cx="424281" cy="424281"/>
          </a:xfrm>
          <a:prstGeom prst="rect">
            <a:avLst/>
          </a:prstGeom>
        </p:spPr>
      </p:pic>
      <p:sp>
        <p:nvSpPr>
          <p:cNvPr id="16" name="TextBox 15"/>
          <p:cNvSpPr txBox="1"/>
          <p:nvPr/>
        </p:nvSpPr>
        <p:spPr>
          <a:xfrm>
            <a:off x="8950756" y="3808984"/>
            <a:ext cx="2692298" cy="1736344"/>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사람의 몫</a:t>
            </a:r>
          </a:p>
          <a:p>
            <a:pPr algn="l">
              <a:lnSpc>
                <a:spcPct val="110000"/>
              </a:lnSpc>
              <a:spcAft>
                <a:spcPts val="400"/>
              </a:spcAft>
            </a:pPr>
            <a:r>
              <a:rPr sz="1400" b="0">
                <a:solidFill>
                  <a:srgbClr val="1F2A3A"/>
                </a:solidFill>
                <a:latin typeface="맑은 고딕"/>
                <a:ea typeface="맑은 고딕"/>
                <a:cs typeface="맑은 고딕"/>
              </a:rPr>
              <a:t>알림을 보고 필요한 입력을 먼저 등록할지를 정한다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추출에서 생길 수 있는 네 가지 오류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오류는 모두 형식 검사를 통과하므로 추출 결과는 원문과 나란히 놓고 대조해야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오류</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원문 → 틀리게 옮겨진 결과</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틀리는 곳</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부정 조건 누락</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「REMOTE_AUTO가 아닐 때 쓰지 않는다」가 빠진다면 → 언제나 쓸 수 있는 조치</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조건</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수치 · 단위 오류</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「24시간 이내」가 「24분 이내」로 옮겨진다면 → 숫자는 같고 단위만 다르다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값</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잘못된 관계 추론</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세척을 주변 온도 상승에 ADDRESSES로 잇는다면 → 듣지 않는 조치의 추천</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연결</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근거 없는 내용 생성</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단계 셋에 「팬 베어링의 소음을 확인한다」가 끼어든다면 → 인용할 원문이 없다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출처</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추출 오류의 실제 예: 조건을 값에 미리 적용한 결과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조건을 값에 미리 적용해 적으면 값은 그럴듯해도 조건이 사라지므로 원문의 단계와 나란히 대조해야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예비품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a:t>
            </a:r>
            <a:r>
              <a:rPr sz="1300" b="0">
                <a:solidFill>
                  <a:srgbClr val="E8EEF6"/>
                </a:solidFill>
                <a:latin typeface="Consolas"/>
                <a:ea typeface="맑은 고딕"/>
                <a:cs typeface="맑은 고딕"/>
              </a:rPr>
              <a:t> PR-07</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납기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발주</a:t>
            </a:r>
          </a:p>
          <a:p>
            <a:pPr algn="l">
              <a:lnSpc>
                <a:spcPct val="110000"/>
              </a:lnSpc>
              <a:spcAft>
                <a:spcPts val="200"/>
              </a:spcAft>
            </a:pPr>
            <a:r>
              <a:rPr sz="1300" b="0">
                <a:solidFill>
                  <a:srgbClr val="E8EEF6"/>
                </a:solidFill>
                <a:latin typeface="Consolas"/>
                <a:ea typeface="맑은 고딕"/>
                <a:cs typeface="맑은 고딕"/>
              </a:rPr>
              <a:t>1. </a:t>
            </a:r>
            <a:r>
              <a:rPr sz="1300" b="0">
                <a:solidFill>
                  <a:srgbClr val="E8EEF6"/>
                </a:solidFill>
                <a:latin typeface="맑은 고딕"/>
                <a:ea typeface="맑은 고딕"/>
                <a:cs typeface="맑은 고딕"/>
              </a:rPr>
              <a:t>견적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리드타임이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짧은</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고른다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아니면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절차를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쓰지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키트의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견적</a:t>
            </a:r>
          </a:p>
          <a:p>
            <a:pPr algn="l">
              <a:lnSpc>
                <a:spcPct val="110000"/>
              </a:lnSpc>
              <a:spcAft>
                <a:spcPts val="200"/>
              </a:spcAft>
            </a:pPr>
            <a:r>
              <a:rPr sz="1300" b="0">
                <a:solidFill>
                  <a:srgbClr val="E8EEF6"/>
                </a:solidFill>
                <a:latin typeface="Consolas"/>
                <a:ea typeface="맑은 고딕"/>
                <a:cs typeface="맑은 고딕"/>
              </a:rPr>
              <a:t>A</a:t>
            </a:r>
            <a:r>
              <a:rPr sz="1300" b="0">
                <a:solidFill>
                  <a:srgbClr val="E8EEF6"/>
                </a:solidFill>
                <a:latin typeface="맑은 고딕"/>
                <a:ea typeface="맑은 고딕"/>
                <a:cs typeface="맑은 고딕"/>
              </a:rPr>
              <a:t>정밀</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B-OEM 5</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C</a:t>
            </a:r>
            <a:r>
              <a:rPr sz="1300" b="0">
                <a:solidFill>
                  <a:srgbClr val="E8EEF6"/>
                </a:solidFill>
                <a:latin typeface="맑은 고딕"/>
                <a:ea typeface="맑은 고딕"/>
                <a:cs typeface="맑은 고딕"/>
              </a:rPr>
              <a:t>트레이딩</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비승인</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발주처</a:t>
            </a:r>
          </a:p>
          <a:p>
            <a:pPr algn="l">
              <a:lnSpc>
                <a:spcPct val="110000"/>
              </a:lnSpc>
              <a:spcAft>
                <a:spcPts val="200"/>
              </a:spcAft>
            </a:pPr>
            <a:r>
              <a:rPr sz="1300" b="0">
                <a:solidFill>
                  <a:srgbClr val="E8EEF6"/>
                </a:solidFill>
                <a:latin typeface="Consolas"/>
                <a:ea typeface="맑은 고딕"/>
                <a:cs typeface="맑은 고딕"/>
              </a:rPr>
              <a:t>{"action": "action:purchase-request",</a:t>
            </a:r>
          </a:p>
          <a:p>
            <a:pPr algn="l">
              <a:lnSpc>
                <a:spcPct val="110000"/>
              </a:lnSpc>
              <a:spcAft>
                <a:spcPts val="200"/>
              </a:spcAft>
            </a:pPr>
            <a:r>
              <a:rPr sz="1300" b="0">
                <a:solidFill>
                  <a:srgbClr val="E8EEF6"/>
                </a:solidFill>
                <a:latin typeface="Consolas"/>
                <a:ea typeface="맑은 고딕"/>
                <a:cs typeface="맑은 고딕"/>
              </a:rPr>
              <a:t> "value": "sup:a"}</a:t>
            </a:r>
          </a:p>
          <a:p>
            <a:pPr algn="l">
              <a:lnSpc>
                <a:spcPct val="110000"/>
              </a:lnSpc>
              <a:spcAft>
                <a:spcPts val="200"/>
              </a:spcAft>
            </a:pPr>
            <a:r>
              <a:rPr sz="1300" b="0">
                <a:solidFill>
                  <a:srgbClr val="E8EEF6"/>
                </a:solidFill>
                <a:latin typeface="Consolas"/>
                <a:ea typeface="맑은 고딕"/>
                <a:cs typeface="맑은 고딕"/>
              </a:rPr>
              <a:t># sup:a = A</a:t>
            </a:r>
            <a:r>
              <a:rPr sz="1300" b="0">
                <a:solidFill>
                  <a:srgbClr val="E8EEF6"/>
                </a:solidFill>
                <a:latin typeface="맑은 고딕"/>
                <a:ea typeface="맑은 고딕"/>
                <a:cs typeface="맑은 고딕"/>
              </a:rPr>
              <a:t>정밀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리드타임</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1단계의 답</a:t>
            </a:r>
          </a:p>
          <a:p>
            <a:pPr algn="l">
              <a:lnSpc>
                <a:spcPct val="110000"/>
              </a:lnSpc>
              <a:spcAft>
                <a:spcPts val="400"/>
              </a:spcAft>
            </a:pPr>
            <a:r>
              <a:rPr sz="1400" b="0">
                <a:solidFill>
                  <a:srgbClr val="1F2A3A"/>
                </a:solidFill>
                <a:latin typeface="맑은 고딕"/>
                <a:ea typeface="맑은 고딕"/>
                <a:cs typeface="맑은 고딕"/>
              </a:rPr>
              <a:t>리드타임이 1일로 가장 짧은 C트레이딩이다.</a:t>
            </a:r>
          </a:p>
        </p:txBody>
      </p:sp>
      <p:sp>
        <p:nvSpPr>
          <p:cNvPr id="9" name="TextBox 8"/>
          <p:cNvSpPr txBox="1"/>
          <p:nvPr/>
        </p:nvSpPr>
        <p:spPr>
          <a:xfrm>
            <a:off x="7635240" y="288264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2단계의 결과</a:t>
            </a:r>
          </a:p>
          <a:p>
            <a:pPr algn="l">
              <a:lnSpc>
                <a:spcPct val="110000"/>
              </a:lnSpc>
              <a:spcAft>
                <a:spcPts val="400"/>
              </a:spcAft>
            </a:pPr>
            <a:r>
              <a:rPr sz="1400" b="0">
                <a:solidFill>
                  <a:srgbClr val="1F2A3A"/>
                </a:solidFill>
                <a:latin typeface="맑은 고딕"/>
                <a:ea typeface="맑은 고딕"/>
                <a:cs typeface="맑은 고딕"/>
              </a:rPr>
              <a:t>C트레이딩은 승인 공급사가 아니므로 이 절차를 쓰지 않는다.</a:t>
            </a:r>
          </a:p>
        </p:txBody>
      </p:sp>
      <p:sp>
        <p:nvSpPr>
          <p:cNvPr id="10" name="TextBox 9"/>
          <p:cNvSpPr txBox="1"/>
          <p:nvPr/>
        </p:nvSpPr>
        <p:spPr>
          <a:xfrm>
            <a:off x="7635240" y="399135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추출 결과</a:t>
            </a:r>
          </a:p>
          <a:p>
            <a:pPr algn="l">
              <a:lnSpc>
                <a:spcPct val="110000"/>
              </a:lnSpc>
              <a:spcAft>
                <a:spcPts val="400"/>
              </a:spcAft>
            </a:pPr>
            <a:r>
              <a:rPr sz="1400" b="0">
                <a:solidFill>
                  <a:srgbClr val="1F2A3A"/>
                </a:solidFill>
                <a:latin typeface="맑은 고딕"/>
                <a:ea typeface="맑은 고딕"/>
                <a:cs typeface="맑은 고딕"/>
              </a:rPr>
              <a:t>발주처가 A정밀로 적혔다. 승인 공급사 가운데 가장 빠른 곳이다.</a:t>
            </a:r>
          </a:p>
        </p:txBody>
      </p:sp>
      <p:sp>
        <p:nvSpPr>
          <p:cNvPr id="11" name="TextBox 10"/>
          <p:cNvSpPr txBox="1"/>
          <p:nvPr/>
        </p:nvSpPr>
        <p:spPr>
          <a:xfrm>
            <a:off x="7635240" y="510006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잃은 것</a:t>
            </a:r>
          </a:p>
          <a:p>
            <a:pPr algn="l">
              <a:lnSpc>
                <a:spcPct val="110000"/>
              </a:lnSpc>
              <a:spcAft>
                <a:spcPts val="400"/>
              </a:spcAft>
            </a:pPr>
            <a:r>
              <a:rPr sz="1400" b="0">
                <a:solidFill>
                  <a:srgbClr val="1F2A3A"/>
                </a:solidFill>
                <a:latin typeface="맑은 고딕"/>
                <a:ea typeface="맑은 고딕"/>
                <a:cs typeface="맑은 고딕"/>
              </a:rPr>
              <a:t>「승인 공급사가 아니면 쓰지 않는다」는 조건이 사라졌다. 값만 보면 그럴듯하고 원문의 단계와 나란히 읽어야 드러난다.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5단계 근거 대조: 인용과 원문 확인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지식마다 근거가 된 원문의 구간을 </a:t>
            </a:r>
            <a:r>
              <a:rPr sz="1600" b="1">
                <a:solidFill>
                  <a:srgbClr val="1A6FC4"/>
                </a:solidFill>
                <a:latin typeface="맑은 고딕"/>
                <a:ea typeface="맑은 고딕"/>
                <a:cs typeface="맑은 고딕"/>
              </a:rPr>
              <a:t>인용</a:t>
            </a:r>
            <a:r>
              <a:rPr sz="1600" b="0">
                <a:solidFill>
                  <a:srgbClr val="556175"/>
                </a:solidFill>
                <a:latin typeface="맑은 고딕"/>
                <a:ea typeface="맑은 고딕"/>
                <a:cs typeface="맑은 고딕"/>
              </a:rPr>
              <a:t>으로 붙여야 프로그램이 인용문을 원문에서 찾아 대조할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인용.svg" descr="illust_2728701099725165264_179171549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48402" y="1698543"/>
            <a:ext cx="392741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보관된 원문 · 매뉴얼 HM-8</a:t>
            </a:r>
          </a:p>
        </p:txBody>
      </p:sp>
      <p:sp>
        <p:nvSpPr>
          <p:cNvPr id="8" name="TextBox 7"/>
          <p:cNvSpPr txBox="1"/>
          <p:nvPr/>
        </p:nvSpPr>
        <p:spPr>
          <a:xfrm>
            <a:off x="8059556" y="16512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지식 한 건</a:t>
            </a:r>
          </a:p>
          <a:p>
            <a:pPr algn="ctr">
              <a:lnSpc>
                <a:spcPct val="110000"/>
              </a:lnSpc>
              <a:spcAft>
                <a:spcPts val="100"/>
              </a:spcAft>
            </a:pPr>
            <a:r>
              <a:rPr sz="1300" b="0">
                <a:solidFill>
                  <a:srgbClr val="556175"/>
                </a:solidFill>
                <a:latin typeface="맑은 고딕"/>
                <a:ea typeface="맑은 고딕"/>
                <a:cs typeface="맑은 고딕"/>
              </a:rPr>
              <a:t>팬 최대 운전의 2단계</a:t>
            </a:r>
          </a:p>
        </p:txBody>
      </p:sp>
      <p:sp>
        <p:nvSpPr>
          <p:cNvPr id="9" name="TextBox 8"/>
          <p:cNvSpPr txBox="1"/>
          <p:nvPr/>
        </p:nvSpPr>
        <p:spPr>
          <a:xfrm>
            <a:off x="6477679" y="3187689"/>
            <a:ext cx="1854614"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인용(Citation)</a:t>
            </a:r>
          </a:p>
        </p:txBody>
      </p:sp>
      <p:sp>
        <p:nvSpPr>
          <p:cNvPr id="10" name="TextBox 9"/>
          <p:cNvSpPr txBox="1"/>
          <p:nvPr/>
        </p:nvSpPr>
        <p:spPr>
          <a:xfrm>
            <a:off x="8114104" y="4204091"/>
            <a:ext cx="3381943" cy="118160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인용에 담기는 것</a:t>
            </a:r>
          </a:p>
          <a:p>
            <a:pPr algn="ctr">
              <a:lnSpc>
                <a:spcPct val="110000"/>
              </a:lnSpc>
              <a:spcAft>
                <a:spcPts val="100"/>
              </a:spcAft>
            </a:pPr>
            <a:r>
              <a:rPr sz="1300" b="0">
                <a:solidFill>
                  <a:srgbClr val="556175"/>
                </a:solidFill>
                <a:latin typeface="맑은 고딕"/>
                <a:ea typeface="맑은 고딕"/>
                <a:cs typeface="맑은 고딕"/>
              </a:rPr>
              <a:t>문서 식별자와 판본</a:t>
            </a:r>
          </a:p>
          <a:p>
            <a:pPr algn="ctr">
              <a:lnSpc>
                <a:spcPct val="110000"/>
              </a:lnSpc>
              <a:spcAft>
                <a:spcPts val="100"/>
              </a:spcAft>
            </a:pPr>
            <a:r>
              <a:rPr sz="1300" b="0">
                <a:solidFill>
                  <a:srgbClr val="556175"/>
                </a:solidFill>
                <a:latin typeface="맑은 고딕"/>
                <a:ea typeface="맑은 고딕"/>
                <a:cs typeface="맑은 고딕"/>
              </a:rPr>
              <a:t>쪽 1 · 문자 위치 1569~1615</a:t>
            </a:r>
          </a:p>
          <a:p>
            <a:pPr algn="ctr">
              <a:lnSpc>
                <a:spcPct val="110000"/>
              </a:lnSpc>
              <a:spcAft>
                <a:spcPts val="100"/>
              </a:spcAft>
            </a:pPr>
            <a:r>
              <a:rPr sz="1300" b="0">
                <a:solidFill>
                  <a:srgbClr val="556175"/>
                </a:solidFill>
                <a:latin typeface="맑은 고딕"/>
                <a:ea typeface="맑은 고딕"/>
                <a:cs typeface="맑은 고딕"/>
              </a:rPr>
              <a:t>인용문: 「2. 팬 속도를 100 %로 올린다.</a:t>
            </a:r>
          </a:p>
          <a:p>
            <a:pPr algn="ctr">
              <a:lnSpc>
                <a:spcPct val="110000"/>
              </a:lnSpc>
              <a:spcAft>
                <a:spcPts val="100"/>
              </a:spcAft>
            </a:pPr>
            <a:r>
              <a:rPr sz="1300" b="0">
                <a:solidFill>
                  <a:srgbClr val="556175"/>
                </a:solidFill>
                <a:latin typeface="맑은 고딕"/>
                <a:ea typeface="맑은 고딕"/>
                <a:cs typeface="맑은 고딕"/>
              </a:rPr>
              <a:t>100 % 연속 운전은 24시간 이내로 한다.」</a:t>
            </a:r>
          </a:p>
        </p:txBody>
      </p:sp>
      <p:sp>
        <p:nvSpPr>
          <p:cNvPr id="11" name="TextBox 10"/>
          <p:cNvSpPr txBox="1"/>
          <p:nvPr/>
        </p:nvSpPr>
        <p:spPr>
          <a:xfrm>
            <a:off x="5223088" y="5787786"/>
            <a:ext cx="283646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대조</a:t>
            </a:r>
          </a:p>
          <a:p>
            <a:pPr algn="ctr">
              <a:lnSpc>
                <a:spcPct val="110000"/>
              </a:lnSpc>
              <a:spcAft>
                <a:spcPts val="100"/>
              </a:spcAft>
            </a:pPr>
            <a:r>
              <a:rPr sz="1300" b="0">
                <a:solidFill>
                  <a:srgbClr val="556175"/>
                </a:solidFill>
                <a:latin typeface="맑은 고딕"/>
                <a:ea typeface="맑은 고딕"/>
                <a:cs typeface="맑은 고딕"/>
              </a:rPr>
              <a:t>인용문을 그 쪽에서 찾는다</a:t>
            </a:r>
          </a:p>
          <a:p>
            <a:pPr algn="ctr">
              <a:lnSpc>
                <a:spcPct val="110000"/>
              </a:lnSpc>
              <a:spcAft>
                <a:spcPts val="100"/>
              </a:spcAft>
            </a:pPr>
            <a:r>
              <a:rPr sz="1300" b="0">
                <a:solidFill>
                  <a:srgbClr val="556175"/>
                </a:solidFill>
                <a:latin typeface="맑은 고딕"/>
                <a:ea typeface="맑은 고딕"/>
                <a:cs typeface="맑은 고딕"/>
              </a:rPr>
              <a:t>없으면 후보를 돌려보낸다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 검토에서 확인하는 네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오류의 종류가 곧 점검 항목이므로 검토자는 문서 전체가 아니라 인용이 가리키는 자리의 네 곳을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ban" descr="ban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부정 조건</a:t>
            </a:r>
          </a:p>
          <a:p>
            <a:pPr algn="l">
              <a:lnSpc>
                <a:spcPct val="110000"/>
              </a:lnSpc>
              <a:spcAft>
                <a:spcPts val="400"/>
              </a:spcAft>
            </a:pPr>
            <a:r>
              <a:rPr sz="1350" b="0">
                <a:solidFill>
                  <a:srgbClr val="1F2A3A"/>
                </a:solidFill>
                <a:latin typeface="맑은 고딕"/>
                <a:ea typeface="맑은 고딕"/>
                <a:cs typeface="맑은 고딕"/>
              </a:rPr>
              <a:t>「~가 아니면」「~하지 않는다」가 빠지지 않았는가</a:t>
            </a:r>
          </a:p>
        </p:txBody>
      </p:sp>
      <p:sp>
        <p:nvSpPr>
          <p:cNvPr id="10" name="Rounded Rectangle 9"/>
          <p:cNvSpPr/>
          <p:nvPr/>
        </p:nvSpPr>
        <p:spPr>
          <a:xfrm>
            <a:off x="777240" y="5029771"/>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조건</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수치와 단위</a:t>
            </a:r>
          </a:p>
          <a:p>
            <a:pPr algn="l">
              <a:lnSpc>
                <a:spcPct val="110000"/>
              </a:lnSpc>
              <a:spcAft>
                <a:spcPts val="400"/>
              </a:spcAft>
            </a:pPr>
            <a:r>
              <a:rPr sz="1350" b="0">
                <a:solidFill>
                  <a:srgbClr val="1F2A3A"/>
                </a:solidFill>
                <a:latin typeface="맑은 고딕"/>
                <a:ea typeface="맑은 고딕"/>
                <a:cs typeface="맑은 고딕"/>
              </a:rPr>
              <a:t>숫자와 단위가 인용문과 같은가</a:t>
            </a:r>
          </a:p>
        </p:txBody>
      </p:sp>
      <p:sp>
        <p:nvSpPr>
          <p:cNvPr id="16" name="Rounded Rectangle 15"/>
          <p:cNvSpPr/>
          <p:nvPr/>
        </p:nvSpPr>
        <p:spPr>
          <a:xfrm>
            <a:off x="3619423" y="5029771"/>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list-numbers" descr="list-numbers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단계의 순서</a:t>
            </a:r>
          </a:p>
          <a:p>
            <a:pPr algn="l">
              <a:lnSpc>
                <a:spcPct val="110000"/>
              </a:lnSpc>
              <a:spcAft>
                <a:spcPts val="400"/>
              </a:spcAft>
            </a:pPr>
            <a:r>
              <a:rPr sz="1350" b="0">
                <a:solidFill>
                  <a:srgbClr val="1F2A3A"/>
                </a:solidFill>
                <a:latin typeface="맑은 고딕"/>
                <a:ea typeface="맑은 고딕"/>
                <a:cs typeface="맑은 고딕"/>
              </a:rPr>
              <a:t>번호와 순서가 원문과 같은가</a:t>
            </a:r>
          </a:p>
        </p:txBody>
      </p:sp>
      <p:sp>
        <p:nvSpPr>
          <p:cNvPr id="22" name="Rounded Rectangle 21"/>
          <p:cNvSpPr/>
          <p:nvPr/>
        </p:nvSpPr>
        <p:spPr>
          <a:xfrm>
            <a:off x="6461607" y="5029771"/>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24" name="Rounded Rectangle 23"/>
          <p:cNvSpPr/>
          <p:nvPr/>
        </p:nvSpPr>
        <p:spPr>
          <a:xfrm>
            <a:off x="9075191"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5CB8F2"/>
          </a:solidFill>
          <a:ln>
            <a:noFill/>
          </a:ln>
        </p:spPr>
        <p:txBody>
          <a:bodyPr rtlCol="0" anchor="ctr"/>
          <a:lstStyle/>
          <a:p>
            <a:pPr algn="ctr"/>
          </a:p>
        </p:txBody>
      </p:sp>
      <p:pic>
        <p:nvPicPr>
          <p:cNvPr id="26" name="아이콘:link" descr="link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대상과 관계</a:t>
            </a:r>
          </a:p>
          <a:p>
            <a:pPr algn="l">
              <a:lnSpc>
                <a:spcPct val="110000"/>
              </a:lnSpc>
              <a:spcAft>
                <a:spcPts val="400"/>
              </a:spcAft>
            </a:pPr>
            <a:r>
              <a:rPr sz="1350" b="0">
                <a:solidFill>
                  <a:srgbClr val="1F2A3A"/>
                </a:solidFill>
                <a:latin typeface="맑은 고딕"/>
                <a:ea typeface="맑은 고딕"/>
                <a:cs typeface="맑은 고딕"/>
              </a:rPr>
              <a:t>고장 유형과 관계가 바르게 이어졌는가</a:t>
            </a:r>
          </a:p>
        </p:txBody>
      </p:sp>
      <p:sp>
        <p:nvSpPr>
          <p:cNvPr id="28" name="Rounded Rectangle 27"/>
          <p:cNvSpPr/>
          <p:nvPr/>
        </p:nvSpPr>
        <p:spPr>
          <a:xfrm>
            <a:off x="9303791" y="5029771"/>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6단계: 승인된 지식 적재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제안의 일부만 들어가 조건이 빠진 지식이 되지 않도록, 검토자가 이름을 밝혀 승인한 것만 한 번에 넣는다.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pic>
        <p:nvPicPr>
          <p:cNvPr id="6" name="삽화:인제스천_6.svg" descr="illust_607699963663901996_179171549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 원천 확보와 보관</a:t>
            </a:r>
          </a:p>
        </p:txBody>
      </p:sp>
      <p:sp>
        <p:nvSpPr>
          <p:cNvPr id="8" name="TextBox 7"/>
          <p:cNvSpPr txBox="1"/>
          <p:nvPr/>
        </p:nvSpPr>
        <p:spPr>
          <a:xfrm>
            <a:off x="3553935"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 문서 내용 분석</a:t>
            </a:r>
          </a:p>
        </p:txBody>
      </p:sp>
      <p:sp>
        <p:nvSpPr>
          <p:cNvPr id="9" name="TextBox 8"/>
          <p:cNvSpPr txBox="1"/>
          <p:nvPr/>
        </p:nvSpPr>
        <p:spPr>
          <a:xfrm>
            <a:off x="6237671"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3. 지식 후보 추출</a:t>
            </a:r>
          </a:p>
        </p:txBody>
      </p:sp>
      <p:sp>
        <p:nvSpPr>
          <p:cNvPr id="10" name="TextBox 9"/>
          <p:cNvSpPr txBox="1"/>
          <p:nvPr/>
        </p:nvSpPr>
        <p:spPr>
          <a:xfrm>
            <a:off x="8932316" y="2927680"/>
            <a:ext cx="2400088"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4. 스키마 · 식별자 매핑</a:t>
            </a:r>
          </a:p>
        </p:txBody>
      </p:sp>
      <p:sp>
        <p:nvSpPr>
          <p:cNvPr id="11" name="TextBox 10"/>
          <p:cNvSpPr txBox="1"/>
          <p:nvPr/>
        </p:nvSpPr>
        <p:spPr>
          <a:xfrm>
            <a:off x="859290"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 대조와 사람 검토</a:t>
            </a:r>
          </a:p>
        </p:txBody>
      </p:sp>
      <p:sp>
        <p:nvSpPr>
          <p:cNvPr id="12" name="TextBox 11"/>
          <p:cNvSpPr txBox="1"/>
          <p:nvPr/>
        </p:nvSpPr>
        <p:spPr>
          <a:xfrm>
            <a:off x="3553935" y="5220492"/>
            <a:ext cx="240008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6. 승인된 지식 적재</a:t>
            </a:r>
          </a:p>
          <a:p>
            <a:pPr algn="ctr">
              <a:lnSpc>
                <a:spcPct val="110000"/>
              </a:lnSpc>
              <a:spcAft>
                <a:spcPts val="100"/>
              </a:spcAft>
            </a:pPr>
            <a:r>
              <a:rPr sz="1300" b="0">
                <a:solidFill>
                  <a:srgbClr val="556175"/>
                </a:solidFill>
                <a:latin typeface="맑은 고딕"/>
                <a:ea typeface="맑은 고딕"/>
                <a:cs typeface="맑은 고딕"/>
              </a:rPr>
              <a:t>승인된 것만 한 번에 넣고</a:t>
            </a:r>
          </a:p>
          <a:p>
            <a:pPr algn="ctr">
              <a:lnSpc>
                <a:spcPct val="110000"/>
              </a:lnSpc>
              <a:spcAft>
                <a:spcPts val="100"/>
              </a:spcAft>
            </a:pPr>
            <a:r>
              <a:rPr sz="1300" b="0">
                <a:solidFill>
                  <a:srgbClr val="556175"/>
                </a:solidFill>
                <a:latin typeface="맑은 고딕"/>
                <a:ea typeface="맑은 고딕"/>
                <a:cs typeface="맑은 고딕"/>
              </a:rPr>
              <a:t>어긋나면 모두 취소한다</a:t>
            </a:r>
          </a:p>
        </p:txBody>
      </p:sp>
      <p:sp>
        <p:nvSpPr>
          <p:cNvPr id="13" name="TextBox 12"/>
          <p:cNvSpPr txBox="1"/>
          <p:nvPr/>
        </p:nvSpPr>
        <p:spPr>
          <a:xfrm>
            <a:off x="6237671"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7. 관계 · 출처 조회</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판본과 적재 기록, 개정 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내용이 바뀌면 다른 </a:t>
            </a:r>
            <a:r>
              <a:rPr sz="1600" b="1">
                <a:solidFill>
                  <a:srgbClr val="1A6FC4"/>
                </a:solidFill>
                <a:latin typeface="맑은 고딕"/>
                <a:ea typeface="맑은 고딕"/>
                <a:cs typeface="맑은 고딕"/>
              </a:rPr>
              <a:t>판본</a:t>
            </a:r>
            <a:r>
              <a:rPr sz="1600" b="0">
                <a:solidFill>
                  <a:srgbClr val="556175"/>
                </a:solidFill>
                <a:latin typeface="맑은 고딕"/>
                <a:ea typeface="맑은 고딕"/>
                <a:cs typeface="맑은 고딕"/>
              </a:rPr>
              <a:t>이며, 판본마다 적재 전후를 기록하고 앞 기록을 가리켜야 변경을 추적하고 되돌린다.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pic>
        <p:nvPicPr>
          <p:cNvPr id="6" name="삽화:적재묶음_사슬.svg" descr="illust_2775102390281073045_179171549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72218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첫 판본</a:t>
            </a:r>
          </a:p>
        </p:txBody>
      </p:sp>
      <p:sp>
        <p:nvSpPr>
          <p:cNvPr id="8" name="TextBox 7"/>
          <p:cNvSpPr txBox="1"/>
          <p:nvPr/>
        </p:nvSpPr>
        <p:spPr>
          <a:xfrm>
            <a:off x="5223088" y="172218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개정 판본</a:t>
            </a:r>
          </a:p>
        </p:txBody>
      </p:sp>
      <p:sp>
        <p:nvSpPr>
          <p:cNvPr id="9" name="TextBox 8"/>
          <p:cNvSpPr txBox="1"/>
          <p:nvPr/>
        </p:nvSpPr>
        <p:spPr>
          <a:xfrm>
            <a:off x="8746854" y="1722180"/>
            <a:ext cx="196370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지금의 판본</a:t>
            </a:r>
          </a:p>
        </p:txBody>
      </p:sp>
      <p:sp>
        <p:nvSpPr>
          <p:cNvPr id="10" name="TextBox 9"/>
          <p:cNvSpPr txBox="1"/>
          <p:nvPr/>
        </p:nvSpPr>
        <p:spPr>
          <a:xfrm>
            <a:off x="1372036" y="2979682"/>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기록 1</a:t>
            </a:r>
          </a:p>
        </p:txBody>
      </p:sp>
      <p:sp>
        <p:nvSpPr>
          <p:cNvPr id="11" name="TextBox 10"/>
          <p:cNvSpPr txBox="1"/>
          <p:nvPr/>
        </p:nvSpPr>
        <p:spPr>
          <a:xfrm>
            <a:off x="5004898" y="2979682"/>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기록 2</a:t>
            </a:r>
          </a:p>
        </p:txBody>
      </p:sp>
      <p:sp>
        <p:nvSpPr>
          <p:cNvPr id="12" name="TextBox 11"/>
          <p:cNvSpPr txBox="1"/>
          <p:nvPr/>
        </p:nvSpPr>
        <p:spPr>
          <a:xfrm>
            <a:off x="8637759" y="2979682"/>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기록 3</a:t>
            </a:r>
          </a:p>
        </p:txBody>
      </p:sp>
      <p:sp>
        <p:nvSpPr>
          <p:cNvPr id="13" name="TextBox 12"/>
          <p:cNvSpPr txBox="1"/>
          <p:nvPr/>
        </p:nvSpPr>
        <p:spPr>
          <a:xfrm>
            <a:off x="1262941" y="4369551"/>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4" name="TextBox 13"/>
          <p:cNvSpPr txBox="1"/>
          <p:nvPr/>
        </p:nvSpPr>
        <p:spPr>
          <a:xfrm>
            <a:off x="4895803" y="4369551"/>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5" name="TextBox 14"/>
          <p:cNvSpPr txBox="1"/>
          <p:nvPr/>
        </p:nvSpPr>
        <p:spPr>
          <a:xfrm>
            <a:off x="8528664" y="4369551"/>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6" name="TextBox 15"/>
          <p:cNvSpPr txBox="1"/>
          <p:nvPr/>
        </p:nvSpPr>
        <p:spPr>
          <a:xfrm>
            <a:off x="3783034" y="3471336"/>
            <a:ext cx="98185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앞 기록</a:t>
            </a:r>
          </a:p>
        </p:txBody>
      </p:sp>
      <p:sp>
        <p:nvSpPr>
          <p:cNvPr id="17" name="TextBox 16"/>
          <p:cNvSpPr txBox="1"/>
          <p:nvPr/>
        </p:nvSpPr>
        <p:spPr>
          <a:xfrm>
            <a:off x="7426805" y="3471336"/>
            <a:ext cx="98185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앞 기록</a:t>
            </a:r>
          </a:p>
        </p:txBody>
      </p:sp>
      <p:sp>
        <p:nvSpPr>
          <p:cNvPr id="18" name="TextBox 17"/>
          <p:cNvSpPr txBox="1"/>
          <p:nvPr/>
        </p:nvSpPr>
        <p:spPr>
          <a:xfrm>
            <a:off x="5735834" y="5716874"/>
            <a:ext cx="436379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되돌리기</a:t>
            </a:r>
          </a:p>
          <a:p>
            <a:pPr algn="ctr">
              <a:lnSpc>
                <a:spcPct val="110000"/>
              </a:lnSpc>
              <a:spcAft>
                <a:spcPts val="100"/>
              </a:spcAft>
            </a:pPr>
            <a:r>
              <a:rPr sz="1300" b="0">
                <a:solidFill>
                  <a:srgbClr val="556175"/>
                </a:solidFill>
                <a:latin typeface="맑은 고딕"/>
                <a:ea typeface="맑은 고딕"/>
                <a:cs typeface="맑은 고딕"/>
              </a:rPr>
              <a:t>가장 새 기록부터 적재 전의 상태로 되돌린다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7단계 관계 · 출처 조회: 조치에서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방법이 절을 거쳐 문서에 속하고(PART_OF) 규칙이 절을 가리켜(DERIVED_FROM) 출처는 관계로 조회된다.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Oval 5"/>
          <p:cNvSpPr/>
          <p:nvPr/>
        </p:nvSpPr>
        <p:spPr>
          <a:xfrm>
            <a:off x="548639"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7" name="아이콘:tool" descr="tool_13294B_1.6.png"/>
          <p:cNvPicPr>
            <a:picLocks noChangeAspect="1"/>
          </p:cNvPicPr>
          <p:nvPr/>
        </p:nvPicPr>
        <p:blipFill>
          <a:blip r:embed="rId3"/>
          <a:stretch>
            <a:fillRect/>
          </a:stretch>
        </p:blipFill>
        <p:spPr>
          <a:xfrm>
            <a:off x="1208836" y="1870862"/>
            <a:ext cx="416966" cy="416966"/>
          </a:xfrm>
          <a:prstGeom prst="rect">
            <a:avLst/>
          </a:prstGeom>
        </p:spPr>
      </p:pic>
      <p:sp>
        <p:nvSpPr>
          <p:cNvPr id="8" name="TextBox 7"/>
          <p:cNvSpPr txBox="1"/>
          <p:nvPr/>
        </p:nvSpPr>
        <p:spPr>
          <a:xfrm>
            <a:off x="670255"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최대 운전</a:t>
            </a:r>
          </a:p>
          <a:p>
            <a:pPr algn="ctr">
              <a:lnSpc>
                <a:spcPct val="110000"/>
              </a:lnSpc>
            </a:pPr>
            <a:r>
              <a:rPr sz="1100" b="0">
                <a:solidFill>
                  <a:srgbClr val="556175"/>
                </a:solidFill>
                <a:latin typeface="맑은 고딕"/>
                <a:ea typeface="맑은 고딕"/>
                <a:cs typeface="맑은 고딕"/>
              </a:rPr>
              <a:t>조치 방법</a:t>
            </a:r>
          </a:p>
        </p:txBody>
      </p:sp>
      <p:sp>
        <p:nvSpPr>
          <p:cNvPr id="9" name="Oval 8"/>
          <p:cNvSpPr/>
          <p:nvPr/>
        </p:nvSpPr>
        <p:spPr>
          <a:xfrm>
            <a:off x="3636468"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0" name="아이콘:list-numbers" descr="list-numbers_13294B_1.6.png"/>
          <p:cNvPicPr>
            <a:picLocks noChangeAspect="1"/>
          </p:cNvPicPr>
          <p:nvPr/>
        </p:nvPicPr>
        <p:blipFill>
          <a:blip r:embed="rId4"/>
          <a:stretch>
            <a:fillRect/>
          </a:stretch>
        </p:blipFill>
        <p:spPr>
          <a:xfrm>
            <a:off x="4296665" y="1870862"/>
            <a:ext cx="416966" cy="416966"/>
          </a:xfrm>
          <a:prstGeom prst="rect">
            <a:avLst/>
          </a:prstGeom>
        </p:spPr>
      </p:pic>
      <p:sp>
        <p:nvSpPr>
          <p:cNvPr id="11" name="TextBox 10"/>
          <p:cNvSpPr txBox="1"/>
          <p:nvPr/>
        </p:nvSpPr>
        <p:spPr>
          <a:xfrm>
            <a:off x="3758083"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2단계</a:t>
            </a:r>
          </a:p>
          <a:p>
            <a:pPr algn="ctr">
              <a:lnSpc>
                <a:spcPct val="110000"/>
              </a:lnSpc>
            </a:pPr>
            <a:r>
              <a:rPr sz="1100" b="0">
                <a:solidFill>
                  <a:srgbClr val="556175"/>
                </a:solidFill>
                <a:latin typeface="맑은 고딕"/>
                <a:ea typeface="맑은 고딕"/>
                <a:cs typeface="맑은 고딕"/>
              </a:rPr>
              <a:t>팬 속도를</a:t>
            </a:r>
          </a:p>
          <a:p>
            <a:pPr algn="ctr">
              <a:lnSpc>
                <a:spcPct val="110000"/>
              </a:lnSpc>
            </a:pPr>
            <a:r>
              <a:rPr sz="1100" b="0">
                <a:solidFill>
                  <a:srgbClr val="556175"/>
                </a:solidFill>
                <a:latin typeface="맑은 고딕"/>
                <a:ea typeface="맑은 고딕"/>
                <a:cs typeface="맑은 고딕"/>
              </a:rPr>
              <a:t>100 %로 올린다</a:t>
            </a:r>
          </a:p>
        </p:txBody>
      </p:sp>
      <p:sp>
        <p:nvSpPr>
          <p:cNvPr id="12" name="Oval 11"/>
          <p:cNvSpPr/>
          <p:nvPr/>
        </p:nvSpPr>
        <p:spPr>
          <a:xfrm>
            <a:off x="6817866" y="1627632"/>
            <a:ext cx="1737360" cy="1737360"/>
          </a:xfrm>
          <a:prstGeom prst="ellipse">
            <a:avLst/>
          </a:prstGeom>
          <a:solidFill>
            <a:srgbClr val="5CB8F2"/>
          </a:solidFill>
          <a:ln w="25400">
            <a:solidFill>
              <a:srgbClr val="13294B"/>
            </a:solidFill>
          </a:ln>
        </p:spPr>
        <p:txBody>
          <a:bodyPr rtlCol="0" anchor="ctr"/>
          <a:lstStyle/>
          <a:p>
            <a:pPr algn="ctr"/>
          </a:p>
        </p:txBody>
      </p:sp>
      <p:pic>
        <p:nvPicPr>
          <p:cNvPr id="13" name="아이콘:file-description" descr="file-description_13294B_1.6.png"/>
          <p:cNvPicPr>
            <a:picLocks noChangeAspect="1"/>
          </p:cNvPicPr>
          <p:nvPr/>
        </p:nvPicPr>
        <p:blipFill>
          <a:blip r:embed="rId5"/>
          <a:stretch>
            <a:fillRect/>
          </a:stretch>
        </p:blipFill>
        <p:spPr>
          <a:xfrm>
            <a:off x="7478063" y="1870862"/>
            <a:ext cx="416966" cy="416966"/>
          </a:xfrm>
          <a:prstGeom prst="rect">
            <a:avLst/>
          </a:prstGeom>
        </p:spPr>
      </p:pic>
      <p:sp>
        <p:nvSpPr>
          <p:cNvPr id="14" name="TextBox 13"/>
          <p:cNvSpPr txBox="1"/>
          <p:nvPr/>
        </p:nvSpPr>
        <p:spPr>
          <a:xfrm>
            <a:off x="6939482"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HM-8.5</a:t>
            </a:r>
          </a:p>
          <a:p>
            <a:pPr algn="ctr">
              <a:lnSpc>
                <a:spcPct val="110000"/>
              </a:lnSpc>
            </a:pPr>
            <a:r>
              <a:rPr sz="1100" b="0">
                <a:solidFill>
                  <a:srgbClr val="556175"/>
                </a:solidFill>
                <a:latin typeface="맑은 고딕"/>
                <a:ea typeface="맑은 고딕"/>
                <a:cs typeface="맑은 고딕"/>
              </a:rPr>
              <a:t>매뉴얼 절</a:t>
            </a:r>
          </a:p>
          <a:p>
            <a:pPr algn="ctr">
              <a:lnSpc>
                <a:spcPct val="110000"/>
              </a:lnSpc>
            </a:pPr>
            <a:r>
              <a:rPr sz="1100" b="0">
                <a:solidFill>
                  <a:srgbClr val="556175"/>
                </a:solidFill>
                <a:latin typeface="맑은 고딕"/>
                <a:ea typeface="맑은 고딕"/>
                <a:cs typeface="맑은 고딕"/>
              </a:rPr>
              <a:t>즉시 완화 조치</a:t>
            </a:r>
          </a:p>
        </p:txBody>
      </p:sp>
      <p:sp>
        <p:nvSpPr>
          <p:cNvPr id="15" name="Oval 14"/>
          <p:cNvSpPr/>
          <p:nvPr/>
        </p:nvSpPr>
        <p:spPr>
          <a:xfrm>
            <a:off x="9905695"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6" name="아이콘:book-2" descr="book-2_13294B_1.6.png"/>
          <p:cNvPicPr>
            <a:picLocks noChangeAspect="1"/>
          </p:cNvPicPr>
          <p:nvPr/>
        </p:nvPicPr>
        <p:blipFill>
          <a:blip r:embed="rId6"/>
          <a:stretch>
            <a:fillRect/>
          </a:stretch>
        </p:blipFill>
        <p:spPr>
          <a:xfrm>
            <a:off x="10565892" y="1870862"/>
            <a:ext cx="416966" cy="416966"/>
          </a:xfrm>
          <a:prstGeom prst="rect">
            <a:avLst/>
          </a:prstGeom>
        </p:spPr>
      </p:pic>
      <p:sp>
        <p:nvSpPr>
          <p:cNvPr id="17" name="TextBox 16"/>
          <p:cNvSpPr txBox="1"/>
          <p:nvPr/>
        </p:nvSpPr>
        <p:spPr>
          <a:xfrm>
            <a:off x="10027310"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HM-8</a:t>
            </a:r>
          </a:p>
          <a:p>
            <a:pPr algn="ctr">
              <a:lnSpc>
                <a:spcPct val="110000"/>
              </a:lnSpc>
            </a:pPr>
            <a:r>
              <a:rPr sz="1100" b="0">
                <a:solidFill>
                  <a:srgbClr val="556175"/>
                </a:solidFill>
                <a:latin typeface="맑은 고딕"/>
                <a:ea typeface="맑은 고딕"/>
                <a:cs typeface="맑은 고딕"/>
              </a:rPr>
              <a:t>문서</a:t>
            </a:r>
          </a:p>
          <a:p>
            <a:pPr algn="ctr">
              <a:lnSpc>
                <a:spcPct val="110000"/>
              </a:lnSpc>
            </a:pPr>
            <a:r>
              <a:rPr sz="1100" b="0">
                <a:solidFill>
                  <a:srgbClr val="556175"/>
                </a:solidFill>
                <a:latin typeface="맑은 고딕"/>
                <a:ea typeface="맑은 고딕"/>
                <a:cs typeface="맑은 고딕"/>
              </a:rPr>
              <a:t>쿨러 팬 정비 매뉴얼</a:t>
            </a:r>
          </a:p>
        </p:txBody>
      </p:sp>
      <p:sp>
        <p:nvSpPr>
          <p:cNvPr id="18" name="Oval 17"/>
          <p:cNvSpPr/>
          <p:nvPr/>
        </p:nvSpPr>
        <p:spPr>
          <a:xfrm>
            <a:off x="6817866" y="4617720"/>
            <a:ext cx="1737360" cy="1737360"/>
          </a:xfrm>
          <a:prstGeom prst="ellipse">
            <a:avLst/>
          </a:prstGeom>
          <a:solidFill>
            <a:srgbClr val="E7F3FD"/>
          </a:solidFill>
          <a:ln w="25400">
            <a:solidFill>
              <a:srgbClr val="5CB8F2"/>
            </a:solidFill>
          </a:ln>
        </p:spPr>
        <p:txBody>
          <a:bodyPr rtlCol="0" anchor="ctr"/>
          <a:lstStyle/>
          <a:p>
            <a:pPr algn="ctr"/>
          </a:p>
        </p:txBody>
      </p:sp>
      <p:pic>
        <p:nvPicPr>
          <p:cNvPr id="19" name="아이콘:list-check" descr="list-check_13294B_1.6.png"/>
          <p:cNvPicPr>
            <a:picLocks noChangeAspect="1"/>
          </p:cNvPicPr>
          <p:nvPr/>
        </p:nvPicPr>
        <p:blipFill>
          <a:blip r:embed="rId7"/>
          <a:stretch>
            <a:fillRect/>
          </a:stretch>
        </p:blipFill>
        <p:spPr>
          <a:xfrm>
            <a:off x="7478063" y="4860950"/>
            <a:ext cx="416966" cy="416966"/>
          </a:xfrm>
          <a:prstGeom prst="rect">
            <a:avLst/>
          </a:prstGeom>
        </p:spPr>
      </p:pic>
      <p:sp>
        <p:nvSpPr>
          <p:cNvPr id="20" name="TextBox 19"/>
          <p:cNvSpPr txBox="1"/>
          <p:nvPr/>
        </p:nvSpPr>
        <p:spPr>
          <a:xfrm>
            <a:off x="6939482" y="5312664"/>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후보 선택 규칙</a:t>
            </a:r>
          </a:p>
          <a:p>
            <a:pPr algn="ctr">
              <a:lnSpc>
                <a:spcPct val="110000"/>
              </a:lnSpc>
            </a:pPr>
            <a:r>
              <a:rPr sz="1100" b="0">
                <a:solidFill>
                  <a:srgbClr val="556175"/>
                </a:solidFill>
                <a:latin typeface="맑은 고딕"/>
                <a:ea typeface="맑은 고딕"/>
                <a:cs typeface="맑은 고딕"/>
              </a:rPr>
              <a:t>냉각 성능 상실의</a:t>
            </a:r>
          </a:p>
          <a:p>
            <a:pPr algn="ctr">
              <a:lnSpc>
                <a:spcPct val="110000"/>
              </a:lnSpc>
            </a:pPr>
            <a:r>
              <a:rPr sz="1100" b="0">
                <a:solidFill>
                  <a:srgbClr val="556175"/>
                </a:solidFill>
                <a:latin typeface="맑은 고딕"/>
                <a:ea typeface="맑은 고딕"/>
                <a:cs typeface="맑은 고딕"/>
              </a:rPr>
              <a:t>완화 후보</a:t>
            </a:r>
          </a:p>
        </p:txBody>
      </p:sp>
      <p:cxnSp>
        <p:nvCxnSpPr>
          <p:cNvPr id="21" name="Connector 20"/>
          <p:cNvCxnSpPr/>
          <p:nvPr/>
        </p:nvCxnSpPr>
        <p:spPr>
          <a:xfrm>
            <a:off x="2331720" y="2496312"/>
            <a:ext cx="1231596" cy="0"/>
          </a:xfrm>
          <a:prstGeom prst="line">
            <a:avLst/>
          </a:prstGeom>
          <a:ln w="28575">
            <a:solidFill>
              <a:srgbClr val="13294B"/>
            </a:solidFill>
            <a:tailEnd type="triangle" w="med" len="med"/>
          </a:ln>
        </p:spPr>
      </p:cxnSp>
      <p:sp>
        <p:nvSpPr>
          <p:cNvPr id="22" name="Rounded Rectangle 21"/>
          <p:cNvSpPr/>
          <p:nvPr/>
        </p:nvSpPr>
        <p:spPr>
          <a:xfrm>
            <a:off x="2391574" y="2130552"/>
            <a:ext cx="111188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2391574" y="2130552"/>
            <a:ext cx="111188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HAS_STEP</a:t>
            </a:r>
          </a:p>
        </p:txBody>
      </p:sp>
      <p:cxnSp>
        <p:nvCxnSpPr>
          <p:cNvPr id="24" name="Connector 23"/>
          <p:cNvCxnSpPr/>
          <p:nvPr/>
        </p:nvCxnSpPr>
        <p:spPr>
          <a:xfrm>
            <a:off x="5419548" y="2496312"/>
            <a:ext cx="1325166" cy="0"/>
          </a:xfrm>
          <a:prstGeom prst="line">
            <a:avLst/>
          </a:prstGeom>
          <a:ln w="28575">
            <a:solidFill>
              <a:srgbClr val="13294B"/>
            </a:solidFill>
            <a:tailEnd type="triangle" w="med" len="med"/>
          </a:ln>
        </p:spPr>
      </p:cxnSp>
      <p:sp>
        <p:nvSpPr>
          <p:cNvPr id="25" name="Rounded Rectangle 24"/>
          <p:cNvSpPr/>
          <p:nvPr/>
        </p:nvSpPr>
        <p:spPr>
          <a:xfrm>
            <a:off x="5472762" y="2130552"/>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5472762" y="2130552"/>
            <a:ext cx="12187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REFERS_TO</a:t>
            </a:r>
          </a:p>
        </p:txBody>
      </p:sp>
      <p:cxnSp>
        <p:nvCxnSpPr>
          <p:cNvPr id="27" name="Connector 26"/>
          <p:cNvCxnSpPr/>
          <p:nvPr/>
        </p:nvCxnSpPr>
        <p:spPr>
          <a:xfrm>
            <a:off x="8600946" y="2496312"/>
            <a:ext cx="1231597" cy="0"/>
          </a:xfrm>
          <a:prstGeom prst="line">
            <a:avLst/>
          </a:prstGeom>
          <a:ln w="28575">
            <a:solidFill>
              <a:srgbClr val="13294B"/>
            </a:solidFill>
            <a:tailEnd type="triangle" w="med" len="med"/>
          </a:ln>
        </p:spPr>
      </p:cxnSp>
      <p:sp>
        <p:nvSpPr>
          <p:cNvPr id="28" name="Rounded Rectangle 27"/>
          <p:cNvSpPr/>
          <p:nvPr/>
        </p:nvSpPr>
        <p:spPr>
          <a:xfrm>
            <a:off x="8714226" y="2130552"/>
            <a:ext cx="10050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9" name="TextBox 28"/>
          <p:cNvSpPr txBox="1"/>
          <p:nvPr/>
        </p:nvSpPr>
        <p:spPr>
          <a:xfrm>
            <a:off x="8714226" y="2130552"/>
            <a:ext cx="10050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PART_OF</a:t>
            </a:r>
          </a:p>
        </p:txBody>
      </p:sp>
      <p:cxnSp>
        <p:nvCxnSpPr>
          <p:cNvPr id="30" name="Connector 29"/>
          <p:cNvCxnSpPr/>
          <p:nvPr/>
        </p:nvCxnSpPr>
        <p:spPr>
          <a:xfrm flipV="1">
            <a:off x="7686546" y="3438144"/>
            <a:ext cx="0" cy="1133856"/>
          </a:xfrm>
          <a:prstGeom prst="line">
            <a:avLst/>
          </a:prstGeom>
          <a:ln w="28575">
            <a:solidFill>
              <a:srgbClr val="13294B"/>
            </a:solidFill>
            <a:tailEnd type="triangle" w="med" len="med"/>
          </a:ln>
        </p:spPr>
      </p:cxnSp>
      <p:sp>
        <p:nvSpPr>
          <p:cNvPr id="31" name="Rounded Rectangle 30"/>
          <p:cNvSpPr/>
          <p:nvPr/>
        </p:nvSpPr>
        <p:spPr>
          <a:xfrm>
            <a:off x="7777986" y="3858768"/>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2" name="TextBox 31"/>
          <p:cNvSpPr txBox="1"/>
          <p:nvPr/>
        </p:nvSpPr>
        <p:spPr>
          <a:xfrm>
            <a:off x="7777986" y="3858768"/>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DERIVED_FROM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검색해 참고하는 방식(RAG)과 구조화해 등록하는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「운전 모드가 원격 수동일 때 팬 최대 운전을 써도 되는가」에 두 방식은 해석과 판정이라는 다른 길로 답한다.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file-search" descr="file-search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검색해 참고한다: RAG</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Retrieval-Augmented Generation. 질문과 가까운 문서 조각을 찾아 모델이 읽고 문장으로 답한다</a:t>
            </a:r>
          </a:p>
          <a:p>
            <a:pPr algn="l">
              <a:lnSpc>
                <a:spcPct val="110000"/>
              </a:lnSpc>
              <a:spcAft>
                <a:spcPts val="600"/>
              </a:spcAft>
            </a:pPr>
            <a:r>
              <a:rPr sz="1450" b="0">
                <a:solidFill>
                  <a:srgbClr val="1F2A3A"/>
                </a:solidFill>
                <a:latin typeface="맑은 고딕"/>
                <a:ea typeface="맑은 고딕"/>
                <a:cs typeface="맑은 고딕"/>
              </a:rPr>
              <a:t>• 문서를 그대로 쓰므로 준비가 빠르고 넓은 범위의 질문에 답할 수 있다</a:t>
            </a:r>
          </a:p>
          <a:p>
            <a:pPr algn="l">
              <a:lnSpc>
                <a:spcPct val="110000"/>
              </a:lnSpc>
              <a:spcAft>
                <a:spcPts val="600"/>
              </a:spcAft>
            </a:pPr>
            <a:r>
              <a:rPr sz="1450" b="0">
                <a:solidFill>
                  <a:srgbClr val="1F2A3A"/>
                </a:solidFill>
                <a:latin typeface="맑은 고딕"/>
                <a:ea typeface="맑은 고딕"/>
                <a:cs typeface="맑은 고딕"/>
              </a:rPr>
              <a:t>• 「REMOTE_AUTO가 아닐 때 쓰지 않는다」가 든 조각을 찾아 지금의 운전 모드와 견주어 답한다</a:t>
            </a:r>
          </a:p>
          <a:p>
            <a:pPr algn="l">
              <a:lnSpc>
                <a:spcPct val="110000"/>
              </a:lnSpc>
              <a:spcAft>
                <a:spcPts val="600"/>
              </a:spcAft>
            </a:pPr>
            <a:r>
              <a:rPr sz="1450" b="0">
                <a:solidFill>
                  <a:srgbClr val="1F2A3A"/>
                </a:solidFill>
                <a:latin typeface="맑은 고딕"/>
                <a:ea typeface="맑은 고딕"/>
                <a:cs typeface="맑은 고딕"/>
              </a:rPr>
              <a:t>• 해석은 답할 때마다 모델이 한다</a:t>
            </a:r>
          </a:p>
        </p:txBody>
      </p:sp>
      <p:sp>
        <p:nvSpPr>
          <p:cNvPr id="11" name="Rounded Rectangle 10"/>
          <p:cNvSpPr/>
          <p:nvPr/>
        </p:nvSpPr>
        <p:spPr>
          <a:xfrm>
            <a:off x="868680" y="5547296"/>
            <a:ext cx="16763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그때 읽고 해석한다</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schema" descr="schema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구조화해 등록한다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그 문장이 검토를 거쳐 제외 규칙으로 등록되어 있다</a:t>
            </a:r>
          </a:p>
          <a:p>
            <a:pPr algn="l">
              <a:lnSpc>
                <a:spcPct val="110000"/>
              </a:lnSpc>
              <a:spcAft>
                <a:spcPts val="600"/>
              </a:spcAft>
            </a:pPr>
            <a:r>
              <a:rPr sz="1450" b="0">
                <a:solidFill>
                  <a:srgbClr val="1F2A3A"/>
                </a:solidFill>
                <a:latin typeface="맑은 고딕"/>
                <a:ea typeface="맑은 고딕"/>
                <a:cs typeface="맑은 고딕"/>
              </a:rPr>
              <a:t>• 운전 모드의 값을 읽어 규칙의 조건과 비교한다</a:t>
            </a:r>
          </a:p>
          <a:p>
            <a:pPr algn="l">
              <a:lnSpc>
                <a:spcPct val="110000"/>
              </a:lnSpc>
              <a:spcAft>
                <a:spcPts val="600"/>
              </a:spcAft>
            </a:pPr>
            <a:r>
              <a:rPr sz="1450" b="0">
                <a:solidFill>
                  <a:srgbClr val="1F2A3A"/>
                </a:solidFill>
                <a:latin typeface="맑은 고딕"/>
                <a:ea typeface="맑은 고딕"/>
                <a:cs typeface="맑은 고딕"/>
              </a:rPr>
              <a:t>• 같은 운전 모드이면 언제나 같은 결과가 나온다</a:t>
            </a:r>
          </a:p>
        </p:txBody>
      </p:sp>
      <p:sp>
        <p:nvSpPr>
          <p:cNvPr id="18" name="Rounded Rectangle 17"/>
          <p:cNvSpPr/>
          <p:nvPr/>
        </p:nvSpPr>
        <p:spPr>
          <a:xfrm>
            <a:off x="6781647" y="5547296"/>
            <a:ext cx="21335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21335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등록된 규칙으로 판정한다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지식과 값: 잘 바뀌지 않는 것과 계속 변하는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지식 그래프에 복사하면 원천과 어긋나 판단이 지난 값을 보므로, 지식만 등록하고 값은 원천에서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book-2" descr="book-2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원인, 절차, 규칙, 기준</a:t>
            </a:r>
          </a:p>
          <a:p>
            <a:pPr algn="l">
              <a:lnSpc>
                <a:spcPct val="110000"/>
              </a:lnSpc>
              <a:spcAft>
                <a:spcPts val="600"/>
              </a:spcAft>
            </a:pPr>
            <a:r>
              <a:rPr sz="1450" b="0">
                <a:solidFill>
                  <a:srgbClr val="1F2A3A"/>
                </a:solidFill>
                <a:latin typeface="맑은 고딕"/>
                <a:ea typeface="맑은 고딕"/>
                <a:cs typeface="맑은 고딕"/>
              </a:rPr>
              <a:t>• 문서가 개정될 때만 바뀐다</a:t>
            </a:r>
          </a:p>
          <a:p>
            <a:pPr algn="l">
              <a:lnSpc>
                <a:spcPct val="110000"/>
              </a:lnSpc>
              <a:spcAft>
                <a:spcPts val="600"/>
              </a:spcAft>
            </a:pPr>
            <a:r>
              <a:rPr sz="1450" b="0">
                <a:solidFill>
                  <a:srgbClr val="1F2A3A"/>
                </a:solidFill>
                <a:latin typeface="맑은 고딕"/>
                <a:ea typeface="맑은 고딕"/>
                <a:cs typeface="맑은 고딕"/>
              </a:rPr>
              <a:t>• 지식 그래프에 등록한다</a:t>
            </a:r>
          </a:p>
        </p:txBody>
      </p:sp>
      <p:sp>
        <p:nvSpPr>
          <p:cNvPr id="11" name="Rounded Rectangle 10"/>
          <p:cNvSpPr/>
          <p:nvPr/>
        </p:nvSpPr>
        <p:spPr>
          <a:xfrm>
            <a:off x="868680" y="5547296"/>
            <a:ext cx="11277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1277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안정적이다</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activity" descr="activity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값</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센서 값, 재고, 운전시간</a:t>
            </a:r>
          </a:p>
          <a:p>
            <a:pPr algn="l">
              <a:lnSpc>
                <a:spcPct val="110000"/>
              </a:lnSpc>
              <a:spcAft>
                <a:spcPts val="600"/>
              </a:spcAft>
            </a:pPr>
            <a:r>
              <a:rPr sz="1450" b="0">
                <a:solidFill>
                  <a:srgbClr val="1F2A3A"/>
                </a:solidFill>
                <a:latin typeface="맑은 고딕"/>
                <a:ea typeface="맑은 고딕"/>
                <a:cs typeface="맑은 고딕"/>
              </a:rPr>
              <a:t>• 매초, 또는 업무가 일어날 때마다 바뀐다</a:t>
            </a:r>
          </a:p>
          <a:p>
            <a:pPr algn="l">
              <a:lnSpc>
                <a:spcPct val="110000"/>
              </a:lnSpc>
              <a:spcAft>
                <a:spcPts val="600"/>
              </a:spcAft>
            </a:pPr>
            <a:r>
              <a:rPr sz="1450" b="0">
                <a:solidFill>
                  <a:srgbClr val="1F2A3A"/>
                </a:solidFill>
                <a:latin typeface="맑은 고딕"/>
                <a:ea typeface="맑은 고딕"/>
                <a:cs typeface="맑은 고딕"/>
              </a:rPr>
              <a:t>• 지식 그래프에 복사하면 넣은 순간부터 원천과 어긋난다</a:t>
            </a:r>
          </a:p>
          <a:p>
            <a:pPr algn="l">
              <a:lnSpc>
                <a:spcPct val="110000"/>
              </a:lnSpc>
              <a:spcAft>
                <a:spcPts val="600"/>
              </a:spcAft>
            </a:pPr>
            <a:r>
              <a:rPr sz="1450" b="0">
                <a:solidFill>
                  <a:srgbClr val="1F2A3A"/>
                </a:solidFill>
                <a:latin typeface="맑은 고딕"/>
                <a:ea typeface="맑은 고딕"/>
                <a:cs typeface="맑은 고딕"/>
              </a:rPr>
              <a:t>• 예: 쿨러 사건의 유온은 2분이 안 되어 6 ℃ 올랐다</a:t>
            </a:r>
          </a:p>
          <a:p>
            <a:pPr algn="l">
              <a:lnSpc>
                <a:spcPct val="110000"/>
              </a:lnSpc>
              <a:spcAft>
                <a:spcPts val="600"/>
              </a:spcAft>
            </a:pPr>
            <a:r>
              <a:rPr sz="1450" b="0">
                <a:solidFill>
                  <a:srgbClr val="1F2A3A"/>
                </a:solidFill>
                <a:latin typeface="맑은 고딕"/>
                <a:ea typeface="맑은 고딕"/>
                <a:cs typeface="맑은 고딕"/>
              </a:rPr>
              <a:t>• 시계열 DB와 업무 DB에 두고 판단하는 순간에 읽는다</a:t>
            </a:r>
          </a:p>
        </p:txBody>
      </p:sp>
      <p:sp>
        <p:nvSpPr>
          <p:cNvPr id="18" name="Rounded Rectangle 17"/>
          <p:cNvSpPr/>
          <p:nvPr/>
        </p:nvSpPr>
        <p:spPr>
          <a:xfrm>
            <a:off x="6781647" y="554729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계속 변한다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대상별로 본 지식과 값의 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대상에도 지식과 값이 짝으로 있으며, 기준은 지식 그래프에 있고 그 기준에 댈 값은 원천에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대상</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지식 그래프에 두는 지식</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시점에 읽는 값</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설비</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유온의 정상값 48 ℃와 한계 65 ℃</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지금의 유온 TS1</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원인과 증거</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 평균이 70 % 미만이면 핀 오염으로 본다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최근 30초의 효율 평균</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조치와 규칙</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팬 100 % 연속 운전이 24시간을 넘으면 감점한다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지금까지의 연속 운전 시간</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업무</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납기와 재고가 판단의 입력이라는 정의</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남은 납기 시간, 재고 수량</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지식에 적힌 읽는 방법과 판단 시점의 조회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지식에 값 대신 읽는 방법을 적어 두어야 판단하는 순간 조회문으로 원천의 지금 값을 읽어 기준과 비교한다.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그래프의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증거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a:t>
            </a:r>
            <a:r>
              <a:rPr sz="1300" b="0">
                <a:solidFill>
                  <a:srgbClr val="E8EEF6"/>
                </a:solidFill>
                <a:latin typeface="Consolas"/>
                <a:ea typeface="맑은 고딕"/>
                <a:cs typeface="맑은 고딕"/>
              </a:rPr>
              <a:t> 70 % </a:t>
            </a:r>
            <a:r>
              <a:rPr sz="1300" b="0">
                <a:solidFill>
                  <a:srgbClr val="E8EEF6"/>
                </a:solidFill>
                <a:latin typeface="맑은 고딕"/>
                <a:ea typeface="맑은 고딕"/>
                <a:cs typeface="맑은 고딕"/>
              </a:rPr>
              <a:t>미만</a:t>
            </a:r>
          </a:p>
          <a:p>
            <a:pPr algn="l">
              <a:lnSpc>
                <a:spcPct val="110000"/>
              </a:lnSpc>
              <a:spcAft>
                <a:spcPts val="200"/>
              </a:spcAft>
            </a:pPr>
            <a:r>
              <a:rPr sz="1300" b="0">
                <a:solidFill>
                  <a:srgbClr val="E8EEF6"/>
                </a:solidFill>
                <a:latin typeface="Consolas"/>
                <a:ea typeface="맑은 고딕"/>
                <a:cs typeface="맑은 고딕"/>
              </a:rPr>
              <a:t>{"tag": "CE",</a:t>
            </a:r>
          </a:p>
          <a:p>
            <a:pPr algn="l">
              <a:lnSpc>
                <a:spcPct val="110000"/>
              </a:lnSpc>
              <a:spcAft>
                <a:spcPts val="200"/>
              </a:spcAft>
            </a:pPr>
            <a:r>
              <a:rPr sz="1300" b="0">
                <a:solidFill>
                  <a:srgbClr val="E8EEF6"/>
                </a:solidFill>
                <a:latin typeface="Consolas"/>
                <a:ea typeface="맑은 고딕"/>
                <a:cs typeface="맑은 고딕"/>
              </a:rPr>
              <a:t> "aggregate": "avg", "window_seconds": 30,</a:t>
            </a:r>
          </a:p>
          <a:p>
            <a:pPr algn="l">
              <a:lnSpc>
                <a:spcPct val="110000"/>
              </a:lnSpc>
              <a:spcAft>
                <a:spcPts val="200"/>
              </a:spcAft>
            </a:pPr>
            <a:r>
              <a:rPr sz="1300" b="0">
                <a:solidFill>
                  <a:srgbClr val="E8EEF6"/>
                </a:solidFill>
                <a:latin typeface="Consolas"/>
                <a:ea typeface="맑은 고딕"/>
                <a:cs typeface="맑은 고딕"/>
              </a:rPr>
              <a:t> "expect": "lt", "threshold": 70}</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시점에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시계열</a:t>
            </a:r>
            <a:r>
              <a:rPr sz="1300" b="0">
                <a:solidFill>
                  <a:srgbClr val="E8EEF6"/>
                </a:solidFill>
                <a:latin typeface="Consolas"/>
                <a:ea typeface="맑은 고딕"/>
                <a:cs typeface="맑은 고딕"/>
              </a:rPr>
              <a:t> DB</a:t>
            </a:r>
            <a:r>
              <a:rPr sz="1300" b="0">
                <a:solidFill>
                  <a:srgbClr val="E8EEF6"/>
                </a:solidFill>
                <a:latin typeface="맑은 고딕"/>
                <a:ea typeface="맑은 고딕"/>
                <a:cs typeface="맑은 고딕"/>
              </a:rPr>
              <a:t>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실행하는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조회문</a:t>
            </a:r>
          </a:p>
          <a:p>
            <a:pPr algn="l">
              <a:lnSpc>
                <a:spcPct val="110000"/>
              </a:lnSpc>
              <a:spcAft>
                <a:spcPts val="200"/>
              </a:spcAft>
            </a:pPr>
            <a:r>
              <a:rPr sz="1300" b="0">
                <a:solidFill>
                  <a:srgbClr val="E8EEF6"/>
                </a:solidFill>
                <a:latin typeface="Consolas"/>
                <a:ea typeface="맑은 고딕"/>
                <a:cs typeface="맑은 고딕"/>
              </a:rPr>
              <a:t>SELECT avg(value) FROM tag_1s</a:t>
            </a:r>
          </a:p>
          <a:p>
            <a:pPr algn="l">
              <a:lnSpc>
                <a:spcPct val="110000"/>
              </a:lnSpc>
              <a:spcAft>
                <a:spcPts val="200"/>
              </a:spcAft>
            </a:pPr>
            <a:r>
              <a:rPr sz="1300" b="0">
                <a:solidFill>
                  <a:srgbClr val="E8EEF6"/>
                </a:solidFill>
                <a:latin typeface="Consolas"/>
                <a:ea typeface="맑은 고딕"/>
                <a:cs typeface="맑은 고딕"/>
              </a:rPr>
              <a:t> WHERE asset = 'HYD-01' AND name = 'CE'</a:t>
            </a:r>
          </a:p>
          <a:p>
            <a:pPr algn="l">
              <a:lnSpc>
                <a:spcPct val="110000"/>
              </a:lnSpc>
              <a:spcAft>
                <a:spcPts val="200"/>
              </a:spcAft>
            </a:pPr>
            <a:r>
              <a:rPr sz="1300" b="0">
                <a:solidFill>
                  <a:srgbClr val="E8EEF6"/>
                </a:solidFill>
                <a:latin typeface="Consolas"/>
                <a:ea typeface="맑은 고딕"/>
                <a:cs typeface="맑은 고딕"/>
              </a:rPr>
              <a:t>   AND time &gt; now() - interval '30 seconds'</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a:t>
            </a:r>
          </a:p>
          <a:p>
            <a:pPr algn="l">
              <a:lnSpc>
                <a:spcPct val="110000"/>
              </a:lnSpc>
              <a:spcAft>
                <a:spcPts val="200"/>
              </a:spcAft>
            </a:pPr>
            <a:r>
              <a:rPr sz="1300" b="0">
                <a:solidFill>
                  <a:srgbClr val="E8EEF6"/>
                </a:solidFill>
                <a:latin typeface="Consolas"/>
                <a:ea typeface="맑은 고딕"/>
                <a:cs typeface="맑은 고딕"/>
              </a:rPr>
              <a:t>46.2 &lt; 70  (</a:t>
            </a:r>
            <a:r>
              <a:rPr sz="1300" b="0">
                <a:solidFill>
                  <a:srgbClr val="E8EEF6"/>
                </a:solidFill>
                <a:latin typeface="맑은 고딕"/>
                <a:ea typeface="맑은 고딕"/>
                <a:cs typeface="맑은 고딕"/>
              </a:rPr>
              <a:t>증거가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성립한다</a:t>
            </a:r>
            <a:r>
              <a:rPr sz="1300" b="0">
                <a:solidFill>
                  <a:srgbClr val="E8EEF6"/>
                </a:solidFill>
                <a:latin typeface="Consolas"/>
                <a:ea typeface="맑은 고딕"/>
                <a:cs typeface="맑은 고딕"/>
              </a:rPr>
              <a:t>)</a:t>
            </a:r>
          </a:p>
        </p:txBody>
      </p:sp>
      <p:sp>
        <p:nvSpPr>
          <p:cNvPr id="8" name="TextBox 7"/>
          <p:cNvSpPr txBox="1"/>
          <p:nvPr/>
        </p:nvSpPr>
        <p:spPr>
          <a:xfrm>
            <a:off x="7635240" y="1665478"/>
            <a:ext cx="4007815" cy="1162938"/>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tag · aggregate · window_seconds</a:t>
            </a:r>
          </a:p>
          <a:p>
            <a:pPr algn="l">
              <a:lnSpc>
                <a:spcPct val="110000"/>
              </a:lnSpc>
              <a:spcAft>
                <a:spcPts val="400"/>
              </a:spcAft>
            </a:pPr>
            <a:r>
              <a:rPr sz="1400" b="0">
                <a:solidFill>
                  <a:srgbClr val="1F2A3A"/>
                </a:solidFill>
                <a:latin typeface="맑은 고딕"/>
                <a:ea typeface="맑은 고딕"/>
                <a:cs typeface="맑은 고딕"/>
              </a:rPr>
              <a:t>읽을 값은 냉각 효율 CE이고 최근 30초의 평균을 낸다.</a:t>
            </a:r>
          </a:p>
        </p:txBody>
      </p:sp>
      <p:sp>
        <p:nvSpPr>
          <p:cNvPr id="9" name="TextBox 8"/>
          <p:cNvSpPr txBox="1"/>
          <p:nvPr/>
        </p:nvSpPr>
        <p:spPr>
          <a:xfrm>
            <a:off x="7635240" y="2828417"/>
            <a:ext cx="4007815" cy="1162938"/>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expect · threshold</a:t>
            </a:r>
          </a:p>
          <a:p>
            <a:pPr algn="l">
              <a:lnSpc>
                <a:spcPct val="110000"/>
              </a:lnSpc>
              <a:spcAft>
                <a:spcPts val="400"/>
              </a:spcAft>
            </a:pPr>
            <a:r>
              <a:rPr sz="1400" b="0">
                <a:solidFill>
                  <a:srgbClr val="1F2A3A"/>
                </a:solidFill>
                <a:latin typeface="맑은 고딕"/>
                <a:ea typeface="맑은 고딕"/>
                <a:cs typeface="맑은 고딕"/>
              </a:rPr>
              <a:t>70보다 작은지를 본다. 여기에 지금의 값은 없다.</a:t>
            </a:r>
          </a:p>
        </p:txBody>
      </p:sp>
      <p:sp>
        <p:nvSpPr>
          <p:cNvPr id="10" name="TextBox 9"/>
          <p:cNvSpPr txBox="1"/>
          <p:nvPr/>
        </p:nvSpPr>
        <p:spPr>
          <a:xfrm>
            <a:off x="7635240" y="3991356"/>
            <a:ext cx="4007815" cy="1162938"/>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SQL</a:t>
            </a:r>
          </a:p>
          <a:p>
            <a:pPr algn="l">
              <a:lnSpc>
                <a:spcPct val="110000"/>
              </a:lnSpc>
              <a:spcAft>
                <a:spcPts val="400"/>
              </a:spcAft>
            </a:pPr>
            <a:r>
              <a:rPr sz="1400" b="0">
                <a:solidFill>
                  <a:srgbClr val="1F2A3A"/>
                </a:solidFill>
                <a:latin typeface="맑은 고딕"/>
                <a:ea typeface="맑은 고딕"/>
                <a:cs typeface="맑은 고딕"/>
              </a:rPr>
              <a:t>Structured Query Language. 데이터베이스에 조회를 요청하는 언어이다. 증거의 태그 이름 CE가 시계열 DB에 쌓인 값의 이름 CE와 같다.</a:t>
            </a:r>
          </a:p>
        </p:txBody>
      </p:sp>
      <p:sp>
        <p:nvSpPr>
          <p:cNvPr id="11" name="TextBox 10"/>
          <p:cNvSpPr txBox="1"/>
          <p:nvPr/>
        </p:nvSpPr>
        <p:spPr>
          <a:xfrm>
            <a:off x="7635240" y="5154295"/>
            <a:ext cx="4007815" cy="1162938"/>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읽은 값</a:t>
            </a:r>
          </a:p>
          <a:p>
            <a:pPr algn="l">
              <a:lnSpc>
                <a:spcPct val="110000"/>
              </a:lnSpc>
              <a:spcAft>
                <a:spcPts val="400"/>
              </a:spcAft>
            </a:pPr>
            <a:r>
              <a:rPr sz="1400" b="0">
                <a:solidFill>
                  <a:srgbClr val="1F2A3A"/>
                </a:solidFill>
                <a:latin typeface="맑은 고딕"/>
                <a:ea typeface="맑은 고딕"/>
                <a:cs typeface="맑은 고딕"/>
              </a:rPr>
              <a:t>쿨러 사건에서 읽은 냉각 효율 평균은 46.2였다.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업무 데이터베이스의 등록: 값이 아니라 값의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업무 데이터베이스는 행의 값을 옮기지 않고, 값이 어느 표의 어느 열에 있는지를 입력 데이터로 등록한다.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pic>
        <p:nvPicPr>
          <p:cNvPr id="6" name="삽화:입력데이터_자리.svg" descr="illust_8364716785438281539_179171549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932094" y="1745818"/>
            <a:ext cx="370922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값의 자리: 어느 표의 어느 열인가</a:t>
            </a:r>
          </a:p>
        </p:txBody>
      </p:sp>
      <p:sp>
        <p:nvSpPr>
          <p:cNvPr id="8" name="TextBox 7"/>
          <p:cNvSpPr txBox="1"/>
          <p:nvPr/>
        </p:nvSpPr>
        <p:spPr>
          <a:xfrm>
            <a:off x="935656" y="5622325"/>
            <a:ext cx="414560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DB의 표</a:t>
            </a:r>
          </a:p>
          <a:p>
            <a:pPr algn="ctr">
              <a:lnSpc>
                <a:spcPct val="110000"/>
              </a:lnSpc>
              <a:spcAft>
                <a:spcPts val="100"/>
              </a:spcAft>
            </a:pPr>
            <a:r>
              <a:rPr sz="1300" b="0">
                <a:solidFill>
                  <a:srgbClr val="556175"/>
                </a:solidFill>
                <a:latin typeface="맑은 고딕"/>
                <a:ea typeface="맑은 고딕"/>
                <a:cs typeface="맑은 고딕"/>
              </a:rPr>
              <a:t>정비 계수기 표의 운전시간 열</a:t>
            </a:r>
          </a:p>
          <a:p>
            <a:pPr algn="ctr">
              <a:lnSpc>
                <a:spcPct val="110000"/>
              </a:lnSpc>
              <a:spcAft>
                <a:spcPts val="100"/>
              </a:spcAft>
            </a:pPr>
            <a:r>
              <a:rPr sz="1300" b="0">
                <a:solidFill>
                  <a:srgbClr val="556175"/>
                </a:solidFill>
                <a:latin typeface="맑은 고딕"/>
                <a:ea typeface="맑은 고딕"/>
                <a:cs typeface="맑은 고딕"/>
              </a:rPr>
              <a:t>값은 이 표에 그대로 있다</a:t>
            </a:r>
          </a:p>
        </p:txBody>
      </p:sp>
      <p:sp>
        <p:nvSpPr>
          <p:cNvPr id="9" name="TextBox 8"/>
          <p:cNvSpPr txBox="1"/>
          <p:nvPr/>
        </p:nvSpPr>
        <p:spPr>
          <a:xfrm>
            <a:off x="8114104" y="2194925"/>
            <a:ext cx="229099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정기 정비 도래</a:t>
            </a:r>
          </a:p>
          <a:p>
            <a:pPr algn="ctr">
              <a:lnSpc>
                <a:spcPct val="110000"/>
              </a:lnSpc>
              <a:spcAft>
                <a:spcPts val="100"/>
              </a:spcAft>
            </a:pPr>
            <a:r>
              <a:rPr sz="1300" b="0">
                <a:solidFill>
                  <a:srgbClr val="556175"/>
                </a:solidFill>
                <a:latin typeface="맑은 고딕"/>
                <a:ea typeface="맑은 고딕"/>
                <a:cs typeface="맑은 고딕"/>
              </a:rPr>
              <a:t>1,950시간 이상인가</a:t>
            </a:r>
          </a:p>
        </p:txBody>
      </p:sp>
      <p:sp>
        <p:nvSpPr>
          <p:cNvPr id="10" name="TextBox 9"/>
          <p:cNvSpPr txBox="1"/>
          <p:nvPr/>
        </p:nvSpPr>
        <p:spPr>
          <a:xfrm>
            <a:off x="6368584" y="3329513"/>
            <a:ext cx="98185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TESTS</a:t>
            </a:r>
          </a:p>
          <a:p>
            <a:pPr algn="ctr">
              <a:lnSpc>
                <a:spcPct val="110000"/>
              </a:lnSpc>
              <a:spcAft>
                <a:spcPts val="100"/>
              </a:spcAft>
            </a:pPr>
            <a:r>
              <a:rPr sz="1300" b="0">
                <a:solidFill>
                  <a:srgbClr val="556175"/>
                </a:solidFill>
                <a:latin typeface="맑은 고딕"/>
                <a:ea typeface="맑은 고딕"/>
                <a:cs typeface="맑은 고딕"/>
              </a:rPr>
              <a:t>검사한다</a:t>
            </a:r>
          </a:p>
        </p:txBody>
      </p:sp>
      <p:sp>
        <p:nvSpPr>
          <p:cNvPr id="11" name="TextBox 10"/>
          <p:cNvSpPr txBox="1"/>
          <p:nvPr/>
        </p:nvSpPr>
        <p:spPr>
          <a:xfrm>
            <a:off x="6859512" y="4960482"/>
            <a:ext cx="240008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입력 데이터</a:t>
            </a:r>
          </a:p>
          <a:p>
            <a:pPr algn="ctr">
              <a:lnSpc>
                <a:spcPct val="110000"/>
              </a:lnSpc>
              <a:spcAft>
                <a:spcPts val="100"/>
              </a:spcAft>
            </a:pPr>
            <a:r>
              <a:rPr sz="1300" b="0">
                <a:solidFill>
                  <a:srgbClr val="556175"/>
                </a:solidFill>
                <a:latin typeface="맑은 고딕"/>
                <a:ea typeface="맑은 고딕"/>
                <a:cs typeface="맑은 고딕"/>
              </a:rPr>
              <a:t>마지막 정기 정비 뒤</a:t>
            </a:r>
          </a:p>
          <a:p>
            <a:pPr algn="ctr">
              <a:lnSpc>
                <a:spcPct val="110000"/>
              </a:lnSpc>
              <a:spcAft>
                <a:spcPts val="100"/>
              </a:spcAft>
            </a:pPr>
            <a:r>
              <a:rPr sz="1300" b="0">
                <a:solidFill>
                  <a:srgbClr val="556175"/>
                </a:solidFill>
                <a:latin typeface="맑은 고딕"/>
                <a:ea typeface="맑은 고딕"/>
                <a:cs typeface="맑은 고딕"/>
              </a:rPr>
              <a:t>운전시간</a:t>
            </a:r>
          </a:p>
        </p:txBody>
      </p:sp>
      <p:sp>
        <p:nvSpPr>
          <p:cNvPr id="12" name="TextBox 11"/>
          <p:cNvSpPr txBox="1"/>
          <p:nvPr/>
        </p:nvSpPr>
        <p:spPr>
          <a:xfrm>
            <a:off x="8059556" y="3494973"/>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SOURCED_FROM</a:t>
            </a:r>
          </a:p>
          <a:p>
            <a:pPr algn="ctr">
              <a:lnSpc>
                <a:spcPct val="110000"/>
              </a:lnSpc>
              <a:spcAft>
                <a:spcPts val="100"/>
              </a:spcAft>
            </a:pPr>
            <a:r>
              <a:rPr sz="1300" b="0">
                <a:solidFill>
                  <a:srgbClr val="556175"/>
                </a:solidFill>
                <a:latin typeface="맑은 고딕"/>
                <a:ea typeface="맑은 고딕"/>
                <a:cs typeface="맑은 고딕"/>
              </a:rPr>
              <a:t>출처로 삼는다</a:t>
            </a:r>
          </a:p>
        </p:txBody>
      </p:sp>
      <p:sp>
        <p:nvSpPr>
          <p:cNvPr id="13" name="TextBox 12"/>
          <p:cNvSpPr txBox="1"/>
          <p:nvPr/>
        </p:nvSpPr>
        <p:spPr>
          <a:xfrm>
            <a:off x="9401424" y="4865933"/>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출처 시스템</a:t>
            </a:r>
          </a:p>
          <a:p>
            <a:pPr algn="ctr">
              <a:lnSpc>
                <a:spcPct val="110000"/>
              </a:lnSpc>
              <a:spcAft>
                <a:spcPts val="100"/>
              </a:spcAft>
            </a:pPr>
            <a:r>
              <a:rPr sz="1300" b="0">
                <a:solidFill>
                  <a:srgbClr val="556175"/>
                </a:solidFill>
                <a:latin typeface="맑은 고딕"/>
                <a:ea typeface="맑은 고딕"/>
                <a:cs typeface="맑은 고딕"/>
              </a:rPr>
              <a:t>정비 관리 시스템</a:t>
            </a:r>
          </a:p>
        </p:txBody>
      </p:sp>
      <p:sp>
        <p:nvSpPr>
          <p:cNvPr id="14" name="TextBox 13"/>
          <p:cNvSpPr txBox="1"/>
          <p:nvPr/>
        </p:nvSpPr>
        <p:spPr>
          <a:xfrm>
            <a:off x="4895803" y="5031394"/>
            <a:ext cx="1854614"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판단 시점에 읽는다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값의 출처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판단에 쓴 값마다 어느 원천에서 어떻게 읽었는지를 함께 남겨, 지식뿐 아니라 값도 되짚을 수 있게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59.9 ℃</a:t>
            </a:r>
          </a:p>
          <a:p>
            <a:pPr algn="l">
              <a:lnSpc>
                <a:spcPct val="110000"/>
              </a:lnSpc>
              <a:spcAft>
                <a:spcPts val="400"/>
              </a:spcAft>
            </a:pPr>
            <a:r>
              <a:rPr sz="1400" b="0">
                <a:solidFill>
                  <a:srgbClr val="1F2A3A"/>
                </a:solidFill>
                <a:latin typeface="맑은 고딕"/>
                <a:ea typeface="맑은 고딕"/>
                <a:cs typeface="맑은 고딕"/>
              </a:rPr>
              <a:t>• 표 tag_1s의 최신값</a:t>
            </a:r>
          </a:p>
          <a:p>
            <a:pPr algn="l">
              <a:lnSpc>
                <a:spcPct val="110000"/>
              </a:lnSpc>
              <a:spcAft>
                <a:spcPts val="400"/>
              </a:spcAft>
            </a:pPr>
            <a:r>
              <a:rPr sz="1400" b="0">
                <a:solidFill>
                  <a:srgbClr val="1F2A3A"/>
                </a:solidFill>
                <a:latin typeface="맑은 고딕"/>
                <a:ea typeface="맑은 고딕"/>
                <a:cs typeface="맑은 고딕"/>
              </a:rPr>
              <a:t>• 읽은 시점에서 0초 전</a:t>
            </a:r>
          </a:p>
        </p:txBody>
      </p:sp>
      <p:sp>
        <p:nvSpPr>
          <p:cNvPr id="10" name="Rounded Rectangle 9"/>
          <p:cNvSpPr/>
          <p:nvPr/>
        </p:nvSpPr>
        <p:spPr>
          <a:xfrm>
            <a:off x="777240" y="4932934"/>
            <a:ext cx="1057656"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0576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시계열 DB</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운전 모드 원격 자동</a:t>
            </a:r>
          </a:p>
          <a:p>
            <a:pPr algn="l">
              <a:lnSpc>
                <a:spcPct val="110000"/>
              </a:lnSpc>
              <a:spcAft>
                <a:spcPts val="400"/>
              </a:spcAft>
            </a:pPr>
            <a:r>
              <a:rPr sz="1400" b="0">
                <a:solidFill>
                  <a:srgbClr val="1F2A3A"/>
                </a:solidFill>
                <a:latin typeface="맑은 고딕"/>
                <a:ea typeface="맑은 고딕"/>
                <a:cs typeface="맑은 고딕"/>
              </a:rPr>
              <a:t>plant.status의 최신 메시지</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PLC</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calendar-time" descr="calendar-time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납기까지 5.98시간</a:t>
            </a:r>
          </a:p>
          <a:p>
            <a:pPr algn="l">
              <a:lnSpc>
                <a:spcPct val="110000"/>
              </a:lnSpc>
              <a:spcAft>
                <a:spcPts val="400"/>
              </a:spcAft>
            </a:pPr>
            <a:r>
              <a:rPr sz="1400" b="0">
                <a:solidFill>
                  <a:srgbClr val="1F2A3A"/>
                </a:solidFill>
                <a:latin typeface="맑은 고딕"/>
                <a:ea typeface="맑은 고딕"/>
                <a:cs typeface="맑은 고딕"/>
              </a:rPr>
              <a:t>생산오더의 납기까지 남은 시간</a:t>
            </a:r>
          </a:p>
        </p:txBody>
      </p:sp>
      <p:sp>
        <p:nvSpPr>
          <p:cNvPr id="22" name="Rounded Rectangle 21"/>
          <p:cNvSpPr/>
          <p:nvPr/>
        </p:nvSpPr>
        <p:spPr>
          <a:xfrm>
            <a:off x="8356396" y="493293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MES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01단원 정리: 문장이 지식이 되는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문서의 문장은 인용이 붙고 사람이 검토했을 때 지식이 되며, 그 지식은 값을 담지 않고 값이 있는 자리를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562860"/>
            <a:ext cx="11094415" cy="13716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562860"/>
            <a:ext cx="10545775" cy="13716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문장은 인용과 검토를 거쳐 지식이 되고,</a:t>
            </a:r>
          </a:p>
          <a:p>
            <a:pPr algn="ctr">
              <a:lnSpc>
                <a:spcPct val="110000"/>
              </a:lnSpc>
            </a:pPr>
            <a:r>
              <a:rPr sz="2600" b="1">
                <a:solidFill>
                  <a:srgbClr val="13294B"/>
                </a:solidFill>
                <a:latin typeface="맑은 고딕"/>
                <a:ea typeface="맑은 고딕"/>
                <a:cs typeface="맑은 고딕"/>
              </a:rPr>
              <a:t>값은 원천에서 읽는다</a:t>
            </a:r>
          </a:p>
        </p:txBody>
      </p:sp>
      <p:sp>
        <p:nvSpPr>
          <p:cNvPr id="8" name="Oval 7"/>
          <p:cNvSpPr/>
          <p:nvPr/>
        </p:nvSpPr>
        <p:spPr>
          <a:xfrm>
            <a:off x="548640" y="4300220"/>
            <a:ext cx="731520" cy="731520"/>
          </a:xfrm>
          <a:prstGeom prst="ellipse">
            <a:avLst/>
          </a:prstGeom>
          <a:solidFill>
            <a:srgbClr val="E7F3FD"/>
          </a:solidFill>
          <a:ln>
            <a:noFill/>
          </a:ln>
        </p:spPr>
        <p:txBody>
          <a:bodyPr rtlCol="0" anchor="ctr"/>
          <a:lstStyle/>
          <a:p>
            <a:pPr algn="ctr"/>
          </a:p>
        </p:txBody>
      </p:sp>
      <p:pic>
        <p:nvPicPr>
          <p:cNvPr id="9" name="아이콘:quote" descr="quote_13294B_1.6.png"/>
          <p:cNvPicPr>
            <a:picLocks noChangeAspect="1"/>
          </p:cNvPicPr>
          <p:nvPr/>
        </p:nvPicPr>
        <p:blipFill>
          <a:blip r:embed="rId3"/>
          <a:stretch>
            <a:fillRect/>
          </a:stretch>
        </p:blipFill>
        <p:spPr>
          <a:xfrm>
            <a:off x="702259" y="4453839"/>
            <a:ext cx="424281" cy="424281"/>
          </a:xfrm>
          <a:prstGeom prst="rect">
            <a:avLst/>
          </a:prstGeom>
        </p:spPr>
      </p:pic>
      <p:sp>
        <p:nvSpPr>
          <p:cNvPr id="10" name="TextBox 9"/>
          <p:cNvSpPr txBox="1"/>
          <p:nvPr/>
        </p:nvSpPr>
        <p:spPr>
          <a:xfrm>
            <a:off x="1371600"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인용</a:t>
            </a:r>
          </a:p>
          <a:p>
            <a:pPr algn="l">
              <a:lnSpc>
                <a:spcPct val="110000"/>
              </a:lnSpc>
              <a:spcAft>
                <a:spcPts val="400"/>
              </a:spcAft>
            </a:pPr>
            <a:r>
              <a:rPr sz="1400" b="0">
                <a:solidFill>
                  <a:srgbClr val="1F2A3A"/>
                </a:solidFill>
                <a:latin typeface="맑은 고딕"/>
                <a:ea typeface="맑은 고딕"/>
                <a:cs typeface="맑은 고딕"/>
              </a:rPr>
              <a:t>지식마다 원문의 구간이 붙는다</a:t>
            </a:r>
          </a:p>
        </p:txBody>
      </p:sp>
      <p:sp>
        <p:nvSpPr>
          <p:cNvPr id="11" name="Oval 10"/>
          <p:cNvSpPr/>
          <p:nvPr/>
        </p:nvSpPr>
        <p:spPr>
          <a:xfrm>
            <a:off x="4338218" y="4300220"/>
            <a:ext cx="731520" cy="731520"/>
          </a:xfrm>
          <a:prstGeom prst="ellipse">
            <a:avLst/>
          </a:prstGeom>
          <a:solidFill>
            <a:srgbClr val="E7F3FD"/>
          </a:solidFill>
          <a:ln>
            <a:noFill/>
          </a:ln>
        </p:spPr>
        <p:txBody>
          <a:bodyPr rtlCol="0" anchor="ctr"/>
          <a:lstStyle/>
          <a:p>
            <a:pPr algn="ctr"/>
          </a:p>
        </p:txBody>
      </p:sp>
      <p:pic>
        <p:nvPicPr>
          <p:cNvPr id="12" name="아이콘:user-check" descr="user-check_13294B_1.6.png"/>
          <p:cNvPicPr>
            <a:picLocks noChangeAspect="1"/>
          </p:cNvPicPr>
          <p:nvPr/>
        </p:nvPicPr>
        <p:blipFill>
          <a:blip r:embed="rId4"/>
          <a:stretch>
            <a:fillRect/>
          </a:stretch>
        </p:blipFill>
        <p:spPr>
          <a:xfrm>
            <a:off x="4491837" y="4453839"/>
            <a:ext cx="424281" cy="424281"/>
          </a:xfrm>
          <a:prstGeom prst="rect">
            <a:avLst/>
          </a:prstGeom>
        </p:spPr>
      </p:pic>
      <p:sp>
        <p:nvSpPr>
          <p:cNvPr id="13" name="TextBox 12"/>
          <p:cNvSpPr txBox="1"/>
          <p:nvPr/>
        </p:nvSpPr>
        <p:spPr>
          <a:xfrm>
            <a:off x="5161178"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검토</a:t>
            </a:r>
          </a:p>
          <a:p>
            <a:pPr algn="l">
              <a:lnSpc>
                <a:spcPct val="110000"/>
              </a:lnSpc>
              <a:spcAft>
                <a:spcPts val="400"/>
              </a:spcAft>
            </a:pPr>
            <a:r>
              <a:rPr sz="1400" b="0">
                <a:solidFill>
                  <a:srgbClr val="1F2A3A"/>
                </a:solidFill>
                <a:latin typeface="맑은 고딕"/>
                <a:ea typeface="맑은 고딕"/>
                <a:cs typeface="맑은 고딕"/>
              </a:rPr>
              <a:t>사람이 원문과 대조해 승인한 것만 들어간다</a:t>
            </a:r>
          </a:p>
        </p:txBody>
      </p:sp>
      <p:sp>
        <p:nvSpPr>
          <p:cNvPr id="14" name="Oval 13"/>
          <p:cNvSpPr/>
          <p:nvPr/>
        </p:nvSpPr>
        <p:spPr>
          <a:xfrm>
            <a:off x="8127796" y="4300220"/>
            <a:ext cx="731520" cy="731520"/>
          </a:xfrm>
          <a:prstGeom prst="ellipse">
            <a:avLst/>
          </a:prstGeom>
          <a:solidFill>
            <a:srgbClr val="E7F3FD"/>
          </a:solidFill>
          <a:ln>
            <a:noFill/>
          </a:ln>
        </p:spPr>
        <p:txBody>
          <a:bodyPr rtlCol="0" anchor="ctr"/>
          <a:lstStyle/>
          <a:p>
            <a:pPr algn="ctr"/>
          </a:p>
        </p:txBody>
      </p:sp>
      <p:pic>
        <p:nvPicPr>
          <p:cNvPr id="15" name="아이콘:activity" descr="activity_13294B_1.6.png"/>
          <p:cNvPicPr>
            <a:picLocks noChangeAspect="1"/>
          </p:cNvPicPr>
          <p:nvPr/>
        </p:nvPicPr>
        <p:blipFill>
          <a:blip r:embed="rId5"/>
          <a:stretch>
            <a:fillRect/>
          </a:stretch>
        </p:blipFill>
        <p:spPr>
          <a:xfrm>
            <a:off x="8281416" y="4453839"/>
            <a:ext cx="424281" cy="424281"/>
          </a:xfrm>
          <a:prstGeom prst="rect">
            <a:avLst/>
          </a:prstGeom>
        </p:spPr>
      </p:pic>
      <p:sp>
        <p:nvSpPr>
          <p:cNvPr id="16" name="TextBox 15"/>
          <p:cNvSpPr txBox="1"/>
          <p:nvPr/>
        </p:nvSpPr>
        <p:spPr>
          <a:xfrm>
            <a:off x="8950756"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a:t>
            </a:r>
          </a:p>
          <a:p>
            <a:pPr algn="l">
              <a:lnSpc>
                <a:spcPct val="110000"/>
              </a:lnSpc>
              <a:spcAft>
                <a:spcPts val="400"/>
              </a:spcAft>
            </a:pPr>
            <a:r>
              <a:rPr sz="1400" b="0">
                <a:solidFill>
                  <a:srgbClr val="1F2A3A"/>
                </a:solidFill>
                <a:latin typeface="맑은 고딕"/>
                <a:ea typeface="맑은 고딕"/>
                <a:cs typeface="맑은 고딕"/>
              </a:rPr>
              <a:t>지식에는 읽는 방법만 적고 값은 원천에서 읽는다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매뉴얼의 등록, 추출, 검토, 승인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 포털에서 설비 정비 매뉴얼 한 편을 원문 보관부터 승인 적재까지 진행한다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하는 일과 만들어지는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매뉴얼 한 편에서 나온 조치 방법, 원인, 규칙이 출처와 함께 지식 그래프에 등록된다.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file-import" descr="file-import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등록과 추출</a:t>
            </a:r>
          </a:p>
          <a:p>
            <a:pPr algn="l">
              <a:lnSpc>
                <a:spcPct val="110000"/>
              </a:lnSpc>
              <a:spcAft>
                <a:spcPts val="400"/>
              </a:spcAft>
            </a:pPr>
            <a:r>
              <a:rPr sz="1400" b="0">
                <a:solidFill>
                  <a:srgbClr val="1F2A3A"/>
                </a:solidFill>
                <a:latin typeface="맑은 고딕"/>
                <a:ea typeface="맑은 고딕"/>
                <a:cs typeface="맑은 고딕"/>
              </a:rPr>
              <a:t>• 설비 정비 매뉴얼을 올려 원문을 보관한다</a:t>
            </a:r>
          </a:p>
          <a:p>
            <a:pPr algn="l">
              <a:lnSpc>
                <a:spcPct val="110000"/>
              </a:lnSpc>
              <a:spcAft>
                <a:spcPts val="400"/>
              </a:spcAft>
            </a:pPr>
            <a:r>
              <a:rPr sz="1400" b="0">
                <a:solidFill>
                  <a:srgbClr val="1F2A3A"/>
                </a:solidFill>
                <a:latin typeface="맑은 고딕"/>
                <a:ea typeface="맑은 고딕"/>
                <a:cs typeface="맑은 고딕"/>
              </a:rPr>
              <a:t>• 추출을 요청해 조치 방법, 단계, 고장 유형, 원인, 규칙의 제안을 받는다</a:t>
            </a:r>
          </a:p>
        </p:txBody>
      </p:sp>
      <p:sp>
        <p:nvSpPr>
          <p:cNvPr id="10" name="Rounded Rectangle 9"/>
          <p:cNvSpPr/>
          <p:nvPr/>
        </p:nvSpPr>
        <p:spPr>
          <a:xfrm>
            <a:off x="777240" y="5366766"/>
            <a:ext cx="1630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원문에서 제안까지</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eye-check" descr="eye-check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대조와 검토</a:t>
            </a:r>
          </a:p>
          <a:p>
            <a:pPr algn="l">
              <a:lnSpc>
                <a:spcPct val="110000"/>
              </a:lnSpc>
              <a:spcAft>
                <a:spcPts val="400"/>
              </a:spcAft>
            </a:pPr>
            <a:r>
              <a:rPr sz="1400" b="0">
                <a:solidFill>
                  <a:srgbClr val="1F2A3A"/>
                </a:solidFill>
                <a:latin typeface="맑은 고딕"/>
                <a:ea typeface="맑은 고딕"/>
                <a:cs typeface="맑은 고딕"/>
              </a:rPr>
              <a:t>• 제안의 단계 문장을 원문 인용과 나란히 읽는다</a:t>
            </a:r>
          </a:p>
          <a:p>
            <a:pPr algn="l">
              <a:lnSpc>
                <a:spcPct val="110000"/>
              </a:lnSpc>
              <a:spcAft>
                <a:spcPts val="400"/>
              </a:spcAft>
            </a:pPr>
            <a:r>
              <a:rPr sz="1400" b="0">
                <a:solidFill>
                  <a:srgbClr val="1F2A3A"/>
                </a:solidFill>
                <a:latin typeface="맑은 고딕"/>
                <a:ea typeface="맑은 고딕"/>
                <a:cs typeface="맑은 고딕"/>
              </a:rPr>
              <a:t>• 부정 조건, 단위, 단계의 순서, 대상 설비를 확인해 틀린 곳을 고친다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사람의 확인</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topology-star-3" descr="topology-star-3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승인과 확인</a:t>
            </a:r>
          </a:p>
          <a:p>
            <a:pPr algn="l">
              <a:lnSpc>
                <a:spcPct val="110000"/>
              </a:lnSpc>
              <a:spcAft>
                <a:spcPts val="400"/>
              </a:spcAft>
            </a:pPr>
            <a:r>
              <a:rPr sz="1400" b="0">
                <a:solidFill>
                  <a:srgbClr val="1F2A3A"/>
                </a:solidFill>
                <a:latin typeface="맑은 고딕"/>
                <a:ea typeface="맑은 고딕"/>
                <a:cs typeface="맑은 고딕"/>
              </a:rPr>
              <a:t>• 검토를 마쳤다고 표시해 지식 그래프에 적재한다</a:t>
            </a:r>
          </a:p>
          <a:p>
            <a:pPr algn="l">
              <a:lnSpc>
                <a:spcPct val="110000"/>
              </a:lnSpc>
              <a:spcAft>
                <a:spcPts val="400"/>
              </a:spcAft>
            </a:pPr>
            <a:r>
              <a:rPr sz="1400" b="0">
                <a:solidFill>
                  <a:srgbClr val="1F2A3A"/>
                </a:solidFill>
                <a:latin typeface="맑은 고딕"/>
                <a:ea typeface="맑은 고딕"/>
                <a:cs typeface="맑은 고딕"/>
              </a:rPr>
              <a:t>• 조치, 원인, 근거 문서가 이어진 관계를 확인한다</a:t>
            </a:r>
          </a:p>
          <a:p>
            <a:pPr algn="l">
              <a:lnSpc>
                <a:spcPct val="110000"/>
              </a:lnSpc>
              <a:spcAft>
                <a:spcPts val="400"/>
              </a:spcAft>
            </a:pPr>
            <a:r>
              <a:rPr sz="1400" b="0">
                <a:solidFill>
                  <a:srgbClr val="1F2A3A"/>
                </a:solidFill>
                <a:latin typeface="맑은 고딕"/>
                <a:ea typeface="맑은 고딕"/>
                <a:cs typeface="맑은 고딕"/>
              </a:rPr>
              <a:t>• 판단 기준과 원천에서 읽히는 지금의 값을 견주어 본다</a:t>
            </a:r>
          </a:p>
        </p:txBody>
      </p:sp>
      <p:sp>
        <p:nvSpPr>
          <p:cNvPr id="22" name="Rounded Rectangle 21"/>
          <p:cNvSpPr/>
          <p:nvPr/>
        </p:nvSpPr>
        <p:spPr>
          <a:xfrm>
            <a:off x="8356396" y="5366766"/>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등록된 지식</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Claude Code로 문서에서 지식 추출하기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실습용 기술 매뉴얼과 작업 절차 자료에서 출처가 붙은 지식 후보를 만든다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지시하는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문서 식별자, 원문 구간, 인용문이 붙은 검토용 구조화 데이터가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문서 분석</a:t>
            </a:r>
          </a:p>
          <a:p>
            <a:pPr algn="l">
              <a:lnSpc>
                <a:spcPct val="110000"/>
              </a:lnSpc>
              <a:spcAft>
                <a:spcPts val="400"/>
              </a:spcAft>
            </a:pPr>
            <a:r>
              <a:rPr sz="1400" b="0">
                <a:solidFill>
                  <a:srgbClr val="1F2A3A"/>
                </a:solidFill>
                <a:latin typeface="맑은 고딕"/>
                <a:ea typeface="맑은 고딕"/>
                <a:cs typeface="맑은 고딕"/>
              </a:rPr>
              <a:t>• 실습용 매뉴얼과 작업 절차 자료를 읽는다</a:t>
            </a:r>
          </a:p>
          <a:p>
            <a:pPr algn="l">
              <a:lnSpc>
                <a:spcPct val="110000"/>
              </a:lnSpc>
              <a:spcAft>
                <a:spcPts val="400"/>
              </a:spcAft>
            </a:pPr>
            <a:r>
              <a:rPr sz="1400" b="0">
                <a:solidFill>
                  <a:srgbClr val="1F2A3A"/>
                </a:solidFill>
                <a:latin typeface="맑은 고딕"/>
                <a:ea typeface="맑은 고딕"/>
                <a:cs typeface="맑은 고딕"/>
              </a:rPr>
              <a:t>• 표, 절차 번호, 예외 조건, 수치, 개정 사항을 확인한다</a:t>
            </a:r>
          </a:p>
        </p:txBody>
      </p:sp>
      <p:sp>
        <p:nvSpPr>
          <p:cNvPr id="10" name="Rounded Rectangle 9"/>
          <p:cNvSpPr/>
          <p:nvPr/>
        </p:nvSpPr>
        <p:spPr>
          <a:xfrm>
            <a:off x="777240" y="5258308"/>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읽을 대상</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terminal-2" descr="terminal-2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추출 지시</a:t>
            </a:r>
          </a:p>
          <a:p>
            <a:pPr algn="l">
              <a:lnSpc>
                <a:spcPct val="110000"/>
              </a:lnSpc>
              <a:spcAft>
                <a:spcPts val="400"/>
              </a:spcAft>
            </a:pPr>
            <a:r>
              <a:rPr sz="1400" b="0">
                <a:solidFill>
                  <a:srgbClr val="1F2A3A"/>
                </a:solidFill>
                <a:latin typeface="맑은 고딕"/>
                <a:ea typeface="맑은 고딕"/>
                <a:cs typeface="맑은 고딕"/>
              </a:rPr>
              <a:t>• 원인, 조치, 수행 조건을 스키마의 클래스에 맞춰 뽑도록 Claude Code에 지시한다</a:t>
            </a:r>
          </a:p>
          <a:p>
            <a:pPr algn="l">
              <a:lnSpc>
                <a:spcPct val="110000"/>
              </a:lnSpc>
              <a:spcAft>
                <a:spcPts val="400"/>
              </a:spcAft>
            </a:pPr>
            <a:r>
              <a:rPr sz="1400" b="0">
                <a:solidFill>
                  <a:srgbClr val="1F2A3A"/>
                </a:solidFill>
                <a:latin typeface="맑은 고딕"/>
                <a:ea typeface="맑은 고딕"/>
                <a:cs typeface="맑은 고딕"/>
              </a:rPr>
              <a:t>• 후보마다 문서 식별자, 쪽 또는 구간, 원문 인용을 함께 내게 한다</a:t>
            </a:r>
          </a:p>
        </p:txBody>
      </p:sp>
      <p:sp>
        <p:nvSpPr>
          <p:cNvPr id="16" name="Rounded Rectangle 15"/>
          <p:cNvSpPr/>
          <p:nvPr/>
        </p:nvSpPr>
        <p:spPr>
          <a:xfrm>
            <a:off x="4566818" y="5258308"/>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구조화 출력</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braces" descr="braces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대조와 보완</a:t>
            </a:r>
          </a:p>
          <a:p>
            <a:pPr algn="l">
              <a:lnSpc>
                <a:spcPct val="110000"/>
              </a:lnSpc>
              <a:spcAft>
                <a:spcPts val="400"/>
              </a:spcAft>
            </a:pPr>
            <a:r>
              <a:rPr sz="1400" b="0">
                <a:solidFill>
                  <a:srgbClr val="1F2A3A"/>
                </a:solidFill>
                <a:latin typeface="맑은 고딕"/>
                <a:ea typeface="맑은 고딕"/>
                <a:cs typeface="맑은 고딕"/>
              </a:rPr>
              <a:t>• 결과를 원문과 대조해 빠진 조건과 틀린 추출을 고친다</a:t>
            </a:r>
          </a:p>
          <a:p>
            <a:pPr algn="l">
              <a:lnSpc>
                <a:spcPct val="110000"/>
              </a:lnSpc>
              <a:spcAft>
                <a:spcPts val="400"/>
              </a:spcAft>
            </a:pPr>
            <a:r>
              <a:rPr sz="1400" b="0">
                <a:solidFill>
                  <a:srgbClr val="1F2A3A"/>
                </a:solidFill>
                <a:latin typeface="맑은 고딕"/>
                <a:ea typeface="맑은 고딕"/>
                <a:cs typeface="맑은 고딕"/>
              </a:rPr>
              <a:t>• 다음 실습의 적재에 쓸 검토용 데이터로 정리한다</a:t>
            </a:r>
          </a:p>
        </p:txBody>
      </p:sp>
      <p:sp>
        <p:nvSpPr>
          <p:cNvPr id="22" name="Rounded Rectangle 21"/>
          <p:cNvSpPr/>
          <p:nvPr/>
        </p:nvSpPr>
        <p:spPr>
          <a:xfrm>
            <a:off x="8356396" y="5258308"/>
            <a:ext cx="132587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검토용 데이터</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검토한 지식을 그래프 DB에 반영하기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추출한 후보를 검토해 실습용 그래프 DB에 넣고 출처까지 이어진 관계를 조회한다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반영하는 것과 확인하는 관계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앞서 만든 그래프에 문서에서 온 지식이 더해지고 고장 유형에서 출처까지를 한 번에 조회할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checklist" descr="checklist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검토</a:t>
            </a:r>
          </a:p>
          <a:p>
            <a:pPr algn="l">
              <a:lnSpc>
                <a:spcPct val="110000"/>
              </a:lnSpc>
              <a:spcAft>
                <a:spcPts val="400"/>
              </a:spcAft>
            </a:pPr>
            <a:r>
              <a:rPr sz="1350" b="0">
                <a:solidFill>
                  <a:srgbClr val="1F2A3A"/>
                </a:solidFill>
                <a:latin typeface="맑은 고딕"/>
                <a:ea typeface="맑은 고딕"/>
                <a:cs typeface="맑은 고딕"/>
              </a:rPr>
              <a:t>• 추출한 후보를 원문과 대조한다</a:t>
            </a:r>
          </a:p>
          <a:p>
            <a:pPr algn="l">
              <a:lnSpc>
                <a:spcPct val="110000"/>
              </a:lnSpc>
              <a:spcAft>
                <a:spcPts val="400"/>
              </a:spcAft>
            </a:pPr>
            <a:r>
              <a:rPr sz="1350" b="0">
                <a:solidFill>
                  <a:srgbClr val="1F2A3A"/>
                </a:solidFill>
                <a:latin typeface="맑은 고딕"/>
                <a:ea typeface="맑은 고딕"/>
                <a:cs typeface="맑은 고딕"/>
              </a:rPr>
              <a:t>• 채택할 것, 고칠 것, 뺄 것을 정한다</a:t>
            </a:r>
          </a:p>
        </p:txBody>
      </p:sp>
      <p:sp>
        <p:nvSpPr>
          <p:cNvPr id="10" name="Rounded Rectangle 9"/>
          <p:cNvSpPr/>
          <p:nvPr/>
        </p:nvSpPr>
        <p:spPr>
          <a:xfrm>
            <a:off x="777240" y="523894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후보의 선별</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link" descr="link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매핑</a:t>
            </a:r>
          </a:p>
          <a:p>
            <a:pPr algn="l">
              <a:lnSpc>
                <a:spcPct val="110000"/>
              </a:lnSpc>
              <a:spcAft>
                <a:spcPts val="400"/>
              </a:spcAft>
            </a:pPr>
            <a:r>
              <a:rPr sz="1350" b="0">
                <a:solidFill>
                  <a:srgbClr val="1F2A3A"/>
                </a:solidFill>
                <a:latin typeface="맑은 고딕"/>
                <a:ea typeface="맑은 고딕"/>
                <a:cs typeface="맑은 고딕"/>
              </a:rPr>
              <a:t>• 후보를 이미 만든 클래스, 인스턴스, 관계에 잇는다</a:t>
            </a:r>
          </a:p>
          <a:p>
            <a:pPr algn="l">
              <a:lnSpc>
                <a:spcPct val="110000"/>
              </a:lnSpc>
              <a:spcAft>
                <a:spcPts val="400"/>
              </a:spcAft>
            </a:pPr>
            <a:r>
              <a:rPr sz="1350" b="0">
                <a:solidFill>
                  <a:srgbClr val="1F2A3A"/>
                </a:solidFill>
                <a:latin typeface="맑은 고딕"/>
                <a:ea typeface="맑은 고딕"/>
                <a:cs typeface="맑은 고딕"/>
              </a:rPr>
              <a:t>• 등록된 대상은 그 식별자로 가리킨다</a:t>
            </a:r>
          </a:p>
        </p:txBody>
      </p:sp>
      <p:sp>
        <p:nvSpPr>
          <p:cNvPr id="16" name="Rounded Rectangle 15"/>
          <p:cNvSpPr/>
          <p:nvPr/>
        </p:nvSpPr>
        <p:spPr>
          <a:xfrm>
            <a:off x="3619423" y="523894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기존 식별자</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database-import" descr="database-import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적재</a:t>
            </a:r>
          </a:p>
          <a:p>
            <a:pPr algn="l">
              <a:lnSpc>
                <a:spcPct val="110000"/>
              </a:lnSpc>
              <a:spcAft>
                <a:spcPts val="400"/>
              </a:spcAft>
            </a:pPr>
            <a:r>
              <a:rPr sz="1350" b="0">
                <a:solidFill>
                  <a:srgbClr val="1F2A3A"/>
                </a:solidFill>
                <a:latin typeface="맑은 고딕"/>
                <a:ea typeface="맑은 고딕"/>
                <a:cs typeface="맑은 고딕"/>
              </a:rPr>
              <a:t>• Claude Code로 적재 코드를 만든다</a:t>
            </a:r>
          </a:p>
          <a:p>
            <a:pPr algn="l">
              <a:lnSpc>
                <a:spcPct val="110000"/>
              </a:lnSpc>
              <a:spcAft>
                <a:spcPts val="400"/>
              </a:spcAft>
            </a:pPr>
            <a:r>
              <a:rPr sz="1350" b="0">
                <a:solidFill>
                  <a:srgbClr val="1F2A3A"/>
                </a:solidFill>
                <a:latin typeface="맑은 고딕"/>
                <a:ea typeface="맑은 고딕"/>
                <a:cs typeface="맑은 고딕"/>
              </a:rPr>
              <a:t>• 검토한 항목만 실습용 그래프 DB에 넣는다</a:t>
            </a:r>
          </a:p>
        </p:txBody>
      </p:sp>
      <p:sp>
        <p:nvSpPr>
          <p:cNvPr id="22" name="Rounded Rectangle 21"/>
          <p:cNvSpPr/>
          <p:nvPr/>
        </p:nvSpPr>
        <p:spPr>
          <a:xfrm>
            <a:off x="6461607" y="5238940"/>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검토한 것만</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조회</a:t>
            </a:r>
          </a:p>
          <a:p>
            <a:pPr algn="l">
              <a:lnSpc>
                <a:spcPct val="110000"/>
              </a:lnSpc>
              <a:spcAft>
                <a:spcPts val="400"/>
              </a:spcAft>
            </a:pPr>
            <a:r>
              <a:rPr sz="1350" b="0">
                <a:solidFill>
                  <a:srgbClr val="1F2A3A"/>
                </a:solidFill>
                <a:latin typeface="맑은 고딕"/>
                <a:ea typeface="맑은 고딕"/>
                <a:cs typeface="맑은 고딕"/>
              </a:rPr>
              <a:t>고장 유형에서 원인, 조치, 판단 규칙, 원문 출처로 이어지는 관계를 조회한다</a:t>
            </a:r>
          </a:p>
        </p:txBody>
      </p:sp>
      <p:sp>
        <p:nvSpPr>
          <p:cNvPr id="28" name="Rounded Rectangle 27"/>
          <p:cNvSpPr/>
          <p:nvPr/>
        </p:nvSpPr>
        <p:spPr>
          <a:xfrm>
            <a:off x="9303791" y="5238940"/>
            <a:ext cx="132587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보강된 그래프</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설계에서</a:t>
            </a:r>
          </a:p>
          <a:p>
            <a:pPr algn="l">
              <a:lnSpc>
                <a:spcPct val="110000"/>
              </a:lnSpc>
            </a:pPr>
            <a:r>
              <a:rPr sz="3400" b="1">
                <a:solidFill>
                  <a:srgbClr val="13294B"/>
                </a:solidFill>
                <a:latin typeface="맑은 고딕"/>
                <a:ea typeface="맑은 고딕"/>
                <a:cs typeface="맑은 고딕"/>
              </a:rPr>
              <a:t>지식 활용까지의 전체 과정</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네 일차의 결과물이 하나의 지식 그래프로 쌓이는 순서와 그 쓰임</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네 일차의 흐름: 한 그래프가 자라는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일차는 하나의 지식 그래프가 필요성, 구조, 조치와 판단, 문서의 지식 순서로 자라 온 과정이다.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pic>
        <p:nvPicPr>
          <p:cNvPr id="6" name="삽화:네일차_흐름.svg" descr="illust_3940395674559786254_179171549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1651269"/>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1일차</a:t>
            </a:r>
          </a:p>
          <a:p>
            <a:pPr algn="ctr">
              <a:lnSpc>
                <a:spcPct val="110000"/>
              </a:lnSpc>
              <a:spcAft>
                <a:spcPts val="100"/>
              </a:spcAft>
            </a:pPr>
            <a:r>
              <a:rPr sz="1300" b="0">
                <a:solidFill>
                  <a:srgbClr val="556175"/>
                </a:solidFill>
                <a:latin typeface="맑은 고딕"/>
                <a:ea typeface="맑은 고딕"/>
                <a:cs typeface="맑은 고딕"/>
              </a:rPr>
              <a:t>온톨로지의 필요성</a:t>
            </a:r>
          </a:p>
        </p:txBody>
      </p:sp>
      <p:sp>
        <p:nvSpPr>
          <p:cNvPr id="8" name="TextBox 7"/>
          <p:cNvSpPr txBox="1"/>
          <p:nvPr/>
        </p:nvSpPr>
        <p:spPr>
          <a:xfrm>
            <a:off x="3150283" y="165126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2일차</a:t>
            </a:r>
          </a:p>
          <a:p>
            <a:pPr algn="ctr">
              <a:lnSpc>
                <a:spcPct val="110000"/>
              </a:lnSpc>
              <a:spcAft>
                <a:spcPts val="100"/>
              </a:spcAft>
            </a:pPr>
            <a:r>
              <a:rPr sz="1300" b="0">
                <a:solidFill>
                  <a:srgbClr val="556175"/>
                </a:solidFill>
                <a:latin typeface="맑은 고딕"/>
                <a:ea typeface="맑은 고딕"/>
                <a:cs typeface="맑은 고딕"/>
              </a:rPr>
              <a:t>클래스, 스키마, 그래프 DB</a:t>
            </a:r>
          </a:p>
        </p:txBody>
      </p:sp>
      <p:sp>
        <p:nvSpPr>
          <p:cNvPr id="9" name="TextBox 8"/>
          <p:cNvSpPr txBox="1"/>
          <p:nvPr/>
        </p:nvSpPr>
        <p:spPr>
          <a:xfrm>
            <a:off x="5583101" y="165126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3일차</a:t>
            </a:r>
          </a:p>
          <a:p>
            <a:pPr algn="ctr">
              <a:lnSpc>
                <a:spcPct val="110000"/>
              </a:lnSpc>
              <a:spcAft>
                <a:spcPts val="100"/>
              </a:spcAft>
            </a:pPr>
            <a:r>
              <a:rPr sz="1300" b="0">
                <a:solidFill>
                  <a:srgbClr val="556175"/>
                </a:solidFill>
                <a:latin typeface="맑은 고딕"/>
                <a:ea typeface="맑은 고딕"/>
                <a:cs typeface="맑은 고딕"/>
              </a:rPr>
              <a:t>SOP, 판단 규칙, 성과 지표</a:t>
            </a:r>
          </a:p>
        </p:txBody>
      </p:sp>
      <p:sp>
        <p:nvSpPr>
          <p:cNvPr id="10" name="TextBox 9"/>
          <p:cNvSpPr txBox="1"/>
          <p:nvPr/>
        </p:nvSpPr>
        <p:spPr>
          <a:xfrm>
            <a:off x="8081375" y="1651269"/>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4일차</a:t>
            </a:r>
          </a:p>
          <a:p>
            <a:pPr algn="ctr">
              <a:lnSpc>
                <a:spcPct val="110000"/>
              </a:lnSpc>
              <a:spcAft>
                <a:spcPts val="100"/>
              </a:spcAft>
            </a:pPr>
            <a:r>
              <a:rPr sz="1300" b="0">
                <a:solidFill>
                  <a:srgbClr val="556175"/>
                </a:solidFill>
                <a:latin typeface="맑은 고딕"/>
                <a:ea typeface="맑은 고딕"/>
                <a:cs typeface="맑은 고딕"/>
              </a:rPr>
              <a:t>추출, 검토, 출처</a:t>
            </a:r>
          </a:p>
        </p:txBody>
      </p:sp>
      <p:sp>
        <p:nvSpPr>
          <p:cNvPr id="11" name="TextBox 10"/>
          <p:cNvSpPr txBox="1"/>
          <p:nvPr/>
        </p:nvSpPr>
        <p:spPr>
          <a:xfrm>
            <a:off x="772014" y="5456864"/>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관계 그림</a:t>
            </a:r>
          </a:p>
        </p:txBody>
      </p:sp>
      <p:sp>
        <p:nvSpPr>
          <p:cNvPr id="12" name="TextBox 11"/>
          <p:cNvSpPr txBox="1"/>
          <p:nvPr/>
        </p:nvSpPr>
        <p:spPr>
          <a:xfrm>
            <a:off x="3150283" y="5456864"/>
            <a:ext cx="229099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스키마와 인스턴스</a:t>
            </a:r>
          </a:p>
        </p:txBody>
      </p:sp>
      <p:sp>
        <p:nvSpPr>
          <p:cNvPr id="13" name="TextBox 12"/>
          <p:cNvSpPr txBox="1"/>
          <p:nvPr/>
        </p:nvSpPr>
        <p:spPr>
          <a:xfrm>
            <a:off x="5583101" y="5456864"/>
            <a:ext cx="229099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절차와 판단 규칙</a:t>
            </a:r>
          </a:p>
        </p:txBody>
      </p:sp>
      <p:sp>
        <p:nvSpPr>
          <p:cNvPr id="14" name="TextBox 13"/>
          <p:cNvSpPr txBox="1"/>
          <p:nvPr/>
        </p:nvSpPr>
        <p:spPr>
          <a:xfrm>
            <a:off x="8026828" y="5456864"/>
            <a:ext cx="2290993"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검토된 지식과 출처</a:t>
            </a:r>
          </a:p>
        </p:txBody>
      </p:sp>
      <p:sp>
        <p:nvSpPr>
          <p:cNvPr id="15" name="TextBox 14"/>
          <p:cNvSpPr txBox="1"/>
          <p:nvPr/>
        </p:nvSpPr>
        <p:spPr>
          <a:xfrm>
            <a:off x="10339641" y="436955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이후 과정</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1일차의 입력과 결과물: 흩어진 정보에서 관계 그림으로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1일차는 네 곳에 흩어진 정보를 노드와 이름 붙은 관계로 꺼내 적었고, 정의와 식별자가 과제로 남았다.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pic>
        <p:nvPicPr>
          <p:cNvPr id="6" name="삽화:관계.svg" descr="illust_2527894199607339603_179171539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4085904"/>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증상</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고장 유형</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a:t>
            </a:r>
          </a:p>
          <a:p>
            <a:pPr algn="ctr">
              <a:lnSpc>
                <a:spcPct val="110000"/>
              </a:lnSpc>
              <a:spcAft>
                <a:spcPts val="100"/>
              </a:spcAft>
            </a:pPr>
            <a:r>
              <a:rPr sz="1300" b="0">
                <a:solidFill>
                  <a:srgbClr val="556175"/>
                </a:solidFill>
                <a:latin typeface="맑은 고딕"/>
                <a:ea typeface="맑은 고딕"/>
                <a:cs typeface="맑은 고딕"/>
              </a:rPr>
              <a:t>조치</a:t>
            </a:r>
          </a:p>
        </p:txBody>
      </p:sp>
      <p:sp>
        <p:nvSpPr>
          <p:cNvPr id="11" name="TextBox 10"/>
          <p:cNvSpPr txBox="1"/>
          <p:nvPr/>
        </p:nvSpPr>
        <p:spPr>
          <a:xfrm>
            <a:off x="3270288" y="2904042"/>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p:txBody>
      </p:sp>
      <p:sp>
        <p:nvSpPr>
          <p:cNvPr id="12" name="TextBox 11"/>
          <p:cNvSpPr txBox="1"/>
          <p:nvPr/>
        </p:nvSpPr>
        <p:spPr>
          <a:xfrm>
            <a:off x="7175887" y="2904042"/>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p:txBody>
      </p:sp>
      <p:sp>
        <p:nvSpPr>
          <p:cNvPr id="13" name="TextBox 12"/>
          <p:cNvSpPr txBox="1"/>
          <p:nvPr/>
        </p:nvSpPr>
        <p:spPr>
          <a:xfrm>
            <a:off x="3750306" y="4322277"/>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p:txBody>
      </p:sp>
      <p:sp>
        <p:nvSpPr>
          <p:cNvPr id="14" name="TextBox 13"/>
          <p:cNvSpPr txBox="1"/>
          <p:nvPr/>
        </p:nvSpPr>
        <p:spPr>
          <a:xfrm>
            <a:off x="750195" y="5220492"/>
            <a:ext cx="392741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입력</a:t>
            </a:r>
          </a:p>
          <a:p>
            <a:pPr algn="ctr">
              <a:lnSpc>
                <a:spcPct val="110000"/>
              </a:lnSpc>
              <a:spcAft>
                <a:spcPts val="100"/>
              </a:spcAft>
            </a:pPr>
            <a:r>
              <a:rPr sz="1300" b="0">
                <a:solidFill>
                  <a:srgbClr val="556175"/>
                </a:solidFill>
                <a:latin typeface="맑은 고딕"/>
                <a:ea typeface="맑은 고딕"/>
                <a:cs typeface="맑은 고딕"/>
              </a:rPr>
              <a:t>경보 한 건과 네 곳의 정보</a:t>
            </a:r>
          </a:p>
          <a:p>
            <a:pPr algn="ctr">
              <a:lnSpc>
                <a:spcPct val="110000"/>
              </a:lnSpc>
              <a:spcAft>
                <a:spcPts val="100"/>
              </a:spcAft>
            </a:pPr>
            <a:r>
              <a:rPr sz="1300" b="0">
                <a:solidFill>
                  <a:srgbClr val="556175"/>
                </a:solidFill>
                <a:latin typeface="맑은 고딕"/>
                <a:ea typeface="맑은 고딕"/>
                <a:cs typeface="맑은 고딕"/>
              </a:rPr>
              <a:t>시계열 DB의 센서 값, PLC의 운전 상태</a:t>
            </a:r>
          </a:p>
          <a:p>
            <a:pPr algn="ctr">
              <a:lnSpc>
                <a:spcPct val="110000"/>
              </a:lnSpc>
              <a:spcAft>
                <a:spcPts val="100"/>
              </a:spcAft>
            </a:pPr>
            <a:r>
              <a:rPr sz="1300" b="0">
                <a:solidFill>
                  <a:srgbClr val="556175"/>
                </a:solidFill>
                <a:latin typeface="맑은 고딕"/>
                <a:ea typeface="맑은 고딕"/>
                <a:cs typeface="맑은 고딕"/>
              </a:rPr>
              <a:t>매뉴얼 HM-8의 원인과 조치, MES의 생산 일정</a:t>
            </a:r>
          </a:p>
        </p:txBody>
      </p:sp>
      <p:sp>
        <p:nvSpPr>
          <p:cNvPr id="15" name="TextBox 14"/>
          <p:cNvSpPr txBox="1"/>
          <p:nvPr/>
        </p:nvSpPr>
        <p:spPr>
          <a:xfrm>
            <a:off x="8605031" y="5220492"/>
            <a:ext cx="283646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남은 과제</a:t>
            </a:r>
          </a:p>
          <a:p>
            <a:pPr algn="ctr">
              <a:lnSpc>
                <a:spcPct val="110000"/>
              </a:lnSpc>
              <a:spcAft>
                <a:spcPts val="100"/>
              </a:spcAft>
            </a:pPr>
            <a:r>
              <a:rPr sz="1300" b="0">
                <a:solidFill>
                  <a:srgbClr val="556175"/>
                </a:solidFill>
                <a:latin typeface="맑은 고딕"/>
                <a:ea typeface="맑은 고딕"/>
                <a:cs typeface="맑은 고딕"/>
              </a:rPr>
              <a:t>그려도 되는 것의 정의</a:t>
            </a:r>
          </a:p>
          <a:p>
            <a:pPr algn="ctr">
              <a:lnSpc>
                <a:spcPct val="110000"/>
              </a:lnSpc>
              <a:spcAft>
                <a:spcPts val="100"/>
              </a:spcAft>
            </a:pPr>
            <a:r>
              <a:rPr sz="1300" b="0">
                <a:solidFill>
                  <a:srgbClr val="556175"/>
                </a:solidFill>
                <a:latin typeface="맑은 고딕"/>
                <a:ea typeface="맑은 고딕"/>
                <a:cs typeface="맑은 고딕"/>
              </a:rPr>
              <a:t>대상을 하나로 가리키는 식별자</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2일차의 입력과 결과물 ①: 답할 질문에서 스키마까지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스키마는 답해야 할 질문에서 출발해 무엇을 넣을 수 있는지를 정의하므로 그 정의에 어긋나는 것을 걸러 낼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TextBox 5"/>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답할 질문</a:t>
            </a:r>
          </a:p>
          <a:p>
            <a:pPr algn="l">
              <a:lnSpc>
                <a:spcPct val="110000"/>
              </a:lnSpc>
              <a:spcAft>
                <a:spcPts val="200"/>
              </a:spcAft>
            </a:pPr>
            <a:r>
              <a:rPr sz="1150" b="0">
                <a:solidFill>
                  <a:srgbClr val="556175"/>
                </a:solidFill>
                <a:latin typeface="맑은 고딕"/>
                <a:ea typeface="맑은 고딕"/>
                <a:cs typeface="맑은 고딕"/>
              </a:rPr>
              <a:t>2일차의 입력</a:t>
            </a:r>
          </a:p>
        </p:txBody>
      </p:sp>
      <p:sp>
        <p:nvSpPr>
          <p:cNvPr id="7" name="TextBox 6"/>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제공된 설비 자료를 재료로, 이 지식으로 무엇에 답하려는지를 먼저 정한다.</a:t>
            </a:r>
          </a:p>
          <a:p>
            <a:pPr algn="l">
              <a:lnSpc>
                <a:spcPct val="110000"/>
              </a:lnSpc>
              <a:spcAft>
                <a:spcPts val="300"/>
              </a:spcAft>
            </a:pPr>
            <a:r>
              <a:rPr sz="1400" b="0">
                <a:solidFill>
                  <a:srgbClr val="1F2A3A"/>
                </a:solidFill>
                <a:latin typeface="맑은 고딕"/>
                <a:ea typeface="맑은 고딕"/>
                <a:cs typeface="맑은 고딕"/>
              </a:rPr>
              <a:t>예: 「HYD-01의 오일 쿨러를 재는 센서와 그 한계값은 무엇인가」</a:t>
            </a:r>
          </a:p>
        </p:txBody>
      </p:sp>
      <p:sp>
        <p:nvSpPr>
          <p:cNvPr id="8" name="Rectangle 7"/>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40187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a:t>
            </a:r>
          </a:p>
          <a:p>
            <a:pPr algn="l">
              <a:lnSpc>
                <a:spcPct val="110000"/>
              </a:lnSpc>
              <a:spcAft>
                <a:spcPts val="200"/>
              </a:spcAft>
            </a:pPr>
            <a:r>
              <a:rPr sz="1150" b="0">
                <a:solidFill>
                  <a:srgbClr val="556175"/>
                </a:solidFill>
                <a:latin typeface="맑은 고딕"/>
                <a:ea typeface="맑은 고딕"/>
                <a:cs typeface="맑은 고딕"/>
              </a:rPr>
              <a:t>Schema</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 속성, 관계, 제약을 한곳에 정의한 구조이다.</a:t>
            </a:r>
          </a:p>
          <a:p>
            <a:pPr algn="l">
              <a:lnSpc>
                <a:spcPct val="110000"/>
              </a:lnSpc>
              <a:spcAft>
                <a:spcPts val="300"/>
              </a:spcAft>
            </a:pPr>
            <a:r>
              <a:rPr sz="1400" b="0">
                <a:solidFill>
                  <a:srgbClr val="1F2A3A"/>
                </a:solidFill>
                <a:latin typeface="맑은 고딕"/>
                <a:ea typeface="맑은 고딕"/>
                <a:cs typeface="맑은 고딕"/>
              </a:rPr>
              <a:t>정의의 예: 센서에는 tag가 있어야 한다. 구성 요소는 센서로 계측된다(MONITORED_BY).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2일차의 결과물 ②: 인스턴스 데이터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둘째 결과물은 그 정의에 따라 식별자와 함께 그래프 DB에 넣은 실제 대상과 관계, 곧 인스턴스 데이터이다.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Oval 5"/>
          <p:cNvSpPr/>
          <p:nvPr/>
        </p:nvSpPr>
        <p:spPr>
          <a:xfrm>
            <a:off x="548639" y="3122676"/>
            <a:ext cx="1737360" cy="1737360"/>
          </a:xfrm>
          <a:prstGeom prst="ellipse">
            <a:avLst/>
          </a:prstGeom>
          <a:solidFill>
            <a:srgbClr val="E7F3FD"/>
          </a:solidFill>
          <a:ln w="25400">
            <a:solidFill>
              <a:srgbClr val="5CB8F2"/>
            </a:solidFill>
          </a:ln>
        </p:spPr>
        <p:txBody>
          <a:bodyPr rtlCol="0" anchor="ctr"/>
          <a:lstStyle/>
          <a:p>
            <a:pPr algn="ctr"/>
          </a:p>
        </p:txBody>
      </p:sp>
      <p:pic>
        <p:nvPicPr>
          <p:cNvPr id="7" name="아이콘:engine" descr="engine_13294B_1.6.png"/>
          <p:cNvPicPr>
            <a:picLocks noChangeAspect="1"/>
          </p:cNvPicPr>
          <p:nvPr/>
        </p:nvPicPr>
        <p:blipFill>
          <a:blip r:embed="rId3"/>
          <a:stretch>
            <a:fillRect/>
          </a:stretch>
        </p:blipFill>
        <p:spPr>
          <a:xfrm>
            <a:off x="1208836" y="3365906"/>
            <a:ext cx="416966" cy="416966"/>
          </a:xfrm>
          <a:prstGeom prst="rect">
            <a:avLst/>
          </a:prstGeom>
        </p:spPr>
      </p:pic>
      <p:sp>
        <p:nvSpPr>
          <p:cNvPr id="8" name="TextBox 7"/>
          <p:cNvSpPr txBox="1"/>
          <p:nvPr/>
        </p:nvSpPr>
        <p:spPr>
          <a:xfrm>
            <a:off x="670255" y="3817620"/>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HYD-01</a:t>
            </a:r>
          </a:p>
          <a:p>
            <a:pPr algn="ctr">
              <a:lnSpc>
                <a:spcPct val="110000"/>
              </a:lnSpc>
            </a:pPr>
            <a:r>
              <a:rPr sz="1100" b="0">
                <a:solidFill>
                  <a:srgbClr val="556175"/>
                </a:solidFill>
                <a:latin typeface="맑은 고딕"/>
                <a:ea typeface="맑은 고딕"/>
                <a:cs typeface="맑은 고딕"/>
              </a:rPr>
              <a:t>설비</a:t>
            </a:r>
          </a:p>
          <a:p>
            <a:pPr algn="ctr">
              <a:lnSpc>
                <a:spcPct val="110000"/>
              </a:lnSpc>
            </a:pPr>
            <a:r>
              <a:rPr sz="1100" b="0">
                <a:solidFill>
                  <a:srgbClr val="556175"/>
                </a:solidFill>
                <a:latin typeface="맑은 고딕"/>
                <a:ea typeface="맑은 고딕"/>
                <a:cs typeface="맑은 고딕"/>
              </a:rPr>
              <a:t>asset:hyd-01</a:t>
            </a:r>
          </a:p>
        </p:txBody>
      </p:sp>
      <p:sp>
        <p:nvSpPr>
          <p:cNvPr id="9" name="Oval 8"/>
          <p:cNvSpPr/>
          <p:nvPr/>
        </p:nvSpPr>
        <p:spPr>
          <a:xfrm>
            <a:off x="5227167" y="3122676"/>
            <a:ext cx="1737360" cy="1737360"/>
          </a:xfrm>
          <a:prstGeom prst="ellipse">
            <a:avLst/>
          </a:prstGeom>
          <a:solidFill>
            <a:srgbClr val="5CB8F2"/>
          </a:solidFill>
          <a:ln w="25400">
            <a:solidFill>
              <a:srgbClr val="13294B"/>
            </a:solidFill>
          </a:ln>
        </p:spPr>
        <p:txBody>
          <a:bodyPr rtlCol="0" anchor="ctr"/>
          <a:lstStyle/>
          <a:p>
            <a:pPr algn="ctr"/>
          </a:p>
        </p:txBody>
      </p:sp>
      <p:pic>
        <p:nvPicPr>
          <p:cNvPr id="10" name="아이콘:components" descr="components_13294B_1.6.png"/>
          <p:cNvPicPr>
            <a:picLocks noChangeAspect="1"/>
          </p:cNvPicPr>
          <p:nvPr/>
        </p:nvPicPr>
        <p:blipFill>
          <a:blip r:embed="rId4"/>
          <a:stretch>
            <a:fillRect/>
          </a:stretch>
        </p:blipFill>
        <p:spPr>
          <a:xfrm>
            <a:off x="5887364" y="3365906"/>
            <a:ext cx="416966" cy="416966"/>
          </a:xfrm>
          <a:prstGeom prst="rect">
            <a:avLst/>
          </a:prstGeom>
        </p:spPr>
      </p:pic>
      <p:sp>
        <p:nvSpPr>
          <p:cNvPr id="11" name="TextBox 10"/>
          <p:cNvSpPr txBox="1"/>
          <p:nvPr/>
        </p:nvSpPr>
        <p:spPr>
          <a:xfrm>
            <a:off x="5348782" y="3817620"/>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오일 쿨러</a:t>
            </a:r>
          </a:p>
          <a:p>
            <a:pPr algn="ctr">
              <a:lnSpc>
                <a:spcPct val="110000"/>
              </a:lnSpc>
            </a:pPr>
            <a:r>
              <a:rPr sz="1100" b="0">
                <a:solidFill>
                  <a:srgbClr val="556175"/>
                </a:solidFill>
                <a:latin typeface="맑은 고딕"/>
                <a:ea typeface="맑은 고딕"/>
                <a:cs typeface="맑은 고딕"/>
              </a:rPr>
              <a:t>구성 요소</a:t>
            </a:r>
          </a:p>
          <a:p>
            <a:pPr algn="ctr">
              <a:lnSpc>
                <a:spcPct val="110000"/>
              </a:lnSpc>
            </a:pPr>
            <a:r>
              <a:rPr sz="1100" b="0">
                <a:solidFill>
                  <a:srgbClr val="556175"/>
                </a:solidFill>
                <a:latin typeface="맑은 고딕"/>
                <a:ea typeface="맑은 고딕"/>
                <a:cs typeface="맑은 고딕"/>
              </a:rPr>
              <a:t>comp:cooler</a:t>
            </a:r>
          </a:p>
        </p:txBody>
      </p:sp>
      <p:sp>
        <p:nvSpPr>
          <p:cNvPr id="12" name="Oval 11"/>
          <p:cNvSpPr/>
          <p:nvPr/>
        </p:nvSpPr>
        <p:spPr>
          <a:xfrm>
            <a:off x="9905695" y="3122676"/>
            <a:ext cx="1737360" cy="1737360"/>
          </a:xfrm>
          <a:prstGeom prst="ellipse">
            <a:avLst/>
          </a:prstGeom>
          <a:solidFill>
            <a:srgbClr val="E7F3FD"/>
          </a:solidFill>
          <a:ln w="25400">
            <a:solidFill>
              <a:srgbClr val="5CB8F2"/>
            </a:solidFill>
          </a:ln>
        </p:spPr>
        <p:txBody>
          <a:bodyPr rtlCol="0" anchor="ctr"/>
          <a:lstStyle/>
          <a:p>
            <a:pPr algn="ctr"/>
          </a:p>
        </p:txBody>
      </p:sp>
      <p:pic>
        <p:nvPicPr>
          <p:cNvPr id="13" name="아이콘:gauge" descr="gauge_13294B_1.6.png"/>
          <p:cNvPicPr>
            <a:picLocks noChangeAspect="1"/>
          </p:cNvPicPr>
          <p:nvPr/>
        </p:nvPicPr>
        <p:blipFill>
          <a:blip r:embed="rId5"/>
          <a:stretch>
            <a:fillRect/>
          </a:stretch>
        </p:blipFill>
        <p:spPr>
          <a:xfrm>
            <a:off x="10565892" y="3365906"/>
            <a:ext cx="416966" cy="416966"/>
          </a:xfrm>
          <a:prstGeom prst="rect">
            <a:avLst/>
          </a:prstGeom>
        </p:spPr>
      </p:pic>
      <p:sp>
        <p:nvSpPr>
          <p:cNvPr id="14" name="TextBox 13"/>
          <p:cNvSpPr txBox="1"/>
          <p:nvPr/>
        </p:nvSpPr>
        <p:spPr>
          <a:xfrm>
            <a:off x="10027310" y="3817620"/>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유온 센서</a:t>
            </a:r>
          </a:p>
          <a:p>
            <a:pPr algn="ctr">
              <a:lnSpc>
                <a:spcPct val="110000"/>
              </a:lnSpc>
            </a:pPr>
            <a:r>
              <a:rPr sz="1100" b="0">
                <a:solidFill>
                  <a:srgbClr val="556175"/>
                </a:solidFill>
                <a:latin typeface="맑은 고딕"/>
                <a:ea typeface="맑은 고딕"/>
                <a:cs typeface="맑은 고딕"/>
              </a:rPr>
              <a:t>센서</a:t>
            </a:r>
          </a:p>
          <a:p>
            <a:pPr algn="ctr">
              <a:lnSpc>
                <a:spcPct val="110000"/>
              </a:lnSpc>
            </a:pPr>
            <a:r>
              <a:rPr sz="1100" b="0">
                <a:solidFill>
                  <a:srgbClr val="556175"/>
                </a:solidFill>
                <a:latin typeface="맑은 고딕"/>
                <a:ea typeface="맑은 고딕"/>
                <a:cs typeface="맑은 고딕"/>
              </a:rPr>
              <a:t>sen:ts1</a:t>
            </a:r>
          </a:p>
        </p:txBody>
      </p:sp>
      <p:cxnSp>
        <p:nvCxnSpPr>
          <p:cNvPr id="15" name="Connector 14"/>
          <p:cNvCxnSpPr/>
          <p:nvPr/>
        </p:nvCxnSpPr>
        <p:spPr>
          <a:xfrm>
            <a:off x="2331720" y="3991356"/>
            <a:ext cx="2822295" cy="0"/>
          </a:xfrm>
          <a:prstGeom prst="line">
            <a:avLst/>
          </a:prstGeom>
          <a:ln w="28575">
            <a:solidFill>
              <a:srgbClr val="13294B"/>
            </a:solidFill>
            <a:tailEnd type="triangle" w="med" len="med"/>
          </a:ln>
        </p:spPr>
      </p:cxnSp>
      <p:sp>
        <p:nvSpPr>
          <p:cNvPr id="16" name="Rounded Rectangle 15"/>
          <p:cNvSpPr/>
          <p:nvPr/>
        </p:nvSpPr>
        <p:spPr>
          <a:xfrm>
            <a:off x="2919798" y="3625596"/>
            <a:ext cx="16461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7" name="TextBox 16"/>
          <p:cNvSpPr txBox="1"/>
          <p:nvPr/>
        </p:nvSpPr>
        <p:spPr>
          <a:xfrm>
            <a:off x="2919798" y="3625596"/>
            <a:ext cx="164613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HAS_COMPONENT</a:t>
            </a:r>
          </a:p>
        </p:txBody>
      </p:sp>
      <p:cxnSp>
        <p:nvCxnSpPr>
          <p:cNvPr id="18" name="Connector 17"/>
          <p:cNvCxnSpPr/>
          <p:nvPr/>
        </p:nvCxnSpPr>
        <p:spPr>
          <a:xfrm>
            <a:off x="7010247" y="3991356"/>
            <a:ext cx="2822296" cy="0"/>
          </a:xfrm>
          <a:prstGeom prst="line">
            <a:avLst/>
          </a:prstGeom>
          <a:ln w="28575">
            <a:solidFill>
              <a:srgbClr val="13294B"/>
            </a:solidFill>
            <a:tailEnd type="triangle" w="med" len="med"/>
          </a:ln>
        </p:spPr>
      </p:cxnSp>
      <p:sp>
        <p:nvSpPr>
          <p:cNvPr id="19" name="Rounded Rectangle 18"/>
          <p:cNvSpPr/>
          <p:nvPr/>
        </p:nvSpPr>
        <p:spPr>
          <a:xfrm>
            <a:off x="7651751" y="3625596"/>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0" name="TextBox 19"/>
          <p:cNvSpPr txBox="1"/>
          <p:nvPr/>
        </p:nvSpPr>
        <p:spPr>
          <a:xfrm>
            <a:off x="7651751" y="3625596"/>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MONITORED_BY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3일차의 입력과 결과물 ① ②: 조치 방법과 판단 규칙</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수행 단계는 조치 방법의 작업 단계로, 전제 조건은 판단 규칙으로 옮겨지고 금지 사항은 조치의 하한으로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절차 자료의 구성요소</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적힌 문장과 옮겨진 결과물</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답하는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수행 단계</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「2. 팬 속도를 100 %로 올린다.」</a:t>
            </a:r>
          </a:p>
          <a:p>
            <a:pPr algn="l">
              <a:lnSpc>
                <a:spcPct val="110000"/>
              </a:lnSpc>
            </a:pPr>
            <a:r>
              <a:rPr sz="1400" b="0">
                <a:solidFill>
                  <a:srgbClr val="1F2A3A"/>
                </a:solidFill>
                <a:latin typeface="맑은 고딕"/>
                <a:ea typeface="맑은 고딕"/>
                <a:cs typeface="맑은 고딕"/>
              </a:rPr>
              <a:t>→ 조치 방법의 작업 단계: 냉각 성능 상실 -MITIGATED_BY→ 팬 최대 운전 -HAS_STEP→ 2단계</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어떻게</a:t>
            </a:r>
          </a:p>
          <a:p>
            <a:pPr algn="l">
              <a:lnSpc>
                <a:spcPct val="110000"/>
              </a:lnSpc>
            </a:pPr>
            <a:r>
              <a:rPr sz="1250" b="1">
                <a:solidFill>
                  <a:srgbClr val="556175"/>
                </a:solidFill>
                <a:latin typeface="맑은 고딕"/>
                <a:ea typeface="맑은 고딕"/>
                <a:cs typeface="맑은 고딕"/>
              </a:rPr>
              <a:t>하는가</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금지 사항</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「펌프 부하를 60 % 미만으로 설정하지 않는다.」</a:t>
            </a:r>
          </a:p>
          <a:p>
            <a:pPr algn="l">
              <a:lnSpc>
                <a:spcPct val="110000"/>
              </a:lnSpc>
            </a:pPr>
            <a:r>
              <a:rPr sz="1400" b="0">
                <a:solidFill>
                  <a:srgbClr val="1F2A3A"/>
                </a:solidFill>
                <a:latin typeface="맑은 고딕"/>
                <a:ea typeface="맑은 고딕"/>
                <a:cs typeface="맑은 고딕"/>
              </a:rPr>
              <a:t>→ 조치의 한계: 펌프 부하의 하한 60 % (판단 규칙으로는 만들지 않았다)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무엇을 하면</a:t>
            </a:r>
          </a:p>
          <a:p>
            <a:pPr algn="l">
              <a:lnSpc>
                <a:spcPct val="110000"/>
              </a:lnSpc>
            </a:pPr>
            <a:r>
              <a:rPr sz="1250" b="1">
                <a:solidFill>
                  <a:srgbClr val="556175"/>
                </a:solidFill>
                <a:latin typeface="맑은 고딕"/>
                <a:ea typeface="맑은 고딕"/>
                <a:cs typeface="맑은 고딕"/>
              </a:rPr>
              <a:t>안 되는가</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전제 조건</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「원격 조치는 PLC 운전 모드가 REMOTE_AUTO일 때만 한다.」</a:t>
            </a:r>
          </a:p>
          <a:p>
            <a:pPr algn="l">
              <a:lnSpc>
                <a:spcPct val="110000"/>
              </a:lnSpc>
            </a:pPr>
            <a:r>
              <a:rPr sz="1400" b="0">
                <a:solidFill>
                  <a:srgbClr val="1F2A3A"/>
                </a:solidFill>
                <a:latin typeface="맑은 고딕"/>
                <a:ea typeface="맑은 고딕"/>
                <a:cs typeface="맑은 고딕"/>
              </a:rPr>
              <a:t>→ 판단 규칙: plc_mode != REMOTE_AUTO → 제외 (근거 HM-8.8)</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언제 할 수</a:t>
            </a:r>
          </a:p>
          <a:p>
            <a:pPr algn="l">
              <a:lnSpc>
                <a:spcPct val="110000"/>
              </a:lnSpc>
            </a:pPr>
            <a:r>
              <a:rPr sz="1250" b="1">
                <a:solidFill>
                  <a:srgbClr val="1A6FC4"/>
                </a:solidFill>
                <a:latin typeface="맑은 고딕"/>
                <a:ea typeface="맑은 고딕"/>
                <a:cs typeface="맑은 고딕"/>
              </a:rPr>
              <a:t>있는가</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3일차의 결과물 ③: 후보를 견주는 성과 지표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셋째 결과물은 규칙을 통과한 후보끼리 어느 쪽이 나은지를 견주는 기준인 성과 지표이다.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929636"/>
            <a:ext cx="731520" cy="731520"/>
          </a:xfrm>
          <a:prstGeom prst="ellipse">
            <a:avLst/>
          </a:prstGeom>
          <a:solidFill>
            <a:srgbClr val="E7F3FD"/>
          </a:solidFill>
          <a:ln>
            <a:noFill/>
          </a:ln>
        </p:spPr>
        <p:txBody>
          <a:bodyPr rtlCol="0" anchor="ctr"/>
          <a:lstStyle/>
          <a:p>
            <a:pPr algn="ctr"/>
          </a:p>
        </p:txBody>
      </p:sp>
      <p:pic>
        <p:nvPicPr>
          <p:cNvPr id="8" name="아이콘:shield-check" descr="shield-check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인터록 여유</a:t>
            </a:r>
          </a:p>
          <a:p>
            <a:pPr algn="l">
              <a:lnSpc>
                <a:spcPct val="110000"/>
              </a:lnSpc>
              <a:spcAft>
                <a:spcPts val="400"/>
              </a:spcAft>
            </a:pPr>
            <a:r>
              <a:rPr sz="1400" b="0">
                <a:solidFill>
                  <a:srgbClr val="1F2A3A"/>
                </a:solidFill>
                <a:latin typeface="맑은 고딕"/>
                <a:ea typeface="맑은 고딕"/>
                <a:cs typeface="맑은 고딕"/>
              </a:rPr>
              <a:t>유온이 내려가면 늘어난다</a:t>
            </a:r>
          </a:p>
        </p:txBody>
      </p:sp>
      <p:sp>
        <p:nvSpPr>
          <p:cNvPr id="10" name="Rounded Rectangle 9"/>
          <p:cNvSpPr/>
          <p:nvPr/>
        </p:nvSpPr>
        <p:spPr>
          <a:xfrm>
            <a:off x="777240" y="482447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a:t>
            </a:r>
          </a:p>
        </p:txBody>
      </p:sp>
      <p:sp>
        <p:nvSpPr>
          <p:cNvPr id="12" name="Rounded Rectangle 11"/>
          <p:cNvSpPr/>
          <p:nvPr/>
        </p:nvSpPr>
        <p:spPr>
          <a:xfrm>
            <a:off x="4338218"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929636"/>
            <a:ext cx="731520" cy="731520"/>
          </a:xfrm>
          <a:prstGeom prst="ellipse">
            <a:avLst/>
          </a:prstGeom>
          <a:solidFill>
            <a:srgbClr val="E7F3FD"/>
          </a:solidFill>
          <a:ln>
            <a:noFill/>
          </a:ln>
        </p:spPr>
        <p:txBody>
          <a:bodyPr rtlCol="0" anchor="ctr"/>
          <a:lstStyle/>
          <a:p>
            <a:pPr algn="ctr"/>
          </a:p>
        </p:txBody>
      </p:sp>
      <p:pic>
        <p:nvPicPr>
          <p:cNvPr id="14" name="아이콘:bolt" descr="bolt_13294B_1.6.png"/>
          <p:cNvPicPr>
            <a:picLocks noChangeAspect="1"/>
          </p:cNvPicPr>
          <p:nvPr/>
        </p:nvPicPr>
        <p:blipFill>
          <a:blip r:embed="rId4"/>
          <a:stretch>
            <a:fillRect/>
          </a:stretch>
        </p:blipFill>
        <p:spPr>
          <a:xfrm>
            <a:off x="4720437" y="3083255"/>
            <a:ext cx="424281" cy="424281"/>
          </a:xfrm>
          <a:prstGeom prst="rect">
            <a:avLst/>
          </a:prstGeom>
        </p:spPr>
      </p:pic>
      <p:sp>
        <p:nvSpPr>
          <p:cNvPr id="15" name="TextBox 14"/>
          <p:cNvSpPr txBox="1"/>
          <p:nvPr/>
        </p:nvSpPr>
        <p:spPr>
          <a:xfrm>
            <a:off x="4502810"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전력 사용량</a:t>
            </a:r>
          </a:p>
          <a:p>
            <a:pPr algn="l">
              <a:lnSpc>
                <a:spcPct val="110000"/>
              </a:lnSpc>
              <a:spcAft>
                <a:spcPts val="400"/>
              </a:spcAft>
            </a:pPr>
            <a:r>
              <a:rPr sz="1400" b="0">
                <a:solidFill>
                  <a:srgbClr val="1F2A3A"/>
                </a:solidFill>
                <a:latin typeface="맑은 고딕"/>
                <a:ea typeface="맑은 고딕"/>
                <a:cs typeface="맑은 고딕"/>
              </a:rPr>
              <a:t>팬 속도를 올리면 늘어난다</a:t>
            </a:r>
          </a:p>
        </p:txBody>
      </p:sp>
      <p:sp>
        <p:nvSpPr>
          <p:cNvPr id="16" name="Rounded Rectangle 15"/>
          <p:cNvSpPr/>
          <p:nvPr/>
        </p:nvSpPr>
        <p:spPr>
          <a:xfrm>
            <a:off x="4566818" y="482447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비용</a:t>
            </a:r>
          </a:p>
        </p:txBody>
      </p:sp>
      <p:sp>
        <p:nvSpPr>
          <p:cNvPr id="18" name="Rounded Rectangle 17"/>
          <p:cNvSpPr/>
          <p:nvPr/>
        </p:nvSpPr>
        <p:spPr>
          <a:xfrm>
            <a:off x="8127796" y="2728468"/>
            <a:ext cx="3515258"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929636"/>
            <a:ext cx="731520" cy="731520"/>
          </a:xfrm>
          <a:prstGeom prst="ellipse">
            <a:avLst/>
          </a:prstGeom>
          <a:solidFill>
            <a:srgbClr val="5CB8F2"/>
          </a:solidFill>
          <a:ln>
            <a:noFill/>
          </a:ln>
        </p:spPr>
        <p:txBody>
          <a:bodyPr rtlCol="0" anchor="ctr"/>
          <a:lstStyle/>
          <a:p>
            <a:pPr algn="ctr"/>
          </a:p>
        </p:txBody>
      </p:sp>
      <p:pic>
        <p:nvPicPr>
          <p:cNvPr id="20" name="아이콘:calendar-time" descr="calendar-time_13294B_1.6.png"/>
          <p:cNvPicPr>
            <a:picLocks noChangeAspect="1"/>
          </p:cNvPicPr>
          <p:nvPr/>
        </p:nvPicPr>
        <p:blipFill>
          <a:blip r:embed="rId5"/>
          <a:stretch>
            <a:fillRect/>
          </a:stretch>
        </p:blipFill>
        <p:spPr>
          <a:xfrm>
            <a:off x="8510016" y="3083255"/>
            <a:ext cx="424281" cy="424281"/>
          </a:xfrm>
          <a:prstGeom prst="rect">
            <a:avLst/>
          </a:prstGeom>
        </p:spPr>
      </p:pic>
      <p:sp>
        <p:nvSpPr>
          <p:cNvPr id="21" name="TextBox 20"/>
          <p:cNvSpPr txBox="1"/>
          <p:nvPr/>
        </p:nvSpPr>
        <p:spPr>
          <a:xfrm>
            <a:off x="8292388"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납기 준수율</a:t>
            </a:r>
          </a:p>
          <a:p>
            <a:pPr algn="l">
              <a:lnSpc>
                <a:spcPct val="110000"/>
              </a:lnSpc>
              <a:spcAft>
                <a:spcPts val="400"/>
              </a:spcAft>
            </a:pPr>
            <a:r>
              <a:rPr sz="1400" b="0">
                <a:solidFill>
                  <a:srgbClr val="1F2A3A"/>
                </a:solidFill>
                <a:latin typeface="맑은 고딕"/>
                <a:ea typeface="맑은 고딕"/>
                <a:cs typeface="맑은 고딕"/>
              </a:rPr>
              <a:t>펌프 부하를 내리면 낮아진다</a:t>
            </a:r>
          </a:p>
        </p:txBody>
      </p:sp>
      <p:sp>
        <p:nvSpPr>
          <p:cNvPr id="22" name="Rounded Rectangle 21"/>
          <p:cNvSpPr/>
          <p:nvPr/>
        </p:nvSpPr>
        <p:spPr>
          <a:xfrm>
            <a:off x="8356396" y="4824476"/>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고객</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4일차의 입력과 결과물: 매뉴얼 원문에서 출처를 가진 지식으로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4일차는 매뉴얼 원문에서, 판단의 근거로 내놓을 수 있게 내용에 출처와 확인이 함께 붙은 지식을 만들었다.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ectangle 5"/>
          <p:cNvSpPr/>
          <p:nvPr/>
        </p:nvSpPr>
        <p:spPr>
          <a:xfrm>
            <a:off x="1935441" y="3364674"/>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254946"/>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추출</a:t>
            </a:r>
          </a:p>
        </p:txBody>
      </p:sp>
      <p:sp>
        <p:nvSpPr>
          <p:cNvPr id="9" name="Oval 8"/>
          <p:cNvSpPr/>
          <p:nvPr/>
        </p:nvSpPr>
        <p:spPr>
          <a:xfrm>
            <a:off x="1341081"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file-text" descr="file-text_13294B_1.6.png"/>
          <p:cNvPicPr>
            <a:picLocks noChangeAspect="1"/>
          </p:cNvPicPr>
          <p:nvPr/>
        </p:nvPicPr>
        <p:blipFill>
          <a:blip r:embed="rId3"/>
          <a:stretch>
            <a:fillRect/>
          </a:stretch>
        </p:blipFill>
        <p:spPr>
          <a:xfrm>
            <a:off x="1626374" y="3128759"/>
            <a:ext cx="618134" cy="618134"/>
          </a:xfrm>
          <a:prstGeom prst="rect">
            <a:avLst/>
          </a:prstGeom>
        </p:spPr>
      </p:pic>
      <p:sp>
        <p:nvSpPr>
          <p:cNvPr id="11" name="TextBox 10"/>
          <p:cNvSpPr txBox="1"/>
          <p:nvPr/>
        </p:nvSpPr>
        <p:spPr>
          <a:xfrm>
            <a:off x="640079"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매뉴얼 원문</a:t>
            </a:r>
          </a:p>
          <a:p>
            <a:pPr algn="ctr">
              <a:lnSpc>
                <a:spcPct val="110000"/>
              </a:lnSpc>
              <a:spcAft>
                <a:spcPts val="400"/>
              </a:spcAft>
            </a:pPr>
            <a:r>
              <a:rPr sz="1300" b="0">
                <a:solidFill>
                  <a:srgbClr val="1F2A3A"/>
                </a:solidFill>
                <a:latin typeface="맑은 고딕"/>
                <a:ea typeface="맑은 고딕"/>
                <a:cs typeface="맑은 고딕"/>
              </a:rPr>
              <a:t>입력</a:t>
            </a:r>
          </a:p>
        </p:txBody>
      </p:sp>
      <p:sp>
        <p:nvSpPr>
          <p:cNvPr id="12" name="Chevron 11"/>
          <p:cNvSpPr/>
          <p:nvPr/>
        </p:nvSpPr>
        <p:spPr>
          <a:xfrm>
            <a:off x="5976975" y="3254946"/>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검토</a:t>
            </a:r>
          </a:p>
        </p:txBody>
      </p:sp>
      <p:sp>
        <p:nvSpPr>
          <p:cNvPr id="14" name="Oval 13"/>
          <p:cNvSpPr/>
          <p:nvPr/>
        </p:nvSpPr>
        <p:spPr>
          <a:xfrm>
            <a:off x="4114685"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braces" descr="braces_13294B_1.6.png"/>
          <p:cNvPicPr>
            <a:picLocks noChangeAspect="1"/>
          </p:cNvPicPr>
          <p:nvPr/>
        </p:nvPicPr>
        <p:blipFill>
          <a:blip r:embed="rId4"/>
          <a:stretch>
            <a:fillRect/>
          </a:stretch>
        </p:blipFill>
        <p:spPr>
          <a:xfrm>
            <a:off x="4399978" y="3128759"/>
            <a:ext cx="618134" cy="618134"/>
          </a:xfrm>
          <a:prstGeom prst="rect">
            <a:avLst/>
          </a:prstGeom>
        </p:spPr>
      </p:pic>
      <p:sp>
        <p:nvSpPr>
          <p:cNvPr id="16" name="TextBox 15"/>
          <p:cNvSpPr txBox="1"/>
          <p:nvPr/>
        </p:nvSpPr>
        <p:spPr>
          <a:xfrm>
            <a:off x="3413683"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지식 후보</a:t>
            </a:r>
          </a:p>
          <a:p>
            <a:pPr algn="ctr">
              <a:lnSpc>
                <a:spcPct val="110000"/>
              </a:lnSpc>
              <a:spcAft>
                <a:spcPts val="400"/>
              </a:spcAft>
            </a:pPr>
            <a:r>
              <a:rPr sz="1300" b="0">
                <a:solidFill>
                  <a:srgbClr val="1F2A3A"/>
                </a:solidFill>
                <a:latin typeface="맑은 고딕"/>
                <a:ea typeface="맑은 고딕"/>
                <a:cs typeface="맑은 고딕"/>
              </a:rPr>
              <a:t>항목마다 인용</a:t>
            </a:r>
          </a:p>
        </p:txBody>
      </p:sp>
      <p:sp>
        <p:nvSpPr>
          <p:cNvPr id="17" name="Chevron 16"/>
          <p:cNvSpPr/>
          <p:nvPr/>
        </p:nvSpPr>
        <p:spPr>
          <a:xfrm>
            <a:off x="8750579" y="3254946"/>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적재</a:t>
            </a:r>
          </a:p>
        </p:txBody>
      </p:sp>
      <p:sp>
        <p:nvSpPr>
          <p:cNvPr id="19" name="Oval 18"/>
          <p:cNvSpPr/>
          <p:nvPr/>
        </p:nvSpPr>
        <p:spPr>
          <a:xfrm>
            <a:off x="6888289"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user-check" descr="user-check_13294B_1.6.png"/>
          <p:cNvPicPr>
            <a:picLocks noChangeAspect="1"/>
          </p:cNvPicPr>
          <p:nvPr/>
        </p:nvPicPr>
        <p:blipFill>
          <a:blip r:embed="rId5"/>
          <a:stretch>
            <a:fillRect/>
          </a:stretch>
        </p:blipFill>
        <p:spPr>
          <a:xfrm>
            <a:off x="7173582" y="3128759"/>
            <a:ext cx="618134" cy="618134"/>
          </a:xfrm>
          <a:prstGeom prst="rect">
            <a:avLst/>
          </a:prstGeom>
        </p:spPr>
      </p:pic>
      <p:sp>
        <p:nvSpPr>
          <p:cNvPr id="21" name="TextBox 20"/>
          <p:cNvSpPr txBox="1"/>
          <p:nvPr/>
        </p:nvSpPr>
        <p:spPr>
          <a:xfrm>
            <a:off x="6187287"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검토된 지식</a:t>
            </a:r>
          </a:p>
          <a:p>
            <a:pPr algn="ctr">
              <a:lnSpc>
                <a:spcPct val="110000"/>
              </a:lnSpc>
              <a:spcAft>
                <a:spcPts val="400"/>
              </a:spcAft>
            </a:pPr>
            <a:r>
              <a:rPr sz="1300" b="0">
                <a:solidFill>
                  <a:srgbClr val="1F2A3A"/>
                </a:solidFill>
                <a:latin typeface="맑은 고딕"/>
                <a:ea typeface="맑은 고딕"/>
                <a:cs typeface="맑은 고딕"/>
              </a:rPr>
              <a:t>사람의 승인</a:t>
            </a:r>
          </a:p>
        </p:txBody>
      </p:sp>
      <p:sp>
        <p:nvSpPr>
          <p:cNvPr id="22" name="Oval 21"/>
          <p:cNvSpPr/>
          <p:nvPr/>
        </p:nvSpPr>
        <p:spPr>
          <a:xfrm>
            <a:off x="9661893" y="2843466"/>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topology-star-3" descr="topology-star-3_13294B_1.6.png"/>
          <p:cNvPicPr>
            <a:picLocks noChangeAspect="1"/>
          </p:cNvPicPr>
          <p:nvPr/>
        </p:nvPicPr>
        <p:blipFill>
          <a:blip r:embed="rId6"/>
          <a:stretch>
            <a:fillRect/>
          </a:stretch>
        </p:blipFill>
        <p:spPr>
          <a:xfrm>
            <a:off x="9947186" y="3128759"/>
            <a:ext cx="618134" cy="618134"/>
          </a:xfrm>
          <a:prstGeom prst="rect">
            <a:avLst/>
          </a:prstGeom>
        </p:spPr>
      </p:pic>
      <p:sp>
        <p:nvSpPr>
          <p:cNvPr id="24" name="TextBox 23"/>
          <p:cNvSpPr txBox="1"/>
          <p:nvPr/>
        </p:nvSpPr>
        <p:spPr>
          <a:xfrm>
            <a:off x="8960891"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출처를 가진 지식</a:t>
            </a:r>
          </a:p>
          <a:p>
            <a:pPr algn="ctr">
              <a:lnSpc>
                <a:spcPct val="110000"/>
              </a:lnSpc>
              <a:spcAft>
                <a:spcPts val="400"/>
              </a:spcAft>
            </a:pPr>
            <a:r>
              <a:rPr sz="1300" b="0">
                <a:solidFill>
                  <a:srgbClr val="1F2A3A"/>
                </a:solidFill>
                <a:latin typeface="맑은 고딕"/>
                <a:ea typeface="맑은 고딕"/>
                <a:cs typeface="맑은 고딕"/>
              </a:rPr>
              <a:t>내용: 원인, 증거, 조치 방법, 규칙</a:t>
            </a:r>
          </a:p>
          <a:p>
            <a:pPr algn="ctr">
              <a:lnSpc>
                <a:spcPct val="110000"/>
              </a:lnSpc>
              <a:spcAft>
                <a:spcPts val="400"/>
              </a:spcAft>
            </a:pPr>
            <a:r>
              <a:rPr sz="1300" b="0">
                <a:solidFill>
                  <a:srgbClr val="1F2A3A"/>
                </a:solidFill>
                <a:latin typeface="맑은 고딕"/>
                <a:ea typeface="맑은 고딕"/>
                <a:cs typeface="맑은 고딕"/>
              </a:rPr>
              <a:t>출처: 문서 식별자, 판본, 인용</a:t>
            </a:r>
          </a:p>
          <a:p>
            <a:pPr algn="ctr">
              <a:lnSpc>
                <a:spcPct val="110000"/>
              </a:lnSpc>
              <a:spcAft>
                <a:spcPts val="400"/>
              </a:spcAft>
            </a:pPr>
            <a:r>
              <a:rPr sz="1300" b="0">
                <a:solidFill>
                  <a:srgbClr val="1F2A3A"/>
                </a:solidFill>
                <a:latin typeface="맑은 고딕"/>
                <a:ea typeface="맑은 고딕"/>
                <a:cs typeface="맑은 고딕"/>
              </a:rPr>
              <a:t>확인: 검토자, 검토한 시각</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사건의 다섯 걸음과 네 일차의 결과물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사건의 판단을 순서대로 놓으면 걸음마다 서로 다른 일차의 결과물이 쓰였고, 그 자리에서 지어낸 것은 없었다.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경보와 고장 유형</a:t>
            </a:r>
          </a:p>
          <a:p>
            <a:pPr algn="ctr">
              <a:lnSpc>
                <a:spcPct val="110000"/>
              </a:lnSpc>
              <a:spcAft>
                <a:spcPts val="400"/>
              </a:spcAft>
            </a:pPr>
            <a:r>
              <a:rPr sz="1250" b="0">
                <a:solidFill>
                  <a:srgbClr val="1F2A3A"/>
                </a:solidFill>
                <a:latin typeface="맑은 고딕"/>
                <a:ea typeface="맑은 고딕"/>
                <a:cs typeface="맑은 고딕"/>
              </a:rPr>
              <a:t>2일차</a:t>
            </a:r>
          </a:p>
          <a:p>
            <a:pPr algn="ctr">
              <a:lnSpc>
                <a:spcPct val="110000"/>
              </a:lnSpc>
              <a:spcAft>
                <a:spcPts val="400"/>
              </a:spcAft>
            </a:pPr>
            <a:r>
              <a:rPr sz="1250" b="0">
                <a:solidFill>
                  <a:srgbClr val="1F2A3A"/>
                </a:solidFill>
                <a:latin typeface="맑은 고딕"/>
                <a:ea typeface="맑은 고딕"/>
                <a:cs typeface="맑은 고딕"/>
              </a:rPr>
              <a:t>스키마가</a:t>
            </a:r>
          </a:p>
          <a:p>
            <a:pPr algn="ctr">
              <a:lnSpc>
                <a:spcPct val="110000"/>
              </a:lnSpc>
              <a:spcAft>
                <a:spcPts val="400"/>
              </a:spcAft>
            </a:pPr>
            <a:r>
              <a:rPr sz="1250" b="0">
                <a:solidFill>
                  <a:srgbClr val="1F2A3A"/>
                </a:solidFill>
                <a:latin typeface="맑은 고딕"/>
                <a:ea typeface="맑은 고딕"/>
                <a:cs typeface="맑은 고딕"/>
              </a:rPr>
              <a:t>정한 길</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09303"/>
            <a:ext cx="731520" cy="731520"/>
          </a:xfrm>
          <a:prstGeom prst="ellipse">
            <a:avLst/>
          </a:prstGeom>
          <a:solidFill>
            <a:srgbClr val="FFFFFF"/>
          </a:solidFill>
          <a:ln>
            <a:noFill/>
          </a:ln>
        </p:spPr>
        <p:txBody>
          <a:bodyPr rtlCol="0" anchor="ctr"/>
          <a:lstStyle/>
          <a:p>
            <a:pPr algn="ctr"/>
          </a:p>
        </p:txBody>
      </p:sp>
      <p:pic>
        <p:nvPicPr>
          <p:cNvPr id="13" name="아이콘:topology-star-3" descr="topology-star-3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4일차</a:t>
            </a:r>
          </a:p>
          <a:p>
            <a:pPr algn="ctr">
              <a:lnSpc>
                <a:spcPct val="110000"/>
              </a:lnSpc>
              <a:spcAft>
                <a:spcPts val="400"/>
              </a:spcAft>
            </a:pPr>
            <a:r>
              <a:rPr sz="1250" b="0">
                <a:solidFill>
                  <a:srgbClr val="1F2A3A"/>
                </a:solidFill>
                <a:latin typeface="맑은 고딕"/>
                <a:ea typeface="맑은 고딕"/>
                <a:cs typeface="맑은 고딕"/>
              </a:rPr>
              <a:t>매뉴얼에서</a:t>
            </a:r>
          </a:p>
          <a:p>
            <a:pPr algn="ctr">
              <a:lnSpc>
                <a:spcPct val="110000"/>
              </a:lnSpc>
              <a:spcAft>
                <a:spcPts val="400"/>
              </a:spcAft>
            </a:pPr>
            <a:r>
              <a:rPr sz="1250" b="0">
                <a:solidFill>
                  <a:srgbClr val="1F2A3A"/>
                </a:solidFill>
                <a:latin typeface="맑은 고딕"/>
                <a:ea typeface="맑은 고딕"/>
                <a:cs typeface="맑은 고딕"/>
              </a:rPr>
              <a:t>온 지식</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09303"/>
            <a:ext cx="731520" cy="731520"/>
          </a:xfrm>
          <a:prstGeom prst="ellipse">
            <a:avLst/>
          </a:prstGeom>
          <a:solidFill>
            <a:srgbClr val="FFFFFF"/>
          </a:solidFill>
          <a:ln>
            <a:noFill/>
          </a:ln>
        </p:spPr>
        <p:txBody>
          <a:bodyPr rtlCol="0" anchor="ctr"/>
          <a:lstStyle/>
          <a:p>
            <a:pPr algn="ctr"/>
          </a:p>
        </p:txBody>
      </p:sp>
      <p:pic>
        <p:nvPicPr>
          <p:cNvPr id="18" name="아이콘:activity" descr="activity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값의 대조</a:t>
            </a:r>
          </a:p>
          <a:p>
            <a:pPr algn="ctr">
              <a:lnSpc>
                <a:spcPct val="110000"/>
              </a:lnSpc>
              <a:spcAft>
                <a:spcPts val="400"/>
              </a:spcAft>
            </a:pPr>
            <a:r>
              <a:rPr sz="1250" b="0">
                <a:solidFill>
                  <a:srgbClr val="1F2A3A"/>
                </a:solidFill>
                <a:latin typeface="맑은 고딕"/>
                <a:ea typeface="맑은 고딕"/>
                <a:cs typeface="맑은 고딕"/>
              </a:rPr>
              <a:t>4일차</a:t>
            </a:r>
          </a:p>
          <a:p>
            <a:pPr algn="ctr">
              <a:lnSpc>
                <a:spcPct val="110000"/>
              </a:lnSpc>
              <a:spcAft>
                <a:spcPts val="400"/>
              </a:spcAft>
            </a:pPr>
            <a:r>
              <a:rPr sz="1250" b="0">
                <a:solidFill>
                  <a:srgbClr val="1F2A3A"/>
                </a:solidFill>
                <a:latin typeface="맑은 고딕"/>
                <a:ea typeface="맑은 고딕"/>
                <a:cs typeface="맑은 고딕"/>
              </a:rPr>
              <a:t>원천에서</a:t>
            </a:r>
          </a:p>
          <a:p>
            <a:pPr algn="ctr">
              <a:lnSpc>
                <a:spcPct val="110000"/>
              </a:lnSpc>
              <a:spcAft>
                <a:spcPts val="400"/>
              </a:spcAft>
            </a:pPr>
            <a:r>
              <a:rPr sz="1250" b="0">
                <a:solidFill>
                  <a:srgbClr val="1F2A3A"/>
                </a:solidFill>
                <a:latin typeface="맑은 고딕"/>
                <a:ea typeface="맑은 고딕"/>
                <a:cs typeface="맑은 고딕"/>
              </a:rPr>
              <a:t>읽은 값</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조치의 판단</a:t>
            </a:r>
          </a:p>
          <a:p>
            <a:pPr algn="ctr">
              <a:lnSpc>
                <a:spcPct val="110000"/>
              </a:lnSpc>
              <a:spcAft>
                <a:spcPts val="400"/>
              </a:spcAft>
            </a:pPr>
            <a:r>
              <a:rPr sz="1250" b="0">
                <a:solidFill>
                  <a:srgbClr val="1F2A3A"/>
                </a:solidFill>
                <a:latin typeface="맑은 고딕"/>
                <a:ea typeface="맑은 고딕"/>
                <a:cs typeface="맑은 고딕"/>
              </a:rPr>
              <a:t>3일차</a:t>
            </a:r>
          </a:p>
          <a:p>
            <a:pPr algn="ctr">
              <a:lnSpc>
                <a:spcPct val="110000"/>
              </a:lnSpc>
              <a:spcAft>
                <a:spcPts val="400"/>
              </a:spcAft>
            </a:pPr>
            <a:r>
              <a:rPr sz="1250" b="0">
                <a:solidFill>
                  <a:srgbClr val="1F2A3A"/>
                </a:solidFill>
                <a:latin typeface="맑은 고딕"/>
                <a:ea typeface="맑은 고딕"/>
                <a:cs typeface="맑은 고딕"/>
              </a:rPr>
              <a:t>판단 규칙과</a:t>
            </a:r>
          </a:p>
          <a:p>
            <a:pPr algn="ctr">
              <a:lnSpc>
                <a:spcPct val="110000"/>
              </a:lnSpc>
              <a:spcAft>
                <a:spcPts val="400"/>
              </a:spcAft>
            </a:pPr>
            <a:r>
              <a:rPr sz="1250" b="0">
                <a:solidFill>
                  <a:srgbClr val="1F2A3A"/>
                </a:solidFill>
                <a:latin typeface="맑은 고딕"/>
                <a:ea typeface="맑은 고딕"/>
                <a:cs typeface="맑은 고딕"/>
              </a:rPr>
              <a:t>성과 기준</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809303"/>
            <a:ext cx="731520" cy="731520"/>
          </a:xfrm>
          <a:prstGeom prst="ellipse">
            <a:avLst/>
          </a:prstGeom>
          <a:solidFill>
            <a:srgbClr val="5CB8F2"/>
          </a:solidFill>
          <a:ln>
            <a:noFill/>
          </a:ln>
        </p:spPr>
        <p:txBody>
          <a:bodyPr rtlCol="0" anchor="ctr"/>
          <a:lstStyle/>
          <a:p>
            <a:pPr algn="ctr"/>
          </a:p>
        </p:txBody>
      </p:sp>
      <p:pic>
        <p:nvPicPr>
          <p:cNvPr id="28" name="아이콘:file-certificate" descr="file-certificate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근거의 제시</a:t>
            </a:r>
          </a:p>
          <a:p>
            <a:pPr algn="ctr">
              <a:lnSpc>
                <a:spcPct val="110000"/>
              </a:lnSpc>
              <a:spcAft>
                <a:spcPts val="400"/>
              </a:spcAft>
            </a:pPr>
            <a:r>
              <a:rPr sz="1250" b="0">
                <a:solidFill>
                  <a:srgbClr val="1F2A3A"/>
                </a:solidFill>
                <a:latin typeface="맑은 고딕"/>
                <a:ea typeface="맑은 고딕"/>
                <a:cs typeface="맑은 고딕"/>
              </a:rPr>
              <a:t>4일차</a:t>
            </a:r>
          </a:p>
          <a:p>
            <a:pPr algn="ctr">
              <a:lnSpc>
                <a:spcPct val="110000"/>
              </a:lnSpc>
              <a:spcAft>
                <a:spcPts val="400"/>
              </a:spcAft>
            </a:pPr>
            <a:r>
              <a:rPr sz="1250" b="0">
                <a:solidFill>
                  <a:srgbClr val="1F2A3A"/>
                </a:solidFill>
                <a:latin typeface="맑은 고딕"/>
                <a:ea typeface="맑은 고딕"/>
                <a:cs typeface="맑은 고딕"/>
              </a:rPr>
              <a:t>문서의 절과</a:t>
            </a:r>
          </a:p>
          <a:p>
            <a:pPr algn="ctr">
              <a:lnSpc>
                <a:spcPct val="110000"/>
              </a:lnSpc>
              <a:spcAft>
                <a:spcPts val="400"/>
              </a:spcAft>
            </a:pPr>
            <a:r>
              <a:rPr sz="1250" b="0">
                <a:solidFill>
                  <a:srgbClr val="1F2A3A"/>
                </a:solidFill>
                <a:latin typeface="맑은 고딕"/>
                <a:ea typeface="맑은 고딕"/>
                <a:cs typeface="맑은 고딕"/>
              </a:rPr>
              <a:t>인용</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2일차와 4일차의 결과물이 쓰인 자리: 경보에서 원인 후보까지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고장 유형까지는 스키마가 정의한 관계를 따라갔고, 원인 후보와 증거 기준은 매뉴얼에서 온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pic>
        <p:nvPicPr>
          <p:cNvPr id="6" name="삽화:경로_3.svg" descr="illust_3231798317467346405_179171539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3368473" y="2194925"/>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10" name="TextBox 9"/>
          <p:cNvSpPr txBox="1"/>
          <p:nvPr/>
        </p:nvSpPr>
        <p:spPr>
          <a:xfrm>
            <a:off x="1721140" y="4038630"/>
            <a:ext cx="120004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p:txBody>
      </p:sp>
      <p:sp>
        <p:nvSpPr>
          <p:cNvPr id="11" name="TextBox 10"/>
          <p:cNvSpPr txBox="1"/>
          <p:nvPr/>
        </p:nvSpPr>
        <p:spPr>
          <a:xfrm>
            <a:off x="3292107" y="4038630"/>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p:txBody>
      </p:sp>
      <p:sp>
        <p:nvSpPr>
          <p:cNvPr id="12" name="TextBox 11"/>
          <p:cNvSpPr txBox="1"/>
          <p:nvPr/>
        </p:nvSpPr>
        <p:spPr>
          <a:xfrm>
            <a:off x="5441277" y="195855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p:txBody>
      </p:sp>
      <p:sp>
        <p:nvSpPr>
          <p:cNvPr id="13" name="TextBox 12"/>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냉각 효율 평균 70 % 미만</a:t>
            </a:r>
          </a:p>
        </p:txBody>
      </p:sp>
      <p:sp>
        <p:nvSpPr>
          <p:cNvPr id="14" name="TextBox 13"/>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팬 진동 평균 0.9 mm/s 이상</a:t>
            </a:r>
          </a:p>
        </p:txBody>
      </p:sp>
      <p:sp>
        <p:nvSpPr>
          <p:cNvPr id="15" name="TextBox 14"/>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캐비닛 온도 평균 35 ℃ 이상</a:t>
            </a:r>
          </a:p>
        </p:txBody>
      </p:sp>
      <p:sp>
        <p:nvSpPr>
          <p:cNvPr id="16" name="TextBox 15"/>
          <p:cNvSpPr txBox="1"/>
          <p:nvPr/>
        </p:nvSpPr>
        <p:spPr>
          <a:xfrm>
            <a:off x="6826783" y="5125943"/>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p:txBody>
      </p:sp>
      <p:sp>
        <p:nvSpPr>
          <p:cNvPr id="17" name="TextBox 16"/>
          <p:cNvSpPr txBox="1"/>
          <p:nvPr/>
        </p:nvSpPr>
        <p:spPr>
          <a:xfrm>
            <a:off x="2659356" y="4653198"/>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p:txBody>
      </p:sp>
      <p:sp>
        <p:nvSpPr>
          <p:cNvPr id="18" name="TextBox 17"/>
          <p:cNvSpPr txBox="1"/>
          <p:nvPr/>
        </p:nvSpPr>
        <p:spPr>
          <a:xfrm>
            <a:off x="5386730" y="5220492"/>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9" name="TextBox 18"/>
          <p:cNvSpPr txBox="1"/>
          <p:nvPr/>
        </p:nvSpPr>
        <p:spPr>
          <a:xfrm>
            <a:off x="750195" y="522049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2일차의 결과물</a:t>
            </a:r>
          </a:p>
          <a:p>
            <a:pPr algn="ctr">
              <a:lnSpc>
                <a:spcPct val="110000"/>
              </a:lnSpc>
              <a:spcAft>
                <a:spcPts val="100"/>
              </a:spcAft>
            </a:pPr>
            <a:r>
              <a:rPr sz="1300" b="0">
                <a:solidFill>
                  <a:srgbClr val="556175"/>
                </a:solidFill>
                <a:latin typeface="맑은 고딕"/>
                <a:ea typeface="맑은 고딕"/>
                <a:cs typeface="맑은 고딕"/>
              </a:rPr>
              <a:t>스키마가 정의한 관계</a:t>
            </a:r>
          </a:p>
        </p:txBody>
      </p:sp>
      <p:sp>
        <p:nvSpPr>
          <p:cNvPr id="20" name="TextBox 19"/>
          <p:cNvSpPr txBox="1"/>
          <p:nvPr/>
        </p:nvSpPr>
        <p:spPr>
          <a:xfrm>
            <a:off x="7950461" y="5598688"/>
            <a:ext cx="349103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4일차의 결과물</a:t>
            </a:r>
          </a:p>
          <a:p>
            <a:pPr algn="ctr">
              <a:lnSpc>
                <a:spcPct val="110000"/>
              </a:lnSpc>
              <a:spcAft>
                <a:spcPts val="100"/>
              </a:spcAft>
            </a:pPr>
            <a:r>
              <a:rPr sz="1300" b="0">
                <a:solidFill>
                  <a:srgbClr val="556175"/>
                </a:solidFill>
                <a:latin typeface="맑은 고딕"/>
                <a:ea typeface="맑은 고딕"/>
                <a:cs typeface="맑은 고딕"/>
              </a:rPr>
              <a:t>매뉴얼 HM-8.4에서 온 지식</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4일차의 결과물이 쓰인 자리 ①: 기준과 읽은 값의 대조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증거 기준은 지식에 있고 값은 원천에 있어, 판단하는 순간 읽은 값을 기준에 대어야 원인이 정해진다.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원인 후보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증거 기준(지식)과 읽은 값(원천)</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판정</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쿨러 핀 오염</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기준: 냉각 효율 평균 70 % 미만이고 팬 진동 평균 0.9 mm/s 미만</a:t>
            </a:r>
          </a:p>
          <a:p>
            <a:pPr algn="l">
              <a:lnSpc>
                <a:spcPct val="110000"/>
              </a:lnSpc>
            </a:pPr>
            <a:r>
              <a:rPr sz="1400" b="0">
                <a:solidFill>
                  <a:srgbClr val="1F2A3A"/>
                </a:solidFill>
                <a:latin typeface="맑은 고딕"/>
                <a:ea typeface="맑은 고딕"/>
                <a:cs typeface="맑은 고딕"/>
              </a:rPr>
              <a:t>읽은 값: 냉각 효율 46.2 %, 팬 진동 0.575 mm/s</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맞음</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팬 구동 불량</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기준: 팬 진동 평균 0.9 mm/s 이상</a:t>
            </a:r>
          </a:p>
          <a:p>
            <a:pPr algn="l">
              <a:lnSpc>
                <a:spcPct val="110000"/>
              </a:lnSpc>
            </a:pPr>
            <a:r>
              <a:rPr sz="1400" b="0">
                <a:solidFill>
                  <a:srgbClr val="1F2A3A"/>
                </a:solidFill>
                <a:latin typeface="맑은 고딕"/>
                <a:ea typeface="맑은 고딕"/>
                <a:cs typeface="맑은 고딕"/>
              </a:rPr>
              <a:t>읽은 값: 팬 진동 0.575 mm/s</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아님</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주변 온도 상승</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기준: 캐비닛 온도 평균 35 ℃ 이상</a:t>
            </a:r>
          </a:p>
          <a:p>
            <a:pPr algn="l">
              <a:lnSpc>
                <a:spcPct val="110000"/>
              </a:lnSpc>
            </a:pPr>
            <a:r>
              <a:rPr sz="1400" b="0">
                <a:solidFill>
                  <a:srgbClr val="1F2A3A"/>
                </a:solidFill>
                <a:latin typeface="맑은 고딕"/>
                <a:ea typeface="맑은 고딕"/>
                <a:cs typeface="맑은 고딕"/>
              </a:rPr>
              <a:t>읽은 값: 캐비닛 온도 28 ℃</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아님</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3일차의 결과물이 쓰인 자리: 조치의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사건에서 네 후보의 순위를 정해 한 가지를 추천으로 올린 것이 3일차의 규칙과 성과 기준이다.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순위</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조치 방법과 조치 후 예측 유온</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판정</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1순위</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팬 최대 운전 · 49.8 ℃</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2순위</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부하 70 %와 야간 핀 세척 · 47.7 ℃</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통과</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3순위</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팬 최대 운전과 부하 80 % · 44.6 ℃</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통과</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4순위</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세척 · 62.5 ℃</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경고</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4일차의 결과물이 쓰인 자리 ②: 근거의 제시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추천안에는 따라온 길과 후보를 고른 규칙과 매뉴얼의 절이 함께 제시되어 담당자가 근거를 보고 승인한다.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653665"/>
            <a:ext cx="6766560" cy="2675382"/>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790825"/>
            <a:ext cx="6400800" cy="2401062"/>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함께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제시된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근거</a:t>
            </a:r>
          </a:p>
          <a:p>
            <a:pPr algn="l">
              <a:lnSpc>
                <a:spcPct val="110000"/>
              </a:lnSpc>
              <a:spcAft>
                <a:spcPts val="200"/>
              </a:spcAft>
            </a:pPr>
            <a:r>
              <a:rPr sz="1300" b="0">
                <a:solidFill>
                  <a:srgbClr val="E8EEF6"/>
                </a:solidFill>
                <a:latin typeface="맑은 고딕"/>
                <a:ea typeface="맑은 고딕"/>
                <a:cs typeface="맑은 고딕"/>
              </a:rPr>
              <a:t>추천안에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길</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a:lnSpc>
                <a:spcPct val="110000"/>
              </a:lnSpc>
              <a:spcAft>
                <a:spcPts val="200"/>
              </a:spcAft>
            </a:pPr>
            <a:r>
              <a:rPr sz="1300" b="0">
                <a:solidFill>
                  <a:srgbClr val="E8EEF6"/>
                </a:solidFill>
                <a:latin typeface="맑은 고딕"/>
                <a:ea typeface="맑은 고딕"/>
                <a:cs typeface="맑은 고딕"/>
              </a:rPr>
              <a:t>후보로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(HM-8.5)</a:t>
            </a:r>
          </a:p>
          <a:p>
            <a:pPr algn="l">
              <a:lnSpc>
                <a:spcPct val="110000"/>
              </a:lnSpc>
              <a:spcAft>
                <a:spcPts val="200"/>
              </a:spcAft>
            </a:pPr>
            <a:r>
              <a:rPr sz="1300" b="0">
                <a:solidFill>
                  <a:srgbClr val="E8EEF6"/>
                </a:solidFill>
                <a:latin typeface="맑은 고딕"/>
                <a:ea typeface="맑은 고딕"/>
                <a:cs typeface="맑은 고딕"/>
              </a:rPr>
              <a:t>출처</a:t>
            </a:r>
          </a:p>
          <a:p>
            <a:pPr algn="l">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p>
        </p:txBody>
      </p:sp>
      <p:sp>
        <p:nvSpPr>
          <p:cNvPr id="8" name="TextBox 7"/>
          <p:cNvSpPr txBox="1"/>
          <p:nvPr/>
        </p:nvSpPr>
        <p:spPr>
          <a:xfrm>
            <a:off x="7635240" y="2653665"/>
            <a:ext cx="4007815" cy="89179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추천안에 이른 길</a:t>
            </a:r>
          </a:p>
          <a:p>
            <a:pPr algn="l">
              <a:lnSpc>
                <a:spcPct val="110000"/>
              </a:lnSpc>
              <a:spcAft>
                <a:spcPts val="400"/>
              </a:spcAft>
            </a:pPr>
            <a:r>
              <a:rPr sz="1400" b="0">
                <a:solidFill>
                  <a:srgbClr val="1F2A3A"/>
                </a:solidFill>
                <a:latin typeface="맑은 고딕"/>
                <a:ea typeface="맑은 고딕"/>
                <a:cs typeface="맑은 고딕"/>
              </a:rPr>
              <a:t>스키마의 관계를 따라온 경로이다.</a:t>
            </a:r>
          </a:p>
        </p:txBody>
      </p:sp>
      <p:sp>
        <p:nvSpPr>
          <p:cNvPr id="9" name="TextBox 8"/>
          <p:cNvSpPr txBox="1"/>
          <p:nvPr/>
        </p:nvSpPr>
        <p:spPr>
          <a:xfrm>
            <a:off x="7635240" y="3545459"/>
            <a:ext cx="4007815" cy="89179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후보로 고른 규칙</a:t>
            </a:r>
          </a:p>
          <a:p>
            <a:pPr algn="l">
              <a:lnSpc>
                <a:spcPct val="110000"/>
              </a:lnSpc>
              <a:spcAft>
                <a:spcPts val="400"/>
              </a:spcAft>
            </a:pPr>
            <a:r>
              <a:rPr sz="1400" b="0">
                <a:solidFill>
                  <a:srgbClr val="1F2A3A"/>
                </a:solidFill>
                <a:latin typeface="맑은 고딕"/>
                <a:ea typeface="맑은 고딕"/>
                <a:cs typeface="맑은 고딕"/>
              </a:rPr>
              <a:t>이 조치를 후보로 올린 판단 규칙이다.</a:t>
            </a:r>
          </a:p>
        </p:txBody>
      </p:sp>
      <p:sp>
        <p:nvSpPr>
          <p:cNvPr id="10" name="TextBox 9"/>
          <p:cNvSpPr txBox="1"/>
          <p:nvPr/>
        </p:nvSpPr>
        <p:spPr>
          <a:xfrm>
            <a:off x="7635240" y="4437253"/>
            <a:ext cx="4007815" cy="89179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출처</a:t>
            </a:r>
          </a:p>
          <a:p>
            <a:pPr algn="l">
              <a:lnSpc>
                <a:spcPct val="110000"/>
              </a:lnSpc>
              <a:spcAft>
                <a:spcPts val="400"/>
              </a:spcAft>
            </a:pPr>
            <a:r>
              <a:rPr sz="1400" b="0">
                <a:solidFill>
                  <a:srgbClr val="1F2A3A"/>
                </a:solidFill>
                <a:latin typeface="맑은 고딕"/>
                <a:ea typeface="맑은 고딕"/>
                <a:cs typeface="맑은 고딕"/>
              </a:rPr>
              <a:t>조치 방법의 단계가 가리키는 매뉴얼의 절이다.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층: 스키마, 인스턴스 데이터,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나흘의 결과물은 바뀌는 빠르기가 다른 세 층이며, 빠르기가 다른 것은 한곳에 섞어 두지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a:t>
            </a:r>
          </a:p>
          <a:p>
            <a:pPr algn="l">
              <a:lnSpc>
                <a:spcPct val="110000"/>
              </a:lnSpc>
              <a:spcAft>
                <a:spcPts val="200"/>
              </a:spcAft>
            </a:pPr>
            <a:r>
              <a:rPr sz="1150" b="0">
                <a:solidFill>
                  <a:srgbClr val="556175"/>
                </a:solidFill>
                <a:latin typeface="맑은 고딕"/>
                <a:ea typeface="맑은 고딕"/>
                <a:cs typeface="맑은 고딕"/>
              </a:rPr>
              <a:t>지식의 구조</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예: 원인은 고장 유형을 CAUSES로 가리킨다.</a:t>
            </a:r>
          </a:p>
          <a:p>
            <a:pPr algn="l">
              <a:lnSpc>
                <a:spcPct val="110000"/>
              </a:lnSpc>
              <a:spcAft>
                <a:spcPts val="300"/>
              </a:spcAft>
            </a:pPr>
            <a:r>
              <a:rPr sz="1400" b="0">
                <a:solidFill>
                  <a:srgbClr val="1F2A3A"/>
                </a:solidFill>
                <a:latin typeface="맑은 고딕"/>
                <a:ea typeface="맑은 고딕"/>
                <a:cs typeface="맑은 고딕"/>
              </a:rPr>
              <a:t>설계를 고칠 때만 바뀐다.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인스턴스 데이터</a:t>
            </a:r>
          </a:p>
          <a:p>
            <a:pPr algn="l">
              <a:lnSpc>
                <a:spcPct val="110000"/>
              </a:lnSpc>
              <a:spcAft>
                <a:spcPts val="200"/>
              </a:spcAft>
            </a:pPr>
            <a:r>
              <a:rPr sz="1150" b="0">
                <a:solidFill>
                  <a:srgbClr val="556175"/>
                </a:solidFill>
                <a:latin typeface="맑은 고딕"/>
                <a:ea typeface="맑은 고딕"/>
                <a:cs typeface="맑은 고딕"/>
              </a:rPr>
              <a:t>지식</a:t>
            </a:r>
          </a:p>
        </p:txBody>
      </p:sp>
      <p:sp>
        <p:nvSpPr>
          <p:cNvPr id="10" name="TextBox 9"/>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예: 쿨러 핀 오염이 쿨러 냉각 성능 상실을 일으킨다.</a:t>
            </a:r>
          </a:p>
          <a:p>
            <a:pPr algn="l">
              <a:lnSpc>
                <a:spcPct val="110000"/>
              </a:lnSpc>
              <a:spcAft>
                <a:spcPts val="300"/>
              </a:spcAft>
            </a:pPr>
            <a:r>
              <a:rPr sz="1400" b="0">
                <a:solidFill>
                  <a:srgbClr val="1F2A3A"/>
                </a:solidFill>
                <a:latin typeface="맑은 고딕"/>
                <a:ea typeface="맑은 고딕"/>
                <a:cs typeface="맑은 고딕"/>
              </a:rPr>
              <a:t>근거 문서가 개정될 때 바뀐다.</a:t>
            </a:r>
          </a:p>
        </p:txBody>
      </p:sp>
      <p:sp>
        <p:nvSpPr>
          <p:cNvPr id="11" name="Rectangle 10"/>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704588"/>
            <a:ext cx="11094415" cy="1316736"/>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값</a:t>
            </a:r>
          </a:p>
          <a:p>
            <a:pPr algn="l">
              <a:lnSpc>
                <a:spcPct val="110000"/>
              </a:lnSpc>
              <a:spcAft>
                <a:spcPts val="200"/>
              </a:spcAft>
            </a:pPr>
            <a:r>
              <a:rPr sz="1150" b="0">
                <a:solidFill>
                  <a:srgbClr val="556175"/>
                </a:solidFill>
                <a:latin typeface="맑은 고딕"/>
                <a:ea typeface="맑은 고딕"/>
                <a:cs typeface="맑은 고딕"/>
              </a:rPr>
              <a:t>실제 데이터</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예: 경보가 난 순간의 냉각 효율 46.2 %</a:t>
            </a:r>
          </a:p>
          <a:p>
            <a:pPr algn="l">
              <a:lnSpc>
                <a:spcPct val="110000"/>
              </a:lnSpc>
              <a:spcAft>
                <a:spcPts val="300"/>
              </a:spcAft>
            </a:pPr>
            <a:r>
              <a:rPr sz="1400" b="0">
                <a:solidFill>
                  <a:srgbClr val="1F2A3A"/>
                </a:solidFill>
                <a:latin typeface="맑은 고딕"/>
                <a:ea typeface="맑은 고딕"/>
                <a:cs typeface="맑은 고딕"/>
              </a:rPr>
              <a:t>매초, 또는 업무가 일어날 때마다 바뀐다.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문제가 생겼을 때 살펴볼 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판단이 이상할 때 드러난 모습에 따라 살펴볼 층이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드러난 모습</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살펴볼 층</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고칠 곳</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따라갈 관계가 없어 답이 나오지 않는다</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스키마</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정의</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판정 기준이 매뉴얼과 다르다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인스턴스 데이터와 그 출처</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판단에 쓰인 숫자가 실제와 다르다</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값과 값의 출처 기록</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원천</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규칙과 근거 문서: 같은 내용의 두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규칙만 있으면 기준의 이유를 설명할 수 없고 문장만 있으면 판정에 쓸 수 없으므로 둘을 함께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근거 문서의 문장</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HM-8.8</a:t>
            </a:r>
          </a:p>
          <a:p>
            <a:pPr algn="l">
              <a:lnSpc>
                <a:spcPct val="110000"/>
              </a:lnSpc>
              <a:spcAft>
                <a:spcPts val="600"/>
              </a:spcAft>
            </a:pPr>
            <a:r>
              <a:rPr sz="1450" b="0">
                <a:solidFill>
                  <a:srgbClr val="1F2A3A"/>
                </a:solidFill>
                <a:latin typeface="맑은 고딕"/>
                <a:ea typeface="맑은 고딕"/>
                <a:cs typeface="맑은 고딕"/>
              </a:rPr>
              <a:t>• 「이미 24시간을 넘겼다면 팬 최대 운전 조치는 20만 원을 감점해서 비교한다.」</a:t>
            </a:r>
          </a:p>
        </p:txBody>
      </p:sp>
      <p:sp>
        <p:nvSpPr>
          <p:cNvPr id="11" name="Rounded Rectangle 10"/>
          <p:cNvSpPr/>
          <p:nvPr/>
        </p:nvSpPr>
        <p:spPr>
          <a:xfrm>
            <a:off x="868680" y="494557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왜 그런 기준인가</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list-check" descr="list-chec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판단 규칙</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조건: fan100_hours &gt; 24</a:t>
            </a:r>
          </a:p>
          <a:p>
            <a:pPr algn="l">
              <a:lnSpc>
                <a:spcPct val="110000"/>
              </a:lnSpc>
              <a:spcAft>
                <a:spcPts val="600"/>
              </a:spcAft>
            </a:pPr>
            <a:r>
              <a:rPr sz="1450" b="0">
                <a:solidFill>
                  <a:srgbClr val="1F2A3A"/>
                </a:solidFill>
                <a:latin typeface="맑은 고딕"/>
                <a:ea typeface="맑은 고딕"/>
                <a:cs typeface="맑은 고딕"/>
              </a:rPr>
              <a:t>• 판정: 감점 20만 원</a:t>
            </a:r>
          </a:p>
          <a:p>
            <a:pPr algn="l">
              <a:lnSpc>
                <a:spcPct val="110000"/>
              </a:lnSpc>
              <a:spcAft>
                <a:spcPts val="600"/>
              </a:spcAft>
            </a:pPr>
            <a:r>
              <a:rPr sz="1450" b="0">
                <a:solidFill>
                  <a:srgbClr val="1F2A3A"/>
                </a:solidFill>
                <a:latin typeface="맑은 고딕"/>
                <a:ea typeface="맑은 고딕"/>
                <a:cs typeface="맑은 고딕"/>
              </a:rPr>
              <a:t>• 대상: 팬 최대 운전</a:t>
            </a:r>
          </a:p>
        </p:txBody>
      </p:sp>
      <p:sp>
        <p:nvSpPr>
          <p:cNvPr id="18" name="Rounded Rectangle 17"/>
          <p:cNvSpPr/>
          <p:nvPr/>
        </p:nvSpPr>
        <p:spPr>
          <a:xfrm>
            <a:off x="6781647" y="4945570"/>
            <a:ext cx="1981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981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지금 어떻게 판정하는가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규칙에서 문서까지 이어진 관계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규칙은 자신이 나온 절을 DERIVED_FROM 관계로 가리키므로, 규칙이 걸리면 근거가 된 문장을 바로 내보일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Oval 5"/>
          <p:cNvSpPr/>
          <p:nvPr/>
        </p:nvSpPr>
        <p:spPr>
          <a:xfrm>
            <a:off x="548639" y="1627632"/>
            <a:ext cx="1737360" cy="1737360"/>
          </a:xfrm>
          <a:prstGeom prst="ellipse">
            <a:avLst/>
          </a:prstGeom>
          <a:solidFill>
            <a:srgbClr val="5CB8F2"/>
          </a:solidFill>
          <a:ln w="25400">
            <a:solidFill>
              <a:srgbClr val="13294B"/>
            </a:solidFill>
          </a:ln>
        </p:spPr>
        <p:txBody>
          <a:bodyPr rtlCol="0" anchor="ctr"/>
          <a:lstStyle/>
          <a:p>
            <a:pPr algn="ctr"/>
          </a:p>
        </p:txBody>
      </p:sp>
      <p:pic>
        <p:nvPicPr>
          <p:cNvPr id="7" name="아이콘:list-check" descr="list-check_13294B_1.6.png"/>
          <p:cNvPicPr>
            <a:picLocks noChangeAspect="1"/>
          </p:cNvPicPr>
          <p:nvPr/>
        </p:nvPicPr>
        <p:blipFill>
          <a:blip r:embed="rId3"/>
          <a:stretch>
            <a:fillRect/>
          </a:stretch>
        </p:blipFill>
        <p:spPr>
          <a:xfrm>
            <a:off x="1208836" y="1870862"/>
            <a:ext cx="416966" cy="416966"/>
          </a:xfrm>
          <a:prstGeom prst="rect">
            <a:avLst/>
          </a:prstGeom>
        </p:spPr>
      </p:pic>
      <p:sp>
        <p:nvSpPr>
          <p:cNvPr id="8" name="TextBox 7"/>
          <p:cNvSpPr txBox="1"/>
          <p:nvPr/>
        </p:nvSpPr>
        <p:spPr>
          <a:xfrm>
            <a:off x="670255"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감점 규칙</a:t>
            </a:r>
          </a:p>
          <a:p>
            <a:pPr algn="ctr">
              <a:lnSpc>
                <a:spcPct val="110000"/>
              </a:lnSpc>
            </a:pPr>
            <a:r>
              <a:rPr sz="1100" b="0">
                <a:solidFill>
                  <a:srgbClr val="556175"/>
                </a:solidFill>
                <a:latin typeface="맑은 고딕"/>
                <a:ea typeface="맑은 고딕"/>
                <a:cs typeface="맑은 고딕"/>
              </a:rPr>
              <a:t>연속 운전</a:t>
            </a:r>
          </a:p>
          <a:p>
            <a:pPr algn="ctr">
              <a:lnSpc>
                <a:spcPct val="110000"/>
              </a:lnSpc>
            </a:pPr>
            <a:r>
              <a:rPr sz="1100" b="0">
                <a:solidFill>
                  <a:srgbClr val="556175"/>
                </a:solidFill>
                <a:latin typeface="맑은 고딕"/>
                <a:ea typeface="맑은 고딕"/>
                <a:cs typeface="맑은 고딕"/>
              </a:rPr>
              <a:t>24시간 초과</a:t>
            </a:r>
          </a:p>
        </p:txBody>
      </p:sp>
      <p:sp>
        <p:nvSpPr>
          <p:cNvPr id="9" name="Oval 8"/>
          <p:cNvSpPr/>
          <p:nvPr/>
        </p:nvSpPr>
        <p:spPr>
          <a:xfrm>
            <a:off x="5227167"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0" name="아이콘:file-description" descr="file-description_13294B_1.6.png"/>
          <p:cNvPicPr>
            <a:picLocks noChangeAspect="1"/>
          </p:cNvPicPr>
          <p:nvPr/>
        </p:nvPicPr>
        <p:blipFill>
          <a:blip r:embed="rId4"/>
          <a:stretch>
            <a:fillRect/>
          </a:stretch>
        </p:blipFill>
        <p:spPr>
          <a:xfrm>
            <a:off x="5887364" y="1870862"/>
            <a:ext cx="416966" cy="416966"/>
          </a:xfrm>
          <a:prstGeom prst="rect">
            <a:avLst/>
          </a:prstGeom>
        </p:spPr>
      </p:pic>
      <p:sp>
        <p:nvSpPr>
          <p:cNvPr id="11" name="TextBox 10"/>
          <p:cNvSpPr txBox="1"/>
          <p:nvPr/>
        </p:nvSpPr>
        <p:spPr>
          <a:xfrm>
            <a:off x="5348782"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HM-8.8</a:t>
            </a:r>
          </a:p>
          <a:p>
            <a:pPr algn="ctr">
              <a:lnSpc>
                <a:spcPct val="110000"/>
              </a:lnSpc>
            </a:pPr>
            <a:r>
              <a:rPr sz="1100" b="0">
                <a:solidFill>
                  <a:srgbClr val="556175"/>
                </a:solidFill>
                <a:latin typeface="맑은 고딕"/>
                <a:ea typeface="맑은 고딕"/>
                <a:cs typeface="맑은 고딕"/>
              </a:rPr>
              <a:t>매뉴얼 절</a:t>
            </a:r>
          </a:p>
          <a:p>
            <a:pPr algn="ctr">
              <a:lnSpc>
                <a:spcPct val="110000"/>
              </a:lnSpc>
            </a:pPr>
            <a:r>
              <a:rPr sz="1100" b="0">
                <a:solidFill>
                  <a:srgbClr val="556175"/>
                </a:solidFill>
                <a:latin typeface="맑은 고딕"/>
                <a:ea typeface="맑은 고딕"/>
                <a:cs typeface="맑은 고딕"/>
              </a:rPr>
              <a:t>금지와 제한</a:t>
            </a:r>
          </a:p>
        </p:txBody>
      </p:sp>
      <p:sp>
        <p:nvSpPr>
          <p:cNvPr id="12" name="Oval 11"/>
          <p:cNvSpPr/>
          <p:nvPr/>
        </p:nvSpPr>
        <p:spPr>
          <a:xfrm>
            <a:off x="9905695"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3" name="아이콘:book-2" descr="book-2_13294B_1.6.png"/>
          <p:cNvPicPr>
            <a:picLocks noChangeAspect="1"/>
          </p:cNvPicPr>
          <p:nvPr/>
        </p:nvPicPr>
        <p:blipFill>
          <a:blip r:embed="rId5"/>
          <a:stretch>
            <a:fillRect/>
          </a:stretch>
        </p:blipFill>
        <p:spPr>
          <a:xfrm>
            <a:off x="10565892" y="1870862"/>
            <a:ext cx="416966" cy="416966"/>
          </a:xfrm>
          <a:prstGeom prst="rect">
            <a:avLst/>
          </a:prstGeom>
        </p:spPr>
      </p:pic>
      <p:sp>
        <p:nvSpPr>
          <p:cNvPr id="14" name="TextBox 13"/>
          <p:cNvSpPr txBox="1"/>
          <p:nvPr/>
        </p:nvSpPr>
        <p:spPr>
          <a:xfrm>
            <a:off x="10027310"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HM-8</a:t>
            </a:r>
          </a:p>
          <a:p>
            <a:pPr algn="ctr">
              <a:lnSpc>
                <a:spcPct val="110000"/>
              </a:lnSpc>
            </a:pPr>
            <a:r>
              <a:rPr sz="1100" b="0">
                <a:solidFill>
                  <a:srgbClr val="556175"/>
                </a:solidFill>
                <a:latin typeface="맑은 고딕"/>
                <a:ea typeface="맑은 고딕"/>
                <a:cs typeface="맑은 고딕"/>
              </a:rPr>
              <a:t>문서</a:t>
            </a:r>
          </a:p>
        </p:txBody>
      </p:sp>
      <p:sp>
        <p:nvSpPr>
          <p:cNvPr id="15" name="Oval 14"/>
          <p:cNvSpPr/>
          <p:nvPr/>
        </p:nvSpPr>
        <p:spPr>
          <a:xfrm>
            <a:off x="548639" y="4617720"/>
            <a:ext cx="1737360" cy="1737360"/>
          </a:xfrm>
          <a:prstGeom prst="ellipse">
            <a:avLst/>
          </a:prstGeom>
          <a:solidFill>
            <a:srgbClr val="E7F3FD"/>
          </a:solidFill>
          <a:ln w="25400">
            <a:solidFill>
              <a:srgbClr val="5CB8F2"/>
            </a:solidFill>
          </a:ln>
        </p:spPr>
        <p:txBody>
          <a:bodyPr rtlCol="0" anchor="ctr"/>
          <a:lstStyle/>
          <a:p>
            <a:pPr algn="ctr"/>
          </a:p>
        </p:txBody>
      </p:sp>
      <p:pic>
        <p:nvPicPr>
          <p:cNvPr id="16" name="아이콘:clock" descr="clock_13294B_1.6.png"/>
          <p:cNvPicPr>
            <a:picLocks noChangeAspect="1"/>
          </p:cNvPicPr>
          <p:nvPr/>
        </p:nvPicPr>
        <p:blipFill>
          <a:blip r:embed="rId6"/>
          <a:stretch>
            <a:fillRect/>
          </a:stretch>
        </p:blipFill>
        <p:spPr>
          <a:xfrm>
            <a:off x="1208836" y="4860950"/>
            <a:ext cx="416966" cy="416966"/>
          </a:xfrm>
          <a:prstGeom prst="rect">
            <a:avLst/>
          </a:prstGeom>
        </p:spPr>
      </p:pic>
      <p:sp>
        <p:nvSpPr>
          <p:cNvPr id="17" name="TextBox 16"/>
          <p:cNvSpPr txBox="1"/>
          <p:nvPr/>
        </p:nvSpPr>
        <p:spPr>
          <a:xfrm>
            <a:off x="670255" y="5312664"/>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연속 운전 시간</a:t>
            </a:r>
          </a:p>
          <a:p>
            <a:pPr algn="ctr">
              <a:lnSpc>
                <a:spcPct val="110000"/>
              </a:lnSpc>
            </a:pPr>
            <a:r>
              <a:rPr sz="1100" b="0">
                <a:solidFill>
                  <a:srgbClr val="556175"/>
                </a:solidFill>
                <a:latin typeface="맑은 고딕"/>
                <a:ea typeface="맑은 고딕"/>
                <a:cs typeface="맑은 고딕"/>
              </a:rPr>
              <a:t>입력 데이터</a:t>
            </a:r>
          </a:p>
        </p:txBody>
      </p:sp>
      <p:cxnSp>
        <p:nvCxnSpPr>
          <p:cNvPr id="18" name="Connector 17"/>
          <p:cNvCxnSpPr/>
          <p:nvPr/>
        </p:nvCxnSpPr>
        <p:spPr>
          <a:xfrm>
            <a:off x="2331720" y="2496312"/>
            <a:ext cx="2822295" cy="0"/>
          </a:xfrm>
          <a:prstGeom prst="line">
            <a:avLst/>
          </a:prstGeom>
          <a:ln w="28575">
            <a:solidFill>
              <a:srgbClr val="13294B"/>
            </a:solidFill>
            <a:tailEnd type="triangle" w="med" len="med"/>
          </a:ln>
        </p:spPr>
      </p:cxnSp>
      <p:sp>
        <p:nvSpPr>
          <p:cNvPr id="19" name="Rounded Rectangle 18"/>
          <p:cNvSpPr/>
          <p:nvPr/>
        </p:nvSpPr>
        <p:spPr>
          <a:xfrm>
            <a:off x="2973223" y="2130552"/>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0" name="TextBox 19"/>
          <p:cNvSpPr txBox="1"/>
          <p:nvPr/>
        </p:nvSpPr>
        <p:spPr>
          <a:xfrm>
            <a:off x="2973223" y="2130552"/>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DERIVED_FROM</a:t>
            </a:r>
          </a:p>
        </p:txBody>
      </p:sp>
      <p:cxnSp>
        <p:nvCxnSpPr>
          <p:cNvPr id="21" name="Connector 20"/>
          <p:cNvCxnSpPr/>
          <p:nvPr/>
        </p:nvCxnSpPr>
        <p:spPr>
          <a:xfrm>
            <a:off x="7010247" y="2496312"/>
            <a:ext cx="2822296" cy="0"/>
          </a:xfrm>
          <a:prstGeom prst="line">
            <a:avLst/>
          </a:prstGeom>
          <a:ln w="28575">
            <a:solidFill>
              <a:srgbClr val="13294B"/>
            </a:solidFill>
            <a:tailEnd type="triangle" w="med" len="med"/>
          </a:ln>
        </p:spPr>
      </p:cxnSp>
      <p:sp>
        <p:nvSpPr>
          <p:cNvPr id="22" name="Rounded Rectangle 21"/>
          <p:cNvSpPr/>
          <p:nvPr/>
        </p:nvSpPr>
        <p:spPr>
          <a:xfrm>
            <a:off x="7918876" y="2130552"/>
            <a:ext cx="10050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7918876" y="2130552"/>
            <a:ext cx="10050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PART_OF</a:t>
            </a:r>
          </a:p>
        </p:txBody>
      </p:sp>
      <p:cxnSp>
        <p:nvCxnSpPr>
          <p:cNvPr id="24" name="Connector 23"/>
          <p:cNvCxnSpPr/>
          <p:nvPr/>
        </p:nvCxnSpPr>
        <p:spPr>
          <a:xfrm>
            <a:off x="1417319" y="3410712"/>
            <a:ext cx="0" cy="1133856"/>
          </a:xfrm>
          <a:prstGeom prst="line">
            <a:avLst/>
          </a:prstGeom>
          <a:ln w="28575">
            <a:solidFill>
              <a:srgbClr val="13294B"/>
            </a:solidFill>
            <a:tailEnd type="triangle" w="med" len="med"/>
          </a:ln>
        </p:spPr>
      </p:cxnSp>
      <p:sp>
        <p:nvSpPr>
          <p:cNvPr id="25" name="Rounded Rectangle 24"/>
          <p:cNvSpPr/>
          <p:nvPr/>
        </p:nvSpPr>
        <p:spPr>
          <a:xfrm>
            <a:off x="1508760" y="3831335"/>
            <a:ext cx="80857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1508760" y="3831335"/>
            <a:ext cx="80857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TESTS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문서가 개정될 때 규칙을 찾아 고치는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매뉴얼의 기준이 개정된다면 그 절에서 나온 규칙을 관계로 찾아 새 판본의 검토와 적재로 고친다.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문서의 개정</a:t>
            </a:r>
          </a:p>
          <a:p>
            <a:pPr algn="ctr">
              <a:lnSpc>
                <a:spcPct val="110000"/>
              </a:lnSpc>
              <a:spcAft>
                <a:spcPts val="400"/>
              </a:spcAft>
            </a:pPr>
            <a:r>
              <a:rPr sz="1350" b="0">
                <a:solidFill>
                  <a:srgbClr val="1F2A3A"/>
                </a:solidFill>
                <a:latin typeface="맑은 고딕"/>
                <a:ea typeface="맑은 고딕"/>
                <a:cs typeface="맑은 고딕"/>
              </a:rPr>
              <a:t>절의 기준값이</a:t>
            </a:r>
          </a:p>
          <a:p>
            <a:pPr algn="ctr">
              <a:lnSpc>
                <a:spcPct val="110000"/>
              </a:lnSpc>
              <a:spcAft>
                <a:spcPts val="400"/>
              </a:spcAft>
            </a:pPr>
            <a:r>
              <a:rPr sz="1350" b="0">
                <a:solidFill>
                  <a:srgbClr val="1F2A3A"/>
                </a:solidFill>
                <a:latin typeface="맑은 고딕"/>
                <a:ea typeface="맑은 고딕"/>
                <a:cs typeface="맑은 고딕"/>
              </a:rPr>
              <a:t>바뀐다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versions" descr="versions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새 판본</a:t>
            </a:r>
          </a:p>
          <a:p>
            <a:pPr algn="ctr">
              <a:lnSpc>
                <a:spcPct val="110000"/>
              </a:lnSpc>
              <a:spcAft>
                <a:spcPts val="400"/>
              </a:spcAft>
            </a:pPr>
            <a:r>
              <a:rPr sz="1350" b="0">
                <a:solidFill>
                  <a:srgbClr val="1F2A3A"/>
                </a:solidFill>
                <a:latin typeface="맑은 고딕"/>
                <a:ea typeface="맑은 고딕"/>
                <a:cs typeface="맑은 고딕"/>
              </a:rPr>
              <a:t>같은 문서 식별자로</a:t>
            </a:r>
          </a:p>
          <a:p>
            <a:pPr algn="ctr">
              <a:lnSpc>
                <a:spcPct val="110000"/>
              </a:lnSpc>
              <a:spcAft>
                <a:spcPts val="400"/>
              </a:spcAft>
            </a:pPr>
            <a:r>
              <a:rPr sz="1350" b="0">
                <a:solidFill>
                  <a:srgbClr val="1F2A3A"/>
                </a:solidFill>
                <a:latin typeface="맑은 고딕"/>
                <a:ea typeface="맑은 고딕"/>
                <a:cs typeface="맑은 고딕"/>
              </a:rPr>
              <a:t>새 판본을 올린다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786062"/>
            <a:ext cx="731520" cy="731520"/>
          </a:xfrm>
          <a:prstGeom prst="ellipse">
            <a:avLst/>
          </a:prstGeom>
          <a:solidFill>
            <a:srgbClr val="5CB8F2"/>
          </a:solidFill>
          <a:ln>
            <a:noFill/>
          </a:ln>
        </p:spPr>
        <p:txBody>
          <a:bodyPr rtlCol="0" anchor="ctr"/>
          <a:lstStyle/>
          <a:p>
            <a:pPr algn="ctr"/>
          </a:p>
        </p:txBody>
      </p:sp>
      <p:pic>
        <p:nvPicPr>
          <p:cNvPr id="18" name="아이콘:list-search" descr="list-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영향받는 규칙</a:t>
            </a:r>
          </a:p>
          <a:p>
            <a:pPr algn="ctr">
              <a:lnSpc>
                <a:spcPct val="110000"/>
              </a:lnSpc>
              <a:spcAft>
                <a:spcPts val="400"/>
              </a:spcAft>
            </a:pPr>
            <a:r>
              <a:rPr sz="1350" b="0">
                <a:solidFill>
                  <a:srgbClr val="1F2A3A"/>
                </a:solidFill>
                <a:latin typeface="맑은 고딕"/>
                <a:ea typeface="맑은 고딕"/>
                <a:cs typeface="맑은 고딕"/>
              </a:rPr>
              <a:t>그 절을 가리키는</a:t>
            </a:r>
          </a:p>
          <a:p>
            <a:pPr algn="ctr">
              <a:lnSpc>
                <a:spcPct val="110000"/>
              </a:lnSpc>
              <a:spcAft>
                <a:spcPts val="400"/>
              </a:spcAft>
            </a:pPr>
            <a:r>
              <a:rPr sz="1350" b="0">
                <a:solidFill>
                  <a:srgbClr val="1F2A3A"/>
                </a:solidFill>
                <a:latin typeface="맑은 고딕"/>
                <a:ea typeface="맑은 고딕"/>
                <a:cs typeface="맑은 고딕"/>
              </a:rPr>
              <a:t>규칙을 찾는다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검토와 적재</a:t>
            </a:r>
          </a:p>
          <a:p>
            <a:pPr algn="ctr">
              <a:lnSpc>
                <a:spcPct val="110000"/>
              </a:lnSpc>
              <a:spcAft>
                <a:spcPts val="400"/>
              </a:spcAft>
            </a:pPr>
            <a:r>
              <a:rPr sz="1350" b="0">
                <a:solidFill>
                  <a:srgbClr val="1F2A3A"/>
                </a:solidFill>
                <a:latin typeface="맑은 고딕"/>
                <a:ea typeface="맑은 고딕"/>
                <a:cs typeface="맑은 고딕"/>
              </a:rPr>
              <a:t>고친 내용을</a:t>
            </a:r>
          </a:p>
          <a:p>
            <a:pPr algn="ctr">
              <a:lnSpc>
                <a:spcPct val="110000"/>
              </a:lnSpc>
              <a:spcAft>
                <a:spcPts val="400"/>
              </a:spcAft>
            </a:pPr>
            <a:r>
              <a:rPr sz="1350" b="0">
                <a:solidFill>
                  <a:srgbClr val="1F2A3A"/>
                </a:solidFill>
                <a:latin typeface="맑은 고딕"/>
                <a:ea typeface="맑은 고딕"/>
                <a:cs typeface="맑은 고딕"/>
              </a:rPr>
              <a:t>검토해 넣고</a:t>
            </a:r>
          </a:p>
          <a:p>
            <a:pPr algn="ctr">
              <a:lnSpc>
                <a:spcPct val="110000"/>
              </a:lnSpc>
              <a:spcAft>
                <a:spcPts val="400"/>
              </a:spcAft>
            </a:pPr>
            <a:r>
              <a:rPr sz="1350" b="0">
                <a:solidFill>
                  <a:srgbClr val="1F2A3A"/>
                </a:solidFill>
                <a:latin typeface="맑은 고딕"/>
                <a:ea typeface="맑은 고딕"/>
                <a:cs typeface="맑은 고딕"/>
              </a:rPr>
              <a:t>기록을 남긴다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지식과 규칙이 에이전트에게 주는 것: 길과 근거, 기준, 값의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원인이나 값을 지어내지 않고 등록된 관계를 조회하고 규칙의 판정을 받고 도구로 값을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그래프</a:t>
            </a:r>
          </a:p>
          <a:p>
            <a:pPr algn="l">
              <a:lnSpc>
                <a:spcPct val="110000"/>
              </a:lnSpc>
              <a:spcAft>
                <a:spcPts val="400"/>
              </a:spcAft>
            </a:pPr>
            <a:r>
              <a:rPr sz="1400" b="0">
                <a:solidFill>
                  <a:srgbClr val="1F2A3A"/>
                </a:solidFill>
                <a:latin typeface="맑은 고딕"/>
                <a:ea typeface="맑은 고딕"/>
                <a:cs typeface="맑은 고딕"/>
              </a:rPr>
              <a:t>• 쿨러 성능 저하 경보에서 출발하면 등록된 원인 후보 셋에 이른다</a:t>
            </a:r>
          </a:p>
          <a:p>
            <a:pPr algn="l">
              <a:lnSpc>
                <a:spcPct val="110000"/>
              </a:lnSpc>
              <a:spcAft>
                <a:spcPts val="400"/>
              </a:spcAft>
            </a:pPr>
            <a:r>
              <a:rPr sz="1400" b="0">
                <a:solidFill>
                  <a:srgbClr val="1F2A3A"/>
                </a:solidFill>
                <a:latin typeface="맑은 고딕"/>
                <a:ea typeface="맑은 고딕"/>
                <a:cs typeface="맑은 고딕"/>
              </a:rPr>
              <a:t>• 팬 최대 운전을 추천하면서 매뉴얼 HM-8.5를 출처로 낸다</a:t>
            </a:r>
          </a:p>
        </p:txBody>
      </p:sp>
      <p:sp>
        <p:nvSpPr>
          <p:cNvPr id="10" name="Rounded Rectangle 9"/>
          <p:cNvSpPr/>
          <p:nvPr/>
        </p:nvSpPr>
        <p:spPr>
          <a:xfrm>
            <a:off x="777240" y="5258308"/>
            <a:ext cx="17221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따라갈 길과 댈 근거</a:t>
            </a:r>
          </a:p>
        </p:txBody>
      </p:sp>
      <p:sp>
        <p:nvSpPr>
          <p:cNvPr id="12" name="Rounded Rectangle 11"/>
          <p:cNvSpPr/>
          <p:nvPr/>
        </p:nvSpPr>
        <p:spPr>
          <a:xfrm>
            <a:off x="4338218"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5CB8F2"/>
          </a:solidFill>
          <a:ln>
            <a:noFill/>
          </a:ln>
        </p:spPr>
        <p:txBody>
          <a:bodyPr rtlCol="0" anchor="ctr"/>
          <a:lstStyle/>
          <a:p>
            <a:pPr algn="ctr"/>
          </a:p>
        </p:txBody>
      </p:sp>
      <p:pic>
        <p:nvPicPr>
          <p:cNvPr id="14" name="아이콘:list-check" descr="list-check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판단 규칙</a:t>
            </a:r>
          </a:p>
          <a:p>
            <a:pPr algn="l">
              <a:lnSpc>
                <a:spcPct val="110000"/>
              </a:lnSpc>
              <a:spcAft>
                <a:spcPts val="400"/>
              </a:spcAft>
            </a:pPr>
            <a:r>
              <a:rPr sz="1400" b="0">
                <a:solidFill>
                  <a:srgbClr val="1F2A3A"/>
                </a:solidFill>
                <a:latin typeface="맑은 고딕"/>
                <a:ea typeface="맑은 고딕"/>
                <a:cs typeface="맑은 고딕"/>
              </a:rPr>
              <a:t>• 조건을 그때마다 해석하지 않고 값을 읽어 비교하므로 같은 조건에서 같은 판정이 나온다</a:t>
            </a:r>
          </a:p>
          <a:p>
            <a:pPr algn="l">
              <a:lnSpc>
                <a:spcPct val="110000"/>
              </a:lnSpc>
              <a:spcAft>
                <a:spcPts val="400"/>
              </a:spcAft>
            </a:pPr>
            <a:r>
              <a:rPr sz="1400" b="0">
                <a:solidFill>
                  <a:srgbClr val="1F2A3A"/>
                </a:solidFill>
                <a:latin typeface="맑은 고딕"/>
                <a:ea typeface="맑은 고딕"/>
                <a:cs typeface="맑은 고딕"/>
              </a:rPr>
              <a:t>• 걸린 규칙과 근거가 결과에 남는다</a:t>
            </a:r>
          </a:p>
        </p:txBody>
      </p:sp>
      <p:sp>
        <p:nvSpPr>
          <p:cNvPr id="16" name="Rounded Rectangle 15"/>
          <p:cNvSpPr/>
          <p:nvPr/>
        </p:nvSpPr>
        <p:spPr>
          <a:xfrm>
            <a:off x="4566818" y="5258308"/>
            <a:ext cx="10210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지킬 기준</a:t>
            </a:r>
          </a:p>
        </p:txBody>
      </p:sp>
      <p:sp>
        <p:nvSpPr>
          <p:cNvPr id="18" name="Rounded Rectangle 17"/>
          <p:cNvSpPr/>
          <p:nvPr/>
        </p:nvSpPr>
        <p:spPr>
          <a:xfrm>
            <a:off x="8127796"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E7F3FD"/>
          </a:solidFill>
          <a:ln>
            <a:noFill/>
          </a:ln>
        </p:spPr>
        <p:txBody>
          <a:bodyPr rtlCol="0" anchor="ctr"/>
          <a:lstStyle/>
          <a:p>
            <a:pPr algn="ctr"/>
          </a:p>
        </p:txBody>
      </p:sp>
      <p:pic>
        <p:nvPicPr>
          <p:cNvPr id="20" name="아이콘:map-pin" descr="map-pin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값의 자리</a:t>
            </a:r>
          </a:p>
          <a:p>
            <a:pPr algn="l">
              <a:lnSpc>
                <a:spcPct val="110000"/>
              </a:lnSpc>
              <a:spcAft>
                <a:spcPts val="400"/>
              </a:spcAft>
            </a:pPr>
            <a:r>
              <a:rPr sz="1400" b="0">
                <a:solidFill>
                  <a:srgbClr val="1F2A3A"/>
                </a:solidFill>
                <a:latin typeface="맑은 고딕"/>
                <a:ea typeface="맑은 고딕"/>
                <a:cs typeface="맑은 고딕"/>
              </a:rPr>
              <a:t>• 지식에 적힌 자리를 보고 도구로 원천에서 값을 읽고, 어디서 언제 읽었는지가 남는다</a:t>
            </a:r>
          </a:p>
          <a:p>
            <a:pPr algn="l">
              <a:lnSpc>
                <a:spcPct val="110000"/>
              </a:lnSpc>
              <a:spcAft>
                <a:spcPts val="400"/>
              </a:spcAft>
            </a:pPr>
            <a:r>
              <a:rPr sz="1400" b="0">
                <a:solidFill>
                  <a:srgbClr val="1F2A3A"/>
                </a:solidFill>
                <a:latin typeface="맑은 고딕"/>
                <a:ea typeface="맑은 고딕"/>
                <a:cs typeface="맑은 고딕"/>
              </a:rPr>
              <a:t>• 예: 시계열 DB에서 읽은 냉각 효율 46.2 %</a:t>
            </a:r>
          </a:p>
        </p:txBody>
      </p:sp>
      <p:sp>
        <p:nvSpPr>
          <p:cNvPr id="22" name="Rounded Rectangle 21"/>
          <p:cNvSpPr/>
          <p:nvPr/>
        </p:nvSpPr>
        <p:spPr>
          <a:xfrm>
            <a:off x="8356396" y="5258308"/>
            <a:ext cx="137160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8308"/>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도구로 읽을 곳</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정해 둔 것과 에이전트에게 맡기는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무엇이 사실이고 무엇이 기준인지는 사람이 검토한 지식에 두고, 에이전트에게는 조회하고 종합하는 일을 맡긴다.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사람이 검토해 정해 둔 것</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스키마의 정의</a:t>
            </a:r>
          </a:p>
          <a:p>
            <a:pPr algn="l">
              <a:lnSpc>
                <a:spcPct val="110000"/>
              </a:lnSpc>
              <a:spcAft>
                <a:spcPts val="600"/>
              </a:spcAft>
            </a:pPr>
            <a:r>
              <a:rPr sz="1450" b="0">
                <a:solidFill>
                  <a:srgbClr val="1F2A3A"/>
                </a:solidFill>
                <a:latin typeface="맑은 고딕"/>
                <a:ea typeface="맑은 고딕"/>
                <a:cs typeface="맑은 고딕"/>
              </a:rPr>
              <a:t>• 문서에서 온 지식과 규칙</a:t>
            </a:r>
          </a:p>
          <a:p>
            <a:pPr algn="l">
              <a:lnSpc>
                <a:spcPct val="110000"/>
              </a:lnSpc>
              <a:spcAft>
                <a:spcPts val="600"/>
              </a:spcAft>
            </a:pPr>
            <a:r>
              <a:rPr sz="1450" b="0">
                <a:solidFill>
                  <a:srgbClr val="1F2A3A"/>
                </a:solidFill>
                <a:latin typeface="맑은 고딕"/>
                <a:ea typeface="맑은 고딕"/>
                <a:cs typeface="맑은 고딕"/>
              </a:rPr>
              <a:t>• 값이 있는 자리</a:t>
            </a:r>
          </a:p>
        </p:txBody>
      </p:sp>
      <p:sp>
        <p:nvSpPr>
          <p:cNvPr id="11" name="Rounded Rectangle 10"/>
          <p:cNvSpPr/>
          <p:nvPr/>
        </p:nvSpPr>
        <p:spPr>
          <a:xfrm>
            <a:off x="868680" y="494557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사실과 기준</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에이전트에게 맡기는 것</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상황에 맞는 지식을 조회한다</a:t>
            </a:r>
          </a:p>
          <a:p>
            <a:pPr algn="l">
              <a:lnSpc>
                <a:spcPct val="110000"/>
              </a:lnSpc>
              <a:spcAft>
                <a:spcPts val="600"/>
              </a:spcAft>
            </a:pPr>
            <a:r>
              <a:rPr sz="1450" b="0">
                <a:solidFill>
                  <a:srgbClr val="1F2A3A"/>
                </a:solidFill>
                <a:latin typeface="맑은 고딕"/>
                <a:ea typeface="맑은 고딕"/>
                <a:cs typeface="맑은 고딕"/>
              </a:rPr>
              <a:t>• 값을 읽어 기준에 댄다</a:t>
            </a:r>
          </a:p>
          <a:p>
            <a:pPr algn="l">
              <a:lnSpc>
                <a:spcPct val="110000"/>
              </a:lnSpc>
              <a:spcAft>
                <a:spcPts val="600"/>
              </a:spcAft>
            </a:pPr>
            <a:r>
              <a:rPr sz="1450" b="0">
                <a:solidFill>
                  <a:srgbClr val="1F2A3A"/>
                </a:solidFill>
                <a:latin typeface="맑은 고딕"/>
                <a:ea typeface="맑은 고딕"/>
                <a:cs typeface="맑은 고딕"/>
              </a:rPr>
              <a:t>• 결과를 종합해 추천한다</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종합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정리: 판단의 재료가 놓이는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근거가 있는 판단은 구조와 검토된 지식과 원천의 값이 저마다 제자리에 있고 서로 이어져 있을 때 가능하다.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2562860"/>
            <a:ext cx="11094415" cy="13716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562860"/>
            <a:ext cx="10545775" cy="13716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판단이 따라갈 관계는 스키마가 정하고,</a:t>
            </a:r>
          </a:p>
          <a:p>
            <a:pPr algn="ctr">
              <a:lnSpc>
                <a:spcPct val="110000"/>
              </a:lnSpc>
            </a:pPr>
            <a:r>
              <a:rPr sz="2600" b="1">
                <a:solidFill>
                  <a:srgbClr val="13294B"/>
                </a:solidFill>
                <a:latin typeface="맑은 고딕"/>
                <a:ea typeface="맑은 고딕"/>
                <a:cs typeface="맑은 고딕"/>
              </a:rPr>
              <a:t>내용과 기준은 검토된 지식에서, 값은 원천에서 읽는다</a:t>
            </a:r>
          </a:p>
        </p:txBody>
      </p:sp>
      <p:sp>
        <p:nvSpPr>
          <p:cNvPr id="8" name="Oval 7"/>
          <p:cNvSpPr/>
          <p:nvPr/>
        </p:nvSpPr>
        <p:spPr>
          <a:xfrm>
            <a:off x="548640" y="4300220"/>
            <a:ext cx="731520" cy="731520"/>
          </a:xfrm>
          <a:prstGeom prst="ellipse">
            <a:avLst/>
          </a:prstGeom>
          <a:solidFill>
            <a:srgbClr val="E7F3FD"/>
          </a:solidFill>
          <a:ln>
            <a:noFill/>
          </a:ln>
        </p:spPr>
        <p:txBody>
          <a:bodyPr rtlCol="0" anchor="ctr"/>
          <a:lstStyle/>
          <a:p>
            <a:pPr algn="ctr"/>
          </a:p>
        </p:txBody>
      </p:sp>
      <p:pic>
        <p:nvPicPr>
          <p:cNvPr id="9" name="아이콘:schema" descr="schema_13294B_1.6.png"/>
          <p:cNvPicPr>
            <a:picLocks noChangeAspect="1"/>
          </p:cNvPicPr>
          <p:nvPr/>
        </p:nvPicPr>
        <p:blipFill>
          <a:blip r:embed="rId3"/>
          <a:stretch>
            <a:fillRect/>
          </a:stretch>
        </p:blipFill>
        <p:spPr>
          <a:xfrm>
            <a:off x="702259" y="4453839"/>
            <a:ext cx="424281" cy="424281"/>
          </a:xfrm>
          <a:prstGeom prst="rect">
            <a:avLst/>
          </a:prstGeom>
        </p:spPr>
      </p:pic>
      <p:sp>
        <p:nvSpPr>
          <p:cNvPr id="10" name="TextBox 9"/>
          <p:cNvSpPr txBox="1"/>
          <p:nvPr/>
        </p:nvSpPr>
        <p:spPr>
          <a:xfrm>
            <a:off x="1371600"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구조</a:t>
            </a:r>
          </a:p>
          <a:p>
            <a:pPr algn="l">
              <a:lnSpc>
                <a:spcPct val="110000"/>
              </a:lnSpc>
              <a:spcAft>
                <a:spcPts val="400"/>
              </a:spcAft>
            </a:pPr>
            <a:r>
              <a:rPr sz="1400" b="0">
                <a:solidFill>
                  <a:srgbClr val="1F2A3A"/>
                </a:solidFill>
                <a:latin typeface="맑은 고딕"/>
                <a:ea typeface="맑은 고딕"/>
                <a:cs typeface="맑은 고딕"/>
              </a:rPr>
              <a:t>스키마가 따라갈 길을 정한다</a:t>
            </a:r>
          </a:p>
        </p:txBody>
      </p:sp>
      <p:sp>
        <p:nvSpPr>
          <p:cNvPr id="11" name="Oval 10"/>
          <p:cNvSpPr/>
          <p:nvPr/>
        </p:nvSpPr>
        <p:spPr>
          <a:xfrm>
            <a:off x="4338218" y="4300220"/>
            <a:ext cx="731520" cy="731520"/>
          </a:xfrm>
          <a:prstGeom prst="ellipse">
            <a:avLst/>
          </a:prstGeom>
          <a:solidFill>
            <a:srgbClr val="E7F3FD"/>
          </a:solidFill>
          <a:ln>
            <a:noFill/>
          </a:ln>
        </p:spPr>
        <p:txBody>
          <a:bodyPr rtlCol="0" anchor="ctr"/>
          <a:lstStyle/>
          <a:p>
            <a:pPr algn="ctr"/>
          </a:p>
        </p:txBody>
      </p:sp>
      <p:pic>
        <p:nvPicPr>
          <p:cNvPr id="12" name="아이콘:file-certificate" descr="file-certificate_13294B_1.6.png"/>
          <p:cNvPicPr>
            <a:picLocks noChangeAspect="1"/>
          </p:cNvPicPr>
          <p:nvPr/>
        </p:nvPicPr>
        <p:blipFill>
          <a:blip r:embed="rId4"/>
          <a:stretch>
            <a:fillRect/>
          </a:stretch>
        </p:blipFill>
        <p:spPr>
          <a:xfrm>
            <a:off x="4491837" y="4453839"/>
            <a:ext cx="424281" cy="424281"/>
          </a:xfrm>
          <a:prstGeom prst="rect">
            <a:avLst/>
          </a:prstGeom>
        </p:spPr>
      </p:pic>
      <p:sp>
        <p:nvSpPr>
          <p:cNvPr id="13" name="TextBox 12"/>
          <p:cNvSpPr txBox="1"/>
          <p:nvPr/>
        </p:nvSpPr>
        <p:spPr>
          <a:xfrm>
            <a:off x="5161178"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지식과 규칙</a:t>
            </a:r>
          </a:p>
          <a:p>
            <a:pPr algn="l">
              <a:lnSpc>
                <a:spcPct val="110000"/>
              </a:lnSpc>
              <a:spcAft>
                <a:spcPts val="400"/>
              </a:spcAft>
            </a:pPr>
            <a:r>
              <a:rPr sz="1400" b="0">
                <a:solidFill>
                  <a:srgbClr val="1F2A3A"/>
                </a:solidFill>
                <a:latin typeface="맑은 고딕"/>
                <a:ea typeface="맑은 고딕"/>
                <a:cs typeface="맑은 고딕"/>
              </a:rPr>
              <a:t>사람이 검토한 내용이 출처와 함께 들어간다</a:t>
            </a:r>
          </a:p>
        </p:txBody>
      </p:sp>
      <p:sp>
        <p:nvSpPr>
          <p:cNvPr id="14" name="Oval 13"/>
          <p:cNvSpPr/>
          <p:nvPr/>
        </p:nvSpPr>
        <p:spPr>
          <a:xfrm>
            <a:off x="8127796" y="4300220"/>
            <a:ext cx="731520" cy="731520"/>
          </a:xfrm>
          <a:prstGeom prst="ellipse">
            <a:avLst/>
          </a:prstGeom>
          <a:solidFill>
            <a:srgbClr val="E7F3FD"/>
          </a:solidFill>
          <a:ln>
            <a:noFill/>
          </a:ln>
        </p:spPr>
        <p:txBody>
          <a:bodyPr rtlCol="0" anchor="ctr"/>
          <a:lstStyle/>
          <a:p>
            <a:pPr algn="ctr"/>
          </a:p>
        </p:txBody>
      </p:sp>
      <p:pic>
        <p:nvPicPr>
          <p:cNvPr id="15" name="아이콘:activity" descr="activity_13294B_1.6.png"/>
          <p:cNvPicPr>
            <a:picLocks noChangeAspect="1"/>
          </p:cNvPicPr>
          <p:nvPr/>
        </p:nvPicPr>
        <p:blipFill>
          <a:blip r:embed="rId5"/>
          <a:stretch>
            <a:fillRect/>
          </a:stretch>
        </p:blipFill>
        <p:spPr>
          <a:xfrm>
            <a:off x="8281416" y="4453839"/>
            <a:ext cx="424281" cy="424281"/>
          </a:xfrm>
          <a:prstGeom prst="rect">
            <a:avLst/>
          </a:prstGeom>
        </p:spPr>
      </p:pic>
      <p:sp>
        <p:nvSpPr>
          <p:cNvPr id="16" name="TextBox 15"/>
          <p:cNvSpPr txBox="1"/>
          <p:nvPr/>
        </p:nvSpPr>
        <p:spPr>
          <a:xfrm>
            <a:off x="8950756"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a:t>
            </a:r>
          </a:p>
          <a:p>
            <a:pPr algn="l">
              <a:lnSpc>
                <a:spcPct val="110000"/>
              </a:lnSpc>
              <a:spcAft>
                <a:spcPts val="400"/>
              </a:spcAft>
            </a:pPr>
            <a:r>
              <a:rPr sz="1400" b="0">
                <a:solidFill>
                  <a:srgbClr val="1F2A3A"/>
                </a:solidFill>
                <a:latin typeface="맑은 고딕"/>
                <a:ea typeface="맑은 고딕"/>
                <a:cs typeface="맑은 고딕"/>
              </a:rPr>
              <a:t>판단하는 순간에 읽고 읽은 출처를 남긴다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일차에서 정식 명칭을 붙인 용어와 인제스천에서 그 용어가 놓이는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인제스천에서</a:t>
            </a:r>
          </a:p>
        </p:txBody>
      </p:sp>
      <p:sp>
        <p:nvSpPr>
          <p:cNvPr id="10" name="Rounded Rectangle 9"/>
          <p:cNvSpPr/>
          <p:nvPr/>
        </p:nvSpPr>
        <p:spPr>
          <a:xfrm>
            <a:off x="548640" y="2061972"/>
            <a:ext cx="11094415" cy="553865"/>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인제스천</a:t>
            </a:r>
          </a:p>
        </p:txBody>
      </p:sp>
      <p:sp>
        <p:nvSpPr>
          <p:cNvPr id="12" name="TextBox 11"/>
          <p:cNvSpPr txBox="1"/>
          <p:nvPr/>
        </p:nvSpPr>
        <p:spPr>
          <a:xfrm>
            <a:off x="3200400" y="2029968"/>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Ingestion</a:t>
            </a:r>
          </a:p>
        </p:txBody>
      </p:sp>
      <p:sp>
        <p:nvSpPr>
          <p:cNvPr id="13" name="TextBox 12"/>
          <p:cNvSpPr txBox="1"/>
          <p:nvPr/>
        </p:nvSpPr>
        <p:spPr>
          <a:xfrm>
            <a:off x="9448495" y="2029968"/>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자료를 지식으로 등록</a:t>
            </a:r>
          </a:p>
        </p:txBody>
      </p:sp>
      <p:sp>
        <p:nvSpPr>
          <p:cNvPr id="14" name="Rounded Rectangle 13"/>
          <p:cNvSpPr/>
          <p:nvPr/>
        </p:nvSpPr>
        <p:spPr>
          <a:xfrm>
            <a:off x="548640" y="2679845"/>
            <a:ext cx="11094415" cy="553865"/>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647841"/>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LLM</a:t>
            </a:r>
          </a:p>
        </p:txBody>
      </p:sp>
      <p:sp>
        <p:nvSpPr>
          <p:cNvPr id="16" name="TextBox 15"/>
          <p:cNvSpPr txBox="1"/>
          <p:nvPr/>
        </p:nvSpPr>
        <p:spPr>
          <a:xfrm>
            <a:off x="3200400" y="2647841"/>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Large Language Model</a:t>
            </a:r>
          </a:p>
        </p:txBody>
      </p:sp>
      <p:sp>
        <p:nvSpPr>
          <p:cNvPr id="17" name="TextBox 16"/>
          <p:cNvSpPr txBox="1"/>
          <p:nvPr/>
        </p:nvSpPr>
        <p:spPr>
          <a:xfrm>
            <a:off x="9448495" y="2647841"/>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 후보의 추출</a:t>
            </a:r>
          </a:p>
        </p:txBody>
      </p:sp>
      <p:sp>
        <p:nvSpPr>
          <p:cNvPr id="18" name="Rounded Rectangle 17"/>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265714"/>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구조화 출력</a:t>
            </a:r>
          </a:p>
        </p:txBody>
      </p:sp>
      <p:sp>
        <p:nvSpPr>
          <p:cNvPr id="20" name="TextBox 19"/>
          <p:cNvSpPr txBox="1"/>
          <p:nvPr/>
        </p:nvSpPr>
        <p:spPr>
          <a:xfrm>
            <a:off x="3200400" y="3265714"/>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Structured Output</a:t>
            </a:r>
          </a:p>
        </p:txBody>
      </p:sp>
      <p:sp>
        <p:nvSpPr>
          <p:cNvPr id="21" name="TextBox 20"/>
          <p:cNvSpPr txBox="1"/>
          <p:nvPr/>
        </p:nvSpPr>
        <p:spPr>
          <a:xfrm>
            <a:off x="9448495" y="3265714"/>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정해진 형식의 후보</a:t>
            </a:r>
          </a:p>
        </p:txBody>
      </p:sp>
      <p:sp>
        <p:nvSpPr>
          <p:cNvPr id="22" name="Rounded Rectangle 21"/>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883587"/>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JSON</a:t>
            </a:r>
          </a:p>
        </p:txBody>
      </p:sp>
      <p:sp>
        <p:nvSpPr>
          <p:cNvPr id="24" name="TextBox 23"/>
          <p:cNvSpPr txBox="1"/>
          <p:nvPr/>
        </p:nvSpPr>
        <p:spPr>
          <a:xfrm>
            <a:off x="3200400" y="3883587"/>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JavaScript Object Notation</a:t>
            </a:r>
          </a:p>
        </p:txBody>
      </p:sp>
      <p:sp>
        <p:nvSpPr>
          <p:cNvPr id="25" name="TextBox 24"/>
          <p:cNvSpPr txBox="1"/>
          <p:nvPr/>
        </p:nvSpPr>
        <p:spPr>
          <a:xfrm>
            <a:off x="9448495" y="3883587"/>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구조화 출력의 형식</a:t>
            </a:r>
          </a:p>
        </p:txBody>
      </p:sp>
      <p:sp>
        <p:nvSpPr>
          <p:cNvPr id="26" name="Rounded Rectangle 25"/>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501460"/>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인용</a:t>
            </a:r>
          </a:p>
        </p:txBody>
      </p:sp>
      <p:sp>
        <p:nvSpPr>
          <p:cNvPr id="28" name="TextBox 27"/>
          <p:cNvSpPr txBox="1"/>
          <p:nvPr/>
        </p:nvSpPr>
        <p:spPr>
          <a:xfrm>
            <a:off x="3200400" y="4501460"/>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Citation</a:t>
            </a:r>
          </a:p>
        </p:txBody>
      </p:sp>
      <p:sp>
        <p:nvSpPr>
          <p:cNvPr id="29" name="TextBox 28"/>
          <p:cNvSpPr txBox="1"/>
          <p:nvPr/>
        </p:nvSpPr>
        <p:spPr>
          <a:xfrm>
            <a:off x="9448495" y="4501460"/>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근거가 된 원문 구간</a:t>
            </a:r>
          </a:p>
        </p:txBody>
      </p:sp>
      <p:sp>
        <p:nvSpPr>
          <p:cNvPr id="30" name="Rounded Rectangle 29"/>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119333"/>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RAG</a:t>
            </a:r>
          </a:p>
        </p:txBody>
      </p:sp>
      <p:sp>
        <p:nvSpPr>
          <p:cNvPr id="32" name="TextBox 31"/>
          <p:cNvSpPr txBox="1"/>
          <p:nvPr/>
        </p:nvSpPr>
        <p:spPr>
          <a:xfrm>
            <a:off x="3200400" y="5119333"/>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Retrieval-Augmented Generation</a:t>
            </a:r>
          </a:p>
        </p:txBody>
      </p:sp>
      <p:sp>
        <p:nvSpPr>
          <p:cNvPr id="33" name="TextBox 32"/>
          <p:cNvSpPr txBox="1"/>
          <p:nvPr/>
        </p:nvSpPr>
        <p:spPr>
          <a:xfrm>
            <a:off x="9448495" y="5119333"/>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검색해 참고하는 방식</a:t>
            </a:r>
          </a:p>
        </p:txBody>
      </p:sp>
      <p:sp>
        <p:nvSpPr>
          <p:cNvPr id="34" name="Rounded Rectangle 33"/>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737206"/>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SQL</a:t>
            </a:r>
          </a:p>
        </p:txBody>
      </p:sp>
      <p:sp>
        <p:nvSpPr>
          <p:cNvPr id="36" name="TextBox 35"/>
          <p:cNvSpPr txBox="1"/>
          <p:nvPr/>
        </p:nvSpPr>
        <p:spPr>
          <a:xfrm>
            <a:off x="3200400" y="5737206"/>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Structured Query Language</a:t>
            </a:r>
          </a:p>
        </p:txBody>
      </p:sp>
      <p:sp>
        <p:nvSpPr>
          <p:cNvPr id="37" name="TextBox 36"/>
          <p:cNvSpPr txBox="1"/>
          <p:nvPr/>
        </p:nvSpPr>
        <p:spPr>
          <a:xfrm>
            <a:off x="9448495" y="5737206"/>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값을 읽는 조회문</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추출 결과의 검토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추출 결과의 단계에는 팬 속도를 100 %로 올린다는 내용만 있고, 그 인용문에는 24시간 제한이 이어져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검토자의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형식에 맞고 인용도 붙어 있으므로 그대로 승인한다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인용문이 단계 문장보다 길므로 인용을 단계 문장에 맞춰 줄인다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연속 운전 제한이 빠졌으므로 원문대로 고친 뒤 승인한다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수치가 들어 있지 않은 단계이므로 대조할 필요가 없다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지식과 값의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냉각 성능 상실의 판단에 쓰이는 네 가지를 지식 그래프에 둘 것과 원천에서 읽을 것으로 나누려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지식 그래프에 등록하지 않고 판단 시점에 원천에서 읽어야 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최근 30초 동안의 냉각 효율 평균</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냉각 효율 평균이 70 % 미만이면 핀 오염으로 본다는 기준</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최대 운전의 수행 단계</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오염이 쿨러 냉각 성능 상실을 일으킨다는 관계</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등록된 대상과 새 후보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새 매뉴얼을 추출하던 중 「오일 쿨러」라는 말이 나왔고, 지식 그래프에는 구성 요소 오일 쿨러가 이미 등록되어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후보를 처리하는 방법으로 바른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문서마다 따로 관리하도록 오일 쿨러 노드를 하나 더 만든다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이름이 같으므로 기존 노드를 지우고 새 노드로 바꾼다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문서의 표기에 맞춰 오일 쿨러라는 새 클래스를 스키마에 더한다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새로 만들지 않고 등록된 오일 쿨러의 식별자를 가리킨다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형식과 내용, 지식과 값, 새 후보와 등록된 대상을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형식이 맞아도 내용은 원문과 대조해야 한다. 빠진 조건은 원문대로 고친 뒤에 승인한다.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기준, 절차, 관계는 지식이고 그 순간의 측정값은 값이다. 값은 판단 시점에 원천에서 읽는다.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이미 등록된 대상은 새로 만들지 않는다. 식별자로 가리켜야 새 지식이 기존 그래프에 이어진다.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