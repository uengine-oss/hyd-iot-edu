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사흘 동안 지식을 담을 구조를 설계했고 조치 절차와 판단 규칙을 그 구조에 이었습니다. 오늘은 그 내용이 문서에서 어떻게 들어오는지를 따라갑니다. 마지막에는 나흘의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 추천안에는 원인과 조치와 출처가 함께 나왔습니다.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둘째 날에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둘째 날에 배운 그대로입니다. 다음으로 prior는 문장에 있던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알림입니다. 금지 문장이 있는데도 규칙으로 만들지 않은 이유를 모델이 적어 두었습니다. 모르는 것은 모른다고 남기게 하면 지어낸 값이 판단에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 곧 조치 방법이 듣는 원인을 가리키는 관계 ADDRESSES를 틀리게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예입니다. 먼저 위의 원문대로 읽으면 가장 빠른 곳은 C트레이딩이고 승인 공급사가 아니므로 이 견적에서는 이 절차가 쓰이지 않는 것이 맞습니다. 다음으로 아래의 추출 결과를 보면 발주처가 A정밀로 적혀 있습니다. 2단계의 조건을 미리 적용해 값을 바꾸어 적은 것으로, 조건의 누락과 잘못된 추론이 겹친 경우입니다. 바르게 옮기면 1단계의 기준은 그대로 두고 2단계의 조건은 셋째 날에 본 제외 규칙이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첫날에는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방식은 인제스천만 있는 것이 아닙니다. 왼쪽의 RAG는 이름을 풀면 검색으로 보강한 생성이라는 뜻이고, 문서를 그대로 쓰므로 준비가 빠르고 넓은 범위의 질문에 답할 수 있습니다. 같은 질문을 두 방식에 넣어 보면 왼쪽은 조각을 찾아 그때 해석하고 오른쪽은 등록된 규칙으로 판정합니다. 두 방식은 우열의 관계가 아니라 쓰임이 다릅니다.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결정표에서 표에 적힌 것과 그때 읽어 오는 것을 나누어 보았고,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읽으면 왼쪽은 기준이고 오른쪽은 그 기준에 댈 값입니다. 48과 65는 지식이고 지금의 유온은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중괄호가 매뉴얼에서 추출해 등록한 증거 한 건이며, 무엇을 읽어 무엇과 비교할지는 있지만 지금의 냉각 효율은 들어 있지 않습니다. 다음으로 가운데의 조회문입니다. 판단하는 순간에 위의 방법이 이 조회문이 되고, 지식은 CE라는 이름으로 값을 가리킬 뿐 값은 원천에 그대로 있습니다. 맨 아래가 읽은 값 46.2를 기준 70과 비교한 결과입니다. 매뉴얼의 기준이 바뀌면 지식의 70만 고치면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값은 태그 이름으로 이어졌고 업무 값은 표와 열의 위치로 이어집니다. 방법은 달라도 원리는 같습니다.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기록에 남은 값 셋입니다. 인용이 지식의 출처라면 이 기록은 값의 출처입니다. 나중에 판단을 따질 때 값이 틀렸는지 지식이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둘째 날에 만든 설비 모델과 셋째 날의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그날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둘째 날의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첫날의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SOP의 구성요소로 본 것 가운데 셋이 3일차의 입력입니다. 첫 행에서 SOP 한 편이 조치 방법 노드 하나가 되고 번호가 붙은 줄이 작업 단계가 되었습니다. 둘째 행의 금지는 앞에서 본 대로 규칙으로 만들지 않았고, 부하를 60 % 아래로 내리지 못한다는 조치의 하한으로 남았습니다. 셋째 행의 전제 조건은 셋째 날에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날과 셋째 날은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첫날의 관계 그림입니다. 첫날 94초 동안 에이전트가 한 일이 이것이었고, 그것이 가능했던 것은 나흘의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시연에서는 추천에 근거가 붙어 나온다는 정도로 보고 지나간 화면입니다. 지금은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나흘의 내용을 한 문장으로 줄인 것입니다. 이 과정의 제목에 있는 신뢰할 수 있는 판단 근거가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 개와 함께 원천 자료,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1.png"/><Relationship Id="rId7"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42.png"/><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43.png"/><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 Id="rId4" Type="http://schemas.openxmlformats.org/officeDocument/2006/relationships/image" Target="../media/image24.png"/><Relationship Id="rId5" Type="http://schemas.openxmlformats.org/officeDocument/2006/relationships/image" Target="../media/image45.png"/><Relationship Id="rId6"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4.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5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34.png"/><Relationship Id="rId5" Type="http://schemas.openxmlformats.org/officeDocument/2006/relationships/image" Target="../media/image11.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2.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5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7.png"/><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55.png"/><Relationship Id="rId5"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자료를 검증해 만드는</a:t>
            </a:r>
          </a:p>
          <a:p>
            <a:pPr algn="l">
              <a:lnSpc>
                <a:spcPct val="110000"/>
              </a:lnSpc>
            </a:pPr>
            <a:r>
              <a:rPr sz="4000" b="1">
                <a:solidFill>
                  <a:srgbClr val="FFFFFF"/>
                </a:solidFill>
                <a:latin typeface="맑은 고딕"/>
                <a:ea typeface="맑은 고딕"/>
                <a:cs typeface="맑은 고딕"/>
              </a:rPr>
              <a:t>신뢰할 수 있는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지식으로 등록되는 과정을 설명하고 지식과 값을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02977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추출의 오류와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대조와 검토가 맡는 일을 말한다</a:t>
            </a:r>
          </a:p>
        </p:txBody>
      </p:sp>
      <p:sp>
        <p:nvSpPr>
          <p:cNvPr id="16" name="Rounded Rectangle 15"/>
          <p:cNvSpPr/>
          <p:nvPr/>
        </p:nvSpPr>
        <p:spPr>
          <a:xfrm>
            <a:off x="3619423" y="5029771"/>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왔는지를 되짚는 방법을 설명한다</a:t>
            </a:r>
          </a:p>
        </p:txBody>
      </p:sp>
      <p:sp>
        <p:nvSpPr>
          <p:cNvPr id="22" name="Rounded Rectangle 21"/>
          <p:cNvSpPr/>
          <p:nvPr/>
        </p:nvSpPr>
        <p:spPr>
          <a:xfrm>
            <a:off x="6461607" y="502977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지식과 값의 구분</a:t>
            </a:r>
          </a:p>
          <a:p>
            <a:pPr algn="l">
              <a:lnSpc>
                <a:spcPct val="110000"/>
              </a:lnSpc>
              <a:spcAft>
                <a:spcPts val="400"/>
              </a:spcAft>
            </a:pPr>
            <a:r>
              <a:rPr sz="1350" b="0">
                <a:solidFill>
                  <a:srgbClr val="1F2A3A"/>
                </a:solidFill>
                <a:latin typeface="맑은 고딕"/>
                <a:ea typeface="맑은 고딕"/>
                <a:cs typeface="맑은 고딕"/>
              </a:rPr>
              <a:t>지식 그래프에 두는 것과 원천에서 읽는 것을 가른다</a:t>
            </a:r>
          </a:p>
        </p:txBody>
      </p:sp>
      <p:sp>
        <p:nvSpPr>
          <p:cNvPr id="28" name="Rounded Rectangle 27"/>
          <p:cNvSpPr/>
          <p:nvPr/>
        </p:nvSpPr>
        <p:spPr>
          <a:xfrm>
            <a:off x="9303791" y="5029771"/>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지식과 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금지 조건 한 줄이 빠져도 알아차리기 어렵다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3977648759035892855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문장의 「사전 확률 0.6」이 값으로 옮겨졌고, 이 내용이 나온 절의 번호가 붙었다.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한문장.svg" descr="illust_8941549795057397295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맞는 대상이 없을 때: 지어내지 않고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사실을 사람에게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74544"/>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74544"/>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맞는 입력이 없어 규칙으로 만들지 않았다</a:t>
            </a:r>
          </a:p>
        </p:txBody>
      </p:sp>
      <p:sp>
        <p:nvSpPr>
          <p:cNvPr id="8" name="Oval 7"/>
          <p:cNvSpPr/>
          <p:nvPr/>
        </p:nvSpPr>
        <p:spPr>
          <a:xfrm>
            <a:off x="548640" y="3854704"/>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008323"/>
            <a:ext cx="424281" cy="424281"/>
          </a:xfrm>
          <a:prstGeom prst="rect">
            <a:avLst/>
          </a:prstGeom>
        </p:spPr>
      </p:pic>
      <p:sp>
        <p:nvSpPr>
          <p:cNvPr id="10" name="TextBox 9"/>
          <p:cNvSpPr txBox="1"/>
          <p:nvPr/>
        </p:nvSpPr>
        <p:spPr>
          <a:xfrm>
            <a:off x="1371600"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원문</a:t>
            </a:r>
          </a:p>
          <a:p>
            <a:pPr algn="l">
              <a:lnSpc>
                <a:spcPct val="110000"/>
              </a:lnSpc>
              <a:spcAft>
                <a:spcPts val="400"/>
              </a:spcAft>
            </a:pPr>
            <a:r>
              <a:rPr sz="1400" b="0">
                <a:solidFill>
                  <a:srgbClr val="1F2A3A"/>
                </a:solidFill>
                <a:latin typeface="맑은 고딕"/>
                <a:ea typeface="맑은 고딕"/>
                <a:cs typeface="맑은 고딕"/>
              </a:rPr>
              <a:t>「펌프 부하는 60 % 아래로 내리지 않는다.」</a:t>
            </a:r>
          </a:p>
        </p:txBody>
      </p:sp>
      <p:sp>
        <p:nvSpPr>
          <p:cNvPr id="11" name="Oval 10"/>
          <p:cNvSpPr/>
          <p:nvPr/>
        </p:nvSpPr>
        <p:spPr>
          <a:xfrm>
            <a:off x="4338218" y="3854704"/>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008323"/>
            <a:ext cx="424281" cy="424281"/>
          </a:xfrm>
          <a:prstGeom prst="rect">
            <a:avLst/>
          </a:prstGeom>
        </p:spPr>
      </p:pic>
      <p:sp>
        <p:nvSpPr>
          <p:cNvPr id="13" name="TextBox 12"/>
          <p:cNvSpPr txBox="1"/>
          <p:nvPr/>
        </p:nvSpPr>
        <p:spPr>
          <a:xfrm>
            <a:off x="5161178"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모델의 처리</a:t>
            </a:r>
          </a:p>
          <a:p>
            <a:pPr algn="l">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알림으로 남겼다</a:t>
            </a:r>
          </a:p>
        </p:txBody>
      </p:sp>
      <p:sp>
        <p:nvSpPr>
          <p:cNvPr id="14" name="Oval 13"/>
          <p:cNvSpPr/>
          <p:nvPr/>
        </p:nvSpPr>
        <p:spPr>
          <a:xfrm>
            <a:off x="8127796" y="3854704"/>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008323"/>
            <a:ext cx="424281" cy="424281"/>
          </a:xfrm>
          <a:prstGeom prst="rect">
            <a:avLst/>
          </a:prstGeom>
        </p:spPr>
      </p:pic>
      <p:sp>
        <p:nvSpPr>
          <p:cNvPr id="16" name="TextBox 15"/>
          <p:cNvSpPr txBox="1"/>
          <p:nvPr/>
        </p:nvSpPr>
        <p:spPr>
          <a:xfrm>
            <a:off x="8950756"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사람의 몫</a:t>
            </a:r>
          </a:p>
          <a:p>
            <a:pPr algn="l">
              <a:lnSpc>
                <a:spcPct val="110000"/>
              </a:lnSpc>
              <a:spcAft>
                <a:spcPts val="400"/>
              </a:spcAft>
            </a:pPr>
            <a:r>
              <a:rPr sz="1400" b="0">
                <a:solidFill>
                  <a:srgbClr val="1F2A3A"/>
                </a:solidFill>
                <a:latin typeface="맑은 고딕"/>
                <a:ea typeface="맑은 고딕"/>
                <a:cs typeface="맑은 고딕"/>
              </a:rPr>
              <a:t>알림을 보고 필요한 입력을 먼저 등록할지를 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오류의 실제 예: 조건을 값에 미리 적용한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값에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a:lnSpc>
                <a:spcPct val="110000"/>
              </a:lnSpc>
              <a:spcAft>
                <a:spcPts val="200"/>
              </a:spcAft>
            </a:pPr>
            <a:r>
              <a:rPr sz="1300" b="0">
                <a:solidFill>
                  <a:srgbClr val="E8EEF6"/>
                </a:solidFill>
                <a:latin typeface="Consolas"/>
                <a:ea typeface="맑은 고딕"/>
                <a:cs typeface="맑은 고딕"/>
              </a:rPr>
              <a:t>{"action": "action:purchase-request",</a:t>
            </a:r>
          </a:p>
          <a:p>
            <a:pPr algn="l">
              <a:lnSpc>
                <a:spcPct val="110000"/>
              </a:lnSpc>
              <a:spcAft>
                <a:spcPts val="200"/>
              </a:spcAft>
            </a:pPr>
            <a:r>
              <a:rPr sz="1300" b="0">
                <a:solidFill>
                  <a:srgbClr val="E8EEF6"/>
                </a:solidFill>
                <a:latin typeface="Consolas"/>
                <a:ea typeface="맑은 고딕"/>
                <a:cs typeface="맑은 고딕"/>
              </a:rPr>
              <a:t> "value": "sup:a"}</a:t>
            </a:r>
          </a:p>
          <a:p>
            <a:pPr algn="l">
              <a:lnSpc>
                <a:spcPct val="110000"/>
              </a:lnSpc>
              <a:spcAft>
                <a:spcPts val="200"/>
              </a:spcAft>
            </a:pPr>
            <a:r>
              <a:rPr sz="1300" b="0">
                <a:solidFill>
                  <a:srgbClr val="E8EEF6"/>
                </a:solidFill>
                <a:latin typeface="Consolas"/>
                <a:ea typeface="맑은 고딕"/>
                <a:cs typeface="맑은 고딕"/>
              </a:rPr>
              <a:t># sup:a = 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1단계의 답</a:t>
            </a:r>
          </a:p>
          <a:p>
            <a:pPr algn="l">
              <a:lnSpc>
                <a:spcPct val="110000"/>
              </a:lnSpc>
              <a:spcAft>
                <a:spcPts val="400"/>
              </a:spcAft>
            </a:pPr>
            <a:r>
              <a:rPr sz="1400" b="0">
                <a:solidFill>
                  <a:srgbClr val="1F2A3A"/>
                </a:solidFill>
                <a:latin typeface="맑은 고딕"/>
                <a:ea typeface="맑은 고딕"/>
                <a:cs typeface="맑은 고딕"/>
              </a:rPr>
              <a:t>리드타임이 1일로 가장 짧은 C트레이딩이다.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결과</a:t>
            </a:r>
          </a:p>
          <a:p>
            <a:pPr algn="l">
              <a:lnSpc>
                <a:spcPct val="110000"/>
              </a:lnSpc>
              <a:spcAft>
                <a:spcPts val="400"/>
              </a:spcAft>
            </a:pPr>
            <a:r>
              <a:rPr sz="1400" b="0">
                <a:solidFill>
                  <a:srgbClr val="1F2A3A"/>
                </a:solidFill>
                <a:latin typeface="맑은 고딕"/>
                <a:ea typeface="맑은 고딕"/>
                <a:cs typeface="맑은 고딕"/>
              </a:rPr>
              <a:t>C트레이딩은 승인 공급사가 아니므로 이 절차를 쓰지 않는다.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추출 결과</a:t>
            </a:r>
          </a:p>
          <a:p>
            <a:pPr algn="l">
              <a:lnSpc>
                <a:spcPct val="110000"/>
              </a:lnSpc>
              <a:spcAft>
                <a:spcPts val="400"/>
              </a:spcAft>
            </a:pPr>
            <a:r>
              <a:rPr sz="1400" b="0">
                <a:solidFill>
                  <a:srgbClr val="1F2A3A"/>
                </a:solidFill>
                <a:latin typeface="맑은 고딕"/>
                <a:ea typeface="맑은 고딕"/>
                <a:cs typeface="맑은 고딕"/>
              </a:rPr>
              <a:t>발주처가 A정밀로 적혔다. 승인 공급사 가운데 가장 빠른 곳이다.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잃은 것</a:t>
            </a:r>
          </a:p>
          <a:p>
            <a:pPr algn="l">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그럴듯하고 원문의 단계와 나란히 읽어야 드러난다.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인용.svg" descr="illust_297257532916598378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인제스천_6.svg" descr="illust_4212264732098219791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적재묶음_사슬.svg" descr="illust_5959833872348437073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문장이 검토를 거쳐 제외 규칙으로 등록되어 있다</a:t>
            </a:r>
          </a:p>
          <a:p>
            <a:pPr algn="l">
              <a:lnSpc>
                <a:spcPct val="110000"/>
              </a:lnSpc>
              <a:spcAft>
                <a:spcPts val="600"/>
              </a:spcAft>
            </a:pPr>
            <a:r>
              <a:rPr sz="1450" b="0">
                <a:solidFill>
                  <a:srgbClr val="1F2A3A"/>
                </a:solidFill>
                <a:latin typeface="맑은 고딕"/>
                <a:ea typeface="맑은 고딕"/>
                <a:cs typeface="맑은 고딕"/>
              </a:rPr>
              <a:t>• 운전 모드의 값을 읽어 규칙의 조건과 비교한다</a:t>
            </a:r>
          </a:p>
          <a:p>
            <a:pPr algn="l">
              <a:lnSpc>
                <a:spcPct val="110000"/>
              </a:lnSpc>
              <a:spcAft>
                <a:spcPts val="600"/>
              </a:spcAft>
            </a:pPr>
            <a:r>
              <a:rPr sz="1450" b="0">
                <a:solidFill>
                  <a:srgbClr val="1F2A3A"/>
                </a:solidFill>
                <a:latin typeface="맑은 고딕"/>
                <a:ea typeface="맑은 고딕"/>
                <a:cs typeface="맑은 고딕"/>
              </a:rPr>
              <a:t>• 같은 운전 모드이면 언제나 같은 결과가 나온다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지금의 유온 TS1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최근 30초의 효율 평균</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지금까지의 연속 운전 시간</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납기와 재고가 판단의 입력이라는 정의</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남은 납기 시간, 재고 수량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지식에 값 대신 읽는 방법을 적어 두어야 판단하는 순간 조회문으로 원천의 지금 값을 읽어 기준과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a:t>
            </a:r>
          </a:p>
          <a:p>
            <a:pPr algn="l">
              <a:lnSpc>
                <a:spcPct val="110000"/>
              </a:lnSpc>
              <a:spcAft>
                <a:spcPts val="200"/>
              </a:spcAft>
            </a:pPr>
            <a:r>
              <a:rPr sz="1300" b="0">
                <a:solidFill>
                  <a:srgbClr val="E8EEF6"/>
                </a:solidFill>
                <a:latin typeface="Consolas"/>
                <a:ea typeface="맑은 고딕"/>
                <a:cs typeface="맑은 고딕"/>
              </a:rPr>
              <a:t>{"tag": "CE",</a:t>
            </a:r>
          </a:p>
          <a:p>
            <a:pPr algn="l">
              <a:lnSpc>
                <a:spcPct val="110000"/>
              </a:lnSpc>
              <a:spcAft>
                <a:spcPts val="200"/>
              </a:spcAft>
            </a:pPr>
            <a:r>
              <a:rPr sz="1300" b="0">
                <a:solidFill>
                  <a:srgbClr val="E8EEF6"/>
                </a:solidFill>
                <a:latin typeface="Consolas"/>
                <a:ea typeface="맑은 고딕"/>
                <a:cs typeface="맑은 고딕"/>
              </a:rPr>
              <a:t> "aggregate": "avg", "window_seconds": 30,</a:t>
            </a:r>
          </a:p>
          <a:p>
            <a:pPr algn="l">
              <a:lnSpc>
                <a:spcPct val="110000"/>
              </a:lnSpc>
              <a:spcAft>
                <a:spcPts val="200"/>
              </a:spcAft>
            </a:pPr>
            <a:r>
              <a:rPr sz="1300" b="0">
                <a:solidFill>
                  <a:srgbClr val="E8EEF6"/>
                </a:solidFill>
                <a:latin typeface="Consolas"/>
                <a:ea typeface="맑은 고딕"/>
                <a:cs typeface="맑은 고딕"/>
              </a:rPr>
              <a:t> "expect": "lt", "threshold": 70}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avg(value) FROM tag_1s</a:t>
            </a:r>
          </a:p>
          <a:p>
            <a:pPr algn="l">
              <a:lnSpc>
                <a:spcPct val="110000"/>
              </a:lnSpc>
              <a:spcAft>
                <a:spcPts val="200"/>
              </a:spcAft>
            </a:pPr>
            <a:r>
              <a:rPr sz="1300" b="0">
                <a:solidFill>
                  <a:srgbClr val="E8EEF6"/>
                </a:solidFill>
                <a:latin typeface="Consolas"/>
                <a:ea typeface="맑은 고딕"/>
                <a:cs typeface="맑은 고딕"/>
              </a:rPr>
              <a:t> WHERE asset = 'HYD-01' AND name = 'CE'</a:t>
            </a:r>
          </a:p>
          <a:p>
            <a:pPr algn="l">
              <a:lnSpc>
                <a:spcPct val="110000"/>
              </a:lnSpc>
              <a:spcAft>
                <a:spcPts val="200"/>
              </a:spcAft>
            </a:pPr>
            <a:r>
              <a:rPr sz="1300" b="0">
                <a:solidFill>
                  <a:srgbClr val="E8EEF6"/>
                </a:solidFill>
                <a:latin typeface="Consolas"/>
                <a:ea typeface="맑은 고딕"/>
                <a:cs typeface="맑은 고딕"/>
              </a:rPr>
              <a:t>   AND time &gt; now() - interval '30 seconds'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aggregate · window_seconds</a:t>
            </a:r>
          </a:p>
          <a:p>
            <a:pPr algn="l">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expect · threshold</a:t>
            </a:r>
          </a:p>
          <a:p>
            <a:pPr algn="l">
              <a:lnSpc>
                <a:spcPct val="110000"/>
              </a:lnSpc>
              <a:spcAft>
                <a:spcPts val="400"/>
              </a:spcAft>
            </a:pPr>
            <a:r>
              <a:rPr sz="140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SQL</a:t>
            </a:r>
          </a:p>
          <a:p>
            <a:pPr algn="l">
              <a:lnSpc>
                <a:spcPct val="110000"/>
              </a:lnSpc>
              <a:spcAft>
                <a:spcPts val="400"/>
              </a:spcAft>
            </a:pPr>
            <a:r>
              <a:rPr sz="1400" b="0">
                <a:solidFill>
                  <a:srgbClr val="1F2A3A"/>
                </a:solidFill>
                <a:latin typeface="맑은 고딕"/>
                <a:ea typeface="맑은 고딕"/>
                <a:cs typeface="맑은 고딕"/>
              </a:rPr>
              <a:t>Structured Query Language. 데이터베이스에 조회를 요청하는 언어이다. 증거의 태그 이름 CE가 시계열 DB에 쌓인 값의 이름 CE와 같다.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a:t>
            </a:r>
          </a:p>
          <a:p>
            <a:pPr algn="l">
              <a:lnSpc>
                <a:spcPct val="110000"/>
              </a:lnSpc>
              <a:spcAft>
                <a:spcPts val="400"/>
              </a:spcAft>
            </a:pPr>
            <a:r>
              <a:rPr sz="1400" b="0">
                <a:solidFill>
                  <a:srgbClr val="1F2A3A"/>
                </a:solidFill>
                <a:latin typeface="맑은 고딕"/>
                <a:ea typeface="맑은 고딕"/>
                <a:cs typeface="맑은 고딕"/>
              </a:rPr>
              <a:t>쿨러 사건에서 읽은 냉각 효율 평균은 46.2였다.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입력데이터_자리.svg" descr="illust_540471502056544482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값의 출처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판단에 쓴 값마다 어느 원천에서 어떻게 읽었는지를 함께 남겨, 지식뿐 아니라 값도 되짚을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59.9 ℃</a:t>
            </a:r>
          </a:p>
          <a:p>
            <a:pPr algn="l">
              <a:lnSpc>
                <a:spcPct val="110000"/>
              </a:lnSpc>
              <a:spcAft>
                <a:spcPts val="400"/>
              </a:spcAft>
            </a:pPr>
            <a:r>
              <a:rPr sz="1400" b="0">
                <a:solidFill>
                  <a:srgbClr val="1F2A3A"/>
                </a:solidFill>
                <a:latin typeface="맑은 고딕"/>
                <a:ea typeface="맑은 고딕"/>
                <a:cs typeface="맑은 고딕"/>
              </a:rPr>
              <a:t>• 표 tag_1s의 최신값</a:t>
            </a:r>
          </a:p>
          <a:p>
            <a:pPr algn="l">
              <a:lnSpc>
                <a:spcPct val="110000"/>
              </a:lnSpc>
              <a:spcAft>
                <a:spcPts val="400"/>
              </a:spcAft>
            </a:pPr>
            <a:r>
              <a:rPr sz="1400" b="0">
                <a:solidFill>
                  <a:srgbClr val="1F2A3A"/>
                </a:solidFill>
                <a:latin typeface="맑은 고딕"/>
                <a:ea typeface="맑은 고딕"/>
                <a:cs typeface="맑은 고딕"/>
              </a:rPr>
              <a:t>• 읽은 시점에서 0초 전</a:t>
            </a:r>
          </a:p>
        </p:txBody>
      </p:sp>
      <p:sp>
        <p:nvSpPr>
          <p:cNvPr id="10" name="Rounded Rectangle 9"/>
          <p:cNvSpPr/>
          <p:nvPr/>
        </p:nvSpPr>
        <p:spPr>
          <a:xfrm>
            <a:off x="777240" y="4932934"/>
            <a:ext cx="105765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576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시계열 DB</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 원격 자동</a:t>
            </a:r>
          </a:p>
          <a:p>
            <a:pPr algn="l">
              <a:lnSpc>
                <a:spcPct val="110000"/>
              </a:lnSpc>
              <a:spcAft>
                <a:spcPts val="400"/>
              </a:spcAft>
            </a:pPr>
            <a:r>
              <a:rPr sz="1400" b="0">
                <a:solidFill>
                  <a:srgbClr val="1F2A3A"/>
                </a:solidFill>
                <a:latin typeface="맑은 고딕"/>
                <a:ea typeface="맑은 고딕"/>
                <a:cs typeface="맑은 고딕"/>
              </a:rPr>
              <a:t>plant.status의 최신 메시지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PLC</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납기까지 5.98시간</a:t>
            </a:r>
          </a:p>
          <a:p>
            <a:pPr algn="l">
              <a:lnSpc>
                <a:spcPct val="110000"/>
              </a:lnSpc>
              <a:spcAft>
                <a:spcPts val="400"/>
              </a:spcAft>
            </a:pPr>
            <a:r>
              <a:rPr sz="1400" b="0">
                <a:solidFill>
                  <a:srgbClr val="1F2A3A"/>
                </a:solidFill>
                <a:latin typeface="맑은 고딕"/>
                <a:ea typeface="맑은 고딕"/>
                <a:cs typeface="맑은 고딕"/>
              </a:rPr>
              <a:t>생산오더의 납기까지 남은 시간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01단원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읽는 방법만 적고 값은 원천에서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절차 번호, 예외 조건, 수치, 개정 사항을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일차의 결과물이 하나의 지식 그래프로 쌓이는 순서와 그 쓰임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네일차_흐름.svg" descr="illust_842630611622011058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관계.svg" descr="illust_3858449495749901958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4일차의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_3.svg" descr="illust_826912305778571405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3일차의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나흘의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구조화 출력</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검색해 참고하는 방식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SQL</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Query Language</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읽는 조회문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