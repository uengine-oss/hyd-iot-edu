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사흘 동안 지식을 담을 구조를 설계했고 조치 절차와 판단 규칙을 그 구조에 이었습니다. 오늘은 그 내용이 문서에서 어떻게 들어오는지를 따라갑니다. 마지막에는 나흘의 내용을 하나의 흐름으로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첫날의 시연에서 추천안에는 원인과 조치와 출처가 함께 나왔습니다. 이 셋은 처음부터 지식 그래프에 있던 것이 아니라 쿨러 팬 정비 매뉴얼 HM-8에서 왔습니다. 오늘은 이 문서가 지식이 되는 과정을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왼쪽은 매뉴얼 8.4절의 문장이고 오른쪽은 같은 내용이 등록된 모습입니다. 왼쪽을 오른쪽으로 바꾸는 일이 오늘의 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원래는 바깥의 자료를 시스템 안으로 받아들인다는 넓은 뜻의 말입니다. 원천 자료는 문장으로 된 것도 있고 표로 된 것도 있어서 형태가 서로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그래서 옮기는 일을 사람의 솜씨에 맡기지 않고 정해진 과정으로 둡니다. 과정이 정해져 있으면 누가 해도 같은 방법으로 되풀이할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단계 가운데 모델이 문서를 읽는 곳은 하늘색으로 묶은 두 단계입니다. 앞뒤는 정해진 절차와 사람의 확인입니다.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뒤에서 추출 결과가 맞는지를 확인할 때 비교하는 대상이 이 원문입니다. 원문이 바뀔 수 있다면 대조가 의미를 잃습니다.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둘째 날에 식별자는 대상 하나를 가리키는 고유한 값이라고 배웠습니다. 문서도 지식의 출처로 가리켜야 하는 대상이므로 식별자를 갖습니다.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매뉴얼은 절로 나뉘고 절 안에 절차가 있으며 절차는 단계로 이루어집니다. 이 구조를 먼저 가려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부분이 쿨러 사건에서 추천된 팬 최대 운전의 원문입니다. 제목과 번호만 보고도 절과 절차와 단계를 가를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여기서 뽑은 것은 아직 지식이 아니라 후보입니다. 이 단계를 맡는 것이 언어 모델입니다.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번호가 붙은 줄이 단계라는 것은 겉모양으로 알 수 있지만, 문장의 어느 부분이 기준이고 어느 부분이 결론인지는 뜻을 읽어야 압니다. 그 일을 LLM이 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답이 긴 문장이면 그 답을 다시 사람이 읽어야 합니다. 형식을 정해 주면 프로그램이 받아 처리할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위가 원문이고 아래가 모델이 낸 원인 한 건입니다. 먼저 위의 세 줄만 봅니다. 식별자와 이름과 별칭은 둘째 날에 배운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결과의 아래 네 줄입니다. 문장 하나에 섞여 있던 값과 연결과 근거가 항목으로 나뉘었으므로 그대로 노드와 속성과 관계가 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방금 본 중괄호의 형식이 JSON입니다. 형식 검사는 숫자 자리에 숫자가 있는지까지만 봅니다. 그 숫자가 맞는지는 뒤의 대조와 검토가 맡습니다.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문서를 읽었다고 새 클래스나 새 관계를 만들 수는 없습니다. 후보는 스키마에 정의된 것 가운데 하나여야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매뉴얼에 오일 쿨러라는 말이 나왔다고 오일 쿨러 노드를 하나 더 만들면 같은 구성 요소가 둘이 됩니다. 그래서 등록된 식별자의 목록을 모델에게 주고 그 안에서 고르게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점선으로 그린 하늘색 원이 새 후보이고 나머지 셋은 이미 등록된 대상입니다. 새 고장 유형은 처음부터 기존의 증상과 구성 요소에 이어진 채로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HM-8을 추출할 때 실제로 남은 알림입니다. 금지 문장이 있는데도 규칙으로 만들지 않은 이유를 모델이 적어 두었습니다. 모르는 것을 모른다고 남기게 하는 것이 중요한 규칙입니다.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모델의 출력이 틀릴 수 있는 방식은 크게 네 가지입니다. 넷 모두 형식 검사를 통과한다는 점이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문장이 통째로 빠지는 오류여서 결과에는 틀린 글자가 하나도 없습니다. 원문과 나란히 놓아야 빠진 것이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숫자가 들어갈 자리에 숫자가 있으므로 프로그램은 이상을 찾지 못합니다. 수치와 단위는 사람이 원문과 대조할 때 가장 먼저 볼 곳입니다.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실선 둘이 매뉴얼에 적힌 연결입니다. 점선처럼 핀 세척을 주변 온도 상승에 잇는다면, 관계의 형식은 맞지만 주변이 더울 때 핀을 세척하라는 틀린 지식이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모델은 그럴듯한 문장을 만드는 데 능하기 때문에 이런 내용은 읽기에 어색하지 않습니다. 가려내는 방법은 근거가 된 원문의 구간을 요구하는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기록된 예를 하나 봅니다. 먼저 원문대로 읽으면 어떻게 되는지를 확인합니다. 이 견적에서는 이 절차가 쓰이지 않는 것이 맞습니다.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조건의 누락과 잘못된 추론이 겹친 경우입니다. 바르게 옮기면 1단계의 기준은 그대로 두고 2단계의 조건은 셋째 날에 본 제외 규칙이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대조는 프로그램이 하고 검토는 사람이 합니다. 둘 다 원문의 어느 자리를 보아야 하는지가 정해져 있어야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팬 최대 운전의 2단계에 붙은 실제 인용입니다. 원문의 1569번째 글자부터 1615번째 글자까지가 이 단계의 근거입니다. 인용이 없는 후보는 받지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근거 없는 내용 생성을 막는 첫 번째 장치입니다. 다만 대조는 인용문이 원문에 있는지만 봅니다. 조건이 빠졌는지, 관계가 맞는지는 사람이 읽어야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앞에서 본 오류의 종류가 그대로 검토의 점검 항목이 됩니다. 문서 전체를 다시 읽는 것이 아니라 인용이 가리키는 자리만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추출이 끝난 시점에 지식 그래프는 조금도 바뀌어 있지 않습니다. 조치를 사람이 승인해야 설비 명령이 나갔던 것과 같은 구조입니다. 일부만 들어가 절차는 있는데 금지 조건이 없는 상태가 생기지 않게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 식별자는 그대로이고 판본만 새로 생깁니다. 적재 기록에는 누가 언제 검토해 넣었는지와 넣기 전후의 지식 그래프의 상태가 들어갑니다.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사슬이 그 문서의 개정 이력입니다. 전과 후의 상태를 비교하면 어느 개정에서 무엇이 바뀌었는지를 알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단계의 끝입니다. 쿨러 사건에서 추천안에 출처가 함께 나온 것이 이 단계의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첫날에는 조치 방법과 근거 문서 사이를 화살표 하나로 보았습니다. 펼치면 단계와 절이 그 사이에 있습니다. 출처는 따로 검색하는 것이 아니라 관계를 따라가면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문서를 활용하는 방식은 인제스천만 있는 것이 아닙니다. 이름을 풀면 검색으로 보강한 생성이라는 뜻입니다. 문서를 그대로 쓰므로 준비가 빠르고 넓은 범위의 질문에 답할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방식은 우열의 관계가 아니라 쓰임이 다릅니다. 같은 조건에서 같은 결론이 나와야 하는 설비 조치의 판단에는 등록된 지식이 맞고, 등록되지 않은 배경 설명이나 넓은 질문에는 검색이 도움이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셋째 날에 결정표에서 표에 적힌 것과 그때 읽어 오는 것을 나누어 보았습니다. 같은 구분을 지식 그래프 전체에 적용한 것입니다. 매뉴얼에서 뽑아 등록한 것은 모두 왼쪽입니다.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한 줄씩 읽으면 왼쪽은 기준이고 오른쪽은 그 기준에 댈 값입니다. 48과 65는 지식이고 지금의 유온은 값입니다.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흔한 실수는 편하다는 이유로 지금의 값을 노드의 속성으로 넣어 두는 것입니다. 쿨러 사건에서 유온은 2분이 안 되는 사이에 6 ℃가 올랐습니다. 2분 전의 값으로는 판단할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매뉴얼에서 추출해 등록한 증거 한 건입니다. 무엇을 읽어 무엇과 비교할지는 있지만 지금의 냉각 효율이 몇인지는 들어 있지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 장의 증거가 이 조회문이 됩니다. 지식은 이름으로 값을 가리킬 뿐이고 값은 원천에 그대로 있습니다. 매뉴얼의 기준이 바뀌면 지식의 70만 고치면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센서 값은 태그 이름으로 이어졌고 업무 값은 표와 열의 위치로 이어집니다. 방법은 달라도 원리는 같습니다. 지식에는 값이 어디에 있는지를 적고 값은 원천에 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쿨러 사건의 처리 기록에 남은 값 셋입니다. 인용이 지식의 출처라면 이 기록은 값의 출처입니다. 나중에 판단을 따질 때 값이 틀렸는지 지식이 틀렸는지를 가를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단계를 한 문장으로 줄인 것입니다. 이 세 가지가 갖추어진 지식이라야 판단의 근거로 쓸 수 있습니다. 이제 이 과정을 직접 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단계를 매뉴얼 한 편으로 직접 진행합니다. 할 일의 중심은 검토입니다. 끝나면 문서 한 편이 출처를 가진 지식으로 바뀌어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이번에는 추출하는 쪽을 직접 만듭니다. 지시에 들어가야 하는 것은 스키마의 클래스에 맞출 것, 정해진 형식으로 낼 것, 후보마다 인용을 붙일 것의 세 가지입니다.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순서는 오늘 배운 과정 그대로입니다. 둘째 날에 만든 설비 모델과 셋째 날의 조치와 규칙의 구조가 여기서 다시 쓰입니다. 고장 유형 하나에서 원문 출처까지 따라갈 수 있으면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칸마다 하늘색으로 칠한 부분이 그날 새로 더해진 것입니다. 앞 칸의 결과물이 다음 칸의 바탕이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첫날에 본 그림입니다. 정보는 모두 어딘가에 있었지만 그 사이를 잇는 연결은 사람의 머릿속에만 있었습니다. 이것이 첫날의 출발점이었습니다.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증상은 고장 유형을 가리키고, 원인은 고장 유형을 일으키며, 고장 유형은 조치로 완화된다는 세 문장이 그림이 되었습니다. 사람과 컴퓨터가 함께 읽을 수 있는 첫 형태입니다.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그림에는 증상에서 조치로 CAUSES를 그어도 막을 방법이 없습니다. 그 틀을 만드는 것이 둘째 날의 일이었습니다.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스키마 설계는 클래스가 아니라 질문에서 출발했습니다. 질문이 정해져야 무엇을 넣고 무엇을 넣지 않을지가 갈립니다.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첫날의 그림에 없던 틀이 이것입니다. 무엇을 넣을 수 있는지가 정의되었으므로 정의에 어긋나는 것을 걸러 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대상마다 식별자가 있고 관계는 스키마가 정한 방향으로 놓였습니다. Cypher로 이 관계를 따라가면 처음의 질문에 답이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길은 누가 그때 생각해 낸 것이 아닙니다. 관계가 정의되어 있고 그 정의에 따라 인스턴스가 이어져 있어서 따라갈 수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셋째 날에 SOP의 구성요소로 본 것 가운데 셋입니다. 단계는 조치 방법의 구조가 되었고, 조건과 금지는 판단 규칙이 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SOP 한 편이 조치 방법 노드 하나가 되고 번호가 붙은 줄이 작업 단계가 되었습니다. 절차가 그래프의 구조가 된 모습입니다.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셋째 날에 본 제외 규칙 그대로입니다. 조건에 댈 운전 모드의 값은 규칙에 없고 판단할 때 읽어 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셋째 날에 조치가 지표에 미치는 영향을 따라가며 본 지표들입니다. 한 조치가 한 지표에는 이롭고 다른 지표에는 불리했습니다.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셋째 날에 본 순위 그대로입니다. 넷 모두 제외 규칙을 통과했고, 쿨러 핀 세척에는 경고가 붙었으며, 순서는 성과 기준이 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둘째 날과 셋째 날은 지식이 들어갈 자리를 만들었고, 오늘은 그 자리를 채우는 방법을 다루었습니다.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내용만 있는 지식과 출처와 확인이 붙은 지식은 쓰임이 다릅니다. 뒤의 둘이 있어야 판단의 근거로 내놓을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증거의 기준 70이 원문과 다르게 옮겨졌다면 판단은 그 틀린 기준으로 원인을 가립니다. 에이전트는 등록된 지식을 그대로 조회하므로, 넣기 전의 검토가 이 걸음을 믿을 수 있게 하는 조건입니다.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 70은 매뉴얼에서 온 지식이고 46.2는 그 순간에 시계열 DB에서 읽은 값입니다. 둘은 서로 다른 곳에 있다가 판단하는 순간에만 만납니다.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첫날의 시연에서는 추천에 근거가 붙어 나온다는 정도로 보고 지나간 화면입니다. 지금은 줄마다 그것이 어디에서 왔는지를 말할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걸음 전체의 밑그림은 첫날의 관계 그림입니다. 첫날 94초 동안 에이전트가 한 일이 이것이었고, 그것이 가능했던 것은 나흘의 결과물이 미리 쌓여 있었기 때문입니다.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위의 둘은 지식 그래프에 있고 맨 아래의 값은 지식 그래프 밖의 원천에 있습니다. 같은 쿨러 사건의 내용이 세 층에 나뉘어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센서를 하나 새로 달면 인스턴스가 늘 뿐 스키마는 그대로입니다. 매뉴얼의 기준이 바뀌면 인스턴스 데이터가 바뀌고, 유온은 매초 바뀝니다.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층을 나누어 둔 덕분에 어디를 보아야 하는지가 갈립니다. 기준이 틀렸으면 인용을 따라 문서로 가고, 숫자가 틀렸으면 출처 기록을 따라 원천으로 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셋째 날에 결정표의 행으로 본 감점 규칙과 그 근거 문장입니다. 문서의 문장은 왜 그런 기준이 있는지를 사람에게 설명하고, 규칙은 지금 그 기준을 어떻게 판정할지를 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규칙은 오른쪽으로 문서에 이어지고 아래로 값의 자리에 이어집니다. 근거는 문서 쪽으로, 값은 입력 데이터 쪽으로 따라갑니다.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규칙만 있고 근거가 없으면 어느 규칙을 고쳐야 하는지 찾을 수 없습니다. 출처 관계와 개정 이력이 여기서 함께 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에이전트가 무엇이고 어떻게 동작하는지는 이후의 과정에서 다룹니다. 여기서는 지금까지 만든 것이 에이전트에게 무엇을 주는지만 봅니다. 같은 경보에는 같은 후보와 같은 근거가 나옵니다.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설비를 움직이는 판단에서는 대체로 맞는 것으로 충분하지 않습니다. 에이전트가 하는 일은 규칙을 해석하는 것이 아니라 규칙의 판정을 받아 추천에 반영하는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도구는 에이전트가 바깥의 시스템에 일을 시킬 때 쓰는 기능입니다. 도구가 어떻게 만들어지고 에이전트가 어떻게 그것을 고르는지는 다음 시간부터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첫날에 AI에게 그대로 물으면 답의 근거를 확인할 수 없다고 했습니다. 그 문제에 대한 답이 이 구분입니다.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나흘의 내용을 한 문장으로 줄인 것입니다. 이 과정의 제목에 있는 신뢰할 수 있는 판단 근거가 뜻하는 것이 이것입니다. 다음 시간부터는 이 재료로 실제로 판단하는 에이전트를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뜻은 앞에서 풀었으므로 여기서는 이름과 자리만 확인합니다. 이 일곱 개와 함께 원천 자료, 매핑, 판본, 개정 이력이 오늘의 용어입니다.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형식이 맞는 것과 내용이 맞는 것을 구분하는 문항입니다. 추출 결과와 인용문을 나란히 놓고 무엇이 다른지를 먼저 찾아보시기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넷 가운데 하나만 성격이 다릅니다. 문서가 개정되기 전에는 바뀌지 않는 것과 매초 바뀌는 것을 가려 보시기 바랍니다.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추출한 후보를 기존 그래프에 잇는 원칙을 묻는 문항입니다. 같은 대상이 그래프에 둘이 되면 어떤 일이 생기는지를 떠올리면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문항의 1번이 틀린 이유는 형식 검사와 인용 대조가 내용의 누락까지 잡아 주지는 않기 때문입니다. 셋째 문항의 3번은 문서를 읽었다고 스키마에 새 클래스를 더할 수는 없다는 점에서 틀립니다. 스키마를 바꾸는 일은 추출이 아니라 설계의 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Relationship Id="rId4" Type="http://schemas.openxmlformats.org/officeDocument/2006/relationships/image" Target="../media/image9.png"/><Relationship Id="rId5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Relationship Id="rId5" Type="http://schemas.openxmlformats.org/officeDocument/2006/relationships/image" Target="../media/image39.png"/><Relationship Id="rId6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3.png"/><Relationship Id="rId6" Type="http://schemas.openxmlformats.org/officeDocument/2006/relationships/image" Target="../media/image11.png"/><Relationship Id="rId7" Type="http://schemas.openxmlformats.org/officeDocument/2006/relationships/image" Target="../media/image4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2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Relationship Id="rId4" Type="http://schemas.openxmlformats.org/officeDocument/2006/relationships/image" Target="../media/image30.png"/><Relationship Id="rId5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1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Relationship Id="rId4" Type="http://schemas.openxmlformats.org/officeDocument/2006/relationships/image" Target="../media/image54.png"/><Relationship Id="rId5" Type="http://schemas.openxmlformats.org/officeDocument/2006/relationships/image" Target="../media/image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5.png"/><Relationship Id="rId4" Type="http://schemas.openxmlformats.org/officeDocument/2006/relationships/image" Target="../media/image27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8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1.png"/><Relationship Id="rId4" Type="http://schemas.openxmlformats.org/officeDocument/2006/relationships/image" Target="../media/image47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2.png"/><Relationship Id="rId4" Type="http://schemas.openxmlformats.org/officeDocument/2006/relationships/image" Target="../media/image6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9.png"/><Relationship Id="rId4" Type="http://schemas.openxmlformats.org/officeDocument/2006/relationships/image" Target="../media/image67.png"/><Relationship Id="rId5" Type="http://schemas.openxmlformats.org/officeDocument/2006/relationships/image" Target="../media/image15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3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7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5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1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3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0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2.png"/><Relationship Id="rId4" Type="http://schemas.openxmlformats.org/officeDocument/2006/relationships/image" Target="../media/image13.png"/><Relationship Id="rId5" Type="http://schemas.openxmlformats.org/officeDocument/2006/relationships/image" Target="../media/image8.png"/><Relationship Id="rId6" Type="http://schemas.openxmlformats.org/officeDocument/2006/relationships/image" Target="../media/image44.png"/><Relationship Id="rId7" Type="http://schemas.openxmlformats.org/officeDocument/2006/relationships/image" Target="../media/image7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7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2.png"/><Relationship Id="rId4" Type="http://schemas.openxmlformats.org/officeDocument/2006/relationships/image" Target="../media/image4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2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4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2.png"/><Relationship Id="rId4" Type="http://schemas.openxmlformats.org/officeDocument/2006/relationships/image" Target="../media/image44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png"/><Relationship Id="rId4" Type="http://schemas.openxmlformats.org/officeDocument/2006/relationships/image" Target="../media/image35.png"/><Relationship Id="rId5" Type="http://schemas.openxmlformats.org/officeDocument/2006/relationships/image" Target="../media/image49.png"/><Relationship Id="rId6" Type="http://schemas.openxmlformats.org/officeDocument/2006/relationships/image" Target="../media/image7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7.png"/><Relationship Id="rId4" Type="http://schemas.openxmlformats.org/officeDocument/2006/relationships/image" Target="../media/image73.png"/><Relationship Id="rId5" Type="http://schemas.openxmlformats.org/officeDocument/2006/relationships/image" Target="../media/image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167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00784"/>
            <a:ext cx="7863840" cy="42062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8FCFF8"/>
                </a:solidFill>
                <a:latin typeface="맑은 고딕"/>
                <a:ea typeface="맑은 고딕"/>
                <a:cs typeface="맑은 고딕"/>
              </a:rPr>
              <a:t>통합반 4일차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8"/>
            <a:ext cx="841248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자료를 검증해 만드는</a:t>
            </a:r>
          </a:p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신뢰할 수 있는 판단 근거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407408"/>
            <a:ext cx="8412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900" b="0">
                <a:solidFill>
                  <a:srgbClr val="C6D0DE"/>
                </a:solidFill>
                <a:latin typeface="맑은 고딕"/>
                <a:ea typeface="맑은 고딕"/>
                <a:cs typeface="맑은 고딕"/>
              </a:rPr>
              <a:t>매뉴얼의 문장이 출처를 가진 지식이 되기까지</a:t>
            </a:r>
          </a:p>
        </p:txBody>
      </p:sp>
      <p:pic>
        <p:nvPicPr>
          <p:cNvPr id="7" name="로고:uEngine" descr="logo-uengine_FFFFFF_N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5669280"/>
            <a:ext cx="1325880" cy="27511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464040" y="118871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5CB8F2_1.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784" y="1426463"/>
            <a:ext cx="713232" cy="713232"/>
          </a:xfrm>
          <a:prstGeom prst="rect">
            <a:avLst/>
          </a:prstGeom>
        </p:spPr>
      </p:pic>
      <p:sp>
        <p:nvSpPr>
          <p:cNvPr id="10" name="Down Arrow 9"/>
          <p:cNvSpPr/>
          <p:nvPr/>
        </p:nvSpPr>
        <p:spPr>
          <a:xfrm>
            <a:off x="9902952" y="245059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64040" y="2834639"/>
            <a:ext cx="1188720" cy="1188720"/>
          </a:xfrm>
          <a:prstGeom prst="rect">
            <a:avLst/>
          </a:prstGeom>
          <a:solidFill>
            <a:srgbClr val="243D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zoom-check" descr="zoom-check_5CB8F2_1.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784" y="3072383"/>
            <a:ext cx="713232" cy="713232"/>
          </a:xfrm>
          <a:prstGeom prst="rect">
            <a:avLst/>
          </a:prstGeom>
        </p:spPr>
      </p:pic>
      <p:sp>
        <p:nvSpPr>
          <p:cNvPr id="13" name="Down Arrow 12"/>
          <p:cNvSpPr/>
          <p:nvPr/>
        </p:nvSpPr>
        <p:spPr>
          <a:xfrm>
            <a:off x="9902952" y="4096511"/>
            <a:ext cx="310896" cy="310896"/>
          </a:xfrm>
          <a:prstGeom prst="downArrow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464040" y="4480560"/>
            <a:ext cx="1188720" cy="1188720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718304"/>
            <a:ext cx="713232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학습목표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문장이 검토를 거쳐 출처를 가진 지식으로 등록되는 과정을 설명하고 지식과 값을 구분한다.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import" descr="file-impor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7795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인제스천의 과정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 자료가 지식이 되기까지의 단계를 순서대로 설명한다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29771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771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전체 과정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alert-triangle" descr="alert-triang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7795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추출의 오류와 검토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추출에서 생기는 오류를 구분하고 대조와 검토가 맡는 일을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029771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029771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신뢰의 조건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quote" descr="quot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7795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출처와 개정 이력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지식이 문서의 어디에서 왔는지를 되짚는 방법을 설명한다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029771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029771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추적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2434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activity" descr="activity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7795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값의 구분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그래프에 두는 것과 원천에서 읽는 것을 가른다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029771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029771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데이터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06323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19" y="306323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인제스천: 현장 자료에서 온톨로지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88575" y="328269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88575" y="328269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85615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94759"/>
            <a:ext cx="8229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19" y="3794759"/>
            <a:ext cx="8488375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설계에서 지식 활용까지의 전체 과정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88575" y="4014215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8575" y="4014215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인제스천: 현장 자료에서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지식으로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1290319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1290319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 ·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문장을 추출하고 검토해 출처와 함께 지식 그래프에 등록하는 과정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추천안에 나온 원인, 조치, 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추천안에 나온 원인과 조치와 출처는 모두 매뉴얼 HM-8 한 편에서 온 지식이다.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9296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ter" descr="filter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08325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24476"/>
            <a:ext cx="90220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24476"/>
            <a:ext cx="90220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9296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propeller" descr="propell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308325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 조치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824476"/>
            <a:ext cx="902208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824476"/>
            <a:ext cx="90220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92963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ook-2" descr="book-2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308325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HM-8.5 즉시 완화 조치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82447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82447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매뉴얼의 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문서에 적힌 지식과 지식 그래프에 등록된 지식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내용이라도 문서의 문장은 사람이 읽어야 쓸 수 있고, 등록된 지식은 컴퓨터가 관계를 따라갈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9509"/>
            <a:ext cx="5181447" cy="3123692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3067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8429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30678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HM-8.4의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81069"/>
            <a:ext cx="4632807" cy="15234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「쿨러 핀 오염이 가장 흔하다. 최근 30초 냉각 효율 평균이 70 % 미만이고 팬은 정상이면 핀 오염으로 판정한다.」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원인, 기준값, 확인할 값이 한 문단에 섞여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96002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96002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29509"/>
            <a:ext cx="5181447" cy="3123692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3067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84297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30678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 등록된 모습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81069"/>
            <a:ext cx="4632807" cy="15234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 「쿨러 핀 오염」이 고장 유형에 CAUSES로 이어진다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증거에 CE, 최근 30초 평균, 70 % 미만이 속성으로 들어 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960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960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노드와 관계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인제스천: 원천 자료를 지식으로 들여오는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문서와 데이터베이스 같은 원천 자료를 온톨로지에 맞는 지식으로 바꾸어 등록하는 과정을 인제스천이라고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71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197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26197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바깥의 자료를 받아들여 시스템이 쓸 수 있는 형태로 바꾸어 넣는 과정이다.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여기서는 문서의 내용을 노드와 관계로 옮겨 지식 그래프에 등록하는 일이다.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913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 자료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9913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지식의 출발점이 되는 자료이다. 매뉴얼, 작업 절차서, 업무 데이터베이스가 있다.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쿨러 팬 정비 매뉴얼 HM-8, 정기 점검표 PM-02, 예비품 기준 PR-07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인제스천을 과정으로 정해 두는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사람이 손으로 옮기면 느리고 빠뜨리며, 문서가 개정될 때마다 같은 일을 다시 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211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lock" descr="clo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7479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느리다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 한 편에 절이 여덟, 절차가 일곱이다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3293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293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8211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97479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빠뜨린다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금지 조건 한 줄이 빠져도 알아차리기 어렵다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93293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93293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82117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refresh" descr="refres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97479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되풀이된다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문서가 개정되면 같은 방법으로 다시 옮겨야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93293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93293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지식이 되는 일곱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 자료는 보관, 분석, 추출, 매핑, 대조와 검토, 적재를 차례로 거친 뒤에야 조회할 수 있는 지식이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pic>
        <p:nvPicPr>
          <p:cNvPr id="6" name="삽화:인제스천_전체.svg" descr="illust_2623881532385004172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8593" y="1674906"/>
            <a:ext cx="436379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LLM이 문서를 읽고 후보를 만드는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1단계: 원천 확보와 보관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받은 문서를 고치지 못하게 그대로 보관해, 뒤의 대조와 검토가 모두 같은 원문을 기준으로 하게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pic>
        <p:nvPicPr>
          <p:cNvPr id="6" name="삽화:인제스천_1.svg" descr="illust_1261011876531807084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파일을 받아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고정된 원문을 낸다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식별자: 파일 이름이 아닌 고유한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보관할 때 문서마다 식별자를 발급하며, 바뀌거나 겹칠 수 있는 파일 이름은 식별자로 쓰지 않는다.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30373"/>
            <a:ext cx="5181447" cy="252196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93154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08516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9315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파일 이름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81932"/>
            <a:ext cx="4632807" cy="921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누구나 바꿀 수 있다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서로 다른 문서가 같은 이름을 가질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795139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95139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바뀌고 겹친다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730373"/>
            <a:ext cx="5181447" cy="2521966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93154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id" descr="id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308516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9315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식별자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781932"/>
            <a:ext cx="4632807" cy="921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보관할 때 문서마다 새로 발급한다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개정판을 올려도 같은 문서는 같은 식별자를 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795139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795139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하나만 가리킨다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2단계: 문서 내용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원문에서 절, 절차의 제목, 번호가 붙은 단계를 가려 두어 추출한 지식이 어느 자리에서 나왔는지를 말할 수 있게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pic>
        <p:nvPicPr>
          <p:cNvPr id="6" name="삽화:인제스천_2.svg" descr="illust_6869682462619739668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원문을 받아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절과 단계로 나눈다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HM-8의 구조: 절, 절차,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HM-8의 한 부분을 보면 절과 절차와 단계가 제목과 번호로 구분되어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36749"/>
            <a:ext cx="6766560" cy="3109213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73909"/>
            <a:ext cx="6400800" cy="2834893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때만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### SOP-COOL-11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PLC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모드가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REMOTE_AUTO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속도를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100 %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올린다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100 %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연속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3. 15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재관측으로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HM-8.6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회복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판정을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436749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HM-8.5 즉시 완화 조치. 절 번호가 뒤에 출처로 쓰인다.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73153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절차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SOP-COOL-11 팬 최대 운전. 조치 방법 하나가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09558"/>
            <a:ext cx="4007815" cy="10364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번호가 붙은 세 줄. 순서가 있는 단계가 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3단계: 지식 후보 추출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구조를 가려 둔 원문을 모델이 읽고 원인, 조치, 조건 같은 지식을 정해진 형식의 후보로 뽑아낸다.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pic>
        <p:nvPicPr>
          <p:cNvPr id="6" name="삽화:인제스천_3.svg" descr="illust_2941455729060167803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나뉜 원문을 받아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후보를 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LLM: 문장의 뜻을 읽는 언어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LLM은 번호나 표로 정리되지 않은 문장에서도 무엇이 원인이고 무엇이 조건인지를 가려낸다.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71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197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26197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방대한 글을 학습해 문장을 이해하고 만들어 내는 언어 모델이다.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「팬은 정상이면 핀 오염으로 판정한다」에서 조건과 결론을 가려낸다.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913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비유: 문서를 처음 맡은 신입 사원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비유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9913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닮은 점: 처음 보는 문서도 읽고 요지를 항목으로 정리한다.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다른 점: 모르는 부분도 그럴듯하게 채워 적을 수 있어 원문과 대조해야 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출력: 문장으로 받는 답과 형식으로 받는 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모델의 답을 자유로운 문장이 아니라 미리 정한 항목과 형식으로 받는 것을 구조화 출력이라고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811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347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문장으로 받는다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 문서에 따르면 원인은 핀 오염으로 보이며…」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다시 읽어야 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4557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4557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읽는다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811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347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Structured Output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이름, 식별자, 근거 절 같은 항목이 정해져 있다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프로그램이 그대로 읽어 다음 단계로 넘긴다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45570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45570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프로그램이 읽는다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 읽기 ①: 이름과 식별자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한 문장에서 나온 원인 한 건을 보면 문장 속의 이름이 식별자와 이름과 별칭으로 나뉘어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9282"/>
            <a:ext cx="6766560" cy="37241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6442"/>
            <a:ext cx="6400800" cy="34498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매뉴얼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문장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유막으로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0.6).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"id": "cause:cooler-fin-fouling",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"name":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"aliases": ["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"],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"prior": 0.6,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"parts": ["part:cooler-core"],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"section": "HM-8.4"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29282"/>
            <a:ext cx="4007815" cy="12413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원인을 가리키는 식별자이다. 접두사 cause가 클래스를 드러낸다.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370664"/>
            <a:ext cx="4007815" cy="12413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name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읽는 이름이다. 문장에 나온 말 그대로이다.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612047"/>
            <a:ext cx="4007815" cy="12413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aliases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원인을 부르는 다른 이름, 곧 별칭이다.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 읽기 ②: 값, 연결, 근거 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나머지 항목은 문장에 있던 값과, 이 원인이 이어질 고장 유형과 부품과, 근거가 된 절이다.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29282"/>
            <a:ext cx="6766560" cy="3724148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66442"/>
            <a:ext cx="6400800" cy="34498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매뉴얼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HM-8.4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문장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먼지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유막으로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흔하다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사전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0.6).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관련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부품은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코어다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구조화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"id": "cause:cooler-fin-fouling",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"name":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"aliases": ["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막힘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"],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"prior": 0.6,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"failure_mode": "fm:cooler-performance-loss",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"parts": ["part:cooler-core"],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"section": "HM-8.4"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29282"/>
            <a:ext cx="4007815" cy="12413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prior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문장의 「사전 확률 0.6」이 값으로 옮겨졌다.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370664"/>
            <a:ext cx="4007815" cy="12413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failure_mode · parts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원인이 이어질 고장 유형과 부품을 식별자로 가리킨다.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612047"/>
            <a:ext cx="4007815" cy="12413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section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내용이 나온 절의 번호이다.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JSON과 형식 검사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형식이 정해져 있으면 프로그램이 출력을 검사할 수 있지만, 형식이 맞는 것과 내용이 맞는 것은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1552"/>
            <a:ext cx="3515258" cy="29596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127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races" descr="brace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6633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35680"/>
            <a:ext cx="3186074" cy="14325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JavaScript Object Notation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이름과 값의 쌍으로 데이터를 적는 형식이다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4139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4139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출력의 형식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511552"/>
            <a:ext cx="3515258" cy="29596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7127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hecks" descr="check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86633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535680"/>
            <a:ext cx="3186074" cy="14325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형식 검사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항목이 빠졌거나 형식이 어긋나면 걸러 내고 모델에게 다시 요청한다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041392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041392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프로그램이 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511552"/>
            <a:ext cx="3515258" cy="295960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7127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lert-triangle" descr="alert-triangl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86633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535680"/>
            <a:ext cx="3186074" cy="143255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남는 문제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0.6이 원문의 값과 같은지는 형식 검사로 알 수 없다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04139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04139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내용의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4단계: 스키마 · 식별자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후보를 스키마의 클래스에 맞추고, 이미 등록된 대상은 그 식별자로 가리키게 해 새 지식이 기존 그래프에 이어지게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pic>
        <p:nvPicPr>
          <p:cNvPr id="6" name="삽화:인제스천_4.svg" descr="illust_6466104956795454997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10266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후보를 받아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식별자에 맞춰 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새로 만드는 지식과 이미 등록된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문서가 새로 알려 주는 지식은 후보로 만들고, 이미 등록된 대상은 새로 만들지 않고 식별자로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811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ircle-plus" descr="circle-plu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347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새로 알려 주는 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매뉴얼의 절, 조치 방법과 단계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고장 유형, 원인, 증거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4557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45570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811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nk" descr="lin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347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이미 등록된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구성 요소, 부품, 공급사, 증상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상태 변수, 성과 지표, 승인 역할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입력 데이터와 결정표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4557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4557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식별자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매핑의 예: 한 문장에서 나온 새 후보와 기존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HM-8.4의 한 문장에서 고장 유형 하나가 새 후보로 만들어지고, 증상 둘과 구성 요소는 등록된 대상을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pic>
        <p:nvPicPr>
          <p:cNvPr id="6" name="삽화:한문장.svg" descr="illust_6660828302986923298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95692" y="1934916"/>
            <a:ext cx="9163975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냉각 성능 상실은 오일 쿨러에서 생기는 고장이며 유온 상승과 냉각 효율 저하로 나타난다.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7493" y="4889571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 · 등록된 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7524" y="5693237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효율 저하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 · 등록된 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99454" y="5078669"/>
            <a:ext cx="305465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 · 새 후보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5040" y="4889571"/>
            <a:ext cx="196370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구성 요소 · 등록된 대상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8473" y="3778620"/>
            <a:ext cx="1309139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68629" y="3778620"/>
            <a:ext cx="163642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OCCURS_IN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대상이 없을 때: 지어내지 않고 알린다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등록된 목록에 맞는 대상이 없으면 모델은 비슷한 것을 지어내지 않고 그 사실을 사람에게 알린다.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4544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574544"/>
            <a:ext cx="1054577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맞는 입력이 없어 규칙으로 만들지 않았다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85470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008323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3808984"/>
            <a:ext cx="2692298" cy="17363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부하는 60 % 아래로 내리지 않는다.」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385470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008323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3808984"/>
            <a:ext cx="2692298" cy="17363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모델의 처리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펌프 부하 설정값을 가리킬 입력 데이터가 목록에 없어 규칙을 만들지 않고 알림으로 남겼다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385470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008323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3808984"/>
            <a:ext cx="2692298" cy="17363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몫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알림을 보고 필요한 입력을 먼저 등록할지를 정한다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추출에서 생길 수 있는 네 가지 오류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형식이 맞는 추출 결과에도 조건의 누락, 값의 오류, 잘못 이은 관계, 문서에 없는 내용이 섞일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27757"/>
            <a:ext cx="2567863" cy="2727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28925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an" descr="ba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82544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651885"/>
            <a:ext cx="2238679" cy="120015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 누락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「~가 아니면」이라는 조건이 빠진다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2518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2518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627757"/>
            <a:ext cx="2567863" cy="2727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828925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982544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651885"/>
            <a:ext cx="2238679" cy="120015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 · 단위 오류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숫자나 단위가 바뀌어 옮겨진다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492518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492518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627757"/>
            <a:ext cx="2567863" cy="2727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828925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arrows-split-2" descr="arrows-split-2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982544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651885"/>
            <a:ext cx="2238679" cy="120015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잘못된 관계 추론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문서에 없는 연결을 짐작으로 잇는다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492518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492518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627757"/>
            <a:ext cx="2567863" cy="272719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828925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ghost-2" descr="ghost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982544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651885"/>
            <a:ext cx="2238679" cy="120015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없는 내용 생성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문서에 없는 내용을 만들어 넣는다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4925187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4925187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 누락: 조건이 빠지면 뜻이 뒤집힌다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「아닐 때 쓰지 않는다」는 조건이 빠지면 언제나 쓸 수 있는 조치가 되어 원문과 반대의 뜻이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811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347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 HM-8.8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「원격 조치는 REMOTE_AUTO가 아닐 때 쓰지 않는다.」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모드에 따라 쓸 수 없는 조치이다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4557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4557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조건이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811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347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조건이 빠진다면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운전의 단계 셋만 옮겨진다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모드와 관계없이 쓸 수 있는 조치가 된다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결과만 보아서는 빠진 줄을 알 수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4557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4557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조건이 없다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 · 단위 오류: 형식은 맞고 값이 다르다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숫자나 단위가 바뀌어도 형식 검사는 통과하므로 수치는 원문과 하나씩 대조해야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91460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91460"/>
            <a:ext cx="1054577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「24시간 이내」가 「24분 이내」로 옮겨진다면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225239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「100 % 연속 운전은 24시간 이내로 한다.」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225239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달라지는 것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 24는 그대로이고 단위만 다르다. 형식 검사는 통과한다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eye-check" descr="eye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2252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확인하는 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수치와 단위를 인용문과 나란히 놓고 읽는다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잘못된 관계 추론: 문서에 없는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조치를 문서가 말하지 않은 원인에 이으면 형식은 맞아도 그 원인에 듣지 않는 조치가 추천된다.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1870862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세척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근본 조치</a:t>
            </a:r>
          </a:p>
        </p:txBody>
      </p:sp>
      <p:sp>
        <p:nvSpPr>
          <p:cNvPr id="9" name="Oval 8"/>
          <p:cNvSpPr/>
          <p:nvPr/>
        </p:nvSpPr>
        <p:spPr>
          <a:xfrm>
            <a:off x="7098578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filter" descr="filter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775" y="1870862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20193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12" name="Oval 11"/>
          <p:cNvSpPr/>
          <p:nvPr/>
        </p:nvSpPr>
        <p:spPr>
          <a:xfrm>
            <a:off x="548639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4860950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0255" y="5312664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캐비닛 환기 보강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근본 조치</a:t>
            </a:r>
          </a:p>
        </p:txBody>
      </p:sp>
      <p:sp>
        <p:nvSpPr>
          <p:cNvPr id="15" name="Oval 14"/>
          <p:cNvSpPr/>
          <p:nvPr/>
        </p:nvSpPr>
        <p:spPr>
          <a:xfrm>
            <a:off x="7098578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wind" descr="wind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775" y="4860950"/>
            <a:ext cx="416966" cy="4169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20193" y="5312664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" y="2496312"/>
            <a:ext cx="469370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4060587" y="2130552"/>
            <a:ext cx="12359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0587" y="2130552"/>
            <a:ext cx="123597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ADDRESSES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5486400"/>
            <a:ext cx="469370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4060587" y="5120640"/>
            <a:ext cx="12359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0587" y="5120640"/>
            <a:ext cx="1235971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ADDRESSES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49143" y="2876044"/>
            <a:ext cx="4861337" cy="2219231"/>
          </a:xfrm>
          <a:prstGeom prst="line">
            <a:avLst/>
          </a:prstGeom>
          <a:ln w="28575">
            <a:solidFill>
              <a:srgbClr val="1A6FC4"/>
            </a:solidFill>
            <a:prstDash val="dash"/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3987661" y="3619900"/>
            <a:ext cx="13843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A6F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7661" y="3619900"/>
            <a:ext cx="13843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문서에 없는 연결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없는 내용 생성: 문서에 없는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문서에 없는 내용이 자연스러운 문장으로 끼어들면 읽어서는 구별되지 않고 근거를 대라고 할 때 드러난다.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9509"/>
            <a:ext cx="5181447" cy="3123692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630678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78429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630678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원문의 절차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81069"/>
            <a:ext cx="4632807" cy="15234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팬 최대 운전의 단계는 셋이다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확인한다, 올린다, 재관측한다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09600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096002"/>
            <a:ext cx="868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단계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429509"/>
            <a:ext cx="5181447" cy="3123692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63067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ghost-2" descr="ghost-2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784297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630678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단계가 끼어든다면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481069"/>
            <a:ext cx="4632807" cy="15234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「팬 베어링의 소음을 확인한다」가 넷째 단계로 들어간다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그럴듯하지만 이 절차의 원문에 없다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인용을 붙이라고 하면 붙일 문장이 없다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096002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096002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근거가 없다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오류의 실제 예 ①: 원문의 절차와 견적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예비품 기준 PR-07의 긴급 발주 절차는 가장 빠른 공급사를 고른 뒤 승인 공급사가 아니면 절차를 쓰지 않게 되어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809748"/>
            <a:ext cx="6766560" cy="2363216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46907"/>
            <a:ext cx="6400800" cy="2088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예비품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PR-07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: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납기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긴급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1.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중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리드타임이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가장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짧은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고른다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2.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공급사인지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확인한다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아니면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펌프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키트의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견적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B-OEM 5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C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트레이딩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1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809748"/>
            <a:ext cx="4007815" cy="1181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1단계의 답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리드타임이 1일로 가장 짧은 C트레이딩이다.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991356"/>
            <a:ext cx="4007815" cy="1181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2단계의 결과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C트레이딩은 승인 공급사가 아니므로 이 절차를 쓰지 않는다.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오류의 실제 예 ②: 조건을 값에 미리 적용한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결과는 2단계의 조건을 미리 적용해 발주처를 승인 공급사로 바꾸어 적었고, 그 결과 조건이 지식에서 사라졌다.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원문의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아니면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절차를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쓰지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않는다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결과에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적힌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발주처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{"action": "action:purchase-request",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"value": "sup:a"}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sup:a = A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정밀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승인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공급사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,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리드타임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2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결과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발주처가 A정밀로 적혔다. 승인 공급사 가운데 가장 빠른 곳이다.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잃은 것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「승인 공급사가 아니면 쓰지 않는다」는 조건이 사라졌다.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드러나는 방법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값만 보면 그럴듯하다. 원문의 단계와 나란히 읽어야 드러난다.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5단계: 근거 대조와 사람 검토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가지 오류는 결과만 보아서는 드러나지 않으므로, 후보를 원문과 대조하고 사람이 검토하는 단계를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pic>
        <p:nvPicPr>
          <p:cNvPr id="6" name="삽화:인제스천_5.svg" descr="illust_2054988497065727112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후보와 원문을 받아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검토된 제안을 낸다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인용: 지식 한 건이 가리키는 원문의 구간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추출한 지식마다 근거가 된 원문의 구간을 </a:t>
            </a: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</a:t>
            </a: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으로 붙이며, 인용에는 판본과 쪽과 글자 위치와 인용문이 담긴다.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pic>
        <p:nvPicPr>
          <p:cNvPr id="6" name="삽화:인용.svg" descr="illust_4705219008915187427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48402" y="1698543"/>
            <a:ext cx="392741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보관된 원문 · 매뉴얼 HM-8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9556" y="16512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한 건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운전의 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679" y="3187689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인용(Citation)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4104" y="4204091"/>
            <a:ext cx="3381943" cy="1181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인용에 담기는 것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 식별자와 판본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쪽 1 · 문자 위치 1569~1615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인용문: 「2. 팬 속도를 100 %로 올린다.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100 % 연속 운전은 24시간 이내로 한다.」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대조: 인용문이 원문에 실제로 있는가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프로그램이 인용문을 원문의 그 쪽에서 찾아보므로, 원문에 없는 문장을 근거로 댄 후보는 여기서 걸러진다.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pic>
        <p:nvPicPr>
          <p:cNvPr id="6" name="삽화:인용.svg" descr="illust_4705219008915187427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75687" y="1698543"/>
            <a:ext cx="327284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보관된 원문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59556" y="1651269"/>
            <a:ext cx="261827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한 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8576" y="5787786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인용문을 그 쪽에서 찾는다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없으면 후보를 돌려보낸다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6841" y="4275002"/>
            <a:ext cx="283646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걸러지는 것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문서에 없는 내용을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근거로 댄 후보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 검토에서 확인하는 네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검토자는 항목마다 인용을 열어 부정 조건, 수치와 단위, 단계의 순서, 대상과 관계를 원문과 나란히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an" descr="ba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877959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부정 조건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「~가 아니면」「~하지 않는다」가 빠지지 않았는가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29771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771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ruler-measure" descr="ruler-measur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877959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수치와 단위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숫자와 단위가 인용문과 같은가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029771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029771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72434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list-numbers" descr="list-numb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877959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단계의 순서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번호와 순서가 원문과 같은가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029771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029771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523172"/>
            <a:ext cx="2567863" cy="293636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72434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link" descr="lin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877959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547300"/>
            <a:ext cx="2238679" cy="140931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대상과 관계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유형과 관계가 바르게 이어졌는가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029771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029771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연결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6단계: 승인된 지식 적재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결과는 제안일 뿐이며, 검토자가 이름을 밝히고 검토를 마쳤다고 표시한 내용만 한 번에 지식 그래프에 들어간다.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pic>
        <p:nvPicPr>
          <p:cNvPr id="6" name="삽화:인제스천_6.svg" descr="illust_3013574924940219501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승인된 것만 한 번에 넣고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어긋나면 모두 취소한다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판본과 적재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문서라도 내용이 바뀌면 다른 판본이며, 판본을 적재할 때마다 적재 전과 후의 상태를 한 묶음의 기록으로 남긴다.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pic>
        <p:nvPicPr>
          <p:cNvPr id="6" name="삽화:적재묶음_사슬.svg" descr="illust_7013039371302505369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90226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첫 판본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23088" y="1722180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 판본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46854" y="1722180"/>
            <a:ext cx="196370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지금의 판본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2036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4898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7759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2941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5803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8664" y="4369551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전 → 적재 후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개정 이력과 되돌리기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기록이 앞 기록을 가리켜 사슬이 되므로 무엇이 바뀌었는지를 추적할 수 있고 잘못 넣은 것을 되돌릴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  <p:pic>
        <p:nvPicPr>
          <p:cNvPr id="6" name="삽화:적재묶음_사슬.svg" descr="illust_7013039371302505369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2036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4898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7759" y="2979682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 기록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83034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6805" y="3471336"/>
            <a:ext cx="98185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앞 기록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5834" y="5716874"/>
            <a:ext cx="436379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되돌리기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가장 새 기록부터 적재 전의 상태로 되돌린다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7단계: 관계 · 출처 조회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적재된 지식은 관계를 따라 조회되며, 지식에서 문서의 절까지도 관계로 이어져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  <p:pic>
        <p:nvPicPr>
          <p:cNvPr id="6" name="삽화:인제스천_7.svg" descr="illust_6336686593981997221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290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1. 원천 확보와 보관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3935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2. 문서 내용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7671" y="2927680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3. 지식 후보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32316" y="2927680"/>
            <a:ext cx="2400088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4. 스키마 · 식별자 매핑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290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5. 대조와 사람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3935" y="5220492"/>
            <a:ext cx="240008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6. 승인된 지식 적재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7671" y="5220492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7. 관계 · 출처 조회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질문을 받아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지식과 출처를 낸다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 조회: 조치에서 근거 문서까지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방법은 단계와 절을 거쳐 문서에 속하고(PART_OF), 규칙은 자신이 나온 절을 가리킨다(DERIVED_FROM).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tool" descr="too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1870862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</p:txBody>
      </p:sp>
      <p:sp>
        <p:nvSpPr>
          <p:cNvPr id="9" name="Oval 8"/>
          <p:cNvSpPr/>
          <p:nvPr/>
        </p:nvSpPr>
        <p:spPr>
          <a:xfrm>
            <a:off x="3636468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list-numbers" descr="list-number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665" y="1870862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58083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속도를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100 %로 올린다</a:t>
            </a:r>
          </a:p>
        </p:txBody>
      </p:sp>
      <p:sp>
        <p:nvSpPr>
          <p:cNvPr id="12" name="Oval 11"/>
          <p:cNvSpPr/>
          <p:nvPr/>
        </p:nvSpPr>
        <p:spPr>
          <a:xfrm>
            <a:off x="6817866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file-description" descr="file-descriptio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8063" y="1870862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39482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HM-8.5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즉시 완화 조치</a:t>
            </a:r>
          </a:p>
        </p:txBody>
      </p:sp>
      <p:sp>
        <p:nvSpPr>
          <p:cNvPr id="15" name="Oval 14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book-2" descr="book-2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5892" y="1870862"/>
            <a:ext cx="416966" cy="4169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27310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팬 정비 매뉴얼</a:t>
            </a:r>
          </a:p>
        </p:txBody>
      </p:sp>
      <p:sp>
        <p:nvSpPr>
          <p:cNvPr id="18" name="Oval 17"/>
          <p:cNvSpPr/>
          <p:nvPr/>
        </p:nvSpPr>
        <p:spPr>
          <a:xfrm>
            <a:off x="6817866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아이콘:list-check" descr="list-check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8063" y="4860950"/>
            <a:ext cx="416966" cy="41696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39482" y="5312664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 선택 규칙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성능 상실의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완화 후보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31720" y="2496312"/>
            <a:ext cx="12315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2391574" y="2130552"/>
            <a:ext cx="1111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91574" y="2130552"/>
            <a:ext cx="11118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19548" y="2496312"/>
            <a:ext cx="132516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5472762" y="2130552"/>
            <a:ext cx="12187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72762" y="2130552"/>
            <a:ext cx="12187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REFERS_TO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00946" y="2496312"/>
            <a:ext cx="1231597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8" name="Rounded Rectangle 27"/>
          <p:cNvSpPr/>
          <p:nvPr/>
        </p:nvSpPr>
        <p:spPr>
          <a:xfrm>
            <a:off x="8714226" y="2130552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26" y="2130552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686546" y="3438144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31" name="Rounded Rectangle 30"/>
          <p:cNvSpPr/>
          <p:nvPr/>
        </p:nvSpPr>
        <p:spPr>
          <a:xfrm>
            <a:off x="7777986" y="3858768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7986" y="3858768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검색해 참고하는 방식: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RAG(Retrieval-Augmented Generation)는 질문과 가까운 문서 조각을 찾아 모델이 읽고 답하게 하는 방식이다.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7709" y="3566096"/>
            <a:ext cx="7396276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4127906" y="3456368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00629" y="3108896"/>
            <a:ext cx="2692298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검색</a:t>
            </a:r>
          </a:p>
        </p:txBody>
      </p:sp>
      <p:sp>
        <p:nvSpPr>
          <p:cNvPr id="9" name="Oval 8"/>
          <p:cNvSpPr/>
          <p:nvPr/>
        </p:nvSpPr>
        <p:spPr>
          <a:xfrm>
            <a:off x="1803349" y="3044888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message-question" descr="message-questio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642" y="3330181"/>
            <a:ext cx="618134" cy="618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370768"/>
            <a:ext cx="3515258" cy="932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질문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질문이 들어온다</a:t>
            </a:r>
          </a:p>
        </p:txBody>
      </p:sp>
      <p:sp>
        <p:nvSpPr>
          <p:cNvPr id="12" name="Chevron 11"/>
          <p:cNvSpPr/>
          <p:nvPr/>
        </p:nvSpPr>
        <p:spPr>
          <a:xfrm>
            <a:off x="7826044" y="3456368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98767" y="3108896"/>
            <a:ext cx="2692298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조각과 질문</a:t>
            </a:r>
          </a:p>
        </p:txBody>
      </p:sp>
      <p:sp>
        <p:nvSpPr>
          <p:cNvPr id="14" name="Oval 13"/>
          <p:cNvSpPr/>
          <p:nvPr/>
        </p:nvSpPr>
        <p:spPr>
          <a:xfrm>
            <a:off x="5501487" y="3044888"/>
            <a:ext cx="1188720" cy="1188720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file-search" descr="file-search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780" y="3330181"/>
            <a:ext cx="618134" cy="6181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338218" y="4370768"/>
            <a:ext cx="3515258" cy="932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조각 검색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나누어 둔 조각에서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질문과 가까운 것을 찾는다</a:t>
            </a:r>
          </a:p>
        </p:txBody>
      </p:sp>
      <p:sp>
        <p:nvSpPr>
          <p:cNvPr id="17" name="Oval 16"/>
          <p:cNvSpPr/>
          <p:nvPr/>
        </p:nvSpPr>
        <p:spPr>
          <a:xfrm>
            <a:off x="9199626" y="3044888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robot" descr="robo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4918" y="3330181"/>
            <a:ext cx="618134" cy="61813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36356" y="4370768"/>
            <a:ext cx="3515258" cy="932815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모델의 답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조각을 읽고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문장으로 답한다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질문에 대한 두 방식의 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「운전 모드가 원격 수동일 때 팬 최대 운전을 써도 되는가」라는 질문에 두 방식은 서로 다른 길로 답한다.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480246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search" descr="file-search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6338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검색해 참고한다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「REMOTE_AUTO가 아닐 때 쓰지 않는다」가 든 조각을 찾는다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모델이 조각을 읽고 지금의 운전 모드와 견주어 답한다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해석은 답할 때마다 모델이 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246433"/>
            <a:ext cx="16763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46433"/>
            <a:ext cx="16763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그때 읽고 해석한다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279078"/>
            <a:ext cx="5181447" cy="3424555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4802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chema" descr="schema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633865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480246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구조화해 등록한다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330638"/>
            <a:ext cx="4632807" cy="182435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그 문장이 검토를 거쳐 제외 규칙으로 등록되어 있다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모드의 값을 읽어 규칙의 조건과 비교한다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운전 모드이면 언제나 같은 결과가 나온다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5246433"/>
            <a:ext cx="21335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5246433"/>
            <a:ext cx="21335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등록된 규칙으로 판정한다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값: 잘 바뀌지 않는 것과 계속 변하는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원인, 절차, 기준처럼 잘 바뀌지 않는 것이 지식이고, 센서와 재고와 운전시간처럼 계속 변하는 것이 값이다.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811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ook-2" descr="book-2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347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원인, 절차, 규칙, 기준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문서가 개정될 때만 바뀐다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지식 그래프에 등록한다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45570"/>
            <a:ext cx="11277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45570"/>
            <a:ext cx="11277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안정적이다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811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ctivity" descr="activity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347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센서 값, 재고, 운전시간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매초, 또는 업무가 일어날 때마다 바뀐다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등록하지 않고 원천에서 읽는다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4557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4557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계속 변한다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대상별로 본 지식과 값의 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같은 대상에도 지식과 값이 짝으로 있으며, 기준은 지식 그래프에 있고 그 기준에 댈 값은 원천에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지식 그래프에 두는 지식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시점에 읽는 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유온의 정상값 48 ℃와 한계 65 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지금의 유온 TS1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원인과 증거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평균이 70 % 미만이면 핀 오염으로 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최근 30초의 효율 평균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조치와 규칙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100 % 연속 운전이 24시간을 넘으면 감점한다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지금까지의 연속 운전 시간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납기와 재고가 판단의 입력이라는 정의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남은 납기 시간, 재고 수량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값을 지식 그래프에 복사해 두면 생기는 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값을 지식 그래프에 복사해 넣으면 그 순간부터 원천과 어긋나기 시작하고 판단은 낡은 값을 보게 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811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opy" descr="copy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347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복사해 둔 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넣은 순간의 유온이 그대로 남는다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원천의 유온은 매초 바뀐다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판단이 지난 값을 본다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4557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45570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낡는다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811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database" descr="databas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347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원천에서 읽는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값은 시계열 DB와 업무 DB에 그대로 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판단하는 순간에 읽는다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언제나 지금의 값이다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4557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4557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지금의 값이다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지식에는 값을 읽는 방법을 적는다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지식에는 값 대신 어느 값을 어떤 구간으로 읽어 무엇과 비교할지를 적어 둔다.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45207"/>
            <a:ext cx="6766560" cy="2892297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82367"/>
            <a:ext cx="6400800" cy="261797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지식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그래프의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증거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건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{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"name": "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30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초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효율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평균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70 %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미만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"tag": "CE",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"aggregate": "avg",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"window_seconds": 30,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"expect": "lt",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"threshold": 70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545207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tag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읽을 값의 이름이다. 냉각 효율 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09306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aggregate · window_seconds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최근 30초의 평균을 낸다.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73405"/>
            <a:ext cx="4007815" cy="964099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expect · threshold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70보다 작은지를 본다. 여기에 지금의 값은 없다.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시점의 조회: 원천에서 읽은 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판단하는 순간에 증거에 적힌 방법이 조회문이 되어 시계열 DB에서 값을 읽고 기준과 비교한다.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28291"/>
            <a:ext cx="6766560" cy="3326129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5451"/>
            <a:ext cx="6400800" cy="305181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시계열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DB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에서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실행하는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조회문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SELECT avg(value) FROM tag_1s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WHERE asset = 'HYD-01' AND name = 'CE'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AND time &gt; now() - interval '30 seconds'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읽은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46.2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기준과의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비교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46.2 &lt; 70  (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증거가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성립한다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32829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SQL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Query Language. 데이터베이스에 조회를 요청하는 언어이다.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43700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이어지는 자리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증거의 태그 이름 CE가 시계열 DB에 쌓인 값의 이름 CE와 같다.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545711"/>
            <a:ext cx="4007815" cy="110871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사건에서 읽은 냉각 효율 평균은 46.2였다.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데이터베이스의 등록: 값이 아니라 값의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업무 데이터베이스는 행의 값을 옮기지 않고, 값이 어느 표의 어느 열에 있는지를 입력 데이터로 등록한다.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  <p:pic>
        <p:nvPicPr>
          <p:cNvPr id="6" name="삽화:입력데이터_자리.svg" descr="illust_5349983391569596303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32094" y="1745818"/>
            <a:ext cx="370922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자리: 어느 표의 어느 열인가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5656" y="5622325"/>
            <a:ext cx="414560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업무 DB의 표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계수기 표 ent.pm_counters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열 since_pm_h · 값은 이 표에 그대로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4104" y="2194925"/>
            <a:ext cx="2290993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패턴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정기 정비 도래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1,950시간 이상인가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8584" y="3329513"/>
            <a:ext cx="98185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TESTS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9512" y="4960482"/>
            <a:ext cx="240008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입력 데이터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마지막 정기 정비 뒤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운전시간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9556" y="3494973"/>
            <a:ext cx="185461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SOURCED_FROM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출처로 삼는다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1424" y="4865933"/>
            <a:ext cx="174551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 시스템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정비 관리 시스템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5803" y="5031394"/>
            <a:ext cx="1854614" cy="62382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시점에 읽는다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출처 기록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판단에 쓴 값마다 어느 원천에서 어떻게 읽었는지를 함께 남겨, 지식뿐 아니라 값도 되짚을 수 있게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211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emperature" descr="temperatur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7479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59.9 ℃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표 tag_1s의 최신값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읽은 시점에서 0초 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32934"/>
            <a:ext cx="1057656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2934"/>
            <a:ext cx="1057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8211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cpu" descr="cpu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97479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운전 모드 원격 자동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plant.status의 최신 메시지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93293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93293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82117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alendar-time" descr="calendar-tim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97479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납기까지 5.98시간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생산오더의 납기까지 남은 시간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932934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932934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01단원 정리: 문장이 지식이 되는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문서의 문장은 인용이 붙고 사람이 검토했을 때 지식이 되며, 그 지식은 값을 담지 않고 값이 있는 자리를 가리킨다.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91460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91460"/>
            <a:ext cx="1054577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인용이 붙고, 사람이 검토하고, 값은 원천에 둔다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quote" descr="quot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225239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지식마다 원문의 구간이 붙는다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user-check" descr="user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225239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원문과 대조해 승인한 것만 들어간다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2252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지식에는 읽는 방법만 적고 값은 원천에서 읽는다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매뉴얼의 등록, 추출, 검토, 승인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HYD 포털에서 설비 정비 매뉴얼 한 편을 원문 보관부터 승인 적재까지 진행한다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하는 일과 만들어지는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실습을 마치면 매뉴얼 한 편에서 나온 조치 방법, 원인, 규칙이 출처와 함께 지식 그래프에 등록된다.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86178"/>
            <a:ext cx="3515258" cy="36103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3873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import" descr="file-impor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54096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210306"/>
            <a:ext cx="3186074" cy="20833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등록과 추출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설비 정비 매뉴얼을 올려 원문을 보관한다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추출을 요청해 조치 방법, 단계, 고장 유형, 원인, 규칙의 제안을 받는다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366766"/>
            <a:ext cx="16306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66766"/>
            <a:ext cx="16306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원문에서 제안까지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186178"/>
            <a:ext cx="3515258" cy="36103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38734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eye-check" descr="eye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54096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210306"/>
            <a:ext cx="3186074" cy="20833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대조와 검토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제안의 단계 문장을 원문 인용과 나란히 읽는다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부정 조건, 단위, 단계의 순서, 대상 설비를 확인해 틀린 곳을 고친다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36676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36676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사람의 확인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186178"/>
            <a:ext cx="3515258" cy="36103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38734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topology-star-3" descr="topology-star-3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54096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210306"/>
            <a:ext cx="3186074" cy="20833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승인과 확인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검토를 마쳤다고 표시해 지식 그래프에 적재한다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조치, 원인, 근거 문서가 이어진 관계를 확인한다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판단 기준과 원천에서 읽히는 지금의 값을 견주어 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366766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366766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등록된 지식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Claude Code로 문서에서 지식 추출하기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실습용 기술 매뉴얼과 작업 절차 자료에서 출처가 붙은 지식 후보를 만든다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지시하는 것과 완성되는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실습을 마치면 문서 식별자, 원문 구간, 인용문이 붙은 검토용 구조화 데이터가 만들어진다.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94635"/>
            <a:ext cx="3515258" cy="339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49580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49423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18764"/>
            <a:ext cx="3186074" cy="18663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 분석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실습용 매뉴얼과 작업 절차 자료를 읽는다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표, 절차 번호, 예외 조건, 수치, 개정 사항을 확인한다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58308"/>
            <a:ext cx="10210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58308"/>
            <a:ext cx="10210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읽을 대상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294635"/>
            <a:ext cx="3515258" cy="339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495804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erminal-2" descr="terminal-2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649423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318764"/>
            <a:ext cx="3186074" cy="18663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추출 지시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원인, 조치, 수행 조건을 스키마의 클래스에 맞춰 뽑도록 Claude Code에 지시한다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후보마다 문서 식별자, 쪽 또는 구간, 원문 인용을 함께 내게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5258308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5258308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294635"/>
            <a:ext cx="3515258" cy="339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495804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races" descr="brace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649423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318764"/>
            <a:ext cx="3186074" cy="18663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대조와 보완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원문과 대조해 빠진 조건과 틀린 추출을 고친다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다음 실습의 적재에 쓸 검토용 데이터로 정리한다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5258308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5258308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검토용 데이터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실습: 검토한 지식을 그래프 DB에 반영하기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추출한 후보를 검토해 실습용 그래프 DB에 넣고 출처까지 이어진 관계를 조회한다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실습에서 반영하는 것과 확인하는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 실습을 마치면 앞서 만든 그래프에 문서에서 온 지식이 더해지고 고장 유형에서 출처까지를 한 번에 조회할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14003"/>
            <a:ext cx="2567863" cy="335470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51517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checklist" descr="checklis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66879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338131"/>
            <a:ext cx="2238679" cy="182765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추출한 후보를 원문과 대조한다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채택할 것, 고칠 것, 뺄 것을 정한다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23894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23894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후보의 선별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0823" y="2314003"/>
            <a:ext cx="2567863" cy="335470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9423" y="251517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link" descr="lin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043" y="2668790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5415" y="3338131"/>
            <a:ext cx="2238679" cy="182765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매핑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후보를 이미 만든 클래스, 인스턴스, 관계에 잇는다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등록된 대상은 그 식별자로 가리킨다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9423" y="523894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9423" y="523894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기존 식별자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2314003"/>
            <a:ext cx="2567863" cy="335470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1607" y="2515171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database-import" descr="database-impor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226" y="2668790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97599" y="3338131"/>
            <a:ext cx="2238679" cy="182765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Claude Code로 적재 코드를 만든다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검토한 항목만 실습용 그래프 DB에 넣는다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1607" y="523894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1607" y="523894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검토한 것만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75191" y="2314003"/>
            <a:ext cx="2567863" cy="335470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03791" y="251517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아이콘:route" descr="rout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7410" y="2668790"/>
            <a:ext cx="424281" cy="42428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39783" y="3338131"/>
            <a:ext cx="2238679" cy="1827657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고장 유형에서 원인, 조치, 판단 규칙, 원문 출처로 이어지는 관계를 조회한다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03791" y="5238940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03791" y="5238940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보강된 그래프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2377440" cy="1737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88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011680"/>
            <a:ext cx="8625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온톨로지 설계에서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활용까지의 전체 과정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4160520"/>
            <a:ext cx="822960" cy="347472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4160520"/>
            <a:ext cx="8229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617720"/>
            <a:ext cx="8625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일차의 결과물이 하나의 지식 그래프로 쌓이는 순서와 그 쓰임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네 일차의 흐름: 한 그래프가 자라는 순서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네 일차는 하나의 지식 그래프가 필요성, 구조, 조치와 판단, 문서의 지식 순서로 자라 온 과정이다.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  <p:pic>
        <p:nvPicPr>
          <p:cNvPr id="6" name="삽화:네일차_흐름.svg" descr="illust_896325430937086781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014" y="1651269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1일차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온톨로지의 필요성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0283" y="1651269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2일차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클래스, 스키마, 그래프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3101" y="1651269"/>
            <a:ext cx="229099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3일차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SOP, 판단 규칙, 성과 지표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1375" y="1651269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4일차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추출, 검토, 출처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014" y="5456864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그림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0283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스키마와 인스턴스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3101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절차와 판단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6828" y="5456864"/>
            <a:ext cx="229099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검토된 지식과 출처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9641" y="4369551"/>
            <a:ext cx="1200044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이후 과정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1일차의 입력: 사건 한 건과 흩어진 정보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1일차가 받은 것은 쿨러 사건 한 건과, 서로 다른 곳에 흩어져 이어지지 않은 정보였다.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  <p:pic>
        <p:nvPicPr>
          <p:cNvPr id="6" name="삽화:흩어진정보.svg" descr="illust_599518811187925397_17917154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5660" y="302222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시계열 DB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센서 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660" y="524412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운전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8656" y="302222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HM-8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원인과 조치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8656" y="524412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MES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생산 일정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7613" y="4298640"/>
            <a:ext cx="283646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경보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 · 냉각 효율 저하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1일차의 결과물: 이름과 방향이 있는 관계 그림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1일차의 결과물은 사람의 머릿속에 있던 연결을 노드와 이름 붙은 관계로 꺼내 적은 관계 그림이다.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59</a:t>
            </a:r>
          </a:p>
        </p:txBody>
      </p:sp>
      <p:pic>
        <p:nvPicPr>
          <p:cNvPr id="6" name="삽화:관계.svg" descr="illust_6253008795832190114_17917153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203" y="4085904"/>
            <a:ext cx="240008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9423" y="2218563"/>
            <a:ext cx="327284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냉각 성능 상실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0497" y="4085904"/>
            <a:ext cx="218189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2227" y="5362315"/>
            <a:ext cx="196370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70288" y="2904042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5887" y="2904042"/>
            <a:ext cx="174551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0306" y="4322277"/>
            <a:ext cx="218189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1일차에 남은 것: 그림에는 정의가 없다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 그림은 무엇이든 그릴 수 있어서, 무엇을 그려도 되는지를 정한 정의와 대상을 가리킬 식별자가 남은 과제였다.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30373"/>
            <a:ext cx="5181447" cy="252196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93154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pencil" descr="pencil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08516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9315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관계 그림에 있는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81932"/>
            <a:ext cx="4632807" cy="921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노드와 관계의 이름과 방향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사람이 읽고 맞는지 말할 수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795139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95139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표현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730373"/>
            <a:ext cx="5181447" cy="2521966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93154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schema" descr="schema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308516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9315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아직 없는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781932"/>
            <a:ext cx="4632807" cy="921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어떤 대상과 관계가 있을 수 있는지의 정의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같은 대상을 하나로 가리키는 식별자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795139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795139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정의와 식별자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2일차의 입력: 설비 자료와 답할 질문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2일차가 받은 것은 설비 자료와, 이 지식으로 무엇에 답하려는가 하는 질문이었다.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28468"/>
            <a:ext cx="5410047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9296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08325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752596"/>
            <a:ext cx="5080863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 자료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설비, 구성 요소, 센서에 관한 제공된 자료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2447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2447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재료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728468"/>
            <a:ext cx="5410047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61607" y="292963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help-circle" descr="help-circl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226" y="308325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97599" y="3752596"/>
            <a:ext cx="5080863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답할 질문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HYD-01의 오일 쿨러를 재는 센서와 그 한계값은 무엇인가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1607" y="482447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482447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출발점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2일차의 결과물 ①: 스키마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2일차의 첫 결과물은 어떤 클래스와 속성과 관계가 있을 수 있는지를 정의한 스키마이다.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71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197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Schema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26197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클래스, 속성, 관계, 제약을 한곳에 정의한 구조이다.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913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정의의 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있을 수 있는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9913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센서에는 tag가 있어야 한다.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구성 요소는 센서로 계측된다(MONITORED_BY).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2일차의 결과물 ②: 인스턴스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둘째 결과물은 그 정의에 따라 식별자와 함께 그래프 DB에 넣은 실제 대상과 관계, 곧 인스턴스 데이터이다.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63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312267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engine" descr="engin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3365906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3817620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HYD-01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asset:hyd-01</a:t>
            </a:r>
          </a:p>
        </p:txBody>
      </p:sp>
      <p:sp>
        <p:nvSpPr>
          <p:cNvPr id="9" name="Oval 8"/>
          <p:cNvSpPr/>
          <p:nvPr/>
        </p:nvSpPr>
        <p:spPr>
          <a:xfrm>
            <a:off x="5227167" y="3122676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components" descr="component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364" y="3365906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8782" y="3817620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오일 쿨러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구성 요소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comp:cooler</a:t>
            </a:r>
          </a:p>
        </p:txBody>
      </p:sp>
      <p:sp>
        <p:nvSpPr>
          <p:cNvPr id="12" name="Oval 11"/>
          <p:cNvSpPr/>
          <p:nvPr/>
        </p:nvSpPr>
        <p:spPr>
          <a:xfrm>
            <a:off x="9905695" y="312267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gauge" descr="gaug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2" y="3365906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27310" y="3817620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유온 센서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sen:ts1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3991356"/>
            <a:ext cx="2822295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2919798" y="3625596"/>
            <a:ext cx="164613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19798" y="3625596"/>
            <a:ext cx="164613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HAS_COMPONENT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10247" y="3991356"/>
            <a:ext cx="28222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7651751" y="3625596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1751" y="3625596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MONITORED_BY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2일차의 결과물이 쓰인 자리: 경보에서 고장 유형까지의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사건에서 경보가 고장 유형에 이른 길은 스키마가 정의한 관계를 따라간 것이다.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64</a:t>
            </a:r>
          </a:p>
        </p:txBody>
      </p:sp>
      <p:pic>
        <p:nvPicPr>
          <p:cNvPr id="6" name="삽화:경로_1.svg" descr="illust_3066386224022674697_17917153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9285" y="2265837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이상 패턴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성능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5709" y="2265837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유온 상승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4864" y="1982190"/>
            <a:ext cx="1527329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냉각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성능 상실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1140" y="4038630"/>
            <a:ext cx="120004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DETECTS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2107" y="4038630"/>
            <a:ext cx="141823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INDICATES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742" y="4747747"/>
            <a:ext cx="3381943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2일차의 결과물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스키마가 정의한 관계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3일차의 입력: 조건과 금지가 적힌 절차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3일차가 받은 것은 수행 단계뿐 아니라 전제 조건과 금지 사항이 함께 적힌 절차 자료였다.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8211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list-numbers" descr="list-numbers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974797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수행 단계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「2. 팬 속도를 100 %로 올린다.」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932934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2934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어떻게 하는가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821178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toggle-left" descr="toggle-lef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2974797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전제 조건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「원격 조치는 PLC 운전 모드가 REMOTE_AUTO일 때만 한다.」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932934"/>
            <a:ext cx="156972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932934"/>
            <a:ext cx="15697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언제 할 수 있는가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620010"/>
            <a:ext cx="3515258" cy="27426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821178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ban" descr="ban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2974797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644138"/>
            <a:ext cx="3186074" cy="12156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금지 사항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「펌프 부하를 60 % 미만으로 설정하지 않는다.」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932934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932934"/>
            <a:ext cx="187452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무엇을 하면 안 되는가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3일차의 결과물 ①: 조치 방법과 작업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첫 결과물은 고장 유형에 이어진 조치 방법과, 조치 방법에 이어진 작업 단계이다.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66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312267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alert-triangle" descr="alert-triangle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3365906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3817620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냉각 성능 상실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9" name="Oval 8"/>
          <p:cNvSpPr/>
          <p:nvPr/>
        </p:nvSpPr>
        <p:spPr>
          <a:xfrm>
            <a:off x="5227167" y="3122676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364" y="3365906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8782" y="3817620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</p:txBody>
      </p:sp>
      <p:sp>
        <p:nvSpPr>
          <p:cNvPr id="12" name="Oval 11"/>
          <p:cNvSpPr/>
          <p:nvPr/>
        </p:nvSpPr>
        <p:spPr>
          <a:xfrm>
            <a:off x="9905695" y="3122676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list-numbers" descr="list-numbers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2" y="3365906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27310" y="3817620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2단계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속도를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100 %로 올린다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3991356"/>
            <a:ext cx="2822295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2973223" y="3625596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3223" y="3625596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10247" y="3991356"/>
            <a:ext cx="28222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7865451" y="3625596"/>
            <a:ext cx="11118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5451" y="3625596"/>
            <a:ext cx="111188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HAS_STEP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3일차의 결과물 ②: 판단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둘째 결과물은 매뉴얼의 조건 문장을 결정표의 한 행으로 옮긴 판단 규칙이다.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91460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91460"/>
            <a:ext cx="1054577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plc_mode != REMOTE_AUTO → 제외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toggle-left" descr="toggle-lef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225239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조건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운전 모드가 원격 자동이 아니다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4071620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ban" descr="ba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225239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운전을 후보에서 뺀다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file-text" descr="file-text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2252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 HM-8.8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3일차의 결과물 ③: 후보를 견주는 성과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셋째 결과물은 규칙을 통과한 후보끼리 어느 쪽이 나은지를 견주는 기준인 성과 지표이다.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9296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hield-check" descr="shield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08325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인터록 여유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유온이 내려가면 늘어난다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2447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2447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설비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9296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bolt" descr="bol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308325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전력 사용량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속도를 올리면 늘어난다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82447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82447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92963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calendar-time" descr="calendar-tim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308325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납기 준수율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펌프 부하를 내리면 낮아진다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82447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82447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고객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3일차의 결과물이 쓰인 자리: 조치의 판단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사건에서 네 후보의 순위를 정해 한 가지를 추천으로 올린 것이 3일차의 규칙과 성과 기준이다.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69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13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13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순위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13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 방법과 조치 후 예측 유온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9613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95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63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1순위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363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 · 49.8 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363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2781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2순위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781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부하 70 %와 야간 핀 세척 · 47.7 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2781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2245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25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3순위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925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운전과 부하 80 % · 44.6 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1925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통과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38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06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4순위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106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세척 · 62.5 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5106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경고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4일차의 입력과 결과물: 매뉴얼 원문에서 출처를 가진 지식으로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4일차는 매뉴얼의 원문을 받아, 검토를 거쳐 문서의 절과 인용이 붙은 지식을 만들었다.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5441" y="3666807"/>
            <a:ext cx="8320811" cy="146304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3203371" y="3557079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38361" y="3209607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추출</a:t>
            </a:r>
          </a:p>
        </p:txBody>
      </p:sp>
      <p:sp>
        <p:nvSpPr>
          <p:cNvPr id="9" name="Oval 8"/>
          <p:cNvSpPr/>
          <p:nvPr/>
        </p:nvSpPr>
        <p:spPr>
          <a:xfrm>
            <a:off x="1341081" y="3145599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374" y="3430892"/>
            <a:ext cx="618134" cy="6181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79" y="4471479"/>
            <a:ext cx="2590723" cy="73139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원문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12" name="Chevron 11"/>
          <p:cNvSpPr/>
          <p:nvPr/>
        </p:nvSpPr>
        <p:spPr>
          <a:xfrm>
            <a:off x="5976975" y="3557079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1965" y="3209607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14" name="Oval 13"/>
          <p:cNvSpPr/>
          <p:nvPr/>
        </p:nvSpPr>
        <p:spPr>
          <a:xfrm>
            <a:off x="4114685" y="3145599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braces" descr="brace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978" y="3430892"/>
            <a:ext cx="618134" cy="6181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413683" y="4471479"/>
            <a:ext cx="2590723" cy="73139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후보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항목마다 인용</a:t>
            </a:r>
          </a:p>
        </p:txBody>
      </p:sp>
      <p:sp>
        <p:nvSpPr>
          <p:cNvPr id="17" name="Chevron 16"/>
          <p:cNvSpPr/>
          <p:nvPr/>
        </p:nvSpPr>
        <p:spPr>
          <a:xfrm>
            <a:off x="8750579" y="3557079"/>
            <a:ext cx="237744" cy="365760"/>
          </a:xfrm>
          <a:prstGeom prst="chevron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5569" y="3209607"/>
            <a:ext cx="1767763" cy="31089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적재</a:t>
            </a:r>
          </a:p>
        </p:txBody>
      </p:sp>
      <p:sp>
        <p:nvSpPr>
          <p:cNvPr id="19" name="Oval 18"/>
          <p:cNvSpPr/>
          <p:nvPr/>
        </p:nvSpPr>
        <p:spPr>
          <a:xfrm>
            <a:off x="6888289" y="3145599"/>
            <a:ext cx="1188720" cy="118872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3582" y="3430892"/>
            <a:ext cx="618134" cy="6181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87287" y="4471479"/>
            <a:ext cx="2590723" cy="73139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검토된 지식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사람의 승인</a:t>
            </a:r>
          </a:p>
        </p:txBody>
      </p:sp>
      <p:sp>
        <p:nvSpPr>
          <p:cNvPr id="22" name="Oval 21"/>
          <p:cNvSpPr/>
          <p:nvPr/>
        </p:nvSpPr>
        <p:spPr>
          <a:xfrm>
            <a:off x="9661893" y="3145599"/>
            <a:ext cx="1188720" cy="1188720"/>
          </a:xfrm>
          <a:prstGeom prst="ellipse">
            <a:avLst/>
          </a:prstGeom>
          <a:solidFill>
            <a:srgbClr val="5CB8F2"/>
          </a:solidFill>
          <a:ln w="28575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topology-star-3" descr="topology-star-3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186" y="3430892"/>
            <a:ext cx="618134" cy="61813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960891" y="4471479"/>
            <a:ext cx="2590723" cy="731393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출처를 가진 지식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결과물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4일차 결과물의 성격: 내용과 함께 들어간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오늘의 결과물에는 지식의 내용과 함께 그것이 어디에서 왔고 누가 확인했는지가 같이 들어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9296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topology-star-3" descr="topology-star-3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083255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내용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원인, 증거, 조치 방법, 규칙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2447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824476"/>
            <a:ext cx="8229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8218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3D9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66818" y="2929636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아이콘:quote" descr="quo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437" y="3083255"/>
            <a:ext cx="424281" cy="42428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02810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 식별자, 판본, 인용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66818" y="4824476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824476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어디에서 왔는가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7796" y="2728468"/>
            <a:ext cx="3515258" cy="252577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56396" y="2929636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아이콘:user-check" descr="user-check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0016" y="3083255"/>
            <a:ext cx="424281" cy="42428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92388" y="3752596"/>
            <a:ext cx="3186074" cy="998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검토자와 검토한 시각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56396" y="4824476"/>
            <a:ext cx="14782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6396" y="4824476"/>
            <a:ext cx="14782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누가 확인했는가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4일차의 결과물이 쓰인 자리 ①: 원인 후보와 증거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원인 후보 셋과 후보마다의 증거 기준은 모두 매뉴얼의 한 절에서 추출해 검토한 지식이다.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72</a:t>
            </a:r>
          </a:p>
        </p:txBody>
      </p:sp>
      <p:pic>
        <p:nvPicPr>
          <p:cNvPr id="6" name="삽화:경로_2.svg" descr="illust_122587641998524461_17917153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13959" y="2549484"/>
            <a:ext cx="130913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고장 유형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7635" y="2053102"/>
            <a:ext cx="1090949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CAUSES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6783" y="5125943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EVIDENCED_BY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7768" y="2081467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냉각 효율 평균 70 % 미만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77768" y="322078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진동 평균 0.9 mm/s 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77768" y="43553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캐비닛 온도 평균 35 ℃ 이상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742" y="4558649"/>
            <a:ext cx="3381943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매뉴얼 HM-8.4에서 온 지식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4일차의 결과물이 쓰인 자리 ②: 지식과 값이 만나는 걸음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증거에 적힌 방법으로 원천의 값을 읽어 기준에 대는 걸음에서 지식과 값이 만나 원인이 정해진다.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73</a:t>
            </a:r>
          </a:p>
        </p:txBody>
      </p:sp>
      <p:pic>
        <p:nvPicPr>
          <p:cNvPr id="6" name="삽화:경로_3.svg" descr="illust_4050081851058703893_17917153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00" y="1627632"/>
            <a:ext cx="10909495" cy="47274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77768" y="2081467"/>
            <a:ext cx="2618278" cy="77876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A6FC4"/>
                </a:solidFill>
                <a:latin typeface="맑은 고딕"/>
                <a:ea typeface="맑은 고딕"/>
                <a:cs typeface="맑은 고딕"/>
              </a:rPr>
              <a:t>쿨러 핀 오염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 46.2 % · 0.575 → 맞음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7768" y="3220781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팬 구동 불량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 0.575 → 아님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7768" y="4355369"/>
            <a:ext cx="2618278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주변 온도 상승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읽은 값 28 ℃ → 아님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2999" y="4416826"/>
            <a:ext cx="1854614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MITIGATED_BY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86730" y="5220492"/>
            <a:ext cx="1527329" cy="5773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 방법</a:t>
            </a:r>
          </a:p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팬 최대 운전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2271" y="5362315"/>
            <a:ext cx="3709228" cy="37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100"/>
              </a:spcAft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기준은 지식, 읽은 값은 원천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4일차의 결과물이 쓰인 자리 ③: 근거의 제시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추천안에는 따라온 길과 후보를 고른 규칙과 매뉴얼의 절이 함께 제시되어 담당자가 근거를 보고 승인한다.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3665"/>
            <a:ext cx="6766560" cy="2675382"/>
          </a:xfrm>
          <a:prstGeom prst="roundRect">
            <a:avLst>
              <a:gd name="adj" fmla="val 3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90825"/>
            <a:ext cx="6400800" cy="240106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#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추천안과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함께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제시된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근거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추천안에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이른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원인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오염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유형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쿨러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팬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운전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고른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규칙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냉각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성능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상실의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후보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(HM-8.5)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 HM-8.5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즉시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완화</a:t>
            </a:r>
            <a:r>
              <a:rPr sz="1300" b="0">
                <a:solidFill>
                  <a:srgbClr val="E8EEF6"/>
                </a:solidFill>
                <a:latin typeface="Consolas"/>
                <a:ea typeface="맑은 고딕"/>
                <a:cs typeface="맑은 고딕"/>
              </a:rPr>
              <a:t> </a:t>
            </a:r>
            <a:r>
              <a:rPr sz="1300" b="0">
                <a:solidFill>
                  <a:srgbClr val="E8EEF6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653665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추천안에 이른 길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스키마의 관계를 따라온 경로이다.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3545459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후보로 고른 규칙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 조치를 후보로 올린 판단 규칙이다.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4437253"/>
            <a:ext cx="4007815" cy="89179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조치 방법의 단계가 가리키는 매뉴얼의 절이다.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사건의 다섯 걸음과 네 일차의 결과물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사건의 판단을 순서대로 놓으면 걸음마다 서로 다른 일차의 결과물이 쓰였고, 그 자리에서 지어낸 것은 없었다.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26423"/>
            <a:ext cx="1911644" cy="272986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8702" y="280930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bell-ringing" descr="bell-ringing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321" y="2962922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613975"/>
            <a:ext cx="1765340" cy="1669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경보와 고장 유형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2일차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스키마가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정한 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24292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4332" y="2626423"/>
            <a:ext cx="1911644" cy="272986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4394" y="280930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topology-star-3" descr="topology-star-3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8014" y="2962922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917484" y="3613975"/>
            <a:ext cx="1765340" cy="1669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원인 후보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4일차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매뉴얼에서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온 지식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998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0025" y="2626423"/>
            <a:ext cx="1911644" cy="272986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30087" y="280930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706" y="2962922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13177" y="3613975"/>
            <a:ext cx="1765340" cy="1669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대조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4일차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원천에서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읽은 값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567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35717" y="2626423"/>
            <a:ext cx="1911644" cy="2729864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25780" y="2809303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9399" y="2962922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508869" y="3613975"/>
            <a:ext cx="1765340" cy="1669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조치의 판단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3일차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 규칙과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성과 기준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11370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31410" y="2626423"/>
            <a:ext cx="1911644" cy="2729864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321472" y="2809303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아이콘:file-certificate" descr="file-certificate_13294B_1.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092" y="2962922"/>
            <a:ext cx="424281" cy="42428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804562" y="3613975"/>
            <a:ext cx="1765340" cy="1669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5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근거의 제시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4일차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절과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구조, 지식, 값의 세 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나흘의 결과물을 층으로 나누면 지식의 구조인 스키마, 지식인 인스턴스 데이터, 실제 데이터인 값의 셋이다.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39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59" y="19339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원인은 고장 유형을 CAUSES로 가리킨다.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964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3055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3055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쿨러 핀 오염이 쿨러 냉각 성능 상실을 일으킨다.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80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47045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771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실제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59" y="46771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경보가 난 순간의 냉각 효율 46.2 %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세 층이 바뀌는 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층은 바뀌는 빠르기가 서로 다르며, 빠르기가 다른 것을 한곳에 섞어 두지 않는 것이 이 구조의 원칙이다.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77</a:t>
            </a:r>
          </a:p>
        </p:txBody>
      </p:sp>
      <p:sp>
        <p:nvSpPr>
          <p:cNvPr id="6" name="Rectangle 5"/>
          <p:cNvSpPr/>
          <p:nvPr/>
        </p:nvSpPr>
        <p:spPr>
          <a:xfrm>
            <a:off x="2397709" y="3251263"/>
            <a:ext cx="7396276" cy="3657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63369" y="2835211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539" y="3052381"/>
            <a:ext cx="434340" cy="43434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557729" y="2789491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7729" y="2789491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886771"/>
            <a:ext cx="3551834" cy="1260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설계를 고칠 때만 바뀐다</a:t>
            </a:r>
          </a:p>
        </p:txBody>
      </p:sp>
      <p:sp>
        <p:nvSpPr>
          <p:cNvPr id="12" name="Oval 11"/>
          <p:cNvSpPr/>
          <p:nvPr/>
        </p:nvSpPr>
        <p:spPr>
          <a:xfrm>
            <a:off x="5661507" y="2835211"/>
            <a:ext cx="868680" cy="8686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book-2" descr="book-2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77" y="3052381"/>
            <a:ext cx="434340" cy="43434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6255867" y="2789491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5867" y="2789491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9930" y="3886771"/>
            <a:ext cx="3551834" cy="1260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인스턴스 데이터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근거 문서가 개정될 때 바뀐다</a:t>
            </a:r>
          </a:p>
        </p:txBody>
      </p:sp>
      <p:sp>
        <p:nvSpPr>
          <p:cNvPr id="17" name="Oval 16"/>
          <p:cNvSpPr/>
          <p:nvPr/>
        </p:nvSpPr>
        <p:spPr>
          <a:xfrm>
            <a:off x="9359646" y="2835211"/>
            <a:ext cx="868680" cy="86868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6816" y="3052381"/>
            <a:ext cx="434340" cy="43434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9954006" y="2789491"/>
            <a:ext cx="347472" cy="347472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4006" y="2789491"/>
            <a:ext cx="347472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8068" y="3886771"/>
            <a:ext cx="3551834" cy="126072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매초, 또는 업무가 일어날 때마다 바뀐다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문제가 생겼을 때 살펴볼 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판단이 이상할 때 드러난 모습에 따라 살펴볼 층이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드러난 모습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살펴볼 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고칠 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관계가 없어 답이 나오지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판정 기준이 매뉴얼과 다르다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인스턴스 데이터와 그 출처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판단에 쓰인 숫자가 실제와 다르다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값과 값의 출처 기록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원천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규칙과 근거 문서: 같은 내용의 두 모습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판단 규칙은 근거 문서의 문장을 컴퓨터가 평가할 수 있게 옮긴 것으로, 둘은 같은 내용을 담고 하는 일이 다르다.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79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811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347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근거 문서의 문장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매뉴얼 HM-8.8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「이미 24시간을 넘겼다면 팬 최대 운전 조치는 20만 원을 감점해서 비교한다.」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45570"/>
            <a:ext cx="152399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45570"/>
            <a:ext cx="15239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왜 그런 기준인가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811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347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조건: fan100_hours &gt; 24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판정: 감점 20만 원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대상: 팬 최대 운전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45570"/>
            <a:ext cx="1981199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45570"/>
            <a:ext cx="198119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지금 어떻게 판정하는가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규칙에서 문서까지 이어진 관계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규칙은 자신이 나온 절을 DERIVED_FROM 관계로 가리키므로, 규칙이 걸리면 근거가 된 문장을 바로 내보일 수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80</a:t>
            </a:r>
          </a:p>
        </p:txBody>
      </p:sp>
      <p:sp>
        <p:nvSpPr>
          <p:cNvPr id="6" name="Oval 5"/>
          <p:cNvSpPr/>
          <p:nvPr/>
        </p:nvSpPr>
        <p:spPr>
          <a:xfrm>
            <a:off x="548639" y="1627632"/>
            <a:ext cx="1737360" cy="1737360"/>
          </a:xfrm>
          <a:prstGeom prst="ellipse">
            <a:avLst/>
          </a:prstGeom>
          <a:solidFill>
            <a:srgbClr val="5CB8F2"/>
          </a:solidFill>
          <a:ln w="254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아이콘:list-check" descr="list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836" y="1870862"/>
            <a:ext cx="416966" cy="4169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0255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감점 규칙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연속 운전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24시간 초과</a:t>
            </a:r>
          </a:p>
        </p:txBody>
      </p:sp>
      <p:sp>
        <p:nvSpPr>
          <p:cNvPr id="9" name="Oval 8"/>
          <p:cNvSpPr/>
          <p:nvPr/>
        </p:nvSpPr>
        <p:spPr>
          <a:xfrm>
            <a:off x="5227167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아이콘:file-description" descr="file-description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364" y="1870862"/>
            <a:ext cx="416966" cy="4169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48782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HM-8.8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 절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금지와 제한</a:t>
            </a:r>
          </a:p>
        </p:txBody>
      </p:sp>
      <p:sp>
        <p:nvSpPr>
          <p:cNvPr id="12" name="Oval 11"/>
          <p:cNvSpPr/>
          <p:nvPr/>
        </p:nvSpPr>
        <p:spPr>
          <a:xfrm>
            <a:off x="9905695" y="1627632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book-2" descr="book-2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5892" y="1870862"/>
            <a:ext cx="416966" cy="416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27310" y="2322576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HM-8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문서</a:t>
            </a:r>
          </a:p>
        </p:txBody>
      </p:sp>
      <p:sp>
        <p:nvSpPr>
          <p:cNvPr id="15" name="Oval 14"/>
          <p:cNvSpPr/>
          <p:nvPr/>
        </p:nvSpPr>
        <p:spPr>
          <a:xfrm>
            <a:off x="548639" y="4617720"/>
            <a:ext cx="1737360" cy="1737360"/>
          </a:xfrm>
          <a:prstGeom prst="ellipse">
            <a:avLst/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아이콘:clock" descr="clo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836" y="4860950"/>
            <a:ext cx="416966" cy="4169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0255" y="5312664"/>
            <a:ext cx="1494129" cy="868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연속 운전 시간</a:t>
            </a:r>
          </a:p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입력 데이터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" y="2496312"/>
            <a:ext cx="2822295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19" name="Rounded Rectangle 18"/>
          <p:cNvSpPr/>
          <p:nvPr/>
        </p:nvSpPr>
        <p:spPr>
          <a:xfrm>
            <a:off x="2973223" y="2130552"/>
            <a:ext cx="153928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3223" y="2130552"/>
            <a:ext cx="153928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DERIVED_FROM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010247" y="2496312"/>
            <a:ext cx="2822296" cy="0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2" name="Rounded Rectangle 21"/>
          <p:cNvSpPr/>
          <p:nvPr/>
        </p:nvSpPr>
        <p:spPr>
          <a:xfrm>
            <a:off x="7918876" y="2130552"/>
            <a:ext cx="100503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18876" y="2130552"/>
            <a:ext cx="100503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PART_OF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417319" y="3410712"/>
            <a:ext cx="0" cy="1133856"/>
          </a:xfrm>
          <a:prstGeom prst="line">
            <a:avLst/>
          </a:prstGeom>
          <a:ln w="28575">
            <a:solidFill>
              <a:srgbClr val="13294B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1508760" y="3831335"/>
            <a:ext cx="8085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329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3831335"/>
            <a:ext cx="80857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TESTS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문서가 개정될 때 규칙을 찾아 고치는 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매뉴얼의 기준이 개정된다면 그 절에서 나온 규칙을 관계로 찾아 새 판본의 검토와 적재로 고친다.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file-text" descr="file-tex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93968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문서의 개정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절의 기준값이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바뀐다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versions" descr="versions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939681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새 판본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같은 문서 식별자로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 판본을 올린다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8606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list-search" descr="list-search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939681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영향받는 규칙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그 절을 가리키는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규칙을 찾는다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list-check" descr="list-check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939681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검토와 적재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고친 내용을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검토해 넣고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기록을 남긴다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그래프가 에이전트에게 주는 것: 따라갈 길과 댈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원인과 조치를 스스로 지어내지 않고 지식 그래프에 등록된 관계와 출처를 조회해 판단에 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47188"/>
            <a:ext cx="11094415" cy="1316736"/>
          </a:xfrm>
          <a:prstGeom prst="roundRect">
            <a:avLst>
              <a:gd name="adj" fmla="val 6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197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따라갈 길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관계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59" y="26197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성능 저하 경보에서 출발하면 등록된 원인 후보 셋에 이른다.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82212"/>
            <a:ext cx="11094415" cy="13716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91356"/>
            <a:ext cx="3291839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댈 근거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출처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59" y="3991356"/>
            <a:ext cx="7528255" cy="13716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운전을 추천하면서 매뉴얼 HM-8.5를 출처로 낸다.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판단 규칙이 에이전트에게 주는 것: 지킬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조건의 해석을 모델에 맡기지 않고 규칙으로 정해 두면 같은 조건에서 언제나 같은 판정이 나온다.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30373"/>
            <a:ext cx="5181447" cy="2521966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931541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essage-chatbot" descr="message-chatbot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3085160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9315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문장을 그때마다 해석한다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81932"/>
            <a:ext cx="4632807" cy="921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읽을 때마다 해석이 달라질 수 있다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왜 그렇게 판정했는지를 따지기 어렵다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795139"/>
            <a:ext cx="1325879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95139"/>
            <a:ext cx="1325879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해석에 맡긴다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730373"/>
            <a:ext cx="5181447" cy="2521966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931541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list-check" descr="list-check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3085160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931541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규칙으로 정해 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781932"/>
            <a:ext cx="4632807" cy="921765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운전 모드의 값을 읽어 조건과 비교한다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걸린 규칙과 근거가 결과에 남는다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795139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795139"/>
            <a:ext cx="1801367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같은 조건, 같은 판정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값의 자리가 에이전트에게 주는 것: 도구로 읽을 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에이전트는 값을 기억하거나 짐작하지 않고, 지식에 적힌 자리를 보고 도구로 원천에서 읽어 온다.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25663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map-pin" descr="map-pin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283" y="2939681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지식에 적힌 자리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어느 원천의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어디에서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읽는가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8215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8255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 w="25400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95279" y="2786062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아이콘:tool" descr="tool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898" y="2939681"/>
            <a:ext cx="424281" cy="42428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91407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도구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지식 그래프,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시계열 DB, 업무 DB를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조회하는 기능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67831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87871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64895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아이콘:database" descr="database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514" y="2939681"/>
            <a:ext cx="424281" cy="42428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361023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원천의 값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예: 냉각 효율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46.2 %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37447" y="3854196"/>
            <a:ext cx="256031" cy="274320"/>
          </a:xfrm>
          <a:prstGeom prst="rightArrow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57487" y="2603182"/>
            <a:ext cx="2485567" cy="2776346"/>
          </a:xfrm>
          <a:prstGeom prst="roundRect">
            <a:avLst>
              <a:gd name="adj" fmla="val 5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34511" y="2786062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아이콘:file-certificate" descr="file-certificate_13294B_1.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8130" y="2939681"/>
            <a:ext cx="424281" cy="4242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230639" y="3590734"/>
            <a:ext cx="2339263" cy="171564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출처 기록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어디서 언제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읽었는지가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남는다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정해 둔 것과 에이전트에게 맡기는 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무엇이 사실이고 무엇이 기준인지는 사람이 검토한 지식에 두고, 에이전트에게는 조회하고 종합하는 일을 맡긴다.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2781109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아이콘:user-check" descr="user-check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579" y="2934728"/>
            <a:ext cx="424281" cy="4242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사람이 검토해 정해 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스키마의 정의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문서에서 온 지식과 규칙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값이 있는 자리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4557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94557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사실과 기준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61607" y="2579941"/>
            <a:ext cx="5181447" cy="2822829"/>
          </a:xfrm>
          <a:prstGeom prst="roundRect">
            <a:avLst>
              <a:gd name="adj" fmla="val 4000"/>
            </a:avLst>
          </a:prstGeom>
          <a:solidFill>
            <a:srgbClr val="E7F3FD"/>
          </a:solidFill>
          <a:ln w="28575">
            <a:solidFill>
              <a:srgbClr val="5CB8F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5927" y="2781109"/>
            <a:ext cx="731520" cy="731520"/>
          </a:xfrm>
          <a:prstGeom prst="ellipse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robot" descr="robot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9546" y="2934728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04607" y="2781109"/>
            <a:ext cx="3855567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에이전트에게 맡기는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5927" y="3631501"/>
            <a:ext cx="4632807" cy="122262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상황에 맞는 지식을 조회한다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값을 읽어 기준에 댄다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5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• 결과를 종합해 추천한다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81647" y="4945570"/>
            <a:ext cx="1173480" cy="292608"/>
          </a:xfrm>
          <a:prstGeom prst="roundRect">
            <a:avLst>
              <a:gd name="adj" fmla="val 50000"/>
            </a:avLst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945570"/>
            <a:ext cx="117348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조회와 종합</a:t>
            </a:r>
          </a:p>
        </p:txBody>
      </p:sp>
      <p:sp>
        <p:nvSpPr>
          <p:cNvPr id="20" name="Oval 19"/>
          <p:cNvSpPr/>
          <p:nvPr/>
        </p:nvSpPr>
        <p:spPr>
          <a:xfrm>
            <a:off x="5821527" y="3717036"/>
            <a:ext cx="548640" cy="54864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1527" y="3717036"/>
            <a:ext cx="54864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정리: 판단의 재료가 놓이는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있는 판단은 구조와 검토된 지식과 원천의 값이 저마다 제자리에 있고 서로 이어져 있을 때 가능하다.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91460"/>
            <a:ext cx="11094415" cy="914400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91460"/>
            <a:ext cx="1054577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길은 스키마에, 내용과 기준은 검토된 지식에, 숫자는 원천에 둔다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아이콘:schema" descr="schema_13294B_1.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225239"/>
            <a:ext cx="424281" cy="42428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스키마가 따라갈 길을 정한다</a:t>
            </a:r>
          </a:p>
        </p:txBody>
      </p:sp>
      <p:sp>
        <p:nvSpPr>
          <p:cNvPr id="11" name="Oval 10"/>
          <p:cNvSpPr/>
          <p:nvPr/>
        </p:nvSpPr>
        <p:spPr>
          <a:xfrm>
            <a:off x="4338218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아이콘:file-certificate" descr="file-certificate_13294B_1.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37" y="4225239"/>
            <a:ext cx="424281" cy="4242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1178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지식과 규칙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사람이 검토한 내용이 출처와 함께 들어간다</a:t>
            </a:r>
          </a:p>
        </p:txBody>
      </p:sp>
      <p:sp>
        <p:nvSpPr>
          <p:cNvPr id="14" name="Oval 13"/>
          <p:cNvSpPr/>
          <p:nvPr/>
        </p:nvSpPr>
        <p:spPr>
          <a:xfrm>
            <a:off x="8127796" y="4071620"/>
            <a:ext cx="731520" cy="731520"/>
          </a:xfrm>
          <a:prstGeom prst="ellipse">
            <a:avLst/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5" name="아이콘:activity" descr="activity_13294B_1.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1416" y="4225239"/>
            <a:ext cx="424281" cy="42428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0756" y="4025900"/>
            <a:ext cx="2692298" cy="13025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7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값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판단하는 순간에 읽고 읽은 출처를 남긴다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오늘 다룬 핵심 개념과 주요 용어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오늘 처음 쓴 용어의 정식 명칭과 인제스천에서 그 용어가 놓이는 자리를 모은다.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27632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627632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정식 명칭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1627632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인제스천에서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61972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29968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인제스천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029968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029968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자료를 지식으로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79845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647841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647841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Large Language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2647841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지식 후보의 추출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97718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5714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구조화 출력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265714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3265714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정해진 형식의 후보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15591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883587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83587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JavaScript Object Notation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8495" y="3883587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구조화 출력의 형식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533464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01460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인용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501460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Citation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8495" y="4501460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근거가 된 원문 구간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51337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119333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119333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Retrieval-Augmented Generation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48495" y="5119333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검색해 참고하는 방식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769210"/>
            <a:ext cx="11094415" cy="553865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737206"/>
            <a:ext cx="251460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737206"/>
            <a:ext cx="6156655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Structured Query Language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8495" y="5737206"/>
            <a:ext cx="2103120" cy="617873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값을 읽는 조회문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8229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5CB8F2"/>
                </a:solidFill>
                <a:latin typeface="맑은 고딕"/>
                <a:ea typeface="맑은 고딕"/>
                <a:cs typeface="맑은 고딕"/>
              </a:rPr>
              <a:t>경남대학교 피지컬AI 사관학교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59536"/>
            <a:ext cx="3606800" cy="41148"/>
          </a:xfrm>
          <a:prstGeom prst="rect">
            <a:avLst/>
          </a:prstGeom>
          <a:solidFill>
            <a:srgbClr val="5CB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911535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Review Quiz: 핵심 흐름 되짚어보기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60520"/>
            <a:ext cx="10911535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배운 내용을 바탕으로 정답을 맞춰보세요.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1. 추출 결과의 검토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추출 결과의 단계에는 팬 속도를 100 %로 올린다는 내용만 있고, 그 인용문에는 24시간 제한이 이어져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89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검토자의 판단으로 가장 적절한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형식에 맞고 인용도 붙어 있으므로 그대로 승인한다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인용문이 단계 문장보다 길므로 인용을 단계 문장에 맞춰 줄인다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연속 운전 제한이 빠졌으므로 원문대로 고친 뒤 승인한다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수치가 들어 있지 않은 단계이므로 대조할 필요가 없다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2. 지식과 값의 구분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쿨러 냉각 성능 상실의 판단에 쓰이는 네 가지를 지식 그래프에 둘 것과 원천에서 읽을 것으로 나누려 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지식 그래프에 등록하지 않고 판단 시점에 원천에서 읽어야 하는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최근 30초 동안의 냉각 효율 평균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냉각 효율 평균이 70 % 미만이면 핀 오염으로 본다는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팬 최대 운전의 수행 단계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쿨러 핀 오염이 쿨러 냉각 성능 상실을 일으킨다는 관계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3. 등록된 대상과 새 후보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새 매뉴얼을 추출하던 중 「오일 쿨러」라는 말이 나왔고, 지식 그래프에는 구성 요소 오일 쿨러가 이미 등록되어 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11094415" cy="704088"/>
          </a:xfrm>
          <a:prstGeom prst="roundRect">
            <a:avLst>
              <a:gd name="adj" fmla="val 5000"/>
            </a:avLst>
          </a:prstGeom>
          <a:solidFill>
            <a:srgbClr val="E7F3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10637215" cy="70408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이 후보를 처리하는 방법으로 바른 것은?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146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문서마다 따로 관리하도록 오일 쿨러 노드를 하나 더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7033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4290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이름이 같으므로 기존 노드를 지우고 새 노드로 바꾼다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91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434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문서의 표기에 맞춰 오일 쿨러라는 새 클래스를 스키마에 더한다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03520"/>
            <a:ext cx="11094415" cy="82296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5532120"/>
            <a:ext cx="365760" cy="365760"/>
          </a:xfrm>
          <a:prstGeom prst="ellipse">
            <a:avLst/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365760" cy="3657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57800"/>
            <a:ext cx="1022573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새로 만들지 않고 등록된 오일 쿨러의 식별자를 가리킨다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9184"/>
            <a:ext cx="11277295" cy="60350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28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정답과 판단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77295" cy="42062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세 문항은 형식과 내용, 지식과 값, 새 후보와 등록된 대상을 구분하는지를 확인한다.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08176"/>
            <a:ext cx="11094415" cy="18288"/>
          </a:xfrm>
          <a:prstGeom prst="rect">
            <a:avLst/>
          </a:prstGeom>
          <a:solidFill>
            <a:srgbClr val="D3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73952"/>
            <a:ext cx="822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lnSpc>
                <a:spcPct val="110000"/>
              </a:lnSpc>
            </a:pPr>
            <a:r>
              <a:rPr sz="1000" b="0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92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18587"/>
            <a:ext cx="11094415" cy="347472"/>
          </a:xfrm>
          <a:prstGeom prst="roundRect">
            <a:avLst>
              <a:gd name="adj" fmla="val 12000"/>
            </a:avLst>
          </a:prstGeom>
          <a:solidFill>
            <a:srgbClr val="132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18587"/>
            <a:ext cx="251460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418587"/>
            <a:ext cx="6248095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495" y="2418587"/>
            <a:ext cx="2194560" cy="34747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529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209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209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형식이 맞아도 내용은 원문과 대조해야 한다. 빠진 조건은 원문대로 고친 뒤에 승인한다.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495" y="28209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3번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353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7353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기준, 절차, 관계는 지식이고 그 순간의 측정값은 값이다. 값은 판단 시점에 원천에서 읽는다.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8495" y="37353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1번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81727"/>
            <a:ext cx="11094415" cy="85039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49723"/>
            <a:ext cx="25146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3294B"/>
                </a:solidFill>
                <a:latin typeface="맑은 고딕"/>
                <a:ea typeface="맑은 고딕"/>
                <a:cs typeface="맑은 고딕"/>
              </a:rPr>
              <a:t>Quiz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649723"/>
            <a:ext cx="6156655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F2A3A"/>
                </a:solidFill>
                <a:latin typeface="맑은 고딕"/>
                <a:ea typeface="맑은 고딕"/>
                <a:cs typeface="맑은 고딕"/>
              </a:rPr>
              <a:t>이미 등록된 대상은 새로 만들지 않는다. 식별자로 가리켜야 새 지식이 기존 그래프에 이어진다.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8495" y="4649723"/>
            <a:ext cx="21031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556175"/>
                </a:solidFill>
                <a:latin typeface="맑은 고딕"/>
                <a:ea typeface="맑은 고딕"/>
                <a:cs typeface="맑은 고딕"/>
              </a:rPr>
              <a:t>4번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