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시간에는 긴급 대응 프로세스 하나를 정의하고 그려서 실행했습니다. 오늘은 그 설계를 정비와 구매 업무에 다시 쓰는 방법을 다루고, 프로세스 영역 전체를 정리합니다.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쿨러 성능 저하 경보를 긴급 대응 프로세스로 끝까지 처리했습니다. 그런데 공장의 업무는 설비 경보만이 아닙니다. HYD-02는 운전시간이 1,950시간에 이르러 정기 점검이 도래했고, HYD-03에 쓰는 펌프 축 씰 키트는 가용 재고가 1개뿐입니다. 이 두 업무에는 아직 프로세스가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업무의 프로세스를 처음부터 따로 그릴 수도 있습니다. 그러면 거절했을 때와 응답이 없을 때를 다루는 방식이 프로세스마다 달라지기 쉽습니다. 운영하는 사람은 처리 건을 읽는 기준을 프로세스마다 새로 익혀야 합니다. 승인 기한 같은 것을 바꿀 때도 그림마다 다른 자리를 찾아 고쳐야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같은 네 가지 물음으로 견주어 보겠습니다. 무엇으로 시작하는가, 어느 에이전트가 판단하는가, 누가 승인하는가, 승인 뒤에 어느 시스템이 실행하는가입니다. 에이전트는 냉각 긴급 대응 에이전트, 정기 정비 계획 에이전트, 예비품 구매 에이전트로 서로 다르고, 읽는 정보와 제안하는 내용도 다릅니다. 그런데 에이전트가 제안하고 사람이 승인하고 시스템이 처리해 보고하는 순서는 세 업무가 같습니다. ERP는 구매와 재고를 관리하는 전사적 자원 관리 시스템입니다.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가운데 시작 조건부터 보겠습니다. 긴급 대응의 시작 조건은 센서 값의 규칙이었습니다. 유온이 55도를 넘고 냉각 효율이 70 % 아래이며 유온이 오르는 중일 때 경보가 났습니다. 정기 점검과 재고 보충은 센서가 아니라 업무 시스템에 쌓인 데이터가 기준에 닿을 때 시작합니다. 운전시간이 점검 주기에 가까워지거나, 가용 재고가 재주문점보다 적어질 때입니다.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 점검의 시작 조건입니다. 정기 점검은 고장이 난 뒤에 고치는 것이 아니라 운전시간을 기준으로 미리 하는 예방 정비, 영어로 Preventive Maintenance입니다. HYD-02의 점검 주기는 2,000시간이고, 준비할 시간을 두려고 50시간 앞인 1,950시간에 도래 경보가 납니다. 경보 패턴 PM_DUE의 PM이 예방 정비의 약어입니다.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재고 보충의 시작 조건입니다. 창고에는 펌프 축 씰 키트가 3개 있지만 2개는 예정된 정비에 쓰기로 예약되어 있어, 새로 쓸 수 있는 가용 재고는 1개입니다. 재주문점은 재고가 이 수량 아래로 내려가면 다시 주문해야 하는 기준이며 여기서는 2개입니다. 가용 재고 1개가 재주문점 2개보다 적으므로 재고 부족 경보가 납니다. 목표 재고 7개까지 채우는 데 필요한 수량은 6개입니다.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사건이 실제로 도착한 경보입니다. 위는 지난 시간의 쿨러 성능 저하 경보이고, 가운데는 정기 점검 도래, 아래는 재고 부족의 경보입니다. 출처는 센서와 CMMS와 ERP로 다르지만 식별자와 패턴을 가진 같은 형식입니다. 그래서 세 프로세스 모두 메시지 시작 이벤트 하나로 시작할 수 있고, pattern의 값이 어느 프로세스를 열지를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시스템을 자세히 보겠습니다. 긴급 대응에서는 승인된 냉각 조치를 SCADA가 PLC 명령으로 보내고 CMMS가 작업지시를 등록했습니다. 정기 점검에서는 승인된 정비 계획대로 CMMS가 정비 오더를 등록하고 생산팀에 공지 메일이 나갑니다. 재고 보충에서는 승인된 발주안대로 ERP가 발주하고 공급사에 통지한 뒤 입고를 확인합니다. 오른쪽은 실행의 결과로 업무 시스템에 남는 기록입니다.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달라지는 네 가지를 보았으니 이제 같은 것을 보겠습니다. 위에서부터 긴급 대응, 정기 점검, 재고 보충의 뼈대입니다. 세 줄 모두 경보로 시작해 에이전트가 제안하고, 사람이 승인하거나 거절하고, 시스템이 처리한 뒤 결과를 보고합니다. 하늘색 띠 안의 승인 작업과 갈림은 세 줄이 같은 자리, 같은 모양입니다. 달라지는 것은 띠의 오른쪽에 이어지는 시스템 작업의 수와 내용입니다.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여러 곳에서 되풀이되는 구조를 패턴이라고 합니다. 한 번 풀어서 검증해 둔 구조를 다음에도 다시 쓰는 것입니다. 세 프로세스에 똑같이 들어 있는 승인의 자리, 곧 승인 작업과 갈림과 지연 타이머와 거절의 결과 보고를 묶어 이 수업에서는 승인 블록이라고 부르겠습니다. 패턴을 다시 쓰면 긴급 대응에서 이미 확인한 거절과 무응답의 경로가 새 프로세스에도 그대로 들어갑니다.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읽은 승인을 받는 자리의 그림입니다. 하늘색으로 칠한 일곱 요소, 곧 승인 작업, 승인 지연 타이머, 승인 지연 알림, 승인? 게이트웨이, 결과 보고: 거절, 그리고 끝 이벤트 둘은 세 프로세스에서 식별자까지 같습니다. 기한 10분과 승인의 조건도 같습니다. 파란 점선으로 표시한 두 자리만 바뀝니다. 하나는 승인 역할이고, 다른 하나는 승인 뒤에 이어지는 첫 작업입니다.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 블록을 다시 써서 그린 정기 점검 프로세스입니다. 하늘색 요소는 긴급 대응 프로세스의 승인 블록과 같고, 승인 역할만 설비보전팀장으로 바뀌었습니다. 새로 그린 것은 흰 요소 넷입니다. 정기 점검 요청이라는 시작 이벤트, 에이전트의 정비 계획 제안, 그리고 승인 뒤의 정비 오더 등록 · 공지 메일과 결과 보고입니다. 작업은 여섯, 게이트웨이는 하나, 끝 이벤트는 셋입니다.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재고 보충 프로세스도 같은 방법으로 그립니다. 하늘색 승인 블록은 그대로이고 승인 역할이 구매 담당입니다. 승인 뒤에는 ERP 발주 · 공급사 메일, 입고 · 재고 반영, 결과 보고의 세 작업이 이어집니다. 정기 점검보다 시스템 작업이 하나 많아 작업은 일곱입니다. 두 그림을 견주면 승인 블록의 오른쪽에 무엇을 잇느냐만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그림에서 얻는 설계 원리를 정리합니다. 변하지 않는 것, 곧 작업의 순서와 승인 블록과 예외 경로는 그림의 구조로 남깁니다. 업무마다 변하는 것은 그림을 실행할 수 있게 연결할 때 값으로 넣습니다. 어떤 경보 패턴이 여는지, 어느 에이전트에게 무슨 지시문으로 맡기는지, 승인 역할이 무엇인지, 승인 뒤에 어느 시스템을 부르는지가 그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예외 경로를 설계할 때 생각할 것을 보겠습니다. 거절하면 처리 건은 거절 종결에 닿아 닫힙니다. 하지만 업무의 원인까지 사라진 것은 아닙니다. 설비보전팀장이 정비 계획을 거절해도 정기 점검은 여전히 도래해 있고, 구매 담당이 발주안을 거절해도 재고는 여전히 부족합니다. 그래서 거절 경로의 결과 보고에는 무엇을 하지 않았는지를 적어, 남은 일이 있다는 것을 읽는 사람이 알 수 있게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승인자가 응답하지 않는 경우도 설계의 결정입니다. 타이머를 중단형으로 그리면 기한이 지났을 때 승인 작업이 끊기고 타이머의 가지가 뒤를 정합니다. 사람이 결정하지 않았는데 흐름이 넘어가는 것입니다. 비중단형으로 그리면 알림만 나가고 승인 작업은 계속 기다립니다. 설비를 세우거나 돈을 쓰는 결정은 사람에게 남겨 두어야 하므로 세 프로세스는 기한이 10분인 비중단형을 썼습니다.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작업을 누구에게 맡길지도 같은 원리를 따릅니다. 여러 정보를 읽고 저울질해야 하는 일은 에이전트에게 맡깁니다. 결과에 책임이 따르는 결정은 그 책임을 질 역할의 사람에게 맡깁니다. 한번 정해지면 그대로 수행하면 되는 등록과 통지와 보고는 시스템에 맡깁니다. 그리고 정비 오더나 발주처럼 실제로 효과를 내는 작업은 승인의 갈림 뒤에 놓습니다.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프로세스가 셋이 되면 정의와 인스턴스와 배포가 어떻게 되는지 보겠습니다. 프로세스 정의가 셋이고, 셋 다 배포되어 있습니다. 경보가 도착하면 그 패턴을 시작 조건으로 가진 정의에서 인스턴스가 열립니다. PM_DUE 경보는 정기 점검 프로세스의 처리 건을, SPARE_BELOW_MIN 경보는 재고 보충 프로세스의 처리 건을 엽니다. 처리 건의 식별자 앞부분이 그 처리 건이 나온 정의입니다.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구조가 같으면 읽는 법도 같아집니다. 어느 프로세스에서든 승인을 기다리는 처리 건은 RUNNING이고 승인 작업이 열려 있습니다. 승인 지연 알림이 나간 뒤에도 마찬가지입니다. 거절하면 COMPLETED이면서 끝 이벤트가 E_rejected이고 결과 보고의 결과가 반려입니다. 승인되어 끝나면 E_end에 닿고, 결과 보고의 결과는 긴급 대응과 정기 점검에서는 정상, 재고 보충에서는 입고 완료입니다.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프로세스를 실행하면 기록이 쌓입니다. 승인된 긴급 대응 처리 건의 단계별 시각입니다. 에이전트의 단계는 15시 22분 46초에 시작해 24분 8초에 끝났고, 곧바로 운전원 승인 단계가 열렸습니다. 이런 기록으로 업무가 어디까지 진행되었고 어디서 기다리고 있는지를 지켜보는 일을 모니터링이라고 합니다. 끝 시각에서 시작 시각을 빼면 그 단계에 걸린 시간이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단계별 시각을 막대로 그리면 어디서 시간이 걸렸는지가 보입니다. 승인된 세 처리 건의 실제 기록입니다. 흐름 전체를 늦추는 단계를 병목, Bottleneck이라고 합니다. 긴급 대응 146초 가운데 에이전트의 판단이 82.3초, 유온의 회복을 기다리는 재관측이 60.2초였고, 정기 점검과 재고 보충에서도 에이전트의 단계가 가장 길었습니다. 세 건에서는 승인이 곧바로 이루어져 승인 단계가 짧았지만, 승인자의 응답이 늦어지면 이 단계가 병목이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 한 건의 기록은 그 건의 사정을 말해 줄 뿐입니다. 프로세스를 고칠지 판단하려면 여러 건을 모아 수로 요약해야 하고, 그 수가 지표입니다. 사이클 타임은 시작에서 끝까지 걸린 시간이고, 대기 시간은 작업이 열린 채로 기다린 시간입니다. 처리 건수는 정해진 기간에 끝난 건의 수이며, 반려율은 그 가운데 거절로 닫힌 비율입니다. 지난 시간에 본 BPM의 모니터링과 개선 단계가 이 지표를 씁니다.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단원을 정리합니다. 세 프로세스는 제안에서 결과 보고까지의 순서와 승인 블록이 같았습니다. 달랐던 것은 시작 조건, 에이전트, 승인자, 실행 시스템의 네 가지 값입니다. 구조가 같았기 때문에 승인 대기와 종결을 읽는 법도, 단계의 시각에서 병목과 지표를 얻는 법도 세 업무에 똑같이 쓸 수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정기 점검 프로세스를 직접 그립니다. 정기 점검 도래로 시작해 정비 계획 에이전트의 제안으로 잇습니다. 승인을 받는 자리는 지난 시간에 그린 것과 같은 모양으로 놓고 승인 역할만 설비보전팀장으로 합니다. 승인 뒤에는 정비 오더와 생산팀 공지와 결과 보고를 놓습니다. 끝나면 이 프로세스의 BPMN 파일이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그린 프로세스를 실제 업무로 실행합니다. 정기 점검 도래의 경보 패턴, 정비 계획 에이전트, 설비보전팀장 역할, CMMS와 공지 작업을 연결하고, 사전 검사를 거쳐 등록하고 배포합니다. 정기 점검이 도래하면 처리 건이 열리고 에이전트의 제안이 승인을 기다립니다. 승인한 뒤 정비 오더와 생산팀 공지와 종료 기록이 남았는지를 처리 건에서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재고 보충 프로세스를 그립니다. 재고 부족으로 시작해 구매 에이전트가 수량과 공급사를 제안하고, 구매 담당이 승인하거나 거절합니다. 승인 뒤에는 ERP 발주와 공급사 통지, 입고와 재고 반영, 결과 보고가 이어집니다. 끝나면 작업 일곱을 갖춘 BPMN 파일이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실습에서는 재고 보충 프로세스를 실행합니다. 재고 부족의 경보 패턴과 구매 에이전트, 구매 담당 역할, ERP와 통지와 입고 반영 작업을 연결해 검사하고 등록하고 배포합니다. 재고가 부족하면 처리 건이 열리고 발주안이 승인을 기다립니다. 승인한 뒤 발주와 공급사 통지와 입고가 처리되어 가용 재고가 7개가 되었는지, 그리고 종료 기록이 남았는지를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 영역에서 다룬 것을 한 표로 모았습니다. 먼저 추천이 끝난 업무가 되려면 정해 두어야 하는 것을 비즈니스 프로세스로 정의했습니다. 그 정의를 BPMN으로 그렸고, 프로세스 엔진이 그림대로 실행해 처리 건과 기록을 남기는 것을 보았습니다. 오늘은 그 설계를 정기 점검과 재고 보충에 다시 썼습니다. 이 단원에서는 세 업무의 처리 건을 처음부터 끝까지 되짚습니다.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프로세스의 그림에 쓰인 기호는 일곱 가지입니다. 경보가 도착하면 여는 메시지 시작 이벤트, 에이전트에게 맡기는 작업, 사람이 수행하는 사용자 작업, 시스템이 수행하는 서비스 작업이 있습니다. 승인과 거절을 가르는 배타 게이트웨이, 승인 지연을 알리는 비중단형 경계 타이머, 갈래를 닫는 끝 이벤트가 나머지입니다. 세 그림은 작업과 게이트웨이의 수만 다르고 시작 이벤트 하나, 경계 타이머 하나, 끝 이벤트 셋은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되짚는 데 쓸 틀입니다. 처리 건 한 건은 다섯 자리를 지납니다. 사건이 경보로 도착하는 시작 이벤트, 에이전트의 판단, 사람의 승인 또는 거절, 시스템의 처리, 그리고 종료 기록입니다. 사람이 거절하면 아래의 점선처럼 시스템의 처리를 지나지 않고 종료 기록으로 갑니다. 세 업무의 처리 건을 이 다섯 자리로 되짚습니다.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자리 사이에 무엇이 건너가는지를 보겠습니다. 시작 이벤트는 경보의 내용, 곧 설비와 경보 패턴을 에이전트에게 넘깁니다. 에이전트는 추천과 대안을 제안으로 내고, 사람은 그 가운데 승인한 내용을 냅니다. 시스템은 승인된 내용만 받아 실행하고 그 결과를 결과 보고에 넘깁니다. 앞 자리가 낸 것이 없으면 다음 자리는 일할 수 없고, 이렇게 건너가는 값이 지난 시간에 본 프로세스 변수입니다.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대응의 처리 건입니다. 쿨러 성능 저하 경보가 처리 건을 열었고, 에이전트가 원인을 쿨러 핀 오염으로 가려 팬 최대 운전을 추천했습니다. 운전원이 추천안을 승인하자 팬 속도 100 % 명령이 나갔고, 유온이 51.3도로 내려간 것을 확인한 뒤 작업지시가 등록되었습니다. 처리 건은 끝 이벤트 E_end에 닿았고 결과 보고의 결과는 정상입니다.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 점검의 처리 건입니다. HYD-02의 운전시간이 1,950시간에 이르러 도래 경보가 처리 건을 열었습니다. 정기 정비 계획 에이전트는 야간 정비 시간에 정비하자고 제안했고, 설비보전팀장이 승인했습니다. 승인 뒤 CMMS에 정비 오더가 등록되고 생산팀에 공지 메일이 나갔습니다. 설비 명령은 없지만 다섯 자리는 긴급 대응과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재고 보충의 처리 건입니다. 씰 키트의 가용 재고가 1개로 재주문점보다 적어 경보가 처리 건을 열었습니다. 예비품 구매 에이전트는 6개를 공급사 sup:b에 330만원으로 발주하자고 제안했고, 구매 담당이 승인했습니다. ERP에 발주가 등록되고 공급사에 통지된 뒤 입고가 확인되어 가용 재고가 7개가 되었습니다. 결과 보고의 결과는 입고 완료입니다.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단원을 열 때 본 세 사건이 끝난 모습입니다. 긴급 대응은 유온이 51.3도로 내려가 기준 55도 아래가 되었고 작업지시가 남았습니다. 정기 점검은 정비 오더가 등록되고 생산팀에 공지가 나갔습니다. 재고 보충은 씰 키트 6개가 입고되어 검수에 합격했고 가용 재고가 7개가 되었습니다. 세 건 모두 끝 이벤트 E_end에 닿았으며, 결과 보고의 결과는 정상과 입고 완료입니다.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자리 가운데 사람의 자리를 다시 보겠습니다. 에이전트의 제안이 같아도 사람의 결정에 따라 결말이 갈립니다. 승인하면 게이트웨이가 승인의 갈래를 열어 시스템의 처리가 이어집니다. 거절하면 설비 명령도 정비 오더도 발주도 만들어지지 않고, 결과 보고가 거절의 사유와 하지 않은 일을 적은 뒤 닫힙니다. 세 업무 모두에서 그랬습니다.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처리 건에 남은 식별자를 순서대로 놓았습니다. 작업지시 WO-1010-1198에서 거슬러 올라가면, 그것이 어느 설비 명령 뒤에 등록되었고, 그 명령을 누가 승인했으며, 승인된 제안이 어느 판단이었는지, 그 판단이 어느 경보에서 시작되었는지를 차례로 찾을 수 있습니다. 끝난 업무의 종료 기록이 뜻하는 것은 이렇게 제안과 결정과 실행이 한 줄로 이어져 남는다는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과정의 세 영역이 어떻게 이어지는지를 다시 봅니다. 1일차부터 4일차까지 만든 온톨로지는 원인과 증거와 조치와 규칙이라는 지식을 정하고, 현재 값이 어디에 있는지를 알려 줍니다. 5일차부터 8일차까지 다룬 에이전트는 그 지식과 값을 읽어 추천과 대안을 제안합니다. 지난 시간과 오늘 다룬 프로세스는 그 제안을 순서와 책임과 승인과 실행과 기록으로 완결합니다.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에이전트에 연결된 도구 서버의 목록입니다. 세 에이전트 모두 지식 그래프와 판단 규칙을 읽습니다. 앞 영역에서 만든 온톨로지가 긴급 대응뿐 아니라 정비와 구매의 판단에도 재료가 된다는 뜻입니다. 다른 것은 업무 데이터로, 정기 정비 계획 에이전트는 정비 쪽을, 예비품 구매 에이전트는 구매 쪽을 읽습니다. 프로세스에서 승인 블록을 다시 쓴 것처럼 지식도 여러 업무가 함께 씁니다.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연결을 값 하나로 따라가 보겠습니다. 3일차에 조치 방법으로 적어 둔 SOP-COOL-11 팬 최대 운전이 출발점입니다. 에이전트가 이 조치를 지식 그래프에서 읽어 추천했고, 운전원이 승인했습니다. 프로세스가 승인된 조치를 팬 속도 100 % 명령으로 실행했고, 재관측에서 유온 51.3도를 확인했습니다. 지식에 적힌 한 줄이 세 영역을 지나 설비의 상태를 바꾸었습니다.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셋이 저마다 필요한 이유는 하나씩 빼 보면 분명해집니다. 지식이 없으면 에이전트가 읽을 곳이 없어 제안의 근거를 되짚을 수 없습니다. 에이전트가 없으면 경보가 올 때마다 사람이 지식과 값을 찾아 직접 견주어야 합니다. 프로세스가 없으면 추천이 나와도 누가 승인하고 누가 실행할지가 정해져 있지 않고, 진행과 결과가 한곳에 남지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AI와 사람이 함께 일한다는 말의 뜻을 세 업무에서 확인합니다. AI 에이전트는 지식과 데이터를 읽고 후보를 견주어 제안하는 데까지 맡았습니다. 설비 명령이나 발주 같은 처리는 하지 않았습니다. 사람의 일은 세 가지였습니다. 순서와 승인 역할과 예외 경로를 프로세스로 정하는 일, 제안을 승인하거나 거절하는 일, 그리고 기록과 지표를 읽어 프로세스를 고치는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프로세스는 한 번 설계하고 끝나는 것이 아닙니다. 실행하면 기록이 남고, 기록을 모으면 지표가 됩니다. 지표에서 승인 대기가 길거나 반려가 많은 자리가 보이면 정의를 고칩니다. 고친 정의는 새 판본으로 배포해 다음 경보부터 적용합니다. 지난 시간에 본 BPM의 분석, 설계, 실행, 모니터링, 개선이 이렇게 한 바퀴를 돕니다.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 영역의 용어를 한 그림으로 잇습니다. 경보가 도착하면 배포된 프로세스 정의에서 처리 건, 곧 프로세스 인스턴스가 만들어집니다. 처리 건은 정의의 순서대로 단계를 차례로 엽니다. 단계는 출력을 프로세스 변수로 남기고, 마지막에는 결과 보고가 결말을 적습니다. 오늘 본 세 업무는 이 그림의 아래 왼쪽, 프로세스 정의만 서로 달랐습니다.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되짚으며 쓴 다섯 자리는 새 업무를 설계할 때의 물음이 됩니다. 어떤 사건으로 시작하는가, 에이전트가 무엇을 읽어 무엇을 제안하는가, 어느 역할이 결정하는가, 어느 시스템이 실행하는가, 무엇이 남으면 끝났다고 보는가입니다. 지식이 판단의 재료가 되고, 에이전트가 제안하고, 사람이 결정하고, 프로세스가 그 결정을 실행과 기록으로 잇는 구조는 어느 업무에서나 같습니다. 다음 시간에는 여러분 각자의 주제를 놓고 이 물음에 답해 봅니다.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새로 나온 약어와 용어의 정식 명칭을 한곳에 모았습니다. 이 여덟과 함께 승인 블록, 가용 재고, 대기 시간이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건의 기록으로 업무의 상황을 읽는 문항입니다. 처리 건이 닫혔다는 것과 그 업무의 원인이 해결되었다는 것이 같은지를 생각해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어떤 기록이 무엇의 근거가 되는지를 구분하는 문항입니다. 처리 건의 상태와 끝 이벤트가 알려 주는 것과, 단계의 시각이 알려 주는 것을 나누어 생각해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무엇을 맡는지, 책임의 경계를 묻는 문항입니다. 에이전트가 맡은 일과 사람이 맡은 일이 무엇이었는지, 그리고 효과를 내는 작업을 어디에 두었는지를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1번은 처리 건의 종결과 업무 원인의 해결을 혼동한 것입니다. 둘째 문항의 1번과 2번은 결말을 알려 주는 기록을 시간의 근거로 삼은 것입니다. 셋째 문항의 4번은 사람이 결정하지 않은 채 효과가 나가게 하는 설계입니다.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8.png"/><Relationship Id="rId4" Type="http://schemas.openxmlformats.org/officeDocument/2006/relationships/image" Target="../media/image6.png"/><Relationship Id="rId5" Type="http://schemas.openxmlformats.org/officeDocument/2006/relationships/image" Target="../media/image25.png"/><Relationship Id="rId6"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1.png"/><Relationship Id="rId4" Type="http://schemas.openxmlformats.org/officeDocument/2006/relationships/image" Target="../media/image30.png"/><Relationship Id="rId5" Type="http://schemas.openxmlformats.org/officeDocument/2006/relationships/image" Target="../media/image28.png"/><Relationship Id="rId6"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8.png"/><Relationship Id="rId4" Type="http://schemas.openxmlformats.org/officeDocument/2006/relationships/image" Target="../media/image6.png"/><Relationship Id="rId5" Type="http://schemas.openxmlformats.org/officeDocument/2006/relationships/image" Target="../media/image25.png"/><Relationship Id="rId6"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30.png"/><Relationship Id="rId5" Type="http://schemas.openxmlformats.org/officeDocument/2006/relationships/image" Target="../media/image28.png"/><Relationship Id="rId6" Type="http://schemas.openxmlformats.org/officeDocument/2006/relationships/image" Target="../media/image31.png"/><Relationship Id="rId7"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3.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1.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6.png"/><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38.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39.png"/><Relationship Id="rId7" Type="http://schemas.openxmlformats.org/officeDocument/2006/relationships/image" Target="../media/image4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38.png"/><Relationship Id="rId4" Type="http://schemas.openxmlformats.org/officeDocument/2006/relationships/image" Target="../media/image23.png"/><Relationship Id="rId5" Type="http://schemas.openxmlformats.org/officeDocument/2006/relationships/image" Target="../media/image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23.png"/><Relationship Id="rId4" Type="http://schemas.openxmlformats.org/officeDocument/2006/relationships/image" Target="../media/image2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28.png"/><Relationship Id="rId4" Type="http://schemas.openxmlformats.org/officeDocument/2006/relationships/image" Target="../media/image41.png"/><Relationship Id="rId5" Type="http://schemas.openxmlformats.org/officeDocument/2006/relationships/image" Target="../media/image7.png"/><Relationship Id="rId6" Type="http://schemas.openxmlformats.org/officeDocument/2006/relationships/image" Target="../media/image4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10일차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설비 대응에서 정비와 구매까지</a:t>
            </a:r>
          </a:p>
          <a:p>
            <a:pPr algn="l">
              <a:lnSpc>
                <a:spcPct val="110000"/>
              </a:lnSpc>
            </a:pPr>
            <a:r>
              <a:rPr sz="4000" b="1">
                <a:solidFill>
                  <a:srgbClr val="FFFFFF"/>
                </a:solidFill>
                <a:latin typeface="맑은 고딕"/>
                <a:ea typeface="맑은 고딕"/>
                <a:cs typeface="맑은 고딕"/>
              </a:rPr>
              <a:t>프로세스 설계의 재사용</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승인 패턴의 재사용과 세 업무의 전체 흐름 정리</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epeat" descr="repea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ool" descr="tool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package" descr="package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프로세스의 설계를 정기 점검과 재고 보충에 다시 쓰고, 세 업무의 전체 흐름을 기록으로 설명한다.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arrows-split-2" descr="arrows-split-2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세 업무의 비교</a:t>
            </a:r>
          </a:p>
          <a:p>
            <a:pPr algn="l">
              <a:lnSpc>
                <a:spcPct val="110000"/>
              </a:lnSpc>
              <a:spcAft>
                <a:spcPts val="400"/>
              </a:spcAft>
            </a:pPr>
            <a:r>
              <a:rPr sz="1350" b="0">
                <a:solidFill>
                  <a:srgbClr val="1F2A3A"/>
                </a:solidFill>
                <a:latin typeface="맑은 고딕"/>
                <a:ea typeface="맑은 고딕"/>
                <a:cs typeface="맑은 고딕"/>
              </a:rPr>
              <a:t>설비 경보, 정기 점검 도래, 재고 부족의 시작 조건과 에이전트, 승인자, 실행 시스템을 견준다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비교</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패턴의 재사용</a:t>
            </a:r>
          </a:p>
          <a:p>
            <a:pPr algn="l">
              <a:lnSpc>
                <a:spcPct val="110000"/>
              </a:lnSpc>
              <a:spcAft>
                <a:spcPts val="400"/>
              </a:spcAft>
            </a:pPr>
            <a:r>
              <a:rPr sz="1350" b="0">
                <a:solidFill>
                  <a:srgbClr val="1F2A3A"/>
                </a:solidFill>
                <a:latin typeface="맑은 고딕"/>
                <a:ea typeface="맑은 고딕"/>
                <a:cs typeface="맑은 고딕"/>
              </a:rPr>
              <a:t>승인 블록은 그대로 두고 업무마다 달라지는 자리만 정해 새 프로세스를 설계한다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chart-bar" descr="chart-bar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 기록 읽기</a:t>
            </a:r>
          </a:p>
          <a:p>
            <a:pPr algn="l">
              <a:lnSpc>
                <a:spcPct val="110000"/>
              </a:lnSpc>
              <a:spcAft>
                <a:spcPts val="400"/>
              </a:spcAft>
            </a:pPr>
            <a:r>
              <a:rPr sz="1350" b="0">
                <a:solidFill>
                  <a:srgbClr val="1F2A3A"/>
                </a:solidFill>
                <a:latin typeface="맑은 고딕"/>
                <a:ea typeface="맑은 고딕"/>
                <a:cs typeface="맑은 고딕"/>
              </a:rPr>
              <a:t>단계마다 남은 시각에서 병목을 찾고 지표로 요약한다</a:t>
            </a:r>
          </a:p>
        </p:txBody>
      </p:sp>
      <p:sp>
        <p:nvSpPr>
          <p:cNvPr id="22" name="Rounded Rectangle 21"/>
          <p:cNvSpPr/>
          <p:nvPr/>
        </p:nvSpPr>
        <p:spPr>
          <a:xfrm>
            <a:off x="6461607" y="5134356"/>
            <a:ext cx="9753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모니터링</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전체 흐름의 정리</a:t>
            </a:r>
          </a:p>
          <a:p>
            <a:pPr algn="l">
              <a:lnSpc>
                <a:spcPct val="110000"/>
              </a:lnSpc>
              <a:spcAft>
                <a:spcPts val="400"/>
              </a:spcAft>
            </a:pPr>
            <a:r>
              <a:rPr sz="1350" b="0">
                <a:solidFill>
                  <a:srgbClr val="1F2A3A"/>
                </a:solidFill>
                <a:latin typeface="맑은 고딕"/>
                <a:ea typeface="맑은 고딕"/>
                <a:cs typeface="맑은 고딕"/>
              </a:rPr>
              <a:t>온톨로지, 에이전트, 프로세스가 처리 건 한 건에서 이어지는 과정을 설명한다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306323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306323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프로세스 설계의 재사용: 세 가지 업무와 하나의 패턴</a:t>
            </a:r>
          </a:p>
        </p:txBody>
      </p:sp>
      <p:sp>
        <p:nvSpPr>
          <p:cNvPr id="6" name="Rounded Rectangle 5"/>
          <p:cNvSpPr/>
          <p:nvPr/>
        </p:nvSpPr>
        <p:spPr>
          <a:xfrm>
            <a:off x="10088575" y="328269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328269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8" name="Rectangle 7"/>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79475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79475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AI와 사람이 함께 수행하는 업무 흐름의 정리</a:t>
            </a:r>
          </a:p>
        </p:txBody>
      </p:sp>
      <p:sp>
        <p:nvSpPr>
          <p:cNvPr id="11" name="Rounded Rectangle 10"/>
          <p:cNvSpPr/>
          <p:nvPr/>
        </p:nvSpPr>
        <p:spPr>
          <a:xfrm>
            <a:off x="10088575" y="401421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40142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3" name="TextBox 12"/>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프로세스 설계의 재사용:</a:t>
            </a:r>
          </a:p>
          <a:p>
            <a:pPr algn="l">
              <a:lnSpc>
                <a:spcPct val="110000"/>
              </a:lnSpc>
            </a:pPr>
            <a:r>
              <a:rPr sz="3400" b="1">
                <a:solidFill>
                  <a:srgbClr val="13294B"/>
                </a:solidFill>
                <a:latin typeface="맑은 고딕"/>
                <a:ea typeface="맑은 고딕"/>
                <a:cs typeface="맑은 고딕"/>
              </a:rPr>
              <a:t>세 가지 업무와 하나의 패턴</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달라지는 것은 값으로 정하고 같은 것은 구조로 다시 쓰는 설계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긴급 대응 뒤에 기다리는 두 가지 업무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경보를 처리한 뒤에도 HYD-02에는 정기 점검이 도래해 있고 HYD-03의 예비품 재고는 기준 아래로 내려가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세시작.svg" descr="illust_3679437654598954725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35656" y="488957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경보</a:t>
            </a:r>
          </a:p>
          <a:p>
            <a:pPr algn="ctr">
              <a:lnSpc>
                <a:spcPct val="110000"/>
              </a:lnSpc>
              <a:spcAft>
                <a:spcPts val="100"/>
              </a:spcAft>
            </a:pPr>
            <a:r>
              <a:rPr sz="1300" b="0">
                <a:solidFill>
                  <a:srgbClr val="556175"/>
                </a:solidFill>
                <a:latin typeface="맑은 고딕"/>
                <a:ea typeface="맑은 고딕"/>
                <a:cs typeface="맑은 고딕"/>
              </a:rPr>
              <a:t>HYD-01 · 유온이 오르고 냉각 효율이 떨어졌다</a:t>
            </a:r>
          </a:p>
        </p:txBody>
      </p:sp>
      <p:sp>
        <p:nvSpPr>
          <p:cNvPr id="8" name="TextBox 7"/>
          <p:cNvSpPr txBox="1"/>
          <p:nvPr/>
        </p:nvSpPr>
        <p:spPr>
          <a:xfrm>
            <a:off x="4513970" y="488957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정기 점검 도래</a:t>
            </a:r>
          </a:p>
          <a:p>
            <a:pPr algn="ctr">
              <a:lnSpc>
                <a:spcPct val="110000"/>
              </a:lnSpc>
              <a:spcAft>
                <a:spcPts val="100"/>
              </a:spcAft>
            </a:pPr>
            <a:r>
              <a:rPr sz="1300" b="0">
                <a:solidFill>
                  <a:srgbClr val="556175"/>
                </a:solidFill>
                <a:latin typeface="맑은 고딕"/>
                <a:ea typeface="맑은 고딕"/>
                <a:cs typeface="맑은 고딕"/>
              </a:rPr>
              <a:t>HYD-02 · 운전시간 1,950 h, 점검 주기 2,000 h</a:t>
            </a:r>
          </a:p>
        </p:txBody>
      </p:sp>
      <p:sp>
        <p:nvSpPr>
          <p:cNvPr id="9" name="TextBox 8"/>
          <p:cNvSpPr txBox="1"/>
          <p:nvPr/>
        </p:nvSpPr>
        <p:spPr>
          <a:xfrm>
            <a:off x="8092285" y="488957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재고 부족</a:t>
            </a:r>
          </a:p>
          <a:p>
            <a:pPr algn="ctr">
              <a:lnSpc>
                <a:spcPct val="110000"/>
              </a:lnSpc>
              <a:spcAft>
                <a:spcPts val="100"/>
              </a:spcAft>
            </a:pPr>
            <a:r>
              <a:rPr sz="1300" b="0">
                <a:solidFill>
                  <a:srgbClr val="556175"/>
                </a:solidFill>
                <a:latin typeface="맑은 고딕"/>
                <a:ea typeface="맑은 고딕"/>
                <a:cs typeface="맑은 고딕"/>
              </a:rPr>
              <a:t>HYD-03 · 펌프 축 씰 키트의 가용 재고 1개</a:t>
            </a:r>
          </a:p>
        </p:txBody>
      </p:sp>
      <p:sp>
        <p:nvSpPr>
          <p:cNvPr id="10" name="TextBox 9"/>
          <p:cNvSpPr txBox="1"/>
          <p:nvPr/>
        </p:nvSpPr>
        <p:spPr>
          <a:xfrm>
            <a:off x="935656" y="5882335"/>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긴급 대응 프로세스가 있다</a:t>
            </a:r>
          </a:p>
        </p:txBody>
      </p:sp>
      <p:sp>
        <p:nvSpPr>
          <p:cNvPr id="11" name="TextBox 10"/>
          <p:cNvSpPr txBox="1"/>
          <p:nvPr/>
        </p:nvSpPr>
        <p:spPr>
          <a:xfrm>
            <a:off x="4513970" y="5882335"/>
            <a:ext cx="305465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프로세스가 아직 없다</a:t>
            </a:r>
          </a:p>
        </p:txBody>
      </p:sp>
      <p:sp>
        <p:nvSpPr>
          <p:cNvPr id="12" name="TextBox 11"/>
          <p:cNvSpPr txBox="1"/>
          <p:nvPr/>
        </p:nvSpPr>
        <p:spPr>
          <a:xfrm>
            <a:off x="8092285" y="5882335"/>
            <a:ext cx="305465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프로세스가 아직 없다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업무마다 처음부터 설계할 때 생기는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업무마다 프로세스를 처음부터 따로 설계하면 승인을 다루는 방식과 기록을 읽는 법이 업무의 수만큼 늘어난다.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arrows-split-2" descr="arrows-split-2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승인이 제각각이 된다</a:t>
            </a:r>
          </a:p>
          <a:p>
            <a:pPr algn="l">
              <a:lnSpc>
                <a:spcPct val="110000"/>
              </a:lnSpc>
              <a:spcAft>
                <a:spcPts val="400"/>
              </a:spcAft>
            </a:pPr>
            <a:r>
              <a:rPr sz="1400" b="0">
                <a:solidFill>
                  <a:srgbClr val="1F2A3A"/>
                </a:solidFill>
                <a:latin typeface="맑은 고딕"/>
                <a:ea typeface="맑은 고딕"/>
                <a:cs typeface="맑은 고딕"/>
              </a:rPr>
              <a:t>• 거절과 무응답을 다루는 방식이 프로세스마다 달라진다</a:t>
            </a:r>
          </a:p>
          <a:p>
            <a:pPr algn="l">
              <a:lnSpc>
                <a:spcPct val="110000"/>
              </a:lnSpc>
              <a:spcAft>
                <a:spcPts val="400"/>
              </a:spcAft>
            </a:pPr>
            <a:r>
              <a:rPr sz="1400" b="0">
                <a:solidFill>
                  <a:srgbClr val="1F2A3A"/>
                </a:solidFill>
                <a:latin typeface="맑은 고딕"/>
                <a:ea typeface="맑은 고딕"/>
                <a:cs typeface="맑은 고딕"/>
              </a:rPr>
              <a:t>• 한 곳에서 확인한 거절 경로가 다른 곳에서는 빠진다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file-search" descr="file-search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읽는 법이 늘어난다</a:t>
            </a:r>
          </a:p>
          <a:p>
            <a:pPr algn="l">
              <a:lnSpc>
                <a:spcPct val="110000"/>
              </a:lnSpc>
              <a:spcAft>
                <a:spcPts val="400"/>
              </a:spcAft>
            </a:pPr>
            <a:r>
              <a:rPr sz="1400" b="0">
                <a:solidFill>
                  <a:srgbClr val="1F2A3A"/>
                </a:solidFill>
                <a:latin typeface="맑은 고딕"/>
                <a:ea typeface="맑은 고딕"/>
                <a:cs typeface="맑은 고딕"/>
              </a:rPr>
              <a:t>승인 대기와 종결을 가르는 기준을 프로세스마다 새로 익혀야 한다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운영</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tool" descr="tool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고칠 곳이 흩어진다</a:t>
            </a:r>
          </a:p>
          <a:p>
            <a:pPr algn="l">
              <a:lnSpc>
                <a:spcPct val="110000"/>
              </a:lnSpc>
              <a:spcAft>
                <a:spcPts val="400"/>
              </a:spcAft>
            </a:pPr>
            <a:r>
              <a:rPr sz="1400" b="0">
                <a:solidFill>
                  <a:srgbClr val="1F2A3A"/>
                </a:solidFill>
                <a:latin typeface="맑은 고딕"/>
                <a:ea typeface="맑은 고딕"/>
                <a:cs typeface="맑은 고딕"/>
              </a:rPr>
              <a:t>승인 기한 하나를 바꾸는 데도 그림마다 다른 자리를 찾아 고쳐야 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변경</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업무에서 달라지는 네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업무는 시작 조건, 에이전트의 판단, 승인자, 실행 시스템이 다르고, 제안에서 승인을 거쳐 처리로 가는 순서는 같다.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489200"/>
            <a:ext cx="3515258" cy="300431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269036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긴급 대응</a:t>
            </a:r>
          </a:p>
          <a:p>
            <a:pPr algn="l">
              <a:lnSpc>
                <a:spcPct val="110000"/>
              </a:lnSpc>
              <a:spcAft>
                <a:spcPts val="400"/>
              </a:spcAft>
            </a:pPr>
            <a:r>
              <a:rPr sz="1400" b="0">
                <a:solidFill>
                  <a:srgbClr val="1F2A3A"/>
                </a:solidFill>
                <a:latin typeface="맑은 고딕"/>
                <a:ea typeface="맑은 고딕"/>
                <a:cs typeface="맑은 고딕"/>
              </a:rPr>
              <a:t>• 시작: 쿨러 성능 저하 경보</a:t>
            </a:r>
          </a:p>
          <a:p>
            <a:pPr algn="l">
              <a:lnSpc>
                <a:spcPct val="110000"/>
              </a:lnSpc>
              <a:spcAft>
                <a:spcPts val="400"/>
              </a:spcAft>
            </a:pPr>
            <a:r>
              <a:rPr sz="1400" b="0">
                <a:solidFill>
                  <a:srgbClr val="1F2A3A"/>
                </a:solidFill>
                <a:latin typeface="맑은 고딕"/>
                <a:ea typeface="맑은 고딕"/>
                <a:cs typeface="맑은 고딕"/>
              </a:rPr>
              <a:t>• 에이전트: 원인을 진단하고 냉각 조치 후보를 견주어 추천한다</a:t>
            </a:r>
          </a:p>
          <a:p>
            <a:pPr algn="l">
              <a:lnSpc>
                <a:spcPct val="110000"/>
              </a:lnSpc>
              <a:spcAft>
                <a:spcPts val="400"/>
              </a:spcAft>
            </a:pPr>
            <a:r>
              <a:rPr sz="1400" b="0">
                <a:solidFill>
                  <a:srgbClr val="1F2A3A"/>
                </a:solidFill>
                <a:latin typeface="맑은 고딕"/>
                <a:ea typeface="맑은 고딕"/>
                <a:cs typeface="맑은 고딕"/>
              </a:rPr>
              <a:t>• 승인자: 운전원</a:t>
            </a:r>
          </a:p>
          <a:p>
            <a:pPr algn="l">
              <a:lnSpc>
                <a:spcPct val="110000"/>
              </a:lnSpc>
              <a:spcAft>
                <a:spcPts val="400"/>
              </a:spcAft>
            </a:pPr>
            <a:r>
              <a:rPr sz="1400" b="0">
                <a:solidFill>
                  <a:srgbClr val="1F2A3A"/>
                </a:solidFill>
                <a:latin typeface="맑은 고딕"/>
                <a:ea typeface="맑은 고딕"/>
                <a:cs typeface="맑은 고딕"/>
              </a:rPr>
              <a:t>• 실행: SCADA, CMMS</a:t>
            </a:r>
          </a:p>
        </p:txBody>
      </p:sp>
      <p:sp>
        <p:nvSpPr>
          <p:cNvPr id="8" name="Rounded Rectangle 7"/>
          <p:cNvSpPr/>
          <p:nvPr/>
        </p:nvSpPr>
        <p:spPr>
          <a:xfrm>
            <a:off x="777240" y="5063744"/>
            <a:ext cx="917448"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5063744"/>
            <a:ext cx="917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HYD-01</a:t>
            </a:r>
          </a:p>
        </p:txBody>
      </p:sp>
      <p:sp>
        <p:nvSpPr>
          <p:cNvPr id="10" name="Rounded Rectangle 9"/>
          <p:cNvSpPr/>
          <p:nvPr/>
        </p:nvSpPr>
        <p:spPr>
          <a:xfrm>
            <a:off x="4338218" y="2489200"/>
            <a:ext cx="3515258" cy="300431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4502810" y="269036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정기 점검</a:t>
            </a:r>
          </a:p>
          <a:p>
            <a:pPr algn="l">
              <a:lnSpc>
                <a:spcPct val="110000"/>
              </a:lnSpc>
              <a:spcAft>
                <a:spcPts val="400"/>
              </a:spcAft>
            </a:pPr>
            <a:r>
              <a:rPr sz="1400" b="0">
                <a:solidFill>
                  <a:srgbClr val="1F2A3A"/>
                </a:solidFill>
                <a:latin typeface="맑은 고딕"/>
                <a:ea typeface="맑은 고딕"/>
                <a:cs typeface="맑은 고딕"/>
              </a:rPr>
              <a:t>• 시작: 정기 점검 도래 경보</a:t>
            </a:r>
          </a:p>
          <a:p>
            <a:pPr algn="l">
              <a:lnSpc>
                <a:spcPct val="110000"/>
              </a:lnSpc>
              <a:spcAft>
                <a:spcPts val="400"/>
              </a:spcAft>
            </a:pPr>
            <a:r>
              <a:rPr sz="1400" b="0">
                <a:solidFill>
                  <a:srgbClr val="1F2A3A"/>
                </a:solidFill>
                <a:latin typeface="맑은 고딕"/>
                <a:ea typeface="맑은 고딕"/>
                <a:cs typeface="맑은 고딕"/>
              </a:rPr>
              <a:t>• 에이전트: 운전시간, 생산 오더, 정비 인원, 예비품을 저울질해 정비할 시점을 제안한다</a:t>
            </a:r>
          </a:p>
          <a:p>
            <a:pPr algn="l">
              <a:lnSpc>
                <a:spcPct val="110000"/>
              </a:lnSpc>
              <a:spcAft>
                <a:spcPts val="400"/>
              </a:spcAft>
            </a:pPr>
            <a:r>
              <a:rPr sz="1400" b="0">
                <a:solidFill>
                  <a:srgbClr val="1F2A3A"/>
                </a:solidFill>
                <a:latin typeface="맑은 고딕"/>
                <a:ea typeface="맑은 고딕"/>
                <a:cs typeface="맑은 고딕"/>
              </a:rPr>
              <a:t>• 승인자: 설비보전팀장</a:t>
            </a:r>
          </a:p>
          <a:p>
            <a:pPr algn="l">
              <a:lnSpc>
                <a:spcPct val="110000"/>
              </a:lnSpc>
              <a:spcAft>
                <a:spcPts val="400"/>
              </a:spcAft>
            </a:pPr>
            <a:r>
              <a:rPr sz="1400" b="0">
                <a:solidFill>
                  <a:srgbClr val="1F2A3A"/>
                </a:solidFill>
                <a:latin typeface="맑은 고딕"/>
                <a:ea typeface="맑은 고딕"/>
                <a:cs typeface="맑은 고딕"/>
              </a:rPr>
              <a:t>• 실행: CMMS, 메일</a:t>
            </a:r>
          </a:p>
        </p:txBody>
      </p:sp>
      <p:sp>
        <p:nvSpPr>
          <p:cNvPr id="12" name="Rounded Rectangle 11"/>
          <p:cNvSpPr/>
          <p:nvPr/>
        </p:nvSpPr>
        <p:spPr>
          <a:xfrm>
            <a:off x="4566818" y="5063744"/>
            <a:ext cx="917448"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4566818" y="5063744"/>
            <a:ext cx="917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HYD-02</a:t>
            </a:r>
          </a:p>
        </p:txBody>
      </p:sp>
      <p:sp>
        <p:nvSpPr>
          <p:cNvPr id="14" name="Rounded Rectangle 13"/>
          <p:cNvSpPr/>
          <p:nvPr/>
        </p:nvSpPr>
        <p:spPr>
          <a:xfrm>
            <a:off x="8127796" y="2489200"/>
            <a:ext cx="3515258" cy="300431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5" name="TextBox 14"/>
          <p:cNvSpPr txBox="1"/>
          <p:nvPr/>
        </p:nvSpPr>
        <p:spPr>
          <a:xfrm>
            <a:off x="8292388" y="269036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재고 보충</a:t>
            </a:r>
          </a:p>
          <a:p>
            <a:pPr algn="l">
              <a:lnSpc>
                <a:spcPct val="110000"/>
              </a:lnSpc>
              <a:spcAft>
                <a:spcPts val="400"/>
              </a:spcAft>
            </a:pPr>
            <a:r>
              <a:rPr sz="1400" b="0">
                <a:solidFill>
                  <a:srgbClr val="1F2A3A"/>
                </a:solidFill>
                <a:latin typeface="맑은 고딕"/>
                <a:ea typeface="맑은 고딕"/>
                <a:cs typeface="맑은 고딕"/>
              </a:rPr>
              <a:t>• 시작: 재고 부족 경보</a:t>
            </a:r>
          </a:p>
          <a:p>
            <a:pPr algn="l">
              <a:lnSpc>
                <a:spcPct val="110000"/>
              </a:lnSpc>
              <a:spcAft>
                <a:spcPts val="400"/>
              </a:spcAft>
            </a:pPr>
            <a:r>
              <a:rPr sz="1400" b="0">
                <a:solidFill>
                  <a:srgbClr val="1F2A3A"/>
                </a:solidFill>
                <a:latin typeface="맑은 고딕"/>
                <a:ea typeface="맑은 고딕"/>
                <a:cs typeface="맑은 고딕"/>
              </a:rPr>
              <a:t>• 에이전트: 필요량을 정하고 공급사를 금액, 납기, 품질, 회사 규정으로 비교한다</a:t>
            </a:r>
          </a:p>
          <a:p>
            <a:pPr algn="l">
              <a:lnSpc>
                <a:spcPct val="110000"/>
              </a:lnSpc>
              <a:spcAft>
                <a:spcPts val="400"/>
              </a:spcAft>
            </a:pPr>
            <a:r>
              <a:rPr sz="1400" b="0">
                <a:solidFill>
                  <a:srgbClr val="1F2A3A"/>
                </a:solidFill>
                <a:latin typeface="맑은 고딕"/>
                <a:ea typeface="맑은 고딕"/>
                <a:cs typeface="맑은 고딕"/>
              </a:rPr>
              <a:t>• 승인자: 구매 담당</a:t>
            </a:r>
          </a:p>
          <a:p>
            <a:pPr algn="l">
              <a:lnSpc>
                <a:spcPct val="110000"/>
              </a:lnSpc>
              <a:spcAft>
                <a:spcPts val="400"/>
              </a:spcAft>
            </a:pPr>
            <a:r>
              <a:rPr sz="1400" b="0">
                <a:solidFill>
                  <a:srgbClr val="1F2A3A"/>
                </a:solidFill>
                <a:latin typeface="맑은 고딕"/>
                <a:ea typeface="맑은 고딕"/>
                <a:cs typeface="맑은 고딕"/>
              </a:rPr>
              <a:t>• 실행: ERP(Enterprise Resource Planning), 메일</a:t>
            </a:r>
          </a:p>
        </p:txBody>
      </p:sp>
      <p:sp>
        <p:nvSpPr>
          <p:cNvPr id="16" name="Rounded Rectangle 15"/>
          <p:cNvSpPr/>
          <p:nvPr/>
        </p:nvSpPr>
        <p:spPr>
          <a:xfrm>
            <a:off x="8356396" y="5063744"/>
            <a:ext cx="917448"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8356396" y="5063744"/>
            <a:ext cx="917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HYD-03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시작 조건: 센서 값의 규칙과 업무 데이터의 규칙</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대응은 센서 값의 규칙이, 정기 점검과 재고 보충은 업무 시스템에 쌓인 데이터의 규칙이 프로세스를 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센서 값의 규칙</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값: 유온 TS1, 냉각 효율 CE</a:t>
            </a:r>
          </a:p>
          <a:p>
            <a:pPr algn="l">
              <a:lnSpc>
                <a:spcPct val="110000"/>
              </a:lnSpc>
              <a:spcAft>
                <a:spcPts val="600"/>
              </a:spcAft>
            </a:pPr>
            <a:r>
              <a:rPr sz="1450" b="0">
                <a:solidFill>
                  <a:srgbClr val="1F2A3A"/>
                </a:solidFill>
                <a:latin typeface="맑은 고딕"/>
                <a:ea typeface="맑은 고딕"/>
                <a:cs typeface="맑은 고딕"/>
              </a:rPr>
              <a:t>• 규칙: TS1 &gt; 55 and CE &lt; 70 and slope(TS1) &gt; 0</a:t>
            </a:r>
          </a:p>
          <a:p>
            <a:pPr algn="l">
              <a:lnSpc>
                <a:spcPct val="110000"/>
              </a:lnSpc>
              <a:spcAft>
                <a:spcPts val="600"/>
              </a:spcAft>
            </a:pPr>
            <a:r>
              <a:rPr sz="1450" b="0">
                <a:solidFill>
                  <a:srgbClr val="1F2A3A"/>
                </a:solidFill>
                <a:latin typeface="맑은 고딕"/>
                <a:ea typeface="맑은 고딕"/>
                <a:cs typeface="맑은 고딕"/>
              </a:rPr>
              <a:t>• 경보 패턴: COOLER_DEGRADATION</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긴급 대응</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calendar" descr="calendar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업무 데이터의 규칙</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값: 설비의 운전시간, 예비품의 재고</a:t>
            </a:r>
          </a:p>
          <a:p>
            <a:pPr algn="l">
              <a:lnSpc>
                <a:spcPct val="110000"/>
              </a:lnSpc>
              <a:spcAft>
                <a:spcPts val="600"/>
              </a:spcAft>
            </a:pPr>
            <a:r>
              <a:rPr sz="1450" b="0">
                <a:solidFill>
                  <a:srgbClr val="1F2A3A"/>
                </a:solidFill>
                <a:latin typeface="맑은 고딕"/>
                <a:ea typeface="맑은 고딕"/>
                <a:cs typeface="맑은 고딕"/>
              </a:rPr>
              <a:t>• 규칙: 운전시간이 점검 주기에 가까워진다, 가용 재고가 재주문점보다 적다</a:t>
            </a:r>
          </a:p>
          <a:p>
            <a:pPr algn="l">
              <a:lnSpc>
                <a:spcPct val="110000"/>
              </a:lnSpc>
              <a:spcAft>
                <a:spcPts val="600"/>
              </a:spcAft>
            </a:pPr>
            <a:r>
              <a:rPr sz="1450" b="0">
                <a:solidFill>
                  <a:srgbClr val="1F2A3A"/>
                </a:solidFill>
                <a:latin typeface="맑은 고딕"/>
                <a:ea typeface="맑은 고딕"/>
                <a:cs typeface="맑은 고딕"/>
              </a:rPr>
              <a:t>• 경보 패턴: PM_DUE, SPARE_BELOW_MIN</a:t>
            </a:r>
          </a:p>
        </p:txBody>
      </p:sp>
      <p:sp>
        <p:nvSpPr>
          <p:cNvPr id="18" name="Rounded Rectangle 17"/>
          <p:cNvSpPr/>
          <p:nvPr/>
        </p:nvSpPr>
        <p:spPr>
          <a:xfrm>
            <a:off x="6781647" y="5096002"/>
            <a:ext cx="192024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92024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정기 점검 · 재고 보충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도래: 운전시간이 주기에 가까워진 사건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점검은 운전시간을 기준으로 미리 하는 예방 정비이며, 주기 2,000 h보다 50 h 앞선 1,950 h에 도래 경보가 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pic>
        <p:nvPicPr>
          <p:cNvPr id="6" name="삽화:운전시간.svg" descr="illust_211316157807788063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02927" y="318768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운전시간</a:t>
            </a:r>
          </a:p>
          <a:p>
            <a:pPr algn="ctr">
              <a:lnSpc>
                <a:spcPct val="110000"/>
              </a:lnSpc>
              <a:spcAft>
                <a:spcPts val="100"/>
              </a:spcAft>
            </a:pPr>
            <a:r>
              <a:rPr sz="1300" b="0">
                <a:solidFill>
                  <a:srgbClr val="556175"/>
                </a:solidFill>
                <a:latin typeface="맑은 고딕"/>
                <a:ea typeface="맑은 고딕"/>
                <a:cs typeface="맑은 고딕"/>
              </a:rPr>
              <a:t>마지막 정기 점검 뒤의 운전</a:t>
            </a:r>
          </a:p>
        </p:txBody>
      </p:sp>
      <p:sp>
        <p:nvSpPr>
          <p:cNvPr id="8" name="TextBox 7"/>
          <p:cNvSpPr txBox="1"/>
          <p:nvPr/>
        </p:nvSpPr>
        <p:spPr>
          <a:xfrm>
            <a:off x="4023043" y="2289474"/>
            <a:ext cx="196370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1,950 h</a:t>
            </a:r>
          </a:p>
          <a:p>
            <a:pPr algn="ctr">
              <a:lnSpc>
                <a:spcPct val="110000"/>
              </a:lnSpc>
              <a:spcAft>
                <a:spcPts val="100"/>
              </a:spcAft>
            </a:pPr>
            <a:r>
              <a:rPr sz="1300" b="0">
                <a:solidFill>
                  <a:srgbClr val="556175"/>
                </a:solidFill>
                <a:latin typeface="맑은 고딕"/>
                <a:ea typeface="맑은 고딕"/>
                <a:cs typeface="맑은 고딕"/>
              </a:rPr>
              <a:t>도래 경보 PM_DUE</a:t>
            </a:r>
          </a:p>
        </p:txBody>
      </p:sp>
      <p:sp>
        <p:nvSpPr>
          <p:cNvPr id="9" name="TextBox 8"/>
          <p:cNvSpPr txBox="1"/>
          <p:nvPr/>
        </p:nvSpPr>
        <p:spPr>
          <a:xfrm>
            <a:off x="8768673" y="228947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2,000 h</a:t>
            </a:r>
          </a:p>
          <a:p>
            <a:pPr algn="ctr">
              <a:lnSpc>
                <a:spcPct val="110000"/>
              </a:lnSpc>
              <a:spcAft>
                <a:spcPts val="100"/>
              </a:spcAft>
            </a:pPr>
            <a:r>
              <a:rPr sz="1300" b="0">
                <a:solidFill>
                  <a:srgbClr val="556175"/>
                </a:solidFill>
                <a:latin typeface="맑은 고딕"/>
                <a:ea typeface="맑은 고딕"/>
                <a:cs typeface="맑은 고딕"/>
              </a:rPr>
              <a:t>정기 점검 주기</a:t>
            </a:r>
          </a:p>
        </p:txBody>
      </p:sp>
      <p:sp>
        <p:nvSpPr>
          <p:cNvPr id="10" name="TextBox 9"/>
          <p:cNvSpPr txBox="1"/>
          <p:nvPr/>
        </p:nvSpPr>
        <p:spPr>
          <a:xfrm>
            <a:off x="5954024" y="522049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사전 알림 50 h</a:t>
            </a:r>
          </a:p>
          <a:p>
            <a:pPr algn="ctr">
              <a:lnSpc>
                <a:spcPct val="110000"/>
              </a:lnSpc>
              <a:spcAft>
                <a:spcPts val="100"/>
              </a:spcAft>
            </a:pPr>
            <a:r>
              <a:rPr sz="1300" b="0">
                <a:solidFill>
                  <a:srgbClr val="556175"/>
                </a:solidFill>
                <a:latin typeface="맑은 고딕"/>
                <a:ea typeface="맑은 고딕"/>
                <a:cs typeface="맑은 고딕"/>
              </a:rPr>
              <a:t>2,000 - 50 = 1,950 h</a:t>
            </a:r>
          </a:p>
        </p:txBody>
      </p:sp>
      <p:sp>
        <p:nvSpPr>
          <p:cNvPr id="11" name="TextBox 10"/>
          <p:cNvSpPr txBox="1"/>
          <p:nvPr/>
        </p:nvSpPr>
        <p:spPr>
          <a:xfrm>
            <a:off x="902927" y="522049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예방 정비</a:t>
            </a:r>
          </a:p>
          <a:p>
            <a:pPr algn="ctr">
              <a:lnSpc>
                <a:spcPct val="110000"/>
              </a:lnSpc>
              <a:spcAft>
                <a:spcPts val="100"/>
              </a:spcAft>
            </a:pPr>
            <a:r>
              <a:rPr sz="1300" b="0">
                <a:solidFill>
                  <a:srgbClr val="556175"/>
                </a:solidFill>
                <a:latin typeface="맑은 고딕"/>
                <a:ea typeface="맑은 고딕"/>
                <a:cs typeface="맑은 고딕"/>
              </a:rPr>
              <a:t>Preventive Maintenance · PM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부족: 가용 재고가 재주문점 아래로 내려간 사건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재고는 예약분을 뺀 가용 재고로 판단하며, 씰 키트의 가용 1개가 재주문점 2개보다 적어 재고 부족 경보가 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pic>
        <p:nvPicPr>
          <p:cNvPr id="6" name="삽화:재고.svg" descr="illust_806265646709581601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431298"/>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현재고 3</a:t>
            </a:r>
          </a:p>
          <a:p>
            <a:pPr algn="ctr">
              <a:lnSpc>
                <a:spcPct val="110000"/>
              </a:lnSpc>
              <a:spcAft>
                <a:spcPts val="100"/>
              </a:spcAft>
            </a:pPr>
            <a:r>
              <a:rPr sz="1100" b="0">
                <a:solidFill>
                  <a:srgbClr val="556175"/>
                </a:solidFill>
                <a:latin typeface="맑은 고딕"/>
                <a:ea typeface="맑은 고딕"/>
                <a:cs typeface="맑은 고딕"/>
              </a:rPr>
              <a:t>창고에 있는 수량</a:t>
            </a:r>
          </a:p>
        </p:txBody>
      </p:sp>
      <p:sp>
        <p:nvSpPr>
          <p:cNvPr id="8" name="TextBox 7"/>
          <p:cNvSpPr txBox="1"/>
          <p:nvPr/>
        </p:nvSpPr>
        <p:spPr>
          <a:xfrm>
            <a:off x="6314037" y="2431298"/>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예약 2</a:t>
            </a:r>
          </a:p>
          <a:p>
            <a:pPr algn="ctr">
              <a:lnSpc>
                <a:spcPct val="110000"/>
              </a:lnSpc>
              <a:spcAft>
                <a:spcPts val="100"/>
              </a:spcAft>
            </a:pPr>
            <a:r>
              <a:rPr sz="1100" b="0">
                <a:solidFill>
                  <a:srgbClr val="556175"/>
                </a:solidFill>
                <a:latin typeface="맑은 고딕"/>
                <a:ea typeface="맑은 고딕"/>
                <a:cs typeface="맑은 고딕"/>
              </a:rPr>
              <a:t>예정된 정비에 쓰기로 잡아 둔 수량</a:t>
            </a:r>
          </a:p>
        </p:txBody>
      </p:sp>
      <p:sp>
        <p:nvSpPr>
          <p:cNvPr id="9" name="TextBox 8"/>
          <p:cNvSpPr txBox="1"/>
          <p:nvPr/>
        </p:nvSpPr>
        <p:spPr>
          <a:xfrm>
            <a:off x="750195" y="4653198"/>
            <a:ext cx="196370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가용 재고 1</a:t>
            </a:r>
          </a:p>
          <a:p>
            <a:pPr algn="ctr">
              <a:lnSpc>
                <a:spcPct val="110000"/>
              </a:lnSpc>
              <a:spcAft>
                <a:spcPts val="100"/>
              </a:spcAft>
            </a:pPr>
            <a:r>
              <a:rPr sz="1100" b="0">
                <a:solidFill>
                  <a:srgbClr val="556175"/>
                </a:solidFill>
                <a:latin typeface="맑은 고딕"/>
                <a:ea typeface="맑은 고딕"/>
                <a:cs typeface="맑은 고딕"/>
              </a:rPr>
              <a:t>현재고 3 - 정비 예약 2</a:t>
            </a:r>
          </a:p>
        </p:txBody>
      </p:sp>
      <p:sp>
        <p:nvSpPr>
          <p:cNvPr id="10" name="TextBox 9"/>
          <p:cNvSpPr txBox="1"/>
          <p:nvPr/>
        </p:nvSpPr>
        <p:spPr>
          <a:xfrm>
            <a:off x="4104864" y="3707709"/>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재주문점 2</a:t>
            </a:r>
          </a:p>
          <a:p>
            <a:pPr algn="ctr">
              <a:lnSpc>
                <a:spcPct val="110000"/>
              </a:lnSpc>
              <a:spcAft>
                <a:spcPts val="100"/>
              </a:spcAft>
            </a:pPr>
            <a:r>
              <a:rPr sz="1100" b="0">
                <a:solidFill>
                  <a:srgbClr val="556175"/>
                </a:solidFill>
                <a:latin typeface="맑은 고딕"/>
                <a:ea typeface="맑은 고딕"/>
                <a:cs typeface="맑은 고딕"/>
              </a:rPr>
              <a:t>Reorder Point</a:t>
            </a:r>
          </a:p>
        </p:txBody>
      </p:sp>
      <p:sp>
        <p:nvSpPr>
          <p:cNvPr id="11" name="TextBox 10"/>
          <p:cNvSpPr txBox="1"/>
          <p:nvPr/>
        </p:nvSpPr>
        <p:spPr>
          <a:xfrm>
            <a:off x="9695980" y="389680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목표 재고 7</a:t>
            </a:r>
          </a:p>
        </p:txBody>
      </p:sp>
      <p:sp>
        <p:nvSpPr>
          <p:cNvPr id="12" name="TextBox 11"/>
          <p:cNvSpPr txBox="1"/>
          <p:nvPr/>
        </p:nvSpPr>
        <p:spPr>
          <a:xfrm>
            <a:off x="4612156" y="5929609"/>
            <a:ext cx="5018367"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필요 수량 6 = 목표 재고 7 - 가용 재고 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사건이 같은 형식의 경보로 도착한다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출처가 센서이든 업무 시스템이든 사건은 같은 형식의 경보가 되어, 세 프로세스가 같은 메시지 시작 이벤트로 열린다.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alertId  ALT-hyd01-0026-767a</a:t>
            </a:r>
          </a:p>
          <a:p>
            <a:pPr algn="l">
              <a:lnSpc>
                <a:spcPct val="110000"/>
              </a:lnSpc>
              <a:spcAft>
                <a:spcPts val="200"/>
              </a:spcAft>
            </a:pPr>
            <a:r>
              <a:rPr sz="1300" b="0">
                <a:solidFill>
                  <a:srgbClr val="E8EEF6"/>
                </a:solidFill>
                <a:latin typeface="Consolas"/>
                <a:ea typeface="맑은 고딕"/>
                <a:cs typeface="맑은 고딕"/>
              </a:rPr>
              <a:t>pattern  COOLER_DEGRADATION</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alertId  CMMS-PM_DUE-HYD-02-20261010150830</a:t>
            </a:r>
          </a:p>
          <a:p>
            <a:pPr algn="l">
              <a:lnSpc>
                <a:spcPct val="110000"/>
              </a:lnSpc>
              <a:spcAft>
                <a:spcPts val="200"/>
              </a:spcAft>
            </a:pPr>
            <a:r>
              <a:rPr sz="1300" b="0">
                <a:solidFill>
                  <a:srgbClr val="E8EEF6"/>
                </a:solidFill>
                <a:latin typeface="Consolas"/>
                <a:ea typeface="맑은 고딕"/>
                <a:cs typeface="맑은 고딕"/>
              </a:rPr>
              <a:t>pattern  PM_DUE</a:t>
            </a:r>
          </a:p>
          <a:p>
            <a:pPr algn="l">
              <a:lnSpc>
                <a:spcPct val="110000"/>
              </a:lnSpc>
              <a:spcAft>
                <a:spcPts val="200"/>
              </a:spcAft>
            </a:pPr>
            <a:r>
              <a:rPr sz="1300" b="0">
                <a:solidFill>
                  <a:srgbClr val="E8EEF6"/>
                </a:solidFill>
                <a:latin typeface="Consolas"/>
                <a:ea typeface="맑은 고딕"/>
                <a:cs typeface="맑은 고딕"/>
              </a:rPr>
              <a:t>asset    HYD-02</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alertId  ERP-SPARE_BELOW_MIN-P-PMP-SEAL-20261010151032</a:t>
            </a:r>
          </a:p>
          <a:p>
            <a:pPr algn="l">
              <a:lnSpc>
                <a:spcPct val="110000"/>
              </a:lnSpc>
              <a:spcAft>
                <a:spcPts val="200"/>
              </a:spcAft>
            </a:pPr>
            <a:r>
              <a:rPr sz="1300" b="0">
                <a:solidFill>
                  <a:srgbClr val="E8EEF6"/>
                </a:solidFill>
                <a:latin typeface="Consolas"/>
                <a:ea typeface="맑은 고딕"/>
                <a:cs typeface="맑은 고딕"/>
              </a:rPr>
              <a:t>pattern  SPARE_BELOW_MIN</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같은 필드</a:t>
            </a:r>
          </a:p>
          <a:p>
            <a:pPr algn="l">
              <a:lnSpc>
                <a:spcPct val="110000"/>
              </a:lnSpc>
              <a:spcAft>
                <a:spcPts val="400"/>
              </a:spcAft>
            </a:pPr>
            <a:r>
              <a:rPr sz="1400" b="0">
                <a:solidFill>
                  <a:srgbClr val="1F2A3A"/>
                </a:solidFill>
                <a:latin typeface="맑은 고딕"/>
                <a:ea typeface="맑은 고딕"/>
                <a:cs typeface="맑은 고딕"/>
              </a:rPr>
              <a:t>세 경보에 alertId와</a:t>
            </a:r>
          </a:p>
          <a:p>
            <a:pPr algn="l">
              <a:lnSpc>
                <a:spcPct val="110000"/>
              </a:lnSpc>
              <a:spcAft>
                <a:spcPts val="400"/>
              </a:spcAft>
            </a:pPr>
            <a:r>
              <a:rPr sz="1400" b="0">
                <a:solidFill>
                  <a:srgbClr val="1F2A3A"/>
                </a:solidFill>
                <a:latin typeface="맑은 고딕"/>
                <a:ea typeface="맑은 고딕"/>
                <a:cs typeface="맑은 고딕"/>
              </a:rPr>
              <a:t>pattern이 똑같이 있다.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pattern</a:t>
            </a:r>
          </a:p>
          <a:p>
            <a:pPr algn="l">
              <a:lnSpc>
                <a:spcPct val="110000"/>
              </a:lnSpc>
              <a:spcAft>
                <a:spcPts val="400"/>
              </a:spcAft>
            </a:pPr>
            <a:r>
              <a:rPr sz="1400" b="0">
                <a:solidFill>
                  <a:srgbClr val="1F2A3A"/>
                </a:solidFill>
                <a:latin typeface="맑은 고딕"/>
                <a:ea typeface="맑은 고딕"/>
                <a:cs typeface="맑은 고딕"/>
              </a:rPr>
              <a:t>이 값이 어느 프로세스를</a:t>
            </a:r>
          </a:p>
          <a:p>
            <a:pPr algn="l">
              <a:lnSpc>
                <a:spcPct val="110000"/>
              </a:lnSpc>
              <a:spcAft>
                <a:spcPts val="400"/>
              </a:spcAft>
            </a:pPr>
            <a:r>
              <a:rPr sz="1400" b="0">
                <a:solidFill>
                  <a:srgbClr val="1F2A3A"/>
                </a:solidFill>
                <a:latin typeface="맑은 고딕"/>
                <a:ea typeface="맑은 고딕"/>
                <a:cs typeface="맑은 고딕"/>
              </a:rPr>
              <a:t>열지를 정한다.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alertId의 머리</a:t>
            </a:r>
          </a:p>
          <a:p>
            <a:pPr algn="l">
              <a:lnSpc>
                <a:spcPct val="110000"/>
              </a:lnSpc>
              <a:spcAft>
                <a:spcPts val="400"/>
              </a:spcAft>
            </a:pPr>
            <a:r>
              <a:rPr sz="1400" b="0">
                <a:solidFill>
                  <a:srgbClr val="1F2A3A"/>
                </a:solidFill>
                <a:latin typeface="맑은 고딕"/>
                <a:ea typeface="맑은 고딕"/>
                <a:cs typeface="맑은 고딕"/>
              </a:rPr>
              <a:t>CMMS와 ERP는 사건이</a:t>
            </a:r>
          </a:p>
          <a:p>
            <a:pPr algn="l">
              <a:lnSpc>
                <a:spcPct val="110000"/>
              </a:lnSpc>
              <a:spcAft>
                <a:spcPts val="400"/>
              </a:spcAft>
            </a:pPr>
            <a:r>
              <a:rPr sz="1400" b="0">
                <a:solidFill>
                  <a:srgbClr val="1F2A3A"/>
                </a:solidFill>
                <a:latin typeface="맑은 고딕"/>
                <a:ea typeface="맑은 고딕"/>
                <a:cs typeface="맑은 고딕"/>
              </a:rPr>
              <a:t>나온 업무 시스템이다.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뒤의 실행: 업무마다 다른 시스템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승인된 제안의 실행은 설비 명령이면 SCADA가, 정비 오더이면 CMMS가, 발주와 입고이면 ERP가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1627632"/>
            <a:ext cx="2936138" cy="4727448"/>
          </a:xfrm>
          <a:prstGeom prst="roundRect">
            <a:avLst>
              <a:gd name="adj" fmla="val 3000"/>
            </a:avLst>
          </a:prstGeom>
          <a:solidFill>
            <a:srgbClr val="F3F6F9"/>
          </a:solidFill>
          <a:ln>
            <a:noFill/>
          </a:ln>
        </p:spPr>
        <p:txBody>
          <a:bodyPr rtlCol="0" anchor="ctr"/>
          <a:lstStyle/>
          <a:p>
            <a:pPr algn="ctr"/>
          </a:p>
        </p:txBody>
      </p:sp>
      <p:sp>
        <p:nvSpPr>
          <p:cNvPr id="7" name="TextBox 6"/>
          <p:cNvSpPr txBox="1"/>
          <p:nvPr/>
        </p:nvSpPr>
        <p:spPr>
          <a:xfrm>
            <a:off x="548640"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승인된 제안</a:t>
            </a:r>
          </a:p>
        </p:txBody>
      </p:sp>
      <p:sp>
        <p:nvSpPr>
          <p:cNvPr id="8" name="Rounded Rectangle 7"/>
          <p:cNvSpPr/>
          <p:nvPr/>
        </p:nvSpPr>
        <p:spPr>
          <a:xfrm>
            <a:off x="731520"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9" name="TextBox 8"/>
          <p:cNvSpPr txBox="1"/>
          <p:nvPr/>
        </p:nvSpPr>
        <p:spPr>
          <a:xfrm>
            <a:off x="777240"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냉각 조치</a:t>
            </a:r>
          </a:p>
          <a:p>
            <a:pPr algn="ctr">
              <a:lnSpc>
                <a:spcPct val="110000"/>
              </a:lnSpc>
              <a:spcAft>
                <a:spcPts val="100"/>
              </a:spcAft>
            </a:pPr>
            <a:r>
              <a:rPr sz="1150" b="0">
                <a:solidFill>
                  <a:srgbClr val="556175"/>
                </a:solidFill>
                <a:latin typeface="맑은 고딕"/>
                <a:ea typeface="맑은 고딕"/>
                <a:cs typeface="맑은 고딕"/>
              </a:rPr>
              <a:t>팬 최대 운전</a:t>
            </a:r>
          </a:p>
        </p:txBody>
      </p:sp>
      <p:sp>
        <p:nvSpPr>
          <p:cNvPr id="10" name="Rounded Rectangle 9"/>
          <p:cNvSpPr/>
          <p:nvPr/>
        </p:nvSpPr>
        <p:spPr>
          <a:xfrm>
            <a:off x="731520"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777240"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정비 계획</a:t>
            </a:r>
          </a:p>
          <a:p>
            <a:pPr algn="ctr">
              <a:lnSpc>
                <a:spcPct val="110000"/>
              </a:lnSpc>
              <a:spcAft>
                <a:spcPts val="100"/>
              </a:spcAft>
            </a:pPr>
            <a:r>
              <a:rPr sz="1150" b="0">
                <a:solidFill>
                  <a:srgbClr val="556175"/>
                </a:solidFill>
                <a:latin typeface="맑은 고딕"/>
                <a:ea typeface="맑은 고딕"/>
                <a:cs typeface="맑은 고딕"/>
              </a:rPr>
              <a:t>야간 정비 시간</a:t>
            </a:r>
          </a:p>
        </p:txBody>
      </p:sp>
      <p:sp>
        <p:nvSpPr>
          <p:cNvPr id="12" name="Rounded Rectangle 11"/>
          <p:cNvSpPr/>
          <p:nvPr/>
        </p:nvSpPr>
        <p:spPr>
          <a:xfrm>
            <a:off x="731520"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3" name="TextBox 12"/>
          <p:cNvSpPr txBox="1"/>
          <p:nvPr/>
        </p:nvSpPr>
        <p:spPr>
          <a:xfrm>
            <a:off x="777240"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발주안</a:t>
            </a:r>
          </a:p>
          <a:p>
            <a:pPr algn="ctr">
              <a:lnSpc>
                <a:spcPct val="110000"/>
              </a:lnSpc>
              <a:spcAft>
                <a:spcPts val="100"/>
              </a:spcAft>
            </a:pPr>
            <a:r>
              <a:rPr sz="1150" b="0">
                <a:solidFill>
                  <a:srgbClr val="556175"/>
                </a:solidFill>
                <a:latin typeface="맑은 고딕"/>
                <a:ea typeface="맑은 고딕"/>
                <a:cs typeface="맑은 고딕"/>
              </a:rPr>
              <a:t>씰 키트 6개</a:t>
            </a:r>
          </a:p>
        </p:txBody>
      </p:sp>
      <p:sp>
        <p:nvSpPr>
          <p:cNvPr id="14" name="Rounded Rectangle 13"/>
          <p:cNvSpPr/>
          <p:nvPr/>
        </p:nvSpPr>
        <p:spPr>
          <a:xfrm>
            <a:off x="4627778" y="1627632"/>
            <a:ext cx="2936138" cy="4727448"/>
          </a:xfrm>
          <a:prstGeom prst="roundRect">
            <a:avLst>
              <a:gd name="adj" fmla="val 3000"/>
            </a:avLst>
          </a:prstGeom>
          <a:solidFill>
            <a:srgbClr val="F3F6F9"/>
          </a:solidFill>
          <a:ln>
            <a:noFill/>
          </a:ln>
        </p:spPr>
        <p:txBody>
          <a:bodyPr rtlCol="0" anchor="ctr"/>
          <a:lstStyle/>
          <a:p>
            <a:pPr algn="ctr"/>
          </a:p>
        </p:txBody>
      </p:sp>
      <p:sp>
        <p:nvSpPr>
          <p:cNvPr id="15" name="TextBox 14"/>
          <p:cNvSpPr txBox="1"/>
          <p:nvPr/>
        </p:nvSpPr>
        <p:spPr>
          <a:xfrm>
            <a:off x="4627778"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실행 시스템</a:t>
            </a:r>
          </a:p>
        </p:txBody>
      </p:sp>
      <p:sp>
        <p:nvSpPr>
          <p:cNvPr id="16" name="Rounded Rectangle 15"/>
          <p:cNvSpPr/>
          <p:nvPr/>
        </p:nvSpPr>
        <p:spPr>
          <a:xfrm>
            <a:off x="4810658"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7" name="TextBox 16"/>
          <p:cNvSpPr txBox="1"/>
          <p:nvPr/>
        </p:nvSpPr>
        <p:spPr>
          <a:xfrm>
            <a:off x="4856378"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SCADA와 CMMS</a:t>
            </a:r>
          </a:p>
          <a:p>
            <a:pPr algn="ctr">
              <a:lnSpc>
                <a:spcPct val="110000"/>
              </a:lnSpc>
              <a:spcAft>
                <a:spcPts val="100"/>
              </a:spcAft>
            </a:pPr>
            <a:r>
              <a:rPr sz="1150" b="0">
                <a:solidFill>
                  <a:srgbClr val="556175"/>
                </a:solidFill>
                <a:latin typeface="맑은 고딕"/>
                <a:ea typeface="맑은 고딕"/>
                <a:cs typeface="맑은 고딕"/>
              </a:rPr>
              <a:t>PLC 명령, 작업지시 등록</a:t>
            </a:r>
          </a:p>
        </p:txBody>
      </p:sp>
      <p:sp>
        <p:nvSpPr>
          <p:cNvPr id="18" name="Rounded Rectangle 17"/>
          <p:cNvSpPr/>
          <p:nvPr/>
        </p:nvSpPr>
        <p:spPr>
          <a:xfrm>
            <a:off x="4810658"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4856378"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CMMS와 메일</a:t>
            </a:r>
          </a:p>
          <a:p>
            <a:pPr algn="ctr">
              <a:lnSpc>
                <a:spcPct val="110000"/>
              </a:lnSpc>
              <a:spcAft>
                <a:spcPts val="100"/>
              </a:spcAft>
            </a:pPr>
            <a:r>
              <a:rPr sz="1150" b="0">
                <a:solidFill>
                  <a:srgbClr val="556175"/>
                </a:solidFill>
                <a:latin typeface="맑은 고딕"/>
                <a:ea typeface="맑은 고딕"/>
                <a:cs typeface="맑은 고딕"/>
              </a:rPr>
              <a:t>정비 오더 등록, 생산팀 공지</a:t>
            </a:r>
          </a:p>
        </p:txBody>
      </p:sp>
      <p:sp>
        <p:nvSpPr>
          <p:cNvPr id="20" name="Rounded Rectangle 19"/>
          <p:cNvSpPr/>
          <p:nvPr/>
        </p:nvSpPr>
        <p:spPr>
          <a:xfrm>
            <a:off x="4810658"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1" name="TextBox 20"/>
          <p:cNvSpPr txBox="1"/>
          <p:nvPr/>
        </p:nvSpPr>
        <p:spPr>
          <a:xfrm>
            <a:off x="4856378"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ERP와 메일</a:t>
            </a:r>
          </a:p>
          <a:p>
            <a:pPr algn="ctr">
              <a:lnSpc>
                <a:spcPct val="110000"/>
              </a:lnSpc>
              <a:spcAft>
                <a:spcPts val="100"/>
              </a:spcAft>
            </a:pPr>
            <a:r>
              <a:rPr sz="1150" b="0">
                <a:solidFill>
                  <a:srgbClr val="556175"/>
                </a:solidFill>
                <a:latin typeface="맑은 고딕"/>
                <a:ea typeface="맑은 고딕"/>
                <a:cs typeface="맑은 고딕"/>
              </a:rPr>
              <a:t>발주, 공급사 통지, 입고 확인</a:t>
            </a:r>
          </a:p>
        </p:txBody>
      </p:sp>
      <p:sp>
        <p:nvSpPr>
          <p:cNvPr id="22" name="Rounded Rectangle 21"/>
          <p:cNvSpPr/>
          <p:nvPr/>
        </p:nvSpPr>
        <p:spPr>
          <a:xfrm>
            <a:off x="8706916" y="1627632"/>
            <a:ext cx="2936138" cy="4727448"/>
          </a:xfrm>
          <a:prstGeom prst="roundRect">
            <a:avLst>
              <a:gd name="adj" fmla="val 3000"/>
            </a:avLst>
          </a:prstGeom>
          <a:solidFill>
            <a:srgbClr val="F3F6F9"/>
          </a:solidFill>
          <a:ln>
            <a:noFill/>
          </a:ln>
        </p:spPr>
        <p:txBody>
          <a:bodyPr rtlCol="0" anchor="ctr"/>
          <a:lstStyle/>
          <a:p>
            <a:pPr algn="ctr"/>
          </a:p>
        </p:txBody>
      </p:sp>
      <p:sp>
        <p:nvSpPr>
          <p:cNvPr id="23" name="TextBox 22"/>
          <p:cNvSpPr txBox="1"/>
          <p:nvPr/>
        </p:nvSpPr>
        <p:spPr>
          <a:xfrm>
            <a:off x="8706916"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남는 기록</a:t>
            </a:r>
          </a:p>
        </p:txBody>
      </p:sp>
      <p:sp>
        <p:nvSpPr>
          <p:cNvPr id="24" name="Rounded Rectangle 23"/>
          <p:cNvSpPr/>
          <p:nvPr/>
        </p:nvSpPr>
        <p:spPr>
          <a:xfrm>
            <a:off x="8889796"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5" name="TextBox 24"/>
          <p:cNvSpPr txBox="1"/>
          <p:nvPr/>
        </p:nvSpPr>
        <p:spPr>
          <a:xfrm>
            <a:off x="8935516"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설비 명령과 작업지시</a:t>
            </a:r>
          </a:p>
          <a:p>
            <a:pPr algn="ctr">
              <a:lnSpc>
                <a:spcPct val="110000"/>
              </a:lnSpc>
              <a:spcAft>
                <a:spcPts val="100"/>
              </a:spcAft>
            </a:pPr>
            <a:r>
              <a:rPr sz="1150" b="0">
                <a:solidFill>
                  <a:srgbClr val="556175"/>
                </a:solidFill>
                <a:latin typeface="맑은 고딕"/>
                <a:ea typeface="맑은 고딕"/>
                <a:cs typeface="맑은 고딕"/>
              </a:rPr>
              <a:t>팬 속도 100 %, 핀 세척</a:t>
            </a:r>
          </a:p>
        </p:txBody>
      </p:sp>
      <p:sp>
        <p:nvSpPr>
          <p:cNvPr id="26" name="Rounded Rectangle 25"/>
          <p:cNvSpPr/>
          <p:nvPr/>
        </p:nvSpPr>
        <p:spPr>
          <a:xfrm>
            <a:off x="8889796"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7" name="TextBox 26"/>
          <p:cNvSpPr txBox="1"/>
          <p:nvPr/>
        </p:nvSpPr>
        <p:spPr>
          <a:xfrm>
            <a:off x="8935516"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정비 오더</a:t>
            </a:r>
          </a:p>
          <a:p>
            <a:pPr algn="ctr">
              <a:lnSpc>
                <a:spcPct val="110000"/>
              </a:lnSpc>
              <a:spcAft>
                <a:spcPts val="100"/>
              </a:spcAft>
            </a:pPr>
            <a:r>
              <a:rPr sz="1150" b="0">
                <a:solidFill>
                  <a:srgbClr val="556175"/>
                </a:solidFill>
                <a:latin typeface="맑은 고딕"/>
                <a:ea typeface="맑은 고딕"/>
                <a:cs typeface="맑은 고딕"/>
              </a:rPr>
              <a:t>정비할 시점과 작업</a:t>
            </a:r>
          </a:p>
        </p:txBody>
      </p:sp>
      <p:sp>
        <p:nvSpPr>
          <p:cNvPr id="28" name="Rounded Rectangle 27"/>
          <p:cNvSpPr/>
          <p:nvPr/>
        </p:nvSpPr>
        <p:spPr>
          <a:xfrm>
            <a:off x="8889796"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9" name="TextBox 28"/>
          <p:cNvSpPr txBox="1"/>
          <p:nvPr/>
        </p:nvSpPr>
        <p:spPr>
          <a:xfrm>
            <a:off x="8935516"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발주와 입고</a:t>
            </a:r>
          </a:p>
          <a:p>
            <a:pPr algn="ctr">
              <a:lnSpc>
                <a:spcPct val="110000"/>
              </a:lnSpc>
              <a:spcAft>
                <a:spcPts val="100"/>
              </a:spcAft>
            </a:pPr>
            <a:r>
              <a:rPr sz="1150" b="0">
                <a:solidFill>
                  <a:srgbClr val="556175"/>
                </a:solidFill>
                <a:latin typeface="맑은 고딕"/>
                <a:ea typeface="맑은 고딕"/>
                <a:cs typeface="맑은 고딕"/>
              </a:rPr>
              <a:t>수량, 공급사, 금액</a:t>
            </a:r>
          </a:p>
        </p:txBody>
      </p:sp>
      <p:cxnSp>
        <p:nvCxnSpPr>
          <p:cNvPr id="30" name="Connector 29"/>
          <p:cNvCxnSpPr/>
          <p:nvPr/>
        </p:nvCxnSpPr>
        <p:spPr>
          <a:xfrm>
            <a:off x="3301898" y="2516124"/>
            <a:ext cx="1508760" cy="0"/>
          </a:xfrm>
          <a:prstGeom prst="line">
            <a:avLst/>
          </a:prstGeom>
          <a:ln w="19050">
            <a:solidFill>
              <a:srgbClr val="13294B"/>
            </a:solidFill>
            <a:tailEnd type="triangle" w="med" len="med"/>
          </a:ln>
        </p:spPr>
      </p:cxnSp>
      <p:sp>
        <p:nvSpPr>
          <p:cNvPr id="31" name="TextBox 30"/>
          <p:cNvSpPr txBox="1"/>
          <p:nvPr/>
        </p:nvSpPr>
        <p:spPr>
          <a:xfrm>
            <a:off x="3164738" y="2223516"/>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운전원 승인</a:t>
            </a:r>
          </a:p>
        </p:txBody>
      </p:sp>
      <p:cxnSp>
        <p:nvCxnSpPr>
          <p:cNvPr id="32" name="Connector 31"/>
          <p:cNvCxnSpPr/>
          <p:nvPr/>
        </p:nvCxnSpPr>
        <p:spPr>
          <a:xfrm>
            <a:off x="3301898" y="4018788"/>
            <a:ext cx="1508760" cy="0"/>
          </a:xfrm>
          <a:prstGeom prst="line">
            <a:avLst/>
          </a:prstGeom>
          <a:ln w="19050">
            <a:solidFill>
              <a:srgbClr val="13294B"/>
            </a:solidFill>
            <a:tailEnd type="triangle" w="med" len="med"/>
          </a:ln>
        </p:spPr>
      </p:cxnSp>
      <p:sp>
        <p:nvSpPr>
          <p:cNvPr id="33" name="TextBox 32"/>
          <p:cNvSpPr txBox="1"/>
          <p:nvPr/>
        </p:nvSpPr>
        <p:spPr>
          <a:xfrm>
            <a:off x="3164738" y="3726180"/>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설비보전팀장 승인</a:t>
            </a:r>
          </a:p>
        </p:txBody>
      </p:sp>
      <p:cxnSp>
        <p:nvCxnSpPr>
          <p:cNvPr id="34" name="Connector 33"/>
          <p:cNvCxnSpPr/>
          <p:nvPr/>
        </p:nvCxnSpPr>
        <p:spPr>
          <a:xfrm>
            <a:off x="3301898" y="5521452"/>
            <a:ext cx="1508760" cy="0"/>
          </a:xfrm>
          <a:prstGeom prst="line">
            <a:avLst/>
          </a:prstGeom>
          <a:ln w="19050">
            <a:solidFill>
              <a:srgbClr val="13294B"/>
            </a:solidFill>
            <a:tailEnd type="triangle" w="med" len="med"/>
          </a:ln>
        </p:spPr>
      </p:cxnSp>
      <p:sp>
        <p:nvSpPr>
          <p:cNvPr id="35" name="TextBox 34"/>
          <p:cNvSpPr txBox="1"/>
          <p:nvPr/>
        </p:nvSpPr>
        <p:spPr>
          <a:xfrm>
            <a:off x="3164738" y="522884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구매 담당 승인</a:t>
            </a:r>
          </a:p>
        </p:txBody>
      </p:sp>
      <p:cxnSp>
        <p:nvCxnSpPr>
          <p:cNvPr id="36" name="Connector 35"/>
          <p:cNvCxnSpPr/>
          <p:nvPr/>
        </p:nvCxnSpPr>
        <p:spPr>
          <a:xfrm>
            <a:off x="7381036" y="2516124"/>
            <a:ext cx="1508760" cy="0"/>
          </a:xfrm>
          <a:prstGeom prst="line">
            <a:avLst/>
          </a:prstGeom>
          <a:ln w="19050">
            <a:solidFill>
              <a:srgbClr val="13294B"/>
            </a:solidFill>
            <a:tailEnd type="triangle" w="med" len="med"/>
          </a:ln>
        </p:spPr>
      </p:cxnSp>
      <p:sp>
        <p:nvSpPr>
          <p:cNvPr id="37" name="TextBox 36"/>
          <p:cNvSpPr txBox="1"/>
          <p:nvPr/>
        </p:nvSpPr>
        <p:spPr>
          <a:xfrm>
            <a:off x="7243876" y="2223516"/>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실행</a:t>
            </a:r>
          </a:p>
        </p:txBody>
      </p:sp>
      <p:cxnSp>
        <p:nvCxnSpPr>
          <p:cNvPr id="38" name="Connector 37"/>
          <p:cNvCxnSpPr/>
          <p:nvPr/>
        </p:nvCxnSpPr>
        <p:spPr>
          <a:xfrm>
            <a:off x="7381036" y="4018788"/>
            <a:ext cx="1508760" cy="0"/>
          </a:xfrm>
          <a:prstGeom prst="line">
            <a:avLst/>
          </a:prstGeom>
          <a:ln w="19050">
            <a:solidFill>
              <a:srgbClr val="13294B"/>
            </a:solidFill>
            <a:tailEnd type="triangle" w="med" len="med"/>
          </a:ln>
        </p:spPr>
      </p:cxnSp>
      <p:sp>
        <p:nvSpPr>
          <p:cNvPr id="39" name="TextBox 38"/>
          <p:cNvSpPr txBox="1"/>
          <p:nvPr/>
        </p:nvSpPr>
        <p:spPr>
          <a:xfrm>
            <a:off x="7243876" y="3726180"/>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실행</a:t>
            </a:r>
          </a:p>
        </p:txBody>
      </p:sp>
      <p:cxnSp>
        <p:nvCxnSpPr>
          <p:cNvPr id="40" name="Connector 39"/>
          <p:cNvCxnSpPr/>
          <p:nvPr/>
        </p:nvCxnSpPr>
        <p:spPr>
          <a:xfrm>
            <a:off x="7381036" y="5521452"/>
            <a:ext cx="1508760" cy="0"/>
          </a:xfrm>
          <a:prstGeom prst="line">
            <a:avLst/>
          </a:prstGeom>
          <a:ln w="19050">
            <a:solidFill>
              <a:srgbClr val="13294B"/>
            </a:solidFill>
            <a:tailEnd type="triangle" w="med" len="med"/>
          </a:ln>
        </p:spPr>
      </p:cxnSp>
      <p:sp>
        <p:nvSpPr>
          <p:cNvPr id="41" name="TextBox 40"/>
          <p:cNvSpPr txBox="1"/>
          <p:nvPr/>
        </p:nvSpPr>
        <p:spPr>
          <a:xfrm>
            <a:off x="7243876" y="522884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실행</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프로세스의 같은 뼈대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프로세스를 나란히 놓으면 에이전트의 제안, 사람의 승인과 거절, 시스템의 처리, 결과 보고라는 뼈대가 같다.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pic>
        <p:nvPicPr>
          <p:cNvPr id="6" name="삽화:세흐름_나란히.svg" descr="illust_4661136938804425910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346654" y="1745818"/>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같은 승인 블록</a:t>
            </a:r>
          </a:p>
        </p:txBody>
      </p:sp>
      <p:sp>
        <p:nvSpPr>
          <p:cNvPr id="8" name="TextBox 7"/>
          <p:cNvSpPr txBox="1"/>
          <p:nvPr/>
        </p:nvSpPr>
        <p:spPr>
          <a:xfrm>
            <a:off x="1732049" y="2171288"/>
            <a:ext cx="1265501"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조치 제안</a:t>
            </a:r>
          </a:p>
        </p:txBody>
      </p:sp>
      <p:sp>
        <p:nvSpPr>
          <p:cNvPr id="9" name="TextBox 8"/>
          <p:cNvSpPr txBox="1"/>
          <p:nvPr/>
        </p:nvSpPr>
        <p:spPr>
          <a:xfrm>
            <a:off x="3499387" y="2289474"/>
            <a:ext cx="1156406"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10" name="TextBox 9"/>
          <p:cNvSpPr txBox="1"/>
          <p:nvPr/>
        </p:nvSpPr>
        <p:spPr>
          <a:xfrm>
            <a:off x="5921295" y="2289474"/>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7154068" y="2289474"/>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2" name="TextBox 11"/>
          <p:cNvSpPr txBox="1"/>
          <p:nvPr/>
        </p:nvSpPr>
        <p:spPr>
          <a:xfrm>
            <a:off x="8386841" y="2171288"/>
            <a:ext cx="1047311"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3" name="TextBox 12"/>
          <p:cNvSpPr txBox="1"/>
          <p:nvPr/>
        </p:nvSpPr>
        <p:spPr>
          <a:xfrm>
            <a:off x="9630523" y="2289474"/>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732049" y="3778620"/>
            <a:ext cx="1265501"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계획 제안</a:t>
            </a:r>
          </a:p>
        </p:txBody>
      </p:sp>
      <p:sp>
        <p:nvSpPr>
          <p:cNvPr id="15" name="TextBox 14"/>
          <p:cNvSpPr txBox="1"/>
          <p:nvPr/>
        </p:nvSpPr>
        <p:spPr>
          <a:xfrm>
            <a:off x="3412111" y="3660434"/>
            <a:ext cx="137459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6" name="TextBox 15"/>
          <p:cNvSpPr txBox="1"/>
          <p:nvPr/>
        </p:nvSpPr>
        <p:spPr>
          <a:xfrm>
            <a:off x="5834019" y="3660434"/>
            <a:ext cx="1221863"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오더와 공지</a:t>
            </a:r>
          </a:p>
        </p:txBody>
      </p:sp>
      <p:sp>
        <p:nvSpPr>
          <p:cNvPr id="17" name="TextBox 16"/>
          <p:cNvSpPr txBox="1"/>
          <p:nvPr/>
        </p:nvSpPr>
        <p:spPr>
          <a:xfrm>
            <a:off x="7154068" y="3778620"/>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8" name="TextBox 17"/>
          <p:cNvSpPr txBox="1"/>
          <p:nvPr/>
        </p:nvSpPr>
        <p:spPr>
          <a:xfrm>
            <a:off x="1732049" y="5267766"/>
            <a:ext cx="126550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발주안 제안</a:t>
            </a:r>
          </a:p>
        </p:txBody>
      </p:sp>
      <p:sp>
        <p:nvSpPr>
          <p:cNvPr id="19" name="TextBox 18"/>
          <p:cNvSpPr txBox="1"/>
          <p:nvPr/>
        </p:nvSpPr>
        <p:spPr>
          <a:xfrm>
            <a:off x="3521206" y="5149580"/>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구매 담당 승인</a:t>
            </a:r>
          </a:p>
        </p:txBody>
      </p:sp>
      <p:sp>
        <p:nvSpPr>
          <p:cNvPr id="20" name="TextBox 19"/>
          <p:cNvSpPr txBox="1"/>
          <p:nvPr/>
        </p:nvSpPr>
        <p:spPr>
          <a:xfrm>
            <a:off x="5834019" y="5149580"/>
            <a:ext cx="1221863"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ERP 발주와 통지</a:t>
            </a:r>
          </a:p>
        </p:txBody>
      </p:sp>
      <p:sp>
        <p:nvSpPr>
          <p:cNvPr id="21" name="TextBox 20"/>
          <p:cNvSpPr txBox="1"/>
          <p:nvPr/>
        </p:nvSpPr>
        <p:spPr>
          <a:xfrm>
            <a:off x="7066792" y="5149580"/>
            <a:ext cx="1221863"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입고와 재고 반영</a:t>
            </a:r>
          </a:p>
        </p:txBody>
      </p:sp>
      <p:sp>
        <p:nvSpPr>
          <p:cNvPr id="22" name="TextBox 21"/>
          <p:cNvSpPr txBox="1"/>
          <p:nvPr/>
        </p:nvSpPr>
        <p:spPr>
          <a:xfrm>
            <a:off x="8386841" y="5267766"/>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패턴: 되풀이되는 문제에 다시 쓰는 검증된 구조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되풀이되는 설계 문제를 한 번 풀어 검증해 둔 구조를 패턴이라 하며, 승인을 받는 자리의 요소 묶음이 그 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패턴</a:t>
            </a:r>
          </a:p>
          <a:p>
            <a:pPr algn="l">
              <a:lnSpc>
                <a:spcPct val="110000"/>
              </a:lnSpc>
              <a:spcAft>
                <a:spcPts val="200"/>
              </a:spcAft>
            </a:pPr>
            <a:r>
              <a:rPr sz="1150" b="0">
                <a:solidFill>
                  <a:srgbClr val="556175"/>
                </a:solidFill>
                <a:latin typeface="맑은 고딕"/>
                <a:ea typeface="맑은 고딕"/>
                <a:cs typeface="맑은 고딕"/>
              </a:rPr>
              <a:t>Pattern</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여러 곳에서 되풀이되는 설계 문제에 다시 쓸 수 있게 다듬어 둔 구조이다.</a:t>
            </a:r>
          </a:p>
          <a:p>
            <a:pPr algn="l">
              <a:lnSpc>
                <a:spcPct val="110000"/>
              </a:lnSpc>
              <a:spcAft>
                <a:spcPts val="300"/>
              </a:spcAft>
            </a:pPr>
            <a:r>
              <a:rPr sz="1400" b="0">
                <a:solidFill>
                  <a:srgbClr val="1F2A3A"/>
                </a:solidFill>
                <a:latin typeface="맑은 고딕"/>
                <a:ea typeface="맑은 고딕"/>
                <a:cs typeface="맑은 고딕"/>
              </a:rPr>
              <a:t>새 프로세스는 패턴을 가져와 달라지는 부분만 정한다.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승인 블록</a:t>
            </a:r>
          </a:p>
          <a:p>
            <a:pPr algn="l">
              <a:lnSpc>
                <a:spcPct val="110000"/>
              </a:lnSpc>
              <a:spcAft>
                <a:spcPts val="200"/>
              </a:spcAft>
            </a:pPr>
            <a:r>
              <a:rPr sz="1150" b="0">
                <a:solidFill>
                  <a:srgbClr val="556175"/>
                </a:solidFill>
                <a:latin typeface="맑은 고딕"/>
                <a:ea typeface="맑은 고딕"/>
                <a:cs typeface="맑은 고딕"/>
              </a:rPr>
              <a:t>승인의 패턴</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승인 작업, 승인과 거절의 갈림, 승인 지연 타이머와 알림, 거절의 결과 보고와 끝 이벤트를 묶은 것이다.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재사용</a:t>
            </a:r>
          </a:p>
          <a:p>
            <a:pPr algn="l">
              <a:lnSpc>
                <a:spcPct val="110000"/>
              </a:lnSpc>
              <a:spcAft>
                <a:spcPts val="200"/>
              </a:spcAft>
            </a:pPr>
            <a:r>
              <a:rPr sz="1150" b="0">
                <a:solidFill>
                  <a:srgbClr val="556175"/>
                </a:solidFill>
                <a:latin typeface="맑은 고딕"/>
                <a:ea typeface="맑은 고딕"/>
                <a:cs typeface="맑은 고딕"/>
              </a:rPr>
              <a:t>Reuse</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검증된 구조를 고치지 않고 다른 프로세스에 다시 쓰는 일이다.</a:t>
            </a:r>
          </a:p>
          <a:p>
            <a:pPr algn="l">
              <a:lnSpc>
                <a:spcPct val="110000"/>
              </a:lnSpc>
              <a:spcAft>
                <a:spcPts val="300"/>
              </a:spcAft>
            </a:pPr>
            <a:r>
              <a:rPr sz="1400" b="0">
                <a:solidFill>
                  <a:srgbClr val="1F2A3A"/>
                </a:solidFill>
                <a:latin typeface="맑은 고딕"/>
                <a:ea typeface="맑은 고딕"/>
                <a:cs typeface="맑은 고딕"/>
              </a:rPr>
              <a:t>한 번 확인한 예외 경로가 새 프로세스에도 그대로 들어간다.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블록: 같은 일곱 요소와 바뀌는 두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블록은 요소 일곱 개와 기한과 갈림의 조건이 세 프로세스에서 같고, 승인 역할과 승인 뒤의 첫 작업만 바뀐다.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pic>
        <p:nvPicPr>
          <p:cNvPr id="6" name="삽화:승인블록_자리.svg" descr="illust_4040680530659008127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53846" y="2809494"/>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제안 작업</a:t>
            </a:r>
          </a:p>
        </p:txBody>
      </p:sp>
      <p:sp>
        <p:nvSpPr>
          <p:cNvPr id="8" name="TextBox 7"/>
          <p:cNvSpPr txBox="1"/>
          <p:nvPr/>
        </p:nvSpPr>
        <p:spPr>
          <a:xfrm>
            <a:off x="3859401" y="2714945"/>
            <a:ext cx="141823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작업</a:t>
            </a:r>
          </a:p>
          <a:p>
            <a:pPr algn="ctr">
              <a:lnSpc>
                <a:spcPct val="110000"/>
              </a:lnSpc>
              <a:spcAft>
                <a:spcPts val="100"/>
              </a:spcAft>
            </a:pPr>
            <a:r>
              <a:rPr sz="1100" b="0">
                <a:solidFill>
                  <a:srgbClr val="556175"/>
                </a:solidFill>
                <a:latin typeface="맑은 고딕"/>
                <a:ea typeface="맑은 고딕"/>
                <a:cs typeface="맑은 고딕"/>
              </a:rPr>
              <a:t>T_approve</a:t>
            </a:r>
          </a:p>
        </p:txBody>
      </p:sp>
      <p:sp>
        <p:nvSpPr>
          <p:cNvPr id="9" name="TextBox 8"/>
          <p:cNvSpPr txBox="1"/>
          <p:nvPr/>
        </p:nvSpPr>
        <p:spPr>
          <a:xfrm>
            <a:off x="6586774" y="181672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a:p>
            <a:pPr algn="ctr">
              <a:lnSpc>
                <a:spcPct val="110000"/>
              </a:lnSpc>
              <a:spcAft>
                <a:spcPts val="100"/>
              </a:spcAft>
            </a:pPr>
            <a:r>
              <a:rPr sz="1100" b="0">
                <a:solidFill>
                  <a:srgbClr val="556175"/>
                </a:solidFill>
                <a:latin typeface="맑은 고딕"/>
                <a:ea typeface="맑은 고딕"/>
                <a:cs typeface="맑은 고딕"/>
              </a:rPr>
              <a:t>G_approved</a:t>
            </a:r>
          </a:p>
        </p:txBody>
      </p:sp>
      <p:sp>
        <p:nvSpPr>
          <p:cNvPr id="10" name="TextBox 9"/>
          <p:cNvSpPr txBox="1"/>
          <p:nvPr/>
        </p:nvSpPr>
        <p:spPr>
          <a:xfrm>
            <a:off x="8899587" y="2644033"/>
            <a:ext cx="1854614"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뒤의 첫 작업</a:t>
            </a:r>
          </a:p>
          <a:p>
            <a:pPr algn="ctr">
              <a:lnSpc>
                <a:spcPct val="110000"/>
              </a:lnSpc>
              <a:spcAft>
                <a:spcPts val="100"/>
              </a:spcAft>
            </a:pPr>
            <a:r>
              <a:rPr sz="1100" b="0">
                <a:solidFill>
                  <a:srgbClr val="556175"/>
                </a:solidFill>
                <a:latin typeface="맑은 고딕"/>
                <a:ea typeface="맑은 고딕"/>
                <a:cs typeface="맑은 고딕"/>
              </a:rPr>
              <a:t>냉각 명령 · 정비 오더 · 발주</a:t>
            </a:r>
          </a:p>
        </p:txBody>
      </p:sp>
      <p:sp>
        <p:nvSpPr>
          <p:cNvPr id="11" name="TextBox 10"/>
          <p:cNvSpPr txBox="1"/>
          <p:nvPr/>
        </p:nvSpPr>
        <p:spPr>
          <a:xfrm>
            <a:off x="8114104" y="5007757"/>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a:p>
            <a:pPr algn="ctr">
              <a:lnSpc>
                <a:spcPct val="110000"/>
              </a:lnSpc>
              <a:spcAft>
                <a:spcPts val="100"/>
              </a:spcAft>
            </a:pPr>
            <a:r>
              <a:rPr sz="1100" b="0">
                <a:solidFill>
                  <a:srgbClr val="556175"/>
                </a:solidFill>
                <a:latin typeface="맑은 고딕"/>
                <a:ea typeface="맑은 고딕"/>
                <a:cs typeface="맑은 고딕"/>
              </a:rPr>
              <a:t>R_rejected</a:t>
            </a:r>
          </a:p>
        </p:txBody>
      </p:sp>
      <p:sp>
        <p:nvSpPr>
          <p:cNvPr id="12" name="TextBox 11"/>
          <p:cNvSpPr txBox="1"/>
          <p:nvPr/>
        </p:nvSpPr>
        <p:spPr>
          <a:xfrm>
            <a:off x="2659356" y="5007757"/>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a:p>
            <a:pPr algn="ctr">
              <a:lnSpc>
                <a:spcPct val="110000"/>
              </a:lnSpc>
              <a:spcAft>
                <a:spcPts val="100"/>
              </a:spcAft>
            </a:pPr>
            <a:r>
              <a:rPr sz="1100" b="0">
                <a:solidFill>
                  <a:srgbClr val="556175"/>
                </a:solidFill>
                <a:latin typeface="맑은 고딕"/>
                <a:ea typeface="맑은 고딕"/>
                <a:cs typeface="맑은 고딕"/>
              </a:rPr>
              <a:t>T_notice</a:t>
            </a:r>
          </a:p>
        </p:txBody>
      </p:sp>
      <p:sp>
        <p:nvSpPr>
          <p:cNvPr id="13" name="TextBox 12"/>
          <p:cNvSpPr txBox="1"/>
          <p:nvPr/>
        </p:nvSpPr>
        <p:spPr>
          <a:xfrm>
            <a:off x="5419458" y="3754983"/>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a:p>
            <a:pPr algn="ctr">
              <a:lnSpc>
                <a:spcPct val="110000"/>
              </a:lnSpc>
              <a:spcAft>
                <a:spcPts val="100"/>
              </a:spcAft>
            </a:pPr>
            <a:r>
              <a:rPr sz="1100" b="0">
                <a:solidFill>
                  <a:srgbClr val="556175"/>
                </a:solidFill>
                <a:latin typeface="맑은 고딕"/>
                <a:ea typeface="맑은 고딕"/>
                <a:cs typeface="맑은 고딕"/>
              </a:rPr>
              <a:t>B_overdue · 10분</a:t>
            </a:r>
          </a:p>
        </p:txBody>
      </p:sp>
      <p:sp>
        <p:nvSpPr>
          <p:cNvPr id="14" name="TextBox 13"/>
          <p:cNvSpPr txBox="1"/>
          <p:nvPr/>
        </p:nvSpPr>
        <p:spPr>
          <a:xfrm>
            <a:off x="7732271" y="264403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5" name="TextBox 14"/>
          <p:cNvSpPr txBox="1"/>
          <p:nvPr/>
        </p:nvSpPr>
        <p:spPr>
          <a:xfrm>
            <a:off x="7350439" y="3093140"/>
            <a:ext cx="163642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approval == '승인'</a:t>
            </a:r>
          </a:p>
        </p:txBody>
      </p:sp>
      <p:sp>
        <p:nvSpPr>
          <p:cNvPr id="16" name="TextBox 15"/>
          <p:cNvSpPr txBox="1"/>
          <p:nvPr/>
        </p:nvSpPr>
        <p:spPr>
          <a:xfrm>
            <a:off x="7077702" y="4227728"/>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a:t>
            </a:r>
          </a:p>
        </p:txBody>
      </p:sp>
      <p:sp>
        <p:nvSpPr>
          <p:cNvPr id="17" name="TextBox 16"/>
          <p:cNvSpPr txBox="1"/>
          <p:nvPr/>
        </p:nvSpPr>
        <p:spPr>
          <a:xfrm>
            <a:off x="10405098" y="5598688"/>
            <a:ext cx="109094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a:p>
            <a:pPr algn="ctr">
              <a:lnSpc>
                <a:spcPct val="110000"/>
              </a:lnSpc>
              <a:spcAft>
                <a:spcPts val="100"/>
              </a:spcAft>
            </a:pPr>
            <a:r>
              <a:rPr sz="1100" b="0">
                <a:solidFill>
                  <a:srgbClr val="556175"/>
                </a:solidFill>
                <a:latin typeface="맑은 고딕"/>
                <a:ea typeface="맑은 고딕"/>
                <a:cs typeface="맑은 고딕"/>
              </a:rPr>
              <a:t>E_rejected</a:t>
            </a:r>
          </a:p>
        </p:txBody>
      </p:sp>
      <p:sp>
        <p:nvSpPr>
          <p:cNvPr id="18" name="TextBox 17"/>
          <p:cNvSpPr txBox="1"/>
          <p:nvPr/>
        </p:nvSpPr>
        <p:spPr>
          <a:xfrm>
            <a:off x="935656" y="5598688"/>
            <a:ext cx="87275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a:p>
            <a:pPr algn="ctr">
              <a:lnSpc>
                <a:spcPct val="110000"/>
              </a:lnSpc>
              <a:spcAft>
                <a:spcPts val="100"/>
              </a:spcAft>
            </a:pPr>
            <a:r>
              <a:rPr sz="1100" b="0">
                <a:solidFill>
                  <a:srgbClr val="556175"/>
                </a:solidFill>
                <a:latin typeface="맑은 고딕"/>
                <a:ea typeface="맑은 고딕"/>
                <a:cs typeface="맑은 고딕"/>
              </a:rPr>
              <a:t>E_notice</a:t>
            </a:r>
          </a:p>
        </p:txBody>
      </p:sp>
      <p:sp>
        <p:nvSpPr>
          <p:cNvPr id="19" name="TextBox 18"/>
          <p:cNvSpPr txBox="1"/>
          <p:nvPr/>
        </p:nvSpPr>
        <p:spPr>
          <a:xfrm>
            <a:off x="2932094" y="1627632"/>
            <a:ext cx="327284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역할</a:t>
            </a:r>
          </a:p>
          <a:p>
            <a:pPr algn="ctr">
              <a:lnSpc>
                <a:spcPct val="110000"/>
              </a:lnSpc>
              <a:spcAft>
                <a:spcPts val="100"/>
              </a:spcAft>
            </a:pPr>
            <a:r>
              <a:rPr sz="1100" b="0">
                <a:solidFill>
                  <a:srgbClr val="556175"/>
                </a:solidFill>
                <a:latin typeface="맑은 고딕"/>
                <a:ea typeface="맑은 고딕"/>
                <a:cs typeface="맑은 고딕"/>
              </a:rPr>
              <a:t>운전원 · 설비보전팀장 · 구매 담당</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 프로세스는 승인 블록을 그대로 쓰고, 시작 이벤트와 제안 작업과 승인 뒤의 작업 둘만 새로 그린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흐름_정기점검.svg" descr="illust_3373005224875698814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담당자</a:t>
            </a:r>
          </a:p>
        </p:txBody>
      </p:sp>
      <p:sp>
        <p:nvSpPr>
          <p:cNvPr id="8" name="TextBox 7"/>
          <p:cNvSpPr txBox="1"/>
          <p:nvPr/>
        </p:nvSpPr>
        <p:spPr>
          <a:xfrm>
            <a:off x="695647" y="328223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9" name="TextBox 8"/>
          <p:cNvSpPr txBox="1"/>
          <p:nvPr/>
        </p:nvSpPr>
        <p:spPr>
          <a:xfrm>
            <a:off x="695647" y="512594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415674" y="3499701"/>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정기 점검 요청</a:t>
            </a:r>
          </a:p>
        </p:txBody>
      </p:sp>
      <p:sp>
        <p:nvSpPr>
          <p:cNvPr id="11" name="TextBox 10"/>
          <p:cNvSpPr txBox="1"/>
          <p:nvPr/>
        </p:nvSpPr>
        <p:spPr>
          <a:xfrm>
            <a:off x="2282979" y="3022229"/>
            <a:ext cx="1352777"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계획 제안</a:t>
            </a:r>
          </a:p>
        </p:txBody>
      </p:sp>
      <p:sp>
        <p:nvSpPr>
          <p:cNvPr id="12" name="TextBox 11"/>
          <p:cNvSpPr txBox="1"/>
          <p:nvPr/>
        </p:nvSpPr>
        <p:spPr>
          <a:xfrm>
            <a:off x="3444840" y="1840367"/>
            <a:ext cx="1330958"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3" name="TextBox 12"/>
          <p:cNvSpPr txBox="1"/>
          <p:nvPr/>
        </p:nvSpPr>
        <p:spPr>
          <a:xfrm>
            <a:off x="4808527" y="1651269"/>
            <a:ext cx="76366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23065" y="4085904"/>
            <a:ext cx="130913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오더 · 공지 메일</a:t>
            </a:r>
          </a:p>
        </p:txBody>
      </p:sp>
      <p:sp>
        <p:nvSpPr>
          <p:cNvPr id="16" name="TextBox 15"/>
          <p:cNvSpPr txBox="1"/>
          <p:nvPr/>
        </p:nvSpPr>
        <p:spPr>
          <a:xfrm>
            <a:off x="7088611"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7" name="TextBox 16"/>
          <p:cNvSpPr txBox="1"/>
          <p:nvPr/>
        </p:nvSpPr>
        <p:spPr>
          <a:xfrm>
            <a:off x="9455972" y="3825895"/>
            <a:ext cx="54547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8" name="TextBox 17"/>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19" name="TextBox 18"/>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20" name="TextBox 19"/>
          <p:cNvSpPr txBox="1"/>
          <p:nvPr/>
        </p:nvSpPr>
        <p:spPr>
          <a:xfrm>
            <a:off x="6204942" y="5882335"/>
            <a:ext cx="98185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p:txBody>
      </p:sp>
      <p:sp>
        <p:nvSpPr>
          <p:cNvPr id="21" name="TextBox 20"/>
          <p:cNvSpPr txBox="1"/>
          <p:nvPr/>
        </p:nvSpPr>
        <p:spPr>
          <a:xfrm>
            <a:off x="3510297" y="5882335"/>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p:txBody>
      </p:sp>
      <p:sp>
        <p:nvSpPr>
          <p:cNvPr id="22" name="TextBox 21"/>
          <p:cNvSpPr txBox="1"/>
          <p:nvPr/>
        </p:nvSpPr>
        <p:spPr>
          <a:xfrm>
            <a:off x="7623176" y="4842296"/>
            <a:ext cx="3491038"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새로 그린 것</a:t>
            </a:r>
          </a:p>
          <a:p>
            <a:pPr algn="ctr">
              <a:lnSpc>
                <a:spcPct val="110000"/>
              </a:lnSpc>
              <a:spcAft>
                <a:spcPts val="100"/>
              </a:spcAft>
            </a:pPr>
            <a:r>
              <a:rPr sz="1100" b="0">
                <a:solidFill>
                  <a:srgbClr val="556175"/>
                </a:solidFill>
                <a:latin typeface="맑은 고딕"/>
                <a:ea typeface="맑은 고딕"/>
                <a:cs typeface="맑은 고딕"/>
              </a:rPr>
              <a:t>시작 이벤트, 정비 계획 제안, 정비 오더 등록 · 공지 메일, 결과 보고</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 프로세스도 같은 승인 블록 뒤에 발주, 입고와 재고 반영, 결과 보고의 세 작업을 이어 작업 일곱으로 완성된다.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흐름_재고보충.svg" descr="illust_6016396477062377080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담당자</a:t>
            </a:r>
          </a:p>
        </p:txBody>
      </p:sp>
      <p:sp>
        <p:nvSpPr>
          <p:cNvPr id="8" name="TextBox 7"/>
          <p:cNvSpPr txBox="1"/>
          <p:nvPr/>
        </p:nvSpPr>
        <p:spPr>
          <a:xfrm>
            <a:off x="695647" y="328223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9" name="TextBox 8"/>
          <p:cNvSpPr txBox="1"/>
          <p:nvPr/>
        </p:nvSpPr>
        <p:spPr>
          <a:xfrm>
            <a:off x="695647" y="512594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415674" y="3499701"/>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재고 보충 요청</a:t>
            </a:r>
          </a:p>
        </p:txBody>
      </p:sp>
      <p:sp>
        <p:nvSpPr>
          <p:cNvPr id="11" name="TextBox 10"/>
          <p:cNvSpPr txBox="1"/>
          <p:nvPr/>
        </p:nvSpPr>
        <p:spPr>
          <a:xfrm>
            <a:off x="2282979" y="3022229"/>
            <a:ext cx="1352777"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발주안 제안</a:t>
            </a:r>
          </a:p>
        </p:txBody>
      </p:sp>
      <p:sp>
        <p:nvSpPr>
          <p:cNvPr id="12" name="TextBox 11"/>
          <p:cNvSpPr txBox="1"/>
          <p:nvPr/>
        </p:nvSpPr>
        <p:spPr>
          <a:xfrm>
            <a:off x="3444840" y="2015282"/>
            <a:ext cx="133095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구매 담당 승인</a:t>
            </a:r>
          </a:p>
        </p:txBody>
      </p:sp>
      <p:sp>
        <p:nvSpPr>
          <p:cNvPr id="13" name="TextBox 12"/>
          <p:cNvSpPr txBox="1"/>
          <p:nvPr/>
        </p:nvSpPr>
        <p:spPr>
          <a:xfrm>
            <a:off x="4808527" y="1651269"/>
            <a:ext cx="76366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23065" y="4085904"/>
            <a:ext cx="130913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ERP 발주 · 공급사 메일</a:t>
            </a:r>
          </a:p>
        </p:txBody>
      </p:sp>
      <p:sp>
        <p:nvSpPr>
          <p:cNvPr id="16" name="TextBox 15"/>
          <p:cNvSpPr txBox="1"/>
          <p:nvPr/>
        </p:nvSpPr>
        <p:spPr>
          <a:xfrm>
            <a:off x="6728598" y="419936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입고 · 재고 반영</a:t>
            </a:r>
          </a:p>
        </p:txBody>
      </p:sp>
      <p:sp>
        <p:nvSpPr>
          <p:cNvPr id="17" name="TextBox 16"/>
          <p:cNvSpPr txBox="1"/>
          <p:nvPr/>
        </p:nvSpPr>
        <p:spPr>
          <a:xfrm>
            <a:off x="8725035"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8" name="TextBox 17"/>
          <p:cNvSpPr txBox="1"/>
          <p:nvPr/>
        </p:nvSpPr>
        <p:spPr>
          <a:xfrm>
            <a:off x="10645107" y="3825895"/>
            <a:ext cx="54547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9" name="TextBox 18"/>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20" name="TextBox 19"/>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21" name="TextBox 20"/>
          <p:cNvSpPr txBox="1"/>
          <p:nvPr/>
        </p:nvSpPr>
        <p:spPr>
          <a:xfrm>
            <a:off x="6204942" y="5882335"/>
            <a:ext cx="98185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p:txBody>
      </p:sp>
      <p:sp>
        <p:nvSpPr>
          <p:cNvPr id="22" name="TextBox 21"/>
          <p:cNvSpPr txBox="1"/>
          <p:nvPr/>
        </p:nvSpPr>
        <p:spPr>
          <a:xfrm>
            <a:off x="3510297" y="5882335"/>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구조로 남기는 것과 값으로 정하는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변하지 않는 순서와 예외 경로는 그림의 구조로 남기고, 업무마다 변하는 것은 그림을 연결할 때 넣는 값으로 빼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sitemap" descr="sitemap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그림의 구조</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제안, 승인 또는 거절, 처리, 결과 보고의 순서</a:t>
            </a:r>
          </a:p>
          <a:p>
            <a:pPr algn="l">
              <a:lnSpc>
                <a:spcPct val="110000"/>
              </a:lnSpc>
              <a:spcAft>
                <a:spcPts val="600"/>
              </a:spcAft>
            </a:pPr>
            <a:r>
              <a:rPr sz="1450" b="0">
                <a:solidFill>
                  <a:srgbClr val="1F2A3A"/>
                </a:solidFill>
                <a:latin typeface="맑은 고딕"/>
                <a:ea typeface="맑은 고딕"/>
                <a:cs typeface="맑은 고딕"/>
              </a:rPr>
              <a:t>• 승인 블록의 일곱 요소</a:t>
            </a:r>
          </a:p>
          <a:p>
            <a:pPr algn="l">
              <a:lnSpc>
                <a:spcPct val="110000"/>
              </a:lnSpc>
              <a:spcAft>
                <a:spcPts val="600"/>
              </a:spcAft>
            </a:pPr>
            <a:r>
              <a:rPr sz="1450" b="0">
                <a:solidFill>
                  <a:srgbClr val="1F2A3A"/>
                </a:solidFill>
                <a:latin typeface="맑은 고딕"/>
                <a:ea typeface="맑은 고딕"/>
                <a:cs typeface="맑은 고딕"/>
              </a:rPr>
              <a:t>• 거절과 무응답의 경로</a:t>
            </a:r>
          </a:p>
        </p:txBody>
      </p:sp>
      <p:sp>
        <p:nvSpPr>
          <p:cNvPr id="11" name="Rounded Rectangle 10"/>
          <p:cNvSpPr/>
          <p:nvPr/>
        </p:nvSpPr>
        <p:spPr>
          <a:xfrm>
            <a:off x="868680" y="5096002"/>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변하지 않는다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pencil" descr="pencil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연결할 때 넣는 값</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프로세스를 여는 경보 패턴</a:t>
            </a:r>
          </a:p>
          <a:p>
            <a:pPr algn="l">
              <a:lnSpc>
                <a:spcPct val="110000"/>
              </a:lnSpc>
              <a:spcAft>
                <a:spcPts val="600"/>
              </a:spcAft>
            </a:pPr>
            <a:r>
              <a:rPr sz="1450" b="0">
                <a:solidFill>
                  <a:srgbClr val="1F2A3A"/>
                </a:solidFill>
                <a:latin typeface="맑은 고딕"/>
                <a:ea typeface="맑은 고딕"/>
                <a:cs typeface="맑은 고딕"/>
              </a:rPr>
              <a:t>• 제안 작업을 맡을 에이전트와 지시문</a:t>
            </a:r>
          </a:p>
          <a:p>
            <a:pPr algn="l">
              <a:lnSpc>
                <a:spcPct val="110000"/>
              </a:lnSpc>
              <a:spcAft>
                <a:spcPts val="600"/>
              </a:spcAft>
            </a:pPr>
            <a:r>
              <a:rPr sz="1450" b="0">
                <a:solidFill>
                  <a:srgbClr val="1F2A3A"/>
                </a:solidFill>
                <a:latin typeface="맑은 고딕"/>
                <a:ea typeface="맑은 고딕"/>
                <a:cs typeface="맑은 고딕"/>
              </a:rPr>
              <a:t>• 승인 역할</a:t>
            </a:r>
          </a:p>
          <a:p>
            <a:pPr algn="l">
              <a:lnSpc>
                <a:spcPct val="110000"/>
              </a:lnSpc>
              <a:spcAft>
                <a:spcPts val="600"/>
              </a:spcAft>
            </a:pPr>
            <a:r>
              <a:rPr sz="1450" b="0">
                <a:solidFill>
                  <a:srgbClr val="1F2A3A"/>
                </a:solidFill>
                <a:latin typeface="맑은 고딕"/>
                <a:ea typeface="맑은 고딕"/>
                <a:cs typeface="맑은 고딕"/>
              </a:rPr>
              <a:t>• 승인 뒤의 작업이 부를 시스템과 메일의 내용</a:t>
            </a:r>
          </a:p>
        </p:txBody>
      </p:sp>
      <p:sp>
        <p:nvSpPr>
          <p:cNvPr id="18" name="Rounded Rectangle 17"/>
          <p:cNvSpPr/>
          <p:nvPr/>
        </p:nvSpPr>
        <p:spPr>
          <a:xfrm>
            <a:off x="6781647" y="5096002"/>
            <a:ext cx="14782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업무마다 다르다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거절 경로의 설계: 하지 않은 일을 밝히는 결과 보고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거절하면 처리 건은 닫혀도 점검 도래와 재고 부족은 그대로 남으므로, 거절의 결과 보고는 하지 않은 일을 밝혀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프로세스</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거절했을 때의 결과 보고</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닫힌 뒤의 상태</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긴급 대응</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명령은 내지 않았습니다」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조치가</a:t>
            </a:r>
          </a:p>
          <a:p>
            <a:pPr algn="l">
              <a:lnSpc>
                <a:spcPct val="110000"/>
              </a:lnSpc>
            </a:pPr>
            <a:r>
              <a:rPr sz="1250" b="1">
                <a:solidFill>
                  <a:srgbClr val="556175"/>
                </a:solidFill>
                <a:latin typeface="맑은 고딕"/>
                <a:ea typeface="맑은 고딕"/>
                <a:cs typeface="맑은 고딕"/>
              </a:rPr>
              <a:t>이루어지지 않았다</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정기 점검</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「정비 오더를 내지 않았습니다」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정기 점검 도래</a:t>
            </a:r>
          </a:p>
          <a:p>
            <a:pPr algn="l">
              <a:lnSpc>
                <a:spcPct val="110000"/>
              </a:lnSpc>
            </a:pPr>
            <a:r>
              <a:rPr sz="1250" b="1">
                <a:solidFill>
                  <a:srgbClr val="556175"/>
                </a:solidFill>
                <a:latin typeface="맑은 고딕"/>
                <a:ea typeface="맑은 고딕"/>
                <a:cs typeface="맑은 고딕"/>
              </a:rPr>
              <a:t>표시가 남는다</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재고 보충</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「발주하지 않았습니다」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재고 보충 필요</a:t>
            </a:r>
          </a:p>
          <a:p>
            <a:pPr algn="l">
              <a:lnSpc>
                <a:spcPct val="110000"/>
              </a:lnSpc>
            </a:pPr>
            <a:r>
              <a:rPr sz="1250" b="1">
                <a:solidFill>
                  <a:srgbClr val="1A6FC4"/>
                </a:solidFill>
                <a:latin typeface="맑은 고딕"/>
                <a:ea typeface="맑은 고딕"/>
                <a:cs typeface="맑은 고딕"/>
              </a:rPr>
              <a:t>표시가 남는다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타이머의 설계: 끊을 것인가, 알리기만 할 것인가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응답이 없을 때 승인을 끊지 않고 알리기만 하도록 설계하면, 결정은 끝까지 승인자에게 남고 처리 건은 닫히지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ban" descr="ban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중단형으로 설계하면</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기한이 지나면 승인 작업이 끊긴다</a:t>
            </a:r>
          </a:p>
          <a:p>
            <a:pPr algn="l">
              <a:lnSpc>
                <a:spcPct val="110000"/>
              </a:lnSpc>
              <a:spcAft>
                <a:spcPts val="600"/>
              </a:spcAft>
            </a:pPr>
            <a:r>
              <a:rPr sz="1450" b="0">
                <a:solidFill>
                  <a:srgbClr val="1F2A3A"/>
                </a:solidFill>
                <a:latin typeface="맑은 고딕"/>
                <a:ea typeface="맑은 고딕"/>
                <a:cs typeface="맑은 고딕"/>
              </a:rPr>
              <a:t>• 타이머의 가지가 그 뒤를 대신 정한다</a:t>
            </a:r>
          </a:p>
          <a:p>
            <a:pPr algn="l">
              <a:lnSpc>
                <a:spcPct val="110000"/>
              </a:lnSpc>
              <a:spcAft>
                <a:spcPts val="600"/>
              </a:spcAft>
            </a:pPr>
            <a:r>
              <a:rPr sz="1450" b="0">
                <a:solidFill>
                  <a:srgbClr val="1F2A3A"/>
                </a:solidFill>
                <a:latin typeface="맑은 고딕"/>
                <a:ea typeface="맑은 고딕"/>
                <a:cs typeface="맑은 고딕"/>
              </a:rPr>
              <a:t>• 승인자가 결정하지 않은 채 흐름이 넘어간다</a:t>
            </a:r>
          </a:p>
        </p:txBody>
      </p:sp>
      <p:sp>
        <p:nvSpPr>
          <p:cNvPr id="11" name="Rounded Rectangle 10"/>
          <p:cNvSpPr/>
          <p:nvPr/>
        </p:nvSpPr>
        <p:spPr>
          <a:xfrm>
            <a:off x="868680" y="5096002"/>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실선 타이머</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bell-ringing" descr="bell-ringing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비중단형으로 설계하면</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기한이 지나면 승인 지연 알림만 나간다</a:t>
            </a:r>
          </a:p>
          <a:p>
            <a:pPr algn="l">
              <a:lnSpc>
                <a:spcPct val="110000"/>
              </a:lnSpc>
              <a:spcAft>
                <a:spcPts val="600"/>
              </a:spcAft>
            </a:pPr>
            <a:r>
              <a:rPr sz="1450" b="0">
                <a:solidFill>
                  <a:srgbClr val="1F2A3A"/>
                </a:solidFill>
                <a:latin typeface="맑은 고딕"/>
                <a:ea typeface="맑은 고딕"/>
                <a:cs typeface="맑은 고딕"/>
              </a:rPr>
              <a:t>• 승인 작업은 열린 채로 기다린다</a:t>
            </a:r>
          </a:p>
          <a:p>
            <a:pPr algn="l">
              <a:lnSpc>
                <a:spcPct val="110000"/>
              </a:lnSpc>
              <a:spcAft>
                <a:spcPts val="600"/>
              </a:spcAft>
            </a:pPr>
            <a:r>
              <a:rPr sz="1450" b="0">
                <a:solidFill>
                  <a:srgbClr val="1F2A3A"/>
                </a:solidFill>
                <a:latin typeface="맑은 고딕"/>
                <a:ea typeface="맑은 고딕"/>
                <a:cs typeface="맑은 고딕"/>
              </a:rPr>
              <a:t>• 세 프로세스의 승인 지연이 이 방식이며 기한은 10분(PT10M)이다</a:t>
            </a:r>
          </a:p>
        </p:txBody>
      </p:sp>
      <p:sp>
        <p:nvSpPr>
          <p:cNvPr id="18" name="Rounded Rectangle 17"/>
          <p:cNvSpPr/>
          <p:nvPr/>
        </p:nvSpPr>
        <p:spPr>
          <a:xfrm>
            <a:off x="6781647" y="5096002"/>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점선 타이머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역할 배분: 에이전트, 사람, 시스템에 맡기는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여러 정보를 저울질하는 일은 에이전트에, 책임이 따르는 결정은 사람에, 정해진 처리와 기록은 시스템에 맡긴다.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a:t>
            </a:r>
          </a:p>
          <a:p>
            <a:pPr algn="l">
              <a:lnSpc>
                <a:spcPct val="110000"/>
              </a:lnSpc>
              <a:spcAft>
                <a:spcPts val="400"/>
              </a:spcAft>
            </a:pPr>
            <a:r>
              <a:rPr sz="1350" b="0">
                <a:solidFill>
                  <a:srgbClr val="1F2A3A"/>
                </a:solidFill>
                <a:latin typeface="맑은 고딕"/>
                <a:ea typeface="맑은 고딕"/>
                <a:cs typeface="맑은 고딕"/>
              </a:rPr>
              <a:t>• 지식과 현재 값을 읽어 후보를 견준다</a:t>
            </a:r>
          </a:p>
          <a:p>
            <a:pPr algn="l">
              <a:lnSpc>
                <a:spcPct val="110000"/>
              </a:lnSpc>
              <a:spcAft>
                <a:spcPts val="400"/>
              </a:spcAft>
            </a:pPr>
            <a:r>
              <a:rPr sz="1350" b="0">
                <a:solidFill>
                  <a:srgbClr val="1F2A3A"/>
                </a:solidFill>
                <a:latin typeface="맑은 고딕"/>
                <a:ea typeface="맑은 고딕"/>
                <a:cs typeface="맑은 고딕"/>
              </a:rPr>
              <a:t>• 예: 정비할 시점, 발주 수량과 공급사</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제안</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a:t>
            </a:r>
          </a:p>
          <a:p>
            <a:pPr algn="l">
              <a:lnSpc>
                <a:spcPct val="110000"/>
              </a:lnSpc>
              <a:spcAft>
                <a:spcPts val="400"/>
              </a:spcAft>
            </a:pPr>
            <a:r>
              <a:rPr sz="1350" b="0">
                <a:solidFill>
                  <a:srgbClr val="1F2A3A"/>
                </a:solidFill>
                <a:latin typeface="맑은 고딕"/>
                <a:ea typeface="맑은 고딕"/>
                <a:cs typeface="맑은 고딕"/>
              </a:rPr>
              <a:t>• 제안을 검토해 승인하거나 거절한다</a:t>
            </a:r>
          </a:p>
          <a:p>
            <a:pPr algn="l">
              <a:lnSpc>
                <a:spcPct val="110000"/>
              </a:lnSpc>
              <a:spcAft>
                <a:spcPts val="400"/>
              </a:spcAft>
            </a:pPr>
            <a:r>
              <a:rPr sz="1350" b="0">
                <a:solidFill>
                  <a:srgbClr val="1F2A3A"/>
                </a:solidFill>
                <a:latin typeface="맑은 고딕"/>
                <a:ea typeface="맑은 고딕"/>
                <a:cs typeface="맑은 고딕"/>
              </a:rPr>
              <a:t>• 예: 설비보전팀장, 구매 담당</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결정</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settings" descr="settings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시스템</a:t>
            </a:r>
          </a:p>
          <a:p>
            <a:pPr algn="l">
              <a:lnSpc>
                <a:spcPct val="110000"/>
              </a:lnSpc>
              <a:spcAft>
                <a:spcPts val="400"/>
              </a:spcAft>
            </a:pPr>
            <a:r>
              <a:rPr sz="1350" b="0">
                <a:solidFill>
                  <a:srgbClr val="1F2A3A"/>
                </a:solidFill>
                <a:latin typeface="맑은 고딕"/>
                <a:ea typeface="맑은 고딕"/>
                <a:cs typeface="맑은 고딕"/>
              </a:rPr>
              <a:t>• 승인된 내용을 정해진 대로 실행한다</a:t>
            </a:r>
          </a:p>
          <a:p>
            <a:pPr algn="l">
              <a:lnSpc>
                <a:spcPct val="110000"/>
              </a:lnSpc>
              <a:spcAft>
                <a:spcPts val="400"/>
              </a:spcAft>
            </a:pPr>
            <a:r>
              <a:rPr sz="1350" b="0">
                <a:solidFill>
                  <a:srgbClr val="1F2A3A"/>
                </a:solidFill>
                <a:latin typeface="맑은 고딕"/>
                <a:ea typeface="맑은 고딕"/>
                <a:cs typeface="맑은 고딕"/>
              </a:rPr>
              <a:t>• 예: 정비 오더 등록, 발주, 입고 확인</a:t>
            </a:r>
          </a:p>
        </p:txBody>
      </p:sp>
      <p:sp>
        <p:nvSpPr>
          <p:cNvPr id="22" name="Rounded Rectangle 21"/>
          <p:cNvSpPr/>
          <p:nvPr/>
        </p:nvSpPr>
        <p:spPr>
          <a:xfrm>
            <a:off x="6461607" y="5134356"/>
            <a:ext cx="121919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 기록</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lock" descr="lock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배치의 원칙</a:t>
            </a:r>
          </a:p>
          <a:p>
            <a:pPr algn="l">
              <a:lnSpc>
                <a:spcPct val="110000"/>
              </a:lnSpc>
              <a:spcAft>
                <a:spcPts val="400"/>
              </a:spcAft>
            </a:pPr>
            <a:r>
              <a:rPr sz="1350" b="0">
                <a:solidFill>
                  <a:srgbClr val="1F2A3A"/>
                </a:solidFill>
                <a:latin typeface="맑은 고딕"/>
                <a:ea typeface="맑은 고딕"/>
                <a:cs typeface="맑은 고딕"/>
              </a:rPr>
              <a:t>설비와 업무에 효과를 내는 작업은 승인의 갈림 뒤에 둔다</a:t>
            </a:r>
          </a:p>
        </p:txBody>
      </p:sp>
      <p:sp>
        <p:nvSpPr>
          <p:cNvPr id="28" name="Rounded Rectangle 27"/>
          <p:cNvSpPr/>
          <p:nvPr/>
        </p:nvSpPr>
        <p:spPr>
          <a:xfrm>
            <a:off x="9303791" y="5134356"/>
            <a:ext cx="12191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뒤 실행</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정의가 셋일 때: 경보 패턴이 정의를 고른다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정의가 셋으로 늘어도 경보의 패턴이 인스턴스를 열 정의를 고르고, 처리 건은 자기 정의의 순서대로 따로 진행된다.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1627632"/>
            <a:ext cx="2936138" cy="4727448"/>
          </a:xfrm>
          <a:prstGeom prst="roundRect">
            <a:avLst>
              <a:gd name="adj" fmla="val 3000"/>
            </a:avLst>
          </a:prstGeom>
          <a:solidFill>
            <a:srgbClr val="F3F6F9"/>
          </a:solidFill>
          <a:ln>
            <a:noFill/>
          </a:ln>
        </p:spPr>
        <p:txBody>
          <a:bodyPr rtlCol="0" anchor="ctr"/>
          <a:lstStyle/>
          <a:p>
            <a:pPr algn="ctr"/>
          </a:p>
        </p:txBody>
      </p:sp>
      <p:sp>
        <p:nvSpPr>
          <p:cNvPr id="7" name="TextBox 6"/>
          <p:cNvSpPr txBox="1"/>
          <p:nvPr/>
        </p:nvSpPr>
        <p:spPr>
          <a:xfrm>
            <a:off x="548640"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경보 패턴</a:t>
            </a:r>
          </a:p>
        </p:txBody>
      </p:sp>
      <p:sp>
        <p:nvSpPr>
          <p:cNvPr id="8" name="Rounded Rectangle 7"/>
          <p:cNvSpPr/>
          <p:nvPr/>
        </p:nvSpPr>
        <p:spPr>
          <a:xfrm>
            <a:off x="731520"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9" name="TextBox 8"/>
          <p:cNvSpPr txBox="1"/>
          <p:nvPr/>
        </p:nvSpPr>
        <p:spPr>
          <a:xfrm>
            <a:off x="777240"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COOLER_DEGRADATION</a:t>
            </a:r>
          </a:p>
          <a:p>
            <a:pPr algn="ctr">
              <a:lnSpc>
                <a:spcPct val="110000"/>
              </a:lnSpc>
              <a:spcAft>
                <a:spcPts val="100"/>
              </a:spcAft>
            </a:pPr>
            <a:r>
              <a:rPr sz="1150" b="0">
                <a:solidFill>
                  <a:srgbClr val="556175"/>
                </a:solidFill>
                <a:latin typeface="맑은 고딕"/>
                <a:ea typeface="맑은 고딕"/>
                <a:cs typeface="맑은 고딕"/>
              </a:rPr>
              <a:t>쿨러 성능 저하</a:t>
            </a:r>
          </a:p>
        </p:txBody>
      </p:sp>
      <p:sp>
        <p:nvSpPr>
          <p:cNvPr id="10" name="Rounded Rectangle 9"/>
          <p:cNvSpPr/>
          <p:nvPr/>
        </p:nvSpPr>
        <p:spPr>
          <a:xfrm>
            <a:off x="731520"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777240"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PM_DUE</a:t>
            </a:r>
          </a:p>
          <a:p>
            <a:pPr algn="ctr">
              <a:lnSpc>
                <a:spcPct val="110000"/>
              </a:lnSpc>
              <a:spcAft>
                <a:spcPts val="100"/>
              </a:spcAft>
            </a:pPr>
            <a:r>
              <a:rPr sz="1150" b="0">
                <a:solidFill>
                  <a:srgbClr val="556175"/>
                </a:solidFill>
                <a:latin typeface="맑은 고딕"/>
                <a:ea typeface="맑은 고딕"/>
                <a:cs typeface="맑은 고딕"/>
              </a:rPr>
              <a:t>정기 점검 도래</a:t>
            </a:r>
          </a:p>
        </p:txBody>
      </p:sp>
      <p:sp>
        <p:nvSpPr>
          <p:cNvPr id="12" name="Rounded Rectangle 11"/>
          <p:cNvSpPr/>
          <p:nvPr/>
        </p:nvSpPr>
        <p:spPr>
          <a:xfrm>
            <a:off x="731520"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3" name="TextBox 12"/>
          <p:cNvSpPr txBox="1"/>
          <p:nvPr/>
        </p:nvSpPr>
        <p:spPr>
          <a:xfrm>
            <a:off x="777240"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SPARE_BELOW_MIN</a:t>
            </a:r>
          </a:p>
          <a:p>
            <a:pPr algn="ctr">
              <a:lnSpc>
                <a:spcPct val="110000"/>
              </a:lnSpc>
              <a:spcAft>
                <a:spcPts val="100"/>
              </a:spcAft>
            </a:pPr>
            <a:r>
              <a:rPr sz="1150" b="0">
                <a:solidFill>
                  <a:srgbClr val="556175"/>
                </a:solidFill>
                <a:latin typeface="맑은 고딕"/>
                <a:ea typeface="맑은 고딕"/>
                <a:cs typeface="맑은 고딕"/>
              </a:rPr>
              <a:t>재고 부족</a:t>
            </a:r>
          </a:p>
        </p:txBody>
      </p:sp>
      <p:sp>
        <p:nvSpPr>
          <p:cNvPr id="14" name="Rounded Rectangle 13"/>
          <p:cNvSpPr/>
          <p:nvPr/>
        </p:nvSpPr>
        <p:spPr>
          <a:xfrm>
            <a:off x="4627778" y="1627632"/>
            <a:ext cx="2936138" cy="4727448"/>
          </a:xfrm>
          <a:prstGeom prst="roundRect">
            <a:avLst>
              <a:gd name="adj" fmla="val 3000"/>
            </a:avLst>
          </a:prstGeom>
          <a:solidFill>
            <a:srgbClr val="F3F6F9"/>
          </a:solidFill>
          <a:ln>
            <a:noFill/>
          </a:ln>
        </p:spPr>
        <p:txBody>
          <a:bodyPr rtlCol="0" anchor="ctr"/>
          <a:lstStyle/>
          <a:p>
            <a:pPr algn="ctr"/>
          </a:p>
        </p:txBody>
      </p:sp>
      <p:sp>
        <p:nvSpPr>
          <p:cNvPr id="15" name="TextBox 14"/>
          <p:cNvSpPr txBox="1"/>
          <p:nvPr/>
        </p:nvSpPr>
        <p:spPr>
          <a:xfrm>
            <a:off x="4627778"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배포된 프로세스 정의</a:t>
            </a:r>
          </a:p>
        </p:txBody>
      </p:sp>
      <p:sp>
        <p:nvSpPr>
          <p:cNvPr id="16" name="Rounded Rectangle 15"/>
          <p:cNvSpPr/>
          <p:nvPr/>
        </p:nvSpPr>
        <p:spPr>
          <a:xfrm>
            <a:off x="4810658"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7" name="TextBox 16"/>
          <p:cNvSpPr txBox="1"/>
          <p:nvPr/>
        </p:nvSpPr>
        <p:spPr>
          <a:xfrm>
            <a:off x="4856378"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c3_cooling</a:t>
            </a:r>
          </a:p>
          <a:p>
            <a:pPr algn="ctr">
              <a:lnSpc>
                <a:spcPct val="110000"/>
              </a:lnSpc>
              <a:spcAft>
                <a:spcPts val="100"/>
              </a:spcAft>
            </a:pPr>
            <a:r>
              <a:rPr sz="1150" b="0">
                <a:solidFill>
                  <a:srgbClr val="556175"/>
                </a:solidFill>
                <a:latin typeface="맑은 고딕"/>
                <a:ea typeface="맑은 고딕"/>
                <a:cs typeface="맑은 고딕"/>
              </a:rPr>
              <a:t>긴급 대응 프로세스</a:t>
            </a:r>
          </a:p>
        </p:txBody>
      </p:sp>
      <p:sp>
        <p:nvSpPr>
          <p:cNvPr id="18" name="Rounded Rectangle 17"/>
          <p:cNvSpPr/>
          <p:nvPr/>
        </p:nvSpPr>
        <p:spPr>
          <a:xfrm>
            <a:off x="4810658"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4856378"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c3_pm</a:t>
            </a:r>
          </a:p>
          <a:p>
            <a:pPr algn="ctr">
              <a:lnSpc>
                <a:spcPct val="110000"/>
              </a:lnSpc>
              <a:spcAft>
                <a:spcPts val="100"/>
              </a:spcAft>
            </a:pPr>
            <a:r>
              <a:rPr sz="1150" b="0">
                <a:solidFill>
                  <a:srgbClr val="556175"/>
                </a:solidFill>
                <a:latin typeface="맑은 고딕"/>
                <a:ea typeface="맑은 고딕"/>
                <a:cs typeface="맑은 고딕"/>
              </a:rPr>
              <a:t>정기 점검 프로세스</a:t>
            </a:r>
          </a:p>
        </p:txBody>
      </p:sp>
      <p:sp>
        <p:nvSpPr>
          <p:cNvPr id="20" name="Rounded Rectangle 19"/>
          <p:cNvSpPr/>
          <p:nvPr/>
        </p:nvSpPr>
        <p:spPr>
          <a:xfrm>
            <a:off x="4810658"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1" name="TextBox 20"/>
          <p:cNvSpPr txBox="1"/>
          <p:nvPr/>
        </p:nvSpPr>
        <p:spPr>
          <a:xfrm>
            <a:off x="4856378"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c3_spare</a:t>
            </a:r>
          </a:p>
          <a:p>
            <a:pPr algn="ctr">
              <a:lnSpc>
                <a:spcPct val="110000"/>
              </a:lnSpc>
              <a:spcAft>
                <a:spcPts val="100"/>
              </a:spcAft>
            </a:pPr>
            <a:r>
              <a:rPr sz="1150" b="0">
                <a:solidFill>
                  <a:srgbClr val="556175"/>
                </a:solidFill>
                <a:latin typeface="맑은 고딕"/>
                <a:ea typeface="맑은 고딕"/>
                <a:cs typeface="맑은 고딕"/>
              </a:rPr>
              <a:t>재고 보충 프로세스</a:t>
            </a:r>
          </a:p>
        </p:txBody>
      </p:sp>
      <p:sp>
        <p:nvSpPr>
          <p:cNvPr id="22" name="Rounded Rectangle 21"/>
          <p:cNvSpPr/>
          <p:nvPr/>
        </p:nvSpPr>
        <p:spPr>
          <a:xfrm>
            <a:off x="8706916" y="1627632"/>
            <a:ext cx="2936138" cy="4727448"/>
          </a:xfrm>
          <a:prstGeom prst="roundRect">
            <a:avLst>
              <a:gd name="adj" fmla="val 3000"/>
            </a:avLst>
          </a:prstGeom>
          <a:solidFill>
            <a:srgbClr val="F3F6F9"/>
          </a:solidFill>
          <a:ln>
            <a:noFill/>
          </a:ln>
        </p:spPr>
        <p:txBody>
          <a:bodyPr rtlCol="0" anchor="ctr"/>
          <a:lstStyle/>
          <a:p>
            <a:pPr algn="ctr"/>
          </a:p>
        </p:txBody>
      </p:sp>
      <p:sp>
        <p:nvSpPr>
          <p:cNvPr id="23" name="TextBox 22"/>
          <p:cNvSpPr txBox="1"/>
          <p:nvPr/>
        </p:nvSpPr>
        <p:spPr>
          <a:xfrm>
            <a:off x="8706916"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처리 건</a:t>
            </a:r>
          </a:p>
        </p:txBody>
      </p:sp>
      <p:sp>
        <p:nvSpPr>
          <p:cNvPr id="24" name="Rounded Rectangle 23"/>
          <p:cNvSpPr/>
          <p:nvPr/>
        </p:nvSpPr>
        <p:spPr>
          <a:xfrm>
            <a:off x="8889796"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5" name="TextBox 24"/>
          <p:cNvSpPr txBox="1"/>
          <p:nvPr/>
        </p:nvSpPr>
        <p:spPr>
          <a:xfrm>
            <a:off x="8935516"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c3_cooling.32aca7de…</a:t>
            </a:r>
          </a:p>
          <a:p>
            <a:pPr algn="ctr">
              <a:lnSpc>
                <a:spcPct val="110000"/>
              </a:lnSpc>
              <a:spcAft>
                <a:spcPts val="100"/>
              </a:spcAft>
            </a:pPr>
            <a:r>
              <a:rPr sz="1150" b="0">
                <a:solidFill>
                  <a:srgbClr val="556175"/>
                </a:solidFill>
                <a:latin typeface="맑은 고딕"/>
                <a:ea typeface="맑은 고딕"/>
                <a:cs typeface="맑은 고딕"/>
              </a:rPr>
              <a:t>HYD-01의 처리 건</a:t>
            </a:r>
          </a:p>
        </p:txBody>
      </p:sp>
      <p:sp>
        <p:nvSpPr>
          <p:cNvPr id="26" name="Rounded Rectangle 25"/>
          <p:cNvSpPr/>
          <p:nvPr/>
        </p:nvSpPr>
        <p:spPr>
          <a:xfrm>
            <a:off x="8889796"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7" name="TextBox 26"/>
          <p:cNvSpPr txBox="1"/>
          <p:nvPr/>
        </p:nvSpPr>
        <p:spPr>
          <a:xfrm>
            <a:off x="8935516"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c3_pm.28d73c7a…</a:t>
            </a:r>
          </a:p>
          <a:p>
            <a:pPr algn="ctr">
              <a:lnSpc>
                <a:spcPct val="110000"/>
              </a:lnSpc>
              <a:spcAft>
                <a:spcPts val="100"/>
              </a:spcAft>
            </a:pPr>
            <a:r>
              <a:rPr sz="1150" b="0">
                <a:solidFill>
                  <a:srgbClr val="556175"/>
                </a:solidFill>
                <a:latin typeface="맑은 고딕"/>
                <a:ea typeface="맑은 고딕"/>
                <a:cs typeface="맑은 고딕"/>
              </a:rPr>
              <a:t>HYD-02의 처리 건</a:t>
            </a:r>
          </a:p>
        </p:txBody>
      </p:sp>
      <p:sp>
        <p:nvSpPr>
          <p:cNvPr id="28" name="Rounded Rectangle 27"/>
          <p:cNvSpPr/>
          <p:nvPr/>
        </p:nvSpPr>
        <p:spPr>
          <a:xfrm>
            <a:off x="8889796"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9" name="TextBox 28"/>
          <p:cNvSpPr txBox="1"/>
          <p:nvPr/>
        </p:nvSpPr>
        <p:spPr>
          <a:xfrm>
            <a:off x="8935516"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c3_spare.8b48bf5f…</a:t>
            </a:r>
          </a:p>
          <a:p>
            <a:pPr algn="ctr">
              <a:lnSpc>
                <a:spcPct val="110000"/>
              </a:lnSpc>
              <a:spcAft>
                <a:spcPts val="100"/>
              </a:spcAft>
            </a:pPr>
            <a:r>
              <a:rPr sz="1150" b="0">
                <a:solidFill>
                  <a:srgbClr val="556175"/>
                </a:solidFill>
                <a:latin typeface="맑은 고딕"/>
                <a:ea typeface="맑은 고딕"/>
                <a:cs typeface="맑은 고딕"/>
              </a:rPr>
              <a:t>HYD-03의 처리 건</a:t>
            </a:r>
          </a:p>
        </p:txBody>
      </p:sp>
      <p:cxnSp>
        <p:nvCxnSpPr>
          <p:cNvPr id="30" name="Connector 29"/>
          <p:cNvCxnSpPr/>
          <p:nvPr/>
        </p:nvCxnSpPr>
        <p:spPr>
          <a:xfrm>
            <a:off x="3301898" y="2516124"/>
            <a:ext cx="1508760" cy="0"/>
          </a:xfrm>
          <a:prstGeom prst="line">
            <a:avLst/>
          </a:prstGeom>
          <a:ln w="19050">
            <a:solidFill>
              <a:srgbClr val="13294B"/>
            </a:solidFill>
            <a:tailEnd type="triangle" w="med" len="med"/>
          </a:ln>
        </p:spPr>
      </p:cxnSp>
      <p:sp>
        <p:nvSpPr>
          <p:cNvPr id="31" name="TextBox 30"/>
          <p:cNvSpPr txBox="1"/>
          <p:nvPr/>
        </p:nvSpPr>
        <p:spPr>
          <a:xfrm>
            <a:off x="3164738" y="2223516"/>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연다</a:t>
            </a:r>
          </a:p>
        </p:txBody>
      </p:sp>
      <p:cxnSp>
        <p:nvCxnSpPr>
          <p:cNvPr id="32" name="Connector 31"/>
          <p:cNvCxnSpPr/>
          <p:nvPr/>
        </p:nvCxnSpPr>
        <p:spPr>
          <a:xfrm>
            <a:off x="3301898" y="4018788"/>
            <a:ext cx="1508760" cy="0"/>
          </a:xfrm>
          <a:prstGeom prst="line">
            <a:avLst/>
          </a:prstGeom>
          <a:ln w="19050">
            <a:solidFill>
              <a:srgbClr val="13294B"/>
            </a:solidFill>
            <a:tailEnd type="triangle" w="med" len="med"/>
          </a:ln>
        </p:spPr>
      </p:cxnSp>
      <p:sp>
        <p:nvSpPr>
          <p:cNvPr id="33" name="TextBox 32"/>
          <p:cNvSpPr txBox="1"/>
          <p:nvPr/>
        </p:nvSpPr>
        <p:spPr>
          <a:xfrm>
            <a:off x="3164738" y="3726180"/>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연다</a:t>
            </a:r>
          </a:p>
        </p:txBody>
      </p:sp>
      <p:cxnSp>
        <p:nvCxnSpPr>
          <p:cNvPr id="34" name="Connector 33"/>
          <p:cNvCxnSpPr/>
          <p:nvPr/>
        </p:nvCxnSpPr>
        <p:spPr>
          <a:xfrm>
            <a:off x="3301898" y="5521452"/>
            <a:ext cx="1508760" cy="0"/>
          </a:xfrm>
          <a:prstGeom prst="line">
            <a:avLst/>
          </a:prstGeom>
          <a:ln w="19050">
            <a:solidFill>
              <a:srgbClr val="13294B"/>
            </a:solidFill>
            <a:tailEnd type="triangle" w="med" len="med"/>
          </a:ln>
        </p:spPr>
      </p:cxnSp>
      <p:sp>
        <p:nvSpPr>
          <p:cNvPr id="35" name="TextBox 34"/>
          <p:cNvSpPr txBox="1"/>
          <p:nvPr/>
        </p:nvSpPr>
        <p:spPr>
          <a:xfrm>
            <a:off x="3164738" y="522884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연다</a:t>
            </a:r>
          </a:p>
        </p:txBody>
      </p:sp>
      <p:cxnSp>
        <p:nvCxnSpPr>
          <p:cNvPr id="36" name="Connector 35"/>
          <p:cNvCxnSpPr/>
          <p:nvPr/>
        </p:nvCxnSpPr>
        <p:spPr>
          <a:xfrm>
            <a:off x="7381036" y="2516124"/>
            <a:ext cx="1508760" cy="0"/>
          </a:xfrm>
          <a:prstGeom prst="line">
            <a:avLst/>
          </a:prstGeom>
          <a:ln w="19050">
            <a:solidFill>
              <a:srgbClr val="13294B"/>
            </a:solidFill>
            <a:tailEnd type="triangle" w="med" len="med"/>
          </a:ln>
        </p:spPr>
      </p:cxnSp>
      <p:sp>
        <p:nvSpPr>
          <p:cNvPr id="37" name="TextBox 36"/>
          <p:cNvSpPr txBox="1"/>
          <p:nvPr/>
        </p:nvSpPr>
        <p:spPr>
          <a:xfrm>
            <a:off x="7243876" y="2223516"/>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인스턴스</a:t>
            </a:r>
          </a:p>
        </p:txBody>
      </p:sp>
      <p:cxnSp>
        <p:nvCxnSpPr>
          <p:cNvPr id="38" name="Connector 37"/>
          <p:cNvCxnSpPr/>
          <p:nvPr/>
        </p:nvCxnSpPr>
        <p:spPr>
          <a:xfrm>
            <a:off x="7381036" y="4018788"/>
            <a:ext cx="1508760" cy="0"/>
          </a:xfrm>
          <a:prstGeom prst="line">
            <a:avLst/>
          </a:prstGeom>
          <a:ln w="19050">
            <a:solidFill>
              <a:srgbClr val="13294B"/>
            </a:solidFill>
            <a:tailEnd type="triangle" w="med" len="med"/>
          </a:ln>
        </p:spPr>
      </p:cxnSp>
      <p:sp>
        <p:nvSpPr>
          <p:cNvPr id="39" name="TextBox 38"/>
          <p:cNvSpPr txBox="1"/>
          <p:nvPr/>
        </p:nvSpPr>
        <p:spPr>
          <a:xfrm>
            <a:off x="7243876" y="3726180"/>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인스턴스</a:t>
            </a:r>
          </a:p>
        </p:txBody>
      </p:sp>
      <p:cxnSp>
        <p:nvCxnSpPr>
          <p:cNvPr id="40" name="Connector 39"/>
          <p:cNvCxnSpPr/>
          <p:nvPr/>
        </p:nvCxnSpPr>
        <p:spPr>
          <a:xfrm>
            <a:off x="7381036" y="5521452"/>
            <a:ext cx="1508760" cy="0"/>
          </a:xfrm>
          <a:prstGeom prst="line">
            <a:avLst/>
          </a:prstGeom>
          <a:ln w="19050">
            <a:solidFill>
              <a:srgbClr val="13294B"/>
            </a:solidFill>
            <a:tailEnd type="triangle" w="med" len="med"/>
          </a:ln>
        </p:spPr>
      </p:cxnSp>
      <p:sp>
        <p:nvSpPr>
          <p:cNvPr id="41" name="TextBox 40"/>
          <p:cNvSpPr txBox="1"/>
          <p:nvPr/>
        </p:nvSpPr>
        <p:spPr>
          <a:xfrm>
            <a:off x="7243876" y="522884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인스턴스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대기와 완료: 세 프로세스에서 같은 방법으로 읽는다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프로세스 어디서나 승인 대기는 처리 건의 상태 RUNNING으로, 종결은 끝 이벤트와 결과 보고의 결과로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경우</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처리 건의 상태와 끝 이벤트</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결과 보고</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대기</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RUNNING · 승인 작업이 IN_PROGRESS</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아직 없다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 없음</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RUNNING · 알림이 나간 뒤에도 승인 작업은 열려 있다</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 지연</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거절</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COMPLETED · E_rejected</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반려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긴급 대응, 정기 점검</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COMPLETED · E_end</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정상</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재고 보충</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COMPLETED · E_end</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입고 완료</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기록과 모니터링: 단계마다 남는 시작과 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건에는 단계마다 시작과 끝의 시각이 남으며, 이 기록으로 업무의 진행을 지켜보는 일이 모니터링이다.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단계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a:t>
            </a:r>
          </a:p>
          <a:p>
            <a:pPr algn="l">
              <a:lnSpc>
                <a:spcPct val="110000"/>
              </a:lnSpc>
              <a:spcAft>
                <a:spcPts val="200"/>
              </a:spcAft>
            </a:pPr>
            <a:r>
              <a:rPr sz="1300" b="0">
                <a:solidFill>
                  <a:srgbClr val="E8EEF6"/>
                </a:solidFill>
                <a:latin typeface="Consolas"/>
                <a:ea typeface="맑은 고딕"/>
                <a:cs typeface="맑은 고딕"/>
              </a:rPr>
              <a:t>T_agent     15:22:46    15:24:08</a:t>
            </a:r>
          </a:p>
          <a:p>
            <a:pPr algn="l">
              <a:lnSpc>
                <a:spcPct val="110000"/>
              </a:lnSpc>
              <a:spcAft>
                <a:spcPts val="200"/>
              </a:spcAft>
            </a:pPr>
            <a:r>
              <a:rPr sz="1300" b="0">
                <a:solidFill>
                  <a:srgbClr val="E8EEF6"/>
                </a:solidFill>
                <a:latin typeface="Consolas"/>
                <a:ea typeface="맑은 고딕"/>
                <a:cs typeface="맑은 고딕"/>
              </a:rPr>
              <a:t>T_approve   15:24:08    15:24:09</a:t>
            </a:r>
          </a:p>
          <a:p>
            <a:pPr algn="l">
              <a:lnSpc>
                <a:spcPct val="110000"/>
              </a:lnSpc>
              <a:spcAft>
                <a:spcPts val="200"/>
              </a:spcAft>
            </a:pPr>
            <a:r>
              <a:rPr sz="1300" b="0">
                <a:solidFill>
                  <a:srgbClr val="E8EEF6"/>
                </a:solidFill>
                <a:latin typeface="Consolas"/>
                <a:ea typeface="맑은 고딕"/>
                <a:cs typeface="맑은 고딕"/>
              </a:rPr>
              <a:t>T_cmd       15:24:09    15:24:10</a:t>
            </a:r>
          </a:p>
          <a:p>
            <a:pPr algn="l">
              <a:lnSpc>
                <a:spcPct val="110000"/>
              </a:lnSpc>
              <a:spcAft>
                <a:spcPts val="200"/>
              </a:spcAft>
            </a:pPr>
            <a:r>
              <a:rPr sz="1300" b="0">
                <a:solidFill>
                  <a:srgbClr val="E8EEF6"/>
                </a:solidFill>
                <a:latin typeface="Consolas"/>
                <a:ea typeface="맑은 고딕"/>
                <a:cs typeface="맑은 고딕"/>
              </a:rPr>
              <a:t>T_reobs     15:24:10    15:25:11</a:t>
            </a:r>
          </a:p>
          <a:p>
            <a:pPr algn="l">
              <a:lnSpc>
                <a:spcPct val="110000"/>
              </a:lnSpc>
              <a:spcAft>
                <a:spcPts val="200"/>
              </a:spcAft>
            </a:pPr>
            <a:r>
              <a:rPr sz="1300" b="0">
                <a:solidFill>
                  <a:srgbClr val="E8EEF6"/>
                </a:solidFill>
                <a:latin typeface="Consolas"/>
                <a:ea typeface="맑은 고딕"/>
                <a:cs typeface="맑은 고딕"/>
              </a:rPr>
              <a:t>T_wo        15:25:11    15:25:12</a:t>
            </a:r>
          </a:p>
          <a:p>
            <a:pPr algn="l">
              <a:lnSpc>
                <a:spcPct val="110000"/>
              </a:lnSpc>
              <a:spcAft>
                <a:spcPts val="200"/>
              </a:spcAft>
            </a:pPr>
            <a:r>
              <a:rPr sz="1300" b="0">
                <a:solidFill>
                  <a:srgbClr val="E8EEF6"/>
                </a:solidFill>
                <a:latin typeface="Consolas"/>
                <a:ea typeface="맑은 고딕"/>
                <a:cs typeface="맑은 고딕"/>
              </a:rPr>
              <a:t>R_ok        15:25:12    15:25:12</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실행 기록</a:t>
            </a:r>
          </a:p>
          <a:p>
            <a:pPr algn="l">
              <a:lnSpc>
                <a:spcPct val="110000"/>
              </a:lnSpc>
              <a:spcAft>
                <a:spcPts val="400"/>
              </a:spcAft>
            </a:pPr>
            <a:r>
              <a:rPr sz="1400" b="0">
                <a:solidFill>
                  <a:srgbClr val="1F2A3A"/>
                </a:solidFill>
                <a:latin typeface="맑은 고딕"/>
                <a:ea typeface="맑은 고딕"/>
                <a:cs typeface="맑은 고딕"/>
              </a:rPr>
              <a:t>단계의 시작과 끝, 담당,</a:t>
            </a:r>
          </a:p>
          <a:p>
            <a:pPr algn="l">
              <a:lnSpc>
                <a:spcPct val="110000"/>
              </a:lnSpc>
              <a:spcAft>
                <a:spcPts val="400"/>
              </a:spcAft>
            </a:pPr>
            <a:r>
              <a:rPr sz="1400" b="0">
                <a:solidFill>
                  <a:srgbClr val="1F2A3A"/>
                </a:solidFill>
                <a:latin typeface="맑은 고딕"/>
                <a:ea typeface="맑은 고딕"/>
                <a:cs typeface="맑은 고딕"/>
              </a:rPr>
              <a:t>결과가 처리 건에 남는다.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모니터링</a:t>
            </a:r>
          </a:p>
          <a:p>
            <a:pPr algn="l">
              <a:lnSpc>
                <a:spcPct val="110000"/>
              </a:lnSpc>
              <a:spcAft>
                <a:spcPts val="400"/>
              </a:spcAft>
            </a:pPr>
            <a:r>
              <a:rPr sz="1400" b="0">
                <a:solidFill>
                  <a:srgbClr val="1F2A3A"/>
                </a:solidFill>
                <a:latin typeface="맑은 고딕"/>
                <a:ea typeface="맑은 고딕"/>
                <a:cs typeface="맑은 고딕"/>
              </a:rPr>
              <a:t>Monitoring · 이 기록으로</a:t>
            </a:r>
          </a:p>
          <a:p>
            <a:pPr algn="l">
              <a:lnSpc>
                <a:spcPct val="110000"/>
              </a:lnSpc>
              <a:spcAft>
                <a:spcPts val="400"/>
              </a:spcAft>
            </a:pPr>
            <a:r>
              <a:rPr sz="1400" b="0">
                <a:solidFill>
                  <a:srgbClr val="1F2A3A"/>
                </a:solidFill>
                <a:latin typeface="맑은 고딕"/>
                <a:ea typeface="맑은 고딕"/>
                <a:cs typeface="맑은 고딕"/>
              </a:rPr>
              <a:t>진행과 대기를 지켜본다.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읽는 법</a:t>
            </a:r>
          </a:p>
          <a:p>
            <a:pPr algn="l">
              <a:lnSpc>
                <a:spcPct val="110000"/>
              </a:lnSpc>
              <a:spcAft>
                <a:spcPts val="400"/>
              </a:spcAft>
            </a:pPr>
            <a:r>
              <a:rPr sz="1400" b="0">
                <a:solidFill>
                  <a:srgbClr val="1F2A3A"/>
                </a:solidFill>
                <a:latin typeface="맑은 고딕"/>
                <a:ea typeface="맑은 고딕"/>
                <a:cs typeface="맑은 고딕"/>
              </a:rPr>
              <a:t>끝에서 시작을 빼면</a:t>
            </a:r>
          </a:p>
          <a:p>
            <a:pPr algn="l">
              <a:lnSpc>
                <a:spcPct val="110000"/>
              </a:lnSpc>
              <a:spcAft>
                <a:spcPts val="400"/>
              </a:spcAft>
            </a:pPr>
            <a:r>
              <a:rPr sz="1400" b="0">
                <a:solidFill>
                  <a:srgbClr val="1F2A3A"/>
                </a:solidFill>
                <a:latin typeface="맑은 고딕"/>
                <a:ea typeface="맑은 고딕"/>
                <a:cs typeface="맑은 고딕"/>
              </a:rPr>
              <a:t>단계에 걸린 시간이다.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병목: 흐름 전체를 늦추는 단계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병목은 흐름 전체를 늦추는 단계이며, 승인된 세 처리 건에서는 에이전트의 판단 단계가 가장 오래 걸렸다.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pic>
        <p:nvPicPr>
          <p:cNvPr id="6" name="삽화:병목.svg" descr="illust_3186638617570881710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61104" y="2644033"/>
            <a:ext cx="141823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긴급 대응</a:t>
            </a:r>
          </a:p>
          <a:p>
            <a:pPr algn="ctr">
              <a:lnSpc>
                <a:spcPct val="110000"/>
              </a:lnSpc>
              <a:spcAft>
                <a:spcPts val="100"/>
              </a:spcAft>
            </a:pPr>
            <a:r>
              <a:rPr sz="1100" b="0">
                <a:solidFill>
                  <a:srgbClr val="556175"/>
                </a:solidFill>
                <a:latin typeface="맑은 고딕"/>
                <a:ea typeface="맑은 고딕"/>
                <a:cs typeface="맑은 고딕"/>
              </a:rPr>
              <a:t>146초</a:t>
            </a:r>
          </a:p>
        </p:txBody>
      </p:sp>
      <p:sp>
        <p:nvSpPr>
          <p:cNvPr id="8" name="TextBox 7"/>
          <p:cNvSpPr txBox="1"/>
          <p:nvPr/>
        </p:nvSpPr>
        <p:spPr>
          <a:xfrm>
            <a:off x="761104" y="3825895"/>
            <a:ext cx="141823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정기 점검</a:t>
            </a:r>
          </a:p>
          <a:p>
            <a:pPr algn="ctr">
              <a:lnSpc>
                <a:spcPct val="110000"/>
              </a:lnSpc>
              <a:spcAft>
                <a:spcPts val="100"/>
              </a:spcAft>
            </a:pPr>
            <a:r>
              <a:rPr sz="1100" b="0">
                <a:solidFill>
                  <a:srgbClr val="556175"/>
                </a:solidFill>
                <a:latin typeface="맑은 고딕"/>
                <a:ea typeface="맑은 고딕"/>
                <a:cs typeface="맑은 고딕"/>
              </a:rPr>
              <a:t>60초</a:t>
            </a:r>
          </a:p>
        </p:txBody>
      </p:sp>
      <p:sp>
        <p:nvSpPr>
          <p:cNvPr id="9" name="TextBox 8"/>
          <p:cNvSpPr txBox="1"/>
          <p:nvPr/>
        </p:nvSpPr>
        <p:spPr>
          <a:xfrm>
            <a:off x="761104" y="5007757"/>
            <a:ext cx="141823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재고 보충</a:t>
            </a:r>
          </a:p>
          <a:p>
            <a:pPr algn="ctr">
              <a:lnSpc>
                <a:spcPct val="110000"/>
              </a:lnSpc>
              <a:spcAft>
                <a:spcPts val="100"/>
              </a:spcAft>
            </a:pPr>
            <a:r>
              <a:rPr sz="1100" b="0">
                <a:solidFill>
                  <a:srgbClr val="556175"/>
                </a:solidFill>
                <a:latin typeface="맑은 고딕"/>
                <a:ea typeface="맑은 고딕"/>
                <a:cs typeface="맑은 고딕"/>
              </a:rPr>
              <a:t>58초</a:t>
            </a:r>
          </a:p>
        </p:txBody>
      </p:sp>
      <p:sp>
        <p:nvSpPr>
          <p:cNvPr id="10" name="TextBox 9"/>
          <p:cNvSpPr txBox="1"/>
          <p:nvPr/>
        </p:nvSpPr>
        <p:spPr>
          <a:xfrm>
            <a:off x="3695758" y="2771674"/>
            <a:ext cx="2400088"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에이전트 82.3초</a:t>
            </a:r>
          </a:p>
        </p:txBody>
      </p:sp>
      <p:sp>
        <p:nvSpPr>
          <p:cNvPr id="11" name="TextBox 10"/>
          <p:cNvSpPr txBox="1"/>
          <p:nvPr/>
        </p:nvSpPr>
        <p:spPr>
          <a:xfrm>
            <a:off x="7852276" y="277167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 60.2초</a:t>
            </a:r>
          </a:p>
        </p:txBody>
      </p:sp>
      <p:sp>
        <p:nvSpPr>
          <p:cNvPr id="12" name="TextBox 11"/>
          <p:cNvSpPr txBox="1"/>
          <p:nvPr/>
        </p:nvSpPr>
        <p:spPr>
          <a:xfrm>
            <a:off x="3041189" y="3953536"/>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 55.3초</a:t>
            </a:r>
          </a:p>
        </p:txBody>
      </p:sp>
      <p:sp>
        <p:nvSpPr>
          <p:cNvPr id="13" name="TextBox 12"/>
          <p:cNvSpPr txBox="1"/>
          <p:nvPr/>
        </p:nvSpPr>
        <p:spPr>
          <a:xfrm>
            <a:off x="2997551" y="5135398"/>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 54.4초</a:t>
            </a:r>
          </a:p>
        </p:txBody>
      </p:sp>
      <p:sp>
        <p:nvSpPr>
          <p:cNvPr id="14" name="TextBox 13"/>
          <p:cNvSpPr txBox="1"/>
          <p:nvPr/>
        </p:nvSpPr>
        <p:spPr>
          <a:xfrm>
            <a:off x="5910386" y="205310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1.3초 · 명령 1.1초</a:t>
            </a:r>
          </a:p>
        </p:txBody>
      </p:sp>
      <p:sp>
        <p:nvSpPr>
          <p:cNvPr id="15" name="TextBox 14"/>
          <p:cNvSpPr txBox="1"/>
          <p:nvPr/>
        </p:nvSpPr>
        <p:spPr>
          <a:xfrm>
            <a:off x="6041300" y="3953536"/>
            <a:ext cx="4145608"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3.7초 · 정비 오더와 공지 1.0초 · 보고 0.4초</a:t>
            </a:r>
          </a:p>
        </p:txBody>
      </p:sp>
      <p:sp>
        <p:nvSpPr>
          <p:cNvPr id="16" name="TextBox 15"/>
          <p:cNvSpPr txBox="1"/>
          <p:nvPr/>
        </p:nvSpPr>
        <p:spPr>
          <a:xfrm>
            <a:off x="5932205" y="5135398"/>
            <a:ext cx="4363798"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1.7초 · 발주 0.3초 · 입고 0.9초 · 보고 0.4초</a:t>
            </a:r>
          </a:p>
        </p:txBody>
      </p:sp>
      <p:sp>
        <p:nvSpPr>
          <p:cNvPr id="17" name="TextBox 16"/>
          <p:cNvSpPr txBox="1"/>
          <p:nvPr/>
        </p:nvSpPr>
        <p:spPr>
          <a:xfrm>
            <a:off x="2146610" y="5929609"/>
            <a:ext cx="43637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0</a:t>
            </a:r>
          </a:p>
        </p:txBody>
      </p:sp>
      <p:sp>
        <p:nvSpPr>
          <p:cNvPr id="18" name="TextBox 17"/>
          <p:cNvSpPr txBox="1"/>
          <p:nvPr/>
        </p:nvSpPr>
        <p:spPr>
          <a:xfrm>
            <a:off x="5419458" y="5929609"/>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60초</a:t>
            </a:r>
          </a:p>
        </p:txBody>
      </p:sp>
      <p:sp>
        <p:nvSpPr>
          <p:cNvPr id="19" name="TextBox 18"/>
          <p:cNvSpPr txBox="1"/>
          <p:nvPr/>
        </p:nvSpPr>
        <p:spPr>
          <a:xfrm>
            <a:off x="8801402" y="5929609"/>
            <a:ext cx="65456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120초</a:t>
            </a:r>
          </a:p>
        </p:txBody>
      </p:sp>
      <p:sp>
        <p:nvSpPr>
          <p:cNvPr id="20" name="TextBox 19"/>
          <p:cNvSpPr txBox="1"/>
          <p:nvPr/>
        </p:nvSpPr>
        <p:spPr>
          <a:xfrm>
            <a:off x="6095847" y="3305876"/>
            <a:ext cx="4800177"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병목</a:t>
            </a:r>
          </a:p>
          <a:p>
            <a:pPr algn="ctr">
              <a:lnSpc>
                <a:spcPct val="110000"/>
              </a:lnSpc>
              <a:spcAft>
                <a:spcPts val="100"/>
              </a:spcAft>
            </a:pPr>
            <a:r>
              <a:rPr sz="1100" b="0">
                <a:solidFill>
                  <a:srgbClr val="556175"/>
                </a:solidFill>
                <a:latin typeface="맑은 고딕"/>
                <a:ea typeface="맑은 고딕"/>
                <a:cs typeface="맑은 고딕"/>
              </a:rPr>
              <a:t>Bottleneck · 가장 긴 단계가 전체 시간을 좌우한다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지표: 여러 처리 건을 수로 요약한다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지표는 여러 처리 건의 기록을 수로 요약한 것으로, 고칠 곳을 고르고 고친 뒤 나아졌는지를 견주는 기준이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TextBox 5"/>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사이클 타임</a:t>
            </a:r>
          </a:p>
          <a:p>
            <a:pPr algn="l">
              <a:lnSpc>
                <a:spcPct val="110000"/>
              </a:lnSpc>
              <a:spcAft>
                <a:spcPts val="200"/>
              </a:spcAft>
            </a:pPr>
            <a:r>
              <a:rPr sz="1150" b="0">
                <a:solidFill>
                  <a:srgbClr val="556175"/>
                </a:solidFill>
                <a:latin typeface="맑은 고딕"/>
                <a:ea typeface="맑은 고딕"/>
                <a:cs typeface="맑은 고딕"/>
              </a:rPr>
              <a:t>Cycle Time</a:t>
            </a:r>
          </a:p>
        </p:txBody>
      </p:sp>
      <p:sp>
        <p:nvSpPr>
          <p:cNvPr id="7" name="TextBox 6"/>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시작 이벤트에서 끝 이벤트까지 걸린 시간이다.</a:t>
            </a:r>
          </a:p>
          <a:p>
            <a:pPr algn="l">
              <a:lnSpc>
                <a:spcPct val="110000"/>
              </a:lnSpc>
              <a:spcAft>
                <a:spcPts val="300"/>
              </a:spcAft>
            </a:pPr>
            <a:r>
              <a:rPr sz="1400" b="0">
                <a:solidFill>
                  <a:srgbClr val="1F2A3A"/>
                </a:solidFill>
                <a:latin typeface="맑은 고딕"/>
                <a:ea typeface="맑은 고딕"/>
                <a:cs typeface="맑은 고딕"/>
              </a:rPr>
              <a:t>승인된 세 처리 건은 146초, 60초, 58초였다.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대기 시간</a:t>
            </a:r>
          </a:p>
          <a:p>
            <a:pPr algn="l">
              <a:lnSpc>
                <a:spcPct val="110000"/>
              </a:lnSpc>
              <a:spcAft>
                <a:spcPts val="200"/>
              </a:spcAft>
            </a:pPr>
            <a:r>
              <a:rPr sz="1150" b="0">
                <a:solidFill>
                  <a:srgbClr val="556175"/>
                </a:solidFill>
                <a:latin typeface="맑은 고딕"/>
                <a:ea typeface="맑은 고딕"/>
                <a:cs typeface="맑은 고딕"/>
              </a:rPr>
              <a:t>Waiting Time</a:t>
            </a:r>
          </a:p>
        </p:txBody>
      </p:sp>
      <p:sp>
        <p:nvSpPr>
          <p:cNvPr id="10" name="TextBox 9"/>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작업이 열린 뒤 수행되기를 기다린 시간이다.</a:t>
            </a:r>
          </a:p>
          <a:p>
            <a:pPr algn="l">
              <a:lnSpc>
                <a:spcPct val="110000"/>
              </a:lnSpc>
              <a:spcAft>
                <a:spcPts val="300"/>
              </a:spcAft>
            </a:pPr>
            <a:r>
              <a:rPr sz="1400" b="0">
                <a:solidFill>
                  <a:srgbClr val="1F2A3A"/>
                </a:solidFill>
                <a:latin typeface="맑은 고딕"/>
                <a:ea typeface="맑은 고딕"/>
                <a:cs typeface="맑은 고딕"/>
              </a:rPr>
              <a:t>사용자 작업에서는 승인자가 응답하기까지의 시간이다.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처리 건수</a:t>
            </a:r>
          </a:p>
          <a:p>
            <a:pPr algn="l">
              <a:lnSpc>
                <a:spcPct val="110000"/>
              </a:lnSpc>
              <a:spcAft>
                <a:spcPts val="200"/>
              </a:spcAft>
            </a:pPr>
            <a:r>
              <a:rPr sz="1150" b="0">
                <a:solidFill>
                  <a:srgbClr val="556175"/>
                </a:solidFill>
                <a:latin typeface="맑은 고딕"/>
                <a:ea typeface="맑은 고딕"/>
                <a:cs typeface="맑은 고딕"/>
              </a:rPr>
              <a:t>Throughput</a:t>
            </a:r>
          </a:p>
        </p:txBody>
      </p:sp>
      <p:sp>
        <p:nvSpPr>
          <p:cNvPr id="13" name="TextBox 12"/>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정해진 기간에 끝난 처리 건의 수이다.</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반려율</a:t>
            </a:r>
          </a:p>
          <a:p>
            <a:pPr algn="l">
              <a:lnSpc>
                <a:spcPct val="110000"/>
              </a:lnSpc>
              <a:spcAft>
                <a:spcPts val="200"/>
              </a:spcAft>
            </a:pPr>
            <a:r>
              <a:rPr sz="1150" b="0">
                <a:solidFill>
                  <a:srgbClr val="556175"/>
                </a:solidFill>
                <a:latin typeface="맑은 고딕"/>
                <a:ea typeface="맑은 고딕"/>
                <a:cs typeface="맑은 고딕"/>
              </a:rPr>
              <a:t>Rejection Rate</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끝난 처리 건 가운데 거절로 닫힌 것의 비율이다.</a:t>
            </a:r>
          </a:p>
          <a:p>
            <a:pPr algn="l">
              <a:lnSpc>
                <a:spcPct val="110000"/>
              </a:lnSpc>
              <a:spcAft>
                <a:spcPts val="300"/>
              </a:spcAft>
            </a:pPr>
            <a:r>
              <a:rPr sz="1400" b="0">
                <a:solidFill>
                  <a:srgbClr val="1F2A3A"/>
                </a:solidFill>
                <a:latin typeface="맑은 고딕"/>
                <a:ea typeface="맑은 고딕"/>
                <a:cs typeface="맑은 고딕"/>
              </a:rPr>
              <a:t>높으면 에이전트의 제안이나 승인의 기준을 점검한다.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같은 것, 다른 것, 읽는 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프로세스는 승인 블록이라는 같은 구조 위에서 네 가지 값만 달랐고, 상태와 기록은 한 가지 방법으로 읽혔다.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sitemap" descr="sitemap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같은 것</a:t>
            </a:r>
          </a:p>
          <a:p>
            <a:pPr algn="l">
              <a:lnSpc>
                <a:spcPct val="110000"/>
              </a:lnSpc>
              <a:spcAft>
                <a:spcPts val="400"/>
              </a:spcAft>
            </a:pPr>
            <a:r>
              <a:rPr sz="1400" b="0">
                <a:solidFill>
                  <a:srgbClr val="1F2A3A"/>
                </a:solidFill>
                <a:latin typeface="맑은 고딕"/>
                <a:ea typeface="맑은 고딕"/>
                <a:cs typeface="맑은 고딕"/>
              </a:rPr>
              <a:t>• 제안, 승인 또는 거절, 처리, 결과 보고의 순서</a:t>
            </a:r>
          </a:p>
          <a:p>
            <a:pPr algn="l">
              <a:lnSpc>
                <a:spcPct val="110000"/>
              </a:lnSpc>
              <a:spcAft>
                <a:spcPts val="400"/>
              </a:spcAft>
            </a:pPr>
            <a:r>
              <a:rPr sz="1400" b="0">
                <a:solidFill>
                  <a:srgbClr val="1F2A3A"/>
                </a:solidFill>
                <a:latin typeface="맑은 고딕"/>
                <a:ea typeface="맑은 고딕"/>
                <a:cs typeface="맑은 고딕"/>
              </a:rPr>
              <a:t>• 승인 블록의 일곱 요소</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구조</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pencil" descr="pencil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다른 것</a:t>
            </a:r>
          </a:p>
          <a:p>
            <a:pPr algn="l">
              <a:lnSpc>
                <a:spcPct val="110000"/>
              </a:lnSpc>
              <a:spcAft>
                <a:spcPts val="400"/>
              </a:spcAft>
            </a:pPr>
            <a:r>
              <a:rPr sz="1400" b="0">
                <a:solidFill>
                  <a:srgbClr val="1F2A3A"/>
                </a:solidFill>
                <a:latin typeface="맑은 고딕"/>
                <a:ea typeface="맑은 고딕"/>
                <a:cs typeface="맑은 고딕"/>
              </a:rPr>
              <a:t>시작 조건, 에이전트, 승인자, 실행 시스템</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file-search" descr="file-search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읽는 법</a:t>
            </a:r>
          </a:p>
          <a:p>
            <a:pPr algn="l">
              <a:lnSpc>
                <a:spcPct val="110000"/>
              </a:lnSpc>
              <a:spcAft>
                <a:spcPts val="400"/>
              </a:spcAft>
            </a:pPr>
            <a:r>
              <a:rPr sz="1400" b="0">
                <a:solidFill>
                  <a:srgbClr val="1F2A3A"/>
                </a:solidFill>
                <a:latin typeface="맑은 고딕"/>
                <a:ea typeface="맑은 고딕"/>
                <a:cs typeface="맑은 고딕"/>
              </a:rPr>
              <a:t>• 처리 건의 상태, 끝 이벤트, 결과 보고로 결말을 읽는다</a:t>
            </a:r>
          </a:p>
          <a:p>
            <a:pPr algn="l">
              <a:lnSpc>
                <a:spcPct val="110000"/>
              </a:lnSpc>
              <a:spcAft>
                <a:spcPts val="400"/>
              </a:spcAft>
            </a:pPr>
            <a:r>
              <a:rPr sz="1400" b="0">
                <a:solidFill>
                  <a:srgbClr val="1F2A3A"/>
                </a:solidFill>
                <a:latin typeface="맑은 고딕"/>
                <a:ea typeface="맑은 고딕"/>
                <a:cs typeface="맑은 고딕"/>
              </a:rPr>
              <a:t>• 단계의 시각에서 병목과 지표를 얻는다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기록</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정기 점검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정기 점검 도래에서 정비 오더와 공지까지의 흐름을 bpmn.io로 그린다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프로세스: 그리는 요소와 완성되는 파일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승인 블록을 다시 쓴 정기 점검 프로세스의 BPMN 파일 하나가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시작과 제안</a:t>
            </a:r>
          </a:p>
          <a:p>
            <a:pPr algn="l">
              <a:lnSpc>
                <a:spcPct val="110000"/>
              </a:lnSpc>
              <a:spcAft>
                <a:spcPts val="400"/>
              </a:spcAft>
            </a:pPr>
            <a:r>
              <a:rPr sz="1350" b="0">
                <a:solidFill>
                  <a:srgbClr val="1F2A3A"/>
                </a:solidFill>
                <a:latin typeface="맑은 고딕"/>
                <a:ea typeface="맑은 고딕"/>
                <a:cs typeface="맑은 고딕"/>
              </a:rPr>
              <a:t>정기 점검 도래로 시작해 정비 계획 에이전트의 제안 작업으로 잇는다</a:t>
            </a:r>
          </a:p>
        </p:txBody>
      </p:sp>
      <p:sp>
        <p:nvSpPr>
          <p:cNvPr id="10" name="Rounded Rectangle 9"/>
          <p:cNvSpPr/>
          <p:nvPr/>
        </p:nvSpPr>
        <p:spPr>
          <a:xfrm>
            <a:off x="777240" y="513435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블록</a:t>
            </a:r>
          </a:p>
          <a:p>
            <a:pPr algn="l">
              <a:lnSpc>
                <a:spcPct val="110000"/>
              </a:lnSpc>
              <a:spcAft>
                <a:spcPts val="400"/>
              </a:spcAft>
            </a:pPr>
            <a:r>
              <a:rPr sz="1350" b="0">
                <a:solidFill>
                  <a:srgbClr val="1F2A3A"/>
                </a:solidFill>
                <a:latin typeface="맑은 고딕"/>
                <a:ea typeface="맑은 고딕"/>
                <a:cs typeface="맑은 고딕"/>
              </a:rPr>
              <a:t>설비보전팀장의 승인과 거절, 승인 지연 타이머를 지난 시간의 그림과 같은 모양으로 놓는다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다시 쓴다</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settings" descr="settings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뒤의 작업</a:t>
            </a:r>
          </a:p>
          <a:p>
            <a:pPr algn="l">
              <a:lnSpc>
                <a:spcPct val="110000"/>
              </a:lnSpc>
              <a:spcAft>
                <a:spcPts val="400"/>
              </a:spcAft>
            </a:pPr>
            <a:r>
              <a:rPr sz="1350" b="0">
                <a:solidFill>
                  <a:srgbClr val="1F2A3A"/>
                </a:solidFill>
                <a:latin typeface="맑은 고딕"/>
                <a:ea typeface="맑은 고딕"/>
                <a:cs typeface="맑은 고딕"/>
              </a:rPr>
              <a:t>CMMS 정비 오더, 생산팀 공지, 결과 보고를 시스템 레인에 놓는다</a:t>
            </a:r>
          </a:p>
        </p:txBody>
      </p:sp>
      <p:sp>
        <p:nvSpPr>
          <p:cNvPr id="22" name="Rounded Rectangle 21"/>
          <p:cNvSpPr/>
          <p:nvPr/>
        </p:nvSpPr>
        <p:spPr>
          <a:xfrm>
            <a:off x="6461607" y="5134356"/>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file-text" descr="file-tex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완성되는 것</a:t>
            </a:r>
          </a:p>
          <a:p>
            <a:pPr algn="l">
              <a:lnSpc>
                <a:spcPct val="110000"/>
              </a:lnSpc>
              <a:spcAft>
                <a:spcPts val="400"/>
              </a:spcAft>
            </a:pPr>
            <a:r>
              <a:rPr sz="1350" b="0">
                <a:solidFill>
                  <a:srgbClr val="1F2A3A"/>
                </a:solidFill>
                <a:latin typeface="맑은 고딕"/>
                <a:ea typeface="맑은 고딕"/>
                <a:cs typeface="맑은 고딕"/>
              </a:rPr>
              <a:t>작업 여섯, 게이트웨이 하나, 끝 이벤트 셋을 갖춘 BPMN 파일</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정기 점검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그린 프로세스를 정비 계획 에이전트와 CMMS에 연결해 배포하고 실행한다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프로세스: 연결하는 것과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배포한 프로세스로 열린 처리 건에 정비 오더와 생산팀 공지와 종료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연결</a:t>
            </a:r>
          </a:p>
          <a:p>
            <a:pPr algn="ctr">
              <a:lnSpc>
                <a:spcPct val="110000"/>
              </a:lnSpc>
              <a:spcAft>
                <a:spcPts val="400"/>
              </a:spcAft>
            </a:pPr>
            <a:r>
              <a:rPr sz="1350" b="0">
                <a:solidFill>
                  <a:srgbClr val="1F2A3A"/>
                </a:solidFill>
                <a:latin typeface="맑은 고딕"/>
                <a:ea typeface="맑은 고딕"/>
                <a:cs typeface="맑은 고딕"/>
              </a:rPr>
              <a:t>경보 패턴 PM_DUE,</a:t>
            </a:r>
          </a:p>
          <a:p>
            <a:pPr algn="ctr">
              <a:lnSpc>
                <a:spcPct val="110000"/>
              </a:lnSpc>
              <a:spcAft>
                <a:spcPts val="400"/>
              </a:spcAft>
            </a:pPr>
            <a:r>
              <a:rPr sz="1350" b="0">
                <a:solidFill>
                  <a:srgbClr val="1F2A3A"/>
                </a:solidFill>
                <a:latin typeface="맑은 고딕"/>
                <a:ea typeface="맑은 고딕"/>
                <a:cs typeface="맑은 고딕"/>
              </a:rPr>
              <a:t>정비 계획 에이전트,</a:t>
            </a:r>
          </a:p>
          <a:p>
            <a:pPr algn="ctr">
              <a:lnSpc>
                <a:spcPct val="110000"/>
              </a:lnSpc>
              <a:spcAft>
                <a:spcPts val="400"/>
              </a:spcAft>
            </a:pPr>
            <a:r>
              <a:rPr sz="1350" b="0">
                <a:solidFill>
                  <a:srgbClr val="1F2A3A"/>
                </a:solidFill>
                <a:latin typeface="맑은 고딕"/>
                <a:ea typeface="맑은 고딕"/>
                <a:cs typeface="맑은 고딕"/>
              </a:rPr>
              <a:t>설비보전팀장 역할,</a:t>
            </a:r>
          </a:p>
          <a:p>
            <a:pPr algn="ctr">
              <a:lnSpc>
                <a:spcPct val="110000"/>
              </a:lnSpc>
              <a:spcAft>
                <a:spcPts val="400"/>
              </a:spcAft>
            </a:pPr>
            <a:r>
              <a:rPr sz="1350" b="0">
                <a:solidFill>
                  <a:srgbClr val="1F2A3A"/>
                </a:solidFill>
                <a:latin typeface="맑은 고딕"/>
                <a:ea typeface="맑은 고딕"/>
                <a:cs typeface="맑은 고딕"/>
              </a:rPr>
              <a:t>CMMS와 공지 작업</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rocket" descr="rocket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검사와 배포</a:t>
            </a:r>
          </a:p>
          <a:p>
            <a:pPr algn="ctr">
              <a:lnSpc>
                <a:spcPct val="110000"/>
              </a:lnSpc>
              <a:spcAft>
                <a:spcPts val="400"/>
              </a:spcAft>
            </a:pPr>
            <a:r>
              <a:rPr sz="1350" b="0">
                <a:solidFill>
                  <a:srgbClr val="1F2A3A"/>
                </a:solidFill>
                <a:latin typeface="맑은 고딕"/>
                <a:ea typeface="맑은 고딕"/>
                <a:cs typeface="맑은 고딕"/>
              </a:rPr>
              <a:t>사전 검사를 거쳐</a:t>
            </a:r>
          </a:p>
          <a:p>
            <a:pPr algn="ctr">
              <a:lnSpc>
                <a:spcPct val="110000"/>
              </a:lnSpc>
              <a:spcAft>
                <a:spcPts val="400"/>
              </a:spcAft>
            </a:pPr>
            <a:r>
              <a:rPr sz="1350" b="0">
                <a:solidFill>
                  <a:srgbClr val="1F2A3A"/>
                </a:solidFill>
                <a:latin typeface="맑은 고딕"/>
                <a:ea typeface="맑은 고딕"/>
                <a:cs typeface="맑은 고딕"/>
              </a:rPr>
              <a:t>등록하고 배포한다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player-play" descr="player-play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실행</a:t>
            </a:r>
          </a:p>
          <a:p>
            <a:pPr algn="ctr">
              <a:lnSpc>
                <a:spcPct val="110000"/>
              </a:lnSpc>
              <a:spcAft>
                <a:spcPts val="400"/>
              </a:spcAft>
            </a:pPr>
            <a:r>
              <a:rPr sz="1350" b="0">
                <a:solidFill>
                  <a:srgbClr val="1F2A3A"/>
                </a:solidFill>
                <a:latin typeface="맑은 고딕"/>
                <a:ea typeface="맑은 고딕"/>
                <a:cs typeface="맑은 고딕"/>
              </a:rPr>
              <a:t>정기 점검 도래로</a:t>
            </a:r>
          </a:p>
          <a:p>
            <a:pPr algn="ctr">
              <a:lnSpc>
                <a:spcPct val="110000"/>
              </a:lnSpc>
              <a:spcAft>
                <a:spcPts val="400"/>
              </a:spcAft>
            </a:pPr>
            <a:r>
              <a:rPr sz="1350" b="0">
                <a:solidFill>
                  <a:srgbClr val="1F2A3A"/>
                </a:solidFill>
                <a:latin typeface="맑은 고딕"/>
                <a:ea typeface="맑은 고딕"/>
                <a:cs typeface="맑은 고딕"/>
              </a:rPr>
              <a:t>처리 건이 열리고</a:t>
            </a:r>
          </a:p>
          <a:p>
            <a:pPr algn="ctr">
              <a:lnSpc>
                <a:spcPct val="110000"/>
              </a:lnSpc>
              <a:spcAft>
                <a:spcPts val="400"/>
              </a:spcAft>
            </a:pPr>
            <a:r>
              <a:rPr sz="1350" b="0">
                <a:solidFill>
                  <a:srgbClr val="1F2A3A"/>
                </a:solidFill>
                <a:latin typeface="맑은 고딕"/>
                <a:ea typeface="맑은 고딕"/>
                <a:cs typeface="맑은 고딕"/>
              </a:rPr>
              <a:t>제안이 승인을 기다린다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file-text" descr="file-text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승인 뒤</a:t>
            </a:r>
          </a:p>
          <a:p>
            <a:pPr algn="ctr">
              <a:lnSpc>
                <a:spcPct val="110000"/>
              </a:lnSpc>
              <a:spcAft>
                <a:spcPts val="400"/>
              </a:spcAft>
            </a:pPr>
            <a:r>
              <a:rPr sz="1350" b="0">
                <a:solidFill>
                  <a:srgbClr val="1F2A3A"/>
                </a:solidFill>
                <a:latin typeface="맑은 고딕"/>
                <a:ea typeface="맑은 고딕"/>
                <a:cs typeface="맑은 고딕"/>
              </a:rPr>
              <a:t>정비 오더 등록,</a:t>
            </a:r>
          </a:p>
          <a:p>
            <a:pPr algn="ctr">
              <a:lnSpc>
                <a:spcPct val="110000"/>
              </a:lnSpc>
              <a:spcAft>
                <a:spcPts val="400"/>
              </a:spcAft>
            </a:pPr>
            <a:r>
              <a:rPr sz="1350" b="0">
                <a:solidFill>
                  <a:srgbClr val="1F2A3A"/>
                </a:solidFill>
                <a:latin typeface="맑은 고딕"/>
                <a:ea typeface="맑은 고딕"/>
                <a:cs typeface="맑은 고딕"/>
              </a:rPr>
              <a:t>생산팀 공지,</a:t>
            </a:r>
          </a:p>
          <a:p>
            <a:pPr algn="ctr">
              <a:lnSpc>
                <a:spcPct val="110000"/>
              </a:lnSpc>
              <a:spcAft>
                <a:spcPts val="400"/>
              </a:spcAft>
            </a:pPr>
            <a:r>
              <a:rPr sz="1350" b="0">
                <a:solidFill>
                  <a:srgbClr val="1F2A3A"/>
                </a:solidFill>
                <a:latin typeface="맑은 고딕"/>
                <a:ea typeface="맑은 고딕"/>
                <a:cs typeface="맑은 고딕"/>
              </a:rPr>
              <a:t>결과 보고와 종료</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재고 보충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재고 부족에서 발주와 입고까지의 흐름을 bpmn.io로 그린다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 프로세스: 그리는 요소와 완성되는 파일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발주에서 입고와 재고 반영까지를 승인 뒤에 이은 재고 보충 프로세스의 BPMN 파일이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시작과 제안</a:t>
            </a:r>
          </a:p>
          <a:p>
            <a:pPr algn="l">
              <a:lnSpc>
                <a:spcPct val="110000"/>
              </a:lnSpc>
              <a:spcAft>
                <a:spcPts val="400"/>
              </a:spcAft>
            </a:pPr>
            <a:r>
              <a:rPr sz="1350" b="0">
                <a:solidFill>
                  <a:srgbClr val="1F2A3A"/>
                </a:solidFill>
                <a:latin typeface="맑은 고딕"/>
                <a:ea typeface="맑은 고딕"/>
                <a:cs typeface="맑은 고딕"/>
              </a:rPr>
              <a:t>재고 부족으로 시작해 구매 에이전트가 수량과 공급사를 제안하는 작업으로 잇는다</a:t>
            </a:r>
          </a:p>
        </p:txBody>
      </p:sp>
      <p:sp>
        <p:nvSpPr>
          <p:cNvPr id="10" name="Rounded Rectangle 9"/>
          <p:cNvSpPr/>
          <p:nvPr/>
        </p:nvSpPr>
        <p:spPr>
          <a:xfrm>
            <a:off x="777240" y="513435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블록</a:t>
            </a:r>
          </a:p>
          <a:p>
            <a:pPr algn="l">
              <a:lnSpc>
                <a:spcPct val="110000"/>
              </a:lnSpc>
              <a:spcAft>
                <a:spcPts val="400"/>
              </a:spcAft>
            </a:pPr>
            <a:r>
              <a:rPr sz="1350" b="0">
                <a:solidFill>
                  <a:srgbClr val="1F2A3A"/>
                </a:solidFill>
                <a:latin typeface="맑은 고딕"/>
                <a:ea typeface="맑은 고딕"/>
                <a:cs typeface="맑은 고딕"/>
              </a:rPr>
              <a:t>구매 담당의 승인과 거절, 승인 지연 타이머를 같은 모양으로 놓는다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다시 쓴다</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settings" descr="settings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뒤의 작업</a:t>
            </a:r>
          </a:p>
          <a:p>
            <a:pPr algn="l">
              <a:lnSpc>
                <a:spcPct val="110000"/>
              </a:lnSpc>
              <a:spcAft>
                <a:spcPts val="400"/>
              </a:spcAft>
            </a:pPr>
            <a:r>
              <a:rPr sz="1350" b="0">
                <a:solidFill>
                  <a:srgbClr val="1F2A3A"/>
                </a:solidFill>
                <a:latin typeface="맑은 고딕"/>
                <a:ea typeface="맑은 고딕"/>
                <a:cs typeface="맑은 고딕"/>
              </a:rPr>
              <a:t>ERP 발주, 공급사 통지, 입고와 재고 반영, 결과 보고를 차례로 잇는다</a:t>
            </a:r>
          </a:p>
        </p:txBody>
      </p:sp>
      <p:sp>
        <p:nvSpPr>
          <p:cNvPr id="22" name="Rounded Rectangle 21"/>
          <p:cNvSpPr/>
          <p:nvPr/>
        </p:nvSpPr>
        <p:spPr>
          <a:xfrm>
            <a:off x="6461607" y="5134356"/>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file-text" descr="file-tex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완성되는 것</a:t>
            </a:r>
          </a:p>
          <a:p>
            <a:pPr algn="l">
              <a:lnSpc>
                <a:spcPct val="110000"/>
              </a:lnSpc>
              <a:spcAft>
                <a:spcPts val="400"/>
              </a:spcAft>
            </a:pPr>
            <a:r>
              <a:rPr sz="1350" b="0">
                <a:solidFill>
                  <a:srgbClr val="1F2A3A"/>
                </a:solidFill>
                <a:latin typeface="맑은 고딕"/>
                <a:ea typeface="맑은 고딕"/>
                <a:cs typeface="맑은 고딕"/>
              </a:rPr>
              <a:t>작업 일곱, 게이트웨이 하나, 끝 이벤트 셋을 갖춘 BPMN 파일</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재고 보충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그린 프로세스를 구매 에이전트와 ERP에 연결해 배포하고 실행한다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 프로세스: 연결하는 것과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발주와 입고가 처리되어 가용 재고가 재주문점 위로 올라간 처리 건과 그 종료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529586"/>
            <a:ext cx="1911644" cy="292353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712466"/>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292321" y="2866085"/>
            <a:ext cx="424281" cy="424281"/>
          </a:xfrm>
          <a:prstGeom prst="rect">
            <a:avLst/>
          </a:prstGeom>
        </p:spPr>
      </p:pic>
      <p:sp>
        <p:nvSpPr>
          <p:cNvPr id="9" name="TextBox 8"/>
          <p:cNvSpPr txBox="1"/>
          <p:nvPr/>
        </p:nvSpPr>
        <p:spPr>
          <a:xfrm>
            <a:off x="62179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연결</a:t>
            </a:r>
          </a:p>
          <a:p>
            <a:pPr algn="ctr">
              <a:lnSpc>
                <a:spcPct val="110000"/>
              </a:lnSpc>
              <a:spcAft>
                <a:spcPts val="400"/>
              </a:spcAft>
            </a:pPr>
            <a:r>
              <a:rPr sz="1250" b="0">
                <a:solidFill>
                  <a:srgbClr val="1F2A3A"/>
                </a:solidFill>
                <a:latin typeface="맑은 고딕"/>
                <a:ea typeface="맑은 고딕"/>
                <a:cs typeface="맑은 고딕"/>
              </a:rPr>
              <a:t>경보 패턴</a:t>
            </a:r>
          </a:p>
          <a:p>
            <a:pPr algn="ctr">
              <a:lnSpc>
                <a:spcPct val="110000"/>
              </a:lnSpc>
              <a:spcAft>
                <a:spcPts val="400"/>
              </a:spcAft>
            </a:pPr>
            <a:r>
              <a:rPr sz="1250" b="0">
                <a:solidFill>
                  <a:srgbClr val="1F2A3A"/>
                </a:solidFill>
                <a:latin typeface="맑은 고딕"/>
                <a:ea typeface="맑은 고딕"/>
                <a:cs typeface="맑은 고딕"/>
              </a:rPr>
              <a:t>SPARE_BELOW_MIN,</a:t>
            </a:r>
          </a:p>
          <a:p>
            <a:pPr algn="ctr">
              <a:lnSpc>
                <a:spcPct val="110000"/>
              </a:lnSpc>
              <a:spcAft>
                <a:spcPts val="400"/>
              </a:spcAft>
            </a:pPr>
            <a:r>
              <a:rPr sz="1250" b="0">
                <a:solidFill>
                  <a:srgbClr val="1F2A3A"/>
                </a:solidFill>
                <a:latin typeface="맑은 고딕"/>
                <a:ea typeface="맑은 고딕"/>
                <a:cs typeface="맑은 고딕"/>
              </a:rPr>
              <a:t>구매 에이전트,</a:t>
            </a:r>
          </a:p>
          <a:p>
            <a:pPr algn="ctr">
              <a:lnSpc>
                <a:spcPct val="110000"/>
              </a:lnSpc>
              <a:spcAft>
                <a:spcPts val="400"/>
              </a:spcAft>
            </a:pPr>
            <a:r>
              <a:rPr sz="1250" b="0">
                <a:solidFill>
                  <a:srgbClr val="1F2A3A"/>
                </a:solidFill>
                <a:latin typeface="맑은 고딕"/>
                <a:ea typeface="맑은 고딕"/>
                <a:cs typeface="맑은 고딕"/>
              </a:rPr>
              <a:t>구매 담당 역할</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529586"/>
            <a:ext cx="1911644" cy="292353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712466"/>
            <a:ext cx="731520" cy="731520"/>
          </a:xfrm>
          <a:prstGeom prst="ellipse">
            <a:avLst/>
          </a:prstGeom>
          <a:solidFill>
            <a:srgbClr val="FFFFFF"/>
          </a:solidFill>
          <a:ln>
            <a:noFill/>
          </a:ln>
        </p:spPr>
        <p:txBody>
          <a:bodyPr rtlCol="0" anchor="ctr"/>
          <a:lstStyle/>
          <a:p>
            <a:pPr algn="ctr"/>
          </a:p>
        </p:txBody>
      </p:sp>
      <p:pic>
        <p:nvPicPr>
          <p:cNvPr id="13" name="아이콘:rocket" descr="rocket_13294B_1.6.png"/>
          <p:cNvPicPr>
            <a:picLocks noChangeAspect="1"/>
          </p:cNvPicPr>
          <p:nvPr/>
        </p:nvPicPr>
        <p:blipFill>
          <a:blip r:embed="rId4"/>
          <a:stretch>
            <a:fillRect/>
          </a:stretch>
        </p:blipFill>
        <p:spPr>
          <a:xfrm>
            <a:off x="3588014" y="2866085"/>
            <a:ext cx="424281" cy="424281"/>
          </a:xfrm>
          <a:prstGeom prst="rect">
            <a:avLst/>
          </a:prstGeom>
        </p:spPr>
      </p:pic>
      <p:sp>
        <p:nvSpPr>
          <p:cNvPr id="14" name="TextBox 13"/>
          <p:cNvSpPr txBox="1"/>
          <p:nvPr/>
        </p:nvSpPr>
        <p:spPr>
          <a:xfrm>
            <a:off x="2917484"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검사와 배포</a:t>
            </a:r>
          </a:p>
          <a:p>
            <a:pPr algn="ctr">
              <a:lnSpc>
                <a:spcPct val="110000"/>
              </a:lnSpc>
              <a:spcAft>
                <a:spcPts val="400"/>
              </a:spcAft>
            </a:pPr>
            <a:r>
              <a:rPr sz="1250" b="0">
                <a:solidFill>
                  <a:srgbClr val="1F2A3A"/>
                </a:solidFill>
                <a:latin typeface="맑은 고딕"/>
                <a:ea typeface="맑은 고딕"/>
                <a:cs typeface="맑은 고딕"/>
              </a:rPr>
              <a:t>사전 검사를 거쳐</a:t>
            </a:r>
          </a:p>
          <a:p>
            <a:pPr algn="ctr">
              <a:lnSpc>
                <a:spcPct val="110000"/>
              </a:lnSpc>
              <a:spcAft>
                <a:spcPts val="400"/>
              </a:spcAft>
            </a:pPr>
            <a:r>
              <a:rPr sz="1250" b="0">
                <a:solidFill>
                  <a:srgbClr val="1F2A3A"/>
                </a:solidFill>
                <a:latin typeface="맑은 고딕"/>
                <a:ea typeface="맑은 고딕"/>
                <a:cs typeface="맑은 고딕"/>
              </a:rPr>
              <a:t>등록하고 배포한다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529586"/>
            <a:ext cx="1911644" cy="292353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712466"/>
            <a:ext cx="731520" cy="731520"/>
          </a:xfrm>
          <a:prstGeom prst="ellipse">
            <a:avLst/>
          </a:prstGeom>
          <a:solidFill>
            <a:srgbClr val="FFFFFF"/>
          </a:solidFill>
          <a:ln>
            <a:noFill/>
          </a:ln>
        </p:spPr>
        <p:txBody>
          <a:bodyPr rtlCol="0" anchor="ctr"/>
          <a:lstStyle/>
          <a:p>
            <a:pPr algn="ctr"/>
          </a:p>
        </p:txBody>
      </p:sp>
      <p:pic>
        <p:nvPicPr>
          <p:cNvPr id="18" name="아이콘:player-play" descr="player-play_13294B_1.6.png"/>
          <p:cNvPicPr>
            <a:picLocks noChangeAspect="1"/>
          </p:cNvPicPr>
          <p:nvPr/>
        </p:nvPicPr>
        <p:blipFill>
          <a:blip r:embed="rId5"/>
          <a:stretch>
            <a:fillRect/>
          </a:stretch>
        </p:blipFill>
        <p:spPr>
          <a:xfrm>
            <a:off x="5883706" y="2866085"/>
            <a:ext cx="424281" cy="424281"/>
          </a:xfrm>
          <a:prstGeom prst="rect">
            <a:avLst/>
          </a:prstGeom>
        </p:spPr>
      </p:pic>
      <p:sp>
        <p:nvSpPr>
          <p:cNvPr id="19" name="TextBox 18"/>
          <p:cNvSpPr txBox="1"/>
          <p:nvPr/>
        </p:nvSpPr>
        <p:spPr>
          <a:xfrm>
            <a:off x="5213177"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실행</a:t>
            </a:r>
          </a:p>
          <a:p>
            <a:pPr algn="ctr">
              <a:lnSpc>
                <a:spcPct val="110000"/>
              </a:lnSpc>
              <a:spcAft>
                <a:spcPts val="400"/>
              </a:spcAft>
            </a:pPr>
            <a:r>
              <a:rPr sz="1250" b="0">
                <a:solidFill>
                  <a:srgbClr val="1F2A3A"/>
                </a:solidFill>
                <a:latin typeface="맑은 고딕"/>
                <a:ea typeface="맑은 고딕"/>
                <a:cs typeface="맑은 고딕"/>
              </a:rPr>
              <a:t>재고 부족으로</a:t>
            </a:r>
          </a:p>
          <a:p>
            <a:pPr algn="ctr">
              <a:lnSpc>
                <a:spcPct val="110000"/>
              </a:lnSpc>
              <a:spcAft>
                <a:spcPts val="400"/>
              </a:spcAft>
            </a:pPr>
            <a:r>
              <a:rPr sz="1250" b="0">
                <a:solidFill>
                  <a:srgbClr val="1F2A3A"/>
                </a:solidFill>
                <a:latin typeface="맑은 고딕"/>
                <a:ea typeface="맑은 고딕"/>
                <a:cs typeface="맑은 고딕"/>
              </a:rPr>
              <a:t>처리 건이 열리고</a:t>
            </a:r>
          </a:p>
          <a:p>
            <a:pPr algn="ctr">
              <a:lnSpc>
                <a:spcPct val="110000"/>
              </a:lnSpc>
              <a:spcAft>
                <a:spcPts val="400"/>
              </a:spcAft>
            </a:pPr>
            <a:r>
              <a:rPr sz="1250" b="0">
                <a:solidFill>
                  <a:srgbClr val="1F2A3A"/>
                </a:solidFill>
                <a:latin typeface="맑은 고딕"/>
                <a:ea typeface="맑은 고딕"/>
                <a:cs typeface="맑은 고딕"/>
              </a:rPr>
              <a:t>발주안이 승인을 기다린다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529586"/>
            <a:ext cx="1911644" cy="292353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712466"/>
            <a:ext cx="731520" cy="731520"/>
          </a:xfrm>
          <a:prstGeom prst="ellipse">
            <a:avLst/>
          </a:prstGeom>
          <a:solidFill>
            <a:srgbClr val="FFFFFF"/>
          </a:solidFill>
          <a:ln>
            <a:noFill/>
          </a:ln>
        </p:spPr>
        <p:txBody>
          <a:bodyPr rtlCol="0" anchor="ctr"/>
          <a:lstStyle/>
          <a:p>
            <a:pPr algn="ctr"/>
          </a:p>
        </p:txBody>
      </p:sp>
      <p:pic>
        <p:nvPicPr>
          <p:cNvPr id="23" name="아이콘:package" descr="package_13294B_1.6.png"/>
          <p:cNvPicPr>
            <a:picLocks noChangeAspect="1"/>
          </p:cNvPicPr>
          <p:nvPr/>
        </p:nvPicPr>
        <p:blipFill>
          <a:blip r:embed="rId6"/>
          <a:stretch>
            <a:fillRect/>
          </a:stretch>
        </p:blipFill>
        <p:spPr>
          <a:xfrm>
            <a:off x="8179399" y="2866085"/>
            <a:ext cx="424281" cy="424281"/>
          </a:xfrm>
          <a:prstGeom prst="rect">
            <a:avLst/>
          </a:prstGeom>
        </p:spPr>
      </p:pic>
      <p:sp>
        <p:nvSpPr>
          <p:cNvPr id="24" name="TextBox 23"/>
          <p:cNvSpPr txBox="1"/>
          <p:nvPr/>
        </p:nvSpPr>
        <p:spPr>
          <a:xfrm>
            <a:off x="7508869"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 뒤</a:t>
            </a:r>
          </a:p>
          <a:p>
            <a:pPr algn="ctr">
              <a:lnSpc>
                <a:spcPct val="110000"/>
              </a:lnSpc>
              <a:spcAft>
                <a:spcPts val="400"/>
              </a:spcAft>
            </a:pPr>
            <a:r>
              <a:rPr sz="1250" b="0">
                <a:solidFill>
                  <a:srgbClr val="1F2A3A"/>
                </a:solidFill>
                <a:latin typeface="맑은 고딕"/>
                <a:ea typeface="맑은 고딕"/>
                <a:cs typeface="맑은 고딕"/>
              </a:rPr>
              <a:t>ERP 발주,</a:t>
            </a:r>
          </a:p>
          <a:p>
            <a:pPr algn="ctr">
              <a:lnSpc>
                <a:spcPct val="110000"/>
              </a:lnSpc>
              <a:spcAft>
                <a:spcPts val="400"/>
              </a:spcAft>
            </a:pPr>
            <a:r>
              <a:rPr sz="1250" b="0">
                <a:solidFill>
                  <a:srgbClr val="1F2A3A"/>
                </a:solidFill>
                <a:latin typeface="맑은 고딕"/>
                <a:ea typeface="맑은 고딕"/>
                <a:cs typeface="맑은 고딕"/>
              </a:rPr>
              <a:t>공급사 통지,</a:t>
            </a:r>
          </a:p>
          <a:p>
            <a:pPr algn="ctr">
              <a:lnSpc>
                <a:spcPct val="110000"/>
              </a:lnSpc>
              <a:spcAft>
                <a:spcPts val="400"/>
              </a:spcAft>
            </a:pPr>
            <a:r>
              <a:rPr sz="1250" b="0">
                <a:solidFill>
                  <a:srgbClr val="1F2A3A"/>
                </a:solidFill>
                <a:latin typeface="맑은 고딕"/>
                <a:ea typeface="맑은 고딕"/>
                <a:cs typeface="맑은 고딕"/>
              </a:rPr>
              <a:t>입고와 재고 반영</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529586"/>
            <a:ext cx="1911644" cy="292353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712466"/>
            <a:ext cx="731520" cy="731520"/>
          </a:xfrm>
          <a:prstGeom prst="ellipse">
            <a:avLst/>
          </a:prstGeom>
          <a:solidFill>
            <a:srgbClr val="5CB8F2"/>
          </a:solidFill>
          <a:ln>
            <a:noFill/>
          </a:ln>
        </p:spPr>
        <p:txBody>
          <a:bodyPr rtlCol="0" anchor="ctr"/>
          <a:lstStyle/>
          <a:p>
            <a:pPr algn="ctr"/>
          </a:p>
        </p:txBody>
      </p:sp>
      <p:pic>
        <p:nvPicPr>
          <p:cNvPr id="28" name="아이콘:file-text" descr="file-text_13294B_1.6.png"/>
          <p:cNvPicPr>
            <a:picLocks noChangeAspect="1"/>
          </p:cNvPicPr>
          <p:nvPr/>
        </p:nvPicPr>
        <p:blipFill>
          <a:blip r:embed="rId7"/>
          <a:stretch>
            <a:fillRect/>
          </a:stretch>
        </p:blipFill>
        <p:spPr>
          <a:xfrm>
            <a:off x="10475092" y="2866085"/>
            <a:ext cx="424281" cy="424281"/>
          </a:xfrm>
          <a:prstGeom prst="rect">
            <a:avLst/>
          </a:prstGeom>
        </p:spPr>
      </p:pic>
      <p:sp>
        <p:nvSpPr>
          <p:cNvPr id="29" name="TextBox 28"/>
          <p:cNvSpPr txBox="1"/>
          <p:nvPr/>
        </p:nvSpPr>
        <p:spPr>
          <a:xfrm>
            <a:off x="980456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종료 기록</a:t>
            </a:r>
          </a:p>
          <a:p>
            <a:pPr algn="ctr">
              <a:lnSpc>
                <a:spcPct val="110000"/>
              </a:lnSpc>
              <a:spcAft>
                <a:spcPts val="400"/>
              </a:spcAft>
            </a:pPr>
            <a:r>
              <a:rPr sz="1250" b="0">
                <a:solidFill>
                  <a:srgbClr val="1F2A3A"/>
                </a:solidFill>
                <a:latin typeface="맑은 고딕"/>
                <a:ea typeface="맑은 고딕"/>
                <a:cs typeface="맑은 고딕"/>
              </a:rPr>
              <a:t>가용 재고가</a:t>
            </a:r>
          </a:p>
          <a:p>
            <a:pPr algn="ctr">
              <a:lnSpc>
                <a:spcPct val="110000"/>
              </a:lnSpc>
              <a:spcAft>
                <a:spcPts val="400"/>
              </a:spcAft>
            </a:pPr>
            <a:r>
              <a:rPr sz="1250" b="0">
                <a:solidFill>
                  <a:srgbClr val="1F2A3A"/>
                </a:solidFill>
                <a:latin typeface="맑은 고딕"/>
                <a:ea typeface="맑은 고딕"/>
                <a:cs typeface="맑은 고딕"/>
              </a:rPr>
              <a:t>1개에서 7개로,</a:t>
            </a:r>
          </a:p>
          <a:p>
            <a:pPr algn="ctr">
              <a:lnSpc>
                <a:spcPct val="110000"/>
              </a:lnSpc>
              <a:spcAft>
                <a:spcPts val="400"/>
              </a:spcAft>
            </a:pPr>
            <a:r>
              <a:rPr sz="1250" b="0">
                <a:solidFill>
                  <a:srgbClr val="1F2A3A"/>
                </a:solidFill>
                <a:latin typeface="맑은 고딕"/>
                <a:ea typeface="맑은 고딕"/>
                <a:cs typeface="맑은 고딕"/>
              </a:rPr>
              <a:t>결과 보고: 입고 완료</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AI와 사람이 함께 수행하는</a:t>
            </a:r>
          </a:p>
          <a:p>
            <a:pPr algn="l">
              <a:lnSpc>
                <a:spcPct val="110000"/>
              </a:lnSpc>
            </a:pPr>
            <a:r>
              <a:rPr sz="3400" b="1">
                <a:solidFill>
                  <a:srgbClr val="13294B"/>
                </a:solidFill>
                <a:latin typeface="맑은 고딕"/>
                <a:ea typeface="맑은 고딕"/>
                <a:cs typeface="맑은 고딕"/>
              </a:rPr>
              <a:t>업무 흐름의 정리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세 업무의 처리 건을 되짚고 지식, 에이전트, 프로세스를 잇는다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영역에서 다룬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영역에서는 프로세스를 정의하고 그려서 실행했으며, 같은 패턴으로 정비와 구매까지 넓혔다.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다룬 것</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답한 물음</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남은 결과물</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비즈니스 프로세스</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추천이 업무의 완료로 이어지려면 무엇을 정해야 하는가</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시작 조건에서</a:t>
            </a:r>
          </a:p>
          <a:p>
            <a:pPr algn="l">
              <a:lnSpc>
                <a:spcPct val="110000"/>
              </a:lnSpc>
            </a:pPr>
            <a:r>
              <a:rPr sz="1250" b="1">
                <a:solidFill>
                  <a:srgbClr val="556175"/>
                </a:solidFill>
                <a:latin typeface="맑은 고딕"/>
                <a:ea typeface="맑은 고딕"/>
                <a:cs typeface="맑은 고딕"/>
              </a:rPr>
              <a:t>완료 조건까지의 정의</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BPMN</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그 정의를 누구나 같은 뜻으로 읽게 하려면 어떻게 그리는가</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긴급 대응 프로세스의</a:t>
            </a:r>
          </a:p>
          <a:p>
            <a:pPr algn="l">
              <a:lnSpc>
                <a:spcPct val="110000"/>
              </a:lnSpc>
            </a:pPr>
            <a:r>
              <a:rPr sz="1250" b="1">
                <a:solidFill>
                  <a:srgbClr val="556175"/>
                </a:solidFill>
                <a:latin typeface="맑은 고딕"/>
                <a:ea typeface="맑은 고딕"/>
                <a:cs typeface="맑은 고딕"/>
              </a:rPr>
              <a:t>그림</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오케스트레이션</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그림대로 작업을 열고 진행을 기억하는 것은 무엇인가</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처리 건과 그 기록</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설계의 재사용</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다른 업무에도 같은 원리를 쓰려면 무엇을 남기고 무엇을 바꾸는가</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정기 점검, 재고 보충</a:t>
            </a:r>
          </a:p>
          <a:p>
            <a:pPr algn="l">
              <a:lnSpc>
                <a:spcPct val="110000"/>
              </a:lnSpc>
            </a:pPr>
            <a:r>
              <a:rPr sz="1250" b="1">
                <a:solidFill>
                  <a:srgbClr val="1A6FC4"/>
                </a:solidFill>
                <a:latin typeface="맑은 고딕"/>
                <a:ea typeface="맑은 고딕"/>
                <a:cs typeface="맑은 고딕"/>
              </a:rPr>
              <a:t>프로세스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그림을 그리는 데 쓴 BPMN 요소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프로세스는 일곱 가지 기호만으로 그려져, 이 기호를 읽으면 세 업무의 순서와 책임과 예외 경로를 따라갈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pic>
        <p:nvPicPr>
          <p:cNvPr id="6" name="삽화:요소_복습.svg" descr="illust_7836234085194457212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66559" y="3849532"/>
            <a:ext cx="1472781" cy="102666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메시지 시작 이벤트</a:t>
            </a:r>
          </a:p>
          <a:p>
            <a:pPr algn="ctr">
              <a:lnSpc>
                <a:spcPct val="110000"/>
              </a:lnSpc>
              <a:spcAft>
                <a:spcPts val="100"/>
              </a:spcAft>
            </a:pPr>
            <a:r>
              <a:rPr sz="1300" b="0">
                <a:solidFill>
                  <a:srgbClr val="556175"/>
                </a:solidFill>
                <a:latin typeface="맑은 고딕"/>
                <a:ea typeface="맑은 고딕"/>
                <a:cs typeface="맑은 고딕"/>
              </a:rPr>
              <a:t>경보가 도착하면 연다</a:t>
            </a:r>
          </a:p>
        </p:txBody>
      </p:sp>
      <p:sp>
        <p:nvSpPr>
          <p:cNvPr id="8" name="TextBox 7"/>
          <p:cNvSpPr txBox="1"/>
          <p:nvPr/>
        </p:nvSpPr>
        <p:spPr>
          <a:xfrm>
            <a:off x="2293888" y="3849532"/>
            <a:ext cx="1472781"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a:t>
            </a:r>
          </a:p>
          <a:p>
            <a:pPr algn="ctr">
              <a:lnSpc>
                <a:spcPct val="110000"/>
              </a:lnSpc>
              <a:spcAft>
                <a:spcPts val="100"/>
              </a:spcAft>
            </a:pPr>
            <a:r>
              <a:rPr sz="1300" b="0">
                <a:solidFill>
                  <a:srgbClr val="556175"/>
                </a:solidFill>
                <a:latin typeface="맑은 고딕"/>
                <a:ea typeface="맑은 고딕"/>
                <a:cs typeface="맑은 고딕"/>
              </a:rPr>
              <a:t>에이전트의 제안</a:t>
            </a:r>
          </a:p>
        </p:txBody>
      </p:sp>
      <p:sp>
        <p:nvSpPr>
          <p:cNvPr id="9" name="TextBox 8"/>
          <p:cNvSpPr txBox="1"/>
          <p:nvPr/>
        </p:nvSpPr>
        <p:spPr>
          <a:xfrm>
            <a:off x="3821217" y="3849532"/>
            <a:ext cx="1472781"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사용자 작업</a:t>
            </a:r>
          </a:p>
          <a:p>
            <a:pPr algn="ctr">
              <a:lnSpc>
                <a:spcPct val="110000"/>
              </a:lnSpc>
              <a:spcAft>
                <a:spcPts val="100"/>
              </a:spcAft>
            </a:pPr>
            <a:r>
              <a:rPr sz="1300" b="0">
                <a:solidFill>
                  <a:srgbClr val="556175"/>
                </a:solidFill>
                <a:latin typeface="맑은 고딕"/>
                <a:ea typeface="맑은 고딕"/>
                <a:cs typeface="맑은 고딕"/>
              </a:rPr>
              <a:t>사람의 승인</a:t>
            </a:r>
          </a:p>
        </p:txBody>
      </p:sp>
      <p:sp>
        <p:nvSpPr>
          <p:cNvPr id="10" name="TextBox 9"/>
          <p:cNvSpPr txBox="1"/>
          <p:nvPr/>
        </p:nvSpPr>
        <p:spPr>
          <a:xfrm>
            <a:off x="5348547" y="3849532"/>
            <a:ext cx="1472781"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서비스 작업</a:t>
            </a:r>
          </a:p>
          <a:p>
            <a:pPr algn="ctr">
              <a:lnSpc>
                <a:spcPct val="110000"/>
              </a:lnSpc>
              <a:spcAft>
                <a:spcPts val="100"/>
              </a:spcAft>
            </a:pPr>
            <a:r>
              <a:rPr sz="1300" b="0">
                <a:solidFill>
                  <a:srgbClr val="556175"/>
                </a:solidFill>
                <a:latin typeface="맑은 고딕"/>
                <a:ea typeface="맑은 고딕"/>
                <a:cs typeface="맑은 고딕"/>
              </a:rPr>
              <a:t>시스템의 처리와 결과 보고</a:t>
            </a:r>
          </a:p>
        </p:txBody>
      </p:sp>
      <p:sp>
        <p:nvSpPr>
          <p:cNvPr id="11" name="TextBox 10"/>
          <p:cNvSpPr txBox="1"/>
          <p:nvPr/>
        </p:nvSpPr>
        <p:spPr>
          <a:xfrm>
            <a:off x="6875876" y="3849532"/>
            <a:ext cx="1472781" cy="102666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배타 게이트웨이</a:t>
            </a:r>
          </a:p>
          <a:p>
            <a:pPr algn="ctr">
              <a:lnSpc>
                <a:spcPct val="110000"/>
              </a:lnSpc>
              <a:spcAft>
                <a:spcPts val="100"/>
              </a:spcAft>
            </a:pPr>
            <a:r>
              <a:rPr sz="1300" b="0">
                <a:solidFill>
                  <a:srgbClr val="556175"/>
                </a:solidFill>
                <a:latin typeface="맑은 고딕"/>
                <a:ea typeface="맑은 고딕"/>
                <a:cs typeface="맑은 고딕"/>
              </a:rPr>
              <a:t>승인과 거절의 갈림</a:t>
            </a:r>
          </a:p>
        </p:txBody>
      </p:sp>
      <p:sp>
        <p:nvSpPr>
          <p:cNvPr id="12" name="TextBox 11"/>
          <p:cNvSpPr txBox="1"/>
          <p:nvPr/>
        </p:nvSpPr>
        <p:spPr>
          <a:xfrm>
            <a:off x="8403205" y="3849532"/>
            <a:ext cx="1472781"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비중단형 경계 타이머</a:t>
            </a:r>
          </a:p>
          <a:p>
            <a:pPr algn="ctr">
              <a:lnSpc>
                <a:spcPct val="110000"/>
              </a:lnSpc>
              <a:spcAft>
                <a:spcPts val="100"/>
              </a:spcAft>
            </a:pPr>
            <a:r>
              <a:rPr sz="1300" b="0">
                <a:solidFill>
                  <a:srgbClr val="556175"/>
                </a:solidFill>
                <a:latin typeface="맑은 고딕"/>
                <a:ea typeface="맑은 고딕"/>
                <a:cs typeface="맑은 고딕"/>
              </a:rPr>
              <a:t>승인 지연의 알림</a:t>
            </a:r>
          </a:p>
        </p:txBody>
      </p:sp>
      <p:sp>
        <p:nvSpPr>
          <p:cNvPr id="13" name="TextBox 12"/>
          <p:cNvSpPr txBox="1"/>
          <p:nvPr/>
        </p:nvSpPr>
        <p:spPr>
          <a:xfrm>
            <a:off x="9930535" y="3849532"/>
            <a:ext cx="1472781"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끝 이벤트</a:t>
            </a:r>
          </a:p>
          <a:p>
            <a:pPr algn="ctr">
              <a:lnSpc>
                <a:spcPct val="110000"/>
              </a:lnSpc>
              <a:spcAft>
                <a:spcPts val="100"/>
              </a:spcAft>
            </a:pPr>
            <a:r>
              <a:rPr sz="1300" b="0">
                <a:solidFill>
                  <a:srgbClr val="556175"/>
                </a:solidFill>
                <a:latin typeface="맑은 고딕"/>
                <a:ea typeface="맑은 고딕"/>
                <a:cs typeface="맑은 고딕"/>
              </a:rPr>
              <a:t>끝, 거절 종결, 알림</a:t>
            </a:r>
          </a:p>
        </p:txBody>
      </p:sp>
      <p:sp>
        <p:nvSpPr>
          <p:cNvPr id="14" name="TextBox 13"/>
          <p:cNvSpPr txBox="1"/>
          <p:nvPr/>
        </p:nvSpPr>
        <p:spPr>
          <a:xfrm>
            <a:off x="1732049" y="550413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긴급 대응</a:t>
            </a:r>
          </a:p>
          <a:p>
            <a:pPr algn="ctr">
              <a:lnSpc>
                <a:spcPct val="110000"/>
              </a:lnSpc>
              <a:spcAft>
                <a:spcPts val="100"/>
              </a:spcAft>
            </a:pPr>
            <a:r>
              <a:rPr sz="1300" b="0">
                <a:solidFill>
                  <a:srgbClr val="556175"/>
                </a:solidFill>
                <a:latin typeface="맑은 고딕"/>
                <a:ea typeface="맑은 고딕"/>
                <a:cs typeface="맑은 고딕"/>
              </a:rPr>
              <a:t>작업 9 · 게이트웨이 2</a:t>
            </a:r>
          </a:p>
        </p:txBody>
      </p:sp>
      <p:sp>
        <p:nvSpPr>
          <p:cNvPr id="15" name="TextBox 14"/>
          <p:cNvSpPr txBox="1"/>
          <p:nvPr/>
        </p:nvSpPr>
        <p:spPr>
          <a:xfrm>
            <a:off x="4786708" y="550413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정기 점검</a:t>
            </a:r>
          </a:p>
          <a:p>
            <a:pPr algn="ctr">
              <a:lnSpc>
                <a:spcPct val="110000"/>
              </a:lnSpc>
              <a:spcAft>
                <a:spcPts val="100"/>
              </a:spcAft>
            </a:pPr>
            <a:r>
              <a:rPr sz="1300" b="0">
                <a:solidFill>
                  <a:srgbClr val="556175"/>
                </a:solidFill>
                <a:latin typeface="맑은 고딕"/>
                <a:ea typeface="맑은 고딕"/>
                <a:cs typeface="맑은 고딕"/>
              </a:rPr>
              <a:t>작업 6 · 게이트웨이 1</a:t>
            </a:r>
          </a:p>
        </p:txBody>
      </p:sp>
      <p:sp>
        <p:nvSpPr>
          <p:cNvPr id="16" name="TextBox 15"/>
          <p:cNvSpPr txBox="1"/>
          <p:nvPr/>
        </p:nvSpPr>
        <p:spPr>
          <a:xfrm>
            <a:off x="7841366" y="550413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재고 보충</a:t>
            </a:r>
          </a:p>
          <a:p>
            <a:pPr algn="ctr">
              <a:lnSpc>
                <a:spcPct val="110000"/>
              </a:lnSpc>
              <a:spcAft>
                <a:spcPts val="100"/>
              </a:spcAft>
            </a:pPr>
            <a:r>
              <a:rPr sz="1300" b="0">
                <a:solidFill>
                  <a:srgbClr val="556175"/>
                </a:solidFill>
                <a:latin typeface="맑은 고딕"/>
                <a:ea typeface="맑은 고딕"/>
                <a:cs typeface="맑은 고딕"/>
              </a:rPr>
              <a:t>작업 7 · 게이트웨이 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건이 지나는 다섯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어느 업무든 승인된 처리 건은 시작 이벤트, 에이전트의 판단, 사람의 승인, 시스템의 처리, 종료 기록을 차례로 지난다.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pic>
        <p:nvPicPr>
          <p:cNvPr id="6" name="삽화:다섯자리.svg" descr="illust_720046115940027773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시작 이벤트</a:t>
            </a:r>
          </a:p>
          <a:p>
            <a:pPr algn="ctr">
              <a:lnSpc>
                <a:spcPct val="110000"/>
              </a:lnSpc>
              <a:spcAft>
                <a:spcPts val="100"/>
              </a:spcAft>
            </a:pPr>
            <a:r>
              <a:rPr sz="1300" b="0">
                <a:solidFill>
                  <a:srgbClr val="556175"/>
                </a:solidFill>
                <a:latin typeface="맑은 고딕"/>
                <a:ea typeface="맑은 고딕"/>
                <a:cs typeface="맑은 고딕"/>
              </a:rPr>
              <a:t>사건이 경보로 도착한다</a:t>
            </a:r>
          </a:p>
        </p:txBody>
      </p:sp>
      <p:sp>
        <p:nvSpPr>
          <p:cNvPr id="8" name="TextBox 7"/>
          <p:cNvSpPr txBox="1"/>
          <p:nvPr/>
        </p:nvSpPr>
        <p:spPr>
          <a:xfrm>
            <a:off x="2975732"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에이전트의 판단</a:t>
            </a:r>
          </a:p>
          <a:p>
            <a:pPr algn="ctr">
              <a:lnSpc>
                <a:spcPct val="110000"/>
              </a:lnSpc>
              <a:spcAft>
                <a:spcPts val="100"/>
              </a:spcAft>
            </a:pPr>
            <a:r>
              <a:rPr sz="1300" b="0">
                <a:solidFill>
                  <a:srgbClr val="556175"/>
                </a:solidFill>
                <a:latin typeface="맑은 고딕"/>
                <a:ea typeface="맑은 고딕"/>
                <a:cs typeface="맑은 고딕"/>
              </a:rPr>
              <a:t>읽고 견주어 제안한다</a:t>
            </a:r>
          </a:p>
        </p:txBody>
      </p:sp>
      <p:sp>
        <p:nvSpPr>
          <p:cNvPr id="9" name="TextBox 8"/>
          <p:cNvSpPr txBox="1"/>
          <p:nvPr/>
        </p:nvSpPr>
        <p:spPr>
          <a:xfrm>
            <a:off x="5059445" y="1769455"/>
            <a:ext cx="207280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사람의 승인 · 거절</a:t>
            </a:r>
          </a:p>
          <a:p>
            <a:pPr algn="ctr">
              <a:lnSpc>
                <a:spcPct val="110000"/>
              </a:lnSpc>
              <a:spcAft>
                <a:spcPts val="100"/>
              </a:spcAft>
            </a:pPr>
            <a:r>
              <a:rPr sz="1300" b="0">
                <a:solidFill>
                  <a:srgbClr val="556175"/>
                </a:solidFill>
                <a:latin typeface="맑은 고딕"/>
                <a:ea typeface="맑은 고딕"/>
                <a:cs typeface="맑은 고딕"/>
              </a:rPr>
              <a:t>정해진 역할이 결정한다</a:t>
            </a:r>
          </a:p>
        </p:txBody>
      </p:sp>
      <p:sp>
        <p:nvSpPr>
          <p:cNvPr id="10" name="TextBox 9"/>
          <p:cNvSpPr txBox="1"/>
          <p:nvPr/>
        </p:nvSpPr>
        <p:spPr>
          <a:xfrm>
            <a:off x="7252254"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시스템의 처리</a:t>
            </a:r>
          </a:p>
          <a:p>
            <a:pPr algn="ctr">
              <a:lnSpc>
                <a:spcPct val="110000"/>
              </a:lnSpc>
              <a:spcAft>
                <a:spcPts val="100"/>
              </a:spcAft>
            </a:pPr>
            <a:r>
              <a:rPr sz="1300" b="0">
                <a:solidFill>
                  <a:srgbClr val="556175"/>
                </a:solidFill>
                <a:latin typeface="맑은 고딕"/>
                <a:ea typeface="맑은 고딕"/>
                <a:cs typeface="맑은 고딕"/>
              </a:rPr>
              <a:t>승인된 내용을 실행한다</a:t>
            </a:r>
          </a:p>
        </p:txBody>
      </p:sp>
      <p:sp>
        <p:nvSpPr>
          <p:cNvPr id="11" name="TextBox 10"/>
          <p:cNvSpPr txBox="1"/>
          <p:nvPr/>
        </p:nvSpPr>
        <p:spPr>
          <a:xfrm>
            <a:off x="9390515"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종료 기록</a:t>
            </a:r>
          </a:p>
          <a:p>
            <a:pPr algn="ctr">
              <a:lnSpc>
                <a:spcPct val="110000"/>
              </a:lnSpc>
              <a:spcAft>
                <a:spcPts val="100"/>
              </a:spcAft>
            </a:pPr>
            <a:r>
              <a:rPr sz="1300" b="0">
                <a:solidFill>
                  <a:srgbClr val="556175"/>
                </a:solidFill>
                <a:latin typeface="맑은 고딕"/>
                <a:ea typeface="맑은 고딕"/>
                <a:cs typeface="맑은 고딕"/>
              </a:rPr>
              <a:t>끝 이벤트와 결과 보고</a:t>
            </a:r>
          </a:p>
        </p:txBody>
      </p:sp>
      <p:sp>
        <p:nvSpPr>
          <p:cNvPr id="12" name="TextBox 11"/>
          <p:cNvSpPr txBox="1"/>
          <p:nvPr/>
        </p:nvSpPr>
        <p:spPr>
          <a:xfrm>
            <a:off x="6052209" y="5409590"/>
            <a:ext cx="436379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거절</a:t>
            </a:r>
          </a:p>
          <a:p>
            <a:pPr algn="ctr">
              <a:lnSpc>
                <a:spcPct val="110000"/>
              </a:lnSpc>
              <a:spcAft>
                <a:spcPts val="100"/>
              </a:spcAft>
            </a:pPr>
            <a:r>
              <a:rPr sz="1300" b="0">
                <a:solidFill>
                  <a:srgbClr val="556175"/>
                </a:solidFill>
                <a:latin typeface="맑은 고딕"/>
                <a:ea typeface="맑은 고딕"/>
                <a:cs typeface="맑은 고딕"/>
              </a:rPr>
              <a:t>시스템의 처리를 지나지 않고 종료 기록으로 간다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처리 건 안에서 주고받는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다섯 자리는 앞 자리가 낸 것을 받아 일하므로, 경보의 내용이 제안이 되고 제안이 승인된 내용이 되어 기록으로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pic>
        <p:nvPicPr>
          <p:cNvPr id="6" name="삽화:주고받는것.svg" descr="illust_5257674944807322298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1108"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시작 이벤트</a:t>
            </a:r>
          </a:p>
        </p:txBody>
      </p:sp>
      <p:sp>
        <p:nvSpPr>
          <p:cNvPr id="8" name="TextBox 7"/>
          <p:cNvSpPr txBox="1"/>
          <p:nvPr/>
        </p:nvSpPr>
        <p:spPr>
          <a:xfrm>
            <a:off x="3106645"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5332182"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사람</a:t>
            </a:r>
          </a:p>
        </p:txBody>
      </p:sp>
      <p:sp>
        <p:nvSpPr>
          <p:cNvPr id="10" name="TextBox 9"/>
          <p:cNvSpPr txBox="1"/>
          <p:nvPr/>
        </p:nvSpPr>
        <p:spPr>
          <a:xfrm>
            <a:off x="7557719"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
        <p:nvSpPr>
          <p:cNvPr id="11" name="TextBox 10"/>
          <p:cNvSpPr txBox="1"/>
          <p:nvPr/>
        </p:nvSpPr>
        <p:spPr>
          <a:xfrm>
            <a:off x="9783256"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보고</a:t>
            </a:r>
          </a:p>
        </p:txBody>
      </p:sp>
      <p:sp>
        <p:nvSpPr>
          <p:cNvPr id="12" name="TextBox 11"/>
          <p:cNvSpPr txBox="1"/>
          <p:nvPr/>
        </p:nvSpPr>
        <p:spPr>
          <a:xfrm>
            <a:off x="1252031" y="3707709"/>
            <a:ext cx="2836468" cy="1383029"/>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경보의 내용</a:t>
            </a:r>
          </a:p>
          <a:p>
            <a:pPr algn="ctr">
              <a:lnSpc>
                <a:spcPct val="110000"/>
              </a:lnSpc>
              <a:spcAft>
                <a:spcPts val="100"/>
              </a:spcAft>
            </a:pPr>
            <a:r>
              <a:rPr sz="1300" b="0">
                <a:solidFill>
                  <a:srgbClr val="556175"/>
                </a:solidFill>
                <a:latin typeface="맑은 고딕"/>
                <a:ea typeface="맑은 고딕"/>
                <a:cs typeface="맑은 고딕"/>
              </a:rPr>
              <a:t>설비와 경보 패턴</a:t>
            </a:r>
          </a:p>
          <a:p>
            <a:pPr algn="ctr">
              <a:lnSpc>
                <a:spcPct val="110000"/>
              </a:lnSpc>
              <a:spcAft>
                <a:spcPts val="100"/>
              </a:spcAft>
            </a:pPr>
            <a:r>
              <a:rPr sz="1300" b="0">
                <a:solidFill>
                  <a:srgbClr val="556175"/>
                </a:solidFill>
                <a:latin typeface="맑은 고딕"/>
                <a:ea typeface="맑은 고딕"/>
                <a:cs typeface="맑은 고딕"/>
              </a:rPr>
              <a:t>HYD-01 · COOLER_DEGRADATION</a:t>
            </a:r>
          </a:p>
          <a:p>
            <a:pPr algn="ctr">
              <a:lnSpc>
                <a:spcPct val="110000"/>
              </a:lnSpc>
              <a:spcAft>
                <a:spcPts val="100"/>
              </a:spcAft>
            </a:pPr>
            <a:r>
              <a:rPr sz="1300" b="0">
                <a:solidFill>
                  <a:srgbClr val="556175"/>
                </a:solidFill>
                <a:latin typeface="맑은 고딕"/>
                <a:ea typeface="맑은 고딕"/>
                <a:cs typeface="맑은 고딕"/>
              </a:rPr>
              <a:t>HYD-02 · PM_DUE</a:t>
            </a:r>
          </a:p>
          <a:p>
            <a:pPr algn="ctr">
              <a:lnSpc>
                <a:spcPct val="110000"/>
              </a:lnSpc>
              <a:spcAft>
                <a:spcPts val="100"/>
              </a:spcAft>
            </a:pPr>
            <a:r>
              <a:rPr sz="1300" b="0">
                <a:solidFill>
                  <a:srgbClr val="556175"/>
                </a:solidFill>
                <a:latin typeface="맑은 고딕"/>
                <a:ea typeface="맑은 고딕"/>
                <a:cs typeface="맑은 고딕"/>
              </a:rPr>
              <a:t>씰 키트 · SPARE_BELOW_MIN</a:t>
            </a:r>
          </a:p>
        </p:txBody>
      </p:sp>
      <p:sp>
        <p:nvSpPr>
          <p:cNvPr id="13" name="TextBox 12"/>
          <p:cNvSpPr txBox="1"/>
          <p:nvPr/>
        </p:nvSpPr>
        <p:spPr>
          <a:xfrm>
            <a:off x="3673939" y="3707709"/>
            <a:ext cx="261827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제안</a:t>
            </a:r>
          </a:p>
          <a:p>
            <a:pPr algn="ctr">
              <a:lnSpc>
                <a:spcPct val="110000"/>
              </a:lnSpc>
              <a:spcAft>
                <a:spcPts val="100"/>
              </a:spcAft>
            </a:pPr>
            <a:r>
              <a:rPr sz="1300" b="0">
                <a:solidFill>
                  <a:srgbClr val="556175"/>
                </a:solidFill>
                <a:latin typeface="맑은 고딕"/>
                <a:ea typeface="맑은 고딕"/>
                <a:cs typeface="맑은 고딕"/>
              </a:rPr>
              <a:t>추천과 대안, 그 근거</a:t>
            </a:r>
          </a:p>
          <a:p>
            <a:pPr algn="ctr">
              <a:lnSpc>
                <a:spcPct val="110000"/>
              </a:lnSpc>
              <a:spcAft>
                <a:spcPts val="100"/>
              </a:spcAft>
            </a:pPr>
            <a:r>
              <a:rPr sz="1300" b="0">
                <a:solidFill>
                  <a:srgbClr val="556175"/>
                </a:solidFill>
                <a:latin typeface="맑은 고딕"/>
                <a:ea typeface="맑은 고딕"/>
                <a:cs typeface="맑은 고딕"/>
              </a:rPr>
              <a:t>냉각 조치: 팬 최대 운전</a:t>
            </a:r>
          </a:p>
          <a:p>
            <a:pPr algn="ctr">
              <a:lnSpc>
                <a:spcPct val="110000"/>
              </a:lnSpc>
              <a:spcAft>
                <a:spcPts val="100"/>
              </a:spcAft>
            </a:pPr>
            <a:r>
              <a:rPr sz="1300" b="0">
                <a:solidFill>
                  <a:srgbClr val="556175"/>
                </a:solidFill>
                <a:latin typeface="맑은 고딕"/>
                <a:ea typeface="맑은 고딕"/>
                <a:cs typeface="맑은 고딕"/>
              </a:rPr>
              <a:t>정비 시점: 야간 정비 시간</a:t>
            </a:r>
          </a:p>
          <a:p>
            <a:pPr algn="ctr">
              <a:lnSpc>
                <a:spcPct val="110000"/>
              </a:lnSpc>
              <a:spcAft>
                <a:spcPts val="100"/>
              </a:spcAft>
            </a:pPr>
            <a:r>
              <a:rPr sz="1300" b="0">
                <a:solidFill>
                  <a:srgbClr val="556175"/>
                </a:solidFill>
                <a:latin typeface="맑은 고딕"/>
                <a:ea typeface="맑은 고딕"/>
                <a:cs typeface="맑은 고딕"/>
              </a:rPr>
              <a:t>발주안: 6개 · 공급사 · 금액</a:t>
            </a:r>
          </a:p>
        </p:txBody>
      </p:sp>
      <p:sp>
        <p:nvSpPr>
          <p:cNvPr id="14" name="TextBox 13"/>
          <p:cNvSpPr txBox="1"/>
          <p:nvPr/>
        </p:nvSpPr>
        <p:spPr>
          <a:xfrm>
            <a:off x="5899476" y="3707709"/>
            <a:ext cx="261827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승인된 내용</a:t>
            </a:r>
          </a:p>
          <a:p>
            <a:pPr algn="ctr">
              <a:lnSpc>
                <a:spcPct val="110000"/>
              </a:lnSpc>
              <a:spcAft>
                <a:spcPts val="100"/>
              </a:spcAft>
            </a:pPr>
            <a:r>
              <a:rPr sz="1300" b="0">
                <a:solidFill>
                  <a:srgbClr val="556175"/>
                </a:solidFill>
                <a:latin typeface="맑은 고딕"/>
                <a:ea typeface="맑은 고딕"/>
                <a:cs typeface="맑은 고딕"/>
              </a:rPr>
              <a:t>승인한 역할과 승인된 제안</a:t>
            </a:r>
          </a:p>
          <a:p>
            <a:pPr algn="ctr">
              <a:lnSpc>
                <a:spcPct val="110000"/>
              </a:lnSpc>
              <a:spcAft>
                <a:spcPts val="100"/>
              </a:spcAft>
            </a:pPr>
            <a:r>
              <a:rPr sz="1300" b="0">
                <a:solidFill>
                  <a:srgbClr val="556175"/>
                </a:solidFill>
                <a:latin typeface="맑은 고딕"/>
                <a:ea typeface="맑은 고딕"/>
                <a:cs typeface="맑은 고딕"/>
              </a:rPr>
              <a:t>운전원 · 팬 속도 100 %</a:t>
            </a:r>
          </a:p>
          <a:p>
            <a:pPr algn="ctr">
              <a:lnSpc>
                <a:spcPct val="110000"/>
              </a:lnSpc>
              <a:spcAft>
                <a:spcPts val="100"/>
              </a:spcAft>
            </a:pPr>
            <a:r>
              <a:rPr sz="1300" b="0">
                <a:solidFill>
                  <a:srgbClr val="556175"/>
                </a:solidFill>
                <a:latin typeface="맑은 고딕"/>
                <a:ea typeface="맑은 고딕"/>
                <a:cs typeface="맑은 고딕"/>
              </a:rPr>
              <a:t>설비보전팀장 · 정비 시점</a:t>
            </a:r>
          </a:p>
          <a:p>
            <a:pPr algn="ctr">
              <a:lnSpc>
                <a:spcPct val="110000"/>
              </a:lnSpc>
              <a:spcAft>
                <a:spcPts val="100"/>
              </a:spcAft>
            </a:pPr>
            <a:r>
              <a:rPr sz="1300" b="0">
                <a:solidFill>
                  <a:srgbClr val="556175"/>
                </a:solidFill>
                <a:latin typeface="맑은 고딕"/>
                <a:ea typeface="맑은 고딕"/>
                <a:cs typeface="맑은 고딕"/>
              </a:rPr>
              <a:t>구매 담당 · 수량과 공급사</a:t>
            </a:r>
          </a:p>
        </p:txBody>
      </p:sp>
      <p:sp>
        <p:nvSpPr>
          <p:cNvPr id="15" name="TextBox 14"/>
          <p:cNvSpPr txBox="1"/>
          <p:nvPr/>
        </p:nvSpPr>
        <p:spPr>
          <a:xfrm>
            <a:off x="8125013" y="3707709"/>
            <a:ext cx="261827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처리의 결과</a:t>
            </a:r>
          </a:p>
          <a:p>
            <a:pPr algn="ctr">
              <a:lnSpc>
                <a:spcPct val="110000"/>
              </a:lnSpc>
              <a:spcAft>
                <a:spcPts val="100"/>
              </a:spcAft>
            </a:pPr>
            <a:r>
              <a:rPr sz="1300" b="0">
                <a:solidFill>
                  <a:srgbClr val="556175"/>
                </a:solidFill>
                <a:latin typeface="맑은 고딕"/>
                <a:ea typeface="맑은 고딕"/>
                <a:cs typeface="맑은 고딕"/>
              </a:rPr>
              <a:t>업무 시스템에 남은 기록</a:t>
            </a:r>
          </a:p>
          <a:p>
            <a:pPr algn="ctr">
              <a:lnSpc>
                <a:spcPct val="110000"/>
              </a:lnSpc>
              <a:spcAft>
                <a:spcPts val="100"/>
              </a:spcAft>
            </a:pPr>
            <a:r>
              <a:rPr sz="1300" b="0">
                <a:solidFill>
                  <a:srgbClr val="556175"/>
                </a:solidFill>
                <a:latin typeface="맑은 고딕"/>
                <a:ea typeface="맑은 고딕"/>
                <a:cs typeface="맑은 고딕"/>
              </a:rPr>
              <a:t>설비 명령과 작업지시</a:t>
            </a:r>
          </a:p>
          <a:p>
            <a:pPr algn="ctr">
              <a:lnSpc>
                <a:spcPct val="110000"/>
              </a:lnSpc>
              <a:spcAft>
                <a:spcPts val="100"/>
              </a:spcAft>
            </a:pPr>
            <a:r>
              <a:rPr sz="1300" b="0">
                <a:solidFill>
                  <a:srgbClr val="556175"/>
                </a:solidFill>
                <a:latin typeface="맑은 고딕"/>
                <a:ea typeface="맑은 고딕"/>
                <a:cs typeface="맑은 고딕"/>
              </a:rPr>
              <a:t>정비 오더와 공지</a:t>
            </a:r>
          </a:p>
          <a:p>
            <a:pPr algn="ctr">
              <a:lnSpc>
                <a:spcPct val="110000"/>
              </a:lnSpc>
              <a:spcAft>
                <a:spcPts val="100"/>
              </a:spcAft>
            </a:pPr>
            <a:r>
              <a:rPr sz="1300" b="0">
                <a:solidFill>
                  <a:srgbClr val="556175"/>
                </a:solidFill>
                <a:latin typeface="맑은 고딕"/>
                <a:ea typeface="맑은 고딕"/>
                <a:cs typeface="맑은 고딕"/>
              </a:rPr>
              <a:t>발주와 입고</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긴급 대응 처리 건의 다섯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처리 건은 쿨러 성능 저하 경보에서 열려, 운전원의 승인 뒤 팬 명령과 작업지시를 남기고 정상으로 끝났다.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ectangle 5"/>
          <p:cNvSpPr/>
          <p:nvPr/>
        </p:nvSpPr>
        <p:spPr>
          <a:xfrm>
            <a:off x="1658081" y="3566096"/>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456368"/>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bell-ringing" descr="bell-ringing_13294B_1.6.png"/>
          <p:cNvPicPr>
            <a:picLocks noChangeAspect="1"/>
          </p:cNvPicPr>
          <p:nvPr/>
        </p:nvPicPr>
        <p:blipFill>
          <a:blip r:embed="rId3"/>
          <a:stretch>
            <a:fillRect/>
          </a:stretch>
        </p:blipFill>
        <p:spPr>
          <a:xfrm>
            <a:off x="1358088" y="3339255"/>
            <a:ext cx="599985" cy="599985"/>
          </a:xfrm>
          <a:prstGeom prst="rect">
            <a:avLst/>
          </a:prstGeom>
        </p:spPr>
      </p:pic>
      <p:sp>
        <p:nvSpPr>
          <p:cNvPr id="10" name="TextBox 9"/>
          <p:cNvSpPr txBox="1"/>
          <p:nvPr/>
        </p:nvSpPr>
        <p:spPr>
          <a:xfrm>
            <a:off x="64007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시작 이벤트</a:t>
            </a:r>
          </a:p>
          <a:p>
            <a:pPr algn="ctr">
              <a:lnSpc>
                <a:spcPct val="110000"/>
              </a:lnSpc>
              <a:spcAft>
                <a:spcPts val="400"/>
              </a:spcAft>
            </a:pPr>
            <a:r>
              <a:rPr sz="1300" b="0">
                <a:solidFill>
                  <a:srgbClr val="1F2A3A"/>
                </a:solidFill>
                <a:latin typeface="맑은 고딕"/>
                <a:ea typeface="맑은 고딕"/>
                <a:cs typeface="맑은 고딕"/>
              </a:rPr>
              <a:t>쿨러 성능 저하 경보</a:t>
            </a:r>
          </a:p>
          <a:p>
            <a:pPr algn="ctr">
              <a:lnSpc>
                <a:spcPct val="110000"/>
              </a:lnSpc>
              <a:spcAft>
                <a:spcPts val="400"/>
              </a:spcAft>
            </a:pPr>
            <a:r>
              <a:rPr sz="1300" b="0">
                <a:solidFill>
                  <a:srgbClr val="1F2A3A"/>
                </a:solidFill>
                <a:latin typeface="맑은 고딕"/>
                <a:ea typeface="맑은 고딕"/>
                <a:cs typeface="맑은 고딕"/>
              </a:rPr>
              <a:t>ALT-hyd01-0026-767a</a:t>
            </a:r>
          </a:p>
        </p:txBody>
      </p:sp>
      <p:sp>
        <p:nvSpPr>
          <p:cNvPr id="11" name="Chevron 10"/>
          <p:cNvSpPr/>
          <p:nvPr/>
        </p:nvSpPr>
        <p:spPr>
          <a:xfrm>
            <a:off x="4867534" y="3456368"/>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76971" y="3339255"/>
            <a:ext cx="599985" cy="599985"/>
          </a:xfrm>
          <a:prstGeom prst="rect">
            <a:avLst/>
          </a:prstGeom>
        </p:spPr>
      </p:pic>
      <p:sp>
        <p:nvSpPr>
          <p:cNvPr id="14" name="TextBox 13"/>
          <p:cNvSpPr txBox="1"/>
          <p:nvPr/>
        </p:nvSpPr>
        <p:spPr>
          <a:xfrm>
            <a:off x="2858963"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에이전트의 판단</a:t>
            </a:r>
          </a:p>
          <a:p>
            <a:pPr algn="ctr">
              <a:lnSpc>
                <a:spcPct val="110000"/>
              </a:lnSpc>
              <a:spcAft>
                <a:spcPts val="400"/>
              </a:spcAft>
            </a:pPr>
            <a:r>
              <a:rPr sz="1300" b="0">
                <a:solidFill>
                  <a:srgbClr val="1F2A3A"/>
                </a:solidFill>
                <a:latin typeface="맑은 고딕"/>
                <a:ea typeface="맑은 고딕"/>
                <a:cs typeface="맑은 고딕"/>
              </a:rPr>
              <a:t>원인 쿨러 핀 오염</a:t>
            </a:r>
          </a:p>
          <a:p>
            <a:pPr algn="ctr">
              <a:lnSpc>
                <a:spcPct val="110000"/>
              </a:lnSpc>
              <a:spcAft>
                <a:spcPts val="400"/>
              </a:spcAft>
            </a:pPr>
            <a:r>
              <a:rPr sz="1300" b="0">
                <a:solidFill>
                  <a:srgbClr val="1F2A3A"/>
                </a:solidFill>
                <a:latin typeface="맑은 고딕"/>
                <a:ea typeface="맑은 고딕"/>
                <a:cs typeface="맑은 고딕"/>
              </a:rPr>
              <a:t>추천 팬 최대 운전</a:t>
            </a:r>
          </a:p>
        </p:txBody>
      </p:sp>
      <p:sp>
        <p:nvSpPr>
          <p:cNvPr id="15" name="Chevron 14"/>
          <p:cNvSpPr/>
          <p:nvPr/>
        </p:nvSpPr>
        <p:spPr>
          <a:xfrm>
            <a:off x="7086417" y="3456368"/>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3062338"/>
            <a:ext cx="1153819" cy="1153819"/>
          </a:xfrm>
          <a:prstGeom prst="ellipse">
            <a:avLst/>
          </a:prstGeom>
          <a:solidFill>
            <a:srgbClr val="5CB8F2"/>
          </a:solidFill>
          <a:ln w="28575">
            <a:solidFill>
              <a:srgbClr val="13294B"/>
            </a:solidFill>
          </a:ln>
        </p:spPr>
        <p:txBody>
          <a:bodyPr rtlCol="0" anchor="ctr"/>
          <a:lstStyle/>
          <a:p>
            <a:pPr algn="ctr"/>
          </a:p>
        </p:txBody>
      </p:sp>
      <p:pic>
        <p:nvPicPr>
          <p:cNvPr id="17" name="아이콘:user-check" descr="user-check_13294B_1.6.png"/>
          <p:cNvPicPr>
            <a:picLocks noChangeAspect="1"/>
          </p:cNvPicPr>
          <p:nvPr/>
        </p:nvPicPr>
        <p:blipFill>
          <a:blip r:embed="rId5"/>
          <a:stretch>
            <a:fillRect/>
          </a:stretch>
        </p:blipFill>
        <p:spPr>
          <a:xfrm>
            <a:off x="5795854" y="3339255"/>
            <a:ext cx="599985" cy="599985"/>
          </a:xfrm>
          <a:prstGeom prst="rect">
            <a:avLst/>
          </a:prstGeom>
        </p:spPr>
      </p:pic>
      <p:sp>
        <p:nvSpPr>
          <p:cNvPr id="18" name="TextBox 17"/>
          <p:cNvSpPr txBox="1"/>
          <p:nvPr/>
        </p:nvSpPr>
        <p:spPr>
          <a:xfrm>
            <a:off x="5077846"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운전원 승인</a:t>
            </a:r>
          </a:p>
          <a:p>
            <a:pPr algn="ctr">
              <a:lnSpc>
                <a:spcPct val="110000"/>
              </a:lnSpc>
              <a:spcAft>
                <a:spcPts val="400"/>
              </a:spcAft>
            </a:pPr>
            <a:r>
              <a:rPr sz="1300" b="0">
                <a:solidFill>
                  <a:srgbClr val="1F2A3A"/>
                </a:solidFill>
                <a:latin typeface="맑은 고딕"/>
                <a:ea typeface="맑은 고딕"/>
                <a:cs typeface="맑은 고딕"/>
              </a:rPr>
              <a:t>추천안 승인</a:t>
            </a:r>
          </a:p>
          <a:p>
            <a:pPr algn="ctr">
              <a:lnSpc>
                <a:spcPct val="110000"/>
              </a:lnSpc>
              <a:spcAft>
                <a:spcPts val="400"/>
              </a:spcAft>
            </a:pPr>
            <a:r>
              <a:rPr sz="1300" b="0">
                <a:solidFill>
                  <a:srgbClr val="1F2A3A"/>
                </a:solidFill>
                <a:latin typeface="맑은 고딕"/>
                <a:ea typeface="맑은 고딕"/>
                <a:cs typeface="맑은 고딕"/>
              </a:rPr>
              <a:t>팬 속도 100 %</a:t>
            </a:r>
          </a:p>
        </p:txBody>
      </p:sp>
      <p:sp>
        <p:nvSpPr>
          <p:cNvPr id="19" name="Chevron 18"/>
          <p:cNvSpPr/>
          <p:nvPr/>
        </p:nvSpPr>
        <p:spPr>
          <a:xfrm>
            <a:off x="9305300" y="3456368"/>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ettings" descr="settings_13294B_1.6.png"/>
          <p:cNvPicPr>
            <a:picLocks noChangeAspect="1"/>
          </p:cNvPicPr>
          <p:nvPr/>
        </p:nvPicPr>
        <p:blipFill>
          <a:blip r:embed="rId6"/>
          <a:stretch>
            <a:fillRect/>
          </a:stretch>
        </p:blipFill>
        <p:spPr>
          <a:xfrm>
            <a:off x="8014737" y="3339255"/>
            <a:ext cx="599985" cy="599985"/>
          </a:xfrm>
          <a:prstGeom prst="rect">
            <a:avLst/>
          </a:prstGeom>
        </p:spPr>
      </p:pic>
      <p:sp>
        <p:nvSpPr>
          <p:cNvPr id="22" name="TextBox 21"/>
          <p:cNvSpPr txBox="1"/>
          <p:nvPr/>
        </p:nvSpPr>
        <p:spPr>
          <a:xfrm>
            <a:off x="729672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시스템의 처리</a:t>
            </a:r>
          </a:p>
          <a:p>
            <a:pPr algn="ctr">
              <a:lnSpc>
                <a:spcPct val="110000"/>
              </a:lnSpc>
              <a:spcAft>
                <a:spcPts val="400"/>
              </a:spcAft>
            </a:pPr>
            <a:r>
              <a:rPr sz="1300" b="0">
                <a:solidFill>
                  <a:srgbClr val="1F2A3A"/>
                </a:solidFill>
                <a:latin typeface="맑은 고딕"/>
                <a:ea typeface="맑은 고딕"/>
                <a:cs typeface="맑은 고딕"/>
              </a:rPr>
              <a:t>CMD-1010-0001-01d1</a:t>
            </a:r>
          </a:p>
          <a:p>
            <a:pPr algn="ctr">
              <a:lnSpc>
                <a:spcPct val="110000"/>
              </a:lnSpc>
              <a:spcAft>
                <a:spcPts val="400"/>
              </a:spcAft>
            </a:pPr>
            <a:r>
              <a:rPr sz="1300" b="0">
                <a:solidFill>
                  <a:srgbClr val="1F2A3A"/>
                </a:solidFill>
                <a:latin typeface="맑은 고딕"/>
                <a:ea typeface="맑은 고딕"/>
                <a:cs typeface="맑은 고딕"/>
              </a:rPr>
              <a:t>WO-1010-1198</a:t>
            </a:r>
          </a:p>
        </p:txBody>
      </p:sp>
      <p:sp>
        <p:nvSpPr>
          <p:cNvPr id="23" name="Oval 22"/>
          <p:cNvSpPr/>
          <p:nvPr/>
        </p:nvSpPr>
        <p:spPr>
          <a:xfrm>
            <a:off x="995670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4" name="아이콘:file-text" descr="file-text_13294B_1.6.png"/>
          <p:cNvPicPr>
            <a:picLocks noChangeAspect="1"/>
          </p:cNvPicPr>
          <p:nvPr/>
        </p:nvPicPr>
        <p:blipFill>
          <a:blip r:embed="rId7"/>
          <a:stretch>
            <a:fillRect/>
          </a:stretch>
        </p:blipFill>
        <p:spPr>
          <a:xfrm>
            <a:off x="10233620" y="3339255"/>
            <a:ext cx="599985" cy="599985"/>
          </a:xfrm>
          <a:prstGeom prst="rect">
            <a:avLst/>
          </a:prstGeom>
        </p:spPr>
      </p:pic>
      <p:sp>
        <p:nvSpPr>
          <p:cNvPr id="25" name="TextBox 24"/>
          <p:cNvSpPr txBox="1"/>
          <p:nvPr/>
        </p:nvSpPr>
        <p:spPr>
          <a:xfrm>
            <a:off x="9515612"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종료 기록</a:t>
            </a:r>
          </a:p>
          <a:p>
            <a:pPr algn="ctr">
              <a:lnSpc>
                <a:spcPct val="110000"/>
              </a:lnSpc>
              <a:spcAft>
                <a:spcPts val="400"/>
              </a:spcAft>
            </a:pPr>
            <a:r>
              <a:rPr sz="1300" b="0">
                <a:solidFill>
                  <a:srgbClr val="1F2A3A"/>
                </a:solidFill>
                <a:latin typeface="맑은 고딕"/>
                <a:ea typeface="맑은 고딕"/>
                <a:cs typeface="맑은 고딕"/>
              </a:rPr>
              <a:t>E_end · 정상</a:t>
            </a:r>
          </a:p>
          <a:p>
            <a:pPr algn="ctr">
              <a:lnSpc>
                <a:spcPct val="110000"/>
              </a:lnSpc>
              <a:spcAft>
                <a:spcPts val="400"/>
              </a:spcAft>
            </a:pPr>
            <a:r>
              <a:rPr sz="1300" b="0">
                <a:solidFill>
                  <a:srgbClr val="1F2A3A"/>
                </a:solidFill>
                <a:latin typeface="맑은 고딕"/>
                <a:ea typeface="맑은 고딕"/>
                <a:cs typeface="맑은 고딕"/>
              </a:rPr>
              <a:t>유온 51.3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처리 건의 다섯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점검에서는 도래 경보가 처리 건을 열었고, 승인된 정비 시점이 정비 오더와 생산팀 공지가 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ectangle 5"/>
          <p:cNvSpPr/>
          <p:nvPr/>
        </p:nvSpPr>
        <p:spPr>
          <a:xfrm>
            <a:off x="1658081" y="3465385"/>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355657"/>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calendar" descr="calendar_13294B_1.6.png"/>
          <p:cNvPicPr>
            <a:picLocks noChangeAspect="1"/>
          </p:cNvPicPr>
          <p:nvPr/>
        </p:nvPicPr>
        <p:blipFill>
          <a:blip r:embed="rId3"/>
          <a:stretch>
            <a:fillRect/>
          </a:stretch>
        </p:blipFill>
        <p:spPr>
          <a:xfrm>
            <a:off x="1358088" y="3238544"/>
            <a:ext cx="599985" cy="599985"/>
          </a:xfrm>
          <a:prstGeom prst="rect">
            <a:avLst/>
          </a:prstGeom>
        </p:spPr>
      </p:pic>
      <p:sp>
        <p:nvSpPr>
          <p:cNvPr id="10" name="TextBox 9"/>
          <p:cNvSpPr txBox="1"/>
          <p:nvPr/>
        </p:nvSpPr>
        <p:spPr>
          <a:xfrm>
            <a:off x="640079" y="4252607"/>
            <a:ext cx="203600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시작 이벤트</a:t>
            </a:r>
          </a:p>
          <a:p>
            <a:pPr algn="ctr">
              <a:lnSpc>
                <a:spcPct val="110000"/>
              </a:lnSpc>
              <a:spcAft>
                <a:spcPts val="400"/>
              </a:spcAft>
            </a:pPr>
            <a:r>
              <a:rPr sz="1300" b="0">
                <a:solidFill>
                  <a:srgbClr val="1F2A3A"/>
                </a:solidFill>
                <a:latin typeface="맑은 고딕"/>
                <a:ea typeface="맑은 고딕"/>
                <a:cs typeface="맑은 고딕"/>
              </a:rPr>
              <a:t>정기 점검 도래</a:t>
            </a:r>
          </a:p>
          <a:p>
            <a:pPr algn="ctr">
              <a:lnSpc>
                <a:spcPct val="110000"/>
              </a:lnSpc>
              <a:spcAft>
                <a:spcPts val="400"/>
              </a:spcAft>
            </a:pPr>
            <a:r>
              <a:rPr sz="1300" b="0">
                <a:solidFill>
                  <a:srgbClr val="1F2A3A"/>
                </a:solidFill>
                <a:latin typeface="맑은 고딕"/>
                <a:ea typeface="맑은 고딕"/>
                <a:cs typeface="맑은 고딕"/>
              </a:rPr>
              <a:t>HYD-02 · PM_DUE</a:t>
            </a:r>
          </a:p>
        </p:txBody>
      </p:sp>
      <p:sp>
        <p:nvSpPr>
          <p:cNvPr id="11" name="Chevron 10"/>
          <p:cNvSpPr/>
          <p:nvPr/>
        </p:nvSpPr>
        <p:spPr>
          <a:xfrm>
            <a:off x="4867534" y="3355657"/>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76971" y="3238544"/>
            <a:ext cx="599985" cy="599985"/>
          </a:xfrm>
          <a:prstGeom prst="rect">
            <a:avLst/>
          </a:prstGeom>
        </p:spPr>
      </p:pic>
      <p:sp>
        <p:nvSpPr>
          <p:cNvPr id="14" name="TextBox 13"/>
          <p:cNvSpPr txBox="1"/>
          <p:nvPr/>
        </p:nvSpPr>
        <p:spPr>
          <a:xfrm>
            <a:off x="2858963" y="4252607"/>
            <a:ext cx="203600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에이전트의 판단</a:t>
            </a:r>
          </a:p>
          <a:p>
            <a:pPr algn="ctr">
              <a:lnSpc>
                <a:spcPct val="110000"/>
              </a:lnSpc>
              <a:spcAft>
                <a:spcPts val="400"/>
              </a:spcAft>
            </a:pPr>
            <a:r>
              <a:rPr sz="1300" b="0">
                <a:solidFill>
                  <a:srgbClr val="1F2A3A"/>
                </a:solidFill>
                <a:latin typeface="맑은 고딕"/>
                <a:ea typeface="맑은 고딕"/>
                <a:cs typeface="맑은 고딕"/>
              </a:rPr>
              <a:t>정비 시점의 제안</a:t>
            </a:r>
          </a:p>
          <a:p>
            <a:pPr algn="ctr">
              <a:lnSpc>
                <a:spcPct val="110000"/>
              </a:lnSpc>
              <a:spcAft>
                <a:spcPts val="400"/>
              </a:spcAft>
            </a:pPr>
            <a:r>
              <a:rPr sz="1300" b="0">
                <a:solidFill>
                  <a:srgbClr val="1F2A3A"/>
                </a:solidFill>
                <a:latin typeface="맑은 고딕"/>
                <a:ea typeface="맑은 고딕"/>
                <a:cs typeface="맑은 고딕"/>
              </a:rPr>
              <a:t>야간 정비 시간</a:t>
            </a:r>
          </a:p>
        </p:txBody>
      </p:sp>
      <p:sp>
        <p:nvSpPr>
          <p:cNvPr id="15" name="Chevron 14"/>
          <p:cNvSpPr/>
          <p:nvPr/>
        </p:nvSpPr>
        <p:spPr>
          <a:xfrm>
            <a:off x="7086417" y="3355657"/>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2961627"/>
            <a:ext cx="1153819" cy="1153819"/>
          </a:xfrm>
          <a:prstGeom prst="ellipse">
            <a:avLst/>
          </a:prstGeom>
          <a:solidFill>
            <a:srgbClr val="5CB8F2"/>
          </a:solidFill>
          <a:ln w="28575">
            <a:solidFill>
              <a:srgbClr val="13294B"/>
            </a:solidFill>
          </a:ln>
        </p:spPr>
        <p:txBody>
          <a:bodyPr rtlCol="0" anchor="ctr"/>
          <a:lstStyle/>
          <a:p>
            <a:pPr algn="ctr"/>
          </a:p>
        </p:txBody>
      </p:sp>
      <p:pic>
        <p:nvPicPr>
          <p:cNvPr id="17" name="아이콘:user-check" descr="user-check_13294B_1.6.png"/>
          <p:cNvPicPr>
            <a:picLocks noChangeAspect="1"/>
          </p:cNvPicPr>
          <p:nvPr/>
        </p:nvPicPr>
        <p:blipFill>
          <a:blip r:embed="rId5"/>
          <a:stretch>
            <a:fillRect/>
          </a:stretch>
        </p:blipFill>
        <p:spPr>
          <a:xfrm>
            <a:off x="5795854" y="3238544"/>
            <a:ext cx="599985" cy="599985"/>
          </a:xfrm>
          <a:prstGeom prst="rect">
            <a:avLst/>
          </a:prstGeom>
        </p:spPr>
      </p:pic>
      <p:sp>
        <p:nvSpPr>
          <p:cNvPr id="18" name="TextBox 17"/>
          <p:cNvSpPr txBox="1"/>
          <p:nvPr/>
        </p:nvSpPr>
        <p:spPr>
          <a:xfrm>
            <a:off x="5077846" y="4252607"/>
            <a:ext cx="203600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설비보전팀장 승인</a:t>
            </a:r>
          </a:p>
          <a:p>
            <a:pPr algn="ctr">
              <a:lnSpc>
                <a:spcPct val="110000"/>
              </a:lnSpc>
              <a:spcAft>
                <a:spcPts val="400"/>
              </a:spcAft>
            </a:pPr>
            <a:r>
              <a:rPr sz="1300" b="0">
                <a:solidFill>
                  <a:srgbClr val="1F2A3A"/>
                </a:solidFill>
                <a:latin typeface="맑은 고딕"/>
                <a:ea typeface="맑은 고딕"/>
                <a:cs typeface="맑은 고딕"/>
              </a:rPr>
              <a:t>제안한 정비 시점을</a:t>
            </a:r>
          </a:p>
          <a:p>
            <a:pPr algn="ctr">
              <a:lnSpc>
                <a:spcPct val="110000"/>
              </a:lnSpc>
              <a:spcAft>
                <a:spcPts val="400"/>
              </a:spcAft>
            </a:pPr>
            <a:r>
              <a:rPr sz="1300" b="0">
                <a:solidFill>
                  <a:srgbClr val="1F2A3A"/>
                </a:solidFill>
                <a:latin typeface="맑은 고딕"/>
                <a:ea typeface="맑은 고딕"/>
                <a:cs typeface="맑은 고딕"/>
              </a:rPr>
              <a:t>승인</a:t>
            </a:r>
          </a:p>
        </p:txBody>
      </p:sp>
      <p:sp>
        <p:nvSpPr>
          <p:cNvPr id="19" name="Chevron 18"/>
          <p:cNvSpPr/>
          <p:nvPr/>
        </p:nvSpPr>
        <p:spPr>
          <a:xfrm>
            <a:off x="9305300" y="3355657"/>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ettings" descr="settings_13294B_1.6.png"/>
          <p:cNvPicPr>
            <a:picLocks noChangeAspect="1"/>
          </p:cNvPicPr>
          <p:nvPr/>
        </p:nvPicPr>
        <p:blipFill>
          <a:blip r:embed="rId6"/>
          <a:stretch>
            <a:fillRect/>
          </a:stretch>
        </p:blipFill>
        <p:spPr>
          <a:xfrm>
            <a:off x="8014737" y="3238544"/>
            <a:ext cx="599985" cy="599985"/>
          </a:xfrm>
          <a:prstGeom prst="rect">
            <a:avLst/>
          </a:prstGeom>
        </p:spPr>
      </p:pic>
      <p:sp>
        <p:nvSpPr>
          <p:cNvPr id="22" name="TextBox 21"/>
          <p:cNvSpPr txBox="1"/>
          <p:nvPr/>
        </p:nvSpPr>
        <p:spPr>
          <a:xfrm>
            <a:off x="7296729" y="4252607"/>
            <a:ext cx="203600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시스템의 처리</a:t>
            </a:r>
          </a:p>
          <a:p>
            <a:pPr algn="ctr">
              <a:lnSpc>
                <a:spcPct val="110000"/>
              </a:lnSpc>
              <a:spcAft>
                <a:spcPts val="400"/>
              </a:spcAft>
            </a:pPr>
            <a:r>
              <a:rPr sz="1300" b="0">
                <a:solidFill>
                  <a:srgbClr val="1F2A3A"/>
                </a:solidFill>
                <a:latin typeface="맑은 고딕"/>
                <a:ea typeface="맑은 고딕"/>
                <a:cs typeface="맑은 고딕"/>
              </a:rPr>
              <a:t>정비 오더 WO-1010-5DDD</a:t>
            </a:r>
          </a:p>
          <a:p>
            <a:pPr algn="ctr">
              <a:lnSpc>
                <a:spcPct val="110000"/>
              </a:lnSpc>
              <a:spcAft>
                <a:spcPts val="400"/>
              </a:spcAft>
            </a:pPr>
            <a:r>
              <a:rPr sz="1300" b="0">
                <a:solidFill>
                  <a:srgbClr val="1F2A3A"/>
                </a:solidFill>
                <a:latin typeface="맑은 고딕"/>
                <a:ea typeface="맑은 고딕"/>
                <a:cs typeface="맑은 고딕"/>
              </a:rPr>
              <a:t>생산팀 공지 메일</a:t>
            </a:r>
          </a:p>
        </p:txBody>
      </p:sp>
      <p:sp>
        <p:nvSpPr>
          <p:cNvPr id="23" name="Oval 22"/>
          <p:cNvSpPr/>
          <p:nvPr/>
        </p:nvSpPr>
        <p:spPr>
          <a:xfrm>
            <a:off x="9956704"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24" name="아이콘:file-text" descr="file-text_13294B_1.6.png"/>
          <p:cNvPicPr>
            <a:picLocks noChangeAspect="1"/>
          </p:cNvPicPr>
          <p:nvPr/>
        </p:nvPicPr>
        <p:blipFill>
          <a:blip r:embed="rId7"/>
          <a:stretch>
            <a:fillRect/>
          </a:stretch>
        </p:blipFill>
        <p:spPr>
          <a:xfrm>
            <a:off x="10233620" y="3238544"/>
            <a:ext cx="599985" cy="599985"/>
          </a:xfrm>
          <a:prstGeom prst="rect">
            <a:avLst/>
          </a:prstGeom>
        </p:spPr>
      </p:pic>
      <p:sp>
        <p:nvSpPr>
          <p:cNvPr id="25" name="TextBox 24"/>
          <p:cNvSpPr txBox="1"/>
          <p:nvPr/>
        </p:nvSpPr>
        <p:spPr>
          <a:xfrm>
            <a:off x="9515612" y="4252607"/>
            <a:ext cx="203600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종료 기록</a:t>
            </a:r>
          </a:p>
          <a:p>
            <a:pPr algn="ctr">
              <a:lnSpc>
                <a:spcPct val="110000"/>
              </a:lnSpc>
              <a:spcAft>
                <a:spcPts val="400"/>
              </a:spcAft>
            </a:pPr>
            <a:r>
              <a:rPr sz="1300" b="0">
                <a:solidFill>
                  <a:srgbClr val="1F2A3A"/>
                </a:solidFill>
                <a:latin typeface="맑은 고딕"/>
                <a:ea typeface="맑은 고딕"/>
                <a:cs typeface="맑은 고딕"/>
              </a:rPr>
              <a:t>E_end · 정상</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 처리 건의 다섯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보충에서 구매 담당이 승인한 발주안은 발주와 입고로 처리되어, 1개이던 가용 재고가 7개로 올라갔다.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ectangle 5"/>
          <p:cNvSpPr/>
          <p:nvPr/>
        </p:nvSpPr>
        <p:spPr>
          <a:xfrm>
            <a:off x="1658081" y="3566096"/>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456368"/>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package" descr="package_13294B_1.6.png"/>
          <p:cNvPicPr>
            <a:picLocks noChangeAspect="1"/>
          </p:cNvPicPr>
          <p:nvPr/>
        </p:nvPicPr>
        <p:blipFill>
          <a:blip r:embed="rId3"/>
          <a:stretch>
            <a:fillRect/>
          </a:stretch>
        </p:blipFill>
        <p:spPr>
          <a:xfrm>
            <a:off x="1358088" y="3339255"/>
            <a:ext cx="599985" cy="599985"/>
          </a:xfrm>
          <a:prstGeom prst="rect">
            <a:avLst/>
          </a:prstGeom>
        </p:spPr>
      </p:pic>
      <p:sp>
        <p:nvSpPr>
          <p:cNvPr id="10" name="TextBox 9"/>
          <p:cNvSpPr txBox="1"/>
          <p:nvPr/>
        </p:nvSpPr>
        <p:spPr>
          <a:xfrm>
            <a:off x="64007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시작 이벤트</a:t>
            </a:r>
          </a:p>
          <a:p>
            <a:pPr algn="ctr">
              <a:lnSpc>
                <a:spcPct val="110000"/>
              </a:lnSpc>
              <a:spcAft>
                <a:spcPts val="400"/>
              </a:spcAft>
            </a:pPr>
            <a:r>
              <a:rPr sz="1300" b="0">
                <a:solidFill>
                  <a:srgbClr val="1F2A3A"/>
                </a:solidFill>
                <a:latin typeface="맑은 고딕"/>
                <a:ea typeface="맑은 고딕"/>
                <a:cs typeface="맑은 고딕"/>
              </a:rPr>
              <a:t>재고 부족</a:t>
            </a:r>
          </a:p>
          <a:p>
            <a:pPr algn="ctr">
              <a:lnSpc>
                <a:spcPct val="110000"/>
              </a:lnSpc>
              <a:spcAft>
                <a:spcPts val="400"/>
              </a:spcAft>
            </a:pPr>
            <a:r>
              <a:rPr sz="1300" b="0">
                <a:solidFill>
                  <a:srgbClr val="1F2A3A"/>
                </a:solidFill>
                <a:latin typeface="맑은 고딕"/>
                <a:ea typeface="맑은 고딕"/>
                <a:cs typeface="맑은 고딕"/>
              </a:rPr>
              <a:t>씰 키트 가용 1개</a:t>
            </a:r>
          </a:p>
        </p:txBody>
      </p:sp>
      <p:sp>
        <p:nvSpPr>
          <p:cNvPr id="11" name="Chevron 10"/>
          <p:cNvSpPr/>
          <p:nvPr/>
        </p:nvSpPr>
        <p:spPr>
          <a:xfrm>
            <a:off x="4867534" y="3456368"/>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76971" y="3339255"/>
            <a:ext cx="599985" cy="599985"/>
          </a:xfrm>
          <a:prstGeom prst="rect">
            <a:avLst/>
          </a:prstGeom>
        </p:spPr>
      </p:pic>
      <p:sp>
        <p:nvSpPr>
          <p:cNvPr id="14" name="TextBox 13"/>
          <p:cNvSpPr txBox="1"/>
          <p:nvPr/>
        </p:nvSpPr>
        <p:spPr>
          <a:xfrm>
            <a:off x="2858963"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에이전트의 판단</a:t>
            </a:r>
          </a:p>
          <a:p>
            <a:pPr algn="ctr">
              <a:lnSpc>
                <a:spcPct val="110000"/>
              </a:lnSpc>
              <a:spcAft>
                <a:spcPts val="400"/>
              </a:spcAft>
            </a:pPr>
            <a:r>
              <a:rPr sz="1300" b="0">
                <a:solidFill>
                  <a:srgbClr val="1F2A3A"/>
                </a:solidFill>
                <a:latin typeface="맑은 고딕"/>
                <a:ea typeface="맑은 고딕"/>
                <a:cs typeface="맑은 고딕"/>
              </a:rPr>
              <a:t>6개 · 공급사 sup:b</a:t>
            </a:r>
          </a:p>
          <a:p>
            <a:pPr algn="ctr">
              <a:lnSpc>
                <a:spcPct val="110000"/>
              </a:lnSpc>
              <a:spcAft>
                <a:spcPts val="400"/>
              </a:spcAft>
            </a:pPr>
            <a:r>
              <a:rPr sz="1300" b="0">
                <a:solidFill>
                  <a:srgbClr val="1F2A3A"/>
                </a:solidFill>
                <a:latin typeface="맑은 고딕"/>
                <a:ea typeface="맑은 고딕"/>
                <a:cs typeface="맑은 고딕"/>
              </a:rPr>
              <a:t>330만원</a:t>
            </a:r>
          </a:p>
        </p:txBody>
      </p:sp>
      <p:sp>
        <p:nvSpPr>
          <p:cNvPr id="15" name="Chevron 14"/>
          <p:cNvSpPr/>
          <p:nvPr/>
        </p:nvSpPr>
        <p:spPr>
          <a:xfrm>
            <a:off x="7086417" y="3456368"/>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3062338"/>
            <a:ext cx="1153819" cy="1153819"/>
          </a:xfrm>
          <a:prstGeom prst="ellipse">
            <a:avLst/>
          </a:prstGeom>
          <a:solidFill>
            <a:srgbClr val="5CB8F2"/>
          </a:solidFill>
          <a:ln w="28575">
            <a:solidFill>
              <a:srgbClr val="13294B"/>
            </a:solidFill>
          </a:ln>
        </p:spPr>
        <p:txBody>
          <a:bodyPr rtlCol="0" anchor="ctr"/>
          <a:lstStyle/>
          <a:p>
            <a:pPr algn="ctr"/>
          </a:p>
        </p:txBody>
      </p:sp>
      <p:pic>
        <p:nvPicPr>
          <p:cNvPr id="17" name="아이콘:user-check" descr="user-check_13294B_1.6.png"/>
          <p:cNvPicPr>
            <a:picLocks noChangeAspect="1"/>
          </p:cNvPicPr>
          <p:nvPr/>
        </p:nvPicPr>
        <p:blipFill>
          <a:blip r:embed="rId5"/>
          <a:stretch>
            <a:fillRect/>
          </a:stretch>
        </p:blipFill>
        <p:spPr>
          <a:xfrm>
            <a:off x="5795854" y="3339255"/>
            <a:ext cx="599985" cy="599985"/>
          </a:xfrm>
          <a:prstGeom prst="rect">
            <a:avLst/>
          </a:prstGeom>
        </p:spPr>
      </p:pic>
      <p:sp>
        <p:nvSpPr>
          <p:cNvPr id="18" name="TextBox 17"/>
          <p:cNvSpPr txBox="1"/>
          <p:nvPr/>
        </p:nvSpPr>
        <p:spPr>
          <a:xfrm>
            <a:off x="5077846"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구매 담당 승인</a:t>
            </a:r>
          </a:p>
          <a:p>
            <a:pPr algn="ctr">
              <a:lnSpc>
                <a:spcPct val="110000"/>
              </a:lnSpc>
              <a:spcAft>
                <a:spcPts val="400"/>
              </a:spcAft>
            </a:pPr>
            <a:r>
              <a:rPr sz="1300" b="0">
                <a:solidFill>
                  <a:srgbClr val="1F2A3A"/>
                </a:solidFill>
                <a:latin typeface="맑은 고딕"/>
                <a:ea typeface="맑은 고딕"/>
                <a:cs typeface="맑은 고딕"/>
              </a:rPr>
              <a:t>발주안을 승인</a:t>
            </a:r>
          </a:p>
        </p:txBody>
      </p:sp>
      <p:sp>
        <p:nvSpPr>
          <p:cNvPr id="19" name="Chevron 18"/>
          <p:cNvSpPr/>
          <p:nvPr/>
        </p:nvSpPr>
        <p:spPr>
          <a:xfrm>
            <a:off x="9305300" y="3456368"/>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ettings" descr="settings_13294B_1.6.png"/>
          <p:cNvPicPr>
            <a:picLocks noChangeAspect="1"/>
          </p:cNvPicPr>
          <p:nvPr/>
        </p:nvPicPr>
        <p:blipFill>
          <a:blip r:embed="rId6"/>
          <a:stretch>
            <a:fillRect/>
          </a:stretch>
        </p:blipFill>
        <p:spPr>
          <a:xfrm>
            <a:off x="8014737" y="3339255"/>
            <a:ext cx="599985" cy="599985"/>
          </a:xfrm>
          <a:prstGeom prst="rect">
            <a:avLst/>
          </a:prstGeom>
        </p:spPr>
      </p:pic>
      <p:sp>
        <p:nvSpPr>
          <p:cNvPr id="22" name="TextBox 21"/>
          <p:cNvSpPr txBox="1"/>
          <p:nvPr/>
        </p:nvSpPr>
        <p:spPr>
          <a:xfrm>
            <a:off x="729672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시스템의 처리</a:t>
            </a:r>
          </a:p>
          <a:p>
            <a:pPr algn="ctr">
              <a:lnSpc>
                <a:spcPct val="110000"/>
              </a:lnSpc>
              <a:spcAft>
                <a:spcPts val="400"/>
              </a:spcAft>
            </a:pPr>
            <a:r>
              <a:rPr sz="1300" b="0">
                <a:solidFill>
                  <a:srgbClr val="1F2A3A"/>
                </a:solidFill>
                <a:latin typeface="맑은 고딕"/>
                <a:ea typeface="맑은 고딕"/>
                <a:cs typeface="맑은 고딕"/>
              </a:rPr>
              <a:t>발주 PR-1010-83F3</a:t>
            </a:r>
          </a:p>
          <a:p>
            <a:pPr algn="ctr">
              <a:lnSpc>
                <a:spcPct val="110000"/>
              </a:lnSpc>
              <a:spcAft>
                <a:spcPts val="400"/>
              </a:spcAft>
            </a:pPr>
            <a:r>
              <a:rPr sz="1300" b="0">
                <a:solidFill>
                  <a:srgbClr val="1F2A3A"/>
                </a:solidFill>
                <a:latin typeface="맑은 고딕"/>
                <a:ea typeface="맑은 고딕"/>
                <a:cs typeface="맑은 고딕"/>
              </a:rPr>
              <a:t>입고 GR-1010-4EE3</a:t>
            </a:r>
          </a:p>
        </p:txBody>
      </p:sp>
      <p:sp>
        <p:nvSpPr>
          <p:cNvPr id="23" name="Oval 22"/>
          <p:cNvSpPr/>
          <p:nvPr/>
        </p:nvSpPr>
        <p:spPr>
          <a:xfrm>
            <a:off x="995670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4" name="아이콘:file-text" descr="file-text_13294B_1.6.png"/>
          <p:cNvPicPr>
            <a:picLocks noChangeAspect="1"/>
          </p:cNvPicPr>
          <p:nvPr/>
        </p:nvPicPr>
        <p:blipFill>
          <a:blip r:embed="rId7"/>
          <a:stretch>
            <a:fillRect/>
          </a:stretch>
        </p:blipFill>
        <p:spPr>
          <a:xfrm>
            <a:off x="10233620" y="3339255"/>
            <a:ext cx="599985" cy="599985"/>
          </a:xfrm>
          <a:prstGeom prst="rect">
            <a:avLst/>
          </a:prstGeom>
        </p:spPr>
      </p:pic>
      <p:sp>
        <p:nvSpPr>
          <p:cNvPr id="25" name="TextBox 24"/>
          <p:cNvSpPr txBox="1"/>
          <p:nvPr/>
        </p:nvSpPr>
        <p:spPr>
          <a:xfrm>
            <a:off x="9515612"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종료 기록</a:t>
            </a:r>
          </a:p>
          <a:p>
            <a:pPr algn="ctr">
              <a:lnSpc>
                <a:spcPct val="110000"/>
              </a:lnSpc>
              <a:spcAft>
                <a:spcPts val="400"/>
              </a:spcAft>
            </a:pPr>
            <a:r>
              <a:rPr sz="1300" b="0">
                <a:solidFill>
                  <a:srgbClr val="1F2A3A"/>
                </a:solidFill>
                <a:latin typeface="맑은 고딕"/>
                <a:ea typeface="맑은 고딕"/>
                <a:cs typeface="맑은 고딕"/>
              </a:rPr>
              <a:t>E_end · 입고 완료</a:t>
            </a:r>
          </a:p>
          <a:p>
            <a:pPr algn="ctr">
              <a:lnSpc>
                <a:spcPct val="110000"/>
              </a:lnSpc>
              <a:spcAft>
                <a:spcPts val="400"/>
              </a:spcAft>
            </a:pPr>
            <a:r>
              <a:rPr sz="1300" b="0">
                <a:solidFill>
                  <a:srgbClr val="1F2A3A"/>
                </a:solidFill>
                <a:latin typeface="맑은 고딕"/>
                <a:ea typeface="맑은 고딕"/>
                <a:cs typeface="맑은 고딕"/>
              </a:rPr>
              <a:t>가용 재고 7개</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업무가 끝난 모습: 종료 기록과 달라진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종료 기록의 끝 이벤트와 결과 보고는 유온의 회복, 등록된 정비 오더, 채워진 재고라는 달라진 상태를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pic>
        <p:nvPicPr>
          <p:cNvPr id="6" name="삽화:세종료.svg" descr="illust_2418758361734001327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26561" y="4889571"/>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긴급 대응</a:t>
            </a:r>
          </a:p>
          <a:p>
            <a:pPr algn="ctr">
              <a:lnSpc>
                <a:spcPct val="110000"/>
              </a:lnSpc>
              <a:spcAft>
                <a:spcPts val="100"/>
              </a:spcAft>
            </a:pPr>
            <a:r>
              <a:rPr sz="1300" b="0">
                <a:solidFill>
                  <a:srgbClr val="556175"/>
                </a:solidFill>
                <a:latin typeface="맑은 고딕"/>
                <a:ea typeface="맑은 고딕"/>
                <a:cs typeface="맑은 고딕"/>
              </a:rPr>
              <a:t>유온 51.3 ℃ · 기준 55 ℃ 미만</a:t>
            </a:r>
          </a:p>
          <a:p>
            <a:pPr algn="ctr">
              <a:lnSpc>
                <a:spcPct val="110000"/>
              </a:lnSpc>
              <a:spcAft>
                <a:spcPts val="100"/>
              </a:spcAft>
            </a:pPr>
            <a:r>
              <a:rPr sz="1300" b="0">
                <a:solidFill>
                  <a:srgbClr val="556175"/>
                </a:solidFill>
                <a:latin typeface="맑은 고딕"/>
                <a:ea typeface="맑은 고딕"/>
                <a:cs typeface="맑은 고딕"/>
              </a:rPr>
              <a:t>작업지시 WO-1010-1198</a:t>
            </a:r>
          </a:p>
        </p:txBody>
      </p:sp>
      <p:sp>
        <p:nvSpPr>
          <p:cNvPr id="8" name="TextBox 7"/>
          <p:cNvSpPr txBox="1"/>
          <p:nvPr/>
        </p:nvSpPr>
        <p:spPr>
          <a:xfrm>
            <a:off x="4404875" y="4889571"/>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정기 점검</a:t>
            </a:r>
          </a:p>
          <a:p>
            <a:pPr algn="ctr">
              <a:lnSpc>
                <a:spcPct val="110000"/>
              </a:lnSpc>
              <a:spcAft>
                <a:spcPts val="100"/>
              </a:spcAft>
            </a:pPr>
            <a:r>
              <a:rPr sz="1300" b="0">
                <a:solidFill>
                  <a:srgbClr val="556175"/>
                </a:solidFill>
                <a:latin typeface="맑은 고딕"/>
                <a:ea typeface="맑은 고딕"/>
                <a:cs typeface="맑은 고딕"/>
              </a:rPr>
              <a:t>정비 오더 WO-1010-5DDD</a:t>
            </a:r>
          </a:p>
          <a:p>
            <a:pPr algn="ctr">
              <a:lnSpc>
                <a:spcPct val="110000"/>
              </a:lnSpc>
              <a:spcAft>
                <a:spcPts val="100"/>
              </a:spcAft>
            </a:pPr>
            <a:r>
              <a:rPr sz="1300" b="0">
                <a:solidFill>
                  <a:srgbClr val="556175"/>
                </a:solidFill>
                <a:latin typeface="맑은 고딕"/>
                <a:ea typeface="맑은 고딕"/>
                <a:cs typeface="맑은 고딕"/>
              </a:rPr>
              <a:t>생산팀에 공지 메일</a:t>
            </a:r>
          </a:p>
        </p:txBody>
      </p:sp>
      <p:sp>
        <p:nvSpPr>
          <p:cNvPr id="9" name="TextBox 8"/>
          <p:cNvSpPr txBox="1"/>
          <p:nvPr/>
        </p:nvSpPr>
        <p:spPr>
          <a:xfrm>
            <a:off x="7983190" y="4889571"/>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재고 보충</a:t>
            </a:r>
          </a:p>
          <a:p>
            <a:pPr algn="ctr">
              <a:lnSpc>
                <a:spcPct val="110000"/>
              </a:lnSpc>
              <a:spcAft>
                <a:spcPts val="100"/>
              </a:spcAft>
            </a:pPr>
            <a:r>
              <a:rPr sz="1300" b="0">
                <a:solidFill>
                  <a:srgbClr val="556175"/>
                </a:solidFill>
                <a:latin typeface="맑은 고딕"/>
                <a:ea typeface="맑은 고딕"/>
                <a:cs typeface="맑은 고딕"/>
              </a:rPr>
              <a:t>씰 키트 6개 입고 · 검수 합격</a:t>
            </a:r>
          </a:p>
          <a:p>
            <a:pPr algn="ctr">
              <a:lnSpc>
                <a:spcPct val="110000"/>
              </a:lnSpc>
              <a:spcAft>
                <a:spcPts val="100"/>
              </a:spcAft>
            </a:pPr>
            <a:r>
              <a:rPr sz="1300" b="0">
                <a:solidFill>
                  <a:srgbClr val="556175"/>
                </a:solidFill>
                <a:latin typeface="맑은 고딕"/>
                <a:ea typeface="맑은 고딕"/>
                <a:cs typeface="맑은 고딕"/>
              </a:rPr>
              <a:t>가용 재고 1개에서 7개로</a:t>
            </a:r>
          </a:p>
        </p:txBody>
      </p:sp>
      <p:sp>
        <p:nvSpPr>
          <p:cNvPr id="10" name="TextBox 9"/>
          <p:cNvSpPr txBox="1"/>
          <p:nvPr/>
        </p:nvSpPr>
        <p:spPr>
          <a:xfrm>
            <a:off x="935656" y="5929609"/>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E_end · 정상</a:t>
            </a:r>
          </a:p>
        </p:txBody>
      </p:sp>
      <p:sp>
        <p:nvSpPr>
          <p:cNvPr id="11" name="TextBox 10"/>
          <p:cNvSpPr txBox="1"/>
          <p:nvPr/>
        </p:nvSpPr>
        <p:spPr>
          <a:xfrm>
            <a:off x="4513970" y="5929609"/>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E_end · 정상</a:t>
            </a:r>
          </a:p>
        </p:txBody>
      </p:sp>
      <p:sp>
        <p:nvSpPr>
          <p:cNvPr id="12" name="TextBox 11"/>
          <p:cNvSpPr txBox="1"/>
          <p:nvPr/>
        </p:nvSpPr>
        <p:spPr>
          <a:xfrm>
            <a:off x="8092285" y="5929609"/>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E_end · 입고 완료</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승인과 거절: 같은 제안의 두 결말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사람이 승인한 제안만 시스템의 처리로 넘어가며, 거절된 제안은 세 업무 모두에서 시스템의 실행 없이 닫혔다.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승인</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게이트웨이가 승인의 갈래를 연다</a:t>
            </a:r>
          </a:p>
          <a:p>
            <a:pPr algn="l">
              <a:lnSpc>
                <a:spcPct val="110000"/>
              </a:lnSpc>
              <a:spcAft>
                <a:spcPts val="600"/>
              </a:spcAft>
            </a:pPr>
            <a:r>
              <a:rPr sz="1450" b="0">
                <a:solidFill>
                  <a:srgbClr val="1F2A3A"/>
                </a:solidFill>
                <a:latin typeface="맑은 고딕"/>
                <a:ea typeface="맑은 고딕"/>
                <a:cs typeface="맑은 고딕"/>
              </a:rPr>
              <a:t>• 긴급 대응: 설비 명령과 작업지시</a:t>
            </a:r>
          </a:p>
          <a:p>
            <a:pPr algn="l">
              <a:lnSpc>
                <a:spcPct val="110000"/>
              </a:lnSpc>
              <a:spcAft>
                <a:spcPts val="600"/>
              </a:spcAft>
            </a:pPr>
            <a:r>
              <a:rPr sz="1450" b="0">
                <a:solidFill>
                  <a:srgbClr val="1F2A3A"/>
                </a:solidFill>
                <a:latin typeface="맑은 고딕"/>
                <a:ea typeface="맑은 고딕"/>
                <a:cs typeface="맑은 고딕"/>
              </a:rPr>
              <a:t>• 정기 점검: 정비 오더와 공지</a:t>
            </a:r>
          </a:p>
          <a:p>
            <a:pPr algn="l">
              <a:lnSpc>
                <a:spcPct val="110000"/>
              </a:lnSpc>
              <a:spcAft>
                <a:spcPts val="600"/>
              </a:spcAft>
            </a:pPr>
            <a:r>
              <a:rPr sz="1450" b="0">
                <a:solidFill>
                  <a:srgbClr val="1F2A3A"/>
                </a:solidFill>
                <a:latin typeface="맑은 고딕"/>
                <a:ea typeface="맑은 고딕"/>
                <a:cs typeface="맑은 고딕"/>
              </a:rPr>
              <a:t>• 재고 보충: 발주와 입고</a:t>
            </a:r>
          </a:p>
        </p:txBody>
      </p:sp>
      <p:sp>
        <p:nvSpPr>
          <p:cNvPr id="11" name="Rounded Rectangle 10"/>
          <p:cNvSpPr/>
          <p:nvPr/>
        </p:nvSpPr>
        <p:spPr>
          <a:xfrm>
            <a:off x="868680" y="5096002"/>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E_end</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거절</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게이트웨이가 거절의 갈래를 연다</a:t>
            </a:r>
          </a:p>
          <a:p>
            <a:pPr algn="l">
              <a:lnSpc>
                <a:spcPct val="110000"/>
              </a:lnSpc>
              <a:spcAft>
                <a:spcPts val="600"/>
              </a:spcAft>
            </a:pPr>
            <a:r>
              <a:rPr sz="1450" b="0">
                <a:solidFill>
                  <a:srgbClr val="1F2A3A"/>
                </a:solidFill>
                <a:latin typeface="맑은 고딕"/>
                <a:ea typeface="맑은 고딕"/>
                <a:cs typeface="맑은 고딕"/>
              </a:rPr>
              <a:t>• 설비 명령, 정비 오더, 발주는 만들어지지 않는다</a:t>
            </a:r>
          </a:p>
          <a:p>
            <a:pPr algn="l">
              <a:lnSpc>
                <a:spcPct val="110000"/>
              </a:lnSpc>
              <a:spcAft>
                <a:spcPts val="600"/>
              </a:spcAft>
            </a:pPr>
            <a:r>
              <a:rPr sz="1450" b="0">
                <a:solidFill>
                  <a:srgbClr val="1F2A3A"/>
                </a:solidFill>
                <a:latin typeface="맑은 고딕"/>
                <a:ea typeface="맑은 고딕"/>
                <a:cs typeface="맑은 고딕"/>
              </a:rPr>
              <a:t>• 결과 보고가 거절의 사유와 하지 않은 일을 적는다</a:t>
            </a:r>
          </a:p>
        </p:txBody>
      </p:sp>
      <p:sp>
        <p:nvSpPr>
          <p:cNvPr id="18" name="Rounded Rectangle 17"/>
          <p:cNvSpPr/>
          <p:nvPr/>
        </p:nvSpPr>
        <p:spPr>
          <a:xfrm>
            <a:off x="6781647" y="5096002"/>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E_rejected</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 한 건을 잇는 식별자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판단, 승인, 명령, 작업지시가 식별자로 이어져 있어 끝난 업무를 제안과 승인까지 거슬러 읽을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ALT-hyd01-0026-767a    </a:t>
            </a:r>
            <a:r>
              <a:rPr sz="1300" b="0">
                <a:solidFill>
                  <a:srgbClr val="E8EEF6"/>
                </a:solidFill>
                <a:latin typeface="맑은 고딕"/>
                <a:ea typeface="맑은 고딕"/>
                <a:cs typeface="맑은 고딕"/>
              </a:rPr>
              <a:t>경보</a:t>
            </a:r>
          </a:p>
          <a:p>
            <a:pPr algn="l">
              <a:lnSpc>
                <a:spcPct val="110000"/>
              </a:lnSpc>
              <a:spcAft>
                <a:spcPts val="200"/>
              </a:spcAft>
            </a:pPr>
            <a:r>
              <a:rPr sz="1300" b="0">
                <a:solidFill>
                  <a:srgbClr val="E8EEF6"/>
                </a:solidFill>
                <a:latin typeface="Consolas"/>
                <a:ea typeface="맑은 고딕"/>
                <a:cs typeface="맑은 고딕"/>
              </a:rPr>
              <a:t>c3_cooling.32aca7de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p>
          <a:p>
            <a:pPr algn="l">
              <a:lnSpc>
                <a:spcPct val="110000"/>
              </a:lnSpc>
              <a:spcAft>
                <a:spcPts val="200"/>
              </a:spcAft>
            </a:pPr>
            <a:r>
              <a:rPr sz="1300" b="0">
                <a:solidFill>
                  <a:srgbClr val="E8EEF6"/>
                </a:solidFill>
                <a:latin typeface="Consolas"/>
                <a:ea typeface="맑은 고딕"/>
                <a:cs typeface="맑은 고딕"/>
              </a:rPr>
              <a:t>DEC-1010-058-88a6      </a:t>
            </a:r>
            <a:r>
              <a:rPr sz="1300" b="0">
                <a:solidFill>
                  <a:srgbClr val="E8EEF6"/>
                </a:solidFill>
                <a:latin typeface="맑은 고딕"/>
                <a:ea typeface="맑은 고딕"/>
                <a:cs typeface="맑은 고딕"/>
              </a:rPr>
              <a:t>판단</a:t>
            </a:r>
          </a:p>
          <a:p>
            <a:pPr algn="l">
              <a:lnSpc>
                <a:spcPct val="110000"/>
              </a:lnSpc>
              <a:spcAft>
                <a:spcPts val="200"/>
              </a:spcAft>
            </a:pPr>
            <a:r>
              <a:rPr sz="1300" b="0">
                <a:solidFill>
                  <a:srgbClr val="E8EEF6"/>
                </a:solidFill>
                <a:latin typeface="Consolas"/>
                <a:ea typeface="맑은 고딕"/>
                <a:cs typeface="맑은 고딕"/>
              </a:rPr>
              <a:t>role:operator          </a:t>
            </a:r>
            <a:r>
              <a:rPr sz="1300" b="0">
                <a:solidFill>
                  <a:srgbClr val="E8EEF6"/>
                </a:solidFill>
                <a:latin typeface="맑은 고딕"/>
                <a:ea typeface="맑은 고딕"/>
                <a:cs typeface="맑은 고딕"/>
              </a:rPr>
              <a:t>승인</a:t>
            </a:r>
          </a:p>
          <a:p>
            <a:pPr algn="l">
              <a:lnSpc>
                <a:spcPct val="110000"/>
              </a:lnSpc>
              <a:spcAft>
                <a:spcPts val="200"/>
              </a:spcAft>
            </a:pPr>
            <a:r>
              <a:rPr sz="1300" b="0">
                <a:solidFill>
                  <a:srgbClr val="E8EEF6"/>
                </a:solidFill>
                <a:latin typeface="Consolas"/>
                <a:ea typeface="맑은 고딕"/>
                <a:cs typeface="맑은 고딕"/>
              </a:rPr>
              <a:t>CMD-1010-0001-01d1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a:t>
            </a:r>
          </a:p>
          <a:p>
            <a:pPr algn="l">
              <a:lnSpc>
                <a:spcPct val="110000"/>
              </a:lnSpc>
              <a:spcAft>
                <a:spcPts val="200"/>
              </a:spcAft>
            </a:pPr>
            <a:r>
              <a:rPr sz="1300" b="0">
                <a:solidFill>
                  <a:srgbClr val="E8EEF6"/>
                </a:solidFill>
                <a:latin typeface="Consolas"/>
                <a:ea typeface="맑은 고딕"/>
                <a:cs typeface="맑은 고딕"/>
              </a:rPr>
              <a:t>WO-1010-1198           </a:t>
            </a:r>
            <a:r>
              <a:rPr sz="1300" b="0">
                <a:solidFill>
                  <a:srgbClr val="E8EEF6"/>
                </a:solidFill>
                <a:latin typeface="맑은 고딕"/>
                <a:ea typeface="맑은 고딕"/>
                <a:cs typeface="맑은 고딕"/>
              </a:rPr>
              <a:t>작업지시</a:t>
            </a:r>
          </a:p>
          <a:p>
            <a:pPr algn="l">
              <a:lnSpc>
                <a:spcPct val="110000"/>
              </a:lnSpc>
              <a:spcAft>
                <a:spcPts val="200"/>
              </a:spcAft>
            </a:pPr>
            <a:r>
              <a:rPr sz="1300" b="0">
                <a:solidFill>
                  <a:srgbClr val="E8EEF6"/>
                </a:solidFill>
                <a:latin typeface="Consolas"/>
                <a:ea typeface="맑은 고딕"/>
                <a:cs typeface="맑은 고딕"/>
              </a:rPr>
              <a:t>E_end                  </a:t>
            </a:r>
            <a:r>
              <a:rPr sz="1300" b="0">
                <a:solidFill>
                  <a:srgbClr val="E8EEF6"/>
                </a:solidFill>
                <a:latin typeface="맑은 고딕"/>
                <a:ea typeface="맑은 고딕"/>
                <a:cs typeface="맑은 고딕"/>
              </a:rPr>
              <a:t>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이벤트</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제안의 근거</a:t>
            </a:r>
          </a:p>
          <a:p>
            <a:pPr algn="l">
              <a:lnSpc>
                <a:spcPct val="110000"/>
              </a:lnSpc>
              <a:spcAft>
                <a:spcPts val="400"/>
              </a:spcAft>
            </a:pPr>
            <a:r>
              <a:rPr sz="1400" b="0">
                <a:solidFill>
                  <a:srgbClr val="1F2A3A"/>
                </a:solidFill>
                <a:latin typeface="맑은 고딕"/>
                <a:ea typeface="맑은 고딕"/>
                <a:cs typeface="맑은 고딕"/>
              </a:rPr>
              <a:t>판단의 식별자로 에이전트가</a:t>
            </a:r>
          </a:p>
          <a:p>
            <a:pPr algn="l">
              <a:lnSpc>
                <a:spcPct val="110000"/>
              </a:lnSpc>
              <a:spcAft>
                <a:spcPts val="400"/>
              </a:spcAft>
            </a:pPr>
            <a:r>
              <a:rPr sz="1400" b="0">
                <a:solidFill>
                  <a:srgbClr val="1F2A3A"/>
                </a:solidFill>
                <a:latin typeface="맑은 고딕"/>
                <a:ea typeface="맑은 고딕"/>
                <a:cs typeface="맑은 고딕"/>
              </a:rPr>
              <a:t>낸 원인과 추천을 찾는다.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결정의 책임</a:t>
            </a:r>
          </a:p>
          <a:p>
            <a:pPr algn="l">
              <a:lnSpc>
                <a:spcPct val="110000"/>
              </a:lnSpc>
              <a:spcAft>
                <a:spcPts val="400"/>
              </a:spcAft>
            </a:pPr>
            <a:r>
              <a:rPr sz="1400" b="0">
                <a:solidFill>
                  <a:srgbClr val="1F2A3A"/>
                </a:solidFill>
                <a:latin typeface="맑은 고딕"/>
                <a:ea typeface="맑은 고딕"/>
                <a:cs typeface="맑은 고딕"/>
              </a:rPr>
              <a:t>승인 기록에 승인한 역할과</a:t>
            </a:r>
          </a:p>
          <a:p>
            <a:pPr algn="l">
              <a:lnSpc>
                <a:spcPct val="110000"/>
              </a:lnSpc>
              <a:spcAft>
                <a:spcPts val="400"/>
              </a:spcAft>
            </a:pPr>
            <a:r>
              <a:rPr sz="1400" b="0">
                <a:solidFill>
                  <a:srgbClr val="1F2A3A"/>
                </a:solidFill>
                <a:latin typeface="맑은 고딕"/>
                <a:ea typeface="맑은 고딕"/>
                <a:cs typeface="맑은 고딕"/>
              </a:rPr>
              <a:t>판단의 식별자가 남는다.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실행의 결과</a:t>
            </a:r>
          </a:p>
          <a:p>
            <a:pPr algn="l">
              <a:lnSpc>
                <a:spcPct val="110000"/>
              </a:lnSpc>
              <a:spcAft>
                <a:spcPts val="400"/>
              </a:spcAft>
            </a:pPr>
            <a:r>
              <a:rPr sz="1400" b="0">
                <a:solidFill>
                  <a:srgbClr val="1F2A3A"/>
                </a:solidFill>
                <a:latin typeface="맑은 고딕"/>
                <a:ea typeface="맑은 고딕"/>
                <a:cs typeface="맑은 고딕"/>
              </a:rPr>
              <a:t>명령과 작업지시의 번호가</a:t>
            </a:r>
          </a:p>
          <a:p>
            <a:pPr algn="l">
              <a:lnSpc>
                <a:spcPct val="110000"/>
              </a:lnSpc>
              <a:spcAft>
                <a:spcPts val="400"/>
              </a:spcAft>
            </a:pPr>
            <a:r>
              <a:rPr sz="1400" b="0">
                <a:solidFill>
                  <a:srgbClr val="1F2A3A"/>
                </a:solidFill>
                <a:latin typeface="맑은 고딕"/>
                <a:ea typeface="맑은 고딕"/>
                <a:cs typeface="맑은 고딕"/>
              </a:rPr>
              <a:t>업무 시스템의 기록을 가리킨다.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에이전트, 프로세스의 연결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온톨로지가 판단의 재료를 정하고, 에이전트가 그것을 읽어 제안하며, 프로세스가 제안을 끝난 업무로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pic>
        <p:nvPicPr>
          <p:cNvPr id="6" name="삽화:세층연결.svg" descr="illust_8738276742378932320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7468" y="5267766"/>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온톨로지</a:t>
            </a:r>
          </a:p>
          <a:p>
            <a:pPr algn="ctr">
              <a:lnSpc>
                <a:spcPct val="110000"/>
              </a:lnSpc>
              <a:spcAft>
                <a:spcPts val="100"/>
              </a:spcAft>
            </a:pPr>
            <a:r>
              <a:rPr sz="1300" b="0">
                <a:solidFill>
                  <a:srgbClr val="556175"/>
                </a:solidFill>
                <a:latin typeface="맑은 고딕"/>
                <a:ea typeface="맑은 고딕"/>
                <a:cs typeface="맑은 고딕"/>
              </a:rPr>
              <a:t>원인, 증거, 조치, 규칙의 지식과 값이 놓인 자리를 정한다</a:t>
            </a:r>
          </a:p>
        </p:txBody>
      </p:sp>
      <p:sp>
        <p:nvSpPr>
          <p:cNvPr id="8" name="TextBox 7"/>
          <p:cNvSpPr txBox="1"/>
          <p:nvPr/>
        </p:nvSpPr>
        <p:spPr>
          <a:xfrm>
            <a:off x="4459423" y="5267766"/>
            <a:ext cx="272737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지식과 현재 값을 읽어 추천과 대안을 제안한다</a:t>
            </a:r>
          </a:p>
        </p:txBody>
      </p:sp>
      <p:sp>
        <p:nvSpPr>
          <p:cNvPr id="9" name="TextBox 8"/>
          <p:cNvSpPr txBox="1"/>
          <p:nvPr/>
        </p:nvSpPr>
        <p:spPr>
          <a:xfrm>
            <a:off x="7704998" y="5267766"/>
            <a:ext cx="360013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a:t>
            </a:r>
          </a:p>
          <a:p>
            <a:pPr algn="ctr">
              <a:lnSpc>
                <a:spcPct val="110000"/>
              </a:lnSpc>
              <a:spcAft>
                <a:spcPts val="100"/>
              </a:spcAft>
            </a:pPr>
            <a:r>
              <a:rPr sz="1300" b="0">
                <a:solidFill>
                  <a:srgbClr val="556175"/>
                </a:solidFill>
                <a:latin typeface="맑은 고딕"/>
                <a:ea typeface="맑은 고딕"/>
                <a:cs typeface="맑은 고딕"/>
              </a:rPr>
              <a:t>제안을 순서, 책임, 승인, 실행, 기록으로 완결한다</a:t>
            </a:r>
          </a:p>
        </p:txBody>
      </p:sp>
      <p:sp>
        <p:nvSpPr>
          <p:cNvPr id="10" name="TextBox 9"/>
          <p:cNvSpPr txBox="1"/>
          <p:nvPr/>
        </p:nvSpPr>
        <p:spPr>
          <a:xfrm>
            <a:off x="1650228" y="172218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1~4일차</a:t>
            </a:r>
          </a:p>
        </p:txBody>
      </p:sp>
      <p:sp>
        <p:nvSpPr>
          <p:cNvPr id="11" name="TextBox 10"/>
          <p:cNvSpPr txBox="1"/>
          <p:nvPr/>
        </p:nvSpPr>
        <p:spPr>
          <a:xfrm>
            <a:off x="5059445" y="172218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5~8일차</a:t>
            </a:r>
          </a:p>
        </p:txBody>
      </p:sp>
      <p:sp>
        <p:nvSpPr>
          <p:cNvPr id="12" name="TextBox 11"/>
          <p:cNvSpPr txBox="1"/>
          <p:nvPr/>
        </p:nvSpPr>
        <p:spPr>
          <a:xfrm>
            <a:off x="8741400" y="172218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9~10일차</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에이전트가 읽는 곳: 같은 지식과 다른 업무 데이터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에이전트는 모두 지식 그래프와 판단 규칙을 읽고, 업무 데이터만 업무에 따라 서로 다른 곳을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에이전트</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함께 읽는 것</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따로 읽는 업무 데이터</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냉각 긴급 대응 에이전트</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neo4j · 판단 규칙 hyd-dmn</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enterprise</a:t>
            </a:r>
          </a:p>
          <a:p>
            <a:pPr algn="l">
              <a:lnSpc>
                <a:spcPct val="110000"/>
              </a:lnSpc>
            </a:pPr>
            <a:r>
              <a:rPr sz="1250" b="1">
                <a:solidFill>
                  <a:srgbClr val="556175"/>
                </a:solidFill>
                <a:latin typeface="맑은 고딕"/>
                <a:ea typeface="맑은 고딕"/>
                <a:cs typeface="맑은 고딕"/>
              </a:rPr>
              <a:t>생산 오더, 품질 로트</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정기 정비 계획 에이전트</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neo4j · 판단 규칙 hyd-dmn</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enterprise-maint</a:t>
            </a:r>
          </a:p>
          <a:p>
            <a:pPr algn="l">
              <a:lnSpc>
                <a:spcPct val="110000"/>
              </a:lnSpc>
            </a:pPr>
            <a:r>
              <a:rPr sz="1250" b="1">
                <a:solidFill>
                  <a:srgbClr val="556175"/>
                </a:solidFill>
                <a:latin typeface="맑은 고딕"/>
                <a:ea typeface="맑은 고딕"/>
                <a:cs typeface="맑은 고딕"/>
              </a:rPr>
              <a:t>정비 업무의 데이터</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예비품 구매 에이전트</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neo4j · 판단 규칙 hyd-dmn</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enterprise-purchase</a:t>
            </a:r>
          </a:p>
          <a:p>
            <a:pPr algn="l">
              <a:lnSpc>
                <a:spcPct val="110000"/>
              </a:lnSpc>
            </a:pPr>
            <a:r>
              <a:rPr sz="1250" b="1">
                <a:solidFill>
                  <a:srgbClr val="1A6FC4"/>
                </a:solidFill>
                <a:latin typeface="맑은 고딕"/>
                <a:ea typeface="맑은 고딕"/>
                <a:cs typeface="맑은 고딕"/>
              </a:rPr>
              <a:t>구매 업무의 데이터</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한 줄이 끝난 업무가 되기까지: 팬 최대 운전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 SOP-COOL-11은 에이전트의 추천, 운전원의 승인, 팬 명령을 거쳐 유온 51.3 ℃라는 결과가 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지식</a:t>
            </a:r>
          </a:p>
          <a:p>
            <a:pPr algn="ctr">
              <a:lnSpc>
                <a:spcPct val="110000"/>
              </a:lnSpc>
              <a:spcAft>
                <a:spcPts val="400"/>
              </a:spcAft>
            </a:pPr>
            <a:r>
              <a:rPr sz="1250" b="0">
                <a:solidFill>
                  <a:srgbClr val="1F2A3A"/>
                </a:solidFill>
                <a:latin typeface="맑은 고딕"/>
                <a:ea typeface="맑은 고딕"/>
                <a:cs typeface="맑은 고딕"/>
              </a:rPr>
              <a:t>조치 SOP-COOL-11</a:t>
            </a:r>
          </a:p>
          <a:p>
            <a:pPr algn="ctr">
              <a:lnSpc>
                <a:spcPct val="110000"/>
              </a:lnSpc>
              <a:spcAft>
                <a:spcPts val="400"/>
              </a:spcAft>
            </a:pPr>
            <a:r>
              <a:rPr sz="1250" b="0">
                <a:solidFill>
                  <a:srgbClr val="1F2A3A"/>
                </a:solidFill>
                <a:latin typeface="맑은 고딕"/>
                <a:ea typeface="맑은 고딕"/>
                <a:cs typeface="맑은 고딕"/>
              </a:rPr>
              <a:t>팬 최대 운전이</a:t>
            </a:r>
          </a:p>
          <a:p>
            <a:pPr algn="ctr">
              <a:lnSpc>
                <a:spcPct val="110000"/>
              </a:lnSpc>
              <a:spcAft>
                <a:spcPts val="400"/>
              </a:spcAft>
            </a:pPr>
            <a:r>
              <a:rPr sz="1250" b="0">
                <a:solidFill>
                  <a:srgbClr val="1F2A3A"/>
                </a:solidFill>
                <a:latin typeface="맑은 고딕"/>
                <a:ea typeface="맑은 고딕"/>
                <a:cs typeface="맑은 고딕"/>
              </a:rPr>
              <a:t>지식 그래프에 있다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제안</a:t>
            </a:r>
          </a:p>
          <a:p>
            <a:pPr algn="ctr">
              <a:lnSpc>
                <a:spcPct val="110000"/>
              </a:lnSpc>
              <a:spcAft>
                <a:spcPts val="400"/>
              </a:spcAft>
            </a:pPr>
            <a:r>
              <a:rPr sz="1250" b="0">
                <a:solidFill>
                  <a:srgbClr val="1F2A3A"/>
                </a:solidFill>
                <a:latin typeface="맑은 고딕"/>
                <a:ea typeface="맑은 고딕"/>
                <a:cs typeface="맑은 고딕"/>
              </a:rPr>
              <a:t>에이전트가 원인을</a:t>
            </a:r>
          </a:p>
          <a:p>
            <a:pPr algn="ctr">
              <a:lnSpc>
                <a:spcPct val="110000"/>
              </a:lnSpc>
              <a:spcAft>
                <a:spcPts val="400"/>
              </a:spcAft>
            </a:pPr>
            <a:r>
              <a:rPr sz="1250" b="0">
                <a:solidFill>
                  <a:srgbClr val="1F2A3A"/>
                </a:solidFill>
                <a:latin typeface="맑은 고딕"/>
                <a:ea typeface="맑은 고딕"/>
                <a:cs typeface="맑은 고딕"/>
              </a:rPr>
              <a:t>쿨러 핀 오염으로 가려</a:t>
            </a:r>
          </a:p>
          <a:p>
            <a:pPr algn="ctr">
              <a:lnSpc>
                <a:spcPct val="110000"/>
              </a:lnSpc>
              <a:spcAft>
                <a:spcPts val="400"/>
              </a:spcAft>
            </a:pPr>
            <a:r>
              <a:rPr sz="1250" b="0">
                <a:solidFill>
                  <a:srgbClr val="1F2A3A"/>
                </a:solidFill>
                <a:latin typeface="맑은 고딕"/>
                <a:ea typeface="맑은 고딕"/>
                <a:cs typeface="맑은 고딕"/>
              </a:rPr>
              <a:t>이 조치를 추천한다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a:t>
            </a:r>
          </a:p>
          <a:p>
            <a:pPr algn="ctr">
              <a:lnSpc>
                <a:spcPct val="110000"/>
              </a:lnSpc>
              <a:spcAft>
                <a:spcPts val="400"/>
              </a:spcAft>
            </a:pPr>
            <a:r>
              <a:rPr sz="1250" b="0">
                <a:solidFill>
                  <a:srgbClr val="1F2A3A"/>
                </a:solidFill>
                <a:latin typeface="맑은 고딕"/>
                <a:ea typeface="맑은 고딕"/>
                <a:cs typeface="맑은 고딕"/>
              </a:rPr>
              <a:t>운전원이</a:t>
            </a:r>
          </a:p>
          <a:p>
            <a:pPr algn="ctr">
              <a:lnSpc>
                <a:spcPct val="110000"/>
              </a:lnSpc>
              <a:spcAft>
                <a:spcPts val="400"/>
              </a:spcAft>
            </a:pPr>
            <a:r>
              <a:rPr sz="1250" b="0">
                <a:solidFill>
                  <a:srgbClr val="1F2A3A"/>
                </a:solidFill>
                <a:latin typeface="맑은 고딕"/>
                <a:ea typeface="맑은 고딕"/>
                <a:cs typeface="맑은 고딕"/>
              </a:rPr>
              <a:t>추천안을 승인한다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send" descr="send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실행</a:t>
            </a:r>
          </a:p>
          <a:p>
            <a:pPr algn="ctr">
              <a:lnSpc>
                <a:spcPct val="110000"/>
              </a:lnSpc>
              <a:spcAft>
                <a:spcPts val="400"/>
              </a:spcAft>
            </a:pPr>
            <a:r>
              <a:rPr sz="1250" b="0">
                <a:solidFill>
                  <a:srgbClr val="1F2A3A"/>
                </a:solidFill>
                <a:latin typeface="맑은 고딕"/>
                <a:ea typeface="맑은 고딕"/>
                <a:cs typeface="맑은 고딕"/>
              </a:rPr>
              <a:t>팬 속도 100 % 명령</a:t>
            </a:r>
          </a:p>
          <a:p>
            <a:pPr algn="ctr">
              <a:lnSpc>
                <a:spcPct val="110000"/>
              </a:lnSpc>
              <a:spcAft>
                <a:spcPts val="400"/>
              </a:spcAft>
            </a:pPr>
            <a:r>
              <a:rPr sz="1250" b="0">
                <a:solidFill>
                  <a:srgbClr val="1F2A3A"/>
                </a:solidFill>
                <a:latin typeface="맑은 고딕"/>
                <a:ea typeface="맑은 고딕"/>
                <a:cs typeface="맑은 고딕"/>
              </a:rPr>
              <a:t>CMD-1010-0001-01d1</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809303"/>
            <a:ext cx="731520" cy="731520"/>
          </a:xfrm>
          <a:prstGeom prst="ellipse">
            <a:avLst/>
          </a:prstGeom>
          <a:solidFill>
            <a:srgbClr val="5CB8F2"/>
          </a:solidFill>
          <a:ln>
            <a:noFill/>
          </a:ln>
        </p:spPr>
        <p:txBody>
          <a:bodyPr rtlCol="0" anchor="ctr"/>
          <a:lstStyle/>
          <a:p>
            <a:pPr algn="ctr"/>
          </a:p>
        </p:txBody>
      </p:sp>
      <p:pic>
        <p:nvPicPr>
          <p:cNvPr id="28" name="아이콘:eye" descr="eye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결과</a:t>
            </a:r>
          </a:p>
          <a:p>
            <a:pPr algn="ctr">
              <a:lnSpc>
                <a:spcPct val="110000"/>
              </a:lnSpc>
              <a:spcAft>
                <a:spcPts val="400"/>
              </a:spcAft>
            </a:pPr>
            <a:r>
              <a:rPr sz="1250" b="0">
                <a:solidFill>
                  <a:srgbClr val="1F2A3A"/>
                </a:solidFill>
                <a:latin typeface="맑은 고딕"/>
                <a:ea typeface="맑은 고딕"/>
                <a:cs typeface="맑은 고딕"/>
              </a:rPr>
              <a:t>재관측 유온 51.3 ℃</a:t>
            </a:r>
          </a:p>
          <a:p>
            <a:pPr algn="ctr">
              <a:lnSpc>
                <a:spcPct val="110000"/>
              </a:lnSpc>
              <a:spcAft>
                <a:spcPts val="400"/>
              </a:spcAft>
            </a:pPr>
            <a:r>
              <a:rPr sz="1250" b="0">
                <a:solidFill>
                  <a:srgbClr val="1F2A3A"/>
                </a:solidFill>
                <a:latin typeface="맑은 고딕"/>
                <a:ea typeface="맑은 고딕"/>
                <a:cs typeface="맑은 고딕"/>
              </a:rPr>
              <a:t>기준 55 ℃ 미만</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셋 가운데 하나가 빠질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지식이 빠지면 제안에 근거가 없고, 에이전트가 빠지면 사람이 견주며, 프로세스가 빠지면 실행에 닿지 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지식이 없을 때</a:t>
            </a:r>
          </a:p>
          <a:p>
            <a:pPr algn="l">
              <a:lnSpc>
                <a:spcPct val="110000"/>
              </a:lnSpc>
              <a:spcAft>
                <a:spcPts val="400"/>
              </a:spcAft>
            </a:pPr>
            <a:r>
              <a:rPr sz="1400" b="0">
                <a:solidFill>
                  <a:srgbClr val="1F2A3A"/>
                </a:solidFill>
                <a:latin typeface="맑은 고딕"/>
                <a:ea typeface="맑은 고딕"/>
                <a:cs typeface="맑은 고딕"/>
              </a:rPr>
              <a:t>• 원인 후보와 조치와 규칙을 읽을 곳이 없다</a:t>
            </a:r>
          </a:p>
          <a:p>
            <a:pPr algn="l">
              <a:lnSpc>
                <a:spcPct val="110000"/>
              </a:lnSpc>
              <a:spcAft>
                <a:spcPts val="400"/>
              </a:spcAft>
            </a:pPr>
            <a:r>
              <a:rPr sz="1400" b="0">
                <a:solidFill>
                  <a:srgbClr val="1F2A3A"/>
                </a:solidFill>
                <a:latin typeface="맑은 고딕"/>
                <a:ea typeface="맑은 고딕"/>
                <a:cs typeface="맑은 고딕"/>
              </a:rPr>
              <a:t>• 제안이 무엇에 근거했는지 되짚을 수 없다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에이전트가 없을 때</a:t>
            </a:r>
          </a:p>
          <a:p>
            <a:pPr algn="l">
              <a:lnSpc>
                <a:spcPct val="110000"/>
              </a:lnSpc>
              <a:spcAft>
                <a:spcPts val="400"/>
              </a:spcAft>
            </a:pPr>
            <a:r>
              <a:rPr sz="1400" b="0">
                <a:solidFill>
                  <a:srgbClr val="1F2A3A"/>
                </a:solidFill>
                <a:latin typeface="맑은 고딕"/>
                <a:ea typeface="맑은 고딕"/>
                <a:cs typeface="맑은 고딕"/>
              </a:rPr>
              <a:t>경보가 올 때마다 사람이 지식과 값을 찾아 후보를 견주어야 한다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프로세스가 없을 때</a:t>
            </a:r>
          </a:p>
          <a:p>
            <a:pPr algn="l">
              <a:lnSpc>
                <a:spcPct val="110000"/>
              </a:lnSpc>
              <a:spcAft>
                <a:spcPts val="400"/>
              </a:spcAft>
            </a:pPr>
            <a:r>
              <a:rPr sz="1400" b="0">
                <a:solidFill>
                  <a:srgbClr val="1F2A3A"/>
                </a:solidFill>
                <a:latin typeface="맑은 고딕"/>
                <a:ea typeface="맑은 고딕"/>
                <a:cs typeface="맑은 고딕"/>
              </a:rPr>
              <a:t>• 추천이 나와도 누가 승인하고 누가 실행할지가 정해져 있지 않다</a:t>
            </a:r>
          </a:p>
          <a:p>
            <a:pPr algn="l">
              <a:lnSpc>
                <a:spcPct val="110000"/>
              </a:lnSpc>
              <a:spcAft>
                <a:spcPts val="400"/>
              </a:spcAft>
            </a:pPr>
            <a:r>
              <a:rPr sz="1400" b="0">
                <a:solidFill>
                  <a:srgbClr val="1F2A3A"/>
                </a:solidFill>
                <a:latin typeface="맑은 고딕"/>
                <a:ea typeface="맑은 고딕"/>
                <a:cs typeface="맑은 고딕"/>
              </a:rPr>
              <a:t>• 진행과 결과가 한곳에 남지 않는다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완결</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AI가 맡은 일과 사람이 맡은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업무에서 AI는 읽고 견주어 제안했고, 사람은 프로세스를 설계하고 제안을 승인하거나 거절했다.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 에이전트</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지식 그래프와 업무 데이터를 읽는다</a:t>
            </a:r>
          </a:p>
          <a:p>
            <a:pPr algn="l">
              <a:lnSpc>
                <a:spcPct val="110000"/>
              </a:lnSpc>
              <a:spcAft>
                <a:spcPts val="600"/>
              </a:spcAft>
            </a:pPr>
            <a:r>
              <a:rPr sz="1450" b="0">
                <a:solidFill>
                  <a:srgbClr val="1F2A3A"/>
                </a:solidFill>
                <a:latin typeface="맑은 고딕"/>
                <a:ea typeface="맑은 고딕"/>
                <a:cs typeface="맑은 고딕"/>
              </a:rPr>
              <a:t>• 후보를 견주어 추천과 대안을 낸다</a:t>
            </a:r>
          </a:p>
          <a:p>
            <a:pPr algn="l">
              <a:lnSpc>
                <a:spcPct val="110000"/>
              </a:lnSpc>
              <a:spcAft>
                <a:spcPts val="600"/>
              </a:spcAft>
            </a:pPr>
            <a:r>
              <a:rPr sz="1450" b="0">
                <a:solidFill>
                  <a:srgbClr val="1F2A3A"/>
                </a:solidFill>
                <a:latin typeface="맑은 고딕"/>
                <a:ea typeface="맑은 고딕"/>
                <a:cs typeface="맑은 고딕"/>
              </a:rPr>
              <a:t>• 설비 명령과 업무 처리는 하지 않는다</a:t>
            </a:r>
          </a:p>
        </p:txBody>
      </p:sp>
      <p:sp>
        <p:nvSpPr>
          <p:cNvPr id="11" name="Rounded Rectangle 10"/>
          <p:cNvSpPr/>
          <p:nvPr/>
        </p:nvSpPr>
        <p:spPr>
          <a:xfrm>
            <a:off x="868680" y="4945570"/>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제안까지</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순서, 승인 역할, 예외 경로를 프로세스로 정한다</a:t>
            </a:r>
          </a:p>
          <a:p>
            <a:pPr algn="l">
              <a:lnSpc>
                <a:spcPct val="110000"/>
              </a:lnSpc>
              <a:spcAft>
                <a:spcPts val="600"/>
              </a:spcAft>
            </a:pPr>
            <a:r>
              <a:rPr sz="1450" b="0">
                <a:solidFill>
                  <a:srgbClr val="1F2A3A"/>
                </a:solidFill>
                <a:latin typeface="맑은 고딕"/>
                <a:ea typeface="맑은 고딕"/>
                <a:cs typeface="맑은 고딕"/>
              </a:rPr>
              <a:t>• 제안을 승인하거나 거절한다</a:t>
            </a:r>
          </a:p>
          <a:p>
            <a:pPr algn="l">
              <a:lnSpc>
                <a:spcPct val="110000"/>
              </a:lnSpc>
              <a:spcAft>
                <a:spcPts val="600"/>
              </a:spcAft>
            </a:pPr>
            <a:r>
              <a:rPr sz="1450" b="0">
                <a:solidFill>
                  <a:srgbClr val="1F2A3A"/>
                </a:solidFill>
                <a:latin typeface="맑은 고딕"/>
                <a:ea typeface="맑은 고딕"/>
                <a:cs typeface="맑은 고딕"/>
              </a:rPr>
              <a:t>• 기록과 지표를 읽어 프로세스를 고친다</a:t>
            </a:r>
          </a:p>
        </p:txBody>
      </p:sp>
      <p:sp>
        <p:nvSpPr>
          <p:cNvPr id="18" name="Rounded Rectangle 17"/>
          <p:cNvSpPr/>
          <p:nvPr/>
        </p:nvSpPr>
        <p:spPr>
          <a:xfrm>
            <a:off x="6781647" y="4945570"/>
            <a:ext cx="176783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 · 결정 · 개선</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기록이 다음 설계의 입력이 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건의 기록에서 지표를 얻어 고칠 자리를 찾고, 고친 정의를 새 판본으로 배포하면 다음 경보부터 적용된다.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707767"/>
            <a:ext cx="2485567"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90647"/>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579283" y="3044266"/>
            <a:ext cx="424281" cy="424281"/>
          </a:xfrm>
          <a:prstGeom prst="rect">
            <a:avLst/>
          </a:prstGeom>
        </p:spPr>
      </p:pic>
      <p:sp>
        <p:nvSpPr>
          <p:cNvPr id="9" name="TextBox 8"/>
          <p:cNvSpPr txBox="1"/>
          <p:nvPr/>
        </p:nvSpPr>
        <p:spPr>
          <a:xfrm>
            <a:off x="621792"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실행</a:t>
            </a:r>
          </a:p>
          <a:p>
            <a:pPr algn="ctr">
              <a:lnSpc>
                <a:spcPct val="110000"/>
              </a:lnSpc>
              <a:spcAft>
                <a:spcPts val="400"/>
              </a:spcAft>
            </a:pPr>
            <a:r>
              <a:rPr sz="1350" b="0">
                <a:solidFill>
                  <a:srgbClr val="1F2A3A"/>
                </a:solidFill>
                <a:latin typeface="맑은 고딕"/>
                <a:ea typeface="맑은 고딕"/>
                <a:cs typeface="맑은 고딕"/>
              </a:rPr>
              <a:t>경보가 처리 건을 열고</a:t>
            </a:r>
          </a:p>
          <a:p>
            <a:pPr algn="ctr">
              <a:lnSpc>
                <a:spcPct val="110000"/>
              </a:lnSpc>
              <a:spcAft>
                <a:spcPts val="400"/>
              </a:spcAft>
            </a:pPr>
            <a:r>
              <a:rPr sz="1350" b="0">
                <a:solidFill>
                  <a:srgbClr val="1F2A3A"/>
                </a:solidFill>
                <a:latin typeface="맑은 고딕"/>
                <a:ea typeface="맑은 고딕"/>
                <a:cs typeface="맑은 고딕"/>
              </a:rPr>
              <a:t>끝 이벤트에 닿는다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707767"/>
            <a:ext cx="2485567" cy="2567177"/>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890647"/>
            <a:ext cx="731520" cy="731520"/>
          </a:xfrm>
          <a:prstGeom prst="ellipse">
            <a:avLst/>
          </a:prstGeom>
          <a:solidFill>
            <a:srgbClr val="FFFFFF"/>
          </a:solidFill>
          <a:ln>
            <a:noFill/>
          </a:ln>
        </p:spPr>
        <p:txBody>
          <a:bodyPr rtlCol="0" anchor="ctr"/>
          <a:lstStyle/>
          <a:p>
            <a:pPr algn="ctr"/>
          </a:p>
        </p:txBody>
      </p:sp>
      <p:pic>
        <p:nvPicPr>
          <p:cNvPr id="13" name="아이콘:history" descr="history_13294B_1.6.png"/>
          <p:cNvPicPr>
            <a:picLocks noChangeAspect="1"/>
          </p:cNvPicPr>
          <p:nvPr/>
        </p:nvPicPr>
        <p:blipFill>
          <a:blip r:embed="rId4"/>
          <a:stretch>
            <a:fillRect/>
          </a:stretch>
        </p:blipFill>
        <p:spPr>
          <a:xfrm>
            <a:off x="4448898" y="3044266"/>
            <a:ext cx="424281" cy="424281"/>
          </a:xfrm>
          <a:prstGeom prst="rect">
            <a:avLst/>
          </a:prstGeom>
        </p:spPr>
      </p:pic>
      <p:sp>
        <p:nvSpPr>
          <p:cNvPr id="14" name="TextBox 13"/>
          <p:cNvSpPr txBox="1"/>
          <p:nvPr/>
        </p:nvSpPr>
        <p:spPr>
          <a:xfrm>
            <a:off x="3491407"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기록</a:t>
            </a:r>
          </a:p>
          <a:p>
            <a:pPr algn="ctr">
              <a:lnSpc>
                <a:spcPct val="110000"/>
              </a:lnSpc>
              <a:spcAft>
                <a:spcPts val="400"/>
              </a:spcAft>
            </a:pPr>
            <a:r>
              <a:rPr sz="1350" b="0">
                <a:solidFill>
                  <a:srgbClr val="1F2A3A"/>
                </a:solidFill>
                <a:latin typeface="맑은 고딕"/>
                <a:ea typeface="맑은 고딕"/>
                <a:cs typeface="맑은 고딕"/>
              </a:rPr>
              <a:t>단계의 시각, 승인,</a:t>
            </a:r>
          </a:p>
          <a:p>
            <a:pPr algn="ctr">
              <a:lnSpc>
                <a:spcPct val="110000"/>
              </a:lnSpc>
              <a:spcAft>
                <a:spcPts val="400"/>
              </a:spcAft>
            </a:pPr>
            <a:r>
              <a:rPr sz="1350" b="0">
                <a:solidFill>
                  <a:srgbClr val="1F2A3A"/>
                </a:solidFill>
                <a:latin typeface="맑은 고딕"/>
                <a:ea typeface="맑은 고딕"/>
                <a:cs typeface="맑은 고딕"/>
              </a:rPr>
              <a:t>결과 보고가 남는다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707767"/>
            <a:ext cx="2485567" cy="2567177"/>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890647"/>
            <a:ext cx="731520" cy="731520"/>
          </a:xfrm>
          <a:prstGeom prst="ellipse">
            <a:avLst/>
          </a:prstGeom>
          <a:solidFill>
            <a:srgbClr val="FFFFFF"/>
          </a:solidFill>
          <a:ln>
            <a:noFill/>
          </a:ln>
        </p:spPr>
        <p:txBody>
          <a:bodyPr rtlCol="0" anchor="ctr"/>
          <a:lstStyle/>
          <a:p>
            <a:pPr algn="ctr"/>
          </a:p>
        </p:txBody>
      </p:sp>
      <p:pic>
        <p:nvPicPr>
          <p:cNvPr id="18" name="아이콘:chart-bar" descr="chart-bar_13294B_1.6.png"/>
          <p:cNvPicPr>
            <a:picLocks noChangeAspect="1"/>
          </p:cNvPicPr>
          <p:nvPr/>
        </p:nvPicPr>
        <p:blipFill>
          <a:blip r:embed="rId5"/>
          <a:stretch>
            <a:fillRect/>
          </a:stretch>
        </p:blipFill>
        <p:spPr>
          <a:xfrm>
            <a:off x="7318514" y="3044266"/>
            <a:ext cx="424281" cy="424281"/>
          </a:xfrm>
          <a:prstGeom prst="rect">
            <a:avLst/>
          </a:prstGeom>
        </p:spPr>
      </p:pic>
      <p:sp>
        <p:nvSpPr>
          <p:cNvPr id="19" name="TextBox 18"/>
          <p:cNvSpPr txBox="1"/>
          <p:nvPr/>
        </p:nvSpPr>
        <p:spPr>
          <a:xfrm>
            <a:off x="6361023"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지표</a:t>
            </a:r>
          </a:p>
          <a:p>
            <a:pPr algn="ctr">
              <a:lnSpc>
                <a:spcPct val="110000"/>
              </a:lnSpc>
              <a:spcAft>
                <a:spcPts val="400"/>
              </a:spcAft>
            </a:pPr>
            <a:r>
              <a:rPr sz="1350" b="0">
                <a:solidFill>
                  <a:srgbClr val="1F2A3A"/>
                </a:solidFill>
                <a:latin typeface="맑은 고딕"/>
                <a:ea typeface="맑은 고딕"/>
                <a:cs typeface="맑은 고딕"/>
              </a:rPr>
              <a:t>사이클 타임, 대기 시간,</a:t>
            </a:r>
          </a:p>
          <a:p>
            <a:pPr algn="ctr">
              <a:lnSpc>
                <a:spcPct val="110000"/>
              </a:lnSpc>
              <a:spcAft>
                <a:spcPts val="400"/>
              </a:spcAft>
            </a:pPr>
            <a:r>
              <a:rPr sz="1350" b="0">
                <a:solidFill>
                  <a:srgbClr val="1F2A3A"/>
                </a:solidFill>
                <a:latin typeface="맑은 고딕"/>
                <a:ea typeface="맑은 고딕"/>
                <a:cs typeface="맑은 고딕"/>
              </a:rPr>
              <a:t>반려율로 요약한다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707767"/>
            <a:ext cx="2485567"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890647"/>
            <a:ext cx="731520" cy="731520"/>
          </a:xfrm>
          <a:prstGeom prst="ellipse">
            <a:avLst/>
          </a:prstGeom>
          <a:solidFill>
            <a:srgbClr val="5CB8F2"/>
          </a:solidFill>
          <a:ln>
            <a:noFill/>
          </a:ln>
        </p:spPr>
        <p:txBody>
          <a:bodyPr rtlCol="0" anchor="ctr"/>
          <a:lstStyle/>
          <a:p>
            <a:pPr algn="ctr"/>
          </a:p>
        </p:txBody>
      </p:sp>
      <p:pic>
        <p:nvPicPr>
          <p:cNvPr id="23" name="아이콘:versions" descr="versions_13294B_1.6.png"/>
          <p:cNvPicPr>
            <a:picLocks noChangeAspect="1"/>
          </p:cNvPicPr>
          <p:nvPr/>
        </p:nvPicPr>
        <p:blipFill>
          <a:blip r:embed="rId6"/>
          <a:stretch>
            <a:fillRect/>
          </a:stretch>
        </p:blipFill>
        <p:spPr>
          <a:xfrm>
            <a:off x="10188130" y="3044266"/>
            <a:ext cx="424281" cy="424281"/>
          </a:xfrm>
          <a:prstGeom prst="rect">
            <a:avLst/>
          </a:prstGeom>
        </p:spPr>
      </p:pic>
      <p:sp>
        <p:nvSpPr>
          <p:cNvPr id="24" name="TextBox 23"/>
          <p:cNvSpPr txBox="1"/>
          <p:nvPr/>
        </p:nvSpPr>
        <p:spPr>
          <a:xfrm>
            <a:off x="9230639"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개선</a:t>
            </a:r>
          </a:p>
          <a:p>
            <a:pPr algn="ctr">
              <a:lnSpc>
                <a:spcPct val="110000"/>
              </a:lnSpc>
              <a:spcAft>
                <a:spcPts val="400"/>
              </a:spcAft>
            </a:pPr>
            <a:r>
              <a:rPr sz="1350" b="0">
                <a:solidFill>
                  <a:srgbClr val="1F2A3A"/>
                </a:solidFill>
                <a:latin typeface="맑은 고딕"/>
                <a:ea typeface="맑은 고딕"/>
                <a:cs typeface="맑은 고딕"/>
              </a:rPr>
              <a:t>정의를 고쳐</a:t>
            </a:r>
          </a:p>
          <a:p>
            <a:pPr algn="ctr">
              <a:lnSpc>
                <a:spcPct val="110000"/>
              </a:lnSpc>
              <a:spcAft>
                <a:spcPts val="400"/>
              </a:spcAft>
            </a:pPr>
            <a:r>
              <a:rPr sz="1350" b="0">
                <a:solidFill>
                  <a:srgbClr val="1F2A3A"/>
                </a:solidFill>
                <a:latin typeface="맑은 고딕"/>
                <a:ea typeface="맑은 고딕"/>
                <a:cs typeface="맑은 고딕"/>
              </a:rPr>
              <a:t>새 판본으로 배포한다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영역의 용어가 이어지는 모습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경보가 배포된 프로세스 정의에서 처리 건을 열고, 처리 건은 단계와 프로세스 변수와 결과 보고를 기록으로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Oval 5"/>
          <p:cNvSpPr/>
          <p:nvPr/>
        </p:nvSpPr>
        <p:spPr>
          <a:xfrm>
            <a:off x="548639" y="1790852"/>
            <a:ext cx="1463040" cy="146304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651052" y="2068830"/>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경보</a:t>
            </a:r>
          </a:p>
          <a:p>
            <a:pPr algn="ctr">
              <a:lnSpc>
                <a:spcPct val="110000"/>
              </a:lnSpc>
            </a:pPr>
            <a:r>
              <a:rPr sz="1100" b="0">
                <a:solidFill>
                  <a:srgbClr val="556175"/>
                </a:solidFill>
                <a:latin typeface="맑은 고딕"/>
                <a:ea typeface="맑은 고딕"/>
                <a:cs typeface="맑은 고딕"/>
              </a:rPr>
              <a:t>시작 이벤트</a:t>
            </a:r>
          </a:p>
        </p:txBody>
      </p:sp>
      <p:sp>
        <p:nvSpPr>
          <p:cNvPr id="8" name="Oval 7"/>
          <p:cNvSpPr/>
          <p:nvPr/>
        </p:nvSpPr>
        <p:spPr>
          <a:xfrm>
            <a:off x="3823307" y="4728819"/>
            <a:ext cx="1463040" cy="146304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3925720" y="500679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프로세스 정의</a:t>
            </a:r>
          </a:p>
          <a:p>
            <a:pPr algn="ctr">
              <a:lnSpc>
                <a:spcPct val="110000"/>
              </a:lnSpc>
            </a:pPr>
            <a:r>
              <a:rPr sz="1100" b="0">
                <a:solidFill>
                  <a:srgbClr val="556175"/>
                </a:solidFill>
                <a:latin typeface="맑은 고딕"/>
                <a:ea typeface="맑은 고딕"/>
                <a:cs typeface="맑은 고딕"/>
              </a:rPr>
              <a:t>BPMN 그림과 연결 값</a:t>
            </a:r>
          </a:p>
        </p:txBody>
      </p:sp>
      <p:sp>
        <p:nvSpPr>
          <p:cNvPr id="10" name="Oval 9"/>
          <p:cNvSpPr/>
          <p:nvPr/>
        </p:nvSpPr>
        <p:spPr>
          <a:xfrm>
            <a:off x="3823307" y="1790852"/>
            <a:ext cx="1463040" cy="1463040"/>
          </a:xfrm>
          <a:prstGeom prst="ellipse">
            <a:avLst/>
          </a:prstGeom>
          <a:solidFill>
            <a:srgbClr val="5CB8F2"/>
          </a:solidFill>
          <a:ln w="25400">
            <a:solidFill>
              <a:srgbClr val="13294B"/>
            </a:solidFill>
          </a:ln>
        </p:spPr>
        <p:txBody>
          <a:bodyPr rtlCol="0" anchor="ctr"/>
          <a:lstStyle/>
          <a:p>
            <a:pPr algn="ctr"/>
          </a:p>
        </p:txBody>
      </p:sp>
      <p:sp>
        <p:nvSpPr>
          <p:cNvPr id="11" name="TextBox 10"/>
          <p:cNvSpPr txBox="1"/>
          <p:nvPr/>
        </p:nvSpPr>
        <p:spPr>
          <a:xfrm>
            <a:off x="3925720" y="2068830"/>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처리 건</a:t>
            </a:r>
          </a:p>
          <a:p>
            <a:pPr algn="ctr">
              <a:lnSpc>
                <a:spcPct val="110000"/>
              </a:lnSpc>
            </a:pPr>
            <a:r>
              <a:rPr sz="1100" b="0">
                <a:solidFill>
                  <a:srgbClr val="556175"/>
                </a:solidFill>
                <a:latin typeface="맑은 고딕"/>
                <a:ea typeface="맑은 고딕"/>
                <a:cs typeface="맑은 고딕"/>
              </a:rPr>
              <a:t>프로세스 인스턴스</a:t>
            </a:r>
          </a:p>
        </p:txBody>
      </p:sp>
      <p:sp>
        <p:nvSpPr>
          <p:cNvPr id="12" name="Oval 11"/>
          <p:cNvSpPr/>
          <p:nvPr/>
        </p:nvSpPr>
        <p:spPr>
          <a:xfrm>
            <a:off x="7097975" y="1790852"/>
            <a:ext cx="1463040" cy="146304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7200387" y="2068830"/>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단계</a:t>
            </a:r>
          </a:p>
          <a:p>
            <a:pPr algn="ctr">
              <a:lnSpc>
                <a:spcPct val="110000"/>
              </a:lnSpc>
            </a:pPr>
            <a:r>
              <a:rPr sz="1100" b="0">
                <a:solidFill>
                  <a:srgbClr val="556175"/>
                </a:solidFill>
                <a:latin typeface="맑은 고딕"/>
                <a:ea typeface="맑은 고딕"/>
                <a:cs typeface="맑은 고딕"/>
              </a:rPr>
              <a:t>작업의 실행</a:t>
            </a:r>
          </a:p>
        </p:txBody>
      </p:sp>
      <p:sp>
        <p:nvSpPr>
          <p:cNvPr id="14" name="Oval 13"/>
          <p:cNvSpPr/>
          <p:nvPr/>
        </p:nvSpPr>
        <p:spPr>
          <a:xfrm>
            <a:off x="7097975" y="4728819"/>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7200387" y="500679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프로세스 변수</a:t>
            </a:r>
          </a:p>
          <a:p>
            <a:pPr algn="ctr">
              <a:lnSpc>
                <a:spcPct val="110000"/>
              </a:lnSpc>
            </a:pPr>
            <a:r>
              <a:rPr sz="1100" b="0">
                <a:solidFill>
                  <a:srgbClr val="556175"/>
                </a:solidFill>
                <a:latin typeface="맑은 고딕"/>
                <a:ea typeface="맑은 고딕"/>
                <a:cs typeface="맑은 고딕"/>
              </a:rPr>
              <a:t>작업의 출력</a:t>
            </a:r>
          </a:p>
        </p:txBody>
      </p:sp>
      <p:sp>
        <p:nvSpPr>
          <p:cNvPr id="16" name="Oval 15"/>
          <p:cNvSpPr/>
          <p:nvPr/>
        </p:nvSpPr>
        <p:spPr>
          <a:xfrm>
            <a:off x="10180015" y="1790852"/>
            <a:ext cx="1463040" cy="1463040"/>
          </a:xfrm>
          <a:prstGeom prst="ellipse">
            <a:avLst/>
          </a:prstGeom>
          <a:solidFill>
            <a:srgbClr val="E7F3FD"/>
          </a:solidFill>
          <a:ln w="25400">
            <a:solidFill>
              <a:srgbClr val="5CB8F2"/>
            </a:solidFill>
          </a:ln>
        </p:spPr>
        <p:txBody>
          <a:bodyPr rtlCol="0" anchor="ctr"/>
          <a:lstStyle/>
          <a:p>
            <a:pPr algn="ctr"/>
          </a:p>
        </p:txBody>
      </p:sp>
      <p:sp>
        <p:nvSpPr>
          <p:cNvPr id="17" name="TextBox 16"/>
          <p:cNvSpPr txBox="1"/>
          <p:nvPr/>
        </p:nvSpPr>
        <p:spPr>
          <a:xfrm>
            <a:off x="10282428" y="2068830"/>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결과 보고</a:t>
            </a:r>
          </a:p>
          <a:p>
            <a:pPr algn="ctr">
              <a:lnSpc>
                <a:spcPct val="110000"/>
              </a:lnSpc>
            </a:pPr>
            <a:r>
              <a:rPr sz="1100" b="0">
                <a:solidFill>
                  <a:srgbClr val="556175"/>
                </a:solidFill>
                <a:latin typeface="맑은 고딕"/>
                <a:ea typeface="맑은 고딕"/>
                <a:cs typeface="맑은 고딕"/>
              </a:rPr>
              <a:t>종료 기록</a:t>
            </a:r>
          </a:p>
        </p:txBody>
      </p:sp>
      <p:cxnSp>
        <p:nvCxnSpPr>
          <p:cNvPr id="18" name="Connector 17"/>
          <p:cNvCxnSpPr/>
          <p:nvPr/>
        </p:nvCxnSpPr>
        <p:spPr>
          <a:xfrm>
            <a:off x="2057400" y="2522372"/>
            <a:ext cx="1692755" cy="0"/>
          </a:xfrm>
          <a:prstGeom prst="line">
            <a:avLst/>
          </a:prstGeom>
          <a:ln w="28575">
            <a:solidFill>
              <a:srgbClr val="13294B"/>
            </a:solidFill>
            <a:tailEnd type="triangle" w="med" len="med"/>
          </a:ln>
        </p:spPr>
      </p:cxnSp>
      <p:sp>
        <p:nvSpPr>
          <p:cNvPr id="19" name="Rounded Rectangle 18"/>
          <p:cNvSpPr/>
          <p:nvPr/>
        </p:nvSpPr>
        <p:spPr>
          <a:xfrm>
            <a:off x="2620567" y="2156612"/>
            <a:ext cx="5664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0" name="TextBox 19"/>
          <p:cNvSpPr txBox="1"/>
          <p:nvPr/>
        </p:nvSpPr>
        <p:spPr>
          <a:xfrm>
            <a:off x="2620567" y="2156612"/>
            <a:ext cx="5664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연다</a:t>
            </a:r>
          </a:p>
        </p:txBody>
      </p:sp>
      <p:cxnSp>
        <p:nvCxnSpPr>
          <p:cNvPr id="21" name="Connector 20"/>
          <p:cNvCxnSpPr/>
          <p:nvPr/>
        </p:nvCxnSpPr>
        <p:spPr>
          <a:xfrm flipV="1">
            <a:off x="4554827" y="3327044"/>
            <a:ext cx="0" cy="1356055"/>
          </a:xfrm>
          <a:prstGeom prst="line">
            <a:avLst/>
          </a:prstGeom>
          <a:ln w="28575">
            <a:solidFill>
              <a:srgbClr val="13294B"/>
            </a:solidFill>
            <a:tailEnd type="triangle" w="med" len="med"/>
          </a:ln>
        </p:spPr>
      </p:cxnSp>
      <p:sp>
        <p:nvSpPr>
          <p:cNvPr id="22" name="Rounded Rectangle 21"/>
          <p:cNvSpPr/>
          <p:nvPr/>
        </p:nvSpPr>
        <p:spPr>
          <a:xfrm>
            <a:off x="4646267" y="3858768"/>
            <a:ext cx="148653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4646267" y="3858768"/>
            <a:ext cx="148653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인스턴스를 만든다</a:t>
            </a:r>
          </a:p>
        </p:txBody>
      </p:sp>
      <p:cxnSp>
        <p:nvCxnSpPr>
          <p:cNvPr id="24" name="Connector 23"/>
          <p:cNvCxnSpPr/>
          <p:nvPr/>
        </p:nvCxnSpPr>
        <p:spPr>
          <a:xfrm>
            <a:off x="5332067" y="2522372"/>
            <a:ext cx="1692756" cy="0"/>
          </a:xfrm>
          <a:prstGeom prst="line">
            <a:avLst/>
          </a:prstGeom>
          <a:ln w="28575">
            <a:solidFill>
              <a:srgbClr val="13294B"/>
            </a:solidFill>
            <a:tailEnd type="triangle" w="med" len="med"/>
          </a:ln>
        </p:spPr>
      </p:cxnSp>
      <p:sp>
        <p:nvSpPr>
          <p:cNvPr id="25" name="Rounded Rectangle 24"/>
          <p:cNvSpPr/>
          <p:nvPr/>
        </p:nvSpPr>
        <p:spPr>
          <a:xfrm>
            <a:off x="5654252" y="2156612"/>
            <a:ext cx="10483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5654252" y="2156612"/>
            <a:ext cx="104838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차례로 연다</a:t>
            </a:r>
          </a:p>
        </p:txBody>
      </p:sp>
      <p:cxnSp>
        <p:nvCxnSpPr>
          <p:cNvPr id="27" name="Connector 26"/>
          <p:cNvCxnSpPr/>
          <p:nvPr/>
        </p:nvCxnSpPr>
        <p:spPr>
          <a:xfrm>
            <a:off x="7829495" y="3299612"/>
            <a:ext cx="0" cy="1356055"/>
          </a:xfrm>
          <a:prstGeom prst="line">
            <a:avLst/>
          </a:prstGeom>
          <a:ln w="28575">
            <a:solidFill>
              <a:srgbClr val="13294B"/>
            </a:solidFill>
            <a:tailEnd type="triangle" w="med" len="med"/>
          </a:ln>
        </p:spPr>
      </p:cxnSp>
      <p:sp>
        <p:nvSpPr>
          <p:cNvPr id="28" name="Rounded Rectangle 27"/>
          <p:cNvSpPr/>
          <p:nvPr/>
        </p:nvSpPr>
        <p:spPr>
          <a:xfrm>
            <a:off x="7920935" y="3831335"/>
            <a:ext cx="119443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7920935" y="3831335"/>
            <a:ext cx="119443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출력을 남긴다</a:t>
            </a:r>
          </a:p>
        </p:txBody>
      </p:sp>
      <p:cxnSp>
        <p:nvCxnSpPr>
          <p:cNvPr id="30" name="Connector 29"/>
          <p:cNvCxnSpPr/>
          <p:nvPr/>
        </p:nvCxnSpPr>
        <p:spPr>
          <a:xfrm>
            <a:off x="8606735" y="2522372"/>
            <a:ext cx="1500128" cy="0"/>
          </a:xfrm>
          <a:prstGeom prst="line">
            <a:avLst/>
          </a:prstGeom>
          <a:ln w="28575">
            <a:solidFill>
              <a:srgbClr val="13294B"/>
            </a:solidFill>
            <a:tailEnd type="triangle" w="med" len="med"/>
          </a:ln>
        </p:spPr>
      </p:cxnSp>
      <p:sp>
        <p:nvSpPr>
          <p:cNvPr id="31" name="Rounded Rectangle 30"/>
          <p:cNvSpPr/>
          <p:nvPr/>
        </p:nvSpPr>
        <p:spPr>
          <a:xfrm>
            <a:off x="8759581" y="2156612"/>
            <a:ext cx="119443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8759581" y="2156612"/>
            <a:ext cx="119443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결말을 적는다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새 업무를 프로세스로 옮길 때의 다섯 물음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새 업무를 프로세스로 옮기는 일은 처리 건이 지나는 다섯 자리에 무엇을 놓을지를 묻는 데서 시작한다.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ectangle 5"/>
          <p:cNvSpPr/>
          <p:nvPr/>
        </p:nvSpPr>
        <p:spPr>
          <a:xfrm>
            <a:off x="1658081" y="3053715"/>
            <a:ext cx="8875532" cy="36576"/>
          </a:xfrm>
          <a:prstGeom prst="rect">
            <a:avLst/>
          </a:prstGeom>
          <a:solidFill>
            <a:srgbClr val="D3D9E1"/>
          </a:solidFill>
          <a:ln>
            <a:noFill/>
          </a:ln>
        </p:spPr>
        <p:txBody>
          <a:bodyPr rtlCol="0" anchor="ctr"/>
          <a:lstStyle/>
          <a:p>
            <a:pPr algn="ctr"/>
          </a:p>
        </p:txBody>
      </p:sp>
      <p:sp>
        <p:nvSpPr>
          <p:cNvPr id="7" name="Oval 6"/>
          <p:cNvSpPr/>
          <p:nvPr/>
        </p:nvSpPr>
        <p:spPr>
          <a:xfrm>
            <a:off x="1223741" y="2637663"/>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223741"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1"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시작 이벤트</a:t>
            </a:r>
          </a:p>
          <a:p>
            <a:pPr algn="ctr">
              <a:lnSpc>
                <a:spcPct val="110000"/>
              </a:lnSpc>
              <a:spcAft>
                <a:spcPts val="400"/>
              </a:spcAft>
            </a:pPr>
            <a:r>
              <a:rPr sz="1300" b="0">
                <a:solidFill>
                  <a:srgbClr val="1F2A3A"/>
                </a:solidFill>
                <a:latin typeface="맑은 고딕"/>
                <a:ea typeface="맑은 고딕"/>
                <a:cs typeface="맑은 고딕"/>
              </a:rPr>
              <a:t>어떤 사건이 일어나면 이 업무가 시작되는가</a:t>
            </a:r>
          </a:p>
        </p:txBody>
      </p:sp>
      <p:sp>
        <p:nvSpPr>
          <p:cNvPr id="10" name="Oval 9"/>
          <p:cNvSpPr/>
          <p:nvPr/>
        </p:nvSpPr>
        <p:spPr>
          <a:xfrm>
            <a:off x="3442624" y="2637663"/>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3442624"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2840675"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에이전트의 판단</a:t>
            </a:r>
          </a:p>
          <a:p>
            <a:pPr algn="ctr">
              <a:lnSpc>
                <a:spcPct val="110000"/>
              </a:lnSpc>
              <a:spcAft>
                <a:spcPts val="400"/>
              </a:spcAft>
            </a:pPr>
            <a:r>
              <a:rPr sz="1300" b="0">
                <a:solidFill>
                  <a:srgbClr val="1F2A3A"/>
                </a:solidFill>
                <a:latin typeface="맑은 고딕"/>
                <a:ea typeface="맑은 고딕"/>
                <a:cs typeface="맑은 고딕"/>
              </a:rPr>
              <a:t>무엇을 읽어 무엇을 제안하게 할 것인가</a:t>
            </a:r>
          </a:p>
        </p:txBody>
      </p:sp>
      <p:sp>
        <p:nvSpPr>
          <p:cNvPr id="13" name="Oval 12"/>
          <p:cNvSpPr/>
          <p:nvPr/>
        </p:nvSpPr>
        <p:spPr>
          <a:xfrm>
            <a:off x="5661507" y="2637663"/>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5661507"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5059558"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사람의 승인</a:t>
            </a:r>
          </a:p>
          <a:p>
            <a:pPr algn="ctr">
              <a:lnSpc>
                <a:spcPct val="110000"/>
              </a:lnSpc>
              <a:spcAft>
                <a:spcPts val="400"/>
              </a:spcAft>
            </a:pPr>
            <a:r>
              <a:rPr sz="1300" b="0">
                <a:solidFill>
                  <a:srgbClr val="1F2A3A"/>
                </a:solidFill>
                <a:latin typeface="맑은 고딕"/>
                <a:ea typeface="맑은 고딕"/>
                <a:cs typeface="맑은 고딕"/>
              </a:rPr>
              <a:t>어느 역할이 결정하며 거절과 무응답은 어떻게 닫는가</a:t>
            </a:r>
          </a:p>
        </p:txBody>
      </p:sp>
      <p:sp>
        <p:nvSpPr>
          <p:cNvPr id="16" name="Oval 15"/>
          <p:cNvSpPr/>
          <p:nvPr/>
        </p:nvSpPr>
        <p:spPr>
          <a:xfrm>
            <a:off x="7880390" y="2637663"/>
            <a:ext cx="868680" cy="868680"/>
          </a:xfrm>
          <a:prstGeom prst="ellipse">
            <a:avLst/>
          </a:prstGeom>
          <a:solidFill>
            <a:srgbClr val="FFFFFF"/>
          </a:solidFill>
          <a:ln w="25400">
            <a:solidFill>
              <a:srgbClr val="13294B"/>
            </a:solidFill>
          </a:ln>
        </p:spPr>
        <p:txBody>
          <a:bodyPr rtlCol="0" anchor="ctr"/>
          <a:lstStyle/>
          <a:p>
            <a:pPr algn="ctr"/>
          </a:p>
        </p:txBody>
      </p:sp>
      <p:sp>
        <p:nvSpPr>
          <p:cNvPr id="17" name="TextBox 16"/>
          <p:cNvSpPr txBox="1"/>
          <p:nvPr/>
        </p:nvSpPr>
        <p:spPr>
          <a:xfrm>
            <a:off x="7880390"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4</a:t>
            </a:r>
          </a:p>
        </p:txBody>
      </p:sp>
      <p:sp>
        <p:nvSpPr>
          <p:cNvPr id="18" name="TextBox 17"/>
          <p:cNvSpPr txBox="1"/>
          <p:nvPr/>
        </p:nvSpPr>
        <p:spPr>
          <a:xfrm>
            <a:off x="7278441"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시스템의 처리</a:t>
            </a:r>
          </a:p>
          <a:p>
            <a:pPr algn="ctr">
              <a:lnSpc>
                <a:spcPct val="110000"/>
              </a:lnSpc>
              <a:spcAft>
                <a:spcPts val="400"/>
              </a:spcAft>
            </a:pPr>
            <a:r>
              <a:rPr sz="1300" b="0">
                <a:solidFill>
                  <a:srgbClr val="1F2A3A"/>
                </a:solidFill>
                <a:latin typeface="맑은 고딕"/>
                <a:ea typeface="맑은 고딕"/>
                <a:cs typeface="맑은 고딕"/>
              </a:rPr>
              <a:t>승인된 내용을 어느 시스템이 실행하고 기록하는가</a:t>
            </a:r>
          </a:p>
        </p:txBody>
      </p:sp>
      <p:sp>
        <p:nvSpPr>
          <p:cNvPr id="19" name="Oval 18"/>
          <p:cNvSpPr/>
          <p:nvPr/>
        </p:nvSpPr>
        <p:spPr>
          <a:xfrm>
            <a:off x="10099273" y="2637663"/>
            <a:ext cx="868680" cy="868680"/>
          </a:xfrm>
          <a:prstGeom prst="ellipse">
            <a:avLst/>
          </a:prstGeom>
          <a:solidFill>
            <a:srgbClr val="FFFFFF"/>
          </a:solidFill>
          <a:ln w="25400">
            <a:solidFill>
              <a:srgbClr val="13294B"/>
            </a:solidFill>
          </a:ln>
        </p:spPr>
        <p:txBody>
          <a:bodyPr rtlCol="0" anchor="ctr"/>
          <a:lstStyle/>
          <a:p>
            <a:pPr algn="ctr"/>
          </a:p>
        </p:txBody>
      </p:sp>
      <p:sp>
        <p:nvSpPr>
          <p:cNvPr id="20" name="TextBox 19"/>
          <p:cNvSpPr txBox="1"/>
          <p:nvPr/>
        </p:nvSpPr>
        <p:spPr>
          <a:xfrm>
            <a:off x="10099273"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5</a:t>
            </a:r>
          </a:p>
        </p:txBody>
      </p:sp>
      <p:sp>
        <p:nvSpPr>
          <p:cNvPr id="21" name="TextBox 20"/>
          <p:cNvSpPr txBox="1"/>
          <p:nvPr/>
        </p:nvSpPr>
        <p:spPr>
          <a:xfrm>
            <a:off x="9497324"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종료 기록</a:t>
            </a:r>
          </a:p>
          <a:p>
            <a:pPr algn="ctr">
              <a:lnSpc>
                <a:spcPct val="110000"/>
              </a:lnSpc>
              <a:spcAft>
                <a:spcPts val="400"/>
              </a:spcAft>
            </a:pPr>
            <a:r>
              <a:rPr sz="1300" b="0">
                <a:solidFill>
                  <a:srgbClr val="1F2A3A"/>
                </a:solidFill>
                <a:latin typeface="맑은 고딕"/>
                <a:ea typeface="맑은 고딕"/>
                <a:cs typeface="맑은 고딕"/>
              </a:rPr>
              <a:t>무엇이 남으면 이 업무가 끝났다고 보는가</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약어와 용어의 정식 명칭, 그리고 그것이 세 업무의 프로세스에서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프로세스에서</a:t>
            </a:r>
          </a:p>
        </p:txBody>
      </p:sp>
      <p:sp>
        <p:nvSpPr>
          <p:cNvPr id="10" name="Rounded Rectangle 9"/>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ERP</a:t>
            </a:r>
          </a:p>
        </p:txBody>
      </p:sp>
      <p:sp>
        <p:nvSpPr>
          <p:cNvPr id="12" name="TextBox 11"/>
          <p:cNvSpPr txBox="1"/>
          <p:nvPr/>
        </p:nvSpPr>
        <p:spPr>
          <a:xfrm>
            <a:off x="3200400" y="2029968"/>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Enterprise Resource Planning</a:t>
            </a:r>
          </a:p>
        </p:txBody>
      </p:sp>
      <p:sp>
        <p:nvSpPr>
          <p:cNvPr id="13" name="TextBox 12"/>
          <p:cNvSpPr txBox="1"/>
          <p:nvPr/>
        </p:nvSpPr>
        <p:spPr>
          <a:xfrm>
            <a:off x="9448495" y="2029968"/>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재고 보충의 실행 시스템</a:t>
            </a:r>
          </a:p>
        </p:txBody>
      </p:sp>
      <p:sp>
        <p:nvSpPr>
          <p:cNvPr id="14" name="Rounded Rectangle 13"/>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70607"/>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PM</a:t>
            </a:r>
          </a:p>
        </p:txBody>
      </p:sp>
      <p:sp>
        <p:nvSpPr>
          <p:cNvPr id="16" name="TextBox 15"/>
          <p:cNvSpPr txBox="1"/>
          <p:nvPr/>
        </p:nvSpPr>
        <p:spPr>
          <a:xfrm>
            <a:off x="3200400" y="2570607"/>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Preventive Maintenance</a:t>
            </a:r>
          </a:p>
        </p:txBody>
      </p:sp>
      <p:sp>
        <p:nvSpPr>
          <p:cNvPr id="17" name="TextBox 16"/>
          <p:cNvSpPr txBox="1"/>
          <p:nvPr/>
        </p:nvSpPr>
        <p:spPr>
          <a:xfrm>
            <a:off x="9448495" y="2570607"/>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정기 점검의 경보 패턴 PM_DUE</a:t>
            </a:r>
          </a:p>
        </p:txBody>
      </p:sp>
      <p:sp>
        <p:nvSpPr>
          <p:cNvPr id="18" name="Rounded Rectangle 17"/>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111246"/>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패턴</a:t>
            </a:r>
          </a:p>
        </p:txBody>
      </p:sp>
      <p:sp>
        <p:nvSpPr>
          <p:cNvPr id="20" name="TextBox 19"/>
          <p:cNvSpPr txBox="1"/>
          <p:nvPr/>
        </p:nvSpPr>
        <p:spPr>
          <a:xfrm>
            <a:off x="3200400" y="3111246"/>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Pattern</a:t>
            </a:r>
          </a:p>
        </p:txBody>
      </p:sp>
      <p:sp>
        <p:nvSpPr>
          <p:cNvPr id="21" name="TextBox 20"/>
          <p:cNvSpPr txBox="1"/>
          <p:nvPr/>
        </p:nvSpPr>
        <p:spPr>
          <a:xfrm>
            <a:off x="9448495" y="3111246"/>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세 프로세스가 함께 쓴 승인 블록</a:t>
            </a:r>
          </a:p>
        </p:txBody>
      </p:sp>
      <p:sp>
        <p:nvSpPr>
          <p:cNvPr id="22" name="Rounded Rectangle 21"/>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651885"/>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재주문점</a:t>
            </a:r>
          </a:p>
        </p:txBody>
      </p:sp>
      <p:sp>
        <p:nvSpPr>
          <p:cNvPr id="24" name="TextBox 23"/>
          <p:cNvSpPr txBox="1"/>
          <p:nvPr/>
        </p:nvSpPr>
        <p:spPr>
          <a:xfrm>
            <a:off x="3200400" y="3651885"/>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Reorder Point</a:t>
            </a:r>
          </a:p>
        </p:txBody>
      </p:sp>
      <p:sp>
        <p:nvSpPr>
          <p:cNvPr id="25" name="TextBox 24"/>
          <p:cNvSpPr txBox="1"/>
          <p:nvPr/>
        </p:nvSpPr>
        <p:spPr>
          <a:xfrm>
            <a:off x="9448495" y="3651885"/>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재고 보충의 시작 조건</a:t>
            </a:r>
          </a:p>
        </p:txBody>
      </p:sp>
      <p:sp>
        <p:nvSpPr>
          <p:cNvPr id="26" name="Rounded Rectangle 25"/>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192524"/>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모니터링</a:t>
            </a:r>
          </a:p>
        </p:txBody>
      </p:sp>
      <p:sp>
        <p:nvSpPr>
          <p:cNvPr id="28" name="TextBox 27"/>
          <p:cNvSpPr txBox="1"/>
          <p:nvPr/>
        </p:nvSpPr>
        <p:spPr>
          <a:xfrm>
            <a:off x="3200400" y="4192524"/>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Monitoring</a:t>
            </a:r>
          </a:p>
        </p:txBody>
      </p:sp>
      <p:sp>
        <p:nvSpPr>
          <p:cNvPr id="29" name="TextBox 28"/>
          <p:cNvSpPr txBox="1"/>
          <p:nvPr/>
        </p:nvSpPr>
        <p:spPr>
          <a:xfrm>
            <a:off x="9448495" y="4192524"/>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단계의 시각과 결과를 읽는 일</a:t>
            </a:r>
          </a:p>
        </p:txBody>
      </p:sp>
      <p:sp>
        <p:nvSpPr>
          <p:cNvPr id="30" name="Rounded Rectangle 29"/>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733163"/>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병목</a:t>
            </a:r>
          </a:p>
        </p:txBody>
      </p:sp>
      <p:sp>
        <p:nvSpPr>
          <p:cNvPr id="32" name="TextBox 31"/>
          <p:cNvSpPr txBox="1"/>
          <p:nvPr/>
        </p:nvSpPr>
        <p:spPr>
          <a:xfrm>
            <a:off x="3200400" y="4733163"/>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Bottleneck</a:t>
            </a:r>
          </a:p>
        </p:txBody>
      </p:sp>
      <p:sp>
        <p:nvSpPr>
          <p:cNvPr id="33" name="TextBox 32"/>
          <p:cNvSpPr txBox="1"/>
          <p:nvPr/>
        </p:nvSpPr>
        <p:spPr>
          <a:xfrm>
            <a:off x="9448495" y="4733163"/>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 단계, 재관측</a:t>
            </a:r>
          </a:p>
        </p:txBody>
      </p:sp>
      <p:sp>
        <p:nvSpPr>
          <p:cNvPr id="34" name="Rounded Rectangle 33"/>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273802"/>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사이클 타임</a:t>
            </a:r>
          </a:p>
        </p:txBody>
      </p:sp>
      <p:sp>
        <p:nvSpPr>
          <p:cNvPr id="36" name="TextBox 35"/>
          <p:cNvSpPr txBox="1"/>
          <p:nvPr/>
        </p:nvSpPr>
        <p:spPr>
          <a:xfrm>
            <a:off x="3200400" y="5273802"/>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Cycle Time</a:t>
            </a:r>
          </a:p>
        </p:txBody>
      </p:sp>
      <p:sp>
        <p:nvSpPr>
          <p:cNvPr id="37" name="TextBox 36"/>
          <p:cNvSpPr txBox="1"/>
          <p:nvPr/>
        </p:nvSpPr>
        <p:spPr>
          <a:xfrm>
            <a:off x="9448495" y="5273802"/>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146초, 60초, 58초</a:t>
            </a:r>
          </a:p>
        </p:txBody>
      </p:sp>
      <p:sp>
        <p:nvSpPr>
          <p:cNvPr id="38" name="Rounded Rectangle 37"/>
          <p:cNvSpPr/>
          <p:nvPr/>
        </p:nvSpPr>
        <p:spPr>
          <a:xfrm>
            <a:off x="548640" y="5846445"/>
            <a:ext cx="11094415" cy="476631"/>
          </a:xfrm>
          <a:prstGeom prst="roundRect">
            <a:avLst>
              <a:gd name="adj" fmla="val 8000"/>
            </a:avLst>
          </a:prstGeom>
          <a:solidFill>
            <a:srgbClr val="F3F6F9"/>
          </a:solidFill>
          <a:ln>
            <a:noFill/>
          </a:ln>
        </p:spPr>
        <p:txBody>
          <a:bodyPr rtlCol="0" anchor="ctr"/>
          <a:lstStyle/>
          <a:p>
            <a:pPr algn="ctr"/>
          </a:p>
        </p:txBody>
      </p:sp>
      <p:sp>
        <p:nvSpPr>
          <p:cNvPr id="39" name="TextBox 38"/>
          <p:cNvSpPr txBox="1"/>
          <p:nvPr/>
        </p:nvSpPr>
        <p:spPr>
          <a:xfrm>
            <a:off x="685800" y="5814441"/>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반려율</a:t>
            </a:r>
          </a:p>
        </p:txBody>
      </p:sp>
      <p:sp>
        <p:nvSpPr>
          <p:cNvPr id="40" name="TextBox 39"/>
          <p:cNvSpPr txBox="1"/>
          <p:nvPr/>
        </p:nvSpPr>
        <p:spPr>
          <a:xfrm>
            <a:off x="3200400" y="5814441"/>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Rejection Rate</a:t>
            </a:r>
          </a:p>
        </p:txBody>
      </p:sp>
      <p:sp>
        <p:nvSpPr>
          <p:cNvPr id="41" name="TextBox 40"/>
          <p:cNvSpPr txBox="1"/>
          <p:nvPr/>
        </p:nvSpPr>
        <p:spPr>
          <a:xfrm>
            <a:off x="9448495" y="5814441"/>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여러 처리 건을 요약하는 지표</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거절로 닫힌 재고 보충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 처리 건의 상태가 COMPLETED이고, 닿은 끝 이벤트는 E_rejected이다.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처리 건이 닫힌 뒤의 상황으로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처리 건이 끝났으므로 씰 키트의 재고 부족도 해결되었다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발주는 만들어지지 않았고 재고 보충이 필요한 상태는 그대로 남아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발주는 나갔지만 입고만 이루어지지 않았다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지연 타이머가 처리 건을 자동으로 닫았다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병목을 판단하는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 프로세스가 느리다는 말이 나와, 끝난 처리 건들의 기록에서 어느 단계가 흐름을 늦추는지 찾으려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병목을 판단하는 근거로 삼을 기록은?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처리 건의 상태가 COMPLETED인지 여부</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처리 건이 닿은 끝 이벤트의 이름</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작업이 사용자 작업이라는 그림의 표식</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단계마다 남은 시작과 끝의 시각</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승인을 생략하자는 의견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정비 계획 에이전트의 제안이 대부분 적절했으므로 승인 작업을 빼고 정비 오더를 바로 등록하자는 의견이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의견에 대한 판단으로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제안이 정확하다면 승인 작업을 빼고 에이전트의 제안을 바로 등록한다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작업을 서비스 작업으로 바꾸어 시스템이 대신 승인하게 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설비를 세우는 정비 오더는 효과를 내는 작업이므로 설비보전팀장의 승인 뒤에 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지연 타이머를 중단형으로 바꾸어 기한이 지나면 자동으로 등록한다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닫힌 처리 건의 해석, 판단의 근거가 되는 기록, 에이전트와 사람의 책임 경계를 바르게 읽는지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거절하면 처리 건은 닫히지만 발주는 만들어지지 않는다. 재고 부족은 그대로 남는다.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상태와 끝 이벤트는 결말을 알려 준다. 어디서 시간이 걸렸는지는 단계의 시각이 알려 준다.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에이전트는 제안까지 한다. 효과를 내는 작업은 책임질 역할의 승인 뒤에 둔다.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