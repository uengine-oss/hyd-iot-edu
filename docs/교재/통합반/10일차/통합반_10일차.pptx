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지난 시간의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프로세스의 전체 그림입니다. 하늘색 요소는 긴급 대응 프로세스의 승인 블록과 같고, 승인 역할만 설비보전팀장으로 바뀌었습니다. 이 프로세스에서 달라진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구조입니다.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이어지는 작업만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정합니다. 사람이 결정하지 않았는데 흐름이 넘어가는 것입니다. 비중단형으로 그리면 알림만 나가고 승인 작업은 계속 기다립니다. 설비를 세우거나 돈을 쓰는 결정은 사람에게 남겨 두어야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보고는 거절이며, 기록에 남는 결과 값은 거절을 뜻하는 반려입니다. 승인되어 끝나면 E_end에 닿고, 결과 보고의 결과는 긴급 대응과 정기 점검에서는 정상, 재고 보충에서는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승인되어 끝난 긴급 대응 처리 건의 단계 기록입니다. 에이전트의 단계부터 결과 보고까지 여섯 단계에 상태와 담당이 적혀 있고, 단계마다 그 단계가 열린 시각과 끝난 시각이 함께 남습니다. 이런 기록으로 업무가 어디까지 진행되었고 어디서 기다리고 있는지를 지켜보는 일을 모니터링이라고 합니다. 끝난 시각에서 열린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단계마다 걸린 시간을 구해 견주면 어디서 시간이 걸렸는지가 보이며, 그 가운데 가장 오래 걸려 흐름 전체를 늦추는 단계를 병목, Bottleneck이라고 합니다. 세 프로세스의 단계를 순서대로 놓았습니다. 하늘색은 에이전트의 단계, 흰 띠는 승인 단계, 연한 색은 시스템 단계입니다. 에이전트와 시스템의 단계는 맡은 일을 마치면 끝나지만, 점선으로 두른 승인 단계는 승인자가 응답할 때까지 열려 있습니다. 그래서 응답이 늦어지면 세 프로세스 어디서나 이 단계가 병목이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사정을 말해 줄 뿐입니다. 프로세스를 고칠지 판단하려면 여러 건을 모아 수로 요약해야 하고, 그 수가 지표입니다. 사이클 타임은 시작에서 끝까지 걸린 시간이고, 대기 시간은 작업이 열린 채로 기다린 시간입니다. 처리 건수는 정해진 기간에 끝난 건의 수이며, 거절률은 그 가운데 거절로 닫힌 비율입니다. 지난 시간에 본 BPM의 모니터링과 개선 단계가 이 지표를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세 프로세스는 제안에서 결과 보고까지의 순서와 승인 블록이 같았습니다. 달랐던 것은 시작 조건, 에이전트, 승인자, 실행 시스템의 네 가지 값입니다. 구조가 같았기 때문에 승인 대기와 종결을 읽는 법도, 단계의 시각에서 병목과 지표를 얻는 법도 세 업무에 똑같이 쓸 수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지난 시간에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건에서 정기 정비 계획 에이전트가 낸 추천안의 속입니다. 후보는 넷이었고, 이번 예정된 정비 시간에 한 대만 정비하는 안이 추천이며 이것이 앞 장의 야간 정비 시간입니다.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4일차까지 만든 온톨로지는 원인과 증거와 조치와 규칙이라는 지식을 정하고, 현재 값이 어디에 있는지를 알려 줍니다. 5일차부터 8일차까지 다룬 에이전트는 그 지식과 값을 읽어 추천과 대안을 제안합니다. 지난 시간과 오늘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3일차에 조치 방법으로 적어 둔 SOP-COOL-11 팬 최대 운전이 출발점입니다. 9일차에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세 업무의 처리 건은 단계마다 시작과 끝의 시각을 남기고, 그 기록에서 승인자의 응답이 늦어진 승인 단계 같은 병목을 찾습니다. 여러 건을 모은 지표에서 승인 대기가 길거나 거절이 많은 자리가 보이면 정의를 고치고,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여덟과 함께 승인 블록, 가용 재고, 대기 시간이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2번은 결말을 알려 주는 기록을 시간의 근거로 삼은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8.png"/><Relationship Id="rId7"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7.png"/><Relationship Id="rId4" Type="http://schemas.openxmlformats.org/officeDocument/2006/relationships/image" Target="../media/image23.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8.png"/><Relationship Id="rId4" Type="http://schemas.openxmlformats.org/officeDocument/2006/relationships/image" Target="../media/image40.png"/><Relationship Id="rId5" Type="http://schemas.openxmlformats.org/officeDocument/2006/relationships/image" Target="../media/image7.png"/><Relationship Id="rId6"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10일차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 읽기</a:t>
            </a:r>
          </a:p>
          <a:p>
            <a:pPr algn="l">
              <a:lnSpc>
                <a:spcPct val="110000"/>
              </a:lnSpc>
              <a:spcAft>
                <a:spcPts val="400"/>
              </a:spcAft>
            </a:pPr>
            <a:r>
              <a:rPr sz="1350" b="0">
                <a:solidFill>
                  <a:srgbClr val="1F2A3A"/>
                </a:solidFill>
                <a:latin typeface="맑은 고딕"/>
                <a:ea typeface="맑은 고딕"/>
                <a:cs typeface="맑은 고딕"/>
              </a:rPr>
              <a:t>단계마다 남은 시각에서 병목을 찾고 지표로 요약한다</a:t>
            </a:r>
          </a:p>
        </p:txBody>
      </p:sp>
      <p:sp>
        <p:nvSpPr>
          <p:cNvPr id="22" name="Rounded Rectangle 21"/>
          <p:cNvSpPr/>
          <p:nvPr/>
        </p:nvSpPr>
        <p:spPr>
          <a:xfrm>
            <a:off x="6461607" y="5134356"/>
            <a:ext cx="9753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모니터링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347225660173993717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561896675905701891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145843118831266834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16456142258038832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428683067416496003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696345417340721203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이어져 작업이 일곱이다.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273504091620628795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작업이 끊긴다</a:t>
            </a:r>
          </a:p>
          <a:p>
            <a:pPr algn="l">
              <a:lnSpc>
                <a:spcPct val="110000"/>
              </a:lnSpc>
              <a:spcAft>
                <a:spcPts val="600"/>
              </a:spcAft>
            </a:pPr>
            <a:r>
              <a:rPr sz="1450" b="0">
                <a:solidFill>
                  <a:srgbClr val="1F2A3A"/>
                </a:solidFill>
                <a:latin typeface="맑은 고딕"/>
                <a:ea typeface="맑은 고딕"/>
                <a:cs typeface="맑은 고딕"/>
              </a:rPr>
              <a:t>• 타이머의 가지가 그 뒤를 대신 정한다</a:t>
            </a:r>
          </a:p>
          <a:p>
            <a:pPr algn="l">
              <a:lnSpc>
                <a:spcPct val="110000"/>
              </a:lnSpc>
              <a:spcAft>
                <a:spcPts val="600"/>
              </a:spcAft>
            </a:pPr>
            <a:r>
              <a:rPr sz="145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지연 알림만 나간다</a:t>
            </a:r>
          </a:p>
          <a:p>
            <a:pPr algn="l">
              <a:lnSpc>
                <a:spcPct val="110000"/>
              </a:lnSpc>
              <a:spcAft>
                <a:spcPts val="600"/>
              </a:spcAft>
            </a:pPr>
            <a:r>
              <a:rPr sz="1450" b="0">
                <a:solidFill>
                  <a:srgbClr val="1F2A3A"/>
                </a:solidFill>
                <a:latin typeface="맑은 고딕"/>
                <a:ea typeface="맑은 고딕"/>
                <a:cs typeface="맑은 고딕"/>
              </a:rPr>
              <a:t>• 승인 작업은 열린 채로 기다린다</a:t>
            </a:r>
          </a:p>
          <a:p>
            <a:pPr algn="l">
              <a:lnSpc>
                <a:spcPct val="110000"/>
              </a:lnSpc>
              <a:spcAft>
                <a:spcPts val="600"/>
              </a:spcAft>
            </a:pPr>
            <a:r>
              <a:rPr sz="14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a:t>
            </a:r>
          </a:p>
          <a:p>
            <a:pPr algn="l">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c3_cooling.32aca7de-</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COMPLETED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a:t>
            </a:r>
          </a:p>
          <a:p>
            <a:pPr algn="l">
              <a:lnSpc>
                <a:spcPct val="110000"/>
              </a:lnSpc>
              <a:spcAft>
                <a:spcPts val="200"/>
              </a:spcAft>
            </a:pPr>
            <a:r>
              <a:rPr sz="1300" b="0">
                <a:solidFill>
                  <a:srgbClr val="E8EEF6"/>
                </a:solidFill>
                <a:latin typeface="Consolas"/>
                <a:ea typeface="맑은 고딕"/>
                <a:cs typeface="맑은 고딕"/>
              </a:rPr>
              <a:t>T_agent     DONE   </a:t>
            </a:r>
            <a:r>
              <a:rPr sz="1300" b="0">
                <a:solidFill>
                  <a:srgbClr val="E8EEF6"/>
                </a:solidFill>
                <a:latin typeface="맑은 고딕"/>
                <a:ea typeface="맑은 고딕"/>
                <a:cs typeface="맑은 고딕"/>
              </a:rPr>
              <a:t>에이전트</a:t>
            </a:r>
          </a:p>
          <a:p>
            <a:pPr algn="l">
              <a:lnSpc>
                <a:spcPct val="110000"/>
              </a:lnSpc>
              <a:spcAft>
                <a:spcPts val="200"/>
              </a:spcAft>
            </a:pPr>
            <a:r>
              <a:rPr sz="1300" b="0">
                <a:solidFill>
                  <a:srgbClr val="E8EEF6"/>
                </a:solidFill>
                <a:latin typeface="Consolas"/>
                <a:ea typeface="맑은 고딕"/>
                <a:cs typeface="맑은 고딕"/>
              </a:rPr>
              <a:t>T_approve   DONE   </a:t>
            </a:r>
            <a:r>
              <a:rPr sz="1300" b="0">
                <a:solidFill>
                  <a:srgbClr val="E8EEF6"/>
                </a:solidFill>
                <a:latin typeface="맑은 고딕"/>
                <a:ea typeface="맑은 고딕"/>
                <a:cs typeface="맑은 고딕"/>
              </a:rPr>
              <a:t>운전원</a:t>
            </a:r>
          </a:p>
          <a:p>
            <a:pPr algn="l">
              <a:lnSpc>
                <a:spcPct val="110000"/>
              </a:lnSpc>
              <a:spcAft>
                <a:spcPts val="200"/>
              </a:spcAft>
            </a:pPr>
            <a:r>
              <a:rPr sz="1300" b="0">
                <a:solidFill>
                  <a:srgbClr val="E8EEF6"/>
                </a:solidFill>
                <a:latin typeface="Consolas"/>
                <a:ea typeface="맑은 고딕"/>
                <a:cs typeface="맑은 고딕"/>
              </a:rPr>
              <a:t>T_cmd       DONE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T_reobs     DONE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T_wo        DONE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R_ok        DONE   </a:t>
            </a:r>
            <a:r>
              <a:rPr sz="1300" b="0">
                <a:solidFill>
                  <a:srgbClr val="E8EEF6"/>
                </a:solidFill>
                <a:latin typeface="맑은 고딕"/>
                <a:ea typeface="맑은 고딕"/>
                <a:cs typeface="맑은 고딕"/>
              </a:rPr>
              <a:t>시스템</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start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p>
          <a:p>
            <a:pPr algn="l">
              <a:lnSpc>
                <a:spcPct val="110000"/>
              </a:lnSpc>
              <a:spcAft>
                <a:spcPts val="200"/>
              </a:spcAft>
            </a:pPr>
            <a:r>
              <a:rPr sz="1300" b="0">
                <a:solidFill>
                  <a:srgbClr val="E8EEF6"/>
                </a:solidFill>
                <a:latin typeface="Consolas"/>
                <a:ea typeface="맑은 고딕"/>
                <a:cs typeface="맑은 고딕"/>
              </a:rPr>
              <a:t>end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끝 시각에서 시작 시각을</a:t>
            </a:r>
          </a:p>
          <a:p>
            <a:pPr algn="l">
              <a:lnSpc>
                <a:spcPct val="110000"/>
              </a:lnSpc>
              <a:spcAft>
                <a:spcPts val="400"/>
              </a:spcAft>
            </a:pPr>
            <a:r>
              <a:rPr sz="1400" b="0">
                <a:solidFill>
                  <a:srgbClr val="1F2A3A"/>
                </a:solidFill>
                <a:latin typeface="맑은 고딕"/>
                <a:ea typeface="맑은 고딕"/>
                <a:cs typeface="맑은 고딕"/>
              </a:rPr>
              <a:t>뺀 값이다.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오래 걸린 단계가 병목이며, 승인 단계는 승인자가 응답할 때까지 열려 있어 병목이 되기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병목.svg" descr="illust_118813228300141541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51269"/>
            <a:ext cx="327284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a:p>
            <a:pPr algn="ctr">
              <a:lnSpc>
                <a:spcPct val="110000"/>
              </a:lnSpc>
              <a:spcAft>
                <a:spcPts val="100"/>
              </a:spcAft>
            </a:pPr>
            <a:r>
              <a:rPr sz="1100" b="0">
                <a:solidFill>
                  <a:srgbClr val="556175"/>
                </a:solidFill>
                <a:latin typeface="맑은 고딕"/>
                <a:ea typeface="맑은 고딕"/>
                <a:cs typeface="맑은 고딕"/>
              </a:rPr>
              <a:t>승인자가 응답할 때까지 열려 있다</a:t>
            </a:r>
          </a:p>
        </p:txBody>
      </p:sp>
      <p:sp>
        <p:nvSpPr>
          <p:cNvPr id="20" name="TextBox 19"/>
          <p:cNvSpPr txBox="1"/>
          <p:nvPr/>
        </p:nvSpPr>
        <p:spPr>
          <a:xfrm>
            <a:off x="9477791" y="3778620"/>
            <a:ext cx="1963709"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병목</a:t>
            </a:r>
          </a:p>
          <a:p>
            <a:pPr algn="ctr">
              <a:lnSpc>
                <a:spcPct val="110000"/>
              </a:lnSpc>
              <a:spcAft>
                <a:spcPts val="100"/>
              </a:spcAft>
            </a:pPr>
            <a:r>
              <a:rPr sz="1100" b="0">
                <a:solidFill>
                  <a:srgbClr val="556175"/>
                </a:solidFill>
                <a:latin typeface="맑은 고딕"/>
                <a:ea typeface="맑은 고딕"/>
                <a:cs typeface="맑은 고딕"/>
              </a:rPr>
              <a:t>Bottleneck ·</a:t>
            </a:r>
          </a:p>
          <a:p>
            <a:pPr algn="ctr">
              <a:lnSpc>
                <a:spcPct val="110000"/>
              </a:lnSpc>
              <a:spcAft>
                <a:spcPts val="100"/>
              </a:spcAft>
            </a:pPr>
            <a:r>
              <a:rPr sz="1100" b="0">
                <a:solidFill>
                  <a:srgbClr val="556175"/>
                </a:solidFill>
                <a:latin typeface="맑은 고딕"/>
                <a:ea typeface="맑은 고딕"/>
                <a:cs typeface="맑은 고딕"/>
              </a:rPr>
              <a:t>가장 오래 걸린 단계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사이클 타임</a:t>
            </a:r>
          </a:p>
          <a:p>
            <a:pPr algn="l">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a:lnSpc>
                <a:spcPct val="110000"/>
              </a:lnSpc>
              <a:spcAft>
                <a:spcPts val="300"/>
              </a:spcAft>
            </a:pPr>
            <a:r>
              <a:rPr sz="1400" b="0">
                <a:solidFill>
                  <a:srgbClr val="1F2A3A"/>
                </a:solidFill>
                <a:latin typeface="맑은 고딕"/>
                <a:ea typeface="맑은 고딕"/>
                <a:cs typeface="맑은 고딕"/>
              </a:rPr>
              <a:t>처리 건의 시작 시각과 끝 시각에서 구한다.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대기 시간</a:t>
            </a:r>
          </a:p>
          <a:p>
            <a:pPr algn="l">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건수</a:t>
            </a:r>
          </a:p>
          <a:p>
            <a:pPr algn="l">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거절률</a:t>
            </a:r>
          </a:p>
          <a:p>
            <a:pPr algn="l">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a:lnSpc>
                <a:spcPct val="110000"/>
              </a:lnSpc>
              <a:spcAft>
                <a:spcPts val="300"/>
              </a:spcAft>
            </a:pPr>
            <a:r>
              <a:rPr sz="1400" b="0">
                <a:solidFill>
                  <a:srgbClr val="1F2A3A"/>
                </a:solidFill>
                <a:latin typeface="맑은 고딕"/>
                <a:ea typeface="맑은 고딕"/>
                <a:cs typeface="맑은 고딕"/>
              </a:rPr>
              <a:t>높으면 에이전트의 추천안이나 승인의 기준을 점검한다.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같은 것, 다른 것,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승인 블록이라는 같은 구조 위에서 네 가지 값만 달랐고, 상태와 기록은 한 가지 방법으로 읽혔다.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것</a:t>
            </a:r>
          </a:p>
          <a:p>
            <a:pPr algn="l">
              <a:lnSpc>
                <a:spcPct val="110000"/>
              </a:lnSpc>
              <a:spcAft>
                <a:spcPts val="400"/>
              </a:spcAft>
            </a:pPr>
            <a:r>
              <a:rPr sz="1400" b="0">
                <a:solidFill>
                  <a:srgbClr val="1F2A3A"/>
                </a:solidFill>
                <a:latin typeface="맑은 고딕"/>
                <a:ea typeface="맑은 고딕"/>
                <a:cs typeface="맑은 고딕"/>
              </a:rPr>
              <a:t>• 제안, 승인 또는 거절, 처리, 결과 보고의 순서</a:t>
            </a:r>
          </a:p>
          <a:p>
            <a:pPr algn="l">
              <a:lnSpc>
                <a:spcPct val="110000"/>
              </a:lnSpc>
              <a:spcAft>
                <a:spcPts val="400"/>
              </a:spcAft>
            </a:pPr>
            <a:r>
              <a:rPr sz="1400" b="0">
                <a:solidFill>
                  <a:srgbClr val="1F2A3A"/>
                </a:solidFill>
                <a:latin typeface="맑은 고딕"/>
                <a:ea typeface="맑은 고딕"/>
                <a:cs typeface="맑은 고딕"/>
              </a:rPr>
              <a:t>• 승인 블록의 일곱 요소</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다른 것</a:t>
            </a:r>
          </a:p>
          <a:p>
            <a:pPr algn="l">
              <a:lnSpc>
                <a:spcPct val="110000"/>
              </a:lnSpc>
              <a:spcAft>
                <a:spcPts val="400"/>
              </a:spcAft>
            </a:pPr>
            <a:r>
              <a:rPr sz="1400" b="0">
                <a:solidFill>
                  <a:srgbClr val="1F2A3A"/>
                </a:solidFill>
                <a:latin typeface="맑은 고딕"/>
                <a:ea typeface="맑은 고딕"/>
                <a:cs typeface="맑은 고딕"/>
              </a:rPr>
              <a:t>시작 조건, 에이전트, 승인자, 실행 시스템</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 처리 건의 상태, 끝 이벤트, 결과 보고로 결말을 읽는다</a:t>
            </a:r>
          </a:p>
          <a:p>
            <a:pPr algn="l">
              <a:lnSpc>
                <a:spcPct val="110000"/>
              </a:lnSpc>
              <a:spcAft>
                <a:spcPts val="400"/>
              </a:spcAft>
            </a:pPr>
            <a:r>
              <a:rPr sz="1400" b="0">
                <a:solidFill>
                  <a:srgbClr val="1F2A3A"/>
                </a:solidFill>
                <a:latin typeface="맑은 고딕"/>
                <a:ea typeface="맑은 고딕"/>
                <a:cs typeface="맑은 고딕"/>
              </a:rPr>
              <a:t>• 단계의 시각에서 병목과 지표를 얻는다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 뒤</a:t>
            </a:r>
          </a:p>
          <a:p>
            <a:pPr algn="ctr">
              <a:lnSpc>
                <a:spcPct val="110000"/>
              </a:lnSpc>
              <a:spcAft>
                <a:spcPts val="400"/>
              </a:spcAft>
            </a:pPr>
            <a:r>
              <a:rPr sz="1350" b="0">
                <a:solidFill>
                  <a:srgbClr val="1F2A3A"/>
                </a:solidFill>
                <a:latin typeface="맑은 고딕"/>
                <a:ea typeface="맑은 고딕"/>
                <a:cs typeface="맑은 고딕"/>
              </a:rPr>
              <a:t>정비 오더 등록,</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결과 보고와 종료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요소_복습.svg" descr="illust_379149316769789092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다섯자리.svg" descr="illust_535643833411966225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주고받는것.svg" descr="illust_784915169451611990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추천안의 정비 시점</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추천안의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B-OEM</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세종료.svg" descr="illust_244046278067953637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층연결.svg" descr="illust_623457295153009842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9~10일차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사이클 타임, 대기 시간,</a:t>
            </a:r>
          </a:p>
          <a:p>
            <a:pPr algn="ctr">
              <a:lnSpc>
                <a:spcPct val="110000"/>
              </a:lnSpc>
              <a:spcAft>
                <a:spcPts val="400"/>
              </a:spcAft>
            </a:pPr>
            <a:r>
              <a:rPr sz="13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ERP</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PM</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패턴</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재주문점</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모니터링</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결과를 읽는 일</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병목</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Bottleneck</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응답을 기다리는 승인 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사이클 타임</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Cycle Time</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건의 시작에서 끝까지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거절률</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 Rate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처리 건을 요약하는 지표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