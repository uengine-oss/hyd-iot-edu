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지난 시간의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정합니다. 사람이 결정하지 않았는데 흐름이 넘어가는 것입니다. 비중단형으로 그리면 알림만 나가고 승인 작업은 계속 기다립니다. 설비를 세우거나 돈을 쓰는 결정은 사람에게 남겨 두어야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보고의 결과가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시각을 막대로 그리면 어디서 시간이 걸렸는지가 보입니다. 승인된 세 처리 건의 실제 기록입니다. 흐름 전체를 늦추는 단계를 병목, Bottleneck이라고 합니다. 긴급 대응 146초 가운데 에이전트의 판단이 82.3초, 유온의 회복을 기다리는 재관측이 60.2초였고, 정기 점검과 재고 보충에서도 에이전트의 단계가 가장 길었습니다. 세 건에서는 승인이 곧바로 이루어져 승인 단계가 짧았지만, 승인자의 응답이 늦어지면 이 단계가 병목이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사정을 말해 줄 뿐입니다. 프로세스를 고칠지 판단하려면 여러 건을 모아 수로 요약해야 하고, 그 수가 지표입니다. 사이클 타임은 시작에서 끝까지 걸린 시간이고, 대기 시간은 작업이 열린 채로 기다린 시간입니다. 처리 건수는 정해진 기간에 끝난 건의 수이며, 반려율은 그 가운데 거절로 닫힌 비율입니다. 지난 시간에 본 BPM의 모니터링과 개선 단계가 이 지표를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세 프로세스는 제안에서 결과 보고까지의 순서와 승인 블록이 같았습니다. 달랐던 것은 시작 조건, 에이전트, 승인자, 실행 시스템의 네 가지 값입니다. 구조가 같았기 때문에 승인 대기와 종결을 읽는 법도, 단계의 시각에서 병목과 지표를 얻는 법도 세 업무에 똑같이 쓸 수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지난 시간에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sup:b에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4일차까지 만든 온톨로지는 원인과 증거와 조치와 규칙이라는 지식을 정하고, 현재 값이 어디에 있는지를 알려 줍니다. 5일차부터 8일차까지 다룬 에이전트는 그 지식과 값을 읽어 추천과 대안을 제안합니다. 지난 시간과 오늘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3일차에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실행하면 기록이 남고, 기록을 모으면 지표가 됩니다. 지표에서 승인 대기가 길거나 반려가 많은 자리가 보이면 정의를 고칩니다. 고친 정의는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여덟과 함께 승인 블록, 가용 재고, 대기 시간이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2번은 결말을 알려 주는 기록을 시간의 근거로 삼은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9.png"/><Relationship Id="rId7"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3.png"/><Relationship Id="rId4"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 Id="rId4" Type="http://schemas.openxmlformats.org/officeDocument/2006/relationships/image" Target="../media/image41.png"/><Relationship Id="rId5" Type="http://schemas.openxmlformats.org/officeDocument/2006/relationships/image" Target="../media/image7.png"/><Relationship Id="rId6"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10일차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 읽기</a:t>
            </a:r>
          </a:p>
          <a:p>
            <a:pPr algn="l">
              <a:lnSpc>
                <a:spcPct val="110000"/>
              </a:lnSpc>
              <a:spcAft>
                <a:spcPts val="400"/>
              </a:spcAft>
            </a:pPr>
            <a:r>
              <a:rPr sz="1350" b="0">
                <a:solidFill>
                  <a:srgbClr val="1F2A3A"/>
                </a:solidFill>
                <a:latin typeface="맑은 고딕"/>
                <a:ea typeface="맑은 고딕"/>
                <a:cs typeface="맑은 고딕"/>
              </a:rPr>
              <a:t>단계마다 남은 시각에서 병목을 찾고 지표로 요약한다</a:t>
            </a:r>
          </a:p>
        </p:txBody>
      </p:sp>
      <p:sp>
        <p:nvSpPr>
          <p:cNvPr id="22" name="Rounded Rectangle 21"/>
          <p:cNvSpPr/>
          <p:nvPr/>
        </p:nvSpPr>
        <p:spPr>
          <a:xfrm>
            <a:off x="6461607" y="5134356"/>
            <a:ext cx="9753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모니터링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557314469531638618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441385795656419933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199075019616084819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395351224598443888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428683874769236691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23366549578263965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477427150601435284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작업이 끊긴다</a:t>
            </a:r>
          </a:p>
          <a:p>
            <a:pPr algn="l">
              <a:lnSpc>
                <a:spcPct val="110000"/>
              </a:lnSpc>
              <a:spcAft>
                <a:spcPts val="600"/>
              </a:spcAft>
            </a:pPr>
            <a:r>
              <a:rPr sz="1450" b="0">
                <a:solidFill>
                  <a:srgbClr val="1F2A3A"/>
                </a:solidFill>
                <a:latin typeface="맑은 고딕"/>
                <a:ea typeface="맑은 고딕"/>
                <a:cs typeface="맑은 고딕"/>
              </a:rPr>
              <a:t>• 타이머의 가지가 그 뒤를 대신 정한다</a:t>
            </a:r>
          </a:p>
          <a:p>
            <a:pPr algn="l">
              <a:lnSpc>
                <a:spcPct val="110000"/>
              </a:lnSpc>
              <a:spcAft>
                <a:spcPts val="600"/>
              </a:spcAft>
            </a:pPr>
            <a:r>
              <a:rPr sz="145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지연 알림만 나간다</a:t>
            </a:r>
          </a:p>
          <a:p>
            <a:pPr algn="l">
              <a:lnSpc>
                <a:spcPct val="110000"/>
              </a:lnSpc>
              <a:spcAft>
                <a:spcPts val="600"/>
              </a:spcAft>
            </a:pPr>
            <a:r>
              <a:rPr sz="1450" b="0">
                <a:solidFill>
                  <a:srgbClr val="1F2A3A"/>
                </a:solidFill>
                <a:latin typeface="맑은 고딕"/>
                <a:ea typeface="맑은 고딕"/>
                <a:cs typeface="맑은 고딕"/>
              </a:rPr>
              <a:t>• 승인 작업은 열린 채로 기다린다</a:t>
            </a:r>
          </a:p>
          <a:p>
            <a:pPr algn="l">
              <a:lnSpc>
                <a:spcPct val="110000"/>
              </a:lnSpc>
              <a:spcAft>
                <a:spcPts val="600"/>
              </a:spcAft>
            </a:pPr>
            <a:r>
              <a:rPr sz="14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병목은 흐름 전체를 늦추는 단계이며, 승인된 세 처리 건에서는 에이전트의 판단 단계가 가장 오래 걸렸다.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병목.svg" descr="illust_159637281471661022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2644033"/>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146초</a:t>
            </a:r>
          </a:p>
        </p:txBody>
      </p:sp>
      <p:sp>
        <p:nvSpPr>
          <p:cNvPr id="8" name="TextBox 7"/>
          <p:cNvSpPr txBox="1"/>
          <p:nvPr/>
        </p:nvSpPr>
        <p:spPr>
          <a:xfrm>
            <a:off x="761104" y="382589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60초</a:t>
            </a:r>
          </a:p>
        </p:txBody>
      </p:sp>
      <p:sp>
        <p:nvSpPr>
          <p:cNvPr id="9" name="TextBox 8"/>
          <p:cNvSpPr txBox="1"/>
          <p:nvPr/>
        </p:nvSpPr>
        <p:spPr>
          <a:xfrm>
            <a:off x="761104" y="5007757"/>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58초</a:t>
            </a:r>
          </a:p>
        </p:txBody>
      </p:sp>
      <p:sp>
        <p:nvSpPr>
          <p:cNvPr id="10" name="TextBox 9"/>
          <p:cNvSpPr txBox="1"/>
          <p:nvPr/>
        </p:nvSpPr>
        <p:spPr>
          <a:xfrm>
            <a:off x="3695758" y="2771674"/>
            <a:ext cx="240008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82.3초</a:t>
            </a:r>
          </a:p>
        </p:txBody>
      </p:sp>
      <p:sp>
        <p:nvSpPr>
          <p:cNvPr id="11" name="TextBox 10"/>
          <p:cNvSpPr txBox="1"/>
          <p:nvPr/>
        </p:nvSpPr>
        <p:spPr>
          <a:xfrm>
            <a:off x="7852276" y="277167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 60.2초</a:t>
            </a:r>
          </a:p>
        </p:txBody>
      </p:sp>
      <p:sp>
        <p:nvSpPr>
          <p:cNvPr id="12" name="TextBox 11"/>
          <p:cNvSpPr txBox="1"/>
          <p:nvPr/>
        </p:nvSpPr>
        <p:spPr>
          <a:xfrm>
            <a:off x="3041189" y="395353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55.3초</a:t>
            </a:r>
          </a:p>
        </p:txBody>
      </p:sp>
      <p:sp>
        <p:nvSpPr>
          <p:cNvPr id="13" name="TextBox 12"/>
          <p:cNvSpPr txBox="1"/>
          <p:nvPr/>
        </p:nvSpPr>
        <p:spPr>
          <a:xfrm>
            <a:off x="2997551" y="513539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54.4초</a:t>
            </a:r>
          </a:p>
        </p:txBody>
      </p:sp>
      <p:sp>
        <p:nvSpPr>
          <p:cNvPr id="14" name="TextBox 13"/>
          <p:cNvSpPr txBox="1"/>
          <p:nvPr/>
        </p:nvSpPr>
        <p:spPr>
          <a:xfrm>
            <a:off x="5910386" y="205310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1.3초 · 명령 1.1초</a:t>
            </a:r>
          </a:p>
        </p:txBody>
      </p:sp>
      <p:sp>
        <p:nvSpPr>
          <p:cNvPr id="15" name="TextBox 14"/>
          <p:cNvSpPr txBox="1"/>
          <p:nvPr/>
        </p:nvSpPr>
        <p:spPr>
          <a:xfrm>
            <a:off x="6041300" y="3953536"/>
            <a:ext cx="414560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3.7초 · 정비 오더와 공지 1.0초 · 보고 0.4초</a:t>
            </a:r>
          </a:p>
        </p:txBody>
      </p:sp>
      <p:sp>
        <p:nvSpPr>
          <p:cNvPr id="16" name="TextBox 15"/>
          <p:cNvSpPr txBox="1"/>
          <p:nvPr/>
        </p:nvSpPr>
        <p:spPr>
          <a:xfrm>
            <a:off x="5932205" y="5135398"/>
            <a:ext cx="436379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1.7초 · 발주 0.3초 · 입고 0.9초 · 보고 0.4초</a:t>
            </a:r>
          </a:p>
        </p:txBody>
      </p:sp>
      <p:sp>
        <p:nvSpPr>
          <p:cNvPr id="17" name="TextBox 16"/>
          <p:cNvSpPr txBox="1"/>
          <p:nvPr/>
        </p:nvSpPr>
        <p:spPr>
          <a:xfrm>
            <a:off x="2146610" y="5929609"/>
            <a:ext cx="43637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0</a:t>
            </a:r>
          </a:p>
        </p:txBody>
      </p:sp>
      <p:sp>
        <p:nvSpPr>
          <p:cNvPr id="18" name="TextBox 17"/>
          <p:cNvSpPr txBox="1"/>
          <p:nvPr/>
        </p:nvSpPr>
        <p:spPr>
          <a:xfrm>
            <a:off x="5419458" y="5929609"/>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60초</a:t>
            </a:r>
          </a:p>
        </p:txBody>
      </p:sp>
      <p:sp>
        <p:nvSpPr>
          <p:cNvPr id="19" name="TextBox 18"/>
          <p:cNvSpPr txBox="1"/>
          <p:nvPr/>
        </p:nvSpPr>
        <p:spPr>
          <a:xfrm>
            <a:off x="8801402" y="5929609"/>
            <a:ext cx="65456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120초</a:t>
            </a:r>
          </a:p>
        </p:txBody>
      </p:sp>
      <p:sp>
        <p:nvSpPr>
          <p:cNvPr id="20" name="TextBox 19"/>
          <p:cNvSpPr txBox="1"/>
          <p:nvPr/>
        </p:nvSpPr>
        <p:spPr>
          <a:xfrm>
            <a:off x="6095847" y="3305876"/>
            <a:ext cx="480017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병목</a:t>
            </a:r>
          </a:p>
          <a:p>
            <a:pPr algn="ctr">
              <a:lnSpc>
                <a:spcPct val="110000"/>
              </a:lnSpc>
              <a:spcAft>
                <a:spcPts val="100"/>
              </a:spcAft>
            </a:pPr>
            <a:r>
              <a:rPr sz="1100" b="0">
                <a:solidFill>
                  <a:srgbClr val="556175"/>
                </a:solidFill>
                <a:latin typeface="맑은 고딕"/>
                <a:ea typeface="맑은 고딕"/>
                <a:cs typeface="맑은 고딕"/>
              </a:rPr>
              <a:t>Bottleneck · 가장 긴 단계가 전체 시간을 좌우한다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사이클 타임</a:t>
            </a:r>
          </a:p>
          <a:p>
            <a:pPr algn="l">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a:lnSpc>
                <a:spcPct val="110000"/>
              </a:lnSpc>
              <a:spcAft>
                <a:spcPts val="300"/>
              </a:spcAft>
            </a:pPr>
            <a:r>
              <a:rPr sz="1400" b="0">
                <a:solidFill>
                  <a:srgbClr val="1F2A3A"/>
                </a:solidFill>
                <a:latin typeface="맑은 고딕"/>
                <a:ea typeface="맑은 고딕"/>
                <a:cs typeface="맑은 고딕"/>
              </a:rPr>
              <a:t>승인된 세 처리 건은 146초, 60초, 58초였다.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대기 시간</a:t>
            </a:r>
          </a:p>
          <a:p>
            <a:pPr algn="l">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건수</a:t>
            </a:r>
          </a:p>
          <a:p>
            <a:pPr algn="l">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반려율</a:t>
            </a:r>
          </a:p>
          <a:p>
            <a:pPr algn="l">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a:lnSpc>
                <a:spcPct val="110000"/>
              </a:lnSpc>
              <a:spcAft>
                <a:spcPts val="300"/>
              </a:spcAft>
            </a:pPr>
            <a:r>
              <a:rPr sz="1400" b="0">
                <a:solidFill>
                  <a:srgbClr val="1F2A3A"/>
                </a:solidFill>
                <a:latin typeface="맑은 고딕"/>
                <a:ea typeface="맑은 고딕"/>
                <a:cs typeface="맑은 고딕"/>
              </a:rPr>
              <a:t>높으면 에이전트의 제안이나 승인의 기준을 점검한다.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같은 것, 다른 것,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승인 블록이라는 같은 구조 위에서 네 가지 값만 달랐고, 상태와 기록은 한 가지 방법으로 읽혔다.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것</a:t>
            </a:r>
          </a:p>
          <a:p>
            <a:pPr algn="l">
              <a:lnSpc>
                <a:spcPct val="110000"/>
              </a:lnSpc>
              <a:spcAft>
                <a:spcPts val="400"/>
              </a:spcAft>
            </a:pPr>
            <a:r>
              <a:rPr sz="1400" b="0">
                <a:solidFill>
                  <a:srgbClr val="1F2A3A"/>
                </a:solidFill>
                <a:latin typeface="맑은 고딕"/>
                <a:ea typeface="맑은 고딕"/>
                <a:cs typeface="맑은 고딕"/>
              </a:rPr>
              <a:t>• 제안, 승인 또는 거절, 처리, 결과 보고의 순서</a:t>
            </a:r>
          </a:p>
          <a:p>
            <a:pPr algn="l">
              <a:lnSpc>
                <a:spcPct val="110000"/>
              </a:lnSpc>
              <a:spcAft>
                <a:spcPts val="400"/>
              </a:spcAft>
            </a:pPr>
            <a:r>
              <a:rPr sz="1400" b="0">
                <a:solidFill>
                  <a:srgbClr val="1F2A3A"/>
                </a:solidFill>
                <a:latin typeface="맑은 고딕"/>
                <a:ea typeface="맑은 고딕"/>
                <a:cs typeface="맑은 고딕"/>
              </a:rPr>
              <a:t>• 승인 블록의 일곱 요소</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다른 것</a:t>
            </a:r>
          </a:p>
          <a:p>
            <a:pPr algn="l">
              <a:lnSpc>
                <a:spcPct val="110000"/>
              </a:lnSpc>
              <a:spcAft>
                <a:spcPts val="400"/>
              </a:spcAft>
            </a:pPr>
            <a:r>
              <a:rPr sz="1400" b="0">
                <a:solidFill>
                  <a:srgbClr val="1F2A3A"/>
                </a:solidFill>
                <a:latin typeface="맑은 고딕"/>
                <a:ea typeface="맑은 고딕"/>
                <a:cs typeface="맑은 고딕"/>
              </a:rPr>
              <a:t>시작 조건, 에이전트, 승인자, 실행 시스템</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 처리 건의 상태, 끝 이벤트, 결과 보고로 결말을 읽는다</a:t>
            </a:r>
          </a:p>
          <a:p>
            <a:pPr algn="l">
              <a:lnSpc>
                <a:spcPct val="110000"/>
              </a:lnSpc>
              <a:spcAft>
                <a:spcPts val="400"/>
              </a:spcAft>
            </a:pPr>
            <a:r>
              <a:rPr sz="1400" b="0">
                <a:solidFill>
                  <a:srgbClr val="1F2A3A"/>
                </a:solidFill>
                <a:latin typeface="맑은 고딕"/>
                <a:ea typeface="맑은 고딕"/>
                <a:cs typeface="맑은 고딕"/>
              </a:rPr>
              <a:t>• 단계의 시각에서 병목과 지표를 얻는다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뒤</a:t>
            </a:r>
          </a:p>
          <a:p>
            <a:pPr algn="ctr">
              <a:lnSpc>
                <a:spcPct val="110000"/>
              </a:lnSpc>
              <a:spcAft>
                <a:spcPts val="400"/>
              </a:spcAft>
            </a:pPr>
            <a:r>
              <a:rPr sz="1350" b="0">
                <a:solidFill>
                  <a:srgbClr val="1F2A3A"/>
                </a:solidFill>
                <a:latin typeface="맑은 고딕"/>
                <a:ea typeface="맑은 고딕"/>
                <a:cs typeface="맑은 고딕"/>
              </a:rPr>
              <a:t>정비 오더 등록,</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결과 보고와 종료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요소_복습.svg" descr="illust_630892029971893503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다섯자리.svg" descr="illust_59823241697262423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주고받는것.svg" descr="illust_237192577386574661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정비 시점의 제안</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제안한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sup:b</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세종료.svg" descr="illust_94266585772919066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세층연결.svg" descr="illust_546249361906100782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9~10일차</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사이클 타임, 대기 시간,</a:t>
            </a:r>
          </a:p>
          <a:p>
            <a:pPr algn="ctr">
              <a:lnSpc>
                <a:spcPct val="110000"/>
              </a:lnSpc>
              <a:spcAft>
                <a:spcPts val="400"/>
              </a:spcAft>
            </a:pPr>
            <a:r>
              <a:rPr sz="1350" b="0">
                <a:solidFill>
                  <a:srgbClr val="1F2A3A"/>
                </a:solidFill>
                <a:latin typeface="맑은 고딕"/>
                <a:ea typeface="맑은 고딕"/>
                <a:cs typeface="맑은 고딕"/>
              </a:rPr>
              <a:t>반려율로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ERP</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PM</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패턴</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재주문점</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모니터링</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결과를 읽는 일</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병목</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Bottleneck</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 재관측</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사이클 타임</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Cycle Time</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146초, 60초, 58초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반려율</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 Rate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처리 건을 요약하는 지표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