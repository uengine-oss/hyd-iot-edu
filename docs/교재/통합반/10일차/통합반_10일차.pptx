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긴급 대응 프로세스 하나를 정의하고 그려서 실행했습니다. 오늘은 그 설계를 정비와 구매 업무에 다시 쓰는 방법을 다루고, 프로세스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업무의 프로세스를 처음부터 따로 그릴 수도 있습니다. 그러면 거절했을 때와 응답이 없을 때를 다루는 방식이 프로세스마다 달라지기 쉽습니다. 운영하는 사람은 처리 건을 읽는 기준을 프로세스마다 새로 익혀야 합니다. 승인 기한 같은 것을 바꿀 때도 그림마다 다른 자리를 찾아 고쳐야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추천 하나와 대안과 그 이유를 묶어 내는 추천안의 내용도 냉각 조치, 정비할 시점, 발주안으로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지난 시간의 쿨러 성능 저하 경보이고, 가운데는 정기 점검 도래, 아래는 재고 부족의 경보입니다. 출처는 센서와 CMMS와 ERP로 다르지만 식별자와 패턴을 가진 같은 형식입니다. 그래서 세 프로세스 모두 메시지 시작 이벤트 하나로 시작할 수 있고, pattern의 값이 어느 프로세스를 열지를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시스템을 자세히 보겠습니다. 긴급 대응에서는 승인된 냉각 조치를 SCADA가 PLC 명령으로 보내고 CMMS가 작업지시를 등록했습니다. 정기 점검에서는 승인된 정비 계획대로 CMMS가 정비 오더를 등록하고 생산팀에 공지 메일이 나갑니다. 재고 보충에서는 승인된 발주안대로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승인자가 응답하지 않는 경우도 설계의 결정입니다. 타이머를 중단형으로 그리면 기한이 지났을 때 승인 작업이 끊기고 타이머의 가지가 뒤를 정합니다. 사람이 결정하지 않았는데 흐름이 넘어가는 것입니다. 비중단형으로 그리면 알림만 나가고 승인 작업은 계속 기다립니다. 설비를 세우거나 돈을 쓰는 결정은 사람에게 남겨 두어야 하므로 세 프로세스는 기한이 10분인 비중단형을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맡길지도 같은 원리를 따릅니다.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셋이 되면 정의와 인스턴스와 배포가 어떻게 되는지 보겠습니다. 프로세스 정의가 셋이고, 셋 다 배포되어 있습니다. 경보가 도착하면 그 패턴을 시작 조건으로 가진 정의에서 인스턴스가 열립니다. PM_DUE 경보는 정기 점검 프로세스의 처리 건을, SPARE_BELOW_MIN 경보는 재고 보충 프로세스의 처리 건을 엽니다. 처리 건의 식별자 앞부분이 그 처리 건이 나온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구조가 같으면 읽는 법도 같아집니다. 어느 프로세스에서든 승인을 기다리는 처리 건은 RUNNING이고 승인 작업이 열려 있습니다. 승인 지연 알림이 나간 뒤에도 마찬가지입니다. 거절하면 COMPLETED이면서 끝 이벤트가 E_rejected이고 결과 보고는 거절이며, 기록에 남는 결과 값은 거절을 뜻하는 반려입니다. 승인되어 끝나면 E_end에 닿고, 결과 보고의 결과는 긴급 대응과 정기 점검에서는 정상, 재고 보충에서는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실행하면 기록이 쌓입니다. 승인된 긴급 대응 처리 건의 단계별 시각입니다. 에이전트의 단계는 15시 22분 46초에 시작해 24분 8초에 끝났고, 곧바로 운전원 승인 단계가 열렸습니다. 이런 기록으로 업무가 어디까지 진행되었고 어디서 기다리고 있는지를 지켜보는 일을 모니터링이라고 합니다. 끝 시각에서 시작 시각을 빼면 그 단계에 걸린 시간이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단계별 시각을 막대로 그리면 어디서 시간이 걸렸는지가 보입니다. 승인된 세 처리 건의 실제 기록입니다. 흐름 전체를 늦추는 단계를 병목, Bottleneck이라고 합니다. 긴급 대응 146초 가운데 에이전트의 판단이 82.3초, 유온의 회복을 기다리는 재관측이 60.2초였고, 정기 점검과 재고 보충에서도 에이전트의 단계가 가장 길었습니다. 세 건에서는 승인이 곧바로 이루어져 승인 단계가 짧았지만, 승인자의 응답이 늦어지면 이 단계가 병목이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한 건의 기록은 그 건의 사정을 말해 줄 뿐입니다. 프로세스를 고칠지 판단하려면 여러 건을 모아 수로 요약해야 하고, 그 수가 지표입니다. 사이클 타임은 시작에서 끝까지 걸린 시간이고, 대기 시간은 작업이 열린 채로 기다린 시간입니다. 처리 건수는 정해진 기간에 끝난 건의 수이며, 거절률은 그 가운데 거절로 닫힌 비율입니다. 지난 시간에 본 BPM의 모니터링과 개선 단계가 이 지표를 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세 프로세스는 제안에서 결과 보고까지의 순서와 승인 블록이 같았습니다. 달랐던 것은 시작 조건, 에이전트, 승인자, 실행 시스템의 네 가지 값입니다. 구조가 같았기 때문에 승인 대기와 종결을 읽는 법도, 단계의 시각에서 병목과 지표를 얻는 법도 세 업무에 똑같이 쓸 수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 작업으로 잇습니다. 승인을 받는 자리는 지난 시간에 그린 것과 같은 모양으로 놓고 승인 역할만 설비보전팀장으로 합니다. 승인 뒤에는 정비 오더 등록과 공지 메일을 한 작업으로, 그 뒤에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추천안이 승인을 기다립니다. 승인한 뒤 정비 오더와 생산팀 공지와 종료 기록이 남았는지를 처리 건에서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메일을 한 작업으로 그리고, 입고와 재고 반영, 결과 보고를 잇습니다.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세 업무의 처리 건을 처음부터 끝까지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선처럼 시스템의 처리를 지나지 않고 종료 기록으로 가며, 세 업무 모두에서 거절된 추천안은 설비 명령도 정비 오더도 발주도 만들지 않고 닫혔습니다. 세 업무의 처리 건을 이 다섯 자리로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추천안으로 내고, 사람은 그 가운데 승인한 내용을 냅니다. 시스템은 승인된 내용만 받아 실행하고 그 결과를 결과 보고에 넘깁니다. 앞 자리가 낸 것이 없으면 다음 자리는 일할 수 없고, 이렇게 건너가는 값이 지난 시간에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건입니다. HYD-02의 운전시간이 1,950시간에 이르러 도래 경보가 처리 건을 열었습니다. 정기 정비 계획 에이전트는 야간 정비 시간에 정비하자고 제안했고, 설비보전팀장이 승인했습니다. 승인 뒤 CMMS에 정비 오더가 등록되고 생산팀에 공지 메일이 나갔습니다. 설비 명령은 없지만 다섯 자리는 긴급 대응과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건에서 정기 정비 계획 에이전트가 낸 추천안의 속입니다. 후보는 넷이었고, 이번 예정된 정비 시간에 한 대만 정비하는 안이 추천이며 이것이 앞 장의 야간 정비 시간입니다. 지금 바로 세우는 안은 납기가 스무 시간 남은 생산 오더 때문에 감점되어 대안으로 남았습니다. 미루는 안과 두 대를 묶는 안은 판단 규칙이 제외했습니다. 설비보전팀장은 추천만이 아니라 지는 대안과 제외된 까닭까지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건입니다. 씰 키트의 가용 재고가 1개로 재주문점보다 적어 경보가 처리 건을 열었습니다. 예비품 구매 에이전트는 6개를 공급사 B-OEM에 330만원으로 발주하자고 제안했고, 구매 담당이 승인했습니다. ERP에 발주가 등록되고 공급사에 통지된 뒤 입고가 확인되어 가용 재고가 7개가 되었습니다. 결과 보고의 결과는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건에서 예비품 구매 에이전트가 낸 추천안입니다. 후보는 공급사 셋에 대한 발주안이었습니다. 가장 싼 C트레이딩은 승인 공급사가 아니어서 판단 규칙이 제외했고, A정밀은 값이 싸고 납기가 빠르지만 불량률이 10 %를 넘어 전수 검사 비용을 더해 견주었습니다. 추천은 금액이 가장 큰 순정 공급사 B-OEM이었고, 구매 담당은 이 비교를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추천안이 어느 판단 id의 것이었는지, 그 판단이 어느 경보에서 시작되었는지를 차례로 찾을 수 있습니다. 끝난 업무의 종료 기록이 뜻하는 것은 이렇게 추천안과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1일차부터 4일차까지 만든 온톨로지는 원인과 증거와 조치와 규칙이라는 지식을 정하고, 현재 값이 어디에 있는지를 알려 줍니다. 5일차부터 8일차까지 다룬 에이전트는 그 지식과 값을 읽어 추천과 대안을 제안합니다. 지난 시간과 오늘 다룬 프로세스는 그 추천안을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3일차에 조치 방법으로 적어 둔 SOP-COOL-11 팬 최대 운전이 출발점입니다. 9일차에 프로세스가 처리한 경보 한 건에서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추천안의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추천안을 승인하거나 거절하는 일, 그리고 기록과 지표를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설계하고 끝나는 것이 아닙니다. 세 업무의 처리 건은 단계마다 시각을 남겼고, 그 기록에서 에이전트의 단계가 가장 길었다는 것과 승인자의 응답이 늦어지면 승인 단계가 병목이 된다는 것을 읽었습니다. 여러 건을 모은 지표에서 승인 대기가 길거나 거절이 많은 자리가 보이면 정의를 고치고, 새 판본으로 배포해 다음 경보부터 적용합니다. 지난 시간에 본 BPM의 분석, 설계, 실행, 모니터링, 개선이 이렇게 한 바퀴를 돕니다.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영역의 용어를 한 그림으로 잇습니다. 경보가 도착하면 배포된 프로세스 정의에서 처리 건, 곧 프로세스 인스턴스가 만들어집니다. 처리 건은 정의의 순서대로 단계를 차례로 엽니다. 단계는 출력을 프로세스 변수로 남기고, 마지막에는 결과 보고가 결말을 적습니다. 오늘 본 세 업무는 이 그림의 아래 왼쪽, 프로세스 정의만 서로 달랐습니다.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다음 시간에는 여러분 각자의 주제를 놓고 이 물음에 답해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여덟과 함께 승인 블록, 가용 재고, 대기 시간이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기록이 무엇의 근거가 되는지를 구분하는 문항입니다. 처리 건의 상태와 끝 이벤트가 알려 주는 것과, 단계의 시각이 알려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1번과 2번은 결말을 알려 주는 기록을 시간의 근거로 삼은 것입니다. 셋째 문항의 4번은 사람이 결정하지 않은 채 효과가 나가게 하는 설계입니다.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1.png"/><Relationship Id="rId4" Type="http://schemas.openxmlformats.org/officeDocument/2006/relationships/image" Target="../media/image30.png"/><Relationship Id="rId5" Type="http://schemas.openxmlformats.org/officeDocument/2006/relationships/image" Target="../media/image28.png"/><Relationship Id="rId6"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1.png"/><Relationship Id="rId4" Type="http://schemas.openxmlformats.org/officeDocument/2006/relationships/image" Target="../media/image30.png"/><Relationship Id="rId5" Type="http://schemas.openxmlformats.org/officeDocument/2006/relationships/image" Target="../media/image28.png"/><Relationship Id="rId6" Type="http://schemas.openxmlformats.org/officeDocument/2006/relationships/image" Target="../media/image31.png"/><Relationship Id="rId7"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3.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1.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7.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38.png"/><Relationship Id="rId7" Type="http://schemas.openxmlformats.org/officeDocument/2006/relationships/image" Target="../media/image3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7.png"/><Relationship Id="rId4" Type="http://schemas.openxmlformats.org/officeDocument/2006/relationships/image" Target="../media/image23.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3.png"/><Relationship Id="rId4"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8.png"/><Relationship Id="rId4" Type="http://schemas.openxmlformats.org/officeDocument/2006/relationships/image" Target="../media/image40.png"/><Relationship Id="rId5" Type="http://schemas.openxmlformats.org/officeDocument/2006/relationships/image" Target="../media/image7.png"/><Relationship Id="rId6"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10일차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대응에서 정비와 구매까지</a:t>
            </a:r>
          </a:p>
          <a:p>
            <a:pPr algn="l">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세 업무의 전체 흐름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정기 점검과 재고 보충에 다시 쓰고, 세 업무의 전체 흐름을 기록으로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업무마다 달라지는 자리만 정해 새 프로세스를 설계한다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기록 읽기</a:t>
            </a:r>
          </a:p>
          <a:p>
            <a:pPr algn="l">
              <a:lnSpc>
                <a:spcPct val="110000"/>
              </a:lnSpc>
              <a:spcAft>
                <a:spcPts val="400"/>
              </a:spcAft>
            </a:pPr>
            <a:r>
              <a:rPr sz="1350" b="0">
                <a:solidFill>
                  <a:srgbClr val="1F2A3A"/>
                </a:solidFill>
                <a:latin typeface="맑은 고딕"/>
                <a:ea typeface="맑은 고딕"/>
                <a:cs typeface="맑은 고딕"/>
              </a:rPr>
              <a:t>단계마다 남은 시각에서 병목을 찾고 지표로 요약한다</a:t>
            </a:r>
          </a:p>
        </p:txBody>
      </p:sp>
      <p:sp>
        <p:nvSpPr>
          <p:cNvPr id="22" name="Rounded Rectangle 21"/>
          <p:cNvSpPr/>
          <p:nvPr/>
        </p:nvSpPr>
        <p:spPr>
          <a:xfrm>
            <a:off x="6461607" y="5134356"/>
            <a:ext cx="9753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모니터링</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376513244071097565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업무마다 프로세스를 처음부터 따로 설계하면 승인을 다루는 방식과 기록을 읽는 법이 업무의 수만큼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제각각이 된다</a:t>
            </a:r>
          </a:p>
          <a:p>
            <a:pPr algn="l">
              <a:lnSpc>
                <a:spcPct val="110000"/>
              </a:lnSpc>
              <a:spcAft>
                <a:spcPts val="400"/>
              </a:spcAft>
            </a:pPr>
            <a:r>
              <a:rPr sz="1400" b="0">
                <a:solidFill>
                  <a:srgbClr val="1F2A3A"/>
                </a:solidFill>
                <a:latin typeface="맑은 고딕"/>
                <a:ea typeface="맑은 고딕"/>
                <a:cs typeface="맑은 고딕"/>
              </a:rPr>
              <a:t>• 거절과 무응답을 다루는 방식이 프로세스마다 달라진다</a:t>
            </a:r>
          </a:p>
          <a:p>
            <a:pPr algn="l">
              <a:lnSpc>
                <a:spcPct val="110000"/>
              </a:lnSpc>
              <a:spcAft>
                <a:spcPts val="400"/>
              </a:spcAft>
            </a:pPr>
            <a:r>
              <a:rPr sz="1400" b="0">
                <a:solidFill>
                  <a:srgbClr val="1F2A3A"/>
                </a:solidFill>
                <a:latin typeface="맑은 고딕"/>
                <a:ea typeface="맑은 고딕"/>
                <a:cs typeface="맑은 고딕"/>
              </a:rPr>
              <a:t>• 한 곳에서 확인한 거절 경로가 다른 곳에서는 빠진다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법이 늘어난다</a:t>
            </a:r>
          </a:p>
          <a:p>
            <a:pPr algn="l">
              <a:lnSpc>
                <a:spcPct val="110000"/>
              </a:lnSpc>
              <a:spcAft>
                <a:spcPts val="400"/>
              </a:spcAft>
            </a:pPr>
            <a:r>
              <a:rPr sz="14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고칠 곳이 흩어진다</a:t>
            </a:r>
          </a:p>
          <a:p>
            <a:pPr algn="l">
              <a:lnSpc>
                <a:spcPct val="110000"/>
              </a:lnSpc>
              <a:spcAft>
                <a:spcPts val="400"/>
              </a:spcAft>
            </a:pPr>
            <a:r>
              <a:rPr sz="14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운전시간.svg" descr="illust_553735060497412446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재고.svg" descr="illust_36052588136202915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CMMS-PM_DUE-HYD-02-20261010150830</a:t>
            </a:r>
          </a:p>
          <a:p>
            <a:pPr algn="l">
              <a:lnSpc>
                <a:spcPct val="110000"/>
              </a:lnSpc>
              <a:spcAft>
                <a:spcPts val="200"/>
              </a:spcAft>
            </a:pPr>
            <a:r>
              <a:rPr sz="1300" b="0">
                <a:solidFill>
                  <a:srgbClr val="E8EEF6"/>
                </a:solidFill>
                <a:latin typeface="Consolas"/>
                <a:ea typeface="맑은 고딕"/>
                <a:cs typeface="맑은 고딕"/>
              </a:rPr>
              <a:t>pattern  PM_DUE</a:t>
            </a:r>
          </a:p>
          <a:p>
            <a:pPr algn="l">
              <a:lnSpc>
                <a:spcPct val="110000"/>
              </a:lnSpc>
              <a:spcAft>
                <a:spcPts val="200"/>
              </a:spcAft>
            </a:pPr>
            <a:r>
              <a:rPr sz="1300" b="0">
                <a:solidFill>
                  <a:srgbClr val="E8EEF6"/>
                </a:solidFill>
                <a:latin typeface="Consolas"/>
                <a:ea typeface="맑은 고딕"/>
                <a:cs typeface="맑은 고딕"/>
              </a:rPr>
              <a:t>asset    HYD-02</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필드</a:t>
            </a:r>
          </a:p>
          <a:p>
            <a:pPr algn="l">
              <a:lnSpc>
                <a:spcPct val="110000"/>
              </a:lnSpc>
              <a:spcAft>
                <a:spcPts val="400"/>
              </a:spcAft>
            </a:pPr>
            <a:r>
              <a:rPr sz="1400" b="0">
                <a:solidFill>
                  <a:srgbClr val="1F2A3A"/>
                </a:solidFill>
                <a:latin typeface="맑은 고딕"/>
                <a:ea typeface="맑은 고딕"/>
                <a:cs typeface="맑은 고딕"/>
              </a:rPr>
              <a:t>세 경보에 alertId와</a:t>
            </a:r>
          </a:p>
          <a:p>
            <a:pPr algn="l">
              <a:lnSpc>
                <a:spcPct val="110000"/>
              </a:lnSpc>
              <a:spcAft>
                <a:spcPts val="400"/>
              </a:spcAft>
            </a:pPr>
            <a:r>
              <a:rPr sz="1400" b="0">
                <a:solidFill>
                  <a:srgbClr val="1F2A3A"/>
                </a:solidFill>
                <a:latin typeface="맑은 고딕"/>
                <a:ea typeface="맑은 고딕"/>
                <a:cs typeface="맑은 고딕"/>
              </a:rPr>
              <a:t>pattern이 똑같이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어느 프로세스를</a:t>
            </a:r>
          </a:p>
          <a:p>
            <a:pPr algn="l">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alertId의 머리</a:t>
            </a:r>
          </a:p>
          <a:p>
            <a:pPr algn="l">
              <a:lnSpc>
                <a:spcPct val="110000"/>
              </a:lnSpc>
              <a:spcAft>
                <a:spcPts val="400"/>
              </a:spcAft>
            </a:pPr>
            <a:r>
              <a:rPr sz="1400" b="0">
                <a:solidFill>
                  <a:srgbClr val="1F2A3A"/>
                </a:solidFill>
                <a:latin typeface="맑은 고딕"/>
                <a:ea typeface="맑은 고딕"/>
                <a:cs typeface="맑은 고딕"/>
              </a:rPr>
              <a:t>CMMS와 ERP는 사건이</a:t>
            </a:r>
          </a:p>
          <a:p>
            <a:pPr algn="l">
              <a:lnSpc>
                <a:spcPct val="110000"/>
              </a:lnSpc>
              <a:spcAft>
                <a:spcPts val="400"/>
              </a:spcAft>
            </a:pPr>
            <a:r>
              <a:rPr sz="1400" b="0">
                <a:solidFill>
                  <a:srgbClr val="1F2A3A"/>
                </a:solidFill>
                <a:latin typeface="맑은 고딕"/>
                <a:ea typeface="맑은 고딕"/>
                <a:cs typeface="맑은 고딕"/>
              </a:rPr>
              <a:t>나온 업무 시스템이다.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냉각 조치</a:t>
            </a:r>
          </a:p>
          <a:p>
            <a:pPr algn="ctr">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계획</a:t>
            </a:r>
          </a:p>
          <a:p>
            <a:pPr algn="ctr">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발주안</a:t>
            </a:r>
          </a:p>
          <a:p>
            <a:pPr algn="ctr">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SCADA와 CMMS</a:t>
            </a:r>
          </a:p>
          <a:p>
            <a:pPr algn="ctr">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CMMS와 메일</a:t>
            </a:r>
          </a:p>
          <a:p>
            <a:pPr algn="ctr">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ERP와 메일</a:t>
            </a:r>
          </a:p>
          <a:p>
            <a:pPr algn="ctr">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설비 명령과 작업지시</a:t>
            </a:r>
          </a:p>
          <a:p>
            <a:pPr algn="ctr">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오더</a:t>
            </a:r>
          </a:p>
          <a:p>
            <a:pPr algn="ctr">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발주와 입고</a:t>
            </a:r>
          </a:p>
          <a:p>
            <a:pPr algn="ctr">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세흐름_나란히.svg" descr="illust_3513400080317192286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승인블록_자리.svg" descr="illust_207588908645830997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흐름_정기점검.svg" descr="illust_194085534446919602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흐름_재고보충.svg" descr="illust_9037847768925804151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응답이 없을 때 승인을 끊지 않고 알리기만 하도록 설계하면, 결정은 끝까지 승인자에게 남고 처리 건은 닫히지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기한이 지나면 승인 작업이 끊긴다</a:t>
            </a:r>
          </a:p>
          <a:p>
            <a:pPr algn="l">
              <a:lnSpc>
                <a:spcPct val="110000"/>
              </a:lnSpc>
              <a:spcAft>
                <a:spcPts val="600"/>
              </a:spcAft>
            </a:pPr>
            <a:r>
              <a:rPr sz="1450" b="0">
                <a:solidFill>
                  <a:srgbClr val="1F2A3A"/>
                </a:solidFill>
                <a:latin typeface="맑은 고딕"/>
                <a:ea typeface="맑은 고딕"/>
                <a:cs typeface="맑은 고딕"/>
              </a:rPr>
              <a:t>• 타이머의 가지가 그 뒤를 대신 정한다</a:t>
            </a:r>
          </a:p>
          <a:p>
            <a:pPr algn="l">
              <a:lnSpc>
                <a:spcPct val="110000"/>
              </a:lnSpc>
              <a:spcAft>
                <a:spcPts val="600"/>
              </a:spcAft>
            </a:pPr>
            <a:r>
              <a:rPr sz="1450" b="0">
                <a:solidFill>
                  <a:srgbClr val="1F2A3A"/>
                </a:solidFill>
                <a:latin typeface="맑은 고딕"/>
                <a:ea typeface="맑은 고딕"/>
                <a:cs typeface="맑은 고딕"/>
              </a:rPr>
              <a:t>• 승인자가 결정하지 않은 채 흐름이 넘어간다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기한이 지나면 승인 지연 알림만 나간다</a:t>
            </a:r>
          </a:p>
          <a:p>
            <a:pPr algn="l">
              <a:lnSpc>
                <a:spcPct val="110000"/>
              </a:lnSpc>
              <a:spcAft>
                <a:spcPts val="600"/>
              </a:spcAft>
            </a:pPr>
            <a:r>
              <a:rPr sz="1450" b="0">
                <a:solidFill>
                  <a:srgbClr val="1F2A3A"/>
                </a:solidFill>
                <a:latin typeface="맑은 고딕"/>
                <a:ea typeface="맑은 고딕"/>
                <a:cs typeface="맑은 고딕"/>
              </a:rPr>
              <a:t>• 승인 작업은 열린 채로 기다린다</a:t>
            </a:r>
          </a:p>
          <a:p>
            <a:pPr algn="l">
              <a:lnSpc>
                <a:spcPct val="110000"/>
              </a:lnSpc>
              <a:spcAft>
                <a:spcPts val="600"/>
              </a:spcAft>
            </a:pPr>
            <a:r>
              <a:rPr sz="145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추천안을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COOLER_DEGRADATION</a:t>
            </a:r>
          </a:p>
          <a:p>
            <a:pPr algn="ctr">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PM_DUE</a:t>
            </a:r>
          </a:p>
          <a:p>
            <a:pPr algn="ctr">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SPARE_BELOW_MIN</a:t>
            </a:r>
          </a:p>
          <a:p>
            <a:pPr algn="ctr">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a:t>
            </a:r>
          </a:p>
          <a:p>
            <a:pPr algn="ctr">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a:t>
            </a:r>
          </a:p>
          <a:p>
            <a:pPr algn="ctr">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a:t>
            </a:r>
          </a:p>
          <a:p>
            <a:pPr algn="ctr">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c3_cooling.32aca7de…</a:t>
            </a:r>
          </a:p>
          <a:p>
            <a:pPr algn="ctr">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c3_pm.28d73c7a…</a:t>
            </a:r>
          </a:p>
          <a:p>
            <a:pPr algn="ctr">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c3_spare.8b48bf5f…</a:t>
            </a:r>
          </a:p>
          <a:p>
            <a:pPr algn="ctr">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a:t>
            </a:r>
          </a:p>
          <a:p>
            <a:pPr algn="l">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정상</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단계마다 시작과 끝의 시각이 남으며, 이 기록으로 업무의 진행을 지켜보는 일이 모니터링이다.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T_agent     15:22:46    15:24:08</a:t>
            </a:r>
          </a:p>
          <a:p>
            <a:pPr algn="l">
              <a:lnSpc>
                <a:spcPct val="110000"/>
              </a:lnSpc>
              <a:spcAft>
                <a:spcPts val="200"/>
              </a:spcAft>
            </a:pPr>
            <a:r>
              <a:rPr sz="1300" b="0">
                <a:solidFill>
                  <a:srgbClr val="E8EEF6"/>
                </a:solidFill>
                <a:latin typeface="Consolas"/>
                <a:ea typeface="맑은 고딕"/>
                <a:cs typeface="맑은 고딕"/>
              </a:rPr>
              <a:t>T_approve   15:24:08    15:24:09</a:t>
            </a:r>
          </a:p>
          <a:p>
            <a:pPr algn="l">
              <a:lnSpc>
                <a:spcPct val="110000"/>
              </a:lnSpc>
              <a:spcAft>
                <a:spcPts val="200"/>
              </a:spcAft>
            </a:pPr>
            <a:r>
              <a:rPr sz="1300" b="0">
                <a:solidFill>
                  <a:srgbClr val="E8EEF6"/>
                </a:solidFill>
                <a:latin typeface="Consolas"/>
                <a:ea typeface="맑은 고딕"/>
                <a:cs typeface="맑은 고딕"/>
              </a:rPr>
              <a:t>T_cmd       15:24:09    15:24:10</a:t>
            </a:r>
          </a:p>
          <a:p>
            <a:pPr algn="l">
              <a:lnSpc>
                <a:spcPct val="110000"/>
              </a:lnSpc>
              <a:spcAft>
                <a:spcPts val="200"/>
              </a:spcAft>
            </a:pPr>
            <a:r>
              <a:rPr sz="1300" b="0">
                <a:solidFill>
                  <a:srgbClr val="E8EEF6"/>
                </a:solidFill>
                <a:latin typeface="Consolas"/>
                <a:ea typeface="맑은 고딕"/>
                <a:cs typeface="맑은 고딕"/>
              </a:rPr>
              <a:t>T_reobs     15:24:10    15:25:11</a:t>
            </a:r>
          </a:p>
          <a:p>
            <a:pPr algn="l">
              <a:lnSpc>
                <a:spcPct val="110000"/>
              </a:lnSpc>
              <a:spcAft>
                <a:spcPts val="200"/>
              </a:spcAft>
            </a:pPr>
            <a:r>
              <a:rPr sz="1300" b="0">
                <a:solidFill>
                  <a:srgbClr val="E8EEF6"/>
                </a:solidFill>
                <a:latin typeface="Consolas"/>
                <a:ea typeface="맑은 고딕"/>
                <a:cs typeface="맑은 고딕"/>
              </a:rPr>
              <a:t>T_wo        15:25:11    15:25:12</a:t>
            </a:r>
          </a:p>
          <a:p>
            <a:pPr algn="l">
              <a:lnSpc>
                <a:spcPct val="110000"/>
              </a:lnSpc>
              <a:spcAft>
                <a:spcPts val="200"/>
              </a:spcAft>
            </a:pPr>
            <a:r>
              <a:rPr sz="1300" b="0">
                <a:solidFill>
                  <a:srgbClr val="E8EEF6"/>
                </a:solidFill>
                <a:latin typeface="Consolas"/>
                <a:ea typeface="맑은 고딕"/>
                <a:cs typeface="맑은 고딕"/>
              </a:rPr>
              <a:t>R_ok        15:25:12    15:25:12</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 기록</a:t>
            </a:r>
          </a:p>
          <a:p>
            <a:pPr algn="l">
              <a:lnSpc>
                <a:spcPct val="110000"/>
              </a:lnSpc>
              <a:spcAft>
                <a:spcPts val="400"/>
              </a:spcAft>
            </a:pPr>
            <a:r>
              <a:rPr sz="1400" b="0">
                <a:solidFill>
                  <a:srgbClr val="1F2A3A"/>
                </a:solidFill>
                <a:latin typeface="맑은 고딕"/>
                <a:ea typeface="맑은 고딕"/>
                <a:cs typeface="맑은 고딕"/>
              </a:rPr>
              <a:t>단계의 시작과 끝, 담당,</a:t>
            </a:r>
          </a:p>
          <a:p>
            <a:pPr algn="l">
              <a:lnSpc>
                <a:spcPct val="110000"/>
              </a:lnSpc>
              <a:spcAft>
                <a:spcPts val="400"/>
              </a:spcAft>
            </a:pPr>
            <a:r>
              <a:rPr sz="1400" b="0">
                <a:solidFill>
                  <a:srgbClr val="1F2A3A"/>
                </a:solidFill>
                <a:latin typeface="맑은 고딕"/>
                <a:ea typeface="맑은 고딕"/>
                <a:cs typeface="맑은 고딕"/>
              </a:rPr>
              <a:t>결과가 처리 건에 남는다.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모니터링</a:t>
            </a:r>
          </a:p>
          <a:p>
            <a:pPr algn="l">
              <a:lnSpc>
                <a:spcPct val="110000"/>
              </a:lnSpc>
              <a:spcAft>
                <a:spcPts val="400"/>
              </a:spcAft>
            </a:pPr>
            <a:r>
              <a:rPr sz="1400" b="0">
                <a:solidFill>
                  <a:srgbClr val="1F2A3A"/>
                </a:solidFill>
                <a:latin typeface="맑은 고딕"/>
                <a:ea typeface="맑은 고딕"/>
                <a:cs typeface="맑은 고딕"/>
              </a:rPr>
              <a:t>Monitoring · 이 기록으로</a:t>
            </a:r>
          </a:p>
          <a:p>
            <a:pPr algn="l">
              <a:lnSpc>
                <a:spcPct val="110000"/>
              </a:lnSpc>
              <a:spcAft>
                <a:spcPts val="400"/>
              </a:spcAft>
            </a:pPr>
            <a:r>
              <a:rPr sz="1400" b="0">
                <a:solidFill>
                  <a:srgbClr val="1F2A3A"/>
                </a:solidFill>
                <a:latin typeface="맑은 고딕"/>
                <a:ea typeface="맑은 고딕"/>
                <a:cs typeface="맑은 고딕"/>
              </a:rPr>
              <a:t>진행과 대기를 지켜본다.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읽는 법</a:t>
            </a:r>
          </a:p>
          <a:p>
            <a:pPr algn="l">
              <a:lnSpc>
                <a:spcPct val="110000"/>
              </a:lnSpc>
              <a:spcAft>
                <a:spcPts val="400"/>
              </a:spcAft>
            </a:pPr>
            <a:r>
              <a:rPr sz="1400" b="0">
                <a:solidFill>
                  <a:srgbClr val="1F2A3A"/>
                </a:solidFill>
                <a:latin typeface="맑은 고딕"/>
                <a:ea typeface="맑은 고딕"/>
                <a:cs typeface="맑은 고딕"/>
              </a:rPr>
              <a:t>끝에서 시작을 빼면</a:t>
            </a:r>
          </a:p>
          <a:p>
            <a:pPr algn="l">
              <a:lnSpc>
                <a:spcPct val="110000"/>
              </a:lnSpc>
              <a:spcAft>
                <a:spcPts val="400"/>
              </a:spcAft>
            </a:pPr>
            <a:r>
              <a:rPr sz="1400" b="0">
                <a:solidFill>
                  <a:srgbClr val="1F2A3A"/>
                </a:solidFill>
                <a:latin typeface="맑은 고딕"/>
                <a:ea typeface="맑은 고딕"/>
                <a:cs typeface="맑은 고딕"/>
              </a:rPr>
              <a:t>단계에 걸린 시간이다.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병목은 흐름 전체를 늦추는 단계이며, 승인된 세 처리 건에서는 에이전트의 판단 단계가 가장 오래 걸렸다.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병목.svg" descr="illust_1960897287954115383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2644033"/>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긴급 대응</a:t>
            </a:r>
          </a:p>
          <a:p>
            <a:pPr algn="ctr">
              <a:lnSpc>
                <a:spcPct val="110000"/>
              </a:lnSpc>
              <a:spcAft>
                <a:spcPts val="100"/>
              </a:spcAft>
            </a:pPr>
            <a:r>
              <a:rPr sz="1100" b="0">
                <a:solidFill>
                  <a:srgbClr val="556175"/>
                </a:solidFill>
                <a:latin typeface="맑은 고딕"/>
                <a:ea typeface="맑은 고딕"/>
                <a:cs typeface="맑은 고딕"/>
              </a:rPr>
              <a:t>146초</a:t>
            </a:r>
          </a:p>
        </p:txBody>
      </p:sp>
      <p:sp>
        <p:nvSpPr>
          <p:cNvPr id="8" name="TextBox 7"/>
          <p:cNvSpPr txBox="1"/>
          <p:nvPr/>
        </p:nvSpPr>
        <p:spPr>
          <a:xfrm>
            <a:off x="761104" y="382589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a:t>
            </a:r>
          </a:p>
          <a:p>
            <a:pPr algn="ctr">
              <a:lnSpc>
                <a:spcPct val="110000"/>
              </a:lnSpc>
              <a:spcAft>
                <a:spcPts val="100"/>
              </a:spcAft>
            </a:pPr>
            <a:r>
              <a:rPr sz="1100" b="0">
                <a:solidFill>
                  <a:srgbClr val="556175"/>
                </a:solidFill>
                <a:latin typeface="맑은 고딕"/>
                <a:ea typeface="맑은 고딕"/>
                <a:cs typeface="맑은 고딕"/>
              </a:rPr>
              <a:t>60초</a:t>
            </a:r>
          </a:p>
        </p:txBody>
      </p:sp>
      <p:sp>
        <p:nvSpPr>
          <p:cNvPr id="9" name="TextBox 8"/>
          <p:cNvSpPr txBox="1"/>
          <p:nvPr/>
        </p:nvSpPr>
        <p:spPr>
          <a:xfrm>
            <a:off x="761104" y="5007757"/>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a:t>
            </a:r>
          </a:p>
          <a:p>
            <a:pPr algn="ctr">
              <a:lnSpc>
                <a:spcPct val="110000"/>
              </a:lnSpc>
              <a:spcAft>
                <a:spcPts val="100"/>
              </a:spcAft>
            </a:pPr>
            <a:r>
              <a:rPr sz="1100" b="0">
                <a:solidFill>
                  <a:srgbClr val="556175"/>
                </a:solidFill>
                <a:latin typeface="맑은 고딕"/>
                <a:ea typeface="맑은 고딕"/>
                <a:cs typeface="맑은 고딕"/>
              </a:rPr>
              <a:t>58초</a:t>
            </a:r>
          </a:p>
        </p:txBody>
      </p:sp>
      <p:sp>
        <p:nvSpPr>
          <p:cNvPr id="10" name="TextBox 9"/>
          <p:cNvSpPr txBox="1"/>
          <p:nvPr/>
        </p:nvSpPr>
        <p:spPr>
          <a:xfrm>
            <a:off x="3695758" y="2771674"/>
            <a:ext cx="240008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에이전트 82.3초</a:t>
            </a:r>
          </a:p>
        </p:txBody>
      </p:sp>
      <p:sp>
        <p:nvSpPr>
          <p:cNvPr id="11" name="TextBox 10"/>
          <p:cNvSpPr txBox="1"/>
          <p:nvPr/>
        </p:nvSpPr>
        <p:spPr>
          <a:xfrm>
            <a:off x="7852276" y="277167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 60.2초</a:t>
            </a:r>
          </a:p>
        </p:txBody>
      </p:sp>
      <p:sp>
        <p:nvSpPr>
          <p:cNvPr id="12" name="TextBox 11"/>
          <p:cNvSpPr txBox="1"/>
          <p:nvPr/>
        </p:nvSpPr>
        <p:spPr>
          <a:xfrm>
            <a:off x="3041189" y="395353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55.3초</a:t>
            </a:r>
          </a:p>
        </p:txBody>
      </p:sp>
      <p:sp>
        <p:nvSpPr>
          <p:cNvPr id="13" name="TextBox 12"/>
          <p:cNvSpPr txBox="1"/>
          <p:nvPr/>
        </p:nvSpPr>
        <p:spPr>
          <a:xfrm>
            <a:off x="2997551" y="513539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54.4초</a:t>
            </a:r>
          </a:p>
        </p:txBody>
      </p:sp>
      <p:sp>
        <p:nvSpPr>
          <p:cNvPr id="14" name="TextBox 13"/>
          <p:cNvSpPr txBox="1"/>
          <p:nvPr/>
        </p:nvSpPr>
        <p:spPr>
          <a:xfrm>
            <a:off x="5910386" y="205310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1.3초 · 명령 1.1초</a:t>
            </a:r>
          </a:p>
        </p:txBody>
      </p:sp>
      <p:sp>
        <p:nvSpPr>
          <p:cNvPr id="15" name="TextBox 14"/>
          <p:cNvSpPr txBox="1"/>
          <p:nvPr/>
        </p:nvSpPr>
        <p:spPr>
          <a:xfrm>
            <a:off x="6041300" y="3953536"/>
            <a:ext cx="414560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3.7초 · 정비 오더와 공지 1.0초 · 보고 0.4초</a:t>
            </a:r>
          </a:p>
        </p:txBody>
      </p:sp>
      <p:sp>
        <p:nvSpPr>
          <p:cNvPr id="16" name="TextBox 15"/>
          <p:cNvSpPr txBox="1"/>
          <p:nvPr/>
        </p:nvSpPr>
        <p:spPr>
          <a:xfrm>
            <a:off x="5932205" y="5135398"/>
            <a:ext cx="436379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1.7초 · 발주 0.3초 · 입고 0.9초 · 보고 0.4초</a:t>
            </a:r>
          </a:p>
        </p:txBody>
      </p:sp>
      <p:sp>
        <p:nvSpPr>
          <p:cNvPr id="17" name="TextBox 16"/>
          <p:cNvSpPr txBox="1"/>
          <p:nvPr/>
        </p:nvSpPr>
        <p:spPr>
          <a:xfrm>
            <a:off x="2146610" y="5929609"/>
            <a:ext cx="43637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0</a:t>
            </a:r>
          </a:p>
        </p:txBody>
      </p:sp>
      <p:sp>
        <p:nvSpPr>
          <p:cNvPr id="18" name="TextBox 17"/>
          <p:cNvSpPr txBox="1"/>
          <p:nvPr/>
        </p:nvSpPr>
        <p:spPr>
          <a:xfrm>
            <a:off x="5419458" y="5929609"/>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60초</a:t>
            </a:r>
          </a:p>
        </p:txBody>
      </p:sp>
      <p:sp>
        <p:nvSpPr>
          <p:cNvPr id="19" name="TextBox 18"/>
          <p:cNvSpPr txBox="1"/>
          <p:nvPr/>
        </p:nvSpPr>
        <p:spPr>
          <a:xfrm>
            <a:off x="8801402" y="5929609"/>
            <a:ext cx="65456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120초</a:t>
            </a:r>
          </a:p>
        </p:txBody>
      </p:sp>
      <p:sp>
        <p:nvSpPr>
          <p:cNvPr id="20" name="TextBox 19"/>
          <p:cNvSpPr txBox="1"/>
          <p:nvPr/>
        </p:nvSpPr>
        <p:spPr>
          <a:xfrm>
            <a:off x="6095847" y="3305876"/>
            <a:ext cx="480017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병목</a:t>
            </a:r>
          </a:p>
          <a:p>
            <a:pPr algn="ctr">
              <a:lnSpc>
                <a:spcPct val="110000"/>
              </a:lnSpc>
              <a:spcAft>
                <a:spcPts val="100"/>
              </a:spcAft>
            </a:pPr>
            <a:r>
              <a:rPr sz="1100" b="0">
                <a:solidFill>
                  <a:srgbClr val="556175"/>
                </a:solidFill>
                <a:latin typeface="맑은 고딕"/>
                <a:ea typeface="맑은 고딕"/>
                <a:cs typeface="맑은 고딕"/>
              </a:rPr>
              <a:t>Bottleneck · 가장 긴 단계가 전체 시간을 좌우한다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사이클 타임</a:t>
            </a:r>
          </a:p>
          <a:p>
            <a:pPr algn="l">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시작 이벤트에서 끝 이벤트까지 걸린 시간이다.</a:t>
            </a:r>
          </a:p>
          <a:p>
            <a:pPr algn="l">
              <a:lnSpc>
                <a:spcPct val="110000"/>
              </a:lnSpc>
              <a:spcAft>
                <a:spcPts val="300"/>
              </a:spcAft>
            </a:pPr>
            <a:r>
              <a:rPr sz="1400" b="0">
                <a:solidFill>
                  <a:srgbClr val="1F2A3A"/>
                </a:solidFill>
                <a:latin typeface="맑은 고딕"/>
                <a:ea typeface="맑은 고딕"/>
                <a:cs typeface="맑은 고딕"/>
              </a:rPr>
              <a:t>승인된 세 처리 건은 146초, 60초, 58초였다.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대기 시간</a:t>
            </a:r>
          </a:p>
          <a:p>
            <a:pPr algn="l">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a:lnSpc>
                <a:spcPct val="110000"/>
              </a:lnSpc>
              <a:spcAft>
                <a:spcPts val="300"/>
              </a:spcAft>
            </a:pPr>
            <a:r>
              <a:rPr sz="1400" b="0">
                <a:solidFill>
                  <a:srgbClr val="1F2A3A"/>
                </a:solidFill>
                <a:latin typeface="맑은 고딕"/>
                <a:ea typeface="맑은 고딕"/>
                <a:cs typeface="맑은 고딕"/>
              </a:rPr>
              <a:t>사용자 작업에서는 승인자가 응답하기까지의 시간이다.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건수</a:t>
            </a:r>
          </a:p>
          <a:p>
            <a:pPr algn="l">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거절률</a:t>
            </a:r>
          </a:p>
          <a:p>
            <a:pPr algn="l">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a:lnSpc>
                <a:spcPct val="110000"/>
              </a:lnSpc>
              <a:spcAft>
                <a:spcPts val="300"/>
              </a:spcAft>
            </a:pPr>
            <a:r>
              <a:rPr sz="1400" b="0">
                <a:solidFill>
                  <a:srgbClr val="1F2A3A"/>
                </a:solidFill>
                <a:latin typeface="맑은 고딕"/>
                <a:ea typeface="맑은 고딕"/>
                <a:cs typeface="맑은 고딕"/>
              </a:rPr>
              <a:t>높으면 에이전트의 추천안이나 승인의 기준을 점검한다.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같은 것, 다른 것, 읽는 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승인 블록이라는 같은 구조 위에서 네 가지 값만 달랐고, 상태와 기록은 한 가지 방법으로 읽혔다.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같은 것</a:t>
            </a:r>
          </a:p>
          <a:p>
            <a:pPr algn="l">
              <a:lnSpc>
                <a:spcPct val="110000"/>
              </a:lnSpc>
              <a:spcAft>
                <a:spcPts val="400"/>
              </a:spcAft>
            </a:pPr>
            <a:r>
              <a:rPr sz="1400" b="0">
                <a:solidFill>
                  <a:srgbClr val="1F2A3A"/>
                </a:solidFill>
                <a:latin typeface="맑은 고딕"/>
                <a:ea typeface="맑은 고딕"/>
                <a:cs typeface="맑은 고딕"/>
              </a:rPr>
              <a:t>• 제안, 승인 또는 거절, 처리, 결과 보고의 순서</a:t>
            </a:r>
          </a:p>
          <a:p>
            <a:pPr algn="l">
              <a:lnSpc>
                <a:spcPct val="110000"/>
              </a:lnSpc>
              <a:spcAft>
                <a:spcPts val="400"/>
              </a:spcAft>
            </a:pPr>
            <a:r>
              <a:rPr sz="1400" b="0">
                <a:solidFill>
                  <a:srgbClr val="1F2A3A"/>
                </a:solidFill>
                <a:latin typeface="맑은 고딕"/>
                <a:ea typeface="맑은 고딕"/>
                <a:cs typeface="맑은 고딕"/>
              </a:rPr>
              <a:t>• 승인 블록의 일곱 요소</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다른 것</a:t>
            </a:r>
          </a:p>
          <a:p>
            <a:pPr algn="l">
              <a:lnSpc>
                <a:spcPct val="110000"/>
              </a:lnSpc>
              <a:spcAft>
                <a:spcPts val="400"/>
              </a:spcAft>
            </a:pPr>
            <a:r>
              <a:rPr sz="1400" b="0">
                <a:solidFill>
                  <a:srgbClr val="1F2A3A"/>
                </a:solidFill>
                <a:latin typeface="맑은 고딕"/>
                <a:ea typeface="맑은 고딕"/>
                <a:cs typeface="맑은 고딕"/>
              </a:rPr>
              <a:t>시작 조건, 에이전트, 승인자, 실행 시스템</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a:t>
            </a:r>
          </a:p>
          <a:p>
            <a:pPr algn="l">
              <a:lnSpc>
                <a:spcPct val="110000"/>
              </a:lnSpc>
              <a:spcAft>
                <a:spcPts val="400"/>
              </a:spcAft>
            </a:pPr>
            <a:r>
              <a:rPr sz="1400" b="0">
                <a:solidFill>
                  <a:srgbClr val="1F2A3A"/>
                </a:solidFill>
                <a:latin typeface="맑은 고딕"/>
                <a:ea typeface="맑은 고딕"/>
                <a:cs typeface="맑은 고딕"/>
              </a:rPr>
              <a:t>• 처리 건의 상태, 끝 이벤트, 결과 보고로 결말을 읽는다</a:t>
            </a:r>
          </a:p>
          <a:p>
            <a:pPr algn="l">
              <a:lnSpc>
                <a:spcPct val="110000"/>
              </a:lnSpc>
              <a:spcAft>
                <a:spcPts val="400"/>
              </a:spcAft>
            </a:pPr>
            <a:r>
              <a:rPr sz="1400" b="0">
                <a:solidFill>
                  <a:srgbClr val="1F2A3A"/>
                </a:solidFill>
                <a:latin typeface="맑은 고딕"/>
                <a:ea typeface="맑은 고딕"/>
                <a:cs typeface="맑은 고딕"/>
              </a:rPr>
              <a:t>• 단계의 시각에서 병목과 지표를 얻는다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두고 시작과 제안 작업, 승인 뒤의 작업만 새로 그려 BPMN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지난 시간의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정비 오더 등록 · 공지 메일(한 작업)과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건에 정비 오더와 생산팀 공지와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추천안이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 뒤</a:t>
            </a:r>
          </a:p>
          <a:p>
            <a:pPr algn="ctr">
              <a:lnSpc>
                <a:spcPct val="110000"/>
              </a:lnSpc>
              <a:spcAft>
                <a:spcPts val="400"/>
              </a:spcAft>
            </a:pPr>
            <a:r>
              <a:rPr sz="1350" b="0">
                <a:solidFill>
                  <a:srgbClr val="1F2A3A"/>
                </a:solidFill>
                <a:latin typeface="맑은 고딕"/>
                <a:ea typeface="맑은 고딕"/>
                <a:cs typeface="맑은 고딕"/>
              </a:rPr>
              <a:t>정비 오더 등록,</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결과 보고와 종료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프로세스의 BPMN 파일은 같은 승인 블록 뒤에 발주에서 입고와 재고 반영까지를 이어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 공급사 메일(한 작업), 입고 ·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배포한 재고 보충 프로세스를 실행하면 발주와 입고가 처리되어 가용 재고가 재주문점 위로 올라간 처리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가용 재고가</a:t>
            </a:r>
          </a:p>
          <a:p>
            <a:pPr algn="ctr">
              <a:lnSpc>
                <a:spcPct val="110000"/>
              </a:lnSpc>
              <a:spcAft>
                <a:spcPts val="400"/>
              </a:spcAft>
            </a:pPr>
            <a:r>
              <a:rPr sz="1250" b="0">
                <a:solidFill>
                  <a:srgbClr val="1F2A3A"/>
                </a:solidFill>
                <a:latin typeface="맑은 고딕"/>
                <a:ea typeface="맑은 고딕"/>
                <a:cs typeface="맑은 고딕"/>
              </a:rPr>
              <a:t>1개에서 7개로,</a:t>
            </a:r>
          </a:p>
          <a:p>
            <a:pPr algn="ctr">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요소_복습.svg" descr="illust_237101909753994665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다섯자리.svg" descr="illust_566003435733584877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5615829" y="5409590"/>
            <a:ext cx="5236557"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a:p>
            <a:pPr algn="ctr">
              <a:lnSpc>
                <a:spcPct val="110000"/>
              </a:lnSpc>
              <a:spcAft>
                <a:spcPts val="100"/>
              </a:spcAft>
            </a:pPr>
            <a:r>
              <a:rPr sz="1300" b="0">
                <a:solidFill>
                  <a:srgbClr val="556175"/>
                </a:solidFill>
                <a:latin typeface="맑은 고딕"/>
                <a:ea typeface="맑은 고딕"/>
                <a:cs typeface="맑은 고딕"/>
              </a:rPr>
              <a:t>세 업무 모두 거절된 추천안은 시스템의 실행 없이 닫혔다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주고받는것.svg" descr="illust_367116061640960798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추천안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점검에서는 도래 경보가 처리 건을 열었고, 승인된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정기 점검 도래</a:t>
            </a:r>
          </a:p>
          <a:p>
            <a:pPr algn="ctr">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추천안의 정비 시점</a:t>
            </a:r>
          </a:p>
          <a:p>
            <a:pPr algn="ctr">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설비보전팀장 승인</a:t>
            </a:r>
          </a:p>
          <a:p>
            <a:pPr algn="ctr">
              <a:lnSpc>
                <a:spcPct val="110000"/>
              </a:lnSpc>
              <a:spcAft>
                <a:spcPts val="400"/>
              </a:spcAft>
            </a:pPr>
            <a:r>
              <a:rPr sz="1300" b="0">
                <a:solidFill>
                  <a:srgbClr val="1F2A3A"/>
                </a:solidFill>
                <a:latin typeface="맑은 고딕"/>
                <a:ea typeface="맑은 고딕"/>
                <a:cs typeface="맑은 고딕"/>
              </a:rPr>
              <a:t>추천안의 정비 시점을</a:t>
            </a:r>
          </a:p>
          <a:p>
            <a:pPr algn="ctr">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정비 오더 WO-1010-5DDD</a:t>
            </a:r>
          </a:p>
          <a:p>
            <a:pPr algn="ctr">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가동률과 생산량을 지키고 보전비만 든다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+1.73</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납기가 24시간 안인 생산 오더가 있어 오더 손실을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-3.35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그때의 운전시간이 2,200 h를 넘으므로 미루지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보충에서 구매 담당이 승인한 발주안은 발주와 입고로 처리되어, 1개이던 가용 재고가 7개로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재고 부족</a:t>
            </a:r>
          </a:p>
          <a:p>
            <a:pPr algn="ctr">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6개 · 공급사 B-OEM</a:t>
            </a:r>
          </a:p>
          <a:p>
            <a:pPr algn="ctr">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구매 담당 승인</a:t>
            </a:r>
          </a:p>
          <a:p>
            <a:pPr algn="ctr">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발주 PR-1010-83F3</a:t>
            </a:r>
          </a:p>
          <a:p>
            <a:pPr algn="ctr">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입고 완료</a:t>
            </a:r>
          </a:p>
          <a:p>
            <a:pPr algn="ctr">
              <a:lnSpc>
                <a:spcPct val="110000"/>
              </a:lnSpc>
              <a:spcAft>
                <a:spcPts val="400"/>
              </a:spcAft>
            </a:pPr>
            <a:r>
              <a:rPr sz="1300" b="0">
                <a:solidFill>
                  <a:srgbClr val="1F2A3A"/>
                </a:solidFill>
                <a:latin typeface="맑은 고딕"/>
                <a:ea typeface="맑은 고딕"/>
                <a:cs typeface="맑은 고딕"/>
              </a:rPr>
              <a:t>가용 재고 7개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B-OEM (순정)</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330만원 · 5일 · 2 %</a:t>
            </a:r>
          </a:p>
          <a:p>
            <a:pPr algn="l">
              <a:lnSpc>
                <a:spcPct val="110000"/>
              </a:lnSpc>
            </a:pPr>
            <a:r>
              <a:rPr sz="1400" b="0">
                <a:solidFill>
                  <a:srgbClr val="1F2A3A"/>
                </a:solidFill>
                <a:latin typeface="맑은 고딕"/>
                <a:ea typeface="맑은 고딕"/>
                <a:cs typeface="맑은 고딕"/>
              </a:rPr>
              <a:t>부품 품질에서 앞선다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+2.82</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A정밀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210만원 · 2일 · 12 %</a:t>
            </a:r>
          </a:p>
          <a:p>
            <a:pPr algn="l">
              <a:lnSpc>
                <a:spcPct val="110000"/>
              </a:lnSpc>
            </a:pPr>
            <a:r>
              <a:rPr sz="1400" b="0">
                <a:solidFill>
                  <a:srgbClr val="1F2A3A"/>
                </a:solidFill>
                <a:latin typeface="맑은 고딕"/>
                <a:ea typeface="맑은 고딕"/>
                <a:cs typeface="맑은 고딕"/>
              </a:rPr>
              <a:t>불량률이 10 %를 넘어 전수 검사 비용을 더해 견준다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+1.32</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C트레이딩 (비승인)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120만원 · 1일 · 30 %</a:t>
            </a:r>
          </a:p>
          <a:p>
            <a:pPr algn="l">
              <a:lnSpc>
                <a:spcPct val="110000"/>
              </a:lnSpc>
            </a:pPr>
            <a:r>
              <a:rPr sz="1400" b="0">
                <a:solidFill>
                  <a:srgbClr val="1F2A3A"/>
                </a:solidFill>
                <a:latin typeface="맑은 고딕"/>
                <a:ea typeface="맑은 고딕"/>
                <a:cs typeface="맑은 고딕"/>
              </a:rPr>
              <a:t>승인 공급사가 아니어서 핵심 부품은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pic>
        <p:nvPicPr>
          <p:cNvPr id="6" name="삽화:세종료.svg" descr="illust_788591201770857403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추천안의 근거</a:t>
            </a:r>
          </a:p>
          <a:p>
            <a:pPr algn="l">
              <a:lnSpc>
                <a:spcPct val="110000"/>
              </a:lnSpc>
              <a:spcAft>
                <a:spcPts val="400"/>
              </a:spcAft>
            </a:pPr>
            <a:r>
              <a:rPr sz="1400" b="0">
                <a:solidFill>
                  <a:srgbClr val="1F2A3A"/>
                </a:solidFill>
                <a:latin typeface="맑은 고딕"/>
                <a:ea typeface="맑은 고딕"/>
                <a:cs typeface="맑은 고딕"/>
              </a:rPr>
              <a:t>판단 id로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추천안을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세층연결.svg" descr="illust_4726296643851634745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추천안을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1~4일차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5~8일차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9~10일차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a:t>
            </a:r>
          </a:p>
          <a:p>
            <a:pPr algn="ctr">
              <a:lnSpc>
                <a:spcPct val="110000"/>
              </a:lnSpc>
              <a:spcAft>
                <a:spcPts val="400"/>
              </a:spcAft>
            </a:pPr>
            <a:r>
              <a:rPr sz="125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프로세스가</a:t>
            </a:r>
          </a:p>
          <a:p>
            <a:pPr algn="ctr">
              <a:lnSpc>
                <a:spcPct val="110000"/>
              </a:lnSpc>
              <a:spcAft>
                <a:spcPts val="400"/>
              </a:spcAft>
            </a:pPr>
            <a:r>
              <a:rPr sz="1250" b="0">
                <a:solidFill>
                  <a:srgbClr val="1F2A3A"/>
                </a:solidFill>
                <a:latin typeface="맑은 고딕"/>
                <a:ea typeface="맑은 고딕"/>
                <a:cs typeface="맑은 고딕"/>
              </a:rPr>
              <a:t>팬 속도 100 %</a:t>
            </a:r>
          </a:p>
          <a:p>
            <a:pPr algn="ctr">
              <a:lnSpc>
                <a:spcPct val="110000"/>
              </a:lnSpc>
              <a:spcAft>
                <a:spcPts val="400"/>
              </a:spcAft>
            </a:pPr>
            <a:r>
              <a:rPr sz="125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추천안에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추천안을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처리 건을 열고</a:t>
            </a:r>
          </a:p>
          <a:p>
            <a:pPr algn="ctr">
              <a:lnSpc>
                <a:spcPct val="110000"/>
              </a:lnSpc>
              <a:spcAft>
                <a:spcPts val="400"/>
              </a:spcAft>
            </a:pPr>
            <a:r>
              <a:rPr sz="13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기록</a:t>
            </a:r>
          </a:p>
          <a:p>
            <a:pPr algn="ctr">
              <a:lnSpc>
                <a:spcPct val="110000"/>
              </a:lnSpc>
              <a:spcAft>
                <a:spcPts val="400"/>
              </a:spcAft>
            </a:pPr>
            <a:r>
              <a:rPr sz="1350" b="0">
                <a:solidFill>
                  <a:srgbClr val="1F2A3A"/>
                </a:solidFill>
                <a:latin typeface="맑은 고딕"/>
                <a:ea typeface="맑은 고딕"/>
                <a:cs typeface="맑은 고딕"/>
              </a:rPr>
              <a:t>단계의 시각, 승인,</a:t>
            </a:r>
          </a:p>
          <a:p>
            <a:pPr algn="ctr">
              <a:lnSpc>
                <a:spcPct val="110000"/>
              </a:lnSpc>
              <a:spcAft>
                <a:spcPts val="400"/>
              </a:spcAft>
            </a:pPr>
            <a:r>
              <a:rPr sz="13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지표</a:t>
            </a:r>
          </a:p>
          <a:p>
            <a:pPr algn="ctr">
              <a:lnSpc>
                <a:spcPct val="110000"/>
              </a:lnSpc>
              <a:spcAft>
                <a:spcPts val="400"/>
              </a:spcAft>
            </a:pPr>
            <a:r>
              <a:rPr sz="1350" b="0">
                <a:solidFill>
                  <a:srgbClr val="1F2A3A"/>
                </a:solidFill>
                <a:latin typeface="맑은 고딕"/>
                <a:ea typeface="맑은 고딕"/>
                <a:cs typeface="맑은 고딕"/>
              </a:rPr>
              <a:t>사이클 타임, 대기 시간,</a:t>
            </a:r>
          </a:p>
          <a:p>
            <a:pPr algn="ctr">
              <a:lnSpc>
                <a:spcPct val="110000"/>
              </a:lnSpc>
              <a:spcAft>
                <a:spcPts val="400"/>
              </a:spcAft>
            </a:pPr>
            <a:r>
              <a:rPr sz="1350" b="0">
                <a:solidFill>
                  <a:srgbClr val="1F2A3A"/>
                </a:solidFill>
                <a:latin typeface="맑은 고딕"/>
                <a:ea typeface="맑은 고딕"/>
                <a:cs typeface="맑은 고딕"/>
              </a:rPr>
              <a:t>거절률로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개선</a:t>
            </a:r>
          </a:p>
          <a:p>
            <a:pPr algn="ctr">
              <a:lnSpc>
                <a:spcPct val="110000"/>
              </a:lnSpc>
              <a:spcAft>
                <a:spcPts val="400"/>
              </a:spcAft>
            </a:pPr>
            <a:r>
              <a:rPr sz="1350" b="0">
                <a:solidFill>
                  <a:srgbClr val="1F2A3A"/>
                </a:solidFill>
                <a:latin typeface="맑은 고딕"/>
                <a:ea typeface="맑은 고딕"/>
                <a:cs typeface="맑은 고딕"/>
              </a:rPr>
              <a:t>정의를 고쳐</a:t>
            </a:r>
          </a:p>
          <a:p>
            <a:pPr algn="ctr">
              <a:lnSpc>
                <a:spcPct val="110000"/>
              </a:lnSpc>
              <a:spcAft>
                <a:spcPts val="400"/>
              </a:spcAft>
            </a:pPr>
            <a:r>
              <a:rPr sz="1350" b="0">
                <a:solidFill>
                  <a:srgbClr val="1F2A3A"/>
                </a:solidFill>
                <a:latin typeface="맑은 고딕"/>
                <a:ea typeface="맑은 고딕"/>
                <a:cs typeface="맑은 고딕"/>
              </a:rPr>
              <a:t>새 판본으로 배포한다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영역의 용어가 이어지는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경보가 배포된 프로세스 정의에서 처리 건을 열고, 처리 건은 단계와 프로세스 변수와 결과 보고를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Oval 5"/>
          <p:cNvSpPr/>
          <p:nvPr/>
        </p:nvSpPr>
        <p:spPr>
          <a:xfrm>
            <a:off x="548639" y="179085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경보</a:t>
            </a:r>
          </a:p>
          <a:p>
            <a:pPr algn="ctr">
              <a:lnSpc>
                <a:spcPct val="110000"/>
              </a:lnSpc>
            </a:pPr>
            <a:r>
              <a:rPr sz="1100" b="0">
                <a:solidFill>
                  <a:srgbClr val="556175"/>
                </a:solidFill>
                <a:latin typeface="맑은 고딕"/>
                <a:ea typeface="맑은 고딕"/>
                <a:cs typeface="맑은 고딕"/>
              </a:rPr>
              <a:t>시작 이벤트</a:t>
            </a:r>
          </a:p>
        </p:txBody>
      </p:sp>
      <p:sp>
        <p:nvSpPr>
          <p:cNvPr id="8" name="Oval 7"/>
          <p:cNvSpPr/>
          <p:nvPr/>
        </p:nvSpPr>
        <p:spPr>
          <a:xfrm>
            <a:off x="3823307" y="4728819"/>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925720"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BPMN 그림과 연결 값</a:t>
            </a:r>
          </a:p>
        </p:txBody>
      </p:sp>
      <p:sp>
        <p:nvSpPr>
          <p:cNvPr id="10" name="Oval 9"/>
          <p:cNvSpPr/>
          <p:nvPr/>
        </p:nvSpPr>
        <p:spPr>
          <a:xfrm>
            <a:off x="3823307" y="179085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3925720"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처리 건</a:t>
            </a:r>
          </a:p>
          <a:p>
            <a:pPr algn="ctr">
              <a:lnSpc>
                <a:spcPct val="110000"/>
              </a:lnSpc>
            </a:pPr>
            <a:r>
              <a:rPr sz="1100" b="0">
                <a:solidFill>
                  <a:srgbClr val="556175"/>
                </a:solidFill>
                <a:latin typeface="맑은 고딕"/>
                <a:ea typeface="맑은 고딕"/>
                <a:cs typeface="맑은 고딕"/>
              </a:rPr>
              <a:t>프로세스 인스턴스</a:t>
            </a:r>
          </a:p>
        </p:txBody>
      </p:sp>
      <p:sp>
        <p:nvSpPr>
          <p:cNvPr id="12" name="Oval 11"/>
          <p:cNvSpPr/>
          <p:nvPr/>
        </p:nvSpPr>
        <p:spPr>
          <a:xfrm>
            <a:off x="709797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200387"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단계</a:t>
            </a:r>
          </a:p>
          <a:p>
            <a:pPr algn="ctr">
              <a:lnSpc>
                <a:spcPct val="110000"/>
              </a:lnSpc>
            </a:pPr>
            <a:r>
              <a:rPr sz="1100" b="0">
                <a:solidFill>
                  <a:srgbClr val="556175"/>
                </a:solidFill>
                <a:latin typeface="맑은 고딕"/>
                <a:ea typeface="맑은 고딕"/>
                <a:cs typeface="맑은 고딕"/>
              </a:rPr>
              <a:t>작업의 실행</a:t>
            </a:r>
          </a:p>
        </p:txBody>
      </p:sp>
      <p:sp>
        <p:nvSpPr>
          <p:cNvPr id="14" name="Oval 13"/>
          <p:cNvSpPr/>
          <p:nvPr/>
        </p:nvSpPr>
        <p:spPr>
          <a:xfrm>
            <a:off x="7097975" y="4728819"/>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200387"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변수</a:t>
            </a:r>
          </a:p>
          <a:p>
            <a:pPr algn="ctr">
              <a:lnSpc>
                <a:spcPct val="110000"/>
              </a:lnSpc>
            </a:pPr>
            <a:r>
              <a:rPr sz="1100" b="0">
                <a:solidFill>
                  <a:srgbClr val="556175"/>
                </a:solidFill>
                <a:latin typeface="맑은 고딕"/>
                <a:ea typeface="맑은 고딕"/>
                <a:cs typeface="맑은 고딕"/>
              </a:rPr>
              <a:t>작업의 출력</a:t>
            </a:r>
          </a:p>
        </p:txBody>
      </p:sp>
      <p:sp>
        <p:nvSpPr>
          <p:cNvPr id="16" name="Oval 15"/>
          <p:cNvSpPr/>
          <p:nvPr/>
        </p:nvSpPr>
        <p:spPr>
          <a:xfrm>
            <a:off x="1018001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10282428"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결과 보고</a:t>
            </a:r>
          </a:p>
          <a:p>
            <a:pPr algn="ctr">
              <a:lnSpc>
                <a:spcPct val="110000"/>
              </a:lnSpc>
            </a:pPr>
            <a:r>
              <a:rPr sz="1100" b="0">
                <a:solidFill>
                  <a:srgbClr val="556175"/>
                </a:solidFill>
                <a:latin typeface="맑은 고딕"/>
                <a:ea typeface="맑은 고딕"/>
                <a:cs typeface="맑은 고딕"/>
              </a:rPr>
              <a:t>종료 기록</a:t>
            </a:r>
          </a:p>
        </p:txBody>
      </p:sp>
      <p:cxnSp>
        <p:nvCxnSpPr>
          <p:cNvPr id="18" name="Connector 17"/>
          <p:cNvCxnSpPr/>
          <p:nvPr/>
        </p:nvCxnSpPr>
        <p:spPr>
          <a:xfrm>
            <a:off x="2057400" y="2522372"/>
            <a:ext cx="1692755" cy="0"/>
          </a:xfrm>
          <a:prstGeom prst="line">
            <a:avLst/>
          </a:prstGeom>
          <a:ln w="28575">
            <a:solidFill>
              <a:srgbClr val="13294B"/>
            </a:solidFill>
            <a:tailEnd type="triangle" w="med" len="med"/>
          </a:ln>
        </p:spPr>
      </p:cxnSp>
      <p:sp>
        <p:nvSpPr>
          <p:cNvPr id="19" name="Rounded Rectangle 18"/>
          <p:cNvSpPr/>
          <p:nvPr/>
        </p:nvSpPr>
        <p:spPr>
          <a:xfrm>
            <a:off x="2620567" y="2156612"/>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620567" y="2156612"/>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연다</a:t>
            </a:r>
          </a:p>
        </p:txBody>
      </p:sp>
      <p:cxnSp>
        <p:nvCxnSpPr>
          <p:cNvPr id="21" name="Connector 20"/>
          <p:cNvCxnSpPr/>
          <p:nvPr/>
        </p:nvCxnSpPr>
        <p:spPr>
          <a:xfrm flipV="1">
            <a:off x="4554827" y="3327044"/>
            <a:ext cx="0" cy="1356055"/>
          </a:xfrm>
          <a:prstGeom prst="line">
            <a:avLst/>
          </a:prstGeom>
          <a:ln w="28575">
            <a:solidFill>
              <a:srgbClr val="13294B"/>
            </a:solidFill>
            <a:tailEnd type="triangle" w="med" len="med"/>
          </a:ln>
        </p:spPr>
      </p:cxnSp>
      <p:sp>
        <p:nvSpPr>
          <p:cNvPr id="22" name="Rounded Rectangle 21"/>
          <p:cNvSpPr/>
          <p:nvPr/>
        </p:nvSpPr>
        <p:spPr>
          <a:xfrm>
            <a:off x="4646267" y="3858768"/>
            <a:ext cx="14865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4646267" y="3858768"/>
            <a:ext cx="14865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인스턴스를 만든다</a:t>
            </a:r>
          </a:p>
        </p:txBody>
      </p:sp>
      <p:cxnSp>
        <p:nvCxnSpPr>
          <p:cNvPr id="24" name="Connector 23"/>
          <p:cNvCxnSpPr/>
          <p:nvPr/>
        </p:nvCxnSpPr>
        <p:spPr>
          <a:xfrm>
            <a:off x="5332067" y="2522372"/>
            <a:ext cx="1692756" cy="0"/>
          </a:xfrm>
          <a:prstGeom prst="line">
            <a:avLst/>
          </a:prstGeom>
          <a:ln w="28575">
            <a:solidFill>
              <a:srgbClr val="13294B"/>
            </a:solidFill>
            <a:tailEnd type="triangle" w="med" len="med"/>
          </a:ln>
        </p:spPr>
      </p:cxnSp>
      <p:sp>
        <p:nvSpPr>
          <p:cNvPr id="25" name="Rounded Rectangle 24"/>
          <p:cNvSpPr/>
          <p:nvPr/>
        </p:nvSpPr>
        <p:spPr>
          <a:xfrm>
            <a:off x="5654252" y="215661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654252" y="215661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차례로 연다</a:t>
            </a:r>
          </a:p>
        </p:txBody>
      </p:sp>
      <p:cxnSp>
        <p:nvCxnSpPr>
          <p:cNvPr id="27" name="Connector 26"/>
          <p:cNvCxnSpPr/>
          <p:nvPr/>
        </p:nvCxnSpPr>
        <p:spPr>
          <a:xfrm>
            <a:off x="7829495" y="3299612"/>
            <a:ext cx="0" cy="1356055"/>
          </a:xfrm>
          <a:prstGeom prst="line">
            <a:avLst/>
          </a:prstGeom>
          <a:ln w="28575">
            <a:solidFill>
              <a:srgbClr val="13294B"/>
            </a:solidFill>
            <a:tailEnd type="triangle" w="med" len="med"/>
          </a:ln>
        </p:spPr>
      </p:cxnSp>
      <p:sp>
        <p:nvSpPr>
          <p:cNvPr id="28" name="Rounded Rectangle 27"/>
          <p:cNvSpPr/>
          <p:nvPr/>
        </p:nvSpPr>
        <p:spPr>
          <a:xfrm>
            <a:off x="792093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92093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출력을 남긴다</a:t>
            </a:r>
          </a:p>
        </p:txBody>
      </p:sp>
      <p:cxnSp>
        <p:nvCxnSpPr>
          <p:cNvPr id="30" name="Connector 29"/>
          <p:cNvCxnSpPr/>
          <p:nvPr/>
        </p:nvCxnSpPr>
        <p:spPr>
          <a:xfrm>
            <a:off x="8606735" y="2522372"/>
            <a:ext cx="1500128" cy="0"/>
          </a:xfrm>
          <a:prstGeom prst="line">
            <a:avLst/>
          </a:prstGeom>
          <a:ln w="28575">
            <a:solidFill>
              <a:srgbClr val="13294B"/>
            </a:solidFill>
            <a:tailEnd type="triangle" w="med" len="med"/>
          </a:ln>
        </p:spPr>
      </p:cxnSp>
      <p:sp>
        <p:nvSpPr>
          <p:cNvPr id="31" name="Rounded Rectangle 30"/>
          <p:cNvSpPr/>
          <p:nvPr/>
        </p:nvSpPr>
        <p:spPr>
          <a:xfrm>
            <a:off x="8759581" y="2156612"/>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8759581" y="2156612"/>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결말을 적는다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ERP</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PM</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패턴</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재주문점</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모니터링</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Monitoring</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단계의 시각과 결과를 읽는 일</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병목</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Bottleneck</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 단계, 재관측</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사이클 타임</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Cycle Time</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146초, 60초, 58초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거절률</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Rejection Rate</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처리 건을 요약하는 지표</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병목을 판단하는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추천안이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상태와 끝 이벤트는 결말을 알려 준다. 어디서 시간이 걸렸는지는 단계의 시각이 알려 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