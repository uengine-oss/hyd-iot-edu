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에이전트가 도구를 부르며 일하는 모습을 보았습니다. 오늘은 그 에이전트가 일하는 방법을 어디에 적어 두는지, 도구는 어떻게 연결되는지, 연결할 때 무엇을 지켜야 하는지를 차례로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에이전트의 실행 고리에서 시작하겠습니다. HYD-01의 쿨러 성능 저하 경보가 오면 에이전트는 도구를 불러 지식 그래프와 시계열 DB와 업무 DB에서 근거를 얻고, 돌아온 결과를 보고 다음 호출을 정합니다. 이 반복의 끝에 추천 하나와 대안을 담은 추천안이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달라진 것은 에이전트 위에 놓인 문서 하나입니다.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스킬이 실제로 놓이는 자리입니다. 에이전트는 실행마다 작업 폴더 하나를 받고, 그 안에 이번 일의 입력과 배정된 스킬과 결과를 쓸 자리가 있습니다. 쿨러 경보의 실행 기록은 「배정된 스킬 1개를 작업 폴더에 넣고 실행합니다」라는 줄로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두 항목은 하는 일이 다릅니다. name은 스킬을 가리키는 식별자여서 쓸 수 있는 글자가 정해져 있고 폴더 이름과 같아야 합니다. description은 이 스킬을 언제 쓰는지를 알려 주는 한 줄이며, 스킬의 호출 조건이 이 자리에 적힙니다. 그래서 설명이 모호하면 스킬이 엉뚱한 일에 쓰이거나 필요한 일에 쓰이지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지침이 실제로 쓰이는 장면입니다. 진단 도구의 응답에는 withheld라는 항목이 있습니다. 이 값이 false이면 원인 1순위가 정해져 다음 단계로 넘어갑니다. true이면 근거를 확인하지 못했다는 뜻이고, 스킬은 이때 원인을 지어내지 말고 보류로 내라고 적어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결과 절에 적힌 다섯 항목이 출력의 최상위 항목과 하나씩 맞습니다. 항목의 이름이 정해져 있어서 사람에게 승인을 받는 다음 단계가 실행마다 같은 이름으로 값을 읽습니다. 추천 값 skill:sop-cool-11은 팬 최대 운전을 가리키는 식별자입니다.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스킬의 절차와 실제 실행 기록을 나란히 놓았습니다. 에이전트는 11시 13분 14초에 스킬을 읽었고, 4초 뒤에 diagnose를, 이어서 evaluate_cards와 submit_decision을 불렀습니다. 절차의 2단계와 4단계와 5단계에 적힌 순서 그대로입니다. 도구마다 걸린 시간도 기록에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사건 안에 절차가 둘 쓰였습니다. 왼쪽 구간에서는 에이전트가 스킬을 읽고 조회와 계산을 해서 추천안을 냈습니다. 운전원이 팬 최대 운전을 승인한 뒤의 오른쪽 구간에서는 SOP-COOL-11이 설비에 할 일, 곧 팬 속도를 100 %로 올리는 작업을 정했습니다. 두 절차가 쓰인 때는 사람의 승인을 사이에 두고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 때문에 헷갈리기 쉬운 것을 하나 정리합니다. 3일차에 본 조치 방법의 클래스 이름이 Skill이었고, 방금 출력에서 본 skill:sop-cool-11이 그 식별자입니다. 이것은 SOP 한 편을 지식 그래프에 옮긴 노드입니다. 에이전트 스킬은 에이전트가 읽는 지침 파일이어서 이름만 같고 대상이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원문에는 HYD-01도, 쿨러 핀 오염도, SOP-COOL-11도 적혀 있지 않았습니다. 설비와 경보 번호는 입력 파일에서 읽고, 원인과 조치 후보는 도구가 지식 그래프에서 읽어 주며, 냉각 효율과 납기 같은 값은 도구가 조회 시점에 가져옵니다. 스킬에 남는 것은 방법뿐이어서, 설비나 경보가 달라져도 같은 스킬이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재사용이 실제로 일어난 모습입니다. 왼쪽의 스킬 한 편이 번호가 다른 두 쿨러 경보에 쓰였습니다. 두 실행은 같은 절차를 따랐고 저마다 판단 하나씩을 제출했습니다. 다음 경보가 와도 같은 스킬이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방법을 프롬프트에 직접 적어 줄 수도 있습니다. 다만 프롬프트는 그 실행 한 번에 쓰이고 끝나며, 다음에 같은 일을 시키려면 다시 써야 합니다. 스킬은 이름으로 보관되어 여러 에이전트와 여러 실행에 붙고, 한곳을 고치면 모두에 반영됩니다. 가르는 기준은 이 일을 다음에도 같은 방법으로 해야 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HYD에는 스킬이 셋 있습니다. 쿨러 과열 경보, 정기 정비 도래, 예비품 재고 기준 이탈을 각각 맡습니다. 세 파일 모두 머리말과 절차와 결과로 이루어져 틀이 같고, 사실을 확인하는 단계에서 부르는 도구가 업무에 맞게 다릅니다. 새 업무를 맡길 때도 같은 틀에 그 업무의 절차를 적으면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스킬을 직접 쓸 때 지킬 것을 넷으로 줄였습니다. description에는 어떤 요청에 쓰는 스킬인지를 한 줄로 밝힙니다. 절차의 도구 이름은 실제 도구 목록에서 그대로 옮겨 적습니다. 근거가 없을 때 지어내지 않도록 행동을 정해 두고, 결과 항목의 이름은 다음 단계가 읽는 이름이므로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냉각 긴급 대응 에이전트의 정의를 세 칸으로 보겠습니다. 목표는 무엇을 이룰지를, 스킬은 어떻게 할지를, 도구는 무엇으로 할지를 정합니다. 스킬은 만들어 두기만 해서는 쓰이지 않고 에이전트에 붙여야 실행에 들어갑니다. 스킬의 절차가 부르는 도구는 셋째 칸의 연결이 있어야 실제로 실행됩니다.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 등록된 MCP 서버는 다섯입니다. neo4j는 지식 그래프를, hyd-dmn은 판단 엔진과 시계열 DB를, enterprise는 업무 DB를 맡습니다. 업무 DB 쪽은 전체를 내주는 서버 하나와 정비 쪽, 구매 쪽만 내주는 서버가 따로 있습니다. 쿨러 경보를 맡은 에이전트가 쓴 것은 위의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목록을 굳이 연결할 때마다 묻는 데에는 이유가 있습니다. 도구를 호스트에 미리 적어 두면 서버가 바뀔 때마다 호스트도 고쳐야 합니다. 연결할 때 서버에 물으면 서버가 지금 내주는 도구를 그대로 받으므로 호스트는 고치지 않아도 됩니다. 처음 보는 서버를 붙일 수 있는 것도 이 절차 덕분입니다.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경보에서 에이전트가 실제로 낸 호출 요청입니다. 도구 이름 앞에 서버 이름이 붙어 mcp__hyd-dmn__diagnose가 됩니다. 이름이 같은 도구가 두 서버에 있어도 이 전체 이름으로 구분됩니다. 입력은 스키마가 정한 세 항목을 채운 JSON이고, 설비와 경보 유형과 경보 번호가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서버의 mes_orders를 HYD-01로 불렀을 때 돌아온 응답입니다. 맨 앞의 result가 성공 여부를 알리고, document 안에 읽은 시각과 값이 들어 있습니다. facts는 판단에 바로 쓰는 값이고 records는 업무 DB에서 읽은 원래의 행입니다. 납기 오더 MO-0930-0412가 5.98시간 남았다는 값이 여기서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번에 관여하는 넷의 몫을 나누어 보겠습니다. 모델이 하는 일은 어느 도구를 어떤 값으로 부르겠다는 요청을 내는 데까지입니다. 호스트가 그 요청을 받아 허용된 도구인지 확인하고, 클라이언트가 서버에 전달하며, 실행은 서버가 합니다. 모델과 실행 사이에 호스트가 있으므로 도구의 사용을 호스트에서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서버를 잇는 방식은 둘입니다. 왼쪽의 stdio는 호스트가 서버 프로그램을 하위 프로세스로 직접 띄우고, 표준 입력과 표준 출력으로 메시지를 주고받습니다. 서버가 호스트와 같은 PC에서 돕니다. 오른쪽의 Streamable HTTP는 서버가 먼저 떠 있고 클라이언트가 주소로 접속하는 방식이어서, 여러 클라이언트가 한 서버를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방식은 설정에서 바로 구별됩니다. neo4j 서버는 실행할 명령과 인자로 적혀 있습니다. 호스트가 이 명령으로 서버를 직접 띄우는 stdio 방식입니다. hyd-dmn 서버는 주소로 적혀 있고, 이미 떠 있는 서버에 접속하는 Streamable HTTP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가운데 하나가 빠진 경우를 보면 역할이 분명해집니다. 스킬만 있으면 절차에 적힌 도구를 부를 수 없어서 값을 받지 못합니다. 도구만 있으면 부를 수는 있지만 순서를 에이전트가 처음부터 정해야 합니다. 예를 들어 업무 DB 서버를 붙이지 않으면 스킬에 납기 오더를 확인하라고 적혀 있어도 그 값을 받지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경보 한 건의 실행 기록을 스킬의 단계에 맞추어 정리했습니다. 2단계의 diagnose는 hyd-dmn 서버가 실행해 원인 1순위를 돌려주었습니다. 3단계의 업무 DB 조회는 enterprise 서버가 맡아 납기 오더와 출하 대기 로트를 돌려주었습니다. 4단계와 5단계는 다시 hyd-dmn 서버가 실행했고, 마지막에 판단 번호가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용어를 호출 한 번의 길 위에 놓았습니다. 모델이 스킬의 한 줄을 읽고 호출 요청을 내면, 클라이언트가 tools/call로 서버에 전달합니다. 서버는 뒤의 시스템에서 값을 읽어 응답을 만들고, 그 응답이 같은 길을 거슬러 모델에게 돌아옵니다. 스킬은 길의 맨 앞에서 방법을 정하고, MCP는 그 뒤의 길 전체를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직접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주는 허용 목록의 실제 내용입니다. 지식 그래프 쪽은 조회 도구 둘의 이름만 올라 있습니다. 별표는 그 서버의 도구 전부를 뜻하며, 미리 검사해 둔 기준 서버에만 씁니다. 학생이 새로 등록한 서버는 별표를 쓰지 않고 읽기로 인정된 도구의 이름만 하나씩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hyd-dmn의 도구 가운데 하나뿐인 쓰기가 submit_decision이었습니다. 이 도구가 쓰는 것은 사람이 고를 추천안이고 설비는 건드리지 않습니다. 설비 명령은 담당자가 승인한 뒤에 시스템이 만들고, 작업지시와 메일도 승인 뒤의 시스템 단계가 맡습니다. 메일을 보내는 send_mail은 에이전트에 아예 연결하지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 도구라도 필요 이상으로 줄 이유는 없습니다. 맡은 일에 필요한 권한만 준다는 것이 최소 권한 원칙, Principle of Least Privilege입니다. 정기 정비를 계획하는 에이전트에게는 정비 쪽 도구 넷만 내주는 서버를, 예비품 구매를 맡은 에이전트에게는 구매 쪽 도구 셋만 내주는 서버를 연결합니다. 두 서버의 도구는 서로 겹치지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파일을 읽고 쓰는 도구에는 범위를 정해 줍니다. HYD의 에이전트는 실행마다 작업 폴더 하나를 받고, 그 폴더 밖의 파일은 읽거나 고치지 말라는 지시를 받습니다. 홈 디렉터리를 찾아보지 말라는 지시도 따로 있습니다. 결과를 쓰는 자리도 output/result.json 하나로 정해져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서비스에 연결하려면 토큰 같은 인증 비밀값이 필요합니다. 비밀값을 설정에 그대로 적으면 설정을 보는 모든 사람에게 드러납니다. 그래서 설정에는 값이 들어갈 자리와 이름만 적은 자리표시자를 두고, 실제 값은 보관소에 따로 둡니다. 값은 실행 직전에만 채워지고, 화면과 기록에는 가린 값만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자리표시자가 실제 설정에 들어간 모습입니다. 인증 머리말의 토큰 자리에 값 대신 자리표시자가 있습니다. 값이 준비되지 않았으면 빈 토큰으로 연결을 시도하지 않고 그 서버를 실행에서 뺍니다. 화면에서는 비밀번호가 별표로 가려지고, 접속 정보가 든 환경변수는 에이전트를 띄우기 전에 지워서 에이전트가 읽지 못하게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도구의 응답이 언제나 온전하게 돌아오는 것은 아닙니다. 쿨러 경보의 한 실행에서 조치 후보를 비교한 응답이 128,466자였고, 너무 커서 본문이 에이전트에게 전달되지 않았습니다. 에이전트는 필요한 항목만 좁혀 다시 조회했고, 열어 보지 못한 출력이 있다는 사실을 마지막 보고에 적었습니다. 받은 만큼만 근거로 쓰고 받지 못한 범위를 밝히는 것이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응답의 네 가지 경우를 구분합니다. 조회가 성공했는데 결과가 0행이면 「없음」이 사실입니다. 호출이 실패했거나 정해진 시간을 넘겼으면 값이 있는지 없는지를 알 수 없으므로 실패로 적어야 합니다. 실패를 0이나 빈 값으로 바꾸면 재고가 없다는 틀린 사실이 판단에 들어갑니다. 응답이 잘렸을 때는 읽지 못한 범위를 밝힙니다.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도구에서 받은 값을 판단에 쓰려면 그 값이 어디서 왔는지를 남겨야 합니다. 호출 기록 한 줄에는 시각과 걸린 시간, 서버와 도구의 이름, 넘긴 입력과 돌아온 원문이 남습니다. 응답 안의 값에는 원천과 관측 시각 같은 출처가 따로 붙습니다. 이 기록이 있어서 사람은 추천을 승인하기 전에 근거를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포털에서 쓰는 MCP와 내 PC의 Claude Code에서 쓰는 MCP는 규약이 같고 운영 방식이 다릅니다. 포털은 여러 사람이 함께 쓰므로 등록과 연결 검사를 거치고 읽기 도구만 허용합니다. 로컬에서는 설정 파일에 서버를 적고, 도구를 쓸 때 사용자가 직접 허용합니다. 로컬에서는 안전 기준을 지키는 일이 사용자 자신의 몫이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기준을 넷으로 묶었습니다. 권한은 읽기와 쓰기를 가르고 필요한 서버만 연결하는 것입니다. 파일 범위는 작업 폴더 하나로, 비밀값은 자리표시자와 가림으로 지킵니다. 응답은 없음과 실패와 잘림을 구분하고 값의 출처를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실습은 HYD 포털에서 진행합니다. 업무 DB와 판단 도구 서버의 등록 상태를 확인하고, 직접 등록한 서버는 연결 검사를 거친 뒤 읽기 도구를 불러 봅니다. 도구 이름과 입력 값과 반환된 행을 확인하고, 호출 기록이 남는 것을 본 다음 기존 에이전트에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Code의 Claude Code에서 진행합니다. 준비된 파일시스템, Git, 시간 서버를 각각 연결하고 접근 권한을 서버별로 정합니다. 서버마다 도구 목록과 호출 결과를 견준 뒤, 세 서버의 도구를 한 요청에서 이어 부릅니다. 포털과 로컬에서 연결 방식이 어떻게 다른지도 이 실습에서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담당자나 기한이 적혀 있지 않은 항목은 지어내지 않고 미정으로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대화형 학습 코치를 만듭니다. Notion에서 내보낸 학습 노트나 제공된 매뉴얼에서 문항을 만들고, 학생의 답을 받아 정답과 출처를 붙여 되짚어 준 뒤 다음 문항으로 넘어갑니다. 텍스트 파일을 읽는 방식으로 끝까지 완주하는 것이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여섯 개와 함께 호스트, 클라이언트, 서버, 도구, 입력 스키마, 허용 목록, 자리표시자가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것을 구분하는 문항입니다. 응답이 알려 준 사실이 무엇이고 알려 주지 않은 사실이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1번과 3번은 스킬을 고치는 일이어서 빠진 연결을 채우지 못합니다. 둘째 문항의 1번은 실패를 값 없음으로 바꾼 것입니다.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 Id="rId6" Type="http://schemas.openxmlformats.org/officeDocument/2006/relationships/image" Target="../media/image28.png"/><Relationship Id="rId7"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9.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8.png"/><Relationship Id="rId4" Type="http://schemas.openxmlformats.org/officeDocument/2006/relationships/image" Target="../media/image44.png"/><Relationship Id="rId5" Type="http://schemas.openxmlformats.org/officeDocument/2006/relationships/image" Target="../media/image49.png"/><Relationship Id="rId6"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0.png"/><Relationship Id="rId4" Type="http://schemas.openxmlformats.org/officeDocument/2006/relationships/image" Target="../media/image25.png"/><Relationship Id="rId5" Type="http://schemas.openxmlformats.org/officeDocument/2006/relationships/image" Target="../media/image5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52.png"/><Relationship Id="rId5" Type="http://schemas.openxmlformats.org/officeDocument/2006/relationships/image" Target="../media/image5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2.png"/><Relationship Id="rId4" Type="http://schemas.openxmlformats.org/officeDocument/2006/relationships/image" Target="../media/image39.png"/><Relationship Id="rId5" Type="http://schemas.openxmlformats.org/officeDocument/2006/relationships/image" Target="../media/image54.png"/><Relationship Id="rId6"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6일차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재사용하는 업무 능력과</a:t>
            </a:r>
          </a:p>
          <a:p>
            <a:pPr algn="l">
              <a:lnSpc>
                <a:spcPct val="110000"/>
              </a:lnSpc>
            </a:pPr>
            <a:r>
              <a:rPr sz="4000" b="1">
                <a:solidFill>
                  <a:srgbClr val="FFFFFF"/>
                </a:solidFill>
                <a:latin typeface="맑은 고딕"/>
                <a:ea typeface="맑은 고딕"/>
                <a:cs typeface="맑은 고딕"/>
              </a:rPr>
              <a:t>외부 시스템의 연결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 스킬, 도구를 잇는 표준, 연결의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일하는 방법을 지침으로 남기고, 그 지침이 부르는 도구를 안전하게 연결하는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파일의 머리말과 절차, 결과가 맡는 일을 원문에서 짚는다</a:t>
            </a:r>
          </a:p>
          <a:p>
            <a:pPr algn="l">
              <a:lnSpc>
                <a:spcPct val="110000"/>
              </a:lnSpc>
              <a:spcAft>
                <a:spcPts val="400"/>
              </a:spcAft>
            </a:pPr>
            <a:r>
              <a:rPr sz="1350" b="0">
                <a:solidFill>
                  <a:srgbClr val="1F2A3A"/>
                </a:solidFill>
                <a:latin typeface="맑은 고딕"/>
                <a:ea typeface="맑은 고딕"/>
                <a:cs typeface="맑은 고딕"/>
              </a:rPr>
              <a:t>• 현장의 SOP, 한 번의 프롬프트와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연결</a:t>
            </a:r>
          </a:p>
          <a:p>
            <a:pPr algn="l">
              <a:lnSpc>
                <a:spcPct val="110000"/>
              </a:lnSpc>
              <a:spcAft>
                <a:spcPts val="400"/>
              </a:spcAft>
            </a:pPr>
            <a:r>
              <a:rPr sz="1350" b="0">
                <a:solidFill>
                  <a:srgbClr val="1F2A3A"/>
                </a:solidFill>
                <a:latin typeface="맑은 고딕"/>
                <a:ea typeface="맑은 고딕"/>
                <a:cs typeface="맑은 고딕"/>
              </a:rPr>
              <a:t>• 호스트와 클라이언트, 서버와 도구의 관계를 설명한다</a:t>
            </a:r>
          </a:p>
          <a:p>
            <a:pPr algn="l">
              <a:lnSpc>
                <a:spcPct val="110000"/>
              </a:lnSpc>
              <a:spcAft>
                <a:spcPts val="400"/>
              </a:spcAft>
            </a:pPr>
            <a:r>
              <a:rPr sz="1350" b="0">
                <a:solidFill>
                  <a:srgbClr val="1F2A3A"/>
                </a:solidFill>
                <a:latin typeface="맑은 고딕"/>
                <a:ea typeface="맑은 고딕"/>
                <a:cs typeface="맑은 고딕"/>
              </a:rPr>
              <a:t>• 도구 정의에서 입력 스키마와 응답을 읽는다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split" descr="arrows-spli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역할의 구분</a:t>
            </a:r>
          </a:p>
          <a:p>
            <a:pPr algn="l">
              <a:lnSpc>
                <a:spcPct val="110000"/>
              </a:lnSpc>
              <a:spcAft>
                <a:spcPts val="400"/>
              </a:spcAft>
            </a:pPr>
            <a:r>
              <a:rPr sz="1350" b="0">
                <a:solidFill>
                  <a:srgbClr val="1F2A3A"/>
                </a:solidFill>
                <a:latin typeface="맑은 고딕"/>
                <a:ea typeface="맑은 고딕"/>
                <a:cs typeface="맑은 고딕"/>
              </a:rPr>
              <a:t>수행 방법을 적는 스킬과 실행을 맡는 도구를 가른다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안전 기준</a:t>
            </a:r>
          </a:p>
          <a:p>
            <a:pPr algn="l">
              <a:lnSpc>
                <a:spcPct val="110000"/>
              </a:lnSpc>
              <a:spcAft>
                <a:spcPts val="400"/>
              </a:spcAft>
            </a:pPr>
            <a:r>
              <a:rPr sz="1350" b="0">
                <a:solidFill>
                  <a:srgbClr val="1F2A3A"/>
                </a:solidFill>
                <a:latin typeface="맑은 고딕"/>
                <a:ea typeface="맑은 고딕"/>
                <a:cs typeface="맑은 고딕"/>
              </a:rPr>
              <a:t>읽기와 쓰기 권한, 파일 범위, 비밀값, 실패 처리로 연결을 점검한다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 재사용하는 업무 수행 지침</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MCP: 에이전트와 외부 시스템을 잇는 표준</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도구 연결의 안전 기준</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a:t>
            </a:r>
          </a:p>
          <a:p>
            <a:pPr algn="l">
              <a:lnSpc>
                <a:spcPct val="110000"/>
              </a:lnSpc>
            </a:pPr>
            <a:r>
              <a:rPr sz="3400" b="1">
                <a:solidFill>
                  <a:srgbClr val="13294B"/>
                </a:solidFill>
                <a:latin typeface="맑은 고딕"/>
                <a:ea typeface="맑은 고딕"/>
                <a:cs typeface="맑은 고딕"/>
              </a:rPr>
              <a:t>재사용하는 업무 수행 지침</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순서와 결과의 모양을 지침으로 정해 두는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시간의 도달점: 도구를 부르며 일하는 에이전트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목표를 받아 도구를 부르고, 돌아온 결과를 보고 다음 행동을 정하기를 목표에 닿을 때까지 되풀이한다.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고리_0.svg" descr="illust_6034218235771077890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38402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a:p>
            <a:pPr algn="ctr">
              <a:lnSpc>
                <a:spcPct val="110000"/>
              </a:lnSpc>
              <a:spcAft>
                <a:spcPts val="100"/>
              </a:spcAft>
            </a:pPr>
            <a:r>
              <a:rPr sz="1300" b="0">
                <a:solidFill>
                  <a:srgbClr val="556175"/>
                </a:solidFill>
                <a:latin typeface="맑은 고딕"/>
                <a:ea typeface="맑은 고딕"/>
                <a:cs typeface="맑은 고딕"/>
              </a:rPr>
              <a:t>원인과 조치의 관계</a:t>
            </a:r>
          </a:p>
        </p:txBody>
      </p:sp>
      <p:sp>
        <p:nvSpPr>
          <p:cNvPr id="12" name="TextBox 11"/>
          <p:cNvSpPr txBox="1"/>
          <p:nvPr/>
        </p:nvSpPr>
        <p:spPr>
          <a:xfrm>
            <a:off x="9532338" y="375498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유온 같은 측정값</a:t>
            </a:r>
          </a:p>
        </p:txBody>
      </p:sp>
      <p:sp>
        <p:nvSpPr>
          <p:cNvPr id="13" name="TextBox 12"/>
          <p:cNvSpPr txBox="1"/>
          <p:nvPr/>
        </p:nvSpPr>
        <p:spPr>
          <a:xfrm>
            <a:off x="9532338" y="512594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오더와 재고</a:t>
            </a:r>
          </a:p>
        </p:txBody>
      </p:sp>
      <p:sp>
        <p:nvSpPr>
          <p:cNvPr id="14" name="TextBox 13"/>
          <p:cNvSpPr txBox="1"/>
          <p:nvPr/>
        </p:nvSpPr>
        <p:spPr>
          <a:xfrm>
            <a:off x="5004898" y="545686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고리_1.svg" descr="illust_113574555184025375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놓이는 자리: 작업 폴더의 스킬 폴더</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이름과 같은 폴더에 든 SKILL.md 한 파일이며, 실행이 시작될 때 에이전트의 작업 폴더에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작업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폴더</a:t>
            </a:r>
          </a:p>
          <a:p>
            <a:pPr algn="l">
              <a:lnSpc>
                <a:spcPct val="110000"/>
              </a:lnSpc>
              <a:spcAft>
                <a:spcPts val="200"/>
              </a:spcAft>
            </a:pPr>
            <a:r>
              <a:rPr sz="1300" b="0">
                <a:solidFill>
                  <a:srgbClr val="E8EEF6"/>
                </a:solidFill>
                <a:latin typeface="Consolas"/>
                <a:ea typeface="맑은 고딕"/>
                <a:cs typeface="맑은 고딕"/>
              </a:rPr>
              <a:t>  context/</a:t>
            </a:r>
          </a:p>
          <a:p>
            <a:pPr algn="l">
              <a:lnSpc>
                <a:spcPct val="110000"/>
              </a:lnSpc>
              <a:spcAft>
                <a:spcPts val="200"/>
              </a:spcAft>
            </a:pPr>
            <a:r>
              <a:rPr sz="1300" b="0">
                <a:solidFill>
                  <a:srgbClr val="E8EEF6"/>
                </a:solidFill>
                <a:latin typeface="Consolas"/>
                <a:ea typeface="맑은 고딕"/>
                <a:cs typeface="맑은 고딕"/>
              </a:rPr>
              <a:t>    task.json</a:t>
            </a:r>
          </a:p>
          <a:p>
            <a:pPr algn="l">
              <a:lnSpc>
                <a:spcPct val="110000"/>
              </a:lnSpc>
              <a:spcAft>
                <a:spcPts val="200"/>
              </a:spcAft>
            </a:pPr>
            <a:r>
              <a:rPr sz="1300" b="0">
                <a:solidFill>
                  <a:srgbClr val="E8EEF6"/>
                </a:solidFill>
                <a:latin typeface="Consolas"/>
                <a:ea typeface="맑은 고딕"/>
                <a:cs typeface="맑은 고딕"/>
              </a:rPr>
              <a:t>  .claude/skills/</a:t>
            </a:r>
          </a:p>
          <a:p>
            <a:pPr algn="l">
              <a:lnSpc>
                <a:spcPct val="110000"/>
              </a:lnSpc>
              <a:spcAft>
                <a:spcPts val="200"/>
              </a:spcAft>
            </a:pPr>
            <a:r>
              <a:rPr sz="1300" b="0">
                <a:solidFill>
                  <a:srgbClr val="E8EEF6"/>
                </a:solidFill>
                <a:latin typeface="Consolas"/>
                <a:ea typeface="맑은 고딕"/>
                <a:cs typeface="맑은 고딕"/>
              </a:rPr>
              <a:t>    cooling-emergency-response/</a:t>
            </a:r>
          </a:p>
          <a:p>
            <a:pPr algn="l">
              <a:lnSpc>
                <a:spcPct val="110000"/>
              </a:lnSpc>
              <a:spcAft>
                <a:spcPts val="200"/>
              </a:spcAft>
            </a:pPr>
            <a:r>
              <a:rPr sz="1300" b="0">
                <a:solidFill>
                  <a:srgbClr val="E8EEF6"/>
                </a:solidFill>
                <a:latin typeface="Consolas"/>
                <a:ea typeface="맑은 고딕"/>
                <a:cs typeface="맑은 고딕"/>
              </a:rPr>
              <a:t>      SKILL.md</a:t>
            </a:r>
          </a:p>
          <a:p>
            <a:pPr algn="l">
              <a:lnSpc>
                <a:spcPct val="110000"/>
              </a:lnSpc>
              <a:spcAft>
                <a:spcPts val="200"/>
              </a:spcAft>
            </a:pPr>
            <a:r>
              <a:rPr sz="1300" b="0">
                <a:solidFill>
                  <a:srgbClr val="E8EEF6"/>
                </a:solidFill>
                <a:latin typeface="Consolas"/>
                <a:ea typeface="맑은 고딕"/>
                <a:cs typeface="맑은 고딕"/>
              </a:rPr>
              <a:t>  output/</a:t>
            </a:r>
          </a:p>
          <a:p>
            <a:pPr algn="l">
              <a:lnSpc>
                <a:spcPct val="110000"/>
              </a:lnSpc>
              <a:spcAft>
                <a:spcPts val="200"/>
              </a:spcAft>
            </a:pPr>
            <a:r>
              <a:rPr sz="1300" b="0">
                <a:solidFill>
                  <a:srgbClr val="E8EEF6"/>
                </a:solidFill>
                <a:latin typeface="Consolas"/>
                <a:ea typeface="맑은 고딕"/>
                <a:cs typeface="맑은 고딕"/>
              </a:rPr>
              <a:t>    result.json</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작업 폴더</a:t>
            </a:r>
          </a:p>
          <a:p>
            <a:pPr algn="l">
              <a:lnSpc>
                <a:spcPct val="110000"/>
              </a:lnSpc>
              <a:spcAft>
                <a:spcPts val="400"/>
              </a:spcAft>
            </a:pPr>
            <a:r>
              <a:rPr sz="1400" b="0">
                <a:solidFill>
                  <a:srgbClr val="1F2A3A"/>
                </a:solidFill>
                <a:latin typeface="맑은 고딕"/>
                <a:ea typeface="맑은 고딕"/>
                <a:cs typeface="맑은 고딕"/>
              </a:rPr>
              <a:t>에이전트가 한 번의 실행 동안 쓰는 전용 폴더이다.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context/task.json</a:t>
            </a:r>
          </a:p>
          <a:p>
            <a:pPr algn="l">
              <a:lnSpc>
                <a:spcPct val="110000"/>
              </a:lnSpc>
              <a:spcAft>
                <a:spcPts val="400"/>
              </a:spcAft>
            </a:pPr>
            <a:r>
              <a:rPr sz="1400" b="0">
                <a:solidFill>
                  <a:srgbClr val="1F2A3A"/>
                </a:solidFill>
                <a:latin typeface="맑은 고딕"/>
                <a:ea typeface="맑은 고딕"/>
                <a:cs typeface="맑은 고딕"/>
              </a:rPr>
              <a:t>이번에 맡은 일의 입력이 들어 있다.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스킬 폴더</a:t>
            </a:r>
          </a:p>
          <a:p>
            <a:pPr algn="l">
              <a:lnSpc>
                <a:spcPct val="110000"/>
              </a:lnSpc>
              <a:spcAft>
                <a:spcPts val="400"/>
              </a:spcAft>
            </a:pPr>
            <a:r>
              <a:rPr sz="1400" b="0">
                <a:solidFill>
                  <a:srgbClr val="1F2A3A"/>
                </a:solidFill>
                <a:latin typeface="맑은 고딕"/>
                <a:ea typeface="맑은 고딕"/>
                <a:cs typeface="맑은 고딕"/>
              </a:rPr>
              <a:t>배정된 스킬이 폴더째 놓인다. 폴더 이름이 곧 스킬 이름이다.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output/result.json</a:t>
            </a:r>
          </a:p>
          <a:p>
            <a:pPr algn="l">
              <a:lnSpc>
                <a:spcPct val="110000"/>
              </a:lnSpc>
              <a:spcAft>
                <a:spcPts val="400"/>
              </a:spcAft>
            </a:pPr>
            <a:r>
              <a:rPr sz="1400" b="0">
                <a:solidFill>
                  <a:srgbClr val="1F2A3A"/>
                </a:solidFill>
                <a:latin typeface="맑은 고딕"/>
                <a:ea typeface="맑은 고딕"/>
                <a:cs typeface="맑은 고딕"/>
              </a:rPr>
              <a:t>에이전트가 결과를 써 넣는 파일이다.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머리말의 name과 description: 스킬을 고르는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머리말의 설명을 보고 지금 맡은 일에 맞는 스킬인지를 가린 뒤에 본문을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name</a:t>
            </a:r>
          </a:p>
          <a:p>
            <a:pPr algn="l">
              <a:lnSpc>
                <a:spcPct val="110000"/>
              </a:lnSpc>
              <a:spcAft>
                <a:spcPts val="200"/>
              </a:spcAft>
            </a:pPr>
            <a:r>
              <a:rPr sz="1150" b="0">
                <a:solidFill>
                  <a:srgbClr val="556175"/>
                </a:solidFill>
                <a:latin typeface="맑은 고딕"/>
                <a:ea typeface="맑은 고딕"/>
                <a:cs typeface="맑은 고딕"/>
              </a:rPr>
              <a:t>스킬의 식별자</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영문 소문자, 숫자, 하이픈으로 쓰며 64자를 넘지 않는다.</a:t>
            </a:r>
          </a:p>
          <a:p>
            <a:pPr algn="l">
              <a:lnSpc>
                <a:spcPct val="110000"/>
              </a:lnSpc>
              <a:spcAft>
                <a:spcPts val="300"/>
              </a:spcAft>
            </a:pPr>
            <a:r>
              <a:rPr sz="1400" b="0">
                <a:solidFill>
                  <a:srgbClr val="1F2A3A"/>
                </a:solidFill>
                <a:latin typeface="맑은 고딕"/>
                <a:ea typeface="맑은 고딕"/>
                <a:cs typeface="맑은 고딕"/>
              </a:rPr>
              <a:t>스킬 폴더의 이름과 같아야 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description</a:t>
            </a:r>
          </a:p>
          <a:p>
            <a:pPr algn="l">
              <a:lnSpc>
                <a:spcPct val="110000"/>
              </a:lnSpc>
              <a:spcAft>
                <a:spcPts val="200"/>
              </a:spcAft>
            </a:pPr>
            <a:r>
              <a:rPr sz="1150" b="0">
                <a:solidFill>
                  <a:srgbClr val="556175"/>
                </a:solidFill>
                <a:latin typeface="맑은 고딕"/>
                <a:ea typeface="맑은 고딕"/>
                <a:cs typeface="맑은 고딕"/>
              </a:rPr>
              <a:t>호출 조건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요청에 이 스킬을 쓰는지를 적는 한 줄이다.</a:t>
            </a:r>
          </a:p>
          <a:p>
            <a:pPr algn="l">
              <a:lnSpc>
                <a:spcPct val="110000"/>
              </a:lnSpc>
              <a:spcAft>
                <a:spcPts val="300"/>
              </a:spcAft>
            </a:pPr>
            <a:r>
              <a:rPr sz="1400" b="0">
                <a:solidFill>
                  <a:srgbClr val="1F2A3A"/>
                </a:solidFill>
                <a:latin typeface="맑은 고딕"/>
                <a:ea typeface="맑은 고딕"/>
                <a:cs typeface="맑은 고딕"/>
              </a:rPr>
              <a:t>에이전트는 이 줄을 보고 스킬을 쓸지 정한 뒤 본문을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설명이 모호할 때</a:t>
            </a:r>
          </a:p>
          <a:p>
            <a:pPr algn="l">
              <a:lnSpc>
                <a:spcPct val="110000"/>
              </a:lnSpc>
              <a:spcAft>
                <a:spcPts val="200"/>
              </a:spcAft>
            </a:pPr>
            <a:r>
              <a:rPr sz="1150" b="0">
                <a:solidFill>
                  <a:srgbClr val="556175"/>
                </a:solidFill>
                <a:latin typeface="맑은 고딕"/>
                <a:ea typeface="맑은 고딕"/>
                <a:cs typeface="맑은 고딕"/>
              </a:rPr>
              <a:t>흔한 실수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맞는 일에 스킬이 쓰이지 않거나, 맞지 않는 일에 스킬이 쓰인다.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스킬문서.svg" descr="illust_398915029380414884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지침: 근거가 없을 때 지어내지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 도구가 근거를 확인하지 못했다고 답하면, 스킬은 원인을 고르지 말고 판단을 보류로 내라고 지시한다.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확인된 응답</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false이다</a:t>
            </a:r>
          </a:p>
          <a:p>
            <a:pPr algn="l">
              <a:lnSpc>
                <a:spcPct val="110000"/>
              </a:lnSpc>
              <a:spcAft>
                <a:spcPts val="600"/>
              </a:spcAft>
            </a:pPr>
            <a:r>
              <a:rPr sz="1450" b="0">
                <a:solidFill>
                  <a:srgbClr val="1F2A3A"/>
                </a:solidFill>
                <a:latin typeface="맑은 고딕"/>
                <a:ea typeface="맑은 고딕"/>
                <a:cs typeface="맑은 고딕"/>
              </a:rPr>
              <a:t>• 원인 1순위가 정해진다 — 쿨러 핀 오염</a:t>
            </a:r>
          </a:p>
          <a:p>
            <a:pPr algn="l">
              <a:lnSpc>
                <a:spcPct val="110000"/>
              </a:lnSpc>
              <a:spcAft>
                <a:spcPts val="600"/>
              </a:spcAft>
            </a:pPr>
            <a:r>
              <a:rPr sz="1450" b="0">
                <a:solidFill>
                  <a:srgbClr val="1F2A3A"/>
                </a:solidFill>
                <a:latin typeface="맑은 고딕"/>
                <a:ea typeface="맑은 고딕"/>
                <a:cs typeface="맑은 고딕"/>
              </a:rPr>
              <a:t>• 절차의 다음 단계로 넘어간다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진행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hand-stop" descr="hand-sto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확인되지 않은 응답</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true이다</a:t>
            </a:r>
          </a:p>
          <a:p>
            <a:pPr algn="l">
              <a:lnSpc>
                <a:spcPct val="110000"/>
              </a:lnSpc>
              <a:spcAft>
                <a:spcPts val="600"/>
              </a:spcAft>
            </a:pPr>
            <a:r>
              <a:rPr sz="1450" b="0">
                <a:solidFill>
                  <a:srgbClr val="1F2A3A"/>
                </a:solidFill>
                <a:latin typeface="맑은 고딕"/>
                <a:ea typeface="맑은 고딕"/>
                <a:cs typeface="맑은 고딕"/>
              </a:rPr>
              <a:t>• 값이 오래되었거나 증거가 원인과 맞지 않는다</a:t>
            </a:r>
          </a:p>
          <a:p>
            <a:pPr algn="l">
              <a:lnSpc>
                <a:spcPct val="110000"/>
              </a:lnSpc>
              <a:spcAft>
                <a:spcPts val="600"/>
              </a:spcAft>
            </a:pPr>
            <a:r>
              <a:rPr sz="1450" b="0">
                <a:solidFill>
                  <a:srgbClr val="1F2A3A"/>
                </a:solidFill>
                <a:latin typeface="맑은 고딕"/>
                <a:ea typeface="맑은 고딕"/>
                <a:cs typeface="맑은 고딕"/>
              </a:rPr>
              <a:t>• 원인을 고르지 않고 보류로 낸다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절차의 순서와 실제 호출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건의 실행 기록에는 스킬을 읽은 뒤 판단 도구를 절차의 순서대로 부른 과정이 시각과 함께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절차호출.svg" descr="illust_103389966943200792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17488" y="196800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SKILL.md의 절차</a:t>
            </a:r>
          </a:p>
          <a:p>
            <a:pPr algn="ctr">
              <a:lnSpc>
                <a:spcPct val="110000"/>
              </a:lnSpc>
              <a:spcAft>
                <a:spcPts val="100"/>
              </a:spcAft>
            </a:pPr>
            <a:r>
              <a:rPr sz="1300" b="0">
                <a:solidFill>
                  <a:srgbClr val="556175"/>
                </a:solidFill>
                <a:latin typeface="맑은 고딕"/>
                <a:ea typeface="맑은 고딕"/>
                <a:cs typeface="맑은 고딕"/>
              </a:rPr>
              <a:t>11:13:14에 읽음</a:t>
            </a:r>
          </a:p>
        </p:txBody>
      </p:sp>
      <p:sp>
        <p:nvSpPr>
          <p:cNvPr id="8" name="TextBox 7"/>
          <p:cNvSpPr txBox="1"/>
          <p:nvPr/>
        </p:nvSpPr>
        <p:spPr>
          <a:xfrm>
            <a:off x="6204942" y="1968008"/>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실행 기록</a:t>
            </a:r>
          </a:p>
          <a:p>
            <a:pPr algn="ctr">
              <a:lnSpc>
                <a:spcPct val="110000"/>
              </a:lnSpc>
              <a:spcAft>
                <a:spcPts val="100"/>
              </a:spcAft>
            </a:pPr>
            <a:r>
              <a:rPr sz="1300" b="0">
                <a:solidFill>
                  <a:srgbClr val="556175"/>
                </a:solidFill>
                <a:latin typeface="맑은 고딕"/>
                <a:ea typeface="맑은 고딕"/>
                <a:cs typeface="맑은 고딕"/>
              </a:rPr>
              <a:t>위에서 아래로 시간이 흐른다</a:t>
            </a:r>
          </a:p>
        </p:txBody>
      </p:sp>
      <p:sp>
        <p:nvSpPr>
          <p:cNvPr id="9" name="TextBox 8"/>
          <p:cNvSpPr txBox="1"/>
          <p:nvPr/>
        </p:nvSpPr>
        <p:spPr>
          <a:xfrm>
            <a:off x="6204942" y="2752764"/>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읽기</a:t>
            </a:r>
          </a:p>
          <a:p>
            <a:pPr algn="ctr">
              <a:lnSpc>
                <a:spcPct val="110000"/>
              </a:lnSpc>
              <a:spcAft>
                <a:spcPts val="100"/>
              </a:spcAft>
            </a:pPr>
            <a:r>
              <a:rPr sz="1300" b="0">
                <a:solidFill>
                  <a:srgbClr val="556175"/>
                </a:solidFill>
                <a:latin typeface="맑은 고딕"/>
                <a:ea typeface="맑은 고딕"/>
                <a:cs typeface="맑은 고딕"/>
              </a:rPr>
              <a:t>context/task.json</a:t>
            </a:r>
          </a:p>
        </p:txBody>
      </p:sp>
      <p:sp>
        <p:nvSpPr>
          <p:cNvPr id="10" name="TextBox 9"/>
          <p:cNvSpPr txBox="1"/>
          <p:nvPr/>
        </p:nvSpPr>
        <p:spPr>
          <a:xfrm>
            <a:off x="6204942" y="3438244"/>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diagnose</a:t>
            </a:r>
          </a:p>
          <a:p>
            <a:pPr algn="ctr">
              <a:lnSpc>
                <a:spcPct val="110000"/>
              </a:lnSpc>
              <a:spcAft>
                <a:spcPts val="100"/>
              </a:spcAft>
            </a:pPr>
            <a:r>
              <a:rPr sz="1300" b="0">
                <a:solidFill>
                  <a:srgbClr val="556175"/>
                </a:solidFill>
                <a:latin typeface="맑은 고딕"/>
                <a:ea typeface="맑은 고딕"/>
                <a:cs typeface="맑은 고딕"/>
              </a:rPr>
              <a:t>11:13:18 · 218 ms</a:t>
            </a:r>
          </a:p>
        </p:txBody>
      </p:sp>
      <p:sp>
        <p:nvSpPr>
          <p:cNvPr id="11" name="TextBox 10"/>
          <p:cNvSpPr txBox="1"/>
          <p:nvPr/>
        </p:nvSpPr>
        <p:spPr>
          <a:xfrm>
            <a:off x="6204942" y="4118997"/>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 조회</a:t>
            </a:r>
          </a:p>
          <a:p>
            <a:pPr algn="ctr">
              <a:lnSpc>
                <a:spcPct val="110000"/>
              </a:lnSpc>
              <a:spcAft>
                <a:spcPts val="100"/>
              </a:spcAft>
            </a:pPr>
            <a:r>
              <a:rPr sz="1300" b="0">
                <a:solidFill>
                  <a:srgbClr val="556175"/>
                </a:solidFill>
                <a:latin typeface="맑은 고딕"/>
                <a:ea typeface="맑은 고딕"/>
                <a:cs typeface="맑은 고딕"/>
              </a:rPr>
              <a:t>필요할 때만 부른다</a:t>
            </a:r>
          </a:p>
        </p:txBody>
      </p:sp>
      <p:sp>
        <p:nvSpPr>
          <p:cNvPr id="12" name="TextBox 11"/>
          <p:cNvSpPr txBox="1"/>
          <p:nvPr/>
        </p:nvSpPr>
        <p:spPr>
          <a:xfrm>
            <a:off x="6204942" y="4799749"/>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evaluate_cards</a:t>
            </a:r>
          </a:p>
          <a:p>
            <a:pPr algn="ctr">
              <a:lnSpc>
                <a:spcPct val="110000"/>
              </a:lnSpc>
              <a:spcAft>
                <a:spcPts val="100"/>
              </a:spcAft>
            </a:pPr>
            <a:r>
              <a:rPr sz="1300" b="0">
                <a:solidFill>
                  <a:srgbClr val="556175"/>
                </a:solidFill>
                <a:latin typeface="맑은 고딕"/>
                <a:ea typeface="맑은 고딕"/>
                <a:cs typeface="맑은 고딕"/>
              </a:rPr>
              <a:t>11:13:23 · 807 ms</a:t>
            </a:r>
          </a:p>
        </p:txBody>
      </p:sp>
      <p:sp>
        <p:nvSpPr>
          <p:cNvPr id="13" name="TextBox 12"/>
          <p:cNvSpPr txBox="1"/>
          <p:nvPr/>
        </p:nvSpPr>
        <p:spPr>
          <a:xfrm>
            <a:off x="6204942" y="5480502"/>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submit_decision</a:t>
            </a:r>
          </a:p>
          <a:p>
            <a:pPr algn="ctr">
              <a:lnSpc>
                <a:spcPct val="110000"/>
              </a:lnSpc>
              <a:spcAft>
                <a:spcPts val="100"/>
              </a:spcAft>
            </a:pPr>
            <a:r>
              <a:rPr sz="1300" b="0">
                <a:solidFill>
                  <a:srgbClr val="556175"/>
                </a:solidFill>
                <a:latin typeface="맑은 고딕"/>
                <a:ea typeface="맑은 고딕"/>
                <a:cs typeface="맑은 고딕"/>
              </a:rPr>
              <a:t>11:13:53 · 494 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사건에 쓰인 두 절차: 에이전트 스킬과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건에서 에이전트 스킬은 경보부터 승인 전까지 쓰였고, SOP는 승인 뒤의 작업에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절차.svg" descr="illust_557411304684858090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593899" y="2360386"/>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스킬이 이끄는 구간</a:t>
            </a:r>
          </a:p>
          <a:p>
            <a:pPr algn="ctr">
              <a:lnSpc>
                <a:spcPct val="110000"/>
              </a:lnSpc>
              <a:spcAft>
                <a:spcPts val="100"/>
              </a:spcAft>
            </a:pPr>
            <a:r>
              <a:rPr sz="1300" b="0">
                <a:solidFill>
                  <a:srgbClr val="556175"/>
                </a:solidFill>
                <a:latin typeface="맑은 고딕"/>
                <a:ea typeface="맑은 고딕"/>
                <a:cs typeface="맑은 고딕"/>
              </a:rPr>
              <a:t>승인 전: 조회, 계산, 판단의 제출</a:t>
            </a:r>
          </a:p>
        </p:txBody>
      </p:sp>
      <p:sp>
        <p:nvSpPr>
          <p:cNvPr id="8" name="TextBox 7"/>
          <p:cNvSpPr txBox="1"/>
          <p:nvPr/>
        </p:nvSpPr>
        <p:spPr>
          <a:xfrm>
            <a:off x="8746854" y="2360386"/>
            <a:ext cx="250918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SOP가 정한 구간</a:t>
            </a:r>
          </a:p>
          <a:p>
            <a:pPr algn="ctr">
              <a:lnSpc>
                <a:spcPct val="110000"/>
              </a:lnSpc>
              <a:spcAft>
                <a:spcPts val="100"/>
              </a:spcAft>
            </a:pPr>
            <a:r>
              <a:rPr sz="1300" b="0">
                <a:solidFill>
                  <a:srgbClr val="556175"/>
                </a:solidFill>
                <a:latin typeface="맑은 고딕"/>
                <a:ea typeface="맑은 고딕"/>
                <a:cs typeface="맑은 고딕"/>
              </a:rPr>
              <a:t>승인 뒤: 설비에 하는 작업</a:t>
            </a:r>
          </a:p>
        </p:txBody>
      </p:sp>
      <p:sp>
        <p:nvSpPr>
          <p:cNvPr id="9" name="TextBox 8"/>
          <p:cNvSpPr txBox="1"/>
          <p:nvPr/>
        </p:nvSpPr>
        <p:spPr>
          <a:xfrm>
            <a:off x="859290" y="470047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10" name="TextBox 9"/>
          <p:cNvSpPr txBox="1"/>
          <p:nvPr/>
        </p:nvSpPr>
        <p:spPr>
          <a:xfrm>
            <a:off x="2572080"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a:t>
            </a:r>
          </a:p>
        </p:txBody>
      </p:sp>
      <p:sp>
        <p:nvSpPr>
          <p:cNvPr id="11" name="TextBox 10"/>
          <p:cNvSpPr txBox="1"/>
          <p:nvPr/>
        </p:nvSpPr>
        <p:spPr>
          <a:xfrm>
            <a:off x="3990315"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2" name="TextBox 11"/>
          <p:cNvSpPr txBox="1"/>
          <p:nvPr/>
        </p:nvSpPr>
        <p:spPr>
          <a:xfrm>
            <a:off x="5255816"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3" name="TextBox 12"/>
          <p:cNvSpPr txBox="1"/>
          <p:nvPr/>
        </p:nvSpPr>
        <p:spPr>
          <a:xfrm>
            <a:off x="6892240" y="479502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운전원의 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4" name="TextBox 13"/>
          <p:cNvSpPr txBox="1"/>
          <p:nvPr/>
        </p:nvSpPr>
        <p:spPr>
          <a:xfrm>
            <a:off x="8408660" y="479502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SOP-COOL-11</a:t>
            </a:r>
          </a:p>
        </p:txBody>
      </p:sp>
      <p:sp>
        <p:nvSpPr>
          <p:cNvPr id="15" name="TextBox 14"/>
          <p:cNvSpPr txBox="1"/>
          <p:nvPr/>
        </p:nvSpPr>
        <p:spPr>
          <a:xfrm>
            <a:off x="10012356"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100 %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「Skill」의 두 쓰임: 조치 방법과 에이전트 스킬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그래프의 Skill 클래스는 SOP를 옮긴 조치 방법이며, 이름만 같을 뿐 에이전트 스킬과는 다른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방법 (Skill 클래스)</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 스킬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무엇인가</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SOP 한 편을 지식 그래프에 옮긴 노드</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에이전트가 읽는 지침 파일</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식별자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cooling-emergency-response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담긴 내용</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 단계, 승인 역할, 근거 매뉴얼로 이어진 관계</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도구를 부르는 순서와 결과의 모양</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쓰이는 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후보로 추천되고 승인된다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판단을 수행할 때 읽힌다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스킬에 적힌 것과 입력 · 도구에서 얻는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사건마다 달라지는 대상과 값은 입력과 도구에서 얻으므로, 스킬에는 사건이 달라져도 변하지 않는 방법만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경보의 실제 내용</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얻는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방법</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도구를 부르는 순서, 보류의 조건, 결과 항목의 이름</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스킬</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대상과 사건</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 COOLER_DEGRADATION, 경보 번호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파일</a:t>
            </a:r>
          </a:p>
          <a:p>
            <a:pPr algn="l">
              <a:lnSpc>
                <a:spcPct val="110000"/>
              </a:lnSpc>
            </a:pPr>
            <a:r>
              <a:rPr sz="1250" b="1">
                <a:solidFill>
                  <a:srgbClr val="556175"/>
                </a:solidFill>
                <a:latin typeface="맑은 고딕"/>
                <a:ea typeface="맑은 고딕"/>
                <a:cs typeface="맑은 고딕"/>
              </a:rPr>
              <a:t>context/task.json</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원인과 조치 후보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 팬 최대 운전을 비롯한 네 후보</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지식 그래프에서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지금의 값</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 46.2 %, 납기까지 5.98시간</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조회 시점에 읽는다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스킬, 다른 경보: 두 번의 실행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번호가 다른 두 쿨러 경보가 같은 스킬 한 편으로 처리되어 저마다 판단 하나씩을 제출했다.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재사용.svg" descr="illust_3388609889502163782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4984120"/>
            <a:ext cx="2618278"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cooling-emergency-response</a:t>
            </a:r>
          </a:p>
          <a:p>
            <a:pPr algn="ctr">
              <a:lnSpc>
                <a:spcPct val="110000"/>
              </a:lnSpc>
              <a:spcAft>
                <a:spcPts val="100"/>
              </a:spcAft>
            </a:pPr>
            <a:r>
              <a:rPr sz="1300" b="0">
                <a:solidFill>
                  <a:srgbClr val="556175"/>
                </a:solidFill>
                <a:latin typeface="맑은 고딕"/>
                <a:ea typeface="맑은 고딕"/>
                <a:cs typeface="맑은 고딕"/>
              </a:rPr>
              <a:t>스킬 한 편</a:t>
            </a:r>
          </a:p>
        </p:txBody>
      </p:sp>
      <p:sp>
        <p:nvSpPr>
          <p:cNvPr id="8" name="TextBox 7"/>
          <p:cNvSpPr txBox="1"/>
          <p:nvPr/>
        </p:nvSpPr>
        <p:spPr>
          <a:xfrm>
            <a:off x="4404875"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첫째 경보</a:t>
            </a:r>
          </a:p>
          <a:p>
            <a:pPr algn="ctr">
              <a:lnSpc>
                <a:spcPct val="110000"/>
              </a:lnSpc>
              <a:spcAft>
                <a:spcPts val="100"/>
              </a:spcAft>
            </a:pPr>
            <a:r>
              <a:rPr sz="1300" b="0">
                <a:solidFill>
                  <a:srgbClr val="556175"/>
                </a:solidFill>
                <a:latin typeface="맑은 고딕"/>
                <a:ea typeface="맑은 고딕"/>
                <a:cs typeface="맑은 고딕"/>
              </a:rPr>
              <a:t>ALT-hyd01-0014-e0a1</a:t>
            </a:r>
          </a:p>
        </p:txBody>
      </p:sp>
      <p:sp>
        <p:nvSpPr>
          <p:cNvPr id="9" name="TextBox 8"/>
          <p:cNvSpPr txBox="1"/>
          <p:nvPr/>
        </p:nvSpPr>
        <p:spPr>
          <a:xfrm>
            <a:off x="8408660"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DEC-1010-002-408b</a:t>
            </a:r>
          </a:p>
        </p:txBody>
      </p:sp>
      <p:sp>
        <p:nvSpPr>
          <p:cNvPr id="10" name="TextBox 9"/>
          <p:cNvSpPr txBox="1"/>
          <p:nvPr/>
        </p:nvSpPr>
        <p:spPr>
          <a:xfrm>
            <a:off x="4404875"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둘째 경보</a:t>
            </a:r>
          </a:p>
          <a:p>
            <a:pPr algn="ctr">
              <a:lnSpc>
                <a:spcPct val="110000"/>
              </a:lnSpc>
              <a:spcAft>
                <a:spcPts val="100"/>
              </a:spcAft>
            </a:pPr>
            <a:r>
              <a:rPr sz="1300" b="0">
                <a:solidFill>
                  <a:srgbClr val="556175"/>
                </a:solidFill>
                <a:latin typeface="맑은 고딕"/>
                <a:ea typeface="맑은 고딕"/>
                <a:cs typeface="맑은 고딕"/>
              </a:rPr>
              <a:t>ALT-hyd01-0025-b8ed</a:t>
            </a:r>
          </a:p>
        </p:txBody>
      </p:sp>
      <p:sp>
        <p:nvSpPr>
          <p:cNvPr id="11" name="TextBox 10"/>
          <p:cNvSpPr txBox="1"/>
          <p:nvPr/>
        </p:nvSpPr>
        <p:spPr>
          <a:xfrm>
            <a:off x="8408660"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DEC-1010-056-0972</a:t>
            </a:r>
          </a:p>
        </p:txBody>
      </p:sp>
      <p:sp>
        <p:nvSpPr>
          <p:cNvPr id="12" name="TextBox 11"/>
          <p:cNvSpPr txBox="1"/>
          <p:nvPr/>
        </p:nvSpPr>
        <p:spPr>
          <a:xfrm>
            <a:off x="4459423" y="590124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경보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번의 프롬프트와 재사용하는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프롬프트는 그 실행 한 번에 쓰이고 끝나지만, 스킬은 이름으로 보관되어 여러 에이전트와 여러 실행에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 번의 프롬프트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실행에만 쓰인다</a:t>
            </a:r>
          </a:p>
          <a:p>
            <a:pPr algn="l">
              <a:lnSpc>
                <a:spcPct val="110000"/>
              </a:lnSpc>
              <a:spcAft>
                <a:spcPts val="600"/>
              </a:spcAft>
            </a:pPr>
            <a:r>
              <a:rPr sz="1450" b="0">
                <a:solidFill>
                  <a:srgbClr val="1F2A3A"/>
                </a:solidFill>
                <a:latin typeface="맑은 고딕"/>
                <a:ea typeface="맑은 고딕"/>
                <a:cs typeface="맑은 고딕"/>
              </a:rPr>
              <a:t>• 이름이 없어 다시 찾아 쓰기 어렵다</a:t>
            </a:r>
          </a:p>
          <a:p>
            <a:pPr algn="l">
              <a:lnSpc>
                <a:spcPct val="110000"/>
              </a:lnSpc>
              <a:spcAft>
                <a:spcPts val="600"/>
              </a:spcAft>
            </a:pPr>
            <a:r>
              <a:rPr sz="1450" b="0">
                <a:solidFill>
                  <a:srgbClr val="1F2A3A"/>
                </a:solidFill>
                <a:latin typeface="맑은 고딕"/>
                <a:ea typeface="맑은 고딕"/>
                <a:cs typeface="맑은 고딕"/>
              </a:rPr>
              <a:t>• 쓸 때마다 내용이 조금씩 달라진다</a:t>
            </a:r>
          </a:p>
          <a:p>
            <a:pPr algn="l">
              <a:lnSpc>
                <a:spcPct val="110000"/>
              </a:lnSpc>
              <a:spcAft>
                <a:spcPts val="600"/>
              </a:spcAft>
            </a:pPr>
            <a:r>
              <a:rPr sz="1450" b="0">
                <a:solidFill>
                  <a:srgbClr val="1F2A3A"/>
                </a:solidFill>
                <a:latin typeface="맑은 고딕"/>
                <a:ea typeface="맑은 고딕"/>
                <a:cs typeface="맑은 고딕"/>
              </a:rPr>
              <a:t>• 맞는 일: 한 번 묻고 끝나는 요청</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일회성</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이름으로 보관되어 실행마다 다시 쓰인다</a:t>
            </a:r>
          </a:p>
          <a:p>
            <a:pPr algn="l">
              <a:lnSpc>
                <a:spcPct val="110000"/>
              </a:lnSpc>
              <a:spcAft>
                <a:spcPts val="600"/>
              </a:spcAft>
            </a:pPr>
            <a:r>
              <a:rPr sz="1450" b="0">
                <a:solidFill>
                  <a:srgbClr val="1F2A3A"/>
                </a:solidFill>
                <a:latin typeface="맑은 고딕"/>
                <a:ea typeface="맑은 고딕"/>
                <a:cs typeface="맑은 고딕"/>
              </a:rPr>
              <a:t>• 여러 에이전트에 붙일 수 있다</a:t>
            </a:r>
          </a:p>
          <a:p>
            <a:pPr algn="l">
              <a:lnSpc>
                <a:spcPct val="110000"/>
              </a:lnSpc>
              <a:spcAft>
                <a:spcPts val="600"/>
              </a:spcAft>
            </a:pPr>
            <a:r>
              <a:rPr sz="1450" b="0">
                <a:solidFill>
                  <a:srgbClr val="1F2A3A"/>
                </a:solidFill>
                <a:latin typeface="맑은 고딕"/>
                <a:ea typeface="맑은 고딕"/>
                <a:cs typeface="맑은 고딕"/>
              </a:rPr>
              <a:t>• 한곳을 고치면 붙어 있는 모든 곳에 반영된다</a:t>
            </a:r>
          </a:p>
          <a:p>
            <a:pPr algn="l">
              <a:lnSpc>
                <a:spcPct val="110000"/>
              </a:lnSpc>
              <a:spcAft>
                <a:spcPts val="600"/>
              </a:spcAft>
            </a:pPr>
            <a:r>
              <a:rPr sz="1450" b="0">
                <a:solidFill>
                  <a:srgbClr val="1F2A3A"/>
                </a:solidFill>
                <a:latin typeface="맑은 고딕"/>
                <a:ea typeface="맑은 고딕"/>
                <a:cs typeface="맑은 고딕"/>
              </a:rPr>
              <a:t>• 맞는 일: 같은 방법으로 되풀이하는 업무</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틀은 같고 절차가 다른 세 스킬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과열, 정기 정비, 예비품 구매를 맡는 HYD의 세 스킬은 같은 틀에 업무마다 다른 절차를 담은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스킬의 name</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description</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사실 확인에 부르는 도구</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cooling-emergency-response</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과열 경보 — 원인 진단 · 냉각 조치 카드</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mes_orders · qms_lots</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pm-schedule-planning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정기 정비 도래 — 언제 정비할지 카드</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pm_status ·</a:t>
            </a:r>
          </a:p>
          <a:p>
            <a:pPr algn="l">
              <a:lnSpc>
                <a:spcPct val="110000"/>
              </a:lnSpc>
            </a:pPr>
            <a:r>
              <a:rPr sz="1250" b="1">
                <a:solidFill>
                  <a:srgbClr val="556175"/>
                </a:solidFill>
                <a:latin typeface="맑은 고딕"/>
                <a:ea typeface="맑은 고딕"/>
                <a:cs typeface="맑은 고딕"/>
              </a:rPr>
              <a:t>maintenance_windows</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spare-purchase-planning</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예비품 재고 기준 이탈 — 발주 카드</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spare_stock ·</a:t>
            </a:r>
          </a:p>
          <a:p>
            <a:pPr algn="l">
              <a:lnSpc>
                <a:spcPct val="110000"/>
              </a:lnSpc>
            </a:pPr>
            <a:r>
              <a:rPr sz="1250" b="1">
                <a:solidFill>
                  <a:srgbClr val="556175"/>
                </a:solidFill>
                <a:latin typeface="맑은 고딕"/>
                <a:ea typeface="맑은 고딕"/>
                <a:cs typeface="맑은 고딕"/>
              </a:rPr>
              <a:t>part_quotes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스킬을 쓸 때 지키는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쓸 때를 한 줄로 밝히고, 도구 이름은 목록에서 옮겨 적으며, 막혔을 때의 행동과 결과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description</a:t>
            </a:r>
          </a:p>
          <a:p>
            <a:pPr algn="l">
              <a:lnSpc>
                <a:spcPct val="110000"/>
              </a:lnSpc>
              <a:spcAft>
                <a:spcPts val="400"/>
              </a:spcAft>
            </a:pPr>
            <a:r>
              <a:rPr sz="1350" b="0">
                <a:solidFill>
                  <a:srgbClr val="1F2A3A"/>
                </a:solidFill>
                <a:latin typeface="맑은 고딕"/>
                <a:ea typeface="맑은 고딕"/>
                <a:cs typeface="맑은 고딕"/>
              </a:rPr>
              <a:t>어떤 요청 한 건에서 무엇을 내는 스킬인지를 한 줄로 적는다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쓸 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이름</a:t>
            </a:r>
          </a:p>
          <a:p>
            <a:pPr algn="l">
              <a:lnSpc>
                <a:spcPct val="110000"/>
              </a:lnSpc>
              <a:spcAft>
                <a:spcPts val="400"/>
              </a:spcAft>
            </a:pPr>
            <a:r>
              <a:rPr sz="1350" b="0">
                <a:solidFill>
                  <a:srgbClr val="1F2A3A"/>
                </a:solidFill>
                <a:latin typeface="맑은 고딕"/>
                <a:ea typeface="맑은 고딕"/>
                <a:cs typeface="맑은 고딕"/>
              </a:rPr>
              <a:t>• 도구 목록에 있는 이름을 그대로 옮겨 적는다</a:t>
            </a:r>
          </a:p>
          <a:p>
            <a:pPr algn="l">
              <a:lnSpc>
                <a:spcPct val="110000"/>
              </a:lnSpc>
              <a:spcAft>
                <a:spcPts val="400"/>
              </a:spcAft>
            </a:pPr>
            <a:r>
              <a:rPr sz="1350" b="0">
                <a:solidFill>
                  <a:srgbClr val="1F2A3A"/>
                </a:solidFill>
                <a:latin typeface="맑은 고딕"/>
                <a:ea typeface="맑은 고딕"/>
                <a:cs typeface="맑은 고딕"/>
              </a:rPr>
              <a:t>• 없는 이름을 지어내지 않는다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막혔을 때</a:t>
            </a:r>
          </a:p>
          <a:p>
            <a:pPr algn="l">
              <a:lnSpc>
                <a:spcPct val="110000"/>
              </a:lnSpc>
              <a:spcAft>
                <a:spcPts val="400"/>
              </a:spcAft>
            </a:pPr>
            <a:r>
              <a:rPr sz="1350" b="0">
                <a:solidFill>
                  <a:srgbClr val="1F2A3A"/>
                </a:solidFill>
                <a:latin typeface="맑은 고딕"/>
                <a:ea typeface="맑은 고딕"/>
                <a:cs typeface="맑은 고딕"/>
              </a:rPr>
              <a:t>근거나 남는 후보가 없으면 지어내지 않고 그대로 내게 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orms" descr="forms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항목</a:t>
            </a:r>
          </a:p>
          <a:p>
            <a:pPr algn="l">
              <a:lnSpc>
                <a:spcPct val="110000"/>
              </a:lnSpc>
              <a:spcAft>
                <a:spcPts val="400"/>
              </a:spcAft>
            </a:pPr>
            <a:r>
              <a:rPr sz="1350" b="0">
                <a:solidFill>
                  <a:srgbClr val="1F2A3A"/>
                </a:solidFill>
                <a:latin typeface="맑은 고딕"/>
                <a:ea typeface="맑은 고딕"/>
                <a:cs typeface="맑은 고딕"/>
              </a:rPr>
              <a:t>다음 단계가 읽는 항목의 이름을 정해 두고 바꾸지 않는다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출력</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정의: 목표, 스킬,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에이전트에 붙였을 때만 실행에 들어가며, 에이전트 하나는 목표와 붙인 스킬과 연결한 도구로 정의된다.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a:t>
            </a:r>
          </a:p>
          <a:p>
            <a:pPr algn="l">
              <a:lnSpc>
                <a:spcPct val="110000"/>
              </a:lnSpc>
              <a:spcAft>
                <a:spcPts val="400"/>
              </a:spcAft>
            </a:pPr>
            <a:r>
              <a:rPr sz="1400" b="0">
                <a:solidFill>
                  <a:srgbClr val="1F2A3A"/>
                </a:solidFill>
                <a:latin typeface="맑은 고딕"/>
                <a:ea typeface="맑은 고딕"/>
                <a:cs typeface="맑은 고딕"/>
              </a:rPr>
              <a:t>「쿨러 과열 경보의 원인을 진단하고, 냉각 조치 후보를 규정 · 회사 목표로 비교해 추천 카드 한 장과 지는 대안을 올린다」</a:t>
            </a:r>
          </a:p>
        </p:txBody>
      </p:sp>
      <p:sp>
        <p:nvSpPr>
          <p:cNvPr id="10" name="Rounded Rectangle 9"/>
          <p:cNvSpPr/>
          <p:nvPr/>
        </p:nvSpPr>
        <p:spPr>
          <a:xfrm>
            <a:off x="777240" y="5149850"/>
            <a:ext cx="16763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무엇을 이룰 것인가</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a:t>
            </a:r>
          </a:p>
          <a:p>
            <a:pPr algn="l">
              <a:lnSpc>
                <a:spcPct val="110000"/>
              </a:lnSpc>
              <a:spcAft>
                <a:spcPts val="400"/>
              </a:spcAft>
            </a:pPr>
            <a:r>
              <a:rPr sz="1400" b="0">
                <a:solidFill>
                  <a:srgbClr val="1F2A3A"/>
                </a:solidFill>
                <a:latin typeface="맑은 고딕"/>
                <a:ea typeface="맑은 고딕"/>
                <a:cs typeface="맑은 고딕"/>
              </a:rPr>
              <a:t>• cooling-emergency-response</a:t>
            </a:r>
          </a:p>
          <a:p>
            <a:pPr algn="l">
              <a:lnSpc>
                <a:spcPct val="110000"/>
              </a:lnSpc>
              <a:spcAft>
                <a:spcPts val="400"/>
              </a:spcAft>
            </a:pPr>
            <a:r>
              <a:rPr sz="1400" b="0">
                <a:solidFill>
                  <a:srgbClr val="1F2A3A"/>
                </a:solidFill>
                <a:latin typeface="맑은 고딕"/>
                <a:ea typeface="맑은 고딕"/>
                <a:cs typeface="맑은 고딕"/>
              </a:rPr>
              <a:t>• 에이전트에 붙이지 않은 스킬은 어떤 실행에도 들어가지 않는다</a:t>
            </a:r>
          </a:p>
        </p:txBody>
      </p:sp>
      <p:sp>
        <p:nvSpPr>
          <p:cNvPr id="16" name="Rounded Rectangle 15"/>
          <p:cNvSpPr/>
          <p:nvPr/>
        </p:nvSpPr>
        <p:spPr>
          <a:xfrm>
            <a:off x="4566818" y="5149850"/>
            <a:ext cx="152399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할 것인가</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ools" descr="tools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a:t>
            </a:r>
          </a:p>
          <a:p>
            <a:pPr algn="l">
              <a:lnSpc>
                <a:spcPct val="110000"/>
              </a:lnSpc>
              <a:spcAft>
                <a:spcPts val="400"/>
              </a:spcAft>
            </a:pPr>
            <a:r>
              <a:rPr sz="1400" b="0">
                <a:solidFill>
                  <a:srgbClr val="1F2A3A"/>
                </a:solidFill>
                <a:latin typeface="맑은 고딕"/>
                <a:ea typeface="맑은 고딕"/>
                <a:cs typeface="맑은 고딕"/>
              </a:rPr>
              <a:t>• neo4j · enterprise · hyd-dmn</a:t>
            </a:r>
          </a:p>
          <a:p>
            <a:pPr algn="l">
              <a:lnSpc>
                <a:spcPct val="110000"/>
              </a:lnSpc>
              <a:spcAft>
                <a:spcPts val="400"/>
              </a:spcAft>
            </a:pPr>
            <a:r>
              <a:rPr sz="1400" b="0">
                <a:solidFill>
                  <a:srgbClr val="1F2A3A"/>
                </a:solidFill>
                <a:latin typeface="맑은 고딕"/>
                <a:ea typeface="맑은 고딕"/>
                <a:cs typeface="맑은 고딕"/>
              </a:rPr>
              <a:t>• 지식 그래프, 업무 DB, 판단 엔진에 닿는 연결이다</a:t>
            </a:r>
          </a:p>
        </p:txBody>
      </p:sp>
      <p:sp>
        <p:nvSpPr>
          <p:cNvPr id="22" name="Rounded Rectangle 21"/>
          <p:cNvSpPr/>
          <p:nvPr/>
        </p:nvSpPr>
        <p:spPr>
          <a:xfrm>
            <a:off x="8356396" y="5149850"/>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무엇으로 할 것인가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MCP: 에이전트와 외부 시스템을</a:t>
            </a:r>
          </a:p>
          <a:p>
            <a:pPr algn="l">
              <a:lnSpc>
                <a:spcPct val="110000"/>
              </a:lnSpc>
            </a:pPr>
            <a:r>
              <a:rPr sz="3400" b="1">
                <a:solidFill>
                  <a:srgbClr val="13294B"/>
                </a:solidFill>
                <a:latin typeface="맑은 고딕"/>
                <a:ea typeface="맑은 고딕"/>
                <a:cs typeface="맑은 고딕"/>
              </a:rPr>
              <a:t>잇는 표준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스킬의 절차가 부르는 도구가 연결되고 호출되는 방식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연결의수.svg" descr="illust_2977347067230729768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MCP구성.svg" descr="illust_891095616489596104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MCP 서버 다섯</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 등록된 MCP 서버 다섯은 닿는 시스템과 내주는 도구가 저마다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서버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닿는 시스템과 도구의 예</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neo4j</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a:t>
            </a:r>
          </a:p>
          <a:p>
            <a:pPr algn="l">
              <a:lnSpc>
                <a:spcPct val="110000"/>
              </a:lnSpc>
            </a:pPr>
            <a:r>
              <a:rPr sz="1400" b="0">
                <a:solidFill>
                  <a:srgbClr val="1F2A3A"/>
                </a:solidFill>
                <a:latin typeface="맑은 고딕"/>
                <a:ea typeface="맑은 고딕"/>
                <a:cs typeface="맑은 고딕"/>
              </a:rPr>
              <a:t>get_neo4j_schema · read_neo4j_cypher</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조회 2개 사용</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hyd-dmn</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판단 엔진과 시계열 DB</a:t>
            </a:r>
          </a:p>
          <a:p>
            <a:pPr algn="l">
              <a:lnSpc>
                <a:spcPct val="110000"/>
              </a:lnSpc>
            </a:pPr>
            <a:r>
              <a:rPr sz="1400" b="0">
                <a:solidFill>
                  <a:srgbClr val="1F2A3A"/>
                </a:solidFill>
                <a:latin typeface="맑은 고딕"/>
                <a:ea typeface="맑은 고딕"/>
                <a:cs typeface="맑은 고딕"/>
              </a:rPr>
              <a:t>diagnose · evaluate_cards · timeseries_query</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16개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 전체</a:t>
            </a:r>
          </a:p>
          <a:p>
            <a:pPr algn="l">
              <a:lnSpc>
                <a:spcPct val="110000"/>
              </a:lnSpc>
            </a:pPr>
            <a:r>
              <a:rPr sz="1400" b="0">
                <a:solidFill>
                  <a:srgbClr val="1F2A3A"/>
                </a:solidFill>
                <a:latin typeface="맑은 고딕"/>
                <a:ea typeface="맑은 고딕"/>
                <a:cs typeface="맑은 고딕"/>
              </a:rPr>
              <a:t>mes_orders · qms_lots · spare_stock</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14개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enterprise-maint</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DB의 정비 쪽</a:t>
            </a:r>
          </a:p>
          <a:p>
            <a:pPr algn="l">
              <a:lnSpc>
                <a:spcPct val="110000"/>
              </a:lnSpc>
            </a:pPr>
            <a:r>
              <a:rPr sz="1400" b="0">
                <a:solidFill>
                  <a:srgbClr val="1F2A3A"/>
                </a:solidFill>
                <a:latin typeface="맑은 고딕"/>
                <a:ea typeface="맑은 고딕"/>
                <a:cs typeface="맑은 고딕"/>
              </a:rPr>
              <a:t>cmms_history · pm_status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enterprise-purchase</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DB의 구매 쪽</a:t>
            </a:r>
          </a:p>
          <a:p>
            <a:pPr algn="l">
              <a:lnSpc>
                <a:spcPct val="110000"/>
              </a:lnSpc>
            </a:pPr>
            <a:r>
              <a:rPr sz="1400" b="0">
                <a:solidFill>
                  <a:srgbClr val="1F2A3A"/>
                </a:solidFill>
                <a:latin typeface="맑은 고딕"/>
                <a:ea typeface="맑은 고딕"/>
                <a:cs typeface="맑은 고딕"/>
              </a:rPr>
              <a:t>spare_stock · part_quotes</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목록호출.svg" descr="illust_2160144690690242130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목록을 연결할 때 묻는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 목록을 연결할 때마다 서버에서 받아 오면, 서버의 도구가 늘거나 바뀌어도 호스트의 프로그램은 그대로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도구를 호스트에 미리 적어 둔다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서버의 도구가 바뀌면 호스트도 고쳐야 한다</a:t>
            </a:r>
          </a:p>
          <a:p>
            <a:pPr algn="l">
              <a:lnSpc>
                <a:spcPct val="110000"/>
              </a:lnSpc>
              <a:spcAft>
                <a:spcPts val="600"/>
              </a:spcAft>
            </a:pPr>
            <a:r>
              <a:rPr sz="1450" b="0">
                <a:solidFill>
                  <a:srgbClr val="1F2A3A"/>
                </a:solidFill>
                <a:latin typeface="맑은 고딕"/>
                <a:ea typeface="맑은 고딕"/>
                <a:cs typeface="맑은 고딕"/>
              </a:rPr>
              <a:t>• 적어 둔 내용과 실제 서버가 어긋날 수 있다</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고정된 목록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efresh" descr="refresh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서버에 묻는다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서버가 지금 내주는 도구를 그대로 받는다</a:t>
            </a:r>
          </a:p>
          <a:p>
            <a:pPr algn="l">
              <a:lnSpc>
                <a:spcPct val="110000"/>
              </a:lnSpc>
              <a:spcAft>
                <a:spcPts val="600"/>
              </a:spcAft>
            </a:pPr>
            <a:r>
              <a:rPr sz="1450" b="0">
                <a:solidFill>
                  <a:srgbClr val="1F2A3A"/>
                </a:solidFill>
                <a:latin typeface="맑은 고딕"/>
                <a:ea typeface="맑은 고딕"/>
                <a:cs typeface="맑은 고딕"/>
              </a:rPr>
              <a:t>• 이름, 설명, 입력 스키마가 목록에 함께 온다</a:t>
            </a:r>
          </a:p>
          <a:p>
            <a:pPr algn="l">
              <a:lnSpc>
                <a:spcPct val="110000"/>
              </a:lnSpc>
              <a:spcAft>
                <a:spcPts val="600"/>
              </a:spcAft>
            </a:pPr>
            <a:r>
              <a:rPr sz="1450" b="0">
                <a:solidFill>
                  <a:srgbClr val="1F2A3A"/>
                </a:solidFill>
                <a:latin typeface="맑은 고딕"/>
                <a:ea typeface="맑은 고딕"/>
                <a:cs typeface="맑은 고딕"/>
              </a:rPr>
              <a:t>• 처음 붙이는 서버도 같은 절차로 알아낸다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요청: 도구의 전체 이름과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 요청에는 서버 이름이 붙은 도구의 전체 이름과, 입력 스키마가 정한 이름과 형에 맞춘 값이 담긴다.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mcp__hyd-dmn__diagnose</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mcp__서버__도구</a:t>
            </a:r>
          </a:p>
          <a:p>
            <a:pPr algn="l">
              <a:lnSpc>
                <a:spcPct val="110000"/>
              </a:lnSpc>
              <a:spcAft>
                <a:spcPts val="400"/>
              </a:spcAft>
            </a:pPr>
            <a:r>
              <a:rPr sz="1400" b="0">
                <a:solidFill>
                  <a:srgbClr val="1F2A3A"/>
                </a:solidFill>
                <a:latin typeface="맑은 고딕"/>
                <a:ea typeface="맑은 고딕"/>
                <a:cs typeface="맑은 고딕"/>
              </a:rPr>
              <a:t>서버 이름과 도구 이름을 밑줄 두 개로 잇는다.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스키마가 정한 이름과 형을 따르는 JSON이다.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이름의 도구</a:t>
            </a:r>
          </a:p>
          <a:p>
            <a:pPr algn="l">
              <a:lnSpc>
                <a:spcPct val="110000"/>
              </a:lnSpc>
              <a:spcAft>
                <a:spcPts val="400"/>
              </a:spcAft>
            </a:pPr>
            <a:r>
              <a:rPr sz="1400" b="0">
                <a:solidFill>
                  <a:srgbClr val="1F2A3A"/>
                </a:solidFill>
                <a:latin typeface="맑은 고딕"/>
                <a:ea typeface="맑은 고딕"/>
                <a:cs typeface="맑은 고딕"/>
              </a:rPr>
              <a:t>두 서버에 있는 part_quotes도 서버 이름으로 구분된다.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JSON Schema</a:t>
            </a:r>
          </a:p>
          <a:p>
            <a:pPr algn="l">
              <a:lnSpc>
                <a:spcPct val="110000"/>
              </a:lnSpc>
              <a:spcAft>
                <a:spcPts val="400"/>
              </a:spcAft>
            </a:pPr>
            <a:r>
              <a:rPr sz="1400" b="0">
                <a:solidFill>
                  <a:srgbClr val="1F2A3A"/>
                </a:solidFill>
                <a:latin typeface="맑은 고딕"/>
                <a:ea typeface="맑은 고딕"/>
                <a:cs typeface="맑은 고딕"/>
              </a:rPr>
              <a:t>입력 스키마를 적는 표준 형식이다.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mes_orders의 응답은 성공 여부, 읽은 시각, 판단에 쓸 값이 저마다의 자리에 담긴 JSON이다.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p>
          <a:p>
            <a:pPr algn="l">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result</a:t>
            </a:r>
          </a:p>
          <a:p>
            <a:pPr algn="l">
              <a:lnSpc>
                <a:spcPct val="110000"/>
              </a:lnSpc>
              <a:spcAft>
                <a:spcPts val="400"/>
              </a:spcAft>
            </a:pPr>
            <a:r>
              <a:rPr sz="1400" b="0">
                <a:solidFill>
                  <a:srgbClr val="1F2A3A"/>
                </a:solidFill>
                <a:latin typeface="맑은 고딕"/>
                <a:ea typeface="맑은 고딕"/>
                <a:cs typeface="맑은 고딕"/>
              </a:rPr>
              <a:t>호출이 성공했는지를 먼저 알린다.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as_of</a:t>
            </a:r>
          </a:p>
          <a:p>
            <a:pPr algn="l">
              <a:lnSpc>
                <a:spcPct val="110000"/>
              </a:lnSpc>
              <a:spcAft>
                <a:spcPts val="400"/>
              </a:spcAft>
            </a:pPr>
            <a:r>
              <a:rPr sz="1400" b="0">
                <a:solidFill>
                  <a:srgbClr val="1F2A3A"/>
                </a:solidFill>
                <a:latin typeface="맑은 고딕"/>
                <a:ea typeface="맑은 고딕"/>
                <a:cs typeface="맑은 고딕"/>
              </a:rPr>
              <a:t>값을 읽은 시각이다.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records</a:t>
            </a:r>
          </a:p>
          <a:p>
            <a:pPr algn="l">
              <a:lnSpc>
                <a:spcPct val="110000"/>
              </a:lnSpc>
              <a:spcAft>
                <a:spcPts val="400"/>
              </a:spcAft>
            </a:pPr>
            <a:r>
              <a:rPr sz="1400" b="0">
                <a:solidFill>
                  <a:srgbClr val="1F2A3A"/>
                </a:solidFill>
                <a:latin typeface="맑은 고딕"/>
                <a:ea typeface="맑은 고딕"/>
                <a:cs typeface="맑은 고딕"/>
              </a:rPr>
              <a:t>업무 DB에서 읽은 원래의 행이다.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요청과 실행의 분리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도구를 직접 실행하지 않고 부를 도구와 값을 요청으로 내며, 호스트가 그 요청을 확인해 서버에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모델</a:t>
            </a:r>
          </a:p>
          <a:p>
            <a:pPr algn="ctr">
              <a:lnSpc>
                <a:spcPct val="110000"/>
              </a:lnSpc>
              <a:spcAft>
                <a:spcPts val="400"/>
              </a:spcAft>
            </a:pPr>
            <a:r>
              <a:rPr sz="1350" b="0">
                <a:solidFill>
                  <a:srgbClr val="1F2A3A"/>
                </a:solidFill>
                <a:latin typeface="맑은 고딕"/>
                <a:ea typeface="맑은 고딕"/>
                <a:cs typeface="맑은 고딕"/>
              </a:rPr>
              <a:t>부를 도구의 이름과</a:t>
            </a:r>
          </a:p>
          <a:p>
            <a:pPr algn="ctr">
              <a:lnSpc>
                <a:spcPct val="110000"/>
              </a:lnSpc>
              <a:spcAft>
                <a:spcPts val="400"/>
              </a:spcAft>
            </a:pPr>
            <a:r>
              <a:rPr sz="1350" b="0">
                <a:solidFill>
                  <a:srgbClr val="1F2A3A"/>
                </a:solidFill>
                <a:latin typeface="맑은 고딕"/>
                <a:ea typeface="맑은 고딕"/>
                <a:cs typeface="맑은 고딕"/>
              </a:rPr>
              <a:t>입력을 요청으로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hield-check" descr="shield-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호스트</a:t>
            </a:r>
          </a:p>
          <a:p>
            <a:pPr algn="ctr">
              <a:lnSpc>
                <a:spcPct val="110000"/>
              </a:lnSpc>
              <a:spcAft>
                <a:spcPts val="400"/>
              </a:spcAft>
            </a:pPr>
            <a:r>
              <a:rPr sz="1350" b="0">
                <a:solidFill>
                  <a:srgbClr val="1F2A3A"/>
                </a:solidFill>
                <a:latin typeface="맑은 고딕"/>
                <a:ea typeface="맑은 고딕"/>
                <a:cs typeface="맑은 고딕"/>
              </a:rPr>
              <a:t>허용된 도구인지</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plug-connected" descr="plug-connecte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클라이언트</a:t>
            </a:r>
          </a:p>
          <a:p>
            <a:pPr algn="ctr">
              <a:lnSpc>
                <a:spcPct val="110000"/>
              </a:lnSpc>
              <a:spcAft>
                <a:spcPts val="400"/>
              </a:spcAft>
            </a:pPr>
            <a:r>
              <a:rPr sz="1350" b="0">
                <a:solidFill>
                  <a:srgbClr val="1F2A3A"/>
                </a:solidFill>
                <a:latin typeface="맑은 고딕"/>
                <a:ea typeface="맑은 고딕"/>
                <a:cs typeface="맑은 고딕"/>
              </a:rPr>
              <a:t>tools/call로</a:t>
            </a:r>
          </a:p>
          <a:p>
            <a:pPr algn="ctr">
              <a:lnSpc>
                <a:spcPct val="110000"/>
              </a:lnSpc>
              <a:spcAft>
                <a:spcPts val="400"/>
              </a:spcAft>
            </a:pPr>
            <a:r>
              <a:rPr sz="1350" b="0">
                <a:solidFill>
                  <a:srgbClr val="1F2A3A"/>
                </a:solidFill>
                <a:latin typeface="맑은 고딕"/>
                <a:ea typeface="맑은 고딕"/>
                <a:cs typeface="맑은 고딕"/>
              </a:rPr>
              <a:t>서버에 전달한다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server" descr="server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a:t>
            </a:r>
          </a:p>
          <a:p>
            <a:pPr algn="ctr">
              <a:lnSpc>
                <a:spcPct val="110000"/>
              </a:lnSpc>
              <a:spcAft>
                <a:spcPts val="400"/>
              </a:spcAft>
            </a:pPr>
            <a:r>
              <a:rPr sz="1350" b="0">
                <a:solidFill>
                  <a:srgbClr val="1F2A3A"/>
                </a:solidFill>
                <a:latin typeface="맑은 고딕"/>
                <a:ea typeface="맑은 고딕"/>
                <a:cs typeface="맑은 고딕"/>
              </a:rPr>
              <a:t>도구를 실행하고</a:t>
            </a:r>
          </a:p>
          <a:p>
            <a:pPr algn="ctr">
              <a:lnSpc>
                <a:spcPct val="110000"/>
              </a:lnSpc>
              <a:spcAft>
                <a:spcPts val="400"/>
              </a:spcAft>
            </a:pPr>
            <a:r>
              <a:rPr sz="1350" b="0">
                <a:solidFill>
                  <a:srgbClr val="1F2A3A"/>
                </a:solidFill>
                <a:latin typeface="맑은 고딕"/>
                <a:ea typeface="맑은 고딕"/>
                <a:cs typeface="맑은 고딕"/>
              </a:rPr>
              <a:t>응답을 돌려준다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연결 방식 두 가지: stdio와 Streamable HTTP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서버를 내 PC에서 하위 프로세스로 띄워 쓰면 stdio이고, 이미 떠 있는 서버에 주소로 접속하면 Streamable HTTP이다.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연결방식.svg" descr="illust_664671354876871980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722180"/>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stdio (standard input/output)</a:t>
            </a:r>
          </a:p>
          <a:p>
            <a:pPr algn="ctr">
              <a:lnSpc>
                <a:spcPct val="110000"/>
              </a:lnSpc>
              <a:spcAft>
                <a:spcPts val="100"/>
              </a:spcAft>
            </a:pPr>
            <a:r>
              <a:rPr sz="1300" b="0">
                <a:solidFill>
                  <a:srgbClr val="556175"/>
                </a:solidFill>
                <a:latin typeface="맑은 고딕"/>
                <a:ea typeface="맑은 고딕"/>
                <a:cs typeface="맑은 고딕"/>
              </a:rPr>
              <a:t>호스트가 서버를 하위 프로세스로 띄운다</a:t>
            </a:r>
          </a:p>
        </p:txBody>
      </p:sp>
      <p:sp>
        <p:nvSpPr>
          <p:cNvPr id="8" name="TextBox 7"/>
          <p:cNvSpPr txBox="1"/>
          <p:nvPr/>
        </p:nvSpPr>
        <p:spPr>
          <a:xfrm>
            <a:off x="6575865" y="1722180"/>
            <a:ext cx="458198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Streamable HTTP</a:t>
            </a:r>
          </a:p>
          <a:p>
            <a:pPr algn="ctr">
              <a:lnSpc>
                <a:spcPct val="110000"/>
              </a:lnSpc>
              <a:spcAft>
                <a:spcPts val="100"/>
              </a:spcAft>
            </a:pPr>
            <a:r>
              <a:rPr sz="1300" b="0">
                <a:solidFill>
                  <a:srgbClr val="556175"/>
                </a:solidFill>
                <a:latin typeface="맑은 고딕"/>
                <a:ea typeface="맑은 고딕"/>
                <a:cs typeface="맑은 고딕"/>
              </a:rPr>
              <a:t>떠 있는 서버에 주소로 접속한다</a:t>
            </a:r>
          </a:p>
        </p:txBody>
      </p:sp>
      <p:sp>
        <p:nvSpPr>
          <p:cNvPr id="9" name="TextBox 8"/>
          <p:cNvSpPr txBox="1"/>
          <p:nvPr/>
        </p:nvSpPr>
        <p:spPr>
          <a:xfrm>
            <a:off x="1426583" y="441682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0" name="TextBox 9"/>
          <p:cNvSpPr txBox="1"/>
          <p:nvPr/>
        </p:nvSpPr>
        <p:spPr>
          <a:xfrm>
            <a:off x="3673939" y="441682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프로세스</a:t>
            </a:r>
          </a:p>
        </p:txBody>
      </p:sp>
      <p:sp>
        <p:nvSpPr>
          <p:cNvPr id="11" name="TextBox 10"/>
          <p:cNvSpPr txBox="1"/>
          <p:nvPr/>
        </p:nvSpPr>
        <p:spPr>
          <a:xfrm>
            <a:off x="2670266" y="328223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입력</a:t>
            </a:r>
          </a:p>
        </p:txBody>
      </p:sp>
      <p:sp>
        <p:nvSpPr>
          <p:cNvPr id="12" name="TextBox 11"/>
          <p:cNvSpPr txBox="1"/>
          <p:nvPr/>
        </p:nvSpPr>
        <p:spPr>
          <a:xfrm>
            <a:off x="2670266" y="420409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출력</a:t>
            </a:r>
          </a:p>
        </p:txBody>
      </p:sp>
      <p:sp>
        <p:nvSpPr>
          <p:cNvPr id="13" name="TextBox 12"/>
          <p:cNvSpPr txBox="1"/>
          <p:nvPr/>
        </p:nvSpPr>
        <p:spPr>
          <a:xfrm>
            <a:off x="1404764" y="5527776"/>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PC 안에서 주고받는다</a:t>
            </a:r>
          </a:p>
        </p:txBody>
      </p:sp>
      <p:sp>
        <p:nvSpPr>
          <p:cNvPr id="14" name="TextBox 13"/>
          <p:cNvSpPr txBox="1"/>
          <p:nvPr/>
        </p:nvSpPr>
        <p:spPr>
          <a:xfrm>
            <a:off x="6652231" y="318768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5" name="TextBox 14"/>
          <p:cNvSpPr txBox="1"/>
          <p:nvPr/>
        </p:nvSpPr>
        <p:spPr>
          <a:xfrm>
            <a:off x="6652231" y="52110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6" name="TextBox 15"/>
          <p:cNvSpPr txBox="1"/>
          <p:nvPr/>
        </p:nvSpPr>
        <p:spPr>
          <a:xfrm>
            <a:off x="9325058" y="4818659"/>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a:t>
            </a:r>
          </a:p>
          <a:p>
            <a:pPr algn="ctr">
              <a:lnSpc>
                <a:spcPct val="110000"/>
              </a:lnSpc>
              <a:spcAft>
                <a:spcPts val="100"/>
              </a:spcAft>
            </a:pPr>
            <a:r>
              <a:rPr sz="1300" b="0">
                <a:solidFill>
                  <a:srgbClr val="556175"/>
                </a:solidFill>
                <a:latin typeface="맑은 고딕"/>
                <a:ea typeface="맑은 고딕"/>
                <a:cs typeface="맑은 고딕"/>
              </a:rPr>
              <a:t>HTTP 요청을 받아 응답한다</a:t>
            </a:r>
          </a:p>
        </p:txBody>
      </p:sp>
      <p:sp>
        <p:nvSpPr>
          <p:cNvPr id="17" name="TextBox 16"/>
          <p:cNvSpPr txBox="1"/>
          <p:nvPr/>
        </p:nvSpPr>
        <p:spPr>
          <a:xfrm>
            <a:off x="6532227" y="5787786"/>
            <a:ext cx="480017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여러 클라이언트가 한 서버를 함께 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서버 설정 두 건: 명령으로 띄우는 서버와 주소로 접속하는 서버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설정에서 stdio 서버는 실행할 명령으로, HTTP 서버는 접속할 주소로 적혀 있어 연결 방식이 그대로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356104"/>
            <a:ext cx="6766560" cy="327050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93264"/>
            <a:ext cx="6400800" cy="299618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"mcpServers": {</a:t>
            </a:r>
          </a:p>
          <a:p>
            <a:pPr algn="l">
              <a:lnSpc>
                <a:spcPct val="110000"/>
              </a:lnSpc>
              <a:spcAft>
                <a:spcPts val="200"/>
              </a:spcAft>
            </a:pPr>
            <a:r>
              <a:rPr sz="1300" b="0">
                <a:solidFill>
                  <a:srgbClr val="E8EEF6"/>
                </a:solidFill>
                <a:latin typeface="Consolas"/>
                <a:ea typeface="맑은 고딕"/>
                <a:cs typeface="맑은 고딕"/>
              </a:rPr>
              <a:t>    "neo4j": {</a:t>
            </a:r>
          </a:p>
          <a:p>
            <a:pPr algn="l">
              <a:lnSpc>
                <a:spcPct val="110000"/>
              </a:lnSpc>
              <a:spcAft>
                <a:spcPts val="200"/>
              </a:spcAft>
            </a:pPr>
            <a:r>
              <a:rPr sz="1300" b="0">
                <a:solidFill>
                  <a:srgbClr val="E8EEF6"/>
                </a:solidFill>
                <a:latin typeface="Consolas"/>
                <a:ea typeface="맑은 고딕"/>
                <a:cs typeface="맑은 고딕"/>
              </a:rPr>
              <a:t>      "command": "uvx",</a:t>
            </a:r>
          </a:p>
          <a:p>
            <a:pPr algn="l">
              <a:lnSpc>
                <a:spcPct val="110000"/>
              </a:lnSpc>
              <a:spcAft>
                <a:spcPts val="200"/>
              </a:spcAft>
            </a:pPr>
            <a:r>
              <a:rPr sz="1300" b="0">
                <a:solidFill>
                  <a:srgbClr val="E8EEF6"/>
                </a:solidFill>
                <a:latin typeface="Consolas"/>
                <a:ea typeface="맑은 고딕"/>
                <a:cs typeface="맑은 고딕"/>
              </a:rPr>
              <a:t>      "args": ["mcp-neo4j-cypher@0.4.1",</a:t>
            </a:r>
          </a:p>
          <a:p>
            <a:pPr algn="l">
              <a:lnSpc>
                <a:spcPct val="110000"/>
              </a:lnSpc>
              <a:spcAft>
                <a:spcPts val="200"/>
              </a:spcAft>
            </a:pPr>
            <a:r>
              <a:rPr sz="1300" b="0">
                <a:solidFill>
                  <a:srgbClr val="E8EEF6"/>
                </a:solidFill>
                <a:latin typeface="Consolas"/>
                <a:ea typeface="맑은 고딕"/>
                <a:cs typeface="맑은 고딕"/>
              </a:rPr>
              <a:t>               "--transport", "stdio"]</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"hyd-dmn": {</a:t>
            </a:r>
          </a:p>
          <a:p>
            <a:pPr algn="l">
              <a:lnSpc>
                <a:spcPct val="110000"/>
              </a:lnSpc>
              <a:spcAft>
                <a:spcPts val="200"/>
              </a:spcAft>
            </a:pPr>
            <a:r>
              <a:rPr sz="1300" b="0">
                <a:solidFill>
                  <a:srgbClr val="E8EEF6"/>
                </a:solidFill>
                <a:latin typeface="Consolas"/>
                <a:ea typeface="맑은 고딕"/>
                <a:cs typeface="맑은 고딕"/>
              </a:rPr>
              <a:t>      "type": "url",</a:t>
            </a:r>
          </a:p>
          <a:p>
            <a:pPr algn="l">
              <a:lnSpc>
                <a:spcPct val="110000"/>
              </a:lnSpc>
              <a:spcAft>
                <a:spcPts val="200"/>
              </a:spcAft>
            </a:pPr>
            <a:r>
              <a:rPr sz="1300" b="0">
                <a:solidFill>
                  <a:srgbClr val="E8EEF6"/>
                </a:solidFill>
                <a:latin typeface="Consolas"/>
                <a:ea typeface="맑은 고딕"/>
                <a:cs typeface="맑은 고딕"/>
              </a:rPr>
              <a:t>      "url": "http://dmn-mcp:8198/mcp",</a:t>
            </a:r>
          </a:p>
          <a:p>
            <a:pPr algn="l">
              <a:lnSpc>
                <a:spcPct val="110000"/>
              </a:lnSpc>
              <a:spcAft>
                <a:spcPts val="200"/>
              </a:spcAft>
            </a:pPr>
            <a:r>
              <a:rPr sz="1300" b="0">
                <a:solidFill>
                  <a:srgbClr val="E8EEF6"/>
                </a:solidFill>
                <a:latin typeface="Consolas"/>
                <a:ea typeface="맑은 고딕"/>
                <a:cs typeface="맑은 고딕"/>
              </a:rPr>
              <a:t>      "transport": "streamable_http"</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2356104"/>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mcpServers</a:t>
            </a:r>
          </a:p>
          <a:p>
            <a:pPr algn="l">
              <a:lnSpc>
                <a:spcPct val="110000"/>
              </a:lnSpc>
              <a:spcAft>
                <a:spcPts val="400"/>
              </a:spcAft>
            </a:pPr>
            <a:r>
              <a:rPr sz="1400" b="0">
                <a:solidFill>
                  <a:srgbClr val="1F2A3A"/>
                </a:solidFill>
                <a:latin typeface="맑은 고딕"/>
                <a:ea typeface="맑은 고딕"/>
                <a:cs typeface="맑은 고딕"/>
              </a:rPr>
              <a:t>서버 이름마다 연결 설정이 한 건씩 있다.</a:t>
            </a:r>
          </a:p>
        </p:txBody>
      </p:sp>
      <p:sp>
        <p:nvSpPr>
          <p:cNvPr id="9" name="TextBox 8"/>
          <p:cNvSpPr txBox="1"/>
          <p:nvPr/>
        </p:nvSpPr>
        <p:spPr>
          <a:xfrm>
            <a:off x="7635240" y="3446272"/>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command · args</a:t>
            </a:r>
          </a:p>
          <a:p>
            <a:pPr algn="l">
              <a:lnSpc>
                <a:spcPct val="110000"/>
              </a:lnSpc>
              <a:spcAft>
                <a:spcPts val="400"/>
              </a:spcAft>
            </a:pPr>
            <a:r>
              <a:rPr sz="1400" b="0">
                <a:solidFill>
                  <a:srgbClr val="1F2A3A"/>
                </a:solidFill>
                <a:latin typeface="맑은 고딕"/>
                <a:ea typeface="맑은 고딕"/>
                <a:cs typeface="맑은 고딕"/>
              </a:rPr>
              <a:t>실행할 프로그램과 인자를 적는다. stdio 서버이다.</a:t>
            </a:r>
          </a:p>
        </p:txBody>
      </p:sp>
      <p:sp>
        <p:nvSpPr>
          <p:cNvPr id="10" name="TextBox 9"/>
          <p:cNvSpPr txBox="1"/>
          <p:nvPr/>
        </p:nvSpPr>
        <p:spPr>
          <a:xfrm>
            <a:off x="7635240" y="4536440"/>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url</a:t>
            </a:r>
          </a:p>
          <a:p>
            <a:pPr algn="l">
              <a:lnSpc>
                <a:spcPct val="110000"/>
              </a:lnSpc>
              <a:spcAft>
                <a:spcPts val="400"/>
              </a:spcAft>
            </a:pPr>
            <a:r>
              <a:rPr sz="1400" b="0">
                <a:solidFill>
                  <a:srgbClr val="1F2A3A"/>
                </a:solidFill>
                <a:latin typeface="맑은 고딕"/>
                <a:ea typeface="맑은 고딕"/>
                <a:cs typeface="맑은 고딕"/>
              </a:rPr>
              <a:t>접속할 주소를 적는다. Streamable HTTP 서버이다.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둘 가운데 하나만 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스킬이 빠지면 순서를 처음부터 정해야 하고 도구가 빠지면 실행하지 못하므로, 에이전트의 일에는 둘이 함께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스킬만 있다</a:t>
            </a:r>
          </a:p>
          <a:p>
            <a:pPr algn="l">
              <a:lnSpc>
                <a:spcPct val="110000"/>
              </a:lnSpc>
              <a:spcAft>
                <a:spcPts val="400"/>
              </a:spcAft>
            </a:pPr>
            <a:r>
              <a:rPr sz="1400" b="0">
                <a:solidFill>
                  <a:srgbClr val="1F2A3A"/>
                </a:solidFill>
                <a:latin typeface="맑은 고딕"/>
                <a:ea typeface="맑은 고딕"/>
                <a:cs typeface="맑은 고딕"/>
              </a:rPr>
              <a:t>• 절차에 적힌 도구를 부를 수 없다</a:t>
            </a:r>
          </a:p>
          <a:p>
            <a:pPr algn="l">
              <a:lnSpc>
                <a:spcPct val="110000"/>
              </a:lnSpc>
              <a:spcAft>
                <a:spcPts val="400"/>
              </a:spcAft>
            </a:pPr>
            <a:r>
              <a:rPr sz="1400" b="0">
                <a:solidFill>
                  <a:srgbClr val="1F2A3A"/>
                </a:solidFill>
                <a:latin typeface="맑은 고딕"/>
                <a:ea typeface="맑은 고딕"/>
                <a:cs typeface="맑은 고딕"/>
              </a:rPr>
              <a:t>• 값을 받지 못해 판단에 근거가 없다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방법만 안다</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도구만 있다</a:t>
            </a:r>
          </a:p>
          <a:p>
            <a:pPr algn="l">
              <a:lnSpc>
                <a:spcPct val="110000"/>
              </a:lnSpc>
              <a:spcAft>
                <a:spcPts val="400"/>
              </a:spcAft>
            </a:pPr>
            <a:r>
              <a:rPr sz="1400" b="0">
                <a:solidFill>
                  <a:srgbClr val="1F2A3A"/>
                </a:solidFill>
                <a:latin typeface="맑은 고딕"/>
                <a:ea typeface="맑은 고딕"/>
                <a:cs typeface="맑은 고딕"/>
              </a:rPr>
              <a:t>• 무엇을 어떤 순서로 부를지 에이전트가 처음부터 정한다</a:t>
            </a:r>
          </a:p>
          <a:p>
            <a:pPr algn="l">
              <a:lnSpc>
                <a:spcPct val="110000"/>
              </a:lnSpc>
              <a:spcAft>
                <a:spcPts val="400"/>
              </a:spcAft>
            </a:pPr>
            <a:r>
              <a:rPr sz="1400" b="0">
                <a:solidFill>
                  <a:srgbClr val="1F2A3A"/>
                </a:solidFill>
                <a:latin typeface="맑은 고딕"/>
                <a:ea typeface="맑은 고딕"/>
                <a:cs typeface="맑은 고딕"/>
              </a:rPr>
              <a:t>• 실행마다 순서와 결과의 모양이 달라질 수 있다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순서가 없다</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ircle-check" descr="circl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둘 다 있다</a:t>
            </a:r>
          </a:p>
          <a:p>
            <a:pPr algn="l">
              <a:lnSpc>
                <a:spcPct val="110000"/>
              </a:lnSpc>
              <a:spcAft>
                <a:spcPts val="400"/>
              </a:spcAft>
            </a:pPr>
            <a:r>
              <a:rPr sz="1400" b="0">
                <a:solidFill>
                  <a:srgbClr val="1F2A3A"/>
                </a:solidFill>
                <a:latin typeface="맑은 고딕"/>
                <a:ea typeface="맑은 고딕"/>
                <a:cs typeface="맑은 고딕"/>
              </a:rPr>
              <a:t>• 스킬의 절차대로 서버의 도구를 부른다</a:t>
            </a:r>
          </a:p>
          <a:p>
            <a:pPr algn="l">
              <a:lnSpc>
                <a:spcPct val="110000"/>
              </a:lnSpc>
              <a:spcAft>
                <a:spcPts val="400"/>
              </a:spcAft>
            </a:pPr>
            <a:r>
              <a:rPr sz="1400" b="0">
                <a:solidFill>
                  <a:srgbClr val="1F2A3A"/>
                </a:solidFill>
                <a:latin typeface="맑은 고딕"/>
                <a:ea typeface="맑은 고딕"/>
                <a:cs typeface="맑은 고딕"/>
              </a:rPr>
              <a:t>• 순서가 일정하고 결과에 근거가 붙는다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방법과 실행</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실행에서 본 스킬의 단계와 서버의 응답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경보의 실행 기록을 스킬의 단계와 나란히 놓으면, 단계마다 어느 서버가 무엇을 돌려주었는지가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스킬의 단계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호출된 도구 · 실행한 서버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돌려받은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2단계 / 원인 진단</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diagnose</a:t>
            </a:r>
          </a:p>
          <a:p>
            <a:pPr algn="l">
              <a:lnSpc>
                <a:spcPct val="110000"/>
              </a:lnSpc>
            </a:pPr>
            <a:r>
              <a:rPr sz="1400" b="0">
                <a:solidFill>
                  <a:srgbClr val="1F2A3A"/>
                </a:solidFill>
                <a:latin typeface="맑은 고딕"/>
                <a:ea typeface="맑은 고딕"/>
                <a:cs typeface="맑은 고딕"/>
              </a:rPr>
              <a:t>hyd-dmn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1순위</a:t>
            </a:r>
          </a:p>
          <a:p>
            <a:pPr algn="l">
              <a:lnSpc>
                <a:spcPct val="110000"/>
              </a:lnSpc>
            </a:pPr>
            <a:r>
              <a:rPr sz="1250" b="1">
                <a:solidFill>
                  <a:srgbClr val="556175"/>
                </a:solidFill>
                <a:latin typeface="맑은 고딕"/>
                <a:ea typeface="맑은 고딕"/>
                <a:cs typeface="맑은 고딕"/>
              </a:rPr>
              <a:t>cause:cooler-fin-fouling</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3단계 / 사실 확인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mes_orders · qms_lots</a:t>
            </a:r>
          </a:p>
          <a:p>
            <a:pPr algn="l">
              <a:lnSpc>
                <a:spcPct val="110000"/>
              </a:lnSpc>
            </a:pPr>
            <a:r>
              <a:rPr sz="1400" b="0">
                <a:solidFill>
                  <a:srgbClr val="1F2A3A"/>
                </a:solidFill>
                <a:latin typeface="맑은 고딕"/>
                <a:ea typeface="맑은 고딕"/>
                <a:cs typeface="맑은 고딕"/>
              </a:rPr>
              <a:t>enterprise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오더 MO-0930-0412</a:t>
            </a:r>
          </a:p>
          <a:p>
            <a:pPr algn="l">
              <a:lnSpc>
                <a:spcPct val="110000"/>
              </a:lnSpc>
            </a:pPr>
            <a:r>
              <a:rPr sz="1250" b="1">
                <a:solidFill>
                  <a:srgbClr val="556175"/>
                </a:solidFill>
                <a:latin typeface="맑은 고딕"/>
                <a:ea typeface="맑은 고딕"/>
                <a:cs typeface="맑은 고딕"/>
              </a:rPr>
              <a:t>출하 대기 로트 L-0930-A17</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4단계 / 후보 비교</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evaluate_cards</a:t>
            </a:r>
          </a:p>
          <a:p>
            <a:pPr algn="l">
              <a:lnSpc>
                <a:spcPct val="110000"/>
              </a:lnSpc>
            </a:pPr>
            <a:r>
              <a:rPr sz="1400" b="0">
                <a:solidFill>
                  <a:srgbClr val="1F2A3A"/>
                </a:solidFill>
                <a:latin typeface="맑은 고딕"/>
                <a:ea typeface="맑은 고딕"/>
                <a:cs typeface="맑은 고딕"/>
              </a:rPr>
              <a:t>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후보와 규정, 순위</a:t>
            </a:r>
          </a:p>
          <a:p>
            <a:pPr algn="l">
              <a:lnSpc>
                <a:spcPct val="110000"/>
              </a:lnSpc>
            </a:pPr>
            <a:r>
              <a:rPr sz="1250" b="1">
                <a:solidFill>
                  <a:srgbClr val="556175"/>
                </a:solidFill>
                <a:latin typeface="맑은 고딕"/>
                <a:ea typeface="맑은 고딕"/>
                <a:cs typeface="맑은 고딕"/>
              </a:rPr>
              <a:t>응답이 커서 좁혀 다시 조회</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5단계 / 판단 제출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submit_decision</a:t>
            </a:r>
          </a:p>
          <a:p>
            <a:pPr algn="l">
              <a:lnSpc>
                <a:spcPct val="110000"/>
              </a:lnSpc>
            </a:pPr>
            <a:r>
              <a:rPr sz="1400" b="0">
                <a:solidFill>
                  <a:srgbClr val="1F2A3A"/>
                </a:solidFill>
                <a:latin typeface="맑은 고딕"/>
                <a:ea typeface="맑은 고딕"/>
                <a:cs typeface="맑은 고딕"/>
              </a:rPr>
              <a:t>hyd-dmn</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판단 번호</a:t>
            </a:r>
          </a:p>
          <a:p>
            <a:pPr algn="l">
              <a:lnSpc>
                <a:spcPct val="110000"/>
              </a:lnSpc>
            </a:pPr>
            <a:r>
              <a:rPr sz="1250" b="1">
                <a:solidFill>
                  <a:srgbClr val="1A6FC4"/>
                </a:solidFill>
                <a:latin typeface="맑은 고딕"/>
                <a:ea typeface="맑은 고딕"/>
                <a:cs typeface="맑은 고딕"/>
              </a:rPr>
              <a:t>DEC-1010-056-0972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02단원 정리: 도구 호출 한 번이 지나가는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 한 번은 스킬의 한 줄에서 시작해 모델, 클라이언트, 서버를 차례로 거쳐 시스템의 값을 읽어 돌아온다.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9" name="Oval 8"/>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358088" y="3238544"/>
            <a:ext cx="599985" cy="599985"/>
          </a:xfrm>
          <a:prstGeom prst="rect">
            <a:avLst/>
          </a:prstGeom>
        </p:spPr>
      </p:pic>
      <p:sp>
        <p:nvSpPr>
          <p:cNvPr id="11" name="TextBox 10"/>
          <p:cNvSpPr txBox="1"/>
          <p:nvPr/>
        </p:nvSpPr>
        <p:spPr>
          <a:xfrm>
            <a:off x="64007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스킬</a:t>
            </a:r>
          </a:p>
          <a:p>
            <a:pPr algn="ctr">
              <a:lnSpc>
                <a:spcPct val="110000"/>
              </a:lnSpc>
              <a:spcAft>
                <a:spcPts val="400"/>
              </a:spcAft>
            </a:pPr>
            <a:r>
              <a:rPr sz="1300" b="0">
                <a:solidFill>
                  <a:srgbClr val="1F2A3A"/>
                </a:solidFill>
                <a:latin typeface="맑은 고딕"/>
                <a:ea typeface="맑은 고딕"/>
                <a:cs typeface="맑은 고딕"/>
              </a:rPr>
              <a:t>절차의 한 줄</a:t>
            </a:r>
          </a:p>
          <a:p>
            <a:pPr algn="ctr">
              <a:lnSpc>
                <a:spcPct val="110000"/>
              </a:lnSpc>
              <a:spcAft>
                <a:spcPts val="400"/>
              </a:spcAft>
            </a:pPr>
            <a:r>
              <a:rPr sz="1300" b="0">
                <a:solidFill>
                  <a:srgbClr val="1F2A3A"/>
                </a:solidFill>
                <a:latin typeface="맑은 고딕"/>
                <a:ea typeface="맑은 고딕"/>
                <a:cs typeface="맑은 고딕"/>
              </a:rPr>
              <a:t>「diagnose로 원인을 얻는다」</a:t>
            </a:r>
          </a:p>
        </p:txBody>
      </p:sp>
      <p:sp>
        <p:nvSpPr>
          <p:cNvPr id="12" name="Chevron 11"/>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요청</a:t>
            </a:r>
          </a:p>
        </p:txBody>
      </p:sp>
      <p:sp>
        <p:nvSpPr>
          <p:cNvPr id="14" name="Oval 13"/>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6" name="TextBox 15"/>
          <p:cNvSpPr txBox="1"/>
          <p:nvPr/>
        </p:nvSpPr>
        <p:spPr>
          <a:xfrm>
            <a:off x="2858963"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모델</a:t>
            </a:r>
          </a:p>
          <a:p>
            <a:pPr algn="ctr">
              <a:lnSpc>
                <a:spcPct val="110000"/>
              </a:lnSpc>
              <a:spcAft>
                <a:spcPts val="400"/>
              </a:spcAft>
            </a:pPr>
            <a:r>
              <a:rPr sz="1300" b="0">
                <a:solidFill>
                  <a:srgbClr val="1F2A3A"/>
                </a:solidFill>
                <a:latin typeface="맑은 고딕"/>
                <a:ea typeface="맑은 고딕"/>
                <a:cs typeface="맑은 고딕"/>
              </a:rPr>
              <a:t>호출 요청</a:t>
            </a:r>
          </a:p>
          <a:p>
            <a:pPr algn="ctr">
              <a:lnSpc>
                <a:spcPct val="110000"/>
              </a:lnSpc>
              <a:spcAft>
                <a:spcPts val="400"/>
              </a:spcAft>
            </a:pPr>
            <a:r>
              <a:rPr sz="1300" b="0">
                <a:solidFill>
                  <a:srgbClr val="1F2A3A"/>
                </a:solidFill>
                <a:latin typeface="맑은 고딕"/>
                <a:ea typeface="맑은 고딕"/>
                <a:cs typeface="맑은 고딕"/>
              </a:rPr>
              <a:t>도구 이름과 입력</a:t>
            </a:r>
          </a:p>
        </p:txBody>
      </p:sp>
      <p:sp>
        <p:nvSpPr>
          <p:cNvPr id="17" name="Chevron 16"/>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19" name="Oval 18"/>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plug-connected" descr="plug-connected_13294B_1.6.png"/>
          <p:cNvPicPr>
            <a:picLocks noChangeAspect="1"/>
          </p:cNvPicPr>
          <p:nvPr/>
        </p:nvPicPr>
        <p:blipFill>
          <a:blip r:embed="rId5"/>
          <a:stretch>
            <a:fillRect/>
          </a:stretch>
        </p:blipFill>
        <p:spPr>
          <a:xfrm>
            <a:off x="5795854" y="3238544"/>
            <a:ext cx="599985" cy="599985"/>
          </a:xfrm>
          <a:prstGeom prst="rect">
            <a:avLst/>
          </a:prstGeom>
        </p:spPr>
      </p:pic>
      <p:sp>
        <p:nvSpPr>
          <p:cNvPr id="21" name="TextBox 20"/>
          <p:cNvSpPr txBox="1"/>
          <p:nvPr/>
        </p:nvSpPr>
        <p:spPr>
          <a:xfrm>
            <a:off x="5077846"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클라이언트</a:t>
            </a:r>
          </a:p>
          <a:p>
            <a:pPr algn="ctr">
              <a:lnSpc>
                <a:spcPct val="110000"/>
              </a:lnSpc>
              <a:spcAft>
                <a:spcPts val="400"/>
              </a:spcAft>
            </a:pPr>
            <a:r>
              <a:rPr sz="1300" b="0">
                <a:solidFill>
                  <a:srgbClr val="1F2A3A"/>
                </a:solidFill>
                <a:latin typeface="맑은 고딕"/>
                <a:ea typeface="맑은 고딕"/>
                <a:cs typeface="맑은 고딕"/>
              </a:rPr>
              <a:t>tools/call로</a:t>
            </a:r>
          </a:p>
          <a:p>
            <a:pPr algn="ctr">
              <a:lnSpc>
                <a:spcPct val="110000"/>
              </a:lnSpc>
              <a:spcAft>
                <a:spcPts val="400"/>
              </a:spcAft>
            </a:pPr>
            <a:r>
              <a:rPr sz="1300" b="0">
                <a:solidFill>
                  <a:srgbClr val="1F2A3A"/>
                </a:solidFill>
                <a:latin typeface="맑은 고딕"/>
                <a:ea typeface="맑은 고딕"/>
                <a:cs typeface="맑은 고딕"/>
              </a:rPr>
              <a:t>서버에 전달</a:t>
            </a:r>
          </a:p>
        </p:txBody>
      </p:sp>
      <p:sp>
        <p:nvSpPr>
          <p:cNvPr id="22" name="Chevron 21"/>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조회</a:t>
            </a:r>
          </a:p>
        </p:txBody>
      </p:sp>
      <p:sp>
        <p:nvSpPr>
          <p:cNvPr id="24" name="Oval 23"/>
          <p:cNvSpPr/>
          <p:nvPr/>
        </p:nvSpPr>
        <p:spPr>
          <a:xfrm>
            <a:off x="7737821"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25" name="아이콘:server" descr="server_13294B_1.6.png"/>
          <p:cNvPicPr>
            <a:picLocks noChangeAspect="1"/>
          </p:cNvPicPr>
          <p:nvPr/>
        </p:nvPicPr>
        <p:blipFill>
          <a:blip r:embed="rId6"/>
          <a:stretch>
            <a:fillRect/>
          </a:stretch>
        </p:blipFill>
        <p:spPr>
          <a:xfrm>
            <a:off x="8014737" y="3238544"/>
            <a:ext cx="599985" cy="599985"/>
          </a:xfrm>
          <a:prstGeom prst="rect">
            <a:avLst/>
          </a:prstGeom>
        </p:spPr>
      </p:pic>
      <p:sp>
        <p:nvSpPr>
          <p:cNvPr id="26" name="TextBox 25"/>
          <p:cNvSpPr txBox="1"/>
          <p:nvPr/>
        </p:nvSpPr>
        <p:spPr>
          <a:xfrm>
            <a:off x="729672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서버</a:t>
            </a:r>
          </a:p>
          <a:p>
            <a:pPr algn="ctr">
              <a:lnSpc>
                <a:spcPct val="110000"/>
              </a:lnSpc>
              <a:spcAft>
                <a:spcPts val="400"/>
              </a:spcAft>
            </a:pPr>
            <a:r>
              <a:rPr sz="1300" b="0">
                <a:solidFill>
                  <a:srgbClr val="1F2A3A"/>
                </a:solidFill>
                <a:latin typeface="맑은 고딕"/>
                <a:ea typeface="맑은 고딕"/>
                <a:cs typeface="맑은 고딕"/>
              </a:rPr>
              <a:t>hyd-dmn이</a:t>
            </a:r>
          </a:p>
          <a:p>
            <a:pPr algn="ctr">
              <a:lnSpc>
                <a:spcPct val="110000"/>
              </a:lnSpc>
              <a:spcAft>
                <a:spcPts val="400"/>
              </a:spcAft>
            </a:pPr>
            <a:r>
              <a:rPr sz="1300" b="0">
                <a:solidFill>
                  <a:srgbClr val="1F2A3A"/>
                </a:solidFill>
                <a:latin typeface="맑은 고딕"/>
                <a:ea typeface="맑은 고딕"/>
                <a:cs typeface="맑은 고딕"/>
              </a:rPr>
              <a:t>도구를 실행</a:t>
            </a:r>
          </a:p>
        </p:txBody>
      </p:sp>
      <p:sp>
        <p:nvSpPr>
          <p:cNvPr id="27" name="Oval 26"/>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8" name="아이콘:database" descr="database_13294B_1.6.png"/>
          <p:cNvPicPr>
            <a:picLocks noChangeAspect="1"/>
          </p:cNvPicPr>
          <p:nvPr/>
        </p:nvPicPr>
        <p:blipFill>
          <a:blip r:embed="rId7"/>
          <a:stretch>
            <a:fillRect/>
          </a:stretch>
        </p:blipFill>
        <p:spPr>
          <a:xfrm>
            <a:off x="10233620" y="3238544"/>
            <a:ext cx="599985" cy="599985"/>
          </a:xfrm>
          <a:prstGeom prst="rect">
            <a:avLst/>
          </a:prstGeom>
        </p:spPr>
      </p:pic>
      <p:sp>
        <p:nvSpPr>
          <p:cNvPr id="29" name="TextBox 28"/>
          <p:cNvSpPr txBox="1"/>
          <p:nvPr/>
        </p:nvSpPr>
        <p:spPr>
          <a:xfrm>
            <a:off x="9515612"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a:t>
            </a:r>
          </a:p>
          <a:p>
            <a:pPr algn="ctr">
              <a:lnSpc>
                <a:spcPct val="110000"/>
              </a:lnSpc>
              <a:spcAft>
                <a:spcPts val="400"/>
              </a:spcAft>
            </a:pPr>
            <a:r>
              <a:rPr sz="1300" b="0">
                <a:solidFill>
                  <a:srgbClr val="1F2A3A"/>
                </a:solidFill>
                <a:latin typeface="맑은 고딕"/>
                <a:ea typeface="맑은 고딕"/>
                <a:cs typeface="맑은 고딕"/>
              </a:rPr>
              <a:t>지식 그래프와</a:t>
            </a:r>
          </a:p>
          <a:p>
            <a:pPr algn="ctr">
              <a:lnSpc>
                <a:spcPct val="110000"/>
              </a:lnSpc>
              <a:spcAft>
                <a:spcPts val="400"/>
              </a:spcAft>
            </a:pPr>
            <a:r>
              <a:rPr sz="1300" b="0">
                <a:solidFill>
                  <a:srgbClr val="1F2A3A"/>
                </a:solidFill>
                <a:latin typeface="맑은 고딕"/>
                <a:ea typeface="맑은 고딕"/>
                <a:cs typeface="맑은 고딕"/>
              </a:rPr>
              <a:t>시계열 DB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도구 연결의 안전 기준</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권한, 파일 범위, 비밀값, 불완전한 응답과 실패를 다루는 기준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학생이 등록한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pic>
        <p:nvPicPr>
          <p:cNvPr id="6" name="삽화:세겹.svg" descr="illust_712004416715373490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허용 목록: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사람의 허락 없이는 실행되지 않으므로, 이 목록이 에이전트가 쓰는 도구의 범위가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mcp__neo4j__get_neo4j_schema</a:t>
            </a:r>
          </a:p>
          <a:p>
            <a:pPr algn="l">
              <a:lnSpc>
                <a:spcPct val="110000"/>
              </a:lnSpc>
              <a:spcAft>
                <a:spcPts val="200"/>
              </a:spcAft>
            </a:pPr>
            <a:r>
              <a:rPr sz="1300" b="0">
                <a:solidFill>
                  <a:srgbClr val="E8EEF6"/>
                </a:solidFill>
                <a:latin typeface="Consolas"/>
                <a:ea typeface="맑은 고딕"/>
                <a:cs typeface="맑은 고딕"/>
              </a:rPr>
              <a:t>mcp__neo4j__read_neo4j_cypher</a:t>
            </a:r>
          </a:p>
          <a:p>
            <a:pPr algn="l">
              <a:lnSpc>
                <a:spcPct val="110000"/>
              </a:lnSpc>
              <a:spcAft>
                <a:spcPts val="200"/>
              </a:spcAft>
            </a:pPr>
            <a:r>
              <a:rPr sz="1300" b="0">
                <a:solidFill>
                  <a:srgbClr val="E8EEF6"/>
                </a:solidFill>
                <a:latin typeface="Consolas"/>
                <a:ea typeface="맑은 고딕"/>
                <a:cs typeface="맑은 고딕"/>
              </a:rPr>
              <a:t>mcp__hyd-dmn__*</a:t>
            </a:r>
          </a:p>
          <a:p>
            <a:pPr algn="l">
              <a:lnSpc>
                <a:spcPct val="110000"/>
              </a:lnSpc>
              <a:spcAft>
                <a:spcPts val="200"/>
              </a:spcAft>
            </a:pPr>
            <a:r>
              <a:rPr sz="1300" b="0">
                <a:solidFill>
                  <a:srgbClr val="E8EEF6"/>
                </a:solidFill>
                <a:latin typeface="Consolas"/>
                <a:ea typeface="맑은 고딕"/>
                <a:cs typeface="맑은 고딕"/>
              </a:rPr>
              <a:t>mcp__enterprise__*</a:t>
            </a:r>
          </a:p>
          <a:p>
            <a:pPr algn="l">
              <a:lnSpc>
                <a:spcPct val="110000"/>
              </a:lnSpc>
              <a:spcAft>
                <a:spcPts val="200"/>
              </a:spcAft>
            </a:pPr>
            <a:r>
              <a:rPr sz="1300" b="0">
                <a:solidFill>
                  <a:srgbClr val="E8EEF6"/>
                </a:solidFill>
                <a:latin typeface="Consolas"/>
                <a:ea typeface="맑은 고딕"/>
                <a:cs typeface="맑은 고딕"/>
              </a:rPr>
              <a:t>mcp__enterprise-maint__*</a:t>
            </a:r>
          </a:p>
          <a:p>
            <a:pPr algn="l">
              <a:lnSpc>
                <a:spcPct val="110000"/>
              </a:lnSpc>
              <a:spcAft>
                <a:spcPts val="200"/>
              </a:spcAft>
            </a:pPr>
            <a:r>
              <a:rPr sz="1300" b="0">
                <a:solidFill>
                  <a:srgbClr val="E8EEF6"/>
                </a:solidFill>
                <a:latin typeface="Consolas"/>
                <a:ea typeface="맑은 고딕"/>
                <a:cs typeface="맑은 고딕"/>
              </a:rPr>
              <a:t>mcp__enterprise-purchase__*</a:t>
            </a:r>
          </a:p>
          <a:p>
            <a:pPr algn="l">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neo4j</a:t>
            </a:r>
          </a:p>
          <a:p>
            <a:pPr algn="l">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별표</a:t>
            </a:r>
          </a:p>
          <a:p>
            <a:pPr algn="l">
              <a:lnSpc>
                <a:spcPct val="110000"/>
              </a:lnSpc>
              <a:spcAft>
                <a:spcPts val="400"/>
              </a:spcAft>
            </a:pPr>
            <a:r>
              <a:rPr sz="1400" b="0">
                <a:solidFill>
                  <a:srgbClr val="1F2A3A"/>
                </a:solidFill>
                <a:latin typeface="맑은 고딕"/>
                <a:ea typeface="맑은 고딕"/>
                <a:cs typeface="맑은 고딕"/>
              </a:rPr>
              <a:t>그 서버가 내주는 도구 전부를 뜻한다.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학생이 등록한 서버</a:t>
            </a:r>
          </a:p>
          <a:p>
            <a:pPr algn="l">
              <a:lnSpc>
                <a:spcPct val="110000"/>
              </a:lnSpc>
              <a:spcAft>
                <a:spcPts val="400"/>
              </a:spcAft>
            </a:pPr>
            <a:r>
              <a:rPr sz="1400" b="0">
                <a:solidFill>
                  <a:srgbClr val="1F2A3A"/>
                </a:solidFill>
                <a:latin typeface="맑은 고딕"/>
                <a:ea typeface="맑은 고딕"/>
                <a:cs typeface="맑은 고딕"/>
              </a:rPr>
              <a:t>읽기로 인정된 도구의 이름만 오른다. 설정을 고치면 다시 검사한다.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Read · Skill</a:t>
            </a:r>
          </a:p>
          <a:p>
            <a:pPr algn="l">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쓰기의 세 층: 판단의 제출, 설비 명령, 업무 기록과 발송</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쓰기는 사람이 고를 안을 제출하는 데까지이고, 설비 명령과 업무 기록은 승인 뒤에 시스템이 수행한다.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file-export" descr="file-expor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판단의 제출</a:t>
            </a:r>
          </a:p>
          <a:p>
            <a:pPr algn="l">
              <a:lnSpc>
                <a:spcPct val="110000"/>
              </a:lnSpc>
              <a:spcAft>
                <a:spcPts val="400"/>
              </a:spcAft>
            </a:pPr>
            <a:r>
              <a:rPr sz="1400" b="0">
                <a:solidFill>
                  <a:srgbClr val="1F2A3A"/>
                </a:solidFill>
                <a:latin typeface="맑은 고딕"/>
                <a:ea typeface="맑은 고딕"/>
                <a:cs typeface="맑은 고딕"/>
              </a:rPr>
              <a:t>• submit_decision</a:t>
            </a:r>
          </a:p>
          <a:p>
            <a:pPr algn="l">
              <a:lnSpc>
                <a:spcPct val="110000"/>
              </a:lnSpc>
              <a:spcAft>
                <a:spcPts val="400"/>
              </a:spcAft>
            </a:pPr>
            <a:r>
              <a:rPr sz="1400" b="0">
                <a:solidFill>
                  <a:srgbClr val="1F2A3A"/>
                </a:solidFill>
                <a:latin typeface="맑은 고딕"/>
                <a:ea typeface="맑은 고딕"/>
                <a:cs typeface="맑은 고딕"/>
              </a:rPr>
              <a:t>• 사람이 고를 추천안을 기록한다</a:t>
            </a:r>
          </a:p>
          <a:p>
            <a:pPr algn="l">
              <a:lnSpc>
                <a:spcPct val="110000"/>
              </a:lnSpc>
              <a:spcAft>
                <a:spcPts val="400"/>
              </a:spcAft>
            </a:pPr>
            <a:r>
              <a:rPr sz="1400" b="0">
                <a:solidFill>
                  <a:srgbClr val="1F2A3A"/>
                </a:solidFill>
                <a:latin typeface="맑은 고딕"/>
                <a:ea typeface="맑은 고딕"/>
                <a:cs typeface="맑은 고딕"/>
              </a:rPr>
              <a:t>• 설비는 건드리지 않는다</a:t>
            </a:r>
          </a:p>
        </p:txBody>
      </p:sp>
      <p:sp>
        <p:nvSpPr>
          <p:cNvPr id="10" name="Rounded Rectangle 9"/>
          <p:cNvSpPr/>
          <p:nvPr/>
        </p:nvSpPr>
        <p:spPr>
          <a:xfrm>
            <a:off x="777240" y="5041392"/>
            <a:ext cx="9753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olt" descr="bol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 명령</a:t>
            </a:r>
          </a:p>
          <a:p>
            <a:pPr algn="l">
              <a:lnSpc>
                <a:spcPct val="110000"/>
              </a:lnSpc>
              <a:spcAft>
                <a:spcPts val="400"/>
              </a:spcAft>
            </a:pPr>
            <a:r>
              <a:rPr sz="1400" b="0">
                <a:solidFill>
                  <a:srgbClr val="1F2A3A"/>
                </a:solidFill>
                <a:latin typeface="맑은 고딕"/>
                <a:ea typeface="맑은 고딕"/>
                <a:cs typeface="맑은 고딕"/>
              </a:rPr>
              <a:t>• 팬 속도를 바꾸는 명령</a:t>
            </a:r>
          </a:p>
          <a:p>
            <a:pPr algn="l">
              <a:lnSpc>
                <a:spcPct val="110000"/>
              </a:lnSpc>
              <a:spcAft>
                <a:spcPts val="400"/>
              </a:spcAft>
            </a:pPr>
            <a:r>
              <a:rPr sz="1400" b="0">
                <a:solidFill>
                  <a:srgbClr val="1F2A3A"/>
                </a:solidFill>
                <a:latin typeface="맑은 고딕"/>
                <a:ea typeface="맑은 고딕"/>
                <a:cs typeface="맑은 고딕"/>
              </a:rPr>
              <a:t>• 담당자가 승인한 뒤에 만들어진다</a:t>
            </a:r>
          </a:p>
        </p:txBody>
      </p:sp>
      <p:sp>
        <p:nvSpPr>
          <p:cNvPr id="16" name="Rounded Rectangle 15"/>
          <p:cNvSpPr/>
          <p:nvPr/>
        </p:nvSpPr>
        <p:spPr>
          <a:xfrm>
            <a:off x="4566818" y="5041392"/>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뒤의 시스템</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mail" descr="mail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업무 기록과 메일</a:t>
            </a:r>
          </a:p>
          <a:p>
            <a:pPr algn="l">
              <a:lnSpc>
                <a:spcPct val="110000"/>
              </a:lnSpc>
              <a:spcAft>
                <a:spcPts val="400"/>
              </a:spcAft>
            </a:pPr>
            <a:r>
              <a:rPr sz="1400" b="0">
                <a:solidFill>
                  <a:srgbClr val="1F2A3A"/>
                </a:solidFill>
                <a:latin typeface="맑은 고딕"/>
                <a:ea typeface="맑은 고딕"/>
                <a:cs typeface="맑은 고딕"/>
              </a:rPr>
              <a:t>• 작업지시의 등록, 메일의 발송</a:t>
            </a:r>
          </a:p>
          <a:p>
            <a:pPr algn="l">
              <a:lnSpc>
                <a:spcPct val="110000"/>
              </a:lnSpc>
              <a:spcAft>
                <a:spcPts val="400"/>
              </a:spcAft>
            </a:pPr>
            <a:r>
              <a:rPr sz="1400" b="0">
                <a:solidFill>
                  <a:srgbClr val="1F2A3A"/>
                </a:solidFill>
                <a:latin typeface="맑은 고딕"/>
                <a:ea typeface="맑은 고딕"/>
                <a:cs typeface="맑은 고딕"/>
              </a:rPr>
              <a:t>• send_mail은 에이전트에 연결하지 않는다</a:t>
            </a:r>
          </a:p>
        </p:txBody>
      </p:sp>
      <p:sp>
        <p:nvSpPr>
          <p:cNvPr id="22" name="Rounded Rectangle 21"/>
          <p:cNvSpPr/>
          <p:nvPr/>
        </p:nvSpPr>
        <p:spPr>
          <a:xfrm>
            <a:off x="8356396" y="5041392"/>
            <a:ext cx="15239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뒤의 시스템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최소 권한 원칙: Principle of Least Privilege</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것만 주는 최소 권한 원칙에 따라, 업무 DB 서버는 정비용과 구매용으로 나뉘어 에이전트마다 따로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8757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8757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8757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연결한 업무 DB 서버</a:t>
            </a:r>
          </a:p>
        </p:txBody>
      </p:sp>
      <p:sp>
        <p:nvSpPr>
          <p:cNvPr id="9" name="TextBox 8"/>
          <p:cNvSpPr txBox="1"/>
          <p:nvPr/>
        </p:nvSpPr>
        <p:spPr>
          <a:xfrm>
            <a:off x="9448495" y="28757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받는 도구</a:t>
            </a:r>
          </a:p>
        </p:txBody>
      </p:sp>
      <p:sp>
        <p:nvSpPr>
          <p:cNvPr id="10" name="Rounded Rectangle 9"/>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2" name="TextBox 11"/>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enterprise-maint</a:t>
            </a:r>
          </a:p>
        </p:txBody>
      </p:sp>
      <p:sp>
        <p:nvSpPr>
          <p:cNvPr id="13" name="TextBox 12"/>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정비 쪽 4개</a:t>
            </a:r>
          </a:p>
          <a:p>
            <a:pPr algn="l">
              <a:lnSpc>
                <a:spcPct val="110000"/>
              </a:lnSpc>
            </a:pPr>
            <a:r>
              <a:rPr sz="1250" b="1">
                <a:solidFill>
                  <a:srgbClr val="556175"/>
                </a:solidFill>
                <a:latin typeface="맑은 고딕"/>
                <a:ea typeface="맑은 고딕"/>
                <a:cs typeface="맑은 고딕"/>
              </a:rPr>
              <a:t>pm_status 등</a:t>
            </a:r>
          </a:p>
        </p:txBody>
      </p:sp>
      <p:sp>
        <p:nvSpPr>
          <p:cNvPr id="14" name="Rounded Rectangle 13"/>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16" name="TextBox 15"/>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enterprise-purchase</a:t>
            </a:r>
          </a:p>
        </p:txBody>
      </p:sp>
      <p:sp>
        <p:nvSpPr>
          <p:cNvPr id="17" name="TextBox 16"/>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구매 쪽 3개</a:t>
            </a:r>
          </a:p>
          <a:p>
            <a:pPr algn="l">
              <a:lnSpc>
                <a:spcPct val="110000"/>
              </a:lnSpc>
            </a:pPr>
            <a:r>
              <a:rPr sz="1250" b="1">
                <a:solidFill>
                  <a:srgbClr val="556175"/>
                </a:solidFill>
                <a:latin typeface="맑은 고딕"/>
                <a:ea typeface="맑은 고딕"/>
                <a:cs typeface="맑은 고딕"/>
              </a:rPr>
              <a:t>part_quotes 등</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파일 접근 범위: 작업 폴더 하나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읽고 쓸 파일의 범위는 실행마다 주어지는 작업 폴더 하나로 정해 지시하고, 결과를 쓸 자리도 그 안에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older" descr="folder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범위</a:t>
            </a:r>
          </a:p>
          <a:p>
            <a:pPr algn="l">
              <a:lnSpc>
                <a:spcPct val="110000"/>
              </a:lnSpc>
              <a:spcAft>
                <a:spcPts val="400"/>
              </a:spcAft>
            </a:pPr>
            <a:r>
              <a:rPr sz="1400" b="0">
                <a:solidFill>
                  <a:srgbClr val="1F2A3A"/>
                </a:solidFill>
                <a:latin typeface="맑은 고딕"/>
                <a:ea typeface="맑은 고딕"/>
                <a:cs typeface="맑은 고딕"/>
              </a:rPr>
              <a:t>• 실행마다 작업 폴더 하나를 준다</a:t>
            </a:r>
          </a:p>
          <a:p>
            <a:pPr algn="l">
              <a:lnSpc>
                <a:spcPct val="110000"/>
              </a:lnSpc>
              <a:spcAft>
                <a:spcPts val="400"/>
              </a:spcAft>
            </a:pPr>
            <a:r>
              <a:rPr sz="1400" b="0">
                <a:solidFill>
                  <a:srgbClr val="1F2A3A"/>
                </a:solidFill>
                <a:latin typeface="맑은 고딕"/>
                <a:ea typeface="맑은 고딕"/>
                <a:cs typeface="맑은 고딕"/>
              </a:rPr>
              <a:t>• 「작업 디렉터리 밖의 파일을 읽거나 수정하지 마세요.」</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작업 폴더</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home-off" descr="home-off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금지</a:t>
            </a:r>
          </a:p>
          <a:p>
            <a:pPr algn="l">
              <a:lnSpc>
                <a:spcPct val="110000"/>
              </a:lnSpc>
              <a:spcAft>
                <a:spcPts val="400"/>
              </a:spcAft>
            </a:pPr>
            <a:r>
              <a:rPr sz="1400" b="0">
                <a:solidFill>
                  <a:srgbClr val="1F2A3A"/>
                </a:solidFill>
                <a:latin typeface="맑은 고딕"/>
                <a:ea typeface="맑은 고딕"/>
                <a:cs typeface="맑은 고딕"/>
              </a:rPr>
              <a:t>• 「홈 디렉터리를 찾아보지 마세요.」</a:t>
            </a:r>
          </a:p>
          <a:p>
            <a:pPr algn="l">
              <a:lnSpc>
                <a:spcPct val="110000"/>
              </a:lnSpc>
              <a:spcAft>
                <a:spcPts val="400"/>
              </a:spcAft>
            </a:pPr>
            <a:r>
              <a:rPr sz="1400" b="0">
                <a:solidFill>
                  <a:srgbClr val="1F2A3A"/>
                </a:solidFill>
                <a:latin typeface="맑은 고딕"/>
                <a:ea typeface="맑은 고딕"/>
                <a:cs typeface="맑은 고딕"/>
              </a:rPr>
              <a:t>• 홈에는 프로그램의 설정과 로그인 정보가 있다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홈 디렉터리</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결과 파일의 자리는 output/result.json 하나로 정해져 있다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정해진 경로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인증 비밀값: 설정에는 자리표시자, 값은 따로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설정에 토큰을 그대로 적으면 설정을 보는 누구에게나 드러나기 때문에, 자리표시자만 적고 값은 실행 직전에 채운다.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비밀값.svg" descr="illust_617877260197935283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91127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설정: 값 대신 자리표시자</a:t>
            </a:r>
          </a:p>
        </p:txBody>
      </p:sp>
      <p:sp>
        <p:nvSpPr>
          <p:cNvPr id="8" name="TextBox 7"/>
          <p:cNvSpPr txBox="1"/>
          <p:nvPr/>
        </p:nvSpPr>
        <p:spPr>
          <a:xfrm>
            <a:off x="1077479" y="3840077"/>
            <a:ext cx="349103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${SECRET:GOOGLE_TOKEN}</a:t>
            </a:r>
          </a:p>
        </p:txBody>
      </p:sp>
      <p:sp>
        <p:nvSpPr>
          <p:cNvPr id="9" name="TextBox 8"/>
          <p:cNvSpPr txBox="1"/>
          <p:nvPr/>
        </p:nvSpPr>
        <p:spPr>
          <a:xfrm>
            <a:off x="7350439" y="214765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비밀값 보관소</a:t>
            </a:r>
          </a:p>
          <a:p>
            <a:pPr algn="ctr">
              <a:lnSpc>
                <a:spcPct val="110000"/>
              </a:lnSpc>
              <a:spcAft>
                <a:spcPts val="100"/>
              </a:spcAft>
            </a:pPr>
            <a:r>
              <a:rPr sz="1300" b="0">
                <a:solidFill>
                  <a:srgbClr val="556175"/>
                </a:solidFill>
                <a:latin typeface="맑은 고딕"/>
                <a:ea typeface="맑은 고딕"/>
                <a:cs typeface="맑은 고딕"/>
              </a:rPr>
              <a:t>값은 설정과 따로 둔다</a:t>
            </a:r>
          </a:p>
        </p:txBody>
      </p:sp>
      <p:sp>
        <p:nvSpPr>
          <p:cNvPr id="10" name="TextBox 9"/>
          <p:cNvSpPr txBox="1"/>
          <p:nvPr/>
        </p:nvSpPr>
        <p:spPr>
          <a:xfrm>
            <a:off x="5364911" y="4227728"/>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실행 직전에 채운다</a:t>
            </a:r>
          </a:p>
        </p:txBody>
      </p:sp>
      <p:sp>
        <p:nvSpPr>
          <p:cNvPr id="11" name="TextBox 10"/>
          <p:cNvSpPr txBox="1"/>
          <p:nvPr/>
        </p:nvSpPr>
        <p:spPr>
          <a:xfrm>
            <a:off x="8354113" y="295131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MCP 서버</a:t>
            </a:r>
          </a:p>
          <a:p>
            <a:pPr algn="ctr">
              <a:lnSpc>
                <a:spcPct val="110000"/>
              </a:lnSpc>
              <a:spcAft>
                <a:spcPts val="100"/>
              </a:spcAft>
            </a:pPr>
            <a:r>
              <a:rPr sz="1300" b="0">
                <a:solidFill>
                  <a:srgbClr val="556175"/>
                </a:solidFill>
                <a:latin typeface="맑은 고딕"/>
                <a:ea typeface="맑은 고딕"/>
                <a:cs typeface="맑은 고딕"/>
              </a:rPr>
              <a:t>채워진 값으로 연결한다</a:t>
            </a:r>
          </a:p>
        </p:txBody>
      </p:sp>
      <p:sp>
        <p:nvSpPr>
          <p:cNvPr id="12" name="TextBox 11"/>
          <p:cNvSpPr txBox="1"/>
          <p:nvPr/>
        </p:nvSpPr>
        <p:spPr>
          <a:xfrm>
            <a:off x="6477679" y="522049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화면과 기록</a:t>
            </a:r>
          </a:p>
          <a:p>
            <a:pPr algn="ctr">
              <a:lnSpc>
                <a:spcPct val="110000"/>
              </a:lnSpc>
              <a:spcAft>
                <a:spcPts val="100"/>
              </a:spcAft>
            </a:pPr>
            <a:r>
              <a:rPr sz="1300" b="0">
                <a:solidFill>
                  <a:srgbClr val="556175"/>
                </a:solidFill>
                <a:latin typeface="맑은 고딕"/>
                <a:ea typeface="맑은 고딕"/>
                <a:cs typeface="맑은 고딕"/>
              </a:rPr>
              <a:t>가린 값만 보인다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자리표시자가 든 설정과 화면에 보이는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자리표시자가 든 설정은 열어 보아도 값이 드러나지 않고, 값이 준비되지 않은 서버는 그 실행에서 빠진다.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"my-drive": {</a:t>
            </a:r>
          </a:p>
          <a:p>
            <a:pPr algn="l">
              <a:lnSpc>
                <a:spcPct val="110000"/>
              </a:lnSpc>
              <a:spcAft>
                <a:spcPts val="200"/>
              </a:spcAft>
            </a:pPr>
            <a:r>
              <a:rPr sz="1300" b="0">
                <a:solidFill>
                  <a:srgbClr val="E8EEF6"/>
                </a:solidFill>
                <a:latin typeface="Consolas"/>
                <a:ea typeface="맑은 고딕"/>
                <a:cs typeface="맑은 고딕"/>
              </a:rPr>
              <a:t>  "type": "url",</a:t>
            </a:r>
          </a:p>
          <a:p>
            <a:pPr algn="l">
              <a:lnSpc>
                <a:spcPct val="110000"/>
              </a:lnSpc>
              <a:spcAft>
                <a:spcPts val="200"/>
              </a:spcAft>
            </a:pPr>
            <a:r>
              <a:rPr sz="1300" b="0">
                <a:solidFill>
                  <a:srgbClr val="E8EEF6"/>
                </a:solidFill>
                <a:latin typeface="Consolas"/>
                <a:ea typeface="맑은 고딕"/>
                <a:cs typeface="맑은 고딕"/>
              </a:rPr>
              <a:t>  "url": "https://</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/mcp",</a:t>
            </a:r>
          </a:p>
          <a:p>
            <a:pPr algn="l">
              <a:lnSpc>
                <a:spcPct val="110000"/>
              </a:lnSpc>
              <a:spcAft>
                <a:spcPts val="200"/>
              </a:spcAft>
            </a:pPr>
            <a:r>
              <a:rPr sz="1300" b="0">
                <a:solidFill>
                  <a:srgbClr val="E8EEF6"/>
                </a:solidFill>
                <a:latin typeface="Consolas"/>
                <a:ea typeface="맑은 고딕"/>
                <a:cs typeface="맑은 고딕"/>
              </a:rPr>
              <a:t>  "headers": {</a:t>
            </a:r>
          </a:p>
          <a:p>
            <a:pPr algn="l">
              <a:lnSpc>
                <a:spcPct val="110000"/>
              </a:lnSpc>
              <a:spcAft>
                <a:spcPts val="200"/>
              </a:spcAft>
            </a:pPr>
            <a:r>
              <a:rPr sz="1300" b="0">
                <a:solidFill>
                  <a:srgbClr val="E8EEF6"/>
                </a:solidFill>
                <a:latin typeface="Consolas"/>
                <a:ea typeface="맑은 고딕"/>
                <a:cs typeface="맑은 고딕"/>
              </a:rPr>
              <a:t>    "Authorization":</a:t>
            </a:r>
          </a:p>
          <a:p>
            <a:pPr algn="l">
              <a:lnSpc>
                <a:spcPct val="110000"/>
              </a:lnSpc>
              <a:spcAft>
                <a:spcPts val="200"/>
              </a:spcAft>
            </a:pPr>
            <a:r>
              <a:rPr sz="1300" b="0">
                <a:solidFill>
                  <a:srgbClr val="E8EEF6"/>
                </a:solidFill>
                <a:latin typeface="Consolas"/>
                <a:ea typeface="맑은 고딕"/>
                <a:cs typeface="맑은 고딕"/>
              </a:rPr>
              <a:t>      "Bearer ${SECRET:GOOGLE_TOKEN}"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화면에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접속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정보</a:t>
            </a:r>
          </a:p>
          <a:p>
            <a:pPr algn="l">
              <a:lnSpc>
                <a:spcPct val="110000"/>
              </a:lnSpc>
              <a:spcAft>
                <a:spcPts val="200"/>
              </a:spcAft>
            </a:pPr>
            <a:r>
              <a:rPr sz="1300" b="0">
                <a:solidFill>
                  <a:srgbClr val="E8EEF6"/>
                </a:solidFill>
                <a:latin typeface="Consolas"/>
                <a:ea typeface="맑은 고딕"/>
                <a:cs typeface="맑은 고딕"/>
              </a:rPr>
              <a:t>"NEO4J_PASSWORD":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${SECRET:이름}</a:t>
            </a:r>
          </a:p>
          <a:p>
            <a:pPr algn="l">
              <a:lnSpc>
                <a:spcPct val="110000"/>
              </a:lnSpc>
              <a:spcAft>
                <a:spcPts val="400"/>
              </a:spcAft>
            </a:pPr>
            <a:r>
              <a:rPr sz="1400" b="0">
                <a:solidFill>
                  <a:srgbClr val="1F2A3A"/>
                </a:solidFill>
                <a:latin typeface="맑은 고딕"/>
                <a:ea typeface="맑은 고딕"/>
                <a:cs typeface="맑은 고딕"/>
              </a:rPr>
              <a:t>값이 들어갈 자리와 그 값의 이름이다.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값이 없을 때</a:t>
            </a:r>
          </a:p>
          <a:p>
            <a:pPr algn="l">
              <a:lnSpc>
                <a:spcPct val="110000"/>
              </a:lnSpc>
              <a:spcAft>
                <a:spcPts val="400"/>
              </a:spcAft>
            </a:pPr>
            <a:r>
              <a:rPr sz="1400" b="0">
                <a:solidFill>
                  <a:srgbClr val="1F2A3A"/>
                </a:solidFill>
                <a:latin typeface="맑은 고딕"/>
                <a:ea typeface="맑은 고딕"/>
                <a:cs typeface="맑은 고딕"/>
              </a:rPr>
              <a:t>빈 값으로 연결하지 않고 그 서버를 실행에서 뺀다.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가린 값</a:t>
            </a:r>
          </a:p>
          <a:p>
            <a:pPr algn="l">
              <a:lnSpc>
                <a:spcPct val="110000"/>
              </a:lnSpc>
              <a:spcAft>
                <a:spcPts val="400"/>
              </a:spcAft>
            </a:pPr>
            <a:r>
              <a:rPr sz="1400" b="0">
                <a:solidFill>
                  <a:srgbClr val="1F2A3A"/>
                </a:solidFill>
                <a:latin typeface="맑은 고딕"/>
                <a:ea typeface="맑은 고딕"/>
                <a:cs typeface="맑은 고딕"/>
              </a:rPr>
              <a:t>화면에 보일 때는 값을 별표로 가린다.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환경변수</a:t>
            </a:r>
          </a:p>
          <a:p>
            <a:pPr algn="l">
              <a:lnSpc>
                <a:spcPct val="110000"/>
              </a:lnSpc>
              <a:spcAft>
                <a:spcPts val="400"/>
              </a:spcAft>
            </a:pPr>
            <a:r>
              <a:rPr sz="1400" b="0">
                <a:solidFill>
                  <a:srgbClr val="1F2A3A"/>
                </a:solidFill>
                <a:latin typeface="맑은 고딕"/>
                <a:ea typeface="맑은 고딕"/>
                <a:cs typeface="맑은 고딕"/>
              </a:rPr>
              <a:t>접속 문자열과 비밀번호가 든 환경변수는 에이전트를 띄우기 전에 지운다.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외부 응답은 불완전할 수 있다: 잘린 결과의 실제 사례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후보를 비교한 응답이 128,466자여서 본문이 전달되지 않았고, 에이전트는 읽지 못한 범위를 보고에 밝혔다.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tool" descr="tool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a:t>
            </a:r>
          </a:p>
          <a:p>
            <a:pPr algn="ctr">
              <a:lnSpc>
                <a:spcPct val="110000"/>
              </a:lnSpc>
              <a:spcAft>
                <a:spcPts val="400"/>
              </a:spcAft>
            </a:pPr>
            <a:r>
              <a:rPr sz="1350" b="0">
                <a:solidFill>
                  <a:srgbClr val="1F2A3A"/>
                </a:solidFill>
                <a:latin typeface="맑은 고딕"/>
                <a:ea typeface="맑은 고딕"/>
                <a:cs typeface="맑은 고딕"/>
              </a:rPr>
              <a:t>evaluate_cards</a:t>
            </a:r>
          </a:p>
          <a:p>
            <a:pPr algn="ctr">
              <a:lnSpc>
                <a:spcPct val="110000"/>
              </a:lnSpc>
              <a:spcAft>
                <a:spcPts val="400"/>
              </a:spcAft>
            </a:pPr>
            <a:r>
              <a:rPr sz="1350" b="0">
                <a:solidFill>
                  <a:srgbClr val="1F2A3A"/>
                </a:solidFill>
                <a:latin typeface="맑은 고딕"/>
                <a:ea typeface="맑은 고딕"/>
                <a:cs typeface="맑은 고딕"/>
              </a:rPr>
              <a:t>807 ms</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cissors" descr="scissors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응답</a:t>
            </a:r>
          </a:p>
          <a:p>
            <a:pPr algn="ctr">
              <a:lnSpc>
                <a:spcPct val="110000"/>
              </a:lnSpc>
              <a:spcAft>
                <a:spcPts val="400"/>
              </a:spcAft>
            </a:pPr>
            <a:r>
              <a:rPr sz="1350" b="0">
                <a:solidFill>
                  <a:srgbClr val="1F2A3A"/>
                </a:solidFill>
                <a:latin typeface="맑은 고딕"/>
                <a:ea typeface="맑은 고딕"/>
                <a:cs typeface="맑은 고딕"/>
              </a:rPr>
              <a:t>128,466자</a:t>
            </a:r>
          </a:p>
          <a:p>
            <a:pPr algn="ctr">
              <a:lnSpc>
                <a:spcPct val="110000"/>
              </a:lnSpc>
              <a:spcAft>
                <a:spcPts val="400"/>
              </a:spcAft>
            </a:pPr>
            <a:r>
              <a:rPr sz="1350" b="0">
                <a:solidFill>
                  <a:srgbClr val="1F2A3A"/>
                </a:solidFill>
                <a:latin typeface="맑은 고딕"/>
                <a:ea typeface="맑은 고딕"/>
                <a:cs typeface="맑은 고딕"/>
              </a:rPr>
              <a:t>기록에 「결과 잘림」</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filter" descr="filter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조회</a:t>
            </a:r>
          </a:p>
          <a:p>
            <a:pPr algn="ctr">
              <a:lnSpc>
                <a:spcPct val="110000"/>
              </a:lnSpc>
              <a:spcAft>
                <a:spcPts val="400"/>
              </a:spcAft>
            </a:pPr>
            <a:r>
              <a:rPr sz="1350" b="0">
                <a:solidFill>
                  <a:srgbClr val="1F2A3A"/>
                </a:solidFill>
                <a:latin typeface="맑은 고딕"/>
                <a:ea typeface="맑은 고딕"/>
                <a:cs typeface="맑은 고딕"/>
              </a:rPr>
              <a:t>「필요한 항목만 좁혀</a:t>
            </a:r>
          </a:p>
          <a:p>
            <a:pPr algn="ctr">
              <a:lnSpc>
                <a:spcPct val="110000"/>
              </a:lnSpc>
              <a:spcAft>
                <a:spcPts val="400"/>
              </a:spcAft>
            </a:pPr>
            <a:r>
              <a:rPr sz="1350" b="0">
                <a:solidFill>
                  <a:srgbClr val="1F2A3A"/>
                </a:solidFill>
                <a:latin typeface="맑은 고딕"/>
                <a:ea typeface="맑은 고딕"/>
                <a:cs typeface="맑은 고딕"/>
              </a:rPr>
              <a:t>다시 뽑겠습니다.」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범위의 표시</a:t>
            </a:r>
          </a:p>
          <a:p>
            <a:pPr algn="ctr">
              <a:lnSpc>
                <a:spcPct val="110000"/>
              </a:lnSpc>
              <a:spcAft>
                <a:spcPts val="400"/>
              </a:spcAft>
            </a:pPr>
            <a:r>
              <a:rPr sz="1350" b="0">
                <a:solidFill>
                  <a:srgbClr val="1F2A3A"/>
                </a:solidFill>
                <a:latin typeface="맑은 고딕"/>
                <a:ea typeface="맑은 고딕"/>
                <a:cs typeface="맑은 고딕"/>
              </a:rPr>
              <a:t>열어 보지 못한 출력이</a:t>
            </a:r>
          </a:p>
          <a:p>
            <a:pPr algn="ctr">
              <a:lnSpc>
                <a:spcPct val="110000"/>
              </a:lnSpc>
              <a:spcAft>
                <a:spcPts val="400"/>
              </a:spcAft>
            </a:pPr>
            <a:r>
              <a:rPr sz="1350" b="0">
                <a:solidFill>
                  <a:srgbClr val="1F2A3A"/>
                </a:solidFill>
                <a:latin typeface="맑은 고딕"/>
                <a:ea typeface="맑은 고딕"/>
                <a:cs typeface="맑은 고딕"/>
              </a:rPr>
              <a:t>있음을 보고에 적었다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조회에 실패한 것을 0이나 빈 값으로 바꾸어 내면, 값이 없다는 틀린 사실이 판단에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a:p>
            <a:pPr algn="l">
              <a:lnSpc>
                <a:spcPct val="110000"/>
              </a:lnSpc>
            </a:pPr>
            <a:r>
              <a:rPr sz="1250" b="1">
                <a:solidFill>
                  <a:srgbClr val="1A6FC4"/>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 표시: 호출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 호출마다 시각과 입력과 받은 결과가 기록되어, 판단에 쓰인 값이 어느 호출에서 왔는지를 되짚을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hyd-dmn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diagnose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시각과 걸린 시간</a:t>
            </a:r>
          </a:p>
          <a:p>
            <a:pPr algn="l">
              <a:lnSpc>
                <a:spcPct val="110000"/>
              </a:lnSpc>
              <a:spcAft>
                <a:spcPts val="400"/>
              </a:spcAft>
            </a:pPr>
            <a:r>
              <a:rPr sz="1400" b="0">
                <a:solidFill>
                  <a:srgbClr val="1F2A3A"/>
                </a:solidFill>
                <a:latin typeface="맑은 고딕"/>
                <a:ea typeface="맑은 고딕"/>
                <a:cs typeface="맑은 고딕"/>
              </a:rPr>
              <a:t>언제 불렀고 얼마나 걸렸는지가 남는다.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서버와 도구</a:t>
            </a:r>
          </a:p>
          <a:p>
            <a:pPr algn="l">
              <a:lnSpc>
                <a:spcPct val="110000"/>
              </a:lnSpc>
              <a:spcAft>
                <a:spcPts val="400"/>
              </a:spcAft>
            </a:pPr>
            <a:r>
              <a:rPr sz="1400" b="0">
                <a:solidFill>
                  <a:srgbClr val="1F2A3A"/>
                </a:solidFill>
                <a:latin typeface="맑은 고딕"/>
                <a:ea typeface="맑은 고딕"/>
                <a:cs typeface="맑은 고딕"/>
              </a:rPr>
              <a:t>어느 서버의 어느 도구였는지가 남는다.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물음과 받음</a:t>
            </a:r>
          </a:p>
          <a:p>
            <a:pPr algn="l">
              <a:lnSpc>
                <a:spcPct val="110000"/>
              </a:lnSpc>
              <a:spcAft>
                <a:spcPts val="400"/>
              </a:spcAft>
            </a:pPr>
            <a:r>
              <a:rPr sz="1400" b="0">
                <a:solidFill>
                  <a:srgbClr val="1F2A3A"/>
                </a:solidFill>
                <a:latin typeface="맑은 고딕"/>
                <a:ea typeface="맑은 고딕"/>
                <a:cs typeface="맑은 고딕"/>
              </a:rPr>
              <a:t>넘긴 입력과 돌아온 원문이 나란히 남는다.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값의 출처</a:t>
            </a:r>
          </a:p>
          <a:p>
            <a:pPr algn="l">
              <a:lnSpc>
                <a:spcPct val="110000"/>
              </a:lnSpc>
              <a:spcAft>
                <a:spcPts val="400"/>
              </a:spcAft>
            </a:pPr>
            <a:r>
              <a:rPr sz="1400" b="0">
                <a:solidFill>
                  <a:srgbClr val="1F2A3A"/>
                </a:solidFill>
                <a:latin typeface="맑은 고딕"/>
                <a:ea typeface="맑은 고딕"/>
                <a:cs typeface="맑은 고딕"/>
              </a:rPr>
              <a:t>응답 안의 값마다 원천과 관측 시각이 붙는다.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포털과 로컬 개발 도구의 연결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포털은 등록과 연결 검사를 거쳐 서버를 붙이고, 로컬의 Claude Code는 설정 파일의 서버를 사용자가 허용해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 포털</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로컬의 Claude Code</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서버를 적는 곳</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포털의 도구 등록 화면</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 폴더의 설정 파일 .mcp.json</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도구의 허용</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연결 검사에서 읽기로 인정된 도구만</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사용자가 대화 중에 허용한다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비밀값</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자리표시자로 적고 값은 따로 보관한다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내 PC의 환경변수와 설정 파일</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서버가 도는 곳</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stdio는 에이전트를 실행하는 PC</a:t>
            </a:r>
          </a:p>
          <a:p>
            <a:pPr algn="l">
              <a:lnSpc>
                <a:spcPct val="110000"/>
              </a:lnSpc>
            </a:pPr>
            <a:r>
              <a:rPr sz="1400" b="0">
                <a:solidFill>
                  <a:srgbClr val="1F2A3A"/>
                </a:solidFill>
                <a:latin typeface="맑은 고딕"/>
                <a:ea typeface="맑은 고딕"/>
                <a:cs typeface="맑은 고딕"/>
              </a:rPr>
              <a:t>HTTP는 서버 쪽</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내 PC</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03단원 정리: 연결할 때 확인하는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연결할 때는 부를 수 있는 범위, 읽을 수 있는 파일, 비밀값의 자리, 응답이 어긋났을 때의 처리를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a:t>
            </a:r>
          </a:p>
          <a:p>
            <a:pPr algn="l">
              <a:lnSpc>
                <a:spcPct val="110000"/>
              </a:lnSpc>
              <a:spcAft>
                <a:spcPts val="400"/>
              </a:spcAft>
            </a:pPr>
            <a:r>
              <a:rPr sz="1350" b="0">
                <a:solidFill>
                  <a:srgbClr val="1F2A3A"/>
                </a:solidFill>
                <a:latin typeface="맑은 고딕"/>
                <a:ea typeface="맑은 고딕"/>
                <a:cs typeface="맑은 고딕"/>
              </a:rPr>
              <a:t>읽는 도구와 쓰는 도구를 가르고 필요한 서버만 연결한다</a:t>
            </a:r>
          </a:p>
        </p:txBody>
      </p:sp>
      <p:sp>
        <p:nvSpPr>
          <p:cNvPr id="10" name="Rounded Rectangle 9"/>
          <p:cNvSpPr/>
          <p:nvPr/>
        </p:nvSpPr>
        <p:spPr>
          <a:xfrm>
            <a:off x="777240" y="5029771"/>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표시와 허용 목록</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folder" descr="folder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 범위</a:t>
            </a:r>
          </a:p>
          <a:p>
            <a:pPr algn="l">
              <a:lnSpc>
                <a:spcPct val="110000"/>
              </a:lnSpc>
              <a:spcAft>
                <a:spcPts val="400"/>
              </a:spcAft>
            </a:pPr>
            <a:r>
              <a:rPr sz="1350" b="0">
                <a:solidFill>
                  <a:srgbClr val="1F2A3A"/>
                </a:solidFill>
                <a:latin typeface="맑은 고딕"/>
                <a:ea typeface="맑은 고딕"/>
                <a:cs typeface="맑은 고딕"/>
              </a:rPr>
              <a:t>읽고 쓸 폴더를 작업 폴더 하나로 정한다</a:t>
            </a:r>
          </a:p>
        </p:txBody>
      </p:sp>
      <p:sp>
        <p:nvSpPr>
          <p:cNvPr id="16" name="Rounded Rectangle 15"/>
          <p:cNvSpPr/>
          <p:nvPr/>
        </p:nvSpPr>
        <p:spPr>
          <a:xfrm>
            <a:off x="3619423" y="5029771"/>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작업 폴더</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비밀값</a:t>
            </a:r>
          </a:p>
          <a:p>
            <a:pPr algn="l">
              <a:lnSpc>
                <a:spcPct val="110000"/>
              </a:lnSpc>
              <a:spcAft>
                <a:spcPts val="400"/>
              </a:spcAft>
            </a:pPr>
            <a:r>
              <a:rPr sz="1350" b="0">
                <a:solidFill>
                  <a:srgbClr val="1F2A3A"/>
                </a:solidFill>
                <a:latin typeface="맑은 고딕"/>
                <a:ea typeface="맑은 고딕"/>
                <a:cs typeface="맑은 고딕"/>
              </a:rPr>
              <a:t>설정에는 자리표시자만 두고 화면과 기록에서는 가린다</a:t>
            </a:r>
          </a:p>
        </p:txBody>
      </p:sp>
      <p:sp>
        <p:nvSpPr>
          <p:cNvPr id="22" name="Rounded Rectangle 21"/>
          <p:cNvSpPr/>
          <p:nvPr/>
        </p:nvSpPr>
        <p:spPr>
          <a:xfrm>
            <a:off x="6461607" y="5029771"/>
            <a:ext cx="11277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자리표시자</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alert-triangle" descr="alert-triangle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응답과 실패</a:t>
            </a:r>
          </a:p>
          <a:p>
            <a:pPr algn="l">
              <a:lnSpc>
                <a:spcPct val="110000"/>
              </a:lnSpc>
              <a:spcAft>
                <a:spcPts val="400"/>
              </a:spcAft>
            </a:pPr>
            <a:r>
              <a:rPr sz="1350" b="0">
                <a:solidFill>
                  <a:srgbClr val="1F2A3A"/>
                </a:solidFill>
                <a:latin typeface="맑은 고딕"/>
                <a:ea typeface="맑은 고딕"/>
                <a:cs typeface="맑은 고딕"/>
              </a:rPr>
              <a:t>없음, 실패, 잘림을 구분하고 값의 출처를 남긴다</a:t>
            </a:r>
          </a:p>
        </p:txBody>
      </p:sp>
      <p:sp>
        <p:nvSpPr>
          <p:cNvPr id="28" name="Rounded Rectangle 27"/>
          <p:cNvSpPr/>
          <p:nvPr/>
        </p:nvSpPr>
        <p:spPr>
          <a:xfrm>
            <a:off x="9303791" y="5029771"/>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호출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업무 도구의 연결과 호출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MCP 서버의 등록 상태를 확인하고 읽기 도구를 직접 호출한다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것과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서버 하나가 연결 검사를 통과해 에이전트에 붙고, 읽기 도구를 부른 호출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서버 확인</a:t>
            </a:r>
          </a:p>
          <a:p>
            <a:pPr algn="ctr">
              <a:lnSpc>
                <a:spcPct val="110000"/>
              </a:lnSpc>
              <a:spcAft>
                <a:spcPts val="400"/>
              </a:spcAft>
            </a:pPr>
            <a:r>
              <a:rPr sz="1350" b="0">
                <a:solidFill>
                  <a:srgbClr val="1F2A3A"/>
                </a:solidFill>
                <a:latin typeface="맑은 고딕"/>
                <a:ea typeface="맑은 고딕"/>
                <a:cs typeface="맑은 고딕"/>
              </a:rPr>
              <a:t>등록된 서버의</a:t>
            </a:r>
          </a:p>
          <a:p>
            <a:pPr algn="ctr">
              <a:lnSpc>
                <a:spcPct val="110000"/>
              </a:lnSpc>
              <a:spcAft>
                <a:spcPts val="400"/>
              </a:spcAft>
            </a:pPr>
            <a:r>
              <a:rPr sz="1350" b="0">
                <a:solidFill>
                  <a:srgbClr val="1F2A3A"/>
                </a:solidFill>
                <a:latin typeface="맑은 고딕"/>
                <a:ea typeface="맑은 고딕"/>
                <a:cs typeface="맑은 고딕"/>
              </a:rPr>
              <a:t>연결 방식과 도구 목록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 검사</a:t>
            </a:r>
          </a:p>
          <a:p>
            <a:pPr algn="ctr">
              <a:lnSpc>
                <a:spcPct val="110000"/>
              </a:lnSpc>
              <a:spcAft>
                <a:spcPts val="400"/>
              </a:spcAft>
            </a:pPr>
            <a:r>
              <a:rPr sz="1350" b="0">
                <a:solidFill>
                  <a:srgbClr val="1F2A3A"/>
                </a:solidFill>
                <a:latin typeface="맑은 고딕"/>
                <a:ea typeface="맑은 고딕"/>
                <a:cs typeface="맑은 고딕"/>
              </a:rPr>
              <a:t>등록한 서버를 검사해</a:t>
            </a:r>
          </a:p>
          <a:p>
            <a:pPr algn="ctr">
              <a:lnSpc>
                <a:spcPct val="110000"/>
              </a:lnSpc>
              <a:spcAft>
                <a:spcPts val="400"/>
              </a:spcAft>
            </a:pPr>
            <a:r>
              <a:rPr sz="1350" b="0">
                <a:solidFill>
                  <a:srgbClr val="1F2A3A"/>
                </a:solidFill>
                <a:latin typeface="맑은 고딕"/>
                <a:ea typeface="맑은 고딕"/>
                <a:cs typeface="맑은 고딕"/>
              </a:rPr>
              <a:t>통과 표시를 받는다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호출</a:t>
            </a:r>
          </a:p>
          <a:p>
            <a:pPr algn="ctr">
              <a:lnSpc>
                <a:spcPct val="110000"/>
              </a:lnSpc>
              <a:spcAft>
                <a:spcPts val="400"/>
              </a:spcAft>
            </a:pPr>
            <a:r>
              <a:rPr sz="1350" b="0">
                <a:solidFill>
                  <a:srgbClr val="1F2A3A"/>
                </a:solidFill>
                <a:latin typeface="맑은 고딕"/>
                <a:ea typeface="맑은 고딕"/>
                <a:cs typeface="맑은 고딕"/>
              </a:rPr>
              <a:t>도구 이름, 입력 값,</a:t>
            </a:r>
          </a:p>
          <a:p>
            <a:pPr algn="ctr">
              <a:lnSpc>
                <a:spcPct val="110000"/>
              </a:lnSpc>
              <a:spcAft>
                <a:spcPts val="400"/>
              </a:spcAft>
            </a:pPr>
            <a:r>
              <a:rPr sz="1350" b="0">
                <a:solidFill>
                  <a:srgbClr val="1F2A3A"/>
                </a:solidFill>
                <a:latin typeface="맑은 고딕"/>
                <a:ea typeface="맑은 고딕"/>
                <a:cs typeface="맑은 고딕"/>
              </a:rPr>
              <a:t>반환된 행을 확인한다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에이전트에 연결</a:t>
            </a:r>
          </a:p>
          <a:p>
            <a:pPr algn="ctr">
              <a:lnSpc>
                <a:spcPct val="110000"/>
              </a:lnSpc>
              <a:spcAft>
                <a:spcPts val="400"/>
              </a:spcAft>
            </a:pPr>
            <a:r>
              <a:rPr sz="1350" b="0">
                <a:solidFill>
                  <a:srgbClr val="1F2A3A"/>
                </a:solidFill>
                <a:latin typeface="맑은 고딕"/>
                <a:ea typeface="맑은 고딕"/>
                <a:cs typeface="맑은 고딕"/>
              </a:rPr>
              <a:t>호출 기록을 확인하고</a:t>
            </a:r>
          </a:p>
          <a:p>
            <a:pPr algn="ctr">
              <a:lnSpc>
                <a:spcPct val="110000"/>
              </a:lnSpc>
              <a:spcAft>
                <a:spcPts val="400"/>
              </a:spcAft>
            </a:pPr>
            <a:r>
              <a:rPr sz="1350" b="0">
                <a:solidFill>
                  <a:srgbClr val="1F2A3A"/>
                </a:solidFill>
                <a:latin typeface="맑은 고딕"/>
                <a:ea typeface="맑은 고딕"/>
                <a:cs typeface="맑은 고딕"/>
              </a:rPr>
              <a:t>기존 에이전트에 붙인다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서로 다른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Code에 파일시스템, Git, 시간 서버를 연결하고 한 요청에서 조합한다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조합하는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서로 다른 세 서버의 도구를 한 요청에서 이어 부른 호출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서버마다 설정</a:t>
            </a:r>
          </a:p>
          <a:p>
            <a:pPr algn="l">
              <a:lnSpc>
                <a:spcPct val="110000"/>
              </a:lnSpc>
              <a:spcAft>
                <a:spcPts val="400"/>
              </a:spcAft>
            </a:pPr>
            <a:r>
              <a:rPr sz="1400" b="0">
                <a:solidFill>
                  <a:srgbClr val="1F2A3A"/>
                </a:solidFill>
                <a:latin typeface="맑은 고딕"/>
                <a:ea typeface="맑은 고딕"/>
                <a:cs typeface="맑은 고딕"/>
              </a:rPr>
              <a:t>파일시스템, Git, 시간 서버의 실행 방법과 접근 권한을 서버별로 정한다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목록과 결과의 비교</a:t>
            </a:r>
          </a:p>
          <a:p>
            <a:pPr algn="l">
              <a:lnSpc>
                <a:spcPct val="110000"/>
              </a:lnSpc>
              <a:spcAft>
                <a:spcPts val="400"/>
              </a:spcAft>
            </a:pPr>
            <a:r>
              <a:rPr sz="1400" b="0">
                <a:solidFill>
                  <a:srgbClr val="1F2A3A"/>
                </a:solidFill>
                <a:latin typeface="맑은 고딕"/>
                <a:ea typeface="맑은 고딕"/>
                <a:cs typeface="맑은 고딕"/>
              </a:rPr>
              <a:t>서버마다 도구 목록과 호출 결과가 어떻게 다른지 견준다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요청에서 조합</a:t>
            </a:r>
          </a:p>
          <a:p>
            <a:pPr algn="l">
              <a:lnSpc>
                <a:spcPct val="110000"/>
              </a:lnSpc>
              <a:spcAft>
                <a:spcPts val="400"/>
              </a:spcAft>
            </a:pPr>
            <a:r>
              <a:rPr sz="1400" b="0">
                <a:solidFill>
                  <a:srgbClr val="1F2A3A"/>
                </a:solidFill>
                <a:latin typeface="맑은 고딕"/>
                <a:ea typeface="맑은 고딕"/>
                <a:cs typeface="맑은 고딕"/>
              </a:rPr>
              <a:t>파일을 읽고, Git의 변경 기록을 확인하고, 시간 정보를 확인하는 일을 한 요청으로 이어 부른다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조합</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쓴 SKILL.md와, 그 스킬이 회의록에서 만들어 낸 작업 목록이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041392"/>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담당자나 기한이 없는 항목은 지어내지 않고 「미정」으로 표시하게 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Markdown과 JSON으로 만들고 회의록 원문과 대조해 검토한다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대화형 AI 학습 코치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학습 노트와 매뉴얼로 문항을 내고 출처를 붙여 답을 되짚어 주는 대화를 구성한다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대화의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학습 노트에서 문항을 내고 출처를 붙여 답을 되짚어 주는 대화형 학습 코치가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문항 생성</a:t>
            </a:r>
          </a:p>
          <a:p>
            <a:pPr algn="ctr">
              <a:lnSpc>
                <a:spcPct val="110000"/>
              </a:lnSpc>
              <a:spcAft>
                <a:spcPts val="400"/>
              </a:spcAft>
            </a:pPr>
            <a:r>
              <a:rPr sz="1350" b="0">
                <a:solidFill>
                  <a:srgbClr val="1F2A3A"/>
                </a:solidFill>
                <a:latin typeface="맑은 고딕"/>
                <a:ea typeface="맑은 고딕"/>
                <a:cs typeface="맑은 고딕"/>
              </a:rPr>
              <a:t>학습 노트나 매뉴얼에서</a:t>
            </a:r>
          </a:p>
          <a:p>
            <a:pPr algn="ctr">
              <a:lnSpc>
                <a:spcPct val="110000"/>
              </a:lnSpc>
              <a:spcAft>
                <a:spcPts val="400"/>
              </a:spcAft>
            </a:pPr>
            <a:r>
              <a:rPr sz="1350" b="0">
                <a:solidFill>
                  <a:srgbClr val="1F2A3A"/>
                </a:solidFill>
                <a:latin typeface="맑은 고딕"/>
                <a:ea typeface="맑은 고딕"/>
                <a:cs typeface="맑은 고딕"/>
              </a:rPr>
              <a:t>문항을 만든다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답변 입력</a:t>
            </a:r>
          </a:p>
          <a:p>
            <a:pPr algn="ctr">
              <a:lnSpc>
                <a:spcPct val="110000"/>
              </a:lnSpc>
              <a:spcAft>
                <a:spcPts val="400"/>
              </a:spcAft>
            </a:pPr>
            <a:r>
              <a:rPr sz="1350" b="0">
                <a:solidFill>
                  <a:srgbClr val="1F2A3A"/>
                </a:solidFill>
                <a:latin typeface="맑은 고딕"/>
                <a:ea typeface="맑은 고딕"/>
                <a:cs typeface="맑은 고딕"/>
              </a:rPr>
              <a:t>학생이</a:t>
            </a:r>
          </a:p>
          <a:p>
            <a:pPr algn="ctr">
              <a:lnSpc>
                <a:spcPct val="110000"/>
              </a:lnSpc>
              <a:spcAft>
                <a:spcPts val="400"/>
              </a:spcAft>
            </a:pPr>
            <a:r>
              <a:rPr sz="1350" b="0">
                <a:solidFill>
                  <a:srgbClr val="1F2A3A"/>
                </a:solidFill>
                <a:latin typeface="맑은 고딕"/>
                <a:ea typeface="맑은 고딕"/>
                <a:cs typeface="맑은 고딕"/>
              </a:rPr>
              <a:t>답을 적는다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890647"/>
            <a:ext cx="731520" cy="731520"/>
          </a:xfrm>
          <a:prstGeom prst="ellipse">
            <a:avLst/>
          </a:prstGeom>
          <a:solidFill>
            <a:srgbClr val="5CB8F2"/>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출처 기반 피드백</a:t>
            </a:r>
          </a:p>
          <a:p>
            <a:pPr algn="ctr">
              <a:lnSpc>
                <a:spcPct val="110000"/>
              </a:lnSpc>
              <a:spcAft>
                <a:spcPts val="400"/>
              </a:spcAft>
            </a:pPr>
            <a:r>
              <a:rPr sz="1350" b="0">
                <a:solidFill>
                  <a:srgbClr val="1F2A3A"/>
                </a:solidFill>
                <a:latin typeface="맑은 고딕"/>
                <a:ea typeface="맑은 고딕"/>
                <a:cs typeface="맑은 고딕"/>
              </a:rPr>
              <a:t>정답과 그 근거가 된</a:t>
            </a:r>
          </a:p>
          <a:p>
            <a:pPr algn="ctr">
              <a:lnSpc>
                <a:spcPct val="110000"/>
              </a:lnSpc>
              <a:spcAft>
                <a:spcPts val="400"/>
              </a:spcAft>
            </a:pPr>
            <a:r>
              <a:rPr sz="1350" b="0">
                <a:solidFill>
                  <a:srgbClr val="1F2A3A"/>
                </a:solidFill>
                <a:latin typeface="맑은 고딕"/>
                <a:ea typeface="맑은 고딕"/>
                <a:cs typeface="맑은 고딕"/>
              </a:rPr>
              <a:t>원문의 자리를 알려 준다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문항</a:t>
            </a:r>
          </a:p>
          <a:p>
            <a:pPr algn="ctr">
              <a:lnSpc>
                <a:spcPct val="110000"/>
              </a:lnSpc>
              <a:spcAft>
                <a:spcPts val="400"/>
              </a:spcAft>
            </a:pPr>
            <a:r>
              <a:rPr sz="1350" b="0">
                <a:solidFill>
                  <a:srgbClr val="1F2A3A"/>
                </a:solidFill>
                <a:latin typeface="맑은 고딕"/>
                <a:ea typeface="맑은 고딕"/>
                <a:cs typeface="맑은 고딕"/>
              </a:rPr>
              <a:t>같은 순서로</a:t>
            </a:r>
          </a:p>
          <a:p>
            <a:pPr algn="ctr">
              <a:lnSpc>
                <a:spcPct val="110000"/>
              </a:lnSpc>
              <a:spcAft>
                <a:spcPts val="400"/>
              </a:spcAft>
            </a:pPr>
            <a:r>
              <a:rPr sz="1350" b="0">
                <a:solidFill>
                  <a:srgbClr val="1F2A3A"/>
                </a:solidFill>
                <a:latin typeface="맑은 고딕"/>
                <a:ea typeface="맑은 고딕"/>
                <a:cs typeface="맑은 고딕"/>
              </a:rPr>
              <a:t>이어 간다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도구 연결에서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 연결에서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JSON-RPC</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stdio</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input/output</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호스트가 띄운 서버와의 연결 방식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readOnlyHint</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최소 권한 원칙</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Principle of Least Privilege</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필요한 서버와 도구만 연결</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예비품 재고를 조회하는 spare_stock 호출이 정해진 시간 안에 끝나지 못해 result가 error로 돌아왔다.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결과에 적을 내용으로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연결 검사를 통과한 서버의 도구가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