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에이전트의 실행 고리에서 시작하겠습니다. HYD-01의 쿨러 성능 저하 경보가 오면 에이전트는 도구를 불러 지식 그래프와 시계열 DB와 업무 DB에서 근거를 얻고, 돌아온 결과를 보고 다음 호출을 정합니다. 이 반복의 끝에 추천 하나와 대안을 담은 조치 카드 묶음이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달라진 것은 에이전트 위에 놓인 문서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스킬의 절차와 실제 실행 기록을 나란히 놓았습니다. 에이전트는 11시 13분 14초에 스킬을 읽었고, 4초 뒤에 diagnose를, 이어서 evaluate_cards와 submit_decision을 불렀습니다. 절차의 2단계와 4단계와 5단계에 적힌 순서 그대로입니다. 도구마다 걸린 시간도 기록에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조치 카드를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정리합니다. 3일차에 본 조치 방법의 클래스 이름이 Skill이었고, 방금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있습니다. 쿨러 과열 경보, 정기 정비 도래, 예비품 재고 기준 이탈을 각각 맡습니다. 세 파일 모두 머리말과 절차와 결과로 이루어져 틀이 같고, 사실을 확인하는 단계에서 부르는 도구가 업무에 맞게 다릅니다. 새 업무를 맡길 때도 같은 틀에 그 업무의 절차를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냉각 긴급 대응 에이전트의 정의를 세 칸으로 보겠습니다. 목표는 무엇을 이룰지를, 스킬은 어떻게 할지를, 도구는 무엇으로 할지를 정합니다. 스킬은 만들어 두기만 해서는 쓰이지 않고 에이전트에 붙여야 실행에 들어갑니다. 스킬의 절차가 부르는 도구는 셋째 칸의 연결이 있어야 실제로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합니다.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경보에서 에이전트가 실제로 낸 호출 요청입니다. 도구 이름 앞에 서버 이름이 붙어 mcp__hyd-dmn__diagnose가 됩니다. 이름이 같은 도구가 두 서버에 있어도 이 전체 이름으로 구분됩니다. 입력은 스키마가 정한 세 항목을 채운 JSON이고, 설비와 경보 유형과 경보 번호가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맨 앞의 result가 성공 여부를 알리고, document 안에 읽은 시각과 값이 들어 있습니다. facts는 판단에 바로 쓰는 값이고 records는 업무 DB에서 읽은 원래의 행입니다. 납기 오더 MO-0930-0412가 5.98시간 남았다는 값이 여기서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있습니다. 호스트가 이 명령으로 서버를 직접 띄우는 stdio 방식입니다. hyd-dmn 서버는 주소로 적혀 있고, 이미 떠 있는 서버에 접속하는 Streamable HTTP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예를 들어 업무 DB 서버를 붙이지 않으면 스킬에 납기 오더를 확인하라고 적혀 있어도 그 값을 받지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경보 한 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4단계와 5단계는 다시 hyd-dmn 서버가 실행했고, 마지막에 판단 번호가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호출 한 번의 길 위에 놓았습니다. 모델이 스킬의 한 줄을 읽고 호출 요청을 내면, 클라이언트가 tools/call로 서버에 전달합니다. 서버는 뒤의 시스템에서 값을 읽어 응답을 만들고, 그 응답이 같은 길을 거슬러 모델에게 돌아옵니다. 스킬은 길의 맨 앞에서 방법을 정하고, MCP는 그 뒤의 길 전체를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주는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hyd-dmn의 도구 가운데 하나뿐인 쓰기가 submit_decision이었습니다. 이 도구가 쓰는 것은 사람이 고를 조치 카드이고 설비는 건드리지 않습니다. 설비 명령은 담당자가 승인한 뒤에 시스템이 만들고, 작업지시와 메일도 승인 뒤의 시스템 단계가 맡습니다. 메일을 보내는 send_mail은 에이전트에 아예 연결하지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 Principle of Least Privilege입니다.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비밀값을 설정에 그대로 적으면 설정을 보는 모든 사람에게 드러납니다. 그래서 설정에는 값이 들어갈 자리와 이름만 적은 자리표시자를 두고, 실제 값은 보관소에 따로 둡니다. 값은 실행 직전에만 채워지고, 화면과 기록에는 가린 값만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자리표시자가 실제 설정에 들어간 모습입니다. 인증 머리말의 토큰 자리에 값 대신 자리표시자가 있습니다.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쿨러 경보의 한 실행에서 조치 후보를 비교한 응답이 128,466자였고, 너무 커서 본문이 에이전트에게 전달되지 않았습니다. 에이전트는 필요한 항목만 좁혀 다시 조회했고,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도구에서 받은 값을 판단에 쓰려면 그 값이 어디서 왔는지를 남겨야 합니다. 호출 기록 한 줄에는 시각과 걸린 시간, 서버와 도구의 이름, 넘긴 입력과 돌아온 원문이 남습니다. 응답 안의 값에는 원천과 관측 시각 같은 출처가 따로 붙습니다. 이 기록이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기준을 넷으로 묶었습니다. 권한은 읽기와 쓰기를 가르고 필요한 서버만 연결하는 것입니다. 파일 범위는 작업 폴더 하나로, 비밀값은 자리표시자와 가림으로 지킵니다. 응답은 없음과 실패와 잘림을 구분하고 값의 출처를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결과를 견준 뒤, 세 서버의 도구를 한 요청에서 이어 부릅니다. 포털과 로컬에서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완료 시점을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 노트나 제공된 매뉴얼에서 문항을 만들고, 학생의 답을 받아 정답과 출처를 붙여 되짚어 준 뒤 다음 문항으로 넘어갑니다. 텍스트 파일을 읽는 방식으로 끝까지 완주하는 것이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호스트, 클라이언트, 서버, 도구, 입력 스키마, 허용 목록, 자리표시자가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8.png"/><Relationship Id="rId7"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9.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8.png"/><Relationship Id="rId4" Type="http://schemas.openxmlformats.org/officeDocument/2006/relationships/image" Target="../media/image44.png"/><Relationship Id="rId5" Type="http://schemas.openxmlformats.org/officeDocument/2006/relationships/image" Target="../media/image49.png"/><Relationship Id="rId6"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 Id="rId4" Type="http://schemas.openxmlformats.org/officeDocument/2006/relationships/image" Target="../media/image25.png"/><Relationship Id="rId5"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png"/><Relationship Id="rId4" Type="http://schemas.openxmlformats.org/officeDocument/2006/relationships/image" Target="../media/image52.png"/><Relationship Id="rId5" Type="http://schemas.openxmlformats.org/officeDocument/2006/relationships/image" Target="../media/image5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2.png"/><Relationship Id="rId4" Type="http://schemas.openxmlformats.org/officeDocument/2006/relationships/image" Target="../media/image39.png"/><Relationship Id="rId5" Type="http://schemas.openxmlformats.org/officeDocument/2006/relationships/image" Target="../media/image54.png"/><Relationship Id="rId6" Type="http://schemas.openxmlformats.org/officeDocument/2006/relationships/image" Target="../media/image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재사용하는 업무 능력과</a:t>
            </a:r>
          </a:p>
          <a:p>
            <a:pPr algn="l">
              <a:lnSpc>
                <a:spcPct val="110000"/>
              </a:lnSpc>
            </a:pPr>
            <a:r>
              <a:rPr sz="4000" b="1">
                <a:solidFill>
                  <a:srgbClr val="FFFFFF"/>
                </a:solidFill>
                <a:latin typeface="맑은 고딕"/>
                <a:ea typeface="맑은 고딕"/>
                <a:cs typeface="맑은 고딕"/>
              </a:rPr>
              <a:t>외부 시스템의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 한 번의 프롬프트와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파일 범위, 비밀값,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시간의 도달점: 도구를 부르며 일하는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목표를 받아 도구를 부르고, 돌아온 결과를 보고 다음 행동을 정하기를 목표에 닿을 때까지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고리_0.svg" descr="illust_394027277876110088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38402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원인과 조치의 관계</a:t>
            </a:r>
          </a:p>
        </p:txBody>
      </p:sp>
      <p:sp>
        <p:nvSpPr>
          <p:cNvPr id="12" name="TextBox 11"/>
          <p:cNvSpPr txBox="1"/>
          <p:nvPr/>
        </p:nvSpPr>
        <p:spPr>
          <a:xfrm>
            <a:off x="9532338" y="375498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유온 같은 측정값</a:t>
            </a:r>
          </a:p>
        </p:txBody>
      </p:sp>
      <p:sp>
        <p:nvSpPr>
          <p:cNvPr id="13" name="TextBox 12"/>
          <p:cNvSpPr txBox="1"/>
          <p:nvPr/>
        </p:nvSpPr>
        <p:spPr>
          <a:xfrm>
            <a:off x="9532338" y="512594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오더와 재고</a:t>
            </a:r>
          </a:p>
        </p:txBody>
      </p:sp>
      <p:sp>
        <p:nvSpPr>
          <p:cNvPr id="14" name="TextBox 13"/>
          <p:cNvSpPr txBox="1"/>
          <p:nvPr/>
        </p:nvSpPr>
        <p:spPr>
          <a:xfrm>
            <a:off x="5004898" y="545686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카드 묶음</a:t>
            </a:r>
          </a:p>
          <a:p>
            <a:pPr algn="ctr">
              <a:lnSpc>
                <a:spcPct val="110000"/>
              </a:lnSpc>
              <a:spcAft>
                <a:spcPts val="100"/>
              </a:spcAft>
            </a:pPr>
            <a:r>
              <a:rPr sz="1300" b="0">
                <a:solidFill>
                  <a:srgbClr val="556175"/>
                </a:solidFill>
                <a:latin typeface="맑은 고딕"/>
                <a:ea typeface="맑은 고딕"/>
                <a:cs typeface="맑은 고딕"/>
              </a:rPr>
              <a:t>추천 하나와 대안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고리_1.svg" descr="illust_573333190421569892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카드 묶음</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스킬문서.svg" descr="illust_913226260251743856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절차의 순서와 실제 호출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건의 실행 기록에는 스킬을 읽은 뒤 판단 도구를 절차의 순서대로 부른 과정이 시각과 함께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절차호출.svg" descr="illust_740562080544581441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17488" y="196800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SKILL.md의 절차</a:t>
            </a:r>
          </a:p>
          <a:p>
            <a:pPr algn="ctr">
              <a:lnSpc>
                <a:spcPct val="110000"/>
              </a:lnSpc>
              <a:spcAft>
                <a:spcPts val="100"/>
              </a:spcAft>
            </a:pPr>
            <a:r>
              <a:rPr sz="1300" b="0">
                <a:solidFill>
                  <a:srgbClr val="556175"/>
                </a:solidFill>
                <a:latin typeface="맑은 고딕"/>
                <a:ea typeface="맑은 고딕"/>
                <a:cs typeface="맑은 고딕"/>
              </a:rPr>
              <a:t>11:13:14에 읽음</a:t>
            </a:r>
          </a:p>
        </p:txBody>
      </p:sp>
      <p:sp>
        <p:nvSpPr>
          <p:cNvPr id="8" name="TextBox 7"/>
          <p:cNvSpPr txBox="1"/>
          <p:nvPr/>
        </p:nvSpPr>
        <p:spPr>
          <a:xfrm>
            <a:off x="6204942" y="196800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기록</a:t>
            </a:r>
          </a:p>
          <a:p>
            <a:pPr algn="ctr">
              <a:lnSpc>
                <a:spcPct val="110000"/>
              </a:lnSpc>
              <a:spcAft>
                <a:spcPts val="100"/>
              </a:spcAft>
            </a:pPr>
            <a:r>
              <a:rPr sz="1300" b="0">
                <a:solidFill>
                  <a:srgbClr val="556175"/>
                </a:solidFill>
                <a:latin typeface="맑은 고딕"/>
                <a:ea typeface="맑은 고딕"/>
                <a:cs typeface="맑은 고딕"/>
              </a:rPr>
              <a:t>위에서 아래로 시간이 흐른다</a:t>
            </a:r>
          </a:p>
        </p:txBody>
      </p:sp>
      <p:sp>
        <p:nvSpPr>
          <p:cNvPr id="9" name="TextBox 8"/>
          <p:cNvSpPr txBox="1"/>
          <p:nvPr/>
        </p:nvSpPr>
        <p:spPr>
          <a:xfrm>
            <a:off x="6204942" y="275276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읽기</a:t>
            </a:r>
          </a:p>
          <a:p>
            <a:pPr algn="ctr">
              <a:lnSpc>
                <a:spcPct val="110000"/>
              </a:lnSpc>
              <a:spcAft>
                <a:spcPts val="100"/>
              </a:spcAft>
            </a:pPr>
            <a:r>
              <a:rPr sz="1300" b="0">
                <a:solidFill>
                  <a:srgbClr val="556175"/>
                </a:solidFill>
                <a:latin typeface="맑은 고딕"/>
                <a:ea typeface="맑은 고딕"/>
                <a:cs typeface="맑은 고딕"/>
              </a:rPr>
              <a:t>context/task.json</a:t>
            </a:r>
          </a:p>
        </p:txBody>
      </p:sp>
      <p:sp>
        <p:nvSpPr>
          <p:cNvPr id="10" name="TextBox 9"/>
          <p:cNvSpPr txBox="1"/>
          <p:nvPr/>
        </p:nvSpPr>
        <p:spPr>
          <a:xfrm>
            <a:off x="6204942" y="343824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diagnose</a:t>
            </a:r>
          </a:p>
          <a:p>
            <a:pPr algn="ctr">
              <a:lnSpc>
                <a:spcPct val="110000"/>
              </a:lnSpc>
              <a:spcAft>
                <a:spcPts val="100"/>
              </a:spcAft>
            </a:pPr>
            <a:r>
              <a:rPr sz="1300" b="0">
                <a:solidFill>
                  <a:srgbClr val="556175"/>
                </a:solidFill>
                <a:latin typeface="맑은 고딕"/>
                <a:ea typeface="맑은 고딕"/>
                <a:cs typeface="맑은 고딕"/>
              </a:rPr>
              <a:t>11:13:18 · 218 ms</a:t>
            </a:r>
          </a:p>
        </p:txBody>
      </p:sp>
      <p:sp>
        <p:nvSpPr>
          <p:cNvPr id="11" name="TextBox 10"/>
          <p:cNvSpPr txBox="1"/>
          <p:nvPr/>
        </p:nvSpPr>
        <p:spPr>
          <a:xfrm>
            <a:off x="6204942" y="4118997"/>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 조회</a:t>
            </a:r>
          </a:p>
          <a:p>
            <a:pPr algn="ctr">
              <a:lnSpc>
                <a:spcPct val="110000"/>
              </a:lnSpc>
              <a:spcAft>
                <a:spcPts val="100"/>
              </a:spcAft>
            </a:pPr>
            <a:r>
              <a:rPr sz="1300" b="0">
                <a:solidFill>
                  <a:srgbClr val="556175"/>
                </a:solidFill>
                <a:latin typeface="맑은 고딕"/>
                <a:ea typeface="맑은 고딕"/>
                <a:cs typeface="맑은 고딕"/>
              </a:rPr>
              <a:t>필요할 때만 부른다</a:t>
            </a:r>
          </a:p>
        </p:txBody>
      </p:sp>
      <p:sp>
        <p:nvSpPr>
          <p:cNvPr id="12" name="TextBox 11"/>
          <p:cNvSpPr txBox="1"/>
          <p:nvPr/>
        </p:nvSpPr>
        <p:spPr>
          <a:xfrm>
            <a:off x="6204942" y="4799749"/>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evaluate_cards</a:t>
            </a:r>
          </a:p>
          <a:p>
            <a:pPr algn="ctr">
              <a:lnSpc>
                <a:spcPct val="110000"/>
              </a:lnSpc>
              <a:spcAft>
                <a:spcPts val="100"/>
              </a:spcAft>
            </a:pPr>
            <a:r>
              <a:rPr sz="1300" b="0">
                <a:solidFill>
                  <a:srgbClr val="556175"/>
                </a:solidFill>
                <a:latin typeface="맑은 고딕"/>
                <a:ea typeface="맑은 고딕"/>
                <a:cs typeface="맑은 고딕"/>
              </a:rPr>
              <a:t>11:13:23 · 807 ms</a:t>
            </a:r>
          </a:p>
        </p:txBody>
      </p:sp>
      <p:sp>
        <p:nvSpPr>
          <p:cNvPr id="13" name="TextBox 12"/>
          <p:cNvSpPr txBox="1"/>
          <p:nvPr/>
        </p:nvSpPr>
        <p:spPr>
          <a:xfrm>
            <a:off x="6204942" y="5480502"/>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submit_decision</a:t>
            </a:r>
          </a:p>
          <a:p>
            <a:pPr algn="ctr">
              <a:lnSpc>
                <a:spcPct val="110000"/>
              </a:lnSpc>
              <a:spcAft>
                <a:spcPts val="100"/>
              </a:spcAft>
            </a:pPr>
            <a:r>
              <a:rPr sz="1300" b="0">
                <a:solidFill>
                  <a:srgbClr val="556175"/>
                </a:solidFill>
                <a:latin typeface="맑은 고딕"/>
                <a:ea typeface="맑은 고딕"/>
                <a:cs typeface="맑은 고딕"/>
              </a:rPr>
              <a:t>11:13:53 · 494 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절차.svg" descr="illust_145382948848602720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카드</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재사용.svg" descr="illust_411259383915415600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틀은 같고 절차가 다른 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정기 정비, 예비품 구매를 맡는 HYD의 세 스킬은 같은 틀에 업무마다 다른 절차를 담은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name</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description</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사실 확인에 부르는 도구</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cooling-emergency-response</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mes_orders · qms_lots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pm-schedule-planning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pm_status ·</a:t>
            </a:r>
          </a:p>
          <a:p>
            <a:pPr algn="l">
              <a:lnSpc>
                <a:spcPct val="110000"/>
              </a:lnSpc>
            </a:pPr>
            <a:r>
              <a:rPr sz="1250" b="1">
                <a:solidFill>
                  <a:srgbClr val="556175"/>
                </a:solidFill>
                <a:latin typeface="맑은 고딕"/>
                <a:ea typeface="맑은 고딕"/>
                <a:cs typeface="맑은 고딕"/>
              </a:rPr>
              <a:t>maintenance_windows</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spare-purchase-planning</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spare_stock ·</a:t>
            </a:r>
          </a:p>
          <a:p>
            <a:pPr algn="l">
              <a:lnSpc>
                <a:spcPct val="110000"/>
              </a:lnSpc>
            </a:pPr>
            <a:r>
              <a:rPr sz="1250" b="1">
                <a:solidFill>
                  <a:srgbClr val="556175"/>
                </a:solidFill>
                <a:latin typeface="맑은 고딕"/>
                <a:ea typeface="맑은 고딕"/>
                <a:cs typeface="맑은 고딕"/>
              </a:rPr>
              <a:t>part_quotes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정의: 목표, 스킬,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에이전트에 붙였을 때만 실행에 들어가며, 에이전트 하나는 목표와 붙인 스킬과 연결한 도구로 정의된다.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a:t>
            </a:r>
          </a:p>
          <a:p>
            <a:pPr algn="l">
              <a:lnSpc>
                <a:spcPct val="110000"/>
              </a:lnSpc>
              <a:spcAft>
                <a:spcPts val="400"/>
              </a:spcAft>
            </a:pPr>
            <a:r>
              <a:rPr sz="1400" b="0">
                <a:solidFill>
                  <a:srgbClr val="1F2A3A"/>
                </a:solidFill>
                <a:latin typeface="맑은 고딕"/>
                <a:ea typeface="맑은 고딕"/>
                <a:cs typeface="맑은 고딕"/>
              </a:rPr>
              <a:t>「쿨러 과열 경보의 원인을 진단하고, 냉각 조치 후보를 규정 · 회사 목표로 비교해 추천 카드 한 장과 지는 대안을 올린다」</a:t>
            </a:r>
          </a:p>
        </p:txBody>
      </p:sp>
      <p:sp>
        <p:nvSpPr>
          <p:cNvPr id="10" name="Rounded Rectangle 9"/>
          <p:cNvSpPr/>
          <p:nvPr/>
        </p:nvSpPr>
        <p:spPr>
          <a:xfrm>
            <a:off x="777240" y="5149850"/>
            <a:ext cx="16763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이룰 것인가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a:t>
            </a:r>
          </a:p>
          <a:p>
            <a:pPr algn="l">
              <a:lnSpc>
                <a:spcPct val="110000"/>
              </a:lnSpc>
              <a:spcAft>
                <a:spcPts val="400"/>
              </a:spcAft>
            </a:pPr>
            <a:r>
              <a:rPr sz="1400" b="0">
                <a:solidFill>
                  <a:srgbClr val="1F2A3A"/>
                </a:solidFill>
                <a:latin typeface="맑은 고딕"/>
                <a:ea typeface="맑은 고딕"/>
                <a:cs typeface="맑은 고딕"/>
              </a:rPr>
              <a:t>• cooling-emergency-response</a:t>
            </a:r>
          </a:p>
          <a:p>
            <a:pPr algn="l">
              <a:lnSpc>
                <a:spcPct val="110000"/>
              </a:lnSpc>
              <a:spcAft>
                <a:spcPts val="400"/>
              </a:spcAft>
            </a:pPr>
            <a:r>
              <a:rPr sz="1400" b="0">
                <a:solidFill>
                  <a:srgbClr val="1F2A3A"/>
                </a:solidFill>
                <a:latin typeface="맑은 고딕"/>
                <a:ea typeface="맑은 고딕"/>
                <a:cs typeface="맑은 고딕"/>
              </a:rPr>
              <a:t>• 에이전트에 붙이지 않은 스킬은 어떤 실행에도 들어가지 않는다</a:t>
            </a:r>
          </a:p>
        </p:txBody>
      </p:sp>
      <p:sp>
        <p:nvSpPr>
          <p:cNvPr id="16" name="Rounded Rectangle 15"/>
          <p:cNvSpPr/>
          <p:nvPr/>
        </p:nvSpPr>
        <p:spPr>
          <a:xfrm>
            <a:off x="4566818" y="5149850"/>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할 것인가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s" descr="tool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a:t>
            </a:r>
          </a:p>
          <a:p>
            <a:pPr algn="l">
              <a:lnSpc>
                <a:spcPct val="110000"/>
              </a:lnSpc>
              <a:spcAft>
                <a:spcPts val="400"/>
              </a:spcAft>
            </a:pPr>
            <a:r>
              <a:rPr sz="1400" b="0">
                <a:solidFill>
                  <a:srgbClr val="1F2A3A"/>
                </a:solidFill>
                <a:latin typeface="맑은 고딕"/>
                <a:ea typeface="맑은 고딕"/>
                <a:cs typeface="맑은 고딕"/>
              </a:rPr>
              <a:t>• neo4j · enterprise · hyd-dmn</a:t>
            </a:r>
          </a:p>
          <a:p>
            <a:pPr algn="l">
              <a:lnSpc>
                <a:spcPct val="110000"/>
              </a:lnSpc>
              <a:spcAft>
                <a:spcPts val="400"/>
              </a:spcAft>
            </a:pPr>
            <a:r>
              <a:rPr sz="1400" b="0">
                <a:solidFill>
                  <a:srgbClr val="1F2A3A"/>
                </a:solidFill>
                <a:latin typeface="맑은 고딕"/>
                <a:ea typeface="맑은 고딕"/>
                <a:cs typeface="맑은 고딕"/>
              </a:rPr>
              <a:t>• 지식 그래프, 업무 DB, 판단 엔진에 닿는 연결이다</a:t>
            </a:r>
          </a:p>
        </p:txBody>
      </p:sp>
      <p:sp>
        <p:nvSpPr>
          <p:cNvPr id="22" name="Rounded Rectangle 21"/>
          <p:cNvSpPr/>
          <p:nvPr/>
        </p:nvSpPr>
        <p:spPr>
          <a:xfrm>
            <a:off x="8356396" y="5149850"/>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할 것인가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연결의수.svg" descr="illust_918056845361288435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MCP구성.svg" descr="illust_460952889443325751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a:p>
            <a:pPr algn="l">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조회 2개 사용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판단 엔진과 시계열 DB</a:t>
            </a:r>
          </a:p>
          <a:p>
            <a:pPr algn="l">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16개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 전체</a:t>
            </a:r>
          </a:p>
          <a:p>
            <a:pPr algn="l">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정비 쪽</a:t>
            </a:r>
          </a:p>
          <a:p>
            <a:pPr algn="l">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구매 쪽</a:t>
            </a:r>
          </a:p>
          <a:p>
            <a:pPr algn="l">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목록호출.svg" descr="illust_757874496735426009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서버의 도구가 바뀌면 호스트도 고쳐야 한다</a:t>
            </a:r>
          </a:p>
          <a:p>
            <a:pPr algn="l">
              <a:lnSpc>
                <a:spcPct val="110000"/>
              </a:lnSpc>
              <a:spcAft>
                <a:spcPts val="600"/>
              </a:spcAft>
            </a:pPr>
            <a:r>
              <a:rPr sz="14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서버가 지금 내주는 도구를 그대로 받는다</a:t>
            </a:r>
          </a:p>
          <a:p>
            <a:pPr algn="l">
              <a:lnSpc>
                <a:spcPct val="110000"/>
              </a:lnSpc>
              <a:spcAft>
                <a:spcPts val="600"/>
              </a:spcAft>
            </a:pPr>
            <a:r>
              <a:rPr sz="1450" b="0">
                <a:solidFill>
                  <a:srgbClr val="1F2A3A"/>
                </a:solidFill>
                <a:latin typeface="맑은 고딕"/>
                <a:ea typeface="맑은 고딕"/>
                <a:cs typeface="맑은 고딕"/>
              </a:rPr>
              <a:t>• 이름, 설명, 입력 스키마가 목록에 함께 온다</a:t>
            </a:r>
          </a:p>
          <a:p>
            <a:pPr algn="l">
              <a:lnSpc>
                <a:spcPct val="110000"/>
              </a:lnSpc>
              <a:spcAft>
                <a:spcPts val="600"/>
              </a:spcAft>
            </a:pPr>
            <a:r>
              <a:rPr sz="14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mcp__서버__도구</a:t>
            </a:r>
          </a:p>
          <a:p>
            <a:pPr algn="l">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이름의 도구</a:t>
            </a:r>
          </a:p>
          <a:p>
            <a:pPr algn="l">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 Schema</a:t>
            </a:r>
          </a:p>
          <a:p>
            <a:pPr algn="l">
              <a:lnSpc>
                <a:spcPct val="110000"/>
              </a:lnSpc>
              <a:spcAft>
                <a:spcPts val="400"/>
              </a:spcAft>
            </a:pPr>
            <a:r>
              <a:rPr sz="1400" b="0">
                <a:solidFill>
                  <a:srgbClr val="1F2A3A"/>
                </a:solidFill>
                <a:latin typeface="맑은 고딕"/>
                <a:ea typeface="맑은 고딕"/>
                <a:cs typeface="맑은 고딕"/>
              </a:rPr>
              <a:t>입력 스키마를 적는 표준 형식이다.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연결방식.svg" descr="illust_392868300603672544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"mcpServers": {</a:t>
            </a:r>
          </a:p>
          <a:p>
            <a:pPr algn="l">
              <a:lnSpc>
                <a:spcPct val="110000"/>
              </a:lnSpc>
              <a:spcAft>
                <a:spcPts val="200"/>
              </a:spcAft>
            </a:pPr>
            <a:r>
              <a:rPr sz="1300" b="0">
                <a:solidFill>
                  <a:srgbClr val="E8EEF6"/>
                </a:solidFill>
                <a:latin typeface="Consolas"/>
                <a:ea typeface="맑은 고딕"/>
                <a:cs typeface="맑은 고딕"/>
              </a:rPr>
              <a:t>    "neo4j": {</a:t>
            </a:r>
          </a:p>
          <a:p>
            <a:pPr algn="l">
              <a:lnSpc>
                <a:spcPct val="110000"/>
              </a:lnSpc>
              <a:spcAft>
                <a:spcPts val="200"/>
              </a:spcAft>
            </a:pPr>
            <a:r>
              <a:rPr sz="1300" b="0">
                <a:solidFill>
                  <a:srgbClr val="E8EEF6"/>
                </a:solidFill>
                <a:latin typeface="Consolas"/>
                <a:ea typeface="맑은 고딕"/>
                <a:cs typeface="맑은 고딕"/>
              </a:rPr>
              <a:t>      "command": "uvx",</a:t>
            </a:r>
          </a:p>
          <a:p>
            <a:pPr algn="l">
              <a:lnSpc>
                <a:spcPct val="110000"/>
              </a:lnSpc>
              <a:spcAft>
                <a:spcPts val="200"/>
              </a:spcAft>
            </a:pPr>
            <a:r>
              <a:rPr sz="1300" b="0">
                <a:solidFill>
                  <a:srgbClr val="E8EEF6"/>
                </a:solidFill>
                <a:latin typeface="Consolas"/>
                <a:ea typeface="맑은 고딕"/>
                <a:cs typeface="맑은 고딕"/>
              </a:rPr>
              <a:t>      "args": ["mcp-neo4j-cypher@0.4.1",</a:t>
            </a:r>
          </a:p>
          <a:p>
            <a:pPr algn="l">
              <a:lnSpc>
                <a:spcPct val="110000"/>
              </a:lnSpc>
              <a:spcAft>
                <a:spcPts val="200"/>
              </a:spcAft>
            </a:pPr>
            <a:r>
              <a:rPr sz="1300" b="0">
                <a:solidFill>
                  <a:srgbClr val="E8EEF6"/>
                </a:solidFill>
                <a:latin typeface="Consolas"/>
                <a:ea typeface="맑은 고딕"/>
                <a:cs typeface="맑은 고딕"/>
              </a:rPr>
              <a:t>               "--transport", "stdio"]</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"hyd-dmn":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"http://dmn-mcp:8198/mcp",</a:t>
            </a:r>
          </a:p>
          <a:p>
            <a:pPr algn="l">
              <a:lnSpc>
                <a:spcPct val="110000"/>
              </a:lnSpc>
              <a:spcAft>
                <a:spcPts val="200"/>
              </a:spcAft>
            </a:pPr>
            <a:r>
              <a:rPr sz="1300" b="0">
                <a:solidFill>
                  <a:srgbClr val="E8EEF6"/>
                </a:solidFill>
                <a:latin typeface="Consolas"/>
                <a:ea typeface="맑은 고딕"/>
                <a:cs typeface="맑은 고딕"/>
              </a:rPr>
              <a:t>      "transport": "streamable_http"</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mcpServers</a:t>
            </a:r>
          </a:p>
          <a:p>
            <a:pPr algn="l">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command · args</a:t>
            </a:r>
          </a:p>
          <a:p>
            <a:pPr algn="l">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url</a:t>
            </a:r>
          </a:p>
          <a:p>
            <a:pPr algn="l">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스킬만 있다</a:t>
            </a:r>
          </a:p>
          <a:p>
            <a:pPr algn="l">
              <a:lnSpc>
                <a:spcPct val="110000"/>
              </a:lnSpc>
              <a:spcAft>
                <a:spcPts val="400"/>
              </a:spcAft>
            </a:pPr>
            <a:r>
              <a:rPr sz="1400" b="0">
                <a:solidFill>
                  <a:srgbClr val="1F2A3A"/>
                </a:solidFill>
                <a:latin typeface="맑은 고딕"/>
                <a:ea typeface="맑은 고딕"/>
                <a:cs typeface="맑은 고딕"/>
              </a:rPr>
              <a:t>• 절차에 적힌 도구를 부를 수 없다</a:t>
            </a:r>
          </a:p>
          <a:p>
            <a:pPr algn="l">
              <a:lnSpc>
                <a:spcPct val="110000"/>
              </a:lnSpc>
              <a:spcAft>
                <a:spcPts val="400"/>
              </a:spcAft>
            </a:pPr>
            <a:r>
              <a:rPr sz="14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도구만 있다</a:t>
            </a:r>
          </a:p>
          <a:p>
            <a:pPr algn="l">
              <a:lnSpc>
                <a:spcPct val="110000"/>
              </a:lnSpc>
              <a:spcAft>
                <a:spcPts val="400"/>
              </a:spcAft>
            </a:pPr>
            <a:r>
              <a:rPr sz="1400" b="0">
                <a:solidFill>
                  <a:srgbClr val="1F2A3A"/>
                </a:solidFill>
                <a:latin typeface="맑은 고딕"/>
                <a:ea typeface="맑은 고딕"/>
                <a:cs typeface="맑은 고딕"/>
              </a:rPr>
              <a:t>• 무엇을 어떤 순서로 부를지 에이전트가 처음부터 정한다</a:t>
            </a:r>
          </a:p>
          <a:p>
            <a:pPr algn="l">
              <a:lnSpc>
                <a:spcPct val="110000"/>
              </a:lnSpc>
              <a:spcAft>
                <a:spcPts val="400"/>
              </a:spcAft>
            </a:pPr>
            <a:r>
              <a:rPr sz="14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둘 다 있다</a:t>
            </a:r>
          </a:p>
          <a:p>
            <a:pPr algn="l">
              <a:lnSpc>
                <a:spcPct val="110000"/>
              </a:lnSpc>
              <a:spcAft>
                <a:spcPts val="400"/>
              </a:spcAft>
            </a:pPr>
            <a:r>
              <a:rPr sz="1400" b="0">
                <a:solidFill>
                  <a:srgbClr val="1F2A3A"/>
                </a:solidFill>
                <a:latin typeface="맑은 고딕"/>
                <a:ea typeface="맑은 고딕"/>
                <a:cs typeface="맑은 고딕"/>
              </a:rPr>
              <a:t>• 스킬의 절차대로 서버의 도구를 부른다</a:t>
            </a:r>
          </a:p>
          <a:p>
            <a:pPr algn="l">
              <a:lnSpc>
                <a:spcPct val="110000"/>
              </a:lnSpc>
              <a:spcAft>
                <a:spcPts val="400"/>
              </a:spcAft>
            </a:pPr>
            <a:r>
              <a:rPr sz="14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diagnose</a:t>
            </a:r>
          </a:p>
          <a:p>
            <a:pPr algn="l">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1순위</a:t>
            </a:r>
          </a:p>
          <a:p>
            <a:pPr algn="l">
              <a:lnSpc>
                <a:spcPct val="110000"/>
              </a:lnSpc>
            </a:pPr>
            <a:r>
              <a:rPr sz="1250" b="1">
                <a:solidFill>
                  <a:srgbClr val="556175"/>
                </a:solidFill>
                <a:latin typeface="맑은 고딕"/>
                <a:ea typeface="맑은 고딕"/>
                <a:cs typeface="맑은 고딕"/>
              </a:rPr>
              <a:t>cause:cooler-fin-fouling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mes_orders · qms_lots</a:t>
            </a:r>
          </a:p>
          <a:p>
            <a:pPr algn="l">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 MO-0930-0412</a:t>
            </a:r>
          </a:p>
          <a:p>
            <a:pPr algn="l">
              <a:lnSpc>
                <a:spcPct val="110000"/>
              </a:lnSpc>
            </a:pPr>
            <a:r>
              <a:rPr sz="1250" b="1">
                <a:solidFill>
                  <a:srgbClr val="556175"/>
                </a:solidFill>
                <a:latin typeface="맑은 고딕"/>
                <a:ea typeface="맑은 고딕"/>
                <a:cs typeface="맑은 고딕"/>
              </a:rPr>
              <a:t>출하 대기 로트 L-0930-A17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evaluate_cards</a:t>
            </a:r>
          </a:p>
          <a:p>
            <a:pPr algn="l">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후보와 규정, 순위</a:t>
            </a:r>
          </a:p>
          <a:p>
            <a:pPr algn="l">
              <a:lnSpc>
                <a:spcPct val="110000"/>
              </a:lnSpc>
            </a:pPr>
            <a:r>
              <a:rPr sz="1250" b="1">
                <a:solidFill>
                  <a:srgbClr val="556175"/>
                </a:solidFill>
                <a:latin typeface="맑은 고딕"/>
                <a:ea typeface="맑은 고딕"/>
                <a:cs typeface="맑은 고딕"/>
              </a:rPr>
              <a:t>응답이 커서 좁혀 다시 조회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5단계 / 판단 제출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submit_decision</a:t>
            </a:r>
          </a:p>
          <a:p>
            <a:pPr algn="l">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판단 번호</a:t>
            </a:r>
          </a:p>
          <a:p>
            <a:pPr algn="l">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02단원 정리: 도구 호출 한 번이 지나가는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한 번은 스킬의 한 줄에서 시작해 모델, 클라이언트, 서버를 차례로 거쳐 시스템의 값을 읽어 돌아온다.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a:t>
            </a:r>
          </a:p>
          <a:p>
            <a:pPr algn="ctr">
              <a:lnSpc>
                <a:spcPct val="110000"/>
              </a:lnSpc>
              <a:spcAft>
                <a:spcPts val="400"/>
              </a:spcAft>
            </a:pPr>
            <a:r>
              <a:rPr sz="1300" b="0">
                <a:solidFill>
                  <a:srgbClr val="1F2A3A"/>
                </a:solidFill>
                <a:latin typeface="맑은 고딕"/>
                <a:ea typeface="맑은 고딕"/>
                <a:cs typeface="맑은 고딕"/>
              </a:rPr>
              <a:t>절차의 한 줄</a:t>
            </a:r>
          </a:p>
          <a:p>
            <a:pPr algn="ctr">
              <a:lnSpc>
                <a:spcPct val="110000"/>
              </a:lnSpc>
              <a:spcAft>
                <a:spcPts val="400"/>
              </a:spcAft>
            </a:pPr>
            <a:r>
              <a:rPr sz="1300" b="0">
                <a:solidFill>
                  <a:srgbClr val="1F2A3A"/>
                </a:solidFill>
                <a:latin typeface="맑은 고딕"/>
                <a:ea typeface="맑은 고딕"/>
                <a:cs typeface="맑은 고딕"/>
              </a:rPr>
              <a:t>「diagnose로 원인을 얻는다」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요청</a:t>
            </a:r>
          </a:p>
        </p:txBody>
      </p:sp>
      <p:sp>
        <p:nvSpPr>
          <p:cNvPr id="14" name="Oval 13"/>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모델</a:t>
            </a:r>
          </a:p>
          <a:p>
            <a:pPr algn="ctr">
              <a:lnSpc>
                <a:spcPct val="110000"/>
              </a:lnSpc>
              <a:spcAft>
                <a:spcPts val="400"/>
              </a:spcAft>
            </a:pPr>
            <a:r>
              <a:rPr sz="1300" b="0">
                <a:solidFill>
                  <a:srgbClr val="1F2A3A"/>
                </a:solidFill>
                <a:latin typeface="맑은 고딕"/>
                <a:ea typeface="맑은 고딕"/>
                <a:cs typeface="맑은 고딕"/>
              </a:rPr>
              <a:t>호출 요청</a:t>
            </a:r>
          </a:p>
          <a:p>
            <a:pPr algn="ctr">
              <a:lnSpc>
                <a:spcPct val="110000"/>
              </a:lnSpc>
              <a:spcAft>
                <a:spcPts val="400"/>
              </a:spcAft>
            </a:pPr>
            <a:r>
              <a:rPr sz="1300" b="0">
                <a:solidFill>
                  <a:srgbClr val="1F2A3A"/>
                </a:solidFill>
                <a:latin typeface="맑은 고딕"/>
                <a:ea typeface="맑은 고딕"/>
                <a:cs typeface="맑은 고딕"/>
              </a:rPr>
              <a:t>도구 이름과 입력</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클라이언트</a:t>
            </a:r>
          </a:p>
          <a:p>
            <a:pPr algn="ctr">
              <a:lnSpc>
                <a:spcPct val="110000"/>
              </a:lnSpc>
              <a:spcAft>
                <a:spcPts val="400"/>
              </a:spcAft>
            </a:pPr>
            <a:r>
              <a:rPr sz="1300" b="0">
                <a:solidFill>
                  <a:srgbClr val="1F2A3A"/>
                </a:solidFill>
                <a:latin typeface="맑은 고딕"/>
                <a:ea typeface="맑은 고딕"/>
                <a:cs typeface="맑은 고딕"/>
              </a:rPr>
              <a:t>tools/call로</a:t>
            </a:r>
          </a:p>
          <a:p>
            <a:pPr algn="ctr">
              <a:lnSpc>
                <a:spcPct val="110000"/>
              </a:lnSpc>
              <a:spcAft>
                <a:spcPts val="400"/>
              </a:spcAft>
            </a:pPr>
            <a:r>
              <a:rPr sz="1300" b="0">
                <a:solidFill>
                  <a:srgbClr val="1F2A3A"/>
                </a:solidFill>
                <a:latin typeface="맑은 고딕"/>
                <a:ea typeface="맑은 고딕"/>
                <a:cs typeface="맑은 고딕"/>
              </a:rPr>
              <a:t>서버에 전달</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서버</a:t>
            </a:r>
          </a:p>
          <a:p>
            <a:pPr algn="ctr">
              <a:lnSpc>
                <a:spcPct val="110000"/>
              </a:lnSpc>
              <a:spcAft>
                <a:spcPts val="400"/>
              </a:spcAft>
            </a:pPr>
            <a:r>
              <a:rPr sz="1300" b="0">
                <a:solidFill>
                  <a:srgbClr val="1F2A3A"/>
                </a:solidFill>
                <a:latin typeface="맑은 고딕"/>
                <a:ea typeface="맑은 고딕"/>
                <a:cs typeface="맑은 고딕"/>
              </a:rPr>
              <a:t>hyd-dmn이</a:t>
            </a:r>
          </a:p>
          <a:p>
            <a:pPr algn="ctr">
              <a:lnSpc>
                <a:spcPct val="110000"/>
              </a:lnSpc>
              <a:spcAft>
                <a:spcPts val="400"/>
              </a:spcAft>
            </a:pPr>
            <a:r>
              <a:rPr sz="1300" b="0">
                <a:solidFill>
                  <a:srgbClr val="1F2A3A"/>
                </a:solidFill>
                <a:latin typeface="맑은 고딕"/>
                <a:ea typeface="맑은 고딕"/>
                <a:cs typeface="맑은 고딕"/>
              </a:rPr>
              <a:t>도구를 실행</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지식 그래프와</a:t>
            </a:r>
          </a:p>
          <a:p>
            <a:pPr algn="ctr">
              <a:lnSpc>
                <a:spcPct val="110000"/>
              </a:lnSpc>
              <a:spcAft>
                <a:spcPts val="400"/>
              </a:spcAft>
            </a:pPr>
            <a:r>
              <a:rPr sz="1300" b="0">
                <a:solidFill>
                  <a:srgbClr val="1F2A3A"/>
                </a:solidFill>
                <a:latin typeface="맑은 고딕"/>
                <a:ea typeface="맑은 고딕"/>
                <a:cs typeface="맑은 고딕"/>
              </a:rPr>
              <a:t>시계열 DB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파일 범위, 비밀값, 불완전한 응답과 실패를 다루는 기준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겹.svg" descr="illust_609282078399923804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쓰기는 사람이 고를 안을 제출하는 데까지이고, 설비 명령과 업무 기록은 승인 뒤에 시스템이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판단의 제출</a:t>
            </a:r>
          </a:p>
          <a:p>
            <a:pPr algn="l">
              <a:lnSpc>
                <a:spcPct val="110000"/>
              </a:lnSpc>
              <a:spcAft>
                <a:spcPts val="400"/>
              </a:spcAft>
            </a:pPr>
            <a:r>
              <a:rPr sz="1400" b="0">
                <a:solidFill>
                  <a:srgbClr val="1F2A3A"/>
                </a:solidFill>
                <a:latin typeface="맑은 고딕"/>
                <a:ea typeface="맑은 고딕"/>
                <a:cs typeface="맑은 고딕"/>
              </a:rPr>
              <a:t>• submit_decision</a:t>
            </a:r>
          </a:p>
          <a:p>
            <a:pPr algn="l">
              <a:lnSpc>
                <a:spcPct val="110000"/>
              </a:lnSpc>
              <a:spcAft>
                <a:spcPts val="400"/>
              </a:spcAft>
            </a:pPr>
            <a:r>
              <a:rPr sz="1400" b="0">
                <a:solidFill>
                  <a:srgbClr val="1F2A3A"/>
                </a:solidFill>
                <a:latin typeface="맑은 고딕"/>
                <a:ea typeface="맑은 고딕"/>
                <a:cs typeface="맑은 고딕"/>
              </a:rPr>
              <a:t>• 사람이 고를 조치 카드를 기록한다</a:t>
            </a:r>
          </a:p>
          <a:p>
            <a:pPr algn="l">
              <a:lnSpc>
                <a:spcPct val="110000"/>
              </a:lnSpc>
              <a:spcAft>
                <a:spcPts val="400"/>
              </a:spcAft>
            </a:pPr>
            <a:r>
              <a:rPr sz="1400" b="0">
                <a:solidFill>
                  <a:srgbClr val="1F2A3A"/>
                </a:solidFill>
                <a:latin typeface="맑은 고딕"/>
                <a:ea typeface="맑은 고딕"/>
                <a:cs typeface="맑은 고딕"/>
              </a:rPr>
              <a:t>• 설비는 건드리지 않는다</a:t>
            </a:r>
          </a:p>
        </p:txBody>
      </p:sp>
      <p:sp>
        <p:nvSpPr>
          <p:cNvPr id="10" name="Rounded Rectangle 9"/>
          <p:cNvSpPr/>
          <p:nvPr/>
        </p:nvSpPr>
        <p:spPr>
          <a:xfrm>
            <a:off x="777240" y="5041392"/>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 명령</a:t>
            </a:r>
          </a:p>
          <a:p>
            <a:pPr algn="l">
              <a:lnSpc>
                <a:spcPct val="110000"/>
              </a:lnSpc>
              <a:spcAft>
                <a:spcPts val="400"/>
              </a:spcAft>
            </a:pPr>
            <a:r>
              <a:rPr sz="1400" b="0">
                <a:solidFill>
                  <a:srgbClr val="1F2A3A"/>
                </a:solidFill>
                <a:latin typeface="맑은 고딕"/>
                <a:ea typeface="맑은 고딕"/>
                <a:cs typeface="맑은 고딕"/>
              </a:rPr>
              <a:t>• 팬 속도를 바꾸는 명령</a:t>
            </a:r>
          </a:p>
          <a:p>
            <a:pPr algn="l">
              <a:lnSpc>
                <a:spcPct val="110000"/>
              </a:lnSpc>
              <a:spcAft>
                <a:spcPts val="400"/>
              </a:spcAft>
            </a:pPr>
            <a:r>
              <a:rPr sz="14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041392"/>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기록과 메일</a:t>
            </a:r>
          </a:p>
          <a:p>
            <a:pPr algn="l">
              <a:lnSpc>
                <a:spcPct val="110000"/>
              </a:lnSpc>
              <a:spcAft>
                <a:spcPts val="400"/>
              </a:spcAft>
            </a:pPr>
            <a:r>
              <a:rPr sz="1400" b="0">
                <a:solidFill>
                  <a:srgbClr val="1F2A3A"/>
                </a:solidFill>
                <a:latin typeface="맑은 고딕"/>
                <a:ea typeface="맑은 고딕"/>
                <a:cs typeface="맑은 고딕"/>
              </a:rPr>
              <a:t>• 작업지시의 등록, 메일의 발송</a:t>
            </a:r>
          </a:p>
          <a:p>
            <a:pPr algn="l">
              <a:lnSpc>
                <a:spcPct val="110000"/>
              </a:lnSpc>
              <a:spcAft>
                <a:spcPts val="400"/>
              </a:spcAft>
            </a:pPr>
            <a:r>
              <a:rPr sz="14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041392"/>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것만 주는 최소 권한 원칙에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8757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연결한 업무 DB 서버</a:t>
            </a:r>
          </a:p>
        </p:txBody>
      </p:sp>
      <p:sp>
        <p:nvSpPr>
          <p:cNvPr id="9" name="TextBox 8"/>
          <p:cNvSpPr txBox="1"/>
          <p:nvPr/>
        </p:nvSpPr>
        <p:spPr>
          <a:xfrm>
            <a:off x="9448495" y="28757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도구</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2" name="TextBox 11"/>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enterprise-maint</a:t>
            </a:r>
          </a:p>
        </p:txBody>
      </p:sp>
      <p:sp>
        <p:nvSpPr>
          <p:cNvPr id="13" name="TextBox 12"/>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쪽 4개</a:t>
            </a:r>
          </a:p>
          <a:p>
            <a:pPr algn="l">
              <a:lnSpc>
                <a:spcPct val="110000"/>
              </a:lnSpc>
            </a:pPr>
            <a:r>
              <a:rPr sz="1250" b="1">
                <a:solidFill>
                  <a:srgbClr val="556175"/>
                </a:solidFill>
                <a:latin typeface="맑은 고딕"/>
                <a:ea typeface="맑은 고딕"/>
                <a:cs typeface="맑은 고딕"/>
              </a:rPr>
              <a:t>pm_status 등</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16" name="TextBox 15"/>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enterprise-purchase</a:t>
            </a:r>
          </a:p>
        </p:txBody>
      </p:sp>
      <p:sp>
        <p:nvSpPr>
          <p:cNvPr id="17" name="TextBox 16"/>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구매 쪽 3개</a:t>
            </a:r>
          </a:p>
          <a:p>
            <a:pPr algn="l">
              <a:lnSpc>
                <a:spcPct val="110000"/>
              </a:lnSpc>
            </a:pPr>
            <a:r>
              <a:rPr sz="1250" b="1">
                <a:solidFill>
                  <a:srgbClr val="556175"/>
                </a:solidFill>
                <a:latin typeface="맑은 고딕"/>
                <a:ea typeface="맑은 고딕"/>
                <a:cs typeface="맑은 고딕"/>
              </a:rPr>
              <a:t>part_quotes 등</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 실행마다 작업 폴더 하나를 준다</a:t>
            </a:r>
          </a:p>
          <a:p>
            <a:pPr algn="l">
              <a:lnSpc>
                <a:spcPct val="110000"/>
              </a:lnSpc>
              <a:spcAft>
                <a:spcPts val="400"/>
              </a:spcAft>
            </a:pPr>
            <a:r>
              <a:rPr sz="14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금지</a:t>
            </a:r>
          </a:p>
          <a:p>
            <a:pPr algn="l">
              <a:lnSpc>
                <a:spcPct val="110000"/>
              </a:lnSpc>
              <a:spcAft>
                <a:spcPts val="400"/>
              </a:spcAft>
            </a:pPr>
            <a:r>
              <a:rPr sz="1400" b="0">
                <a:solidFill>
                  <a:srgbClr val="1F2A3A"/>
                </a:solidFill>
                <a:latin typeface="맑은 고딕"/>
                <a:ea typeface="맑은 고딕"/>
                <a:cs typeface="맑은 고딕"/>
              </a:rPr>
              <a:t>• 「홈 디렉터리를 찾아보지 마세요.」</a:t>
            </a:r>
          </a:p>
          <a:p>
            <a:pPr algn="l">
              <a:lnSpc>
                <a:spcPct val="110000"/>
              </a:lnSpc>
              <a:spcAft>
                <a:spcPts val="400"/>
              </a:spcAft>
            </a:pPr>
            <a:r>
              <a:rPr sz="14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인증 비밀값: 설정에는 자리표시자, 값은 따로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 토큰을 그대로 적으면 설정을 보는 누구에게나 드러나기 때문에, 자리표시자만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비밀값.svg" descr="illust_886932275679643366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91127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설정: 값 대신 자리표시자</a:t>
            </a:r>
          </a:p>
        </p:txBody>
      </p:sp>
      <p:sp>
        <p:nvSpPr>
          <p:cNvPr id="8" name="TextBox 7"/>
          <p:cNvSpPr txBox="1"/>
          <p:nvPr/>
        </p:nvSpPr>
        <p:spPr>
          <a:xfrm>
            <a:off x="1077479" y="3840077"/>
            <a:ext cx="349103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${SECRET:GOOGLE_TOKEN}</a:t>
            </a:r>
          </a:p>
        </p:txBody>
      </p:sp>
      <p:sp>
        <p:nvSpPr>
          <p:cNvPr id="9" name="TextBox 8"/>
          <p:cNvSpPr txBox="1"/>
          <p:nvPr/>
        </p:nvSpPr>
        <p:spPr>
          <a:xfrm>
            <a:off x="7350439" y="214765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비밀값 보관소</a:t>
            </a:r>
          </a:p>
          <a:p>
            <a:pPr algn="ctr">
              <a:lnSpc>
                <a:spcPct val="110000"/>
              </a:lnSpc>
              <a:spcAft>
                <a:spcPts val="100"/>
              </a:spcAft>
            </a:pPr>
            <a:r>
              <a:rPr sz="1300" b="0">
                <a:solidFill>
                  <a:srgbClr val="556175"/>
                </a:solidFill>
                <a:latin typeface="맑은 고딕"/>
                <a:ea typeface="맑은 고딕"/>
                <a:cs typeface="맑은 고딕"/>
              </a:rPr>
              <a:t>값은 설정과 따로 둔다</a:t>
            </a:r>
          </a:p>
        </p:txBody>
      </p:sp>
      <p:sp>
        <p:nvSpPr>
          <p:cNvPr id="10" name="TextBox 9"/>
          <p:cNvSpPr txBox="1"/>
          <p:nvPr/>
        </p:nvSpPr>
        <p:spPr>
          <a:xfrm>
            <a:off x="5364911" y="4227728"/>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직전에 채운다</a:t>
            </a:r>
          </a:p>
        </p:txBody>
      </p:sp>
      <p:sp>
        <p:nvSpPr>
          <p:cNvPr id="11" name="TextBox 10"/>
          <p:cNvSpPr txBox="1"/>
          <p:nvPr/>
        </p:nvSpPr>
        <p:spPr>
          <a:xfrm>
            <a:off x="8354113" y="295131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MCP 서버</a:t>
            </a:r>
          </a:p>
          <a:p>
            <a:pPr algn="ctr">
              <a:lnSpc>
                <a:spcPct val="110000"/>
              </a:lnSpc>
              <a:spcAft>
                <a:spcPts val="100"/>
              </a:spcAft>
            </a:pPr>
            <a:r>
              <a:rPr sz="1300" b="0">
                <a:solidFill>
                  <a:srgbClr val="556175"/>
                </a:solidFill>
                <a:latin typeface="맑은 고딕"/>
                <a:ea typeface="맑은 고딕"/>
                <a:cs typeface="맑은 고딕"/>
              </a:rPr>
              <a:t>채워진 값으로 연결한다</a:t>
            </a:r>
          </a:p>
        </p:txBody>
      </p:sp>
      <p:sp>
        <p:nvSpPr>
          <p:cNvPr id="12" name="TextBox 11"/>
          <p:cNvSpPr txBox="1"/>
          <p:nvPr/>
        </p:nvSpPr>
        <p:spPr>
          <a:xfrm>
            <a:off x="6477679" y="522049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화면과 기록</a:t>
            </a:r>
          </a:p>
          <a:p>
            <a:pPr algn="ctr">
              <a:lnSpc>
                <a:spcPct val="110000"/>
              </a:lnSpc>
              <a:spcAft>
                <a:spcPts val="100"/>
              </a:spcAft>
            </a:pPr>
            <a:r>
              <a:rPr sz="1300" b="0">
                <a:solidFill>
                  <a:srgbClr val="556175"/>
                </a:solidFill>
                <a:latin typeface="맑은 고딕"/>
                <a:ea typeface="맑은 고딕"/>
                <a:cs typeface="맑은 고딕"/>
              </a:rPr>
              <a:t>가린 값만 보인다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자리표시자가 든 설정과 화면에 보이는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자리표시자가 든 설정은 열어 보아도 값이 드러나지 않고, 값이 준비되지 않은 서버는 그 실행에서 빠진다.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"my-drive":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a:lnSpc>
                <a:spcPct val="110000"/>
              </a:lnSpc>
              <a:spcAft>
                <a:spcPts val="200"/>
              </a:spcAft>
            </a:pPr>
            <a:r>
              <a:rPr sz="1300" b="0">
                <a:solidFill>
                  <a:srgbClr val="E8EEF6"/>
                </a:solidFill>
                <a:latin typeface="Consolas"/>
                <a:ea typeface="맑은 고딕"/>
                <a:cs typeface="맑은 고딕"/>
              </a:rPr>
              <a:t>  "headers": {</a:t>
            </a:r>
          </a:p>
          <a:p>
            <a:pPr algn="l">
              <a:lnSpc>
                <a:spcPct val="110000"/>
              </a:lnSpc>
              <a:spcAft>
                <a:spcPts val="200"/>
              </a:spcAft>
            </a:pPr>
            <a:r>
              <a:rPr sz="1300" b="0">
                <a:solidFill>
                  <a:srgbClr val="E8EEF6"/>
                </a:solidFill>
                <a:latin typeface="Consolas"/>
                <a:ea typeface="맑은 고딕"/>
                <a:cs typeface="맑은 고딕"/>
              </a:rPr>
              <a:t>    "Authorization":</a:t>
            </a:r>
          </a:p>
          <a:p>
            <a:pPr algn="l">
              <a:lnSpc>
                <a:spcPct val="110000"/>
              </a:lnSpc>
              <a:spcAft>
                <a:spcPts val="200"/>
              </a:spcAft>
            </a:pPr>
            <a:r>
              <a:rPr sz="1300" b="0">
                <a:solidFill>
                  <a:srgbClr val="E8EEF6"/>
                </a:solidFill>
                <a:latin typeface="Consolas"/>
                <a:ea typeface="맑은 고딕"/>
                <a:cs typeface="맑은 고딕"/>
              </a:rPr>
              <a:t>      "Bearer ${SECRET:GOOGLE_TOKEN}"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${SECRET:이름}</a:t>
            </a:r>
          </a:p>
          <a:p>
            <a:pPr algn="l">
              <a:lnSpc>
                <a:spcPct val="110000"/>
              </a:lnSpc>
              <a:spcAft>
                <a:spcPts val="400"/>
              </a:spcAft>
            </a:pPr>
            <a:r>
              <a:rPr sz="1400" b="0">
                <a:solidFill>
                  <a:srgbClr val="1F2A3A"/>
                </a:solidFill>
                <a:latin typeface="맑은 고딕"/>
                <a:ea typeface="맑은 고딕"/>
                <a:cs typeface="맑은 고딕"/>
              </a:rPr>
              <a:t>값이 들어갈 자리와 그 값의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값이 없을 때</a:t>
            </a:r>
          </a:p>
          <a:p>
            <a:pPr algn="l">
              <a:lnSpc>
                <a:spcPct val="110000"/>
              </a:lnSpc>
              <a:spcAft>
                <a:spcPts val="400"/>
              </a:spcAft>
            </a:pPr>
            <a:r>
              <a:rPr sz="14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가린 값</a:t>
            </a:r>
          </a:p>
          <a:p>
            <a:pPr algn="l">
              <a:lnSpc>
                <a:spcPct val="110000"/>
              </a:lnSpc>
              <a:spcAft>
                <a:spcPts val="400"/>
              </a:spcAft>
            </a:pPr>
            <a:r>
              <a:rPr sz="1400" b="0">
                <a:solidFill>
                  <a:srgbClr val="1F2A3A"/>
                </a:solidFill>
                <a:latin typeface="맑은 고딕"/>
                <a:ea typeface="맑은 고딕"/>
                <a:cs typeface="맑은 고딕"/>
              </a:rPr>
              <a:t>화면에 보일 때는 값을 별표로 가린다.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환경변수</a:t>
            </a:r>
          </a:p>
          <a:p>
            <a:pPr algn="l">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후보를 비교한 응답이 128,466자여서 본문이 전달되지 않았고, 에이전트는 읽지 못한 범위를 보고에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a:t>
            </a:r>
          </a:p>
          <a:p>
            <a:pPr algn="ctr">
              <a:lnSpc>
                <a:spcPct val="110000"/>
              </a:lnSpc>
              <a:spcAft>
                <a:spcPts val="400"/>
              </a:spcAft>
            </a:pPr>
            <a:r>
              <a:rPr sz="1350" b="0">
                <a:solidFill>
                  <a:srgbClr val="1F2A3A"/>
                </a:solidFill>
                <a:latin typeface="맑은 고딕"/>
                <a:ea typeface="맑은 고딕"/>
                <a:cs typeface="맑은 고딕"/>
              </a:rPr>
              <a:t>evaluate_cards</a:t>
            </a:r>
          </a:p>
          <a:p>
            <a:pPr algn="ctr">
              <a:lnSpc>
                <a:spcPct val="110000"/>
              </a:lnSpc>
              <a:spcAft>
                <a:spcPts val="400"/>
              </a:spcAft>
            </a:pPr>
            <a:r>
              <a:rPr sz="1350" b="0">
                <a:solidFill>
                  <a:srgbClr val="1F2A3A"/>
                </a:solidFill>
                <a:latin typeface="맑은 고딕"/>
                <a:ea typeface="맑은 고딕"/>
                <a:cs typeface="맑은 고딕"/>
              </a:rPr>
              <a:t>807 ms</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응답</a:t>
            </a:r>
          </a:p>
          <a:p>
            <a:pPr algn="ctr">
              <a:lnSpc>
                <a:spcPct val="110000"/>
              </a:lnSpc>
              <a:spcAft>
                <a:spcPts val="400"/>
              </a:spcAft>
            </a:pPr>
            <a:r>
              <a:rPr sz="1350" b="0">
                <a:solidFill>
                  <a:srgbClr val="1F2A3A"/>
                </a:solidFill>
                <a:latin typeface="맑은 고딕"/>
                <a:ea typeface="맑은 고딕"/>
                <a:cs typeface="맑은 고딕"/>
              </a:rPr>
              <a:t>128,466자</a:t>
            </a:r>
          </a:p>
          <a:p>
            <a:pPr algn="ctr">
              <a:lnSpc>
                <a:spcPct val="110000"/>
              </a:lnSpc>
              <a:spcAft>
                <a:spcPts val="400"/>
              </a:spcAft>
            </a:pPr>
            <a:r>
              <a:rPr sz="1350" b="0">
                <a:solidFill>
                  <a:srgbClr val="1F2A3A"/>
                </a:solidFill>
                <a:latin typeface="맑은 고딕"/>
                <a:ea typeface="맑은 고딕"/>
                <a:cs typeface="맑은 고딕"/>
              </a:rPr>
              <a:t>기록에 「결과 잘림」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조회</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범위의 표시</a:t>
            </a:r>
          </a:p>
          <a:p>
            <a:pPr algn="ctr">
              <a:lnSpc>
                <a:spcPct val="110000"/>
              </a:lnSpc>
              <a:spcAft>
                <a:spcPts val="400"/>
              </a:spcAft>
            </a:pPr>
            <a:r>
              <a:rPr sz="1350" b="0">
                <a:solidFill>
                  <a:srgbClr val="1F2A3A"/>
                </a:solidFill>
                <a:latin typeface="맑은 고딕"/>
                <a:ea typeface="맑은 고딕"/>
                <a:cs typeface="맑은 고딕"/>
              </a:rPr>
              <a:t>열어 보지 못한 출력이</a:t>
            </a:r>
          </a:p>
          <a:p>
            <a:pPr algn="ctr">
              <a:lnSpc>
                <a:spcPct val="110000"/>
              </a:lnSpc>
              <a:spcAft>
                <a:spcPts val="400"/>
              </a:spcAft>
            </a:pPr>
            <a:r>
              <a:rPr sz="1350" b="0">
                <a:solidFill>
                  <a:srgbClr val="1F2A3A"/>
                </a:solidFill>
                <a:latin typeface="맑은 고딕"/>
                <a:ea typeface="맑은 고딕"/>
                <a:cs typeface="맑은 고딕"/>
              </a:rPr>
              <a:t>있음을 보고에 적었다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표시: 호출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호출마다 시각과 입력과 받은 결과가 기록되어, 판단에 쓰인 값이 어느 호출에서 왔는지를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시각과 걸린 시간</a:t>
            </a:r>
          </a:p>
          <a:p>
            <a:pPr algn="l">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서버와 도구</a:t>
            </a:r>
          </a:p>
          <a:p>
            <a:pPr algn="l">
              <a:lnSpc>
                <a:spcPct val="110000"/>
              </a:lnSpc>
              <a:spcAft>
                <a:spcPts val="400"/>
              </a:spcAft>
            </a:pPr>
            <a:r>
              <a:rPr sz="1400" b="0">
                <a:solidFill>
                  <a:srgbClr val="1F2A3A"/>
                </a:solidFill>
                <a:latin typeface="맑은 고딕"/>
                <a:ea typeface="맑은 고딕"/>
                <a:cs typeface="맑은 고딕"/>
              </a:rPr>
              <a:t>어느 서버의 어느 도구였는지가 남는다.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물음과 받음</a:t>
            </a:r>
          </a:p>
          <a:p>
            <a:pPr algn="l">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값의 출처</a:t>
            </a:r>
          </a:p>
          <a:p>
            <a:pPr algn="l">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자리표시자로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03단원 정리: 연결할 때 확인하는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연결할 때는 부를 수 있는 범위, 읽을 수 있는 파일, 비밀값의 자리, 응답이 어긋났을 때의 처리를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a:t>
            </a:r>
          </a:p>
          <a:p>
            <a:pPr algn="l">
              <a:lnSpc>
                <a:spcPct val="110000"/>
              </a:lnSpc>
              <a:spcAft>
                <a:spcPts val="400"/>
              </a:spcAft>
            </a:pPr>
            <a:r>
              <a:rPr sz="1350" b="0">
                <a:solidFill>
                  <a:srgbClr val="1F2A3A"/>
                </a:solidFill>
                <a:latin typeface="맑은 고딕"/>
                <a:ea typeface="맑은 고딕"/>
                <a:cs typeface="맑은 고딕"/>
              </a:rPr>
              <a:t>읽는 도구와 쓰는 도구를 가르고 필요한 서버만 연결한다</a:t>
            </a:r>
          </a:p>
        </p:txBody>
      </p:sp>
      <p:sp>
        <p:nvSpPr>
          <p:cNvPr id="10" name="Rounded Rectangle 9"/>
          <p:cNvSpPr/>
          <p:nvPr/>
        </p:nvSpPr>
        <p:spPr>
          <a:xfrm>
            <a:off x="777240" y="5029771"/>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표시와 허용 목록</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folder" descr="folde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범위</a:t>
            </a:r>
          </a:p>
          <a:p>
            <a:pPr algn="l">
              <a:lnSpc>
                <a:spcPct val="110000"/>
              </a:lnSpc>
              <a:spcAft>
                <a:spcPts val="400"/>
              </a:spcAft>
            </a:pPr>
            <a:r>
              <a:rPr sz="1350" b="0">
                <a:solidFill>
                  <a:srgbClr val="1F2A3A"/>
                </a:solidFill>
                <a:latin typeface="맑은 고딕"/>
                <a:ea typeface="맑은 고딕"/>
                <a:cs typeface="맑은 고딕"/>
              </a:rPr>
              <a:t>읽고 쓸 폴더를 작업 폴더 하나로 정한다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350" b="0">
                <a:solidFill>
                  <a:srgbClr val="1F2A3A"/>
                </a:solidFill>
                <a:latin typeface="맑은 고딕"/>
                <a:ea typeface="맑은 고딕"/>
                <a:cs typeface="맑은 고딕"/>
              </a:rPr>
              <a:t>설정에는 자리표시자만 두고 화면과 기록에서는 가린다</a:t>
            </a:r>
          </a:p>
        </p:txBody>
      </p:sp>
      <p:sp>
        <p:nvSpPr>
          <p:cNvPr id="22" name="Rounded Rectangle 21"/>
          <p:cNvSpPr/>
          <p:nvPr/>
        </p:nvSpPr>
        <p:spPr>
          <a:xfrm>
            <a:off x="6461607" y="5029771"/>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자리표시자</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응답과 실패</a:t>
            </a:r>
          </a:p>
          <a:p>
            <a:pPr algn="l">
              <a:lnSpc>
                <a:spcPct val="110000"/>
              </a:lnSpc>
              <a:spcAft>
                <a:spcPts val="400"/>
              </a:spcAft>
            </a:pPr>
            <a:r>
              <a:rPr sz="1350" b="0">
                <a:solidFill>
                  <a:srgbClr val="1F2A3A"/>
                </a:solidFill>
                <a:latin typeface="맑은 고딕"/>
                <a:ea typeface="맑은 고딕"/>
                <a:cs typeface="맑은 고딕"/>
              </a:rPr>
              <a:t>없음, 실패, 잘림을 구분하고 값의 출처를 남긴다</a:t>
            </a:r>
          </a:p>
        </p:txBody>
      </p:sp>
      <p:sp>
        <p:nvSpPr>
          <p:cNvPr id="28" name="Rounded Rectangle 27"/>
          <p:cNvSpPr/>
          <p:nvPr/>
        </p:nvSpPr>
        <p:spPr>
          <a:xfrm>
            <a:off x="9303791" y="5029771"/>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호출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완료 시점을 뽑는 SKILL.md를 작성한다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완료 시점을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학습 노트와 매뉴얼로 문항을 내고 출처를 붙여 답을 되짚어 주는 대화를 구성한다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대화의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학습 노트에서 문항을 내고 출처를 붙여 답을 되짚어 주는 대화형 학습 코치가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문항 생성</a:t>
            </a:r>
          </a:p>
          <a:p>
            <a:pPr algn="ctr">
              <a:lnSpc>
                <a:spcPct val="110000"/>
              </a:lnSpc>
              <a:spcAft>
                <a:spcPts val="400"/>
              </a:spcAft>
            </a:pPr>
            <a:r>
              <a:rPr sz="1350" b="0">
                <a:solidFill>
                  <a:srgbClr val="1F2A3A"/>
                </a:solidFill>
                <a:latin typeface="맑은 고딕"/>
                <a:ea typeface="맑은 고딕"/>
                <a:cs typeface="맑은 고딕"/>
              </a:rPr>
              <a:t>학습 노트나 매뉴얼에서</a:t>
            </a:r>
          </a:p>
          <a:p>
            <a:pPr algn="ctr">
              <a:lnSpc>
                <a:spcPct val="110000"/>
              </a:lnSpc>
              <a:spcAft>
                <a:spcPts val="400"/>
              </a:spcAft>
            </a:pPr>
            <a:r>
              <a:rPr sz="1350" b="0">
                <a:solidFill>
                  <a:srgbClr val="1F2A3A"/>
                </a:solidFill>
                <a:latin typeface="맑은 고딕"/>
                <a:ea typeface="맑은 고딕"/>
                <a:cs typeface="맑은 고딕"/>
              </a:rPr>
              <a:t>문항을 만든다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답변 입력</a:t>
            </a:r>
          </a:p>
          <a:p>
            <a:pPr algn="ctr">
              <a:lnSpc>
                <a:spcPct val="110000"/>
              </a:lnSpc>
              <a:spcAft>
                <a:spcPts val="400"/>
              </a:spcAft>
            </a:pPr>
            <a:r>
              <a:rPr sz="1350" b="0">
                <a:solidFill>
                  <a:srgbClr val="1F2A3A"/>
                </a:solidFill>
                <a:latin typeface="맑은 고딕"/>
                <a:ea typeface="맑은 고딕"/>
                <a:cs typeface="맑은 고딕"/>
              </a:rPr>
              <a:t>학생이</a:t>
            </a:r>
          </a:p>
          <a:p>
            <a:pPr algn="ctr">
              <a:lnSpc>
                <a:spcPct val="110000"/>
              </a:lnSpc>
              <a:spcAft>
                <a:spcPts val="400"/>
              </a:spcAft>
            </a:pPr>
            <a:r>
              <a:rPr sz="1350" b="0">
                <a:solidFill>
                  <a:srgbClr val="1F2A3A"/>
                </a:solidFill>
                <a:latin typeface="맑은 고딕"/>
                <a:ea typeface="맑은 고딕"/>
                <a:cs typeface="맑은 고딕"/>
              </a:rPr>
              <a:t>답을 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890647"/>
            <a:ext cx="731520" cy="731520"/>
          </a:xfrm>
          <a:prstGeom prst="ellipse">
            <a:avLst/>
          </a:prstGeom>
          <a:solidFill>
            <a:srgbClr val="5CB8F2"/>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 기반 피드백</a:t>
            </a:r>
          </a:p>
          <a:p>
            <a:pPr algn="ctr">
              <a:lnSpc>
                <a:spcPct val="110000"/>
              </a:lnSpc>
              <a:spcAft>
                <a:spcPts val="400"/>
              </a:spcAft>
            </a:pPr>
            <a:r>
              <a:rPr sz="1350" b="0">
                <a:solidFill>
                  <a:srgbClr val="1F2A3A"/>
                </a:solidFill>
                <a:latin typeface="맑은 고딕"/>
                <a:ea typeface="맑은 고딕"/>
                <a:cs typeface="맑은 고딕"/>
              </a:rPr>
              <a:t>정답과 그 근거가 된</a:t>
            </a:r>
          </a:p>
          <a:p>
            <a:pPr algn="ctr">
              <a:lnSpc>
                <a:spcPct val="110000"/>
              </a:lnSpc>
              <a:spcAft>
                <a:spcPts val="400"/>
              </a:spcAft>
            </a:pPr>
            <a:r>
              <a:rPr sz="1350" b="0">
                <a:solidFill>
                  <a:srgbClr val="1F2A3A"/>
                </a:solidFill>
                <a:latin typeface="맑은 고딕"/>
                <a:ea typeface="맑은 고딕"/>
                <a:cs typeface="맑은 고딕"/>
              </a:rPr>
              <a:t>원문의 자리를 알려 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다음 문항</a:t>
            </a:r>
          </a:p>
          <a:p>
            <a:pPr algn="ctr">
              <a:lnSpc>
                <a:spcPct val="110000"/>
              </a:lnSpc>
              <a:spcAft>
                <a:spcPts val="400"/>
              </a:spcAft>
            </a:pPr>
            <a:r>
              <a:rPr sz="1350" b="0">
                <a:solidFill>
                  <a:srgbClr val="1F2A3A"/>
                </a:solidFill>
                <a:latin typeface="맑은 고딕"/>
                <a:ea typeface="맑은 고딕"/>
                <a:cs typeface="맑은 고딕"/>
              </a:rPr>
              <a:t>같은 순서로</a:t>
            </a:r>
          </a:p>
          <a:p>
            <a:pPr algn="ctr">
              <a:lnSpc>
                <a:spcPct val="110000"/>
              </a:lnSpc>
              <a:spcAft>
                <a:spcPts val="400"/>
              </a:spcAft>
            </a:pPr>
            <a:r>
              <a:rPr sz="1350" b="0">
                <a:solidFill>
                  <a:srgbClr val="1F2A3A"/>
                </a:solidFill>
                <a:latin typeface="맑은 고딕"/>
                <a:ea typeface="맑은 고딕"/>
                <a:cs typeface="맑은 고딕"/>
              </a:rPr>
              <a:t>이어 간다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최소 권한 원칙</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Principle of Least Privilege</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필요한 서버와 도구만 연결</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