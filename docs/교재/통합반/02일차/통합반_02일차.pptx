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경보 뒤의 판단에 지식이 필요하고, 그 지식을 대상과 관계로 적은 것이 온톨로지라는 데까지 왔습니다. 오늘은 그 온톨로지를 직접 만드는 방법을 다룹니다. 목표는 화면의 네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사건을 노드와 관계로 그리면서 노드마다 설비 같은 종류와 HYD-01 같은 실제 이름을 함께 적었습니다.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점선 상자가 센서 클래스입니다. 무엇인가를 재어 값으로 내놓는다는 공통점으로 대상을 묶은 유형이고, 점선은 물건 하나가 아니라 틀이라는 뜻입니다. 오른쪽 맨 위의 sen:ts1이 지난 시간에 따라간 유온 센서이며, sen:ts1은 이 인스턴스를 가리키는 식별자입니다. 다섯 인스턴스는 재는 대상이 달라도 모두 같은 유형에 속합니다. 신청서 양식 하나에 작성된 신청서가 여러 장인 것과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따라간 사건의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지난 시간에 따라간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센서와 유온은 이름이 비슷하지만 다른 대상입니다. 정상값과 한계는 재는 장치가 아니라 재어지는 물리량에 딸린 값입니다. 그래서 클래스를 나누었습니다.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일상에서는 둘 다 부품이라고 부르지만 클래스로는 나뉩니다. 위 줄이 구성 요소이고 아래 줄이 그 안에 들어가는 교체 부품입니다. 이 과정에서 부품이라는 말은 아래 줄만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헷갈릴 때는 문장에 넣어 봅니다. 오일 쿨러는 구성 요소의 하나이다는 말이 됩니다. 구성 요소는 오일 쿨러의 하나이다는 말이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줄을 가로로 읽습니다. 센서는 클래스이고 유온 센서는 그 인스턴스이며 TS1은 그 인스턴스에 붙은 태그의 값입니다. 둘째 줄도 가로로 짝이 됩니다. 쿨러 팬은 구성 요소의 하나이고 팬 진동은 상태 변수의 하나입니다. VS1과 mm/s와 2.0은 대상이 아니라 팬 진동 센서와 팬 진동에 붙은 값이며, 지난 시간에 본 속성이 이런 값을 담는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지난 시간에 따라간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속성은 대상이 갖는 값의 칸이라고 했고,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앞에서 값이라고 가른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공장에는 같은 기종의 유압 파워팩이 세 대 있습니다. 생김새와 구조가 같아도 인스턴스는 셋이고, 값이 서로 다릅니다. 어느 설비의 이야기인지는 이 값으로 가려집니다.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형식은 그 값으로 무엇을 할 수 있는지를 정합니다. 한계가 수로 적혀 있어야 잰 값이 한계를 넘었는지 비교할 수 있습니다. 목록은 같은 대상의 다른 이름처럼 값이 여러 개일 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다섯을 나란히 놓았습니다. 이름과 단위는 다섯 모두에 있습니다. 단위 없는 물리량은 해석할 수 없으므로 반드시 있어야 하는 속성입니다. 한계는 셋에만 있고 둘에는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먼저 위의 차량을 보면 번호와 제조사가 차량의 속성입니다. 아래의 승용차, 화물차, 버스는 차량의 하위 클래스여서 이 속성을 따로 적지 않아도 모두 갖습니다. 화물차는 물려받은 속성에 화물차에만 있는 적재량을 더합니다. 세모가 달린 선은 아래 클래스가 위 클래스를 상속한다는 표기입니다.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온톨로지에서는 업무의 흐름을 나타내는 클래스들이 이 구조입니다. 작업은 흐름 노드의 id와 name을 물려받고 taskType을 더합니다. 하위 클래스의 인스턴스는 상위 클래스의 인스턴스이기도 합니다. 흐름 노드는 업무 흐름의 한 칸이고 작업은 그 가운데 일을 하는 칸입니다. 이 클래스들은 프로세스를 다룰 때 자세히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 달린 유온 센서가 무엇을 재는지를 유온이라는 글자 값으로 적을 수도 있습니다. 그러나 글자 값에는 정상값 48과 한계 65를 붙일 자리가 없습니다. 그래서 유온을 인스턴스로 두고 센서와는 OBSERVES, 곧 읽는다는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그림에 노드 둘을 더했습니다. 먼저 팬 속도도 상태 변수의 인스턴스이고, 팬 속도가 유온에 영향을 준다는 관계가 INFLUENCES입니다. 지난 시간에 팬을 최대로 올리자 유온이 내려간 일이 이 관계로 적혀 있으며, 팬 속도는 팬 인버터라는 구동기가 MANIPULATES 관계로 바꿉니다. 유온을 인스턴스로 두었기 때문에 쿨러, 센서, 팬이 유온을 거쳐 이어집니다. 그것에 대해 더 말할 것이 있으면 인스턴스이고, TS1이라는 태그나 섭씨라는 단위처럼 값 하나로 끝나면 속성값입니다.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하나를 가운데 놓았습니다. 왼쪽 둘은 오일 쿨러로 들어오는 관계이고 오른쪽 셋은 오일 쿨러에서 나가는 관계입니다. 지난 시간에 고장 유형이 오일 쿨러에서 일어난다고 한 것이 왼쪽 아래의 OCCURS_IN입니다.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 네 가지를 실제 예로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행의 MANIPULATES, 곧 바꾼다는 관계는 일대일이어서 구동기 셋이 상태 변수 셋과 하나씩 짝을 이루고, 한 구동기가 둘을 바꾸지도 한 상태 변수를 두 구동기가 바꾸지도 않습니다. 둘째 행의 HAS_STEP은 조치 방법 하나에서 단계 여럿으로 가는 일대다 관계입니다. 지난 시간에 승인된 팬 최대 운전에는 수행 단계가 셋 있고, 단계 하나는 한 조치 방법에만 속합니다. 셋째 행의 MEMBER_OF는 역할에서 부서로 가는 다대일 관계이며, 지난 시간에 조치를 승인한 운전원은 생산팀에 속합니다. 한 부서에 역할이 여럿 속할 수 있고 역할 하나는 한 부서에만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SUPPLIED_BY, 곧 공급받는다는 관계는 다대다입니다. 펌프 축 씰 키트는 세 공급사가 공급하고, A정밀은 세 부품을 공급합니다. 지난 시간의 CAUSES도 다대다입니다. 고장 유형 하나에 원인이 여럿 붙고, 원인 하나가 여러 고장 유형을 일으킬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오른쪽처럼 팬 인버터가 팬 속도와 펌프 부하를 함께 바꾼다고 적힌 데이터가 들어오면 일대일이라는 정의와 다릅니다. 잘못 넣은 데이터일 가능성이 높으므로 다시 확인합니다. 조회할 때 결과가 하나일지 여럿일지를 미리 아는 데에도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읽고 구동기는 바꿉니다. 갖는 속성도 맺는 관계도 다르므로 한 클래스로 묶지 않고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왼쪽을 봅니다. 부품 번호는 쿨러 코어 하나에 딸린 값이고 그 값에 대해 더 적을 것이 없으며, 공급사가 승인된 곳인지도 그 공급사에 딸린 참 · 거짓 값입니다. 다음으로 오른쪽을 봅니다. 오일 쿨러에 들어가는 교체 부품을 쿨러 코어라는 글자 값으로 적을 수도 있지만, 쿨러 코어에는 부품 번호가 있고 공급사와의 관계도 있습니다. 그래서 인스턴스로 두고 USES_PART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부품인데 단가와 납기가 공급사마다 다릅니다. 단가를 부품의 속성으로 두면 공급사가 셋이라 값을 하나로 정할 수 없습니다. 단가는 부품과 공급사의 짝에 딸린 값이므로 SUPPLIED_BY 관계에 속성으로 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네 사례를 순서로 모았습니다. 설계하다가 막히면 이 순서대로 물어봅니다.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설계할 때 흔한 실수 둘입니다. 먼저 첫째 실수를 봅니다. 유온 센서는 센서의 하나이므로 인스턴스이며, 클래스로 만들기 전에 유형인지 대상 하나인지를 「하나이다」 문장으로 확인합니다. 다음으로 둘째 실수를 봅니다. 설비가 구성 요소를 갖는다와 구성 요소가 설비에 속한다는 같은 사실이고, 지난 시간에 본 것처럼 컴퓨터는 화살표를 거슬러 가기도 하므로 한쪽만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섭씨와 65를 노드로 만들었습니다. 이 노드들은 속성도 없고 다른 관계도 없습니다. 오른쪽처럼 유온이라는 인스턴스의 속성으로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 본 것은 네 가지입니다. 유형은 클래스로, 실제 대상은 인스턴스로, 값은 속성으로, 연결은 관계로 적습니다. 이 네 가지를 한곳에 일관되게 정의해 둔 것이 다음 단원의 스키마입니다.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적히는지를 센서 클래스로 봅니다. 먼저 이름입니다. 영문 이름 Sensor가 이 클래스를 가리키는 하나뿐인 이름이고, 센서는 사람이 읽는 한글 이름입니다. 다음으로 의미입니다. 센서라는 낱말만 있으면 계기 장치만 가리키는지 계산으로 만든 값도 포함하는지를 사람마다 다르게 읽는데, 계측 채널이라고 적어 두었으므로 냉각 효율도 센서 클래스에 넣을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정의의 마지막 항목이 속성 목록이고, 앞 단원에서 본 센서의 다섯 칸이 한 줄씩 적혀 있습니다. 한 줄은 속성의 이름, 자료형, 필수 여부의 순서입니다. tag 한 줄을 읽으면 이름은 tag, 자료형은 글자, 그리고 반드시 있어야 하는 속성입니다. 앞 단원에서 본 값의 형식과 필수 · 선택이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kind에는 이 세 값만 쓸 수 있습니다. 유온은 조작한 결과로 나타나는 값이므로 controlled입니다. 값을 정해 두었기 때문에 조작할 수 있는 상태 변수만 고르는 일이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센서의 tag는 필수 속성입니다. 태그가 없으면 저장소에 쌓인 값 가운데 어느 것이 이 센서의 값인지 찾을 수 없습니다. 필수로 정해 두면 이런 인스턴스를 넣기 전에 가려낼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식별자만 보아도 어느 클래스의 대상인지 알 수 있습니다. sen:ts1은 센서이고 sv:ts1은 상태 변수입니다. 뒤쪽이 같아도 접두사가 달라 서로 다른 대상입니다.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사람은 유온을 오일 온도라고도 작동유 온도라고도 부릅니다. 이 이름들을 별칭 목록에 적어 둡니다. 어느 말로 물어도 sv:ts1 하나에 닿으므로 같은 대상이 여러 노드로 흩어지지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 지식 그래프의 code와 tag를 봅니다. 지난 시간에 유온 값은 TimescaleDB의 tag_1s라는 표에 쌓인다고 했는데, 그 표의 asset 열과 name 열에 같은 HYD-01과 TS1이 들어 있어 센서를 찾은 뒤 그 값으로 지금의 유온을 읽어 올 수 있습니다. 정비 이력이나 자재 같은 업무 데이터를 담은 DB도 설비를 같은 code 값으로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 단원에서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유효하지 않은 연결에는 두 가지 꼴이 더 있습니다. 방향을 반대로 그은 것과, 스키마에 없는 이름으로 그은 것입니다. 둘 다 사람이 보면 뜻이 통하지만, 정의된 이름과 방향으로 조회하면 이 연결은 찾아지지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관계 그림과 온톨로지를 가르는 것이 제약이라고 한 까닭이 여기에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 단원에서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둘은 바뀌는 빈도가 다릅니다. 지식을 늘리는 일은 대부분 인스턴스를 더하는 일입니다. 스키마는 처음에 신중하게 정하고 그 뒤로는 드물게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정의를 어떤 순서로 만드는지를 오일 쿨러 사례로 따라가겠습니다. 출발점은 클래스가 아니라 질문입니다. 한 단계씩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질문을 정하면 넣을 것과 넣지 않을 것이 갈립니다. 설비의 색깔이나 제조 연도는 이 세 질문에 쓰이지 않으므로 넣지 않습니다. 이 세 질문이 설계의 끝에서 확인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셋에 나오는 낱말을 앞 단원의 「하나이다」 문장으로 가릅니다. 오일 쿨러는 구성 요소의 하나이므로 인스턴스이고 구성 요소가 클래스입니다. 가른 유형마다 상자 하나를 그리고 영문 이름을 하나씩 붙였으며, 상자 옆에 그 유형의 낱말과 예시 인스턴스를 적었습니다. 한계는 대상이 아니라 물리량에 딸린 값이므로 여기에 넣지 않습니다. 상자의 아래 칸은 속성으로 채웁니다.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 이름 옆 중괄호 안에 속성을 나열했습니다. 모든 클래스에 식별자 id와 이름 name을 두고, 질문에 필요한 값을 더합니다. 설비에는 설비 코드, 센서에는 태그와 단위, 상태 변수에는 단위와 한계, 부품에는 부품 번호입니다. 느낌표가 붙은 것이 필수 속성입니다. 한계는 잰 값과 비교해야 하므로 수로 정하고, 한계가 없는 상태 변수도 있으므로 필수로 두지는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셋이 건너가는 길을 따라 관계를 놓았습니다. 첫 질문은 설비에서 구성 요소를 거쳐 센서로 가므로 HAS_COMPONENT와 MONITORED_BY를, 둘째 질문을 위해 OBSERVES를, 셋째 질문을 위해 USES_PART를 놓습니다. 오일 쿨러는 유온 센서와 냉각 효율 두 채널로 계측되므로 구성 요소 쪽에서 보아 센서가 여럿입니다. 이 네 줄이 앞에서 본 유효한 연결의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여기까지가 스키마입니다. 이 그림에는 HYD-01도 오일 쿨러도 없습니다. 어떤 유형이 있고 어떻게 이어질 수 있는가만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 2에서 가른 실제 대상 다섯을 인스턴스로 넣고 정의한 관계로 이었습니다. 연결마다 양 끝이 정의와 같은지를 확인합니다. 모두 유효한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출발해 관계 셋을 따라가면 첫 질문과 둘째 질문의 답이 나옵니다. 오일 쿨러에서 USES_PART를 따라가면 셋째 질문의 답인 쿨러 코어가 나옵니다. 답이 나오지 않으면 빠진 클래스나 관계가 있다는 뜻이므로 앞 단계로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지금의 스키마에는 공급사가 없으므로 이 질문에 답할 수 없습니다. 공급사 클래스와 부품에서 공급사로 가는 관계를 더합니다. 이미 정한 다섯 클래스는 그대로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만든 것은 HYD 온톨로지의 설비 묶음 가운데 일부입니다. 지난 시간에 따라간 증상과 고장 유형과 원인은 진단 묶음의 클래스입니다. 판단과 성과 묶음은 다음 시간에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단원의 처음에 본 세 문제로 돌아왔습니다. 오일 쿨러는 comp:cooler 하나로 들어가고, 구성 요소는 HAS_COMPONENT 하나로 이어지며, 한계는 수로 들어갑니다. 이렇게 정의한 지식을 저장하고 조회하는 방법이 다음 단원입니다.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스키마와 인스턴스를 정했으면 저장할 곳이 필요합니다. 표로 된 데이터베이스가 관계형 DB입니다. 쿨러 코어를 공급하는 곳을 알려면 부품 테이블과 공급사 테이블에서 part_no 값이 같은 행을 찾아 맞추어야 합니다. 이렇게 맞추어 잇는 일을 조인이라고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사실이 그래프 DB에는 노드 셋과 관계 둘로 들어 있습니다. 쿨러 코어 노드에 공급사 노드로 가는 관계가 이미 붙어 있으므로 따라가기만 하면 됩니다. 건너가는 단계가 늘수록 이 차이가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한쪽이 더 낫다는 뜻이 아닙니다. HYD는 매초 쌓이는 값을 관계형 DB에, 뜻과 연결을 그래프 DB에 두고, 앞에서 본 공통 식별자로 둘을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 단원에서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말을 한 줄씩 맞추었습니다. 상속은 한 노드에 레이블을 둘 붙여 나타냅니다. 온톨로지 스키마는 지식이 어떤 모양이어야 하는가를 정한 정의이고, Neo4j의 레이블과 제약은 그 정의를 도구 안에 옮겨 놓은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스키마에서 식별자는 겹치지 않는다고 정했습니다. 이 제약을 Neo4j에 유일 제약으로 걸어 두면, 같은 id의 노드를 또 만들려고 할 때 Neo4j가 저장을 거절합니다. 스키마가 먼저이고 DB는 그것을 담는 그릇입니다.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시간에 에이전트가 관계를 따라 원인 후보를 찾은 일도 Cypher 질의를 Neo4j에 보낸 것이었습니다.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갈수록 조건이 늘어납니다. 마지막 줄은 센서 가운데 태그가 TS1인 노드 하나를 가리킵니다. 글자 값은 작은따옴표로 감쌉니다.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결과를 두 가지로 볼 수 있습니다. 표에서는 한 행이 모양에 맞는 것 하나입니다. 첫 행은 오른쪽 그래프의 파란 화살표, 곧 오일 쿨러에서 TS1로 가는 연결에 해당합니다. 값을 비교할 때는 표가, 연결을 볼 때는 그래프가 편합니다.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질의에서 출발점을 설비 HYD-01로 옮기고 노드와 관계를 번갈아 이어 적었습니다. 설비에서 구성 요소로, 구성 요소에서 센서로, 센서에서 상태 변수로 세 단계를 건넙니다. 넷째 행을 읽으면 HYD-01의 오일 쿨러는 TS1로 계측되고, 그 센서는 유온을 읽으며, 유온의 한계는 65입니다. 스키마 단원에서 적은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지난 시간에 본 PLC의 인터록 셋이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MONITORED_BY는 구성 요소에서 센서로 향합니다. 반대로 적으면 그런 모양이 그래프에 없으므로 빈 결과가 나옵니다. 오류가 뜨지 않기 때문에 알아차리기 어렵습니다. 결과가 비면 화살표의 방향부터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그림으로 따라간 길을 Cypher로 적었습니다. 먼저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에이전트가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설비나 센서처럼 한 번만 있어야 하는 지식은 MERGE로 넣습니다. 넣다가 멈추어 처음부터 다시 실행해도 중복이 생기지 않습니다. CREATE는 작업 기록처럼 실행할 때마다 한 건이 새로 생겨야 하는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끝의 노드가 있어야 이을 수 있으므로 먼저 찾습니다. 오일 쿨러에서 유온 센서로, 유온 센서에서 유온으로 관계를 만듭니다. 스키마로 정의하고, 인스턴스를 정하고, 이런 질의로 넣는 것이 지식 그래프를 만드는 과정입니다.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 본 것을 네 걸음으로 모았습니다. 이어지는 실습에서는 먼저 조회를 직접 써 보고, 그다음 스키마를 설계해 그래프 DB에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봅니다. 질의를 외우는 것이 아니라 묻고 싶은 것을 노드와 관계의 모양으로 바꾸어 적는 연습입니다. 결과가 예상과 다르면 레이블과 관계 유형의 철자, 화살표의 방향을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지식 지도에서 같은 지식을 찾아봅니다. 오늘 배운 네 낱말을 화면에서 하나씩 짚어 보는 것이 목적입니다. 지식 지도가 보이는 것은 HYD의 기준 지식 그래프이고, 뒤의 실습에서 직접 만드는 그래프는 실습용으로 분리된 그래프 DB에 들어갑니다. 두 그래프는 서로 다른 환경이어서 한쪽에 넣은 것이 다른 쪽에 나타나지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 단원에서 오일 쿨러 사례로 따라간 순서를 다른 설비 자료로 직접 밟습니다.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Claude Code가 만든 질의를 실행하기 전에 읽어 봅니다. 노드를 식별자로 MERGE하는지, 관계의 방향이 스키마의 정의와 같은지는 오늘 배운 것으로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여섯은 지식을 정의하는 쪽의 말이고 아래 둘은 그래프 DB 쪽의 말입니다. 뜻은 앞에서 풀었으므로 여기서는 영문 이름과 HYD의 예만 확인합니다. 이 가운데 하나를 골라 학습 노트에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있는지를 묻는 문항입니다. 보기마다 그 자리에 두었을 때 값을 하나로 정할 수 있는지를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실수이고, 둘째 문항의 2번과 3번은 값을 하나로 정할 수 없습니다.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3.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3.png"/><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23.png"/><Relationship Id="rId6"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0.png"/><Relationship Id="rId4" Type="http://schemas.openxmlformats.org/officeDocument/2006/relationships/image" Target="../media/image14.png"/><Relationship Id="rId5" Type="http://schemas.openxmlformats.org/officeDocument/2006/relationships/image" Target="../media/image3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8.png"/><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 Id="rId4"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9.png"/><Relationship Id="rId4" Type="http://schemas.openxmlformats.org/officeDocument/2006/relationships/image" Target="../media/image13.png"/><Relationship Id="rId5" Type="http://schemas.openxmlformats.org/officeDocument/2006/relationships/image" Target="../media/image40.png"/><Relationship Id="rId6"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1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5.png"/><Relationship Id="rId4"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37.png"/><Relationship Id="rId6" Type="http://schemas.openxmlformats.org/officeDocument/2006/relationships/image" Target="../media/image2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png"/><Relationship Id="rId4" Type="http://schemas.openxmlformats.org/officeDocument/2006/relationships/image" Target="../media/image4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0.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23.png"/><Relationship Id="rId6"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3.png"/><Relationship Id="rId4" Type="http://schemas.openxmlformats.org/officeDocument/2006/relationships/image" Target="../media/image53.png"/><Relationship Id="rId5" Type="http://schemas.openxmlformats.org/officeDocument/2006/relationships/image" Target="../media/image4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39.png"/><Relationship Id="rId4" Type="http://schemas.openxmlformats.org/officeDocument/2006/relationships/image" Target="../media/image57.png"/><Relationship Id="rId5" Type="http://schemas.openxmlformats.org/officeDocument/2006/relationships/image" Target="../media/image13.png"/><Relationship Id="rId6" Type="http://schemas.openxmlformats.org/officeDocument/2006/relationships/image" Target="../media/image1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2.png"/><Relationship Id="rId4" Type="http://schemas.openxmlformats.org/officeDocument/2006/relationships/image" Target="../media/image58.png"/><Relationship Id="rId5" Type="http://schemas.openxmlformats.org/officeDocument/2006/relationships/image" Target="../media/image5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39.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1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3.png"/><Relationship Id="rId4" Type="http://schemas.openxmlformats.org/officeDocument/2006/relationships/image" Target="../media/image6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6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28.png"/><Relationship Id="rId4" Type="http://schemas.openxmlformats.org/officeDocument/2006/relationships/image" Target="../media/image2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6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69.png"/><Relationship Id="rId4" Type="http://schemas.openxmlformats.org/officeDocument/2006/relationships/image" Target="../media/image2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49.png"/><Relationship Id="rId4" Type="http://schemas.openxmlformats.org/officeDocument/2006/relationships/image" Target="../media/image70.png"/><Relationship Id="rId5" Type="http://schemas.openxmlformats.org/officeDocument/2006/relationships/image" Target="../media/image58.png"/><Relationship Id="rId6" Type="http://schemas.openxmlformats.org/officeDocument/2006/relationships/image" Target="../media/image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71.png"/><Relationship Id="rId4" Type="http://schemas.openxmlformats.org/officeDocument/2006/relationships/image" Target="../media/image58.png"/><Relationship Id="rId5" Type="http://schemas.openxmlformats.org/officeDocument/2006/relationships/image" Target="../media/image72.png"/><Relationship Id="rId6" Type="http://schemas.openxmlformats.org/officeDocument/2006/relationships/image" Target="../media/image6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39.png"/><Relationship Id="rId4" Type="http://schemas.openxmlformats.org/officeDocument/2006/relationships/image" Target="../media/image73.png"/><Relationship Id="rId5" Type="http://schemas.openxmlformats.org/officeDocument/2006/relationships/image" Target="../media/image4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23.png"/><Relationship Id="rId6" Type="http://schemas.openxmlformats.org/officeDocument/2006/relationships/image" Target="../media/image7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64.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2일차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설비와 데이터의 관계를 체계화해</a:t>
            </a:r>
          </a:p>
          <a:p>
            <a:pPr algn="l">
              <a:lnSpc>
                <a:spcPct val="110000"/>
              </a:lnSpc>
            </a:pPr>
            <a:r>
              <a:rPr sz="4000" b="1">
                <a:solidFill>
                  <a:srgbClr val="FFFFFF"/>
                </a:solidFill>
                <a:latin typeface="맑은 고딕"/>
                <a:ea typeface="맑은 고딕"/>
                <a:cs typeface="맑은 고딕"/>
              </a:rPr>
              <a:t>필요한 정보 찾기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클래스와 인스턴스, 온톨로지 스키마, 그래프 DB와 Cypher</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search" descr="database-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 관한 지식을 유형과 실제 대상으로 나누어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클래스와 인스턴스</a:t>
            </a:r>
          </a:p>
          <a:p>
            <a:pPr algn="l">
              <a:lnSpc>
                <a:spcPct val="110000"/>
              </a:lnSpc>
              <a:spcAft>
                <a:spcPts val="400"/>
              </a:spcAft>
            </a:pPr>
            <a:r>
              <a:rPr sz="1350" b="0">
                <a:solidFill>
                  <a:srgbClr val="1F2A3A"/>
                </a:solidFill>
                <a:latin typeface="맑은 고딕"/>
                <a:ea typeface="맑은 고딕"/>
                <a:cs typeface="맑은 고딕"/>
              </a:rPr>
              <a:t>• 유형과 실제 대상을 구분한다</a:t>
            </a:r>
          </a:p>
          <a:p>
            <a:pPr algn="l">
              <a:lnSpc>
                <a:spcPct val="110000"/>
              </a:lnSpc>
              <a:spcAft>
                <a:spcPts val="400"/>
              </a:spcAft>
            </a:pPr>
            <a:r>
              <a:rPr sz="1350" b="0">
                <a:solidFill>
                  <a:srgbClr val="1F2A3A"/>
                </a:solidFill>
                <a:latin typeface="맑은 고딕"/>
                <a:ea typeface="맑은 고딕"/>
                <a:cs typeface="맑은 고딕"/>
              </a:rPr>
              <a:t>• 속성과 관계 가운데 무엇으로 표현할지 판단한다</a:t>
            </a:r>
          </a:p>
        </p:txBody>
      </p:sp>
      <p:sp>
        <p:nvSpPr>
          <p:cNvPr id="10" name="Rounded Rectangle 9"/>
          <p:cNvSpPr/>
          <p:nvPr/>
        </p:nvSpPr>
        <p:spPr>
          <a:xfrm>
            <a:off x="777240" y="537838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지식의 구조</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스키마</a:t>
            </a:r>
          </a:p>
          <a:p>
            <a:pPr algn="l">
              <a:lnSpc>
                <a:spcPct val="110000"/>
              </a:lnSpc>
              <a:spcAft>
                <a:spcPts val="400"/>
              </a:spcAft>
            </a:pPr>
            <a:r>
              <a:rPr sz="1350" b="0">
                <a:solidFill>
                  <a:srgbClr val="1F2A3A"/>
                </a:solidFill>
                <a:latin typeface="맑은 고딕"/>
                <a:ea typeface="맑은 고딕"/>
                <a:cs typeface="맑은 고딕"/>
              </a:rPr>
              <a:t>• 클래스, 속성, 관계, 제약을 한 벌의 정의로 적는다</a:t>
            </a:r>
          </a:p>
          <a:p>
            <a:pPr algn="l">
              <a:lnSpc>
                <a:spcPct val="110000"/>
              </a:lnSpc>
              <a:spcAft>
                <a:spcPts val="400"/>
              </a:spcAft>
            </a:pPr>
            <a:r>
              <a:rPr sz="1350" b="0">
                <a:solidFill>
                  <a:srgbClr val="1F2A3A"/>
                </a:solidFill>
                <a:latin typeface="맑은 고딕"/>
                <a:ea typeface="맑은 고딕"/>
                <a:cs typeface="맑은 고딕"/>
              </a:rPr>
              <a:t>• 식별자로 같은 대상을 가리킨다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원리</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DB와 Cypher</a:t>
            </a:r>
          </a:p>
          <a:p>
            <a:pPr algn="l">
              <a:lnSpc>
                <a:spcPct val="110000"/>
              </a:lnSpc>
              <a:spcAft>
                <a:spcPts val="400"/>
              </a:spcAft>
            </a:pPr>
            <a:r>
              <a:rPr sz="1350" b="0">
                <a:solidFill>
                  <a:srgbClr val="1F2A3A"/>
                </a:solidFill>
                <a:latin typeface="맑은 고딕"/>
                <a:ea typeface="맑은 고딕"/>
                <a:cs typeface="맑은 고딕"/>
              </a:rPr>
              <a:t>• 노드와 관계의 표기를 읽는다</a:t>
            </a:r>
          </a:p>
          <a:p>
            <a:pPr algn="l">
              <a:lnSpc>
                <a:spcPct val="110000"/>
              </a:lnSpc>
              <a:spcAft>
                <a:spcPts val="400"/>
              </a:spcAft>
            </a:pPr>
            <a:r>
              <a:rPr sz="1350" b="0">
                <a:solidFill>
                  <a:srgbClr val="1F2A3A"/>
                </a:solidFill>
                <a:latin typeface="맑은 고딕"/>
                <a:ea typeface="맑은 고딕"/>
                <a:cs typeface="맑은 고딕"/>
              </a:rPr>
              <a:t>• MATCH, WHERE, RETURN으로 조회하고 MERGE로 만든다</a:t>
            </a:r>
          </a:p>
        </p:txBody>
      </p:sp>
      <p:sp>
        <p:nvSpPr>
          <p:cNvPr id="22" name="Rounded Rectangle 21"/>
          <p:cNvSpPr/>
          <p:nvPr/>
        </p:nvSpPr>
        <p:spPr>
          <a:xfrm>
            <a:off x="6461607" y="537838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구현</a:t>
            </a:r>
          </a:p>
          <a:p>
            <a:pPr algn="l">
              <a:lnSpc>
                <a:spcPct val="110000"/>
              </a:lnSpc>
              <a:spcAft>
                <a:spcPts val="400"/>
              </a:spcAft>
            </a:pPr>
            <a:r>
              <a:rPr sz="1350" b="0">
                <a:solidFill>
                  <a:srgbClr val="1F2A3A"/>
                </a:solidFill>
                <a:latin typeface="맑은 고딕"/>
                <a:ea typeface="맑은 고딕"/>
                <a:cs typeface="맑은 고딕"/>
              </a:rPr>
              <a:t>• 설비 자료에서 스키마와 인스턴스를 설계한다</a:t>
            </a:r>
          </a:p>
          <a:p>
            <a:pPr algn="l">
              <a:lnSpc>
                <a:spcPct val="110000"/>
              </a:lnSpc>
              <a:spcAft>
                <a:spcPts val="400"/>
              </a:spcAft>
            </a:pPr>
            <a:r>
              <a:rPr sz="1350" b="0">
                <a:solidFill>
                  <a:srgbClr val="1F2A3A"/>
                </a:solidFill>
                <a:latin typeface="맑은 고딕"/>
                <a:ea typeface="맑은 고딕"/>
                <a:cs typeface="맑은 고딕"/>
              </a:rPr>
              <a:t>• 그래프 DB에 넣어 그래프로 확인한다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클래스와 인스턴스</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 설계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DB와 Cypher</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클래스와 인스턴스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유형과 실제 대상, 속성과 관계로 나누어 보는 현장 정보의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시간의 관계 그림에서 윗줄은 대상의 유형을, 아랫줄은 일이 일어난 실제 대상을 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유형과대상_0.svg" descr="illust_297024928469410054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지난 시간에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 클래스와 그 인스턴스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클래스 하나에 인스턴스가 다섯 속하며, 센서가 새로 생기면 클래스는 그대로 두고 인스턴스만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클래스인스턴스_3.svg" descr="illust_386778964073699670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10208" y="2242200"/>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클래스(Class)</a:t>
            </a:r>
          </a:p>
          <a:p>
            <a:pPr algn="ctr">
              <a:lnSpc>
                <a:spcPct val="110000"/>
              </a:lnSpc>
              <a:spcAft>
                <a:spcPts val="100"/>
              </a:spcAft>
            </a:pPr>
            <a:r>
              <a:rPr sz="1300" b="0">
                <a:solidFill>
                  <a:srgbClr val="556175"/>
                </a:solidFill>
                <a:latin typeface="맑은 고딕"/>
                <a:ea typeface="맑은 고딕"/>
                <a:cs typeface="맑은 고딕"/>
              </a:rPr>
              <a:t>공통 특성을 가진 대상의 유형</a:t>
            </a:r>
          </a:p>
        </p:txBody>
      </p:sp>
      <p:sp>
        <p:nvSpPr>
          <p:cNvPr id="8" name="TextBox 7"/>
          <p:cNvSpPr txBox="1"/>
          <p:nvPr/>
        </p:nvSpPr>
        <p:spPr>
          <a:xfrm>
            <a:off x="1001113" y="54568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 · 센서</a:t>
            </a:r>
          </a:p>
          <a:p>
            <a:pPr algn="ctr">
              <a:lnSpc>
                <a:spcPct val="110000"/>
              </a:lnSpc>
              <a:spcAft>
                <a:spcPts val="100"/>
              </a:spcAft>
            </a:pPr>
            <a:r>
              <a:rPr sz="1300" b="0">
                <a:solidFill>
                  <a:srgbClr val="556175"/>
                </a:solidFill>
                <a:latin typeface="맑은 고딕"/>
                <a:ea typeface="맑은 고딕"/>
                <a:cs typeface="맑은 고딕"/>
              </a:rPr>
              <a:t>무엇인가를 재어 값으로 내놓는 계측 채널</a:t>
            </a:r>
          </a:p>
        </p:txBody>
      </p:sp>
      <p:sp>
        <p:nvSpPr>
          <p:cNvPr id="9" name="TextBox 8"/>
          <p:cNvSpPr txBox="1"/>
          <p:nvPr/>
        </p:nvSpPr>
        <p:spPr>
          <a:xfrm>
            <a:off x="6390403" y="172218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인스턴스(Instance)</a:t>
            </a:r>
          </a:p>
          <a:p>
            <a:pPr algn="ctr">
              <a:lnSpc>
                <a:spcPct val="110000"/>
              </a:lnSpc>
              <a:spcAft>
                <a:spcPts val="100"/>
              </a:spcAft>
            </a:pPr>
            <a:r>
              <a:rPr sz="1300" b="0">
                <a:solidFill>
                  <a:srgbClr val="556175"/>
                </a:solidFill>
                <a:latin typeface="맑은 고딕"/>
                <a:ea typeface="맑은 고딕"/>
                <a:cs typeface="맑은 고딕"/>
              </a:rPr>
              <a:t>클래스에 속하는 실제 대상 하나</a:t>
            </a:r>
          </a:p>
        </p:txBody>
      </p:sp>
      <p:sp>
        <p:nvSpPr>
          <p:cNvPr id="10" name="TextBox 9"/>
          <p:cNvSpPr txBox="1"/>
          <p:nvPr/>
        </p:nvSpPr>
        <p:spPr>
          <a:xfrm>
            <a:off x="6717688" y="257312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sen:ts1</a:t>
            </a:r>
          </a:p>
          <a:p>
            <a:pPr algn="ctr">
              <a:lnSpc>
                <a:spcPct val="110000"/>
              </a:lnSpc>
              <a:spcAft>
                <a:spcPts val="100"/>
              </a:spcAft>
            </a:pPr>
            <a:r>
              <a:rPr sz="1300" b="0">
                <a:solidFill>
                  <a:srgbClr val="556175"/>
                </a:solidFill>
                <a:latin typeface="맑은 고딕"/>
                <a:ea typeface="맑은 고딕"/>
                <a:cs typeface="맑은 고딕"/>
              </a:rPr>
              <a:t>유온 센서 · 태그 TS1</a:t>
            </a:r>
          </a:p>
        </p:txBody>
      </p:sp>
      <p:sp>
        <p:nvSpPr>
          <p:cNvPr id="11" name="TextBox 10"/>
          <p:cNvSpPr txBox="1"/>
          <p:nvPr/>
        </p:nvSpPr>
        <p:spPr>
          <a:xfrm>
            <a:off x="6717688" y="334369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sen:ce</a:t>
            </a:r>
          </a:p>
          <a:p>
            <a:pPr algn="ctr">
              <a:lnSpc>
                <a:spcPct val="110000"/>
              </a:lnSpc>
              <a:spcAft>
                <a:spcPts val="100"/>
              </a:spcAft>
            </a:pPr>
            <a:r>
              <a:rPr sz="1300" b="0">
                <a:solidFill>
                  <a:srgbClr val="556175"/>
                </a:solidFill>
                <a:latin typeface="맑은 고딕"/>
                <a:ea typeface="맑은 고딕"/>
                <a:cs typeface="맑은 고딕"/>
              </a:rPr>
              <a:t>냉각 효율 · 태그 CE</a:t>
            </a:r>
          </a:p>
        </p:txBody>
      </p:sp>
      <p:sp>
        <p:nvSpPr>
          <p:cNvPr id="12" name="TextBox 11"/>
          <p:cNvSpPr txBox="1"/>
          <p:nvPr/>
        </p:nvSpPr>
        <p:spPr>
          <a:xfrm>
            <a:off x="6717688" y="4118997"/>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sen:ps1</a:t>
            </a:r>
          </a:p>
          <a:p>
            <a:pPr algn="ctr">
              <a:lnSpc>
                <a:spcPct val="110000"/>
              </a:lnSpc>
              <a:spcAft>
                <a:spcPts val="100"/>
              </a:spcAft>
            </a:pPr>
            <a:r>
              <a:rPr sz="1300" b="0">
                <a:solidFill>
                  <a:srgbClr val="556175"/>
                </a:solidFill>
                <a:latin typeface="맑은 고딕"/>
                <a:ea typeface="맑은 고딕"/>
                <a:cs typeface="맑은 고딕"/>
              </a:rPr>
              <a:t>토출 압력 센서 · 태그 PS1</a:t>
            </a:r>
          </a:p>
        </p:txBody>
      </p:sp>
      <p:sp>
        <p:nvSpPr>
          <p:cNvPr id="13" name="TextBox 12"/>
          <p:cNvSpPr txBox="1"/>
          <p:nvPr/>
        </p:nvSpPr>
        <p:spPr>
          <a:xfrm>
            <a:off x="6717688" y="488957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sen:fs1</a:t>
            </a:r>
          </a:p>
          <a:p>
            <a:pPr algn="ctr">
              <a:lnSpc>
                <a:spcPct val="110000"/>
              </a:lnSpc>
              <a:spcAft>
                <a:spcPts val="100"/>
              </a:spcAft>
            </a:pPr>
            <a:r>
              <a:rPr sz="1300" b="0">
                <a:solidFill>
                  <a:srgbClr val="556175"/>
                </a:solidFill>
                <a:latin typeface="맑은 고딕"/>
                <a:ea typeface="맑은 고딕"/>
                <a:cs typeface="맑은 고딕"/>
              </a:rPr>
              <a:t>유량 센서 · 태그 FS1</a:t>
            </a:r>
          </a:p>
        </p:txBody>
      </p:sp>
      <p:sp>
        <p:nvSpPr>
          <p:cNvPr id="14" name="TextBox 13"/>
          <p:cNvSpPr txBox="1"/>
          <p:nvPr/>
        </p:nvSpPr>
        <p:spPr>
          <a:xfrm>
            <a:off x="6717688" y="5664872"/>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sen:vs1</a:t>
            </a:r>
          </a:p>
          <a:p>
            <a:pPr algn="ctr">
              <a:lnSpc>
                <a:spcPct val="110000"/>
              </a:lnSpc>
              <a:spcAft>
                <a:spcPts val="100"/>
              </a:spcAft>
            </a:pPr>
            <a:r>
              <a:rPr sz="1300" b="0">
                <a:solidFill>
                  <a:srgbClr val="556175"/>
                </a:solidFill>
                <a:latin typeface="맑은 고딕"/>
                <a:ea typeface="맑은 고딕"/>
                <a:cs typeface="맑은 고딕"/>
              </a:rPr>
              <a:t>팬 진동 센서 · 태그 VS1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설비클래스_0.svg" descr="illust_680369918015333640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센서와 상태 변수의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정상값과 한계는 재는 장치가 아니라 재어지는 물리량에 딸린 값이므로 센서와 상태 변수는 다른 클래스이다.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재는 쪽이다</a:t>
            </a:r>
          </a:p>
          <a:p>
            <a:pPr algn="l">
              <a:lnSpc>
                <a:spcPct val="110000"/>
              </a:lnSpc>
              <a:spcAft>
                <a:spcPts val="600"/>
              </a:spcAft>
            </a:pPr>
            <a:r>
              <a:rPr sz="1450" b="0">
                <a:solidFill>
                  <a:srgbClr val="1F2A3A"/>
                </a:solidFill>
                <a:latin typeface="맑은 고딕"/>
                <a:ea typeface="맑은 고딕"/>
                <a:cs typeface="맑은 고딕"/>
              </a:rPr>
              <a:t>• 인스턴스: 유온 센서</a:t>
            </a:r>
          </a:p>
          <a:p>
            <a:pPr algn="l">
              <a:lnSpc>
                <a:spcPct val="110000"/>
              </a:lnSpc>
              <a:spcAft>
                <a:spcPts val="600"/>
              </a:spcAft>
            </a:pPr>
            <a:r>
              <a:rPr sz="1450" b="0">
                <a:solidFill>
                  <a:srgbClr val="1F2A3A"/>
                </a:solidFill>
                <a:latin typeface="맑은 고딕"/>
                <a:ea typeface="맑은 고딕"/>
                <a:cs typeface="맑은 고딕"/>
              </a:rPr>
              <a:t>• 태그 TS1과 단위를 갖는다</a:t>
            </a:r>
          </a:p>
        </p:txBody>
      </p:sp>
      <p:sp>
        <p:nvSpPr>
          <p:cNvPr id="11" name="Rounded Rectangle 10"/>
          <p:cNvSpPr/>
          <p:nvPr/>
        </p:nvSpPr>
        <p:spPr>
          <a:xfrm>
            <a:off x="868680" y="4945570"/>
            <a:ext cx="85648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56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Sensor</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상태 변수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재어지는 쪽이다</a:t>
            </a:r>
          </a:p>
          <a:p>
            <a:pPr algn="l">
              <a:lnSpc>
                <a:spcPct val="110000"/>
              </a:lnSpc>
              <a:spcAft>
                <a:spcPts val="600"/>
              </a:spcAft>
            </a:pPr>
            <a:r>
              <a:rPr sz="1450" b="0">
                <a:solidFill>
                  <a:srgbClr val="1F2A3A"/>
                </a:solidFill>
                <a:latin typeface="맑은 고딕"/>
                <a:ea typeface="맑은 고딕"/>
                <a:cs typeface="맑은 고딕"/>
              </a:rPr>
              <a:t>• 인스턴스: 유온</a:t>
            </a:r>
          </a:p>
          <a:p>
            <a:pPr algn="l">
              <a:lnSpc>
                <a:spcPct val="110000"/>
              </a:lnSpc>
              <a:spcAft>
                <a:spcPts val="600"/>
              </a:spcAft>
            </a:pPr>
            <a:r>
              <a:rPr sz="1450" b="0">
                <a:solidFill>
                  <a:srgbClr val="1F2A3A"/>
                </a:solidFill>
                <a:latin typeface="맑은 고딕"/>
                <a:ea typeface="맑은 고딕"/>
                <a:cs typeface="맑은 고딕"/>
              </a:rPr>
              <a:t>• 정상값 48과 한계 65를 갖는다</a:t>
            </a:r>
          </a:p>
        </p:txBody>
      </p:sp>
      <p:sp>
        <p:nvSpPr>
          <p:cNvPr id="18" name="Rounded Rectangle 17"/>
          <p:cNvSpPr/>
          <p:nvPr/>
        </p:nvSpPr>
        <p:spPr>
          <a:xfrm>
            <a:off x="6781647" y="4945570"/>
            <a:ext cx="142646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2646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StateVariable</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 요소와 부품의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 요소는 설비를 이루는 장치이고 부품은 그 안의 교체품이며, 둘은 USES_PART 관계로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Oval 5"/>
          <p:cNvSpPr/>
          <p:nvPr/>
        </p:nvSpPr>
        <p:spPr>
          <a:xfrm>
            <a:off x="1030208"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132621"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p:txBody>
      </p:sp>
      <p:sp>
        <p:nvSpPr>
          <p:cNvPr id="8" name="Oval 7"/>
          <p:cNvSpPr/>
          <p:nvPr/>
        </p:nvSpPr>
        <p:spPr>
          <a:xfrm>
            <a:off x="3919621"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022034"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팬</a:t>
            </a:r>
          </a:p>
          <a:p>
            <a:pPr algn="ctr">
              <a:lnSpc>
                <a:spcPct val="110000"/>
              </a:lnSpc>
            </a:pPr>
            <a:r>
              <a:rPr sz="1100" b="0">
                <a:solidFill>
                  <a:srgbClr val="556175"/>
                </a:solidFill>
                <a:latin typeface="맑은 고딕"/>
                <a:ea typeface="맑은 고딕"/>
                <a:cs typeface="맑은 고딕"/>
              </a:rPr>
              <a:t>구성 요소</a:t>
            </a:r>
          </a:p>
        </p:txBody>
      </p:sp>
      <p:sp>
        <p:nvSpPr>
          <p:cNvPr id="10" name="Oval 9"/>
          <p:cNvSpPr/>
          <p:nvPr/>
        </p:nvSpPr>
        <p:spPr>
          <a:xfrm>
            <a:off x="6809033"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11446"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 펌프 (A)</a:t>
            </a:r>
          </a:p>
          <a:p>
            <a:pPr algn="ctr">
              <a:lnSpc>
                <a:spcPct val="110000"/>
              </a:lnSpc>
            </a:pPr>
            <a:r>
              <a:rPr sz="1100" b="0">
                <a:solidFill>
                  <a:srgbClr val="556175"/>
                </a:solidFill>
                <a:latin typeface="맑은 고딕"/>
                <a:ea typeface="맑은 고딕"/>
                <a:cs typeface="맑은 고딕"/>
              </a:rPr>
              <a:t>구성 요소</a:t>
            </a:r>
          </a:p>
        </p:txBody>
      </p:sp>
      <p:sp>
        <p:nvSpPr>
          <p:cNvPr id="12" name="Oval 11"/>
          <p:cNvSpPr/>
          <p:nvPr/>
        </p:nvSpPr>
        <p:spPr>
          <a:xfrm>
            <a:off x="9698446"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9800859"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작동유 탱크</a:t>
            </a:r>
          </a:p>
          <a:p>
            <a:pPr algn="ctr">
              <a:lnSpc>
                <a:spcPct val="110000"/>
              </a:lnSpc>
            </a:pPr>
            <a:r>
              <a:rPr sz="1100" b="0">
                <a:solidFill>
                  <a:srgbClr val="556175"/>
                </a:solidFill>
                <a:latin typeface="맑은 고딕"/>
                <a:ea typeface="맑은 고딕"/>
                <a:cs typeface="맑은 고딕"/>
              </a:rPr>
              <a:t>구성 요소</a:t>
            </a:r>
          </a:p>
        </p:txBody>
      </p:sp>
      <p:sp>
        <p:nvSpPr>
          <p:cNvPr id="14" name="Oval 13"/>
          <p:cNvSpPr/>
          <p:nvPr/>
        </p:nvSpPr>
        <p:spPr>
          <a:xfrm>
            <a:off x="1030208"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132621"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부품</a:t>
            </a:r>
          </a:p>
        </p:txBody>
      </p:sp>
      <p:sp>
        <p:nvSpPr>
          <p:cNvPr id="16" name="Oval 15"/>
          <p:cNvSpPr/>
          <p:nvPr/>
        </p:nvSpPr>
        <p:spPr>
          <a:xfrm>
            <a:off x="3919621"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4022034"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베어링</a:t>
            </a:r>
          </a:p>
          <a:p>
            <a:pPr algn="ctr">
              <a:lnSpc>
                <a:spcPct val="110000"/>
              </a:lnSpc>
            </a:pPr>
            <a:r>
              <a:rPr sz="1100" b="0">
                <a:solidFill>
                  <a:srgbClr val="556175"/>
                </a:solidFill>
                <a:latin typeface="맑은 고딕"/>
                <a:ea typeface="맑은 고딕"/>
                <a:cs typeface="맑은 고딕"/>
              </a:rPr>
              <a:t>부품</a:t>
            </a:r>
          </a:p>
        </p:txBody>
      </p:sp>
      <p:sp>
        <p:nvSpPr>
          <p:cNvPr id="18" name="Oval 17"/>
          <p:cNvSpPr/>
          <p:nvPr/>
        </p:nvSpPr>
        <p:spPr>
          <a:xfrm>
            <a:off x="6809033"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6911446"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펌프 축 씰 키트</a:t>
            </a:r>
          </a:p>
          <a:p>
            <a:pPr algn="ctr">
              <a:lnSpc>
                <a:spcPct val="110000"/>
              </a:lnSpc>
            </a:pPr>
            <a:r>
              <a:rPr sz="1100" b="0">
                <a:solidFill>
                  <a:srgbClr val="556175"/>
                </a:solidFill>
                <a:latin typeface="맑은 고딕"/>
                <a:ea typeface="맑은 고딕"/>
                <a:cs typeface="맑은 고딕"/>
              </a:rPr>
              <a:t>부품</a:t>
            </a:r>
          </a:p>
        </p:txBody>
      </p:sp>
      <p:sp>
        <p:nvSpPr>
          <p:cNvPr id="20" name="Oval 19"/>
          <p:cNvSpPr/>
          <p:nvPr/>
        </p:nvSpPr>
        <p:spPr>
          <a:xfrm>
            <a:off x="9698446" y="4892040"/>
            <a:ext cx="1463040" cy="1463040"/>
          </a:xfrm>
          <a:prstGeom prst="ellipse">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9800859"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리턴 필터 엘리먼트</a:t>
            </a:r>
          </a:p>
          <a:p>
            <a:pPr algn="ctr">
              <a:lnSpc>
                <a:spcPct val="110000"/>
              </a:lnSpc>
            </a:pPr>
            <a:r>
              <a:rPr sz="1100" b="0">
                <a:solidFill>
                  <a:srgbClr val="556175"/>
                </a:solidFill>
                <a:latin typeface="맑은 고딕"/>
                <a:ea typeface="맑은 고딕"/>
                <a:cs typeface="맑은 고딕"/>
              </a:rPr>
              <a:t>부품</a:t>
            </a:r>
          </a:p>
        </p:txBody>
      </p:sp>
      <p:cxnSp>
        <p:nvCxnSpPr>
          <p:cNvPr id="22" name="Connector 21"/>
          <p:cNvCxnSpPr/>
          <p:nvPr/>
        </p:nvCxnSpPr>
        <p:spPr>
          <a:xfrm>
            <a:off x="1761728" y="3136392"/>
            <a:ext cx="0" cy="1682496"/>
          </a:xfrm>
          <a:prstGeom prst="line">
            <a:avLst/>
          </a:prstGeom>
          <a:ln w="28575">
            <a:solidFill>
              <a:srgbClr val="13294B"/>
            </a:solidFill>
            <a:tailEnd type="triangle" w="med" len="med"/>
          </a:ln>
        </p:spPr>
      </p:cxnSp>
      <p:sp>
        <p:nvSpPr>
          <p:cNvPr id="23" name="Rounded Rectangle 22"/>
          <p:cNvSpPr/>
          <p:nvPr/>
        </p:nvSpPr>
        <p:spPr>
          <a:xfrm>
            <a:off x="1853168"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1853168"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25" name="Connector 24"/>
          <p:cNvCxnSpPr/>
          <p:nvPr/>
        </p:nvCxnSpPr>
        <p:spPr>
          <a:xfrm>
            <a:off x="4651141" y="3136392"/>
            <a:ext cx="0" cy="1682496"/>
          </a:xfrm>
          <a:prstGeom prst="line">
            <a:avLst/>
          </a:prstGeom>
          <a:ln w="28575">
            <a:solidFill>
              <a:srgbClr val="13294B"/>
            </a:solidFill>
            <a:tailEnd type="triangle" w="med" len="med"/>
          </a:ln>
        </p:spPr>
      </p:cxnSp>
      <p:sp>
        <p:nvSpPr>
          <p:cNvPr id="26" name="Rounded Rectangle 25"/>
          <p:cNvSpPr/>
          <p:nvPr/>
        </p:nvSpPr>
        <p:spPr>
          <a:xfrm>
            <a:off x="4742581"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4742581"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28" name="Connector 27"/>
          <p:cNvCxnSpPr/>
          <p:nvPr/>
        </p:nvCxnSpPr>
        <p:spPr>
          <a:xfrm>
            <a:off x="7540553" y="3136392"/>
            <a:ext cx="0" cy="1682496"/>
          </a:xfrm>
          <a:prstGeom prst="line">
            <a:avLst/>
          </a:prstGeom>
          <a:ln w="28575">
            <a:solidFill>
              <a:srgbClr val="13294B"/>
            </a:solidFill>
            <a:tailEnd type="triangle" w="med" len="med"/>
          </a:ln>
        </p:spPr>
      </p:cxnSp>
      <p:sp>
        <p:nvSpPr>
          <p:cNvPr id="29" name="Rounded Rectangle 28"/>
          <p:cNvSpPr/>
          <p:nvPr/>
        </p:nvSpPr>
        <p:spPr>
          <a:xfrm>
            <a:off x="7631993"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0" name="TextBox 29"/>
          <p:cNvSpPr txBox="1"/>
          <p:nvPr/>
        </p:nvSpPr>
        <p:spPr>
          <a:xfrm>
            <a:off x="7631993"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31" name="Connector 30"/>
          <p:cNvCxnSpPr/>
          <p:nvPr/>
        </p:nvCxnSpPr>
        <p:spPr>
          <a:xfrm>
            <a:off x="10429966" y="3136392"/>
            <a:ext cx="0" cy="1682496"/>
          </a:xfrm>
          <a:prstGeom prst="line">
            <a:avLst/>
          </a:prstGeom>
          <a:ln w="28575">
            <a:solidFill>
              <a:srgbClr val="13294B"/>
            </a:solidFill>
            <a:tailEnd type="triangle" w="med" len="med"/>
          </a:ln>
        </p:spPr>
      </p:cxnSp>
      <p:sp>
        <p:nvSpPr>
          <p:cNvPr id="32" name="Rounded Rectangle 31"/>
          <p:cNvSpPr/>
          <p:nvPr/>
        </p:nvSpPr>
        <p:spPr>
          <a:xfrm>
            <a:off x="10521406"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3" name="TextBox 32"/>
          <p:cNvSpPr txBox="1"/>
          <p:nvPr/>
        </p:nvSpPr>
        <p:spPr>
          <a:xfrm>
            <a:off x="10521406"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클래스와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어떤 낱말이 클래스인지 인스턴스인지는 「하나이다」라는 문장에 넣어 보면 가려진다.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「A는 B의 하나이다」가 성립하면 A는 인스턴스이고 B는 클래스이다</a:t>
            </a:r>
          </a:p>
        </p:txBody>
      </p:sp>
      <p:sp>
        <p:nvSpPr>
          <p:cNvPr id="8" name="TextBox 7"/>
          <p:cNvSpPr txBox="1"/>
          <p:nvPr/>
        </p:nvSpPr>
        <p:spPr>
          <a:xfrm>
            <a:off x="548640"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오일 쿨러는 구성 요소의 하나이다</a:t>
            </a:r>
          </a:p>
          <a:p>
            <a:pPr algn="l">
              <a:lnSpc>
                <a:spcPct val="110000"/>
              </a:lnSpc>
              <a:spcAft>
                <a:spcPts val="400"/>
              </a:spcAft>
            </a:pPr>
            <a:r>
              <a:rPr sz="1400" b="0">
                <a:solidFill>
                  <a:srgbClr val="1F2A3A"/>
                </a:solidFill>
                <a:latin typeface="맑은 고딕"/>
                <a:ea typeface="맑은 고딕"/>
                <a:cs typeface="맑은 고딕"/>
              </a:rPr>
              <a:t>오일 쿨러 = 인스턴스</a:t>
            </a:r>
          </a:p>
          <a:p>
            <a:pPr algn="l">
              <a:lnSpc>
                <a:spcPct val="110000"/>
              </a:lnSpc>
              <a:spcAft>
                <a:spcPts val="400"/>
              </a:spcAft>
            </a:pPr>
            <a:r>
              <a:rPr sz="1400" b="0">
                <a:solidFill>
                  <a:srgbClr val="1F2A3A"/>
                </a:solidFill>
                <a:latin typeface="맑은 고딕"/>
                <a:ea typeface="맑은 고딕"/>
                <a:cs typeface="맑은 고딕"/>
              </a:rPr>
              <a:t>구성 요소 = 클래스</a:t>
            </a:r>
          </a:p>
        </p:txBody>
      </p:sp>
      <p:sp>
        <p:nvSpPr>
          <p:cNvPr id="9" name="TextBox 8"/>
          <p:cNvSpPr txBox="1"/>
          <p:nvPr/>
        </p:nvSpPr>
        <p:spPr>
          <a:xfrm>
            <a:off x="4338218"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HYD-01은 설비의 하나이다</a:t>
            </a:r>
          </a:p>
          <a:p>
            <a:pPr algn="l">
              <a:lnSpc>
                <a:spcPct val="110000"/>
              </a:lnSpc>
              <a:spcAft>
                <a:spcPts val="400"/>
              </a:spcAft>
            </a:pPr>
            <a:r>
              <a:rPr sz="1400" b="0">
                <a:solidFill>
                  <a:srgbClr val="1F2A3A"/>
                </a:solidFill>
                <a:latin typeface="맑은 고딕"/>
                <a:ea typeface="맑은 고딕"/>
                <a:cs typeface="맑은 고딕"/>
              </a:rPr>
              <a:t>HYD-01 = 인스턴스</a:t>
            </a:r>
          </a:p>
          <a:p>
            <a:pPr algn="l">
              <a:lnSpc>
                <a:spcPct val="110000"/>
              </a:lnSpc>
              <a:spcAft>
                <a:spcPts val="400"/>
              </a:spcAft>
            </a:pPr>
            <a:r>
              <a:rPr sz="1400" b="0">
                <a:solidFill>
                  <a:srgbClr val="1F2A3A"/>
                </a:solidFill>
                <a:latin typeface="맑은 고딕"/>
                <a:ea typeface="맑은 고딕"/>
                <a:cs typeface="맑은 고딕"/>
              </a:rPr>
              <a:t>설비 = 클래스</a:t>
            </a:r>
          </a:p>
        </p:txBody>
      </p:sp>
      <p:sp>
        <p:nvSpPr>
          <p:cNvPr id="10" name="TextBox 9"/>
          <p:cNvSpPr txBox="1"/>
          <p:nvPr/>
        </p:nvSpPr>
        <p:spPr>
          <a:xfrm>
            <a:off x="8127796"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유온은 상태 변수의 하나이다</a:t>
            </a:r>
          </a:p>
          <a:p>
            <a:pPr algn="l">
              <a:lnSpc>
                <a:spcPct val="110000"/>
              </a:lnSpc>
              <a:spcAft>
                <a:spcPts val="400"/>
              </a:spcAft>
            </a:pPr>
            <a:r>
              <a:rPr sz="1400" b="0">
                <a:solidFill>
                  <a:srgbClr val="1F2A3A"/>
                </a:solidFill>
                <a:latin typeface="맑은 고딕"/>
                <a:ea typeface="맑은 고딕"/>
                <a:cs typeface="맑은 고딕"/>
              </a:rPr>
              <a:t>유온 = 인스턴스</a:t>
            </a:r>
          </a:p>
          <a:p>
            <a:pPr algn="l">
              <a:lnSpc>
                <a:spcPct val="110000"/>
              </a:lnSpc>
              <a:spcAft>
                <a:spcPts val="400"/>
              </a:spcAft>
            </a:pPr>
            <a:r>
              <a:rPr sz="1400" b="0">
                <a:solidFill>
                  <a:srgbClr val="1F2A3A"/>
                </a:solidFill>
                <a:latin typeface="맑은 고딕"/>
                <a:ea typeface="맑은 고딕"/>
                <a:cs typeface="맑은 고딕"/>
              </a:rPr>
              <a:t>상태 변수 = 클래스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클래스, 인스턴스,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센서는 클래스, 유온 센서는 그 인스턴스, TS1은 인스턴스에 붙은 값으로 층이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a:t>
            </a:r>
          </a:p>
          <a:p>
            <a:pPr algn="l">
              <a:lnSpc>
                <a:spcPct val="110000"/>
              </a:lnSpc>
              <a:spcAft>
                <a:spcPts val="400"/>
              </a:spcAft>
            </a:pPr>
            <a:r>
              <a:rPr sz="1400" b="0">
                <a:solidFill>
                  <a:srgbClr val="1F2A3A"/>
                </a:solidFill>
                <a:latin typeface="맑은 고딕"/>
                <a:ea typeface="맑은 고딕"/>
                <a:cs typeface="맑은 고딕"/>
              </a:rPr>
              <a:t>• 센서: 유형의 이름이다</a:t>
            </a:r>
          </a:p>
          <a:p>
            <a:pPr algn="l">
              <a:lnSpc>
                <a:spcPct val="110000"/>
              </a:lnSpc>
              <a:spcAft>
                <a:spcPts val="400"/>
              </a:spcAft>
            </a:pPr>
            <a:r>
              <a:rPr sz="1400" b="0">
                <a:solidFill>
                  <a:srgbClr val="1F2A3A"/>
                </a:solidFill>
                <a:latin typeface="맑은 고딕"/>
                <a:ea typeface="맑은 고딕"/>
                <a:cs typeface="맑은 고딕"/>
              </a:rPr>
              <a:t>• 설비 · 구성 요소 · 상태 변수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a:t>
            </a:r>
          </a:p>
          <a:p>
            <a:pPr algn="l">
              <a:lnSpc>
                <a:spcPct val="110000"/>
              </a:lnSpc>
              <a:spcAft>
                <a:spcPts val="400"/>
              </a:spcAft>
            </a:pPr>
            <a:r>
              <a:rPr sz="1400" b="0">
                <a:solidFill>
                  <a:srgbClr val="1F2A3A"/>
                </a:solidFill>
                <a:latin typeface="맑은 고딕"/>
                <a:ea typeface="맑은 고딕"/>
                <a:cs typeface="맑은 고딕"/>
              </a:rPr>
              <a:t>• 유온 센서: 센서의 하나이다</a:t>
            </a:r>
          </a:p>
          <a:p>
            <a:pPr algn="l">
              <a:lnSpc>
                <a:spcPct val="110000"/>
              </a:lnSpc>
              <a:spcAft>
                <a:spcPts val="400"/>
              </a:spcAft>
            </a:pPr>
            <a:r>
              <a:rPr sz="1400" b="0">
                <a:solidFill>
                  <a:srgbClr val="1F2A3A"/>
                </a:solidFill>
                <a:latin typeface="맑은 고딕"/>
                <a:ea typeface="맑은 고딕"/>
                <a:cs typeface="맑은 고딕"/>
              </a:rPr>
              <a:t>• HYD-02 · 쿨러 팬 · 팬 진동</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 TS1: 유온 센서의 태그이다</a:t>
            </a:r>
          </a:p>
          <a:p>
            <a:pPr algn="l">
              <a:lnSpc>
                <a:spcPct val="110000"/>
              </a:lnSpc>
              <a:spcAft>
                <a:spcPts val="400"/>
              </a:spcAft>
            </a:pPr>
            <a:r>
              <a:rPr sz="1400" b="0">
                <a:solidFill>
                  <a:srgbClr val="1F2A3A"/>
                </a:solidFill>
                <a:latin typeface="맑은 고딕"/>
                <a:ea typeface="맑은 고딕"/>
                <a:cs typeface="맑은 고딕"/>
              </a:rPr>
              <a:t>• VS1 · mm/s · 2.0</a:t>
            </a:r>
          </a:p>
        </p:txBody>
      </p:sp>
      <p:sp>
        <p:nvSpPr>
          <p:cNvPr id="22" name="Rounded Rectangle 21"/>
          <p:cNvSpPr/>
          <p:nvPr/>
        </p:nvSpPr>
        <p:spPr>
          <a:xfrm>
            <a:off x="8356396" y="493293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인스턴스에 붙은 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속성_3.svg" descr="illust_751968066093549221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기종의 설비 세 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 HYD-02, HYD-03은 설비 클래스의 인스턴스 셋이며 id와 code의 값으로 서로 구별된다.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설비세대.svg" descr="illust_341966023794301844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295892" y="2053102"/>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 · 설비</a:t>
            </a:r>
          </a:p>
          <a:p>
            <a:pPr algn="ctr">
              <a:lnSpc>
                <a:spcPct val="110000"/>
              </a:lnSpc>
              <a:spcAft>
                <a:spcPts val="100"/>
              </a:spcAft>
            </a:pPr>
            <a:r>
              <a:rPr sz="1300" b="0">
                <a:solidFill>
                  <a:srgbClr val="556175"/>
                </a:solidFill>
                <a:latin typeface="맑은 고딕"/>
                <a:ea typeface="맑은 고딕"/>
                <a:cs typeface="맑은 고딕"/>
              </a:rPr>
              <a:t>클래스</a:t>
            </a:r>
          </a:p>
        </p:txBody>
      </p:sp>
      <p:sp>
        <p:nvSpPr>
          <p:cNvPr id="8" name="TextBox 7"/>
          <p:cNvSpPr txBox="1"/>
          <p:nvPr/>
        </p:nvSpPr>
        <p:spPr>
          <a:xfrm>
            <a:off x="121930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asset:hyd-01</a:t>
            </a:r>
          </a:p>
          <a:p>
            <a:pPr algn="ctr">
              <a:lnSpc>
                <a:spcPct val="110000"/>
              </a:lnSpc>
              <a:spcAft>
                <a:spcPts val="100"/>
              </a:spcAft>
            </a:pPr>
            <a:r>
              <a:rPr sz="1300" b="0">
                <a:solidFill>
                  <a:srgbClr val="556175"/>
                </a:solidFill>
                <a:latin typeface="맑은 고딕"/>
                <a:ea typeface="맑은 고딕"/>
                <a:cs typeface="맑은 고딕"/>
              </a:rPr>
              <a:t>code: HYD-01</a:t>
            </a:r>
          </a:p>
        </p:txBody>
      </p:sp>
      <p:sp>
        <p:nvSpPr>
          <p:cNvPr id="9" name="TextBox 8"/>
          <p:cNvSpPr txBox="1"/>
          <p:nvPr/>
        </p:nvSpPr>
        <p:spPr>
          <a:xfrm>
            <a:off x="467761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asset:hyd-02</a:t>
            </a:r>
          </a:p>
          <a:p>
            <a:pPr algn="ctr">
              <a:lnSpc>
                <a:spcPct val="110000"/>
              </a:lnSpc>
              <a:spcAft>
                <a:spcPts val="100"/>
              </a:spcAft>
            </a:pPr>
            <a:r>
              <a:rPr sz="1300" b="0">
                <a:solidFill>
                  <a:srgbClr val="556175"/>
                </a:solidFill>
                <a:latin typeface="맑은 고딕"/>
                <a:ea typeface="맑은 고딕"/>
                <a:cs typeface="맑은 고딕"/>
              </a:rPr>
              <a:t>code: HYD-02</a:t>
            </a:r>
          </a:p>
        </p:txBody>
      </p:sp>
      <p:sp>
        <p:nvSpPr>
          <p:cNvPr id="10" name="TextBox 9"/>
          <p:cNvSpPr txBox="1"/>
          <p:nvPr/>
        </p:nvSpPr>
        <p:spPr>
          <a:xfrm>
            <a:off x="813592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asset:hyd-03</a:t>
            </a:r>
          </a:p>
          <a:p>
            <a:pPr algn="ctr">
              <a:lnSpc>
                <a:spcPct val="110000"/>
              </a:lnSpc>
              <a:spcAft>
                <a:spcPts val="100"/>
              </a:spcAft>
            </a:pPr>
            <a:r>
              <a:rPr sz="1300" b="0">
                <a:solidFill>
                  <a:srgbClr val="556175"/>
                </a:solidFill>
                <a:latin typeface="맑은 고딕"/>
                <a:ea typeface="맑은 고딕"/>
                <a:cs typeface="맑은 고딕"/>
              </a:rPr>
              <a:t>code: HYD-03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속성값의 네 가지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속성값은 글자, 수, 참 · 거짓, 목록 가운데 하나의 형식을 가지며, 형식이 그 값으로 할 수 있는 일을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letter-case" descr="letter-case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글자</a:t>
            </a:r>
          </a:p>
          <a:p>
            <a:pPr algn="l">
              <a:lnSpc>
                <a:spcPct val="110000"/>
              </a:lnSpc>
              <a:spcAft>
                <a:spcPts val="400"/>
              </a:spcAft>
            </a:pPr>
            <a:r>
              <a:rPr sz="1350" b="0">
                <a:solidFill>
                  <a:srgbClr val="1F2A3A"/>
                </a:solidFill>
                <a:latin typeface="맑은 고딕"/>
                <a:ea typeface="맑은 고딕"/>
                <a:cs typeface="맑은 고딕"/>
              </a:rPr>
              <a:t>• name: 유온 센서</a:t>
            </a:r>
          </a:p>
          <a:p>
            <a:pPr algn="l">
              <a:lnSpc>
                <a:spcPct val="110000"/>
              </a:lnSpc>
              <a:spcAft>
                <a:spcPts val="400"/>
              </a:spcAft>
            </a:pPr>
            <a:r>
              <a:rPr sz="1350" b="0">
                <a:solidFill>
                  <a:srgbClr val="1F2A3A"/>
                </a:solidFill>
                <a:latin typeface="맑은 고딕"/>
                <a:ea typeface="맑은 고딕"/>
                <a:cs typeface="맑은 고딕"/>
              </a:rPr>
              <a:t>• tag: TS1</a:t>
            </a:r>
          </a:p>
        </p:txBody>
      </p:sp>
      <p:sp>
        <p:nvSpPr>
          <p:cNvPr id="10" name="Rounded Rectangle 9"/>
          <p:cNvSpPr/>
          <p:nvPr/>
        </p:nvSpPr>
        <p:spPr>
          <a:xfrm>
            <a:off x="777240" y="4925187"/>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표기</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hash" descr="hash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a:t>
            </a:r>
          </a:p>
          <a:p>
            <a:pPr algn="l">
              <a:lnSpc>
                <a:spcPct val="110000"/>
              </a:lnSpc>
              <a:spcAft>
                <a:spcPts val="400"/>
              </a:spcAft>
            </a:pPr>
            <a:r>
              <a:rPr sz="1350" b="0">
                <a:solidFill>
                  <a:srgbClr val="1F2A3A"/>
                </a:solidFill>
                <a:latin typeface="맑은 고딕"/>
                <a:ea typeface="맑은 고딕"/>
                <a:cs typeface="맑은 고딕"/>
              </a:rPr>
              <a:t>• normal: 48</a:t>
            </a:r>
          </a:p>
          <a:p>
            <a:pPr algn="l">
              <a:lnSpc>
                <a:spcPct val="110000"/>
              </a:lnSpc>
              <a:spcAft>
                <a:spcPts val="400"/>
              </a:spcAft>
            </a:pPr>
            <a:r>
              <a:rPr sz="1350" b="0">
                <a:solidFill>
                  <a:srgbClr val="1F2A3A"/>
                </a:solidFill>
                <a:latin typeface="맑은 고딕"/>
                <a:ea typeface="맑은 고딕"/>
                <a:cs typeface="맑은 고딕"/>
              </a:rPr>
              <a:t>• limit: 65</a:t>
            </a:r>
          </a:p>
        </p:txBody>
      </p:sp>
      <p:sp>
        <p:nvSpPr>
          <p:cNvPr id="16" name="Rounded Rectangle 15"/>
          <p:cNvSpPr/>
          <p:nvPr/>
        </p:nvSpPr>
        <p:spPr>
          <a:xfrm>
            <a:off x="3619423" y="4925187"/>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크기를 비교한다</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toggle-left" descr="toggle-left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 · 거짓</a:t>
            </a:r>
          </a:p>
          <a:p>
            <a:pPr algn="l">
              <a:lnSpc>
                <a:spcPct val="110000"/>
              </a:lnSpc>
              <a:spcAft>
                <a:spcPts val="400"/>
              </a:spcAft>
            </a:pPr>
            <a:r>
              <a:rPr sz="1350" b="0">
                <a:solidFill>
                  <a:srgbClr val="1F2A3A"/>
                </a:solidFill>
                <a:latin typeface="맑은 고딕"/>
                <a:ea typeface="맑은 고딕"/>
                <a:cs typeface="맑은 고딕"/>
              </a:rPr>
              <a:t>virtual: false</a:t>
            </a:r>
          </a:p>
        </p:txBody>
      </p:sp>
      <p:sp>
        <p:nvSpPr>
          <p:cNvPr id="22" name="Rounded Rectangle 21"/>
          <p:cNvSpPr/>
          <p:nvPr/>
        </p:nvSpPr>
        <p:spPr>
          <a:xfrm>
            <a:off x="6461607" y="4925187"/>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둘 가운데 하나</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list" descr="list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a:t>
            </a:r>
          </a:p>
          <a:p>
            <a:pPr algn="l">
              <a:lnSpc>
                <a:spcPct val="110000"/>
              </a:lnSpc>
              <a:spcAft>
                <a:spcPts val="400"/>
              </a:spcAft>
            </a:pPr>
            <a:r>
              <a:rPr sz="1350" b="0">
                <a:solidFill>
                  <a:srgbClr val="1F2A3A"/>
                </a:solidFill>
                <a:latin typeface="맑은 고딕"/>
                <a:ea typeface="맑은 고딕"/>
                <a:cs typeface="맑은 고딕"/>
              </a:rPr>
              <a:t>aliases: 오일 온도, 작동유 온도, TS1</a:t>
            </a:r>
          </a:p>
        </p:txBody>
      </p:sp>
      <p:sp>
        <p:nvSpPr>
          <p:cNvPr id="28" name="Rounded Rectangle 27"/>
          <p:cNvSpPr/>
          <p:nvPr/>
        </p:nvSpPr>
        <p:spPr>
          <a:xfrm>
            <a:off x="9303791" y="4925187"/>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값이 여럿</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모든 인스턴스가 가져야 하는 속성과 없어도 되는 속성이 있으며, 상태 변수의 한계는 없어도 되는 속성이다.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한계값.svg" descr="illust_386818194974705595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8" name="TextBox 7"/>
          <p:cNvSpPr txBox="1"/>
          <p:nvPr/>
        </p:nvSpPr>
        <p:spPr>
          <a:xfrm>
            <a:off x="3433930"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토출 압력</a:t>
            </a:r>
          </a:p>
        </p:txBody>
      </p:sp>
      <p:sp>
        <p:nvSpPr>
          <p:cNvPr id="9" name="TextBox 8"/>
          <p:cNvSpPr txBox="1"/>
          <p:nvPr/>
        </p:nvSpPr>
        <p:spPr>
          <a:xfrm>
            <a:off x="5572191"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팬 진동</a:t>
            </a:r>
          </a:p>
        </p:txBody>
      </p:sp>
      <p:sp>
        <p:nvSpPr>
          <p:cNvPr id="10" name="TextBox 9"/>
          <p:cNvSpPr txBox="1"/>
          <p:nvPr/>
        </p:nvSpPr>
        <p:spPr>
          <a:xfrm>
            <a:off x="7710452"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11" name="TextBox 10"/>
          <p:cNvSpPr txBox="1"/>
          <p:nvPr/>
        </p:nvSpPr>
        <p:spPr>
          <a:xfrm>
            <a:off x="9848713"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유량</a:t>
            </a:r>
          </a:p>
        </p:txBody>
      </p:sp>
      <p:sp>
        <p:nvSpPr>
          <p:cNvPr id="12" name="TextBox 11"/>
          <p:cNvSpPr txBox="1"/>
          <p:nvPr/>
        </p:nvSpPr>
        <p:spPr>
          <a:xfrm>
            <a:off x="1001113"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48</a:t>
            </a:r>
          </a:p>
        </p:txBody>
      </p:sp>
      <p:sp>
        <p:nvSpPr>
          <p:cNvPr id="13" name="TextBox 12"/>
          <p:cNvSpPr txBox="1"/>
          <p:nvPr/>
        </p:nvSpPr>
        <p:spPr>
          <a:xfrm>
            <a:off x="3139374"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bar</a:t>
            </a:r>
          </a:p>
          <a:p>
            <a:pPr algn="ctr">
              <a:lnSpc>
                <a:spcPct val="110000"/>
              </a:lnSpc>
              <a:spcAft>
                <a:spcPts val="100"/>
              </a:spcAft>
            </a:pPr>
            <a:r>
              <a:rPr sz="1100" b="0">
                <a:solidFill>
                  <a:srgbClr val="556175"/>
                </a:solidFill>
                <a:latin typeface="맑은 고딕"/>
                <a:ea typeface="맑은 고딕"/>
                <a:cs typeface="맑은 고딕"/>
              </a:rPr>
              <a:t>정상값 182</a:t>
            </a:r>
          </a:p>
        </p:txBody>
      </p:sp>
      <p:sp>
        <p:nvSpPr>
          <p:cNvPr id="14" name="TextBox 13"/>
          <p:cNvSpPr txBox="1"/>
          <p:nvPr/>
        </p:nvSpPr>
        <p:spPr>
          <a:xfrm>
            <a:off x="5277635"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mm/s</a:t>
            </a:r>
          </a:p>
          <a:p>
            <a:pPr algn="ctr">
              <a:lnSpc>
                <a:spcPct val="110000"/>
              </a:lnSpc>
              <a:spcAft>
                <a:spcPts val="100"/>
              </a:spcAft>
            </a:pPr>
            <a:r>
              <a:rPr sz="1100" b="0">
                <a:solidFill>
                  <a:srgbClr val="556175"/>
                </a:solidFill>
                <a:latin typeface="맑은 고딕"/>
                <a:ea typeface="맑은 고딕"/>
                <a:cs typeface="맑은 고딕"/>
              </a:rPr>
              <a:t>정상값 0.6</a:t>
            </a:r>
          </a:p>
        </p:txBody>
      </p:sp>
      <p:sp>
        <p:nvSpPr>
          <p:cNvPr id="15" name="TextBox 14"/>
          <p:cNvSpPr txBox="1"/>
          <p:nvPr/>
        </p:nvSpPr>
        <p:spPr>
          <a:xfrm>
            <a:off x="7415896"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84</a:t>
            </a:r>
          </a:p>
        </p:txBody>
      </p:sp>
      <p:sp>
        <p:nvSpPr>
          <p:cNvPr id="16" name="TextBox 15"/>
          <p:cNvSpPr txBox="1"/>
          <p:nvPr/>
        </p:nvSpPr>
        <p:spPr>
          <a:xfrm>
            <a:off x="9554157"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l/min</a:t>
            </a:r>
          </a:p>
          <a:p>
            <a:pPr algn="ctr">
              <a:lnSpc>
                <a:spcPct val="110000"/>
              </a:lnSpc>
              <a:spcAft>
                <a:spcPts val="100"/>
              </a:spcAft>
            </a:pPr>
            <a:r>
              <a:rPr sz="1100" b="0">
                <a:solidFill>
                  <a:srgbClr val="556175"/>
                </a:solidFill>
                <a:latin typeface="맑은 고딕"/>
                <a:ea typeface="맑은 고딕"/>
                <a:cs typeface="맑은 고딕"/>
              </a:rPr>
              <a:t>정상값 9</a:t>
            </a:r>
          </a:p>
        </p:txBody>
      </p:sp>
      <p:sp>
        <p:nvSpPr>
          <p:cNvPr id="17" name="TextBox 16"/>
          <p:cNvSpPr txBox="1"/>
          <p:nvPr/>
        </p:nvSpPr>
        <p:spPr>
          <a:xfrm>
            <a:off x="1110208"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65</a:t>
            </a:r>
          </a:p>
        </p:txBody>
      </p:sp>
      <p:sp>
        <p:nvSpPr>
          <p:cNvPr id="18" name="TextBox 17"/>
          <p:cNvSpPr txBox="1"/>
          <p:nvPr/>
        </p:nvSpPr>
        <p:spPr>
          <a:xfrm>
            <a:off x="3248469"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130</a:t>
            </a:r>
          </a:p>
        </p:txBody>
      </p:sp>
      <p:sp>
        <p:nvSpPr>
          <p:cNvPr id="19" name="TextBox 18"/>
          <p:cNvSpPr txBox="1"/>
          <p:nvPr/>
        </p:nvSpPr>
        <p:spPr>
          <a:xfrm>
            <a:off x="5386730"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2.0</a:t>
            </a:r>
          </a:p>
        </p:txBody>
      </p:sp>
      <p:sp>
        <p:nvSpPr>
          <p:cNvPr id="20" name="TextBox 19"/>
          <p:cNvSpPr txBox="1"/>
          <p:nvPr/>
        </p:nvSpPr>
        <p:spPr>
          <a:xfrm>
            <a:off x="7524991"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
        <p:nvSpPr>
          <p:cNvPr id="21" name="TextBox 20"/>
          <p:cNvSpPr txBox="1"/>
          <p:nvPr/>
        </p:nvSpPr>
        <p:spPr>
          <a:xfrm>
            <a:off x="9663252"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공통 속성을 </a:t>
            </a:r>
            <a:r>
              <a:rPr sz="1600" b="1">
                <a:solidFill>
                  <a:srgbClr val="1A6FC4"/>
                </a:solidFill>
                <a:latin typeface="맑은 고딕"/>
                <a:ea typeface="맑은 고딕"/>
                <a:cs typeface="맑은 고딕"/>
              </a:rPr>
              <a:t>상위 클래스</a:t>
            </a:r>
            <a:r>
              <a:rPr sz="1600" b="0">
                <a:solidFill>
                  <a:srgbClr val="556175"/>
                </a:solidFill>
                <a:latin typeface="맑은 고딕"/>
                <a:ea typeface="맑은 고딕"/>
                <a:cs typeface="맑은 고딕"/>
              </a:rPr>
              <a:t>에 한 번만 적으면 하위 클래스는 그 속성을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자기 속성만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상속_하위.svg" descr="illust_425600917874386679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210037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상위 클래스</a:t>
            </a:r>
          </a:p>
          <a:p>
            <a:pPr algn="ctr">
              <a:lnSpc>
                <a:spcPct val="110000"/>
              </a:lnSpc>
              <a:spcAft>
                <a:spcPts val="100"/>
              </a:spcAft>
            </a:pPr>
            <a:r>
              <a:rPr sz="1300" b="0">
                <a:solidFill>
                  <a:srgbClr val="556175"/>
                </a:solidFill>
                <a:latin typeface="맑은 고딕"/>
                <a:ea typeface="맑은 고딕"/>
                <a:cs typeface="맑은 고딕"/>
              </a:rPr>
              <a:t>공통 속성을 정한다</a:t>
            </a:r>
          </a:p>
        </p:txBody>
      </p:sp>
      <p:sp>
        <p:nvSpPr>
          <p:cNvPr id="8" name="TextBox 7"/>
          <p:cNvSpPr txBox="1"/>
          <p:nvPr/>
        </p:nvSpPr>
        <p:spPr>
          <a:xfrm>
            <a:off x="4568518" y="219492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차량</a:t>
            </a:r>
          </a:p>
          <a:p>
            <a:pPr algn="ctr">
              <a:lnSpc>
                <a:spcPct val="110000"/>
              </a:lnSpc>
              <a:spcAft>
                <a:spcPts val="100"/>
              </a:spcAft>
            </a:pPr>
            <a:r>
              <a:rPr sz="1300" b="0">
                <a:solidFill>
                  <a:srgbClr val="556175"/>
                </a:solidFill>
                <a:latin typeface="맑은 고딕"/>
                <a:ea typeface="맑은 고딕"/>
                <a:cs typeface="맑은 고딕"/>
              </a:rPr>
              <a:t>속성: 번호, 제조사</a:t>
            </a:r>
          </a:p>
        </p:txBody>
      </p:sp>
      <p:sp>
        <p:nvSpPr>
          <p:cNvPr id="9" name="TextBox 8"/>
          <p:cNvSpPr txBox="1"/>
          <p:nvPr/>
        </p:nvSpPr>
        <p:spPr>
          <a:xfrm>
            <a:off x="8277746" y="210037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상속</a:t>
            </a:r>
          </a:p>
          <a:p>
            <a:pPr algn="ctr">
              <a:lnSpc>
                <a:spcPct val="110000"/>
              </a:lnSpc>
              <a:spcAft>
                <a:spcPts val="100"/>
              </a:spcAft>
            </a:pPr>
            <a:r>
              <a:rPr sz="1300" b="0">
                <a:solidFill>
                  <a:srgbClr val="556175"/>
                </a:solidFill>
                <a:latin typeface="맑은 고딕"/>
                <a:ea typeface="맑은 고딕"/>
                <a:cs typeface="맑은 고딕"/>
              </a:rPr>
              <a:t>상위 클래스의 속성을</a:t>
            </a:r>
          </a:p>
          <a:p>
            <a:pPr algn="ctr">
              <a:lnSpc>
                <a:spcPct val="110000"/>
              </a:lnSpc>
              <a:spcAft>
                <a:spcPts val="100"/>
              </a:spcAft>
            </a:pPr>
            <a:r>
              <a:rPr sz="1300" b="0">
                <a:solidFill>
                  <a:srgbClr val="556175"/>
                </a:solidFill>
                <a:latin typeface="맑은 고딕"/>
                <a:ea typeface="맑은 고딕"/>
                <a:cs typeface="맑은 고딕"/>
              </a:rPr>
              <a:t>물려받는다</a:t>
            </a:r>
          </a:p>
        </p:txBody>
      </p:sp>
      <p:sp>
        <p:nvSpPr>
          <p:cNvPr id="10" name="TextBox 9"/>
          <p:cNvSpPr txBox="1"/>
          <p:nvPr/>
        </p:nvSpPr>
        <p:spPr>
          <a:xfrm>
            <a:off x="1219303" y="479502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승용차</a:t>
            </a:r>
          </a:p>
          <a:p>
            <a:pPr algn="ctr">
              <a:lnSpc>
                <a:spcPct val="110000"/>
              </a:lnSpc>
              <a:spcAft>
                <a:spcPts val="100"/>
              </a:spcAft>
            </a:pPr>
            <a:r>
              <a:rPr sz="1300" b="0">
                <a:solidFill>
                  <a:srgbClr val="556175"/>
                </a:solidFill>
                <a:latin typeface="맑은 고딕"/>
                <a:ea typeface="맑은 고딕"/>
                <a:cs typeface="맑은 고딕"/>
              </a:rPr>
              <a:t>차량의 하위 클래스</a:t>
            </a:r>
          </a:p>
        </p:txBody>
      </p:sp>
      <p:sp>
        <p:nvSpPr>
          <p:cNvPr id="11" name="TextBox 10"/>
          <p:cNvSpPr txBox="1"/>
          <p:nvPr/>
        </p:nvSpPr>
        <p:spPr>
          <a:xfrm>
            <a:off x="4623065" y="4700473"/>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화물차</a:t>
            </a:r>
          </a:p>
          <a:p>
            <a:pPr algn="ctr">
              <a:lnSpc>
                <a:spcPct val="110000"/>
              </a:lnSpc>
              <a:spcAft>
                <a:spcPts val="100"/>
              </a:spcAft>
            </a:pPr>
            <a:r>
              <a:rPr sz="1300" b="0">
                <a:solidFill>
                  <a:srgbClr val="556175"/>
                </a:solidFill>
                <a:latin typeface="맑은 고딕"/>
                <a:ea typeface="맑은 고딕"/>
                <a:cs typeface="맑은 고딕"/>
              </a:rPr>
              <a:t>물려받은 속성: 번호, 제조사</a:t>
            </a:r>
          </a:p>
          <a:p>
            <a:pPr algn="ctr">
              <a:lnSpc>
                <a:spcPct val="110000"/>
              </a:lnSpc>
              <a:spcAft>
                <a:spcPts val="100"/>
              </a:spcAft>
            </a:pPr>
            <a:r>
              <a:rPr sz="1300" b="0">
                <a:solidFill>
                  <a:srgbClr val="556175"/>
                </a:solidFill>
                <a:latin typeface="맑은 고딕"/>
                <a:ea typeface="맑은 고딕"/>
                <a:cs typeface="맑은 고딕"/>
              </a:rPr>
              <a:t>더한 속성: 적재량</a:t>
            </a:r>
          </a:p>
        </p:txBody>
      </p:sp>
      <p:sp>
        <p:nvSpPr>
          <p:cNvPr id="12" name="TextBox 11"/>
          <p:cNvSpPr txBox="1"/>
          <p:nvPr/>
        </p:nvSpPr>
        <p:spPr>
          <a:xfrm>
            <a:off x="8135923" y="479502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버스</a:t>
            </a:r>
          </a:p>
          <a:p>
            <a:pPr algn="ctr">
              <a:lnSpc>
                <a:spcPct val="110000"/>
              </a:lnSpc>
              <a:spcAft>
                <a:spcPts val="100"/>
              </a:spcAft>
            </a:pPr>
            <a:r>
              <a:rPr sz="1300" b="0">
                <a:solidFill>
                  <a:srgbClr val="556175"/>
                </a:solidFill>
                <a:latin typeface="맑은 고딕"/>
                <a:ea typeface="맑은 고딕"/>
                <a:cs typeface="맑은 고딕"/>
              </a:rPr>
              <a:t>차량의 하위 클래스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상속의 실제 예: 흐름 노드와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온톨로지에서 작업(Task)은 흐름 노드(FlowNode)의 속성을 상속하고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상속_하위.svg" descr="illust_425600917874386679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9492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FlowNode · 흐름 노드</a:t>
            </a:r>
          </a:p>
          <a:p>
            <a:pPr algn="ctr">
              <a:lnSpc>
                <a:spcPct val="110000"/>
              </a:lnSpc>
              <a:spcAft>
                <a:spcPts val="100"/>
              </a:spcAft>
            </a:pPr>
            <a:r>
              <a:rPr sz="1300" b="0">
                <a:solidFill>
                  <a:srgbClr val="556175"/>
                </a:solidFill>
                <a:latin typeface="맑은 고딕"/>
                <a:ea typeface="맑은 고딕"/>
                <a:cs typeface="맑은 고딕"/>
              </a:rPr>
              <a:t>속성: id, name</a:t>
            </a:r>
          </a:p>
        </p:txBody>
      </p:sp>
      <p:sp>
        <p:nvSpPr>
          <p:cNvPr id="8" name="TextBox 7"/>
          <p:cNvSpPr txBox="1"/>
          <p:nvPr/>
        </p:nvSpPr>
        <p:spPr>
          <a:xfrm>
            <a:off x="1219303" y="4936845"/>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Event · 이벤트</a:t>
            </a:r>
          </a:p>
        </p:txBody>
      </p:sp>
      <p:sp>
        <p:nvSpPr>
          <p:cNvPr id="9" name="TextBox 8"/>
          <p:cNvSpPr txBox="1"/>
          <p:nvPr/>
        </p:nvSpPr>
        <p:spPr>
          <a:xfrm>
            <a:off x="4623065" y="4700473"/>
            <a:ext cx="294556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Task · 작업</a:t>
            </a:r>
          </a:p>
          <a:p>
            <a:pPr algn="ctr">
              <a:lnSpc>
                <a:spcPct val="110000"/>
              </a:lnSpc>
              <a:spcAft>
                <a:spcPts val="100"/>
              </a:spcAft>
            </a:pPr>
            <a:r>
              <a:rPr sz="1300" b="0">
                <a:solidFill>
                  <a:srgbClr val="556175"/>
                </a:solidFill>
                <a:latin typeface="맑은 고딕"/>
                <a:ea typeface="맑은 고딕"/>
                <a:cs typeface="맑은 고딕"/>
              </a:rPr>
              <a:t>물려받은 속성: id, name</a:t>
            </a:r>
          </a:p>
          <a:p>
            <a:pPr algn="ctr">
              <a:lnSpc>
                <a:spcPct val="110000"/>
              </a:lnSpc>
              <a:spcAft>
                <a:spcPts val="100"/>
              </a:spcAft>
            </a:pPr>
            <a:r>
              <a:rPr sz="1300" b="0">
                <a:solidFill>
                  <a:srgbClr val="556175"/>
                </a:solidFill>
                <a:latin typeface="맑은 고딕"/>
                <a:ea typeface="맑은 고딕"/>
                <a:cs typeface="맑은 고딕"/>
              </a:rPr>
              <a:t>더한 속성: taskType</a:t>
            </a:r>
          </a:p>
        </p:txBody>
      </p:sp>
      <p:sp>
        <p:nvSpPr>
          <p:cNvPr id="10" name="TextBox 9"/>
          <p:cNvSpPr txBox="1"/>
          <p:nvPr/>
        </p:nvSpPr>
        <p:spPr>
          <a:xfrm>
            <a:off x="8135923" y="4936845"/>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Gateway · 게이트웨이</a:t>
            </a:r>
          </a:p>
        </p:txBody>
      </p:sp>
      <p:sp>
        <p:nvSpPr>
          <p:cNvPr id="11" name="TextBox 10"/>
          <p:cNvSpPr txBox="1"/>
          <p:nvPr/>
        </p:nvSpPr>
        <p:spPr>
          <a:xfrm>
            <a:off x="2822999" y="5811423"/>
            <a:ext cx="654569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「규정 검토」 작업</a:t>
            </a:r>
          </a:p>
          <a:p>
            <a:pPr algn="ctr">
              <a:lnSpc>
                <a:spcPct val="110000"/>
              </a:lnSpc>
              <a:spcAft>
                <a:spcPts val="100"/>
              </a:spcAft>
            </a:pPr>
            <a:r>
              <a:rPr sz="1300" b="0">
                <a:solidFill>
                  <a:srgbClr val="556175"/>
                </a:solidFill>
                <a:latin typeface="맑은 고딕"/>
                <a:ea typeface="맑은 고딕"/>
                <a:cs typeface="맑은 고딕"/>
              </a:rPr>
              <a:t>Task의 인스턴스이며 FlowNode의 인스턴스이기도 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유온을 값이 아닌 인스턴스로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유온에는 정상값과 한계라는 자기 속성이 있으므로, 값이 아니라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두고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Oval 5"/>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10" name="Oval 9"/>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cxnSp>
        <p:nvCxnSpPr>
          <p:cNvPr id="12" name="Connector 11"/>
          <p:cNvCxnSpPr/>
          <p:nvPr/>
        </p:nvCxnSpPr>
        <p:spPr>
          <a:xfrm>
            <a:off x="2540166" y="3410712"/>
            <a:ext cx="0" cy="1133856"/>
          </a:xfrm>
          <a:prstGeom prst="line">
            <a:avLst/>
          </a:prstGeom>
          <a:ln w="28575">
            <a:solidFill>
              <a:srgbClr val="13294B"/>
            </a:solidFill>
            <a:tailEnd type="triangle" w="med" len="med"/>
          </a:ln>
        </p:spPr>
      </p:cxnSp>
      <p:sp>
        <p:nvSpPr>
          <p:cNvPr id="13" name="Rounded Rectangle 12"/>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4" name="TextBox 13"/>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5" name="Connector 14"/>
          <p:cNvCxnSpPr/>
          <p:nvPr/>
        </p:nvCxnSpPr>
        <p:spPr>
          <a:xfrm>
            <a:off x="3454566" y="5486400"/>
            <a:ext cx="1699449" cy="0"/>
          </a:xfrm>
          <a:prstGeom prst="line">
            <a:avLst/>
          </a:prstGeom>
          <a:ln w="28575">
            <a:solidFill>
              <a:srgbClr val="13294B"/>
            </a:solidFill>
            <a:tailEnd type="triangle" w="med" len="med"/>
          </a:ln>
        </p:spPr>
      </p:cxnSp>
      <p:sp>
        <p:nvSpPr>
          <p:cNvPr id="16" name="Rounded Rectangle 15"/>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값과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자기 속성을 갖거나 다른 대상과 관계를 맺는 것은 인스턴스로 두고, 값 하나로 끝나는 것은 속성값으로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Oval 5"/>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8" name="Oval 7"/>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sp>
        <p:nvSpPr>
          <p:cNvPr id="10" name="Oval 9"/>
          <p:cNvSpPr/>
          <p:nvPr/>
        </p:nvSpPr>
        <p:spPr>
          <a:xfrm>
            <a:off x="8782848"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904463"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속도</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60</a:t>
            </a:r>
          </a:p>
        </p:txBody>
      </p:sp>
      <p:sp>
        <p:nvSpPr>
          <p:cNvPr id="12" name="Oval 11"/>
          <p:cNvSpPr/>
          <p:nvPr/>
        </p:nvSpPr>
        <p:spPr>
          <a:xfrm>
            <a:off x="8782848"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8904463"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인버터</a:t>
            </a:r>
          </a:p>
          <a:p>
            <a:pPr algn="ctr">
              <a:lnSpc>
                <a:spcPct val="110000"/>
              </a:lnSpc>
            </a:pPr>
            <a:r>
              <a:rPr sz="1100" b="0">
                <a:solidFill>
                  <a:srgbClr val="556175"/>
                </a:solidFill>
                <a:latin typeface="맑은 고딕"/>
                <a:ea typeface="맑은 고딕"/>
                <a:cs typeface="맑은 고딕"/>
              </a:rPr>
              <a:t>Actuator</a:t>
            </a:r>
          </a:p>
        </p:txBody>
      </p:sp>
      <p:sp>
        <p:nvSpPr>
          <p:cNvPr id="14" name="Oval 13"/>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cxnSp>
        <p:nvCxnSpPr>
          <p:cNvPr id="16" name="Connector 15"/>
          <p:cNvCxnSpPr/>
          <p:nvPr/>
        </p:nvCxnSpPr>
        <p:spPr>
          <a:xfrm>
            <a:off x="2540166" y="3410712"/>
            <a:ext cx="0" cy="1133856"/>
          </a:xfrm>
          <a:prstGeom prst="line">
            <a:avLst/>
          </a:prstGeom>
          <a:ln w="28575">
            <a:solidFill>
              <a:srgbClr val="13294B"/>
            </a:solidFill>
            <a:tailEnd type="triangle" w="med" len="med"/>
          </a:ln>
        </p:spPr>
      </p:cxnSp>
      <p:sp>
        <p:nvSpPr>
          <p:cNvPr id="17" name="Rounded Rectangle 16"/>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9" name="Connector 18"/>
          <p:cNvCxnSpPr/>
          <p:nvPr/>
        </p:nvCxnSpPr>
        <p:spPr>
          <a:xfrm>
            <a:off x="3454566" y="5486400"/>
            <a:ext cx="1699449" cy="0"/>
          </a:xfrm>
          <a:prstGeom prst="line">
            <a:avLst/>
          </a:prstGeom>
          <a:ln w="28575">
            <a:solidFill>
              <a:srgbClr val="13294B"/>
            </a:solidFill>
            <a:tailEnd type="triangle" w="med" len="med"/>
          </a:ln>
        </p:spPr>
      </p:cxnSp>
      <p:sp>
        <p:nvSpPr>
          <p:cNvPr id="20" name="Rounded Rectangle 19"/>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cxnSp>
        <p:nvCxnSpPr>
          <p:cNvPr id="22" name="Connector 21"/>
          <p:cNvCxnSpPr/>
          <p:nvPr/>
        </p:nvCxnSpPr>
        <p:spPr>
          <a:xfrm flipH="1">
            <a:off x="7037679" y="5486400"/>
            <a:ext cx="1699449" cy="0"/>
          </a:xfrm>
          <a:prstGeom prst="line">
            <a:avLst/>
          </a:prstGeom>
          <a:ln w="28575">
            <a:solidFill>
              <a:srgbClr val="13294B"/>
            </a:solidFill>
            <a:tailEnd type="triangle" w="med" len="med"/>
          </a:ln>
        </p:spPr>
      </p:cxnSp>
      <p:sp>
        <p:nvSpPr>
          <p:cNvPr id="23" name="Rounded Rectangle 22"/>
          <p:cNvSpPr/>
          <p:nvPr/>
        </p:nvSpPr>
        <p:spPr>
          <a:xfrm>
            <a:off x="7215993" y="5120640"/>
            <a:ext cx="13428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15993" y="5120640"/>
            <a:ext cx="13428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INFLUENCES</a:t>
            </a:r>
          </a:p>
        </p:txBody>
      </p:sp>
      <p:cxnSp>
        <p:nvCxnSpPr>
          <p:cNvPr id="25" name="Connector 24"/>
          <p:cNvCxnSpPr/>
          <p:nvPr/>
        </p:nvCxnSpPr>
        <p:spPr>
          <a:xfrm>
            <a:off x="9651528" y="3410712"/>
            <a:ext cx="0" cy="1133856"/>
          </a:xfrm>
          <a:prstGeom prst="line">
            <a:avLst/>
          </a:prstGeom>
          <a:ln w="28575">
            <a:solidFill>
              <a:srgbClr val="13294B"/>
            </a:solidFill>
            <a:tailEnd type="triangle" w="med" len="med"/>
          </a:ln>
        </p:spPr>
      </p:cxnSp>
      <p:sp>
        <p:nvSpPr>
          <p:cNvPr id="26" name="Rounded Rectangle 25"/>
          <p:cNvSpPr/>
          <p:nvPr/>
        </p:nvSpPr>
        <p:spPr>
          <a:xfrm>
            <a:off x="9742968" y="3831335"/>
            <a:ext cx="14496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742968" y="3831335"/>
            <a:ext cx="14496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MANIPULATES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두층_3.svg" descr="illust_845405629420561912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인스턴스의 나가는 관계와 들어오는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오일 쿨러에는 나가는 관계 셋과 들어오는 관계 둘이 있으며, 둘을 함께 보아야 이어진 대상이 모두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Oval 5"/>
          <p:cNvSpPr/>
          <p:nvPr/>
        </p:nvSpPr>
        <p:spPr>
          <a:xfrm>
            <a:off x="4401190" y="3259836"/>
            <a:ext cx="1463040" cy="146304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4503602"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74126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84368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Asset</a:t>
            </a:r>
          </a:p>
        </p:txBody>
      </p:sp>
      <p:sp>
        <p:nvSpPr>
          <p:cNvPr id="10" name="Oval 9"/>
          <p:cNvSpPr/>
          <p:nvPr/>
        </p:nvSpPr>
        <p:spPr>
          <a:xfrm>
            <a:off x="74126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4368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냉각 성능 상실</a:t>
            </a:r>
          </a:p>
          <a:p>
            <a:pPr algn="ctr">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729060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393015"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p:txBody>
      </p:sp>
      <p:sp>
        <p:nvSpPr>
          <p:cNvPr id="14" name="Oval 13"/>
          <p:cNvSpPr/>
          <p:nvPr/>
        </p:nvSpPr>
        <p:spPr>
          <a:xfrm>
            <a:off x="9891073"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993486"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효율</a:t>
            </a:r>
          </a:p>
          <a:p>
            <a:pPr algn="ctr">
              <a:lnSpc>
                <a:spcPct val="110000"/>
              </a:lnSpc>
            </a:pPr>
            <a:r>
              <a:rPr sz="1100" b="0">
                <a:solidFill>
                  <a:srgbClr val="556175"/>
                </a:solidFill>
                <a:latin typeface="맑은 고딕"/>
                <a:ea typeface="맑은 고딕"/>
                <a:cs typeface="맑은 고딕"/>
              </a:rPr>
              <a:t>Sensor</a:t>
            </a:r>
          </a:p>
        </p:txBody>
      </p:sp>
      <p:sp>
        <p:nvSpPr>
          <p:cNvPr id="16" name="Oval 15"/>
          <p:cNvSpPr/>
          <p:nvPr/>
        </p:nvSpPr>
        <p:spPr>
          <a:xfrm>
            <a:off x="729060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393015"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Part</a:t>
            </a:r>
          </a:p>
        </p:txBody>
      </p:sp>
      <p:cxnSp>
        <p:nvCxnSpPr>
          <p:cNvPr id="18" name="Connector 17"/>
          <p:cNvCxnSpPr/>
          <p:nvPr/>
        </p:nvCxnSpPr>
        <p:spPr>
          <a:xfrm>
            <a:off x="2182636" y="2675721"/>
            <a:ext cx="2215171" cy="987892"/>
          </a:xfrm>
          <a:prstGeom prst="line">
            <a:avLst/>
          </a:prstGeom>
          <a:ln w="28575">
            <a:solidFill>
              <a:srgbClr val="13294B"/>
            </a:solidFill>
            <a:tailEnd type="triangle" w="med" len="med"/>
          </a:ln>
        </p:spPr>
      </p:cxnSp>
      <p:sp>
        <p:nvSpPr>
          <p:cNvPr id="19" name="Rounded Rectangle 18"/>
          <p:cNvSpPr/>
          <p:nvPr/>
        </p:nvSpPr>
        <p:spPr>
          <a:xfrm>
            <a:off x="2467152" y="2803907"/>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467152" y="2803907"/>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2182636" y="4319098"/>
            <a:ext cx="2215171" cy="987892"/>
          </a:xfrm>
          <a:prstGeom prst="line">
            <a:avLst/>
          </a:prstGeom>
          <a:ln w="28575">
            <a:solidFill>
              <a:srgbClr val="13294B"/>
            </a:solidFill>
            <a:tailEnd type="triangle" w="med" len="med"/>
          </a:ln>
        </p:spPr>
      </p:cxnSp>
      <p:sp>
        <p:nvSpPr>
          <p:cNvPr id="22" name="Rounded Rectangle 21"/>
          <p:cNvSpPr/>
          <p:nvPr/>
        </p:nvSpPr>
        <p:spPr>
          <a:xfrm>
            <a:off x="2680853" y="4447284"/>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680853" y="4447284"/>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OCCURS_IN</a:t>
            </a:r>
          </a:p>
        </p:txBody>
      </p:sp>
      <p:cxnSp>
        <p:nvCxnSpPr>
          <p:cNvPr id="24" name="Connector 23"/>
          <p:cNvCxnSpPr/>
          <p:nvPr/>
        </p:nvCxnSpPr>
        <p:spPr>
          <a:xfrm flipV="1">
            <a:off x="5809440" y="2754923"/>
            <a:ext cx="1512067" cy="854153"/>
          </a:xfrm>
          <a:prstGeom prst="line">
            <a:avLst/>
          </a:prstGeom>
          <a:ln w="28575">
            <a:solidFill>
              <a:srgbClr val="13294B"/>
            </a:solidFill>
            <a:tailEnd type="triangle" w="med" len="med"/>
          </a:ln>
        </p:spPr>
      </p:cxnSp>
      <p:sp>
        <p:nvSpPr>
          <p:cNvPr id="25" name="Rounded Rectangle 24"/>
          <p:cNvSpPr/>
          <p:nvPr/>
        </p:nvSpPr>
        <p:spPr>
          <a:xfrm>
            <a:off x="5795829" y="28162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795829" y="28162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27" name="Connector 26"/>
          <p:cNvCxnSpPr/>
          <p:nvPr/>
        </p:nvCxnSpPr>
        <p:spPr>
          <a:xfrm>
            <a:off x="5909950" y="3991356"/>
            <a:ext cx="3907971" cy="0"/>
          </a:xfrm>
          <a:prstGeom prst="line">
            <a:avLst/>
          </a:prstGeom>
          <a:ln w="28575">
            <a:solidFill>
              <a:srgbClr val="13294B"/>
            </a:solidFill>
            <a:tailEnd type="triangle" w="med" len="med"/>
          </a:ln>
        </p:spPr>
      </p:cxnSp>
      <p:sp>
        <p:nvSpPr>
          <p:cNvPr id="28" name="Rounded Rectangle 27"/>
          <p:cNvSpPr/>
          <p:nvPr/>
        </p:nvSpPr>
        <p:spPr>
          <a:xfrm>
            <a:off x="709429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09429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30" name="Connector 29"/>
          <p:cNvCxnSpPr/>
          <p:nvPr/>
        </p:nvCxnSpPr>
        <p:spPr>
          <a:xfrm>
            <a:off x="5809440" y="4373635"/>
            <a:ext cx="1512067" cy="854153"/>
          </a:xfrm>
          <a:prstGeom prst="line">
            <a:avLst/>
          </a:prstGeom>
          <a:ln w="28575">
            <a:solidFill>
              <a:srgbClr val="13294B"/>
            </a:solidFill>
            <a:tailEnd type="triangle" w="med" len="med"/>
          </a:ln>
        </p:spPr>
      </p:cxnSp>
      <p:sp>
        <p:nvSpPr>
          <p:cNvPr id="31" name="Rounded Rectangle 30"/>
          <p:cNvSpPr/>
          <p:nvPr/>
        </p:nvSpPr>
        <p:spPr>
          <a:xfrm>
            <a:off x="5956105" y="4434951"/>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5956105" y="4434951"/>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카디널리티.svg" descr="illust_744044959763827309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일대일 · 일대다 · 다대일: 실제 관계로 견주기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구동기와 상태 변수는 일대일, 조치 방법과 단계는 일대다, 역할과 부서는 다대일로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카디널리티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 예</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관계와 읽는 법</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1:1 일대일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인버터 → 팬 속도</a:t>
            </a:r>
          </a:p>
          <a:p>
            <a:pPr algn="l">
              <a:lnSpc>
                <a:spcPct val="110000"/>
              </a:lnSpc>
            </a:pPr>
            <a:r>
              <a:rPr sz="1400" b="0">
                <a:solidFill>
                  <a:srgbClr val="1F2A3A"/>
                </a:solidFill>
                <a:latin typeface="맑은 고딕"/>
                <a:ea typeface="맑은 고딕"/>
                <a:cs typeface="맑은 고딕"/>
              </a:rPr>
              <a:t>펌프 부하 설정 → 펌프 부하</a:t>
            </a:r>
          </a:p>
          <a:p>
            <a:pPr algn="l">
              <a:lnSpc>
                <a:spcPct val="110000"/>
              </a:lnSpc>
            </a:pPr>
            <a:r>
              <a:rPr sz="1400" b="0">
                <a:solidFill>
                  <a:srgbClr val="1F2A3A"/>
                </a:solidFill>
                <a:latin typeface="맑은 고딕"/>
                <a:ea typeface="맑은 고딕"/>
                <a:cs typeface="맑은 고딕"/>
              </a:rPr>
              <a:t>펌프 전환 밸브 → 운전 펌프 선택</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MANIPULATES</a:t>
            </a:r>
          </a:p>
          <a:p>
            <a:pPr algn="l">
              <a:lnSpc>
                <a:spcPct val="110000"/>
              </a:lnSpc>
            </a:pPr>
            <a:r>
              <a:rPr sz="1250" b="1">
                <a:solidFill>
                  <a:srgbClr val="556175"/>
                </a:solidFill>
                <a:latin typeface="맑은 고딕"/>
                <a:ea typeface="맑은 고딕"/>
                <a:cs typeface="맑은 고딕"/>
              </a:rPr>
              <a:t>구동기 하나에</a:t>
            </a:r>
          </a:p>
          <a:p>
            <a:pPr algn="l">
              <a:lnSpc>
                <a:spcPct val="110000"/>
              </a:lnSpc>
            </a:pPr>
            <a:r>
              <a:rPr sz="1250" b="1">
                <a:solidFill>
                  <a:srgbClr val="556175"/>
                </a:solidFill>
                <a:latin typeface="맑은 고딕"/>
                <a:ea typeface="맑은 고딕"/>
                <a:cs typeface="맑은 고딕"/>
              </a:rPr>
              <a:t>상태 변수 하나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1:N 일대다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단계 1: 운전 모드가 원격 자동인지 확인한다</a:t>
            </a:r>
          </a:p>
          <a:p>
            <a:pPr algn="l">
              <a:lnSpc>
                <a:spcPct val="110000"/>
              </a:lnSpc>
            </a:pPr>
            <a:r>
              <a:rPr sz="1400" b="0">
                <a:solidFill>
                  <a:srgbClr val="1F2A3A"/>
                </a:solidFill>
                <a:latin typeface="맑은 고딕"/>
                <a:ea typeface="맑은 고딕"/>
                <a:cs typeface="맑은 고딕"/>
              </a:rPr>
              <a:t>단계 2: 팬 속도를 100 %로 올린다</a:t>
            </a:r>
          </a:p>
          <a:p>
            <a:pPr algn="l">
              <a:lnSpc>
                <a:spcPct val="110000"/>
              </a:lnSpc>
            </a:pPr>
            <a:r>
              <a:rPr sz="1400" b="0">
                <a:solidFill>
                  <a:srgbClr val="1F2A3A"/>
                </a:solidFill>
                <a:latin typeface="맑은 고딕"/>
                <a:ea typeface="맑은 고딕"/>
                <a:cs typeface="맑은 고딕"/>
              </a:rPr>
              <a:t>단계 3: 15분 동안 다시 관측해 회복을 판정한다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HAS_STEP</a:t>
            </a:r>
          </a:p>
          <a:p>
            <a:pPr algn="l">
              <a:lnSpc>
                <a:spcPct val="110000"/>
              </a:lnSpc>
            </a:pPr>
            <a:r>
              <a:rPr sz="1250" b="1">
                <a:solidFill>
                  <a:srgbClr val="556175"/>
                </a:solidFill>
                <a:latin typeface="맑은 고딕"/>
                <a:ea typeface="맑은 고딕"/>
                <a:cs typeface="맑은 고딕"/>
              </a:rPr>
              <a:t>조치 방법 하나에</a:t>
            </a:r>
          </a:p>
          <a:p>
            <a:pPr algn="l">
              <a:lnSpc>
                <a:spcPct val="110000"/>
              </a:lnSpc>
            </a:pPr>
            <a:r>
              <a:rPr sz="1250" b="1">
                <a:solidFill>
                  <a:srgbClr val="556175"/>
                </a:solidFill>
                <a:latin typeface="맑은 고딕"/>
                <a:ea typeface="맑은 고딕"/>
                <a:cs typeface="맑은 고딕"/>
              </a:rPr>
              <a:t>단계 여럿</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N:1 다대일</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 생산팀</a:t>
            </a:r>
          </a:p>
          <a:p>
            <a:pPr algn="l">
              <a:lnSpc>
                <a:spcPct val="110000"/>
              </a:lnSpc>
            </a:pPr>
            <a:r>
              <a:rPr sz="1400" b="0">
                <a:solidFill>
                  <a:srgbClr val="1F2A3A"/>
                </a:solidFill>
                <a:latin typeface="맑은 고딕"/>
                <a:ea typeface="맑은 고딕"/>
                <a:cs typeface="맑은 고딕"/>
              </a:rPr>
              <a:t>생산관리자 → 생산팀</a:t>
            </a:r>
          </a:p>
          <a:p>
            <a:pPr algn="l">
              <a:lnSpc>
                <a:spcPct val="110000"/>
              </a:lnSpc>
            </a:pPr>
            <a:r>
              <a:rPr sz="1400" b="0">
                <a:solidFill>
                  <a:srgbClr val="1F2A3A"/>
                </a:solidFill>
                <a:latin typeface="맑은 고딕"/>
                <a:ea typeface="맑은 고딕"/>
                <a:cs typeface="맑은 고딕"/>
              </a:rPr>
              <a:t>설비보전팀장 → 설비보전팀</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MEMBER_OF</a:t>
            </a:r>
          </a:p>
          <a:p>
            <a:pPr algn="l">
              <a:lnSpc>
                <a:spcPct val="110000"/>
              </a:lnSpc>
            </a:pPr>
            <a:r>
              <a:rPr sz="1250" b="1">
                <a:solidFill>
                  <a:srgbClr val="556175"/>
                </a:solidFill>
                <a:latin typeface="맑은 고딕"/>
                <a:ea typeface="맑은 고딕"/>
                <a:cs typeface="맑은 고딕"/>
              </a:rPr>
              <a:t>역할 여럿이</a:t>
            </a:r>
          </a:p>
          <a:p>
            <a:pPr algn="l">
              <a:lnSpc>
                <a:spcPct val="110000"/>
              </a:lnSpc>
            </a:pPr>
            <a:r>
              <a:rPr sz="1250" b="1">
                <a:solidFill>
                  <a:srgbClr val="556175"/>
                </a:solidFill>
                <a:latin typeface="맑은 고딕"/>
                <a:ea typeface="맑은 고딕"/>
                <a:cs typeface="맑은 고딕"/>
              </a:rPr>
              <a:t>부서 하나에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다대다(N:M): 부품과 공급사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하나에 공급사가 여럿, 공급사 하나에 부품이 여럿 이어질 수 있는 SUPPLIED_BY는 다대다 관계이다.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다대다.svg" descr="illust_625552922441172284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651269"/>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SUPPLIED_BY</a:t>
            </a:r>
          </a:p>
        </p:txBody>
      </p:sp>
      <p:sp>
        <p:nvSpPr>
          <p:cNvPr id="8" name="TextBox 7"/>
          <p:cNvSpPr txBox="1"/>
          <p:nvPr/>
        </p:nvSpPr>
        <p:spPr>
          <a:xfrm>
            <a:off x="1350217" y="228947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9" name="TextBox 8"/>
          <p:cNvSpPr txBox="1"/>
          <p:nvPr/>
        </p:nvSpPr>
        <p:spPr>
          <a:xfrm>
            <a:off x="1350217" y="379280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베어링</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0" name="TextBox 9"/>
          <p:cNvSpPr txBox="1"/>
          <p:nvPr/>
        </p:nvSpPr>
        <p:spPr>
          <a:xfrm>
            <a:off x="1350217" y="52914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1" name="TextBox 10"/>
          <p:cNvSpPr txBox="1"/>
          <p:nvPr/>
        </p:nvSpPr>
        <p:spPr>
          <a:xfrm>
            <a:off x="8714126" y="228947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2" name="TextBox 11"/>
          <p:cNvSpPr txBox="1"/>
          <p:nvPr/>
        </p:nvSpPr>
        <p:spPr>
          <a:xfrm>
            <a:off x="8714126" y="379280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3" name="TextBox 12"/>
          <p:cNvSpPr txBox="1"/>
          <p:nvPr/>
        </p:nvSpPr>
        <p:spPr>
          <a:xfrm>
            <a:off x="8714126" y="529140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a:p>
            <a:pPr algn="ctr">
              <a:lnSpc>
                <a:spcPct val="110000"/>
              </a:lnSpc>
              <a:spcAft>
                <a:spcPts val="100"/>
              </a:spcAft>
            </a:pPr>
            <a:r>
              <a:rPr sz="1300" b="0">
                <a:solidFill>
                  <a:srgbClr val="556175"/>
                </a:solidFill>
                <a:latin typeface="맑은 고딕"/>
                <a:ea typeface="맑은 고딕"/>
                <a:cs typeface="맑은 고딕"/>
              </a:rPr>
              <a:t>공급사</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카디널리티의 쓰임: 데이터 점검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카디널리티를 정해 두면 넣은 데이터가 정의에 맞는지를 따져 볼 기준이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정의에 맞는 데이터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MANIPULATES는 일대일이다</a:t>
            </a:r>
          </a:p>
          <a:p>
            <a:pPr algn="l">
              <a:lnSpc>
                <a:spcPct val="110000"/>
              </a:lnSpc>
              <a:spcAft>
                <a:spcPts val="600"/>
              </a:spcAft>
            </a:pPr>
            <a:r>
              <a:rPr sz="1450" b="0">
                <a:solidFill>
                  <a:srgbClr val="1F2A3A"/>
                </a:solidFill>
                <a:latin typeface="맑은 고딕"/>
                <a:ea typeface="맑은 고딕"/>
                <a:cs typeface="맑은 고딕"/>
              </a:rPr>
              <a:t>• 팬 인버터 → 팬 속도</a:t>
            </a:r>
          </a:p>
          <a:p>
            <a:pPr algn="l">
              <a:lnSpc>
                <a:spcPct val="110000"/>
              </a:lnSpc>
              <a:spcAft>
                <a:spcPts val="600"/>
              </a:spcAft>
            </a:pPr>
            <a:r>
              <a:rPr sz="1450" b="0">
                <a:solidFill>
                  <a:srgbClr val="1F2A3A"/>
                </a:solidFill>
                <a:latin typeface="맑은 고딕"/>
                <a:ea typeface="맑은 고딕"/>
                <a:cs typeface="맑은 고딕"/>
              </a:rPr>
              <a:t>• 구동기 하나에 상태 변수 하나</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 둔다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다시 확인할 데이터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MANIPULATES는 일대일이다</a:t>
            </a:r>
          </a:p>
          <a:p>
            <a:pPr algn="l">
              <a:lnSpc>
                <a:spcPct val="110000"/>
              </a:lnSpc>
              <a:spcAft>
                <a:spcPts val="600"/>
              </a:spcAft>
            </a:pPr>
            <a:r>
              <a:rPr sz="1450" b="0">
                <a:solidFill>
                  <a:srgbClr val="1F2A3A"/>
                </a:solidFill>
                <a:latin typeface="맑은 고딕"/>
                <a:ea typeface="맑은 고딕"/>
                <a:cs typeface="맑은 고딕"/>
              </a:rPr>
              <a:t>• 팬 인버터 → 팬 속도, 펌프 부하</a:t>
            </a:r>
          </a:p>
          <a:p>
            <a:pPr algn="l">
              <a:lnSpc>
                <a:spcPct val="110000"/>
              </a:lnSpc>
              <a:spcAft>
                <a:spcPts val="600"/>
              </a:spcAft>
            </a:pPr>
            <a:r>
              <a:rPr sz="1450" b="0">
                <a:solidFill>
                  <a:srgbClr val="1F2A3A"/>
                </a:solidFill>
                <a:latin typeface="맑은 고딕"/>
                <a:ea typeface="맑은 고딕"/>
                <a:cs typeface="맑은 고딕"/>
              </a:rPr>
              <a:t>• 구동기 하나에 상태 변수 둘</a:t>
            </a:r>
          </a:p>
        </p:txBody>
      </p:sp>
      <p:sp>
        <p:nvSpPr>
          <p:cNvPr id="18" name="Rounded Rectangle 17"/>
          <p:cNvSpPr/>
          <p:nvPr/>
        </p:nvSpPr>
        <p:spPr>
          <a:xfrm>
            <a:off x="6781647" y="494557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정의와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①: 클래스를 나누는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갖는 속성과 맺는 관계가 서로 다르면 클래스를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값을 읽는 장치이다</a:t>
            </a:r>
          </a:p>
          <a:p>
            <a:pPr algn="l">
              <a:lnSpc>
                <a:spcPct val="110000"/>
              </a:lnSpc>
              <a:spcAft>
                <a:spcPts val="600"/>
              </a:spcAft>
            </a:pPr>
            <a:r>
              <a:rPr sz="1450" b="0">
                <a:solidFill>
                  <a:srgbClr val="1F2A3A"/>
                </a:solidFill>
                <a:latin typeface="맑은 고딕"/>
                <a:ea typeface="맑은 고딕"/>
                <a:cs typeface="맑은 고딕"/>
              </a:rPr>
              <a:t>• 속성: tag, unit</a:t>
            </a:r>
          </a:p>
          <a:p>
            <a:pPr algn="l">
              <a:lnSpc>
                <a:spcPct val="110000"/>
              </a:lnSpc>
              <a:spcAft>
                <a:spcPts val="600"/>
              </a:spcAft>
            </a:pPr>
            <a:r>
              <a:rPr sz="1450" b="0">
                <a:solidFill>
                  <a:srgbClr val="1F2A3A"/>
                </a:solidFill>
                <a:latin typeface="맑은 고딕"/>
                <a:ea typeface="맑은 고딕"/>
                <a:cs typeface="맑은 고딕"/>
              </a:rPr>
              <a:t>• 관계: 상태 변수를 읽는다(OBSERVES)</a:t>
            </a:r>
          </a:p>
        </p:txBody>
      </p:sp>
      <p:sp>
        <p:nvSpPr>
          <p:cNvPr id="11" name="Rounded Rectangle 10"/>
          <p:cNvSpPr/>
          <p:nvPr/>
        </p:nvSpPr>
        <p:spPr>
          <a:xfrm>
            <a:off x="868680" y="4945570"/>
            <a:ext cx="85648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56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Sensor</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djustments-horizontal" descr="adjustments-horizonta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구동기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값을 써서 움직이는 장치이다</a:t>
            </a:r>
          </a:p>
          <a:p>
            <a:pPr algn="l">
              <a:lnSpc>
                <a:spcPct val="110000"/>
              </a:lnSpc>
              <a:spcAft>
                <a:spcPts val="600"/>
              </a:spcAft>
            </a:pPr>
            <a:r>
              <a:rPr sz="1450" b="0">
                <a:solidFill>
                  <a:srgbClr val="1F2A3A"/>
                </a:solidFill>
                <a:latin typeface="맑은 고딕"/>
                <a:ea typeface="맑은 고딕"/>
                <a:cs typeface="맑은 고딕"/>
              </a:rPr>
              <a:t>• 속성: resource, min, max</a:t>
            </a:r>
          </a:p>
          <a:p>
            <a:pPr algn="l">
              <a:lnSpc>
                <a:spcPct val="110000"/>
              </a:lnSpc>
              <a:spcAft>
                <a:spcPts val="600"/>
              </a:spcAft>
            </a:pPr>
            <a:r>
              <a:rPr sz="1450" b="0">
                <a:solidFill>
                  <a:srgbClr val="1F2A3A"/>
                </a:solidFill>
                <a:latin typeface="맑은 고딕"/>
                <a:ea typeface="맑은 고딕"/>
                <a:cs typeface="맑은 고딕"/>
              </a:rPr>
              <a:t>• 관계: 상태 변수를 바꾼다(MANIPULATES)</a:t>
            </a:r>
          </a:p>
        </p:txBody>
      </p:sp>
      <p:sp>
        <p:nvSpPr>
          <p:cNvPr id="18" name="Rounded Rectangle 17"/>
          <p:cNvSpPr/>
          <p:nvPr/>
        </p:nvSpPr>
        <p:spPr>
          <a:xfrm>
            <a:off x="6781647" y="4945570"/>
            <a:ext cx="1014983"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1498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Actuator</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②: 속성으로 두는 때와 관계로 두는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하나로 끝나면 속성으로 두고, 자기 속성과 관계를 가진 다른 대상이면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속성으로 두는 때</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대상에 딸린 값이고 그 값으로 끝난다</a:t>
            </a:r>
          </a:p>
          <a:p>
            <a:pPr algn="l">
              <a:lnSpc>
                <a:spcPct val="110000"/>
              </a:lnSpc>
              <a:spcAft>
                <a:spcPts val="600"/>
              </a:spcAft>
            </a:pPr>
            <a:r>
              <a:rPr sz="1450" b="0">
                <a:solidFill>
                  <a:srgbClr val="1F2A3A"/>
                </a:solidFill>
                <a:latin typeface="맑은 고딕"/>
                <a:ea typeface="맑은 고딕"/>
                <a:cs typeface="맑은 고딕"/>
              </a:rPr>
              <a:t>• 부품 번호: 쿨러 코어의 partNo P-CLR-CORE</a:t>
            </a:r>
          </a:p>
          <a:p>
            <a:pPr algn="l">
              <a:lnSpc>
                <a:spcPct val="110000"/>
              </a:lnSpc>
              <a:spcAft>
                <a:spcPts val="600"/>
              </a:spcAft>
            </a:pPr>
            <a:r>
              <a:rPr sz="1450" b="0">
                <a:solidFill>
                  <a:srgbClr val="1F2A3A"/>
                </a:solidFill>
                <a:latin typeface="맑은 고딕"/>
                <a:ea typeface="맑은 고딕"/>
                <a:cs typeface="맑은 고딕"/>
              </a:rPr>
              <a:t>• 승인 여부: 공급사 A정밀의 avl true</a:t>
            </a:r>
          </a:p>
          <a:p>
            <a:pPr algn="l">
              <a:lnSpc>
                <a:spcPct val="110000"/>
              </a:lnSpc>
              <a:spcAft>
                <a:spcPts val="600"/>
              </a:spcAft>
            </a:pPr>
            <a:r>
              <a:rPr sz="1450" b="0">
                <a:solidFill>
                  <a:srgbClr val="1F2A3A"/>
                </a:solidFill>
                <a:latin typeface="맑은 고딕"/>
                <a:ea typeface="맑은 고딕"/>
                <a:cs typeface="맑은 고딕"/>
              </a:rPr>
              <a:t>• 단위: 유온의 unit ℃</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속성</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관계로 두는 때</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가리키는 것이 자기 속성과 관계를 가진 다른 대상이다</a:t>
            </a:r>
          </a:p>
          <a:p>
            <a:pPr algn="l">
              <a:lnSpc>
                <a:spcPct val="110000"/>
              </a:lnSpc>
              <a:spcAft>
                <a:spcPts val="600"/>
              </a:spcAft>
            </a:pPr>
            <a:r>
              <a:rPr sz="1450" b="0">
                <a:solidFill>
                  <a:srgbClr val="1F2A3A"/>
                </a:solidFill>
                <a:latin typeface="맑은 고딕"/>
                <a:ea typeface="맑은 고딕"/>
                <a:cs typeface="맑은 고딕"/>
              </a:rPr>
              <a:t>• 오일 쿨러 → 쿨러 코어: USES_PART</a:t>
            </a:r>
          </a:p>
          <a:p>
            <a:pPr algn="l">
              <a:lnSpc>
                <a:spcPct val="110000"/>
              </a:lnSpc>
              <a:spcAft>
                <a:spcPts val="600"/>
              </a:spcAft>
            </a:pPr>
            <a:r>
              <a:rPr sz="1450" b="0">
                <a:solidFill>
                  <a:srgbClr val="1F2A3A"/>
                </a:solidFill>
                <a:latin typeface="맑은 고딕"/>
                <a:ea typeface="맑은 고딕"/>
                <a:cs typeface="맑은 고딕"/>
              </a:rPr>
              <a:t>• 쿨러 코어 → A정밀 · B-OEM: SUPPLIED_BY</a:t>
            </a:r>
          </a:p>
          <a:p>
            <a:pPr algn="l">
              <a:lnSpc>
                <a:spcPct val="110000"/>
              </a:lnSpc>
              <a:spcAft>
                <a:spcPts val="600"/>
              </a:spcAft>
            </a:pPr>
            <a:r>
              <a:rPr sz="1450" b="0">
                <a:solidFill>
                  <a:srgbClr val="1F2A3A"/>
                </a:solidFill>
                <a:latin typeface="맑은 고딕"/>
                <a:ea typeface="맑은 고딕"/>
                <a:cs typeface="맑은 고딕"/>
              </a:rPr>
              <a:t>• 쿨러 코어는 partNo를 갖고 공급사와 이어진다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③: 관계의 속성으로 두는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대상의 짝마다 달라지는 값은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공급조건.svg" descr="illust_281211387911888310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64755" y="470047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8" name="TextBox 7"/>
          <p:cNvSpPr txBox="1"/>
          <p:nvPr/>
        </p:nvSpPr>
        <p:spPr>
          <a:xfrm>
            <a:off x="4928531" y="2360386"/>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35 · leadDays: 2</a:t>
            </a:r>
          </a:p>
        </p:txBody>
      </p:sp>
      <p:sp>
        <p:nvSpPr>
          <p:cNvPr id="9" name="TextBox 8"/>
          <p:cNvSpPr txBox="1"/>
          <p:nvPr/>
        </p:nvSpPr>
        <p:spPr>
          <a:xfrm>
            <a:off x="4928531" y="3863714"/>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55 · leadDays: 5</a:t>
            </a:r>
          </a:p>
        </p:txBody>
      </p:sp>
      <p:sp>
        <p:nvSpPr>
          <p:cNvPr id="10" name="TextBox 9"/>
          <p:cNvSpPr txBox="1"/>
          <p:nvPr/>
        </p:nvSpPr>
        <p:spPr>
          <a:xfrm>
            <a:off x="4928531" y="536231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20 · leadDays: 1</a:t>
            </a:r>
          </a:p>
        </p:txBody>
      </p:sp>
      <p:sp>
        <p:nvSpPr>
          <p:cNvPr id="11" name="TextBox 10"/>
          <p:cNvSpPr txBox="1"/>
          <p:nvPr/>
        </p:nvSpPr>
        <p:spPr>
          <a:xfrm>
            <a:off x="9630523" y="2289474"/>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p:txBody>
      </p:sp>
      <p:sp>
        <p:nvSpPr>
          <p:cNvPr id="12" name="TextBox 11"/>
          <p:cNvSpPr txBox="1"/>
          <p:nvPr/>
        </p:nvSpPr>
        <p:spPr>
          <a:xfrm>
            <a:off x="9630523" y="3792803"/>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p:txBody>
      </p:sp>
      <p:sp>
        <p:nvSpPr>
          <p:cNvPr id="13" name="TextBox 12"/>
          <p:cNvSpPr txBox="1"/>
          <p:nvPr/>
        </p:nvSpPr>
        <p:spPr>
          <a:xfrm>
            <a:off x="9630523" y="5291404"/>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표현을 고르는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정보 하나를 어디에 둘지는 네 가지를 차례로 물어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유형인가</a:t>
            </a:r>
          </a:p>
          <a:p>
            <a:pPr algn="ctr">
              <a:lnSpc>
                <a:spcPct val="110000"/>
              </a:lnSpc>
              <a:spcAft>
                <a:spcPts val="400"/>
              </a:spcAft>
            </a:pPr>
            <a:r>
              <a:rPr sz="1350" b="0">
                <a:solidFill>
                  <a:srgbClr val="1F2A3A"/>
                </a:solidFill>
                <a:latin typeface="맑은 고딕"/>
                <a:ea typeface="맑은 고딕"/>
                <a:cs typeface="맑은 고딕"/>
              </a:rPr>
              <a:t>같은 종류가 여럿이고</a:t>
            </a:r>
          </a:p>
          <a:p>
            <a:pPr algn="ctr">
              <a:lnSpc>
                <a:spcPct val="110000"/>
              </a:lnSpc>
              <a:spcAft>
                <a:spcPts val="400"/>
              </a:spcAft>
            </a:pPr>
            <a:r>
              <a:rPr sz="1350" b="0">
                <a:solidFill>
                  <a:srgbClr val="1F2A3A"/>
                </a:solidFill>
                <a:latin typeface="맑은 고딕"/>
                <a:ea typeface="맑은 고딕"/>
                <a:cs typeface="맑은 고딕"/>
              </a:rPr>
              <a:t>속성과 관계가 같다</a:t>
            </a:r>
          </a:p>
          <a:p>
            <a:pPr algn="ctr">
              <a:lnSpc>
                <a:spcPct val="110000"/>
              </a:lnSpc>
              <a:spcAft>
                <a:spcPts val="400"/>
              </a:spcAft>
            </a:pPr>
            <a:r>
              <a:rPr sz="1350" b="0">
                <a:solidFill>
                  <a:srgbClr val="1F2A3A"/>
                </a:solidFill>
                <a:latin typeface="맑은 고딕"/>
                <a:ea typeface="맑은 고딕"/>
                <a:cs typeface="맑은 고딕"/>
              </a:rPr>
              <a:t>→ 클래스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forms" descr="forms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값으로 끝나는가</a:t>
            </a:r>
          </a:p>
          <a:p>
            <a:pPr algn="ctr">
              <a:lnSpc>
                <a:spcPct val="110000"/>
              </a:lnSpc>
              <a:spcAft>
                <a:spcPts val="400"/>
              </a:spcAft>
            </a:pPr>
            <a:r>
              <a:rPr sz="1350" b="0">
                <a:solidFill>
                  <a:srgbClr val="1F2A3A"/>
                </a:solidFill>
                <a:latin typeface="맑은 고딕"/>
                <a:ea typeface="맑은 고딕"/>
                <a:cs typeface="맑은 고딕"/>
              </a:rPr>
              <a:t>한 대상에 딸린 값이다</a:t>
            </a:r>
          </a:p>
          <a:p>
            <a:pPr algn="ctr">
              <a:lnSpc>
                <a:spcPct val="110000"/>
              </a:lnSpc>
              <a:spcAft>
                <a:spcPts val="400"/>
              </a:spcAft>
            </a:pPr>
            <a:r>
              <a:rPr sz="1350" b="0">
                <a:solidFill>
                  <a:srgbClr val="1F2A3A"/>
                </a:solidFill>
                <a:latin typeface="맑은 고딕"/>
                <a:ea typeface="맑은 고딕"/>
                <a:cs typeface="맑은 고딕"/>
              </a:rPr>
              <a:t>→ 속성</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arrows-right" descr="arrows-right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다른 대상인가</a:t>
            </a:r>
          </a:p>
          <a:p>
            <a:pPr algn="ctr">
              <a:lnSpc>
                <a:spcPct val="110000"/>
              </a:lnSpc>
              <a:spcAft>
                <a:spcPts val="400"/>
              </a:spcAft>
            </a:pPr>
            <a:r>
              <a:rPr sz="1350" b="0">
                <a:solidFill>
                  <a:srgbClr val="1F2A3A"/>
                </a:solidFill>
                <a:latin typeface="맑은 고딕"/>
                <a:ea typeface="맑은 고딕"/>
                <a:cs typeface="맑은 고딕"/>
              </a:rPr>
              <a:t>자기 속성과 관계를 가진</a:t>
            </a:r>
          </a:p>
          <a:p>
            <a:pPr algn="ctr">
              <a:lnSpc>
                <a:spcPct val="110000"/>
              </a:lnSpc>
              <a:spcAft>
                <a:spcPts val="400"/>
              </a:spcAft>
            </a:pPr>
            <a:r>
              <a:rPr sz="1350" b="0">
                <a:solidFill>
                  <a:srgbClr val="1F2A3A"/>
                </a:solidFill>
                <a:latin typeface="맑은 고딕"/>
                <a:ea typeface="맑은 고딕"/>
                <a:cs typeface="맑은 고딕"/>
              </a:rPr>
              <a:t>대상을 가리킨다</a:t>
            </a:r>
          </a:p>
          <a:p>
            <a:pPr algn="ctr">
              <a:lnSpc>
                <a:spcPct val="110000"/>
              </a:lnSpc>
              <a:spcAft>
                <a:spcPts val="400"/>
              </a:spcAft>
            </a:pPr>
            <a:r>
              <a:rPr sz="1350" b="0">
                <a:solidFill>
                  <a:srgbClr val="1F2A3A"/>
                </a:solidFill>
                <a:latin typeface="맑은 고딕"/>
                <a:ea typeface="맑은 고딕"/>
                <a:cs typeface="맑은 고딕"/>
              </a:rPr>
              <a:t>→ 관계</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link" descr="lin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짝에 딸린 값인가</a:t>
            </a:r>
          </a:p>
          <a:p>
            <a:pPr algn="ctr">
              <a:lnSpc>
                <a:spcPct val="110000"/>
              </a:lnSpc>
              <a:spcAft>
                <a:spcPts val="400"/>
              </a:spcAft>
            </a:pPr>
            <a:r>
              <a:rPr sz="1350" b="0">
                <a:solidFill>
                  <a:srgbClr val="1F2A3A"/>
                </a:solidFill>
                <a:latin typeface="맑은 고딕"/>
                <a:ea typeface="맑은 고딕"/>
                <a:cs typeface="맑은 고딕"/>
              </a:rPr>
              <a:t>두 대상의 짝마다</a:t>
            </a:r>
          </a:p>
          <a:p>
            <a:pPr algn="ctr">
              <a:lnSpc>
                <a:spcPct val="110000"/>
              </a:lnSpc>
              <a:spcAft>
                <a:spcPts val="400"/>
              </a:spcAft>
            </a:pPr>
            <a:r>
              <a:rPr sz="1350" b="0">
                <a:solidFill>
                  <a:srgbClr val="1F2A3A"/>
                </a:solidFill>
                <a:latin typeface="맑은 고딕"/>
                <a:ea typeface="맑은 고딕"/>
                <a:cs typeface="맑은 고딕"/>
              </a:rPr>
              <a:t>값이 달라진다</a:t>
            </a:r>
          </a:p>
          <a:p>
            <a:pPr algn="ctr">
              <a:lnSpc>
                <a:spcPct val="110000"/>
              </a:lnSpc>
              <a:spcAft>
                <a:spcPts val="400"/>
              </a:spcAft>
            </a:pPr>
            <a:r>
              <a:rPr sz="1350" b="0">
                <a:solidFill>
                  <a:srgbClr val="1F2A3A"/>
                </a:solidFill>
                <a:latin typeface="맑은 고딕"/>
                <a:ea typeface="맑은 고딕"/>
                <a:cs typeface="맑은 고딕"/>
              </a:rPr>
              <a:t>→ 관계의 속성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흔한 실수 ①: 대상마다 클래스, 같은 관계를 양쪽으로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 대상마다 클래스를 만들거나 같은 사실을 양쪽 관계로 적으면 대상이 늘 때마다 고칠 곳이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인스턴스를 클래스로 만든다</a:t>
            </a:r>
          </a:p>
          <a:p>
            <a:pPr algn="l">
              <a:lnSpc>
                <a:spcPct val="110000"/>
              </a:lnSpc>
              <a:spcAft>
                <a:spcPts val="200"/>
              </a:spcAft>
            </a:pPr>
            <a:r>
              <a:rPr sz="1150" b="0">
                <a:solidFill>
                  <a:srgbClr val="556175"/>
                </a:solidFill>
                <a:latin typeface="맑은 고딕"/>
                <a:ea typeface="맑은 고딕"/>
                <a:cs typeface="맑은 고딕"/>
              </a:rPr>
              <a:t>대상마다 클래스</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클래스를 유온 센서, 토출 압력 센서, 팬 진동 센서로 만들면 센서가 하나 늘 때마다 클래스가 늘고 「센서를 모두 찾아라」에 답할 수 없다.</a:t>
            </a:r>
          </a:p>
          <a:p>
            <a:pPr algn="l">
              <a:lnSpc>
                <a:spcPct val="110000"/>
              </a:lnSpc>
              <a:spcAft>
                <a:spcPts val="300"/>
              </a:spcAft>
            </a:pPr>
            <a:r>
              <a:rPr sz="1400" b="0">
                <a:solidFill>
                  <a:srgbClr val="1F2A3A"/>
                </a:solidFill>
                <a:latin typeface="맑은 고딕"/>
                <a:ea typeface="맑은 고딕"/>
                <a:cs typeface="맑은 고딕"/>
              </a:rPr>
              <a:t>고침: 클래스는 센서 하나로 두고 셋을 그 인스턴스로 둔다.</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관계를 양쪽으로 만든다</a:t>
            </a:r>
          </a:p>
          <a:p>
            <a:pPr algn="l">
              <a:lnSpc>
                <a:spcPct val="110000"/>
              </a:lnSpc>
              <a:spcAft>
                <a:spcPts val="200"/>
              </a:spcAft>
            </a:pPr>
            <a:r>
              <a:rPr sz="1150" b="0">
                <a:solidFill>
                  <a:srgbClr val="556175"/>
                </a:solidFill>
                <a:latin typeface="맑은 고딕"/>
                <a:ea typeface="맑은 고딕"/>
                <a:cs typeface="맑은 고딕"/>
              </a:rPr>
              <a:t>관계 둘</a:t>
            </a:r>
          </a:p>
        </p:txBody>
      </p:sp>
      <p:sp>
        <p:nvSpPr>
          <p:cNvPr id="10" name="TextBox 9"/>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 구성 요소 HAS_COMPONENT와 구성 요소 → 설비 BELONGS_TO를 함께 적으면 같은 사실이 두 번 적혀 한쪽만 고칠 때 어긋난다.</a:t>
            </a:r>
          </a:p>
          <a:p>
            <a:pPr algn="l">
              <a:lnSpc>
                <a:spcPct val="110000"/>
              </a:lnSpc>
              <a:spcAft>
                <a:spcPts val="300"/>
              </a:spcAft>
            </a:pPr>
            <a:r>
              <a:rPr sz="1400" b="0">
                <a:solidFill>
                  <a:srgbClr val="1F2A3A"/>
                </a:solidFill>
                <a:latin typeface="맑은 고딕"/>
                <a:ea typeface="맑은 고딕"/>
                <a:cs typeface="맑은 고딕"/>
              </a:rPr>
              <a:t>고침: HAS_COMPONENT 하나만 두고 반대 방향은 화살표를 거슬러 읽는다.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흔한 실수 ②: 값을 노드로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단위나 수치 같은 값을 노드로 만들면 따라갈 곳 없는 노드만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실수_값노드.svg" descr="illust_200019277678699390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1958553"/>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값을 노드로 만든 그림</a:t>
            </a:r>
          </a:p>
          <a:p>
            <a:pPr algn="ctr">
              <a:lnSpc>
                <a:spcPct val="110000"/>
              </a:lnSpc>
              <a:spcAft>
                <a:spcPts val="100"/>
              </a:spcAft>
            </a:pPr>
            <a:r>
              <a:rPr sz="1300" b="0">
                <a:solidFill>
                  <a:srgbClr val="556175"/>
                </a:solidFill>
                <a:latin typeface="맑은 고딕"/>
                <a:ea typeface="맑은 고딕"/>
                <a:cs typeface="맑은 고딕"/>
              </a:rPr>
              <a:t>값에서는 더 따라갈 곳이 없다</a:t>
            </a:r>
          </a:p>
        </p:txBody>
      </p:sp>
      <p:sp>
        <p:nvSpPr>
          <p:cNvPr id="8" name="TextBox 7"/>
          <p:cNvSpPr txBox="1"/>
          <p:nvPr/>
        </p:nvSpPr>
        <p:spPr>
          <a:xfrm>
            <a:off x="1426583" y="46295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9" name="TextBox 8"/>
          <p:cNvSpPr txBox="1"/>
          <p:nvPr/>
        </p:nvSpPr>
        <p:spPr>
          <a:xfrm>
            <a:off x="4208504" y="266767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t>
            </a:r>
          </a:p>
        </p:txBody>
      </p:sp>
      <p:sp>
        <p:nvSpPr>
          <p:cNvPr id="10" name="TextBox 9"/>
          <p:cNvSpPr txBox="1"/>
          <p:nvPr/>
        </p:nvSpPr>
        <p:spPr>
          <a:xfrm>
            <a:off x="4208504" y="4842296"/>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65</a:t>
            </a:r>
          </a:p>
        </p:txBody>
      </p:sp>
      <p:sp>
        <p:nvSpPr>
          <p:cNvPr id="11" name="TextBox 10"/>
          <p:cNvSpPr txBox="1"/>
          <p:nvPr/>
        </p:nvSpPr>
        <p:spPr>
          <a:xfrm>
            <a:off x="7186797" y="195855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값을 속성으로 둔 그림</a:t>
            </a:r>
          </a:p>
          <a:p>
            <a:pPr algn="ctr">
              <a:lnSpc>
                <a:spcPct val="110000"/>
              </a:lnSpc>
              <a:spcAft>
                <a:spcPts val="100"/>
              </a:spcAft>
            </a:pPr>
            <a:r>
              <a:rPr sz="1300" b="0">
                <a:solidFill>
                  <a:srgbClr val="556175"/>
                </a:solidFill>
                <a:latin typeface="맑은 고딕"/>
                <a:ea typeface="맑은 고딕"/>
                <a:cs typeface="맑은 고딕"/>
              </a:rPr>
              <a:t>값은 대상에 딸린 칸에 적는다</a:t>
            </a:r>
          </a:p>
        </p:txBody>
      </p:sp>
      <p:sp>
        <p:nvSpPr>
          <p:cNvPr id="12" name="TextBox 11"/>
          <p:cNvSpPr txBox="1"/>
          <p:nvPr/>
        </p:nvSpPr>
        <p:spPr>
          <a:xfrm>
            <a:off x="7055883" y="46295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3" name="TextBox 12"/>
          <p:cNvSpPr txBox="1"/>
          <p:nvPr/>
        </p:nvSpPr>
        <p:spPr>
          <a:xfrm>
            <a:off x="9455972" y="3353150"/>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속성</a:t>
            </a:r>
          </a:p>
          <a:p>
            <a:pPr algn="ctr">
              <a:lnSpc>
                <a:spcPct val="110000"/>
              </a:lnSpc>
              <a:spcAft>
                <a:spcPts val="100"/>
              </a:spcAft>
            </a:pPr>
            <a:r>
              <a:rPr sz="1300" b="0">
                <a:solidFill>
                  <a:srgbClr val="556175"/>
                </a:solidFill>
                <a:latin typeface="맑은 고딕"/>
                <a:ea typeface="맑은 고딕"/>
                <a:cs typeface="맑은 고딕"/>
              </a:rPr>
              <a:t>unit: ℃</a:t>
            </a:r>
          </a:p>
          <a:p>
            <a:pPr algn="ctr">
              <a:lnSpc>
                <a:spcPct val="110000"/>
              </a:lnSpc>
              <a:spcAft>
                <a:spcPts val="100"/>
              </a:spcAft>
            </a:pPr>
            <a:r>
              <a:rPr sz="1300" b="0">
                <a:solidFill>
                  <a:srgbClr val="556175"/>
                </a:solidFill>
                <a:latin typeface="맑은 고딕"/>
                <a:ea typeface="맑은 고딕"/>
                <a:cs typeface="맑은 고딕"/>
              </a:rPr>
              <a:t>limit: 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현장 정보를 나누는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정보는 클래스, 인스턴스, 속성, 관계의 네 가지로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a:t>
            </a:r>
          </a:p>
          <a:p>
            <a:pPr algn="ctr">
              <a:lnSpc>
                <a:spcPct val="110000"/>
              </a:lnSpc>
              <a:spcAft>
                <a:spcPts val="400"/>
              </a:spcAft>
            </a:pPr>
            <a:r>
              <a:rPr sz="1350" b="0">
                <a:solidFill>
                  <a:srgbClr val="1F2A3A"/>
                </a:solidFill>
                <a:latin typeface="맑은 고딕"/>
                <a:ea typeface="맑은 고딕"/>
                <a:cs typeface="맑은 고딕"/>
              </a:rPr>
              <a:t>대상의 유형</a:t>
            </a:r>
          </a:p>
          <a:p>
            <a:pPr algn="ctr">
              <a:lnSpc>
                <a:spcPct val="110000"/>
              </a:lnSpc>
              <a:spcAft>
                <a:spcPts val="400"/>
              </a:spcAft>
            </a:pPr>
            <a:r>
              <a:rPr sz="1350" b="0">
                <a:solidFill>
                  <a:srgbClr val="1F2A3A"/>
                </a:solidFill>
                <a:latin typeface="맑은 고딕"/>
                <a:ea typeface="맑은 고딕"/>
                <a:cs typeface="맑은 고딕"/>
              </a:rPr>
              <a:t>설비, 센서,</a:t>
            </a:r>
          </a:p>
          <a:p>
            <a:pPr algn="ctr">
              <a:lnSpc>
                <a:spcPct val="110000"/>
              </a:lnSpc>
              <a:spcAft>
                <a:spcPts val="400"/>
              </a:spcAft>
            </a:pPr>
            <a:r>
              <a:rPr sz="1350" b="0">
                <a:solidFill>
                  <a:srgbClr val="1F2A3A"/>
                </a:solidFill>
                <a:latin typeface="맑은 고딕"/>
                <a:ea typeface="맑은 고딕"/>
                <a:cs typeface="맑은 고딕"/>
              </a:rPr>
              <a:t>상태 변수</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target" descr="targe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인스턴스</a:t>
            </a:r>
          </a:p>
          <a:p>
            <a:pPr algn="ctr">
              <a:lnSpc>
                <a:spcPct val="110000"/>
              </a:lnSpc>
              <a:spcAft>
                <a:spcPts val="400"/>
              </a:spcAft>
            </a:pPr>
            <a:r>
              <a:rPr sz="1350" b="0">
                <a:solidFill>
                  <a:srgbClr val="1F2A3A"/>
                </a:solidFill>
                <a:latin typeface="맑은 고딕"/>
                <a:ea typeface="맑은 고딕"/>
                <a:cs typeface="맑은 고딕"/>
              </a:rPr>
              <a:t>실제 대상 하나</a:t>
            </a:r>
          </a:p>
          <a:p>
            <a:pPr algn="ctr">
              <a:lnSpc>
                <a:spcPct val="110000"/>
              </a:lnSpc>
              <a:spcAft>
                <a:spcPts val="400"/>
              </a:spcAft>
            </a:pPr>
            <a:r>
              <a:rPr sz="1350" b="0">
                <a:solidFill>
                  <a:srgbClr val="1F2A3A"/>
                </a:solidFill>
                <a:latin typeface="맑은 고딕"/>
                <a:ea typeface="맑은 고딕"/>
                <a:cs typeface="맑은 고딕"/>
              </a:rPr>
              <a:t>HYD-01,</a:t>
            </a:r>
          </a:p>
          <a:p>
            <a:pPr algn="ctr">
              <a:lnSpc>
                <a:spcPct val="110000"/>
              </a:lnSpc>
              <a:spcAft>
                <a:spcPts val="400"/>
              </a:spcAft>
            </a:pPr>
            <a:r>
              <a:rPr sz="1350" b="0">
                <a:solidFill>
                  <a:srgbClr val="1F2A3A"/>
                </a:solidFill>
                <a:latin typeface="맑은 고딕"/>
                <a:ea typeface="맑은 고딕"/>
                <a:cs typeface="맑은 고딕"/>
              </a:rPr>
              <a:t>유온 센서, 유온</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a:t>
            </a:r>
          </a:p>
          <a:p>
            <a:pPr algn="ctr">
              <a:lnSpc>
                <a:spcPct val="110000"/>
              </a:lnSpc>
              <a:spcAft>
                <a:spcPts val="400"/>
              </a:spcAft>
            </a:pPr>
            <a:r>
              <a:rPr sz="1350" b="0">
                <a:solidFill>
                  <a:srgbClr val="1F2A3A"/>
                </a:solidFill>
                <a:latin typeface="맑은 고딕"/>
                <a:ea typeface="맑은 고딕"/>
                <a:cs typeface="맑은 고딕"/>
              </a:rPr>
              <a:t>대상에 딸린 값</a:t>
            </a:r>
          </a:p>
          <a:p>
            <a:pPr algn="ctr">
              <a:lnSpc>
                <a:spcPct val="110000"/>
              </a:lnSpc>
              <a:spcAft>
                <a:spcPts val="400"/>
              </a:spcAft>
            </a:pPr>
            <a:r>
              <a:rPr sz="1350" b="0">
                <a:solidFill>
                  <a:srgbClr val="1F2A3A"/>
                </a:solidFill>
                <a:latin typeface="맑은 고딕"/>
                <a:ea typeface="맑은 고딕"/>
                <a:cs typeface="맑은 고딕"/>
              </a:rPr>
              <a:t>tag: TS1</a:t>
            </a:r>
          </a:p>
          <a:p>
            <a:pPr algn="ctr">
              <a:lnSpc>
                <a:spcPct val="110000"/>
              </a:lnSpc>
              <a:spcAft>
                <a:spcPts val="400"/>
              </a:spcAft>
            </a:pPr>
            <a:r>
              <a:rPr sz="1350" b="0">
                <a:solidFill>
                  <a:srgbClr val="1F2A3A"/>
                </a:solidFill>
                <a:latin typeface="맑은 고딕"/>
                <a:ea typeface="맑은 고딕"/>
                <a:cs typeface="맑은 고딕"/>
              </a:rPr>
              <a:t>limit: 65</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a:t>
            </a:r>
          </a:p>
          <a:p>
            <a:pPr algn="ctr">
              <a:lnSpc>
                <a:spcPct val="110000"/>
              </a:lnSpc>
              <a:spcAft>
                <a:spcPts val="400"/>
              </a:spcAft>
            </a:pPr>
            <a:r>
              <a:rPr sz="1350" b="0">
                <a:solidFill>
                  <a:srgbClr val="1F2A3A"/>
                </a:solidFill>
                <a:latin typeface="맑은 고딕"/>
                <a:ea typeface="맑은 고딕"/>
                <a:cs typeface="맑은 고딕"/>
              </a:rPr>
              <a:t>대상과 대상의 연결</a:t>
            </a:r>
          </a:p>
          <a:p>
            <a:pPr algn="ctr">
              <a:lnSpc>
                <a:spcPct val="110000"/>
              </a:lnSpc>
              <a:spcAft>
                <a:spcPts val="400"/>
              </a:spcAft>
            </a:pPr>
            <a:r>
              <a:rPr sz="1350" b="0">
                <a:solidFill>
                  <a:srgbClr val="1F2A3A"/>
                </a:solidFill>
                <a:latin typeface="맑은 고딕"/>
                <a:ea typeface="맑은 고딕"/>
                <a:cs typeface="맑은 고딕"/>
              </a:rPr>
              <a:t>유형, 방향,</a:t>
            </a:r>
          </a:p>
          <a:p>
            <a:pPr algn="ctr">
              <a:lnSpc>
                <a:spcPct val="110000"/>
              </a:lnSpc>
              <a:spcAft>
                <a:spcPts val="400"/>
              </a:spcAft>
            </a:pPr>
            <a:r>
              <a:rPr sz="1350" b="0">
                <a:solidFill>
                  <a:srgbClr val="1F2A3A"/>
                </a:solidFill>
                <a:latin typeface="맑은 고딕"/>
                <a:ea typeface="맑은 고딕"/>
                <a:cs typeface="맑은 고딕"/>
              </a:rPr>
              <a:t>카디널리티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 설계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클래스, 속성, 관계, 제약을 일관되게 정의하는 구조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여러노드.svg" descr="illust_92792093443778947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①: 이름과 의미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정의는 하나뿐인 영문 이름과 그 이름이 가리키는 범위를 정하는 의미 문장으로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클래스의 영문 이름이다. 이 클래스를 가리킬 때는 언제나 이 이름을 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label_ko</a:t>
            </a:r>
          </a:p>
          <a:p>
            <a:pPr algn="l">
              <a:lnSpc>
                <a:spcPct val="110000"/>
              </a:lnSpc>
              <a:spcAft>
                <a:spcPts val="400"/>
              </a:spcAft>
            </a:pPr>
            <a:r>
              <a:rPr sz="1400" b="0">
                <a:solidFill>
                  <a:srgbClr val="1F2A3A"/>
                </a:solidFill>
                <a:latin typeface="맑은 고딕"/>
                <a:ea typeface="맑은 고딕"/>
                <a:cs typeface="맑은 고딕"/>
              </a:rPr>
              <a:t>화면과 문서에 보이는 한글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이 클래스가 무엇을 가리키는지를 문장으로 적는다.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「계측 채널」이라고 적었으므로 계기 없이 계산한 냉각 효율도 이 클래스에 든다.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②: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정해진 값 가운데 하나만 쓰는 자료형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상태 변수의 kind는 enum이어서 manipulated, controlled, disturbance 가운데 하나만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manipulated</a:t>
            </a:r>
          </a:p>
          <a:p>
            <a:pPr algn="l">
              <a:lnSpc>
                <a:spcPct val="110000"/>
              </a:lnSpc>
              <a:spcAft>
                <a:spcPts val="400"/>
              </a:spcAft>
            </a:pPr>
            <a:r>
              <a:rPr sz="1400" b="0">
                <a:solidFill>
                  <a:srgbClr val="1F2A3A"/>
                </a:solidFill>
                <a:latin typeface="맑은 고딕"/>
                <a:ea typeface="맑은 고딕"/>
                <a:cs typeface="맑은 고딕"/>
              </a:rPr>
              <a:t>• 사람이나 시스템이 조작하는 값</a:t>
            </a:r>
          </a:p>
          <a:p>
            <a:pPr algn="l">
              <a:lnSpc>
                <a:spcPct val="110000"/>
              </a:lnSpc>
              <a:spcAft>
                <a:spcPts val="400"/>
              </a:spcAft>
            </a:pPr>
            <a:r>
              <a:rPr sz="1400" b="0">
                <a:solidFill>
                  <a:srgbClr val="1F2A3A"/>
                </a:solidFill>
                <a:latin typeface="맑은 고딕"/>
                <a:ea typeface="맑은 고딕"/>
                <a:cs typeface="맑은 고딕"/>
              </a:rPr>
              <a:t>• 팬 속도, 펌프 부하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조작</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emperature" descr="temperat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controlled</a:t>
            </a:r>
          </a:p>
          <a:p>
            <a:pPr algn="l">
              <a:lnSpc>
                <a:spcPct val="110000"/>
              </a:lnSpc>
              <a:spcAft>
                <a:spcPts val="400"/>
              </a:spcAft>
            </a:pPr>
            <a:r>
              <a:rPr sz="1400" b="0">
                <a:solidFill>
                  <a:srgbClr val="1F2A3A"/>
                </a:solidFill>
                <a:latin typeface="맑은 고딕"/>
                <a:ea typeface="맑은 고딕"/>
                <a:cs typeface="맑은 고딕"/>
              </a:rPr>
              <a:t>• 그 결과로 나타나는 값</a:t>
            </a:r>
          </a:p>
          <a:p>
            <a:pPr algn="l">
              <a:lnSpc>
                <a:spcPct val="110000"/>
              </a:lnSpc>
              <a:spcAft>
                <a:spcPts val="400"/>
              </a:spcAft>
            </a:pPr>
            <a:r>
              <a:rPr sz="1400" b="0">
                <a:solidFill>
                  <a:srgbClr val="1F2A3A"/>
                </a:solidFill>
                <a:latin typeface="맑은 고딕"/>
                <a:ea typeface="맑은 고딕"/>
                <a:cs typeface="맑은 고딕"/>
              </a:rPr>
              <a:t>• 유온, 냉각 효율, 토출 압력</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disturbance</a:t>
            </a:r>
          </a:p>
          <a:p>
            <a:pPr algn="l">
              <a:lnSpc>
                <a:spcPct val="110000"/>
              </a:lnSpc>
              <a:spcAft>
                <a:spcPts val="400"/>
              </a:spcAft>
            </a:pPr>
            <a:r>
              <a:rPr sz="1400" b="0">
                <a:solidFill>
                  <a:srgbClr val="1F2A3A"/>
                </a:solidFill>
                <a:latin typeface="맑은 고딕"/>
                <a:ea typeface="맑은 고딕"/>
                <a:cs typeface="맑은 고딕"/>
              </a:rPr>
              <a:t>• 바깥에서 들어오는 교란</a:t>
            </a:r>
          </a:p>
          <a:p>
            <a:pPr algn="l">
              <a:lnSpc>
                <a:spcPct val="110000"/>
              </a:lnSpc>
              <a:spcAft>
                <a:spcPts val="400"/>
              </a:spcAft>
            </a:pPr>
            <a:r>
              <a:rPr sz="1400" b="0">
                <a:solidFill>
                  <a:srgbClr val="1F2A3A"/>
                </a:solidFill>
                <a:latin typeface="맑은 고딕"/>
                <a:ea typeface="맑은 고딕"/>
                <a:cs typeface="맑은 고딕"/>
              </a:rPr>
              <a:t>• 쿨러 핀 오염도, 팬 베어링 마모도</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교란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속성이 빠진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속성이 빠진 인스턴스는 스키마에 어긋나며, 그 인스턴스로는 정해진 일을 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속성을 갖춘 센서</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TS1</a:t>
            </a:r>
          </a:p>
          <a:p>
            <a:pPr algn="l">
              <a:lnSpc>
                <a:spcPct val="110000"/>
              </a:lnSpc>
              <a:spcAft>
                <a:spcPts val="600"/>
              </a:spcAft>
            </a:pPr>
            <a:r>
              <a:rPr sz="1450" b="0">
                <a:solidFill>
                  <a:srgbClr val="1F2A3A"/>
                </a:solidFill>
                <a:latin typeface="맑은 고딕"/>
                <a:ea typeface="맑은 고딕"/>
                <a:cs typeface="맑은 고딕"/>
              </a:rPr>
              <a:t>• 태그로 실시간 값을 찾을 수 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맞다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속성이 빠진 센서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(없음)</a:t>
            </a:r>
          </a:p>
          <a:p>
            <a:pPr algn="l">
              <a:lnSpc>
                <a:spcPct val="110000"/>
              </a:lnSpc>
              <a:spcAft>
                <a:spcPts val="600"/>
              </a:spcAft>
            </a:pPr>
            <a:r>
              <a:rPr sz="1450" b="0">
                <a:solidFill>
                  <a:srgbClr val="1F2A3A"/>
                </a:solidFill>
                <a:latin typeface="맑은 고딕"/>
                <a:ea typeface="맑은 고딕"/>
                <a:cs typeface="맑은 고딕"/>
              </a:rPr>
              <a:t>• 어느 값이 이 센서의 값인지 알 수 없다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어긋난다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규칙: 클래스를 드러내는 접두사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온톨로지의 식별자는 앞에 붙은 접두사로 그 대상의 클래스를 드러낸다.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설비와 구성 요소</a:t>
            </a:r>
          </a:p>
          <a:p>
            <a:pPr algn="l">
              <a:lnSpc>
                <a:spcPct val="110000"/>
              </a:lnSpc>
              <a:spcAft>
                <a:spcPts val="400"/>
              </a:spcAft>
            </a:pPr>
            <a:r>
              <a:rPr sz="1350" b="0">
                <a:solidFill>
                  <a:srgbClr val="1F2A3A"/>
                </a:solidFill>
                <a:latin typeface="맑은 고딕"/>
                <a:ea typeface="맑은 고딕"/>
                <a:cs typeface="맑은 고딕"/>
              </a:rPr>
              <a:t>• asset:hyd-01</a:t>
            </a:r>
          </a:p>
          <a:p>
            <a:pPr algn="l">
              <a:lnSpc>
                <a:spcPct val="110000"/>
              </a:lnSpc>
              <a:spcAft>
                <a:spcPts val="400"/>
              </a:spcAft>
            </a:pPr>
            <a:r>
              <a:rPr sz="1350" b="0">
                <a:solidFill>
                  <a:srgbClr val="1F2A3A"/>
                </a:solidFill>
                <a:latin typeface="맑은 고딕"/>
                <a:ea typeface="맑은 고딕"/>
                <a:cs typeface="맑은 고딕"/>
              </a:rPr>
              <a:t>• comp:cooler</a:t>
            </a:r>
          </a:p>
        </p:txBody>
      </p:sp>
      <p:sp>
        <p:nvSpPr>
          <p:cNvPr id="10" name="Rounded Rectangle 9"/>
          <p:cNvSpPr/>
          <p:nvPr/>
        </p:nvSpPr>
        <p:spPr>
          <a:xfrm>
            <a:off x="777240" y="5029771"/>
            <a:ext cx="14813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4813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asset: · comp:</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센서와 상태 변수</a:t>
            </a:r>
          </a:p>
          <a:p>
            <a:pPr algn="l">
              <a:lnSpc>
                <a:spcPct val="110000"/>
              </a:lnSpc>
              <a:spcAft>
                <a:spcPts val="400"/>
              </a:spcAft>
            </a:pPr>
            <a:r>
              <a:rPr sz="1350" b="0">
                <a:solidFill>
                  <a:srgbClr val="1F2A3A"/>
                </a:solidFill>
                <a:latin typeface="맑은 고딕"/>
                <a:ea typeface="맑은 고딕"/>
                <a:cs typeface="맑은 고딕"/>
              </a:rPr>
              <a:t>• sen:ts1</a:t>
            </a:r>
          </a:p>
          <a:p>
            <a:pPr algn="l">
              <a:lnSpc>
                <a:spcPct val="110000"/>
              </a:lnSpc>
              <a:spcAft>
                <a:spcPts val="400"/>
              </a:spcAft>
            </a:pPr>
            <a:r>
              <a:rPr sz="1350" b="0">
                <a:solidFill>
                  <a:srgbClr val="1F2A3A"/>
                </a:solidFill>
                <a:latin typeface="맑은 고딕"/>
                <a:ea typeface="맑은 고딕"/>
                <a:cs typeface="맑은 고딕"/>
              </a:rPr>
              <a:t>• sv:ts1</a:t>
            </a:r>
          </a:p>
        </p:txBody>
      </p:sp>
      <p:sp>
        <p:nvSpPr>
          <p:cNvPr id="16" name="Rounded Rectangle 15"/>
          <p:cNvSpPr/>
          <p:nvPr/>
        </p:nvSpPr>
        <p:spPr>
          <a:xfrm>
            <a:off x="3619423" y="5029771"/>
            <a:ext cx="116433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1643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 · sv:</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부품과 공급사</a:t>
            </a:r>
          </a:p>
          <a:p>
            <a:pPr algn="l">
              <a:lnSpc>
                <a:spcPct val="110000"/>
              </a:lnSpc>
              <a:spcAft>
                <a:spcPts val="400"/>
              </a:spcAft>
            </a:pPr>
            <a:r>
              <a:rPr sz="1350" b="0">
                <a:solidFill>
                  <a:srgbClr val="1F2A3A"/>
                </a:solidFill>
                <a:latin typeface="맑은 고딕"/>
                <a:ea typeface="맑은 고딕"/>
                <a:cs typeface="맑은 고딕"/>
              </a:rPr>
              <a:t>• part:cooler-core</a:t>
            </a:r>
          </a:p>
          <a:p>
            <a:pPr algn="l">
              <a:lnSpc>
                <a:spcPct val="110000"/>
              </a:lnSpc>
              <a:spcAft>
                <a:spcPts val="400"/>
              </a:spcAft>
            </a:pPr>
            <a:r>
              <a:rPr sz="1350" b="0">
                <a:solidFill>
                  <a:srgbClr val="1F2A3A"/>
                </a:solidFill>
                <a:latin typeface="맑은 고딕"/>
                <a:ea typeface="맑은 고딕"/>
                <a:cs typeface="맑은 고딕"/>
              </a:rPr>
              <a:t>• sup:a</a:t>
            </a:r>
          </a:p>
        </p:txBody>
      </p:sp>
      <p:sp>
        <p:nvSpPr>
          <p:cNvPr id="22" name="Rounded Rectangle 21"/>
          <p:cNvSpPr/>
          <p:nvPr/>
        </p:nvSpPr>
        <p:spPr>
          <a:xfrm>
            <a:off x="6461607" y="5029771"/>
            <a:ext cx="1322832"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3228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part: · sup:</a:t>
            </a:r>
          </a:p>
        </p:txBody>
      </p:sp>
      <p:sp>
        <p:nvSpPr>
          <p:cNvPr id="24" name="Rounded Rectangle 23"/>
          <p:cNvSpPr/>
          <p:nvPr/>
        </p:nvSpPr>
        <p:spPr>
          <a:xfrm>
            <a:off x="9075191"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E7F3FD"/>
          </a:solidFill>
          <a:ln>
            <a:noFill/>
          </a:ln>
        </p:spPr>
        <p:txBody>
          <a:bodyPr rtlCol="0" anchor="ctr"/>
          <a:lstStyle/>
          <a:p>
            <a:pPr algn="ctr"/>
          </a:p>
        </p:txBody>
      </p:sp>
      <p:pic>
        <p:nvPicPr>
          <p:cNvPr id="26" name="아이콘:bell" descr="bell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이상 패턴과 증상</a:t>
            </a:r>
          </a:p>
          <a:p>
            <a:pPr algn="l">
              <a:lnSpc>
                <a:spcPct val="110000"/>
              </a:lnSpc>
              <a:spcAft>
                <a:spcPts val="400"/>
              </a:spcAft>
            </a:pPr>
            <a:r>
              <a:rPr sz="1350" b="0">
                <a:solidFill>
                  <a:srgbClr val="1F2A3A"/>
                </a:solidFill>
                <a:latin typeface="맑은 고딕"/>
                <a:ea typeface="맑은 고딕"/>
                <a:cs typeface="맑은 고딕"/>
              </a:rPr>
              <a:t>• pattern:cooler-degradation</a:t>
            </a:r>
          </a:p>
          <a:p>
            <a:pPr algn="l">
              <a:lnSpc>
                <a:spcPct val="110000"/>
              </a:lnSpc>
              <a:spcAft>
                <a:spcPts val="400"/>
              </a:spcAft>
            </a:pPr>
            <a:r>
              <a:rPr sz="1350" b="0">
                <a:solidFill>
                  <a:srgbClr val="1F2A3A"/>
                </a:solidFill>
                <a:latin typeface="맑은 고딕"/>
                <a:ea typeface="맑은 고딕"/>
                <a:cs typeface="맑은 고딕"/>
              </a:rPr>
              <a:t>• sym:ts1-rise</a:t>
            </a:r>
          </a:p>
        </p:txBody>
      </p:sp>
      <p:sp>
        <p:nvSpPr>
          <p:cNvPr id="28" name="Rounded Rectangle 27"/>
          <p:cNvSpPr/>
          <p:nvPr/>
        </p:nvSpPr>
        <p:spPr>
          <a:xfrm>
            <a:off x="9303791" y="5029771"/>
            <a:ext cx="1560576"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029771"/>
            <a:ext cx="156057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pattern: · sym: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별칭: 다른 이름으로 같은 대상 찾기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별칭은 같은 대상을 부르는 다른 이름의 목록이며, 질문에 쓰인 말로 대상을 찾는 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질문의 말</a:t>
            </a:r>
          </a:p>
          <a:p>
            <a:pPr algn="ctr">
              <a:lnSpc>
                <a:spcPct val="110000"/>
              </a:lnSpc>
              <a:spcAft>
                <a:spcPts val="400"/>
              </a:spcAft>
            </a:pPr>
            <a:r>
              <a:rPr sz="1350" b="0">
                <a:solidFill>
                  <a:srgbClr val="1F2A3A"/>
                </a:solidFill>
                <a:latin typeface="맑은 고딕"/>
                <a:ea typeface="맑은 고딕"/>
                <a:cs typeface="맑은 고딕"/>
              </a:rPr>
              <a:t>「작동유 온도가</a:t>
            </a:r>
          </a:p>
          <a:p>
            <a:pPr algn="ctr">
              <a:lnSpc>
                <a:spcPct val="110000"/>
              </a:lnSpc>
              <a:spcAft>
                <a:spcPts val="400"/>
              </a:spcAft>
            </a:pPr>
            <a:r>
              <a:rPr sz="1350" b="0">
                <a:solidFill>
                  <a:srgbClr val="1F2A3A"/>
                </a:solidFill>
                <a:latin typeface="맑은 고딕"/>
                <a:ea typeface="맑은 고딕"/>
                <a:cs typeface="맑은 고딕"/>
              </a:rPr>
              <a:t>얼마인가」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list-search" descr="list-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별칭과 대조</a:t>
            </a:r>
          </a:p>
          <a:p>
            <a:pPr algn="ctr">
              <a:lnSpc>
                <a:spcPct val="110000"/>
              </a:lnSpc>
              <a:spcAft>
                <a:spcPts val="400"/>
              </a:spcAft>
            </a:pPr>
            <a:r>
              <a:rPr sz="1350" b="0">
                <a:solidFill>
                  <a:srgbClr val="1F2A3A"/>
                </a:solidFill>
                <a:latin typeface="맑은 고딕"/>
                <a:ea typeface="맑은 고딕"/>
                <a:cs typeface="맑은 고딕"/>
              </a:rPr>
              <a:t>aliases:</a:t>
            </a:r>
          </a:p>
          <a:p>
            <a:pPr algn="ctr">
              <a:lnSpc>
                <a:spcPct val="110000"/>
              </a:lnSpc>
              <a:spcAft>
                <a:spcPts val="400"/>
              </a:spcAft>
            </a:pPr>
            <a:r>
              <a:rPr sz="1350" b="0">
                <a:solidFill>
                  <a:srgbClr val="1F2A3A"/>
                </a:solidFill>
                <a:latin typeface="맑은 고딕"/>
                <a:ea typeface="맑은 고딕"/>
                <a:cs typeface="맑은 고딕"/>
              </a:rPr>
              <a:t>오일 온도,</a:t>
            </a:r>
          </a:p>
          <a:p>
            <a:pPr algn="ctr">
              <a:lnSpc>
                <a:spcPct val="110000"/>
              </a:lnSpc>
              <a:spcAft>
                <a:spcPts val="400"/>
              </a:spcAft>
            </a:pPr>
            <a:r>
              <a:rPr sz="1350" b="0">
                <a:solidFill>
                  <a:srgbClr val="1F2A3A"/>
                </a:solidFill>
                <a:latin typeface="맑은 고딕"/>
                <a:ea typeface="맑은 고딕"/>
                <a:cs typeface="맑은 고딕"/>
              </a:rPr>
              <a:t>작동유 온도, TS1</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target" descr="targe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찾은 대상</a:t>
            </a:r>
          </a:p>
          <a:p>
            <a:pPr algn="ctr">
              <a:lnSpc>
                <a:spcPct val="110000"/>
              </a:lnSpc>
              <a:spcAft>
                <a:spcPts val="400"/>
              </a:spcAft>
            </a:pPr>
            <a:r>
              <a:rPr sz="1350" b="0">
                <a:solidFill>
                  <a:srgbClr val="1F2A3A"/>
                </a:solidFill>
                <a:latin typeface="맑은 고딕"/>
                <a:ea typeface="맑은 고딕"/>
                <a:cs typeface="맑은 고딕"/>
              </a:rPr>
              <a:t>sv:ts1</a:t>
            </a:r>
          </a:p>
          <a:p>
            <a:pPr algn="ctr">
              <a:lnSpc>
                <a:spcPct val="110000"/>
              </a:lnSpc>
              <a:spcAft>
                <a:spcPts val="400"/>
              </a:spcAft>
            </a:pPr>
            <a:r>
              <a:rPr sz="1350" b="0">
                <a:solidFill>
                  <a:srgbClr val="1F2A3A"/>
                </a:solidFill>
                <a:latin typeface="맑은 고딕"/>
                <a:ea typeface="맑은 고딕"/>
                <a:cs typeface="맑은 고딕"/>
              </a:rPr>
              <a:t>유온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공통 식별자: 지식 그래프, 시계열 DB, 업무 DB</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HYD-01과 TS1이라는 같은 값이 세 저장소에 있어 센서의 지식, 계측값, 업무 데이터가 한 설비로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공통식별자_2.svg" descr="illust_366990772922921416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677613" y="276221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공통 식별자</a:t>
            </a:r>
          </a:p>
          <a:p>
            <a:pPr algn="ctr">
              <a:lnSpc>
                <a:spcPct val="110000"/>
              </a:lnSpc>
              <a:spcAft>
                <a:spcPts val="100"/>
              </a:spcAft>
            </a:pPr>
            <a:r>
              <a:rPr sz="1300" b="0">
                <a:solidFill>
                  <a:srgbClr val="556175"/>
                </a:solidFill>
                <a:latin typeface="맑은 고딕"/>
                <a:ea typeface="맑은 고딕"/>
                <a:cs typeface="맑은 고딕"/>
              </a:rPr>
              <a:t>같은 값이 같은 대상을 뜻한다</a:t>
            </a:r>
          </a:p>
        </p:txBody>
      </p:sp>
      <p:sp>
        <p:nvSpPr>
          <p:cNvPr id="8" name="TextBox 7"/>
          <p:cNvSpPr txBox="1"/>
          <p:nvPr/>
        </p:nvSpPr>
        <p:spPr>
          <a:xfrm>
            <a:off x="5277635"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 · TS1</a:t>
            </a:r>
          </a:p>
        </p:txBody>
      </p:sp>
      <p:sp>
        <p:nvSpPr>
          <p:cNvPr id="9" name="TextBox 8"/>
          <p:cNvSpPr txBox="1"/>
          <p:nvPr/>
        </p:nvSpPr>
        <p:spPr>
          <a:xfrm>
            <a:off x="968384" y="401026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a:p>
            <a:pPr algn="ctr">
              <a:lnSpc>
                <a:spcPct val="110000"/>
              </a:lnSpc>
              <a:spcAft>
                <a:spcPts val="100"/>
              </a:spcAft>
            </a:pPr>
            <a:r>
              <a:rPr sz="1300" b="0">
                <a:solidFill>
                  <a:srgbClr val="556175"/>
                </a:solidFill>
                <a:latin typeface="맑은 고딕"/>
                <a:ea typeface="맑은 고딕"/>
                <a:cs typeface="맑은 고딕"/>
              </a:rPr>
              <a:t>설비의 code: HYD-01</a:t>
            </a:r>
          </a:p>
          <a:p>
            <a:pPr algn="ctr">
              <a:lnSpc>
                <a:spcPct val="110000"/>
              </a:lnSpc>
              <a:spcAft>
                <a:spcPts val="100"/>
              </a:spcAft>
            </a:pPr>
            <a:r>
              <a:rPr sz="1300" b="0">
                <a:solidFill>
                  <a:srgbClr val="556175"/>
                </a:solidFill>
                <a:latin typeface="맑은 고딕"/>
                <a:ea typeface="맑은 고딕"/>
                <a:cs typeface="맑은 고딕"/>
              </a:rPr>
              <a:t>센서의 tag: TS1</a:t>
            </a:r>
          </a:p>
        </p:txBody>
      </p:sp>
      <p:sp>
        <p:nvSpPr>
          <p:cNvPr id="10" name="TextBox 9"/>
          <p:cNvSpPr txBox="1"/>
          <p:nvPr/>
        </p:nvSpPr>
        <p:spPr>
          <a:xfrm>
            <a:off x="8408660" y="311677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DB의 표 tag_1s</a:t>
            </a:r>
          </a:p>
          <a:p>
            <a:pPr algn="ctr">
              <a:lnSpc>
                <a:spcPct val="110000"/>
              </a:lnSpc>
              <a:spcAft>
                <a:spcPts val="100"/>
              </a:spcAft>
            </a:pPr>
            <a:r>
              <a:rPr sz="1300" b="0">
                <a:solidFill>
                  <a:srgbClr val="556175"/>
                </a:solidFill>
                <a:latin typeface="맑은 고딕"/>
                <a:ea typeface="맑은 고딕"/>
                <a:cs typeface="맑은 고딕"/>
              </a:rPr>
              <a:t>asset 열: HYD-01</a:t>
            </a:r>
          </a:p>
          <a:p>
            <a:pPr algn="ctr">
              <a:lnSpc>
                <a:spcPct val="110000"/>
              </a:lnSpc>
              <a:spcAft>
                <a:spcPts val="100"/>
              </a:spcAft>
            </a:pPr>
            <a:r>
              <a:rPr sz="1300" b="0">
                <a:solidFill>
                  <a:srgbClr val="556175"/>
                </a:solidFill>
                <a:latin typeface="맑은 고딕"/>
                <a:ea typeface="맑은 고딕"/>
                <a:cs typeface="맑은 고딕"/>
              </a:rPr>
              <a:t>name 열: TS1</a:t>
            </a:r>
          </a:p>
        </p:txBody>
      </p:sp>
      <p:sp>
        <p:nvSpPr>
          <p:cNvPr id="11" name="TextBox 10"/>
          <p:cNvSpPr txBox="1"/>
          <p:nvPr/>
        </p:nvSpPr>
        <p:spPr>
          <a:xfrm>
            <a:off x="8517755" y="5480502"/>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설비 표</a:t>
            </a:r>
          </a:p>
          <a:p>
            <a:pPr algn="ctr">
              <a:lnSpc>
                <a:spcPct val="110000"/>
              </a:lnSpc>
              <a:spcAft>
                <a:spcPts val="100"/>
              </a:spcAft>
            </a:pPr>
            <a:r>
              <a:rPr sz="1300" b="0">
                <a:solidFill>
                  <a:srgbClr val="556175"/>
                </a:solidFill>
                <a:latin typeface="맑은 고딕"/>
                <a:ea typeface="맑은 고딕"/>
                <a:cs typeface="맑은 고딕"/>
              </a:rPr>
              <a:t>code 열: HYD-01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연결조건_2.svg" descr="illust_640447491035440691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유효하지 않은 연결의 다른 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방향이 뒤집힌 연결과 스키마에 없는 이름의 관계도 스키마에 어긋난다.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방향이 뒤집힌 연결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 → 유온 센서: OBSERVES</a:t>
            </a:r>
          </a:p>
          <a:p>
            <a:pPr algn="l">
              <a:lnSpc>
                <a:spcPct val="110000"/>
              </a:lnSpc>
              <a:spcAft>
                <a:spcPts val="600"/>
              </a:spcAft>
            </a:pPr>
            <a:r>
              <a:rPr sz="1450" b="0">
                <a:solidFill>
                  <a:srgbClr val="1F2A3A"/>
                </a:solidFill>
                <a:latin typeface="맑은 고딕"/>
                <a:ea typeface="맑은 고딕"/>
                <a:cs typeface="맑은 고딕"/>
              </a:rPr>
              <a:t>• 시작이 상태 변수이고 끝이 센서이다</a:t>
            </a:r>
          </a:p>
          <a:p>
            <a:pPr algn="l">
              <a:lnSpc>
                <a:spcPct val="110000"/>
              </a:lnSpc>
              <a:spcAft>
                <a:spcPts val="600"/>
              </a:spcAft>
            </a:pPr>
            <a:r>
              <a:rPr sz="1450" b="0">
                <a:solidFill>
                  <a:srgbClr val="1F2A3A"/>
                </a:solidFill>
                <a:latin typeface="맑은 고딕"/>
                <a:ea typeface="맑은 고딕"/>
                <a:cs typeface="맑은 고딕"/>
              </a:rPr>
              <a:t>• 정의는 센서에서 상태 변수로 향한다</a:t>
            </a:r>
          </a:p>
        </p:txBody>
      </p:sp>
      <p:sp>
        <p:nvSpPr>
          <p:cNvPr id="11" name="Rounded Rectangle 10"/>
          <p:cNvSpPr/>
          <p:nvPr/>
        </p:nvSpPr>
        <p:spPr>
          <a:xfrm>
            <a:off x="868680" y="4945570"/>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시작과 끝이 바뀌었다</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question-mark" descr="question-mar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정의에 없는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 센서 → 유온: WATCHES</a:t>
            </a:r>
          </a:p>
          <a:p>
            <a:pPr algn="l">
              <a:lnSpc>
                <a:spcPct val="110000"/>
              </a:lnSpc>
              <a:spcAft>
                <a:spcPts val="600"/>
              </a:spcAft>
            </a:pPr>
            <a:r>
              <a:rPr sz="1450" b="0">
                <a:solidFill>
                  <a:srgbClr val="1F2A3A"/>
                </a:solidFill>
                <a:latin typeface="맑은 고딕"/>
                <a:ea typeface="맑은 고딕"/>
                <a:cs typeface="맑은 고딕"/>
              </a:rPr>
              <a:t>• 스키마에 WATCHES라는 관계가 없다</a:t>
            </a:r>
          </a:p>
          <a:p>
            <a:pPr algn="l">
              <a:lnSpc>
                <a:spcPct val="110000"/>
              </a:lnSpc>
              <a:spcAft>
                <a:spcPts val="600"/>
              </a:spcAft>
            </a:pPr>
            <a:r>
              <a:rPr sz="1450" b="0">
                <a:solidFill>
                  <a:srgbClr val="1F2A3A"/>
                </a:solidFill>
                <a:latin typeface="맑은 고딕"/>
                <a:ea typeface="맑은 고딕"/>
                <a:cs typeface="맑은 고딕"/>
              </a:rPr>
              <a:t>• 정의된 이름은 OBSERVES이다</a:t>
            </a:r>
          </a:p>
        </p:txBody>
      </p:sp>
      <p:sp>
        <p:nvSpPr>
          <p:cNvPr id="18" name="Rounded Rectangle 17"/>
          <p:cNvSpPr/>
          <p:nvPr/>
        </p:nvSpPr>
        <p:spPr>
          <a:xfrm>
            <a:off x="6781647" y="4945570"/>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이름이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manipulated, controlled, disturbance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인스턴스를 더할 때와 스키마를 고칠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인스턴스는 스키마를 고치지 않고 더할 수 있지만, 스키마를 고치면 그 클래스의 모든 인스턴스가 영향을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설비에 센서를 하나 새로 단다</a:t>
            </a:r>
          </a:p>
          <a:p>
            <a:pPr algn="l">
              <a:lnSpc>
                <a:spcPct val="110000"/>
              </a:lnSpc>
              <a:spcAft>
                <a:spcPts val="600"/>
              </a:spcAft>
            </a:pPr>
            <a:r>
              <a:rPr sz="1450" b="0">
                <a:solidFill>
                  <a:srgbClr val="1F2A3A"/>
                </a:solidFill>
                <a:latin typeface="맑은 고딕"/>
                <a:ea typeface="맑은 고딕"/>
                <a:cs typeface="맑은 고딕"/>
              </a:rPr>
              <a:t>• 센서 인스턴스가 하나 는다</a:t>
            </a:r>
          </a:p>
          <a:p>
            <a:pPr algn="l">
              <a:lnSpc>
                <a:spcPct val="110000"/>
              </a:lnSpc>
              <a:spcAft>
                <a:spcPts val="600"/>
              </a:spcAft>
            </a:pPr>
            <a:r>
              <a:rPr sz="1450" b="0">
                <a:solidFill>
                  <a:srgbClr val="1F2A3A"/>
                </a:solidFill>
                <a:latin typeface="맑은 고딕"/>
                <a:ea typeface="맑은 고딕"/>
                <a:cs typeface="맑은 고딕"/>
              </a:rPr>
              <a:t>• 스키마는 그대로이다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클래스에 필수 속성을 하나 더한다</a:t>
            </a:r>
          </a:p>
          <a:p>
            <a:pPr algn="l">
              <a:lnSpc>
                <a:spcPct val="110000"/>
              </a:lnSpc>
              <a:spcAft>
                <a:spcPts val="600"/>
              </a:spcAft>
            </a:pPr>
            <a:r>
              <a:rPr sz="1450" b="0">
                <a:solidFill>
                  <a:srgbClr val="1F2A3A"/>
                </a:solidFill>
                <a:latin typeface="맑은 고딕"/>
                <a:ea typeface="맑은 고딕"/>
                <a:cs typeface="맑은 고딕"/>
              </a:rPr>
              <a:t>• 이미 있는 모든 센서가 그 속성을 가져야 한다</a:t>
            </a:r>
          </a:p>
        </p:txBody>
      </p:sp>
      <p:sp>
        <p:nvSpPr>
          <p:cNvPr id="18" name="Rounded Rectangle 17"/>
          <p:cNvSpPr/>
          <p:nvPr/>
        </p:nvSpPr>
        <p:spPr>
          <a:xfrm>
            <a:off x="6781647" y="4945570"/>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57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모델을 스키마로 발전시키는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클래스, 속성, 관계의 순서로 정의를 채워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정한다</a:t>
            </a:r>
          </a:p>
          <a:p>
            <a:pPr algn="ctr">
              <a:lnSpc>
                <a:spcPct val="110000"/>
              </a:lnSpc>
              <a:spcAft>
                <a:spcPts val="400"/>
              </a:spcAft>
            </a:pPr>
            <a:r>
              <a:rPr sz="1350" b="0">
                <a:solidFill>
                  <a:srgbClr val="1F2A3A"/>
                </a:solidFill>
                <a:latin typeface="맑은 고딕"/>
                <a:ea typeface="맑은 고딕"/>
                <a:cs typeface="맑은 고딕"/>
              </a:rPr>
              <a:t>이 지식으로</a:t>
            </a:r>
          </a:p>
          <a:p>
            <a:pPr algn="ctr">
              <a:lnSpc>
                <a:spcPct val="110000"/>
              </a:lnSpc>
              <a:spcAft>
                <a:spcPts val="400"/>
              </a:spcAft>
            </a:pPr>
            <a:r>
              <a:rPr sz="1350" b="0">
                <a:solidFill>
                  <a:srgbClr val="1F2A3A"/>
                </a:solidFill>
                <a:latin typeface="맑은 고딕"/>
                <a:ea typeface="맑은 고딕"/>
                <a:cs typeface="맑은 고딕"/>
              </a:rPr>
              <a:t>답할 질문</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클래스와 인스턴스를 나눈다</a:t>
            </a:r>
          </a:p>
          <a:p>
            <a:pPr algn="ctr">
              <a:lnSpc>
                <a:spcPct val="110000"/>
              </a:lnSpc>
              <a:spcAft>
                <a:spcPts val="400"/>
              </a:spcAft>
            </a:pPr>
            <a:r>
              <a:rPr sz="1350" b="0">
                <a:solidFill>
                  <a:srgbClr val="1F2A3A"/>
                </a:solidFill>
                <a:latin typeface="맑은 고딕"/>
                <a:ea typeface="맑은 고딕"/>
                <a:cs typeface="맑은 고딕"/>
              </a:rPr>
              <a:t>유형과</a:t>
            </a:r>
          </a:p>
          <a:p>
            <a:pPr algn="ctr">
              <a:lnSpc>
                <a:spcPct val="110000"/>
              </a:lnSpc>
              <a:spcAft>
                <a:spcPts val="400"/>
              </a:spcAft>
            </a:pPr>
            <a:r>
              <a:rPr sz="1350" b="0">
                <a:solidFill>
                  <a:srgbClr val="1F2A3A"/>
                </a:solidFill>
                <a:latin typeface="맑은 고딕"/>
                <a:ea typeface="맑은 고딕"/>
                <a:cs typeface="맑은 고딕"/>
              </a:rPr>
              <a:t>실제 대상</a:t>
            </a:r>
          </a:p>
        </p:txBody>
      </p:sp>
      <p:sp>
        <p:nvSpPr>
          <p:cNvPr id="17" name="Oval 16"/>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속성을 정한다</a:t>
            </a:r>
          </a:p>
          <a:p>
            <a:pPr algn="ctr">
              <a:lnSpc>
                <a:spcPct val="110000"/>
              </a:lnSpc>
              <a:spcAft>
                <a:spcPts val="400"/>
              </a:spcAft>
            </a:pPr>
            <a:r>
              <a:rPr sz="1350" b="0">
                <a:solidFill>
                  <a:srgbClr val="1F2A3A"/>
                </a:solidFill>
                <a:latin typeface="맑은 고딕"/>
                <a:ea typeface="맑은 고딕"/>
                <a:cs typeface="맑은 고딕"/>
              </a:rPr>
              <a:t>속성명, 자료형,</a:t>
            </a:r>
          </a:p>
          <a:p>
            <a:pPr algn="ctr">
              <a:lnSpc>
                <a:spcPct val="110000"/>
              </a:lnSpc>
              <a:spcAft>
                <a:spcPts val="400"/>
              </a:spcAft>
            </a:pPr>
            <a:r>
              <a:rPr sz="1350" b="0">
                <a:solidFill>
                  <a:srgbClr val="1F2A3A"/>
                </a:solidFill>
                <a:latin typeface="맑은 고딕"/>
                <a:ea typeface="맑은 고딕"/>
                <a:cs typeface="맑은 고딕"/>
              </a:rPr>
              <a:t>식별자, 필수 여부</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정한다</a:t>
            </a:r>
          </a:p>
          <a:p>
            <a:pPr algn="ctr">
              <a:lnSpc>
                <a:spcPct val="110000"/>
              </a:lnSpc>
              <a:spcAft>
                <a:spcPts val="400"/>
              </a:spcAft>
            </a:pPr>
            <a:r>
              <a:rPr sz="1350" b="0">
                <a:solidFill>
                  <a:srgbClr val="1F2A3A"/>
                </a:solidFill>
                <a:latin typeface="맑은 고딕"/>
                <a:ea typeface="맑은 고딕"/>
                <a:cs typeface="맑은 고딕"/>
              </a:rPr>
              <a:t>이름, 방향,</a:t>
            </a:r>
          </a:p>
          <a:p>
            <a:pPr algn="ctr">
              <a:lnSpc>
                <a:spcPct val="110000"/>
              </a:lnSpc>
              <a:spcAft>
                <a:spcPts val="400"/>
              </a:spcAft>
            </a:pPr>
            <a:r>
              <a:rPr sz="1350" b="0">
                <a:solidFill>
                  <a:srgbClr val="1F2A3A"/>
                </a:solidFill>
                <a:latin typeface="맑은 고딕"/>
                <a:ea typeface="맑은 고딕"/>
                <a:cs typeface="맑은 고딕"/>
              </a:rPr>
              <a:t>양 끝 클래스, 카디널리티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1: 답할 질문을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먼저 이 지식으로 답하려는 질문을 적으며, 질문에 쓰이지 않는 정보는 넣지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1</a:t>
            </a:r>
          </a:p>
          <a:p>
            <a:pPr algn="l">
              <a:lnSpc>
                <a:spcPct val="110000"/>
              </a:lnSpc>
              <a:spcAft>
                <a:spcPts val="400"/>
              </a:spcAft>
            </a:pPr>
            <a:r>
              <a:rPr sz="1400" b="0">
                <a:solidFill>
                  <a:srgbClr val="1F2A3A"/>
                </a:solidFill>
                <a:latin typeface="맑은 고딕"/>
                <a:ea typeface="맑은 고딕"/>
                <a:cs typeface="맑은 고딕"/>
              </a:rPr>
              <a:t>HYD-01의 오일 쿨러를 재는 센서는 무엇인가</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센서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2</a:t>
            </a:r>
          </a:p>
          <a:p>
            <a:pPr algn="l">
              <a:lnSpc>
                <a:spcPct val="110000"/>
              </a:lnSpc>
              <a:spcAft>
                <a:spcPts val="400"/>
              </a:spcAft>
            </a:pPr>
            <a:r>
              <a:rPr sz="1400" b="0">
                <a:solidFill>
                  <a:srgbClr val="1F2A3A"/>
                </a:solidFill>
                <a:latin typeface="맑은 고딕"/>
                <a:ea typeface="맑은 고딕"/>
                <a:cs typeface="맑은 고딕"/>
              </a:rPr>
              <a:t>그 센서가 읽는 물리량의 한계는 얼마인가</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한계값</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3</a:t>
            </a:r>
          </a:p>
          <a:p>
            <a:pPr algn="l">
              <a:lnSpc>
                <a:spcPct val="110000"/>
              </a:lnSpc>
              <a:spcAft>
                <a:spcPts val="400"/>
              </a:spcAft>
            </a:pPr>
            <a:r>
              <a:rPr sz="1400" b="0">
                <a:solidFill>
                  <a:srgbClr val="1F2A3A"/>
                </a:solidFill>
                <a:latin typeface="맑은 고딕"/>
                <a:ea typeface="맑은 고딕"/>
                <a:cs typeface="맑은 고딕"/>
              </a:rPr>
              <a:t>오일 쿨러에 들어가는 교체 부품은 무엇인가</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부품</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2: 질문의 낱말을 클래스와 인스턴스로 가른다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질문의 낱말 가운데 유형은 클래스가 되고 실제 대상은 그 클래스의 예시 인스턴스가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설계_1.svg" descr="illust_895294510009162721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48380"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Asset</a:t>
            </a:r>
          </a:p>
        </p:txBody>
      </p:sp>
      <p:sp>
        <p:nvSpPr>
          <p:cNvPr id="8" name="TextBox 7"/>
          <p:cNvSpPr txBox="1"/>
          <p:nvPr/>
        </p:nvSpPr>
        <p:spPr>
          <a:xfrm>
            <a:off x="3723032"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Component</a:t>
            </a:r>
          </a:p>
        </p:txBody>
      </p:sp>
      <p:sp>
        <p:nvSpPr>
          <p:cNvPr id="9" name="TextBox 8"/>
          <p:cNvSpPr txBox="1"/>
          <p:nvPr/>
        </p:nvSpPr>
        <p:spPr>
          <a:xfrm>
            <a:off x="6597684"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Sensor</a:t>
            </a:r>
          </a:p>
        </p:txBody>
      </p:sp>
      <p:sp>
        <p:nvSpPr>
          <p:cNvPr id="10" name="TextBox 9"/>
          <p:cNvSpPr txBox="1"/>
          <p:nvPr/>
        </p:nvSpPr>
        <p:spPr>
          <a:xfrm>
            <a:off x="9466881"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StateVariable</a:t>
            </a:r>
          </a:p>
        </p:txBody>
      </p:sp>
      <p:sp>
        <p:nvSpPr>
          <p:cNvPr id="11" name="TextBox 10"/>
          <p:cNvSpPr txBox="1"/>
          <p:nvPr/>
        </p:nvSpPr>
        <p:spPr>
          <a:xfrm>
            <a:off x="3723032" y="4719382"/>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Part</a:t>
            </a:r>
          </a:p>
        </p:txBody>
      </p:sp>
      <p:sp>
        <p:nvSpPr>
          <p:cNvPr id="12" name="TextBox 11"/>
          <p:cNvSpPr txBox="1"/>
          <p:nvPr/>
        </p:nvSpPr>
        <p:spPr>
          <a:xfrm>
            <a:off x="684738"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설비</a:t>
            </a:r>
          </a:p>
          <a:p>
            <a:pPr algn="ctr">
              <a:lnSpc>
                <a:spcPct val="110000"/>
              </a:lnSpc>
              <a:spcAft>
                <a:spcPts val="100"/>
              </a:spcAft>
            </a:pPr>
            <a:r>
              <a:rPr sz="1100" b="0">
                <a:solidFill>
                  <a:srgbClr val="556175"/>
                </a:solidFill>
                <a:latin typeface="맑은 고딕"/>
                <a:ea typeface="맑은 고딕"/>
                <a:cs typeface="맑은 고딕"/>
              </a:rPr>
              <a:t>실제 대상: HYD-01</a:t>
            </a:r>
          </a:p>
        </p:txBody>
      </p:sp>
      <p:sp>
        <p:nvSpPr>
          <p:cNvPr id="13" name="TextBox 12"/>
          <p:cNvSpPr txBox="1"/>
          <p:nvPr/>
        </p:nvSpPr>
        <p:spPr>
          <a:xfrm>
            <a:off x="3559390"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구성 요소</a:t>
            </a:r>
          </a:p>
          <a:p>
            <a:pPr algn="ctr">
              <a:lnSpc>
                <a:spcPct val="110000"/>
              </a:lnSpc>
              <a:spcAft>
                <a:spcPts val="100"/>
              </a:spcAft>
            </a:pPr>
            <a:r>
              <a:rPr sz="1100" b="0">
                <a:solidFill>
                  <a:srgbClr val="556175"/>
                </a:solidFill>
                <a:latin typeface="맑은 고딕"/>
                <a:ea typeface="맑은 고딕"/>
                <a:cs typeface="맑은 고딕"/>
              </a:rPr>
              <a:t>실제 대상: 오일 쿨러</a:t>
            </a:r>
          </a:p>
        </p:txBody>
      </p:sp>
      <p:sp>
        <p:nvSpPr>
          <p:cNvPr id="14" name="TextBox 13"/>
          <p:cNvSpPr txBox="1"/>
          <p:nvPr/>
        </p:nvSpPr>
        <p:spPr>
          <a:xfrm>
            <a:off x="6434041"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센서</a:t>
            </a:r>
          </a:p>
          <a:p>
            <a:pPr algn="ctr">
              <a:lnSpc>
                <a:spcPct val="110000"/>
              </a:lnSpc>
              <a:spcAft>
                <a:spcPts val="100"/>
              </a:spcAft>
            </a:pPr>
            <a:r>
              <a:rPr sz="1100" b="0">
                <a:solidFill>
                  <a:srgbClr val="556175"/>
                </a:solidFill>
                <a:latin typeface="맑은 고딕"/>
                <a:ea typeface="맑은 고딕"/>
                <a:cs typeface="맑은 고딕"/>
              </a:rPr>
              <a:t>실제 대상: 유온 센서</a:t>
            </a:r>
          </a:p>
        </p:txBody>
      </p:sp>
      <p:sp>
        <p:nvSpPr>
          <p:cNvPr id="15" name="TextBox 14"/>
          <p:cNvSpPr txBox="1"/>
          <p:nvPr/>
        </p:nvSpPr>
        <p:spPr>
          <a:xfrm>
            <a:off x="9248691" y="3660434"/>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물리량(상태 변수)</a:t>
            </a:r>
          </a:p>
          <a:p>
            <a:pPr algn="ctr">
              <a:lnSpc>
                <a:spcPct val="110000"/>
              </a:lnSpc>
              <a:spcAft>
                <a:spcPts val="100"/>
              </a:spcAft>
            </a:pPr>
            <a:r>
              <a:rPr sz="1100" b="0">
                <a:solidFill>
                  <a:srgbClr val="556175"/>
                </a:solidFill>
                <a:latin typeface="맑은 고딕"/>
                <a:ea typeface="맑은 고딕"/>
                <a:cs typeface="맑은 고딕"/>
              </a:rPr>
              <a:t>실제 대상: 유온</a:t>
            </a:r>
          </a:p>
        </p:txBody>
      </p:sp>
      <p:sp>
        <p:nvSpPr>
          <p:cNvPr id="16" name="TextBox 15"/>
          <p:cNvSpPr txBox="1"/>
          <p:nvPr/>
        </p:nvSpPr>
        <p:spPr>
          <a:xfrm>
            <a:off x="5877657" y="5031394"/>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교체 부품</a:t>
            </a:r>
          </a:p>
          <a:p>
            <a:pPr algn="ctr">
              <a:lnSpc>
                <a:spcPct val="110000"/>
              </a:lnSpc>
              <a:spcAft>
                <a:spcPts val="100"/>
              </a:spcAft>
            </a:pPr>
            <a:r>
              <a:rPr sz="1100" b="0">
                <a:solidFill>
                  <a:srgbClr val="556175"/>
                </a:solidFill>
                <a:latin typeface="맑은 고딕"/>
                <a:ea typeface="맑은 고딕"/>
                <a:cs typeface="맑은 고딕"/>
              </a:rPr>
              <a:t>실제 대상: 쿨러 코어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3: 속성을 정하고 자료형과 필수 여부를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질문에 쓰이는 값만 속성으로 적으며, 잰 값과 비교할 limit은 수로, 없으면 쓸 수 없는 값은 필수로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Asset         { id!  name!  code! }</a:t>
            </a:r>
          </a:p>
          <a:p>
            <a:pPr algn="l">
              <a:lnSpc>
                <a:spcPct val="110000"/>
              </a:lnSpc>
              <a:spcAft>
                <a:spcPts val="200"/>
              </a:spcAft>
            </a:pPr>
            <a:r>
              <a:rPr sz="1300" b="0">
                <a:solidFill>
                  <a:srgbClr val="E8EEF6"/>
                </a:solidFill>
                <a:latin typeface="Consolas"/>
                <a:ea typeface="맑은 고딕"/>
                <a:cs typeface="맑은 고딕"/>
              </a:rPr>
              <a:t>Component     { id!  name!  aliases }</a:t>
            </a:r>
          </a:p>
          <a:p>
            <a:pPr algn="l">
              <a:lnSpc>
                <a:spcPct val="110000"/>
              </a:lnSpc>
              <a:spcAft>
                <a:spcPts val="200"/>
              </a:spcAft>
            </a:pPr>
            <a:r>
              <a:rPr sz="1300" b="0">
                <a:solidFill>
                  <a:srgbClr val="E8EEF6"/>
                </a:solidFill>
                <a:latin typeface="Consolas"/>
                <a:ea typeface="맑은 고딕"/>
                <a:cs typeface="맑은 고딕"/>
              </a:rPr>
              <a:t>Sensor        { id!  name!  tag!  unit }</a:t>
            </a:r>
          </a:p>
          <a:p>
            <a:pPr algn="l">
              <a:lnSpc>
                <a:spcPct val="110000"/>
              </a:lnSpc>
              <a:spcAft>
                <a:spcPts val="200"/>
              </a:spcAft>
            </a:pPr>
            <a:r>
              <a:rPr sz="1300" b="0">
                <a:solidFill>
                  <a:srgbClr val="E8EEF6"/>
                </a:solidFill>
                <a:latin typeface="Consolas"/>
                <a:ea typeface="맑은 고딕"/>
                <a:cs typeface="맑은 고딕"/>
              </a:rPr>
              <a:t>StateVariable { id!  name!  unit!  limit }</a:t>
            </a:r>
          </a:p>
          <a:p>
            <a:pPr algn="l">
              <a:lnSpc>
                <a:spcPct val="110000"/>
              </a:lnSpc>
              <a:spcAft>
                <a:spcPts val="200"/>
              </a:spcAft>
            </a:pPr>
            <a:r>
              <a:rPr sz="1300" b="0">
                <a:solidFill>
                  <a:srgbClr val="E8EEF6"/>
                </a:solidFill>
                <a:latin typeface="Consolas"/>
                <a:ea typeface="맑은 고딕"/>
                <a:cs typeface="맑은 고딕"/>
              </a:rPr>
              <a:t>Part          { id!  name!  partNo }</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limit   : number</a:t>
            </a:r>
          </a:p>
          <a:p>
            <a:pPr algn="l">
              <a:lnSpc>
                <a:spcPct val="110000"/>
              </a:lnSpc>
              <a:spcAft>
                <a:spcPts val="200"/>
              </a:spcAft>
            </a:pPr>
            <a:r>
              <a:rPr sz="1300" b="0">
                <a:solidFill>
                  <a:srgbClr val="E8EEF6"/>
                </a:solidFill>
                <a:latin typeface="Consolas"/>
                <a:ea typeface="맑은 고딕"/>
                <a:cs typeface="맑은 고딕"/>
              </a:rPr>
              <a:t>aliases : string[]</a:t>
            </a:r>
          </a:p>
          <a:p>
            <a:pPr algn="l">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 string</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느낌표</a:t>
            </a:r>
          </a:p>
          <a:p>
            <a:pPr algn="l">
              <a:lnSpc>
                <a:spcPct val="110000"/>
              </a:lnSpc>
              <a:spcAft>
                <a:spcPts val="400"/>
              </a:spcAft>
            </a:pPr>
            <a:r>
              <a:rPr sz="1400" b="0">
                <a:solidFill>
                  <a:srgbClr val="1F2A3A"/>
                </a:solidFill>
                <a:latin typeface="맑은 고딕"/>
                <a:ea typeface="맑은 고딕"/>
                <a:cs typeface="맑은 고딕"/>
              </a:rPr>
              <a:t>필수 속성이다. id와 name은 모든 클래스에서 필수이다.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필수로 둔 것</a:t>
            </a:r>
          </a:p>
          <a:p>
            <a:pPr algn="l">
              <a:lnSpc>
                <a:spcPct val="110000"/>
              </a:lnSpc>
              <a:spcAft>
                <a:spcPts val="400"/>
              </a:spcAft>
            </a:pPr>
            <a:r>
              <a:rPr sz="1400" b="0">
                <a:solidFill>
                  <a:srgbClr val="1F2A3A"/>
                </a:solidFill>
                <a:latin typeface="맑은 고딕"/>
                <a:ea typeface="맑은 고딕"/>
                <a:cs typeface="맑은 고딕"/>
              </a:rPr>
              <a:t>설비의 code, 센서의 tag, 상태 변수의 unit은 없으면 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수로 둔 것</a:t>
            </a:r>
          </a:p>
          <a:p>
            <a:pPr algn="l">
              <a:lnSpc>
                <a:spcPct val="110000"/>
              </a:lnSpc>
              <a:spcAft>
                <a:spcPts val="400"/>
              </a:spcAft>
            </a:pPr>
            <a:r>
              <a:rPr sz="1400" b="0">
                <a:solidFill>
                  <a:srgbClr val="1F2A3A"/>
                </a:solidFill>
                <a:latin typeface="맑은 고딕"/>
                <a:ea typeface="맑은 고딕"/>
                <a:cs typeface="맑은 고딕"/>
              </a:rPr>
              <a:t>limit은 크기를 비교해야 하므로 number로 정한다.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4: 관계의 이름과 방향, 양 끝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넷은 질문 셋이 건너가는 길을 따라 놓였고, 이 네 줄이 연결의 유효성을 가리는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HAS_COMPONENT   Asset     -&gt; Component      1:N</a:t>
            </a:r>
          </a:p>
          <a:p>
            <a:pPr algn="l">
              <a:lnSpc>
                <a:spcPct val="110000"/>
              </a:lnSpc>
              <a:spcAft>
                <a:spcPts val="200"/>
              </a:spcAft>
            </a:pPr>
            <a:r>
              <a:rPr sz="1300" b="0">
                <a:solidFill>
                  <a:srgbClr val="E8EEF6"/>
                </a:solidFill>
                <a:latin typeface="Consolas"/>
                <a:ea typeface="맑은 고딕"/>
                <a:cs typeface="맑은 고딕"/>
              </a:rPr>
              <a:t>MONITORED_BY    Component -&gt; Sensor         N:M</a:t>
            </a:r>
          </a:p>
          <a:p>
            <a:pPr algn="l">
              <a:lnSpc>
                <a:spcPct val="110000"/>
              </a:lnSpc>
              <a:spcAft>
                <a:spcPts val="200"/>
              </a:spcAft>
            </a:pPr>
            <a:r>
              <a:rPr sz="1300" b="0">
                <a:solidFill>
                  <a:srgbClr val="E8EEF6"/>
                </a:solidFill>
                <a:latin typeface="Consolas"/>
                <a:ea typeface="맑은 고딕"/>
                <a:cs typeface="맑은 고딕"/>
              </a:rPr>
              <a:t>OBSERVES        Sensor    -&gt; StateVariable  N:1</a:t>
            </a:r>
          </a:p>
          <a:p>
            <a:pPr algn="l">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질문의 길</a:t>
            </a:r>
          </a:p>
          <a:p>
            <a:pPr algn="l">
              <a:lnSpc>
                <a:spcPct val="110000"/>
              </a:lnSpc>
              <a:spcAft>
                <a:spcPts val="400"/>
              </a:spcAft>
            </a:pPr>
            <a:r>
              <a:rPr sz="1400" b="0">
                <a:solidFill>
                  <a:srgbClr val="1F2A3A"/>
                </a:solidFill>
                <a:latin typeface="맑은 고딕"/>
                <a:ea typeface="맑은 고딕"/>
                <a:cs typeface="맑은 고딕"/>
              </a:rPr>
              <a:t>첫 질문은 설비에서 구성 요소를 거쳐 센서로, 둘째는 센서에서 상태 변수로, 셋째는 구성 요소에서 부품으로 건너간다.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양 끝</a:t>
            </a:r>
          </a:p>
          <a:p>
            <a:pPr algn="l">
              <a:lnSpc>
                <a:spcPct val="110000"/>
              </a:lnSpc>
              <a:spcAft>
                <a:spcPts val="400"/>
              </a:spcAft>
            </a:pPr>
            <a:r>
              <a:rPr sz="1400" b="0">
                <a:solidFill>
                  <a:srgbClr val="1F2A3A"/>
                </a:solidFill>
                <a:latin typeface="맑은 고딕"/>
                <a:ea typeface="맑은 고딕"/>
                <a:cs typeface="맑은 고딕"/>
              </a:rPr>
              <a:t>화살표 왼쪽이 시작 클래스이고 오른쪽이 끝 클래스이다.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카디널리티</a:t>
            </a:r>
          </a:p>
          <a:p>
            <a:pPr algn="l">
              <a:lnSpc>
                <a:spcPct val="110000"/>
              </a:lnSpc>
              <a:spcAft>
                <a:spcPts val="400"/>
              </a:spcAft>
            </a:pPr>
            <a:r>
              <a:rPr sz="1400" b="0">
                <a:solidFill>
                  <a:srgbClr val="1F2A3A"/>
                </a:solidFill>
                <a:latin typeface="맑은 고딕"/>
                <a:ea typeface="맑은 고딕"/>
                <a:cs typeface="맑은 고딕"/>
              </a:rPr>
              <a:t>구성 요소 하나를 여러 센서가 재고, 센서 하나가 여러 구성 요소를 잴 수 있으므로 MONITORED_BY는 다대다이다.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완성된 스키마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다섯과 속성, 관계 넷을 한데 놓은 것이 오일 쿨러 사례의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pic>
        <p:nvPicPr>
          <p:cNvPr id="6" name="삽화:설계_4.svg" descr="illust_407700684828831149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48380"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723032"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597684"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66881"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3723032" y="4719382"/>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902927" y="2573121"/>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code</a:t>
            </a:r>
          </a:p>
        </p:txBody>
      </p:sp>
      <p:sp>
        <p:nvSpPr>
          <p:cNvPr id="13" name="TextBox 12"/>
          <p:cNvSpPr txBox="1"/>
          <p:nvPr/>
        </p:nvSpPr>
        <p:spPr>
          <a:xfrm>
            <a:off x="3777579" y="2573121"/>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aliases</a:t>
            </a:r>
          </a:p>
        </p:txBody>
      </p:sp>
      <p:sp>
        <p:nvSpPr>
          <p:cNvPr id="14" name="TextBox 13"/>
          <p:cNvSpPr txBox="1"/>
          <p:nvPr/>
        </p:nvSpPr>
        <p:spPr>
          <a:xfrm>
            <a:off x="6652231" y="2573121"/>
            <a:ext cx="174551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tag</a:t>
            </a:r>
          </a:p>
          <a:p>
            <a:pPr algn="ctr">
              <a:lnSpc>
                <a:spcPct val="110000"/>
              </a:lnSpc>
              <a:spcAft>
                <a:spcPts val="100"/>
              </a:spcAft>
            </a:pPr>
            <a:r>
              <a:rPr sz="1100" b="0">
                <a:solidFill>
                  <a:srgbClr val="556175"/>
                </a:solidFill>
                <a:latin typeface="맑은 고딕"/>
                <a:ea typeface="맑은 고딕"/>
                <a:cs typeface="맑은 고딕"/>
              </a:rPr>
              <a:t>unit</a:t>
            </a:r>
          </a:p>
        </p:txBody>
      </p:sp>
      <p:sp>
        <p:nvSpPr>
          <p:cNvPr id="15" name="TextBox 14"/>
          <p:cNvSpPr txBox="1"/>
          <p:nvPr/>
        </p:nvSpPr>
        <p:spPr>
          <a:xfrm>
            <a:off x="9521429" y="2573121"/>
            <a:ext cx="174551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unit</a:t>
            </a:r>
          </a:p>
          <a:p>
            <a:pPr algn="ctr">
              <a:lnSpc>
                <a:spcPct val="110000"/>
              </a:lnSpc>
              <a:spcAft>
                <a:spcPts val="100"/>
              </a:spcAft>
            </a:pPr>
            <a:r>
              <a:rPr sz="1100" b="0">
                <a:solidFill>
                  <a:srgbClr val="556175"/>
                </a:solidFill>
                <a:latin typeface="맑은 고딕"/>
                <a:ea typeface="맑은 고딕"/>
                <a:cs typeface="맑은 고딕"/>
              </a:rPr>
              <a:t>limit</a:t>
            </a:r>
          </a:p>
        </p:txBody>
      </p:sp>
      <p:sp>
        <p:nvSpPr>
          <p:cNvPr id="16" name="TextBox 15"/>
          <p:cNvSpPr txBox="1"/>
          <p:nvPr/>
        </p:nvSpPr>
        <p:spPr>
          <a:xfrm>
            <a:off x="3777579" y="5211037"/>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partNo</a:t>
            </a:r>
          </a:p>
        </p:txBody>
      </p:sp>
      <p:sp>
        <p:nvSpPr>
          <p:cNvPr id="17" name="TextBox 16"/>
          <p:cNvSpPr txBox="1"/>
          <p:nvPr/>
        </p:nvSpPr>
        <p:spPr>
          <a:xfrm>
            <a:off x="2342981" y="3589522"/>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8" name="TextBox 17"/>
          <p:cNvSpPr txBox="1"/>
          <p:nvPr/>
        </p:nvSpPr>
        <p:spPr>
          <a:xfrm>
            <a:off x="5266725" y="3589522"/>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9" name="TextBox 18"/>
          <p:cNvSpPr txBox="1"/>
          <p:nvPr/>
        </p:nvSpPr>
        <p:spPr>
          <a:xfrm>
            <a:off x="8195925" y="358952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20" name="TextBox 19"/>
          <p:cNvSpPr txBox="1"/>
          <p:nvPr/>
        </p:nvSpPr>
        <p:spPr>
          <a:xfrm>
            <a:off x="4786708" y="410954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USES_PART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인스턴스를 넣는다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스키마에 맞춰 예시 인스턴스와 그 사이의 관계를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예시인스턴스.svg" descr="illust_828976935720171275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2289474"/>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750306" y="2289474"/>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6368584" y="228947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Sensor · tag: TS1</a:t>
            </a:r>
          </a:p>
        </p:txBody>
      </p:sp>
      <p:sp>
        <p:nvSpPr>
          <p:cNvPr id="10" name="TextBox 9"/>
          <p:cNvSpPr txBox="1"/>
          <p:nvPr/>
        </p:nvSpPr>
        <p:spPr>
          <a:xfrm>
            <a:off x="8986863" y="2289474"/>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StateVariable · limit: 65</a:t>
            </a:r>
          </a:p>
        </p:txBody>
      </p:sp>
      <p:sp>
        <p:nvSpPr>
          <p:cNvPr id="11" name="TextBox 10"/>
          <p:cNvSpPr txBox="1"/>
          <p:nvPr/>
        </p:nvSpPr>
        <p:spPr>
          <a:xfrm>
            <a:off x="2277524" y="3565885"/>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2" name="TextBox 11"/>
          <p:cNvSpPr txBox="1"/>
          <p:nvPr/>
        </p:nvSpPr>
        <p:spPr>
          <a:xfrm>
            <a:off x="5113993" y="3565885"/>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3" name="TextBox 12"/>
          <p:cNvSpPr txBox="1"/>
          <p:nvPr/>
        </p:nvSpPr>
        <p:spPr>
          <a:xfrm>
            <a:off x="8059556" y="3565885"/>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4" name="TextBox 13"/>
          <p:cNvSpPr txBox="1"/>
          <p:nvPr/>
        </p:nvSpPr>
        <p:spPr>
          <a:xfrm>
            <a:off x="4841255" y="439318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USES_PART</a:t>
            </a:r>
          </a:p>
        </p:txBody>
      </p:sp>
      <p:sp>
        <p:nvSpPr>
          <p:cNvPr id="15" name="TextBox 14"/>
          <p:cNvSpPr txBox="1"/>
          <p:nvPr/>
        </p:nvSpPr>
        <p:spPr>
          <a:xfrm>
            <a:off x="5386730" y="533867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처음의 질문에 답이 나오는지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관계를 따라가 처음에 적은 질문의 답이 나오면 스키마가 제 구실을 하는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HYD-01</a:t>
            </a:r>
          </a:p>
          <a:p>
            <a:pPr algn="ctr">
              <a:lnSpc>
                <a:spcPct val="110000"/>
              </a:lnSpc>
              <a:spcAft>
                <a:spcPts val="400"/>
              </a:spcAft>
            </a:pPr>
            <a:r>
              <a:rPr sz="1350" b="0">
                <a:solidFill>
                  <a:srgbClr val="1F2A3A"/>
                </a:solidFill>
                <a:latin typeface="맑은 고딕"/>
                <a:ea typeface="맑은 고딕"/>
                <a:cs typeface="맑은 고딕"/>
              </a:rPr>
              <a:t>설비에서</a:t>
            </a:r>
          </a:p>
          <a:p>
            <a:pPr algn="ctr">
              <a:lnSpc>
                <a:spcPct val="110000"/>
              </a:lnSpc>
              <a:spcAft>
                <a:spcPts val="400"/>
              </a:spcAft>
            </a:pPr>
            <a:r>
              <a:rPr sz="1350" b="0">
                <a:solidFill>
                  <a:srgbClr val="1F2A3A"/>
                </a:solidFill>
                <a:latin typeface="맑은 고딕"/>
                <a:ea typeface="맑은 고딕"/>
                <a:cs typeface="맑은 고딕"/>
              </a:rPr>
              <a:t>출발한다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snowflake" descr="snowflake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오일 쿨러</a:t>
            </a:r>
          </a:p>
          <a:p>
            <a:pPr algn="ctr">
              <a:lnSpc>
                <a:spcPct val="110000"/>
              </a:lnSpc>
              <a:spcAft>
                <a:spcPts val="400"/>
              </a:spcAft>
            </a:pPr>
            <a:r>
              <a:rPr sz="1350" b="0">
                <a:solidFill>
                  <a:srgbClr val="1F2A3A"/>
                </a:solidFill>
                <a:latin typeface="맑은 고딕"/>
                <a:ea typeface="맑은 고딕"/>
                <a:cs typeface="맑은 고딕"/>
              </a:rPr>
              <a:t>HAS_COMPONENT를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USES_PART로는 쿨러 코어:</a:t>
            </a:r>
          </a:p>
          <a:p>
            <a:pPr algn="ctr">
              <a:lnSpc>
                <a:spcPct val="110000"/>
              </a:lnSpc>
              <a:spcAft>
                <a:spcPts val="400"/>
              </a:spcAft>
            </a:pPr>
            <a:r>
              <a:rPr sz="1350" b="0">
                <a:solidFill>
                  <a:srgbClr val="1F2A3A"/>
                </a:solidFill>
                <a:latin typeface="맑은 고딕"/>
                <a:ea typeface="맑은 고딕"/>
                <a:cs typeface="맑은 고딕"/>
              </a:rPr>
              <a:t>질문 3의 답</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gauge" descr="gauge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유온 센서 TS1</a:t>
            </a:r>
          </a:p>
          <a:p>
            <a:pPr algn="ctr">
              <a:lnSpc>
                <a:spcPct val="110000"/>
              </a:lnSpc>
              <a:spcAft>
                <a:spcPts val="400"/>
              </a:spcAft>
            </a:pPr>
            <a:r>
              <a:rPr sz="1350" b="0">
                <a:solidFill>
                  <a:srgbClr val="1F2A3A"/>
                </a:solidFill>
                <a:latin typeface="맑은 고딕"/>
                <a:ea typeface="맑은 고딕"/>
                <a:cs typeface="맑은 고딕"/>
              </a:rPr>
              <a:t>MONITORED_BY를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질문 1의 답</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temperature" descr="temperature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유온의 한계 65</a:t>
            </a:r>
          </a:p>
          <a:p>
            <a:pPr algn="ctr">
              <a:lnSpc>
                <a:spcPct val="110000"/>
              </a:lnSpc>
              <a:spcAft>
                <a:spcPts val="400"/>
              </a:spcAft>
            </a:pPr>
            <a:r>
              <a:rPr sz="1350" b="0">
                <a:solidFill>
                  <a:srgbClr val="1F2A3A"/>
                </a:solidFill>
                <a:latin typeface="맑은 고딕"/>
                <a:ea typeface="맑은 고딕"/>
                <a:cs typeface="맑은 고딕"/>
              </a:rPr>
              <a:t>OBSERVES를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질문 2의 답</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질문이 늘 때: 스키마를 넓힌다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질문에 답할 수 없으면 빠진 클래스와 관계를 찾아 스키마에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질문</a:t>
            </a:r>
          </a:p>
          <a:p>
            <a:pPr algn="ctr">
              <a:lnSpc>
                <a:spcPct val="110000"/>
              </a:lnSpc>
              <a:spcAft>
                <a:spcPts val="400"/>
              </a:spcAft>
            </a:pPr>
            <a:r>
              <a:rPr sz="1350" b="0">
                <a:solidFill>
                  <a:srgbClr val="1F2A3A"/>
                </a:solidFill>
                <a:latin typeface="맑은 고딕"/>
                <a:ea typeface="맑은 고딕"/>
                <a:cs typeface="맑은 고딕"/>
              </a:rPr>
              <a:t>쿨러 코어를</a:t>
            </a:r>
          </a:p>
          <a:p>
            <a:pPr algn="ctr">
              <a:lnSpc>
                <a:spcPct val="110000"/>
              </a:lnSpc>
              <a:spcAft>
                <a:spcPts val="400"/>
              </a:spcAft>
            </a:pPr>
            <a:r>
              <a:rPr sz="1350" b="0">
                <a:solidFill>
                  <a:srgbClr val="1F2A3A"/>
                </a:solidFill>
                <a:latin typeface="맑은 고딕"/>
                <a:ea typeface="맑은 고딕"/>
                <a:cs typeface="맑은 고딕"/>
              </a:rPr>
              <a:t>공급하는 곳은</a:t>
            </a:r>
          </a:p>
          <a:p>
            <a:pPr algn="ctr">
              <a:lnSpc>
                <a:spcPct val="110000"/>
              </a:lnSpc>
              <a:spcAft>
                <a:spcPts val="400"/>
              </a:spcAft>
            </a:pPr>
            <a:r>
              <a:rPr sz="1350" b="0">
                <a:solidFill>
                  <a:srgbClr val="1F2A3A"/>
                </a:solidFill>
                <a:latin typeface="맑은 고딕"/>
                <a:ea typeface="맑은 고딕"/>
                <a:cs typeface="맑은 고딕"/>
              </a:rPr>
              <a:t>어디인가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것</a:t>
            </a:r>
          </a:p>
          <a:p>
            <a:pPr algn="ctr">
              <a:lnSpc>
                <a:spcPct val="110000"/>
              </a:lnSpc>
              <a:spcAft>
                <a:spcPts val="400"/>
              </a:spcAft>
            </a:pPr>
            <a:r>
              <a:rPr sz="1350" b="0">
                <a:solidFill>
                  <a:srgbClr val="1F2A3A"/>
                </a:solidFill>
                <a:latin typeface="맑은 고딕"/>
                <a:ea typeface="맑은 고딕"/>
                <a:cs typeface="맑은 고딕"/>
              </a:rPr>
              <a:t>공급하는 곳을</a:t>
            </a:r>
          </a:p>
          <a:p>
            <a:pPr algn="ctr">
              <a:lnSpc>
                <a:spcPct val="110000"/>
              </a:lnSpc>
              <a:spcAft>
                <a:spcPts val="400"/>
              </a:spcAft>
            </a:pPr>
            <a:r>
              <a:rPr sz="1350" b="0">
                <a:solidFill>
                  <a:srgbClr val="1F2A3A"/>
                </a:solidFill>
                <a:latin typeface="맑은 고딕"/>
                <a:ea typeface="맑은 고딕"/>
                <a:cs typeface="맑은 고딕"/>
              </a:rPr>
              <a:t>가리키는 클래스와</a:t>
            </a:r>
          </a:p>
          <a:p>
            <a:pPr algn="ctr">
              <a:lnSpc>
                <a:spcPct val="110000"/>
              </a:lnSpc>
              <a:spcAft>
                <a:spcPts val="400"/>
              </a:spcAft>
            </a:pPr>
            <a:r>
              <a:rPr sz="1350" b="0">
                <a:solidFill>
                  <a:srgbClr val="1F2A3A"/>
                </a:solidFill>
                <a:latin typeface="맑은 고딕"/>
                <a:ea typeface="맑은 고딕"/>
                <a:cs typeface="맑은 고딕"/>
              </a:rPr>
              <a:t>관계가 없다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circle-plus" descr="circle-plus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더한 것</a:t>
            </a:r>
          </a:p>
          <a:p>
            <a:pPr algn="ctr">
              <a:lnSpc>
                <a:spcPct val="110000"/>
              </a:lnSpc>
              <a:spcAft>
                <a:spcPts val="400"/>
              </a:spcAft>
            </a:pPr>
            <a:r>
              <a:rPr sz="1350" b="0">
                <a:solidFill>
                  <a:srgbClr val="1F2A3A"/>
                </a:solidFill>
                <a:latin typeface="맑은 고딕"/>
                <a:ea typeface="맑은 고딕"/>
                <a:cs typeface="맑은 고딕"/>
              </a:rPr>
              <a:t>클래스 Supplier</a:t>
            </a:r>
          </a:p>
          <a:p>
            <a:pPr algn="ctr">
              <a:lnSpc>
                <a:spcPct val="110000"/>
              </a:lnSpc>
              <a:spcAft>
                <a:spcPts val="400"/>
              </a:spcAft>
            </a:pPr>
            <a:r>
              <a:rPr sz="1350" b="0">
                <a:solidFill>
                  <a:srgbClr val="1F2A3A"/>
                </a:solidFill>
                <a:latin typeface="맑은 고딕"/>
                <a:ea typeface="맑은 고딕"/>
                <a:cs typeface="맑은 고딕"/>
              </a:rPr>
              <a:t>관계 SUPPLIED_BY</a:t>
            </a:r>
          </a:p>
          <a:p>
            <a:pPr algn="ctr">
              <a:lnSpc>
                <a:spcPct val="110000"/>
              </a:lnSpc>
              <a:spcAft>
                <a:spcPts val="400"/>
              </a:spcAft>
            </a:pPr>
            <a:r>
              <a:rPr sz="1350" b="0">
                <a:solidFill>
                  <a:srgbClr val="1F2A3A"/>
                </a:solidFill>
                <a:latin typeface="맑은 고딕"/>
                <a:ea typeface="맑은 고딕"/>
                <a:cs typeface="맑은 고딕"/>
              </a:rPr>
              <a:t>Part → Supplier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온톨로지의 클래스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온톨로지에는 설비, 진단, 판단, 성과에 해당하는 클래스가 같은 방식으로 정의되어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1975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a:t>
            </a:r>
          </a:p>
          <a:p>
            <a:pPr algn="l">
              <a:lnSpc>
                <a:spcPct val="110000"/>
              </a:lnSpc>
              <a:spcAft>
                <a:spcPts val="400"/>
              </a:spcAft>
            </a:pPr>
            <a:r>
              <a:rPr sz="13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134356"/>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34356"/>
            <a:ext cx="1935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진단</a:t>
            </a:r>
          </a:p>
          <a:p>
            <a:pPr algn="l">
              <a:lnSpc>
                <a:spcPct val="110000"/>
              </a:lnSpc>
              <a:spcAft>
                <a:spcPts val="400"/>
              </a:spcAft>
            </a:pPr>
            <a:r>
              <a:rPr sz="13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134356"/>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a:t>
            </a:r>
          </a:p>
          <a:p>
            <a:pPr algn="l">
              <a:lnSpc>
                <a:spcPct val="110000"/>
              </a:lnSpc>
              <a:spcAft>
                <a:spcPts val="400"/>
              </a:spcAft>
            </a:pPr>
            <a:r>
              <a:rPr sz="1350" b="0">
                <a:solidFill>
                  <a:srgbClr val="1F2A3A"/>
                </a:solidFill>
                <a:latin typeface="맑은 고딕"/>
                <a:ea typeface="맑은 고딕"/>
                <a:cs typeface="맑은 고딕"/>
              </a:rPr>
              <a:t>Skill, Decision, Rule 등 조치 방법과 판단 규칙의 클래스</a:t>
            </a:r>
          </a:p>
        </p:txBody>
      </p:sp>
      <p:sp>
        <p:nvSpPr>
          <p:cNvPr id="22" name="Rounded Rectangle 21"/>
          <p:cNvSpPr/>
          <p:nvPr/>
        </p:nvSpPr>
        <p:spPr>
          <a:xfrm>
            <a:off x="6461607" y="513435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a:t>
            </a:r>
          </a:p>
          <a:p>
            <a:pPr algn="l">
              <a:lnSpc>
                <a:spcPct val="110000"/>
              </a:lnSpc>
              <a:spcAft>
                <a:spcPts val="400"/>
              </a:spcAft>
            </a:pPr>
            <a:r>
              <a:rPr sz="1350" b="0">
                <a:solidFill>
                  <a:srgbClr val="1F2A3A"/>
                </a:solidFill>
                <a:latin typeface="맑은 고딕"/>
                <a:ea typeface="맑은 고딕"/>
                <a:cs typeface="맑은 고딕"/>
              </a:rPr>
              <a:t>Objective, Measure 등 목표와 성과 지표의 클래스</a:t>
            </a:r>
          </a:p>
        </p:txBody>
      </p:sp>
      <p:sp>
        <p:nvSpPr>
          <p:cNvPr id="28" name="Rounded Rectangle 27"/>
          <p:cNvSpPr/>
          <p:nvPr/>
        </p:nvSpPr>
        <p:spPr>
          <a:xfrm>
            <a:off x="9303791" y="5134356"/>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세 문제와 스키마의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스키마의 정의 하나하나가 정의 없이 넣은 데이터의 세 문제를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대상이 여러 노드가 된다</a:t>
            </a:r>
          </a:p>
          <a:p>
            <a:pPr algn="l">
              <a:lnSpc>
                <a:spcPct val="110000"/>
              </a:lnSpc>
              <a:spcAft>
                <a:spcPts val="200"/>
              </a:spcAft>
            </a:pPr>
            <a:r>
              <a:rPr sz="1150" b="0">
                <a:solidFill>
                  <a:srgbClr val="556175"/>
                </a:solidFill>
                <a:latin typeface="맑은 고딕"/>
                <a:ea typeface="맑은 고딕"/>
                <a:cs typeface="맑은 고딕"/>
              </a:rPr>
              <a:t>식별자 · 별칭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식별자 하나에 이름 하나와 별칭 목록을 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관계가 어긋난다</a:t>
            </a:r>
          </a:p>
          <a:p>
            <a:pPr algn="l">
              <a:lnSpc>
                <a:spcPct val="110000"/>
              </a:lnSpc>
              <a:spcAft>
                <a:spcPts val="200"/>
              </a:spcAft>
            </a:pPr>
            <a:r>
              <a:rPr sz="1150" b="0">
                <a:solidFill>
                  <a:srgbClr val="556175"/>
                </a:solidFill>
                <a:latin typeface="맑은 고딕"/>
                <a:ea typeface="맑은 고딕"/>
                <a:cs typeface="맑은 고딕"/>
              </a:rPr>
              <a:t>관계 정의</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관계의 이름과 방향, 양 끝의 클래스를 정의한다.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값의 형식이 제각각이다</a:t>
            </a:r>
          </a:p>
          <a:p>
            <a:pPr algn="l">
              <a:lnSpc>
                <a:spcPct val="110000"/>
              </a:lnSpc>
              <a:spcAft>
                <a:spcPts val="200"/>
              </a:spcAft>
            </a:pPr>
            <a:r>
              <a:rPr sz="1150" b="0">
                <a:solidFill>
                  <a:srgbClr val="556175"/>
                </a:solidFill>
                <a:latin typeface="맑은 고딕"/>
                <a:ea typeface="맑은 고딕"/>
                <a:cs typeface="맑은 고딕"/>
              </a:rPr>
              <a:t>속성 정의</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속성마다 자료형과 필수 여부를 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그래프 DB와 Cypher</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연결된 지식을 노드와 관계로 저장하고 관계를 따라 조회하는 방법</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관계형 DB: 테이블, 행, 조인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관계형 DB에서 부품의 공급사를 찾으려면 두 테이블에서 part_no 값이 같은 행을 맞추어 이어야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조인_1.svg" descr="illust_129815134662562466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066570"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2615718"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066570"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1" name="TextBox 10"/>
          <p:cNvSpPr txBox="1"/>
          <p:nvPr/>
        </p:nvSpPr>
        <p:spPr>
          <a:xfrm>
            <a:off x="2615718"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
        <p:nvSpPr>
          <p:cNvPr id="12" name="TextBox 11"/>
          <p:cNvSpPr txBox="1"/>
          <p:nvPr/>
        </p:nvSpPr>
        <p:spPr>
          <a:xfrm>
            <a:off x="1066570"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13" name="TextBox 12"/>
          <p:cNvSpPr txBox="1"/>
          <p:nvPr/>
        </p:nvSpPr>
        <p:spPr>
          <a:xfrm>
            <a:off x="2615718"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14" name="TextBox 13"/>
          <p:cNvSpPr txBox="1"/>
          <p:nvPr/>
        </p:nvSpPr>
        <p:spPr>
          <a:xfrm>
            <a:off x="1066570"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sup:a</a:t>
            </a:r>
          </a:p>
        </p:txBody>
      </p:sp>
      <p:sp>
        <p:nvSpPr>
          <p:cNvPr id="15" name="TextBox 14"/>
          <p:cNvSpPr txBox="1"/>
          <p:nvPr/>
        </p:nvSpPr>
        <p:spPr>
          <a:xfrm>
            <a:off x="2615718"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066570"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sup:b</a:t>
            </a:r>
          </a:p>
        </p:txBody>
      </p:sp>
      <p:sp>
        <p:nvSpPr>
          <p:cNvPr id="17" name="TextBox 16"/>
          <p:cNvSpPr txBox="1"/>
          <p:nvPr/>
        </p:nvSpPr>
        <p:spPr>
          <a:xfrm>
            <a:off x="2615718"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8" name="TextBox 1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19" name="TextBox 18"/>
          <p:cNvSpPr txBox="1"/>
          <p:nvPr/>
        </p:nvSpPr>
        <p:spPr>
          <a:xfrm>
            <a:off x="3586663" y="3471336"/>
            <a:ext cx="2290993"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조인(JOIN)</a:t>
            </a:r>
          </a:p>
          <a:p>
            <a:pPr algn="ctr">
              <a:lnSpc>
                <a:spcPct val="110000"/>
              </a:lnSpc>
              <a:spcAft>
                <a:spcPts val="100"/>
              </a:spcAft>
            </a:pPr>
            <a:r>
              <a:rPr sz="1100" b="0">
                <a:solidFill>
                  <a:srgbClr val="556175"/>
                </a:solidFill>
                <a:latin typeface="맑은 고딕"/>
                <a:ea typeface="맑은 고딕"/>
                <a:cs typeface="맑은 고딕"/>
              </a:rPr>
              <a:t>part_no 값이 같은 행끼리</a:t>
            </a:r>
          </a:p>
          <a:p>
            <a:pPr algn="ctr">
              <a:lnSpc>
                <a:spcPct val="110000"/>
              </a:lnSpc>
              <a:spcAft>
                <a:spcPts val="100"/>
              </a:spcAft>
            </a:pPr>
            <a:r>
              <a:rPr sz="1100" b="0">
                <a:solidFill>
                  <a:srgbClr val="556175"/>
                </a:solidFill>
                <a:latin typeface="맑은 고딕"/>
                <a:ea typeface="맑은 고딕"/>
                <a:cs typeface="맑은 고딕"/>
              </a:rPr>
              <a:t>맞추어 잇는다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 저장된 관계를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관계 자체를 데이터로 저장하므로 쿨러 코어에서 SUPPLIED_BY를 따라가면 공급사에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조인_2.svg" descr="illust_900681460212093134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9" name="TextBox 8"/>
          <p:cNvSpPr txBox="1"/>
          <p:nvPr/>
        </p:nvSpPr>
        <p:spPr>
          <a:xfrm>
            <a:off x="7950461" y="2005827"/>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SUPPLIED_BY</a:t>
            </a:r>
          </a:p>
        </p:txBody>
      </p:sp>
      <p:sp>
        <p:nvSpPr>
          <p:cNvPr id="10" name="TextBox 9"/>
          <p:cNvSpPr txBox="1"/>
          <p:nvPr/>
        </p:nvSpPr>
        <p:spPr>
          <a:xfrm>
            <a:off x="6674050" y="4629561"/>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
        <p:nvSpPr>
          <p:cNvPr id="11" name="TextBox 10"/>
          <p:cNvSpPr txBox="1"/>
          <p:nvPr/>
        </p:nvSpPr>
        <p:spPr>
          <a:xfrm>
            <a:off x="9510519" y="349970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A정밀</a:t>
            </a:r>
          </a:p>
          <a:p>
            <a:pPr algn="ctr">
              <a:lnSpc>
                <a:spcPct val="110000"/>
              </a:lnSpc>
              <a:spcAft>
                <a:spcPts val="100"/>
              </a:spcAft>
            </a:pPr>
            <a:r>
              <a:rPr sz="1100" b="0">
                <a:solidFill>
                  <a:srgbClr val="556175"/>
                </a:solidFill>
                <a:latin typeface="맑은 고딕"/>
                <a:ea typeface="맑은 고딕"/>
                <a:cs typeface="맑은 고딕"/>
              </a:rPr>
              <a:t>Supplier</a:t>
            </a:r>
          </a:p>
        </p:txBody>
      </p:sp>
      <p:sp>
        <p:nvSpPr>
          <p:cNvPr id="12" name="TextBox 11"/>
          <p:cNvSpPr txBox="1"/>
          <p:nvPr/>
        </p:nvSpPr>
        <p:spPr>
          <a:xfrm>
            <a:off x="9510519" y="5504139"/>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B-OEM</a:t>
            </a:r>
          </a:p>
          <a:p>
            <a:pPr algn="ctr">
              <a:lnSpc>
                <a:spcPct val="110000"/>
              </a:lnSpc>
              <a:spcAft>
                <a:spcPts val="100"/>
              </a:spcAft>
            </a:pPr>
            <a:r>
              <a:rPr sz="1100" b="0">
                <a:solidFill>
                  <a:srgbClr val="556175"/>
                </a:solidFill>
                <a:latin typeface="맑은 고딕"/>
                <a:ea typeface="맑은 고딕"/>
                <a:cs typeface="맑은 고딕"/>
              </a:rPr>
              <a:t>Supplier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DB의 쓰임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모양의 값을 많이 쌓는 일은 관계형 DB가, 연결을 여러 단계 따라가는 일은 그래프 DB가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관계형 DB</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테이블 · 행 · 조인</a:t>
            </a:r>
          </a:p>
          <a:p>
            <a:pPr algn="l">
              <a:lnSpc>
                <a:spcPct val="110000"/>
              </a:lnSpc>
              <a:spcAft>
                <a:spcPts val="600"/>
              </a:spcAft>
            </a:pPr>
            <a:r>
              <a:rPr sz="1450" b="0">
                <a:solidFill>
                  <a:srgbClr val="1F2A3A"/>
                </a:solidFill>
                <a:latin typeface="맑은 고딕"/>
                <a:ea typeface="맑은 고딕"/>
                <a:cs typeface="맑은 고딕"/>
              </a:rPr>
              <a:t>• 같은 모양의 데이터를 쌓고 집계한다</a:t>
            </a:r>
          </a:p>
          <a:p>
            <a:pPr algn="l">
              <a:lnSpc>
                <a:spcPct val="110000"/>
              </a:lnSpc>
              <a:spcAft>
                <a:spcPts val="600"/>
              </a:spcAft>
            </a:pPr>
            <a:r>
              <a:rPr sz="1450" b="0">
                <a:solidFill>
                  <a:srgbClr val="1F2A3A"/>
                </a:solidFill>
                <a:latin typeface="맑은 고딕"/>
                <a:ea typeface="맑은 고딕"/>
                <a:cs typeface="맑은 고딕"/>
              </a:rPr>
              <a:t>• 예: 매초 쌓이는 유온 값의 표 tag_1s</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그래프 DB</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노드 · 관계 · 속성</a:t>
            </a:r>
          </a:p>
          <a:p>
            <a:pPr algn="l">
              <a:lnSpc>
                <a:spcPct val="110000"/>
              </a:lnSpc>
              <a:spcAft>
                <a:spcPts val="600"/>
              </a:spcAft>
            </a:pPr>
            <a:r>
              <a:rPr sz="1450" b="0">
                <a:solidFill>
                  <a:srgbClr val="1F2A3A"/>
                </a:solidFill>
                <a:latin typeface="맑은 고딕"/>
                <a:ea typeface="맑은 고딕"/>
                <a:cs typeface="맑은 고딕"/>
              </a:rPr>
              <a:t>• 연결을 여러 단계 따라간다</a:t>
            </a:r>
          </a:p>
          <a:p>
            <a:pPr algn="l">
              <a:lnSpc>
                <a:spcPct val="110000"/>
              </a:lnSpc>
              <a:spcAft>
                <a:spcPts val="600"/>
              </a:spcAft>
            </a:pPr>
            <a:r>
              <a:rPr sz="1450" b="0">
                <a:solidFill>
                  <a:srgbClr val="1F2A3A"/>
                </a:solidFill>
                <a:latin typeface="맑은 고딕"/>
                <a:ea typeface="맑은 고딕"/>
                <a:cs typeface="맑은 고딕"/>
              </a:rPr>
              <a:t>• 예: 설비에서 구성 요소, 센서, 상태 변수까지</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뜻과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속성그래프_3.svg" descr="illust_593078516841022786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스키마와 Neo4j의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 스키마의 정의는 Neo4j에서 레이블, 관계 유형, 속성, DB 제약으로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온톨로지 스키마</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Neo4j</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예</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레이블</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노드와 관계의 속성</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관계 유형</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 유형</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:OBSERVES</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상위 · 하위 클래스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노드에 레이블 둘</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:Task:FlowNode</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식별자의 고유성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DB 제약</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id의 유일 제약</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DB 제약: 저장할 때 데이터베이스가 검사하는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데이터를 저장하는 순간에 데이터베이스가 직접 검사하는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DB 제약</a:t>
            </a:r>
          </a:p>
          <a:p>
            <a:pPr algn="l">
              <a:lnSpc>
                <a:spcPct val="110000"/>
              </a:lnSpc>
              <a:spcAft>
                <a:spcPts val="200"/>
              </a:spcAft>
            </a:pPr>
            <a:r>
              <a:rPr sz="1150" b="0">
                <a:solidFill>
                  <a:srgbClr val="556175"/>
                </a:solidFill>
                <a:latin typeface="맑은 고딕"/>
                <a:ea typeface="맑은 고딕"/>
                <a:cs typeface="맑은 고딕"/>
              </a:rPr>
              <a:t>Constraint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스키마의 제약 가운데 데이터베이스에 걸어 둔 것이다.</a:t>
            </a:r>
          </a:p>
          <a:p>
            <a:pPr algn="l">
              <a:lnSpc>
                <a:spcPct val="110000"/>
              </a:lnSpc>
              <a:spcAft>
                <a:spcPts val="300"/>
              </a:spcAft>
            </a:pPr>
            <a:r>
              <a:rPr sz="1400" b="0">
                <a:solidFill>
                  <a:srgbClr val="1F2A3A"/>
                </a:solidFill>
                <a:latin typeface="맑은 고딕"/>
                <a:ea typeface="맑은 고딕"/>
                <a:cs typeface="맑은 고딕"/>
              </a:rPr>
              <a:t>조건에 어긋나는 데이터는 저장되지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유일 제약</a:t>
            </a:r>
          </a:p>
          <a:p>
            <a:pPr algn="l">
              <a:lnSpc>
                <a:spcPct val="110000"/>
              </a:lnSpc>
              <a:spcAft>
                <a:spcPts val="200"/>
              </a:spcAft>
            </a:pPr>
            <a:r>
              <a:rPr sz="1150" b="0">
                <a:solidFill>
                  <a:srgbClr val="556175"/>
                </a:solidFill>
                <a:latin typeface="맑은 고딕"/>
                <a:ea typeface="맑은 고딕"/>
                <a:cs typeface="맑은 고딕"/>
              </a:rPr>
              <a:t>식별자의 고유성</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같은 레이블의 노드끼리 어떤 속성의 값이 겹치지 않게 한다.</a:t>
            </a:r>
          </a:p>
          <a:p>
            <a:pPr algn="l">
              <a:lnSpc>
                <a:spcPct val="110000"/>
              </a:lnSpc>
              <a:spcAft>
                <a:spcPts val="300"/>
              </a:spcAft>
            </a:pPr>
            <a:r>
              <a:rPr sz="1400" b="0">
                <a:solidFill>
                  <a:srgbClr val="1F2A3A"/>
                </a:solidFill>
                <a:latin typeface="맑은 고딕"/>
                <a:ea typeface="맑은 고딕"/>
                <a:cs typeface="맑은 고딕"/>
              </a:rPr>
              <a:t>예: 센서 노드의 id에 걸면 id가 sen:ts1인 센서를 하나 더 만들 수 없다.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스키마와 DB 제약</a:t>
            </a:r>
          </a:p>
          <a:p>
            <a:pPr algn="l">
              <a:lnSpc>
                <a:spcPct val="110000"/>
              </a:lnSpc>
              <a:spcAft>
                <a:spcPts val="200"/>
              </a:spcAft>
            </a:pPr>
            <a:r>
              <a:rPr sz="1150" b="0">
                <a:solidFill>
                  <a:srgbClr val="556175"/>
                </a:solidFill>
                <a:latin typeface="맑은 고딕"/>
                <a:ea typeface="맑은 고딕"/>
                <a:cs typeface="맑은 고딕"/>
              </a:rPr>
              <a:t>정의와 검사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스키마는 무엇이 옳은 데이터인지를 정한다.</a:t>
            </a:r>
          </a:p>
          <a:p>
            <a:pPr algn="l">
              <a:lnSpc>
                <a:spcPct val="110000"/>
              </a:lnSpc>
              <a:spcAft>
                <a:spcPts val="300"/>
              </a:spcAft>
            </a:pPr>
            <a:r>
              <a:rPr sz="1400" b="0">
                <a:solidFill>
                  <a:srgbClr val="1F2A3A"/>
                </a:solidFill>
                <a:latin typeface="맑은 고딕"/>
                <a:ea typeface="맑은 고딕"/>
                <a:cs typeface="맑은 고딕"/>
              </a:rPr>
              <a:t>DB 제약은 그 조건을 저장하는 순간에 지키게 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표기_3.svg" descr="illust_518604318263369530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조건: 중괄호로 노드를 좁힌다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괄호 안에 레이블과 중괄호의 속성 조건을 더할수록 가리키는 노드가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(s:Sensor)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(s:Sensor {tag: 'TS1'})</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a:t>
            </a:r>
          </a:p>
          <a:p>
            <a:pPr algn="l">
              <a:lnSpc>
                <a:spcPct val="110000"/>
              </a:lnSpc>
              <a:spcAft>
                <a:spcPts val="400"/>
              </a:spcAft>
            </a:pPr>
            <a:r>
              <a:rPr sz="1400" b="0">
                <a:solidFill>
                  <a:srgbClr val="1F2A3A"/>
                </a:solidFill>
                <a:latin typeface="맑은 고딕"/>
                <a:ea typeface="맑은 고딕"/>
                <a:cs typeface="맑은 고딕"/>
              </a:rPr>
              <a:t>아무 노드나 가리킨다.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(s:Sensor)</a:t>
            </a:r>
          </a:p>
          <a:p>
            <a:pPr algn="l">
              <a:lnSpc>
                <a:spcPct val="110000"/>
              </a:lnSpc>
              <a:spcAft>
                <a:spcPts val="400"/>
              </a:spcAft>
            </a:pPr>
            <a:r>
              <a:rPr sz="1400" b="0">
                <a:solidFill>
                  <a:srgbClr val="1F2A3A"/>
                </a:solidFill>
                <a:latin typeface="맑은 고딕"/>
                <a:ea typeface="맑은 고딕"/>
                <a:cs typeface="맑은 고딕"/>
              </a:rPr>
              <a:t>Sensor 레이블이 붙은 노드만 가리킨다.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'TS1'}</a:t>
            </a:r>
          </a:p>
          <a:p>
            <a:pPr algn="l">
              <a:lnSpc>
                <a:spcPct val="110000"/>
              </a:lnSpc>
              <a:spcAft>
                <a:spcPts val="400"/>
              </a:spcAft>
            </a:pPr>
            <a:r>
              <a:rPr sz="1400" b="0">
                <a:solidFill>
                  <a:srgbClr val="1F2A3A"/>
                </a:solidFill>
                <a:latin typeface="맑은 고딕"/>
                <a:ea typeface="맑은 고딕"/>
                <a:cs typeface="맑은 고딕"/>
              </a:rPr>
              <a:t>그 가운데 tag 속성이 TS1인 노드만 가리킨다.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 결과를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결과의 한 행은 모양에 맞는 것 하나이고, 열은 RETURN에 적은 항목이다.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결과읽기.svg" descr="illust_414560176372851642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32027" y="2053102"/>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표로 본 결과</a:t>
            </a:r>
          </a:p>
          <a:p>
            <a:pPr algn="ctr">
              <a:lnSpc>
                <a:spcPct val="110000"/>
              </a:lnSpc>
              <a:spcAft>
                <a:spcPts val="100"/>
              </a:spcAft>
            </a:pPr>
            <a:r>
              <a:rPr sz="1300" b="0">
                <a:solidFill>
                  <a:srgbClr val="556175"/>
                </a:solidFill>
                <a:latin typeface="맑은 고딕"/>
                <a:ea typeface="맑은 고딕"/>
                <a:cs typeface="맑은 고딕"/>
              </a:rPr>
              <a:t>열은 RETURN에 적은 항목</a:t>
            </a:r>
          </a:p>
        </p:txBody>
      </p:sp>
      <p:sp>
        <p:nvSpPr>
          <p:cNvPr id="8" name="TextBox 7"/>
          <p:cNvSpPr txBox="1"/>
          <p:nvPr/>
        </p:nvSpPr>
        <p:spPr>
          <a:xfrm>
            <a:off x="1219303" y="304586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c.name</a:t>
            </a:r>
          </a:p>
        </p:txBody>
      </p:sp>
      <p:sp>
        <p:nvSpPr>
          <p:cNvPr id="9" name="TextBox 8"/>
          <p:cNvSpPr txBox="1"/>
          <p:nvPr/>
        </p:nvSpPr>
        <p:spPr>
          <a:xfrm>
            <a:off x="3226650" y="304586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s.tag</a:t>
            </a:r>
          </a:p>
        </p:txBody>
      </p:sp>
      <p:sp>
        <p:nvSpPr>
          <p:cNvPr id="10" name="TextBox 9"/>
          <p:cNvSpPr txBox="1"/>
          <p:nvPr/>
        </p:nvSpPr>
        <p:spPr>
          <a:xfrm>
            <a:off x="1219303" y="3773893"/>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p:txBody>
      </p:sp>
      <p:sp>
        <p:nvSpPr>
          <p:cNvPr id="11" name="TextBox 10"/>
          <p:cNvSpPr txBox="1"/>
          <p:nvPr/>
        </p:nvSpPr>
        <p:spPr>
          <a:xfrm>
            <a:off x="3226650" y="3773893"/>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a:t>
            </a:r>
          </a:p>
        </p:txBody>
      </p:sp>
      <p:sp>
        <p:nvSpPr>
          <p:cNvPr id="12" name="TextBox 11"/>
          <p:cNvSpPr txBox="1"/>
          <p:nvPr/>
        </p:nvSpPr>
        <p:spPr>
          <a:xfrm>
            <a:off x="1219303" y="450192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13" name="TextBox 12"/>
          <p:cNvSpPr txBox="1"/>
          <p:nvPr/>
        </p:nvSpPr>
        <p:spPr>
          <a:xfrm>
            <a:off x="3226650" y="450192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p:txBody>
      </p:sp>
      <p:sp>
        <p:nvSpPr>
          <p:cNvPr id="14" name="TextBox 13"/>
          <p:cNvSpPr txBox="1"/>
          <p:nvPr/>
        </p:nvSpPr>
        <p:spPr>
          <a:xfrm>
            <a:off x="6859512" y="1722180"/>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그래프로 본 결과</a:t>
            </a:r>
          </a:p>
          <a:p>
            <a:pPr algn="ctr">
              <a:lnSpc>
                <a:spcPct val="110000"/>
              </a:lnSpc>
              <a:spcAft>
                <a:spcPts val="100"/>
              </a:spcAft>
            </a:pPr>
            <a:r>
              <a:rPr sz="1300" b="0">
                <a:solidFill>
                  <a:srgbClr val="556175"/>
                </a:solidFill>
                <a:latin typeface="맑은 고딕"/>
                <a:ea typeface="맑은 고딕"/>
                <a:cs typeface="맑은 고딕"/>
              </a:rPr>
              <a:t>같은 결과를 노드와 관계로 본다</a:t>
            </a:r>
          </a:p>
        </p:txBody>
      </p:sp>
      <p:sp>
        <p:nvSpPr>
          <p:cNvPr id="15" name="TextBox 14"/>
          <p:cNvSpPr txBox="1"/>
          <p:nvPr/>
        </p:nvSpPr>
        <p:spPr>
          <a:xfrm>
            <a:off x="6608593" y="465319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16" name="TextBox 15"/>
          <p:cNvSpPr txBox="1"/>
          <p:nvPr/>
        </p:nvSpPr>
        <p:spPr>
          <a:xfrm>
            <a:off x="9499610" y="340042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a:t>
            </a:r>
          </a:p>
        </p:txBody>
      </p:sp>
      <p:sp>
        <p:nvSpPr>
          <p:cNvPr id="17" name="TextBox 16"/>
          <p:cNvSpPr txBox="1"/>
          <p:nvPr/>
        </p:nvSpPr>
        <p:spPr>
          <a:xfrm>
            <a:off x="9499610" y="540959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이어 적어 세 단계를 한 번에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노드와 관계를 번갈아 이어 적으면 설비에서 상태 변수의 한계값까지를 질의 한 번으로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(a:Asset {code: 'HYD-01'})</a:t>
            </a:r>
          </a:p>
          <a:p>
            <a:pPr algn="l">
              <a:lnSpc>
                <a:spcPct val="110000"/>
              </a:lnSpc>
              <a:spcAft>
                <a:spcPts val="200"/>
              </a:spcAft>
            </a:pPr>
            <a:r>
              <a:rPr sz="1300" b="0">
                <a:solidFill>
                  <a:srgbClr val="E8EEF6"/>
                </a:solidFill>
                <a:latin typeface="Consolas"/>
                <a:ea typeface="맑은 고딕"/>
                <a:cs typeface="맑은 고딕"/>
              </a:rPr>
              <a:t>      -[:HAS_COMPONENT]-&gt;(c:Component)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      -[:OBSERVES]-&gt;(v:StateVariable)</a:t>
            </a:r>
          </a:p>
          <a:p>
            <a:pPr algn="l">
              <a:lnSpc>
                <a:spcPct val="110000"/>
              </a:lnSpc>
              <a:spcAft>
                <a:spcPts val="200"/>
              </a:spcAft>
            </a:pPr>
            <a:r>
              <a:rPr sz="1300" b="0">
                <a:solidFill>
                  <a:srgbClr val="E8EEF6"/>
                </a:solidFill>
                <a:latin typeface="Consolas"/>
                <a:ea typeface="맑은 고딕"/>
                <a:cs typeface="맑은 고딕"/>
              </a:rPr>
              <a:t>RETURN c.name,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설비 HYD-01에서 HAS_COMPONENT로 구성 요소에 이르는 첫 단계이다.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이어 적은 부분</a:t>
            </a:r>
          </a:p>
          <a:p>
            <a:pPr algn="l">
              <a:lnSpc>
                <a:spcPct val="110000"/>
              </a:lnSpc>
              <a:spcAft>
                <a:spcPts val="400"/>
              </a:spcAft>
            </a:pPr>
            <a:r>
              <a:rPr sz="1400" b="0">
                <a:solidFill>
                  <a:srgbClr val="1F2A3A"/>
                </a:solidFill>
                <a:latin typeface="맑은 고딕"/>
                <a:ea typeface="맑은 고딕"/>
                <a:cs typeface="맑은 고딕"/>
              </a:rPr>
              <a:t>MONITORED_BY로 센서에, OBSERVES로 상태 변수에 이르는 두 단계이다.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NULL</a:t>
            </a:r>
          </a:p>
          <a:p>
            <a:pPr algn="l">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HYD-01의 구성 요소에 달린 센서가 다섯이므로 다섯 행이다.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방향을 반대로 적었을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관계의 방향을 정의와 반대로 적으면 오류가 나는 것이 아니라 결과가 한 행도 나오지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같은 방향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(c:Component)-[:MONITORED_BY]-&gt;(s:Sensor)</a:t>
            </a:r>
          </a:p>
          <a:p>
            <a:pPr algn="l">
              <a:lnSpc>
                <a:spcPct val="110000"/>
              </a:lnSpc>
              <a:spcAft>
                <a:spcPts val="600"/>
              </a:spcAft>
            </a:pPr>
            <a:r>
              <a:rPr sz="1450" b="0">
                <a:solidFill>
                  <a:srgbClr val="1F2A3A"/>
                </a:solidFill>
                <a:latin typeface="맑은 고딕"/>
                <a:ea typeface="맑은 고딕"/>
                <a:cs typeface="맑은 고딕"/>
              </a:rPr>
              <a:t>• 구성 요소에서 센서로 향한다</a:t>
            </a:r>
          </a:p>
          <a:p>
            <a:pPr algn="l">
              <a:lnSpc>
                <a:spcPct val="110000"/>
              </a:lnSpc>
              <a:spcAft>
                <a:spcPts val="600"/>
              </a:spcAft>
            </a:pPr>
            <a:r>
              <a:rPr sz="1450" b="0">
                <a:solidFill>
                  <a:srgbClr val="1F2A3A"/>
                </a:solidFill>
                <a:latin typeface="맑은 고딕"/>
                <a:ea typeface="맑은 고딕"/>
                <a:cs typeface="맑은 고딕"/>
              </a:rPr>
              <a:t>• 결과: 구성 요소와 센서의 짝 다섯</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다섯 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반대 방향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(s:Sensor)-[:MONITORED_BY]-&gt;(c:Component)</a:t>
            </a:r>
          </a:p>
          <a:p>
            <a:pPr algn="l">
              <a:lnSpc>
                <a:spcPct val="110000"/>
              </a:lnSpc>
              <a:spcAft>
                <a:spcPts val="600"/>
              </a:spcAft>
            </a:pPr>
            <a:r>
              <a:rPr sz="1450" b="0">
                <a:solidFill>
                  <a:srgbClr val="1F2A3A"/>
                </a:solidFill>
                <a:latin typeface="맑은 고딕"/>
                <a:ea typeface="맑은 고딕"/>
                <a:cs typeface="맑은 고딕"/>
              </a:rPr>
              <a:t>• 센서에서 구성 요소로 향한다</a:t>
            </a:r>
          </a:p>
          <a:p>
            <a:pPr algn="l">
              <a:lnSpc>
                <a:spcPct val="110000"/>
              </a:lnSpc>
              <a:spcAft>
                <a:spcPts val="600"/>
              </a:spcAft>
            </a:pPr>
            <a:r>
              <a:rPr sz="1450" b="0">
                <a:solidFill>
                  <a:srgbClr val="1F2A3A"/>
                </a:solidFill>
                <a:latin typeface="맑은 고딕"/>
                <a:ea typeface="맑은 고딕"/>
                <a:cs typeface="맑은 고딕"/>
              </a:rPr>
              <a:t>• 결과: 없음</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0행</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경로질의_2.svg" descr="illust_892624172824159621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문장을 두 번 실행했을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문장을 다시 실행하면 CREATE는 같은 노드를 또 만들려 하고, MERGE는 결과가 달라지지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opy" descr="cop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CREATE를 두 번</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센서를 한 번 더 만들려고 한다</a:t>
            </a:r>
          </a:p>
          <a:p>
            <a:pPr algn="l">
              <a:lnSpc>
                <a:spcPct val="110000"/>
              </a:lnSpc>
              <a:spcAft>
                <a:spcPts val="600"/>
              </a:spcAft>
            </a:pPr>
            <a:r>
              <a:rPr sz="1450" b="0">
                <a:solidFill>
                  <a:srgbClr val="1F2A3A"/>
                </a:solidFill>
                <a:latin typeface="맑은 고딕"/>
                <a:ea typeface="맑은 고딕"/>
                <a:cs typeface="맑은 고딕"/>
              </a:rPr>
              <a:t>• 유일 제약이 있으면 Neo4j가 거절한다</a:t>
            </a:r>
          </a:p>
          <a:p>
            <a:pPr algn="l">
              <a:lnSpc>
                <a:spcPct val="110000"/>
              </a:lnSpc>
              <a:spcAft>
                <a:spcPts val="600"/>
              </a:spcAft>
            </a:pPr>
            <a:r>
              <a:rPr sz="1450" b="0">
                <a:solidFill>
                  <a:srgbClr val="1F2A3A"/>
                </a:solidFill>
                <a:latin typeface="맑은 고딕"/>
                <a:ea typeface="맑은 고딕"/>
                <a:cs typeface="맑은 고딕"/>
              </a:rPr>
              <a:t>• 없으면 같은 센서가 둘이 된다</a:t>
            </a:r>
          </a:p>
        </p:txBody>
      </p:sp>
      <p:sp>
        <p:nvSpPr>
          <p:cNvPr id="11" name="Rounded Rectangle 10"/>
          <p:cNvSpPr/>
          <p:nvPr/>
        </p:nvSpPr>
        <p:spPr>
          <a:xfrm>
            <a:off x="868680" y="4945570"/>
            <a:ext cx="31851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31851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실행할 때마다 새 기록이 필요한 데이터에</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circle-check" descr="circle-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MERGE를 두 번</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두 번째에는 이미 있는 노드를 찾는다</a:t>
            </a:r>
          </a:p>
          <a:p>
            <a:pPr algn="l">
              <a:lnSpc>
                <a:spcPct val="110000"/>
              </a:lnSpc>
              <a:spcAft>
                <a:spcPts val="600"/>
              </a:spcAft>
            </a:pPr>
            <a:r>
              <a:rPr sz="1450" b="0">
                <a:solidFill>
                  <a:srgbClr val="1F2A3A"/>
                </a:solidFill>
                <a:latin typeface="맑은 고딕"/>
                <a:ea typeface="맑은 고딕"/>
                <a:cs typeface="맑은 고딕"/>
              </a:rPr>
              <a:t>• 노드는 하나 그대로이다</a:t>
            </a:r>
          </a:p>
          <a:p>
            <a:pPr algn="l">
              <a:lnSpc>
                <a:spcPct val="110000"/>
              </a:lnSpc>
              <a:spcAft>
                <a:spcPts val="600"/>
              </a:spcAft>
            </a:pPr>
            <a:r>
              <a:rPr sz="1450" b="0">
                <a:solidFill>
                  <a:srgbClr val="1F2A3A"/>
                </a:solidFill>
                <a:latin typeface="맑은 고딕"/>
                <a:ea typeface="맑은 고딕"/>
                <a:cs typeface="맑은 고딕"/>
              </a:rPr>
              <a:t>• 몇 번을 실행해도 결과가 같다</a:t>
            </a:r>
          </a:p>
        </p:txBody>
      </p:sp>
      <p:sp>
        <p:nvSpPr>
          <p:cNvPr id="18" name="Rounded Rectangle 17"/>
          <p:cNvSpPr/>
          <p:nvPr/>
        </p:nvSpPr>
        <p:spPr>
          <a:xfrm>
            <a:off x="6781647" y="4945570"/>
            <a:ext cx="22250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번만 있어야 하는 지식에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MERGE로 관계를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관계는 양 끝의 노드를 MATCH로 먼저 찾은 다음 그 사이에 MERGE로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{id: 'comp:cooler'}),</a:t>
            </a:r>
          </a:p>
          <a:p>
            <a:pPr algn="l">
              <a:lnSpc>
                <a:spcPct val="110000"/>
              </a:lnSpc>
              <a:spcAft>
                <a:spcPts val="200"/>
              </a:spcAft>
            </a:pPr>
            <a:r>
              <a:rPr sz="1300" b="0">
                <a:solidFill>
                  <a:srgbClr val="E8EEF6"/>
                </a:solidFill>
                <a:latin typeface="Consolas"/>
                <a:ea typeface="맑은 고딕"/>
                <a:cs typeface="맑은 고딕"/>
              </a:rPr>
              <a:t>      (s:Sensor {id: 'sen:ts1'}),</a:t>
            </a:r>
          </a:p>
          <a:p>
            <a:pPr algn="l">
              <a:lnSpc>
                <a:spcPct val="110000"/>
              </a:lnSpc>
              <a:spcAft>
                <a:spcPts val="200"/>
              </a:spcAft>
            </a:pPr>
            <a:r>
              <a:rPr sz="1300" b="0">
                <a:solidFill>
                  <a:srgbClr val="E8EEF6"/>
                </a:solidFill>
                <a:latin typeface="Consolas"/>
                <a:ea typeface="맑은 고딕"/>
                <a:cs typeface="맑은 고딕"/>
              </a:rPr>
              <a:t>      (v:StateVariable {id: 'sv:ts1'})</a:t>
            </a:r>
          </a:p>
          <a:p>
            <a:pPr algn="l">
              <a:lnSpc>
                <a:spcPct val="110000"/>
              </a:lnSpc>
              <a:spcAft>
                <a:spcPts val="200"/>
              </a:spcAft>
            </a:pPr>
            <a:r>
              <a:rPr sz="1300" b="0">
                <a:solidFill>
                  <a:srgbClr val="E8EEF6"/>
                </a:solidFill>
                <a:latin typeface="Consolas"/>
                <a:ea typeface="맑은 고딕"/>
                <a:cs typeface="맑은 고딕"/>
              </a:rPr>
              <a:t>MERGE (c)-[:MONITORED_BY]-&gt;(s)</a:t>
            </a:r>
          </a:p>
          <a:p>
            <a:pPr algn="l">
              <a:lnSpc>
                <a:spcPct val="110000"/>
              </a:lnSpc>
              <a:spcAft>
                <a:spcPts val="200"/>
              </a:spcAft>
            </a:pPr>
            <a:r>
              <a:rPr sz="1300" b="0">
                <a:solidFill>
                  <a:srgbClr val="E8EEF6"/>
                </a:solidFill>
                <a:latin typeface="Consolas"/>
                <a:ea typeface="맑은 고딕"/>
                <a:cs typeface="맑은 고딕"/>
              </a:rPr>
              <a:t>MERGE (s)-[:OBSERVES]-&gt;(v)</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이을 노드 셋을 식별자로 찾아 c, s, v라는 변수를 붙인다.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변수로 부른 노드 사이에 관계를 만든다. 이미 있으면 다시 만들지 않는다.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방향</a:t>
            </a:r>
          </a:p>
          <a:p>
            <a:pPr algn="l">
              <a:lnSpc>
                <a:spcPct val="110000"/>
              </a:lnSpc>
              <a:spcAft>
                <a:spcPts val="400"/>
              </a:spcAft>
            </a:pPr>
            <a:r>
              <a:rPr sz="1400" b="0">
                <a:solidFill>
                  <a:srgbClr val="1F2A3A"/>
                </a:solidFill>
                <a:latin typeface="맑은 고딕"/>
                <a:ea typeface="맑은 고딕"/>
                <a:cs typeface="맑은 고딕"/>
              </a:rPr>
              <a:t>화살표는 스키마가 정한 시작 클래스에서 끝 클래스로 향하게 적는다.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저장하고 조회하고 만드는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지식을 노드와 관계로 저장하며, Cypher로 모양을 적어 조회하고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저장</a:t>
            </a:r>
          </a:p>
          <a:p>
            <a:pPr algn="ctr">
              <a:lnSpc>
                <a:spcPct val="110000"/>
              </a:lnSpc>
              <a:spcAft>
                <a:spcPts val="400"/>
              </a:spcAft>
            </a:pPr>
            <a:r>
              <a:rPr sz="1350" b="0">
                <a:solidFill>
                  <a:srgbClr val="1F2A3A"/>
                </a:solidFill>
                <a:latin typeface="맑은 고딕"/>
                <a:ea typeface="맑은 고딕"/>
                <a:cs typeface="맑은 고딕"/>
              </a:rPr>
              <a:t>인스턴스는 노드로,</a:t>
            </a:r>
          </a:p>
          <a:p>
            <a:pPr algn="ctr">
              <a:lnSpc>
                <a:spcPct val="110000"/>
              </a:lnSpc>
              <a:spcAft>
                <a:spcPts val="400"/>
              </a:spcAft>
            </a:pPr>
            <a:r>
              <a:rPr sz="1350" b="0">
                <a:solidFill>
                  <a:srgbClr val="1F2A3A"/>
                </a:solidFill>
                <a:latin typeface="맑은 고딕"/>
                <a:ea typeface="맑은 고딕"/>
                <a:cs typeface="맑은 고딕"/>
              </a:rPr>
              <a:t>클래스는 레이블로,</a:t>
            </a:r>
          </a:p>
          <a:p>
            <a:pPr algn="ctr">
              <a:lnSpc>
                <a:spcPct val="110000"/>
              </a:lnSpc>
              <a:spcAft>
                <a:spcPts val="400"/>
              </a:spcAft>
            </a:pPr>
            <a:r>
              <a:rPr sz="1350" b="0">
                <a:solidFill>
                  <a:srgbClr val="1F2A3A"/>
                </a:solidFill>
                <a:latin typeface="맑은 고딕"/>
                <a:ea typeface="맑은 고딕"/>
                <a:cs typeface="맑은 고딕"/>
              </a:rPr>
              <a:t>관계는 관계 유형으로</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arentheses" descr="parenthese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표기</a:t>
            </a:r>
          </a:p>
          <a:p>
            <a:pPr algn="ctr">
              <a:lnSpc>
                <a:spcPct val="110000"/>
              </a:lnSpc>
              <a:spcAft>
                <a:spcPts val="400"/>
              </a:spcAft>
            </a:pPr>
            <a:r>
              <a:rPr sz="1350" b="0">
                <a:solidFill>
                  <a:srgbClr val="1F2A3A"/>
                </a:solidFill>
                <a:latin typeface="맑은 고딕"/>
                <a:ea typeface="맑은 고딕"/>
                <a:cs typeface="맑은 고딕"/>
              </a:rPr>
              <a:t>노드는 둥근 괄호,</a:t>
            </a:r>
          </a:p>
          <a:p>
            <a:pPr algn="ctr">
              <a:lnSpc>
                <a:spcPct val="110000"/>
              </a:lnSpc>
              <a:spcAft>
                <a:spcPts val="400"/>
              </a:spcAft>
            </a:pPr>
            <a:r>
              <a:rPr sz="1350" b="0">
                <a:solidFill>
                  <a:srgbClr val="1F2A3A"/>
                </a:solidFill>
                <a:latin typeface="맑은 고딕"/>
                <a:ea typeface="맑은 고딕"/>
                <a:cs typeface="맑은 고딕"/>
              </a:rPr>
              <a:t>관계는 대괄호와</a:t>
            </a:r>
          </a:p>
          <a:p>
            <a:pPr algn="ctr">
              <a:lnSpc>
                <a:spcPct val="110000"/>
              </a:lnSpc>
              <a:spcAft>
                <a:spcPts val="400"/>
              </a:spcAft>
            </a:pPr>
            <a:r>
              <a:rPr sz="1350" b="0">
                <a:solidFill>
                  <a:srgbClr val="1F2A3A"/>
                </a:solidFill>
                <a:latin typeface="맑은 고딕"/>
                <a:ea typeface="맑은 고딕"/>
                <a:cs typeface="맑은 고딕"/>
              </a:rPr>
              <a:t>화살표</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조회</a:t>
            </a:r>
          </a:p>
          <a:p>
            <a:pPr algn="ctr">
              <a:lnSpc>
                <a:spcPct val="110000"/>
              </a:lnSpc>
              <a:spcAft>
                <a:spcPts val="400"/>
              </a:spcAft>
            </a:pPr>
            <a:r>
              <a:rPr sz="1350" b="0">
                <a:solidFill>
                  <a:srgbClr val="1F2A3A"/>
                </a:solidFill>
                <a:latin typeface="맑은 고딕"/>
                <a:ea typeface="맑은 고딕"/>
                <a:cs typeface="맑은 고딕"/>
              </a:rPr>
              <a:t>MATCH로 찾고</a:t>
            </a:r>
          </a:p>
          <a:p>
            <a:pPr algn="ctr">
              <a:lnSpc>
                <a:spcPct val="110000"/>
              </a:lnSpc>
              <a:spcAft>
                <a:spcPts val="400"/>
              </a:spcAft>
            </a:pPr>
            <a:r>
              <a:rPr sz="1350" b="0">
                <a:solidFill>
                  <a:srgbClr val="1F2A3A"/>
                </a:solidFill>
                <a:latin typeface="맑은 고딕"/>
                <a:ea typeface="맑은 고딕"/>
                <a:cs typeface="맑은 고딕"/>
              </a:rPr>
              <a:t>WHERE로 거르고</a:t>
            </a:r>
          </a:p>
          <a:p>
            <a:pPr algn="ctr">
              <a:lnSpc>
                <a:spcPct val="110000"/>
              </a:lnSpc>
              <a:spcAft>
                <a:spcPts val="400"/>
              </a:spcAft>
            </a:pPr>
            <a:r>
              <a:rPr sz="1350" b="0">
                <a:solidFill>
                  <a:srgbClr val="1F2A3A"/>
                </a:solidFill>
                <a:latin typeface="맑은 고딕"/>
                <a:ea typeface="맑은 고딕"/>
                <a:cs typeface="맑은 고딕"/>
              </a:rPr>
              <a:t>RETURN으로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circle-plus" descr="circle-plu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만들기</a:t>
            </a:r>
          </a:p>
          <a:p>
            <a:pPr algn="ctr">
              <a:lnSpc>
                <a:spcPct val="110000"/>
              </a:lnSpc>
              <a:spcAft>
                <a:spcPts val="400"/>
              </a:spcAft>
            </a:pPr>
            <a:r>
              <a:rPr sz="1350" b="0">
                <a:solidFill>
                  <a:srgbClr val="1F2A3A"/>
                </a:solidFill>
                <a:latin typeface="맑은 고딕"/>
                <a:ea typeface="맑은 고딕"/>
                <a:cs typeface="맑은 고딕"/>
              </a:rPr>
              <a:t>MERGE로</a:t>
            </a:r>
          </a:p>
          <a:p>
            <a:pPr algn="ctr">
              <a:lnSpc>
                <a:spcPct val="110000"/>
              </a:lnSpc>
              <a:spcAft>
                <a:spcPts val="400"/>
              </a:spcAft>
            </a:pPr>
            <a:r>
              <a:rPr sz="1350" b="0">
                <a:solidFill>
                  <a:srgbClr val="1F2A3A"/>
                </a:solidFill>
                <a:latin typeface="맑은 고딕"/>
                <a:ea typeface="맑은 고딕"/>
                <a:cs typeface="맑은 고딕"/>
              </a:rPr>
              <a:t>노드와 관계를</a:t>
            </a:r>
          </a:p>
          <a:p>
            <a:pPr algn="ctr">
              <a:lnSpc>
                <a:spcPct val="110000"/>
              </a:lnSpc>
              <a:spcAft>
                <a:spcPts val="400"/>
              </a:spcAft>
            </a:pPr>
            <a:r>
              <a:rPr sz="1350" b="0">
                <a:solidFill>
                  <a:srgbClr val="1F2A3A"/>
                </a:solidFill>
                <a:latin typeface="맑은 고딕"/>
                <a:ea typeface="맑은 고딕"/>
                <a:cs typeface="맑은 고딕"/>
              </a:rPr>
              <a:t>중복 없이 넣는다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Cypher로 필요한 정보를 찾는다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설비에서 구성 요소와 센서까지를 직접 쓴 질의로 조회하고 결과를 그래프와 표로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구성 요소와 센서를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비교한다</a:t>
            </a:r>
          </a:p>
          <a:p>
            <a:pPr algn="l">
              <a:lnSpc>
                <a:spcPct val="110000"/>
              </a:lnSpc>
              <a:spcAft>
                <a:spcPts val="400"/>
              </a:spcAft>
            </a:pPr>
            <a:r>
              <a:rPr sz="1350" b="0">
                <a:solidFill>
                  <a:srgbClr val="1F2A3A"/>
                </a:solidFill>
                <a:latin typeface="맑은 고딕"/>
                <a:ea typeface="맑은 고딕"/>
                <a:cs typeface="맑은 고딕"/>
              </a:rPr>
              <a:t>같은 질의의 결과를 그래프와 표로 번갈아 본다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지식의 구조와 연결 관계 탐색하기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지식 지도에서 설비와 이어진 대상을 찾아본다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지도에서 탐색하는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지도에서는 클래스, 인스턴스, 속성, 관계가 HYD의 지식 그래프에 실제로 들어 있는 모습을 질의 없이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설비에서 출발한다</a:t>
            </a:r>
          </a:p>
          <a:p>
            <a:pPr algn="l">
              <a:lnSpc>
                <a:spcPct val="110000"/>
              </a:lnSpc>
              <a:spcAft>
                <a:spcPts val="400"/>
              </a:spcAft>
            </a:pPr>
            <a:r>
              <a:rPr sz="1400" b="0">
                <a:solidFill>
                  <a:srgbClr val="1F2A3A"/>
                </a:solidFill>
                <a:latin typeface="맑은 고딕"/>
                <a:ea typeface="맑은 고딕"/>
                <a:cs typeface="맑은 고딕"/>
              </a:rPr>
              <a:t>설비 하나를 골라 그에 이어진 구성 요소와 센서를 찾아간다</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 탐색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항목 하나를 읽는다</a:t>
            </a:r>
          </a:p>
          <a:p>
            <a:pPr algn="l">
              <a:lnSpc>
                <a:spcPct val="110000"/>
              </a:lnSpc>
              <a:spcAft>
                <a:spcPts val="400"/>
              </a:spcAft>
            </a:pPr>
            <a:r>
              <a:rPr sz="1400" b="0">
                <a:solidFill>
                  <a:srgbClr val="1F2A3A"/>
                </a:solidFill>
                <a:latin typeface="맑은 고딕"/>
                <a:ea typeface="맑은 고딕"/>
                <a:cs typeface="맑은 고딕"/>
              </a:rPr>
              <a:t>• 그 항목의 클래스와 속성을 확인한다</a:t>
            </a:r>
          </a:p>
          <a:p>
            <a:pPr algn="l">
              <a:lnSpc>
                <a:spcPct val="110000"/>
              </a:lnSpc>
              <a:spcAft>
                <a:spcPts val="400"/>
              </a:spcAft>
            </a:pPr>
            <a:r>
              <a:rPr sz="14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4566818" y="5149850"/>
            <a:ext cx="176783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 · 속성 ·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그래프를 구분한다</a:t>
            </a:r>
          </a:p>
          <a:p>
            <a:pPr algn="l">
              <a:lnSpc>
                <a:spcPct val="110000"/>
              </a:lnSpc>
              <a:spcAft>
                <a:spcPts val="400"/>
              </a:spcAft>
            </a:pPr>
            <a:r>
              <a:rPr sz="1400" b="0">
                <a:solidFill>
                  <a:srgbClr val="1F2A3A"/>
                </a:solidFill>
                <a:latin typeface="맑은 고딕"/>
                <a:ea typeface="맑은 고딕"/>
                <a:cs typeface="맑은 고딕"/>
              </a:rPr>
              <a:t>• 지식 지도는 HYD의 기준 지식 그래프를 보인다</a:t>
            </a:r>
          </a:p>
          <a:p>
            <a:pPr algn="l">
              <a:lnSpc>
                <a:spcPct val="110000"/>
              </a:lnSpc>
              <a:spcAft>
                <a:spcPts val="400"/>
              </a:spcAft>
            </a:pPr>
            <a:r>
              <a:rPr sz="1400" b="0">
                <a:solidFill>
                  <a:srgbClr val="1F2A3A"/>
                </a:solidFill>
                <a:latin typeface="맑은 고딕"/>
                <a:ea typeface="맑은 고딕"/>
                <a:cs typeface="맑은 고딕"/>
              </a:rPr>
              <a:t>• 직접 만들 그래프는 실습용으로 분리된 그래프 DB에 넣는다</a:t>
            </a:r>
          </a:p>
        </p:txBody>
      </p:sp>
      <p:sp>
        <p:nvSpPr>
          <p:cNvPr id="22" name="Rounded Rectangle 21"/>
          <p:cNvSpPr/>
          <p:nvPr/>
        </p:nvSpPr>
        <p:spPr>
          <a:xfrm>
            <a:off x="8356396" y="5149850"/>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서로 다른 환경</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자료에서 클래스와 속성과 관계를 정의해 스키마와 인스턴스 데이터를 만든다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제공된 설비 자료를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온톨로지의 그래프 DB 구현과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그래프로 확인한다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클래스와 인스턴스와 관계를 Cypher로 그래프 DB에 넣으면 설계한 구조가 그래프로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그래프로 확인한다</a:t>
            </a:r>
          </a:p>
          <a:p>
            <a:pPr algn="ctr">
              <a:lnSpc>
                <a:spcPct val="110000"/>
              </a:lnSpc>
              <a:spcAft>
                <a:spcPts val="400"/>
              </a:spcAft>
            </a:pPr>
            <a:r>
              <a:rPr sz="1350" b="0">
                <a:solidFill>
                  <a:srgbClr val="1F2A3A"/>
                </a:solidFill>
                <a:latin typeface="맑은 고딕"/>
                <a:ea typeface="맑은 고딕"/>
                <a:cs typeface="맑은 고딕"/>
              </a:rPr>
              <a:t>Neo4j Browser에서 결과를 그래프로 보고</a:t>
            </a:r>
          </a:p>
          <a:p>
            <a:pPr algn="ctr">
              <a:lnSpc>
                <a:spcPct val="110000"/>
              </a:lnSpc>
              <a:spcAft>
                <a:spcPts val="400"/>
              </a:spcAft>
            </a:pPr>
            <a:r>
              <a:rPr sz="1350" b="0">
                <a:solidFill>
                  <a:srgbClr val="1F2A3A"/>
                </a:solidFill>
                <a:latin typeface="맑은 고딕"/>
                <a:ea typeface="맑은 고딕"/>
                <a:cs typeface="맑은 고딕"/>
              </a:rPr>
              <a:t>설계한 구조대로 이어졌는지 확인한다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여섯과 그래프 DB를 쓰는 말 둘이며, 용어마다 HYD의 실제 예가 하나씩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Class</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Sensor(센서)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Instance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sen:ts1</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Property</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센서의 tag, 값은 TS1</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Cardinality</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HAS_STEP은 1:N</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Schema</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센서의 tag는 필수라는 정의</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Identifier</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asset:hyd-01, sen:ts1</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Label</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노드의 Sensor</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질의</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Query</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MATCH로 찾는 Cypher 문장</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속성과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「펌프 축 씰 키트」를 세 공급사가 공급하는데, 단가와 납기가 공급사마다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단가와 납기를 두는 자리로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값이 딸린 자리,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단가는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