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경보 뒤의 판단에 지식이 필요하고, 그 지식을 대상과 관계로 적은 것이 온톨로지라는 데까지 왔습니다. 오늘은 그 온톨로지를 직접 만드는 방법을 다룹니다. 목표는 화면의 네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쿨러 사건을 노드와 관계로 그렸습니다. 설비, 센서, 증상을 노드로 만들고 노드마다 HYD-01, 유온 센서 TS1, 유온 상승 같은 실제 이름을 적었습니다. 종류와 실제 이름은 성격이 다르므로 두 줄로 나누어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 줄의 노드는 하나의 물건이 아니라 종류입니다. 설비라는 노드는 HYD-01도 HYD-02도 함께 가리킵니다. 이 그림은 이 분야에 어떤 종류의 대상이 있고 그것들이 어떻게 이어지는가를 말합니다.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 줄의 노드는 손으로 가리킬 수 있는 대상 하나하나입니다. HYD-01은 설비 가운데 한 대이고, 유온 센서 TS1은 센서 가운데 하나입니다. 위아래 같은 자리에 놓인 것끼리 짝이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가지가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센서라는 클래스는 무엇인가를 재어 값으로 내놓는다는 공통점으로 대상을 묶은 것입니다. 클래스의 이름은 영어로 Sensor라고 적고 한글 이름 센서를 함께 둡니다. 점선은 이것이 물건 하나가 아니라 틀이라는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유온 센서 TS1이 센서 클래스의 인스턴스입니다. sen:ts1은 이 인스턴스를 가리키는 식별자입니다.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그래프에는 센서 클래스의 인스턴스가 다섯 있습니다. 클래스를 정해 두면 컴퓨터는 센서를 모두 찾으라는 요청에 답할 수 있습니다. 센서가 새로 생기면 클래스는 그대로 두고 인스턴스만 하나 더합니다. 신청서 양식 하나에 작성된 신청서가 여러 장인 것과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따라간 사건의 대상을 클래스로 나누면 다섯입니다. 위의 점선 상자가 클래스이고 아래 동그라미가 그 인스턴스 하나씩입니다. 하나씩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클래스의 인스턴스는 설비 한 대입니다. 공장에 있는 유압 파워팩 HYD-01이 인스턴스 하나입니다.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설비를 이루는 쿨러, 팬, 펌프, 모터, 탱크가 구성 요소입니다. 지난 시간에 고장이 일어난 자리로 본 오일 쿨러가 이 클래스의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클래스의 인스턴스에는 태그가 붙습니다. 유온 센서의 태그가 지난 시간에 계속 따라간 TS1입니다.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변수는 온도, 압력, 진동처럼 설비의 상태를 나타내는 물리량입니다. 장치가 아니라 양이라는 점이 앞의 세 클래스와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부품은 정비할 때 갈아 끼우는 교체품입니다. 쿨러 코어는 오일 쿨러 안에 들어가는 교체 부품입니다.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센서와 유온은 이름이 비슷하지만 다른 대상입니다. 정상값과 한계는 재는 장치가 아니라 재어지는 물리량에 딸린 값입니다. 그래서 클래스를 나누었습니다.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일상에서는 둘 다 부품이라고 부르지만 클래스로는 나뉩니다. 위 줄이 구성 요소이고 아래 줄이 그 안에 들어가는 교체 부품입니다. 이 과정에서 부품이라는 말은 아래 줄만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헷갈릴 때는 문장에 넣어 봅니다. 오일 쿨러는 구성 요소의 하나이다는 말이 됩니다. 구성 요소는 오일 쿨러의 하나이다는 말이 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낱말은 모두 유온을 재는 일과 닿아 있지만 층이 다릅니다. TS1은 대상이 아니라 유온 센서에 붙은 이름표의 값입니다. 지난 시간에 본 속성이 이런 값을 담는 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클래스는 손에 잡히는 물건에만 쓰는 것이 아닙니다. 지난 시간에 따라간 증상과 고장 유형과 원인도 클래스이고, 유온 상승이나 쿨러 핀 오염이 그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가로로 읽으면 짝이 됩니다. 쿨러 팬은 구성 요소의 하나이고, 팬 진동은 상태 변수의 하나입니다. VS1과 mm/s와 2.0은 대상이 아니라 팬 진동 센서와 팬 진동에 붙은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속성은 대상이 갖는 값의 칸이라고 했습니다. 그 칸을 정하는 것이 클래스입니다. 센서 클래스의 속성(Property)은 식별자, 이름, 태그, 단위, 그리고 계산으로 만든 값인지를 나타내는 virtual입니다.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 카드가 유온 센서라는 인스턴스입니다. 왼쪽의 칸마다 값이 하나씩 들어갑니다. 앞에서 값이라고 가른 TS1이 tag라는 속성의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오른쪽은 냉각 효율이라는 다른 인스턴스입니다. 지난 시간에 CE는 센서 없이 계산한 값이라고 했는데, 그 사실이 virtual이라는 속성에 true로 적혀 있습니다. 칸이 같으므로 모든 센서에 같은 방식으로 태그와 단위를 물을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공장에는 같은 기종의 유압 파워팩이 세 대 있습니다. 생김새와 구조가 같아도 인스턴스는 셋이고, 값이 서로 다릅니다. 어느 설비의 이야기인지는 이 값으로 가려집니다.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값의 형식은 그 값으로 무엇을 할 수 있는지를 정합니다. 한계가 수로 적혀 있어야 잰 값이 한계를 넘었는지 비교할 수 있습니다. 목록은 같은 대상의 다른 이름처럼 값이 여러 개일 때 씁니다.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 다섯을 나란히 놓았습니다. 이름과 단위는 다섯 모두에 있습니다. 단위 없는 물리량은 해석할 수 없으므로 반드시 있어야 하는 속성입니다. 한계는 셋에만 있고 둘에는 비어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클래스끼리도 위아래가 있을 수 있습니다. 승용차, 화물차, 버스는 모두 번호와 제조사를 갖습니다. 이 공통 속성을 클래스마다 따로 적지 않고 차량이라는 상위 클래스에 한 번만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화물차는 차량의 속성인 번호와 제조사를 물려받고, 화물차에만 있는 적재량을 더합니다. 이것이 상속입니다. 세모가 달린 선은 아래 클래스가 위 클래스를 상속한다는 표기입니다.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온톨로지에서는 업무의 흐름을 나타내는 클래스들이 이 구조입니다. 작업은 흐름 노드의 id와 name을 물려받고 taskType을 더합니다. 하위 클래스의 인스턴스는 상위 클래스의 인스턴스이기도 합니다. 이 클래스들의 뜻은 프로세스를 다룰 때 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인스턴스에 무엇인가를 붙이는 방법은 둘입니다. 값을 붙이면 속성이고, 다른 인스턴스를 가리키면 관계입니다. 이 수업에서는 앞의 것을 속성, 뒤의 것을 관계라고 줄여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쿨러에 달린 유온 센서가 무엇을 재는지를 유온이라는 글자 값으로 적을 수도 있습니다. 그러나 글자 값에는 정상값 48과 한계 65를 붙일 자리가 없습니다. 그래서 유온을 인스턴스로 두고 센서와는 OBSERVES, 곧 읽는다는 관계로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속도도 상태 변수의 인스턴스입니다. 팬 속도가 유온에 영향을 준다는 관계가 INFLUENCES입니다. 지난 시간에 팬을 최대로 올리자 유온이 내려간 일이 이 관계로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속도는 팬 인버터라는 구동기가 바꿉니다. 유온을 인스턴스로 두었기 때문에 쿨러, 센서, 팬이 유온을 거쳐 한 그림으로 이어집니다. 그것에 대해 더 말할 것이 있으면 인스턴스이고, 값 하나로 끝나면 속성값입니다. TS1이라는 태그와 섭씨라는 단위는 값 하나로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유형을 먼저 정합니다. HAS_COMPONENT는 설비 클래스에서 시작해 구성 요소 클래스에서 끝납니다. MONITORED_BY는 구성 요소에서 센서로, OBSERVES는 센서에서 상태 변수로 향합니다.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 줄이 실제 대상입니다. HYD-01은 오일 쿨러를 구성 요소로 갖고, 오일 쿨러는 유온 센서로 계측되며, 유온 센서는 유온을 읽습니다. 파란 화살표 하나하나가 위에서 정의한 관계 유형의 실제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세로 점선은 아래의 대상이 위 클래스의 인스턴스라는 뜻입니다. 지난 시간에 CAUSES는 원인에서 고장 유형으로만 잇는다고 한 것이 위층의 정의였습니다. 온톨로지는 이 두 층으로 이루어집니다.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 하나를 가운데 놓았습니다. 왼쪽 둘은 오일 쿨러로 들어오는 관계이고 오른쪽 셋은 오일 쿨러에서 나가는 관계입니다. 지난 시간에 고장 유형이 오일 쿨러에서 일어난다고 한 것이 왼쪽 아래의 OCCURS_IN입니다.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유형을 정의할 때 하나 더 정하는 것이 카디널리티입니다. 하나를 1로, 여럿을 N이나 M으로 적습니다. 왼쪽 숫자가 관계가 시작하는 쪽이고 오른쪽 숫자가 끝나는 쪽입니다. 네 가지를 실제 예로 하나씩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MANIPULATES, 곧 바꾼다는 관계는 일대일입니다. 구동기 셋이 상태 변수 셋과 하나씩 짝을 이룹니다. 한 구동기가 둘을 바꾸지도, 한 상태 변수를 두 구동기가 바꾸지도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승인된 팬 최대 운전이라는 조치 방법에는 수행 단계가 셋 있습니다. HAS_STEP은 조치 방법 하나에서 단계 여럿으로 가는 일대다 관계입니다. 단계 하나는 한 조치 방법에만 속합니다.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조치를 승인한 운전원은 생산팀에 속합니다. MEMBER_OF는 역할에서 부서로 가는 다대일 관계입니다. 한 부서에 역할이 여럿 속할 수 있고, 역할 하나는 한 부서에만 속합니다.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SUPPLIED_BY, 곧 공급받는다는 관계는 다대다입니다. 펌프 축 씰 키트는 세 공급사가 공급하고, A정밀은 세 부품을 모두 공급합니다. 지난 시간에 본 CAUSES도 다대다였습니다.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오른쪽처럼 팬 인버터가 팬 속도와 펌프 부하를 함께 바꾼다고 적힌 데이터가 들어오면 일대일이라는 정의와 다릅니다. 잘못 넣은 데이터일 가능성이 높으므로 다시 확인합니다. 조회할 때 결과가 하나일지 여럿일지를 미리 아는 데에도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센서와 구동기는 둘 다 설비에 달린 장치이지만 하는 일이 반대입니다. 센서는 읽고 구동기는 바꿉니다. 갖는 속성도 맺는 관계도 다르므로 한 클래스로 묶지 않고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부품 번호는 쿨러 코어 하나에 딸린 값이고 그 값에 대해 더 적을 것이 없습니다. 공급사가 승인된 곳인지도 그 공급사에 딸린 참 · 거짓 값입니다. 이런 것은 속성으로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쿨러에 들어가는 교체 부품을 쿨러 코어라는 글자 값으로 적을 수도 있습니다. 그러나 쿨러 코어에는 부품 번호가 있고 공급사와의 관계도 있습니다. 그래서 인스턴스로 두고 USES_PART 관계로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부품인데 단가와 납기가 공급사마다 다릅니다. 단가를 부품의 속성으로 두면 공급사가 셋이라 값을 하나로 정할 수 없습니다. 단가는 부품과 공급사의 짝에 딸린 값이므로 SUPPLIED_BY 관계에 속성으로 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네 사례를 순서로 모았습니다. 설계하다가 막히면 이 순서대로 물어봅니다. 넷째 질문까지 기억해 두면 값을 둘 자리가 없어 막히는 일이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설계할 때 가장 흔한 실수입니다. 유온 센서는 센서의 하나이므로 인스턴스입니다. 클래스로 만들기 전에 그것이 유형인지 대상 하나인지를 「하나이다」 문장으로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섭씨와 65를 노드로 만들었습니다. 이 노드들은 속성도 없고 다른 관계도 없습니다. 오른쪽처럼 유온이라는 인스턴스의 속성으로 적으면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설비가 구성 요소를 갖는다와 구성 요소가 설비에 속한다는 같은 사실입니다. 지난 시간에 본 것처럼 컴퓨터는 화살표를 거슬러 가기도 하므로 한쪽만 적으면 됩니다. 한 사실에는 관계 이름 하나와 방향 하나만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단원에서 본 것은 네 가지입니다. 유형은 클래스로, 실제 대상은 인스턴스로, 값은 속성으로, 연결은 관계로 적습니다. 이 네 가지를 한곳에 일관되게 정의해 둔 것이 다음 단원의 스키마입니다.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사람이 같은 장치를 서로 다른 이름으로 넣었습니다. 설비는 오일 쿨러에, 센서는 쿨러에, 부품은 열교환기에 붙었습니다. 쿨러에 달린 센서를 찾으라고 하면 셋 가운데 하나에 붙은 것만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연결은 모두 설비가 구성 요소를 갖는다는 같은 사실입니다. 그런데 이름이 셋이고 하나는 방향도 반대입니다. 어느 한 이름을 따라 구성 요소를 찾으면 하나만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한계를 한 곳에는 수로, 다른 곳에는 단위까지 붙인 글자로 넣었습니다. 글자는 크기를 비교할 수 없으므로 한계를 넘었는지 판정하지 못합니다. 단위가 빠진 값은 무엇을 뜻하는지 알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넣은 사람은 저마다 맞게 넣었습니다. 없는 것은 모두가 함께 따르는 약속입니다. 지난 시간에 관계 그림은 무엇이든 그릴 수 있어 뜻이 맞는지 검사할 수 없다고 한 것이 같은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약속이 스키마입니다. 지난 시간에 온톨로지는 종류와 속성과 관계와 제약을 명시적으로 정의한 지식 모델이라고 했습니다. 그 정의를 실제로 적어 둔 것이 스키마입니다.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양식이 스키마이고 작성된 문서가 데이터입니다. 칸을 정하는 쪽과 채우는 쪽이 나뉜다는 점까지만 닮았습니다. 대상과 대상의 연결까지 정한다는 점은 양식에 없는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스키마에 클래스 하나가 어떻게 적히는지를 센서 클래스로 한 줄씩 보겠습니다. 맨 먼저 이름입니다. 영문 이름 Sensor가 이 클래스를 가리키는 하나뿐인 이름이고, 센서는 사람이 읽는 한글 이름입니다.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센서라는 낱말만 있으면 계기 장치만 가리키는지, 계산으로 만든 값도 포함하는지를 사람마다 다르게 읽습니다. 계측 채널이라고 적어 두었으므로 냉각 효율도 센서 클래스에 넣을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마지막이 속성 목록입니다. 앞 단원에서 본 센서의 다섯 칸이 한 줄씩 적혀 있습니다. 이것으로 클래스 정의 하나가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센서의 tag 속성 한 줄을 셋으로 나누었습니다. 이름은 tag, 자료형은 글자, 그리고 반드시 있어야 하는 속성입니다. 앞 단원에서 본 값의 형식과 필수 · 선택이 스키마에는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 클래스의 속성 목록입니다. 한계와 정상값이 number, 곧 수로 정해져 있습니다. 앞에서 한계를 글자로 넣어 비교하지 못한 문제가 이 한 줄로 막힙니다.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변수의 kind에는 이 세 값만 쓸 수 있습니다. 유온은 조작한 결과로 나타나는 값이므로 controlled입니다. 값을 정해 두었기 때문에 조작할 수 있는 상태 변수만 고르는 일이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센서의 tag는 필수 속성입니다. 태그가 없으면 저장소에 쌓인 값 가운데 어느 것이 이 센서의 값인지 찾을 수 없습니다. 필수로 정해 두면 이런 인스턴스를 넣기 전에 가려낼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이름을 식별자로 쓰지 않는 까닭은 이름이 겹치거나 바뀌기 때문입니다. 유온 센서라는 이름을 온도 센서로 고쳐도 sen:ts1이라는 식별자는 그대로이고, 이 센서를 가리키는 관계도 그대로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식별자만 보아도 어느 클래스의 대상인지 알 수 있습니다. sen:ts1은 센서이고 sv:ts1은 상태 변수입니다. 뒤쪽이 같아도 접두사가 달라 서로 다른 대상입니다.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사람은 유온을 오일 온도라고도 작동유 온도라고도 부릅니다. 이 이름들을 별칭 목록에 적어 둡니다. 어느 말로 물어도 sv:ts1 하나에 닿으므로 같은 대상이 여러 노드로 흩어지지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유온 값은 TimescaleDB의 tag_1s라는 표에 쌓인다고 했습니다. 그 표의 asset 열과 name 열에는 HYD-01과 TS1이 들어 있습니다. 지식 그래프의 code와 tag가 같은 값이므로 센서를 찾은 뒤 그 값으로 지금의 유온을 읽어 올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정비 이력이나 자재 같은 업무 데이터를 담은 DB도 설비를 HYD-01이라는 같은 값으로 적습니다. 스키마를 설계할 때 다른 시스템이 이미 쓰는 식별자를 속성으로 받아 두는 것은 이 때문입니다. 값이 한 글자라도 다르면 이어지지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스키마에 정의합니다. OBSERVES는 센서에서 시작해 상태 변수에서 끝나는 다대일 관계라고 적혀 있습니다. 앞 단원에서 그림으로 본 관계 유형이 글자로는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정의가 곧 연결 조건이 됩니다. 유온 센서는 센서 클래스의 인스턴스이고 유온은 상태 변수 클래스의 인스턴스입니다. 양 끝이 정의와 같으므로 이 연결은 유효합니다.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아래는 같은 OBSERVES를 유온 센서에서 설비 HYD-01로 그은 것입니다. 센서가 설비를 읽는다는 말은 그럴듯하지만 끝 클래스가 설비이므로 정의에 어긋납니다. 센서와 설비는 정의된 다른 관계를 거쳐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유효하지 않은 연결에는 두 가지 꼴이 더 있습니다. 방향을 반대로 그은 것과, 스키마에 없는 이름으로 그은 것입니다. 둘 다 사람이 보면 뜻이 통하지만, 정의된 이름과 방향으로 조회하면 이 연결은 찾아지지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제약이 있기 때문에 넣은 데이터가 정의에 맞는지를 프로그램으로 검사할 수 있습니다. 지난 시간에 관계 그림과 온톨로지를 가르는 것이 제약이라고 한 까닭이 여기에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센서라는 클래스와 tag라는 속성까지가 스키마입니다. 유온 센서라는 대상은 스키마에 없고 인스턴스 데이터에 있습니다. 앞 단원에서 본 클래스 층과 인스턴스 층이 각각 이 둘에 담깁니다.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둘은 바뀌는 빈도가 다릅니다. 지식을 늘리는 일은 대부분 인스턴스를 더하는 일입니다. 스키마는 처음에 신중하게 정하고 그 뒤로는 드물게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정의를 어떤 순서로 만드는지를 오일 쿨러 사례로 따라가겠습니다. 출발점은 클래스가 아니라 질문입니다. 한 단계씩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질문을 정하면 넣을 것과 넣지 않을 것이 갈립니다. 설비의 색깔이나 제조 연도는 이 세 질문에 쓰이지 않으므로 넣지 않습니다. 이 세 질문이 설계의 끝에서 확인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단원의 「하나이다」 문장으로 가릅니다. 오일 쿨러는 구성 요소의 하나이므로 인스턴스이고 구성 요소가 클래스입니다. 한계는 대상이 아니라 물리량에 딸린 값이므로 여기에 넣지 않고 다음 단계로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클래스마다 상자 하나를 그리고 이름을 붙였습니다. 이름은 영문으로 하나만 정합니다. 상자의 아래 칸은 다음 단계에서 속성으로 채웁니다.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클래스에 식별자 id와 이름 name을 둡니다. 그다음 질문에 필요한 값을 더합니다. 설비에는 설비 코드, 센서에는 태그와 단위, 상태 변수에는 단위와 한계, 부품에는 부품 번호입니다.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 이름 옆 중괄호 안에 속성을 나열하고 필수 속성에 느낌표를 붙였습니다. 한계는 잰 값과 비교해야 하므로 수로 정합니다. 한계가 없는 상태 변수도 있으므로 필수로 두지는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질문은 설비에서 구성 요소를 거쳐 센서로 갑니다. 그래서 설비에서 구성 요소로, 구성 요소에서 센서로 관계를 놓습니다. 둘째 질문을 위해 센서에서 상태 변수로, 셋째 질문을 위해 구성 요소에서 부품으로 관계를 놓습니다.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넷에 양 끝과 카디널리티를 적었습니다. 오일 쿨러는 유온 센서와 냉각 효율 두 채널로 계측되므로 구성 요소 쪽에서 보아 센서가 여럿입니다. 이 네 줄이 앞에서 본 유효한 연결의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여기까지가 스키마입니다. 이 그림에는 HYD-01도 오일 쿨러도 없습니다. 어떤 유형이 있고 어떻게 이어질 수 있는가만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 2에서 가른 실제 대상 다섯을 인스턴스로 넣고 정의한 관계로 이었습니다. 연결마다 양 끝이 정의와 같은지를 확인합니다. 모두 유효한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설비에서 출발해 관계 셋을 따라가면 첫 질문과 둘째 질문의 답이 나옵니다. 오일 쿨러에서 USES_PART를 따라가면 셋째 질문의 답인 쿨러 코어가 나옵니다. 답이 나오지 않으면 빠진 클래스나 관계가 있다는 뜻이므로 앞 단계로 돌아갑니다.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지금의 스키마에는 공급사가 없으므로 이 질문에 답할 수 없습니다. 공급사 클래스와 부품에서 공급사로 가는 관계를 더합니다. 이미 정한 다섯 클래스는 그대로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만든 것은 HYD 온톨로지의 설비 묶음 가운데 일부입니다. 지난 시간에 따라간 증상과 고장 유형과 원인은 진단 묶음의 클래스입니다. 판단과 성과 묶음은 다음 시간에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단원의 처음에 본 세 문제로 돌아왔습니다. 오일 쿨러는 comp:cooler 하나로 들어가고, 구성 요소는 HAS_COMPONENT 하나로 이어지며, 한계는 수로 들어갑니다. 이렇게 정의한 지식을 저장하고 조회하는 방법이 다음 단원입니다.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스키마와 인스턴스를 정했으면 저장할 곳이 필요합니다. 지난 시간에 본 그래프 DB인 Neo4j에서는 인스턴스 하나가 노드 하나가 됩니다. 노드에 붙는 이름표가 레이블이고, 클래스 이름을 레이블로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데이터로 저장됩니다. 관계에 붙는 이름이 관계 유형이고, 스키마에서 정의한 관계의 이름을 그대로 씁니다. 화살표의 방향도 함께 저장됩니다.</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본 속성이 노드에 그대로 들어갑니다. 노드, 관계, 속성의 세 가지가 그래프 DB가 데이터를 담는 구조의 전부입니다. 온톨로지와 구조가 닮았기 때문에 옮겨 넣기가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표로 된 데이터베이스가 관계형 DB입니다. 쿨러 코어를 공급하는 곳을 알려면 부품 테이블과 공급사 테이블에서 part_no 값이 같은 행을 찾아 맞추어야 합니다. 이렇게 맞추어 잇는 일을 조인이라고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사실이 그래프 DB에는 노드 셋과 관계 둘로 들어 있습니다. 쿨러 코어 노드에 공급사 노드로 가는 관계가 이미 붙어 있으므로 따라가기만 하면 됩니다. 건너가는 단계가 늘수록 이 차이가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어느 한쪽이 더 낫다는 뜻이 아닙니다. HYD는 매초 쌓이는 값을 관계형 DB에, 뜻과 연결을 그래프 DB에 두고, 앞에서 본 공통 식별자로 둘을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말을 한 줄씩 맞추었습니다. 상속은 한 노드에 레이블을 둘 붙여 나타냅니다. 온톨로지 스키마는 지식이 어떤 모양이어야 하는가를 정한 정의이고, Neo4j의 레이블과 제약은 그 정의를 도구 안에 옮겨 놓은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스키마에서 식별자는 겹치지 않는다고 정했습니다. 이 제약을 Neo4j에 유일 제약으로 걸어 두면, 같은 id의 노드를 또 만들려고 할 때 Neo4j가 저장을 거절합니다. 스키마가 먼저이고 DB는 그것을 담는 그릇입니다.</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들어 있는 것을 꺼내 보려면 질의를 보냅니다. 지난 시간에 에이전트가 관계를 따라 원인 후보를 찾은 일도 Cypher 질의를 Neo4j에 보낸 것이었습니다. 사람이 Browser에서 쓰는 질의와 같은 언어입니다.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Cypher의 표기는 그림을 글자로 옮긴 것입니다. 동그라미를 둥근 괄호로 흉내 냅니다. 괄호 안의 콜론 뒤에 레이블을 적으면 그 레이블이 붙은 노드라는 뜻이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가운데에 대괄호를 넣고 그 안에 관계 유형을 적습니다. 전체를 왼쪽부터 읽으면 센서 노드에서 OBSERVES 관계로 상태 변수 노드에 이어진 모양입니다.</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s와 v는 쓰는 사람이 정하는 이름입니다. 찾은 센서 노드를 s라고 부르기로 했으므로 뒤에서 s.tag라고 쓰면 그 노드의 tag 속성을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 아래로 갈수록 조건이 늘어납니다. 마지막 줄은 센서 가운데 태그가 TS1인 노드 하나를 가리킵니다. 글자 값은 작은따옴표로 감쌉니다.</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첫 낱말은 MATCH입니다. 이 질의는 오일 쿨러를 재는 센서는 무엇인가라는 질문입니다. 센서가 몇 개인지는 적지 않았습니다. 모양에 맞는 것을 모두 찾는 것이 MATCH의 동작입니다.</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MATCH만으로는 아무것도 보이지 않습니다. RETURN에 구성 요소의 이름과 센서의 태그를 달라고 적었습니다. 오일 쿨러는 TS1과 CE 두 채널로 계측되므로 두 행이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결과를 두 가지로 볼 수 있습니다. 표에서는 한 행이 모양에 맞는 것 하나입니다. 첫 행은 오른쪽 그래프의 파란 화살표, 곧 오일 쿨러에서 TS1로 가는 연결에 해당합니다. 값을 비교할 때는 표가, 연결을 볼 때는 그래프가 편합니다.</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출발점을 설비 HYD-01로 옮겼습니다. 설비에서 구성 요소로, 구성 요소에서 센서로 두 단계를 건넙니다. 노드와 관계를 번갈아 이어 적으면 단계가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단계를 더 이었습니다. 넷째 행을 읽으면 HYD-01의 오일 쿨러는 TS1로 계측되고, 그 센서는 유온을 읽으며, 유온의 한계는 65입니다. 스키마 단원에서 적은 질문 1과 질문 2의 답이 이 질의 하나로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찾은 것 가운데 일부만 보고 싶을 때 WHERE를 씁니다. 한계가 정해진 상태 변수만 남겼더니 세 행이 나옵니다. 지난 시간에 본 PLC의 인터록 셋이 이 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MONITORED_BY는 구성 요소에서 센서로 향합니다. 반대로 적으면 그런 모양이 그래프에 없으므로 빈 결과가 나옵니다. 오류가 뜨지 않기 때문에 알아차리기 어렵습니다. 결과가 비면 화살표의 방향부터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그림으로 따라간 길을 Cypher로 적어 보겠습니다. 이상 패턴에서 DETECTS를 따라 증상으로, INDICATES를 따라 고장 유형으로 갑니다. 두 관계 모두 화살표가 오른쪽을 향합니다.</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CAUSES는 원인에서 고장 유형으로 가는 관계인데 지금은 고장 유형 쪽에서 출발합니다. 그래서 화살표를 왼쪽으로 적습니다. 그림의 화살표 방향을 그대로 옮기면 됩니다. 이 한 줄 앞에 MATCH를 붙인 것이 에이전트가 원인 후보를 찾을 때 보내는 질의입니다.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다음은 만들기입니다. 표기는 조회와 같습니다. 괄호 안에 레이블과 속성을 적으면 그 노드가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MERGE는 먼저 찾아봅니다. 무엇을 같다고 볼지는 괄호 안에 적은 것으로 정해지므로 그 자리에는 식별자를 적습니다. 이름까지 넣으면 이름을 고쳐 다시 실행했을 때 같은 노드를 찾지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설비나 센서처럼 한 번만 있어야 하는 지식은 MERGE로 넣습니다. 넣다가 멈추어 처음부터 다시 실행해도 중복이 생기지 않습니다. CREATE는 작업 기록처럼 실행할 때마다 한 건이 새로 생겨야 하는 데이터에 씁니다.</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양 끝의 노드가 있어야 이을 수 있으므로 먼저 찾습니다. 오일 쿨러에서 유온 센서로, 유온 센서에서 유온으로 관계를 만듭니다. 스키마로 정의하고, 인스턴스를 정하고, 이런 질의로 넣는 것이 지식 그래프를 만드는 과정입니다.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단원에서 본 것을 네 걸음으로 모았습니다. 이어지는 실습에서는 먼저 조회를 직접 써 보고, 그다음 스키마를 설계해 그래프 DB에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읽은 질의를 직접 써 봅니다. 질의를 외우는 것이 아니라 묻고 싶은 것을 노드와 관계의 모양으로 바꾸어 적는 연습입니다. 결과가 예상과 다르면 레이블과 관계 유형의 철자, 화살표의 방향을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질의를 쓰지 않고 지식 지도에서 같은 지식을 찾아봅니다. 오늘 배운 네 낱말을 화면에서 하나씩 짚어 보는 것이 목적입니다. 뒤의 실습에서 직접 만들 그래프는 실습용으로 분리된 다른 환경에 들어가므로, 무엇을 만들거나 지워도 HYD의 기준 지식은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 단원에서 오일 쿨러 사례로 따라간 순서를 다른 설비 자료로 직접 밟습니다. 정의한 내용을 Claude Code에 요구사항으로 전달해 파일을 만들게 합니다. 무엇을 클래스로 두고 무엇을 속성으로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설계한 것을 그래프 DB에 넣습니다. Claude Code가 만든 질의를 실행하기 전에 읽어 봅니다. 노드를 식별자로 MERGE하는지, 관계의 방향이 스키마의 정의와 같은지는 오늘 배운 것으로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쓴 용어입니다. 위의 여섯은 지식을 정의하는 쪽의 말이고 아래 둘은 그래프 DB 쪽의 말입니다. 이 가운데 하나를 골라 학습 노트에 자료 없이 자신의 문장으로 적어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대상을 구분하는 문항입니다. 새로 생긴 것이 유형인지 대상 하나인지를 먼저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어느 대상에 딸려 있는지를 묻는 문항입니다. 보기마다 그 자리에 두었을 때 값을 하나로 정할 수 있는지를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표기를 외웠는지가 아니라 스키마의 방향을 질의로 옮길 수 있는지를 확인하는 문항입니다. 출발하는 노드가 관계의 끝 쪽에 있다는 점을 눈여겨봅니다.</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대상마다 클래스를 만드는 실수이고, 둘째 문항의 2번과 3번은 값을 하나로 정할 수 없습니다. 셋째 문항의 1번은 방향이 반대이고, 3번은 관계 유형이 다르며, 4번은 둥근 괄호와 대괄호를 바꾸어 썼습니다.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5.png"/><Relationship Id="rId5" Type="http://schemas.openxmlformats.org/officeDocument/2006/relationships/image" Target="../media/image31.png"/><Relationship Id="rId6"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4.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2.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7.png"/><Relationship Id="rId4" Type="http://schemas.openxmlformats.org/officeDocument/2006/relationships/image" Target="../media/image31.png"/><Relationship Id="rId5"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5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5.png"/><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2.png"/><Relationship Id="rId4" Type="http://schemas.openxmlformats.org/officeDocument/2006/relationships/image" Target="../media/image5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36.png"/><Relationship Id="rId6" Type="http://schemas.openxmlformats.org/officeDocument/2006/relationships/image" Target="../media/image3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25.png"/><Relationship Id="rId4" Type="http://schemas.openxmlformats.org/officeDocument/2006/relationships/image" Target="../media/image30.png"/><Relationship Id="rId5" Type="http://schemas.openxmlformats.org/officeDocument/2006/relationships/image" Target="../media/image5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6.png"/><Relationship Id="rId4" Type="http://schemas.openxmlformats.org/officeDocument/2006/relationships/image" Target="../media/image5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24.png"/><Relationship Id="rId4" Type="http://schemas.openxmlformats.org/officeDocument/2006/relationships/image" Target="../media/image58.png"/><Relationship Id="rId5" Type="http://schemas.openxmlformats.org/officeDocument/2006/relationships/image" Target="../media/image5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46.png"/><Relationship Id="rId4" Type="http://schemas.openxmlformats.org/officeDocument/2006/relationships/image" Target="../media/image23.png"/><Relationship Id="rId5" Type="http://schemas.openxmlformats.org/officeDocument/2006/relationships/image" Target="../media/image6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44.png"/><Relationship Id="rId4"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61.png"/><Relationship Id="rId4"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2.png"/><Relationship Id="rId4" Type="http://schemas.openxmlformats.org/officeDocument/2006/relationships/image" Target="../media/image22.png"/><Relationship Id="rId5" Type="http://schemas.openxmlformats.org/officeDocument/2006/relationships/image" Target="../media/image63.png"/><Relationship Id="rId6" Type="http://schemas.openxmlformats.org/officeDocument/2006/relationships/image" Target="../media/image6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1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6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6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7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52.png"/><Relationship Id="rId4" Type="http://schemas.openxmlformats.org/officeDocument/2006/relationships/image" Target="../media/image5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59.png"/><Relationship Id="rId4" Type="http://schemas.openxmlformats.org/officeDocument/2006/relationships/image" Target="../media/image58.png"/><Relationship Id="rId5" Type="http://schemas.openxmlformats.org/officeDocument/2006/relationships/image" Target="../media/image61.png"/><Relationship Id="rId6" Type="http://schemas.openxmlformats.org/officeDocument/2006/relationships/image" Target="../media/image3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6.png"/><Relationship Id="rId4" Type="http://schemas.openxmlformats.org/officeDocument/2006/relationships/image" Target="../media/image7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72.png"/><Relationship Id="rId4" Type="http://schemas.openxmlformats.org/officeDocument/2006/relationships/image" Target="../media/image7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74.png"/><Relationship Id="rId4" Type="http://schemas.openxmlformats.org/officeDocument/2006/relationships/image" Target="../media/image5.png"/><Relationship Id="rId5" Type="http://schemas.openxmlformats.org/officeDocument/2006/relationships/image" Target="../media/image36.png"/><Relationship Id="rId6" Type="http://schemas.openxmlformats.org/officeDocument/2006/relationships/image" Target="../media/image3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22.png"/><Relationship Id="rId4" Type="http://schemas.openxmlformats.org/officeDocument/2006/relationships/image" Target="../media/image48.png"/><Relationship Id="rId5" Type="http://schemas.openxmlformats.org/officeDocument/2006/relationships/image" Target="../media/image6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5.png"/><Relationship Id="rId4" Type="http://schemas.openxmlformats.org/officeDocument/2006/relationships/image" Target="../media/image1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7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7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7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7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7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62.png"/><Relationship Id="rId4" Type="http://schemas.openxmlformats.org/officeDocument/2006/relationships/image" Target="../media/image80.png"/><Relationship Id="rId5" Type="http://schemas.openxmlformats.org/officeDocument/2006/relationships/image" Target="../media/image22.png"/><Relationship Id="rId6" Type="http://schemas.openxmlformats.org/officeDocument/2006/relationships/image" Target="../media/image2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74.png"/><Relationship Id="rId4" Type="http://schemas.openxmlformats.org/officeDocument/2006/relationships/image" Target="../media/image81.png"/><Relationship Id="rId5" Type="http://schemas.openxmlformats.org/officeDocument/2006/relationships/image" Target="../media/image7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62.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1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8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8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8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8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8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89.png"/><Relationship Id="rId4" Type="http://schemas.openxmlformats.org/officeDocument/2006/relationships/image" Target="../media/image9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9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image" Target="../media/image9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9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image" Target="../media/image9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44.png"/><Relationship Id="rId4" Type="http://schemas.openxmlformats.org/officeDocument/2006/relationships/image" Target="../media/image4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 Id="rId3" Type="http://schemas.openxmlformats.org/officeDocument/2006/relationships/image" Target="../media/image9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96.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97.png"/><Relationship Id="rId4" Type="http://schemas.openxmlformats.org/officeDocument/2006/relationships/image" Target="../media/image4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 Id="rId3" Type="http://schemas.openxmlformats.org/officeDocument/2006/relationships/image" Target="../media/image71.png"/><Relationship Id="rId4" Type="http://schemas.openxmlformats.org/officeDocument/2006/relationships/image" Target="../media/image98.png"/><Relationship Id="rId5" Type="http://schemas.openxmlformats.org/officeDocument/2006/relationships/image" Target="../media/image81.png"/><Relationship Id="rId6" Type="http://schemas.openxmlformats.org/officeDocument/2006/relationships/image" Target="../media/image7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image" Target="../media/image99.png"/><Relationship Id="rId4" Type="http://schemas.openxmlformats.org/officeDocument/2006/relationships/image" Target="../media/image81.png"/><Relationship Id="rId5" Type="http://schemas.openxmlformats.org/officeDocument/2006/relationships/image" Target="../media/image100.png"/><Relationship Id="rId6" Type="http://schemas.openxmlformats.org/officeDocument/2006/relationships/image" Target="../media/image8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 Id="rId3" Type="http://schemas.openxmlformats.org/officeDocument/2006/relationships/image" Target="../media/image62.png"/><Relationship Id="rId4" Type="http://schemas.openxmlformats.org/officeDocument/2006/relationships/image" Target="../media/image101.png"/><Relationship Id="rId5" Type="http://schemas.openxmlformats.org/officeDocument/2006/relationships/image" Target="../media/image5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74.png"/><Relationship Id="rId4" Type="http://schemas.openxmlformats.org/officeDocument/2006/relationships/image" Target="../media/image5.png"/><Relationship Id="rId5" Type="http://schemas.openxmlformats.org/officeDocument/2006/relationships/image" Target="../media/image36.png"/><Relationship Id="rId6" Type="http://schemas.openxmlformats.org/officeDocument/2006/relationships/image" Target="../media/image10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9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2일차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설비와 데이터의 관계를 체계화해</a:t>
            </a:r>
          </a:p>
          <a:p>
            <a:pPr algn="l">
              <a:lnSpc>
                <a:spcPct val="110000"/>
              </a:lnSpc>
            </a:pPr>
            <a:r>
              <a:rPr sz="4000" b="1">
                <a:solidFill>
                  <a:srgbClr val="FFFFFF"/>
                </a:solidFill>
                <a:latin typeface="맑은 고딕"/>
                <a:ea typeface="맑은 고딕"/>
                <a:cs typeface="맑은 고딕"/>
              </a:rPr>
              <a:t>필요한 정보 찾기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클래스와 인스턴스, 온톨로지 스키마, 그래프 DB와 Cypher</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ategory" descr="categor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hema" descr="schema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database-search" descr="database-search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설비에 관한 지식을 유형과 실제 대상으로 나누어 정의하고, 그래프 DB에 넣어 관계를 따라 조회한다.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클래스와 인스턴스</a:t>
            </a:r>
          </a:p>
          <a:p>
            <a:pPr algn="l">
              <a:lnSpc>
                <a:spcPct val="110000"/>
              </a:lnSpc>
              <a:spcAft>
                <a:spcPts val="400"/>
              </a:spcAft>
            </a:pPr>
            <a:r>
              <a:rPr sz="1350" b="0">
                <a:solidFill>
                  <a:srgbClr val="1F2A3A"/>
                </a:solidFill>
                <a:latin typeface="맑은 고딕"/>
                <a:ea typeface="맑은 고딕"/>
                <a:cs typeface="맑은 고딕"/>
              </a:rPr>
              <a:t>• 유형과 실제 대상을 구분한다</a:t>
            </a:r>
          </a:p>
          <a:p>
            <a:pPr algn="l">
              <a:lnSpc>
                <a:spcPct val="110000"/>
              </a:lnSpc>
              <a:spcAft>
                <a:spcPts val="400"/>
              </a:spcAft>
            </a:pPr>
            <a:r>
              <a:rPr sz="1350" b="0">
                <a:solidFill>
                  <a:srgbClr val="1F2A3A"/>
                </a:solidFill>
                <a:latin typeface="맑은 고딕"/>
                <a:ea typeface="맑은 고딕"/>
                <a:cs typeface="맑은 고딕"/>
              </a:rPr>
              <a:t>• 속성과 관계 가운데 무엇으로 표현할지 판단한다</a:t>
            </a:r>
          </a:p>
        </p:txBody>
      </p:sp>
      <p:sp>
        <p:nvSpPr>
          <p:cNvPr id="10" name="Rounded Rectangle 9"/>
          <p:cNvSpPr/>
          <p:nvPr/>
        </p:nvSpPr>
        <p:spPr>
          <a:xfrm>
            <a:off x="777240" y="537838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지식의 구조</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schema" descr="schema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 스키마</a:t>
            </a:r>
          </a:p>
          <a:p>
            <a:pPr algn="l">
              <a:lnSpc>
                <a:spcPct val="110000"/>
              </a:lnSpc>
              <a:spcAft>
                <a:spcPts val="400"/>
              </a:spcAft>
            </a:pPr>
            <a:r>
              <a:rPr sz="1350" b="0">
                <a:solidFill>
                  <a:srgbClr val="1F2A3A"/>
                </a:solidFill>
                <a:latin typeface="맑은 고딕"/>
                <a:ea typeface="맑은 고딕"/>
                <a:cs typeface="맑은 고딕"/>
              </a:rPr>
              <a:t>• 클래스, 속성, 관계, 제약을 한 벌의 정의로 적는다</a:t>
            </a:r>
          </a:p>
          <a:p>
            <a:pPr algn="l">
              <a:lnSpc>
                <a:spcPct val="110000"/>
              </a:lnSpc>
              <a:spcAft>
                <a:spcPts val="400"/>
              </a:spcAft>
            </a:pPr>
            <a:r>
              <a:rPr sz="1350" b="0">
                <a:solidFill>
                  <a:srgbClr val="1F2A3A"/>
                </a:solidFill>
                <a:latin typeface="맑은 고딕"/>
                <a:ea typeface="맑은 고딕"/>
                <a:cs typeface="맑은 고딕"/>
              </a:rPr>
              <a:t>• 식별자로 같은 대상을 가리킨다</a:t>
            </a:r>
          </a:p>
        </p:txBody>
      </p:sp>
      <p:sp>
        <p:nvSpPr>
          <p:cNvPr id="16" name="Rounded Rectangle 15"/>
          <p:cNvSpPr/>
          <p:nvPr/>
        </p:nvSpPr>
        <p:spPr>
          <a:xfrm>
            <a:off x="3619423" y="537838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원리</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database-search" descr="database-search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DB와 Cypher</a:t>
            </a:r>
          </a:p>
          <a:p>
            <a:pPr algn="l">
              <a:lnSpc>
                <a:spcPct val="110000"/>
              </a:lnSpc>
              <a:spcAft>
                <a:spcPts val="400"/>
              </a:spcAft>
            </a:pPr>
            <a:r>
              <a:rPr sz="1350" b="0">
                <a:solidFill>
                  <a:srgbClr val="1F2A3A"/>
                </a:solidFill>
                <a:latin typeface="맑은 고딕"/>
                <a:ea typeface="맑은 고딕"/>
                <a:cs typeface="맑은 고딕"/>
              </a:rPr>
              <a:t>• 노드와 관계의 표기를 읽는다</a:t>
            </a:r>
          </a:p>
          <a:p>
            <a:pPr algn="l">
              <a:lnSpc>
                <a:spcPct val="110000"/>
              </a:lnSpc>
              <a:spcAft>
                <a:spcPts val="400"/>
              </a:spcAft>
            </a:pPr>
            <a:r>
              <a:rPr sz="1350" b="0">
                <a:solidFill>
                  <a:srgbClr val="1F2A3A"/>
                </a:solidFill>
                <a:latin typeface="맑은 고딕"/>
                <a:ea typeface="맑은 고딕"/>
                <a:cs typeface="맑은 고딕"/>
              </a:rPr>
              <a:t>• MATCH, WHERE, RETURN으로 조회하고 MERGE로 만든다</a:t>
            </a:r>
          </a:p>
        </p:txBody>
      </p:sp>
      <p:sp>
        <p:nvSpPr>
          <p:cNvPr id="22" name="Rounded Rectangle 21"/>
          <p:cNvSpPr/>
          <p:nvPr/>
        </p:nvSpPr>
        <p:spPr>
          <a:xfrm>
            <a:off x="6461607" y="537838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저장과 조회</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설계와 구현</a:t>
            </a:r>
          </a:p>
          <a:p>
            <a:pPr algn="l">
              <a:lnSpc>
                <a:spcPct val="110000"/>
              </a:lnSpc>
              <a:spcAft>
                <a:spcPts val="400"/>
              </a:spcAft>
            </a:pPr>
            <a:r>
              <a:rPr sz="1350" b="0">
                <a:solidFill>
                  <a:srgbClr val="1F2A3A"/>
                </a:solidFill>
                <a:latin typeface="맑은 고딕"/>
                <a:ea typeface="맑은 고딕"/>
                <a:cs typeface="맑은 고딕"/>
              </a:rPr>
              <a:t>• 설비 자료에서 스키마와 인스턴스를 설계한다</a:t>
            </a:r>
          </a:p>
          <a:p>
            <a:pPr algn="l">
              <a:lnSpc>
                <a:spcPct val="110000"/>
              </a:lnSpc>
              <a:spcAft>
                <a:spcPts val="400"/>
              </a:spcAft>
            </a:pPr>
            <a:r>
              <a:rPr sz="1350" b="0">
                <a:solidFill>
                  <a:srgbClr val="1F2A3A"/>
                </a:solidFill>
                <a:latin typeface="맑은 고딕"/>
                <a:ea typeface="맑은 고딕"/>
                <a:cs typeface="맑은 고딕"/>
              </a:rPr>
              <a:t>• 그래프 DB에 넣어 그래프로 확인한다</a:t>
            </a:r>
          </a:p>
        </p:txBody>
      </p:sp>
      <p:sp>
        <p:nvSpPr>
          <p:cNvPr id="28" name="Rounded Rectangle 27"/>
          <p:cNvSpPr/>
          <p:nvPr/>
        </p:nvSpPr>
        <p:spPr>
          <a:xfrm>
            <a:off x="9303791" y="537838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클래스와 인스턴스</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스키마 설계</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그래프 DB와 Cypher</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클래스와 인스턴스</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유형과 실제 대상, 속성과 관계로 나누어 보는 현장 정보의 구조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지난 시간의 관계 그림에 놓인 두 가지 노드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지난 시간의 관계 그림에서 노드 하나는 설비 같은 종류와 HYD-01 같은 실제 이름을 함께 가졌다.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유형과대상_0.svg" descr="illust_3418478363582048625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83034"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p:txBody>
      </p:sp>
      <p:sp>
        <p:nvSpPr>
          <p:cNvPr id="8" name="TextBox 7"/>
          <p:cNvSpPr txBox="1"/>
          <p:nvPr/>
        </p:nvSpPr>
        <p:spPr>
          <a:xfrm>
            <a:off x="6423132"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p:txBody>
      </p:sp>
      <p:sp>
        <p:nvSpPr>
          <p:cNvPr id="9" name="TextBox 8"/>
          <p:cNvSpPr txBox="1"/>
          <p:nvPr/>
        </p:nvSpPr>
        <p:spPr>
          <a:xfrm>
            <a:off x="9063230"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
        <p:nvSpPr>
          <p:cNvPr id="10" name="TextBox 9"/>
          <p:cNvSpPr txBox="1"/>
          <p:nvPr/>
        </p:nvSpPr>
        <p:spPr>
          <a:xfrm>
            <a:off x="3783034"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1" name="TextBox 10"/>
          <p:cNvSpPr txBox="1"/>
          <p:nvPr/>
        </p:nvSpPr>
        <p:spPr>
          <a:xfrm>
            <a:off x="6204942" y="562705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 TS1</a:t>
            </a:r>
          </a:p>
        </p:txBody>
      </p:sp>
      <p:sp>
        <p:nvSpPr>
          <p:cNvPr id="12" name="TextBox 11"/>
          <p:cNvSpPr txBox="1"/>
          <p:nvPr/>
        </p:nvSpPr>
        <p:spPr>
          <a:xfrm>
            <a:off x="9063230"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유형을 그린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센서, 증상은 지난 시간에 종류라고 부른 대상의 유형이며, 어떤 대상이 있는가를 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유형과대상_1.svg" descr="illust_6008946848588345432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2431298"/>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유형</a:t>
            </a:r>
          </a:p>
          <a:p>
            <a:pPr algn="ctr">
              <a:lnSpc>
                <a:spcPct val="110000"/>
              </a:lnSpc>
              <a:spcAft>
                <a:spcPts val="100"/>
              </a:spcAft>
            </a:pPr>
            <a:r>
              <a:rPr sz="1300" b="0">
                <a:solidFill>
                  <a:srgbClr val="556175"/>
                </a:solidFill>
                <a:latin typeface="맑은 고딕"/>
                <a:ea typeface="맑은 고딕"/>
                <a:cs typeface="맑은 고딕"/>
              </a:rPr>
              <a:t>어떤 종류의 대상이</a:t>
            </a:r>
          </a:p>
          <a:p>
            <a:pPr algn="ctr">
              <a:lnSpc>
                <a:spcPct val="110000"/>
              </a:lnSpc>
              <a:spcAft>
                <a:spcPts val="100"/>
              </a:spcAft>
            </a:pPr>
            <a:r>
              <a:rPr sz="1300" b="0">
                <a:solidFill>
                  <a:srgbClr val="556175"/>
                </a:solidFill>
                <a:latin typeface="맑은 고딕"/>
                <a:ea typeface="맑은 고딕"/>
                <a:cs typeface="맑은 고딕"/>
              </a:rPr>
              <a:t>있는가</a:t>
            </a:r>
          </a:p>
        </p:txBody>
      </p:sp>
      <p:sp>
        <p:nvSpPr>
          <p:cNvPr id="8" name="TextBox 7"/>
          <p:cNvSpPr txBox="1"/>
          <p:nvPr/>
        </p:nvSpPr>
        <p:spPr>
          <a:xfrm>
            <a:off x="3783034"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p:txBody>
      </p:sp>
      <p:sp>
        <p:nvSpPr>
          <p:cNvPr id="9" name="TextBox 8"/>
          <p:cNvSpPr txBox="1"/>
          <p:nvPr/>
        </p:nvSpPr>
        <p:spPr>
          <a:xfrm>
            <a:off x="6423132"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p:txBody>
      </p:sp>
      <p:sp>
        <p:nvSpPr>
          <p:cNvPr id="10" name="TextBox 9"/>
          <p:cNvSpPr txBox="1"/>
          <p:nvPr/>
        </p:nvSpPr>
        <p:spPr>
          <a:xfrm>
            <a:off x="9063230"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대상을 그린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 유온 센서 TS1, 유온 상승은 실제 대상이며, 이 그림은 어느 대상에 무슨 일이 있었는가를 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유형과대상_2.svg" descr="illust_331234454307451604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605924"/>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실제 대상</a:t>
            </a:r>
          </a:p>
          <a:p>
            <a:pPr algn="ctr">
              <a:lnSpc>
                <a:spcPct val="110000"/>
              </a:lnSpc>
              <a:spcAft>
                <a:spcPts val="100"/>
              </a:spcAft>
            </a:pPr>
            <a:r>
              <a:rPr sz="1300" b="0">
                <a:solidFill>
                  <a:srgbClr val="556175"/>
                </a:solidFill>
                <a:latin typeface="맑은 고딕"/>
                <a:ea typeface="맑은 고딕"/>
                <a:cs typeface="맑은 고딕"/>
              </a:rPr>
              <a:t>어느 대상에 무슨 일이</a:t>
            </a:r>
          </a:p>
          <a:p>
            <a:pPr algn="ctr">
              <a:lnSpc>
                <a:spcPct val="110000"/>
              </a:lnSpc>
              <a:spcAft>
                <a:spcPts val="100"/>
              </a:spcAft>
            </a:pPr>
            <a:r>
              <a:rPr sz="1300" b="0">
                <a:solidFill>
                  <a:srgbClr val="556175"/>
                </a:solidFill>
                <a:latin typeface="맑은 고딕"/>
                <a:ea typeface="맑은 고딕"/>
                <a:cs typeface="맑은 고딕"/>
              </a:rPr>
              <a:t>있었는가</a:t>
            </a:r>
          </a:p>
        </p:txBody>
      </p:sp>
      <p:sp>
        <p:nvSpPr>
          <p:cNvPr id="8" name="TextBox 7"/>
          <p:cNvSpPr txBox="1"/>
          <p:nvPr/>
        </p:nvSpPr>
        <p:spPr>
          <a:xfrm>
            <a:off x="3783034"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9" name="TextBox 8"/>
          <p:cNvSpPr txBox="1"/>
          <p:nvPr/>
        </p:nvSpPr>
        <p:spPr>
          <a:xfrm>
            <a:off x="6204942" y="562705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 TS1</a:t>
            </a:r>
          </a:p>
        </p:txBody>
      </p:sp>
      <p:sp>
        <p:nvSpPr>
          <p:cNvPr id="10" name="TextBox 9"/>
          <p:cNvSpPr txBox="1"/>
          <p:nvPr/>
        </p:nvSpPr>
        <p:spPr>
          <a:xfrm>
            <a:off x="9063230"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지난 시간에 노드의 「종류」라고 부른 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공통 특성을 가진 대상의 유형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는 공통 특성을 가진 대상을 하나로 묶은 유형이다.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클래스인스턴스_1.svg" descr="illust_324946324038110977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10208" y="2242200"/>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클래스(Class)</a:t>
            </a:r>
          </a:p>
          <a:p>
            <a:pPr algn="ctr">
              <a:lnSpc>
                <a:spcPct val="110000"/>
              </a:lnSpc>
              <a:spcAft>
                <a:spcPts val="100"/>
              </a:spcAft>
            </a:pPr>
            <a:r>
              <a:rPr sz="1300" b="0">
                <a:solidFill>
                  <a:srgbClr val="556175"/>
                </a:solidFill>
                <a:latin typeface="맑은 고딕"/>
                <a:ea typeface="맑은 고딕"/>
                <a:cs typeface="맑은 고딕"/>
              </a:rPr>
              <a:t>공통 특성을 가진 대상의 유형</a:t>
            </a:r>
          </a:p>
        </p:txBody>
      </p:sp>
      <p:sp>
        <p:nvSpPr>
          <p:cNvPr id="8" name="TextBox 7"/>
          <p:cNvSpPr txBox="1"/>
          <p:nvPr/>
        </p:nvSpPr>
        <p:spPr>
          <a:xfrm>
            <a:off x="1001113" y="54568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 · 센서</a:t>
            </a:r>
          </a:p>
          <a:p>
            <a:pPr algn="ctr">
              <a:lnSpc>
                <a:spcPct val="110000"/>
              </a:lnSpc>
              <a:spcAft>
                <a:spcPts val="100"/>
              </a:spcAft>
            </a:pPr>
            <a:r>
              <a:rPr sz="1300" b="0">
                <a:solidFill>
                  <a:srgbClr val="556175"/>
                </a:solidFill>
                <a:latin typeface="맑은 고딕"/>
                <a:ea typeface="맑은 고딕"/>
                <a:cs typeface="맑은 고딕"/>
              </a:rPr>
              <a:t>무엇인가를 재어 값으로 내놓는 계측 채널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인스턴스: 클래스에 속하는 실제 대상 하나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는 클래스에 속하는 실제 대상 하나이며, 유온 센서는 센서 클래스의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클래스인스턴스_2.svg" descr="illust_714313242765242858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8398" y="5456864"/>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 · 센서</a:t>
            </a:r>
          </a:p>
          <a:p>
            <a:pPr algn="ctr">
              <a:lnSpc>
                <a:spcPct val="110000"/>
              </a:lnSpc>
              <a:spcAft>
                <a:spcPts val="100"/>
              </a:spcAft>
            </a:pPr>
            <a:r>
              <a:rPr sz="1300" b="0">
                <a:solidFill>
                  <a:srgbClr val="556175"/>
                </a:solidFill>
                <a:latin typeface="맑은 고딕"/>
                <a:ea typeface="맑은 고딕"/>
                <a:cs typeface="맑은 고딕"/>
              </a:rPr>
              <a:t>클래스</a:t>
            </a:r>
          </a:p>
        </p:txBody>
      </p:sp>
      <p:sp>
        <p:nvSpPr>
          <p:cNvPr id="8" name="TextBox 7"/>
          <p:cNvSpPr txBox="1"/>
          <p:nvPr/>
        </p:nvSpPr>
        <p:spPr>
          <a:xfrm>
            <a:off x="6390403" y="172218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인스턴스(Instance)</a:t>
            </a:r>
          </a:p>
          <a:p>
            <a:pPr algn="ctr">
              <a:lnSpc>
                <a:spcPct val="110000"/>
              </a:lnSpc>
              <a:spcAft>
                <a:spcPts val="100"/>
              </a:spcAft>
            </a:pPr>
            <a:r>
              <a:rPr sz="1300" b="0">
                <a:solidFill>
                  <a:srgbClr val="556175"/>
                </a:solidFill>
                <a:latin typeface="맑은 고딕"/>
                <a:ea typeface="맑은 고딕"/>
                <a:cs typeface="맑은 고딕"/>
              </a:rPr>
              <a:t>클래스에 속하는 실제 대상 하나</a:t>
            </a:r>
          </a:p>
        </p:txBody>
      </p:sp>
      <p:sp>
        <p:nvSpPr>
          <p:cNvPr id="9" name="TextBox 8"/>
          <p:cNvSpPr txBox="1"/>
          <p:nvPr/>
        </p:nvSpPr>
        <p:spPr>
          <a:xfrm>
            <a:off x="6717688" y="257312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sen:ts1</a:t>
            </a:r>
          </a:p>
          <a:p>
            <a:pPr algn="ctr">
              <a:lnSpc>
                <a:spcPct val="110000"/>
              </a:lnSpc>
              <a:spcAft>
                <a:spcPts val="100"/>
              </a:spcAft>
            </a:pPr>
            <a:r>
              <a:rPr sz="1300" b="0">
                <a:solidFill>
                  <a:srgbClr val="556175"/>
                </a:solidFill>
                <a:latin typeface="맑은 고딕"/>
                <a:ea typeface="맑은 고딕"/>
                <a:cs typeface="맑은 고딕"/>
              </a:rPr>
              <a:t>유온 센서 · 태그 TS1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클래스에 속하는 여러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클래스의 인스턴스는 다섯이며, 재는 대상은 달라도 모두 같은 유형에 속한다.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클래스인스턴스_3.svg" descr="illust_481045291578738380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8398" y="5456864"/>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 · 센서</a:t>
            </a:r>
          </a:p>
          <a:p>
            <a:pPr algn="ctr">
              <a:lnSpc>
                <a:spcPct val="110000"/>
              </a:lnSpc>
              <a:spcAft>
                <a:spcPts val="100"/>
              </a:spcAft>
            </a:pPr>
            <a:r>
              <a:rPr sz="1300" b="0">
                <a:solidFill>
                  <a:srgbClr val="556175"/>
                </a:solidFill>
                <a:latin typeface="맑은 고딕"/>
                <a:ea typeface="맑은 고딕"/>
                <a:cs typeface="맑은 고딕"/>
              </a:rPr>
              <a:t>클래스</a:t>
            </a:r>
          </a:p>
        </p:txBody>
      </p:sp>
      <p:sp>
        <p:nvSpPr>
          <p:cNvPr id="8" name="TextBox 7"/>
          <p:cNvSpPr txBox="1"/>
          <p:nvPr/>
        </p:nvSpPr>
        <p:spPr>
          <a:xfrm>
            <a:off x="6717688" y="257312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sen:ts1</a:t>
            </a:r>
          </a:p>
          <a:p>
            <a:pPr algn="ctr">
              <a:lnSpc>
                <a:spcPct val="110000"/>
              </a:lnSpc>
              <a:spcAft>
                <a:spcPts val="100"/>
              </a:spcAft>
            </a:pPr>
            <a:r>
              <a:rPr sz="1300" b="0">
                <a:solidFill>
                  <a:srgbClr val="556175"/>
                </a:solidFill>
                <a:latin typeface="맑은 고딕"/>
                <a:ea typeface="맑은 고딕"/>
                <a:cs typeface="맑은 고딕"/>
              </a:rPr>
              <a:t>유온 센서 · 태그 TS1</a:t>
            </a:r>
          </a:p>
        </p:txBody>
      </p:sp>
      <p:sp>
        <p:nvSpPr>
          <p:cNvPr id="9" name="TextBox 8"/>
          <p:cNvSpPr txBox="1"/>
          <p:nvPr/>
        </p:nvSpPr>
        <p:spPr>
          <a:xfrm>
            <a:off x="6717688" y="334369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sen:ce</a:t>
            </a:r>
          </a:p>
          <a:p>
            <a:pPr algn="ctr">
              <a:lnSpc>
                <a:spcPct val="110000"/>
              </a:lnSpc>
              <a:spcAft>
                <a:spcPts val="100"/>
              </a:spcAft>
            </a:pPr>
            <a:r>
              <a:rPr sz="1300" b="0">
                <a:solidFill>
                  <a:srgbClr val="556175"/>
                </a:solidFill>
                <a:latin typeface="맑은 고딕"/>
                <a:ea typeface="맑은 고딕"/>
                <a:cs typeface="맑은 고딕"/>
              </a:rPr>
              <a:t>냉각 효율 · 태그 CE</a:t>
            </a:r>
          </a:p>
        </p:txBody>
      </p:sp>
      <p:sp>
        <p:nvSpPr>
          <p:cNvPr id="10" name="TextBox 9"/>
          <p:cNvSpPr txBox="1"/>
          <p:nvPr/>
        </p:nvSpPr>
        <p:spPr>
          <a:xfrm>
            <a:off x="6717688" y="4118997"/>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sen:ps1</a:t>
            </a:r>
          </a:p>
          <a:p>
            <a:pPr algn="ctr">
              <a:lnSpc>
                <a:spcPct val="110000"/>
              </a:lnSpc>
              <a:spcAft>
                <a:spcPts val="100"/>
              </a:spcAft>
            </a:pPr>
            <a:r>
              <a:rPr sz="1300" b="0">
                <a:solidFill>
                  <a:srgbClr val="556175"/>
                </a:solidFill>
                <a:latin typeface="맑은 고딕"/>
                <a:ea typeface="맑은 고딕"/>
                <a:cs typeface="맑은 고딕"/>
              </a:rPr>
              <a:t>토출 압력 센서 · 태그 PS1</a:t>
            </a:r>
          </a:p>
        </p:txBody>
      </p:sp>
      <p:sp>
        <p:nvSpPr>
          <p:cNvPr id="11" name="TextBox 10"/>
          <p:cNvSpPr txBox="1"/>
          <p:nvPr/>
        </p:nvSpPr>
        <p:spPr>
          <a:xfrm>
            <a:off x="6717688" y="488957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sen:fs1</a:t>
            </a:r>
          </a:p>
          <a:p>
            <a:pPr algn="ctr">
              <a:lnSpc>
                <a:spcPct val="110000"/>
              </a:lnSpc>
              <a:spcAft>
                <a:spcPts val="100"/>
              </a:spcAft>
            </a:pPr>
            <a:r>
              <a:rPr sz="1300" b="0">
                <a:solidFill>
                  <a:srgbClr val="556175"/>
                </a:solidFill>
                <a:latin typeface="맑은 고딕"/>
                <a:ea typeface="맑은 고딕"/>
                <a:cs typeface="맑은 고딕"/>
              </a:rPr>
              <a:t>유량 센서 · 태그 FS1</a:t>
            </a:r>
          </a:p>
        </p:txBody>
      </p:sp>
      <p:sp>
        <p:nvSpPr>
          <p:cNvPr id="12" name="TextBox 11"/>
          <p:cNvSpPr txBox="1"/>
          <p:nvPr/>
        </p:nvSpPr>
        <p:spPr>
          <a:xfrm>
            <a:off x="6717688" y="5664872"/>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sen:vs1</a:t>
            </a:r>
          </a:p>
          <a:p>
            <a:pPr algn="ctr">
              <a:lnSpc>
                <a:spcPct val="110000"/>
              </a:lnSpc>
              <a:spcAft>
                <a:spcPts val="100"/>
              </a:spcAft>
            </a:pPr>
            <a:r>
              <a:rPr sz="1300" b="0">
                <a:solidFill>
                  <a:srgbClr val="556175"/>
                </a:solidFill>
                <a:latin typeface="맑은 고딕"/>
                <a:ea typeface="맑은 고딕"/>
                <a:cs typeface="맑은 고딕"/>
              </a:rPr>
              <a:t>팬 진동 센서 · 태그 VS1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유압 설비에 관한 대상은 설비, 구성 요소, 센서, 상태 변수, 부품의 다섯 클래스로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설비클래스_0.svg" descr="illust_701380796239821594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 · 설비</a:t>
            </a:r>
          </a:p>
        </p:txBody>
      </p:sp>
      <p:sp>
        <p:nvSpPr>
          <p:cNvPr id="8" name="TextBox 7"/>
          <p:cNvSpPr txBox="1"/>
          <p:nvPr/>
        </p:nvSpPr>
        <p:spPr>
          <a:xfrm>
            <a:off x="2822999" y="1816729"/>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 · 구성 요소</a:t>
            </a:r>
          </a:p>
        </p:txBody>
      </p:sp>
      <p:sp>
        <p:nvSpPr>
          <p:cNvPr id="9" name="TextBox 8"/>
          <p:cNvSpPr txBox="1"/>
          <p:nvPr/>
        </p:nvSpPr>
        <p:spPr>
          <a:xfrm>
            <a:off x="5059445"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 센서</a:t>
            </a:r>
          </a:p>
        </p:txBody>
      </p:sp>
      <p:sp>
        <p:nvSpPr>
          <p:cNvPr id="10" name="TextBox 9"/>
          <p:cNvSpPr txBox="1"/>
          <p:nvPr/>
        </p:nvSpPr>
        <p:spPr>
          <a:xfrm>
            <a:off x="7186797" y="1816729"/>
            <a:ext cx="218189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 · 상태 변수</a:t>
            </a:r>
          </a:p>
        </p:txBody>
      </p:sp>
      <p:sp>
        <p:nvSpPr>
          <p:cNvPr id="11" name="TextBox 10"/>
          <p:cNvSpPr txBox="1"/>
          <p:nvPr/>
        </p:nvSpPr>
        <p:spPr>
          <a:xfrm>
            <a:off x="9423243"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 · 부품</a:t>
            </a:r>
          </a:p>
        </p:txBody>
      </p:sp>
      <p:sp>
        <p:nvSpPr>
          <p:cNvPr id="12" name="TextBox 11"/>
          <p:cNvSpPr txBox="1"/>
          <p:nvPr/>
        </p:nvSpPr>
        <p:spPr>
          <a:xfrm>
            <a:off x="750195"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p:txBody>
      </p:sp>
      <p:sp>
        <p:nvSpPr>
          <p:cNvPr id="13" name="TextBox 12"/>
          <p:cNvSpPr txBox="1"/>
          <p:nvPr/>
        </p:nvSpPr>
        <p:spPr>
          <a:xfrm>
            <a:off x="2932094"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p:txBody>
      </p:sp>
      <p:sp>
        <p:nvSpPr>
          <p:cNvPr id="14" name="TextBox 13"/>
          <p:cNvSpPr txBox="1"/>
          <p:nvPr/>
        </p:nvSpPr>
        <p:spPr>
          <a:xfrm>
            <a:off x="5113993"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7295892"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16" name="TextBox 15"/>
          <p:cNvSpPr txBox="1"/>
          <p:nvPr/>
        </p:nvSpPr>
        <p:spPr>
          <a:xfrm>
            <a:off x="9477791"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Asset: 설비 한 대를 가리키는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설비(Asset)는 설비 한 대를 가리키는 클래스이며, HYD-01 유압 파워팩이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설비클래스_1.svg" descr="illust_185542763740160264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769455"/>
            <a:ext cx="240008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Asset · 설비</a:t>
            </a:r>
          </a:p>
        </p:txBody>
      </p:sp>
      <p:sp>
        <p:nvSpPr>
          <p:cNvPr id="8" name="TextBox 7"/>
          <p:cNvSpPr txBox="1"/>
          <p:nvPr/>
        </p:nvSpPr>
        <p:spPr>
          <a:xfrm>
            <a:off x="641100" y="5291404"/>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HYD-01 유압 파워팩</a:t>
            </a:r>
          </a:p>
          <a:p>
            <a:pPr algn="ctr">
              <a:lnSpc>
                <a:spcPct val="110000"/>
              </a:lnSpc>
              <a:spcAft>
                <a:spcPts val="100"/>
              </a:spcAft>
            </a:pPr>
            <a:r>
              <a:rPr sz="1300" b="0">
                <a:solidFill>
                  <a:srgbClr val="556175"/>
                </a:solidFill>
                <a:latin typeface="맑은 고딕"/>
                <a:ea typeface="맑은 고딕"/>
                <a:cs typeface="맑은 고딕"/>
              </a:rPr>
              <a:t>asset:hyd-01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Component: 설비를 이루는 장치의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구성 요소(Component)는 설비를 이루는 장치의 클래스이며, 오일 쿨러와 쿨러 팬이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설비클래스_2.svg" descr="illust_848839615363007432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95714" y="1769455"/>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Component · 구성 요소</a:t>
            </a:r>
          </a:p>
        </p:txBody>
      </p:sp>
      <p:sp>
        <p:nvSpPr>
          <p:cNvPr id="8" name="TextBox 7"/>
          <p:cNvSpPr txBox="1"/>
          <p:nvPr/>
        </p:nvSpPr>
        <p:spPr>
          <a:xfrm>
            <a:off x="2822999" y="5291404"/>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오일 쿨러</a:t>
            </a:r>
          </a:p>
          <a:p>
            <a:pPr algn="ctr">
              <a:lnSpc>
                <a:spcPct val="110000"/>
              </a:lnSpc>
              <a:spcAft>
                <a:spcPts val="100"/>
              </a:spcAft>
            </a:pPr>
            <a:r>
              <a:rPr sz="1300" b="0">
                <a:solidFill>
                  <a:srgbClr val="556175"/>
                </a:solidFill>
                <a:latin typeface="맑은 고딕"/>
                <a:ea typeface="맑은 고딕"/>
                <a:cs typeface="맑은 고딕"/>
              </a:rPr>
              <a:t>comp:cooler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Sensor: 값을 재어 내놓는 계측 채널의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센서(Sensor)는 값을 재어 내놓는 계측 채널의 클래스이며, 유온 센서가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설비클래스_3.svg" descr="illust_663635296740427712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895803" y="1769455"/>
            <a:ext cx="240008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Sensor · 센서</a:t>
            </a:r>
          </a:p>
        </p:txBody>
      </p:sp>
      <p:sp>
        <p:nvSpPr>
          <p:cNvPr id="8" name="TextBox 7"/>
          <p:cNvSpPr txBox="1"/>
          <p:nvPr/>
        </p:nvSpPr>
        <p:spPr>
          <a:xfrm>
            <a:off x="4895803" y="5291404"/>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sen:ts1 · 태그 TS1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StateVariable: 설비의 물리량을 가리키는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상태 변수(StateVariable)는 설비의 물리량을 가리키는 클래스이며, 유온과 냉각 효율이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설비클래스_4.svg" descr="illust_6580243161654624866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50417" y="1769455"/>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StateVariable · 상태 변수</a:t>
            </a:r>
          </a:p>
        </p:txBody>
      </p:sp>
      <p:sp>
        <p:nvSpPr>
          <p:cNvPr id="8" name="TextBox 7"/>
          <p:cNvSpPr txBox="1"/>
          <p:nvPr/>
        </p:nvSpPr>
        <p:spPr>
          <a:xfrm>
            <a:off x="7295892" y="5291404"/>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sv:ts1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Part: 갈아 끼우는 교체 부품의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부품(Part)은 갈아 끼우는 교체 부품의 클래스이며, 쿨러 코어가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설비클래스_5.svg" descr="illust_682605343643016612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59601" y="1769455"/>
            <a:ext cx="218189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Part · 부품</a:t>
            </a:r>
          </a:p>
        </p:txBody>
      </p:sp>
      <p:sp>
        <p:nvSpPr>
          <p:cNvPr id="8" name="TextBox 7"/>
          <p:cNvSpPr txBox="1"/>
          <p:nvPr/>
        </p:nvSpPr>
        <p:spPr>
          <a:xfrm>
            <a:off x="9041411" y="5291404"/>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코어</a:t>
            </a:r>
          </a:p>
          <a:p>
            <a:pPr algn="ctr">
              <a:lnSpc>
                <a:spcPct val="110000"/>
              </a:lnSpc>
              <a:spcAft>
                <a:spcPts val="100"/>
              </a:spcAft>
            </a:pPr>
            <a:r>
              <a:rPr sz="1300" b="0">
                <a:solidFill>
                  <a:srgbClr val="556175"/>
                </a:solidFill>
                <a:latin typeface="맑은 고딕"/>
                <a:ea typeface="맑은 고딕"/>
                <a:cs typeface="맑은 고딕"/>
              </a:rPr>
              <a:t>part:cooler-core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센서와 상태 변수의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센서는 재는 장치이고 상태 변수는 재어지는 물리량이어서 서로 다른 클래스이다.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재는 쪽이다</a:t>
            </a:r>
          </a:p>
          <a:p>
            <a:pPr algn="l">
              <a:lnSpc>
                <a:spcPct val="110000"/>
              </a:lnSpc>
              <a:spcAft>
                <a:spcPts val="600"/>
              </a:spcAft>
            </a:pPr>
            <a:r>
              <a:rPr sz="1450" b="0">
                <a:solidFill>
                  <a:srgbClr val="1F2A3A"/>
                </a:solidFill>
                <a:latin typeface="맑은 고딕"/>
                <a:ea typeface="맑은 고딕"/>
                <a:cs typeface="맑은 고딕"/>
              </a:rPr>
              <a:t>• 인스턴스: 유온 센서</a:t>
            </a:r>
          </a:p>
          <a:p>
            <a:pPr algn="l">
              <a:lnSpc>
                <a:spcPct val="110000"/>
              </a:lnSpc>
              <a:spcAft>
                <a:spcPts val="600"/>
              </a:spcAft>
            </a:pPr>
            <a:r>
              <a:rPr sz="1450" b="0">
                <a:solidFill>
                  <a:srgbClr val="1F2A3A"/>
                </a:solidFill>
                <a:latin typeface="맑은 고딕"/>
                <a:ea typeface="맑은 고딕"/>
                <a:cs typeface="맑은 고딕"/>
              </a:rPr>
              <a:t>• 태그 TS1과 단위를 갖는다</a:t>
            </a:r>
          </a:p>
        </p:txBody>
      </p:sp>
      <p:sp>
        <p:nvSpPr>
          <p:cNvPr id="11" name="Rounded Rectangle 10"/>
          <p:cNvSpPr/>
          <p:nvPr/>
        </p:nvSpPr>
        <p:spPr>
          <a:xfrm>
            <a:off x="868680" y="4945570"/>
            <a:ext cx="856488"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5648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Sensor</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emperature" descr="temperatur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상태 변수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재어지는 쪽이다</a:t>
            </a:r>
          </a:p>
          <a:p>
            <a:pPr algn="l">
              <a:lnSpc>
                <a:spcPct val="110000"/>
              </a:lnSpc>
              <a:spcAft>
                <a:spcPts val="600"/>
              </a:spcAft>
            </a:pPr>
            <a:r>
              <a:rPr sz="1450" b="0">
                <a:solidFill>
                  <a:srgbClr val="1F2A3A"/>
                </a:solidFill>
                <a:latin typeface="맑은 고딕"/>
                <a:ea typeface="맑은 고딕"/>
                <a:cs typeface="맑은 고딕"/>
              </a:rPr>
              <a:t>• 인스턴스: 유온</a:t>
            </a:r>
          </a:p>
          <a:p>
            <a:pPr algn="l">
              <a:lnSpc>
                <a:spcPct val="110000"/>
              </a:lnSpc>
              <a:spcAft>
                <a:spcPts val="600"/>
              </a:spcAft>
            </a:pPr>
            <a:r>
              <a:rPr sz="1450" b="0">
                <a:solidFill>
                  <a:srgbClr val="1F2A3A"/>
                </a:solidFill>
                <a:latin typeface="맑은 고딕"/>
                <a:ea typeface="맑은 고딕"/>
                <a:cs typeface="맑은 고딕"/>
              </a:rPr>
              <a:t>• 정상값 48과 한계 65를 갖는다</a:t>
            </a:r>
          </a:p>
        </p:txBody>
      </p:sp>
      <p:sp>
        <p:nvSpPr>
          <p:cNvPr id="18" name="Rounded Rectangle 17"/>
          <p:cNvSpPr/>
          <p:nvPr/>
        </p:nvSpPr>
        <p:spPr>
          <a:xfrm>
            <a:off x="6781647" y="4945570"/>
            <a:ext cx="142646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42646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StateVariable</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구성 요소와 부품의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구성 요소는 설비를 이루는 장치이고, 부품은 그 장치 안에서 갈아 끼우는 교체품이다.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Oval 5"/>
          <p:cNvSpPr/>
          <p:nvPr/>
        </p:nvSpPr>
        <p:spPr>
          <a:xfrm>
            <a:off x="1030208"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132621"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구성 요소</a:t>
            </a:r>
          </a:p>
        </p:txBody>
      </p:sp>
      <p:sp>
        <p:nvSpPr>
          <p:cNvPr id="8" name="Oval 7"/>
          <p:cNvSpPr/>
          <p:nvPr/>
        </p:nvSpPr>
        <p:spPr>
          <a:xfrm>
            <a:off x="3919621"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4022034"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팬</a:t>
            </a:r>
          </a:p>
          <a:p>
            <a:pPr algn="ctr">
              <a:lnSpc>
                <a:spcPct val="110000"/>
              </a:lnSpc>
            </a:pPr>
            <a:r>
              <a:rPr sz="1100" b="0">
                <a:solidFill>
                  <a:srgbClr val="556175"/>
                </a:solidFill>
                <a:latin typeface="맑은 고딕"/>
                <a:ea typeface="맑은 고딕"/>
                <a:cs typeface="맑은 고딕"/>
              </a:rPr>
              <a:t>구성 요소</a:t>
            </a:r>
          </a:p>
        </p:txBody>
      </p:sp>
      <p:sp>
        <p:nvSpPr>
          <p:cNvPr id="10" name="Oval 9"/>
          <p:cNvSpPr/>
          <p:nvPr/>
        </p:nvSpPr>
        <p:spPr>
          <a:xfrm>
            <a:off x="6809033"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911446"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주 펌프 (A)</a:t>
            </a:r>
          </a:p>
          <a:p>
            <a:pPr algn="ctr">
              <a:lnSpc>
                <a:spcPct val="110000"/>
              </a:lnSpc>
            </a:pPr>
            <a:r>
              <a:rPr sz="1100" b="0">
                <a:solidFill>
                  <a:srgbClr val="556175"/>
                </a:solidFill>
                <a:latin typeface="맑은 고딕"/>
                <a:ea typeface="맑은 고딕"/>
                <a:cs typeface="맑은 고딕"/>
              </a:rPr>
              <a:t>구성 요소</a:t>
            </a:r>
          </a:p>
        </p:txBody>
      </p:sp>
      <p:sp>
        <p:nvSpPr>
          <p:cNvPr id="12" name="Oval 11"/>
          <p:cNvSpPr/>
          <p:nvPr/>
        </p:nvSpPr>
        <p:spPr>
          <a:xfrm>
            <a:off x="9698446"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9800859"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작동유 탱크</a:t>
            </a:r>
          </a:p>
          <a:p>
            <a:pPr algn="ctr">
              <a:lnSpc>
                <a:spcPct val="110000"/>
              </a:lnSpc>
            </a:pPr>
            <a:r>
              <a:rPr sz="1100" b="0">
                <a:solidFill>
                  <a:srgbClr val="556175"/>
                </a:solidFill>
                <a:latin typeface="맑은 고딕"/>
                <a:ea typeface="맑은 고딕"/>
                <a:cs typeface="맑은 고딕"/>
              </a:rPr>
              <a:t>구성 요소</a:t>
            </a:r>
          </a:p>
        </p:txBody>
      </p:sp>
      <p:sp>
        <p:nvSpPr>
          <p:cNvPr id="14" name="Oval 13"/>
          <p:cNvSpPr/>
          <p:nvPr/>
        </p:nvSpPr>
        <p:spPr>
          <a:xfrm>
            <a:off x="1030208"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1132621"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코어</a:t>
            </a:r>
          </a:p>
          <a:p>
            <a:pPr algn="ctr">
              <a:lnSpc>
                <a:spcPct val="110000"/>
              </a:lnSpc>
            </a:pPr>
            <a:r>
              <a:rPr sz="1100" b="0">
                <a:solidFill>
                  <a:srgbClr val="556175"/>
                </a:solidFill>
                <a:latin typeface="맑은 고딕"/>
                <a:ea typeface="맑은 고딕"/>
                <a:cs typeface="맑은 고딕"/>
              </a:rPr>
              <a:t>부품</a:t>
            </a:r>
          </a:p>
        </p:txBody>
      </p:sp>
      <p:sp>
        <p:nvSpPr>
          <p:cNvPr id="16" name="Oval 15"/>
          <p:cNvSpPr/>
          <p:nvPr/>
        </p:nvSpPr>
        <p:spPr>
          <a:xfrm>
            <a:off x="3919621"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4022034"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베어링</a:t>
            </a:r>
          </a:p>
          <a:p>
            <a:pPr algn="ctr">
              <a:lnSpc>
                <a:spcPct val="110000"/>
              </a:lnSpc>
            </a:pPr>
            <a:r>
              <a:rPr sz="1100" b="0">
                <a:solidFill>
                  <a:srgbClr val="556175"/>
                </a:solidFill>
                <a:latin typeface="맑은 고딕"/>
                <a:ea typeface="맑은 고딕"/>
                <a:cs typeface="맑은 고딕"/>
              </a:rPr>
              <a:t>부품</a:t>
            </a:r>
          </a:p>
        </p:txBody>
      </p:sp>
      <p:sp>
        <p:nvSpPr>
          <p:cNvPr id="18" name="Oval 17"/>
          <p:cNvSpPr/>
          <p:nvPr/>
        </p:nvSpPr>
        <p:spPr>
          <a:xfrm>
            <a:off x="6809033"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6911446"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펌프 축 씰 키트</a:t>
            </a:r>
          </a:p>
          <a:p>
            <a:pPr algn="ctr">
              <a:lnSpc>
                <a:spcPct val="110000"/>
              </a:lnSpc>
            </a:pPr>
            <a:r>
              <a:rPr sz="1100" b="0">
                <a:solidFill>
                  <a:srgbClr val="556175"/>
                </a:solidFill>
                <a:latin typeface="맑은 고딕"/>
                <a:ea typeface="맑은 고딕"/>
                <a:cs typeface="맑은 고딕"/>
              </a:rPr>
              <a:t>부품</a:t>
            </a:r>
          </a:p>
        </p:txBody>
      </p:sp>
      <p:sp>
        <p:nvSpPr>
          <p:cNvPr id="20" name="Oval 19"/>
          <p:cNvSpPr/>
          <p:nvPr/>
        </p:nvSpPr>
        <p:spPr>
          <a:xfrm>
            <a:off x="9698446" y="4892040"/>
            <a:ext cx="1463040" cy="1463040"/>
          </a:xfrm>
          <a:prstGeom prst="ellipse">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9800859"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리턴 필터 엘리먼트</a:t>
            </a:r>
          </a:p>
          <a:p>
            <a:pPr algn="ctr">
              <a:lnSpc>
                <a:spcPct val="110000"/>
              </a:lnSpc>
            </a:pPr>
            <a:r>
              <a:rPr sz="1100" b="0">
                <a:solidFill>
                  <a:srgbClr val="556175"/>
                </a:solidFill>
                <a:latin typeface="맑은 고딕"/>
                <a:ea typeface="맑은 고딕"/>
                <a:cs typeface="맑은 고딕"/>
              </a:rPr>
              <a:t>부품</a:t>
            </a:r>
          </a:p>
        </p:txBody>
      </p:sp>
      <p:cxnSp>
        <p:nvCxnSpPr>
          <p:cNvPr id="22" name="Connector 21"/>
          <p:cNvCxnSpPr/>
          <p:nvPr/>
        </p:nvCxnSpPr>
        <p:spPr>
          <a:xfrm>
            <a:off x="1761728" y="3136392"/>
            <a:ext cx="0" cy="1682496"/>
          </a:xfrm>
          <a:prstGeom prst="line">
            <a:avLst/>
          </a:prstGeom>
          <a:ln w="28575">
            <a:solidFill>
              <a:srgbClr val="13294B"/>
            </a:solidFill>
            <a:tailEnd type="triangle" w="med" len="med"/>
          </a:ln>
        </p:spPr>
      </p:cxnSp>
      <p:sp>
        <p:nvSpPr>
          <p:cNvPr id="23" name="Rounded Rectangle 22"/>
          <p:cNvSpPr/>
          <p:nvPr/>
        </p:nvSpPr>
        <p:spPr>
          <a:xfrm>
            <a:off x="1853168" y="3831336"/>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1853168" y="3831336"/>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cxnSp>
        <p:nvCxnSpPr>
          <p:cNvPr id="25" name="Connector 24"/>
          <p:cNvCxnSpPr/>
          <p:nvPr/>
        </p:nvCxnSpPr>
        <p:spPr>
          <a:xfrm>
            <a:off x="4651141" y="3136392"/>
            <a:ext cx="0" cy="1682496"/>
          </a:xfrm>
          <a:prstGeom prst="line">
            <a:avLst/>
          </a:prstGeom>
          <a:ln w="28575">
            <a:solidFill>
              <a:srgbClr val="13294B"/>
            </a:solidFill>
            <a:tailEnd type="triangle" w="med" len="med"/>
          </a:ln>
        </p:spPr>
      </p:cxnSp>
      <p:sp>
        <p:nvSpPr>
          <p:cNvPr id="26" name="Rounded Rectangle 25"/>
          <p:cNvSpPr/>
          <p:nvPr/>
        </p:nvSpPr>
        <p:spPr>
          <a:xfrm>
            <a:off x="4742581" y="3831336"/>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4742581" y="3831336"/>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cxnSp>
        <p:nvCxnSpPr>
          <p:cNvPr id="28" name="Connector 27"/>
          <p:cNvCxnSpPr/>
          <p:nvPr/>
        </p:nvCxnSpPr>
        <p:spPr>
          <a:xfrm>
            <a:off x="7540553" y="3136392"/>
            <a:ext cx="0" cy="1682496"/>
          </a:xfrm>
          <a:prstGeom prst="line">
            <a:avLst/>
          </a:prstGeom>
          <a:ln w="28575">
            <a:solidFill>
              <a:srgbClr val="13294B"/>
            </a:solidFill>
            <a:tailEnd type="triangle" w="med" len="med"/>
          </a:ln>
        </p:spPr>
      </p:cxnSp>
      <p:sp>
        <p:nvSpPr>
          <p:cNvPr id="29" name="Rounded Rectangle 28"/>
          <p:cNvSpPr/>
          <p:nvPr/>
        </p:nvSpPr>
        <p:spPr>
          <a:xfrm>
            <a:off x="7631993" y="3831336"/>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0" name="TextBox 29"/>
          <p:cNvSpPr txBox="1"/>
          <p:nvPr/>
        </p:nvSpPr>
        <p:spPr>
          <a:xfrm>
            <a:off x="7631993" y="3831336"/>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cxnSp>
        <p:nvCxnSpPr>
          <p:cNvPr id="31" name="Connector 30"/>
          <p:cNvCxnSpPr/>
          <p:nvPr/>
        </p:nvCxnSpPr>
        <p:spPr>
          <a:xfrm>
            <a:off x="10429966" y="3136392"/>
            <a:ext cx="0" cy="1682496"/>
          </a:xfrm>
          <a:prstGeom prst="line">
            <a:avLst/>
          </a:prstGeom>
          <a:ln w="28575">
            <a:solidFill>
              <a:srgbClr val="13294B"/>
            </a:solidFill>
            <a:tailEnd type="triangle" w="med" len="med"/>
          </a:ln>
        </p:spPr>
      </p:cxnSp>
      <p:sp>
        <p:nvSpPr>
          <p:cNvPr id="32" name="Rounded Rectangle 31"/>
          <p:cNvSpPr/>
          <p:nvPr/>
        </p:nvSpPr>
        <p:spPr>
          <a:xfrm>
            <a:off x="10521406" y="3831336"/>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3" name="TextBox 32"/>
          <p:cNvSpPr txBox="1"/>
          <p:nvPr/>
        </p:nvSpPr>
        <p:spPr>
          <a:xfrm>
            <a:off x="10521406" y="3831336"/>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클래스와 인스턴스를 가르는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어떤 낱말이 클래스인지 인스턴스인지는 「하나이다」라는 문장에 넣어 보면 가려진다.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「A는 B의 하나이다」가 성립하면 A는 인스턴스이고 B는 클래스이다</a:t>
            </a:r>
          </a:p>
        </p:txBody>
      </p:sp>
      <p:sp>
        <p:nvSpPr>
          <p:cNvPr id="8" name="TextBox 7"/>
          <p:cNvSpPr txBox="1"/>
          <p:nvPr/>
        </p:nvSpPr>
        <p:spPr>
          <a:xfrm>
            <a:off x="548640"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오일 쿨러는 구성 요소의 하나이다</a:t>
            </a:r>
          </a:p>
          <a:p>
            <a:pPr algn="l">
              <a:lnSpc>
                <a:spcPct val="110000"/>
              </a:lnSpc>
              <a:spcAft>
                <a:spcPts val="400"/>
              </a:spcAft>
            </a:pPr>
            <a:r>
              <a:rPr sz="1400" b="0">
                <a:solidFill>
                  <a:srgbClr val="1F2A3A"/>
                </a:solidFill>
                <a:latin typeface="맑은 고딕"/>
                <a:ea typeface="맑은 고딕"/>
                <a:cs typeface="맑은 고딕"/>
              </a:rPr>
              <a:t>오일 쿨러 = 인스턴스</a:t>
            </a:r>
          </a:p>
          <a:p>
            <a:pPr algn="l">
              <a:lnSpc>
                <a:spcPct val="110000"/>
              </a:lnSpc>
              <a:spcAft>
                <a:spcPts val="400"/>
              </a:spcAft>
            </a:pPr>
            <a:r>
              <a:rPr sz="1400" b="0">
                <a:solidFill>
                  <a:srgbClr val="1F2A3A"/>
                </a:solidFill>
                <a:latin typeface="맑은 고딕"/>
                <a:ea typeface="맑은 고딕"/>
                <a:cs typeface="맑은 고딕"/>
              </a:rPr>
              <a:t>구성 요소 = 클래스</a:t>
            </a:r>
          </a:p>
        </p:txBody>
      </p:sp>
      <p:sp>
        <p:nvSpPr>
          <p:cNvPr id="9" name="TextBox 8"/>
          <p:cNvSpPr txBox="1"/>
          <p:nvPr/>
        </p:nvSpPr>
        <p:spPr>
          <a:xfrm>
            <a:off x="4338218"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HYD-01은 설비의 하나이다</a:t>
            </a:r>
          </a:p>
          <a:p>
            <a:pPr algn="l">
              <a:lnSpc>
                <a:spcPct val="110000"/>
              </a:lnSpc>
              <a:spcAft>
                <a:spcPts val="400"/>
              </a:spcAft>
            </a:pPr>
            <a:r>
              <a:rPr sz="1400" b="0">
                <a:solidFill>
                  <a:srgbClr val="1F2A3A"/>
                </a:solidFill>
                <a:latin typeface="맑은 고딕"/>
                <a:ea typeface="맑은 고딕"/>
                <a:cs typeface="맑은 고딕"/>
              </a:rPr>
              <a:t>HYD-01 = 인스턴스</a:t>
            </a:r>
          </a:p>
          <a:p>
            <a:pPr algn="l">
              <a:lnSpc>
                <a:spcPct val="110000"/>
              </a:lnSpc>
              <a:spcAft>
                <a:spcPts val="400"/>
              </a:spcAft>
            </a:pPr>
            <a:r>
              <a:rPr sz="1400" b="0">
                <a:solidFill>
                  <a:srgbClr val="1F2A3A"/>
                </a:solidFill>
                <a:latin typeface="맑은 고딕"/>
                <a:ea typeface="맑은 고딕"/>
                <a:cs typeface="맑은 고딕"/>
              </a:rPr>
              <a:t>설비 = 클래스</a:t>
            </a:r>
          </a:p>
        </p:txBody>
      </p:sp>
      <p:sp>
        <p:nvSpPr>
          <p:cNvPr id="10" name="TextBox 9"/>
          <p:cNvSpPr txBox="1"/>
          <p:nvPr/>
        </p:nvSpPr>
        <p:spPr>
          <a:xfrm>
            <a:off x="8127796"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유온은 상태 변수의 하나이다</a:t>
            </a:r>
          </a:p>
          <a:p>
            <a:pPr algn="l">
              <a:lnSpc>
                <a:spcPct val="110000"/>
              </a:lnSpc>
              <a:spcAft>
                <a:spcPts val="400"/>
              </a:spcAft>
            </a:pPr>
            <a:r>
              <a:rPr sz="1400" b="0">
                <a:solidFill>
                  <a:srgbClr val="1F2A3A"/>
                </a:solidFill>
                <a:latin typeface="맑은 고딕"/>
                <a:ea typeface="맑은 고딕"/>
                <a:cs typeface="맑은 고딕"/>
              </a:rPr>
              <a:t>유온 = 인스턴스</a:t>
            </a:r>
          </a:p>
          <a:p>
            <a:pPr algn="l">
              <a:lnSpc>
                <a:spcPct val="110000"/>
              </a:lnSpc>
              <a:spcAft>
                <a:spcPts val="400"/>
              </a:spcAft>
            </a:pPr>
            <a:r>
              <a:rPr sz="1400" b="0">
                <a:solidFill>
                  <a:srgbClr val="1F2A3A"/>
                </a:solidFill>
                <a:latin typeface="맑은 고딕"/>
                <a:ea typeface="맑은 고딕"/>
                <a:cs typeface="맑은 고딕"/>
              </a:rPr>
              <a:t>상태 변수 = 클래스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사례: 센서, 유온 센서, TS1</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센서는 클래스이고, 유온 센서는 그 인스턴스이며, TS1은 그 인스턴스에 붙은 값이다.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ectangle 5"/>
          <p:cNvSpPr/>
          <p:nvPr/>
        </p:nvSpPr>
        <p:spPr>
          <a:xfrm>
            <a:off x="2397709" y="3146679"/>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2180539" y="2947797"/>
            <a:ext cx="434340" cy="434340"/>
          </a:xfrm>
          <a:prstGeom prst="rect">
            <a:avLst/>
          </a:prstGeom>
        </p:spPr>
      </p:pic>
      <p:sp>
        <p:nvSpPr>
          <p:cNvPr id="9" name="Oval 8"/>
          <p:cNvSpPr/>
          <p:nvPr/>
        </p:nvSpPr>
        <p:spPr>
          <a:xfrm>
            <a:off x="2557729"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센서</a:t>
            </a:r>
          </a:p>
          <a:p>
            <a:pPr algn="ctr">
              <a:lnSpc>
                <a:spcPct val="110000"/>
              </a:lnSpc>
              <a:spcAft>
                <a:spcPts val="400"/>
              </a:spcAft>
            </a:pPr>
            <a:r>
              <a:rPr sz="1350" b="0">
                <a:solidFill>
                  <a:srgbClr val="1F2A3A"/>
                </a:solidFill>
                <a:latin typeface="맑은 고딕"/>
                <a:ea typeface="맑은 고딕"/>
                <a:cs typeface="맑은 고딕"/>
              </a:rPr>
              <a:t>유형의 이름이다</a:t>
            </a:r>
          </a:p>
          <a:p>
            <a:pPr algn="ctr">
              <a:lnSpc>
                <a:spcPct val="110000"/>
              </a:lnSpc>
              <a:spcAft>
                <a:spcPts val="400"/>
              </a:spcAft>
            </a:pPr>
            <a:r>
              <a:rPr sz="1350" b="0">
                <a:solidFill>
                  <a:srgbClr val="1F2A3A"/>
                </a:solidFill>
                <a:latin typeface="맑은 고딕"/>
                <a:ea typeface="맑은 고딕"/>
                <a:cs typeface="맑은 고딕"/>
              </a:rPr>
              <a:t>클래스</a:t>
            </a:r>
          </a:p>
        </p:txBody>
      </p:sp>
      <p:sp>
        <p:nvSpPr>
          <p:cNvPr id="12" name="Oval 11"/>
          <p:cNvSpPr/>
          <p:nvPr/>
        </p:nvSpPr>
        <p:spPr>
          <a:xfrm>
            <a:off x="5661507"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gauge" descr="gauge_13294B_1.6.png"/>
          <p:cNvPicPr>
            <a:picLocks noChangeAspect="1"/>
          </p:cNvPicPr>
          <p:nvPr/>
        </p:nvPicPr>
        <p:blipFill>
          <a:blip r:embed="rId4"/>
          <a:stretch>
            <a:fillRect/>
          </a:stretch>
        </p:blipFill>
        <p:spPr>
          <a:xfrm>
            <a:off x="5878677" y="2947797"/>
            <a:ext cx="434340" cy="434340"/>
          </a:xfrm>
          <a:prstGeom prst="rect">
            <a:avLst/>
          </a:prstGeom>
        </p:spPr>
      </p:pic>
      <p:sp>
        <p:nvSpPr>
          <p:cNvPr id="14" name="Oval 13"/>
          <p:cNvSpPr/>
          <p:nvPr/>
        </p:nvSpPr>
        <p:spPr>
          <a:xfrm>
            <a:off x="6255867"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유온 센서</a:t>
            </a:r>
          </a:p>
          <a:p>
            <a:pPr algn="ctr">
              <a:lnSpc>
                <a:spcPct val="110000"/>
              </a:lnSpc>
              <a:spcAft>
                <a:spcPts val="400"/>
              </a:spcAft>
            </a:pPr>
            <a:r>
              <a:rPr sz="1350" b="0">
                <a:solidFill>
                  <a:srgbClr val="1F2A3A"/>
                </a:solidFill>
                <a:latin typeface="맑은 고딕"/>
                <a:ea typeface="맑은 고딕"/>
                <a:cs typeface="맑은 고딕"/>
              </a:rPr>
              <a:t>센서의 하나이다</a:t>
            </a:r>
          </a:p>
          <a:p>
            <a:pPr algn="ctr">
              <a:lnSpc>
                <a:spcPct val="110000"/>
              </a:lnSpc>
              <a:spcAft>
                <a:spcPts val="400"/>
              </a:spcAft>
            </a:pPr>
            <a:r>
              <a:rPr sz="1350" b="0">
                <a:solidFill>
                  <a:srgbClr val="1F2A3A"/>
                </a:solidFill>
                <a:latin typeface="맑은 고딕"/>
                <a:ea typeface="맑은 고딕"/>
                <a:cs typeface="맑은 고딕"/>
              </a:rPr>
              <a:t>인스턴스</a:t>
            </a:r>
          </a:p>
        </p:txBody>
      </p:sp>
      <p:sp>
        <p:nvSpPr>
          <p:cNvPr id="17" name="Oval 16"/>
          <p:cNvSpPr/>
          <p:nvPr/>
        </p:nvSpPr>
        <p:spPr>
          <a:xfrm>
            <a:off x="9359646" y="2730627"/>
            <a:ext cx="868680" cy="868680"/>
          </a:xfrm>
          <a:prstGeom prst="ellipse">
            <a:avLst/>
          </a:prstGeom>
          <a:solidFill>
            <a:srgbClr val="5CB8F2"/>
          </a:solidFill>
          <a:ln>
            <a:noFill/>
          </a:ln>
        </p:spPr>
        <p:txBody>
          <a:bodyPr rtlCol="0" anchor="ctr"/>
          <a:lstStyle/>
          <a:p>
            <a:pPr algn="ctr"/>
          </a:p>
        </p:txBody>
      </p:sp>
      <p:pic>
        <p:nvPicPr>
          <p:cNvPr id="18" name="아이콘:tag" descr="tag_13294B_1.6.png"/>
          <p:cNvPicPr>
            <a:picLocks noChangeAspect="1"/>
          </p:cNvPicPr>
          <p:nvPr/>
        </p:nvPicPr>
        <p:blipFill>
          <a:blip r:embed="rId5"/>
          <a:stretch>
            <a:fillRect/>
          </a:stretch>
        </p:blipFill>
        <p:spPr>
          <a:xfrm>
            <a:off x="9576816" y="2947797"/>
            <a:ext cx="434340" cy="434340"/>
          </a:xfrm>
          <a:prstGeom prst="rect">
            <a:avLst/>
          </a:prstGeom>
        </p:spPr>
      </p:pic>
      <p:sp>
        <p:nvSpPr>
          <p:cNvPr id="19" name="Oval 18"/>
          <p:cNvSpPr/>
          <p:nvPr/>
        </p:nvSpPr>
        <p:spPr>
          <a:xfrm>
            <a:off x="9954006"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782187"/>
            <a:ext cx="3551834"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TS1</a:t>
            </a:r>
          </a:p>
          <a:p>
            <a:pPr algn="ctr">
              <a:lnSpc>
                <a:spcPct val="110000"/>
              </a:lnSpc>
              <a:spcAft>
                <a:spcPts val="400"/>
              </a:spcAft>
            </a:pPr>
            <a:r>
              <a:rPr sz="1350" b="0">
                <a:solidFill>
                  <a:srgbClr val="1F2A3A"/>
                </a:solidFill>
                <a:latin typeface="맑은 고딕"/>
                <a:ea typeface="맑은 고딕"/>
                <a:cs typeface="맑은 고딕"/>
              </a:rPr>
              <a:t>유온 센서의 태그이다</a:t>
            </a:r>
          </a:p>
          <a:p>
            <a:pPr algn="ctr">
              <a:lnSpc>
                <a:spcPct val="110000"/>
              </a:lnSpc>
              <a:spcAft>
                <a:spcPts val="400"/>
              </a:spcAft>
            </a:pPr>
            <a:r>
              <a:rPr sz="1350" b="0">
                <a:solidFill>
                  <a:srgbClr val="1F2A3A"/>
                </a:solidFill>
                <a:latin typeface="맑은 고딕"/>
                <a:ea typeface="맑은 고딕"/>
                <a:cs typeface="맑은 고딕"/>
              </a:rPr>
              <a:t>인스턴스에 붙은 값</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사례: 물건이 아닌 대상의 클래스와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 고장 유형, 원인처럼 물건이 아닌 것도 클래스가 되고, 그 하나하나가 인스턴스가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증상</a:t>
            </a:r>
          </a:p>
          <a:p>
            <a:pPr algn="l">
              <a:lnSpc>
                <a:spcPct val="110000"/>
              </a:lnSpc>
              <a:spcAft>
                <a:spcPts val="200"/>
              </a:spcAft>
            </a:pPr>
            <a:r>
              <a:rPr sz="1150" b="0">
                <a:solidFill>
                  <a:srgbClr val="556175"/>
                </a:solidFill>
                <a:latin typeface="맑은 고딕"/>
                <a:ea typeface="맑은 고딕"/>
                <a:cs typeface="맑은 고딕"/>
              </a:rPr>
              <a:t>Symptom</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Symptom의 인스턴스: 유온 상승, 냉각 효율 저하</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고장 유형</a:t>
            </a:r>
          </a:p>
          <a:p>
            <a:pPr algn="l">
              <a:lnSpc>
                <a:spcPct val="110000"/>
              </a:lnSpc>
              <a:spcAft>
                <a:spcPts val="200"/>
              </a:spcAft>
            </a:pPr>
            <a:r>
              <a:rPr sz="1150" b="0">
                <a:solidFill>
                  <a:srgbClr val="556175"/>
                </a:solidFill>
                <a:latin typeface="맑은 고딕"/>
                <a:ea typeface="맑은 고딕"/>
                <a:cs typeface="맑은 고딕"/>
              </a:rPr>
              <a:t>FailureMode</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FailureMode의 인스턴스: 쿨러 냉각 성능 상실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원인</a:t>
            </a:r>
          </a:p>
          <a:p>
            <a:pPr algn="l">
              <a:lnSpc>
                <a:spcPct val="110000"/>
              </a:lnSpc>
              <a:spcAft>
                <a:spcPts val="200"/>
              </a:spcAft>
            </a:pPr>
            <a:r>
              <a:rPr sz="1150" b="0">
                <a:solidFill>
                  <a:srgbClr val="556175"/>
                </a:solidFill>
                <a:latin typeface="맑은 고딕"/>
                <a:ea typeface="맑은 고딕"/>
                <a:cs typeface="맑은 고딕"/>
              </a:rPr>
              <a:t>Cause</a:t>
            </a:r>
          </a:p>
        </p:txBody>
      </p:sp>
      <p:sp>
        <p:nvSpPr>
          <p:cNvPr id="13" name="TextBox 12"/>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Cause의 인스턴스: 쿨러 핀 오염, 팬 구동 불량, 주변 온도 상승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연습: 클래스, 인스턴스,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영역의 낱말은 클래스, 인스턴스, 인스턴스에 붙은 값 가운데 하나로 가려진다.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클래스</a:t>
            </a:r>
          </a:p>
          <a:p>
            <a:pPr algn="l">
              <a:lnSpc>
                <a:spcPct val="110000"/>
              </a:lnSpc>
              <a:spcAft>
                <a:spcPts val="400"/>
              </a:spcAft>
            </a:pPr>
            <a:r>
              <a:rPr sz="1400" b="0">
                <a:solidFill>
                  <a:srgbClr val="1F2A3A"/>
                </a:solidFill>
                <a:latin typeface="맑은 고딕"/>
                <a:ea typeface="맑은 고딕"/>
                <a:cs typeface="맑은 고딕"/>
              </a:rPr>
              <a:t>• 설비</a:t>
            </a:r>
          </a:p>
          <a:p>
            <a:pPr algn="l">
              <a:lnSpc>
                <a:spcPct val="110000"/>
              </a:lnSpc>
              <a:spcAft>
                <a:spcPts val="400"/>
              </a:spcAft>
            </a:pPr>
            <a:r>
              <a:rPr sz="1400" b="0">
                <a:solidFill>
                  <a:srgbClr val="1F2A3A"/>
                </a:solidFill>
                <a:latin typeface="맑은 고딕"/>
                <a:ea typeface="맑은 고딕"/>
                <a:cs typeface="맑은 고딕"/>
              </a:rPr>
              <a:t>• 구성 요소</a:t>
            </a:r>
          </a:p>
          <a:p>
            <a:pPr algn="l">
              <a:lnSpc>
                <a:spcPct val="110000"/>
              </a:lnSpc>
              <a:spcAft>
                <a:spcPts val="400"/>
              </a:spcAft>
            </a:pPr>
            <a:r>
              <a:rPr sz="1400" b="0">
                <a:solidFill>
                  <a:srgbClr val="1F2A3A"/>
                </a:solidFill>
                <a:latin typeface="맑은 고딕"/>
                <a:ea typeface="맑은 고딕"/>
                <a:cs typeface="맑은 고딕"/>
              </a:rPr>
              <a:t>• 상태 변수</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arget" descr="target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인스턴스</a:t>
            </a:r>
          </a:p>
          <a:p>
            <a:pPr algn="l">
              <a:lnSpc>
                <a:spcPct val="110000"/>
              </a:lnSpc>
              <a:spcAft>
                <a:spcPts val="400"/>
              </a:spcAft>
            </a:pPr>
            <a:r>
              <a:rPr sz="1400" b="0">
                <a:solidFill>
                  <a:srgbClr val="1F2A3A"/>
                </a:solidFill>
                <a:latin typeface="맑은 고딕"/>
                <a:ea typeface="맑은 고딕"/>
                <a:cs typeface="맑은 고딕"/>
              </a:rPr>
              <a:t>• HYD-02</a:t>
            </a:r>
          </a:p>
          <a:p>
            <a:pPr algn="l">
              <a:lnSpc>
                <a:spcPct val="110000"/>
              </a:lnSpc>
              <a:spcAft>
                <a:spcPts val="400"/>
              </a:spcAft>
            </a:pPr>
            <a:r>
              <a:rPr sz="1400" b="0">
                <a:solidFill>
                  <a:srgbClr val="1F2A3A"/>
                </a:solidFill>
                <a:latin typeface="맑은 고딕"/>
                <a:ea typeface="맑은 고딕"/>
                <a:cs typeface="맑은 고딕"/>
              </a:rPr>
              <a:t>• 쿨러 팬</a:t>
            </a:r>
          </a:p>
          <a:p>
            <a:pPr algn="l">
              <a:lnSpc>
                <a:spcPct val="110000"/>
              </a:lnSpc>
              <a:spcAft>
                <a:spcPts val="400"/>
              </a:spcAft>
            </a:pPr>
            <a:r>
              <a:rPr sz="1400" b="0">
                <a:solidFill>
                  <a:srgbClr val="1F2A3A"/>
                </a:solidFill>
                <a:latin typeface="맑은 고딕"/>
                <a:ea typeface="맑은 고딕"/>
                <a:cs typeface="맑은 고딕"/>
              </a:rPr>
              <a:t>• 팬 진동</a:t>
            </a:r>
          </a:p>
        </p:txBody>
      </p:sp>
      <p:sp>
        <p:nvSpPr>
          <p:cNvPr id="16" name="Rounded Rectangle 15"/>
          <p:cNvSpPr/>
          <p:nvPr/>
        </p:nvSpPr>
        <p:spPr>
          <a:xfrm>
            <a:off x="4566818" y="5041392"/>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sh" descr="hash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a:t>
            </a:r>
          </a:p>
          <a:p>
            <a:pPr algn="l">
              <a:lnSpc>
                <a:spcPct val="110000"/>
              </a:lnSpc>
              <a:spcAft>
                <a:spcPts val="400"/>
              </a:spcAft>
            </a:pPr>
            <a:r>
              <a:rPr sz="1400" b="0">
                <a:solidFill>
                  <a:srgbClr val="1F2A3A"/>
                </a:solidFill>
                <a:latin typeface="맑은 고딕"/>
                <a:ea typeface="맑은 고딕"/>
                <a:cs typeface="맑은 고딕"/>
              </a:rPr>
              <a:t>• VS1</a:t>
            </a:r>
          </a:p>
          <a:p>
            <a:pPr algn="l">
              <a:lnSpc>
                <a:spcPct val="110000"/>
              </a:lnSpc>
              <a:spcAft>
                <a:spcPts val="400"/>
              </a:spcAft>
            </a:pPr>
            <a:r>
              <a:rPr sz="1400" b="0">
                <a:solidFill>
                  <a:srgbClr val="1F2A3A"/>
                </a:solidFill>
                <a:latin typeface="맑은 고딕"/>
                <a:ea typeface="맑은 고딕"/>
                <a:cs typeface="맑은 고딕"/>
              </a:rPr>
              <a:t>• mm/s</a:t>
            </a:r>
          </a:p>
          <a:p>
            <a:pPr algn="l">
              <a:lnSpc>
                <a:spcPct val="110000"/>
              </a:lnSpc>
              <a:spcAft>
                <a:spcPts val="400"/>
              </a:spcAft>
            </a:pPr>
            <a:r>
              <a:rPr sz="1400" b="0">
                <a:solidFill>
                  <a:srgbClr val="1F2A3A"/>
                </a:solidFill>
                <a:latin typeface="맑은 고딕"/>
                <a:ea typeface="맑은 고딕"/>
                <a:cs typeface="맑은 고딕"/>
              </a:rPr>
              <a:t>• 2.0</a:t>
            </a:r>
          </a:p>
        </p:txBody>
      </p:sp>
      <p:sp>
        <p:nvSpPr>
          <p:cNvPr id="22" name="Rounded Rectangle 21"/>
          <p:cNvSpPr/>
          <p:nvPr/>
        </p:nvSpPr>
        <p:spPr>
          <a:xfrm>
            <a:off x="8356396" y="5041392"/>
            <a:ext cx="16763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인스턴스에 붙은 값</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정해 둔 값의 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칸은 클래스가 정하며, 센서 클래스에는 속성이 다섯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속성_1.svg" descr="illust_441863342337159736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171288"/>
            <a:ext cx="261827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인스턴스가 채운 속성값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인스턴스는 클래스가 정한 칸에 자기 값을 채우며, 유온 센서의 tag 값은 TS1이다.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속성_2.svg" descr="illust_7898759839698767226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171288"/>
            <a:ext cx="261827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칸, 다른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클래스의 인스턴스는 칸이 같고 채운 값이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속성_3.svg" descr="illust_8483957200880640676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171288"/>
            <a:ext cx="261827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기종의 설비 세 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 HYD-02, HYD-03은 설비 클래스의 인스턴스 셋이며 id와 code의 값으로 서로 구별된다.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설비세대.svg" descr="illust_918871485198680797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295892" y="2053102"/>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 · 설비</a:t>
            </a:r>
          </a:p>
          <a:p>
            <a:pPr algn="ctr">
              <a:lnSpc>
                <a:spcPct val="110000"/>
              </a:lnSpc>
              <a:spcAft>
                <a:spcPts val="100"/>
              </a:spcAft>
            </a:pPr>
            <a:r>
              <a:rPr sz="1300" b="0">
                <a:solidFill>
                  <a:srgbClr val="556175"/>
                </a:solidFill>
                <a:latin typeface="맑은 고딕"/>
                <a:ea typeface="맑은 고딕"/>
                <a:cs typeface="맑은 고딕"/>
              </a:rPr>
              <a:t>클래스</a:t>
            </a:r>
          </a:p>
        </p:txBody>
      </p:sp>
      <p:sp>
        <p:nvSpPr>
          <p:cNvPr id="8" name="TextBox 7"/>
          <p:cNvSpPr txBox="1"/>
          <p:nvPr/>
        </p:nvSpPr>
        <p:spPr>
          <a:xfrm>
            <a:off x="121930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asset:hyd-01</a:t>
            </a:r>
          </a:p>
          <a:p>
            <a:pPr algn="ctr">
              <a:lnSpc>
                <a:spcPct val="110000"/>
              </a:lnSpc>
              <a:spcAft>
                <a:spcPts val="100"/>
              </a:spcAft>
            </a:pPr>
            <a:r>
              <a:rPr sz="1300" b="0">
                <a:solidFill>
                  <a:srgbClr val="556175"/>
                </a:solidFill>
                <a:latin typeface="맑은 고딕"/>
                <a:ea typeface="맑은 고딕"/>
                <a:cs typeface="맑은 고딕"/>
              </a:rPr>
              <a:t>code: HYD-01</a:t>
            </a:r>
          </a:p>
        </p:txBody>
      </p:sp>
      <p:sp>
        <p:nvSpPr>
          <p:cNvPr id="9" name="TextBox 8"/>
          <p:cNvSpPr txBox="1"/>
          <p:nvPr/>
        </p:nvSpPr>
        <p:spPr>
          <a:xfrm>
            <a:off x="467761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asset:hyd-02</a:t>
            </a:r>
          </a:p>
          <a:p>
            <a:pPr algn="ctr">
              <a:lnSpc>
                <a:spcPct val="110000"/>
              </a:lnSpc>
              <a:spcAft>
                <a:spcPts val="100"/>
              </a:spcAft>
            </a:pPr>
            <a:r>
              <a:rPr sz="1300" b="0">
                <a:solidFill>
                  <a:srgbClr val="556175"/>
                </a:solidFill>
                <a:latin typeface="맑은 고딕"/>
                <a:ea typeface="맑은 고딕"/>
                <a:cs typeface="맑은 고딕"/>
              </a:rPr>
              <a:t>code: HYD-02</a:t>
            </a:r>
          </a:p>
        </p:txBody>
      </p:sp>
      <p:sp>
        <p:nvSpPr>
          <p:cNvPr id="10" name="TextBox 9"/>
          <p:cNvSpPr txBox="1"/>
          <p:nvPr/>
        </p:nvSpPr>
        <p:spPr>
          <a:xfrm>
            <a:off x="813592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asset:hyd-03</a:t>
            </a:r>
          </a:p>
          <a:p>
            <a:pPr algn="ctr">
              <a:lnSpc>
                <a:spcPct val="110000"/>
              </a:lnSpc>
              <a:spcAft>
                <a:spcPts val="100"/>
              </a:spcAft>
            </a:pPr>
            <a:r>
              <a:rPr sz="1300" b="0">
                <a:solidFill>
                  <a:srgbClr val="556175"/>
                </a:solidFill>
                <a:latin typeface="맑은 고딕"/>
                <a:ea typeface="맑은 고딕"/>
                <a:cs typeface="맑은 고딕"/>
              </a:rPr>
              <a:t>code: HYD-03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속성값의 네 가지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속성값은 글자, 수, 참 · 거짓, 목록 가운데 하나의 형식으로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8925"/>
            <a:ext cx="731520" cy="731520"/>
          </a:xfrm>
          <a:prstGeom prst="ellipse">
            <a:avLst/>
          </a:prstGeom>
          <a:solidFill>
            <a:srgbClr val="E7F3FD"/>
          </a:solidFill>
          <a:ln>
            <a:noFill/>
          </a:ln>
        </p:spPr>
        <p:txBody>
          <a:bodyPr rtlCol="0" anchor="ctr"/>
          <a:lstStyle/>
          <a:p>
            <a:pPr algn="ctr"/>
          </a:p>
        </p:txBody>
      </p:sp>
      <p:pic>
        <p:nvPicPr>
          <p:cNvPr id="8" name="아이콘:letter-case" descr="letter-case_13294B_1.6.png"/>
          <p:cNvPicPr>
            <a:picLocks noChangeAspect="1"/>
          </p:cNvPicPr>
          <p:nvPr/>
        </p:nvPicPr>
        <p:blipFill>
          <a:blip r:embed="rId3"/>
          <a:stretch>
            <a:fillRect/>
          </a:stretch>
        </p:blipFill>
        <p:spPr>
          <a:xfrm>
            <a:off x="930859" y="2982544"/>
            <a:ext cx="424281" cy="424281"/>
          </a:xfrm>
          <a:prstGeom prst="rect">
            <a:avLst/>
          </a:prstGeom>
        </p:spPr>
      </p:pic>
      <p:sp>
        <p:nvSpPr>
          <p:cNvPr id="9" name="TextBox 8"/>
          <p:cNvSpPr txBox="1"/>
          <p:nvPr/>
        </p:nvSpPr>
        <p:spPr>
          <a:xfrm>
            <a:off x="713232"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글자</a:t>
            </a:r>
          </a:p>
          <a:p>
            <a:pPr algn="l">
              <a:lnSpc>
                <a:spcPct val="110000"/>
              </a:lnSpc>
              <a:spcAft>
                <a:spcPts val="400"/>
              </a:spcAft>
            </a:pPr>
            <a:r>
              <a:rPr sz="1350" b="0">
                <a:solidFill>
                  <a:srgbClr val="1F2A3A"/>
                </a:solidFill>
                <a:latin typeface="맑은 고딕"/>
                <a:ea typeface="맑은 고딕"/>
                <a:cs typeface="맑은 고딕"/>
              </a:rPr>
              <a:t>• name: 유온 센서</a:t>
            </a:r>
          </a:p>
          <a:p>
            <a:pPr algn="l">
              <a:lnSpc>
                <a:spcPct val="110000"/>
              </a:lnSpc>
              <a:spcAft>
                <a:spcPts val="400"/>
              </a:spcAft>
            </a:pPr>
            <a:r>
              <a:rPr sz="1350" b="0">
                <a:solidFill>
                  <a:srgbClr val="1F2A3A"/>
                </a:solidFill>
                <a:latin typeface="맑은 고딕"/>
                <a:ea typeface="맑은 고딕"/>
                <a:cs typeface="맑은 고딕"/>
              </a:rPr>
              <a:t>• tag: TS1</a:t>
            </a:r>
          </a:p>
        </p:txBody>
      </p:sp>
      <p:sp>
        <p:nvSpPr>
          <p:cNvPr id="10" name="Rounded Rectangle 9"/>
          <p:cNvSpPr/>
          <p:nvPr/>
        </p:nvSpPr>
        <p:spPr>
          <a:xfrm>
            <a:off x="777240" y="4925187"/>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25187"/>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표기</a:t>
            </a:r>
          </a:p>
        </p:txBody>
      </p:sp>
      <p:sp>
        <p:nvSpPr>
          <p:cNvPr id="12" name="Rounded Rectangle 11"/>
          <p:cNvSpPr/>
          <p:nvPr/>
        </p:nvSpPr>
        <p:spPr>
          <a:xfrm>
            <a:off x="3390823"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828925"/>
            <a:ext cx="731520" cy="731520"/>
          </a:xfrm>
          <a:prstGeom prst="ellipse">
            <a:avLst/>
          </a:prstGeom>
          <a:solidFill>
            <a:srgbClr val="E7F3FD"/>
          </a:solidFill>
          <a:ln>
            <a:noFill/>
          </a:ln>
        </p:spPr>
        <p:txBody>
          <a:bodyPr rtlCol="0" anchor="ctr"/>
          <a:lstStyle/>
          <a:p>
            <a:pPr algn="ctr"/>
          </a:p>
        </p:txBody>
      </p:sp>
      <p:pic>
        <p:nvPicPr>
          <p:cNvPr id="14" name="아이콘:hash" descr="hash_13294B_1.6.png"/>
          <p:cNvPicPr>
            <a:picLocks noChangeAspect="1"/>
          </p:cNvPicPr>
          <p:nvPr/>
        </p:nvPicPr>
        <p:blipFill>
          <a:blip r:embed="rId4"/>
          <a:stretch>
            <a:fillRect/>
          </a:stretch>
        </p:blipFill>
        <p:spPr>
          <a:xfrm>
            <a:off x="3773043" y="2982544"/>
            <a:ext cx="424281" cy="424281"/>
          </a:xfrm>
          <a:prstGeom prst="rect">
            <a:avLst/>
          </a:prstGeom>
        </p:spPr>
      </p:pic>
      <p:sp>
        <p:nvSpPr>
          <p:cNvPr id="15" name="TextBox 14"/>
          <p:cNvSpPr txBox="1"/>
          <p:nvPr/>
        </p:nvSpPr>
        <p:spPr>
          <a:xfrm>
            <a:off x="3555415"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a:t>
            </a:r>
          </a:p>
          <a:p>
            <a:pPr algn="l">
              <a:lnSpc>
                <a:spcPct val="110000"/>
              </a:lnSpc>
              <a:spcAft>
                <a:spcPts val="400"/>
              </a:spcAft>
            </a:pPr>
            <a:r>
              <a:rPr sz="1350" b="0">
                <a:solidFill>
                  <a:srgbClr val="1F2A3A"/>
                </a:solidFill>
                <a:latin typeface="맑은 고딕"/>
                <a:ea typeface="맑은 고딕"/>
                <a:cs typeface="맑은 고딕"/>
              </a:rPr>
              <a:t>• normal: 48</a:t>
            </a:r>
          </a:p>
          <a:p>
            <a:pPr algn="l">
              <a:lnSpc>
                <a:spcPct val="110000"/>
              </a:lnSpc>
              <a:spcAft>
                <a:spcPts val="400"/>
              </a:spcAft>
            </a:pPr>
            <a:r>
              <a:rPr sz="1350" b="0">
                <a:solidFill>
                  <a:srgbClr val="1F2A3A"/>
                </a:solidFill>
                <a:latin typeface="맑은 고딕"/>
                <a:ea typeface="맑은 고딕"/>
                <a:cs typeface="맑은 고딕"/>
              </a:rPr>
              <a:t>• limit: 65</a:t>
            </a:r>
          </a:p>
        </p:txBody>
      </p:sp>
      <p:sp>
        <p:nvSpPr>
          <p:cNvPr id="16" name="Rounded Rectangle 15"/>
          <p:cNvSpPr/>
          <p:nvPr/>
        </p:nvSpPr>
        <p:spPr>
          <a:xfrm>
            <a:off x="3619423" y="4925187"/>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4925187"/>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크기를 비교한다</a:t>
            </a:r>
          </a:p>
        </p:txBody>
      </p:sp>
      <p:sp>
        <p:nvSpPr>
          <p:cNvPr id="18" name="Rounded Rectangle 17"/>
          <p:cNvSpPr/>
          <p:nvPr/>
        </p:nvSpPr>
        <p:spPr>
          <a:xfrm>
            <a:off x="6233007"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828925"/>
            <a:ext cx="731520" cy="731520"/>
          </a:xfrm>
          <a:prstGeom prst="ellipse">
            <a:avLst/>
          </a:prstGeom>
          <a:solidFill>
            <a:srgbClr val="E7F3FD"/>
          </a:solidFill>
          <a:ln>
            <a:noFill/>
          </a:ln>
        </p:spPr>
        <p:txBody>
          <a:bodyPr rtlCol="0" anchor="ctr"/>
          <a:lstStyle/>
          <a:p>
            <a:pPr algn="ctr"/>
          </a:p>
        </p:txBody>
      </p:sp>
      <p:pic>
        <p:nvPicPr>
          <p:cNvPr id="20" name="아이콘:toggle-left" descr="toggle-left_13294B_1.6.png"/>
          <p:cNvPicPr>
            <a:picLocks noChangeAspect="1"/>
          </p:cNvPicPr>
          <p:nvPr/>
        </p:nvPicPr>
        <p:blipFill>
          <a:blip r:embed="rId5"/>
          <a:stretch>
            <a:fillRect/>
          </a:stretch>
        </p:blipFill>
        <p:spPr>
          <a:xfrm>
            <a:off x="6615226" y="2982544"/>
            <a:ext cx="424281" cy="424281"/>
          </a:xfrm>
          <a:prstGeom prst="rect">
            <a:avLst/>
          </a:prstGeom>
        </p:spPr>
      </p:pic>
      <p:sp>
        <p:nvSpPr>
          <p:cNvPr id="21" name="TextBox 20"/>
          <p:cNvSpPr txBox="1"/>
          <p:nvPr/>
        </p:nvSpPr>
        <p:spPr>
          <a:xfrm>
            <a:off x="6397599"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참 · 거짓</a:t>
            </a:r>
          </a:p>
          <a:p>
            <a:pPr algn="l">
              <a:lnSpc>
                <a:spcPct val="110000"/>
              </a:lnSpc>
              <a:spcAft>
                <a:spcPts val="400"/>
              </a:spcAft>
            </a:pPr>
            <a:r>
              <a:rPr sz="1350" b="0">
                <a:solidFill>
                  <a:srgbClr val="1F2A3A"/>
                </a:solidFill>
                <a:latin typeface="맑은 고딕"/>
                <a:ea typeface="맑은 고딕"/>
                <a:cs typeface="맑은 고딕"/>
              </a:rPr>
              <a:t>virtual: false</a:t>
            </a:r>
          </a:p>
        </p:txBody>
      </p:sp>
      <p:sp>
        <p:nvSpPr>
          <p:cNvPr id="22" name="Rounded Rectangle 21"/>
          <p:cNvSpPr/>
          <p:nvPr/>
        </p:nvSpPr>
        <p:spPr>
          <a:xfrm>
            <a:off x="6461607" y="4925187"/>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4925187"/>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둘 가운데 하나</a:t>
            </a:r>
          </a:p>
        </p:txBody>
      </p:sp>
      <p:sp>
        <p:nvSpPr>
          <p:cNvPr id="24" name="Rounded Rectangle 23"/>
          <p:cNvSpPr/>
          <p:nvPr/>
        </p:nvSpPr>
        <p:spPr>
          <a:xfrm>
            <a:off x="9075191" y="2627757"/>
            <a:ext cx="2567863" cy="272719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828925"/>
            <a:ext cx="731520" cy="731520"/>
          </a:xfrm>
          <a:prstGeom prst="ellipse">
            <a:avLst/>
          </a:prstGeom>
          <a:solidFill>
            <a:srgbClr val="5CB8F2"/>
          </a:solidFill>
          <a:ln>
            <a:noFill/>
          </a:ln>
        </p:spPr>
        <p:txBody>
          <a:bodyPr rtlCol="0" anchor="ctr"/>
          <a:lstStyle/>
          <a:p>
            <a:pPr algn="ctr"/>
          </a:p>
        </p:txBody>
      </p:sp>
      <p:pic>
        <p:nvPicPr>
          <p:cNvPr id="26" name="아이콘:list" descr="list_13294B_1.6.png"/>
          <p:cNvPicPr>
            <a:picLocks noChangeAspect="1"/>
          </p:cNvPicPr>
          <p:nvPr/>
        </p:nvPicPr>
        <p:blipFill>
          <a:blip r:embed="rId6"/>
          <a:stretch>
            <a:fillRect/>
          </a:stretch>
        </p:blipFill>
        <p:spPr>
          <a:xfrm>
            <a:off x="9457410" y="2982544"/>
            <a:ext cx="424281" cy="424281"/>
          </a:xfrm>
          <a:prstGeom prst="rect">
            <a:avLst/>
          </a:prstGeom>
        </p:spPr>
      </p:pic>
      <p:sp>
        <p:nvSpPr>
          <p:cNvPr id="27" name="TextBox 26"/>
          <p:cNvSpPr txBox="1"/>
          <p:nvPr/>
        </p:nvSpPr>
        <p:spPr>
          <a:xfrm>
            <a:off x="9239783"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a:t>
            </a:r>
          </a:p>
          <a:p>
            <a:pPr algn="l">
              <a:lnSpc>
                <a:spcPct val="110000"/>
              </a:lnSpc>
              <a:spcAft>
                <a:spcPts val="400"/>
              </a:spcAft>
            </a:pPr>
            <a:r>
              <a:rPr sz="1350" b="0">
                <a:solidFill>
                  <a:srgbClr val="1F2A3A"/>
                </a:solidFill>
                <a:latin typeface="맑은 고딕"/>
                <a:ea typeface="맑은 고딕"/>
                <a:cs typeface="맑은 고딕"/>
              </a:rPr>
              <a:t>aliases: 오일 온도, 작동유 온도, TS1</a:t>
            </a:r>
          </a:p>
        </p:txBody>
      </p:sp>
      <p:sp>
        <p:nvSpPr>
          <p:cNvPr id="28" name="Rounded Rectangle 27"/>
          <p:cNvSpPr/>
          <p:nvPr/>
        </p:nvSpPr>
        <p:spPr>
          <a:xfrm>
            <a:off x="9303791" y="4925187"/>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4925187"/>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값이 여럿</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필수 속성과 선택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모든 인스턴스가 가져야 하는 속성과 없어도 되는 속성이 있으며, 상태 변수의 한계는 없어도 되는 속성이다.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한계값.svg" descr="illust_55998449048000384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95669"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8" name="TextBox 7"/>
          <p:cNvSpPr txBox="1"/>
          <p:nvPr/>
        </p:nvSpPr>
        <p:spPr>
          <a:xfrm>
            <a:off x="3433930"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토출 압력</a:t>
            </a:r>
          </a:p>
        </p:txBody>
      </p:sp>
      <p:sp>
        <p:nvSpPr>
          <p:cNvPr id="9" name="TextBox 8"/>
          <p:cNvSpPr txBox="1"/>
          <p:nvPr/>
        </p:nvSpPr>
        <p:spPr>
          <a:xfrm>
            <a:off x="5572191"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팬 진동</a:t>
            </a:r>
          </a:p>
        </p:txBody>
      </p:sp>
      <p:sp>
        <p:nvSpPr>
          <p:cNvPr id="10" name="TextBox 9"/>
          <p:cNvSpPr txBox="1"/>
          <p:nvPr/>
        </p:nvSpPr>
        <p:spPr>
          <a:xfrm>
            <a:off x="7710452"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11" name="TextBox 10"/>
          <p:cNvSpPr txBox="1"/>
          <p:nvPr/>
        </p:nvSpPr>
        <p:spPr>
          <a:xfrm>
            <a:off x="9848713"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유량</a:t>
            </a:r>
          </a:p>
        </p:txBody>
      </p:sp>
      <p:sp>
        <p:nvSpPr>
          <p:cNvPr id="12" name="TextBox 11"/>
          <p:cNvSpPr txBox="1"/>
          <p:nvPr/>
        </p:nvSpPr>
        <p:spPr>
          <a:xfrm>
            <a:off x="1001113"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a:t>
            </a:r>
          </a:p>
          <a:p>
            <a:pPr algn="ctr">
              <a:lnSpc>
                <a:spcPct val="110000"/>
              </a:lnSpc>
              <a:spcAft>
                <a:spcPts val="100"/>
              </a:spcAft>
            </a:pPr>
            <a:r>
              <a:rPr sz="1100" b="0">
                <a:solidFill>
                  <a:srgbClr val="556175"/>
                </a:solidFill>
                <a:latin typeface="맑은 고딕"/>
                <a:ea typeface="맑은 고딕"/>
                <a:cs typeface="맑은 고딕"/>
              </a:rPr>
              <a:t>정상값 48</a:t>
            </a:r>
          </a:p>
        </p:txBody>
      </p:sp>
      <p:sp>
        <p:nvSpPr>
          <p:cNvPr id="13" name="TextBox 12"/>
          <p:cNvSpPr txBox="1"/>
          <p:nvPr/>
        </p:nvSpPr>
        <p:spPr>
          <a:xfrm>
            <a:off x="3139374"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bar</a:t>
            </a:r>
          </a:p>
          <a:p>
            <a:pPr algn="ctr">
              <a:lnSpc>
                <a:spcPct val="110000"/>
              </a:lnSpc>
              <a:spcAft>
                <a:spcPts val="100"/>
              </a:spcAft>
            </a:pPr>
            <a:r>
              <a:rPr sz="1100" b="0">
                <a:solidFill>
                  <a:srgbClr val="556175"/>
                </a:solidFill>
                <a:latin typeface="맑은 고딕"/>
                <a:ea typeface="맑은 고딕"/>
                <a:cs typeface="맑은 고딕"/>
              </a:rPr>
              <a:t>정상값 182</a:t>
            </a:r>
          </a:p>
        </p:txBody>
      </p:sp>
      <p:sp>
        <p:nvSpPr>
          <p:cNvPr id="14" name="TextBox 13"/>
          <p:cNvSpPr txBox="1"/>
          <p:nvPr/>
        </p:nvSpPr>
        <p:spPr>
          <a:xfrm>
            <a:off x="5277635"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mm/s</a:t>
            </a:r>
          </a:p>
          <a:p>
            <a:pPr algn="ctr">
              <a:lnSpc>
                <a:spcPct val="110000"/>
              </a:lnSpc>
              <a:spcAft>
                <a:spcPts val="100"/>
              </a:spcAft>
            </a:pPr>
            <a:r>
              <a:rPr sz="1100" b="0">
                <a:solidFill>
                  <a:srgbClr val="556175"/>
                </a:solidFill>
                <a:latin typeface="맑은 고딕"/>
                <a:ea typeface="맑은 고딕"/>
                <a:cs typeface="맑은 고딕"/>
              </a:rPr>
              <a:t>정상값 0.6</a:t>
            </a:r>
          </a:p>
        </p:txBody>
      </p:sp>
      <p:sp>
        <p:nvSpPr>
          <p:cNvPr id="15" name="TextBox 14"/>
          <p:cNvSpPr txBox="1"/>
          <p:nvPr/>
        </p:nvSpPr>
        <p:spPr>
          <a:xfrm>
            <a:off x="7415896"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a:t>
            </a:r>
          </a:p>
          <a:p>
            <a:pPr algn="ctr">
              <a:lnSpc>
                <a:spcPct val="110000"/>
              </a:lnSpc>
              <a:spcAft>
                <a:spcPts val="100"/>
              </a:spcAft>
            </a:pPr>
            <a:r>
              <a:rPr sz="1100" b="0">
                <a:solidFill>
                  <a:srgbClr val="556175"/>
                </a:solidFill>
                <a:latin typeface="맑은 고딕"/>
                <a:ea typeface="맑은 고딕"/>
                <a:cs typeface="맑은 고딕"/>
              </a:rPr>
              <a:t>정상값 84</a:t>
            </a:r>
          </a:p>
        </p:txBody>
      </p:sp>
      <p:sp>
        <p:nvSpPr>
          <p:cNvPr id="16" name="TextBox 15"/>
          <p:cNvSpPr txBox="1"/>
          <p:nvPr/>
        </p:nvSpPr>
        <p:spPr>
          <a:xfrm>
            <a:off x="9554157"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l/min</a:t>
            </a:r>
          </a:p>
          <a:p>
            <a:pPr algn="ctr">
              <a:lnSpc>
                <a:spcPct val="110000"/>
              </a:lnSpc>
              <a:spcAft>
                <a:spcPts val="100"/>
              </a:spcAft>
            </a:pPr>
            <a:r>
              <a:rPr sz="1100" b="0">
                <a:solidFill>
                  <a:srgbClr val="556175"/>
                </a:solidFill>
                <a:latin typeface="맑은 고딕"/>
                <a:ea typeface="맑은 고딕"/>
                <a:cs typeface="맑은 고딕"/>
              </a:rPr>
              <a:t>정상값 9</a:t>
            </a:r>
          </a:p>
        </p:txBody>
      </p:sp>
      <p:sp>
        <p:nvSpPr>
          <p:cNvPr id="17" name="TextBox 16"/>
          <p:cNvSpPr txBox="1"/>
          <p:nvPr/>
        </p:nvSpPr>
        <p:spPr>
          <a:xfrm>
            <a:off x="1110208"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65</a:t>
            </a:r>
          </a:p>
        </p:txBody>
      </p:sp>
      <p:sp>
        <p:nvSpPr>
          <p:cNvPr id="18" name="TextBox 17"/>
          <p:cNvSpPr txBox="1"/>
          <p:nvPr/>
        </p:nvSpPr>
        <p:spPr>
          <a:xfrm>
            <a:off x="3248469"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130</a:t>
            </a:r>
          </a:p>
        </p:txBody>
      </p:sp>
      <p:sp>
        <p:nvSpPr>
          <p:cNvPr id="19" name="TextBox 18"/>
          <p:cNvSpPr txBox="1"/>
          <p:nvPr/>
        </p:nvSpPr>
        <p:spPr>
          <a:xfrm>
            <a:off x="5386730"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2.0</a:t>
            </a:r>
          </a:p>
        </p:txBody>
      </p:sp>
      <p:sp>
        <p:nvSpPr>
          <p:cNvPr id="20" name="TextBox 19"/>
          <p:cNvSpPr txBox="1"/>
          <p:nvPr/>
        </p:nvSpPr>
        <p:spPr>
          <a:xfrm>
            <a:off x="7524991" y="4913208"/>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한계 없음</a:t>
            </a:r>
          </a:p>
        </p:txBody>
      </p:sp>
      <p:sp>
        <p:nvSpPr>
          <p:cNvPr id="21" name="TextBox 20"/>
          <p:cNvSpPr txBox="1"/>
          <p:nvPr/>
        </p:nvSpPr>
        <p:spPr>
          <a:xfrm>
            <a:off x="9663252" y="4913208"/>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한계 없음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계층: 상위 클래스와 하위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여러 클래스에 공통된 속성은 </a:t>
            </a:r>
            <a:r>
              <a:rPr sz="1600" b="1">
                <a:solidFill>
                  <a:srgbClr val="1A6FC4"/>
                </a:solidFill>
                <a:latin typeface="맑은 고딕"/>
                <a:ea typeface="맑은 고딕"/>
                <a:cs typeface="맑은 고딕"/>
              </a:rPr>
              <a:t>상위 클래스</a:t>
            </a:r>
            <a:r>
              <a:rPr sz="1600" b="0">
                <a:solidFill>
                  <a:srgbClr val="556175"/>
                </a:solidFill>
                <a:latin typeface="맑은 고딕"/>
                <a:ea typeface="맑은 고딕"/>
                <a:cs typeface="맑은 고딕"/>
              </a:rPr>
              <a:t>에 한 번만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상속_상위.svg" descr="illust_27027465699204418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2100376"/>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상위 클래스</a:t>
            </a:r>
          </a:p>
          <a:p>
            <a:pPr algn="ctr">
              <a:lnSpc>
                <a:spcPct val="110000"/>
              </a:lnSpc>
              <a:spcAft>
                <a:spcPts val="100"/>
              </a:spcAft>
            </a:pPr>
            <a:r>
              <a:rPr sz="1300" b="0">
                <a:solidFill>
                  <a:srgbClr val="556175"/>
                </a:solidFill>
                <a:latin typeface="맑은 고딕"/>
                <a:ea typeface="맑은 고딕"/>
                <a:cs typeface="맑은 고딕"/>
              </a:rPr>
              <a:t>공통 속성을 정한다</a:t>
            </a:r>
          </a:p>
        </p:txBody>
      </p:sp>
      <p:sp>
        <p:nvSpPr>
          <p:cNvPr id="8" name="TextBox 7"/>
          <p:cNvSpPr txBox="1"/>
          <p:nvPr/>
        </p:nvSpPr>
        <p:spPr>
          <a:xfrm>
            <a:off x="4568518" y="219492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차량</a:t>
            </a:r>
          </a:p>
          <a:p>
            <a:pPr algn="ctr">
              <a:lnSpc>
                <a:spcPct val="110000"/>
              </a:lnSpc>
              <a:spcAft>
                <a:spcPts val="100"/>
              </a:spcAft>
            </a:pPr>
            <a:r>
              <a:rPr sz="1300" b="0">
                <a:solidFill>
                  <a:srgbClr val="556175"/>
                </a:solidFill>
                <a:latin typeface="맑은 고딕"/>
                <a:ea typeface="맑은 고딕"/>
                <a:cs typeface="맑은 고딕"/>
              </a:rPr>
              <a:t>속성: 번호, 제조사</a:t>
            </a:r>
          </a:p>
        </p:txBody>
      </p:sp>
      <p:sp>
        <p:nvSpPr>
          <p:cNvPr id="9" name="TextBox 8"/>
          <p:cNvSpPr txBox="1"/>
          <p:nvPr/>
        </p:nvSpPr>
        <p:spPr>
          <a:xfrm>
            <a:off x="1219303" y="479502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승용차</a:t>
            </a:r>
          </a:p>
          <a:p>
            <a:pPr algn="ctr">
              <a:lnSpc>
                <a:spcPct val="110000"/>
              </a:lnSpc>
              <a:spcAft>
                <a:spcPts val="100"/>
              </a:spcAft>
            </a:pPr>
            <a:r>
              <a:rPr sz="1300" b="0">
                <a:solidFill>
                  <a:srgbClr val="556175"/>
                </a:solidFill>
                <a:latin typeface="맑은 고딕"/>
                <a:ea typeface="맑은 고딕"/>
                <a:cs typeface="맑은 고딕"/>
              </a:rPr>
              <a:t>차량의 하위 클래스</a:t>
            </a:r>
          </a:p>
        </p:txBody>
      </p:sp>
      <p:sp>
        <p:nvSpPr>
          <p:cNvPr id="10" name="TextBox 9"/>
          <p:cNvSpPr txBox="1"/>
          <p:nvPr/>
        </p:nvSpPr>
        <p:spPr>
          <a:xfrm>
            <a:off x="4677613" y="479502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화물차</a:t>
            </a:r>
          </a:p>
          <a:p>
            <a:pPr algn="ctr">
              <a:lnSpc>
                <a:spcPct val="110000"/>
              </a:lnSpc>
              <a:spcAft>
                <a:spcPts val="100"/>
              </a:spcAft>
            </a:pPr>
            <a:r>
              <a:rPr sz="1300" b="0">
                <a:solidFill>
                  <a:srgbClr val="556175"/>
                </a:solidFill>
                <a:latin typeface="맑은 고딕"/>
                <a:ea typeface="맑은 고딕"/>
                <a:cs typeface="맑은 고딕"/>
              </a:rPr>
              <a:t>차량의 하위 클래스</a:t>
            </a:r>
          </a:p>
        </p:txBody>
      </p:sp>
      <p:sp>
        <p:nvSpPr>
          <p:cNvPr id="11" name="TextBox 10"/>
          <p:cNvSpPr txBox="1"/>
          <p:nvPr/>
        </p:nvSpPr>
        <p:spPr>
          <a:xfrm>
            <a:off x="8135923" y="479502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버스</a:t>
            </a:r>
          </a:p>
          <a:p>
            <a:pPr algn="ctr">
              <a:lnSpc>
                <a:spcPct val="110000"/>
              </a:lnSpc>
              <a:spcAft>
                <a:spcPts val="100"/>
              </a:spcAft>
            </a:pPr>
            <a:r>
              <a:rPr sz="1300" b="0">
                <a:solidFill>
                  <a:srgbClr val="556175"/>
                </a:solidFill>
                <a:latin typeface="맑은 고딕"/>
                <a:ea typeface="맑은 고딕"/>
                <a:cs typeface="맑은 고딕"/>
              </a:rPr>
              <a:t>차량의 하위 클래스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상속: 물려받는 속성과 더하는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하위 클래스는 상위 클래스의 속성을 </a:t>
            </a:r>
            <a:r>
              <a:rPr sz="1600" b="1">
                <a:solidFill>
                  <a:srgbClr val="1A6FC4"/>
                </a:solidFill>
                <a:latin typeface="맑은 고딕"/>
                <a:ea typeface="맑은 고딕"/>
                <a:cs typeface="맑은 고딕"/>
              </a:rPr>
              <a:t>상속</a:t>
            </a:r>
            <a:r>
              <a:rPr sz="1600" b="0">
                <a:solidFill>
                  <a:srgbClr val="556175"/>
                </a:solidFill>
                <a:latin typeface="맑은 고딕"/>
                <a:ea typeface="맑은 고딕"/>
                <a:cs typeface="맑은 고딕"/>
              </a:rPr>
              <a:t>하고 자기만의 속성을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상속_하위.svg" descr="illust_872906022410556620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568518" y="219492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차량</a:t>
            </a:r>
          </a:p>
          <a:p>
            <a:pPr algn="ctr">
              <a:lnSpc>
                <a:spcPct val="110000"/>
              </a:lnSpc>
              <a:spcAft>
                <a:spcPts val="100"/>
              </a:spcAft>
            </a:pPr>
            <a:r>
              <a:rPr sz="1300" b="0">
                <a:solidFill>
                  <a:srgbClr val="556175"/>
                </a:solidFill>
                <a:latin typeface="맑은 고딕"/>
                <a:ea typeface="맑은 고딕"/>
                <a:cs typeface="맑은 고딕"/>
              </a:rPr>
              <a:t>속성: 번호, 제조사</a:t>
            </a:r>
          </a:p>
        </p:txBody>
      </p:sp>
      <p:sp>
        <p:nvSpPr>
          <p:cNvPr id="8" name="TextBox 7"/>
          <p:cNvSpPr txBox="1"/>
          <p:nvPr/>
        </p:nvSpPr>
        <p:spPr>
          <a:xfrm>
            <a:off x="8277746" y="2100376"/>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상속</a:t>
            </a:r>
          </a:p>
          <a:p>
            <a:pPr algn="ctr">
              <a:lnSpc>
                <a:spcPct val="110000"/>
              </a:lnSpc>
              <a:spcAft>
                <a:spcPts val="100"/>
              </a:spcAft>
            </a:pPr>
            <a:r>
              <a:rPr sz="1300" b="0">
                <a:solidFill>
                  <a:srgbClr val="556175"/>
                </a:solidFill>
                <a:latin typeface="맑은 고딕"/>
                <a:ea typeface="맑은 고딕"/>
                <a:cs typeface="맑은 고딕"/>
              </a:rPr>
              <a:t>상위 클래스의 속성을</a:t>
            </a:r>
          </a:p>
          <a:p>
            <a:pPr algn="ctr">
              <a:lnSpc>
                <a:spcPct val="110000"/>
              </a:lnSpc>
              <a:spcAft>
                <a:spcPts val="100"/>
              </a:spcAft>
            </a:pPr>
            <a:r>
              <a:rPr sz="1300" b="0">
                <a:solidFill>
                  <a:srgbClr val="556175"/>
                </a:solidFill>
                <a:latin typeface="맑은 고딕"/>
                <a:ea typeface="맑은 고딕"/>
                <a:cs typeface="맑은 고딕"/>
              </a:rPr>
              <a:t>물려받는다</a:t>
            </a:r>
          </a:p>
        </p:txBody>
      </p:sp>
      <p:sp>
        <p:nvSpPr>
          <p:cNvPr id="9" name="TextBox 8"/>
          <p:cNvSpPr txBox="1"/>
          <p:nvPr/>
        </p:nvSpPr>
        <p:spPr>
          <a:xfrm>
            <a:off x="1219303" y="4936845"/>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승용차</a:t>
            </a:r>
          </a:p>
        </p:txBody>
      </p:sp>
      <p:sp>
        <p:nvSpPr>
          <p:cNvPr id="10" name="TextBox 9"/>
          <p:cNvSpPr txBox="1"/>
          <p:nvPr/>
        </p:nvSpPr>
        <p:spPr>
          <a:xfrm>
            <a:off x="4623065" y="4700473"/>
            <a:ext cx="294556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화물차</a:t>
            </a:r>
          </a:p>
          <a:p>
            <a:pPr algn="ctr">
              <a:lnSpc>
                <a:spcPct val="110000"/>
              </a:lnSpc>
              <a:spcAft>
                <a:spcPts val="100"/>
              </a:spcAft>
            </a:pPr>
            <a:r>
              <a:rPr sz="1300" b="0">
                <a:solidFill>
                  <a:srgbClr val="556175"/>
                </a:solidFill>
                <a:latin typeface="맑은 고딕"/>
                <a:ea typeface="맑은 고딕"/>
                <a:cs typeface="맑은 고딕"/>
              </a:rPr>
              <a:t>물려받은 속성: 번호, 제조사</a:t>
            </a:r>
          </a:p>
          <a:p>
            <a:pPr algn="ctr">
              <a:lnSpc>
                <a:spcPct val="110000"/>
              </a:lnSpc>
              <a:spcAft>
                <a:spcPts val="100"/>
              </a:spcAft>
            </a:pPr>
            <a:r>
              <a:rPr sz="1300" b="0">
                <a:solidFill>
                  <a:srgbClr val="556175"/>
                </a:solidFill>
                <a:latin typeface="맑은 고딕"/>
                <a:ea typeface="맑은 고딕"/>
                <a:cs typeface="맑은 고딕"/>
              </a:rPr>
              <a:t>더한 속성: 적재량</a:t>
            </a:r>
          </a:p>
        </p:txBody>
      </p:sp>
      <p:sp>
        <p:nvSpPr>
          <p:cNvPr id="11" name="TextBox 10"/>
          <p:cNvSpPr txBox="1"/>
          <p:nvPr/>
        </p:nvSpPr>
        <p:spPr>
          <a:xfrm>
            <a:off x="8135923" y="4936845"/>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버스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상속의 실제 예: 흐름 노드와 작업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 온톨로지에서 작업(Task)은 흐름 노드(FlowNode)의 속성을 상속하고 taskType을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상속_하위.svg" descr="illust_872906022410556620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568518" y="219492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FlowNode · 흐름 노드</a:t>
            </a:r>
          </a:p>
          <a:p>
            <a:pPr algn="ctr">
              <a:lnSpc>
                <a:spcPct val="110000"/>
              </a:lnSpc>
              <a:spcAft>
                <a:spcPts val="100"/>
              </a:spcAft>
            </a:pPr>
            <a:r>
              <a:rPr sz="1300" b="0">
                <a:solidFill>
                  <a:srgbClr val="556175"/>
                </a:solidFill>
                <a:latin typeface="맑은 고딕"/>
                <a:ea typeface="맑은 고딕"/>
                <a:cs typeface="맑은 고딕"/>
              </a:rPr>
              <a:t>속성: id, name</a:t>
            </a:r>
          </a:p>
        </p:txBody>
      </p:sp>
      <p:sp>
        <p:nvSpPr>
          <p:cNvPr id="8" name="TextBox 7"/>
          <p:cNvSpPr txBox="1"/>
          <p:nvPr/>
        </p:nvSpPr>
        <p:spPr>
          <a:xfrm>
            <a:off x="1219303" y="4936845"/>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Event · 이벤트</a:t>
            </a:r>
          </a:p>
        </p:txBody>
      </p:sp>
      <p:sp>
        <p:nvSpPr>
          <p:cNvPr id="9" name="TextBox 8"/>
          <p:cNvSpPr txBox="1"/>
          <p:nvPr/>
        </p:nvSpPr>
        <p:spPr>
          <a:xfrm>
            <a:off x="4623065" y="4700473"/>
            <a:ext cx="294556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Task · 작업</a:t>
            </a:r>
          </a:p>
          <a:p>
            <a:pPr algn="ctr">
              <a:lnSpc>
                <a:spcPct val="110000"/>
              </a:lnSpc>
              <a:spcAft>
                <a:spcPts val="100"/>
              </a:spcAft>
            </a:pPr>
            <a:r>
              <a:rPr sz="1300" b="0">
                <a:solidFill>
                  <a:srgbClr val="556175"/>
                </a:solidFill>
                <a:latin typeface="맑은 고딕"/>
                <a:ea typeface="맑은 고딕"/>
                <a:cs typeface="맑은 고딕"/>
              </a:rPr>
              <a:t>물려받은 속성: id, name</a:t>
            </a:r>
          </a:p>
          <a:p>
            <a:pPr algn="ctr">
              <a:lnSpc>
                <a:spcPct val="110000"/>
              </a:lnSpc>
              <a:spcAft>
                <a:spcPts val="100"/>
              </a:spcAft>
            </a:pPr>
            <a:r>
              <a:rPr sz="1300" b="0">
                <a:solidFill>
                  <a:srgbClr val="556175"/>
                </a:solidFill>
                <a:latin typeface="맑은 고딕"/>
                <a:ea typeface="맑은 고딕"/>
                <a:cs typeface="맑은 고딕"/>
              </a:rPr>
              <a:t>더한 속성: taskType</a:t>
            </a:r>
          </a:p>
        </p:txBody>
      </p:sp>
      <p:sp>
        <p:nvSpPr>
          <p:cNvPr id="10" name="TextBox 9"/>
          <p:cNvSpPr txBox="1"/>
          <p:nvPr/>
        </p:nvSpPr>
        <p:spPr>
          <a:xfrm>
            <a:off x="8135923" y="4936845"/>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Gateway · 게이트웨이</a:t>
            </a:r>
          </a:p>
        </p:txBody>
      </p:sp>
      <p:sp>
        <p:nvSpPr>
          <p:cNvPr id="11" name="TextBox 10"/>
          <p:cNvSpPr txBox="1"/>
          <p:nvPr/>
        </p:nvSpPr>
        <p:spPr>
          <a:xfrm>
            <a:off x="2822999" y="5811423"/>
            <a:ext cx="654569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「규정 검토」 작업</a:t>
            </a:r>
          </a:p>
          <a:p>
            <a:pPr algn="ctr">
              <a:lnSpc>
                <a:spcPct val="110000"/>
              </a:lnSpc>
              <a:spcAft>
                <a:spcPts val="100"/>
              </a:spcAft>
            </a:pPr>
            <a:r>
              <a:rPr sz="1300" b="0">
                <a:solidFill>
                  <a:srgbClr val="556175"/>
                </a:solidFill>
                <a:latin typeface="맑은 고딕"/>
                <a:ea typeface="맑은 고딕"/>
                <a:cs typeface="맑은 고딕"/>
              </a:rPr>
              <a:t>Task의 인스턴스이며 FlowNode의 인스턴스이기도 하다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속성은 인스턴스에 값을 붙이고, 관계는 인스턴스를 다른 인스턴스에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orms" descr="form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데이터 속성</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인스턴스에 값을 붙인다</a:t>
            </a:r>
          </a:p>
          <a:p>
            <a:pPr algn="l">
              <a:lnSpc>
                <a:spcPct val="110000"/>
              </a:lnSpc>
              <a:spcAft>
                <a:spcPts val="600"/>
              </a:spcAft>
            </a:pPr>
            <a:r>
              <a:rPr sz="1450" b="0">
                <a:solidFill>
                  <a:srgbClr val="1F2A3A"/>
                </a:solidFill>
                <a:latin typeface="맑은 고딕"/>
                <a:ea typeface="맑은 고딕"/>
                <a:cs typeface="맑은 고딕"/>
              </a:rPr>
              <a:t>• 유온 센서의 tag는 「TS1」이다</a:t>
            </a:r>
          </a:p>
          <a:p>
            <a:pPr algn="l">
              <a:lnSpc>
                <a:spcPct val="110000"/>
              </a:lnSpc>
              <a:spcAft>
                <a:spcPts val="600"/>
              </a:spcAft>
            </a:pPr>
            <a:r>
              <a:rPr sz="1450" b="0">
                <a:solidFill>
                  <a:srgbClr val="1F2A3A"/>
                </a:solidFill>
                <a:latin typeface="맑은 고딕"/>
                <a:ea typeface="맑은 고딕"/>
                <a:cs typeface="맑은 고딕"/>
              </a:rPr>
              <a:t>• 값에서 더 따라갈 곳이 없다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값</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rrows-right" descr="arrows-righ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객체 간 관계</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인스턴스를 다른 인스턴스에 잇는다</a:t>
            </a:r>
          </a:p>
          <a:p>
            <a:pPr algn="l">
              <a:lnSpc>
                <a:spcPct val="110000"/>
              </a:lnSpc>
              <a:spcAft>
                <a:spcPts val="600"/>
              </a:spcAft>
            </a:pPr>
            <a:r>
              <a:rPr sz="1450" b="0">
                <a:solidFill>
                  <a:srgbClr val="1F2A3A"/>
                </a:solidFill>
                <a:latin typeface="맑은 고딕"/>
                <a:ea typeface="맑은 고딕"/>
                <a:cs typeface="맑은 고딕"/>
              </a:rPr>
              <a:t>• 유온 센서는 유온을 읽는다</a:t>
            </a:r>
          </a:p>
          <a:p>
            <a:pPr algn="l">
              <a:lnSpc>
                <a:spcPct val="110000"/>
              </a:lnSpc>
              <a:spcAft>
                <a:spcPts val="600"/>
              </a:spcAft>
            </a:pPr>
            <a:r>
              <a:rPr sz="1450" b="0">
                <a:solidFill>
                  <a:srgbClr val="1F2A3A"/>
                </a:solidFill>
                <a:latin typeface="맑은 고딕"/>
                <a:ea typeface="맑은 고딕"/>
                <a:cs typeface="맑은 고딕"/>
              </a:rPr>
              <a:t>• 관계를 따라 다음 대상으로 넘어간다</a:t>
            </a:r>
          </a:p>
        </p:txBody>
      </p:sp>
      <p:sp>
        <p:nvSpPr>
          <p:cNvPr id="18" name="Rounded Rectangle 17"/>
          <p:cNvSpPr/>
          <p:nvPr/>
        </p:nvSpPr>
        <p:spPr>
          <a:xfrm>
            <a:off x="6781647" y="494557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인스턴스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 값으로 적을 것인가, 인스턴스로 둘 것인가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유온에는 정상값과 한계라는 자기 속성이 있으므로, 값이 아니라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두고 관계로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Oval 5"/>
          <p:cNvSpPr/>
          <p:nvPr/>
        </p:nvSpPr>
        <p:spPr>
          <a:xfrm>
            <a:off x="1671486"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793101"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1671486" y="4617720"/>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1793101"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a:p>
            <a:pPr algn="ctr">
              <a:lnSpc>
                <a:spcPct val="110000"/>
              </a:lnSpc>
            </a:pPr>
            <a:r>
              <a:rPr sz="1100" b="0">
                <a:solidFill>
                  <a:srgbClr val="556175"/>
                </a:solidFill>
                <a:latin typeface="맑은 고딕"/>
                <a:ea typeface="맑은 고딕"/>
                <a:cs typeface="맑은 고딕"/>
              </a:rPr>
              <a:t>tag: TS1</a:t>
            </a:r>
          </a:p>
        </p:txBody>
      </p:sp>
      <p:sp>
        <p:nvSpPr>
          <p:cNvPr id="10" name="Oval 9"/>
          <p:cNvSpPr/>
          <p:nvPr/>
        </p:nvSpPr>
        <p:spPr>
          <a:xfrm>
            <a:off x="5227167"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534878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a:t>
            </a:r>
          </a:p>
          <a:p>
            <a:pPr algn="ctr">
              <a:lnSpc>
                <a:spcPct val="110000"/>
              </a:lnSpc>
            </a:pPr>
            <a:r>
              <a:rPr sz="1100" b="0">
                <a:solidFill>
                  <a:srgbClr val="556175"/>
                </a:solidFill>
                <a:latin typeface="맑은 고딕"/>
                <a:ea typeface="맑은 고딕"/>
                <a:cs typeface="맑은 고딕"/>
              </a:rPr>
              <a:t>StateVariable</a:t>
            </a:r>
          </a:p>
          <a:p>
            <a:pPr algn="ctr">
              <a:lnSpc>
                <a:spcPct val="110000"/>
              </a:lnSpc>
            </a:pPr>
            <a:r>
              <a:rPr sz="1100" b="0">
                <a:solidFill>
                  <a:srgbClr val="556175"/>
                </a:solidFill>
                <a:latin typeface="맑은 고딕"/>
                <a:ea typeface="맑은 고딕"/>
                <a:cs typeface="맑은 고딕"/>
              </a:rPr>
              <a:t>normal 48 · limit 65</a:t>
            </a:r>
          </a:p>
        </p:txBody>
      </p:sp>
      <p:cxnSp>
        <p:nvCxnSpPr>
          <p:cNvPr id="12" name="Connector 11"/>
          <p:cNvCxnSpPr/>
          <p:nvPr/>
        </p:nvCxnSpPr>
        <p:spPr>
          <a:xfrm>
            <a:off x="2540166" y="3410712"/>
            <a:ext cx="0" cy="1133856"/>
          </a:xfrm>
          <a:prstGeom prst="line">
            <a:avLst/>
          </a:prstGeom>
          <a:ln w="28575">
            <a:solidFill>
              <a:srgbClr val="13294B"/>
            </a:solidFill>
            <a:tailEnd type="triangle" w="med" len="med"/>
          </a:ln>
        </p:spPr>
      </p:cxnSp>
      <p:sp>
        <p:nvSpPr>
          <p:cNvPr id="13" name="Rounded Rectangle 12"/>
          <p:cNvSpPr/>
          <p:nvPr/>
        </p:nvSpPr>
        <p:spPr>
          <a:xfrm>
            <a:off x="2631606" y="3831335"/>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4" name="TextBox 13"/>
          <p:cNvSpPr txBox="1"/>
          <p:nvPr/>
        </p:nvSpPr>
        <p:spPr>
          <a:xfrm>
            <a:off x="2631606" y="3831335"/>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15" name="Connector 14"/>
          <p:cNvCxnSpPr/>
          <p:nvPr/>
        </p:nvCxnSpPr>
        <p:spPr>
          <a:xfrm>
            <a:off x="3454566" y="5486400"/>
            <a:ext cx="1699449" cy="0"/>
          </a:xfrm>
          <a:prstGeom prst="line">
            <a:avLst/>
          </a:prstGeom>
          <a:ln w="28575">
            <a:solidFill>
              <a:srgbClr val="13294B"/>
            </a:solidFill>
            <a:tailEnd type="triangle" w="med" len="med"/>
          </a:ln>
        </p:spPr>
      </p:cxnSp>
      <p:sp>
        <p:nvSpPr>
          <p:cNvPr id="16" name="Rounded Rectangle 15"/>
          <p:cNvSpPr/>
          <p:nvPr/>
        </p:nvSpPr>
        <p:spPr>
          <a:xfrm>
            <a:off x="3739730" y="512064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7" name="TextBox 16"/>
          <p:cNvSpPr txBox="1"/>
          <p:nvPr/>
        </p:nvSpPr>
        <p:spPr>
          <a:xfrm>
            <a:off x="3739730" y="5120640"/>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OBSERVES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유온이 맺는 다른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유온은 팬 속도의 영향을 받는다는 다른 관계의 끝이 되기도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Oval 5"/>
          <p:cNvSpPr/>
          <p:nvPr/>
        </p:nvSpPr>
        <p:spPr>
          <a:xfrm>
            <a:off x="1671486"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793101"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1671486" y="4617720"/>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1793101"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a:p>
            <a:pPr algn="ctr">
              <a:lnSpc>
                <a:spcPct val="110000"/>
              </a:lnSpc>
            </a:pPr>
            <a:r>
              <a:rPr sz="1100" b="0">
                <a:solidFill>
                  <a:srgbClr val="556175"/>
                </a:solidFill>
                <a:latin typeface="맑은 고딕"/>
                <a:ea typeface="맑은 고딕"/>
                <a:cs typeface="맑은 고딕"/>
              </a:rPr>
              <a:t>tag: TS1</a:t>
            </a:r>
          </a:p>
        </p:txBody>
      </p:sp>
      <p:sp>
        <p:nvSpPr>
          <p:cNvPr id="10" name="Oval 9"/>
          <p:cNvSpPr/>
          <p:nvPr/>
        </p:nvSpPr>
        <p:spPr>
          <a:xfrm>
            <a:off x="5227167"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34878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a:t>
            </a:r>
          </a:p>
          <a:p>
            <a:pPr algn="ctr">
              <a:lnSpc>
                <a:spcPct val="110000"/>
              </a:lnSpc>
            </a:pPr>
            <a:r>
              <a:rPr sz="1100" b="0">
                <a:solidFill>
                  <a:srgbClr val="556175"/>
                </a:solidFill>
                <a:latin typeface="맑은 고딕"/>
                <a:ea typeface="맑은 고딕"/>
                <a:cs typeface="맑은 고딕"/>
              </a:rPr>
              <a:t>StateVariable</a:t>
            </a:r>
          </a:p>
          <a:p>
            <a:pPr algn="ctr">
              <a:lnSpc>
                <a:spcPct val="110000"/>
              </a:lnSpc>
            </a:pPr>
            <a:r>
              <a:rPr sz="1100" b="0">
                <a:solidFill>
                  <a:srgbClr val="556175"/>
                </a:solidFill>
                <a:latin typeface="맑은 고딕"/>
                <a:ea typeface="맑은 고딕"/>
                <a:cs typeface="맑은 고딕"/>
              </a:rPr>
              <a:t>normal 48 · limit 65</a:t>
            </a:r>
          </a:p>
        </p:txBody>
      </p:sp>
      <p:sp>
        <p:nvSpPr>
          <p:cNvPr id="12" name="Oval 11"/>
          <p:cNvSpPr/>
          <p:nvPr/>
        </p:nvSpPr>
        <p:spPr>
          <a:xfrm>
            <a:off x="8782848"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8904463"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속도</a:t>
            </a:r>
          </a:p>
          <a:p>
            <a:pPr algn="ctr">
              <a:lnSpc>
                <a:spcPct val="110000"/>
              </a:lnSpc>
            </a:pPr>
            <a:r>
              <a:rPr sz="1100" b="0">
                <a:solidFill>
                  <a:srgbClr val="556175"/>
                </a:solidFill>
                <a:latin typeface="맑은 고딕"/>
                <a:ea typeface="맑은 고딕"/>
                <a:cs typeface="맑은 고딕"/>
              </a:rPr>
              <a:t>StateVariable</a:t>
            </a:r>
          </a:p>
          <a:p>
            <a:pPr algn="ctr">
              <a:lnSpc>
                <a:spcPct val="110000"/>
              </a:lnSpc>
            </a:pPr>
            <a:r>
              <a:rPr sz="1100" b="0">
                <a:solidFill>
                  <a:srgbClr val="556175"/>
                </a:solidFill>
                <a:latin typeface="맑은 고딕"/>
                <a:ea typeface="맑은 고딕"/>
                <a:cs typeface="맑은 고딕"/>
              </a:rPr>
              <a:t>normal 60</a:t>
            </a:r>
          </a:p>
        </p:txBody>
      </p:sp>
      <p:cxnSp>
        <p:nvCxnSpPr>
          <p:cNvPr id="14" name="Connector 13"/>
          <p:cNvCxnSpPr/>
          <p:nvPr/>
        </p:nvCxnSpPr>
        <p:spPr>
          <a:xfrm>
            <a:off x="2540166" y="3410712"/>
            <a:ext cx="0" cy="1133856"/>
          </a:xfrm>
          <a:prstGeom prst="line">
            <a:avLst/>
          </a:prstGeom>
          <a:ln w="28575">
            <a:solidFill>
              <a:srgbClr val="13294B"/>
            </a:solidFill>
            <a:tailEnd type="triangle" w="med" len="med"/>
          </a:ln>
        </p:spPr>
      </p:cxnSp>
      <p:sp>
        <p:nvSpPr>
          <p:cNvPr id="15" name="Rounded Rectangle 14"/>
          <p:cNvSpPr/>
          <p:nvPr/>
        </p:nvSpPr>
        <p:spPr>
          <a:xfrm>
            <a:off x="2631606" y="3831335"/>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2631606" y="3831335"/>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17" name="Connector 16"/>
          <p:cNvCxnSpPr/>
          <p:nvPr/>
        </p:nvCxnSpPr>
        <p:spPr>
          <a:xfrm>
            <a:off x="3454566" y="5486400"/>
            <a:ext cx="1699449" cy="0"/>
          </a:xfrm>
          <a:prstGeom prst="line">
            <a:avLst/>
          </a:prstGeom>
          <a:ln w="28575">
            <a:solidFill>
              <a:srgbClr val="13294B"/>
            </a:solidFill>
            <a:tailEnd type="triangle" w="med" len="med"/>
          </a:ln>
        </p:spPr>
      </p:cxnSp>
      <p:sp>
        <p:nvSpPr>
          <p:cNvPr id="18" name="Rounded Rectangle 17"/>
          <p:cNvSpPr/>
          <p:nvPr/>
        </p:nvSpPr>
        <p:spPr>
          <a:xfrm>
            <a:off x="3739730" y="512064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3739730" y="5120640"/>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OBSERVES</a:t>
            </a:r>
          </a:p>
        </p:txBody>
      </p:sp>
      <p:cxnSp>
        <p:nvCxnSpPr>
          <p:cNvPr id="20" name="Connector 19"/>
          <p:cNvCxnSpPr/>
          <p:nvPr/>
        </p:nvCxnSpPr>
        <p:spPr>
          <a:xfrm flipH="1">
            <a:off x="7037679" y="5486400"/>
            <a:ext cx="1699449" cy="0"/>
          </a:xfrm>
          <a:prstGeom prst="line">
            <a:avLst/>
          </a:prstGeom>
          <a:ln w="28575">
            <a:solidFill>
              <a:srgbClr val="13294B"/>
            </a:solidFill>
            <a:tailEnd type="triangle" w="med" len="med"/>
          </a:ln>
        </p:spPr>
      </p:cxnSp>
      <p:sp>
        <p:nvSpPr>
          <p:cNvPr id="21" name="Rounded Rectangle 20"/>
          <p:cNvSpPr/>
          <p:nvPr/>
        </p:nvSpPr>
        <p:spPr>
          <a:xfrm>
            <a:off x="7215993" y="5120640"/>
            <a:ext cx="13428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7215993" y="5120640"/>
            <a:ext cx="13428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INFLUENCES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값과 인스턴스를 가르는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자기 속성을 갖거나 다른 대상과 관계를 맺는 것은 인스턴스로 두고, 값 하나로 끝나는 것은 속성값으로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Oval 5"/>
          <p:cNvSpPr/>
          <p:nvPr/>
        </p:nvSpPr>
        <p:spPr>
          <a:xfrm>
            <a:off x="1671486" y="4617720"/>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793101"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a:p>
            <a:pPr algn="ctr">
              <a:lnSpc>
                <a:spcPct val="110000"/>
              </a:lnSpc>
            </a:pPr>
            <a:r>
              <a:rPr sz="1100" b="0">
                <a:solidFill>
                  <a:srgbClr val="556175"/>
                </a:solidFill>
                <a:latin typeface="맑은 고딕"/>
                <a:ea typeface="맑은 고딕"/>
                <a:cs typeface="맑은 고딕"/>
              </a:rPr>
              <a:t>tag: TS1</a:t>
            </a:r>
          </a:p>
        </p:txBody>
      </p:sp>
      <p:sp>
        <p:nvSpPr>
          <p:cNvPr id="8" name="Oval 7"/>
          <p:cNvSpPr/>
          <p:nvPr/>
        </p:nvSpPr>
        <p:spPr>
          <a:xfrm>
            <a:off x="5227167" y="4617720"/>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534878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a:t>
            </a:r>
          </a:p>
          <a:p>
            <a:pPr algn="ctr">
              <a:lnSpc>
                <a:spcPct val="110000"/>
              </a:lnSpc>
            </a:pPr>
            <a:r>
              <a:rPr sz="1100" b="0">
                <a:solidFill>
                  <a:srgbClr val="556175"/>
                </a:solidFill>
                <a:latin typeface="맑은 고딕"/>
                <a:ea typeface="맑은 고딕"/>
                <a:cs typeface="맑은 고딕"/>
              </a:rPr>
              <a:t>StateVariable</a:t>
            </a:r>
          </a:p>
          <a:p>
            <a:pPr algn="ctr">
              <a:lnSpc>
                <a:spcPct val="110000"/>
              </a:lnSpc>
            </a:pPr>
            <a:r>
              <a:rPr sz="1100" b="0">
                <a:solidFill>
                  <a:srgbClr val="556175"/>
                </a:solidFill>
                <a:latin typeface="맑은 고딕"/>
                <a:ea typeface="맑은 고딕"/>
                <a:cs typeface="맑은 고딕"/>
              </a:rPr>
              <a:t>normal 48 · limit 65</a:t>
            </a:r>
          </a:p>
        </p:txBody>
      </p:sp>
      <p:sp>
        <p:nvSpPr>
          <p:cNvPr id="10" name="Oval 9"/>
          <p:cNvSpPr/>
          <p:nvPr/>
        </p:nvSpPr>
        <p:spPr>
          <a:xfrm>
            <a:off x="8782848"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8904463"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속도</a:t>
            </a:r>
          </a:p>
          <a:p>
            <a:pPr algn="ctr">
              <a:lnSpc>
                <a:spcPct val="110000"/>
              </a:lnSpc>
            </a:pPr>
            <a:r>
              <a:rPr sz="1100" b="0">
                <a:solidFill>
                  <a:srgbClr val="556175"/>
                </a:solidFill>
                <a:latin typeface="맑은 고딕"/>
                <a:ea typeface="맑은 고딕"/>
                <a:cs typeface="맑은 고딕"/>
              </a:rPr>
              <a:t>StateVariable</a:t>
            </a:r>
          </a:p>
          <a:p>
            <a:pPr algn="ctr">
              <a:lnSpc>
                <a:spcPct val="110000"/>
              </a:lnSpc>
            </a:pPr>
            <a:r>
              <a:rPr sz="1100" b="0">
                <a:solidFill>
                  <a:srgbClr val="556175"/>
                </a:solidFill>
                <a:latin typeface="맑은 고딕"/>
                <a:ea typeface="맑은 고딕"/>
                <a:cs typeface="맑은 고딕"/>
              </a:rPr>
              <a:t>normal 60</a:t>
            </a:r>
          </a:p>
        </p:txBody>
      </p:sp>
      <p:sp>
        <p:nvSpPr>
          <p:cNvPr id="12" name="Oval 11"/>
          <p:cNvSpPr/>
          <p:nvPr/>
        </p:nvSpPr>
        <p:spPr>
          <a:xfrm>
            <a:off x="8782848"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8904463"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인버터</a:t>
            </a:r>
          </a:p>
          <a:p>
            <a:pPr algn="ctr">
              <a:lnSpc>
                <a:spcPct val="110000"/>
              </a:lnSpc>
            </a:pPr>
            <a:r>
              <a:rPr sz="1100" b="0">
                <a:solidFill>
                  <a:srgbClr val="556175"/>
                </a:solidFill>
                <a:latin typeface="맑은 고딕"/>
                <a:ea typeface="맑은 고딕"/>
                <a:cs typeface="맑은 고딕"/>
              </a:rPr>
              <a:t>Actuator</a:t>
            </a:r>
          </a:p>
        </p:txBody>
      </p:sp>
      <p:sp>
        <p:nvSpPr>
          <p:cNvPr id="14" name="Oval 13"/>
          <p:cNvSpPr/>
          <p:nvPr/>
        </p:nvSpPr>
        <p:spPr>
          <a:xfrm>
            <a:off x="1671486"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1793101"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cxnSp>
        <p:nvCxnSpPr>
          <p:cNvPr id="16" name="Connector 15"/>
          <p:cNvCxnSpPr/>
          <p:nvPr/>
        </p:nvCxnSpPr>
        <p:spPr>
          <a:xfrm>
            <a:off x="2540166" y="3410712"/>
            <a:ext cx="0" cy="1133856"/>
          </a:xfrm>
          <a:prstGeom prst="line">
            <a:avLst/>
          </a:prstGeom>
          <a:ln w="28575">
            <a:solidFill>
              <a:srgbClr val="13294B"/>
            </a:solidFill>
            <a:tailEnd type="triangle" w="med" len="med"/>
          </a:ln>
        </p:spPr>
      </p:cxnSp>
      <p:sp>
        <p:nvSpPr>
          <p:cNvPr id="17" name="Rounded Rectangle 16"/>
          <p:cNvSpPr/>
          <p:nvPr/>
        </p:nvSpPr>
        <p:spPr>
          <a:xfrm>
            <a:off x="2631606" y="3831335"/>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31606" y="3831335"/>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19" name="Connector 18"/>
          <p:cNvCxnSpPr/>
          <p:nvPr/>
        </p:nvCxnSpPr>
        <p:spPr>
          <a:xfrm>
            <a:off x="3454566" y="5486400"/>
            <a:ext cx="1699449" cy="0"/>
          </a:xfrm>
          <a:prstGeom prst="line">
            <a:avLst/>
          </a:prstGeom>
          <a:ln w="28575">
            <a:solidFill>
              <a:srgbClr val="13294B"/>
            </a:solidFill>
            <a:tailEnd type="triangle" w="med" len="med"/>
          </a:ln>
        </p:spPr>
      </p:cxnSp>
      <p:sp>
        <p:nvSpPr>
          <p:cNvPr id="20" name="Rounded Rectangle 19"/>
          <p:cNvSpPr/>
          <p:nvPr/>
        </p:nvSpPr>
        <p:spPr>
          <a:xfrm>
            <a:off x="3739730" y="512064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3739730" y="5120640"/>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OBSERVES</a:t>
            </a:r>
          </a:p>
        </p:txBody>
      </p:sp>
      <p:cxnSp>
        <p:nvCxnSpPr>
          <p:cNvPr id="22" name="Connector 21"/>
          <p:cNvCxnSpPr/>
          <p:nvPr/>
        </p:nvCxnSpPr>
        <p:spPr>
          <a:xfrm flipH="1">
            <a:off x="7037679" y="5486400"/>
            <a:ext cx="1699449" cy="0"/>
          </a:xfrm>
          <a:prstGeom prst="line">
            <a:avLst/>
          </a:prstGeom>
          <a:ln w="28575">
            <a:solidFill>
              <a:srgbClr val="13294B"/>
            </a:solidFill>
            <a:tailEnd type="triangle" w="med" len="med"/>
          </a:ln>
        </p:spPr>
      </p:cxnSp>
      <p:sp>
        <p:nvSpPr>
          <p:cNvPr id="23" name="Rounded Rectangle 22"/>
          <p:cNvSpPr/>
          <p:nvPr/>
        </p:nvSpPr>
        <p:spPr>
          <a:xfrm>
            <a:off x="7215993" y="5120640"/>
            <a:ext cx="13428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7215993" y="5120640"/>
            <a:ext cx="13428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INFLUENCES</a:t>
            </a:r>
          </a:p>
        </p:txBody>
      </p:sp>
      <p:cxnSp>
        <p:nvCxnSpPr>
          <p:cNvPr id="25" name="Connector 24"/>
          <p:cNvCxnSpPr/>
          <p:nvPr/>
        </p:nvCxnSpPr>
        <p:spPr>
          <a:xfrm>
            <a:off x="9651528" y="3410712"/>
            <a:ext cx="0" cy="1133856"/>
          </a:xfrm>
          <a:prstGeom prst="line">
            <a:avLst/>
          </a:prstGeom>
          <a:ln w="28575">
            <a:solidFill>
              <a:srgbClr val="13294B"/>
            </a:solidFill>
            <a:tailEnd type="triangle" w="med" len="med"/>
          </a:ln>
        </p:spPr>
      </p:cxnSp>
      <p:sp>
        <p:nvSpPr>
          <p:cNvPr id="26" name="Rounded Rectangle 25"/>
          <p:cNvSpPr/>
          <p:nvPr/>
        </p:nvSpPr>
        <p:spPr>
          <a:xfrm>
            <a:off x="9742968" y="3831335"/>
            <a:ext cx="14496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9742968" y="3831335"/>
            <a:ext cx="14496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MANIPULATES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유형: 클래스 사이의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은 이름과 방향, 그리고 시작 클래스와 끝 클래스로 정의한다.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두층_1.svg" descr="illust_486279042048431431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762219"/>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클래스와 관계 유형</a:t>
            </a:r>
          </a:p>
        </p:txBody>
      </p:sp>
      <p:sp>
        <p:nvSpPr>
          <p:cNvPr id="8" name="TextBox 7"/>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9" name="TextBox 8"/>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0" name="TextBox 9"/>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1" name="TextBox 10"/>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2" name="TextBox 11"/>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HAS_COMPONENT</a:t>
            </a:r>
          </a:p>
        </p:txBody>
      </p:sp>
      <p:sp>
        <p:nvSpPr>
          <p:cNvPr id="13" name="TextBox 12"/>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MONITORED_BY</a:t>
            </a:r>
          </a:p>
        </p:txBody>
      </p:sp>
      <p:sp>
        <p:nvSpPr>
          <p:cNvPr id="14" name="TextBox 13"/>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OBSERVES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인스턴스 사이에 놓인 실제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실제 관계는 관계 유형의 정의에 따라 인스턴스와 인스턴스 사이에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두층_2.svg" descr="illust_774500558993503863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86641" y="285676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p:txBody>
      </p:sp>
      <p:sp>
        <p:nvSpPr>
          <p:cNvPr id="8" name="TextBox 7"/>
          <p:cNvSpPr txBox="1"/>
          <p:nvPr/>
        </p:nvSpPr>
        <p:spPr>
          <a:xfrm>
            <a:off x="5354001" y="285676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p:txBody>
      </p:sp>
      <p:sp>
        <p:nvSpPr>
          <p:cNvPr id="9" name="TextBox 8"/>
          <p:cNvSpPr txBox="1"/>
          <p:nvPr/>
        </p:nvSpPr>
        <p:spPr>
          <a:xfrm>
            <a:off x="7710452" y="285676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p:txBody>
      </p:sp>
      <p:sp>
        <p:nvSpPr>
          <p:cNvPr id="10" name="TextBox 9"/>
          <p:cNvSpPr txBox="1"/>
          <p:nvPr/>
        </p:nvSpPr>
        <p:spPr>
          <a:xfrm>
            <a:off x="10077813" y="2856768"/>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p:txBody>
      </p:sp>
      <p:sp>
        <p:nvSpPr>
          <p:cNvPr id="11" name="TextBox 10"/>
          <p:cNvSpPr txBox="1"/>
          <p:nvPr/>
        </p:nvSpPr>
        <p:spPr>
          <a:xfrm>
            <a:off x="804742" y="4936845"/>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인스턴스와 관계</a:t>
            </a:r>
          </a:p>
        </p:txBody>
      </p:sp>
      <p:sp>
        <p:nvSpPr>
          <p:cNvPr id="12" name="TextBox 11"/>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3" name="TextBox 12"/>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14" name="TextBox 13"/>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15" name="TextBox 14"/>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층과 인스턴스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 층은 무엇이 무엇에 이어질 수 있는가를, 인스턴스 층은 무엇이 무엇에 이어져 있는가를 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두층_3.svg" descr="illust_549794165087372510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클래스와 관계 유형</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8" name="TextBox 7"/>
          <p:cNvSpPr txBox="1"/>
          <p:nvPr/>
        </p:nvSpPr>
        <p:spPr>
          <a:xfrm>
            <a:off x="2986641" y="285676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p:txBody>
      </p:sp>
      <p:sp>
        <p:nvSpPr>
          <p:cNvPr id="9" name="TextBox 8"/>
          <p:cNvSpPr txBox="1"/>
          <p:nvPr/>
        </p:nvSpPr>
        <p:spPr>
          <a:xfrm>
            <a:off x="5354001" y="285676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p:txBody>
      </p:sp>
      <p:sp>
        <p:nvSpPr>
          <p:cNvPr id="10" name="TextBox 9"/>
          <p:cNvSpPr txBox="1"/>
          <p:nvPr/>
        </p:nvSpPr>
        <p:spPr>
          <a:xfrm>
            <a:off x="7710452" y="285676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p:txBody>
      </p:sp>
      <p:sp>
        <p:nvSpPr>
          <p:cNvPr id="11" name="TextBox 10"/>
          <p:cNvSpPr txBox="1"/>
          <p:nvPr/>
        </p:nvSpPr>
        <p:spPr>
          <a:xfrm>
            <a:off x="10077813" y="2856768"/>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p:txBody>
      </p:sp>
      <p:sp>
        <p:nvSpPr>
          <p:cNvPr id="12" name="TextBox 11"/>
          <p:cNvSpPr txBox="1"/>
          <p:nvPr/>
        </p:nvSpPr>
        <p:spPr>
          <a:xfrm>
            <a:off x="3586663" y="3991356"/>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인스턴스이다</a:t>
            </a:r>
          </a:p>
        </p:txBody>
      </p:sp>
      <p:sp>
        <p:nvSpPr>
          <p:cNvPr id="13" name="TextBox 12"/>
          <p:cNvSpPr txBox="1"/>
          <p:nvPr/>
        </p:nvSpPr>
        <p:spPr>
          <a:xfrm>
            <a:off x="804742" y="4747747"/>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인스턴스와 관계</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4" name="TextBox 13"/>
          <p:cNvSpPr txBox="1"/>
          <p:nvPr/>
        </p:nvSpPr>
        <p:spPr>
          <a:xfrm>
            <a:off x="2550261" y="560814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p:txBody>
      </p:sp>
      <p:sp>
        <p:nvSpPr>
          <p:cNvPr id="15" name="TextBox 14"/>
          <p:cNvSpPr txBox="1"/>
          <p:nvPr/>
        </p:nvSpPr>
        <p:spPr>
          <a:xfrm>
            <a:off x="4917622" y="560814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p:txBody>
      </p:sp>
      <p:sp>
        <p:nvSpPr>
          <p:cNvPr id="16" name="TextBox 15"/>
          <p:cNvSpPr txBox="1"/>
          <p:nvPr/>
        </p:nvSpPr>
        <p:spPr>
          <a:xfrm>
            <a:off x="7274073" y="560814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7" name="TextBox 16"/>
          <p:cNvSpPr txBox="1"/>
          <p:nvPr/>
        </p:nvSpPr>
        <p:spPr>
          <a:xfrm>
            <a:off x="9641433" y="560814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인스턴스의 나가는 관계와 들어오는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인스턴스에는 그 인스턴스에서 나가는 관계와 그 인스턴스로 들어오는 관계가 함께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Oval 5"/>
          <p:cNvSpPr/>
          <p:nvPr/>
        </p:nvSpPr>
        <p:spPr>
          <a:xfrm>
            <a:off x="4401190" y="3259836"/>
            <a:ext cx="1463040" cy="146304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4503602" y="3537813"/>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74126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84368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HYD-01</a:t>
            </a:r>
          </a:p>
          <a:p>
            <a:pPr algn="ctr">
              <a:lnSpc>
                <a:spcPct val="110000"/>
              </a:lnSpc>
            </a:pPr>
            <a:r>
              <a:rPr sz="1100" b="0">
                <a:solidFill>
                  <a:srgbClr val="556175"/>
                </a:solidFill>
                <a:latin typeface="맑은 고딕"/>
                <a:ea typeface="맑은 고딕"/>
                <a:cs typeface="맑은 고딕"/>
              </a:rPr>
              <a:t>Asset</a:t>
            </a:r>
          </a:p>
        </p:txBody>
      </p:sp>
      <p:sp>
        <p:nvSpPr>
          <p:cNvPr id="10" name="Oval 9"/>
          <p:cNvSpPr/>
          <p:nvPr/>
        </p:nvSpPr>
        <p:spPr>
          <a:xfrm>
            <a:off x="741267"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84368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냉각 성능 상실</a:t>
            </a:r>
          </a:p>
          <a:p>
            <a:pPr algn="ctr">
              <a:lnSpc>
                <a:spcPct val="110000"/>
              </a:lnSpc>
            </a:pPr>
            <a:r>
              <a:rPr sz="1100" b="0">
                <a:solidFill>
                  <a:srgbClr val="556175"/>
                </a:solidFill>
                <a:latin typeface="맑은 고딕"/>
                <a:ea typeface="맑은 고딕"/>
                <a:cs typeface="맑은 고딕"/>
              </a:rPr>
              <a:t>FailureMode</a:t>
            </a:r>
          </a:p>
        </p:txBody>
      </p:sp>
      <p:sp>
        <p:nvSpPr>
          <p:cNvPr id="12" name="Oval 11"/>
          <p:cNvSpPr/>
          <p:nvPr/>
        </p:nvSpPr>
        <p:spPr>
          <a:xfrm>
            <a:off x="7290602"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7393015"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p:txBody>
      </p:sp>
      <p:sp>
        <p:nvSpPr>
          <p:cNvPr id="14" name="Oval 13"/>
          <p:cNvSpPr/>
          <p:nvPr/>
        </p:nvSpPr>
        <p:spPr>
          <a:xfrm>
            <a:off x="9891073" y="3259836"/>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993486" y="3537813"/>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효율</a:t>
            </a:r>
          </a:p>
          <a:p>
            <a:pPr algn="ctr">
              <a:lnSpc>
                <a:spcPct val="110000"/>
              </a:lnSpc>
            </a:pPr>
            <a:r>
              <a:rPr sz="1100" b="0">
                <a:solidFill>
                  <a:srgbClr val="556175"/>
                </a:solidFill>
                <a:latin typeface="맑은 고딕"/>
                <a:ea typeface="맑은 고딕"/>
                <a:cs typeface="맑은 고딕"/>
              </a:rPr>
              <a:t>Sensor</a:t>
            </a:r>
          </a:p>
        </p:txBody>
      </p:sp>
      <p:sp>
        <p:nvSpPr>
          <p:cNvPr id="16" name="Oval 15"/>
          <p:cNvSpPr/>
          <p:nvPr/>
        </p:nvSpPr>
        <p:spPr>
          <a:xfrm>
            <a:off x="729060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393015"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코어</a:t>
            </a:r>
          </a:p>
          <a:p>
            <a:pPr algn="ctr">
              <a:lnSpc>
                <a:spcPct val="110000"/>
              </a:lnSpc>
            </a:pPr>
            <a:r>
              <a:rPr sz="1100" b="0">
                <a:solidFill>
                  <a:srgbClr val="556175"/>
                </a:solidFill>
                <a:latin typeface="맑은 고딕"/>
                <a:ea typeface="맑은 고딕"/>
                <a:cs typeface="맑은 고딕"/>
              </a:rPr>
              <a:t>Part</a:t>
            </a:r>
          </a:p>
        </p:txBody>
      </p:sp>
      <p:cxnSp>
        <p:nvCxnSpPr>
          <p:cNvPr id="18" name="Connector 17"/>
          <p:cNvCxnSpPr/>
          <p:nvPr/>
        </p:nvCxnSpPr>
        <p:spPr>
          <a:xfrm>
            <a:off x="2182636" y="2675721"/>
            <a:ext cx="2215171" cy="987892"/>
          </a:xfrm>
          <a:prstGeom prst="line">
            <a:avLst/>
          </a:prstGeom>
          <a:ln w="28575">
            <a:solidFill>
              <a:srgbClr val="13294B"/>
            </a:solidFill>
            <a:tailEnd type="triangle" w="med" len="med"/>
          </a:ln>
        </p:spPr>
      </p:cxnSp>
      <p:sp>
        <p:nvSpPr>
          <p:cNvPr id="19" name="Rounded Rectangle 18"/>
          <p:cNvSpPr/>
          <p:nvPr/>
        </p:nvSpPr>
        <p:spPr>
          <a:xfrm>
            <a:off x="2467152" y="2803907"/>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467152" y="2803907"/>
            <a:ext cx="16461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HAS_COMPONENT</a:t>
            </a:r>
          </a:p>
        </p:txBody>
      </p:sp>
      <p:cxnSp>
        <p:nvCxnSpPr>
          <p:cNvPr id="21" name="Connector 20"/>
          <p:cNvCxnSpPr/>
          <p:nvPr/>
        </p:nvCxnSpPr>
        <p:spPr>
          <a:xfrm flipV="1">
            <a:off x="2182636" y="4319098"/>
            <a:ext cx="2215171" cy="987892"/>
          </a:xfrm>
          <a:prstGeom prst="line">
            <a:avLst/>
          </a:prstGeom>
          <a:ln w="28575">
            <a:solidFill>
              <a:srgbClr val="13294B"/>
            </a:solidFill>
            <a:tailEnd type="triangle" w="med" len="med"/>
          </a:ln>
        </p:spPr>
      </p:cxnSp>
      <p:sp>
        <p:nvSpPr>
          <p:cNvPr id="22" name="Rounded Rectangle 21"/>
          <p:cNvSpPr/>
          <p:nvPr/>
        </p:nvSpPr>
        <p:spPr>
          <a:xfrm>
            <a:off x="2680853" y="4447284"/>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680853" y="4447284"/>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OCCURS_IN</a:t>
            </a:r>
          </a:p>
        </p:txBody>
      </p:sp>
      <p:cxnSp>
        <p:nvCxnSpPr>
          <p:cNvPr id="24" name="Connector 23"/>
          <p:cNvCxnSpPr/>
          <p:nvPr/>
        </p:nvCxnSpPr>
        <p:spPr>
          <a:xfrm flipV="1">
            <a:off x="5809440" y="2754923"/>
            <a:ext cx="1512067" cy="854153"/>
          </a:xfrm>
          <a:prstGeom prst="line">
            <a:avLst/>
          </a:prstGeom>
          <a:ln w="28575">
            <a:solidFill>
              <a:srgbClr val="13294B"/>
            </a:solidFill>
            <a:tailEnd type="triangle" w="med" len="med"/>
          </a:ln>
        </p:spPr>
      </p:cxnSp>
      <p:sp>
        <p:nvSpPr>
          <p:cNvPr id="25" name="Rounded Rectangle 24"/>
          <p:cNvSpPr/>
          <p:nvPr/>
        </p:nvSpPr>
        <p:spPr>
          <a:xfrm>
            <a:off x="5795829" y="28162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795829" y="2816240"/>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27" name="Connector 26"/>
          <p:cNvCxnSpPr/>
          <p:nvPr/>
        </p:nvCxnSpPr>
        <p:spPr>
          <a:xfrm>
            <a:off x="5909950" y="3991356"/>
            <a:ext cx="3907971" cy="0"/>
          </a:xfrm>
          <a:prstGeom prst="line">
            <a:avLst/>
          </a:prstGeom>
          <a:ln w="28575">
            <a:solidFill>
              <a:srgbClr val="13294B"/>
            </a:solidFill>
            <a:tailEnd type="triangle" w="med" len="med"/>
          </a:ln>
        </p:spPr>
      </p:cxnSp>
      <p:sp>
        <p:nvSpPr>
          <p:cNvPr id="28" name="Rounded Rectangle 27"/>
          <p:cNvSpPr/>
          <p:nvPr/>
        </p:nvSpPr>
        <p:spPr>
          <a:xfrm>
            <a:off x="7094291" y="362559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7094291" y="3625596"/>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30" name="Connector 29"/>
          <p:cNvCxnSpPr/>
          <p:nvPr/>
        </p:nvCxnSpPr>
        <p:spPr>
          <a:xfrm>
            <a:off x="5809440" y="4373635"/>
            <a:ext cx="1512067" cy="854153"/>
          </a:xfrm>
          <a:prstGeom prst="line">
            <a:avLst/>
          </a:prstGeom>
          <a:ln w="28575">
            <a:solidFill>
              <a:srgbClr val="13294B"/>
            </a:solidFill>
            <a:tailEnd type="triangle" w="med" len="med"/>
          </a:ln>
        </p:spPr>
      </p:cxnSp>
      <p:sp>
        <p:nvSpPr>
          <p:cNvPr id="31" name="Rounded Rectangle 30"/>
          <p:cNvSpPr/>
          <p:nvPr/>
        </p:nvSpPr>
        <p:spPr>
          <a:xfrm>
            <a:off x="5956105" y="4434951"/>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5956105" y="4434951"/>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카디널리티: 한 대상에 몇 개가 이어질 수 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카디널리티</a:t>
            </a:r>
            <a:r>
              <a:rPr sz="1600" b="0">
                <a:solidFill>
                  <a:srgbClr val="556175"/>
                </a:solidFill>
                <a:latin typeface="맑은 고딕"/>
                <a:ea typeface="맑은 고딕"/>
                <a:cs typeface="맑은 고딕"/>
              </a:rPr>
              <a:t>(Cardinality)는 관계의 한쪽 대상 하나에 반대쪽 대상이 몇 개까지 이어질 수 있는지를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pic>
        <p:nvPicPr>
          <p:cNvPr id="6" name="삽화:카디널리티.svg" descr="illust_4318149230282008336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1:1</a:t>
            </a:r>
          </a:p>
          <a:p>
            <a:pPr algn="ctr">
              <a:lnSpc>
                <a:spcPct val="110000"/>
              </a:lnSpc>
              <a:spcAft>
                <a:spcPts val="100"/>
              </a:spcAft>
            </a:pPr>
            <a:r>
              <a:rPr sz="1300" b="0">
                <a:solidFill>
                  <a:srgbClr val="556175"/>
                </a:solidFill>
                <a:latin typeface="맑은 고딕"/>
                <a:ea typeface="맑은 고딕"/>
                <a:cs typeface="맑은 고딕"/>
              </a:rPr>
              <a:t>일대일</a:t>
            </a:r>
          </a:p>
        </p:txBody>
      </p:sp>
      <p:sp>
        <p:nvSpPr>
          <p:cNvPr id="8" name="TextBox 7"/>
          <p:cNvSpPr txBox="1"/>
          <p:nvPr/>
        </p:nvSpPr>
        <p:spPr>
          <a:xfrm>
            <a:off x="3641211"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1:N</a:t>
            </a:r>
          </a:p>
          <a:p>
            <a:pPr algn="ctr">
              <a:lnSpc>
                <a:spcPct val="110000"/>
              </a:lnSpc>
              <a:spcAft>
                <a:spcPts val="100"/>
              </a:spcAft>
            </a:pPr>
            <a:r>
              <a:rPr sz="1300" b="0">
                <a:solidFill>
                  <a:srgbClr val="556175"/>
                </a:solidFill>
                <a:latin typeface="맑은 고딕"/>
                <a:ea typeface="맑은 고딕"/>
                <a:cs typeface="맑은 고딕"/>
              </a:rPr>
              <a:t>일대다</a:t>
            </a:r>
          </a:p>
        </p:txBody>
      </p:sp>
      <p:sp>
        <p:nvSpPr>
          <p:cNvPr id="9" name="TextBox 8"/>
          <p:cNvSpPr txBox="1"/>
          <p:nvPr/>
        </p:nvSpPr>
        <p:spPr>
          <a:xfrm>
            <a:off x="6368584"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N:1</a:t>
            </a:r>
          </a:p>
          <a:p>
            <a:pPr algn="ctr">
              <a:lnSpc>
                <a:spcPct val="110000"/>
              </a:lnSpc>
              <a:spcAft>
                <a:spcPts val="100"/>
              </a:spcAft>
            </a:pPr>
            <a:r>
              <a:rPr sz="1300" b="0">
                <a:solidFill>
                  <a:srgbClr val="556175"/>
                </a:solidFill>
                <a:latin typeface="맑은 고딕"/>
                <a:ea typeface="맑은 고딕"/>
                <a:cs typeface="맑은 고딕"/>
              </a:rPr>
              <a:t>다대일</a:t>
            </a:r>
          </a:p>
        </p:txBody>
      </p:sp>
      <p:sp>
        <p:nvSpPr>
          <p:cNvPr id="10" name="TextBox 9"/>
          <p:cNvSpPr txBox="1"/>
          <p:nvPr/>
        </p:nvSpPr>
        <p:spPr>
          <a:xfrm>
            <a:off x="9095958"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N:M</a:t>
            </a:r>
          </a:p>
          <a:p>
            <a:pPr algn="ctr">
              <a:lnSpc>
                <a:spcPct val="110000"/>
              </a:lnSpc>
              <a:spcAft>
                <a:spcPts val="100"/>
              </a:spcAft>
            </a:pPr>
            <a:r>
              <a:rPr sz="1300" b="0">
                <a:solidFill>
                  <a:srgbClr val="556175"/>
                </a:solidFill>
                <a:latin typeface="맑은 고딕"/>
                <a:ea typeface="맑은 고딕"/>
                <a:cs typeface="맑은 고딕"/>
              </a:rPr>
              <a:t>다대다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일대일(1:1): 구동기와 상태 변수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일대일은 양쪽이 하나씩 짝을 이루며, 구동기 하나는 상태 변수 하나를 바꾼다.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Oval 5"/>
          <p:cNvSpPr/>
          <p:nvPr/>
        </p:nvSpPr>
        <p:spPr>
          <a:xfrm>
            <a:off x="151177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61419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인버터</a:t>
            </a:r>
          </a:p>
          <a:p>
            <a:pPr algn="ctr">
              <a:lnSpc>
                <a:spcPct val="110000"/>
              </a:lnSpc>
            </a:pPr>
            <a:r>
              <a:rPr sz="1100" b="0">
                <a:solidFill>
                  <a:srgbClr val="556175"/>
                </a:solidFill>
                <a:latin typeface="맑은 고딕"/>
                <a:ea typeface="맑은 고딕"/>
                <a:cs typeface="맑은 고딕"/>
              </a:rPr>
              <a:t>구동기</a:t>
            </a:r>
          </a:p>
        </p:txBody>
      </p:sp>
      <p:sp>
        <p:nvSpPr>
          <p:cNvPr id="8" name="Oval 7"/>
          <p:cNvSpPr/>
          <p:nvPr/>
        </p:nvSpPr>
        <p:spPr>
          <a:xfrm>
            <a:off x="536432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546674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펌프 부하 설정</a:t>
            </a:r>
          </a:p>
          <a:p>
            <a:pPr algn="ctr">
              <a:lnSpc>
                <a:spcPct val="110000"/>
              </a:lnSpc>
            </a:pPr>
            <a:r>
              <a:rPr sz="1100" b="0">
                <a:solidFill>
                  <a:srgbClr val="556175"/>
                </a:solidFill>
                <a:latin typeface="맑은 고딕"/>
                <a:ea typeface="맑은 고딕"/>
                <a:cs typeface="맑은 고딕"/>
              </a:rPr>
              <a:t>구동기</a:t>
            </a:r>
          </a:p>
        </p:txBody>
      </p:sp>
      <p:sp>
        <p:nvSpPr>
          <p:cNvPr id="10" name="Oval 9"/>
          <p:cNvSpPr/>
          <p:nvPr/>
        </p:nvSpPr>
        <p:spPr>
          <a:xfrm>
            <a:off x="921687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931929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펌프 전환 밸브</a:t>
            </a:r>
          </a:p>
          <a:p>
            <a:pPr algn="ctr">
              <a:lnSpc>
                <a:spcPct val="110000"/>
              </a:lnSpc>
            </a:pPr>
            <a:r>
              <a:rPr sz="1100" b="0">
                <a:solidFill>
                  <a:srgbClr val="556175"/>
                </a:solidFill>
                <a:latin typeface="맑은 고딕"/>
                <a:ea typeface="맑은 고딕"/>
                <a:cs typeface="맑은 고딕"/>
              </a:rPr>
              <a:t>구동기</a:t>
            </a:r>
          </a:p>
        </p:txBody>
      </p:sp>
      <p:sp>
        <p:nvSpPr>
          <p:cNvPr id="12" name="Oval 11"/>
          <p:cNvSpPr/>
          <p:nvPr/>
        </p:nvSpPr>
        <p:spPr>
          <a:xfrm>
            <a:off x="1511777"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61419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속도</a:t>
            </a:r>
          </a:p>
          <a:p>
            <a:pPr algn="ctr">
              <a:lnSpc>
                <a:spcPct val="110000"/>
              </a:lnSpc>
            </a:pPr>
            <a:r>
              <a:rPr sz="1100" b="0">
                <a:solidFill>
                  <a:srgbClr val="556175"/>
                </a:solidFill>
                <a:latin typeface="맑은 고딕"/>
                <a:ea typeface="맑은 고딕"/>
                <a:cs typeface="맑은 고딕"/>
              </a:rPr>
              <a:t>상태 변수</a:t>
            </a:r>
          </a:p>
        </p:txBody>
      </p:sp>
      <p:sp>
        <p:nvSpPr>
          <p:cNvPr id="14" name="Oval 13"/>
          <p:cNvSpPr/>
          <p:nvPr/>
        </p:nvSpPr>
        <p:spPr>
          <a:xfrm>
            <a:off x="5364327"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546674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펌프 부하</a:t>
            </a:r>
          </a:p>
          <a:p>
            <a:pPr algn="ctr">
              <a:lnSpc>
                <a:spcPct val="110000"/>
              </a:lnSpc>
            </a:pPr>
            <a:r>
              <a:rPr sz="1100" b="0">
                <a:solidFill>
                  <a:srgbClr val="556175"/>
                </a:solidFill>
                <a:latin typeface="맑은 고딕"/>
                <a:ea typeface="맑은 고딕"/>
                <a:cs typeface="맑은 고딕"/>
              </a:rPr>
              <a:t>상태 변수</a:t>
            </a:r>
          </a:p>
        </p:txBody>
      </p:sp>
      <p:sp>
        <p:nvSpPr>
          <p:cNvPr id="16" name="Oval 15"/>
          <p:cNvSpPr/>
          <p:nvPr/>
        </p:nvSpPr>
        <p:spPr>
          <a:xfrm>
            <a:off x="9216877"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931929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운전 펌프 선택</a:t>
            </a:r>
          </a:p>
          <a:p>
            <a:pPr algn="ctr">
              <a:lnSpc>
                <a:spcPct val="110000"/>
              </a:lnSpc>
            </a:pPr>
            <a:r>
              <a:rPr sz="1100" b="0">
                <a:solidFill>
                  <a:srgbClr val="556175"/>
                </a:solidFill>
                <a:latin typeface="맑은 고딕"/>
                <a:ea typeface="맑은 고딕"/>
                <a:cs typeface="맑은 고딕"/>
              </a:rPr>
              <a:t>상태 변수</a:t>
            </a:r>
          </a:p>
        </p:txBody>
      </p:sp>
      <p:cxnSp>
        <p:nvCxnSpPr>
          <p:cNvPr id="18" name="Connector 17"/>
          <p:cNvCxnSpPr/>
          <p:nvPr/>
        </p:nvCxnSpPr>
        <p:spPr>
          <a:xfrm>
            <a:off x="2243297" y="3136392"/>
            <a:ext cx="0" cy="1682496"/>
          </a:xfrm>
          <a:prstGeom prst="line">
            <a:avLst/>
          </a:prstGeom>
          <a:ln w="28575">
            <a:solidFill>
              <a:srgbClr val="13294B"/>
            </a:solidFill>
            <a:tailEnd type="triangle" w="med" len="med"/>
          </a:ln>
        </p:spPr>
      </p:cxnSp>
      <p:sp>
        <p:nvSpPr>
          <p:cNvPr id="19" name="Rounded Rectangle 18"/>
          <p:cNvSpPr/>
          <p:nvPr/>
        </p:nvSpPr>
        <p:spPr>
          <a:xfrm>
            <a:off x="2334737" y="3831336"/>
            <a:ext cx="14496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334737" y="3831336"/>
            <a:ext cx="14496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MANIPULATES</a:t>
            </a:r>
          </a:p>
        </p:txBody>
      </p:sp>
      <p:cxnSp>
        <p:nvCxnSpPr>
          <p:cNvPr id="21" name="Connector 20"/>
          <p:cNvCxnSpPr/>
          <p:nvPr/>
        </p:nvCxnSpPr>
        <p:spPr>
          <a:xfrm>
            <a:off x="6095847" y="3136392"/>
            <a:ext cx="0" cy="1682496"/>
          </a:xfrm>
          <a:prstGeom prst="line">
            <a:avLst/>
          </a:prstGeom>
          <a:ln w="28575">
            <a:solidFill>
              <a:srgbClr val="13294B"/>
            </a:solidFill>
            <a:tailEnd type="triangle" w="med" len="med"/>
          </a:ln>
        </p:spPr>
      </p:cxnSp>
      <p:sp>
        <p:nvSpPr>
          <p:cNvPr id="22" name="Rounded Rectangle 21"/>
          <p:cNvSpPr/>
          <p:nvPr/>
        </p:nvSpPr>
        <p:spPr>
          <a:xfrm>
            <a:off x="6187287" y="3831336"/>
            <a:ext cx="14496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6187287" y="3831336"/>
            <a:ext cx="14496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MANIPULATES</a:t>
            </a:r>
          </a:p>
        </p:txBody>
      </p:sp>
      <p:cxnSp>
        <p:nvCxnSpPr>
          <p:cNvPr id="24" name="Connector 23"/>
          <p:cNvCxnSpPr/>
          <p:nvPr/>
        </p:nvCxnSpPr>
        <p:spPr>
          <a:xfrm>
            <a:off x="9948397" y="3136392"/>
            <a:ext cx="0" cy="1682496"/>
          </a:xfrm>
          <a:prstGeom prst="line">
            <a:avLst/>
          </a:prstGeom>
          <a:ln w="28575">
            <a:solidFill>
              <a:srgbClr val="13294B"/>
            </a:solidFill>
            <a:tailEnd type="triangle" w="med" len="med"/>
          </a:ln>
        </p:spPr>
      </p:cxnSp>
      <p:sp>
        <p:nvSpPr>
          <p:cNvPr id="25" name="Rounded Rectangle 24"/>
          <p:cNvSpPr/>
          <p:nvPr/>
        </p:nvSpPr>
        <p:spPr>
          <a:xfrm>
            <a:off x="10039837" y="3831336"/>
            <a:ext cx="14496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0039837" y="3831336"/>
            <a:ext cx="14496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MANIPULATES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일대다(1:N): 조치 방법과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일대다는 한쪽 하나에 반대쪽이 여럿 붙으며, 조치 방법 하나에는 수행 단계가 여럿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일대다.svg" descr="illust_287306912639184974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13859" y="4795022"/>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8" name="TextBox 7"/>
          <p:cNvSpPr txBox="1"/>
          <p:nvPr/>
        </p:nvSpPr>
        <p:spPr>
          <a:xfrm>
            <a:off x="3368473" y="3282238"/>
            <a:ext cx="130913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HAS_STEP</a:t>
            </a:r>
          </a:p>
        </p:txBody>
      </p:sp>
      <p:sp>
        <p:nvSpPr>
          <p:cNvPr id="9" name="TextBox 8"/>
          <p:cNvSpPr txBox="1"/>
          <p:nvPr/>
        </p:nvSpPr>
        <p:spPr>
          <a:xfrm>
            <a:off x="6859512" y="2336749"/>
            <a:ext cx="414560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단계 1</a:t>
            </a:r>
          </a:p>
          <a:p>
            <a:pPr algn="ctr">
              <a:lnSpc>
                <a:spcPct val="110000"/>
              </a:lnSpc>
              <a:spcAft>
                <a:spcPts val="100"/>
              </a:spcAft>
            </a:pPr>
            <a:r>
              <a:rPr sz="1300" b="0">
                <a:solidFill>
                  <a:srgbClr val="556175"/>
                </a:solidFill>
                <a:latin typeface="맑은 고딕"/>
                <a:ea typeface="맑은 고딕"/>
                <a:cs typeface="맑은 고딕"/>
              </a:rPr>
              <a:t>운전 모드가 원격 자동인지 확인한다</a:t>
            </a:r>
          </a:p>
        </p:txBody>
      </p:sp>
      <p:sp>
        <p:nvSpPr>
          <p:cNvPr id="10" name="TextBox 9"/>
          <p:cNvSpPr txBox="1"/>
          <p:nvPr/>
        </p:nvSpPr>
        <p:spPr>
          <a:xfrm>
            <a:off x="6859512" y="3707709"/>
            <a:ext cx="414560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단계 2</a:t>
            </a:r>
          </a:p>
          <a:p>
            <a:pPr algn="ctr">
              <a:lnSpc>
                <a:spcPct val="110000"/>
              </a:lnSpc>
              <a:spcAft>
                <a:spcPts val="100"/>
              </a:spcAft>
            </a:pPr>
            <a:r>
              <a:rPr sz="1300" b="0">
                <a:solidFill>
                  <a:srgbClr val="556175"/>
                </a:solidFill>
                <a:latin typeface="맑은 고딕"/>
                <a:ea typeface="맑은 고딕"/>
                <a:cs typeface="맑은 고딕"/>
              </a:rPr>
              <a:t>팬 속도를 100 %로 올린다</a:t>
            </a:r>
          </a:p>
        </p:txBody>
      </p:sp>
      <p:sp>
        <p:nvSpPr>
          <p:cNvPr id="11" name="TextBox 10"/>
          <p:cNvSpPr txBox="1"/>
          <p:nvPr/>
        </p:nvSpPr>
        <p:spPr>
          <a:xfrm>
            <a:off x="6859512" y="5078669"/>
            <a:ext cx="414560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단계 3</a:t>
            </a:r>
          </a:p>
          <a:p>
            <a:pPr algn="ctr">
              <a:lnSpc>
                <a:spcPct val="110000"/>
              </a:lnSpc>
              <a:spcAft>
                <a:spcPts val="100"/>
              </a:spcAft>
            </a:pPr>
            <a:r>
              <a:rPr sz="1300" b="0">
                <a:solidFill>
                  <a:srgbClr val="556175"/>
                </a:solidFill>
                <a:latin typeface="맑은 고딕"/>
                <a:ea typeface="맑은 고딕"/>
                <a:cs typeface="맑은 고딕"/>
              </a:rPr>
              <a:t>15분 동안 다시 관측해 회복을 판정한다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다대일(N:1): 역할과 부서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다대일은 여럿이 반대쪽 하나에 붙으며, 여러 역할이 한 부서에 속한다.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Oval 5"/>
          <p:cNvSpPr/>
          <p:nvPr/>
        </p:nvSpPr>
        <p:spPr>
          <a:xfrm>
            <a:off x="1484345"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605960"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운전원</a:t>
            </a:r>
          </a:p>
          <a:p>
            <a:pPr algn="ctr">
              <a:lnSpc>
                <a:spcPct val="110000"/>
              </a:lnSpc>
            </a:pPr>
            <a:r>
              <a:rPr sz="1100" b="0">
                <a:solidFill>
                  <a:srgbClr val="556175"/>
                </a:solidFill>
                <a:latin typeface="맑은 고딕"/>
                <a:ea typeface="맑은 고딕"/>
                <a:cs typeface="맑은 고딕"/>
              </a:rPr>
              <a:t>역할</a:t>
            </a:r>
          </a:p>
        </p:txBody>
      </p:sp>
      <p:sp>
        <p:nvSpPr>
          <p:cNvPr id="8" name="Oval 7"/>
          <p:cNvSpPr/>
          <p:nvPr/>
        </p:nvSpPr>
        <p:spPr>
          <a:xfrm>
            <a:off x="4759314" y="1627632"/>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4880930"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생산관리자</a:t>
            </a:r>
          </a:p>
          <a:p>
            <a:pPr algn="ctr">
              <a:lnSpc>
                <a:spcPct val="110000"/>
              </a:lnSpc>
            </a:pPr>
            <a:r>
              <a:rPr sz="1100" b="0">
                <a:solidFill>
                  <a:srgbClr val="556175"/>
                </a:solidFill>
                <a:latin typeface="맑은 고딕"/>
                <a:ea typeface="맑은 고딕"/>
                <a:cs typeface="맑은 고딕"/>
              </a:rPr>
              <a:t>역할</a:t>
            </a:r>
          </a:p>
        </p:txBody>
      </p:sp>
      <p:sp>
        <p:nvSpPr>
          <p:cNvPr id="10" name="Oval 9"/>
          <p:cNvSpPr/>
          <p:nvPr/>
        </p:nvSpPr>
        <p:spPr>
          <a:xfrm>
            <a:off x="8969989"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9091604"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설비보전팀장</a:t>
            </a:r>
          </a:p>
          <a:p>
            <a:pPr algn="ctr">
              <a:lnSpc>
                <a:spcPct val="110000"/>
              </a:lnSpc>
            </a:pPr>
            <a:r>
              <a:rPr sz="1100" b="0">
                <a:solidFill>
                  <a:srgbClr val="556175"/>
                </a:solidFill>
                <a:latin typeface="맑은 고딕"/>
                <a:ea typeface="맑은 고딕"/>
                <a:cs typeface="맑은 고딕"/>
              </a:rPr>
              <a:t>역할</a:t>
            </a:r>
          </a:p>
        </p:txBody>
      </p:sp>
      <p:sp>
        <p:nvSpPr>
          <p:cNvPr id="12" name="Oval 11"/>
          <p:cNvSpPr/>
          <p:nvPr/>
        </p:nvSpPr>
        <p:spPr>
          <a:xfrm>
            <a:off x="3075044"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3196660"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생산팀</a:t>
            </a:r>
          </a:p>
          <a:p>
            <a:pPr algn="ctr">
              <a:lnSpc>
                <a:spcPct val="110000"/>
              </a:lnSpc>
            </a:pPr>
            <a:r>
              <a:rPr sz="1100" b="0">
                <a:solidFill>
                  <a:srgbClr val="556175"/>
                </a:solidFill>
                <a:latin typeface="맑은 고딕"/>
                <a:ea typeface="맑은 고딕"/>
                <a:cs typeface="맑은 고딕"/>
              </a:rPr>
              <a:t>부서</a:t>
            </a:r>
          </a:p>
        </p:txBody>
      </p:sp>
      <p:sp>
        <p:nvSpPr>
          <p:cNvPr id="14" name="Oval 13"/>
          <p:cNvSpPr/>
          <p:nvPr/>
        </p:nvSpPr>
        <p:spPr>
          <a:xfrm>
            <a:off x="8969989"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091604"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설비보전팀</a:t>
            </a:r>
          </a:p>
          <a:p>
            <a:pPr algn="ctr">
              <a:lnSpc>
                <a:spcPct val="110000"/>
              </a:lnSpc>
            </a:pPr>
            <a:r>
              <a:rPr sz="1100" b="0">
                <a:solidFill>
                  <a:srgbClr val="556175"/>
                </a:solidFill>
                <a:latin typeface="맑은 고딕"/>
                <a:ea typeface="맑은 고딕"/>
                <a:cs typeface="맑은 고딕"/>
              </a:rPr>
              <a:t>부서</a:t>
            </a:r>
          </a:p>
        </p:txBody>
      </p:sp>
      <p:cxnSp>
        <p:nvCxnSpPr>
          <p:cNvPr id="16" name="Connector 15"/>
          <p:cNvCxnSpPr/>
          <p:nvPr/>
        </p:nvCxnSpPr>
        <p:spPr>
          <a:xfrm>
            <a:off x="2782487" y="3303585"/>
            <a:ext cx="718892" cy="1351323"/>
          </a:xfrm>
          <a:prstGeom prst="line">
            <a:avLst/>
          </a:prstGeom>
          <a:ln w="28575">
            <a:solidFill>
              <a:srgbClr val="13294B"/>
            </a:solidFill>
            <a:tailEnd type="triangle" w="med" len="med"/>
          </a:ln>
        </p:spPr>
      </p:cxnSp>
      <p:sp>
        <p:nvSpPr>
          <p:cNvPr id="17" name="Rounded Rectangle 16"/>
          <p:cNvSpPr/>
          <p:nvPr/>
        </p:nvSpPr>
        <p:spPr>
          <a:xfrm>
            <a:off x="3233373" y="383294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3233373" y="3832942"/>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MEMBER_OF</a:t>
            </a:r>
          </a:p>
        </p:txBody>
      </p:sp>
      <p:cxnSp>
        <p:nvCxnSpPr>
          <p:cNvPr id="19" name="Connector 18"/>
          <p:cNvCxnSpPr/>
          <p:nvPr/>
        </p:nvCxnSpPr>
        <p:spPr>
          <a:xfrm flipH="1">
            <a:off x="4405957" y="3293013"/>
            <a:ext cx="773268" cy="1372784"/>
          </a:xfrm>
          <a:prstGeom prst="line">
            <a:avLst/>
          </a:prstGeom>
          <a:ln w="28575">
            <a:solidFill>
              <a:srgbClr val="13294B"/>
            </a:solidFill>
            <a:tailEnd type="triangle" w="med" len="med"/>
          </a:ln>
        </p:spPr>
      </p:cxnSp>
      <p:sp>
        <p:nvSpPr>
          <p:cNvPr id="20" name="Rounded Rectangle 19"/>
          <p:cNvSpPr/>
          <p:nvPr/>
        </p:nvSpPr>
        <p:spPr>
          <a:xfrm>
            <a:off x="4884031" y="3833101"/>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4884031" y="3833101"/>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MEMBER_OF</a:t>
            </a:r>
          </a:p>
        </p:txBody>
      </p:sp>
      <p:cxnSp>
        <p:nvCxnSpPr>
          <p:cNvPr id="22" name="Connector 21"/>
          <p:cNvCxnSpPr/>
          <p:nvPr/>
        </p:nvCxnSpPr>
        <p:spPr>
          <a:xfrm>
            <a:off x="9838669" y="3410712"/>
            <a:ext cx="0" cy="1133856"/>
          </a:xfrm>
          <a:prstGeom prst="line">
            <a:avLst/>
          </a:prstGeom>
          <a:ln w="28575">
            <a:solidFill>
              <a:srgbClr val="13294B"/>
            </a:solidFill>
            <a:tailEnd type="triangle" w="med" len="med"/>
          </a:ln>
        </p:spPr>
      </p:cxnSp>
      <p:sp>
        <p:nvSpPr>
          <p:cNvPr id="23" name="Rounded Rectangle 22"/>
          <p:cNvSpPr/>
          <p:nvPr/>
        </p:nvSpPr>
        <p:spPr>
          <a:xfrm>
            <a:off x="9930109" y="3831335"/>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9930109" y="3831335"/>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MEMBER_OF</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다대다(N:M): 부품과 공급사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다대다는 양쪽 모두 여럿이며, 부품 하나를 여러 공급사가 공급하고 공급사 하나가 여러 부품을 공급한다.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pic>
        <p:nvPicPr>
          <p:cNvPr id="6" name="삽화:다대다.svg" descr="illust_461583711846544907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223088" y="1651269"/>
            <a:ext cx="174551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SUPPLIED_BY</a:t>
            </a:r>
          </a:p>
        </p:txBody>
      </p:sp>
      <p:sp>
        <p:nvSpPr>
          <p:cNvPr id="8" name="TextBox 7"/>
          <p:cNvSpPr txBox="1"/>
          <p:nvPr/>
        </p:nvSpPr>
        <p:spPr>
          <a:xfrm>
            <a:off x="1350217" y="228947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축 씰 키트</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9" name="TextBox 8"/>
          <p:cNvSpPr txBox="1"/>
          <p:nvPr/>
        </p:nvSpPr>
        <p:spPr>
          <a:xfrm>
            <a:off x="1350217" y="379280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베어링</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10" name="TextBox 9"/>
          <p:cNvSpPr txBox="1"/>
          <p:nvPr/>
        </p:nvSpPr>
        <p:spPr>
          <a:xfrm>
            <a:off x="1350217" y="529140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11" name="TextBox 10"/>
          <p:cNvSpPr txBox="1"/>
          <p:nvPr/>
        </p:nvSpPr>
        <p:spPr>
          <a:xfrm>
            <a:off x="8714126" y="228947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A정밀</a:t>
            </a:r>
          </a:p>
          <a:p>
            <a:pPr algn="ctr">
              <a:lnSpc>
                <a:spcPct val="110000"/>
              </a:lnSpc>
              <a:spcAft>
                <a:spcPts val="100"/>
              </a:spcAft>
            </a:pPr>
            <a:r>
              <a:rPr sz="1300" b="0">
                <a:solidFill>
                  <a:srgbClr val="556175"/>
                </a:solidFill>
                <a:latin typeface="맑은 고딕"/>
                <a:ea typeface="맑은 고딕"/>
                <a:cs typeface="맑은 고딕"/>
              </a:rPr>
              <a:t>공급사</a:t>
            </a:r>
          </a:p>
        </p:txBody>
      </p:sp>
      <p:sp>
        <p:nvSpPr>
          <p:cNvPr id="12" name="TextBox 11"/>
          <p:cNvSpPr txBox="1"/>
          <p:nvPr/>
        </p:nvSpPr>
        <p:spPr>
          <a:xfrm>
            <a:off x="8714126" y="3792803"/>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B-OEM</a:t>
            </a:r>
          </a:p>
          <a:p>
            <a:pPr algn="ctr">
              <a:lnSpc>
                <a:spcPct val="110000"/>
              </a:lnSpc>
              <a:spcAft>
                <a:spcPts val="100"/>
              </a:spcAft>
            </a:pPr>
            <a:r>
              <a:rPr sz="1300" b="0">
                <a:solidFill>
                  <a:srgbClr val="556175"/>
                </a:solidFill>
                <a:latin typeface="맑은 고딕"/>
                <a:ea typeface="맑은 고딕"/>
                <a:cs typeface="맑은 고딕"/>
              </a:rPr>
              <a:t>공급사</a:t>
            </a:r>
          </a:p>
        </p:txBody>
      </p:sp>
      <p:sp>
        <p:nvSpPr>
          <p:cNvPr id="13" name="TextBox 12"/>
          <p:cNvSpPr txBox="1"/>
          <p:nvPr/>
        </p:nvSpPr>
        <p:spPr>
          <a:xfrm>
            <a:off x="8714126" y="529140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C트레이딩</a:t>
            </a:r>
          </a:p>
          <a:p>
            <a:pPr algn="ctr">
              <a:lnSpc>
                <a:spcPct val="110000"/>
              </a:lnSpc>
              <a:spcAft>
                <a:spcPts val="100"/>
              </a:spcAft>
            </a:pPr>
            <a:r>
              <a:rPr sz="1300" b="0">
                <a:solidFill>
                  <a:srgbClr val="556175"/>
                </a:solidFill>
                <a:latin typeface="맑은 고딕"/>
                <a:ea typeface="맑은 고딕"/>
                <a:cs typeface="맑은 고딕"/>
              </a:rPr>
              <a:t>공급사</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카디널리티의 쓰임: 데이터 점검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카디널리티를 정해 두면 넣은 데이터가 정의에 맞는지를 따져 볼 기준이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정의에 맞는 데이터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MANIPULATES는 일대일이다</a:t>
            </a:r>
          </a:p>
          <a:p>
            <a:pPr algn="l">
              <a:lnSpc>
                <a:spcPct val="110000"/>
              </a:lnSpc>
              <a:spcAft>
                <a:spcPts val="600"/>
              </a:spcAft>
            </a:pPr>
            <a:r>
              <a:rPr sz="1450" b="0">
                <a:solidFill>
                  <a:srgbClr val="1F2A3A"/>
                </a:solidFill>
                <a:latin typeface="맑은 고딕"/>
                <a:ea typeface="맑은 고딕"/>
                <a:cs typeface="맑은 고딕"/>
              </a:rPr>
              <a:t>• 팬 인버터 → 팬 속도</a:t>
            </a:r>
          </a:p>
          <a:p>
            <a:pPr algn="l">
              <a:lnSpc>
                <a:spcPct val="110000"/>
              </a:lnSpc>
              <a:spcAft>
                <a:spcPts val="600"/>
              </a:spcAft>
            </a:pPr>
            <a:r>
              <a:rPr sz="1450" b="0">
                <a:solidFill>
                  <a:srgbClr val="1F2A3A"/>
                </a:solidFill>
                <a:latin typeface="맑은 고딕"/>
                <a:ea typeface="맑은 고딕"/>
                <a:cs typeface="맑은 고딕"/>
              </a:rPr>
              <a:t>• 구동기 하나에 상태 변수 하나</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그대로 둔다</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다시 확인할 데이터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MANIPULATES는 일대일이다</a:t>
            </a:r>
          </a:p>
          <a:p>
            <a:pPr algn="l">
              <a:lnSpc>
                <a:spcPct val="110000"/>
              </a:lnSpc>
              <a:spcAft>
                <a:spcPts val="600"/>
              </a:spcAft>
            </a:pPr>
            <a:r>
              <a:rPr sz="1450" b="0">
                <a:solidFill>
                  <a:srgbClr val="1F2A3A"/>
                </a:solidFill>
                <a:latin typeface="맑은 고딕"/>
                <a:ea typeface="맑은 고딕"/>
                <a:cs typeface="맑은 고딕"/>
              </a:rPr>
              <a:t>• 팬 인버터 → 팬 속도, 펌프 부하</a:t>
            </a:r>
          </a:p>
          <a:p>
            <a:pPr algn="l">
              <a:lnSpc>
                <a:spcPct val="110000"/>
              </a:lnSpc>
              <a:spcAft>
                <a:spcPts val="600"/>
              </a:spcAft>
            </a:pPr>
            <a:r>
              <a:rPr sz="1450" b="0">
                <a:solidFill>
                  <a:srgbClr val="1F2A3A"/>
                </a:solidFill>
                <a:latin typeface="맑은 고딕"/>
                <a:ea typeface="맑은 고딕"/>
                <a:cs typeface="맑은 고딕"/>
              </a:rPr>
              <a:t>• 구동기 하나에 상태 변수 둘</a:t>
            </a:r>
          </a:p>
        </p:txBody>
      </p:sp>
      <p:sp>
        <p:nvSpPr>
          <p:cNvPr id="18" name="Rounded Rectangle 17"/>
          <p:cNvSpPr/>
          <p:nvPr/>
        </p:nvSpPr>
        <p:spPr>
          <a:xfrm>
            <a:off x="6781647" y="4945570"/>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정의와 다르다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표현의 선택 ①: 클래스를 나누는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갖는 속성과 맺는 관계가 서로 다르면 클래스를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값을 읽는 장치이다</a:t>
            </a:r>
          </a:p>
          <a:p>
            <a:pPr algn="l">
              <a:lnSpc>
                <a:spcPct val="110000"/>
              </a:lnSpc>
              <a:spcAft>
                <a:spcPts val="600"/>
              </a:spcAft>
            </a:pPr>
            <a:r>
              <a:rPr sz="1450" b="0">
                <a:solidFill>
                  <a:srgbClr val="1F2A3A"/>
                </a:solidFill>
                <a:latin typeface="맑은 고딕"/>
                <a:ea typeface="맑은 고딕"/>
                <a:cs typeface="맑은 고딕"/>
              </a:rPr>
              <a:t>• 속성: tag, unit</a:t>
            </a:r>
          </a:p>
          <a:p>
            <a:pPr algn="l">
              <a:lnSpc>
                <a:spcPct val="110000"/>
              </a:lnSpc>
              <a:spcAft>
                <a:spcPts val="600"/>
              </a:spcAft>
            </a:pPr>
            <a:r>
              <a:rPr sz="1450" b="0">
                <a:solidFill>
                  <a:srgbClr val="1F2A3A"/>
                </a:solidFill>
                <a:latin typeface="맑은 고딕"/>
                <a:ea typeface="맑은 고딕"/>
                <a:cs typeface="맑은 고딕"/>
              </a:rPr>
              <a:t>• 관계: 상태 변수를 읽는다(OBSERVES)</a:t>
            </a:r>
          </a:p>
        </p:txBody>
      </p:sp>
      <p:sp>
        <p:nvSpPr>
          <p:cNvPr id="11" name="Rounded Rectangle 10"/>
          <p:cNvSpPr/>
          <p:nvPr/>
        </p:nvSpPr>
        <p:spPr>
          <a:xfrm>
            <a:off x="868680" y="4945570"/>
            <a:ext cx="856488"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5648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Sensor</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djustments-horizontal" descr="adjustments-horizonta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구동기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값을 써서 움직이는 장치이다</a:t>
            </a:r>
          </a:p>
          <a:p>
            <a:pPr algn="l">
              <a:lnSpc>
                <a:spcPct val="110000"/>
              </a:lnSpc>
              <a:spcAft>
                <a:spcPts val="600"/>
              </a:spcAft>
            </a:pPr>
            <a:r>
              <a:rPr sz="1450" b="0">
                <a:solidFill>
                  <a:srgbClr val="1F2A3A"/>
                </a:solidFill>
                <a:latin typeface="맑은 고딕"/>
                <a:ea typeface="맑은 고딕"/>
                <a:cs typeface="맑은 고딕"/>
              </a:rPr>
              <a:t>• 속성: resource, min, max</a:t>
            </a:r>
          </a:p>
          <a:p>
            <a:pPr algn="l">
              <a:lnSpc>
                <a:spcPct val="110000"/>
              </a:lnSpc>
              <a:spcAft>
                <a:spcPts val="600"/>
              </a:spcAft>
            </a:pPr>
            <a:r>
              <a:rPr sz="1450" b="0">
                <a:solidFill>
                  <a:srgbClr val="1F2A3A"/>
                </a:solidFill>
                <a:latin typeface="맑은 고딕"/>
                <a:ea typeface="맑은 고딕"/>
                <a:cs typeface="맑은 고딕"/>
              </a:rPr>
              <a:t>• 관계: 상태 변수를 바꾼다(MANIPULATES)</a:t>
            </a:r>
          </a:p>
        </p:txBody>
      </p:sp>
      <p:sp>
        <p:nvSpPr>
          <p:cNvPr id="18" name="Rounded Rectangle 17"/>
          <p:cNvSpPr/>
          <p:nvPr/>
        </p:nvSpPr>
        <p:spPr>
          <a:xfrm>
            <a:off x="6781647" y="4945570"/>
            <a:ext cx="1014983"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14983"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Actuator</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표현의 선택 ②: 속성으로 두는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대상에 딸린 값이고 그 값으로 끝나면 속성으로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barcode" descr="barcod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부품 번호</a:t>
            </a:r>
          </a:p>
          <a:p>
            <a:pPr algn="l">
              <a:lnSpc>
                <a:spcPct val="110000"/>
              </a:lnSpc>
              <a:spcAft>
                <a:spcPts val="400"/>
              </a:spcAft>
            </a:pPr>
            <a:r>
              <a:rPr sz="1400" b="0">
                <a:solidFill>
                  <a:srgbClr val="1F2A3A"/>
                </a:solidFill>
                <a:latin typeface="맑은 고딕"/>
                <a:ea typeface="맑은 고딕"/>
                <a:cs typeface="맑은 고딕"/>
              </a:rPr>
              <a:t>• 쿨러 코어의 partNo</a:t>
            </a:r>
          </a:p>
          <a:p>
            <a:pPr algn="l">
              <a:lnSpc>
                <a:spcPct val="110000"/>
              </a:lnSpc>
              <a:spcAft>
                <a:spcPts val="400"/>
              </a:spcAft>
            </a:pPr>
            <a:r>
              <a:rPr sz="1400" b="0">
                <a:solidFill>
                  <a:srgbClr val="1F2A3A"/>
                </a:solidFill>
                <a:latin typeface="맑은 고딕"/>
                <a:ea typeface="맑은 고딕"/>
                <a:cs typeface="맑은 고딕"/>
              </a:rPr>
              <a:t>• P-CLR-CORE</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글자</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toggle-left" descr="toggle-lef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여부</a:t>
            </a:r>
          </a:p>
          <a:p>
            <a:pPr algn="l">
              <a:lnSpc>
                <a:spcPct val="110000"/>
              </a:lnSpc>
              <a:spcAft>
                <a:spcPts val="400"/>
              </a:spcAft>
            </a:pPr>
            <a:r>
              <a:rPr sz="1400" b="0">
                <a:solidFill>
                  <a:srgbClr val="1F2A3A"/>
                </a:solidFill>
                <a:latin typeface="맑은 고딕"/>
                <a:ea typeface="맑은 고딕"/>
                <a:cs typeface="맑은 고딕"/>
              </a:rPr>
              <a:t>• 공급사 A정밀의 avl</a:t>
            </a:r>
          </a:p>
          <a:p>
            <a:pPr algn="l">
              <a:lnSpc>
                <a:spcPct val="110000"/>
              </a:lnSpc>
              <a:spcAft>
                <a:spcPts val="400"/>
              </a:spcAft>
            </a:pPr>
            <a:r>
              <a:rPr sz="1400" b="0">
                <a:solidFill>
                  <a:srgbClr val="1F2A3A"/>
                </a:solidFill>
                <a:latin typeface="맑은 고딕"/>
                <a:ea typeface="맑은 고딕"/>
                <a:cs typeface="맑은 고딕"/>
              </a:rPr>
              <a:t>• true</a:t>
            </a:r>
          </a:p>
        </p:txBody>
      </p:sp>
      <p:sp>
        <p:nvSpPr>
          <p:cNvPr id="16" name="Rounded Rectangle 15"/>
          <p:cNvSpPr/>
          <p:nvPr/>
        </p:nvSpPr>
        <p:spPr>
          <a:xfrm>
            <a:off x="4566818" y="4932934"/>
            <a:ext cx="10667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0667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참 · 거짓</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uler-measure" descr="ruler-measur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단위</a:t>
            </a:r>
          </a:p>
          <a:p>
            <a:pPr algn="l">
              <a:lnSpc>
                <a:spcPct val="110000"/>
              </a:lnSpc>
              <a:spcAft>
                <a:spcPts val="400"/>
              </a:spcAft>
            </a:pPr>
            <a:r>
              <a:rPr sz="1400" b="0">
                <a:solidFill>
                  <a:srgbClr val="1F2A3A"/>
                </a:solidFill>
                <a:latin typeface="맑은 고딕"/>
                <a:ea typeface="맑은 고딕"/>
                <a:cs typeface="맑은 고딕"/>
              </a:rPr>
              <a:t>• 유온의 unit</a:t>
            </a:r>
          </a:p>
          <a:p>
            <a:pPr algn="l">
              <a:lnSpc>
                <a:spcPct val="110000"/>
              </a:lnSpc>
              <a:spcAft>
                <a:spcPts val="400"/>
              </a:spcAft>
            </a:pPr>
            <a:r>
              <a:rPr sz="1400" b="0">
                <a:solidFill>
                  <a:srgbClr val="1F2A3A"/>
                </a:solidFill>
                <a:latin typeface="맑은 고딕"/>
                <a:ea typeface="맑은 고딕"/>
                <a:cs typeface="맑은 고딕"/>
              </a:rPr>
              <a:t>• ℃</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글자</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표현의 선택 ③: 관계로 두는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가리키는 것이 자기 속성과 관계를 가진 다른 대상이면 관계로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Oval 5"/>
          <p:cNvSpPr/>
          <p:nvPr/>
        </p:nvSpPr>
        <p:spPr>
          <a:xfrm>
            <a:off x="148434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60596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5227167" y="3122676"/>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5348782"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코어</a:t>
            </a:r>
          </a:p>
          <a:p>
            <a:pPr algn="ctr">
              <a:lnSpc>
                <a:spcPct val="110000"/>
              </a:lnSpc>
            </a:pPr>
            <a:r>
              <a:rPr sz="1100" b="0">
                <a:solidFill>
                  <a:srgbClr val="556175"/>
                </a:solidFill>
                <a:latin typeface="맑은 고딕"/>
                <a:ea typeface="맑은 고딕"/>
                <a:cs typeface="맑은 고딕"/>
              </a:rPr>
              <a:t>Part</a:t>
            </a:r>
          </a:p>
          <a:p>
            <a:pPr algn="ctr">
              <a:lnSpc>
                <a:spcPct val="110000"/>
              </a:lnSpc>
            </a:pPr>
            <a:r>
              <a:rPr sz="1100" b="0">
                <a:solidFill>
                  <a:srgbClr val="556175"/>
                </a:solidFill>
                <a:latin typeface="맑은 고딕"/>
                <a:ea typeface="맑은 고딕"/>
                <a:cs typeface="맑은 고딕"/>
              </a:rPr>
              <a:t>partNo: P-CLR-CORE</a:t>
            </a:r>
          </a:p>
        </p:txBody>
      </p:sp>
      <p:sp>
        <p:nvSpPr>
          <p:cNvPr id="10" name="Oval 9"/>
          <p:cNvSpPr/>
          <p:nvPr/>
        </p:nvSpPr>
        <p:spPr>
          <a:xfrm>
            <a:off x="8969989"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9091604"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A정밀</a:t>
            </a:r>
          </a:p>
          <a:p>
            <a:pPr algn="ctr">
              <a:lnSpc>
                <a:spcPct val="110000"/>
              </a:lnSpc>
            </a:pPr>
            <a:r>
              <a:rPr sz="1100" b="0">
                <a:solidFill>
                  <a:srgbClr val="556175"/>
                </a:solidFill>
                <a:latin typeface="맑은 고딕"/>
                <a:ea typeface="맑은 고딕"/>
                <a:cs typeface="맑은 고딕"/>
              </a:rPr>
              <a:t>Supplier</a:t>
            </a:r>
          </a:p>
        </p:txBody>
      </p:sp>
      <p:sp>
        <p:nvSpPr>
          <p:cNvPr id="12" name="Oval 11"/>
          <p:cNvSpPr/>
          <p:nvPr/>
        </p:nvSpPr>
        <p:spPr>
          <a:xfrm>
            <a:off x="8969989"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9091604"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B-OEM</a:t>
            </a:r>
          </a:p>
          <a:p>
            <a:pPr algn="ctr">
              <a:lnSpc>
                <a:spcPct val="110000"/>
              </a:lnSpc>
            </a:pPr>
            <a:r>
              <a:rPr sz="1100" b="0">
                <a:solidFill>
                  <a:srgbClr val="556175"/>
                </a:solidFill>
                <a:latin typeface="맑은 고딕"/>
                <a:ea typeface="맑은 고딕"/>
                <a:cs typeface="맑은 고딕"/>
              </a:rPr>
              <a:t>Supplier</a:t>
            </a:r>
          </a:p>
        </p:txBody>
      </p:sp>
      <p:cxnSp>
        <p:nvCxnSpPr>
          <p:cNvPr id="14" name="Connector 13"/>
          <p:cNvCxnSpPr/>
          <p:nvPr/>
        </p:nvCxnSpPr>
        <p:spPr>
          <a:xfrm>
            <a:off x="3267425" y="3991356"/>
            <a:ext cx="1886590" cy="0"/>
          </a:xfrm>
          <a:prstGeom prst="line">
            <a:avLst/>
          </a:prstGeom>
          <a:ln w="28575">
            <a:solidFill>
              <a:srgbClr val="13294B"/>
            </a:solidFill>
            <a:tailEnd type="triangle" w="med" len="med"/>
          </a:ln>
        </p:spPr>
      </p:cxnSp>
      <p:sp>
        <p:nvSpPr>
          <p:cNvPr id="15" name="Rounded Rectangle 14"/>
          <p:cNvSpPr/>
          <p:nvPr/>
        </p:nvSpPr>
        <p:spPr>
          <a:xfrm>
            <a:off x="3601351" y="3625596"/>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3601351" y="3625596"/>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cxnSp>
        <p:nvCxnSpPr>
          <p:cNvPr id="17" name="Connector 16"/>
          <p:cNvCxnSpPr/>
          <p:nvPr/>
        </p:nvCxnSpPr>
        <p:spPr>
          <a:xfrm flipV="1">
            <a:off x="6945009" y="2845679"/>
            <a:ext cx="2019023" cy="806485"/>
          </a:xfrm>
          <a:prstGeom prst="line">
            <a:avLst/>
          </a:prstGeom>
          <a:ln w="28575">
            <a:solidFill>
              <a:srgbClr val="13294B"/>
            </a:solidFill>
            <a:tailEnd type="triangle" w="med" len="med"/>
          </a:ln>
        </p:spPr>
      </p:cxnSp>
      <p:sp>
        <p:nvSpPr>
          <p:cNvPr id="18" name="Rounded Rectangle 17"/>
          <p:cNvSpPr/>
          <p:nvPr/>
        </p:nvSpPr>
        <p:spPr>
          <a:xfrm>
            <a:off x="7238302" y="2883161"/>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7238302" y="2883161"/>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SUPPLIED_BY</a:t>
            </a:r>
          </a:p>
        </p:txBody>
      </p:sp>
      <p:cxnSp>
        <p:nvCxnSpPr>
          <p:cNvPr id="20" name="Connector 19"/>
          <p:cNvCxnSpPr/>
          <p:nvPr/>
        </p:nvCxnSpPr>
        <p:spPr>
          <a:xfrm>
            <a:off x="6945009" y="4330547"/>
            <a:ext cx="2019023" cy="806485"/>
          </a:xfrm>
          <a:prstGeom prst="line">
            <a:avLst/>
          </a:prstGeom>
          <a:ln w="28575">
            <a:solidFill>
              <a:srgbClr val="13294B"/>
            </a:solidFill>
            <a:tailEnd type="triangle" w="med" len="med"/>
          </a:ln>
        </p:spPr>
      </p:cxnSp>
      <p:sp>
        <p:nvSpPr>
          <p:cNvPr id="21" name="Rounded Rectangle 20"/>
          <p:cNvSpPr/>
          <p:nvPr/>
        </p:nvSpPr>
        <p:spPr>
          <a:xfrm>
            <a:off x="7238302" y="4368030"/>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7238302" y="4368030"/>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SUPPLIED_BY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표현의 선택 ④: 관계의 속성으로 두는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두 대상의 짝마다 달라지는 값은 둘을 잇는 </a:t>
            </a:r>
            <a:r>
              <a:rPr sz="1600" b="1">
                <a:solidFill>
                  <a:srgbClr val="1A6FC4"/>
                </a:solidFill>
                <a:latin typeface="맑은 고딕"/>
                <a:ea typeface="맑은 고딕"/>
                <a:cs typeface="맑은 고딕"/>
              </a:rPr>
              <a:t>관계의 속성</a:t>
            </a:r>
            <a:r>
              <a:rPr sz="1600" b="0">
                <a:solidFill>
                  <a:srgbClr val="556175"/>
                </a:solidFill>
                <a:latin typeface="맑은 고딕"/>
                <a:ea typeface="맑은 고딕"/>
                <a:cs typeface="맑은 고딕"/>
              </a:rPr>
              <a:t>으로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pic>
        <p:nvPicPr>
          <p:cNvPr id="6" name="삽화:공급조건.svg" descr="illust_496878934424920128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64755" y="470047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축 씰 키트</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8" name="TextBox 7"/>
          <p:cNvSpPr txBox="1"/>
          <p:nvPr/>
        </p:nvSpPr>
        <p:spPr>
          <a:xfrm>
            <a:off x="4928531" y="2360386"/>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price: 35 · leadDays: 2</a:t>
            </a:r>
          </a:p>
        </p:txBody>
      </p:sp>
      <p:sp>
        <p:nvSpPr>
          <p:cNvPr id="9" name="TextBox 8"/>
          <p:cNvSpPr txBox="1"/>
          <p:nvPr/>
        </p:nvSpPr>
        <p:spPr>
          <a:xfrm>
            <a:off x="4928531" y="3863714"/>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price: 55 · leadDays: 5</a:t>
            </a:r>
          </a:p>
        </p:txBody>
      </p:sp>
      <p:sp>
        <p:nvSpPr>
          <p:cNvPr id="10" name="TextBox 9"/>
          <p:cNvSpPr txBox="1"/>
          <p:nvPr/>
        </p:nvSpPr>
        <p:spPr>
          <a:xfrm>
            <a:off x="4928531" y="536231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price: 20 · leadDays: 1</a:t>
            </a:r>
          </a:p>
        </p:txBody>
      </p:sp>
      <p:sp>
        <p:nvSpPr>
          <p:cNvPr id="11" name="TextBox 10"/>
          <p:cNvSpPr txBox="1"/>
          <p:nvPr/>
        </p:nvSpPr>
        <p:spPr>
          <a:xfrm>
            <a:off x="9630523" y="2289474"/>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A정밀</a:t>
            </a:r>
          </a:p>
        </p:txBody>
      </p:sp>
      <p:sp>
        <p:nvSpPr>
          <p:cNvPr id="12" name="TextBox 11"/>
          <p:cNvSpPr txBox="1"/>
          <p:nvPr/>
        </p:nvSpPr>
        <p:spPr>
          <a:xfrm>
            <a:off x="9630523" y="3792803"/>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B-OEM</a:t>
            </a:r>
          </a:p>
        </p:txBody>
      </p:sp>
      <p:sp>
        <p:nvSpPr>
          <p:cNvPr id="13" name="TextBox 12"/>
          <p:cNvSpPr txBox="1"/>
          <p:nvPr/>
        </p:nvSpPr>
        <p:spPr>
          <a:xfrm>
            <a:off x="9630523" y="5291404"/>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C트레이딩</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표현을 고르는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정보 하나를 어디에 둘지는 네 가지를 차례로 물어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유형인가</a:t>
            </a:r>
          </a:p>
          <a:p>
            <a:pPr algn="ctr">
              <a:lnSpc>
                <a:spcPct val="110000"/>
              </a:lnSpc>
              <a:spcAft>
                <a:spcPts val="400"/>
              </a:spcAft>
            </a:pPr>
            <a:r>
              <a:rPr sz="1350" b="0">
                <a:solidFill>
                  <a:srgbClr val="1F2A3A"/>
                </a:solidFill>
                <a:latin typeface="맑은 고딕"/>
                <a:ea typeface="맑은 고딕"/>
                <a:cs typeface="맑은 고딕"/>
              </a:rPr>
              <a:t>같은 종류가 여럿이고</a:t>
            </a:r>
          </a:p>
          <a:p>
            <a:pPr algn="ctr">
              <a:lnSpc>
                <a:spcPct val="110000"/>
              </a:lnSpc>
              <a:spcAft>
                <a:spcPts val="400"/>
              </a:spcAft>
            </a:pPr>
            <a:r>
              <a:rPr sz="1350" b="0">
                <a:solidFill>
                  <a:srgbClr val="1F2A3A"/>
                </a:solidFill>
                <a:latin typeface="맑은 고딕"/>
                <a:ea typeface="맑은 고딕"/>
                <a:cs typeface="맑은 고딕"/>
              </a:rPr>
              <a:t>속성과 관계가 같다</a:t>
            </a:r>
          </a:p>
          <a:p>
            <a:pPr algn="ctr">
              <a:lnSpc>
                <a:spcPct val="110000"/>
              </a:lnSpc>
              <a:spcAft>
                <a:spcPts val="400"/>
              </a:spcAft>
            </a:pPr>
            <a:r>
              <a:rPr sz="1350" b="0">
                <a:solidFill>
                  <a:srgbClr val="1F2A3A"/>
                </a:solidFill>
                <a:latin typeface="맑은 고딕"/>
                <a:ea typeface="맑은 고딕"/>
                <a:cs typeface="맑은 고딕"/>
              </a:rPr>
              <a:t>→ 클래스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forms" descr="forms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값으로 끝나는가</a:t>
            </a:r>
          </a:p>
          <a:p>
            <a:pPr algn="ctr">
              <a:lnSpc>
                <a:spcPct val="110000"/>
              </a:lnSpc>
              <a:spcAft>
                <a:spcPts val="400"/>
              </a:spcAft>
            </a:pPr>
            <a:r>
              <a:rPr sz="1350" b="0">
                <a:solidFill>
                  <a:srgbClr val="1F2A3A"/>
                </a:solidFill>
                <a:latin typeface="맑은 고딕"/>
                <a:ea typeface="맑은 고딕"/>
                <a:cs typeface="맑은 고딕"/>
              </a:rPr>
              <a:t>한 대상에 딸린 값이다</a:t>
            </a:r>
          </a:p>
          <a:p>
            <a:pPr algn="ctr">
              <a:lnSpc>
                <a:spcPct val="110000"/>
              </a:lnSpc>
              <a:spcAft>
                <a:spcPts val="400"/>
              </a:spcAft>
            </a:pPr>
            <a:r>
              <a:rPr sz="1350" b="0">
                <a:solidFill>
                  <a:srgbClr val="1F2A3A"/>
                </a:solidFill>
                <a:latin typeface="맑은 고딕"/>
                <a:ea typeface="맑은 고딕"/>
                <a:cs typeface="맑은 고딕"/>
              </a:rPr>
              <a:t>→ 속성</a:t>
            </a:r>
          </a:p>
        </p:txBody>
      </p:sp>
      <p:sp>
        <p:nvSpPr>
          <p:cNvPr id="17" name="Oval 16"/>
          <p:cNvSpPr/>
          <p:nvPr/>
        </p:nvSpPr>
        <p:spPr>
          <a:xfrm>
            <a:off x="704830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arrows-right" descr="arrows-right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다른 대상인가</a:t>
            </a:r>
          </a:p>
          <a:p>
            <a:pPr algn="ctr">
              <a:lnSpc>
                <a:spcPct val="110000"/>
              </a:lnSpc>
              <a:spcAft>
                <a:spcPts val="400"/>
              </a:spcAft>
            </a:pPr>
            <a:r>
              <a:rPr sz="1350" b="0">
                <a:solidFill>
                  <a:srgbClr val="1F2A3A"/>
                </a:solidFill>
                <a:latin typeface="맑은 고딕"/>
                <a:ea typeface="맑은 고딕"/>
                <a:cs typeface="맑은 고딕"/>
              </a:rPr>
              <a:t>자기 속성과 관계를 가진</a:t>
            </a:r>
          </a:p>
          <a:p>
            <a:pPr algn="ctr">
              <a:lnSpc>
                <a:spcPct val="110000"/>
              </a:lnSpc>
              <a:spcAft>
                <a:spcPts val="400"/>
              </a:spcAft>
            </a:pPr>
            <a:r>
              <a:rPr sz="1350" b="0">
                <a:solidFill>
                  <a:srgbClr val="1F2A3A"/>
                </a:solidFill>
                <a:latin typeface="맑은 고딕"/>
                <a:ea typeface="맑은 고딕"/>
                <a:cs typeface="맑은 고딕"/>
              </a:rPr>
              <a:t>대상을 가리킨다</a:t>
            </a:r>
          </a:p>
          <a:p>
            <a:pPr algn="ctr">
              <a:lnSpc>
                <a:spcPct val="110000"/>
              </a:lnSpc>
              <a:spcAft>
                <a:spcPts val="400"/>
              </a:spcAft>
            </a:pPr>
            <a:r>
              <a:rPr sz="1350" b="0">
                <a:solidFill>
                  <a:srgbClr val="1F2A3A"/>
                </a:solidFill>
                <a:latin typeface="맑은 고딕"/>
                <a:ea typeface="맑은 고딕"/>
                <a:cs typeface="맑은 고딕"/>
              </a:rPr>
              <a:t>→ 관계</a:t>
            </a:r>
          </a:p>
        </p:txBody>
      </p:sp>
      <p:sp>
        <p:nvSpPr>
          <p:cNvPr id="22" name="Oval 21"/>
          <p:cNvSpPr/>
          <p:nvPr/>
        </p:nvSpPr>
        <p:spPr>
          <a:xfrm>
            <a:off x="9821913" y="2626042"/>
            <a:ext cx="868680" cy="868680"/>
          </a:xfrm>
          <a:prstGeom prst="ellipse">
            <a:avLst/>
          </a:prstGeom>
          <a:solidFill>
            <a:srgbClr val="5CB8F2"/>
          </a:solidFill>
          <a:ln>
            <a:noFill/>
          </a:ln>
        </p:spPr>
        <p:txBody>
          <a:bodyPr rtlCol="0" anchor="ctr"/>
          <a:lstStyle/>
          <a:p>
            <a:pPr algn="ctr"/>
          </a:p>
        </p:txBody>
      </p:sp>
      <p:pic>
        <p:nvPicPr>
          <p:cNvPr id="23" name="아이콘:link" descr="link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짝에 딸린 값인가</a:t>
            </a:r>
          </a:p>
          <a:p>
            <a:pPr algn="ctr">
              <a:lnSpc>
                <a:spcPct val="110000"/>
              </a:lnSpc>
              <a:spcAft>
                <a:spcPts val="400"/>
              </a:spcAft>
            </a:pPr>
            <a:r>
              <a:rPr sz="1350" b="0">
                <a:solidFill>
                  <a:srgbClr val="1F2A3A"/>
                </a:solidFill>
                <a:latin typeface="맑은 고딕"/>
                <a:ea typeface="맑은 고딕"/>
                <a:cs typeface="맑은 고딕"/>
              </a:rPr>
              <a:t>두 대상의 짝마다</a:t>
            </a:r>
          </a:p>
          <a:p>
            <a:pPr algn="ctr">
              <a:lnSpc>
                <a:spcPct val="110000"/>
              </a:lnSpc>
              <a:spcAft>
                <a:spcPts val="400"/>
              </a:spcAft>
            </a:pPr>
            <a:r>
              <a:rPr sz="1350" b="0">
                <a:solidFill>
                  <a:srgbClr val="1F2A3A"/>
                </a:solidFill>
                <a:latin typeface="맑은 고딕"/>
                <a:ea typeface="맑은 고딕"/>
                <a:cs typeface="맑은 고딕"/>
              </a:rPr>
              <a:t>값이 달라진다</a:t>
            </a:r>
          </a:p>
          <a:p>
            <a:pPr algn="ctr">
              <a:lnSpc>
                <a:spcPct val="110000"/>
              </a:lnSpc>
              <a:spcAft>
                <a:spcPts val="400"/>
              </a:spcAft>
            </a:pPr>
            <a:r>
              <a:rPr sz="1350" b="0">
                <a:solidFill>
                  <a:srgbClr val="1F2A3A"/>
                </a:solidFill>
                <a:latin typeface="맑은 고딕"/>
                <a:ea typeface="맑은 고딕"/>
                <a:cs typeface="맑은 고딕"/>
              </a:rPr>
              <a:t>→ 관계의 속성</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흔한 실수 ①: 인스턴스를 클래스로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실제 대상의 이름으로 클래스를 만들면 대상이 늘 때마다 클래스가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잘못 만든 구조</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클래스: 유온 센서, 토출 압력 센서, 팬 진동 센서</a:t>
            </a:r>
          </a:p>
          <a:p>
            <a:pPr algn="l">
              <a:lnSpc>
                <a:spcPct val="110000"/>
              </a:lnSpc>
              <a:spcAft>
                <a:spcPts val="600"/>
              </a:spcAft>
            </a:pPr>
            <a:r>
              <a:rPr sz="1450" b="0">
                <a:solidFill>
                  <a:srgbClr val="1F2A3A"/>
                </a:solidFill>
                <a:latin typeface="맑은 고딕"/>
                <a:ea typeface="맑은 고딕"/>
                <a:cs typeface="맑은 고딕"/>
              </a:rPr>
              <a:t>• 센서가 하나 늘면 클래스도 하나 는다</a:t>
            </a:r>
          </a:p>
          <a:p>
            <a:pPr algn="l">
              <a:lnSpc>
                <a:spcPct val="110000"/>
              </a:lnSpc>
              <a:spcAft>
                <a:spcPts val="600"/>
              </a:spcAft>
            </a:pPr>
            <a:r>
              <a:rPr sz="1450" b="0">
                <a:solidFill>
                  <a:srgbClr val="1F2A3A"/>
                </a:solidFill>
                <a:latin typeface="맑은 고딕"/>
                <a:ea typeface="맑은 고딕"/>
                <a:cs typeface="맑은 고딕"/>
              </a:rPr>
              <a:t>• 「센서를 모두 찾아라」에 답할 수 없다</a:t>
            </a:r>
          </a:p>
        </p:txBody>
      </p:sp>
      <p:sp>
        <p:nvSpPr>
          <p:cNvPr id="11" name="Rounded Rectangle 10"/>
          <p:cNvSpPr/>
          <p:nvPr/>
        </p:nvSpPr>
        <p:spPr>
          <a:xfrm>
            <a:off x="868680" y="5096002"/>
            <a:ext cx="14782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대상마다 클래스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ircle-check" descr="circle-che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고친 구조</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클래스: 센서</a:t>
            </a:r>
          </a:p>
          <a:p>
            <a:pPr algn="l">
              <a:lnSpc>
                <a:spcPct val="110000"/>
              </a:lnSpc>
              <a:spcAft>
                <a:spcPts val="600"/>
              </a:spcAft>
            </a:pPr>
            <a:r>
              <a:rPr sz="1450" b="0">
                <a:solidFill>
                  <a:srgbClr val="1F2A3A"/>
                </a:solidFill>
                <a:latin typeface="맑은 고딕"/>
                <a:ea typeface="맑은 고딕"/>
                <a:cs typeface="맑은 고딕"/>
              </a:rPr>
              <a:t>• 인스턴스: 유온 센서, 토출 압력 센서, 팬 진동 센서</a:t>
            </a:r>
          </a:p>
          <a:p>
            <a:pPr algn="l">
              <a:lnSpc>
                <a:spcPct val="110000"/>
              </a:lnSpc>
              <a:spcAft>
                <a:spcPts val="600"/>
              </a:spcAft>
            </a:pPr>
            <a:r>
              <a:rPr sz="1450" b="0">
                <a:solidFill>
                  <a:srgbClr val="1F2A3A"/>
                </a:solidFill>
                <a:latin typeface="맑은 고딕"/>
                <a:ea typeface="맑은 고딕"/>
                <a:cs typeface="맑은 고딕"/>
              </a:rPr>
              <a:t>• 센서가 늘어도 클래스는 그대로이다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클래스 하나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흔한 실수 ②: 값을 노드로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단위나 수치 같은 값을 노드로 만들면 따라갈 곳 없는 노드만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pic>
        <p:nvPicPr>
          <p:cNvPr id="6" name="삽화:실수_값노드.svg" descr="illust_549551610463265172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1958553"/>
            <a:ext cx="392741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값을 노드로 만든 그림</a:t>
            </a:r>
          </a:p>
          <a:p>
            <a:pPr algn="ctr">
              <a:lnSpc>
                <a:spcPct val="110000"/>
              </a:lnSpc>
              <a:spcAft>
                <a:spcPts val="100"/>
              </a:spcAft>
            </a:pPr>
            <a:r>
              <a:rPr sz="1300" b="0">
                <a:solidFill>
                  <a:srgbClr val="556175"/>
                </a:solidFill>
                <a:latin typeface="맑은 고딕"/>
                <a:ea typeface="맑은 고딕"/>
                <a:cs typeface="맑은 고딕"/>
              </a:rPr>
              <a:t>값에서는 더 따라갈 곳이 없다</a:t>
            </a:r>
          </a:p>
        </p:txBody>
      </p:sp>
      <p:sp>
        <p:nvSpPr>
          <p:cNvPr id="8" name="TextBox 7"/>
          <p:cNvSpPr txBox="1"/>
          <p:nvPr/>
        </p:nvSpPr>
        <p:spPr>
          <a:xfrm>
            <a:off x="1426583" y="46295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9" name="TextBox 8"/>
          <p:cNvSpPr txBox="1"/>
          <p:nvPr/>
        </p:nvSpPr>
        <p:spPr>
          <a:xfrm>
            <a:off x="4208504" y="266767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t>
            </a:r>
          </a:p>
        </p:txBody>
      </p:sp>
      <p:sp>
        <p:nvSpPr>
          <p:cNvPr id="10" name="TextBox 9"/>
          <p:cNvSpPr txBox="1"/>
          <p:nvPr/>
        </p:nvSpPr>
        <p:spPr>
          <a:xfrm>
            <a:off x="4208504" y="4842296"/>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65</a:t>
            </a:r>
          </a:p>
        </p:txBody>
      </p:sp>
      <p:sp>
        <p:nvSpPr>
          <p:cNvPr id="11" name="TextBox 10"/>
          <p:cNvSpPr txBox="1"/>
          <p:nvPr/>
        </p:nvSpPr>
        <p:spPr>
          <a:xfrm>
            <a:off x="7186797" y="1958553"/>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값을 속성으로 둔 그림</a:t>
            </a:r>
          </a:p>
          <a:p>
            <a:pPr algn="ctr">
              <a:lnSpc>
                <a:spcPct val="110000"/>
              </a:lnSpc>
              <a:spcAft>
                <a:spcPts val="100"/>
              </a:spcAft>
            </a:pPr>
            <a:r>
              <a:rPr sz="1300" b="0">
                <a:solidFill>
                  <a:srgbClr val="556175"/>
                </a:solidFill>
                <a:latin typeface="맑은 고딕"/>
                <a:ea typeface="맑은 고딕"/>
                <a:cs typeface="맑은 고딕"/>
              </a:rPr>
              <a:t>값은 대상에 딸린 칸에 적는다</a:t>
            </a:r>
          </a:p>
        </p:txBody>
      </p:sp>
      <p:sp>
        <p:nvSpPr>
          <p:cNvPr id="12" name="TextBox 11"/>
          <p:cNvSpPr txBox="1"/>
          <p:nvPr/>
        </p:nvSpPr>
        <p:spPr>
          <a:xfrm>
            <a:off x="7055883" y="46295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13" name="TextBox 12"/>
          <p:cNvSpPr txBox="1"/>
          <p:nvPr/>
        </p:nvSpPr>
        <p:spPr>
          <a:xfrm>
            <a:off x="9455972" y="3353150"/>
            <a:ext cx="163642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속성</a:t>
            </a:r>
          </a:p>
          <a:p>
            <a:pPr algn="ctr">
              <a:lnSpc>
                <a:spcPct val="110000"/>
              </a:lnSpc>
              <a:spcAft>
                <a:spcPts val="100"/>
              </a:spcAft>
            </a:pPr>
            <a:r>
              <a:rPr sz="1300" b="0">
                <a:solidFill>
                  <a:srgbClr val="556175"/>
                </a:solidFill>
                <a:latin typeface="맑은 고딕"/>
                <a:ea typeface="맑은 고딕"/>
                <a:cs typeface="맑은 고딕"/>
              </a:rPr>
              <a:t>unit: ℃</a:t>
            </a:r>
          </a:p>
          <a:p>
            <a:pPr algn="ctr">
              <a:lnSpc>
                <a:spcPct val="110000"/>
              </a:lnSpc>
              <a:spcAft>
                <a:spcPts val="100"/>
              </a:spcAft>
            </a:pPr>
            <a:r>
              <a:rPr sz="1300" b="0">
                <a:solidFill>
                  <a:srgbClr val="556175"/>
                </a:solidFill>
                <a:latin typeface="맑은 고딕"/>
                <a:ea typeface="맑은 고딕"/>
                <a:cs typeface="맑은 고딕"/>
              </a:rPr>
              <a:t>limit: 65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흔한 실수 ③: 같은 관계를 양쪽으로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사실을 양쪽 방향의 두 관계로 적으면 한쪽만 고쳐져 서로 어긋나기 쉽다.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arrows-exchange" descr="arrows-exchang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양쪽으로 적는다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 구성 요소: HAS_COMPONENT</a:t>
            </a:r>
          </a:p>
          <a:p>
            <a:pPr algn="l">
              <a:lnSpc>
                <a:spcPct val="110000"/>
              </a:lnSpc>
              <a:spcAft>
                <a:spcPts val="600"/>
              </a:spcAft>
            </a:pPr>
            <a:r>
              <a:rPr sz="1450" b="0">
                <a:solidFill>
                  <a:srgbClr val="1F2A3A"/>
                </a:solidFill>
                <a:latin typeface="맑은 고딕"/>
                <a:ea typeface="맑은 고딕"/>
                <a:cs typeface="맑은 고딕"/>
              </a:rPr>
              <a:t>• 구성 요소 → 설비: BELONGS_TO</a:t>
            </a:r>
          </a:p>
          <a:p>
            <a:pPr algn="l">
              <a:lnSpc>
                <a:spcPct val="110000"/>
              </a:lnSpc>
              <a:spcAft>
                <a:spcPts val="600"/>
              </a:spcAft>
            </a:pPr>
            <a:r>
              <a:rPr sz="1450" b="0">
                <a:solidFill>
                  <a:srgbClr val="1F2A3A"/>
                </a:solidFill>
                <a:latin typeface="맑은 고딕"/>
                <a:ea typeface="맑은 고딕"/>
                <a:cs typeface="맑은 고딕"/>
              </a:rPr>
              <a:t>• 같은 사실이 두 번 적힌다</a:t>
            </a:r>
          </a:p>
          <a:p>
            <a:pPr algn="l">
              <a:lnSpc>
                <a:spcPct val="110000"/>
              </a:lnSpc>
              <a:spcAft>
                <a:spcPts val="600"/>
              </a:spcAft>
            </a:pPr>
            <a:r>
              <a:rPr sz="1450" b="0">
                <a:solidFill>
                  <a:srgbClr val="1F2A3A"/>
                </a:solidFill>
                <a:latin typeface="맑은 고딕"/>
                <a:ea typeface="맑은 고딕"/>
                <a:cs typeface="맑은 고딕"/>
              </a:rPr>
              <a:t>• 한쪽만 고치면 둘이 어긋난다</a:t>
            </a:r>
          </a:p>
        </p:txBody>
      </p:sp>
      <p:sp>
        <p:nvSpPr>
          <p:cNvPr id="11" name="Rounded Rectangle 10"/>
          <p:cNvSpPr/>
          <p:nvPr/>
        </p:nvSpPr>
        <p:spPr>
          <a:xfrm>
            <a:off x="868680" y="5096002"/>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관계 둘</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rrow-right" descr="arrow-righ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한쪽으로 적는다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 구성 요소: HAS_COMPONENT</a:t>
            </a:r>
          </a:p>
          <a:p>
            <a:pPr algn="l">
              <a:lnSpc>
                <a:spcPct val="110000"/>
              </a:lnSpc>
              <a:spcAft>
                <a:spcPts val="600"/>
              </a:spcAft>
            </a:pPr>
            <a:r>
              <a:rPr sz="1450" b="0">
                <a:solidFill>
                  <a:srgbClr val="1F2A3A"/>
                </a:solidFill>
                <a:latin typeface="맑은 고딕"/>
                <a:ea typeface="맑은 고딕"/>
                <a:cs typeface="맑은 고딕"/>
              </a:rPr>
              <a:t>• 반대 방향은 화살표를 거슬러 읽는다</a:t>
            </a:r>
          </a:p>
          <a:p>
            <a:pPr algn="l">
              <a:lnSpc>
                <a:spcPct val="110000"/>
              </a:lnSpc>
              <a:spcAft>
                <a:spcPts val="600"/>
              </a:spcAft>
            </a:pPr>
            <a:r>
              <a:rPr sz="1450" b="0">
                <a:solidFill>
                  <a:srgbClr val="1F2A3A"/>
                </a:solidFill>
                <a:latin typeface="맑은 고딕"/>
                <a:ea typeface="맑은 고딕"/>
                <a:cs typeface="맑은 고딕"/>
              </a:rPr>
              <a:t>• 고칠 곳이 한 곳이다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관계 하나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현장 정보를 나누는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현장 정보는 클래스, 인스턴스, 속성, 관계의 네 가지로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클래스</a:t>
            </a:r>
          </a:p>
          <a:p>
            <a:pPr algn="ctr">
              <a:lnSpc>
                <a:spcPct val="110000"/>
              </a:lnSpc>
              <a:spcAft>
                <a:spcPts val="400"/>
              </a:spcAft>
            </a:pPr>
            <a:r>
              <a:rPr sz="1350" b="0">
                <a:solidFill>
                  <a:srgbClr val="1F2A3A"/>
                </a:solidFill>
                <a:latin typeface="맑은 고딕"/>
                <a:ea typeface="맑은 고딕"/>
                <a:cs typeface="맑은 고딕"/>
              </a:rPr>
              <a:t>대상의 유형</a:t>
            </a:r>
          </a:p>
          <a:p>
            <a:pPr algn="ctr">
              <a:lnSpc>
                <a:spcPct val="110000"/>
              </a:lnSpc>
              <a:spcAft>
                <a:spcPts val="400"/>
              </a:spcAft>
            </a:pPr>
            <a:r>
              <a:rPr sz="1350" b="0">
                <a:solidFill>
                  <a:srgbClr val="1F2A3A"/>
                </a:solidFill>
                <a:latin typeface="맑은 고딕"/>
                <a:ea typeface="맑은 고딕"/>
                <a:cs typeface="맑은 고딕"/>
              </a:rPr>
              <a:t>설비, 센서,</a:t>
            </a:r>
          </a:p>
          <a:p>
            <a:pPr algn="ctr">
              <a:lnSpc>
                <a:spcPct val="110000"/>
              </a:lnSpc>
              <a:spcAft>
                <a:spcPts val="400"/>
              </a:spcAft>
            </a:pPr>
            <a:r>
              <a:rPr sz="1350" b="0">
                <a:solidFill>
                  <a:srgbClr val="1F2A3A"/>
                </a:solidFill>
                <a:latin typeface="맑은 고딕"/>
                <a:ea typeface="맑은 고딕"/>
                <a:cs typeface="맑은 고딕"/>
              </a:rPr>
              <a:t>상태 변수</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target" descr="targe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인스턴스</a:t>
            </a:r>
          </a:p>
          <a:p>
            <a:pPr algn="ctr">
              <a:lnSpc>
                <a:spcPct val="110000"/>
              </a:lnSpc>
              <a:spcAft>
                <a:spcPts val="400"/>
              </a:spcAft>
            </a:pPr>
            <a:r>
              <a:rPr sz="1350" b="0">
                <a:solidFill>
                  <a:srgbClr val="1F2A3A"/>
                </a:solidFill>
                <a:latin typeface="맑은 고딕"/>
                <a:ea typeface="맑은 고딕"/>
                <a:cs typeface="맑은 고딕"/>
              </a:rPr>
              <a:t>실제 대상 하나</a:t>
            </a:r>
          </a:p>
          <a:p>
            <a:pPr algn="ctr">
              <a:lnSpc>
                <a:spcPct val="110000"/>
              </a:lnSpc>
              <a:spcAft>
                <a:spcPts val="400"/>
              </a:spcAft>
            </a:pPr>
            <a:r>
              <a:rPr sz="1350" b="0">
                <a:solidFill>
                  <a:srgbClr val="1F2A3A"/>
                </a:solidFill>
                <a:latin typeface="맑은 고딕"/>
                <a:ea typeface="맑은 고딕"/>
                <a:cs typeface="맑은 고딕"/>
              </a:rPr>
              <a:t>HYD-01,</a:t>
            </a:r>
          </a:p>
          <a:p>
            <a:pPr algn="ctr">
              <a:lnSpc>
                <a:spcPct val="110000"/>
              </a:lnSpc>
              <a:spcAft>
                <a:spcPts val="400"/>
              </a:spcAft>
            </a:pPr>
            <a:r>
              <a:rPr sz="1350" b="0">
                <a:solidFill>
                  <a:srgbClr val="1F2A3A"/>
                </a:solidFill>
                <a:latin typeface="맑은 고딕"/>
                <a:ea typeface="맑은 고딕"/>
                <a:cs typeface="맑은 고딕"/>
              </a:rPr>
              <a:t>유온 센서, 유온</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속성</a:t>
            </a:r>
          </a:p>
          <a:p>
            <a:pPr algn="ctr">
              <a:lnSpc>
                <a:spcPct val="110000"/>
              </a:lnSpc>
              <a:spcAft>
                <a:spcPts val="400"/>
              </a:spcAft>
            </a:pPr>
            <a:r>
              <a:rPr sz="1350" b="0">
                <a:solidFill>
                  <a:srgbClr val="1F2A3A"/>
                </a:solidFill>
                <a:latin typeface="맑은 고딕"/>
                <a:ea typeface="맑은 고딕"/>
                <a:cs typeface="맑은 고딕"/>
              </a:rPr>
              <a:t>대상에 딸린 값</a:t>
            </a:r>
          </a:p>
          <a:p>
            <a:pPr algn="ctr">
              <a:lnSpc>
                <a:spcPct val="110000"/>
              </a:lnSpc>
              <a:spcAft>
                <a:spcPts val="400"/>
              </a:spcAft>
            </a:pPr>
            <a:r>
              <a:rPr sz="1350" b="0">
                <a:solidFill>
                  <a:srgbClr val="1F2A3A"/>
                </a:solidFill>
                <a:latin typeface="맑은 고딕"/>
                <a:ea typeface="맑은 고딕"/>
                <a:cs typeface="맑은 고딕"/>
              </a:rPr>
              <a:t>tag: TS1</a:t>
            </a:r>
          </a:p>
          <a:p>
            <a:pPr algn="ctr">
              <a:lnSpc>
                <a:spcPct val="110000"/>
              </a:lnSpc>
              <a:spcAft>
                <a:spcPts val="400"/>
              </a:spcAft>
            </a:pPr>
            <a:r>
              <a:rPr sz="1350" b="0">
                <a:solidFill>
                  <a:srgbClr val="1F2A3A"/>
                </a:solidFill>
                <a:latin typeface="맑은 고딕"/>
                <a:ea typeface="맑은 고딕"/>
                <a:cs typeface="맑은 고딕"/>
              </a:rPr>
              <a:t>limit: 65</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arrows-right" descr="arrows-righ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a:t>
            </a:r>
          </a:p>
          <a:p>
            <a:pPr algn="ctr">
              <a:lnSpc>
                <a:spcPct val="110000"/>
              </a:lnSpc>
              <a:spcAft>
                <a:spcPts val="400"/>
              </a:spcAft>
            </a:pPr>
            <a:r>
              <a:rPr sz="1350" b="0">
                <a:solidFill>
                  <a:srgbClr val="1F2A3A"/>
                </a:solidFill>
                <a:latin typeface="맑은 고딕"/>
                <a:ea typeface="맑은 고딕"/>
                <a:cs typeface="맑은 고딕"/>
              </a:rPr>
              <a:t>대상과 대상의 연결</a:t>
            </a:r>
          </a:p>
          <a:p>
            <a:pPr algn="ctr">
              <a:lnSpc>
                <a:spcPct val="110000"/>
              </a:lnSpc>
              <a:spcAft>
                <a:spcPts val="400"/>
              </a:spcAft>
            </a:pPr>
            <a:r>
              <a:rPr sz="1350" b="0">
                <a:solidFill>
                  <a:srgbClr val="1F2A3A"/>
                </a:solidFill>
                <a:latin typeface="맑은 고딕"/>
                <a:ea typeface="맑은 고딕"/>
                <a:cs typeface="맑은 고딕"/>
              </a:rPr>
              <a:t>유형, 방향,</a:t>
            </a:r>
          </a:p>
          <a:p>
            <a:pPr algn="ctr">
              <a:lnSpc>
                <a:spcPct val="110000"/>
              </a:lnSpc>
              <a:spcAft>
                <a:spcPts val="400"/>
              </a:spcAft>
            </a:pPr>
            <a:r>
              <a:rPr sz="1350" b="0">
                <a:solidFill>
                  <a:srgbClr val="1F2A3A"/>
                </a:solidFill>
                <a:latin typeface="맑은 고딕"/>
                <a:ea typeface="맑은 고딕"/>
                <a:cs typeface="맑은 고딕"/>
              </a:rPr>
              <a:t>카디널리티</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스키마 설계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클래스, 속성, 관계, 제약을 일관되게 정의하는 구조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①: 같은 대상이 여러 노드가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이름이 없으면 같은 장치가 넣는 사람마다 다른 이름의 노드로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pic>
        <p:nvPicPr>
          <p:cNvPr id="6" name="삽화:여러노드.svg" descr="illust_2532162443811541915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32138" y="1722180"/>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장치가 노드 셋으로 흩어졌다</a:t>
            </a:r>
          </a:p>
        </p:txBody>
      </p:sp>
      <p:sp>
        <p:nvSpPr>
          <p:cNvPr id="8" name="TextBox 7"/>
          <p:cNvSpPr txBox="1"/>
          <p:nvPr/>
        </p:nvSpPr>
        <p:spPr>
          <a:xfrm>
            <a:off x="2768451"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9" name="TextBox 8"/>
          <p:cNvSpPr txBox="1"/>
          <p:nvPr/>
        </p:nvSpPr>
        <p:spPr>
          <a:xfrm>
            <a:off x="6804964" y="406226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a:t>
            </a:r>
          </a:p>
        </p:txBody>
      </p:sp>
      <p:sp>
        <p:nvSpPr>
          <p:cNvPr id="10" name="TextBox 9"/>
          <p:cNvSpPr txBox="1"/>
          <p:nvPr/>
        </p:nvSpPr>
        <p:spPr>
          <a:xfrm>
            <a:off x="7677724"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「열교환기」</a:t>
            </a:r>
          </a:p>
        </p:txBody>
      </p:sp>
      <p:sp>
        <p:nvSpPr>
          <p:cNvPr id="11" name="TextBox 10"/>
          <p:cNvSpPr txBox="1"/>
          <p:nvPr/>
        </p:nvSpPr>
        <p:spPr>
          <a:xfrm>
            <a:off x="1164755"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2" name="TextBox 11"/>
          <p:cNvSpPr txBox="1"/>
          <p:nvPr/>
        </p:nvSpPr>
        <p:spPr>
          <a:xfrm>
            <a:off x="4077591" y="560814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13" name="TextBox 12"/>
          <p:cNvSpPr txBox="1"/>
          <p:nvPr/>
        </p:nvSpPr>
        <p:spPr>
          <a:xfrm>
            <a:off x="9717799"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②: 같은 관계가 어긋난다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관계가 없으면 같은 사실이 서로 다른 이름과 방향으로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Oval 5"/>
          <p:cNvSpPr/>
          <p:nvPr/>
        </p:nvSpPr>
        <p:spPr>
          <a:xfrm>
            <a:off x="5227167"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5348782"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HYD-01</a:t>
            </a:r>
          </a:p>
          <a:p>
            <a:pPr algn="ctr">
              <a:lnSpc>
                <a:spcPct val="110000"/>
              </a:lnSpc>
            </a:pPr>
            <a:r>
              <a:rPr sz="1100" b="0">
                <a:solidFill>
                  <a:srgbClr val="556175"/>
                </a:solidFill>
                <a:latin typeface="맑은 고딕"/>
                <a:ea typeface="맑은 고딕"/>
                <a:cs typeface="맑은 고딕"/>
              </a:rPr>
              <a:t>설비</a:t>
            </a:r>
          </a:p>
        </p:txBody>
      </p:sp>
      <p:sp>
        <p:nvSpPr>
          <p:cNvPr id="8" name="Oval 7"/>
          <p:cNvSpPr/>
          <p:nvPr/>
        </p:nvSpPr>
        <p:spPr>
          <a:xfrm>
            <a:off x="1297204" y="4617720"/>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1418819"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구성 요소</a:t>
            </a:r>
          </a:p>
        </p:txBody>
      </p:sp>
      <p:sp>
        <p:nvSpPr>
          <p:cNvPr id="10" name="Oval 9"/>
          <p:cNvSpPr/>
          <p:nvPr/>
        </p:nvSpPr>
        <p:spPr>
          <a:xfrm>
            <a:off x="5227167"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34878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팬</a:t>
            </a:r>
          </a:p>
          <a:p>
            <a:pPr algn="ctr">
              <a:lnSpc>
                <a:spcPct val="110000"/>
              </a:lnSpc>
            </a:pPr>
            <a:r>
              <a:rPr sz="1100" b="0">
                <a:solidFill>
                  <a:srgbClr val="556175"/>
                </a:solidFill>
                <a:latin typeface="맑은 고딕"/>
                <a:ea typeface="맑은 고딕"/>
                <a:cs typeface="맑은 고딕"/>
              </a:rPr>
              <a:t>구성 요소</a:t>
            </a:r>
          </a:p>
        </p:txBody>
      </p:sp>
      <p:sp>
        <p:nvSpPr>
          <p:cNvPr id="12" name="Oval 11"/>
          <p:cNvSpPr/>
          <p:nvPr/>
        </p:nvSpPr>
        <p:spPr>
          <a:xfrm>
            <a:off x="9157130"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9278745"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구동 모터</a:t>
            </a:r>
          </a:p>
          <a:p>
            <a:pPr algn="ctr">
              <a:lnSpc>
                <a:spcPct val="110000"/>
              </a:lnSpc>
            </a:pPr>
            <a:r>
              <a:rPr sz="1100" b="0">
                <a:solidFill>
                  <a:srgbClr val="556175"/>
                </a:solidFill>
                <a:latin typeface="맑은 고딕"/>
                <a:ea typeface="맑은 고딕"/>
                <a:cs typeface="맑은 고딕"/>
              </a:rPr>
              <a:t>구성 요소</a:t>
            </a:r>
          </a:p>
        </p:txBody>
      </p:sp>
      <p:cxnSp>
        <p:nvCxnSpPr>
          <p:cNvPr id="14" name="Connector 13"/>
          <p:cNvCxnSpPr/>
          <p:nvPr/>
        </p:nvCxnSpPr>
        <p:spPr>
          <a:xfrm flipH="1">
            <a:off x="2915430" y="3049989"/>
            <a:ext cx="2452702" cy="1866123"/>
          </a:xfrm>
          <a:prstGeom prst="line">
            <a:avLst/>
          </a:prstGeom>
          <a:ln w="28575">
            <a:solidFill>
              <a:srgbClr val="13294B"/>
            </a:solidFill>
            <a:tailEnd type="triangle" w="med" len="med"/>
          </a:ln>
        </p:spPr>
      </p:cxnSp>
      <p:sp>
        <p:nvSpPr>
          <p:cNvPr id="15" name="Rounded Rectangle 14"/>
          <p:cNvSpPr/>
          <p:nvPr/>
        </p:nvSpPr>
        <p:spPr>
          <a:xfrm>
            <a:off x="3585837" y="3617290"/>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3585837" y="3617290"/>
            <a:ext cx="111188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HAS_PART</a:t>
            </a:r>
          </a:p>
        </p:txBody>
      </p:sp>
      <p:cxnSp>
        <p:nvCxnSpPr>
          <p:cNvPr id="17" name="Connector 16"/>
          <p:cNvCxnSpPr/>
          <p:nvPr/>
        </p:nvCxnSpPr>
        <p:spPr>
          <a:xfrm flipV="1">
            <a:off x="6095847" y="3438144"/>
            <a:ext cx="0" cy="1133856"/>
          </a:xfrm>
          <a:prstGeom prst="line">
            <a:avLst/>
          </a:prstGeom>
          <a:ln w="28575">
            <a:solidFill>
              <a:srgbClr val="13294B"/>
            </a:solidFill>
            <a:tailEnd type="triangle" w="med" len="med"/>
          </a:ln>
        </p:spPr>
      </p:cxnSp>
      <p:sp>
        <p:nvSpPr>
          <p:cNvPr id="18" name="Rounded Rectangle 17"/>
          <p:cNvSpPr/>
          <p:nvPr/>
        </p:nvSpPr>
        <p:spPr>
          <a:xfrm>
            <a:off x="6187287" y="3858768"/>
            <a:ext cx="13255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6187287" y="3858768"/>
            <a:ext cx="132558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BELONGS_TO</a:t>
            </a:r>
          </a:p>
        </p:txBody>
      </p:sp>
      <p:cxnSp>
        <p:nvCxnSpPr>
          <p:cNvPr id="20" name="Connector 19"/>
          <p:cNvCxnSpPr/>
          <p:nvPr/>
        </p:nvCxnSpPr>
        <p:spPr>
          <a:xfrm>
            <a:off x="6823562" y="3049989"/>
            <a:ext cx="2452702" cy="1866123"/>
          </a:xfrm>
          <a:prstGeom prst="line">
            <a:avLst/>
          </a:prstGeom>
          <a:ln w="28575">
            <a:solidFill>
              <a:srgbClr val="13294B"/>
            </a:solidFill>
            <a:tailEnd type="triangle" w="med" len="med"/>
          </a:ln>
        </p:spPr>
      </p:cxnSp>
      <p:sp>
        <p:nvSpPr>
          <p:cNvPr id="21" name="Rounded Rectangle 20"/>
          <p:cNvSpPr/>
          <p:nvPr/>
        </p:nvSpPr>
        <p:spPr>
          <a:xfrm>
            <a:off x="7485352" y="361729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7485352" y="3617290"/>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CONTAINS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③: 값의 형식이 제각각이다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형식이 없으면 같은 속성에 수와 글자가 섞이고 빠진 값이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929636"/>
            <a:ext cx="731520" cy="731520"/>
          </a:xfrm>
          <a:prstGeom prst="ellipse">
            <a:avLst/>
          </a:prstGeom>
          <a:solidFill>
            <a:srgbClr val="E7F3FD"/>
          </a:solidFill>
          <a:ln>
            <a:noFill/>
          </a:ln>
        </p:spPr>
        <p:txBody>
          <a:bodyPr rtlCol="0" anchor="ctr"/>
          <a:lstStyle/>
          <a:p>
            <a:pPr algn="ctr"/>
          </a:p>
        </p:txBody>
      </p:sp>
      <p:pic>
        <p:nvPicPr>
          <p:cNvPr id="8" name="아이콘:hash" descr="hash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수로 넣었다</a:t>
            </a:r>
          </a:p>
          <a:p>
            <a:pPr algn="l">
              <a:lnSpc>
                <a:spcPct val="110000"/>
              </a:lnSpc>
              <a:spcAft>
                <a:spcPts val="400"/>
              </a:spcAft>
            </a:pPr>
            <a:r>
              <a:rPr sz="1400" b="0">
                <a:solidFill>
                  <a:srgbClr val="1F2A3A"/>
                </a:solidFill>
                <a:latin typeface="맑은 고딕"/>
                <a:ea typeface="맑은 고딕"/>
                <a:cs typeface="맑은 고딕"/>
              </a:rPr>
              <a:t>유온의 한계: 65</a:t>
            </a:r>
          </a:p>
        </p:txBody>
      </p:sp>
      <p:sp>
        <p:nvSpPr>
          <p:cNvPr id="10" name="Rounded Rectangle 9"/>
          <p:cNvSpPr/>
          <p:nvPr/>
        </p:nvSpPr>
        <p:spPr>
          <a:xfrm>
            <a:off x="777240" y="4824476"/>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8244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비교할 수 있다</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letter-case" descr="letter-case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글자로 넣었다</a:t>
            </a:r>
          </a:p>
          <a:p>
            <a:pPr algn="l">
              <a:lnSpc>
                <a:spcPct val="110000"/>
              </a:lnSpc>
              <a:spcAft>
                <a:spcPts val="400"/>
              </a:spcAft>
            </a:pPr>
            <a:r>
              <a:rPr sz="1400" b="0">
                <a:solidFill>
                  <a:srgbClr val="1F2A3A"/>
                </a:solidFill>
                <a:latin typeface="맑은 고딕"/>
                <a:ea typeface="맑은 고딕"/>
                <a:cs typeface="맑은 고딕"/>
              </a:rPr>
              <a:t>토출 압력의 한계: 「130 bar」</a:t>
            </a:r>
          </a:p>
        </p:txBody>
      </p:sp>
      <p:sp>
        <p:nvSpPr>
          <p:cNvPr id="16" name="Rounded Rectangle 15"/>
          <p:cNvSpPr/>
          <p:nvPr/>
        </p:nvSpPr>
        <p:spPr>
          <a:xfrm>
            <a:off x="4566818" y="4824476"/>
            <a:ext cx="18745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크기를 비교할 수 없다</a:t>
            </a:r>
          </a:p>
        </p:txBody>
      </p:sp>
      <p:sp>
        <p:nvSpPr>
          <p:cNvPr id="18" name="Rounded Rectangle 17"/>
          <p:cNvSpPr/>
          <p:nvPr/>
        </p:nvSpPr>
        <p:spPr>
          <a:xfrm>
            <a:off x="8127796"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5CB8F2"/>
          </a:solidFill>
          <a:ln>
            <a:noFill/>
          </a:ln>
        </p:spPr>
        <p:txBody>
          <a:bodyPr rtlCol="0" anchor="ctr"/>
          <a:lstStyle/>
          <a:p>
            <a:pPr algn="ctr"/>
          </a:p>
        </p:txBody>
      </p:sp>
      <p:pic>
        <p:nvPicPr>
          <p:cNvPr id="20" name="아이콘:question-mark" descr="question-mark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넣지 않았다</a:t>
            </a:r>
          </a:p>
          <a:p>
            <a:pPr algn="l">
              <a:lnSpc>
                <a:spcPct val="110000"/>
              </a:lnSpc>
              <a:spcAft>
                <a:spcPts val="400"/>
              </a:spcAft>
            </a:pPr>
            <a:r>
              <a:rPr sz="1400" b="0">
                <a:solidFill>
                  <a:srgbClr val="1F2A3A"/>
                </a:solidFill>
                <a:latin typeface="맑은 고딕"/>
                <a:ea typeface="맑은 고딕"/>
                <a:cs typeface="맑은 고딕"/>
              </a:rPr>
              <a:t>팬 진동의 단위: (없음)</a:t>
            </a:r>
          </a:p>
        </p:txBody>
      </p:sp>
      <p:sp>
        <p:nvSpPr>
          <p:cNvPr id="22" name="Rounded Rectangle 21"/>
          <p:cNvSpPr/>
          <p:nvPr/>
        </p:nvSpPr>
        <p:spPr>
          <a:xfrm>
            <a:off x="8356396" y="4824476"/>
            <a:ext cx="17221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82447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값을 해석할 수 없다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문제의 공통 원인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문제는 데이터가 틀려서가 아니라 데이터를 넣기 전에 정해 둔 약속이 없어서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이름, 관계, 값의 형식을 데이터를 넣기 전에 한 번 정해 둔다</a:t>
            </a:r>
          </a:p>
        </p:txBody>
      </p:sp>
      <p:sp>
        <p:nvSpPr>
          <p:cNvPr id="8" name="TextBox 7"/>
          <p:cNvSpPr txBox="1"/>
          <p:nvPr/>
        </p:nvSpPr>
        <p:spPr>
          <a:xfrm>
            <a:off x="548640"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이름</a:t>
            </a:r>
          </a:p>
          <a:p>
            <a:pPr algn="l">
              <a:lnSpc>
                <a:spcPct val="110000"/>
              </a:lnSpc>
              <a:spcAft>
                <a:spcPts val="400"/>
              </a:spcAft>
            </a:pPr>
            <a:r>
              <a:rPr sz="1400" b="0">
                <a:solidFill>
                  <a:srgbClr val="1F2A3A"/>
                </a:solidFill>
                <a:latin typeface="맑은 고딕"/>
                <a:ea typeface="맑은 고딕"/>
                <a:cs typeface="맑은 고딕"/>
              </a:rPr>
              <a:t>어떤 유형이 있고 대상을 무엇으로 가리키는가</a:t>
            </a:r>
          </a:p>
        </p:txBody>
      </p:sp>
      <p:sp>
        <p:nvSpPr>
          <p:cNvPr id="9" name="TextBox 8"/>
          <p:cNvSpPr txBox="1"/>
          <p:nvPr/>
        </p:nvSpPr>
        <p:spPr>
          <a:xfrm>
            <a:off x="4338218"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관계</a:t>
            </a:r>
          </a:p>
          <a:p>
            <a:pPr algn="l">
              <a:lnSpc>
                <a:spcPct val="110000"/>
              </a:lnSpc>
              <a:spcAft>
                <a:spcPts val="400"/>
              </a:spcAft>
            </a:pPr>
            <a:r>
              <a:rPr sz="1400" b="0">
                <a:solidFill>
                  <a:srgbClr val="1F2A3A"/>
                </a:solidFill>
                <a:latin typeface="맑은 고딕"/>
                <a:ea typeface="맑은 고딕"/>
                <a:cs typeface="맑은 고딕"/>
              </a:rPr>
              <a:t>어떤 이름으로 어느 방향으로 잇는가</a:t>
            </a:r>
          </a:p>
        </p:txBody>
      </p:sp>
      <p:sp>
        <p:nvSpPr>
          <p:cNvPr id="10" name="TextBox 9"/>
          <p:cNvSpPr txBox="1"/>
          <p:nvPr/>
        </p:nvSpPr>
        <p:spPr>
          <a:xfrm>
            <a:off x="8127796"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값의 형식</a:t>
            </a:r>
          </a:p>
          <a:p>
            <a:pPr algn="l">
              <a:lnSpc>
                <a:spcPct val="110000"/>
              </a:lnSpc>
              <a:spcAft>
                <a:spcPts val="400"/>
              </a:spcAft>
            </a:pPr>
            <a:r>
              <a:rPr sz="1400" b="0">
                <a:solidFill>
                  <a:srgbClr val="1F2A3A"/>
                </a:solidFill>
                <a:latin typeface="맑은 고딕"/>
                <a:ea typeface="맑은 고딕"/>
                <a:cs typeface="맑은 고딕"/>
              </a:rPr>
              <a:t>어떤 칸에 어떤 값이 들어가는가</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 클래스, 속성, 관계, 제약의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스키마</a:t>
            </a:r>
            <a:r>
              <a:rPr sz="1600" b="0">
                <a:solidFill>
                  <a:srgbClr val="556175"/>
                </a:solidFill>
                <a:latin typeface="맑은 고딕"/>
                <a:ea typeface="맑은 고딕"/>
                <a:cs typeface="맑은 고딕"/>
              </a:rPr>
              <a:t>는 온톨로지의 클래스, 속성, 관계, 제약을 한곳에 일관되게 정의한 구조이다.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클래스와 속성과 관계가 있을 수 있고 어떤 조건을 지켜야 하는지를 정의한다.</a:t>
            </a:r>
          </a:p>
          <a:p>
            <a:pPr algn="l">
              <a:lnSpc>
                <a:spcPct val="110000"/>
              </a:lnSpc>
              <a:spcAft>
                <a:spcPts val="300"/>
              </a:spcAft>
            </a:pPr>
            <a:r>
              <a:rPr sz="1400" b="0">
                <a:solidFill>
                  <a:srgbClr val="1F2A3A"/>
                </a:solidFill>
                <a:latin typeface="맑은 고딕"/>
                <a:ea typeface="맑은 고딕"/>
                <a:cs typeface="맑은 고딕"/>
              </a:rPr>
              <a:t>데이터를 넣는 사람과 읽는 프로그램이 모두 이 정의 하나를 기준으로 삼는다.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스키마가 정하는 것</a:t>
            </a:r>
          </a:p>
          <a:p>
            <a:pPr algn="l">
              <a:lnSpc>
                <a:spcPct val="110000"/>
              </a:lnSpc>
              <a:spcAft>
                <a:spcPts val="200"/>
              </a:spcAft>
            </a:pPr>
            <a:r>
              <a:rPr sz="1150" b="0">
                <a:solidFill>
                  <a:srgbClr val="556175"/>
                </a:solidFill>
                <a:latin typeface="맑은 고딕"/>
                <a:ea typeface="맑은 고딕"/>
                <a:cs typeface="맑은 고딕"/>
              </a:rPr>
              <a:t>정의의 범위</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클래스의 이름과 의미, 속성의 이름 · 자료형 · 필수 여부, 식별자의 규칙</a:t>
            </a:r>
          </a:p>
          <a:p>
            <a:pPr algn="l">
              <a:lnSpc>
                <a:spcPct val="110000"/>
              </a:lnSpc>
              <a:spcAft>
                <a:spcPts val="300"/>
              </a:spcAft>
            </a:pPr>
            <a:r>
              <a:rPr sz="1400" b="0">
                <a:solidFill>
                  <a:srgbClr val="1F2A3A"/>
                </a:solidFill>
                <a:latin typeface="맑은 고딕"/>
                <a:ea typeface="맑은 고딕"/>
                <a:cs typeface="맑은 고딕"/>
              </a:rPr>
              <a:t>관계의 이름과 방향, 시작 클래스와 끝 클래스, 카디널리티</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정의의 예</a:t>
            </a:r>
          </a:p>
          <a:p>
            <a:pPr algn="l">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「센서에는 tag가 있어야 한다.」</a:t>
            </a:r>
          </a:p>
          <a:p>
            <a:pPr algn="l">
              <a:lnSpc>
                <a:spcPct val="110000"/>
              </a:lnSpc>
              <a:spcAft>
                <a:spcPts val="300"/>
              </a:spcAft>
            </a:pPr>
            <a:r>
              <a:rPr sz="1400" b="0">
                <a:solidFill>
                  <a:srgbClr val="1F2A3A"/>
                </a:solidFill>
                <a:latin typeface="맑은 고딕"/>
                <a:ea typeface="맑은 고딕"/>
                <a:cs typeface="맑은 고딕"/>
              </a:rPr>
              <a:t>「OBSERVES는 센서에서 상태 변수로 잇는다.」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비유로 보는 스키마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스키마와 데이터의 사이는 문서 양식과 작성된 문서의 사이와 닮았다.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qual" descr="equal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닮은 점</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양식이 칸과 필수 항목을 정한다</a:t>
            </a:r>
          </a:p>
          <a:p>
            <a:pPr algn="l">
              <a:lnSpc>
                <a:spcPct val="110000"/>
              </a:lnSpc>
              <a:spcAft>
                <a:spcPts val="600"/>
              </a:spcAft>
            </a:pPr>
            <a:r>
              <a:rPr sz="1450" b="0">
                <a:solidFill>
                  <a:srgbClr val="1F2A3A"/>
                </a:solidFill>
                <a:latin typeface="맑은 고딕"/>
                <a:ea typeface="맑은 고딕"/>
                <a:cs typeface="맑은 고딕"/>
              </a:rPr>
              <a:t>• 작성된 문서가 그 칸을 채운다</a:t>
            </a:r>
          </a:p>
          <a:p>
            <a:pPr algn="l">
              <a:lnSpc>
                <a:spcPct val="110000"/>
              </a:lnSpc>
              <a:spcAft>
                <a:spcPts val="600"/>
              </a:spcAft>
            </a:pPr>
            <a:r>
              <a:rPr sz="1450" b="0">
                <a:solidFill>
                  <a:srgbClr val="1F2A3A"/>
                </a:solidFill>
                <a:latin typeface="맑은 고딕"/>
                <a:ea typeface="맑은 고딕"/>
                <a:cs typeface="맑은 고딕"/>
              </a:rPr>
              <a:t>• 양식에 맞지 않게 쓴 문서는 접수할 때 걸러진다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비유</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equal-not" descr="equal-n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다른 점</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양식은 문서 한 장의 칸만 정한다</a:t>
            </a:r>
          </a:p>
          <a:p>
            <a:pPr algn="l">
              <a:lnSpc>
                <a:spcPct val="110000"/>
              </a:lnSpc>
              <a:spcAft>
                <a:spcPts val="600"/>
              </a:spcAft>
            </a:pPr>
            <a:r>
              <a:rPr sz="1450" b="0">
                <a:solidFill>
                  <a:srgbClr val="1F2A3A"/>
                </a:solidFill>
                <a:latin typeface="맑은 고딕"/>
                <a:ea typeface="맑은 고딕"/>
                <a:cs typeface="맑은 고딕"/>
              </a:rPr>
              <a:t>• 스키마는 어떤 대상끼리 이어질 수 있는지도 정한다</a:t>
            </a:r>
          </a:p>
        </p:txBody>
      </p:sp>
      <p:sp>
        <p:nvSpPr>
          <p:cNvPr id="18" name="Rounded Rectangle 17"/>
          <p:cNvSpPr/>
          <p:nvPr/>
        </p:nvSpPr>
        <p:spPr>
          <a:xfrm>
            <a:off x="6781647" y="4945570"/>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①: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 정의의 첫 항목은 이름이며, 한 클래스에는 이름을 하나만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894076"/>
            <a:ext cx="6766560" cy="219456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3031236"/>
            <a:ext cx="6400800" cy="192024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894076"/>
            <a:ext cx="4007815" cy="109728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클래스의 영문 이름이다. 이 클래스를 가리킬 때는 언제나 이 이름을 쓴다.</a:t>
            </a:r>
          </a:p>
        </p:txBody>
      </p:sp>
      <p:sp>
        <p:nvSpPr>
          <p:cNvPr id="9" name="TextBox 8"/>
          <p:cNvSpPr txBox="1"/>
          <p:nvPr/>
        </p:nvSpPr>
        <p:spPr>
          <a:xfrm>
            <a:off x="7635240" y="3991356"/>
            <a:ext cx="4007815" cy="109728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label_ko</a:t>
            </a:r>
          </a:p>
          <a:p>
            <a:pPr algn="l">
              <a:lnSpc>
                <a:spcPct val="110000"/>
              </a:lnSpc>
              <a:spcAft>
                <a:spcPts val="400"/>
              </a:spcAft>
            </a:pPr>
            <a:r>
              <a:rPr sz="1400" b="0">
                <a:solidFill>
                  <a:srgbClr val="1F2A3A"/>
                </a:solidFill>
                <a:latin typeface="맑은 고딕"/>
                <a:ea typeface="맑은 고딕"/>
                <a:cs typeface="맑은 고딕"/>
              </a:rPr>
              <a:t>화면과 문서에 보이는 한글 이름이다.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②: 의미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의미를 문장으로 적어 두어야 이름이 가리키는 범위를 사람마다 다르게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882646"/>
            <a:ext cx="6766560" cy="221742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3019806"/>
            <a:ext cx="6400800" cy="194310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이 클래스가 무엇을 가리키는지를 문장으로 적는다.</a:t>
            </a:r>
          </a:p>
        </p:txBody>
      </p:sp>
      <p:sp>
        <p:nvSpPr>
          <p:cNvPr id="9" name="TextBox 8"/>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a:t>
            </a:r>
          </a:p>
          <a:p>
            <a:pPr algn="l">
              <a:lnSpc>
                <a:spcPct val="110000"/>
              </a:lnSpc>
              <a:spcAft>
                <a:spcPts val="400"/>
              </a:spcAft>
            </a:pPr>
            <a:r>
              <a:rPr sz="1400" b="0">
                <a:solidFill>
                  <a:srgbClr val="1F2A3A"/>
                </a:solidFill>
                <a:latin typeface="맑은 고딕"/>
                <a:ea typeface="맑은 고딕"/>
                <a:cs typeface="맑은 고딕"/>
              </a:rPr>
              <a:t>「계측 채널」이라고 적었으므로 계기 없이 계산한 냉각 효율도 이 클래스에 든다.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③: 속성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 목록에는 이 클래스의 인스턴스가 가질 속성을 한 줄에 하나씩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242693"/>
            <a:ext cx="6766560" cy="3497326"/>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79853"/>
            <a:ext cx="6400800" cy="322300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"tag",     "type": "string",  "required": true},</a:t>
            </a:r>
          </a:p>
          <a:p>
            <a:pPr algn="l">
              <a:lnSpc>
                <a:spcPct val="110000"/>
              </a:lnSpc>
              <a:spcAft>
                <a:spcPts val="200"/>
              </a:spcAft>
            </a:pPr>
            <a:r>
              <a:rPr sz="1300" b="0">
                <a:solidFill>
                  <a:srgbClr val="E8EEF6"/>
                </a:solidFill>
                <a:latin typeface="Consolas"/>
                <a:ea typeface="맑은 고딕"/>
                <a:cs typeface="맑은 고딕"/>
              </a:rPr>
              <a:t>    {"name": "unit",    "type": "string"},</a:t>
            </a:r>
          </a:p>
          <a:p>
            <a:pPr algn="l">
              <a:lnSpc>
                <a:spcPct val="110000"/>
              </a:lnSpc>
              <a:spcAft>
                <a:spcPts val="200"/>
              </a:spcAft>
            </a:pPr>
            <a:r>
              <a:rPr sz="1300" b="0">
                <a:solidFill>
                  <a:srgbClr val="E8EEF6"/>
                </a:solidFill>
                <a:latin typeface="Consolas"/>
                <a:ea typeface="맑은 고딕"/>
                <a:cs typeface="맑은 고딕"/>
              </a:rPr>
              <a:t>    {"name": "virtual", "type": "boolean"}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242693"/>
            <a:ext cx="4007815" cy="174866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properties</a:t>
            </a:r>
          </a:p>
          <a:p>
            <a:pPr algn="l">
              <a:lnSpc>
                <a:spcPct val="110000"/>
              </a:lnSpc>
              <a:spcAft>
                <a:spcPts val="400"/>
              </a:spcAft>
            </a:pPr>
            <a:r>
              <a:rPr sz="1400" b="0">
                <a:solidFill>
                  <a:srgbClr val="1F2A3A"/>
                </a:solidFill>
                <a:latin typeface="맑은 고딕"/>
                <a:ea typeface="맑은 고딕"/>
                <a:cs typeface="맑은 고딕"/>
              </a:rPr>
              <a:t>한 줄이 속성 하나이다. 앞에서 그림으로 본 다섯 칸이 여기에 적힌다.</a:t>
            </a:r>
          </a:p>
        </p:txBody>
      </p:sp>
      <p:sp>
        <p:nvSpPr>
          <p:cNvPr id="9" name="TextBox 8"/>
          <p:cNvSpPr txBox="1"/>
          <p:nvPr/>
        </p:nvSpPr>
        <p:spPr>
          <a:xfrm>
            <a:off x="7635240" y="3991356"/>
            <a:ext cx="4007815" cy="174866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줄의 구성</a:t>
            </a:r>
          </a:p>
          <a:p>
            <a:pPr algn="l">
              <a:lnSpc>
                <a:spcPct val="110000"/>
              </a:lnSpc>
              <a:spcAft>
                <a:spcPts val="400"/>
              </a:spcAft>
            </a:pPr>
            <a:r>
              <a:rPr sz="1400" b="0">
                <a:solidFill>
                  <a:srgbClr val="1F2A3A"/>
                </a:solidFill>
                <a:latin typeface="맑은 고딕"/>
                <a:ea typeface="맑은 고딕"/>
                <a:cs typeface="맑은 고딕"/>
              </a:rPr>
              <a:t>속성의 이름, 자료형, 필수 여부를 차례로 적는다.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정의의 세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 하나를 정의할 때에는 속성명, 자료형, 필수 여부의 세 가지를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ag" descr="tag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속성명</a:t>
            </a:r>
          </a:p>
          <a:p>
            <a:pPr algn="l">
              <a:lnSpc>
                <a:spcPct val="110000"/>
              </a:lnSpc>
              <a:spcAft>
                <a:spcPts val="400"/>
              </a:spcAft>
            </a:pPr>
            <a:r>
              <a:rPr sz="1400" b="0">
                <a:solidFill>
                  <a:srgbClr val="1F2A3A"/>
                </a:solidFill>
                <a:latin typeface="맑은 고딕"/>
                <a:ea typeface="맑은 고딕"/>
                <a:cs typeface="맑은 고딕"/>
              </a:rPr>
              <a:t>• "name": "tag"</a:t>
            </a:r>
          </a:p>
          <a:p>
            <a:pPr algn="l">
              <a:lnSpc>
                <a:spcPct val="110000"/>
              </a:lnSpc>
              <a:spcAft>
                <a:spcPts val="400"/>
              </a:spcAft>
            </a:pPr>
            <a:r>
              <a:rPr sz="1400" b="0">
                <a:solidFill>
                  <a:srgbClr val="1F2A3A"/>
                </a:solidFill>
                <a:latin typeface="맑은 고딕"/>
                <a:ea typeface="맑은 고딕"/>
                <a:cs typeface="맑은 고딕"/>
              </a:rPr>
              <a:t>• 칸의 이름이다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name</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shape" descr="shap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자료형</a:t>
            </a:r>
          </a:p>
          <a:p>
            <a:pPr algn="l">
              <a:lnSpc>
                <a:spcPct val="110000"/>
              </a:lnSpc>
              <a:spcAft>
                <a:spcPts val="400"/>
              </a:spcAft>
            </a:pPr>
            <a:r>
              <a:rPr sz="1400" b="0">
                <a:solidFill>
                  <a:srgbClr val="1F2A3A"/>
                </a:solidFill>
                <a:latin typeface="맑은 고딕"/>
                <a:ea typeface="맑은 고딕"/>
                <a:cs typeface="맑은 고딕"/>
              </a:rPr>
              <a:t>• "type": "string"</a:t>
            </a:r>
          </a:p>
          <a:p>
            <a:pPr algn="l">
              <a:lnSpc>
                <a:spcPct val="110000"/>
              </a:lnSpc>
              <a:spcAft>
                <a:spcPts val="400"/>
              </a:spcAft>
            </a:pPr>
            <a:r>
              <a:rPr sz="1400" b="0">
                <a:solidFill>
                  <a:srgbClr val="1F2A3A"/>
                </a:solidFill>
                <a:latin typeface="맑은 고딕"/>
                <a:ea typeface="맑은 고딕"/>
                <a:cs typeface="맑은 고딕"/>
              </a:rPr>
              <a:t>• 칸에 들어갈 값의 종류이다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type</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asterisk" descr="asteris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여부</a:t>
            </a:r>
          </a:p>
          <a:p>
            <a:pPr algn="l">
              <a:lnSpc>
                <a:spcPct val="110000"/>
              </a:lnSpc>
              <a:spcAft>
                <a:spcPts val="400"/>
              </a:spcAft>
            </a:pPr>
            <a:r>
              <a:rPr sz="1400" b="0">
                <a:solidFill>
                  <a:srgbClr val="1F2A3A"/>
                </a:solidFill>
                <a:latin typeface="맑은 고딕"/>
                <a:ea typeface="맑은 고딕"/>
                <a:cs typeface="맑은 고딕"/>
              </a:rPr>
              <a:t>• "required": true</a:t>
            </a:r>
          </a:p>
          <a:p>
            <a:pPr algn="l">
              <a:lnSpc>
                <a:spcPct val="110000"/>
              </a:lnSpc>
              <a:spcAft>
                <a:spcPts val="400"/>
              </a:spcAft>
            </a:pPr>
            <a:r>
              <a:rPr sz="1400" b="0">
                <a:solidFill>
                  <a:srgbClr val="1F2A3A"/>
                </a:solidFill>
                <a:latin typeface="맑은 고딕"/>
                <a:ea typeface="맑은 고딕"/>
                <a:cs typeface="맑은 고딕"/>
              </a:rPr>
              <a:t>• 값이 반드시 있어야 하는가이다</a:t>
            </a:r>
          </a:p>
        </p:txBody>
      </p:sp>
      <p:sp>
        <p:nvSpPr>
          <p:cNvPr id="22" name="Rounded Rectangle 21"/>
          <p:cNvSpPr/>
          <p:nvPr/>
        </p:nvSpPr>
        <p:spPr>
          <a:xfrm>
            <a:off x="8356396" y="4932934"/>
            <a:ext cx="999743"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999743"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required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자료형: 칸에 들어갈 값의 종류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자료형</a:t>
            </a:r>
            <a:r>
              <a:rPr sz="1600" b="0">
                <a:solidFill>
                  <a:srgbClr val="556175"/>
                </a:solidFill>
                <a:latin typeface="맑은 고딕"/>
                <a:ea typeface="맑은 고딕"/>
                <a:cs typeface="맑은 고딕"/>
              </a:rPr>
              <a:t>은 그 칸에 글자, 수, 참 · 거짓, 목록 가운데 무엇이 들어가는지를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"name": "StateVariable",</a:t>
            </a:r>
          </a:p>
          <a:p>
            <a:pPr algn="l">
              <a:lnSpc>
                <a:spcPct val="110000"/>
              </a:lnSpc>
              <a:spcAft>
                <a:spcPts val="200"/>
              </a:spcAft>
            </a:pPr>
            <a:r>
              <a:rPr sz="1300" b="0">
                <a:solidFill>
                  <a:srgbClr val="E8EEF6"/>
                </a:solidFill>
                <a:latin typeface="Consolas"/>
                <a:ea typeface="맑은 고딕"/>
                <a:cs typeface="맑은 고딕"/>
              </a:rPr>
              <a:t>"properties":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"aliases", "type": "string[]"},</a:t>
            </a:r>
          </a:p>
          <a:p>
            <a:pPr algn="l">
              <a:lnSpc>
                <a:spcPct val="110000"/>
              </a:lnSpc>
              <a:spcAft>
                <a:spcPts val="200"/>
              </a:spcAft>
            </a:pPr>
            <a:r>
              <a:rPr sz="1300" b="0">
                <a:solidFill>
                  <a:srgbClr val="E8EEF6"/>
                </a:solidFill>
                <a:latin typeface="Consolas"/>
                <a:ea typeface="맑은 고딕"/>
                <a:cs typeface="맑은 고딕"/>
              </a:rPr>
              <a:t>  {"name": "unit",    "type": "string",   "required": true},</a:t>
            </a:r>
          </a:p>
          <a:p>
            <a:pPr algn="l">
              <a:lnSpc>
                <a:spcPct val="110000"/>
              </a:lnSpc>
              <a:spcAft>
                <a:spcPts val="200"/>
              </a:spcAft>
            </a:pPr>
            <a:r>
              <a:rPr sz="1300" b="0">
                <a:solidFill>
                  <a:srgbClr val="E8EEF6"/>
                </a:solidFill>
                <a:latin typeface="Consolas"/>
                <a:ea typeface="맑은 고딕"/>
                <a:cs typeface="맑은 고딕"/>
              </a:rPr>
              <a:t>  {"name": "kind",    "type": "enum",     "required": true},</a:t>
            </a:r>
          </a:p>
          <a:p>
            <a:pPr algn="l">
              <a:lnSpc>
                <a:spcPct val="110000"/>
              </a:lnSpc>
              <a:spcAft>
                <a:spcPts val="200"/>
              </a:spcAft>
            </a:pPr>
            <a:r>
              <a:rPr sz="1300" b="0">
                <a:solidFill>
                  <a:srgbClr val="E8EEF6"/>
                </a:solidFill>
                <a:latin typeface="Consolas"/>
                <a:ea typeface="맑은 고딕"/>
                <a:cs typeface="맑은 고딕"/>
              </a:rPr>
              <a:t>  {"name": "normal",  "type": "number"},</a:t>
            </a:r>
          </a:p>
          <a:p>
            <a:pPr algn="l">
              <a:lnSpc>
                <a:spcPct val="110000"/>
              </a:lnSpc>
              <a:spcAft>
                <a:spcPts val="200"/>
              </a:spcAft>
            </a:pPr>
            <a:r>
              <a:rPr sz="1300" b="0">
                <a:solidFill>
                  <a:srgbClr val="E8EEF6"/>
                </a:solidFill>
                <a:latin typeface="Consolas"/>
                <a:ea typeface="맑은 고딕"/>
                <a:cs typeface="맑은 고딕"/>
              </a:rPr>
              <a:t>  {"name": "limit",   "type": "number"}</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글자이다. 이름, 단위, 식별자에 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number</a:t>
            </a:r>
          </a:p>
          <a:p>
            <a:pPr algn="l">
              <a:lnSpc>
                <a:spcPct val="110000"/>
              </a:lnSpc>
              <a:spcAft>
                <a:spcPts val="400"/>
              </a:spcAft>
            </a:pPr>
            <a:r>
              <a:rPr sz="1400" b="0">
                <a:solidFill>
                  <a:srgbClr val="1F2A3A"/>
                </a:solidFill>
                <a:latin typeface="맑은 고딕"/>
                <a:ea typeface="맑은 고딕"/>
                <a:cs typeface="맑은 고딕"/>
              </a:rPr>
              <a:t>수이다. 정상값과 한계처럼 크기를 비교하는 값에 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글자의 목록이다. 별칭처럼 값이 여럿일 때 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boolean</a:t>
            </a:r>
          </a:p>
          <a:p>
            <a:pPr algn="l">
              <a:lnSpc>
                <a:spcPct val="110000"/>
              </a:lnSpc>
              <a:spcAft>
                <a:spcPts val="400"/>
              </a:spcAft>
            </a:pPr>
            <a:r>
              <a:rPr sz="1400" b="0">
                <a:solidFill>
                  <a:srgbClr val="1F2A3A"/>
                </a:solidFill>
                <a:latin typeface="맑은 고딕"/>
                <a:ea typeface="맑은 고딕"/>
                <a:cs typeface="맑은 고딕"/>
              </a:rPr>
              <a:t>참 · 거짓이다. 센서의 virtual이 이 자료형이다.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정해진 값 가운데 하나만 쓰는 자료형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enum은 미리 정해 둔 값 가운데 하나만 들어가는 자료형이며, 상태 변수의 kind가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manipulated</a:t>
            </a:r>
          </a:p>
          <a:p>
            <a:pPr algn="l">
              <a:lnSpc>
                <a:spcPct val="110000"/>
              </a:lnSpc>
              <a:spcAft>
                <a:spcPts val="400"/>
              </a:spcAft>
            </a:pPr>
            <a:r>
              <a:rPr sz="1400" b="0">
                <a:solidFill>
                  <a:srgbClr val="1F2A3A"/>
                </a:solidFill>
                <a:latin typeface="맑은 고딕"/>
                <a:ea typeface="맑은 고딕"/>
                <a:cs typeface="맑은 고딕"/>
              </a:rPr>
              <a:t>• 사람이나 시스템이 조작하는 값</a:t>
            </a:r>
          </a:p>
          <a:p>
            <a:pPr algn="l">
              <a:lnSpc>
                <a:spcPct val="110000"/>
              </a:lnSpc>
              <a:spcAft>
                <a:spcPts val="400"/>
              </a:spcAft>
            </a:pPr>
            <a:r>
              <a:rPr sz="1400" b="0">
                <a:solidFill>
                  <a:srgbClr val="1F2A3A"/>
                </a:solidFill>
                <a:latin typeface="맑은 고딕"/>
                <a:ea typeface="맑은 고딕"/>
                <a:cs typeface="맑은 고딕"/>
              </a:rPr>
              <a:t>• 팬 속도, 펌프 부하</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조작</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temperature" descr="temperatur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controlled</a:t>
            </a:r>
          </a:p>
          <a:p>
            <a:pPr algn="l">
              <a:lnSpc>
                <a:spcPct val="110000"/>
              </a:lnSpc>
              <a:spcAft>
                <a:spcPts val="400"/>
              </a:spcAft>
            </a:pPr>
            <a:r>
              <a:rPr sz="1400" b="0">
                <a:solidFill>
                  <a:srgbClr val="1F2A3A"/>
                </a:solidFill>
                <a:latin typeface="맑은 고딕"/>
                <a:ea typeface="맑은 고딕"/>
                <a:cs typeface="맑은 고딕"/>
              </a:rPr>
              <a:t>• 그 결과로 나타나는 값</a:t>
            </a:r>
          </a:p>
          <a:p>
            <a:pPr algn="l">
              <a:lnSpc>
                <a:spcPct val="110000"/>
              </a:lnSpc>
              <a:spcAft>
                <a:spcPts val="400"/>
              </a:spcAft>
            </a:pPr>
            <a:r>
              <a:rPr sz="1400" b="0">
                <a:solidFill>
                  <a:srgbClr val="1F2A3A"/>
                </a:solidFill>
                <a:latin typeface="맑은 고딕"/>
                <a:ea typeface="맑은 고딕"/>
                <a:cs typeface="맑은 고딕"/>
              </a:rPr>
              <a:t>• 유온, 냉각 효율, 토출 압력</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disturbance</a:t>
            </a:r>
          </a:p>
          <a:p>
            <a:pPr algn="l">
              <a:lnSpc>
                <a:spcPct val="110000"/>
              </a:lnSpc>
              <a:spcAft>
                <a:spcPts val="400"/>
              </a:spcAft>
            </a:pPr>
            <a:r>
              <a:rPr sz="1400" b="0">
                <a:solidFill>
                  <a:srgbClr val="1F2A3A"/>
                </a:solidFill>
                <a:latin typeface="맑은 고딕"/>
                <a:ea typeface="맑은 고딕"/>
                <a:cs typeface="맑은 고딕"/>
              </a:rPr>
              <a:t>• 바깥에서 들어오는 교란</a:t>
            </a:r>
          </a:p>
          <a:p>
            <a:pPr algn="l">
              <a:lnSpc>
                <a:spcPct val="110000"/>
              </a:lnSpc>
              <a:spcAft>
                <a:spcPts val="400"/>
              </a:spcAft>
            </a:pPr>
            <a:r>
              <a:rPr sz="1400" b="0">
                <a:solidFill>
                  <a:srgbClr val="1F2A3A"/>
                </a:solidFill>
                <a:latin typeface="맑은 고딕"/>
                <a:ea typeface="맑은 고딕"/>
                <a:cs typeface="맑은 고딕"/>
              </a:rPr>
              <a:t>• 쿨러 핀 오염도, 팬 베어링 마모도</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교란</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필수 속성이 빠진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속성이 빠진 인스턴스는 스키마에 어긋나며, 그 인스턴스로는 정해진 일을 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필수 속성을 갖춘 센서</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id: sen:ts1</a:t>
            </a:r>
          </a:p>
          <a:p>
            <a:pPr algn="l">
              <a:lnSpc>
                <a:spcPct val="110000"/>
              </a:lnSpc>
              <a:spcAft>
                <a:spcPts val="600"/>
              </a:spcAft>
            </a:pPr>
            <a:r>
              <a:rPr sz="1450" b="0">
                <a:solidFill>
                  <a:srgbClr val="1F2A3A"/>
                </a:solidFill>
                <a:latin typeface="맑은 고딕"/>
                <a:ea typeface="맑은 고딕"/>
                <a:cs typeface="맑은 고딕"/>
              </a:rPr>
              <a:t>• name: 유온 센서</a:t>
            </a:r>
          </a:p>
          <a:p>
            <a:pPr algn="l">
              <a:lnSpc>
                <a:spcPct val="110000"/>
              </a:lnSpc>
              <a:spcAft>
                <a:spcPts val="600"/>
              </a:spcAft>
            </a:pPr>
            <a:r>
              <a:rPr sz="1450" b="0">
                <a:solidFill>
                  <a:srgbClr val="1F2A3A"/>
                </a:solidFill>
                <a:latin typeface="맑은 고딕"/>
                <a:ea typeface="맑은 고딕"/>
                <a:cs typeface="맑은 고딕"/>
              </a:rPr>
              <a:t>• tag: TS1</a:t>
            </a:r>
          </a:p>
          <a:p>
            <a:pPr algn="l">
              <a:lnSpc>
                <a:spcPct val="110000"/>
              </a:lnSpc>
              <a:spcAft>
                <a:spcPts val="600"/>
              </a:spcAft>
            </a:pPr>
            <a:r>
              <a:rPr sz="1450" b="0">
                <a:solidFill>
                  <a:srgbClr val="1F2A3A"/>
                </a:solidFill>
                <a:latin typeface="맑은 고딕"/>
                <a:ea typeface="맑은 고딕"/>
                <a:cs typeface="맑은 고딕"/>
              </a:rPr>
              <a:t>• 태그로 실시간 값을 찾을 수 있다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스키마에 맞다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필수 속성이 빠진 센서</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id: sen:ts1</a:t>
            </a:r>
          </a:p>
          <a:p>
            <a:pPr algn="l">
              <a:lnSpc>
                <a:spcPct val="110000"/>
              </a:lnSpc>
              <a:spcAft>
                <a:spcPts val="600"/>
              </a:spcAft>
            </a:pPr>
            <a:r>
              <a:rPr sz="1450" b="0">
                <a:solidFill>
                  <a:srgbClr val="1F2A3A"/>
                </a:solidFill>
                <a:latin typeface="맑은 고딕"/>
                <a:ea typeface="맑은 고딕"/>
                <a:cs typeface="맑은 고딕"/>
              </a:rPr>
              <a:t>• name: 유온 센서</a:t>
            </a:r>
          </a:p>
          <a:p>
            <a:pPr algn="l">
              <a:lnSpc>
                <a:spcPct val="110000"/>
              </a:lnSpc>
              <a:spcAft>
                <a:spcPts val="600"/>
              </a:spcAft>
            </a:pPr>
            <a:r>
              <a:rPr sz="1450" b="0">
                <a:solidFill>
                  <a:srgbClr val="1F2A3A"/>
                </a:solidFill>
                <a:latin typeface="맑은 고딕"/>
                <a:ea typeface="맑은 고딕"/>
                <a:cs typeface="맑은 고딕"/>
              </a:rPr>
              <a:t>• tag: (없음)</a:t>
            </a:r>
          </a:p>
          <a:p>
            <a:pPr algn="l">
              <a:lnSpc>
                <a:spcPct val="110000"/>
              </a:lnSpc>
              <a:spcAft>
                <a:spcPts val="600"/>
              </a:spcAft>
            </a:pPr>
            <a:r>
              <a:rPr sz="1450" b="0">
                <a:solidFill>
                  <a:srgbClr val="1F2A3A"/>
                </a:solidFill>
                <a:latin typeface="맑은 고딕"/>
                <a:ea typeface="맑은 고딕"/>
                <a:cs typeface="맑은 고딕"/>
              </a:rPr>
              <a:t>• 어느 값이 이 센서의 값인지 알 수 없다</a:t>
            </a:r>
          </a:p>
        </p:txBody>
      </p:sp>
      <p:sp>
        <p:nvSpPr>
          <p:cNvPr id="18" name="Rounded Rectangle 17"/>
          <p:cNvSpPr/>
          <p:nvPr/>
        </p:nvSpPr>
        <p:spPr>
          <a:xfrm>
            <a:off x="6781647" y="5096002"/>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스키마에 어긋난다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식별자와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는 인스턴스 하나를 가리키는 고유한 값이며, 사람이 읽는 이름과는 따로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key" descr="key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식별자 id</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 하나를 가리킨다</a:t>
            </a:r>
          </a:p>
          <a:p>
            <a:pPr algn="l">
              <a:lnSpc>
                <a:spcPct val="110000"/>
              </a:lnSpc>
              <a:spcAft>
                <a:spcPts val="600"/>
              </a:spcAft>
            </a:pPr>
            <a:r>
              <a:rPr sz="1450" b="0">
                <a:solidFill>
                  <a:srgbClr val="1F2A3A"/>
                </a:solidFill>
                <a:latin typeface="맑은 고딕"/>
                <a:ea typeface="맑은 고딕"/>
                <a:cs typeface="맑은 고딕"/>
              </a:rPr>
              <a:t>• 같은 값이 둘 있을 수 없다</a:t>
            </a:r>
          </a:p>
          <a:p>
            <a:pPr algn="l">
              <a:lnSpc>
                <a:spcPct val="110000"/>
              </a:lnSpc>
              <a:spcAft>
                <a:spcPts val="600"/>
              </a:spcAft>
            </a:pPr>
            <a:r>
              <a:rPr sz="1450" b="0">
                <a:solidFill>
                  <a:srgbClr val="1F2A3A"/>
                </a:solidFill>
                <a:latin typeface="맑은 고딕"/>
                <a:ea typeface="맑은 고딕"/>
                <a:cs typeface="맑은 고딕"/>
              </a:rPr>
              <a:t>• 한번 정하면 바꾸지 않는다</a:t>
            </a:r>
          </a:p>
          <a:p>
            <a:pPr algn="l">
              <a:lnSpc>
                <a:spcPct val="110000"/>
              </a:lnSpc>
              <a:spcAft>
                <a:spcPts val="600"/>
              </a:spcAft>
            </a:pPr>
            <a:r>
              <a:rPr sz="1450" b="0">
                <a:solidFill>
                  <a:srgbClr val="1F2A3A"/>
                </a:solidFill>
                <a:latin typeface="맑은 고딕"/>
                <a:ea typeface="맑은 고딕"/>
                <a:cs typeface="맑은 고딕"/>
              </a:rPr>
              <a:t>• 예: sen:ts1</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고유한 값</a:t>
            </a:r>
          </a:p>
        </p:txBody>
      </p:sp>
      <p:sp>
        <p:nvSpPr>
          <p:cNvPr id="13" name="Rounded Rectangle 12"/>
          <p:cNvSpPr/>
          <p:nvPr/>
        </p:nvSpPr>
        <p:spPr>
          <a:xfrm>
            <a:off x="6461607" y="2429509"/>
            <a:ext cx="5181447" cy="3123692"/>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630678"/>
            <a:ext cx="731520" cy="731520"/>
          </a:xfrm>
          <a:prstGeom prst="ellipse">
            <a:avLst/>
          </a:prstGeom>
          <a:solidFill>
            <a:srgbClr val="FFFFFF"/>
          </a:solidFill>
          <a:ln>
            <a:noFill/>
          </a:ln>
        </p:spPr>
        <p:txBody>
          <a:bodyPr rtlCol="0" anchor="ctr"/>
          <a:lstStyle/>
          <a:p>
            <a:pPr algn="ctr"/>
          </a:p>
        </p:txBody>
      </p:sp>
      <p:pic>
        <p:nvPicPr>
          <p:cNvPr id="15" name="아이콘:tag" descr="tag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이름 name</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사람이 읽는 말이다</a:t>
            </a:r>
          </a:p>
          <a:p>
            <a:pPr algn="l">
              <a:lnSpc>
                <a:spcPct val="110000"/>
              </a:lnSpc>
              <a:spcAft>
                <a:spcPts val="600"/>
              </a:spcAft>
            </a:pPr>
            <a:r>
              <a:rPr sz="1450" b="0">
                <a:solidFill>
                  <a:srgbClr val="1F2A3A"/>
                </a:solidFill>
                <a:latin typeface="맑은 고딕"/>
                <a:ea typeface="맑은 고딕"/>
                <a:cs typeface="맑은 고딕"/>
              </a:rPr>
              <a:t>• 겹칠 수 있다</a:t>
            </a:r>
          </a:p>
          <a:p>
            <a:pPr algn="l">
              <a:lnSpc>
                <a:spcPct val="110000"/>
              </a:lnSpc>
              <a:spcAft>
                <a:spcPts val="600"/>
              </a:spcAft>
            </a:pPr>
            <a:r>
              <a:rPr sz="1450" b="0">
                <a:solidFill>
                  <a:srgbClr val="1F2A3A"/>
                </a:solidFill>
                <a:latin typeface="맑은 고딕"/>
                <a:ea typeface="맑은 고딕"/>
                <a:cs typeface="맑은 고딕"/>
              </a:rPr>
              <a:t>• 고쳐 쓸 수 있다</a:t>
            </a:r>
          </a:p>
          <a:p>
            <a:pPr algn="l">
              <a:lnSpc>
                <a:spcPct val="110000"/>
              </a:lnSpc>
              <a:spcAft>
                <a:spcPts val="600"/>
              </a:spcAft>
            </a:pPr>
            <a:r>
              <a:rPr sz="1450" b="0">
                <a:solidFill>
                  <a:srgbClr val="1F2A3A"/>
                </a:solidFill>
                <a:latin typeface="맑은 고딕"/>
                <a:ea typeface="맑은 고딕"/>
                <a:cs typeface="맑은 고딕"/>
              </a:rPr>
              <a:t>• 예: 유온 센서</a:t>
            </a:r>
          </a:p>
        </p:txBody>
      </p:sp>
      <p:sp>
        <p:nvSpPr>
          <p:cNvPr id="18" name="Rounded Rectangle 17"/>
          <p:cNvSpPr/>
          <p:nvPr/>
        </p:nvSpPr>
        <p:spPr>
          <a:xfrm>
            <a:off x="6781647" y="5096002"/>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식별자의 규칙: 클래스를 드러내는 접두사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 온톨로지의 식별자는 앞에 붙은 접두사로 그 대상의 클래스를 드러낸다.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설비와 구성 요소</a:t>
            </a:r>
          </a:p>
          <a:p>
            <a:pPr algn="l">
              <a:lnSpc>
                <a:spcPct val="110000"/>
              </a:lnSpc>
              <a:spcAft>
                <a:spcPts val="400"/>
              </a:spcAft>
            </a:pPr>
            <a:r>
              <a:rPr sz="1350" b="0">
                <a:solidFill>
                  <a:srgbClr val="1F2A3A"/>
                </a:solidFill>
                <a:latin typeface="맑은 고딕"/>
                <a:ea typeface="맑은 고딕"/>
                <a:cs typeface="맑은 고딕"/>
              </a:rPr>
              <a:t>• asset:hyd-01</a:t>
            </a:r>
          </a:p>
          <a:p>
            <a:pPr algn="l">
              <a:lnSpc>
                <a:spcPct val="110000"/>
              </a:lnSpc>
              <a:spcAft>
                <a:spcPts val="400"/>
              </a:spcAft>
            </a:pPr>
            <a:r>
              <a:rPr sz="1350" b="0">
                <a:solidFill>
                  <a:srgbClr val="1F2A3A"/>
                </a:solidFill>
                <a:latin typeface="맑은 고딕"/>
                <a:ea typeface="맑은 고딕"/>
                <a:cs typeface="맑은 고딕"/>
              </a:rPr>
              <a:t>• comp:cooler</a:t>
            </a:r>
          </a:p>
        </p:txBody>
      </p:sp>
      <p:sp>
        <p:nvSpPr>
          <p:cNvPr id="10" name="Rounded Rectangle 9"/>
          <p:cNvSpPr/>
          <p:nvPr/>
        </p:nvSpPr>
        <p:spPr>
          <a:xfrm>
            <a:off x="777240" y="5029771"/>
            <a:ext cx="148132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14813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asset: · comp:</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gauge" descr="gauge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센서와 상태 변수</a:t>
            </a:r>
          </a:p>
          <a:p>
            <a:pPr algn="l">
              <a:lnSpc>
                <a:spcPct val="110000"/>
              </a:lnSpc>
              <a:spcAft>
                <a:spcPts val="400"/>
              </a:spcAft>
            </a:pPr>
            <a:r>
              <a:rPr sz="1350" b="0">
                <a:solidFill>
                  <a:srgbClr val="1F2A3A"/>
                </a:solidFill>
                <a:latin typeface="맑은 고딕"/>
                <a:ea typeface="맑은 고딕"/>
                <a:cs typeface="맑은 고딕"/>
              </a:rPr>
              <a:t>• sen:ts1</a:t>
            </a:r>
          </a:p>
          <a:p>
            <a:pPr algn="l">
              <a:lnSpc>
                <a:spcPct val="110000"/>
              </a:lnSpc>
              <a:spcAft>
                <a:spcPts val="400"/>
              </a:spcAft>
            </a:pPr>
            <a:r>
              <a:rPr sz="1350" b="0">
                <a:solidFill>
                  <a:srgbClr val="1F2A3A"/>
                </a:solidFill>
                <a:latin typeface="맑은 고딕"/>
                <a:ea typeface="맑은 고딕"/>
                <a:cs typeface="맑은 고딕"/>
              </a:rPr>
              <a:t>• sv:ts1</a:t>
            </a:r>
          </a:p>
        </p:txBody>
      </p:sp>
      <p:sp>
        <p:nvSpPr>
          <p:cNvPr id="16" name="Rounded Rectangle 15"/>
          <p:cNvSpPr/>
          <p:nvPr/>
        </p:nvSpPr>
        <p:spPr>
          <a:xfrm>
            <a:off x="3619423" y="5029771"/>
            <a:ext cx="116433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116433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sen: · sv:</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부품과 공급사</a:t>
            </a:r>
          </a:p>
          <a:p>
            <a:pPr algn="l">
              <a:lnSpc>
                <a:spcPct val="110000"/>
              </a:lnSpc>
              <a:spcAft>
                <a:spcPts val="400"/>
              </a:spcAft>
            </a:pPr>
            <a:r>
              <a:rPr sz="1350" b="0">
                <a:solidFill>
                  <a:srgbClr val="1F2A3A"/>
                </a:solidFill>
                <a:latin typeface="맑은 고딕"/>
                <a:ea typeface="맑은 고딕"/>
                <a:cs typeface="맑은 고딕"/>
              </a:rPr>
              <a:t>• part:cooler-core</a:t>
            </a:r>
          </a:p>
          <a:p>
            <a:pPr algn="l">
              <a:lnSpc>
                <a:spcPct val="110000"/>
              </a:lnSpc>
              <a:spcAft>
                <a:spcPts val="400"/>
              </a:spcAft>
            </a:pPr>
            <a:r>
              <a:rPr sz="1350" b="0">
                <a:solidFill>
                  <a:srgbClr val="1F2A3A"/>
                </a:solidFill>
                <a:latin typeface="맑은 고딕"/>
                <a:ea typeface="맑은 고딕"/>
                <a:cs typeface="맑은 고딕"/>
              </a:rPr>
              <a:t>• sup:a</a:t>
            </a:r>
          </a:p>
        </p:txBody>
      </p:sp>
      <p:sp>
        <p:nvSpPr>
          <p:cNvPr id="22" name="Rounded Rectangle 21"/>
          <p:cNvSpPr/>
          <p:nvPr/>
        </p:nvSpPr>
        <p:spPr>
          <a:xfrm>
            <a:off x="6461607" y="5029771"/>
            <a:ext cx="1322832"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13228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part: · sup:</a:t>
            </a:r>
          </a:p>
        </p:txBody>
      </p:sp>
      <p:sp>
        <p:nvSpPr>
          <p:cNvPr id="24" name="Rounded Rectangle 23"/>
          <p:cNvSpPr/>
          <p:nvPr/>
        </p:nvSpPr>
        <p:spPr>
          <a:xfrm>
            <a:off x="9075191"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E7F3FD"/>
          </a:solidFill>
          <a:ln>
            <a:noFill/>
          </a:ln>
        </p:spPr>
        <p:txBody>
          <a:bodyPr rtlCol="0" anchor="ctr"/>
          <a:lstStyle/>
          <a:p>
            <a:pPr algn="ctr"/>
          </a:p>
        </p:txBody>
      </p:sp>
      <p:pic>
        <p:nvPicPr>
          <p:cNvPr id="26" name="아이콘:bell" descr="bell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이상 패턴과 증상</a:t>
            </a:r>
          </a:p>
          <a:p>
            <a:pPr algn="l">
              <a:lnSpc>
                <a:spcPct val="110000"/>
              </a:lnSpc>
              <a:spcAft>
                <a:spcPts val="400"/>
              </a:spcAft>
            </a:pPr>
            <a:r>
              <a:rPr sz="1350" b="0">
                <a:solidFill>
                  <a:srgbClr val="1F2A3A"/>
                </a:solidFill>
                <a:latin typeface="맑은 고딕"/>
                <a:ea typeface="맑은 고딕"/>
                <a:cs typeface="맑은 고딕"/>
              </a:rPr>
              <a:t>• pattern:cooler-degradation</a:t>
            </a:r>
          </a:p>
          <a:p>
            <a:pPr algn="l">
              <a:lnSpc>
                <a:spcPct val="110000"/>
              </a:lnSpc>
              <a:spcAft>
                <a:spcPts val="400"/>
              </a:spcAft>
            </a:pPr>
            <a:r>
              <a:rPr sz="1350" b="0">
                <a:solidFill>
                  <a:srgbClr val="1F2A3A"/>
                </a:solidFill>
                <a:latin typeface="맑은 고딕"/>
                <a:ea typeface="맑은 고딕"/>
                <a:cs typeface="맑은 고딕"/>
              </a:rPr>
              <a:t>• sym:ts1-rise</a:t>
            </a:r>
          </a:p>
        </p:txBody>
      </p:sp>
      <p:sp>
        <p:nvSpPr>
          <p:cNvPr id="28" name="Rounded Rectangle 27"/>
          <p:cNvSpPr/>
          <p:nvPr/>
        </p:nvSpPr>
        <p:spPr>
          <a:xfrm>
            <a:off x="9303791" y="5029771"/>
            <a:ext cx="1560576"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029771"/>
            <a:ext cx="156057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pattern: · sym:</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별칭: 다른 이름으로 같은 대상 찾기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별칭은 같은 대상을 부르는 다른 이름의 목록이며, 질문에 쓰인 말로 대상을 찾는 데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질문의 말</a:t>
            </a:r>
          </a:p>
          <a:p>
            <a:pPr algn="ctr">
              <a:lnSpc>
                <a:spcPct val="110000"/>
              </a:lnSpc>
              <a:spcAft>
                <a:spcPts val="400"/>
              </a:spcAft>
            </a:pPr>
            <a:r>
              <a:rPr sz="1350" b="0">
                <a:solidFill>
                  <a:srgbClr val="1F2A3A"/>
                </a:solidFill>
                <a:latin typeface="맑은 고딕"/>
                <a:ea typeface="맑은 고딕"/>
                <a:cs typeface="맑은 고딕"/>
              </a:rPr>
              <a:t>「작동유 온도가</a:t>
            </a:r>
          </a:p>
          <a:p>
            <a:pPr algn="ctr">
              <a:lnSpc>
                <a:spcPct val="110000"/>
              </a:lnSpc>
              <a:spcAft>
                <a:spcPts val="400"/>
              </a:spcAft>
            </a:pPr>
            <a:r>
              <a:rPr sz="1350" b="0">
                <a:solidFill>
                  <a:srgbClr val="1F2A3A"/>
                </a:solidFill>
                <a:latin typeface="맑은 고딕"/>
                <a:ea typeface="맑은 고딕"/>
                <a:cs typeface="맑은 고딕"/>
              </a:rPr>
              <a:t>얼마인가」</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list-search" descr="list-search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별칭과 대조</a:t>
            </a:r>
          </a:p>
          <a:p>
            <a:pPr algn="ctr">
              <a:lnSpc>
                <a:spcPct val="110000"/>
              </a:lnSpc>
              <a:spcAft>
                <a:spcPts val="400"/>
              </a:spcAft>
            </a:pPr>
            <a:r>
              <a:rPr sz="1350" b="0">
                <a:solidFill>
                  <a:srgbClr val="1F2A3A"/>
                </a:solidFill>
                <a:latin typeface="맑은 고딕"/>
                <a:ea typeface="맑은 고딕"/>
                <a:cs typeface="맑은 고딕"/>
              </a:rPr>
              <a:t>aliases:</a:t>
            </a:r>
          </a:p>
          <a:p>
            <a:pPr algn="ctr">
              <a:lnSpc>
                <a:spcPct val="110000"/>
              </a:lnSpc>
              <a:spcAft>
                <a:spcPts val="400"/>
              </a:spcAft>
            </a:pPr>
            <a:r>
              <a:rPr sz="1350" b="0">
                <a:solidFill>
                  <a:srgbClr val="1F2A3A"/>
                </a:solidFill>
                <a:latin typeface="맑은 고딕"/>
                <a:ea typeface="맑은 고딕"/>
                <a:cs typeface="맑은 고딕"/>
              </a:rPr>
              <a:t>오일 온도,</a:t>
            </a:r>
          </a:p>
          <a:p>
            <a:pPr algn="ctr">
              <a:lnSpc>
                <a:spcPct val="110000"/>
              </a:lnSpc>
              <a:spcAft>
                <a:spcPts val="400"/>
              </a:spcAft>
            </a:pPr>
            <a:r>
              <a:rPr sz="1350" b="0">
                <a:solidFill>
                  <a:srgbClr val="1F2A3A"/>
                </a:solidFill>
                <a:latin typeface="맑은 고딕"/>
                <a:ea typeface="맑은 고딕"/>
                <a:cs typeface="맑은 고딕"/>
              </a:rPr>
              <a:t>작동유 온도, TS1</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target" descr="target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찾은 대상</a:t>
            </a:r>
          </a:p>
          <a:p>
            <a:pPr algn="ctr">
              <a:lnSpc>
                <a:spcPct val="110000"/>
              </a:lnSpc>
              <a:spcAft>
                <a:spcPts val="400"/>
              </a:spcAft>
            </a:pPr>
            <a:r>
              <a:rPr sz="1350" b="0">
                <a:solidFill>
                  <a:srgbClr val="1F2A3A"/>
                </a:solidFill>
                <a:latin typeface="맑은 고딕"/>
                <a:ea typeface="맑은 고딕"/>
                <a:cs typeface="맑은 고딕"/>
              </a:rPr>
              <a:t>sv:ts1</a:t>
            </a:r>
          </a:p>
          <a:p>
            <a:pPr algn="ctr">
              <a:lnSpc>
                <a:spcPct val="110000"/>
              </a:lnSpc>
              <a:spcAft>
                <a:spcPts val="400"/>
              </a:spcAft>
            </a:pPr>
            <a:r>
              <a:rPr sz="1350" b="0">
                <a:solidFill>
                  <a:srgbClr val="1F2A3A"/>
                </a:solidFill>
                <a:latin typeface="맑은 고딕"/>
                <a:ea typeface="맑은 고딕"/>
                <a:cs typeface="맑은 고딕"/>
              </a:rPr>
              <a:t>유온</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공통 식별자 ①: 지식 그래프와 시계열 DB</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그래프와 시계열 DB가 같은 식별자 값을 써서, 센서의 지식과 그 센서의 계측값이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pic>
        <p:nvPicPr>
          <p:cNvPr id="6" name="삽화:공통식별자_1.svg" descr="illust_582642062406849746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677613" y="2762219"/>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공통 식별자</a:t>
            </a:r>
          </a:p>
          <a:p>
            <a:pPr algn="ctr">
              <a:lnSpc>
                <a:spcPct val="110000"/>
              </a:lnSpc>
              <a:spcAft>
                <a:spcPts val="100"/>
              </a:spcAft>
            </a:pPr>
            <a:r>
              <a:rPr sz="1300" b="0">
                <a:solidFill>
                  <a:srgbClr val="556175"/>
                </a:solidFill>
                <a:latin typeface="맑은 고딕"/>
                <a:ea typeface="맑은 고딕"/>
                <a:cs typeface="맑은 고딕"/>
              </a:rPr>
              <a:t>같은 값이 같은 대상을 뜻한다</a:t>
            </a:r>
          </a:p>
        </p:txBody>
      </p:sp>
      <p:sp>
        <p:nvSpPr>
          <p:cNvPr id="8" name="TextBox 7"/>
          <p:cNvSpPr txBox="1"/>
          <p:nvPr/>
        </p:nvSpPr>
        <p:spPr>
          <a:xfrm>
            <a:off x="5277635" y="375498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 · TS1</a:t>
            </a:r>
          </a:p>
        </p:txBody>
      </p:sp>
      <p:sp>
        <p:nvSpPr>
          <p:cNvPr id="9" name="TextBox 8"/>
          <p:cNvSpPr txBox="1"/>
          <p:nvPr/>
        </p:nvSpPr>
        <p:spPr>
          <a:xfrm>
            <a:off x="968384" y="4010265"/>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a:p>
            <a:pPr algn="ctr">
              <a:lnSpc>
                <a:spcPct val="110000"/>
              </a:lnSpc>
              <a:spcAft>
                <a:spcPts val="100"/>
              </a:spcAft>
            </a:pPr>
            <a:r>
              <a:rPr sz="1300" b="0">
                <a:solidFill>
                  <a:srgbClr val="556175"/>
                </a:solidFill>
                <a:latin typeface="맑은 고딕"/>
                <a:ea typeface="맑은 고딕"/>
                <a:cs typeface="맑은 고딕"/>
              </a:rPr>
              <a:t>설비의 code: HYD-01</a:t>
            </a:r>
          </a:p>
          <a:p>
            <a:pPr algn="ctr">
              <a:lnSpc>
                <a:spcPct val="110000"/>
              </a:lnSpc>
              <a:spcAft>
                <a:spcPts val="100"/>
              </a:spcAft>
            </a:pPr>
            <a:r>
              <a:rPr sz="1300" b="0">
                <a:solidFill>
                  <a:srgbClr val="556175"/>
                </a:solidFill>
                <a:latin typeface="맑은 고딕"/>
                <a:ea typeface="맑은 고딕"/>
                <a:cs typeface="맑은 고딕"/>
              </a:rPr>
              <a:t>센서의 tag: TS1</a:t>
            </a:r>
          </a:p>
        </p:txBody>
      </p:sp>
      <p:sp>
        <p:nvSpPr>
          <p:cNvPr id="10" name="TextBox 9"/>
          <p:cNvSpPr txBox="1"/>
          <p:nvPr/>
        </p:nvSpPr>
        <p:spPr>
          <a:xfrm>
            <a:off x="8408660" y="311677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DB의 표 tag_1s</a:t>
            </a:r>
          </a:p>
          <a:p>
            <a:pPr algn="ctr">
              <a:lnSpc>
                <a:spcPct val="110000"/>
              </a:lnSpc>
              <a:spcAft>
                <a:spcPts val="100"/>
              </a:spcAft>
            </a:pPr>
            <a:r>
              <a:rPr sz="1300" b="0">
                <a:solidFill>
                  <a:srgbClr val="556175"/>
                </a:solidFill>
                <a:latin typeface="맑은 고딕"/>
                <a:ea typeface="맑은 고딕"/>
                <a:cs typeface="맑은 고딕"/>
              </a:rPr>
              <a:t>asset 열: HYD-01</a:t>
            </a:r>
          </a:p>
          <a:p>
            <a:pPr algn="ctr">
              <a:lnSpc>
                <a:spcPct val="110000"/>
              </a:lnSpc>
              <a:spcAft>
                <a:spcPts val="100"/>
              </a:spcAft>
            </a:pPr>
            <a:r>
              <a:rPr sz="1300" b="0">
                <a:solidFill>
                  <a:srgbClr val="556175"/>
                </a:solidFill>
                <a:latin typeface="맑은 고딕"/>
                <a:ea typeface="맑은 고딕"/>
                <a:cs typeface="맑은 고딕"/>
              </a:rPr>
              <a:t>name 열: TS1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공통 식별자 ②: 업무 DB</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 DB도 설비를 같은 code 값으로 적으므로 세 저장소의 데이터가 같은 설비로 모인다.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pic>
        <p:nvPicPr>
          <p:cNvPr id="6" name="삽화:공통식별자_2.svg" descr="illust_185303754873139378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677613" y="295131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공통 식별자</a:t>
            </a:r>
          </a:p>
        </p:txBody>
      </p:sp>
      <p:sp>
        <p:nvSpPr>
          <p:cNvPr id="8" name="TextBox 7"/>
          <p:cNvSpPr txBox="1"/>
          <p:nvPr/>
        </p:nvSpPr>
        <p:spPr>
          <a:xfrm>
            <a:off x="5277635" y="375498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 · TS1</a:t>
            </a:r>
          </a:p>
        </p:txBody>
      </p:sp>
      <p:sp>
        <p:nvSpPr>
          <p:cNvPr id="9" name="TextBox 8"/>
          <p:cNvSpPr txBox="1"/>
          <p:nvPr/>
        </p:nvSpPr>
        <p:spPr>
          <a:xfrm>
            <a:off x="968384" y="4010265"/>
            <a:ext cx="261827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p:txBody>
      </p:sp>
      <p:sp>
        <p:nvSpPr>
          <p:cNvPr id="10" name="TextBox 9"/>
          <p:cNvSpPr txBox="1"/>
          <p:nvPr/>
        </p:nvSpPr>
        <p:spPr>
          <a:xfrm>
            <a:off x="8408660" y="3116778"/>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DB의 표 tag_1s</a:t>
            </a:r>
          </a:p>
        </p:txBody>
      </p:sp>
      <p:sp>
        <p:nvSpPr>
          <p:cNvPr id="11" name="TextBox 10"/>
          <p:cNvSpPr txBox="1"/>
          <p:nvPr/>
        </p:nvSpPr>
        <p:spPr>
          <a:xfrm>
            <a:off x="8517755" y="5480502"/>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업무 DB의 설비 표</a:t>
            </a:r>
          </a:p>
          <a:p>
            <a:pPr algn="ctr">
              <a:lnSpc>
                <a:spcPct val="110000"/>
              </a:lnSpc>
              <a:spcAft>
                <a:spcPts val="100"/>
              </a:spcAft>
            </a:pPr>
            <a:r>
              <a:rPr sz="1300" b="0">
                <a:solidFill>
                  <a:srgbClr val="556175"/>
                </a:solidFill>
                <a:latin typeface="맑은 고딕"/>
                <a:ea typeface="맑은 고딕"/>
                <a:cs typeface="맑은 고딕"/>
              </a:rPr>
              <a:t>code 열: HYD-01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정의: 이름, 양 끝의 클래스, 카디널리티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정의에는 관계의 이름, 시작 클래스와 끝 클래스, 카디널리티를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"type": "OBSERVES",</a:t>
            </a:r>
          </a:p>
          <a:p>
            <a:pPr algn="l">
              <a:lnSpc>
                <a:spcPct val="110000"/>
              </a:lnSpc>
              <a:spcAft>
                <a:spcPts val="200"/>
              </a:spcAft>
            </a:pPr>
            <a:r>
              <a:rPr sz="1300" b="0">
                <a:solidFill>
                  <a:srgbClr val="E8EEF6"/>
                </a:solidFill>
                <a:latin typeface="Consolas"/>
                <a:ea typeface="맑은 고딕"/>
                <a:cs typeface="맑은 고딕"/>
              </a:rPr>
              <a:t>  "from": ["Sensor"],</a:t>
            </a:r>
          </a:p>
          <a:p>
            <a:pPr algn="l">
              <a:lnSpc>
                <a:spcPct val="110000"/>
              </a:lnSpc>
              <a:spcAft>
                <a:spcPts val="200"/>
              </a:spcAft>
            </a:pPr>
            <a:r>
              <a:rPr sz="1300" b="0">
                <a:solidFill>
                  <a:srgbClr val="E8EEF6"/>
                </a:solidFill>
                <a:latin typeface="Consolas"/>
                <a:ea typeface="맑은 고딕"/>
                <a:cs typeface="맑은 고딕"/>
              </a:rPr>
              <a:t>  "to": ["StateVariable"],</a:t>
            </a:r>
          </a:p>
          <a:p>
            <a:pPr algn="l">
              <a:lnSpc>
                <a:spcPct val="110000"/>
              </a:lnSpc>
              <a:spcAft>
                <a:spcPts val="200"/>
              </a:spcAft>
            </a:pPr>
            <a:r>
              <a:rPr sz="1300" b="0">
                <a:solidFill>
                  <a:srgbClr val="E8EEF6"/>
                </a:solidFill>
                <a:latin typeface="Consolas"/>
                <a:ea typeface="맑은 고딕"/>
                <a:cs typeface="맑은 고딕"/>
              </a:rPr>
              <a:t>  "cardinality": "N:1",</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type</a:t>
            </a:r>
          </a:p>
          <a:p>
            <a:pPr algn="l">
              <a:lnSpc>
                <a:spcPct val="110000"/>
              </a:lnSpc>
              <a:spcAft>
                <a:spcPts val="400"/>
              </a:spcAft>
            </a:pPr>
            <a:r>
              <a:rPr sz="1400" b="0">
                <a:solidFill>
                  <a:srgbClr val="1F2A3A"/>
                </a:solidFill>
                <a:latin typeface="맑은 고딕"/>
                <a:ea typeface="맑은 고딕"/>
                <a:cs typeface="맑은 고딕"/>
              </a:rPr>
              <a:t>관계의 이름이다.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from · to</a:t>
            </a:r>
          </a:p>
          <a:p>
            <a:pPr algn="l">
              <a:lnSpc>
                <a:spcPct val="110000"/>
              </a:lnSpc>
              <a:spcAft>
                <a:spcPts val="400"/>
              </a:spcAft>
            </a:pPr>
            <a:r>
              <a:rPr sz="1400" b="0">
                <a:solidFill>
                  <a:srgbClr val="1F2A3A"/>
                </a:solidFill>
                <a:latin typeface="맑은 고딕"/>
                <a:ea typeface="맑은 고딕"/>
                <a:cs typeface="맑은 고딕"/>
              </a:rPr>
              <a:t>시작 클래스와 끝 클래스이다. 화살표는 from에서 to로 향한다.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cardinality</a:t>
            </a:r>
          </a:p>
          <a:p>
            <a:pPr algn="l">
              <a:lnSpc>
                <a:spcPct val="110000"/>
              </a:lnSpc>
              <a:spcAft>
                <a:spcPts val="400"/>
              </a:spcAft>
            </a:pPr>
            <a:r>
              <a:rPr sz="1400" b="0">
                <a:solidFill>
                  <a:srgbClr val="1F2A3A"/>
                </a:solidFill>
                <a:latin typeface="맑은 고딕"/>
                <a:ea typeface="맑은 고딕"/>
                <a:cs typeface="맑은 고딕"/>
              </a:rPr>
              <a:t>양쪽에 몇 개가 이어질 수 있는가이다.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유효한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양 끝의 인스턴스가 정의의 시작 클래스와 끝 클래스에 속하는 연결이 유효한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pic>
        <p:nvPicPr>
          <p:cNvPr id="6" name="삽화:연결조건_1.svg" descr="illust_765885026992555917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62985" y="1674906"/>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정의: OBSERVES</a:t>
            </a:r>
          </a:p>
          <a:p>
            <a:pPr algn="ctr">
              <a:lnSpc>
                <a:spcPct val="110000"/>
              </a:lnSpc>
              <a:spcAft>
                <a:spcPts val="100"/>
              </a:spcAft>
            </a:pPr>
            <a:r>
              <a:rPr sz="1300" b="0">
                <a:solidFill>
                  <a:srgbClr val="556175"/>
                </a:solidFill>
                <a:latin typeface="맑은 고딕"/>
                <a:ea typeface="맑은 고딕"/>
                <a:cs typeface="맑은 고딕"/>
              </a:rPr>
              <a:t>시작 클래스 Sensor → 끝 클래스 StateVariable</a:t>
            </a:r>
          </a:p>
        </p:txBody>
      </p:sp>
      <p:sp>
        <p:nvSpPr>
          <p:cNvPr id="8" name="TextBox 7"/>
          <p:cNvSpPr txBox="1"/>
          <p:nvPr/>
        </p:nvSpPr>
        <p:spPr>
          <a:xfrm>
            <a:off x="4426694" y="27149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2495714"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0" name="TextBox 9"/>
          <p:cNvSpPr txBox="1"/>
          <p:nvPr/>
        </p:nvSpPr>
        <p:spPr>
          <a:xfrm>
            <a:off x="6128576"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StateVariable</a:t>
            </a:r>
          </a:p>
        </p:txBody>
      </p:sp>
      <p:sp>
        <p:nvSpPr>
          <p:cNvPr id="11" name="TextBox 10"/>
          <p:cNvSpPr txBox="1"/>
          <p:nvPr/>
        </p:nvSpPr>
        <p:spPr>
          <a:xfrm>
            <a:off x="9368696" y="276221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유효한 연결</a:t>
            </a:r>
          </a:p>
          <a:p>
            <a:pPr algn="ctr">
              <a:lnSpc>
                <a:spcPct val="110000"/>
              </a:lnSpc>
              <a:spcAft>
                <a:spcPts val="100"/>
              </a:spcAft>
            </a:pPr>
            <a:r>
              <a:rPr sz="1300" b="0">
                <a:solidFill>
                  <a:srgbClr val="556175"/>
                </a:solidFill>
                <a:latin typeface="맑은 고딕"/>
                <a:ea typeface="맑은 고딕"/>
                <a:cs typeface="맑은 고딕"/>
              </a:rPr>
              <a:t>양 끝의 클래스가</a:t>
            </a:r>
          </a:p>
          <a:p>
            <a:pPr algn="ctr">
              <a:lnSpc>
                <a:spcPct val="110000"/>
              </a:lnSpc>
              <a:spcAft>
                <a:spcPts val="100"/>
              </a:spcAft>
            </a:pPr>
            <a:r>
              <a:rPr sz="1300" b="0">
                <a:solidFill>
                  <a:srgbClr val="556175"/>
                </a:solidFill>
                <a:latin typeface="맑은 고딕"/>
                <a:ea typeface="맑은 고딕"/>
                <a:cs typeface="맑은 고딕"/>
              </a:rPr>
              <a:t>정의와 같다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유효하지 않은 연결: 끝 클래스가 다른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끝에 있는 인스턴스가 정의의 끝 클래스에 속하지 않으면 그 연결은 스키마에 어긋난다.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pic>
        <p:nvPicPr>
          <p:cNvPr id="6" name="삽화:연결조건_2.svg" descr="illust_586038472844313351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62985" y="1674906"/>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정의: OBSERVES</a:t>
            </a:r>
          </a:p>
          <a:p>
            <a:pPr algn="ctr">
              <a:lnSpc>
                <a:spcPct val="110000"/>
              </a:lnSpc>
              <a:spcAft>
                <a:spcPts val="100"/>
              </a:spcAft>
            </a:pPr>
            <a:r>
              <a:rPr sz="1300" b="0">
                <a:solidFill>
                  <a:srgbClr val="556175"/>
                </a:solidFill>
                <a:latin typeface="맑은 고딕"/>
                <a:ea typeface="맑은 고딕"/>
                <a:cs typeface="맑은 고딕"/>
              </a:rPr>
              <a:t>시작 클래스 Sensor → 끝 클래스 StateVariable</a:t>
            </a:r>
          </a:p>
        </p:txBody>
      </p:sp>
      <p:sp>
        <p:nvSpPr>
          <p:cNvPr id="8" name="TextBox 7"/>
          <p:cNvSpPr txBox="1"/>
          <p:nvPr/>
        </p:nvSpPr>
        <p:spPr>
          <a:xfrm>
            <a:off x="2495714" y="377862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9" name="TextBox 8"/>
          <p:cNvSpPr txBox="1"/>
          <p:nvPr/>
        </p:nvSpPr>
        <p:spPr>
          <a:xfrm>
            <a:off x="6128576" y="377862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10" name="TextBox 9"/>
          <p:cNvSpPr txBox="1"/>
          <p:nvPr/>
        </p:nvSpPr>
        <p:spPr>
          <a:xfrm>
            <a:off x="4426694" y="4771384"/>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1" name="TextBox 10"/>
          <p:cNvSpPr txBox="1"/>
          <p:nvPr/>
        </p:nvSpPr>
        <p:spPr>
          <a:xfrm>
            <a:off x="2495714"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2" name="TextBox 11"/>
          <p:cNvSpPr txBox="1"/>
          <p:nvPr/>
        </p:nvSpPr>
        <p:spPr>
          <a:xfrm>
            <a:off x="6128576"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a:p>
            <a:pPr algn="ctr">
              <a:lnSpc>
                <a:spcPct val="110000"/>
              </a:lnSpc>
              <a:spcAft>
                <a:spcPts val="100"/>
              </a:spcAft>
            </a:pPr>
            <a:r>
              <a:rPr sz="1300" b="0">
                <a:solidFill>
                  <a:srgbClr val="556175"/>
                </a:solidFill>
                <a:latin typeface="맑은 고딕"/>
                <a:ea typeface="맑은 고딕"/>
                <a:cs typeface="맑은 고딕"/>
              </a:rPr>
              <a:t>Asset</a:t>
            </a:r>
          </a:p>
        </p:txBody>
      </p:sp>
      <p:sp>
        <p:nvSpPr>
          <p:cNvPr id="13" name="TextBox 12"/>
          <p:cNvSpPr txBox="1"/>
          <p:nvPr/>
        </p:nvSpPr>
        <p:spPr>
          <a:xfrm>
            <a:off x="9368696" y="481865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유효하지 않은 연결</a:t>
            </a:r>
          </a:p>
          <a:p>
            <a:pPr algn="ctr">
              <a:lnSpc>
                <a:spcPct val="110000"/>
              </a:lnSpc>
              <a:spcAft>
                <a:spcPts val="100"/>
              </a:spcAft>
            </a:pPr>
            <a:r>
              <a:rPr sz="1300" b="0">
                <a:solidFill>
                  <a:srgbClr val="556175"/>
                </a:solidFill>
                <a:latin typeface="맑은 고딕"/>
                <a:ea typeface="맑은 고딕"/>
                <a:cs typeface="맑은 고딕"/>
              </a:rPr>
              <a:t>끝 클래스가</a:t>
            </a:r>
          </a:p>
          <a:p>
            <a:pPr algn="ctr">
              <a:lnSpc>
                <a:spcPct val="110000"/>
              </a:lnSpc>
              <a:spcAft>
                <a:spcPts val="100"/>
              </a:spcAft>
            </a:pPr>
            <a:r>
              <a:rPr sz="1300" b="0">
                <a:solidFill>
                  <a:srgbClr val="556175"/>
                </a:solidFill>
                <a:latin typeface="맑은 고딕"/>
                <a:ea typeface="맑은 고딕"/>
                <a:cs typeface="맑은 고딕"/>
              </a:rPr>
              <a:t>정의와 다르다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유효하지 않은 연결의 다른 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방향이 뒤집힌 연결과 스키마에 없는 이름의 관계도 스키마에 어긋난다.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arrows-exchange" descr="arrows-exchang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방향이 뒤집힌 연결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 → 유온 센서: OBSERVES</a:t>
            </a:r>
          </a:p>
          <a:p>
            <a:pPr algn="l">
              <a:lnSpc>
                <a:spcPct val="110000"/>
              </a:lnSpc>
              <a:spcAft>
                <a:spcPts val="600"/>
              </a:spcAft>
            </a:pPr>
            <a:r>
              <a:rPr sz="1450" b="0">
                <a:solidFill>
                  <a:srgbClr val="1F2A3A"/>
                </a:solidFill>
                <a:latin typeface="맑은 고딕"/>
                <a:ea typeface="맑은 고딕"/>
                <a:cs typeface="맑은 고딕"/>
              </a:rPr>
              <a:t>• 시작이 상태 변수이고 끝이 센서이다</a:t>
            </a:r>
          </a:p>
          <a:p>
            <a:pPr algn="l">
              <a:lnSpc>
                <a:spcPct val="110000"/>
              </a:lnSpc>
              <a:spcAft>
                <a:spcPts val="600"/>
              </a:spcAft>
            </a:pPr>
            <a:r>
              <a:rPr sz="1450" b="0">
                <a:solidFill>
                  <a:srgbClr val="1F2A3A"/>
                </a:solidFill>
                <a:latin typeface="맑은 고딕"/>
                <a:ea typeface="맑은 고딕"/>
                <a:cs typeface="맑은 고딕"/>
              </a:rPr>
              <a:t>• 정의는 센서에서 상태 변수로 향한다</a:t>
            </a:r>
          </a:p>
        </p:txBody>
      </p:sp>
      <p:sp>
        <p:nvSpPr>
          <p:cNvPr id="11" name="Rounded Rectangle 10"/>
          <p:cNvSpPr/>
          <p:nvPr/>
        </p:nvSpPr>
        <p:spPr>
          <a:xfrm>
            <a:off x="868680" y="4945570"/>
            <a:ext cx="18288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시작과 끝이 바뀌었다</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question-mark" descr="question-mar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정의에 없는 관계</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 센서 → 유온: WATCHES</a:t>
            </a:r>
          </a:p>
          <a:p>
            <a:pPr algn="l">
              <a:lnSpc>
                <a:spcPct val="110000"/>
              </a:lnSpc>
              <a:spcAft>
                <a:spcPts val="600"/>
              </a:spcAft>
            </a:pPr>
            <a:r>
              <a:rPr sz="1450" b="0">
                <a:solidFill>
                  <a:srgbClr val="1F2A3A"/>
                </a:solidFill>
                <a:latin typeface="맑은 고딕"/>
                <a:ea typeface="맑은 고딕"/>
                <a:cs typeface="맑은 고딕"/>
              </a:rPr>
              <a:t>• 스키마에 WATCHES라는 관계가 없다</a:t>
            </a:r>
          </a:p>
          <a:p>
            <a:pPr algn="l">
              <a:lnSpc>
                <a:spcPct val="110000"/>
              </a:lnSpc>
              <a:spcAft>
                <a:spcPts val="600"/>
              </a:spcAft>
            </a:pPr>
            <a:r>
              <a:rPr sz="1450" b="0">
                <a:solidFill>
                  <a:srgbClr val="1F2A3A"/>
                </a:solidFill>
                <a:latin typeface="맑은 고딕"/>
                <a:ea typeface="맑은 고딕"/>
                <a:cs typeface="맑은 고딕"/>
              </a:rPr>
              <a:t>• 정의된 이름은 OBSERVES이다</a:t>
            </a:r>
          </a:p>
        </p:txBody>
      </p:sp>
      <p:sp>
        <p:nvSpPr>
          <p:cNvPr id="18" name="Rounded Rectangle 17"/>
          <p:cNvSpPr/>
          <p:nvPr/>
        </p:nvSpPr>
        <p:spPr>
          <a:xfrm>
            <a:off x="6781647" y="4945570"/>
            <a:ext cx="132587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이름이 다르다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제약: 스키마가 정하는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인스턴스 데이터가 지켜야 하는 조건을 </a:t>
            </a:r>
            <a:r>
              <a:rPr sz="1600" b="1">
                <a:solidFill>
                  <a:srgbClr val="1A6FC4"/>
                </a:solidFill>
                <a:latin typeface="맑은 고딕"/>
                <a:ea typeface="맑은 고딕"/>
                <a:cs typeface="맑은 고딕"/>
              </a:rPr>
              <a:t>제약</a:t>
            </a:r>
            <a:r>
              <a:rPr sz="1600" b="0">
                <a:solidFill>
                  <a:srgbClr val="556175"/>
                </a:solidFill>
                <a:latin typeface="맑은 고딕"/>
                <a:ea typeface="맑은 고딕"/>
                <a:cs typeface="맑은 고딕"/>
              </a:rPr>
              <a:t>이라고 하며, 지금까지 본 것이 모두 제약이다.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sterisk" descr="asteris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속성</a:t>
            </a:r>
          </a:p>
          <a:p>
            <a:pPr algn="l">
              <a:lnSpc>
                <a:spcPct val="110000"/>
              </a:lnSpc>
              <a:spcAft>
                <a:spcPts val="400"/>
              </a:spcAft>
            </a:pPr>
            <a:r>
              <a:rPr sz="1350" b="0">
                <a:solidFill>
                  <a:srgbClr val="1F2A3A"/>
                </a:solidFill>
                <a:latin typeface="맑은 고딕"/>
                <a:ea typeface="맑은 고딕"/>
                <a:cs typeface="맑은 고딕"/>
              </a:rPr>
              <a:t>센서에는 tag가 있어야 한다</a:t>
            </a:r>
          </a:p>
        </p:txBody>
      </p:sp>
      <p:sp>
        <p:nvSpPr>
          <p:cNvPr id="10" name="Rounded Rectangle 9"/>
          <p:cNvSpPr/>
          <p:nvPr/>
        </p:nvSpPr>
        <p:spPr>
          <a:xfrm>
            <a:off x="777240" y="5134356"/>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빠진 값</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hape" descr="shap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자료형</a:t>
            </a:r>
          </a:p>
          <a:p>
            <a:pPr algn="l">
              <a:lnSpc>
                <a:spcPct val="110000"/>
              </a:lnSpc>
              <a:spcAft>
                <a:spcPts val="400"/>
              </a:spcAft>
            </a:pPr>
            <a:r>
              <a:rPr sz="1350" b="0">
                <a:solidFill>
                  <a:srgbClr val="1F2A3A"/>
                </a:solidFill>
                <a:latin typeface="맑은 고딕"/>
                <a:ea typeface="맑은 고딕"/>
                <a:cs typeface="맑은 고딕"/>
              </a:rPr>
              <a:t>• 한계는 수이다</a:t>
            </a:r>
          </a:p>
          <a:p>
            <a:pPr algn="l">
              <a:lnSpc>
                <a:spcPct val="110000"/>
              </a:lnSpc>
              <a:spcAft>
                <a:spcPts val="400"/>
              </a:spcAft>
            </a:pPr>
            <a:r>
              <a:rPr sz="1350" b="0">
                <a:solidFill>
                  <a:srgbClr val="1F2A3A"/>
                </a:solidFill>
                <a:latin typeface="맑은 고딕"/>
                <a:ea typeface="맑은 고딕"/>
                <a:cs typeface="맑은 고딕"/>
              </a:rPr>
              <a:t>• kind는 세 값 가운데 하나이다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값의 형식</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고유한 식별자</a:t>
            </a:r>
          </a:p>
          <a:p>
            <a:pPr algn="l">
              <a:lnSpc>
                <a:spcPct val="110000"/>
              </a:lnSpc>
              <a:spcAft>
                <a:spcPts val="400"/>
              </a:spcAft>
            </a:pPr>
            <a:r>
              <a:rPr sz="1350" b="0">
                <a:solidFill>
                  <a:srgbClr val="1F2A3A"/>
                </a:solidFill>
                <a:latin typeface="맑은 고딕"/>
                <a:ea typeface="맑은 고딕"/>
                <a:cs typeface="맑은 고딕"/>
              </a:rPr>
              <a:t>같은 id가 둘 있을 수 없다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rrows-right" descr="arrows-righ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연결 조건</a:t>
            </a:r>
          </a:p>
          <a:p>
            <a:pPr algn="l">
              <a:lnSpc>
                <a:spcPct val="110000"/>
              </a:lnSpc>
              <a:spcAft>
                <a:spcPts val="400"/>
              </a:spcAft>
            </a:pPr>
            <a:r>
              <a:rPr sz="1350" b="0">
                <a:solidFill>
                  <a:srgbClr val="1F2A3A"/>
                </a:solidFill>
                <a:latin typeface="맑은 고딕"/>
                <a:ea typeface="맑은 고딕"/>
                <a:cs typeface="맑은 고딕"/>
              </a:rPr>
              <a:t>• OBSERVES는 센서에서 상태 변수로 잇는다</a:t>
            </a:r>
          </a:p>
          <a:p>
            <a:pPr algn="l">
              <a:lnSpc>
                <a:spcPct val="110000"/>
              </a:lnSpc>
              <a:spcAft>
                <a:spcPts val="400"/>
              </a:spcAft>
            </a:pPr>
            <a:r>
              <a:rPr sz="1350" b="0">
                <a:solidFill>
                  <a:srgbClr val="1F2A3A"/>
                </a:solidFill>
                <a:latin typeface="맑은 고딕"/>
                <a:ea typeface="맑은 고딕"/>
                <a:cs typeface="맑은 고딕"/>
              </a:rPr>
              <a:t>• 카디널리티는 다대일이다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양 끝과 개수</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스키마와 인스턴스 데이터가 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무엇이 있을 수 있는가를 담고, 인스턴스 데이터는 실제로 무엇이 있는가를 담는다.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ounded Rectangle 5"/>
          <p:cNvSpPr/>
          <p:nvPr/>
        </p:nvSpPr>
        <p:spPr>
          <a:xfrm>
            <a:off x="548640" y="2511552"/>
            <a:ext cx="5410047"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스키마</a:t>
            </a:r>
          </a:p>
          <a:p>
            <a:pPr algn="l">
              <a:lnSpc>
                <a:spcPct val="110000"/>
              </a:lnSpc>
              <a:spcAft>
                <a:spcPts val="400"/>
              </a:spcAft>
            </a:pPr>
            <a:r>
              <a:rPr sz="1400" b="0">
                <a:solidFill>
                  <a:srgbClr val="1F2A3A"/>
                </a:solidFill>
                <a:latin typeface="맑은 고딕"/>
                <a:ea typeface="맑은 고딕"/>
                <a:cs typeface="맑은 고딕"/>
              </a:rPr>
              <a:t>• 클래스, 속성, 관계의 정의만 담는다</a:t>
            </a:r>
          </a:p>
          <a:p>
            <a:pPr algn="l">
              <a:lnSpc>
                <a:spcPct val="110000"/>
              </a:lnSpc>
              <a:spcAft>
                <a:spcPts val="400"/>
              </a:spcAft>
            </a:pPr>
            <a:r>
              <a:rPr sz="1400" b="0">
                <a:solidFill>
                  <a:srgbClr val="1F2A3A"/>
                </a:solidFill>
                <a:latin typeface="맑은 고딕"/>
                <a:ea typeface="맑은 고딕"/>
                <a:cs typeface="맑은 고딕"/>
              </a:rPr>
              <a:t>• 실제 대상은 들어 있지 않다</a:t>
            </a:r>
          </a:p>
          <a:p>
            <a:pPr algn="l">
              <a:lnSpc>
                <a:spcPct val="110000"/>
              </a:lnSpc>
              <a:spcAft>
                <a:spcPts val="400"/>
              </a:spcAft>
            </a:pPr>
            <a:r>
              <a:rPr sz="1400" b="0">
                <a:solidFill>
                  <a:srgbClr val="1F2A3A"/>
                </a:solidFill>
                <a:latin typeface="맑은 고딕"/>
                <a:ea typeface="맑은 고딕"/>
                <a:cs typeface="맑은 고딕"/>
              </a:rPr>
              <a:t>• 「센서에는 tag가 있어야 한다」</a:t>
            </a:r>
          </a:p>
        </p:txBody>
      </p:sp>
      <p:sp>
        <p:nvSpPr>
          <p:cNvPr id="10" name="Rounded Rectangle 9"/>
          <p:cNvSpPr/>
          <p:nvPr/>
        </p:nvSpPr>
        <p:spPr>
          <a:xfrm>
            <a:off x="777240" y="5041392"/>
            <a:ext cx="14173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173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있을 수 있는 것</a:t>
            </a:r>
          </a:p>
        </p:txBody>
      </p:sp>
      <p:sp>
        <p:nvSpPr>
          <p:cNvPr id="12" name="Rounded Rectangle 11"/>
          <p:cNvSpPr/>
          <p:nvPr/>
        </p:nvSpPr>
        <p:spPr>
          <a:xfrm>
            <a:off x="6233007" y="2511552"/>
            <a:ext cx="5410047"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6461607" y="2712720"/>
            <a:ext cx="731520" cy="731520"/>
          </a:xfrm>
          <a:prstGeom prst="ellipse">
            <a:avLst/>
          </a:prstGeom>
          <a:solidFill>
            <a:srgbClr val="5CB8F2"/>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6615226" y="2866339"/>
            <a:ext cx="424281" cy="424281"/>
          </a:xfrm>
          <a:prstGeom prst="rect">
            <a:avLst/>
          </a:prstGeom>
        </p:spPr>
      </p:pic>
      <p:sp>
        <p:nvSpPr>
          <p:cNvPr id="15" name="TextBox 14"/>
          <p:cNvSpPr txBox="1"/>
          <p:nvPr/>
        </p:nvSpPr>
        <p:spPr>
          <a:xfrm>
            <a:off x="6397599"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인스턴스 데이터</a:t>
            </a:r>
          </a:p>
          <a:p>
            <a:pPr algn="l">
              <a:lnSpc>
                <a:spcPct val="110000"/>
              </a:lnSpc>
              <a:spcAft>
                <a:spcPts val="400"/>
              </a:spcAft>
            </a:pPr>
            <a:r>
              <a:rPr sz="1400" b="0">
                <a:solidFill>
                  <a:srgbClr val="1F2A3A"/>
                </a:solidFill>
                <a:latin typeface="맑은 고딕"/>
                <a:ea typeface="맑은 고딕"/>
                <a:cs typeface="맑은 고딕"/>
              </a:rPr>
              <a:t>• 정의에 따라 적은 실제 대상과 그 사이의 관계를 담는다</a:t>
            </a:r>
          </a:p>
          <a:p>
            <a:pPr algn="l">
              <a:lnSpc>
                <a:spcPct val="110000"/>
              </a:lnSpc>
              <a:spcAft>
                <a:spcPts val="400"/>
              </a:spcAft>
            </a:pPr>
            <a:r>
              <a:rPr sz="1400" b="0">
                <a:solidFill>
                  <a:srgbClr val="1F2A3A"/>
                </a:solidFill>
                <a:latin typeface="맑은 고딕"/>
                <a:ea typeface="맑은 고딕"/>
                <a:cs typeface="맑은 고딕"/>
              </a:rPr>
              <a:t>• 「유온 센서의 tag는 TS1이다」</a:t>
            </a:r>
          </a:p>
        </p:txBody>
      </p:sp>
      <p:sp>
        <p:nvSpPr>
          <p:cNvPr id="16" name="Rounded Rectangle 15"/>
          <p:cNvSpPr/>
          <p:nvPr/>
        </p:nvSpPr>
        <p:spPr>
          <a:xfrm>
            <a:off x="6461607" y="5041392"/>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6461607"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실제로 있는 것</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인스턴스를 더할 때와 스키마를 고칠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인스턴스는 스키마를 고치지 않고 더할 수 있지만, 스키마를 고치면 그 클래스의 모든 인스턴스가 영향을 받는다.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인스턴스를 더한다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설비에 센서를 하나 새로 단다</a:t>
            </a:r>
          </a:p>
          <a:p>
            <a:pPr algn="l">
              <a:lnSpc>
                <a:spcPct val="110000"/>
              </a:lnSpc>
              <a:spcAft>
                <a:spcPts val="600"/>
              </a:spcAft>
            </a:pPr>
            <a:r>
              <a:rPr sz="1450" b="0">
                <a:solidFill>
                  <a:srgbClr val="1F2A3A"/>
                </a:solidFill>
                <a:latin typeface="맑은 고딕"/>
                <a:ea typeface="맑은 고딕"/>
                <a:cs typeface="맑은 고딕"/>
              </a:rPr>
              <a:t>• 센서 인스턴스가 하나 는다</a:t>
            </a:r>
          </a:p>
          <a:p>
            <a:pPr algn="l">
              <a:lnSpc>
                <a:spcPct val="110000"/>
              </a:lnSpc>
              <a:spcAft>
                <a:spcPts val="600"/>
              </a:spcAft>
            </a:pPr>
            <a:r>
              <a:rPr sz="1450" b="0">
                <a:solidFill>
                  <a:srgbClr val="1F2A3A"/>
                </a:solidFill>
                <a:latin typeface="맑은 고딕"/>
                <a:ea typeface="맑은 고딕"/>
                <a:cs typeface="맑은 고딕"/>
              </a:rPr>
              <a:t>• 스키마는 그대로이다</a:t>
            </a:r>
          </a:p>
        </p:txBody>
      </p:sp>
      <p:sp>
        <p:nvSpPr>
          <p:cNvPr id="11" name="Rounded Rectangle 10"/>
          <p:cNvSpPr/>
          <p:nvPr/>
        </p:nvSpPr>
        <p:spPr>
          <a:xfrm>
            <a:off x="868680" y="4945570"/>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자주 일어난다</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edit" descr="edi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스키마를 고친다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센서 클래스에 필수 속성을 하나 더한다</a:t>
            </a:r>
          </a:p>
          <a:p>
            <a:pPr algn="l">
              <a:lnSpc>
                <a:spcPct val="110000"/>
              </a:lnSpc>
              <a:spcAft>
                <a:spcPts val="600"/>
              </a:spcAft>
            </a:pPr>
            <a:r>
              <a:rPr sz="1450" b="0">
                <a:solidFill>
                  <a:srgbClr val="1F2A3A"/>
                </a:solidFill>
                <a:latin typeface="맑은 고딕"/>
                <a:ea typeface="맑은 고딕"/>
                <a:cs typeface="맑은 고딕"/>
              </a:rPr>
              <a:t>• 이미 있는 모든 센서가 그 속성을 가져야 한다</a:t>
            </a:r>
          </a:p>
        </p:txBody>
      </p:sp>
      <p:sp>
        <p:nvSpPr>
          <p:cNvPr id="18" name="Rounded Rectangle 17"/>
          <p:cNvSpPr/>
          <p:nvPr/>
        </p:nvSpPr>
        <p:spPr>
          <a:xfrm>
            <a:off x="6781647" y="4945570"/>
            <a:ext cx="1557528"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57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드물게, 신중하게</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모델을 스키마로 발전시키는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답해야 할 질문에서 출발해 클래스, 속성, 관계의 순서로 정의를 채워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정한다</a:t>
            </a:r>
          </a:p>
          <a:p>
            <a:pPr algn="ctr">
              <a:lnSpc>
                <a:spcPct val="110000"/>
              </a:lnSpc>
              <a:spcAft>
                <a:spcPts val="400"/>
              </a:spcAft>
            </a:pPr>
            <a:r>
              <a:rPr sz="1350" b="0">
                <a:solidFill>
                  <a:srgbClr val="1F2A3A"/>
                </a:solidFill>
                <a:latin typeface="맑은 고딕"/>
                <a:ea typeface="맑은 고딕"/>
                <a:cs typeface="맑은 고딕"/>
              </a:rPr>
              <a:t>이 지식으로</a:t>
            </a:r>
          </a:p>
          <a:p>
            <a:pPr algn="ctr">
              <a:lnSpc>
                <a:spcPct val="110000"/>
              </a:lnSpc>
              <a:spcAft>
                <a:spcPts val="400"/>
              </a:spcAft>
            </a:pPr>
            <a:r>
              <a:rPr sz="1350" b="0">
                <a:solidFill>
                  <a:srgbClr val="1F2A3A"/>
                </a:solidFill>
                <a:latin typeface="맑은 고딕"/>
                <a:ea typeface="맑은 고딕"/>
                <a:cs typeface="맑은 고딕"/>
              </a:rPr>
              <a:t>답할 질문</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클래스와 인스턴스를 나눈다</a:t>
            </a:r>
          </a:p>
          <a:p>
            <a:pPr algn="ctr">
              <a:lnSpc>
                <a:spcPct val="110000"/>
              </a:lnSpc>
              <a:spcAft>
                <a:spcPts val="400"/>
              </a:spcAft>
            </a:pPr>
            <a:r>
              <a:rPr sz="1350" b="0">
                <a:solidFill>
                  <a:srgbClr val="1F2A3A"/>
                </a:solidFill>
                <a:latin typeface="맑은 고딕"/>
                <a:ea typeface="맑은 고딕"/>
                <a:cs typeface="맑은 고딕"/>
              </a:rPr>
              <a:t>유형과</a:t>
            </a:r>
          </a:p>
          <a:p>
            <a:pPr algn="ctr">
              <a:lnSpc>
                <a:spcPct val="110000"/>
              </a:lnSpc>
              <a:spcAft>
                <a:spcPts val="400"/>
              </a:spcAft>
            </a:pPr>
            <a:r>
              <a:rPr sz="1350" b="0">
                <a:solidFill>
                  <a:srgbClr val="1F2A3A"/>
                </a:solidFill>
                <a:latin typeface="맑은 고딕"/>
                <a:ea typeface="맑은 고딕"/>
                <a:cs typeface="맑은 고딕"/>
              </a:rPr>
              <a:t>실제 대상</a:t>
            </a:r>
          </a:p>
        </p:txBody>
      </p:sp>
      <p:sp>
        <p:nvSpPr>
          <p:cNvPr id="17" name="Oval 16"/>
          <p:cNvSpPr/>
          <p:nvPr/>
        </p:nvSpPr>
        <p:spPr>
          <a:xfrm>
            <a:off x="704830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속성을 정한다</a:t>
            </a:r>
          </a:p>
          <a:p>
            <a:pPr algn="ctr">
              <a:lnSpc>
                <a:spcPct val="110000"/>
              </a:lnSpc>
              <a:spcAft>
                <a:spcPts val="400"/>
              </a:spcAft>
            </a:pPr>
            <a:r>
              <a:rPr sz="1350" b="0">
                <a:solidFill>
                  <a:srgbClr val="1F2A3A"/>
                </a:solidFill>
                <a:latin typeface="맑은 고딕"/>
                <a:ea typeface="맑은 고딕"/>
                <a:cs typeface="맑은 고딕"/>
              </a:rPr>
              <a:t>속성명, 자료형,</a:t>
            </a:r>
          </a:p>
          <a:p>
            <a:pPr algn="ctr">
              <a:lnSpc>
                <a:spcPct val="110000"/>
              </a:lnSpc>
              <a:spcAft>
                <a:spcPts val="400"/>
              </a:spcAft>
            </a:pPr>
            <a:r>
              <a:rPr sz="1350" b="0">
                <a:solidFill>
                  <a:srgbClr val="1F2A3A"/>
                </a:solidFill>
                <a:latin typeface="맑은 고딕"/>
                <a:ea typeface="맑은 고딕"/>
                <a:cs typeface="맑은 고딕"/>
              </a:rPr>
              <a:t>식별자, 필수 여부</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arrows-right" descr="arrows-right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정한다</a:t>
            </a:r>
          </a:p>
          <a:p>
            <a:pPr algn="ctr">
              <a:lnSpc>
                <a:spcPct val="110000"/>
              </a:lnSpc>
              <a:spcAft>
                <a:spcPts val="400"/>
              </a:spcAft>
            </a:pPr>
            <a:r>
              <a:rPr sz="1350" b="0">
                <a:solidFill>
                  <a:srgbClr val="1F2A3A"/>
                </a:solidFill>
                <a:latin typeface="맑은 고딕"/>
                <a:ea typeface="맑은 고딕"/>
                <a:cs typeface="맑은 고딕"/>
              </a:rPr>
              <a:t>이름, 방향,</a:t>
            </a:r>
          </a:p>
          <a:p>
            <a:pPr algn="ctr">
              <a:lnSpc>
                <a:spcPct val="110000"/>
              </a:lnSpc>
              <a:spcAft>
                <a:spcPts val="400"/>
              </a:spcAft>
            </a:pPr>
            <a:r>
              <a:rPr sz="1350" b="0">
                <a:solidFill>
                  <a:srgbClr val="1F2A3A"/>
                </a:solidFill>
                <a:latin typeface="맑은 고딕"/>
                <a:ea typeface="맑은 고딕"/>
                <a:cs typeface="맑은 고딕"/>
              </a:rPr>
              <a:t>양 끝 클래스, 카디널리티</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단계 1: 답할 질문을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먼저 이 지식으로 답하려는 질문을 적으며, 질문에 쓰이지 않는 정보는 넣지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질문 1</a:t>
            </a:r>
          </a:p>
          <a:p>
            <a:pPr algn="l">
              <a:lnSpc>
                <a:spcPct val="110000"/>
              </a:lnSpc>
              <a:spcAft>
                <a:spcPts val="400"/>
              </a:spcAft>
            </a:pPr>
            <a:r>
              <a:rPr sz="1400" b="0">
                <a:solidFill>
                  <a:srgbClr val="1F2A3A"/>
                </a:solidFill>
                <a:latin typeface="맑은 고딕"/>
                <a:ea typeface="맑은 고딕"/>
                <a:cs typeface="맑은 고딕"/>
              </a:rPr>
              <a:t>HYD-01의 오일 쿨러를 재는 센서는 무엇인가</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센서</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질문 2</a:t>
            </a:r>
          </a:p>
          <a:p>
            <a:pPr algn="l">
              <a:lnSpc>
                <a:spcPct val="110000"/>
              </a:lnSpc>
              <a:spcAft>
                <a:spcPts val="400"/>
              </a:spcAft>
            </a:pPr>
            <a:r>
              <a:rPr sz="1400" b="0">
                <a:solidFill>
                  <a:srgbClr val="1F2A3A"/>
                </a:solidFill>
                <a:latin typeface="맑은 고딕"/>
                <a:ea typeface="맑은 고딕"/>
                <a:cs typeface="맑은 고딕"/>
              </a:rPr>
              <a:t>그 센서가 읽는 물리량의 한계는 얼마인가</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한계값</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질문 3</a:t>
            </a:r>
          </a:p>
          <a:p>
            <a:pPr algn="l">
              <a:lnSpc>
                <a:spcPct val="110000"/>
              </a:lnSpc>
              <a:spcAft>
                <a:spcPts val="400"/>
              </a:spcAft>
            </a:pPr>
            <a:r>
              <a:rPr sz="1400" b="0">
                <a:solidFill>
                  <a:srgbClr val="1F2A3A"/>
                </a:solidFill>
                <a:latin typeface="맑은 고딕"/>
                <a:ea typeface="맑은 고딕"/>
                <a:cs typeface="맑은 고딕"/>
              </a:rPr>
              <a:t>오일 쿨러에 들어가는 교체 부품은 무엇인가</a:t>
            </a:r>
          </a:p>
        </p:txBody>
      </p:sp>
      <p:sp>
        <p:nvSpPr>
          <p:cNvPr id="22" name="Rounded Rectangle 21"/>
          <p:cNvSpPr/>
          <p:nvPr/>
        </p:nvSpPr>
        <p:spPr>
          <a:xfrm>
            <a:off x="8356396" y="493293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부품</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단계 2: 질문의 낱말을 클래스와 인스턴스로 가른다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질문에 나오는 낱말을 유형과 실제 대상으로 가르면 클래스와 예시 인스턴스가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유형 → 클래스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a:t>
            </a:r>
          </a:p>
          <a:p>
            <a:pPr algn="l">
              <a:lnSpc>
                <a:spcPct val="110000"/>
              </a:lnSpc>
              <a:spcAft>
                <a:spcPts val="600"/>
              </a:spcAft>
            </a:pPr>
            <a:r>
              <a:rPr sz="1450" b="0">
                <a:solidFill>
                  <a:srgbClr val="1F2A3A"/>
                </a:solidFill>
                <a:latin typeface="맑은 고딕"/>
                <a:ea typeface="맑은 고딕"/>
                <a:cs typeface="맑은 고딕"/>
              </a:rPr>
              <a:t>• 구성 요소</a:t>
            </a:r>
          </a:p>
          <a:p>
            <a:pPr algn="l">
              <a:lnSpc>
                <a:spcPct val="110000"/>
              </a:lnSpc>
              <a:spcAft>
                <a:spcPts val="600"/>
              </a:spcAft>
            </a:pPr>
            <a:r>
              <a:rPr sz="1450" b="0">
                <a:solidFill>
                  <a:srgbClr val="1F2A3A"/>
                </a:solidFill>
                <a:latin typeface="맑은 고딕"/>
                <a:ea typeface="맑은 고딕"/>
                <a:cs typeface="맑은 고딕"/>
              </a:rPr>
              <a:t>• 센서</a:t>
            </a:r>
          </a:p>
          <a:p>
            <a:pPr algn="l">
              <a:lnSpc>
                <a:spcPct val="110000"/>
              </a:lnSpc>
              <a:spcAft>
                <a:spcPts val="600"/>
              </a:spcAft>
            </a:pPr>
            <a:r>
              <a:rPr sz="1450" b="0">
                <a:solidFill>
                  <a:srgbClr val="1F2A3A"/>
                </a:solidFill>
                <a:latin typeface="맑은 고딕"/>
                <a:ea typeface="맑은 고딕"/>
                <a:cs typeface="맑은 고딕"/>
              </a:rPr>
              <a:t>• 물리량(상태 변수)</a:t>
            </a:r>
          </a:p>
          <a:p>
            <a:pPr algn="l">
              <a:lnSpc>
                <a:spcPct val="110000"/>
              </a:lnSpc>
              <a:spcAft>
                <a:spcPts val="600"/>
              </a:spcAft>
            </a:pPr>
            <a:r>
              <a:rPr sz="1450" b="0">
                <a:solidFill>
                  <a:srgbClr val="1F2A3A"/>
                </a:solidFill>
                <a:latin typeface="맑은 고딕"/>
                <a:ea typeface="맑은 고딕"/>
                <a:cs typeface="맑은 고딕"/>
              </a:rPr>
              <a:t>• 교체 부품</a:t>
            </a:r>
          </a:p>
        </p:txBody>
      </p:sp>
      <p:sp>
        <p:nvSpPr>
          <p:cNvPr id="11" name="Rounded Rectangle 10"/>
          <p:cNvSpPr/>
          <p:nvPr/>
        </p:nvSpPr>
        <p:spPr>
          <a:xfrm>
            <a:off x="868680" y="5246433"/>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클래스 다섯</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실제 대상 → 인스턴스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HYD-01</a:t>
            </a:r>
          </a:p>
          <a:p>
            <a:pPr algn="l">
              <a:lnSpc>
                <a:spcPct val="110000"/>
              </a:lnSpc>
              <a:spcAft>
                <a:spcPts val="600"/>
              </a:spcAft>
            </a:pPr>
            <a:r>
              <a:rPr sz="1450" b="0">
                <a:solidFill>
                  <a:srgbClr val="1F2A3A"/>
                </a:solidFill>
                <a:latin typeface="맑은 고딕"/>
                <a:ea typeface="맑은 고딕"/>
                <a:cs typeface="맑은 고딕"/>
              </a:rPr>
              <a:t>• 오일 쿨러</a:t>
            </a:r>
          </a:p>
          <a:p>
            <a:pPr algn="l">
              <a:lnSpc>
                <a:spcPct val="110000"/>
              </a:lnSpc>
              <a:spcAft>
                <a:spcPts val="600"/>
              </a:spcAft>
            </a:pPr>
            <a:r>
              <a:rPr sz="1450" b="0">
                <a:solidFill>
                  <a:srgbClr val="1F2A3A"/>
                </a:solidFill>
                <a:latin typeface="맑은 고딕"/>
                <a:ea typeface="맑은 고딕"/>
                <a:cs typeface="맑은 고딕"/>
              </a:rPr>
              <a:t>• 유온 센서</a:t>
            </a:r>
          </a:p>
          <a:p>
            <a:pPr algn="l">
              <a:lnSpc>
                <a:spcPct val="110000"/>
              </a:lnSpc>
              <a:spcAft>
                <a:spcPts val="600"/>
              </a:spcAft>
            </a:pPr>
            <a:r>
              <a:rPr sz="1450" b="0">
                <a:solidFill>
                  <a:srgbClr val="1F2A3A"/>
                </a:solidFill>
                <a:latin typeface="맑은 고딕"/>
                <a:ea typeface="맑은 고딕"/>
                <a:cs typeface="맑은 고딕"/>
              </a:rPr>
              <a:t>• 유온</a:t>
            </a:r>
          </a:p>
          <a:p>
            <a:pPr algn="l">
              <a:lnSpc>
                <a:spcPct val="110000"/>
              </a:lnSpc>
              <a:spcAft>
                <a:spcPts val="600"/>
              </a:spcAft>
            </a:pPr>
            <a:r>
              <a:rPr sz="1450" b="0">
                <a:solidFill>
                  <a:srgbClr val="1F2A3A"/>
                </a:solidFill>
                <a:latin typeface="맑은 고딕"/>
                <a:ea typeface="맑은 고딕"/>
                <a:cs typeface="맑은 고딕"/>
              </a:rPr>
              <a:t>• 쿨러 코어</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예시 인스턴스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단계 2의 결과: 클래스 다섯</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가른 결과로 클래스 다섯이 정해지며, 아직 속성과 관계는 비어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pic>
        <p:nvPicPr>
          <p:cNvPr id="6" name="삽화:설계_1.svg" descr="illust_224467854268114900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48380" y="2081467"/>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Asset</a:t>
            </a:r>
          </a:p>
        </p:txBody>
      </p:sp>
      <p:sp>
        <p:nvSpPr>
          <p:cNvPr id="8" name="TextBox 7"/>
          <p:cNvSpPr txBox="1"/>
          <p:nvPr/>
        </p:nvSpPr>
        <p:spPr>
          <a:xfrm>
            <a:off x="3723032" y="2081467"/>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Component</a:t>
            </a:r>
          </a:p>
        </p:txBody>
      </p:sp>
      <p:sp>
        <p:nvSpPr>
          <p:cNvPr id="9" name="TextBox 8"/>
          <p:cNvSpPr txBox="1"/>
          <p:nvPr/>
        </p:nvSpPr>
        <p:spPr>
          <a:xfrm>
            <a:off x="6597684" y="2081467"/>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Sensor</a:t>
            </a:r>
          </a:p>
        </p:txBody>
      </p:sp>
      <p:sp>
        <p:nvSpPr>
          <p:cNvPr id="10" name="TextBox 9"/>
          <p:cNvSpPr txBox="1"/>
          <p:nvPr/>
        </p:nvSpPr>
        <p:spPr>
          <a:xfrm>
            <a:off x="9466881" y="2081467"/>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StateVariable</a:t>
            </a:r>
          </a:p>
        </p:txBody>
      </p:sp>
      <p:sp>
        <p:nvSpPr>
          <p:cNvPr id="11" name="TextBox 10"/>
          <p:cNvSpPr txBox="1"/>
          <p:nvPr/>
        </p:nvSpPr>
        <p:spPr>
          <a:xfrm>
            <a:off x="3723032" y="4719382"/>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Part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단계 3: 클래스마다 속성을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질문에 답하는 데 필요한 값을 클래스마다 속성으로 적으며, 한계는 상태 변수의 속성이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pic>
        <p:nvPicPr>
          <p:cNvPr id="6" name="삽화:설계_2.svg" descr="illust_5454252146303744785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48380"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p:txBody>
      </p:sp>
      <p:sp>
        <p:nvSpPr>
          <p:cNvPr id="8" name="TextBox 7"/>
          <p:cNvSpPr txBox="1"/>
          <p:nvPr/>
        </p:nvSpPr>
        <p:spPr>
          <a:xfrm>
            <a:off x="3723032"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p:txBody>
      </p:sp>
      <p:sp>
        <p:nvSpPr>
          <p:cNvPr id="9" name="TextBox 8"/>
          <p:cNvSpPr txBox="1"/>
          <p:nvPr/>
        </p:nvSpPr>
        <p:spPr>
          <a:xfrm>
            <a:off x="6597684"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p:txBody>
      </p:sp>
      <p:sp>
        <p:nvSpPr>
          <p:cNvPr id="10" name="TextBox 9"/>
          <p:cNvSpPr txBox="1"/>
          <p:nvPr/>
        </p:nvSpPr>
        <p:spPr>
          <a:xfrm>
            <a:off x="9466881"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p:txBody>
      </p:sp>
      <p:sp>
        <p:nvSpPr>
          <p:cNvPr id="11" name="TextBox 10"/>
          <p:cNvSpPr txBox="1"/>
          <p:nvPr/>
        </p:nvSpPr>
        <p:spPr>
          <a:xfrm>
            <a:off x="3723032" y="4719382"/>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a:t>
            </a:r>
          </a:p>
        </p:txBody>
      </p:sp>
      <p:sp>
        <p:nvSpPr>
          <p:cNvPr id="12" name="TextBox 11"/>
          <p:cNvSpPr txBox="1"/>
          <p:nvPr/>
        </p:nvSpPr>
        <p:spPr>
          <a:xfrm>
            <a:off x="902927" y="2573121"/>
            <a:ext cx="174551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code</a:t>
            </a:r>
          </a:p>
        </p:txBody>
      </p:sp>
      <p:sp>
        <p:nvSpPr>
          <p:cNvPr id="13" name="TextBox 12"/>
          <p:cNvSpPr txBox="1"/>
          <p:nvPr/>
        </p:nvSpPr>
        <p:spPr>
          <a:xfrm>
            <a:off x="3777579" y="2573121"/>
            <a:ext cx="174551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aliases</a:t>
            </a:r>
          </a:p>
        </p:txBody>
      </p:sp>
      <p:sp>
        <p:nvSpPr>
          <p:cNvPr id="14" name="TextBox 13"/>
          <p:cNvSpPr txBox="1"/>
          <p:nvPr/>
        </p:nvSpPr>
        <p:spPr>
          <a:xfrm>
            <a:off x="6652231" y="2573121"/>
            <a:ext cx="174551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tag</a:t>
            </a:r>
          </a:p>
          <a:p>
            <a:pPr algn="ctr">
              <a:lnSpc>
                <a:spcPct val="110000"/>
              </a:lnSpc>
              <a:spcAft>
                <a:spcPts val="100"/>
              </a:spcAft>
            </a:pPr>
            <a:r>
              <a:rPr sz="1100" b="0">
                <a:solidFill>
                  <a:srgbClr val="556175"/>
                </a:solidFill>
                <a:latin typeface="맑은 고딕"/>
                <a:ea typeface="맑은 고딕"/>
                <a:cs typeface="맑은 고딕"/>
              </a:rPr>
              <a:t>unit</a:t>
            </a:r>
          </a:p>
        </p:txBody>
      </p:sp>
      <p:sp>
        <p:nvSpPr>
          <p:cNvPr id="15" name="TextBox 14"/>
          <p:cNvSpPr txBox="1"/>
          <p:nvPr/>
        </p:nvSpPr>
        <p:spPr>
          <a:xfrm>
            <a:off x="9521429" y="2573121"/>
            <a:ext cx="174551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unit</a:t>
            </a:r>
          </a:p>
          <a:p>
            <a:pPr algn="ctr">
              <a:lnSpc>
                <a:spcPct val="110000"/>
              </a:lnSpc>
              <a:spcAft>
                <a:spcPts val="100"/>
              </a:spcAft>
            </a:pPr>
            <a:r>
              <a:rPr sz="1100" b="1">
                <a:solidFill>
                  <a:srgbClr val="1A6FC4"/>
                </a:solidFill>
                <a:latin typeface="맑은 고딕"/>
                <a:ea typeface="맑은 고딕"/>
                <a:cs typeface="맑은 고딕"/>
              </a:rPr>
              <a:t>limit</a:t>
            </a:r>
          </a:p>
        </p:txBody>
      </p:sp>
      <p:sp>
        <p:nvSpPr>
          <p:cNvPr id="16" name="TextBox 15"/>
          <p:cNvSpPr txBox="1"/>
          <p:nvPr/>
        </p:nvSpPr>
        <p:spPr>
          <a:xfrm>
            <a:off x="3777579" y="5211037"/>
            <a:ext cx="174551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partNo</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단계 3: 자료형과 필수 여부를 붙인다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속성마다 자료형과 필수 여부를 정하면 클래스 정의가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Asset         { id!  name!  code! }</a:t>
            </a:r>
          </a:p>
          <a:p>
            <a:pPr algn="l">
              <a:lnSpc>
                <a:spcPct val="110000"/>
              </a:lnSpc>
              <a:spcAft>
                <a:spcPts val="200"/>
              </a:spcAft>
            </a:pPr>
            <a:r>
              <a:rPr sz="1300" b="0">
                <a:solidFill>
                  <a:srgbClr val="E8EEF6"/>
                </a:solidFill>
                <a:latin typeface="Consolas"/>
                <a:ea typeface="맑은 고딕"/>
                <a:cs typeface="맑은 고딕"/>
              </a:rPr>
              <a:t>Component     { id!  name!  aliases }</a:t>
            </a:r>
          </a:p>
          <a:p>
            <a:pPr algn="l">
              <a:lnSpc>
                <a:spcPct val="110000"/>
              </a:lnSpc>
              <a:spcAft>
                <a:spcPts val="200"/>
              </a:spcAft>
            </a:pPr>
            <a:r>
              <a:rPr sz="1300" b="0">
                <a:solidFill>
                  <a:srgbClr val="E8EEF6"/>
                </a:solidFill>
                <a:latin typeface="Consolas"/>
                <a:ea typeface="맑은 고딕"/>
                <a:cs typeface="맑은 고딕"/>
              </a:rPr>
              <a:t>Sensor        { id!  name!  tag!  unit }</a:t>
            </a:r>
          </a:p>
          <a:p>
            <a:pPr algn="l">
              <a:lnSpc>
                <a:spcPct val="110000"/>
              </a:lnSpc>
              <a:spcAft>
                <a:spcPts val="200"/>
              </a:spcAft>
            </a:pPr>
            <a:r>
              <a:rPr sz="1300" b="0">
                <a:solidFill>
                  <a:srgbClr val="E8EEF6"/>
                </a:solidFill>
                <a:latin typeface="Consolas"/>
                <a:ea typeface="맑은 고딕"/>
                <a:cs typeface="맑은 고딕"/>
              </a:rPr>
              <a:t>StateVariable { id!  name!  unit!  limit }</a:t>
            </a:r>
          </a:p>
          <a:p>
            <a:pPr algn="l">
              <a:lnSpc>
                <a:spcPct val="110000"/>
              </a:lnSpc>
              <a:spcAft>
                <a:spcPts val="200"/>
              </a:spcAft>
            </a:pPr>
            <a:r>
              <a:rPr sz="1300" b="0">
                <a:solidFill>
                  <a:srgbClr val="E8EEF6"/>
                </a:solidFill>
                <a:latin typeface="Consolas"/>
                <a:ea typeface="맑은 고딕"/>
                <a:cs typeface="맑은 고딕"/>
              </a:rPr>
              <a:t>Part          { id!  name!  partNo }</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limit   : number</a:t>
            </a:r>
          </a:p>
          <a:p>
            <a:pPr algn="l">
              <a:lnSpc>
                <a:spcPct val="110000"/>
              </a:lnSpc>
              <a:spcAft>
                <a:spcPts val="200"/>
              </a:spcAft>
            </a:pPr>
            <a:r>
              <a:rPr sz="1300" b="0">
                <a:solidFill>
                  <a:srgbClr val="E8EEF6"/>
                </a:solidFill>
                <a:latin typeface="Consolas"/>
                <a:ea typeface="맑은 고딕"/>
                <a:cs typeface="맑은 고딕"/>
              </a:rPr>
              <a:t>aliases : string[]</a:t>
            </a:r>
          </a:p>
          <a:p>
            <a:pPr algn="l">
              <a:lnSpc>
                <a:spcPct val="110000"/>
              </a:lnSpc>
              <a:spcAft>
                <a:spcPts val="200"/>
              </a:spcAft>
            </a:pPr>
            <a:r>
              <a:rPr sz="1300" b="0">
                <a:solidFill>
                  <a:srgbClr val="E8EEF6"/>
                </a:solidFill>
                <a:latin typeface="맑은 고딕"/>
                <a:ea typeface="맑은 고딕"/>
                <a:cs typeface="맑은 고딕"/>
              </a:rPr>
              <a:t>나머지</a:t>
            </a:r>
            <a:r>
              <a:rPr sz="1300" b="0">
                <a:solidFill>
                  <a:srgbClr val="E8EEF6"/>
                </a:solidFill>
                <a:latin typeface="Consolas"/>
                <a:ea typeface="맑은 고딕"/>
                <a:cs typeface="맑은 고딕"/>
              </a:rPr>
              <a:t>  : string</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느낌표</a:t>
            </a:r>
          </a:p>
          <a:p>
            <a:pPr algn="l">
              <a:lnSpc>
                <a:spcPct val="110000"/>
              </a:lnSpc>
              <a:spcAft>
                <a:spcPts val="400"/>
              </a:spcAft>
            </a:pPr>
            <a:r>
              <a:rPr sz="1400" b="0">
                <a:solidFill>
                  <a:srgbClr val="1F2A3A"/>
                </a:solidFill>
                <a:latin typeface="맑은 고딕"/>
                <a:ea typeface="맑은 고딕"/>
                <a:cs typeface="맑은 고딕"/>
              </a:rPr>
              <a:t>필수 속성이다. id와 name은 모든 클래스에서 필수이다.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필수로 둔 것</a:t>
            </a:r>
          </a:p>
          <a:p>
            <a:pPr algn="l">
              <a:lnSpc>
                <a:spcPct val="110000"/>
              </a:lnSpc>
              <a:spcAft>
                <a:spcPts val="400"/>
              </a:spcAft>
            </a:pPr>
            <a:r>
              <a:rPr sz="1400" b="0">
                <a:solidFill>
                  <a:srgbClr val="1F2A3A"/>
                </a:solidFill>
                <a:latin typeface="맑은 고딕"/>
                <a:ea typeface="맑은 고딕"/>
                <a:cs typeface="맑은 고딕"/>
              </a:rPr>
              <a:t>설비의 code, 센서의 tag, 상태 변수의 unit은 없으면 쓸 수 없는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수로 둔 것</a:t>
            </a:r>
          </a:p>
          <a:p>
            <a:pPr algn="l">
              <a:lnSpc>
                <a:spcPct val="110000"/>
              </a:lnSpc>
              <a:spcAft>
                <a:spcPts val="400"/>
              </a:spcAft>
            </a:pPr>
            <a:r>
              <a:rPr sz="1400" b="0">
                <a:solidFill>
                  <a:srgbClr val="1F2A3A"/>
                </a:solidFill>
                <a:latin typeface="맑은 고딕"/>
                <a:ea typeface="맑은 고딕"/>
                <a:cs typeface="맑은 고딕"/>
              </a:rPr>
              <a:t>limit은 크기를 비교해야 하므로 number로 정한다.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단계 4: 클래스 사이의 관계를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질문이 건너가는 길을 따라 클래스 사이에 관계를 놓고 이름과 방향을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pic>
        <p:nvPicPr>
          <p:cNvPr id="6" name="삽화:설계_3.svg" descr="illust_96872560066820735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48380"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p:txBody>
      </p:sp>
      <p:sp>
        <p:nvSpPr>
          <p:cNvPr id="8" name="TextBox 7"/>
          <p:cNvSpPr txBox="1"/>
          <p:nvPr/>
        </p:nvSpPr>
        <p:spPr>
          <a:xfrm>
            <a:off x="3723032"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p:txBody>
      </p:sp>
      <p:sp>
        <p:nvSpPr>
          <p:cNvPr id="9" name="TextBox 8"/>
          <p:cNvSpPr txBox="1"/>
          <p:nvPr/>
        </p:nvSpPr>
        <p:spPr>
          <a:xfrm>
            <a:off x="6597684"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p:txBody>
      </p:sp>
      <p:sp>
        <p:nvSpPr>
          <p:cNvPr id="10" name="TextBox 9"/>
          <p:cNvSpPr txBox="1"/>
          <p:nvPr/>
        </p:nvSpPr>
        <p:spPr>
          <a:xfrm>
            <a:off x="9466881"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p:txBody>
      </p:sp>
      <p:sp>
        <p:nvSpPr>
          <p:cNvPr id="11" name="TextBox 10"/>
          <p:cNvSpPr txBox="1"/>
          <p:nvPr/>
        </p:nvSpPr>
        <p:spPr>
          <a:xfrm>
            <a:off x="3723032" y="4719382"/>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a:t>
            </a:r>
          </a:p>
        </p:txBody>
      </p:sp>
      <p:sp>
        <p:nvSpPr>
          <p:cNvPr id="12" name="TextBox 11"/>
          <p:cNvSpPr txBox="1"/>
          <p:nvPr/>
        </p:nvSpPr>
        <p:spPr>
          <a:xfrm>
            <a:off x="2342981" y="3589522"/>
            <a:ext cx="174551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HAS_COMPONENT</a:t>
            </a:r>
          </a:p>
        </p:txBody>
      </p:sp>
      <p:sp>
        <p:nvSpPr>
          <p:cNvPr id="13" name="TextBox 12"/>
          <p:cNvSpPr txBox="1"/>
          <p:nvPr/>
        </p:nvSpPr>
        <p:spPr>
          <a:xfrm>
            <a:off x="5266725" y="3589522"/>
            <a:ext cx="163642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MONITORED_BY</a:t>
            </a:r>
          </a:p>
        </p:txBody>
      </p:sp>
      <p:sp>
        <p:nvSpPr>
          <p:cNvPr id="14" name="TextBox 13"/>
          <p:cNvSpPr txBox="1"/>
          <p:nvPr/>
        </p:nvSpPr>
        <p:spPr>
          <a:xfrm>
            <a:off x="8195925" y="3589522"/>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OBSERVES</a:t>
            </a:r>
          </a:p>
        </p:txBody>
      </p:sp>
      <p:sp>
        <p:nvSpPr>
          <p:cNvPr id="15" name="TextBox 14"/>
          <p:cNvSpPr txBox="1"/>
          <p:nvPr/>
        </p:nvSpPr>
        <p:spPr>
          <a:xfrm>
            <a:off x="4786708" y="4109542"/>
            <a:ext cx="120004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USES_PART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단계 4: 양 끝의 클래스와 카디널리티를 적는다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관계마다 시작 클래스와 끝 클래스, 카디널리티를 적으면 관계 정의가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89</a:t>
            </a:r>
          </a:p>
        </p:txBody>
      </p:sp>
      <p:sp>
        <p:nvSpPr>
          <p:cNvPr id="6" name="Rounded Rectangle 5"/>
          <p:cNvSpPr/>
          <p:nvPr/>
        </p:nvSpPr>
        <p:spPr>
          <a:xfrm>
            <a:off x="548640" y="2774188"/>
            <a:ext cx="6766560" cy="2434336"/>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911348"/>
            <a:ext cx="6400800" cy="216001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HAS_COMPONENT   Asset     -&gt; Component      1:N</a:t>
            </a:r>
          </a:p>
          <a:p>
            <a:pPr algn="l">
              <a:lnSpc>
                <a:spcPct val="110000"/>
              </a:lnSpc>
              <a:spcAft>
                <a:spcPts val="200"/>
              </a:spcAft>
            </a:pPr>
            <a:r>
              <a:rPr sz="1300" b="0">
                <a:solidFill>
                  <a:srgbClr val="E8EEF6"/>
                </a:solidFill>
                <a:latin typeface="Consolas"/>
                <a:ea typeface="맑은 고딕"/>
                <a:cs typeface="맑은 고딕"/>
              </a:rPr>
              <a:t>MONITORED_BY    Component -&gt; Sensor         N:M</a:t>
            </a:r>
          </a:p>
          <a:p>
            <a:pPr algn="l">
              <a:lnSpc>
                <a:spcPct val="110000"/>
              </a:lnSpc>
              <a:spcAft>
                <a:spcPts val="200"/>
              </a:spcAft>
            </a:pPr>
            <a:r>
              <a:rPr sz="1300" b="0">
                <a:solidFill>
                  <a:srgbClr val="E8EEF6"/>
                </a:solidFill>
                <a:latin typeface="Consolas"/>
                <a:ea typeface="맑은 고딕"/>
                <a:cs typeface="맑은 고딕"/>
              </a:rPr>
              <a:t>OBSERVES        Sensor    -&gt; StateVariable  N:1</a:t>
            </a:r>
          </a:p>
          <a:p>
            <a:pPr algn="l">
              <a:lnSpc>
                <a:spcPct val="110000"/>
              </a:lnSpc>
              <a:spcAft>
                <a:spcPts val="200"/>
              </a:spcAft>
            </a:pPr>
            <a:r>
              <a:rPr sz="1300" b="0">
                <a:solidFill>
                  <a:srgbClr val="E8EEF6"/>
                </a:solidFill>
                <a:latin typeface="Consolas"/>
                <a:ea typeface="맑은 고딕"/>
                <a:cs typeface="맑은 고딕"/>
              </a:rPr>
              <a:t>USES_PART       Component -&gt; Part           N:M</a:t>
            </a:r>
          </a:p>
        </p:txBody>
      </p:sp>
      <p:sp>
        <p:nvSpPr>
          <p:cNvPr id="8" name="TextBox 7"/>
          <p:cNvSpPr txBox="1"/>
          <p:nvPr/>
        </p:nvSpPr>
        <p:spPr>
          <a:xfrm>
            <a:off x="7635240" y="2774188"/>
            <a:ext cx="4007815" cy="1217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양 끝</a:t>
            </a:r>
          </a:p>
          <a:p>
            <a:pPr algn="l">
              <a:lnSpc>
                <a:spcPct val="110000"/>
              </a:lnSpc>
              <a:spcAft>
                <a:spcPts val="400"/>
              </a:spcAft>
            </a:pPr>
            <a:r>
              <a:rPr sz="1400" b="0">
                <a:solidFill>
                  <a:srgbClr val="1F2A3A"/>
                </a:solidFill>
                <a:latin typeface="맑은 고딕"/>
                <a:ea typeface="맑은 고딕"/>
                <a:cs typeface="맑은 고딕"/>
              </a:rPr>
              <a:t>화살표 왼쪽이 시작 클래스이고 오른쪽이 끝 클래스이다.</a:t>
            </a:r>
          </a:p>
        </p:txBody>
      </p:sp>
      <p:sp>
        <p:nvSpPr>
          <p:cNvPr id="9" name="TextBox 8"/>
          <p:cNvSpPr txBox="1"/>
          <p:nvPr/>
        </p:nvSpPr>
        <p:spPr>
          <a:xfrm>
            <a:off x="7635240" y="3991356"/>
            <a:ext cx="4007815" cy="1217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카디널리티</a:t>
            </a:r>
          </a:p>
          <a:p>
            <a:pPr algn="l">
              <a:lnSpc>
                <a:spcPct val="110000"/>
              </a:lnSpc>
              <a:spcAft>
                <a:spcPts val="400"/>
              </a:spcAft>
            </a:pPr>
            <a:r>
              <a:rPr sz="1400" b="0">
                <a:solidFill>
                  <a:srgbClr val="1F2A3A"/>
                </a:solidFill>
                <a:latin typeface="맑은 고딕"/>
                <a:ea typeface="맑은 고딕"/>
                <a:cs typeface="맑은 고딕"/>
              </a:rPr>
              <a:t>구성 요소 하나를 여러 센서가 재고, 센서 하나가 여러 구성 요소를 잴 수 있으므로 MONITORED_BY는 다대다이다.</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완성된 스키마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 다섯과 속성, 관계 넷을 한데 놓은 것이 오일 쿨러 사례의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90</a:t>
            </a:r>
          </a:p>
        </p:txBody>
      </p:sp>
      <p:pic>
        <p:nvPicPr>
          <p:cNvPr id="6" name="삽화:설계_4.svg" descr="illust_814649523434779369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48380"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p:txBody>
      </p:sp>
      <p:sp>
        <p:nvSpPr>
          <p:cNvPr id="8" name="TextBox 7"/>
          <p:cNvSpPr txBox="1"/>
          <p:nvPr/>
        </p:nvSpPr>
        <p:spPr>
          <a:xfrm>
            <a:off x="3723032"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p:txBody>
      </p:sp>
      <p:sp>
        <p:nvSpPr>
          <p:cNvPr id="9" name="TextBox 8"/>
          <p:cNvSpPr txBox="1"/>
          <p:nvPr/>
        </p:nvSpPr>
        <p:spPr>
          <a:xfrm>
            <a:off x="6597684"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p:txBody>
      </p:sp>
      <p:sp>
        <p:nvSpPr>
          <p:cNvPr id="10" name="TextBox 9"/>
          <p:cNvSpPr txBox="1"/>
          <p:nvPr/>
        </p:nvSpPr>
        <p:spPr>
          <a:xfrm>
            <a:off x="9466881" y="2081467"/>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p:txBody>
      </p:sp>
      <p:sp>
        <p:nvSpPr>
          <p:cNvPr id="11" name="TextBox 10"/>
          <p:cNvSpPr txBox="1"/>
          <p:nvPr/>
        </p:nvSpPr>
        <p:spPr>
          <a:xfrm>
            <a:off x="3723032" y="4719382"/>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a:t>
            </a:r>
          </a:p>
        </p:txBody>
      </p:sp>
      <p:sp>
        <p:nvSpPr>
          <p:cNvPr id="12" name="TextBox 11"/>
          <p:cNvSpPr txBox="1"/>
          <p:nvPr/>
        </p:nvSpPr>
        <p:spPr>
          <a:xfrm>
            <a:off x="902927" y="2573121"/>
            <a:ext cx="174551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code</a:t>
            </a:r>
          </a:p>
        </p:txBody>
      </p:sp>
      <p:sp>
        <p:nvSpPr>
          <p:cNvPr id="13" name="TextBox 12"/>
          <p:cNvSpPr txBox="1"/>
          <p:nvPr/>
        </p:nvSpPr>
        <p:spPr>
          <a:xfrm>
            <a:off x="3777579" y="2573121"/>
            <a:ext cx="174551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aliases</a:t>
            </a:r>
          </a:p>
        </p:txBody>
      </p:sp>
      <p:sp>
        <p:nvSpPr>
          <p:cNvPr id="14" name="TextBox 13"/>
          <p:cNvSpPr txBox="1"/>
          <p:nvPr/>
        </p:nvSpPr>
        <p:spPr>
          <a:xfrm>
            <a:off x="6652231" y="2573121"/>
            <a:ext cx="174551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tag</a:t>
            </a:r>
          </a:p>
          <a:p>
            <a:pPr algn="ctr">
              <a:lnSpc>
                <a:spcPct val="110000"/>
              </a:lnSpc>
              <a:spcAft>
                <a:spcPts val="100"/>
              </a:spcAft>
            </a:pPr>
            <a:r>
              <a:rPr sz="1100" b="0">
                <a:solidFill>
                  <a:srgbClr val="556175"/>
                </a:solidFill>
                <a:latin typeface="맑은 고딕"/>
                <a:ea typeface="맑은 고딕"/>
                <a:cs typeface="맑은 고딕"/>
              </a:rPr>
              <a:t>unit</a:t>
            </a:r>
          </a:p>
        </p:txBody>
      </p:sp>
      <p:sp>
        <p:nvSpPr>
          <p:cNvPr id="15" name="TextBox 14"/>
          <p:cNvSpPr txBox="1"/>
          <p:nvPr/>
        </p:nvSpPr>
        <p:spPr>
          <a:xfrm>
            <a:off x="9521429" y="2573121"/>
            <a:ext cx="174551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unit</a:t>
            </a:r>
          </a:p>
          <a:p>
            <a:pPr algn="ctr">
              <a:lnSpc>
                <a:spcPct val="110000"/>
              </a:lnSpc>
              <a:spcAft>
                <a:spcPts val="100"/>
              </a:spcAft>
            </a:pPr>
            <a:r>
              <a:rPr sz="1100" b="0">
                <a:solidFill>
                  <a:srgbClr val="556175"/>
                </a:solidFill>
                <a:latin typeface="맑은 고딕"/>
                <a:ea typeface="맑은 고딕"/>
                <a:cs typeface="맑은 고딕"/>
              </a:rPr>
              <a:t>limit</a:t>
            </a:r>
          </a:p>
        </p:txBody>
      </p:sp>
      <p:sp>
        <p:nvSpPr>
          <p:cNvPr id="16" name="TextBox 15"/>
          <p:cNvSpPr txBox="1"/>
          <p:nvPr/>
        </p:nvSpPr>
        <p:spPr>
          <a:xfrm>
            <a:off x="3777579" y="5211037"/>
            <a:ext cx="174551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a:p>
            <a:pPr algn="ctr">
              <a:lnSpc>
                <a:spcPct val="110000"/>
              </a:lnSpc>
              <a:spcAft>
                <a:spcPts val="100"/>
              </a:spcAft>
            </a:pPr>
            <a:r>
              <a:rPr sz="1100" b="0">
                <a:solidFill>
                  <a:srgbClr val="556175"/>
                </a:solidFill>
                <a:latin typeface="맑은 고딕"/>
                <a:ea typeface="맑은 고딕"/>
                <a:cs typeface="맑은 고딕"/>
              </a:rPr>
              <a:t>name</a:t>
            </a:r>
          </a:p>
          <a:p>
            <a:pPr algn="ctr">
              <a:lnSpc>
                <a:spcPct val="110000"/>
              </a:lnSpc>
              <a:spcAft>
                <a:spcPts val="100"/>
              </a:spcAft>
            </a:pPr>
            <a:r>
              <a:rPr sz="1100" b="0">
                <a:solidFill>
                  <a:srgbClr val="556175"/>
                </a:solidFill>
                <a:latin typeface="맑은 고딕"/>
                <a:ea typeface="맑은 고딕"/>
                <a:cs typeface="맑은 고딕"/>
              </a:rPr>
              <a:t>partNo</a:t>
            </a:r>
          </a:p>
        </p:txBody>
      </p:sp>
      <p:sp>
        <p:nvSpPr>
          <p:cNvPr id="17" name="TextBox 16"/>
          <p:cNvSpPr txBox="1"/>
          <p:nvPr/>
        </p:nvSpPr>
        <p:spPr>
          <a:xfrm>
            <a:off x="2342981" y="3589522"/>
            <a:ext cx="174551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8" name="TextBox 17"/>
          <p:cNvSpPr txBox="1"/>
          <p:nvPr/>
        </p:nvSpPr>
        <p:spPr>
          <a:xfrm>
            <a:off x="5266725" y="3589522"/>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9" name="TextBox 18"/>
          <p:cNvSpPr txBox="1"/>
          <p:nvPr/>
        </p:nvSpPr>
        <p:spPr>
          <a:xfrm>
            <a:off x="8195925" y="358952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20" name="TextBox 19"/>
          <p:cNvSpPr txBox="1"/>
          <p:nvPr/>
        </p:nvSpPr>
        <p:spPr>
          <a:xfrm>
            <a:off x="4786708" y="410954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USES_PART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예시 인스턴스를 넣는다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스키마에 맞춰 예시 인스턴스와 그 사이의 관계를 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91</a:t>
            </a:r>
          </a:p>
        </p:txBody>
      </p:sp>
      <p:pic>
        <p:nvPicPr>
          <p:cNvPr id="6" name="삽화:예시인스턴스.svg" descr="illust_6690408177022376516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2289474"/>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a:t>
            </a:r>
          </a:p>
        </p:txBody>
      </p:sp>
      <p:sp>
        <p:nvSpPr>
          <p:cNvPr id="8" name="TextBox 7"/>
          <p:cNvSpPr txBox="1"/>
          <p:nvPr/>
        </p:nvSpPr>
        <p:spPr>
          <a:xfrm>
            <a:off x="3750306" y="2289474"/>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Component</a:t>
            </a:r>
          </a:p>
        </p:txBody>
      </p:sp>
      <p:sp>
        <p:nvSpPr>
          <p:cNvPr id="9" name="TextBox 8"/>
          <p:cNvSpPr txBox="1"/>
          <p:nvPr/>
        </p:nvSpPr>
        <p:spPr>
          <a:xfrm>
            <a:off x="6368584" y="2289474"/>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Sensor · tag: TS1</a:t>
            </a:r>
          </a:p>
        </p:txBody>
      </p:sp>
      <p:sp>
        <p:nvSpPr>
          <p:cNvPr id="10" name="TextBox 9"/>
          <p:cNvSpPr txBox="1"/>
          <p:nvPr/>
        </p:nvSpPr>
        <p:spPr>
          <a:xfrm>
            <a:off x="8986863" y="2289474"/>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StateVariable · limit: 65</a:t>
            </a:r>
          </a:p>
        </p:txBody>
      </p:sp>
      <p:sp>
        <p:nvSpPr>
          <p:cNvPr id="11" name="TextBox 10"/>
          <p:cNvSpPr txBox="1"/>
          <p:nvPr/>
        </p:nvSpPr>
        <p:spPr>
          <a:xfrm>
            <a:off x="2277524" y="3565885"/>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2" name="TextBox 11"/>
          <p:cNvSpPr txBox="1"/>
          <p:nvPr/>
        </p:nvSpPr>
        <p:spPr>
          <a:xfrm>
            <a:off x="5113993" y="3565885"/>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3" name="TextBox 12"/>
          <p:cNvSpPr txBox="1"/>
          <p:nvPr/>
        </p:nvSpPr>
        <p:spPr>
          <a:xfrm>
            <a:off x="8059556" y="3565885"/>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4" name="TextBox 13"/>
          <p:cNvSpPr txBox="1"/>
          <p:nvPr/>
        </p:nvSpPr>
        <p:spPr>
          <a:xfrm>
            <a:off x="4841255" y="4393189"/>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USES_PART</a:t>
            </a:r>
          </a:p>
        </p:txBody>
      </p:sp>
      <p:sp>
        <p:nvSpPr>
          <p:cNvPr id="15" name="TextBox 14"/>
          <p:cNvSpPr txBox="1"/>
          <p:nvPr/>
        </p:nvSpPr>
        <p:spPr>
          <a:xfrm>
            <a:off x="5386730" y="533867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a:p>
            <a:pPr algn="ctr">
              <a:lnSpc>
                <a:spcPct val="110000"/>
              </a:lnSpc>
              <a:spcAft>
                <a:spcPts val="100"/>
              </a:spcAft>
            </a:pPr>
            <a:r>
              <a:rPr sz="1100" b="0">
                <a:solidFill>
                  <a:srgbClr val="556175"/>
                </a:solidFill>
                <a:latin typeface="맑은 고딕"/>
                <a:ea typeface="맑은 고딕"/>
                <a:cs typeface="맑은 고딕"/>
              </a:rPr>
              <a:t>Part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처음의 질문에 답이 나오는지 확인한다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관계를 따라가 처음에 적은 질문의 답이 나오면 스키마가 제 구실을 하는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HYD-01</a:t>
            </a:r>
          </a:p>
          <a:p>
            <a:pPr algn="ctr">
              <a:lnSpc>
                <a:spcPct val="110000"/>
              </a:lnSpc>
              <a:spcAft>
                <a:spcPts val="400"/>
              </a:spcAft>
            </a:pPr>
            <a:r>
              <a:rPr sz="1350" b="0">
                <a:solidFill>
                  <a:srgbClr val="1F2A3A"/>
                </a:solidFill>
                <a:latin typeface="맑은 고딕"/>
                <a:ea typeface="맑은 고딕"/>
                <a:cs typeface="맑은 고딕"/>
              </a:rPr>
              <a:t>설비에서</a:t>
            </a:r>
          </a:p>
          <a:p>
            <a:pPr algn="ctr">
              <a:lnSpc>
                <a:spcPct val="110000"/>
              </a:lnSpc>
              <a:spcAft>
                <a:spcPts val="400"/>
              </a:spcAft>
            </a:pPr>
            <a:r>
              <a:rPr sz="1350" b="0">
                <a:solidFill>
                  <a:srgbClr val="1F2A3A"/>
                </a:solidFill>
                <a:latin typeface="맑은 고딕"/>
                <a:ea typeface="맑은 고딕"/>
                <a:cs typeface="맑은 고딕"/>
              </a:rPr>
              <a:t>출발한다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snowflake" descr="snowflak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오일 쿨러</a:t>
            </a:r>
          </a:p>
          <a:p>
            <a:pPr algn="ctr">
              <a:lnSpc>
                <a:spcPct val="110000"/>
              </a:lnSpc>
              <a:spcAft>
                <a:spcPts val="400"/>
              </a:spcAft>
            </a:pPr>
            <a:r>
              <a:rPr sz="1350" b="0">
                <a:solidFill>
                  <a:srgbClr val="1F2A3A"/>
                </a:solidFill>
                <a:latin typeface="맑은 고딕"/>
                <a:ea typeface="맑은 고딕"/>
                <a:cs typeface="맑은 고딕"/>
              </a:rPr>
              <a:t>HAS_COMPONENT를</a:t>
            </a:r>
          </a:p>
          <a:p>
            <a:pPr algn="ctr">
              <a:lnSpc>
                <a:spcPct val="110000"/>
              </a:lnSpc>
              <a:spcAft>
                <a:spcPts val="400"/>
              </a:spcAft>
            </a:pPr>
            <a:r>
              <a:rPr sz="1350" b="0">
                <a:solidFill>
                  <a:srgbClr val="1F2A3A"/>
                </a:solidFill>
                <a:latin typeface="맑은 고딕"/>
                <a:ea typeface="맑은 고딕"/>
                <a:cs typeface="맑은 고딕"/>
              </a:rPr>
              <a:t>따라간다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gauge" descr="gauge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유온 센서 TS1</a:t>
            </a:r>
          </a:p>
          <a:p>
            <a:pPr algn="ctr">
              <a:lnSpc>
                <a:spcPct val="110000"/>
              </a:lnSpc>
              <a:spcAft>
                <a:spcPts val="400"/>
              </a:spcAft>
            </a:pPr>
            <a:r>
              <a:rPr sz="1350" b="0">
                <a:solidFill>
                  <a:srgbClr val="1F2A3A"/>
                </a:solidFill>
                <a:latin typeface="맑은 고딕"/>
                <a:ea typeface="맑은 고딕"/>
                <a:cs typeface="맑은 고딕"/>
              </a:rPr>
              <a:t>MONITORED_BY를</a:t>
            </a:r>
          </a:p>
          <a:p>
            <a:pPr algn="ctr">
              <a:lnSpc>
                <a:spcPct val="110000"/>
              </a:lnSpc>
              <a:spcAft>
                <a:spcPts val="400"/>
              </a:spcAft>
            </a:pPr>
            <a:r>
              <a:rPr sz="1350" b="0">
                <a:solidFill>
                  <a:srgbClr val="1F2A3A"/>
                </a:solidFill>
                <a:latin typeface="맑은 고딕"/>
                <a:ea typeface="맑은 고딕"/>
                <a:cs typeface="맑은 고딕"/>
              </a:rPr>
              <a:t>따라간다</a:t>
            </a:r>
          </a:p>
          <a:p>
            <a:pPr algn="ctr">
              <a:lnSpc>
                <a:spcPct val="110000"/>
              </a:lnSpc>
              <a:spcAft>
                <a:spcPts val="400"/>
              </a:spcAft>
            </a:pPr>
            <a:r>
              <a:rPr sz="1350" b="0">
                <a:solidFill>
                  <a:srgbClr val="1F2A3A"/>
                </a:solidFill>
                <a:latin typeface="맑은 고딕"/>
                <a:ea typeface="맑은 고딕"/>
                <a:cs typeface="맑은 고딕"/>
              </a:rPr>
              <a:t>질문 1의 답</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temperature" descr="temperature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유온의 한계 65</a:t>
            </a:r>
          </a:p>
          <a:p>
            <a:pPr algn="ctr">
              <a:lnSpc>
                <a:spcPct val="110000"/>
              </a:lnSpc>
              <a:spcAft>
                <a:spcPts val="400"/>
              </a:spcAft>
            </a:pPr>
            <a:r>
              <a:rPr sz="1350" b="0">
                <a:solidFill>
                  <a:srgbClr val="1F2A3A"/>
                </a:solidFill>
                <a:latin typeface="맑은 고딕"/>
                <a:ea typeface="맑은 고딕"/>
                <a:cs typeface="맑은 고딕"/>
              </a:rPr>
              <a:t>OBSERVES를</a:t>
            </a:r>
          </a:p>
          <a:p>
            <a:pPr algn="ctr">
              <a:lnSpc>
                <a:spcPct val="110000"/>
              </a:lnSpc>
              <a:spcAft>
                <a:spcPts val="400"/>
              </a:spcAft>
            </a:pPr>
            <a:r>
              <a:rPr sz="1350" b="0">
                <a:solidFill>
                  <a:srgbClr val="1F2A3A"/>
                </a:solidFill>
                <a:latin typeface="맑은 고딕"/>
                <a:ea typeface="맑은 고딕"/>
                <a:cs typeface="맑은 고딕"/>
              </a:rPr>
              <a:t>따라간다</a:t>
            </a:r>
          </a:p>
          <a:p>
            <a:pPr algn="ctr">
              <a:lnSpc>
                <a:spcPct val="110000"/>
              </a:lnSpc>
              <a:spcAft>
                <a:spcPts val="400"/>
              </a:spcAft>
            </a:pPr>
            <a:r>
              <a:rPr sz="1350" b="0">
                <a:solidFill>
                  <a:srgbClr val="1F2A3A"/>
                </a:solidFill>
                <a:latin typeface="맑은 고딕"/>
                <a:ea typeface="맑은 고딕"/>
                <a:cs typeface="맑은 고딕"/>
              </a:rPr>
              <a:t>질문 2의 답</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질문이 늘 때: 스키마를 넓힌다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질문에 답할 수 없으면 빠진 클래스와 관계를 찾아 스키마에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새 질문</a:t>
            </a:r>
          </a:p>
          <a:p>
            <a:pPr algn="ctr">
              <a:lnSpc>
                <a:spcPct val="110000"/>
              </a:lnSpc>
              <a:spcAft>
                <a:spcPts val="400"/>
              </a:spcAft>
            </a:pPr>
            <a:r>
              <a:rPr sz="1350" b="0">
                <a:solidFill>
                  <a:srgbClr val="1F2A3A"/>
                </a:solidFill>
                <a:latin typeface="맑은 고딕"/>
                <a:ea typeface="맑은 고딕"/>
                <a:cs typeface="맑은 고딕"/>
              </a:rPr>
              <a:t>쿨러 코어를</a:t>
            </a:r>
          </a:p>
          <a:p>
            <a:pPr algn="ctr">
              <a:lnSpc>
                <a:spcPct val="110000"/>
              </a:lnSpc>
              <a:spcAft>
                <a:spcPts val="400"/>
              </a:spcAft>
            </a:pPr>
            <a:r>
              <a:rPr sz="1350" b="0">
                <a:solidFill>
                  <a:srgbClr val="1F2A3A"/>
                </a:solidFill>
                <a:latin typeface="맑은 고딕"/>
                <a:ea typeface="맑은 고딕"/>
                <a:cs typeface="맑은 고딕"/>
              </a:rPr>
              <a:t>공급하는 곳은</a:t>
            </a:r>
          </a:p>
          <a:p>
            <a:pPr algn="ctr">
              <a:lnSpc>
                <a:spcPct val="110000"/>
              </a:lnSpc>
              <a:spcAft>
                <a:spcPts val="400"/>
              </a:spcAft>
            </a:pPr>
            <a:r>
              <a:rPr sz="1350" b="0">
                <a:solidFill>
                  <a:srgbClr val="1F2A3A"/>
                </a:solidFill>
                <a:latin typeface="맑은 고딕"/>
                <a:ea typeface="맑은 고딕"/>
                <a:cs typeface="맑은 고딕"/>
              </a:rPr>
              <a:t>어디인가</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것</a:t>
            </a:r>
          </a:p>
          <a:p>
            <a:pPr algn="ctr">
              <a:lnSpc>
                <a:spcPct val="110000"/>
              </a:lnSpc>
              <a:spcAft>
                <a:spcPts val="400"/>
              </a:spcAft>
            </a:pPr>
            <a:r>
              <a:rPr sz="1350" b="0">
                <a:solidFill>
                  <a:srgbClr val="1F2A3A"/>
                </a:solidFill>
                <a:latin typeface="맑은 고딕"/>
                <a:ea typeface="맑은 고딕"/>
                <a:cs typeface="맑은 고딕"/>
              </a:rPr>
              <a:t>공급하는 곳을</a:t>
            </a:r>
          </a:p>
          <a:p>
            <a:pPr algn="ctr">
              <a:lnSpc>
                <a:spcPct val="110000"/>
              </a:lnSpc>
              <a:spcAft>
                <a:spcPts val="400"/>
              </a:spcAft>
            </a:pPr>
            <a:r>
              <a:rPr sz="1350" b="0">
                <a:solidFill>
                  <a:srgbClr val="1F2A3A"/>
                </a:solidFill>
                <a:latin typeface="맑은 고딕"/>
                <a:ea typeface="맑은 고딕"/>
                <a:cs typeface="맑은 고딕"/>
              </a:rPr>
              <a:t>가리키는 클래스와</a:t>
            </a:r>
          </a:p>
          <a:p>
            <a:pPr algn="ctr">
              <a:lnSpc>
                <a:spcPct val="110000"/>
              </a:lnSpc>
              <a:spcAft>
                <a:spcPts val="400"/>
              </a:spcAft>
            </a:pPr>
            <a:r>
              <a:rPr sz="1350" b="0">
                <a:solidFill>
                  <a:srgbClr val="1F2A3A"/>
                </a:solidFill>
                <a:latin typeface="맑은 고딕"/>
                <a:ea typeface="맑은 고딕"/>
                <a:cs typeface="맑은 고딕"/>
              </a:rPr>
              <a:t>관계가 없다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circle-plus" descr="circle-plus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더한 것</a:t>
            </a:r>
          </a:p>
          <a:p>
            <a:pPr algn="ctr">
              <a:lnSpc>
                <a:spcPct val="110000"/>
              </a:lnSpc>
              <a:spcAft>
                <a:spcPts val="400"/>
              </a:spcAft>
            </a:pPr>
            <a:r>
              <a:rPr sz="1350" b="0">
                <a:solidFill>
                  <a:srgbClr val="1F2A3A"/>
                </a:solidFill>
                <a:latin typeface="맑은 고딕"/>
                <a:ea typeface="맑은 고딕"/>
                <a:cs typeface="맑은 고딕"/>
              </a:rPr>
              <a:t>클래스 Supplier</a:t>
            </a:r>
          </a:p>
          <a:p>
            <a:pPr algn="ctr">
              <a:lnSpc>
                <a:spcPct val="110000"/>
              </a:lnSpc>
              <a:spcAft>
                <a:spcPts val="400"/>
              </a:spcAft>
            </a:pPr>
            <a:r>
              <a:rPr sz="1350" b="0">
                <a:solidFill>
                  <a:srgbClr val="1F2A3A"/>
                </a:solidFill>
                <a:latin typeface="맑은 고딕"/>
                <a:ea typeface="맑은 고딕"/>
                <a:cs typeface="맑은 고딕"/>
              </a:rPr>
              <a:t>관계 SUPPLIED_BY</a:t>
            </a:r>
          </a:p>
          <a:p>
            <a:pPr algn="ctr">
              <a:lnSpc>
                <a:spcPct val="110000"/>
              </a:lnSpc>
              <a:spcAft>
                <a:spcPts val="400"/>
              </a:spcAft>
            </a:pPr>
            <a:r>
              <a:rPr sz="1350" b="0">
                <a:solidFill>
                  <a:srgbClr val="1F2A3A"/>
                </a:solidFill>
                <a:latin typeface="맑은 고딕"/>
                <a:ea typeface="맑은 고딕"/>
                <a:cs typeface="맑은 고딕"/>
              </a:rPr>
              <a:t>Part → Supplier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온톨로지의 클래스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 온톨로지에는 설비, 진단, 판단, 성과에 해당하는 클래스가 같은 방식으로 정의되어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94</a:t>
            </a:r>
          </a:p>
        </p:txBody>
      </p:sp>
      <p:sp>
        <p:nvSpPr>
          <p:cNvPr id="6" name="Rounded Rectangle 5"/>
          <p:cNvSpPr/>
          <p:nvPr/>
        </p:nvSpPr>
        <p:spPr>
          <a:xfrm>
            <a:off x="548640"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19756"/>
            <a:ext cx="731520" cy="731520"/>
          </a:xfrm>
          <a:prstGeom prst="ellipse">
            <a:avLst/>
          </a:prstGeom>
          <a:solidFill>
            <a:srgbClr val="5CB8F2"/>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설비</a:t>
            </a:r>
          </a:p>
          <a:p>
            <a:pPr algn="l">
              <a:lnSpc>
                <a:spcPct val="110000"/>
              </a:lnSpc>
              <a:spcAft>
                <a:spcPts val="400"/>
              </a:spcAft>
            </a:pPr>
            <a:r>
              <a:rPr sz="1350" b="0">
                <a:solidFill>
                  <a:srgbClr val="1F2A3A"/>
                </a:solidFill>
                <a:latin typeface="맑은 고딕"/>
                <a:ea typeface="맑은 고딕"/>
                <a:cs typeface="맑은 고딕"/>
              </a:rPr>
              <a:t>Asset, Component, Sensor, Actuator, StateVariable, Part, Supplier</a:t>
            </a:r>
          </a:p>
        </p:txBody>
      </p:sp>
      <p:sp>
        <p:nvSpPr>
          <p:cNvPr id="10" name="Rounded Rectangle 9"/>
          <p:cNvSpPr/>
          <p:nvPr/>
        </p:nvSpPr>
        <p:spPr>
          <a:xfrm>
            <a:off x="777240" y="5134356"/>
            <a:ext cx="193548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34356"/>
            <a:ext cx="1935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무엇으로 이루어졌는가</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tethoscope" descr="stethoscop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진단</a:t>
            </a:r>
          </a:p>
          <a:p>
            <a:pPr algn="l">
              <a:lnSpc>
                <a:spcPct val="110000"/>
              </a:lnSpc>
              <a:spcAft>
                <a:spcPts val="400"/>
              </a:spcAft>
            </a:pPr>
            <a:r>
              <a:rPr sz="1350" b="0">
                <a:solidFill>
                  <a:srgbClr val="1F2A3A"/>
                </a:solidFill>
                <a:latin typeface="맑은 고딕"/>
                <a:ea typeface="맑은 고딕"/>
                <a:cs typeface="맑은 고딕"/>
              </a:rPr>
              <a:t>AnomalyPattern, Symptom, FailureMode, Cause, Evidence</a:t>
            </a:r>
          </a:p>
        </p:txBody>
      </p:sp>
      <p:sp>
        <p:nvSpPr>
          <p:cNvPr id="16" name="Rounded Rectangle 15"/>
          <p:cNvSpPr/>
          <p:nvPr/>
        </p:nvSpPr>
        <p:spPr>
          <a:xfrm>
            <a:off x="3619423" y="5134356"/>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왜 잘못되었는가</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판단</a:t>
            </a:r>
          </a:p>
          <a:p>
            <a:pPr algn="l">
              <a:lnSpc>
                <a:spcPct val="110000"/>
              </a:lnSpc>
              <a:spcAft>
                <a:spcPts val="400"/>
              </a:spcAft>
            </a:pPr>
            <a:r>
              <a:rPr sz="1350" b="0">
                <a:solidFill>
                  <a:srgbClr val="1F2A3A"/>
                </a:solidFill>
                <a:latin typeface="맑은 고딕"/>
                <a:ea typeface="맑은 고딕"/>
                <a:cs typeface="맑은 고딕"/>
              </a:rPr>
              <a:t>Skill, Decision, Rule 등 조치 방법과 판단 규칙의 클래스</a:t>
            </a:r>
          </a:p>
        </p:txBody>
      </p:sp>
      <p:sp>
        <p:nvSpPr>
          <p:cNvPr id="22" name="Rounded Rectangle 21"/>
          <p:cNvSpPr/>
          <p:nvPr/>
        </p:nvSpPr>
        <p:spPr>
          <a:xfrm>
            <a:off x="6461607" y="5134356"/>
            <a:ext cx="172212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무엇을 할 수 있는가</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target" descr="targe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성과</a:t>
            </a:r>
          </a:p>
          <a:p>
            <a:pPr algn="l">
              <a:lnSpc>
                <a:spcPct val="110000"/>
              </a:lnSpc>
              <a:spcAft>
                <a:spcPts val="400"/>
              </a:spcAft>
            </a:pPr>
            <a:r>
              <a:rPr sz="1350" b="0">
                <a:solidFill>
                  <a:srgbClr val="1F2A3A"/>
                </a:solidFill>
                <a:latin typeface="맑은 고딕"/>
                <a:ea typeface="맑은 고딕"/>
                <a:cs typeface="맑은 고딕"/>
              </a:rPr>
              <a:t>Objective, Measure 등 목표와 성과 지표의 클래스</a:t>
            </a:r>
          </a:p>
        </p:txBody>
      </p:sp>
      <p:sp>
        <p:nvSpPr>
          <p:cNvPr id="28" name="Rounded Rectangle 27"/>
          <p:cNvSpPr/>
          <p:nvPr/>
        </p:nvSpPr>
        <p:spPr>
          <a:xfrm>
            <a:off x="9303791" y="5134356"/>
            <a:ext cx="16306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무엇이 좋아지는가</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세 문제와 스키마의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스키마의 정의 하나하나가 정의 없이 넣은 데이터의 세 문제를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95</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같은 대상이 여러 노드가 된다</a:t>
            </a:r>
          </a:p>
          <a:p>
            <a:pPr algn="l">
              <a:lnSpc>
                <a:spcPct val="110000"/>
              </a:lnSpc>
              <a:spcAft>
                <a:spcPts val="200"/>
              </a:spcAft>
            </a:pPr>
            <a:r>
              <a:rPr sz="1150" b="0">
                <a:solidFill>
                  <a:srgbClr val="556175"/>
                </a:solidFill>
                <a:latin typeface="맑은 고딕"/>
                <a:ea typeface="맑은 고딕"/>
                <a:cs typeface="맑은 고딕"/>
              </a:rPr>
              <a:t>식별자 · 별칭</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식별자 하나에 이름 하나와 별칭 목록을 둔다.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같은 관계가 어긋난다</a:t>
            </a:r>
          </a:p>
          <a:p>
            <a:pPr algn="l">
              <a:lnSpc>
                <a:spcPct val="110000"/>
              </a:lnSpc>
              <a:spcAft>
                <a:spcPts val="200"/>
              </a:spcAft>
            </a:pPr>
            <a:r>
              <a:rPr sz="1150" b="0">
                <a:solidFill>
                  <a:srgbClr val="556175"/>
                </a:solidFill>
                <a:latin typeface="맑은 고딕"/>
                <a:ea typeface="맑은 고딕"/>
                <a:cs typeface="맑은 고딕"/>
              </a:rPr>
              <a:t>관계 정의</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관계의 이름과 방향, 양 끝의 클래스를 정의한다.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값의 형식이 제각각이다</a:t>
            </a:r>
          </a:p>
          <a:p>
            <a:pPr algn="l">
              <a:lnSpc>
                <a:spcPct val="110000"/>
              </a:lnSpc>
              <a:spcAft>
                <a:spcPts val="200"/>
              </a:spcAft>
            </a:pPr>
            <a:r>
              <a:rPr sz="1150" b="0">
                <a:solidFill>
                  <a:srgbClr val="556175"/>
                </a:solidFill>
                <a:latin typeface="맑은 고딕"/>
                <a:ea typeface="맑은 고딕"/>
                <a:cs typeface="맑은 고딕"/>
              </a:rPr>
              <a:t>속성 정의</a:t>
            </a:r>
          </a:p>
        </p:txBody>
      </p:sp>
      <p:sp>
        <p:nvSpPr>
          <p:cNvPr id="13" name="TextBox 12"/>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속성마다 자료형과 필수 여부를 정한다.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그래프 DB와 Cypher</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연결된 지식을 노드와 관계로 저장하고 관계를 따라 조회하는 방법</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DB의 노드와 레이블</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DB는 대상 하나를 노드 하나로 저장하고, 노드에 </a:t>
            </a:r>
            <a:r>
              <a:rPr sz="1600" b="1">
                <a:solidFill>
                  <a:srgbClr val="1A6FC4"/>
                </a:solidFill>
                <a:latin typeface="맑은 고딕"/>
                <a:ea typeface="맑은 고딕"/>
                <a:cs typeface="맑은 고딕"/>
              </a:rPr>
              <a:t>레이블</a:t>
            </a:r>
            <a:r>
              <a:rPr sz="1600" b="0">
                <a:solidFill>
                  <a:srgbClr val="556175"/>
                </a:solidFill>
                <a:latin typeface="맑은 고딕"/>
                <a:ea typeface="맑은 고딕"/>
                <a:cs typeface="맑은 고딕"/>
              </a:rPr>
              <a:t>을 붙여 종류를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97</a:t>
            </a:r>
          </a:p>
        </p:txBody>
      </p:sp>
      <p:pic>
        <p:nvPicPr>
          <p:cNvPr id="6" name="삽화:속성그래프_1.svg" descr="illust_389590362388433955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005827"/>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레이블(Label)</a:t>
            </a:r>
          </a:p>
          <a:p>
            <a:pPr algn="ctr">
              <a:lnSpc>
                <a:spcPct val="110000"/>
              </a:lnSpc>
              <a:spcAft>
                <a:spcPts val="100"/>
              </a:spcAft>
            </a:pPr>
            <a:r>
              <a:rPr sz="1300" b="0">
                <a:solidFill>
                  <a:srgbClr val="556175"/>
                </a:solidFill>
                <a:latin typeface="맑은 고딕"/>
                <a:ea typeface="맑은 고딕"/>
                <a:cs typeface="맑은 고딕"/>
              </a:rPr>
              <a:t>노드의 종류를</a:t>
            </a:r>
          </a:p>
          <a:p>
            <a:pPr algn="ctr">
              <a:lnSpc>
                <a:spcPct val="110000"/>
              </a:lnSpc>
              <a:spcAft>
                <a:spcPts val="100"/>
              </a:spcAft>
            </a:pPr>
            <a:r>
              <a:rPr sz="1300" b="0">
                <a:solidFill>
                  <a:srgbClr val="556175"/>
                </a:solidFill>
                <a:latin typeface="맑은 고딕"/>
                <a:ea typeface="맑은 고딕"/>
                <a:cs typeface="맑은 고딕"/>
              </a:rPr>
              <a:t>나타내는 이름표</a:t>
            </a:r>
          </a:p>
        </p:txBody>
      </p:sp>
      <p:sp>
        <p:nvSpPr>
          <p:cNvPr id="8" name="TextBox 7"/>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9" name="TextBox 8"/>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10" name="TextBox 9"/>
          <p:cNvSpPr txBox="1"/>
          <p:nvPr/>
        </p:nvSpPr>
        <p:spPr>
          <a:xfrm>
            <a:off x="913837" y="337678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DB의 관계와 관계 유형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두 노드를 잇는 관계에는 방향이 있고, 관계마다 </a:t>
            </a: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이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98</a:t>
            </a:r>
          </a:p>
        </p:txBody>
      </p:sp>
      <p:pic>
        <p:nvPicPr>
          <p:cNvPr id="6" name="삽화:속성그래프_2.svg" descr="illust_909387641292007902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8" name="TextBox 7"/>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9" name="TextBox 8"/>
          <p:cNvSpPr txBox="1"/>
          <p:nvPr/>
        </p:nvSpPr>
        <p:spPr>
          <a:xfrm>
            <a:off x="4895803" y="2667670"/>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 유형</a:t>
            </a:r>
          </a:p>
          <a:p>
            <a:pPr algn="ctr">
              <a:lnSpc>
                <a:spcPct val="110000"/>
              </a:lnSpc>
              <a:spcAft>
                <a:spcPts val="100"/>
              </a:spcAft>
            </a:pPr>
            <a:r>
              <a:rPr sz="1300" b="0">
                <a:solidFill>
                  <a:srgbClr val="556175"/>
                </a:solidFill>
                <a:latin typeface="맑은 고딕"/>
                <a:ea typeface="맑은 고딕"/>
                <a:cs typeface="맑은 고딕"/>
              </a:rPr>
              <a:t>Relationship Type</a:t>
            </a:r>
          </a:p>
        </p:txBody>
      </p:sp>
      <p:sp>
        <p:nvSpPr>
          <p:cNvPr id="10" name="TextBox 9"/>
          <p:cNvSpPr txBox="1"/>
          <p:nvPr/>
        </p:nvSpPr>
        <p:spPr>
          <a:xfrm>
            <a:off x="5332182" y="340515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노드와 관계에 붙는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노드에는 이름과 값의 짝으로 된 속성이 붙으며, 관계에도 속성을 붙일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99</a:t>
            </a:r>
          </a:p>
        </p:txBody>
      </p:sp>
      <p:pic>
        <p:nvPicPr>
          <p:cNvPr id="6" name="삽화:속성그래프_3.svg" descr="illust_1530218174766634335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8" name="TextBox 7"/>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9" name="TextBox 8"/>
          <p:cNvSpPr txBox="1"/>
          <p:nvPr/>
        </p:nvSpPr>
        <p:spPr>
          <a:xfrm>
            <a:off x="5332182" y="340515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0" name="TextBox 9"/>
          <p:cNvSpPr txBox="1"/>
          <p:nvPr/>
        </p:nvSpPr>
        <p:spPr>
          <a:xfrm>
            <a:off x="2332071"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sen:ts1</a:t>
            </a:r>
          </a:p>
          <a:p>
            <a:pPr algn="ctr">
              <a:lnSpc>
                <a:spcPct val="110000"/>
              </a:lnSpc>
              <a:spcAft>
                <a:spcPts val="100"/>
              </a:spcAft>
            </a:pPr>
            <a:r>
              <a:rPr sz="1300" b="0">
                <a:solidFill>
                  <a:srgbClr val="556175"/>
                </a:solidFill>
                <a:latin typeface="맑은 고딕"/>
                <a:ea typeface="맑은 고딕"/>
                <a:cs typeface="맑은 고딕"/>
              </a:rPr>
              <a:t>name: 유온 센서</a:t>
            </a:r>
          </a:p>
          <a:p>
            <a:pPr algn="ctr">
              <a:lnSpc>
                <a:spcPct val="110000"/>
              </a:lnSpc>
              <a:spcAft>
                <a:spcPts val="100"/>
              </a:spcAft>
            </a:pPr>
            <a:r>
              <a:rPr sz="1300" b="0">
                <a:solidFill>
                  <a:srgbClr val="556175"/>
                </a:solidFill>
                <a:latin typeface="맑은 고딕"/>
                <a:ea typeface="맑은 고딕"/>
                <a:cs typeface="맑은 고딕"/>
              </a:rPr>
              <a:t>tag: TS1</a:t>
            </a:r>
          </a:p>
        </p:txBody>
      </p:sp>
      <p:sp>
        <p:nvSpPr>
          <p:cNvPr id="11" name="TextBox 10"/>
          <p:cNvSpPr txBox="1"/>
          <p:nvPr/>
        </p:nvSpPr>
        <p:spPr>
          <a:xfrm>
            <a:off x="7241344"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sv:ts1</a:t>
            </a:r>
          </a:p>
          <a:p>
            <a:pPr algn="ctr">
              <a:lnSpc>
                <a:spcPct val="110000"/>
              </a:lnSpc>
              <a:spcAft>
                <a:spcPts val="100"/>
              </a:spcAft>
            </a:pPr>
            <a:r>
              <a:rPr sz="1300" b="0">
                <a:solidFill>
                  <a:srgbClr val="556175"/>
                </a:solidFill>
                <a:latin typeface="맑은 고딕"/>
                <a:ea typeface="맑은 고딕"/>
                <a:cs typeface="맑은 고딕"/>
              </a:rPr>
              <a:t>name: 유온</a:t>
            </a:r>
          </a:p>
          <a:p>
            <a:pPr algn="ctr">
              <a:lnSpc>
                <a:spcPct val="110000"/>
              </a:lnSpc>
              <a:spcAft>
                <a:spcPts val="100"/>
              </a:spcAft>
            </a:pPr>
            <a:r>
              <a:rPr sz="1300" b="0">
                <a:solidFill>
                  <a:srgbClr val="556175"/>
                </a:solidFill>
                <a:latin typeface="맑은 고딕"/>
                <a:ea typeface="맑은 고딕"/>
                <a:cs typeface="맑은 고딕"/>
              </a:rPr>
              <a:t>normal: 48 · limit: 65</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관계형 DB: 테이블, 행, 조인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관계형 DB는 데이터를 테이블의 행으로 저장하고, 같은 값을 가진 열끼리 맞추어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100</a:t>
            </a:r>
          </a:p>
        </p:txBody>
      </p:sp>
      <p:pic>
        <p:nvPicPr>
          <p:cNvPr id="6" name="삽화:조인_1.svg" descr="illust_216663754905372356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1887641"/>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부품 테이블</a:t>
            </a:r>
          </a:p>
        </p:txBody>
      </p:sp>
      <p:sp>
        <p:nvSpPr>
          <p:cNvPr id="8" name="TextBox 7"/>
          <p:cNvSpPr txBox="1"/>
          <p:nvPr/>
        </p:nvSpPr>
        <p:spPr>
          <a:xfrm>
            <a:off x="1066570" y="2365113"/>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part_no</a:t>
            </a:r>
          </a:p>
        </p:txBody>
      </p:sp>
      <p:sp>
        <p:nvSpPr>
          <p:cNvPr id="9" name="TextBox 8"/>
          <p:cNvSpPr txBox="1"/>
          <p:nvPr/>
        </p:nvSpPr>
        <p:spPr>
          <a:xfrm>
            <a:off x="2615718" y="2365113"/>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066570"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1" name="TextBox 10"/>
          <p:cNvSpPr txBox="1"/>
          <p:nvPr/>
        </p:nvSpPr>
        <p:spPr>
          <a:xfrm>
            <a:off x="2615718"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
        <p:nvSpPr>
          <p:cNvPr id="12" name="TextBox 11"/>
          <p:cNvSpPr txBox="1"/>
          <p:nvPr/>
        </p:nvSpPr>
        <p:spPr>
          <a:xfrm>
            <a:off x="1066570" y="4464100"/>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13" name="TextBox 12"/>
          <p:cNvSpPr txBox="1"/>
          <p:nvPr/>
        </p:nvSpPr>
        <p:spPr>
          <a:xfrm>
            <a:off x="2615718" y="4464100"/>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part_no</a:t>
            </a:r>
          </a:p>
        </p:txBody>
      </p:sp>
      <p:sp>
        <p:nvSpPr>
          <p:cNvPr id="14" name="TextBox 13"/>
          <p:cNvSpPr txBox="1"/>
          <p:nvPr/>
        </p:nvSpPr>
        <p:spPr>
          <a:xfrm>
            <a:off x="1066570" y="4917935"/>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sup:a</a:t>
            </a:r>
          </a:p>
        </p:txBody>
      </p:sp>
      <p:sp>
        <p:nvSpPr>
          <p:cNvPr id="15" name="TextBox 14"/>
          <p:cNvSpPr txBox="1"/>
          <p:nvPr/>
        </p:nvSpPr>
        <p:spPr>
          <a:xfrm>
            <a:off x="2615718" y="4917935"/>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6" name="TextBox 15"/>
          <p:cNvSpPr txBox="1"/>
          <p:nvPr/>
        </p:nvSpPr>
        <p:spPr>
          <a:xfrm>
            <a:off x="1066570" y="5333951"/>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sup:b</a:t>
            </a:r>
          </a:p>
        </p:txBody>
      </p:sp>
      <p:sp>
        <p:nvSpPr>
          <p:cNvPr id="17" name="TextBox 16"/>
          <p:cNvSpPr txBox="1"/>
          <p:nvPr/>
        </p:nvSpPr>
        <p:spPr>
          <a:xfrm>
            <a:off x="2615718" y="5333951"/>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8" name="TextBox 17"/>
          <p:cNvSpPr txBox="1"/>
          <p:nvPr/>
        </p:nvSpPr>
        <p:spPr>
          <a:xfrm>
            <a:off x="1459312" y="57168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공급사 테이블</a:t>
            </a:r>
          </a:p>
        </p:txBody>
      </p:sp>
      <p:sp>
        <p:nvSpPr>
          <p:cNvPr id="19" name="TextBox 18"/>
          <p:cNvSpPr txBox="1"/>
          <p:nvPr/>
        </p:nvSpPr>
        <p:spPr>
          <a:xfrm>
            <a:off x="3586663" y="3471336"/>
            <a:ext cx="2290993"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조인(JOIN)</a:t>
            </a:r>
          </a:p>
          <a:p>
            <a:pPr algn="ctr">
              <a:lnSpc>
                <a:spcPct val="110000"/>
              </a:lnSpc>
              <a:spcAft>
                <a:spcPts val="100"/>
              </a:spcAft>
            </a:pPr>
            <a:r>
              <a:rPr sz="1100" b="0">
                <a:solidFill>
                  <a:srgbClr val="556175"/>
                </a:solidFill>
                <a:latin typeface="맑은 고딕"/>
                <a:ea typeface="맑은 고딕"/>
                <a:cs typeface="맑은 고딕"/>
              </a:rPr>
              <a:t>part_no 값이 같은 행끼리</a:t>
            </a:r>
          </a:p>
          <a:p>
            <a:pPr algn="ctr">
              <a:lnSpc>
                <a:spcPct val="110000"/>
              </a:lnSpc>
              <a:spcAft>
                <a:spcPts val="100"/>
              </a:spcAft>
            </a:pPr>
            <a:r>
              <a:rPr sz="1100" b="0">
                <a:solidFill>
                  <a:srgbClr val="556175"/>
                </a:solidFill>
                <a:latin typeface="맑은 고딕"/>
                <a:ea typeface="맑은 고딕"/>
                <a:cs typeface="맑은 고딕"/>
              </a:rPr>
              <a:t>맞추어 잇는다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 저장된 관계를 따라간다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DB에서는 관계가 데이터로 저장되어 있어, 맞추어 볼 것 없이 관계를 따라가면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101</a:t>
            </a:r>
          </a:p>
        </p:txBody>
      </p:sp>
      <p:pic>
        <p:nvPicPr>
          <p:cNvPr id="6" name="삽화:조인_2.svg" descr="illust_3367293193631117942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1887641"/>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부품 테이블</a:t>
            </a:r>
          </a:p>
        </p:txBody>
      </p:sp>
      <p:sp>
        <p:nvSpPr>
          <p:cNvPr id="8" name="TextBox 7"/>
          <p:cNvSpPr txBox="1"/>
          <p:nvPr/>
        </p:nvSpPr>
        <p:spPr>
          <a:xfrm>
            <a:off x="1459312" y="57168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공급사 테이블</a:t>
            </a:r>
          </a:p>
        </p:txBody>
      </p:sp>
      <p:sp>
        <p:nvSpPr>
          <p:cNvPr id="9" name="TextBox 8"/>
          <p:cNvSpPr txBox="1"/>
          <p:nvPr/>
        </p:nvSpPr>
        <p:spPr>
          <a:xfrm>
            <a:off x="7950461" y="2005827"/>
            <a:ext cx="174551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SUPPLIED_BY</a:t>
            </a:r>
          </a:p>
        </p:txBody>
      </p:sp>
      <p:sp>
        <p:nvSpPr>
          <p:cNvPr id="10" name="TextBox 9"/>
          <p:cNvSpPr txBox="1"/>
          <p:nvPr/>
        </p:nvSpPr>
        <p:spPr>
          <a:xfrm>
            <a:off x="6674050" y="4629561"/>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a:p>
            <a:pPr algn="ctr">
              <a:lnSpc>
                <a:spcPct val="110000"/>
              </a:lnSpc>
              <a:spcAft>
                <a:spcPts val="100"/>
              </a:spcAft>
            </a:pPr>
            <a:r>
              <a:rPr sz="1100" b="0">
                <a:solidFill>
                  <a:srgbClr val="556175"/>
                </a:solidFill>
                <a:latin typeface="맑은 고딕"/>
                <a:ea typeface="맑은 고딕"/>
                <a:cs typeface="맑은 고딕"/>
              </a:rPr>
              <a:t>Part</a:t>
            </a:r>
          </a:p>
        </p:txBody>
      </p:sp>
      <p:sp>
        <p:nvSpPr>
          <p:cNvPr id="11" name="TextBox 10"/>
          <p:cNvSpPr txBox="1"/>
          <p:nvPr/>
        </p:nvSpPr>
        <p:spPr>
          <a:xfrm>
            <a:off x="9510519" y="349970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A정밀</a:t>
            </a:r>
          </a:p>
          <a:p>
            <a:pPr algn="ctr">
              <a:lnSpc>
                <a:spcPct val="110000"/>
              </a:lnSpc>
              <a:spcAft>
                <a:spcPts val="100"/>
              </a:spcAft>
            </a:pPr>
            <a:r>
              <a:rPr sz="1100" b="0">
                <a:solidFill>
                  <a:srgbClr val="556175"/>
                </a:solidFill>
                <a:latin typeface="맑은 고딕"/>
                <a:ea typeface="맑은 고딕"/>
                <a:cs typeface="맑은 고딕"/>
              </a:rPr>
              <a:t>Supplier</a:t>
            </a:r>
          </a:p>
        </p:txBody>
      </p:sp>
      <p:sp>
        <p:nvSpPr>
          <p:cNvPr id="12" name="TextBox 11"/>
          <p:cNvSpPr txBox="1"/>
          <p:nvPr/>
        </p:nvSpPr>
        <p:spPr>
          <a:xfrm>
            <a:off x="9510519" y="5504139"/>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B-OEM</a:t>
            </a:r>
          </a:p>
          <a:p>
            <a:pPr algn="ctr">
              <a:lnSpc>
                <a:spcPct val="110000"/>
              </a:lnSpc>
              <a:spcAft>
                <a:spcPts val="100"/>
              </a:spcAft>
            </a:pPr>
            <a:r>
              <a:rPr sz="1100" b="0">
                <a:solidFill>
                  <a:srgbClr val="556175"/>
                </a:solidFill>
                <a:latin typeface="맑은 고딕"/>
                <a:ea typeface="맑은 고딕"/>
                <a:cs typeface="맑은 고딕"/>
              </a:rPr>
              <a:t>Supplier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두 DB의 쓰임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모양의 값을 많이 쌓는 일은 관계형 DB가, 연결을 여러 단계 따라가는 일은 그래프 DB가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관계형 DB</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테이블 · 행 · 조인</a:t>
            </a:r>
          </a:p>
          <a:p>
            <a:pPr algn="l">
              <a:lnSpc>
                <a:spcPct val="110000"/>
              </a:lnSpc>
              <a:spcAft>
                <a:spcPts val="600"/>
              </a:spcAft>
            </a:pPr>
            <a:r>
              <a:rPr sz="1450" b="0">
                <a:solidFill>
                  <a:srgbClr val="1F2A3A"/>
                </a:solidFill>
                <a:latin typeface="맑은 고딕"/>
                <a:ea typeface="맑은 고딕"/>
                <a:cs typeface="맑은 고딕"/>
              </a:rPr>
              <a:t>• 같은 모양의 데이터를 쌓고 집계한다</a:t>
            </a:r>
          </a:p>
          <a:p>
            <a:pPr algn="l">
              <a:lnSpc>
                <a:spcPct val="110000"/>
              </a:lnSpc>
              <a:spcAft>
                <a:spcPts val="600"/>
              </a:spcAft>
            </a:pPr>
            <a:r>
              <a:rPr sz="1450" b="0">
                <a:solidFill>
                  <a:srgbClr val="1F2A3A"/>
                </a:solidFill>
                <a:latin typeface="맑은 고딕"/>
                <a:ea typeface="맑은 고딕"/>
                <a:cs typeface="맑은 고딕"/>
              </a:rPr>
              <a:t>• 예: 매초 쌓이는 유온 값의 표 tag_1s</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opology-star-3" descr="topology-star-3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그래프 DB</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노드 · 관계 · 속성</a:t>
            </a:r>
          </a:p>
          <a:p>
            <a:pPr algn="l">
              <a:lnSpc>
                <a:spcPct val="110000"/>
              </a:lnSpc>
              <a:spcAft>
                <a:spcPts val="600"/>
              </a:spcAft>
            </a:pPr>
            <a:r>
              <a:rPr sz="1450" b="0">
                <a:solidFill>
                  <a:srgbClr val="1F2A3A"/>
                </a:solidFill>
                <a:latin typeface="맑은 고딕"/>
                <a:ea typeface="맑은 고딕"/>
                <a:cs typeface="맑은 고딕"/>
              </a:rPr>
              <a:t>• 연결을 여러 단계 따라간다</a:t>
            </a:r>
          </a:p>
          <a:p>
            <a:pPr algn="l">
              <a:lnSpc>
                <a:spcPct val="110000"/>
              </a:lnSpc>
              <a:spcAft>
                <a:spcPts val="600"/>
              </a:spcAft>
            </a:pPr>
            <a:r>
              <a:rPr sz="1450" b="0">
                <a:solidFill>
                  <a:srgbClr val="1F2A3A"/>
                </a:solidFill>
                <a:latin typeface="맑은 고딕"/>
                <a:ea typeface="맑은 고딕"/>
                <a:cs typeface="맑은 고딕"/>
              </a:rPr>
              <a:t>• 예: 설비에서 구성 요소, 센서, 상태 변수까지</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뜻과 연결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스키마와 Neo4j의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 스키마의 정의는 Neo4j에서 레이블, 관계 유형, 속성, DB 제약으로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온톨로지 스키마</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Neo4j</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예</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클래스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노드의 레이블</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:Sensor</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인스턴스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센서</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속성</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노드와 관계의 속성</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tag: 'TS1'</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관계 유형</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 유형</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:OBSERVES</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상위 · 하위 클래스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한 노드에 레이블 둘</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:Task:FlowNode</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식별자의 고유성</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DB 제약</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id의 유일 제약</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DB 제약: 저장할 때 데이터베이스가 검사하는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DB 제약</a:t>
            </a:r>
            <a:r>
              <a:rPr sz="1600" b="0">
                <a:solidFill>
                  <a:srgbClr val="556175"/>
                </a:solidFill>
                <a:latin typeface="맑은 고딕"/>
                <a:ea typeface="맑은 고딕"/>
                <a:cs typeface="맑은 고딕"/>
              </a:rPr>
              <a:t>은 데이터를 저장하는 순간에 데이터베이스가 직접 검사하는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DB 제약</a:t>
            </a:r>
          </a:p>
          <a:p>
            <a:pPr algn="l">
              <a:lnSpc>
                <a:spcPct val="110000"/>
              </a:lnSpc>
              <a:spcAft>
                <a:spcPts val="200"/>
              </a:spcAft>
            </a:pPr>
            <a:r>
              <a:rPr sz="1150" b="0">
                <a:solidFill>
                  <a:srgbClr val="556175"/>
                </a:solidFill>
                <a:latin typeface="맑은 고딕"/>
                <a:ea typeface="맑은 고딕"/>
                <a:cs typeface="맑은 고딕"/>
              </a:rPr>
              <a:t>Constraint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스키마의 제약 가운데 데이터베이스에 걸어 둔 것이다.</a:t>
            </a:r>
          </a:p>
          <a:p>
            <a:pPr algn="l">
              <a:lnSpc>
                <a:spcPct val="110000"/>
              </a:lnSpc>
              <a:spcAft>
                <a:spcPts val="300"/>
              </a:spcAft>
            </a:pPr>
            <a:r>
              <a:rPr sz="1400" b="0">
                <a:solidFill>
                  <a:srgbClr val="1F2A3A"/>
                </a:solidFill>
                <a:latin typeface="맑은 고딕"/>
                <a:ea typeface="맑은 고딕"/>
                <a:cs typeface="맑은 고딕"/>
              </a:rPr>
              <a:t>조건에 어긋나는 데이터는 저장되지 않는다.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유일 제약</a:t>
            </a:r>
          </a:p>
          <a:p>
            <a:pPr algn="l">
              <a:lnSpc>
                <a:spcPct val="110000"/>
              </a:lnSpc>
              <a:spcAft>
                <a:spcPts val="200"/>
              </a:spcAft>
            </a:pPr>
            <a:r>
              <a:rPr sz="1150" b="0">
                <a:solidFill>
                  <a:srgbClr val="556175"/>
                </a:solidFill>
                <a:latin typeface="맑은 고딕"/>
                <a:ea typeface="맑은 고딕"/>
                <a:cs typeface="맑은 고딕"/>
              </a:rPr>
              <a:t>식별자의 고유성</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같은 레이블의 노드끼리 어떤 속성의 값이 겹치지 않게 한다.</a:t>
            </a:r>
          </a:p>
          <a:p>
            <a:pPr algn="l">
              <a:lnSpc>
                <a:spcPct val="110000"/>
              </a:lnSpc>
              <a:spcAft>
                <a:spcPts val="300"/>
              </a:spcAft>
            </a:pPr>
            <a:r>
              <a:rPr sz="1400" b="0">
                <a:solidFill>
                  <a:srgbClr val="1F2A3A"/>
                </a:solidFill>
                <a:latin typeface="맑은 고딕"/>
                <a:ea typeface="맑은 고딕"/>
                <a:cs typeface="맑은 고딕"/>
              </a:rPr>
              <a:t>예: 센서 노드의 id에 걸면 id가 sen:ts1인 센서를 하나 더 만들 수 없다.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스키마와 DB 제약</a:t>
            </a:r>
          </a:p>
          <a:p>
            <a:pPr algn="l">
              <a:lnSpc>
                <a:spcPct val="110000"/>
              </a:lnSpc>
              <a:spcAft>
                <a:spcPts val="200"/>
              </a:spcAft>
            </a:pPr>
            <a:r>
              <a:rPr sz="1150" b="0">
                <a:solidFill>
                  <a:srgbClr val="556175"/>
                </a:solidFill>
                <a:latin typeface="맑은 고딕"/>
                <a:ea typeface="맑은 고딕"/>
                <a:cs typeface="맑은 고딕"/>
              </a:rPr>
              <a:t>정의와 검사</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스키마는 무엇이 옳은 데이터인지를 정한다.</a:t>
            </a:r>
          </a:p>
          <a:p>
            <a:pPr algn="l">
              <a:lnSpc>
                <a:spcPct val="110000"/>
              </a:lnSpc>
              <a:spcAft>
                <a:spcPts val="300"/>
              </a:spcAft>
            </a:pPr>
            <a:r>
              <a:rPr sz="1400" b="0">
                <a:solidFill>
                  <a:srgbClr val="1F2A3A"/>
                </a:solidFill>
                <a:latin typeface="맑은 고딕"/>
                <a:ea typeface="맑은 고딕"/>
                <a:cs typeface="맑은 고딕"/>
              </a:rPr>
              <a:t>DB 제약은 그 조건을 저장하는 순간에 지키게 한다.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Cypher와 Neo4j Browser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Neo4j의 그래프는 </a:t>
            </a:r>
            <a:r>
              <a:rPr sz="1600" b="1">
                <a:solidFill>
                  <a:srgbClr val="1A6FC4"/>
                </a:solidFill>
                <a:latin typeface="맑은 고딕"/>
                <a:ea typeface="맑은 고딕"/>
                <a:cs typeface="맑은 고딕"/>
              </a:rPr>
              <a:t>Cypher</a:t>
            </a:r>
            <a:r>
              <a:rPr sz="1600" b="0">
                <a:solidFill>
                  <a:srgbClr val="556175"/>
                </a:solidFill>
                <a:latin typeface="맑은 고딕"/>
                <a:ea typeface="맑은 고딕"/>
                <a:cs typeface="맑은 고딕"/>
              </a:rPr>
              <a:t>라는 질의 언어로 조회하고 만들며, Neo4j Browser가 그 질의를 실행하는 화면이다.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105</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질의(Query)</a:t>
            </a:r>
          </a:p>
          <a:p>
            <a:pPr algn="l">
              <a:lnSpc>
                <a:spcPct val="110000"/>
              </a:lnSpc>
              <a:spcAft>
                <a:spcPts val="200"/>
              </a:spcAft>
            </a:pPr>
            <a:r>
              <a:rPr sz="1150" b="0">
                <a:solidFill>
                  <a:srgbClr val="556175"/>
                </a:solidFill>
                <a:latin typeface="맑은 고딕"/>
                <a:ea typeface="맑은 고딕"/>
                <a:cs typeface="맑은 고딕"/>
              </a:rPr>
              <a:t>요청</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데이터베이스에 보내는 요청 한 건이다. 무엇을 찾을지 또는 무엇을 만들지를 적는다.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Cypher</a:t>
            </a:r>
          </a:p>
          <a:p>
            <a:pPr algn="l">
              <a:lnSpc>
                <a:spcPct val="110000"/>
              </a:lnSpc>
              <a:spcAft>
                <a:spcPts val="200"/>
              </a:spcAft>
            </a:pPr>
            <a:r>
              <a:rPr sz="1150" b="0">
                <a:solidFill>
                  <a:srgbClr val="556175"/>
                </a:solidFill>
                <a:latin typeface="맑은 고딕"/>
                <a:ea typeface="맑은 고딕"/>
                <a:cs typeface="맑은 고딕"/>
              </a:rPr>
              <a:t>질의 언어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Neo4j의 질의 언어이다. 찾으려는 노드와 관계의 모양을 글자로 그려서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Neo4j Browser</a:t>
            </a:r>
          </a:p>
          <a:p>
            <a:pPr algn="l">
              <a:lnSpc>
                <a:spcPct val="110000"/>
              </a:lnSpc>
              <a:spcAft>
                <a:spcPts val="200"/>
              </a:spcAft>
            </a:pPr>
            <a:r>
              <a:rPr sz="1150" b="0">
                <a:solidFill>
                  <a:srgbClr val="556175"/>
                </a:solidFill>
                <a:latin typeface="맑은 고딕"/>
                <a:ea typeface="맑은 고딕"/>
                <a:cs typeface="맑은 고딕"/>
              </a:rPr>
              <a:t>질의 실행 화면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Neo4j에 딸린 웹 화면이다. Cypher를 입력해 실행하고 결과를 그래프와 표로 본다.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 표기 ①: 노드는 둥근 괄호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Cypher는 노드를 둥근 괄호로 적고, 괄호 안의 콜론 뒤에 레이블을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106</a:t>
            </a:r>
          </a:p>
        </p:txBody>
      </p:sp>
      <p:pic>
        <p:nvPicPr>
          <p:cNvPr id="6" name="삽화:표기_1.svg" descr="illust_767207060917557741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38402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8" name="TextBox 7"/>
          <p:cNvSpPr txBox="1"/>
          <p:nvPr/>
        </p:nvSpPr>
        <p:spPr>
          <a:xfrm>
            <a:off x="10077813" y="238402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9" name="TextBox 8"/>
          <p:cNvSpPr txBox="1"/>
          <p:nvPr/>
        </p:nvSpPr>
        <p:spPr>
          <a:xfrm>
            <a:off x="1677502" y="4369551"/>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(s:Sensor)</a:t>
            </a:r>
          </a:p>
        </p:txBody>
      </p:sp>
      <p:sp>
        <p:nvSpPr>
          <p:cNvPr id="10" name="TextBox 9"/>
          <p:cNvSpPr txBox="1"/>
          <p:nvPr/>
        </p:nvSpPr>
        <p:spPr>
          <a:xfrm>
            <a:off x="7677724" y="4369551"/>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(v:StateVariable)</a:t>
            </a:r>
          </a:p>
        </p:txBody>
      </p:sp>
      <p:sp>
        <p:nvSpPr>
          <p:cNvPr id="11" name="TextBox 10"/>
          <p:cNvSpPr txBox="1"/>
          <p:nvPr/>
        </p:nvSpPr>
        <p:spPr>
          <a:xfrm>
            <a:off x="1622954" y="5102306"/>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둥근 괄호는 노드</a:t>
            </a:r>
          </a:p>
          <a:p>
            <a:pPr algn="ctr">
              <a:lnSpc>
                <a:spcPct val="110000"/>
              </a:lnSpc>
              <a:spcAft>
                <a:spcPts val="100"/>
              </a:spcAft>
            </a:pPr>
            <a:r>
              <a:rPr sz="1300" b="0">
                <a:solidFill>
                  <a:srgbClr val="556175"/>
                </a:solidFill>
                <a:latin typeface="맑은 고딕"/>
                <a:ea typeface="맑은 고딕"/>
                <a:cs typeface="맑은 고딕"/>
              </a:rPr>
              <a:t>콜론 뒤의 Sensor가 레이블이다</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 표기 ②: 관계는 대괄호와 화살표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관계는 대괄호로 적고 콜론 뒤에 관계 유형을 적으며, 양옆의 줄표와 화살표가 방향을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107</a:t>
            </a:r>
          </a:p>
        </p:txBody>
      </p:sp>
      <p:pic>
        <p:nvPicPr>
          <p:cNvPr id="6" name="삽화:표기_2.svg" descr="illust_266626545304473175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332182" y="210037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8" name="TextBox 7"/>
          <p:cNvSpPr txBox="1"/>
          <p:nvPr/>
        </p:nvSpPr>
        <p:spPr>
          <a:xfrm>
            <a:off x="1677502" y="4369551"/>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(s:Sensor)</a:t>
            </a:r>
          </a:p>
        </p:txBody>
      </p:sp>
      <p:sp>
        <p:nvSpPr>
          <p:cNvPr id="9" name="TextBox 8"/>
          <p:cNvSpPr txBox="1"/>
          <p:nvPr/>
        </p:nvSpPr>
        <p:spPr>
          <a:xfrm>
            <a:off x="5059445" y="4369551"/>
            <a:ext cx="207280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-[:OBSERVES]-&gt;</a:t>
            </a:r>
          </a:p>
        </p:txBody>
      </p:sp>
      <p:sp>
        <p:nvSpPr>
          <p:cNvPr id="10" name="TextBox 9"/>
          <p:cNvSpPr txBox="1"/>
          <p:nvPr/>
        </p:nvSpPr>
        <p:spPr>
          <a:xfrm>
            <a:off x="7677724" y="4369551"/>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(v:StateVariable)</a:t>
            </a:r>
          </a:p>
        </p:txBody>
      </p:sp>
      <p:sp>
        <p:nvSpPr>
          <p:cNvPr id="11" name="TextBox 10"/>
          <p:cNvSpPr txBox="1"/>
          <p:nvPr/>
        </p:nvSpPr>
        <p:spPr>
          <a:xfrm>
            <a:off x="4895803" y="5102306"/>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대괄호는 관계</a:t>
            </a:r>
          </a:p>
          <a:p>
            <a:pPr algn="ctr">
              <a:lnSpc>
                <a:spcPct val="110000"/>
              </a:lnSpc>
              <a:spcAft>
                <a:spcPts val="100"/>
              </a:spcAft>
            </a:pPr>
            <a:r>
              <a:rPr sz="1300" b="0">
                <a:solidFill>
                  <a:srgbClr val="556175"/>
                </a:solidFill>
                <a:latin typeface="맑은 고딕"/>
                <a:ea typeface="맑은 고딕"/>
                <a:cs typeface="맑은 고딕"/>
              </a:rPr>
              <a:t>콜론 뒤가 관계 유형이고</a:t>
            </a:r>
          </a:p>
          <a:p>
            <a:pPr algn="ctr">
              <a:lnSpc>
                <a:spcPct val="110000"/>
              </a:lnSpc>
              <a:spcAft>
                <a:spcPts val="100"/>
              </a:spcAft>
            </a:pPr>
            <a:r>
              <a:rPr sz="1300" b="0">
                <a:solidFill>
                  <a:srgbClr val="556175"/>
                </a:solidFill>
                <a:latin typeface="맑은 고딕"/>
                <a:ea typeface="맑은 고딕"/>
                <a:cs typeface="맑은 고딕"/>
              </a:rPr>
              <a:t>화살표가 방향이다</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 표기 ③: 변수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콜론 앞에 적은 이름은 찾은 노드에 붙이는 변수이며, 뒤에서 그 노드를 다시 부를 때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108</a:t>
            </a:r>
          </a:p>
        </p:txBody>
      </p:sp>
      <p:pic>
        <p:nvPicPr>
          <p:cNvPr id="6" name="삽화:표기_3.svg" descr="illust_643401586507921310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38402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8" name="TextBox 7"/>
          <p:cNvSpPr txBox="1"/>
          <p:nvPr/>
        </p:nvSpPr>
        <p:spPr>
          <a:xfrm>
            <a:off x="5332182" y="210037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10077813" y="238402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10" name="TextBox 9"/>
          <p:cNvSpPr txBox="1"/>
          <p:nvPr/>
        </p:nvSpPr>
        <p:spPr>
          <a:xfrm>
            <a:off x="1677502" y="4369551"/>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(s:Sensor)</a:t>
            </a:r>
          </a:p>
        </p:txBody>
      </p:sp>
      <p:sp>
        <p:nvSpPr>
          <p:cNvPr id="11" name="TextBox 10"/>
          <p:cNvSpPr txBox="1"/>
          <p:nvPr/>
        </p:nvSpPr>
        <p:spPr>
          <a:xfrm>
            <a:off x="5059445" y="4369551"/>
            <a:ext cx="207280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-[:OBSERVES]-&gt;</a:t>
            </a:r>
          </a:p>
        </p:txBody>
      </p:sp>
      <p:sp>
        <p:nvSpPr>
          <p:cNvPr id="12" name="TextBox 11"/>
          <p:cNvSpPr txBox="1"/>
          <p:nvPr/>
        </p:nvSpPr>
        <p:spPr>
          <a:xfrm>
            <a:off x="7677724" y="4369551"/>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(v:StateVariable)</a:t>
            </a:r>
          </a:p>
        </p:txBody>
      </p:sp>
      <p:sp>
        <p:nvSpPr>
          <p:cNvPr id="13" name="TextBox 12"/>
          <p:cNvSpPr txBox="1"/>
          <p:nvPr/>
        </p:nvSpPr>
        <p:spPr>
          <a:xfrm>
            <a:off x="4459423" y="5102306"/>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s와 v는 변수</a:t>
            </a:r>
          </a:p>
          <a:p>
            <a:pPr algn="ctr">
              <a:lnSpc>
                <a:spcPct val="110000"/>
              </a:lnSpc>
              <a:spcAft>
                <a:spcPts val="100"/>
              </a:spcAft>
            </a:pPr>
            <a:r>
              <a:rPr sz="1300" b="0">
                <a:solidFill>
                  <a:srgbClr val="556175"/>
                </a:solidFill>
                <a:latin typeface="맑은 고딕"/>
                <a:ea typeface="맑은 고딕"/>
                <a:cs typeface="맑은 고딕"/>
              </a:rPr>
              <a:t>뒤에서 s.tag, v.name처럼</a:t>
            </a:r>
          </a:p>
          <a:p>
            <a:pPr algn="ctr">
              <a:lnSpc>
                <a:spcPct val="110000"/>
              </a:lnSpc>
              <a:spcAft>
                <a:spcPts val="100"/>
              </a:spcAft>
            </a:pPr>
            <a:r>
              <a:rPr sz="1300" b="0">
                <a:solidFill>
                  <a:srgbClr val="556175"/>
                </a:solidFill>
                <a:latin typeface="맑은 고딕"/>
                <a:ea typeface="맑은 고딕"/>
                <a:cs typeface="맑은 고딕"/>
              </a:rPr>
              <a:t>그 노드의 속성을 부른다</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조건: 중괄호로 노드를 좁힌다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괄호 안에 레이블과 중괄호의 속성 조건을 더할수록 가리키는 노드가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109</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(s:Sensor)</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(s:Sensor {tag: 'TS1'})</a:t>
            </a:r>
          </a:p>
        </p:txBody>
      </p:sp>
      <p:sp>
        <p:nvSpPr>
          <p:cNvPr id="8" name="TextBox 7"/>
          <p:cNvSpPr txBox="1"/>
          <p:nvPr/>
        </p:nvSpPr>
        <p:spPr>
          <a:xfrm>
            <a:off x="7635240" y="2653665"/>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a:t>
            </a:r>
          </a:p>
          <a:p>
            <a:pPr algn="l">
              <a:lnSpc>
                <a:spcPct val="110000"/>
              </a:lnSpc>
              <a:spcAft>
                <a:spcPts val="400"/>
              </a:spcAft>
            </a:pPr>
            <a:r>
              <a:rPr sz="1400" b="0">
                <a:solidFill>
                  <a:srgbClr val="1F2A3A"/>
                </a:solidFill>
                <a:latin typeface="맑은 고딕"/>
                <a:ea typeface="맑은 고딕"/>
                <a:cs typeface="맑은 고딕"/>
              </a:rPr>
              <a:t>아무 노드나 가리킨다.</a:t>
            </a:r>
          </a:p>
        </p:txBody>
      </p:sp>
      <p:sp>
        <p:nvSpPr>
          <p:cNvPr id="9" name="TextBox 8"/>
          <p:cNvSpPr txBox="1"/>
          <p:nvPr/>
        </p:nvSpPr>
        <p:spPr>
          <a:xfrm>
            <a:off x="7635240" y="3545459"/>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(s:Sensor)</a:t>
            </a:r>
          </a:p>
          <a:p>
            <a:pPr algn="l">
              <a:lnSpc>
                <a:spcPct val="110000"/>
              </a:lnSpc>
              <a:spcAft>
                <a:spcPts val="400"/>
              </a:spcAft>
            </a:pPr>
            <a:r>
              <a:rPr sz="1400" b="0">
                <a:solidFill>
                  <a:srgbClr val="1F2A3A"/>
                </a:solidFill>
                <a:latin typeface="맑은 고딕"/>
                <a:ea typeface="맑은 고딕"/>
                <a:cs typeface="맑은 고딕"/>
              </a:rPr>
              <a:t>Sensor 레이블이 붙은 노드만 가리킨다.</a:t>
            </a:r>
          </a:p>
        </p:txBody>
      </p:sp>
      <p:sp>
        <p:nvSpPr>
          <p:cNvPr id="10" name="TextBox 9"/>
          <p:cNvSpPr txBox="1"/>
          <p:nvPr/>
        </p:nvSpPr>
        <p:spPr>
          <a:xfrm>
            <a:off x="7635240" y="4437253"/>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{tag: 'TS1'}</a:t>
            </a:r>
          </a:p>
          <a:p>
            <a:pPr algn="l">
              <a:lnSpc>
                <a:spcPct val="110000"/>
              </a:lnSpc>
              <a:spcAft>
                <a:spcPts val="400"/>
              </a:spcAft>
            </a:pPr>
            <a:r>
              <a:rPr sz="1400" b="0">
                <a:solidFill>
                  <a:srgbClr val="1F2A3A"/>
                </a:solidFill>
                <a:latin typeface="맑은 고딕"/>
                <a:ea typeface="맑은 고딕"/>
                <a:cs typeface="맑은 고딕"/>
              </a:rPr>
              <a:t>그 가운데 tag 속성이 TS1인 노드만 가리킨다.</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MATCH: 찾을 모양을 적는다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MATCH 뒤에 찾을 모양을 적으면 Neo4j가 그래프에서 그 모양에 맞는 것을 모두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110</a:t>
            </a:r>
          </a:p>
        </p:txBody>
      </p:sp>
      <p:sp>
        <p:nvSpPr>
          <p:cNvPr id="6" name="Rounded Rectangle 5"/>
          <p:cNvSpPr/>
          <p:nvPr/>
        </p:nvSpPr>
        <p:spPr>
          <a:xfrm>
            <a:off x="548640" y="2894076"/>
            <a:ext cx="6766560" cy="219456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3031236"/>
            <a:ext cx="6400800" cy="192024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-[:MONITORED_BY]-&gt;(s:Sensor)</a:t>
            </a:r>
          </a:p>
        </p:txBody>
      </p:sp>
      <p:sp>
        <p:nvSpPr>
          <p:cNvPr id="8" name="TextBox 7"/>
          <p:cNvSpPr txBox="1"/>
          <p:nvPr/>
        </p:nvSpPr>
        <p:spPr>
          <a:xfrm>
            <a:off x="7635240" y="2894076"/>
            <a:ext cx="4007815" cy="109728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찾을 모양을 적는 자리이다.</a:t>
            </a:r>
          </a:p>
        </p:txBody>
      </p:sp>
      <p:sp>
        <p:nvSpPr>
          <p:cNvPr id="9" name="TextBox 8"/>
          <p:cNvSpPr txBox="1"/>
          <p:nvPr/>
        </p:nvSpPr>
        <p:spPr>
          <a:xfrm>
            <a:off x="7635240" y="3991356"/>
            <a:ext cx="4007815" cy="109728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이 모양</a:t>
            </a:r>
          </a:p>
          <a:p>
            <a:pPr algn="l">
              <a:lnSpc>
                <a:spcPct val="110000"/>
              </a:lnSpc>
              <a:spcAft>
                <a:spcPts val="400"/>
              </a:spcAft>
            </a:pPr>
            <a:r>
              <a:rPr sz="1400" b="0">
                <a:solidFill>
                  <a:srgbClr val="1F2A3A"/>
                </a:solidFill>
                <a:latin typeface="맑은 고딕"/>
                <a:ea typeface="맑은 고딕"/>
                <a:cs typeface="맑은 고딕"/>
              </a:rPr>
              <a:t>이름이 오일 쿨러인 구성 요소에서 MONITORED_BY로 이어진 센서이다.</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RETURN: 돌려받을 것을 적는다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RETURN 뒤에 돌려받을 것을 적으면 찾은 것마다 그 값이 한 행씩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111</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RETURN c.name, s.tag</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p:txBody>
      </p:sp>
      <p:sp>
        <p:nvSpPr>
          <p:cNvPr id="8" name="TextBox 7"/>
          <p:cNvSpPr txBox="1"/>
          <p:nvPr/>
        </p:nvSpPr>
        <p:spPr>
          <a:xfrm>
            <a:off x="7635240" y="2653665"/>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RETURN</a:t>
            </a:r>
          </a:p>
          <a:p>
            <a:pPr algn="l">
              <a:lnSpc>
                <a:spcPct val="110000"/>
              </a:lnSpc>
              <a:spcAft>
                <a:spcPts val="400"/>
              </a:spcAft>
            </a:pPr>
            <a:r>
              <a:rPr sz="1400" b="0">
                <a:solidFill>
                  <a:srgbClr val="1F2A3A"/>
                </a:solidFill>
                <a:latin typeface="맑은 고딕"/>
                <a:ea typeface="맑은 고딕"/>
                <a:cs typeface="맑은 고딕"/>
              </a:rPr>
              <a:t>돌려받을 것을 적는 자리이다.</a:t>
            </a:r>
          </a:p>
        </p:txBody>
      </p:sp>
      <p:sp>
        <p:nvSpPr>
          <p:cNvPr id="9" name="TextBox 8"/>
          <p:cNvSpPr txBox="1"/>
          <p:nvPr/>
        </p:nvSpPr>
        <p:spPr>
          <a:xfrm>
            <a:off x="7635240" y="3545459"/>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c.name, s.tag</a:t>
            </a:r>
          </a:p>
          <a:p>
            <a:pPr algn="l">
              <a:lnSpc>
                <a:spcPct val="110000"/>
              </a:lnSpc>
              <a:spcAft>
                <a:spcPts val="400"/>
              </a:spcAft>
            </a:pPr>
            <a:r>
              <a:rPr sz="1400" b="0">
                <a:solidFill>
                  <a:srgbClr val="1F2A3A"/>
                </a:solidFill>
                <a:latin typeface="맑은 고딕"/>
                <a:ea typeface="맑은 고딕"/>
                <a:cs typeface="맑은 고딕"/>
              </a:rPr>
              <a:t>찾은 구성 요소의 이름과 센서의 태그이다.</a:t>
            </a:r>
          </a:p>
        </p:txBody>
      </p:sp>
      <p:sp>
        <p:nvSpPr>
          <p:cNvPr id="10" name="TextBox 9"/>
          <p:cNvSpPr txBox="1"/>
          <p:nvPr/>
        </p:nvSpPr>
        <p:spPr>
          <a:xfrm>
            <a:off x="7635240" y="4437253"/>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모양에 맞는 것이 둘이므로 두 행이 나온다.</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조회 결과를 읽는 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결과의 한 행은 모양에 맞는 것 하나이고, 열은 RETURN에 적은 항목이다.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112</a:t>
            </a:r>
          </a:p>
        </p:txBody>
      </p:sp>
      <p:pic>
        <p:nvPicPr>
          <p:cNvPr id="6" name="삽화:결과읽기.svg" descr="illust_229515684177576683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32027" y="2053102"/>
            <a:ext cx="392741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표로 본 결과</a:t>
            </a:r>
          </a:p>
          <a:p>
            <a:pPr algn="ctr">
              <a:lnSpc>
                <a:spcPct val="110000"/>
              </a:lnSpc>
              <a:spcAft>
                <a:spcPts val="100"/>
              </a:spcAft>
            </a:pPr>
            <a:r>
              <a:rPr sz="1300" b="0">
                <a:solidFill>
                  <a:srgbClr val="556175"/>
                </a:solidFill>
                <a:latin typeface="맑은 고딕"/>
                <a:ea typeface="맑은 고딕"/>
                <a:cs typeface="맑은 고딕"/>
              </a:rPr>
              <a:t>열은 RETURN에 적은 항목</a:t>
            </a:r>
          </a:p>
        </p:txBody>
      </p:sp>
      <p:sp>
        <p:nvSpPr>
          <p:cNvPr id="8" name="TextBox 7"/>
          <p:cNvSpPr txBox="1"/>
          <p:nvPr/>
        </p:nvSpPr>
        <p:spPr>
          <a:xfrm>
            <a:off x="1219303" y="3045866"/>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c.name</a:t>
            </a:r>
          </a:p>
        </p:txBody>
      </p:sp>
      <p:sp>
        <p:nvSpPr>
          <p:cNvPr id="9" name="TextBox 8"/>
          <p:cNvSpPr txBox="1"/>
          <p:nvPr/>
        </p:nvSpPr>
        <p:spPr>
          <a:xfrm>
            <a:off x="3226650" y="3045866"/>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s.tag</a:t>
            </a:r>
          </a:p>
        </p:txBody>
      </p:sp>
      <p:sp>
        <p:nvSpPr>
          <p:cNvPr id="10" name="TextBox 9"/>
          <p:cNvSpPr txBox="1"/>
          <p:nvPr/>
        </p:nvSpPr>
        <p:spPr>
          <a:xfrm>
            <a:off x="1219303" y="3773893"/>
            <a:ext cx="174551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오일 쿨러</a:t>
            </a:r>
          </a:p>
        </p:txBody>
      </p:sp>
      <p:sp>
        <p:nvSpPr>
          <p:cNvPr id="11" name="TextBox 10"/>
          <p:cNvSpPr txBox="1"/>
          <p:nvPr/>
        </p:nvSpPr>
        <p:spPr>
          <a:xfrm>
            <a:off x="3226650" y="3773893"/>
            <a:ext cx="174551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TS1</a:t>
            </a:r>
          </a:p>
        </p:txBody>
      </p:sp>
      <p:sp>
        <p:nvSpPr>
          <p:cNvPr id="12" name="TextBox 11"/>
          <p:cNvSpPr txBox="1"/>
          <p:nvPr/>
        </p:nvSpPr>
        <p:spPr>
          <a:xfrm>
            <a:off x="1219303" y="450192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13" name="TextBox 12"/>
          <p:cNvSpPr txBox="1"/>
          <p:nvPr/>
        </p:nvSpPr>
        <p:spPr>
          <a:xfrm>
            <a:off x="3226650" y="450192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a:t>
            </a:r>
          </a:p>
        </p:txBody>
      </p:sp>
      <p:sp>
        <p:nvSpPr>
          <p:cNvPr id="14" name="TextBox 13"/>
          <p:cNvSpPr txBox="1"/>
          <p:nvPr/>
        </p:nvSpPr>
        <p:spPr>
          <a:xfrm>
            <a:off x="6859512" y="1722180"/>
            <a:ext cx="392741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그래프로 본 결과</a:t>
            </a:r>
          </a:p>
          <a:p>
            <a:pPr algn="ctr">
              <a:lnSpc>
                <a:spcPct val="110000"/>
              </a:lnSpc>
              <a:spcAft>
                <a:spcPts val="100"/>
              </a:spcAft>
            </a:pPr>
            <a:r>
              <a:rPr sz="1300" b="0">
                <a:solidFill>
                  <a:srgbClr val="556175"/>
                </a:solidFill>
                <a:latin typeface="맑은 고딕"/>
                <a:ea typeface="맑은 고딕"/>
                <a:cs typeface="맑은 고딕"/>
              </a:rPr>
              <a:t>같은 결과를 노드와 관계로 본다</a:t>
            </a:r>
          </a:p>
        </p:txBody>
      </p:sp>
      <p:sp>
        <p:nvSpPr>
          <p:cNvPr id="15" name="TextBox 14"/>
          <p:cNvSpPr txBox="1"/>
          <p:nvPr/>
        </p:nvSpPr>
        <p:spPr>
          <a:xfrm>
            <a:off x="6608593" y="465319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16" name="TextBox 15"/>
          <p:cNvSpPr txBox="1"/>
          <p:nvPr/>
        </p:nvSpPr>
        <p:spPr>
          <a:xfrm>
            <a:off x="9499610" y="3400425"/>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TS1</a:t>
            </a:r>
          </a:p>
        </p:txBody>
      </p:sp>
      <p:sp>
        <p:nvSpPr>
          <p:cNvPr id="17" name="TextBox 16"/>
          <p:cNvSpPr txBox="1"/>
          <p:nvPr/>
        </p:nvSpPr>
        <p:spPr>
          <a:xfrm>
            <a:off x="9499610" y="540959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모양을 한 단계 늘린다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모양의 앞에 노드와 관계를 하나 더 이으면 설비에서 출발해 두 단계를 따라간다.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113</a:t>
            </a:r>
          </a:p>
        </p:txBody>
      </p:sp>
      <p:sp>
        <p:nvSpPr>
          <p:cNvPr id="6" name="Rounded Rectangle 5"/>
          <p:cNvSpPr/>
          <p:nvPr/>
        </p:nvSpPr>
        <p:spPr>
          <a:xfrm>
            <a:off x="548640" y="2469515"/>
            <a:ext cx="6766560" cy="30436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06675"/>
            <a:ext cx="6400800" cy="2769362"/>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(a:Asset {code: 'HYD-01'})</a:t>
            </a:r>
          </a:p>
          <a:p>
            <a:pPr algn="l">
              <a:lnSpc>
                <a:spcPct val="110000"/>
              </a:lnSpc>
              <a:spcAft>
                <a:spcPts val="200"/>
              </a:spcAft>
            </a:pPr>
            <a:r>
              <a:rPr sz="1300" b="0">
                <a:solidFill>
                  <a:srgbClr val="E8EEF6"/>
                </a:solidFill>
                <a:latin typeface="Consolas"/>
                <a:ea typeface="맑은 고딕"/>
                <a:cs typeface="맑은 고딕"/>
              </a:rPr>
              <a:t>      -[:HAS_COMPONENT]-&gt;(c:Component)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RETURN c.name, s.tag</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"FS1"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"PS1"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"VS1"</a:t>
            </a:r>
          </a:p>
        </p:txBody>
      </p:sp>
      <p:sp>
        <p:nvSpPr>
          <p:cNvPr id="8" name="TextBox 7"/>
          <p:cNvSpPr txBox="1"/>
          <p:nvPr/>
        </p:nvSpPr>
        <p:spPr>
          <a:xfrm>
            <a:off x="7635240" y="2469515"/>
            <a:ext cx="4007815" cy="152184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늘린 부분</a:t>
            </a:r>
          </a:p>
          <a:p>
            <a:pPr algn="l">
              <a:lnSpc>
                <a:spcPct val="110000"/>
              </a:lnSpc>
              <a:spcAft>
                <a:spcPts val="400"/>
              </a:spcAft>
            </a:pPr>
            <a:r>
              <a:rPr sz="1400" b="0">
                <a:solidFill>
                  <a:srgbClr val="1F2A3A"/>
                </a:solidFill>
                <a:latin typeface="맑은 고딕"/>
                <a:ea typeface="맑은 고딕"/>
                <a:cs typeface="맑은 고딕"/>
              </a:rPr>
              <a:t>설비 HYD-01에서 HAS_COMPONENT로 구성 요소에 이르는 한 단계이다.</a:t>
            </a:r>
          </a:p>
        </p:txBody>
      </p:sp>
      <p:sp>
        <p:nvSpPr>
          <p:cNvPr id="9" name="TextBox 8"/>
          <p:cNvSpPr txBox="1"/>
          <p:nvPr/>
        </p:nvSpPr>
        <p:spPr>
          <a:xfrm>
            <a:off x="7635240" y="3991356"/>
            <a:ext cx="4007815" cy="152184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HYD-01의 구성 요소에 달린 센서가 다섯이므로 다섯 행이다.</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단계를 한 번에 따라간다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셋을 이어 적으면 설비에서 상태 변수의 한계값까지를 질의 한 번으로 따라간다.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114</a:t>
            </a:r>
          </a:p>
        </p:txBody>
      </p:sp>
      <p:sp>
        <p:nvSpPr>
          <p:cNvPr id="6" name="Rounded Rectangle 5"/>
          <p:cNvSpPr/>
          <p:nvPr/>
        </p:nvSpPr>
        <p:spPr>
          <a:xfrm>
            <a:off x="548640" y="2356104"/>
            <a:ext cx="6766560" cy="327050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93264"/>
            <a:ext cx="6400800" cy="299618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(a:Asset {code: 'HYD-01'})</a:t>
            </a:r>
          </a:p>
          <a:p>
            <a:pPr algn="l">
              <a:lnSpc>
                <a:spcPct val="110000"/>
              </a:lnSpc>
              <a:spcAft>
                <a:spcPts val="200"/>
              </a:spcAft>
            </a:pPr>
            <a:r>
              <a:rPr sz="1300" b="0">
                <a:solidFill>
                  <a:srgbClr val="E8EEF6"/>
                </a:solidFill>
                <a:latin typeface="Consolas"/>
                <a:ea typeface="맑은 고딕"/>
                <a:cs typeface="맑은 고딕"/>
              </a:rPr>
              <a:t>      -[:HAS_COMPONENT]-&gt;(c:Component)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      -[:OBSERVES]-&gt;(v:StateVariable)</a:t>
            </a:r>
          </a:p>
          <a:p>
            <a:pPr algn="l">
              <a:lnSpc>
                <a:spcPct val="110000"/>
              </a:lnSpc>
              <a:spcAft>
                <a:spcPts val="200"/>
              </a:spcAft>
            </a:pPr>
            <a:r>
              <a:rPr sz="1300" b="0">
                <a:solidFill>
                  <a:srgbClr val="E8EEF6"/>
                </a:solidFill>
                <a:latin typeface="Consolas"/>
                <a:ea typeface="맑은 고딕"/>
                <a:cs typeface="맑은 고딕"/>
              </a:rPr>
              <a:t>RETURN c.name,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NULL</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"FS1"  "</a:t>
            </a:r>
            <a:r>
              <a:rPr sz="1300" b="0">
                <a:solidFill>
                  <a:srgbClr val="E8EEF6"/>
                </a:solidFill>
                <a:latin typeface="맑은 고딕"/>
                <a:ea typeface="맑은 고딕"/>
                <a:cs typeface="맑은 고딕"/>
              </a:rPr>
              <a:t>유량</a:t>
            </a:r>
            <a:r>
              <a:rPr sz="1300" b="0">
                <a:solidFill>
                  <a:srgbClr val="E8EEF6"/>
                </a:solidFill>
                <a:latin typeface="Consolas"/>
                <a:ea typeface="맑은 고딕"/>
                <a:cs typeface="맑은 고딕"/>
              </a:rPr>
              <a:t>"        NULL</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2356104"/>
            <a:ext cx="4007815" cy="1635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늘린 부분</a:t>
            </a:r>
          </a:p>
          <a:p>
            <a:pPr algn="l">
              <a:lnSpc>
                <a:spcPct val="110000"/>
              </a:lnSpc>
              <a:spcAft>
                <a:spcPts val="400"/>
              </a:spcAft>
            </a:pPr>
            <a:r>
              <a:rPr sz="1400" b="0">
                <a:solidFill>
                  <a:srgbClr val="1F2A3A"/>
                </a:solidFill>
                <a:latin typeface="맑은 고딕"/>
                <a:ea typeface="맑은 고딕"/>
                <a:cs typeface="맑은 고딕"/>
              </a:rPr>
              <a:t>센서에서 OBSERVES로 상태 변수에 이르는 한 단계이다.</a:t>
            </a:r>
          </a:p>
        </p:txBody>
      </p:sp>
      <p:sp>
        <p:nvSpPr>
          <p:cNvPr id="9" name="TextBox 8"/>
          <p:cNvSpPr txBox="1"/>
          <p:nvPr/>
        </p:nvSpPr>
        <p:spPr>
          <a:xfrm>
            <a:off x="7635240" y="3991356"/>
            <a:ext cx="4007815" cy="1635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NULL</a:t>
            </a:r>
          </a:p>
          <a:p>
            <a:pPr algn="l">
              <a:lnSpc>
                <a:spcPct val="110000"/>
              </a:lnSpc>
              <a:spcAft>
                <a:spcPts val="400"/>
              </a:spcAft>
            </a:pPr>
            <a:r>
              <a:rPr sz="1400" b="0">
                <a:solidFill>
                  <a:srgbClr val="1F2A3A"/>
                </a:solidFill>
                <a:latin typeface="맑은 고딕"/>
                <a:ea typeface="맑은 고딕"/>
                <a:cs typeface="맑은 고딕"/>
              </a:rPr>
              <a:t>값이 없다는 표시이다. 냉각 효율과 유량에는 한계가 없다.</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WHERE: 조건으로 결과를 거른다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WHERE에 조건을 적으면 MATCH가 찾은 것 가운데 그 조건에 맞는 것만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(s:Sensor)-[:OBSERVES]-&gt;(v:StateVariable)</a:t>
            </a:r>
          </a:p>
          <a:p>
            <a:pPr algn="l">
              <a:lnSpc>
                <a:spcPct val="110000"/>
              </a:lnSpc>
              <a:spcAft>
                <a:spcPts val="200"/>
              </a:spcAft>
            </a:pPr>
            <a:r>
              <a:rPr sz="1300" b="0">
                <a:solidFill>
                  <a:srgbClr val="E8EEF6"/>
                </a:solidFill>
                <a:latin typeface="Consolas"/>
                <a:ea typeface="맑은 고딕"/>
                <a:cs typeface="맑은 고딕"/>
              </a:rPr>
              <a:t>WHERE v.limit IS NOT NULL</a:t>
            </a:r>
          </a:p>
          <a:p>
            <a:pPr algn="l">
              <a:lnSpc>
                <a:spcPct val="110000"/>
              </a:lnSpc>
              <a:spcAft>
                <a:spcPts val="200"/>
              </a:spcAft>
            </a:pPr>
            <a:r>
              <a:rPr sz="1300" b="0">
                <a:solidFill>
                  <a:srgbClr val="E8EEF6"/>
                </a:solidFill>
                <a:latin typeface="Consolas"/>
                <a:ea typeface="맑은 고딕"/>
                <a:cs typeface="맑은 고딕"/>
              </a:rPr>
              <a:t>RETURN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WHERE</a:t>
            </a:r>
          </a:p>
          <a:p>
            <a:pPr algn="l">
              <a:lnSpc>
                <a:spcPct val="110000"/>
              </a:lnSpc>
              <a:spcAft>
                <a:spcPts val="400"/>
              </a:spcAft>
            </a:pPr>
            <a:r>
              <a:rPr sz="1400" b="0">
                <a:solidFill>
                  <a:srgbClr val="1F2A3A"/>
                </a:solidFill>
                <a:latin typeface="맑은 고딕"/>
                <a:ea typeface="맑은 고딕"/>
                <a:cs typeface="맑은 고딕"/>
              </a:rPr>
              <a:t>MATCH와 RETURN 사이에 조건을 적는다.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 NOT NULL</a:t>
            </a:r>
          </a:p>
          <a:p>
            <a:pPr algn="l">
              <a:lnSpc>
                <a:spcPct val="110000"/>
              </a:lnSpc>
              <a:spcAft>
                <a:spcPts val="400"/>
              </a:spcAft>
            </a:pPr>
            <a:r>
              <a:rPr sz="1400" b="0">
                <a:solidFill>
                  <a:srgbClr val="1F2A3A"/>
                </a:solidFill>
                <a:latin typeface="맑은 고딕"/>
                <a:ea typeface="맑은 고딕"/>
                <a:cs typeface="맑은 고딕"/>
              </a:rPr>
              <a:t>값이 있는 것만 남긴다. 한계가 정해진 상태 변수 셋이 남는다.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크기 비교</a:t>
            </a:r>
          </a:p>
          <a:p>
            <a:pPr algn="l">
              <a:lnSpc>
                <a:spcPct val="110000"/>
              </a:lnSpc>
              <a:spcAft>
                <a:spcPts val="400"/>
              </a:spcAft>
            </a:pPr>
            <a:r>
              <a:rPr sz="1400" b="0">
                <a:solidFill>
                  <a:srgbClr val="1F2A3A"/>
                </a:solidFill>
                <a:latin typeface="맑은 고딕"/>
                <a:ea typeface="맑은 고딕"/>
                <a:cs typeface="맑은 고딕"/>
              </a:rPr>
              <a:t>v.limit &gt; 100처럼 쓸 수도 있다. limit의 자료형이 수이기 때문이다.</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방향을 반대로 적었을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관계의 방향을 정의와 반대로 적으면 오류가 나는 것이 아니라 결과가 한 행도 나오지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정의와 같은 방향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(c:Component)-[:MONITORED_BY]-&gt;(s:Sensor)</a:t>
            </a:r>
          </a:p>
          <a:p>
            <a:pPr algn="l">
              <a:lnSpc>
                <a:spcPct val="110000"/>
              </a:lnSpc>
              <a:spcAft>
                <a:spcPts val="600"/>
              </a:spcAft>
            </a:pPr>
            <a:r>
              <a:rPr sz="1450" b="0">
                <a:solidFill>
                  <a:srgbClr val="1F2A3A"/>
                </a:solidFill>
                <a:latin typeface="맑은 고딕"/>
                <a:ea typeface="맑은 고딕"/>
                <a:cs typeface="맑은 고딕"/>
              </a:rPr>
              <a:t>• 구성 요소에서 센서로 향한다</a:t>
            </a:r>
          </a:p>
          <a:p>
            <a:pPr algn="l">
              <a:lnSpc>
                <a:spcPct val="110000"/>
              </a:lnSpc>
              <a:spcAft>
                <a:spcPts val="600"/>
              </a:spcAft>
            </a:pPr>
            <a:r>
              <a:rPr sz="1450" b="0">
                <a:solidFill>
                  <a:srgbClr val="1F2A3A"/>
                </a:solidFill>
                <a:latin typeface="맑은 고딕"/>
                <a:ea typeface="맑은 고딕"/>
                <a:cs typeface="맑은 고딕"/>
              </a:rPr>
              <a:t>• 결과: 구성 요소와 센서의 짝 다섯</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다섯 행</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정의와 반대 방향</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(s:Sensor)-[:MONITORED_BY]-&gt;(c:Component)</a:t>
            </a:r>
          </a:p>
          <a:p>
            <a:pPr algn="l">
              <a:lnSpc>
                <a:spcPct val="110000"/>
              </a:lnSpc>
              <a:spcAft>
                <a:spcPts val="600"/>
              </a:spcAft>
            </a:pPr>
            <a:r>
              <a:rPr sz="1450" b="0">
                <a:solidFill>
                  <a:srgbClr val="1F2A3A"/>
                </a:solidFill>
                <a:latin typeface="맑은 고딕"/>
                <a:ea typeface="맑은 고딕"/>
                <a:cs typeface="맑은 고딕"/>
              </a:rPr>
              <a:t>• 센서에서 구성 요소로 향한다</a:t>
            </a:r>
          </a:p>
          <a:p>
            <a:pPr algn="l">
              <a:lnSpc>
                <a:spcPct val="110000"/>
              </a:lnSpc>
              <a:spcAft>
                <a:spcPts val="600"/>
              </a:spcAft>
            </a:pPr>
            <a:r>
              <a:rPr sz="1450" b="0">
                <a:solidFill>
                  <a:srgbClr val="1F2A3A"/>
                </a:solidFill>
                <a:latin typeface="맑은 고딕"/>
                <a:ea typeface="맑은 고딕"/>
                <a:cs typeface="맑은 고딕"/>
              </a:rPr>
              <a:t>• 결과: 없음</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0행</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고장 유형까지: 화살표를 따라가는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지난 시간에 따라간 경보에서 고장 유형까지의 두 걸음은 화살표를 오른쪽으로 이어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117</a:t>
            </a:r>
          </a:p>
        </p:txBody>
      </p:sp>
      <p:pic>
        <p:nvPicPr>
          <p:cNvPr id="6" name="삽화:경로질의_1.svg" descr="illust_3890145011859572395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66043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62985" y="2762219"/>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DETECTS</a:t>
            </a:r>
          </a:p>
        </p:txBody>
      </p:sp>
      <p:sp>
        <p:nvSpPr>
          <p:cNvPr id="9" name="TextBox 8"/>
          <p:cNvSpPr txBox="1"/>
          <p:nvPr/>
        </p:nvSpPr>
        <p:spPr>
          <a:xfrm>
            <a:off x="3313926" y="366043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10" name="TextBox 9"/>
          <p:cNvSpPr txBox="1"/>
          <p:nvPr/>
        </p:nvSpPr>
        <p:spPr>
          <a:xfrm>
            <a:off x="4601246" y="2762219"/>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INDICATES</a:t>
            </a:r>
          </a:p>
        </p:txBody>
      </p:sp>
      <p:sp>
        <p:nvSpPr>
          <p:cNvPr id="11" name="TextBox 10"/>
          <p:cNvSpPr txBox="1"/>
          <p:nvPr/>
        </p:nvSpPr>
        <p:spPr>
          <a:xfrm>
            <a:off x="5517644" y="3754983"/>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2" name="TextBox 11"/>
          <p:cNvSpPr txBox="1"/>
          <p:nvPr/>
        </p:nvSpPr>
        <p:spPr>
          <a:xfrm>
            <a:off x="1077479" y="5291404"/>
            <a:ext cx="1003673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(p:AnomalyPattern)-[:DETECTS]-&gt;(s:Symptom)-[:INDICATES]-&gt;(fm:FailureMode)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고장 유형에서 원인으로: 화살표를 거슬러 가는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화살표를 거슬러 가야 하는 관계는 글자로도 화살표를 반대로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118</a:t>
            </a:r>
          </a:p>
        </p:txBody>
      </p:sp>
      <p:pic>
        <p:nvPicPr>
          <p:cNvPr id="6" name="삽화:경로질의_2.svg" descr="illust_144427124151927962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660434"/>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p:txBody>
      </p:sp>
      <p:sp>
        <p:nvSpPr>
          <p:cNvPr id="8" name="TextBox 7"/>
          <p:cNvSpPr txBox="1"/>
          <p:nvPr/>
        </p:nvSpPr>
        <p:spPr>
          <a:xfrm>
            <a:off x="3313926" y="3660434"/>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
        <p:nvSpPr>
          <p:cNvPr id="9" name="TextBox 8"/>
          <p:cNvSpPr txBox="1"/>
          <p:nvPr/>
        </p:nvSpPr>
        <p:spPr>
          <a:xfrm>
            <a:off x="5517644" y="3754983"/>
            <a:ext cx="207280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7132249" y="1958553"/>
            <a:ext cx="98185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CAUSES</a:t>
            </a:r>
          </a:p>
        </p:txBody>
      </p:sp>
      <p:sp>
        <p:nvSpPr>
          <p:cNvPr id="11" name="TextBox 10"/>
          <p:cNvSpPr txBox="1"/>
          <p:nvPr/>
        </p:nvSpPr>
        <p:spPr>
          <a:xfrm>
            <a:off x="9314148" y="19821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2" name="TextBox 11"/>
          <p:cNvSpPr txBox="1"/>
          <p:nvPr/>
        </p:nvSpPr>
        <p:spPr>
          <a:xfrm>
            <a:off x="9314148" y="296549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3" name="TextBox 12"/>
          <p:cNvSpPr txBox="1"/>
          <p:nvPr/>
        </p:nvSpPr>
        <p:spPr>
          <a:xfrm>
            <a:off x="9314148" y="3944081"/>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4" name="TextBox 13"/>
          <p:cNvSpPr txBox="1"/>
          <p:nvPr/>
        </p:nvSpPr>
        <p:spPr>
          <a:xfrm>
            <a:off x="1077479" y="5291404"/>
            <a:ext cx="10036735"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(p:AnomalyPattern)-[:DETECTS]-&gt;(s:Symptom)-[:INDICATES]-&gt;(fm:FailureMode)&lt;-[:CAUSES]-(c:Cause)</a:t>
            </a:r>
          </a:p>
        </p:txBody>
      </p:sp>
      <p:sp>
        <p:nvSpPr>
          <p:cNvPr id="15" name="TextBox 14"/>
          <p:cNvSpPr txBox="1"/>
          <p:nvPr/>
        </p:nvSpPr>
        <p:spPr>
          <a:xfrm>
            <a:off x="1732049" y="5787786"/>
            <a:ext cx="872759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&lt;-[:CAUSES]-</a:t>
            </a:r>
          </a:p>
          <a:p>
            <a:pPr algn="ctr">
              <a:lnSpc>
                <a:spcPct val="110000"/>
              </a:lnSpc>
              <a:spcAft>
                <a:spcPts val="100"/>
              </a:spcAft>
            </a:pPr>
            <a:r>
              <a:rPr sz="1300" b="0">
                <a:solidFill>
                  <a:srgbClr val="556175"/>
                </a:solidFill>
                <a:latin typeface="맑은 고딕"/>
                <a:ea typeface="맑은 고딕"/>
                <a:cs typeface="맑은 고딕"/>
              </a:rPr>
              <a:t>CAUSES는 원인에서 고장 유형으로 향하므로 화살표가 고장 유형 쪽을 본다</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CREATE: 노드를 새로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CREATE는 적은 모양 그대로 노드를 새로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119</a:t>
            </a:r>
          </a:p>
        </p:txBody>
      </p:sp>
      <p:sp>
        <p:nvSpPr>
          <p:cNvPr id="6" name="Rounded Rectangle 5"/>
          <p:cNvSpPr/>
          <p:nvPr/>
        </p:nvSpPr>
        <p:spPr>
          <a:xfrm>
            <a:off x="548640" y="2882646"/>
            <a:ext cx="6766560" cy="221742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3019806"/>
            <a:ext cx="6400800" cy="194310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CREATE (s:Sensor {id: 'sen:ts1',</a:t>
            </a:r>
          </a:p>
          <a:p>
            <a:pPr algn="l">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tag: 'TS1'})</a:t>
            </a:r>
          </a:p>
        </p:txBody>
      </p:sp>
      <p:sp>
        <p:nvSpPr>
          <p:cNvPr id="8" name="TextBox 7"/>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CREATE</a:t>
            </a:r>
          </a:p>
          <a:p>
            <a:pPr algn="l">
              <a:lnSpc>
                <a:spcPct val="110000"/>
              </a:lnSpc>
              <a:spcAft>
                <a:spcPts val="400"/>
              </a:spcAft>
            </a:pPr>
            <a:r>
              <a:rPr sz="1400" b="0">
                <a:solidFill>
                  <a:srgbClr val="1F2A3A"/>
                </a:solidFill>
                <a:latin typeface="맑은 고딕"/>
                <a:ea typeface="맑은 고딕"/>
                <a:cs typeface="맑은 고딕"/>
              </a:rPr>
              <a:t>적은 대로 새로 만든다. 이미 있는지는 보지 않는다.</a:t>
            </a:r>
          </a:p>
        </p:txBody>
      </p:sp>
      <p:sp>
        <p:nvSpPr>
          <p:cNvPr id="9" name="TextBox 8"/>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만들어지는 것</a:t>
            </a:r>
          </a:p>
          <a:p>
            <a:pPr algn="l">
              <a:lnSpc>
                <a:spcPct val="110000"/>
              </a:lnSpc>
              <a:spcAft>
                <a:spcPts val="400"/>
              </a:spcAft>
            </a:pPr>
            <a:r>
              <a:rPr sz="1400" b="0">
                <a:solidFill>
                  <a:srgbClr val="1F2A3A"/>
                </a:solidFill>
                <a:latin typeface="맑은 고딕"/>
                <a:ea typeface="맑은 고딕"/>
                <a:cs typeface="맑은 고딕"/>
              </a:rPr>
              <a:t>Sensor 레이블이 붙고 속성 셋을 가진 노드 하나이다.</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MERGE: 있으면 찾고 없으면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MERGE는 같은 것이 이미 있으면 그것을 찾고, 없을 때만 새로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120</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MERGE (s:Sensor {id: 'sen:ts1'})</a:t>
            </a:r>
          </a:p>
          <a:p>
            <a:pPr algn="l">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s.tag  = 'TS1'</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id가 sen:ts1인 센서가 있으면 그 노드를 쓰고, 없으면 만든다.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SET</a:t>
            </a:r>
          </a:p>
          <a:p>
            <a:pPr algn="l">
              <a:lnSpc>
                <a:spcPct val="110000"/>
              </a:lnSpc>
              <a:spcAft>
                <a:spcPts val="400"/>
              </a:spcAft>
            </a:pPr>
            <a:r>
              <a:rPr sz="1400" b="0">
                <a:solidFill>
                  <a:srgbClr val="1F2A3A"/>
                </a:solidFill>
                <a:latin typeface="맑은 고딕"/>
                <a:ea typeface="맑은 고딕"/>
                <a:cs typeface="맑은 고딕"/>
              </a:rPr>
              <a:t>찾았거나 만든 노드의 속성에 값을 넣는다.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식별자로 찾는다</a:t>
            </a:r>
          </a:p>
          <a:p>
            <a:pPr algn="l">
              <a:lnSpc>
                <a:spcPct val="110000"/>
              </a:lnSpc>
              <a:spcAft>
                <a:spcPts val="400"/>
              </a:spcAft>
            </a:pPr>
            <a:r>
              <a:rPr sz="1400" b="0">
                <a:solidFill>
                  <a:srgbClr val="1F2A3A"/>
                </a:solidFill>
                <a:latin typeface="맑은 고딕"/>
                <a:ea typeface="맑은 고딕"/>
                <a:cs typeface="맑은 고딕"/>
              </a:rPr>
              <a:t>MERGE의 괄호 안에는 식별자만 적고 나머지 속성은 SET에 적는다.</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문장을 두 번 실행했을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문장을 다시 실행하면 CREATE는 같은 노드를 또 만들려 하고, MERGE는 결과가 달라지지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opy" descr="cop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CREATE를 두 번</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센서를 한 번 더 만들려고 한다</a:t>
            </a:r>
          </a:p>
          <a:p>
            <a:pPr algn="l">
              <a:lnSpc>
                <a:spcPct val="110000"/>
              </a:lnSpc>
              <a:spcAft>
                <a:spcPts val="600"/>
              </a:spcAft>
            </a:pPr>
            <a:r>
              <a:rPr sz="1450" b="0">
                <a:solidFill>
                  <a:srgbClr val="1F2A3A"/>
                </a:solidFill>
                <a:latin typeface="맑은 고딕"/>
                <a:ea typeface="맑은 고딕"/>
                <a:cs typeface="맑은 고딕"/>
              </a:rPr>
              <a:t>• 유일 제약이 있으면 Neo4j가 거절한다</a:t>
            </a:r>
          </a:p>
          <a:p>
            <a:pPr algn="l">
              <a:lnSpc>
                <a:spcPct val="110000"/>
              </a:lnSpc>
              <a:spcAft>
                <a:spcPts val="600"/>
              </a:spcAft>
            </a:pPr>
            <a:r>
              <a:rPr sz="1450" b="0">
                <a:solidFill>
                  <a:srgbClr val="1F2A3A"/>
                </a:solidFill>
                <a:latin typeface="맑은 고딕"/>
                <a:ea typeface="맑은 고딕"/>
                <a:cs typeface="맑은 고딕"/>
              </a:rPr>
              <a:t>• 없으면 같은 센서가 둘이 된다</a:t>
            </a:r>
          </a:p>
        </p:txBody>
      </p:sp>
      <p:sp>
        <p:nvSpPr>
          <p:cNvPr id="11" name="Rounded Rectangle 10"/>
          <p:cNvSpPr/>
          <p:nvPr/>
        </p:nvSpPr>
        <p:spPr>
          <a:xfrm>
            <a:off x="868680" y="4945570"/>
            <a:ext cx="31851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31851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실행할 때마다 새 기록이 필요한 데이터에</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circle-check" descr="circle-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MERGE를 두 번</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두 번째에는 이미 있는 노드를 찾는다</a:t>
            </a:r>
          </a:p>
          <a:p>
            <a:pPr algn="l">
              <a:lnSpc>
                <a:spcPct val="110000"/>
              </a:lnSpc>
              <a:spcAft>
                <a:spcPts val="600"/>
              </a:spcAft>
            </a:pPr>
            <a:r>
              <a:rPr sz="1450" b="0">
                <a:solidFill>
                  <a:srgbClr val="1F2A3A"/>
                </a:solidFill>
                <a:latin typeface="맑은 고딕"/>
                <a:ea typeface="맑은 고딕"/>
                <a:cs typeface="맑은 고딕"/>
              </a:rPr>
              <a:t>• 노드는 하나 그대로이다</a:t>
            </a:r>
          </a:p>
          <a:p>
            <a:pPr algn="l">
              <a:lnSpc>
                <a:spcPct val="110000"/>
              </a:lnSpc>
              <a:spcAft>
                <a:spcPts val="600"/>
              </a:spcAft>
            </a:pPr>
            <a:r>
              <a:rPr sz="1450" b="0">
                <a:solidFill>
                  <a:srgbClr val="1F2A3A"/>
                </a:solidFill>
                <a:latin typeface="맑은 고딕"/>
                <a:ea typeface="맑은 고딕"/>
                <a:cs typeface="맑은 고딕"/>
              </a:rPr>
              <a:t>• 몇 번을 실행해도 결과가 같다</a:t>
            </a:r>
          </a:p>
        </p:txBody>
      </p:sp>
      <p:sp>
        <p:nvSpPr>
          <p:cNvPr id="18" name="Rounded Rectangle 17"/>
          <p:cNvSpPr/>
          <p:nvPr/>
        </p:nvSpPr>
        <p:spPr>
          <a:xfrm>
            <a:off x="6781647" y="4945570"/>
            <a:ext cx="22250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22250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한 번만 있어야 하는 지식에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MERGE로 관계를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관계는 양 끝의 노드를 MATCH로 먼저 찾은 다음 그 사이에 MERGE로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{id: 'comp:cooler'}),</a:t>
            </a:r>
          </a:p>
          <a:p>
            <a:pPr algn="l">
              <a:lnSpc>
                <a:spcPct val="110000"/>
              </a:lnSpc>
              <a:spcAft>
                <a:spcPts val="200"/>
              </a:spcAft>
            </a:pPr>
            <a:r>
              <a:rPr sz="1300" b="0">
                <a:solidFill>
                  <a:srgbClr val="E8EEF6"/>
                </a:solidFill>
                <a:latin typeface="Consolas"/>
                <a:ea typeface="맑은 고딕"/>
                <a:cs typeface="맑은 고딕"/>
              </a:rPr>
              <a:t>      (s:Sensor {id: 'sen:ts1'}),</a:t>
            </a:r>
          </a:p>
          <a:p>
            <a:pPr algn="l">
              <a:lnSpc>
                <a:spcPct val="110000"/>
              </a:lnSpc>
              <a:spcAft>
                <a:spcPts val="200"/>
              </a:spcAft>
            </a:pPr>
            <a:r>
              <a:rPr sz="1300" b="0">
                <a:solidFill>
                  <a:srgbClr val="E8EEF6"/>
                </a:solidFill>
                <a:latin typeface="Consolas"/>
                <a:ea typeface="맑은 고딕"/>
                <a:cs typeface="맑은 고딕"/>
              </a:rPr>
              <a:t>      (v:StateVariable {id: 'sv:ts1'})</a:t>
            </a:r>
          </a:p>
          <a:p>
            <a:pPr algn="l">
              <a:lnSpc>
                <a:spcPct val="110000"/>
              </a:lnSpc>
              <a:spcAft>
                <a:spcPts val="200"/>
              </a:spcAft>
            </a:pPr>
            <a:r>
              <a:rPr sz="1300" b="0">
                <a:solidFill>
                  <a:srgbClr val="E8EEF6"/>
                </a:solidFill>
                <a:latin typeface="Consolas"/>
                <a:ea typeface="맑은 고딕"/>
                <a:cs typeface="맑은 고딕"/>
              </a:rPr>
              <a:t>MERGE (c)-[:MONITORED_BY]-&gt;(s)</a:t>
            </a:r>
          </a:p>
          <a:p>
            <a:pPr algn="l">
              <a:lnSpc>
                <a:spcPct val="110000"/>
              </a:lnSpc>
              <a:spcAft>
                <a:spcPts val="200"/>
              </a:spcAft>
            </a:pPr>
            <a:r>
              <a:rPr sz="1300" b="0">
                <a:solidFill>
                  <a:srgbClr val="E8EEF6"/>
                </a:solidFill>
                <a:latin typeface="Consolas"/>
                <a:ea typeface="맑은 고딕"/>
                <a:cs typeface="맑은 고딕"/>
              </a:rPr>
              <a:t>MERGE (s)-[:OBSERVES]-&gt;(v)</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이을 노드 셋을 식별자로 찾아 c, s, v라는 변수를 붙인다.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변수로 부른 노드 사이에 관계를 만든다. 이미 있으면 다시 만들지 않는다.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방향</a:t>
            </a:r>
          </a:p>
          <a:p>
            <a:pPr algn="l">
              <a:lnSpc>
                <a:spcPct val="110000"/>
              </a:lnSpc>
              <a:spcAft>
                <a:spcPts val="400"/>
              </a:spcAft>
            </a:pPr>
            <a:r>
              <a:rPr sz="1400" b="0">
                <a:solidFill>
                  <a:srgbClr val="1F2A3A"/>
                </a:solidFill>
                <a:latin typeface="맑은 고딕"/>
                <a:ea typeface="맑은 고딕"/>
                <a:cs typeface="맑은 고딕"/>
              </a:rPr>
              <a:t>화살표는 스키마가 정한 시작 클래스에서 끝 클래스로 향하게 적는다.</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저장하고 조회하고 만드는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DB는 지식을 노드와 관계로 저장하며, Cypher로 모양을 적어 조회하고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저장</a:t>
            </a:r>
          </a:p>
          <a:p>
            <a:pPr algn="ctr">
              <a:lnSpc>
                <a:spcPct val="110000"/>
              </a:lnSpc>
              <a:spcAft>
                <a:spcPts val="400"/>
              </a:spcAft>
            </a:pPr>
            <a:r>
              <a:rPr sz="1350" b="0">
                <a:solidFill>
                  <a:srgbClr val="1F2A3A"/>
                </a:solidFill>
                <a:latin typeface="맑은 고딕"/>
                <a:ea typeface="맑은 고딕"/>
                <a:cs typeface="맑은 고딕"/>
              </a:rPr>
              <a:t>인스턴스는 노드로,</a:t>
            </a:r>
          </a:p>
          <a:p>
            <a:pPr algn="ctr">
              <a:lnSpc>
                <a:spcPct val="110000"/>
              </a:lnSpc>
              <a:spcAft>
                <a:spcPts val="400"/>
              </a:spcAft>
            </a:pPr>
            <a:r>
              <a:rPr sz="1350" b="0">
                <a:solidFill>
                  <a:srgbClr val="1F2A3A"/>
                </a:solidFill>
                <a:latin typeface="맑은 고딕"/>
                <a:ea typeface="맑은 고딕"/>
                <a:cs typeface="맑은 고딕"/>
              </a:rPr>
              <a:t>클래스는 레이블로,</a:t>
            </a:r>
          </a:p>
          <a:p>
            <a:pPr algn="ctr">
              <a:lnSpc>
                <a:spcPct val="110000"/>
              </a:lnSpc>
              <a:spcAft>
                <a:spcPts val="400"/>
              </a:spcAft>
            </a:pPr>
            <a:r>
              <a:rPr sz="1350" b="0">
                <a:solidFill>
                  <a:srgbClr val="1F2A3A"/>
                </a:solidFill>
                <a:latin typeface="맑은 고딕"/>
                <a:ea typeface="맑은 고딕"/>
                <a:cs typeface="맑은 고딕"/>
              </a:rPr>
              <a:t>관계는 관계 유형으로</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parentheses" descr="parenthese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표기</a:t>
            </a:r>
          </a:p>
          <a:p>
            <a:pPr algn="ctr">
              <a:lnSpc>
                <a:spcPct val="110000"/>
              </a:lnSpc>
              <a:spcAft>
                <a:spcPts val="400"/>
              </a:spcAft>
            </a:pPr>
            <a:r>
              <a:rPr sz="1350" b="0">
                <a:solidFill>
                  <a:srgbClr val="1F2A3A"/>
                </a:solidFill>
                <a:latin typeface="맑은 고딕"/>
                <a:ea typeface="맑은 고딕"/>
                <a:cs typeface="맑은 고딕"/>
              </a:rPr>
              <a:t>노드는 둥근 괄호,</a:t>
            </a:r>
          </a:p>
          <a:p>
            <a:pPr algn="ctr">
              <a:lnSpc>
                <a:spcPct val="110000"/>
              </a:lnSpc>
              <a:spcAft>
                <a:spcPts val="400"/>
              </a:spcAft>
            </a:pPr>
            <a:r>
              <a:rPr sz="1350" b="0">
                <a:solidFill>
                  <a:srgbClr val="1F2A3A"/>
                </a:solidFill>
                <a:latin typeface="맑은 고딕"/>
                <a:ea typeface="맑은 고딕"/>
                <a:cs typeface="맑은 고딕"/>
              </a:rPr>
              <a:t>관계는 대괄호와</a:t>
            </a:r>
          </a:p>
          <a:p>
            <a:pPr algn="ctr">
              <a:lnSpc>
                <a:spcPct val="110000"/>
              </a:lnSpc>
              <a:spcAft>
                <a:spcPts val="400"/>
              </a:spcAft>
            </a:pPr>
            <a:r>
              <a:rPr sz="1350" b="0">
                <a:solidFill>
                  <a:srgbClr val="1F2A3A"/>
                </a:solidFill>
                <a:latin typeface="맑은 고딕"/>
                <a:ea typeface="맑은 고딕"/>
                <a:cs typeface="맑은 고딕"/>
              </a:rPr>
              <a:t>화살표</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조회</a:t>
            </a:r>
          </a:p>
          <a:p>
            <a:pPr algn="ctr">
              <a:lnSpc>
                <a:spcPct val="110000"/>
              </a:lnSpc>
              <a:spcAft>
                <a:spcPts val="400"/>
              </a:spcAft>
            </a:pPr>
            <a:r>
              <a:rPr sz="1350" b="0">
                <a:solidFill>
                  <a:srgbClr val="1F2A3A"/>
                </a:solidFill>
                <a:latin typeface="맑은 고딕"/>
                <a:ea typeface="맑은 고딕"/>
                <a:cs typeface="맑은 고딕"/>
              </a:rPr>
              <a:t>MATCH로 찾고</a:t>
            </a:r>
          </a:p>
          <a:p>
            <a:pPr algn="ctr">
              <a:lnSpc>
                <a:spcPct val="110000"/>
              </a:lnSpc>
              <a:spcAft>
                <a:spcPts val="400"/>
              </a:spcAft>
            </a:pPr>
            <a:r>
              <a:rPr sz="1350" b="0">
                <a:solidFill>
                  <a:srgbClr val="1F2A3A"/>
                </a:solidFill>
                <a:latin typeface="맑은 고딕"/>
                <a:ea typeface="맑은 고딕"/>
                <a:cs typeface="맑은 고딕"/>
              </a:rPr>
              <a:t>WHERE로 거르고</a:t>
            </a:r>
          </a:p>
          <a:p>
            <a:pPr algn="ctr">
              <a:lnSpc>
                <a:spcPct val="110000"/>
              </a:lnSpc>
              <a:spcAft>
                <a:spcPts val="400"/>
              </a:spcAft>
            </a:pPr>
            <a:r>
              <a:rPr sz="1350" b="0">
                <a:solidFill>
                  <a:srgbClr val="1F2A3A"/>
                </a:solidFill>
                <a:latin typeface="맑은 고딕"/>
                <a:ea typeface="맑은 고딕"/>
                <a:cs typeface="맑은 고딕"/>
              </a:rPr>
              <a:t>RETURN으로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circle-plus" descr="circle-plu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만들기</a:t>
            </a:r>
          </a:p>
          <a:p>
            <a:pPr algn="ctr">
              <a:lnSpc>
                <a:spcPct val="110000"/>
              </a:lnSpc>
              <a:spcAft>
                <a:spcPts val="400"/>
              </a:spcAft>
            </a:pPr>
            <a:r>
              <a:rPr sz="1350" b="0">
                <a:solidFill>
                  <a:srgbClr val="1F2A3A"/>
                </a:solidFill>
                <a:latin typeface="맑은 고딕"/>
                <a:ea typeface="맑은 고딕"/>
                <a:cs typeface="맑은 고딕"/>
              </a:rPr>
              <a:t>MERGE로</a:t>
            </a:r>
          </a:p>
          <a:p>
            <a:pPr algn="ctr">
              <a:lnSpc>
                <a:spcPct val="110000"/>
              </a:lnSpc>
              <a:spcAft>
                <a:spcPts val="400"/>
              </a:spcAft>
            </a:pPr>
            <a:r>
              <a:rPr sz="1350" b="0">
                <a:solidFill>
                  <a:srgbClr val="1F2A3A"/>
                </a:solidFill>
                <a:latin typeface="맑은 고딕"/>
                <a:ea typeface="맑은 고딕"/>
                <a:cs typeface="맑은 고딕"/>
              </a:rPr>
              <a:t>노드와 관계를</a:t>
            </a:r>
          </a:p>
          <a:p>
            <a:pPr algn="ctr">
              <a:lnSpc>
                <a:spcPct val="110000"/>
              </a:lnSpc>
              <a:spcAft>
                <a:spcPts val="400"/>
              </a:spcAft>
            </a:pPr>
            <a:r>
              <a:rPr sz="1350" b="0">
                <a:solidFill>
                  <a:srgbClr val="1F2A3A"/>
                </a:solidFill>
                <a:latin typeface="맑은 고딕"/>
                <a:ea typeface="맑은 고딕"/>
                <a:cs typeface="맑은 고딕"/>
              </a:rPr>
              <a:t>중복 없이 넣는다</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그래프 DB에서 관계를 따라 조회하기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Neo4j Browser에서 예제 그래프를 열고 Cypher로 필요한 정보를 찾는다</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조회하는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설비에서 구성 요소와 센서까지를 직접 쓴 질의로 조회하고 결과를 그래프와 표로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125</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그래프를 읽는다</a:t>
            </a:r>
          </a:p>
          <a:p>
            <a:pPr algn="l">
              <a:lnSpc>
                <a:spcPct val="110000"/>
              </a:lnSpc>
              <a:spcAft>
                <a:spcPts val="400"/>
              </a:spcAft>
            </a:pPr>
            <a:r>
              <a:rPr sz="1350" b="0">
                <a:solidFill>
                  <a:srgbClr val="1F2A3A"/>
                </a:solidFill>
                <a:latin typeface="맑은 고딕"/>
                <a:ea typeface="맑은 고딕"/>
                <a:cs typeface="맑은 고딕"/>
              </a:rPr>
              <a:t>노드의 레이블과 속성, 관계의 유형과 방향을 확인한다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 확인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earch" descr="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단계를 조회한다</a:t>
            </a:r>
          </a:p>
          <a:p>
            <a:pPr algn="l">
              <a:lnSpc>
                <a:spcPct val="110000"/>
              </a:lnSpc>
              <a:spcAft>
                <a:spcPts val="400"/>
              </a:spcAft>
            </a:pPr>
            <a:r>
              <a:rPr sz="1350" b="0">
                <a:solidFill>
                  <a:srgbClr val="1F2A3A"/>
                </a:solidFill>
                <a:latin typeface="맑은 고딕"/>
                <a:ea typeface="맑은 고딕"/>
                <a:cs typeface="맑은 고딕"/>
              </a:rPr>
              <a:t>MATCH, WHERE, RETURN으로 설비에 이어진 구성 요소와 센서를 찾는다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조회</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여러 단계를 조회한다</a:t>
            </a:r>
          </a:p>
          <a:p>
            <a:pPr algn="l">
              <a:lnSpc>
                <a:spcPct val="110000"/>
              </a:lnSpc>
              <a:spcAft>
                <a:spcPts val="400"/>
              </a:spcAft>
            </a:pPr>
            <a:r>
              <a:rPr sz="1350" b="0">
                <a:solidFill>
                  <a:srgbClr val="1F2A3A"/>
                </a:solidFill>
                <a:latin typeface="맑은 고딕"/>
                <a:ea typeface="맑은 고딕"/>
                <a:cs typeface="맑은 고딕"/>
              </a:rPr>
              <a:t>관계를 이어 적어 한 번에 여러 단계를 따라간다</a:t>
            </a:r>
          </a:p>
        </p:txBody>
      </p:sp>
      <p:sp>
        <p:nvSpPr>
          <p:cNvPr id="22" name="Rounded Rectangle 21"/>
          <p:cNvSpPr/>
          <p:nvPr/>
        </p:nvSpPr>
        <p:spPr>
          <a:xfrm>
            <a:off x="6461607" y="513435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경로 조회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table" descr="tab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결과를 비교한다</a:t>
            </a:r>
          </a:p>
          <a:p>
            <a:pPr algn="l">
              <a:lnSpc>
                <a:spcPct val="110000"/>
              </a:lnSpc>
              <a:spcAft>
                <a:spcPts val="400"/>
              </a:spcAft>
            </a:pPr>
            <a:r>
              <a:rPr sz="1350" b="0">
                <a:solidFill>
                  <a:srgbClr val="1F2A3A"/>
                </a:solidFill>
                <a:latin typeface="맑은 고딕"/>
                <a:ea typeface="맑은 고딕"/>
                <a:cs typeface="맑은 고딕"/>
              </a:rPr>
              <a:t>같은 질의의 결과를 그래프와 표로 번갈아 본다</a:t>
            </a:r>
          </a:p>
        </p:txBody>
      </p:sp>
      <p:sp>
        <p:nvSpPr>
          <p:cNvPr id="28" name="Rounded Rectangle 27"/>
          <p:cNvSpPr/>
          <p:nvPr/>
        </p:nvSpPr>
        <p:spPr>
          <a:xfrm>
            <a:off x="9303791" y="513435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 읽기</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지식의 구조와 연결 관계 탐색하기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포털의 지식 지도에서 설비와 그에 이어진 대상을 찾아본다</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지도에서 탐색하는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클래스, 인스턴스, 속성, 관계가 HYD의 지식 그래프에 실제로 어떻게 들어 있는지를 설명할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설비에서 출발한다</a:t>
            </a:r>
          </a:p>
          <a:p>
            <a:pPr algn="l">
              <a:lnSpc>
                <a:spcPct val="110000"/>
              </a:lnSpc>
              <a:spcAft>
                <a:spcPts val="400"/>
              </a:spcAft>
            </a:pPr>
            <a:r>
              <a:rPr sz="1400" b="0">
                <a:solidFill>
                  <a:srgbClr val="1F2A3A"/>
                </a:solidFill>
                <a:latin typeface="맑은 고딕"/>
                <a:ea typeface="맑은 고딕"/>
                <a:cs typeface="맑은 고딕"/>
              </a:rPr>
              <a:t>설비 하나를 골라 그에 이어진 구성 요소와 센서를 찾아간다</a:t>
            </a:r>
          </a:p>
        </p:txBody>
      </p:sp>
      <p:sp>
        <p:nvSpPr>
          <p:cNvPr id="10" name="Rounded Rectangle 9"/>
          <p:cNvSpPr/>
          <p:nvPr/>
        </p:nvSpPr>
        <p:spPr>
          <a:xfrm>
            <a:off x="777240" y="514985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 탐색</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list-details" descr="list-detail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항목 하나를 읽는다</a:t>
            </a:r>
          </a:p>
          <a:p>
            <a:pPr algn="l">
              <a:lnSpc>
                <a:spcPct val="110000"/>
              </a:lnSpc>
              <a:spcAft>
                <a:spcPts val="400"/>
              </a:spcAft>
            </a:pPr>
            <a:r>
              <a:rPr sz="1400" b="0">
                <a:solidFill>
                  <a:srgbClr val="1F2A3A"/>
                </a:solidFill>
                <a:latin typeface="맑은 고딕"/>
                <a:ea typeface="맑은 고딕"/>
                <a:cs typeface="맑은 고딕"/>
              </a:rPr>
              <a:t>• 그 항목의 클래스와 속성을 확인한다</a:t>
            </a:r>
          </a:p>
          <a:p>
            <a:pPr algn="l">
              <a:lnSpc>
                <a:spcPct val="110000"/>
              </a:lnSpc>
              <a:spcAft>
                <a:spcPts val="400"/>
              </a:spcAft>
            </a:pPr>
            <a:r>
              <a:rPr sz="1400" b="0">
                <a:solidFill>
                  <a:srgbClr val="1F2A3A"/>
                </a:solidFill>
                <a:latin typeface="맑은 고딕"/>
                <a:ea typeface="맑은 고딕"/>
                <a:cs typeface="맑은 고딕"/>
              </a:rPr>
              <a:t>• 나가는 관계와 들어오는 관계를 구분한다</a:t>
            </a:r>
          </a:p>
        </p:txBody>
      </p:sp>
      <p:sp>
        <p:nvSpPr>
          <p:cNvPr id="16" name="Rounded Rectangle 15"/>
          <p:cNvSpPr/>
          <p:nvPr/>
        </p:nvSpPr>
        <p:spPr>
          <a:xfrm>
            <a:off x="4566818" y="5149850"/>
            <a:ext cx="176783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종류 · 속성 ·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arrows-exchange" descr="arrows-exchang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두 환경을 구분한다</a:t>
            </a:r>
          </a:p>
          <a:p>
            <a:pPr algn="l">
              <a:lnSpc>
                <a:spcPct val="110000"/>
              </a:lnSpc>
              <a:spcAft>
                <a:spcPts val="400"/>
              </a:spcAft>
            </a:pPr>
            <a:r>
              <a:rPr sz="1400" b="0">
                <a:solidFill>
                  <a:srgbClr val="1F2A3A"/>
                </a:solidFill>
                <a:latin typeface="맑은 고딕"/>
                <a:ea typeface="맑은 고딕"/>
                <a:cs typeface="맑은 고딕"/>
              </a:rPr>
              <a:t>• 지식 지도는 HYD의 기준 지식 그래프를 보여 준다</a:t>
            </a:r>
          </a:p>
          <a:p>
            <a:pPr algn="l">
              <a:lnSpc>
                <a:spcPct val="110000"/>
              </a:lnSpc>
              <a:spcAft>
                <a:spcPts val="400"/>
              </a:spcAft>
            </a:pPr>
            <a:r>
              <a:rPr sz="1400" b="0">
                <a:solidFill>
                  <a:srgbClr val="1F2A3A"/>
                </a:solidFill>
                <a:latin typeface="맑은 고딕"/>
                <a:ea typeface="맑은 고딕"/>
                <a:cs typeface="맑은 고딕"/>
              </a:rPr>
              <a:t>• 실습용으로 분리된 그래프와는 서로 다른 환경이다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실습</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 직접 설계하기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설비 자료에서 클래스와 속성과 관계를 정의해 스키마와 인스턴스 데이터를 만든다</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설계하는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제공된 설비 자료를 바탕으로 정의한 스키마 파일과 예시 인스턴스 데이터가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129</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 정하기</a:t>
            </a:r>
          </a:p>
          <a:p>
            <a:pPr algn="ctr">
              <a:lnSpc>
                <a:spcPct val="110000"/>
              </a:lnSpc>
              <a:spcAft>
                <a:spcPts val="400"/>
              </a:spcAft>
            </a:pPr>
            <a:r>
              <a:rPr sz="1350" b="0">
                <a:solidFill>
                  <a:srgbClr val="1F2A3A"/>
                </a:solidFill>
                <a:latin typeface="맑은 고딕"/>
                <a:ea typeface="맑은 고딕"/>
                <a:cs typeface="맑은 고딕"/>
              </a:rPr>
              <a:t>자료를 읽고</a:t>
            </a:r>
          </a:p>
          <a:p>
            <a:pPr algn="ctr">
              <a:lnSpc>
                <a:spcPct val="110000"/>
              </a:lnSpc>
              <a:spcAft>
                <a:spcPts val="400"/>
              </a:spcAft>
            </a:pPr>
            <a:r>
              <a:rPr sz="1350" b="0">
                <a:solidFill>
                  <a:srgbClr val="1F2A3A"/>
                </a:solidFill>
                <a:latin typeface="맑은 고딕"/>
                <a:ea typeface="맑은 고딕"/>
                <a:cs typeface="맑은 고딕"/>
              </a:rPr>
              <a:t>이 지식으로 답할</a:t>
            </a:r>
          </a:p>
          <a:p>
            <a:pPr algn="ctr">
              <a:lnSpc>
                <a:spcPct val="110000"/>
              </a:lnSpc>
              <a:spcAft>
                <a:spcPts val="400"/>
              </a:spcAft>
            </a:pPr>
            <a:r>
              <a:rPr sz="1350" b="0">
                <a:solidFill>
                  <a:srgbClr val="1F2A3A"/>
                </a:solidFill>
                <a:latin typeface="맑은 고딕"/>
                <a:ea typeface="맑은 고딕"/>
                <a:cs typeface="맑은 고딕"/>
              </a:rPr>
              <a:t>질문을 정한다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대상 나누기</a:t>
            </a:r>
          </a:p>
          <a:p>
            <a:pPr algn="ctr">
              <a:lnSpc>
                <a:spcPct val="110000"/>
              </a:lnSpc>
              <a:spcAft>
                <a:spcPts val="400"/>
              </a:spcAft>
            </a:pPr>
            <a:r>
              <a:rPr sz="1350" b="0">
                <a:solidFill>
                  <a:srgbClr val="1F2A3A"/>
                </a:solidFill>
                <a:latin typeface="맑은 고딕"/>
                <a:ea typeface="맑은 고딕"/>
                <a:cs typeface="맑은 고딕"/>
              </a:rPr>
              <a:t>자료에 나오는 대상을</a:t>
            </a:r>
          </a:p>
          <a:p>
            <a:pPr algn="ctr">
              <a:lnSpc>
                <a:spcPct val="110000"/>
              </a:lnSpc>
              <a:spcAft>
                <a:spcPts val="400"/>
              </a:spcAft>
            </a:pPr>
            <a:r>
              <a:rPr sz="1350" b="0">
                <a:solidFill>
                  <a:srgbClr val="1F2A3A"/>
                </a:solidFill>
                <a:latin typeface="맑은 고딕"/>
                <a:ea typeface="맑은 고딕"/>
                <a:cs typeface="맑은 고딕"/>
              </a:rPr>
              <a:t>클래스와</a:t>
            </a:r>
          </a:p>
          <a:p>
            <a:pPr algn="ctr">
              <a:lnSpc>
                <a:spcPct val="110000"/>
              </a:lnSpc>
              <a:spcAft>
                <a:spcPts val="400"/>
              </a:spcAft>
            </a:pPr>
            <a:r>
              <a:rPr sz="1350" b="0">
                <a:solidFill>
                  <a:srgbClr val="1F2A3A"/>
                </a:solidFill>
                <a:latin typeface="맑은 고딕"/>
                <a:ea typeface="맑은 고딕"/>
                <a:cs typeface="맑은 고딕"/>
              </a:rPr>
              <a:t>예시 인스턴스로</a:t>
            </a:r>
          </a:p>
          <a:p>
            <a:pPr algn="ctr">
              <a:lnSpc>
                <a:spcPct val="110000"/>
              </a:lnSpc>
              <a:spcAft>
                <a:spcPts val="400"/>
              </a:spcAft>
            </a:pPr>
            <a:r>
              <a:rPr sz="1350" b="0">
                <a:solidFill>
                  <a:srgbClr val="1F2A3A"/>
                </a:solidFill>
                <a:latin typeface="맑은 고딕"/>
                <a:ea typeface="맑은 고딕"/>
                <a:cs typeface="맑은 고딕"/>
              </a:rPr>
              <a:t>가른다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정의하기</a:t>
            </a:r>
          </a:p>
          <a:p>
            <a:pPr algn="ctr">
              <a:lnSpc>
                <a:spcPct val="110000"/>
              </a:lnSpc>
              <a:spcAft>
                <a:spcPts val="400"/>
              </a:spcAft>
            </a:pPr>
            <a:r>
              <a:rPr sz="1350" b="0">
                <a:solidFill>
                  <a:srgbClr val="1F2A3A"/>
                </a:solidFill>
                <a:latin typeface="맑은 고딕"/>
                <a:ea typeface="맑은 고딕"/>
                <a:cs typeface="맑은 고딕"/>
              </a:rPr>
              <a:t>속성의 자료형,</a:t>
            </a:r>
          </a:p>
          <a:p>
            <a:pPr algn="ctr">
              <a:lnSpc>
                <a:spcPct val="110000"/>
              </a:lnSpc>
              <a:spcAft>
                <a:spcPts val="400"/>
              </a:spcAft>
            </a:pPr>
            <a:r>
              <a:rPr sz="1350" b="0">
                <a:solidFill>
                  <a:srgbClr val="1F2A3A"/>
                </a:solidFill>
                <a:latin typeface="맑은 고딕"/>
                <a:ea typeface="맑은 고딕"/>
                <a:cs typeface="맑은 고딕"/>
              </a:rPr>
              <a:t>식별자, 필수값과</a:t>
            </a:r>
          </a:p>
          <a:p>
            <a:pPr algn="ctr">
              <a:lnSpc>
                <a:spcPct val="110000"/>
              </a:lnSpc>
              <a:spcAft>
                <a:spcPts val="400"/>
              </a:spcAft>
            </a:pPr>
            <a:r>
              <a:rPr sz="1350" b="0">
                <a:solidFill>
                  <a:srgbClr val="1F2A3A"/>
                </a:solidFill>
                <a:latin typeface="맑은 고딕"/>
                <a:ea typeface="맑은 고딕"/>
                <a:cs typeface="맑은 고딕"/>
              </a:rPr>
              <a:t>관계의 유형, 방향,</a:t>
            </a:r>
          </a:p>
          <a:p>
            <a:pPr algn="ctr">
              <a:lnSpc>
                <a:spcPct val="110000"/>
              </a:lnSpc>
              <a:spcAft>
                <a:spcPts val="400"/>
              </a:spcAft>
            </a:pPr>
            <a:r>
              <a:rPr sz="1350" b="0">
                <a:solidFill>
                  <a:srgbClr val="1F2A3A"/>
                </a:solidFill>
                <a:latin typeface="맑은 고딕"/>
                <a:ea typeface="맑은 고딕"/>
                <a:cs typeface="맑은 고딕"/>
              </a:rPr>
              <a:t>연결 제약을 정한다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확인</a:t>
            </a:r>
          </a:p>
          <a:p>
            <a:pPr algn="ctr">
              <a:lnSpc>
                <a:spcPct val="110000"/>
              </a:lnSpc>
              <a:spcAft>
                <a:spcPts val="400"/>
              </a:spcAft>
            </a:pPr>
            <a:r>
              <a:rPr sz="1350" b="0">
                <a:solidFill>
                  <a:srgbClr val="1F2A3A"/>
                </a:solidFill>
                <a:latin typeface="맑은 고딕"/>
                <a:ea typeface="맑은 고딕"/>
                <a:cs typeface="맑은 고딕"/>
              </a:rPr>
              <a:t>스키마 파일과</a:t>
            </a:r>
          </a:p>
          <a:p>
            <a:pPr algn="ctr">
              <a:lnSpc>
                <a:spcPct val="110000"/>
              </a:lnSpc>
              <a:spcAft>
                <a:spcPts val="400"/>
              </a:spcAft>
            </a:pPr>
            <a:r>
              <a:rPr sz="1350" b="0">
                <a:solidFill>
                  <a:srgbClr val="1F2A3A"/>
                </a:solidFill>
                <a:latin typeface="맑은 고딕"/>
                <a:ea typeface="맑은 고딕"/>
                <a:cs typeface="맑은 고딕"/>
              </a:rPr>
              <a:t>인스턴스 데이터가</a:t>
            </a:r>
          </a:p>
          <a:p>
            <a:pPr algn="ctr">
              <a:lnSpc>
                <a:spcPct val="110000"/>
              </a:lnSpc>
              <a:spcAft>
                <a:spcPts val="400"/>
              </a:spcAft>
            </a:pPr>
            <a:r>
              <a:rPr sz="1350" b="0">
                <a:solidFill>
                  <a:srgbClr val="1F2A3A"/>
                </a:solidFill>
                <a:latin typeface="맑은 고딕"/>
                <a:ea typeface="맑은 고딕"/>
                <a:cs typeface="맑은 고딕"/>
              </a:rPr>
              <a:t>원래 자료의 뜻과</a:t>
            </a:r>
          </a:p>
          <a:p>
            <a:pPr algn="ctr">
              <a:lnSpc>
                <a:spcPct val="110000"/>
              </a:lnSpc>
              <a:spcAft>
                <a:spcPts val="400"/>
              </a:spcAft>
            </a:pPr>
            <a:r>
              <a:rPr sz="1350" b="0">
                <a:solidFill>
                  <a:srgbClr val="1F2A3A"/>
                </a:solidFill>
                <a:latin typeface="맑은 고딕"/>
                <a:ea typeface="맑은 고딕"/>
                <a:cs typeface="맑은 고딕"/>
              </a:rPr>
              <a:t>맞는지 대조한다</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온톨로지의 그래프 DB 구현과 시각화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스키마와 인스턴스를 Cypher로 옮겨 실습용 그래프 DB에 넣고 그래프로 확인한다</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설계한 클래스와 인스턴스와 관계가 그래프 DB에 들어가 그래프로 보인다.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131</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Cypher로 옮긴다</a:t>
            </a:r>
          </a:p>
          <a:p>
            <a:pPr algn="ctr">
              <a:lnSpc>
                <a:spcPct val="110000"/>
              </a:lnSpc>
              <a:spcAft>
                <a:spcPts val="400"/>
              </a:spcAft>
            </a:pPr>
            <a:r>
              <a:rPr sz="1350" b="0">
                <a:solidFill>
                  <a:srgbClr val="1F2A3A"/>
                </a:solidFill>
                <a:latin typeface="맑은 고딕"/>
                <a:ea typeface="맑은 고딕"/>
                <a:cs typeface="맑은 고딕"/>
              </a:rPr>
              <a:t>앞에서 만든 스키마와 예시 인스턴스를</a:t>
            </a:r>
          </a:p>
          <a:p>
            <a:pPr algn="ctr">
              <a:lnSpc>
                <a:spcPct val="110000"/>
              </a:lnSpc>
              <a:spcAft>
                <a:spcPts val="400"/>
              </a:spcAft>
            </a:pPr>
            <a:r>
              <a:rPr sz="1350" b="0">
                <a:solidFill>
                  <a:srgbClr val="1F2A3A"/>
                </a:solidFill>
                <a:latin typeface="맑은 고딕"/>
                <a:ea typeface="맑은 고딕"/>
                <a:cs typeface="맑은 고딕"/>
              </a:rPr>
              <a:t>노드, 속성, 관계를 만드는</a:t>
            </a:r>
          </a:p>
          <a:p>
            <a:pPr algn="ctr">
              <a:lnSpc>
                <a:spcPct val="110000"/>
              </a:lnSpc>
              <a:spcAft>
                <a:spcPts val="400"/>
              </a:spcAft>
            </a:pPr>
            <a:r>
              <a:rPr sz="1350" b="0">
                <a:solidFill>
                  <a:srgbClr val="1F2A3A"/>
                </a:solidFill>
                <a:latin typeface="맑은 고딕"/>
                <a:ea typeface="맑은 고딕"/>
                <a:cs typeface="맑은 고딕"/>
              </a:rPr>
              <a:t>Cypher 질의로 바꾼다</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 DB에 넣는다</a:t>
            </a:r>
          </a:p>
          <a:p>
            <a:pPr algn="ctr">
              <a:lnSpc>
                <a:spcPct val="110000"/>
              </a:lnSpc>
              <a:spcAft>
                <a:spcPts val="400"/>
              </a:spcAft>
            </a:pPr>
            <a:r>
              <a:rPr sz="1350" b="0">
                <a:solidFill>
                  <a:srgbClr val="1F2A3A"/>
                </a:solidFill>
                <a:latin typeface="맑은 고딕"/>
                <a:ea typeface="맑은 고딕"/>
                <a:cs typeface="맑은 고딕"/>
              </a:rPr>
              <a:t>실습용으로 분리된 그래프 DB에서</a:t>
            </a:r>
          </a:p>
          <a:p>
            <a:pPr algn="ctr">
              <a:lnSpc>
                <a:spcPct val="110000"/>
              </a:lnSpc>
              <a:spcAft>
                <a:spcPts val="400"/>
              </a:spcAft>
            </a:pPr>
            <a:r>
              <a:rPr sz="1350" b="0">
                <a:solidFill>
                  <a:srgbClr val="1F2A3A"/>
                </a:solidFill>
                <a:latin typeface="맑은 고딕"/>
                <a:ea typeface="맑은 고딕"/>
                <a:cs typeface="맑은 고딕"/>
              </a:rPr>
              <a:t>질의를 실행해</a:t>
            </a:r>
          </a:p>
          <a:p>
            <a:pPr algn="ctr">
              <a:lnSpc>
                <a:spcPct val="110000"/>
              </a:lnSpc>
              <a:spcAft>
                <a:spcPts val="400"/>
              </a:spcAft>
            </a:pPr>
            <a:r>
              <a:rPr sz="1350" b="0">
                <a:solidFill>
                  <a:srgbClr val="1F2A3A"/>
                </a:solidFill>
                <a:latin typeface="맑은 고딕"/>
                <a:ea typeface="맑은 고딕"/>
                <a:cs typeface="맑은 고딕"/>
              </a:rPr>
              <a:t>인스턴스와 관계를 만든다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그래프로 확인한다</a:t>
            </a:r>
          </a:p>
          <a:p>
            <a:pPr algn="ctr">
              <a:lnSpc>
                <a:spcPct val="110000"/>
              </a:lnSpc>
              <a:spcAft>
                <a:spcPts val="400"/>
              </a:spcAft>
            </a:pPr>
            <a:r>
              <a:rPr sz="1350" b="0">
                <a:solidFill>
                  <a:srgbClr val="1F2A3A"/>
                </a:solidFill>
                <a:latin typeface="맑은 고딕"/>
                <a:ea typeface="맑은 고딕"/>
                <a:cs typeface="맑은 고딕"/>
              </a:rPr>
              <a:t>Neo4j Browser에서 결과를 그래프로 보고</a:t>
            </a:r>
          </a:p>
          <a:p>
            <a:pPr algn="ctr">
              <a:lnSpc>
                <a:spcPct val="110000"/>
              </a:lnSpc>
              <a:spcAft>
                <a:spcPts val="400"/>
              </a:spcAft>
            </a:pPr>
            <a:r>
              <a:rPr sz="1350" b="0">
                <a:solidFill>
                  <a:srgbClr val="1F2A3A"/>
                </a:solidFill>
                <a:latin typeface="맑은 고딕"/>
                <a:ea typeface="맑은 고딕"/>
                <a:cs typeface="맑은 고딕"/>
              </a:rPr>
              <a:t>설계한 구조대로 이어졌는지 확인한다</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오늘의 용어는 정의하는 쪽의 말과 그래프 DB에 저장하는 쪽의 말이 서로 짝을 이룬다.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뜻</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영문</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클래스</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공통 특성을 가진 대상의 유형</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Class</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인스턴스</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클래스에 속하는 실제 대상 하나</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Instance</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속성</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클래스가 정한 값의 칸</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Property</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카디널리티</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한 대상에 이어질 수 있는 상대의 수</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Cardinality</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스키마</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클래스, 속성, 관계, 제약의 정의</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Schema</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식별자</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대상 하나를 가리키는 고유한 값</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Identifier</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레이블</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노드의 종류를 나타내는 이름표</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Label</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질의</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데이터베이스에 보내는 요청</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Query</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스키마와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공장에 같은 기종의 유압 파워팩 한 대가 새로 들어와 HYD-04라는 설비 코드를 받았다.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설비를 지식 그래프에 반영하는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스키마에 「HYD-04」라는 클래스를 새로 정의한다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클래스에 「넷째 설비」라는 속성을 더한다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클래스의 인스턴스 하나를 더하고 구성 요소와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HYD-01 인스턴스의 code 값을 HYD-04로 고친다</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속성과 관계의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부품 「펌프 축 씰 키트」를 세 공급사가 공급하는데, 단가와 납기가 공급사마다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단가와 납기를 두는 자리로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부품과 공급사를 잇는 SUPPLIED_BY 관계의 속성</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Part 클래스의 속성</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Supplier 클래스의 속성</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「단가」라는 새 클래스의 인스턴스</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방향이 있는 관계의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HAS_COMPONENT는 Asset에서 Component로 향하는 관계이며, 오일 쿨러를 가진 설비를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찾을 모양을 바르게 적은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쿨러'})-[:HAS_COMPONENT]-&gt;(a:Asset)</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쿨러'})&lt;-[:MONITORED_BY]-(a:Asset)</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유형과 대상, 값이 딸린 자리, 관계의 방향을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새로 생긴 것은 유형이 아니라 대상 하나이다. 스키마는 그대로 두고 인스턴스와 관계를 더한다.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단가는 부품과 공급사의 짝마다 달라진다. 짝에 딸린 값은 둘을 잇는 관계의 속성으로 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관계는 설비에서 구성 요소로 향한다. 구성 요소 쪽에서 출발하면 화살표를 구성 요소 쪽으로 향하게 적는다.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