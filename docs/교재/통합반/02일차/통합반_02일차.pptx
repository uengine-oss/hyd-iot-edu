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지난 시간에는 경보 뒤의 판단에 지식이 필요하고, 그 지식을 대상과 관계로 적은 것이 온톨로지라는 데까지 왔습니다. 오늘은 그 온톨로지를 직접 만드는 방법을 다룹니다. 목표는 화면의 네 가지입니다.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지난 시간에 쿨러 사건을 노드와 관계로 그리면서 노드마다 설비 같은 종류와 HYD-01 같은 실제 이름을 함께 적었습니다. 먼저 윗줄을 봅니다. 설비, 센서, 증상은 물건 하나가 아니라 종류이고, 설비라는 노드는 HYD-01도 HYD-02도 함께 가리킵니다. 다음으로 아랫줄은 손으로 가리킬 수 있는 대상 하나하나입니다. HYD-01은 설비 가운데 한 대이고 유온 센서 TS1은 센서 가운데 하나이며, 위아래 같은 자리에 놓인 것끼리 짝이 됩니다.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가지가 한 그림에 구분 없이 섞이면 컴퓨터는 센서라는 노드와 TS1이라는 노드의 사이를 알 수 없습니다. 온톨로지는 두 층에 이름을 붙여 나눕니다. 유형이 클래스이고 실제 대상이 인스턴스입니다.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왼쪽 점선 상자가 센서 클래스입니다. 무엇인가를 재어 값으로 내놓는다는 공통점으로 대상을 묶은 유형이고, 점선은 물건 하나가 아니라 틀이라는 뜻입니다. 오른쪽 맨 위의 sen:ts1이 지난 시간에 따라간 유온 센서이며, sen:ts1은 이 인스턴스를 가리키는 식별자입니다. 다섯 인스턴스는 재는 대상이 달라도 모두 같은 유형에 속합니다. 신청서 양식 하나에 작성된 신청서가 여러 장인 것과 닮았습니다.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지난 시간에 따라간 사건의 대상을 클래스로 나누면 다섯입니다. 위의 점선 상자가 클래스이고 아래 동그라미가 그 인스턴스 하나씩입니다. 다섯 클래스의 정의와 인스턴스는 표로 한 행씩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위에서부터 한 행씩 봅니다. 설비 클래스의 인스턴스는 설비 한 대이고, 구성 요소는 설비를 이루는 쿨러, 팬, 펌프 같은 장치입니다. 센서 클래스의 인스턴스에는 태그가 붙으며, 유온 센서의 태그가 지난 시간에 따라간 TS1입니다. 상태 변수는 온도, 압력, 진동처럼 설비의 상태를 나타내는 물리량이어서 장치가 아니라 양이라는 점이 앞의 세 클래스와 다릅니다. 부품은 정비할 때 갈아 끼우는 교체품이고 쿨러 코어는 오일 쿨러 안에 들어갑니다.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유온 센서와 유온은 이름이 비슷하지만 다른 대상입니다. 정상값과 한계는 재는 장치가 아니라 재어지는 물리량에 딸린 값입니다. 그래서 클래스를 나누었습니다.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일상에서는 둘 다 부품이라고 부르지만 클래스로는 나뉩니다. 위 줄이 구성 요소이고 아래 줄이 그 안에 들어가는 교체 부품입니다. 이 과정에서 부품이라는 말은 아래 줄만 가리킵니다.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헷갈릴 때는 문장에 넣어 봅니다. 오일 쿨러는 구성 요소의 하나이다는 말이 됩니다. 구성 요소는 오일 쿨러의 하나이다는 말이 되지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줄을 가로로 읽습니다. 센서는 클래스이고 유온 센서는 그 인스턴스이며 TS1은 그 인스턴스에 붙은 태그의 값입니다. 둘째 줄도 가로로 짝이 됩니다. 쿨러 팬은 구성 요소의 하나이고 팬 진동은 상태 변수의 하나입니다. VS1과 mm/s와 2.0은 대상이 아니라 팬 진동 센서와 팬 진동에 붙은 값이며, 지난 시간에 본 속성이 이런 값을 담는 칸입니다.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클래스는 손에 잡히는 물건에만 쓰는 것이 아닙니다. 지난 시간에 따라간 증상과 고장 유형과 원인도 클래스이고, 유온 상승이나 쿨러 핀 오염이 그 인스턴스입니다.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지난 시간에 속성은 대상이 갖는 값의 칸이라고 했고, 그 칸을 정하는 것이 클래스입니다. 먼저 왼쪽의 다섯 칸을 봅니다. 센서 클래스의 속성은 식별자, 이름, 태그, 단위, 그리고 계산으로 만든 값인지를 나타내는 virtual입니다. 가운데 카드는 유온 센서이고 칸마다 값이 하나씩 들어가며, 앞에서 값이라고 가른 TS1이 tag의 값입니다. 오른쪽은 냉각 효율인데 CE는 센서 없이 계산한 값이어서 virtual이 true입니다.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공장에는 같은 기종의 유압 파워팩이 세 대 있습니다. 생김새와 구조가 같아도 인스턴스는 셋이고, 값이 서로 다릅니다. 어느 설비의 이야기인지는 이 값으로 가려집니다.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값의 형식은 그 값으로 무엇을 할 수 있는지를 정합니다. 한계가 수로 적혀 있어야 잰 값이 한계를 넘었는지 비교할 수 있습니다. 목록은 같은 대상의 다른 이름처럼 값이 여러 개일 때 씁니다.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상태 변수 다섯을 나란히 놓았습니다. 이름과 단위는 다섯 모두에 있습니다. 단위 없는 물리량은 해석할 수 없으므로 반드시 있어야 하는 속성입니다. 한계는 셋에만 있고 둘에는 비어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클래스끼리도 위아래가 있을 수 있습니다. 먼저 위의 차량을 보면 번호와 제조사가 차량의 속성입니다. 아래의 승용차, 화물차, 버스는 차량의 하위 클래스여서 이 속성을 따로 적지 않아도 모두 갖습니다. 화물차는 물려받은 속성에 화물차에만 있는 적재량을 더합니다. 세모가 달린 선은 아래 클래스가 위 클래스를 상속한다는 표기입니다.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HYD 온톨로지에서는 업무의 흐름을 나타내는 클래스들이 이 구조입니다. 작업은 흐름 노드의 id와 name을 물려받고 taskType을 더합니다. 하위 클래스의 인스턴스는 상위 클래스의 인스턴스이기도 합니다. 이 클래스들의 뜻은 프로세스를 다룰 때 봅니다.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인스턴스에 무엇인가를 붙이는 방법은 둘입니다. 값을 붙이면 속성이고, 다른 인스턴스를 가리키면 관계입니다. 이 수업에서는 앞의 것을 속성, 뒤의 것을 관계라고 줄여 부릅니다.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오일 쿨러에 달린 유온 센서가 무엇을 재는지를 유온이라는 글자 값으로 적을 수도 있습니다. 그러나 글자 값에는 정상값 48과 한계 65를 붙일 자리가 없습니다. 그래서 유온을 인스턴스로 두고 센서와는 OBSERVES, 곧 읽는다는 관계로 잇습니다.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앞의 그림에 노드 둘을 더했습니다. 먼저 팬 속도도 상태 변수의 인스턴스이고, 팬 속도가 유온에 영향을 준다는 관계가 INFLUENCES입니다. 지난 시간에 팬을 최대로 올리자 유온이 내려간 일이 이 관계로 적혀 있으며, 팬 속도는 팬 인버터라는 구동기가 MANIPULATES 관계로 바꿉니다. 유온을 인스턴스로 두었기 때문에 쿨러, 센서, 팬이 유온을 거쳐 이어집니다. 그것에 대해 더 말할 것이 있으면 인스턴스이고, TS1이라는 태그나 섭씨라는 단위처럼 값 하나로 끝나면 속성값입니다.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관계도 클래스처럼 유형을 먼저 정합니다. 윗줄에서 HAS_COMPONENT는 설비 클래스에서 시작해 구성 요소 클래스에서 끝나고, MONITORED_BY는 구성 요소에서 센서로, OBSERVES는 센서에서 상태 변수로 향합니다. 아랫줄은 실제 대상이어서 HYD-01은 오일 쿨러를 구성 요소로 갖고, 오일 쿨러는 유온 센서로 계측되며, 유온 센서는 유온을 읽습니다. 파란 화살표 하나하나가 위에서 정의한 관계 유형의 실제 연결입니다. 세로 점선은 아래의 대상이 위 클래스의 인스턴스라는 뜻이고, 지난 시간에 CAUSES는 원인에서 고장 유형으로만 잇는다고 한 것이 위층의 정의였습니다.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오일 쿨러 하나를 가운데 놓았습니다. 왼쪽 둘은 오일 쿨러로 들어오는 관계이고 오른쪽 셋은 오일 쿨러에서 나가는 관계입니다. 지난 시간에 고장 유형이 오일 쿨러에서 일어난다고 한 것이 왼쪽 아래의 OCCURS_IN입니다.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관계 유형을 정의할 때 하나 더 정하는 것이 카디널리티입니다. 하나를 1로, 여럿을 N이나 M으로 적습니다. 왼쪽 숫자가 관계가 시작하는 쪽이고 오른쪽 숫자가 끝나는 쪽입니다. 네 가지를 실제 예로 하나씩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행의 MANIPULATES, 곧 바꾼다는 관계는 일대일이어서 구동기 셋이 상태 변수 셋과 하나씩 짝을 이루고, 한 구동기가 둘을 바꾸지도 한 상태 변수를 두 구동기가 바꾸지도 않습니다. 둘째 행의 HAS_STEP은 조치 방법 하나에서 단계 여럿으로 가는 일대다 관계입니다. 지난 시간에 승인된 팬 최대 운전에는 수행 단계가 셋 있고, 단계 하나는 한 조치 방법에만 속합니다. 셋째 행의 MEMBER_OF는 역할에서 부서로 가는 다대일 관계이며, 지난 시간에 조치를 승인한 운전원은 생산팀에 속합니다. 한 부서에 역할이 여럿 속할 수 있고 역할 하나는 한 부서에만 속합니다.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SUPPLIED_BY, 곧 공급받는다는 관계는 다대다입니다. 펌프 축 씰 키트는 세 공급사가 공급하고, A정밀은 세 부품을 공급합니다. 지난 시간에 본 CAUSES도 다대다였습니다.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오른쪽처럼 팬 인버터가 팬 속도와 펌프 부하를 함께 바꾼다고 적힌 데이터가 들어오면 일대일이라는 정의와 다릅니다. 잘못 넣은 데이터일 가능성이 높으므로 다시 확인합니다. 조회할 때 결과가 하나일지 여럿일지를 미리 아는 데에도 쓰입니다.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센서와 구동기는 둘 다 설비에 달린 장치이지만 하는 일이 반대입니다. 센서는 읽고 구동기는 바꿉니다. 갖는 속성도 맺는 관계도 다르므로 한 클래스로 묶지 않고 나눕니다.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왼쪽을 봅니다. 부품 번호는 쿨러 코어 하나에 딸린 값이고 그 값에 대해 더 적을 것이 없으며, 공급사가 승인된 곳인지도 그 공급사에 딸린 참 · 거짓 값입니다. 다음으로 오른쪽을 봅니다. 오일 쿨러에 들어가는 교체 부품을 쿨러 코어라는 글자 값으로 적을 수도 있지만, 쿨러 코어에는 부품 번호가 있고 공급사와의 관계도 있습니다. 그래서 인스턴스로 두고 USES_PART 관계로 잇습니다.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부품인데 단가와 납기가 공급사마다 다릅니다. 단가를 부품의 속성으로 두면 공급사가 셋이라 값을 하나로 정할 수 없습니다. 단가는 부품과 공급사의 짝에 딸린 값이므로 SUPPLIED_BY 관계에 속성으로 붙입니다.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앞의 네 사례를 순서로 모았습니다. 설계하다가 막히면 이 순서대로 물어봅니다.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처음 설계할 때 흔한 실수 둘입니다. 먼저 첫째 실수를 봅니다. 유온 센서는 센서의 하나이므로 인스턴스이며, 클래스로 만들기 전에 유형인지 대상 하나인지를 「하나이다」 문장으로 확인합니다. 다음으로 둘째 실수를 봅니다. 설비가 구성 요소를 갖는다와 구성 요소가 설비에 속한다는 같은 사실이고, 지난 시간에 본 것처럼 컴퓨터는 화살표를 거슬러 가기도 하므로 한쪽만 적으면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왼쪽은 섭씨와 65를 노드로 만들었습니다. 이 노드들은 속성도 없고 다른 관계도 없습니다. 오른쪽처럼 유온이라는 인스턴스의 속성으로 적으면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단원에서 본 것은 네 가지입니다. 유형은 클래스로, 실제 대상은 인스턴스로, 값은 속성으로, 연결은 관계로 적습니다. 이 네 가지를 한곳에 일관되게 정의해 둔 것이 다음 단원의 스키마입니다.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사람이 같은 장치를 서로 다른 이름으로 넣었습니다. 설비는 오일 쿨러에, 센서는 쿨러에, 부품은 열교환기에 붙었습니다. 쿨러에 달린 센서를 찾으라고 하면 셋 가운데 하나에 붙은 것만 나옵니다.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앞에서 이름이 흩어진 것에 이어 관계와 값도 어긋납니다. 먼저 왼쪽의 세 연결은 모두 설비가 구성 요소를 갖는다는 같은 사실인데, 이름이 셋이고 하나는 방향도 반대여서 어느 한 이름을 따라 찾으면 하나만 나옵니다. 다음으로 오른쪽에서는 한계를 한 곳에는 수로, 다른 곳에는 단위까지 붙인 글자로 넣었습니다. 글자는 크기를 비교할 수 없으므로 한계를 넘었는지 판정하지 못하고, 단위가 빠진 값은 무엇을 뜻하는지 알 수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앞의 세 문제에서 넣은 사람은 저마다 맞게 넣었고, 없는 것은 모두가 함께 따르는 약속입니다. 그 약속이 스키마입니다. 지난 시간에 온톨로지는 종류와 속성과 관계와 제약을 명시적으로 정의한 지식 모델이라고 했는데, 그 정의를 실제로 적어 둔 것이 스키마입니다. 둘째 칸에서 스키마가 정하는 항목을, 셋째 칸에서 정의의 예 둘을 봅니다. 양식 비유는 칸을 정하는 쪽과 채우는 쪽이 나뉜다는 점까지만 닮았습니다.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스키마에 클래스 하나가 어떻게 적히는지를 센서 클래스로 봅니다. 먼저 이름입니다. 영문 이름 Sensor가 이 클래스를 가리키는 하나뿐인 이름이고, 센서는 사람이 읽는 한글 이름입니다. 다음으로 의미입니다. 센서라는 낱말만 있으면 계기 장치만 가리키는지 계산으로 만든 값도 포함하는지를 사람마다 다르게 읽는데, 계측 채널이라고 적어 두었으므로 냉각 효율도 센서 클래스에 넣을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정의의 마지막 항목이 속성 목록이고, 앞 단원에서 본 센서의 다섯 칸이 한 줄씩 적혀 있습니다. 한 줄은 속성의 이름, 자료형, 필수 여부의 순서입니다. tag 한 줄을 읽으면 이름은 tag, 자료형은 글자, 그리고 반드시 있어야 하는 속성입니다. 앞 단원에서 본 값의 형식과 필수 · 선택이 스키마에는 이렇게 적힙니다.</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상태 변수 클래스의 속성 목록입니다. 한계와 정상값이 number, 곧 수로 정해져 있습니다. 앞에서 한계를 글자로 넣어 비교하지 못한 문제가 이 한 줄로 막힙니다.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상태 변수의 kind에는 이 세 값만 쓸 수 있습니다. 유온은 조작한 결과로 나타나는 값이므로 controlled입니다. 값을 정해 두었기 때문에 조작할 수 있는 상태 변수만 고르는 일이 가능합니다.</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센서의 tag는 필수 속성입니다. 태그가 없으면 저장소에 쌓인 값 가운데 어느 것이 이 센서의 값인지 찾을 수 없습니다. 필수로 정해 두면 이런 인스턴스를 넣기 전에 가려낼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이름을 식별자로 쓰지 않는 까닭은 이름이 겹치거나 바뀌기 때문입니다. 유온 센서라는 이름을 온도 센서로 고쳐도 sen:ts1이라는 식별자는 그대로이고, 이 센서를 가리키는 관계도 그대로 남습니다.</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식별자만 보아도 어느 클래스의 대상인지 알 수 있습니다. sen:ts1은 센서이고 sv:ts1은 상태 변수입니다. 뒤쪽이 같아도 접두사가 달라 서로 다른 대상입니다.</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사람은 유온을 오일 온도라고도 작동유 온도라고도 부릅니다. 이 이름들을 별칭 목록에 적어 둡니다. 어느 말로 물어도 sv:ts1 하나에 닿으므로 같은 대상이 여러 노드로 흩어지지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왼쪽 지식 그래프의 code와 tag를 봅니다. 지난 시간에 유온 값은 TimescaleDB의 tag_1s라는 표에 쌓인다고 했는데, 그 표의 asset 열과 name 열에 같은 HYD-01과 TS1이 들어 있어 센서를 찾은 뒤 그 값으로 지금의 유온을 읽어 올 수 있습니다. 정비 이력이나 자재 같은 업무 데이터를 담은 DB도 설비를 같은 code 값으로 적습니다. 스키마를 설계할 때 다른 시스템이 이미 쓰는 식별자를 속성으로 받아 두는 것은 이 때문이며, 값이 한 글자라도 다르면 이어지지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관계도 클래스처럼 스키마에 정의합니다. OBSERVES는 센서에서 시작해 상태 변수에서 끝나는 다대일 관계라고 적혀 있습니다. 앞 단원에서 그림으로 본 관계 유형이 글자로는 이렇게 적힙니다.</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관계 정의가 곧 연결 조건이 됩니다. 먼저 위를 봅니다. 유온 센서는 센서 클래스의 인스턴스이고 유온은 상태 변수 클래스의 인스턴스여서 양 끝이 정의와 같으므로 유효합니다. 다음으로 아래는 같은 OBSERVES를 유온 센서에서 설비 HYD-01로 그은 것인데, 끝 클래스가 설비이므로 정의에 어긋납니다. 센서와 설비는 정의된 다른 관계를 거쳐 잇습니다.</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유효하지 않은 연결에는 두 가지 꼴이 더 있습니다. 방향을 반대로 그은 것과, 스키마에 없는 이름으로 그은 것입니다. 둘 다 사람이 보면 뜻이 통하지만, 정의된 이름과 방향으로 조회하면 이 연결은 찾아지지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제약이 있기 때문에 넣은 데이터가 정의에 맞는지를 프로그램으로 검사할 수 있습니다. 지난 시간에 관계 그림과 온톨로지를 가르는 것이 제약이라고 한 까닭이 여기에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센서라는 클래스와 tag라는 속성까지가 스키마입니다. 유온 센서라는 대상은 스키마에 없고 인스턴스 데이터에 있습니다. 앞 단원에서 본 클래스 층과 인스턴스 층이 각각 이 둘에 담깁니다.</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둘은 바뀌는 빈도가 다릅니다. 지식을 늘리는 일은 대부분 인스턴스를 더하는 일입니다. 스키마는 처음에 신중하게 정하고 그 뒤로는 드물게 고칩니다.</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본 정의를 어떤 순서로 만드는지를 오일 쿨러 사례로 따라가겠습니다. 출발점은 클래스가 아니라 질문입니다. 한 단계씩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질문을 정하면 넣을 것과 넣지 않을 것이 갈립니다. 설비의 색깔이나 제조 연도는 이 세 질문에 쓰이지 않으므로 넣지 않습니다. 이 세 질문이 설계의 끝에서 확인 기준이 됩니다.</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질문 셋에 나오는 낱말을 앞 단원의 「하나이다」 문장으로 가릅니다. 오일 쿨러는 구성 요소의 하나이므로 인스턴스이고 구성 요소가 클래스입니다. 가른 유형마다 상자 하나를 그리고 영문 이름을 하나씩 붙였으며, 상자 옆에 그 유형의 낱말과 예시 인스턴스를 적었습니다. 한계는 대상이 아니라 물리량에 딸린 값이므로 여기에 넣지 않습니다. 상자의 아래 칸은 속성으로 채웁니다.</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클래스 이름 옆 중괄호 안에 속성을 나열했습니다. 모든 클래스에 식별자 id와 이름 name을 두고, 질문에 필요한 값을 더합니다. 설비에는 설비 코드, 센서에는 태그와 단위, 상태 변수에는 단위와 한계, 부품에는 부품 번호입니다. 느낌표가 붙은 것이 필수 속성입니다. 한계는 잰 값과 비교해야 하므로 수로 정하고, 한계가 없는 상태 변수도 있으므로 필수로 두지는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질문 셋이 건너가는 길을 따라 관계를 놓았습니다. 첫 질문은 설비에서 구성 요소를 거쳐 센서로 가므로 HAS_COMPONENT와 MONITORED_BY를, 둘째 질문을 위해 OBSERVES를, 셋째 질문을 위해 USES_PART를 놓습니다. 오일 쿨러는 유온 센서와 냉각 효율 두 채널로 계측되므로 구성 요소 쪽에서 보아 센서가 여럿입니다. 이 네 줄이 앞에서 본 유효한 연결의 기준이 됩니다.</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여기까지가 스키마입니다. 이 그림에는 HYD-01도 오일 쿨러도 없습니다. 어떤 유형이 있고 어떻게 이어질 수 있는가만 적혀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단계 2에서 가른 실제 대상 다섯을 인스턴스로 넣고 정의한 관계로 이었습니다. 연결마다 양 끝이 정의와 같은지를 확인합니다. 모두 유효한 연결입니다.</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설비에서 출발해 관계 셋을 따라가면 첫 질문과 둘째 질문의 답이 나옵니다. 오일 쿨러에서 USES_PART를 따라가면 셋째 질문의 답인 쿨러 코어가 나옵니다. 답이 나오지 않으면 빠진 클래스나 관계가 있다는 뜻이므로 앞 단계로 돌아갑니다.</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지금의 스키마에는 공급사가 없으므로 이 질문에 답할 수 없습니다. 공급사 클래스와 부품에서 공급사로 가는 관계를 더합니다. 이미 정한 다섯 클래스는 그대로 둡니다.</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방금 만든 것은 HYD 온톨로지의 설비 묶음 가운데 일부입니다. 지난 시간에 따라간 증상과 고장 유형과 원인은 진단 묶음의 클래스입니다. 판단과 성과 묶음은 다음 시간에 다룹니다.</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단원의 처음에 본 세 문제로 돌아왔습니다. 오일 쿨러는 comp:cooler 하나로 들어가고, 구성 요소는 HAS_COMPONENT 하나로 이어지며, 한계는 수로 들어갑니다. 이렇게 정의한 지식을 저장하고 조회하는 방법이 다음 단원입니다.</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스키마와 인스턴스를 정했으면 저장할 곳이 필요합니다. 표로 된 데이터베이스가 관계형 DB입니다. 쿨러 코어를 공급하는 곳을 알려면 부품 테이블과 공급사 테이블에서 part_no 값이 같은 행을 찾아 맞추어야 합니다. 이렇게 맞추어 잇는 일을 조인이라고 합니다.</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사실이 그래프 DB에는 노드 셋과 관계 둘로 들어 있습니다. 쿨러 코어 노드에 공급사 노드로 가는 관계가 이미 붙어 있으므로 따라가기만 하면 됩니다. 건너가는 단계가 늘수록 이 차이가 커집니다.</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어느 한쪽이 더 낫다는 뜻이 아닙니다. HYD는 매초 쌓이는 값을 관계형 DB에, 뜻과 연결을 그래프 DB에 두고, 앞에서 본 공통 식별자로 둘을 잇습니다.</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지난 시간에 본 그래프 DB인 Neo4j에서는 인스턴스 하나가 노드 하나가 되고, 노드에 붙는 이름표인 레이블로 클래스 이름을 씁니다. 다음으로 가운데의 관계에는 방향과 관계 유형이 함께 저장되며, 스키마에서 정의한 관계의 이름을 그대로 씁니다. 아래 상자는 속성이고, 앞 단원에서 본 속성이 노드에 그대로 들어갑니다. 노드, 관계, 속성의 세 가지가 그래프 DB가 데이터를 담는 구조의 전부입니다.</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쪽의 말을 한 줄씩 맞추었습니다. 상속은 한 노드에 레이블을 둘 붙여 나타냅니다. 온톨로지 스키마는 지식이 어떤 모양이어야 하는가를 정한 정의이고, Neo4j의 레이블과 제약은 그 정의를 도구 안에 옮겨 놓은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스키마에서 식별자는 겹치지 않는다고 정했습니다. 이 제약을 Neo4j에 유일 제약으로 걸어 두면, 같은 id의 노드를 또 만들려고 할 때 Neo4j가 저장을 거절합니다. 스키마가 먼저이고 DB는 그것을 담는 그릇입니다.</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그래프 DB에 들어 있는 것을 꺼내 보려면 질의를 보냅니다. 지난 시간에 에이전트가 관계를 따라 원인 후보를 찾은 일도 Cypher 질의를 Neo4j에 보낸 것이었습니다. 사람이 Browser에서 쓰는 질의와 같은 언어입니다.</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Cypher의 표기는 위의 그림을 글자로 옮긴 것입니다. 먼저 동그라미를 둥근 괄호로 적고, 괄호 안의 콜론 뒤에 레이블을 적습니다. 다음으로 화살표 가운데에 대괄호를 넣고 그 안에 관계 유형을 적으며, 전체를 왼쪽부터 읽으면 센서 노드에서 OBSERVES 관계로 상태 변수 노드에 이어진 모양입니다. s와 v는 쓰는 사람이 정하는 이름이어서, 뒤에서 s.tag라고 쓰면 찾은 센서 노드의 tag 속성을 가리킵니다.</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위에서 아래로 갈수록 조건이 늘어납니다. 마지막 줄은 센서 가운데 태그가 TS1인 노드 하나를 가리킵니다. 글자 값은 작은따옴표로 감쌉니다.</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조회의 첫 낱말은 MATCH입니다. 이 질의는 오일 쿨러를 재는 센서는 무엇인가라는 질문이고, 센서가 몇 개인지는 적지 않았습니다. 모양에 맞는 것을 모두 찾는 것이 MATCH의 동작입니다. MATCH만으로는 아무것도 보이지 않으므로 RETURN에 구성 요소의 이름과 센서의 태그를 달라고 적었습니다. 오일 쿨러는 TS1과 CE 두 채널로 계측되므로 두 행이 나옵니다.</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결과를 두 가지로 볼 수 있습니다. 표에서는 한 행이 모양에 맞는 것 하나입니다. 첫 행은 오른쪽 그래프의 파란 화살표, 곧 오일 쿨러에서 TS1로 가는 연결에 해당합니다. 값을 비교할 때는 표가, 연결을 볼 때는 그래프가 편합니다.</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앞의 질의에서 출발점을 설비 HYD-01로 옮기고 노드와 관계를 번갈아 이어 적었습니다. 설비에서 구성 요소로, 구성 요소에서 센서로, 센서에서 상태 변수로 세 단계를 건넙니다. 넷째 행을 읽으면 HYD-01의 오일 쿨러는 TS1로 계측되고, 그 센서는 유온을 읽으며, 유온의 한계는 65입니다. 스키마 단원에서 적은 질문 1과 질문 2의 답이 이 질의 하나로 나옵니다.</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찾은 것 가운데 일부만 보고 싶을 때 WHERE를 씁니다. 한계가 정해진 상태 변수만 남겼더니 세 행이 나옵니다. 지난 시간에 본 PLC의 인터록 셋이 이 세 값입니다.</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MONITORED_BY는 구성 요소에서 센서로 향합니다. 반대로 적으면 그런 모양이 그래프에 없으므로 빈 결과가 나옵니다. 오류가 뜨지 않기 때문에 알아차리기 어렵습니다. 결과가 비면 화살표의 방향부터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지난 시간에 그림으로 따라간 길을 Cypher로 적었습니다. 먼저 이상 패턴에서 DETECTS를 따라 증상으로, INDICATES를 따라 고장 유형으로 가며, 두 관계 모두 화살표가 오른쪽을 향합니다. 다음으로 CAUSES는 원인에서 고장 유형으로 가는 관계인데 지금은 고장 유형 쪽에서 출발하므로 화살표를 왼쪽으로 적습니다. 그림의 화살표 방향을 그대로 옮기면 됩니다. 이 한 줄 앞에 MATCH를 붙인 것이 에이전트가 원인 후보를 찾을 때 보내는 질의입니다.</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조회 다음은 만들기이고 표기는 조회와 같습니다. 먼저 위의 CREATE는 괄호 안에 적은 레이블과 속성대로 노드를 만듭니다. 다음으로 아래의 MERGE는 먼저 찾아봅니다. 무엇을 같다고 볼지는 괄호 안에 적은 것으로 정해지므로 그 자리에는 식별자를 적습니다. 이름까지 넣으면 이름을 고쳐 다시 실행했을 때 같은 노드를 찾지 못합니다.</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설비나 센서처럼 한 번만 있어야 하는 지식은 MERGE로 넣습니다. 넣다가 멈추어 처음부터 다시 실행해도 중복이 생기지 않습니다. CREATE는 작업 기록처럼 실행할 때마다 한 건이 새로 생겨야 하는 데이터에 씁니다.</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관계는 양 끝의 노드가 있어야 이을 수 있으므로 먼저 찾습니다. 오일 쿨러에서 유온 센서로, 유온 센서에서 유온으로 관계를 만듭니다. 스키마로 정의하고, 인스턴스를 정하고, 이런 질의로 넣는 것이 지식 그래프를 만드는 과정입니다.</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단원에서 본 것을 네 걸음으로 모았습니다. 이어지는 실습에서는 먼저 조회를 직접 써 보고, 그다음 스키마를 설계해 그래프 DB에 넣습니다.</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앞에서 읽은 질의를 직접 써 봅니다. 질의를 외우는 것이 아니라 묻고 싶은 것을 노드와 관계의 모양으로 바꾸어 적는 연습입니다. 결과가 예상과 다르면 레이블과 관계 유형의 철자, 화살표의 방향을 먼저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이번에는 질의를 쓰지 않고 지식 지도에서 같은 지식을 찾아봅니다. 오늘 배운 네 낱말을 화면에서 하나씩 짚어 보는 것이 목적입니다.</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스키마 단원에서 오일 쿨러 사례로 따라간 순서를 다른 설비 자료로 직접 밟습니다. 정의한 내용을 Claude Code에 요구사항으로 전달해 파일을 만들게 합니다. 무엇을 클래스로 두고 무엇을 속성으로 둘지를 정하는 일은 설계하는 사람의 몫입니다.</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앞에서 설계한 것을 그래프 DB에 넣습니다. Claude Code가 만든 질의를 실행하기 전에 읽어 봅니다. 노드를 식별자로 MERGE하는지, 관계의 방향이 스키마의 정의와 같은지는 오늘 배운 것으로 확인할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 새로 쓴 용어입니다. 위의 여섯은 지식을 정의하는 쪽의 말이고 아래 둘은 그래프 DB 쪽의 말입니다. 이 가운데 하나를 골라 학습 노트에 자료 없이 자신의 문장으로 적어 봅니다.</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유형과 실제 대상을 구분하는 문항입니다. 새로 생긴 것이 유형인지 대상 하나인지를 먼저 따져 봅니다.</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값이 어느 대상에 딸려 있는지를 묻는 문항입니다. 보기마다 그 자리에 두었을 때 값을 하나로 정할 수 있는지를 따져 봅니다.</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표기를 외웠는지가 아니라 스키마의 방향을 질의로 옮길 수 있는지를 확인하는 문항입니다. 출발하는 노드가 관계의 끝 쪽에 있다는 점을 눈여겨봅니다.</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정답보다 판단 기준이 중요합니다. 첫 문항의 1번은 대상마다 클래스를 만드는 실수이고, 둘째 문항의 2번과 3번은 값을 하나로 정할 수 없습니다. 셋째 문항의 1번은 방향이 반대이고, 3번은 관계 유형이 다르며, 4번은 둥근 괄호와 대괄호를 바꾸어 썼습니다.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5.png"/><Relationship Id="rId4" Type="http://schemas.openxmlformats.org/officeDocument/2006/relationships/image" Target="../media/image1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1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13.png"/><Relationship Id="rId4" Type="http://schemas.openxmlformats.org/officeDocument/2006/relationships/image" Target="../media/image1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5.png"/><Relationship Id="rId4" Type="http://schemas.openxmlformats.org/officeDocument/2006/relationships/image" Target="../media/image10.png"/><Relationship Id="rId5" Type="http://schemas.openxmlformats.org/officeDocument/2006/relationships/image" Target="../media/image1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16.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17.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18.png"/><Relationship Id="rId4" Type="http://schemas.openxmlformats.org/officeDocument/2006/relationships/image" Target="../media/image15.png"/><Relationship Id="rId5" Type="http://schemas.openxmlformats.org/officeDocument/2006/relationships/image" Target="../media/image19.png"/><Relationship Id="rId6" Type="http://schemas.openxmlformats.org/officeDocument/2006/relationships/image" Target="../media/image20.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2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2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2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23.png"/><Relationship Id="rId4" Type="http://schemas.openxmlformats.org/officeDocument/2006/relationships/image" Target="../media/image24.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25.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image" Target="../media/image26.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27.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28.png"/><Relationship Id="rId4" Type="http://schemas.openxmlformats.org/officeDocument/2006/relationships/image" Target="../media/image29.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13.png"/><Relationship Id="rId4" Type="http://schemas.openxmlformats.org/officeDocument/2006/relationships/image" Target="../media/image30.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23.png"/><Relationship Id="rId4" Type="http://schemas.openxmlformats.org/officeDocument/2006/relationships/image" Target="../media/image24.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3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 Id="rId3" Type="http://schemas.openxmlformats.org/officeDocument/2006/relationships/image" Target="../media/image5.png"/><Relationship Id="rId4" Type="http://schemas.openxmlformats.org/officeDocument/2006/relationships/image" Target="../media/image23.png"/><Relationship Id="rId5" Type="http://schemas.openxmlformats.org/officeDocument/2006/relationships/image" Target="../media/image24.png"/><Relationship Id="rId6" Type="http://schemas.openxmlformats.org/officeDocument/2006/relationships/image" Target="../media/image32.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 Id="rId3" Type="http://schemas.openxmlformats.org/officeDocument/2006/relationships/image" Target="../media/image33.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 Id="rId3" Type="http://schemas.openxmlformats.org/officeDocument/2006/relationships/image" Target="../media/image5.png"/><Relationship Id="rId4" Type="http://schemas.openxmlformats.org/officeDocument/2006/relationships/image" Target="../media/image10.png"/><Relationship Id="rId5" Type="http://schemas.openxmlformats.org/officeDocument/2006/relationships/image" Target="../media/image23.png"/><Relationship Id="rId6" Type="http://schemas.openxmlformats.org/officeDocument/2006/relationships/image" Target="../media/image24.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 Id="rId3" Type="http://schemas.openxmlformats.org/officeDocument/2006/relationships/image" Target="../media/image34.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 Id="rId3" Type="http://schemas.openxmlformats.org/officeDocument/2006/relationships/image" Target="../media/image35.png"/><Relationship Id="rId4" Type="http://schemas.openxmlformats.org/officeDocument/2006/relationships/image" Target="../media/image15.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 Id="rId3" Type="http://schemas.openxmlformats.org/officeDocument/2006/relationships/image" Target="../media/image30.png"/><Relationship Id="rId4" Type="http://schemas.openxmlformats.org/officeDocument/2006/relationships/image" Target="../media/image14.png"/><Relationship Id="rId5" Type="http://schemas.openxmlformats.org/officeDocument/2006/relationships/image" Target="../media/image36.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 Id="rId3" Type="http://schemas.openxmlformats.org/officeDocument/2006/relationships/image" Target="../media/image28.png"/><Relationship Id="rId4" Type="http://schemas.openxmlformats.org/officeDocument/2006/relationships/image" Target="../media/image29.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 Id="rId3" Type="http://schemas.openxmlformats.org/officeDocument/2006/relationships/image" Target="../media/image37.png"/><Relationship Id="rId4" Type="http://schemas.openxmlformats.org/officeDocument/2006/relationships/image" Target="../media/image38.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 Id="rId3" Type="http://schemas.openxmlformats.org/officeDocument/2006/relationships/image" Target="../media/image39.png"/><Relationship Id="rId4" Type="http://schemas.openxmlformats.org/officeDocument/2006/relationships/image" Target="../media/image13.png"/><Relationship Id="rId5" Type="http://schemas.openxmlformats.org/officeDocument/2006/relationships/image" Target="../media/image40.png"/><Relationship Id="rId6" Type="http://schemas.openxmlformats.org/officeDocument/2006/relationships/image" Target="../media/image4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 Id="rId3" Type="http://schemas.openxmlformats.org/officeDocument/2006/relationships/image" Target="../media/image42.png"/><Relationship Id="rId4" Type="http://schemas.openxmlformats.org/officeDocument/2006/relationships/image" Target="../media/image43.png"/><Relationship Id="rId5" Type="http://schemas.openxmlformats.org/officeDocument/2006/relationships/image" Target="../media/image10.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 Id="rId3" Type="http://schemas.openxmlformats.org/officeDocument/2006/relationships/image" Target="../media/image44.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 Id="rId3" Type="http://schemas.openxmlformats.org/officeDocument/2006/relationships/image" Target="../media/image45.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 Id="rId3" Type="http://schemas.openxmlformats.org/officeDocument/2006/relationships/image" Target="../media/image35.png"/><Relationship Id="rId4" Type="http://schemas.openxmlformats.org/officeDocument/2006/relationships/image" Target="../media/image46.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 Id="rId3" Type="http://schemas.openxmlformats.org/officeDocument/2006/relationships/image" Target="../media/image47.png"/><Relationship Id="rId4" Type="http://schemas.openxmlformats.org/officeDocument/2006/relationships/image" Target="../media/image48.png"/><Relationship Id="rId5" Type="http://schemas.openxmlformats.org/officeDocument/2006/relationships/image" Target="../media/image37.png"/><Relationship Id="rId6" Type="http://schemas.openxmlformats.org/officeDocument/2006/relationships/image" Target="../media/image24.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 Id="rId3" Type="http://schemas.openxmlformats.org/officeDocument/2006/relationships/image" Target="../media/image6.png"/><Relationship Id="rId4" Type="http://schemas.openxmlformats.org/officeDocument/2006/relationships/image" Target="../media/image49.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 Id="rId3" Type="http://schemas.openxmlformats.org/officeDocument/2006/relationships/image" Target="../media/image50.png"/><Relationship Id="rId4" Type="http://schemas.openxmlformats.org/officeDocument/2006/relationships/image" Target="../media/image5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 Id="rId3" Type="http://schemas.openxmlformats.org/officeDocument/2006/relationships/image" Target="../media/image52.png"/><Relationship Id="rId4" Type="http://schemas.openxmlformats.org/officeDocument/2006/relationships/image" Target="../media/image5.png"/><Relationship Id="rId5" Type="http://schemas.openxmlformats.org/officeDocument/2006/relationships/image" Target="../media/image23.png"/><Relationship Id="rId6" Type="http://schemas.openxmlformats.org/officeDocument/2006/relationships/image" Target="../media/image24.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 Id="rId3" Type="http://schemas.openxmlformats.org/officeDocument/2006/relationships/image" Target="../media/image13.png"/><Relationship Id="rId4" Type="http://schemas.openxmlformats.org/officeDocument/2006/relationships/image" Target="../media/image53.png"/><Relationship Id="rId5" Type="http://schemas.openxmlformats.org/officeDocument/2006/relationships/image" Target="../media/image40.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 Id="rId3" Type="http://schemas.openxmlformats.org/officeDocument/2006/relationships/image" Target="../media/image54.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 Id="rId3" Type="http://schemas.openxmlformats.org/officeDocument/2006/relationships/image" Target="../media/image55.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 Id="rId3" Type="http://schemas.openxmlformats.org/officeDocument/2006/relationships/image" Target="../media/image56.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 Id="rId3" Type="http://schemas.openxmlformats.org/officeDocument/2006/relationships/image" Target="../media/image39.png"/><Relationship Id="rId4" Type="http://schemas.openxmlformats.org/officeDocument/2006/relationships/image" Target="../media/image57.png"/><Relationship Id="rId5" Type="http://schemas.openxmlformats.org/officeDocument/2006/relationships/image" Target="../media/image13.png"/><Relationship Id="rId6" Type="http://schemas.openxmlformats.org/officeDocument/2006/relationships/image" Target="../media/image14.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 Id="rId3" Type="http://schemas.openxmlformats.org/officeDocument/2006/relationships/image" Target="../media/image52.png"/><Relationship Id="rId4" Type="http://schemas.openxmlformats.org/officeDocument/2006/relationships/image" Target="../media/image58.png"/><Relationship Id="rId5" Type="http://schemas.openxmlformats.org/officeDocument/2006/relationships/image" Target="../media/image50.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 Id="rId3" Type="http://schemas.openxmlformats.org/officeDocument/2006/relationships/image" Target="../media/image39.png"/><Relationship Id="rId4" Type="http://schemas.openxmlformats.org/officeDocument/2006/relationships/image" Target="../media/image59.png"/><Relationship Id="rId5" Type="http://schemas.openxmlformats.org/officeDocument/2006/relationships/image" Target="../media/image60.png"/><Relationship Id="rId6" Type="http://schemas.openxmlformats.org/officeDocument/2006/relationships/image" Target="../media/image10.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 Id="rId3" Type="http://schemas.openxmlformats.org/officeDocument/2006/relationships/image" Target="../media/image6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 Id="rId3" Type="http://schemas.openxmlformats.org/officeDocument/2006/relationships/image" Target="../media/image62.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 Id="rId3" Type="http://schemas.openxmlformats.org/officeDocument/2006/relationships/image" Target="../media/image63.png"/><Relationship Id="rId4" Type="http://schemas.openxmlformats.org/officeDocument/2006/relationships/image" Target="../media/image64.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 Id="rId3" Type="http://schemas.openxmlformats.org/officeDocument/2006/relationships/image" Target="../media/image65.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 Id="rId3" Type="http://schemas.openxmlformats.org/officeDocument/2006/relationships/image" Target="../media/image66.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 Id="rId3" Type="http://schemas.openxmlformats.org/officeDocument/2006/relationships/image" Target="../media/image67.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 Id="rId3" Type="http://schemas.openxmlformats.org/officeDocument/2006/relationships/image" Target="../media/image28.png"/><Relationship Id="rId4" Type="http://schemas.openxmlformats.org/officeDocument/2006/relationships/image" Target="../media/image29.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 Id="rId3" Type="http://schemas.openxmlformats.org/officeDocument/2006/relationships/image" Target="../media/image68.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 Id="rId3" Type="http://schemas.openxmlformats.org/officeDocument/2006/relationships/image" Target="../media/image69.png"/><Relationship Id="rId4" Type="http://schemas.openxmlformats.org/officeDocument/2006/relationships/image" Target="../media/image28.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 Id="rId3" Type="http://schemas.openxmlformats.org/officeDocument/2006/relationships/image" Target="../media/image49.png"/><Relationship Id="rId4" Type="http://schemas.openxmlformats.org/officeDocument/2006/relationships/image" Target="../media/image70.png"/><Relationship Id="rId5" Type="http://schemas.openxmlformats.org/officeDocument/2006/relationships/image" Target="../media/image58.png"/><Relationship Id="rId6" Type="http://schemas.openxmlformats.org/officeDocument/2006/relationships/image" Target="../media/image50.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 Id="rId3" Type="http://schemas.openxmlformats.org/officeDocument/2006/relationships/image" Target="../media/image71.png"/><Relationship Id="rId4" Type="http://schemas.openxmlformats.org/officeDocument/2006/relationships/image" Target="../media/image58.png"/><Relationship Id="rId5" Type="http://schemas.openxmlformats.org/officeDocument/2006/relationships/image" Target="../media/image72.png"/><Relationship Id="rId6" Type="http://schemas.openxmlformats.org/officeDocument/2006/relationships/image" Target="../media/image63.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 Id="rId3" Type="http://schemas.openxmlformats.org/officeDocument/2006/relationships/image" Target="../media/image39.png"/><Relationship Id="rId4" Type="http://schemas.openxmlformats.org/officeDocument/2006/relationships/image" Target="../media/image73.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 Id="rId3" Type="http://schemas.openxmlformats.org/officeDocument/2006/relationships/image" Target="../media/image52.png"/><Relationship Id="rId4" Type="http://schemas.openxmlformats.org/officeDocument/2006/relationships/image" Target="../media/image5.png"/><Relationship Id="rId5" Type="http://schemas.openxmlformats.org/officeDocument/2006/relationships/image" Target="../media/image23.png"/><Relationship Id="rId6" Type="http://schemas.openxmlformats.org/officeDocument/2006/relationships/image" Target="../media/image74.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 Id="rId3" Type="http://schemas.openxmlformats.org/officeDocument/2006/relationships/image" Target="../media/image75.png"/><Relationship Id="rId4" Type="http://schemas.openxmlformats.org/officeDocument/2006/relationships/image" Target="../media/image76.png"/><Relationship Id="rId5" Type="http://schemas.openxmlformats.org/officeDocument/2006/relationships/image" Target="../media/image64.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a:lnSpc>
                <a:spcPct val="110000"/>
              </a:lnSpc>
            </a:pPr>
            <a:r>
              <a:rPr sz="1800" b="1">
                <a:solidFill>
                  <a:srgbClr val="8FCFF8"/>
                </a:solidFill>
                <a:latin typeface="맑은 고딕"/>
                <a:ea typeface="맑은 고딕"/>
                <a:cs typeface="맑은 고딕"/>
              </a:rPr>
              <a:t>통합반 2일차</a:t>
            </a:r>
          </a:p>
        </p:txBody>
      </p:sp>
      <p:sp>
        <p:nvSpPr>
          <p:cNvPr id="5" name="TextBox 4"/>
          <p:cNvSpPr txBox="1"/>
          <p:nvPr/>
        </p:nvSpPr>
        <p:spPr>
          <a:xfrm>
            <a:off x="457200" y="2395728"/>
            <a:ext cx="8412480" cy="1920240"/>
          </a:xfrm>
          <a:prstGeom prst="rect">
            <a:avLst/>
          </a:prstGeom>
          <a:noFill/>
        </p:spPr>
        <p:txBody>
          <a:bodyPr wrap="square" anchor="t"/>
          <a:lstStyle/>
          <a:p>
            <a:pPr algn="l">
              <a:lnSpc>
                <a:spcPct val="110000"/>
              </a:lnSpc>
            </a:pPr>
            <a:r>
              <a:rPr sz="4000" b="1">
                <a:solidFill>
                  <a:srgbClr val="FFFFFF"/>
                </a:solidFill>
                <a:latin typeface="맑은 고딕"/>
                <a:ea typeface="맑은 고딕"/>
                <a:cs typeface="맑은 고딕"/>
              </a:rPr>
              <a:t>설비와 데이터의 관계를 체계화해</a:t>
            </a:r>
          </a:p>
          <a:p>
            <a:pPr algn="l">
              <a:lnSpc>
                <a:spcPct val="110000"/>
              </a:lnSpc>
            </a:pPr>
            <a:r>
              <a:rPr sz="4000" b="1">
                <a:solidFill>
                  <a:srgbClr val="FFFFFF"/>
                </a:solidFill>
                <a:latin typeface="맑은 고딕"/>
                <a:ea typeface="맑은 고딕"/>
                <a:cs typeface="맑은 고딕"/>
              </a:rPr>
              <a:t>필요한 정보 찾기</a:t>
            </a:r>
          </a:p>
        </p:txBody>
      </p:sp>
      <p:sp>
        <p:nvSpPr>
          <p:cNvPr id="6" name="TextBox 5"/>
          <p:cNvSpPr txBox="1"/>
          <p:nvPr/>
        </p:nvSpPr>
        <p:spPr>
          <a:xfrm>
            <a:off x="457200" y="4407408"/>
            <a:ext cx="8412480" cy="731520"/>
          </a:xfrm>
          <a:prstGeom prst="rect">
            <a:avLst/>
          </a:prstGeom>
          <a:noFill/>
        </p:spPr>
        <p:txBody>
          <a:bodyPr wrap="square" anchor="t"/>
          <a:lstStyle/>
          <a:p>
            <a:pPr algn="l">
              <a:lnSpc>
                <a:spcPct val="110000"/>
              </a:lnSpc>
            </a:pPr>
            <a:r>
              <a:rPr sz="1900" b="0">
                <a:solidFill>
                  <a:srgbClr val="C6D0DE"/>
                </a:solidFill>
                <a:latin typeface="맑은 고딕"/>
                <a:ea typeface="맑은 고딕"/>
                <a:cs typeface="맑은 고딕"/>
              </a:rPr>
              <a:t>클래스와 인스턴스, 온톨로지 스키마, 그래프 DB와 Cypher</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category" descr="category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schema" descr="schema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database-search" descr="database-search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설비에 관한 지식을 유형과 실제 대상으로 나누어 정의하고, 그래프 DB에 넣어 관계를 따라 조회한다.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2174557"/>
            <a:ext cx="2567863" cy="363359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75725"/>
            <a:ext cx="731520" cy="731520"/>
          </a:xfrm>
          <a:prstGeom prst="ellipse">
            <a:avLst/>
          </a:prstGeom>
          <a:solidFill>
            <a:srgbClr val="E7F3FD"/>
          </a:solidFill>
          <a:ln>
            <a:noFill/>
          </a:ln>
        </p:spPr>
        <p:txBody>
          <a:bodyPr rtlCol="0" anchor="ctr"/>
          <a:lstStyle/>
          <a:p>
            <a:pPr algn="ctr"/>
          </a:p>
        </p:txBody>
      </p:sp>
      <p:pic>
        <p:nvPicPr>
          <p:cNvPr id="8" name="아이콘:category" descr="category_13294B_1.6.png"/>
          <p:cNvPicPr>
            <a:picLocks noChangeAspect="1"/>
          </p:cNvPicPr>
          <p:nvPr/>
        </p:nvPicPr>
        <p:blipFill>
          <a:blip r:embed="rId3"/>
          <a:stretch>
            <a:fillRect/>
          </a:stretch>
        </p:blipFill>
        <p:spPr>
          <a:xfrm>
            <a:off x="930859" y="2529344"/>
            <a:ext cx="424281" cy="424281"/>
          </a:xfrm>
          <a:prstGeom prst="rect">
            <a:avLst/>
          </a:prstGeom>
        </p:spPr>
      </p:pic>
      <p:sp>
        <p:nvSpPr>
          <p:cNvPr id="9" name="TextBox 8"/>
          <p:cNvSpPr txBox="1"/>
          <p:nvPr/>
        </p:nvSpPr>
        <p:spPr>
          <a:xfrm>
            <a:off x="713232" y="3198685"/>
            <a:ext cx="2238679" cy="210654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클래스와 인스턴스</a:t>
            </a:r>
          </a:p>
          <a:p>
            <a:pPr algn="l">
              <a:lnSpc>
                <a:spcPct val="110000"/>
              </a:lnSpc>
              <a:spcAft>
                <a:spcPts val="400"/>
              </a:spcAft>
            </a:pPr>
            <a:r>
              <a:rPr sz="1350" b="0">
                <a:solidFill>
                  <a:srgbClr val="1F2A3A"/>
                </a:solidFill>
                <a:latin typeface="맑은 고딕"/>
                <a:ea typeface="맑은 고딕"/>
                <a:cs typeface="맑은 고딕"/>
              </a:rPr>
              <a:t>• 유형과 실제 대상을 구분한다</a:t>
            </a:r>
          </a:p>
          <a:p>
            <a:pPr algn="l">
              <a:lnSpc>
                <a:spcPct val="110000"/>
              </a:lnSpc>
              <a:spcAft>
                <a:spcPts val="400"/>
              </a:spcAft>
            </a:pPr>
            <a:r>
              <a:rPr sz="1350" b="0">
                <a:solidFill>
                  <a:srgbClr val="1F2A3A"/>
                </a:solidFill>
                <a:latin typeface="맑은 고딕"/>
                <a:ea typeface="맑은 고딕"/>
                <a:cs typeface="맑은 고딕"/>
              </a:rPr>
              <a:t>• 속성과 관계 가운데 무엇으로 표현할지 판단한다</a:t>
            </a:r>
          </a:p>
        </p:txBody>
      </p:sp>
      <p:sp>
        <p:nvSpPr>
          <p:cNvPr id="10" name="Rounded Rectangle 9"/>
          <p:cNvSpPr/>
          <p:nvPr/>
        </p:nvSpPr>
        <p:spPr>
          <a:xfrm>
            <a:off x="777240" y="5378386"/>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7838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지식의 구조</a:t>
            </a:r>
          </a:p>
        </p:txBody>
      </p:sp>
      <p:sp>
        <p:nvSpPr>
          <p:cNvPr id="12" name="Rounded Rectangle 11"/>
          <p:cNvSpPr/>
          <p:nvPr/>
        </p:nvSpPr>
        <p:spPr>
          <a:xfrm>
            <a:off x="3390823" y="2174557"/>
            <a:ext cx="2567863" cy="363359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375725"/>
            <a:ext cx="731520" cy="731520"/>
          </a:xfrm>
          <a:prstGeom prst="ellipse">
            <a:avLst/>
          </a:prstGeom>
          <a:solidFill>
            <a:srgbClr val="E7F3FD"/>
          </a:solidFill>
          <a:ln>
            <a:noFill/>
          </a:ln>
        </p:spPr>
        <p:txBody>
          <a:bodyPr rtlCol="0" anchor="ctr"/>
          <a:lstStyle/>
          <a:p>
            <a:pPr algn="ctr"/>
          </a:p>
        </p:txBody>
      </p:sp>
      <p:pic>
        <p:nvPicPr>
          <p:cNvPr id="14" name="아이콘:schema" descr="schema_13294B_1.6.png"/>
          <p:cNvPicPr>
            <a:picLocks noChangeAspect="1"/>
          </p:cNvPicPr>
          <p:nvPr/>
        </p:nvPicPr>
        <p:blipFill>
          <a:blip r:embed="rId4"/>
          <a:stretch>
            <a:fillRect/>
          </a:stretch>
        </p:blipFill>
        <p:spPr>
          <a:xfrm>
            <a:off x="3773043" y="2529344"/>
            <a:ext cx="424281" cy="424281"/>
          </a:xfrm>
          <a:prstGeom prst="rect">
            <a:avLst/>
          </a:prstGeom>
        </p:spPr>
      </p:pic>
      <p:sp>
        <p:nvSpPr>
          <p:cNvPr id="15" name="TextBox 14"/>
          <p:cNvSpPr txBox="1"/>
          <p:nvPr/>
        </p:nvSpPr>
        <p:spPr>
          <a:xfrm>
            <a:off x="3555415" y="3198685"/>
            <a:ext cx="2238679" cy="210654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온톨로지 스키마</a:t>
            </a:r>
          </a:p>
          <a:p>
            <a:pPr algn="l">
              <a:lnSpc>
                <a:spcPct val="110000"/>
              </a:lnSpc>
              <a:spcAft>
                <a:spcPts val="400"/>
              </a:spcAft>
            </a:pPr>
            <a:r>
              <a:rPr sz="1350" b="0">
                <a:solidFill>
                  <a:srgbClr val="1F2A3A"/>
                </a:solidFill>
                <a:latin typeface="맑은 고딕"/>
                <a:ea typeface="맑은 고딕"/>
                <a:cs typeface="맑은 고딕"/>
              </a:rPr>
              <a:t>• 클래스, 속성, 관계, 제약을 한 벌의 정의로 적는다</a:t>
            </a:r>
          </a:p>
          <a:p>
            <a:pPr algn="l">
              <a:lnSpc>
                <a:spcPct val="110000"/>
              </a:lnSpc>
              <a:spcAft>
                <a:spcPts val="400"/>
              </a:spcAft>
            </a:pPr>
            <a:r>
              <a:rPr sz="1350" b="0">
                <a:solidFill>
                  <a:srgbClr val="1F2A3A"/>
                </a:solidFill>
                <a:latin typeface="맑은 고딕"/>
                <a:ea typeface="맑은 고딕"/>
                <a:cs typeface="맑은 고딕"/>
              </a:rPr>
              <a:t>• 식별자로 같은 대상을 가리킨다</a:t>
            </a:r>
          </a:p>
        </p:txBody>
      </p:sp>
      <p:sp>
        <p:nvSpPr>
          <p:cNvPr id="16" name="Rounded Rectangle 15"/>
          <p:cNvSpPr/>
          <p:nvPr/>
        </p:nvSpPr>
        <p:spPr>
          <a:xfrm>
            <a:off x="3619423" y="5378386"/>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378386"/>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설계 원리</a:t>
            </a:r>
          </a:p>
        </p:txBody>
      </p:sp>
      <p:sp>
        <p:nvSpPr>
          <p:cNvPr id="18" name="Rounded Rectangle 17"/>
          <p:cNvSpPr/>
          <p:nvPr/>
        </p:nvSpPr>
        <p:spPr>
          <a:xfrm>
            <a:off x="6233007" y="2174557"/>
            <a:ext cx="2567863" cy="363359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375725"/>
            <a:ext cx="731520" cy="731520"/>
          </a:xfrm>
          <a:prstGeom prst="ellipse">
            <a:avLst/>
          </a:prstGeom>
          <a:solidFill>
            <a:srgbClr val="E7F3FD"/>
          </a:solidFill>
          <a:ln>
            <a:noFill/>
          </a:ln>
        </p:spPr>
        <p:txBody>
          <a:bodyPr rtlCol="0" anchor="ctr"/>
          <a:lstStyle/>
          <a:p>
            <a:pPr algn="ctr"/>
          </a:p>
        </p:txBody>
      </p:sp>
      <p:pic>
        <p:nvPicPr>
          <p:cNvPr id="20" name="아이콘:database-search" descr="database-search_13294B_1.6.png"/>
          <p:cNvPicPr>
            <a:picLocks noChangeAspect="1"/>
          </p:cNvPicPr>
          <p:nvPr/>
        </p:nvPicPr>
        <p:blipFill>
          <a:blip r:embed="rId5"/>
          <a:stretch>
            <a:fillRect/>
          </a:stretch>
        </p:blipFill>
        <p:spPr>
          <a:xfrm>
            <a:off x="6615226" y="2529344"/>
            <a:ext cx="424281" cy="424281"/>
          </a:xfrm>
          <a:prstGeom prst="rect">
            <a:avLst/>
          </a:prstGeom>
        </p:spPr>
      </p:pic>
      <p:sp>
        <p:nvSpPr>
          <p:cNvPr id="21" name="TextBox 20"/>
          <p:cNvSpPr txBox="1"/>
          <p:nvPr/>
        </p:nvSpPr>
        <p:spPr>
          <a:xfrm>
            <a:off x="6397599" y="3198685"/>
            <a:ext cx="2238679" cy="210654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그래프 DB와 Cypher</a:t>
            </a:r>
          </a:p>
          <a:p>
            <a:pPr algn="l">
              <a:lnSpc>
                <a:spcPct val="110000"/>
              </a:lnSpc>
              <a:spcAft>
                <a:spcPts val="400"/>
              </a:spcAft>
            </a:pPr>
            <a:r>
              <a:rPr sz="1350" b="0">
                <a:solidFill>
                  <a:srgbClr val="1F2A3A"/>
                </a:solidFill>
                <a:latin typeface="맑은 고딕"/>
                <a:ea typeface="맑은 고딕"/>
                <a:cs typeface="맑은 고딕"/>
              </a:rPr>
              <a:t>• 노드와 관계의 표기를 읽는다</a:t>
            </a:r>
          </a:p>
          <a:p>
            <a:pPr algn="l">
              <a:lnSpc>
                <a:spcPct val="110000"/>
              </a:lnSpc>
              <a:spcAft>
                <a:spcPts val="400"/>
              </a:spcAft>
            </a:pPr>
            <a:r>
              <a:rPr sz="1350" b="0">
                <a:solidFill>
                  <a:srgbClr val="1F2A3A"/>
                </a:solidFill>
                <a:latin typeface="맑은 고딕"/>
                <a:ea typeface="맑은 고딕"/>
                <a:cs typeface="맑은 고딕"/>
              </a:rPr>
              <a:t>• MATCH, WHERE, RETURN으로 조회하고 MERGE로 만든다</a:t>
            </a:r>
          </a:p>
        </p:txBody>
      </p:sp>
      <p:sp>
        <p:nvSpPr>
          <p:cNvPr id="22" name="Rounded Rectangle 21"/>
          <p:cNvSpPr/>
          <p:nvPr/>
        </p:nvSpPr>
        <p:spPr>
          <a:xfrm>
            <a:off x="6461607" y="5378386"/>
            <a:ext cx="11734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37838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저장과 조회</a:t>
            </a:r>
          </a:p>
        </p:txBody>
      </p:sp>
      <p:sp>
        <p:nvSpPr>
          <p:cNvPr id="24" name="Rounded Rectangle 23"/>
          <p:cNvSpPr/>
          <p:nvPr/>
        </p:nvSpPr>
        <p:spPr>
          <a:xfrm>
            <a:off x="9075191" y="2174557"/>
            <a:ext cx="2567863" cy="363359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375725"/>
            <a:ext cx="731520" cy="731520"/>
          </a:xfrm>
          <a:prstGeom prst="ellipse">
            <a:avLst/>
          </a:prstGeom>
          <a:solidFill>
            <a:srgbClr val="5CB8F2"/>
          </a:solidFill>
          <a:ln>
            <a:noFill/>
          </a:ln>
        </p:spPr>
        <p:txBody>
          <a:bodyPr rtlCol="0" anchor="ctr"/>
          <a:lstStyle/>
          <a:p>
            <a:pPr algn="ctr"/>
          </a:p>
        </p:txBody>
      </p:sp>
      <p:pic>
        <p:nvPicPr>
          <p:cNvPr id="26" name="아이콘:pencil" descr="pencil_13294B_1.6.png"/>
          <p:cNvPicPr>
            <a:picLocks noChangeAspect="1"/>
          </p:cNvPicPr>
          <p:nvPr/>
        </p:nvPicPr>
        <p:blipFill>
          <a:blip r:embed="rId6"/>
          <a:stretch>
            <a:fillRect/>
          </a:stretch>
        </p:blipFill>
        <p:spPr>
          <a:xfrm>
            <a:off x="9457410" y="2529344"/>
            <a:ext cx="424281" cy="424281"/>
          </a:xfrm>
          <a:prstGeom prst="rect">
            <a:avLst/>
          </a:prstGeom>
        </p:spPr>
      </p:pic>
      <p:sp>
        <p:nvSpPr>
          <p:cNvPr id="27" name="TextBox 26"/>
          <p:cNvSpPr txBox="1"/>
          <p:nvPr/>
        </p:nvSpPr>
        <p:spPr>
          <a:xfrm>
            <a:off x="9239783" y="3198685"/>
            <a:ext cx="2238679" cy="210654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설계와 구현</a:t>
            </a:r>
          </a:p>
          <a:p>
            <a:pPr algn="l">
              <a:lnSpc>
                <a:spcPct val="110000"/>
              </a:lnSpc>
              <a:spcAft>
                <a:spcPts val="400"/>
              </a:spcAft>
            </a:pPr>
            <a:r>
              <a:rPr sz="1350" b="0">
                <a:solidFill>
                  <a:srgbClr val="1F2A3A"/>
                </a:solidFill>
                <a:latin typeface="맑은 고딕"/>
                <a:ea typeface="맑은 고딕"/>
                <a:cs typeface="맑은 고딕"/>
              </a:rPr>
              <a:t>• 설비 자료에서 스키마와 인스턴스를 설계한다</a:t>
            </a:r>
          </a:p>
          <a:p>
            <a:pPr algn="l">
              <a:lnSpc>
                <a:spcPct val="110000"/>
              </a:lnSpc>
              <a:spcAft>
                <a:spcPts val="400"/>
              </a:spcAft>
            </a:pPr>
            <a:r>
              <a:rPr sz="1350" b="0">
                <a:solidFill>
                  <a:srgbClr val="1F2A3A"/>
                </a:solidFill>
                <a:latin typeface="맑은 고딕"/>
                <a:ea typeface="맑은 고딕"/>
                <a:cs typeface="맑은 고딕"/>
              </a:rPr>
              <a:t>• 그래프 DB에 넣어 그래프로 확인한다</a:t>
            </a:r>
          </a:p>
        </p:txBody>
      </p:sp>
      <p:sp>
        <p:nvSpPr>
          <p:cNvPr id="28" name="Rounded Rectangle 27"/>
          <p:cNvSpPr/>
          <p:nvPr/>
        </p:nvSpPr>
        <p:spPr>
          <a:xfrm>
            <a:off x="9303791" y="5378386"/>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37838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2697479"/>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2697479"/>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클래스와 인스턴스</a:t>
            </a:r>
          </a:p>
        </p:txBody>
      </p:sp>
      <p:sp>
        <p:nvSpPr>
          <p:cNvPr id="6" name="Rounded Rectangle 5"/>
          <p:cNvSpPr/>
          <p:nvPr/>
        </p:nvSpPr>
        <p:spPr>
          <a:xfrm>
            <a:off x="10088575" y="2916935"/>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291693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a:t>
            </a:r>
          </a:p>
        </p:txBody>
      </p:sp>
      <p:sp>
        <p:nvSpPr>
          <p:cNvPr id="8" name="Rectangle 7"/>
          <p:cNvSpPr/>
          <p:nvPr/>
        </p:nvSpPr>
        <p:spPr>
          <a:xfrm>
            <a:off x="548640" y="3419856"/>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342900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342900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온톨로지 스키마 설계</a:t>
            </a:r>
          </a:p>
        </p:txBody>
      </p:sp>
      <p:sp>
        <p:nvSpPr>
          <p:cNvPr id="11" name="Rounded Rectangle 10"/>
          <p:cNvSpPr/>
          <p:nvPr/>
        </p:nvSpPr>
        <p:spPr>
          <a:xfrm>
            <a:off x="10088575" y="3648456"/>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364845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a:t>
            </a:r>
          </a:p>
        </p:txBody>
      </p:sp>
      <p:sp>
        <p:nvSpPr>
          <p:cNvPr id="13" name="Rectangle 12"/>
          <p:cNvSpPr/>
          <p:nvPr/>
        </p:nvSpPr>
        <p:spPr>
          <a:xfrm>
            <a:off x="548640" y="4151376"/>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548640" y="416052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03</a:t>
            </a:r>
          </a:p>
        </p:txBody>
      </p:sp>
      <p:sp>
        <p:nvSpPr>
          <p:cNvPr id="15" name="TextBox 14"/>
          <p:cNvSpPr txBox="1"/>
          <p:nvPr/>
        </p:nvSpPr>
        <p:spPr>
          <a:xfrm>
            <a:off x="1417319" y="416052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그래프 DB와 Cypher</a:t>
            </a:r>
          </a:p>
        </p:txBody>
      </p:sp>
      <p:sp>
        <p:nvSpPr>
          <p:cNvPr id="16" name="Rounded Rectangle 15"/>
          <p:cNvSpPr/>
          <p:nvPr/>
        </p:nvSpPr>
        <p:spPr>
          <a:xfrm>
            <a:off x="10088575" y="4379976"/>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10088575" y="437997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 · 실습</a:t>
            </a:r>
          </a:p>
        </p:txBody>
      </p:sp>
      <p:sp>
        <p:nvSpPr>
          <p:cNvPr id="18" name="TextBox 17"/>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클래스와 인스턴스</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유형과 실제 대상, 속성과 관계로 나누어 보는 현장 정보의 구조</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유형과 실제 대상의 구분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지난 시간의 관계 그림에서 윗줄은 대상의 유형을, 아랫줄은 일이 일어난 실제 대상을 말한다.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a:t>
            </a:r>
          </a:p>
        </p:txBody>
      </p:sp>
      <p:pic>
        <p:nvPicPr>
          <p:cNvPr id="6" name="삽화:유형과대상_0.svg" descr="illust_2796286626285327413_179171724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72014" y="2431298"/>
            <a:ext cx="2290993"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유형</a:t>
            </a:r>
          </a:p>
          <a:p>
            <a:pPr algn="ctr">
              <a:lnSpc>
                <a:spcPct val="110000"/>
              </a:lnSpc>
              <a:spcAft>
                <a:spcPts val="100"/>
              </a:spcAft>
            </a:pPr>
            <a:r>
              <a:rPr sz="1300" b="0">
                <a:solidFill>
                  <a:srgbClr val="556175"/>
                </a:solidFill>
                <a:latin typeface="맑은 고딕"/>
                <a:ea typeface="맑은 고딕"/>
                <a:cs typeface="맑은 고딕"/>
              </a:rPr>
              <a:t>어떤 종류의 대상이</a:t>
            </a:r>
          </a:p>
          <a:p>
            <a:pPr algn="ctr">
              <a:lnSpc>
                <a:spcPct val="110000"/>
              </a:lnSpc>
              <a:spcAft>
                <a:spcPts val="100"/>
              </a:spcAft>
            </a:pPr>
            <a:r>
              <a:rPr sz="1300" b="0">
                <a:solidFill>
                  <a:srgbClr val="556175"/>
                </a:solidFill>
                <a:latin typeface="맑은 고딕"/>
                <a:ea typeface="맑은 고딕"/>
                <a:cs typeface="맑은 고딕"/>
              </a:rPr>
              <a:t>있는가</a:t>
            </a:r>
          </a:p>
        </p:txBody>
      </p:sp>
      <p:sp>
        <p:nvSpPr>
          <p:cNvPr id="8" name="TextBox 7"/>
          <p:cNvSpPr txBox="1"/>
          <p:nvPr/>
        </p:nvSpPr>
        <p:spPr>
          <a:xfrm>
            <a:off x="3783034" y="3447699"/>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설비</a:t>
            </a:r>
          </a:p>
        </p:txBody>
      </p:sp>
      <p:sp>
        <p:nvSpPr>
          <p:cNvPr id="9" name="TextBox 8"/>
          <p:cNvSpPr txBox="1"/>
          <p:nvPr/>
        </p:nvSpPr>
        <p:spPr>
          <a:xfrm>
            <a:off x="6423132" y="3447699"/>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센서</a:t>
            </a:r>
          </a:p>
        </p:txBody>
      </p:sp>
      <p:sp>
        <p:nvSpPr>
          <p:cNvPr id="10" name="TextBox 9"/>
          <p:cNvSpPr txBox="1"/>
          <p:nvPr/>
        </p:nvSpPr>
        <p:spPr>
          <a:xfrm>
            <a:off x="9063230" y="3447699"/>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증상</a:t>
            </a:r>
          </a:p>
        </p:txBody>
      </p:sp>
      <p:sp>
        <p:nvSpPr>
          <p:cNvPr id="11" name="TextBox 10"/>
          <p:cNvSpPr txBox="1"/>
          <p:nvPr/>
        </p:nvSpPr>
        <p:spPr>
          <a:xfrm>
            <a:off x="772014" y="4605924"/>
            <a:ext cx="2290993"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실제 대상</a:t>
            </a:r>
          </a:p>
          <a:p>
            <a:pPr algn="ctr">
              <a:lnSpc>
                <a:spcPct val="110000"/>
              </a:lnSpc>
              <a:spcAft>
                <a:spcPts val="100"/>
              </a:spcAft>
            </a:pPr>
            <a:r>
              <a:rPr sz="1300" b="0">
                <a:solidFill>
                  <a:srgbClr val="556175"/>
                </a:solidFill>
                <a:latin typeface="맑은 고딕"/>
                <a:ea typeface="맑은 고딕"/>
                <a:cs typeface="맑은 고딕"/>
              </a:rPr>
              <a:t>어느 대상에 무슨 일이</a:t>
            </a:r>
          </a:p>
          <a:p>
            <a:pPr algn="ctr">
              <a:lnSpc>
                <a:spcPct val="110000"/>
              </a:lnSpc>
              <a:spcAft>
                <a:spcPts val="100"/>
              </a:spcAft>
            </a:pPr>
            <a:r>
              <a:rPr sz="1300" b="0">
                <a:solidFill>
                  <a:srgbClr val="556175"/>
                </a:solidFill>
                <a:latin typeface="맑은 고딕"/>
                <a:ea typeface="맑은 고딕"/>
                <a:cs typeface="맑은 고딕"/>
              </a:rPr>
              <a:t>있었는가</a:t>
            </a:r>
          </a:p>
        </p:txBody>
      </p:sp>
      <p:sp>
        <p:nvSpPr>
          <p:cNvPr id="12" name="TextBox 11"/>
          <p:cNvSpPr txBox="1"/>
          <p:nvPr/>
        </p:nvSpPr>
        <p:spPr>
          <a:xfrm>
            <a:off x="3783034" y="5627053"/>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HYD-01</a:t>
            </a:r>
          </a:p>
        </p:txBody>
      </p:sp>
      <p:sp>
        <p:nvSpPr>
          <p:cNvPr id="13" name="TextBox 12"/>
          <p:cNvSpPr txBox="1"/>
          <p:nvPr/>
        </p:nvSpPr>
        <p:spPr>
          <a:xfrm>
            <a:off x="6204942" y="5627053"/>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유온 센서 TS1</a:t>
            </a:r>
          </a:p>
        </p:txBody>
      </p:sp>
      <p:sp>
        <p:nvSpPr>
          <p:cNvPr id="14" name="TextBox 13"/>
          <p:cNvSpPr txBox="1"/>
          <p:nvPr/>
        </p:nvSpPr>
        <p:spPr>
          <a:xfrm>
            <a:off x="9063230" y="5627053"/>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유온 상승</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유형과 실제 대상을 나누어 적는 온톨로지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온톨로지는 유형을 </a:t>
            </a:r>
            <a:r>
              <a:rPr sz="1600" b="1">
                <a:solidFill>
                  <a:srgbClr val="1A6FC4"/>
                </a:solidFill>
                <a:latin typeface="맑은 고딕"/>
                <a:ea typeface="맑은 고딕"/>
                <a:cs typeface="맑은 고딕"/>
              </a:rPr>
              <a:t>클래스</a:t>
            </a:r>
            <a:r>
              <a:rPr sz="1600" b="0">
                <a:solidFill>
                  <a:srgbClr val="556175"/>
                </a:solidFill>
                <a:latin typeface="맑은 고딕"/>
                <a:ea typeface="맑은 고딕"/>
                <a:cs typeface="맑은 고딕"/>
              </a:rPr>
              <a:t>로, 실제 대상을 </a:t>
            </a:r>
            <a:r>
              <a:rPr sz="1600" b="1">
                <a:solidFill>
                  <a:srgbClr val="1A6FC4"/>
                </a:solidFill>
                <a:latin typeface="맑은 고딕"/>
                <a:ea typeface="맑은 고딕"/>
                <a:cs typeface="맑은 고딕"/>
              </a:rPr>
              <a:t>인스턴스</a:t>
            </a:r>
            <a:r>
              <a:rPr sz="1600" b="0">
                <a:solidFill>
                  <a:srgbClr val="556175"/>
                </a:solidFill>
                <a:latin typeface="맑은 고딕"/>
                <a:ea typeface="맑은 고딕"/>
                <a:cs typeface="맑은 고딕"/>
              </a:rPr>
              <a:t>로 나누어 적는다.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category" descr="category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클래스</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대상의 유형이다</a:t>
            </a:r>
          </a:p>
          <a:p>
            <a:pPr algn="l">
              <a:lnSpc>
                <a:spcPct val="110000"/>
              </a:lnSpc>
              <a:spcAft>
                <a:spcPts val="600"/>
              </a:spcAft>
            </a:pPr>
            <a:r>
              <a:rPr sz="1450" b="0">
                <a:solidFill>
                  <a:srgbClr val="1F2A3A"/>
                </a:solidFill>
                <a:latin typeface="맑은 고딕"/>
                <a:ea typeface="맑은 고딕"/>
                <a:cs typeface="맑은 고딕"/>
              </a:rPr>
              <a:t>• 설비, 센서, 증상</a:t>
            </a:r>
          </a:p>
          <a:p>
            <a:pPr algn="l">
              <a:lnSpc>
                <a:spcPct val="110000"/>
              </a:lnSpc>
              <a:spcAft>
                <a:spcPts val="600"/>
              </a:spcAft>
            </a:pPr>
            <a:r>
              <a:rPr sz="1450" b="0">
                <a:solidFill>
                  <a:srgbClr val="1F2A3A"/>
                </a:solidFill>
                <a:latin typeface="맑은 고딕"/>
                <a:ea typeface="맑은 고딕"/>
                <a:cs typeface="맑은 고딕"/>
              </a:rPr>
              <a:t>• 지난 시간에 노드의 「종류」라고 부른 것이다</a:t>
            </a:r>
          </a:p>
        </p:txBody>
      </p:sp>
      <p:sp>
        <p:nvSpPr>
          <p:cNvPr id="11" name="Rounded Rectangle 10"/>
          <p:cNvSpPr/>
          <p:nvPr/>
        </p:nvSpPr>
        <p:spPr>
          <a:xfrm>
            <a:off x="868680" y="4945570"/>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유형</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target" descr="target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인스턴스</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실제 대상 하나이다</a:t>
            </a:r>
          </a:p>
          <a:p>
            <a:pPr algn="l">
              <a:lnSpc>
                <a:spcPct val="110000"/>
              </a:lnSpc>
              <a:spcAft>
                <a:spcPts val="600"/>
              </a:spcAft>
            </a:pPr>
            <a:r>
              <a:rPr sz="1450" b="0">
                <a:solidFill>
                  <a:srgbClr val="1F2A3A"/>
                </a:solidFill>
                <a:latin typeface="맑은 고딕"/>
                <a:ea typeface="맑은 고딕"/>
                <a:cs typeface="맑은 고딕"/>
              </a:rPr>
              <a:t>• HYD-01, 유온 센서 TS1, 유온 상승</a:t>
            </a:r>
          </a:p>
          <a:p>
            <a:pPr algn="l">
              <a:lnSpc>
                <a:spcPct val="110000"/>
              </a:lnSpc>
              <a:spcAft>
                <a:spcPts val="600"/>
              </a:spcAft>
            </a:pPr>
            <a:r>
              <a:rPr sz="1450" b="0">
                <a:solidFill>
                  <a:srgbClr val="1F2A3A"/>
                </a:solidFill>
                <a:latin typeface="맑은 고딕"/>
                <a:ea typeface="맑은 고딕"/>
                <a:cs typeface="맑은 고딕"/>
              </a:rPr>
              <a:t>• 지식 그래프의 노드 하나하나이다</a:t>
            </a:r>
          </a:p>
        </p:txBody>
      </p:sp>
      <p:sp>
        <p:nvSpPr>
          <p:cNvPr id="18" name="Rounded Rectangle 17"/>
          <p:cNvSpPr/>
          <p:nvPr/>
        </p:nvSpPr>
        <p:spPr>
          <a:xfrm>
            <a:off x="6781647" y="4945570"/>
            <a:ext cx="10210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실제 대상</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센서 클래스와 그 인스턴스 다섯</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센서 클래스 하나에 인스턴스가 다섯 속하며, 센서가 새로 생기면 클래스는 그대로 두고 인스턴스만 더한다.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a:t>
            </a:r>
          </a:p>
        </p:txBody>
      </p:sp>
      <p:pic>
        <p:nvPicPr>
          <p:cNvPr id="6" name="삽화:클래스인스턴스_3.svg" descr="illust_1622188306071772014_179171724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110208" y="2242200"/>
            <a:ext cx="305465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클래스(Class)</a:t>
            </a:r>
          </a:p>
          <a:p>
            <a:pPr algn="ctr">
              <a:lnSpc>
                <a:spcPct val="110000"/>
              </a:lnSpc>
              <a:spcAft>
                <a:spcPts val="100"/>
              </a:spcAft>
            </a:pPr>
            <a:r>
              <a:rPr sz="1300" b="0">
                <a:solidFill>
                  <a:srgbClr val="556175"/>
                </a:solidFill>
                <a:latin typeface="맑은 고딕"/>
                <a:ea typeface="맑은 고딕"/>
                <a:cs typeface="맑은 고딕"/>
              </a:rPr>
              <a:t>공통 특성을 가진 대상의 유형</a:t>
            </a:r>
          </a:p>
        </p:txBody>
      </p:sp>
      <p:sp>
        <p:nvSpPr>
          <p:cNvPr id="8" name="TextBox 7"/>
          <p:cNvSpPr txBox="1"/>
          <p:nvPr/>
        </p:nvSpPr>
        <p:spPr>
          <a:xfrm>
            <a:off x="1001113" y="5456864"/>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Sensor · 센서</a:t>
            </a:r>
          </a:p>
          <a:p>
            <a:pPr algn="ctr">
              <a:lnSpc>
                <a:spcPct val="110000"/>
              </a:lnSpc>
              <a:spcAft>
                <a:spcPts val="100"/>
              </a:spcAft>
            </a:pPr>
            <a:r>
              <a:rPr sz="1300" b="0">
                <a:solidFill>
                  <a:srgbClr val="556175"/>
                </a:solidFill>
                <a:latin typeface="맑은 고딕"/>
                <a:ea typeface="맑은 고딕"/>
                <a:cs typeface="맑은 고딕"/>
              </a:rPr>
              <a:t>무엇인가를 재어 값으로 내놓는 계측 채널</a:t>
            </a:r>
          </a:p>
        </p:txBody>
      </p:sp>
      <p:sp>
        <p:nvSpPr>
          <p:cNvPr id="9" name="TextBox 8"/>
          <p:cNvSpPr txBox="1"/>
          <p:nvPr/>
        </p:nvSpPr>
        <p:spPr>
          <a:xfrm>
            <a:off x="6390403" y="1722180"/>
            <a:ext cx="392741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인스턴스(Instance)</a:t>
            </a:r>
          </a:p>
          <a:p>
            <a:pPr algn="ctr">
              <a:lnSpc>
                <a:spcPct val="110000"/>
              </a:lnSpc>
              <a:spcAft>
                <a:spcPts val="100"/>
              </a:spcAft>
            </a:pPr>
            <a:r>
              <a:rPr sz="1300" b="0">
                <a:solidFill>
                  <a:srgbClr val="556175"/>
                </a:solidFill>
                <a:latin typeface="맑은 고딕"/>
                <a:ea typeface="맑은 고딕"/>
                <a:cs typeface="맑은 고딕"/>
              </a:rPr>
              <a:t>클래스에 속하는 실제 대상 하나</a:t>
            </a:r>
          </a:p>
        </p:txBody>
      </p:sp>
      <p:sp>
        <p:nvSpPr>
          <p:cNvPr id="10" name="TextBox 9"/>
          <p:cNvSpPr txBox="1"/>
          <p:nvPr/>
        </p:nvSpPr>
        <p:spPr>
          <a:xfrm>
            <a:off x="6717688" y="2573121"/>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sen:ts1</a:t>
            </a:r>
          </a:p>
          <a:p>
            <a:pPr algn="ctr">
              <a:lnSpc>
                <a:spcPct val="110000"/>
              </a:lnSpc>
              <a:spcAft>
                <a:spcPts val="100"/>
              </a:spcAft>
            </a:pPr>
            <a:r>
              <a:rPr sz="1300" b="0">
                <a:solidFill>
                  <a:srgbClr val="556175"/>
                </a:solidFill>
                <a:latin typeface="맑은 고딕"/>
                <a:ea typeface="맑은 고딕"/>
                <a:cs typeface="맑은 고딕"/>
              </a:rPr>
              <a:t>유온 센서 · 태그 TS1</a:t>
            </a:r>
          </a:p>
        </p:txBody>
      </p:sp>
      <p:sp>
        <p:nvSpPr>
          <p:cNvPr id="11" name="TextBox 10"/>
          <p:cNvSpPr txBox="1"/>
          <p:nvPr/>
        </p:nvSpPr>
        <p:spPr>
          <a:xfrm>
            <a:off x="6717688" y="3343695"/>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sen:ce</a:t>
            </a:r>
          </a:p>
          <a:p>
            <a:pPr algn="ctr">
              <a:lnSpc>
                <a:spcPct val="110000"/>
              </a:lnSpc>
              <a:spcAft>
                <a:spcPts val="100"/>
              </a:spcAft>
            </a:pPr>
            <a:r>
              <a:rPr sz="1300" b="0">
                <a:solidFill>
                  <a:srgbClr val="556175"/>
                </a:solidFill>
                <a:latin typeface="맑은 고딕"/>
                <a:ea typeface="맑은 고딕"/>
                <a:cs typeface="맑은 고딕"/>
              </a:rPr>
              <a:t>냉각 효율 · 태그 CE</a:t>
            </a:r>
          </a:p>
        </p:txBody>
      </p:sp>
      <p:sp>
        <p:nvSpPr>
          <p:cNvPr id="12" name="TextBox 11"/>
          <p:cNvSpPr txBox="1"/>
          <p:nvPr/>
        </p:nvSpPr>
        <p:spPr>
          <a:xfrm>
            <a:off x="6717688" y="4118997"/>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sen:ps1</a:t>
            </a:r>
          </a:p>
          <a:p>
            <a:pPr algn="ctr">
              <a:lnSpc>
                <a:spcPct val="110000"/>
              </a:lnSpc>
              <a:spcAft>
                <a:spcPts val="100"/>
              </a:spcAft>
            </a:pPr>
            <a:r>
              <a:rPr sz="1300" b="0">
                <a:solidFill>
                  <a:srgbClr val="556175"/>
                </a:solidFill>
                <a:latin typeface="맑은 고딕"/>
                <a:ea typeface="맑은 고딕"/>
                <a:cs typeface="맑은 고딕"/>
              </a:rPr>
              <a:t>토출 압력 센서 · 태그 PS1</a:t>
            </a:r>
          </a:p>
        </p:txBody>
      </p:sp>
      <p:sp>
        <p:nvSpPr>
          <p:cNvPr id="13" name="TextBox 12"/>
          <p:cNvSpPr txBox="1"/>
          <p:nvPr/>
        </p:nvSpPr>
        <p:spPr>
          <a:xfrm>
            <a:off x="6717688" y="4889571"/>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sen:fs1</a:t>
            </a:r>
          </a:p>
          <a:p>
            <a:pPr algn="ctr">
              <a:lnSpc>
                <a:spcPct val="110000"/>
              </a:lnSpc>
              <a:spcAft>
                <a:spcPts val="100"/>
              </a:spcAft>
            </a:pPr>
            <a:r>
              <a:rPr sz="1300" b="0">
                <a:solidFill>
                  <a:srgbClr val="556175"/>
                </a:solidFill>
                <a:latin typeface="맑은 고딕"/>
                <a:ea typeface="맑은 고딕"/>
                <a:cs typeface="맑은 고딕"/>
              </a:rPr>
              <a:t>유량 센서 · 태그 FS1</a:t>
            </a:r>
          </a:p>
        </p:txBody>
      </p:sp>
      <p:sp>
        <p:nvSpPr>
          <p:cNvPr id="14" name="TextBox 13"/>
          <p:cNvSpPr txBox="1"/>
          <p:nvPr/>
        </p:nvSpPr>
        <p:spPr>
          <a:xfrm>
            <a:off x="6717688" y="5664872"/>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sen:vs1</a:t>
            </a:r>
          </a:p>
          <a:p>
            <a:pPr algn="ctr">
              <a:lnSpc>
                <a:spcPct val="110000"/>
              </a:lnSpc>
              <a:spcAft>
                <a:spcPts val="100"/>
              </a:spcAft>
            </a:pPr>
            <a:r>
              <a:rPr sz="1300" b="0">
                <a:solidFill>
                  <a:srgbClr val="556175"/>
                </a:solidFill>
                <a:latin typeface="맑은 고딕"/>
                <a:ea typeface="맑은 고딕"/>
                <a:cs typeface="맑은 고딕"/>
              </a:rPr>
              <a:t>팬 진동 센서 · 태그 VS1</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설비 영역의 다섯 클래스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유압 설비에 관한 대상은 설비, 구성 요소, 센서, 상태 변수, 부품의 다섯 클래스로 나뉜다.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a:t>
            </a:r>
          </a:p>
        </p:txBody>
      </p:sp>
      <p:pic>
        <p:nvPicPr>
          <p:cNvPr id="6" name="삽화:설비클래스_0.svg" descr="illust_7111484075864809677_179171724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95647" y="1816729"/>
            <a:ext cx="207280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Asset · 설비</a:t>
            </a:r>
          </a:p>
        </p:txBody>
      </p:sp>
      <p:sp>
        <p:nvSpPr>
          <p:cNvPr id="8" name="TextBox 7"/>
          <p:cNvSpPr txBox="1"/>
          <p:nvPr/>
        </p:nvSpPr>
        <p:spPr>
          <a:xfrm>
            <a:off x="2822999" y="1816729"/>
            <a:ext cx="218189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Component · 구성 요소</a:t>
            </a:r>
          </a:p>
        </p:txBody>
      </p:sp>
      <p:sp>
        <p:nvSpPr>
          <p:cNvPr id="9" name="TextBox 8"/>
          <p:cNvSpPr txBox="1"/>
          <p:nvPr/>
        </p:nvSpPr>
        <p:spPr>
          <a:xfrm>
            <a:off x="5059445" y="1816729"/>
            <a:ext cx="207280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Sensor · 센서</a:t>
            </a:r>
          </a:p>
        </p:txBody>
      </p:sp>
      <p:sp>
        <p:nvSpPr>
          <p:cNvPr id="10" name="TextBox 9"/>
          <p:cNvSpPr txBox="1"/>
          <p:nvPr/>
        </p:nvSpPr>
        <p:spPr>
          <a:xfrm>
            <a:off x="7186797" y="1816729"/>
            <a:ext cx="2181899"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StateVariable · 상태 변수</a:t>
            </a:r>
          </a:p>
        </p:txBody>
      </p:sp>
      <p:sp>
        <p:nvSpPr>
          <p:cNvPr id="11" name="TextBox 10"/>
          <p:cNvSpPr txBox="1"/>
          <p:nvPr/>
        </p:nvSpPr>
        <p:spPr>
          <a:xfrm>
            <a:off x="9423243" y="1816729"/>
            <a:ext cx="207280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Part · 부품</a:t>
            </a:r>
          </a:p>
        </p:txBody>
      </p:sp>
      <p:sp>
        <p:nvSpPr>
          <p:cNvPr id="12" name="TextBox 11"/>
          <p:cNvSpPr txBox="1"/>
          <p:nvPr/>
        </p:nvSpPr>
        <p:spPr>
          <a:xfrm>
            <a:off x="750195" y="5291404"/>
            <a:ext cx="196370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HYD-01</a:t>
            </a:r>
          </a:p>
        </p:txBody>
      </p:sp>
      <p:sp>
        <p:nvSpPr>
          <p:cNvPr id="13" name="TextBox 12"/>
          <p:cNvSpPr txBox="1"/>
          <p:nvPr/>
        </p:nvSpPr>
        <p:spPr>
          <a:xfrm>
            <a:off x="2932094" y="5291404"/>
            <a:ext cx="196370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오일 쿨러</a:t>
            </a:r>
          </a:p>
        </p:txBody>
      </p:sp>
      <p:sp>
        <p:nvSpPr>
          <p:cNvPr id="14" name="TextBox 13"/>
          <p:cNvSpPr txBox="1"/>
          <p:nvPr/>
        </p:nvSpPr>
        <p:spPr>
          <a:xfrm>
            <a:off x="5113993" y="5291404"/>
            <a:ext cx="196370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유온 센서</a:t>
            </a:r>
          </a:p>
        </p:txBody>
      </p:sp>
      <p:sp>
        <p:nvSpPr>
          <p:cNvPr id="15" name="TextBox 14"/>
          <p:cNvSpPr txBox="1"/>
          <p:nvPr/>
        </p:nvSpPr>
        <p:spPr>
          <a:xfrm>
            <a:off x="7295892" y="5291404"/>
            <a:ext cx="196370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유온</a:t>
            </a:r>
          </a:p>
        </p:txBody>
      </p:sp>
      <p:sp>
        <p:nvSpPr>
          <p:cNvPr id="16" name="TextBox 15"/>
          <p:cNvSpPr txBox="1"/>
          <p:nvPr/>
        </p:nvSpPr>
        <p:spPr>
          <a:xfrm>
            <a:off x="9477791" y="5291404"/>
            <a:ext cx="196370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쿨러 코어</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설비 영역의 다섯 클래스: 정의와 인스턴스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클래스의 정의는 그 클래스가 어떤 대상을 인스턴스로 받는지를 한 줄로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클래스</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한 줄 정의</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인스턴스</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Asset · 설비</a:t>
            </a:r>
          </a:p>
        </p:txBody>
      </p:sp>
      <p:sp>
        <p:nvSpPr>
          <p:cNvPr id="12" name="TextBox 11"/>
          <p:cNvSpPr txBox="1"/>
          <p:nvPr/>
        </p:nvSpPr>
        <p:spPr>
          <a:xfrm>
            <a:off x="3200400" y="2029968"/>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설비 한 대</a:t>
            </a:r>
          </a:p>
        </p:txBody>
      </p:sp>
      <p:sp>
        <p:nvSpPr>
          <p:cNvPr id="13" name="TextBox 12"/>
          <p:cNvSpPr txBox="1"/>
          <p:nvPr/>
        </p:nvSpPr>
        <p:spPr>
          <a:xfrm>
            <a:off x="9448495" y="2029968"/>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HYD-01 유압 파워팩</a:t>
            </a:r>
          </a:p>
          <a:p>
            <a:pPr algn="l">
              <a:lnSpc>
                <a:spcPct val="110000"/>
              </a:lnSpc>
            </a:pPr>
            <a:r>
              <a:rPr sz="1250" b="1">
                <a:solidFill>
                  <a:srgbClr val="556175"/>
                </a:solidFill>
                <a:latin typeface="맑은 고딕"/>
                <a:ea typeface="맑은 고딕"/>
                <a:cs typeface="맑은 고딕"/>
              </a:rPr>
              <a:t>asset:hyd-01</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Component · 구성 요소</a:t>
            </a:r>
          </a:p>
        </p:txBody>
      </p:sp>
      <p:sp>
        <p:nvSpPr>
          <p:cNvPr id="16" name="TextBox 15"/>
          <p:cNvSpPr txBox="1"/>
          <p:nvPr/>
        </p:nvSpPr>
        <p:spPr>
          <a:xfrm>
            <a:off x="3200400" y="2894990"/>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설비를 이루는 장치: 쿨러, 팬, 주 펌프, 예비 펌프, 모터, 탱크</a:t>
            </a:r>
          </a:p>
        </p:txBody>
      </p:sp>
      <p:sp>
        <p:nvSpPr>
          <p:cNvPr id="17" name="TextBox 16"/>
          <p:cNvSpPr txBox="1"/>
          <p:nvPr/>
        </p:nvSpPr>
        <p:spPr>
          <a:xfrm>
            <a:off x="9448495" y="2894990"/>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오일 쿨러</a:t>
            </a:r>
          </a:p>
          <a:p>
            <a:pPr algn="l">
              <a:lnSpc>
                <a:spcPct val="110000"/>
              </a:lnSpc>
            </a:pPr>
            <a:r>
              <a:rPr sz="1250" b="1">
                <a:solidFill>
                  <a:srgbClr val="556175"/>
                </a:solidFill>
                <a:latin typeface="맑은 고딕"/>
                <a:ea typeface="맑은 고딕"/>
                <a:cs typeface="맑은 고딕"/>
              </a:rPr>
              <a:t>comp:cooler</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Sensor · 센서</a:t>
            </a:r>
          </a:p>
        </p:txBody>
      </p:sp>
      <p:sp>
        <p:nvSpPr>
          <p:cNvPr id="20" name="TextBox 19"/>
          <p:cNvSpPr txBox="1"/>
          <p:nvPr/>
        </p:nvSpPr>
        <p:spPr>
          <a:xfrm>
            <a:off x="3200400" y="3760012"/>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값을 재어 내놓는 계측 채널. 인스턴스에 태그가 붙는다</a:t>
            </a:r>
          </a:p>
        </p:txBody>
      </p:sp>
      <p:sp>
        <p:nvSpPr>
          <p:cNvPr id="21" name="TextBox 20"/>
          <p:cNvSpPr txBox="1"/>
          <p:nvPr/>
        </p:nvSpPr>
        <p:spPr>
          <a:xfrm>
            <a:off x="9448495" y="3760012"/>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유온 센서 · 태그 TS1</a:t>
            </a:r>
          </a:p>
          <a:p>
            <a:pPr algn="l">
              <a:lnSpc>
                <a:spcPct val="110000"/>
              </a:lnSpc>
            </a:pPr>
            <a:r>
              <a:rPr sz="1250" b="1">
                <a:solidFill>
                  <a:srgbClr val="556175"/>
                </a:solidFill>
                <a:latin typeface="맑은 고딕"/>
                <a:ea typeface="맑은 고딕"/>
                <a:cs typeface="맑은 고딕"/>
              </a:rPr>
              <a:t>sen:ts1</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StateVariable · 상태 변수</a:t>
            </a:r>
          </a:p>
        </p:txBody>
      </p:sp>
      <p:sp>
        <p:nvSpPr>
          <p:cNvPr id="24" name="TextBox 23"/>
          <p:cNvSpPr txBox="1"/>
          <p:nvPr/>
        </p:nvSpPr>
        <p:spPr>
          <a:xfrm>
            <a:off x="3200400" y="4625035"/>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설비의 물리량</a:t>
            </a:r>
          </a:p>
        </p:txBody>
      </p:sp>
      <p:sp>
        <p:nvSpPr>
          <p:cNvPr id="25" name="TextBox 24"/>
          <p:cNvSpPr txBox="1"/>
          <p:nvPr/>
        </p:nvSpPr>
        <p:spPr>
          <a:xfrm>
            <a:off x="9448495" y="4625035"/>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유온 sv:ts1</a:t>
            </a:r>
          </a:p>
          <a:p>
            <a:pPr algn="l">
              <a:lnSpc>
                <a:spcPct val="110000"/>
              </a:lnSpc>
            </a:pPr>
            <a:r>
              <a:rPr sz="1250" b="1">
                <a:solidFill>
                  <a:srgbClr val="556175"/>
                </a:solidFill>
                <a:latin typeface="맑은 고딕"/>
                <a:ea typeface="맑은 고딕"/>
                <a:cs typeface="맑은 고딕"/>
              </a:rPr>
              <a:t>냉각 효율 sv:ce</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Part · 부품</a:t>
            </a:r>
          </a:p>
        </p:txBody>
      </p:sp>
      <p:sp>
        <p:nvSpPr>
          <p:cNvPr id="28" name="TextBox 27"/>
          <p:cNvSpPr txBox="1"/>
          <p:nvPr/>
        </p:nvSpPr>
        <p:spPr>
          <a:xfrm>
            <a:off x="3200400" y="5490057"/>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갈아 끼우는 교체 부품</a:t>
            </a:r>
          </a:p>
        </p:txBody>
      </p:sp>
      <p:sp>
        <p:nvSpPr>
          <p:cNvPr id="29" name="TextBox 28"/>
          <p:cNvSpPr txBox="1"/>
          <p:nvPr/>
        </p:nvSpPr>
        <p:spPr>
          <a:xfrm>
            <a:off x="9448495" y="5490057"/>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쿨러 코어</a:t>
            </a:r>
          </a:p>
          <a:p>
            <a:pPr algn="l">
              <a:lnSpc>
                <a:spcPct val="110000"/>
              </a:lnSpc>
            </a:pPr>
            <a:r>
              <a:rPr sz="1250" b="1">
                <a:solidFill>
                  <a:srgbClr val="556175"/>
                </a:solidFill>
                <a:latin typeface="맑은 고딕"/>
                <a:ea typeface="맑은 고딕"/>
                <a:cs typeface="맑은 고딕"/>
              </a:rPr>
              <a:t>part:cooler-core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센서와 상태 변수의 구분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정상값과 한계는 재는 장치가 아니라 재어지는 물리량에 딸린 값이므로 센서와 상태 변수는 다른 클래스이다.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10</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gauge" descr="gauge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센서</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재는 쪽이다</a:t>
            </a:r>
          </a:p>
          <a:p>
            <a:pPr algn="l">
              <a:lnSpc>
                <a:spcPct val="110000"/>
              </a:lnSpc>
              <a:spcAft>
                <a:spcPts val="600"/>
              </a:spcAft>
            </a:pPr>
            <a:r>
              <a:rPr sz="1450" b="0">
                <a:solidFill>
                  <a:srgbClr val="1F2A3A"/>
                </a:solidFill>
                <a:latin typeface="맑은 고딕"/>
                <a:ea typeface="맑은 고딕"/>
                <a:cs typeface="맑은 고딕"/>
              </a:rPr>
              <a:t>• 인스턴스: 유온 센서</a:t>
            </a:r>
          </a:p>
          <a:p>
            <a:pPr algn="l">
              <a:lnSpc>
                <a:spcPct val="110000"/>
              </a:lnSpc>
              <a:spcAft>
                <a:spcPts val="600"/>
              </a:spcAft>
            </a:pPr>
            <a:r>
              <a:rPr sz="1450" b="0">
                <a:solidFill>
                  <a:srgbClr val="1F2A3A"/>
                </a:solidFill>
                <a:latin typeface="맑은 고딕"/>
                <a:ea typeface="맑은 고딕"/>
                <a:cs typeface="맑은 고딕"/>
              </a:rPr>
              <a:t>• 태그 TS1과 단위를 갖는다</a:t>
            </a:r>
          </a:p>
        </p:txBody>
      </p:sp>
      <p:sp>
        <p:nvSpPr>
          <p:cNvPr id="11" name="Rounded Rectangle 10"/>
          <p:cNvSpPr/>
          <p:nvPr/>
        </p:nvSpPr>
        <p:spPr>
          <a:xfrm>
            <a:off x="868680" y="4945570"/>
            <a:ext cx="856488"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85648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Sensor</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temperature" descr="temperature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상태 변수</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재어지는 쪽이다</a:t>
            </a:r>
          </a:p>
          <a:p>
            <a:pPr algn="l">
              <a:lnSpc>
                <a:spcPct val="110000"/>
              </a:lnSpc>
              <a:spcAft>
                <a:spcPts val="600"/>
              </a:spcAft>
            </a:pPr>
            <a:r>
              <a:rPr sz="1450" b="0">
                <a:solidFill>
                  <a:srgbClr val="1F2A3A"/>
                </a:solidFill>
                <a:latin typeface="맑은 고딕"/>
                <a:ea typeface="맑은 고딕"/>
                <a:cs typeface="맑은 고딕"/>
              </a:rPr>
              <a:t>• 인스턴스: 유온</a:t>
            </a:r>
          </a:p>
          <a:p>
            <a:pPr algn="l">
              <a:lnSpc>
                <a:spcPct val="110000"/>
              </a:lnSpc>
              <a:spcAft>
                <a:spcPts val="600"/>
              </a:spcAft>
            </a:pPr>
            <a:r>
              <a:rPr sz="1450" b="0">
                <a:solidFill>
                  <a:srgbClr val="1F2A3A"/>
                </a:solidFill>
                <a:latin typeface="맑은 고딕"/>
                <a:ea typeface="맑은 고딕"/>
                <a:cs typeface="맑은 고딕"/>
              </a:rPr>
              <a:t>• 정상값 48과 한계 65를 갖는다</a:t>
            </a:r>
          </a:p>
        </p:txBody>
      </p:sp>
      <p:sp>
        <p:nvSpPr>
          <p:cNvPr id="18" name="Rounded Rectangle 17"/>
          <p:cNvSpPr/>
          <p:nvPr/>
        </p:nvSpPr>
        <p:spPr>
          <a:xfrm>
            <a:off x="6781647" y="4945570"/>
            <a:ext cx="1426464"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426464"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StateVariable</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구성 요소와 부품의 구분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구성 요소는 설비를 이루는 장치이고 부품은 그 안의 교체품이며, 둘은 USES_PART 관계로 이어진다.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11</a:t>
            </a:r>
          </a:p>
        </p:txBody>
      </p:sp>
      <p:sp>
        <p:nvSpPr>
          <p:cNvPr id="6" name="Oval 5"/>
          <p:cNvSpPr/>
          <p:nvPr/>
        </p:nvSpPr>
        <p:spPr>
          <a:xfrm>
            <a:off x="1030208" y="1627632"/>
            <a:ext cx="1463040" cy="1463040"/>
          </a:xfrm>
          <a:prstGeom prst="ellipse">
            <a:avLst/>
          </a:prstGeom>
          <a:solidFill>
            <a:srgbClr val="E7F3FD"/>
          </a:solidFill>
          <a:ln w="25400">
            <a:solidFill>
              <a:srgbClr val="5CB8F2"/>
            </a:solidFill>
          </a:ln>
        </p:spPr>
        <p:txBody>
          <a:bodyPr rtlCol="0" anchor="ctr"/>
          <a:lstStyle/>
          <a:p>
            <a:pPr algn="ctr"/>
          </a:p>
        </p:txBody>
      </p:sp>
      <p:sp>
        <p:nvSpPr>
          <p:cNvPr id="7" name="TextBox 6"/>
          <p:cNvSpPr txBox="1"/>
          <p:nvPr/>
        </p:nvSpPr>
        <p:spPr>
          <a:xfrm>
            <a:off x="1132621" y="1905609"/>
            <a:ext cx="1258214" cy="907084"/>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오일 쿨러</a:t>
            </a:r>
          </a:p>
          <a:p>
            <a:pPr algn="ctr">
              <a:lnSpc>
                <a:spcPct val="110000"/>
              </a:lnSpc>
            </a:pPr>
            <a:r>
              <a:rPr sz="1100" b="0">
                <a:solidFill>
                  <a:srgbClr val="556175"/>
                </a:solidFill>
                <a:latin typeface="맑은 고딕"/>
                <a:ea typeface="맑은 고딕"/>
                <a:cs typeface="맑은 고딕"/>
              </a:rPr>
              <a:t>구성 요소</a:t>
            </a:r>
          </a:p>
        </p:txBody>
      </p:sp>
      <p:sp>
        <p:nvSpPr>
          <p:cNvPr id="8" name="Oval 7"/>
          <p:cNvSpPr/>
          <p:nvPr/>
        </p:nvSpPr>
        <p:spPr>
          <a:xfrm>
            <a:off x="3919621" y="1627632"/>
            <a:ext cx="1463040" cy="1463040"/>
          </a:xfrm>
          <a:prstGeom prst="ellipse">
            <a:avLst/>
          </a:prstGeom>
          <a:solidFill>
            <a:srgbClr val="E7F3FD"/>
          </a:solidFill>
          <a:ln w="25400">
            <a:solidFill>
              <a:srgbClr val="5CB8F2"/>
            </a:solidFill>
          </a:ln>
        </p:spPr>
        <p:txBody>
          <a:bodyPr rtlCol="0" anchor="ctr"/>
          <a:lstStyle/>
          <a:p>
            <a:pPr algn="ctr"/>
          </a:p>
        </p:txBody>
      </p:sp>
      <p:sp>
        <p:nvSpPr>
          <p:cNvPr id="9" name="TextBox 8"/>
          <p:cNvSpPr txBox="1"/>
          <p:nvPr/>
        </p:nvSpPr>
        <p:spPr>
          <a:xfrm>
            <a:off x="4022034" y="1905609"/>
            <a:ext cx="1258214" cy="907084"/>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쿨러 팬</a:t>
            </a:r>
          </a:p>
          <a:p>
            <a:pPr algn="ctr">
              <a:lnSpc>
                <a:spcPct val="110000"/>
              </a:lnSpc>
            </a:pPr>
            <a:r>
              <a:rPr sz="1100" b="0">
                <a:solidFill>
                  <a:srgbClr val="556175"/>
                </a:solidFill>
                <a:latin typeface="맑은 고딕"/>
                <a:ea typeface="맑은 고딕"/>
                <a:cs typeface="맑은 고딕"/>
              </a:rPr>
              <a:t>구성 요소</a:t>
            </a:r>
          </a:p>
        </p:txBody>
      </p:sp>
      <p:sp>
        <p:nvSpPr>
          <p:cNvPr id="10" name="Oval 9"/>
          <p:cNvSpPr/>
          <p:nvPr/>
        </p:nvSpPr>
        <p:spPr>
          <a:xfrm>
            <a:off x="6809033" y="1627632"/>
            <a:ext cx="1463040" cy="1463040"/>
          </a:xfrm>
          <a:prstGeom prst="ellipse">
            <a:avLst/>
          </a:prstGeom>
          <a:solidFill>
            <a:srgbClr val="E7F3FD"/>
          </a:solidFill>
          <a:ln w="25400">
            <a:solidFill>
              <a:srgbClr val="5CB8F2"/>
            </a:solidFill>
          </a:ln>
        </p:spPr>
        <p:txBody>
          <a:bodyPr rtlCol="0" anchor="ctr"/>
          <a:lstStyle/>
          <a:p>
            <a:pPr algn="ctr"/>
          </a:p>
        </p:txBody>
      </p:sp>
      <p:sp>
        <p:nvSpPr>
          <p:cNvPr id="11" name="TextBox 10"/>
          <p:cNvSpPr txBox="1"/>
          <p:nvPr/>
        </p:nvSpPr>
        <p:spPr>
          <a:xfrm>
            <a:off x="6911446" y="1905609"/>
            <a:ext cx="1258214" cy="907084"/>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주 펌프 (A)</a:t>
            </a:r>
          </a:p>
          <a:p>
            <a:pPr algn="ctr">
              <a:lnSpc>
                <a:spcPct val="110000"/>
              </a:lnSpc>
            </a:pPr>
            <a:r>
              <a:rPr sz="1100" b="0">
                <a:solidFill>
                  <a:srgbClr val="556175"/>
                </a:solidFill>
                <a:latin typeface="맑은 고딕"/>
                <a:ea typeface="맑은 고딕"/>
                <a:cs typeface="맑은 고딕"/>
              </a:rPr>
              <a:t>구성 요소</a:t>
            </a:r>
          </a:p>
        </p:txBody>
      </p:sp>
      <p:sp>
        <p:nvSpPr>
          <p:cNvPr id="12" name="Oval 11"/>
          <p:cNvSpPr/>
          <p:nvPr/>
        </p:nvSpPr>
        <p:spPr>
          <a:xfrm>
            <a:off x="9698446" y="1627632"/>
            <a:ext cx="1463040" cy="1463040"/>
          </a:xfrm>
          <a:prstGeom prst="ellipse">
            <a:avLst/>
          </a:prstGeom>
          <a:solidFill>
            <a:srgbClr val="E7F3FD"/>
          </a:solidFill>
          <a:ln w="25400">
            <a:solidFill>
              <a:srgbClr val="5CB8F2"/>
            </a:solidFill>
          </a:ln>
        </p:spPr>
        <p:txBody>
          <a:bodyPr rtlCol="0" anchor="ctr"/>
          <a:lstStyle/>
          <a:p>
            <a:pPr algn="ctr"/>
          </a:p>
        </p:txBody>
      </p:sp>
      <p:sp>
        <p:nvSpPr>
          <p:cNvPr id="13" name="TextBox 12"/>
          <p:cNvSpPr txBox="1"/>
          <p:nvPr/>
        </p:nvSpPr>
        <p:spPr>
          <a:xfrm>
            <a:off x="9800859" y="1905609"/>
            <a:ext cx="1258214" cy="907084"/>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작동유 탱크</a:t>
            </a:r>
          </a:p>
          <a:p>
            <a:pPr algn="ctr">
              <a:lnSpc>
                <a:spcPct val="110000"/>
              </a:lnSpc>
            </a:pPr>
            <a:r>
              <a:rPr sz="1100" b="0">
                <a:solidFill>
                  <a:srgbClr val="556175"/>
                </a:solidFill>
                <a:latin typeface="맑은 고딕"/>
                <a:ea typeface="맑은 고딕"/>
                <a:cs typeface="맑은 고딕"/>
              </a:rPr>
              <a:t>구성 요소</a:t>
            </a:r>
          </a:p>
        </p:txBody>
      </p:sp>
      <p:sp>
        <p:nvSpPr>
          <p:cNvPr id="14" name="Oval 13"/>
          <p:cNvSpPr/>
          <p:nvPr/>
        </p:nvSpPr>
        <p:spPr>
          <a:xfrm>
            <a:off x="1030208" y="4892040"/>
            <a:ext cx="1463040" cy="1463040"/>
          </a:xfrm>
          <a:prstGeom prst="ellipse">
            <a:avLst/>
          </a:prstGeom>
          <a:solidFill>
            <a:srgbClr val="E7F3FD"/>
          </a:solidFill>
          <a:ln w="25400">
            <a:solidFill>
              <a:srgbClr val="5CB8F2"/>
            </a:solidFill>
          </a:ln>
        </p:spPr>
        <p:txBody>
          <a:bodyPr rtlCol="0" anchor="ctr"/>
          <a:lstStyle/>
          <a:p>
            <a:pPr algn="ctr"/>
          </a:p>
        </p:txBody>
      </p:sp>
      <p:sp>
        <p:nvSpPr>
          <p:cNvPr id="15" name="TextBox 14"/>
          <p:cNvSpPr txBox="1"/>
          <p:nvPr/>
        </p:nvSpPr>
        <p:spPr>
          <a:xfrm>
            <a:off x="1132621" y="5170017"/>
            <a:ext cx="1258214" cy="907084"/>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쿨러 코어</a:t>
            </a:r>
          </a:p>
          <a:p>
            <a:pPr algn="ctr">
              <a:lnSpc>
                <a:spcPct val="110000"/>
              </a:lnSpc>
            </a:pPr>
            <a:r>
              <a:rPr sz="1100" b="0">
                <a:solidFill>
                  <a:srgbClr val="556175"/>
                </a:solidFill>
                <a:latin typeface="맑은 고딕"/>
                <a:ea typeface="맑은 고딕"/>
                <a:cs typeface="맑은 고딕"/>
              </a:rPr>
              <a:t>부품</a:t>
            </a:r>
          </a:p>
        </p:txBody>
      </p:sp>
      <p:sp>
        <p:nvSpPr>
          <p:cNvPr id="16" name="Oval 15"/>
          <p:cNvSpPr/>
          <p:nvPr/>
        </p:nvSpPr>
        <p:spPr>
          <a:xfrm>
            <a:off x="3919621" y="4892040"/>
            <a:ext cx="1463040" cy="1463040"/>
          </a:xfrm>
          <a:prstGeom prst="ellipse">
            <a:avLst/>
          </a:prstGeom>
          <a:solidFill>
            <a:srgbClr val="E7F3FD"/>
          </a:solidFill>
          <a:ln w="25400">
            <a:solidFill>
              <a:srgbClr val="5CB8F2"/>
            </a:solidFill>
          </a:ln>
        </p:spPr>
        <p:txBody>
          <a:bodyPr rtlCol="0" anchor="ctr"/>
          <a:lstStyle/>
          <a:p>
            <a:pPr algn="ctr"/>
          </a:p>
        </p:txBody>
      </p:sp>
      <p:sp>
        <p:nvSpPr>
          <p:cNvPr id="17" name="TextBox 16"/>
          <p:cNvSpPr txBox="1"/>
          <p:nvPr/>
        </p:nvSpPr>
        <p:spPr>
          <a:xfrm>
            <a:off x="4022034" y="5170017"/>
            <a:ext cx="1258214" cy="907084"/>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팬 베어링</a:t>
            </a:r>
          </a:p>
          <a:p>
            <a:pPr algn="ctr">
              <a:lnSpc>
                <a:spcPct val="110000"/>
              </a:lnSpc>
            </a:pPr>
            <a:r>
              <a:rPr sz="1100" b="0">
                <a:solidFill>
                  <a:srgbClr val="556175"/>
                </a:solidFill>
                <a:latin typeface="맑은 고딕"/>
                <a:ea typeface="맑은 고딕"/>
                <a:cs typeface="맑은 고딕"/>
              </a:rPr>
              <a:t>부품</a:t>
            </a:r>
          </a:p>
        </p:txBody>
      </p:sp>
      <p:sp>
        <p:nvSpPr>
          <p:cNvPr id="18" name="Oval 17"/>
          <p:cNvSpPr/>
          <p:nvPr/>
        </p:nvSpPr>
        <p:spPr>
          <a:xfrm>
            <a:off x="6809033" y="4892040"/>
            <a:ext cx="1463040" cy="1463040"/>
          </a:xfrm>
          <a:prstGeom prst="ellipse">
            <a:avLst/>
          </a:prstGeom>
          <a:solidFill>
            <a:srgbClr val="E7F3FD"/>
          </a:solidFill>
          <a:ln w="25400">
            <a:solidFill>
              <a:srgbClr val="5CB8F2"/>
            </a:solidFill>
          </a:ln>
        </p:spPr>
        <p:txBody>
          <a:bodyPr rtlCol="0" anchor="ctr"/>
          <a:lstStyle/>
          <a:p>
            <a:pPr algn="ctr"/>
          </a:p>
        </p:txBody>
      </p:sp>
      <p:sp>
        <p:nvSpPr>
          <p:cNvPr id="19" name="TextBox 18"/>
          <p:cNvSpPr txBox="1"/>
          <p:nvPr/>
        </p:nvSpPr>
        <p:spPr>
          <a:xfrm>
            <a:off x="6911446" y="5170017"/>
            <a:ext cx="1258214" cy="907084"/>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펌프 축 씰 키트</a:t>
            </a:r>
          </a:p>
          <a:p>
            <a:pPr algn="ctr">
              <a:lnSpc>
                <a:spcPct val="110000"/>
              </a:lnSpc>
            </a:pPr>
            <a:r>
              <a:rPr sz="1100" b="0">
                <a:solidFill>
                  <a:srgbClr val="556175"/>
                </a:solidFill>
                <a:latin typeface="맑은 고딕"/>
                <a:ea typeface="맑은 고딕"/>
                <a:cs typeface="맑은 고딕"/>
              </a:rPr>
              <a:t>부품</a:t>
            </a:r>
          </a:p>
        </p:txBody>
      </p:sp>
      <p:sp>
        <p:nvSpPr>
          <p:cNvPr id="20" name="Oval 19"/>
          <p:cNvSpPr/>
          <p:nvPr/>
        </p:nvSpPr>
        <p:spPr>
          <a:xfrm>
            <a:off x="9698446" y="4892040"/>
            <a:ext cx="1463040" cy="1463040"/>
          </a:xfrm>
          <a:prstGeom prst="ellipse">
            <a:avLst/>
          </a:prstGeom>
          <a:solidFill>
            <a:srgbClr val="E7F3FD"/>
          </a:solidFill>
          <a:ln w="25400">
            <a:solidFill>
              <a:srgbClr val="5CB8F2"/>
            </a:solidFill>
          </a:ln>
        </p:spPr>
        <p:txBody>
          <a:bodyPr rtlCol="0" anchor="ctr"/>
          <a:lstStyle/>
          <a:p>
            <a:pPr algn="ctr"/>
          </a:p>
        </p:txBody>
      </p:sp>
      <p:sp>
        <p:nvSpPr>
          <p:cNvPr id="21" name="TextBox 20"/>
          <p:cNvSpPr txBox="1"/>
          <p:nvPr/>
        </p:nvSpPr>
        <p:spPr>
          <a:xfrm>
            <a:off x="9800859" y="5170017"/>
            <a:ext cx="1258214" cy="907084"/>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리턴 필터 엘리먼트</a:t>
            </a:r>
          </a:p>
          <a:p>
            <a:pPr algn="ctr">
              <a:lnSpc>
                <a:spcPct val="110000"/>
              </a:lnSpc>
            </a:pPr>
            <a:r>
              <a:rPr sz="1100" b="0">
                <a:solidFill>
                  <a:srgbClr val="556175"/>
                </a:solidFill>
                <a:latin typeface="맑은 고딕"/>
                <a:ea typeface="맑은 고딕"/>
                <a:cs typeface="맑은 고딕"/>
              </a:rPr>
              <a:t>부품</a:t>
            </a:r>
          </a:p>
        </p:txBody>
      </p:sp>
      <p:cxnSp>
        <p:nvCxnSpPr>
          <p:cNvPr id="22" name="Connector 21"/>
          <p:cNvCxnSpPr/>
          <p:nvPr/>
        </p:nvCxnSpPr>
        <p:spPr>
          <a:xfrm>
            <a:off x="1761728" y="3136392"/>
            <a:ext cx="0" cy="1682496"/>
          </a:xfrm>
          <a:prstGeom prst="line">
            <a:avLst/>
          </a:prstGeom>
          <a:ln w="28575">
            <a:solidFill>
              <a:srgbClr val="13294B"/>
            </a:solidFill>
            <a:tailEnd type="triangle" w="med" len="med"/>
          </a:ln>
        </p:spPr>
      </p:cxnSp>
      <p:sp>
        <p:nvSpPr>
          <p:cNvPr id="23" name="Rounded Rectangle 22"/>
          <p:cNvSpPr/>
          <p:nvPr/>
        </p:nvSpPr>
        <p:spPr>
          <a:xfrm>
            <a:off x="1853168" y="3831336"/>
            <a:ext cx="1218737"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4" name="TextBox 23"/>
          <p:cNvSpPr txBox="1"/>
          <p:nvPr/>
        </p:nvSpPr>
        <p:spPr>
          <a:xfrm>
            <a:off x="1853168" y="3831336"/>
            <a:ext cx="1218737"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USES_PART</a:t>
            </a:r>
          </a:p>
        </p:txBody>
      </p:sp>
      <p:cxnSp>
        <p:nvCxnSpPr>
          <p:cNvPr id="25" name="Connector 24"/>
          <p:cNvCxnSpPr/>
          <p:nvPr/>
        </p:nvCxnSpPr>
        <p:spPr>
          <a:xfrm>
            <a:off x="4651141" y="3136392"/>
            <a:ext cx="0" cy="1682496"/>
          </a:xfrm>
          <a:prstGeom prst="line">
            <a:avLst/>
          </a:prstGeom>
          <a:ln w="28575">
            <a:solidFill>
              <a:srgbClr val="13294B"/>
            </a:solidFill>
            <a:tailEnd type="triangle" w="med" len="med"/>
          </a:ln>
        </p:spPr>
      </p:cxnSp>
      <p:sp>
        <p:nvSpPr>
          <p:cNvPr id="26" name="Rounded Rectangle 25"/>
          <p:cNvSpPr/>
          <p:nvPr/>
        </p:nvSpPr>
        <p:spPr>
          <a:xfrm>
            <a:off x="4742581" y="3831336"/>
            <a:ext cx="1218737"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7" name="TextBox 26"/>
          <p:cNvSpPr txBox="1"/>
          <p:nvPr/>
        </p:nvSpPr>
        <p:spPr>
          <a:xfrm>
            <a:off x="4742581" y="3831336"/>
            <a:ext cx="1218737"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USES_PART</a:t>
            </a:r>
          </a:p>
        </p:txBody>
      </p:sp>
      <p:cxnSp>
        <p:nvCxnSpPr>
          <p:cNvPr id="28" name="Connector 27"/>
          <p:cNvCxnSpPr/>
          <p:nvPr/>
        </p:nvCxnSpPr>
        <p:spPr>
          <a:xfrm>
            <a:off x="7540553" y="3136392"/>
            <a:ext cx="0" cy="1682496"/>
          </a:xfrm>
          <a:prstGeom prst="line">
            <a:avLst/>
          </a:prstGeom>
          <a:ln w="28575">
            <a:solidFill>
              <a:srgbClr val="13294B"/>
            </a:solidFill>
            <a:tailEnd type="triangle" w="med" len="med"/>
          </a:ln>
        </p:spPr>
      </p:cxnSp>
      <p:sp>
        <p:nvSpPr>
          <p:cNvPr id="29" name="Rounded Rectangle 28"/>
          <p:cNvSpPr/>
          <p:nvPr/>
        </p:nvSpPr>
        <p:spPr>
          <a:xfrm>
            <a:off x="7631993" y="3831336"/>
            <a:ext cx="1218737"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30" name="TextBox 29"/>
          <p:cNvSpPr txBox="1"/>
          <p:nvPr/>
        </p:nvSpPr>
        <p:spPr>
          <a:xfrm>
            <a:off x="7631993" y="3831336"/>
            <a:ext cx="1218737"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USES_PART</a:t>
            </a:r>
          </a:p>
        </p:txBody>
      </p:sp>
      <p:cxnSp>
        <p:nvCxnSpPr>
          <p:cNvPr id="31" name="Connector 30"/>
          <p:cNvCxnSpPr/>
          <p:nvPr/>
        </p:nvCxnSpPr>
        <p:spPr>
          <a:xfrm>
            <a:off x="10429966" y="3136392"/>
            <a:ext cx="0" cy="1682496"/>
          </a:xfrm>
          <a:prstGeom prst="line">
            <a:avLst/>
          </a:prstGeom>
          <a:ln w="28575">
            <a:solidFill>
              <a:srgbClr val="13294B"/>
            </a:solidFill>
            <a:tailEnd type="triangle" w="med" len="med"/>
          </a:ln>
        </p:spPr>
      </p:cxnSp>
      <p:sp>
        <p:nvSpPr>
          <p:cNvPr id="32" name="Rounded Rectangle 31"/>
          <p:cNvSpPr/>
          <p:nvPr/>
        </p:nvSpPr>
        <p:spPr>
          <a:xfrm>
            <a:off x="10521406" y="3831336"/>
            <a:ext cx="1218737"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33" name="TextBox 32"/>
          <p:cNvSpPr txBox="1"/>
          <p:nvPr/>
        </p:nvSpPr>
        <p:spPr>
          <a:xfrm>
            <a:off x="10521406" y="3831336"/>
            <a:ext cx="1218737"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USES_PART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클래스와 인스턴스를 가르는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어떤 낱말이 클래스인지 인스턴스인지는 「하나이다」라는 문장에 넣어 보면 가려진다.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12</a:t>
            </a:r>
          </a:p>
        </p:txBody>
      </p:sp>
      <p:sp>
        <p:nvSpPr>
          <p:cNvPr id="6" name="Rounded Rectangle 5"/>
          <p:cNvSpPr/>
          <p:nvPr/>
        </p:nvSpPr>
        <p:spPr>
          <a:xfrm>
            <a:off x="548640" y="2791460"/>
            <a:ext cx="11094415" cy="914400"/>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822959" y="2791460"/>
            <a:ext cx="10545775" cy="914400"/>
          </a:xfrm>
          <a:prstGeom prst="rect">
            <a:avLst/>
          </a:prstGeom>
          <a:noFill/>
        </p:spPr>
        <p:txBody>
          <a:bodyPr wrap="square" anchor="ctr"/>
          <a:lstStyle/>
          <a:p>
            <a:pPr algn="ctr">
              <a:lnSpc>
                <a:spcPct val="110000"/>
              </a:lnSpc>
            </a:pPr>
            <a:r>
              <a:rPr sz="2600" b="1">
                <a:solidFill>
                  <a:srgbClr val="13294B"/>
                </a:solidFill>
                <a:latin typeface="맑은 고딕"/>
                <a:ea typeface="맑은 고딕"/>
                <a:cs typeface="맑은 고딕"/>
              </a:rPr>
              <a:t>「A는 B의 하나이다」가 성립하면 A는 인스턴스이고 B는 클래스이다</a:t>
            </a:r>
          </a:p>
        </p:txBody>
      </p:sp>
      <p:sp>
        <p:nvSpPr>
          <p:cNvPr id="8" name="TextBox 7"/>
          <p:cNvSpPr txBox="1"/>
          <p:nvPr/>
        </p:nvSpPr>
        <p:spPr>
          <a:xfrm>
            <a:off x="548640" y="4025900"/>
            <a:ext cx="351525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오일 쿨러는 구성 요소의 하나이다</a:t>
            </a:r>
          </a:p>
          <a:p>
            <a:pPr algn="l">
              <a:lnSpc>
                <a:spcPct val="110000"/>
              </a:lnSpc>
              <a:spcAft>
                <a:spcPts val="400"/>
              </a:spcAft>
            </a:pPr>
            <a:r>
              <a:rPr sz="1400" b="0">
                <a:solidFill>
                  <a:srgbClr val="1F2A3A"/>
                </a:solidFill>
                <a:latin typeface="맑은 고딕"/>
                <a:ea typeface="맑은 고딕"/>
                <a:cs typeface="맑은 고딕"/>
              </a:rPr>
              <a:t>오일 쿨러 = 인스턴스</a:t>
            </a:r>
          </a:p>
          <a:p>
            <a:pPr algn="l">
              <a:lnSpc>
                <a:spcPct val="110000"/>
              </a:lnSpc>
              <a:spcAft>
                <a:spcPts val="400"/>
              </a:spcAft>
            </a:pPr>
            <a:r>
              <a:rPr sz="1400" b="0">
                <a:solidFill>
                  <a:srgbClr val="1F2A3A"/>
                </a:solidFill>
                <a:latin typeface="맑은 고딕"/>
                <a:ea typeface="맑은 고딕"/>
                <a:cs typeface="맑은 고딕"/>
              </a:rPr>
              <a:t>구성 요소 = 클래스</a:t>
            </a:r>
          </a:p>
        </p:txBody>
      </p:sp>
      <p:sp>
        <p:nvSpPr>
          <p:cNvPr id="9" name="TextBox 8"/>
          <p:cNvSpPr txBox="1"/>
          <p:nvPr/>
        </p:nvSpPr>
        <p:spPr>
          <a:xfrm>
            <a:off x="4338218" y="4025900"/>
            <a:ext cx="351525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HYD-01은 설비의 하나이다</a:t>
            </a:r>
          </a:p>
          <a:p>
            <a:pPr algn="l">
              <a:lnSpc>
                <a:spcPct val="110000"/>
              </a:lnSpc>
              <a:spcAft>
                <a:spcPts val="400"/>
              </a:spcAft>
            </a:pPr>
            <a:r>
              <a:rPr sz="1400" b="0">
                <a:solidFill>
                  <a:srgbClr val="1F2A3A"/>
                </a:solidFill>
                <a:latin typeface="맑은 고딕"/>
                <a:ea typeface="맑은 고딕"/>
                <a:cs typeface="맑은 고딕"/>
              </a:rPr>
              <a:t>HYD-01 = 인스턴스</a:t>
            </a:r>
          </a:p>
          <a:p>
            <a:pPr algn="l">
              <a:lnSpc>
                <a:spcPct val="110000"/>
              </a:lnSpc>
              <a:spcAft>
                <a:spcPts val="400"/>
              </a:spcAft>
            </a:pPr>
            <a:r>
              <a:rPr sz="1400" b="0">
                <a:solidFill>
                  <a:srgbClr val="1F2A3A"/>
                </a:solidFill>
                <a:latin typeface="맑은 고딕"/>
                <a:ea typeface="맑은 고딕"/>
                <a:cs typeface="맑은 고딕"/>
              </a:rPr>
              <a:t>설비 = 클래스</a:t>
            </a:r>
          </a:p>
        </p:txBody>
      </p:sp>
      <p:sp>
        <p:nvSpPr>
          <p:cNvPr id="10" name="TextBox 9"/>
          <p:cNvSpPr txBox="1"/>
          <p:nvPr/>
        </p:nvSpPr>
        <p:spPr>
          <a:xfrm>
            <a:off x="8127796" y="4025900"/>
            <a:ext cx="351525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유온은 상태 변수의 하나이다</a:t>
            </a:r>
          </a:p>
          <a:p>
            <a:pPr algn="l">
              <a:lnSpc>
                <a:spcPct val="110000"/>
              </a:lnSpc>
              <a:spcAft>
                <a:spcPts val="400"/>
              </a:spcAft>
            </a:pPr>
            <a:r>
              <a:rPr sz="1400" b="0">
                <a:solidFill>
                  <a:srgbClr val="1F2A3A"/>
                </a:solidFill>
                <a:latin typeface="맑은 고딕"/>
                <a:ea typeface="맑은 고딕"/>
                <a:cs typeface="맑은 고딕"/>
              </a:rPr>
              <a:t>유온 = 인스턴스</a:t>
            </a:r>
          </a:p>
          <a:p>
            <a:pPr algn="l">
              <a:lnSpc>
                <a:spcPct val="110000"/>
              </a:lnSpc>
              <a:spcAft>
                <a:spcPts val="400"/>
              </a:spcAft>
            </a:pPr>
            <a:r>
              <a:rPr sz="1400" b="0">
                <a:solidFill>
                  <a:srgbClr val="1F2A3A"/>
                </a:solidFill>
                <a:latin typeface="맑은 고딕"/>
                <a:ea typeface="맑은 고딕"/>
                <a:cs typeface="맑은 고딕"/>
              </a:rPr>
              <a:t>상태 변수 = 클래스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구분 사례: 클래스, 인스턴스, 값</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센서는 클래스, 유온 센서는 그 인스턴스, TS1은 인스턴스에 붙은 값으로 층이 서로 다르다.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13</a:t>
            </a:r>
          </a:p>
        </p:txBody>
      </p:sp>
      <p:sp>
        <p:nvSpPr>
          <p:cNvPr id="6" name="Rounded Rectangle 5"/>
          <p:cNvSpPr/>
          <p:nvPr/>
        </p:nvSpPr>
        <p:spPr>
          <a:xfrm>
            <a:off x="548640"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821178"/>
            <a:ext cx="731520" cy="731520"/>
          </a:xfrm>
          <a:prstGeom prst="ellipse">
            <a:avLst/>
          </a:prstGeom>
          <a:solidFill>
            <a:srgbClr val="E7F3FD"/>
          </a:solidFill>
          <a:ln>
            <a:noFill/>
          </a:ln>
        </p:spPr>
        <p:txBody>
          <a:bodyPr rtlCol="0" anchor="ctr"/>
          <a:lstStyle/>
          <a:p>
            <a:pPr algn="ctr"/>
          </a:p>
        </p:txBody>
      </p:sp>
      <p:pic>
        <p:nvPicPr>
          <p:cNvPr id="8" name="아이콘:category" descr="category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클래스</a:t>
            </a:r>
          </a:p>
          <a:p>
            <a:pPr algn="l">
              <a:lnSpc>
                <a:spcPct val="110000"/>
              </a:lnSpc>
              <a:spcAft>
                <a:spcPts val="400"/>
              </a:spcAft>
            </a:pPr>
            <a:r>
              <a:rPr sz="1400" b="0">
                <a:solidFill>
                  <a:srgbClr val="1F2A3A"/>
                </a:solidFill>
                <a:latin typeface="맑은 고딕"/>
                <a:ea typeface="맑은 고딕"/>
                <a:cs typeface="맑은 고딕"/>
              </a:rPr>
              <a:t>• 센서: 유형의 이름이다</a:t>
            </a:r>
          </a:p>
          <a:p>
            <a:pPr algn="l">
              <a:lnSpc>
                <a:spcPct val="110000"/>
              </a:lnSpc>
              <a:spcAft>
                <a:spcPts val="400"/>
              </a:spcAft>
            </a:pPr>
            <a:r>
              <a:rPr sz="1400" b="0">
                <a:solidFill>
                  <a:srgbClr val="1F2A3A"/>
                </a:solidFill>
                <a:latin typeface="맑은 고딕"/>
                <a:ea typeface="맑은 고딕"/>
                <a:cs typeface="맑은 고딕"/>
              </a:rPr>
              <a:t>• 설비 · 구성 요소 · 상태 변수</a:t>
            </a:r>
          </a:p>
        </p:txBody>
      </p:sp>
      <p:sp>
        <p:nvSpPr>
          <p:cNvPr id="10" name="Rounded Rectangle 9"/>
          <p:cNvSpPr/>
          <p:nvPr/>
        </p:nvSpPr>
        <p:spPr>
          <a:xfrm>
            <a:off x="777240" y="4932934"/>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유형</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target" descr="target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인스턴스</a:t>
            </a:r>
          </a:p>
          <a:p>
            <a:pPr algn="l">
              <a:lnSpc>
                <a:spcPct val="110000"/>
              </a:lnSpc>
              <a:spcAft>
                <a:spcPts val="400"/>
              </a:spcAft>
            </a:pPr>
            <a:r>
              <a:rPr sz="1400" b="0">
                <a:solidFill>
                  <a:srgbClr val="1F2A3A"/>
                </a:solidFill>
                <a:latin typeface="맑은 고딕"/>
                <a:ea typeface="맑은 고딕"/>
                <a:cs typeface="맑은 고딕"/>
              </a:rPr>
              <a:t>• 유온 센서: 센서의 하나이다</a:t>
            </a:r>
          </a:p>
          <a:p>
            <a:pPr algn="l">
              <a:lnSpc>
                <a:spcPct val="110000"/>
              </a:lnSpc>
              <a:spcAft>
                <a:spcPts val="400"/>
              </a:spcAft>
            </a:pPr>
            <a:r>
              <a:rPr sz="1400" b="0">
                <a:solidFill>
                  <a:srgbClr val="1F2A3A"/>
                </a:solidFill>
                <a:latin typeface="맑은 고딕"/>
                <a:ea typeface="맑은 고딕"/>
                <a:cs typeface="맑은 고딕"/>
              </a:rPr>
              <a:t>• HYD-02 · 쿨러 팬 · 팬 진동</a:t>
            </a:r>
          </a:p>
        </p:txBody>
      </p:sp>
      <p:sp>
        <p:nvSpPr>
          <p:cNvPr id="16" name="Rounded Rectangle 15"/>
          <p:cNvSpPr/>
          <p:nvPr/>
        </p:nvSpPr>
        <p:spPr>
          <a:xfrm>
            <a:off x="4566818" y="4932934"/>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실제 대상</a:t>
            </a:r>
          </a:p>
        </p:txBody>
      </p:sp>
      <p:sp>
        <p:nvSpPr>
          <p:cNvPr id="18" name="Rounded Rectangle 17"/>
          <p:cNvSpPr/>
          <p:nvPr/>
        </p:nvSpPr>
        <p:spPr>
          <a:xfrm>
            <a:off x="8127796"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5CB8F2"/>
          </a:solidFill>
          <a:ln>
            <a:noFill/>
          </a:ln>
        </p:spPr>
        <p:txBody>
          <a:bodyPr rtlCol="0" anchor="ctr"/>
          <a:lstStyle/>
          <a:p>
            <a:pPr algn="ctr"/>
          </a:p>
        </p:txBody>
      </p:sp>
      <p:pic>
        <p:nvPicPr>
          <p:cNvPr id="20" name="아이콘:hash" descr="hash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값</a:t>
            </a:r>
          </a:p>
          <a:p>
            <a:pPr algn="l">
              <a:lnSpc>
                <a:spcPct val="110000"/>
              </a:lnSpc>
              <a:spcAft>
                <a:spcPts val="400"/>
              </a:spcAft>
            </a:pPr>
            <a:r>
              <a:rPr sz="1400" b="0">
                <a:solidFill>
                  <a:srgbClr val="1F2A3A"/>
                </a:solidFill>
                <a:latin typeface="맑은 고딕"/>
                <a:ea typeface="맑은 고딕"/>
                <a:cs typeface="맑은 고딕"/>
              </a:rPr>
              <a:t>• TS1: 유온 센서의 태그이다</a:t>
            </a:r>
          </a:p>
          <a:p>
            <a:pPr algn="l">
              <a:lnSpc>
                <a:spcPct val="110000"/>
              </a:lnSpc>
              <a:spcAft>
                <a:spcPts val="400"/>
              </a:spcAft>
            </a:pPr>
            <a:r>
              <a:rPr sz="1400" b="0">
                <a:solidFill>
                  <a:srgbClr val="1F2A3A"/>
                </a:solidFill>
                <a:latin typeface="맑은 고딕"/>
                <a:ea typeface="맑은 고딕"/>
                <a:cs typeface="맑은 고딕"/>
              </a:rPr>
              <a:t>• VS1 · mm/s · 2.0</a:t>
            </a:r>
          </a:p>
        </p:txBody>
      </p:sp>
      <p:sp>
        <p:nvSpPr>
          <p:cNvPr id="22" name="Rounded Rectangle 21"/>
          <p:cNvSpPr/>
          <p:nvPr/>
        </p:nvSpPr>
        <p:spPr>
          <a:xfrm>
            <a:off x="8356396" y="4932934"/>
            <a:ext cx="1676399"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4932934"/>
            <a:ext cx="16763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인스턴스에 붙은 값</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구분 사례: 물건이 아닌 대상의 클래스와 인스턴스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증상, 고장 유형, 원인처럼 물건이 아닌 것도 클래스이며, 유온 상승과 쿨러 핀 오염이 그 인스턴스이다.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14</a:t>
            </a:r>
          </a:p>
        </p:txBody>
      </p:sp>
      <p:sp>
        <p:nvSpPr>
          <p:cNvPr id="6" name="TextBox 5"/>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증상</a:t>
            </a:r>
          </a:p>
          <a:p>
            <a:pPr algn="l">
              <a:lnSpc>
                <a:spcPct val="110000"/>
              </a:lnSpc>
              <a:spcAft>
                <a:spcPts val="200"/>
              </a:spcAft>
            </a:pPr>
            <a:r>
              <a:rPr sz="1150" b="0">
                <a:solidFill>
                  <a:srgbClr val="556175"/>
                </a:solidFill>
                <a:latin typeface="맑은 고딕"/>
                <a:ea typeface="맑은 고딕"/>
                <a:cs typeface="맑은 고딕"/>
              </a:rPr>
              <a:t>Symptom</a:t>
            </a:r>
          </a:p>
        </p:txBody>
      </p:sp>
      <p:sp>
        <p:nvSpPr>
          <p:cNvPr id="7" name="TextBox 6"/>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클래스 Symptom의 인스턴스: 유온 상승, 냉각 효율 저하</a:t>
            </a:r>
          </a:p>
        </p:txBody>
      </p:sp>
      <p:sp>
        <p:nvSpPr>
          <p:cNvPr id="8" name="Rectangle 7"/>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고장 유형</a:t>
            </a:r>
          </a:p>
          <a:p>
            <a:pPr algn="l">
              <a:lnSpc>
                <a:spcPct val="110000"/>
              </a:lnSpc>
              <a:spcAft>
                <a:spcPts val="200"/>
              </a:spcAft>
            </a:pPr>
            <a:r>
              <a:rPr sz="1150" b="0">
                <a:solidFill>
                  <a:srgbClr val="556175"/>
                </a:solidFill>
                <a:latin typeface="맑은 고딕"/>
                <a:ea typeface="맑은 고딕"/>
                <a:cs typeface="맑은 고딕"/>
              </a:rPr>
              <a:t>FailureMode</a:t>
            </a:r>
          </a:p>
        </p:txBody>
      </p:sp>
      <p:sp>
        <p:nvSpPr>
          <p:cNvPr id="10" name="TextBox 9"/>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클래스 FailureMode의 인스턴스: 쿨러 냉각 성능 상실</a:t>
            </a:r>
          </a:p>
        </p:txBody>
      </p:sp>
      <p:sp>
        <p:nvSpPr>
          <p:cNvPr id="11" name="Rectangle 10"/>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2" name="TextBox 11"/>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원인</a:t>
            </a:r>
          </a:p>
          <a:p>
            <a:pPr algn="l">
              <a:lnSpc>
                <a:spcPct val="110000"/>
              </a:lnSpc>
              <a:spcAft>
                <a:spcPts val="200"/>
              </a:spcAft>
            </a:pPr>
            <a:r>
              <a:rPr sz="1150" b="0">
                <a:solidFill>
                  <a:srgbClr val="556175"/>
                </a:solidFill>
                <a:latin typeface="맑은 고딕"/>
                <a:ea typeface="맑은 고딕"/>
                <a:cs typeface="맑은 고딕"/>
              </a:rPr>
              <a:t>Cause</a:t>
            </a:r>
          </a:p>
        </p:txBody>
      </p:sp>
      <p:sp>
        <p:nvSpPr>
          <p:cNvPr id="13" name="TextBox 12"/>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클래스 Cause의 인스턴스: 쿨러 핀 오염, 팬 구동 불량, 주변 온도 상승</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속성: 클래스가 정한 칸, 인스턴스가 채운 값</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클래스가 </a:t>
            </a:r>
            <a:r>
              <a:rPr sz="1600" b="1">
                <a:solidFill>
                  <a:srgbClr val="1A6FC4"/>
                </a:solidFill>
                <a:latin typeface="맑은 고딕"/>
                <a:ea typeface="맑은 고딕"/>
                <a:cs typeface="맑은 고딕"/>
              </a:rPr>
              <a:t>속성</a:t>
            </a:r>
            <a:r>
              <a:rPr sz="1600" b="0">
                <a:solidFill>
                  <a:srgbClr val="556175"/>
                </a:solidFill>
                <a:latin typeface="맑은 고딕"/>
                <a:ea typeface="맑은 고딕"/>
                <a:cs typeface="맑은 고딕"/>
              </a:rPr>
              <a:t>의 칸을 정하므로 유온 센서와 냉각 효율은 칸이 같고 채운 값만 다르다.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15</a:t>
            </a:r>
          </a:p>
        </p:txBody>
      </p:sp>
      <p:pic>
        <p:nvPicPr>
          <p:cNvPr id="6" name="삽화:속성_3.svg" descr="illust_6312248742921077376_179171724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055660" y="2067284"/>
            <a:ext cx="2618278"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Sensor 클래스의 속성</a:t>
            </a:r>
          </a:p>
          <a:p>
            <a:pPr algn="ctr">
              <a:lnSpc>
                <a:spcPct val="110000"/>
              </a:lnSpc>
              <a:spcAft>
                <a:spcPts val="100"/>
              </a:spcAft>
            </a:pPr>
            <a:r>
              <a:rPr sz="1100" b="0">
                <a:solidFill>
                  <a:srgbClr val="556175"/>
                </a:solidFill>
                <a:latin typeface="맑은 고딕"/>
                <a:ea typeface="맑은 고딕"/>
                <a:cs typeface="맑은 고딕"/>
              </a:rPr>
              <a:t>속성(Property): 클래스가 정한 값의 칸</a:t>
            </a:r>
          </a:p>
        </p:txBody>
      </p:sp>
      <p:sp>
        <p:nvSpPr>
          <p:cNvPr id="8" name="TextBox 7"/>
          <p:cNvSpPr txBox="1"/>
          <p:nvPr/>
        </p:nvSpPr>
        <p:spPr>
          <a:xfrm>
            <a:off x="1273850" y="2866223"/>
            <a:ext cx="218189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id</a:t>
            </a:r>
          </a:p>
        </p:txBody>
      </p:sp>
      <p:sp>
        <p:nvSpPr>
          <p:cNvPr id="9" name="TextBox 8"/>
          <p:cNvSpPr txBox="1"/>
          <p:nvPr/>
        </p:nvSpPr>
        <p:spPr>
          <a:xfrm>
            <a:off x="1273850" y="3575340"/>
            <a:ext cx="218189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name</a:t>
            </a:r>
          </a:p>
        </p:txBody>
      </p:sp>
      <p:sp>
        <p:nvSpPr>
          <p:cNvPr id="10" name="TextBox 9"/>
          <p:cNvSpPr txBox="1"/>
          <p:nvPr/>
        </p:nvSpPr>
        <p:spPr>
          <a:xfrm>
            <a:off x="1273850" y="4284457"/>
            <a:ext cx="218189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tag</a:t>
            </a:r>
          </a:p>
        </p:txBody>
      </p:sp>
      <p:sp>
        <p:nvSpPr>
          <p:cNvPr id="11" name="TextBox 10"/>
          <p:cNvSpPr txBox="1"/>
          <p:nvPr/>
        </p:nvSpPr>
        <p:spPr>
          <a:xfrm>
            <a:off x="1273850" y="4993574"/>
            <a:ext cx="218189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unit</a:t>
            </a:r>
          </a:p>
        </p:txBody>
      </p:sp>
      <p:sp>
        <p:nvSpPr>
          <p:cNvPr id="12" name="TextBox 11"/>
          <p:cNvSpPr txBox="1"/>
          <p:nvPr/>
        </p:nvSpPr>
        <p:spPr>
          <a:xfrm>
            <a:off x="1273850" y="5702692"/>
            <a:ext cx="218189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virtual</a:t>
            </a:r>
          </a:p>
        </p:txBody>
      </p:sp>
      <p:sp>
        <p:nvSpPr>
          <p:cNvPr id="13" name="TextBox 12"/>
          <p:cNvSpPr txBox="1"/>
          <p:nvPr/>
        </p:nvSpPr>
        <p:spPr>
          <a:xfrm>
            <a:off x="5081264" y="2866223"/>
            <a:ext cx="240008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sen:ts1</a:t>
            </a:r>
          </a:p>
        </p:txBody>
      </p:sp>
      <p:sp>
        <p:nvSpPr>
          <p:cNvPr id="14" name="TextBox 13"/>
          <p:cNvSpPr txBox="1"/>
          <p:nvPr/>
        </p:nvSpPr>
        <p:spPr>
          <a:xfrm>
            <a:off x="5081264" y="3575340"/>
            <a:ext cx="240008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유온 센서</a:t>
            </a:r>
          </a:p>
        </p:txBody>
      </p:sp>
      <p:sp>
        <p:nvSpPr>
          <p:cNvPr id="15" name="TextBox 14"/>
          <p:cNvSpPr txBox="1"/>
          <p:nvPr/>
        </p:nvSpPr>
        <p:spPr>
          <a:xfrm>
            <a:off x="5081264" y="4284457"/>
            <a:ext cx="240008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TS1</a:t>
            </a:r>
          </a:p>
        </p:txBody>
      </p:sp>
      <p:sp>
        <p:nvSpPr>
          <p:cNvPr id="16" name="TextBox 15"/>
          <p:cNvSpPr txBox="1"/>
          <p:nvPr/>
        </p:nvSpPr>
        <p:spPr>
          <a:xfrm>
            <a:off x="5081264" y="4993574"/>
            <a:ext cx="240008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a:t>
            </a:r>
          </a:p>
        </p:txBody>
      </p:sp>
      <p:sp>
        <p:nvSpPr>
          <p:cNvPr id="17" name="TextBox 16"/>
          <p:cNvSpPr txBox="1"/>
          <p:nvPr/>
        </p:nvSpPr>
        <p:spPr>
          <a:xfrm>
            <a:off x="5081264" y="5702692"/>
            <a:ext cx="240008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false</a:t>
            </a:r>
          </a:p>
        </p:txBody>
      </p:sp>
      <p:sp>
        <p:nvSpPr>
          <p:cNvPr id="18" name="TextBox 17"/>
          <p:cNvSpPr txBox="1"/>
          <p:nvPr/>
        </p:nvSpPr>
        <p:spPr>
          <a:xfrm>
            <a:off x="8528664" y="2866223"/>
            <a:ext cx="240008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sen:ce</a:t>
            </a:r>
          </a:p>
        </p:txBody>
      </p:sp>
      <p:sp>
        <p:nvSpPr>
          <p:cNvPr id="19" name="TextBox 18"/>
          <p:cNvSpPr txBox="1"/>
          <p:nvPr/>
        </p:nvSpPr>
        <p:spPr>
          <a:xfrm>
            <a:off x="8528664" y="3575340"/>
            <a:ext cx="240008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냉각 효율</a:t>
            </a:r>
          </a:p>
        </p:txBody>
      </p:sp>
      <p:sp>
        <p:nvSpPr>
          <p:cNvPr id="20" name="TextBox 19"/>
          <p:cNvSpPr txBox="1"/>
          <p:nvPr/>
        </p:nvSpPr>
        <p:spPr>
          <a:xfrm>
            <a:off x="8528664" y="4284457"/>
            <a:ext cx="240008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CE</a:t>
            </a:r>
          </a:p>
        </p:txBody>
      </p:sp>
      <p:sp>
        <p:nvSpPr>
          <p:cNvPr id="21" name="TextBox 20"/>
          <p:cNvSpPr txBox="1"/>
          <p:nvPr/>
        </p:nvSpPr>
        <p:spPr>
          <a:xfrm>
            <a:off x="8528664" y="4993574"/>
            <a:ext cx="240008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a:t>
            </a:r>
          </a:p>
        </p:txBody>
      </p:sp>
      <p:sp>
        <p:nvSpPr>
          <p:cNvPr id="22" name="TextBox 21"/>
          <p:cNvSpPr txBox="1"/>
          <p:nvPr/>
        </p:nvSpPr>
        <p:spPr>
          <a:xfrm>
            <a:off x="8528664" y="5702692"/>
            <a:ext cx="240008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true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기종의 설비 세 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HYD-01, HYD-02, HYD-03은 설비 클래스의 인스턴스 셋이며 id와 code의 값으로 서로 구별된다.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16</a:t>
            </a:r>
          </a:p>
        </p:txBody>
      </p:sp>
      <p:pic>
        <p:nvPicPr>
          <p:cNvPr id="6" name="삽화:설비세대.svg" descr="illust_262946258572735761_179171724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295892" y="2053102"/>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Asset · 설비</a:t>
            </a:r>
          </a:p>
          <a:p>
            <a:pPr algn="ctr">
              <a:lnSpc>
                <a:spcPct val="110000"/>
              </a:lnSpc>
              <a:spcAft>
                <a:spcPts val="100"/>
              </a:spcAft>
            </a:pPr>
            <a:r>
              <a:rPr sz="1300" b="0">
                <a:solidFill>
                  <a:srgbClr val="556175"/>
                </a:solidFill>
                <a:latin typeface="맑은 고딕"/>
                <a:ea typeface="맑은 고딕"/>
                <a:cs typeface="맑은 고딕"/>
              </a:rPr>
              <a:t>클래스</a:t>
            </a:r>
          </a:p>
        </p:txBody>
      </p:sp>
      <p:sp>
        <p:nvSpPr>
          <p:cNvPr id="8" name="TextBox 7"/>
          <p:cNvSpPr txBox="1"/>
          <p:nvPr/>
        </p:nvSpPr>
        <p:spPr>
          <a:xfrm>
            <a:off x="1219303" y="5078669"/>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asset:hyd-01</a:t>
            </a:r>
          </a:p>
          <a:p>
            <a:pPr algn="ctr">
              <a:lnSpc>
                <a:spcPct val="110000"/>
              </a:lnSpc>
              <a:spcAft>
                <a:spcPts val="100"/>
              </a:spcAft>
            </a:pPr>
            <a:r>
              <a:rPr sz="1300" b="0">
                <a:solidFill>
                  <a:srgbClr val="556175"/>
                </a:solidFill>
                <a:latin typeface="맑은 고딕"/>
                <a:ea typeface="맑은 고딕"/>
                <a:cs typeface="맑은 고딕"/>
              </a:rPr>
              <a:t>code: HYD-01</a:t>
            </a:r>
          </a:p>
        </p:txBody>
      </p:sp>
      <p:sp>
        <p:nvSpPr>
          <p:cNvPr id="9" name="TextBox 8"/>
          <p:cNvSpPr txBox="1"/>
          <p:nvPr/>
        </p:nvSpPr>
        <p:spPr>
          <a:xfrm>
            <a:off x="4677613" y="5078669"/>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asset:hyd-02</a:t>
            </a:r>
          </a:p>
          <a:p>
            <a:pPr algn="ctr">
              <a:lnSpc>
                <a:spcPct val="110000"/>
              </a:lnSpc>
              <a:spcAft>
                <a:spcPts val="100"/>
              </a:spcAft>
            </a:pPr>
            <a:r>
              <a:rPr sz="1300" b="0">
                <a:solidFill>
                  <a:srgbClr val="556175"/>
                </a:solidFill>
                <a:latin typeface="맑은 고딕"/>
                <a:ea typeface="맑은 고딕"/>
                <a:cs typeface="맑은 고딕"/>
              </a:rPr>
              <a:t>code: HYD-02</a:t>
            </a:r>
          </a:p>
        </p:txBody>
      </p:sp>
      <p:sp>
        <p:nvSpPr>
          <p:cNvPr id="10" name="TextBox 9"/>
          <p:cNvSpPr txBox="1"/>
          <p:nvPr/>
        </p:nvSpPr>
        <p:spPr>
          <a:xfrm>
            <a:off x="8135923" y="5078669"/>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asset:hyd-03</a:t>
            </a:r>
          </a:p>
          <a:p>
            <a:pPr algn="ctr">
              <a:lnSpc>
                <a:spcPct val="110000"/>
              </a:lnSpc>
              <a:spcAft>
                <a:spcPts val="100"/>
              </a:spcAft>
            </a:pPr>
            <a:r>
              <a:rPr sz="1300" b="0">
                <a:solidFill>
                  <a:srgbClr val="556175"/>
                </a:solidFill>
                <a:latin typeface="맑은 고딕"/>
                <a:ea typeface="맑은 고딕"/>
                <a:cs typeface="맑은 고딕"/>
              </a:rPr>
              <a:t>code: HYD-03</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속성값의 네 가지 형식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속성값은 글자, 수, 참 · 거짓, 목록 가운데 하나의 형식을 가지며, 형식이 그 값으로 할 수 있는 일을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17</a:t>
            </a:r>
          </a:p>
        </p:txBody>
      </p:sp>
      <p:sp>
        <p:nvSpPr>
          <p:cNvPr id="6" name="Rounded Rectangle 5"/>
          <p:cNvSpPr/>
          <p:nvPr/>
        </p:nvSpPr>
        <p:spPr>
          <a:xfrm>
            <a:off x="548640" y="2627757"/>
            <a:ext cx="2567863" cy="2727198"/>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828925"/>
            <a:ext cx="731520" cy="731520"/>
          </a:xfrm>
          <a:prstGeom prst="ellipse">
            <a:avLst/>
          </a:prstGeom>
          <a:solidFill>
            <a:srgbClr val="E7F3FD"/>
          </a:solidFill>
          <a:ln>
            <a:noFill/>
          </a:ln>
        </p:spPr>
        <p:txBody>
          <a:bodyPr rtlCol="0" anchor="ctr"/>
          <a:lstStyle/>
          <a:p>
            <a:pPr algn="ctr"/>
          </a:p>
        </p:txBody>
      </p:sp>
      <p:pic>
        <p:nvPicPr>
          <p:cNvPr id="8" name="아이콘:letter-case" descr="letter-case_13294B_1.6.png"/>
          <p:cNvPicPr>
            <a:picLocks noChangeAspect="1"/>
          </p:cNvPicPr>
          <p:nvPr/>
        </p:nvPicPr>
        <p:blipFill>
          <a:blip r:embed="rId3"/>
          <a:stretch>
            <a:fillRect/>
          </a:stretch>
        </p:blipFill>
        <p:spPr>
          <a:xfrm>
            <a:off x="930859" y="2982544"/>
            <a:ext cx="424281" cy="424281"/>
          </a:xfrm>
          <a:prstGeom prst="rect">
            <a:avLst/>
          </a:prstGeom>
        </p:spPr>
      </p:pic>
      <p:sp>
        <p:nvSpPr>
          <p:cNvPr id="9" name="TextBox 8"/>
          <p:cNvSpPr txBox="1"/>
          <p:nvPr/>
        </p:nvSpPr>
        <p:spPr>
          <a:xfrm>
            <a:off x="713232" y="3651885"/>
            <a:ext cx="2238679" cy="1200150"/>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글자</a:t>
            </a:r>
          </a:p>
          <a:p>
            <a:pPr algn="l">
              <a:lnSpc>
                <a:spcPct val="110000"/>
              </a:lnSpc>
              <a:spcAft>
                <a:spcPts val="400"/>
              </a:spcAft>
            </a:pPr>
            <a:r>
              <a:rPr sz="1350" b="0">
                <a:solidFill>
                  <a:srgbClr val="1F2A3A"/>
                </a:solidFill>
                <a:latin typeface="맑은 고딕"/>
                <a:ea typeface="맑은 고딕"/>
                <a:cs typeface="맑은 고딕"/>
              </a:rPr>
              <a:t>• name: 유온 센서</a:t>
            </a:r>
          </a:p>
          <a:p>
            <a:pPr algn="l">
              <a:lnSpc>
                <a:spcPct val="110000"/>
              </a:lnSpc>
              <a:spcAft>
                <a:spcPts val="400"/>
              </a:spcAft>
            </a:pPr>
            <a:r>
              <a:rPr sz="1350" b="0">
                <a:solidFill>
                  <a:srgbClr val="1F2A3A"/>
                </a:solidFill>
                <a:latin typeface="맑은 고딕"/>
                <a:ea typeface="맑은 고딕"/>
                <a:cs typeface="맑은 고딕"/>
              </a:rPr>
              <a:t>• tag: TS1</a:t>
            </a:r>
          </a:p>
        </p:txBody>
      </p:sp>
      <p:sp>
        <p:nvSpPr>
          <p:cNvPr id="10" name="Rounded Rectangle 9"/>
          <p:cNvSpPr/>
          <p:nvPr/>
        </p:nvSpPr>
        <p:spPr>
          <a:xfrm>
            <a:off x="777240" y="4925187"/>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25187"/>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이름과 표기</a:t>
            </a:r>
          </a:p>
        </p:txBody>
      </p:sp>
      <p:sp>
        <p:nvSpPr>
          <p:cNvPr id="12" name="Rounded Rectangle 11"/>
          <p:cNvSpPr/>
          <p:nvPr/>
        </p:nvSpPr>
        <p:spPr>
          <a:xfrm>
            <a:off x="3390823" y="2627757"/>
            <a:ext cx="2567863" cy="2727198"/>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828925"/>
            <a:ext cx="731520" cy="731520"/>
          </a:xfrm>
          <a:prstGeom prst="ellipse">
            <a:avLst/>
          </a:prstGeom>
          <a:solidFill>
            <a:srgbClr val="E7F3FD"/>
          </a:solidFill>
          <a:ln>
            <a:noFill/>
          </a:ln>
        </p:spPr>
        <p:txBody>
          <a:bodyPr rtlCol="0" anchor="ctr"/>
          <a:lstStyle/>
          <a:p>
            <a:pPr algn="ctr"/>
          </a:p>
        </p:txBody>
      </p:sp>
      <p:pic>
        <p:nvPicPr>
          <p:cNvPr id="14" name="아이콘:hash" descr="hash_13294B_1.6.png"/>
          <p:cNvPicPr>
            <a:picLocks noChangeAspect="1"/>
          </p:cNvPicPr>
          <p:nvPr/>
        </p:nvPicPr>
        <p:blipFill>
          <a:blip r:embed="rId4"/>
          <a:stretch>
            <a:fillRect/>
          </a:stretch>
        </p:blipFill>
        <p:spPr>
          <a:xfrm>
            <a:off x="3773043" y="2982544"/>
            <a:ext cx="424281" cy="424281"/>
          </a:xfrm>
          <a:prstGeom prst="rect">
            <a:avLst/>
          </a:prstGeom>
        </p:spPr>
      </p:pic>
      <p:sp>
        <p:nvSpPr>
          <p:cNvPr id="15" name="TextBox 14"/>
          <p:cNvSpPr txBox="1"/>
          <p:nvPr/>
        </p:nvSpPr>
        <p:spPr>
          <a:xfrm>
            <a:off x="3555415" y="3651885"/>
            <a:ext cx="2238679" cy="1200150"/>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수</a:t>
            </a:r>
          </a:p>
          <a:p>
            <a:pPr algn="l">
              <a:lnSpc>
                <a:spcPct val="110000"/>
              </a:lnSpc>
              <a:spcAft>
                <a:spcPts val="400"/>
              </a:spcAft>
            </a:pPr>
            <a:r>
              <a:rPr sz="1350" b="0">
                <a:solidFill>
                  <a:srgbClr val="1F2A3A"/>
                </a:solidFill>
                <a:latin typeface="맑은 고딕"/>
                <a:ea typeface="맑은 고딕"/>
                <a:cs typeface="맑은 고딕"/>
              </a:rPr>
              <a:t>• normal: 48</a:t>
            </a:r>
          </a:p>
          <a:p>
            <a:pPr algn="l">
              <a:lnSpc>
                <a:spcPct val="110000"/>
              </a:lnSpc>
              <a:spcAft>
                <a:spcPts val="400"/>
              </a:spcAft>
            </a:pPr>
            <a:r>
              <a:rPr sz="1350" b="0">
                <a:solidFill>
                  <a:srgbClr val="1F2A3A"/>
                </a:solidFill>
                <a:latin typeface="맑은 고딕"/>
                <a:ea typeface="맑은 고딕"/>
                <a:cs typeface="맑은 고딕"/>
              </a:rPr>
              <a:t>• limit: 65</a:t>
            </a:r>
          </a:p>
        </p:txBody>
      </p:sp>
      <p:sp>
        <p:nvSpPr>
          <p:cNvPr id="16" name="Rounded Rectangle 15"/>
          <p:cNvSpPr/>
          <p:nvPr/>
        </p:nvSpPr>
        <p:spPr>
          <a:xfrm>
            <a:off x="3619423" y="4925187"/>
            <a:ext cx="14782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4925187"/>
            <a:ext cx="14782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크기를 비교한다</a:t>
            </a:r>
          </a:p>
        </p:txBody>
      </p:sp>
      <p:sp>
        <p:nvSpPr>
          <p:cNvPr id="18" name="Rounded Rectangle 17"/>
          <p:cNvSpPr/>
          <p:nvPr/>
        </p:nvSpPr>
        <p:spPr>
          <a:xfrm>
            <a:off x="6233007" y="2627757"/>
            <a:ext cx="2567863" cy="2727198"/>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828925"/>
            <a:ext cx="731520" cy="731520"/>
          </a:xfrm>
          <a:prstGeom prst="ellipse">
            <a:avLst/>
          </a:prstGeom>
          <a:solidFill>
            <a:srgbClr val="E7F3FD"/>
          </a:solidFill>
          <a:ln>
            <a:noFill/>
          </a:ln>
        </p:spPr>
        <p:txBody>
          <a:bodyPr rtlCol="0" anchor="ctr"/>
          <a:lstStyle/>
          <a:p>
            <a:pPr algn="ctr"/>
          </a:p>
        </p:txBody>
      </p:sp>
      <p:pic>
        <p:nvPicPr>
          <p:cNvPr id="20" name="아이콘:toggle-left" descr="toggle-left_13294B_1.6.png"/>
          <p:cNvPicPr>
            <a:picLocks noChangeAspect="1"/>
          </p:cNvPicPr>
          <p:nvPr/>
        </p:nvPicPr>
        <p:blipFill>
          <a:blip r:embed="rId5"/>
          <a:stretch>
            <a:fillRect/>
          </a:stretch>
        </p:blipFill>
        <p:spPr>
          <a:xfrm>
            <a:off x="6615226" y="2982544"/>
            <a:ext cx="424281" cy="424281"/>
          </a:xfrm>
          <a:prstGeom prst="rect">
            <a:avLst/>
          </a:prstGeom>
        </p:spPr>
      </p:pic>
      <p:sp>
        <p:nvSpPr>
          <p:cNvPr id="21" name="TextBox 20"/>
          <p:cNvSpPr txBox="1"/>
          <p:nvPr/>
        </p:nvSpPr>
        <p:spPr>
          <a:xfrm>
            <a:off x="6397599" y="3651885"/>
            <a:ext cx="2238679" cy="1200150"/>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참 · 거짓</a:t>
            </a:r>
          </a:p>
          <a:p>
            <a:pPr algn="l">
              <a:lnSpc>
                <a:spcPct val="110000"/>
              </a:lnSpc>
              <a:spcAft>
                <a:spcPts val="400"/>
              </a:spcAft>
            </a:pPr>
            <a:r>
              <a:rPr sz="1350" b="0">
                <a:solidFill>
                  <a:srgbClr val="1F2A3A"/>
                </a:solidFill>
                <a:latin typeface="맑은 고딕"/>
                <a:ea typeface="맑은 고딕"/>
                <a:cs typeface="맑은 고딕"/>
              </a:rPr>
              <a:t>virtual: false</a:t>
            </a:r>
          </a:p>
        </p:txBody>
      </p:sp>
      <p:sp>
        <p:nvSpPr>
          <p:cNvPr id="22" name="Rounded Rectangle 21"/>
          <p:cNvSpPr/>
          <p:nvPr/>
        </p:nvSpPr>
        <p:spPr>
          <a:xfrm>
            <a:off x="6461607" y="4925187"/>
            <a:ext cx="137160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4925187"/>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둘 가운데 하나</a:t>
            </a:r>
          </a:p>
        </p:txBody>
      </p:sp>
      <p:sp>
        <p:nvSpPr>
          <p:cNvPr id="24" name="Rounded Rectangle 23"/>
          <p:cNvSpPr/>
          <p:nvPr/>
        </p:nvSpPr>
        <p:spPr>
          <a:xfrm>
            <a:off x="9075191" y="2627757"/>
            <a:ext cx="2567863" cy="2727198"/>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828925"/>
            <a:ext cx="731520" cy="731520"/>
          </a:xfrm>
          <a:prstGeom prst="ellipse">
            <a:avLst/>
          </a:prstGeom>
          <a:solidFill>
            <a:srgbClr val="5CB8F2"/>
          </a:solidFill>
          <a:ln>
            <a:noFill/>
          </a:ln>
        </p:spPr>
        <p:txBody>
          <a:bodyPr rtlCol="0" anchor="ctr"/>
          <a:lstStyle/>
          <a:p>
            <a:pPr algn="ctr"/>
          </a:p>
        </p:txBody>
      </p:sp>
      <p:pic>
        <p:nvPicPr>
          <p:cNvPr id="26" name="아이콘:list" descr="list_13294B_1.6.png"/>
          <p:cNvPicPr>
            <a:picLocks noChangeAspect="1"/>
          </p:cNvPicPr>
          <p:nvPr/>
        </p:nvPicPr>
        <p:blipFill>
          <a:blip r:embed="rId6"/>
          <a:stretch>
            <a:fillRect/>
          </a:stretch>
        </p:blipFill>
        <p:spPr>
          <a:xfrm>
            <a:off x="9457410" y="2982544"/>
            <a:ext cx="424281" cy="424281"/>
          </a:xfrm>
          <a:prstGeom prst="rect">
            <a:avLst/>
          </a:prstGeom>
        </p:spPr>
      </p:pic>
      <p:sp>
        <p:nvSpPr>
          <p:cNvPr id="27" name="TextBox 26"/>
          <p:cNvSpPr txBox="1"/>
          <p:nvPr/>
        </p:nvSpPr>
        <p:spPr>
          <a:xfrm>
            <a:off x="9239783" y="3651885"/>
            <a:ext cx="2238679" cy="1200150"/>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목록</a:t>
            </a:r>
          </a:p>
          <a:p>
            <a:pPr algn="l">
              <a:lnSpc>
                <a:spcPct val="110000"/>
              </a:lnSpc>
              <a:spcAft>
                <a:spcPts val="400"/>
              </a:spcAft>
            </a:pPr>
            <a:r>
              <a:rPr sz="1350" b="0">
                <a:solidFill>
                  <a:srgbClr val="1F2A3A"/>
                </a:solidFill>
                <a:latin typeface="맑은 고딕"/>
                <a:ea typeface="맑은 고딕"/>
                <a:cs typeface="맑은 고딕"/>
              </a:rPr>
              <a:t>aliases: 오일 온도, 작동유 온도, TS1</a:t>
            </a:r>
          </a:p>
        </p:txBody>
      </p:sp>
      <p:sp>
        <p:nvSpPr>
          <p:cNvPr id="28" name="Rounded Rectangle 27"/>
          <p:cNvSpPr/>
          <p:nvPr/>
        </p:nvSpPr>
        <p:spPr>
          <a:xfrm>
            <a:off x="9303791" y="4925187"/>
            <a:ext cx="102108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4925187"/>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값이 여럿</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필수 속성과 선택 속성</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모든 인스턴스가 가져야 하는 속성과 없어도 되는 속성이 있으며, 상태 변수의 한계는 없어도 되는 속성이다.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18</a:t>
            </a:r>
          </a:p>
        </p:txBody>
      </p:sp>
      <p:pic>
        <p:nvPicPr>
          <p:cNvPr id="6" name="삽화:한계값.svg" descr="illust_3762481116626957835_179171724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295669" y="2355658"/>
            <a:ext cx="130913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유온</a:t>
            </a:r>
          </a:p>
        </p:txBody>
      </p:sp>
      <p:sp>
        <p:nvSpPr>
          <p:cNvPr id="8" name="TextBox 7"/>
          <p:cNvSpPr txBox="1"/>
          <p:nvPr/>
        </p:nvSpPr>
        <p:spPr>
          <a:xfrm>
            <a:off x="3433930" y="2355658"/>
            <a:ext cx="130913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토출 압력</a:t>
            </a:r>
          </a:p>
        </p:txBody>
      </p:sp>
      <p:sp>
        <p:nvSpPr>
          <p:cNvPr id="9" name="TextBox 8"/>
          <p:cNvSpPr txBox="1"/>
          <p:nvPr/>
        </p:nvSpPr>
        <p:spPr>
          <a:xfrm>
            <a:off x="5572191" y="2355658"/>
            <a:ext cx="130913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팬 진동</a:t>
            </a:r>
          </a:p>
        </p:txBody>
      </p:sp>
      <p:sp>
        <p:nvSpPr>
          <p:cNvPr id="10" name="TextBox 9"/>
          <p:cNvSpPr txBox="1"/>
          <p:nvPr/>
        </p:nvSpPr>
        <p:spPr>
          <a:xfrm>
            <a:off x="7710452" y="2355658"/>
            <a:ext cx="130913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냉각 효율</a:t>
            </a:r>
          </a:p>
        </p:txBody>
      </p:sp>
      <p:sp>
        <p:nvSpPr>
          <p:cNvPr id="11" name="TextBox 10"/>
          <p:cNvSpPr txBox="1"/>
          <p:nvPr/>
        </p:nvSpPr>
        <p:spPr>
          <a:xfrm>
            <a:off x="9848713" y="2355658"/>
            <a:ext cx="130913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유량</a:t>
            </a:r>
          </a:p>
        </p:txBody>
      </p:sp>
      <p:sp>
        <p:nvSpPr>
          <p:cNvPr id="12" name="TextBox 11"/>
          <p:cNvSpPr txBox="1"/>
          <p:nvPr/>
        </p:nvSpPr>
        <p:spPr>
          <a:xfrm>
            <a:off x="1001113" y="3093140"/>
            <a:ext cx="1636424"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단위 ℃</a:t>
            </a:r>
          </a:p>
          <a:p>
            <a:pPr algn="ctr">
              <a:lnSpc>
                <a:spcPct val="110000"/>
              </a:lnSpc>
              <a:spcAft>
                <a:spcPts val="100"/>
              </a:spcAft>
            </a:pPr>
            <a:r>
              <a:rPr sz="1100" b="0">
                <a:solidFill>
                  <a:srgbClr val="556175"/>
                </a:solidFill>
                <a:latin typeface="맑은 고딕"/>
                <a:ea typeface="맑은 고딕"/>
                <a:cs typeface="맑은 고딕"/>
              </a:rPr>
              <a:t>정상값 48</a:t>
            </a:r>
          </a:p>
        </p:txBody>
      </p:sp>
      <p:sp>
        <p:nvSpPr>
          <p:cNvPr id="13" name="TextBox 12"/>
          <p:cNvSpPr txBox="1"/>
          <p:nvPr/>
        </p:nvSpPr>
        <p:spPr>
          <a:xfrm>
            <a:off x="3139374" y="3093140"/>
            <a:ext cx="1636424"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단위 bar</a:t>
            </a:r>
          </a:p>
          <a:p>
            <a:pPr algn="ctr">
              <a:lnSpc>
                <a:spcPct val="110000"/>
              </a:lnSpc>
              <a:spcAft>
                <a:spcPts val="100"/>
              </a:spcAft>
            </a:pPr>
            <a:r>
              <a:rPr sz="1100" b="0">
                <a:solidFill>
                  <a:srgbClr val="556175"/>
                </a:solidFill>
                <a:latin typeface="맑은 고딕"/>
                <a:ea typeface="맑은 고딕"/>
                <a:cs typeface="맑은 고딕"/>
              </a:rPr>
              <a:t>정상값 182</a:t>
            </a:r>
          </a:p>
        </p:txBody>
      </p:sp>
      <p:sp>
        <p:nvSpPr>
          <p:cNvPr id="14" name="TextBox 13"/>
          <p:cNvSpPr txBox="1"/>
          <p:nvPr/>
        </p:nvSpPr>
        <p:spPr>
          <a:xfrm>
            <a:off x="5277635" y="3093140"/>
            <a:ext cx="1636424"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단위 mm/s</a:t>
            </a:r>
          </a:p>
          <a:p>
            <a:pPr algn="ctr">
              <a:lnSpc>
                <a:spcPct val="110000"/>
              </a:lnSpc>
              <a:spcAft>
                <a:spcPts val="100"/>
              </a:spcAft>
            </a:pPr>
            <a:r>
              <a:rPr sz="1100" b="0">
                <a:solidFill>
                  <a:srgbClr val="556175"/>
                </a:solidFill>
                <a:latin typeface="맑은 고딕"/>
                <a:ea typeface="맑은 고딕"/>
                <a:cs typeface="맑은 고딕"/>
              </a:rPr>
              <a:t>정상값 0.6</a:t>
            </a:r>
          </a:p>
        </p:txBody>
      </p:sp>
      <p:sp>
        <p:nvSpPr>
          <p:cNvPr id="15" name="TextBox 14"/>
          <p:cNvSpPr txBox="1"/>
          <p:nvPr/>
        </p:nvSpPr>
        <p:spPr>
          <a:xfrm>
            <a:off x="7415896" y="3093140"/>
            <a:ext cx="1636424"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단위 %</a:t>
            </a:r>
          </a:p>
          <a:p>
            <a:pPr algn="ctr">
              <a:lnSpc>
                <a:spcPct val="110000"/>
              </a:lnSpc>
              <a:spcAft>
                <a:spcPts val="100"/>
              </a:spcAft>
            </a:pPr>
            <a:r>
              <a:rPr sz="1100" b="0">
                <a:solidFill>
                  <a:srgbClr val="556175"/>
                </a:solidFill>
                <a:latin typeface="맑은 고딕"/>
                <a:ea typeface="맑은 고딕"/>
                <a:cs typeface="맑은 고딕"/>
              </a:rPr>
              <a:t>정상값 84</a:t>
            </a:r>
          </a:p>
        </p:txBody>
      </p:sp>
      <p:sp>
        <p:nvSpPr>
          <p:cNvPr id="16" name="TextBox 15"/>
          <p:cNvSpPr txBox="1"/>
          <p:nvPr/>
        </p:nvSpPr>
        <p:spPr>
          <a:xfrm>
            <a:off x="9554157" y="3093140"/>
            <a:ext cx="1636424"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단위 l/min</a:t>
            </a:r>
          </a:p>
          <a:p>
            <a:pPr algn="ctr">
              <a:lnSpc>
                <a:spcPct val="110000"/>
              </a:lnSpc>
              <a:spcAft>
                <a:spcPts val="100"/>
              </a:spcAft>
            </a:pPr>
            <a:r>
              <a:rPr sz="1100" b="0">
                <a:solidFill>
                  <a:srgbClr val="556175"/>
                </a:solidFill>
                <a:latin typeface="맑은 고딕"/>
                <a:ea typeface="맑은 고딕"/>
                <a:cs typeface="맑은 고딕"/>
              </a:rPr>
              <a:t>정상값 9</a:t>
            </a:r>
          </a:p>
        </p:txBody>
      </p:sp>
      <p:sp>
        <p:nvSpPr>
          <p:cNvPr id="17" name="TextBox 16"/>
          <p:cNvSpPr txBox="1"/>
          <p:nvPr/>
        </p:nvSpPr>
        <p:spPr>
          <a:xfrm>
            <a:off x="1110208" y="4913208"/>
            <a:ext cx="1418234" cy="337185"/>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한계 65</a:t>
            </a:r>
          </a:p>
        </p:txBody>
      </p:sp>
      <p:sp>
        <p:nvSpPr>
          <p:cNvPr id="18" name="TextBox 17"/>
          <p:cNvSpPr txBox="1"/>
          <p:nvPr/>
        </p:nvSpPr>
        <p:spPr>
          <a:xfrm>
            <a:off x="3248469" y="4913208"/>
            <a:ext cx="1418234" cy="337185"/>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한계 130</a:t>
            </a:r>
          </a:p>
        </p:txBody>
      </p:sp>
      <p:sp>
        <p:nvSpPr>
          <p:cNvPr id="19" name="TextBox 18"/>
          <p:cNvSpPr txBox="1"/>
          <p:nvPr/>
        </p:nvSpPr>
        <p:spPr>
          <a:xfrm>
            <a:off x="5386730" y="4913208"/>
            <a:ext cx="1418234" cy="337185"/>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한계 2.0</a:t>
            </a:r>
          </a:p>
        </p:txBody>
      </p:sp>
      <p:sp>
        <p:nvSpPr>
          <p:cNvPr id="20" name="TextBox 19"/>
          <p:cNvSpPr txBox="1"/>
          <p:nvPr/>
        </p:nvSpPr>
        <p:spPr>
          <a:xfrm>
            <a:off x="7524991" y="4913208"/>
            <a:ext cx="141823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한계 없음</a:t>
            </a:r>
          </a:p>
        </p:txBody>
      </p:sp>
      <p:sp>
        <p:nvSpPr>
          <p:cNvPr id="21" name="TextBox 20"/>
          <p:cNvSpPr txBox="1"/>
          <p:nvPr/>
        </p:nvSpPr>
        <p:spPr>
          <a:xfrm>
            <a:off x="9663252" y="4913208"/>
            <a:ext cx="141823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한계 없음</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클래스 계층과 상속</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공통 속성을 </a:t>
            </a:r>
            <a:r>
              <a:rPr sz="1600" b="1">
                <a:solidFill>
                  <a:srgbClr val="1A6FC4"/>
                </a:solidFill>
                <a:latin typeface="맑은 고딕"/>
                <a:ea typeface="맑은 고딕"/>
                <a:cs typeface="맑은 고딕"/>
              </a:rPr>
              <a:t>상위 클래스</a:t>
            </a:r>
            <a:r>
              <a:rPr sz="1600" b="0">
                <a:solidFill>
                  <a:srgbClr val="556175"/>
                </a:solidFill>
                <a:latin typeface="맑은 고딕"/>
                <a:ea typeface="맑은 고딕"/>
                <a:cs typeface="맑은 고딕"/>
              </a:rPr>
              <a:t>에 한 번만 적으면 하위 클래스는 그 속성을 </a:t>
            </a:r>
            <a:r>
              <a:rPr sz="1600" b="1">
                <a:solidFill>
                  <a:srgbClr val="1A6FC4"/>
                </a:solidFill>
                <a:latin typeface="맑은 고딕"/>
                <a:ea typeface="맑은 고딕"/>
                <a:cs typeface="맑은 고딕"/>
              </a:rPr>
              <a:t>상속</a:t>
            </a:r>
            <a:r>
              <a:rPr sz="1600" b="0">
                <a:solidFill>
                  <a:srgbClr val="556175"/>
                </a:solidFill>
                <a:latin typeface="맑은 고딕"/>
                <a:ea typeface="맑은 고딕"/>
                <a:cs typeface="맑은 고딕"/>
              </a:rPr>
              <a:t>하고 자기 속성만 더한다.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19</a:t>
            </a:r>
          </a:p>
        </p:txBody>
      </p:sp>
      <p:pic>
        <p:nvPicPr>
          <p:cNvPr id="6" name="삽화:상속_하위.svg" descr="illust_7335484575406167998_179171724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077479" y="2100376"/>
            <a:ext cx="283646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상위 클래스</a:t>
            </a:r>
          </a:p>
          <a:p>
            <a:pPr algn="ctr">
              <a:lnSpc>
                <a:spcPct val="110000"/>
              </a:lnSpc>
              <a:spcAft>
                <a:spcPts val="100"/>
              </a:spcAft>
            </a:pPr>
            <a:r>
              <a:rPr sz="1300" b="0">
                <a:solidFill>
                  <a:srgbClr val="556175"/>
                </a:solidFill>
                <a:latin typeface="맑은 고딕"/>
                <a:ea typeface="맑은 고딕"/>
                <a:cs typeface="맑은 고딕"/>
              </a:rPr>
              <a:t>공통 속성을 정한다</a:t>
            </a:r>
          </a:p>
        </p:txBody>
      </p:sp>
      <p:sp>
        <p:nvSpPr>
          <p:cNvPr id="8" name="TextBox 7"/>
          <p:cNvSpPr txBox="1"/>
          <p:nvPr/>
        </p:nvSpPr>
        <p:spPr>
          <a:xfrm>
            <a:off x="4568518" y="2194925"/>
            <a:ext cx="305465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차량</a:t>
            </a:r>
          </a:p>
          <a:p>
            <a:pPr algn="ctr">
              <a:lnSpc>
                <a:spcPct val="110000"/>
              </a:lnSpc>
              <a:spcAft>
                <a:spcPts val="100"/>
              </a:spcAft>
            </a:pPr>
            <a:r>
              <a:rPr sz="1300" b="0">
                <a:solidFill>
                  <a:srgbClr val="556175"/>
                </a:solidFill>
                <a:latin typeface="맑은 고딕"/>
                <a:ea typeface="맑은 고딕"/>
                <a:cs typeface="맑은 고딕"/>
              </a:rPr>
              <a:t>속성: 번호, 제조사</a:t>
            </a:r>
          </a:p>
        </p:txBody>
      </p:sp>
      <p:sp>
        <p:nvSpPr>
          <p:cNvPr id="9" name="TextBox 8"/>
          <p:cNvSpPr txBox="1"/>
          <p:nvPr/>
        </p:nvSpPr>
        <p:spPr>
          <a:xfrm>
            <a:off x="8277746" y="2100376"/>
            <a:ext cx="2836468"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상속</a:t>
            </a:r>
          </a:p>
          <a:p>
            <a:pPr algn="ctr">
              <a:lnSpc>
                <a:spcPct val="110000"/>
              </a:lnSpc>
              <a:spcAft>
                <a:spcPts val="100"/>
              </a:spcAft>
            </a:pPr>
            <a:r>
              <a:rPr sz="1300" b="0">
                <a:solidFill>
                  <a:srgbClr val="556175"/>
                </a:solidFill>
                <a:latin typeface="맑은 고딕"/>
                <a:ea typeface="맑은 고딕"/>
                <a:cs typeface="맑은 고딕"/>
              </a:rPr>
              <a:t>상위 클래스의 속성을</a:t>
            </a:r>
          </a:p>
          <a:p>
            <a:pPr algn="ctr">
              <a:lnSpc>
                <a:spcPct val="110000"/>
              </a:lnSpc>
              <a:spcAft>
                <a:spcPts val="100"/>
              </a:spcAft>
            </a:pPr>
            <a:r>
              <a:rPr sz="1300" b="0">
                <a:solidFill>
                  <a:srgbClr val="556175"/>
                </a:solidFill>
                <a:latin typeface="맑은 고딕"/>
                <a:ea typeface="맑은 고딕"/>
                <a:cs typeface="맑은 고딕"/>
              </a:rPr>
              <a:t>물려받는다</a:t>
            </a:r>
          </a:p>
        </p:txBody>
      </p:sp>
      <p:sp>
        <p:nvSpPr>
          <p:cNvPr id="10" name="TextBox 9"/>
          <p:cNvSpPr txBox="1"/>
          <p:nvPr/>
        </p:nvSpPr>
        <p:spPr>
          <a:xfrm>
            <a:off x="1219303" y="4795022"/>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승용차</a:t>
            </a:r>
          </a:p>
          <a:p>
            <a:pPr algn="ctr">
              <a:lnSpc>
                <a:spcPct val="110000"/>
              </a:lnSpc>
              <a:spcAft>
                <a:spcPts val="100"/>
              </a:spcAft>
            </a:pPr>
            <a:r>
              <a:rPr sz="1300" b="0">
                <a:solidFill>
                  <a:srgbClr val="556175"/>
                </a:solidFill>
                <a:latin typeface="맑은 고딕"/>
                <a:ea typeface="맑은 고딕"/>
                <a:cs typeface="맑은 고딕"/>
              </a:rPr>
              <a:t>차량의 하위 클래스</a:t>
            </a:r>
          </a:p>
        </p:txBody>
      </p:sp>
      <p:sp>
        <p:nvSpPr>
          <p:cNvPr id="11" name="TextBox 10"/>
          <p:cNvSpPr txBox="1"/>
          <p:nvPr/>
        </p:nvSpPr>
        <p:spPr>
          <a:xfrm>
            <a:off x="4623065" y="4700473"/>
            <a:ext cx="294556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화물차</a:t>
            </a:r>
          </a:p>
          <a:p>
            <a:pPr algn="ctr">
              <a:lnSpc>
                <a:spcPct val="110000"/>
              </a:lnSpc>
              <a:spcAft>
                <a:spcPts val="100"/>
              </a:spcAft>
            </a:pPr>
            <a:r>
              <a:rPr sz="1300" b="0">
                <a:solidFill>
                  <a:srgbClr val="556175"/>
                </a:solidFill>
                <a:latin typeface="맑은 고딕"/>
                <a:ea typeface="맑은 고딕"/>
                <a:cs typeface="맑은 고딕"/>
              </a:rPr>
              <a:t>물려받은 속성: 번호, 제조사</a:t>
            </a:r>
          </a:p>
          <a:p>
            <a:pPr algn="ctr">
              <a:lnSpc>
                <a:spcPct val="110000"/>
              </a:lnSpc>
              <a:spcAft>
                <a:spcPts val="100"/>
              </a:spcAft>
            </a:pPr>
            <a:r>
              <a:rPr sz="1300" b="0">
                <a:solidFill>
                  <a:srgbClr val="556175"/>
                </a:solidFill>
                <a:latin typeface="맑은 고딕"/>
                <a:ea typeface="맑은 고딕"/>
                <a:cs typeface="맑은 고딕"/>
              </a:rPr>
              <a:t>더한 속성: 적재량</a:t>
            </a:r>
          </a:p>
        </p:txBody>
      </p:sp>
      <p:sp>
        <p:nvSpPr>
          <p:cNvPr id="12" name="TextBox 11"/>
          <p:cNvSpPr txBox="1"/>
          <p:nvPr/>
        </p:nvSpPr>
        <p:spPr>
          <a:xfrm>
            <a:off x="8135923" y="4795022"/>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버스</a:t>
            </a:r>
          </a:p>
          <a:p>
            <a:pPr algn="ctr">
              <a:lnSpc>
                <a:spcPct val="110000"/>
              </a:lnSpc>
              <a:spcAft>
                <a:spcPts val="100"/>
              </a:spcAft>
            </a:pPr>
            <a:r>
              <a:rPr sz="1300" b="0">
                <a:solidFill>
                  <a:srgbClr val="556175"/>
                </a:solidFill>
                <a:latin typeface="맑은 고딕"/>
                <a:ea typeface="맑은 고딕"/>
                <a:cs typeface="맑은 고딕"/>
              </a:rPr>
              <a:t>차량의 하위 클래스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상속의 실제 예: 흐름 노드와 작업</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HYD 온톨로지에서 작업(Task)은 흐름 노드(FlowNode)의 속성을 상속하고 taskType을 더한다.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20</a:t>
            </a:r>
          </a:p>
        </p:txBody>
      </p:sp>
      <p:pic>
        <p:nvPicPr>
          <p:cNvPr id="6" name="삽화:상속_하위.svg" descr="illust_7335484575406167998_179171724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4568518" y="2194925"/>
            <a:ext cx="305465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FlowNode · 흐름 노드</a:t>
            </a:r>
          </a:p>
          <a:p>
            <a:pPr algn="ctr">
              <a:lnSpc>
                <a:spcPct val="110000"/>
              </a:lnSpc>
              <a:spcAft>
                <a:spcPts val="100"/>
              </a:spcAft>
            </a:pPr>
            <a:r>
              <a:rPr sz="1300" b="0">
                <a:solidFill>
                  <a:srgbClr val="556175"/>
                </a:solidFill>
                <a:latin typeface="맑은 고딕"/>
                <a:ea typeface="맑은 고딕"/>
                <a:cs typeface="맑은 고딕"/>
              </a:rPr>
              <a:t>속성: id, name</a:t>
            </a:r>
          </a:p>
        </p:txBody>
      </p:sp>
      <p:sp>
        <p:nvSpPr>
          <p:cNvPr id="8" name="TextBox 7"/>
          <p:cNvSpPr txBox="1"/>
          <p:nvPr/>
        </p:nvSpPr>
        <p:spPr>
          <a:xfrm>
            <a:off x="1219303" y="4936845"/>
            <a:ext cx="283646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Event · 이벤트</a:t>
            </a:r>
          </a:p>
        </p:txBody>
      </p:sp>
      <p:sp>
        <p:nvSpPr>
          <p:cNvPr id="9" name="TextBox 8"/>
          <p:cNvSpPr txBox="1"/>
          <p:nvPr/>
        </p:nvSpPr>
        <p:spPr>
          <a:xfrm>
            <a:off x="4623065" y="4700473"/>
            <a:ext cx="2945563"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Task · 작업</a:t>
            </a:r>
          </a:p>
          <a:p>
            <a:pPr algn="ctr">
              <a:lnSpc>
                <a:spcPct val="110000"/>
              </a:lnSpc>
              <a:spcAft>
                <a:spcPts val="100"/>
              </a:spcAft>
            </a:pPr>
            <a:r>
              <a:rPr sz="1300" b="0">
                <a:solidFill>
                  <a:srgbClr val="556175"/>
                </a:solidFill>
                <a:latin typeface="맑은 고딕"/>
                <a:ea typeface="맑은 고딕"/>
                <a:cs typeface="맑은 고딕"/>
              </a:rPr>
              <a:t>물려받은 속성: id, name</a:t>
            </a:r>
          </a:p>
          <a:p>
            <a:pPr algn="ctr">
              <a:lnSpc>
                <a:spcPct val="110000"/>
              </a:lnSpc>
              <a:spcAft>
                <a:spcPts val="100"/>
              </a:spcAft>
            </a:pPr>
            <a:r>
              <a:rPr sz="1300" b="0">
                <a:solidFill>
                  <a:srgbClr val="556175"/>
                </a:solidFill>
                <a:latin typeface="맑은 고딕"/>
                <a:ea typeface="맑은 고딕"/>
                <a:cs typeface="맑은 고딕"/>
              </a:rPr>
              <a:t>더한 속성: taskType</a:t>
            </a:r>
          </a:p>
        </p:txBody>
      </p:sp>
      <p:sp>
        <p:nvSpPr>
          <p:cNvPr id="10" name="TextBox 9"/>
          <p:cNvSpPr txBox="1"/>
          <p:nvPr/>
        </p:nvSpPr>
        <p:spPr>
          <a:xfrm>
            <a:off x="8135923" y="4936845"/>
            <a:ext cx="283646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Gateway · 게이트웨이</a:t>
            </a:r>
          </a:p>
        </p:txBody>
      </p:sp>
      <p:sp>
        <p:nvSpPr>
          <p:cNvPr id="11" name="TextBox 10"/>
          <p:cNvSpPr txBox="1"/>
          <p:nvPr/>
        </p:nvSpPr>
        <p:spPr>
          <a:xfrm>
            <a:off x="2822999" y="5811423"/>
            <a:ext cx="6545697"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「규정 검토」 작업</a:t>
            </a:r>
          </a:p>
          <a:p>
            <a:pPr algn="ctr">
              <a:lnSpc>
                <a:spcPct val="110000"/>
              </a:lnSpc>
              <a:spcAft>
                <a:spcPts val="100"/>
              </a:spcAft>
            </a:pPr>
            <a:r>
              <a:rPr sz="1300" b="0">
                <a:solidFill>
                  <a:srgbClr val="556175"/>
                </a:solidFill>
                <a:latin typeface="맑은 고딕"/>
                <a:ea typeface="맑은 고딕"/>
                <a:cs typeface="맑은 고딕"/>
              </a:rPr>
              <a:t>Task의 인스턴스이며 FlowNode의 인스턴스이기도 하다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데이터 속성과 객체 간 관계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속성은 값에서 끝나고, 관계는 다른 인스턴스로 이어져 질의가 다음 대상으로 넘어가는 길이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21</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forms" descr="forms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데이터 속성</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인스턴스에 값을 붙인다</a:t>
            </a:r>
          </a:p>
          <a:p>
            <a:pPr algn="l">
              <a:lnSpc>
                <a:spcPct val="110000"/>
              </a:lnSpc>
              <a:spcAft>
                <a:spcPts val="600"/>
              </a:spcAft>
            </a:pPr>
            <a:r>
              <a:rPr sz="1450" b="0">
                <a:solidFill>
                  <a:srgbClr val="1F2A3A"/>
                </a:solidFill>
                <a:latin typeface="맑은 고딕"/>
                <a:ea typeface="맑은 고딕"/>
                <a:cs typeface="맑은 고딕"/>
              </a:rPr>
              <a:t>• 유온 센서의 tag는 「TS1」이다</a:t>
            </a:r>
          </a:p>
          <a:p>
            <a:pPr algn="l">
              <a:lnSpc>
                <a:spcPct val="110000"/>
              </a:lnSpc>
              <a:spcAft>
                <a:spcPts val="600"/>
              </a:spcAft>
            </a:pPr>
            <a:r>
              <a:rPr sz="1450" b="0">
                <a:solidFill>
                  <a:srgbClr val="1F2A3A"/>
                </a:solidFill>
                <a:latin typeface="맑은 고딕"/>
                <a:ea typeface="맑은 고딕"/>
                <a:cs typeface="맑은 고딕"/>
              </a:rPr>
              <a:t>• 값에서 더 따라갈 곳이 없다</a:t>
            </a:r>
          </a:p>
        </p:txBody>
      </p:sp>
      <p:sp>
        <p:nvSpPr>
          <p:cNvPr id="11" name="Rounded Rectangle 10"/>
          <p:cNvSpPr/>
          <p:nvPr/>
        </p:nvSpPr>
        <p:spPr>
          <a:xfrm>
            <a:off x="868680" y="4945570"/>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인스턴스 → 값</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arrows-right" descr="arrows-right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객체 간 관계</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인스턴스를 다른 인스턴스에 잇는다</a:t>
            </a:r>
          </a:p>
          <a:p>
            <a:pPr algn="l">
              <a:lnSpc>
                <a:spcPct val="110000"/>
              </a:lnSpc>
              <a:spcAft>
                <a:spcPts val="600"/>
              </a:spcAft>
            </a:pPr>
            <a:r>
              <a:rPr sz="1450" b="0">
                <a:solidFill>
                  <a:srgbClr val="1F2A3A"/>
                </a:solidFill>
                <a:latin typeface="맑은 고딕"/>
                <a:ea typeface="맑은 고딕"/>
                <a:cs typeface="맑은 고딕"/>
              </a:rPr>
              <a:t>• 유온 센서는 유온을 읽는다</a:t>
            </a:r>
          </a:p>
          <a:p>
            <a:pPr algn="l">
              <a:lnSpc>
                <a:spcPct val="110000"/>
              </a:lnSpc>
              <a:spcAft>
                <a:spcPts val="600"/>
              </a:spcAft>
            </a:pPr>
            <a:r>
              <a:rPr sz="1450" b="0">
                <a:solidFill>
                  <a:srgbClr val="1F2A3A"/>
                </a:solidFill>
                <a:latin typeface="맑은 고딕"/>
                <a:ea typeface="맑은 고딕"/>
                <a:cs typeface="맑은 고딕"/>
              </a:rPr>
              <a:t>• 관계를 따라 다음 대상으로 넘어간다</a:t>
            </a:r>
          </a:p>
        </p:txBody>
      </p:sp>
      <p:sp>
        <p:nvSpPr>
          <p:cNvPr id="18" name="Rounded Rectangle 17"/>
          <p:cNvSpPr/>
          <p:nvPr/>
        </p:nvSpPr>
        <p:spPr>
          <a:xfrm>
            <a:off x="6781647" y="4945570"/>
            <a:ext cx="182880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8288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인스턴스 → 인스턴스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유온을 값이 아닌 인스턴스로 두는 까닭</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유온에는 정상값과 한계라는 자기 속성이 있으므로, 값이 아니라 </a:t>
            </a:r>
            <a:r>
              <a:rPr sz="1600" b="1">
                <a:solidFill>
                  <a:srgbClr val="1A6FC4"/>
                </a:solidFill>
                <a:latin typeface="맑은 고딕"/>
                <a:ea typeface="맑은 고딕"/>
                <a:cs typeface="맑은 고딕"/>
              </a:rPr>
              <a:t>인스턴스</a:t>
            </a:r>
            <a:r>
              <a:rPr sz="1600" b="0">
                <a:solidFill>
                  <a:srgbClr val="556175"/>
                </a:solidFill>
                <a:latin typeface="맑은 고딕"/>
                <a:ea typeface="맑은 고딕"/>
                <a:cs typeface="맑은 고딕"/>
              </a:rPr>
              <a:t>로 두고 관계로 잇는다.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22</a:t>
            </a:r>
          </a:p>
        </p:txBody>
      </p:sp>
      <p:sp>
        <p:nvSpPr>
          <p:cNvPr id="6" name="Oval 5"/>
          <p:cNvSpPr/>
          <p:nvPr/>
        </p:nvSpPr>
        <p:spPr>
          <a:xfrm>
            <a:off x="1671486" y="1627632"/>
            <a:ext cx="1737360" cy="1737360"/>
          </a:xfrm>
          <a:prstGeom prst="ellipse">
            <a:avLst/>
          </a:prstGeom>
          <a:solidFill>
            <a:srgbClr val="E7F3FD"/>
          </a:solidFill>
          <a:ln w="25400">
            <a:solidFill>
              <a:srgbClr val="5CB8F2"/>
            </a:solidFill>
          </a:ln>
        </p:spPr>
        <p:txBody>
          <a:bodyPr rtlCol="0" anchor="ctr"/>
          <a:lstStyle/>
          <a:p>
            <a:pPr algn="ctr"/>
          </a:p>
        </p:txBody>
      </p:sp>
      <p:sp>
        <p:nvSpPr>
          <p:cNvPr id="7" name="TextBox 6"/>
          <p:cNvSpPr txBox="1"/>
          <p:nvPr/>
        </p:nvSpPr>
        <p:spPr>
          <a:xfrm>
            <a:off x="1793101" y="1957730"/>
            <a:ext cx="1494129" cy="1077163"/>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오일 쿨러</a:t>
            </a:r>
          </a:p>
          <a:p>
            <a:pPr algn="ctr">
              <a:lnSpc>
                <a:spcPct val="110000"/>
              </a:lnSpc>
            </a:pPr>
            <a:r>
              <a:rPr sz="1100" b="0">
                <a:solidFill>
                  <a:srgbClr val="556175"/>
                </a:solidFill>
                <a:latin typeface="맑은 고딕"/>
                <a:ea typeface="맑은 고딕"/>
                <a:cs typeface="맑은 고딕"/>
              </a:rPr>
              <a:t>Component</a:t>
            </a:r>
          </a:p>
        </p:txBody>
      </p:sp>
      <p:sp>
        <p:nvSpPr>
          <p:cNvPr id="8" name="Oval 7"/>
          <p:cNvSpPr/>
          <p:nvPr/>
        </p:nvSpPr>
        <p:spPr>
          <a:xfrm>
            <a:off x="1671486" y="4617720"/>
            <a:ext cx="1737360" cy="1737360"/>
          </a:xfrm>
          <a:prstGeom prst="ellipse">
            <a:avLst/>
          </a:prstGeom>
          <a:solidFill>
            <a:srgbClr val="E7F3FD"/>
          </a:solidFill>
          <a:ln w="25400">
            <a:solidFill>
              <a:srgbClr val="5CB8F2"/>
            </a:solidFill>
          </a:ln>
        </p:spPr>
        <p:txBody>
          <a:bodyPr rtlCol="0" anchor="ctr"/>
          <a:lstStyle/>
          <a:p>
            <a:pPr algn="ctr"/>
          </a:p>
        </p:txBody>
      </p:sp>
      <p:sp>
        <p:nvSpPr>
          <p:cNvPr id="9" name="TextBox 8"/>
          <p:cNvSpPr txBox="1"/>
          <p:nvPr/>
        </p:nvSpPr>
        <p:spPr>
          <a:xfrm>
            <a:off x="1793101" y="4947818"/>
            <a:ext cx="1494129" cy="1077163"/>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유온 센서</a:t>
            </a:r>
          </a:p>
          <a:p>
            <a:pPr algn="ctr">
              <a:lnSpc>
                <a:spcPct val="110000"/>
              </a:lnSpc>
            </a:pPr>
            <a:r>
              <a:rPr sz="1100" b="0">
                <a:solidFill>
                  <a:srgbClr val="556175"/>
                </a:solidFill>
                <a:latin typeface="맑은 고딕"/>
                <a:ea typeface="맑은 고딕"/>
                <a:cs typeface="맑은 고딕"/>
              </a:rPr>
              <a:t>Sensor</a:t>
            </a:r>
          </a:p>
          <a:p>
            <a:pPr algn="ctr">
              <a:lnSpc>
                <a:spcPct val="110000"/>
              </a:lnSpc>
            </a:pPr>
            <a:r>
              <a:rPr sz="1100" b="0">
                <a:solidFill>
                  <a:srgbClr val="556175"/>
                </a:solidFill>
                <a:latin typeface="맑은 고딕"/>
                <a:ea typeface="맑은 고딕"/>
                <a:cs typeface="맑은 고딕"/>
              </a:rPr>
              <a:t>tag: TS1</a:t>
            </a:r>
          </a:p>
        </p:txBody>
      </p:sp>
      <p:sp>
        <p:nvSpPr>
          <p:cNvPr id="10" name="Oval 9"/>
          <p:cNvSpPr/>
          <p:nvPr/>
        </p:nvSpPr>
        <p:spPr>
          <a:xfrm>
            <a:off x="5227167" y="4617720"/>
            <a:ext cx="1737360" cy="1737360"/>
          </a:xfrm>
          <a:prstGeom prst="ellipse">
            <a:avLst/>
          </a:prstGeom>
          <a:solidFill>
            <a:srgbClr val="5CB8F2"/>
          </a:solidFill>
          <a:ln w="25400">
            <a:solidFill>
              <a:srgbClr val="13294B"/>
            </a:solidFill>
          </a:ln>
        </p:spPr>
        <p:txBody>
          <a:bodyPr rtlCol="0" anchor="ctr"/>
          <a:lstStyle/>
          <a:p>
            <a:pPr algn="ctr"/>
          </a:p>
        </p:txBody>
      </p:sp>
      <p:sp>
        <p:nvSpPr>
          <p:cNvPr id="11" name="TextBox 10"/>
          <p:cNvSpPr txBox="1"/>
          <p:nvPr/>
        </p:nvSpPr>
        <p:spPr>
          <a:xfrm>
            <a:off x="5348782" y="4947818"/>
            <a:ext cx="1494129" cy="1077163"/>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유온</a:t>
            </a:r>
          </a:p>
          <a:p>
            <a:pPr algn="ctr">
              <a:lnSpc>
                <a:spcPct val="110000"/>
              </a:lnSpc>
            </a:pPr>
            <a:r>
              <a:rPr sz="1100" b="0">
                <a:solidFill>
                  <a:srgbClr val="556175"/>
                </a:solidFill>
                <a:latin typeface="맑은 고딕"/>
                <a:ea typeface="맑은 고딕"/>
                <a:cs typeface="맑은 고딕"/>
              </a:rPr>
              <a:t>StateVariable</a:t>
            </a:r>
          </a:p>
          <a:p>
            <a:pPr algn="ctr">
              <a:lnSpc>
                <a:spcPct val="110000"/>
              </a:lnSpc>
            </a:pPr>
            <a:r>
              <a:rPr sz="1100" b="0">
                <a:solidFill>
                  <a:srgbClr val="556175"/>
                </a:solidFill>
                <a:latin typeface="맑은 고딕"/>
                <a:ea typeface="맑은 고딕"/>
                <a:cs typeface="맑은 고딕"/>
              </a:rPr>
              <a:t>normal 48 · limit 65</a:t>
            </a:r>
          </a:p>
        </p:txBody>
      </p:sp>
      <p:cxnSp>
        <p:nvCxnSpPr>
          <p:cNvPr id="12" name="Connector 11"/>
          <p:cNvCxnSpPr/>
          <p:nvPr/>
        </p:nvCxnSpPr>
        <p:spPr>
          <a:xfrm>
            <a:off x="2540166" y="3410712"/>
            <a:ext cx="0" cy="1133856"/>
          </a:xfrm>
          <a:prstGeom prst="line">
            <a:avLst/>
          </a:prstGeom>
          <a:ln w="28575">
            <a:solidFill>
              <a:srgbClr val="13294B"/>
            </a:solidFill>
            <a:tailEnd type="triangle" w="med" len="med"/>
          </a:ln>
        </p:spPr>
      </p:cxnSp>
      <p:sp>
        <p:nvSpPr>
          <p:cNvPr id="13" name="Rounded Rectangle 12"/>
          <p:cNvSpPr/>
          <p:nvPr/>
        </p:nvSpPr>
        <p:spPr>
          <a:xfrm>
            <a:off x="2631606" y="3831335"/>
            <a:ext cx="1539288"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14" name="TextBox 13"/>
          <p:cNvSpPr txBox="1"/>
          <p:nvPr/>
        </p:nvSpPr>
        <p:spPr>
          <a:xfrm>
            <a:off x="2631606" y="3831335"/>
            <a:ext cx="1539288"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MONITORED_BY</a:t>
            </a:r>
          </a:p>
        </p:txBody>
      </p:sp>
      <p:cxnSp>
        <p:nvCxnSpPr>
          <p:cNvPr id="15" name="Connector 14"/>
          <p:cNvCxnSpPr/>
          <p:nvPr/>
        </p:nvCxnSpPr>
        <p:spPr>
          <a:xfrm>
            <a:off x="3454566" y="5486400"/>
            <a:ext cx="1699449" cy="0"/>
          </a:xfrm>
          <a:prstGeom prst="line">
            <a:avLst/>
          </a:prstGeom>
          <a:ln w="28575">
            <a:solidFill>
              <a:srgbClr val="13294B"/>
            </a:solidFill>
            <a:tailEnd type="triangle" w="med" len="med"/>
          </a:ln>
        </p:spPr>
      </p:cxnSp>
      <p:sp>
        <p:nvSpPr>
          <p:cNvPr id="16" name="Rounded Rectangle 15"/>
          <p:cNvSpPr/>
          <p:nvPr/>
        </p:nvSpPr>
        <p:spPr>
          <a:xfrm>
            <a:off x="3739730" y="5120640"/>
            <a:ext cx="1129121"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17" name="TextBox 16"/>
          <p:cNvSpPr txBox="1"/>
          <p:nvPr/>
        </p:nvSpPr>
        <p:spPr>
          <a:xfrm>
            <a:off x="3739730" y="5120640"/>
            <a:ext cx="1129121"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OBSERVES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값과 인스턴스를 가르는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자기 속성을 갖거나 다른 대상과 관계를 맺는 것은 인스턴스로 두고, 값 하나로 끝나는 것은 속성값으로 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23</a:t>
            </a:r>
          </a:p>
        </p:txBody>
      </p:sp>
      <p:sp>
        <p:nvSpPr>
          <p:cNvPr id="6" name="Oval 5"/>
          <p:cNvSpPr/>
          <p:nvPr/>
        </p:nvSpPr>
        <p:spPr>
          <a:xfrm>
            <a:off x="1671486" y="4617720"/>
            <a:ext cx="1737360" cy="1737360"/>
          </a:xfrm>
          <a:prstGeom prst="ellipse">
            <a:avLst/>
          </a:prstGeom>
          <a:solidFill>
            <a:srgbClr val="E7F3FD"/>
          </a:solidFill>
          <a:ln w="25400">
            <a:solidFill>
              <a:srgbClr val="5CB8F2"/>
            </a:solidFill>
          </a:ln>
        </p:spPr>
        <p:txBody>
          <a:bodyPr rtlCol="0" anchor="ctr"/>
          <a:lstStyle/>
          <a:p>
            <a:pPr algn="ctr"/>
          </a:p>
        </p:txBody>
      </p:sp>
      <p:sp>
        <p:nvSpPr>
          <p:cNvPr id="7" name="TextBox 6"/>
          <p:cNvSpPr txBox="1"/>
          <p:nvPr/>
        </p:nvSpPr>
        <p:spPr>
          <a:xfrm>
            <a:off x="1793101" y="4947818"/>
            <a:ext cx="1494129" cy="1077163"/>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유온 센서</a:t>
            </a:r>
          </a:p>
          <a:p>
            <a:pPr algn="ctr">
              <a:lnSpc>
                <a:spcPct val="110000"/>
              </a:lnSpc>
            </a:pPr>
            <a:r>
              <a:rPr sz="1100" b="0">
                <a:solidFill>
                  <a:srgbClr val="556175"/>
                </a:solidFill>
                <a:latin typeface="맑은 고딕"/>
                <a:ea typeface="맑은 고딕"/>
                <a:cs typeface="맑은 고딕"/>
              </a:rPr>
              <a:t>Sensor</a:t>
            </a:r>
          </a:p>
          <a:p>
            <a:pPr algn="ctr">
              <a:lnSpc>
                <a:spcPct val="110000"/>
              </a:lnSpc>
            </a:pPr>
            <a:r>
              <a:rPr sz="1100" b="0">
                <a:solidFill>
                  <a:srgbClr val="556175"/>
                </a:solidFill>
                <a:latin typeface="맑은 고딕"/>
                <a:ea typeface="맑은 고딕"/>
                <a:cs typeface="맑은 고딕"/>
              </a:rPr>
              <a:t>tag: TS1</a:t>
            </a:r>
          </a:p>
        </p:txBody>
      </p:sp>
      <p:sp>
        <p:nvSpPr>
          <p:cNvPr id="8" name="Oval 7"/>
          <p:cNvSpPr/>
          <p:nvPr/>
        </p:nvSpPr>
        <p:spPr>
          <a:xfrm>
            <a:off x="5227167" y="4617720"/>
            <a:ext cx="1737360" cy="1737360"/>
          </a:xfrm>
          <a:prstGeom prst="ellipse">
            <a:avLst/>
          </a:prstGeom>
          <a:solidFill>
            <a:srgbClr val="5CB8F2"/>
          </a:solidFill>
          <a:ln w="25400">
            <a:solidFill>
              <a:srgbClr val="13294B"/>
            </a:solidFill>
          </a:ln>
        </p:spPr>
        <p:txBody>
          <a:bodyPr rtlCol="0" anchor="ctr"/>
          <a:lstStyle/>
          <a:p>
            <a:pPr algn="ctr"/>
          </a:p>
        </p:txBody>
      </p:sp>
      <p:sp>
        <p:nvSpPr>
          <p:cNvPr id="9" name="TextBox 8"/>
          <p:cNvSpPr txBox="1"/>
          <p:nvPr/>
        </p:nvSpPr>
        <p:spPr>
          <a:xfrm>
            <a:off x="5348782" y="4947818"/>
            <a:ext cx="1494129" cy="1077163"/>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유온</a:t>
            </a:r>
          </a:p>
          <a:p>
            <a:pPr algn="ctr">
              <a:lnSpc>
                <a:spcPct val="110000"/>
              </a:lnSpc>
            </a:pPr>
            <a:r>
              <a:rPr sz="1100" b="0">
                <a:solidFill>
                  <a:srgbClr val="556175"/>
                </a:solidFill>
                <a:latin typeface="맑은 고딕"/>
                <a:ea typeface="맑은 고딕"/>
                <a:cs typeface="맑은 고딕"/>
              </a:rPr>
              <a:t>StateVariable</a:t>
            </a:r>
          </a:p>
          <a:p>
            <a:pPr algn="ctr">
              <a:lnSpc>
                <a:spcPct val="110000"/>
              </a:lnSpc>
            </a:pPr>
            <a:r>
              <a:rPr sz="1100" b="0">
                <a:solidFill>
                  <a:srgbClr val="556175"/>
                </a:solidFill>
                <a:latin typeface="맑은 고딕"/>
                <a:ea typeface="맑은 고딕"/>
                <a:cs typeface="맑은 고딕"/>
              </a:rPr>
              <a:t>normal 48 · limit 65</a:t>
            </a:r>
          </a:p>
        </p:txBody>
      </p:sp>
      <p:sp>
        <p:nvSpPr>
          <p:cNvPr id="10" name="Oval 9"/>
          <p:cNvSpPr/>
          <p:nvPr/>
        </p:nvSpPr>
        <p:spPr>
          <a:xfrm>
            <a:off x="8782848" y="4617720"/>
            <a:ext cx="1737360" cy="1737360"/>
          </a:xfrm>
          <a:prstGeom prst="ellipse">
            <a:avLst/>
          </a:prstGeom>
          <a:solidFill>
            <a:srgbClr val="E7F3FD"/>
          </a:solidFill>
          <a:ln w="25400">
            <a:solidFill>
              <a:srgbClr val="5CB8F2"/>
            </a:solidFill>
          </a:ln>
        </p:spPr>
        <p:txBody>
          <a:bodyPr rtlCol="0" anchor="ctr"/>
          <a:lstStyle/>
          <a:p>
            <a:pPr algn="ctr"/>
          </a:p>
        </p:txBody>
      </p:sp>
      <p:sp>
        <p:nvSpPr>
          <p:cNvPr id="11" name="TextBox 10"/>
          <p:cNvSpPr txBox="1"/>
          <p:nvPr/>
        </p:nvSpPr>
        <p:spPr>
          <a:xfrm>
            <a:off x="8904463" y="4947818"/>
            <a:ext cx="1494129" cy="1077163"/>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팬 속도</a:t>
            </a:r>
          </a:p>
          <a:p>
            <a:pPr algn="ctr">
              <a:lnSpc>
                <a:spcPct val="110000"/>
              </a:lnSpc>
            </a:pPr>
            <a:r>
              <a:rPr sz="1100" b="0">
                <a:solidFill>
                  <a:srgbClr val="556175"/>
                </a:solidFill>
                <a:latin typeface="맑은 고딕"/>
                <a:ea typeface="맑은 고딕"/>
                <a:cs typeface="맑은 고딕"/>
              </a:rPr>
              <a:t>StateVariable</a:t>
            </a:r>
          </a:p>
          <a:p>
            <a:pPr algn="ctr">
              <a:lnSpc>
                <a:spcPct val="110000"/>
              </a:lnSpc>
            </a:pPr>
            <a:r>
              <a:rPr sz="1100" b="0">
                <a:solidFill>
                  <a:srgbClr val="556175"/>
                </a:solidFill>
                <a:latin typeface="맑은 고딕"/>
                <a:ea typeface="맑은 고딕"/>
                <a:cs typeface="맑은 고딕"/>
              </a:rPr>
              <a:t>normal 60</a:t>
            </a:r>
          </a:p>
        </p:txBody>
      </p:sp>
      <p:sp>
        <p:nvSpPr>
          <p:cNvPr id="12" name="Oval 11"/>
          <p:cNvSpPr/>
          <p:nvPr/>
        </p:nvSpPr>
        <p:spPr>
          <a:xfrm>
            <a:off x="8782848" y="1627632"/>
            <a:ext cx="1737360" cy="1737360"/>
          </a:xfrm>
          <a:prstGeom prst="ellipse">
            <a:avLst/>
          </a:prstGeom>
          <a:solidFill>
            <a:srgbClr val="E7F3FD"/>
          </a:solidFill>
          <a:ln w="25400">
            <a:solidFill>
              <a:srgbClr val="5CB8F2"/>
            </a:solidFill>
          </a:ln>
        </p:spPr>
        <p:txBody>
          <a:bodyPr rtlCol="0" anchor="ctr"/>
          <a:lstStyle/>
          <a:p>
            <a:pPr algn="ctr"/>
          </a:p>
        </p:txBody>
      </p:sp>
      <p:sp>
        <p:nvSpPr>
          <p:cNvPr id="13" name="TextBox 12"/>
          <p:cNvSpPr txBox="1"/>
          <p:nvPr/>
        </p:nvSpPr>
        <p:spPr>
          <a:xfrm>
            <a:off x="8904463" y="1957730"/>
            <a:ext cx="1494129" cy="1077163"/>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팬 인버터</a:t>
            </a:r>
          </a:p>
          <a:p>
            <a:pPr algn="ctr">
              <a:lnSpc>
                <a:spcPct val="110000"/>
              </a:lnSpc>
            </a:pPr>
            <a:r>
              <a:rPr sz="1100" b="0">
                <a:solidFill>
                  <a:srgbClr val="556175"/>
                </a:solidFill>
                <a:latin typeface="맑은 고딕"/>
                <a:ea typeface="맑은 고딕"/>
                <a:cs typeface="맑은 고딕"/>
              </a:rPr>
              <a:t>Actuator</a:t>
            </a:r>
          </a:p>
        </p:txBody>
      </p:sp>
      <p:sp>
        <p:nvSpPr>
          <p:cNvPr id="14" name="Oval 13"/>
          <p:cNvSpPr/>
          <p:nvPr/>
        </p:nvSpPr>
        <p:spPr>
          <a:xfrm>
            <a:off x="1671486" y="1627632"/>
            <a:ext cx="1737360" cy="1737360"/>
          </a:xfrm>
          <a:prstGeom prst="ellipse">
            <a:avLst/>
          </a:prstGeom>
          <a:solidFill>
            <a:srgbClr val="E7F3FD"/>
          </a:solidFill>
          <a:ln w="25400">
            <a:solidFill>
              <a:srgbClr val="5CB8F2"/>
            </a:solidFill>
          </a:ln>
        </p:spPr>
        <p:txBody>
          <a:bodyPr rtlCol="0" anchor="ctr"/>
          <a:lstStyle/>
          <a:p>
            <a:pPr algn="ctr"/>
          </a:p>
        </p:txBody>
      </p:sp>
      <p:sp>
        <p:nvSpPr>
          <p:cNvPr id="15" name="TextBox 14"/>
          <p:cNvSpPr txBox="1"/>
          <p:nvPr/>
        </p:nvSpPr>
        <p:spPr>
          <a:xfrm>
            <a:off x="1793101" y="1957730"/>
            <a:ext cx="1494129" cy="1077163"/>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오일 쿨러</a:t>
            </a:r>
          </a:p>
          <a:p>
            <a:pPr algn="ctr">
              <a:lnSpc>
                <a:spcPct val="110000"/>
              </a:lnSpc>
            </a:pPr>
            <a:r>
              <a:rPr sz="1100" b="0">
                <a:solidFill>
                  <a:srgbClr val="556175"/>
                </a:solidFill>
                <a:latin typeface="맑은 고딕"/>
                <a:ea typeface="맑은 고딕"/>
                <a:cs typeface="맑은 고딕"/>
              </a:rPr>
              <a:t>Component</a:t>
            </a:r>
          </a:p>
        </p:txBody>
      </p:sp>
      <p:cxnSp>
        <p:nvCxnSpPr>
          <p:cNvPr id="16" name="Connector 15"/>
          <p:cNvCxnSpPr/>
          <p:nvPr/>
        </p:nvCxnSpPr>
        <p:spPr>
          <a:xfrm>
            <a:off x="2540166" y="3410712"/>
            <a:ext cx="0" cy="1133856"/>
          </a:xfrm>
          <a:prstGeom prst="line">
            <a:avLst/>
          </a:prstGeom>
          <a:ln w="28575">
            <a:solidFill>
              <a:srgbClr val="13294B"/>
            </a:solidFill>
            <a:tailEnd type="triangle" w="med" len="med"/>
          </a:ln>
        </p:spPr>
      </p:cxnSp>
      <p:sp>
        <p:nvSpPr>
          <p:cNvPr id="17" name="Rounded Rectangle 16"/>
          <p:cNvSpPr/>
          <p:nvPr/>
        </p:nvSpPr>
        <p:spPr>
          <a:xfrm>
            <a:off x="2631606" y="3831335"/>
            <a:ext cx="1539288"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18" name="TextBox 17"/>
          <p:cNvSpPr txBox="1"/>
          <p:nvPr/>
        </p:nvSpPr>
        <p:spPr>
          <a:xfrm>
            <a:off x="2631606" y="3831335"/>
            <a:ext cx="1539288"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MONITORED_BY</a:t>
            </a:r>
          </a:p>
        </p:txBody>
      </p:sp>
      <p:cxnSp>
        <p:nvCxnSpPr>
          <p:cNvPr id="19" name="Connector 18"/>
          <p:cNvCxnSpPr/>
          <p:nvPr/>
        </p:nvCxnSpPr>
        <p:spPr>
          <a:xfrm>
            <a:off x="3454566" y="5486400"/>
            <a:ext cx="1699449" cy="0"/>
          </a:xfrm>
          <a:prstGeom prst="line">
            <a:avLst/>
          </a:prstGeom>
          <a:ln w="28575">
            <a:solidFill>
              <a:srgbClr val="13294B"/>
            </a:solidFill>
            <a:tailEnd type="triangle" w="med" len="med"/>
          </a:ln>
        </p:spPr>
      </p:cxnSp>
      <p:sp>
        <p:nvSpPr>
          <p:cNvPr id="20" name="Rounded Rectangle 19"/>
          <p:cNvSpPr/>
          <p:nvPr/>
        </p:nvSpPr>
        <p:spPr>
          <a:xfrm>
            <a:off x="3739730" y="5120640"/>
            <a:ext cx="1129121"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1" name="TextBox 20"/>
          <p:cNvSpPr txBox="1"/>
          <p:nvPr/>
        </p:nvSpPr>
        <p:spPr>
          <a:xfrm>
            <a:off x="3739730" y="5120640"/>
            <a:ext cx="1129121"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OBSERVES</a:t>
            </a:r>
          </a:p>
        </p:txBody>
      </p:sp>
      <p:cxnSp>
        <p:nvCxnSpPr>
          <p:cNvPr id="22" name="Connector 21"/>
          <p:cNvCxnSpPr/>
          <p:nvPr/>
        </p:nvCxnSpPr>
        <p:spPr>
          <a:xfrm flipH="1">
            <a:off x="7037679" y="5486400"/>
            <a:ext cx="1699449" cy="0"/>
          </a:xfrm>
          <a:prstGeom prst="line">
            <a:avLst/>
          </a:prstGeom>
          <a:ln w="28575">
            <a:solidFill>
              <a:srgbClr val="13294B"/>
            </a:solidFill>
            <a:tailEnd type="triangle" w="med" len="med"/>
          </a:ln>
        </p:spPr>
      </p:cxnSp>
      <p:sp>
        <p:nvSpPr>
          <p:cNvPr id="23" name="Rounded Rectangle 22"/>
          <p:cNvSpPr/>
          <p:nvPr/>
        </p:nvSpPr>
        <p:spPr>
          <a:xfrm>
            <a:off x="7215993" y="5120640"/>
            <a:ext cx="1342821"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4" name="TextBox 23"/>
          <p:cNvSpPr txBox="1"/>
          <p:nvPr/>
        </p:nvSpPr>
        <p:spPr>
          <a:xfrm>
            <a:off x="7215993" y="5120640"/>
            <a:ext cx="1342821"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INFLUENCES</a:t>
            </a:r>
          </a:p>
        </p:txBody>
      </p:sp>
      <p:cxnSp>
        <p:nvCxnSpPr>
          <p:cNvPr id="25" name="Connector 24"/>
          <p:cNvCxnSpPr/>
          <p:nvPr/>
        </p:nvCxnSpPr>
        <p:spPr>
          <a:xfrm>
            <a:off x="9651528" y="3410712"/>
            <a:ext cx="0" cy="1133856"/>
          </a:xfrm>
          <a:prstGeom prst="line">
            <a:avLst/>
          </a:prstGeom>
          <a:ln w="28575">
            <a:solidFill>
              <a:srgbClr val="13294B"/>
            </a:solidFill>
            <a:tailEnd type="triangle" w="med" len="med"/>
          </a:ln>
        </p:spPr>
      </p:cxnSp>
      <p:sp>
        <p:nvSpPr>
          <p:cNvPr id="26" name="Rounded Rectangle 25"/>
          <p:cNvSpPr/>
          <p:nvPr/>
        </p:nvSpPr>
        <p:spPr>
          <a:xfrm>
            <a:off x="9742968" y="3831335"/>
            <a:ext cx="1449671"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7" name="TextBox 26"/>
          <p:cNvSpPr txBox="1"/>
          <p:nvPr/>
        </p:nvSpPr>
        <p:spPr>
          <a:xfrm>
            <a:off x="9742968" y="3831335"/>
            <a:ext cx="1449671"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MANIPULATES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 유형과 두 층: 클래스 층, 인스턴스 층</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1">
                <a:solidFill>
                  <a:srgbClr val="1A6FC4"/>
                </a:solidFill>
                <a:latin typeface="맑은 고딕"/>
                <a:ea typeface="맑은 고딕"/>
                <a:cs typeface="맑은 고딕"/>
              </a:rPr>
              <a:t>관계 유형</a:t>
            </a:r>
            <a:r>
              <a:rPr sz="1600" b="0">
                <a:solidFill>
                  <a:srgbClr val="556175"/>
                </a:solidFill>
                <a:latin typeface="맑은 고딕"/>
                <a:ea typeface="맑은 고딕"/>
                <a:cs typeface="맑은 고딕"/>
              </a:rPr>
              <a:t>은 클래스 사이에 정의하고, 인스턴스 사이의 실제 관계는 그 정의에 맞추어 놓인다.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24</a:t>
            </a:r>
          </a:p>
        </p:txBody>
      </p:sp>
      <p:pic>
        <p:nvPicPr>
          <p:cNvPr id="6" name="삽화:두층_3.svg" descr="illust_7498382981983106401_179171724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3913948" y="1651269"/>
            <a:ext cx="6545697" cy="507618"/>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관계 유형</a:t>
            </a:r>
          </a:p>
          <a:p>
            <a:pPr algn="ctr">
              <a:lnSpc>
                <a:spcPct val="110000"/>
              </a:lnSpc>
              <a:spcAft>
                <a:spcPts val="100"/>
              </a:spcAft>
            </a:pPr>
            <a:r>
              <a:rPr sz="1100" b="0">
                <a:solidFill>
                  <a:srgbClr val="556175"/>
                </a:solidFill>
                <a:latin typeface="맑은 고딕"/>
                <a:ea typeface="맑은 고딕"/>
                <a:cs typeface="맑은 고딕"/>
              </a:rPr>
              <a:t>이름과 방향, 시작 클래스와 끝 클래스로 정의한다</a:t>
            </a:r>
          </a:p>
        </p:txBody>
      </p:sp>
      <p:sp>
        <p:nvSpPr>
          <p:cNvPr id="8" name="TextBox 7"/>
          <p:cNvSpPr txBox="1"/>
          <p:nvPr/>
        </p:nvSpPr>
        <p:spPr>
          <a:xfrm>
            <a:off x="804742" y="2573121"/>
            <a:ext cx="185461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클래스와 관계 유형</a:t>
            </a:r>
          </a:p>
          <a:p>
            <a:pPr algn="ctr">
              <a:lnSpc>
                <a:spcPct val="110000"/>
              </a:lnSpc>
              <a:spcAft>
                <a:spcPts val="100"/>
              </a:spcAft>
            </a:pPr>
            <a:r>
              <a:rPr sz="1100" b="0">
                <a:solidFill>
                  <a:srgbClr val="556175"/>
                </a:solidFill>
                <a:latin typeface="맑은 고딕"/>
                <a:ea typeface="맑은 고딕"/>
                <a:cs typeface="맑은 고딕"/>
              </a:rPr>
              <a:t>무엇이 무엇에</a:t>
            </a:r>
          </a:p>
          <a:p>
            <a:pPr algn="ctr">
              <a:lnSpc>
                <a:spcPct val="110000"/>
              </a:lnSpc>
              <a:spcAft>
                <a:spcPts val="100"/>
              </a:spcAft>
            </a:pPr>
            <a:r>
              <a:rPr sz="1100" b="0">
                <a:solidFill>
                  <a:srgbClr val="556175"/>
                </a:solidFill>
                <a:latin typeface="맑은 고딕"/>
                <a:ea typeface="맑은 고딕"/>
                <a:cs typeface="맑은 고딕"/>
              </a:rPr>
              <a:t>이어질 수 있는가</a:t>
            </a:r>
          </a:p>
        </p:txBody>
      </p:sp>
      <p:sp>
        <p:nvSpPr>
          <p:cNvPr id="9" name="TextBox 8"/>
          <p:cNvSpPr txBox="1"/>
          <p:nvPr/>
        </p:nvSpPr>
        <p:spPr>
          <a:xfrm>
            <a:off x="2986641" y="2762219"/>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Asset</a:t>
            </a:r>
          </a:p>
          <a:p>
            <a:pPr algn="ctr">
              <a:lnSpc>
                <a:spcPct val="110000"/>
              </a:lnSpc>
              <a:spcAft>
                <a:spcPts val="100"/>
              </a:spcAft>
            </a:pPr>
            <a:r>
              <a:rPr sz="1100" b="0">
                <a:solidFill>
                  <a:srgbClr val="556175"/>
                </a:solidFill>
                <a:latin typeface="맑은 고딕"/>
                <a:ea typeface="맑은 고딕"/>
                <a:cs typeface="맑은 고딕"/>
              </a:rPr>
              <a:t>설비</a:t>
            </a:r>
          </a:p>
        </p:txBody>
      </p:sp>
      <p:sp>
        <p:nvSpPr>
          <p:cNvPr id="10" name="TextBox 9"/>
          <p:cNvSpPr txBox="1"/>
          <p:nvPr/>
        </p:nvSpPr>
        <p:spPr>
          <a:xfrm>
            <a:off x="5354001" y="2762219"/>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Component</a:t>
            </a:r>
          </a:p>
          <a:p>
            <a:pPr algn="ctr">
              <a:lnSpc>
                <a:spcPct val="110000"/>
              </a:lnSpc>
              <a:spcAft>
                <a:spcPts val="100"/>
              </a:spcAft>
            </a:pPr>
            <a:r>
              <a:rPr sz="1100" b="0">
                <a:solidFill>
                  <a:srgbClr val="556175"/>
                </a:solidFill>
                <a:latin typeface="맑은 고딕"/>
                <a:ea typeface="맑은 고딕"/>
                <a:cs typeface="맑은 고딕"/>
              </a:rPr>
              <a:t>구성 요소</a:t>
            </a:r>
          </a:p>
        </p:txBody>
      </p:sp>
      <p:sp>
        <p:nvSpPr>
          <p:cNvPr id="11" name="TextBox 10"/>
          <p:cNvSpPr txBox="1"/>
          <p:nvPr/>
        </p:nvSpPr>
        <p:spPr>
          <a:xfrm>
            <a:off x="7710452" y="2762219"/>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Sensor</a:t>
            </a:r>
          </a:p>
          <a:p>
            <a:pPr algn="ctr">
              <a:lnSpc>
                <a:spcPct val="110000"/>
              </a:lnSpc>
              <a:spcAft>
                <a:spcPts val="100"/>
              </a:spcAft>
            </a:pPr>
            <a:r>
              <a:rPr sz="1100" b="0">
                <a:solidFill>
                  <a:srgbClr val="556175"/>
                </a:solidFill>
                <a:latin typeface="맑은 고딕"/>
                <a:ea typeface="맑은 고딕"/>
                <a:cs typeface="맑은 고딕"/>
              </a:rPr>
              <a:t>센서</a:t>
            </a:r>
          </a:p>
        </p:txBody>
      </p:sp>
      <p:sp>
        <p:nvSpPr>
          <p:cNvPr id="12" name="TextBox 11"/>
          <p:cNvSpPr txBox="1"/>
          <p:nvPr/>
        </p:nvSpPr>
        <p:spPr>
          <a:xfrm>
            <a:off x="10077813" y="2762219"/>
            <a:ext cx="1309139" cy="71678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StateVariable</a:t>
            </a:r>
          </a:p>
          <a:p>
            <a:pPr algn="ctr">
              <a:lnSpc>
                <a:spcPct val="110000"/>
              </a:lnSpc>
              <a:spcAft>
                <a:spcPts val="100"/>
              </a:spcAft>
            </a:pPr>
            <a:r>
              <a:rPr sz="1100" b="0">
                <a:solidFill>
                  <a:srgbClr val="556175"/>
                </a:solidFill>
                <a:latin typeface="맑은 고딕"/>
                <a:ea typeface="맑은 고딕"/>
                <a:cs typeface="맑은 고딕"/>
              </a:rPr>
              <a:t>상태 변수</a:t>
            </a:r>
          </a:p>
        </p:txBody>
      </p:sp>
      <p:sp>
        <p:nvSpPr>
          <p:cNvPr id="13" name="TextBox 12"/>
          <p:cNvSpPr txBox="1"/>
          <p:nvPr/>
        </p:nvSpPr>
        <p:spPr>
          <a:xfrm>
            <a:off x="3783034" y="2251655"/>
            <a:ext cx="207280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HAS_COMPONENT</a:t>
            </a:r>
          </a:p>
        </p:txBody>
      </p:sp>
      <p:sp>
        <p:nvSpPr>
          <p:cNvPr id="14" name="TextBox 13"/>
          <p:cNvSpPr txBox="1"/>
          <p:nvPr/>
        </p:nvSpPr>
        <p:spPr>
          <a:xfrm>
            <a:off x="6368584" y="2251655"/>
            <a:ext cx="163642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MONITORED_BY</a:t>
            </a:r>
          </a:p>
        </p:txBody>
      </p:sp>
      <p:sp>
        <p:nvSpPr>
          <p:cNvPr id="15" name="TextBox 14"/>
          <p:cNvSpPr txBox="1"/>
          <p:nvPr/>
        </p:nvSpPr>
        <p:spPr>
          <a:xfrm>
            <a:off x="8735945" y="2251655"/>
            <a:ext cx="163642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OBSERVES</a:t>
            </a:r>
          </a:p>
        </p:txBody>
      </p:sp>
      <p:sp>
        <p:nvSpPr>
          <p:cNvPr id="16" name="TextBox 15"/>
          <p:cNvSpPr txBox="1"/>
          <p:nvPr/>
        </p:nvSpPr>
        <p:spPr>
          <a:xfrm>
            <a:off x="3586663" y="3991356"/>
            <a:ext cx="1527329" cy="337185"/>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인스턴스이다</a:t>
            </a:r>
          </a:p>
        </p:txBody>
      </p:sp>
      <p:sp>
        <p:nvSpPr>
          <p:cNvPr id="17" name="TextBox 16"/>
          <p:cNvSpPr txBox="1"/>
          <p:nvPr/>
        </p:nvSpPr>
        <p:spPr>
          <a:xfrm>
            <a:off x="804742" y="4747747"/>
            <a:ext cx="185461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인스턴스와 관계</a:t>
            </a:r>
          </a:p>
          <a:p>
            <a:pPr algn="ctr">
              <a:lnSpc>
                <a:spcPct val="110000"/>
              </a:lnSpc>
              <a:spcAft>
                <a:spcPts val="100"/>
              </a:spcAft>
            </a:pPr>
            <a:r>
              <a:rPr sz="1100" b="0">
                <a:solidFill>
                  <a:srgbClr val="556175"/>
                </a:solidFill>
                <a:latin typeface="맑은 고딕"/>
                <a:ea typeface="맑은 고딕"/>
                <a:cs typeface="맑은 고딕"/>
              </a:rPr>
              <a:t>무엇이 무엇에</a:t>
            </a:r>
          </a:p>
          <a:p>
            <a:pPr algn="ctr">
              <a:lnSpc>
                <a:spcPct val="110000"/>
              </a:lnSpc>
              <a:spcAft>
                <a:spcPts val="100"/>
              </a:spcAft>
            </a:pPr>
            <a:r>
              <a:rPr sz="1100" b="0">
                <a:solidFill>
                  <a:srgbClr val="556175"/>
                </a:solidFill>
                <a:latin typeface="맑은 고딕"/>
                <a:ea typeface="맑은 고딕"/>
                <a:cs typeface="맑은 고딕"/>
              </a:rPr>
              <a:t>이어져 있는가</a:t>
            </a:r>
          </a:p>
        </p:txBody>
      </p:sp>
      <p:sp>
        <p:nvSpPr>
          <p:cNvPr id="18" name="TextBox 17"/>
          <p:cNvSpPr txBox="1"/>
          <p:nvPr/>
        </p:nvSpPr>
        <p:spPr>
          <a:xfrm>
            <a:off x="2550261" y="5608143"/>
            <a:ext cx="218189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HYD-01</a:t>
            </a:r>
          </a:p>
          <a:p>
            <a:pPr algn="ctr">
              <a:lnSpc>
                <a:spcPct val="110000"/>
              </a:lnSpc>
              <a:spcAft>
                <a:spcPts val="100"/>
              </a:spcAft>
            </a:pPr>
            <a:r>
              <a:rPr sz="1100" b="0">
                <a:solidFill>
                  <a:srgbClr val="556175"/>
                </a:solidFill>
                <a:latin typeface="맑은 고딕"/>
                <a:ea typeface="맑은 고딕"/>
                <a:cs typeface="맑은 고딕"/>
              </a:rPr>
              <a:t>asset:hyd-01</a:t>
            </a:r>
          </a:p>
        </p:txBody>
      </p:sp>
      <p:sp>
        <p:nvSpPr>
          <p:cNvPr id="19" name="TextBox 18"/>
          <p:cNvSpPr txBox="1"/>
          <p:nvPr/>
        </p:nvSpPr>
        <p:spPr>
          <a:xfrm>
            <a:off x="4917622" y="5608143"/>
            <a:ext cx="218189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오일 쿨러</a:t>
            </a:r>
          </a:p>
          <a:p>
            <a:pPr algn="ctr">
              <a:lnSpc>
                <a:spcPct val="110000"/>
              </a:lnSpc>
              <a:spcAft>
                <a:spcPts val="100"/>
              </a:spcAft>
            </a:pPr>
            <a:r>
              <a:rPr sz="1100" b="0">
                <a:solidFill>
                  <a:srgbClr val="556175"/>
                </a:solidFill>
                <a:latin typeface="맑은 고딕"/>
                <a:ea typeface="맑은 고딕"/>
                <a:cs typeface="맑은 고딕"/>
              </a:rPr>
              <a:t>comp:cooler</a:t>
            </a:r>
          </a:p>
        </p:txBody>
      </p:sp>
      <p:sp>
        <p:nvSpPr>
          <p:cNvPr id="20" name="TextBox 19"/>
          <p:cNvSpPr txBox="1"/>
          <p:nvPr/>
        </p:nvSpPr>
        <p:spPr>
          <a:xfrm>
            <a:off x="7274073" y="5608143"/>
            <a:ext cx="218189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유온 센서</a:t>
            </a:r>
          </a:p>
          <a:p>
            <a:pPr algn="ctr">
              <a:lnSpc>
                <a:spcPct val="110000"/>
              </a:lnSpc>
              <a:spcAft>
                <a:spcPts val="100"/>
              </a:spcAft>
            </a:pPr>
            <a:r>
              <a:rPr sz="1100" b="0">
                <a:solidFill>
                  <a:srgbClr val="556175"/>
                </a:solidFill>
                <a:latin typeface="맑은 고딕"/>
                <a:ea typeface="맑은 고딕"/>
                <a:cs typeface="맑은 고딕"/>
              </a:rPr>
              <a:t>sen:ts1</a:t>
            </a:r>
          </a:p>
        </p:txBody>
      </p:sp>
      <p:sp>
        <p:nvSpPr>
          <p:cNvPr id="21" name="TextBox 20"/>
          <p:cNvSpPr txBox="1"/>
          <p:nvPr/>
        </p:nvSpPr>
        <p:spPr>
          <a:xfrm>
            <a:off x="9641433" y="5608143"/>
            <a:ext cx="218189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유온</a:t>
            </a:r>
          </a:p>
          <a:p>
            <a:pPr algn="ctr">
              <a:lnSpc>
                <a:spcPct val="110000"/>
              </a:lnSpc>
              <a:spcAft>
                <a:spcPts val="100"/>
              </a:spcAft>
            </a:pPr>
            <a:r>
              <a:rPr sz="1100" b="0">
                <a:solidFill>
                  <a:srgbClr val="556175"/>
                </a:solidFill>
                <a:latin typeface="맑은 고딕"/>
                <a:ea typeface="맑은 고딕"/>
                <a:cs typeface="맑은 고딕"/>
              </a:rPr>
              <a:t>sv:ts1</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한 인스턴스의 나가는 관계와 들어오는 관계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오일 쿨러에는 나가는 관계 셋과 들어오는 관계 둘이 있으며, 둘을 함께 보아야 이어진 대상이 모두 보인다.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25</a:t>
            </a:r>
          </a:p>
        </p:txBody>
      </p:sp>
      <p:sp>
        <p:nvSpPr>
          <p:cNvPr id="6" name="Oval 5"/>
          <p:cNvSpPr/>
          <p:nvPr/>
        </p:nvSpPr>
        <p:spPr>
          <a:xfrm>
            <a:off x="4401190" y="3259836"/>
            <a:ext cx="1463040" cy="1463040"/>
          </a:xfrm>
          <a:prstGeom prst="ellipse">
            <a:avLst/>
          </a:prstGeom>
          <a:solidFill>
            <a:srgbClr val="5CB8F2"/>
          </a:solidFill>
          <a:ln w="25400">
            <a:solidFill>
              <a:srgbClr val="13294B"/>
            </a:solidFill>
          </a:ln>
        </p:spPr>
        <p:txBody>
          <a:bodyPr rtlCol="0" anchor="ctr"/>
          <a:lstStyle/>
          <a:p>
            <a:pPr algn="ctr"/>
          </a:p>
        </p:txBody>
      </p:sp>
      <p:sp>
        <p:nvSpPr>
          <p:cNvPr id="7" name="TextBox 6"/>
          <p:cNvSpPr txBox="1"/>
          <p:nvPr/>
        </p:nvSpPr>
        <p:spPr>
          <a:xfrm>
            <a:off x="4503602" y="3537813"/>
            <a:ext cx="1258214" cy="907084"/>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오일 쿨러</a:t>
            </a:r>
          </a:p>
          <a:p>
            <a:pPr algn="ctr">
              <a:lnSpc>
                <a:spcPct val="110000"/>
              </a:lnSpc>
            </a:pPr>
            <a:r>
              <a:rPr sz="1100" b="0">
                <a:solidFill>
                  <a:srgbClr val="556175"/>
                </a:solidFill>
                <a:latin typeface="맑은 고딕"/>
                <a:ea typeface="맑은 고딕"/>
                <a:cs typeface="맑은 고딕"/>
              </a:rPr>
              <a:t>Component</a:t>
            </a:r>
          </a:p>
        </p:txBody>
      </p:sp>
      <p:sp>
        <p:nvSpPr>
          <p:cNvPr id="8" name="Oval 7"/>
          <p:cNvSpPr/>
          <p:nvPr/>
        </p:nvSpPr>
        <p:spPr>
          <a:xfrm>
            <a:off x="741267" y="1627632"/>
            <a:ext cx="1463040" cy="1463040"/>
          </a:xfrm>
          <a:prstGeom prst="ellipse">
            <a:avLst/>
          </a:prstGeom>
          <a:solidFill>
            <a:srgbClr val="E7F3FD"/>
          </a:solidFill>
          <a:ln w="25400">
            <a:solidFill>
              <a:srgbClr val="5CB8F2"/>
            </a:solidFill>
          </a:ln>
        </p:spPr>
        <p:txBody>
          <a:bodyPr rtlCol="0" anchor="ctr"/>
          <a:lstStyle/>
          <a:p>
            <a:pPr algn="ctr"/>
          </a:p>
        </p:txBody>
      </p:sp>
      <p:sp>
        <p:nvSpPr>
          <p:cNvPr id="9" name="TextBox 8"/>
          <p:cNvSpPr txBox="1"/>
          <p:nvPr/>
        </p:nvSpPr>
        <p:spPr>
          <a:xfrm>
            <a:off x="843680" y="1905609"/>
            <a:ext cx="1258214" cy="907084"/>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HYD-01</a:t>
            </a:r>
          </a:p>
          <a:p>
            <a:pPr algn="ctr">
              <a:lnSpc>
                <a:spcPct val="110000"/>
              </a:lnSpc>
            </a:pPr>
            <a:r>
              <a:rPr sz="1100" b="0">
                <a:solidFill>
                  <a:srgbClr val="556175"/>
                </a:solidFill>
                <a:latin typeface="맑은 고딕"/>
                <a:ea typeface="맑은 고딕"/>
                <a:cs typeface="맑은 고딕"/>
              </a:rPr>
              <a:t>Asset</a:t>
            </a:r>
          </a:p>
        </p:txBody>
      </p:sp>
      <p:sp>
        <p:nvSpPr>
          <p:cNvPr id="10" name="Oval 9"/>
          <p:cNvSpPr/>
          <p:nvPr/>
        </p:nvSpPr>
        <p:spPr>
          <a:xfrm>
            <a:off x="741267" y="4892040"/>
            <a:ext cx="1463040" cy="1463040"/>
          </a:xfrm>
          <a:prstGeom prst="ellipse">
            <a:avLst/>
          </a:prstGeom>
          <a:solidFill>
            <a:srgbClr val="E7F3FD"/>
          </a:solidFill>
          <a:ln w="25400">
            <a:solidFill>
              <a:srgbClr val="5CB8F2"/>
            </a:solidFill>
          </a:ln>
        </p:spPr>
        <p:txBody>
          <a:bodyPr rtlCol="0" anchor="ctr"/>
          <a:lstStyle/>
          <a:p>
            <a:pPr algn="ctr"/>
          </a:p>
        </p:txBody>
      </p:sp>
      <p:sp>
        <p:nvSpPr>
          <p:cNvPr id="11" name="TextBox 10"/>
          <p:cNvSpPr txBox="1"/>
          <p:nvPr/>
        </p:nvSpPr>
        <p:spPr>
          <a:xfrm>
            <a:off x="843680" y="5170017"/>
            <a:ext cx="1258214" cy="907084"/>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쿨러 냉각 성능 상실</a:t>
            </a:r>
          </a:p>
          <a:p>
            <a:pPr algn="ctr">
              <a:lnSpc>
                <a:spcPct val="110000"/>
              </a:lnSpc>
            </a:pPr>
            <a:r>
              <a:rPr sz="1100" b="0">
                <a:solidFill>
                  <a:srgbClr val="556175"/>
                </a:solidFill>
                <a:latin typeface="맑은 고딕"/>
                <a:ea typeface="맑은 고딕"/>
                <a:cs typeface="맑은 고딕"/>
              </a:rPr>
              <a:t>FailureMode</a:t>
            </a:r>
          </a:p>
        </p:txBody>
      </p:sp>
      <p:sp>
        <p:nvSpPr>
          <p:cNvPr id="12" name="Oval 11"/>
          <p:cNvSpPr/>
          <p:nvPr/>
        </p:nvSpPr>
        <p:spPr>
          <a:xfrm>
            <a:off x="7290602" y="1627632"/>
            <a:ext cx="1463040" cy="1463040"/>
          </a:xfrm>
          <a:prstGeom prst="ellipse">
            <a:avLst/>
          </a:prstGeom>
          <a:solidFill>
            <a:srgbClr val="E7F3FD"/>
          </a:solidFill>
          <a:ln w="25400">
            <a:solidFill>
              <a:srgbClr val="5CB8F2"/>
            </a:solidFill>
          </a:ln>
        </p:spPr>
        <p:txBody>
          <a:bodyPr rtlCol="0" anchor="ctr"/>
          <a:lstStyle/>
          <a:p>
            <a:pPr algn="ctr"/>
          </a:p>
        </p:txBody>
      </p:sp>
      <p:sp>
        <p:nvSpPr>
          <p:cNvPr id="13" name="TextBox 12"/>
          <p:cNvSpPr txBox="1"/>
          <p:nvPr/>
        </p:nvSpPr>
        <p:spPr>
          <a:xfrm>
            <a:off x="7393015" y="1905609"/>
            <a:ext cx="1258214" cy="907084"/>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유온 센서</a:t>
            </a:r>
          </a:p>
          <a:p>
            <a:pPr algn="ctr">
              <a:lnSpc>
                <a:spcPct val="110000"/>
              </a:lnSpc>
            </a:pPr>
            <a:r>
              <a:rPr sz="1100" b="0">
                <a:solidFill>
                  <a:srgbClr val="556175"/>
                </a:solidFill>
                <a:latin typeface="맑은 고딕"/>
                <a:ea typeface="맑은 고딕"/>
                <a:cs typeface="맑은 고딕"/>
              </a:rPr>
              <a:t>Sensor</a:t>
            </a:r>
          </a:p>
        </p:txBody>
      </p:sp>
      <p:sp>
        <p:nvSpPr>
          <p:cNvPr id="14" name="Oval 13"/>
          <p:cNvSpPr/>
          <p:nvPr/>
        </p:nvSpPr>
        <p:spPr>
          <a:xfrm>
            <a:off x="9891073" y="3259836"/>
            <a:ext cx="1463040" cy="1463040"/>
          </a:xfrm>
          <a:prstGeom prst="ellipse">
            <a:avLst/>
          </a:prstGeom>
          <a:solidFill>
            <a:srgbClr val="E7F3FD"/>
          </a:solidFill>
          <a:ln w="25400">
            <a:solidFill>
              <a:srgbClr val="5CB8F2"/>
            </a:solidFill>
          </a:ln>
        </p:spPr>
        <p:txBody>
          <a:bodyPr rtlCol="0" anchor="ctr"/>
          <a:lstStyle/>
          <a:p>
            <a:pPr algn="ctr"/>
          </a:p>
        </p:txBody>
      </p:sp>
      <p:sp>
        <p:nvSpPr>
          <p:cNvPr id="15" name="TextBox 14"/>
          <p:cNvSpPr txBox="1"/>
          <p:nvPr/>
        </p:nvSpPr>
        <p:spPr>
          <a:xfrm>
            <a:off x="9993486" y="3537813"/>
            <a:ext cx="1258214" cy="907084"/>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냉각 효율</a:t>
            </a:r>
          </a:p>
          <a:p>
            <a:pPr algn="ctr">
              <a:lnSpc>
                <a:spcPct val="110000"/>
              </a:lnSpc>
            </a:pPr>
            <a:r>
              <a:rPr sz="1100" b="0">
                <a:solidFill>
                  <a:srgbClr val="556175"/>
                </a:solidFill>
                <a:latin typeface="맑은 고딕"/>
                <a:ea typeface="맑은 고딕"/>
                <a:cs typeface="맑은 고딕"/>
              </a:rPr>
              <a:t>Sensor</a:t>
            </a:r>
          </a:p>
        </p:txBody>
      </p:sp>
      <p:sp>
        <p:nvSpPr>
          <p:cNvPr id="16" name="Oval 15"/>
          <p:cNvSpPr/>
          <p:nvPr/>
        </p:nvSpPr>
        <p:spPr>
          <a:xfrm>
            <a:off x="7290602" y="4892040"/>
            <a:ext cx="1463040" cy="1463040"/>
          </a:xfrm>
          <a:prstGeom prst="ellipse">
            <a:avLst/>
          </a:prstGeom>
          <a:solidFill>
            <a:srgbClr val="E7F3FD"/>
          </a:solidFill>
          <a:ln w="25400">
            <a:solidFill>
              <a:srgbClr val="5CB8F2"/>
            </a:solidFill>
          </a:ln>
        </p:spPr>
        <p:txBody>
          <a:bodyPr rtlCol="0" anchor="ctr"/>
          <a:lstStyle/>
          <a:p>
            <a:pPr algn="ctr"/>
          </a:p>
        </p:txBody>
      </p:sp>
      <p:sp>
        <p:nvSpPr>
          <p:cNvPr id="17" name="TextBox 16"/>
          <p:cNvSpPr txBox="1"/>
          <p:nvPr/>
        </p:nvSpPr>
        <p:spPr>
          <a:xfrm>
            <a:off x="7393015" y="5170017"/>
            <a:ext cx="1258214" cy="907084"/>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쿨러 코어</a:t>
            </a:r>
          </a:p>
          <a:p>
            <a:pPr algn="ctr">
              <a:lnSpc>
                <a:spcPct val="110000"/>
              </a:lnSpc>
            </a:pPr>
            <a:r>
              <a:rPr sz="1100" b="0">
                <a:solidFill>
                  <a:srgbClr val="556175"/>
                </a:solidFill>
                <a:latin typeface="맑은 고딕"/>
                <a:ea typeface="맑은 고딕"/>
                <a:cs typeface="맑은 고딕"/>
              </a:rPr>
              <a:t>Part</a:t>
            </a:r>
          </a:p>
        </p:txBody>
      </p:sp>
      <p:cxnSp>
        <p:nvCxnSpPr>
          <p:cNvPr id="18" name="Connector 17"/>
          <p:cNvCxnSpPr/>
          <p:nvPr/>
        </p:nvCxnSpPr>
        <p:spPr>
          <a:xfrm>
            <a:off x="2182636" y="2675721"/>
            <a:ext cx="2215171" cy="987892"/>
          </a:xfrm>
          <a:prstGeom prst="line">
            <a:avLst/>
          </a:prstGeom>
          <a:ln w="28575">
            <a:solidFill>
              <a:srgbClr val="13294B"/>
            </a:solidFill>
            <a:tailEnd type="triangle" w="med" len="med"/>
          </a:ln>
        </p:spPr>
      </p:cxnSp>
      <p:sp>
        <p:nvSpPr>
          <p:cNvPr id="19" name="Rounded Rectangle 18"/>
          <p:cNvSpPr/>
          <p:nvPr/>
        </p:nvSpPr>
        <p:spPr>
          <a:xfrm>
            <a:off x="2467152" y="2803907"/>
            <a:ext cx="1646138"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0" name="TextBox 19"/>
          <p:cNvSpPr txBox="1"/>
          <p:nvPr/>
        </p:nvSpPr>
        <p:spPr>
          <a:xfrm>
            <a:off x="2467152" y="2803907"/>
            <a:ext cx="1646138"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HAS_COMPONENT</a:t>
            </a:r>
          </a:p>
        </p:txBody>
      </p:sp>
      <p:cxnSp>
        <p:nvCxnSpPr>
          <p:cNvPr id="21" name="Connector 20"/>
          <p:cNvCxnSpPr/>
          <p:nvPr/>
        </p:nvCxnSpPr>
        <p:spPr>
          <a:xfrm flipV="1">
            <a:off x="2182636" y="4319098"/>
            <a:ext cx="2215171" cy="987892"/>
          </a:xfrm>
          <a:prstGeom prst="line">
            <a:avLst/>
          </a:prstGeom>
          <a:ln w="28575">
            <a:solidFill>
              <a:srgbClr val="13294B"/>
            </a:solidFill>
            <a:tailEnd type="triangle" w="med" len="med"/>
          </a:ln>
        </p:spPr>
      </p:cxnSp>
      <p:sp>
        <p:nvSpPr>
          <p:cNvPr id="22" name="Rounded Rectangle 21"/>
          <p:cNvSpPr/>
          <p:nvPr/>
        </p:nvSpPr>
        <p:spPr>
          <a:xfrm>
            <a:off x="2680853" y="4447284"/>
            <a:ext cx="1218737"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3" name="TextBox 22"/>
          <p:cNvSpPr txBox="1"/>
          <p:nvPr/>
        </p:nvSpPr>
        <p:spPr>
          <a:xfrm>
            <a:off x="2680853" y="4447284"/>
            <a:ext cx="1218737"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OCCURS_IN</a:t>
            </a:r>
          </a:p>
        </p:txBody>
      </p:sp>
      <p:cxnSp>
        <p:nvCxnSpPr>
          <p:cNvPr id="24" name="Connector 23"/>
          <p:cNvCxnSpPr/>
          <p:nvPr/>
        </p:nvCxnSpPr>
        <p:spPr>
          <a:xfrm flipV="1">
            <a:off x="5809440" y="2754923"/>
            <a:ext cx="1512067" cy="854153"/>
          </a:xfrm>
          <a:prstGeom prst="line">
            <a:avLst/>
          </a:prstGeom>
          <a:ln w="28575">
            <a:solidFill>
              <a:srgbClr val="13294B"/>
            </a:solidFill>
            <a:tailEnd type="triangle" w="med" len="med"/>
          </a:ln>
        </p:spPr>
      </p:cxnSp>
      <p:sp>
        <p:nvSpPr>
          <p:cNvPr id="25" name="Rounded Rectangle 24"/>
          <p:cNvSpPr/>
          <p:nvPr/>
        </p:nvSpPr>
        <p:spPr>
          <a:xfrm>
            <a:off x="5795829" y="2816240"/>
            <a:ext cx="1539288"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6" name="TextBox 25"/>
          <p:cNvSpPr txBox="1"/>
          <p:nvPr/>
        </p:nvSpPr>
        <p:spPr>
          <a:xfrm>
            <a:off x="5795829" y="2816240"/>
            <a:ext cx="1539288"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MONITORED_BY</a:t>
            </a:r>
          </a:p>
        </p:txBody>
      </p:sp>
      <p:cxnSp>
        <p:nvCxnSpPr>
          <p:cNvPr id="27" name="Connector 26"/>
          <p:cNvCxnSpPr/>
          <p:nvPr/>
        </p:nvCxnSpPr>
        <p:spPr>
          <a:xfrm>
            <a:off x="5909950" y="3991356"/>
            <a:ext cx="3907971" cy="0"/>
          </a:xfrm>
          <a:prstGeom prst="line">
            <a:avLst/>
          </a:prstGeom>
          <a:ln w="28575">
            <a:solidFill>
              <a:srgbClr val="13294B"/>
            </a:solidFill>
            <a:tailEnd type="triangle" w="med" len="med"/>
          </a:ln>
        </p:spPr>
      </p:cxnSp>
      <p:sp>
        <p:nvSpPr>
          <p:cNvPr id="28" name="Rounded Rectangle 27"/>
          <p:cNvSpPr/>
          <p:nvPr/>
        </p:nvSpPr>
        <p:spPr>
          <a:xfrm>
            <a:off x="7094291" y="3625596"/>
            <a:ext cx="1539288"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9" name="TextBox 28"/>
          <p:cNvSpPr txBox="1"/>
          <p:nvPr/>
        </p:nvSpPr>
        <p:spPr>
          <a:xfrm>
            <a:off x="7094291" y="3625596"/>
            <a:ext cx="1539288"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MONITORED_BY</a:t>
            </a:r>
          </a:p>
        </p:txBody>
      </p:sp>
      <p:cxnSp>
        <p:nvCxnSpPr>
          <p:cNvPr id="30" name="Connector 29"/>
          <p:cNvCxnSpPr/>
          <p:nvPr/>
        </p:nvCxnSpPr>
        <p:spPr>
          <a:xfrm>
            <a:off x="5809440" y="4373635"/>
            <a:ext cx="1512067" cy="854153"/>
          </a:xfrm>
          <a:prstGeom prst="line">
            <a:avLst/>
          </a:prstGeom>
          <a:ln w="28575">
            <a:solidFill>
              <a:srgbClr val="13294B"/>
            </a:solidFill>
            <a:tailEnd type="triangle" w="med" len="med"/>
          </a:ln>
        </p:spPr>
      </p:cxnSp>
      <p:sp>
        <p:nvSpPr>
          <p:cNvPr id="31" name="Rounded Rectangle 30"/>
          <p:cNvSpPr/>
          <p:nvPr/>
        </p:nvSpPr>
        <p:spPr>
          <a:xfrm>
            <a:off x="5956105" y="4434951"/>
            <a:ext cx="1218737"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32" name="TextBox 31"/>
          <p:cNvSpPr txBox="1"/>
          <p:nvPr/>
        </p:nvSpPr>
        <p:spPr>
          <a:xfrm>
            <a:off x="5956105" y="4434951"/>
            <a:ext cx="1218737"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USES_PART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카디널리티: 관계 한쪽 대상에 이어지는 상대의 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1">
                <a:solidFill>
                  <a:srgbClr val="1A6FC4"/>
                </a:solidFill>
                <a:latin typeface="맑은 고딕"/>
                <a:ea typeface="맑은 고딕"/>
                <a:cs typeface="맑은 고딕"/>
              </a:rPr>
              <a:t>카디널리티</a:t>
            </a:r>
            <a:r>
              <a:rPr sz="1600" b="0">
                <a:solidFill>
                  <a:srgbClr val="556175"/>
                </a:solidFill>
                <a:latin typeface="맑은 고딕"/>
                <a:ea typeface="맑은 고딕"/>
                <a:cs typeface="맑은 고딕"/>
              </a:rPr>
              <a:t>(Cardinality)는 관계의 한쪽 대상 하나에 반대쪽 대상이 몇 개까지 이어질 수 있는지를 나타낸다.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26</a:t>
            </a:r>
          </a:p>
        </p:txBody>
      </p:sp>
      <p:pic>
        <p:nvPicPr>
          <p:cNvPr id="6" name="삽화:카디널리티.svg" descr="illust_113267625772197919_179171724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13837" y="4653198"/>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1:1</a:t>
            </a:r>
          </a:p>
          <a:p>
            <a:pPr algn="ctr">
              <a:lnSpc>
                <a:spcPct val="110000"/>
              </a:lnSpc>
              <a:spcAft>
                <a:spcPts val="100"/>
              </a:spcAft>
            </a:pPr>
            <a:r>
              <a:rPr sz="1300" b="0">
                <a:solidFill>
                  <a:srgbClr val="556175"/>
                </a:solidFill>
                <a:latin typeface="맑은 고딕"/>
                <a:ea typeface="맑은 고딕"/>
                <a:cs typeface="맑은 고딕"/>
              </a:rPr>
              <a:t>일대일</a:t>
            </a:r>
          </a:p>
        </p:txBody>
      </p:sp>
      <p:sp>
        <p:nvSpPr>
          <p:cNvPr id="8" name="TextBox 7"/>
          <p:cNvSpPr txBox="1"/>
          <p:nvPr/>
        </p:nvSpPr>
        <p:spPr>
          <a:xfrm>
            <a:off x="3641211" y="4653198"/>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1:N</a:t>
            </a:r>
          </a:p>
          <a:p>
            <a:pPr algn="ctr">
              <a:lnSpc>
                <a:spcPct val="110000"/>
              </a:lnSpc>
              <a:spcAft>
                <a:spcPts val="100"/>
              </a:spcAft>
            </a:pPr>
            <a:r>
              <a:rPr sz="1300" b="0">
                <a:solidFill>
                  <a:srgbClr val="556175"/>
                </a:solidFill>
                <a:latin typeface="맑은 고딕"/>
                <a:ea typeface="맑은 고딕"/>
                <a:cs typeface="맑은 고딕"/>
              </a:rPr>
              <a:t>일대다</a:t>
            </a:r>
          </a:p>
        </p:txBody>
      </p:sp>
      <p:sp>
        <p:nvSpPr>
          <p:cNvPr id="9" name="TextBox 8"/>
          <p:cNvSpPr txBox="1"/>
          <p:nvPr/>
        </p:nvSpPr>
        <p:spPr>
          <a:xfrm>
            <a:off x="6368584" y="4653198"/>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N:1</a:t>
            </a:r>
          </a:p>
          <a:p>
            <a:pPr algn="ctr">
              <a:lnSpc>
                <a:spcPct val="110000"/>
              </a:lnSpc>
              <a:spcAft>
                <a:spcPts val="100"/>
              </a:spcAft>
            </a:pPr>
            <a:r>
              <a:rPr sz="1300" b="0">
                <a:solidFill>
                  <a:srgbClr val="556175"/>
                </a:solidFill>
                <a:latin typeface="맑은 고딕"/>
                <a:ea typeface="맑은 고딕"/>
                <a:cs typeface="맑은 고딕"/>
              </a:rPr>
              <a:t>다대일</a:t>
            </a:r>
          </a:p>
        </p:txBody>
      </p:sp>
      <p:sp>
        <p:nvSpPr>
          <p:cNvPr id="10" name="TextBox 9"/>
          <p:cNvSpPr txBox="1"/>
          <p:nvPr/>
        </p:nvSpPr>
        <p:spPr>
          <a:xfrm>
            <a:off x="9095958" y="4653198"/>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N:M</a:t>
            </a:r>
          </a:p>
          <a:p>
            <a:pPr algn="ctr">
              <a:lnSpc>
                <a:spcPct val="110000"/>
              </a:lnSpc>
              <a:spcAft>
                <a:spcPts val="100"/>
              </a:spcAft>
            </a:pPr>
            <a:r>
              <a:rPr sz="1300" b="0">
                <a:solidFill>
                  <a:srgbClr val="556175"/>
                </a:solidFill>
                <a:latin typeface="맑은 고딕"/>
                <a:ea typeface="맑은 고딕"/>
                <a:cs typeface="맑은 고딕"/>
              </a:rPr>
              <a:t>다대다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일대일 · 일대다 · 다대일: 실제 관계로 견주기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구동기와 상태 변수는 일대일, 조치 방법과 단계는 일대다, 역할과 부서는 다대일로 이어진다.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27</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카디널리티</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실제 예</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관계와 읽는 법</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1:1 일대일</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팬 인버터 → 팬 속도</a:t>
            </a:r>
          </a:p>
          <a:p>
            <a:pPr algn="l">
              <a:lnSpc>
                <a:spcPct val="110000"/>
              </a:lnSpc>
            </a:pPr>
            <a:r>
              <a:rPr sz="1400" b="0">
                <a:solidFill>
                  <a:srgbClr val="1F2A3A"/>
                </a:solidFill>
                <a:latin typeface="맑은 고딕"/>
                <a:ea typeface="맑은 고딕"/>
                <a:cs typeface="맑은 고딕"/>
              </a:rPr>
              <a:t>펌프 부하 설정 → 펌프 부하</a:t>
            </a:r>
          </a:p>
          <a:p>
            <a:pPr algn="l">
              <a:lnSpc>
                <a:spcPct val="110000"/>
              </a:lnSpc>
            </a:pPr>
            <a:r>
              <a:rPr sz="1400" b="0">
                <a:solidFill>
                  <a:srgbClr val="1F2A3A"/>
                </a:solidFill>
                <a:latin typeface="맑은 고딕"/>
                <a:ea typeface="맑은 고딕"/>
                <a:cs typeface="맑은 고딕"/>
              </a:rPr>
              <a:t>펌프 전환 밸브 → 운전 펌프 선택</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MANIPULATES</a:t>
            </a:r>
          </a:p>
          <a:p>
            <a:pPr algn="l">
              <a:lnSpc>
                <a:spcPct val="110000"/>
              </a:lnSpc>
            </a:pPr>
            <a:r>
              <a:rPr sz="1250" b="1">
                <a:solidFill>
                  <a:srgbClr val="556175"/>
                </a:solidFill>
                <a:latin typeface="맑은 고딕"/>
                <a:ea typeface="맑은 고딕"/>
                <a:cs typeface="맑은 고딕"/>
              </a:rPr>
              <a:t>구동기 하나에</a:t>
            </a:r>
          </a:p>
          <a:p>
            <a:pPr algn="l">
              <a:lnSpc>
                <a:spcPct val="110000"/>
              </a:lnSpc>
            </a:pPr>
            <a:r>
              <a:rPr sz="1250" b="1">
                <a:solidFill>
                  <a:srgbClr val="556175"/>
                </a:solidFill>
                <a:latin typeface="맑은 고딕"/>
                <a:ea typeface="맑은 고딕"/>
                <a:cs typeface="맑은 고딕"/>
              </a:rPr>
              <a:t>상태 변수 하나</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1:N 일대다</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팬 최대 운전 → 단계 1: 운전 모드가 원격 자동인지 확인한다</a:t>
            </a:r>
          </a:p>
          <a:p>
            <a:pPr algn="l">
              <a:lnSpc>
                <a:spcPct val="110000"/>
              </a:lnSpc>
            </a:pPr>
            <a:r>
              <a:rPr sz="1400" b="0">
                <a:solidFill>
                  <a:srgbClr val="1F2A3A"/>
                </a:solidFill>
                <a:latin typeface="맑은 고딕"/>
                <a:ea typeface="맑은 고딕"/>
                <a:cs typeface="맑은 고딕"/>
              </a:rPr>
              <a:t>단계 2: 팬 속도를 100 %로 올린다</a:t>
            </a:r>
          </a:p>
          <a:p>
            <a:pPr algn="l">
              <a:lnSpc>
                <a:spcPct val="110000"/>
              </a:lnSpc>
            </a:pPr>
            <a:r>
              <a:rPr sz="1400" b="0">
                <a:solidFill>
                  <a:srgbClr val="1F2A3A"/>
                </a:solidFill>
                <a:latin typeface="맑은 고딕"/>
                <a:ea typeface="맑은 고딕"/>
                <a:cs typeface="맑은 고딕"/>
              </a:rPr>
              <a:t>단계 3: 15분 동안 다시 관측해 회복을 판정한다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HAS_STEP</a:t>
            </a:r>
          </a:p>
          <a:p>
            <a:pPr algn="l">
              <a:lnSpc>
                <a:spcPct val="110000"/>
              </a:lnSpc>
            </a:pPr>
            <a:r>
              <a:rPr sz="1250" b="1">
                <a:solidFill>
                  <a:srgbClr val="556175"/>
                </a:solidFill>
                <a:latin typeface="맑은 고딕"/>
                <a:ea typeface="맑은 고딕"/>
                <a:cs typeface="맑은 고딕"/>
              </a:rPr>
              <a:t>조치 방법 하나에</a:t>
            </a:r>
          </a:p>
          <a:p>
            <a:pPr algn="l">
              <a:lnSpc>
                <a:spcPct val="110000"/>
              </a:lnSpc>
            </a:pPr>
            <a:r>
              <a:rPr sz="1250" b="1">
                <a:solidFill>
                  <a:srgbClr val="556175"/>
                </a:solidFill>
                <a:latin typeface="맑은 고딕"/>
                <a:ea typeface="맑은 고딕"/>
                <a:cs typeface="맑은 고딕"/>
              </a:rPr>
              <a:t>단계 여럿</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N:1 다대일</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운전원 → 생산팀</a:t>
            </a:r>
          </a:p>
          <a:p>
            <a:pPr algn="l">
              <a:lnSpc>
                <a:spcPct val="110000"/>
              </a:lnSpc>
            </a:pPr>
            <a:r>
              <a:rPr sz="1400" b="0">
                <a:solidFill>
                  <a:srgbClr val="1F2A3A"/>
                </a:solidFill>
                <a:latin typeface="맑은 고딕"/>
                <a:ea typeface="맑은 고딕"/>
                <a:cs typeface="맑은 고딕"/>
              </a:rPr>
              <a:t>생산관리자 → 생산팀</a:t>
            </a:r>
          </a:p>
          <a:p>
            <a:pPr algn="l">
              <a:lnSpc>
                <a:spcPct val="110000"/>
              </a:lnSpc>
            </a:pPr>
            <a:r>
              <a:rPr sz="1400" b="0">
                <a:solidFill>
                  <a:srgbClr val="1F2A3A"/>
                </a:solidFill>
                <a:latin typeface="맑은 고딕"/>
                <a:ea typeface="맑은 고딕"/>
                <a:cs typeface="맑은 고딕"/>
              </a:rPr>
              <a:t>설비보전팀장 → 설비보전팀</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MEMBER_OF</a:t>
            </a:r>
          </a:p>
          <a:p>
            <a:pPr algn="l">
              <a:lnSpc>
                <a:spcPct val="110000"/>
              </a:lnSpc>
            </a:pPr>
            <a:r>
              <a:rPr sz="1250" b="1">
                <a:solidFill>
                  <a:srgbClr val="556175"/>
                </a:solidFill>
                <a:latin typeface="맑은 고딕"/>
                <a:ea typeface="맑은 고딕"/>
                <a:cs typeface="맑은 고딕"/>
              </a:rPr>
              <a:t>역할 여럿이</a:t>
            </a:r>
          </a:p>
          <a:p>
            <a:pPr algn="l">
              <a:lnSpc>
                <a:spcPct val="110000"/>
              </a:lnSpc>
            </a:pPr>
            <a:r>
              <a:rPr sz="1250" b="1">
                <a:solidFill>
                  <a:srgbClr val="556175"/>
                </a:solidFill>
                <a:latin typeface="맑은 고딕"/>
                <a:ea typeface="맑은 고딕"/>
                <a:cs typeface="맑은 고딕"/>
              </a:rPr>
              <a:t>부서 하나에</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다대다(N:M): 부품과 공급사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부품 하나에 공급사가 여럿, 공급사 하나에 부품이 여럿 이어질 수 있는 SUPPLIED_BY는 다대다 관계이다.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28</a:t>
            </a:r>
          </a:p>
        </p:txBody>
      </p:sp>
      <p:pic>
        <p:nvPicPr>
          <p:cNvPr id="6" name="삽화:다대다.svg" descr="illust_6774189823074978845_179171724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5223088" y="1651269"/>
            <a:ext cx="1745519"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SUPPLIED_BY</a:t>
            </a:r>
          </a:p>
        </p:txBody>
      </p:sp>
      <p:sp>
        <p:nvSpPr>
          <p:cNvPr id="8" name="TextBox 7"/>
          <p:cNvSpPr txBox="1"/>
          <p:nvPr/>
        </p:nvSpPr>
        <p:spPr>
          <a:xfrm>
            <a:off x="1350217" y="2289474"/>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펌프 축 씰 키트</a:t>
            </a:r>
          </a:p>
          <a:p>
            <a:pPr algn="ctr">
              <a:lnSpc>
                <a:spcPct val="110000"/>
              </a:lnSpc>
              <a:spcAft>
                <a:spcPts val="100"/>
              </a:spcAft>
            </a:pPr>
            <a:r>
              <a:rPr sz="1300" b="0">
                <a:solidFill>
                  <a:srgbClr val="556175"/>
                </a:solidFill>
                <a:latin typeface="맑은 고딕"/>
                <a:ea typeface="맑은 고딕"/>
                <a:cs typeface="맑은 고딕"/>
              </a:rPr>
              <a:t>부품</a:t>
            </a:r>
          </a:p>
        </p:txBody>
      </p:sp>
      <p:sp>
        <p:nvSpPr>
          <p:cNvPr id="9" name="TextBox 8"/>
          <p:cNvSpPr txBox="1"/>
          <p:nvPr/>
        </p:nvSpPr>
        <p:spPr>
          <a:xfrm>
            <a:off x="1350217" y="3792803"/>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베어링</a:t>
            </a:r>
          </a:p>
          <a:p>
            <a:pPr algn="ctr">
              <a:lnSpc>
                <a:spcPct val="110000"/>
              </a:lnSpc>
              <a:spcAft>
                <a:spcPts val="100"/>
              </a:spcAft>
            </a:pPr>
            <a:r>
              <a:rPr sz="1300" b="0">
                <a:solidFill>
                  <a:srgbClr val="556175"/>
                </a:solidFill>
                <a:latin typeface="맑은 고딕"/>
                <a:ea typeface="맑은 고딕"/>
                <a:cs typeface="맑은 고딕"/>
              </a:rPr>
              <a:t>부품</a:t>
            </a:r>
          </a:p>
        </p:txBody>
      </p:sp>
      <p:sp>
        <p:nvSpPr>
          <p:cNvPr id="10" name="TextBox 9"/>
          <p:cNvSpPr txBox="1"/>
          <p:nvPr/>
        </p:nvSpPr>
        <p:spPr>
          <a:xfrm>
            <a:off x="1350217" y="5291404"/>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코어</a:t>
            </a:r>
          </a:p>
          <a:p>
            <a:pPr algn="ctr">
              <a:lnSpc>
                <a:spcPct val="110000"/>
              </a:lnSpc>
              <a:spcAft>
                <a:spcPts val="100"/>
              </a:spcAft>
            </a:pPr>
            <a:r>
              <a:rPr sz="1300" b="0">
                <a:solidFill>
                  <a:srgbClr val="556175"/>
                </a:solidFill>
                <a:latin typeface="맑은 고딕"/>
                <a:ea typeface="맑은 고딕"/>
                <a:cs typeface="맑은 고딕"/>
              </a:rPr>
              <a:t>부품</a:t>
            </a:r>
          </a:p>
        </p:txBody>
      </p:sp>
      <p:sp>
        <p:nvSpPr>
          <p:cNvPr id="11" name="TextBox 10"/>
          <p:cNvSpPr txBox="1"/>
          <p:nvPr/>
        </p:nvSpPr>
        <p:spPr>
          <a:xfrm>
            <a:off x="8714126" y="2289474"/>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A정밀</a:t>
            </a:r>
          </a:p>
          <a:p>
            <a:pPr algn="ctr">
              <a:lnSpc>
                <a:spcPct val="110000"/>
              </a:lnSpc>
              <a:spcAft>
                <a:spcPts val="100"/>
              </a:spcAft>
            </a:pPr>
            <a:r>
              <a:rPr sz="1300" b="0">
                <a:solidFill>
                  <a:srgbClr val="556175"/>
                </a:solidFill>
                <a:latin typeface="맑은 고딕"/>
                <a:ea typeface="맑은 고딕"/>
                <a:cs typeface="맑은 고딕"/>
              </a:rPr>
              <a:t>공급사</a:t>
            </a:r>
          </a:p>
        </p:txBody>
      </p:sp>
      <p:sp>
        <p:nvSpPr>
          <p:cNvPr id="12" name="TextBox 11"/>
          <p:cNvSpPr txBox="1"/>
          <p:nvPr/>
        </p:nvSpPr>
        <p:spPr>
          <a:xfrm>
            <a:off x="8714126" y="3792803"/>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B-OEM</a:t>
            </a:r>
          </a:p>
          <a:p>
            <a:pPr algn="ctr">
              <a:lnSpc>
                <a:spcPct val="110000"/>
              </a:lnSpc>
              <a:spcAft>
                <a:spcPts val="100"/>
              </a:spcAft>
            </a:pPr>
            <a:r>
              <a:rPr sz="1300" b="0">
                <a:solidFill>
                  <a:srgbClr val="556175"/>
                </a:solidFill>
                <a:latin typeface="맑은 고딕"/>
                <a:ea typeface="맑은 고딕"/>
                <a:cs typeface="맑은 고딕"/>
              </a:rPr>
              <a:t>공급사</a:t>
            </a:r>
          </a:p>
        </p:txBody>
      </p:sp>
      <p:sp>
        <p:nvSpPr>
          <p:cNvPr id="13" name="TextBox 12"/>
          <p:cNvSpPr txBox="1"/>
          <p:nvPr/>
        </p:nvSpPr>
        <p:spPr>
          <a:xfrm>
            <a:off x="8714126" y="5291404"/>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C트레이딩</a:t>
            </a:r>
          </a:p>
          <a:p>
            <a:pPr algn="ctr">
              <a:lnSpc>
                <a:spcPct val="110000"/>
              </a:lnSpc>
              <a:spcAft>
                <a:spcPts val="100"/>
              </a:spcAft>
            </a:pPr>
            <a:r>
              <a:rPr sz="1300" b="0">
                <a:solidFill>
                  <a:srgbClr val="556175"/>
                </a:solidFill>
                <a:latin typeface="맑은 고딕"/>
                <a:ea typeface="맑은 고딕"/>
                <a:cs typeface="맑은 고딕"/>
              </a:rPr>
              <a:t>공급사</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카디널리티의 쓰임: 데이터 점검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카디널리티를 정해 두면 넣은 데이터가 정의에 맞는지를 따져 볼 기준이 생긴다.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29</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circle-check" descr="circle-check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정의에 맞는 데이터</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MANIPULATES는 일대일이다</a:t>
            </a:r>
          </a:p>
          <a:p>
            <a:pPr algn="l">
              <a:lnSpc>
                <a:spcPct val="110000"/>
              </a:lnSpc>
              <a:spcAft>
                <a:spcPts val="600"/>
              </a:spcAft>
            </a:pPr>
            <a:r>
              <a:rPr sz="1450" b="0">
                <a:solidFill>
                  <a:srgbClr val="1F2A3A"/>
                </a:solidFill>
                <a:latin typeface="맑은 고딕"/>
                <a:ea typeface="맑은 고딕"/>
                <a:cs typeface="맑은 고딕"/>
              </a:rPr>
              <a:t>• 팬 인버터 → 팬 속도</a:t>
            </a:r>
          </a:p>
          <a:p>
            <a:pPr algn="l">
              <a:lnSpc>
                <a:spcPct val="110000"/>
              </a:lnSpc>
              <a:spcAft>
                <a:spcPts val="600"/>
              </a:spcAft>
            </a:pPr>
            <a:r>
              <a:rPr sz="1450" b="0">
                <a:solidFill>
                  <a:srgbClr val="1F2A3A"/>
                </a:solidFill>
                <a:latin typeface="맑은 고딕"/>
                <a:ea typeface="맑은 고딕"/>
                <a:cs typeface="맑은 고딕"/>
              </a:rPr>
              <a:t>• 구동기 하나에 상태 변수 하나</a:t>
            </a:r>
          </a:p>
        </p:txBody>
      </p:sp>
      <p:sp>
        <p:nvSpPr>
          <p:cNvPr id="11" name="Rounded Rectangle 10"/>
          <p:cNvSpPr/>
          <p:nvPr/>
        </p:nvSpPr>
        <p:spPr>
          <a:xfrm>
            <a:off x="868680" y="4945570"/>
            <a:ext cx="11734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그대로 둔다</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alert-triangle" descr="alert-triangle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다시 확인할 데이터</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MANIPULATES는 일대일이다</a:t>
            </a:r>
          </a:p>
          <a:p>
            <a:pPr algn="l">
              <a:lnSpc>
                <a:spcPct val="110000"/>
              </a:lnSpc>
              <a:spcAft>
                <a:spcPts val="600"/>
              </a:spcAft>
            </a:pPr>
            <a:r>
              <a:rPr sz="1450" b="0">
                <a:solidFill>
                  <a:srgbClr val="1F2A3A"/>
                </a:solidFill>
                <a:latin typeface="맑은 고딕"/>
                <a:ea typeface="맑은 고딕"/>
                <a:cs typeface="맑은 고딕"/>
              </a:rPr>
              <a:t>• 팬 인버터 → 팬 속도, 펌프 부하</a:t>
            </a:r>
          </a:p>
          <a:p>
            <a:pPr algn="l">
              <a:lnSpc>
                <a:spcPct val="110000"/>
              </a:lnSpc>
              <a:spcAft>
                <a:spcPts val="600"/>
              </a:spcAft>
            </a:pPr>
            <a:r>
              <a:rPr sz="1450" b="0">
                <a:solidFill>
                  <a:srgbClr val="1F2A3A"/>
                </a:solidFill>
                <a:latin typeface="맑은 고딕"/>
                <a:ea typeface="맑은 고딕"/>
                <a:cs typeface="맑은 고딕"/>
              </a:rPr>
              <a:t>• 구동기 하나에 상태 변수 둘</a:t>
            </a:r>
          </a:p>
        </p:txBody>
      </p:sp>
      <p:sp>
        <p:nvSpPr>
          <p:cNvPr id="18" name="Rounded Rectangle 17"/>
          <p:cNvSpPr/>
          <p:nvPr/>
        </p:nvSpPr>
        <p:spPr>
          <a:xfrm>
            <a:off x="6781647" y="4945570"/>
            <a:ext cx="132587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정의와 다르다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표현의 선택 ①: 클래스를 나누는 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갖는 속성과 맺는 관계가 서로 다르면 클래스를 나눈다.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30</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gauge" descr="gauge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센서</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값을 읽는 장치이다</a:t>
            </a:r>
          </a:p>
          <a:p>
            <a:pPr algn="l">
              <a:lnSpc>
                <a:spcPct val="110000"/>
              </a:lnSpc>
              <a:spcAft>
                <a:spcPts val="600"/>
              </a:spcAft>
            </a:pPr>
            <a:r>
              <a:rPr sz="1450" b="0">
                <a:solidFill>
                  <a:srgbClr val="1F2A3A"/>
                </a:solidFill>
                <a:latin typeface="맑은 고딕"/>
                <a:ea typeface="맑은 고딕"/>
                <a:cs typeface="맑은 고딕"/>
              </a:rPr>
              <a:t>• 속성: tag, unit</a:t>
            </a:r>
          </a:p>
          <a:p>
            <a:pPr algn="l">
              <a:lnSpc>
                <a:spcPct val="110000"/>
              </a:lnSpc>
              <a:spcAft>
                <a:spcPts val="600"/>
              </a:spcAft>
            </a:pPr>
            <a:r>
              <a:rPr sz="1450" b="0">
                <a:solidFill>
                  <a:srgbClr val="1F2A3A"/>
                </a:solidFill>
                <a:latin typeface="맑은 고딕"/>
                <a:ea typeface="맑은 고딕"/>
                <a:cs typeface="맑은 고딕"/>
              </a:rPr>
              <a:t>• 관계: 상태 변수를 읽는다(OBSERVES)</a:t>
            </a:r>
          </a:p>
        </p:txBody>
      </p:sp>
      <p:sp>
        <p:nvSpPr>
          <p:cNvPr id="11" name="Rounded Rectangle 10"/>
          <p:cNvSpPr/>
          <p:nvPr/>
        </p:nvSpPr>
        <p:spPr>
          <a:xfrm>
            <a:off x="868680" y="4945570"/>
            <a:ext cx="856488"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85648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Sensor</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adjustments-horizontal" descr="adjustments-horizontal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구동기</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값을 써서 움직이는 장치이다</a:t>
            </a:r>
          </a:p>
          <a:p>
            <a:pPr algn="l">
              <a:lnSpc>
                <a:spcPct val="110000"/>
              </a:lnSpc>
              <a:spcAft>
                <a:spcPts val="600"/>
              </a:spcAft>
            </a:pPr>
            <a:r>
              <a:rPr sz="1450" b="0">
                <a:solidFill>
                  <a:srgbClr val="1F2A3A"/>
                </a:solidFill>
                <a:latin typeface="맑은 고딕"/>
                <a:ea typeface="맑은 고딕"/>
                <a:cs typeface="맑은 고딕"/>
              </a:rPr>
              <a:t>• 속성: resource, min, max</a:t>
            </a:r>
          </a:p>
          <a:p>
            <a:pPr algn="l">
              <a:lnSpc>
                <a:spcPct val="110000"/>
              </a:lnSpc>
              <a:spcAft>
                <a:spcPts val="600"/>
              </a:spcAft>
            </a:pPr>
            <a:r>
              <a:rPr sz="1450" b="0">
                <a:solidFill>
                  <a:srgbClr val="1F2A3A"/>
                </a:solidFill>
                <a:latin typeface="맑은 고딕"/>
                <a:ea typeface="맑은 고딕"/>
                <a:cs typeface="맑은 고딕"/>
              </a:rPr>
              <a:t>• 관계: 상태 변수를 바꾼다(MANIPULATES)</a:t>
            </a:r>
          </a:p>
        </p:txBody>
      </p:sp>
      <p:sp>
        <p:nvSpPr>
          <p:cNvPr id="18" name="Rounded Rectangle 17"/>
          <p:cNvSpPr/>
          <p:nvPr/>
        </p:nvSpPr>
        <p:spPr>
          <a:xfrm>
            <a:off x="6781647" y="4945570"/>
            <a:ext cx="1014983"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014983"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Actuator</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표현의 선택 ②: 속성으로 두는 때와 관계로 두는 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값 하나로 끝나면 속성으로 두고, 자기 속성과 관계를 가진 다른 대상이면 관계로 잇는다.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31</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80246"/>
            <a:ext cx="731520" cy="731520"/>
          </a:xfrm>
          <a:prstGeom prst="ellipse">
            <a:avLst/>
          </a:prstGeom>
          <a:solidFill>
            <a:srgbClr val="FFFFFF"/>
          </a:solidFill>
          <a:ln>
            <a:noFill/>
          </a:ln>
        </p:spPr>
        <p:txBody>
          <a:bodyPr rtlCol="0" anchor="ctr"/>
          <a:lstStyle/>
          <a:p>
            <a:pPr algn="ctr"/>
          </a:p>
        </p:txBody>
      </p:sp>
      <p:pic>
        <p:nvPicPr>
          <p:cNvPr id="8" name="아이콘:forms" descr="forms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속성으로 두는 때</a:t>
            </a:r>
          </a:p>
        </p:txBody>
      </p:sp>
      <p:sp>
        <p:nvSpPr>
          <p:cNvPr id="10" name="TextBox 9"/>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한 대상에 딸린 값이고 그 값으로 끝난다</a:t>
            </a:r>
          </a:p>
          <a:p>
            <a:pPr algn="l">
              <a:lnSpc>
                <a:spcPct val="110000"/>
              </a:lnSpc>
              <a:spcAft>
                <a:spcPts val="600"/>
              </a:spcAft>
            </a:pPr>
            <a:r>
              <a:rPr sz="1450" b="0">
                <a:solidFill>
                  <a:srgbClr val="1F2A3A"/>
                </a:solidFill>
                <a:latin typeface="맑은 고딕"/>
                <a:ea typeface="맑은 고딕"/>
                <a:cs typeface="맑은 고딕"/>
              </a:rPr>
              <a:t>• 부품 번호: 쿨러 코어의 partNo P-CLR-CORE</a:t>
            </a:r>
          </a:p>
          <a:p>
            <a:pPr algn="l">
              <a:lnSpc>
                <a:spcPct val="110000"/>
              </a:lnSpc>
              <a:spcAft>
                <a:spcPts val="600"/>
              </a:spcAft>
            </a:pPr>
            <a:r>
              <a:rPr sz="1450" b="0">
                <a:solidFill>
                  <a:srgbClr val="1F2A3A"/>
                </a:solidFill>
                <a:latin typeface="맑은 고딕"/>
                <a:ea typeface="맑은 고딕"/>
                <a:cs typeface="맑은 고딕"/>
              </a:rPr>
              <a:t>• 승인 여부: 공급사 A정밀의 avl true</a:t>
            </a:r>
          </a:p>
          <a:p>
            <a:pPr algn="l">
              <a:lnSpc>
                <a:spcPct val="110000"/>
              </a:lnSpc>
              <a:spcAft>
                <a:spcPts val="600"/>
              </a:spcAft>
            </a:pPr>
            <a:r>
              <a:rPr sz="1450" b="0">
                <a:solidFill>
                  <a:srgbClr val="1F2A3A"/>
                </a:solidFill>
                <a:latin typeface="맑은 고딕"/>
                <a:ea typeface="맑은 고딕"/>
                <a:cs typeface="맑은 고딕"/>
              </a:rPr>
              <a:t>• 단위: 유온의 unit ℃</a:t>
            </a:r>
          </a:p>
        </p:txBody>
      </p:sp>
      <p:sp>
        <p:nvSpPr>
          <p:cNvPr id="11" name="Rounded Rectangle 10"/>
          <p:cNvSpPr/>
          <p:nvPr/>
        </p:nvSpPr>
        <p:spPr>
          <a:xfrm>
            <a:off x="868680" y="5246433"/>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46433"/>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속성</a:t>
            </a:r>
          </a:p>
        </p:txBody>
      </p:sp>
      <p:sp>
        <p:nvSpPr>
          <p:cNvPr id="13" name="Rounded Rectangle 12"/>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80246"/>
            <a:ext cx="731520" cy="731520"/>
          </a:xfrm>
          <a:prstGeom prst="ellipse">
            <a:avLst/>
          </a:prstGeom>
          <a:solidFill>
            <a:srgbClr val="5CB8F2"/>
          </a:solidFill>
          <a:ln>
            <a:noFill/>
          </a:ln>
        </p:spPr>
        <p:txBody>
          <a:bodyPr rtlCol="0" anchor="ctr"/>
          <a:lstStyle/>
          <a:p>
            <a:pPr algn="ctr"/>
          </a:p>
        </p:txBody>
      </p:sp>
      <p:pic>
        <p:nvPicPr>
          <p:cNvPr id="15" name="아이콘:arrows-right" descr="arrows-right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관계로 두는 때</a:t>
            </a:r>
          </a:p>
        </p:txBody>
      </p:sp>
      <p:sp>
        <p:nvSpPr>
          <p:cNvPr id="17" name="TextBox 16"/>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가리키는 것이 자기 속성과 관계를 가진 다른 대상이다</a:t>
            </a:r>
          </a:p>
          <a:p>
            <a:pPr algn="l">
              <a:lnSpc>
                <a:spcPct val="110000"/>
              </a:lnSpc>
              <a:spcAft>
                <a:spcPts val="600"/>
              </a:spcAft>
            </a:pPr>
            <a:r>
              <a:rPr sz="1450" b="0">
                <a:solidFill>
                  <a:srgbClr val="1F2A3A"/>
                </a:solidFill>
                <a:latin typeface="맑은 고딕"/>
                <a:ea typeface="맑은 고딕"/>
                <a:cs typeface="맑은 고딕"/>
              </a:rPr>
              <a:t>• 오일 쿨러 → 쿨러 코어: USES_PART</a:t>
            </a:r>
          </a:p>
          <a:p>
            <a:pPr algn="l">
              <a:lnSpc>
                <a:spcPct val="110000"/>
              </a:lnSpc>
              <a:spcAft>
                <a:spcPts val="600"/>
              </a:spcAft>
            </a:pPr>
            <a:r>
              <a:rPr sz="1450" b="0">
                <a:solidFill>
                  <a:srgbClr val="1F2A3A"/>
                </a:solidFill>
                <a:latin typeface="맑은 고딕"/>
                <a:ea typeface="맑은 고딕"/>
                <a:cs typeface="맑은 고딕"/>
              </a:rPr>
              <a:t>• 쿨러 코어 → A정밀 · B-OEM: SUPPLIED_BY</a:t>
            </a:r>
          </a:p>
          <a:p>
            <a:pPr algn="l">
              <a:lnSpc>
                <a:spcPct val="110000"/>
              </a:lnSpc>
              <a:spcAft>
                <a:spcPts val="600"/>
              </a:spcAft>
            </a:pPr>
            <a:r>
              <a:rPr sz="1450" b="0">
                <a:solidFill>
                  <a:srgbClr val="1F2A3A"/>
                </a:solidFill>
                <a:latin typeface="맑은 고딕"/>
                <a:ea typeface="맑은 고딕"/>
                <a:cs typeface="맑은 고딕"/>
              </a:rPr>
              <a:t>• 쿨러 코어는 partNo를 갖고 공급사와 이어진다</a:t>
            </a:r>
          </a:p>
        </p:txBody>
      </p:sp>
      <p:sp>
        <p:nvSpPr>
          <p:cNvPr id="18" name="Rounded Rectangle 17"/>
          <p:cNvSpPr/>
          <p:nvPr/>
        </p:nvSpPr>
        <p:spPr>
          <a:xfrm>
            <a:off x="6781647" y="5246433"/>
            <a:ext cx="82296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46433"/>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관계</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표현의 선택 ③: 관계의 속성으로 두는 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두 대상의 짝마다 달라지는 값은 둘을 잇는 </a:t>
            </a:r>
            <a:r>
              <a:rPr sz="1600" b="1">
                <a:solidFill>
                  <a:srgbClr val="1A6FC4"/>
                </a:solidFill>
                <a:latin typeface="맑은 고딕"/>
                <a:ea typeface="맑은 고딕"/>
                <a:cs typeface="맑은 고딕"/>
              </a:rPr>
              <a:t>관계의 속성</a:t>
            </a:r>
            <a:r>
              <a:rPr sz="1600" b="0">
                <a:solidFill>
                  <a:srgbClr val="556175"/>
                </a:solidFill>
                <a:latin typeface="맑은 고딕"/>
                <a:ea typeface="맑은 고딕"/>
                <a:cs typeface="맑은 고딕"/>
              </a:rPr>
              <a:t>으로 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32</a:t>
            </a:r>
          </a:p>
        </p:txBody>
      </p:sp>
      <p:pic>
        <p:nvPicPr>
          <p:cNvPr id="6" name="삽화:공급조건.svg" descr="illust_3709266441622297231_179171724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164755" y="4700473"/>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펌프 축 씰 키트</a:t>
            </a:r>
          </a:p>
          <a:p>
            <a:pPr algn="ctr">
              <a:lnSpc>
                <a:spcPct val="110000"/>
              </a:lnSpc>
              <a:spcAft>
                <a:spcPts val="100"/>
              </a:spcAft>
            </a:pPr>
            <a:r>
              <a:rPr sz="1300" b="0">
                <a:solidFill>
                  <a:srgbClr val="556175"/>
                </a:solidFill>
                <a:latin typeface="맑은 고딕"/>
                <a:ea typeface="맑은 고딕"/>
                <a:cs typeface="맑은 고딕"/>
              </a:rPr>
              <a:t>부품</a:t>
            </a:r>
          </a:p>
        </p:txBody>
      </p:sp>
      <p:sp>
        <p:nvSpPr>
          <p:cNvPr id="8" name="TextBox 7"/>
          <p:cNvSpPr txBox="1"/>
          <p:nvPr/>
        </p:nvSpPr>
        <p:spPr>
          <a:xfrm>
            <a:off x="4928531" y="2360386"/>
            <a:ext cx="305465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price: 35 · leadDays: 2</a:t>
            </a:r>
          </a:p>
        </p:txBody>
      </p:sp>
      <p:sp>
        <p:nvSpPr>
          <p:cNvPr id="9" name="TextBox 8"/>
          <p:cNvSpPr txBox="1"/>
          <p:nvPr/>
        </p:nvSpPr>
        <p:spPr>
          <a:xfrm>
            <a:off x="4928531" y="3863714"/>
            <a:ext cx="305465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price: 55 · leadDays: 5</a:t>
            </a:r>
          </a:p>
        </p:txBody>
      </p:sp>
      <p:sp>
        <p:nvSpPr>
          <p:cNvPr id="10" name="TextBox 9"/>
          <p:cNvSpPr txBox="1"/>
          <p:nvPr/>
        </p:nvSpPr>
        <p:spPr>
          <a:xfrm>
            <a:off x="4928531" y="5362315"/>
            <a:ext cx="305465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price: 20 · leadDays: 1</a:t>
            </a:r>
          </a:p>
        </p:txBody>
      </p:sp>
      <p:sp>
        <p:nvSpPr>
          <p:cNvPr id="11" name="TextBox 10"/>
          <p:cNvSpPr txBox="1"/>
          <p:nvPr/>
        </p:nvSpPr>
        <p:spPr>
          <a:xfrm>
            <a:off x="9630523" y="2289474"/>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A정밀</a:t>
            </a:r>
          </a:p>
        </p:txBody>
      </p:sp>
      <p:sp>
        <p:nvSpPr>
          <p:cNvPr id="12" name="TextBox 11"/>
          <p:cNvSpPr txBox="1"/>
          <p:nvPr/>
        </p:nvSpPr>
        <p:spPr>
          <a:xfrm>
            <a:off x="9630523" y="3792803"/>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B-OEM</a:t>
            </a:r>
          </a:p>
        </p:txBody>
      </p:sp>
      <p:sp>
        <p:nvSpPr>
          <p:cNvPr id="13" name="TextBox 12"/>
          <p:cNvSpPr txBox="1"/>
          <p:nvPr/>
        </p:nvSpPr>
        <p:spPr>
          <a:xfrm>
            <a:off x="9630523" y="5291404"/>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C트레이딩</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표현을 고르는 순서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정보 하나를 어디에 둘지는 네 가지를 차례로 물어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33</a:t>
            </a:r>
          </a:p>
        </p:txBody>
      </p:sp>
      <p:sp>
        <p:nvSpPr>
          <p:cNvPr id="6" name="Rectangle 5"/>
          <p:cNvSpPr/>
          <p:nvPr/>
        </p:nvSpPr>
        <p:spPr>
          <a:xfrm>
            <a:off x="1935441" y="3042094"/>
            <a:ext cx="8320811" cy="36576"/>
          </a:xfrm>
          <a:prstGeom prst="rect">
            <a:avLst/>
          </a:prstGeom>
          <a:solidFill>
            <a:srgbClr val="D3D9E1"/>
          </a:solidFill>
          <a:ln>
            <a:noFill/>
          </a:ln>
        </p:spPr>
        <p:txBody>
          <a:bodyPr rtlCol="0" anchor="ctr"/>
          <a:lstStyle/>
          <a:p>
            <a:pPr algn="ctr"/>
          </a:p>
        </p:txBody>
      </p:sp>
      <p:sp>
        <p:nvSpPr>
          <p:cNvPr id="7" name="Oval 6"/>
          <p:cNvSpPr/>
          <p:nvPr/>
        </p:nvSpPr>
        <p:spPr>
          <a:xfrm>
            <a:off x="1501101" y="2626042"/>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category" descr="category_13294B_1.6.png"/>
          <p:cNvPicPr>
            <a:picLocks noChangeAspect="1"/>
          </p:cNvPicPr>
          <p:nvPr/>
        </p:nvPicPr>
        <p:blipFill>
          <a:blip r:embed="rId3"/>
          <a:stretch>
            <a:fillRect/>
          </a:stretch>
        </p:blipFill>
        <p:spPr>
          <a:xfrm>
            <a:off x="1718271" y="2843212"/>
            <a:ext cx="434340" cy="434340"/>
          </a:xfrm>
          <a:prstGeom prst="rect">
            <a:avLst/>
          </a:prstGeom>
        </p:spPr>
      </p:pic>
      <p:sp>
        <p:nvSpPr>
          <p:cNvPr id="9" name="Oval 8"/>
          <p:cNvSpPr/>
          <p:nvPr/>
        </p:nvSpPr>
        <p:spPr>
          <a:xfrm>
            <a:off x="2095461" y="2580322"/>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095461"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1"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유형인가</a:t>
            </a:r>
          </a:p>
          <a:p>
            <a:pPr algn="ctr">
              <a:lnSpc>
                <a:spcPct val="110000"/>
              </a:lnSpc>
              <a:spcAft>
                <a:spcPts val="400"/>
              </a:spcAft>
            </a:pPr>
            <a:r>
              <a:rPr sz="1350" b="0">
                <a:solidFill>
                  <a:srgbClr val="1F2A3A"/>
                </a:solidFill>
                <a:latin typeface="맑은 고딕"/>
                <a:ea typeface="맑은 고딕"/>
                <a:cs typeface="맑은 고딕"/>
              </a:rPr>
              <a:t>같은 종류가 여럿이고</a:t>
            </a:r>
          </a:p>
          <a:p>
            <a:pPr algn="ctr">
              <a:lnSpc>
                <a:spcPct val="110000"/>
              </a:lnSpc>
              <a:spcAft>
                <a:spcPts val="400"/>
              </a:spcAft>
            </a:pPr>
            <a:r>
              <a:rPr sz="1350" b="0">
                <a:solidFill>
                  <a:srgbClr val="1F2A3A"/>
                </a:solidFill>
                <a:latin typeface="맑은 고딕"/>
                <a:ea typeface="맑은 고딕"/>
                <a:cs typeface="맑은 고딕"/>
              </a:rPr>
              <a:t>속성과 관계가 같다</a:t>
            </a:r>
          </a:p>
          <a:p>
            <a:pPr algn="ctr">
              <a:lnSpc>
                <a:spcPct val="110000"/>
              </a:lnSpc>
              <a:spcAft>
                <a:spcPts val="400"/>
              </a:spcAft>
            </a:pPr>
            <a:r>
              <a:rPr sz="1350" b="0">
                <a:solidFill>
                  <a:srgbClr val="1F2A3A"/>
                </a:solidFill>
                <a:latin typeface="맑은 고딕"/>
                <a:ea typeface="맑은 고딕"/>
                <a:cs typeface="맑은 고딕"/>
              </a:rPr>
              <a:t>→ 클래스</a:t>
            </a:r>
          </a:p>
        </p:txBody>
      </p:sp>
      <p:sp>
        <p:nvSpPr>
          <p:cNvPr id="12" name="Oval 11"/>
          <p:cNvSpPr/>
          <p:nvPr/>
        </p:nvSpPr>
        <p:spPr>
          <a:xfrm>
            <a:off x="4274705" y="2626042"/>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forms" descr="forms_13294B_1.6.png"/>
          <p:cNvPicPr>
            <a:picLocks noChangeAspect="1"/>
          </p:cNvPicPr>
          <p:nvPr/>
        </p:nvPicPr>
        <p:blipFill>
          <a:blip r:embed="rId4"/>
          <a:stretch>
            <a:fillRect/>
          </a:stretch>
        </p:blipFill>
        <p:spPr>
          <a:xfrm>
            <a:off x="4491875" y="2843212"/>
            <a:ext cx="434340" cy="434340"/>
          </a:xfrm>
          <a:prstGeom prst="rect">
            <a:avLst/>
          </a:prstGeom>
        </p:spPr>
      </p:pic>
      <p:sp>
        <p:nvSpPr>
          <p:cNvPr id="14" name="Oval 13"/>
          <p:cNvSpPr/>
          <p:nvPr/>
        </p:nvSpPr>
        <p:spPr>
          <a:xfrm>
            <a:off x="4869065" y="2580322"/>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4869065"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3395395"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값으로 끝나는가</a:t>
            </a:r>
          </a:p>
          <a:p>
            <a:pPr algn="ctr">
              <a:lnSpc>
                <a:spcPct val="110000"/>
              </a:lnSpc>
              <a:spcAft>
                <a:spcPts val="400"/>
              </a:spcAft>
            </a:pPr>
            <a:r>
              <a:rPr sz="1350" b="0">
                <a:solidFill>
                  <a:srgbClr val="1F2A3A"/>
                </a:solidFill>
                <a:latin typeface="맑은 고딕"/>
                <a:ea typeface="맑은 고딕"/>
                <a:cs typeface="맑은 고딕"/>
              </a:rPr>
              <a:t>한 대상에 딸린 값이다</a:t>
            </a:r>
          </a:p>
          <a:p>
            <a:pPr algn="ctr">
              <a:lnSpc>
                <a:spcPct val="110000"/>
              </a:lnSpc>
              <a:spcAft>
                <a:spcPts val="400"/>
              </a:spcAft>
            </a:pPr>
            <a:r>
              <a:rPr sz="1350" b="0">
                <a:solidFill>
                  <a:srgbClr val="1F2A3A"/>
                </a:solidFill>
                <a:latin typeface="맑은 고딕"/>
                <a:ea typeface="맑은 고딕"/>
                <a:cs typeface="맑은 고딕"/>
              </a:rPr>
              <a:t>→ 속성</a:t>
            </a:r>
          </a:p>
        </p:txBody>
      </p:sp>
      <p:sp>
        <p:nvSpPr>
          <p:cNvPr id="17" name="Oval 16"/>
          <p:cNvSpPr/>
          <p:nvPr/>
        </p:nvSpPr>
        <p:spPr>
          <a:xfrm>
            <a:off x="7048309" y="2626042"/>
            <a:ext cx="868680" cy="868680"/>
          </a:xfrm>
          <a:prstGeom prst="ellipse">
            <a:avLst/>
          </a:prstGeom>
          <a:solidFill>
            <a:srgbClr val="FFFFFF"/>
          </a:solidFill>
          <a:ln w="25400">
            <a:solidFill>
              <a:srgbClr val="13294B"/>
            </a:solidFill>
          </a:ln>
        </p:spPr>
        <p:txBody>
          <a:bodyPr rtlCol="0" anchor="ctr"/>
          <a:lstStyle/>
          <a:p>
            <a:pPr algn="ctr"/>
          </a:p>
        </p:txBody>
      </p:sp>
      <p:pic>
        <p:nvPicPr>
          <p:cNvPr id="18" name="아이콘:arrows-right" descr="arrows-right_13294B_1.6.png"/>
          <p:cNvPicPr>
            <a:picLocks noChangeAspect="1"/>
          </p:cNvPicPr>
          <p:nvPr/>
        </p:nvPicPr>
        <p:blipFill>
          <a:blip r:embed="rId5"/>
          <a:stretch>
            <a:fillRect/>
          </a:stretch>
        </p:blipFill>
        <p:spPr>
          <a:xfrm>
            <a:off x="7265479" y="2843212"/>
            <a:ext cx="434340" cy="434340"/>
          </a:xfrm>
          <a:prstGeom prst="rect">
            <a:avLst/>
          </a:prstGeom>
        </p:spPr>
      </p:pic>
      <p:sp>
        <p:nvSpPr>
          <p:cNvPr id="19" name="Oval 18"/>
          <p:cNvSpPr/>
          <p:nvPr/>
        </p:nvSpPr>
        <p:spPr>
          <a:xfrm>
            <a:off x="7642669" y="2580322"/>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7642669"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6168999"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다른 대상인가</a:t>
            </a:r>
          </a:p>
          <a:p>
            <a:pPr algn="ctr">
              <a:lnSpc>
                <a:spcPct val="110000"/>
              </a:lnSpc>
              <a:spcAft>
                <a:spcPts val="400"/>
              </a:spcAft>
            </a:pPr>
            <a:r>
              <a:rPr sz="1350" b="0">
                <a:solidFill>
                  <a:srgbClr val="1F2A3A"/>
                </a:solidFill>
                <a:latin typeface="맑은 고딕"/>
                <a:ea typeface="맑은 고딕"/>
                <a:cs typeface="맑은 고딕"/>
              </a:rPr>
              <a:t>자기 속성과 관계를 가진</a:t>
            </a:r>
          </a:p>
          <a:p>
            <a:pPr algn="ctr">
              <a:lnSpc>
                <a:spcPct val="110000"/>
              </a:lnSpc>
              <a:spcAft>
                <a:spcPts val="400"/>
              </a:spcAft>
            </a:pPr>
            <a:r>
              <a:rPr sz="1350" b="0">
                <a:solidFill>
                  <a:srgbClr val="1F2A3A"/>
                </a:solidFill>
                <a:latin typeface="맑은 고딕"/>
                <a:ea typeface="맑은 고딕"/>
                <a:cs typeface="맑은 고딕"/>
              </a:rPr>
              <a:t>대상을 가리킨다</a:t>
            </a:r>
          </a:p>
          <a:p>
            <a:pPr algn="ctr">
              <a:lnSpc>
                <a:spcPct val="110000"/>
              </a:lnSpc>
              <a:spcAft>
                <a:spcPts val="400"/>
              </a:spcAft>
            </a:pPr>
            <a:r>
              <a:rPr sz="1350" b="0">
                <a:solidFill>
                  <a:srgbClr val="1F2A3A"/>
                </a:solidFill>
                <a:latin typeface="맑은 고딕"/>
                <a:ea typeface="맑은 고딕"/>
                <a:cs typeface="맑은 고딕"/>
              </a:rPr>
              <a:t>→ 관계</a:t>
            </a:r>
          </a:p>
        </p:txBody>
      </p:sp>
      <p:sp>
        <p:nvSpPr>
          <p:cNvPr id="22" name="Oval 21"/>
          <p:cNvSpPr/>
          <p:nvPr/>
        </p:nvSpPr>
        <p:spPr>
          <a:xfrm>
            <a:off x="9821913" y="2626042"/>
            <a:ext cx="868680" cy="868680"/>
          </a:xfrm>
          <a:prstGeom prst="ellipse">
            <a:avLst/>
          </a:prstGeom>
          <a:solidFill>
            <a:srgbClr val="5CB8F2"/>
          </a:solidFill>
          <a:ln>
            <a:noFill/>
          </a:ln>
        </p:spPr>
        <p:txBody>
          <a:bodyPr rtlCol="0" anchor="ctr"/>
          <a:lstStyle/>
          <a:p>
            <a:pPr algn="ctr"/>
          </a:p>
        </p:txBody>
      </p:sp>
      <p:pic>
        <p:nvPicPr>
          <p:cNvPr id="23" name="아이콘:link" descr="link_13294B_1.6.png"/>
          <p:cNvPicPr>
            <a:picLocks noChangeAspect="1"/>
          </p:cNvPicPr>
          <p:nvPr/>
        </p:nvPicPr>
        <p:blipFill>
          <a:blip r:embed="rId6"/>
          <a:stretch>
            <a:fillRect/>
          </a:stretch>
        </p:blipFill>
        <p:spPr>
          <a:xfrm>
            <a:off x="10039083" y="2843212"/>
            <a:ext cx="434340" cy="434340"/>
          </a:xfrm>
          <a:prstGeom prst="rect">
            <a:avLst/>
          </a:prstGeom>
        </p:spPr>
      </p:pic>
      <p:sp>
        <p:nvSpPr>
          <p:cNvPr id="24" name="Oval 23"/>
          <p:cNvSpPr/>
          <p:nvPr/>
        </p:nvSpPr>
        <p:spPr>
          <a:xfrm>
            <a:off x="10416273" y="2580322"/>
            <a:ext cx="347472" cy="347472"/>
          </a:xfrm>
          <a:prstGeom prst="ellipse">
            <a:avLst/>
          </a:prstGeom>
          <a:solidFill>
            <a:srgbClr val="13294B"/>
          </a:solidFill>
          <a:ln>
            <a:noFill/>
          </a:ln>
        </p:spPr>
        <p:txBody>
          <a:bodyPr rtlCol="0" anchor="ctr"/>
          <a:lstStyle/>
          <a:p>
            <a:pPr algn="ctr"/>
          </a:p>
        </p:txBody>
      </p:sp>
      <p:sp>
        <p:nvSpPr>
          <p:cNvPr id="25" name="TextBox 24"/>
          <p:cNvSpPr txBox="1"/>
          <p:nvPr/>
        </p:nvSpPr>
        <p:spPr>
          <a:xfrm>
            <a:off x="10416273"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26" name="TextBox 25"/>
          <p:cNvSpPr txBox="1"/>
          <p:nvPr/>
        </p:nvSpPr>
        <p:spPr>
          <a:xfrm>
            <a:off x="8942603"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짝에 딸린 값인가</a:t>
            </a:r>
          </a:p>
          <a:p>
            <a:pPr algn="ctr">
              <a:lnSpc>
                <a:spcPct val="110000"/>
              </a:lnSpc>
              <a:spcAft>
                <a:spcPts val="400"/>
              </a:spcAft>
            </a:pPr>
            <a:r>
              <a:rPr sz="1350" b="0">
                <a:solidFill>
                  <a:srgbClr val="1F2A3A"/>
                </a:solidFill>
                <a:latin typeface="맑은 고딕"/>
                <a:ea typeface="맑은 고딕"/>
                <a:cs typeface="맑은 고딕"/>
              </a:rPr>
              <a:t>두 대상의 짝마다</a:t>
            </a:r>
          </a:p>
          <a:p>
            <a:pPr algn="ctr">
              <a:lnSpc>
                <a:spcPct val="110000"/>
              </a:lnSpc>
              <a:spcAft>
                <a:spcPts val="400"/>
              </a:spcAft>
            </a:pPr>
            <a:r>
              <a:rPr sz="1350" b="0">
                <a:solidFill>
                  <a:srgbClr val="1F2A3A"/>
                </a:solidFill>
                <a:latin typeface="맑은 고딕"/>
                <a:ea typeface="맑은 고딕"/>
                <a:cs typeface="맑은 고딕"/>
              </a:rPr>
              <a:t>값이 달라진다</a:t>
            </a:r>
          </a:p>
          <a:p>
            <a:pPr algn="ctr">
              <a:lnSpc>
                <a:spcPct val="110000"/>
              </a:lnSpc>
              <a:spcAft>
                <a:spcPts val="400"/>
              </a:spcAft>
            </a:pPr>
            <a:r>
              <a:rPr sz="1350" b="0">
                <a:solidFill>
                  <a:srgbClr val="1F2A3A"/>
                </a:solidFill>
                <a:latin typeface="맑은 고딕"/>
                <a:ea typeface="맑은 고딕"/>
                <a:cs typeface="맑은 고딕"/>
              </a:rPr>
              <a:t>→ 관계의 속성</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흔한 실수 ①: 대상마다 클래스, 같은 관계를 양쪽으로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실제 대상마다 클래스를 만들거나 같은 사실을 양쪽 관계로 적으면 대상이 늘 때마다 고칠 곳이 늘어난다.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34</a:t>
            </a:r>
          </a:p>
        </p:txBody>
      </p:sp>
      <p:sp>
        <p:nvSpPr>
          <p:cNvPr id="6" name="TextBox 5"/>
          <p:cNvSpPr txBox="1"/>
          <p:nvPr/>
        </p:nvSpPr>
        <p:spPr>
          <a:xfrm>
            <a:off x="640080" y="26197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인스턴스를 클래스로 만든다</a:t>
            </a:r>
          </a:p>
          <a:p>
            <a:pPr algn="l">
              <a:lnSpc>
                <a:spcPct val="110000"/>
              </a:lnSpc>
              <a:spcAft>
                <a:spcPts val="200"/>
              </a:spcAft>
            </a:pPr>
            <a:r>
              <a:rPr sz="1150" b="0">
                <a:solidFill>
                  <a:srgbClr val="556175"/>
                </a:solidFill>
                <a:latin typeface="맑은 고딕"/>
                <a:ea typeface="맑은 고딕"/>
                <a:cs typeface="맑은 고딕"/>
              </a:rPr>
              <a:t>대상마다 클래스</a:t>
            </a:r>
          </a:p>
        </p:txBody>
      </p:sp>
      <p:sp>
        <p:nvSpPr>
          <p:cNvPr id="7" name="TextBox 6"/>
          <p:cNvSpPr txBox="1"/>
          <p:nvPr/>
        </p:nvSpPr>
        <p:spPr>
          <a:xfrm>
            <a:off x="4023359" y="26197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클래스를 유온 센서, 토출 압력 센서, 팬 진동 센서로 만들면 센서가 하나 늘 때마다 클래스가 늘고 「센서를 모두 찾아라」에 답할 수 없다.</a:t>
            </a:r>
          </a:p>
          <a:p>
            <a:pPr algn="l">
              <a:lnSpc>
                <a:spcPct val="110000"/>
              </a:lnSpc>
              <a:spcAft>
                <a:spcPts val="300"/>
              </a:spcAft>
            </a:pPr>
            <a:r>
              <a:rPr sz="1400" b="0">
                <a:solidFill>
                  <a:srgbClr val="1F2A3A"/>
                </a:solidFill>
                <a:latin typeface="맑은 고딕"/>
                <a:ea typeface="맑은 고딕"/>
                <a:cs typeface="맑은 고딕"/>
              </a:rPr>
              <a:t>고침: 클래스는 센서 하나로 두고 셋을 그 인스턴스로 둔다.</a:t>
            </a:r>
          </a:p>
        </p:txBody>
      </p:sp>
      <p:sp>
        <p:nvSpPr>
          <p:cNvPr id="8" name="Rectangle 7"/>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640080" y="39913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같은 관계를 양쪽으로 만든다</a:t>
            </a:r>
          </a:p>
          <a:p>
            <a:pPr algn="l">
              <a:lnSpc>
                <a:spcPct val="110000"/>
              </a:lnSpc>
              <a:spcAft>
                <a:spcPts val="200"/>
              </a:spcAft>
            </a:pPr>
            <a:r>
              <a:rPr sz="1150" b="0">
                <a:solidFill>
                  <a:srgbClr val="556175"/>
                </a:solidFill>
                <a:latin typeface="맑은 고딕"/>
                <a:ea typeface="맑은 고딕"/>
                <a:cs typeface="맑은 고딕"/>
              </a:rPr>
              <a:t>관계 둘</a:t>
            </a:r>
          </a:p>
        </p:txBody>
      </p:sp>
      <p:sp>
        <p:nvSpPr>
          <p:cNvPr id="10" name="TextBox 9"/>
          <p:cNvSpPr txBox="1"/>
          <p:nvPr/>
        </p:nvSpPr>
        <p:spPr>
          <a:xfrm>
            <a:off x="4023359" y="39913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설비 → 구성 요소 HAS_COMPONENT와 구성 요소 → 설비 BELONGS_TO를 함께 적으면 같은 사실이 두 번 적혀 한쪽만 고칠 때 어긋난다.</a:t>
            </a:r>
          </a:p>
          <a:p>
            <a:pPr algn="l">
              <a:lnSpc>
                <a:spcPct val="110000"/>
              </a:lnSpc>
              <a:spcAft>
                <a:spcPts val="300"/>
              </a:spcAft>
            </a:pPr>
            <a:r>
              <a:rPr sz="1400" b="0">
                <a:solidFill>
                  <a:srgbClr val="1F2A3A"/>
                </a:solidFill>
                <a:latin typeface="맑은 고딕"/>
                <a:ea typeface="맑은 고딕"/>
                <a:cs typeface="맑은 고딕"/>
              </a:rPr>
              <a:t>고침: HAS_COMPONENT 하나만 두고 반대 방향은 화살표를 거슬러 읽는다.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흔한 실수 ②: 값을 노드로 만든다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단위나 수치 같은 값을 노드로 만들면 따라갈 곳 없는 노드만 늘어난다.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35</a:t>
            </a:r>
          </a:p>
        </p:txBody>
      </p:sp>
      <p:pic>
        <p:nvPicPr>
          <p:cNvPr id="6" name="삽화:실수_값노드.svg" descr="illust_7711492620969013332_179171724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077479" y="1958553"/>
            <a:ext cx="392741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값을 노드로 만든 그림</a:t>
            </a:r>
          </a:p>
          <a:p>
            <a:pPr algn="ctr">
              <a:lnSpc>
                <a:spcPct val="110000"/>
              </a:lnSpc>
              <a:spcAft>
                <a:spcPts val="100"/>
              </a:spcAft>
            </a:pPr>
            <a:r>
              <a:rPr sz="1300" b="0">
                <a:solidFill>
                  <a:srgbClr val="556175"/>
                </a:solidFill>
                <a:latin typeface="맑은 고딕"/>
                <a:ea typeface="맑은 고딕"/>
                <a:cs typeface="맑은 고딕"/>
              </a:rPr>
              <a:t>값에서는 더 따라갈 곳이 없다</a:t>
            </a:r>
          </a:p>
        </p:txBody>
      </p:sp>
      <p:sp>
        <p:nvSpPr>
          <p:cNvPr id="8" name="TextBox 7"/>
          <p:cNvSpPr txBox="1"/>
          <p:nvPr/>
        </p:nvSpPr>
        <p:spPr>
          <a:xfrm>
            <a:off x="1426583" y="4629561"/>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유온</a:t>
            </a:r>
          </a:p>
        </p:txBody>
      </p:sp>
      <p:sp>
        <p:nvSpPr>
          <p:cNvPr id="9" name="TextBox 8"/>
          <p:cNvSpPr txBox="1"/>
          <p:nvPr/>
        </p:nvSpPr>
        <p:spPr>
          <a:xfrm>
            <a:off x="4208504" y="2667670"/>
            <a:ext cx="87275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a:t>
            </a:r>
          </a:p>
        </p:txBody>
      </p:sp>
      <p:sp>
        <p:nvSpPr>
          <p:cNvPr id="10" name="TextBox 9"/>
          <p:cNvSpPr txBox="1"/>
          <p:nvPr/>
        </p:nvSpPr>
        <p:spPr>
          <a:xfrm>
            <a:off x="4208504" y="4842296"/>
            <a:ext cx="87275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65</a:t>
            </a:r>
          </a:p>
        </p:txBody>
      </p:sp>
      <p:sp>
        <p:nvSpPr>
          <p:cNvPr id="11" name="TextBox 10"/>
          <p:cNvSpPr txBox="1"/>
          <p:nvPr/>
        </p:nvSpPr>
        <p:spPr>
          <a:xfrm>
            <a:off x="7186797" y="1958553"/>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값을 속성으로 둔 그림</a:t>
            </a:r>
          </a:p>
          <a:p>
            <a:pPr algn="ctr">
              <a:lnSpc>
                <a:spcPct val="110000"/>
              </a:lnSpc>
              <a:spcAft>
                <a:spcPts val="100"/>
              </a:spcAft>
            </a:pPr>
            <a:r>
              <a:rPr sz="1300" b="0">
                <a:solidFill>
                  <a:srgbClr val="556175"/>
                </a:solidFill>
                <a:latin typeface="맑은 고딕"/>
                <a:ea typeface="맑은 고딕"/>
                <a:cs typeface="맑은 고딕"/>
              </a:rPr>
              <a:t>값은 대상에 딸린 칸에 적는다</a:t>
            </a:r>
          </a:p>
        </p:txBody>
      </p:sp>
      <p:sp>
        <p:nvSpPr>
          <p:cNvPr id="12" name="TextBox 11"/>
          <p:cNvSpPr txBox="1"/>
          <p:nvPr/>
        </p:nvSpPr>
        <p:spPr>
          <a:xfrm>
            <a:off x="7055883" y="4629561"/>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유온</a:t>
            </a:r>
          </a:p>
        </p:txBody>
      </p:sp>
      <p:sp>
        <p:nvSpPr>
          <p:cNvPr id="13" name="TextBox 12"/>
          <p:cNvSpPr txBox="1"/>
          <p:nvPr/>
        </p:nvSpPr>
        <p:spPr>
          <a:xfrm>
            <a:off x="9455972" y="3353150"/>
            <a:ext cx="1636424"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속성</a:t>
            </a:r>
          </a:p>
          <a:p>
            <a:pPr algn="ctr">
              <a:lnSpc>
                <a:spcPct val="110000"/>
              </a:lnSpc>
              <a:spcAft>
                <a:spcPts val="100"/>
              </a:spcAft>
            </a:pPr>
            <a:r>
              <a:rPr sz="1300" b="0">
                <a:solidFill>
                  <a:srgbClr val="556175"/>
                </a:solidFill>
                <a:latin typeface="맑은 고딕"/>
                <a:ea typeface="맑은 고딕"/>
                <a:cs typeface="맑은 고딕"/>
              </a:rPr>
              <a:t>unit: ℃</a:t>
            </a:r>
          </a:p>
          <a:p>
            <a:pPr algn="ctr">
              <a:lnSpc>
                <a:spcPct val="110000"/>
              </a:lnSpc>
              <a:spcAft>
                <a:spcPts val="100"/>
              </a:spcAft>
            </a:pPr>
            <a:r>
              <a:rPr sz="1300" b="0">
                <a:solidFill>
                  <a:srgbClr val="556175"/>
                </a:solidFill>
                <a:latin typeface="맑은 고딕"/>
                <a:ea typeface="맑은 고딕"/>
                <a:cs typeface="맑은 고딕"/>
              </a:rPr>
              <a:t>limit: 65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단원 정리: 현장 정보를 나누는 네 가지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현장 정보는 클래스, 인스턴스, 속성, 관계의 네 가지로 나누어 적는다.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36</a:t>
            </a:r>
          </a:p>
        </p:txBody>
      </p:sp>
      <p:sp>
        <p:nvSpPr>
          <p:cNvPr id="6" name="Rounded Rectangle 5"/>
          <p:cNvSpPr/>
          <p:nvPr/>
        </p:nvSpPr>
        <p:spPr>
          <a:xfrm>
            <a:off x="548640" y="2603182"/>
            <a:ext cx="2485567" cy="2776346"/>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786062"/>
            <a:ext cx="731520" cy="731520"/>
          </a:xfrm>
          <a:prstGeom prst="ellipse">
            <a:avLst/>
          </a:prstGeom>
          <a:solidFill>
            <a:srgbClr val="FFFFFF"/>
          </a:solidFill>
          <a:ln>
            <a:noFill/>
          </a:ln>
        </p:spPr>
        <p:txBody>
          <a:bodyPr rtlCol="0" anchor="ctr"/>
          <a:lstStyle/>
          <a:p>
            <a:pPr algn="ctr"/>
          </a:p>
        </p:txBody>
      </p:sp>
      <p:pic>
        <p:nvPicPr>
          <p:cNvPr id="8" name="아이콘:category" descr="category_13294B_1.6.png"/>
          <p:cNvPicPr>
            <a:picLocks noChangeAspect="1"/>
          </p:cNvPicPr>
          <p:nvPr/>
        </p:nvPicPr>
        <p:blipFill>
          <a:blip r:embed="rId3"/>
          <a:stretch>
            <a:fillRect/>
          </a:stretch>
        </p:blipFill>
        <p:spPr>
          <a:xfrm>
            <a:off x="1579283" y="2939681"/>
            <a:ext cx="424281" cy="424281"/>
          </a:xfrm>
          <a:prstGeom prst="rect">
            <a:avLst/>
          </a:prstGeom>
        </p:spPr>
      </p:pic>
      <p:sp>
        <p:nvSpPr>
          <p:cNvPr id="9" name="TextBox 8"/>
          <p:cNvSpPr txBox="1"/>
          <p:nvPr/>
        </p:nvSpPr>
        <p:spPr>
          <a:xfrm>
            <a:off x="621792"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클래스</a:t>
            </a:r>
          </a:p>
          <a:p>
            <a:pPr algn="ctr">
              <a:lnSpc>
                <a:spcPct val="110000"/>
              </a:lnSpc>
              <a:spcAft>
                <a:spcPts val="400"/>
              </a:spcAft>
            </a:pPr>
            <a:r>
              <a:rPr sz="1350" b="0">
                <a:solidFill>
                  <a:srgbClr val="1F2A3A"/>
                </a:solidFill>
                <a:latin typeface="맑은 고딕"/>
                <a:ea typeface="맑은 고딕"/>
                <a:cs typeface="맑은 고딕"/>
              </a:rPr>
              <a:t>대상의 유형</a:t>
            </a:r>
          </a:p>
          <a:p>
            <a:pPr algn="ctr">
              <a:lnSpc>
                <a:spcPct val="110000"/>
              </a:lnSpc>
              <a:spcAft>
                <a:spcPts val="400"/>
              </a:spcAft>
            </a:pPr>
            <a:r>
              <a:rPr sz="1350" b="0">
                <a:solidFill>
                  <a:srgbClr val="1F2A3A"/>
                </a:solidFill>
                <a:latin typeface="맑은 고딕"/>
                <a:ea typeface="맑은 고딕"/>
                <a:cs typeface="맑은 고딕"/>
              </a:rPr>
              <a:t>설비, 센서,</a:t>
            </a:r>
          </a:p>
          <a:p>
            <a:pPr algn="ctr">
              <a:lnSpc>
                <a:spcPct val="110000"/>
              </a:lnSpc>
              <a:spcAft>
                <a:spcPts val="400"/>
              </a:spcAft>
            </a:pPr>
            <a:r>
              <a:rPr sz="1350" b="0">
                <a:solidFill>
                  <a:srgbClr val="1F2A3A"/>
                </a:solidFill>
                <a:latin typeface="맑은 고딕"/>
                <a:ea typeface="맑은 고딕"/>
                <a:cs typeface="맑은 고딕"/>
              </a:rPr>
              <a:t>상태 변수</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603182"/>
            <a:ext cx="2485567" cy="2776346"/>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786062"/>
            <a:ext cx="731520" cy="731520"/>
          </a:xfrm>
          <a:prstGeom prst="ellipse">
            <a:avLst/>
          </a:prstGeom>
          <a:solidFill>
            <a:srgbClr val="FFFFFF"/>
          </a:solidFill>
          <a:ln>
            <a:noFill/>
          </a:ln>
        </p:spPr>
        <p:txBody>
          <a:bodyPr rtlCol="0" anchor="ctr"/>
          <a:lstStyle/>
          <a:p>
            <a:pPr algn="ctr"/>
          </a:p>
        </p:txBody>
      </p:sp>
      <p:pic>
        <p:nvPicPr>
          <p:cNvPr id="13" name="아이콘:target" descr="target_13294B_1.6.png"/>
          <p:cNvPicPr>
            <a:picLocks noChangeAspect="1"/>
          </p:cNvPicPr>
          <p:nvPr/>
        </p:nvPicPr>
        <p:blipFill>
          <a:blip r:embed="rId4"/>
          <a:stretch>
            <a:fillRect/>
          </a:stretch>
        </p:blipFill>
        <p:spPr>
          <a:xfrm>
            <a:off x="4448898" y="2939681"/>
            <a:ext cx="424281" cy="424281"/>
          </a:xfrm>
          <a:prstGeom prst="rect">
            <a:avLst/>
          </a:prstGeom>
        </p:spPr>
      </p:pic>
      <p:sp>
        <p:nvSpPr>
          <p:cNvPr id="14" name="TextBox 13"/>
          <p:cNvSpPr txBox="1"/>
          <p:nvPr/>
        </p:nvSpPr>
        <p:spPr>
          <a:xfrm>
            <a:off x="3491407"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인스턴스</a:t>
            </a:r>
          </a:p>
          <a:p>
            <a:pPr algn="ctr">
              <a:lnSpc>
                <a:spcPct val="110000"/>
              </a:lnSpc>
              <a:spcAft>
                <a:spcPts val="400"/>
              </a:spcAft>
            </a:pPr>
            <a:r>
              <a:rPr sz="1350" b="0">
                <a:solidFill>
                  <a:srgbClr val="1F2A3A"/>
                </a:solidFill>
                <a:latin typeface="맑은 고딕"/>
                <a:ea typeface="맑은 고딕"/>
                <a:cs typeface="맑은 고딕"/>
              </a:rPr>
              <a:t>실제 대상 하나</a:t>
            </a:r>
          </a:p>
          <a:p>
            <a:pPr algn="ctr">
              <a:lnSpc>
                <a:spcPct val="110000"/>
              </a:lnSpc>
              <a:spcAft>
                <a:spcPts val="400"/>
              </a:spcAft>
            </a:pPr>
            <a:r>
              <a:rPr sz="1350" b="0">
                <a:solidFill>
                  <a:srgbClr val="1F2A3A"/>
                </a:solidFill>
                <a:latin typeface="맑은 고딕"/>
                <a:ea typeface="맑은 고딕"/>
                <a:cs typeface="맑은 고딕"/>
              </a:rPr>
              <a:t>HYD-01,</a:t>
            </a:r>
          </a:p>
          <a:p>
            <a:pPr algn="ctr">
              <a:lnSpc>
                <a:spcPct val="110000"/>
              </a:lnSpc>
              <a:spcAft>
                <a:spcPts val="400"/>
              </a:spcAft>
            </a:pPr>
            <a:r>
              <a:rPr sz="1350" b="0">
                <a:solidFill>
                  <a:srgbClr val="1F2A3A"/>
                </a:solidFill>
                <a:latin typeface="맑은 고딕"/>
                <a:ea typeface="맑은 고딕"/>
                <a:cs typeface="맑은 고딕"/>
              </a:rPr>
              <a:t>유온 센서, 유온</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603182"/>
            <a:ext cx="2485567" cy="2776346"/>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786062"/>
            <a:ext cx="731520" cy="731520"/>
          </a:xfrm>
          <a:prstGeom prst="ellipse">
            <a:avLst/>
          </a:prstGeom>
          <a:solidFill>
            <a:srgbClr val="FFFFFF"/>
          </a:solidFill>
          <a:ln>
            <a:noFill/>
          </a:ln>
        </p:spPr>
        <p:txBody>
          <a:bodyPr rtlCol="0" anchor="ctr"/>
          <a:lstStyle/>
          <a:p>
            <a:pPr algn="ctr"/>
          </a:p>
        </p:txBody>
      </p:sp>
      <p:pic>
        <p:nvPicPr>
          <p:cNvPr id="18" name="아이콘:forms" descr="forms_13294B_1.6.png"/>
          <p:cNvPicPr>
            <a:picLocks noChangeAspect="1"/>
          </p:cNvPicPr>
          <p:nvPr/>
        </p:nvPicPr>
        <p:blipFill>
          <a:blip r:embed="rId5"/>
          <a:stretch>
            <a:fillRect/>
          </a:stretch>
        </p:blipFill>
        <p:spPr>
          <a:xfrm>
            <a:off x="7318514" y="2939681"/>
            <a:ext cx="424281" cy="424281"/>
          </a:xfrm>
          <a:prstGeom prst="rect">
            <a:avLst/>
          </a:prstGeom>
        </p:spPr>
      </p:pic>
      <p:sp>
        <p:nvSpPr>
          <p:cNvPr id="19" name="TextBox 18"/>
          <p:cNvSpPr txBox="1"/>
          <p:nvPr/>
        </p:nvSpPr>
        <p:spPr>
          <a:xfrm>
            <a:off x="6361023"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속성</a:t>
            </a:r>
          </a:p>
          <a:p>
            <a:pPr algn="ctr">
              <a:lnSpc>
                <a:spcPct val="110000"/>
              </a:lnSpc>
              <a:spcAft>
                <a:spcPts val="400"/>
              </a:spcAft>
            </a:pPr>
            <a:r>
              <a:rPr sz="1350" b="0">
                <a:solidFill>
                  <a:srgbClr val="1F2A3A"/>
                </a:solidFill>
                <a:latin typeface="맑은 고딕"/>
                <a:ea typeface="맑은 고딕"/>
                <a:cs typeface="맑은 고딕"/>
              </a:rPr>
              <a:t>대상에 딸린 값</a:t>
            </a:r>
          </a:p>
          <a:p>
            <a:pPr algn="ctr">
              <a:lnSpc>
                <a:spcPct val="110000"/>
              </a:lnSpc>
              <a:spcAft>
                <a:spcPts val="400"/>
              </a:spcAft>
            </a:pPr>
            <a:r>
              <a:rPr sz="1350" b="0">
                <a:solidFill>
                  <a:srgbClr val="1F2A3A"/>
                </a:solidFill>
                <a:latin typeface="맑은 고딕"/>
                <a:ea typeface="맑은 고딕"/>
                <a:cs typeface="맑은 고딕"/>
              </a:rPr>
              <a:t>tag: TS1</a:t>
            </a:r>
          </a:p>
          <a:p>
            <a:pPr algn="ctr">
              <a:lnSpc>
                <a:spcPct val="110000"/>
              </a:lnSpc>
              <a:spcAft>
                <a:spcPts val="400"/>
              </a:spcAft>
            </a:pPr>
            <a:r>
              <a:rPr sz="1350" b="0">
                <a:solidFill>
                  <a:srgbClr val="1F2A3A"/>
                </a:solidFill>
                <a:latin typeface="맑은 고딕"/>
                <a:ea typeface="맑은 고딕"/>
                <a:cs typeface="맑은 고딕"/>
              </a:rPr>
              <a:t>limit: 65</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603182"/>
            <a:ext cx="2485567" cy="2776346"/>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786062"/>
            <a:ext cx="731520" cy="731520"/>
          </a:xfrm>
          <a:prstGeom prst="ellipse">
            <a:avLst/>
          </a:prstGeom>
          <a:solidFill>
            <a:srgbClr val="5CB8F2"/>
          </a:solidFill>
          <a:ln>
            <a:noFill/>
          </a:ln>
        </p:spPr>
        <p:txBody>
          <a:bodyPr rtlCol="0" anchor="ctr"/>
          <a:lstStyle/>
          <a:p>
            <a:pPr algn="ctr"/>
          </a:p>
        </p:txBody>
      </p:sp>
      <p:pic>
        <p:nvPicPr>
          <p:cNvPr id="23" name="아이콘:arrows-right" descr="arrows-right_13294B_1.6.png"/>
          <p:cNvPicPr>
            <a:picLocks noChangeAspect="1"/>
          </p:cNvPicPr>
          <p:nvPr/>
        </p:nvPicPr>
        <p:blipFill>
          <a:blip r:embed="rId6"/>
          <a:stretch>
            <a:fillRect/>
          </a:stretch>
        </p:blipFill>
        <p:spPr>
          <a:xfrm>
            <a:off x="10188130" y="2939681"/>
            <a:ext cx="424281" cy="424281"/>
          </a:xfrm>
          <a:prstGeom prst="rect">
            <a:avLst/>
          </a:prstGeom>
        </p:spPr>
      </p:pic>
      <p:sp>
        <p:nvSpPr>
          <p:cNvPr id="24" name="TextBox 23"/>
          <p:cNvSpPr txBox="1"/>
          <p:nvPr/>
        </p:nvSpPr>
        <p:spPr>
          <a:xfrm>
            <a:off x="9230639"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관계</a:t>
            </a:r>
          </a:p>
          <a:p>
            <a:pPr algn="ctr">
              <a:lnSpc>
                <a:spcPct val="110000"/>
              </a:lnSpc>
              <a:spcAft>
                <a:spcPts val="400"/>
              </a:spcAft>
            </a:pPr>
            <a:r>
              <a:rPr sz="1350" b="0">
                <a:solidFill>
                  <a:srgbClr val="1F2A3A"/>
                </a:solidFill>
                <a:latin typeface="맑은 고딕"/>
                <a:ea typeface="맑은 고딕"/>
                <a:cs typeface="맑은 고딕"/>
              </a:rPr>
              <a:t>대상과 대상의 연결</a:t>
            </a:r>
          </a:p>
          <a:p>
            <a:pPr algn="ctr">
              <a:lnSpc>
                <a:spcPct val="110000"/>
              </a:lnSpc>
              <a:spcAft>
                <a:spcPts val="400"/>
              </a:spcAft>
            </a:pPr>
            <a:r>
              <a:rPr sz="1350" b="0">
                <a:solidFill>
                  <a:srgbClr val="1F2A3A"/>
                </a:solidFill>
                <a:latin typeface="맑은 고딕"/>
                <a:ea typeface="맑은 고딕"/>
                <a:cs typeface="맑은 고딕"/>
              </a:rPr>
              <a:t>유형, 방향,</a:t>
            </a:r>
          </a:p>
          <a:p>
            <a:pPr algn="ctr">
              <a:lnSpc>
                <a:spcPct val="110000"/>
              </a:lnSpc>
              <a:spcAft>
                <a:spcPts val="400"/>
              </a:spcAft>
            </a:pPr>
            <a:r>
              <a:rPr sz="1350" b="0">
                <a:solidFill>
                  <a:srgbClr val="1F2A3A"/>
                </a:solidFill>
                <a:latin typeface="맑은 고딕"/>
                <a:ea typeface="맑은 고딕"/>
                <a:cs typeface="맑은 고딕"/>
              </a:rPr>
              <a:t>카디널리티</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02</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온톨로지 스키마 설계</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클래스, 속성, 관계, 제약을 일관되게 정의하는 구조</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정의 없이 넣은 데이터 ①: 같은 대상이 여러 노드가 된다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정해 둔 이름이 없으면 같은 장치가 넣는 사람마다 다른 이름의 노드로 들어간다.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38</a:t>
            </a:r>
          </a:p>
        </p:txBody>
      </p:sp>
      <p:pic>
        <p:nvPicPr>
          <p:cNvPr id="6" name="삽화:여러노드.svg" descr="illust_4418378149309480783_179171724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4132138" y="1722180"/>
            <a:ext cx="392741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같은 장치가 노드 셋으로 흩어졌다</a:t>
            </a:r>
          </a:p>
        </p:txBody>
      </p:sp>
      <p:sp>
        <p:nvSpPr>
          <p:cNvPr id="8" name="TextBox 7"/>
          <p:cNvSpPr txBox="1"/>
          <p:nvPr/>
        </p:nvSpPr>
        <p:spPr>
          <a:xfrm>
            <a:off x="2768451" y="3301148"/>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「오일 쿨러」</a:t>
            </a:r>
          </a:p>
        </p:txBody>
      </p:sp>
      <p:sp>
        <p:nvSpPr>
          <p:cNvPr id="9" name="TextBox 8"/>
          <p:cNvSpPr txBox="1"/>
          <p:nvPr/>
        </p:nvSpPr>
        <p:spPr>
          <a:xfrm>
            <a:off x="6804964" y="4062267"/>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a:t>
            </a:r>
          </a:p>
        </p:txBody>
      </p:sp>
      <p:sp>
        <p:nvSpPr>
          <p:cNvPr id="10" name="TextBox 9"/>
          <p:cNvSpPr txBox="1"/>
          <p:nvPr/>
        </p:nvSpPr>
        <p:spPr>
          <a:xfrm>
            <a:off x="7677724" y="3301148"/>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「열교환기」</a:t>
            </a:r>
          </a:p>
        </p:txBody>
      </p:sp>
      <p:sp>
        <p:nvSpPr>
          <p:cNvPr id="11" name="TextBox 10"/>
          <p:cNvSpPr txBox="1"/>
          <p:nvPr/>
        </p:nvSpPr>
        <p:spPr>
          <a:xfrm>
            <a:off x="1164755" y="3187689"/>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HYD-01</a:t>
            </a:r>
          </a:p>
        </p:txBody>
      </p:sp>
      <p:sp>
        <p:nvSpPr>
          <p:cNvPr id="12" name="TextBox 11"/>
          <p:cNvSpPr txBox="1"/>
          <p:nvPr/>
        </p:nvSpPr>
        <p:spPr>
          <a:xfrm>
            <a:off x="4077591" y="5608143"/>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유온 센서</a:t>
            </a:r>
          </a:p>
        </p:txBody>
      </p:sp>
      <p:sp>
        <p:nvSpPr>
          <p:cNvPr id="13" name="TextBox 12"/>
          <p:cNvSpPr txBox="1"/>
          <p:nvPr/>
        </p:nvSpPr>
        <p:spPr>
          <a:xfrm>
            <a:off x="9717799" y="3187689"/>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코어</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정의 없이 넣은 데이터 ②: 관계와 값의 형식이 어긋난다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같은 사실이 이름 셋으로 들어가면 조회가 하나만 찾고, 한계가 글자로 들어가면 크기를 비교하지 못한다.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39</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80246"/>
            <a:ext cx="731520" cy="731520"/>
          </a:xfrm>
          <a:prstGeom prst="ellipse">
            <a:avLst/>
          </a:prstGeom>
          <a:solidFill>
            <a:srgbClr val="FFFFFF"/>
          </a:solidFill>
          <a:ln>
            <a:noFill/>
          </a:ln>
        </p:spPr>
        <p:txBody>
          <a:bodyPr rtlCol="0" anchor="ctr"/>
          <a:lstStyle/>
          <a:p>
            <a:pPr algn="ctr"/>
          </a:p>
        </p:txBody>
      </p:sp>
      <p:pic>
        <p:nvPicPr>
          <p:cNvPr id="8" name="아이콘:arrows-exchange" descr="arrows-exchange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같은 관계가 어긋난다</a:t>
            </a:r>
          </a:p>
        </p:txBody>
      </p:sp>
      <p:sp>
        <p:nvSpPr>
          <p:cNvPr id="10" name="TextBox 9"/>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설비가 구성 요소를 갖는다는 한 가지 사실</a:t>
            </a:r>
          </a:p>
          <a:p>
            <a:pPr algn="l">
              <a:lnSpc>
                <a:spcPct val="110000"/>
              </a:lnSpc>
              <a:spcAft>
                <a:spcPts val="600"/>
              </a:spcAft>
            </a:pPr>
            <a:r>
              <a:rPr sz="1450" b="0">
                <a:solidFill>
                  <a:srgbClr val="1F2A3A"/>
                </a:solidFill>
                <a:latin typeface="맑은 고딕"/>
                <a:ea typeface="맑은 고딕"/>
                <a:cs typeface="맑은 고딕"/>
              </a:rPr>
              <a:t>• HYD-01 → 오일 쿨러: HAS_PART</a:t>
            </a:r>
          </a:p>
          <a:p>
            <a:pPr algn="l">
              <a:lnSpc>
                <a:spcPct val="110000"/>
              </a:lnSpc>
              <a:spcAft>
                <a:spcPts val="600"/>
              </a:spcAft>
            </a:pPr>
            <a:r>
              <a:rPr sz="1450" b="0">
                <a:solidFill>
                  <a:srgbClr val="1F2A3A"/>
                </a:solidFill>
                <a:latin typeface="맑은 고딕"/>
                <a:ea typeface="맑은 고딕"/>
                <a:cs typeface="맑은 고딕"/>
              </a:rPr>
              <a:t>• 쿨러 팬 → HYD-01: BELONGS_TO</a:t>
            </a:r>
          </a:p>
          <a:p>
            <a:pPr algn="l">
              <a:lnSpc>
                <a:spcPct val="110000"/>
              </a:lnSpc>
              <a:spcAft>
                <a:spcPts val="600"/>
              </a:spcAft>
            </a:pPr>
            <a:r>
              <a:rPr sz="1450" b="0">
                <a:solidFill>
                  <a:srgbClr val="1F2A3A"/>
                </a:solidFill>
                <a:latin typeface="맑은 고딕"/>
                <a:ea typeface="맑은 고딕"/>
                <a:cs typeface="맑은 고딕"/>
              </a:rPr>
              <a:t>• HYD-01 → 구동 모터: CONTAINS</a:t>
            </a:r>
          </a:p>
          <a:p>
            <a:pPr algn="l">
              <a:lnSpc>
                <a:spcPct val="110000"/>
              </a:lnSpc>
              <a:spcAft>
                <a:spcPts val="600"/>
              </a:spcAft>
            </a:pPr>
            <a:r>
              <a:rPr sz="1450" b="0">
                <a:solidFill>
                  <a:srgbClr val="1F2A3A"/>
                </a:solidFill>
                <a:latin typeface="맑은 고딕"/>
                <a:ea typeface="맑은 고딕"/>
                <a:cs typeface="맑은 고딕"/>
              </a:rPr>
              <a:t>• 이름이 셋이고 하나는 방향이 반대이다</a:t>
            </a:r>
          </a:p>
        </p:txBody>
      </p:sp>
      <p:sp>
        <p:nvSpPr>
          <p:cNvPr id="11" name="Rounded Rectangle 10"/>
          <p:cNvSpPr/>
          <p:nvPr/>
        </p:nvSpPr>
        <p:spPr>
          <a:xfrm>
            <a:off x="868680" y="5246433"/>
            <a:ext cx="132587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46433"/>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하나만 찾는다</a:t>
            </a:r>
          </a:p>
        </p:txBody>
      </p:sp>
      <p:sp>
        <p:nvSpPr>
          <p:cNvPr id="13" name="Rounded Rectangle 12"/>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80246"/>
            <a:ext cx="731520" cy="731520"/>
          </a:xfrm>
          <a:prstGeom prst="ellipse">
            <a:avLst/>
          </a:prstGeom>
          <a:solidFill>
            <a:srgbClr val="5CB8F2"/>
          </a:solidFill>
          <a:ln>
            <a:noFill/>
          </a:ln>
        </p:spPr>
        <p:txBody>
          <a:bodyPr rtlCol="0" anchor="ctr"/>
          <a:lstStyle/>
          <a:p>
            <a:pPr algn="ctr"/>
          </a:p>
        </p:txBody>
      </p:sp>
      <p:pic>
        <p:nvPicPr>
          <p:cNvPr id="15" name="아이콘:hash" descr="hash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값의 형식이 제각각이다</a:t>
            </a:r>
          </a:p>
        </p:txBody>
      </p:sp>
      <p:sp>
        <p:nvSpPr>
          <p:cNvPr id="17" name="TextBox 16"/>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유온의 한계: 65 (수, 비교할 수 있다)</a:t>
            </a:r>
          </a:p>
          <a:p>
            <a:pPr algn="l">
              <a:lnSpc>
                <a:spcPct val="110000"/>
              </a:lnSpc>
              <a:spcAft>
                <a:spcPts val="600"/>
              </a:spcAft>
            </a:pPr>
            <a:r>
              <a:rPr sz="1450" b="0">
                <a:solidFill>
                  <a:srgbClr val="1F2A3A"/>
                </a:solidFill>
                <a:latin typeface="맑은 고딕"/>
                <a:ea typeface="맑은 고딕"/>
                <a:cs typeface="맑은 고딕"/>
              </a:rPr>
              <a:t>• 토출 압력의 한계: 「130 bar」 (글자, 크기를 비교할 수 없다)</a:t>
            </a:r>
          </a:p>
          <a:p>
            <a:pPr algn="l">
              <a:lnSpc>
                <a:spcPct val="110000"/>
              </a:lnSpc>
              <a:spcAft>
                <a:spcPts val="600"/>
              </a:spcAft>
            </a:pPr>
            <a:r>
              <a:rPr sz="1450" b="0">
                <a:solidFill>
                  <a:srgbClr val="1F2A3A"/>
                </a:solidFill>
                <a:latin typeface="맑은 고딕"/>
                <a:ea typeface="맑은 고딕"/>
                <a:cs typeface="맑은 고딕"/>
              </a:rPr>
              <a:t>• 팬 진동의 단위: (없음, 값을 해석할 수 없다)</a:t>
            </a:r>
          </a:p>
        </p:txBody>
      </p:sp>
      <p:sp>
        <p:nvSpPr>
          <p:cNvPr id="18" name="Rounded Rectangle 17"/>
          <p:cNvSpPr/>
          <p:nvPr/>
        </p:nvSpPr>
        <p:spPr>
          <a:xfrm>
            <a:off x="6781647" y="5246433"/>
            <a:ext cx="14782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46433"/>
            <a:ext cx="14782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판정하지 못한다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 스키마: 클래스, 속성, 관계, 제약의 정의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문제는 넣기 전에 정해 둔 약속이 없어 생기며, 그 약속을 한곳에 정의한 구조가 </a:t>
            </a:r>
            <a:r>
              <a:rPr sz="1600" b="1">
                <a:solidFill>
                  <a:srgbClr val="1A6FC4"/>
                </a:solidFill>
                <a:latin typeface="맑은 고딕"/>
                <a:ea typeface="맑은 고딕"/>
                <a:cs typeface="맑은 고딕"/>
              </a:rPr>
              <a:t>스키마</a:t>
            </a:r>
            <a:r>
              <a:rPr sz="1600" b="0">
                <a:solidFill>
                  <a:srgbClr val="556175"/>
                </a:solidFill>
                <a:latin typeface="맑은 고딕"/>
                <a:ea typeface="맑은 고딕"/>
                <a:cs typeface="맑은 고딕"/>
              </a:rPr>
              <a:t>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40</a:t>
            </a:r>
          </a:p>
        </p:txBody>
      </p:sp>
      <p:sp>
        <p:nvSpPr>
          <p:cNvPr id="6" name="Rounded Rectangle 5"/>
          <p:cNvSpPr/>
          <p:nvPr/>
        </p:nvSpPr>
        <p:spPr>
          <a:xfrm>
            <a:off x="548640" y="1655064"/>
            <a:ext cx="11094415" cy="1126998"/>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627632"/>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스키마</a:t>
            </a:r>
          </a:p>
          <a:p>
            <a:pPr algn="l">
              <a:lnSpc>
                <a:spcPct val="110000"/>
              </a:lnSpc>
              <a:spcAft>
                <a:spcPts val="200"/>
              </a:spcAft>
            </a:pPr>
            <a:r>
              <a:rPr sz="1150" b="0">
                <a:solidFill>
                  <a:srgbClr val="556175"/>
                </a:solidFill>
                <a:latin typeface="맑은 고딕"/>
                <a:ea typeface="맑은 고딕"/>
                <a:cs typeface="맑은 고딕"/>
              </a:rPr>
              <a:t>Schema</a:t>
            </a:r>
          </a:p>
        </p:txBody>
      </p:sp>
      <p:sp>
        <p:nvSpPr>
          <p:cNvPr id="8" name="TextBox 7"/>
          <p:cNvSpPr txBox="1"/>
          <p:nvPr/>
        </p:nvSpPr>
        <p:spPr>
          <a:xfrm>
            <a:off x="4023359" y="1627632"/>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어떤 클래스와 속성과 관계가 있을 수 있고 어떤 조건을 지켜야 하는지를 정의한다.</a:t>
            </a:r>
          </a:p>
          <a:p>
            <a:pPr algn="l">
              <a:lnSpc>
                <a:spcPct val="110000"/>
              </a:lnSpc>
              <a:spcAft>
                <a:spcPts val="300"/>
              </a:spcAft>
            </a:pPr>
            <a:r>
              <a:rPr sz="1400" b="0">
                <a:solidFill>
                  <a:srgbClr val="1F2A3A"/>
                </a:solidFill>
                <a:latin typeface="맑은 고딕"/>
                <a:ea typeface="맑은 고딕"/>
                <a:cs typeface="맑은 고딕"/>
              </a:rPr>
              <a:t>데이터를 넣는 사람과 읽는 프로그램이 모두 이 정의 하나를 기준으로 삼는다.</a:t>
            </a:r>
          </a:p>
        </p:txBody>
      </p:sp>
      <p:sp>
        <p:nvSpPr>
          <p:cNvPr id="9" name="Rectangle 8"/>
          <p:cNvSpPr/>
          <p:nvPr/>
        </p:nvSpPr>
        <p:spPr>
          <a:xfrm>
            <a:off x="548640" y="2800350"/>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2809494"/>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스키마가 정하는 것</a:t>
            </a:r>
          </a:p>
          <a:p>
            <a:pPr algn="l">
              <a:lnSpc>
                <a:spcPct val="110000"/>
              </a:lnSpc>
              <a:spcAft>
                <a:spcPts val="200"/>
              </a:spcAft>
            </a:pPr>
            <a:r>
              <a:rPr sz="1150" b="0">
                <a:solidFill>
                  <a:srgbClr val="556175"/>
                </a:solidFill>
                <a:latin typeface="맑은 고딕"/>
                <a:ea typeface="맑은 고딕"/>
                <a:cs typeface="맑은 고딕"/>
              </a:rPr>
              <a:t>정의의 범위</a:t>
            </a:r>
          </a:p>
        </p:txBody>
      </p:sp>
      <p:sp>
        <p:nvSpPr>
          <p:cNvPr id="11" name="TextBox 10"/>
          <p:cNvSpPr txBox="1"/>
          <p:nvPr/>
        </p:nvSpPr>
        <p:spPr>
          <a:xfrm>
            <a:off x="4023359" y="2809494"/>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클래스의 이름과 의미, 속성의 이름 · 자료형 · 필수 여부, 식별자의 규칙</a:t>
            </a:r>
          </a:p>
          <a:p>
            <a:pPr algn="l">
              <a:lnSpc>
                <a:spcPct val="110000"/>
              </a:lnSpc>
              <a:spcAft>
                <a:spcPts val="300"/>
              </a:spcAft>
            </a:pPr>
            <a:r>
              <a:rPr sz="1400" b="0">
                <a:solidFill>
                  <a:srgbClr val="1F2A3A"/>
                </a:solidFill>
                <a:latin typeface="맑은 고딕"/>
                <a:ea typeface="맑은 고딕"/>
                <a:cs typeface="맑은 고딕"/>
              </a:rPr>
              <a:t>관계의 이름과 방향, 시작 클래스와 끝 클래스, 카디널리티</a:t>
            </a:r>
          </a:p>
        </p:txBody>
      </p:sp>
      <p:sp>
        <p:nvSpPr>
          <p:cNvPr id="12" name="Rectangle 11"/>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3991356"/>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정의의 예</a:t>
            </a:r>
          </a:p>
          <a:p>
            <a:pPr algn="l">
              <a:lnSpc>
                <a:spcPct val="110000"/>
              </a:lnSpc>
              <a:spcAft>
                <a:spcPts val="200"/>
              </a:spcAft>
            </a:pPr>
            <a:r>
              <a:rPr sz="1150" b="0">
                <a:solidFill>
                  <a:srgbClr val="556175"/>
                </a:solidFill>
                <a:latin typeface="맑은 고딕"/>
                <a:ea typeface="맑은 고딕"/>
                <a:cs typeface="맑은 고딕"/>
              </a:rPr>
              <a:t>예</a:t>
            </a:r>
          </a:p>
        </p:txBody>
      </p:sp>
      <p:sp>
        <p:nvSpPr>
          <p:cNvPr id="14" name="TextBox 13"/>
          <p:cNvSpPr txBox="1"/>
          <p:nvPr/>
        </p:nvSpPr>
        <p:spPr>
          <a:xfrm>
            <a:off x="4023359" y="3991356"/>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「센서에는 tag가 있어야 한다.」</a:t>
            </a:r>
          </a:p>
          <a:p>
            <a:pPr algn="l">
              <a:lnSpc>
                <a:spcPct val="110000"/>
              </a:lnSpc>
              <a:spcAft>
                <a:spcPts val="300"/>
              </a:spcAft>
            </a:pPr>
            <a:r>
              <a:rPr sz="1400" b="0">
                <a:solidFill>
                  <a:srgbClr val="1F2A3A"/>
                </a:solidFill>
                <a:latin typeface="맑은 고딕"/>
                <a:ea typeface="맑은 고딕"/>
                <a:cs typeface="맑은 고딕"/>
              </a:rPr>
              <a:t>「OBSERVES는 센서에서 상태 변수로 잇는다.」</a:t>
            </a:r>
          </a:p>
        </p:txBody>
      </p:sp>
      <p:sp>
        <p:nvSpPr>
          <p:cNvPr id="15" name="Rectangle 14"/>
          <p:cNvSpPr/>
          <p:nvPr/>
        </p:nvSpPr>
        <p:spPr>
          <a:xfrm>
            <a:off x="548640" y="5164074"/>
            <a:ext cx="11094415" cy="13716"/>
          </a:xfrm>
          <a:prstGeom prst="rect">
            <a:avLst/>
          </a:prstGeom>
          <a:solidFill>
            <a:srgbClr val="D3D9E1"/>
          </a:solidFill>
          <a:ln>
            <a:noFill/>
          </a:ln>
        </p:spPr>
        <p:txBody>
          <a:bodyPr rtlCol="0" anchor="ctr"/>
          <a:lstStyle/>
          <a:p>
            <a:pPr algn="ctr"/>
          </a:p>
        </p:txBody>
      </p:sp>
      <p:sp>
        <p:nvSpPr>
          <p:cNvPr id="16" name="TextBox 15"/>
          <p:cNvSpPr txBox="1"/>
          <p:nvPr/>
        </p:nvSpPr>
        <p:spPr>
          <a:xfrm>
            <a:off x="640080" y="5173218"/>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양식과 문서</a:t>
            </a:r>
          </a:p>
          <a:p>
            <a:pPr algn="l">
              <a:lnSpc>
                <a:spcPct val="110000"/>
              </a:lnSpc>
              <a:spcAft>
                <a:spcPts val="200"/>
              </a:spcAft>
            </a:pPr>
            <a:r>
              <a:rPr sz="1150" b="0">
                <a:solidFill>
                  <a:srgbClr val="556175"/>
                </a:solidFill>
                <a:latin typeface="맑은 고딕"/>
                <a:ea typeface="맑은 고딕"/>
                <a:cs typeface="맑은 고딕"/>
              </a:rPr>
              <a:t>비유</a:t>
            </a:r>
          </a:p>
        </p:txBody>
      </p:sp>
      <p:sp>
        <p:nvSpPr>
          <p:cNvPr id="17" name="TextBox 16"/>
          <p:cNvSpPr txBox="1"/>
          <p:nvPr/>
        </p:nvSpPr>
        <p:spPr>
          <a:xfrm>
            <a:off x="4023359" y="5173218"/>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닮은 점: 양식이 칸과 필수 항목을 정하고 작성된 문서가 그 칸을 채운다.</a:t>
            </a:r>
          </a:p>
          <a:p>
            <a:pPr algn="l">
              <a:lnSpc>
                <a:spcPct val="110000"/>
              </a:lnSpc>
              <a:spcAft>
                <a:spcPts val="300"/>
              </a:spcAft>
            </a:pPr>
            <a:r>
              <a:rPr sz="1400" b="0">
                <a:solidFill>
                  <a:srgbClr val="1F2A3A"/>
                </a:solidFill>
                <a:latin typeface="맑은 고딕"/>
                <a:ea typeface="맑은 고딕"/>
                <a:cs typeface="맑은 고딕"/>
              </a:rPr>
              <a:t>다른 점: 양식은 문서 한 장의 칸만 정하고, 스키마는 어떤 대상끼리 이어질 수 있는지도 정한다.</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클래스 정의 ①: 이름과 의미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클래스 정의는 하나뿐인 영문 이름과 그 이름이 가리키는 범위를 정하는 의미 문장으로 시작한다.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41</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"name": "Sensor",</a:t>
            </a:r>
          </a:p>
          <a:p>
            <a:pPr algn="l">
              <a:lnSpc>
                <a:spcPct val="110000"/>
              </a:lnSpc>
              <a:spcAft>
                <a:spcPts val="200"/>
              </a:spcAft>
            </a:pPr>
            <a:r>
              <a:rPr sz="1300" b="0">
                <a:solidFill>
                  <a:srgbClr val="E8EEF6"/>
                </a:solidFill>
                <a:latin typeface="Consolas"/>
                <a:ea typeface="맑은 고딕"/>
                <a:cs typeface="맑은 고딕"/>
              </a:rPr>
              <a:t>  "label_ko": "</a:t>
            </a:r>
            <a:r>
              <a:rPr sz="1300" b="0">
                <a:solidFill>
                  <a:srgbClr val="E8EEF6"/>
                </a:solidFill>
                <a:latin typeface="맑은 고딕"/>
                <a:ea typeface="맑은 고딕"/>
                <a:cs typeface="맑은 고딕"/>
              </a:rPr>
              <a:t>센서</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"description": "</a:t>
            </a:r>
            <a:r>
              <a:rPr sz="1300" b="0">
                <a:solidFill>
                  <a:srgbClr val="E8EEF6"/>
                </a:solidFill>
                <a:latin typeface="맑은 고딕"/>
                <a:ea typeface="맑은 고딕"/>
                <a:cs typeface="맑은 고딕"/>
              </a:rPr>
              <a:t>계측</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채널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태그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이름이</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실시간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데이터와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연결된다</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a:t>
            </a:r>
          </a:p>
        </p:txBody>
      </p:sp>
      <p:sp>
        <p:nvSpPr>
          <p:cNvPr id="8" name="TextBox 7"/>
          <p:cNvSpPr txBox="1"/>
          <p:nvPr/>
        </p:nvSpPr>
        <p:spPr>
          <a:xfrm>
            <a:off x="7635240" y="1882394"/>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name</a:t>
            </a:r>
          </a:p>
          <a:p>
            <a:pPr algn="l">
              <a:lnSpc>
                <a:spcPct val="110000"/>
              </a:lnSpc>
              <a:spcAft>
                <a:spcPts val="400"/>
              </a:spcAft>
            </a:pPr>
            <a:r>
              <a:rPr sz="1400" b="0">
                <a:solidFill>
                  <a:srgbClr val="1F2A3A"/>
                </a:solidFill>
                <a:latin typeface="맑은 고딕"/>
                <a:ea typeface="맑은 고딕"/>
                <a:cs typeface="맑은 고딕"/>
              </a:rPr>
              <a:t>클래스의 영문 이름이다. 이 클래스를 가리킬 때는 언제나 이 이름을 쓴다.</a:t>
            </a:r>
          </a:p>
        </p:txBody>
      </p:sp>
      <p:sp>
        <p:nvSpPr>
          <p:cNvPr id="9" name="TextBox 8"/>
          <p:cNvSpPr txBox="1"/>
          <p:nvPr/>
        </p:nvSpPr>
        <p:spPr>
          <a:xfrm>
            <a:off x="7635240" y="2936875"/>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label_ko</a:t>
            </a:r>
          </a:p>
          <a:p>
            <a:pPr algn="l">
              <a:lnSpc>
                <a:spcPct val="110000"/>
              </a:lnSpc>
              <a:spcAft>
                <a:spcPts val="400"/>
              </a:spcAft>
            </a:pPr>
            <a:r>
              <a:rPr sz="1400" b="0">
                <a:solidFill>
                  <a:srgbClr val="1F2A3A"/>
                </a:solidFill>
                <a:latin typeface="맑은 고딕"/>
                <a:ea typeface="맑은 고딕"/>
                <a:cs typeface="맑은 고딕"/>
              </a:rPr>
              <a:t>화면과 문서에 보이는 한글 이름이다.</a:t>
            </a:r>
          </a:p>
        </p:txBody>
      </p:sp>
      <p:sp>
        <p:nvSpPr>
          <p:cNvPr id="10" name="TextBox 9"/>
          <p:cNvSpPr txBox="1"/>
          <p:nvPr/>
        </p:nvSpPr>
        <p:spPr>
          <a:xfrm>
            <a:off x="7635240" y="3991356"/>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description</a:t>
            </a:r>
          </a:p>
          <a:p>
            <a:pPr algn="l">
              <a:lnSpc>
                <a:spcPct val="110000"/>
              </a:lnSpc>
              <a:spcAft>
                <a:spcPts val="400"/>
              </a:spcAft>
            </a:pPr>
            <a:r>
              <a:rPr sz="1400" b="0">
                <a:solidFill>
                  <a:srgbClr val="1F2A3A"/>
                </a:solidFill>
                <a:latin typeface="맑은 고딕"/>
                <a:ea typeface="맑은 고딕"/>
                <a:cs typeface="맑은 고딕"/>
              </a:rPr>
              <a:t>이 클래스가 무엇을 가리키는지를 문장으로 적는다.</a:t>
            </a:r>
          </a:p>
        </p:txBody>
      </p:sp>
      <p:sp>
        <p:nvSpPr>
          <p:cNvPr id="11" name="TextBox 10"/>
          <p:cNvSpPr txBox="1"/>
          <p:nvPr/>
        </p:nvSpPr>
        <p:spPr>
          <a:xfrm>
            <a:off x="7635240" y="5045837"/>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범위</a:t>
            </a:r>
          </a:p>
          <a:p>
            <a:pPr algn="l">
              <a:lnSpc>
                <a:spcPct val="110000"/>
              </a:lnSpc>
              <a:spcAft>
                <a:spcPts val="400"/>
              </a:spcAft>
            </a:pPr>
            <a:r>
              <a:rPr sz="1400" b="0">
                <a:solidFill>
                  <a:srgbClr val="1F2A3A"/>
                </a:solidFill>
                <a:latin typeface="맑은 고딕"/>
                <a:ea typeface="맑은 고딕"/>
                <a:cs typeface="맑은 고딕"/>
              </a:rPr>
              <a:t>「계측 채널」이라고 적었으므로 계기 없이 계산한 냉각 효율도 이 클래스에 든다.</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클래스 정의 ②: 속성 목록과 속성 정의의 세 항목</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속성 한 줄은 속성명, 자료형, 필수 여부로 이루어지며, 인스턴스의 값은 이 세 가지에 맞아야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42</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"name": "Sensor",</a:t>
            </a:r>
          </a:p>
          <a:p>
            <a:pPr algn="l">
              <a:lnSpc>
                <a:spcPct val="110000"/>
              </a:lnSpc>
              <a:spcAft>
                <a:spcPts val="200"/>
              </a:spcAft>
            </a:pPr>
            <a:r>
              <a:rPr sz="1300" b="0">
                <a:solidFill>
                  <a:srgbClr val="E8EEF6"/>
                </a:solidFill>
                <a:latin typeface="Consolas"/>
                <a:ea typeface="맑은 고딕"/>
                <a:cs typeface="맑은 고딕"/>
              </a:rPr>
              <a:t>  "label_ko": "</a:t>
            </a:r>
            <a:r>
              <a:rPr sz="1300" b="0">
                <a:solidFill>
                  <a:srgbClr val="E8EEF6"/>
                </a:solidFill>
                <a:latin typeface="맑은 고딕"/>
                <a:ea typeface="맑은 고딕"/>
                <a:cs typeface="맑은 고딕"/>
              </a:rPr>
              <a:t>센서</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"description": "</a:t>
            </a:r>
            <a:r>
              <a:rPr sz="1300" b="0">
                <a:solidFill>
                  <a:srgbClr val="E8EEF6"/>
                </a:solidFill>
                <a:latin typeface="맑은 고딕"/>
                <a:ea typeface="맑은 고딕"/>
                <a:cs typeface="맑은 고딕"/>
              </a:rPr>
              <a:t>계측</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채널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태그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이름이</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실시간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데이터와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연결된다</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"properties": [</a:t>
            </a:r>
          </a:p>
          <a:p>
            <a:pPr algn="l">
              <a:lnSpc>
                <a:spcPct val="110000"/>
              </a:lnSpc>
              <a:spcAft>
                <a:spcPts val="200"/>
              </a:spcAft>
            </a:pPr>
            <a:r>
              <a:rPr sz="1300" b="0">
                <a:solidFill>
                  <a:srgbClr val="E8EEF6"/>
                </a:solidFill>
                <a:latin typeface="Consolas"/>
                <a:ea typeface="맑은 고딕"/>
                <a:cs typeface="맑은 고딕"/>
              </a:rPr>
              <a:t>    {"name": "id",      "type": "string",  "required": true},</a:t>
            </a:r>
          </a:p>
          <a:p>
            <a:pPr algn="l">
              <a:lnSpc>
                <a:spcPct val="110000"/>
              </a:lnSpc>
              <a:spcAft>
                <a:spcPts val="200"/>
              </a:spcAft>
            </a:pPr>
            <a:r>
              <a:rPr sz="1300" b="0">
                <a:solidFill>
                  <a:srgbClr val="E8EEF6"/>
                </a:solidFill>
                <a:latin typeface="Consolas"/>
                <a:ea typeface="맑은 고딕"/>
                <a:cs typeface="맑은 고딕"/>
              </a:rPr>
              <a:t>    {"name": "name",    "type": "string",  "required": true},</a:t>
            </a:r>
          </a:p>
          <a:p>
            <a:pPr algn="l">
              <a:lnSpc>
                <a:spcPct val="110000"/>
              </a:lnSpc>
              <a:spcAft>
                <a:spcPts val="200"/>
              </a:spcAft>
            </a:pPr>
            <a:r>
              <a:rPr sz="1300" b="0">
                <a:solidFill>
                  <a:srgbClr val="E8EEF6"/>
                </a:solidFill>
                <a:latin typeface="Consolas"/>
                <a:ea typeface="맑은 고딕"/>
                <a:cs typeface="맑은 고딕"/>
              </a:rPr>
              <a:t>    {"name": "tag",     "type": "string",  "required": true},</a:t>
            </a:r>
          </a:p>
          <a:p>
            <a:pPr algn="l">
              <a:lnSpc>
                <a:spcPct val="110000"/>
              </a:lnSpc>
              <a:spcAft>
                <a:spcPts val="200"/>
              </a:spcAft>
            </a:pPr>
            <a:r>
              <a:rPr sz="1300" b="0">
                <a:solidFill>
                  <a:srgbClr val="E8EEF6"/>
                </a:solidFill>
                <a:latin typeface="Consolas"/>
                <a:ea typeface="맑은 고딕"/>
                <a:cs typeface="맑은 고딕"/>
              </a:rPr>
              <a:t>    {"name": "unit",    "type": "string"},</a:t>
            </a:r>
          </a:p>
          <a:p>
            <a:pPr algn="l">
              <a:lnSpc>
                <a:spcPct val="110000"/>
              </a:lnSpc>
              <a:spcAft>
                <a:spcPts val="200"/>
              </a:spcAft>
            </a:pPr>
            <a:r>
              <a:rPr sz="1300" b="0">
                <a:solidFill>
                  <a:srgbClr val="E8EEF6"/>
                </a:solidFill>
                <a:latin typeface="Consolas"/>
                <a:ea typeface="맑은 고딕"/>
                <a:cs typeface="맑은 고딕"/>
              </a:rPr>
              <a:t>    {"name": "virtual", "type": "boolean"}</a:t>
            </a:r>
          </a:p>
          <a:p>
            <a:pPr algn="l">
              <a:lnSpc>
                <a:spcPct val="110000"/>
              </a:lnSpc>
              <a:spcAft>
                <a:spcPts val="200"/>
              </a:spcAft>
            </a:pPr>
            <a:r>
              <a:rPr sz="1300" b="0">
                <a:solidFill>
                  <a:srgbClr val="E8EEF6"/>
                </a:solidFill>
                <a:latin typeface="Consolas"/>
                <a:ea typeface="맑은 고딕"/>
                <a:cs typeface="맑은 고딕"/>
              </a:rPr>
              <a:t>  ]</a:t>
            </a:r>
          </a:p>
          <a:p>
            <a:pPr algn="l">
              <a:lnSpc>
                <a:spcPct val="110000"/>
              </a:lnSpc>
              <a:spcAft>
                <a:spcPts val="200"/>
              </a:spcAft>
            </a:pPr>
            <a:r>
              <a:rPr sz="1300" b="0">
                <a:solidFill>
                  <a:srgbClr val="E8EEF6"/>
                </a:solidFill>
                <a:latin typeface="Consolas"/>
                <a:ea typeface="맑은 고딕"/>
                <a:cs typeface="맑은 고딕"/>
              </a:rPr>
              <a:t>}</a:t>
            </a:r>
          </a:p>
        </p:txBody>
      </p:sp>
      <p:sp>
        <p:nvSpPr>
          <p:cNvPr id="8" name="TextBox 7"/>
          <p:cNvSpPr txBox="1"/>
          <p:nvPr/>
        </p:nvSpPr>
        <p:spPr>
          <a:xfrm>
            <a:off x="7635240" y="1882394"/>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properties</a:t>
            </a:r>
          </a:p>
          <a:p>
            <a:pPr algn="l">
              <a:lnSpc>
                <a:spcPct val="110000"/>
              </a:lnSpc>
              <a:spcAft>
                <a:spcPts val="400"/>
              </a:spcAft>
            </a:pPr>
            <a:r>
              <a:rPr sz="1400" b="0">
                <a:solidFill>
                  <a:srgbClr val="1F2A3A"/>
                </a:solidFill>
                <a:latin typeface="맑은 고딕"/>
                <a:ea typeface="맑은 고딕"/>
                <a:cs typeface="맑은 고딕"/>
              </a:rPr>
              <a:t>한 줄이 속성 하나이다. 앞에서 그림으로 본 다섯 칸이 여기에 적힌다.</a:t>
            </a:r>
          </a:p>
        </p:txBody>
      </p:sp>
      <p:sp>
        <p:nvSpPr>
          <p:cNvPr id="9" name="TextBox 8"/>
          <p:cNvSpPr txBox="1"/>
          <p:nvPr/>
        </p:nvSpPr>
        <p:spPr>
          <a:xfrm>
            <a:off x="7635240" y="2936875"/>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속성명</a:t>
            </a:r>
          </a:p>
          <a:p>
            <a:pPr algn="l">
              <a:lnSpc>
                <a:spcPct val="110000"/>
              </a:lnSpc>
              <a:spcAft>
                <a:spcPts val="400"/>
              </a:spcAft>
            </a:pPr>
            <a:r>
              <a:rPr sz="1400" b="0">
                <a:solidFill>
                  <a:srgbClr val="1F2A3A"/>
                </a:solidFill>
                <a:latin typeface="맑은 고딕"/>
                <a:ea typeface="맑은 고딕"/>
                <a:cs typeface="맑은 고딕"/>
              </a:rPr>
              <a:t>"name": "tag"는 칸의 이름이다.</a:t>
            </a:r>
          </a:p>
        </p:txBody>
      </p:sp>
      <p:sp>
        <p:nvSpPr>
          <p:cNvPr id="10" name="TextBox 9"/>
          <p:cNvSpPr txBox="1"/>
          <p:nvPr/>
        </p:nvSpPr>
        <p:spPr>
          <a:xfrm>
            <a:off x="7635240" y="3991356"/>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자료형</a:t>
            </a:r>
          </a:p>
          <a:p>
            <a:pPr algn="l">
              <a:lnSpc>
                <a:spcPct val="110000"/>
              </a:lnSpc>
              <a:spcAft>
                <a:spcPts val="400"/>
              </a:spcAft>
            </a:pPr>
            <a:r>
              <a:rPr sz="1400" b="0">
                <a:solidFill>
                  <a:srgbClr val="1F2A3A"/>
                </a:solidFill>
                <a:latin typeface="맑은 고딕"/>
                <a:ea typeface="맑은 고딕"/>
                <a:cs typeface="맑은 고딕"/>
              </a:rPr>
              <a:t>"type": "string"은 칸에 들어갈 값의 종류이다.</a:t>
            </a:r>
          </a:p>
        </p:txBody>
      </p:sp>
      <p:sp>
        <p:nvSpPr>
          <p:cNvPr id="11" name="TextBox 10"/>
          <p:cNvSpPr txBox="1"/>
          <p:nvPr/>
        </p:nvSpPr>
        <p:spPr>
          <a:xfrm>
            <a:off x="7635240" y="5045837"/>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필수 여부</a:t>
            </a:r>
          </a:p>
          <a:p>
            <a:pPr algn="l">
              <a:lnSpc>
                <a:spcPct val="110000"/>
              </a:lnSpc>
              <a:spcAft>
                <a:spcPts val="400"/>
              </a:spcAft>
            </a:pPr>
            <a:r>
              <a:rPr sz="1400" b="0">
                <a:solidFill>
                  <a:srgbClr val="1F2A3A"/>
                </a:solidFill>
                <a:latin typeface="맑은 고딕"/>
                <a:ea typeface="맑은 고딕"/>
                <a:cs typeface="맑은 고딕"/>
              </a:rPr>
              <a:t>"required": true는 값이 반드시 있어야 한다는 표시이다.</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자료형: 칸에 들어갈 값의 종류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1">
                <a:solidFill>
                  <a:srgbClr val="1A6FC4"/>
                </a:solidFill>
                <a:latin typeface="맑은 고딕"/>
                <a:ea typeface="맑은 고딕"/>
                <a:cs typeface="맑은 고딕"/>
              </a:rPr>
              <a:t>자료형</a:t>
            </a:r>
            <a:r>
              <a:rPr sz="1600" b="0">
                <a:solidFill>
                  <a:srgbClr val="556175"/>
                </a:solidFill>
                <a:latin typeface="맑은 고딕"/>
                <a:ea typeface="맑은 고딕"/>
                <a:cs typeface="맑은 고딕"/>
              </a:rPr>
              <a:t>은 칸에 들어갈 값의 종류이며, limit이 number로 정해져 있어 잰 값과 크기를 비교한다.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43</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"name": "StateVariable",</a:t>
            </a:r>
          </a:p>
          <a:p>
            <a:pPr algn="l">
              <a:lnSpc>
                <a:spcPct val="110000"/>
              </a:lnSpc>
              <a:spcAft>
                <a:spcPts val="200"/>
              </a:spcAft>
            </a:pPr>
            <a:r>
              <a:rPr sz="1300" b="0">
                <a:solidFill>
                  <a:srgbClr val="E8EEF6"/>
                </a:solidFill>
                <a:latin typeface="Consolas"/>
                <a:ea typeface="맑은 고딕"/>
                <a:cs typeface="맑은 고딕"/>
              </a:rPr>
              <a:t>"properties": [</a:t>
            </a:r>
          </a:p>
          <a:p>
            <a:pPr algn="l">
              <a:lnSpc>
                <a:spcPct val="110000"/>
              </a:lnSpc>
              <a:spcAft>
                <a:spcPts val="200"/>
              </a:spcAft>
            </a:pPr>
            <a:r>
              <a:rPr sz="1300" b="0">
                <a:solidFill>
                  <a:srgbClr val="E8EEF6"/>
                </a:solidFill>
                <a:latin typeface="Consolas"/>
                <a:ea typeface="맑은 고딕"/>
                <a:cs typeface="맑은 고딕"/>
              </a:rPr>
              <a:t>  {"name": "id",      "type": "string",   "required": true},</a:t>
            </a:r>
          </a:p>
          <a:p>
            <a:pPr algn="l">
              <a:lnSpc>
                <a:spcPct val="110000"/>
              </a:lnSpc>
              <a:spcAft>
                <a:spcPts val="200"/>
              </a:spcAft>
            </a:pPr>
            <a:r>
              <a:rPr sz="1300" b="0">
                <a:solidFill>
                  <a:srgbClr val="E8EEF6"/>
                </a:solidFill>
                <a:latin typeface="Consolas"/>
                <a:ea typeface="맑은 고딕"/>
                <a:cs typeface="맑은 고딕"/>
              </a:rPr>
              <a:t>  {"name": "name",    "type": "string",   "required": true},</a:t>
            </a:r>
          </a:p>
          <a:p>
            <a:pPr algn="l">
              <a:lnSpc>
                <a:spcPct val="110000"/>
              </a:lnSpc>
              <a:spcAft>
                <a:spcPts val="200"/>
              </a:spcAft>
            </a:pPr>
            <a:r>
              <a:rPr sz="1300" b="0">
                <a:solidFill>
                  <a:srgbClr val="E8EEF6"/>
                </a:solidFill>
                <a:latin typeface="Consolas"/>
                <a:ea typeface="맑은 고딕"/>
                <a:cs typeface="맑은 고딕"/>
              </a:rPr>
              <a:t>  {"name": "aliases", "type": "string[]"},</a:t>
            </a:r>
          </a:p>
          <a:p>
            <a:pPr algn="l">
              <a:lnSpc>
                <a:spcPct val="110000"/>
              </a:lnSpc>
              <a:spcAft>
                <a:spcPts val="200"/>
              </a:spcAft>
            </a:pPr>
            <a:r>
              <a:rPr sz="1300" b="0">
                <a:solidFill>
                  <a:srgbClr val="E8EEF6"/>
                </a:solidFill>
                <a:latin typeface="Consolas"/>
                <a:ea typeface="맑은 고딕"/>
                <a:cs typeface="맑은 고딕"/>
              </a:rPr>
              <a:t>  {"name": "unit",    "type": "string",   "required": true},</a:t>
            </a:r>
          </a:p>
          <a:p>
            <a:pPr algn="l">
              <a:lnSpc>
                <a:spcPct val="110000"/>
              </a:lnSpc>
              <a:spcAft>
                <a:spcPts val="200"/>
              </a:spcAft>
            </a:pPr>
            <a:r>
              <a:rPr sz="1300" b="0">
                <a:solidFill>
                  <a:srgbClr val="E8EEF6"/>
                </a:solidFill>
                <a:latin typeface="Consolas"/>
                <a:ea typeface="맑은 고딕"/>
                <a:cs typeface="맑은 고딕"/>
              </a:rPr>
              <a:t>  {"name": "kind",    "type": "enum",     "required": true},</a:t>
            </a:r>
          </a:p>
          <a:p>
            <a:pPr algn="l">
              <a:lnSpc>
                <a:spcPct val="110000"/>
              </a:lnSpc>
              <a:spcAft>
                <a:spcPts val="200"/>
              </a:spcAft>
            </a:pPr>
            <a:r>
              <a:rPr sz="1300" b="0">
                <a:solidFill>
                  <a:srgbClr val="E8EEF6"/>
                </a:solidFill>
                <a:latin typeface="Consolas"/>
                <a:ea typeface="맑은 고딕"/>
                <a:cs typeface="맑은 고딕"/>
              </a:rPr>
              <a:t>  {"name": "normal",  "type": "number"},</a:t>
            </a:r>
          </a:p>
          <a:p>
            <a:pPr algn="l">
              <a:lnSpc>
                <a:spcPct val="110000"/>
              </a:lnSpc>
              <a:spcAft>
                <a:spcPts val="200"/>
              </a:spcAft>
            </a:pPr>
            <a:r>
              <a:rPr sz="1300" b="0">
                <a:solidFill>
                  <a:srgbClr val="E8EEF6"/>
                </a:solidFill>
                <a:latin typeface="Consolas"/>
                <a:ea typeface="맑은 고딕"/>
                <a:cs typeface="맑은 고딕"/>
              </a:rPr>
              <a:t>  {"name": "limit",   "type": "number"}</a:t>
            </a:r>
          </a:p>
          <a:p>
            <a:pPr algn="l">
              <a:lnSpc>
                <a:spcPct val="110000"/>
              </a:lnSpc>
              <a:spcAft>
                <a:spcPts val="200"/>
              </a:spcAft>
            </a:pPr>
            <a:r>
              <a:rPr sz="1300" b="0">
                <a:solidFill>
                  <a:srgbClr val="E8EEF6"/>
                </a:solidFill>
                <a:latin typeface="Consolas"/>
                <a:ea typeface="맑은 고딕"/>
                <a:cs typeface="맑은 고딕"/>
              </a:rPr>
              <a:t>]</a:t>
            </a:r>
          </a:p>
        </p:txBody>
      </p:sp>
      <p:sp>
        <p:nvSpPr>
          <p:cNvPr id="8" name="TextBox 7"/>
          <p:cNvSpPr txBox="1"/>
          <p:nvPr/>
        </p:nvSpPr>
        <p:spPr>
          <a:xfrm>
            <a:off x="7635240" y="1882394"/>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string</a:t>
            </a:r>
          </a:p>
          <a:p>
            <a:pPr algn="l">
              <a:lnSpc>
                <a:spcPct val="110000"/>
              </a:lnSpc>
              <a:spcAft>
                <a:spcPts val="400"/>
              </a:spcAft>
            </a:pPr>
            <a:r>
              <a:rPr sz="1400" b="0">
                <a:solidFill>
                  <a:srgbClr val="1F2A3A"/>
                </a:solidFill>
                <a:latin typeface="맑은 고딕"/>
                <a:ea typeface="맑은 고딕"/>
                <a:cs typeface="맑은 고딕"/>
              </a:rPr>
              <a:t>글자이다. id, name, unit이 이 자료형이다.</a:t>
            </a:r>
          </a:p>
        </p:txBody>
      </p:sp>
      <p:sp>
        <p:nvSpPr>
          <p:cNvPr id="9" name="TextBox 8"/>
          <p:cNvSpPr txBox="1"/>
          <p:nvPr/>
        </p:nvSpPr>
        <p:spPr>
          <a:xfrm>
            <a:off x="7635240" y="2936875"/>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number</a:t>
            </a:r>
          </a:p>
          <a:p>
            <a:pPr algn="l">
              <a:lnSpc>
                <a:spcPct val="110000"/>
              </a:lnSpc>
              <a:spcAft>
                <a:spcPts val="400"/>
              </a:spcAft>
            </a:pPr>
            <a:r>
              <a:rPr sz="1400" b="0">
                <a:solidFill>
                  <a:srgbClr val="1F2A3A"/>
                </a:solidFill>
                <a:latin typeface="맑은 고딕"/>
                <a:ea typeface="맑은 고딕"/>
                <a:cs typeface="맑은 고딕"/>
              </a:rPr>
              <a:t>수이다. limit과 normal은 수여서 잰 값과 크기를 비교한다.</a:t>
            </a:r>
          </a:p>
        </p:txBody>
      </p:sp>
      <p:sp>
        <p:nvSpPr>
          <p:cNvPr id="10" name="TextBox 9"/>
          <p:cNvSpPr txBox="1"/>
          <p:nvPr/>
        </p:nvSpPr>
        <p:spPr>
          <a:xfrm>
            <a:off x="7635240" y="3991356"/>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string[]</a:t>
            </a:r>
          </a:p>
          <a:p>
            <a:pPr algn="l">
              <a:lnSpc>
                <a:spcPct val="110000"/>
              </a:lnSpc>
              <a:spcAft>
                <a:spcPts val="400"/>
              </a:spcAft>
            </a:pPr>
            <a:r>
              <a:rPr sz="1400" b="0">
                <a:solidFill>
                  <a:srgbClr val="1F2A3A"/>
                </a:solidFill>
                <a:latin typeface="맑은 고딕"/>
                <a:ea typeface="맑은 고딕"/>
                <a:cs typeface="맑은 고딕"/>
              </a:rPr>
              <a:t>글자의 목록이다. aliases처럼 값이 여럿일 때 쓴다.</a:t>
            </a:r>
          </a:p>
        </p:txBody>
      </p:sp>
      <p:sp>
        <p:nvSpPr>
          <p:cNvPr id="11" name="TextBox 10"/>
          <p:cNvSpPr txBox="1"/>
          <p:nvPr/>
        </p:nvSpPr>
        <p:spPr>
          <a:xfrm>
            <a:off x="7635240" y="5045837"/>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enum</a:t>
            </a:r>
          </a:p>
          <a:p>
            <a:pPr algn="l">
              <a:lnSpc>
                <a:spcPct val="110000"/>
              </a:lnSpc>
              <a:spcAft>
                <a:spcPts val="400"/>
              </a:spcAft>
            </a:pPr>
            <a:r>
              <a:rPr sz="1400" b="0">
                <a:solidFill>
                  <a:srgbClr val="1F2A3A"/>
                </a:solidFill>
                <a:latin typeface="맑은 고딕"/>
                <a:ea typeface="맑은 고딕"/>
                <a:cs typeface="맑은 고딕"/>
              </a:rPr>
              <a:t>미리 정한 값 가운데 하나만 받는다. kind가 이 자료형이다.</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정해진 값 가운데 하나만 쓰는 자료형</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상태 변수의 kind는 enum이어서 manipulated, controlled, disturbance 가운데 하나만 받는다.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44</a:t>
            </a:r>
          </a:p>
        </p:txBody>
      </p:sp>
      <p:sp>
        <p:nvSpPr>
          <p:cNvPr id="6" name="Rounded Rectangle 5"/>
          <p:cNvSpPr/>
          <p:nvPr/>
        </p:nvSpPr>
        <p:spPr>
          <a:xfrm>
            <a:off x="548640"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821178"/>
            <a:ext cx="731520" cy="731520"/>
          </a:xfrm>
          <a:prstGeom prst="ellipse">
            <a:avLst/>
          </a:prstGeom>
          <a:solidFill>
            <a:srgbClr val="E7F3FD"/>
          </a:solidFill>
          <a:ln>
            <a:noFill/>
          </a:ln>
        </p:spPr>
        <p:txBody>
          <a:bodyPr rtlCol="0" anchor="ctr"/>
          <a:lstStyle/>
          <a:p>
            <a:pPr algn="ctr"/>
          </a:p>
        </p:txBody>
      </p:sp>
      <p:pic>
        <p:nvPicPr>
          <p:cNvPr id="8" name="아이콘:adjustments-horizontal" descr="adjustments-horizontal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manipulated</a:t>
            </a:r>
          </a:p>
          <a:p>
            <a:pPr algn="l">
              <a:lnSpc>
                <a:spcPct val="110000"/>
              </a:lnSpc>
              <a:spcAft>
                <a:spcPts val="400"/>
              </a:spcAft>
            </a:pPr>
            <a:r>
              <a:rPr sz="1400" b="0">
                <a:solidFill>
                  <a:srgbClr val="1F2A3A"/>
                </a:solidFill>
                <a:latin typeface="맑은 고딕"/>
                <a:ea typeface="맑은 고딕"/>
                <a:cs typeface="맑은 고딕"/>
              </a:rPr>
              <a:t>• 사람이나 시스템이 조작하는 값</a:t>
            </a:r>
          </a:p>
          <a:p>
            <a:pPr algn="l">
              <a:lnSpc>
                <a:spcPct val="110000"/>
              </a:lnSpc>
              <a:spcAft>
                <a:spcPts val="400"/>
              </a:spcAft>
            </a:pPr>
            <a:r>
              <a:rPr sz="1400" b="0">
                <a:solidFill>
                  <a:srgbClr val="1F2A3A"/>
                </a:solidFill>
                <a:latin typeface="맑은 고딕"/>
                <a:ea typeface="맑은 고딕"/>
                <a:cs typeface="맑은 고딕"/>
              </a:rPr>
              <a:t>• 팬 속도, 펌프 부하</a:t>
            </a:r>
          </a:p>
        </p:txBody>
      </p:sp>
      <p:sp>
        <p:nvSpPr>
          <p:cNvPr id="10" name="Rounded Rectangle 9"/>
          <p:cNvSpPr/>
          <p:nvPr/>
        </p:nvSpPr>
        <p:spPr>
          <a:xfrm>
            <a:off x="777240" y="4932934"/>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조작</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temperature" descr="temperature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controlled</a:t>
            </a:r>
          </a:p>
          <a:p>
            <a:pPr algn="l">
              <a:lnSpc>
                <a:spcPct val="110000"/>
              </a:lnSpc>
              <a:spcAft>
                <a:spcPts val="400"/>
              </a:spcAft>
            </a:pPr>
            <a:r>
              <a:rPr sz="1400" b="0">
                <a:solidFill>
                  <a:srgbClr val="1F2A3A"/>
                </a:solidFill>
                <a:latin typeface="맑은 고딕"/>
                <a:ea typeface="맑은 고딕"/>
                <a:cs typeface="맑은 고딕"/>
              </a:rPr>
              <a:t>• 그 결과로 나타나는 값</a:t>
            </a:r>
          </a:p>
          <a:p>
            <a:pPr algn="l">
              <a:lnSpc>
                <a:spcPct val="110000"/>
              </a:lnSpc>
              <a:spcAft>
                <a:spcPts val="400"/>
              </a:spcAft>
            </a:pPr>
            <a:r>
              <a:rPr sz="1400" b="0">
                <a:solidFill>
                  <a:srgbClr val="1F2A3A"/>
                </a:solidFill>
                <a:latin typeface="맑은 고딕"/>
                <a:ea typeface="맑은 고딕"/>
                <a:cs typeface="맑은 고딕"/>
              </a:rPr>
              <a:t>• 유온, 냉각 효율, 토출 압력</a:t>
            </a:r>
          </a:p>
        </p:txBody>
      </p:sp>
      <p:sp>
        <p:nvSpPr>
          <p:cNvPr id="16" name="Rounded Rectangle 15"/>
          <p:cNvSpPr/>
          <p:nvPr/>
        </p:nvSpPr>
        <p:spPr>
          <a:xfrm>
            <a:off x="4566818" y="4932934"/>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결과</a:t>
            </a:r>
          </a:p>
        </p:txBody>
      </p:sp>
      <p:sp>
        <p:nvSpPr>
          <p:cNvPr id="18" name="Rounded Rectangle 17"/>
          <p:cNvSpPr/>
          <p:nvPr/>
        </p:nvSpPr>
        <p:spPr>
          <a:xfrm>
            <a:off x="8127796"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5CB8F2"/>
          </a:solidFill>
          <a:ln>
            <a:noFill/>
          </a:ln>
        </p:spPr>
        <p:txBody>
          <a:bodyPr rtlCol="0" anchor="ctr"/>
          <a:lstStyle/>
          <a:p>
            <a:pPr algn="ctr"/>
          </a:p>
        </p:txBody>
      </p:sp>
      <p:pic>
        <p:nvPicPr>
          <p:cNvPr id="20" name="아이콘:wind" descr="wind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disturbance</a:t>
            </a:r>
          </a:p>
          <a:p>
            <a:pPr algn="l">
              <a:lnSpc>
                <a:spcPct val="110000"/>
              </a:lnSpc>
              <a:spcAft>
                <a:spcPts val="400"/>
              </a:spcAft>
            </a:pPr>
            <a:r>
              <a:rPr sz="1400" b="0">
                <a:solidFill>
                  <a:srgbClr val="1F2A3A"/>
                </a:solidFill>
                <a:latin typeface="맑은 고딕"/>
                <a:ea typeface="맑은 고딕"/>
                <a:cs typeface="맑은 고딕"/>
              </a:rPr>
              <a:t>• 바깥에서 들어오는 교란</a:t>
            </a:r>
          </a:p>
          <a:p>
            <a:pPr algn="l">
              <a:lnSpc>
                <a:spcPct val="110000"/>
              </a:lnSpc>
              <a:spcAft>
                <a:spcPts val="400"/>
              </a:spcAft>
            </a:pPr>
            <a:r>
              <a:rPr sz="1400" b="0">
                <a:solidFill>
                  <a:srgbClr val="1F2A3A"/>
                </a:solidFill>
                <a:latin typeface="맑은 고딕"/>
                <a:ea typeface="맑은 고딕"/>
                <a:cs typeface="맑은 고딕"/>
              </a:rPr>
              <a:t>• 쿨러 핀 오염도, 팬 베어링 마모도</a:t>
            </a:r>
          </a:p>
        </p:txBody>
      </p:sp>
      <p:sp>
        <p:nvSpPr>
          <p:cNvPr id="22" name="Rounded Rectangle 21"/>
          <p:cNvSpPr/>
          <p:nvPr/>
        </p:nvSpPr>
        <p:spPr>
          <a:xfrm>
            <a:off x="8356396" y="4932934"/>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교란</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필수 속성이 빠진 인스턴스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필수 속성이 빠진 인스턴스는 스키마에 어긋나며, 그 인스턴스로는 정해진 일을 할 수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45</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circle-check" descr="circle-check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필수 속성을 갖춘 센서</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id: sen:ts1</a:t>
            </a:r>
          </a:p>
          <a:p>
            <a:pPr algn="l">
              <a:lnSpc>
                <a:spcPct val="110000"/>
              </a:lnSpc>
              <a:spcAft>
                <a:spcPts val="600"/>
              </a:spcAft>
            </a:pPr>
            <a:r>
              <a:rPr sz="1450" b="0">
                <a:solidFill>
                  <a:srgbClr val="1F2A3A"/>
                </a:solidFill>
                <a:latin typeface="맑은 고딕"/>
                <a:ea typeface="맑은 고딕"/>
                <a:cs typeface="맑은 고딕"/>
              </a:rPr>
              <a:t>• name: 유온 센서</a:t>
            </a:r>
          </a:p>
          <a:p>
            <a:pPr algn="l">
              <a:lnSpc>
                <a:spcPct val="110000"/>
              </a:lnSpc>
              <a:spcAft>
                <a:spcPts val="600"/>
              </a:spcAft>
            </a:pPr>
            <a:r>
              <a:rPr sz="1450" b="0">
                <a:solidFill>
                  <a:srgbClr val="1F2A3A"/>
                </a:solidFill>
                <a:latin typeface="맑은 고딕"/>
                <a:ea typeface="맑은 고딕"/>
                <a:cs typeface="맑은 고딕"/>
              </a:rPr>
              <a:t>• tag: TS1</a:t>
            </a:r>
          </a:p>
          <a:p>
            <a:pPr algn="l">
              <a:lnSpc>
                <a:spcPct val="110000"/>
              </a:lnSpc>
              <a:spcAft>
                <a:spcPts val="600"/>
              </a:spcAft>
            </a:pPr>
            <a:r>
              <a:rPr sz="1450" b="0">
                <a:solidFill>
                  <a:srgbClr val="1F2A3A"/>
                </a:solidFill>
                <a:latin typeface="맑은 고딕"/>
                <a:ea typeface="맑은 고딕"/>
                <a:cs typeface="맑은 고딕"/>
              </a:rPr>
              <a:t>• 태그로 실시간 값을 찾을 수 있다</a:t>
            </a:r>
          </a:p>
        </p:txBody>
      </p:sp>
      <p:sp>
        <p:nvSpPr>
          <p:cNvPr id="11" name="Rounded Rectangle 10"/>
          <p:cNvSpPr/>
          <p:nvPr/>
        </p:nvSpPr>
        <p:spPr>
          <a:xfrm>
            <a:off x="868680" y="5096002"/>
            <a:ext cx="132587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스키마에 맞다</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alert-triangle" descr="alert-triangle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필수 속성이 빠진 센서</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id: sen:ts1</a:t>
            </a:r>
          </a:p>
          <a:p>
            <a:pPr algn="l">
              <a:lnSpc>
                <a:spcPct val="110000"/>
              </a:lnSpc>
              <a:spcAft>
                <a:spcPts val="600"/>
              </a:spcAft>
            </a:pPr>
            <a:r>
              <a:rPr sz="1450" b="0">
                <a:solidFill>
                  <a:srgbClr val="1F2A3A"/>
                </a:solidFill>
                <a:latin typeface="맑은 고딕"/>
                <a:ea typeface="맑은 고딕"/>
                <a:cs typeface="맑은 고딕"/>
              </a:rPr>
              <a:t>• name: 유온 센서</a:t>
            </a:r>
          </a:p>
          <a:p>
            <a:pPr algn="l">
              <a:lnSpc>
                <a:spcPct val="110000"/>
              </a:lnSpc>
              <a:spcAft>
                <a:spcPts val="600"/>
              </a:spcAft>
            </a:pPr>
            <a:r>
              <a:rPr sz="1450" b="0">
                <a:solidFill>
                  <a:srgbClr val="1F2A3A"/>
                </a:solidFill>
                <a:latin typeface="맑은 고딕"/>
                <a:ea typeface="맑은 고딕"/>
                <a:cs typeface="맑은 고딕"/>
              </a:rPr>
              <a:t>• tag: (없음)</a:t>
            </a:r>
          </a:p>
          <a:p>
            <a:pPr algn="l">
              <a:lnSpc>
                <a:spcPct val="110000"/>
              </a:lnSpc>
              <a:spcAft>
                <a:spcPts val="600"/>
              </a:spcAft>
            </a:pPr>
            <a:r>
              <a:rPr sz="1450" b="0">
                <a:solidFill>
                  <a:srgbClr val="1F2A3A"/>
                </a:solidFill>
                <a:latin typeface="맑은 고딕"/>
                <a:ea typeface="맑은 고딕"/>
                <a:cs typeface="맑은 고딕"/>
              </a:rPr>
              <a:t>• 어느 값이 이 센서의 값인지 알 수 없다</a:t>
            </a:r>
          </a:p>
        </p:txBody>
      </p:sp>
      <p:sp>
        <p:nvSpPr>
          <p:cNvPr id="18" name="Rounded Rectangle 17"/>
          <p:cNvSpPr/>
          <p:nvPr/>
        </p:nvSpPr>
        <p:spPr>
          <a:xfrm>
            <a:off x="6781647" y="5096002"/>
            <a:ext cx="16306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16306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스키마에 어긋난다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식별자와 이름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1">
                <a:solidFill>
                  <a:srgbClr val="1A6FC4"/>
                </a:solidFill>
                <a:latin typeface="맑은 고딕"/>
                <a:ea typeface="맑은 고딕"/>
                <a:cs typeface="맑은 고딕"/>
              </a:rPr>
              <a:t>식별자</a:t>
            </a:r>
            <a:r>
              <a:rPr sz="1600" b="0">
                <a:solidFill>
                  <a:srgbClr val="556175"/>
                </a:solidFill>
                <a:latin typeface="맑은 고딕"/>
                <a:ea typeface="맑은 고딕"/>
                <a:cs typeface="맑은 고딕"/>
              </a:rPr>
              <a:t>는 인스턴스 하나를 가리키는 고유한 값이어서, 이름이 바뀌어도 관계는 그대로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46</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key" descr="key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식별자 id</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인스턴스 하나를 가리키는 고유한 값이다</a:t>
            </a:r>
          </a:p>
          <a:p>
            <a:pPr algn="l">
              <a:lnSpc>
                <a:spcPct val="110000"/>
              </a:lnSpc>
              <a:spcAft>
                <a:spcPts val="600"/>
              </a:spcAft>
            </a:pPr>
            <a:r>
              <a:rPr sz="1450" b="0">
                <a:solidFill>
                  <a:srgbClr val="1F2A3A"/>
                </a:solidFill>
                <a:latin typeface="맑은 고딕"/>
                <a:ea typeface="맑은 고딕"/>
                <a:cs typeface="맑은 고딕"/>
              </a:rPr>
              <a:t>• 같은 값이 둘 있을 수 없다</a:t>
            </a:r>
          </a:p>
          <a:p>
            <a:pPr algn="l">
              <a:lnSpc>
                <a:spcPct val="110000"/>
              </a:lnSpc>
              <a:spcAft>
                <a:spcPts val="600"/>
              </a:spcAft>
            </a:pPr>
            <a:r>
              <a:rPr sz="1450" b="0">
                <a:solidFill>
                  <a:srgbClr val="1F2A3A"/>
                </a:solidFill>
                <a:latin typeface="맑은 고딕"/>
                <a:ea typeface="맑은 고딕"/>
                <a:cs typeface="맑은 고딕"/>
              </a:rPr>
              <a:t>• 한번 정하면 바꾸지 않는다</a:t>
            </a:r>
          </a:p>
          <a:p>
            <a:pPr algn="l">
              <a:lnSpc>
                <a:spcPct val="110000"/>
              </a:lnSpc>
              <a:spcAft>
                <a:spcPts val="600"/>
              </a:spcAft>
            </a:pPr>
            <a:r>
              <a:rPr sz="1450" b="0">
                <a:solidFill>
                  <a:srgbClr val="1F2A3A"/>
                </a:solidFill>
                <a:latin typeface="맑은 고딕"/>
                <a:ea typeface="맑은 고딕"/>
                <a:cs typeface="맑은 고딕"/>
              </a:rPr>
              <a:t>• 예: sen:ts1</a:t>
            </a:r>
          </a:p>
        </p:txBody>
      </p:sp>
      <p:sp>
        <p:nvSpPr>
          <p:cNvPr id="11" name="Rounded Rectangle 10"/>
          <p:cNvSpPr/>
          <p:nvPr/>
        </p:nvSpPr>
        <p:spPr>
          <a:xfrm>
            <a:off x="868680" y="5096002"/>
            <a:ext cx="10210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고유한 값</a:t>
            </a:r>
          </a:p>
        </p:txBody>
      </p:sp>
      <p:sp>
        <p:nvSpPr>
          <p:cNvPr id="13" name="Rounded Rectangle 12"/>
          <p:cNvSpPr/>
          <p:nvPr/>
        </p:nvSpPr>
        <p:spPr>
          <a:xfrm>
            <a:off x="6461607" y="2429509"/>
            <a:ext cx="5181447" cy="3123692"/>
          </a:xfrm>
          <a:prstGeom prst="roundRect">
            <a:avLst>
              <a:gd name="adj" fmla="val 4000"/>
            </a:avLst>
          </a:prstGeom>
          <a:solidFill>
            <a:srgbClr val="F3F6F9"/>
          </a:solidFill>
          <a:ln>
            <a:noFill/>
          </a:ln>
        </p:spPr>
        <p:txBody>
          <a:bodyPr rtlCol="0" anchor="ctr"/>
          <a:lstStyle/>
          <a:p>
            <a:pPr algn="ctr"/>
          </a:p>
        </p:txBody>
      </p:sp>
      <p:sp>
        <p:nvSpPr>
          <p:cNvPr id="14" name="Oval 13"/>
          <p:cNvSpPr/>
          <p:nvPr/>
        </p:nvSpPr>
        <p:spPr>
          <a:xfrm>
            <a:off x="6735927" y="2630678"/>
            <a:ext cx="731520" cy="731520"/>
          </a:xfrm>
          <a:prstGeom prst="ellipse">
            <a:avLst/>
          </a:prstGeom>
          <a:solidFill>
            <a:srgbClr val="FFFFFF"/>
          </a:solidFill>
          <a:ln>
            <a:noFill/>
          </a:ln>
        </p:spPr>
        <p:txBody>
          <a:bodyPr rtlCol="0" anchor="ctr"/>
          <a:lstStyle/>
          <a:p>
            <a:pPr algn="ctr"/>
          </a:p>
        </p:txBody>
      </p:sp>
      <p:pic>
        <p:nvPicPr>
          <p:cNvPr id="15" name="아이콘:tag" descr="tag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이름 name</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사람이 읽는 말이다</a:t>
            </a:r>
          </a:p>
          <a:p>
            <a:pPr algn="l">
              <a:lnSpc>
                <a:spcPct val="110000"/>
              </a:lnSpc>
              <a:spcAft>
                <a:spcPts val="600"/>
              </a:spcAft>
            </a:pPr>
            <a:r>
              <a:rPr sz="1450" b="0">
                <a:solidFill>
                  <a:srgbClr val="1F2A3A"/>
                </a:solidFill>
                <a:latin typeface="맑은 고딕"/>
                <a:ea typeface="맑은 고딕"/>
                <a:cs typeface="맑은 고딕"/>
              </a:rPr>
              <a:t>• 겹칠 수 있다</a:t>
            </a:r>
          </a:p>
          <a:p>
            <a:pPr algn="l">
              <a:lnSpc>
                <a:spcPct val="110000"/>
              </a:lnSpc>
              <a:spcAft>
                <a:spcPts val="600"/>
              </a:spcAft>
            </a:pPr>
            <a:r>
              <a:rPr sz="1450" b="0">
                <a:solidFill>
                  <a:srgbClr val="1F2A3A"/>
                </a:solidFill>
                <a:latin typeface="맑은 고딕"/>
                <a:ea typeface="맑은 고딕"/>
                <a:cs typeface="맑은 고딕"/>
              </a:rPr>
              <a:t>• 고쳐 쓸 수 있다</a:t>
            </a:r>
          </a:p>
          <a:p>
            <a:pPr algn="l">
              <a:lnSpc>
                <a:spcPct val="110000"/>
              </a:lnSpc>
              <a:spcAft>
                <a:spcPts val="600"/>
              </a:spcAft>
            </a:pPr>
            <a:r>
              <a:rPr sz="1450" b="0">
                <a:solidFill>
                  <a:srgbClr val="1F2A3A"/>
                </a:solidFill>
                <a:latin typeface="맑은 고딕"/>
                <a:ea typeface="맑은 고딕"/>
                <a:cs typeface="맑은 고딕"/>
              </a:rPr>
              <a:t>• 예: 유온 센서</a:t>
            </a:r>
          </a:p>
        </p:txBody>
      </p:sp>
      <p:sp>
        <p:nvSpPr>
          <p:cNvPr id="18" name="Rounded Rectangle 17"/>
          <p:cNvSpPr/>
          <p:nvPr/>
        </p:nvSpPr>
        <p:spPr>
          <a:xfrm>
            <a:off x="6781647" y="5096002"/>
            <a:ext cx="822960" cy="292608"/>
          </a:xfrm>
          <a:prstGeom prst="roundRect">
            <a:avLst>
              <a:gd name="adj" fmla="val 50000"/>
            </a:avLst>
          </a:prstGeom>
          <a:solidFill>
            <a:srgbClr val="D3D9E1"/>
          </a:solidFill>
          <a:ln>
            <a:noFill/>
          </a:ln>
        </p:spPr>
        <p:txBody>
          <a:bodyPr rtlCol="0" anchor="ctr"/>
          <a:lstStyle/>
          <a:p>
            <a:pPr algn="ctr"/>
          </a:p>
        </p:txBody>
      </p:sp>
      <p:sp>
        <p:nvSpPr>
          <p:cNvPr id="19" name="TextBox 18"/>
          <p:cNvSpPr txBox="1"/>
          <p:nvPr/>
        </p:nvSpPr>
        <p:spPr>
          <a:xfrm>
            <a:off x="6781647" y="509600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표시용</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식별자의 규칙: 클래스를 드러내는 접두사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HYD 온톨로지의 식별자는 앞에 붙은 접두사로 그 대상의 클래스를 드러낸다.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47</a:t>
            </a:r>
          </a:p>
        </p:txBody>
      </p:sp>
      <p:sp>
        <p:nvSpPr>
          <p:cNvPr id="6" name="Rounded Rectangle 5"/>
          <p:cNvSpPr/>
          <p:nvPr/>
        </p:nvSpPr>
        <p:spPr>
          <a:xfrm>
            <a:off x="548640" y="2523172"/>
            <a:ext cx="2567863" cy="293636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24340"/>
            <a:ext cx="731520" cy="731520"/>
          </a:xfrm>
          <a:prstGeom prst="ellipse">
            <a:avLst/>
          </a:prstGeom>
          <a:solidFill>
            <a:srgbClr val="E7F3FD"/>
          </a:solidFill>
          <a:ln>
            <a:noFill/>
          </a:ln>
        </p:spPr>
        <p:txBody>
          <a:bodyPr rtlCol="0" anchor="ctr"/>
          <a:lstStyle/>
          <a:p>
            <a:pPr algn="ctr"/>
          </a:p>
        </p:txBody>
      </p:sp>
      <p:pic>
        <p:nvPicPr>
          <p:cNvPr id="8" name="아이콘:engine" descr="engine_13294B_1.6.png"/>
          <p:cNvPicPr>
            <a:picLocks noChangeAspect="1"/>
          </p:cNvPicPr>
          <p:nvPr/>
        </p:nvPicPr>
        <p:blipFill>
          <a:blip r:embed="rId3"/>
          <a:stretch>
            <a:fillRect/>
          </a:stretch>
        </p:blipFill>
        <p:spPr>
          <a:xfrm>
            <a:off x="930859" y="2877959"/>
            <a:ext cx="424281" cy="424281"/>
          </a:xfrm>
          <a:prstGeom prst="rect">
            <a:avLst/>
          </a:prstGeom>
        </p:spPr>
      </p:pic>
      <p:sp>
        <p:nvSpPr>
          <p:cNvPr id="9" name="TextBox 8"/>
          <p:cNvSpPr txBox="1"/>
          <p:nvPr/>
        </p:nvSpPr>
        <p:spPr>
          <a:xfrm>
            <a:off x="713232"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설비와 구성 요소</a:t>
            </a:r>
          </a:p>
          <a:p>
            <a:pPr algn="l">
              <a:lnSpc>
                <a:spcPct val="110000"/>
              </a:lnSpc>
              <a:spcAft>
                <a:spcPts val="400"/>
              </a:spcAft>
            </a:pPr>
            <a:r>
              <a:rPr sz="1350" b="0">
                <a:solidFill>
                  <a:srgbClr val="1F2A3A"/>
                </a:solidFill>
                <a:latin typeface="맑은 고딕"/>
                <a:ea typeface="맑은 고딕"/>
                <a:cs typeface="맑은 고딕"/>
              </a:rPr>
              <a:t>• asset:hyd-01</a:t>
            </a:r>
          </a:p>
          <a:p>
            <a:pPr algn="l">
              <a:lnSpc>
                <a:spcPct val="110000"/>
              </a:lnSpc>
              <a:spcAft>
                <a:spcPts val="400"/>
              </a:spcAft>
            </a:pPr>
            <a:r>
              <a:rPr sz="1350" b="0">
                <a:solidFill>
                  <a:srgbClr val="1F2A3A"/>
                </a:solidFill>
                <a:latin typeface="맑은 고딕"/>
                <a:ea typeface="맑은 고딕"/>
                <a:cs typeface="맑은 고딕"/>
              </a:rPr>
              <a:t>• comp:cooler</a:t>
            </a:r>
          </a:p>
        </p:txBody>
      </p:sp>
      <p:sp>
        <p:nvSpPr>
          <p:cNvPr id="10" name="Rounded Rectangle 9"/>
          <p:cNvSpPr/>
          <p:nvPr/>
        </p:nvSpPr>
        <p:spPr>
          <a:xfrm>
            <a:off x="777240" y="5029771"/>
            <a:ext cx="1481328"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29771"/>
            <a:ext cx="148132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asset: · comp:</a:t>
            </a:r>
          </a:p>
        </p:txBody>
      </p:sp>
      <p:sp>
        <p:nvSpPr>
          <p:cNvPr id="12" name="Rounded Rectangle 11"/>
          <p:cNvSpPr/>
          <p:nvPr/>
        </p:nvSpPr>
        <p:spPr>
          <a:xfrm>
            <a:off x="3390823" y="2523172"/>
            <a:ext cx="2567863" cy="293636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724340"/>
            <a:ext cx="731520" cy="731520"/>
          </a:xfrm>
          <a:prstGeom prst="ellipse">
            <a:avLst/>
          </a:prstGeom>
          <a:solidFill>
            <a:srgbClr val="E7F3FD"/>
          </a:solidFill>
          <a:ln>
            <a:noFill/>
          </a:ln>
        </p:spPr>
        <p:txBody>
          <a:bodyPr rtlCol="0" anchor="ctr"/>
          <a:lstStyle/>
          <a:p>
            <a:pPr algn="ctr"/>
          </a:p>
        </p:txBody>
      </p:sp>
      <p:pic>
        <p:nvPicPr>
          <p:cNvPr id="14" name="아이콘:gauge" descr="gauge_13294B_1.6.png"/>
          <p:cNvPicPr>
            <a:picLocks noChangeAspect="1"/>
          </p:cNvPicPr>
          <p:nvPr/>
        </p:nvPicPr>
        <p:blipFill>
          <a:blip r:embed="rId4"/>
          <a:stretch>
            <a:fillRect/>
          </a:stretch>
        </p:blipFill>
        <p:spPr>
          <a:xfrm>
            <a:off x="3773043" y="2877959"/>
            <a:ext cx="424281" cy="424281"/>
          </a:xfrm>
          <a:prstGeom prst="rect">
            <a:avLst/>
          </a:prstGeom>
        </p:spPr>
      </p:pic>
      <p:sp>
        <p:nvSpPr>
          <p:cNvPr id="15" name="TextBox 14"/>
          <p:cNvSpPr txBox="1"/>
          <p:nvPr/>
        </p:nvSpPr>
        <p:spPr>
          <a:xfrm>
            <a:off x="3555415"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센서와 상태 변수</a:t>
            </a:r>
          </a:p>
          <a:p>
            <a:pPr algn="l">
              <a:lnSpc>
                <a:spcPct val="110000"/>
              </a:lnSpc>
              <a:spcAft>
                <a:spcPts val="400"/>
              </a:spcAft>
            </a:pPr>
            <a:r>
              <a:rPr sz="1350" b="0">
                <a:solidFill>
                  <a:srgbClr val="1F2A3A"/>
                </a:solidFill>
                <a:latin typeface="맑은 고딕"/>
                <a:ea typeface="맑은 고딕"/>
                <a:cs typeface="맑은 고딕"/>
              </a:rPr>
              <a:t>• sen:ts1</a:t>
            </a:r>
          </a:p>
          <a:p>
            <a:pPr algn="l">
              <a:lnSpc>
                <a:spcPct val="110000"/>
              </a:lnSpc>
              <a:spcAft>
                <a:spcPts val="400"/>
              </a:spcAft>
            </a:pPr>
            <a:r>
              <a:rPr sz="1350" b="0">
                <a:solidFill>
                  <a:srgbClr val="1F2A3A"/>
                </a:solidFill>
                <a:latin typeface="맑은 고딕"/>
                <a:ea typeface="맑은 고딕"/>
                <a:cs typeface="맑은 고딕"/>
              </a:rPr>
              <a:t>• sv:ts1</a:t>
            </a:r>
          </a:p>
        </p:txBody>
      </p:sp>
      <p:sp>
        <p:nvSpPr>
          <p:cNvPr id="16" name="Rounded Rectangle 15"/>
          <p:cNvSpPr/>
          <p:nvPr/>
        </p:nvSpPr>
        <p:spPr>
          <a:xfrm>
            <a:off x="3619423" y="5029771"/>
            <a:ext cx="1164336"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029771"/>
            <a:ext cx="1164336"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sen: · sv:</a:t>
            </a:r>
          </a:p>
        </p:txBody>
      </p:sp>
      <p:sp>
        <p:nvSpPr>
          <p:cNvPr id="18" name="Rounded Rectangle 17"/>
          <p:cNvSpPr/>
          <p:nvPr/>
        </p:nvSpPr>
        <p:spPr>
          <a:xfrm>
            <a:off x="6233007" y="2523172"/>
            <a:ext cx="2567863" cy="293636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724340"/>
            <a:ext cx="731520" cy="731520"/>
          </a:xfrm>
          <a:prstGeom prst="ellipse">
            <a:avLst/>
          </a:prstGeom>
          <a:solidFill>
            <a:srgbClr val="E7F3FD"/>
          </a:solidFill>
          <a:ln>
            <a:noFill/>
          </a:ln>
        </p:spPr>
        <p:txBody>
          <a:bodyPr rtlCol="0" anchor="ctr"/>
          <a:lstStyle/>
          <a:p>
            <a:pPr algn="ctr"/>
          </a:p>
        </p:txBody>
      </p:sp>
      <p:pic>
        <p:nvPicPr>
          <p:cNvPr id="20" name="아이콘:tool" descr="tool_13294B_1.6.png"/>
          <p:cNvPicPr>
            <a:picLocks noChangeAspect="1"/>
          </p:cNvPicPr>
          <p:nvPr/>
        </p:nvPicPr>
        <p:blipFill>
          <a:blip r:embed="rId5"/>
          <a:stretch>
            <a:fillRect/>
          </a:stretch>
        </p:blipFill>
        <p:spPr>
          <a:xfrm>
            <a:off x="6615226" y="2877959"/>
            <a:ext cx="424281" cy="424281"/>
          </a:xfrm>
          <a:prstGeom prst="rect">
            <a:avLst/>
          </a:prstGeom>
        </p:spPr>
      </p:pic>
      <p:sp>
        <p:nvSpPr>
          <p:cNvPr id="21" name="TextBox 20"/>
          <p:cNvSpPr txBox="1"/>
          <p:nvPr/>
        </p:nvSpPr>
        <p:spPr>
          <a:xfrm>
            <a:off x="6397599"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부품과 공급사</a:t>
            </a:r>
          </a:p>
          <a:p>
            <a:pPr algn="l">
              <a:lnSpc>
                <a:spcPct val="110000"/>
              </a:lnSpc>
              <a:spcAft>
                <a:spcPts val="400"/>
              </a:spcAft>
            </a:pPr>
            <a:r>
              <a:rPr sz="1350" b="0">
                <a:solidFill>
                  <a:srgbClr val="1F2A3A"/>
                </a:solidFill>
                <a:latin typeface="맑은 고딕"/>
                <a:ea typeface="맑은 고딕"/>
                <a:cs typeface="맑은 고딕"/>
              </a:rPr>
              <a:t>• part:cooler-core</a:t>
            </a:r>
          </a:p>
          <a:p>
            <a:pPr algn="l">
              <a:lnSpc>
                <a:spcPct val="110000"/>
              </a:lnSpc>
              <a:spcAft>
                <a:spcPts val="400"/>
              </a:spcAft>
            </a:pPr>
            <a:r>
              <a:rPr sz="1350" b="0">
                <a:solidFill>
                  <a:srgbClr val="1F2A3A"/>
                </a:solidFill>
                <a:latin typeface="맑은 고딕"/>
                <a:ea typeface="맑은 고딕"/>
                <a:cs typeface="맑은 고딕"/>
              </a:rPr>
              <a:t>• sup:a</a:t>
            </a:r>
          </a:p>
        </p:txBody>
      </p:sp>
      <p:sp>
        <p:nvSpPr>
          <p:cNvPr id="22" name="Rounded Rectangle 21"/>
          <p:cNvSpPr/>
          <p:nvPr/>
        </p:nvSpPr>
        <p:spPr>
          <a:xfrm>
            <a:off x="6461607" y="5029771"/>
            <a:ext cx="1322832"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029771"/>
            <a:ext cx="1322832"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part: · sup:</a:t>
            </a:r>
          </a:p>
        </p:txBody>
      </p:sp>
      <p:sp>
        <p:nvSpPr>
          <p:cNvPr id="24" name="Rounded Rectangle 23"/>
          <p:cNvSpPr/>
          <p:nvPr/>
        </p:nvSpPr>
        <p:spPr>
          <a:xfrm>
            <a:off x="9075191" y="2523172"/>
            <a:ext cx="2567863" cy="293636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25" name="Oval 24"/>
          <p:cNvSpPr/>
          <p:nvPr/>
        </p:nvSpPr>
        <p:spPr>
          <a:xfrm>
            <a:off x="9303791" y="2724340"/>
            <a:ext cx="731520" cy="731520"/>
          </a:xfrm>
          <a:prstGeom prst="ellipse">
            <a:avLst/>
          </a:prstGeom>
          <a:solidFill>
            <a:srgbClr val="E7F3FD"/>
          </a:solidFill>
          <a:ln>
            <a:noFill/>
          </a:ln>
        </p:spPr>
        <p:txBody>
          <a:bodyPr rtlCol="0" anchor="ctr"/>
          <a:lstStyle/>
          <a:p>
            <a:pPr algn="ctr"/>
          </a:p>
        </p:txBody>
      </p:sp>
      <p:pic>
        <p:nvPicPr>
          <p:cNvPr id="26" name="아이콘:bell" descr="bell_13294B_1.6.png"/>
          <p:cNvPicPr>
            <a:picLocks noChangeAspect="1"/>
          </p:cNvPicPr>
          <p:nvPr/>
        </p:nvPicPr>
        <p:blipFill>
          <a:blip r:embed="rId6"/>
          <a:stretch>
            <a:fillRect/>
          </a:stretch>
        </p:blipFill>
        <p:spPr>
          <a:xfrm>
            <a:off x="9457410" y="2877959"/>
            <a:ext cx="424281" cy="424281"/>
          </a:xfrm>
          <a:prstGeom prst="rect">
            <a:avLst/>
          </a:prstGeom>
        </p:spPr>
      </p:pic>
      <p:sp>
        <p:nvSpPr>
          <p:cNvPr id="27" name="TextBox 26"/>
          <p:cNvSpPr txBox="1"/>
          <p:nvPr/>
        </p:nvSpPr>
        <p:spPr>
          <a:xfrm>
            <a:off x="9239783"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이상 패턴과 증상</a:t>
            </a:r>
          </a:p>
          <a:p>
            <a:pPr algn="l">
              <a:lnSpc>
                <a:spcPct val="110000"/>
              </a:lnSpc>
              <a:spcAft>
                <a:spcPts val="400"/>
              </a:spcAft>
            </a:pPr>
            <a:r>
              <a:rPr sz="1350" b="0">
                <a:solidFill>
                  <a:srgbClr val="1F2A3A"/>
                </a:solidFill>
                <a:latin typeface="맑은 고딕"/>
                <a:ea typeface="맑은 고딕"/>
                <a:cs typeface="맑은 고딕"/>
              </a:rPr>
              <a:t>• pattern:cooler-degradation</a:t>
            </a:r>
          </a:p>
          <a:p>
            <a:pPr algn="l">
              <a:lnSpc>
                <a:spcPct val="110000"/>
              </a:lnSpc>
              <a:spcAft>
                <a:spcPts val="400"/>
              </a:spcAft>
            </a:pPr>
            <a:r>
              <a:rPr sz="1350" b="0">
                <a:solidFill>
                  <a:srgbClr val="1F2A3A"/>
                </a:solidFill>
                <a:latin typeface="맑은 고딕"/>
                <a:ea typeface="맑은 고딕"/>
                <a:cs typeface="맑은 고딕"/>
              </a:rPr>
              <a:t>• sym:ts1-rise</a:t>
            </a:r>
          </a:p>
        </p:txBody>
      </p:sp>
      <p:sp>
        <p:nvSpPr>
          <p:cNvPr id="28" name="Rounded Rectangle 27"/>
          <p:cNvSpPr/>
          <p:nvPr/>
        </p:nvSpPr>
        <p:spPr>
          <a:xfrm>
            <a:off x="9303791" y="5029771"/>
            <a:ext cx="1560576" cy="292608"/>
          </a:xfrm>
          <a:prstGeom prst="roundRect">
            <a:avLst>
              <a:gd name="adj" fmla="val 50000"/>
            </a:avLst>
          </a:prstGeom>
          <a:solidFill>
            <a:srgbClr val="D3D9E1"/>
          </a:solidFill>
          <a:ln>
            <a:noFill/>
          </a:ln>
        </p:spPr>
        <p:txBody>
          <a:bodyPr rtlCol="0" anchor="ctr"/>
          <a:lstStyle/>
          <a:p>
            <a:pPr algn="ctr"/>
          </a:p>
        </p:txBody>
      </p:sp>
      <p:sp>
        <p:nvSpPr>
          <p:cNvPr id="29" name="TextBox 28"/>
          <p:cNvSpPr txBox="1"/>
          <p:nvPr/>
        </p:nvSpPr>
        <p:spPr>
          <a:xfrm>
            <a:off x="9303791" y="5029771"/>
            <a:ext cx="1560576"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pattern: · sym:</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별칭: 다른 이름으로 같은 대상 찾기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별칭은 같은 대상을 부르는 다른 이름의 목록이며, 질문에 쓰인 말로 대상을 찾는 데 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48</a:t>
            </a:r>
          </a:p>
        </p:txBody>
      </p:sp>
      <p:sp>
        <p:nvSpPr>
          <p:cNvPr id="6" name="Rounded Rectangle 5"/>
          <p:cNvSpPr/>
          <p:nvPr/>
        </p:nvSpPr>
        <p:spPr>
          <a:xfrm>
            <a:off x="548640" y="2603182"/>
            <a:ext cx="3442106" cy="2776346"/>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903933" y="2786062"/>
            <a:ext cx="731520" cy="731520"/>
          </a:xfrm>
          <a:prstGeom prst="ellipse">
            <a:avLst/>
          </a:prstGeom>
          <a:solidFill>
            <a:srgbClr val="FFFFFF"/>
          </a:solidFill>
          <a:ln>
            <a:noFill/>
          </a:ln>
        </p:spPr>
        <p:txBody>
          <a:bodyPr rtlCol="0" anchor="ctr"/>
          <a:lstStyle/>
          <a:p>
            <a:pPr algn="ctr"/>
          </a:p>
        </p:txBody>
      </p:sp>
      <p:pic>
        <p:nvPicPr>
          <p:cNvPr id="8" name="아이콘:message" descr="message_13294B_1.6.png"/>
          <p:cNvPicPr>
            <a:picLocks noChangeAspect="1"/>
          </p:cNvPicPr>
          <p:nvPr/>
        </p:nvPicPr>
        <p:blipFill>
          <a:blip r:embed="rId3"/>
          <a:stretch>
            <a:fillRect/>
          </a:stretch>
        </p:blipFill>
        <p:spPr>
          <a:xfrm>
            <a:off x="2057552" y="2939681"/>
            <a:ext cx="424281" cy="424281"/>
          </a:xfrm>
          <a:prstGeom prst="rect">
            <a:avLst/>
          </a:prstGeom>
        </p:spPr>
      </p:pic>
      <p:sp>
        <p:nvSpPr>
          <p:cNvPr id="9" name="TextBox 8"/>
          <p:cNvSpPr txBox="1"/>
          <p:nvPr/>
        </p:nvSpPr>
        <p:spPr>
          <a:xfrm>
            <a:off x="621792" y="3590734"/>
            <a:ext cx="3295802"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질문의 말</a:t>
            </a:r>
          </a:p>
          <a:p>
            <a:pPr algn="ctr">
              <a:lnSpc>
                <a:spcPct val="110000"/>
              </a:lnSpc>
              <a:spcAft>
                <a:spcPts val="400"/>
              </a:spcAft>
            </a:pPr>
            <a:r>
              <a:rPr sz="1350" b="0">
                <a:solidFill>
                  <a:srgbClr val="1F2A3A"/>
                </a:solidFill>
                <a:latin typeface="맑은 고딕"/>
                <a:ea typeface="맑은 고딕"/>
                <a:cs typeface="맑은 고딕"/>
              </a:rPr>
              <a:t>「작동유 온도가</a:t>
            </a:r>
          </a:p>
          <a:p>
            <a:pPr algn="ctr">
              <a:lnSpc>
                <a:spcPct val="110000"/>
              </a:lnSpc>
              <a:spcAft>
                <a:spcPts val="400"/>
              </a:spcAft>
            </a:pPr>
            <a:r>
              <a:rPr sz="1350" b="0">
                <a:solidFill>
                  <a:srgbClr val="1F2A3A"/>
                </a:solidFill>
                <a:latin typeface="맑은 고딕"/>
                <a:ea typeface="맑은 고딕"/>
                <a:cs typeface="맑은 고딕"/>
              </a:rPr>
              <a:t>얼마인가」</a:t>
            </a:r>
          </a:p>
        </p:txBody>
      </p:sp>
      <p:sp>
        <p:nvSpPr>
          <p:cNvPr id="10" name="Right Arrow 9"/>
          <p:cNvSpPr/>
          <p:nvPr/>
        </p:nvSpPr>
        <p:spPr>
          <a:xfrm>
            <a:off x="4054754"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4374794" y="2603182"/>
            <a:ext cx="3442106" cy="2776346"/>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5730087" y="2786062"/>
            <a:ext cx="731520" cy="731520"/>
          </a:xfrm>
          <a:prstGeom prst="ellipse">
            <a:avLst/>
          </a:prstGeom>
          <a:solidFill>
            <a:srgbClr val="FFFFFF"/>
          </a:solidFill>
          <a:ln>
            <a:noFill/>
          </a:ln>
        </p:spPr>
        <p:txBody>
          <a:bodyPr rtlCol="0" anchor="ctr"/>
          <a:lstStyle/>
          <a:p>
            <a:pPr algn="ctr"/>
          </a:p>
        </p:txBody>
      </p:sp>
      <p:pic>
        <p:nvPicPr>
          <p:cNvPr id="13" name="아이콘:list-search" descr="list-search_13294B_1.6.png"/>
          <p:cNvPicPr>
            <a:picLocks noChangeAspect="1"/>
          </p:cNvPicPr>
          <p:nvPr/>
        </p:nvPicPr>
        <p:blipFill>
          <a:blip r:embed="rId4"/>
          <a:stretch>
            <a:fillRect/>
          </a:stretch>
        </p:blipFill>
        <p:spPr>
          <a:xfrm>
            <a:off x="5883706" y="2939681"/>
            <a:ext cx="424281" cy="424281"/>
          </a:xfrm>
          <a:prstGeom prst="rect">
            <a:avLst/>
          </a:prstGeom>
        </p:spPr>
      </p:pic>
      <p:sp>
        <p:nvSpPr>
          <p:cNvPr id="14" name="TextBox 13"/>
          <p:cNvSpPr txBox="1"/>
          <p:nvPr/>
        </p:nvSpPr>
        <p:spPr>
          <a:xfrm>
            <a:off x="4447946" y="3590734"/>
            <a:ext cx="3295802"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별칭과 대조</a:t>
            </a:r>
          </a:p>
          <a:p>
            <a:pPr algn="ctr">
              <a:lnSpc>
                <a:spcPct val="110000"/>
              </a:lnSpc>
              <a:spcAft>
                <a:spcPts val="400"/>
              </a:spcAft>
            </a:pPr>
            <a:r>
              <a:rPr sz="1350" b="0">
                <a:solidFill>
                  <a:srgbClr val="1F2A3A"/>
                </a:solidFill>
                <a:latin typeface="맑은 고딕"/>
                <a:ea typeface="맑은 고딕"/>
                <a:cs typeface="맑은 고딕"/>
              </a:rPr>
              <a:t>aliases:</a:t>
            </a:r>
          </a:p>
          <a:p>
            <a:pPr algn="ctr">
              <a:lnSpc>
                <a:spcPct val="110000"/>
              </a:lnSpc>
              <a:spcAft>
                <a:spcPts val="400"/>
              </a:spcAft>
            </a:pPr>
            <a:r>
              <a:rPr sz="1350" b="0">
                <a:solidFill>
                  <a:srgbClr val="1F2A3A"/>
                </a:solidFill>
                <a:latin typeface="맑은 고딕"/>
                <a:ea typeface="맑은 고딕"/>
                <a:cs typeface="맑은 고딕"/>
              </a:rPr>
              <a:t>오일 온도,</a:t>
            </a:r>
          </a:p>
          <a:p>
            <a:pPr algn="ctr">
              <a:lnSpc>
                <a:spcPct val="110000"/>
              </a:lnSpc>
              <a:spcAft>
                <a:spcPts val="400"/>
              </a:spcAft>
            </a:pPr>
            <a:r>
              <a:rPr sz="1350" b="0">
                <a:solidFill>
                  <a:srgbClr val="1F2A3A"/>
                </a:solidFill>
                <a:latin typeface="맑은 고딕"/>
                <a:ea typeface="맑은 고딕"/>
                <a:cs typeface="맑은 고딕"/>
              </a:rPr>
              <a:t>작동유 온도, TS1</a:t>
            </a:r>
          </a:p>
        </p:txBody>
      </p:sp>
      <p:sp>
        <p:nvSpPr>
          <p:cNvPr id="15" name="Right Arrow 14"/>
          <p:cNvSpPr/>
          <p:nvPr/>
        </p:nvSpPr>
        <p:spPr>
          <a:xfrm>
            <a:off x="7880908"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8200948" y="2603182"/>
            <a:ext cx="3442106" cy="2776346"/>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9556242" y="2786062"/>
            <a:ext cx="731520" cy="731520"/>
          </a:xfrm>
          <a:prstGeom prst="ellipse">
            <a:avLst/>
          </a:prstGeom>
          <a:solidFill>
            <a:srgbClr val="5CB8F2"/>
          </a:solidFill>
          <a:ln>
            <a:noFill/>
          </a:ln>
        </p:spPr>
        <p:txBody>
          <a:bodyPr rtlCol="0" anchor="ctr"/>
          <a:lstStyle/>
          <a:p>
            <a:pPr algn="ctr"/>
          </a:p>
        </p:txBody>
      </p:sp>
      <p:pic>
        <p:nvPicPr>
          <p:cNvPr id="18" name="아이콘:target" descr="target_13294B_1.6.png"/>
          <p:cNvPicPr>
            <a:picLocks noChangeAspect="1"/>
          </p:cNvPicPr>
          <p:nvPr/>
        </p:nvPicPr>
        <p:blipFill>
          <a:blip r:embed="rId5"/>
          <a:stretch>
            <a:fillRect/>
          </a:stretch>
        </p:blipFill>
        <p:spPr>
          <a:xfrm>
            <a:off x="9709861" y="2939681"/>
            <a:ext cx="424281" cy="424281"/>
          </a:xfrm>
          <a:prstGeom prst="rect">
            <a:avLst/>
          </a:prstGeom>
        </p:spPr>
      </p:pic>
      <p:sp>
        <p:nvSpPr>
          <p:cNvPr id="19" name="TextBox 18"/>
          <p:cNvSpPr txBox="1"/>
          <p:nvPr/>
        </p:nvSpPr>
        <p:spPr>
          <a:xfrm>
            <a:off x="8274100" y="3590734"/>
            <a:ext cx="3295802"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찾은 대상</a:t>
            </a:r>
          </a:p>
          <a:p>
            <a:pPr algn="ctr">
              <a:lnSpc>
                <a:spcPct val="110000"/>
              </a:lnSpc>
              <a:spcAft>
                <a:spcPts val="400"/>
              </a:spcAft>
            </a:pPr>
            <a:r>
              <a:rPr sz="1350" b="0">
                <a:solidFill>
                  <a:srgbClr val="1F2A3A"/>
                </a:solidFill>
                <a:latin typeface="맑은 고딕"/>
                <a:ea typeface="맑은 고딕"/>
                <a:cs typeface="맑은 고딕"/>
              </a:rPr>
              <a:t>sv:ts1</a:t>
            </a:r>
          </a:p>
          <a:p>
            <a:pPr algn="ctr">
              <a:lnSpc>
                <a:spcPct val="110000"/>
              </a:lnSpc>
              <a:spcAft>
                <a:spcPts val="400"/>
              </a:spcAft>
            </a:pPr>
            <a:r>
              <a:rPr sz="1350" b="0">
                <a:solidFill>
                  <a:srgbClr val="1F2A3A"/>
                </a:solidFill>
                <a:latin typeface="맑은 고딕"/>
                <a:ea typeface="맑은 고딕"/>
                <a:cs typeface="맑은 고딕"/>
              </a:rPr>
              <a:t>유온</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공통 식별자: 지식 그래프, 시계열 DB, 업무 DB</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HYD-01과 TS1이라는 같은 값이 세 저장소에 있어 센서의 지식, 계측값, 업무 데이터가 한 설비로 모인다.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49</a:t>
            </a:r>
          </a:p>
        </p:txBody>
      </p:sp>
      <p:pic>
        <p:nvPicPr>
          <p:cNvPr id="6" name="삽화:공통식별자_2.svg" descr="illust_1369775561697259044_179171724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4677613" y="2762219"/>
            <a:ext cx="283646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공통 식별자</a:t>
            </a:r>
          </a:p>
          <a:p>
            <a:pPr algn="ctr">
              <a:lnSpc>
                <a:spcPct val="110000"/>
              </a:lnSpc>
              <a:spcAft>
                <a:spcPts val="100"/>
              </a:spcAft>
            </a:pPr>
            <a:r>
              <a:rPr sz="1300" b="0">
                <a:solidFill>
                  <a:srgbClr val="556175"/>
                </a:solidFill>
                <a:latin typeface="맑은 고딕"/>
                <a:ea typeface="맑은 고딕"/>
                <a:cs typeface="맑은 고딕"/>
              </a:rPr>
              <a:t>같은 값이 같은 대상을 뜻한다</a:t>
            </a:r>
          </a:p>
        </p:txBody>
      </p:sp>
      <p:sp>
        <p:nvSpPr>
          <p:cNvPr id="8" name="TextBox 7"/>
          <p:cNvSpPr txBox="1"/>
          <p:nvPr/>
        </p:nvSpPr>
        <p:spPr>
          <a:xfrm>
            <a:off x="5277635" y="3754983"/>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HYD-01 · TS1</a:t>
            </a:r>
          </a:p>
        </p:txBody>
      </p:sp>
      <p:sp>
        <p:nvSpPr>
          <p:cNvPr id="9" name="TextBox 8"/>
          <p:cNvSpPr txBox="1"/>
          <p:nvPr/>
        </p:nvSpPr>
        <p:spPr>
          <a:xfrm>
            <a:off x="968384" y="4010265"/>
            <a:ext cx="261827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지식 그래프</a:t>
            </a:r>
          </a:p>
          <a:p>
            <a:pPr algn="ctr">
              <a:lnSpc>
                <a:spcPct val="110000"/>
              </a:lnSpc>
              <a:spcAft>
                <a:spcPts val="100"/>
              </a:spcAft>
            </a:pPr>
            <a:r>
              <a:rPr sz="1300" b="0">
                <a:solidFill>
                  <a:srgbClr val="556175"/>
                </a:solidFill>
                <a:latin typeface="맑은 고딕"/>
                <a:ea typeface="맑은 고딕"/>
                <a:cs typeface="맑은 고딕"/>
              </a:rPr>
              <a:t>설비의 code: HYD-01</a:t>
            </a:r>
          </a:p>
          <a:p>
            <a:pPr algn="ctr">
              <a:lnSpc>
                <a:spcPct val="110000"/>
              </a:lnSpc>
              <a:spcAft>
                <a:spcPts val="100"/>
              </a:spcAft>
            </a:pPr>
            <a:r>
              <a:rPr sz="1300" b="0">
                <a:solidFill>
                  <a:srgbClr val="556175"/>
                </a:solidFill>
                <a:latin typeface="맑은 고딕"/>
                <a:ea typeface="맑은 고딕"/>
                <a:cs typeface="맑은 고딕"/>
              </a:rPr>
              <a:t>센서의 tag: TS1</a:t>
            </a:r>
          </a:p>
        </p:txBody>
      </p:sp>
      <p:sp>
        <p:nvSpPr>
          <p:cNvPr id="10" name="TextBox 9"/>
          <p:cNvSpPr txBox="1"/>
          <p:nvPr/>
        </p:nvSpPr>
        <p:spPr>
          <a:xfrm>
            <a:off x="8408660" y="3116778"/>
            <a:ext cx="283646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시계열 DB의 표 tag_1s</a:t>
            </a:r>
          </a:p>
          <a:p>
            <a:pPr algn="ctr">
              <a:lnSpc>
                <a:spcPct val="110000"/>
              </a:lnSpc>
              <a:spcAft>
                <a:spcPts val="100"/>
              </a:spcAft>
            </a:pPr>
            <a:r>
              <a:rPr sz="1300" b="0">
                <a:solidFill>
                  <a:srgbClr val="556175"/>
                </a:solidFill>
                <a:latin typeface="맑은 고딕"/>
                <a:ea typeface="맑은 고딕"/>
                <a:cs typeface="맑은 고딕"/>
              </a:rPr>
              <a:t>asset 열: HYD-01</a:t>
            </a:r>
          </a:p>
          <a:p>
            <a:pPr algn="ctr">
              <a:lnSpc>
                <a:spcPct val="110000"/>
              </a:lnSpc>
              <a:spcAft>
                <a:spcPts val="100"/>
              </a:spcAft>
            </a:pPr>
            <a:r>
              <a:rPr sz="1300" b="0">
                <a:solidFill>
                  <a:srgbClr val="556175"/>
                </a:solidFill>
                <a:latin typeface="맑은 고딕"/>
                <a:ea typeface="맑은 고딕"/>
                <a:cs typeface="맑은 고딕"/>
              </a:rPr>
              <a:t>name 열: TS1</a:t>
            </a:r>
          </a:p>
        </p:txBody>
      </p:sp>
      <p:sp>
        <p:nvSpPr>
          <p:cNvPr id="11" name="TextBox 10"/>
          <p:cNvSpPr txBox="1"/>
          <p:nvPr/>
        </p:nvSpPr>
        <p:spPr>
          <a:xfrm>
            <a:off x="8517755" y="5480502"/>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업무 DB의 설비 표</a:t>
            </a:r>
          </a:p>
          <a:p>
            <a:pPr algn="ctr">
              <a:lnSpc>
                <a:spcPct val="110000"/>
              </a:lnSpc>
              <a:spcAft>
                <a:spcPts val="100"/>
              </a:spcAft>
            </a:pPr>
            <a:r>
              <a:rPr sz="1300" b="0">
                <a:solidFill>
                  <a:srgbClr val="556175"/>
                </a:solidFill>
                <a:latin typeface="맑은 고딕"/>
                <a:ea typeface="맑은 고딕"/>
                <a:cs typeface="맑은 고딕"/>
              </a:rPr>
              <a:t>code 열: HYD-01</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 정의: 이름, 양 끝의 클래스, 카디널리티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관계 정의에는 이름, 시작 클래스와 끝 클래스, 카디널리티를 적으며, 이것이 연결을 검사하는 기준이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50</a:t>
            </a:r>
          </a:p>
        </p:txBody>
      </p:sp>
      <p:sp>
        <p:nvSpPr>
          <p:cNvPr id="6" name="Rounded Rectangle 5"/>
          <p:cNvSpPr/>
          <p:nvPr/>
        </p:nvSpPr>
        <p:spPr>
          <a:xfrm>
            <a:off x="548640" y="2545207"/>
            <a:ext cx="6766560" cy="2892297"/>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682367"/>
            <a:ext cx="6400800" cy="2617978"/>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"type": "OBSERVES",</a:t>
            </a:r>
          </a:p>
          <a:p>
            <a:pPr algn="l">
              <a:lnSpc>
                <a:spcPct val="110000"/>
              </a:lnSpc>
              <a:spcAft>
                <a:spcPts val="200"/>
              </a:spcAft>
            </a:pPr>
            <a:r>
              <a:rPr sz="1300" b="0">
                <a:solidFill>
                  <a:srgbClr val="E8EEF6"/>
                </a:solidFill>
                <a:latin typeface="Consolas"/>
                <a:ea typeface="맑은 고딕"/>
                <a:cs typeface="맑은 고딕"/>
              </a:rPr>
              <a:t>  "from": ["Sensor"],</a:t>
            </a:r>
          </a:p>
          <a:p>
            <a:pPr algn="l">
              <a:lnSpc>
                <a:spcPct val="110000"/>
              </a:lnSpc>
              <a:spcAft>
                <a:spcPts val="200"/>
              </a:spcAft>
            </a:pPr>
            <a:r>
              <a:rPr sz="1300" b="0">
                <a:solidFill>
                  <a:srgbClr val="E8EEF6"/>
                </a:solidFill>
                <a:latin typeface="Consolas"/>
                <a:ea typeface="맑은 고딕"/>
                <a:cs typeface="맑은 고딕"/>
              </a:rPr>
              <a:t>  "to": ["StateVariable"],</a:t>
            </a:r>
          </a:p>
          <a:p>
            <a:pPr algn="l">
              <a:lnSpc>
                <a:spcPct val="110000"/>
              </a:lnSpc>
              <a:spcAft>
                <a:spcPts val="200"/>
              </a:spcAft>
            </a:pPr>
            <a:r>
              <a:rPr sz="1300" b="0">
                <a:solidFill>
                  <a:srgbClr val="E8EEF6"/>
                </a:solidFill>
                <a:latin typeface="Consolas"/>
                <a:ea typeface="맑은 고딕"/>
                <a:cs typeface="맑은 고딕"/>
              </a:rPr>
              <a:t>  "cardinality": "N:1",</a:t>
            </a:r>
          </a:p>
          <a:p>
            <a:pPr algn="l">
              <a:lnSpc>
                <a:spcPct val="110000"/>
              </a:lnSpc>
              <a:spcAft>
                <a:spcPts val="200"/>
              </a:spcAft>
            </a:pPr>
            <a:r>
              <a:rPr sz="1300" b="0">
                <a:solidFill>
                  <a:srgbClr val="E8EEF6"/>
                </a:solidFill>
                <a:latin typeface="Consolas"/>
                <a:ea typeface="맑은 고딕"/>
                <a:cs typeface="맑은 고딕"/>
              </a:rPr>
              <a:t>  "description": "</a:t>
            </a:r>
            <a:r>
              <a:rPr sz="1300" b="0">
                <a:solidFill>
                  <a:srgbClr val="E8EEF6"/>
                </a:solidFill>
                <a:latin typeface="맑은 고딕"/>
                <a:ea typeface="맑은 고딕"/>
                <a:cs typeface="맑은 고딕"/>
              </a:rPr>
              <a:t>센서가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읽는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변수</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a:t>
            </a:r>
          </a:p>
        </p:txBody>
      </p:sp>
      <p:sp>
        <p:nvSpPr>
          <p:cNvPr id="8" name="TextBox 7"/>
          <p:cNvSpPr txBox="1"/>
          <p:nvPr/>
        </p:nvSpPr>
        <p:spPr>
          <a:xfrm>
            <a:off x="7635240" y="2545207"/>
            <a:ext cx="4007815" cy="964099"/>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type</a:t>
            </a:r>
          </a:p>
          <a:p>
            <a:pPr algn="l">
              <a:lnSpc>
                <a:spcPct val="110000"/>
              </a:lnSpc>
              <a:spcAft>
                <a:spcPts val="400"/>
              </a:spcAft>
            </a:pPr>
            <a:r>
              <a:rPr sz="1400" b="0">
                <a:solidFill>
                  <a:srgbClr val="1F2A3A"/>
                </a:solidFill>
                <a:latin typeface="맑은 고딕"/>
                <a:ea typeface="맑은 고딕"/>
                <a:cs typeface="맑은 고딕"/>
              </a:rPr>
              <a:t>관계의 이름이다.</a:t>
            </a:r>
          </a:p>
        </p:txBody>
      </p:sp>
      <p:sp>
        <p:nvSpPr>
          <p:cNvPr id="9" name="TextBox 8"/>
          <p:cNvSpPr txBox="1"/>
          <p:nvPr/>
        </p:nvSpPr>
        <p:spPr>
          <a:xfrm>
            <a:off x="7635240" y="3509306"/>
            <a:ext cx="4007815" cy="964099"/>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from · to</a:t>
            </a:r>
          </a:p>
          <a:p>
            <a:pPr algn="l">
              <a:lnSpc>
                <a:spcPct val="110000"/>
              </a:lnSpc>
              <a:spcAft>
                <a:spcPts val="400"/>
              </a:spcAft>
            </a:pPr>
            <a:r>
              <a:rPr sz="1400" b="0">
                <a:solidFill>
                  <a:srgbClr val="1F2A3A"/>
                </a:solidFill>
                <a:latin typeface="맑은 고딕"/>
                <a:ea typeface="맑은 고딕"/>
                <a:cs typeface="맑은 고딕"/>
              </a:rPr>
              <a:t>시작 클래스와 끝 클래스이다. 화살표는 from에서 to로 향한다.</a:t>
            </a:r>
          </a:p>
        </p:txBody>
      </p:sp>
      <p:sp>
        <p:nvSpPr>
          <p:cNvPr id="10" name="TextBox 9"/>
          <p:cNvSpPr txBox="1"/>
          <p:nvPr/>
        </p:nvSpPr>
        <p:spPr>
          <a:xfrm>
            <a:off x="7635240" y="4473405"/>
            <a:ext cx="4007815" cy="964099"/>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cardinality</a:t>
            </a:r>
          </a:p>
          <a:p>
            <a:pPr algn="l">
              <a:lnSpc>
                <a:spcPct val="110000"/>
              </a:lnSpc>
              <a:spcAft>
                <a:spcPts val="400"/>
              </a:spcAft>
            </a:pPr>
            <a:r>
              <a:rPr sz="1400" b="0">
                <a:solidFill>
                  <a:srgbClr val="1F2A3A"/>
                </a:solidFill>
                <a:latin typeface="맑은 고딕"/>
                <a:ea typeface="맑은 고딕"/>
                <a:cs typeface="맑은 고딕"/>
              </a:rPr>
              <a:t>양쪽에 몇 개가 이어질 수 있는가이다.</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유효한 연결과 유효하지 않은 연결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양 끝 인스턴스의 클래스가 관계 정의의 시작 클래스, 끝 클래스와 같을 때만 유효한 연결이다.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51</a:t>
            </a:r>
          </a:p>
        </p:txBody>
      </p:sp>
      <p:pic>
        <p:nvPicPr>
          <p:cNvPr id="6" name="삽화:연결조건_2.svg" descr="illust_2295294226230312279_179171724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2462985" y="1674906"/>
            <a:ext cx="5454747"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관계 정의: OBSERVES</a:t>
            </a:r>
          </a:p>
          <a:p>
            <a:pPr algn="ctr">
              <a:lnSpc>
                <a:spcPct val="110000"/>
              </a:lnSpc>
              <a:spcAft>
                <a:spcPts val="100"/>
              </a:spcAft>
            </a:pPr>
            <a:r>
              <a:rPr sz="1300" b="0">
                <a:solidFill>
                  <a:srgbClr val="556175"/>
                </a:solidFill>
                <a:latin typeface="맑은 고딕"/>
                <a:ea typeface="맑은 고딕"/>
                <a:cs typeface="맑은 고딕"/>
              </a:rPr>
              <a:t>시작 클래스 Sensor → 끝 클래스 StateVariable</a:t>
            </a:r>
          </a:p>
        </p:txBody>
      </p:sp>
      <p:sp>
        <p:nvSpPr>
          <p:cNvPr id="8" name="TextBox 7"/>
          <p:cNvSpPr txBox="1"/>
          <p:nvPr/>
        </p:nvSpPr>
        <p:spPr>
          <a:xfrm>
            <a:off x="4426694" y="2714945"/>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OBSERVES</a:t>
            </a:r>
          </a:p>
        </p:txBody>
      </p:sp>
      <p:sp>
        <p:nvSpPr>
          <p:cNvPr id="9" name="TextBox 8"/>
          <p:cNvSpPr txBox="1"/>
          <p:nvPr/>
        </p:nvSpPr>
        <p:spPr>
          <a:xfrm>
            <a:off x="2495714" y="3778620"/>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유온 센서</a:t>
            </a:r>
          </a:p>
          <a:p>
            <a:pPr algn="ctr">
              <a:lnSpc>
                <a:spcPct val="110000"/>
              </a:lnSpc>
              <a:spcAft>
                <a:spcPts val="100"/>
              </a:spcAft>
            </a:pPr>
            <a:r>
              <a:rPr sz="1300" b="0">
                <a:solidFill>
                  <a:srgbClr val="556175"/>
                </a:solidFill>
                <a:latin typeface="맑은 고딕"/>
                <a:ea typeface="맑은 고딕"/>
                <a:cs typeface="맑은 고딕"/>
              </a:rPr>
              <a:t>Sensor</a:t>
            </a:r>
          </a:p>
        </p:txBody>
      </p:sp>
      <p:sp>
        <p:nvSpPr>
          <p:cNvPr id="10" name="TextBox 9"/>
          <p:cNvSpPr txBox="1"/>
          <p:nvPr/>
        </p:nvSpPr>
        <p:spPr>
          <a:xfrm>
            <a:off x="6128576" y="3778620"/>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유온</a:t>
            </a:r>
          </a:p>
          <a:p>
            <a:pPr algn="ctr">
              <a:lnSpc>
                <a:spcPct val="110000"/>
              </a:lnSpc>
              <a:spcAft>
                <a:spcPts val="100"/>
              </a:spcAft>
            </a:pPr>
            <a:r>
              <a:rPr sz="1300" b="0">
                <a:solidFill>
                  <a:srgbClr val="556175"/>
                </a:solidFill>
                <a:latin typeface="맑은 고딕"/>
                <a:ea typeface="맑은 고딕"/>
                <a:cs typeface="맑은 고딕"/>
              </a:rPr>
              <a:t>StateVariable</a:t>
            </a:r>
          </a:p>
        </p:txBody>
      </p:sp>
      <p:sp>
        <p:nvSpPr>
          <p:cNvPr id="11" name="TextBox 10"/>
          <p:cNvSpPr txBox="1"/>
          <p:nvPr/>
        </p:nvSpPr>
        <p:spPr>
          <a:xfrm>
            <a:off x="9368696" y="2762219"/>
            <a:ext cx="2072804"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유효한 연결</a:t>
            </a:r>
          </a:p>
          <a:p>
            <a:pPr algn="ctr">
              <a:lnSpc>
                <a:spcPct val="110000"/>
              </a:lnSpc>
              <a:spcAft>
                <a:spcPts val="100"/>
              </a:spcAft>
            </a:pPr>
            <a:r>
              <a:rPr sz="1300" b="0">
                <a:solidFill>
                  <a:srgbClr val="556175"/>
                </a:solidFill>
                <a:latin typeface="맑은 고딕"/>
                <a:ea typeface="맑은 고딕"/>
                <a:cs typeface="맑은 고딕"/>
              </a:rPr>
              <a:t>양 끝의 클래스가</a:t>
            </a:r>
          </a:p>
          <a:p>
            <a:pPr algn="ctr">
              <a:lnSpc>
                <a:spcPct val="110000"/>
              </a:lnSpc>
              <a:spcAft>
                <a:spcPts val="100"/>
              </a:spcAft>
            </a:pPr>
            <a:r>
              <a:rPr sz="1300" b="0">
                <a:solidFill>
                  <a:srgbClr val="556175"/>
                </a:solidFill>
                <a:latin typeface="맑은 고딕"/>
                <a:ea typeface="맑은 고딕"/>
                <a:cs typeface="맑은 고딕"/>
              </a:rPr>
              <a:t>정의와 같다</a:t>
            </a:r>
          </a:p>
        </p:txBody>
      </p:sp>
      <p:sp>
        <p:nvSpPr>
          <p:cNvPr id="12" name="TextBox 11"/>
          <p:cNvSpPr txBox="1"/>
          <p:nvPr/>
        </p:nvSpPr>
        <p:spPr>
          <a:xfrm>
            <a:off x="4426694" y="4771384"/>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OBSERVES</a:t>
            </a:r>
          </a:p>
        </p:txBody>
      </p:sp>
      <p:sp>
        <p:nvSpPr>
          <p:cNvPr id="13" name="TextBox 12"/>
          <p:cNvSpPr txBox="1"/>
          <p:nvPr/>
        </p:nvSpPr>
        <p:spPr>
          <a:xfrm>
            <a:off x="2495714" y="5820878"/>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유온 센서</a:t>
            </a:r>
          </a:p>
          <a:p>
            <a:pPr algn="ctr">
              <a:lnSpc>
                <a:spcPct val="110000"/>
              </a:lnSpc>
              <a:spcAft>
                <a:spcPts val="100"/>
              </a:spcAft>
            </a:pPr>
            <a:r>
              <a:rPr sz="1300" b="0">
                <a:solidFill>
                  <a:srgbClr val="556175"/>
                </a:solidFill>
                <a:latin typeface="맑은 고딕"/>
                <a:ea typeface="맑은 고딕"/>
                <a:cs typeface="맑은 고딕"/>
              </a:rPr>
              <a:t>Sensor</a:t>
            </a:r>
          </a:p>
        </p:txBody>
      </p:sp>
      <p:sp>
        <p:nvSpPr>
          <p:cNvPr id="14" name="TextBox 13"/>
          <p:cNvSpPr txBox="1"/>
          <p:nvPr/>
        </p:nvSpPr>
        <p:spPr>
          <a:xfrm>
            <a:off x="6128576" y="5820878"/>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HYD-01</a:t>
            </a:r>
          </a:p>
          <a:p>
            <a:pPr algn="ctr">
              <a:lnSpc>
                <a:spcPct val="110000"/>
              </a:lnSpc>
              <a:spcAft>
                <a:spcPts val="100"/>
              </a:spcAft>
            </a:pPr>
            <a:r>
              <a:rPr sz="1300" b="0">
                <a:solidFill>
                  <a:srgbClr val="556175"/>
                </a:solidFill>
                <a:latin typeface="맑은 고딕"/>
                <a:ea typeface="맑은 고딕"/>
                <a:cs typeface="맑은 고딕"/>
              </a:rPr>
              <a:t>Asset</a:t>
            </a:r>
          </a:p>
        </p:txBody>
      </p:sp>
      <p:sp>
        <p:nvSpPr>
          <p:cNvPr id="15" name="TextBox 14"/>
          <p:cNvSpPr txBox="1"/>
          <p:nvPr/>
        </p:nvSpPr>
        <p:spPr>
          <a:xfrm>
            <a:off x="9368696" y="4818659"/>
            <a:ext cx="2072804"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유효하지 않은 연결</a:t>
            </a:r>
          </a:p>
          <a:p>
            <a:pPr algn="ctr">
              <a:lnSpc>
                <a:spcPct val="110000"/>
              </a:lnSpc>
              <a:spcAft>
                <a:spcPts val="100"/>
              </a:spcAft>
            </a:pPr>
            <a:r>
              <a:rPr sz="1300" b="0">
                <a:solidFill>
                  <a:srgbClr val="556175"/>
                </a:solidFill>
                <a:latin typeface="맑은 고딕"/>
                <a:ea typeface="맑은 고딕"/>
                <a:cs typeface="맑은 고딕"/>
              </a:rPr>
              <a:t>끝 클래스가</a:t>
            </a:r>
          </a:p>
          <a:p>
            <a:pPr algn="ctr">
              <a:lnSpc>
                <a:spcPct val="110000"/>
              </a:lnSpc>
              <a:spcAft>
                <a:spcPts val="100"/>
              </a:spcAft>
            </a:pPr>
            <a:r>
              <a:rPr sz="1300" b="0">
                <a:solidFill>
                  <a:srgbClr val="556175"/>
                </a:solidFill>
                <a:latin typeface="맑은 고딕"/>
                <a:ea typeface="맑은 고딕"/>
                <a:cs typeface="맑은 고딕"/>
              </a:rPr>
              <a:t>정의와 다르다</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유효하지 않은 연결의 다른 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방향이 뒤집힌 연결과 스키마에 없는 이름의 관계도 스키마에 어긋난다.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52</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arrows-exchange" descr="arrows-exchange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방향이 뒤집힌 연결</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유온 → 유온 센서: OBSERVES</a:t>
            </a:r>
          </a:p>
          <a:p>
            <a:pPr algn="l">
              <a:lnSpc>
                <a:spcPct val="110000"/>
              </a:lnSpc>
              <a:spcAft>
                <a:spcPts val="600"/>
              </a:spcAft>
            </a:pPr>
            <a:r>
              <a:rPr sz="1450" b="0">
                <a:solidFill>
                  <a:srgbClr val="1F2A3A"/>
                </a:solidFill>
                <a:latin typeface="맑은 고딕"/>
                <a:ea typeface="맑은 고딕"/>
                <a:cs typeface="맑은 고딕"/>
              </a:rPr>
              <a:t>• 시작이 상태 변수이고 끝이 센서이다</a:t>
            </a:r>
          </a:p>
          <a:p>
            <a:pPr algn="l">
              <a:lnSpc>
                <a:spcPct val="110000"/>
              </a:lnSpc>
              <a:spcAft>
                <a:spcPts val="600"/>
              </a:spcAft>
            </a:pPr>
            <a:r>
              <a:rPr sz="1450" b="0">
                <a:solidFill>
                  <a:srgbClr val="1F2A3A"/>
                </a:solidFill>
                <a:latin typeface="맑은 고딕"/>
                <a:ea typeface="맑은 고딕"/>
                <a:cs typeface="맑은 고딕"/>
              </a:rPr>
              <a:t>• 정의는 센서에서 상태 변수로 향한다</a:t>
            </a:r>
          </a:p>
        </p:txBody>
      </p:sp>
      <p:sp>
        <p:nvSpPr>
          <p:cNvPr id="11" name="Rounded Rectangle 10"/>
          <p:cNvSpPr/>
          <p:nvPr/>
        </p:nvSpPr>
        <p:spPr>
          <a:xfrm>
            <a:off x="868680" y="4945570"/>
            <a:ext cx="18288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8288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시작과 끝이 바뀌었다</a:t>
            </a:r>
          </a:p>
        </p:txBody>
      </p:sp>
      <p:sp>
        <p:nvSpPr>
          <p:cNvPr id="13" name="Rounded Rectangle 12"/>
          <p:cNvSpPr/>
          <p:nvPr/>
        </p:nvSpPr>
        <p:spPr>
          <a:xfrm>
            <a:off x="6461607" y="2579941"/>
            <a:ext cx="5181447" cy="2822829"/>
          </a:xfrm>
          <a:prstGeom prst="roundRect">
            <a:avLst>
              <a:gd name="adj" fmla="val 4000"/>
            </a:avLst>
          </a:prstGeom>
          <a:solidFill>
            <a:srgbClr val="F3F6F9"/>
          </a:solidFill>
          <a:ln>
            <a:noFill/>
          </a:ln>
        </p:spPr>
        <p:txBody>
          <a:bodyPr rtlCol="0" anchor="ctr"/>
          <a:lstStyle/>
          <a:p>
            <a:pPr algn="ctr"/>
          </a:p>
        </p:txBody>
      </p:sp>
      <p:sp>
        <p:nvSpPr>
          <p:cNvPr id="14" name="Oval 13"/>
          <p:cNvSpPr/>
          <p:nvPr/>
        </p:nvSpPr>
        <p:spPr>
          <a:xfrm>
            <a:off x="6735927" y="2781109"/>
            <a:ext cx="731520" cy="731520"/>
          </a:xfrm>
          <a:prstGeom prst="ellipse">
            <a:avLst/>
          </a:prstGeom>
          <a:solidFill>
            <a:srgbClr val="FFFFFF"/>
          </a:solidFill>
          <a:ln>
            <a:noFill/>
          </a:ln>
        </p:spPr>
        <p:txBody>
          <a:bodyPr rtlCol="0" anchor="ctr"/>
          <a:lstStyle/>
          <a:p>
            <a:pPr algn="ctr"/>
          </a:p>
        </p:txBody>
      </p:sp>
      <p:pic>
        <p:nvPicPr>
          <p:cNvPr id="15" name="아이콘:question-mark" descr="question-mark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정의에 없는 관계</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유온 센서 → 유온: WATCHES</a:t>
            </a:r>
          </a:p>
          <a:p>
            <a:pPr algn="l">
              <a:lnSpc>
                <a:spcPct val="110000"/>
              </a:lnSpc>
              <a:spcAft>
                <a:spcPts val="600"/>
              </a:spcAft>
            </a:pPr>
            <a:r>
              <a:rPr sz="1450" b="0">
                <a:solidFill>
                  <a:srgbClr val="1F2A3A"/>
                </a:solidFill>
                <a:latin typeface="맑은 고딕"/>
                <a:ea typeface="맑은 고딕"/>
                <a:cs typeface="맑은 고딕"/>
              </a:rPr>
              <a:t>• 스키마에 WATCHES라는 관계가 없다</a:t>
            </a:r>
          </a:p>
          <a:p>
            <a:pPr algn="l">
              <a:lnSpc>
                <a:spcPct val="110000"/>
              </a:lnSpc>
              <a:spcAft>
                <a:spcPts val="600"/>
              </a:spcAft>
            </a:pPr>
            <a:r>
              <a:rPr sz="1450" b="0">
                <a:solidFill>
                  <a:srgbClr val="1F2A3A"/>
                </a:solidFill>
                <a:latin typeface="맑은 고딕"/>
                <a:ea typeface="맑은 고딕"/>
                <a:cs typeface="맑은 고딕"/>
              </a:rPr>
              <a:t>• 정의된 이름은 OBSERVES이다</a:t>
            </a:r>
          </a:p>
        </p:txBody>
      </p:sp>
      <p:sp>
        <p:nvSpPr>
          <p:cNvPr id="18" name="Rounded Rectangle 17"/>
          <p:cNvSpPr/>
          <p:nvPr/>
        </p:nvSpPr>
        <p:spPr>
          <a:xfrm>
            <a:off x="6781647" y="4945570"/>
            <a:ext cx="1325879" cy="292608"/>
          </a:xfrm>
          <a:prstGeom prst="roundRect">
            <a:avLst>
              <a:gd name="adj" fmla="val 50000"/>
            </a:avLst>
          </a:prstGeom>
          <a:solidFill>
            <a:srgbClr val="D3D9E1"/>
          </a:solidFill>
          <a:ln>
            <a:noFill/>
          </a:ln>
        </p:spPr>
        <p:txBody>
          <a:bodyPr rtlCol="0" anchor="ctr"/>
          <a:lstStyle/>
          <a:p>
            <a:pPr algn="ctr"/>
          </a:p>
        </p:txBody>
      </p:sp>
      <p:sp>
        <p:nvSpPr>
          <p:cNvPr id="19" name="TextBox 18"/>
          <p:cNvSpPr txBox="1"/>
          <p:nvPr/>
        </p:nvSpPr>
        <p:spPr>
          <a:xfrm>
            <a:off x="6781647" y="4945570"/>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이름이 다르다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제약: 스키마가 정하는 조건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인스턴스 데이터가 지켜야 하는 조건을 </a:t>
            </a:r>
            <a:r>
              <a:rPr sz="1600" b="1">
                <a:solidFill>
                  <a:srgbClr val="1A6FC4"/>
                </a:solidFill>
                <a:latin typeface="맑은 고딕"/>
                <a:ea typeface="맑은 고딕"/>
                <a:cs typeface="맑은 고딕"/>
              </a:rPr>
              <a:t>제약</a:t>
            </a:r>
            <a:r>
              <a:rPr sz="1600" b="0">
                <a:solidFill>
                  <a:srgbClr val="556175"/>
                </a:solidFill>
                <a:latin typeface="맑은 고딕"/>
                <a:ea typeface="맑은 고딕"/>
                <a:cs typeface="맑은 고딕"/>
              </a:rPr>
              <a:t>이라고 하며, 필수 속성, 자료형, 식별자, 연결 조건이 그 예이다.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53</a:t>
            </a:r>
          </a:p>
        </p:txBody>
      </p:sp>
      <p:sp>
        <p:nvSpPr>
          <p:cNvPr id="6" name="Rounded Rectangle 5"/>
          <p:cNvSpPr/>
          <p:nvPr/>
        </p:nvSpPr>
        <p:spPr>
          <a:xfrm>
            <a:off x="548640"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19756"/>
            <a:ext cx="731520" cy="731520"/>
          </a:xfrm>
          <a:prstGeom prst="ellipse">
            <a:avLst/>
          </a:prstGeom>
          <a:solidFill>
            <a:srgbClr val="E7F3FD"/>
          </a:solidFill>
          <a:ln>
            <a:noFill/>
          </a:ln>
        </p:spPr>
        <p:txBody>
          <a:bodyPr rtlCol="0" anchor="ctr"/>
          <a:lstStyle/>
          <a:p>
            <a:pPr algn="ctr"/>
          </a:p>
        </p:txBody>
      </p:sp>
      <p:pic>
        <p:nvPicPr>
          <p:cNvPr id="8" name="아이콘:asterisk" descr="asterisk_13294B_1.6.png"/>
          <p:cNvPicPr>
            <a:picLocks noChangeAspect="1"/>
          </p:cNvPicPr>
          <p:nvPr/>
        </p:nvPicPr>
        <p:blipFill>
          <a:blip r:embed="rId3"/>
          <a:stretch>
            <a:fillRect/>
          </a:stretch>
        </p:blipFill>
        <p:spPr>
          <a:xfrm>
            <a:off x="930859" y="2773375"/>
            <a:ext cx="424281" cy="424281"/>
          </a:xfrm>
          <a:prstGeom prst="rect">
            <a:avLst/>
          </a:prstGeom>
        </p:spPr>
      </p:pic>
      <p:sp>
        <p:nvSpPr>
          <p:cNvPr id="9" name="TextBox 8"/>
          <p:cNvSpPr txBox="1"/>
          <p:nvPr/>
        </p:nvSpPr>
        <p:spPr>
          <a:xfrm>
            <a:off x="713232"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필수 속성</a:t>
            </a:r>
          </a:p>
          <a:p>
            <a:pPr algn="l">
              <a:lnSpc>
                <a:spcPct val="110000"/>
              </a:lnSpc>
              <a:spcAft>
                <a:spcPts val="400"/>
              </a:spcAft>
            </a:pPr>
            <a:r>
              <a:rPr sz="1350" b="0">
                <a:solidFill>
                  <a:srgbClr val="1F2A3A"/>
                </a:solidFill>
                <a:latin typeface="맑은 고딕"/>
                <a:ea typeface="맑은 고딕"/>
                <a:cs typeface="맑은 고딕"/>
              </a:rPr>
              <a:t>센서에는 tag가 있어야 한다</a:t>
            </a:r>
          </a:p>
        </p:txBody>
      </p:sp>
      <p:sp>
        <p:nvSpPr>
          <p:cNvPr id="10" name="Rounded Rectangle 9"/>
          <p:cNvSpPr/>
          <p:nvPr/>
        </p:nvSpPr>
        <p:spPr>
          <a:xfrm>
            <a:off x="777240" y="5134356"/>
            <a:ext cx="8686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34356"/>
            <a:ext cx="8686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빠진 값</a:t>
            </a:r>
          </a:p>
        </p:txBody>
      </p:sp>
      <p:sp>
        <p:nvSpPr>
          <p:cNvPr id="12" name="Rounded Rectangle 11"/>
          <p:cNvSpPr/>
          <p:nvPr/>
        </p:nvSpPr>
        <p:spPr>
          <a:xfrm>
            <a:off x="3390823"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619756"/>
            <a:ext cx="731520" cy="731520"/>
          </a:xfrm>
          <a:prstGeom prst="ellipse">
            <a:avLst/>
          </a:prstGeom>
          <a:solidFill>
            <a:srgbClr val="E7F3FD"/>
          </a:solidFill>
          <a:ln>
            <a:noFill/>
          </a:ln>
        </p:spPr>
        <p:txBody>
          <a:bodyPr rtlCol="0" anchor="ctr"/>
          <a:lstStyle/>
          <a:p>
            <a:pPr algn="ctr"/>
          </a:p>
        </p:txBody>
      </p:sp>
      <p:pic>
        <p:nvPicPr>
          <p:cNvPr id="14" name="아이콘:shape" descr="shape_13294B_1.6.png"/>
          <p:cNvPicPr>
            <a:picLocks noChangeAspect="1"/>
          </p:cNvPicPr>
          <p:nvPr/>
        </p:nvPicPr>
        <p:blipFill>
          <a:blip r:embed="rId4"/>
          <a:stretch>
            <a:fillRect/>
          </a:stretch>
        </p:blipFill>
        <p:spPr>
          <a:xfrm>
            <a:off x="3773043" y="2773375"/>
            <a:ext cx="424281" cy="424281"/>
          </a:xfrm>
          <a:prstGeom prst="rect">
            <a:avLst/>
          </a:prstGeom>
        </p:spPr>
      </p:pic>
      <p:sp>
        <p:nvSpPr>
          <p:cNvPr id="15" name="TextBox 14"/>
          <p:cNvSpPr txBox="1"/>
          <p:nvPr/>
        </p:nvSpPr>
        <p:spPr>
          <a:xfrm>
            <a:off x="3555415"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자료형</a:t>
            </a:r>
          </a:p>
          <a:p>
            <a:pPr algn="l">
              <a:lnSpc>
                <a:spcPct val="110000"/>
              </a:lnSpc>
              <a:spcAft>
                <a:spcPts val="400"/>
              </a:spcAft>
            </a:pPr>
            <a:r>
              <a:rPr sz="1350" b="0">
                <a:solidFill>
                  <a:srgbClr val="1F2A3A"/>
                </a:solidFill>
                <a:latin typeface="맑은 고딕"/>
                <a:ea typeface="맑은 고딕"/>
                <a:cs typeface="맑은 고딕"/>
              </a:rPr>
              <a:t>• 한계는 수이다</a:t>
            </a:r>
          </a:p>
          <a:p>
            <a:pPr algn="l">
              <a:lnSpc>
                <a:spcPct val="110000"/>
              </a:lnSpc>
              <a:spcAft>
                <a:spcPts val="400"/>
              </a:spcAft>
            </a:pPr>
            <a:r>
              <a:rPr sz="1350" b="0">
                <a:solidFill>
                  <a:srgbClr val="1F2A3A"/>
                </a:solidFill>
                <a:latin typeface="맑은 고딕"/>
                <a:ea typeface="맑은 고딕"/>
                <a:cs typeface="맑은 고딕"/>
              </a:rPr>
              <a:t>• kind는 manipulated, controlled, disturbance 가운데 하나이다</a:t>
            </a:r>
          </a:p>
        </p:txBody>
      </p:sp>
      <p:sp>
        <p:nvSpPr>
          <p:cNvPr id="16" name="Rounded Rectangle 15"/>
          <p:cNvSpPr/>
          <p:nvPr/>
        </p:nvSpPr>
        <p:spPr>
          <a:xfrm>
            <a:off x="3619423" y="5134356"/>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34356"/>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값의 형식</a:t>
            </a:r>
          </a:p>
        </p:txBody>
      </p:sp>
      <p:sp>
        <p:nvSpPr>
          <p:cNvPr id="18" name="Rounded Rectangle 17"/>
          <p:cNvSpPr/>
          <p:nvPr/>
        </p:nvSpPr>
        <p:spPr>
          <a:xfrm>
            <a:off x="6233007"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619756"/>
            <a:ext cx="731520" cy="731520"/>
          </a:xfrm>
          <a:prstGeom prst="ellipse">
            <a:avLst/>
          </a:prstGeom>
          <a:solidFill>
            <a:srgbClr val="E7F3FD"/>
          </a:solidFill>
          <a:ln>
            <a:noFill/>
          </a:ln>
        </p:spPr>
        <p:txBody>
          <a:bodyPr rtlCol="0" anchor="ctr"/>
          <a:lstStyle/>
          <a:p>
            <a:pPr algn="ctr"/>
          </a:p>
        </p:txBody>
      </p:sp>
      <p:pic>
        <p:nvPicPr>
          <p:cNvPr id="20" name="아이콘:key" descr="key_13294B_1.6.png"/>
          <p:cNvPicPr>
            <a:picLocks noChangeAspect="1"/>
          </p:cNvPicPr>
          <p:nvPr/>
        </p:nvPicPr>
        <p:blipFill>
          <a:blip r:embed="rId5"/>
          <a:stretch>
            <a:fillRect/>
          </a:stretch>
        </p:blipFill>
        <p:spPr>
          <a:xfrm>
            <a:off x="6615226" y="2773375"/>
            <a:ext cx="424281" cy="424281"/>
          </a:xfrm>
          <a:prstGeom prst="rect">
            <a:avLst/>
          </a:prstGeom>
        </p:spPr>
      </p:pic>
      <p:sp>
        <p:nvSpPr>
          <p:cNvPr id="21" name="TextBox 20"/>
          <p:cNvSpPr txBox="1"/>
          <p:nvPr/>
        </p:nvSpPr>
        <p:spPr>
          <a:xfrm>
            <a:off x="6397599"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고유한 식별자</a:t>
            </a:r>
          </a:p>
          <a:p>
            <a:pPr algn="l">
              <a:lnSpc>
                <a:spcPct val="110000"/>
              </a:lnSpc>
              <a:spcAft>
                <a:spcPts val="400"/>
              </a:spcAft>
            </a:pPr>
            <a:r>
              <a:rPr sz="1350" b="0">
                <a:solidFill>
                  <a:srgbClr val="1F2A3A"/>
                </a:solidFill>
                <a:latin typeface="맑은 고딕"/>
                <a:ea typeface="맑은 고딕"/>
                <a:cs typeface="맑은 고딕"/>
              </a:rPr>
              <a:t>같은 id가 둘 있을 수 없다</a:t>
            </a:r>
          </a:p>
        </p:txBody>
      </p:sp>
      <p:sp>
        <p:nvSpPr>
          <p:cNvPr id="22" name="Rounded Rectangle 21"/>
          <p:cNvSpPr/>
          <p:nvPr/>
        </p:nvSpPr>
        <p:spPr>
          <a:xfrm>
            <a:off x="6461607" y="5134356"/>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중복</a:t>
            </a:r>
          </a:p>
        </p:txBody>
      </p:sp>
      <p:sp>
        <p:nvSpPr>
          <p:cNvPr id="24" name="Rounded Rectangle 23"/>
          <p:cNvSpPr/>
          <p:nvPr/>
        </p:nvSpPr>
        <p:spPr>
          <a:xfrm>
            <a:off x="9075191" y="2418588"/>
            <a:ext cx="2567863" cy="314553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619756"/>
            <a:ext cx="731520" cy="731520"/>
          </a:xfrm>
          <a:prstGeom prst="ellipse">
            <a:avLst/>
          </a:prstGeom>
          <a:solidFill>
            <a:srgbClr val="5CB8F2"/>
          </a:solidFill>
          <a:ln>
            <a:noFill/>
          </a:ln>
        </p:spPr>
        <p:txBody>
          <a:bodyPr rtlCol="0" anchor="ctr"/>
          <a:lstStyle/>
          <a:p>
            <a:pPr algn="ctr"/>
          </a:p>
        </p:txBody>
      </p:sp>
      <p:pic>
        <p:nvPicPr>
          <p:cNvPr id="26" name="아이콘:arrows-right" descr="arrows-right_13294B_1.6.png"/>
          <p:cNvPicPr>
            <a:picLocks noChangeAspect="1"/>
          </p:cNvPicPr>
          <p:nvPr/>
        </p:nvPicPr>
        <p:blipFill>
          <a:blip r:embed="rId6"/>
          <a:stretch>
            <a:fillRect/>
          </a:stretch>
        </p:blipFill>
        <p:spPr>
          <a:xfrm>
            <a:off x="9457410" y="2773375"/>
            <a:ext cx="424281" cy="424281"/>
          </a:xfrm>
          <a:prstGeom prst="rect">
            <a:avLst/>
          </a:prstGeom>
        </p:spPr>
      </p:pic>
      <p:sp>
        <p:nvSpPr>
          <p:cNvPr id="27" name="TextBox 26"/>
          <p:cNvSpPr txBox="1"/>
          <p:nvPr/>
        </p:nvSpPr>
        <p:spPr>
          <a:xfrm>
            <a:off x="9239783"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연결 조건</a:t>
            </a:r>
          </a:p>
          <a:p>
            <a:pPr algn="l">
              <a:lnSpc>
                <a:spcPct val="110000"/>
              </a:lnSpc>
              <a:spcAft>
                <a:spcPts val="400"/>
              </a:spcAft>
            </a:pPr>
            <a:r>
              <a:rPr sz="1350" b="0">
                <a:solidFill>
                  <a:srgbClr val="1F2A3A"/>
                </a:solidFill>
                <a:latin typeface="맑은 고딕"/>
                <a:ea typeface="맑은 고딕"/>
                <a:cs typeface="맑은 고딕"/>
              </a:rPr>
              <a:t>• OBSERVES는 센서에서 상태 변수로 잇는다</a:t>
            </a:r>
          </a:p>
          <a:p>
            <a:pPr algn="l">
              <a:lnSpc>
                <a:spcPct val="110000"/>
              </a:lnSpc>
              <a:spcAft>
                <a:spcPts val="400"/>
              </a:spcAft>
            </a:pPr>
            <a:r>
              <a:rPr sz="1350" b="0">
                <a:solidFill>
                  <a:srgbClr val="1F2A3A"/>
                </a:solidFill>
                <a:latin typeface="맑은 고딕"/>
                <a:ea typeface="맑은 고딕"/>
                <a:cs typeface="맑은 고딕"/>
              </a:rPr>
              <a:t>• 카디널리티는 다대일이다</a:t>
            </a:r>
          </a:p>
        </p:txBody>
      </p:sp>
      <p:sp>
        <p:nvSpPr>
          <p:cNvPr id="28" name="Rounded Rectangle 27"/>
          <p:cNvSpPr/>
          <p:nvPr/>
        </p:nvSpPr>
        <p:spPr>
          <a:xfrm>
            <a:off x="9303791" y="5134356"/>
            <a:ext cx="1219199"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134356"/>
            <a:ext cx="1219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양 끝과 개수</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스키마와 인스턴스 데이터가 담는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스키마는 무엇이 있을 수 있는가를 담고, 인스턴스 데이터는 실제로 무엇이 있는가를 담는다.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54</a:t>
            </a:r>
          </a:p>
        </p:txBody>
      </p:sp>
      <p:sp>
        <p:nvSpPr>
          <p:cNvPr id="6" name="Rounded Rectangle 5"/>
          <p:cNvSpPr/>
          <p:nvPr/>
        </p:nvSpPr>
        <p:spPr>
          <a:xfrm>
            <a:off x="548640" y="2511552"/>
            <a:ext cx="5410047"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12720"/>
            <a:ext cx="731520" cy="731520"/>
          </a:xfrm>
          <a:prstGeom prst="ellipse">
            <a:avLst/>
          </a:prstGeom>
          <a:solidFill>
            <a:srgbClr val="E7F3FD"/>
          </a:solidFill>
          <a:ln>
            <a:noFill/>
          </a:ln>
        </p:spPr>
        <p:txBody>
          <a:bodyPr rtlCol="0" anchor="ctr"/>
          <a:lstStyle/>
          <a:p>
            <a:pPr algn="ctr"/>
          </a:p>
        </p:txBody>
      </p:sp>
      <p:pic>
        <p:nvPicPr>
          <p:cNvPr id="8" name="아이콘:schema" descr="schema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5080863"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스키마</a:t>
            </a:r>
          </a:p>
          <a:p>
            <a:pPr algn="l">
              <a:lnSpc>
                <a:spcPct val="110000"/>
              </a:lnSpc>
              <a:spcAft>
                <a:spcPts val="400"/>
              </a:spcAft>
            </a:pPr>
            <a:r>
              <a:rPr sz="1400" b="0">
                <a:solidFill>
                  <a:srgbClr val="1F2A3A"/>
                </a:solidFill>
                <a:latin typeface="맑은 고딕"/>
                <a:ea typeface="맑은 고딕"/>
                <a:cs typeface="맑은 고딕"/>
              </a:rPr>
              <a:t>• 클래스, 속성, 관계의 정의만 담는다</a:t>
            </a:r>
          </a:p>
          <a:p>
            <a:pPr algn="l">
              <a:lnSpc>
                <a:spcPct val="110000"/>
              </a:lnSpc>
              <a:spcAft>
                <a:spcPts val="400"/>
              </a:spcAft>
            </a:pPr>
            <a:r>
              <a:rPr sz="1400" b="0">
                <a:solidFill>
                  <a:srgbClr val="1F2A3A"/>
                </a:solidFill>
                <a:latin typeface="맑은 고딕"/>
                <a:ea typeface="맑은 고딕"/>
                <a:cs typeface="맑은 고딕"/>
              </a:rPr>
              <a:t>• 실제 대상은 들어 있지 않다</a:t>
            </a:r>
          </a:p>
          <a:p>
            <a:pPr algn="l">
              <a:lnSpc>
                <a:spcPct val="110000"/>
              </a:lnSpc>
              <a:spcAft>
                <a:spcPts val="400"/>
              </a:spcAft>
            </a:pPr>
            <a:r>
              <a:rPr sz="1400" b="0">
                <a:solidFill>
                  <a:srgbClr val="1F2A3A"/>
                </a:solidFill>
                <a:latin typeface="맑은 고딕"/>
                <a:ea typeface="맑은 고딕"/>
                <a:cs typeface="맑은 고딕"/>
              </a:rPr>
              <a:t>• 「센서에는 tag가 있어야 한다」</a:t>
            </a:r>
          </a:p>
        </p:txBody>
      </p:sp>
      <p:sp>
        <p:nvSpPr>
          <p:cNvPr id="10" name="Rounded Rectangle 9"/>
          <p:cNvSpPr/>
          <p:nvPr/>
        </p:nvSpPr>
        <p:spPr>
          <a:xfrm>
            <a:off x="777240" y="5041392"/>
            <a:ext cx="141732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41392"/>
            <a:ext cx="14173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있을 수 있는 것</a:t>
            </a:r>
          </a:p>
        </p:txBody>
      </p:sp>
      <p:sp>
        <p:nvSpPr>
          <p:cNvPr id="12" name="Rounded Rectangle 11"/>
          <p:cNvSpPr/>
          <p:nvPr/>
        </p:nvSpPr>
        <p:spPr>
          <a:xfrm>
            <a:off x="6233007" y="2511552"/>
            <a:ext cx="5410047" cy="295960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3" name="Oval 12"/>
          <p:cNvSpPr/>
          <p:nvPr/>
        </p:nvSpPr>
        <p:spPr>
          <a:xfrm>
            <a:off x="6461607" y="2712720"/>
            <a:ext cx="731520" cy="731520"/>
          </a:xfrm>
          <a:prstGeom prst="ellipse">
            <a:avLst/>
          </a:prstGeom>
          <a:solidFill>
            <a:srgbClr val="5CB8F2"/>
          </a:solidFill>
          <a:ln>
            <a:noFill/>
          </a:ln>
        </p:spPr>
        <p:txBody>
          <a:bodyPr rtlCol="0" anchor="ctr"/>
          <a:lstStyle/>
          <a:p>
            <a:pPr algn="ctr"/>
          </a:p>
        </p:txBody>
      </p:sp>
      <p:pic>
        <p:nvPicPr>
          <p:cNvPr id="14" name="아이콘:database" descr="database_13294B_1.6.png"/>
          <p:cNvPicPr>
            <a:picLocks noChangeAspect="1"/>
          </p:cNvPicPr>
          <p:nvPr/>
        </p:nvPicPr>
        <p:blipFill>
          <a:blip r:embed="rId4"/>
          <a:stretch>
            <a:fillRect/>
          </a:stretch>
        </p:blipFill>
        <p:spPr>
          <a:xfrm>
            <a:off x="6615226" y="2866339"/>
            <a:ext cx="424281" cy="424281"/>
          </a:xfrm>
          <a:prstGeom prst="rect">
            <a:avLst/>
          </a:prstGeom>
        </p:spPr>
      </p:pic>
      <p:sp>
        <p:nvSpPr>
          <p:cNvPr id="15" name="TextBox 14"/>
          <p:cNvSpPr txBox="1"/>
          <p:nvPr/>
        </p:nvSpPr>
        <p:spPr>
          <a:xfrm>
            <a:off x="6397599" y="3535680"/>
            <a:ext cx="5080863"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인스턴스 데이터</a:t>
            </a:r>
          </a:p>
          <a:p>
            <a:pPr algn="l">
              <a:lnSpc>
                <a:spcPct val="110000"/>
              </a:lnSpc>
              <a:spcAft>
                <a:spcPts val="400"/>
              </a:spcAft>
            </a:pPr>
            <a:r>
              <a:rPr sz="1400" b="0">
                <a:solidFill>
                  <a:srgbClr val="1F2A3A"/>
                </a:solidFill>
                <a:latin typeface="맑은 고딕"/>
                <a:ea typeface="맑은 고딕"/>
                <a:cs typeface="맑은 고딕"/>
              </a:rPr>
              <a:t>• 정의에 따라 적은 실제 대상과 그 사이의 관계를 담는다</a:t>
            </a:r>
          </a:p>
          <a:p>
            <a:pPr algn="l">
              <a:lnSpc>
                <a:spcPct val="110000"/>
              </a:lnSpc>
              <a:spcAft>
                <a:spcPts val="400"/>
              </a:spcAft>
            </a:pPr>
            <a:r>
              <a:rPr sz="1400" b="0">
                <a:solidFill>
                  <a:srgbClr val="1F2A3A"/>
                </a:solidFill>
                <a:latin typeface="맑은 고딕"/>
                <a:ea typeface="맑은 고딕"/>
                <a:cs typeface="맑은 고딕"/>
              </a:rPr>
              <a:t>• 「유온 센서의 tag는 TS1이다」</a:t>
            </a:r>
          </a:p>
        </p:txBody>
      </p:sp>
      <p:sp>
        <p:nvSpPr>
          <p:cNvPr id="16" name="Rounded Rectangle 15"/>
          <p:cNvSpPr/>
          <p:nvPr/>
        </p:nvSpPr>
        <p:spPr>
          <a:xfrm>
            <a:off x="6461607" y="5041392"/>
            <a:ext cx="1371600"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6461607" y="5041392"/>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실제로 있는 것</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인스턴스를 더할 때와 스키마를 고칠 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인스턴스는 스키마를 고치지 않고 더할 수 있지만, 스키마를 고치면 그 클래스의 모든 인스턴스가 영향을 받는다.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55</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circle-plus" descr="circle-plus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인스턴스를 더한다</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설비에 센서를 하나 새로 단다</a:t>
            </a:r>
          </a:p>
          <a:p>
            <a:pPr algn="l">
              <a:lnSpc>
                <a:spcPct val="110000"/>
              </a:lnSpc>
              <a:spcAft>
                <a:spcPts val="600"/>
              </a:spcAft>
            </a:pPr>
            <a:r>
              <a:rPr sz="1450" b="0">
                <a:solidFill>
                  <a:srgbClr val="1F2A3A"/>
                </a:solidFill>
                <a:latin typeface="맑은 고딕"/>
                <a:ea typeface="맑은 고딕"/>
                <a:cs typeface="맑은 고딕"/>
              </a:rPr>
              <a:t>• 센서 인스턴스가 하나 는다</a:t>
            </a:r>
          </a:p>
          <a:p>
            <a:pPr algn="l">
              <a:lnSpc>
                <a:spcPct val="110000"/>
              </a:lnSpc>
              <a:spcAft>
                <a:spcPts val="600"/>
              </a:spcAft>
            </a:pPr>
            <a:r>
              <a:rPr sz="1450" b="0">
                <a:solidFill>
                  <a:srgbClr val="1F2A3A"/>
                </a:solidFill>
                <a:latin typeface="맑은 고딕"/>
                <a:ea typeface="맑은 고딕"/>
                <a:cs typeface="맑은 고딕"/>
              </a:rPr>
              <a:t>• 스키마는 그대로이다</a:t>
            </a:r>
          </a:p>
        </p:txBody>
      </p:sp>
      <p:sp>
        <p:nvSpPr>
          <p:cNvPr id="11" name="Rounded Rectangle 10"/>
          <p:cNvSpPr/>
          <p:nvPr/>
        </p:nvSpPr>
        <p:spPr>
          <a:xfrm>
            <a:off x="868680" y="4945570"/>
            <a:ext cx="132587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자주 일어난다</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edit" descr="edit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스키마를 고친다</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센서 클래스에 필수 속성을 하나 더한다</a:t>
            </a:r>
          </a:p>
          <a:p>
            <a:pPr algn="l">
              <a:lnSpc>
                <a:spcPct val="110000"/>
              </a:lnSpc>
              <a:spcAft>
                <a:spcPts val="600"/>
              </a:spcAft>
            </a:pPr>
            <a:r>
              <a:rPr sz="1450" b="0">
                <a:solidFill>
                  <a:srgbClr val="1F2A3A"/>
                </a:solidFill>
                <a:latin typeface="맑은 고딕"/>
                <a:ea typeface="맑은 고딕"/>
                <a:cs typeface="맑은 고딕"/>
              </a:rPr>
              <a:t>• 이미 있는 모든 센서가 그 속성을 가져야 한다</a:t>
            </a:r>
          </a:p>
        </p:txBody>
      </p:sp>
      <p:sp>
        <p:nvSpPr>
          <p:cNvPr id="18" name="Rounded Rectangle 17"/>
          <p:cNvSpPr/>
          <p:nvPr/>
        </p:nvSpPr>
        <p:spPr>
          <a:xfrm>
            <a:off x="6781647" y="4945570"/>
            <a:ext cx="1557528"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55752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드물게, 신중하게</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설비 모델을 스키마로 발전시키는 순서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스키마는 답해야 할 질문에서 출발해 클래스, 속성, 관계의 순서로 정의를 채워 나간다.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56</a:t>
            </a:r>
          </a:p>
        </p:txBody>
      </p:sp>
      <p:sp>
        <p:nvSpPr>
          <p:cNvPr id="6" name="Rectangle 5"/>
          <p:cNvSpPr/>
          <p:nvPr/>
        </p:nvSpPr>
        <p:spPr>
          <a:xfrm>
            <a:off x="1935441" y="3146679"/>
            <a:ext cx="8320811" cy="36576"/>
          </a:xfrm>
          <a:prstGeom prst="rect">
            <a:avLst/>
          </a:prstGeom>
          <a:solidFill>
            <a:srgbClr val="D3D9E1"/>
          </a:solidFill>
          <a:ln>
            <a:noFill/>
          </a:ln>
        </p:spPr>
        <p:txBody>
          <a:bodyPr rtlCol="0" anchor="ctr"/>
          <a:lstStyle/>
          <a:p>
            <a:pPr algn="ctr"/>
          </a:p>
        </p:txBody>
      </p:sp>
      <p:sp>
        <p:nvSpPr>
          <p:cNvPr id="7" name="Oval 6"/>
          <p:cNvSpPr/>
          <p:nvPr/>
        </p:nvSpPr>
        <p:spPr>
          <a:xfrm>
            <a:off x="1501101" y="2730627"/>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help-circle" descr="help-circle_13294B_1.6.png"/>
          <p:cNvPicPr>
            <a:picLocks noChangeAspect="1"/>
          </p:cNvPicPr>
          <p:nvPr/>
        </p:nvPicPr>
        <p:blipFill>
          <a:blip r:embed="rId3"/>
          <a:stretch>
            <a:fillRect/>
          </a:stretch>
        </p:blipFill>
        <p:spPr>
          <a:xfrm>
            <a:off x="1718271" y="2947797"/>
            <a:ext cx="434340" cy="434340"/>
          </a:xfrm>
          <a:prstGeom prst="rect">
            <a:avLst/>
          </a:prstGeom>
        </p:spPr>
      </p:pic>
      <p:sp>
        <p:nvSpPr>
          <p:cNvPr id="9" name="Oval 8"/>
          <p:cNvSpPr/>
          <p:nvPr/>
        </p:nvSpPr>
        <p:spPr>
          <a:xfrm>
            <a:off x="2095461" y="2684907"/>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095461"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1"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질문을 정한다</a:t>
            </a:r>
          </a:p>
          <a:p>
            <a:pPr algn="ctr">
              <a:lnSpc>
                <a:spcPct val="110000"/>
              </a:lnSpc>
              <a:spcAft>
                <a:spcPts val="400"/>
              </a:spcAft>
            </a:pPr>
            <a:r>
              <a:rPr sz="1350" b="0">
                <a:solidFill>
                  <a:srgbClr val="1F2A3A"/>
                </a:solidFill>
                <a:latin typeface="맑은 고딕"/>
                <a:ea typeface="맑은 고딕"/>
                <a:cs typeface="맑은 고딕"/>
              </a:rPr>
              <a:t>이 지식으로</a:t>
            </a:r>
          </a:p>
          <a:p>
            <a:pPr algn="ctr">
              <a:lnSpc>
                <a:spcPct val="110000"/>
              </a:lnSpc>
              <a:spcAft>
                <a:spcPts val="400"/>
              </a:spcAft>
            </a:pPr>
            <a:r>
              <a:rPr sz="1350" b="0">
                <a:solidFill>
                  <a:srgbClr val="1F2A3A"/>
                </a:solidFill>
                <a:latin typeface="맑은 고딕"/>
                <a:ea typeface="맑은 고딕"/>
                <a:cs typeface="맑은 고딕"/>
              </a:rPr>
              <a:t>답할 질문</a:t>
            </a:r>
          </a:p>
        </p:txBody>
      </p:sp>
      <p:sp>
        <p:nvSpPr>
          <p:cNvPr id="12" name="Oval 11"/>
          <p:cNvSpPr/>
          <p:nvPr/>
        </p:nvSpPr>
        <p:spPr>
          <a:xfrm>
            <a:off x="4274705" y="2730627"/>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category" descr="category_13294B_1.6.png"/>
          <p:cNvPicPr>
            <a:picLocks noChangeAspect="1"/>
          </p:cNvPicPr>
          <p:nvPr/>
        </p:nvPicPr>
        <p:blipFill>
          <a:blip r:embed="rId4"/>
          <a:stretch>
            <a:fillRect/>
          </a:stretch>
        </p:blipFill>
        <p:spPr>
          <a:xfrm>
            <a:off x="4491875" y="2947797"/>
            <a:ext cx="434340" cy="434340"/>
          </a:xfrm>
          <a:prstGeom prst="rect">
            <a:avLst/>
          </a:prstGeom>
        </p:spPr>
      </p:pic>
      <p:sp>
        <p:nvSpPr>
          <p:cNvPr id="14" name="Oval 13"/>
          <p:cNvSpPr/>
          <p:nvPr/>
        </p:nvSpPr>
        <p:spPr>
          <a:xfrm>
            <a:off x="4869065" y="2684907"/>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4869065"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3395395"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클래스와 인스턴스를 나눈다</a:t>
            </a:r>
          </a:p>
          <a:p>
            <a:pPr algn="ctr">
              <a:lnSpc>
                <a:spcPct val="110000"/>
              </a:lnSpc>
              <a:spcAft>
                <a:spcPts val="400"/>
              </a:spcAft>
            </a:pPr>
            <a:r>
              <a:rPr sz="1350" b="0">
                <a:solidFill>
                  <a:srgbClr val="1F2A3A"/>
                </a:solidFill>
                <a:latin typeface="맑은 고딕"/>
                <a:ea typeface="맑은 고딕"/>
                <a:cs typeface="맑은 고딕"/>
              </a:rPr>
              <a:t>유형과</a:t>
            </a:r>
          </a:p>
          <a:p>
            <a:pPr algn="ctr">
              <a:lnSpc>
                <a:spcPct val="110000"/>
              </a:lnSpc>
              <a:spcAft>
                <a:spcPts val="400"/>
              </a:spcAft>
            </a:pPr>
            <a:r>
              <a:rPr sz="1350" b="0">
                <a:solidFill>
                  <a:srgbClr val="1F2A3A"/>
                </a:solidFill>
                <a:latin typeface="맑은 고딕"/>
                <a:ea typeface="맑은 고딕"/>
                <a:cs typeface="맑은 고딕"/>
              </a:rPr>
              <a:t>실제 대상</a:t>
            </a:r>
          </a:p>
        </p:txBody>
      </p:sp>
      <p:sp>
        <p:nvSpPr>
          <p:cNvPr id="17" name="Oval 16"/>
          <p:cNvSpPr/>
          <p:nvPr/>
        </p:nvSpPr>
        <p:spPr>
          <a:xfrm>
            <a:off x="7048309" y="2730627"/>
            <a:ext cx="868680" cy="868680"/>
          </a:xfrm>
          <a:prstGeom prst="ellipse">
            <a:avLst/>
          </a:prstGeom>
          <a:solidFill>
            <a:srgbClr val="FFFFFF"/>
          </a:solidFill>
          <a:ln w="25400">
            <a:solidFill>
              <a:srgbClr val="13294B"/>
            </a:solidFill>
          </a:ln>
        </p:spPr>
        <p:txBody>
          <a:bodyPr rtlCol="0" anchor="ctr"/>
          <a:lstStyle/>
          <a:p>
            <a:pPr algn="ctr"/>
          </a:p>
        </p:txBody>
      </p:sp>
      <p:pic>
        <p:nvPicPr>
          <p:cNvPr id="18" name="아이콘:forms" descr="forms_13294B_1.6.png"/>
          <p:cNvPicPr>
            <a:picLocks noChangeAspect="1"/>
          </p:cNvPicPr>
          <p:nvPr/>
        </p:nvPicPr>
        <p:blipFill>
          <a:blip r:embed="rId5"/>
          <a:stretch>
            <a:fillRect/>
          </a:stretch>
        </p:blipFill>
        <p:spPr>
          <a:xfrm>
            <a:off x="7265479" y="2947797"/>
            <a:ext cx="434340" cy="434340"/>
          </a:xfrm>
          <a:prstGeom prst="rect">
            <a:avLst/>
          </a:prstGeom>
        </p:spPr>
      </p:pic>
      <p:sp>
        <p:nvSpPr>
          <p:cNvPr id="19" name="Oval 18"/>
          <p:cNvSpPr/>
          <p:nvPr/>
        </p:nvSpPr>
        <p:spPr>
          <a:xfrm>
            <a:off x="7642669" y="2684907"/>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7642669"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6168999"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속성을 정한다</a:t>
            </a:r>
          </a:p>
          <a:p>
            <a:pPr algn="ctr">
              <a:lnSpc>
                <a:spcPct val="110000"/>
              </a:lnSpc>
              <a:spcAft>
                <a:spcPts val="400"/>
              </a:spcAft>
            </a:pPr>
            <a:r>
              <a:rPr sz="1350" b="0">
                <a:solidFill>
                  <a:srgbClr val="1F2A3A"/>
                </a:solidFill>
                <a:latin typeface="맑은 고딕"/>
                <a:ea typeface="맑은 고딕"/>
                <a:cs typeface="맑은 고딕"/>
              </a:rPr>
              <a:t>속성명, 자료형,</a:t>
            </a:r>
          </a:p>
          <a:p>
            <a:pPr algn="ctr">
              <a:lnSpc>
                <a:spcPct val="110000"/>
              </a:lnSpc>
              <a:spcAft>
                <a:spcPts val="400"/>
              </a:spcAft>
            </a:pPr>
            <a:r>
              <a:rPr sz="1350" b="0">
                <a:solidFill>
                  <a:srgbClr val="1F2A3A"/>
                </a:solidFill>
                <a:latin typeface="맑은 고딕"/>
                <a:ea typeface="맑은 고딕"/>
                <a:cs typeface="맑은 고딕"/>
              </a:rPr>
              <a:t>식별자, 필수 여부</a:t>
            </a:r>
          </a:p>
        </p:txBody>
      </p:sp>
      <p:sp>
        <p:nvSpPr>
          <p:cNvPr id="22" name="Oval 21"/>
          <p:cNvSpPr/>
          <p:nvPr/>
        </p:nvSpPr>
        <p:spPr>
          <a:xfrm>
            <a:off x="9821913" y="2730627"/>
            <a:ext cx="868680" cy="868680"/>
          </a:xfrm>
          <a:prstGeom prst="ellipse">
            <a:avLst/>
          </a:prstGeom>
          <a:solidFill>
            <a:srgbClr val="5CB8F2"/>
          </a:solidFill>
          <a:ln>
            <a:noFill/>
          </a:ln>
        </p:spPr>
        <p:txBody>
          <a:bodyPr rtlCol="0" anchor="ctr"/>
          <a:lstStyle/>
          <a:p>
            <a:pPr algn="ctr"/>
          </a:p>
        </p:txBody>
      </p:sp>
      <p:pic>
        <p:nvPicPr>
          <p:cNvPr id="23" name="아이콘:arrows-right" descr="arrows-right_13294B_1.6.png"/>
          <p:cNvPicPr>
            <a:picLocks noChangeAspect="1"/>
          </p:cNvPicPr>
          <p:nvPr/>
        </p:nvPicPr>
        <p:blipFill>
          <a:blip r:embed="rId6"/>
          <a:stretch>
            <a:fillRect/>
          </a:stretch>
        </p:blipFill>
        <p:spPr>
          <a:xfrm>
            <a:off x="10039083" y="2947797"/>
            <a:ext cx="434340" cy="434340"/>
          </a:xfrm>
          <a:prstGeom prst="rect">
            <a:avLst/>
          </a:prstGeom>
        </p:spPr>
      </p:pic>
      <p:sp>
        <p:nvSpPr>
          <p:cNvPr id="24" name="Oval 23"/>
          <p:cNvSpPr/>
          <p:nvPr/>
        </p:nvSpPr>
        <p:spPr>
          <a:xfrm>
            <a:off x="10416273" y="2684907"/>
            <a:ext cx="347472" cy="347472"/>
          </a:xfrm>
          <a:prstGeom prst="ellipse">
            <a:avLst/>
          </a:prstGeom>
          <a:solidFill>
            <a:srgbClr val="13294B"/>
          </a:solidFill>
          <a:ln>
            <a:noFill/>
          </a:ln>
        </p:spPr>
        <p:txBody>
          <a:bodyPr rtlCol="0" anchor="ctr"/>
          <a:lstStyle/>
          <a:p>
            <a:pPr algn="ctr"/>
          </a:p>
        </p:txBody>
      </p:sp>
      <p:sp>
        <p:nvSpPr>
          <p:cNvPr id="25" name="TextBox 24"/>
          <p:cNvSpPr txBox="1"/>
          <p:nvPr/>
        </p:nvSpPr>
        <p:spPr>
          <a:xfrm>
            <a:off x="10416273"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26" name="TextBox 25"/>
          <p:cNvSpPr txBox="1"/>
          <p:nvPr/>
        </p:nvSpPr>
        <p:spPr>
          <a:xfrm>
            <a:off x="8942603"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관계를 정한다</a:t>
            </a:r>
          </a:p>
          <a:p>
            <a:pPr algn="ctr">
              <a:lnSpc>
                <a:spcPct val="110000"/>
              </a:lnSpc>
              <a:spcAft>
                <a:spcPts val="400"/>
              </a:spcAft>
            </a:pPr>
            <a:r>
              <a:rPr sz="1350" b="0">
                <a:solidFill>
                  <a:srgbClr val="1F2A3A"/>
                </a:solidFill>
                <a:latin typeface="맑은 고딕"/>
                <a:ea typeface="맑은 고딕"/>
                <a:cs typeface="맑은 고딕"/>
              </a:rPr>
              <a:t>이름, 방향,</a:t>
            </a:r>
          </a:p>
          <a:p>
            <a:pPr algn="ctr">
              <a:lnSpc>
                <a:spcPct val="110000"/>
              </a:lnSpc>
              <a:spcAft>
                <a:spcPts val="400"/>
              </a:spcAft>
            </a:pPr>
            <a:r>
              <a:rPr sz="1350" b="0">
                <a:solidFill>
                  <a:srgbClr val="1F2A3A"/>
                </a:solidFill>
                <a:latin typeface="맑은 고딕"/>
                <a:ea typeface="맑은 고딕"/>
                <a:cs typeface="맑은 고딕"/>
              </a:rPr>
              <a:t>양 끝 클래스, 카디널리티</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단계 1: 답할 질문을 정한다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먼저 이 지식으로 답하려는 질문을 적으며, 질문에 쓰이지 않는 정보는 넣지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57</a:t>
            </a:r>
          </a:p>
        </p:txBody>
      </p:sp>
      <p:sp>
        <p:nvSpPr>
          <p:cNvPr id="6" name="Rounded Rectangle 5"/>
          <p:cNvSpPr/>
          <p:nvPr/>
        </p:nvSpPr>
        <p:spPr>
          <a:xfrm>
            <a:off x="548640"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821178"/>
            <a:ext cx="731520" cy="731520"/>
          </a:xfrm>
          <a:prstGeom prst="ellipse">
            <a:avLst/>
          </a:prstGeom>
          <a:solidFill>
            <a:srgbClr val="E7F3FD"/>
          </a:solidFill>
          <a:ln>
            <a:noFill/>
          </a:ln>
        </p:spPr>
        <p:txBody>
          <a:bodyPr rtlCol="0" anchor="ctr"/>
          <a:lstStyle/>
          <a:p>
            <a:pPr algn="ctr"/>
          </a:p>
        </p:txBody>
      </p:sp>
      <p:pic>
        <p:nvPicPr>
          <p:cNvPr id="8" name="아이콘:gauge" descr="gauge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질문 1</a:t>
            </a:r>
          </a:p>
          <a:p>
            <a:pPr algn="l">
              <a:lnSpc>
                <a:spcPct val="110000"/>
              </a:lnSpc>
              <a:spcAft>
                <a:spcPts val="400"/>
              </a:spcAft>
            </a:pPr>
            <a:r>
              <a:rPr sz="1400" b="0">
                <a:solidFill>
                  <a:srgbClr val="1F2A3A"/>
                </a:solidFill>
                <a:latin typeface="맑은 고딕"/>
                <a:ea typeface="맑은 고딕"/>
                <a:cs typeface="맑은 고딕"/>
              </a:rPr>
              <a:t>HYD-01의 오일 쿨러를 재는 센서는 무엇인가</a:t>
            </a:r>
          </a:p>
        </p:txBody>
      </p:sp>
      <p:sp>
        <p:nvSpPr>
          <p:cNvPr id="10" name="Rounded Rectangle 9"/>
          <p:cNvSpPr/>
          <p:nvPr/>
        </p:nvSpPr>
        <p:spPr>
          <a:xfrm>
            <a:off x="777240" y="4932934"/>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센서</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ruler-measure" descr="ruler-measure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질문 2</a:t>
            </a:r>
          </a:p>
          <a:p>
            <a:pPr algn="l">
              <a:lnSpc>
                <a:spcPct val="110000"/>
              </a:lnSpc>
              <a:spcAft>
                <a:spcPts val="400"/>
              </a:spcAft>
            </a:pPr>
            <a:r>
              <a:rPr sz="1400" b="0">
                <a:solidFill>
                  <a:srgbClr val="1F2A3A"/>
                </a:solidFill>
                <a:latin typeface="맑은 고딕"/>
                <a:ea typeface="맑은 고딕"/>
                <a:cs typeface="맑은 고딕"/>
              </a:rPr>
              <a:t>그 센서가 읽는 물리량의 한계는 얼마인가</a:t>
            </a:r>
          </a:p>
        </p:txBody>
      </p:sp>
      <p:sp>
        <p:nvSpPr>
          <p:cNvPr id="16" name="Rounded Rectangle 15"/>
          <p:cNvSpPr/>
          <p:nvPr/>
        </p:nvSpPr>
        <p:spPr>
          <a:xfrm>
            <a:off x="4566818" y="4932934"/>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한계값</a:t>
            </a:r>
          </a:p>
        </p:txBody>
      </p:sp>
      <p:sp>
        <p:nvSpPr>
          <p:cNvPr id="18" name="Rounded Rectangle 17"/>
          <p:cNvSpPr/>
          <p:nvPr/>
        </p:nvSpPr>
        <p:spPr>
          <a:xfrm>
            <a:off x="8127796"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E7F3FD"/>
          </a:solidFill>
          <a:ln>
            <a:noFill/>
          </a:ln>
        </p:spPr>
        <p:txBody>
          <a:bodyPr rtlCol="0" anchor="ctr"/>
          <a:lstStyle/>
          <a:p>
            <a:pPr algn="ctr"/>
          </a:p>
        </p:txBody>
      </p:sp>
      <p:pic>
        <p:nvPicPr>
          <p:cNvPr id="20" name="아이콘:tool" descr="tool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질문 3</a:t>
            </a:r>
          </a:p>
          <a:p>
            <a:pPr algn="l">
              <a:lnSpc>
                <a:spcPct val="110000"/>
              </a:lnSpc>
              <a:spcAft>
                <a:spcPts val="400"/>
              </a:spcAft>
            </a:pPr>
            <a:r>
              <a:rPr sz="1400" b="0">
                <a:solidFill>
                  <a:srgbClr val="1F2A3A"/>
                </a:solidFill>
                <a:latin typeface="맑은 고딕"/>
                <a:ea typeface="맑은 고딕"/>
                <a:cs typeface="맑은 고딕"/>
              </a:rPr>
              <a:t>오일 쿨러에 들어가는 교체 부품은 무엇인가</a:t>
            </a:r>
          </a:p>
        </p:txBody>
      </p:sp>
      <p:sp>
        <p:nvSpPr>
          <p:cNvPr id="22" name="Rounded Rectangle 21"/>
          <p:cNvSpPr/>
          <p:nvPr/>
        </p:nvSpPr>
        <p:spPr>
          <a:xfrm>
            <a:off x="8356396" y="4932934"/>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부품</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단계 2: 질문의 낱말을 클래스와 인스턴스로 가른다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질문의 낱말 가운데 유형은 클래스가 되고 실제 대상은 그 클래스의 예시 인스턴스가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58</a:t>
            </a:r>
          </a:p>
        </p:txBody>
      </p:sp>
      <p:pic>
        <p:nvPicPr>
          <p:cNvPr id="6" name="삽화:설계_1.svg" descr="illust_3350838531489280836_179171724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48380" y="2081467"/>
            <a:ext cx="1854614" cy="337185"/>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Asset</a:t>
            </a:r>
          </a:p>
        </p:txBody>
      </p:sp>
      <p:sp>
        <p:nvSpPr>
          <p:cNvPr id="8" name="TextBox 7"/>
          <p:cNvSpPr txBox="1"/>
          <p:nvPr/>
        </p:nvSpPr>
        <p:spPr>
          <a:xfrm>
            <a:off x="3723032" y="2081467"/>
            <a:ext cx="1854614" cy="337185"/>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Component</a:t>
            </a:r>
          </a:p>
        </p:txBody>
      </p:sp>
      <p:sp>
        <p:nvSpPr>
          <p:cNvPr id="9" name="TextBox 8"/>
          <p:cNvSpPr txBox="1"/>
          <p:nvPr/>
        </p:nvSpPr>
        <p:spPr>
          <a:xfrm>
            <a:off x="6597684" y="2081467"/>
            <a:ext cx="1854614" cy="337185"/>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Sensor</a:t>
            </a:r>
          </a:p>
        </p:txBody>
      </p:sp>
      <p:sp>
        <p:nvSpPr>
          <p:cNvPr id="10" name="TextBox 9"/>
          <p:cNvSpPr txBox="1"/>
          <p:nvPr/>
        </p:nvSpPr>
        <p:spPr>
          <a:xfrm>
            <a:off x="9466881" y="2081467"/>
            <a:ext cx="1854614" cy="337185"/>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StateVariable</a:t>
            </a:r>
          </a:p>
        </p:txBody>
      </p:sp>
      <p:sp>
        <p:nvSpPr>
          <p:cNvPr id="11" name="TextBox 10"/>
          <p:cNvSpPr txBox="1"/>
          <p:nvPr/>
        </p:nvSpPr>
        <p:spPr>
          <a:xfrm>
            <a:off x="3723032" y="4719382"/>
            <a:ext cx="1854614" cy="337185"/>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Part</a:t>
            </a:r>
          </a:p>
        </p:txBody>
      </p:sp>
      <p:sp>
        <p:nvSpPr>
          <p:cNvPr id="12" name="TextBox 11"/>
          <p:cNvSpPr txBox="1"/>
          <p:nvPr/>
        </p:nvSpPr>
        <p:spPr>
          <a:xfrm>
            <a:off x="684738" y="3660434"/>
            <a:ext cx="218189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유형: 설비</a:t>
            </a:r>
          </a:p>
          <a:p>
            <a:pPr algn="ctr">
              <a:lnSpc>
                <a:spcPct val="110000"/>
              </a:lnSpc>
              <a:spcAft>
                <a:spcPts val="100"/>
              </a:spcAft>
            </a:pPr>
            <a:r>
              <a:rPr sz="1100" b="0">
                <a:solidFill>
                  <a:srgbClr val="556175"/>
                </a:solidFill>
                <a:latin typeface="맑은 고딕"/>
                <a:ea typeface="맑은 고딕"/>
                <a:cs typeface="맑은 고딕"/>
              </a:rPr>
              <a:t>실제 대상: HYD-01</a:t>
            </a:r>
          </a:p>
        </p:txBody>
      </p:sp>
      <p:sp>
        <p:nvSpPr>
          <p:cNvPr id="13" name="TextBox 12"/>
          <p:cNvSpPr txBox="1"/>
          <p:nvPr/>
        </p:nvSpPr>
        <p:spPr>
          <a:xfrm>
            <a:off x="3559390" y="3660434"/>
            <a:ext cx="218189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유형: 구성 요소</a:t>
            </a:r>
          </a:p>
          <a:p>
            <a:pPr algn="ctr">
              <a:lnSpc>
                <a:spcPct val="110000"/>
              </a:lnSpc>
              <a:spcAft>
                <a:spcPts val="100"/>
              </a:spcAft>
            </a:pPr>
            <a:r>
              <a:rPr sz="1100" b="0">
                <a:solidFill>
                  <a:srgbClr val="556175"/>
                </a:solidFill>
                <a:latin typeface="맑은 고딕"/>
                <a:ea typeface="맑은 고딕"/>
                <a:cs typeface="맑은 고딕"/>
              </a:rPr>
              <a:t>실제 대상: 오일 쿨러</a:t>
            </a:r>
          </a:p>
        </p:txBody>
      </p:sp>
      <p:sp>
        <p:nvSpPr>
          <p:cNvPr id="14" name="TextBox 13"/>
          <p:cNvSpPr txBox="1"/>
          <p:nvPr/>
        </p:nvSpPr>
        <p:spPr>
          <a:xfrm>
            <a:off x="6434041" y="3660434"/>
            <a:ext cx="218189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유형: 센서</a:t>
            </a:r>
          </a:p>
          <a:p>
            <a:pPr algn="ctr">
              <a:lnSpc>
                <a:spcPct val="110000"/>
              </a:lnSpc>
              <a:spcAft>
                <a:spcPts val="100"/>
              </a:spcAft>
            </a:pPr>
            <a:r>
              <a:rPr sz="1100" b="0">
                <a:solidFill>
                  <a:srgbClr val="556175"/>
                </a:solidFill>
                <a:latin typeface="맑은 고딕"/>
                <a:ea typeface="맑은 고딕"/>
                <a:cs typeface="맑은 고딕"/>
              </a:rPr>
              <a:t>실제 대상: 유온 센서</a:t>
            </a:r>
          </a:p>
        </p:txBody>
      </p:sp>
      <p:sp>
        <p:nvSpPr>
          <p:cNvPr id="15" name="TextBox 14"/>
          <p:cNvSpPr txBox="1"/>
          <p:nvPr/>
        </p:nvSpPr>
        <p:spPr>
          <a:xfrm>
            <a:off x="9248691" y="3660434"/>
            <a:ext cx="2290993"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유형: 물리량(상태 변수)</a:t>
            </a:r>
          </a:p>
          <a:p>
            <a:pPr algn="ctr">
              <a:lnSpc>
                <a:spcPct val="110000"/>
              </a:lnSpc>
              <a:spcAft>
                <a:spcPts val="100"/>
              </a:spcAft>
            </a:pPr>
            <a:r>
              <a:rPr sz="1100" b="0">
                <a:solidFill>
                  <a:srgbClr val="556175"/>
                </a:solidFill>
                <a:latin typeface="맑은 고딕"/>
                <a:ea typeface="맑은 고딕"/>
                <a:cs typeface="맑은 고딕"/>
              </a:rPr>
              <a:t>실제 대상: 유온</a:t>
            </a:r>
          </a:p>
        </p:txBody>
      </p:sp>
      <p:sp>
        <p:nvSpPr>
          <p:cNvPr id="16" name="TextBox 15"/>
          <p:cNvSpPr txBox="1"/>
          <p:nvPr/>
        </p:nvSpPr>
        <p:spPr>
          <a:xfrm>
            <a:off x="5877657" y="5031394"/>
            <a:ext cx="2400088"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유형: 교체 부품</a:t>
            </a:r>
          </a:p>
          <a:p>
            <a:pPr algn="ctr">
              <a:lnSpc>
                <a:spcPct val="110000"/>
              </a:lnSpc>
              <a:spcAft>
                <a:spcPts val="100"/>
              </a:spcAft>
            </a:pPr>
            <a:r>
              <a:rPr sz="1100" b="0">
                <a:solidFill>
                  <a:srgbClr val="556175"/>
                </a:solidFill>
                <a:latin typeface="맑은 고딕"/>
                <a:ea typeface="맑은 고딕"/>
                <a:cs typeface="맑은 고딕"/>
              </a:rPr>
              <a:t>실제 대상: 쿨러 코어</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단계 3: 속성을 정하고 자료형과 필수 여부를 붙인다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질문에 쓰이는 값만 속성으로 적으며, 잰 값과 비교할 limit은 수로, 없으면 쓸 수 없는 값은 필수로 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59</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Asset         { id!  name!  code! }</a:t>
            </a:r>
          </a:p>
          <a:p>
            <a:pPr algn="l">
              <a:lnSpc>
                <a:spcPct val="110000"/>
              </a:lnSpc>
              <a:spcAft>
                <a:spcPts val="200"/>
              </a:spcAft>
            </a:pPr>
            <a:r>
              <a:rPr sz="1300" b="0">
                <a:solidFill>
                  <a:srgbClr val="E8EEF6"/>
                </a:solidFill>
                <a:latin typeface="Consolas"/>
                <a:ea typeface="맑은 고딕"/>
                <a:cs typeface="맑은 고딕"/>
              </a:rPr>
              <a:t>Component     { id!  name!  aliases }</a:t>
            </a:r>
          </a:p>
          <a:p>
            <a:pPr algn="l">
              <a:lnSpc>
                <a:spcPct val="110000"/>
              </a:lnSpc>
              <a:spcAft>
                <a:spcPts val="200"/>
              </a:spcAft>
            </a:pPr>
            <a:r>
              <a:rPr sz="1300" b="0">
                <a:solidFill>
                  <a:srgbClr val="E8EEF6"/>
                </a:solidFill>
                <a:latin typeface="Consolas"/>
                <a:ea typeface="맑은 고딕"/>
                <a:cs typeface="맑은 고딕"/>
              </a:rPr>
              <a:t>Sensor        { id!  name!  tag!  unit }</a:t>
            </a:r>
          </a:p>
          <a:p>
            <a:pPr algn="l">
              <a:lnSpc>
                <a:spcPct val="110000"/>
              </a:lnSpc>
              <a:spcAft>
                <a:spcPts val="200"/>
              </a:spcAft>
            </a:pPr>
            <a:r>
              <a:rPr sz="1300" b="0">
                <a:solidFill>
                  <a:srgbClr val="E8EEF6"/>
                </a:solidFill>
                <a:latin typeface="Consolas"/>
                <a:ea typeface="맑은 고딕"/>
                <a:cs typeface="맑은 고딕"/>
              </a:rPr>
              <a:t>StateVariable { id!  name!  unit!  limit }</a:t>
            </a:r>
          </a:p>
          <a:p>
            <a:pPr algn="l">
              <a:lnSpc>
                <a:spcPct val="110000"/>
              </a:lnSpc>
              <a:spcAft>
                <a:spcPts val="200"/>
              </a:spcAft>
            </a:pPr>
            <a:r>
              <a:rPr sz="1300" b="0">
                <a:solidFill>
                  <a:srgbClr val="E8EEF6"/>
                </a:solidFill>
                <a:latin typeface="Consolas"/>
                <a:ea typeface="맑은 고딕"/>
                <a:cs typeface="맑은 고딕"/>
              </a:rPr>
              <a:t>Part          { id!  name!  partNo }</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limit   : number</a:t>
            </a:r>
          </a:p>
          <a:p>
            <a:pPr algn="l">
              <a:lnSpc>
                <a:spcPct val="110000"/>
              </a:lnSpc>
              <a:spcAft>
                <a:spcPts val="200"/>
              </a:spcAft>
            </a:pPr>
            <a:r>
              <a:rPr sz="1300" b="0">
                <a:solidFill>
                  <a:srgbClr val="E8EEF6"/>
                </a:solidFill>
                <a:latin typeface="Consolas"/>
                <a:ea typeface="맑은 고딕"/>
                <a:cs typeface="맑은 고딕"/>
              </a:rPr>
              <a:t>aliases : string[]</a:t>
            </a:r>
          </a:p>
          <a:p>
            <a:pPr algn="l">
              <a:lnSpc>
                <a:spcPct val="110000"/>
              </a:lnSpc>
              <a:spcAft>
                <a:spcPts val="200"/>
              </a:spcAft>
            </a:pPr>
            <a:r>
              <a:rPr sz="1300" b="0">
                <a:solidFill>
                  <a:srgbClr val="E8EEF6"/>
                </a:solidFill>
                <a:latin typeface="맑은 고딕"/>
                <a:ea typeface="맑은 고딕"/>
                <a:cs typeface="맑은 고딕"/>
              </a:rPr>
              <a:t>나머지</a:t>
            </a:r>
            <a:r>
              <a:rPr sz="1300" b="0">
                <a:solidFill>
                  <a:srgbClr val="E8EEF6"/>
                </a:solidFill>
                <a:latin typeface="Consolas"/>
                <a:ea typeface="맑은 고딕"/>
                <a:cs typeface="맑은 고딕"/>
              </a:rPr>
              <a:t>  : string</a:t>
            </a:r>
          </a:p>
        </p:txBody>
      </p:sp>
      <p:sp>
        <p:nvSpPr>
          <p:cNvPr id="8" name="TextBox 7"/>
          <p:cNvSpPr txBox="1"/>
          <p:nvPr/>
        </p:nvSpPr>
        <p:spPr>
          <a:xfrm>
            <a:off x="7635240" y="232829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느낌표</a:t>
            </a:r>
          </a:p>
          <a:p>
            <a:pPr algn="l">
              <a:lnSpc>
                <a:spcPct val="110000"/>
              </a:lnSpc>
              <a:spcAft>
                <a:spcPts val="400"/>
              </a:spcAft>
            </a:pPr>
            <a:r>
              <a:rPr sz="1400" b="0">
                <a:solidFill>
                  <a:srgbClr val="1F2A3A"/>
                </a:solidFill>
                <a:latin typeface="맑은 고딕"/>
                <a:ea typeface="맑은 고딕"/>
                <a:cs typeface="맑은 고딕"/>
              </a:rPr>
              <a:t>필수 속성이다. id와 name은 모든 클래스에서 필수이다.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필수로 둔 것</a:t>
            </a:r>
          </a:p>
          <a:p>
            <a:pPr algn="l">
              <a:lnSpc>
                <a:spcPct val="110000"/>
              </a:lnSpc>
              <a:spcAft>
                <a:spcPts val="400"/>
              </a:spcAft>
            </a:pPr>
            <a:r>
              <a:rPr sz="1400" b="0">
                <a:solidFill>
                  <a:srgbClr val="1F2A3A"/>
                </a:solidFill>
                <a:latin typeface="맑은 고딕"/>
                <a:ea typeface="맑은 고딕"/>
                <a:cs typeface="맑은 고딕"/>
              </a:rPr>
              <a:t>설비의 code, 센서의 tag, 상태 변수의 unit은 없으면 쓸 수 없는 값이다.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수로 둔 것</a:t>
            </a:r>
          </a:p>
          <a:p>
            <a:pPr algn="l">
              <a:lnSpc>
                <a:spcPct val="110000"/>
              </a:lnSpc>
              <a:spcAft>
                <a:spcPts val="400"/>
              </a:spcAft>
            </a:pPr>
            <a:r>
              <a:rPr sz="1400" b="0">
                <a:solidFill>
                  <a:srgbClr val="1F2A3A"/>
                </a:solidFill>
                <a:latin typeface="맑은 고딕"/>
                <a:ea typeface="맑은 고딕"/>
                <a:cs typeface="맑은 고딕"/>
              </a:rPr>
              <a:t>limit은 크기를 비교해야 하므로 number로 정한다.</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단계 4: 관계의 이름과 방향, 양 끝 클래스, 카디널리티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관계 넷은 질문 셋이 건너가는 길을 따라 놓였고, 이 네 줄이 연결의 유효성을 가리는 기준이다.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60</a:t>
            </a:r>
          </a:p>
        </p:txBody>
      </p:sp>
      <p:sp>
        <p:nvSpPr>
          <p:cNvPr id="6" name="Rounded Rectangle 5"/>
          <p:cNvSpPr/>
          <p:nvPr/>
        </p:nvSpPr>
        <p:spPr>
          <a:xfrm>
            <a:off x="548640" y="2111375"/>
            <a:ext cx="6766560" cy="3759962"/>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248535"/>
            <a:ext cx="6400800" cy="3485642"/>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HAS_COMPONENT   Asset     -&gt; Component      1:N</a:t>
            </a:r>
          </a:p>
          <a:p>
            <a:pPr algn="l">
              <a:lnSpc>
                <a:spcPct val="110000"/>
              </a:lnSpc>
              <a:spcAft>
                <a:spcPts val="200"/>
              </a:spcAft>
            </a:pPr>
            <a:r>
              <a:rPr sz="1300" b="0">
                <a:solidFill>
                  <a:srgbClr val="E8EEF6"/>
                </a:solidFill>
                <a:latin typeface="Consolas"/>
                <a:ea typeface="맑은 고딕"/>
                <a:cs typeface="맑은 고딕"/>
              </a:rPr>
              <a:t>MONITORED_BY    Component -&gt; Sensor         N:M</a:t>
            </a:r>
          </a:p>
          <a:p>
            <a:pPr algn="l">
              <a:lnSpc>
                <a:spcPct val="110000"/>
              </a:lnSpc>
              <a:spcAft>
                <a:spcPts val="200"/>
              </a:spcAft>
            </a:pPr>
            <a:r>
              <a:rPr sz="1300" b="0">
                <a:solidFill>
                  <a:srgbClr val="E8EEF6"/>
                </a:solidFill>
                <a:latin typeface="Consolas"/>
                <a:ea typeface="맑은 고딕"/>
                <a:cs typeface="맑은 고딕"/>
              </a:rPr>
              <a:t>OBSERVES        Sensor    -&gt; StateVariable  N:1</a:t>
            </a:r>
          </a:p>
          <a:p>
            <a:pPr algn="l">
              <a:lnSpc>
                <a:spcPct val="110000"/>
              </a:lnSpc>
              <a:spcAft>
                <a:spcPts val="200"/>
              </a:spcAft>
            </a:pPr>
            <a:r>
              <a:rPr sz="1300" b="0">
                <a:solidFill>
                  <a:srgbClr val="E8EEF6"/>
                </a:solidFill>
                <a:latin typeface="Consolas"/>
                <a:ea typeface="맑은 고딕"/>
                <a:cs typeface="맑은 고딕"/>
              </a:rPr>
              <a:t>USES_PART       Component -&gt; Part           N:M</a:t>
            </a:r>
          </a:p>
        </p:txBody>
      </p:sp>
      <p:sp>
        <p:nvSpPr>
          <p:cNvPr id="8" name="TextBox 7"/>
          <p:cNvSpPr txBox="1"/>
          <p:nvPr/>
        </p:nvSpPr>
        <p:spPr>
          <a:xfrm>
            <a:off x="7635240" y="2111375"/>
            <a:ext cx="4007815" cy="125332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질문의 길</a:t>
            </a:r>
          </a:p>
          <a:p>
            <a:pPr algn="l">
              <a:lnSpc>
                <a:spcPct val="110000"/>
              </a:lnSpc>
              <a:spcAft>
                <a:spcPts val="400"/>
              </a:spcAft>
            </a:pPr>
            <a:r>
              <a:rPr sz="1400" b="0">
                <a:solidFill>
                  <a:srgbClr val="1F2A3A"/>
                </a:solidFill>
                <a:latin typeface="맑은 고딕"/>
                <a:ea typeface="맑은 고딕"/>
                <a:cs typeface="맑은 고딕"/>
              </a:rPr>
              <a:t>첫 질문은 설비에서 구성 요소를 거쳐 센서로, 둘째는 센서에서 상태 변수로, 셋째는 구성 요소에서 부품으로 건너간다.</a:t>
            </a:r>
          </a:p>
        </p:txBody>
      </p:sp>
      <p:sp>
        <p:nvSpPr>
          <p:cNvPr id="9" name="TextBox 8"/>
          <p:cNvSpPr txBox="1"/>
          <p:nvPr/>
        </p:nvSpPr>
        <p:spPr>
          <a:xfrm>
            <a:off x="7635240" y="3364695"/>
            <a:ext cx="4007815" cy="125332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양 끝</a:t>
            </a:r>
          </a:p>
          <a:p>
            <a:pPr algn="l">
              <a:lnSpc>
                <a:spcPct val="110000"/>
              </a:lnSpc>
              <a:spcAft>
                <a:spcPts val="400"/>
              </a:spcAft>
            </a:pPr>
            <a:r>
              <a:rPr sz="1400" b="0">
                <a:solidFill>
                  <a:srgbClr val="1F2A3A"/>
                </a:solidFill>
                <a:latin typeface="맑은 고딕"/>
                <a:ea typeface="맑은 고딕"/>
                <a:cs typeface="맑은 고딕"/>
              </a:rPr>
              <a:t>화살표 왼쪽이 시작 클래스이고 오른쪽이 끝 클래스이다.</a:t>
            </a:r>
          </a:p>
        </p:txBody>
      </p:sp>
      <p:sp>
        <p:nvSpPr>
          <p:cNvPr id="10" name="TextBox 9"/>
          <p:cNvSpPr txBox="1"/>
          <p:nvPr/>
        </p:nvSpPr>
        <p:spPr>
          <a:xfrm>
            <a:off x="7635240" y="4618016"/>
            <a:ext cx="4007815" cy="125332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카디널리티</a:t>
            </a:r>
          </a:p>
          <a:p>
            <a:pPr algn="l">
              <a:lnSpc>
                <a:spcPct val="110000"/>
              </a:lnSpc>
              <a:spcAft>
                <a:spcPts val="400"/>
              </a:spcAft>
            </a:pPr>
            <a:r>
              <a:rPr sz="1400" b="0">
                <a:solidFill>
                  <a:srgbClr val="1F2A3A"/>
                </a:solidFill>
                <a:latin typeface="맑은 고딕"/>
                <a:ea typeface="맑은 고딕"/>
                <a:cs typeface="맑은 고딕"/>
              </a:rPr>
              <a:t>구성 요소 하나를 여러 센서가 재고, 센서 하나가 여러 구성 요소를 잴 수 있으므로 MONITORED_BY는 다대다이다.</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완성된 스키마</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클래스 다섯과 속성, 관계 넷을 한데 놓은 것이 오일 쿨러 사례의 스키마이다.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61</a:t>
            </a:r>
          </a:p>
        </p:txBody>
      </p:sp>
      <p:pic>
        <p:nvPicPr>
          <p:cNvPr id="6" name="삽화:설계_4.svg" descr="illust_6107878652771261398_179171724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48380" y="2081467"/>
            <a:ext cx="185461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Asset</a:t>
            </a:r>
          </a:p>
        </p:txBody>
      </p:sp>
      <p:sp>
        <p:nvSpPr>
          <p:cNvPr id="8" name="TextBox 7"/>
          <p:cNvSpPr txBox="1"/>
          <p:nvPr/>
        </p:nvSpPr>
        <p:spPr>
          <a:xfrm>
            <a:off x="3723032" y="2081467"/>
            <a:ext cx="185461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Component</a:t>
            </a:r>
          </a:p>
        </p:txBody>
      </p:sp>
      <p:sp>
        <p:nvSpPr>
          <p:cNvPr id="9" name="TextBox 8"/>
          <p:cNvSpPr txBox="1"/>
          <p:nvPr/>
        </p:nvSpPr>
        <p:spPr>
          <a:xfrm>
            <a:off x="6597684" y="2081467"/>
            <a:ext cx="185461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Sensor</a:t>
            </a:r>
          </a:p>
        </p:txBody>
      </p:sp>
      <p:sp>
        <p:nvSpPr>
          <p:cNvPr id="10" name="TextBox 9"/>
          <p:cNvSpPr txBox="1"/>
          <p:nvPr/>
        </p:nvSpPr>
        <p:spPr>
          <a:xfrm>
            <a:off x="9466881" y="2081467"/>
            <a:ext cx="185461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StateVariable</a:t>
            </a:r>
          </a:p>
        </p:txBody>
      </p:sp>
      <p:sp>
        <p:nvSpPr>
          <p:cNvPr id="11" name="TextBox 10"/>
          <p:cNvSpPr txBox="1"/>
          <p:nvPr/>
        </p:nvSpPr>
        <p:spPr>
          <a:xfrm>
            <a:off x="3723032" y="4719382"/>
            <a:ext cx="185461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Part</a:t>
            </a:r>
          </a:p>
        </p:txBody>
      </p:sp>
      <p:sp>
        <p:nvSpPr>
          <p:cNvPr id="12" name="TextBox 11"/>
          <p:cNvSpPr txBox="1"/>
          <p:nvPr/>
        </p:nvSpPr>
        <p:spPr>
          <a:xfrm>
            <a:off x="902927" y="2573121"/>
            <a:ext cx="1745519"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id</a:t>
            </a:r>
          </a:p>
          <a:p>
            <a:pPr algn="ctr">
              <a:lnSpc>
                <a:spcPct val="110000"/>
              </a:lnSpc>
              <a:spcAft>
                <a:spcPts val="100"/>
              </a:spcAft>
            </a:pPr>
            <a:r>
              <a:rPr sz="1100" b="0">
                <a:solidFill>
                  <a:srgbClr val="556175"/>
                </a:solidFill>
                <a:latin typeface="맑은 고딕"/>
                <a:ea typeface="맑은 고딕"/>
                <a:cs typeface="맑은 고딕"/>
              </a:rPr>
              <a:t>name</a:t>
            </a:r>
          </a:p>
          <a:p>
            <a:pPr algn="ctr">
              <a:lnSpc>
                <a:spcPct val="110000"/>
              </a:lnSpc>
              <a:spcAft>
                <a:spcPts val="100"/>
              </a:spcAft>
            </a:pPr>
            <a:r>
              <a:rPr sz="1100" b="0">
                <a:solidFill>
                  <a:srgbClr val="556175"/>
                </a:solidFill>
                <a:latin typeface="맑은 고딕"/>
                <a:ea typeface="맑은 고딕"/>
                <a:cs typeface="맑은 고딕"/>
              </a:rPr>
              <a:t>code</a:t>
            </a:r>
          </a:p>
        </p:txBody>
      </p:sp>
      <p:sp>
        <p:nvSpPr>
          <p:cNvPr id="13" name="TextBox 12"/>
          <p:cNvSpPr txBox="1"/>
          <p:nvPr/>
        </p:nvSpPr>
        <p:spPr>
          <a:xfrm>
            <a:off x="3777579" y="2573121"/>
            <a:ext cx="1745519"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id</a:t>
            </a:r>
          </a:p>
          <a:p>
            <a:pPr algn="ctr">
              <a:lnSpc>
                <a:spcPct val="110000"/>
              </a:lnSpc>
              <a:spcAft>
                <a:spcPts val="100"/>
              </a:spcAft>
            </a:pPr>
            <a:r>
              <a:rPr sz="1100" b="0">
                <a:solidFill>
                  <a:srgbClr val="556175"/>
                </a:solidFill>
                <a:latin typeface="맑은 고딕"/>
                <a:ea typeface="맑은 고딕"/>
                <a:cs typeface="맑은 고딕"/>
              </a:rPr>
              <a:t>name</a:t>
            </a:r>
          </a:p>
          <a:p>
            <a:pPr algn="ctr">
              <a:lnSpc>
                <a:spcPct val="110000"/>
              </a:lnSpc>
              <a:spcAft>
                <a:spcPts val="100"/>
              </a:spcAft>
            </a:pPr>
            <a:r>
              <a:rPr sz="1100" b="0">
                <a:solidFill>
                  <a:srgbClr val="556175"/>
                </a:solidFill>
                <a:latin typeface="맑은 고딕"/>
                <a:ea typeface="맑은 고딕"/>
                <a:cs typeface="맑은 고딕"/>
              </a:rPr>
              <a:t>aliases</a:t>
            </a:r>
          </a:p>
        </p:txBody>
      </p:sp>
      <p:sp>
        <p:nvSpPr>
          <p:cNvPr id="14" name="TextBox 13"/>
          <p:cNvSpPr txBox="1"/>
          <p:nvPr/>
        </p:nvSpPr>
        <p:spPr>
          <a:xfrm>
            <a:off x="6652231" y="2573121"/>
            <a:ext cx="1745519" cy="848487"/>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id</a:t>
            </a:r>
          </a:p>
          <a:p>
            <a:pPr algn="ctr">
              <a:lnSpc>
                <a:spcPct val="110000"/>
              </a:lnSpc>
              <a:spcAft>
                <a:spcPts val="100"/>
              </a:spcAft>
            </a:pPr>
            <a:r>
              <a:rPr sz="1100" b="0">
                <a:solidFill>
                  <a:srgbClr val="556175"/>
                </a:solidFill>
                <a:latin typeface="맑은 고딕"/>
                <a:ea typeface="맑은 고딕"/>
                <a:cs typeface="맑은 고딕"/>
              </a:rPr>
              <a:t>name</a:t>
            </a:r>
          </a:p>
          <a:p>
            <a:pPr algn="ctr">
              <a:lnSpc>
                <a:spcPct val="110000"/>
              </a:lnSpc>
              <a:spcAft>
                <a:spcPts val="100"/>
              </a:spcAft>
            </a:pPr>
            <a:r>
              <a:rPr sz="1100" b="0">
                <a:solidFill>
                  <a:srgbClr val="556175"/>
                </a:solidFill>
                <a:latin typeface="맑은 고딕"/>
                <a:ea typeface="맑은 고딕"/>
                <a:cs typeface="맑은 고딕"/>
              </a:rPr>
              <a:t>tag</a:t>
            </a:r>
          </a:p>
          <a:p>
            <a:pPr algn="ctr">
              <a:lnSpc>
                <a:spcPct val="110000"/>
              </a:lnSpc>
              <a:spcAft>
                <a:spcPts val="100"/>
              </a:spcAft>
            </a:pPr>
            <a:r>
              <a:rPr sz="1100" b="0">
                <a:solidFill>
                  <a:srgbClr val="556175"/>
                </a:solidFill>
                <a:latin typeface="맑은 고딕"/>
                <a:ea typeface="맑은 고딕"/>
                <a:cs typeface="맑은 고딕"/>
              </a:rPr>
              <a:t>unit</a:t>
            </a:r>
          </a:p>
        </p:txBody>
      </p:sp>
      <p:sp>
        <p:nvSpPr>
          <p:cNvPr id="15" name="TextBox 14"/>
          <p:cNvSpPr txBox="1"/>
          <p:nvPr/>
        </p:nvSpPr>
        <p:spPr>
          <a:xfrm>
            <a:off x="9521429" y="2573121"/>
            <a:ext cx="1745519" cy="848487"/>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id</a:t>
            </a:r>
          </a:p>
          <a:p>
            <a:pPr algn="ctr">
              <a:lnSpc>
                <a:spcPct val="110000"/>
              </a:lnSpc>
              <a:spcAft>
                <a:spcPts val="100"/>
              </a:spcAft>
            </a:pPr>
            <a:r>
              <a:rPr sz="1100" b="0">
                <a:solidFill>
                  <a:srgbClr val="556175"/>
                </a:solidFill>
                <a:latin typeface="맑은 고딕"/>
                <a:ea typeface="맑은 고딕"/>
                <a:cs typeface="맑은 고딕"/>
              </a:rPr>
              <a:t>name</a:t>
            </a:r>
          </a:p>
          <a:p>
            <a:pPr algn="ctr">
              <a:lnSpc>
                <a:spcPct val="110000"/>
              </a:lnSpc>
              <a:spcAft>
                <a:spcPts val="100"/>
              </a:spcAft>
            </a:pPr>
            <a:r>
              <a:rPr sz="1100" b="0">
                <a:solidFill>
                  <a:srgbClr val="556175"/>
                </a:solidFill>
                <a:latin typeface="맑은 고딕"/>
                <a:ea typeface="맑은 고딕"/>
                <a:cs typeface="맑은 고딕"/>
              </a:rPr>
              <a:t>unit</a:t>
            </a:r>
          </a:p>
          <a:p>
            <a:pPr algn="ctr">
              <a:lnSpc>
                <a:spcPct val="110000"/>
              </a:lnSpc>
              <a:spcAft>
                <a:spcPts val="100"/>
              </a:spcAft>
            </a:pPr>
            <a:r>
              <a:rPr sz="1100" b="0">
                <a:solidFill>
                  <a:srgbClr val="556175"/>
                </a:solidFill>
                <a:latin typeface="맑은 고딕"/>
                <a:ea typeface="맑은 고딕"/>
                <a:cs typeface="맑은 고딕"/>
              </a:rPr>
              <a:t>limit</a:t>
            </a:r>
          </a:p>
        </p:txBody>
      </p:sp>
      <p:sp>
        <p:nvSpPr>
          <p:cNvPr id="16" name="TextBox 15"/>
          <p:cNvSpPr txBox="1"/>
          <p:nvPr/>
        </p:nvSpPr>
        <p:spPr>
          <a:xfrm>
            <a:off x="3777579" y="5211037"/>
            <a:ext cx="1745519"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id</a:t>
            </a:r>
          </a:p>
          <a:p>
            <a:pPr algn="ctr">
              <a:lnSpc>
                <a:spcPct val="110000"/>
              </a:lnSpc>
              <a:spcAft>
                <a:spcPts val="100"/>
              </a:spcAft>
            </a:pPr>
            <a:r>
              <a:rPr sz="1100" b="0">
                <a:solidFill>
                  <a:srgbClr val="556175"/>
                </a:solidFill>
                <a:latin typeface="맑은 고딕"/>
                <a:ea typeface="맑은 고딕"/>
                <a:cs typeface="맑은 고딕"/>
              </a:rPr>
              <a:t>name</a:t>
            </a:r>
          </a:p>
          <a:p>
            <a:pPr algn="ctr">
              <a:lnSpc>
                <a:spcPct val="110000"/>
              </a:lnSpc>
              <a:spcAft>
                <a:spcPts val="100"/>
              </a:spcAft>
            </a:pPr>
            <a:r>
              <a:rPr sz="1100" b="0">
                <a:solidFill>
                  <a:srgbClr val="556175"/>
                </a:solidFill>
                <a:latin typeface="맑은 고딕"/>
                <a:ea typeface="맑은 고딕"/>
                <a:cs typeface="맑은 고딕"/>
              </a:rPr>
              <a:t>partNo</a:t>
            </a:r>
          </a:p>
        </p:txBody>
      </p:sp>
      <p:sp>
        <p:nvSpPr>
          <p:cNvPr id="17" name="TextBox 16"/>
          <p:cNvSpPr txBox="1"/>
          <p:nvPr/>
        </p:nvSpPr>
        <p:spPr>
          <a:xfrm>
            <a:off x="2342981" y="3589522"/>
            <a:ext cx="174551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HAS_COMPONENT</a:t>
            </a:r>
          </a:p>
        </p:txBody>
      </p:sp>
      <p:sp>
        <p:nvSpPr>
          <p:cNvPr id="18" name="TextBox 17"/>
          <p:cNvSpPr txBox="1"/>
          <p:nvPr/>
        </p:nvSpPr>
        <p:spPr>
          <a:xfrm>
            <a:off x="5266725" y="3589522"/>
            <a:ext cx="163642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MONITORED_BY</a:t>
            </a:r>
          </a:p>
        </p:txBody>
      </p:sp>
      <p:sp>
        <p:nvSpPr>
          <p:cNvPr id="19" name="TextBox 18"/>
          <p:cNvSpPr txBox="1"/>
          <p:nvPr/>
        </p:nvSpPr>
        <p:spPr>
          <a:xfrm>
            <a:off x="8195925" y="3589522"/>
            <a:ext cx="152732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OBSERVES</a:t>
            </a:r>
          </a:p>
        </p:txBody>
      </p:sp>
      <p:sp>
        <p:nvSpPr>
          <p:cNvPr id="20" name="TextBox 19"/>
          <p:cNvSpPr txBox="1"/>
          <p:nvPr/>
        </p:nvSpPr>
        <p:spPr>
          <a:xfrm>
            <a:off x="4786708" y="4109542"/>
            <a:ext cx="120004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USES_PART</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예시 인스턴스를 넣는다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스키마에 맞춰 예시 인스턴스와 그 사이의 관계를 넣는다.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62</a:t>
            </a:r>
          </a:p>
        </p:txBody>
      </p:sp>
      <p:pic>
        <p:nvPicPr>
          <p:cNvPr id="6" name="삽화:예시인스턴스.svg" descr="illust_5936388392056715892_179171724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022932" y="2289474"/>
            <a:ext cx="196370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HYD-01</a:t>
            </a:r>
          </a:p>
          <a:p>
            <a:pPr algn="ctr">
              <a:lnSpc>
                <a:spcPct val="110000"/>
              </a:lnSpc>
              <a:spcAft>
                <a:spcPts val="100"/>
              </a:spcAft>
            </a:pPr>
            <a:r>
              <a:rPr sz="1100" b="0">
                <a:solidFill>
                  <a:srgbClr val="556175"/>
                </a:solidFill>
                <a:latin typeface="맑은 고딕"/>
                <a:ea typeface="맑은 고딕"/>
                <a:cs typeface="맑은 고딕"/>
              </a:rPr>
              <a:t>Asset</a:t>
            </a:r>
          </a:p>
        </p:txBody>
      </p:sp>
      <p:sp>
        <p:nvSpPr>
          <p:cNvPr id="8" name="TextBox 7"/>
          <p:cNvSpPr txBox="1"/>
          <p:nvPr/>
        </p:nvSpPr>
        <p:spPr>
          <a:xfrm>
            <a:off x="3750306" y="2289474"/>
            <a:ext cx="196370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오일 쿨러</a:t>
            </a:r>
          </a:p>
          <a:p>
            <a:pPr algn="ctr">
              <a:lnSpc>
                <a:spcPct val="110000"/>
              </a:lnSpc>
              <a:spcAft>
                <a:spcPts val="100"/>
              </a:spcAft>
            </a:pPr>
            <a:r>
              <a:rPr sz="1100" b="0">
                <a:solidFill>
                  <a:srgbClr val="556175"/>
                </a:solidFill>
                <a:latin typeface="맑은 고딕"/>
                <a:ea typeface="맑은 고딕"/>
                <a:cs typeface="맑은 고딕"/>
              </a:rPr>
              <a:t>Component</a:t>
            </a:r>
          </a:p>
        </p:txBody>
      </p:sp>
      <p:sp>
        <p:nvSpPr>
          <p:cNvPr id="9" name="TextBox 8"/>
          <p:cNvSpPr txBox="1"/>
          <p:nvPr/>
        </p:nvSpPr>
        <p:spPr>
          <a:xfrm>
            <a:off x="6368584" y="2289474"/>
            <a:ext cx="218189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유온 센서</a:t>
            </a:r>
          </a:p>
          <a:p>
            <a:pPr algn="ctr">
              <a:lnSpc>
                <a:spcPct val="110000"/>
              </a:lnSpc>
              <a:spcAft>
                <a:spcPts val="100"/>
              </a:spcAft>
            </a:pPr>
            <a:r>
              <a:rPr sz="1100" b="0">
                <a:solidFill>
                  <a:srgbClr val="556175"/>
                </a:solidFill>
                <a:latin typeface="맑은 고딕"/>
                <a:ea typeface="맑은 고딕"/>
                <a:cs typeface="맑은 고딕"/>
              </a:rPr>
              <a:t>Sensor · tag: TS1</a:t>
            </a:r>
          </a:p>
        </p:txBody>
      </p:sp>
      <p:sp>
        <p:nvSpPr>
          <p:cNvPr id="10" name="TextBox 9"/>
          <p:cNvSpPr txBox="1"/>
          <p:nvPr/>
        </p:nvSpPr>
        <p:spPr>
          <a:xfrm>
            <a:off x="8986863" y="2289474"/>
            <a:ext cx="2400088"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유온</a:t>
            </a:r>
          </a:p>
          <a:p>
            <a:pPr algn="ctr">
              <a:lnSpc>
                <a:spcPct val="110000"/>
              </a:lnSpc>
              <a:spcAft>
                <a:spcPts val="100"/>
              </a:spcAft>
            </a:pPr>
            <a:r>
              <a:rPr sz="1100" b="0">
                <a:solidFill>
                  <a:srgbClr val="556175"/>
                </a:solidFill>
                <a:latin typeface="맑은 고딕"/>
                <a:ea typeface="맑은 고딕"/>
                <a:cs typeface="맑은 고딕"/>
              </a:rPr>
              <a:t>StateVariable · limit: 65</a:t>
            </a:r>
          </a:p>
        </p:txBody>
      </p:sp>
      <p:sp>
        <p:nvSpPr>
          <p:cNvPr id="11" name="TextBox 10"/>
          <p:cNvSpPr txBox="1"/>
          <p:nvPr/>
        </p:nvSpPr>
        <p:spPr>
          <a:xfrm>
            <a:off x="2277524" y="3565885"/>
            <a:ext cx="218189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HAS_COMPONENT</a:t>
            </a:r>
          </a:p>
        </p:txBody>
      </p:sp>
      <p:sp>
        <p:nvSpPr>
          <p:cNvPr id="12" name="TextBox 11"/>
          <p:cNvSpPr txBox="1"/>
          <p:nvPr/>
        </p:nvSpPr>
        <p:spPr>
          <a:xfrm>
            <a:off x="5113993" y="3565885"/>
            <a:ext cx="196370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MONITORED_BY</a:t>
            </a:r>
          </a:p>
        </p:txBody>
      </p:sp>
      <p:sp>
        <p:nvSpPr>
          <p:cNvPr id="13" name="TextBox 12"/>
          <p:cNvSpPr txBox="1"/>
          <p:nvPr/>
        </p:nvSpPr>
        <p:spPr>
          <a:xfrm>
            <a:off x="8059556" y="3565885"/>
            <a:ext cx="152732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OBSERVES</a:t>
            </a:r>
          </a:p>
        </p:txBody>
      </p:sp>
      <p:sp>
        <p:nvSpPr>
          <p:cNvPr id="14" name="TextBox 13"/>
          <p:cNvSpPr txBox="1"/>
          <p:nvPr/>
        </p:nvSpPr>
        <p:spPr>
          <a:xfrm>
            <a:off x="4841255" y="4393189"/>
            <a:ext cx="130913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USES_PART</a:t>
            </a:r>
          </a:p>
        </p:txBody>
      </p:sp>
      <p:sp>
        <p:nvSpPr>
          <p:cNvPr id="15" name="TextBox 14"/>
          <p:cNvSpPr txBox="1"/>
          <p:nvPr/>
        </p:nvSpPr>
        <p:spPr>
          <a:xfrm>
            <a:off x="5386730" y="5338678"/>
            <a:ext cx="152732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쿨러 코어</a:t>
            </a:r>
          </a:p>
          <a:p>
            <a:pPr algn="ctr">
              <a:lnSpc>
                <a:spcPct val="110000"/>
              </a:lnSpc>
              <a:spcAft>
                <a:spcPts val="100"/>
              </a:spcAft>
            </a:pPr>
            <a:r>
              <a:rPr sz="1100" b="0">
                <a:solidFill>
                  <a:srgbClr val="556175"/>
                </a:solidFill>
                <a:latin typeface="맑은 고딕"/>
                <a:ea typeface="맑은 고딕"/>
                <a:cs typeface="맑은 고딕"/>
              </a:rPr>
              <a:t>Part</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처음의 질문에 답이 나오는지 확인한다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관계를 따라가 처음에 적은 질문의 답이 나오면 스키마가 제 구실을 하는 것이다.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63</a:t>
            </a:r>
          </a:p>
        </p:txBody>
      </p:sp>
      <p:sp>
        <p:nvSpPr>
          <p:cNvPr id="6" name="Rounded Rectangle 5"/>
          <p:cNvSpPr/>
          <p:nvPr/>
        </p:nvSpPr>
        <p:spPr>
          <a:xfrm>
            <a:off x="548640" y="2394013"/>
            <a:ext cx="2485567" cy="3194684"/>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576893"/>
            <a:ext cx="731520" cy="731520"/>
          </a:xfrm>
          <a:prstGeom prst="ellipse">
            <a:avLst/>
          </a:prstGeom>
          <a:solidFill>
            <a:srgbClr val="FFFFFF"/>
          </a:solidFill>
          <a:ln>
            <a:noFill/>
          </a:ln>
        </p:spPr>
        <p:txBody>
          <a:bodyPr rtlCol="0" anchor="ctr"/>
          <a:lstStyle/>
          <a:p>
            <a:pPr algn="ctr"/>
          </a:p>
        </p:txBody>
      </p:sp>
      <p:pic>
        <p:nvPicPr>
          <p:cNvPr id="8" name="아이콘:engine" descr="engine_13294B_1.6.png"/>
          <p:cNvPicPr>
            <a:picLocks noChangeAspect="1"/>
          </p:cNvPicPr>
          <p:nvPr/>
        </p:nvPicPr>
        <p:blipFill>
          <a:blip r:embed="rId3"/>
          <a:stretch>
            <a:fillRect/>
          </a:stretch>
        </p:blipFill>
        <p:spPr>
          <a:xfrm>
            <a:off x="1579283" y="2730512"/>
            <a:ext cx="424281" cy="424281"/>
          </a:xfrm>
          <a:prstGeom prst="rect">
            <a:avLst/>
          </a:prstGeom>
        </p:spPr>
      </p:pic>
      <p:sp>
        <p:nvSpPr>
          <p:cNvPr id="9" name="TextBox 8"/>
          <p:cNvSpPr txBox="1"/>
          <p:nvPr/>
        </p:nvSpPr>
        <p:spPr>
          <a:xfrm>
            <a:off x="621792" y="3381565"/>
            <a:ext cx="2339263" cy="2133980"/>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HYD-01</a:t>
            </a:r>
          </a:p>
          <a:p>
            <a:pPr algn="ctr">
              <a:lnSpc>
                <a:spcPct val="110000"/>
              </a:lnSpc>
              <a:spcAft>
                <a:spcPts val="400"/>
              </a:spcAft>
            </a:pPr>
            <a:r>
              <a:rPr sz="1350" b="0">
                <a:solidFill>
                  <a:srgbClr val="1F2A3A"/>
                </a:solidFill>
                <a:latin typeface="맑은 고딕"/>
                <a:ea typeface="맑은 고딕"/>
                <a:cs typeface="맑은 고딕"/>
              </a:rPr>
              <a:t>설비에서</a:t>
            </a:r>
          </a:p>
          <a:p>
            <a:pPr algn="ctr">
              <a:lnSpc>
                <a:spcPct val="110000"/>
              </a:lnSpc>
              <a:spcAft>
                <a:spcPts val="400"/>
              </a:spcAft>
            </a:pPr>
            <a:r>
              <a:rPr sz="1350" b="0">
                <a:solidFill>
                  <a:srgbClr val="1F2A3A"/>
                </a:solidFill>
                <a:latin typeface="맑은 고딕"/>
                <a:ea typeface="맑은 고딕"/>
                <a:cs typeface="맑은 고딕"/>
              </a:rPr>
              <a:t>출발한다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394013"/>
            <a:ext cx="2485567" cy="3194684"/>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576893"/>
            <a:ext cx="731520" cy="731520"/>
          </a:xfrm>
          <a:prstGeom prst="ellipse">
            <a:avLst/>
          </a:prstGeom>
          <a:solidFill>
            <a:srgbClr val="FFFFFF"/>
          </a:solidFill>
          <a:ln>
            <a:noFill/>
          </a:ln>
        </p:spPr>
        <p:txBody>
          <a:bodyPr rtlCol="0" anchor="ctr"/>
          <a:lstStyle/>
          <a:p>
            <a:pPr algn="ctr"/>
          </a:p>
        </p:txBody>
      </p:sp>
      <p:pic>
        <p:nvPicPr>
          <p:cNvPr id="13" name="아이콘:snowflake" descr="snowflake_13294B_1.6.png"/>
          <p:cNvPicPr>
            <a:picLocks noChangeAspect="1"/>
          </p:cNvPicPr>
          <p:nvPr/>
        </p:nvPicPr>
        <p:blipFill>
          <a:blip r:embed="rId4"/>
          <a:stretch>
            <a:fillRect/>
          </a:stretch>
        </p:blipFill>
        <p:spPr>
          <a:xfrm>
            <a:off x="4448898" y="2730512"/>
            <a:ext cx="424281" cy="424281"/>
          </a:xfrm>
          <a:prstGeom prst="rect">
            <a:avLst/>
          </a:prstGeom>
        </p:spPr>
      </p:pic>
      <p:sp>
        <p:nvSpPr>
          <p:cNvPr id="14" name="TextBox 13"/>
          <p:cNvSpPr txBox="1"/>
          <p:nvPr/>
        </p:nvSpPr>
        <p:spPr>
          <a:xfrm>
            <a:off x="3491407" y="3381565"/>
            <a:ext cx="2339263" cy="2133980"/>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오일 쿨러</a:t>
            </a:r>
          </a:p>
          <a:p>
            <a:pPr algn="ctr">
              <a:lnSpc>
                <a:spcPct val="110000"/>
              </a:lnSpc>
              <a:spcAft>
                <a:spcPts val="400"/>
              </a:spcAft>
            </a:pPr>
            <a:r>
              <a:rPr sz="1350" b="0">
                <a:solidFill>
                  <a:srgbClr val="1F2A3A"/>
                </a:solidFill>
                <a:latin typeface="맑은 고딕"/>
                <a:ea typeface="맑은 고딕"/>
                <a:cs typeface="맑은 고딕"/>
              </a:rPr>
              <a:t>HAS_COMPONENT를</a:t>
            </a:r>
          </a:p>
          <a:p>
            <a:pPr algn="ctr">
              <a:lnSpc>
                <a:spcPct val="110000"/>
              </a:lnSpc>
              <a:spcAft>
                <a:spcPts val="400"/>
              </a:spcAft>
            </a:pPr>
            <a:r>
              <a:rPr sz="1350" b="0">
                <a:solidFill>
                  <a:srgbClr val="1F2A3A"/>
                </a:solidFill>
                <a:latin typeface="맑은 고딕"/>
                <a:ea typeface="맑은 고딕"/>
                <a:cs typeface="맑은 고딕"/>
              </a:rPr>
              <a:t>따라간다</a:t>
            </a:r>
          </a:p>
          <a:p>
            <a:pPr algn="ctr">
              <a:lnSpc>
                <a:spcPct val="110000"/>
              </a:lnSpc>
              <a:spcAft>
                <a:spcPts val="400"/>
              </a:spcAft>
            </a:pPr>
            <a:r>
              <a:rPr sz="1350" b="0">
                <a:solidFill>
                  <a:srgbClr val="1F2A3A"/>
                </a:solidFill>
                <a:latin typeface="맑은 고딕"/>
                <a:ea typeface="맑은 고딕"/>
                <a:cs typeface="맑은 고딕"/>
              </a:rPr>
              <a:t>USES_PART로는 쿨러 코어:</a:t>
            </a:r>
          </a:p>
          <a:p>
            <a:pPr algn="ctr">
              <a:lnSpc>
                <a:spcPct val="110000"/>
              </a:lnSpc>
              <a:spcAft>
                <a:spcPts val="400"/>
              </a:spcAft>
            </a:pPr>
            <a:r>
              <a:rPr sz="1350" b="0">
                <a:solidFill>
                  <a:srgbClr val="1F2A3A"/>
                </a:solidFill>
                <a:latin typeface="맑은 고딕"/>
                <a:ea typeface="맑은 고딕"/>
                <a:cs typeface="맑은 고딕"/>
              </a:rPr>
              <a:t>질문 3의 답</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394013"/>
            <a:ext cx="2485567" cy="3194684"/>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576893"/>
            <a:ext cx="731520" cy="731520"/>
          </a:xfrm>
          <a:prstGeom prst="ellipse">
            <a:avLst/>
          </a:prstGeom>
          <a:solidFill>
            <a:srgbClr val="FFFFFF"/>
          </a:solidFill>
          <a:ln>
            <a:noFill/>
          </a:ln>
        </p:spPr>
        <p:txBody>
          <a:bodyPr rtlCol="0" anchor="ctr"/>
          <a:lstStyle/>
          <a:p>
            <a:pPr algn="ctr"/>
          </a:p>
        </p:txBody>
      </p:sp>
      <p:pic>
        <p:nvPicPr>
          <p:cNvPr id="18" name="아이콘:gauge" descr="gauge_13294B_1.6.png"/>
          <p:cNvPicPr>
            <a:picLocks noChangeAspect="1"/>
          </p:cNvPicPr>
          <p:nvPr/>
        </p:nvPicPr>
        <p:blipFill>
          <a:blip r:embed="rId5"/>
          <a:stretch>
            <a:fillRect/>
          </a:stretch>
        </p:blipFill>
        <p:spPr>
          <a:xfrm>
            <a:off x="7318514" y="2730512"/>
            <a:ext cx="424281" cy="424281"/>
          </a:xfrm>
          <a:prstGeom prst="rect">
            <a:avLst/>
          </a:prstGeom>
        </p:spPr>
      </p:pic>
      <p:sp>
        <p:nvSpPr>
          <p:cNvPr id="19" name="TextBox 18"/>
          <p:cNvSpPr txBox="1"/>
          <p:nvPr/>
        </p:nvSpPr>
        <p:spPr>
          <a:xfrm>
            <a:off x="6361023" y="3381565"/>
            <a:ext cx="2339263" cy="2133980"/>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유온 센서 TS1</a:t>
            </a:r>
          </a:p>
          <a:p>
            <a:pPr algn="ctr">
              <a:lnSpc>
                <a:spcPct val="110000"/>
              </a:lnSpc>
              <a:spcAft>
                <a:spcPts val="400"/>
              </a:spcAft>
            </a:pPr>
            <a:r>
              <a:rPr sz="1350" b="0">
                <a:solidFill>
                  <a:srgbClr val="1F2A3A"/>
                </a:solidFill>
                <a:latin typeface="맑은 고딕"/>
                <a:ea typeface="맑은 고딕"/>
                <a:cs typeface="맑은 고딕"/>
              </a:rPr>
              <a:t>MONITORED_BY를</a:t>
            </a:r>
          </a:p>
          <a:p>
            <a:pPr algn="ctr">
              <a:lnSpc>
                <a:spcPct val="110000"/>
              </a:lnSpc>
              <a:spcAft>
                <a:spcPts val="400"/>
              </a:spcAft>
            </a:pPr>
            <a:r>
              <a:rPr sz="1350" b="0">
                <a:solidFill>
                  <a:srgbClr val="1F2A3A"/>
                </a:solidFill>
                <a:latin typeface="맑은 고딕"/>
                <a:ea typeface="맑은 고딕"/>
                <a:cs typeface="맑은 고딕"/>
              </a:rPr>
              <a:t>따라간다</a:t>
            </a:r>
          </a:p>
          <a:p>
            <a:pPr algn="ctr">
              <a:lnSpc>
                <a:spcPct val="110000"/>
              </a:lnSpc>
              <a:spcAft>
                <a:spcPts val="400"/>
              </a:spcAft>
            </a:pPr>
            <a:r>
              <a:rPr sz="1350" b="0">
                <a:solidFill>
                  <a:srgbClr val="1F2A3A"/>
                </a:solidFill>
                <a:latin typeface="맑은 고딕"/>
                <a:ea typeface="맑은 고딕"/>
                <a:cs typeface="맑은 고딕"/>
              </a:rPr>
              <a:t>질문 1의 답</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394013"/>
            <a:ext cx="2485567" cy="3194684"/>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576893"/>
            <a:ext cx="731520" cy="731520"/>
          </a:xfrm>
          <a:prstGeom prst="ellipse">
            <a:avLst/>
          </a:prstGeom>
          <a:solidFill>
            <a:srgbClr val="5CB8F2"/>
          </a:solidFill>
          <a:ln>
            <a:noFill/>
          </a:ln>
        </p:spPr>
        <p:txBody>
          <a:bodyPr rtlCol="0" anchor="ctr"/>
          <a:lstStyle/>
          <a:p>
            <a:pPr algn="ctr"/>
          </a:p>
        </p:txBody>
      </p:sp>
      <p:pic>
        <p:nvPicPr>
          <p:cNvPr id="23" name="아이콘:temperature" descr="temperature_13294B_1.6.png"/>
          <p:cNvPicPr>
            <a:picLocks noChangeAspect="1"/>
          </p:cNvPicPr>
          <p:nvPr/>
        </p:nvPicPr>
        <p:blipFill>
          <a:blip r:embed="rId6"/>
          <a:stretch>
            <a:fillRect/>
          </a:stretch>
        </p:blipFill>
        <p:spPr>
          <a:xfrm>
            <a:off x="10188130" y="2730512"/>
            <a:ext cx="424281" cy="424281"/>
          </a:xfrm>
          <a:prstGeom prst="rect">
            <a:avLst/>
          </a:prstGeom>
        </p:spPr>
      </p:pic>
      <p:sp>
        <p:nvSpPr>
          <p:cNvPr id="24" name="TextBox 23"/>
          <p:cNvSpPr txBox="1"/>
          <p:nvPr/>
        </p:nvSpPr>
        <p:spPr>
          <a:xfrm>
            <a:off x="9230639" y="3381565"/>
            <a:ext cx="2339263" cy="2133980"/>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유온의 한계 65</a:t>
            </a:r>
          </a:p>
          <a:p>
            <a:pPr algn="ctr">
              <a:lnSpc>
                <a:spcPct val="110000"/>
              </a:lnSpc>
              <a:spcAft>
                <a:spcPts val="400"/>
              </a:spcAft>
            </a:pPr>
            <a:r>
              <a:rPr sz="1350" b="0">
                <a:solidFill>
                  <a:srgbClr val="1F2A3A"/>
                </a:solidFill>
                <a:latin typeface="맑은 고딕"/>
                <a:ea typeface="맑은 고딕"/>
                <a:cs typeface="맑은 고딕"/>
              </a:rPr>
              <a:t>OBSERVES를</a:t>
            </a:r>
          </a:p>
          <a:p>
            <a:pPr algn="ctr">
              <a:lnSpc>
                <a:spcPct val="110000"/>
              </a:lnSpc>
              <a:spcAft>
                <a:spcPts val="400"/>
              </a:spcAft>
            </a:pPr>
            <a:r>
              <a:rPr sz="1350" b="0">
                <a:solidFill>
                  <a:srgbClr val="1F2A3A"/>
                </a:solidFill>
                <a:latin typeface="맑은 고딕"/>
                <a:ea typeface="맑은 고딕"/>
                <a:cs typeface="맑은 고딕"/>
              </a:rPr>
              <a:t>따라간다</a:t>
            </a:r>
          </a:p>
          <a:p>
            <a:pPr algn="ctr">
              <a:lnSpc>
                <a:spcPct val="110000"/>
              </a:lnSpc>
              <a:spcAft>
                <a:spcPts val="400"/>
              </a:spcAft>
            </a:pPr>
            <a:r>
              <a:rPr sz="1350" b="0">
                <a:solidFill>
                  <a:srgbClr val="1F2A3A"/>
                </a:solidFill>
                <a:latin typeface="맑은 고딕"/>
                <a:ea typeface="맑은 고딕"/>
                <a:cs typeface="맑은 고딕"/>
              </a:rPr>
              <a:t>질문 2의 답</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질문이 늘 때: 스키마를 넓힌다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새 질문에 답할 수 없으면 빠진 클래스와 관계를 찾아 스키마에 더한다.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64</a:t>
            </a:r>
          </a:p>
        </p:txBody>
      </p:sp>
      <p:sp>
        <p:nvSpPr>
          <p:cNvPr id="6" name="Rounded Rectangle 5"/>
          <p:cNvSpPr/>
          <p:nvPr/>
        </p:nvSpPr>
        <p:spPr>
          <a:xfrm>
            <a:off x="548640" y="2603182"/>
            <a:ext cx="3442106" cy="2776346"/>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903933" y="2786062"/>
            <a:ext cx="731520" cy="731520"/>
          </a:xfrm>
          <a:prstGeom prst="ellipse">
            <a:avLst/>
          </a:prstGeom>
          <a:solidFill>
            <a:srgbClr val="FFFFFF"/>
          </a:solidFill>
          <a:ln>
            <a:noFill/>
          </a:ln>
        </p:spPr>
        <p:txBody>
          <a:bodyPr rtlCol="0" anchor="ctr"/>
          <a:lstStyle/>
          <a:p>
            <a:pPr algn="ctr"/>
          </a:p>
        </p:txBody>
      </p:sp>
      <p:pic>
        <p:nvPicPr>
          <p:cNvPr id="8" name="아이콘:help-circle" descr="help-circle_13294B_1.6.png"/>
          <p:cNvPicPr>
            <a:picLocks noChangeAspect="1"/>
          </p:cNvPicPr>
          <p:nvPr/>
        </p:nvPicPr>
        <p:blipFill>
          <a:blip r:embed="rId3"/>
          <a:stretch>
            <a:fillRect/>
          </a:stretch>
        </p:blipFill>
        <p:spPr>
          <a:xfrm>
            <a:off x="2057552" y="2939681"/>
            <a:ext cx="424281" cy="424281"/>
          </a:xfrm>
          <a:prstGeom prst="rect">
            <a:avLst/>
          </a:prstGeom>
        </p:spPr>
      </p:pic>
      <p:sp>
        <p:nvSpPr>
          <p:cNvPr id="9" name="TextBox 8"/>
          <p:cNvSpPr txBox="1"/>
          <p:nvPr/>
        </p:nvSpPr>
        <p:spPr>
          <a:xfrm>
            <a:off x="621792" y="3590734"/>
            <a:ext cx="3295802"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새 질문</a:t>
            </a:r>
          </a:p>
          <a:p>
            <a:pPr algn="ctr">
              <a:lnSpc>
                <a:spcPct val="110000"/>
              </a:lnSpc>
              <a:spcAft>
                <a:spcPts val="400"/>
              </a:spcAft>
            </a:pPr>
            <a:r>
              <a:rPr sz="1350" b="0">
                <a:solidFill>
                  <a:srgbClr val="1F2A3A"/>
                </a:solidFill>
                <a:latin typeface="맑은 고딕"/>
                <a:ea typeface="맑은 고딕"/>
                <a:cs typeface="맑은 고딕"/>
              </a:rPr>
              <a:t>쿨러 코어를</a:t>
            </a:r>
          </a:p>
          <a:p>
            <a:pPr algn="ctr">
              <a:lnSpc>
                <a:spcPct val="110000"/>
              </a:lnSpc>
              <a:spcAft>
                <a:spcPts val="400"/>
              </a:spcAft>
            </a:pPr>
            <a:r>
              <a:rPr sz="1350" b="0">
                <a:solidFill>
                  <a:srgbClr val="1F2A3A"/>
                </a:solidFill>
                <a:latin typeface="맑은 고딕"/>
                <a:ea typeface="맑은 고딕"/>
                <a:cs typeface="맑은 고딕"/>
              </a:rPr>
              <a:t>공급하는 곳은</a:t>
            </a:r>
          </a:p>
          <a:p>
            <a:pPr algn="ctr">
              <a:lnSpc>
                <a:spcPct val="110000"/>
              </a:lnSpc>
              <a:spcAft>
                <a:spcPts val="400"/>
              </a:spcAft>
            </a:pPr>
            <a:r>
              <a:rPr sz="1350" b="0">
                <a:solidFill>
                  <a:srgbClr val="1F2A3A"/>
                </a:solidFill>
                <a:latin typeface="맑은 고딕"/>
                <a:ea typeface="맑은 고딕"/>
                <a:cs typeface="맑은 고딕"/>
              </a:rPr>
              <a:t>어디인가</a:t>
            </a:r>
          </a:p>
        </p:txBody>
      </p:sp>
      <p:sp>
        <p:nvSpPr>
          <p:cNvPr id="10" name="Right Arrow 9"/>
          <p:cNvSpPr/>
          <p:nvPr/>
        </p:nvSpPr>
        <p:spPr>
          <a:xfrm>
            <a:off x="4054754"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4374794" y="2603182"/>
            <a:ext cx="3442106" cy="2776346"/>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5730087" y="2786062"/>
            <a:ext cx="731520" cy="731520"/>
          </a:xfrm>
          <a:prstGeom prst="ellipse">
            <a:avLst/>
          </a:prstGeom>
          <a:solidFill>
            <a:srgbClr val="FFFFFF"/>
          </a:solidFill>
          <a:ln>
            <a:noFill/>
          </a:ln>
        </p:spPr>
        <p:txBody>
          <a:bodyPr rtlCol="0" anchor="ctr"/>
          <a:lstStyle/>
          <a:p>
            <a:pPr algn="ctr"/>
          </a:p>
        </p:txBody>
      </p:sp>
      <p:pic>
        <p:nvPicPr>
          <p:cNvPr id="13" name="아이콘:search" descr="search_13294B_1.6.png"/>
          <p:cNvPicPr>
            <a:picLocks noChangeAspect="1"/>
          </p:cNvPicPr>
          <p:nvPr/>
        </p:nvPicPr>
        <p:blipFill>
          <a:blip r:embed="rId4"/>
          <a:stretch>
            <a:fillRect/>
          </a:stretch>
        </p:blipFill>
        <p:spPr>
          <a:xfrm>
            <a:off x="5883706" y="2939681"/>
            <a:ext cx="424281" cy="424281"/>
          </a:xfrm>
          <a:prstGeom prst="rect">
            <a:avLst/>
          </a:prstGeom>
        </p:spPr>
      </p:pic>
      <p:sp>
        <p:nvSpPr>
          <p:cNvPr id="14" name="TextBox 13"/>
          <p:cNvSpPr txBox="1"/>
          <p:nvPr/>
        </p:nvSpPr>
        <p:spPr>
          <a:xfrm>
            <a:off x="4447946" y="3590734"/>
            <a:ext cx="3295802"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빠진 것</a:t>
            </a:r>
          </a:p>
          <a:p>
            <a:pPr algn="ctr">
              <a:lnSpc>
                <a:spcPct val="110000"/>
              </a:lnSpc>
              <a:spcAft>
                <a:spcPts val="400"/>
              </a:spcAft>
            </a:pPr>
            <a:r>
              <a:rPr sz="1350" b="0">
                <a:solidFill>
                  <a:srgbClr val="1F2A3A"/>
                </a:solidFill>
                <a:latin typeface="맑은 고딕"/>
                <a:ea typeface="맑은 고딕"/>
                <a:cs typeface="맑은 고딕"/>
              </a:rPr>
              <a:t>공급하는 곳을</a:t>
            </a:r>
          </a:p>
          <a:p>
            <a:pPr algn="ctr">
              <a:lnSpc>
                <a:spcPct val="110000"/>
              </a:lnSpc>
              <a:spcAft>
                <a:spcPts val="400"/>
              </a:spcAft>
            </a:pPr>
            <a:r>
              <a:rPr sz="1350" b="0">
                <a:solidFill>
                  <a:srgbClr val="1F2A3A"/>
                </a:solidFill>
                <a:latin typeface="맑은 고딕"/>
                <a:ea typeface="맑은 고딕"/>
                <a:cs typeface="맑은 고딕"/>
              </a:rPr>
              <a:t>가리키는 클래스와</a:t>
            </a:r>
          </a:p>
          <a:p>
            <a:pPr algn="ctr">
              <a:lnSpc>
                <a:spcPct val="110000"/>
              </a:lnSpc>
              <a:spcAft>
                <a:spcPts val="400"/>
              </a:spcAft>
            </a:pPr>
            <a:r>
              <a:rPr sz="1350" b="0">
                <a:solidFill>
                  <a:srgbClr val="1F2A3A"/>
                </a:solidFill>
                <a:latin typeface="맑은 고딕"/>
                <a:ea typeface="맑은 고딕"/>
                <a:cs typeface="맑은 고딕"/>
              </a:rPr>
              <a:t>관계가 없다</a:t>
            </a:r>
          </a:p>
        </p:txBody>
      </p:sp>
      <p:sp>
        <p:nvSpPr>
          <p:cNvPr id="15" name="Right Arrow 14"/>
          <p:cNvSpPr/>
          <p:nvPr/>
        </p:nvSpPr>
        <p:spPr>
          <a:xfrm>
            <a:off x="7880908"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8200948" y="2603182"/>
            <a:ext cx="3442106" cy="2776346"/>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9556242" y="2786062"/>
            <a:ext cx="731520" cy="731520"/>
          </a:xfrm>
          <a:prstGeom prst="ellipse">
            <a:avLst/>
          </a:prstGeom>
          <a:solidFill>
            <a:srgbClr val="5CB8F2"/>
          </a:solidFill>
          <a:ln>
            <a:noFill/>
          </a:ln>
        </p:spPr>
        <p:txBody>
          <a:bodyPr rtlCol="0" anchor="ctr"/>
          <a:lstStyle/>
          <a:p>
            <a:pPr algn="ctr"/>
          </a:p>
        </p:txBody>
      </p:sp>
      <p:pic>
        <p:nvPicPr>
          <p:cNvPr id="18" name="아이콘:circle-plus" descr="circle-plus_13294B_1.6.png"/>
          <p:cNvPicPr>
            <a:picLocks noChangeAspect="1"/>
          </p:cNvPicPr>
          <p:nvPr/>
        </p:nvPicPr>
        <p:blipFill>
          <a:blip r:embed="rId5"/>
          <a:stretch>
            <a:fillRect/>
          </a:stretch>
        </p:blipFill>
        <p:spPr>
          <a:xfrm>
            <a:off x="9709861" y="2939681"/>
            <a:ext cx="424281" cy="424281"/>
          </a:xfrm>
          <a:prstGeom prst="rect">
            <a:avLst/>
          </a:prstGeom>
        </p:spPr>
      </p:pic>
      <p:sp>
        <p:nvSpPr>
          <p:cNvPr id="19" name="TextBox 18"/>
          <p:cNvSpPr txBox="1"/>
          <p:nvPr/>
        </p:nvSpPr>
        <p:spPr>
          <a:xfrm>
            <a:off x="8274100" y="3590734"/>
            <a:ext cx="3295802"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더한 것</a:t>
            </a:r>
          </a:p>
          <a:p>
            <a:pPr algn="ctr">
              <a:lnSpc>
                <a:spcPct val="110000"/>
              </a:lnSpc>
              <a:spcAft>
                <a:spcPts val="400"/>
              </a:spcAft>
            </a:pPr>
            <a:r>
              <a:rPr sz="1350" b="0">
                <a:solidFill>
                  <a:srgbClr val="1F2A3A"/>
                </a:solidFill>
                <a:latin typeface="맑은 고딕"/>
                <a:ea typeface="맑은 고딕"/>
                <a:cs typeface="맑은 고딕"/>
              </a:rPr>
              <a:t>클래스 Supplier</a:t>
            </a:r>
          </a:p>
          <a:p>
            <a:pPr algn="ctr">
              <a:lnSpc>
                <a:spcPct val="110000"/>
              </a:lnSpc>
              <a:spcAft>
                <a:spcPts val="400"/>
              </a:spcAft>
            </a:pPr>
            <a:r>
              <a:rPr sz="1350" b="0">
                <a:solidFill>
                  <a:srgbClr val="1F2A3A"/>
                </a:solidFill>
                <a:latin typeface="맑은 고딕"/>
                <a:ea typeface="맑은 고딕"/>
                <a:cs typeface="맑은 고딕"/>
              </a:rPr>
              <a:t>관계 SUPPLIED_BY</a:t>
            </a:r>
          </a:p>
          <a:p>
            <a:pPr algn="ctr">
              <a:lnSpc>
                <a:spcPct val="110000"/>
              </a:lnSpc>
              <a:spcAft>
                <a:spcPts val="400"/>
              </a:spcAft>
            </a:pPr>
            <a:r>
              <a:rPr sz="1350" b="0">
                <a:solidFill>
                  <a:srgbClr val="1F2A3A"/>
                </a:solidFill>
                <a:latin typeface="맑은 고딕"/>
                <a:ea typeface="맑은 고딕"/>
                <a:cs typeface="맑은 고딕"/>
              </a:rPr>
              <a:t>Part → Supplier</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HYD 온톨로지의 클래스 묶음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HYD 온톨로지에는 설비, 진단, 판단, 성과에 해당하는 클래스가 같은 방식으로 정의되어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65</a:t>
            </a:r>
          </a:p>
        </p:txBody>
      </p:sp>
      <p:sp>
        <p:nvSpPr>
          <p:cNvPr id="6" name="Rounded Rectangle 5"/>
          <p:cNvSpPr/>
          <p:nvPr/>
        </p:nvSpPr>
        <p:spPr>
          <a:xfrm>
            <a:off x="548640" y="2418588"/>
            <a:ext cx="2567863" cy="314553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7" name="Oval 6"/>
          <p:cNvSpPr/>
          <p:nvPr/>
        </p:nvSpPr>
        <p:spPr>
          <a:xfrm>
            <a:off x="777240" y="2619756"/>
            <a:ext cx="731520" cy="731520"/>
          </a:xfrm>
          <a:prstGeom prst="ellipse">
            <a:avLst/>
          </a:prstGeom>
          <a:solidFill>
            <a:srgbClr val="5CB8F2"/>
          </a:solidFill>
          <a:ln>
            <a:noFill/>
          </a:ln>
        </p:spPr>
        <p:txBody>
          <a:bodyPr rtlCol="0" anchor="ctr"/>
          <a:lstStyle/>
          <a:p>
            <a:pPr algn="ctr"/>
          </a:p>
        </p:txBody>
      </p:sp>
      <p:pic>
        <p:nvPicPr>
          <p:cNvPr id="8" name="아이콘:engine" descr="engine_13294B_1.6.png"/>
          <p:cNvPicPr>
            <a:picLocks noChangeAspect="1"/>
          </p:cNvPicPr>
          <p:nvPr/>
        </p:nvPicPr>
        <p:blipFill>
          <a:blip r:embed="rId3"/>
          <a:stretch>
            <a:fillRect/>
          </a:stretch>
        </p:blipFill>
        <p:spPr>
          <a:xfrm>
            <a:off x="930859" y="2773375"/>
            <a:ext cx="424281" cy="424281"/>
          </a:xfrm>
          <a:prstGeom prst="rect">
            <a:avLst/>
          </a:prstGeom>
        </p:spPr>
      </p:pic>
      <p:sp>
        <p:nvSpPr>
          <p:cNvPr id="9" name="TextBox 8"/>
          <p:cNvSpPr txBox="1"/>
          <p:nvPr/>
        </p:nvSpPr>
        <p:spPr>
          <a:xfrm>
            <a:off x="713232"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설비</a:t>
            </a:r>
          </a:p>
          <a:p>
            <a:pPr algn="l">
              <a:lnSpc>
                <a:spcPct val="110000"/>
              </a:lnSpc>
              <a:spcAft>
                <a:spcPts val="400"/>
              </a:spcAft>
            </a:pPr>
            <a:r>
              <a:rPr sz="1350" b="0">
                <a:solidFill>
                  <a:srgbClr val="1F2A3A"/>
                </a:solidFill>
                <a:latin typeface="맑은 고딕"/>
                <a:ea typeface="맑은 고딕"/>
                <a:cs typeface="맑은 고딕"/>
              </a:rPr>
              <a:t>Asset, Component, Sensor, Actuator, StateVariable, Part, Supplier</a:t>
            </a:r>
          </a:p>
        </p:txBody>
      </p:sp>
      <p:sp>
        <p:nvSpPr>
          <p:cNvPr id="10" name="Rounded Rectangle 9"/>
          <p:cNvSpPr/>
          <p:nvPr/>
        </p:nvSpPr>
        <p:spPr>
          <a:xfrm>
            <a:off x="777240" y="5134356"/>
            <a:ext cx="1935480" cy="292608"/>
          </a:xfrm>
          <a:prstGeom prst="roundRect">
            <a:avLst>
              <a:gd name="adj" fmla="val 50000"/>
            </a:avLst>
          </a:prstGeom>
          <a:solidFill>
            <a:srgbClr val="5CB8F2"/>
          </a:solidFill>
          <a:ln>
            <a:noFill/>
          </a:ln>
        </p:spPr>
        <p:txBody>
          <a:bodyPr rtlCol="0" anchor="ctr"/>
          <a:lstStyle/>
          <a:p>
            <a:pPr algn="ctr"/>
          </a:p>
        </p:txBody>
      </p:sp>
      <p:sp>
        <p:nvSpPr>
          <p:cNvPr id="11" name="TextBox 10"/>
          <p:cNvSpPr txBox="1"/>
          <p:nvPr/>
        </p:nvSpPr>
        <p:spPr>
          <a:xfrm>
            <a:off x="777240" y="5134356"/>
            <a:ext cx="1935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무엇으로 이루어졌는가</a:t>
            </a:r>
          </a:p>
        </p:txBody>
      </p:sp>
      <p:sp>
        <p:nvSpPr>
          <p:cNvPr id="12" name="Rounded Rectangle 11"/>
          <p:cNvSpPr/>
          <p:nvPr/>
        </p:nvSpPr>
        <p:spPr>
          <a:xfrm>
            <a:off x="3390823"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619756"/>
            <a:ext cx="731520" cy="731520"/>
          </a:xfrm>
          <a:prstGeom prst="ellipse">
            <a:avLst/>
          </a:prstGeom>
          <a:solidFill>
            <a:srgbClr val="E7F3FD"/>
          </a:solidFill>
          <a:ln>
            <a:noFill/>
          </a:ln>
        </p:spPr>
        <p:txBody>
          <a:bodyPr rtlCol="0" anchor="ctr"/>
          <a:lstStyle/>
          <a:p>
            <a:pPr algn="ctr"/>
          </a:p>
        </p:txBody>
      </p:sp>
      <p:pic>
        <p:nvPicPr>
          <p:cNvPr id="14" name="아이콘:stethoscope" descr="stethoscope_13294B_1.6.png"/>
          <p:cNvPicPr>
            <a:picLocks noChangeAspect="1"/>
          </p:cNvPicPr>
          <p:nvPr/>
        </p:nvPicPr>
        <p:blipFill>
          <a:blip r:embed="rId4"/>
          <a:stretch>
            <a:fillRect/>
          </a:stretch>
        </p:blipFill>
        <p:spPr>
          <a:xfrm>
            <a:off x="3773043" y="2773375"/>
            <a:ext cx="424281" cy="424281"/>
          </a:xfrm>
          <a:prstGeom prst="rect">
            <a:avLst/>
          </a:prstGeom>
        </p:spPr>
      </p:pic>
      <p:sp>
        <p:nvSpPr>
          <p:cNvPr id="15" name="TextBox 14"/>
          <p:cNvSpPr txBox="1"/>
          <p:nvPr/>
        </p:nvSpPr>
        <p:spPr>
          <a:xfrm>
            <a:off x="3555415"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진단</a:t>
            </a:r>
          </a:p>
          <a:p>
            <a:pPr algn="l">
              <a:lnSpc>
                <a:spcPct val="110000"/>
              </a:lnSpc>
              <a:spcAft>
                <a:spcPts val="400"/>
              </a:spcAft>
            </a:pPr>
            <a:r>
              <a:rPr sz="1350" b="0">
                <a:solidFill>
                  <a:srgbClr val="1F2A3A"/>
                </a:solidFill>
                <a:latin typeface="맑은 고딕"/>
                <a:ea typeface="맑은 고딕"/>
                <a:cs typeface="맑은 고딕"/>
              </a:rPr>
              <a:t>AnomalyPattern, Symptom, FailureMode, Cause, Evidence</a:t>
            </a:r>
          </a:p>
        </p:txBody>
      </p:sp>
      <p:sp>
        <p:nvSpPr>
          <p:cNvPr id="16" name="Rounded Rectangle 15"/>
          <p:cNvSpPr/>
          <p:nvPr/>
        </p:nvSpPr>
        <p:spPr>
          <a:xfrm>
            <a:off x="3619423" y="5134356"/>
            <a:ext cx="14782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34356"/>
            <a:ext cx="14782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왜 잘못되었는가</a:t>
            </a:r>
          </a:p>
        </p:txBody>
      </p:sp>
      <p:sp>
        <p:nvSpPr>
          <p:cNvPr id="18" name="Rounded Rectangle 17"/>
          <p:cNvSpPr/>
          <p:nvPr/>
        </p:nvSpPr>
        <p:spPr>
          <a:xfrm>
            <a:off x="6233007"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619756"/>
            <a:ext cx="731520" cy="731520"/>
          </a:xfrm>
          <a:prstGeom prst="ellipse">
            <a:avLst/>
          </a:prstGeom>
          <a:solidFill>
            <a:srgbClr val="E7F3FD"/>
          </a:solidFill>
          <a:ln>
            <a:noFill/>
          </a:ln>
        </p:spPr>
        <p:txBody>
          <a:bodyPr rtlCol="0" anchor="ctr"/>
          <a:lstStyle/>
          <a:p>
            <a:pPr algn="ctr"/>
          </a:p>
        </p:txBody>
      </p:sp>
      <p:pic>
        <p:nvPicPr>
          <p:cNvPr id="20" name="아이콘:list-check" descr="list-check_13294B_1.6.png"/>
          <p:cNvPicPr>
            <a:picLocks noChangeAspect="1"/>
          </p:cNvPicPr>
          <p:nvPr/>
        </p:nvPicPr>
        <p:blipFill>
          <a:blip r:embed="rId5"/>
          <a:stretch>
            <a:fillRect/>
          </a:stretch>
        </p:blipFill>
        <p:spPr>
          <a:xfrm>
            <a:off x="6615226" y="2773375"/>
            <a:ext cx="424281" cy="424281"/>
          </a:xfrm>
          <a:prstGeom prst="rect">
            <a:avLst/>
          </a:prstGeom>
        </p:spPr>
      </p:pic>
      <p:sp>
        <p:nvSpPr>
          <p:cNvPr id="21" name="TextBox 20"/>
          <p:cNvSpPr txBox="1"/>
          <p:nvPr/>
        </p:nvSpPr>
        <p:spPr>
          <a:xfrm>
            <a:off x="6397599"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판단</a:t>
            </a:r>
          </a:p>
          <a:p>
            <a:pPr algn="l">
              <a:lnSpc>
                <a:spcPct val="110000"/>
              </a:lnSpc>
              <a:spcAft>
                <a:spcPts val="400"/>
              </a:spcAft>
            </a:pPr>
            <a:r>
              <a:rPr sz="1350" b="0">
                <a:solidFill>
                  <a:srgbClr val="1F2A3A"/>
                </a:solidFill>
                <a:latin typeface="맑은 고딕"/>
                <a:ea typeface="맑은 고딕"/>
                <a:cs typeface="맑은 고딕"/>
              </a:rPr>
              <a:t>Skill, Decision, Rule 등 조치 방법과 판단 규칙의 클래스</a:t>
            </a:r>
          </a:p>
        </p:txBody>
      </p:sp>
      <p:sp>
        <p:nvSpPr>
          <p:cNvPr id="22" name="Rounded Rectangle 21"/>
          <p:cNvSpPr/>
          <p:nvPr/>
        </p:nvSpPr>
        <p:spPr>
          <a:xfrm>
            <a:off x="6461607" y="5134356"/>
            <a:ext cx="172212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134356"/>
            <a:ext cx="17221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무엇을 할 수 있는가</a:t>
            </a:r>
          </a:p>
        </p:txBody>
      </p:sp>
      <p:sp>
        <p:nvSpPr>
          <p:cNvPr id="24" name="Rounded Rectangle 23"/>
          <p:cNvSpPr/>
          <p:nvPr/>
        </p:nvSpPr>
        <p:spPr>
          <a:xfrm>
            <a:off x="9075191"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25" name="Oval 24"/>
          <p:cNvSpPr/>
          <p:nvPr/>
        </p:nvSpPr>
        <p:spPr>
          <a:xfrm>
            <a:off x="9303791" y="2619756"/>
            <a:ext cx="731520" cy="731520"/>
          </a:xfrm>
          <a:prstGeom prst="ellipse">
            <a:avLst/>
          </a:prstGeom>
          <a:solidFill>
            <a:srgbClr val="E7F3FD"/>
          </a:solidFill>
          <a:ln>
            <a:noFill/>
          </a:ln>
        </p:spPr>
        <p:txBody>
          <a:bodyPr rtlCol="0" anchor="ctr"/>
          <a:lstStyle/>
          <a:p>
            <a:pPr algn="ctr"/>
          </a:p>
        </p:txBody>
      </p:sp>
      <p:pic>
        <p:nvPicPr>
          <p:cNvPr id="26" name="아이콘:target" descr="target_13294B_1.6.png"/>
          <p:cNvPicPr>
            <a:picLocks noChangeAspect="1"/>
          </p:cNvPicPr>
          <p:nvPr/>
        </p:nvPicPr>
        <p:blipFill>
          <a:blip r:embed="rId6"/>
          <a:stretch>
            <a:fillRect/>
          </a:stretch>
        </p:blipFill>
        <p:spPr>
          <a:xfrm>
            <a:off x="9457410" y="2773375"/>
            <a:ext cx="424281" cy="424281"/>
          </a:xfrm>
          <a:prstGeom prst="rect">
            <a:avLst/>
          </a:prstGeom>
        </p:spPr>
      </p:pic>
      <p:sp>
        <p:nvSpPr>
          <p:cNvPr id="27" name="TextBox 26"/>
          <p:cNvSpPr txBox="1"/>
          <p:nvPr/>
        </p:nvSpPr>
        <p:spPr>
          <a:xfrm>
            <a:off x="9239783"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성과</a:t>
            </a:r>
          </a:p>
          <a:p>
            <a:pPr algn="l">
              <a:lnSpc>
                <a:spcPct val="110000"/>
              </a:lnSpc>
              <a:spcAft>
                <a:spcPts val="400"/>
              </a:spcAft>
            </a:pPr>
            <a:r>
              <a:rPr sz="1350" b="0">
                <a:solidFill>
                  <a:srgbClr val="1F2A3A"/>
                </a:solidFill>
                <a:latin typeface="맑은 고딕"/>
                <a:ea typeface="맑은 고딕"/>
                <a:cs typeface="맑은 고딕"/>
              </a:rPr>
              <a:t>Objective, Measure 등 목표와 성과 지표의 클래스</a:t>
            </a:r>
          </a:p>
        </p:txBody>
      </p:sp>
      <p:sp>
        <p:nvSpPr>
          <p:cNvPr id="28" name="Rounded Rectangle 27"/>
          <p:cNvSpPr/>
          <p:nvPr/>
        </p:nvSpPr>
        <p:spPr>
          <a:xfrm>
            <a:off x="9303791" y="5134356"/>
            <a:ext cx="1630680" cy="292608"/>
          </a:xfrm>
          <a:prstGeom prst="roundRect">
            <a:avLst>
              <a:gd name="adj" fmla="val 50000"/>
            </a:avLst>
          </a:prstGeom>
          <a:solidFill>
            <a:srgbClr val="D3D9E1"/>
          </a:solidFill>
          <a:ln>
            <a:noFill/>
          </a:ln>
        </p:spPr>
        <p:txBody>
          <a:bodyPr rtlCol="0" anchor="ctr"/>
          <a:lstStyle/>
          <a:p>
            <a:pPr algn="ctr"/>
          </a:p>
        </p:txBody>
      </p:sp>
      <p:sp>
        <p:nvSpPr>
          <p:cNvPr id="29" name="TextBox 28"/>
          <p:cNvSpPr txBox="1"/>
          <p:nvPr/>
        </p:nvSpPr>
        <p:spPr>
          <a:xfrm>
            <a:off x="9303791" y="5134356"/>
            <a:ext cx="16306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무엇이 좋아지는가</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단원 정리: 세 문제와 스키마의 정의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스키마의 정의 하나하나가 정의 없이 넣은 데이터의 세 문제를 막는다.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66</a:t>
            </a:r>
          </a:p>
        </p:txBody>
      </p:sp>
      <p:sp>
        <p:nvSpPr>
          <p:cNvPr id="6" name="TextBox 5"/>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같은 대상이 여러 노드가 된다</a:t>
            </a:r>
          </a:p>
          <a:p>
            <a:pPr algn="l">
              <a:lnSpc>
                <a:spcPct val="110000"/>
              </a:lnSpc>
              <a:spcAft>
                <a:spcPts val="200"/>
              </a:spcAft>
            </a:pPr>
            <a:r>
              <a:rPr sz="1150" b="0">
                <a:solidFill>
                  <a:srgbClr val="556175"/>
                </a:solidFill>
                <a:latin typeface="맑은 고딕"/>
                <a:ea typeface="맑은 고딕"/>
                <a:cs typeface="맑은 고딕"/>
              </a:rPr>
              <a:t>식별자 · 별칭</a:t>
            </a:r>
          </a:p>
        </p:txBody>
      </p:sp>
      <p:sp>
        <p:nvSpPr>
          <p:cNvPr id="7" name="TextBox 6"/>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식별자 하나에 이름 하나와 별칭 목록을 둔다.</a:t>
            </a:r>
          </a:p>
        </p:txBody>
      </p:sp>
      <p:sp>
        <p:nvSpPr>
          <p:cNvPr id="8" name="Rectangle 7"/>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같은 관계가 어긋난다</a:t>
            </a:r>
          </a:p>
          <a:p>
            <a:pPr algn="l">
              <a:lnSpc>
                <a:spcPct val="110000"/>
              </a:lnSpc>
              <a:spcAft>
                <a:spcPts val="200"/>
              </a:spcAft>
            </a:pPr>
            <a:r>
              <a:rPr sz="1150" b="0">
                <a:solidFill>
                  <a:srgbClr val="556175"/>
                </a:solidFill>
                <a:latin typeface="맑은 고딕"/>
                <a:ea typeface="맑은 고딕"/>
                <a:cs typeface="맑은 고딕"/>
              </a:rPr>
              <a:t>관계 정의</a:t>
            </a:r>
          </a:p>
        </p:txBody>
      </p:sp>
      <p:sp>
        <p:nvSpPr>
          <p:cNvPr id="10" name="TextBox 9"/>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관계의 이름과 방향, 양 끝의 클래스를 정의한다.</a:t>
            </a:r>
          </a:p>
        </p:txBody>
      </p:sp>
      <p:sp>
        <p:nvSpPr>
          <p:cNvPr id="11" name="Rectangle 10"/>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2" name="TextBox 11"/>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값의 형식이 제각각이다</a:t>
            </a:r>
          </a:p>
          <a:p>
            <a:pPr algn="l">
              <a:lnSpc>
                <a:spcPct val="110000"/>
              </a:lnSpc>
              <a:spcAft>
                <a:spcPts val="200"/>
              </a:spcAft>
            </a:pPr>
            <a:r>
              <a:rPr sz="1150" b="0">
                <a:solidFill>
                  <a:srgbClr val="556175"/>
                </a:solidFill>
                <a:latin typeface="맑은 고딕"/>
                <a:ea typeface="맑은 고딕"/>
                <a:cs typeface="맑은 고딕"/>
              </a:rPr>
              <a:t>속성 정의</a:t>
            </a:r>
          </a:p>
        </p:txBody>
      </p:sp>
      <p:sp>
        <p:nvSpPr>
          <p:cNvPr id="13" name="TextBox 12"/>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속성마다 자료형과 필수 여부를 정한다.</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03</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그래프 DB와 Cypher</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연결된 지식을 노드와 관계로 저장하고 관계를 따라 조회하는 방법</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관계형 DB: 테이블, 행, 조인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관계형 DB에서 부품의 공급사를 찾으려면 두 테이블에서 part_no 값이 같은 행을 맞추어 이어야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68</a:t>
            </a:r>
          </a:p>
        </p:txBody>
      </p:sp>
      <p:pic>
        <p:nvPicPr>
          <p:cNvPr id="6" name="삽화:조인_1.svg" descr="illust_7148769768269971764_179171724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459312" y="1887641"/>
            <a:ext cx="218189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부품 테이블</a:t>
            </a:r>
          </a:p>
        </p:txBody>
      </p:sp>
      <p:sp>
        <p:nvSpPr>
          <p:cNvPr id="8" name="TextBox 7"/>
          <p:cNvSpPr txBox="1"/>
          <p:nvPr/>
        </p:nvSpPr>
        <p:spPr>
          <a:xfrm>
            <a:off x="1066570" y="2365113"/>
            <a:ext cx="141823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part_no</a:t>
            </a:r>
          </a:p>
        </p:txBody>
      </p:sp>
      <p:sp>
        <p:nvSpPr>
          <p:cNvPr id="9" name="TextBox 8"/>
          <p:cNvSpPr txBox="1"/>
          <p:nvPr/>
        </p:nvSpPr>
        <p:spPr>
          <a:xfrm>
            <a:off x="2615718" y="2365113"/>
            <a:ext cx="141823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name</a:t>
            </a:r>
          </a:p>
        </p:txBody>
      </p:sp>
      <p:sp>
        <p:nvSpPr>
          <p:cNvPr id="10" name="TextBox 9"/>
          <p:cNvSpPr txBox="1"/>
          <p:nvPr/>
        </p:nvSpPr>
        <p:spPr>
          <a:xfrm>
            <a:off x="1066570" y="2809494"/>
            <a:ext cx="141823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P-CLR-CORE</a:t>
            </a:r>
          </a:p>
        </p:txBody>
      </p:sp>
      <p:sp>
        <p:nvSpPr>
          <p:cNvPr id="11" name="TextBox 10"/>
          <p:cNvSpPr txBox="1"/>
          <p:nvPr/>
        </p:nvSpPr>
        <p:spPr>
          <a:xfrm>
            <a:off x="2615718" y="2809494"/>
            <a:ext cx="141823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쿨러 코어</a:t>
            </a:r>
          </a:p>
        </p:txBody>
      </p:sp>
      <p:sp>
        <p:nvSpPr>
          <p:cNvPr id="12" name="TextBox 11"/>
          <p:cNvSpPr txBox="1"/>
          <p:nvPr/>
        </p:nvSpPr>
        <p:spPr>
          <a:xfrm>
            <a:off x="1066570" y="4464100"/>
            <a:ext cx="141823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id</a:t>
            </a:r>
          </a:p>
        </p:txBody>
      </p:sp>
      <p:sp>
        <p:nvSpPr>
          <p:cNvPr id="13" name="TextBox 12"/>
          <p:cNvSpPr txBox="1"/>
          <p:nvPr/>
        </p:nvSpPr>
        <p:spPr>
          <a:xfrm>
            <a:off x="2615718" y="4464100"/>
            <a:ext cx="141823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part_no</a:t>
            </a:r>
          </a:p>
        </p:txBody>
      </p:sp>
      <p:sp>
        <p:nvSpPr>
          <p:cNvPr id="14" name="TextBox 13"/>
          <p:cNvSpPr txBox="1"/>
          <p:nvPr/>
        </p:nvSpPr>
        <p:spPr>
          <a:xfrm>
            <a:off x="1066570" y="4917935"/>
            <a:ext cx="141823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sup:a</a:t>
            </a:r>
          </a:p>
        </p:txBody>
      </p:sp>
      <p:sp>
        <p:nvSpPr>
          <p:cNvPr id="15" name="TextBox 14"/>
          <p:cNvSpPr txBox="1"/>
          <p:nvPr/>
        </p:nvSpPr>
        <p:spPr>
          <a:xfrm>
            <a:off x="2615718" y="4917935"/>
            <a:ext cx="141823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P-CLR-CORE</a:t>
            </a:r>
          </a:p>
        </p:txBody>
      </p:sp>
      <p:sp>
        <p:nvSpPr>
          <p:cNvPr id="16" name="TextBox 15"/>
          <p:cNvSpPr txBox="1"/>
          <p:nvPr/>
        </p:nvSpPr>
        <p:spPr>
          <a:xfrm>
            <a:off x="1066570" y="5333951"/>
            <a:ext cx="141823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sup:b</a:t>
            </a:r>
          </a:p>
        </p:txBody>
      </p:sp>
      <p:sp>
        <p:nvSpPr>
          <p:cNvPr id="17" name="TextBox 16"/>
          <p:cNvSpPr txBox="1"/>
          <p:nvPr/>
        </p:nvSpPr>
        <p:spPr>
          <a:xfrm>
            <a:off x="2615718" y="5333951"/>
            <a:ext cx="141823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P-CLR-CORE</a:t>
            </a:r>
          </a:p>
        </p:txBody>
      </p:sp>
      <p:sp>
        <p:nvSpPr>
          <p:cNvPr id="18" name="TextBox 17"/>
          <p:cNvSpPr txBox="1"/>
          <p:nvPr/>
        </p:nvSpPr>
        <p:spPr>
          <a:xfrm>
            <a:off x="1459312" y="5716874"/>
            <a:ext cx="218189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공급사 테이블</a:t>
            </a:r>
          </a:p>
        </p:txBody>
      </p:sp>
      <p:sp>
        <p:nvSpPr>
          <p:cNvPr id="19" name="TextBox 18"/>
          <p:cNvSpPr txBox="1"/>
          <p:nvPr/>
        </p:nvSpPr>
        <p:spPr>
          <a:xfrm>
            <a:off x="3586663" y="3471336"/>
            <a:ext cx="2290993" cy="678053"/>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조인(JOIN)</a:t>
            </a:r>
          </a:p>
          <a:p>
            <a:pPr algn="ctr">
              <a:lnSpc>
                <a:spcPct val="110000"/>
              </a:lnSpc>
              <a:spcAft>
                <a:spcPts val="100"/>
              </a:spcAft>
            </a:pPr>
            <a:r>
              <a:rPr sz="1100" b="0">
                <a:solidFill>
                  <a:srgbClr val="556175"/>
                </a:solidFill>
                <a:latin typeface="맑은 고딕"/>
                <a:ea typeface="맑은 고딕"/>
                <a:cs typeface="맑은 고딕"/>
              </a:rPr>
              <a:t>part_no 값이 같은 행끼리</a:t>
            </a:r>
          </a:p>
          <a:p>
            <a:pPr algn="ctr">
              <a:lnSpc>
                <a:spcPct val="110000"/>
              </a:lnSpc>
              <a:spcAft>
                <a:spcPts val="100"/>
              </a:spcAft>
            </a:pPr>
            <a:r>
              <a:rPr sz="1100" b="0">
                <a:solidFill>
                  <a:srgbClr val="556175"/>
                </a:solidFill>
                <a:latin typeface="맑은 고딕"/>
                <a:ea typeface="맑은 고딕"/>
                <a:cs typeface="맑은 고딕"/>
              </a:rPr>
              <a:t>맞추어 잇는다</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그래프 DB: 저장된 관계를 따라간다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그래프 DB는 관계 자체를 데이터로 저장하므로 쿨러 코어에서 SUPPLIED_BY를 따라가면 공급사에 닿는다.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69</a:t>
            </a:r>
          </a:p>
        </p:txBody>
      </p:sp>
      <p:pic>
        <p:nvPicPr>
          <p:cNvPr id="6" name="삽화:조인_2.svg" descr="illust_7653904589128266521_179171724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459312" y="1887641"/>
            <a:ext cx="218189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부품 테이블</a:t>
            </a:r>
          </a:p>
        </p:txBody>
      </p:sp>
      <p:sp>
        <p:nvSpPr>
          <p:cNvPr id="8" name="TextBox 7"/>
          <p:cNvSpPr txBox="1"/>
          <p:nvPr/>
        </p:nvSpPr>
        <p:spPr>
          <a:xfrm>
            <a:off x="1459312" y="5716874"/>
            <a:ext cx="218189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공급사 테이블</a:t>
            </a:r>
          </a:p>
        </p:txBody>
      </p:sp>
      <p:sp>
        <p:nvSpPr>
          <p:cNvPr id="9" name="TextBox 8"/>
          <p:cNvSpPr txBox="1"/>
          <p:nvPr/>
        </p:nvSpPr>
        <p:spPr>
          <a:xfrm>
            <a:off x="7950461" y="2005827"/>
            <a:ext cx="1745519" cy="337185"/>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SUPPLIED_BY</a:t>
            </a:r>
          </a:p>
        </p:txBody>
      </p:sp>
      <p:sp>
        <p:nvSpPr>
          <p:cNvPr id="10" name="TextBox 9"/>
          <p:cNvSpPr txBox="1"/>
          <p:nvPr/>
        </p:nvSpPr>
        <p:spPr>
          <a:xfrm>
            <a:off x="6674050" y="4629561"/>
            <a:ext cx="174551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쿨러 코어</a:t>
            </a:r>
          </a:p>
          <a:p>
            <a:pPr algn="ctr">
              <a:lnSpc>
                <a:spcPct val="110000"/>
              </a:lnSpc>
              <a:spcAft>
                <a:spcPts val="100"/>
              </a:spcAft>
            </a:pPr>
            <a:r>
              <a:rPr sz="1100" b="0">
                <a:solidFill>
                  <a:srgbClr val="556175"/>
                </a:solidFill>
                <a:latin typeface="맑은 고딕"/>
                <a:ea typeface="맑은 고딕"/>
                <a:cs typeface="맑은 고딕"/>
              </a:rPr>
              <a:t>Part</a:t>
            </a:r>
          </a:p>
        </p:txBody>
      </p:sp>
      <p:sp>
        <p:nvSpPr>
          <p:cNvPr id="11" name="TextBox 10"/>
          <p:cNvSpPr txBox="1"/>
          <p:nvPr/>
        </p:nvSpPr>
        <p:spPr>
          <a:xfrm>
            <a:off x="9510519" y="3499701"/>
            <a:ext cx="152732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A정밀</a:t>
            </a:r>
          </a:p>
          <a:p>
            <a:pPr algn="ctr">
              <a:lnSpc>
                <a:spcPct val="110000"/>
              </a:lnSpc>
              <a:spcAft>
                <a:spcPts val="100"/>
              </a:spcAft>
            </a:pPr>
            <a:r>
              <a:rPr sz="1100" b="0">
                <a:solidFill>
                  <a:srgbClr val="556175"/>
                </a:solidFill>
                <a:latin typeface="맑은 고딕"/>
                <a:ea typeface="맑은 고딕"/>
                <a:cs typeface="맑은 고딕"/>
              </a:rPr>
              <a:t>Supplier</a:t>
            </a:r>
          </a:p>
        </p:txBody>
      </p:sp>
      <p:sp>
        <p:nvSpPr>
          <p:cNvPr id="12" name="TextBox 11"/>
          <p:cNvSpPr txBox="1"/>
          <p:nvPr/>
        </p:nvSpPr>
        <p:spPr>
          <a:xfrm>
            <a:off x="9510519" y="5504139"/>
            <a:ext cx="152732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B-OEM</a:t>
            </a:r>
          </a:p>
          <a:p>
            <a:pPr algn="ctr">
              <a:lnSpc>
                <a:spcPct val="110000"/>
              </a:lnSpc>
              <a:spcAft>
                <a:spcPts val="100"/>
              </a:spcAft>
            </a:pPr>
            <a:r>
              <a:rPr sz="1100" b="0">
                <a:solidFill>
                  <a:srgbClr val="556175"/>
                </a:solidFill>
                <a:latin typeface="맑은 고딕"/>
                <a:ea typeface="맑은 고딕"/>
                <a:cs typeface="맑은 고딕"/>
              </a:rPr>
              <a:t>Supplier</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두 DB의 쓰임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같은 모양의 값을 많이 쌓는 일은 관계형 DB가, 연결을 여러 단계 따라가는 일은 그래프 DB가 맡는다.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70</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table" descr="table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관계형 DB</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테이블 · 행 · 조인</a:t>
            </a:r>
          </a:p>
          <a:p>
            <a:pPr algn="l">
              <a:lnSpc>
                <a:spcPct val="110000"/>
              </a:lnSpc>
              <a:spcAft>
                <a:spcPts val="600"/>
              </a:spcAft>
            </a:pPr>
            <a:r>
              <a:rPr sz="1450" b="0">
                <a:solidFill>
                  <a:srgbClr val="1F2A3A"/>
                </a:solidFill>
                <a:latin typeface="맑은 고딕"/>
                <a:ea typeface="맑은 고딕"/>
                <a:cs typeface="맑은 고딕"/>
              </a:rPr>
              <a:t>• 같은 모양의 데이터를 쌓고 집계한다</a:t>
            </a:r>
          </a:p>
          <a:p>
            <a:pPr algn="l">
              <a:lnSpc>
                <a:spcPct val="110000"/>
              </a:lnSpc>
              <a:spcAft>
                <a:spcPts val="600"/>
              </a:spcAft>
            </a:pPr>
            <a:r>
              <a:rPr sz="1450" b="0">
                <a:solidFill>
                  <a:srgbClr val="1F2A3A"/>
                </a:solidFill>
                <a:latin typeface="맑은 고딕"/>
                <a:ea typeface="맑은 고딕"/>
                <a:cs typeface="맑은 고딕"/>
              </a:rPr>
              <a:t>• 예: 매초 쌓이는 유온 값의 표 tag_1s</a:t>
            </a:r>
          </a:p>
        </p:txBody>
      </p:sp>
      <p:sp>
        <p:nvSpPr>
          <p:cNvPr id="11" name="Rounded Rectangle 10"/>
          <p:cNvSpPr/>
          <p:nvPr/>
        </p:nvSpPr>
        <p:spPr>
          <a:xfrm>
            <a:off x="868680" y="4945570"/>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값</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topology-star-3" descr="topology-star-3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그래프 DB</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노드 · 관계 · 속성</a:t>
            </a:r>
          </a:p>
          <a:p>
            <a:pPr algn="l">
              <a:lnSpc>
                <a:spcPct val="110000"/>
              </a:lnSpc>
              <a:spcAft>
                <a:spcPts val="600"/>
              </a:spcAft>
            </a:pPr>
            <a:r>
              <a:rPr sz="1450" b="0">
                <a:solidFill>
                  <a:srgbClr val="1F2A3A"/>
                </a:solidFill>
                <a:latin typeface="맑은 고딕"/>
                <a:ea typeface="맑은 고딕"/>
                <a:cs typeface="맑은 고딕"/>
              </a:rPr>
              <a:t>• 연결을 여러 단계 따라간다</a:t>
            </a:r>
          </a:p>
          <a:p>
            <a:pPr algn="l">
              <a:lnSpc>
                <a:spcPct val="110000"/>
              </a:lnSpc>
              <a:spcAft>
                <a:spcPts val="600"/>
              </a:spcAft>
            </a:pPr>
            <a:r>
              <a:rPr sz="1450" b="0">
                <a:solidFill>
                  <a:srgbClr val="1F2A3A"/>
                </a:solidFill>
                <a:latin typeface="맑은 고딕"/>
                <a:ea typeface="맑은 고딕"/>
                <a:cs typeface="맑은 고딕"/>
              </a:rPr>
              <a:t>• 예: 설비에서 구성 요소, 센서, 상태 변수까지</a:t>
            </a:r>
          </a:p>
        </p:txBody>
      </p:sp>
      <p:sp>
        <p:nvSpPr>
          <p:cNvPr id="18" name="Rounded Rectangle 17"/>
          <p:cNvSpPr/>
          <p:nvPr/>
        </p:nvSpPr>
        <p:spPr>
          <a:xfrm>
            <a:off x="6781647" y="4945570"/>
            <a:ext cx="10210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뜻과 연결</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그래프 DB의 노드, 관계, 속성</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그래프 DB에서 인스턴스는 노드, 클래스 이름은 </a:t>
            </a:r>
            <a:r>
              <a:rPr sz="1600" b="1">
                <a:solidFill>
                  <a:srgbClr val="1A6FC4"/>
                </a:solidFill>
                <a:latin typeface="맑은 고딕"/>
                <a:ea typeface="맑은 고딕"/>
                <a:cs typeface="맑은 고딕"/>
              </a:rPr>
              <a:t>레이블</a:t>
            </a:r>
            <a:r>
              <a:rPr sz="1600" b="0">
                <a:solidFill>
                  <a:srgbClr val="556175"/>
                </a:solidFill>
                <a:latin typeface="맑은 고딕"/>
                <a:ea typeface="맑은 고딕"/>
                <a:cs typeface="맑은 고딕"/>
              </a:rPr>
              <a:t>, 관계의 이름은 관계 유형으로 저장된다.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71</a:t>
            </a:r>
          </a:p>
        </p:txBody>
      </p:sp>
      <p:pic>
        <p:nvPicPr>
          <p:cNvPr id="6" name="삽화:속성그래프_3.svg" descr="illust_1982363498571731939_179171724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95647" y="2005827"/>
            <a:ext cx="1745519"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레이블(Label)</a:t>
            </a:r>
          </a:p>
          <a:p>
            <a:pPr algn="ctr">
              <a:lnSpc>
                <a:spcPct val="110000"/>
              </a:lnSpc>
              <a:spcAft>
                <a:spcPts val="100"/>
              </a:spcAft>
            </a:pPr>
            <a:r>
              <a:rPr sz="1300" b="0">
                <a:solidFill>
                  <a:srgbClr val="556175"/>
                </a:solidFill>
                <a:latin typeface="맑은 고딕"/>
                <a:ea typeface="맑은 고딕"/>
                <a:cs typeface="맑은 고딕"/>
              </a:rPr>
              <a:t>노드의 종류를</a:t>
            </a:r>
          </a:p>
          <a:p>
            <a:pPr algn="ctr">
              <a:lnSpc>
                <a:spcPct val="110000"/>
              </a:lnSpc>
              <a:spcAft>
                <a:spcPts val="100"/>
              </a:spcAft>
            </a:pPr>
            <a:r>
              <a:rPr sz="1300" b="0">
                <a:solidFill>
                  <a:srgbClr val="556175"/>
                </a:solidFill>
                <a:latin typeface="맑은 고딕"/>
                <a:ea typeface="맑은 고딕"/>
                <a:cs typeface="맑은 고딕"/>
              </a:rPr>
              <a:t>나타내는 이름표</a:t>
            </a:r>
          </a:p>
        </p:txBody>
      </p:sp>
      <p:sp>
        <p:nvSpPr>
          <p:cNvPr id="8" name="TextBox 7"/>
          <p:cNvSpPr txBox="1"/>
          <p:nvPr/>
        </p:nvSpPr>
        <p:spPr>
          <a:xfrm>
            <a:off x="2822999" y="2128741"/>
            <a:ext cx="163642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:Sensor</a:t>
            </a:r>
          </a:p>
        </p:txBody>
      </p:sp>
      <p:sp>
        <p:nvSpPr>
          <p:cNvPr id="9" name="TextBox 8"/>
          <p:cNvSpPr txBox="1"/>
          <p:nvPr/>
        </p:nvSpPr>
        <p:spPr>
          <a:xfrm>
            <a:off x="7677724" y="2128741"/>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:StateVariable</a:t>
            </a:r>
          </a:p>
        </p:txBody>
      </p:sp>
      <p:sp>
        <p:nvSpPr>
          <p:cNvPr id="10" name="TextBox 9"/>
          <p:cNvSpPr txBox="1"/>
          <p:nvPr/>
        </p:nvSpPr>
        <p:spPr>
          <a:xfrm>
            <a:off x="913837" y="3376787"/>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노드(Node)</a:t>
            </a:r>
          </a:p>
          <a:p>
            <a:pPr algn="ctr">
              <a:lnSpc>
                <a:spcPct val="110000"/>
              </a:lnSpc>
              <a:spcAft>
                <a:spcPts val="100"/>
              </a:spcAft>
            </a:pPr>
            <a:r>
              <a:rPr sz="1300" b="0">
                <a:solidFill>
                  <a:srgbClr val="556175"/>
                </a:solidFill>
                <a:latin typeface="맑은 고딕"/>
                <a:ea typeface="맑은 고딕"/>
                <a:cs typeface="맑은 고딕"/>
              </a:rPr>
              <a:t>대상 하나</a:t>
            </a:r>
          </a:p>
        </p:txBody>
      </p:sp>
      <p:sp>
        <p:nvSpPr>
          <p:cNvPr id="11" name="TextBox 10"/>
          <p:cNvSpPr txBox="1"/>
          <p:nvPr/>
        </p:nvSpPr>
        <p:spPr>
          <a:xfrm>
            <a:off x="4677613" y="2289474"/>
            <a:ext cx="2836468"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관계 유형</a:t>
            </a:r>
          </a:p>
          <a:p>
            <a:pPr algn="ctr">
              <a:lnSpc>
                <a:spcPct val="110000"/>
              </a:lnSpc>
              <a:spcAft>
                <a:spcPts val="100"/>
              </a:spcAft>
            </a:pPr>
            <a:r>
              <a:rPr sz="1300" b="0">
                <a:solidFill>
                  <a:srgbClr val="556175"/>
                </a:solidFill>
                <a:latin typeface="맑은 고딕"/>
                <a:ea typeface="맑은 고딕"/>
                <a:cs typeface="맑은 고딕"/>
              </a:rPr>
              <a:t>Relationship Type</a:t>
            </a:r>
          </a:p>
          <a:p>
            <a:pPr algn="ctr">
              <a:lnSpc>
                <a:spcPct val="110000"/>
              </a:lnSpc>
              <a:spcAft>
                <a:spcPts val="100"/>
              </a:spcAft>
            </a:pPr>
            <a:r>
              <a:rPr sz="1300" b="0">
                <a:solidFill>
                  <a:srgbClr val="556175"/>
                </a:solidFill>
                <a:latin typeface="맑은 고딕"/>
                <a:ea typeface="맑은 고딕"/>
                <a:cs typeface="맑은 고딕"/>
              </a:rPr>
              <a:t>관계에 붙는 이름</a:t>
            </a:r>
          </a:p>
        </p:txBody>
      </p:sp>
      <p:sp>
        <p:nvSpPr>
          <p:cNvPr id="12" name="TextBox 11"/>
          <p:cNvSpPr txBox="1"/>
          <p:nvPr/>
        </p:nvSpPr>
        <p:spPr>
          <a:xfrm>
            <a:off x="5332182" y="3405152"/>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:OBSERVES</a:t>
            </a:r>
          </a:p>
        </p:txBody>
      </p:sp>
      <p:sp>
        <p:nvSpPr>
          <p:cNvPr id="13" name="TextBox 12"/>
          <p:cNvSpPr txBox="1"/>
          <p:nvPr/>
        </p:nvSpPr>
        <p:spPr>
          <a:xfrm>
            <a:off x="2332071" y="4747747"/>
            <a:ext cx="2618278" cy="980185"/>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속성(Property)</a:t>
            </a:r>
          </a:p>
          <a:p>
            <a:pPr algn="ctr">
              <a:lnSpc>
                <a:spcPct val="110000"/>
              </a:lnSpc>
              <a:spcAft>
                <a:spcPts val="100"/>
              </a:spcAft>
            </a:pPr>
            <a:r>
              <a:rPr sz="1300" b="0">
                <a:solidFill>
                  <a:srgbClr val="556175"/>
                </a:solidFill>
                <a:latin typeface="맑은 고딕"/>
                <a:ea typeface="맑은 고딕"/>
                <a:cs typeface="맑은 고딕"/>
              </a:rPr>
              <a:t>id: sen:ts1</a:t>
            </a:r>
          </a:p>
          <a:p>
            <a:pPr algn="ctr">
              <a:lnSpc>
                <a:spcPct val="110000"/>
              </a:lnSpc>
              <a:spcAft>
                <a:spcPts val="100"/>
              </a:spcAft>
            </a:pPr>
            <a:r>
              <a:rPr sz="1300" b="0">
                <a:solidFill>
                  <a:srgbClr val="556175"/>
                </a:solidFill>
                <a:latin typeface="맑은 고딕"/>
                <a:ea typeface="맑은 고딕"/>
                <a:cs typeface="맑은 고딕"/>
              </a:rPr>
              <a:t>name: 유온 센서</a:t>
            </a:r>
          </a:p>
          <a:p>
            <a:pPr algn="ctr">
              <a:lnSpc>
                <a:spcPct val="110000"/>
              </a:lnSpc>
              <a:spcAft>
                <a:spcPts val="100"/>
              </a:spcAft>
            </a:pPr>
            <a:r>
              <a:rPr sz="1300" b="0">
                <a:solidFill>
                  <a:srgbClr val="556175"/>
                </a:solidFill>
                <a:latin typeface="맑은 고딕"/>
                <a:ea typeface="맑은 고딕"/>
                <a:cs typeface="맑은 고딕"/>
              </a:rPr>
              <a:t>tag: TS1</a:t>
            </a:r>
          </a:p>
        </p:txBody>
      </p:sp>
      <p:sp>
        <p:nvSpPr>
          <p:cNvPr id="14" name="TextBox 13"/>
          <p:cNvSpPr txBox="1"/>
          <p:nvPr/>
        </p:nvSpPr>
        <p:spPr>
          <a:xfrm>
            <a:off x="7241344" y="4747747"/>
            <a:ext cx="2618278" cy="980185"/>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속성(Property)</a:t>
            </a:r>
          </a:p>
          <a:p>
            <a:pPr algn="ctr">
              <a:lnSpc>
                <a:spcPct val="110000"/>
              </a:lnSpc>
              <a:spcAft>
                <a:spcPts val="100"/>
              </a:spcAft>
            </a:pPr>
            <a:r>
              <a:rPr sz="1300" b="0">
                <a:solidFill>
                  <a:srgbClr val="556175"/>
                </a:solidFill>
                <a:latin typeface="맑은 고딕"/>
                <a:ea typeface="맑은 고딕"/>
                <a:cs typeface="맑은 고딕"/>
              </a:rPr>
              <a:t>id: sv:ts1</a:t>
            </a:r>
          </a:p>
          <a:p>
            <a:pPr algn="ctr">
              <a:lnSpc>
                <a:spcPct val="110000"/>
              </a:lnSpc>
              <a:spcAft>
                <a:spcPts val="100"/>
              </a:spcAft>
            </a:pPr>
            <a:r>
              <a:rPr sz="1300" b="0">
                <a:solidFill>
                  <a:srgbClr val="556175"/>
                </a:solidFill>
                <a:latin typeface="맑은 고딕"/>
                <a:ea typeface="맑은 고딕"/>
                <a:cs typeface="맑은 고딕"/>
              </a:rPr>
              <a:t>name: 유온</a:t>
            </a:r>
          </a:p>
          <a:p>
            <a:pPr algn="ctr">
              <a:lnSpc>
                <a:spcPct val="110000"/>
              </a:lnSpc>
              <a:spcAft>
                <a:spcPts val="100"/>
              </a:spcAft>
            </a:pPr>
            <a:r>
              <a:rPr sz="1300" b="0">
                <a:solidFill>
                  <a:srgbClr val="556175"/>
                </a:solidFill>
                <a:latin typeface="맑은 고딕"/>
                <a:ea typeface="맑은 고딕"/>
                <a:cs typeface="맑은 고딕"/>
              </a:rPr>
              <a:t>normal: 48 · limit: 65</a:t>
            </a:r>
          </a:p>
        </p:txBody>
      </p:sp>
      <p:sp>
        <p:nvSpPr>
          <p:cNvPr id="15" name="TextBox 14"/>
          <p:cNvSpPr txBox="1"/>
          <p:nvPr/>
        </p:nvSpPr>
        <p:spPr>
          <a:xfrm>
            <a:off x="5004898" y="4085904"/>
            <a:ext cx="2181899"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관계의 속성</a:t>
            </a:r>
          </a:p>
          <a:p>
            <a:pPr algn="ctr">
              <a:lnSpc>
                <a:spcPct val="110000"/>
              </a:lnSpc>
              <a:spcAft>
                <a:spcPts val="100"/>
              </a:spcAft>
            </a:pPr>
            <a:r>
              <a:rPr sz="1300" b="0">
                <a:solidFill>
                  <a:srgbClr val="556175"/>
                </a:solidFill>
                <a:latin typeface="맑은 고딕"/>
                <a:ea typeface="맑은 고딕"/>
                <a:cs typeface="맑은 고딕"/>
              </a:rPr>
              <a:t>관계에도 속성을</a:t>
            </a:r>
          </a:p>
          <a:p>
            <a:pPr algn="ctr">
              <a:lnSpc>
                <a:spcPct val="110000"/>
              </a:lnSpc>
              <a:spcAft>
                <a:spcPts val="100"/>
              </a:spcAft>
            </a:pPr>
            <a:r>
              <a:rPr sz="1300" b="0">
                <a:solidFill>
                  <a:srgbClr val="556175"/>
                </a:solidFill>
                <a:latin typeface="맑은 고딕"/>
                <a:ea typeface="맑은 고딕"/>
                <a:cs typeface="맑은 고딕"/>
              </a:rPr>
              <a:t>붙일 수 있다</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 스키마와 Neo4j의 대응</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온톨로지 스키마의 정의는 Neo4j에서 레이블, 관계 유형, 속성, DB 제약으로 옮겨진다.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72</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온톨로지 스키마</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Neo4j</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예</a:t>
            </a:r>
          </a:p>
        </p:txBody>
      </p:sp>
      <p:sp>
        <p:nvSpPr>
          <p:cNvPr id="10" name="Rounded Rectangle 9"/>
          <p:cNvSpPr/>
          <p:nvPr/>
        </p:nvSpPr>
        <p:spPr>
          <a:xfrm>
            <a:off x="548640" y="2061972"/>
            <a:ext cx="11094415" cy="656843"/>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클래스</a:t>
            </a:r>
          </a:p>
        </p:txBody>
      </p:sp>
      <p:sp>
        <p:nvSpPr>
          <p:cNvPr id="12" name="TextBox 11"/>
          <p:cNvSpPr txBox="1"/>
          <p:nvPr/>
        </p:nvSpPr>
        <p:spPr>
          <a:xfrm>
            <a:off x="3200400" y="2029968"/>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노드의 레이블</a:t>
            </a:r>
          </a:p>
        </p:txBody>
      </p:sp>
      <p:sp>
        <p:nvSpPr>
          <p:cNvPr id="13" name="TextBox 12"/>
          <p:cNvSpPr txBox="1"/>
          <p:nvPr/>
        </p:nvSpPr>
        <p:spPr>
          <a:xfrm>
            <a:off x="9448495" y="2029968"/>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:Sensor</a:t>
            </a:r>
          </a:p>
        </p:txBody>
      </p:sp>
      <p:sp>
        <p:nvSpPr>
          <p:cNvPr id="14" name="Rounded Rectangle 13"/>
          <p:cNvSpPr/>
          <p:nvPr/>
        </p:nvSpPr>
        <p:spPr>
          <a:xfrm>
            <a:off x="548640" y="2782824"/>
            <a:ext cx="11094415" cy="656843"/>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750820"/>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인스턴스</a:t>
            </a:r>
          </a:p>
        </p:txBody>
      </p:sp>
      <p:sp>
        <p:nvSpPr>
          <p:cNvPr id="16" name="TextBox 15"/>
          <p:cNvSpPr txBox="1"/>
          <p:nvPr/>
        </p:nvSpPr>
        <p:spPr>
          <a:xfrm>
            <a:off x="3200400" y="2750820"/>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노드</a:t>
            </a:r>
          </a:p>
        </p:txBody>
      </p:sp>
      <p:sp>
        <p:nvSpPr>
          <p:cNvPr id="17" name="TextBox 16"/>
          <p:cNvSpPr txBox="1"/>
          <p:nvPr/>
        </p:nvSpPr>
        <p:spPr>
          <a:xfrm>
            <a:off x="9448495" y="2750820"/>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유온 센서</a:t>
            </a:r>
          </a:p>
        </p:txBody>
      </p:sp>
      <p:sp>
        <p:nvSpPr>
          <p:cNvPr id="18" name="Rounded Rectangle 17"/>
          <p:cNvSpPr/>
          <p:nvPr/>
        </p:nvSpPr>
        <p:spPr>
          <a:xfrm>
            <a:off x="548640" y="3503676"/>
            <a:ext cx="11094415" cy="656843"/>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471672"/>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속성</a:t>
            </a:r>
          </a:p>
        </p:txBody>
      </p:sp>
      <p:sp>
        <p:nvSpPr>
          <p:cNvPr id="20" name="TextBox 19"/>
          <p:cNvSpPr txBox="1"/>
          <p:nvPr/>
        </p:nvSpPr>
        <p:spPr>
          <a:xfrm>
            <a:off x="3200400" y="3471672"/>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노드와 관계의 속성</a:t>
            </a:r>
          </a:p>
        </p:txBody>
      </p:sp>
      <p:sp>
        <p:nvSpPr>
          <p:cNvPr id="21" name="TextBox 20"/>
          <p:cNvSpPr txBox="1"/>
          <p:nvPr/>
        </p:nvSpPr>
        <p:spPr>
          <a:xfrm>
            <a:off x="9448495" y="3471672"/>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tag: 'TS1'</a:t>
            </a:r>
          </a:p>
        </p:txBody>
      </p:sp>
      <p:sp>
        <p:nvSpPr>
          <p:cNvPr id="22" name="Rounded Rectangle 21"/>
          <p:cNvSpPr/>
          <p:nvPr/>
        </p:nvSpPr>
        <p:spPr>
          <a:xfrm>
            <a:off x="548640" y="4224528"/>
            <a:ext cx="11094415" cy="656843"/>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192524"/>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관계 유형</a:t>
            </a:r>
          </a:p>
        </p:txBody>
      </p:sp>
      <p:sp>
        <p:nvSpPr>
          <p:cNvPr id="24" name="TextBox 23"/>
          <p:cNvSpPr txBox="1"/>
          <p:nvPr/>
        </p:nvSpPr>
        <p:spPr>
          <a:xfrm>
            <a:off x="3200400" y="4192524"/>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관계 유형</a:t>
            </a:r>
          </a:p>
        </p:txBody>
      </p:sp>
      <p:sp>
        <p:nvSpPr>
          <p:cNvPr id="25" name="TextBox 24"/>
          <p:cNvSpPr txBox="1"/>
          <p:nvPr/>
        </p:nvSpPr>
        <p:spPr>
          <a:xfrm>
            <a:off x="9448495" y="4192524"/>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:OBSERVES</a:t>
            </a:r>
          </a:p>
        </p:txBody>
      </p:sp>
      <p:sp>
        <p:nvSpPr>
          <p:cNvPr id="26" name="Rounded Rectangle 25"/>
          <p:cNvSpPr/>
          <p:nvPr/>
        </p:nvSpPr>
        <p:spPr>
          <a:xfrm>
            <a:off x="548640" y="4945380"/>
            <a:ext cx="11094415" cy="656843"/>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913376"/>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상위 · 하위 클래스</a:t>
            </a:r>
          </a:p>
        </p:txBody>
      </p:sp>
      <p:sp>
        <p:nvSpPr>
          <p:cNvPr id="28" name="TextBox 27"/>
          <p:cNvSpPr txBox="1"/>
          <p:nvPr/>
        </p:nvSpPr>
        <p:spPr>
          <a:xfrm>
            <a:off x="3200400" y="4913376"/>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한 노드에 레이블 둘</a:t>
            </a:r>
          </a:p>
        </p:txBody>
      </p:sp>
      <p:sp>
        <p:nvSpPr>
          <p:cNvPr id="29" name="TextBox 28"/>
          <p:cNvSpPr txBox="1"/>
          <p:nvPr/>
        </p:nvSpPr>
        <p:spPr>
          <a:xfrm>
            <a:off x="9448495" y="4913376"/>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:Task:FlowNode</a:t>
            </a:r>
          </a:p>
        </p:txBody>
      </p:sp>
      <p:sp>
        <p:nvSpPr>
          <p:cNvPr id="30" name="Rounded Rectangle 29"/>
          <p:cNvSpPr/>
          <p:nvPr/>
        </p:nvSpPr>
        <p:spPr>
          <a:xfrm>
            <a:off x="548640" y="5666232"/>
            <a:ext cx="11094415" cy="656843"/>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634228"/>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식별자의 고유성</a:t>
            </a:r>
          </a:p>
        </p:txBody>
      </p:sp>
      <p:sp>
        <p:nvSpPr>
          <p:cNvPr id="32" name="TextBox 31"/>
          <p:cNvSpPr txBox="1"/>
          <p:nvPr/>
        </p:nvSpPr>
        <p:spPr>
          <a:xfrm>
            <a:off x="3200400" y="5634228"/>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DB 제약</a:t>
            </a:r>
          </a:p>
        </p:txBody>
      </p:sp>
      <p:sp>
        <p:nvSpPr>
          <p:cNvPr id="33" name="TextBox 32"/>
          <p:cNvSpPr txBox="1"/>
          <p:nvPr/>
        </p:nvSpPr>
        <p:spPr>
          <a:xfrm>
            <a:off x="9448495" y="5634228"/>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id의 유일 제약</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DB 제약: 저장할 때 데이터베이스가 검사하는 조건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1">
                <a:solidFill>
                  <a:srgbClr val="1A6FC4"/>
                </a:solidFill>
                <a:latin typeface="맑은 고딕"/>
                <a:ea typeface="맑은 고딕"/>
                <a:cs typeface="맑은 고딕"/>
              </a:rPr>
              <a:t>DB 제약</a:t>
            </a:r>
            <a:r>
              <a:rPr sz="1600" b="0">
                <a:solidFill>
                  <a:srgbClr val="556175"/>
                </a:solidFill>
                <a:latin typeface="맑은 고딕"/>
                <a:ea typeface="맑은 고딕"/>
                <a:cs typeface="맑은 고딕"/>
              </a:rPr>
              <a:t>은 데이터를 저장하는 순간에 데이터베이스가 직접 검사하는 조건이다.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73</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DB 제약</a:t>
            </a:r>
          </a:p>
          <a:p>
            <a:pPr algn="l">
              <a:lnSpc>
                <a:spcPct val="110000"/>
              </a:lnSpc>
              <a:spcAft>
                <a:spcPts val="200"/>
              </a:spcAft>
            </a:pPr>
            <a:r>
              <a:rPr sz="1150" b="0">
                <a:solidFill>
                  <a:srgbClr val="556175"/>
                </a:solidFill>
                <a:latin typeface="맑은 고딕"/>
                <a:ea typeface="맑은 고딕"/>
                <a:cs typeface="맑은 고딕"/>
              </a:rPr>
              <a:t>Constraint</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스키마의 제약 가운데 데이터베이스에 걸어 둔 것이다.</a:t>
            </a:r>
          </a:p>
          <a:p>
            <a:pPr algn="l">
              <a:lnSpc>
                <a:spcPct val="110000"/>
              </a:lnSpc>
              <a:spcAft>
                <a:spcPts val="300"/>
              </a:spcAft>
            </a:pPr>
            <a:r>
              <a:rPr sz="1400" b="0">
                <a:solidFill>
                  <a:srgbClr val="1F2A3A"/>
                </a:solidFill>
                <a:latin typeface="맑은 고딕"/>
                <a:ea typeface="맑은 고딕"/>
                <a:cs typeface="맑은 고딕"/>
              </a:rPr>
              <a:t>조건에 어긋나는 데이터는 저장되지 않는다.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유일 제약</a:t>
            </a:r>
          </a:p>
          <a:p>
            <a:pPr algn="l">
              <a:lnSpc>
                <a:spcPct val="110000"/>
              </a:lnSpc>
              <a:spcAft>
                <a:spcPts val="200"/>
              </a:spcAft>
            </a:pPr>
            <a:r>
              <a:rPr sz="1150" b="0">
                <a:solidFill>
                  <a:srgbClr val="556175"/>
                </a:solidFill>
                <a:latin typeface="맑은 고딕"/>
                <a:ea typeface="맑은 고딕"/>
                <a:cs typeface="맑은 고딕"/>
              </a:rPr>
              <a:t>식별자의 고유성</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같은 레이블의 노드끼리 어떤 속성의 값이 겹치지 않게 한다.</a:t>
            </a:r>
          </a:p>
          <a:p>
            <a:pPr algn="l">
              <a:lnSpc>
                <a:spcPct val="110000"/>
              </a:lnSpc>
              <a:spcAft>
                <a:spcPts val="300"/>
              </a:spcAft>
            </a:pPr>
            <a:r>
              <a:rPr sz="1400" b="0">
                <a:solidFill>
                  <a:srgbClr val="1F2A3A"/>
                </a:solidFill>
                <a:latin typeface="맑은 고딕"/>
                <a:ea typeface="맑은 고딕"/>
                <a:cs typeface="맑은 고딕"/>
              </a:rPr>
              <a:t>예: 센서 노드의 id에 걸면 id가 sen:ts1인 센서를 하나 더 만들 수 없다.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스키마와 DB 제약</a:t>
            </a:r>
          </a:p>
          <a:p>
            <a:pPr algn="l">
              <a:lnSpc>
                <a:spcPct val="110000"/>
              </a:lnSpc>
              <a:spcAft>
                <a:spcPts val="200"/>
              </a:spcAft>
            </a:pPr>
            <a:r>
              <a:rPr sz="1150" b="0">
                <a:solidFill>
                  <a:srgbClr val="556175"/>
                </a:solidFill>
                <a:latin typeface="맑은 고딕"/>
                <a:ea typeface="맑은 고딕"/>
                <a:cs typeface="맑은 고딕"/>
              </a:rPr>
              <a:t>정의와 검사</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스키마는 무엇이 옳은 데이터인지를 정한다.</a:t>
            </a:r>
          </a:p>
          <a:p>
            <a:pPr algn="l">
              <a:lnSpc>
                <a:spcPct val="110000"/>
              </a:lnSpc>
              <a:spcAft>
                <a:spcPts val="300"/>
              </a:spcAft>
            </a:pPr>
            <a:r>
              <a:rPr sz="1400" b="0">
                <a:solidFill>
                  <a:srgbClr val="1F2A3A"/>
                </a:solidFill>
                <a:latin typeface="맑은 고딕"/>
                <a:ea typeface="맑은 고딕"/>
                <a:cs typeface="맑은 고딕"/>
              </a:rPr>
              <a:t>DB 제약은 그 조건을 저장하는 순간에 지키게 한다.</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Cypher와 Neo4j Browser</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Neo4j의 그래프는 </a:t>
            </a:r>
            <a:r>
              <a:rPr sz="1600" b="1">
                <a:solidFill>
                  <a:srgbClr val="1A6FC4"/>
                </a:solidFill>
                <a:latin typeface="맑은 고딕"/>
                <a:ea typeface="맑은 고딕"/>
                <a:cs typeface="맑은 고딕"/>
              </a:rPr>
              <a:t>Cypher</a:t>
            </a:r>
            <a:r>
              <a:rPr sz="1600" b="0">
                <a:solidFill>
                  <a:srgbClr val="556175"/>
                </a:solidFill>
                <a:latin typeface="맑은 고딕"/>
                <a:ea typeface="맑은 고딕"/>
                <a:cs typeface="맑은 고딕"/>
              </a:rPr>
              <a:t>라는 질의 언어로 조회하고 만들며, Neo4j Browser가 그 질의를 실행하는 화면이다.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74</a:t>
            </a:r>
          </a:p>
        </p:txBody>
      </p:sp>
      <p:sp>
        <p:nvSpPr>
          <p:cNvPr id="6" name="TextBox 5"/>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질의(Query)</a:t>
            </a:r>
          </a:p>
          <a:p>
            <a:pPr algn="l">
              <a:lnSpc>
                <a:spcPct val="110000"/>
              </a:lnSpc>
              <a:spcAft>
                <a:spcPts val="200"/>
              </a:spcAft>
            </a:pPr>
            <a:r>
              <a:rPr sz="1150" b="0">
                <a:solidFill>
                  <a:srgbClr val="556175"/>
                </a:solidFill>
                <a:latin typeface="맑은 고딕"/>
                <a:ea typeface="맑은 고딕"/>
                <a:cs typeface="맑은 고딕"/>
              </a:rPr>
              <a:t>요청</a:t>
            </a:r>
          </a:p>
        </p:txBody>
      </p:sp>
      <p:sp>
        <p:nvSpPr>
          <p:cNvPr id="7" name="TextBox 6"/>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데이터베이스에 보내는 요청 한 건이다. 무엇을 찾을지 또는 무엇을 만들지를 적는다.</a:t>
            </a:r>
          </a:p>
        </p:txBody>
      </p:sp>
      <p:sp>
        <p:nvSpPr>
          <p:cNvPr id="8" name="Rectangle 7"/>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9" name="Rounded Rectangle 8"/>
          <p:cNvSpPr/>
          <p:nvPr/>
        </p:nvSpPr>
        <p:spPr>
          <a:xfrm>
            <a:off x="548640" y="3332988"/>
            <a:ext cx="11094415" cy="1316736"/>
          </a:xfrm>
          <a:prstGeom prst="roundRect">
            <a:avLst>
              <a:gd name="adj" fmla="val 6000"/>
            </a:avLst>
          </a:prstGeom>
          <a:solidFill>
            <a:srgbClr val="E7F3FD"/>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Cypher</a:t>
            </a:r>
          </a:p>
          <a:p>
            <a:pPr algn="l">
              <a:lnSpc>
                <a:spcPct val="110000"/>
              </a:lnSpc>
              <a:spcAft>
                <a:spcPts val="200"/>
              </a:spcAft>
            </a:pPr>
            <a:r>
              <a:rPr sz="1150" b="0">
                <a:solidFill>
                  <a:srgbClr val="556175"/>
                </a:solidFill>
                <a:latin typeface="맑은 고딕"/>
                <a:ea typeface="맑은 고딕"/>
                <a:cs typeface="맑은 고딕"/>
              </a:rPr>
              <a:t>질의 언어</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Neo4j의 질의 언어이다. 찾으려는 노드와 관계의 모양을 글자로 그려서 적는다.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Neo4j Browser</a:t>
            </a:r>
          </a:p>
          <a:p>
            <a:pPr algn="l">
              <a:lnSpc>
                <a:spcPct val="110000"/>
              </a:lnSpc>
              <a:spcAft>
                <a:spcPts val="200"/>
              </a:spcAft>
            </a:pPr>
            <a:r>
              <a:rPr sz="1150" b="0">
                <a:solidFill>
                  <a:srgbClr val="556175"/>
                </a:solidFill>
                <a:latin typeface="맑은 고딕"/>
                <a:ea typeface="맑은 고딕"/>
                <a:cs typeface="맑은 고딕"/>
              </a:rPr>
              <a:t>질의 실행 화면</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Neo4j에 딸린 웹 화면이다. Cypher를 입력해 실행하고 결과를 그래프와 표로 본다.</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Cypher 표기: 노드, 관계, 변수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Cypher는 노드를 둥근 괄호로, 관계를 대괄호와 화살표로 적고, 콜론 앞의 변수로 찾은 노드를 다시 부른다.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75</a:t>
            </a:r>
          </a:p>
        </p:txBody>
      </p:sp>
      <p:pic>
        <p:nvPicPr>
          <p:cNvPr id="6" name="삽화:표기_3.svg" descr="illust_6009930035610132627_179171724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04742" y="2384023"/>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유온 센서</a:t>
            </a:r>
          </a:p>
        </p:txBody>
      </p:sp>
      <p:sp>
        <p:nvSpPr>
          <p:cNvPr id="8" name="TextBox 7"/>
          <p:cNvSpPr txBox="1"/>
          <p:nvPr/>
        </p:nvSpPr>
        <p:spPr>
          <a:xfrm>
            <a:off x="5332182" y="2100376"/>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OBSERVES</a:t>
            </a:r>
          </a:p>
        </p:txBody>
      </p:sp>
      <p:sp>
        <p:nvSpPr>
          <p:cNvPr id="9" name="TextBox 8"/>
          <p:cNvSpPr txBox="1"/>
          <p:nvPr/>
        </p:nvSpPr>
        <p:spPr>
          <a:xfrm>
            <a:off x="10077813" y="2384023"/>
            <a:ext cx="109094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유온</a:t>
            </a:r>
          </a:p>
        </p:txBody>
      </p:sp>
      <p:sp>
        <p:nvSpPr>
          <p:cNvPr id="10" name="TextBox 9"/>
          <p:cNvSpPr txBox="1"/>
          <p:nvPr/>
        </p:nvSpPr>
        <p:spPr>
          <a:xfrm>
            <a:off x="1677502" y="4369551"/>
            <a:ext cx="2836468"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(s:Sensor)</a:t>
            </a:r>
          </a:p>
        </p:txBody>
      </p:sp>
      <p:sp>
        <p:nvSpPr>
          <p:cNvPr id="11" name="TextBox 10"/>
          <p:cNvSpPr txBox="1"/>
          <p:nvPr/>
        </p:nvSpPr>
        <p:spPr>
          <a:xfrm>
            <a:off x="5059445" y="4369551"/>
            <a:ext cx="2072804"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-[:OBSERVES]-&gt;</a:t>
            </a:r>
          </a:p>
        </p:txBody>
      </p:sp>
      <p:sp>
        <p:nvSpPr>
          <p:cNvPr id="12" name="TextBox 11"/>
          <p:cNvSpPr txBox="1"/>
          <p:nvPr/>
        </p:nvSpPr>
        <p:spPr>
          <a:xfrm>
            <a:off x="7677724" y="4369551"/>
            <a:ext cx="2836468"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(v:StateVariable)</a:t>
            </a:r>
          </a:p>
        </p:txBody>
      </p:sp>
      <p:sp>
        <p:nvSpPr>
          <p:cNvPr id="13" name="TextBox 12"/>
          <p:cNvSpPr txBox="1"/>
          <p:nvPr/>
        </p:nvSpPr>
        <p:spPr>
          <a:xfrm>
            <a:off x="1622954" y="5102306"/>
            <a:ext cx="294556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둥근 괄호는 노드</a:t>
            </a:r>
          </a:p>
          <a:p>
            <a:pPr algn="ctr">
              <a:lnSpc>
                <a:spcPct val="110000"/>
              </a:lnSpc>
              <a:spcAft>
                <a:spcPts val="100"/>
              </a:spcAft>
            </a:pPr>
            <a:r>
              <a:rPr sz="1300" b="0">
                <a:solidFill>
                  <a:srgbClr val="556175"/>
                </a:solidFill>
                <a:latin typeface="맑은 고딕"/>
                <a:ea typeface="맑은 고딕"/>
                <a:cs typeface="맑은 고딕"/>
              </a:rPr>
              <a:t>콜론 뒤의 Sensor가</a:t>
            </a:r>
          </a:p>
          <a:p>
            <a:pPr algn="ctr">
              <a:lnSpc>
                <a:spcPct val="110000"/>
              </a:lnSpc>
              <a:spcAft>
                <a:spcPts val="100"/>
              </a:spcAft>
            </a:pPr>
            <a:r>
              <a:rPr sz="1300" b="0">
                <a:solidFill>
                  <a:srgbClr val="556175"/>
                </a:solidFill>
                <a:latin typeface="맑은 고딕"/>
                <a:ea typeface="맑은 고딕"/>
                <a:cs typeface="맑은 고딕"/>
              </a:rPr>
              <a:t>레이블이다</a:t>
            </a:r>
          </a:p>
        </p:txBody>
      </p:sp>
      <p:sp>
        <p:nvSpPr>
          <p:cNvPr id="14" name="TextBox 13"/>
          <p:cNvSpPr txBox="1"/>
          <p:nvPr/>
        </p:nvSpPr>
        <p:spPr>
          <a:xfrm>
            <a:off x="4895803" y="5102306"/>
            <a:ext cx="240008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대괄호는 관계</a:t>
            </a:r>
          </a:p>
          <a:p>
            <a:pPr algn="ctr">
              <a:lnSpc>
                <a:spcPct val="110000"/>
              </a:lnSpc>
              <a:spcAft>
                <a:spcPts val="100"/>
              </a:spcAft>
            </a:pPr>
            <a:r>
              <a:rPr sz="1300" b="0">
                <a:solidFill>
                  <a:srgbClr val="556175"/>
                </a:solidFill>
                <a:latin typeface="맑은 고딕"/>
                <a:ea typeface="맑은 고딕"/>
                <a:cs typeface="맑은 고딕"/>
              </a:rPr>
              <a:t>콜론 뒤가 관계 유형이고</a:t>
            </a:r>
          </a:p>
          <a:p>
            <a:pPr algn="ctr">
              <a:lnSpc>
                <a:spcPct val="110000"/>
              </a:lnSpc>
              <a:spcAft>
                <a:spcPts val="100"/>
              </a:spcAft>
            </a:pPr>
            <a:r>
              <a:rPr sz="1300" b="0">
                <a:solidFill>
                  <a:srgbClr val="556175"/>
                </a:solidFill>
                <a:latin typeface="맑은 고딕"/>
                <a:ea typeface="맑은 고딕"/>
                <a:cs typeface="맑은 고딕"/>
              </a:rPr>
              <a:t>화살표가 방향이다</a:t>
            </a:r>
          </a:p>
        </p:txBody>
      </p:sp>
      <p:sp>
        <p:nvSpPr>
          <p:cNvPr id="15" name="TextBox 14"/>
          <p:cNvSpPr txBox="1"/>
          <p:nvPr/>
        </p:nvSpPr>
        <p:spPr>
          <a:xfrm>
            <a:off x="7732271" y="5102306"/>
            <a:ext cx="283646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s와 v는 변수</a:t>
            </a:r>
          </a:p>
          <a:p>
            <a:pPr algn="ctr">
              <a:lnSpc>
                <a:spcPct val="110000"/>
              </a:lnSpc>
              <a:spcAft>
                <a:spcPts val="100"/>
              </a:spcAft>
            </a:pPr>
            <a:r>
              <a:rPr sz="1300" b="0">
                <a:solidFill>
                  <a:srgbClr val="556175"/>
                </a:solidFill>
                <a:latin typeface="맑은 고딕"/>
                <a:ea typeface="맑은 고딕"/>
                <a:cs typeface="맑은 고딕"/>
              </a:rPr>
              <a:t>뒤에서 s.tag, v.name처럼</a:t>
            </a:r>
          </a:p>
          <a:p>
            <a:pPr algn="ctr">
              <a:lnSpc>
                <a:spcPct val="110000"/>
              </a:lnSpc>
              <a:spcAft>
                <a:spcPts val="100"/>
              </a:spcAft>
            </a:pPr>
            <a:r>
              <a:rPr sz="1300" b="0">
                <a:solidFill>
                  <a:srgbClr val="556175"/>
                </a:solidFill>
                <a:latin typeface="맑은 고딕"/>
                <a:ea typeface="맑은 고딕"/>
                <a:cs typeface="맑은 고딕"/>
              </a:rPr>
              <a:t>그 노드의 속성을 부른다</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속성 조건: 중괄호로 노드를 좁힌다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괄호 안에 레이블과 중괄호의 속성 조건을 더할수록 가리키는 노드가 좁혀진다.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76</a:t>
            </a:r>
          </a:p>
        </p:txBody>
      </p:sp>
      <p:sp>
        <p:nvSpPr>
          <p:cNvPr id="6" name="Rounded Rectangle 5"/>
          <p:cNvSpPr/>
          <p:nvPr/>
        </p:nvSpPr>
        <p:spPr>
          <a:xfrm>
            <a:off x="548640" y="2653665"/>
            <a:ext cx="6766560" cy="2675382"/>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790825"/>
            <a:ext cx="6400800" cy="2401062"/>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(s)</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(s:Sensor)</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(s:Sensor {tag: 'TS1'})</a:t>
            </a:r>
          </a:p>
        </p:txBody>
      </p:sp>
      <p:sp>
        <p:nvSpPr>
          <p:cNvPr id="8" name="TextBox 7"/>
          <p:cNvSpPr txBox="1"/>
          <p:nvPr/>
        </p:nvSpPr>
        <p:spPr>
          <a:xfrm>
            <a:off x="7635240" y="2653665"/>
            <a:ext cx="4007815" cy="89179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(s)</a:t>
            </a:r>
          </a:p>
          <a:p>
            <a:pPr algn="l">
              <a:lnSpc>
                <a:spcPct val="110000"/>
              </a:lnSpc>
              <a:spcAft>
                <a:spcPts val="400"/>
              </a:spcAft>
            </a:pPr>
            <a:r>
              <a:rPr sz="1400" b="0">
                <a:solidFill>
                  <a:srgbClr val="1F2A3A"/>
                </a:solidFill>
                <a:latin typeface="맑은 고딕"/>
                <a:ea typeface="맑은 고딕"/>
                <a:cs typeface="맑은 고딕"/>
              </a:rPr>
              <a:t>아무 노드나 가리킨다.</a:t>
            </a:r>
          </a:p>
        </p:txBody>
      </p:sp>
      <p:sp>
        <p:nvSpPr>
          <p:cNvPr id="9" name="TextBox 8"/>
          <p:cNvSpPr txBox="1"/>
          <p:nvPr/>
        </p:nvSpPr>
        <p:spPr>
          <a:xfrm>
            <a:off x="7635240" y="3545459"/>
            <a:ext cx="4007815" cy="89179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(s:Sensor)</a:t>
            </a:r>
          </a:p>
          <a:p>
            <a:pPr algn="l">
              <a:lnSpc>
                <a:spcPct val="110000"/>
              </a:lnSpc>
              <a:spcAft>
                <a:spcPts val="400"/>
              </a:spcAft>
            </a:pPr>
            <a:r>
              <a:rPr sz="1400" b="0">
                <a:solidFill>
                  <a:srgbClr val="1F2A3A"/>
                </a:solidFill>
                <a:latin typeface="맑은 고딕"/>
                <a:ea typeface="맑은 고딕"/>
                <a:cs typeface="맑은 고딕"/>
              </a:rPr>
              <a:t>Sensor 레이블이 붙은 노드만 가리킨다.</a:t>
            </a:r>
          </a:p>
        </p:txBody>
      </p:sp>
      <p:sp>
        <p:nvSpPr>
          <p:cNvPr id="10" name="TextBox 9"/>
          <p:cNvSpPr txBox="1"/>
          <p:nvPr/>
        </p:nvSpPr>
        <p:spPr>
          <a:xfrm>
            <a:off x="7635240" y="4437253"/>
            <a:ext cx="4007815" cy="89179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{tag: 'TS1'}</a:t>
            </a:r>
          </a:p>
          <a:p>
            <a:pPr algn="l">
              <a:lnSpc>
                <a:spcPct val="110000"/>
              </a:lnSpc>
              <a:spcAft>
                <a:spcPts val="400"/>
              </a:spcAft>
            </a:pPr>
            <a:r>
              <a:rPr sz="1400" b="0">
                <a:solidFill>
                  <a:srgbClr val="1F2A3A"/>
                </a:solidFill>
                <a:latin typeface="맑은 고딕"/>
                <a:ea typeface="맑은 고딕"/>
                <a:cs typeface="맑은 고딕"/>
              </a:rPr>
              <a:t>그 가운데 tag 속성이 TS1인 노드만 가리킨다.</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MATCH와 RETURN: 찾을 모양과 돌려받을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MATCH에는 찾을 모양을, RETURN에는 돌려받을 것을 적으며, 모양에 맞는 것마다 한 행이 나온다.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77</a:t>
            </a:r>
          </a:p>
        </p:txBody>
      </p:sp>
      <p:sp>
        <p:nvSpPr>
          <p:cNvPr id="6" name="Rounded Rectangle 5"/>
          <p:cNvSpPr/>
          <p:nvPr/>
        </p:nvSpPr>
        <p:spPr>
          <a:xfrm>
            <a:off x="548640" y="2328290"/>
            <a:ext cx="6766560" cy="332613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0"/>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MATCH (c:Component {name: '</a:t>
            </a:r>
            <a:r>
              <a:rPr sz="1300" b="0">
                <a:solidFill>
                  <a:srgbClr val="E8EEF6"/>
                </a:solidFill>
                <a:latin typeface="맑은 고딕"/>
                <a:ea typeface="맑은 고딕"/>
                <a:cs typeface="맑은 고딕"/>
              </a:rPr>
              <a:t>오일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-[:MONITORED_BY]-&gt;(s:Sensor)</a:t>
            </a:r>
          </a:p>
          <a:p>
            <a:pPr algn="l">
              <a:lnSpc>
                <a:spcPct val="110000"/>
              </a:lnSpc>
              <a:spcAft>
                <a:spcPts val="200"/>
              </a:spcAft>
            </a:pPr>
            <a:r>
              <a:rPr sz="1300" b="0">
                <a:solidFill>
                  <a:srgbClr val="E8EEF6"/>
                </a:solidFill>
                <a:latin typeface="Consolas"/>
                <a:ea typeface="맑은 고딕"/>
                <a:cs typeface="맑은 고딕"/>
              </a:rPr>
              <a:t>RETURN c.name, s.tag</a:t>
            </a:r>
          </a:p>
          <a:p>
            <a:pPr algn="l">
              <a:lnSpc>
                <a:spcPct val="110000"/>
              </a:lnSpc>
              <a:spcAft>
                <a:spcPts val="200"/>
              </a:spcAft>
            </a:pPr>
          </a:p>
          <a:p>
            <a:pPr algn="l">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오일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"TS1"</a:t>
            </a:r>
          </a:p>
          <a:p>
            <a:pPr algn="l">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오일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"CE"</a:t>
            </a:r>
          </a:p>
        </p:txBody>
      </p:sp>
      <p:sp>
        <p:nvSpPr>
          <p:cNvPr id="8" name="TextBox 7"/>
          <p:cNvSpPr txBox="1"/>
          <p:nvPr/>
        </p:nvSpPr>
        <p:spPr>
          <a:xfrm>
            <a:off x="7635240" y="2328290"/>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MATCH</a:t>
            </a:r>
          </a:p>
          <a:p>
            <a:pPr algn="l">
              <a:lnSpc>
                <a:spcPct val="110000"/>
              </a:lnSpc>
              <a:spcAft>
                <a:spcPts val="400"/>
              </a:spcAft>
            </a:pPr>
            <a:r>
              <a:rPr sz="1400" b="0">
                <a:solidFill>
                  <a:srgbClr val="1F2A3A"/>
                </a:solidFill>
                <a:latin typeface="맑은 고딕"/>
                <a:ea typeface="맑은 고딕"/>
                <a:cs typeface="맑은 고딕"/>
              </a:rPr>
              <a:t>찾을 모양을 적는 자리이다. 이름이 오일 쿨러인 구성 요소에서 MONITORED_BY로 이어진 센서를 찾는다.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RETURN</a:t>
            </a:r>
          </a:p>
          <a:p>
            <a:pPr algn="l">
              <a:lnSpc>
                <a:spcPct val="110000"/>
              </a:lnSpc>
              <a:spcAft>
                <a:spcPts val="400"/>
              </a:spcAft>
            </a:pPr>
            <a:r>
              <a:rPr sz="1400" b="0">
                <a:solidFill>
                  <a:srgbClr val="1F2A3A"/>
                </a:solidFill>
                <a:latin typeface="맑은 고딕"/>
                <a:ea typeface="맑은 고딕"/>
                <a:cs typeface="맑은 고딕"/>
              </a:rPr>
              <a:t>돌려받을 것을 적는 자리이다. c.name, s.tag는 찾은 구성 요소의 이름과 센서의 태그이다.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결과</a:t>
            </a:r>
          </a:p>
          <a:p>
            <a:pPr algn="l">
              <a:lnSpc>
                <a:spcPct val="110000"/>
              </a:lnSpc>
              <a:spcAft>
                <a:spcPts val="400"/>
              </a:spcAft>
            </a:pPr>
            <a:r>
              <a:rPr sz="1400" b="0">
                <a:solidFill>
                  <a:srgbClr val="1F2A3A"/>
                </a:solidFill>
                <a:latin typeface="맑은 고딕"/>
                <a:ea typeface="맑은 고딕"/>
                <a:cs typeface="맑은 고딕"/>
              </a:rPr>
              <a:t>모양에 맞는 것이 둘이므로 두 행이 나온다.</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조회 결과를 읽는 법</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결과의 한 행은 모양에 맞는 것 하나이고, 열은 RETURN에 적은 항목이다.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78</a:t>
            </a:r>
          </a:p>
        </p:txBody>
      </p:sp>
      <p:pic>
        <p:nvPicPr>
          <p:cNvPr id="6" name="삽화:결과읽기.svg" descr="illust_6153571329562009759_179171724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132027" y="2053102"/>
            <a:ext cx="392741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표로 본 결과</a:t>
            </a:r>
          </a:p>
          <a:p>
            <a:pPr algn="ctr">
              <a:lnSpc>
                <a:spcPct val="110000"/>
              </a:lnSpc>
              <a:spcAft>
                <a:spcPts val="100"/>
              </a:spcAft>
            </a:pPr>
            <a:r>
              <a:rPr sz="1300" b="0">
                <a:solidFill>
                  <a:srgbClr val="556175"/>
                </a:solidFill>
                <a:latin typeface="맑은 고딕"/>
                <a:ea typeface="맑은 고딕"/>
                <a:cs typeface="맑은 고딕"/>
              </a:rPr>
              <a:t>열은 RETURN에 적은 항목</a:t>
            </a:r>
          </a:p>
        </p:txBody>
      </p:sp>
      <p:sp>
        <p:nvSpPr>
          <p:cNvPr id="8" name="TextBox 7"/>
          <p:cNvSpPr txBox="1"/>
          <p:nvPr/>
        </p:nvSpPr>
        <p:spPr>
          <a:xfrm>
            <a:off x="1219303" y="3045866"/>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c.name</a:t>
            </a:r>
          </a:p>
        </p:txBody>
      </p:sp>
      <p:sp>
        <p:nvSpPr>
          <p:cNvPr id="9" name="TextBox 8"/>
          <p:cNvSpPr txBox="1"/>
          <p:nvPr/>
        </p:nvSpPr>
        <p:spPr>
          <a:xfrm>
            <a:off x="3226650" y="3045866"/>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s.tag</a:t>
            </a:r>
          </a:p>
        </p:txBody>
      </p:sp>
      <p:sp>
        <p:nvSpPr>
          <p:cNvPr id="10" name="TextBox 9"/>
          <p:cNvSpPr txBox="1"/>
          <p:nvPr/>
        </p:nvSpPr>
        <p:spPr>
          <a:xfrm>
            <a:off x="1219303" y="3773893"/>
            <a:ext cx="1745519"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오일 쿨러</a:t>
            </a:r>
          </a:p>
        </p:txBody>
      </p:sp>
      <p:sp>
        <p:nvSpPr>
          <p:cNvPr id="11" name="TextBox 10"/>
          <p:cNvSpPr txBox="1"/>
          <p:nvPr/>
        </p:nvSpPr>
        <p:spPr>
          <a:xfrm>
            <a:off x="3226650" y="3773893"/>
            <a:ext cx="1745519"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TS1</a:t>
            </a:r>
          </a:p>
        </p:txBody>
      </p:sp>
      <p:sp>
        <p:nvSpPr>
          <p:cNvPr id="12" name="TextBox 11"/>
          <p:cNvSpPr txBox="1"/>
          <p:nvPr/>
        </p:nvSpPr>
        <p:spPr>
          <a:xfrm>
            <a:off x="1219303" y="4501920"/>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오일 쿨러</a:t>
            </a:r>
          </a:p>
        </p:txBody>
      </p:sp>
      <p:sp>
        <p:nvSpPr>
          <p:cNvPr id="13" name="TextBox 12"/>
          <p:cNvSpPr txBox="1"/>
          <p:nvPr/>
        </p:nvSpPr>
        <p:spPr>
          <a:xfrm>
            <a:off x="3226650" y="4501920"/>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CE</a:t>
            </a:r>
          </a:p>
        </p:txBody>
      </p:sp>
      <p:sp>
        <p:nvSpPr>
          <p:cNvPr id="14" name="TextBox 13"/>
          <p:cNvSpPr txBox="1"/>
          <p:nvPr/>
        </p:nvSpPr>
        <p:spPr>
          <a:xfrm>
            <a:off x="6859512" y="1722180"/>
            <a:ext cx="392741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그래프로 본 결과</a:t>
            </a:r>
          </a:p>
          <a:p>
            <a:pPr algn="ctr">
              <a:lnSpc>
                <a:spcPct val="110000"/>
              </a:lnSpc>
              <a:spcAft>
                <a:spcPts val="100"/>
              </a:spcAft>
            </a:pPr>
            <a:r>
              <a:rPr sz="1300" b="0">
                <a:solidFill>
                  <a:srgbClr val="556175"/>
                </a:solidFill>
                <a:latin typeface="맑은 고딕"/>
                <a:ea typeface="맑은 고딕"/>
                <a:cs typeface="맑은 고딕"/>
              </a:rPr>
              <a:t>같은 결과를 노드와 관계로 본다</a:t>
            </a:r>
          </a:p>
        </p:txBody>
      </p:sp>
      <p:sp>
        <p:nvSpPr>
          <p:cNvPr id="15" name="TextBox 14"/>
          <p:cNvSpPr txBox="1"/>
          <p:nvPr/>
        </p:nvSpPr>
        <p:spPr>
          <a:xfrm>
            <a:off x="6608593" y="4653198"/>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오일 쿨러</a:t>
            </a:r>
          </a:p>
        </p:txBody>
      </p:sp>
      <p:sp>
        <p:nvSpPr>
          <p:cNvPr id="16" name="TextBox 15"/>
          <p:cNvSpPr txBox="1"/>
          <p:nvPr/>
        </p:nvSpPr>
        <p:spPr>
          <a:xfrm>
            <a:off x="9499610" y="3400425"/>
            <a:ext cx="1090949"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TS1</a:t>
            </a:r>
          </a:p>
        </p:txBody>
      </p:sp>
      <p:sp>
        <p:nvSpPr>
          <p:cNvPr id="17" name="TextBox 16"/>
          <p:cNvSpPr txBox="1"/>
          <p:nvPr/>
        </p:nvSpPr>
        <p:spPr>
          <a:xfrm>
            <a:off x="9499610" y="5409590"/>
            <a:ext cx="109094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CE</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관계를 이어 적어 세 단계를 한 번에 따라간다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노드와 관계를 번갈아 이어 적으면 설비에서 상태 변수의 한계값까지를 질의 한 번으로 따라갈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79</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MATCH (a:Asset {code: 'HYD-01'})</a:t>
            </a:r>
          </a:p>
          <a:p>
            <a:pPr algn="l">
              <a:lnSpc>
                <a:spcPct val="110000"/>
              </a:lnSpc>
              <a:spcAft>
                <a:spcPts val="200"/>
              </a:spcAft>
            </a:pPr>
            <a:r>
              <a:rPr sz="1300" b="0">
                <a:solidFill>
                  <a:srgbClr val="E8EEF6"/>
                </a:solidFill>
                <a:latin typeface="Consolas"/>
                <a:ea typeface="맑은 고딕"/>
                <a:cs typeface="맑은 고딕"/>
              </a:rPr>
              <a:t>      -[:HAS_COMPONENT]-&gt;(c:Component)</a:t>
            </a:r>
          </a:p>
          <a:p>
            <a:pPr algn="l">
              <a:lnSpc>
                <a:spcPct val="110000"/>
              </a:lnSpc>
              <a:spcAft>
                <a:spcPts val="200"/>
              </a:spcAft>
            </a:pPr>
            <a:r>
              <a:rPr sz="1300" b="0">
                <a:solidFill>
                  <a:srgbClr val="E8EEF6"/>
                </a:solidFill>
                <a:latin typeface="Consolas"/>
                <a:ea typeface="맑은 고딕"/>
                <a:cs typeface="맑은 고딕"/>
              </a:rPr>
              <a:t>      -[:MONITORED_BY]-&gt;(s:Sensor)</a:t>
            </a:r>
          </a:p>
          <a:p>
            <a:pPr algn="l">
              <a:lnSpc>
                <a:spcPct val="110000"/>
              </a:lnSpc>
              <a:spcAft>
                <a:spcPts val="200"/>
              </a:spcAft>
            </a:pPr>
            <a:r>
              <a:rPr sz="1300" b="0">
                <a:solidFill>
                  <a:srgbClr val="E8EEF6"/>
                </a:solidFill>
                <a:latin typeface="Consolas"/>
                <a:ea typeface="맑은 고딕"/>
                <a:cs typeface="맑은 고딕"/>
              </a:rPr>
              <a:t>      -[:OBSERVES]-&gt;(v:StateVariable)</a:t>
            </a:r>
          </a:p>
          <a:p>
            <a:pPr algn="l">
              <a:lnSpc>
                <a:spcPct val="110000"/>
              </a:lnSpc>
              <a:spcAft>
                <a:spcPts val="200"/>
              </a:spcAft>
            </a:pPr>
            <a:r>
              <a:rPr sz="1300" b="0">
                <a:solidFill>
                  <a:srgbClr val="E8EEF6"/>
                </a:solidFill>
                <a:latin typeface="Consolas"/>
                <a:ea typeface="맑은 고딕"/>
                <a:cs typeface="맑은 고딕"/>
              </a:rPr>
              <a:t>RETURN c.name, s.tag, v.name, v.limit</a:t>
            </a:r>
          </a:p>
          <a:p>
            <a:pPr algn="l">
              <a:lnSpc>
                <a:spcPct val="110000"/>
              </a:lnSpc>
              <a:spcAft>
                <a:spcPts val="200"/>
              </a:spcAft>
            </a:pPr>
          </a:p>
          <a:p>
            <a:pPr algn="l">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오일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"CE"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효율</a:t>
            </a:r>
            <a:r>
              <a:rPr sz="1300" b="0">
                <a:solidFill>
                  <a:srgbClr val="E8EEF6"/>
                </a:solidFill>
                <a:latin typeface="Consolas"/>
                <a:ea typeface="맑은 고딕"/>
                <a:cs typeface="맑은 고딕"/>
              </a:rPr>
              <a:t>"   NULL</a:t>
            </a:r>
          </a:p>
          <a:p>
            <a:pPr algn="l">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펌프</a:t>
            </a:r>
            <a:r>
              <a:rPr sz="1300" b="0">
                <a:solidFill>
                  <a:srgbClr val="E8EEF6"/>
                </a:solidFill>
                <a:latin typeface="Consolas"/>
                <a:ea typeface="맑은 고딕"/>
                <a:cs typeface="맑은 고딕"/>
              </a:rPr>
              <a:t> (A)"   "FS1"  "</a:t>
            </a:r>
            <a:r>
              <a:rPr sz="1300" b="0">
                <a:solidFill>
                  <a:srgbClr val="E8EEF6"/>
                </a:solidFill>
                <a:latin typeface="맑은 고딕"/>
                <a:ea typeface="맑은 고딕"/>
                <a:cs typeface="맑은 고딕"/>
              </a:rPr>
              <a:t>유량</a:t>
            </a:r>
            <a:r>
              <a:rPr sz="1300" b="0">
                <a:solidFill>
                  <a:srgbClr val="E8EEF6"/>
                </a:solidFill>
                <a:latin typeface="Consolas"/>
                <a:ea typeface="맑은 고딕"/>
                <a:cs typeface="맑은 고딕"/>
              </a:rPr>
              <a:t>"        NULL</a:t>
            </a:r>
          </a:p>
          <a:p>
            <a:pPr algn="l">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펌프</a:t>
            </a:r>
            <a:r>
              <a:rPr sz="1300" b="0">
                <a:solidFill>
                  <a:srgbClr val="E8EEF6"/>
                </a:solidFill>
                <a:latin typeface="Consolas"/>
                <a:ea typeface="맑은 고딕"/>
                <a:cs typeface="맑은 고딕"/>
              </a:rPr>
              <a:t> (A)"   "PS1"  "</a:t>
            </a:r>
            <a:r>
              <a:rPr sz="1300" b="0">
                <a:solidFill>
                  <a:srgbClr val="E8EEF6"/>
                </a:solidFill>
                <a:latin typeface="맑은 고딕"/>
                <a:ea typeface="맑은 고딕"/>
                <a:cs typeface="맑은 고딕"/>
              </a:rPr>
              <a:t>토출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압력</a:t>
            </a:r>
            <a:r>
              <a:rPr sz="1300" b="0">
                <a:solidFill>
                  <a:srgbClr val="E8EEF6"/>
                </a:solidFill>
                <a:latin typeface="Consolas"/>
                <a:ea typeface="맑은 고딕"/>
                <a:cs typeface="맑은 고딕"/>
              </a:rPr>
              <a:t>"   130</a:t>
            </a:r>
          </a:p>
          <a:p>
            <a:pPr algn="l">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오일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"TS1"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65</a:t>
            </a:r>
          </a:p>
          <a:p>
            <a:pPr algn="l">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"VS1"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진동</a:t>
            </a:r>
            <a:r>
              <a:rPr sz="1300" b="0">
                <a:solidFill>
                  <a:srgbClr val="E8EEF6"/>
                </a:solidFill>
                <a:latin typeface="Consolas"/>
                <a:ea typeface="맑은 고딕"/>
                <a:cs typeface="맑은 고딕"/>
              </a:rPr>
              <a:t>"     2.0</a:t>
            </a:r>
          </a:p>
        </p:txBody>
      </p:sp>
      <p:sp>
        <p:nvSpPr>
          <p:cNvPr id="8" name="TextBox 7"/>
          <p:cNvSpPr txBox="1"/>
          <p:nvPr/>
        </p:nvSpPr>
        <p:spPr>
          <a:xfrm>
            <a:off x="7635240" y="1773936"/>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출발점</a:t>
            </a:r>
          </a:p>
          <a:p>
            <a:pPr algn="l">
              <a:lnSpc>
                <a:spcPct val="110000"/>
              </a:lnSpc>
              <a:spcAft>
                <a:spcPts val="400"/>
              </a:spcAft>
            </a:pPr>
            <a:r>
              <a:rPr sz="1400" b="0">
                <a:solidFill>
                  <a:srgbClr val="1F2A3A"/>
                </a:solidFill>
                <a:latin typeface="맑은 고딕"/>
                <a:ea typeface="맑은 고딕"/>
                <a:cs typeface="맑은 고딕"/>
              </a:rPr>
              <a:t>설비 HYD-01에서 HAS_COMPONENT로 구성 요소에 이르는 첫 단계이다.</a:t>
            </a:r>
          </a:p>
        </p:txBody>
      </p:sp>
      <p:sp>
        <p:nvSpPr>
          <p:cNvPr id="9" name="TextBox 8"/>
          <p:cNvSpPr txBox="1"/>
          <p:nvPr/>
        </p:nvSpPr>
        <p:spPr>
          <a:xfrm>
            <a:off x="7635240" y="2882646"/>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이어 적은 부분</a:t>
            </a:r>
          </a:p>
          <a:p>
            <a:pPr algn="l">
              <a:lnSpc>
                <a:spcPct val="110000"/>
              </a:lnSpc>
              <a:spcAft>
                <a:spcPts val="400"/>
              </a:spcAft>
            </a:pPr>
            <a:r>
              <a:rPr sz="1400" b="0">
                <a:solidFill>
                  <a:srgbClr val="1F2A3A"/>
                </a:solidFill>
                <a:latin typeface="맑은 고딕"/>
                <a:ea typeface="맑은 고딕"/>
                <a:cs typeface="맑은 고딕"/>
              </a:rPr>
              <a:t>MONITORED_BY로 센서에, OBSERVES로 상태 변수에 이르는 두 단계이다.</a:t>
            </a:r>
          </a:p>
        </p:txBody>
      </p:sp>
      <p:sp>
        <p:nvSpPr>
          <p:cNvPr id="10" name="TextBox 9"/>
          <p:cNvSpPr txBox="1"/>
          <p:nvPr/>
        </p:nvSpPr>
        <p:spPr>
          <a:xfrm>
            <a:off x="7635240" y="3991356"/>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NULL</a:t>
            </a:r>
          </a:p>
          <a:p>
            <a:pPr algn="l">
              <a:lnSpc>
                <a:spcPct val="110000"/>
              </a:lnSpc>
              <a:spcAft>
                <a:spcPts val="400"/>
              </a:spcAft>
            </a:pPr>
            <a:r>
              <a:rPr sz="1400" b="0">
                <a:solidFill>
                  <a:srgbClr val="1F2A3A"/>
                </a:solidFill>
                <a:latin typeface="맑은 고딕"/>
                <a:ea typeface="맑은 고딕"/>
                <a:cs typeface="맑은 고딕"/>
              </a:rPr>
              <a:t>값이 없다는 표시이다. 냉각 효율과 유량에는 한계가 없다.</a:t>
            </a:r>
          </a:p>
        </p:txBody>
      </p:sp>
      <p:sp>
        <p:nvSpPr>
          <p:cNvPr id="11" name="TextBox 10"/>
          <p:cNvSpPr txBox="1"/>
          <p:nvPr/>
        </p:nvSpPr>
        <p:spPr>
          <a:xfrm>
            <a:off x="7635240" y="5100066"/>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결과</a:t>
            </a:r>
          </a:p>
          <a:p>
            <a:pPr algn="l">
              <a:lnSpc>
                <a:spcPct val="110000"/>
              </a:lnSpc>
              <a:spcAft>
                <a:spcPts val="400"/>
              </a:spcAft>
            </a:pPr>
            <a:r>
              <a:rPr sz="1400" b="0">
                <a:solidFill>
                  <a:srgbClr val="1F2A3A"/>
                </a:solidFill>
                <a:latin typeface="맑은 고딕"/>
                <a:ea typeface="맑은 고딕"/>
                <a:cs typeface="맑은 고딕"/>
              </a:rPr>
              <a:t>HYD-01의 구성 요소에 달린 센서가 다섯이므로 다섯 행이다.</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WHERE: 조건으로 결과를 거른다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WHERE에 조건을 적으면 MATCH가 찾은 것 가운데 그 조건에 맞는 것만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80</a:t>
            </a:r>
          </a:p>
        </p:txBody>
      </p:sp>
      <p:sp>
        <p:nvSpPr>
          <p:cNvPr id="6" name="Rounded Rectangle 5"/>
          <p:cNvSpPr/>
          <p:nvPr/>
        </p:nvSpPr>
        <p:spPr>
          <a:xfrm>
            <a:off x="548640" y="2436749"/>
            <a:ext cx="6766560" cy="3109213"/>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573909"/>
            <a:ext cx="6400800" cy="2834893"/>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MATCH (s:Sensor)-[:OBSERVES]-&gt;(v:StateVariable)</a:t>
            </a:r>
          </a:p>
          <a:p>
            <a:pPr algn="l">
              <a:lnSpc>
                <a:spcPct val="110000"/>
              </a:lnSpc>
              <a:spcAft>
                <a:spcPts val="200"/>
              </a:spcAft>
            </a:pPr>
            <a:r>
              <a:rPr sz="1300" b="0">
                <a:solidFill>
                  <a:srgbClr val="E8EEF6"/>
                </a:solidFill>
                <a:latin typeface="Consolas"/>
                <a:ea typeface="맑은 고딕"/>
                <a:cs typeface="맑은 고딕"/>
              </a:rPr>
              <a:t>WHERE v.limit IS NOT NULL</a:t>
            </a:r>
          </a:p>
          <a:p>
            <a:pPr algn="l">
              <a:lnSpc>
                <a:spcPct val="110000"/>
              </a:lnSpc>
              <a:spcAft>
                <a:spcPts val="200"/>
              </a:spcAft>
            </a:pPr>
            <a:r>
              <a:rPr sz="1300" b="0">
                <a:solidFill>
                  <a:srgbClr val="E8EEF6"/>
                </a:solidFill>
                <a:latin typeface="Consolas"/>
                <a:ea typeface="맑은 고딕"/>
                <a:cs typeface="맑은 고딕"/>
              </a:rPr>
              <a:t>RETURN s.tag, v.name, v.limit</a:t>
            </a:r>
          </a:p>
          <a:p>
            <a:pPr algn="l">
              <a:lnSpc>
                <a:spcPct val="110000"/>
              </a:lnSpc>
              <a:spcAft>
                <a:spcPts val="200"/>
              </a:spcAft>
            </a:pPr>
          </a:p>
          <a:p>
            <a:pPr algn="l">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"PS1"  "</a:t>
            </a:r>
            <a:r>
              <a:rPr sz="1300" b="0">
                <a:solidFill>
                  <a:srgbClr val="E8EEF6"/>
                </a:solidFill>
                <a:latin typeface="맑은 고딕"/>
                <a:ea typeface="맑은 고딕"/>
                <a:cs typeface="맑은 고딕"/>
              </a:rPr>
              <a:t>토출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압력</a:t>
            </a:r>
            <a:r>
              <a:rPr sz="1300" b="0">
                <a:solidFill>
                  <a:srgbClr val="E8EEF6"/>
                </a:solidFill>
                <a:latin typeface="Consolas"/>
                <a:ea typeface="맑은 고딕"/>
                <a:cs typeface="맑은 고딕"/>
              </a:rPr>
              <a:t>"   130</a:t>
            </a:r>
          </a:p>
          <a:p>
            <a:pPr algn="l">
              <a:lnSpc>
                <a:spcPct val="110000"/>
              </a:lnSpc>
              <a:spcAft>
                <a:spcPts val="200"/>
              </a:spcAft>
            </a:pPr>
            <a:r>
              <a:rPr sz="1300" b="0">
                <a:solidFill>
                  <a:srgbClr val="E8EEF6"/>
                </a:solidFill>
                <a:latin typeface="Consolas"/>
                <a:ea typeface="맑은 고딕"/>
                <a:cs typeface="맑은 고딕"/>
              </a:rPr>
              <a:t>"TS1"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65</a:t>
            </a:r>
          </a:p>
          <a:p>
            <a:pPr algn="l">
              <a:lnSpc>
                <a:spcPct val="110000"/>
              </a:lnSpc>
              <a:spcAft>
                <a:spcPts val="200"/>
              </a:spcAft>
            </a:pPr>
            <a:r>
              <a:rPr sz="1300" b="0">
                <a:solidFill>
                  <a:srgbClr val="E8EEF6"/>
                </a:solidFill>
                <a:latin typeface="Consolas"/>
                <a:ea typeface="맑은 고딕"/>
                <a:cs typeface="맑은 고딕"/>
              </a:rPr>
              <a:t>"VS1"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진동</a:t>
            </a:r>
            <a:r>
              <a:rPr sz="1300" b="0">
                <a:solidFill>
                  <a:srgbClr val="E8EEF6"/>
                </a:solidFill>
                <a:latin typeface="Consolas"/>
                <a:ea typeface="맑은 고딕"/>
                <a:cs typeface="맑은 고딕"/>
              </a:rPr>
              <a:t>"     2.0</a:t>
            </a:r>
          </a:p>
        </p:txBody>
      </p:sp>
      <p:sp>
        <p:nvSpPr>
          <p:cNvPr id="8" name="TextBox 7"/>
          <p:cNvSpPr txBox="1"/>
          <p:nvPr/>
        </p:nvSpPr>
        <p:spPr>
          <a:xfrm>
            <a:off x="7635240" y="2436749"/>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WHERE</a:t>
            </a:r>
          </a:p>
          <a:p>
            <a:pPr algn="l">
              <a:lnSpc>
                <a:spcPct val="110000"/>
              </a:lnSpc>
              <a:spcAft>
                <a:spcPts val="400"/>
              </a:spcAft>
            </a:pPr>
            <a:r>
              <a:rPr sz="1400" b="0">
                <a:solidFill>
                  <a:srgbClr val="1F2A3A"/>
                </a:solidFill>
                <a:latin typeface="맑은 고딕"/>
                <a:ea typeface="맑은 고딕"/>
                <a:cs typeface="맑은 고딕"/>
              </a:rPr>
              <a:t>MATCH와 RETURN 사이에 조건을 적는다.</a:t>
            </a:r>
          </a:p>
        </p:txBody>
      </p:sp>
      <p:sp>
        <p:nvSpPr>
          <p:cNvPr id="9" name="TextBox 8"/>
          <p:cNvSpPr txBox="1"/>
          <p:nvPr/>
        </p:nvSpPr>
        <p:spPr>
          <a:xfrm>
            <a:off x="7635240" y="3473153"/>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IS NOT NULL</a:t>
            </a:r>
          </a:p>
          <a:p>
            <a:pPr algn="l">
              <a:lnSpc>
                <a:spcPct val="110000"/>
              </a:lnSpc>
              <a:spcAft>
                <a:spcPts val="400"/>
              </a:spcAft>
            </a:pPr>
            <a:r>
              <a:rPr sz="1400" b="0">
                <a:solidFill>
                  <a:srgbClr val="1F2A3A"/>
                </a:solidFill>
                <a:latin typeface="맑은 고딕"/>
                <a:ea typeface="맑은 고딕"/>
                <a:cs typeface="맑은 고딕"/>
              </a:rPr>
              <a:t>값이 있는 것만 남긴다. 한계가 정해진 상태 변수 셋이 남는다.</a:t>
            </a:r>
          </a:p>
        </p:txBody>
      </p:sp>
      <p:sp>
        <p:nvSpPr>
          <p:cNvPr id="10" name="TextBox 9"/>
          <p:cNvSpPr txBox="1"/>
          <p:nvPr/>
        </p:nvSpPr>
        <p:spPr>
          <a:xfrm>
            <a:off x="7635240" y="4509558"/>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크기 비교</a:t>
            </a:r>
          </a:p>
          <a:p>
            <a:pPr algn="l">
              <a:lnSpc>
                <a:spcPct val="110000"/>
              </a:lnSpc>
              <a:spcAft>
                <a:spcPts val="400"/>
              </a:spcAft>
            </a:pPr>
            <a:r>
              <a:rPr sz="1400" b="0">
                <a:solidFill>
                  <a:srgbClr val="1F2A3A"/>
                </a:solidFill>
                <a:latin typeface="맑은 고딕"/>
                <a:ea typeface="맑은 고딕"/>
                <a:cs typeface="맑은 고딕"/>
              </a:rPr>
              <a:t>v.limit &gt; 100처럼 쓸 수도 있다. limit의 자료형이 수이기 때문이다.</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방향을 반대로 적었을 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관계의 방향을 정의와 반대로 적으면 오류가 나는 것이 아니라 결과가 한 행도 나오지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81</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circle-check" descr="circle-check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정의와 같은 방향</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(c:Component)-[:MONITORED_BY]-&gt;(s:Sensor)</a:t>
            </a:r>
          </a:p>
          <a:p>
            <a:pPr algn="l">
              <a:lnSpc>
                <a:spcPct val="110000"/>
              </a:lnSpc>
              <a:spcAft>
                <a:spcPts val="600"/>
              </a:spcAft>
            </a:pPr>
            <a:r>
              <a:rPr sz="1450" b="0">
                <a:solidFill>
                  <a:srgbClr val="1F2A3A"/>
                </a:solidFill>
                <a:latin typeface="맑은 고딕"/>
                <a:ea typeface="맑은 고딕"/>
                <a:cs typeface="맑은 고딕"/>
              </a:rPr>
              <a:t>• 구성 요소에서 센서로 향한다</a:t>
            </a:r>
          </a:p>
          <a:p>
            <a:pPr algn="l">
              <a:lnSpc>
                <a:spcPct val="110000"/>
              </a:lnSpc>
              <a:spcAft>
                <a:spcPts val="600"/>
              </a:spcAft>
            </a:pPr>
            <a:r>
              <a:rPr sz="1450" b="0">
                <a:solidFill>
                  <a:srgbClr val="1F2A3A"/>
                </a:solidFill>
                <a:latin typeface="맑은 고딕"/>
                <a:ea typeface="맑은 고딕"/>
                <a:cs typeface="맑은 고딕"/>
              </a:rPr>
              <a:t>• 결과: 구성 요소와 센서의 짝 다섯</a:t>
            </a:r>
          </a:p>
        </p:txBody>
      </p:sp>
      <p:sp>
        <p:nvSpPr>
          <p:cNvPr id="11" name="Rounded Rectangle 10"/>
          <p:cNvSpPr/>
          <p:nvPr/>
        </p:nvSpPr>
        <p:spPr>
          <a:xfrm>
            <a:off x="868680" y="4945570"/>
            <a:ext cx="8686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8686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다섯 행</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alert-triangle" descr="alert-triangle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정의와 반대 방향</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(s:Sensor)-[:MONITORED_BY]-&gt;(c:Component)</a:t>
            </a:r>
          </a:p>
          <a:p>
            <a:pPr algn="l">
              <a:lnSpc>
                <a:spcPct val="110000"/>
              </a:lnSpc>
              <a:spcAft>
                <a:spcPts val="600"/>
              </a:spcAft>
            </a:pPr>
            <a:r>
              <a:rPr sz="1450" b="0">
                <a:solidFill>
                  <a:srgbClr val="1F2A3A"/>
                </a:solidFill>
                <a:latin typeface="맑은 고딕"/>
                <a:ea typeface="맑은 고딕"/>
                <a:cs typeface="맑은 고딕"/>
              </a:rPr>
              <a:t>• 센서에서 구성 요소로 향한다</a:t>
            </a:r>
          </a:p>
          <a:p>
            <a:pPr algn="l">
              <a:lnSpc>
                <a:spcPct val="110000"/>
              </a:lnSpc>
              <a:spcAft>
                <a:spcPts val="600"/>
              </a:spcAft>
            </a:pPr>
            <a:r>
              <a:rPr sz="1450" b="0">
                <a:solidFill>
                  <a:srgbClr val="1F2A3A"/>
                </a:solidFill>
                <a:latin typeface="맑은 고딕"/>
                <a:ea typeface="맑은 고딕"/>
                <a:cs typeface="맑은 고딕"/>
              </a:rPr>
              <a:t>• 결과: 없음</a:t>
            </a:r>
          </a:p>
        </p:txBody>
      </p:sp>
      <p:sp>
        <p:nvSpPr>
          <p:cNvPr id="18" name="Rounded Rectangle 17"/>
          <p:cNvSpPr/>
          <p:nvPr/>
        </p:nvSpPr>
        <p:spPr>
          <a:xfrm>
            <a:off x="6781647" y="4945570"/>
            <a:ext cx="82296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0행</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경보에서 원인까지: 화살표를 따라가고 거슬러 가는 모양</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CAUSES처럼 거슬러 가야 하는 관계는 화살표를 반대로 적어, 경보에서 원인까지를 질의 하나로 잇는다.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82</a:t>
            </a:r>
          </a:p>
        </p:txBody>
      </p:sp>
      <p:pic>
        <p:nvPicPr>
          <p:cNvPr id="6" name="삽화:경로질의_2.svg" descr="illust_3865646398063009728_179171724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37471" y="3660434"/>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이상 패턴</a:t>
            </a:r>
          </a:p>
          <a:p>
            <a:pPr algn="ctr">
              <a:lnSpc>
                <a:spcPct val="110000"/>
              </a:lnSpc>
              <a:spcAft>
                <a:spcPts val="100"/>
              </a:spcAft>
            </a:pPr>
            <a:r>
              <a:rPr sz="1300" b="0">
                <a:solidFill>
                  <a:srgbClr val="556175"/>
                </a:solidFill>
                <a:latin typeface="맑은 고딕"/>
                <a:ea typeface="맑은 고딕"/>
                <a:cs typeface="맑은 고딕"/>
              </a:rPr>
              <a:t>쿨러 성능 저하</a:t>
            </a:r>
          </a:p>
        </p:txBody>
      </p:sp>
      <p:sp>
        <p:nvSpPr>
          <p:cNvPr id="8" name="TextBox 7"/>
          <p:cNvSpPr txBox="1"/>
          <p:nvPr/>
        </p:nvSpPr>
        <p:spPr>
          <a:xfrm>
            <a:off x="2462985" y="2762219"/>
            <a:ext cx="1090949"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DETECTS</a:t>
            </a:r>
          </a:p>
        </p:txBody>
      </p:sp>
      <p:sp>
        <p:nvSpPr>
          <p:cNvPr id="9" name="TextBox 8"/>
          <p:cNvSpPr txBox="1"/>
          <p:nvPr/>
        </p:nvSpPr>
        <p:spPr>
          <a:xfrm>
            <a:off x="3313926" y="3660434"/>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증상</a:t>
            </a:r>
          </a:p>
          <a:p>
            <a:pPr algn="ctr">
              <a:lnSpc>
                <a:spcPct val="110000"/>
              </a:lnSpc>
              <a:spcAft>
                <a:spcPts val="100"/>
              </a:spcAft>
            </a:pPr>
            <a:r>
              <a:rPr sz="1300" b="0">
                <a:solidFill>
                  <a:srgbClr val="556175"/>
                </a:solidFill>
                <a:latin typeface="맑은 고딕"/>
                <a:ea typeface="맑은 고딕"/>
                <a:cs typeface="맑은 고딕"/>
              </a:rPr>
              <a:t>유온 상승</a:t>
            </a:r>
          </a:p>
        </p:txBody>
      </p:sp>
      <p:sp>
        <p:nvSpPr>
          <p:cNvPr id="10" name="TextBox 9"/>
          <p:cNvSpPr txBox="1"/>
          <p:nvPr/>
        </p:nvSpPr>
        <p:spPr>
          <a:xfrm>
            <a:off x="4601246" y="2762219"/>
            <a:ext cx="1527329"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INDICATES</a:t>
            </a:r>
          </a:p>
        </p:txBody>
      </p:sp>
      <p:sp>
        <p:nvSpPr>
          <p:cNvPr id="11" name="TextBox 10"/>
          <p:cNvSpPr txBox="1"/>
          <p:nvPr/>
        </p:nvSpPr>
        <p:spPr>
          <a:xfrm>
            <a:off x="5517644" y="3754983"/>
            <a:ext cx="207280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고장 유형</a:t>
            </a:r>
          </a:p>
          <a:p>
            <a:pPr algn="ctr">
              <a:lnSpc>
                <a:spcPct val="110000"/>
              </a:lnSpc>
              <a:spcAft>
                <a:spcPts val="100"/>
              </a:spcAft>
            </a:pPr>
            <a:r>
              <a:rPr sz="1300" b="0">
                <a:solidFill>
                  <a:srgbClr val="556175"/>
                </a:solidFill>
                <a:latin typeface="맑은 고딕"/>
                <a:ea typeface="맑은 고딕"/>
                <a:cs typeface="맑은 고딕"/>
              </a:rPr>
              <a:t>쿨러 냉각 성능 상실</a:t>
            </a:r>
          </a:p>
        </p:txBody>
      </p:sp>
      <p:sp>
        <p:nvSpPr>
          <p:cNvPr id="12" name="TextBox 11"/>
          <p:cNvSpPr txBox="1"/>
          <p:nvPr/>
        </p:nvSpPr>
        <p:spPr>
          <a:xfrm>
            <a:off x="7132249" y="1958553"/>
            <a:ext cx="981854"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CAUSES</a:t>
            </a:r>
          </a:p>
        </p:txBody>
      </p:sp>
      <p:sp>
        <p:nvSpPr>
          <p:cNvPr id="13" name="TextBox 12"/>
          <p:cNvSpPr txBox="1"/>
          <p:nvPr/>
        </p:nvSpPr>
        <p:spPr>
          <a:xfrm>
            <a:off x="9314148" y="1982190"/>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원인</a:t>
            </a:r>
          </a:p>
        </p:txBody>
      </p:sp>
      <p:sp>
        <p:nvSpPr>
          <p:cNvPr id="14" name="TextBox 13"/>
          <p:cNvSpPr txBox="1"/>
          <p:nvPr/>
        </p:nvSpPr>
        <p:spPr>
          <a:xfrm>
            <a:off x="9314148" y="2965499"/>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구동 불량</a:t>
            </a:r>
          </a:p>
          <a:p>
            <a:pPr algn="ctr">
              <a:lnSpc>
                <a:spcPct val="110000"/>
              </a:lnSpc>
              <a:spcAft>
                <a:spcPts val="100"/>
              </a:spcAft>
            </a:pPr>
            <a:r>
              <a:rPr sz="1300" b="0">
                <a:solidFill>
                  <a:srgbClr val="556175"/>
                </a:solidFill>
                <a:latin typeface="맑은 고딕"/>
                <a:ea typeface="맑은 고딕"/>
                <a:cs typeface="맑은 고딕"/>
              </a:rPr>
              <a:t>원인</a:t>
            </a:r>
          </a:p>
        </p:txBody>
      </p:sp>
      <p:sp>
        <p:nvSpPr>
          <p:cNvPr id="15" name="TextBox 14"/>
          <p:cNvSpPr txBox="1"/>
          <p:nvPr/>
        </p:nvSpPr>
        <p:spPr>
          <a:xfrm>
            <a:off x="9314148" y="3944081"/>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주변 온도 상승</a:t>
            </a:r>
          </a:p>
          <a:p>
            <a:pPr algn="ctr">
              <a:lnSpc>
                <a:spcPct val="110000"/>
              </a:lnSpc>
              <a:spcAft>
                <a:spcPts val="100"/>
              </a:spcAft>
            </a:pPr>
            <a:r>
              <a:rPr sz="1300" b="0">
                <a:solidFill>
                  <a:srgbClr val="556175"/>
                </a:solidFill>
                <a:latin typeface="맑은 고딕"/>
                <a:ea typeface="맑은 고딕"/>
                <a:cs typeface="맑은 고딕"/>
              </a:rPr>
              <a:t>원인</a:t>
            </a:r>
          </a:p>
        </p:txBody>
      </p:sp>
      <p:sp>
        <p:nvSpPr>
          <p:cNvPr id="16" name="TextBox 15"/>
          <p:cNvSpPr txBox="1"/>
          <p:nvPr/>
        </p:nvSpPr>
        <p:spPr>
          <a:xfrm>
            <a:off x="1077479" y="5291404"/>
            <a:ext cx="10036735" cy="62382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(p:AnomalyPattern)-[:DETECTS]-&gt;(s:Symptom)-[:INDICATES]-&gt;(fm:FailureMode)&lt;-[:CAUSES]-(c:Cause)</a:t>
            </a:r>
          </a:p>
        </p:txBody>
      </p:sp>
      <p:sp>
        <p:nvSpPr>
          <p:cNvPr id="17" name="TextBox 16"/>
          <p:cNvSpPr txBox="1"/>
          <p:nvPr/>
        </p:nvSpPr>
        <p:spPr>
          <a:xfrm>
            <a:off x="1732049" y="5787786"/>
            <a:ext cx="8727596"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&lt;-[:CAUSES]-</a:t>
            </a:r>
          </a:p>
          <a:p>
            <a:pPr algn="ctr">
              <a:lnSpc>
                <a:spcPct val="110000"/>
              </a:lnSpc>
              <a:spcAft>
                <a:spcPts val="100"/>
              </a:spcAft>
            </a:pPr>
            <a:r>
              <a:rPr sz="1300" b="0">
                <a:solidFill>
                  <a:srgbClr val="556175"/>
                </a:solidFill>
                <a:latin typeface="맑은 고딕"/>
                <a:ea typeface="맑은 고딕"/>
                <a:cs typeface="맑은 고딕"/>
              </a:rPr>
              <a:t>CAUSES는 원인에서 고장 유형으로 향하므로 화살표가 고장 유형 쪽을 본다</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CREATE와 MERGE: 새로 만들기와 찾아서 만들기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MERGE는 식별자로 먼저 찾아 없을 때만 만들므로 CREATE와 달리 같은 노드를 중복해 만들지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83</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CREATE (s:Sensor {id: 'sen:ts1',</a:t>
            </a:r>
          </a:p>
          <a:p>
            <a:pPr algn="l">
              <a:lnSpc>
                <a:spcPct val="110000"/>
              </a:lnSpc>
              <a:spcAft>
                <a:spcPts val="200"/>
              </a:spcAft>
            </a:pPr>
            <a:r>
              <a:rPr sz="1300" b="0">
                <a:solidFill>
                  <a:srgbClr val="E8EEF6"/>
                </a:solidFill>
                <a:latin typeface="Consolas"/>
                <a:ea typeface="맑은 고딕"/>
                <a:cs typeface="맑은 고딕"/>
              </a:rPr>
              <a:t>                  name: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센서</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tag: 'TS1'})</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MERGE (s:Sensor {id: 'sen:ts1'})</a:t>
            </a:r>
          </a:p>
          <a:p>
            <a:pPr algn="l">
              <a:lnSpc>
                <a:spcPct val="110000"/>
              </a:lnSpc>
              <a:spcAft>
                <a:spcPts val="200"/>
              </a:spcAft>
            </a:pPr>
            <a:r>
              <a:rPr sz="1300" b="0">
                <a:solidFill>
                  <a:srgbClr val="E8EEF6"/>
                </a:solidFill>
                <a:latin typeface="Consolas"/>
                <a:ea typeface="맑은 고딕"/>
                <a:cs typeface="맑은 고딕"/>
              </a:rPr>
              <a:t>SET s.name =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센서</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s.tag  = 'TS1'</a:t>
            </a:r>
          </a:p>
        </p:txBody>
      </p:sp>
      <p:sp>
        <p:nvSpPr>
          <p:cNvPr id="8" name="TextBox 7"/>
          <p:cNvSpPr txBox="1"/>
          <p:nvPr/>
        </p:nvSpPr>
        <p:spPr>
          <a:xfrm>
            <a:off x="7635240" y="1773936"/>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CREATE</a:t>
            </a:r>
          </a:p>
          <a:p>
            <a:pPr algn="l">
              <a:lnSpc>
                <a:spcPct val="110000"/>
              </a:lnSpc>
              <a:spcAft>
                <a:spcPts val="400"/>
              </a:spcAft>
            </a:pPr>
            <a:r>
              <a:rPr sz="1400" b="0">
                <a:solidFill>
                  <a:srgbClr val="1F2A3A"/>
                </a:solidFill>
                <a:latin typeface="맑은 고딕"/>
                <a:ea typeface="맑은 고딕"/>
                <a:cs typeface="맑은 고딕"/>
              </a:rPr>
              <a:t>적은 대로 새로 만든다. 이미 있는지는 보지 않는다. Sensor 레이블이 붙고 속성 셋을 가진 노드 하나가 만들어진다.</a:t>
            </a:r>
          </a:p>
        </p:txBody>
      </p:sp>
      <p:sp>
        <p:nvSpPr>
          <p:cNvPr id="9" name="TextBox 8"/>
          <p:cNvSpPr txBox="1"/>
          <p:nvPr/>
        </p:nvSpPr>
        <p:spPr>
          <a:xfrm>
            <a:off x="7635240" y="2882646"/>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MERGE</a:t>
            </a:r>
          </a:p>
          <a:p>
            <a:pPr algn="l">
              <a:lnSpc>
                <a:spcPct val="110000"/>
              </a:lnSpc>
              <a:spcAft>
                <a:spcPts val="400"/>
              </a:spcAft>
            </a:pPr>
            <a:r>
              <a:rPr sz="1400" b="0">
                <a:solidFill>
                  <a:srgbClr val="1F2A3A"/>
                </a:solidFill>
                <a:latin typeface="맑은 고딕"/>
                <a:ea typeface="맑은 고딕"/>
                <a:cs typeface="맑은 고딕"/>
              </a:rPr>
              <a:t>id가 sen:ts1인 센서가 있으면 그 노드를 쓰고, 없으면 만든다.</a:t>
            </a:r>
          </a:p>
        </p:txBody>
      </p:sp>
      <p:sp>
        <p:nvSpPr>
          <p:cNvPr id="10" name="TextBox 9"/>
          <p:cNvSpPr txBox="1"/>
          <p:nvPr/>
        </p:nvSpPr>
        <p:spPr>
          <a:xfrm>
            <a:off x="7635240" y="3991356"/>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SET</a:t>
            </a:r>
          </a:p>
          <a:p>
            <a:pPr algn="l">
              <a:lnSpc>
                <a:spcPct val="110000"/>
              </a:lnSpc>
              <a:spcAft>
                <a:spcPts val="400"/>
              </a:spcAft>
            </a:pPr>
            <a:r>
              <a:rPr sz="1400" b="0">
                <a:solidFill>
                  <a:srgbClr val="1F2A3A"/>
                </a:solidFill>
                <a:latin typeface="맑은 고딕"/>
                <a:ea typeface="맑은 고딕"/>
                <a:cs typeface="맑은 고딕"/>
              </a:rPr>
              <a:t>찾았거나 만든 노드의 속성에 값을 넣는다.</a:t>
            </a:r>
          </a:p>
        </p:txBody>
      </p:sp>
      <p:sp>
        <p:nvSpPr>
          <p:cNvPr id="11" name="TextBox 10"/>
          <p:cNvSpPr txBox="1"/>
          <p:nvPr/>
        </p:nvSpPr>
        <p:spPr>
          <a:xfrm>
            <a:off x="7635240" y="5100066"/>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식별자로 찾는다</a:t>
            </a:r>
          </a:p>
          <a:p>
            <a:pPr algn="l">
              <a:lnSpc>
                <a:spcPct val="110000"/>
              </a:lnSpc>
              <a:spcAft>
                <a:spcPts val="400"/>
              </a:spcAft>
            </a:pPr>
            <a:r>
              <a:rPr sz="1400" b="0">
                <a:solidFill>
                  <a:srgbClr val="1F2A3A"/>
                </a:solidFill>
                <a:latin typeface="맑은 고딕"/>
                <a:ea typeface="맑은 고딕"/>
                <a:cs typeface="맑은 고딕"/>
              </a:rPr>
              <a:t>MERGE의 괄호 안에는 식별자만 적고 나머지 속성은 SET에 적는다.</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문장을 두 번 실행했을 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같은 문장을 다시 실행하면 CREATE는 같은 노드를 또 만들려 하고, MERGE는 결과가 달라지지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84</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copy" descr="copy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CREATE를 두 번</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같은 센서를 한 번 더 만들려고 한다</a:t>
            </a:r>
          </a:p>
          <a:p>
            <a:pPr algn="l">
              <a:lnSpc>
                <a:spcPct val="110000"/>
              </a:lnSpc>
              <a:spcAft>
                <a:spcPts val="600"/>
              </a:spcAft>
            </a:pPr>
            <a:r>
              <a:rPr sz="1450" b="0">
                <a:solidFill>
                  <a:srgbClr val="1F2A3A"/>
                </a:solidFill>
                <a:latin typeface="맑은 고딕"/>
                <a:ea typeface="맑은 고딕"/>
                <a:cs typeface="맑은 고딕"/>
              </a:rPr>
              <a:t>• 유일 제약이 있으면 Neo4j가 거절한다</a:t>
            </a:r>
          </a:p>
          <a:p>
            <a:pPr algn="l">
              <a:lnSpc>
                <a:spcPct val="110000"/>
              </a:lnSpc>
              <a:spcAft>
                <a:spcPts val="600"/>
              </a:spcAft>
            </a:pPr>
            <a:r>
              <a:rPr sz="1450" b="0">
                <a:solidFill>
                  <a:srgbClr val="1F2A3A"/>
                </a:solidFill>
                <a:latin typeface="맑은 고딕"/>
                <a:ea typeface="맑은 고딕"/>
                <a:cs typeface="맑은 고딕"/>
              </a:rPr>
              <a:t>• 없으면 같은 센서가 둘이 된다</a:t>
            </a:r>
          </a:p>
        </p:txBody>
      </p:sp>
      <p:sp>
        <p:nvSpPr>
          <p:cNvPr id="11" name="Rounded Rectangle 10"/>
          <p:cNvSpPr/>
          <p:nvPr/>
        </p:nvSpPr>
        <p:spPr>
          <a:xfrm>
            <a:off x="868680" y="4945570"/>
            <a:ext cx="31851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31851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실행할 때마다 새 기록이 필요한 데이터에</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circle-check" descr="circle-check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MERGE를 두 번</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두 번째에는 이미 있는 노드를 찾는다</a:t>
            </a:r>
          </a:p>
          <a:p>
            <a:pPr algn="l">
              <a:lnSpc>
                <a:spcPct val="110000"/>
              </a:lnSpc>
              <a:spcAft>
                <a:spcPts val="600"/>
              </a:spcAft>
            </a:pPr>
            <a:r>
              <a:rPr sz="1450" b="0">
                <a:solidFill>
                  <a:srgbClr val="1F2A3A"/>
                </a:solidFill>
                <a:latin typeface="맑은 고딕"/>
                <a:ea typeface="맑은 고딕"/>
                <a:cs typeface="맑은 고딕"/>
              </a:rPr>
              <a:t>• 노드는 하나 그대로이다</a:t>
            </a:r>
          </a:p>
          <a:p>
            <a:pPr algn="l">
              <a:lnSpc>
                <a:spcPct val="110000"/>
              </a:lnSpc>
              <a:spcAft>
                <a:spcPts val="600"/>
              </a:spcAft>
            </a:pPr>
            <a:r>
              <a:rPr sz="1450" b="0">
                <a:solidFill>
                  <a:srgbClr val="1F2A3A"/>
                </a:solidFill>
                <a:latin typeface="맑은 고딕"/>
                <a:ea typeface="맑은 고딕"/>
                <a:cs typeface="맑은 고딕"/>
              </a:rPr>
              <a:t>• 몇 번을 실행해도 결과가 같다</a:t>
            </a:r>
          </a:p>
        </p:txBody>
      </p:sp>
      <p:sp>
        <p:nvSpPr>
          <p:cNvPr id="18" name="Rounded Rectangle 17"/>
          <p:cNvSpPr/>
          <p:nvPr/>
        </p:nvSpPr>
        <p:spPr>
          <a:xfrm>
            <a:off x="6781647" y="4945570"/>
            <a:ext cx="222504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222504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한 번만 있어야 하는 지식에</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MERGE로 관계를 만든다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관계는 양 끝의 노드를 MATCH로 먼저 찾은 다음 그 사이에 MERGE로 만든다.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85</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MATCH (c:Component {id: 'comp:cooler'}),</a:t>
            </a:r>
          </a:p>
          <a:p>
            <a:pPr algn="l">
              <a:lnSpc>
                <a:spcPct val="110000"/>
              </a:lnSpc>
              <a:spcAft>
                <a:spcPts val="200"/>
              </a:spcAft>
            </a:pPr>
            <a:r>
              <a:rPr sz="1300" b="0">
                <a:solidFill>
                  <a:srgbClr val="E8EEF6"/>
                </a:solidFill>
                <a:latin typeface="Consolas"/>
                <a:ea typeface="맑은 고딕"/>
                <a:cs typeface="맑은 고딕"/>
              </a:rPr>
              <a:t>      (s:Sensor {id: 'sen:ts1'}),</a:t>
            </a:r>
          </a:p>
          <a:p>
            <a:pPr algn="l">
              <a:lnSpc>
                <a:spcPct val="110000"/>
              </a:lnSpc>
              <a:spcAft>
                <a:spcPts val="200"/>
              </a:spcAft>
            </a:pPr>
            <a:r>
              <a:rPr sz="1300" b="0">
                <a:solidFill>
                  <a:srgbClr val="E8EEF6"/>
                </a:solidFill>
                <a:latin typeface="Consolas"/>
                <a:ea typeface="맑은 고딕"/>
                <a:cs typeface="맑은 고딕"/>
              </a:rPr>
              <a:t>      (v:StateVariable {id: 'sv:ts1'})</a:t>
            </a:r>
          </a:p>
          <a:p>
            <a:pPr algn="l">
              <a:lnSpc>
                <a:spcPct val="110000"/>
              </a:lnSpc>
              <a:spcAft>
                <a:spcPts val="200"/>
              </a:spcAft>
            </a:pPr>
            <a:r>
              <a:rPr sz="1300" b="0">
                <a:solidFill>
                  <a:srgbClr val="E8EEF6"/>
                </a:solidFill>
                <a:latin typeface="Consolas"/>
                <a:ea typeface="맑은 고딕"/>
                <a:cs typeface="맑은 고딕"/>
              </a:rPr>
              <a:t>MERGE (c)-[:MONITORED_BY]-&gt;(s)</a:t>
            </a:r>
          </a:p>
          <a:p>
            <a:pPr algn="l">
              <a:lnSpc>
                <a:spcPct val="110000"/>
              </a:lnSpc>
              <a:spcAft>
                <a:spcPts val="200"/>
              </a:spcAft>
            </a:pPr>
            <a:r>
              <a:rPr sz="1300" b="0">
                <a:solidFill>
                  <a:srgbClr val="E8EEF6"/>
                </a:solidFill>
                <a:latin typeface="Consolas"/>
                <a:ea typeface="맑은 고딕"/>
                <a:cs typeface="맑은 고딕"/>
              </a:rPr>
              <a:t>MERGE (s)-[:OBSERVES]-&gt;(v)</a:t>
            </a:r>
          </a:p>
        </p:txBody>
      </p:sp>
      <p:sp>
        <p:nvSpPr>
          <p:cNvPr id="8" name="TextBox 7"/>
          <p:cNvSpPr txBox="1"/>
          <p:nvPr/>
        </p:nvSpPr>
        <p:spPr>
          <a:xfrm>
            <a:off x="7635240" y="232829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MATCH</a:t>
            </a:r>
          </a:p>
          <a:p>
            <a:pPr algn="l">
              <a:lnSpc>
                <a:spcPct val="110000"/>
              </a:lnSpc>
              <a:spcAft>
                <a:spcPts val="400"/>
              </a:spcAft>
            </a:pPr>
            <a:r>
              <a:rPr sz="1400" b="0">
                <a:solidFill>
                  <a:srgbClr val="1F2A3A"/>
                </a:solidFill>
                <a:latin typeface="맑은 고딕"/>
                <a:ea typeface="맑은 고딕"/>
                <a:cs typeface="맑은 고딕"/>
              </a:rPr>
              <a:t>이을 노드 셋을 식별자로 찾아 c, s, v라는 변수를 붙인다.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MERGE</a:t>
            </a:r>
          </a:p>
          <a:p>
            <a:pPr algn="l">
              <a:lnSpc>
                <a:spcPct val="110000"/>
              </a:lnSpc>
              <a:spcAft>
                <a:spcPts val="400"/>
              </a:spcAft>
            </a:pPr>
            <a:r>
              <a:rPr sz="1400" b="0">
                <a:solidFill>
                  <a:srgbClr val="1F2A3A"/>
                </a:solidFill>
                <a:latin typeface="맑은 고딕"/>
                <a:ea typeface="맑은 고딕"/>
                <a:cs typeface="맑은 고딕"/>
              </a:rPr>
              <a:t>변수로 부른 노드 사이에 관계를 만든다. 이미 있으면 다시 만들지 않는다.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방향</a:t>
            </a:r>
          </a:p>
          <a:p>
            <a:pPr algn="l">
              <a:lnSpc>
                <a:spcPct val="110000"/>
              </a:lnSpc>
              <a:spcAft>
                <a:spcPts val="400"/>
              </a:spcAft>
            </a:pPr>
            <a:r>
              <a:rPr sz="1400" b="0">
                <a:solidFill>
                  <a:srgbClr val="1F2A3A"/>
                </a:solidFill>
                <a:latin typeface="맑은 고딕"/>
                <a:ea typeface="맑은 고딕"/>
                <a:cs typeface="맑은 고딕"/>
              </a:rPr>
              <a:t>화살표는 스키마가 정한 시작 클래스에서 끝 클래스로 향하게 적는다.</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단원 정리: 저장하고 조회하고 만드는 흐름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그래프 DB는 지식을 노드와 관계로 저장하며, Cypher로 모양을 적어 조회하고 만든다.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86</a:t>
            </a:r>
          </a:p>
        </p:txBody>
      </p:sp>
      <p:sp>
        <p:nvSpPr>
          <p:cNvPr id="6" name="Rounded Rectangle 5"/>
          <p:cNvSpPr/>
          <p:nvPr/>
        </p:nvSpPr>
        <p:spPr>
          <a:xfrm>
            <a:off x="548640" y="2603182"/>
            <a:ext cx="2485567" cy="2776346"/>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786062"/>
            <a:ext cx="731520" cy="731520"/>
          </a:xfrm>
          <a:prstGeom prst="ellipse">
            <a:avLst/>
          </a:prstGeom>
          <a:solidFill>
            <a:srgbClr val="FFFFFF"/>
          </a:solidFill>
          <a:ln>
            <a:noFill/>
          </a:ln>
        </p:spPr>
        <p:txBody>
          <a:bodyPr rtlCol="0" anchor="ctr"/>
          <a:lstStyle/>
          <a:p>
            <a:pPr algn="ctr"/>
          </a:p>
        </p:txBody>
      </p:sp>
      <p:pic>
        <p:nvPicPr>
          <p:cNvPr id="8" name="아이콘:database" descr="database_13294B_1.6.png"/>
          <p:cNvPicPr>
            <a:picLocks noChangeAspect="1"/>
          </p:cNvPicPr>
          <p:nvPr/>
        </p:nvPicPr>
        <p:blipFill>
          <a:blip r:embed="rId3"/>
          <a:stretch>
            <a:fillRect/>
          </a:stretch>
        </p:blipFill>
        <p:spPr>
          <a:xfrm>
            <a:off x="1579283" y="2939681"/>
            <a:ext cx="424281" cy="424281"/>
          </a:xfrm>
          <a:prstGeom prst="rect">
            <a:avLst/>
          </a:prstGeom>
        </p:spPr>
      </p:pic>
      <p:sp>
        <p:nvSpPr>
          <p:cNvPr id="9" name="TextBox 8"/>
          <p:cNvSpPr txBox="1"/>
          <p:nvPr/>
        </p:nvSpPr>
        <p:spPr>
          <a:xfrm>
            <a:off x="621792"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저장</a:t>
            </a:r>
          </a:p>
          <a:p>
            <a:pPr algn="ctr">
              <a:lnSpc>
                <a:spcPct val="110000"/>
              </a:lnSpc>
              <a:spcAft>
                <a:spcPts val="400"/>
              </a:spcAft>
            </a:pPr>
            <a:r>
              <a:rPr sz="1350" b="0">
                <a:solidFill>
                  <a:srgbClr val="1F2A3A"/>
                </a:solidFill>
                <a:latin typeface="맑은 고딕"/>
                <a:ea typeface="맑은 고딕"/>
                <a:cs typeface="맑은 고딕"/>
              </a:rPr>
              <a:t>인스턴스는 노드로,</a:t>
            </a:r>
          </a:p>
          <a:p>
            <a:pPr algn="ctr">
              <a:lnSpc>
                <a:spcPct val="110000"/>
              </a:lnSpc>
              <a:spcAft>
                <a:spcPts val="400"/>
              </a:spcAft>
            </a:pPr>
            <a:r>
              <a:rPr sz="1350" b="0">
                <a:solidFill>
                  <a:srgbClr val="1F2A3A"/>
                </a:solidFill>
                <a:latin typeface="맑은 고딕"/>
                <a:ea typeface="맑은 고딕"/>
                <a:cs typeface="맑은 고딕"/>
              </a:rPr>
              <a:t>클래스는 레이블로,</a:t>
            </a:r>
          </a:p>
          <a:p>
            <a:pPr algn="ctr">
              <a:lnSpc>
                <a:spcPct val="110000"/>
              </a:lnSpc>
              <a:spcAft>
                <a:spcPts val="400"/>
              </a:spcAft>
            </a:pPr>
            <a:r>
              <a:rPr sz="1350" b="0">
                <a:solidFill>
                  <a:srgbClr val="1F2A3A"/>
                </a:solidFill>
                <a:latin typeface="맑은 고딕"/>
                <a:ea typeface="맑은 고딕"/>
                <a:cs typeface="맑은 고딕"/>
              </a:rPr>
              <a:t>관계는 관계 유형으로</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603182"/>
            <a:ext cx="2485567" cy="2776346"/>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786062"/>
            <a:ext cx="731520" cy="731520"/>
          </a:xfrm>
          <a:prstGeom prst="ellipse">
            <a:avLst/>
          </a:prstGeom>
          <a:solidFill>
            <a:srgbClr val="FFFFFF"/>
          </a:solidFill>
          <a:ln>
            <a:noFill/>
          </a:ln>
        </p:spPr>
        <p:txBody>
          <a:bodyPr rtlCol="0" anchor="ctr"/>
          <a:lstStyle/>
          <a:p>
            <a:pPr algn="ctr"/>
          </a:p>
        </p:txBody>
      </p:sp>
      <p:pic>
        <p:nvPicPr>
          <p:cNvPr id="13" name="아이콘:parentheses" descr="parentheses_13294B_1.6.png"/>
          <p:cNvPicPr>
            <a:picLocks noChangeAspect="1"/>
          </p:cNvPicPr>
          <p:nvPr/>
        </p:nvPicPr>
        <p:blipFill>
          <a:blip r:embed="rId4"/>
          <a:stretch>
            <a:fillRect/>
          </a:stretch>
        </p:blipFill>
        <p:spPr>
          <a:xfrm>
            <a:off x="4448898" y="2939681"/>
            <a:ext cx="424281" cy="424281"/>
          </a:xfrm>
          <a:prstGeom prst="rect">
            <a:avLst/>
          </a:prstGeom>
        </p:spPr>
      </p:pic>
      <p:sp>
        <p:nvSpPr>
          <p:cNvPr id="14" name="TextBox 13"/>
          <p:cNvSpPr txBox="1"/>
          <p:nvPr/>
        </p:nvSpPr>
        <p:spPr>
          <a:xfrm>
            <a:off x="3491407"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표기</a:t>
            </a:r>
          </a:p>
          <a:p>
            <a:pPr algn="ctr">
              <a:lnSpc>
                <a:spcPct val="110000"/>
              </a:lnSpc>
              <a:spcAft>
                <a:spcPts val="400"/>
              </a:spcAft>
            </a:pPr>
            <a:r>
              <a:rPr sz="1350" b="0">
                <a:solidFill>
                  <a:srgbClr val="1F2A3A"/>
                </a:solidFill>
                <a:latin typeface="맑은 고딕"/>
                <a:ea typeface="맑은 고딕"/>
                <a:cs typeface="맑은 고딕"/>
              </a:rPr>
              <a:t>노드는 둥근 괄호,</a:t>
            </a:r>
          </a:p>
          <a:p>
            <a:pPr algn="ctr">
              <a:lnSpc>
                <a:spcPct val="110000"/>
              </a:lnSpc>
              <a:spcAft>
                <a:spcPts val="400"/>
              </a:spcAft>
            </a:pPr>
            <a:r>
              <a:rPr sz="1350" b="0">
                <a:solidFill>
                  <a:srgbClr val="1F2A3A"/>
                </a:solidFill>
                <a:latin typeface="맑은 고딕"/>
                <a:ea typeface="맑은 고딕"/>
                <a:cs typeface="맑은 고딕"/>
              </a:rPr>
              <a:t>관계는 대괄호와</a:t>
            </a:r>
          </a:p>
          <a:p>
            <a:pPr algn="ctr">
              <a:lnSpc>
                <a:spcPct val="110000"/>
              </a:lnSpc>
              <a:spcAft>
                <a:spcPts val="400"/>
              </a:spcAft>
            </a:pPr>
            <a:r>
              <a:rPr sz="1350" b="0">
                <a:solidFill>
                  <a:srgbClr val="1F2A3A"/>
                </a:solidFill>
                <a:latin typeface="맑은 고딕"/>
                <a:ea typeface="맑은 고딕"/>
                <a:cs typeface="맑은 고딕"/>
              </a:rPr>
              <a:t>화살표</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603182"/>
            <a:ext cx="2485567" cy="2776346"/>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786062"/>
            <a:ext cx="731520" cy="731520"/>
          </a:xfrm>
          <a:prstGeom prst="ellipse">
            <a:avLst/>
          </a:prstGeom>
          <a:solidFill>
            <a:srgbClr val="FFFFFF"/>
          </a:solidFill>
          <a:ln>
            <a:noFill/>
          </a:ln>
        </p:spPr>
        <p:txBody>
          <a:bodyPr rtlCol="0" anchor="ctr"/>
          <a:lstStyle/>
          <a:p>
            <a:pPr algn="ctr"/>
          </a:p>
        </p:txBody>
      </p:sp>
      <p:pic>
        <p:nvPicPr>
          <p:cNvPr id="18" name="아이콘:search" descr="search_13294B_1.6.png"/>
          <p:cNvPicPr>
            <a:picLocks noChangeAspect="1"/>
          </p:cNvPicPr>
          <p:nvPr/>
        </p:nvPicPr>
        <p:blipFill>
          <a:blip r:embed="rId5"/>
          <a:stretch>
            <a:fillRect/>
          </a:stretch>
        </p:blipFill>
        <p:spPr>
          <a:xfrm>
            <a:off x="7318514" y="2939681"/>
            <a:ext cx="424281" cy="424281"/>
          </a:xfrm>
          <a:prstGeom prst="rect">
            <a:avLst/>
          </a:prstGeom>
        </p:spPr>
      </p:pic>
      <p:sp>
        <p:nvSpPr>
          <p:cNvPr id="19" name="TextBox 18"/>
          <p:cNvSpPr txBox="1"/>
          <p:nvPr/>
        </p:nvSpPr>
        <p:spPr>
          <a:xfrm>
            <a:off x="6361023"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조회</a:t>
            </a:r>
          </a:p>
          <a:p>
            <a:pPr algn="ctr">
              <a:lnSpc>
                <a:spcPct val="110000"/>
              </a:lnSpc>
              <a:spcAft>
                <a:spcPts val="400"/>
              </a:spcAft>
            </a:pPr>
            <a:r>
              <a:rPr sz="1350" b="0">
                <a:solidFill>
                  <a:srgbClr val="1F2A3A"/>
                </a:solidFill>
                <a:latin typeface="맑은 고딕"/>
                <a:ea typeface="맑은 고딕"/>
                <a:cs typeface="맑은 고딕"/>
              </a:rPr>
              <a:t>MATCH로 찾고</a:t>
            </a:r>
          </a:p>
          <a:p>
            <a:pPr algn="ctr">
              <a:lnSpc>
                <a:spcPct val="110000"/>
              </a:lnSpc>
              <a:spcAft>
                <a:spcPts val="400"/>
              </a:spcAft>
            </a:pPr>
            <a:r>
              <a:rPr sz="1350" b="0">
                <a:solidFill>
                  <a:srgbClr val="1F2A3A"/>
                </a:solidFill>
                <a:latin typeface="맑은 고딕"/>
                <a:ea typeface="맑은 고딕"/>
                <a:cs typeface="맑은 고딕"/>
              </a:rPr>
              <a:t>WHERE로 거르고</a:t>
            </a:r>
          </a:p>
          <a:p>
            <a:pPr algn="ctr">
              <a:lnSpc>
                <a:spcPct val="110000"/>
              </a:lnSpc>
              <a:spcAft>
                <a:spcPts val="400"/>
              </a:spcAft>
            </a:pPr>
            <a:r>
              <a:rPr sz="1350" b="0">
                <a:solidFill>
                  <a:srgbClr val="1F2A3A"/>
                </a:solidFill>
                <a:latin typeface="맑은 고딕"/>
                <a:ea typeface="맑은 고딕"/>
                <a:cs typeface="맑은 고딕"/>
              </a:rPr>
              <a:t>RETURN으로 받는다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603182"/>
            <a:ext cx="2485567" cy="2776346"/>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786062"/>
            <a:ext cx="731520" cy="731520"/>
          </a:xfrm>
          <a:prstGeom prst="ellipse">
            <a:avLst/>
          </a:prstGeom>
          <a:solidFill>
            <a:srgbClr val="5CB8F2"/>
          </a:solidFill>
          <a:ln>
            <a:noFill/>
          </a:ln>
        </p:spPr>
        <p:txBody>
          <a:bodyPr rtlCol="0" anchor="ctr"/>
          <a:lstStyle/>
          <a:p>
            <a:pPr algn="ctr"/>
          </a:p>
        </p:txBody>
      </p:sp>
      <p:pic>
        <p:nvPicPr>
          <p:cNvPr id="23" name="아이콘:circle-plus" descr="circle-plus_13294B_1.6.png"/>
          <p:cNvPicPr>
            <a:picLocks noChangeAspect="1"/>
          </p:cNvPicPr>
          <p:nvPr/>
        </p:nvPicPr>
        <p:blipFill>
          <a:blip r:embed="rId6"/>
          <a:stretch>
            <a:fillRect/>
          </a:stretch>
        </p:blipFill>
        <p:spPr>
          <a:xfrm>
            <a:off x="10188130" y="2939681"/>
            <a:ext cx="424281" cy="424281"/>
          </a:xfrm>
          <a:prstGeom prst="rect">
            <a:avLst/>
          </a:prstGeom>
        </p:spPr>
      </p:pic>
      <p:sp>
        <p:nvSpPr>
          <p:cNvPr id="24" name="TextBox 23"/>
          <p:cNvSpPr txBox="1"/>
          <p:nvPr/>
        </p:nvSpPr>
        <p:spPr>
          <a:xfrm>
            <a:off x="9230639"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만들기</a:t>
            </a:r>
          </a:p>
          <a:p>
            <a:pPr algn="ctr">
              <a:lnSpc>
                <a:spcPct val="110000"/>
              </a:lnSpc>
              <a:spcAft>
                <a:spcPts val="400"/>
              </a:spcAft>
            </a:pPr>
            <a:r>
              <a:rPr sz="1350" b="0">
                <a:solidFill>
                  <a:srgbClr val="1F2A3A"/>
                </a:solidFill>
                <a:latin typeface="맑은 고딕"/>
                <a:ea typeface="맑은 고딕"/>
                <a:cs typeface="맑은 고딕"/>
              </a:rPr>
              <a:t>MERGE로</a:t>
            </a:r>
          </a:p>
          <a:p>
            <a:pPr algn="ctr">
              <a:lnSpc>
                <a:spcPct val="110000"/>
              </a:lnSpc>
              <a:spcAft>
                <a:spcPts val="400"/>
              </a:spcAft>
            </a:pPr>
            <a:r>
              <a:rPr sz="1350" b="0">
                <a:solidFill>
                  <a:srgbClr val="1F2A3A"/>
                </a:solidFill>
                <a:latin typeface="맑은 고딕"/>
                <a:ea typeface="맑은 고딕"/>
                <a:cs typeface="맑은 고딕"/>
              </a:rPr>
              <a:t>노드와 관계를</a:t>
            </a:r>
          </a:p>
          <a:p>
            <a:pPr algn="ctr">
              <a:lnSpc>
                <a:spcPct val="110000"/>
              </a:lnSpc>
              <a:spcAft>
                <a:spcPts val="400"/>
              </a:spcAft>
            </a:pPr>
            <a:r>
              <a:rPr sz="1350" b="0">
                <a:solidFill>
                  <a:srgbClr val="1F2A3A"/>
                </a:solidFill>
                <a:latin typeface="맑은 고딕"/>
                <a:ea typeface="맑은 고딕"/>
                <a:cs typeface="맑은 고딕"/>
              </a:rPr>
              <a:t>중복 없이 넣는다</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그래프 DB에서 관계를 따라 조회하기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Cypher로 필요한 정보를 찾는다</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조회하는 것과 확인하는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설비에서 구성 요소와 센서까지를 직접 쓴 질의로 조회하고 결과를 그래프와 표로 읽을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88</a:t>
            </a:r>
          </a:p>
        </p:txBody>
      </p:sp>
      <p:sp>
        <p:nvSpPr>
          <p:cNvPr id="6" name="Rounded Rectangle 5"/>
          <p:cNvSpPr/>
          <p:nvPr/>
        </p:nvSpPr>
        <p:spPr>
          <a:xfrm>
            <a:off x="548640"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19756"/>
            <a:ext cx="731520" cy="731520"/>
          </a:xfrm>
          <a:prstGeom prst="ellipse">
            <a:avLst/>
          </a:prstGeom>
          <a:solidFill>
            <a:srgbClr val="E7F3FD"/>
          </a:solidFill>
          <a:ln>
            <a:noFill/>
          </a:ln>
        </p:spPr>
        <p:txBody>
          <a:bodyPr rtlCol="0" anchor="ctr"/>
          <a:lstStyle/>
          <a:p>
            <a:pPr algn="ctr"/>
          </a:p>
        </p:txBody>
      </p:sp>
      <p:pic>
        <p:nvPicPr>
          <p:cNvPr id="8" name="아이콘:eye" descr="eye_13294B_1.6.png"/>
          <p:cNvPicPr>
            <a:picLocks noChangeAspect="1"/>
          </p:cNvPicPr>
          <p:nvPr/>
        </p:nvPicPr>
        <p:blipFill>
          <a:blip r:embed="rId3"/>
          <a:stretch>
            <a:fillRect/>
          </a:stretch>
        </p:blipFill>
        <p:spPr>
          <a:xfrm>
            <a:off x="930859" y="2773375"/>
            <a:ext cx="424281" cy="424281"/>
          </a:xfrm>
          <a:prstGeom prst="rect">
            <a:avLst/>
          </a:prstGeom>
        </p:spPr>
      </p:pic>
      <p:sp>
        <p:nvSpPr>
          <p:cNvPr id="9" name="TextBox 8"/>
          <p:cNvSpPr txBox="1"/>
          <p:nvPr/>
        </p:nvSpPr>
        <p:spPr>
          <a:xfrm>
            <a:off x="713232"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그래프를 읽는다</a:t>
            </a:r>
          </a:p>
          <a:p>
            <a:pPr algn="l">
              <a:lnSpc>
                <a:spcPct val="110000"/>
              </a:lnSpc>
              <a:spcAft>
                <a:spcPts val="400"/>
              </a:spcAft>
            </a:pPr>
            <a:r>
              <a:rPr sz="1350" b="0">
                <a:solidFill>
                  <a:srgbClr val="1F2A3A"/>
                </a:solidFill>
                <a:latin typeface="맑은 고딕"/>
                <a:ea typeface="맑은 고딕"/>
                <a:cs typeface="맑은 고딕"/>
              </a:rPr>
              <a:t>노드의 레이블과 속성, 관계의 유형과 방향을 확인한다</a:t>
            </a:r>
          </a:p>
        </p:txBody>
      </p:sp>
      <p:sp>
        <p:nvSpPr>
          <p:cNvPr id="10" name="Rounded Rectangle 9"/>
          <p:cNvSpPr/>
          <p:nvPr/>
        </p:nvSpPr>
        <p:spPr>
          <a:xfrm>
            <a:off x="777240" y="5134356"/>
            <a:ext cx="10210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34356"/>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구조 확인</a:t>
            </a:r>
          </a:p>
        </p:txBody>
      </p:sp>
      <p:sp>
        <p:nvSpPr>
          <p:cNvPr id="12" name="Rounded Rectangle 11"/>
          <p:cNvSpPr/>
          <p:nvPr/>
        </p:nvSpPr>
        <p:spPr>
          <a:xfrm>
            <a:off x="3390823"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619756"/>
            <a:ext cx="731520" cy="731520"/>
          </a:xfrm>
          <a:prstGeom prst="ellipse">
            <a:avLst/>
          </a:prstGeom>
          <a:solidFill>
            <a:srgbClr val="E7F3FD"/>
          </a:solidFill>
          <a:ln>
            <a:noFill/>
          </a:ln>
        </p:spPr>
        <p:txBody>
          <a:bodyPr rtlCol="0" anchor="ctr"/>
          <a:lstStyle/>
          <a:p>
            <a:pPr algn="ctr"/>
          </a:p>
        </p:txBody>
      </p:sp>
      <p:pic>
        <p:nvPicPr>
          <p:cNvPr id="14" name="아이콘:search" descr="search_13294B_1.6.png"/>
          <p:cNvPicPr>
            <a:picLocks noChangeAspect="1"/>
          </p:cNvPicPr>
          <p:nvPr/>
        </p:nvPicPr>
        <p:blipFill>
          <a:blip r:embed="rId4"/>
          <a:stretch>
            <a:fillRect/>
          </a:stretch>
        </p:blipFill>
        <p:spPr>
          <a:xfrm>
            <a:off x="3773043" y="2773375"/>
            <a:ext cx="424281" cy="424281"/>
          </a:xfrm>
          <a:prstGeom prst="rect">
            <a:avLst/>
          </a:prstGeom>
        </p:spPr>
      </p:pic>
      <p:sp>
        <p:nvSpPr>
          <p:cNvPr id="15" name="TextBox 14"/>
          <p:cNvSpPr txBox="1"/>
          <p:nvPr/>
        </p:nvSpPr>
        <p:spPr>
          <a:xfrm>
            <a:off x="3555415"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한 단계를 조회한다</a:t>
            </a:r>
          </a:p>
          <a:p>
            <a:pPr algn="l">
              <a:lnSpc>
                <a:spcPct val="110000"/>
              </a:lnSpc>
              <a:spcAft>
                <a:spcPts val="400"/>
              </a:spcAft>
            </a:pPr>
            <a:r>
              <a:rPr sz="1350" b="0">
                <a:solidFill>
                  <a:srgbClr val="1F2A3A"/>
                </a:solidFill>
                <a:latin typeface="맑은 고딕"/>
                <a:ea typeface="맑은 고딕"/>
                <a:cs typeface="맑은 고딕"/>
              </a:rPr>
              <a:t>MATCH, WHERE, RETURN으로 설비에 이어진 구성 요소와 센서를 찾는다</a:t>
            </a:r>
          </a:p>
        </p:txBody>
      </p:sp>
      <p:sp>
        <p:nvSpPr>
          <p:cNvPr id="16" name="Rounded Rectangle 15"/>
          <p:cNvSpPr/>
          <p:nvPr/>
        </p:nvSpPr>
        <p:spPr>
          <a:xfrm>
            <a:off x="3619423" y="5134356"/>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34356"/>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기본 조회</a:t>
            </a:r>
          </a:p>
        </p:txBody>
      </p:sp>
      <p:sp>
        <p:nvSpPr>
          <p:cNvPr id="18" name="Rounded Rectangle 17"/>
          <p:cNvSpPr/>
          <p:nvPr/>
        </p:nvSpPr>
        <p:spPr>
          <a:xfrm>
            <a:off x="6233007"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619756"/>
            <a:ext cx="731520" cy="731520"/>
          </a:xfrm>
          <a:prstGeom prst="ellipse">
            <a:avLst/>
          </a:prstGeom>
          <a:solidFill>
            <a:srgbClr val="E7F3FD"/>
          </a:solidFill>
          <a:ln>
            <a:noFill/>
          </a:ln>
        </p:spPr>
        <p:txBody>
          <a:bodyPr rtlCol="0" anchor="ctr"/>
          <a:lstStyle/>
          <a:p>
            <a:pPr algn="ctr"/>
          </a:p>
        </p:txBody>
      </p:sp>
      <p:pic>
        <p:nvPicPr>
          <p:cNvPr id="20" name="아이콘:route" descr="route_13294B_1.6.png"/>
          <p:cNvPicPr>
            <a:picLocks noChangeAspect="1"/>
          </p:cNvPicPr>
          <p:nvPr/>
        </p:nvPicPr>
        <p:blipFill>
          <a:blip r:embed="rId5"/>
          <a:stretch>
            <a:fillRect/>
          </a:stretch>
        </p:blipFill>
        <p:spPr>
          <a:xfrm>
            <a:off x="6615226" y="2773375"/>
            <a:ext cx="424281" cy="424281"/>
          </a:xfrm>
          <a:prstGeom prst="rect">
            <a:avLst/>
          </a:prstGeom>
        </p:spPr>
      </p:pic>
      <p:sp>
        <p:nvSpPr>
          <p:cNvPr id="21" name="TextBox 20"/>
          <p:cNvSpPr txBox="1"/>
          <p:nvPr/>
        </p:nvSpPr>
        <p:spPr>
          <a:xfrm>
            <a:off x="6397599"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여러 단계를 조회한다</a:t>
            </a:r>
          </a:p>
          <a:p>
            <a:pPr algn="l">
              <a:lnSpc>
                <a:spcPct val="110000"/>
              </a:lnSpc>
              <a:spcAft>
                <a:spcPts val="400"/>
              </a:spcAft>
            </a:pPr>
            <a:r>
              <a:rPr sz="1350" b="0">
                <a:solidFill>
                  <a:srgbClr val="1F2A3A"/>
                </a:solidFill>
                <a:latin typeface="맑은 고딕"/>
                <a:ea typeface="맑은 고딕"/>
                <a:cs typeface="맑은 고딕"/>
              </a:rPr>
              <a:t>관계를 이어 적어 한 번에 여러 단계를 따라간다</a:t>
            </a:r>
          </a:p>
        </p:txBody>
      </p:sp>
      <p:sp>
        <p:nvSpPr>
          <p:cNvPr id="22" name="Rounded Rectangle 21"/>
          <p:cNvSpPr/>
          <p:nvPr/>
        </p:nvSpPr>
        <p:spPr>
          <a:xfrm>
            <a:off x="6461607" y="5134356"/>
            <a:ext cx="10210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134356"/>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경로 조회</a:t>
            </a:r>
          </a:p>
        </p:txBody>
      </p:sp>
      <p:sp>
        <p:nvSpPr>
          <p:cNvPr id="24" name="Rounded Rectangle 23"/>
          <p:cNvSpPr/>
          <p:nvPr/>
        </p:nvSpPr>
        <p:spPr>
          <a:xfrm>
            <a:off x="9075191" y="2418588"/>
            <a:ext cx="2567863" cy="314553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619756"/>
            <a:ext cx="731520" cy="731520"/>
          </a:xfrm>
          <a:prstGeom prst="ellipse">
            <a:avLst/>
          </a:prstGeom>
          <a:solidFill>
            <a:srgbClr val="5CB8F2"/>
          </a:solidFill>
          <a:ln>
            <a:noFill/>
          </a:ln>
        </p:spPr>
        <p:txBody>
          <a:bodyPr rtlCol="0" anchor="ctr"/>
          <a:lstStyle/>
          <a:p>
            <a:pPr algn="ctr"/>
          </a:p>
        </p:txBody>
      </p:sp>
      <p:pic>
        <p:nvPicPr>
          <p:cNvPr id="26" name="아이콘:table" descr="table_13294B_1.6.png"/>
          <p:cNvPicPr>
            <a:picLocks noChangeAspect="1"/>
          </p:cNvPicPr>
          <p:nvPr/>
        </p:nvPicPr>
        <p:blipFill>
          <a:blip r:embed="rId6"/>
          <a:stretch>
            <a:fillRect/>
          </a:stretch>
        </p:blipFill>
        <p:spPr>
          <a:xfrm>
            <a:off x="9457410" y="2773375"/>
            <a:ext cx="424281" cy="424281"/>
          </a:xfrm>
          <a:prstGeom prst="rect">
            <a:avLst/>
          </a:prstGeom>
        </p:spPr>
      </p:pic>
      <p:sp>
        <p:nvSpPr>
          <p:cNvPr id="27" name="TextBox 26"/>
          <p:cNvSpPr txBox="1"/>
          <p:nvPr/>
        </p:nvSpPr>
        <p:spPr>
          <a:xfrm>
            <a:off x="9239783"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결과를 비교한다</a:t>
            </a:r>
          </a:p>
          <a:p>
            <a:pPr algn="l">
              <a:lnSpc>
                <a:spcPct val="110000"/>
              </a:lnSpc>
              <a:spcAft>
                <a:spcPts val="400"/>
              </a:spcAft>
            </a:pPr>
            <a:r>
              <a:rPr sz="1350" b="0">
                <a:solidFill>
                  <a:srgbClr val="1F2A3A"/>
                </a:solidFill>
                <a:latin typeface="맑은 고딕"/>
                <a:ea typeface="맑은 고딕"/>
                <a:cs typeface="맑은 고딕"/>
              </a:rPr>
              <a:t>같은 질의의 결과를 그래프와 표로 번갈아 본다</a:t>
            </a:r>
          </a:p>
        </p:txBody>
      </p:sp>
      <p:sp>
        <p:nvSpPr>
          <p:cNvPr id="28" name="Rounded Rectangle 27"/>
          <p:cNvSpPr/>
          <p:nvPr/>
        </p:nvSpPr>
        <p:spPr>
          <a:xfrm>
            <a:off x="9303791" y="5134356"/>
            <a:ext cx="102108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134356"/>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결과 읽기</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설비 지식의 구조와 연결 관계 탐색하기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지식 지도에서 설비와 이어진 대상을 찾아본다</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지식 지도에서 탐색하는 것과 확인하는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클래스, 인스턴스, 속성, 관계가 HYD의 지식 그래프에 실제로 어떻게 들어 있는지를 설명할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90</a:t>
            </a:r>
          </a:p>
        </p:txBody>
      </p:sp>
      <p:sp>
        <p:nvSpPr>
          <p:cNvPr id="6" name="Rounded Rectangle 5"/>
          <p:cNvSpPr/>
          <p:nvPr/>
        </p:nvSpPr>
        <p:spPr>
          <a:xfrm>
            <a:off x="548640" y="2620010"/>
            <a:ext cx="5410047"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821178"/>
            <a:ext cx="731520" cy="731520"/>
          </a:xfrm>
          <a:prstGeom prst="ellipse">
            <a:avLst/>
          </a:prstGeom>
          <a:solidFill>
            <a:srgbClr val="E7F3FD"/>
          </a:solidFill>
          <a:ln>
            <a:noFill/>
          </a:ln>
        </p:spPr>
        <p:txBody>
          <a:bodyPr rtlCol="0" anchor="ctr"/>
          <a:lstStyle/>
          <a:p>
            <a:pPr algn="ctr"/>
          </a:p>
        </p:txBody>
      </p:sp>
      <p:pic>
        <p:nvPicPr>
          <p:cNvPr id="8" name="아이콘:engine" descr="engine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5080863"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설비에서 출발한다</a:t>
            </a:r>
          </a:p>
          <a:p>
            <a:pPr algn="l">
              <a:lnSpc>
                <a:spcPct val="110000"/>
              </a:lnSpc>
              <a:spcAft>
                <a:spcPts val="400"/>
              </a:spcAft>
            </a:pPr>
            <a:r>
              <a:rPr sz="1400" b="0">
                <a:solidFill>
                  <a:srgbClr val="1F2A3A"/>
                </a:solidFill>
                <a:latin typeface="맑은 고딕"/>
                <a:ea typeface="맑은 고딕"/>
                <a:cs typeface="맑은 고딕"/>
              </a:rPr>
              <a:t>설비 하나를 골라 그에 이어진 구성 요소와 센서를 찾아간다</a:t>
            </a:r>
          </a:p>
        </p:txBody>
      </p:sp>
      <p:sp>
        <p:nvSpPr>
          <p:cNvPr id="10" name="Rounded Rectangle 9"/>
          <p:cNvSpPr/>
          <p:nvPr/>
        </p:nvSpPr>
        <p:spPr>
          <a:xfrm>
            <a:off x="777240" y="4932934"/>
            <a:ext cx="10210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32934"/>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연결 탐색</a:t>
            </a:r>
          </a:p>
        </p:txBody>
      </p:sp>
      <p:sp>
        <p:nvSpPr>
          <p:cNvPr id="12" name="Rounded Rectangle 11"/>
          <p:cNvSpPr/>
          <p:nvPr/>
        </p:nvSpPr>
        <p:spPr>
          <a:xfrm>
            <a:off x="6233007" y="2620010"/>
            <a:ext cx="5410047"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6461607" y="2821178"/>
            <a:ext cx="731520" cy="731520"/>
          </a:xfrm>
          <a:prstGeom prst="ellipse">
            <a:avLst/>
          </a:prstGeom>
          <a:solidFill>
            <a:srgbClr val="E7F3FD"/>
          </a:solidFill>
          <a:ln>
            <a:noFill/>
          </a:ln>
        </p:spPr>
        <p:txBody>
          <a:bodyPr rtlCol="0" anchor="ctr"/>
          <a:lstStyle/>
          <a:p>
            <a:pPr algn="ctr"/>
          </a:p>
        </p:txBody>
      </p:sp>
      <p:pic>
        <p:nvPicPr>
          <p:cNvPr id="14" name="아이콘:list-details" descr="list-details_13294B_1.6.png"/>
          <p:cNvPicPr>
            <a:picLocks noChangeAspect="1"/>
          </p:cNvPicPr>
          <p:nvPr/>
        </p:nvPicPr>
        <p:blipFill>
          <a:blip r:embed="rId4"/>
          <a:stretch>
            <a:fillRect/>
          </a:stretch>
        </p:blipFill>
        <p:spPr>
          <a:xfrm>
            <a:off x="6615226" y="2974797"/>
            <a:ext cx="424281" cy="424281"/>
          </a:xfrm>
          <a:prstGeom prst="rect">
            <a:avLst/>
          </a:prstGeom>
        </p:spPr>
      </p:pic>
      <p:sp>
        <p:nvSpPr>
          <p:cNvPr id="15" name="TextBox 14"/>
          <p:cNvSpPr txBox="1"/>
          <p:nvPr/>
        </p:nvSpPr>
        <p:spPr>
          <a:xfrm>
            <a:off x="6397599" y="3644138"/>
            <a:ext cx="5080863"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항목 하나를 읽는다</a:t>
            </a:r>
          </a:p>
          <a:p>
            <a:pPr algn="l">
              <a:lnSpc>
                <a:spcPct val="110000"/>
              </a:lnSpc>
              <a:spcAft>
                <a:spcPts val="400"/>
              </a:spcAft>
            </a:pPr>
            <a:r>
              <a:rPr sz="1400" b="0">
                <a:solidFill>
                  <a:srgbClr val="1F2A3A"/>
                </a:solidFill>
                <a:latin typeface="맑은 고딕"/>
                <a:ea typeface="맑은 고딕"/>
                <a:cs typeface="맑은 고딕"/>
              </a:rPr>
              <a:t>• 그 항목의 클래스와 속성을 확인한다</a:t>
            </a:r>
          </a:p>
          <a:p>
            <a:pPr algn="l">
              <a:lnSpc>
                <a:spcPct val="110000"/>
              </a:lnSpc>
              <a:spcAft>
                <a:spcPts val="400"/>
              </a:spcAft>
            </a:pPr>
            <a:r>
              <a:rPr sz="1400" b="0">
                <a:solidFill>
                  <a:srgbClr val="1F2A3A"/>
                </a:solidFill>
                <a:latin typeface="맑은 고딕"/>
                <a:ea typeface="맑은 고딕"/>
                <a:cs typeface="맑은 고딕"/>
              </a:rPr>
              <a:t>• 나가는 관계와 들어오는 관계를 구분한다</a:t>
            </a:r>
          </a:p>
        </p:txBody>
      </p:sp>
      <p:sp>
        <p:nvSpPr>
          <p:cNvPr id="16" name="Rounded Rectangle 15"/>
          <p:cNvSpPr/>
          <p:nvPr/>
        </p:nvSpPr>
        <p:spPr>
          <a:xfrm>
            <a:off x="6461607" y="4932934"/>
            <a:ext cx="1767839"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6461607" y="4932934"/>
            <a:ext cx="176783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종류 · 속성 · 방향</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온톨로지 직접 설계하기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제공된 설비 자료에서 클래스와 속성과 관계를 정의해 스키마와 인스턴스 데이터를 만든다</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설계하는 것과 완성되는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제공된 설비 자료를 바탕으로 정의한 스키마 파일과 예시 인스턴스 데이터가 만들어진다.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92</a:t>
            </a:r>
          </a:p>
        </p:txBody>
      </p:sp>
      <p:sp>
        <p:nvSpPr>
          <p:cNvPr id="6" name="Rounded Rectangle 5"/>
          <p:cNvSpPr/>
          <p:nvPr/>
        </p:nvSpPr>
        <p:spPr>
          <a:xfrm>
            <a:off x="548640" y="2498598"/>
            <a:ext cx="2485567" cy="2985515"/>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681478"/>
            <a:ext cx="731520" cy="731520"/>
          </a:xfrm>
          <a:prstGeom prst="ellipse">
            <a:avLst/>
          </a:prstGeom>
          <a:solidFill>
            <a:srgbClr val="FFFFFF"/>
          </a:solidFill>
          <a:ln>
            <a:noFill/>
          </a:ln>
        </p:spPr>
        <p:txBody>
          <a:bodyPr rtlCol="0" anchor="ctr"/>
          <a:lstStyle/>
          <a:p>
            <a:pPr algn="ctr"/>
          </a:p>
        </p:txBody>
      </p:sp>
      <p:pic>
        <p:nvPicPr>
          <p:cNvPr id="8" name="아이콘:help-circle" descr="help-circle_13294B_1.6.png"/>
          <p:cNvPicPr>
            <a:picLocks noChangeAspect="1"/>
          </p:cNvPicPr>
          <p:nvPr/>
        </p:nvPicPr>
        <p:blipFill>
          <a:blip r:embed="rId3"/>
          <a:stretch>
            <a:fillRect/>
          </a:stretch>
        </p:blipFill>
        <p:spPr>
          <a:xfrm>
            <a:off x="1579283" y="2835097"/>
            <a:ext cx="424281" cy="424281"/>
          </a:xfrm>
          <a:prstGeom prst="rect">
            <a:avLst/>
          </a:prstGeom>
        </p:spPr>
      </p:pic>
      <p:sp>
        <p:nvSpPr>
          <p:cNvPr id="9" name="TextBox 8"/>
          <p:cNvSpPr txBox="1"/>
          <p:nvPr/>
        </p:nvSpPr>
        <p:spPr>
          <a:xfrm>
            <a:off x="621792"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질문 정하기</a:t>
            </a:r>
          </a:p>
          <a:p>
            <a:pPr algn="ctr">
              <a:lnSpc>
                <a:spcPct val="110000"/>
              </a:lnSpc>
              <a:spcAft>
                <a:spcPts val="400"/>
              </a:spcAft>
            </a:pPr>
            <a:r>
              <a:rPr sz="1350" b="0">
                <a:solidFill>
                  <a:srgbClr val="1F2A3A"/>
                </a:solidFill>
                <a:latin typeface="맑은 고딕"/>
                <a:ea typeface="맑은 고딕"/>
                <a:cs typeface="맑은 고딕"/>
              </a:rPr>
              <a:t>자료를 읽고</a:t>
            </a:r>
          </a:p>
          <a:p>
            <a:pPr algn="ctr">
              <a:lnSpc>
                <a:spcPct val="110000"/>
              </a:lnSpc>
              <a:spcAft>
                <a:spcPts val="400"/>
              </a:spcAft>
            </a:pPr>
            <a:r>
              <a:rPr sz="1350" b="0">
                <a:solidFill>
                  <a:srgbClr val="1F2A3A"/>
                </a:solidFill>
                <a:latin typeface="맑은 고딕"/>
                <a:ea typeface="맑은 고딕"/>
                <a:cs typeface="맑은 고딕"/>
              </a:rPr>
              <a:t>이 지식으로 답할</a:t>
            </a:r>
          </a:p>
          <a:p>
            <a:pPr algn="ctr">
              <a:lnSpc>
                <a:spcPct val="110000"/>
              </a:lnSpc>
              <a:spcAft>
                <a:spcPts val="400"/>
              </a:spcAft>
            </a:pPr>
            <a:r>
              <a:rPr sz="1350" b="0">
                <a:solidFill>
                  <a:srgbClr val="1F2A3A"/>
                </a:solidFill>
                <a:latin typeface="맑은 고딕"/>
                <a:ea typeface="맑은 고딕"/>
                <a:cs typeface="맑은 고딕"/>
              </a:rPr>
              <a:t>질문을 정한다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498598"/>
            <a:ext cx="2485567" cy="2985515"/>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681478"/>
            <a:ext cx="731520" cy="731520"/>
          </a:xfrm>
          <a:prstGeom prst="ellipse">
            <a:avLst/>
          </a:prstGeom>
          <a:solidFill>
            <a:srgbClr val="FFFFFF"/>
          </a:solidFill>
          <a:ln>
            <a:noFill/>
          </a:ln>
        </p:spPr>
        <p:txBody>
          <a:bodyPr rtlCol="0" anchor="ctr"/>
          <a:lstStyle/>
          <a:p>
            <a:pPr algn="ctr"/>
          </a:p>
        </p:txBody>
      </p:sp>
      <p:pic>
        <p:nvPicPr>
          <p:cNvPr id="13" name="아이콘:category" descr="category_13294B_1.6.png"/>
          <p:cNvPicPr>
            <a:picLocks noChangeAspect="1"/>
          </p:cNvPicPr>
          <p:nvPr/>
        </p:nvPicPr>
        <p:blipFill>
          <a:blip r:embed="rId4"/>
          <a:stretch>
            <a:fillRect/>
          </a:stretch>
        </p:blipFill>
        <p:spPr>
          <a:xfrm>
            <a:off x="4448898" y="2835097"/>
            <a:ext cx="424281" cy="424281"/>
          </a:xfrm>
          <a:prstGeom prst="rect">
            <a:avLst/>
          </a:prstGeom>
        </p:spPr>
      </p:pic>
      <p:sp>
        <p:nvSpPr>
          <p:cNvPr id="14" name="TextBox 13"/>
          <p:cNvSpPr txBox="1"/>
          <p:nvPr/>
        </p:nvSpPr>
        <p:spPr>
          <a:xfrm>
            <a:off x="3491407"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대상 나누기</a:t>
            </a:r>
          </a:p>
          <a:p>
            <a:pPr algn="ctr">
              <a:lnSpc>
                <a:spcPct val="110000"/>
              </a:lnSpc>
              <a:spcAft>
                <a:spcPts val="400"/>
              </a:spcAft>
            </a:pPr>
            <a:r>
              <a:rPr sz="1350" b="0">
                <a:solidFill>
                  <a:srgbClr val="1F2A3A"/>
                </a:solidFill>
                <a:latin typeface="맑은 고딕"/>
                <a:ea typeface="맑은 고딕"/>
                <a:cs typeface="맑은 고딕"/>
              </a:rPr>
              <a:t>자료에 나오는 대상을</a:t>
            </a:r>
          </a:p>
          <a:p>
            <a:pPr algn="ctr">
              <a:lnSpc>
                <a:spcPct val="110000"/>
              </a:lnSpc>
              <a:spcAft>
                <a:spcPts val="400"/>
              </a:spcAft>
            </a:pPr>
            <a:r>
              <a:rPr sz="1350" b="0">
                <a:solidFill>
                  <a:srgbClr val="1F2A3A"/>
                </a:solidFill>
                <a:latin typeface="맑은 고딕"/>
                <a:ea typeface="맑은 고딕"/>
                <a:cs typeface="맑은 고딕"/>
              </a:rPr>
              <a:t>클래스와</a:t>
            </a:r>
          </a:p>
          <a:p>
            <a:pPr algn="ctr">
              <a:lnSpc>
                <a:spcPct val="110000"/>
              </a:lnSpc>
              <a:spcAft>
                <a:spcPts val="400"/>
              </a:spcAft>
            </a:pPr>
            <a:r>
              <a:rPr sz="1350" b="0">
                <a:solidFill>
                  <a:srgbClr val="1F2A3A"/>
                </a:solidFill>
                <a:latin typeface="맑은 고딕"/>
                <a:ea typeface="맑은 고딕"/>
                <a:cs typeface="맑은 고딕"/>
              </a:rPr>
              <a:t>예시 인스턴스로</a:t>
            </a:r>
          </a:p>
          <a:p>
            <a:pPr algn="ctr">
              <a:lnSpc>
                <a:spcPct val="110000"/>
              </a:lnSpc>
              <a:spcAft>
                <a:spcPts val="400"/>
              </a:spcAft>
            </a:pPr>
            <a:r>
              <a:rPr sz="1350" b="0">
                <a:solidFill>
                  <a:srgbClr val="1F2A3A"/>
                </a:solidFill>
                <a:latin typeface="맑은 고딕"/>
                <a:ea typeface="맑은 고딕"/>
                <a:cs typeface="맑은 고딕"/>
              </a:rPr>
              <a:t>가른다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498598"/>
            <a:ext cx="2485567" cy="2985515"/>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681478"/>
            <a:ext cx="731520" cy="731520"/>
          </a:xfrm>
          <a:prstGeom prst="ellipse">
            <a:avLst/>
          </a:prstGeom>
          <a:solidFill>
            <a:srgbClr val="FFFFFF"/>
          </a:solidFill>
          <a:ln>
            <a:noFill/>
          </a:ln>
        </p:spPr>
        <p:txBody>
          <a:bodyPr rtlCol="0" anchor="ctr"/>
          <a:lstStyle/>
          <a:p>
            <a:pPr algn="ctr"/>
          </a:p>
        </p:txBody>
      </p:sp>
      <p:pic>
        <p:nvPicPr>
          <p:cNvPr id="18" name="아이콘:forms" descr="forms_13294B_1.6.png"/>
          <p:cNvPicPr>
            <a:picLocks noChangeAspect="1"/>
          </p:cNvPicPr>
          <p:nvPr/>
        </p:nvPicPr>
        <p:blipFill>
          <a:blip r:embed="rId5"/>
          <a:stretch>
            <a:fillRect/>
          </a:stretch>
        </p:blipFill>
        <p:spPr>
          <a:xfrm>
            <a:off x="7318514" y="2835097"/>
            <a:ext cx="424281" cy="424281"/>
          </a:xfrm>
          <a:prstGeom prst="rect">
            <a:avLst/>
          </a:prstGeom>
        </p:spPr>
      </p:pic>
      <p:sp>
        <p:nvSpPr>
          <p:cNvPr id="19" name="TextBox 18"/>
          <p:cNvSpPr txBox="1"/>
          <p:nvPr/>
        </p:nvSpPr>
        <p:spPr>
          <a:xfrm>
            <a:off x="6361023"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정의하기</a:t>
            </a:r>
          </a:p>
          <a:p>
            <a:pPr algn="ctr">
              <a:lnSpc>
                <a:spcPct val="110000"/>
              </a:lnSpc>
              <a:spcAft>
                <a:spcPts val="400"/>
              </a:spcAft>
            </a:pPr>
            <a:r>
              <a:rPr sz="1350" b="0">
                <a:solidFill>
                  <a:srgbClr val="1F2A3A"/>
                </a:solidFill>
                <a:latin typeface="맑은 고딕"/>
                <a:ea typeface="맑은 고딕"/>
                <a:cs typeface="맑은 고딕"/>
              </a:rPr>
              <a:t>속성의 자료형,</a:t>
            </a:r>
          </a:p>
          <a:p>
            <a:pPr algn="ctr">
              <a:lnSpc>
                <a:spcPct val="110000"/>
              </a:lnSpc>
              <a:spcAft>
                <a:spcPts val="400"/>
              </a:spcAft>
            </a:pPr>
            <a:r>
              <a:rPr sz="1350" b="0">
                <a:solidFill>
                  <a:srgbClr val="1F2A3A"/>
                </a:solidFill>
                <a:latin typeface="맑은 고딕"/>
                <a:ea typeface="맑은 고딕"/>
                <a:cs typeface="맑은 고딕"/>
              </a:rPr>
              <a:t>식별자, 필수값과</a:t>
            </a:r>
          </a:p>
          <a:p>
            <a:pPr algn="ctr">
              <a:lnSpc>
                <a:spcPct val="110000"/>
              </a:lnSpc>
              <a:spcAft>
                <a:spcPts val="400"/>
              </a:spcAft>
            </a:pPr>
            <a:r>
              <a:rPr sz="1350" b="0">
                <a:solidFill>
                  <a:srgbClr val="1F2A3A"/>
                </a:solidFill>
                <a:latin typeface="맑은 고딕"/>
                <a:ea typeface="맑은 고딕"/>
                <a:cs typeface="맑은 고딕"/>
              </a:rPr>
              <a:t>관계의 유형, 방향,</a:t>
            </a:r>
          </a:p>
          <a:p>
            <a:pPr algn="ctr">
              <a:lnSpc>
                <a:spcPct val="110000"/>
              </a:lnSpc>
              <a:spcAft>
                <a:spcPts val="400"/>
              </a:spcAft>
            </a:pPr>
            <a:r>
              <a:rPr sz="1350" b="0">
                <a:solidFill>
                  <a:srgbClr val="1F2A3A"/>
                </a:solidFill>
                <a:latin typeface="맑은 고딕"/>
                <a:ea typeface="맑은 고딕"/>
                <a:cs typeface="맑은 고딕"/>
              </a:rPr>
              <a:t>연결 제약을 정한다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498598"/>
            <a:ext cx="2485567" cy="2985515"/>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681478"/>
            <a:ext cx="731520" cy="731520"/>
          </a:xfrm>
          <a:prstGeom prst="ellipse">
            <a:avLst/>
          </a:prstGeom>
          <a:solidFill>
            <a:srgbClr val="5CB8F2"/>
          </a:solidFill>
          <a:ln>
            <a:noFill/>
          </a:ln>
        </p:spPr>
        <p:txBody>
          <a:bodyPr rtlCol="0" anchor="ctr"/>
          <a:lstStyle/>
          <a:p>
            <a:pPr algn="ctr"/>
          </a:p>
        </p:txBody>
      </p:sp>
      <p:pic>
        <p:nvPicPr>
          <p:cNvPr id="23" name="아이콘:file-check" descr="file-check_13294B_1.6.png"/>
          <p:cNvPicPr>
            <a:picLocks noChangeAspect="1"/>
          </p:cNvPicPr>
          <p:nvPr/>
        </p:nvPicPr>
        <p:blipFill>
          <a:blip r:embed="rId6"/>
          <a:stretch>
            <a:fillRect/>
          </a:stretch>
        </p:blipFill>
        <p:spPr>
          <a:xfrm>
            <a:off x="10188130" y="2835097"/>
            <a:ext cx="424281" cy="424281"/>
          </a:xfrm>
          <a:prstGeom prst="rect">
            <a:avLst/>
          </a:prstGeom>
        </p:spPr>
      </p:pic>
      <p:sp>
        <p:nvSpPr>
          <p:cNvPr id="24" name="TextBox 23"/>
          <p:cNvSpPr txBox="1"/>
          <p:nvPr/>
        </p:nvSpPr>
        <p:spPr>
          <a:xfrm>
            <a:off x="9230639"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결과 확인</a:t>
            </a:r>
          </a:p>
          <a:p>
            <a:pPr algn="ctr">
              <a:lnSpc>
                <a:spcPct val="110000"/>
              </a:lnSpc>
              <a:spcAft>
                <a:spcPts val="400"/>
              </a:spcAft>
            </a:pPr>
            <a:r>
              <a:rPr sz="1350" b="0">
                <a:solidFill>
                  <a:srgbClr val="1F2A3A"/>
                </a:solidFill>
                <a:latin typeface="맑은 고딕"/>
                <a:ea typeface="맑은 고딕"/>
                <a:cs typeface="맑은 고딕"/>
              </a:rPr>
              <a:t>스키마 파일과</a:t>
            </a:r>
          </a:p>
          <a:p>
            <a:pPr algn="ctr">
              <a:lnSpc>
                <a:spcPct val="110000"/>
              </a:lnSpc>
              <a:spcAft>
                <a:spcPts val="400"/>
              </a:spcAft>
            </a:pPr>
            <a:r>
              <a:rPr sz="1350" b="0">
                <a:solidFill>
                  <a:srgbClr val="1F2A3A"/>
                </a:solidFill>
                <a:latin typeface="맑은 고딕"/>
                <a:ea typeface="맑은 고딕"/>
                <a:cs typeface="맑은 고딕"/>
              </a:rPr>
              <a:t>인스턴스 데이터가</a:t>
            </a:r>
          </a:p>
          <a:p>
            <a:pPr algn="ctr">
              <a:lnSpc>
                <a:spcPct val="110000"/>
              </a:lnSpc>
              <a:spcAft>
                <a:spcPts val="400"/>
              </a:spcAft>
            </a:pPr>
            <a:r>
              <a:rPr sz="1350" b="0">
                <a:solidFill>
                  <a:srgbClr val="1F2A3A"/>
                </a:solidFill>
                <a:latin typeface="맑은 고딕"/>
                <a:ea typeface="맑은 고딕"/>
                <a:cs typeface="맑은 고딕"/>
              </a:rPr>
              <a:t>원래 자료의 뜻과</a:t>
            </a:r>
          </a:p>
          <a:p>
            <a:pPr algn="ctr">
              <a:lnSpc>
                <a:spcPct val="110000"/>
              </a:lnSpc>
              <a:spcAft>
                <a:spcPts val="400"/>
              </a:spcAft>
            </a:pPr>
            <a:r>
              <a:rPr sz="1350" b="0">
                <a:solidFill>
                  <a:srgbClr val="1F2A3A"/>
                </a:solidFill>
                <a:latin typeface="맑은 고딕"/>
                <a:ea typeface="맑은 고딕"/>
                <a:cs typeface="맑은 고딕"/>
              </a:rPr>
              <a:t>맞는지 대조한다</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온톨로지의 그래프 DB 구현과 시각화</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스키마와 인스턴스를 Cypher로 옮겨 실습용 그래프 DB에 넣고 그래프로 확인한다</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구현하는 것과 완성되는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직접 설계한 클래스와 인스턴스와 관계가 그래프 DB에 들어가 그래프로 보인다.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94</a:t>
            </a:r>
          </a:p>
        </p:txBody>
      </p:sp>
      <p:sp>
        <p:nvSpPr>
          <p:cNvPr id="6" name="Rectangle 5"/>
          <p:cNvSpPr/>
          <p:nvPr/>
        </p:nvSpPr>
        <p:spPr>
          <a:xfrm>
            <a:off x="2397709" y="3042094"/>
            <a:ext cx="7396276" cy="36576"/>
          </a:xfrm>
          <a:prstGeom prst="rect">
            <a:avLst/>
          </a:prstGeom>
          <a:solidFill>
            <a:srgbClr val="D3D9E1"/>
          </a:solidFill>
          <a:ln>
            <a:noFill/>
          </a:ln>
        </p:spPr>
        <p:txBody>
          <a:bodyPr rtlCol="0" anchor="ctr"/>
          <a:lstStyle/>
          <a:p>
            <a:pPr algn="ctr"/>
          </a:p>
        </p:txBody>
      </p:sp>
      <p:sp>
        <p:nvSpPr>
          <p:cNvPr id="7" name="Oval 6"/>
          <p:cNvSpPr/>
          <p:nvPr/>
        </p:nvSpPr>
        <p:spPr>
          <a:xfrm>
            <a:off x="1963369" y="2626042"/>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code" descr="code_13294B_1.6.png"/>
          <p:cNvPicPr>
            <a:picLocks noChangeAspect="1"/>
          </p:cNvPicPr>
          <p:nvPr/>
        </p:nvPicPr>
        <p:blipFill>
          <a:blip r:embed="rId3"/>
          <a:stretch>
            <a:fillRect/>
          </a:stretch>
        </p:blipFill>
        <p:spPr>
          <a:xfrm>
            <a:off x="2180539" y="2843212"/>
            <a:ext cx="434340" cy="434340"/>
          </a:xfrm>
          <a:prstGeom prst="rect">
            <a:avLst/>
          </a:prstGeom>
        </p:spPr>
      </p:pic>
      <p:sp>
        <p:nvSpPr>
          <p:cNvPr id="9" name="Oval 8"/>
          <p:cNvSpPr/>
          <p:nvPr/>
        </p:nvSpPr>
        <p:spPr>
          <a:xfrm>
            <a:off x="2557729" y="2580322"/>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557729"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2" y="3677602"/>
            <a:ext cx="3551834"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Cypher로 옮긴다</a:t>
            </a:r>
          </a:p>
          <a:p>
            <a:pPr algn="ctr">
              <a:lnSpc>
                <a:spcPct val="110000"/>
              </a:lnSpc>
              <a:spcAft>
                <a:spcPts val="400"/>
              </a:spcAft>
            </a:pPr>
            <a:r>
              <a:rPr sz="1350" b="0">
                <a:solidFill>
                  <a:srgbClr val="1F2A3A"/>
                </a:solidFill>
                <a:latin typeface="맑은 고딕"/>
                <a:ea typeface="맑은 고딕"/>
                <a:cs typeface="맑은 고딕"/>
              </a:rPr>
              <a:t>앞에서 만든 스키마와 예시 인스턴스를</a:t>
            </a:r>
          </a:p>
          <a:p>
            <a:pPr algn="ctr">
              <a:lnSpc>
                <a:spcPct val="110000"/>
              </a:lnSpc>
              <a:spcAft>
                <a:spcPts val="400"/>
              </a:spcAft>
            </a:pPr>
            <a:r>
              <a:rPr sz="1350" b="0">
                <a:solidFill>
                  <a:srgbClr val="1F2A3A"/>
                </a:solidFill>
                <a:latin typeface="맑은 고딕"/>
                <a:ea typeface="맑은 고딕"/>
                <a:cs typeface="맑은 고딕"/>
              </a:rPr>
              <a:t>노드, 속성, 관계를 만드는</a:t>
            </a:r>
          </a:p>
          <a:p>
            <a:pPr algn="ctr">
              <a:lnSpc>
                <a:spcPct val="110000"/>
              </a:lnSpc>
              <a:spcAft>
                <a:spcPts val="400"/>
              </a:spcAft>
            </a:pPr>
            <a:r>
              <a:rPr sz="1350" b="0">
                <a:solidFill>
                  <a:srgbClr val="1F2A3A"/>
                </a:solidFill>
                <a:latin typeface="맑은 고딕"/>
                <a:ea typeface="맑은 고딕"/>
                <a:cs typeface="맑은 고딕"/>
              </a:rPr>
              <a:t>Cypher 질의로 바꾼다</a:t>
            </a:r>
          </a:p>
        </p:txBody>
      </p:sp>
      <p:sp>
        <p:nvSpPr>
          <p:cNvPr id="12" name="Oval 11"/>
          <p:cNvSpPr/>
          <p:nvPr/>
        </p:nvSpPr>
        <p:spPr>
          <a:xfrm>
            <a:off x="5661507" y="2626042"/>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database-import" descr="database-import_13294B_1.6.png"/>
          <p:cNvPicPr>
            <a:picLocks noChangeAspect="1"/>
          </p:cNvPicPr>
          <p:nvPr/>
        </p:nvPicPr>
        <p:blipFill>
          <a:blip r:embed="rId4"/>
          <a:stretch>
            <a:fillRect/>
          </a:stretch>
        </p:blipFill>
        <p:spPr>
          <a:xfrm>
            <a:off x="5878677" y="2843212"/>
            <a:ext cx="434340" cy="434340"/>
          </a:xfrm>
          <a:prstGeom prst="rect">
            <a:avLst/>
          </a:prstGeom>
        </p:spPr>
      </p:pic>
      <p:sp>
        <p:nvSpPr>
          <p:cNvPr id="14" name="Oval 13"/>
          <p:cNvSpPr/>
          <p:nvPr/>
        </p:nvSpPr>
        <p:spPr>
          <a:xfrm>
            <a:off x="6255867" y="2580322"/>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6255867"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4319930" y="3677602"/>
            <a:ext cx="3551834"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그래프 DB에 넣는다</a:t>
            </a:r>
          </a:p>
          <a:p>
            <a:pPr algn="ctr">
              <a:lnSpc>
                <a:spcPct val="110000"/>
              </a:lnSpc>
              <a:spcAft>
                <a:spcPts val="400"/>
              </a:spcAft>
            </a:pPr>
            <a:r>
              <a:rPr sz="1350" b="0">
                <a:solidFill>
                  <a:srgbClr val="1F2A3A"/>
                </a:solidFill>
                <a:latin typeface="맑은 고딕"/>
                <a:ea typeface="맑은 고딕"/>
                <a:cs typeface="맑은 고딕"/>
              </a:rPr>
              <a:t>실습용으로 분리된 그래프 DB에서</a:t>
            </a:r>
          </a:p>
          <a:p>
            <a:pPr algn="ctr">
              <a:lnSpc>
                <a:spcPct val="110000"/>
              </a:lnSpc>
              <a:spcAft>
                <a:spcPts val="400"/>
              </a:spcAft>
            </a:pPr>
            <a:r>
              <a:rPr sz="1350" b="0">
                <a:solidFill>
                  <a:srgbClr val="1F2A3A"/>
                </a:solidFill>
                <a:latin typeface="맑은 고딕"/>
                <a:ea typeface="맑은 고딕"/>
                <a:cs typeface="맑은 고딕"/>
              </a:rPr>
              <a:t>질의를 실행해</a:t>
            </a:r>
          </a:p>
          <a:p>
            <a:pPr algn="ctr">
              <a:lnSpc>
                <a:spcPct val="110000"/>
              </a:lnSpc>
              <a:spcAft>
                <a:spcPts val="400"/>
              </a:spcAft>
            </a:pPr>
            <a:r>
              <a:rPr sz="1350" b="0">
                <a:solidFill>
                  <a:srgbClr val="1F2A3A"/>
                </a:solidFill>
                <a:latin typeface="맑은 고딕"/>
                <a:ea typeface="맑은 고딕"/>
                <a:cs typeface="맑은 고딕"/>
              </a:rPr>
              <a:t>인스턴스와 관계를 만든다</a:t>
            </a:r>
          </a:p>
        </p:txBody>
      </p:sp>
      <p:sp>
        <p:nvSpPr>
          <p:cNvPr id="17" name="Oval 16"/>
          <p:cNvSpPr/>
          <p:nvPr/>
        </p:nvSpPr>
        <p:spPr>
          <a:xfrm>
            <a:off x="9359646" y="2626042"/>
            <a:ext cx="868680" cy="868680"/>
          </a:xfrm>
          <a:prstGeom prst="ellipse">
            <a:avLst/>
          </a:prstGeom>
          <a:solidFill>
            <a:srgbClr val="5CB8F2"/>
          </a:solidFill>
          <a:ln>
            <a:noFill/>
          </a:ln>
        </p:spPr>
        <p:txBody>
          <a:bodyPr rtlCol="0" anchor="ctr"/>
          <a:lstStyle/>
          <a:p>
            <a:pPr algn="ctr"/>
          </a:p>
        </p:txBody>
      </p:sp>
      <p:pic>
        <p:nvPicPr>
          <p:cNvPr id="18" name="아이콘:topology-star-3" descr="topology-star-3_13294B_1.6.png"/>
          <p:cNvPicPr>
            <a:picLocks noChangeAspect="1"/>
          </p:cNvPicPr>
          <p:nvPr/>
        </p:nvPicPr>
        <p:blipFill>
          <a:blip r:embed="rId5"/>
          <a:stretch>
            <a:fillRect/>
          </a:stretch>
        </p:blipFill>
        <p:spPr>
          <a:xfrm>
            <a:off x="9576816" y="2843212"/>
            <a:ext cx="434340" cy="434340"/>
          </a:xfrm>
          <a:prstGeom prst="rect">
            <a:avLst/>
          </a:prstGeom>
        </p:spPr>
      </p:pic>
      <p:sp>
        <p:nvSpPr>
          <p:cNvPr id="19" name="Oval 18"/>
          <p:cNvSpPr/>
          <p:nvPr/>
        </p:nvSpPr>
        <p:spPr>
          <a:xfrm>
            <a:off x="9954006" y="2580322"/>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9954006"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8018068" y="3677602"/>
            <a:ext cx="3551834"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그래프로 확인한다</a:t>
            </a:r>
          </a:p>
          <a:p>
            <a:pPr algn="ctr">
              <a:lnSpc>
                <a:spcPct val="110000"/>
              </a:lnSpc>
              <a:spcAft>
                <a:spcPts val="400"/>
              </a:spcAft>
            </a:pPr>
            <a:r>
              <a:rPr sz="1350" b="0">
                <a:solidFill>
                  <a:srgbClr val="1F2A3A"/>
                </a:solidFill>
                <a:latin typeface="맑은 고딕"/>
                <a:ea typeface="맑은 고딕"/>
                <a:cs typeface="맑은 고딕"/>
              </a:rPr>
              <a:t>Neo4j Browser에서 결과를 그래프로 보고</a:t>
            </a:r>
          </a:p>
          <a:p>
            <a:pPr algn="ctr">
              <a:lnSpc>
                <a:spcPct val="110000"/>
              </a:lnSpc>
              <a:spcAft>
                <a:spcPts val="400"/>
              </a:spcAft>
            </a:pPr>
            <a:r>
              <a:rPr sz="1350" b="0">
                <a:solidFill>
                  <a:srgbClr val="1F2A3A"/>
                </a:solidFill>
                <a:latin typeface="맑은 고딕"/>
                <a:ea typeface="맑은 고딕"/>
                <a:cs typeface="맑은 고딕"/>
              </a:rPr>
              <a:t>설계한 구조대로 이어졌는지 확인한다</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오늘의 용어는 지식을 정의하는 말 여섯과 그래프 DB를 쓰는 말 둘이다.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95</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용어</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한 줄 뜻</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영문</a:t>
            </a:r>
          </a:p>
        </p:txBody>
      </p:sp>
      <p:sp>
        <p:nvSpPr>
          <p:cNvPr id="10" name="Rounded Rectangle 9"/>
          <p:cNvSpPr/>
          <p:nvPr/>
        </p:nvSpPr>
        <p:spPr>
          <a:xfrm>
            <a:off x="548640" y="2061972"/>
            <a:ext cx="11094415" cy="476631"/>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클래스</a:t>
            </a:r>
          </a:p>
        </p:txBody>
      </p:sp>
      <p:sp>
        <p:nvSpPr>
          <p:cNvPr id="12" name="TextBox 11"/>
          <p:cNvSpPr txBox="1"/>
          <p:nvPr/>
        </p:nvSpPr>
        <p:spPr>
          <a:xfrm>
            <a:off x="3200400" y="2029968"/>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공통 특성을 가진 대상의 유형</a:t>
            </a:r>
          </a:p>
        </p:txBody>
      </p:sp>
      <p:sp>
        <p:nvSpPr>
          <p:cNvPr id="13" name="TextBox 12"/>
          <p:cNvSpPr txBox="1"/>
          <p:nvPr/>
        </p:nvSpPr>
        <p:spPr>
          <a:xfrm>
            <a:off x="9448495" y="2029968"/>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Class</a:t>
            </a:r>
          </a:p>
        </p:txBody>
      </p:sp>
      <p:sp>
        <p:nvSpPr>
          <p:cNvPr id="14" name="Rounded Rectangle 13"/>
          <p:cNvSpPr/>
          <p:nvPr/>
        </p:nvSpPr>
        <p:spPr>
          <a:xfrm>
            <a:off x="548640" y="2602611"/>
            <a:ext cx="11094415" cy="476631"/>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570607"/>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인스턴스</a:t>
            </a:r>
          </a:p>
        </p:txBody>
      </p:sp>
      <p:sp>
        <p:nvSpPr>
          <p:cNvPr id="16" name="TextBox 15"/>
          <p:cNvSpPr txBox="1"/>
          <p:nvPr/>
        </p:nvSpPr>
        <p:spPr>
          <a:xfrm>
            <a:off x="3200400" y="2570607"/>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클래스에 속하는 실제 대상 하나</a:t>
            </a:r>
          </a:p>
        </p:txBody>
      </p:sp>
      <p:sp>
        <p:nvSpPr>
          <p:cNvPr id="17" name="TextBox 16"/>
          <p:cNvSpPr txBox="1"/>
          <p:nvPr/>
        </p:nvSpPr>
        <p:spPr>
          <a:xfrm>
            <a:off x="9448495" y="2570607"/>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Instance</a:t>
            </a:r>
          </a:p>
        </p:txBody>
      </p:sp>
      <p:sp>
        <p:nvSpPr>
          <p:cNvPr id="18" name="Rounded Rectangle 17"/>
          <p:cNvSpPr/>
          <p:nvPr/>
        </p:nvSpPr>
        <p:spPr>
          <a:xfrm>
            <a:off x="548640" y="3143250"/>
            <a:ext cx="11094415" cy="476631"/>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111246"/>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속성</a:t>
            </a:r>
          </a:p>
        </p:txBody>
      </p:sp>
      <p:sp>
        <p:nvSpPr>
          <p:cNvPr id="20" name="TextBox 19"/>
          <p:cNvSpPr txBox="1"/>
          <p:nvPr/>
        </p:nvSpPr>
        <p:spPr>
          <a:xfrm>
            <a:off x="3200400" y="3111246"/>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클래스가 정한 값의 칸</a:t>
            </a:r>
          </a:p>
        </p:txBody>
      </p:sp>
      <p:sp>
        <p:nvSpPr>
          <p:cNvPr id="21" name="TextBox 20"/>
          <p:cNvSpPr txBox="1"/>
          <p:nvPr/>
        </p:nvSpPr>
        <p:spPr>
          <a:xfrm>
            <a:off x="9448495" y="3111246"/>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Property</a:t>
            </a:r>
          </a:p>
        </p:txBody>
      </p:sp>
      <p:sp>
        <p:nvSpPr>
          <p:cNvPr id="22" name="Rounded Rectangle 21"/>
          <p:cNvSpPr/>
          <p:nvPr/>
        </p:nvSpPr>
        <p:spPr>
          <a:xfrm>
            <a:off x="548640" y="3683888"/>
            <a:ext cx="11094415" cy="476631"/>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3651885"/>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카디널리티</a:t>
            </a:r>
          </a:p>
        </p:txBody>
      </p:sp>
      <p:sp>
        <p:nvSpPr>
          <p:cNvPr id="24" name="TextBox 23"/>
          <p:cNvSpPr txBox="1"/>
          <p:nvPr/>
        </p:nvSpPr>
        <p:spPr>
          <a:xfrm>
            <a:off x="3200400" y="3651885"/>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한 대상에 이어질 수 있는 상대의 수</a:t>
            </a:r>
          </a:p>
        </p:txBody>
      </p:sp>
      <p:sp>
        <p:nvSpPr>
          <p:cNvPr id="25" name="TextBox 24"/>
          <p:cNvSpPr txBox="1"/>
          <p:nvPr/>
        </p:nvSpPr>
        <p:spPr>
          <a:xfrm>
            <a:off x="9448495" y="3651885"/>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Cardinality</a:t>
            </a:r>
          </a:p>
        </p:txBody>
      </p:sp>
      <p:sp>
        <p:nvSpPr>
          <p:cNvPr id="26" name="Rounded Rectangle 25"/>
          <p:cNvSpPr/>
          <p:nvPr/>
        </p:nvSpPr>
        <p:spPr>
          <a:xfrm>
            <a:off x="548640" y="4224528"/>
            <a:ext cx="11094415" cy="476631"/>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192524"/>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스키마</a:t>
            </a:r>
          </a:p>
        </p:txBody>
      </p:sp>
      <p:sp>
        <p:nvSpPr>
          <p:cNvPr id="28" name="TextBox 27"/>
          <p:cNvSpPr txBox="1"/>
          <p:nvPr/>
        </p:nvSpPr>
        <p:spPr>
          <a:xfrm>
            <a:off x="3200400" y="4192524"/>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클래스, 속성, 관계, 제약의 정의</a:t>
            </a:r>
          </a:p>
        </p:txBody>
      </p:sp>
      <p:sp>
        <p:nvSpPr>
          <p:cNvPr id="29" name="TextBox 28"/>
          <p:cNvSpPr txBox="1"/>
          <p:nvPr/>
        </p:nvSpPr>
        <p:spPr>
          <a:xfrm>
            <a:off x="9448495" y="4192524"/>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Schema</a:t>
            </a:r>
          </a:p>
        </p:txBody>
      </p:sp>
      <p:sp>
        <p:nvSpPr>
          <p:cNvPr id="30" name="Rounded Rectangle 29"/>
          <p:cNvSpPr/>
          <p:nvPr/>
        </p:nvSpPr>
        <p:spPr>
          <a:xfrm>
            <a:off x="548640" y="4765167"/>
            <a:ext cx="11094415" cy="476631"/>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4733163"/>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식별자</a:t>
            </a:r>
          </a:p>
        </p:txBody>
      </p:sp>
      <p:sp>
        <p:nvSpPr>
          <p:cNvPr id="32" name="TextBox 31"/>
          <p:cNvSpPr txBox="1"/>
          <p:nvPr/>
        </p:nvSpPr>
        <p:spPr>
          <a:xfrm>
            <a:off x="3200400" y="4733163"/>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대상 하나를 가리키는 고유한 값</a:t>
            </a:r>
          </a:p>
        </p:txBody>
      </p:sp>
      <p:sp>
        <p:nvSpPr>
          <p:cNvPr id="33" name="TextBox 32"/>
          <p:cNvSpPr txBox="1"/>
          <p:nvPr/>
        </p:nvSpPr>
        <p:spPr>
          <a:xfrm>
            <a:off x="9448495" y="4733163"/>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Identifier</a:t>
            </a:r>
          </a:p>
        </p:txBody>
      </p:sp>
      <p:sp>
        <p:nvSpPr>
          <p:cNvPr id="34" name="Rounded Rectangle 33"/>
          <p:cNvSpPr/>
          <p:nvPr/>
        </p:nvSpPr>
        <p:spPr>
          <a:xfrm>
            <a:off x="548640" y="5305806"/>
            <a:ext cx="11094415" cy="476631"/>
          </a:xfrm>
          <a:prstGeom prst="roundRect">
            <a:avLst>
              <a:gd name="adj" fmla="val 8000"/>
            </a:avLst>
          </a:prstGeom>
          <a:solidFill>
            <a:srgbClr val="F3F6F9"/>
          </a:solidFill>
          <a:ln>
            <a:noFill/>
          </a:ln>
        </p:spPr>
        <p:txBody>
          <a:bodyPr rtlCol="0" anchor="ctr"/>
          <a:lstStyle/>
          <a:p>
            <a:pPr algn="ctr"/>
          </a:p>
        </p:txBody>
      </p:sp>
      <p:sp>
        <p:nvSpPr>
          <p:cNvPr id="35" name="TextBox 34"/>
          <p:cNvSpPr txBox="1"/>
          <p:nvPr/>
        </p:nvSpPr>
        <p:spPr>
          <a:xfrm>
            <a:off x="685800" y="5273802"/>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레이블</a:t>
            </a:r>
          </a:p>
        </p:txBody>
      </p:sp>
      <p:sp>
        <p:nvSpPr>
          <p:cNvPr id="36" name="TextBox 35"/>
          <p:cNvSpPr txBox="1"/>
          <p:nvPr/>
        </p:nvSpPr>
        <p:spPr>
          <a:xfrm>
            <a:off x="3200400" y="5273802"/>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노드의 종류를 나타내는 이름표</a:t>
            </a:r>
          </a:p>
        </p:txBody>
      </p:sp>
      <p:sp>
        <p:nvSpPr>
          <p:cNvPr id="37" name="TextBox 36"/>
          <p:cNvSpPr txBox="1"/>
          <p:nvPr/>
        </p:nvSpPr>
        <p:spPr>
          <a:xfrm>
            <a:off x="9448495" y="5273802"/>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Label</a:t>
            </a:r>
          </a:p>
        </p:txBody>
      </p:sp>
      <p:sp>
        <p:nvSpPr>
          <p:cNvPr id="38" name="Rounded Rectangle 37"/>
          <p:cNvSpPr/>
          <p:nvPr/>
        </p:nvSpPr>
        <p:spPr>
          <a:xfrm>
            <a:off x="548640" y="5846445"/>
            <a:ext cx="11094415" cy="476631"/>
          </a:xfrm>
          <a:prstGeom prst="roundRect">
            <a:avLst>
              <a:gd name="adj" fmla="val 8000"/>
            </a:avLst>
          </a:prstGeom>
          <a:solidFill>
            <a:srgbClr val="F3F6F9"/>
          </a:solidFill>
          <a:ln>
            <a:noFill/>
          </a:ln>
        </p:spPr>
        <p:txBody>
          <a:bodyPr rtlCol="0" anchor="ctr"/>
          <a:lstStyle/>
          <a:p>
            <a:pPr algn="ctr"/>
          </a:p>
        </p:txBody>
      </p:sp>
      <p:sp>
        <p:nvSpPr>
          <p:cNvPr id="39" name="TextBox 38"/>
          <p:cNvSpPr txBox="1"/>
          <p:nvPr/>
        </p:nvSpPr>
        <p:spPr>
          <a:xfrm>
            <a:off x="685800" y="5814441"/>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질의</a:t>
            </a:r>
          </a:p>
        </p:txBody>
      </p:sp>
      <p:sp>
        <p:nvSpPr>
          <p:cNvPr id="40" name="TextBox 39"/>
          <p:cNvSpPr txBox="1"/>
          <p:nvPr/>
        </p:nvSpPr>
        <p:spPr>
          <a:xfrm>
            <a:off x="3200400" y="5814441"/>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데이터베이스에 보내는 요청</a:t>
            </a:r>
          </a:p>
        </p:txBody>
      </p:sp>
      <p:sp>
        <p:nvSpPr>
          <p:cNvPr id="41" name="TextBox 40"/>
          <p:cNvSpPr txBox="1"/>
          <p:nvPr/>
        </p:nvSpPr>
        <p:spPr>
          <a:xfrm>
            <a:off x="9448495" y="5814441"/>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Query</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배운 내용을 바탕으로 정답을 맞춰보세요.</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1. 스키마와 인스턴스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공장에 같은 기종의 유압 파워팩 한 대가 새로 들어와 HYD-04라는 설비 코드를 받았다.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97</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 설비를 지식 그래프에 반영하는 방법으로 가장 적절한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스키마에 「HYD-04」라는 클래스를 새로 정의한다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Asset 클래스에 「넷째 설비」라는 속성을 더한다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Asset 클래스의 인스턴스 하나를 더하고 구성 요소와 관계로 잇는다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기존 HYD-01 인스턴스의 code 값을 HYD-04로 고친다</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2. 속성과 관계의 속성</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부품 「펌프 축 씰 키트」를 세 공급사가 공급하는데, 단가와 납기가 공급사마다 다르다.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98</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단가와 납기를 두는 자리로 가장 적절한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부품과 공급사를 잇는 SUPPLIED_BY 관계의 속성</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Part 클래스의 속성</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Supplier 클래스의 속성</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「단가」라는 새 클래스의 인스턴스</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3. 방향이 있는 관계의 조회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HAS_COMPONENT는 Asset에서 Component로 향하는 관계이며, 오일 쿨러를 가진 설비를 찾으려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99</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찾을 모양을 바르게 적은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(c:Component {name: '오일 쿨러'})-[:HAS_COMPONENT]-&gt;(a:Asset)</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(c:Component {name: '오일 쿨러'})&lt;-[:HAS_COMPONENT]-(a:Asset)</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(c:Component {name: '오일 쿨러'})&lt;-[:MONITORED_BY]-(a:Asset)</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[c:Component {name: '오일 쿨러'}]&lt;-(:HAS_COMPONENT)-[a:Asset]</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문항은 유형과 대상, 값이 딸린 자리, 관계의 방향을 구분하는지를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100</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새로 생긴 것은 유형이 아니라 대상 하나이다. 스키마는 그대로 두고 인스턴스와 관계를 더한다.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3번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단가는 부품과 공급사의 짝마다 달라진다. 짝에 딸린 값은 둘을 잇는 관계의 속성으로 둔다.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1번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관계는 설비에서 구성 요소로 향한다. 구성 요소 쪽에서 출발하면 화살표를 구성 요소 쪽으로 향하게 적는다.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2번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