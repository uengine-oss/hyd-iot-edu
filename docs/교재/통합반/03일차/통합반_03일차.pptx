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경보에서 출발해 원인을 가리는 데까지 갔습니다. 오늘은 그다음, 곧 원인을 안 뒤에 조치 하나를 고르는 과정을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오늘의 세 단원이 이 셋에 하나씩 대응합니다.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 어떻게 수행하는가부터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SOP에는 절차 번호가 붙습니다. 팬 최대 운전의 번호는 SOP-COOL-11입니다. 이름은 비슷한 것이 여럿일 수 있지만 번호는 하나뿐이어서, 추천과 승인과 기록이 같은 절차를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구성요소가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단계와 거기에 붙는 셋도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방법에서 더 따라가 보겠습니다. 원문의 번호 붙은 단계가 작업 단계 노드가 되고, 단계마다 근거가 되는 매뉴얼의 절이 이어집니다. 추천에 출처 HM-8.5가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조치는 성격에 따라 셋으로 나뉘고 쓰이는 때가 다릅니다. 아래 선은 유온이고, 위의 세 원이 조치가 쓰이는 때입니다. 세 종류가 무엇을 없애는지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시각을 기준으로 세 종류를 견줍니다. 경보 직후에 쓰는 즉시 완화는 고장의 영향을 줄이며, 팬 최대 운전이 그 예입니다. 유온은 곧바로 내려가지만 핀에 낀 오염은 그대로입니다. 정비 시간에 쓰는 근본 조치는 원인을 없애며, 쿨러 핀 세척은 원인이 핀 오염일 때만 맞습니다. 예방 조치는 경보가 나기 전에 주기에 따라 하는 정기 정비로, 씰과 필터를 2,000시간마다 교체하는 정기 점검이 펌프의 체적 효율 저하를 미리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그래프입니다. 팬 최대 운전으로 유온은 내려갔지만 아래쪽의 냉각 효율은 55 %에 머물렀습니다. 매뉴얼은 완화에 성공해도 원인은 남아 있다고 적어 둡니다. 그래서 완화 조치를 한 뒤에 근본 조치가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조치를 어떻게 수행하는지는 SOP가 정합니다. 그 안의 조건 문장은 값과 견주어야 하므로 따로 다룰 방법이 필요합니다. 다음 단원이 그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 단원에서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판단 하나를 세 부분으로 나누어 적습니다. 무엇을 보는가가 입력이고, 어떤 조건이면 어떤 결과인가가 규칙이며, 그래서 나온 답이 판정입니다. 문장에서는 이 셋이 한데 섞여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판정하려면 값이 있어야 합니다. 입력 데이터마다 그 값을 어디서 가져오는지가 정해져 있습니다. 운전 모드는 SCADA에서, 연속 운전 시간은 운전 이력에서, 납기까지 남은 시간은 MES에서 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표에는 지금의 값이 없습니다. 왼쪽처럼 무엇을 무엇과 견줄지만 적혀 있고, 이것은 문서가 바뀌기 전에는 그대로입니다. 오른쪽의 값은 판단하는 순간에 출처에서 읽어 오며 판단할 때마다 달라집니다. 입력 가운데 조치 후 예측 유온은 지금 잰 값이 아니라 그 조치를 했다면 유온이 어디에 머물지를 미리 계산한 값이며, 조치마다 달라서 후보마다 따로 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연산자는 여섯 가지입니다. 프로그래밍 언어에서 쓰는 기호와 같습니다. 눈여겨볼 것은 크다와 크거나 같다, 작다와 작거나 같다의 차이입니다.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24시간을 넘겼다면입니다.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됩니다. 유온이 55도를 넘고 65도에 못 미치는 구간은 경보는 났지만 인터록까지는 가지 않은 구간입니다. 범위에서는 두 끝이 각각 포함되는지를 따로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한 행에 조건이 둘인 예입니다. 정기 정비 도래 경보가 났고, 마지막 정비 뒤의 운전시간이 1,800시간 이상일 때만 정기 정비 방안들을 후보로 올리며, 하나만 맞으면 이 행은 맞지 않습니다. 오른쪽은 둘 가운데 하나만 맞아도 되는 경우입니다. 한 행에 넣지 않고 같은 출력을 내는 행 둘로 나누면 어느 쪽이 맞든 그 출력이 나옵니다. 매뉴얼의 문장이 「그리고」인지 「또는」인지를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쉽습니다. 첫째 결함은 누락입니다. 55 미만은 통과, 60 이상은 제외라고 적었다면 그 사이의 57도에는 맞는 행이 없습니다. 표는 아무 답도 내지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누락에 이어 나머지 두 결함입니다. 같은 두 행에서 출력만 바꾸어 견줍니다. 55 이상이면 경고라는 행이 있는데 58 이상이면 경고라는 행을 또 넣으면 중복이며, 당장 틀린 답이 나오지는 않지만 나중에 한 행만 고치면 표가 어긋납니다. 둘째 행의 출력이 제외이면 상충입니다. 59도에는 둘 다 맞고 결과가 달라서 후보에 남길지 뺄지를 표가 정해 주지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겹침이 모두 결함인 것은 아닙니다. 팬이 30시간째 최대로 돌았고 예측 유온이 56도라면 감점 행과 경고 행이 함께 맞습니다. 이것은 잘못이 아니라 실제로 둘 다 해당하는 상황입니다. 이때 어떻게 할지를 미리 정해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약속이 Hit Policy입니다. 행이 맞는 것을 hit이라고 하고, 여러 행이 맞았을 때 어떻게 처리할지를 표마다 하나 정해 둡니다. 대표적인 네 가지를 같은 입력으로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같고 감점 행과 경고 행이 함께 맞은 상태입니다. Unique는 한 행만 맞아야 하므로 이 입력을 표의 오류로 봅니다. First는 위에서부터 보아 먼저 맞은 감점을 답으로 쓰며 행을 적는 순서가 결과를 바꿉니다. Priority는 출력에 매겨 둔 우선순위를 보는데, 가장 높은 제외는 행이 맞지 않았으므로 맞은 둘 가운데 더 높은 경고가 답입니다. Collect는 하나를 고르지 않고 감점 20만 원과 경고를 모두 답으로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표와 같은 입력인데 Hit Policy에 따라 답이 넷으로 갈렸습니다. 어느 것이 옳은 것이 아니라 표의 목적에 따라 고릅니다. 답이 하나여야 하면 Unique, 빠짐없이 모아야 하면 Collect입니다.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것이 HYD에서 쓰이는 모습입니다. 조치 판단은 네 결정으로 나뉘어 차례로 이어집니다. 후보 선택과 규정 적합성은 해당하는 것을 모두 모아야 하므로 Collect이고, 순위를 매기는 기준은 하나여야 하므로 Unique입니다.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규칙의 출력을 종류별로 보겠습니다. 첫째는 후보 선택입니다. 고장 유형이 쿨러 냉각 성능 상실이면 완화 조치 셋이 후보가 되고, 원인이 핀 오염이면 핀 세척이 더해져 넷이 됩니다. 앞에서 본 네 후보가 이렇게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 다음의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두 규칙은 모두 매뉴얼 HM-8.8의 문장에서 왔습니다. 왼쪽은 판정이 내려졌을 때 남는 기록입니다. 어느 규칙이 어떤 조건으로 걸렸는지, 판정의 종류와 크기가 무엇인지가 차례로 적혀 있습니다. 마지막 줄의 sources가 근거가 된 절이며, 승인하는 사람은 이 줄을 따라 원문을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값을 얻지 못했을 때입니다. 통신이 끊겨 운전 모드를 읽지 못했다고 하겠습니다. 값이 없으니 조건이 맞지 않았다고 보고 넘어가면 위험한 조치가 후보에 남습니다. 그래서 모르는 조건은 통과로 치지 않고 제외 쪽으로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조건 문장을 결정표의 행으로 옮기고, 지금의 값을 대어 보면 근거가 붙은 판정이 나옵니다. 여기까지 오면 해서는 안 되는 조치가 걸러집니다. 남은 후보 가운데 무엇이 나은지는 성과 기준으로 따집니다.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첫째는 정의입니다.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 다음으로 지표에 정해 두는 항목입니다. 인터록 여유는 클수록 좋고 지체상금은 작을수록 좋으며, 방향이 정해져 있지 않으면 숫자가 커졌을 때 좋아진 것인지 나빠진 것인지 알 수 없습니다. 측정 주기는 실시간에서 월까지 지표마다 다르고 설비에 가까운 지표일수록 자주 잽니다. 마지막 칸의 책임 부서는 그 지표를 관리하는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목표값입니다. 인터록 여유의 목표값은 10이고, 한계가 65이므로 최고 유온을 55도 이하로 지켜야 목표를 이룹니다. 오른쪽 아래의 실제값은 어느 24시간에 HYD-01의 유온이 62.47도까지 올랐으므로 65에서 뺀 2.53입니다. 둘을 견준 것이 목표 대비 차이입니다. 목표 10에 7.47이 모자라고 달성률로는 25.3 %여서 미달입니다.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24시간에 설비 가동률은 100 %로 목표를 달성했고 설비는 한 번도 서지 않았습니다. 그런데 인터록 여유는 미달이었습니다. 서지는 않았지만 설 뻔했던 것입니다. 가동률만 보았다면 이 위험은 보이지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목표는 따로 떨어져 있지 않습니다. 목표 사이의 인과를 그린 것이 전략맵이고 아래에서 위로 읽습니다. 현장 판단 지식 축적과 무재해 운전이 설비 가용성 확보를 뒷받침합니다. 인터록에 걸려 설비가 서지 않아야 가용성이 지켜지기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아래에서 위로 따라갑니다. 첫째 길은 내부 프로세스에서 고객으로 가며, 설비가 필요할 때 돌 수 있어야 약속한 날짜에 물량을 채울 수 있으므로 설비 가용성 확보가 납기 신뢰를 뒷받침합니다. 둘째 길은 고객에서 재무로 가며, 납기 신뢰와 품질 신뢰가 영업이익 확대로 이어집니다. 유온을 관리하는 현장의 일이 무재해 운전, 설비 가용성, 납기 신뢰를 거쳐 영업이익까지 한 줄로 이어집니다. 셋째 길은 오른쪽에 따로 있으며, 에너지 효율이 원가 절감을 거쳐 영업이익 확대로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지표에는 성격이 다른 두 종류가 있습니다. 왼쪽의 후행 지표는 이미 나온 결과를 재며 납기 준수율과 지체상금이 그렇습니다. 얻고자 하는 결과를 알려 주지만 숫자를 보았을 때는 이미 지나간 일입니다. 오른쪽의 선행 지표는 그 결과를 움직이는 동인을 재며 생산량과 인터록 여유가 그렇습니다. 실시간으로 잴 수 있어서 결과가 나오기 전에 손을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한 줄로 이어집니다. 펌프 부하를 낮추면 생산량이 줄고, 생산량이 줄면 납기 준수율이 떨어지며, 납기를 어기면 지체상금이 늘어납니다. 조치가 곧바로 바꾸는 것은 왼쪽의 설비 값과 선행 지표이고, 후행 지표는 이 줄을 따라가 보아야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 이 둘은 점수가 +2.75로 같아서 순위도 공동 2순위로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규칙과 이 단원의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감점은 이 둘의 사이에 있습니다. 규칙에서 나오지만 후보를 빼지 않고, 점수로 넘어가 다른 득실과 함께 견주어집니다. 해도 되지만 대가가 있다는 뜻이 이렇게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What-if 분석에는 한계가 셋 있습니다. 첫째, 계산에 넣는 값의 일부는 잰 값이 아니라 가정입니다. 둘째, 조치 후의 유온은 모델이 계산한 예측값이어서 팬 최대 운전의 SOP는 조치한 뒤에 실제로 재는 15분 재관측으로 끝납니다. 예측은 조치를 고르는 데 쓰고 재관측은 완화에 성공했는지를 판정하는 데 씁니다. 셋째, 어느 가정이 현실에 가까운지는 승인하는 사람이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바이브 코딩으로 진행하는 랩입니다. 앞 시간에 만든 설비 모델에 고장 유형과 조치 방법을 연결하고, SOP의 문장을 순서와 조건으로 갈라 조건 쪽을 결정표의 행으로 옮깁니다. 끝나면 SOP 구조와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여섯 개와 함께 결정표, 입력 데이터, 규칙, Hit Policy, 전략 목표, 전략맵, 선행 지표와 후행 지표, What-if 분석이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Policy에 따라 같은 입력의 결과가 달라진다는 점을 확인하는 문항입니다. 보기 2번과 3번이 각각 어떤 Hit Policy였다면 맞는 답이 되는지도 함께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낮추는 것이 원격 제어이므로 제외됩니다. 둘째 문항의 2번은 First였다면, 3번은 Unique였다면 맞는 답입니다.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6.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6.png"/><Relationship Id="rId4" Type="http://schemas.openxmlformats.org/officeDocument/2006/relationships/image" Target="../media/image41.png"/><Relationship Id="rId5"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8.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3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5.png"/><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8.png"/><Relationship Id="rId4"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png"/><Relationship Id="rId4" Type="http://schemas.openxmlformats.org/officeDocument/2006/relationships/image" Target="../media/image5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5.png"/><Relationship Id="rId4" Type="http://schemas.openxmlformats.org/officeDocument/2006/relationships/image" Target="../media/image6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png"/><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9.png"/><Relationship Id="rId4" Type="http://schemas.openxmlformats.org/officeDocument/2006/relationships/image" Target="../media/image8.png"/><Relationship Id="rId5"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7.pn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55.png"/><Relationship Id="rId5"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2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7.png"/><Relationship Id="rId4" Type="http://schemas.openxmlformats.org/officeDocument/2006/relationships/image" Target="../media/image8.png"/><Relationship Id="rId5" Type="http://schemas.openxmlformats.org/officeDocument/2006/relationships/image" Target="../media/image3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5.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2.png"/><Relationship Id="rId4" Type="http://schemas.openxmlformats.org/officeDocument/2006/relationships/image" Target="../media/image59.png"/><Relationship Id="rId5" Type="http://schemas.openxmlformats.org/officeDocument/2006/relationships/image" Target="../media/image46.png"/><Relationship Id="rId6"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상황에 맞는 안전하고</a:t>
            </a:r>
          </a:p>
          <a:p>
            <a:pPr algn="l">
              <a:lnSpc>
                <a:spcPct val="110000"/>
              </a:lnSpc>
            </a:pPr>
            <a:r>
              <a:rPr sz="4000" b="1">
                <a:solidFill>
                  <a:srgbClr val="FFFFFF"/>
                </a:solidFill>
                <a:latin typeface="맑은 고딕"/>
                <a:ea typeface="맑은 고딕"/>
                <a:cs typeface="맑은 고딕"/>
              </a:rPr>
              <a:t>효과적인 조치의 선택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조치 절차, 판단 규칙, 성과 기준으로 조치 하나를 고르는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뒤에 조치 하나를 고르기까지 필요한 절차,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a:t>
            </a:r>
          </a:p>
          <a:p>
            <a:pPr algn="l">
              <a:lnSpc>
                <a:spcPct val="110000"/>
              </a:lnSpc>
              <a:spcAft>
                <a:spcPts val="400"/>
              </a:spcAft>
            </a:pPr>
            <a:r>
              <a:rPr sz="1350" b="0">
                <a:solidFill>
                  <a:srgbClr val="1F2A3A"/>
                </a:solidFill>
                <a:latin typeface="맑은 고딕"/>
                <a:ea typeface="맑은 고딕"/>
                <a:cs typeface="맑은 고딕"/>
              </a:rPr>
              <a:t>• 표준 작업 절차의 구성요소를 원문에서 찾아낸다</a:t>
            </a:r>
          </a:p>
          <a:p>
            <a:pPr algn="l">
              <a:lnSpc>
                <a:spcPct val="110000"/>
              </a:lnSpc>
              <a:spcAft>
                <a:spcPts val="400"/>
              </a:spcAft>
            </a:pPr>
            <a:r>
              <a:rPr sz="1350" b="0">
                <a:solidFill>
                  <a:srgbClr val="1F2A3A"/>
                </a:solidFill>
                <a:latin typeface="맑은 고딕"/>
                <a:ea typeface="맑은 고딕"/>
                <a:cs typeface="맑은 고딕"/>
              </a:rPr>
              <a:t>• 절차의 순서와 조건을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350" b="0">
                <a:solidFill>
                  <a:srgbClr val="1F2A3A"/>
                </a:solidFill>
                <a:latin typeface="맑은 고딕"/>
                <a:ea typeface="맑은 고딕"/>
                <a:cs typeface="맑은 고딕"/>
              </a:rPr>
              <a:t>• 조건 문장을 결정표의 한 행으로 옮긴다</a:t>
            </a:r>
          </a:p>
          <a:p>
            <a:pPr algn="l">
              <a:lnSpc>
                <a:spcPct val="110000"/>
              </a:lnSpc>
              <a:spcAft>
                <a:spcPts val="400"/>
              </a:spcAft>
            </a:pPr>
            <a:r>
              <a:rPr sz="1350" b="0">
                <a:solidFill>
                  <a:srgbClr val="1F2A3A"/>
                </a:solidFill>
                <a:latin typeface="맑은 고딕"/>
                <a:ea typeface="맑은 고딕"/>
                <a:cs typeface="맑은 고딕"/>
              </a:rPr>
              <a:t>• 여러 행이 맞을 때의 처리 방식을 설명한다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평가</a:t>
            </a:r>
          </a:p>
          <a:p>
            <a:pPr algn="l">
              <a:lnSpc>
                <a:spcPct val="110000"/>
              </a:lnSpc>
              <a:spcAft>
                <a:spcPts val="400"/>
              </a:spcAft>
            </a:pPr>
            <a:r>
              <a:rPr sz="1350" b="0">
                <a:solidFill>
                  <a:srgbClr val="1F2A3A"/>
                </a:solidFill>
                <a:latin typeface="맑은 고딕"/>
                <a:ea typeface="맑은 고딕"/>
                <a:cs typeface="맑은 고딕"/>
              </a:rPr>
              <a:t>조치 하나가 여러 성과 지표에 미치는 영향을 비교한다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선택</a:t>
            </a:r>
          </a:p>
          <a:p>
            <a:pPr algn="l">
              <a:lnSpc>
                <a:spcPct val="110000"/>
              </a:lnSpc>
              <a:spcAft>
                <a:spcPts val="400"/>
              </a:spcAft>
            </a:pPr>
            <a:r>
              <a:rPr sz="1350" b="0">
                <a:solidFill>
                  <a:srgbClr val="1F2A3A"/>
                </a:solidFill>
                <a:latin typeface="맑은 고딕"/>
                <a:ea typeface="맑은 고딕"/>
                <a:cs typeface="맑은 고딕"/>
              </a:rPr>
              <a:t>가능 여부를 가리는 규칙과 효과를 견주는 기준을 구분해 조치를 고른다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수행 기준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수행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원인이 가려진 뒤에 조치를 수행하는 순서와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0.svg" descr="illust_505198452733244374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조치후보_전체.svg" descr="illust_5516718402180802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시간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오늘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 번호: SOP를 가리키는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SOP마다 고유한 절차 번호가 붙으며, 추천과 승인과 작업 기록이 모두 이 번호로 같은 절차를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SOP-COOL-11</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list-check" descr="list-check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추천할 때</a:t>
            </a:r>
          </a:p>
          <a:p>
            <a:pPr algn="l">
              <a:lnSpc>
                <a:spcPct val="110000"/>
              </a:lnSpc>
              <a:spcAft>
                <a:spcPts val="400"/>
              </a:spcAft>
            </a:pPr>
            <a:r>
              <a:rPr sz="1400" b="0">
                <a:solidFill>
                  <a:srgbClr val="1F2A3A"/>
                </a:solidFill>
                <a:latin typeface="맑은 고딕"/>
                <a:ea typeface="맑은 고딕"/>
                <a:cs typeface="맑은 고딕"/>
              </a:rPr>
              <a:t>「SOP-COOL-11 팬 최대 운전」을 권한다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승인할 때</a:t>
            </a:r>
          </a:p>
          <a:p>
            <a:pPr algn="l">
              <a:lnSpc>
                <a:spcPct val="110000"/>
              </a:lnSpc>
              <a:spcAft>
                <a:spcPts val="400"/>
              </a:spcAft>
            </a:pPr>
            <a:r>
              <a:rPr sz="1400" b="0">
                <a:solidFill>
                  <a:srgbClr val="1F2A3A"/>
                </a:solidFill>
                <a:latin typeface="맑은 고딕"/>
                <a:ea typeface="맑은 고딕"/>
                <a:cs typeface="맑은 고딕"/>
              </a:rPr>
              <a:t>어느 절차를 승인하는지가 분명하다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기록할 때</a:t>
            </a:r>
          </a:p>
          <a:p>
            <a:pPr algn="l">
              <a:lnSpc>
                <a:spcPct val="110000"/>
              </a:lnSpc>
              <a:spcAft>
                <a:spcPts val="400"/>
              </a:spcAft>
            </a:pPr>
            <a:r>
              <a:rPr sz="1400" b="0">
                <a:solidFill>
                  <a:srgbClr val="1F2A3A"/>
                </a:solidFill>
                <a:latin typeface="맑은 고딕"/>
                <a:ea typeface="맑은 고딕"/>
                <a:cs typeface="맑은 고딕"/>
              </a:rPr>
              <a:t>어느 절차대로 했는지가 남는다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SOP문서_all.svg" descr="illust_2435508285490414100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운전모드_0.svg" descr="illust_867969493803726212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운전모드_3.svg" descr="illust_327305611526151891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4932934"/>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4932934"/>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55 ℃ 이상이면 경보 해제에 실패할 수 있으므로 다른 조치와 비교한다</a:t>
            </a:r>
          </a:p>
        </p:txBody>
      </p:sp>
      <p:sp>
        <p:nvSpPr>
          <p:cNvPr id="22" name="Rounded Rectangle 21"/>
          <p:cNvSpPr/>
          <p:nvPr/>
        </p:nvSpPr>
        <p:spPr>
          <a:xfrm>
            <a:off x="8356396" y="4932934"/>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작업 단계와 근거 매뉴얼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추천에 근거 절과 승인 역할이 함께 나오는 것은 조치 방법에 작업 단계, 근거 매뉴얼, 승인 역할이 이어져 있기 때문이다.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297204" y="1866839"/>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18819"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8" name="Oval 7"/>
          <p:cNvSpPr/>
          <p:nvPr/>
        </p:nvSpPr>
        <p:spPr>
          <a:xfrm>
            <a:off x="5227167" y="1866839"/>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 단계</a:t>
            </a:r>
          </a:p>
          <a:p>
            <a:pPr algn="ctr">
              <a:lnSpc>
                <a:spcPct val="110000"/>
              </a:lnSpc>
            </a:pPr>
            <a:r>
              <a:rPr sz="1100" b="0">
                <a:solidFill>
                  <a:srgbClr val="556175"/>
                </a:solidFill>
                <a:latin typeface="맑은 고딕"/>
                <a:ea typeface="맑은 고딕"/>
                <a:cs typeface="맑은 고딕"/>
              </a:rPr>
              <a:t>Step</a:t>
            </a:r>
          </a:p>
          <a:p>
            <a:pPr algn="ctr">
              <a:lnSpc>
                <a:spcPct val="110000"/>
              </a:lnSpc>
            </a:pPr>
            <a:r>
              <a:rPr sz="1100" b="0">
                <a:solidFill>
                  <a:srgbClr val="556175"/>
                </a:solidFill>
                <a:latin typeface="맑은 고딕"/>
                <a:ea typeface="맑은 고딕"/>
                <a:cs typeface="맑은 고딕"/>
              </a:rPr>
              <a:t>1 · 2 · 3단계</a:t>
            </a:r>
          </a:p>
        </p:txBody>
      </p:sp>
      <p:sp>
        <p:nvSpPr>
          <p:cNvPr id="10" name="Oval 9"/>
          <p:cNvSpPr/>
          <p:nvPr/>
        </p:nvSpPr>
        <p:spPr>
          <a:xfrm>
            <a:off x="9157130" y="1866839"/>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9278745"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근거 매뉴얼</a:t>
            </a:r>
          </a:p>
          <a:p>
            <a:pPr algn="ctr">
              <a:lnSpc>
                <a:spcPct val="110000"/>
              </a:lnSpc>
            </a:pPr>
            <a:r>
              <a:rPr sz="1100" b="0">
                <a:solidFill>
                  <a:srgbClr val="556175"/>
                </a:solidFill>
                <a:latin typeface="맑은 고딕"/>
                <a:ea typeface="맑은 고딕"/>
                <a:cs typeface="맑은 고딕"/>
              </a:rPr>
              <a:t>ManualSection</a:t>
            </a:r>
          </a:p>
        </p:txBody>
      </p:sp>
      <p:sp>
        <p:nvSpPr>
          <p:cNvPr id="12" name="Oval 11"/>
          <p:cNvSpPr/>
          <p:nvPr/>
        </p:nvSpPr>
        <p:spPr>
          <a:xfrm>
            <a:off x="1297204" y="449811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18819" y="482821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운전원</a:t>
            </a:r>
          </a:p>
          <a:p>
            <a:pPr algn="ctr">
              <a:lnSpc>
                <a:spcPct val="110000"/>
              </a:lnSpc>
            </a:pPr>
            <a:r>
              <a:rPr sz="1100" b="0">
                <a:solidFill>
                  <a:srgbClr val="556175"/>
                </a:solidFill>
                <a:latin typeface="맑은 고딕"/>
                <a:ea typeface="맑은 고딕"/>
                <a:cs typeface="맑은 고딕"/>
              </a:rPr>
              <a:t>승인 역할</a:t>
            </a:r>
          </a:p>
          <a:p>
            <a:pPr algn="ctr">
              <a:lnSpc>
                <a:spcPct val="110000"/>
              </a:lnSpc>
            </a:pPr>
            <a:r>
              <a:rPr sz="1100" b="0">
                <a:solidFill>
                  <a:srgbClr val="556175"/>
                </a:solidFill>
                <a:latin typeface="맑은 고딕"/>
                <a:ea typeface="맑은 고딕"/>
                <a:cs typeface="맑은 고딕"/>
              </a:rPr>
              <a:t>Role</a:t>
            </a:r>
          </a:p>
        </p:txBody>
      </p:sp>
      <p:cxnSp>
        <p:nvCxnSpPr>
          <p:cNvPr id="14" name="Connector 13"/>
          <p:cNvCxnSpPr/>
          <p:nvPr/>
        </p:nvCxnSpPr>
        <p:spPr>
          <a:xfrm>
            <a:off x="3080284" y="2735519"/>
            <a:ext cx="2073731" cy="0"/>
          </a:xfrm>
          <a:prstGeom prst="line">
            <a:avLst/>
          </a:prstGeom>
          <a:ln w="28575">
            <a:solidFill>
              <a:srgbClr val="13294B"/>
            </a:solidFill>
            <a:tailEnd type="triangle" w="med" len="med"/>
          </a:ln>
        </p:spPr>
      </p:cxnSp>
      <p:sp>
        <p:nvSpPr>
          <p:cNvPr id="15" name="Rounded Rectangle 14"/>
          <p:cNvSpPr/>
          <p:nvPr/>
        </p:nvSpPr>
        <p:spPr>
          <a:xfrm>
            <a:off x="3561206" y="236975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3561206" y="2369759"/>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17" name="Connector 16"/>
          <p:cNvCxnSpPr/>
          <p:nvPr/>
        </p:nvCxnSpPr>
        <p:spPr>
          <a:xfrm>
            <a:off x="7010247" y="2735519"/>
            <a:ext cx="2073731" cy="0"/>
          </a:xfrm>
          <a:prstGeom prst="line">
            <a:avLst/>
          </a:prstGeom>
          <a:ln w="28575">
            <a:solidFill>
              <a:srgbClr val="13294B"/>
            </a:solidFill>
            <a:tailEnd type="triangle" w="med" len="med"/>
          </a:ln>
        </p:spPr>
      </p:cxnSp>
      <p:sp>
        <p:nvSpPr>
          <p:cNvPr id="18" name="Rounded Rectangle 17"/>
          <p:cNvSpPr/>
          <p:nvPr/>
        </p:nvSpPr>
        <p:spPr>
          <a:xfrm>
            <a:off x="7437744" y="236975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7437744" y="2369759"/>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0" name="Connector 19"/>
          <p:cNvCxnSpPr/>
          <p:nvPr/>
        </p:nvCxnSpPr>
        <p:spPr>
          <a:xfrm>
            <a:off x="2165884" y="3649919"/>
            <a:ext cx="0" cy="775045"/>
          </a:xfrm>
          <a:prstGeom prst="line">
            <a:avLst/>
          </a:prstGeom>
          <a:ln w="28575">
            <a:solidFill>
              <a:srgbClr val="13294B"/>
            </a:solidFill>
            <a:tailEnd type="triangle" w="med" len="med"/>
          </a:ln>
        </p:spPr>
      </p:cxnSp>
      <p:sp>
        <p:nvSpPr>
          <p:cNvPr id="21" name="Rounded Rectangle 20"/>
          <p:cNvSpPr/>
          <p:nvPr/>
        </p:nvSpPr>
        <p:spPr>
          <a:xfrm>
            <a:off x="2257324" y="3891137"/>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257324" y="3891137"/>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APPROVED_BY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세 종류와 쓰이는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예방 조치는 고장이 나기 전에, 즉시 완화는 경보 직후에, 근본 조치는 정비 시간에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조치시점_all.svg" descr="illust_327069165480775685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644773"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고장이 나기 전</a:t>
            </a:r>
          </a:p>
        </p:txBody>
      </p:sp>
      <p:sp>
        <p:nvSpPr>
          <p:cNvPr id="8" name="TextBox 7"/>
          <p:cNvSpPr txBox="1"/>
          <p:nvPr/>
        </p:nvSpPr>
        <p:spPr>
          <a:xfrm>
            <a:off x="5004898"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경보 직후</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정비 시간</a:t>
            </a:r>
          </a:p>
        </p:txBody>
      </p:sp>
      <p:sp>
        <p:nvSpPr>
          <p:cNvPr id="10" name="TextBox 9"/>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11" name="TextBox 10"/>
          <p:cNvSpPr txBox="1"/>
          <p:nvPr/>
        </p:nvSpPr>
        <p:spPr>
          <a:xfrm>
            <a:off x="695647" y="5315041"/>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즉시 완화 · 근본 조치 · 예방 조치: 없애는 대상과 HYD의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즉시 완화는 영향을 줄일 뿐 원인을 남기고, 근본 조치는 원인을 없애며, 예방 조치는 고장이 나기 전에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즉시 완화</a:t>
            </a:r>
          </a:p>
          <a:p>
            <a:pPr algn="l">
              <a:lnSpc>
                <a:spcPct val="110000"/>
              </a:lnSpc>
              <a:spcAft>
                <a:spcPts val="400"/>
              </a:spcAft>
            </a:pPr>
            <a:r>
              <a:rPr sz="1400" b="0">
                <a:solidFill>
                  <a:srgbClr val="1F2A3A"/>
                </a:solidFill>
                <a:latin typeface="맑은 고딕"/>
                <a:ea typeface="맑은 고딕"/>
                <a:cs typeface="맑은 고딕"/>
              </a:rPr>
              <a:t>• 고장의 영향을 지금 줄인다</a:t>
            </a:r>
          </a:p>
          <a:p>
            <a:pPr algn="l">
              <a:lnSpc>
                <a:spcPct val="110000"/>
              </a:lnSpc>
              <a:spcAft>
                <a:spcPts val="400"/>
              </a:spcAft>
            </a:pPr>
            <a:r>
              <a:rPr sz="1400" b="0">
                <a:solidFill>
                  <a:srgbClr val="1F2A3A"/>
                </a:solidFill>
                <a:latin typeface="맑은 고딕"/>
                <a:ea typeface="맑은 고딕"/>
                <a:cs typeface="맑은 고딕"/>
              </a:rPr>
              <a:t>• 예: 팬 최대 운전 · SOP-COOL-11</a:t>
            </a:r>
          </a:p>
          <a:p>
            <a:pPr algn="l">
              <a:lnSpc>
                <a:spcPct val="110000"/>
              </a:lnSpc>
              <a:spcAft>
                <a:spcPts val="400"/>
              </a:spcAft>
            </a:pPr>
            <a:r>
              <a:rPr sz="1400" b="0">
                <a:solidFill>
                  <a:srgbClr val="1F2A3A"/>
                </a:solidFill>
                <a:latin typeface="맑은 고딕"/>
                <a:ea typeface="맑은 고딕"/>
                <a:cs typeface="맑은 고딕"/>
              </a:rPr>
              <a:t>• 유온은 내려가지만 원인은 남아 평소보다 높다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경보 직후</a:t>
            </a:r>
          </a:p>
        </p:txBody>
      </p:sp>
      <p:sp>
        <p:nvSpPr>
          <p:cNvPr id="12" name="Rounded Rectangle 11"/>
          <p:cNvSpPr/>
          <p:nvPr/>
        </p:nvSpPr>
        <p:spPr>
          <a:xfrm>
            <a:off x="4338218"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5CB8F2"/>
          </a:solidFill>
          <a:ln>
            <a:noFill/>
          </a:ln>
        </p:spPr>
        <p:txBody>
          <a:bodyPr rtlCol="0" anchor="ctr"/>
          <a:lstStyle/>
          <a:p>
            <a:pPr algn="ctr"/>
          </a:p>
        </p:txBody>
      </p:sp>
      <p:pic>
        <p:nvPicPr>
          <p:cNvPr id="14" name="아이콘:spray" descr="spray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근본 조치</a:t>
            </a:r>
          </a:p>
          <a:p>
            <a:pPr algn="l">
              <a:lnSpc>
                <a:spcPct val="110000"/>
              </a:lnSpc>
              <a:spcAft>
                <a:spcPts val="400"/>
              </a:spcAft>
            </a:pPr>
            <a:r>
              <a:rPr sz="1400" b="0">
                <a:solidFill>
                  <a:srgbClr val="1F2A3A"/>
                </a:solidFill>
                <a:latin typeface="맑은 고딕"/>
                <a:ea typeface="맑은 고딕"/>
                <a:cs typeface="맑은 고딕"/>
              </a:rPr>
              <a:t>• 고장을 일으킨 원인 자체를 없앤다</a:t>
            </a:r>
          </a:p>
          <a:p>
            <a:pPr algn="l">
              <a:lnSpc>
                <a:spcPct val="110000"/>
              </a:lnSpc>
              <a:spcAft>
                <a:spcPts val="400"/>
              </a:spcAft>
            </a:pPr>
            <a:r>
              <a:rPr sz="1400" b="0">
                <a:solidFill>
                  <a:srgbClr val="1F2A3A"/>
                </a:solidFill>
                <a:latin typeface="맑은 고딕"/>
                <a:ea typeface="맑은 고딕"/>
                <a:cs typeface="맑은 고딕"/>
              </a:rPr>
              <a:t>• 예: 쿨러 핀 세척 · SOP-COOL-14</a:t>
            </a:r>
          </a:p>
          <a:p>
            <a:pPr algn="l">
              <a:lnSpc>
                <a:spcPct val="110000"/>
              </a:lnSpc>
              <a:spcAft>
                <a:spcPts val="400"/>
              </a:spcAft>
            </a:pPr>
            <a:r>
              <a:rPr sz="1400" b="0">
                <a:solidFill>
                  <a:srgbClr val="1F2A3A"/>
                </a:solidFill>
                <a:latin typeface="맑은 고딕"/>
                <a:ea typeface="맑은 고딕"/>
                <a:cs typeface="맑은 고딕"/>
              </a:rPr>
              <a:t>• 평소 수준으로 돌아오며, 원인이 핀 오염일 때만 맞는다</a:t>
            </a:r>
          </a:p>
        </p:txBody>
      </p:sp>
      <p:sp>
        <p:nvSpPr>
          <p:cNvPr id="16" name="Rounded Rectangle 15"/>
          <p:cNvSpPr/>
          <p:nvPr/>
        </p:nvSpPr>
        <p:spPr>
          <a:xfrm>
            <a:off x="4566818" y="547522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정비 시간</a:t>
            </a:r>
          </a:p>
        </p:txBody>
      </p:sp>
      <p:sp>
        <p:nvSpPr>
          <p:cNvPr id="18" name="Rounded Rectangle 17"/>
          <p:cNvSpPr/>
          <p:nvPr/>
        </p:nvSpPr>
        <p:spPr>
          <a:xfrm>
            <a:off x="8127796"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E7F3FD"/>
          </a:solidFill>
          <a:ln>
            <a:noFill/>
          </a:ln>
        </p:spPr>
        <p:txBody>
          <a:bodyPr rtlCol="0" anchor="ctr"/>
          <a:lstStyle/>
          <a:p>
            <a:pPr algn="ctr"/>
          </a:p>
        </p:txBody>
      </p:sp>
      <p:pic>
        <p:nvPicPr>
          <p:cNvPr id="20" name="아이콘:calendar-event" descr="calendar-event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예방 조치</a:t>
            </a:r>
          </a:p>
          <a:p>
            <a:pPr algn="l">
              <a:lnSpc>
                <a:spcPct val="110000"/>
              </a:lnSpc>
              <a:spcAft>
                <a:spcPts val="400"/>
              </a:spcAft>
            </a:pPr>
            <a:r>
              <a:rPr sz="1400" b="0">
                <a:solidFill>
                  <a:srgbClr val="1F2A3A"/>
                </a:solidFill>
                <a:latin typeface="맑은 고딕"/>
                <a:ea typeface="맑은 고딕"/>
                <a:cs typeface="맑은 고딕"/>
              </a:rPr>
              <a:t>• 고장이 나기 전에 운전시간이나 달력의 주기에 따라 미리 시행하는 정기 정비이다</a:t>
            </a:r>
          </a:p>
          <a:p>
            <a:pPr algn="l">
              <a:lnSpc>
                <a:spcPct val="110000"/>
              </a:lnSpc>
              <a:spcAft>
                <a:spcPts val="400"/>
              </a:spcAft>
            </a:pPr>
            <a:r>
              <a:rPr sz="1400" b="0">
                <a:solidFill>
                  <a:srgbClr val="1F2A3A"/>
                </a:solidFill>
                <a:latin typeface="맑은 고딕"/>
                <a:ea typeface="맑은 고딕"/>
                <a:cs typeface="맑은 고딕"/>
              </a:rPr>
              <a:t>• 예: 2,000 h 정기 점검 · SOP-PM-21</a:t>
            </a:r>
          </a:p>
          <a:p>
            <a:pPr algn="l">
              <a:lnSpc>
                <a:spcPct val="110000"/>
              </a:lnSpc>
              <a:spcAft>
                <a:spcPts val="400"/>
              </a:spcAft>
            </a:pPr>
            <a:r>
              <a:rPr sz="1400" b="0">
                <a:solidFill>
                  <a:srgbClr val="1F2A3A"/>
                </a:solidFill>
                <a:latin typeface="맑은 고딕"/>
                <a:ea typeface="맑은 고딕"/>
                <a:cs typeface="맑은 고딕"/>
              </a:rPr>
              <a:t>• 씰과 필터를 주기마다 교체해 펌프 체적 효율 저하를 막는다</a:t>
            </a:r>
          </a:p>
        </p:txBody>
      </p:sp>
      <p:sp>
        <p:nvSpPr>
          <p:cNvPr id="22" name="Rounded Rectangle 21"/>
          <p:cNvSpPr/>
          <p:nvPr/>
        </p:nvSpPr>
        <p:spPr>
          <a:xfrm>
            <a:off x="8356396" y="5475224"/>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7522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고장이 나기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 팬 최대 운전으로 경보는 해제되었으나 냉각 효율은 기준에 못 미쳤고, 핀 세척이 뒤에 이어졌다.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완화의 결과</a:t>
            </a:r>
          </a:p>
          <a:p>
            <a:pPr algn="l">
              <a:lnSpc>
                <a:spcPct val="110000"/>
              </a:lnSpc>
              <a:spcAft>
                <a:spcPts val="400"/>
              </a:spcAft>
            </a:pPr>
            <a:r>
              <a:rPr sz="1400" b="0">
                <a:solidFill>
                  <a:srgbClr val="1F2A3A"/>
                </a:solidFill>
                <a:latin typeface="맑은 고딕"/>
                <a:ea typeface="맑은 고딕"/>
                <a:cs typeface="맑은 고딕"/>
              </a:rPr>
              <a:t>조치 승인 뒤 유온이 내려가</a:t>
            </a:r>
          </a:p>
          <a:p>
            <a:pPr algn="l">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남은 원인</a:t>
            </a:r>
          </a:p>
          <a:p>
            <a:pPr algn="l">
              <a:lnSpc>
                <a:spcPct val="110000"/>
              </a:lnSpc>
              <a:spcAft>
                <a:spcPts val="400"/>
              </a:spcAft>
            </a:pPr>
            <a:r>
              <a:rPr sz="1400" b="0">
                <a:solidFill>
                  <a:srgbClr val="1F2A3A"/>
                </a:solidFill>
                <a:latin typeface="맑은 고딕"/>
                <a:ea typeface="맑은 고딕"/>
                <a:cs typeface="맑은 고딕"/>
              </a:rPr>
              <a:t>냉각 효율은 55 %로,</a:t>
            </a:r>
          </a:p>
          <a:p>
            <a:pPr algn="l">
              <a:lnSpc>
                <a:spcPct val="110000"/>
              </a:lnSpc>
              <a:spcAft>
                <a:spcPts val="400"/>
              </a:spcAft>
            </a:pPr>
            <a:r>
              <a:rPr sz="1400" b="0">
                <a:solidFill>
                  <a:srgbClr val="1F2A3A"/>
                </a:solidFill>
                <a:latin typeface="맑은 고딕"/>
                <a:ea typeface="맑은 고딕"/>
                <a:cs typeface="맑은 고딕"/>
              </a:rPr>
              <a:t>기준 70 %에 못 미친다.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이어지는 조치</a:t>
            </a:r>
          </a:p>
          <a:p>
            <a:pPr algn="l">
              <a:lnSpc>
                <a:spcPct val="110000"/>
              </a:lnSpc>
              <a:spcAft>
                <a:spcPts val="400"/>
              </a:spcAft>
            </a:pPr>
            <a:r>
              <a:rPr sz="1400" b="0">
                <a:solidFill>
                  <a:srgbClr val="1F2A3A"/>
                </a:solidFill>
                <a:latin typeface="맑은 고딕"/>
                <a:ea typeface="맑은 고딕"/>
                <a:cs typeface="맑은 고딕"/>
              </a:rPr>
              <a:t>핀 세척은 작업지시로</a:t>
            </a:r>
          </a:p>
          <a:p>
            <a:pPr algn="l">
              <a:lnSpc>
                <a:spcPct val="110000"/>
              </a:lnSpc>
              <a:spcAft>
                <a:spcPts val="400"/>
              </a:spcAft>
            </a:pPr>
            <a:r>
              <a:rPr sz="1400" b="0">
                <a:solidFill>
                  <a:srgbClr val="1F2A3A"/>
                </a:solidFill>
                <a:latin typeface="맑은 고딕"/>
                <a:ea typeface="맑은 고딕"/>
                <a:cs typeface="맑은 고딕"/>
              </a:rPr>
              <a:t>따로 등록되었다.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절차에서 얻은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SOP가 수행 방법을 정하고, 그 안의 조건이 가능 여부를 가르며, 성격에 따라 세 종류로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400" b="0">
                <a:solidFill>
                  <a:srgbClr val="1F2A3A"/>
                </a:solidFill>
                <a:latin typeface="맑은 고딕"/>
                <a:ea typeface="맑은 고딕"/>
                <a:cs typeface="맑은 고딕"/>
              </a:rPr>
              <a:t>수행 단계에 대상, 조건, 준비사항, 금지 사항, 역할, 완료 기준이 붙는다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순서와 조건</a:t>
            </a:r>
          </a:p>
          <a:p>
            <a:pPr algn="l">
              <a:lnSpc>
                <a:spcPct val="110000"/>
              </a:lnSpc>
              <a:spcAft>
                <a:spcPts val="400"/>
              </a:spcAft>
            </a:pPr>
            <a:r>
              <a:rPr sz="1400" b="0">
                <a:solidFill>
                  <a:srgbClr val="1F2A3A"/>
                </a:solidFill>
                <a:latin typeface="맑은 고딕"/>
                <a:ea typeface="맑은 고딕"/>
                <a:cs typeface="맑은 고딕"/>
              </a:rPr>
              <a:t>조건은 지금의 값과 견주어야 정해진다</a:t>
            </a:r>
          </a:p>
        </p:txBody>
      </p:sp>
      <p:sp>
        <p:nvSpPr>
          <p:cNvPr id="16" name="Rounded Rectangle 15"/>
          <p:cNvSpPr/>
          <p:nvPr/>
        </p:nvSpPr>
        <p:spPr>
          <a:xfrm>
            <a:off x="4566818" y="4932934"/>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단원의 재료</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alendar-repeat" descr="calendar-repeat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종류</a:t>
            </a:r>
          </a:p>
          <a:p>
            <a:pPr algn="l">
              <a:lnSpc>
                <a:spcPct val="110000"/>
              </a:lnSpc>
              <a:spcAft>
                <a:spcPts val="400"/>
              </a:spcAft>
            </a:pPr>
            <a:r>
              <a:rPr sz="1400" b="0">
                <a:solidFill>
                  <a:srgbClr val="1F2A3A"/>
                </a:solidFill>
                <a:latin typeface="맑은 고딕"/>
                <a:ea typeface="맑은 고딕"/>
                <a:cs typeface="맑은 고딕"/>
              </a:rPr>
              <a:t>예방, 즉시 완화, 근본 조치는 쓰이는 때가 다르다</a:t>
            </a:r>
          </a:p>
        </p:txBody>
      </p:sp>
      <p:sp>
        <p:nvSpPr>
          <p:cNvPr id="22" name="Rounded Rectangle 21"/>
          <p:cNvSpPr/>
          <p:nvPr/>
        </p:nvSpPr>
        <p:spPr>
          <a:xfrm>
            <a:off x="8356396" y="49329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언제 쓰는가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조건을 결정표로 옮겨 누가 대어 보아도 같은 판정이 나오게 하는 방법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판단을 세 부분으로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판단 하나를 무엇을 보는가, 어떤 조건이면 어떤 결과인가, 그래서 답이 무엇인가의 세 부분으로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a:t>
            </a:r>
          </a:p>
          <a:p>
            <a:pPr algn="ctr">
              <a:lnSpc>
                <a:spcPct val="110000"/>
              </a:lnSpc>
              <a:spcAft>
                <a:spcPts val="400"/>
              </a:spcAft>
            </a:pPr>
            <a:r>
              <a:rPr sz="1350" b="0">
                <a:solidFill>
                  <a:srgbClr val="1F2A3A"/>
                </a:solidFill>
                <a:latin typeface="맑은 고딕"/>
                <a:ea typeface="맑은 고딕"/>
                <a:cs typeface="맑은 고딕"/>
              </a:rPr>
              <a:t>무엇을 보고</a:t>
            </a:r>
          </a:p>
          <a:p>
            <a:pPr algn="ctr">
              <a:lnSpc>
                <a:spcPct val="110000"/>
              </a:lnSpc>
              <a:spcAft>
                <a:spcPts val="400"/>
              </a:spcAft>
            </a:pPr>
            <a:r>
              <a:rPr sz="1350" b="0">
                <a:solidFill>
                  <a:srgbClr val="1F2A3A"/>
                </a:solidFill>
                <a:latin typeface="맑은 고딕"/>
                <a:ea typeface="맑은 고딕"/>
                <a:cs typeface="맑은 고딕"/>
              </a:rPr>
              <a:t>판단하는가</a:t>
            </a:r>
          </a:p>
          <a:p>
            <a:pPr algn="ctr">
              <a:lnSpc>
                <a:spcPct val="110000"/>
              </a:lnSpc>
              <a:spcAft>
                <a:spcPts val="400"/>
              </a:spcAft>
            </a:pPr>
            <a:r>
              <a:rPr sz="1350" b="0">
                <a:solidFill>
                  <a:srgbClr val="1F2A3A"/>
                </a:solidFill>
                <a:latin typeface="맑은 고딕"/>
                <a:ea typeface="맑은 고딕"/>
                <a:cs typeface="맑은 고딕"/>
              </a:rPr>
              <a:t>예: 운전 모드</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어떤 조건이면</a:t>
            </a:r>
          </a:p>
          <a:p>
            <a:pPr algn="ctr">
              <a:lnSpc>
                <a:spcPct val="110000"/>
              </a:lnSpc>
              <a:spcAft>
                <a:spcPts val="400"/>
              </a:spcAft>
            </a:pPr>
            <a:r>
              <a:rPr sz="1350" b="0">
                <a:solidFill>
                  <a:srgbClr val="1F2A3A"/>
                </a:solidFill>
                <a:latin typeface="맑은 고딕"/>
                <a:ea typeface="맑은 고딕"/>
                <a:cs typeface="맑은 고딕"/>
              </a:rPr>
              <a:t>어떤 결과인가</a:t>
            </a:r>
          </a:p>
          <a:p>
            <a:pPr algn="ctr">
              <a:lnSpc>
                <a:spcPct val="110000"/>
              </a:lnSpc>
              <a:spcAft>
                <a:spcPts val="400"/>
              </a:spcAft>
            </a:pPr>
            <a:r>
              <a:rPr sz="1350" b="0">
                <a:solidFill>
                  <a:srgbClr val="1F2A3A"/>
                </a:solidFill>
                <a:latin typeface="맑은 고딕"/>
                <a:ea typeface="맑은 고딕"/>
                <a:cs typeface="맑은 고딕"/>
              </a:rPr>
              <a:t>예: 원격 자동이 아니면 제외</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그래서</a:t>
            </a:r>
          </a:p>
          <a:p>
            <a:pPr algn="ctr">
              <a:lnSpc>
                <a:spcPct val="110000"/>
              </a:lnSpc>
              <a:spcAft>
                <a:spcPts val="400"/>
              </a:spcAft>
            </a:pPr>
            <a:r>
              <a:rPr sz="1350" b="0">
                <a:solidFill>
                  <a:srgbClr val="1F2A3A"/>
                </a:solidFill>
                <a:latin typeface="맑은 고딕"/>
                <a:ea typeface="맑은 고딕"/>
                <a:cs typeface="맑은 고딕"/>
              </a:rPr>
              <a:t>답이 무엇인가</a:t>
            </a:r>
          </a:p>
          <a:p>
            <a:pPr algn="ctr">
              <a:lnSpc>
                <a:spcPct val="110000"/>
              </a:lnSpc>
              <a:spcAft>
                <a:spcPts val="400"/>
              </a:spcAft>
            </a:pPr>
            <a:r>
              <a:rPr sz="1350" b="0">
                <a:solidFill>
                  <a:srgbClr val="1F2A3A"/>
                </a:solidFill>
                <a:latin typeface="맑은 고딕"/>
                <a:ea typeface="맑은 고딕"/>
                <a:cs typeface="맑은 고딕"/>
              </a:rPr>
              <a:t>예: 팬 최대 운전 제외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결정표_2.svg" descr="illust_439749156601123318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결정표_4.svg" descr="illust_373062675701894961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결정표_6.svg" descr="illust_123991361860808691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모드는 SCADA에서, 연속 운전 시간은 운전 이력에서 오는 것처럼 입력 데이터마다 값의 출처가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 운전 모드</a:t>
            </a:r>
          </a:p>
          <a:p>
            <a:pPr algn="l">
              <a:lnSpc>
                <a:spcPct val="110000"/>
              </a:lnSpc>
              <a:spcAft>
                <a:spcPts val="400"/>
              </a:spcAft>
            </a:pPr>
            <a:r>
              <a:rPr sz="1350" b="0">
                <a:solidFill>
                  <a:srgbClr val="1F2A3A"/>
                </a:solidFill>
                <a:latin typeface="맑은 고딕"/>
                <a:ea typeface="맑은 고딕"/>
                <a:cs typeface="맑은 고딕"/>
              </a:rPr>
              <a:t>• plc_mode</a:t>
            </a:r>
          </a:p>
          <a:p>
            <a:pPr algn="l">
              <a:lnSpc>
                <a:spcPct val="110000"/>
              </a:lnSpc>
              <a:spcAft>
                <a:spcPts val="400"/>
              </a:spcAft>
            </a:pPr>
            <a:r>
              <a:rPr sz="1350" b="0">
                <a:solidFill>
                  <a:srgbClr val="1F2A3A"/>
                </a:solidFill>
                <a:latin typeface="맑은 고딕"/>
                <a:ea typeface="맑은 고딕"/>
                <a:cs typeface="맑은 고딕"/>
              </a:rPr>
              <a:t>• 원격 자동, 원격 수동, 현장 제어 가운데 하나</a:t>
            </a:r>
          </a:p>
        </p:txBody>
      </p:sp>
      <p:sp>
        <p:nvSpPr>
          <p:cNvPr id="10" name="Rounded Rectangle 9"/>
          <p:cNvSpPr/>
          <p:nvPr/>
        </p:nvSpPr>
        <p:spPr>
          <a:xfrm>
            <a:off x="777240" y="5169217"/>
            <a:ext cx="126796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12679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SCADA</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350" b="0">
                <a:solidFill>
                  <a:srgbClr val="1F2A3A"/>
                </a:solidFill>
                <a:latin typeface="맑은 고딕"/>
                <a:ea typeface="맑은 고딕"/>
                <a:cs typeface="맑은 고딕"/>
              </a:rPr>
              <a:t>• fan100_hours</a:t>
            </a:r>
          </a:p>
          <a:p>
            <a:pPr algn="l">
              <a:lnSpc>
                <a:spcPct val="110000"/>
              </a:lnSpc>
              <a:spcAft>
                <a:spcPts val="400"/>
              </a:spcAft>
            </a:pPr>
            <a:r>
              <a:rPr sz="1350" b="0">
                <a:solidFill>
                  <a:srgbClr val="1F2A3A"/>
                </a:solidFill>
                <a:latin typeface="맑은 고딕"/>
                <a:ea typeface="맑은 고딕"/>
                <a:cs typeface="맑은 고딕"/>
              </a:rPr>
              <a:t>• 팬이 최대 속도로 이어서 돈 시간</a:t>
            </a:r>
          </a:p>
        </p:txBody>
      </p:sp>
      <p:sp>
        <p:nvSpPr>
          <p:cNvPr id="16" name="Rounded Rectangle 15"/>
          <p:cNvSpPr/>
          <p:nvPr/>
        </p:nvSpPr>
        <p:spPr>
          <a:xfrm>
            <a:off x="3619423" y="516921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운전 이력</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350" b="0">
                <a:solidFill>
                  <a:srgbClr val="1F2A3A"/>
                </a:solidFill>
                <a:latin typeface="맑은 고딕"/>
                <a:ea typeface="맑은 고딕"/>
                <a:cs typeface="맑은 고딕"/>
              </a:rPr>
              <a:t>• forecast_ts1</a:t>
            </a:r>
          </a:p>
          <a:p>
            <a:pPr algn="l">
              <a:lnSpc>
                <a:spcPct val="110000"/>
              </a:lnSpc>
              <a:spcAft>
                <a:spcPts val="400"/>
              </a:spcAft>
            </a:pPr>
            <a:r>
              <a:rPr sz="1350" b="0">
                <a:solidFill>
                  <a:srgbClr val="1F2A3A"/>
                </a:solidFill>
                <a:latin typeface="맑은 고딕"/>
                <a:ea typeface="맑은 고딕"/>
                <a:cs typeface="맑은 고딕"/>
              </a:rPr>
              <a:t>• 그 조치를 했을 때 유온이 머물 값</a:t>
            </a:r>
          </a:p>
        </p:txBody>
      </p:sp>
      <p:sp>
        <p:nvSpPr>
          <p:cNvPr id="22" name="Rounded Rectangle 21"/>
          <p:cNvSpPr/>
          <p:nvPr/>
        </p:nvSpPr>
        <p:spPr>
          <a:xfrm>
            <a:off x="6461607" y="516921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예측 계산</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truck-delivery" descr="truck-delivery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오더 남은 시간</a:t>
            </a:r>
          </a:p>
          <a:p>
            <a:pPr algn="l">
              <a:lnSpc>
                <a:spcPct val="110000"/>
              </a:lnSpc>
              <a:spcAft>
                <a:spcPts val="400"/>
              </a:spcAft>
            </a:pPr>
            <a:r>
              <a:rPr sz="1350" b="0">
                <a:solidFill>
                  <a:srgbClr val="1F2A3A"/>
                </a:solidFill>
                <a:latin typeface="맑은 고딕"/>
                <a:ea typeface="맑은 고딕"/>
                <a:cs typeface="맑은 고딕"/>
              </a:rPr>
              <a:t>• order_due_h</a:t>
            </a:r>
          </a:p>
          <a:p>
            <a:pPr algn="l">
              <a:lnSpc>
                <a:spcPct val="110000"/>
              </a:lnSpc>
              <a:spcAft>
                <a:spcPts val="400"/>
              </a:spcAft>
            </a:pPr>
            <a:r>
              <a:rPr sz="1350" b="0">
                <a:solidFill>
                  <a:srgbClr val="1F2A3A"/>
                </a:solidFill>
                <a:latin typeface="맑은 고딕"/>
                <a:ea typeface="맑은 고딕"/>
                <a:cs typeface="맑은 고딕"/>
              </a:rPr>
              <a:t>• 긴급 오더의 납기까지 남은 시간</a:t>
            </a:r>
          </a:p>
        </p:txBody>
      </p:sp>
      <p:sp>
        <p:nvSpPr>
          <p:cNvPr id="28" name="Rounded Rectangle 27"/>
          <p:cNvSpPr/>
          <p:nvPr/>
        </p:nvSpPr>
        <p:spPr>
          <a:xfrm>
            <a:off x="9303791" y="5169217"/>
            <a:ext cx="1078992"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표에 적힌 기준과 판단할 때 읽어 오는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기준은 표에 적혀 있고 값은 판단할 때마다 읽어 오므로, 같은 표 하나로 매번 다른 상황을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적힌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입력의 이름: fan100_hours</a:t>
            </a:r>
          </a:p>
          <a:p>
            <a:pPr algn="l">
              <a:lnSpc>
                <a:spcPct val="110000"/>
              </a:lnSpc>
              <a:spcAft>
                <a:spcPts val="600"/>
              </a:spcAft>
            </a:pPr>
            <a:r>
              <a:rPr sz="1450" b="0">
                <a:solidFill>
                  <a:srgbClr val="1F2A3A"/>
                </a:solidFill>
                <a:latin typeface="맑은 고딕"/>
                <a:ea typeface="맑은 고딕"/>
                <a:cs typeface="맑은 고딕"/>
              </a:rPr>
              <a:t>• 연산자와 기준값: &gt; 24</a:t>
            </a:r>
          </a:p>
          <a:p>
            <a:pPr algn="l">
              <a:lnSpc>
                <a:spcPct val="110000"/>
              </a:lnSpc>
              <a:spcAft>
                <a:spcPts val="600"/>
              </a:spcAft>
            </a:pPr>
            <a:r>
              <a:rPr sz="1450" b="0">
                <a:solidFill>
                  <a:srgbClr val="1F2A3A"/>
                </a:solidFill>
                <a:latin typeface="맑은 고딕"/>
                <a:ea typeface="맑은 고딕"/>
                <a:cs typeface="맑은 고딕"/>
              </a:rPr>
              <a:t>• 문서가 바뀌기 전에는 그대로이다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그때 읽어 오는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지금의 연속 운전 시간: 30시간</a:t>
            </a:r>
          </a:p>
          <a:p>
            <a:pPr algn="l">
              <a:lnSpc>
                <a:spcPct val="110000"/>
              </a:lnSpc>
              <a:spcAft>
                <a:spcPts val="600"/>
              </a:spcAft>
            </a:pPr>
            <a:r>
              <a:rPr sz="1450" b="0">
                <a:solidFill>
                  <a:srgbClr val="1F2A3A"/>
                </a:solidFill>
                <a:latin typeface="맑은 고딕"/>
                <a:ea typeface="맑은 고딕"/>
                <a:cs typeface="맑은 고딕"/>
              </a:rPr>
              <a:t>• 판단할 때마다 달라지고 출처가 함께 기록된다</a:t>
            </a:r>
          </a:p>
          <a:p>
            <a:pPr algn="l">
              <a:lnSpc>
                <a:spcPct val="110000"/>
              </a:lnSpc>
              <a:spcAft>
                <a:spcPts val="600"/>
              </a:spcAft>
            </a:pPr>
            <a:r>
              <a:rPr sz="1450" b="0">
                <a:solidFill>
                  <a:srgbClr val="1F2A3A"/>
                </a:solidFill>
                <a:latin typeface="맑은 고딕"/>
                <a:ea typeface="맑은 고딕"/>
                <a:cs typeface="맑은 고딕"/>
              </a:rPr>
              <a:t>• 조치 후 유온을 미리 계산한 예측값도 읽어 오는 값이다 — forecast_ts1 &gt;= 55이면 그 후보에 경고를 붙인다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비교 연산자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값과 기준값을 견주는 데에는 같다, 다르다, 크다, 작다, 이상, 이하의 여섯 연산자를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조건의 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같다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pattern == PM_DUE</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다르다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plc_mode != REMOTE_AUTO</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크다 (초과)</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fan100_hours &gt; 24</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크거나 같다 (이상)</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forecast_ts1 &gt;= 55</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작다 (미만)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ts1 &lt; 55</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작거나 같다 (이하)</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order_due_h &lt;= 24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수직선_ge.svg" descr="illust_579514000681415136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수직선_gt.svg" descr="illust_592815532987066071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범위: 하한과 상한을 함께 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범위는 하한과 상한을 함께 두어 구간을 정하는 조건이며, 두 끝이 각각 포함되는지를 따로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수직선_range.svg" descr="illust_497129369208956601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초과이고 65 ℃ 미만</a:t>
            </a:r>
          </a:p>
          <a:p>
            <a:pPr algn="ctr">
              <a:lnSpc>
                <a:spcPct val="110000"/>
              </a:lnSpc>
              <a:spcAft>
                <a:spcPts val="100"/>
              </a:spcAft>
            </a:pPr>
            <a:r>
              <a:rPr sz="1300" b="0">
                <a:solidFill>
                  <a:srgbClr val="556175"/>
                </a:solidFill>
                <a:latin typeface="맑은 고딕"/>
                <a:ea typeface="맑은 고딕"/>
                <a:cs typeface="맑은 고딕"/>
              </a:rPr>
              <a:t>경보는 났으나 인터록에는 이르지 않은 유온</a:t>
            </a:r>
          </a:p>
        </p:txBody>
      </p:sp>
      <p:sp>
        <p:nvSpPr>
          <p:cNvPr id="8" name="TextBox 7"/>
          <p:cNvSpPr txBox="1"/>
          <p:nvPr/>
        </p:nvSpPr>
        <p:spPr>
          <a:xfrm>
            <a:off x="4426694" y="3882624"/>
            <a:ext cx="370922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범위</a:t>
            </a:r>
          </a:p>
        </p:txBody>
      </p:sp>
      <p:sp>
        <p:nvSpPr>
          <p:cNvPr id="9" name="TextBox 8"/>
          <p:cNvSpPr txBox="1"/>
          <p:nvPr/>
        </p:nvSpPr>
        <p:spPr>
          <a:xfrm>
            <a:off x="4426694" y="3187689"/>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두 끝은 포함되지 않는다</a:t>
            </a:r>
          </a:p>
        </p:txBody>
      </p:sp>
      <p:sp>
        <p:nvSpPr>
          <p:cNvPr id="10" name="TextBox 9"/>
          <p:cNvSpPr txBox="1"/>
          <p:nvPr/>
        </p:nvSpPr>
        <p:spPr>
          <a:xfrm>
            <a:off x="3444840"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a:p>
            <a:pPr algn="ctr">
              <a:lnSpc>
                <a:spcPct val="110000"/>
              </a:lnSpc>
              <a:spcAft>
                <a:spcPts val="100"/>
              </a:spcAft>
            </a:pPr>
            <a:r>
              <a:rPr sz="1300" b="0">
                <a:solidFill>
                  <a:srgbClr val="556175"/>
                </a:solidFill>
                <a:latin typeface="맑은 고딕"/>
                <a:ea typeface="맑은 고딕"/>
                <a:cs typeface="맑은 고딕"/>
              </a:rPr>
              <a:t>경보 기준</a:t>
            </a:r>
          </a:p>
        </p:txBody>
      </p:sp>
      <p:sp>
        <p:nvSpPr>
          <p:cNvPr id="11" name="TextBox 10"/>
          <p:cNvSpPr txBox="1"/>
          <p:nvPr/>
        </p:nvSpPr>
        <p:spPr>
          <a:xfrm>
            <a:off x="7808638"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12" name="TextBox 11"/>
          <p:cNvSpPr txBox="1"/>
          <p:nvPr/>
        </p:nvSpPr>
        <p:spPr>
          <a:xfrm>
            <a:off x="1873873"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3" name="TextBox 12"/>
          <p:cNvSpPr txBox="1"/>
          <p:nvPr/>
        </p:nvSpPr>
        <p:spPr>
          <a:xfrm>
            <a:off x="5517644"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4" name="TextBox 13"/>
          <p:cNvSpPr txBox="1"/>
          <p:nvPr/>
        </p:nvSpPr>
        <p:spPr>
          <a:xfrm>
            <a:off x="906323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66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복수 조건: 한 행에 함께 적으면 AND, 행을 나누면 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행에 적은 조건은 모두 맞아야 하고, 하나만 맞아도 되는 조건은 출력이 같은 두 행으로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tack-2" descr="stac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행에 함께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1 그리고 조건 2, 둘 다 맞아야 출력을 낸다</a:t>
            </a:r>
          </a:p>
          <a:p>
            <a:pPr algn="l">
              <a:lnSpc>
                <a:spcPct val="110000"/>
              </a:lnSpc>
              <a:spcAft>
                <a:spcPts val="600"/>
              </a:spcAft>
            </a:pPr>
            <a:r>
              <a:rPr sz="1450" b="0">
                <a:solidFill>
                  <a:srgbClr val="1F2A3A"/>
                </a:solidFill>
                <a:latin typeface="맑은 고딕"/>
                <a:ea typeface="맑은 고딕"/>
                <a:cs typeface="맑은 고딕"/>
              </a:rPr>
              <a:t>• 조건 1: pattern == PM_DUE, 정기 정비 도래 경보가 났다</a:t>
            </a:r>
          </a:p>
          <a:p>
            <a:pPr algn="l">
              <a:lnSpc>
                <a:spcPct val="110000"/>
              </a:lnSpc>
              <a:spcAft>
                <a:spcPts val="600"/>
              </a:spcAft>
            </a:pPr>
            <a:r>
              <a:rPr sz="1450" b="0">
                <a:solidFill>
                  <a:srgbClr val="1F2A3A"/>
                </a:solidFill>
                <a:latin typeface="맑은 고딕"/>
                <a:ea typeface="맑은 고딕"/>
                <a:cs typeface="맑은 고딕"/>
              </a:rPr>
              <a:t>• 조건 2: hours_since_pm &gt;= 1800, 마지막 정비 뒤의 운전시간이 1,800시간 이상이다</a:t>
            </a:r>
          </a:p>
          <a:p>
            <a:pPr algn="l">
              <a:lnSpc>
                <a:spcPct val="110000"/>
              </a:lnSpc>
              <a:spcAft>
                <a:spcPts val="600"/>
              </a:spcAft>
            </a:pPr>
            <a:r>
              <a:rPr sz="1450" b="0">
                <a:solidFill>
                  <a:srgbClr val="1F2A3A"/>
                </a:solidFill>
                <a:latin typeface="맑은 고딕"/>
                <a:ea typeface="맑은 고딕"/>
                <a:cs typeface="맑은 고딕"/>
              </a:rPr>
              <a:t>• 출력: 후보 선택</a:t>
            </a:r>
          </a:p>
          <a:p>
            <a:pPr algn="l">
              <a:lnSpc>
                <a:spcPct val="110000"/>
              </a:lnSpc>
              <a:spcAft>
                <a:spcPts val="600"/>
              </a:spcAft>
            </a:pPr>
            <a:r>
              <a:rPr sz="1450" b="0">
                <a:solidFill>
                  <a:srgbClr val="1F2A3A"/>
                </a:solidFill>
                <a:latin typeface="맑은 고딕"/>
                <a:ea typeface="맑은 고딕"/>
                <a:cs typeface="맑은 고딕"/>
              </a:rPr>
              <a:t>• 정기 정비의 네 방안 SOP-PM-11 ~ 14</a:t>
            </a:r>
          </a:p>
        </p:txBody>
      </p:sp>
      <p:sp>
        <p:nvSpPr>
          <p:cNvPr id="11" name="Rounded Rectangle 10"/>
          <p:cNvSpPr/>
          <p:nvPr/>
        </p:nvSpPr>
        <p:spPr>
          <a:xfrm>
            <a:off x="868680" y="554729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AND</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ist-numbers" descr="list-numbers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행으로 나누어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첫째 행: 조건 1이면 출력</a:t>
            </a:r>
          </a:p>
          <a:p>
            <a:pPr algn="l">
              <a:lnSpc>
                <a:spcPct val="110000"/>
              </a:lnSpc>
              <a:spcAft>
                <a:spcPts val="600"/>
              </a:spcAft>
            </a:pPr>
            <a:r>
              <a:rPr sz="1450" b="0">
                <a:solidFill>
                  <a:srgbClr val="1F2A3A"/>
                </a:solidFill>
                <a:latin typeface="맑은 고딕"/>
                <a:ea typeface="맑은 고딕"/>
                <a:cs typeface="맑은 고딕"/>
              </a:rPr>
              <a:t>• 둘째 행: 조건 2이면 같은 출력</a:t>
            </a:r>
          </a:p>
          <a:p>
            <a:pPr algn="l">
              <a:lnSpc>
                <a:spcPct val="110000"/>
              </a:lnSpc>
              <a:spcAft>
                <a:spcPts val="600"/>
              </a:spcAft>
            </a:pPr>
            <a:r>
              <a:rPr sz="1450" b="0">
                <a:solidFill>
                  <a:srgbClr val="1F2A3A"/>
                </a:solidFill>
                <a:latin typeface="맑은 고딕"/>
                <a:ea typeface="맑은 고딕"/>
                <a:cs typeface="맑은 고딕"/>
              </a:rPr>
              <a:t>• 어느 하나만 맞아도 출력을 낸다</a:t>
            </a:r>
          </a:p>
        </p:txBody>
      </p:sp>
      <p:sp>
        <p:nvSpPr>
          <p:cNvPr id="18" name="Rounded Rectangle 17"/>
          <p:cNvSpPr/>
          <p:nvPr/>
        </p:nvSpPr>
        <p:spPr>
          <a:xfrm>
            <a:off x="6781647" y="554729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①: 누락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누락은 어느 행에도 맞지 않는 값의 구간이 있는 것이며, 그 구간의 값에는 표가 답을 내지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수직선_missing.svg" descr="illust_419207509579677738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후 예측 유온을 이렇게 나누어 적었다면</a:t>
            </a:r>
          </a:p>
        </p:txBody>
      </p:sp>
      <p:sp>
        <p:nvSpPr>
          <p:cNvPr id="8" name="TextBox 7"/>
          <p:cNvSpPr txBox="1"/>
          <p:nvPr/>
        </p:nvSpPr>
        <p:spPr>
          <a:xfrm>
            <a:off x="1633864"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미만: 통과</a:t>
            </a:r>
          </a:p>
        </p:txBody>
      </p:sp>
      <p:sp>
        <p:nvSpPr>
          <p:cNvPr id="9" name="TextBox 8"/>
          <p:cNvSpPr txBox="1"/>
          <p:nvPr/>
        </p:nvSpPr>
        <p:spPr>
          <a:xfrm>
            <a:off x="4677613" y="3882624"/>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 행이 없다</a:t>
            </a:r>
          </a:p>
        </p:txBody>
      </p:sp>
      <p:sp>
        <p:nvSpPr>
          <p:cNvPr id="10" name="TextBox 9"/>
          <p:cNvSpPr txBox="1"/>
          <p:nvPr/>
        </p:nvSpPr>
        <p:spPr>
          <a:xfrm>
            <a:off x="7814093"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 이상: 제외</a:t>
            </a:r>
          </a:p>
        </p:txBody>
      </p:sp>
      <p:sp>
        <p:nvSpPr>
          <p:cNvPr id="11" name="TextBox 10"/>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2" name="TextBox 11"/>
          <p:cNvSpPr txBox="1"/>
          <p:nvPr/>
        </p:nvSpPr>
        <p:spPr>
          <a:xfrm>
            <a:off x="7099521"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3" name="TextBox 12"/>
          <p:cNvSpPr txBox="1"/>
          <p:nvPr/>
        </p:nvSpPr>
        <p:spPr>
          <a:xfrm>
            <a:off x="4677613" y="5754694"/>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 ℃</a:t>
            </a:r>
          </a:p>
          <a:p>
            <a:pPr algn="ctr">
              <a:lnSpc>
                <a:spcPct val="110000"/>
              </a:lnSpc>
              <a:spcAft>
                <a:spcPts val="100"/>
              </a:spcAft>
            </a:pPr>
            <a:r>
              <a:rPr sz="1300" b="0">
                <a:solidFill>
                  <a:srgbClr val="556175"/>
                </a:solidFill>
                <a:latin typeface="맑은 고딕"/>
                <a:ea typeface="맑은 고딕"/>
                <a:cs typeface="맑은 고딕"/>
              </a:rPr>
              <a:t>통과도 제외도 아니다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②③: 중복과 상충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중복은 한 행만 고쳤을 때 표를 어긋나게 하고, 상충은 같은 값에 다른 답을 둘 내어 따를 쪽을 정하지 못하게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중복</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같은 결과를 내는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경고</a:t>
            </a:r>
          </a:p>
          <a:p>
            <a:pPr algn="l">
              <a:lnSpc>
                <a:spcPct val="110000"/>
              </a:lnSpc>
              <a:spcAft>
                <a:spcPts val="600"/>
              </a:spcAft>
            </a:pPr>
            <a:r>
              <a:rPr sz="1450" b="0">
                <a:solidFill>
                  <a:srgbClr val="1F2A3A"/>
                </a:solidFill>
                <a:latin typeface="맑은 고딕"/>
                <a:ea typeface="맑은 고딕"/>
                <a:cs typeface="맑은 고딕"/>
              </a:rPr>
              <a:t>• 59 ℃에서 두 행이 맞고 결과는 같다</a:t>
            </a:r>
          </a:p>
          <a:p>
            <a:pPr algn="l">
              <a:lnSpc>
                <a:spcPct val="110000"/>
              </a:lnSpc>
              <a:spcAft>
                <a:spcPts val="600"/>
              </a:spcAft>
            </a:pPr>
            <a:r>
              <a:rPr sz="1450" b="0">
                <a:solidFill>
                  <a:srgbClr val="1F2A3A"/>
                </a:solidFill>
                <a:latin typeface="맑은 고딕"/>
                <a:ea typeface="맑은 고딕"/>
                <a:cs typeface="맑은 고딕"/>
              </a:rPr>
              <a:t>• 나중에 한 행만 고치면 표가 어긋난다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같다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rrows-split" descr="arrows-spli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상충</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결과가 서로 다른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제외</a:t>
            </a:r>
          </a:p>
          <a:p>
            <a:pPr algn="l">
              <a:lnSpc>
                <a:spcPct val="110000"/>
              </a:lnSpc>
              <a:spcAft>
                <a:spcPts val="600"/>
              </a:spcAft>
            </a:pPr>
            <a:r>
              <a:rPr sz="1450" b="0">
                <a:solidFill>
                  <a:srgbClr val="1F2A3A"/>
                </a:solidFill>
                <a:latin typeface="맑은 고딕"/>
                <a:ea typeface="맑은 고딕"/>
                <a:cs typeface="맑은 고딕"/>
              </a:rPr>
              <a:t>• 59 ℃에서 경고인가, 제외인가</a:t>
            </a:r>
          </a:p>
          <a:p>
            <a:pPr algn="l">
              <a:lnSpc>
                <a:spcPct val="110000"/>
              </a:lnSpc>
              <a:spcAft>
                <a:spcPts val="600"/>
              </a:spcAft>
            </a:pPr>
            <a:r>
              <a:rPr sz="1450" b="0">
                <a:solidFill>
                  <a:srgbClr val="1F2A3A"/>
                </a:solidFill>
                <a:latin typeface="맑은 고딕"/>
                <a:ea typeface="맑은 고딕"/>
                <a:cs typeface="맑은 고딕"/>
              </a:rPr>
              <a:t>• 어느 쪽을 따를지 표가 정해 주지 못한다</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겹침이 모두 결함은 아니며, 실제 결정표에서도 한 입력에 여러 행이 함께 맞는 일이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히트_base.svg" descr="illust_854583820873179532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답을 정할 약속이 필요하다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여러 행이 맞았을 때의 처리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한 입력에 여러 행이 맞았을 때 무엇을 답으로 삼을지를 결정표마다 미리 정해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Hit Policy</a:t>
            </a:r>
          </a:p>
          <a:p>
            <a:pPr algn="l">
              <a:lnSpc>
                <a:spcPct val="110000"/>
              </a:lnSpc>
              <a:spcAft>
                <a:spcPts val="200"/>
              </a:spcAft>
            </a:pPr>
            <a:r>
              <a:rPr sz="1150" b="0">
                <a:solidFill>
                  <a:srgbClr val="556175"/>
                </a:solidFill>
                <a:latin typeface="맑은 고딕"/>
                <a:ea typeface="맑은 고딕"/>
                <a:cs typeface="맑은 고딕"/>
              </a:rPr>
              <a:t>적중 처리 방식</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행이 맞는 것을 hit이라고 한다.</a:t>
            </a:r>
          </a:p>
          <a:p>
            <a:pPr algn="l">
              <a:lnSpc>
                <a:spcPct val="110000"/>
              </a:lnSpc>
              <a:spcAft>
                <a:spcPts val="300"/>
              </a:spcAft>
            </a:pPr>
            <a:r>
              <a:rPr sz="1400" b="0">
                <a:solidFill>
                  <a:srgbClr val="1F2A3A"/>
                </a:solidFill>
                <a:latin typeface="맑은 고딕"/>
                <a:ea typeface="맑은 고딕"/>
                <a:cs typeface="맑은 고딕"/>
              </a:rPr>
              <a:t>여러 행이 맞았을 때의 처리 방식을 표마다 하나 정해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정하는 까닭</a:t>
            </a:r>
          </a:p>
          <a:p>
            <a:pPr algn="l">
              <a:lnSpc>
                <a:spcPct val="110000"/>
              </a:lnSpc>
              <a:spcAft>
                <a:spcPts val="200"/>
              </a:spcAft>
            </a:pPr>
            <a:r>
              <a:rPr sz="1150" b="0">
                <a:solidFill>
                  <a:srgbClr val="556175"/>
                </a:solidFill>
                <a:latin typeface="맑은 고딕"/>
                <a:ea typeface="맑은 고딕"/>
                <a:cs typeface="맑은 고딕"/>
              </a:rPr>
              <a:t>표마다 하나</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 두지 않으면 읽는 사람마다 다른 답을 고른다.</a:t>
            </a:r>
          </a:p>
          <a:p>
            <a:pPr algn="l">
              <a:lnSpc>
                <a:spcPct val="110000"/>
              </a:lnSpc>
              <a:spcAft>
                <a:spcPts val="300"/>
              </a:spcAft>
            </a:pPr>
            <a:r>
              <a:rPr sz="1400" b="0">
                <a:solidFill>
                  <a:srgbClr val="1F2A3A"/>
                </a:solidFill>
                <a:latin typeface="맑은 고딕"/>
                <a:ea typeface="맑은 고딕"/>
                <a:cs typeface="맑은 고딕"/>
              </a:rPr>
              <a:t>정해 두면 여러 행이 맞아도 답이 하나로 정해진다.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네 방식: 같은 입력, 다른 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100 % 30시간, 예측 유온 56 ℃라는 같은 입력에 네 방식은 오류, 감점, 경고, 감점과 경고를 각각 답으로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 한 번에 한 행만 맞아야 한다</a:t>
            </a:r>
          </a:p>
          <a:p>
            <a:pPr algn="l">
              <a:lnSpc>
                <a:spcPct val="110000"/>
              </a:lnSpc>
              <a:spcAft>
                <a:spcPts val="400"/>
              </a:spcAft>
            </a:pPr>
            <a:r>
              <a:rPr sz="1350" b="0">
                <a:solidFill>
                  <a:srgbClr val="1F2A3A"/>
                </a:solidFill>
                <a:latin typeface="맑은 고딕"/>
                <a:ea typeface="맑은 고딕"/>
                <a:cs typeface="맑은 고딕"/>
              </a:rPr>
              <a:t>• 두 행이 함께 맞으면 답을 고르지 않고 표의 오류로 본다</a:t>
            </a:r>
          </a:p>
        </p:txBody>
      </p:sp>
      <p:sp>
        <p:nvSpPr>
          <p:cNvPr id="10" name="Rounded Rectangle 9"/>
          <p:cNvSpPr/>
          <p:nvPr/>
        </p:nvSpPr>
        <p:spPr>
          <a:xfrm>
            <a:off x="777240" y="5552694"/>
            <a:ext cx="9479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오류</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 위에서부터 차례로 보아 처음 맞은 행의 출력을 쓴다</a:t>
            </a:r>
          </a:p>
          <a:p>
            <a:pPr algn="l">
              <a:lnSpc>
                <a:spcPct val="110000"/>
              </a:lnSpc>
              <a:spcAft>
                <a:spcPts val="400"/>
              </a:spcAft>
            </a:pPr>
            <a:r>
              <a:rPr sz="1350" b="0">
                <a:solidFill>
                  <a:srgbClr val="1F2A3A"/>
                </a:solidFill>
                <a:latin typeface="맑은 고딕"/>
                <a:ea typeface="맑은 고딕"/>
                <a:cs typeface="맑은 고딕"/>
              </a:rPr>
              <a:t>• 행의 순서가 뜻을 갖는다</a:t>
            </a:r>
          </a:p>
        </p:txBody>
      </p:sp>
      <p:sp>
        <p:nvSpPr>
          <p:cNvPr id="16" name="Rounded Rectangle 15"/>
          <p:cNvSpPr/>
          <p:nvPr/>
        </p:nvSpPr>
        <p:spPr>
          <a:xfrm>
            <a:off x="3619423" y="5552694"/>
            <a:ext cx="153314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15331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 20만 원</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 출력에 우선순위를 매겨 맞은 행 가운데 가장 높은 출력을 쓴다</a:t>
            </a:r>
          </a:p>
          <a:p>
            <a:pPr algn="l">
              <a:lnSpc>
                <a:spcPct val="110000"/>
              </a:lnSpc>
              <a:spcAft>
                <a:spcPts val="400"/>
              </a:spcAft>
            </a:pPr>
            <a:r>
              <a:rPr sz="1350" b="0">
                <a:solidFill>
                  <a:srgbClr val="1F2A3A"/>
                </a:solidFill>
                <a:latin typeface="맑은 고딕"/>
                <a:ea typeface="맑은 고딕"/>
                <a:cs typeface="맑은 고딕"/>
              </a:rPr>
              <a:t>• 우선순위(높은 쪽부터): 제외 &gt; 경고 &gt; 감점</a:t>
            </a:r>
          </a:p>
          <a:p>
            <a:pPr algn="l">
              <a:lnSpc>
                <a:spcPct val="110000"/>
              </a:lnSpc>
              <a:spcAft>
                <a:spcPts val="400"/>
              </a:spcAft>
            </a:pPr>
            <a:r>
              <a:rPr sz="1350" b="0">
                <a:solidFill>
                  <a:srgbClr val="1F2A3A"/>
                </a:solidFill>
                <a:latin typeface="맑은 고딕"/>
                <a:ea typeface="맑은 고딕"/>
                <a:cs typeface="맑은 고딕"/>
              </a:rPr>
              <a:t>• 맞은 행은 감점과 경고 → 경고</a:t>
            </a:r>
          </a:p>
        </p:txBody>
      </p:sp>
      <p:sp>
        <p:nvSpPr>
          <p:cNvPr id="22" name="Rounded Rectangle 21"/>
          <p:cNvSpPr/>
          <p:nvPr/>
        </p:nvSpPr>
        <p:spPr>
          <a:xfrm>
            <a:off x="6461607" y="5552694"/>
            <a:ext cx="9479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경고</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 맞은 행의 출력을 모두 모아 답으로 삼는다</a:t>
            </a:r>
          </a:p>
          <a:p>
            <a:pPr algn="l">
              <a:lnSpc>
                <a:spcPct val="110000"/>
              </a:lnSpc>
              <a:spcAft>
                <a:spcPts val="400"/>
              </a:spcAft>
            </a:pPr>
            <a:r>
              <a:rPr sz="1350" b="0">
                <a:solidFill>
                  <a:srgbClr val="1F2A3A"/>
                </a:solidFill>
                <a:latin typeface="맑은 고딕"/>
                <a:ea typeface="맑은 고딕"/>
                <a:cs typeface="맑은 고딕"/>
              </a:rPr>
              <a:t>• 감점 20만 원과 경고가 함께 붙는다</a:t>
            </a:r>
          </a:p>
        </p:txBody>
      </p:sp>
      <p:sp>
        <p:nvSpPr>
          <p:cNvPr id="28" name="Rounded Rectangle 27"/>
          <p:cNvSpPr/>
          <p:nvPr/>
        </p:nvSpPr>
        <p:spPr>
          <a:xfrm>
            <a:off x="9303791" y="5552694"/>
            <a:ext cx="145084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감점과 경고</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Policy를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그 표가 답 하나를 내야 하는지, 해당하는 것을 모두 내야 하는지에 따라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답이 반드시 하나여야 하는 표에 쓴다</a:t>
            </a:r>
          </a:p>
        </p:txBody>
      </p:sp>
      <p:sp>
        <p:nvSpPr>
          <p:cNvPr id="10" name="Rounded Rectangle 9"/>
          <p:cNvSpPr/>
          <p:nvPr/>
        </p:nvSpPr>
        <p:spPr>
          <a:xfrm>
            <a:off x="777240" y="4925187"/>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오류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예외를 위에, 일반 규칙을 아래에 두는 표에 쓴다</a:t>
            </a:r>
          </a:p>
        </p:txBody>
      </p:sp>
      <p:sp>
        <p:nvSpPr>
          <p:cNvPr id="16" name="Rounded Rectangle 15"/>
          <p:cNvSpPr/>
          <p:nvPr/>
        </p:nvSpPr>
        <p:spPr>
          <a:xfrm>
            <a:off x="3619423" y="492518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감점</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가장 무거운 판정 하나만 필요한 표에 쓴다</a:t>
            </a:r>
          </a:p>
        </p:txBody>
      </p:sp>
      <p:sp>
        <p:nvSpPr>
          <p:cNvPr id="22" name="Rounded Rectangle 21"/>
          <p:cNvSpPr/>
          <p:nvPr/>
        </p:nvSpPr>
        <p:spPr>
          <a:xfrm>
            <a:off x="6461607" y="492518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경고</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해당하는 판정을 빠짐없이 알아야 하는 표에 쓴다</a:t>
            </a:r>
          </a:p>
        </p:txBody>
      </p:sp>
      <p:sp>
        <p:nvSpPr>
          <p:cNvPr id="28" name="Rounded Rectangle 27"/>
          <p:cNvSpPr/>
          <p:nvPr/>
        </p:nvSpPr>
        <p:spPr>
          <a:xfrm>
            <a:off x="9303791" y="4925187"/>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둘 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조치 판단: 차례로 이어지는 네 결정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조치 판단을 네 결정으로 나누어 앞의 답을 다음으로 넘기며, 조치 후보 선택부터는 결정마다 Hit Policy를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고장 유형과 원인</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zoom-check" descr="zoom-check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 판정</a:t>
            </a:r>
          </a:p>
          <a:p>
            <a:pPr algn="ctr">
              <a:lnSpc>
                <a:spcPct val="110000"/>
              </a:lnSpc>
              <a:spcAft>
                <a:spcPts val="400"/>
              </a:spcAft>
            </a:pPr>
            <a:r>
              <a:rPr sz="1300" b="0">
                <a:solidFill>
                  <a:srgbClr val="1F2A3A"/>
                </a:solidFill>
                <a:latin typeface="맑은 고딕"/>
                <a:ea typeface="맑은 고딕"/>
                <a:cs typeface="맑은 고딕"/>
              </a:rPr>
              <a:t>이 경보의 고장 유형과</a:t>
            </a:r>
          </a:p>
          <a:p>
            <a:pPr algn="ctr">
              <a:lnSpc>
                <a:spcPct val="110000"/>
              </a:lnSpc>
              <a:spcAft>
                <a:spcPts val="400"/>
              </a:spcAft>
            </a:pPr>
            <a:r>
              <a:rPr sz="1300" b="0">
                <a:solidFill>
                  <a:srgbClr val="1F2A3A"/>
                </a:solidFill>
                <a:latin typeface="맑은 고딕"/>
                <a:ea typeface="맑은 고딕"/>
                <a:cs typeface="맑은 고딕"/>
              </a:rPr>
              <a:t>원인은 무엇인가</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조치 후보</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후보 선택</a:t>
            </a:r>
          </a:p>
          <a:p>
            <a:pPr algn="ctr">
              <a:lnSpc>
                <a:spcPct val="110000"/>
              </a:lnSpc>
              <a:spcAft>
                <a:spcPts val="400"/>
              </a:spcAft>
            </a:pPr>
            <a:r>
              <a:rPr sz="1300" b="0">
                <a:solidFill>
                  <a:srgbClr val="1F2A3A"/>
                </a:solidFill>
                <a:latin typeface="맑은 고딕"/>
                <a:ea typeface="맑은 고딕"/>
                <a:cs typeface="맑은 고딕"/>
              </a:rPr>
              <a:t>쓸 수 있는 조치 방법은</a:t>
            </a:r>
          </a:p>
          <a:p>
            <a:pPr algn="ctr">
              <a:lnSpc>
                <a:spcPct val="110000"/>
              </a:lnSpc>
              <a:spcAft>
                <a:spcPts val="400"/>
              </a:spcAft>
            </a:pPr>
            <a:r>
              <a:rPr sz="1300" b="0">
                <a:solidFill>
                  <a:srgbClr val="1F2A3A"/>
                </a:solidFill>
                <a:latin typeface="맑은 고딕"/>
                <a:ea typeface="맑은 고딕"/>
                <a:cs typeface="맑은 고딕"/>
              </a:rPr>
              <a:t>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남은 후보</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규정 적합성</a:t>
            </a:r>
          </a:p>
          <a:p>
            <a:pPr algn="ctr">
              <a:lnSpc>
                <a:spcPct val="110000"/>
              </a:lnSpc>
              <a:spcAft>
                <a:spcPts val="400"/>
              </a:spcAft>
            </a:pPr>
            <a:r>
              <a:rPr sz="1300" b="0">
                <a:solidFill>
                  <a:srgbClr val="1F2A3A"/>
                </a:solidFill>
                <a:latin typeface="맑은 고딕"/>
                <a:ea typeface="맑은 고딕"/>
                <a:cs typeface="맑은 고딕"/>
              </a:rPr>
              <a:t>쓸 수 없거나 감점할</a:t>
            </a:r>
          </a:p>
          <a:p>
            <a:pPr algn="ctr">
              <a:lnSpc>
                <a:spcPct val="110000"/>
              </a:lnSpc>
              <a:spcAft>
                <a:spcPts val="400"/>
              </a:spcAft>
            </a:pPr>
            <a:r>
              <a:rPr sz="1300" b="0">
                <a:solidFill>
                  <a:srgbClr val="1F2A3A"/>
                </a:solidFill>
                <a:latin typeface="맑은 고딕"/>
                <a:ea typeface="맑은 고딕"/>
                <a:cs typeface="맑은 고딕"/>
              </a:rPr>
              <a:t>것은 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우선순위</a:t>
            </a:r>
          </a:p>
          <a:p>
            <a:pPr algn="ctr">
              <a:lnSpc>
                <a:spcPct val="110000"/>
              </a:lnSpc>
              <a:spcAft>
                <a:spcPts val="400"/>
              </a:spcAft>
            </a:pPr>
            <a:r>
              <a:rPr sz="1300" b="0">
                <a:solidFill>
                  <a:srgbClr val="1F2A3A"/>
                </a:solidFill>
                <a:latin typeface="맑은 고딕"/>
                <a:ea typeface="맑은 고딕"/>
                <a:cs typeface="맑은 고딕"/>
              </a:rPr>
              <a:t>남은 후보 가운데</a:t>
            </a:r>
          </a:p>
          <a:p>
            <a:pPr algn="ctr">
              <a:lnSpc>
                <a:spcPct val="110000"/>
              </a:lnSpc>
              <a:spcAft>
                <a:spcPts val="400"/>
              </a:spcAft>
            </a:pPr>
            <a:r>
              <a:rPr sz="1300" b="0">
                <a:solidFill>
                  <a:srgbClr val="1F2A3A"/>
                </a:solidFill>
                <a:latin typeface="맑은 고딕"/>
                <a:ea typeface="맑은 고딕"/>
                <a:cs typeface="맑은 고딕"/>
              </a:rPr>
              <a:t>가장 유리한 순서는</a:t>
            </a:r>
          </a:p>
          <a:p>
            <a:pPr algn="ctr">
              <a:lnSpc>
                <a:spcPct val="110000"/>
              </a:lnSpc>
              <a:spcAft>
                <a:spcPts val="400"/>
              </a:spcAft>
            </a:pPr>
            <a:r>
              <a:rPr sz="1300" b="0">
                <a:solidFill>
                  <a:srgbClr val="1F2A3A"/>
                </a:solidFill>
                <a:latin typeface="맑은 고딕"/>
                <a:ea typeface="맑은 고딕"/>
                <a:cs typeface="맑은 고딕"/>
              </a:rPr>
              <a:t>Unique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선택: 조치를 후보로 올리는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 선택 규칙은 고장 유형이나 원인을 조건으로 삼아 쓸 수 있는 조치 방법을 후보로 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고장 유형을 보는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고장 유형이 쿨러 냉각 성능 상실이다</a:t>
            </a:r>
          </a:p>
          <a:p>
            <a:pPr algn="l">
              <a:lnSpc>
                <a:spcPct val="110000"/>
              </a:lnSpc>
              <a:spcAft>
                <a:spcPts val="600"/>
              </a:spcAft>
            </a:pPr>
            <a:r>
              <a:rPr sz="1450" b="0">
                <a:solidFill>
                  <a:srgbClr val="1F2A3A"/>
                </a:solidFill>
                <a:latin typeface="맑은 고딕"/>
                <a:ea typeface="맑은 고딕"/>
                <a:cs typeface="맑은 고딕"/>
              </a:rPr>
              <a:t>• 출력: SOP-COOL-11 · 12 · 13을 후보로 올린다</a:t>
            </a:r>
          </a:p>
          <a:p>
            <a:pPr algn="l">
              <a:lnSpc>
                <a:spcPct val="110000"/>
              </a:lnSpc>
              <a:spcAft>
                <a:spcPts val="600"/>
              </a:spcAft>
            </a:pPr>
            <a:r>
              <a:rPr sz="1450" b="0">
                <a:solidFill>
                  <a:srgbClr val="1F2A3A"/>
                </a:solidFill>
                <a:latin typeface="맑은 고딕"/>
                <a:ea typeface="맑은 고딕"/>
                <a:cs typeface="맑은 고딕"/>
              </a:rPr>
              <a:t>• 즉시 완화 조치 셋이다</a:t>
            </a:r>
          </a:p>
        </p:txBody>
      </p:sp>
      <p:sp>
        <p:nvSpPr>
          <p:cNvPr id="11" name="Rounded Rectangle 10"/>
          <p:cNvSpPr/>
          <p:nvPr/>
        </p:nvSpPr>
        <p:spPr>
          <a:xfrm>
            <a:off x="868680" y="5096002"/>
            <a:ext cx="12527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HM-8.5</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원인까지 보는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원인이 쿨러 핀 오염이다</a:t>
            </a:r>
          </a:p>
          <a:p>
            <a:pPr algn="l">
              <a:lnSpc>
                <a:spcPct val="110000"/>
              </a:lnSpc>
              <a:spcAft>
                <a:spcPts val="600"/>
              </a:spcAft>
            </a:pPr>
            <a:r>
              <a:rPr sz="1450" b="0">
                <a:solidFill>
                  <a:srgbClr val="1F2A3A"/>
                </a:solidFill>
                <a:latin typeface="맑은 고딕"/>
                <a:ea typeface="맑은 고딕"/>
                <a:cs typeface="맑은 고딕"/>
              </a:rPr>
              <a:t>• 출력: SOP-COOL-14 쿨러 핀 세척을 후보로 올린다</a:t>
            </a:r>
          </a:p>
          <a:p>
            <a:pPr algn="l">
              <a:lnSpc>
                <a:spcPct val="110000"/>
              </a:lnSpc>
              <a:spcAft>
                <a:spcPts val="600"/>
              </a:spcAft>
            </a:pPr>
            <a:r>
              <a:rPr sz="1450" b="0">
                <a:solidFill>
                  <a:srgbClr val="1F2A3A"/>
                </a:solidFill>
                <a:latin typeface="맑은 고딕"/>
                <a:ea typeface="맑은 고딕"/>
                <a:cs typeface="맑은 고딕"/>
              </a:rPr>
              <a:t>• 그 원인에만 맞는 근본 조치이다</a:t>
            </a:r>
          </a:p>
        </p:txBody>
      </p:sp>
      <p:sp>
        <p:nvSpPr>
          <p:cNvPr id="18" name="Rounded Rectangle 17"/>
          <p:cNvSpPr/>
          <p:nvPr/>
        </p:nvSpPr>
        <p:spPr>
          <a:xfrm>
            <a:off x="6781647" y="5096002"/>
            <a:ext cx="12527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HM-8.7</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판정의 근거: 지식 출처(Knowledge Source)와 결과의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걸린 규칙, 조건, 판정의 종류, 출처가 한 묶음으로 남아 있어야 승인하는 사람이 근거 원문을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Consolas"/>
                <a:ea typeface="맑은 고딕"/>
                <a:cs typeface="맑은 고딕"/>
              </a:rPr>
              <a:t>effect   PENALTY</a:t>
            </a:r>
          </a:p>
          <a:p>
            <a:pPr algn="l">
              <a:lnSpc>
                <a:spcPct val="110000"/>
              </a:lnSpc>
              <a:spcAft>
                <a:spcPts val="200"/>
              </a:spcAft>
            </a:pPr>
            <a:r>
              <a:rPr sz="1300" b="0">
                <a:solidFill>
                  <a:srgbClr val="E8EEF6"/>
                </a:solidFill>
                <a:latin typeface="Consolas"/>
                <a:ea typeface="맑은 고딕"/>
                <a:cs typeface="맑은 고딕"/>
              </a:rPr>
              <a:t>when     fan100_hours &gt; 24</a:t>
            </a:r>
          </a:p>
          <a:p>
            <a:pPr algn="l">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sources  HM-8.8</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지식 출처(Knowledge Source)</a:t>
            </a:r>
          </a:p>
          <a:p>
            <a:pPr algn="l">
              <a:lnSpc>
                <a:spcPct val="110000"/>
              </a:lnSpc>
              <a:spcAft>
                <a:spcPts val="400"/>
              </a:spcAft>
            </a:pPr>
            <a:r>
              <a:rPr sz="1400" b="0">
                <a:solidFill>
                  <a:srgbClr val="1F2A3A"/>
                </a:solidFill>
                <a:latin typeface="맑은 고딕"/>
                <a:ea typeface="맑은 고딕"/>
                <a:cs typeface="맑은 고딕"/>
              </a:rPr>
              <a:t>규칙의 근거가 되는 문서이다.</a:t>
            </a:r>
          </a:p>
          <a:p>
            <a:pPr algn="l">
              <a:lnSpc>
                <a:spcPct val="110000"/>
              </a:lnSpc>
              <a:spcAft>
                <a:spcPts val="400"/>
              </a:spcAft>
            </a:pPr>
            <a:r>
              <a:rPr sz="1400" b="0">
                <a:solidFill>
                  <a:srgbClr val="1F2A3A"/>
                </a:solidFill>
                <a:latin typeface="맑은 고딕"/>
                <a:ea typeface="맑은 고딕"/>
                <a:cs typeface="맑은 고딕"/>
              </a:rPr>
              <a:t>제외와 감점 규칙은 모두 HM-8.8에서 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rule · when</a:t>
            </a:r>
          </a:p>
          <a:p>
            <a:pPr algn="l">
              <a:lnSpc>
                <a:spcPct val="110000"/>
              </a:lnSpc>
              <a:spcAft>
                <a:spcPts val="400"/>
              </a:spcAft>
            </a:pPr>
            <a:r>
              <a:rPr sz="1400" b="0">
                <a:solidFill>
                  <a:srgbClr val="1F2A3A"/>
                </a:solidFill>
                <a:latin typeface="맑은 고딕"/>
                <a:ea typeface="맑은 고딕"/>
                <a:cs typeface="맑은 고딕"/>
              </a:rPr>
              <a:t>어느 규칙이 어떤 조건으로</a:t>
            </a:r>
          </a:p>
          <a:p>
            <a:pPr algn="l">
              <a:lnSpc>
                <a:spcPct val="110000"/>
              </a:lnSpc>
              <a:spcAft>
                <a:spcPts val="400"/>
              </a:spcAft>
            </a:pPr>
            <a:r>
              <a:rPr sz="1400" b="0">
                <a:solidFill>
                  <a:srgbClr val="1F2A3A"/>
                </a:solidFill>
                <a:latin typeface="맑은 고딕"/>
                <a:ea typeface="맑은 고딕"/>
                <a:cs typeface="맑은 고딕"/>
              </a:rPr>
              <a:t>걸렸는가</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effect · penalty</a:t>
            </a:r>
          </a:p>
          <a:p>
            <a:pPr algn="l">
              <a:lnSpc>
                <a:spcPct val="110000"/>
              </a:lnSpc>
              <a:spcAft>
                <a:spcPts val="400"/>
              </a:spcAft>
            </a:pPr>
            <a:r>
              <a:rPr sz="1400" b="0">
                <a:solidFill>
                  <a:srgbClr val="1F2A3A"/>
                </a:solidFill>
                <a:latin typeface="맑은 고딕"/>
                <a:ea typeface="맑은 고딕"/>
                <a:cs typeface="맑은 고딕"/>
              </a:rPr>
              <a:t>판정의 종류와 크기</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sources</a:t>
            </a:r>
          </a:p>
          <a:p>
            <a:pPr algn="l">
              <a:lnSpc>
                <a:spcPct val="110000"/>
              </a:lnSpc>
              <a:spcAft>
                <a:spcPts val="400"/>
              </a:spcAft>
            </a:pPr>
            <a:r>
              <a:rPr sz="1400" b="0">
                <a:solidFill>
                  <a:srgbClr val="1F2A3A"/>
                </a:solidFill>
                <a:latin typeface="맑은 고딕"/>
                <a:ea typeface="맑은 고딕"/>
                <a:cs typeface="맑은 고딕"/>
              </a:rPr>
              <a:t>근거가 된 매뉴얼의 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값을 얻지 못한 조건의 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값을 얻지 못한 조건을 통과로 치면 위험한 조치가 후보에 남으므로, 모르는 조건은 통과로 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x" descr="circle-x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친다면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운전 모드를 읽지 못했다</a:t>
            </a:r>
          </a:p>
          <a:p>
            <a:pPr algn="l">
              <a:lnSpc>
                <a:spcPct val="110000"/>
              </a:lnSpc>
              <a:spcAft>
                <a:spcPts val="600"/>
              </a:spcAft>
            </a:pPr>
            <a:r>
              <a:rPr sz="1450" b="0">
                <a:solidFill>
                  <a:srgbClr val="1F2A3A"/>
                </a:solidFill>
                <a:latin typeface="맑은 고딕"/>
                <a:ea typeface="맑은 고딕"/>
                <a:cs typeface="맑은 고딕"/>
              </a:rPr>
              <a:t>• 조건이 맞지 않은 것으로 보고 넘어간다</a:t>
            </a:r>
          </a:p>
          <a:p>
            <a:pPr algn="l">
              <a:lnSpc>
                <a:spcPct val="110000"/>
              </a:lnSpc>
              <a:spcAft>
                <a:spcPts val="600"/>
              </a:spcAft>
            </a:pPr>
            <a:r>
              <a:rPr sz="1450" b="0">
                <a:solidFill>
                  <a:srgbClr val="1F2A3A"/>
                </a:solidFill>
                <a:latin typeface="맑은 고딕"/>
                <a:ea typeface="맑은 고딕"/>
                <a:cs typeface="맑은 고딕"/>
              </a:rPr>
              <a:t>• 원격 자동이 아닐 수도 있는 설비에 원격 조치가 남는다</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위험하다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치지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「확인되지 않은 조건 (plc_mode)」이라고 결과에 적는다</a:t>
            </a:r>
          </a:p>
          <a:p>
            <a:pPr algn="l">
              <a:lnSpc>
                <a:spcPct val="110000"/>
              </a:lnSpc>
              <a:spcAft>
                <a:spcPts val="600"/>
              </a:spcAft>
            </a:pPr>
            <a:r>
              <a:rPr sz="1450" b="0">
                <a:solidFill>
                  <a:srgbClr val="1F2A3A"/>
                </a:solidFill>
                <a:latin typeface="맑은 고딕"/>
                <a:ea typeface="맑은 고딕"/>
                <a:cs typeface="맑은 고딕"/>
              </a:rPr>
              <a:t>• 제외를 가르는 조건이면 제외 쪽으로 처리한다</a:t>
            </a:r>
          </a:p>
          <a:p>
            <a:pPr algn="l">
              <a:lnSpc>
                <a:spcPct val="110000"/>
              </a:lnSpc>
              <a:spcAft>
                <a:spcPts val="600"/>
              </a:spcAft>
            </a:pPr>
            <a:r>
              <a:rPr sz="1450" b="0">
                <a:solidFill>
                  <a:srgbClr val="1F2A3A"/>
                </a:solidFill>
                <a:latin typeface="맑은 고딕"/>
                <a:ea typeface="맑은 고딕"/>
                <a:cs typeface="맑은 고딕"/>
              </a:rPr>
              <a:t>• 모르면 하지 않는 쪽을 택한다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문장에서 판정까지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문장은 결정표의 행이 되고, 지금의 값을 대어 보면 근거가 붙은 판정이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a:t>
            </a:r>
          </a:p>
          <a:p>
            <a:pPr algn="ctr">
              <a:lnSpc>
                <a:spcPct val="110000"/>
              </a:lnSpc>
              <a:spcAft>
                <a:spcPts val="400"/>
              </a:spcAft>
            </a:pPr>
            <a:r>
              <a:rPr sz="1350" b="0">
                <a:solidFill>
                  <a:srgbClr val="1F2A3A"/>
                </a:solidFill>
                <a:latin typeface="맑은 고딕"/>
                <a:ea typeface="맑은 고딕"/>
                <a:cs typeface="맑은 고딕"/>
              </a:rPr>
              <a:t>매뉴얼에</a:t>
            </a:r>
          </a:p>
          <a:p>
            <a:pPr algn="ctr">
              <a:lnSpc>
                <a:spcPct val="110000"/>
              </a:lnSpc>
              <a:spcAft>
                <a:spcPts val="400"/>
              </a:spcAft>
            </a:pPr>
            <a:r>
              <a:rPr sz="1350" b="0">
                <a:solidFill>
                  <a:srgbClr val="1F2A3A"/>
                </a:solidFill>
                <a:latin typeface="맑은 고딕"/>
                <a:ea typeface="맑은 고딕"/>
                <a:cs typeface="맑은 고딕"/>
              </a:rPr>
              <a:t>글로 적힌 조건</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행</a:t>
            </a:r>
          </a:p>
          <a:p>
            <a:pPr algn="ctr">
              <a:lnSpc>
                <a:spcPct val="110000"/>
              </a:lnSpc>
              <a:spcAft>
                <a:spcPts val="400"/>
              </a:spcAft>
            </a:pPr>
            <a:r>
              <a:rPr sz="1350" b="0">
                <a:solidFill>
                  <a:srgbClr val="1F2A3A"/>
                </a:solidFill>
                <a:latin typeface="맑은 고딕"/>
                <a:ea typeface="맑은 고딕"/>
                <a:cs typeface="맑은 고딕"/>
              </a:rPr>
              <a:t>입력, 연산자, 기준값</a:t>
            </a:r>
          </a:p>
          <a:p>
            <a:pPr algn="ctr">
              <a:lnSpc>
                <a:spcPct val="110000"/>
              </a:lnSpc>
              <a:spcAft>
                <a:spcPts val="400"/>
              </a:spcAft>
            </a:pPr>
            <a:r>
              <a:rPr sz="1350" b="0">
                <a:solidFill>
                  <a:srgbClr val="1F2A3A"/>
                </a:solidFill>
                <a:latin typeface="맑은 고딕"/>
                <a:ea typeface="맑은 고딕"/>
                <a:cs typeface="맑은 고딕"/>
              </a:rPr>
              <a:t>그리고 출력</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지금의 값</a:t>
            </a:r>
          </a:p>
          <a:p>
            <a:pPr algn="ctr">
              <a:lnSpc>
                <a:spcPct val="110000"/>
              </a:lnSpc>
              <a:spcAft>
                <a:spcPts val="400"/>
              </a:spcAft>
            </a:pPr>
            <a:r>
              <a:rPr sz="1350" b="0">
                <a:solidFill>
                  <a:srgbClr val="1F2A3A"/>
                </a:solidFill>
                <a:latin typeface="맑은 고딕"/>
                <a:ea typeface="맑은 고딕"/>
                <a:cs typeface="맑은 고딕"/>
              </a:rPr>
              <a:t>출처에서 읽어 와</a:t>
            </a:r>
          </a:p>
          <a:p>
            <a:pPr algn="ctr">
              <a:lnSpc>
                <a:spcPct val="110000"/>
              </a:lnSpc>
              <a:spcAft>
                <a:spcPts val="400"/>
              </a:spcAft>
            </a:pPr>
            <a:r>
              <a:rPr sz="1350" b="0">
                <a:solidFill>
                  <a:srgbClr val="1F2A3A"/>
                </a:solidFill>
                <a:latin typeface="맑은 고딕"/>
                <a:ea typeface="맑은 고딕"/>
                <a:cs typeface="맑은 고딕"/>
              </a:rPr>
              <a:t>조건에 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후보 선택, 제외,</a:t>
            </a:r>
          </a:p>
          <a:p>
            <a:pPr algn="ctr">
              <a:lnSpc>
                <a:spcPct val="110000"/>
              </a:lnSpc>
              <a:spcAft>
                <a:spcPts val="400"/>
              </a:spcAft>
            </a:pPr>
            <a:r>
              <a:rPr sz="1350" b="0">
                <a:solidFill>
                  <a:srgbClr val="1F2A3A"/>
                </a:solidFill>
                <a:latin typeface="맑은 고딕"/>
                <a:ea typeface="맑은 고딕"/>
                <a:cs typeface="맑은 고딕"/>
              </a:rPr>
              <a:t>감점, 경고와 근거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인터록여유_1.svg" descr="illust_318029562841961518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단위 · 방향 · 측정 주기 · 책임 부서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수치도 인터록 여유는 클수록, 지체상금은 작을수록 좋으며, 지표마다 재는 주기와 책임 부서가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단위와 방향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측정 주기 · 책임 부서</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 — 여유가 클수록 인터록에서 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실시간</a:t>
            </a:r>
          </a:p>
          <a:p>
            <a:pPr algn="l">
              <a:lnSpc>
                <a:spcPct val="110000"/>
              </a:lnSpc>
            </a:pPr>
            <a:r>
              <a:rPr sz="1250" b="1">
                <a:solidFill>
                  <a:srgbClr val="1A6FC4"/>
                </a:solidFill>
                <a:latin typeface="맑은 고딕"/>
                <a:ea typeface="맑은 고딕"/>
                <a:cs typeface="맑은 고딕"/>
              </a:rPr>
              <a:t>생산팀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일</a:t>
            </a:r>
          </a:p>
          <a:p>
            <a:pPr algn="l">
              <a:lnSpc>
                <a:spcPct val="110000"/>
              </a:lnSpc>
            </a:pPr>
            <a:r>
              <a:rPr sz="1250" b="1">
                <a:solidFill>
                  <a:srgbClr val="556175"/>
                </a:solidFill>
                <a:latin typeface="맑은 고딕"/>
                <a:ea typeface="맑은 고딕"/>
                <a:cs typeface="맑은 고딕"/>
              </a:rPr>
              <a:t>생산팀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납기 준수율</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주</a:t>
            </a:r>
          </a:p>
          <a:p>
            <a:pPr algn="l">
              <a:lnSpc>
                <a:spcPct val="110000"/>
              </a:lnSpc>
            </a:pPr>
            <a:r>
              <a:rPr sz="1250" b="1">
                <a:solidFill>
                  <a:srgbClr val="556175"/>
                </a:solidFill>
                <a:latin typeface="맑은 고딕"/>
                <a:ea typeface="맑은 고딕"/>
                <a:cs typeface="맑은 고딕"/>
              </a:rPr>
              <a:t>영업팀</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지체상금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만 원/월, 작을수록 좋다 — 납기를 어겨 무는 돈이다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월</a:t>
            </a:r>
          </a:p>
          <a:p>
            <a:pPr algn="l">
              <a:lnSpc>
                <a:spcPct val="110000"/>
              </a:lnSpc>
            </a:pPr>
            <a:r>
              <a:rPr sz="1250" b="1">
                <a:solidFill>
                  <a:srgbClr val="1A6FC4"/>
                </a:solidFill>
                <a:latin typeface="맑은 고딕"/>
                <a:ea typeface="맑은 고딕"/>
                <a:cs typeface="맑은 고딕"/>
              </a:rPr>
              <a:t>영업팀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목표값 · 실제값 · 목표 대비 차이: 인터록 여유의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인터록 여유는 목표값 10 ℃에 실제값 2.53 ℃로 7.47 ℃가 모자랐고, 달성률은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인터록여유_4.svg" descr="illust_186458177029612872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6881331" y="221856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 10 ℃</a:t>
            </a:r>
          </a:p>
        </p:txBody>
      </p:sp>
      <p:sp>
        <p:nvSpPr>
          <p:cNvPr id="9" name="TextBox 8"/>
          <p:cNvSpPr txBox="1"/>
          <p:nvPr/>
        </p:nvSpPr>
        <p:spPr>
          <a:xfrm>
            <a:off x="1186574" y="1911278"/>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a:t>
            </a:r>
          </a:p>
          <a:p>
            <a:pPr algn="ctr">
              <a:lnSpc>
                <a:spcPct val="110000"/>
              </a:lnSpc>
              <a:spcAft>
                <a:spcPts val="100"/>
              </a:spcAft>
            </a:pPr>
            <a:r>
              <a:rPr sz="1300" b="0">
                <a:solidFill>
                  <a:srgbClr val="556175"/>
                </a:solidFill>
                <a:latin typeface="맑은 고딕"/>
                <a:ea typeface="맑은 고딕"/>
                <a:cs typeface="맑은 고딕"/>
              </a:rPr>
              <a:t>지표가 이르러야 하는 수준</a:t>
            </a:r>
          </a:p>
          <a:p>
            <a:pPr algn="ctr">
              <a:lnSpc>
                <a:spcPct val="110000"/>
              </a:lnSpc>
              <a:spcAft>
                <a:spcPts val="100"/>
              </a:spcAft>
            </a:pPr>
            <a:r>
              <a:rPr sz="1300" b="0">
                <a:solidFill>
                  <a:srgbClr val="556175"/>
                </a:solidFill>
                <a:latin typeface="맑은 고딕"/>
                <a:ea typeface="맑은 고딕"/>
                <a:cs typeface="맑은 고딕"/>
              </a:rPr>
              <a:t>여유 10 ℃는 최고 유온 55 ℃ 이하이다</a:t>
            </a:r>
          </a:p>
        </p:txBody>
      </p:sp>
      <p:sp>
        <p:nvSpPr>
          <p:cNvPr id="10" name="TextBox 9"/>
          <p:cNvSpPr txBox="1"/>
          <p:nvPr/>
        </p:nvSpPr>
        <p:spPr>
          <a:xfrm>
            <a:off x="8768673" y="5055031"/>
            <a:ext cx="2727373"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실제값 2.53 ℃</a:t>
            </a:r>
          </a:p>
          <a:p>
            <a:pPr algn="ctr">
              <a:lnSpc>
                <a:spcPct val="110000"/>
              </a:lnSpc>
              <a:spcAft>
                <a:spcPts val="100"/>
              </a:spcAft>
            </a:pPr>
            <a:r>
              <a:rPr sz="1300" b="0">
                <a:solidFill>
                  <a:srgbClr val="556175"/>
                </a:solidFill>
                <a:latin typeface="맑은 고딕"/>
                <a:ea typeface="맑은 고딕"/>
                <a:cs typeface="맑은 고딕"/>
              </a:rPr>
              <a:t>정의대로 잰 결과</a:t>
            </a:r>
          </a:p>
          <a:p>
            <a:pPr algn="ctr">
              <a:lnSpc>
                <a:spcPct val="110000"/>
              </a:lnSpc>
              <a:spcAft>
                <a:spcPts val="100"/>
              </a:spcAft>
            </a:pPr>
            <a:r>
              <a:rPr sz="1300" b="0">
                <a:solidFill>
                  <a:srgbClr val="556175"/>
                </a:solidFill>
                <a:latin typeface="맑은 고딕"/>
                <a:ea typeface="맑은 고딕"/>
                <a:cs typeface="맑은 고딕"/>
              </a:rPr>
              <a:t>65에서 최고 유온 62.47을 뺀 값</a:t>
            </a:r>
          </a:p>
          <a:p>
            <a:pPr algn="ctr">
              <a:lnSpc>
                <a:spcPct val="110000"/>
              </a:lnSpc>
              <a:spcAft>
                <a:spcPts val="100"/>
              </a:spcAft>
            </a:pPr>
            <a:r>
              <a:rPr sz="1300" b="0">
                <a:solidFill>
                  <a:srgbClr val="556175"/>
                </a:solidFill>
                <a:latin typeface="맑은 고딕"/>
                <a:ea typeface="맑은 고딕"/>
                <a:cs typeface="맑은 고딕"/>
              </a:rPr>
              <a:t>HYD-01 · 어느 24시간의 기록</a:t>
            </a:r>
          </a:p>
        </p:txBody>
      </p:sp>
      <p:sp>
        <p:nvSpPr>
          <p:cNvPr id="11" name="TextBox 10"/>
          <p:cNvSpPr txBox="1"/>
          <p:nvPr/>
        </p:nvSpPr>
        <p:spPr>
          <a:xfrm>
            <a:off x="5004898" y="569323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목표 대비 차이 7.47 ℃</a:t>
            </a:r>
          </a:p>
          <a:p>
            <a:pPr algn="ctr">
              <a:lnSpc>
                <a:spcPct val="110000"/>
              </a:lnSpc>
              <a:spcAft>
                <a:spcPts val="100"/>
              </a:spcAft>
            </a:pPr>
            <a:r>
              <a:rPr sz="1300" b="0">
                <a:solidFill>
                  <a:srgbClr val="556175"/>
                </a:solidFill>
                <a:latin typeface="맑은 고딕"/>
                <a:ea typeface="맑은 고딕"/>
                <a:cs typeface="맑은 고딕"/>
              </a:rPr>
              <a:t>목표에 모자란다</a:t>
            </a:r>
          </a:p>
          <a:p>
            <a:pPr algn="ctr">
              <a:lnSpc>
                <a:spcPct val="110000"/>
              </a:lnSpc>
              <a:spcAft>
                <a:spcPts val="100"/>
              </a:spcAft>
            </a:pPr>
            <a:r>
              <a:rPr sz="1300" b="0">
                <a:solidFill>
                  <a:srgbClr val="556175"/>
                </a:solidFill>
                <a:latin typeface="맑은 고딕"/>
                <a:ea typeface="맑은 고딕"/>
                <a:cs typeface="맑은 고딕"/>
              </a:rPr>
              <a:t>달성률 25.3 % · 미달</a:t>
            </a:r>
          </a:p>
        </p:txBody>
      </p:sp>
      <p:sp>
        <p:nvSpPr>
          <p:cNvPr id="12" name="TextBox 11"/>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3" name="TextBox 12"/>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4" name="TextBox 13"/>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5" name="TextBox 14"/>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지표를 하나만 보면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24시간에 설비 가동률은 달성, 인터록 여유는 미달이었으므로 한 지표만으로는 설비의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설비 가동률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100.0 %</a:t>
            </a:r>
          </a:p>
          <a:p>
            <a:pPr algn="l">
              <a:lnSpc>
                <a:spcPct val="110000"/>
              </a:lnSpc>
              <a:spcAft>
                <a:spcPts val="600"/>
              </a:spcAft>
            </a:pPr>
            <a:r>
              <a:rPr sz="1450" b="0">
                <a:solidFill>
                  <a:srgbClr val="1F2A3A"/>
                </a:solidFill>
                <a:latin typeface="맑은 고딕"/>
                <a:ea typeface="맑은 고딕"/>
                <a:cs typeface="맑은 고딕"/>
              </a:rPr>
              <a:t>• 목표값 95 %</a:t>
            </a:r>
          </a:p>
          <a:p>
            <a:pPr algn="l">
              <a:lnSpc>
                <a:spcPct val="110000"/>
              </a:lnSpc>
              <a:spcAft>
                <a:spcPts val="600"/>
              </a:spcAft>
            </a:pPr>
            <a:r>
              <a:rPr sz="1450" b="0">
                <a:solidFill>
                  <a:srgbClr val="1F2A3A"/>
                </a:solidFill>
                <a:latin typeface="맑은 고딕"/>
                <a:ea typeface="맑은 고딕"/>
                <a:cs typeface="맑은 고딕"/>
              </a:rPr>
              <a:t>• 설비는 한 번도 서지 않았다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달성</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2.53 ℃</a:t>
            </a:r>
          </a:p>
          <a:p>
            <a:pPr algn="l">
              <a:lnSpc>
                <a:spcPct val="110000"/>
              </a:lnSpc>
              <a:spcAft>
                <a:spcPts val="600"/>
              </a:spcAft>
            </a:pPr>
            <a:r>
              <a:rPr sz="1450" b="0">
                <a:solidFill>
                  <a:srgbClr val="1F2A3A"/>
                </a:solidFill>
                <a:latin typeface="맑은 고딕"/>
                <a:ea typeface="맑은 고딕"/>
                <a:cs typeface="맑은 고딕"/>
              </a:rPr>
              <a:t>• 목표값 10 ℃</a:t>
            </a:r>
          </a:p>
          <a:p>
            <a:pPr algn="l">
              <a:lnSpc>
                <a:spcPct val="110000"/>
              </a:lnSpc>
              <a:spcAft>
                <a:spcPts val="600"/>
              </a:spcAft>
            </a:pPr>
            <a:r>
              <a:rPr sz="1450" b="0">
                <a:solidFill>
                  <a:srgbClr val="1F2A3A"/>
                </a:solidFill>
                <a:latin typeface="맑은 고딕"/>
                <a:ea typeface="맑은 고딕"/>
                <a:cs typeface="맑은 고딕"/>
              </a:rPr>
              <a:t>• 설 뻔한 데까지 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전략맵은 한 목표가 다른 목표를 뒷받침하는 인과관계를 화살표로 이어 그린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전략맵_1.svg" descr="illust_626543752978329010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9" name="TextBox 18"/>
          <p:cNvSpPr txBox="1"/>
          <p:nvPr/>
        </p:nvSpPr>
        <p:spPr>
          <a:xfrm>
            <a:off x="2822999" y="550413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화살표</a:t>
            </a:r>
          </a:p>
          <a:p>
            <a:pPr algn="ctr">
              <a:lnSpc>
                <a:spcPct val="110000"/>
              </a:lnSpc>
              <a:spcAft>
                <a:spcPts val="100"/>
              </a:spcAft>
            </a:pPr>
            <a:r>
              <a:rPr sz="1100" b="0">
                <a:solidFill>
                  <a:srgbClr val="556175"/>
                </a:solidFill>
                <a:latin typeface="맑은 고딕"/>
                <a:ea typeface="맑은 고딕"/>
                <a:cs typeface="맑은 고딕"/>
              </a:rPr>
              <a:t>뒷받침한다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전략맵에서 읽는 세 갈래의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화살표를 아래에서 위로 따라가면 설비의 문제가 납기 신뢰를 거쳐 영업이익에 이르는 길이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전략맵_4.svg" descr="illust_115622872620014550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
        <p:nvSpPr>
          <p:cNvPr id="19" name="TextBox 18"/>
          <p:cNvSpPr txBox="1"/>
          <p:nvPr/>
        </p:nvSpPr>
        <p:spPr>
          <a:xfrm>
            <a:off x="2113881" y="2998591"/>
            <a:ext cx="2945563"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① 설비 가용성 확보 → 납기 신뢰</a:t>
            </a:r>
          </a:p>
          <a:p>
            <a:pPr algn="ctr">
              <a:lnSpc>
                <a:spcPct val="110000"/>
              </a:lnSpc>
              <a:spcAft>
                <a:spcPts val="100"/>
              </a:spcAft>
            </a:pPr>
            <a:r>
              <a:rPr sz="1100" b="0">
                <a:solidFill>
                  <a:srgbClr val="556175"/>
                </a:solidFill>
                <a:latin typeface="맑은 고딕"/>
                <a:ea typeface="맑은 고딕"/>
                <a:cs typeface="맑은 고딕"/>
              </a:rPr>
              <a:t>설비가 필요할 때 돌 수 있어야</a:t>
            </a:r>
          </a:p>
          <a:p>
            <a:pPr algn="ctr">
              <a:lnSpc>
                <a:spcPct val="110000"/>
              </a:lnSpc>
              <a:spcAft>
                <a:spcPts val="100"/>
              </a:spcAft>
            </a:pPr>
            <a:r>
              <a:rPr sz="1100" b="0">
                <a:solidFill>
                  <a:srgbClr val="556175"/>
                </a:solidFill>
                <a:latin typeface="맑은 고딕"/>
                <a:ea typeface="맑은 고딕"/>
                <a:cs typeface="맑은 고딕"/>
              </a:rPr>
              <a:t>약속한 날짜를 지킨다</a:t>
            </a:r>
          </a:p>
        </p:txBody>
      </p:sp>
      <p:sp>
        <p:nvSpPr>
          <p:cNvPr id="20" name="TextBox 19"/>
          <p:cNvSpPr txBox="1"/>
          <p:nvPr/>
        </p:nvSpPr>
        <p:spPr>
          <a:xfrm>
            <a:off x="2386619" y="1840367"/>
            <a:ext cx="349103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② 납기 신뢰 · 품질 신뢰 → 영업이익 확대</a:t>
            </a:r>
          </a:p>
          <a:p>
            <a:pPr algn="ctr">
              <a:lnSpc>
                <a:spcPct val="110000"/>
              </a:lnSpc>
              <a:spcAft>
                <a:spcPts val="100"/>
              </a:spcAft>
            </a:pPr>
            <a:r>
              <a:rPr sz="1100" b="0">
                <a:solidFill>
                  <a:srgbClr val="556175"/>
                </a:solidFill>
                <a:latin typeface="맑은 고딕"/>
                <a:ea typeface="맑은 고딕"/>
                <a:cs typeface="맑은 고딕"/>
              </a:rPr>
              <a:t>고객의 신뢰를 얻는 것이</a:t>
            </a:r>
          </a:p>
          <a:p>
            <a:pPr algn="ctr">
              <a:lnSpc>
                <a:spcPct val="110000"/>
              </a:lnSpc>
              <a:spcAft>
                <a:spcPts val="100"/>
              </a:spcAft>
            </a:pPr>
            <a:r>
              <a:rPr sz="1100" b="0">
                <a:solidFill>
                  <a:srgbClr val="556175"/>
                </a:solidFill>
                <a:latin typeface="맑은 고딕"/>
                <a:ea typeface="맑은 고딕"/>
                <a:cs typeface="맑은 고딕"/>
              </a:rPr>
              <a:t>영업이익으로 이어진다</a:t>
            </a:r>
          </a:p>
        </p:txBody>
      </p:sp>
      <p:sp>
        <p:nvSpPr>
          <p:cNvPr id="21" name="TextBox 20"/>
          <p:cNvSpPr txBox="1"/>
          <p:nvPr/>
        </p:nvSpPr>
        <p:spPr>
          <a:xfrm>
            <a:off x="6804964" y="3991356"/>
            <a:ext cx="2181899" cy="8872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③ 에너지 효율 → 원가 절감 → 영업이익 확대</a:t>
            </a:r>
          </a:p>
          <a:p>
            <a:pPr algn="ctr">
              <a:lnSpc>
                <a:spcPct val="110000"/>
              </a:lnSpc>
              <a:spcAft>
                <a:spcPts val="100"/>
              </a:spcAft>
            </a:pPr>
            <a:r>
              <a:rPr sz="1100" b="0">
                <a:solidFill>
                  <a:srgbClr val="556175"/>
                </a:solidFill>
                <a:latin typeface="맑은 고딕"/>
                <a:ea typeface="맑은 고딕"/>
                <a:cs typeface="맑은 고딕"/>
              </a:rPr>
              <a:t>영업이익으로 가는 길이</a:t>
            </a:r>
          </a:p>
          <a:p>
            <a:pPr algn="ctr">
              <a:lnSpc>
                <a:spcPct val="110000"/>
              </a:lnSpc>
              <a:spcAft>
                <a:spcPts val="100"/>
              </a:spcAft>
            </a:pPr>
            <a:r>
              <a:rPr sz="1100" b="0">
                <a:solidFill>
                  <a:srgbClr val="556175"/>
                </a:solidFill>
                <a:latin typeface="맑은 고딕"/>
                <a:ea typeface="맑은 고딕"/>
                <a:cs typeface="맑은 고딕"/>
              </a:rPr>
              <a:t>하나가 아니다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후행 지표는 결과가 나온 뒤에야 보이고, 선행 지표는 그 결과를 움직이는 동인을 미리 재어 손쓸 자리를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후행 지표 (Lagging Indicator)</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일이 끝난 뒤에 나온 결과를 재는 지표이다</a:t>
            </a:r>
          </a:p>
          <a:p>
            <a:pPr algn="l">
              <a:lnSpc>
                <a:spcPct val="110000"/>
              </a:lnSpc>
              <a:spcAft>
                <a:spcPts val="600"/>
              </a:spcAft>
            </a:pPr>
            <a:r>
              <a:rPr sz="1450" b="0">
                <a:solidFill>
                  <a:srgbClr val="1F2A3A"/>
                </a:solidFill>
                <a:latin typeface="맑은 고딕"/>
                <a:ea typeface="맑은 고딕"/>
                <a:cs typeface="맑은 고딕"/>
              </a:rPr>
              <a:t>• 정말로 얻고자 하는 것이 무엇인지를 알려 준다</a:t>
            </a:r>
          </a:p>
          <a:p>
            <a:pPr algn="l">
              <a:lnSpc>
                <a:spcPct val="110000"/>
              </a:lnSpc>
              <a:spcAft>
                <a:spcPts val="600"/>
              </a:spcAft>
            </a:pPr>
            <a:r>
              <a:rPr sz="1450" b="0">
                <a:solidFill>
                  <a:srgbClr val="1F2A3A"/>
                </a:solidFill>
                <a:latin typeface="맑은 고딕"/>
                <a:ea typeface="맑은 고딕"/>
                <a:cs typeface="맑은 고딕"/>
              </a:rPr>
              <a:t>• 예: 납기 준수율은 주마다, 지체상금은 달마다 집계한다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player-track-next" descr="player-track-nex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선행 지표 (Leading Indicator)</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결과를 움직이는 동인을 미리 재는 지표이다</a:t>
            </a:r>
          </a:p>
          <a:p>
            <a:pPr algn="l">
              <a:lnSpc>
                <a:spcPct val="110000"/>
              </a:lnSpc>
              <a:spcAft>
                <a:spcPts val="600"/>
              </a:spcAft>
            </a:pPr>
            <a:r>
              <a:rPr sz="1450" b="0">
                <a:solidFill>
                  <a:srgbClr val="1F2A3A"/>
                </a:solidFill>
                <a:latin typeface="맑은 고딕"/>
                <a:ea typeface="맑은 고딕"/>
                <a:cs typeface="맑은 고딕"/>
              </a:rPr>
              <a:t>• 결과가 나오기 전에 무엇을 보아야 하는지와 지금 손을 쓸 수 있는 자리를 알려 준다</a:t>
            </a:r>
          </a:p>
          <a:p>
            <a:pPr algn="l">
              <a:lnSpc>
                <a:spcPct val="110000"/>
              </a:lnSpc>
              <a:spcAft>
                <a:spcPts val="600"/>
              </a:spcAft>
            </a:pPr>
            <a:r>
              <a:rPr sz="1450" b="0">
                <a:solidFill>
                  <a:srgbClr val="1F2A3A"/>
                </a:solidFill>
                <a:latin typeface="맑은 고딕"/>
                <a:ea typeface="맑은 고딕"/>
                <a:cs typeface="맑은 고딕"/>
              </a:rPr>
              <a:t>• 예: 생산량과 인터록 여유는 실시간으로, 설비 가동률은 날마다 잰다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동인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지표에서 후행 지표로 전해지는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영향은 설비의 값에서 선행 지표로, 선행 지표에서 후행 지표로 한 방향으로 전해진다.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펌프 부하</a:t>
            </a:r>
          </a:p>
          <a:p>
            <a:pPr algn="ctr">
              <a:lnSpc>
                <a:spcPct val="110000"/>
              </a:lnSpc>
              <a:spcAft>
                <a:spcPts val="400"/>
              </a:spcAft>
            </a:pPr>
            <a:r>
              <a:rPr sz="1350" b="0">
                <a:solidFill>
                  <a:srgbClr val="1F2A3A"/>
                </a:solidFill>
                <a:latin typeface="맑은 고딕"/>
                <a:ea typeface="맑은 고딕"/>
                <a:cs typeface="맑은 고딕"/>
              </a:rPr>
              <a:t>설비의 값</a:t>
            </a:r>
          </a:p>
          <a:p>
            <a:pPr algn="ctr">
              <a:lnSpc>
                <a:spcPct val="110000"/>
              </a:lnSpc>
              <a:spcAft>
                <a:spcPts val="400"/>
              </a:spcAft>
            </a:pPr>
            <a:r>
              <a:rPr sz="1350" b="0">
                <a:solidFill>
                  <a:srgbClr val="1F2A3A"/>
                </a:solidFill>
                <a:latin typeface="맑은 고딕"/>
                <a:ea typeface="맑은 고딕"/>
                <a:cs typeface="맑은 고딕"/>
              </a:rPr>
              <a:t>부하가 곧</a:t>
            </a:r>
          </a:p>
          <a:p>
            <a:pPr algn="ctr">
              <a:lnSpc>
                <a:spcPct val="110000"/>
              </a:lnSpc>
              <a:spcAft>
                <a:spcPts val="400"/>
              </a:spcAft>
            </a:pPr>
            <a:r>
              <a:rPr sz="1350" b="0">
                <a:solidFill>
                  <a:srgbClr val="1F2A3A"/>
                </a:solidFill>
                <a:latin typeface="맑은 고딕"/>
                <a:ea typeface="맑은 고딕"/>
                <a:cs typeface="맑은 고딕"/>
              </a:rPr>
              <a:t>생산 속도이다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package" descr="packag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생산량</a:t>
            </a:r>
          </a:p>
          <a:p>
            <a:pPr algn="ctr">
              <a:lnSpc>
                <a:spcPct val="110000"/>
              </a:lnSpc>
              <a:spcAft>
                <a:spcPts val="400"/>
              </a:spcAft>
            </a:pPr>
            <a:r>
              <a:rPr sz="1350" b="0">
                <a:solidFill>
                  <a:srgbClr val="1F2A3A"/>
                </a:solidFill>
                <a:latin typeface="맑은 고딕"/>
                <a:ea typeface="맑은 고딕"/>
                <a:cs typeface="맑은 고딕"/>
              </a:rPr>
              <a:t>선행 지표</a:t>
            </a:r>
          </a:p>
          <a:p>
            <a:pPr algn="ctr">
              <a:lnSpc>
                <a:spcPct val="110000"/>
              </a:lnSpc>
              <a:spcAft>
                <a:spcPts val="400"/>
              </a:spcAft>
            </a:pPr>
            <a:r>
              <a:rPr sz="1350" b="0">
                <a:solidFill>
                  <a:srgbClr val="1F2A3A"/>
                </a:solidFill>
                <a:latin typeface="맑은 고딕"/>
                <a:ea typeface="맑은 고딕"/>
                <a:cs typeface="맑은 고딕"/>
              </a:rPr>
              <a:t>부하를 낮추면</a:t>
            </a:r>
          </a:p>
          <a:p>
            <a:pPr algn="ctr">
              <a:lnSpc>
                <a:spcPct val="110000"/>
              </a:lnSpc>
              <a:spcAft>
                <a:spcPts val="400"/>
              </a:spcAft>
            </a:pPr>
            <a:r>
              <a:rPr sz="1350" b="0">
                <a:solidFill>
                  <a:srgbClr val="1F2A3A"/>
                </a:solidFill>
                <a:latin typeface="맑은 고딕"/>
                <a:ea typeface="맑은 고딕"/>
                <a:cs typeface="맑은 고딕"/>
              </a:rPr>
              <a:t>줄어든다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납기 준수율</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생산이 줄면</a:t>
            </a:r>
          </a:p>
          <a:p>
            <a:pPr algn="ctr">
              <a:lnSpc>
                <a:spcPct val="110000"/>
              </a:lnSpc>
              <a:spcAft>
                <a:spcPts val="400"/>
              </a:spcAft>
            </a:pPr>
            <a:r>
              <a:rPr sz="1350" b="0">
                <a:solidFill>
                  <a:srgbClr val="1F2A3A"/>
                </a:solidFill>
                <a:latin typeface="맑은 고딕"/>
                <a:ea typeface="맑은 고딕"/>
                <a:cs typeface="맑은 고딕"/>
              </a:rPr>
              <a:t>떨어진다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oin" descr="coi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지체상금</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납기를 어기면</a:t>
            </a:r>
          </a:p>
          <a:p>
            <a:pPr algn="ctr">
              <a:lnSpc>
                <a:spcPct val="110000"/>
              </a:lnSpc>
              <a:spcAft>
                <a:spcPts val="400"/>
              </a:spcAft>
            </a:pPr>
            <a:r>
              <a:rPr sz="1350" b="0">
                <a:solidFill>
                  <a:srgbClr val="1F2A3A"/>
                </a:solidFill>
                <a:latin typeface="맑은 고딕"/>
                <a:ea typeface="맑은 고딕"/>
                <a:cs typeface="맑은 고딕"/>
              </a:rPr>
              <a:t>늘어난다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성과경로_2.svg" descr="illust_78248887911050683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성과경로_5.svg" descr="illust_188056517402970013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사건의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점수에서는 생산을 그대로 두는 팬 최대 운전이 1순위였고, 부하를 낮추는 두 후보는 점수가 같았다.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감점이 놓이는 자리: 규칙에서 점수로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규칙에서 나오지만 후보를 빼지 않고 점수에 들어가 다른 득실과 견주어진다.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707767"/>
            <a:ext cx="3442106"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890647"/>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2057552" y="3044266"/>
            <a:ext cx="424281" cy="424281"/>
          </a:xfrm>
          <a:prstGeom prst="rect">
            <a:avLst/>
          </a:prstGeom>
        </p:spPr>
      </p:pic>
      <p:sp>
        <p:nvSpPr>
          <p:cNvPr id="9" name="TextBox 8"/>
          <p:cNvSpPr txBox="1"/>
          <p:nvPr/>
        </p:nvSpPr>
        <p:spPr>
          <a:xfrm>
            <a:off x="621792"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707767"/>
            <a:ext cx="3442106"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890647"/>
            <a:ext cx="731520" cy="73152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83706" y="3044266"/>
            <a:ext cx="424281" cy="424281"/>
          </a:xfrm>
          <a:prstGeom prst="rect">
            <a:avLst/>
          </a:prstGeom>
        </p:spPr>
      </p:pic>
      <p:sp>
        <p:nvSpPr>
          <p:cNvPr id="14" name="TextBox 13"/>
          <p:cNvSpPr txBox="1"/>
          <p:nvPr/>
        </p:nvSpPr>
        <p:spPr>
          <a:xfrm>
            <a:off x="4447946"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감점</a:t>
            </a:r>
          </a:p>
          <a:p>
            <a:pPr algn="ctr">
              <a:lnSpc>
                <a:spcPct val="110000"/>
              </a:lnSpc>
              <a:spcAft>
                <a:spcPts val="400"/>
              </a:spcAft>
            </a:pPr>
            <a:r>
              <a:rPr sz="1350" b="0">
                <a:solidFill>
                  <a:srgbClr val="1F2A3A"/>
                </a:solidFill>
                <a:latin typeface="맑은 고딕"/>
                <a:ea typeface="맑은 고딕"/>
                <a:cs typeface="맑은 고딕"/>
              </a:rPr>
              <a:t>팬 최대 운전에서</a:t>
            </a:r>
          </a:p>
          <a:p>
            <a:pPr algn="ctr">
              <a:lnSpc>
                <a:spcPct val="110000"/>
              </a:lnSpc>
              <a:spcAft>
                <a:spcPts val="400"/>
              </a:spcAft>
            </a:pPr>
            <a:r>
              <a:rPr sz="1350" b="0">
                <a:solidFill>
                  <a:srgbClr val="1F2A3A"/>
                </a:solidFill>
                <a:latin typeface="맑은 고딕"/>
                <a:ea typeface="맑은 고딕"/>
                <a:cs typeface="맑은 고딕"/>
              </a:rPr>
              <a:t>20만 원을 깎는다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707767"/>
            <a:ext cx="3442106"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890647"/>
            <a:ext cx="731520" cy="731520"/>
          </a:xfrm>
          <a:prstGeom prst="ellipse">
            <a:avLst/>
          </a:prstGeom>
          <a:solidFill>
            <a:srgbClr val="FFFFFF"/>
          </a:solidFill>
          <a:ln>
            <a:noFill/>
          </a:ln>
        </p:spPr>
        <p:txBody>
          <a:bodyPr rtlCol="0" anchor="ctr"/>
          <a:lstStyle/>
          <a:p>
            <a:pPr algn="ctr"/>
          </a:p>
        </p:txBody>
      </p:sp>
      <p:pic>
        <p:nvPicPr>
          <p:cNvPr id="18" name="아이콘:trophy" descr="trophy_13294B_1.6.png"/>
          <p:cNvPicPr>
            <a:picLocks noChangeAspect="1"/>
          </p:cNvPicPr>
          <p:nvPr/>
        </p:nvPicPr>
        <p:blipFill>
          <a:blip r:embed="rId5"/>
          <a:stretch>
            <a:fillRect/>
          </a:stretch>
        </p:blipFill>
        <p:spPr>
          <a:xfrm>
            <a:off x="9709861" y="3044266"/>
            <a:ext cx="424281" cy="424281"/>
          </a:xfrm>
          <a:prstGeom prst="rect">
            <a:avLst/>
          </a:prstGeom>
        </p:spPr>
      </p:pic>
      <p:sp>
        <p:nvSpPr>
          <p:cNvPr id="19" name="TextBox 18"/>
          <p:cNvSpPr txBox="1"/>
          <p:nvPr/>
        </p:nvSpPr>
        <p:spPr>
          <a:xfrm>
            <a:off x="8274100"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순위</a:t>
            </a:r>
          </a:p>
          <a:p>
            <a:pPr algn="ctr">
              <a:lnSpc>
                <a:spcPct val="110000"/>
              </a:lnSpc>
              <a:spcAft>
                <a:spcPts val="400"/>
              </a:spcAft>
            </a:pPr>
            <a:r>
              <a:rPr sz="1350" b="0">
                <a:solidFill>
                  <a:srgbClr val="1F2A3A"/>
                </a:solidFill>
                <a:latin typeface="맑은 고딕"/>
                <a:ea typeface="맑은 고딕"/>
                <a:cs typeface="맑은 고딕"/>
              </a:rPr>
              <a:t>깎인 점수로</a:t>
            </a:r>
          </a:p>
          <a:p>
            <a:pPr algn="ctr">
              <a:lnSpc>
                <a:spcPct val="110000"/>
              </a:lnSpc>
              <a:spcAft>
                <a:spcPts val="400"/>
              </a:spcAft>
            </a:pPr>
            <a:r>
              <a:rPr sz="1350" b="0">
                <a:solidFill>
                  <a:srgbClr val="1F2A3A"/>
                </a:solidFill>
                <a:latin typeface="맑은 고딕"/>
                <a:ea typeface="맑은 고딕"/>
                <a:cs typeface="맑은 고딕"/>
              </a:rPr>
              <a:t>다른 후보와 견준다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가정분석_2.svg" descr="illust_895729039793935834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가정분석_5.svg" descr="illust_699117558629853216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분석의 결과는 넣은 가정과 계산 모델만큼만 믿을 수 있으며, 예측은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70430"/>
            <a:ext cx="731520" cy="731520"/>
          </a:xfrm>
          <a:prstGeom prst="ellipse">
            <a:avLst/>
          </a:prstGeom>
          <a:solidFill>
            <a:srgbClr val="E7F3FD"/>
          </a:solidFill>
          <a:ln>
            <a:noFill/>
          </a:ln>
        </p:spPr>
        <p:txBody>
          <a:bodyPr rtlCol="0" anchor="ctr"/>
          <a:lstStyle/>
          <a:p>
            <a:pPr algn="ctr"/>
          </a:p>
        </p:txBody>
      </p:sp>
      <p:pic>
        <p:nvPicPr>
          <p:cNvPr id="8" name="아이콘:variable" descr="variable_13294B_1.6.png"/>
          <p:cNvPicPr>
            <a:picLocks noChangeAspect="1"/>
          </p:cNvPicPr>
          <p:nvPr/>
        </p:nvPicPr>
        <p:blipFill>
          <a:blip r:embed="rId3"/>
          <a:stretch>
            <a:fillRect/>
          </a:stretch>
        </p:blipFill>
        <p:spPr>
          <a:xfrm>
            <a:off x="930859" y="2324049"/>
            <a:ext cx="424281" cy="424281"/>
          </a:xfrm>
          <a:prstGeom prst="rect">
            <a:avLst/>
          </a:prstGeom>
        </p:spPr>
      </p:pic>
      <p:sp>
        <p:nvSpPr>
          <p:cNvPr id="9" name="TextBox 8"/>
          <p:cNvSpPr txBox="1"/>
          <p:nvPr/>
        </p:nvSpPr>
        <p:spPr>
          <a:xfrm>
            <a:off x="713232"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가정에 기댄다</a:t>
            </a:r>
          </a:p>
          <a:p>
            <a:pPr algn="l">
              <a:lnSpc>
                <a:spcPct val="110000"/>
              </a:lnSpc>
              <a:spcAft>
                <a:spcPts val="400"/>
              </a:spcAft>
            </a:pPr>
            <a:r>
              <a:rPr sz="1400" b="0">
                <a:solidFill>
                  <a:srgbClr val="1F2A3A"/>
                </a:solidFill>
                <a:latin typeface="맑은 고딕"/>
                <a:ea typeface="맑은 고딕"/>
                <a:cs typeface="맑은 고딕"/>
              </a:rPr>
              <a:t>• 계산에 넣는 값의 일부는 잰 값이 아니라 가정이다</a:t>
            </a:r>
          </a:p>
          <a:p>
            <a:pPr algn="l">
              <a:lnSpc>
                <a:spcPct val="110000"/>
              </a:lnSpc>
              <a:spcAft>
                <a:spcPts val="400"/>
              </a:spcAft>
            </a:pPr>
            <a:r>
              <a:rPr sz="1400" b="0">
                <a:solidFill>
                  <a:srgbClr val="1F2A3A"/>
                </a:solidFill>
                <a:latin typeface="맑은 고딕"/>
                <a:ea typeface="맑은 고딕"/>
                <a:cs typeface="맑은 고딕"/>
              </a:rPr>
              <a:t>• 예: 설비가 주 120시간 운전한다고 본다</a:t>
            </a:r>
          </a:p>
        </p:txBody>
      </p:sp>
      <p:sp>
        <p:nvSpPr>
          <p:cNvPr id="10" name="Rounded Rectangle 9"/>
          <p:cNvSpPr/>
          <p:nvPr/>
        </p:nvSpPr>
        <p:spPr>
          <a:xfrm>
            <a:off x="777240" y="558368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입력의 한계</a:t>
            </a:r>
          </a:p>
        </p:txBody>
      </p:sp>
      <p:sp>
        <p:nvSpPr>
          <p:cNvPr id="12" name="Rounded Rectangle 11"/>
          <p:cNvSpPr/>
          <p:nvPr/>
        </p:nvSpPr>
        <p:spPr>
          <a:xfrm>
            <a:off x="4338218" y="1969262"/>
            <a:ext cx="3515258" cy="40441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170430"/>
            <a:ext cx="731520" cy="731520"/>
          </a:xfrm>
          <a:prstGeom prst="ellipse">
            <a:avLst/>
          </a:prstGeom>
          <a:solidFill>
            <a:srgbClr val="5CB8F2"/>
          </a:solidFill>
          <a:ln>
            <a:noFill/>
          </a:ln>
        </p:spPr>
        <p:txBody>
          <a:bodyPr rtlCol="0" anchor="ctr"/>
          <a:lstStyle/>
          <a:p>
            <a:pPr algn="ctr"/>
          </a:p>
        </p:txBody>
      </p:sp>
      <p:pic>
        <p:nvPicPr>
          <p:cNvPr id="14" name="아이콘:calculator" descr="calculator_13294B_1.6.png"/>
          <p:cNvPicPr>
            <a:picLocks noChangeAspect="1"/>
          </p:cNvPicPr>
          <p:nvPr/>
        </p:nvPicPr>
        <p:blipFill>
          <a:blip r:embed="rId4"/>
          <a:stretch>
            <a:fillRect/>
          </a:stretch>
        </p:blipFill>
        <p:spPr>
          <a:xfrm>
            <a:off x="4720437" y="2324049"/>
            <a:ext cx="424281" cy="424281"/>
          </a:xfrm>
          <a:prstGeom prst="rect">
            <a:avLst/>
          </a:prstGeom>
        </p:spPr>
      </p:pic>
      <p:sp>
        <p:nvSpPr>
          <p:cNvPr id="15" name="TextBox 14"/>
          <p:cNvSpPr txBox="1"/>
          <p:nvPr/>
        </p:nvSpPr>
        <p:spPr>
          <a:xfrm>
            <a:off x="4502810"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모델의 계산이다</a:t>
            </a:r>
          </a:p>
          <a:p>
            <a:pPr algn="l">
              <a:lnSpc>
                <a:spcPct val="110000"/>
              </a:lnSpc>
              <a:spcAft>
                <a:spcPts val="400"/>
              </a:spcAft>
            </a:pPr>
            <a:r>
              <a:rPr sz="1400" b="0">
                <a:solidFill>
                  <a:srgbClr val="1F2A3A"/>
                </a:solidFill>
                <a:latin typeface="맑은 고딕"/>
                <a:ea typeface="맑은 고딕"/>
                <a:cs typeface="맑은 고딕"/>
              </a:rPr>
              <a:t>• 조치 후의 유온은 조건이 그대로라고 보고 설비 모델이 계산한 예측값이다</a:t>
            </a:r>
          </a:p>
          <a:p>
            <a:pPr algn="l">
              <a:lnSpc>
                <a:spcPct val="110000"/>
              </a:lnSpc>
              <a:spcAft>
                <a:spcPts val="400"/>
              </a:spcAft>
            </a:pPr>
            <a:r>
              <a:rPr sz="1400" b="0">
                <a:solidFill>
                  <a:srgbClr val="1F2A3A"/>
                </a:solidFill>
                <a:latin typeface="맑은 고딕"/>
                <a:ea typeface="맑은 고딕"/>
                <a:cs typeface="맑은 고딕"/>
              </a:rPr>
              <a:t>• 예: 팬 최대 운전은 49.8 ℃로 예측되었다</a:t>
            </a:r>
          </a:p>
          <a:p>
            <a:pPr algn="l">
              <a:lnSpc>
                <a:spcPct val="110000"/>
              </a:lnSpc>
              <a:spcAft>
                <a:spcPts val="400"/>
              </a:spcAft>
            </a:pPr>
            <a:r>
              <a:rPr sz="1400" b="0">
                <a:solidFill>
                  <a:srgbClr val="1F2A3A"/>
                </a:solidFill>
                <a:latin typeface="맑은 고딕"/>
                <a:ea typeface="맑은 고딕"/>
                <a:cs typeface="맑은 고딕"/>
              </a:rPr>
              <a:t>• 그래서 SOP는 조치 뒤 15분 동안 유온이 55 ℃ 미만으로 유지되는지를 실제로 재는 재관측으로 끝난다</a:t>
            </a:r>
          </a:p>
        </p:txBody>
      </p:sp>
      <p:sp>
        <p:nvSpPr>
          <p:cNvPr id="16" name="Rounded Rectangle 15"/>
          <p:cNvSpPr/>
          <p:nvPr/>
        </p:nvSpPr>
        <p:spPr>
          <a:xfrm>
            <a:off x="4566818" y="5583682"/>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예측의 한계</a:t>
            </a:r>
          </a:p>
        </p:txBody>
      </p:sp>
      <p:sp>
        <p:nvSpPr>
          <p:cNvPr id="18" name="Rounded Rectangle 17"/>
          <p:cNvSpPr/>
          <p:nvPr/>
        </p:nvSpPr>
        <p:spPr>
          <a:xfrm>
            <a:off x="8127796"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17043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324049"/>
            <a:ext cx="424281" cy="424281"/>
          </a:xfrm>
          <a:prstGeom prst="rect">
            <a:avLst/>
          </a:prstGeom>
        </p:spPr>
      </p:pic>
      <p:sp>
        <p:nvSpPr>
          <p:cNvPr id="21" name="TextBox 20"/>
          <p:cNvSpPr txBox="1"/>
          <p:nvPr/>
        </p:nvSpPr>
        <p:spPr>
          <a:xfrm>
            <a:off x="8292388"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결정을 대신하지 않는다</a:t>
            </a:r>
          </a:p>
          <a:p>
            <a:pPr algn="l">
              <a:lnSpc>
                <a:spcPct val="110000"/>
              </a:lnSpc>
              <a:spcAft>
                <a:spcPts val="400"/>
              </a:spcAft>
            </a:pPr>
            <a:r>
              <a:rPr sz="1400" b="0">
                <a:solidFill>
                  <a:srgbClr val="1F2A3A"/>
                </a:solidFill>
                <a:latin typeface="맑은 고딕"/>
                <a:ea typeface="맑은 고딕"/>
                <a:cs typeface="맑은 고딕"/>
              </a:rPr>
              <a:t>어느 가정이 현실에 가까운지는 사람이 판단한다</a:t>
            </a:r>
          </a:p>
        </p:txBody>
      </p:sp>
      <p:sp>
        <p:nvSpPr>
          <p:cNvPr id="22" name="Rounded Rectangle 21"/>
          <p:cNvSpPr/>
          <p:nvPr/>
        </p:nvSpPr>
        <p:spPr>
          <a:xfrm>
            <a:off x="8356396" y="558368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해석의 한계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랩 전용 SOP 자료는 이 실습에서 조치 방법과 작업 단계의 구조, 그리고 결정표 자료로 정리된다.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 시간에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절차의 구조화</a:t>
            </a:r>
          </a:p>
          <a:p>
            <a:pPr algn="ctr">
              <a:lnSpc>
                <a:spcPct val="110000"/>
              </a:lnSpc>
              <a:spcAft>
                <a:spcPts val="400"/>
              </a:spcAft>
            </a:pPr>
            <a:r>
              <a:rPr sz="1350" b="0">
                <a:solidFill>
                  <a:srgbClr val="1F2A3A"/>
                </a:solidFill>
                <a:latin typeface="맑은 고딕"/>
                <a:ea typeface="맑은 고딕"/>
                <a:cs typeface="맑은 고딕"/>
              </a:rPr>
              <a:t>적용 조건, 금지 조건,</a:t>
            </a:r>
          </a:p>
          <a:p>
            <a:pPr algn="ctr">
              <a:lnSpc>
                <a:spcPct val="110000"/>
              </a:lnSpc>
              <a:spcAft>
                <a:spcPts val="400"/>
              </a:spcAft>
            </a:pPr>
            <a:r>
              <a:rPr sz="1350" b="0">
                <a:solidFill>
                  <a:srgbClr val="1F2A3A"/>
                </a:solidFill>
                <a:latin typeface="맑은 고딕"/>
                <a:ea typeface="맑은 고딕"/>
                <a:cs typeface="맑은 고딕"/>
              </a:rPr>
              <a:t>수행 단계, 완료 기준을</a:t>
            </a:r>
          </a:p>
          <a:p>
            <a:pPr algn="ctr">
              <a:lnSpc>
                <a:spcPct val="110000"/>
              </a:lnSpc>
              <a:spcAft>
                <a:spcPts val="400"/>
              </a:spcAft>
            </a:pPr>
            <a:r>
              <a:rPr sz="1350" b="0">
                <a:solidFill>
                  <a:srgbClr val="1F2A3A"/>
                </a:solidFill>
                <a:latin typeface="맑은 고딕"/>
                <a:ea typeface="맑은 고딕"/>
                <a:cs typeface="맑은 고딕"/>
              </a:rPr>
              <a:t>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able" descr="tab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 작성</a:t>
            </a:r>
          </a:p>
          <a:p>
            <a:pPr algn="ctr">
              <a:lnSpc>
                <a:spcPct val="110000"/>
              </a:lnSpc>
              <a:spcAft>
                <a:spcPts val="400"/>
              </a:spcAft>
            </a:pPr>
            <a:r>
              <a:rPr sz="1350" b="0">
                <a:solidFill>
                  <a:srgbClr val="1F2A3A"/>
                </a:solidFill>
                <a:latin typeface="맑은 고딕"/>
                <a:ea typeface="맑은 고딕"/>
                <a:cs typeface="맑은 고딕"/>
              </a:rPr>
              <a:t>조건 문장을</a:t>
            </a:r>
          </a:p>
          <a:p>
            <a:pPr algn="ctr">
              <a:lnSpc>
                <a:spcPct val="110000"/>
              </a:lnSpc>
              <a:spcAft>
                <a:spcPts val="400"/>
              </a:spcAft>
            </a:pPr>
            <a:r>
              <a:rPr sz="1350" b="0">
                <a:solidFill>
                  <a:srgbClr val="1F2A3A"/>
                </a:solidFill>
                <a:latin typeface="맑은 고딕"/>
                <a:ea typeface="맑은 고딕"/>
                <a:cs typeface="맑은 고딕"/>
              </a:rPr>
              <a:t>입력 조건과 판단 결과의</a:t>
            </a:r>
          </a:p>
          <a:p>
            <a:pPr algn="ctr">
              <a:lnSpc>
                <a:spcPct val="110000"/>
              </a:lnSpc>
              <a:spcAft>
                <a:spcPts val="400"/>
              </a:spcAft>
            </a:pPr>
            <a:r>
              <a:rPr sz="1350" b="0">
                <a:solidFill>
                  <a:srgbClr val="1F2A3A"/>
                </a:solidFill>
                <a:latin typeface="맑은 고딕"/>
                <a:ea typeface="맑은 고딕"/>
                <a:cs typeface="맑은 고딕"/>
              </a:rPr>
              <a:t>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조치의 순서와 수행 기준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LOTO</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Lockout/Tagout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전의 잠금과 표지</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네 관점으로 성과를 보는 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Policy가 Collect인 결정표에 팬 100 % 30시간, 「팬 최대 운전」의 예측 유온 56 ℃를 넣었다고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여러 규칙의 처리,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Collect는 맞은 행의 출력을 모두 모은다. 감점과 경고가 함께 붙는다.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