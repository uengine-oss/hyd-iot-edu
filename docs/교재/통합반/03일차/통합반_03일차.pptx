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경보에서 출발해 원인을 가리는 데까지 갔습니다. 오늘은 그다음, 곧 원인을 안 뒤에 조치 하나를 고르는 과정을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도착한 자리에서 시작하겠습니다. 냉각 효율과 팬 진동과 캐비닛 온도를 대조해 원인이 쿨러 핀 오염이라는 것까지 확인했습니다. 그런데 원인을 알았다고 해서 무엇을 할지가 곧바로 정해지지는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매뉴얼을 펴 보면 이 고장에 쓸 수 있는 조치가 넷입니다. 넷 모두 유온을 다루지만 하는 일이 서로 다릅니다.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첫째는 팬 최대 운전입니다. 팬 속도를 100 %로 올려 쿨러를 지나는 바람을 늘립니다. 펌프 부하는 건드리지 않으므로 생산은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팬을 올리면서 펌프 부하도 80 %로 낮추는 조치입니다. 부하를 낮추면 열이 덜 나므로 유온은 더 내려갑니다. 대신 생산 속도가 줄어듭니다.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팬은 그대로 두고 부하만 70 %로 낮추는 조치입니다. 그렇게 버티다가 야간에 예정된 정비 시간에 핀 세척 작업을 겁니다. 이 조치도 생산 속도가 줄어듭니다.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쿨러 핀 세척입니다. 설비를 세우고 핀을 세척합니다. 앞의 셋과 달리 원인인 오염 자체를 없애지만 그동안 설비는 멈춥니다.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진단의 답은 원인 하나였습니다. 조치 결정은 그 원인에서 출발해 여러 후보 가운데 하나를 고르는 일이고, 쓰는 정보도 다릅니다. 오늘은 오른쪽을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하나를 고르려면 세 물음에 답해야 합니다. 어떻게 수행하는가, 지금 해도 되는가, 어느 것이 더 나은가입니다. 오늘의 세 단원이 이 셋에 하나씩 대응합니다.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물음, 어떻게 수행하는가부터 보겠습니다. 팬을 올린다는 말 한마디로는 부족합니다. 무엇을 먼저 확인하고 무엇으로 끝났다고 볼지가 사람마다 다르면 같은 조치의 결과도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앞에서 본 네 후보는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SOP를 두는 목적은 셋입니다. 누가 해도 같게 하는 일관성, 위험한 순서를 막는 안전, 그리고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SOP에는 절차 번호가 붙습니다. 팬 최대 운전의 번호는 SOP-COOL-11입니다. 이름은 비슷한 것이 여럿일 수 있지만 번호는 하나뿐이어서, 추천과 승인과 기록이 같은 절차를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HM-8에는 이 고장에 쓰는 SOP가 다섯 편 있습니다. 앞의 셋은 즉시 완화 조치 절에, 뒤의 둘은 근본 조치 절에 실려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승인된 팬 최대 운전의 원문입니다. 절의 첫 문장, 번호가 붙은 세 단계, 승인을 적은 마지막 줄로 이루어져 있습니다. 짧은 문서이지만 종류가 다른 정보가 섞여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갖추어야 할 요소를 일곱 가지로 나누어 보겠습니다. 우리가 흔히 절차라고 부르는 수행 단계는 이 가운데 하나입니다. 일곱 가지를 매뉴얼의 실제 문장으로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첫째는 적용 대상입니다. 이 절차가 오일 쿨러의 냉각 성능 상실이라는 고장에 쓰인다는 것을 정합니다. 대상이 정해져 있지 않으면 맞지 않는 고장에 절차를 쓰게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전제 조건입니다. 시작하기 전에 성립해 있어야 하는 상태로, 여기서는 운전 모드가 원격 자동이어야 한다는 것입니다. 성립하지 않으면 절차를 시작하지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셋째가 수행 단계입니다. 확인, 수행, 판정의 세 단계이고 번호가 곧 순서입니다. 확인하지 않고 팬부터 올리면 이 절차를 따른 것이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담당 역할입니다. 팬 최대 운전은 운전원이 승인하고, 설비를 세우는 근본 조치는 설비보전팀장이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안전 조건입니다. 핀을 세척하는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여섯째는 완료 확인 기준입니다. 팬을 올렸다고 끝난 것이 아니라, 15분 동안 유온이 55도 아래로 유지되어야 성공으로 봅니다. 보는 값과 기준과 시간이 모두 정해져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일곱째는 금지 사항입니다. 부하를 60 % 아래로 내리지 않는다, 핀을 고압수로 씻지 않는다 같은 문장입니다. 하라는 일만큼 하지 말라는 일도 절차의 일부입니다.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흔히 절차서라고 하면 번호 목록만 떠올립니다. 그런데 단계만 있는 문서는 언제 써도 되는지와 언제 끝난 것인지를 말해 주지 못합니다. 일곱 가지가 함께 있어야 SOP입니다.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가지를 크게 묶으면 두 종류의 문장입니다. 순서는 읽는 것만으로 무엇을 할지가 정해집니다. 조건은 지금 이 설비의 값과 견주어 보아야 써도 되는지가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문장을 갈라 보겠습니다. 물음은 하나입니다. 이 문장은 지금의 값을 알아야 참인지 거짓인지가 정해지는가입니다. 그렇다면 조건이고, 아니라면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사람이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운전은 원격으로 팬 속도를 바꾸는 명령을 보내는 조치입니다. 원격 자동은 그런 명령을 받는 상태이므로 이때는 후보에 남습니다. 지난 사건의 설비가 이 상태였습니다.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모드가 원격 수동이나 현장 제어이면 같은 조치가 제외됩니다. 현장에서 누군가 설비를 손으로 조작하고 있는데 원격에서 팬 속도를 바꾸면, 그 사람이 예상하지 못한 방향으로 설비가 움직이기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아래 줄의 쿨러 핀 세척은 다릅니다. 원격 명령이 아니라 사람이 현장에 가서 하는 정비 작업이므로 운전 모드와 관계없이 남습니다. 조치는 그대로인데 설비의 상태에 따라 할 수 있는지가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모드만 그런 것이 아닙니다. 팬이 이미 얼마나 오래 최대로 돌았는지, 조치를 했을 때 유온이 어디까지 내려갈지도 조치의 가능 여부와 유불리를 바꿉니다. 그러므로 조치를 고르는 쪽은 절차와 함께 지금의 설비 상태를 알아야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지식 그래프에 어떻게 들어 있는지 보겠습니다. SOP 한 편은 조치 방법 노드 하나이고 클래스 이름은 Skill입니다. 조치 방법은 원인이 아니라 고장 유형에 이어져 있어서 한 고장 유형에 여럿이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방법에서 더 따라가 보겠습니다. 원문의 번호 붙은 단계가 작업 단계 노드가 되고, 단계마다 근거가 되는 매뉴얼의 절이 이어집니다. 추천에 출처 HM-8.5가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조치는 성격에 따라 셋으로 나뉘고 쓰이는 때가 다릅니다. 아래 선은 유온이고, 위의 세 원이 조치가 쓰이는 때입니다.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즉시 완화는 경보 직후에 고장의 영향을 줄이는 조치입니다. 팬 최대 운전이 여기에 해당합니다. 유온은 곧바로 내려가지만 핀에 낀 오염은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근본 조치는 원인을 없애는 조치입니다. 쿨러 핀 세척은 원인이 핀 오염일 때만 의미가 있습니다. 원인이 주변 온도 상승이었다면 캐비닛 환기 보강이 근본 조치가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예방 조치는 고장이 나기 전에 하는 정기 정비입니다. 펌프의 씰과 필터를 2,000시간마다 교체하는 정기 점검이 펌프의 체적 효율 저하라는 고장을 미리 막습니다. 경보가 났을 때의 후보에는 오르지 않고 정비 주기가 돌아왔을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시간의 그래프입니다. 팬 최대 운전으로 유온은 내려갔지만 아래쪽의 냉각 효율은 55 %에 머물렀습니다. 매뉴얼은 완화에 성공해도 원인은 남아 있다고 적어 둡니다. 그래서 완화 조치를 한 뒤에 근본 조치가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조치를 어떻게 수행하는지는 SOP가 정합니다. 그 안의 조건 문장은 값과 견주어야 하므로 따로 다룰 방법이 필요합니다. 다음 단원이 그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있으면 사람이 그때그때 읽고 떠올려 적용해야 합니다. 급할 때 하나를 놓치기 쉽고, 같은 문장을 사람마다 다르게 읽으며, 무엇을 확인했는지도 남지 않습니다. 조건을 값에 대어 볼 수 있는 형태로 옮겨 둘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DMN의 핵심은 판단을 세 부분으로 나누는 것입니다. 무엇을 보는가가 입력이고, 어떤 조건이면 어떤 결과인가가 규칙이며, 그래서 나온 답이 판정입니다. 문장에서는 이 셋이 한데 섞여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둘의 관계를 정리해 둡니다. SOP는 순서를, DMN은 조건을 맡습니다. 앞 단원에서 SOP의 문장을 순서와 조건으로 갈랐는데, 그 조건 쪽 문장이 결정표로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한 걸음씩 만들어 보겠습니다. 가장 먼저 정하는 것은 물음입니다. 이 표는 후보 가운데 규정상 쓸 수 없거나 감점할 것이 무엇인가에 답합니다. 표 하나가 답하는 이 물음 하나를 결정이라고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무엇을 볼지입니다. 이 물음에는 PLC 운전 모드와 팬 100 % 연속 운전 시간이 필요합니다. 이런 값의 항목을 입력 데이터라고 하고, 표의 머리줄에 놓습니다. 영어 이름은 그 항목에 붙인 변수 이름입니다.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머리줄 아래에 첫 행을 채웁니다. 원격 조치는 원격 자동이 아닐 때 쓰지 않는다는 문장이 이 행입니다. 표의 한 행이 규칙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한 행은 두 부분입니다. 왼쪽이 조건이고 오른쪽이 출력입니다. 운전 모드가 원격 자동이 아니다가 조건이고, 세 절차를 제외한다가 출력입니다. 조건이 맞으면 출력을 내고, 맞지 않으면 아무것도 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문장, 팬을 24시간 넘게 최대로 돌렸으면 감점한다를 행으로 더합니다. 이 규칙은 운전 모드를 보지 않으므로 그 칸은 비워 둡니다. 이렇게 한 결정에 쓰이는 규칙을 모은 것이 결정표입니다.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읽어 보겠습니다. 지금 운전 모드가 원격 자동이고 팬이 30시간째 최대로 돌았다고 하겠습니다. 첫 행의 조건은 맞지 않고 둘째 행의 조건은 맞습니다. 그래서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근거입니다. 두 규칙은 모두 매뉴얼 HM-8.8의 문장에서 왔습니다. DMN에서는 규칙의 근거가 되는 문서를 지식 출처라고 부릅니다. 근거가 붙어 있으면 판정을 두고 왜냐고 물었을 때 원문을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판정하려면 값이 있어야 합니다. 입력 데이터마다 그 값을 어디서 가져오는지가 정해져 있습니다. 운전 모드는 SCADA에서, 연속 운전 시간은 운전 이력에서, 납기까지 남은 시간은 MES에서 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표에는 지금의 값이 없다는 점을 짚어 둡니다. 표에는 무엇을 무엇과 견줄지만 있고, 지금의 값은 판단하는 순간에 읽어 옵니다. 원인을 가릴 때 기준은 지식 그래프에 두고 잰 값은 저장소에서 읽어 온 것과 같은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 가운데 하나는 성격이 다릅니다. 조치 후 예측 유온은 지금 잰 값이 아니라, 그 조치를 했다면 유온이 어디에 머물지를 미리 계산한 값입니다. 조치마다 이 값이 달라서 후보마다 따로 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 하나가 행이 되는 과정을 다시 보겠습니다. 위가 매뉴얼의 문장이고 아래가 옮긴 행입니다. 문장을 조건, 출력, 대상, 근거의 네 조각으로 나누면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다시 세 부분으로 나뉩니다. 무엇을 보는가가 입력, 어떻게 견주는가가 연산자, 무엇과 견주는가가 기준값입니다. 팬 100 % 연속 운전 시간이 24보다 크다가 그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연산자는 여섯 가지입니다. 프로그래밍 언어에서 쓰는 기호와 같습니다. 눈여겨볼 것은 크다와 크거나 같다, 작다와 작거나 같다의 차이입니다.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예측 유온이 55 이상이라는 조건에서 임계값은 55입니다. 연산자가 이상이므로 정확히 55.0도 조건에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24시간을 넘겼다면입니다. 넘었다는 것은 초과이므로 정확히 24시간은 조건에 맞지 않습니다. 사람이 읽을 때는 대수롭지 않던 차이가 표에서는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됩니다. 유온이 55도를 넘고 65도에 못 미치는 구간은 경보는 났지만 인터록까지는 가지 않은 구간입니다. 범위에서는 두 끝이 각각 포함되는지를 따로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행에 조건이 둘인 예입니다. 정기 정비 도래 경보가 났고, 마지막 정비 뒤의 운전시간이 1,800시간 이상일 때만 정기 정비 방안들을 후보로 올립니다. 둘 가운데 하나만 맞으면 이 행은 맞지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가운데 하나만 맞아도 되는 경우는 한 행에 넣지 않고 행을 둘로 나눕니다. 같은 출력을 내는 행이 둘이면 어느 쪽이 맞든 그 출력이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옮긴 뒤에는 꼭 세 값을 넣어 봅니다. 기준값 자신, 바로 아래, 바로 위입니다. 연산자를 잘못 옮겼다면 기준값 자신에서 드러납니다. 가장 흔한 실수가 여기서 잡힙니다.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쉽습니다. 첫째 결함은 누락입니다. 55 미만은 통과, 60 이상은 제외라고 적었다면 그 사이의 57도에는 맞는 행이 없습니다. 표는 아무 답도 내지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중복입니다. 55 이상이면 경고라는 행이 있는데 58 이상이면 경고라는 행을 또 넣은 경우입니다. 당장 틀린 답이 나오지는 않습니다. 그러나 나중에 기준을 고칠 때 한 행만 고치면 그때부터 표가 어긋납니다.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셋째가 가장 위험한 상충입니다. 55 이상이면 경고, 58 이상이면 제외라는 두 행이 있으면 59도에는 둘 다 맞고 결과가 다릅니다. 후보에 남길지 뺄지를 표가 정해 주지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겹침이 모두 결함인 것은 아닙니다. 팬이 30시간째 최대로 돌았고 예측 유온이 56도라면 감점 행과 경고 행이 함께 맞습니다. 이것은 잘못이 아니라 실제로 둘 다 해당하는 상황입니다. 이때 어떻게 할지를 미리 정해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약속이 Hit Policy입니다. 행이 맞는 것을 hit이라고 하고, 여러 행이 맞았을 때 어떻게 처리할지를 표마다 하나 정해 둡니다. 대표적인 네 가지를 같은 표로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첫째는 Unique입니다. 한 번에 한 행만 맞아야 한다는 방식입니다. 두 행이 함께 맞으면 하나를 고르는 것이 아니라 표가 잘못되었다고 봅니다. 답이 반드시 하나여야 하는 판단에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First입니다. 표를 위에서부터 차례로 보다가 처음 맞은 행의 출력을 씁니다. 여기서는 둘째 행이 먼저 맞으므로 답은 감점입니다. 이 방식에서는 행을 적는 순서가 결과를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Priority입니다. 행의 순서가 아니라 출력에 우선순위를 매겨 둡니다. 제외, 경고, 감점의 차례로 매겼다면 맞은 두 행 가운데 경고가 더 높으므로 답은 경고입니다.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Collect입니다. 맞은 행 가운데 하나를 고르지 않고 출력을 모두 모읍니다. 이 후보에는 감점과 경고가 함께 붙습니다. 해당하는 것을 빠짐없이 알아야 하는 판단에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표와 같은 입력인데 Hit Policy에 따라 답이 넷으로 갈렸습니다. 어느 것이 옳은 것이 아니라 표의 목적에 따라 고릅니다. 답이 하나여야 하면 Unique, 빠짐없이 모아야 하면 Collect입니다.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것이 HYD에서 쓰이는 모습입니다. 조치 판단은 네 결정으로 나뉘어 차례로 이어집니다. 후보 선택과 규정 적합성은 해당하는 것을 모두 모아야 하므로 Collect이고, 순위를 매기는 기준은 하나여야 하므로 Unique입니다.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규칙의 출력을 종류별로 보겠습니다. 첫째는 후보 선택입니다. 고장 유형이 쿨러 냉각 성능 상실이면 완화 조치 셋이 후보가 되고, 원인이 핀 오염이면 핀 세척이 더해져 넷이 됩니다. 앞에서 본 네 후보가 이렇게 나온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제외입니다. 운전 모드가 원격 자동이 아니면 원격 조치 셋을 후보에서 뺍니다. 제외된 조치는 다른 면에서 아무리 좋아도 고를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감점입니다. 팬을 24시간 넘게 최대로 돌린 상태에서 또 팬을 올리는 조치는 할 수는 있습니다. 다만 팬 수명이 줄어드는 만큼 20만 원을 깎아서 다른 후보와 견줍니다. 근거는 HM-8.8입니다.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경고입니다. 조치 후 예측 유온이 55도 이상이면 경보가 풀리지 않을 수 있다는 경고를 붙입니다. 쿨러 과열 사건에서는 쿨러 핀 세척에 붙었습니다. 핀 세척은 지금의 유온을 내리는 조치가 아니기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판정을 구분해 둡니다. 제외는 해서는 안 되는 것입니다. 감점은 해도 되지만 대가가 있는 것이고, 경고는 해도 되지만 알고 해야 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내려지면 무엇이 남는지 보겠습니다. 어느 규칙이 어떤 조건으로 걸렸는지, 판정이 무엇인지, 근거가 어느 절인지가 한 묶음으로 남습니다. 이 기록이 있어야 승인하는 사람이 이유를 읽고 원문을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값을 얻지 못했을 때입니다. 통신이 끊겨 운전 모드를 읽지 못했다고 하겠습니다. 값이 없으니 조건이 맞지 않았다고 보고 넘어가면 위험한 조치가 후보에 남습니다. 그래서 모르는 조건은 통과로 치지 않고 제외 쪽으로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조건 문장을 결정표의 행으로 옮기고, 지금의 값을 대어 보면 근거가 붙은 판정이 나옵니다. 여기까지 오면 해서는 안 되는 조치가 걸러집니다. 남은 후보 가운데 무엇이 나은지는 성과 기준으로 따집니다.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어느 것이 더 나은가입니다. 지난 사건에서는 설비가 원격 자동이었고 팬은 60 %로 돌고 있었으므로 제외된 후보가 없었습니다. 그래프는 후보마다 조치를 했을 때 유온이 어디에 머물지를 계산한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문제였으니 유온을 가장 많이 내리는 조치가 1순위일 것 같습니다. 그런데 5도나 덜 내리는 팬 최대 운전이 1순위였습니다. 유온 말고 무엇을 함께 따졌는지를 이 단원에서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이익 하나로만 보면 문제가 있습니다. 이익은 일이 다 끝난 뒤에 나오는 숫자여서, 보았을 때는 이미 손쓸 시간이 지났습니다.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여러 관점에서 함께 보는 틀이 BSC, Balanced Scorecard입니다. 균형 성과표라고 옮깁니다. 네 관점마다 목표와 지표를 둡니다. HYD의 공장이 관점마다 세워 둔 목표를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맨 위가 재무 관점입니다. 결과가 돈으로 어떻게 나타나는가를 봅니다. HYD의 공장은 영업이익 확대와 원가 절감을 목표로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고객 관점입니다. 고객에게 무엇을 지키는가를 봅니다. 약속한 날짜에 납품하는 납기 신뢰와, 불량 없이 납품하는 품질 신뢰가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내부 프로세스 관점입니다. 고객에게 한 약속을 지키려면 안에서 무엇을 잘 운영해야 하는가를 봅니다. 설비가 필요할 때 돌 수 있게 하는 가용성, 인터록 한계를 넘지 않는 무재해 운전, 에너지 효율이 목표입니다. 유온을 다루는 쿨러 과열 사건이 이 관점에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학습과 성장 관점입니다. 계속 나아지려면 무엇을 쌓아야 하는가를 봅니다. HYD의 목표는 현장 판단 지식 축적입니다.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상자 하나하나가 전략 목표입니다. 이루려는 상태를 말로 적은 것입니다. 무재해 운전에는 인터록 한계를 넘지 않는다는 설명이 붙어 있습니다. 방향은 분명하지만, 지금 얼마나 잘하고 있는지는 이 말만으로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목표마다 그것을 재는 수치를 붙입니다. 이것이 KPI, Key Performance Indicator입니다. 무재해 운전에는 인터록 여유가, 납기 신뢰에는 납기 준수율이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둘의 차이를 정리합니다. 목표는 말이고 KPI는 수치입니다. 그리고 목표가 먼저입니다. KPI는 목표를 재는 수단일 뿐이어서, 순서가 뒤집히면 숫자를 맞추는 것 자체가 일이 되어 버립니다.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하나가 갖추어야 할 항목을 인터록 여유로 보겠습니다. 첫째는 정의입니다. 인터록 여유는 유온 한계 65도에서 그 기간의 최고 유온을 뺀 값입니다. 인터록에 얼마나 가까이 갔는지를 숫자 하나로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둘째는 단위와 방향입니다. 인터록 여유는 클수록 좋고, 납기를 어겨 무는 지체상금은 작을수록 좋습니다. 방향이 정해져 있지 않으면 숫자가 커졌을 때 좋아진 것인지 나빠진 것인지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목표값입니다. 인터록 여유의 목표값은 10입니다. 한계가 65이므로 최고 유온을 55도 이하로 지켜야 목표를 이룹니다. 목표값이 있어야 잰 숫자가 충분한지를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측정 주기와 책임 부서입니다. 인터록 여유는 실시간으로 재고, 지체상금은 달마다 집계합니다. 지표마다 관리하는 부서도 정해져 있습니다. 설비에 가까운 지표일수록 자주 재는 것을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실제값입니다. 어느 24시간의 기록에서 HYD-01의 유온이 62.47도까지 올랐습니다. 그래서 인터록 여유의 실제값은 2.53입니다. 그 하루 동안 설비가 인터록에 2.5도 앞까지 갔다는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여섯째는 목표 대비 차이입니다. 목표 10에 실제값이 2.53이므로 7.47이 모자라고, 달성률로는 25.3 %입니다. 미달입니다. 지표는 이렇게 정의, 단위, 목표값, 주기가 정해져 있어야 잰 값을 놓고 목표와의 거리를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24시간에 설비 가동률은 100 %로 목표를 달성했고 설비는 한 번도 서지 않았습니다. 그런데 인터록 여유는 미달이었습니다. 서지는 않았지만 설 뻔했던 것입니다. 가동률만 보았다면 이 위험은 보이지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목표는 따로 떨어져 있지 않습니다. 목표 사이의 인과를 그린 것이 전략맵이고 아래에서 위로 읽습니다. 현장 판단 지식 축적과 무재해 운전이 설비 가용성 확보를 뒷받침합니다. 인터록에 걸려 설비가 서지 않아야 가용성이 지켜지기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층 올라갑니다. 설비 가용성 확보가 납기 신뢰를 뒷받침합니다. 설비가 필요할 때 돌 수 있어야 약속한 날짜에 물량을 채울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맨 위까지 올라갑니다. 납기 신뢰와 품질 신뢰가 영업이익 확대로 이어집니다. 이제 유온을 관리하는 현장의 일이 무재해 운전, 설비 가용성, 납기 신뢰를 거쳐 영업이익까지 이어진다는 것이 한 줄로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오른쪽에 길이 하나 더 있습니다. 에너지 효율이 원가 절감을 뒷받침하고 원가 절감이 영업이익 확대로 이어집니다. 팬을 최대로 돌리면 왼쪽 길에는 이롭지만 전력을 더 쓰므로 오른쪽 길에는 불리합니다.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지표에는 성격이 다른 두 종류가 있습니다. 후행 지표는 이미 나온 결과를 잽니다. 납기 준수율과 지체상금이 그렇습니다. 얻고자 하는 결과를 알려 주지만, 숫자를 보았을 때는 이미 지나간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지표는 그 결과를 움직이는 동인을 잽니다. 생산량과 인터록 여유가 그렇습니다. 실시간으로 잴 수 있어서 결과가 나오기 전에 손을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한 줄로 이어집니다. 펌프 부하를 낮추면 생산량이 줄고, 생산량이 줄면 납기 준수율이 떨어지며, 납기를 어기면 지체상금이 늘어납니다. 조치가 곧바로 바꾸는 것은 왼쪽의 설비 값과 선행 지표이고, 후행 지표는 이 줄을 따라가 보아야 압니다.</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3순위 조치가 성과에 닿는 길을 따라가 보겠습니다. 조치는 성과 지표를 직접 바꾸지 않습니다. 설비의 값을 바꿉니다. 이 조치는 팬 속도를 올리고 펌프 부하를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올리면 냉각이 늘어 유온이 내려갑니다. 부하를 내려도 발열이 줄어 유온이 내려갑니다. 두 길이 유온에서 만나므로 이 조치가 유온을 가장 많이 내립니다. 유온이 내려가면 인터록 여유가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같은 값이 다른 쪽으로도 영향을 줍니다. 팬 속도를 올리면 전력 사용량이 늘어납니다. 에너지 효율이라는 목표에는 불리합니다.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펌프 부하 쪽도 마찬가지입니다. 부하를 내리면 유온에는 이롭지만 생산량이 줄고 납기 준수율이 낮아집니다. 납기 신뢰라는 목표에 불리합니다.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하나가 한 목표에는 이롭고 다른 목표에는 해로운 것을 성과의 상충이라고 합니다. 이 조치는 무재해 운전에는 가장 이롭지만 에너지 효율과 납기 신뢰에는 불리합니다.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저울질의 실제 결과입니다. 네 후보에 점수가 매겨졌고 팬 최대 운전이 가장 높았습니다. 부하를 낮추는 두 조치는 유온을 더 내리는데도 점수가 낮습니다.</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3순위 조치를 1순위와 견준 내역입니다. 유온을 더 내려서 0.26점을 얻었습니다. 그러나 부하를 낮추면 생산이 줄어 납기에서 0.67점, 성과 지표에서 0.22점을 잃었습니다. 얻은 것보다 잃은 것이 큽니다.</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핀 세척은 원인을 없애는 유일한 조치인데 4순위입니다. 지금의 유온을 내리지 못하기 때문입니다. 예측 유온이 62.5도로 경보 기준을 넘고, 경고가 붙었으며, 품질에서도 깎였습니다. 그래서 지난 사건에서는 먼저 팬 최대 운전으로 유온을 내리고 핀 세척은 뒤에 이어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조치는 조치 자체에 정해져 있지 않습니다. 긴급 오더가 없었다면 납기에서 잃을 것이 없으므로 유온을 더 내리는 조치가 올라왔을 것입니다. 상황과 기준이 순위를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단원의 규칙과 이 단원의 기준은 성격이 다릅니다. 규칙은 통과 아니면 제외이고, 걸린 조치는 다른 면에서 아무리 좋아도 되살아나지 않습니다. 기준은 더 낫다, 덜 낫다의 문제여서 한쪽의 손해를 다른 쪽의 이득으로 메울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둘을 섞으면 두 가지 잘못이 생깁니다. 안전 조건을 점수의 한 항목으로 넣으면 다른 점수가 높을 때 위험한 조치가 뽑힙니다. 반대로 비용처럼 견주어야 할 것을 제외 조건으로 넣으면 고를 것이 남지 않습니다. 조건 하나를 적을 때마다 이것이 넘으면 안 되는 선인지, 견주어 볼 값인지를 먼저 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감점은 이 둘의 사이에 있습니다. 규칙에서 나오지만 후보를 빼지 않고, 점수로 넘어가 다른 득실과 함께 견주어집니다. 해도 되지만 대가가 있다는 뜻이 이렇게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달랐으리라고 했습니다. 그것을 실제로 계산해 보는 방법이 What-if 분석입니다. 판단 한 건에 쓰인 후보와 규칙과 입력 값을 그대로 가져와 사본을 만드는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사본에서 값 하나를 바꿉니다. 납기까지 남은 시간을 늘려 보거나, 납기를 어겼을 때의 위약금을 올려 보거나, 전력 단가를 바꾸어 봅니다.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가정값을 넣어 순위를 다시 계산하고, 원래의 결과와 나란히 놓습니다. 위가 지금의 값으로 계산한 기준 결과이고 아래가 가정값으로 계산한 시험 결과입니다. 둘을 견주면 그 값이 순위에 얼마나 영향을 주는지가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가정값을 조금씩 바꾸다 보면 1순위가 달라지는 지점이 나옵니다. 그 값이 순위의 경계값입니다. 지금의 값이 이 값에서 멀면 추천은 튼튼하고, 가까우면 값이 조금만 달라져도 뒤집힙니다.</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가정값은 사본의 계산에만 쓰입니다. 납기를 48시간으로 넣어 보았다고 실제 납기가 바뀌지는 않습니다. What-if 분석은 결정을 내리기 전에 따져 보는 데 씁니다.</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What-if 분석에는 한계가 셋 있습니다. 계산에 넣는 값의 일부는 가정이고, 조치 후의 유온은 모델이 계산한 예측값이며, 어느 가정이 현실에 가까운지는 분석이 알려 주지 않습니다. 그것을 판단하는 것은 승인하는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예측만 믿고 끝내지 않습니다. 팬 최대 운전의 SOP는 15분 재관측으로 끝납니다. 예측은 조치를 고르는 데 쓰고, 재관측은 조치가 실제로 들었는지를 판정하는 데 씁니다. 첫 단원에서 본 완료 확인 기준이 이 자리에서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줄거리를 한 줄로 모았습니다. 원인이 가려진 뒤에 SOP가 후보를 정하고, 결정표가 해서는 안 되는 것을 가리고, 성과 기준이 남은 후보의 득실을 견줍니다. 그렇게 나온 추천을 근거와 함께 읽고 결정하는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VS Code에서 Claude Code로 진행하는 랩입니다. 앞 시간에 만든 설비 모델에 고장 유형과 조치 방법을 연결하고, SOP의 문장을 순서와 조건으로 갈라 조건 쪽을 결정표의 행으로 옮깁니다. 끝나면 SOP 구조와 결정표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평가하는 작은 판정 기능을 만듭니다. 만든 뒤에는 네 가지 경우를 넣어 확인합니다. 정상 조건, 경계값, 여러 규칙이 함께 맞는 경우, 그리고 모든 후보가 제외되는 경우입니다. 마지막 경우에 억지로 하나를 추천하지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이 여섯 개와 함께 결정표, 입력 데이터, 규칙, Hit Policy, 전략 목표, 전략맵, 선행 지표와 후행 지표, What-if 분석이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Policy에 따라 같은 입력의 결과가 달라진다는 점을 확인하는 문항입니다. 보기 2번과 3번이 각각 어떤 Hit Policy였다면 맞는 답이 되는지도 함께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팬을 건드리지 않더라도 부하를 낮추는 것이 원격 제어이므로 제외됩니다. 둘째 문항의 2번은 First였다면, 3번은 Unique였다면 맞는 답입니다. 셋째 문항은 오늘의 줄거리 전체입니다.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7.png"/><Relationship Id="rId5"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6.png"/><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6.png"/><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9.png"/><Relationship Id="rId4" Type="http://schemas.openxmlformats.org/officeDocument/2006/relationships/image" Target="../media/image31.png"/><Relationship Id="rId5"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5.png"/><Relationship Id="rId4" Type="http://schemas.openxmlformats.org/officeDocument/2006/relationships/image" Target="../media/image18.png"/><Relationship Id="rId5" Type="http://schemas.openxmlformats.org/officeDocument/2006/relationships/image" Target="../media/image4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7.png"/><Relationship Id="rId4" Type="http://schemas.openxmlformats.org/officeDocument/2006/relationships/image" Target="../media/image6.png"/><Relationship Id="rId5" Type="http://schemas.openxmlformats.org/officeDocument/2006/relationships/image" Target="../media/image2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6.png"/><Relationship Id="rId4" Type="http://schemas.openxmlformats.org/officeDocument/2006/relationships/image" Target="../media/image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5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5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png"/><Relationship Id="rId4" Type="http://schemas.openxmlformats.org/officeDocument/2006/relationships/image" Target="../media/image5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8.png"/><Relationship Id="rId4" Type="http://schemas.openxmlformats.org/officeDocument/2006/relationships/image" Target="../media/image57.png"/><Relationship Id="rId5" Type="http://schemas.openxmlformats.org/officeDocument/2006/relationships/image" Target="../media/image5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7.png"/><Relationship Id="rId4" Type="http://schemas.openxmlformats.org/officeDocument/2006/relationships/image" Target="../media/image59.png"/><Relationship Id="rId5" Type="http://schemas.openxmlformats.org/officeDocument/2006/relationships/image" Target="../media/image6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4.png"/><Relationship Id="rId4" Type="http://schemas.openxmlformats.org/officeDocument/2006/relationships/image" Target="../media/image37.png"/><Relationship Id="rId5" Type="http://schemas.openxmlformats.org/officeDocument/2006/relationships/image" Target="../media/image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5.png"/><Relationship Id="rId4" Type="http://schemas.openxmlformats.org/officeDocument/2006/relationships/image" Target="../media/image1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7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5.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60.png"/><Relationship Id="rId4" Type="http://schemas.openxmlformats.org/officeDocument/2006/relationships/image" Target="../media/image16.png"/><Relationship Id="rId5" Type="http://schemas.openxmlformats.org/officeDocument/2006/relationships/image" Target="../media/image77.png"/><Relationship Id="rId6" Type="http://schemas.openxmlformats.org/officeDocument/2006/relationships/image" Target="../media/image6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7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58.png"/><Relationship Id="rId4" Type="http://schemas.openxmlformats.org/officeDocument/2006/relationships/image" Target="../media/image1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36.png"/><Relationship Id="rId4" Type="http://schemas.openxmlformats.org/officeDocument/2006/relationships/image" Target="../media/image79.png"/><Relationship Id="rId5" Type="http://schemas.openxmlformats.org/officeDocument/2006/relationships/image" Target="../media/image1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37.png"/><Relationship Id="rId4" Type="http://schemas.openxmlformats.org/officeDocument/2006/relationships/image" Target="../media/image80.png"/><Relationship Id="rId5" Type="http://schemas.openxmlformats.org/officeDocument/2006/relationships/image" Target="../media/image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5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81.png"/><Relationship Id="rId4" Type="http://schemas.openxmlformats.org/officeDocument/2006/relationships/image" Target="../media/image1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47.png"/><Relationship Id="rId6" Type="http://schemas.openxmlformats.org/officeDocument/2006/relationships/image" Target="../media/image2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8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78.png"/><Relationship Id="rId4" Type="http://schemas.openxmlformats.org/officeDocument/2006/relationships/image" Target="../media/image38.png"/><Relationship Id="rId5" Type="http://schemas.openxmlformats.org/officeDocument/2006/relationships/image" Target="../media/image8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80.png"/><Relationship Id="rId4" Type="http://schemas.openxmlformats.org/officeDocument/2006/relationships/image" Target="../media/image4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84.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85.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86.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87.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66.png"/><Relationship Id="rId4" Type="http://schemas.openxmlformats.org/officeDocument/2006/relationships/image" Target="../media/image88.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89.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image" Target="../media/image67.png"/><Relationship Id="rId4" Type="http://schemas.openxmlformats.org/officeDocument/2006/relationships/image" Target="../media/image80.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90.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image" Target="../media/image8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9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68.png"/><Relationship Id="rId4" Type="http://schemas.openxmlformats.org/officeDocument/2006/relationships/image" Target="../media/image58.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image" Target="../media/image9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9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image" Target="../media/image94.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95.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99.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100.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10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10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image" Target="../media/image10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67.png"/><Relationship Id="rId4" Type="http://schemas.openxmlformats.org/officeDocument/2006/relationships/image" Target="../media/image98.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image" Target="../media/image38.png"/><Relationship Id="rId4" Type="http://schemas.openxmlformats.org/officeDocument/2006/relationships/image" Target="../media/image58.png"/><Relationship Id="rId5" Type="http://schemas.openxmlformats.org/officeDocument/2006/relationships/image" Target="../media/image104.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98.png"/><Relationship Id="rId4" Type="http://schemas.openxmlformats.org/officeDocument/2006/relationships/image" Target="../media/image8.png"/><Relationship Id="rId5" Type="http://schemas.openxmlformats.org/officeDocument/2006/relationships/image" Target="../media/image7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image" Target="../media/image17.png"/><Relationship Id="rId4" Type="http://schemas.openxmlformats.org/officeDocument/2006/relationships/image" Target="../media/image8.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58.png"/><Relationship Id="rId4" Type="http://schemas.openxmlformats.org/officeDocument/2006/relationships/image" Target="../media/image79.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image" Target="../media/image6.png"/><Relationship Id="rId4" Type="http://schemas.openxmlformats.org/officeDocument/2006/relationships/image" Target="../media/image80.png"/><Relationship Id="rId5" Type="http://schemas.openxmlformats.org/officeDocument/2006/relationships/image" Target="../media/image78.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05.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image" Target="../media/image106.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07.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08.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image" Target="../media/image109.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image" Target="../media/image110.png"/><Relationship Id="rId4" Type="http://schemas.openxmlformats.org/officeDocument/2006/relationships/image" Target="../media/image57.png"/><Relationship Id="rId5" Type="http://schemas.openxmlformats.org/officeDocument/2006/relationships/image" Target="../media/image2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image" Target="../media/image57.png"/><Relationship Id="rId4" Type="http://schemas.openxmlformats.org/officeDocument/2006/relationships/image" Target="../media/image1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2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 Id="rId3" Type="http://schemas.openxmlformats.org/officeDocument/2006/relationships/image" Target="../media/image111.png"/><Relationship Id="rId4" Type="http://schemas.openxmlformats.org/officeDocument/2006/relationships/image" Target="../media/image8.png"/><Relationship Id="rId5" Type="http://schemas.openxmlformats.org/officeDocument/2006/relationships/image" Target="../media/image46.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5.png"/><Relationship Id="rId6" Type="http://schemas.openxmlformats.org/officeDocument/2006/relationships/image" Target="../media/image6.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 Id="rId3" Type="http://schemas.openxmlformats.org/officeDocument/2006/relationships/image" Target="../media/image68.png"/><Relationship Id="rId4" Type="http://schemas.openxmlformats.org/officeDocument/2006/relationships/image" Target="../media/image88.png"/><Relationship Id="rId5" Type="http://schemas.openxmlformats.org/officeDocument/2006/relationships/image" Target="../media/image65.png"/><Relationship Id="rId6" Type="http://schemas.openxmlformats.org/officeDocument/2006/relationships/image" Target="../media/image7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3일차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상황에 맞는 안전하고</a:t>
            </a:r>
          </a:p>
          <a:p>
            <a:pPr algn="l">
              <a:lnSpc>
                <a:spcPct val="110000"/>
              </a:lnSpc>
            </a:pPr>
            <a:r>
              <a:rPr sz="4000" b="1">
                <a:solidFill>
                  <a:srgbClr val="FFFFFF"/>
                </a:solidFill>
                <a:latin typeface="맑은 고딕"/>
                <a:ea typeface="맑은 고딕"/>
                <a:cs typeface="맑은 고딕"/>
              </a:rPr>
              <a:t>효과적인 조치의 선택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조치 절차, 판단 규칙, 성과 기준으로 조치 하나를 고르는 과정</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뒤에 조치 하나를 고르기까지 필요한 절차,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절차</a:t>
            </a:r>
          </a:p>
          <a:p>
            <a:pPr algn="l">
              <a:lnSpc>
                <a:spcPct val="110000"/>
              </a:lnSpc>
              <a:spcAft>
                <a:spcPts val="400"/>
              </a:spcAft>
            </a:pPr>
            <a:r>
              <a:rPr sz="1350" b="0">
                <a:solidFill>
                  <a:srgbClr val="1F2A3A"/>
                </a:solidFill>
                <a:latin typeface="맑은 고딕"/>
                <a:ea typeface="맑은 고딕"/>
                <a:cs typeface="맑은 고딕"/>
              </a:rPr>
              <a:t>• 표준 작업 절차의 구성요소를 원문에서 찾아낸다</a:t>
            </a:r>
          </a:p>
          <a:p>
            <a:pPr algn="l">
              <a:lnSpc>
                <a:spcPct val="110000"/>
              </a:lnSpc>
              <a:spcAft>
                <a:spcPts val="400"/>
              </a:spcAft>
            </a:pPr>
            <a:r>
              <a:rPr sz="1350" b="0">
                <a:solidFill>
                  <a:srgbClr val="1F2A3A"/>
                </a:solidFill>
                <a:latin typeface="맑은 고딕"/>
                <a:ea typeface="맑은 고딕"/>
                <a:cs typeface="맑은 고딕"/>
              </a:rPr>
              <a:t>• 절차의 순서와 조건을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350" b="0">
                <a:solidFill>
                  <a:srgbClr val="1F2A3A"/>
                </a:solidFill>
                <a:latin typeface="맑은 고딕"/>
                <a:ea typeface="맑은 고딕"/>
                <a:cs typeface="맑은 고딕"/>
              </a:rPr>
              <a:t>• 조건 문장을 결정표의 한 행으로 옮긴다</a:t>
            </a:r>
          </a:p>
          <a:p>
            <a:pPr algn="l">
              <a:lnSpc>
                <a:spcPct val="110000"/>
              </a:lnSpc>
              <a:spcAft>
                <a:spcPts val="400"/>
              </a:spcAft>
            </a:pPr>
            <a:r>
              <a:rPr sz="1350" b="0">
                <a:solidFill>
                  <a:srgbClr val="1F2A3A"/>
                </a:solidFill>
                <a:latin typeface="맑은 고딕"/>
                <a:ea typeface="맑은 고딕"/>
                <a:cs typeface="맑은 고딕"/>
              </a:rPr>
              <a:t>• 여러 행이 맞을 때의 처리 방식을 설명한다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평가</a:t>
            </a:r>
          </a:p>
          <a:p>
            <a:pPr algn="l">
              <a:lnSpc>
                <a:spcPct val="110000"/>
              </a:lnSpc>
              <a:spcAft>
                <a:spcPts val="400"/>
              </a:spcAft>
            </a:pPr>
            <a:r>
              <a:rPr sz="1350" b="0">
                <a:solidFill>
                  <a:srgbClr val="1F2A3A"/>
                </a:solidFill>
                <a:latin typeface="맑은 고딕"/>
                <a:ea typeface="맑은 고딕"/>
                <a:cs typeface="맑은 고딕"/>
              </a:rPr>
              <a:t>조치 하나가 여러 성과 지표에 미치는 영향을 비교한다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cale" descr="scal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조치의 선택</a:t>
            </a:r>
          </a:p>
          <a:p>
            <a:pPr algn="l">
              <a:lnSpc>
                <a:spcPct val="110000"/>
              </a:lnSpc>
              <a:spcAft>
                <a:spcPts val="400"/>
              </a:spcAft>
            </a:pPr>
            <a:r>
              <a:rPr sz="1350" b="0">
                <a:solidFill>
                  <a:srgbClr val="1F2A3A"/>
                </a:solidFill>
                <a:latin typeface="맑은 고딕"/>
                <a:ea typeface="맑은 고딕"/>
                <a:cs typeface="맑은 고딕"/>
              </a:rPr>
              <a:t>가능 여부를 가리는 규칙과 효과를 견주는 기준을 구분해 조치를 고른다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선택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절차와 수행 기준</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조치를 가리는 판단 규칙</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성과 관점의 조치 평가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 절차와 수행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원인이 가려진 뒤에 조치를 어떤 순서와 조건으로 수행하는가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사건의 도달점: 확인된 원인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 상승 경보에서 관계를 따라가 원인이 </a:t>
            </a:r>
            <a:r>
              <a:rPr sz="1600" b="1">
                <a:solidFill>
                  <a:srgbClr val="1A6FC4"/>
                </a:solidFill>
                <a:latin typeface="맑은 고딕"/>
                <a:ea typeface="맑은 고딕"/>
                <a:cs typeface="맑은 고딕"/>
              </a:rPr>
              <a:t>쿨러 핀 오염</a:t>
            </a:r>
            <a:r>
              <a:rPr sz="1600" b="0">
                <a:solidFill>
                  <a:srgbClr val="556175"/>
                </a:solidFill>
                <a:latin typeface="맑은 고딕"/>
                <a:ea typeface="맑은 고딕"/>
                <a:cs typeface="맑은 고딕"/>
              </a:rPr>
              <a:t>이라는 데까지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조치후보_0.svg" descr="illust_643162513742420203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7732271" y="366043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일</a:t>
            </a:r>
          </a:p>
          <a:p>
            <a:pPr algn="ctr">
              <a:lnSpc>
                <a:spcPct val="110000"/>
              </a:lnSpc>
              <a:spcAft>
                <a:spcPts val="100"/>
              </a:spcAft>
            </a:pPr>
            <a:r>
              <a:rPr sz="1300" b="0">
                <a:solidFill>
                  <a:srgbClr val="556175"/>
                </a:solidFill>
                <a:latin typeface="맑은 고딕"/>
                <a:ea typeface="맑은 고딕"/>
                <a:cs typeface="맑은 고딕"/>
              </a:rPr>
              <a:t>무엇을 할지는 아직 정해지지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조치후보_전체.svg" descr="illust_469901243833273215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p:txBody>
      </p:sp>
      <p:sp>
        <p:nvSpPr>
          <p:cNvPr id="10" name="TextBox 9"/>
          <p:cNvSpPr txBox="1"/>
          <p:nvPr/>
        </p:nvSpPr>
        <p:spPr>
          <a:xfrm>
            <a:off x="8550483" y="3234964"/>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p:txBody>
      </p:sp>
      <p:sp>
        <p:nvSpPr>
          <p:cNvPr id="11" name="TextBox 10"/>
          <p:cNvSpPr txBox="1"/>
          <p:nvPr/>
        </p:nvSpPr>
        <p:spPr>
          <a:xfrm>
            <a:off x="8550483" y="4402643"/>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p:txBody>
      </p:sp>
      <p:sp>
        <p:nvSpPr>
          <p:cNvPr id="12" name="TextBox 11"/>
          <p:cNvSpPr txBox="1"/>
          <p:nvPr/>
        </p:nvSpPr>
        <p:spPr>
          <a:xfrm>
            <a:off x="8550483" y="5565596"/>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후보 ①: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쿨러 팬의 속도를 100 %로 올려 바람을 늘리는 조치이며 생산은 그대로 유지된다.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조치후보_1.svg" descr="illust_8550169021015344621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1864004"/>
            <a:ext cx="294556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팬 속도를 100 %로 올린다</a:t>
            </a:r>
          </a:p>
          <a:p>
            <a:pPr algn="ctr">
              <a:lnSpc>
                <a:spcPct val="110000"/>
              </a:lnSpc>
              <a:spcAft>
                <a:spcPts val="100"/>
              </a:spcAft>
            </a:pPr>
            <a:r>
              <a:rPr sz="1300" b="0">
                <a:solidFill>
                  <a:srgbClr val="556175"/>
                </a:solidFill>
                <a:latin typeface="맑은 고딕"/>
                <a:ea typeface="맑은 고딕"/>
                <a:cs typeface="맑은 고딕"/>
              </a:rPr>
              <a:t>생산은 그대로 유지된다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후보 ②: 팬 최대 운전과 부하 80 %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후보는 팬을 올리는 데 더해 펌프 부하를 80 %로 낮추므로 유온은 더 내려가지만 생산 속도가 줄어든다.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조치후보_2.svg" descr="illust_104607271367951730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3022229"/>
            <a:ext cx="294556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팬을 올리고 펌프 부하를 낮춘다</a:t>
            </a:r>
          </a:p>
          <a:p>
            <a:pPr algn="ctr">
              <a:lnSpc>
                <a:spcPct val="110000"/>
              </a:lnSpc>
              <a:spcAft>
                <a:spcPts val="100"/>
              </a:spcAft>
            </a:pPr>
            <a:r>
              <a:rPr sz="1300" b="0">
                <a:solidFill>
                  <a:srgbClr val="556175"/>
                </a:solidFill>
                <a:latin typeface="맑은 고딕"/>
                <a:ea typeface="맑은 고딕"/>
                <a:cs typeface="맑은 고딕"/>
              </a:rPr>
              <a:t>생산 속도가 줄어든다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후보 ③: 부하 70 %와 야간 핀 세척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후보는 팬은 그대로 두고 부하만 70 %로 낮춘 뒤, 밤의 정비 시간에 핀 세척을 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조치후보_3.svg" descr="illust_791297712540497104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4180453"/>
            <a:ext cx="2945563"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부하 70 %와 야간 핀 세척</a:t>
            </a:r>
          </a:p>
          <a:p>
            <a:pPr algn="ctr">
              <a:lnSpc>
                <a:spcPct val="110000"/>
              </a:lnSpc>
              <a:spcAft>
                <a:spcPts val="100"/>
              </a:spcAft>
            </a:pPr>
            <a:r>
              <a:rPr sz="1300" b="0">
                <a:solidFill>
                  <a:srgbClr val="556175"/>
                </a:solidFill>
                <a:latin typeface="맑은 고딕"/>
                <a:ea typeface="맑은 고딕"/>
                <a:cs typeface="맑은 고딕"/>
              </a:rPr>
              <a:t>부하를 낮춰 버티고 밤에 핀을 세척한다</a:t>
            </a:r>
          </a:p>
          <a:p>
            <a:pPr algn="ctr">
              <a:lnSpc>
                <a:spcPct val="110000"/>
              </a:lnSpc>
              <a:spcAft>
                <a:spcPts val="100"/>
              </a:spcAft>
            </a:pPr>
            <a:r>
              <a:rPr sz="1300" b="0">
                <a:solidFill>
                  <a:srgbClr val="556175"/>
                </a:solidFill>
                <a:latin typeface="맑은 고딕"/>
                <a:ea typeface="맑은 고딕"/>
                <a:cs typeface="맑은 고딕"/>
              </a:rPr>
              <a:t>생산 속도가 줄어든다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후보 ④: 쿨러 핀 세척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넷째 후보는 설비를 세우고 핀을 세척하는 정비 작업으로, 넷 가운데 원인을 없애는 유일한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조치후보_4.svg" descr="illust_350799778654089773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5338678"/>
            <a:ext cx="294556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설비를 세우고 핀을 세척한다</a:t>
            </a:r>
          </a:p>
          <a:p>
            <a:pPr algn="ctr">
              <a:lnSpc>
                <a:spcPct val="110000"/>
              </a:lnSpc>
              <a:spcAft>
                <a:spcPts val="100"/>
              </a:spcAft>
            </a:pPr>
            <a:r>
              <a:rPr sz="1300" b="0">
                <a:solidFill>
                  <a:srgbClr val="556175"/>
                </a:solidFill>
                <a:latin typeface="맑은 고딕"/>
                <a:ea typeface="맑은 고딕"/>
                <a:cs typeface="맑은 고딕"/>
              </a:rPr>
              <a:t>원인을 없앤다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진단과 조치 결정: 서로 다른 두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문제인지를 가리는 진단과, 그래서 무엇을 할지를 정하는 조치 결정은 답의 모양이 다른 별개의 단계이다.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 진단</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왜 이런 값이 되었는가</a:t>
            </a:r>
          </a:p>
          <a:p>
            <a:pPr algn="l">
              <a:lnSpc>
                <a:spcPct val="110000"/>
              </a:lnSpc>
              <a:spcAft>
                <a:spcPts val="600"/>
              </a:spcAft>
            </a:pPr>
            <a:r>
              <a:rPr sz="1450" b="0">
                <a:solidFill>
                  <a:srgbClr val="1F2A3A"/>
                </a:solidFill>
                <a:latin typeface="맑은 고딕"/>
                <a:ea typeface="맑은 고딕"/>
                <a:cs typeface="맑은 고딕"/>
              </a:rPr>
              <a:t>• 쓰는 것: 증상과 원인의 관계, 증거가 되는 센서 값</a:t>
            </a:r>
          </a:p>
          <a:p>
            <a:pPr algn="l">
              <a:lnSpc>
                <a:spcPct val="110000"/>
              </a:lnSpc>
              <a:spcAft>
                <a:spcPts val="600"/>
              </a:spcAft>
            </a:pPr>
            <a:r>
              <a:rPr sz="1450" b="0">
                <a:solidFill>
                  <a:srgbClr val="1F2A3A"/>
                </a:solidFill>
                <a:latin typeface="맑은 고딕"/>
                <a:ea typeface="맑은 고딕"/>
                <a:cs typeface="맑은 고딕"/>
              </a:rPr>
              <a:t>• 답: 원인 하나 — 쿨러 핀 오염</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지난 시간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조치 결정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그래서 무엇을 할 것인가</a:t>
            </a:r>
          </a:p>
          <a:p>
            <a:pPr algn="l">
              <a:lnSpc>
                <a:spcPct val="110000"/>
              </a:lnSpc>
              <a:spcAft>
                <a:spcPts val="600"/>
              </a:spcAft>
            </a:pPr>
            <a:r>
              <a:rPr sz="1450" b="0">
                <a:solidFill>
                  <a:srgbClr val="1F2A3A"/>
                </a:solidFill>
                <a:latin typeface="맑은 고딕"/>
                <a:ea typeface="맑은 고딕"/>
                <a:cs typeface="맑은 고딕"/>
              </a:rPr>
              <a:t>• 쓰는 것: 조치의 절차, 설비의 상태, 성과에 미치는 영향</a:t>
            </a:r>
          </a:p>
          <a:p>
            <a:pPr algn="l">
              <a:lnSpc>
                <a:spcPct val="110000"/>
              </a:lnSpc>
              <a:spcAft>
                <a:spcPts val="600"/>
              </a:spcAft>
            </a:pPr>
            <a:r>
              <a:rPr sz="1450" b="0">
                <a:solidFill>
                  <a:srgbClr val="1F2A3A"/>
                </a:solidFill>
                <a:latin typeface="맑은 고딕"/>
                <a:ea typeface="맑은 고딕"/>
                <a:cs typeface="맑은 고딕"/>
              </a:rPr>
              <a:t>• 답: 후보 넷 가운데 하나</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오늘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조치를 정하는 데 필요한 세 가지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정하려면 수행하는 방법, 지금 해도 되는지의 조건, 후보 사이의 우열을 가리는 기준이 각각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어떻게 수행하는가</a:t>
            </a:r>
          </a:p>
          <a:p>
            <a:pPr algn="l">
              <a:lnSpc>
                <a:spcPct val="110000"/>
              </a:lnSpc>
              <a:spcAft>
                <a:spcPts val="400"/>
              </a:spcAft>
            </a:pPr>
            <a:r>
              <a:rPr sz="1400" b="0">
                <a:solidFill>
                  <a:srgbClr val="1F2A3A"/>
                </a:solidFill>
                <a:latin typeface="맑은 고딕"/>
                <a:ea typeface="맑은 고딕"/>
                <a:cs typeface="맑은 고딕"/>
              </a:rPr>
              <a:t>조치의 단계와 순서, 지켜야 할 안전 조건</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절차</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 해도 되는가</a:t>
            </a:r>
          </a:p>
          <a:p>
            <a:pPr algn="l">
              <a:lnSpc>
                <a:spcPct val="110000"/>
              </a:lnSpc>
              <a:spcAft>
                <a:spcPts val="400"/>
              </a:spcAft>
            </a:pPr>
            <a:r>
              <a:rPr sz="1400" b="0">
                <a:solidFill>
                  <a:srgbClr val="1F2A3A"/>
                </a:solidFill>
                <a:latin typeface="맑은 고딕"/>
                <a:ea typeface="맑은 고딕"/>
                <a:cs typeface="맑은 고딕"/>
              </a:rPr>
              <a:t>설비의 운전 상태와 규정에 비추어 후보를 남기거나 뺀다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어느 것이 더 나은가</a:t>
            </a:r>
          </a:p>
          <a:p>
            <a:pPr algn="l">
              <a:lnSpc>
                <a:spcPct val="110000"/>
              </a:lnSpc>
              <a:spcAft>
                <a:spcPts val="400"/>
              </a:spcAft>
            </a:pPr>
            <a:r>
              <a:rPr sz="1400" b="0">
                <a:solidFill>
                  <a:srgbClr val="1F2A3A"/>
                </a:solidFill>
                <a:latin typeface="맑은 고딕"/>
                <a:ea typeface="맑은 고딕"/>
                <a:cs typeface="맑은 고딕"/>
              </a:rPr>
              <a:t>남은 후보가 안전, 생산, 납기, 비용에 미치는 영향을 견준다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정해져 있지 않을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조치라도 수행하는 순서와 확인하는 항목이 사람마다 다르면 결과도 사람마다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4945570"/>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누가 하든 같은 순서로 한다</a:t>
            </a:r>
          </a:p>
          <a:p>
            <a:pPr algn="l">
              <a:lnSpc>
                <a:spcPct val="110000"/>
              </a:lnSpc>
              <a:spcAft>
                <a:spcPts val="600"/>
              </a:spcAft>
            </a:pPr>
            <a:r>
              <a:rPr sz="1450" b="0">
                <a:solidFill>
                  <a:srgbClr val="1F2A3A"/>
                </a:solidFill>
                <a:latin typeface="맑은 고딕"/>
                <a:ea typeface="맑은 고딕"/>
                <a:cs typeface="맑은 고딕"/>
              </a:rPr>
              <a:t>• 무엇을 확인했는지가 남는다</a:t>
            </a:r>
          </a:p>
          <a:p>
            <a:pPr algn="l">
              <a:lnSpc>
                <a:spcPct val="110000"/>
              </a:lnSpc>
              <a:spcAft>
                <a:spcPts val="600"/>
              </a:spcAft>
            </a:pPr>
            <a:r>
              <a:rPr sz="1450" b="0">
                <a:solidFill>
                  <a:srgbClr val="1F2A3A"/>
                </a:solidFill>
                <a:latin typeface="맑은 고딕"/>
                <a:ea typeface="맑은 고딕"/>
                <a:cs typeface="맑은 고딕"/>
              </a:rPr>
              <a:t>• 끝났다고 보는 기준이 같다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앞에서 본 네 후보가 모두 이 매뉴얼의 SOP이다.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SOP를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작업의 일관성을 지키고 사고를 막으며 수행한 결과를 같은 기준으로 확인하기 위해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일관성</a:t>
            </a:r>
          </a:p>
          <a:p>
            <a:pPr algn="l">
              <a:lnSpc>
                <a:spcPct val="110000"/>
              </a:lnSpc>
              <a:spcAft>
                <a:spcPts val="400"/>
              </a:spcAft>
            </a:pPr>
            <a:r>
              <a:rPr sz="1400" b="0">
                <a:solidFill>
                  <a:srgbClr val="1F2A3A"/>
                </a:solidFill>
                <a:latin typeface="맑은 고딕"/>
                <a:ea typeface="맑은 고딕"/>
                <a:cs typeface="맑은 고딕"/>
              </a:rPr>
              <a:t>경험이 다른 사람이 해도 같은 순서로 한다</a:t>
            </a:r>
          </a:p>
        </p:txBody>
      </p:sp>
      <p:sp>
        <p:nvSpPr>
          <p:cNvPr id="10" name="Rounded Rectangle 9"/>
          <p:cNvSpPr/>
          <p:nvPr/>
        </p:nvSpPr>
        <p:spPr>
          <a:xfrm>
            <a:off x="777240" y="493293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편차를 줄인다</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a:t>
            </a:r>
          </a:p>
          <a:p>
            <a:pPr algn="l">
              <a:lnSpc>
                <a:spcPct val="110000"/>
              </a:lnSpc>
              <a:spcAft>
                <a:spcPts val="400"/>
              </a:spcAft>
            </a:pPr>
            <a:r>
              <a:rPr sz="1400" b="0">
                <a:solidFill>
                  <a:srgbClr val="1F2A3A"/>
                </a:solidFill>
                <a:latin typeface="맑은 고딕"/>
                <a:ea typeface="맑은 고딕"/>
                <a:cs typeface="맑은 고딕"/>
              </a:rPr>
              <a:t>위험한 순서와 빠뜨린 확인을 절차가 막는다</a:t>
            </a:r>
          </a:p>
        </p:txBody>
      </p:sp>
      <p:sp>
        <p:nvSpPr>
          <p:cNvPr id="16" name="Rounded Rectangle 15"/>
          <p:cNvSpPr/>
          <p:nvPr/>
        </p:nvSpPr>
        <p:spPr>
          <a:xfrm>
            <a:off x="4566818" y="4932934"/>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사고를 막는다</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a:t>
            </a:r>
          </a:p>
          <a:p>
            <a:pPr algn="l">
              <a:lnSpc>
                <a:spcPct val="110000"/>
              </a:lnSpc>
              <a:spcAft>
                <a:spcPts val="400"/>
              </a:spcAft>
            </a:pPr>
            <a:r>
              <a:rPr sz="1400" b="0">
                <a:solidFill>
                  <a:srgbClr val="1F2A3A"/>
                </a:solidFill>
                <a:latin typeface="맑은 고딕"/>
                <a:ea typeface="맑은 고딕"/>
                <a:cs typeface="맑은 고딕"/>
              </a:rPr>
              <a:t>끝났다고 보는 기준이 문서에 정해져 있다</a:t>
            </a:r>
          </a:p>
        </p:txBody>
      </p:sp>
      <p:sp>
        <p:nvSpPr>
          <p:cNvPr id="22" name="Rounded Rectangle 21"/>
          <p:cNvSpPr/>
          <p:nvPr/>
        </p:nvSpPr>
        <p:spPr>
          <a:xfrm>
            <a:off x="8356396" y="4932934"/>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결과를 검증한다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 번호: SOP를 가리키는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SOP마다 고유한 절차 번호가 붙으며, 추천과 승인과 작업 기록이 모두 이 번호로 같은 절차를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SOP-COOL-11</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list-check" descr="list-check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추천할 때</a:t>
            </a:r>
          </a:p>
          <a:p>
            <a:pPr algn="l">
              <a:lnSpc>
                <a:spcPct val="110000"/>
              </a:lnSpc>
              <a:spcAft>
                <a:spcPts val="400"/>
              </a:spcAft>
            </a:pPr>
            <a:r>
              <a:rPr sz="1400" b="0">
                <a:solidFill>
                  <a:srgbClr val="1F2A3A"/>
                </a:solidFill>
                <a:latin typeface="맑은 고딕"/>
                <a:ea typeface="맑은 고딕"/>
                <a:cs typeface="맑은 고딕"/>
              </a:rPr>
              <a:t>「SOP-COOL-11 팬 최대 운전」을 권한다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승인할 때</a:t>
            </a:r>
          </a:p>
          <a:p>
            <a:pPr algn="l">
              <a:lnSpc>
                <a:spcPct val="110000"/>
              </a:lnSpc>
              <a:spcAft>
                <a:spcPts val="400"/>
              </a:spcAft>
            </a:pPr>
            <a:r>
              <a:rPr sz="1400" b="0">
                <a:solidFill>
                  <a:srgbClr val="1F2A3A"/>
                </a:solidFill>
                <a:latin typeface="맑은 고딕"/>
                <a:ea typeface="맑은 고딕"/>
                <a:cs typeface="맑은 고딕"/>
              </a:rPr>
              <a:t>어느 절차를 승인하는지가 분명하다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file-text" descr="file-text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기록할 때</a:t>
            </a:r>
          </a:p>
          <a:p>
            <a:pPr algn="l">
              <a:lnSpc>
                <a:spcPct val="110000"/>
              </a:lnSpc>
              <a:spcAft>
                <a:spcPts val="400"/>
              </a:spcAft>
            </a:pPr>
            <a:r>
              <a:rPr sz="1400" b="0">
                <a:solidFill>
                  <a:srgbClr val="1F2A3A"/>
                </a:solidFill>
                <a:latin typeface="맑은 고딕"/>
                <a:ea typeface="맑은 고딕"/>
                <a:cs typeface="맑은 고딕"/>
              </a:rPr>
              <a:t>어느 절차대로 했는지가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냉각 성능 상실에 쓰는 다섯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HM-8은 쿨러 냉각 성능 상실에 대한 다섯 절차를 유온을 당장 내리는 것과 원인을 없애는 것으로 나누어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번호</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SOP-COOL-11</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SOP-COOL-12</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SOP-COOL-13</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SOP-COOL-14</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SOP-COOL-15</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캐비닛 환기 보강</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원문 한 편: SOP-COOL-11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 한 편은 절차의 이름과 번호가 붙은 수행 단계, 그리고 승인할 역할로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절의 첫 문장</a:t>
            </a:r>
          </a:p>
          <a:p>
            <a:pPr algn="l">
              <a:lnSpc>
                <a:spcPct val="110000"/>
              </a:lnSpc>
              <a:spcAft>
                <a:spcPts val="400"/>
              </a:spcAft>
            </a:pPr>
            <a:r>
              <a:rPr sz="1400" b="0">
                <a:solidFill>
                  <a:srgbClr val="1F2A3A"/>
                </a:solidFill>
                <a:latin typeface="맑은 고딕"/>
                <a:ea typeface="맑은 고딕"/>
                <a:cs typeface="맑은 고딕"/>
              </a:rPr>
              <a:t>이 절의 모든 SOP에 걸리는 조건이다.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번호가 붙은 단계</a:t>
            </a:r>
          </a:p>
          <a:p>
            <a:pPr algn="l">
              <a:lnSpc>
                <a:spcPct val="110000"/>
              </a:lnSpc>
              <a:spcAft>
                <a:spcPts val="400"/>
              </a:spcAft>
            </a:pPr>
            <a:r>
              <a:rPr sz="1400" b="0">
                <a:solidFill>
                  <a:srgbClr val="1F2A3A"/>
                </a:solidFill>
                <a:latin typeface="맑은 고딕"/>
                <a:ea typeface="맑은 고딕"/>
                <a:cs typeface="맑은 고딕"/>
              </a:rPr>
              <a:t>확인, 수행, 판정의 차례이다.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다른 절을 가리킨다</a:t>
            </a:r>
          </a:p>
          <a:p>
            <a:pPr algn="l">
              <a:lnSpc>
                <a:spcPct val="110000"/>
              </a:lnSpc>
              <a:spcAft>
                <a:spcPts val="400"/>
              </a:spcAft>
            </a:pPr>
            <a:r>
              <a:rPr sz="1400" b="0">
                <a:solidFill>
                  <a:srgbClr val="1F2A3A"/>
                </a:solidFill>
                <a:latin typeface="맑은 고딕"/>
                <a:ea typeface="맑은 고딕"/>
                <a:cs typeface="맑은 고딕"/>
              </a:rPr>
              <a:t>3단계는 판정 기준이 적힌 HM-8.6을 가리킨다.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승인할 역할과 생산에 주는 영향이다.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일곱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완결된 SOP에는 수행 단계 외에 적용 대상, 조건, 금지 사항, 역할, 완료 기준까지 일곱 가지가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SOP문서_all.svg" descr="illust_449266750661591828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88291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적용 대상</a:t>
            </a:r>
          </a:p>
        </p:txBody>
      </p:sp>
      <p:sp>
        <p:nvSpPr>
          <p:cNvPr id="8" name="TextBox 7"/>
          <p:cNvSpPr txBox="1"/>
          <p:nvPr/>
        </p:nvSpPr>
        <p:spPr>
          <a:xfrm>
            <a:off x="6204942" y="233674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전제 조건</a:t>
            </a:r>
          </a:p>
        </p:txBody>
      </p:sp>
      <p:sp>
        <p:nvSpPr>
          <p:cNvPr id="9" name="TextBox 8"/>
          <p:cNvSpPr txBox="1"/>
          <p:nvPr/>
        </p:nvSpPr>
        <p:spPr>
          <a:xfrm>
            <a:off x="6204942" y="3263329"/>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단계</a:t>
            </a:r>
          </a:p>
        </p:txBody>
      </p:sp>
      <p:sp>
        <p:nvSpPr>
          <p:cNvPr id="10" name="TextBox 9"/>
          <p:cNvSpPr txBox="1"/>
          <p:nvPr/>
        </p:nvSpPr>
        <p:spPr>
          <a:xfrm>
            <a:off x="6204942" y="384480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 역할</a:t>
            </a:r>
          </a:p>
        </p:txBody>
      </p:sp>
      <p:sp>
        <p:nvSpPr>
          <p:cNvPr id="11" name="TextBox 10"/>
          <p:cNvSpPr txBox="1"/>
          <p:nvPr/>
        </p:nvSpPr>
        <p:spPr>
          <a:xfrm>
            <a:off x="6204942" y="453973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안전 조건</a:t>
            </a:r>
          </a:p>
        </p:txBody>
      </p:sp>
      <p:sp>
        <p:nvSpPr>
          <p:cNvPr id="12" name="TextBox 11"/>
          <p:cNvSpPr txBox="1"/>
          <p:nvPr/>
        </p:nvSpPr>
        <p:spPr>
          <a:xfrm>
            <a:off x="6204942" y="5026667"/>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완료 확인 기준</a:t>
            </a:r>
          </a:p>
        </p:txBody>
      </p:sp>
      <p:sp>
        <p:nvSpPr>
          <p:cNvPr id="13" name="TextBox 12"/>
          <p:cNvSpPr txBox="1"/>
          <p:nvPr/>
        </p:nvSpPr>
        <p:spPr>
          <a:xfrm>
            <a:off x="6204942" y="553723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금지 사항</a:t>
            </a:r>
          </a:p>
        </p:txBody>
      </p:sp>
      <p:sp>
        <p:nvSpPr>
          <p:cNvPr id="14" name="TextBox 13"/>
          <p:cNvSpPr txBox="1"/>
          <p:nvPr/>
        </p:nvSpPr>
        <p:spPr>
          <a:xfrm>
            <a:off x="8932316" y="3518611"/>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매뉴얼 HM-8</a:t>
            </a:r>
          </a:p>
          <a:p>
            <a:pPr algn="ctr">
              <a:lnSpc>
                <a:spcPct val="110000"/>
              </a:lnSpc>
              <a:spcAft>
                <a:spcPts val="100"/>
              </a:spcAft>
            </a:pPr>
            <a:r>
              <a:rPr sz="1300" b="0">
                <a:solidFill>
                  <a:srgbClr val="556175"/>
                </a:solidFill>
                <a:latin typeface="맑은 고딕"/>
                <a:ea typeface="맑은 고딕"/>
                <a:cs typeface="맑은 고딕"/>
              </a:rPr>
              <a:t>구성요소는 여러 절에 나뉘어 적혀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구성요소 ①: 적용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대상은 이 절차를 어떤 설비의 어떤 고장에 쓰는지를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SOP문서_target.svg" descr="illust_920532067732372810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70399" y="1840367"/>
            <a:ext cx="4909272"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적용 대상</a:t>
            </a:r>
          </a:p>
          <a:p>
            <a:pPr algn="ctr">
              <a:lnSpc>
                <a:spcPct val="110000"/>
              </a:lnSpc>
              <a:spcAft>
                <a:spcPts val="100"/>
              </a:spcAft>
            </a:pPr>
            <a:r>
              <a:rPr sz="1300" b="0">
                <a:solidFill>
                  <a:srgbClr val="556175"/>
                </a:solidFill>
                <a:latin typeface="맑은 고딕"/>
                <a:ea typeface="맑은 고딕"/>
                <a:cs typeface="맑은 고딕"/>
              </a:rPr>
              <a:t>「쿨러 냉각 성능 상실은 오일 쿨러에서 생기는 고장이며</a:t>
            </a:r>
          </a:p>
          <a:p>
            <a:pPr algn="ctr">
              <a:lnSpc>
                <a:spcPct val="110000"/>
              </a:lnSpc>
              <a:spcAft>
                <a:spcPts val="100"/>
              </a:spcAft>
            </a:pPr>
            <a:r>
              <a:rPr sz="1300" b="0">
                <a:solidFill>
                  <a:srgbClr val="556175"/>
                </a:solidFill>
                <a:latin typeface="맑은 고딕"/>
                <a:ea typeface="맑은 고딕"/>
                <a:cs typeface="맑은 고딕"/>
              </a:rPr>
              <a:t>유온 상승과 냉각 효율 저하로 나타난다.」</a:t>
            </a:r>
          </a:p>
          <a:p>
            <a:pPr algn="ctr">
              <a:lnSpc>
                <a:spcPct val="110000"/>
              </a:lnSpc>
              <a:spcAft>
                <a:spcPts val="100"/>
              </a:spcAft>
            </a:pPr>
            <a:r>
              <a:rPr sz="1300" b="0">
                <a:solidFill>
                  <a:srgbClr val="556175"/>
                </a:solidFill>
                <a:latin typeface="맑은 고딕"/>
                <a:ea typeface="맑은 고딕"/>
                <a:cs typeface="맑은 고딕"/>
              </a:rPr>
              <a:t>HM-8.4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구성요소 ②: 전제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전제 조건은 절차를 시작하기 전에 이미 성립해 있어야 하는 설비의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SOP문서_pre.svg" descr="illust_886593430778285079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70399" y="1982190"/>
            <a:ext cx="4909272"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전제 조건</a:t>
            </a:r>
          </a:p>
          <a:p>
            <a:pPr algn="ctr">
              <a:lnSpc>
                <a:spcPct val="110000"/>
              </a:lnSpc>
              <a:spcAft>
                <a:spcPts val="100"/>
              </a:spcAft>
            </a:pPr>
            <a:r>
              <a:rPr sz="1300" b="0">
                <a:solidFill>
                  <a:srgbClr val="556175"/>
                </a:solidFill>
                <a:latin typeface="맑은 고딕"/>
                <a:ea typeface="맑은 고딕"/>
                <a:cs typeface="맑은 고딕"/>
              </a:rPr>
              <a:t>「원격 조치는 PLC 운전 모드가</a:t>
            </a:r>
          </a:p>
          <a:p>
            <a:pPr algn="ctr">
              <a:lnSpc>
                <a:spcPct val="110000"/>
              </a:lnSpc>
              <a:spcAft>
                <a:spcPts val="100"/>
              </a:spcAft>
            </a:pPr>
            <a:r>
              <a:rPr sz="1300" b="0">
                <a:solidFill>
                  <a:srgbClr val="556175"/>
                </a:solidFill>
                <a:latin typeface="맑은 고딕"/>
                <a:ea typeface="맑은 고딕"/>
                <a:cs typeface="맑은 고딕"/>
              </a:rPr>
              <a:t>REMOTE_AUTO일 때만 한다.」</a:t>
            </a:r>
          </a:p>
          <a:p>
            <a:pPr algn="ctr">
              <a:lnSpc>
                <a:spcPct val="110000"/>
              </a:lnSpc>
              <a:spcAft>
                <a:spcPts val="100"/>
              </a:spcAft>
            </a:pPr>
            <a:r>
              <a:rPr sz="1300" b="0">
                <a:solidFill>
                  <a:srgbClr val="556175"/>
                </a:solidFill>
                <a:latin typeface="맑은 고딕"/>
                <a:ea typeface="맑은 고딕"/>
                <a:cs typeface="맑은 고딕"/>
              </a:rPr>
              <a:t>HM-8.5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구성요소 ③: 수행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무엇을 어떤 차례로 하는지를 번호로 적은 것이며, 번호가 곧 순서이다.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SOP문서_steps.svg" descr="illust_674068096665666896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70399" y="2837858"/>
            <a:ext cx="4909272"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단계</a:t>
            </a:r>
          </a:p>
          <a:p>
            <a:pPr algn="ctr">
              <a:lnSpc>
                <a:spcPct val="110000"/>
              </a:lnSpc>
              <a:spcAft>
                <a:spcPts val="100"/>
              </a:spcAft>
            </a:pPr>
            <a:r>
              <a:rPr sz="1300" b="0">
                <a:solidFill>
                  <a:srgbClr val="556175"/>
                </a:solidFill>
                <a:latin typeface="맑은 고딕"/>
                <a:ea typeface="맑은 고딕"/>
                <a:cs typeface="맑은 고딕"/>
              </a:rPr>
              <a:t>1. 운전 모드가 REMOTE_AUTO인지 확인한다</a:t>
            </a:r>
          </a:p>
          <a:p>
            <a:pPr algn="ctr">
              <a:lnSpc>
                <a:spcPct val="110000"/>
              </a:lnSpc>
              <a:spcAft>
                <a:spcPts val="100"/>
              </a:spcAft>
            </a:pPr>
            <a:r>
              <a:rPr sz="1300" b="0">
                <a:solidFill>
                  <a:srgbClr val="556175"/>
                </a:solidFill>
                <a:latin typeface="맑은 고딕"/>
                <a:ea typeface="맑은 고딕"/>
                <a:cs typeface="맑은 고딕"/>
              </a:rPr>
              <a:t>2. 팬 속도를 100 %로 올린다</a:t>
            </a:r>
          </a:p>
          <a:p>
            <a:pPr algn="ctr">
              <a:lnSpc>
                <a:spcPct val="110000"/>
              </a:lnSpc>
              <a:spcAft>
                <a:spcPts val="100"/>
              </a:spcAft>
            </a:pPr>
            <a:r>
              <a:rPr sz="1300" b="0">
                <a:solidFill>
                  <a:srgbClr val="556175"/>
                </a:solidFill>
                <a:latin typeface="맑은 고딕"/>
                <a:ea typeface="맑은 고딕"/>
                <a:cs typeface="맑은 고딕"/>
              </a:rPr>
              <a:t>3. 15분 재관측으로 회복 판정을 한다</a:t>
            </a:r>
          </a:p>
          <a:p>
            <a:pPr algn="ctr">
              <a:lnSpc>
                <a:spcPct val="110000"/>
              </a:lnSpc>
              <a:spcAft>
                <a:spcPts val="100"/>
              </a:spcAft>
            </a:pPr>
            <a:r>
              <a:rPr sz="1300" b="0">
                <a:solidFill>
                  <a:srgbClr val="556175"/>
                </a:solidFill>
                <a:latin typeface="맑은 고딕"/>
                <a:ea typeface="맑은 고딕"/>
                <a:cs typeface="맑은 고딕"/>
              </a:rPr>
              <a:t>SOP-COOL-11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구성요소 ④: 담당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 역할은 이 절차를 누가 승인하는지를 정하며, 설비를 세우는 근본 조치는 설비보전팀장이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SOP문서_role.svg" descr="illust_652587116318341205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70399" y="3494973"/>
            <a:ext cx="4909272"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 역할</a:t>
            </a:r>
          </a:p>
          <a:p>
            <a:pPr algn="ctr">
              <a:lnSpc>
                <a:spcPct val="110000"/>
              </a:lnSpc>
              <a:spcAft>
                <a:spcPts val="100"/>
              </a:spcAft>
            </a:pPr>
            <a:r>
              <a:rPr sz="1300" b="0">
                <a:solidFill>
                  <a:srgbClr val="556175"/>
                </a:solidFill>
                <a:latin typeface="맑은 고딕"/>
                <a:ea typeface="맑은 고딕"/>
                <a:cs typeface="맑은 고딕"/>
              </a:rPr>
              <a:t>「승인: 운전원.」 — 팬 최대 운전, HM-8.5</a:t>
            </a:r>
          </a:p>
          <a:p>
            <a:pPr algn="ctr">
              <a:lnSpc>
                <a:spcPct val="110000"/>
              </a:lnSpc>
              <a:spcAft>
                <a:spcPts val="100"/>
              </a:spcAft>
            </a:pPr>
            <a:r>
              <a:rPr sz="1300" b="0">
                <a:solidFill>
                  <a:srgbClr val="556175"/>
                </a:solidFill>
                <a:latin typeface="맑은 고딕"/>
                <a:ea typeface="맑은 고딕"/>
                <a:cs typeface="맑은 고딕"/>
              </a:rPr>
              <a:t>「승인은 설비보전팀장이 한다.」 — 근본 조치, HM-8.7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구성요소 ⑤: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조건은 작업자를 지키기 위해 다른 일보다 먼저 해 두어야 하는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SOP문서_safety.svg" descr="illust_693415228334597733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70399" y="4085904"/>
            <a:ext cx="4909272"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안전 조건</a:t>
            </a:r>
          </a:p>
          <a:p>
            <a:pPr algn="ctr">
              <a:lnSpc>
                <a:spcPct val="110000"/>
              </a:lnSpc>
              <a:spcAft>
                <a:spcPts val="100"/>
              </a:spcAft>
            </a:pPr>
            <a:r>
              <a:rPr sz="1300" b="0">
                <a:solidFill>
                  <a:srgbClr val="556175"/>
                </a:solidFill>
                <a:latin typeface="맑은 고딕"/>
                <a:ea typeface="맑은 고딕"/>
                <a:cs typeface="맑은 고딕"/>
              </a:rPr>
              <a:t>「설비를 정지하고 현장 패널에서 LOCAL로 전환한 뒤</a:t>
            </a:r>
          </a:p>
          <a:p>
            <a:pPr algn="ctr">
              <a:lnSpc>
                <a:spcPct val="110000"/>
              </a:lnSpc>
              <a:spcAft>
                <a:spcPts val="100"/>
              </a:spcAft>
            </a:pPr>
            <a:r>
              <a:rPr sz="1300" b="0">
                <a:solidFill>
                  <a:srgbClr val="556175"/>
                </a:solidFill>
                <a:latin typeface="맑은 고딕"/>
                <a:ea typeface="맑은 고딕"/>
                <a:cs typeface="맑은 고딕"/>
              </a:rPr>
              <a:t>잠금(LOTO)을 건다.」 — SOP-COOL-14의 1단계</a:t>
            </a:r>
          </a:p>
          <a:p>
            <a:pPr algn="ctr">
              <a:lnSpc>
                <a:spcPct val="110000"/>
              </a:lnSpc>
              <a:spcAft>
                <a:spcPts val="100"/>
              </a:spcAft>
            </a:pPr>
            <a:r>
              <a:rPr sz="1300" b="0">
                <a:solidFill>
                  <a:srgbClr val="556175"/>
                </a:solidFill>
                <a:latin typeface="맑은 고딕"/>
                <a:ea typeface="맑은 고딕"/>
                <a:cs typeface="맑은 고딕"/>
              </a:rPr>
              <a:t>LOTO: Lockout/Tagout, 전원을 잠그고 표지를 다는 조치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구성요소 ⑥: 완료 확인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확인 기준은 무엇을 얼마 동안 보고 조치가 끝났다고 판정할지를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SOP문서_done.svg" descr="illust_370490804972632902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70399" y="4653198"/>
            <a:ext cx="4909272"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완료 확인 기준</a:t>
            </a:r>
          </a:p>
          <a:p>
            <a:pPr algn="ctr">
              <a:lnSpc>
                <a:spcPct val="110000"/>
              </a:lnSpc>
              <a:spcAft>
                <a:spcPts val="100"/>
              </a:spcAft>
            </a:pPr>
            <a:r>
              <a:rPr sz="1300" b="0">
                <a:solidFill>
                  <a:srgbClr val="556175"/>
                </a:solidFill>
                <a:latin typeface="맑은 고딕"/>
                <a:ea typeface="맑은 고딕"/>
                <a:cs typeface="맑은 고딕"/>
              </a:rPr>
              <a:t>「조치 뒤 15분 동안 TS1이 55 ℃ 미만이고 경보가</a:t>
            </a:r>
          </a:p>
          <a:p>
            <a:pPr algn="ctr">
              <a:lnSpc>
                <a:spcPct val="110000"/>
              </a:lnSpc>
              <a:spcAft>
                <a:spcPts val="100"/>
              </a:spcAft>
            </a:pPr>
            <a:r>
              <a:rPr sz="1300" b="0">
                <a:solidFill>
                  <a:srgbClr val="556175"/>
                </a:solidFill>
                <a:latin typeface="맑은 고딕"/>
                <a:ea typeface="맑은 고딕"/>
                <a:cs typeface="맑은 고딕"/>
              </a:rPr>
              <a:t>해제된 상태가 유지되면 완화에 성공한 것이다.」</a:t>
            </a:r>
          </a:p>
          <a:p>
            <a:pPr algn="ctr">
              <a:lnSpc>
                <a:spcPct val="110000"/>
              </a:lnSpc>
              <a:spcAft>
                <a:spcPts val="100"/>
              </a:spcAft>
            </a:pPr>
            <a:r>
              <a:rPr sz="1300" b="0">
                <a:solidFill>
                  <a:srgbClr val="556175"/>
                </a:solidFill>
                <a:latin typeface="맑은 고딕"/>
                <a:ea typeface="맑은 고딕"/>
                <a:cs typeface="맑은 고딕"/>
              </a:rPr>
              <a:t>HM-8.6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구성요소 ⑦: 금지 사항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금지 사항은 어떤 경우에도 해서는 안 되는 일을 따로 적어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SOP문서_forbid.svg" descr="illust_1112516451484236903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70399" y="5031394"/>
            <a:ext cx="4909272"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사항</a:t>
            </a:r>
          </a:p>
          <a:p>
            <a:pPr algn="ctr">
              <a:lnSpc>
                <a:spcPct val="110000"/>
              </a:lnSpc>
              <a:spcAft>
                <a:spcPts val="100"/>
              </a:spcAft>
            </a:pPr>
            <a:r>
              <a:rPr sz="1300" b="0">
                <a:solidFill>
                  <a:srgbClr val="556175"/>
                </a:solidFill>
                <a:latin typeface="맑은 고딕"/>
                <a:ea typeface="맑은 고딕"/>
                <a:cs typeface="맑은 고딕"/>
              </a:rPr>
              <a:t>「펌프 부하를 60 % 미만으로 설정하지 않는다.」 — HM-8.8</a:t>
            </a:r>
          </a:p>
          <a:p>
            <a:pPr algn="ctr">
              <a:lnSpc>
                <a:spcPct val="110000"/>
              </a:lnSpc>
              <a:spcAft>
                <a:spcPts val="100"/>
              </a:spcAft>
            </a:pPr>
            <a:r>
              <a:rPr sz="1300" b="0">
                <a:solidFill>
                  <a:srgbClr val="556175"/>
                </a:solidFill>
                <a:latin typeface="맑은 고딕"/>
                <a:ea typeface="맑은 고딕"/>
                <a:cs typeface="맑은 고딕"/>
              </a:rPr>
              <a:t>「고압수는 쓰지 않는다.」 — SOP-COOL-14의 2단계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단계만 적힌 메모와 SOP의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단계만 적힌 문서는 언제 써도 되는지, 무엇을 하면 안 되는지, 언제 끝난 것인지를 알려 주지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단계만 적힌 메모</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언제 써도 되는지 알 수 없다</a:t>
            </a:r>
          </a:p>
          <a:p>
            <a:pPr algn="l">
              <a:lnSpc>
                <a:spcPct val="110000"/>
              </a:lnSpc>
              <a:spcAft>
                <a:spcPts val="600"/>
              </a:spcAft>
            </a:pPr>
            <a:r>
              <a:rPr sz="1450" b="0">
                <a:solidFill>
                  <a:srgbClr val="1F2A3A"/>
                </a:solidFill>
                <a:latin typeface="맑은 고딕"/>
                <a:ea typeface="맑은 고딕"/>
                <a:cs typeface="맑은 고딕"/>
              </a:rPr>
              <a:t>• 끝났는지 판정할 기준이 없다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단계만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단계에 대상과 조건이 붙는다</a:t>
            </a:r>
          </a:p>
          <a:p>
            <a:pPr algn="l">
              <a:lnSpc>
                <a:spcPct val="110000"/>
              </a:lnSpc>
              <a:spcAft>
                <a:spcPts val="600"/>
              </a:spcAft>
            </a:pPr>
            <a:r>
              <a:rPr sz="1450" b="0">
                <a:solidFill>
                  <a:srgbClr val="1F2A3A"/>
                </a:solidFill>
                <a:latin typeface="맑은 고딕"/>
                <a:ea typeface="맑은 고딕"/>
                <a:cs typeface="맑은 고딕"/>
              </a:rPr>
              <a:t>• 금지 사항과 승인 역할이 정해져 있다</a:t>
            </a:r>
          </a:p>
          <a:p>
            <a:pPr algn="l">
              <a:lnSpc>
                <a:spcPct val="110000"/>
              </a:lnSpc>
              <a:spcAft>
                <a:spcPts val="600"/>
              </a:spcAft>
            </a:pPr>
            <a:r>
              <a:rPr sz="1450" b="0">
                <a:solidFill>
                  <a:srgbClr val="1F2A3A"/>
                </a:solidFill>
                <a:latin typeface="맑은 고딕"/>
                <a:ea typeface="맑은 고딕"/>
                <a:cs typeface="맑은 고딕"/>
              </a:rPr>
              <a:t>• 완료를 판정하는 기준이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일곱 가지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절차의 순서와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SOP의 문장은 차례대로 수행하는 순서와, 그 절차를 써도 되는지를 가르는 조건으로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순서인가 조건인가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문장을 읽고 지금의 값이 있어야 참과 거짓이 정해지는지를 물으면 순서와 조건이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48865"/>
            <a:ext cx="2567863" cy="328498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50033"/>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703652"/>
            <a:ext cx="424281" cy="424281"/>
          </a:xfrm>
          <a:prstGeom prst="rect">
            <a:avLst/>
          </a:prstGeom>
        </p:spPr>
      </p:pic>
      <p:sp>
        <p:nvSpPr>
          <p:cNvPr id="9" name="TextBox 8"/>
          <p:cNvSpPr txBox="1"/>
          <p:nvPr/>
        </p:nvSpPr>
        <p:spPr>
          <a:xfrm>
            <a:off x="713232" y="3372993"/>
            <a:ext cx="2238679" cy="175793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속도를 100 %로 올린다」</a:t>
            </a:r>
          </a:p>
          <a:p>
            <a:pPr algn="l">
              <a:lnSpc>
                <a:spcPct val="110000"/>
              </a:lnSpc>
              <a:spcAft>
                <a:spcPts val="400"/>
              </a:spcAft>
            </a:pPr>
            <a:r>
              <a:rPr sz="1350" b="0">
                <a:solidFill>
                  <a:srgbClr val="1F2A3A"/>
                </a:solidFill>
                <a:latin typeface="맑은 고딕"/>
                <a:ea typeface="맑은 고딕"/>
                <a:cs typeface="맑은 고딕"/>
              </a:rPr>
              <a:t>값이 없어도 그대로 수행한다</a:t>
            </a:r>
          </a:p>
        </p:txBody>
      </p:sp>
      <p:sp>
        <p:nvSpPr>
          <p:cNvPr id="10" name="Rounded Rectangle 9"/>
          <p:cNvSpPr/>
          <p:nvPr/>
        </p:nvSpPr>
        <p:spPr>
          <a:xfrm>
            <a:off x="777240" y="520407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0407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3390823" y="2348865"/>
            <a:ext cx="2567863" cy="328498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550033"/>
            <a:ext cx="731520" cy="731520"/>
          </a:xfrm>
          <a:prstGeom prst="ellipse">
            <a:avLst/>
          </a:prstGeom>
          <a:solidFill>
            <a:srgbClr val="5CB8F2"/>
          </a:solidFill>
          <a:ln>
            <a:noFill/>
          </a:ln>
        </p:spPr>
        <p:txBody>
          <a:bodyPr rtlCol="0" anchor="ctr"/>
          <a:lstStyle/>
          <a:p>
            <a:pPr algn="ctr"/>
          </a:p>
        </p:txBody>
      </p:sp>
      <p:pic>
        <p:nvPicPr>
          <p:cNvPr id="14" name="아이콘:switch-3" descr="switch-3_13294B_1.6.png"/>
          <p:cNvPicPr>
            <a:picLocks noChangeAspect="1"/>
          </p:cNvPicPr>
          <p:nvPr/>
        </p:nvPicPr>
        <p:blipFill>
          <a:blip r:embed="rId4"/>
          <a:stretch>
            <a:fillRect/>
          </a:stretch>
        </p:blipFill>
        <p:spPr>
          <a:xfrm>
            <a:off x="3773043" y="2703652"/>
            <a:ext cx="424281" cy="424281"/>
          </a:xfrm>
          <a:prstGeom prst="rect">
            <a:avLst/>
          </a:prstGeom>
        </p:spPr>
      </p:pic>
      <p:sp>
        <p:nvSpPr>
          <p:cNvPr id="15" name="TextBox 14"/>
          <p:cNvSpPr txBox="1"/>
          <p:nvPr/>
        </p:nvSpPr>
        <p:spPr>
          <a:xfrm>
            <a:off x="3555415" y="3372993"/>
            <a:ext cx="2238679" cy="175793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「REMOTE_AUTO가 아닐 때 쓰지 않는다」</a:t>
            </a:r>
          </a:p>
          <a:p>
            <a:pPr algn="l">
              <a:lnSpc>
                <a:spcPct val="110000"/>
              </a:lnSpc>
              <a:spcAft>
                <a:spcPts val="400"/>
              </a:spcAft>
            </a:pPr>
            <a:r>
              <a:rPr sz="1350" b="0">
                <a:solidFill>
                  <a:srgbClr val="1F2A3A"/>
                </a:solidFill>
                <a:latin typeface="맑은 고딕"/>
                <a:ea typeface="맑은 고딕"/>
                <a:cs typeface="맑은 고딕"/>
              </a:rPr>
              <a:t>운전 모드를 알아야 정해진다</a:t>
            </a:r>
          </a:p>
        </p:txBody>
      </p:sp>
      <p:sp>
        <p:nvSpPr>
          <p:cNvPr id="16" name="Rounded Rectangle 15"/>
          <p:cNvSpPr/>
          <p:nvPr/>
        </p:nvSpPr>
        <p:spPr>
          <a:xfrm>
            <a:off x="3619423" y="5204079"/>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20407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6233007" y="2348865"/>
            <a:ext cx="2567863" cy="328498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50033"/>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3"/>
          <a:stretch>
            <a:fillRect/>
          </a:stretch>
        </p:blipFill>
        <p:spPr>
          <a:xfrm>
            <a:off x="6615226" y="2703652"/>
            <a:ext cx="424281" cy="424281"/>
          </a:xfrm>
          <a:prstGeom prst="rect">
            <a:avLst/>
          </a:prstGeom>
        </p:spPr>
      </p:pic>
      <p:sp>
        <p:nvSpPr>
          <p:cNvPr id="21" name="TextBox 20"/>
          <p:cNvSpPr txBox="1"/>
          <p:nvPr/>
        </p:nvSpPr>
        <p:spPr>
          <a:xfrm>
            <a:off x="6397599" y="3372993"/>
            <a:ext cx="2238679" cy="175793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「15분 재관측으로 회복 판정을 한다」</a:t>
            </a:r>
          </a:p>
          <a:p>
            <a:pPr algn="l">
              <a:lnSpc>
                <a:spcPct val="110000"/>
              </a:lnSpc>
              <a:spcAft>
                <a:spcPts val="400"/>
              </a:spcAft>
            </a:pPr>
            <a:r>
              <a:rPr sz="1350" b="0">
                <a:solidFill>
                  <a:srgbClr val="1F2A3A"/>
                </a:solidFill>
                <a:latin typeface="맑은 고딕"/>
                <a:ea typeface="맑은 고딕"/>
                <a:cs typeface="맑은 고딕"/>
              </a:rPr>
              <a:t>값이 없어도 그대로 수행한다</a:t>
            </a:r>
          </a:p>
        </p:txBody>
      </p:sp>
      <p:sp>
        <p:nvSpPr>
          <p:cNvPr id="22" name="Rounded Rectangle 21"/>
          <p:cNvSpPr/>
          <p:nvPr/>
        </p:nvSpPr>
        <p:spPr>
          <a:xfrm>
            <a:off x="6461607" y="520407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0407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348865"/>
            <a:ext cx="2567863" cy="328498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50033"/>
            <a:ext cx="731520" cy="731520"/>
          </a:xfrm>
          <a:prstGeom prst="ellipse">
            <a:avLst/>
          </a:prstGeom>
          <a:solidFill>
            <a:srgbClr val="5CB8F2"/>
          </a:solidFill>
          <a:ln>
            <a:noFill/>
          </a:ln>
        </p:spPr>
        <p:txBody>
          <a:bodyPr rtlCol="0" anchor="ctr"/>
          <a:lstStyle/>
          <a:p>
            <a:pPr algn="ctr"/>
          </a:p>
        </p:txBody>
      </p:sp>
      <p:pic>
        <p:nvPicPr>
          <p:cNvPr id="26" name="아이콘:switch-3" descr="switch-3_13294B_1.6.png"/>
          <p:cNvPicPr>
            <a:picLocks noChangeAspect="1"/>
          </p:cNvPicPr>
          <p:nvPr/>
        </p:nvPicPr>
        <p:blipFill>
          <a:blip r:embed="rId4"/>
          <a:stretch>
            <a:fillRect/>
          </a:stretch>
        </p:blipFill>
        <p:spPr>
          <a:xfrm>
            <a:off x="9457410" y="2703652"/>
            <a:ext cx="424281" cy="424281"/>
          </a:xfrm>
          <a:prstGeom prst="rect">
            <a:avLst/>
          </a:prstGeom>
        </p:spPr>
      </p:pic>
      <p:sp>
        <p:nvSpPr>
          <p:cNvPr id="27" name="TextBox 26"/>
          <p:cNvSpPr txBox="1"/>
          <p:nvPr/>
        </p:nvSpPr>
        <p:spPr>
          <a:xfrm>
            <a:off x="9239783" y="3372993"/>
            <a:ext cx="2238679" cy="175793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「24시간을 넘겼다면 감점해서 비교한다」</a:t>
            </a:r>
          </a:p>
          <a:p>
            <a:pPr algn="l">
              <a:lnSpc>
                <a:spcPct val="110000"/>
              </a:lnSpc>
              <a:spcAft>
                <a:spcPts val="400"/>
              </a:spcAft>
            </a:pPr>
            <a:r>
              <a:rPr sz="1350" b="0">
                <a:solidFill>
                  <a:srgbClr val="1F2A3A"/>
                </a:solidFill>
                <a:latin typeface="맑은 고딕"/>
                <a:ea typeface="맑은 고딕"/>
                <a:cs typeface="맑은 고딕"/>
              </a:rPr>
              <a:t>연속 운전 시간을 알아야 정해진다</a:t>
            </a:r>
          </a:p>
        </p:txBody>
      </p:sp>
      <p:sp>
        <p:nvSpPr>
          <p:cNvPr id="28" name="Rounded Rectangle 27"/>
          <p:cNvSpPr/>
          <p:nvPr/>
        </p:nvSpPr>
        <p:spPr>
          <a:xfrm>
            <a:off x="9303791" y="520407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04079"/>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운전모드_0.svg" descr="illust_96748099196923426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원격 자동일 때: 팬 최대 운전을 할 수 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원격으로 명령을 보내는 조치이므로 운전 모드가 원격 자동일 때 후보에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운전모드_1.svg" descr="illust_92946085808550440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후보에 남는다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원격 수동과 현장 제어일 때: 같은 조치가 제외된다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현장에서 사람이 설비를 조작하는 동안에는 원격 명령이 끼어들면 위험하므로 같은 조치가 후보에서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운전모드_2.svg" descr="illust_31936961788467895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2" name="TextBox 11"/>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3" name="TextBox 12"/>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현장의 정비 작업은 운전 모드와 관계없이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세척은 원격 명령이 아니라 사람이 현장에서 하는 정비 작업이므로 어느 운전 모드에서도 후보에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운전모드_3.svg" descr="illust_926051750303666833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후보에 남는다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가능 여부를 바꾸는 설비 상태의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HM-8에서 조치의 가능 여부나 유불리를 바꾸는 설비의 상태는 운전 모드, 팬의 연속 운전 시간, 조치 후의 예측 유온이다.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a:t>
            </a:r>
          </a:p>
          <a:p>
            <a:pPr algn="l">
              <a:lnSpc>
                <a:spcPct val="110000"/>
              </a:lnSpc>
              <a:spcAft>
                <a:spcPts val="400"/>
              </a:spcAft>
            </a:pPr>
            <a:r>
              <a:rPr sz="1400" b="0">
                <a:solidFill>
                  <a:srgbClr val="1F2A3A"/>
                </a:solidFill>
                <a:latin typeface="맑은 고딕"/>
                <a:ea typeface="맑은 고딕"/>
                <a:cs typeface="맑은 고딕"/>
              </a:rPr>
              <a:t>원격 자동이 아니면 원격 조치를 쓰지 않는다</a:t>
            </a:r>
          </a:p>
        </p:txBody>
      </p:sp>
      <p:sp>
        <p:nvSpPr>
          <p:cNvPr id="10" name="Rounded Rectangle 9"/>
          <p:cNvSpPr/>
          <p:nvPr/>
        </p:nvSpPr>
        <p:spPr>
          <a:xfrm>
            <a:off x="777240" y="4932934"/>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400" b="0">
                <a:solidFill>
                  <a:srgbClr val="1F2A3A"/>
                </a:solidFill>
                <a:latin typeface="맑은 고딕"/>
                <a:ea typeface="맑은 고딕"/>
                <a:cs typeface="맑은 고딕"/>
              </a:rPr>
              <a:t>24시간을 넘겼다면 팬 최대 운전을 감점해서 비교한다</a:t>
            </a:r>
          </a:p>
        </p:txBody>
      </p:sp>
      <p:sp>
        <p:nvSpPr>
          <p:cNvPr id="16" name="Rounded Rectangle 15"/>
          <p:cNvSpPr/>
          <p:nvPr/>
        </p:nvSpPr>
        <p:spPr>
          <a:xfrm>
            <a:off x="4566818" y="4932934"/>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400" b="0">
                <a:solidFill>
                  <a:srgbClr val="1F2A3A"/>
                </a:solidFill>
                <a:latin typeface="맑은 고딕"/>
                <a:ea typeface="맑은 고딕"/>
                <a:cs typeface="맑은 고딕"/>
              </a:rPr>
              <a:t>55 ℃ 이상이면 경보 해제에 실패할 수 있으므로 다른 조치와 비교한다</a:t>
            </a:r>
          </a:p>
        </p:txBody>
      </p:sp>
      <p:sp>
        <p:nvSpPr>
          <p:cNvPr id="22" name="Rounded Rectangle 21"/>
          <p:cNvSpPr/>
          <p:nvPr/>
        </p:nvSpPr>
        <p:spPr>
          <a:xfrm>
            <a:off x="8356396" y="4932934"/>
            <a:ext cx="90220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고장 유형에 이어진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그래프에서 SOP 한 편은 조치 방법 노드 하나이며, 한 고장 유형에 조치 방법이 여럿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363646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75808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FailureMode</a:t>
            </a:r>
          </a:p>
        </p:txBody>
      </p:sp>
      <p:sp>
        <p:nvSpPr>
          <p:cNvPr id="10" name="Oval 9"/>
          <p:cNvSpPr/>
          <p:nvPr/>
        </p:nvSpPr>
        <p:spPr>
          <a:xfrm>
            <a:off x="784714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796875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운전과 부하 80 %</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SOP-COOL-12</a:t>
            </a:r>
          </a:p>
        </p:txBody>
      </p:sp>
      <p:sp>
        <p:nvSpPr>
          <p:cNvPr id="14" name="Oval 13"/>
          <p:cNvSpPr/>
          <p:nvPr/>
        </p:nvSpPr>
        <p:spPr>
          <a:xfrm>
            <a:off x="784714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96875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세척</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SOP-COOL-14</a:t>
            </a:r>
          </a:p>
        </p:txBody>
      </p:sp>
      <p:cxnSp>
        <p:nvCxnSpPr>
          <p:cNvPr id="16" name="Connector 15"/>
          <p:cNvCxnSpPr/>
          <p:nvPr/>
        </p:nvCxnSpPr>
        <p:spPr>
          <a:xfrm>
            <a:off x="2331720" y="3991356"/>
            <a:ext cx="1231596" cy="0"/>
          </a:xfrm>
          <a:prstGeom prst="line">
            <a:avLst/>
          </a:prstGeom>
          <a:ln w="28575">
            <a:solidFill>
              <a:srgbClr val="13294B"/>
            </a:solidFill>
            <a:tailEnd type="triangle" w="med" len="med"/>
          </a:ln>
        </p:spPr>
      </p:cxnSp>
      <p:sp>
        <p:nvSpPr>
          <p:cNvPr id="17" name="Rounded Rectangle 16"/>
          <p:cNvSpPr/>
          <p:nvPr/>
        </p:nvSpPr>
        <p:spPr>
          <a:xfrm>
            <a:off x="2489807"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489807"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flipV="1">
            <a:off x="5366843" y="2811444"/>
            <a:ext cx="2461433" cy="873957"/>
          </a:xfrm>
          <a:prstGeom prst="line">
            <a:avLst/>
          </a:prstGeom>
          <a:ln w="28575">
            <a:solidFill>
              <a:srgbClr val="13294B"/>
            </a:solidFill>
            <a:tailEnd type="triangle" w="med" len="med"/>
          </a:ln>
        </p:spPr>
      </p:cxnSp>
      <p:sp>
        <p:nvSpPr>
          <p:cNvPr id="20" name="Rounded Rectangle 19"/>
          <p:cNvSpPr/>
          <p:nvPr/>
        </p:nvSpPr>
        <p:spPr>
          <a:xfrm>
            <a:off x="5827916" y="2882663"/>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827916" y="2882663"/>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2" name="Connector 21"/>
          <p:cNvCxnSpPr/>
          <p:nvPr/>
        </p:nvCxnSpPr>
        <p:spPr>
          <a:xfrm>
            <a:off x="5419548" y="3991356"/>
            <a:ext cx="4412995" cy="0"/>
          </a:xfrm>
          <a:prstGeom prst="line">
            <a:avLst/>
          </a:prstGeom>
          <a:ln w="28575">
            <a:solidFill>
              <a:srgbClr val="13294B"/>
            </a:solidFill>
            <a:tailEnd type="triangle" w="med" len="med"/>
          </a:ln>
        </p:spPr>
      </p:cxnSp>
      <p:sp>
        <p:nvSpPr>
          <p:cNvPr id="23" name="Rounded Rectangle 22"/>
          <p:cNvSpPr/>
          <p:nvPr/>
        </p:nvSpPr>
        <p:spPr>
          <a:xfrm>
            <a:off x="685640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85640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5" name="Connector 24"/>
          <p:cNvCxnSpPr/>
          <p:nvPr/>
        </p:nvCxnSpPr>
        <p:spPr>
          <a:xfrm>
            <a:off x="5366843" y="4297310"/>
            <a:ext cx="2461433" cy="873957"/>
          </a:xfrm>
          <a:prstGeom prst="line">
            <a:avLst/>
          </a:prstGeom>
          <a:ln w="28575">
            <a:solidFill>
              <a:srgbClr val="13294B"/>
            </a:solidFill>
            <a:tailEnd type="triangle" w="med" len="med"/>
          </a:ln>
        </p:spPr>
      </p:cxnSp>
      <p:sp>
        <p:nvSpPr>
          <p:cNvPr id="26" name="Rounded Rectangle 25"/>
          <p:cNvSpPr/>
          <p:nvPr/>
        </p:nvSpPr>
        <p:spPr>
          <a:xfrm>
            <a:off x="5881341" y="4368528"/>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5881341" y="4368528"/>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REMEDIED_BY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작업 단계와 근거 매뉴얼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방법에는 작업 단계가 이어지고, 단계마다 근거가 되는 매뉴얼의 절이, 조치 방법에는 승인할 역할이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Oval 5"/>
          <p:cNvSpPr/>
          <p:nvPr/>
        </p:nvSpPr>
        <p:spPr>
          <a:xfrm>
            <a:off x="1297204" y="1866839"/>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18819"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8" name="Oval 7"/>
          <p:cNvSpPr/>
          <p:nvPr/>
        </p:nvSpPr>
        <p:spPr>
          <a:xfrm>
            <a:off x="5227167" y="1866839"/>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 단계</a:t>
            </a:r>
          </a:p>
          <a:p>
            <a:pPr algn="ctr">
              <a:lnSpc>
                <a:spcPct val="110000"/>
              </a:lnSpc>
            </a:pPr>
            <a:r>
              <a:rPr sz="1100" b="0">
                <a:solidFill>
                  <a:srgbClr val="556175"/>
                </a:solidFill>
                <a:latin typeface="맑은 고딕"/>
                <a:ea typeface="맑은 고딕"/>
                <a:cs typeface="맑은 고딕"/>
              </a:rPr>
              <a:t>Step</a:t>
            </a:r>
          </a:p>
          <a:p>
            <a:pPr algn="ctr">
              <a:lnSpc>
                <a:spcPct val="110000"/>
              </a:lnSpc>
            </a:pPr>
            <a:r>
              <a:rPr sz="1100" b="0">
                <a:solidFill>
                  <a:srgbClr val="556175"/>
                </a:solidFill>
                <a:latin typeface="맑은 고딕"/>
                <a:ea typeface="맑은 고딕"/>
                <a:cs typeface="맑은 고딕"/>
              </a:rPr>
              <a:t>1 · 2 · 3단계</a:t>
            </a:r>
          </a:p>
        </p:txBody>
      </p:sp>
      <p:sp>
        <p:nvSpPr>
          <p:cNvPr id="10" name="Oval 9"/>
          <p:cNvSpPr/>
          <p:nvPr/>
        </p:nvSpPr>
        <p:spPr>
          <a:xfrm>
            <a:off x="9157130" y="1866839"/>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9278745"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근거 매뉴얼</a:t>
            </a:r>
          </a:p>
          <a:p>
            <a:pPr algn="ctr">
              <a:lnSpc>
                <a:spcPct val="110000"/>
              </a:lnSpc>
            </a:pPr>
            <a:r>
              <a:rPr sz="1100" b="0">
                <a:solidFill>
                  <a:srgbClr val="556175"/>
                </a:solidFill>
                <a:latin typeface="맑은 고딕"/>
                <a:ea typeface="맑은 고딕"/>
                <a:cs typeface="맑은 고딕"/>
              </a:rPr>
              <a:t>ManualSection</a:t>
            </a:r>
          </a:p>
        </p:txBody>
      </p:sp>
      <p:sp>
        <p:nvSpPr>
          <p:cNvPr id="12" name="Oval 11"/>
          <p:cNvSpPr/>
          <p:nvPr/>
        </p:nvSpPr>
        <p:spPr>
          <a:xfrm>
            <a:off x="1297204" y="449811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418819" y="482821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운전원</a:t>
            </a:r>
          </a:p>
          <a:p>
            <a:pPr algn="ctr">
              <a:lnSpc>
                <a:spcPct val="110000"/>
              </a:lnSpc>
            </a:pPr>
            <a:r>
              <a:rPr sz="1100" b="0">
                <a:solidFill>
                  <a:srgbClr val="556175"/>
                </a:solidFill>
                <a:latin typeface="맑은 고딕"/>
                <a:ea typeface="맑은 고딕"/>
                <a:cs typeface="맑은 고딕"/>
              </a:rPr>
              <a:t>승인 역할</a:t>
            </a:r>
          </a:p>
          <a:p>
            <a:pPr algn="ctr">
              <a:lnSpc>
                <a:spcPct val="110000"/>
              </a:lnSpc>
            </a:pPr>
            <a:r>
              <a:rPr sz="1100" b="0">
                <a:solidFill>
                  <a:srgbClr val="556175"/>
                </a:solidFill>
                <a:latin typeface="맑은 고딕"/>
                <a:ea typeface="맑은 고딕"/>
                <a:cs typeface="맑은 고딕"/>
              </a:rPr>
              <a:t>Role</a:t>
            </a:r>
          </a:p>
        </p:txBody>
      </p:sp>
      <p:cxnSp>
        <p:nvCxnSpPr>
          <p:cNvPr id="14" name="Connector 13"/>
          <p:cNvCxnSpPr/>
          <p:nvPr/>
        </p:nvCxnSpPr>
        <p:spPr>
          <a:xfrm>
            <a:off x="3080284" y="2735519"/>
            <a:ext cx="2073731" cy="0"/>
          </a:xfrm>
          <a:prstGeom prst="line">
            <a:avLst/>
          </a:prstGeom>
          <a:ln w="28575">
            <a:solidFill>
              <a:srgbClr val="13294B"/>
            </a:solidFill>
            <a:tailEnd type="triangle" w="med" len="med"/>
          </a:ln>
        </p:spPr>
      </p:cxnSp>
      <p:sp>
        <p:nvSpPr>
          <p:cNvPr id="15" name="Rounded Rectangle 14"/>
          <p:cNvSpPr/>
          <p:nvPr/>
        </p:nvSpPr>
        <p:spPr>
          <a:xfrm>
            <a:off x="3561206" y="2369759"/>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3561206" y="2369759"/>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17" name="Connector 16"/>
          <p:cNvCxnSpPr/>
          <p:nvPr/>
        </p:nvCxnSpPr>
        <p:spPr>
          <a:xfrm>
            <a:off x="7010247" y="2735519"/>
            <a:ext cx="2073731" cy="0"/>
          </a:xfrm>
          <a:prstGeom prst="line">
            <a:avLst/>
          </a:prstGeom>
          <a:ln w="28575">
            <a:solidFill>
              <a:srgbClr val="13294B"/>
            </a:solidFill>
            <a:tailEnd type="triangle" w="med" len="med"/>
          </a:ln>
        </p:spPr>
      </p:cxnSp>
      <p:sp>
        <p:nvSpPr>
          <p:cNvPr id="18" name="Rounded Rectangle 17"/>
          <p:cNvSpPr/>
          <p:nvPr/>
        </p:nvSpPr>
        <p:spPr>
          <a:xfrm>
            <a:off x="7437744" y="2369759"/>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7437744" y="2369759"/>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0" name="Connector 19"/>
          <p:cNvCxnSpPr/>
          <p:nvPr/>
        </p:nvCxnSpPr>
        <p:spPr>
          <a:xfrm>
            <a:off x="2165884" y="3649919"/>
            <a:ext cx="0" cy="775045"/>
          </a:xfrm>
          <a:prstGeom prst="line">
            <a:avLst/>
          </a:prstGeom>
          <a:ln w="28575">
            <a:solidFill>
              <a:srgbClr val="13294B"/>
            </a:solidFill>
            <a:tailEnd type="triangle" w="med" len="med"/>
          </a:ln>
        </p:spPr>
      </p:cxnSp>
      <p:sp>
        <p:nvSpPr>
          <p:cNvPr id="21" name="Rounded Rectangle 20"/>
          <p:cNvSpPr/>
          <p:nvPr/>
        </p:nvSpPr>
        <p:spPr>
          <a:xfrm>
            <a:off x="2257324" y="3891137"/>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257324" y="3891137"/>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APPROVED_BY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세 종류와 쓰이는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조치는 고장이 나기 전의 예방 조치, 경보 직후의 즉시 완화, 정비 시간의 근본 조치로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조치시점_all.svg" descr="illust_900005084973300923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644773"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조치</a:t>
            </a:r>
          </a:p>
          <a:p>
            <a:pPr algn="ctr">
              <a:lnSpc>
                <a:spcPct val="110000"/>
              </a:lnSpc>
              <a:spcAft>
                <a:spcPts val="100"/>
              </a:spcAft>
            </a:pPr>
            <a:r>
              <a:rPr sz="1300" b="0">
                <a:solidFill>
                  <a:srgbClr val="556175"/>
                </a:solidFill>
                <a:latin typeface="맑은 고딕"/>
                <a:ea typeface="맑은 고딕"/>
                <a:cs typeface="맑은 고딕"/>
              </a:rPr>
              <a:t>고장이 나기 전</a:t>
            </a:r>
          </a:p>
        </p:txBody>
      </p:sp>
      <p:sp>
        <p:nvSpPr>
          <p:cNvPr id="8" name="TextBox 7"/>
          <p:cNvSpPr txBox="1"/>
          <p:nvPr/>
        </p:nvSpPr>
        <p:spPr>
          <a:xfrm>
            <a:off x="5004898"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즉시 완화</a:t>
            </a:r>
          </a:p>
          <a:p>
            <a:pPr algn="ctr">
              <a:lnSpc>
                <a:spcPct val="110000"/>
              </a:lnSpc>
              <a:spcAft>
                <a:spcPts val="100"/>
              </a:spcAft>
            </a:pPr>
            <a:r>
              <a:rPr sz="1300" b="0">
                <a:solidFill>
                  <a:srgbClr val="556175"/>
                </a:solidFill>
                <a:latin typeface="맑은 고딕"/>
                <a:ea typeface="맑은 고딕"/>
                <a:cs typeface="맑은 고딕"/>
              </a:rPr>
              <a:t>경보 직후</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근본 조치</a:t>
            </a:r>
          </a:p>
          <a:p>
            <a:pPr algn="ctr">
              <a:lnSpc>
                <a:spcPct val="110000"/>
              </a:lnSpc>
              <a:spcAft>
                <a:spcPts val="100"/>
              </a:spcAft>
            </a:pPr>
            <a:r>
              <a:rPr sz="1300" b="0">
                <a:solidFill>
                  <a:srgbClr val="556175"/>
                </a:solidFill>
                <a:latin typeface="맑은 고딕"/>
                <a:ea typeface="맑은 고딕"/>
                <a:cs typeface="맑은 고딕"/>
              </a:rPr>
              <a:t>정비 시간</a:t>
            </a:r>
          </a:p>
        </p:txBody>
      </p:sp>
      <p:sp>
        <p:nvSpPr>
          <p:cNvPr id="10" name="TextBox 9"/>
          <p:cNvSpPr txBox="1"/>
          <p:nvPr/>
        </p:nvSpPr>
        <p:spPr>
          <a:xfrm>
            <a:off x="3804853" y="392044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발생</a:t>
            </a:r>
          </a:p>
        </p:txBody>
      </p:sp>
      <p:sp>
        <p:nvSpPr>
          <p:cNvPr id="11" name="TextBox 10"/>
          <p:cNvSpPr txBox="1"/>
          <p:nvPr/>
        </p:nvSpPr>
        <p:spPr>
          <a:xfrm>
            <a:off x="695647" y="5315041"/>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즉시 완화: 고장의 영향을 지금 줄인다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즉시 완화는 고장의 영향을 지금 줄이는 조치이며, 유온은 내려가지만 원인은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조치시점_mitigate.svg" descr="illust_629329388092326607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677613" y="167490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즉시 완화</a:t>
            </a:r>
          </a:p>
          <a:p>
            <a:pPr algn="ctr">
              <a:lnSpc>
                <a:spcPct val="110000"/>
              </a:lnSpc>
              <a:spcAft>
                <a:spcPts val="100"/>
              </a:spcAft>
            </a:pPr>
            <a:r>
              <a:rPr sz="1300" b="0">
                <a:solidFill>
                  <a:srgbClr val="556175"/>
                </a:solidFill>
                <a:latin typeface="맑은 고딕"/>
                <a:ea typeface="맑은 고딕"/>
                <a:cs typeface="맑은 고딕"/>
              </a:rPr>
              <a:t>팬 최대 운전 · SOP-COOL-11</a:t>
            </a:r>
          </a:p>
        </p:txBody>
      </p:sp>
      <p:sp>
        <p:nvSpPr>
          <p:cNvPr id="8" name="TextBox 7"/>
          <p:cNvSpPr txBox="1"/>
          <p:nvPr/>
        </p:nvSpPr>
        <p:spPr>
          <a:xfrm>
            <a:off x="3804853" y="392044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발생</a:t>
            </a:r>
          </a:p>
        </p:txBody>
      </p:sp>
      <p:sp>
        <p:nvSpPr>
          <p:cNvPr id="9" name="TextBox 8"/>
          <p:cNvSpPr txBox="1"/>
          <p:nvPr/>
        </p:nvSpPr>
        <p:spPr>
          <a:xfrm>
            <a:off x="6204942" y="5693237"/>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유온이 내려간다</a:t>
            </a:r>
          </a:p>
          <a:p>
            <a:pPr algn="ctr">
              <a:lnSpc>
                <a:spcPct val="110000"/>
              </a:lnSpc>
              <a:spcAft>
                <a:spcPts val="100"/>
              </a:spcAft>
            </a:pPr>
            <a:r>
              <a:rPr sz="1300" b="0">
                <a:solidFill>
                  <a:srgbClr val="556175"/>
                </a:solidFill>
                <a:latin typeface="맑은 고딕"/>
                <a:ea typeface="맑은 고딕"/>
                <a:cs typeface="맑은 고딕"/>
              </a:rPr>
              <a:t>원인은 남아 평소보다 높다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근본 조치: 고장을 일으킨 원인을 없앤다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근본 조치는 원인 자체를 없애는 조치이며, 원인에 맞는 것이어야 효과가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조치시점_remedy.svg" descr="illust_618282882083217988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50461" y="167490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근본 조치</a:t>
            </a:r>
          </a:p>
          <a:p>
            <a:pPr algn="ctr">
              <a:lnSpc>
                <a:spcPct val="110000"/>
              </a:lnSpc>
              <a:spcAft>
                <a:spcPts val="100"/>
              </a:spcAft>
            </a:pPr>
            <a:r>
              <a:rPr sz="1300" b="0">
                <a:solidFill>
                  <a:srgbClr val="556175"/>
                </a:solidFill>
                <a:latin typeface="맑은 고딕"/>
                <a:ea typeface="맑은 고딕"/>
                <a:cs typeface="맑은 고딕"/>
              </a:rPr>
              <a:t>쿨러 핀 세척 · SOP-COOL-14</a:t>
            </a:r>
          </a:p>
        </p:txBody>
      </p:sp>
      <p:sp>
        <p:nvSpPr>
          <p:cNvPr id="8" name="TextBox 7"/>
          <p:cNvSpPr txBox="1"/>
          <p:nvPr/>
        </p:nvSpPr>
        <p:spPr>
          <a:xfrm>
            <a:off x="3804853" y="392044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발생</a:t>
            </a:r>
          </a:p>
        </p:txBody>
      </p:sp>
      <p:sp>
        <p:nvSpPr>
          <p:cNvPr id="9" name="TextBox 8"/>
          <p:cNvSpPr txBox="1"/>
          <p:nvPr/>
        </p:nvSpPr>
        <p:spPr>
          <a:xfrm>
            <a:off x="8386841" y="4416826"/>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평소 수준으로 돌아온다</a:t>
            </a:r>
          </a:p>
          <a:p>
            <a:pPr algn="ctr">
              <a:lnSpc>
                <a:spcPct val="110000"/>
              </a:lnSpc>
              <a:spcAft>
                <a:spcPts val="100"/>
              </a:spcAft>
            </a:pPr>
            <a:r>
              <a:rPr sz="1300" b="0">
                <a:solidFill>
                  <a:srgbClr val="556175"/>
                </a:solidFill>
                <a:latin typeface="맑은 고딕"/>
                <a:ea typeface="맑은 고딕"/>
                <a:cs typeface="맑은 고딕"/>
              </a:rPr>
              <a:t>원인이 핀 오염일 때만 맞는다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예방 조치: 고장이 나기 전에 주기에 따라 시행한다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예방 조치는 고장이 나기 전에 운전시간이나 달력의 주기에 따라 미리 시행하는 정기 정비이다.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조치시점_prevent.svg" descr="illust_411502357616530919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08393"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예방 조치</a:t>
            </a:r>
          </a:p>
          <a:p>
            <a:pPr algn="ctr">
              <a:lnSpc>
                <a:spcPct val="110000"/>
              </a:lnSpc>
              <a:spcAft>
                <a:spcPts val="100"/>
              </a:spcAft>
            </a:pPr>
            <a:r>
              <a:rPr sz="1300" b="0">
                <a:solidFill>
                  <a:srgbClr val="556175"/>
                </a:solidFill>
                <a:latin typeface="맑은 고딕"/>
                <a:ea typeface="맑은 고딕"/>
                <a:cs typeface="맑은 고딕"/>
              </a:rPr>
              <a:t>2,000 h 정기 점검 · SOP-PM-21</a:t>
            </a:r>
          </a:p>
        </p:txBody>
      </p:sp>
      <p:sp>
        <p:nvSpPr>
          <p:cNvPr id="8" name="TextBox 7"/>
          <p:cNvSpPr txBox="1"/>
          <p:nvPr/>
        </p:nvSpPr>
        <p:spPr>
          <a:xfrm>
            <a:off x="3804853" y="392044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발생</a:t>
            </a:r>
          </a:p>
        </p:txBody>
      </p:sp>
      <p:sp>
        <p:nvSpPr>
          <p:cNvPr id="9" name="TextBox 8"/>
          <p:cNvSpPr txBox="1"/>
          <p:nvPr/>
        </p:nvSpPr>
        <p:spPr>
          <a:xfrm>
            <a:off x="1208393" y="4416826"/>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체적 효율 저하를 막는다</a:t>
            </a:r>
          </a:p>
          <a:p>
            <a:pPr algn="ctr">
              <a:lnSpc>
                <a:spcPct val="110000"/>
              </a:lnSpc>
              <a:spcAft>
                <a:spcPts val="100"/>
              </a:spcAft>
            </a:pPr>
            <a:r>
              <a:rPr sz="1300" b="0">
                <a:solidFill>
                  <a:srgbClr val="556175"/>
                </a:solidFill>
                <a:latin typeface="맑은 고딕"/>
                <a:ea typeface="맑은 고딕"/>
                <a:cs typeface="맑은 고딕"/>
              </a:rPr>
              <a:t>씰과 필터를 주기마다 교체한다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완화에 성공해도 원인은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사건에서 팬 최대 운전으로 경보는 해제되었으나 냉각 효율은 기준에 못 미쳤고, 핀 세척이 뒤에 이어졌다.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완화의 결과</a:t>
            </a:r>
          </a:p>
          <a:p>
            <a:pPr algn="l">
              <a:lnSpc>
                <a:spcPct val="110000"/>
              </a:lnSpc>
              <a:spcAft>
                <a:spcPts val="400"/>
              </a:spcAft>
            </a:pPr>
            <a:r>
              <a:rPr sz="1400" b="0">
                <a:solidFill>
                  <a:srgbClr val="1F2A3A"/>
                </a:solidFill>
                <a:latin typeface="맑은 고딕"/>
                <a:ea typeface="맑은 고딕"/>
                <a:cs typeface="맑은 고딕"/>
              </a:rPr>
              <a:t>조치 승인 뒤 유온이 내려가</a:t>
            </a:r>
          </a:p>
          <a:p>
            <a:pPr algn="l">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3246120"/>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남은 원인</a:t>
            </a:r>
          </a:p>
          <a:p>
            <a:pPr algn="l">
              <a:lnSpc>
                <a:spcPct val="110000"/>
              </a:lnSpc>
              <a:spcAft>
                <a:spcPts val="400"/>
              </a:spcAft>
            </a:pPr>
            <a:r>
              <a:rPr sz="1400" b="0">
                <a:solidFill>
                  <a:srgbClr val="1F2A3A"/>
                </a:solidFill>
                <a:latin typeface="맑은 고딕"/>
                <a:ea typeface="맑은 고딕"/>
                <a:cs typeface="맑은 고딕"/>
              </a:rPr>
              <a:t>냉각 효율은 55 %로,</a:t>
            </a:r>
          </a:p>
          <a:p>
            <a:pPr algn="l">
              <a:lnSpc>
                <a:spcPct val="110000"/>
              </a:lnSpc>
              <a:spcAft>
                <a:spcPts val="400"/>
              </a:spcAft>
            </a:pPr>
            <a:r>
              <a:rPr sz="1400" b="0">
                <a:solidFill>
                  <a:srgbClr val="1F2A3A"/>
                </a:solidFill>
                <a:latin typeface="맑은 고딕"/>
                <a:ea typeface="맑은 고딕"/>
                <a:cs typeface="맑은 고딕"/>
              </a:rPr>
              <a:t>기준 70 %에 못 미친다.</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이어지는 조치</a:t>
            </a:r>
          </a:p>
          <a:p>
            <a:pPr algn="l">
              <a:lnSpc>
                <a:spcPct val="110000"/>
              </a:lnSpc>
              <a:spcAft>
                <a:spcPts val="400"/>
              </a:spcAft>
            </a:pPr>
            <a:r>
              <a:rPr sz="1400" b="0">
                <a:solidFill>
                  <a:srgbClr val="1F2A3A"/>
                </a:solidFill>
                <a:latin typeface="맑은 고딕"/>
                <a:ea typeface="맑은 고딕"/>
                <a:cs typeface="맑은 고딕"/>
              </a:rPr>
              <a:t>핀 세척은 작업지시로</a:t>
            </a:r>
          </a:p>
          <a:p>
            <a:pPr algn="l">
              <a:lnSpc>
                <a:spcPct val="110000"/>
              </a:lnSpc>
              <a:spcAft>
                <a:spcPts val="400"/>
              </a:spcAft>
            </a:pPr>
            <a:r>
              <a:rPr sz="1400" b="0">
                <a:solidFill>
                  <a:srgbClr val="1F2A3A"/>
                </a:solidFill>
                <a:latin typeface="맑은 고딕"/>
                <a:ea typeface="맑은 고딕"/>
                <a:cs typeface="맑은 고딕"/>
              </a:rPr>
              <a:t>따로 등록되었다.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절차에서 얻은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조치는 SOP가 수행 방법을 정하고, 그 안의 조건이 가능 여부를 가르며, 성격에 따라 세 종류로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400" b="0">
                <a:solidFill>
                  <a:srgbClr val="1F2A3A"/>
                </a:solidFill>
                <a:latin typeface="맑은 고딕"/>
                <a:ea typeface="맑은 고딕"/>
                <a:cs typeface="맑은 고딕"/>
              </a:rPr>
              <a:t>수행 단계에 대상, 조건, 금지 사항, 역할, 완료 기준이 붙는다</a:t>
            </a:r>
          </a:p>
        </p:txBody>
      </p:sp>
      <p:sp>
        <p:nvSpPr>
          <p:cNvPr id="10" name="Rounded Rectangle 9"/>
          <p:cNvSpPr/>
          <p:nvPr/>
        </p:nvSpPr>
        <p:spPr>
          <a:xfrm>
            <a:off x="777240" y="493293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switch-3" descr="switch-3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순서와 조건</a:t>
            </a:r>
          </a:p>
          <a:p>
            <a:pPr algn="l">
              <a:lnSpc>
                <a:spcPct val="110000"/>
              </a:lnSpc>
              <a:spcAft>
                <a:spcPts val="400"/>
              </a:spcAft>
            </a:pPr>
            <a:r>
              <a:rPr sz="1400" b="0">
                <a:solidFill>
                  <a:srgbClr val="1F2A3A"/>
                </a:solidFill>
                <a:latin typeface="맑은 고딕"/>
                <a:ea typeface="맑은 고딕"/>
                <a:cs typeface="맑은 고딕"/>
              </a:rPr>
              <a:t>조건은 지금의 값과 견주어야 정해진다</a:t>
            </a:r>
          </a:p>
        </p:txBody>
      </p:sp>
      <p:sp>
        <p:nvSpPr>
          <p:cNvPr id="16" name="Rounded Rectangle 15"/>
          <p:cNvSpPr/>
          <p:nvPr/>
        </p:nvSpPr>
        <p:spPr>
          <a:xfrm>
            <a:off x="4566818" y="4932934"/>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단원의 재료</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calendar-repeat" descr="calendar-repeat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종류</a:t>
            </a:r>
          </a:p>
          <a:p>
            <a:pPr algn="l">
              <a:lnSpc>
                <a:spcPct val="110000"/>
              </a:lnSpc>
              <a:spcAft>
                <a:spcPts val="400"/>
              </a:spcAft>
            </a:pPr>
            <a:r>
              <a:rPr sz="1400" b="0">
                <a:solidFill>
                  <a:srgbClr val="1F2A3A"/>
                </a:solidFill>
                <a:latin typeface="맑은 고딕"/>
                <a:ea typeface="맑은 고딕"/>
                <a:cs typeface="맑은 고딕"/>
              </a:rPr>
              <a:t>예방, 즉시 완화, 근본 조치는 쓰이는 때가 다르다</a:t>
            </a:r>
          </a:p>
        </p:txBody>
      </p:sp>
      <p:sp>
        <p:nvSpPr>
          <p:cNvPr id="22" name="Rounded Rectangle 21"/>
          <p:cNvSpPr/>
          <p:nvPr/>
        </p:nvSpPr>
        <p:spPr>
          <a:xfrm>
            <a:off x="8356396" y="493293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언제 쓰는가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조치를 가리는 판단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조건을 결정표로 옮겨 누가 대어 보아도 같은 판정이 나오게 하는 방법</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문장으로만 있는 조건의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문장으로만 있으면 사람이 그때그때 읽고 떠올려야 하므로 빠뜨리거나 다르게 읽기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check" descr="eye-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조건이 여러 절에 흩어져 있어 급할 때 하나를 놓친다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다르게 읽는다</a:t>
            </a:r>
          </a:p>
          <a:p>
            <a:pPr algn="l">
              <a:lnSpc>
                <a:spcPct val="110000"/>
              </a:lnSpc>
              <a:spcAft>
                <a:spcPts val="400"/>
              </a:spcAft>
            </a:pPr>
            <a:r>
              <a:rPr sz="1400" b="0">
                <a:solidFill>
                  <a:srgbClr val="1F2A3A"/>
                </a:solidFill>
                <a:latin typeface="맑은 고딕"/>
                <a:ea typeface="맑은 고딕"/>
                <a:cs typeface="맑은 고딕"/>
              </a:rPr>
              <a:t>「넘겼다면」이 24시간 정각을 포함하는지 사람마다 다르게 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어떤 조건을 확인했고 무엇에 걸렸는지가 기록되지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판단을 세 부분으로 나누어 적는다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판단 하나를 무엇을 보는가, 어떤 조건이면 어떤 결과인가, 그래서 답이 무엇인가의 세 부분으로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a:t>
            </a:r>
          </a:p>
          <a:p>
            <a:pPr algn="ctr">
              <a:lnSpc>
                <a:spcPct val="110000"/>
              </a:lnSpc>
              <a:spcAft>
                <a:spcPts val="400"/>
              </a:spcAft>
            </a:pPr>
            <a:r>
              <a:rPr sz="1350" b="0">
                <a:solidFill>
                  <a:srgbClr val="1F2A3A"/>
                </a:solidFill>
                <a:latin typeface="맑은 고딕"/>
                <a:ea typeface="맑은 고딕"/>
                <a:cs typeface="맑은 고딕"/>
              </a:rPr>
              <a:t>무엇을 보고</a:t>
            </a:r>
          </a:p>
          <a:p>
            <a:pPr algn="ctr">
              <a:lnSpc>
                <a:spcPct val="110000"/>
              </a:lnSpc>
              <a:spcAft>
                <a:spcPts val="400"/>
              </a:spcAft>
            </a:pPr>
            <a:r>
              <a:rPr sz="1350" b="0">
                <a:solidFill>
                  <a:srgbClr val="1F2A3A"/>
                </a:solidFill>
                <a:latin typeface="맑은 고딕"/>
                <a:ea typeface="맑은 고딕"/>
                <a:cs typeface="맑은 고딕"/>
              </a:rPr>
              <a:t>판단하는가</a:t>
            </a:r>
          </a:p>
          <a:p>
            <a:pPr algn="ctr">
              <a:lnSpc>
                <a:spcPct val="110000"/>
              </a:lnSpc>
              <a:spcAft>
                <a:spcPts val="400"/>
              </a:spcAft>
            </a:pPr>
            <a:r>
              <a:rPr sz="1350" b="0">
                <a:solidFill>
                  <a:srgbClr val="1F2A3A"/>
                </a:solidFill>
                <a:latin typeface="맑은 고딕"/>
                <a:ea typeface="맑은 고딕"/>
                <a:cs typeface="맑은 고딕"/>
              </a:rPr>
              <a:t>예: 운전 모드</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786062"/>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어떤 조건이면</a:t>
            </a:r>
          </a:p>
          <a:p>
            <a:pPr algn="ctr">
              <a:lnSpc>
                <a:spcPct val="110000"/>
              </a:lnSpc>
              <a:spcAft>
                <a:spcPts val="400"/>
              </a:spcAft>
            </a:pPr>
            <a:r>
              <a:rPr sz="1350" b="0">
                <a:solidFill>
                  <a:srgbClr val="1F2A3A"/>
                </a:solidFill>
                <a:latin typeface="맑은 고딕"/>
                <a:ea typeface="맑은 고딕"/>
                <a:cs typeface="맑은 고딕"/>
              </a:rPr>
              <a:t>어떤 결과인가</a:t>
            </a:r>
          </a:p>
          <a:p>
            <a:pPr algn="ctr">
              <a:lnSpc>
                <a:spcPct val="110000"/>
              </a:lnSpc>
              <a:spcAft>
                <a:spcPts val="400"/>
              </a:spcAft>
            </a:pPr>
            <a:r>
              <a:rPr sz="1350" b="0">
                <a:solidFill>
                  <a:srgbClr val="1F2A3A"/>
                </a:solidFill>
                <a:latin typeface="맑은 고딕"/>
                <a:ea typeface="맑은 고딕"/>
                <a:cs typeface="맑은 고딕"/>
              </a:rPr>
              <a:t>예: 원격 자동이 아니면 제외</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786062"/>
            <a:ext cx="731520" cy="731520"/>
          </a:xfrm>
          <a:prstGeom prst="ellipse">
            <a:avLst/>
          </a:prstGeom>
          <a:solidFill>
            <a:srgbClr val="FFFFFF"/>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그래서</a:t>
            </a:r>
          </a:p>
          <a:p>
            <a:pPr algn="ctr">
              <a:lnSpc>
                <a:spcPct val="110000"/>
              </a:lnSpc>
              <a:spcAft>
                <a:spcPts val="400"/>
              </a:spcAft>
            </a:pPr>
            <a:r>
              <a:rPr sz="1350" b="0">
                <a:solidFill>
                  <a:srgbClr val="1F2A3A"/>
                </a:solidFill>
                <a:latin typeface="맑은 고딕"/>
                <a:ea typeface="맑은 고딕"/>
                <a:cs typeface="맑은 고딕"/>
              </a:rPr>
              <a:t>답이 무엇인가</a:t>
            </a:r>
          </a:p>
          <a:p>
            <a:pPr algn="ctr">
              <a:lnSpc>
                <a:spcPct val="110000"/>
              </a:lnSpc>
              <a:spcAft>
                <a:spcPts val="400"/>
              </a:spcAft>
            </a:pPr>
            <a:r>
              <a:rPr sz="1350" b="0">
                <a:solidFill>
                  <a:srgbClr val="1F2A3A"/>
                </a:solidFill>
                <a:latin typeface="맑은 고딕"/>
                <a:ea typeface="맑은 고딕"/>
                <a:cs typeface="맑은 고딕"/>
              </a:rPr>
              <a:t>예: 팬 최대 운전 제외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결정(Decision): 답해야 할 물음 하나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결정표를 만들 때 가장 먼저 정하는 것은 이 표가 답하려는 물음 하나이며, 이것을 결정이라고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결정표_1.svg" descr="illust_6130604508719070400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728376" y="1674906"/>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결정(Decision)</a:t>
            </a:r>
          </a:p>
          <a:p>
            <a:pPr algn="ctr">
              <a:lnSpc>
                <a:spcPct val="110000"/>
              </a:lnSpc>
              <a:spcAft>
                <a:spcPts val="100"/>
              </a:spcAft>
            </a:pPr>
            <a:r>
              <a:rPr sz="1300" b="0">
                <a:solidFill>
                  <a:srgbClr val="556175"/>
                </a:solidFill>
                <a:latin typeface="맑은 고딕"/>
                <a:ea typeface="맑은 고딕"/>
                <a:cs typeface="맑은 고딕"/>
              </a:rPr>
              <a:t>표 하나가 답하는</a:t>
            </a:r>
          </a:p>
          <a:p>
            <a:pPr algn="ctr">
              <a:lnSpc>
                <a:spcPct val="110000"/>
              </a:lnSpc>
              <a:spcAft>
                <a:spcPts val="100"/>
              </a:spcAft>
            </a:pPr>
            <a:r>
              <a:rPr sz="1300" b="0">
                <a:solidFill>
                  <a:srgbClr val="556175"/>
                </a:solidFill>
                <a:latin typeface="맑은 고딕"/>
                <a:ea typeface="맑은 고딕"/>
                <a:cs typeface="맑은 고딕"/>
              </a:rPr>
              <a:t>물음 하나</a:t>
            </a:r>
          </a:p>
        </p:txBody>
      </p:sp>
      <p:sp>
        <p:nvSpPr>
          <p:cNvPr id="9" name="TextBox 8"/>
          <p:cNvSpPr txBox="1"/>
          <p:nvPr/>
        </p:nvSpPr>
        <p:spPr>
          <a:xfrm>
            <a:off x="5823110" y="3778620"/>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빈 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데이터(InputData): 판단에 쓰는 값의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물음에 답하려면 무엇을 보아야 하는지를 정하며, 그 값의 항목 하나하나가 입력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결정표_2.svg" descr="illust_607032146714007390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0" name="TextBox 9"/>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1" name="TextBox 10"/>
          <p:cNvSpPr txBox="1"/>
          <p:nvPr/>
        </p:nvSpPr>
        <p:spPr>
          <a:xfrm>
            <a:off x="728376" y="2833131"/>
            <a:ext cx="2181899" cy="825246"/>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데이터(InputData)</a:t>
            </a:r>
          </a:p>
          <a:p>
            <a:pPr algn="ctr">
              <a:lnSpc>
                <a:spcPct val="110000"/>
              </a:lnSpc>
              <a:spcAft>
                <a:spcPts val="100"/>
              </a:spcAft>
            </a:pPr>
            <a:r>
              <a:rPr sz="1300" b="0">
                <a:solidFill>
                  <a:srgbClr val="556175"/>
                </a:solidFill>
                <a:latin typeface="맑은 고딕"/>
                <a:ea typeface="맑은 고딕"/>
                <a:cs typeface="맑은 고딕"/>
              </a:rPr>
              <a:t>판단에 쓰는 값의 항목</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규칙(Rule): 결정표의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머리줄 아래의 한 행이 규칙 하나이며, 매뉴얼의 조건 문장 하나가 행 하나로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결정표_3.svg" descr="illust_96271132102948816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규칙(Rule)</a:t>
            </a:r>
          </a:p>
          <a:p>
            <a:pPr algn="ctr">
              <a:lnSpc>
                <a:spcPct val="110000"/>
              </a:lnSpc>
              <a:spcAft>
                <a:spcPts val="100"/>
              </a:spcAft>
            </a:pPr>
            <a:r>
              <a:rPr sz="1300" b="0">
                <a:solidFill>
                  <a:srgbClr val="556175"/>
                </a:solidFill>
                <a:latin typeface="맑은 고딕"/>
                <a:ea typeface="맑은 고딕"/>
                <a:cs typeface="맑은 고딕"/>
              </a:rPr>
              <a:t>표의 한 행</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규칙의 두 부분: 조건과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입력 값을 견주는 조건과, 그 조건이 맞을 때 내는 출력의 두 부분으로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결정표_4.svg" descr="illust_153282789721940175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조건이 맞으면</a:t>
            </a:r>
          </a:p>
          <a:p>
            <a:pPr algn="ctr">
              <a:lnSpc>
                <a:spcPct val="110000"/>
              </a:lnSpc>
              <a:spcAft>
                <a:spcPts val="100"/>
              </a:spcAft>
            </a:pPr>
            <a:r>
              <a:rPr sz="1300" b="0">
                <a:solidFill>
                  <a:srgbClr val="556175"/>
                </a:solidFill>
                <a:latin typeface="맑은 고딕"/>
                <a:ea typeface="맑은 고딕"/>
                <a:cs typeface="맑은 고딕"/>
              </a:rPr>
              <a:t>출력을 낸다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둘째 규칙을 더한다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문장이 하나 더 있으면 행을 하나 더하며, 그 행이 쓰지 않는 입력의 칸은 비워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pic>
        <p:nvPicPr>
          <p:cNvPr id="6" name="삽화:결정표_5.svg" descr="illust_8813037463560383971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450406" y="4747747"/>
            <a:ext cx="174551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&gt; 24</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460592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규칙</a:t>
            </a:r>
          </a:p>
          <a:p>
            <a:pPr algn="ctr">
              <a:lnSpc>
                <a:spcPct val="110000"/>
              </a:lnSpc>
              <a:spcAft>
                <a:spcPts val="100"/>
              </a:spcAft>
            </a:pPr>
            <a:r>
              <a:rPr sz="1300" b="0">
                <a:solidFill>
                  <a:srgbClr val="556175"/>
                </a:solidFill>
                <a:latin typeface="맑은 고딕"/>
                <a:ea typeface="맑은 고딕"/>
                <a:cs typeface="맑은 고딕"/>
              </a:rPr>
              <a:t>24시간을 넘겼다면 감점한다</a:t>
            </a:r>
          </a:p>
        </p:txBody>
      </p:sp>
      <p:sp>
        <p:nvSpPr>
          <p:cNvPr id="18" name="TextBox 17"/>
          <p:cNvSpPr txBox="1"/>
          <p:nvPr/>
        </p:nvSpPr>
        <p:spPr>
          <a:xfrm>
            <a:off x="3695758" y="5551413"/>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한 결정에 쓰이는 규칙을 모은 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결정표를 읽는 법: 지금의 값을 대어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지금의 입력 값을 행마다 조건에 대어 보고, 조건이 맞는 행의 출력을 가져오는 방식으로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결정표_6.svg" descr="illust_4929832571542866400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450406" y="474774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규칙의 근거: 판정에 출처가 따라간다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규칙이 어느 문서의 어느 절에서 왔는지를 함께 간직하므로 판정의 근거를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삽화:결정표_7.svg" descr="illust_263448459480122532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450406" y="474774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8877768" y="5693237"/>
            <a:ext cx="141823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근거</a:t>
            </a:r>
          </a:p>
          <a:p>
            <a:pPr algn="ctr">
              <a:lnSpc>
                <a:spcPct val="110000"/>
              </a:lnSpc>
              <a:spcAft>
                <a:spcPts val="100"/>
              </a:spcAft>
            </a:pPr>
            <a:r>
              <a:rPr sz="1300" b="0">
                <a:solidFill>
                  <a:srgbClr val="556175"/>
                </a:solidFill>
                <a:latin typeface="맑은 고딕"/>
                <a:ea typeface="맑은 고딕"/>
                <a:cs typeface="맑은 고딕"/>
              </a:rPr>
              <a:t>매뉴얼 HM-8.8</a:t>
            </a:r>
          </a:p>
        </p:txBody>
      </p:sp>
      <p:sp>
        <p:nvSpPr>
          <p:cNvPr id="18" name="TextBox 17"/>
          <p:cNvSpPr txBox="1"/>
          <p:nvPr/>
        </p:nvSpPr>
        <p:spPr>
          <a:xfrm>
            <a:off x="3695758" y="5551413"/>
            <a:ext cx="392741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출처(Knowledge Source)</a:t>
            </a:r>
          </a:p>
          <a:p>
            <a:pPr algn="ctr">
              <a:lnSpc>
                <a:spcPct val="110000"/>
              </a:lnSpc>
              <a:spcAft>
                <a:spcPts val="100"/>
              </a:spcAft>
            </a:pPr>
            <a:r>
              <a:rPr sz="1300" b="0">
                <a:solidFill>
                  <a:srgbClr val="556175"/>
                </a:solidFill>
                <a:latin typeface="맑은 고딕"/>
                <a:ea typeface="맑은 고딕"/>
                <a:cs typeface="맑은 고딕"/>
              </a:rPr>
              <a:t>규칙의 근거가 되는 문서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데이터의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데이터마다 그 값을 어디서 가져오는지가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 운전 모드</a:t>
            </a:r>
          </a:p>
          <a:p>
            <a:pPr algn="l">
              <a:lnSpc>
                <a:spcPct val="110000"/>
              </a:lnSpc>
              <a:spcAft>
                <a:spcPts val="400"/>
              </a:spcAft>
            </a:pPr>
            <a:r>
              <a:rPr sz="1350" b="0">
                <a:solidFill>
                  <a:srgbClr val="1F2A3A"/>
                </a:solidFill>
                <a:latin typeface="맑은 고딕"/>
                <a:ea typeface="맑은 고딕"/>
                <a:cs typeface="맑은 고딕"/>
              </a:rPr>
              <a:t>• plc_mode</a:t>
            </a:r>
          </a:p>
          <a:p>
            <a:pPr algn="l">
              <a:lnSpc>
                <a:spcPct val="110000"/>
              </a:lnSpc>
              <a:spcAft>
                <a:spcPts val="400"/>
              </a:spcAft>
            </a:pPr>
            <a:r>
              <a:rPr sz="1350" b="0">
                <a:solidFill>
                  <a:srgbClr val="1F2A3A"/>
                </a:solidFill>
                <a:latin typeface="맑은 고딕"/>
                <a:ea typeface="맑은 고딕"/>
                <a:cs typeface="맑은 고딕"/>
              </a:rPr>
              <a:t>• 원격 자동, 원격 수동, 현장 제어 가운데 하나</a:t>
            </a:r>
          </a:p>
        </p:txBody>
      </p:sp>
      <p:sp>
        <p:nvSpPr>
          <p:cNvPr id="10" name="Rounded Rectangle 9"/>
          <p:cNvSpPr/>
          <p:nvPr/>
        </p:nvSpPr>
        <p:spPr>
          <a:xfrm>
            <a:off x="777240" y="5169217"/>
            <a:ext cx="126796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12679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SCADA</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350" b="0">
                <a:solidFill>
                  <a:srgbClr val="1F2A3A"/>
                </a:solidFill>
                <a:latin typeface="맑은 고딕"/>
                <a:ea typeface="맑은 고딕"/>
                <a:cs typeface="맑은 고딕"/>
              </a:rPr>
              <a:t>• fan100_hours</a:t>
            </a:r>
          </a:p>
          <a:p>
            <a:pPr algn="l">
              <a:lnSpc>
                <a:spcPct val="110000"/>
              </a:lnSpc>
              <a:spcAft>
                <a:spcPts val="400"/>
              </a:spcAft>
            </a:pPr>
            <a:r>
              <a:rPr sz="1350" b="0">
                <a:solidFill>
                  <a:srgbClr val="1F2A3A"/>
                </a:solidFill>
                <a:latin typeface="맑은 고딕"/>
                <a:ea typeface="맑은 고딕"/>
                <a:cs typeface="맑은 고딕"/>
              </a:rPr>
              <a:t>• 팬이 최대 속도로 이어서 돈 시간</a:t>
            </a:r>
          </a:p>
        </p:txBody>
      </p:sp>
      <p:sp>
        <p:nvSpPr>
          <p:cNvPr id="16" name="Rounded Rectangle 15"/>
          <p:cNvSpPr/>
          <p:nvPr/>
        </p:nvSpPr>
        <p:spPr>
          <a:xfrm>
            <a:off x="3619423" y="516921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운전 이력</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350" b="0">
                <a:solidFill>
                  <a:srgbClr val="1F2A3A"/>
                </a:solidFill>
                <a:latin typeface="맑은 고딕"/>
                <a:ea typeface="맑은 고딕"/>
                <a:cs typeface="맑은 고딕"/>
              </a:rPr>
              <a:t>• forecast_ts1</a:t>
            </a:r>
          </a:p>
          <a:p>
            <a:pPr algn="l">
              <a:lnSpc>
                <a:spcPct val="110000"/>
              </a:lnSpc>
              <a:spcAft>
                <a:spcPts val="400"/>
              </a:spcAft>
            </a:pPr>
            <a:r>
              <a:rPr sz="1350" b="0">
                <a:solidFill>
                  <a:srgbClr val="1F2A3A"/>
                </a:solidFill>
                <a:latin typeface="맑은 고딕"/>
                <a:ea typeface="맑은 고딕"/>
                <a:cs typeface="맑은 고딕"/>
              </a:rPr>
              <a:t>• 그 조치를 했을 때 유온이 머물 값</a:t>
            </a:r>
          </a:p>
        </p:txBody>
      </p:sp>
      <p:sp>
        <p:nvSpPr>
          <p:cNvPr id="22" name="Rounded Rectangle 21"/>
          <p:cNvSpPr/>
          <p:nvPr/>
        </p:nvSpPr>
        <p:spPr>
          <a:xfrm>
            <a:off x="6461607" y="516921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예측 계산</a:t>
            </a:r>
          </a:p>
        </p:txBody>
      </p:sp>
      <p:sp>
        <p:nvSpPr>
          <p:cNvPr id="24" name="Rounded Rectangle 23"/>
          <p:cNvSpPr/>
          <p:nvPr/>
        </p:nvSpPr>
        <p:spPr>
          <a:xfrm>
            <a:off x="9075191"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E7F3FD"/>
          </a:solidFill>
          <a:ln>
            <a:noFill/>
          </a:ln>
        </p:spPr>
        <p:txBody>
          <a:bodyPr rtlCol="0" anchor="ctr"/>
          <a:lstStyle/>
          <a:p>
            <a:pPr algn="ctr"/>
          </a:p>
        </p:txBody>
      </p:sp>
      <p:pic>
        <p:nvPicPr>
          <p:cNvPr id="26" name="아이콘:truck-delivery" descr="truck-delivery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오더 남은 시간</a:t>
            </a:r>
          </a:p>
          <a:p>
            <a:pPr algn="l">
              <a:lnSpc>
                <a:spcPct val="110000"/>
              </a:lnSpc>
              <a:spcAft>
                <a:spcPts val="400"/>
              </a:spcAft>
            </a:pPr>
            <a:r>
              <a:rPr sz="1350" b="0">
                <a:solidFill>
                  <a:srgbClr val="1F2A3A"/>
                </a:solidFill>
                <a:latin typeface="맑은 고딕"/>
                <a:ea typeface="맑은 고딕"/>
                <a:cs typeface="맑은 고딕"/>
              </a:rPr>
              <a:t>• order_due_h</a:t>
            </a:r>
          </a:p>
          <a:p>
            <a:pPr algn="l">
              <a:lnSpc>
                <a:spcPct val="110000"/>
              </a:lnSpc>
              <a:spcAft>
                <a:spcPts val="400"/>
              </a:spcAft>
            </a:pPr>
            <a:r>
              <a:rPr sz="1350" b="0">
                <a:solidFill>
                  <a:srgbClr val="1F2A3A"/>
                </a:solidFill>
                <a:latin typeface="맑은 고딕"/>
                <a:ea typeface="맑은 고딕"/>
                <a:cs typeface="맑은 고딕"/>
              </a:rPr>
              <a:t>• 긴급 오더의 납기까지 남은 시간</a:t>
            </a:r>
          </a:p>
        </p:txBody>
      </p:sp>
      <p:sp>
        <p:nvSpPr>
          <p:cNvPr id="28" name="Rounded Rectangle 27"/>
          <p:cNvSpPr/>
          <p:nvPr/>
        </p:nvSpPr>
        <p:spPr>
          <a:xfrm>
            <a:off x="9303791" y="5169217"/>
            <a:ext cx="1078992"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69217"/>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MES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표에 적힌 것과 그때 읽어 오는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결정표에는 무엇을 무엇과 견줄지만 적혀 있고, 견줄 값은 판단하는 그 시점에 출처에서 읽어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적힌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입력의 이름: fan100_hours</a:t>
            </a:r>
          </a:p>
          <a:p>
            <a:pPr algn="l">
              <a:lnSpc>
                <a:spcPct val="110000"/>
              </a:lnSpc>
              <a:spcAft>
                <a:spcPts val="600"/>
              </a:spcAft>
            </a:pPr>
            <a:r>
              <a:rPr sz="1450" b="0">
                <a:solidFill>
                  <a:srgbClr val="1F2A3A"/>
                </a:solidFill>
                <a:latin typeface="맑은 고딕"/>
                <a:ea typeface="맑은 고딕"/>
                <a:cs typeface="맑은 고딕"/>
              </a:rPr>
              <a:t>• 연산자와 기준값: &gt; 24</a:t>
            </a:r>
          </a:p>
          <a:p>
            <a:pPr algn="l">
              <a:lnSpc>
                <a:spcPct val="110000"/>
              </a:lnSpc>
              <a:spcAft>
                <a:spcPts val="600"/>
              </a:spcAft>
            </a:pPr>
            <a:r>
              <a:rPr sz="1450" b="0">
                <a:solidFill>
                  <a:srgbClr val="1F2A3A"/>
                </a:solidFill>
                <a:latin typeface="맑은 고딕"/>
                <a:ea typeface="맑은 고딕"/>
                <a:cs typeface="맑은 고딕"/>
              </a:rPr>
              <a:t>• 문서가 바뀌기 전에는 그대로이다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그때 읽어 오는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지금의 연속 운전 시간: 30시간</a:t>
            </a:r>
          </a:p>
          <a:p>
            <a:pPr algn="l">
              <a:lnSpc>
                <a:spcPct val="110000"/>
              </a:lnSpc>
              <a:spcAft>
                <a:spcPts val="600"/>
              </a:spcAft>
            </a:pPr>
            <a:r>
              <a:rPr sz="1450" b="0">
                <a:solidFill>
                  <a:srgbClr val="1F2A3A"/>
                </a:solidFill>
                <a:latin typeface="맑은 고딕"/>
                <a:ea typeface="맑은 고딕"/>
                <a:cs typeface="맑은 고딕"/>
              </a:rPr>
              <a:t>• 판단할 때마다 달라진다</a:t>
            </a:r>
          </a:p>
          <a:p>
            <a:pPr algn="l">
              <a:lnSpc>
                <a:spcPct val="110000"/>
              </a:lnSpc>
              <a:spcAft>
                <a:spcPts val="600"/>
              </a:spcAft>
            </a:pPr>
            <a:r>
              <a:rPr sz="1450" b="0">
                <a:solidFill>
                  <a:srgbClr val="1F2A3A"/>
                </a:solidFill>
                <a:latin typeface="맑은 고딕"/>
                <a:ea typeface="맑은 고딕"/>
                <a:cs typeface="맑은 고딕"/>
              </a:rPr>
              <a:t>• 출처가 함께 기록된다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앞으로의 값도 입력이 된다: 조치 후 예측 유온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입력은 지금 잰 값만이 아니며, 그 조치를 했을 때의 유온을 미리 계산한 예측값도 조건의 입력으로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forecast_ts1 &gt;= 55</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temperature" descr="temperatur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조치 후 예측 유온</a:t>
            </a:r>
          </a:p>
          <a:p>
            <a:pPr algn="l">
              <a:lnSpc>
                <a:spcPct val="110000"/>
              </a:lnSpc>
              <a:spcAft>
                <a:spcPts val="400"/>
              </a:spcAft>
            </a:pPr>
            <a:r>
              <a:rPr sz="1400" b="0">
                <a:solidFill>
                  <a:srgbClr val="1F2A3A"/>
                </a:solidFill>
                <a:latin typeface="맑은 고딕"/>
                <a:ea typeface="맑은 고딕"/>
                <a:cs typeface="맑은 고딕"/>
              </a:rPr>
              <a:t>조치마다 값이 다르다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calculator" descr="calculator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조건</a:t>
            </a:r>
          </a:p>
          <a:p>
            <a:pPr algn="l">
              <a:lnSpc>
                <a:spcPct val="110000"/>
              </a:lnSpc>
              <a:spcAft>
                <a:spcPts val="400"/>
              </a:spcAft>
            </a:pPr>
            <a:r>
              <a:rPr sz="1400" b="0">
                <a:solidFill>
                  <a:srgbClr val="1F2A3A"/>
                </a:solidFill>
                <a:latin typeface="맑은 고딕"/>
                <a:ea typeface="맑은 고딕"/>
                <a:cs typeface="맑은 고딕"/>
              </a:rPr>
              <a:t>55 ℃ 이상이면</a:t>
            </a:r>
          </a:p>
          <a:p>
            <a:pPr algn="l">
              <a:lnSpc>
                <a:spcPct val="110000"/>
              </a:lnSpc>
              <a:spcAft>
                <a:spcPts val="400"/>
              </a:spcAft>
            </a:pPr>
            <a:r>
              <a:rPr sz="1400" b="0">
                <a:solidFill>
                  <a:srgbClr val="1F2A3A"/>
                </a:solidFill>
                <a:latin typeface="맑은 고딕"/>
                <a:ea typeface="맑은 고딕"/>
                <a:cs typeface="맑은 고딕"/>
              </a:rPr>
              <a:t>경보가 풀리지 않을 수 있다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그 후보에</a:t>
            </a:r>
          </a:p>
          <a:p>
            <a:pPr algn="l">
              <a:lnSpc>
                <a:spcPct val="110000"/>
              </a:lnSpc>
              <a:spcAft>
                <a:spcPts val="400"/>
              </a:spcAft>
            </a:pPr>
            <a:r>
              <a:rPr sz="1400" b="0">
                <a:solidFill>
                  <a:srgbClr val="1F2A3A"/>
                </a:solidFill>
                <a:latin typeface="맑은 고딕"/>
                <a:ea typeface="맑은 고딕"/>
                <a:cs typeface="맑은 고딕"/>
              </a:rPr>
              <a:t>경고를 붙인다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문장에서 결정표의 한 행으로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문장 하나를 옮길 때는 문장을 조건, 출력, 대상, 근거의 네 조각으로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HM-8.8</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p>
          <a:p>
            <a:pPr algn="l">
              <a:lnSpc>
                <a:spcPct val="110000"/>
              </a:lnSpc>
              <a:spcAft>
                <a:spcPts val="200"/>
              </a:spcAft>
            </a:pPr>
            <a:r>
              <a:rPr sz="1300" b="0">
                <a:solidFill>
                  <a:srgbClr val="E8EEF6"/>
                </a:solidFill>
                <a:latin typeface="Consolas"/>
                <a:ea typeface="맑은 고딕"/>
                <a:cs typeface="맑은 고딕"/>
              </a:rPr>
              <a:t>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결정표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p>
          <a:p>
            <a:pPr algn="l">
              <a:lnSpc>
                <a:spcPct val="110000"/>
              </a:lnSpc>
              <a:spcAft>
                <a:spcPts val="200"/>
              </a:spcAft>
            </a:pPr>
            <a:r>
              <a:rPr sz="1300" b="0">
                <a:solidFill>
                  <a:srgbClr val="E8EEF6"/>
                </a:solidFill>
                <a:latin typeface="Consolas"/>
                <a:ea typeface="맑은 고딕"/>
                <a:cs typeface="맑은 고딕"/>
              </a:rPr>
              <a:t>rule    rule:cmp-fan100-over-24h</a:t>
            </a:r>
          </a:p>
          <a:p>
            <a:pPr algn="l">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fan100_hours &gt; 24</a:t>
            </a:r>
          </a:p>
          <a:p>
            <a:pPr algn="l">
              <a:lnSpc>
                <a:spcPct val="110000"/>
              </a:lnSpc>
              <a:spcAft>
                <a:spcPts val="200"/>
              </a:spcAft>
            </a:pP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PENALTY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a:p>
            <a:pPr algn="l">
              <a:lnSpc>
                <a:spcPct val="110000"/>
              </a:lnSpc>
              <a:spcAft>
                <a:spcPts val="200"/>
              </a:spcAft>
            </a:pP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SOP-COOL-11, SOP-COOL-12</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HM-8.8</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a:t>
            </a:r>
          </a:p>
          <a:p>
            <a:pPr algn="l">
              <a:lnSpc>
                <a:spcPct val="110000"/>
              </a:lnSpc>
              <a:spcAft>
                <a:spcPts val="400"/>
              </a:spcAft>
            </a:pPr>
            <a:r>
              <a:rPr sz="1400" b="0">
                <a:solidFill>
                  <a:srgbClr val="1F2A3A"/>
                </a:solidFill>
                <a:latin typeface="맑은 고딕"/>
                <a:ea typeface="맑은 고딕"/>
                <a:cs typeface="맑은 고딕"/>
              </a:rPr>
              <a:t>「24시간을 넘겼다면」</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「20만 원을 감점」</a:t>
            </a:r>
          </a:p>
          <a:p>
            <a:pPr algn="l">
              <a:lnSpc>
                <a:spcPct val="110000"/>
              </a:lnSpc>
              <a:spcAft>
                <a:spcPts val="400"/>
              </a:spcAft>
            </a:pPr>
            <a:r>
              <a:rPr sz="1400" b="0">
                <a:solidFill>
                  <a:srgbClr val="1F2A3A"/>
                </a:solidFill>
                <a:latin typeface="맑은 고딕"/>
                <a:ea typeface="맑은 고딕"/>
                <a:cs typeface="맑은 고딕"/>
              </a:rPr>
              <a:t>PENALTY는 감점을 뜻한다.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대상</a:t>
            </a:r>
          </a:p>
          <a:p>
            <a:pPr algn="l">
              <a:lnSpc>
                <a:spcPct val="110000"/>
              </a:lnSpc>
              <a:spcAft>
                <a:spcPts val="400"/>
              </a:spcAft>
            </a:pPr>
            <a:r>
              <a:rPr sz="1400" b="0">
                <a:solidFill>
                  <a:srgbClr val="1F2A3A"/>
                </a:solidFill>
                <a:latin typeface="맑은 고딕"/>
                <a:ea typeface="맑은 고딕"/>
                <a:cs typeface="맑은 고딕"/>
              </a:rPr>
              <a:t>「팬 최대 운전 조치」</a:t>
            </a:r>
          </a:p>
          <a:p>
            <a:pPr algn="l">
              <a:lnSpc>
                <a:spcPct val="110000"/>
              </a:lnSpc>
              <a:spcAft>
                <a:spcPts val="400"/>
              </a:spcAft>
            </a:pPr>
            <a:r>
              <a:rPr sz="1400" b="0">
                <a:solidFill>
                  <a:srgbClr val="1F2A3A"/>
                </a:solidFill>
                <a:latin typeface="맑은 고딕"/>
                <a:ea typeface="맑은 고딕"/>
                <a:cs typeface="맑은 고딕"/>
              </a:rPr>
              <a:t>팬을 올리는 두 절차이다.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이 문장이 실린 절이다.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조건의 세 부분: 입력, 연산자,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하나는 무엇을 보는가, 어떻게 견주는가, 무엇과 견주는가의 세 부분으로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clock" descr="clock_13294B_1.6.png"/>
          <p:cNvPicPr>
            <a:picLocks noChangeAspect="1"/>
          </p:cNvPicPr>
          <p:nvPr/>
        </p:nvPicPr>
        <p:blipFill>
          <a:blip r:embed="rId3"/>
          <a:stretch>
            <a:fillRect/>
          </a:stretch>
        </p:blipFill>
        <p:spPr>
          <a:xfrm>
            <a:off x="2088642" y="3330181"/>
            <a:ext cx="618134" cy="618134"/>
          </a:xfrm>
          <a:prstGeom prst="rect">
            <a:avLst/>
          </a:prstGeom>
        </p:spPr>
      </p:pic>
      <p:sp>
        <p:nvSpPr>
          <p:cNvPr id="10" name="TextBox 9"/>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무엇을 보는가</a:t>
            </a:r>
          </a:p>
          <a:p>
            <a:pPr algn="ctr">
              <a:lnSpc>
                <a:spcPct val="110000"/>
              </a:lnSpc>
              <a:spcAft>
                <a:spcPts val="400"/>
              </a:spcAft>
            </a:pPr>
            <a:r>
              <a:rPr sz="1300" b="0">
                <a:solidFill>
                  <a:srgbClr val="1F2A3A"/>
                </a:solidFill>
                <a:latin typeface="맑은 고딕"/>
                <a:ea typeface="맑은 고딕"/>
                <a:cs typeface="맑은 고딕"/>
              </a:rPr>
              <a:t>fan100_hours</a:t>
            </a:r>
          </a:p>
        </p:txBody>
      </p:sp>
      <p:sp>
        <p:nvSpPr>
          <p:cNvPr id="11" name="Chevron 10"/>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3" name="아이콘:math-greater" descr="math-greater_13294B_1.6.png"/>
          <p:cNvPicPr>
            <a:picLocks noChangeAspect="1"/>
          </p:cNvPicPr>
          <p:nvPr/>
        </p:nvPicPr>
        <p:blipFill>
          <a:blip r:embed="rId4"/>
          <a:stretch>
            <a:fillRect/>
          </a:stretch>
        </p:blipFill>
        <p:spPr>
          <a:xfrm>
            <a:off x="5786780" y="3330181"/>
            <a:ext cx="618134" cy="618134"/>
          </a:xfrm>
          <a:prstGeom prst="rect">
            <a:avLst/>
          </a:prstGeom>
        </p:spPr>
      </p:pic>
      <p:sp>
        <p:nvSpPr>
          <p:cNvPr id="14" name="TextBox 13"/>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연산자</a:t>
            </a:r>
          </a:p>
          <a:p>
            <a:pPr algn="ctr">
              <a:lnSpc>
                <a:spcPct val="110000"/>
              </a:lnSpc>
              <a:spcAft>
                <a:spcPts val="400"/>
              </a:spcAft>
            </a:pPr>
            <a:r>
              <a:rPr sz="1300" b="0">
                <a:solidFill>
                  <a:srgbClr val="1F2A3A"/>
                </a:solidFill>
                <a:latin typeface="맑은 고딕"/>
                <a:ea typeface="맑은 고딕"/>
                <a:cs typeface="맑은 고딕"/>
              </a:rPr>
              <a:t>어떻게 견주는가</a:t>
            </a:r>
          </a:p>
          <a:p>
            <a:pPr algn="ctr">
              <a:lnSpc>
                <a:spcPct val="110000"/>
              </a:lnSpc>
              <a:spcAft>
                <a:spcPts val="400"/>
              </a:spcAft>
            </a:pPr>
            <a:r>
              <a:rPr sz="1300" b="0">
                <a:solidFill>
                  <a:srgbClr val="1F2A3A"/>
                </a:solidFill>
                <a:latin typeface="맑은 고딕"/>
                <a:ea typeface="맑은 고딕"/>
                <a:cs typeface="맑은 고딕"/>
              </a:rPr>
              <a:t>&gt;</a:t>
            </a:r>
          </a:p>
        </p:txBody>
      </p:sp>
      <p:sp>
        <p:nvSpPr>
          <p:cNvPr id="15" name="Oval 14"/>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6" name="아이콘:number-1" descr="number-1_13294B_1.6.png"/>
          <p:cNvPicPr>
            <a:picLocks noChangeAspect="1"/>
          </p:cNvPicPr>
          <p:nvPr/>
        </p:nvPicPr>
        <p:blipFill>
          <a:blip r:embed="rId5"/>
          <a:stretch>
            <a:fillRect/>
          </a:stretch>
        </p:blipFill>
        <p:spPr>
          <a:xfrm>
            <a:off x="9484918" y="3330181"/>
            <a:ext cx="618134" cy="618134"/>
          </a:xfrm>
          <a:prstGeom prst="rect">
            <a:avLst/>
          </a:prstGeom>
        </p:spPr>
      </p:pic>
      <p:sp>
        <p:nvSpPr>
          <p:cNvPr id="17" name="TextBox 16"/>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기준값</a:t>
            </a:r>
          </a:p>
          <a:p>
            <a:pPr algn="ctr">
              <a:lnSpc>
                <a:spcPct val="110000"/>
              </a:lnSpc>
              <a:spcAft>
                <a:spcPts val="400"/>
              </a:spcAft>
            </a:pPr>
            <a:r>
              <a:rPr sz="1300" b="0">
                <a:solidFill>
                  <a:srgbClr val="1F2A3A"/>
                </a:solidFill>
                <a:latin typeface="맑은 고딕"/>
                <a:ea typeface="맑은 고딕"/>
                <a:cs typeface="맑은 고딕"/>
              </a:rPr>
              <a:t>무엇과 견주는가</a:t>
            </a:r>
          </a:p>
          <a:p>
            <a:pPr algn="ctr">
              <a:lnSpc>
                <a:spcPct val="110000"/>
              </a:lnSpc>
              <a:spcAft>
                <a:spcPts val="400"/>
              </a:spcAft>
            </a:pPr>
            <a:r>
              <a:rPr sz="1300" b="0">
                <a:solidFill>
                  <a:srgbClr val="1F2A3A"/>
                </a:solidFill>
                <a:latin typeface="맑은 고딕"/>
                <a:ea typeface="맑은 고딕"/>
                <a:cs typeface="맑은 고딕"/>
              </a:rPr>
              <a:t>24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비교 연산자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값과 기준값을 견주는 데에는 같다, 다르다, 크다, 작다, 이상, 이하의 여섯 연산자를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조건의 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같다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pattern == PM_DUE</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다르다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plc_mode != REMOTE_AUTO</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크다 (초과)</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fan100_hours &gt; 24</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크거나 같다 (이상)</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forecast_ts1 &gt;= 55</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작다 (미만)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ts1 &lt; 55</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작거나 같다 (이하)</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order_due_h &lt;= 24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임계값: 판정이 갈리는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임계값은 판정이 갈리는 기준값이며, 「이상」으로 적은 조건에서는 기준값 자신도 조건에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pic>
        <p:nvPicPr>
          <p:cNvPr id="6" name="삽화:수직선_ge.svg" descr="illust_49010990506888285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forecast_ts1 &gt;= 55</a:t>
            </a:r>
          </a:p>
          <a:p>
            <a:pPr algn="ctr">
              <a:lnSpc>
                <a:spcPct val="110000"/>
              </a:lnSpc>
              <a:spcAft>
                <a:spcPts val="100"/>
              </a:spcAft>
            </a:pPr>
            <a:r>
              <a:rPr sz="1300" b="0">
                <a:solidFill>
                  <a:srgbClr val="556175"/>
                </a:solidFill>
                <a:latin typeface="맑은 고딕"/>
                <a:ea typeface="맑은 고딕"/>
                <a:cs typeface="맑은 고딕"/>
              </a:rPr>
              <a:t>조치 후 예측 유온이 55 ℃ 이상</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임계값(Threshold) 55</a:t>
            </a:r>
          </a:p>
          <a:p>
            <a:pPr algn="ctr">
              <a:lnSpc>
                <a:spcPct val="110000"/>
              </a:lnSpc>
              <a:spcAft>
                <a:spcPts val="100"/>
              </a:spcAft>
            </a:pPr>
            <a:r>
              <a:rPr sz="1300" b="0">
                <a:solidFill>
                  <a:srgbClr val="556175"/>
                </a:solidFill>
                <a:latin typeface="맑은 고딕"/>
                <a:ea typeface="맑은 고딕"/>
                <a:cs typeface="맑은 고딕"/>
              </a:rPr>
              <a:t>이 값에서 판정이 갈린다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맞는다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「넘으면」과 「이상이면」의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「넘겼다면」은 초과이므로 기준값 자신은 조건에 맞지 않으며, 연산자 하나의 차이가 경계에서의 판정을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pic>
        <p:nvPicPr>
          <p:cNvPr id="6" name="삽화:수직선_gt.svg" descr="illust_434127827945422213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 &gt; 24</a:t>
            </a:r>
          </a:p>
          <a:p>
            <a:pPr algn="ctr">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임계값 24</a:t>
            </a:r>
          </a:p>
          <a:p>
            <a:pPr algn="ctr">
              <a:lnSpc>
                <a:spcPct val="110000"/>
              </a:lnSpc>
              <a:spcAft>
                <a:spcPts val="100"/>
              </a:spcAft>
            </a:pPr>
            <a:r>
              <a:rPr sz="1300" b="0">
                <a:solidFill>
                  <a:srgbClr val="556175"/>
                </a:solidFill>
                <a:latin typeface="맑은 고딕"/>
                <a:ea typeface="맑은 고딕"/>
                <a:cs typeface="맑은 고딕"/>
              </a:rPr>
              <a:t>빈 점: 기준값은 들지 않는다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23.9시간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24.0시간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24.1시간</a:t>
            </a:r>
          </a:p>
          <a:p>
            <a:pPr algn="ctr">
              <a:lnSpc>
                <a:spcPct val="110000"/>
              </a:lnSpc>
              <a:spcAft>
                <a:spcPts val="100"/>
              </a:spcAft>
            </a:pPr>
            <a:r>
              <a:rPr sz="1300" b="0">
                <a:solidFill>
                  <a:srgbClr val="556175"/>
                </a:solidFill>
                <a:latin typeface="맑은 고딕"/>
                <a:ea typeface="맑은 고딕"/>
                <a:cs typeface="맑은 고딕"/>
              </a:rPr>
              <a:t>맞는다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범위: 하한과 상한을 함께 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범위는 하한과 상한을 함께 두어 구간을 정하는 조건이며, 두 끝이 각각 포함되는지를 따로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수직선_range.svg" descr="illust_196110471693863304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초과이고 65 ℃ 미만</a:t>
            </a:r>
          </a:p>
          <a:p>
            <a:pPr algn="ctr">
              <a:lnSpc>
                <a:spcPct val="110000"/>
              </a:lnSpc>
              <a:spcAft>
                <a:spcPts val="100"/>
              </a:spcAft>
            </a:pPr>
            <a:r>
              <a:rPr sz="1300" b="0">
                <a:solidFill>
                  <a:srgbClr val="556175"/>
                </a:solidFill>
                <a:latin typeface="맑은 고딕"/>
                <a:ea typeface="맑은 고딕"/>
                <a:cs typeface="맑은 고딕"/>
              </a:rPr>
              <a:t>경보는 났으나 인터록에는 이르지 않은 유온</a:t>
            </a:r>
          </a:p>
        </p:txBody>
      </p:sp>
      <p:sp>
        <p:nvSpPr>
          <p:cNvPr id="8" name="TextBox 7"/>
          <p:cNvSpPr txBox="1"/>
          <p:nvPr/>
        </p:nvSpPr>
        <p:spPr>
          <a:xfrm>
            <a:off x="4426694" y="3882624"/>
            <a:ext cx="370922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범위</a:t>
            </a:r>
          </a:p>
        </p:txBody>
      </p:sp>
      <p:sp>
        <p:nvSpPr>
          <p:cNvPr id="9" name="TextBox 8"/>
          <p:cNvSpPr txBox="1"/>
          <p:nvPr/>
        </p:nvSpPr>
        <p:spPr>
          <a:xfrm>
            <a:off x="4426694" y="3187689"/>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두 끝은 포함되지 않는다</a:t>
            </a:r>
          </a:p>
        </p:txBody>
      </p:sp>
      <p:sp>
        <p:nvSpPr>
          <p:cNvPr id="10" name="TextBox 9"/>
          <p:cNvSpPr txBox="1"/>
          <p:nvPr/>
        </p:nvSpPr>
        <p:spPr>
          <a:xfrm>
            <a:off x="3444840"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a:p>
            <a:pPr algn="ctr">
              <a:lnSpc>
                <a:spcPct val="110000"/>
              </a:lnSpc>
              <a:spcAft>
                <a:spcPts val="100"/>
              </a:spcAft>
            </a:pPr>
            <a:r>
              <a:rPr sz="1300" b="0">
                <a:solidFill>
                  <a:srgbClr val="556175"/>
                </a:solidFill>
                <a:latin typeface="맑은 고딕"/>
                <a:ea typeface="맑은 고딕"/>
                <a:cs typeface="맑은 고딕"/>
              </a:rPr>
              <a:t>경보 기준</a:t>
            </a:r>
          </a:p>
        </p:txBody>
      </p:sp>
      <p:sp>
        <p:nvSpPr>
          <p:cNvPr id="11" name="TextBox 10"/>
          <p:cNvSpPr txBox="1"/>
          <p:nvPr/>
        </p:nvSpPr>
        <p:spPr>
          <a:xfrm>
            <a:off x="7808638"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12" name="TextBox 11"/>
          <p:cNvSpPr txBox="1"/>
          <p:nvPr/>
        </p:nvSpPr>
        <p:spPr>
          <a:xfrm>
            <a:off x="1873873"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3" name="TextBox 12"/>
          <p:cNvSpPr txBox="1"/>
          <p:nvPr/>
        </p:nvSpPr>
        <p:spPr>
          <a:xfrm>
            <a:off x="5517644"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4" name="TextBox 13"/>
          <p:cNvSpPr txBox="1"/>
          <p:nvPr/>
        </p:nvSpPr>
        <p:spPr>
          <a:xfrm>
            <a:off x="906323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66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복수 조건: 한 행의 조건은 모두 맞아야 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행에 조건이 둘 이상이면 모두 맞아야 그 행이 맞으며, 이 결합을 AND라고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1</a:t>
            </a:r>
          </a:p>
          <a:p>
            <a:pPr algn="ctr">
              <a:lnSpc>
                <a:spcPct val="110000"/>
              </a:lnSpc>
              <a:spcAft>
                <a:spcPts val="400"/>
              </a:spcAft>
            </a:pPr>
            <a:r>
              <a:rPr sz="1350" b="0">
                <a:solidFill>
                  <a:srgbClr val="1F2A3A"/>
                </a:solidFill>
                <a:latin typeface="맑은 고딕"/>
                <a:ea typeface="맑은 고딕"/>
                <a:cs typeface="맑은 고딕"/>
              </a:rPr>
              <a:t>pattern == PM_DUE</a:t>
            </a:r>
          </a:p>
          <a:p>
            <a:pPr algn="ctr">
              <a:lnSpc>
                <a:spcPct val="110000"/>
              </a:lnSpc>
              <a:spcAft>
                <a:spcPts val="400"/>
              </a:spcAft>
            </a:pPr>
            <a:r>
              <a:rPr sz="1350" b="0">
                <a:solidFill>
                  <a:srgbClr val="1F2A3A"/>
                </a:solidFill>
                <a:latin typeface="맑은 고딕"/>
                <a:ea typeface="맑은 고딕"/>
                <a:cs typeface="맑은 고딕"/>
              </a:rPr>
              <a:t>정기 정비 도래 경보가</a:t>
            </a:r>
          </a:p>
          <a:p>
            <a:pPr algn="ctr">
              <a:lnSpc>
                <a:spcPct val="110000"/>
              </a:lnSpc>
              <a:spcAft>
                <a:spcPts val="400"/>
              </a:spcAft>
            </a:pPr>
            <a:r>
              <a:rPr sz="1350" b="0">
                <a:solidFill>
                  <a:srgbClr val="1F2A3A"/>
                </a:solidFill>
                <a:latin typeface="맑은 고딕"/>
                <a:ea typeface="맑은 고딕"/>
                <a:cs typeface="맑은 고딕"/>
              </a:rPr>
              <a:t>났다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clock" descr="clock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2</a:t>
            </a:r>
          </a:p>
          <a:p>
            <a:pPr algn="ctr">
              <a:lnSpc>
                <a:spcPct val="110000"/>
              </a:lnSpc>
              <a:spcAft>
                <a:spcPts val="400"/>
              </a:spcAft>
            </a:pPr>
            <a:r>
              <a:rPr sz="1350" b="0">
                <a:solidFill>
                  <a:srgbClr val="1F2A3A"/>
                </a:solidFill>
                <a:latin typeface="맑은 고딕"/>
                <a:ea typeface="맑은 고딕"/>
                <a:cs typeface="맑은 고딕"/>
              </a:rPr>
              <a:t>hours_since_pm &gt;= 1800</a:t>
            </a:r>
          </a:p>
          <a:p>
            <a:pPr algn="ctr">
              <a:lnSpc>
                <a:spcPct val="110000"/>
              </a:lnSpc>
              <a:spcAft>
                <a:spcPts val="400"/>
              </a:spcAft>
            </a:pPr>
            <a:r>
              <a:rPr sz="1350" b="0">
                <a:solidFill>
                  <a:srgbClr val="1F2A3A"/>
                </a:solidFill>
                <a:latin typeface="맑은 고딕"/>
                <a:ea typeface="맑은 고딕"/>
                <a:cs typeface="맑은 고딕"/>
              </a:rPr>
              <a:t>마지막 정비 뒤의 운전시간이</a:t>
            </a:r>
          </a:p>
          <a:p>
            <a:pPr algn="ctr">
              <a:lnSpc>
                <a:spcPct val="110000"/>
              </a:lnSpc>
              <a:spcAft>
                <a:spcPts val="400"/>
              </a:spcAft>
            </a:pPr>
            <a:r>
              <a:rPr sz="1350" b="0">
                <a:solidFill>
                  <a:srgbClr val="1F2A3A"/>
                </a:solidFill>
                <a:latin typeface="맑은 고딕"/>
                <a:ea typeface="맑은 고딕"/>
                <a:cs typeface="맑은 고딕"/>
              </a:rPr>
              <a:t>1,800시간 이상이다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둘 다 맞을 때만</a:t>
            </a:r>
          </a:p>
          <a:p>
            <a:pPr algn="ctr">
              <a:lnSpc>
                <a:spcPct val="110000"/>
              </a:lnSpc>
              <a:spcAft>
                <a:spcPts val="400"/>
              </a:spcAft>
            </a:pPr>
            <a:r>
              <a:rPr sz="1350" b="0">
                <a:solidFill>
                  <a:srgbClr val="1F2A3A"/>
                </a:solidFill>
                <a:latin typeface="맑은 고딕"/>
                <a:ea typeface="맑은 고딕"/>
                <a:cs typeface="맑은 고딕"/>
              </a:rPr>
              <a:t>출력: 후보 선택</a:t>
            </a:r>
          </a:p>
          <a:p>
            <a:pPr algn="ctr">
              <a:lnSpc>
                <a:spcPct val="110000"/>
              </a:lnSpc>
              <a:spcAft>
                <a:spcPts val="400"/>
              </a:spcAft>
            </a:pPr>
            <a:r>
              <a:rPr sz="1350" b="0">
                <a:solidFill>
                  <a:srgbClr val="1F2A3A"/>
                </a:solidFill>
                <a:latin typeface="맑은 고딕"/>
                <a:ea typeface="맑은 고딕"/>
                <a:cs typeface="맑은 고딕"/>
              </a:rPr>
              <a:t>정기 정비의 네 방안</a:t>
            </a:r>
          </a:p>
          <a:p>
            <a:pPr algn="ctr">
              <a:lnSpc>
                <a:spcPct val="110000"/>
              </a:lnSpc>
              <a:spcAft>
                <a:spcPts val="400"/>
              </a:spcAft>
            </a:pPr>
            <a:r>
              <a:rPr sz="1350" b="0">
                <a:solidFill>
                  <a:srgbClr val="1F2A3A"/>
                </a:solidFill>
                <a:latin typeface="맑은 고딕"/>
                <a:ea typeface="맑은 고딕"/>
                <a:cs typeface="맑은 고딕"/>
              </a:rPr>
              <a:t>SOP-PM-11 ~ 14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「또는」은 행을 나누어 적는다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 가운데 하나만 맞아도 되는 조건은 한 행에 넣지 않고 출력이 같은 두 행으로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tack-2" descr="stac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행에 함께 적는다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1 그리고 조건 2</a:t>
            </a:r>
          </a:p>
          <a:p>
            <a:pPr algn="l">
              <a:lnSpc>
                <a:spcPct val="110000"/>
              </a:lnSpc>
              <a:spcAft>
                <a:spcPts val="600"/>
              </a:spcAft>
            </a:pPr>
            <a:r>
              <a:rPr sz="1450" b="0">
                <a:solidFill>
                  <a:srgbClr val="1F2A3A"/>
                </a:solidFill>
                <a:latin typeface="맑은 고딕"/>
                <a:ea typeface="맑은 고딕"/>
                <a:cs typeface="맑은 고딕"/>
              </a:rPr>
              <a:t>• 둘 다 맞아야 출력을 낸다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AND</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numbers" descr="list-number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행으로 나누어 적는다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첫째 행: 조건 1이면 출력</a:t>
            </a:r>
          </a:p>
          <a:p>
            <a:pPr algn="l">
              <a:lnSpc>
                <a:spcPct val="110000"/>
              </a:lnSpc>
              <a:spcAft>
                <a:spcPts val="600"/>
              </a:spcAft>
            </a:pPr>
            <a:r>
              <a:rPr sz="1450" b="0">
                <a:solidFill>
                  <a:srgbClr val="1F2A3A"/>
                </a:solidFill>
                <a:latin typeface="맑은 고딕"/>
                <a:ea typeface="맑은 고딕"/>
                <a:cs typeface="맑은 고딕"/>
              </a:rPr>
              <a:t>• 둘째 행: 조건 2이면 같은 출력</a:t>
            </a:r>
          </a:p>
          <a:p>
            <a:pPr algn="l">
              <a:lnSpc>
                <a:spcPct val="110000"/>
              </a:lnSpc>
              <a:spcAft>
                <a:spcPts val="600"/>
              </a:spcAft>
            </a:pPr>
            <a:r>
              <a:rPr sz="1450" b="0">
                <a:solidFill>
                  <a:srgbClr val="1F2A3A"/>
                </a:solidFill>
                <a:latin typeface="맑은 고딕"/>
                <a:ea typeface="맑은 고딕"/>
                <a:cs typeface="맑은 고딕"/>
              </a:rPr>
              <a:t>• 어느 하나만 맞아도 출력을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조건을 옮긴 뒤의 확인: 경계값 세 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조건을 옮긴 뒤에는 기준값 자신과 그 바로 아래, 바로 위의 세 값을 넣어 판정이 원문의 뜻과 같은지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기준값 자신</a:t>
            </a:r>
          </a:p>
          <a:p>
            <a:pPr algn="ctr">
              <a:lnSpc>
                <a:spcPct val="110000"/>
              </a:lnSpc>
              <a:spcAft>
                <a:spcPts val="400"/>
              </a:spcAft>
            </a:pPr>
            <a:r>
              <a:rPr sz="1350" b="0">
                <a:solidFill>
                  <a:srgbClr val="1F2A3A"/>
                </a:solidFill>
                <a:latin typeface="맑은 고딕"/>
                <a:ea typeface="맑은 고딕"/>
                <a:cs typeface="맑은 고딕"/>
              </a:rPr>
              <a:t>24.0시간</a:t>
            </a:r>
          </a:p>
          <a:p>
            <a:pPr algn="ctr">
              <a:lnSpc>
                <a:spcPct val="110000"/>
              </a:lnSpc>
              <a:spcAft>
                <a:spcPts val="400"/>
              </a:spcAft>
            </a:pPr>
            <a:r>
              <a:rPr sz="1350" b="0">
                <a:solidFill>
                  <a:srgbClr val="1F2A3A"/>
                </a:solidFill>
                <a:latin typeface="맑은 고딕"/>
                <a:ea typeface="맑은 고딕"/>
                <a:cs typeface="맑은 고딕"/>
              </a:rPr>
              <a:t>원문은 「넘겼다면」이다</a:t>
            </a:r>
          </a:p>
          <a:p>
            <a:pPr algn="ctr">
              <a:lnSpc>
                <a:spcPct val="110000"/>
              </a:lnSpc>
              <a:spcAft>
                <a:spcPts val="400"/>
              </a:spcAft>
            </a:pPr>
            <a:r>
              <a:rPr sz="1350" b="0">
                <a:solidFill>
                  <a:srgbClr val="1F2A3A"/>
                </a:solidFill>
                <a:latin typeface="맑은 고딕"/>
                <a:ea typeface="맑은 고딕"/>
                <a:cs typeface="맑은 고딕"/>
              </a:rPr>
              <a:t>맞지 않아야 한다</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trending-up" descr="trending-up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바로 아래</a:t>
            </a:r>
          </a:p>
          <a:p>
            <a:pPr algn="ctr">
              <a:lnSpc>
                <a:spcPct val="110000"/>
              </a:lnSpc>
              <a:spcAft>
                <a:spcPts val="400"/>
              </a:spcAft>
            </a:pPr>
            <a:r>
              <a:rPr sz="1350" b="0">
                <a:solidFill>
                  <a:srgbClr val="1F2A3A"/>
                </a:solidFill>
                <a:latin typeface="맑은 고딕"/>
                <a:ea typeface="맑은 고딕"/>
                <a:cs typeface="맑은 고딕"/>
              </a:rPr>
              <a:t>23.9시간</a:t>
            </a:r>
          </a:p>
          <a:p>
            <a:pPr algn="ctr">
              <a:lnSpc>
                <a:spcPct val="110000"/>
              </a:lnSpc>
              <a:spcAft>
                <a:spcPts val="400"/>
              </a:spcAft>
            </a:pPr>
            <a:r>
              <a:rPr sz="1350" b="0">
                <a:solidFill>
                  <a:srgbClr val="1F2A3A"/>
                </a:solidFill>
                <a:latin typeface="맑은 고딕"/>
                <a:ea typeface="맑은 고딕"/>
                <a:cs typeface="맑은 고딕"/>
              </a:rPr>
              <a:t>맞지 않아야 한다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바로 위</a:t>
            </a:r>
          </a:p>
          <a:p>
            <a:pPr algn="ctr">
              <a:lnSpc>
                <a:spcPct val="110000"/>
              </a:lnSpc>
              <a:spcAft>
                <a:spcPts val="400"/>
              </a:spcAft>
            </a:pPr>
            <a:r>
              <a:rPr sz="1350" b="0">
                <a:solidFill>
                  <a:srgbClr val="1F2A3A"/>
                </a:solidFill>
                <a:latin typeface="맑은 고딕"/>
                <a:ea typeface="맑은 고딕"/>
                <a:cs typeface="맑은 고딕"/>
              </a:rPr>
              <a:t>24.1시간</a:t>
            </a:r>
          </a:p>
          <a:p>
            <a:pPr algn="ctr">
              <a:lnSpc>
                <a:spcPct val="110000"/>
              </a:lnSpc>
              <a:spcAft>
                <a:spcPts val="400"/>
              </a:spcAft>
            </a:pPr>
            <a:r>
              <a:rPr sz="1350" b="0">
                <a:solidFill>
                  <a:srgbClr val="1F2A3A"/>
                </a:solidFill>
                <a:latin typeface="맑은 고딕"/>
                <a:ea typeface="맑은 고딕"/>
                <a:cs typeface="맑은 고딕"/>
              </a:rPr>
              <a:t>맞아야 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①: 누락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누락은 어느 행에도 맞지 않는 값의 구간이 있는 것이며, 그 구간의 값에는 표가 답을 내지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수직선_missing.svg" descr="illust_3396778943207104731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후 예측 유온을 이렇게 나누어 적었다면</a:t>
            </a:r>
          </a:p>
        </p:txBody>
      </p:sp>
      <p:sp>
        <p:nvSpPr>
          <p:cNvPr id="8" name="TextBox 7"/>
          <p:cNvSpPr txBox="1"/>
          <p:nvPr/>
        </p:nvSpPr>
        <p:spPr>
          <a:xfrm>
            <a:off x="1633864"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미만: 통과</a:t>
            </a:r>
          </a:p>
        </p:txBody>
      </p:sp>
      <p:sp>
        <p:nvSpPr>
          <p:cNvPr id="9" name="TextBox 8"/>
          <p:cNvSpPr txBox="1"/>
          <p:nvPr/>
        </p:nvSpPr>
        <p:spPr>
          <a:xfrm>
            <a:off x="4677613" y="3882624"/>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 행이 없다</a:t>
            </a:r>
          </a:p>
        </p:txBody>
      </p:sp>
      <p:sp>
        <p:nvSpPr>
          <p:cNvPr id="10" name="TextBox 9"/>
          <p:cNvSpPr txBox="1"/>
          <p:nvPr/>
        </p:nvSpPr>
        <p:spPr>
          <a:xfrm>
            <a:off x="7814093"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 이상: 제외</a:t>
            </a:r>
          </a:p>
        </p:txBody>
      </p:sp>
      <p:sp>
        <p:nvSpPr>
          <p:cNvPr id="11" name="TextBox 10"/>
          <p:cNvSpPr txBox="1"/>
          <p:nvPr/>
        </p:nvSpPr>
        <p:spPr>
          <a:xfrm>
            <a:off x="4001224"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2" name="TextBox 11"/>
          <p:cNvSpPr txBox="1"/>
          <p:nvPr/>
        </p:nvSpPr>
        <p:spPr>
          <a:xfrm>
            <a:off x="7099521"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3" name="TextBox 12"/>
          <p:cNvSpPr txBox="1"/>
          <p:nvPr/>
        </p:nvSpPr>
        <p:spPr>
          <a:xfrm>
            <a:off x="4677613" y="5754694"/>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57 ℃</a:t>
            </a:r>
          </a:p>
          <a:p>
            <a:pPr algn="ctr">
              <a:lnSpc>
                <a:spcPct val="110000"/>
              </a:lnSpc>
              <a:spcAft>
                <a:spcPts val="100"/>
              </a:spcAft>
            </a:pPr>
            <a:r>
              <a:rPr sz="1300" b="0">
                <a:solidFill>
                  <a:srgbClr val="556175"/>
                </a:solidFill>
                <a:latin typeface="맑은 고딕"/>
                <a:ea typeface="맑은 고딕"/>
                <a:cs typeface="맑은 고딕"/>
              </a:rPr>
              <a:t>통과도 제외도 아니다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②: 중복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중복은 한 값에 같은 결과를 내는 행이 둘 맞는 것이며, 나중에 한 행만 고치면 표가 어긋난다.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pic>
        <p:nvPicPr>
          <p:cNvPr id="6" name="삽화:수직선_dup.svg" descr="illust_713788273345084529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052209" y="318768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이상: 경고</a:t>
            </a:r>
          </a:p>
        </p:txBody>
      </p:sp>
      <p:sp>
        <p:nvSpPr>
          <p:cNvPr id="8" name="TextBox 7"/>
          <p:cNvSpPr txBox="1"/>
          <p:nvPr/>
        </p:nvSpPr>
        <p:spPr>
          <a:xfrm>
            <a:off x="727407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58 ℃ 이상: 경고</a:t>
            </a:r>
          </a:p>
        </p:txBody>
      </p:sp>
      <p:sp>
        <p:nvSpPr>
          <p:cNvPr id="9" name="TextBox 8"/>
          <p:cNvSpPr txBox="1"/>
          <p:nvPr/>
        </p:nvSpPr>
        <p:spPr>
          <a:xfrm>
            <a:off x="1077479" y="210037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결정표에 이 두 행을 함께 적었다면</a:t>
            </a:r>
          </a:p>
        </p:txBody>
      </p:sp>
      <p:sp>
        <p:nvSpPr>
          <p:cNvPr id="10" name="TextBox 9"/>
          <p:cNvSpPr txBox="1"/>
          <p:nvPr/>
        </p:nvSpPr>
        <p:spPr>
          <a:xfrm>
            <a:off x="4001224"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1" name="TextBox 10"/>
          <p:cNvSpPr txBox="1"/>
          <p:nvPr/>
        </p:nvSpPr>
        <p:spPr>
          <a:xfrm>
            <a:off x="6455860"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58 ℃</a:t>
            </a:r>
          </a:p>
        </p:txBody>
      </p:sp>
      <p:sp>
        <p:nvSpPr>
          <p:cNvPr id="12" name="TextBox 11"/>
          <p:cNvSpPr txBox="1"/>
          <p:nvPr/>
        </p:nvSpPr>
        <p:spPr>
          <a:xfrm>
            <a:off x="7295892" y="5754694"/>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59 ℃</a:t>
            </a:r>
          </a:p>
          <a:p>
            <a:pPr algn="ctr">
              <a:lnSpc>
                <a:spcPct val="110000"/>
              </a:lnSpc>
              <a:spcAft>
                <a:spcPts val="100"/>
              </a:spcAft>
            </a:pPr>
            <a:r>
              <a:rPr sz="1300" b="0">
                <a:solidFill>
                  <a:srgbClr val="556175"/>
                </a:solidFill>
                <a:latin typeface="맑은 고딕"/>
                <a:ea typeface="맑은 고딕"/>
                <a:cs typeface="맑은 고딕"/>
              </a:rPr>
              <a:t>두 행이 맞고 결과는 같다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③: 상충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상충은 한 값에 결과가 서로 다른 행이 둘 맞는 것이며, 어느 쪽을 따를지 표가 정해 주지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수직선_conflict.svg" descr="illust_108848463372042107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052209" y="318768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이상: 경고</a:t>
            </a:r>
          </a:p>
        </p:txBody>
      </p:sp>
      <p:sp>
        <p:nvSpPr>
          <p:cNvPr id="8" name="TextBox 7"/>
          <p:cNvSpPr txBox="1"/>
          <p:nvPr/>
        </p:nvSpPr>
        <p:spPr>
          <a:xfrm>
            <a:off x="7274073" y="3882624"/>
            <a:ext cx="327284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58 ℃ 이상: 제외</a:t>
            </a:r>
          </a:p>
        </p:txBody>
      </p:sp>
      <p:sp>
        <p:nvSpPr>
          <p:cNvPr id="9" name="TextBox 8"/>
          <p:cNvSpPr txBox="1"/>
          <p:nvPr/>
        </p:nvSpPr>
        <p:spPr>
          <a:xfrm>
            <a:off x="1077479" y="210037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결정표에 이 두 행을 함께 적었다면</a:t>
            </a:r>
          </a:p>
        </p:txBody>
      </p:sp>
      <p:sp>
        <p:nvSpPr>
          <p:cNvPr id="10" name="TextBox 9"/>
          <p:cNvSpPr txBox="1"/>
          <p:nvPr/>
        </p:nvSpPr>
        <p:spPr>
          <a:xfrm>
            <a:off x="4001224"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1" name="TextBox 10"/>
          <p:cNvSpPr txBox="1"/>
          <p:nvPr/>
        </p:nvSpPr>
        <p:spPr>
          <a:xfrm>
            <a:off x="6455860"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58 ℃</a:t>
            </a:r>
          </a:p>
        </p:txBody>
      </p:sp>
      <p:sp>
        <p:nvSpPr>
          <p:cNvPr id="12" name="TextBox 11"/>
          <p:cNvSpPr txBox="1"/>
          <p:nvPr/>
        </p:nvSpPr>
        <p:spPr>
          <a:xfrm>
            <a:off x="7295892" y="5754694"/>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59 ℃</a:t>
            </a:r>
          </a:p>
          <a:p>
            <a:pPr algn="ctr">
              <a:lnSpc>
                <a:spcPct val="110000"/>
              </a:lnSpc>
              <a:spcAft>
                <a:spcPts val="100"/>
              </a:spcAft>
            </a:pPr>
            <a:r>
              <a:rPr sz="1300" b="0">
                <a:solidFill>
                  <a:srgbClr val="556175"/>
                </a:solidFill>
                <a:latin typeface="맑은 고딕"/>
                <a:ea typeface="맑은 고딕"/>
                <a:cs typeface="맑은 고딕"/>
              </a:rPr>
              <a:t>경고인가, 제외인가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여러 행이 함께 맞는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겹침이 모두 결함은 아니며, 실제 결정표에서도 한 입력에 여러 행이 함께 맞는 일이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pic>
        <p:nvPicPr>
          <p:cNvPr id="6" name="삽화:히트_base.svg" descr="illust_643412625102971664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041411" y="4275002"/>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두 행이 함께 맞았다</a:t>
            </a:r>
          </a:p>
          <a:p>
            <a:pPr algn="ctr">
              <a:lnSpc>
                <a:spcPct val="110000"/>
              </a:lnSpc>
              <a:spcAft>
                <a:spcPts val="100"/>
              </a:spcAft>
            </a:pPr>
            <a:r>
              <a:rPr sz="1100" b="0">
                <a:solidFill>
                  <a:srgbClr val="556175"/>
                </a:solidFill>
                <a:latin typeface="맑은 고딕"/>
                <a:ea typeface="맑은 고딕"/>
                <a:cs typeface="맑은 고딕"/>
              </a:rPr>
              <a:t>답을 정할 약속이 필요하다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 여러 행이 맞았을 때의 처리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한 입력에 여러 행이 맞았을 때 무엇을 답으로 삼을지를 결정표마다 미리 정해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Hit Policy</a:t>
            </a:r>
          </a:p>
          <a:p>
            <a:pPr algn="l">
              <a:lnSpc>
                <a:spcPct val="110000"/>
              </a:lnSpc>
              <a:spcAft>
                <a:spcPts val="200"/>
              </a:spcAft>
            </a:pPr>
            <a:r>
              <a:rPr sz="1150" b="0">
                <a:solidFill>
                  <a:srgbClr val="556175"/>
                </a:solidFill>
                <a:latin typeface="맑은 고딕"/>
                <a:ea typeface="맑은 고딕"/>
                <a:cs typeface="맑은 고딕"/>
              </a:rPr>
              <a:t>적중 처리 방식</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행이 맞는 것을 hit이라고 한다.</a:t>
            </a:r>
          </a:p>
          <a:p>
            <a:pPr algn="l">
              <a:lnSpc>
                <a:spcPct val="110000"/>
              </a:lnSpc>
              <a:spcAft>
                <a:spcPts val="300"/>
              </a:spcAft>
            </a:pPr>
            <a:r>
              <a:rPr sz="1400" b="0">
                <a:solidFill>
                  <a:srgbClr val="1F2A3A"/>
                </a:solidFill>
                <a:latin typeface="맑은 고딕"/>
                <a:ea typeface="맑은 고딕"/>
                <a:cs typeface="맑은 고딕"/>
              </a:rPr>
              <a:t>여러 행이 맞았을 때의 처리 방식을 표마다 하나 정해 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정하는 까닭</a:t>
            </a:r>
          </a:p>
          <a:p>
            <a:pPr algn="l">
              <a:lnSpc>
                <a:spcPct val="110000"/>
              </a:lnSpc>
              <a:spcAft>
                <a:spcPts val="200"/>
              </a:spcAft>
            </a:pPr>
            <a:r>
              <a:rPr sz="1150" b="0">
                <a:solidFill>
                  <a:srgbClr val="556175"/>
                </a:solidFill>
                <a:latin typeface="맑은 고딕"/>
                <a:ea typeface="맑은 고딕"/>
                <a:cs typeface="맑은 고딕"/>
              </a:rPr>
              <a:t>표마다 하나</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 두지 않으면 읽는 사람마다 다른 답을 고른다.</a:t>
            </a:r>
          </a:p>
          <a:p>
            <a:pPr algn="l">
              <a:lnSpc>
                <a:spcPct val="110000"/>
              </a:lnSpc>
              <a:spcAft>
                <a:spcPts val="300"/>
              </a:spcAft>
            </a:pPr>
            <a:r>
              <a:rPr sz="1400" b="0">
                <a:solidFill>
                  <a:srgbClr val="1F2A3A"/>
                </a:solidFill>
                <a:latin typeface="맑은 고딕"/>
                <a:ea typeface="맑은 고딕"/>
                <a:cs typeface="맑은 고딕"/>
              </a:rPr>
              <a:t>정해 두면 여러 행이 맞아도 답이 하나로 정해진다.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Unique: 한 행만 맞아야 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Unique는 한 번에 한 행만 맞아야 한다는 방식이며, 두 행이 함께 맞으면 답을 고르지 않고 표의 오류로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히트_unique.svg" descr="illust_502981108332782398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경고</a:t>
            </a:r>
          </a:p>
        </p:txBody>
      </p:sp>
      <p:sp>
        <p:nvSpPr>
          <p:cNvPr id="16" name="TextBox 15"/>
          <p:cNvSpPr txBox="1"/>
          <p:nvPr/>
        </p:nvSpPr>
        <p:spPr>
          <a:xfrm>
            <a:off x="9008682" y="5220492"/>
            <a:ext cx="218189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오류</a:t>
            </a:r>
          </a:p>
          <a:p>
            <a:pPr algn="ctr">
              <a:lnSpc>
                <a:spcPct val="110000"/>
              </a:lnSpc>
              <a:spcAft>
                <a:spcPts val="100"/>
              </a:spcAft>
            </a:pPr>
            <a:r>
              <a:rPr sz="1100" b="0">
                <a:solidFill>
                  <a:srgbClr val="556175"/>
                </a:solidFill>
                <a:latin typeface="맑은 고딕"/>
                <a:ea typeface="맑은 고딕"/>
                <a:cs typeface="맑은 고딕"/>
              </a:rPr>
              <a:t>한 행만 맞아야 한다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First: 처음 맞은 행을 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First는 표의 위에서부터 차례로 보아 처음 맞은 행의 출력을 쓰는 방식이며, 행의 순서가 뜻을 갖는다.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히트_first.svg" descr="illust_664975068104931454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경고</a:t>
            </a:r>
          </a:p>
        </p:txBody>
      </p:sp>
      <p:sp>
        <p:nvSpPr>
          <p:cNvPr id="16" name="TextBox 15"/>
          <p:cNvSpPr txBox="1"/>
          <p:nvPr/>
        </p:nvSpPr>
        <p:spPr>
          <a:xfrm>
            <a:off x="968384" y="432227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위에서 아래로</a:t>
            </a:r>
          </a:p>
        </p:txBody>
      </p:sp>
      <p:sp>
        <p:nvSpPr>
          <p:cNvPr id="17" name="TextBox 16"/>
          <p:cNvSpPr txBox="1"/>
          <p:nvPr/>
        </p:nvSpPr>
        <p:spPr>
          <a:xfrm>
            <a:off x="9575976" y="4029175"/>
            <a:ext cx="163642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Priority: 우선순위가 높은 출력을 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Priority는 출력에 우선순위를 매겨 두고, 맞은 행 가운데 우선순위가 가장 높은 출력을 쓰는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pic>
        <p:nvPicPr>
          <p:cNvPr id="6" name="삽화:히트_priority.svg" descr="illust_3236571691777078411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041411" y="2667670"/>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우선순위를 이렇게 매겼다면</a:t>
            </a:r>
          </a:p>
          <a:p>
            <a:pPr algn="ctr">
              <a:lnSpc>
                <a:spcPct val="110000"/>
              </a:lnSpc>
              <a:spcAft>
                <a:spcPts val="100"/>
              </a:spcAft>
            </a:pPr>
            <a:r>
              <a:rPr sz="1100" b="0">
                <a:solidFill>
                  <a:srgbClr val="556175"/>
                </a:solidFill>
                <a:latin typeface="맑은 고딕"/>
                <a:ea typeface="맑은 고딕"/>
                <a:cs typeface="맑은 고딕"/>
              </a:rPr>
              <a:t>제외, 경고, 감점의 차례</a:t>
            </a:r>
          </a:p>
        </p:txBody>
      </p:sp>
      <p:sp>
        <p:nvSpPr>
          <p:cNvPr id="17" name="TextBox 16"/>
          <p:cNvSpPr txBox="1"/>
          <p:nvPr/>
        </p:nvSpPr>
        <p:spPr>
          <a:xfrm>
            <a:off x="9575976" y="4936845"/>
            <a:ext cx="163642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Collect: 맞은 행의 출력을 모두 모은다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Collect는 맞은 행 가운데 하나를 고르지 않고 출력을 모두 모아 답으로 삼는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히트_collect.svg" descr="illust_834329738238554174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575976" y="4147361"/>
            <a:ext cx="163642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7" name="TextBox 16"/>
          <p:cNvSpPr txBox="1"/>
          <p:nvPr/>
        </p:nvSpPr>
        <p:spPr>
          <a:xfrm>
            <a:off x="9575976" y="4761930"/>
            <a:ext cx="163642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Policy를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그 표가 답 하나를 내야 하는지, 해당하는 것을 모두 내야 하는지에 따라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number-1" descr="number-1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Unique</a:t>
            </a:r>
          </a:p>
          <a:p>
            <a:pPr algn="l">
              <a:lnSpc>
                <a:spcPct val="110000"/>
              </a:lnSpc>
              <a:spcAft>
                <a:spcPts val="400"/>
              </a:spcAft>
            </a:pPr>
            <a:r>
              <a:rPr sz="1350" b="0">
                <a:solidFill>
                  <a:srgbClr val="1F2A3A"/>
                </a:solidFill>
                <a:latin typeface="맑은 고딕"/>
                <a:ea typeface="맑은 고딕"/>
                <a:cs typeface="맑은 고딕"/>
              </a:rPr>
              <a:t>답이 반드시 하나여야 하는 표에 쓴다</a:t>
            </a:r>
          </a:p>
        </p:txBody>
      </p:sp>
      <p:sp>
        <p:nvSpPr>
          <p:cNvPr id="10" name="Rounded Rectangle 9"/>
          <p:cNvSpPr/>
          <p:nvPr/>
        </p:nvSpPr>
        <p:spPr>
          <a:xfrm>
            <a:off x="777240" y="4925187"/>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오류</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First</a:t>
            </a:r>
          </a:p>
          <a:p>
            <a:pPr algn="l">
              <a:lnSpc>
                <a:spcPct val="110000"/>
              </a:lnSpc>
              <a:spcAft>
                <a:spcPts val="400"/>
              </a:spcAft>
            </a:pPr>
            <a:r>
              <a:rPr sz="1350" b="0">
                <a:solidFill>
                  <a:srgbClr val="1F2A3A"/>
                </a:solidFill>
                <a:latin typeface="맑은 고딕"/>
                <a:ea typeface="맑은 고딕"/>
                <a:cs typeface="맑은 고딕"/>
              </a:rPr>
              <a:t>예외를 위에, 일반 규칙을 아래에 두는 표에 쓴다</a:t>
            </a:r>
          </a:p>
        </p:txBody>
      </p:sp>
      <p:sp>
        <p:nvSpPr>
          <p:cNvPr id="16" name="Rounded Rectangle 15"/>
          <p:cNvSpPr/>
          <p:nvPr/>
        </p:nvSpPr>
        <p:spPr>
          <a:xfrm>
            <a:off x="3619423" y="492518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감점</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award" descr="award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Priority</a:t>
            </a:r>
          </a:p>
          <a:p>
            <a:pPr algn="l">
              <a:lnSpc>
                <a:spcPct val="110000"/>
              </a:lnSpc>
              <a:spcAft>
                <a:spcPts val="400"/>
              </a:spcAft>
            </a:pPr>
            <a:r>
              <a:rPr sz="1350" b="0">
                <a:solidFill>
                  <a:srgbClr val="1F2A3A"/>
                </a:solidFill>
                <a:latin typeface="맑은 고딕"/>
                <a:ea typeface="맑은 고딕"/>
                <a:cs typeface="맑은 고딕"/>
              </a:rPr>
              <a:t>가장 무거운 판정 하나만 필요한 표에 쓴다</a:t>
            </a:r>
          </a:p>
        </p:txBody>
      </p:sp>
      <p:sp>
        <p:nvSpPr>
          <p:cNvPr id="22" name="Rounded Rectangle 21"/>
          <p:cNvSpPr/>
          <p:nvPr/>
        </p:nvSpPr>
        <p:spPr>
          <a:xfrm>
            <a:off x="6461607" y="492518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경고</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stack-2" descr="stack-2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Collect</a:t>
            </a:r>
          </a:p>
          <a:p>
            <a:pPr algn="l">
              <a:lnSpc>
                <a:spcPct val="110000"/>
              </a:lnSpc>
              <a:spcAft>
                <a:spcPts val="400"/>
              </a:spcAft>
            </a:pPr>
            <a:r>
              <a:rPr sz="1350" b="0">
                <a:solidFill>
                  <a:srgbClr val="1F2A3A"/>
                </a:solidFill>
                <a:latin typeface="맑은 고딕"/>
                <a:ea typeface="맑은 고딕"/>
                <a:cs typeface="맑은 고딕"/>
              </a:rPr>
              <a:t>해당하는 판정을 빠짐없이 알아야 하는 표에 쓴다</a:t>
            </a:r>
          </a:p>
        </p:txBody>
      </p:sp>
      <p:sp>
        <p:nvSpPr>
          <p:cNvPr id="28" name="Rounded Rectangle 27"/>
          <p:cNvSpPr/>
          <p:nvPr/>
        </p:nvSpPr>
        <p:spPr>
          <a:xfrm>
            <a:off x="9303791" y="4925187"/>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둘 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조치 판단: 차례로 이어지는 네 결정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조치 판단을 네 결정으로 나누어 앞 결정의 답을 다음 결정으로 넘기며, 결정마다 Hit Policy를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고장 유형과 원인</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zoom-check" descr="zoom-check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 판정</a:t>
            </a:r>
          </a:p>
          <a:p>
            <a:pPr algn="ctr">
              <a:lnSpc>
                <a:spcPct val="110000"/>
              </a:lnSpc>
              <a:spcAft>
                <a:spcPts val="400"/>
              </a:spcAft>
            </a:pPr>
            <a:r>
              <a:rPr sz="1300" b="0">
                <a:solidFill>
                  <a:srgbClr val="1F2A3A"/>
                </a:solidFill>
                <a:latin typeface="맑은 고딕"/>
                <a:ea typeface="맑은 고딕"/>
                <a:cs typeface="맑은 고딕"/>
              </a:rPr>
              <a:t>이 경보의 고장 유형과</a:t>
            </a:r>
          </a:p>
          <a:p>
            <a:pPr algn="ctr">
              <a:lnSpc>
                <a:spcPct val="110000"/>
              </a:lnSpc>
              <a:spcAft>
                <a:spcPts val="400"/>
              </a:spcAft>
            </a:pPr>
            <a:r>
              <a:rPr sz="1300" b="0">
                <a:solidFill>
                  <a:srgbClr val="1F2A3A"/>
                </a:solidFill>
                <a:latin typeface="맑은 고딕"/>
                <a:ea typeface="맑은 고딕"/>
                <a:cs typeface="맑은 고딕"/>
              </a:rPr>
              <a:t>원인은 무엇인가</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조치 후보</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후보 선택</a:t>
            </a:r>
          </a:p>
          <a:p>
            <a:pPr algn="ctr">
              <a:lnSpc>
                <a:spcPct val="110000"/>
              </a:lnSpc>
              <a:spcAft>
                <a:spcPts val="400"/>
              </a:spcAft>
            </a:pPr>
            <a:r>
              <a:rPr sz="1300" b="0">
                <a:solidFill>
                  <a:srgbClr val="1F2A3A"/>
                </a:solidFill>
                <a:latin typeface="맑은 고딕"/>
                <a:ea typeface="맑은 고딕"/>
                <a:cs typeface="맑은 고딕"/>
              </a:rPr>
              <a:t>쓸 수 있는 조치 방법은</a:t>
            </a:r>
          </a:p>
          <a:p>
            <a:pPr algn="ctr">
              <a:lnSpc>
                <a:spcPct val="110000"/>
              </a:lnSpc>
              <a:spcAft>
                <a:spcPts val="400"/>
              </a:spcAft>
            </a:pPr>
            <a:r>
              <a:rPr sz="1300" b="0">
                <a:solidFill>
                  <a:srgbClr val="1F2A3A"/>
                </a:solidFill>
                <a:latin typeface="맑은 고딕"/>
                <a:ea typeface="맑은 고딕"/>
                <a:cs typeface="맑은 고딕"/>
              </a:rPr>
              <a:t>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남은 후보</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규정 적합성</a:t>
            </a:r>
          </a:p>
          <a:p>
            <a:pPr algn="ctr">
              <a:lnSpc>
                <a:spcPct val="110000"/>
              </a:lnSpc>
              <a:spcAft>
                <a:spcPts val="400"/>
              </a:spcAft>
            </a:pPr>
            <a:r>
              <a:rPr sz="1300" b="0">
                <a:solidFill>
                  <a:srgbClr val="1F2A3A"/>
                </a:solidFill>
                <a:latin typeface="맑은 고딕"/>
                <a:ea typeface="맑은 고딕"/>
                <a:cs typeface="맑은 고딕"/>
              </a:rPr>
              <a:t>쓸 수 없거나 감점할</a:t>
            </a:r>
          </a:p>
          <a:p>
            <a:pPr algn="ctr">
              <a:lnSpc>
                <a:spcPct val="110000"/>
              </a:lnSpc>
              <a:spcAft>
                <a:spcPts val="400"/>
              </a:spcAft>
            </a:pPr>
            <a:r>
              <a:rPr sz="1300" b="0">
                <a:solidFill>
                  <a:srgbClr val="1F2A3A"/>
                </a:solidFill>
                <a:latin typeface="맑은 고딕"/>
                <a:ea typeface="맑은 고딕"/>
                <a:cs typeface="맑은 고딕"/>
              </a:rPr>
              <a:t>것은 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우선순위</a:t>
            </a:r>
          </a:p>
          <a:p>
            <a:pPr algn="ctr">
              <a:lnSpc>
                <a:spcPct val="110000"/>
              </a:lnSpc>
              <a:spcAft>
                <a:spcPts val="400"/>
              </a:spcAft>
            </a:pPr>
            <a:r>
              <a:rPr sz="1300" b="0">
                <a:solidFill>
                  <a:srgbClr val="1F2A3A"/>
                </a:solidFill>
                <a:latin typeface="맑은 고딕"/>
                <a:ea typeface="맑은 고딕"/>
                <a:cs typeface="맑은 고딕"/>
              </a:rPr>
              <a:t>남은 후보 가운데</a:t>
            </a:r>
          </a:p>
          <a:p>
            <a:pPr algn="ctr">
              <a:lnSpc>
                <a:spcPct val="110000"/>
              </a:lnSpc>
              <a:spcAft>
                <a:spcPts val="400"/>
              </a:spcAft>
            </a:pPr>
            <a:r>
              <a:rPr sz="1300" b="0">
                <a:solidFill>
                  <a:srgbClr val="1F2A3A"/>
                </a:solidFill>
                <a:latin typeface="맑은 고딕"/>
                <a:ea typeface="맑은 고딕"/>
                <a:cs typeface="맑은 고딕"/>
              </a:rPr>
              <a:t>가장 유리한 순서는</a:t>
            </a:r>
          </a:p>
          <a:p>
            <a:pPr algn="ctr">
              <a:lnSpc>
                <a:spcPct val="110000"/>
              </a:lnSpc>
              <a:spcAft>
                <a:spcPts val="400"/>
              </a:spcAft>
            </a:pPr>
            <a:r>
              <a:rPr sz="1300" b="0">
                <a:solidFill>
                  <a:srgbClr val="1F2A3A"/>
                </a:solidFill>
                <a:latin typeface="맑은 고딕"/>
                <a:ea typeface="맑은 고딕"/>
                <a:cs typeface="맑은 고딕"/>
              </a:rPr>
              <a:t>Unique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후보 선택: 조치를 후보로 올리는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 선택 규칙은 고장 유형이나 원인을 조건으로 삼아 쓸 수 있는 조치 방법을 후보로 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고장 유형을 보는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고장 유형이 쿨러 냉각 성능 상실이다</a:t>
            </a:r>
          </a:p>
          <a:p>
            <a:pPr algn="l">
              <a:lnSpc>
                <a:spcPct val="110000"/>
              </a:lnSpc>
              <a:spcAft>
                <a:spcPts val="600"/>
              </a:spcAft>
            </a:pPr>
            <a:r>
              <a:rPr sz="1450" b="0">
                <a:solidFill>
                  <a:srgbClr val="1F2A3A"/>
                </a:solidFill>
                <a:latin typeface="맑은 고딕"/>
                <a:ea typeface="맑은 고딕"/>
                <a:cs typeface="맑은 고딕"/>
              </a:rPr>
              <a:t>• 출력: SOP-COOL-11 · 12 · 13을 후보로 올린다</a:t>
            </a:r>
          </a:p>
          <a:p>
            <a:pPr algn="l">
              <a:lnSpc>
                <a:spcPct val="110000"/>
              </a:lnSpc>
              <a:spcAft>
                <a:spcPts val="600"/>
              </a:spcAft>
            </a:pPr>
            <a:r>
              <a:rPr sz="1450" b="0">
                <a:solidFill>
                  <a:srgbClr val="1F2A3A"/>
                </a:solidFill>
                <a:latin typeface="맑은 고딕"/>
                <a:ea typeface="맑은 고딕"/>
                <a:cs typeface="맑은 고딕"/>
              </a:rPr>
              <a:t>• 즉시 완화 조치 셋이다</a:t>
            </a:r>
          </a:p>
        </p:txBody>
      </p:sp>
      <p:sp>
        <p:nvSpPr>
          <p:cNvPr id="11" name="Rounded Rectangle 10"/>
          <p:cNvSpPr/>
          <p:nvPr/>
        </p:nvSpPr>
        <p:spPr>
          <a:xfrm>
            <a:off x="868680" y="5096002"/>
            <a:ext cx="125272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HM-8.5</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원인까지 보는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원인이 쿨러 핀 오염이다</a:t>
            </a:r>
          </a:p>
          <a:p>
            <a:pPr algn="l">
              <a:lnSpc>
                <a:spcPct val="110000"/>
              </a:lnSpc>
              <a:spcAft>
                <a:spcPts val="600"/>
              </a:spcAft>
            </a:pPr>
            <a:r>
              <a:rPr sz="1450" b="0">
                <a:solidFill>
                  <a:srgbClr val="1F2A3A"/>
                </a:solidFill>
                <a:latin typeface="맑은 고딕"/>
                <a:ea typeface="맑은 고딕"/>
                <a:cs typeface="맑은 고딕"/>
              </a:rPr>
              <a:t>• 출력: SOP-COOL-14 쿨러 핀 세척을 후보로 올린다</a:t>
            </a:r>
          </a:p>
          <a:p>
            <a:pPr algn="l">
              <a:lnSpc>
                <a:spcPct val="110000"/>
              </a:lnSpc>
              <a:spcAft>
                <a:spcPts val="600"/>
              </a:spcAft>
            </a:pPr>
            <a:r>
              <a:rPr sz="1450" b="0">
                <a:solidFill>
                  <a:srgbClr val="1F2A3A"/>
                </a:solidFill>
                <a:latin typeface="맑은 고딕"/>
                <a:ea typeface="맑은 고딕"/>
                <a:cs typeface="맑은 고딕"/>
              </a:rPr>
              <a:t>• 그 원인에만 맞는 근본 조치이다</a:t>
            </a:r>
          </a:p>
        </p:txBody>
      </p:sp>
      <p:sp>
        <p:nvSpPr>
          <p:cNvPr id="18" name="Rounded Rectangle 17"/>
          <p:cNvSpPr/>
          <p:nvPr/>
        </p:nvSpPr>
        <p:spPr>
          <a:xfrm>
            <a:off x="6781647" y="5096002"/>
            <a:ext cx="12527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HM-8.7</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후보에서 빼는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제외는 조건에 걸린 조치를 후보에서 아예 빼는 판정이며, 해서는 안 되는 조치를 가려낸다.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plc_mode != REMOTE_AUTO → 제외</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toggle-left" descr="toggle-left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조건</a:t>
            </a:r>
          </a:p>
          <a:p>
            <a:pPr algn="l">
              <a:lnSpc>
                <a:spcPct val="110000"/>
              </a:lnSpc>
              <a:spcAft>
                <a:spcPts val="400"/>
              </a:spcAft>
            </a:pPr>
            <a:r>
              <a:rPr sz="1400" b="0">
                <a:solidFill>
                  <a:srgbClr val="1F2A3A"/>
                </a:solidFill>
                <a:latin typeface="맑은 고딕"/>
                <a:ea typeface="맑은 고딕"/>
                <a:cs typeface="맑은 고딕"/>
              </a:rPr>
              <a:t>운전 모드가</a:t>
            </a:r>
          </a:p>
          <a:p>
            <a:pPr algn="l">
              <a:lnSpc>
                <a:spcPct val="110000"/>
              </a:lnSpc>
              <a:spcAft>
                <a:spcPts val="400"/>
              </a:spcAft>
            </a:pPr>
            <a:r>
              <a:rPr sz="1400" b="0">
                <a:solidFill>
                  <a:srgbClr val="1F2A3A"/>
                </a:solidFill>
                <a:latin typeface="맑은 고딕"/>
                <a:ea typeface="맑은 고딕"/>
                <a:cs typeface="맑은 고딕"/>
              </a:rPr>
              <a:t>원격 자동이 아니다</a:t>
            </a:r>
          </a:p>
        </p:txBody>
      </p:sp>
      <p:sp>
        <p:nvSpPr>
          <p:cNvPr id="11" name="Oval 10"/>
          <p:cNvSpPr/>
          <p:nvPr/>
        </p:nvSpPr>
        <p:spPr>
          <a:xfrm>
            <a:off x="4338218" y="4071620"/>
            <a:ext cx="731520" cy="731520"/>
          </a:xfrm>
          <a:prstGeom prst="ellipse">
            <a:avLst/>
          </a:prstGeom>
          <a:solidFill>
            <a:srgbClr val="5CB8F2"/>
          </a:solidFill>
          <a:ln>
            <a:noFill/>
          </a:ln>
        </p:spPr>
        <p:txBody>
          <a:bodyPr rtlCol="0" anchor="ctr"/>
          <a:lstStyle/>
          <a:p>
            <a:pPr algn="ctr"/>
          </a:p>
        </p:txBody>
      </p:sp>
      <p:pic>
        <p:nvPicPr>
          <p:cNvPr id="12" name="아이콘:ban" descr="ban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SOP-COOL-11 · 12 · 13을</a:t>
            </a:r>
          </a:p>
          <a:p>
            <a:pPr algn="l">
              <a:lnSpc>
                <a:spcPct val="110000"/>
              </a:lnSpc>
              <a:spcAft>
                <a:spcPts val="400"/>
              </a:spcAft>
            </a:pPr>
            <a:r>
              <a:rPr sz="1400" b="0">
                <a:solidFill>
                  <a:srgbClr val="1F2A3A"/>
                </a:solidFill>
                <a:latin typeface="맑은 고딕"/>
                <a:ea typeface="맑은 고딕"/>
                <a:cs typeface="맑은 고딕"/>
              </a:rPr>
              <a:t>후보에서 뺀다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file-text" descr="file-text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HM-8.8</a:t>
            </a:r>
          </a:p>
          <a:p>
            <a:pPr algn="l">
              <a:lnSpc>
                <a:spcPct val="110000"/>
              </a:lnSpc>
              <a:spcAft>
                <a:spcPts val="400"/>
              </a:spcAft>
            </a:pPr>
            <a:r>
              <a:rPr sz="1400" b="0">
                <a:solidFill>
                  <a:srgbClr val="1F2A3A"/>
                </a:solidFill>
                <a:latin typeface="맑은 고딕"/>
                <a:ea typeface="맑은 고딕"/>
                <a:cs typeface="맑은 고딕"/>
              </a:rPr>
              <a:t>금지와 제한</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감점: 후보에 남기되 불리하게 견주는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감점은 조치를 후보에 남기되 그 조치에 따르는 손실만큼 깎아서 다른 후보와 견주게 하는 판정이다.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a:t>
            </a:r>
          </a:p>
          <a:p>
            <a:pPr algn="ctr">
              <a:lnSpc>
                <a:spcPct val="110000"/>
              </a:lnSpc>
              <a:spcAft>
                <a:spcPts val="400"/>
              </a:spcAft>
            </a:pPr>
            <a:r>
              <a:rPr sz="1350" b="0">
                <a:solidFill>
                  <a:srgbClr val="1F2A3A"/>
                </a:solidFill>
                <a:latin typeface="맑은 고딕"/>
                <a:ea typeface="맑은 고딕"/>
                <a:cs typeface="맑은 고딕"/>
              </a:rPr>
              <a:t>fan100_hours &gt; 24</a:t>
            </a:r>
          </a:p>
          <a:p>
            <a:pPr algn="ctr">
              <a:lnSpc>
                <a:spcPct val="110000"/>
              </a:lnSpc>
              <a:spcAft>
                <a:spcPts val="400"/>
              </a:spcAft>
            </a:pPr>
            <a:r>
              <a:rPr sz="1350" b="0">
                <a:solidFill>
                  <a:srgbClr val="1F2A3A"/>
                </a:solidFill>
                <a:latin typeface="맑은 고딕"/>
                <a:ea typeface="맑은 고딕"/>
                <a:cs typeface="맑은 고딕"/>
              </a:rPr>
              <a:t>팬 100 % 연속 운전이</a:t>
            </a:r>
          </a:p>
          <a:p>
            <a:pPr algn="ctr">
              <a:lnSpc>
                <a:spcPct val="110000"/>
              </a:lnSpc>
              <a:spcAft>
                <a:spcPts val="400"/>
              </a:spcAft>
            </a:pPr>
            <a:r>
              <a:rPr sz="1350" b="0">
                <a:solidFill>
                  <a:srgbClr val="1F2A3A"/>
                </a:solidFill>
                <a:latin typeface="맑은 고딕"/>
                <a:ea typeface="맑은 고딕"/>
                <a:cs typeface="맑은 고딕"/>
              </a:rPr>
              <a:t>24시간을 넘겼다</a:t>
            </a:r>
          </a:p>
        </p:txBody>
      </p:sp>
      <p:sp>
        <p:nvSpPr>
          <p:cNvPr id="12" name="Oval 11"/>
          <p:cNvSpPr/>
          <p:nvPr/>
        </p:nvSpPr>
        <p:spPr>
          <a:xfrm>
            <a:off x="5661507" y="2626042"/>
            <a:ext cx="868680" cy="868680"/>
          </a:xfrm>
          <a:prstGeom prst="ellipse">
            <a:avLst/>
          </a:prstGeom>
          <a:solidFill>
            <a:srgbClr val="5CB8F2"/>
          </a:solidFill>
          <a:ln>
            <a:noFill/>
          </a:ln>
        </p:spPr>
        <p:txBody>
          <a:bodyPr rtlCol="0" anchor="ctr"/>
          <a:lstStyle/>
          <a:p>
            <a:pPr algn="ctr"/>
          </a:p>
        </p:txBody>
      </p:sp>
      <p:pic>
        <p:nvPicPr>
          <p:cNvPr id="13" name="아이콘:coin" descr="coin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출력</a:t>
            </a:r>
          </a:p>
          <a:p>
            <a:pPr algn="ctr">
              <a:lnSpc>
                <a:spcPct val="110000"/>
              </a:lnSpc>
              <a:spcAft>
                <a:spcPts val="400"/>
              </a:spcAft>
            </a:pPr>
            <a:r>
              <a:rPr sz="1350" b="0">
                <a:solidFill>
                  <a:srgbClr val="1F2A3A"/>
                </a:solidFill>
                <a:latin typeface="맑은 고딕"/>
                <a:ea typeface="맑은 고딕"/>
                <a:cs typeface="맑은 고딕"/>
              </a:rPr>
              <a:t>감점 20만 원</a:t>
            </a:r>
          </a:p>
          <a:p>
            <a:pPr algn="ctr">
              <a:lnSpc>
                <a:spcPct val="110000"/>
              </a:lnSpc>
              <a:spcAft>
                <a:spcPts val="400"/>
              </a:spcAft>
            </a:pPr>
            <a:r>
              <a:rPr sz="1350" b="0">
                <a:solidFill>
                  <a:srgbClr val="1F2A3A"/>
                </a:solidFill>
                <a:latin typeface="맑은 고딕"/>
                <a:ea typeface="맑은 고딕"/>
                <a:cs typeface="맑은 고딕"/>
              </a:rPr>
              <a:t>SOP-COOL-11 · 12가</a:t>
            </a:r>
          </a:p>
          <a:p>
            <a:pPr algn="ctr">
              <a:lnSpc>
                <a:spcPct val="110000"/>
              </a:lnSpc>
              <a:spcAft>
                <a:spcPts val="400"/>
              </a:spcAft>
            </a:pPr>
            <a:r>
              <a:rPr sz="1350" b="0">
                <a:solidFill>
                  <a:srgbClr val="1F2A3A"/>
                </a:solidFill>
                <a:latin typeface="맑은 고딕"/>
                <a:ea typeface="맑은 고딕"/>
                <a:cs typeface="맑은 고딕"/>
              </a:rPr>
              <a:t>대상이다</a:t>
            </a:r>
          </a:p>
        </p:txBody>
      </p:sp>
      <p:sp>
        <p:nvSpPr>
          <p:cNvPr id="17" name="Oval 16"/>
          <p:cNvSpPr/>
          <p:nvPr/>
        </p:nvSpPr>
        <p:spPr>
          <a:xfrm>
            <a:off x="9359646"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그 뒤</a:t>
            </a:r>
          </a:p>
          <a:p>
            <a:pPr algn="ctr">
              <a:lnSpc>
                <a:spcPct val="110000"/>
              </a:lnSpc>
              <a:spcAft>
                <a:spcPts val="400"/>
              </a:spcAft>
            </a:pPr>
            <a:r>
              <a:rPr sz="1350" b="0">
                <a:solidFill>
                  <a:srgbClr val="1F2A3A"/>
                </a:solidFill>
                <a:latin typeface="맑은 고딕"/>
                <a:ea typeface="맑은 고딕"/>
                <a:cs typeface="맑은 고딕"/>
              </a:rPr>
              <a:t>후보에는 남는다</a:t>
            </a:r>
          </a:p>
          <a:p>
            <a:pPr algn="ctr">
              <a:lnSpc>
                <a:spcPct val="110000"/>
              </a:lnSpc>
              <a:spcAft>
                <a:spcPts val="400"/>
              </a:spcAft>
            </a:pPr>
            <a:r>
              <a:rPr sz="1350" b="0">
                <a:solidFill>
                  <a:srgbClr val="1F2A3A"/>
                </a:solidFill>
                <a:latin typeface="맑은 고딕"/>
                <a:ea typeface="맑은 고딕"/>
                <a:cs typeface="맑은 고딕"/>
              </a:rPr>
              <a:t>깎인 채로 다른 후보와</a:t>
            </a:r>
          </a:p>
          <a:p>
            <a:pPr algn="ctr">
              <a:lnSpc>
                <a:spcPct val="110000"/>
              </a:lnSpc>
              <a:spcAft>
                <a:spcPts val="400"/>
              </a:spcAft>
            </a:pPr>
            <a:r>
              <a:rPr sz="1350" b="0">
                <a:solidFill>
                  <a:srgbClr val="1F2A3A"/>
                </a:solidFill>
                <a:latin typeface="맑은 고딕"/>
                <a:ea typeface="맑은 고딕"/>
                <a:cs typeface="맑은 고딕"/>
              </a:rPr>
              <a:t>견주어진다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경고: 사람이 알아야 할 사항을 붙이는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경고는 후보에 남기면서 승인하는 사람이 알아야 할 사항을 붙이는 판정이다.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경고</a:t>
            </a:r>
          </a:p>
          <a:p>
            <a:pPr algn="l">
              <a:lnSpc>
                <a:spcPct val="110000"/>
              </a:lnSpc>
              <a:spcAft>
                <a:spcPts val="200"/>
              </a:spcAft>
            </a:pPr>
            <a:r>
              <a:rPr sz="1150" b="0">
                <a:solidFill>
                  <a:srgbClr val="556175"/>
                </a:solidFill>
                <a:latin typeface="맑은 고딕"/>
                <a:ea typeface="맑은 고딕"/>
                <a:cs typeface="맑은 고딕"/>
              </a:rPr>
              <a:t>근거 HM-8.6</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 forecast_ts1 &gt;= 55, 조치 후 예측 유온이 55 ℃ 이상이다.</a:t>
            </a:r>
          </a:p>
          <a:p>
            <a:pPr algn="l">
              <a:lnSpc>
                <a:spcPct val="110000"/>
              </a:lnSpc>
              <a:spcAft>
                <a:spcPts val="300"/>
              </a:spcAft>
            </a:pPr>
            <a:r>
              <a:rPr sz="1400" b="0">
                <a:solidFill>
                  <a:srgbClr val="1F2A3A"/>
                </a:solidFill>
                <a:latin typeface="맑은 고딕"/>
                <a:ea typeface="맑은 고딕"/>
                <a:cs typeface="맑은 고딕"/>
              </a:rPr>
              <a:t>출력: 그 후보에 경고를 붙인다. 후보에서 빼지는 않는다.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실제 예</a:t>
            </a:r>
          </a:p>
          <a:p>
            <a:pPr algn="l">
              <a:lnSpc>
                <a:spcPct val="110000"/>
              </a:lnSpc>
              <a:spcAft>
                <a:spcPts val="200"/>
              </a:spcAft>
            </a:pPr>
            <a:r>
              <a:rPr sz="1150" b="0">
                <a:solidFill>
                  <a:srgbClr val="556175"/>
                </a:solidFill>
                <a:latin typeface="맑은 고딕"/>
                <a:ea typeface="맑은 고딕"/>
                <a:cs typeface="맑은 고딕"/>
              </a:rPr>
              <a:t>쿨러 과열 한 건</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핀 세척의 예측 유온은 62.5 ℃였다.</a:t>
            </a:r>
          </a:p>
          <a:p>
            <a:pPr algn="l">
              <a:lnSpc>
                <a:spcPct val="110000"/>
              </a:lnSpc>
              <a:spcAft>
                <a:spcPts val="300"/>
              </a:spcAft>
            </a:pPr>
            <a:r>
              <a:rPr sz="1400" b="0">
                <a:solidFill>
                  <a:srgbClr val="1F2A3A"/>
                </a:solidFill>
                <a:latin typeface="맑은 고딕"/>
                <a:ea typeface="맑은 고딕"/>
                <a:cs typeface="맑은 고딕"/>
              </a:rPr>
              <a:t>「경보 해제에 실패할 수 있으므로 다른 조치와 비교한다」는 경고가 붙었다.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판정은 그 조치가 후보에 남는지, 견줄 때 불리해지는지, 사람에게 무엇을 알리는지에서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후보에 남지 않는다</a:t>
            </a:r>
          </a:p>
        </p:txBody>
      </p:sp>
      <p:sp>
        <p:nvSpPr>
          <p:cNvPr id="10" name="Rounded Rectangle 9"/>
          <p:cNvSpPr/>
          <p:nvPr/>
        </p:nvSpPr>
        <p:spPr>
          <a:xfrm>
            <a:off x="777240" y="4824476"/>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후보에 남고 점수가 깎인다</a:t>
            </a:r>
          </a:p>
        </p:txBody>
      </p:sp>
      <p:sp>
        <p:nvSpPr>
          <p:cNvPr id="16" name="Rounded Rectangle 15"/>
          <p:cNvSpPr/>
          <p:nvPr/>
        </p:nvSpPr>
        <p:spPr>
          <a:xfrm>
            <a:off x="4566818" y="4824476"/>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후보에 남고 사람에게 알린다</a:t>
            </a:r>
          </a:p>
        </p:txBody>
      </p:sp>
      <p:sp>
        <p:nvSpPr>
          <p:cNvPr id="22" name="Rounded Rectangle 21"/>
          <p:cNvSpPr/>
          <p:nvPr/>
        </p:nvSpPr>
        <p:spPr>
          <a:xfrm>
            <a:off x="8356396" y="4824476"/>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판정의 근거가 결과에 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 결과에는 걸린 규칙마다 조건과 판정과 출처가 한 묶음으로 기록된다.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p>
          <a:p>
            <a:pPr algn="l">
              <a:lnSpc>
                <a:spcPct val="110000"/>
              </a:lnSpc>
              <a:spcAft>
                <a:spcPts val="200"/>
              </a:spcAft>
            </a:pPr>
            <a:r>
              <a:rPr sz="1300" b="0">
                <a:solidFill>
                  <a:srgbClr val="E8EEF6"/>
                </a:solidFill>
                <a:latin typeface="Consolas"/>
                <a:ea typeface="맑은 고딕"/>
                <a:cs typeface="맑은 고딕"/>
              </a:rPr>
              <a:t>rule     rule:cmp-fan100-over-24h</a:t>
            </a:r>
          </a:p>
          <a:p>
            <a:pPr algn="l">
              <a:lnSpc>
                <a:spcPct val="110000"/>
              </a:lnSpc>
              <a:spcAft>
                <a:spcPts val="200"/>
              </a:spcAft>
            </a:pPr>
            <a:r>
              <a:rPr sz="1300" b="0">
                <a:solidFill>
                  <a:srgbClr val="E8EEF6"/>
                </a:solidFill>
                <a:latin typeface="Consolas"/>
                <a:ea typeface="맑은 고딕"/>
                <a:cs typeface="맑은 고딕"/>
              </a:rPr>
              <a:t>effect   PENALTY</a:t>
            </a:r>
          </a:p>
          <a:p>
            <a:pPr algn="l">
              <a:lnSpc>
                <a:spcPct val="110000"/>
              </a:lnSpc>
              <a:spcAft>
                <a:spcPts val="200"/>
              </a:spcAft>
            </a:pPr>
            <a:r>
              <a:rPr sz="1300" b="0">
                <a:solidFill>
                  <a:srgbClr val="E8EEF6"/>
                </a:solidFill>
                <a:latin typeface="Consolas"/>
                <a:ea typeface="맑은 고딕"/>
                <a:cs typeface="맑은 고딕"/>
              </a:rPr>
              <a:t>when     fan100_hours &gt; 24</a:t>
            </a:r>
          </a:p>
          <a:p>
            <a:pPr algn="l">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sources  HM-8.8</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rule · when</a:t>
            </a:r>
          </a:p>
          <a:p>
            <a:pPr algn="l">
              <a:lnSpc>
                <a:spcPct val="110000"/>
              </a:lnSpc>
              <a:spcAft>
                <a:spcPts val="400"/>
              </a:spcAft>
            </a:pPr>
            <a:r>
              <a:rPr sz="1400" b="0">
                <a:solidFill>
                  <a:srgbClr val="1F2A3A"/>
                </a:solidFill>
                <a:latin typeface="맑은 고딕"/>
                <a:ea typeface="맑은 고딕"/>
                <a:cs typeface="맑은 고딕"/>
              </a:rPr>
              <a:t>어느 규칙이 어떤 조건으로</a:t>
            </a:r>
          </a:p>
          <a:p>
            <a:pPr algn="l">
              <a:lnSpc>
                <a:spcPct val="110000"/>
              </a:lnSpc>
              <a:spcAft>
                <a:spcPts val="400"/>
              </a:spcAft>
            </a:pPr>
            <a:r>
              <a:rPr sz="1400" b="0">
                <a:solidFill>
                  <a:srgbClr val="1F2A3A"/>
                </a:solidFill>
                <a:latin typeface="맑은 고딕"/>
                <a:ea typeface="맑은 고딕"/>
                <a:cs typeface="맑은 고딕"/>
              </a:rPr>
              <a:t>걸렸는가</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effect · penalty</a:t>
            </a:r>
          </a:p>
          <a:p>
            <a:pPr algn="l">
              <a:lnSpc>
                <a:spcPct val="110000"/>
              </a:lnSpc>
              <a:spcAft>
                <a:spcPts val="400"/>
              </a:spcAft>
            </a:pPr>
            <a:r>
              <a:rPr sz="1400" b="0">
                <a:solidFill>
                  <a:srgbClr val="1F2A3A"/>
                </a:solidFill>
                <a:latin typeface="맑은 고딕"/>
                <a:ea typeface="맑은 고딕"/>
                <a:cs typeface="맑은 고딕"/>
              </a:rPr>
              <a:t>판정의 종류와 크기</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sources</a:t>
            </a:r>
          </a:p>
          <a:p>
            <a:pPr algn="l">
              <a:lnSpc>
                <a:spcPct val="110000"/>
              </a:lnSpc>
              <a:spcAft>
                <a:spcPts val="400"/>
              </a:spcAft>
            </a:pPr>
            <a:r>
              <a:rPr sz="1400" b="0">
                <a:solidFill>
                  <a:srgbClr val="1F2A3A"/>
                </a:solidFill>
                <a:latin typeface="맑은 고딕"/>
                <a:ea typeface="맑은 고딕"/>
                <a:cs typeface="맑은 고딕"/>
              </a:rPr>
              <a:t>근거가 된 매뉴얼의 절</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값을 얻지 못한 조건의 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값을 얻지 못한 조건을 통과로 치면 위험한 조치가 후보에 남으므로, 모르는 조건은 통과로 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x" descr="circle-x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친다면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운전 모드를 읽지 못했다</a:t>
            </a:r>
          </a:p>
          <a:p>
            <a:pPr algn="l">
              <a:lnSpc>
                <a:spcPct val="110000"/>
              </a:lnSpc>
              <a:spcAft>
                <a:spcPts val="600"/>
              </a:spcAft>
            </a:pPr>
            <a:r>
              <a:rPr sz="1450" b="0">
                <a:solidFill>
                  <a:srgbClr val="1F2A3A"/>
                </a:solidFill>
                <a:latin typeface="맑은 고딕"/>
                <a:ea typeface="맑은 고딕"/>
                <a:cs typeface="맑은 고딕"/>
              </a:rPr>
              <a:t>• 조건이 맞지 않은 것으로 보고 넘어간다</a:t>
            </a:r>
          </a:p>
          <a:p>
            <a:pPr algn="l">
              <a:lnSpc>
                <a:spcPct val="110000"/>
              </a:lnSpc>
              <a:spcAft>
                <a:spcPts val="600"/>
              </a:spcAft>
            </a:pPr>
            <a:r>
              <a:rPr sz="1450" b="0">
                <a:solidFill>
                  <a:srgbClr val="1F2A3A"/>
                </a:solidFill>
                <a:latin typeface="맑은 고딕"/>
                <a:ea typeface="맑은 고딕"/>
                <a:cs typeface="맑은 고딕"/>
              </a:rPr>
              <a:t>• 원격 자동이 아닐 수도 있는 설비에 원격 조치가 남는다</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위험하다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치지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「확인되지 않은 조건 (plc_mode)」이라고 결과에 적는다</a:t>
            </a:r>
          </a:p>
          <a:p>
            <a:pPr algn="l">
              <a:lnSpc>
                <a:spcPct val="110000"/>
              </a:lnSpc>
              <a:spcAft>
                <a:spcPts val="600"/>
              </a:spcAft>
            </a:pPr>
            <a:r>
              <a:rPr sz="1450" b="0">
                <a:solidFill>
                  <a:srgbClr val="1F2A3A"/>
                </a:solidFill>
                <a:latin typeface="맑은 고딕"/>
                <a:ea typeface="맑은 고딕"/>
                <a:cs typeface="맑은 고딕"/>
              </a:rPr>
              <a:t>• 제외를 가르는 조건이면 제외 쪽으로 처리한다</a:t>
            </a:r>
          </a:p>
          <a:p>
            <a:pPr algn="l">
              <a:lnSpc>
                <a:spcPct val="110000"/>
              </a:lnSpc>
              <a:spcAft>
                <a:spcPts val="600"/>
              </a:spcAft>
            </a:pPr>
            <a:r>
              <a:rPr sz="1450" b="0">
                <a:solidFill>
                  <a:srgbClr val="1F2A3A"/>
                </a:solidFill>
                <a:latin typeface="맑은 고딕"/>
                <a:ea typeface="맑은 고딕"/>
                <a:cs typeface="맑은 고딕"/>
              </a:rPr>
              <a:t>• 모르면 하지 않는 쪽을 택한다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문장에서 판정까지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문장은 결정표의 행이 되고, 지금의 값을 대어 보면 근거가 붙은 판정이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문장</a:t>
            </a:r>
          </a:p>
          <a:p>
            <a:pPr algn="ctr">
              <a:lnSpc>
                <a:spcPct val="110000"/>
              </a:lnSpc>
              <a:spcAft>
                <a:spcPts val="400"/>
              </a:spcAft>
            </a:pPr>
            <a:r>
              <a:rPr sz="1350" b="0">
                <a:solidFill>
                  <a:srgbClr val="1F2A3A"/>
                </a:solidFill>
                <a:latin typeface="맑은 고딕"/>
                <a:ea typeface="맑은 고딕"/>
                <a:cs typeface="맑은 고딕"/>
              </a:rPr>
              <a:t>매뉴얼에</a:t>
            </a:r>
          </a:p>
          <a:p>
            <a:pPr algn="ctr">
              <a:lnSpc>
                <a:spcPct val="110000"/>
              </a:lnSpc>
              <a:spcAft>
                <a:spcPts val="400"/>
              </a:spcAft>
            </a:pPr>
            <a:r>
              <a:rPr sz="1350" b="0">
                <a:solidFill>
                  <a:srgbClr val="1F2A3A"/>
                </a:solidFill>
                <a:latin typeface="맑은 고딕"/>
                <a:ea typeface="맑은 고딕"/>
                <a:cs typeface="맑은 고딕"/>
              </a:rPr>
              <a:t>글로 적힌 조건</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결정표의 행</a:t>
            </a:r>
          </a:p>
          <a:p>
            <a:pPr algn="ctr">
              <a:lnSpc>
                <a:spcPct val="110000"/>
              </a:lnSpc>
              <a:spcAft>
                <a:spcPts val="400"/>
              </a:spcAft>
            </a:pPr>
            <a:r>
              <a:rPr sz="1350" b="0">
                <a:solidFill>
                  <a:srgbClr val="1F2A3A"/>
                </a:solidFill>
                <a:latin typeface="맑은 고딕"/>
                <a:ea typeface="맑은 고딕"/>
                <a:cs typeface="맑은 고딕"/>
              </a:rPr>
              <a:t>입력, 연산자, 기준값</a:t>
            </a:r>
          </a:p>
          <a:p>
            <a:pPr algn="ctr">
              <a:lnSpc>
                <a:spcPct val="110000"/>
              </a:lnSpc>
              <a:spcAft>
                <a:spcPts val="400"/>
              </a:spcAft>
            </a:pPr>
            <a:r>
              <a:rPr sz="1350" b="0">
                <a:solidFill>
                  <a:srgbClr val="1F2A3A"/>
                </a:solidFill>
                <a:latin typeface="맑은 고딕"/>
                <a:ea typeface="맑은 고딕"/>
                <a:cs typeface="맑은 고딕"/>
              </a:rPr>
              <a:t>그리고 출력</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지금의 값</a:t>
            </a:r>
          </a:p>
          <a:p>
            <a:pPr algn="ctr">
              <a:lnSpc>
                <a:spcPct val="110000"/>
              </a:lnSpc>
              <a:spcAft>
                <a:spcPts val="400"/>
              </a:spcAft>
            </a:pPr>
            <a:r>
              <a:rPr sz="1350" b="0">
                <a:solidFill>
                  <a:srgbClr val="1F2A3A"/>
                </a:solidFill>
                <a:latin typeface="맑은 고딕"/>
                <a:ea typeface="맑은 고딕"/>
                <a:cs typeface="맑은 고딕"/>
              </a:rPr>
              <a:t>출처에서 읽어 와</a:t>
            </a:r>
          </a:p>
          <a:p>
            <a:pPr algn="ctr">
              <a:lnSpc>
                <a:spcPct val="110000"/>
              </a:lnSpc>
              <a:spcAft>
                <a:spcPts val="400"/>
              </a:spcAft>
            </a:pPr>
            <a:r>
              <a:rPr sz="1350" b="0">
                <a:solidFill>
                  <a:srgbClr val="1F2A3A"/>
                </a:solidFill>
                <a:latin typeface="맑은 고딕"/>
                <a:ea typeface="맑은 고딕"/>
                <a:cs typeface="맑은 고딕"/>
              </a:rPr>
              <a:t>조건에 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후보 선택, 제외,</a:t>
            </a:r>
          </a:p>
          <a:p>
            <a:pPr algn="ctr">
              <a:lnSpc>
                <a:spcPct val="110000"/>
              </a:lnSpc>
              <a:spcAft>
                <a:spcPts val="400"/>
              </a:spcAft>
            </a:pPr>
            <a:r>
              <a:rPr sz="1350" b="0">
                <a:solidFill>
                  <a:srgbClr val="1F2A3A"/>
                </a:solidFill>
                <a:latin typeface="맑은 고딕"/>
                <a:ea typeface="맑은 고딕"/>
                <a:cs typeface="맑은 고딕"/>
              </a:rPr>
              <a:t>감점, 경고와 근거</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성과 관점의 조치 평가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 가운데 더 나은 조치를 가리는 기준</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후보와 예측 유온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사건에서는 네 후보가 모두 규칙을 통과했으며, 후보마다 조치 뒤에 유온이 머물 값이 다르게 예측되었다.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유온을 가장 많이 내리는 조치는 1순위가 아니었다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가장 많이 내리는 조치가 3순위였으므로, 순위를 가른 기준은 유온 하나가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1순위 49.8 ℃ · 3순위 44.6 ℃</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trophy" descr="trophy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℃까지 내린다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emperature" descr="temperatur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3순위</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℃까지 내린다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question-mark" descr="question-mar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남는 물음</a:t>
            </a:r>
          </a:p>
          <a:p>
            <a:pPr algn="l">
              <a:lnSpc>
                <a:spcPct val="110000"/>
              </a:lnSpc>
              <a:spcAft>
                <a:spcPts val="400"/>
              </a:spcAft>
            </a:pPr>
            <a:r>
              <a:rPr sz="1400" b="0">
                <a:solidFill>
                  <a:srgbClr val="1F2A3A"/>
                </a:solidFill>
                <a:latin typeface="맑은 고딕"/>
                <a:ea typeface="맑은 고딕"/>
                <a:cs typeface="맑은 고딕"/>
              </a:rPr>
              <a:t>유온 외에 무엇을</a:t>
            </a:r>
          </a:p>
          <a:p>
            <a:pPr algn="l">
              <a:lnSpc>
                <a:spcPct val="110000"/>
              </a:lnSpc>
              <a:spcAft>
                <a:spcPts val="400"/>
              </a:spcAft>
            </a:pPr>
            <a:r>
              <a:rPr sz="1400" b="0">
                <a:solidFill>
                  <a:srgbClr val="1F2A3A"/>
                </a:solidFill>
                <a:latin typeface="맑은 고딕"/>
                <a:ea typeface="맑은 고딕"/>
                <a:cs typeface="맑은 고딕"/>
              </a:rPr>
              <a:t>함께 따졌는가</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성과를 재무 숫자로만 볼 때의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성과를 이익 같은 재무 숫자로만 보면 이미 지나간 결과만 보게 되고, 그 결과를 만든 원인은 보이지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여러 관점에서 함께 본다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납기와 품질처럼 고객에게 지키는 것을 본다</a:t>
            </a:r>
          </a:p>
          <a:p>
            <a:pPr algn="l">
              <a:lnSpc>
                <a:spcPct val="110000"/>
              </a:lnSpc>
              <a:spcAft>
                <a:spcPts val="600"/>
              </a:spcAft>
            </a:pPr>
            <a:r>
              <a:rPr sz="1450" b="0">
                <a:solidFill>
                  <a:srgbClr val="1F2A3A"/>
                </a:solidFill>
                <a:latin typeface="맑은 고딕"/>
                <a:ea typeface="맑은 고딕"/>
                <a:cs typeface="맑은 고딕"/>
              </a:rPr>
              <a:t>• 설비와 안전처럼 안에서 운영하는 것을 본다</a:t>
            </a:r>
          </a:p>
          <a:p>
            <a:pPr algn="l">
              <a:lnSpc>
                <a:spcPct val="110000"/>
              </a:lnSpc>
              <a:spcAft>
                <a:spcPts val="600"/>
              </a:spcAft>
            </a:pPr>
            <a:r>
              <a:rPr sz="1450" b="0">
                <a:solidFill>
                  <a:srgbClr val="1F2A3A"/>
                </a:solidFill>
                <a:latin typeface="맑은 고딕"/>
                <a:ea typeface="맑은 고딕"/>
                <a:cs typeface="맑은 고딕"/>
              </a:rPr>
              <a:t>• 결과가 나오기 전에 손을 쓸 수 있다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 균형 성과표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BSC는 조직의 성과를 네 관점의 목표와 지표로 함께 보게 하는 성과 관리의 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BSC</a:t>
            </a:r>
          </a:p>
          <a:p>
            <a:pPr algn="l">
              <a:lnSpc>
                <a:spcPct val="110000"/>
              </a:lnSpc>
              <a:spcAft>
                <a:spcPts val="200"/>
              </a:spcAft>
            </a:pPr>
            <a:r>
              <a:rPr sz="1150" b="0">
                <a:solidFill>
                  <a:srgbClr val="556175"/>
                </a:solidFill>
                <a:latin typeface="맑은 고딕"/>
                <a:ea typeface="맑은 고딕"/>
                <a:cs typeface="맑은 고딕"/>
              </a:rPr>
              <a:t>Balanced Scorecard</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성과를 재무 하나가 아니라 네 관점에서 균형 있게 보는 성과 관리의 틀이다.</a:t>
            </a:r>
          </a:p>
          <a:p>
            <a:pPr algn="l">
              <a:lnSpc>
                <a:spcPct val="110000"/>
              </a:lnSpc>
              <a:spcAft>
                <a:spcPts val="300"/>
              </a:spcAft>
            </a:pPr>
            <a:r>
              <a:rPr sz="1400" b="0">
                <a:solidFill>
                  <a:srgbClr val="1F2A3A"/>
                </a:solidFill>
                <a:latin typeface="맑은 고딕"/>
                <a:ea typeface="맑은 고딕"/>
                <a:cs typeface="맑은 고딕"/>
              </a:rPr>
              <a:t>관점마다 이루려는 목표와 그것을 재는 지표를 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네 관점</a:t>
            </a:r>
          </a:p>
          <a:p>
            <a:pPr algn="l">
              <a:lnSpc>
                <a:spcPct val="110000"/>
              </a:lnSpc>
              <a:spcAft>
                <a:spcPts val="200"/>
              </a:spcAft>
            </a:pPr>
            <a:r>
              <a:rPr sz="1150" b="0">
                <a:solidFill>
                  <a:srgbClr val="556175"/>
                </a:solidFill>
                <a:latin typeface="맑은 고딕"/>
                <a:ea typeface="맑은 고딕"/>
                <a:cs typeface="맑은 고딕"/>
              </a:rPr>
              <a:t>Perspective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재무, 고객, 내부 프로세스, 학습과 성장이다.</a:t>
            </a:r>
          </a:p>
          <a:p>
            <a:pPr algn="l">
              <a:lnSpc>
                <a:spcPct val="110000"/>
              </a:lnSpc>
              <a:spcAft>
                <a:spcPts val="300"/>
              </a:spcAft>
            </a:pPr>
            <a:r>
              <a:rPr sz="1400" b="0">
                <a:solidFill>
                  <a:srgbClr val="1F2A3A"/>
                </a:solidFill>
                <a:latin typeface="맑은 고딕"/>
                <a:ea typeface="맑은 고딕"/>
                <a:cs typeface="맑은 고딕"/>
              </a:rPr>
              <a:t>캐플런과 노턴이 제안했다.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관점: 결과가 돈으로 어떻게 나타나는가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재무 관점은 결과가 돈으로 어떻게 나타나는지를 보며, HYD의 목표는 영업이익 확대와 원가 절감이다.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pic>
        <p:nvPicPr>
          <p:cNvPr id="6" name="삽화:전략맵_관점_재무.svg" descr="illust_81932585819046545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1982190"/>
            <a:ext cx="152732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재무</a:t>
            </a:r>
          </a:p>
          <a:p>
            <a:pPr algn="ctr">
              <a:lnSpc>
                <a:spcPct val="110000"/>
              </a:lnSpc>
              <a:spcAft>
                <a:spcPts val="100"/>
              </a:spcAft>
            </a:pPr>
            <a:r>
              <a:rPr sz="1100" b="0">
                <a:solidFill>
                  <a:srgbClr val="556175"/>
                </a:solidFill>
                <a:latin typeface="맑은 고딕"/>
                <a:ea typeface="맑은 고딕"/>
                <a:cs typeface="맑은 고딕"/>
              </a:rPr>
              <a:t>Financial</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원가 절감</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고객 관점: 고객에게 무엇을 지키는가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고객 관점은 고객에게 지켜야 하는 것을 보며, HYD의 목표는 납기 신뢰와 품질 신뢰이다.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pic>
        <p:nvPicPr>
          <p:cNvPr id="6" name="삽화:전략맵_관점_고객.svg" descr="illust_728426050778353930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126233"/>
            <a:ext cx="152732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고객</a:t>
            </a:r>
          </a:p>
          <a:p>
            <a:pPr algn="ctr">
              <a:lnSpc>
                <a:spcPct val="110000"/>
              </a:lnSpc>
              <a:spcAft>
                <a:spcPts val="100"/>
              </a:spcAft>
            </a:pPr>
            <a:r>
              <a:rPr sz="1100" b="0">
                <a:solidFill>
                  <a:srgbClr val="556175"/>
                </a:solidFill>
                <a:latin typeface="맑은 고딕"/>
                <a:ea typeface="맑은 고딕"/>
                <a:cs typeface="맑은 고딕"/>
              </a:rPr>
              <a:t>Customer</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납기 신뢰</a:t>
            </a:r>
          </a:p>
        </p:txBody>
      </p:sp>
      <p:sp>
        <p:nvSpPr>
          <p:cNvPr id="12" name="TextBox 11"/>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품질 신뢰</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내부 프로세스 관점: 무엇을 잘 운영해야 하는가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내부 프로세스 관점에서 HYD가 세운 목표는 설비 가용성 확보, 무재해 운전, 에너지 효율이다.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pic>
        <p:nvPicPr>
          <p:cNvPr id="6" name="삽화:전략맵_관점_내부.svg" descr="illust_731947416291274844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289185"/>
            <a:ext cx="152732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내부 프로세스</a:t>
            </a:r>
          </a:p>
          <a:p>
            <a:pPr algn="ctr">
              <a:lnSpc>
                <a:spcPct val="110000"/>
              </a:lnSpc>
              <a:spcAft>
                <a:spcPts val="100"/>
              </a:spcAft>
            </a:pPr>
            <a:r>
              <a:rPr sz="1100" b="0">
                <a:solidFill>
                  <a:srgbClr val="556175"/>
                </a:solidFill>
                <a:latin typeface="맑은 고딕"/>
                <a:ea typeface="맑은 고딕"/>
                <a:cs typeface="맑은 고딕"/>
              </a:rPr>
              <a:t>Internal Process</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무재해 운전</a:t>
            </a:r>
          </a:p>
        </p:txBody>
      </p:sp>
      <p:sp>
        <p:nvSpPr>
          <p:cNvPr id="12" name="TextBox 11"/>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3" name="TextBox 12"/>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에너지 효율</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학습과 성장 관점: 무엇을 쌓아야 계속 나아지는가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학습과 성장 관점은 조직이 계속 나아지기 위해 쌓아야 하는 것을 보며, HYD의 목표는 현장 판단 지식 축적이다.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pic>
        <p:nvPicPr>
          <p:cNvPr id="6" name="삽화:전략맵_관점_학습.svg" descr="illust_4350257000339061240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722921" y="5447409"/>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학습과 성장</a:t>
            </a:r>
          </a:p>
          <a:p>
            <a:pPr algn="ctr">
              <a:lnSpc>
                <a:spcPct val="110000"/>
              </a:lnSpc>
              <a:spcAft>
                <a:spcPts val="100"/>
              </a:spcAft>
            </a:pPr>
            <a:r>
              <a:rPr sz="1100" b="0">
                <a:solidFill>
                  <a:srgbClr val="556175"/>
                </a:solidFill>
                <a:latin typeface="맑은 고딕"/>
                <a:ea typeface="맑은 고딕"/>
                <a:cs typeface="맑은 고딕"/>
              </a:rPr>
              <a:t>Learning and Growth</a:t>
            </a:r>
          </a:p>
        </p:txBody>
      </p:sp>
      <p:sp>
        <p:nvSpPr>
          <p:cNvPr id="11" name="TextBox 10"/>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현장 판단 지식 축적</a:t>
            </a:r>
          </a:p>
        </p:txBody>
      </p:sp>
      <p:sp>
        <p:nvSpPr>
          <p:cNvPr id="12" name="TextBox 11"/>
          <p:cNvSpPr txBox="1"/>
          <p:nvPr/>
        </p:nvSpPr>
        <p:spPr>
          <a:xfrm>
            <a:off x="7514081" y="5480502"/>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판단과 그 이유를 남겨</a:t>
            </a:r>
          </a:p>
          <a:p>
            <a:pPr algn="ctr">
              <a:lnSpc>
                <a:spcPct val="110000"/>
              </a:lnSpc>
              <a:spcAft>
                <a:spcPts val="100"/>
              </a:spcAft>
            </a:pPr>
            <a:r>
              <a:rPr sz="1100" b="0">
                <a:solidFill>
                  <a:srgbClr val="556175"/>
                </a:solidFill>
                <a:latin typeface="맑은 고딕"/>
                <a:ea typeface="맑은 고딕"/>
                <a:cs typeface="맑은 고딕"/>
              </a:rPr>
              <a:t>다음 판단에 쓴다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 이루려는 상태를 말로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관점마다 놓인 상자 하나하나가 전략 목표이며, 조직이 이루려는 상태를 말로 적은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전략 목표</a:t>
            </a:r>
          </a:p>
          <a:p>
            <a:pPr algn="l">
              <a:lnSpc>
                <a:spcPct val="110000"/>
              </a:lnSpc>
              <a:spcAft>
                <a:spcPts val="200"/>
              </a:spcAft>
            </a:pPr>
            <a:r>
              <a:rPr sz="1150" b="0">
                <a:solidFill>
                  <a:srgbClr val="556175"/>
                </a:solidFill>
                <a:latin typeface="맑은 고딕"/>
                <a:ea typeface="맑은 고딕"/>
                <a:cs typeface="맑은 고딕"/>
              </a:rPr>
              <a:t>Strategic Objective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이루려는 상태를 문장으로 적은 것이다.</a:t>
            </a:r>
          </a:p>
          <a:p>
            <a:pPr algn="l">
              <a:lnSpc>
                <a:spcPct val="110000"/>
              </a:lnSpc>
              <a:spcAft>
                <a:spcPts val="300"/>
              </a:spcAft>
            </a:pPr>
            <a:r>
              <a:rPr sz="1400" b="0">
                <a:solidFill>
                  <a:srgbClr val="1F2A3A"/>
                </a:solidFill>
                <a:latin typeface="맑은 고딕"/>
                <a:ea typeface="맑은 고딕"/>
                <a:cs typeface="맑은 고딕"/>
              </a:rPr>
              <a:t>방향을 정하지만 얼마나 이루었는지는 말해 주지 않는다.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예</a:t>
            </a:r>
          </a:p>
          <a:p>
            <a:pPr algn="l">
              <a:lnSpc>
                <a:spcPct val="110000"/>
              </a:lnSpc>
              <a:spcAft>
                <a:spcPts val="200"/>
              </a:spcAft>
            </a:pPr>
            <a:r>
              <a:rPr sz="1150" b="0">
                <a:solidFill>
                  <a:srgbClr val="556175"/>
                </a:solidFill>
                <a:latin typeface="맑은 고딕"/>
                <a:ea typeface="맑은 고딕"/>
                <a:cs typeface="맑은 고딕"/>
              </a:rPr>
              <a:t>내부 프로세스 관점</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무재해 운전 — 인터록 한계를 넘지 않는다. 금액과 맞바꾸지 않는다.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KPI: 목표를 얼마나 이루었는지를 재는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KPI는 전략 목표를 얼마나 이루었는지를 수치로 재는 지표이며, 목표마다 그것을 재는 KPI가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KPI</a:t>
            </a:r>
          </a:p>
          <a:p>
            <a:pPr algn="l">
              <a:lnSpc>
                <a:spcPct val="110000"/>
              </a:lnSpc>
              <a:spcAft>
                <a:spcPts val="200"/>
              </a:spcAft>
            </a:pPr>
            <a:r>
              <a:rPr sz="1150" b="0">
                <a:solidFill>
                  <a:srgbClr val="556175"/>
                </a:solidFill>
                <a:latin typeface="맑은 고딕"/>
                <a:ea typeface="맑은 고딕"/>
                <a:cs typeface="맑은 고딕"/>
              </a:rPr>
              <a:t>Key Performance Indicator</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얼마나 이루었는지를 수치로 재는 핵심 성과 지표이다.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무재해 운전의 KPI</a:t>
            </a:r>
          </a:p>
          <a:p>
            <a:pPr algn="l">
              <a:lnSpc>
                <a:spcPct val="110000"/>
              </a:lnSpc>
              <a:spcAft>
                <a:spcPts val="200"/>
              </a:spcAft>
            </a:pPr>
            <a:r>
              <a:rPr sz="1150" b="0">
                <a:solidFill>
                  <a:srgbClr val="556175"/>
                </a:solidFill>
                <a:latin typeface="맑은 고딕"/>
                <a:ea typeface="맑은 고딕"/>
                <a:cs typeface="맑은 고딕"/>
              </a:rPr>
              <a:t>단위 ℃</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인터록 여유 — 유온이 인터록 한계까지 얼마나 남았는가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납기 신뢰의 KPI</a:t>
            </a:r>
          </a:p>
          <a:p>
            <a:pPr algn="l">
              <a:lnSpc>
                <a:spcPct val="110000"/>
              </a:lnSpc>
              <a:spcAft>
                <a:spcPts val="200"/>
              </a:spcAft>
            </a:pPr>
            <a:r>
              <a:rPr sz="1150" b="0">
                <a:solidFill>
                  <a:srgbClr val="556175"/>
                </a:solidFill>
                <a:latin typeface="맑은 고딕"/>
                <a:ea typeface="맑은 고딕"/>
                <a:cs typeface="맑은 고딕"/>
              </a:rPr>
              <a:t>단위 %</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납기 준수율 — 약속한 납기를 지킨 비율</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먼저이고 KPI는 그 목표를 재는 수단이며, 이 순서가 뒤집히면 숫자를 맞추는 것이 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말로 적는다</a:t>
            </a:r>
          </a:p>
          <a:p>
            <a:pPr algn="l">
              <a:lnSpc>
                <a:spcPct val="110000"/>
              </a:lnSpc>
              <a:spcAft>
                <a:spcPts val="600"/>
              </a:spcAft>
            </a:pPr>
            <a:r>
              <a:rPr sz="1450" b="0">
                <a:solidFill>
                  <a:srgbClr val="1F2A3A"/>
                </a:solidFill>
                <a:latin typeface="맑은 고딕"/>
                <a:ea typeface="맑은 고딕"/>
                <a:cs typeface="맑은 고딕"/>
              </a:rPr>
              <a:t>• 방향을 정한다</a:t>
            </a:r>
          </a:p>
          <a:p>
            <a:pPr algn="l">
              <a:lnSpc>
                <a:spcPct val="110000"/>
              </a:lnSpc>
              <a:spcAft>
                <a:spcPts val="600"/>
              </a:spcAft>
            </a:pPr>
            <a:r>
              <a:rPr sz="1450" b="0">
                <a:solidFill>
                  <a:srgbClr val="1F2A3A"/>
                </a:solidFill>
                <a:latin typeface="맑은 고딕"/>
                <a:ea typeface="맑은 고딕"/>
                <a:cs typeface="맑은 고딕"/>
              </a:rPr>
              <a:t>• 예: 무재해 운전</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수치로 잰다</a:t>
            </a:r>
          </a:p>
          <a:p>
            <a:pPr algn="l">
              <a:lnSpc>
                <a:spcPct val="110000"/>
              </a:lnSpc>
              <a:spcAft>
                <a:spcPts val="600"/>
              </a:spcAft>
            </a:pPr>
            <a:r>
              <a:rPr sz="1450" b="0">
                <a:solidFill>
                  <a:srgbClr val="1F2A3A"/>
                </a:solidFill>
                <a:latin typeface="맑은 고딕"/>
                <a:ea typeface="맑은 고딕"/>
                <a:cs typeface="맑은 고딕"/>
              </a:rPr>
              <a:t>• 얼마나 이루었는지를 알려 준다</a:t>
            </a:r>
          </a:p>
          <a:p>
            <a:pPr algn="l">
              <a:lnSpc>
                <a:spcPct val="110000"/>
              </a:lnSpc>
              <a:spcAft>
                <a:spcPts val="600"/>
              </a:spcAft>
            </a:pPr>
            <a:r>
              <a:rPr sz="1450" b="0">
                <a:solidFill>
                  <a:srgbClr val="1F2A3A"/>
                </a:solidFill>
                <a:latin typeface="맑은 고딕"/>
                <a:ea typeface="맑은 고딕"/>
                <a:cs typeface="맑은 고딕"/>
              </a:rPr>
              <a:t>• 예: 인터록 여유 2.53 ℃</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정의: 인터록 여유는 무엇을 재는가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무엇을 어떻게 재는지의 정의가 있어야 하며, 인터록 여유는 유온 한계에서 기간 중 최고 유온을 뺀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pic>
        <p:nvPicPr>
          <p:cNvPr id="6" name="삽화:인터록여유_1.svg" descr="illust_818652003770340199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7786819" y="299859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기간 중 최고 유온</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한계에서 최고 유온을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4" name="TextBox 13"/>
          <p:cNvSpPr txBox="1"/>
          <p:nvPr/>
        </p:nvSpPr>
        <p:spPr>
          <a:xfrm>
            <a:off x="1404764" y="191127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a:t>
            </a:r>
          </a:p>
          <a:p>
            <a:pPr algn="ctr">
              <a:lnSpc>
                <a:spcPct val="110000"/>
              </a:lnSpc>
              <a:spcAft>
                <a:spcPts val="100"/>
              </a:spcAft>
            </a:pPr>
            <a:r>
              <a:rPr sz="1300" b="0">
                <a:solidFill>
                  <a:srgbClr val="556175"/>
                </a:solidFill>
                <a:latin typeface="맑은 고딕"/>
                <a:ea typeface="맑은 고딕"/>
                <a:cs typeface="맑은 고딕"/>
              </a:rPr>
              <a:t>무엇을 어떻게 재는가</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단위와 방향: 수치를 읽는 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단위와 함께 클수록 좋은지 작을수록 좋은지의 방향이 정해져 있어야 수치를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rending-up" descr="trending-u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인터록 여유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단위: ℃</a:t>
            </a:r>
          </a:p>
          <a:p>
            <a:pPr algn="l">
              <a:lnSpc>
                <a:spcPct val="110000"/>
              </a:lnSpc>
              <a:spcAft>
                <a:spcPts val="600"/>
              </a:spcAft>
            </a:pPr>
            <a:r>
              <a:rPr sz="1450" b="0">
                <a:solidFill>
                  <a:srgbClr val="1F2A3A"/>
                </a:solidFill>
                <a:latin typeface="맑은 고딕"/>
                <a:ea typeface="맑은 고딕"/>
                <a:cs typeface="맑은 고딕"/>
              </a:rPr>
              <a:t>• 방향: 클수록 좋다</a:t>
            </a:r>
          </a:p>
          <a:p>
            <a:pPr algn="l">
              <a:lnSpc>
                <a:spcPct val="110000"/>
              </a:lnSpc>
              <a:spcAft>
                <a:spcPts val="600"/>
              </a:spcAft>
            </a:pPr>
            <a:r>
              <a:rPr sz="1450" b="0">
                <a:solidFill>
                  <a:srgbClr val="1F2A3A"/>
                </a:solidFill>
                <a:latin typeface="맑은 고딕"/>
                <a:ea typeface="맑은 고딕"/>
                <a:cs typeface="맑은 고딕"/>
              </a:rPr>
              <a:t>• 여유가 클수록 인터록에서 멀다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클수록 좋다</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coin" descr="coi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지체상금</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단위: 만 원/월</a:t>
            </a:r>
          </a:p>
          <a:p>
            <a:pPr algn="l">
              <a:lnSpc>
                <a:spcPct val="110000"/>
              </a:lnSpc>
              <a:spcAft>
                <a:spcPts val="600"/>
              </a:spcAft>
            </a:pPr>
            <a:r>
              <a:rPr sz="1450" b="0">
                <a:solidFill>
                  <a:srgbClr val="1F2A3A"/>
                </a:solidFill>
                <a:latin typeface="맑은 고딕"/>
                <a:ea typeface="맑은 고딕"/>
                <a:cs typeface="맑은 고딕"/>
              </a:rPr>
              <a:t>• 방향: 작을수록 좋다</a:t>
            </a:r>
          </a:p>
          <a:p>
            <a:pPr algn="l">
              <a:lnSpc>
                <a:spcPct val="110000"/>
              </a:lnSpc>
              <a:spcAft>
                <a:spcPts val="600"/>
              </a:spcAft>
            </a:pPr>
            <a:r>
              <a:rPr sz="1450" b="0">
                <a:solidFill>
                  <a:srgbClr val="1F2A3A"/>
                </a:solidFill>
                <a:latin typeface="맑은 고딕"/>
                <a:ea typeface="맑은 고딕"/>
                <a:cs typeface="맑은 고딕"/>
              </a:rPr>
              <a:t>• 납기를 어겨 무는 돈이다</a:t>
            </a:r>
          </a:p>
        </p:txBody>
      </p:sp>
      <p:sp>
        <p:nvSpPr>
          <p:cNvPr id="18" name="Rounded Rectangle 17"/>
          <p:cNvSpPr/>
          <p:nvPr/>
        </p:nvSpPr>
        <p:spPr>
          <a:xfrm>
            <a:off x="6781647" y="4945570"/>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작을수록 좋다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목표값: 이루려는 수준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목표값은 지표가 이르러야 하는 수준이며, 인터록 여유의 목표값 10은 최고 유온을 55 ℃ 이하로 지킨다는 뜻이다.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102</a:t>
            </a:r>
          </a:p>
        </p:txBody>
      </p:sp>
      <p:pic>
        <p:nvPicPr>
          <p:cNvPr id="6" name="삽화:인터록여유_2.svg" descr="illust_412364917150023766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4786708" y="1911278"/>
            <a:ext cx="370922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목표값 10 ℃</a:t>
            </a:r>
          </a:p>
          <a:p>
            <a:pPr algn="ctr">
              <a:lnSpc>
                <a:spcPct val="110000"/>
              </a:lnSpc>
              <a:spcAft>
                <a:spcPts val="100"/>
              </a:spcAft>
            </a:pPr>
            <a:r>
              <a:rPr sz="1300" b="0">
                <a:solidFill>
                  <a:srgbClr val="556175"/>
                </a:solidFill>
                <a:latin typeface="맑은 고딕"/>
                <a:ea typeface="맑은 고딕"/>
                <a:cs typeface="맑은 고딕"/>
              </a:rPr>
              <a:t>인터록 여유가 이르러야 하는 수준</a:t>
            </a:r>
          </a:p>
        </p:txBody>
      </p:sp>
      <p:sp>
        <p:nvSpPr>
          <p:cNvPr id="9" name="TextBox 8"/>
          <p:cNvSpPr txBox="1"/>
          <p:nvPr/>
        </p:nvSpPr>
        <p:spPr>
          <a:xfrm>
            <a:off x="1982967" y="3896807"/>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목표를 이루는 구간</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측정 주기와 책임 부서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지표마다 얼마나 자주 재는지와 누가 관리하는지가 정해져 있으며, 지표의 성격에 따라 주기가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측정 주기</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책임 부서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실시간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생산팀</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일</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생산팀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납기 준수율</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주</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지체상금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월</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영업팀</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실제값: 잰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실제값은 정의대로 잰 결과이며, 어느 24시간에 HYD-01의 최고 유온이 62.47 ℃였으므로 인터록 여유는 2.53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104</a:t>
            </a:r>
          </a:p>
        </p:txBody>
      </p:sp>
      <p:pic>
        <p:nvPicPr>
          <p:cNvPr id="6" name="삽화:인터록여유_3.svg" descr="illust_818652003770340199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6750417" y="299859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최고 유온 62.47 ℃</a:t>
            </a:r>
          </a:p>
          <a:p>
            <a:pPr algn="ctr">
              <a:lnSpc>
                <a:spcPct val="110000"/>
              </a:lnSpc>
              <a:spcAft>
                <a:spcPts val="100"/>
              </a:spcAft>
            </a:pPr>
            <a:r>
              <a:rPr sz="1300" b="0">
                <a:solidFill>
                  <a:srgbClr val="556175"/>
                </a:solidFill>
                <a:latin typeface="맑은 고딕"/>
                <a:ea typeface="맑은 고딕"/>
                <a:cs typeface="맑은 고딕"/>
              </a:rPr>
              <a:t>HYD-01 · 24시간의 기록</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실제값 2.53 ℃</a:t>
            </a:r>
          </a:p>
          <a:p>
            <a:pPr algn="ctr">
              <a:lnSpc>
                <a:spcPct val="110000"/>
              </a:lnSpc>
              <a:spcAft>
                <a:spcPts val="100"/>
              </a:spcAft>
            </a:pPr>
            <a:r>
              <a:rPr sz="1300" b="0">
                <a:solidFill>
                  <a:srgbClr val="556175"/>
                </a:solidFill>
                <a:latin typeface="맑은 고딕"/>
                <a:ea typeface="맑은 고딕"/>
                <a:cs typeface="맑은 고딕"/>
              </a:rPr>
              <a:t>65에서 62.47을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대비 차이: 목표와의 거리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실제값을 목표값과 견주면 목표 대비 차이가 나오며, 인터록 여유는 목표에 7.47 ℃ 모자라 달성률이 25.3 %였다.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105</a:t>
            </a:r>
          </a:p>
        </p:txBody>
      </p:sp>
      <p:pic>
        <p:nvPicPr>
          <p:cNvPr id="6" name="삽화:인터록여유_4.svg" descr="illust_372959083015362066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p:txBody>
      </p:sp>
      <p:sp>
        <p:nvSpPr>
          <p:cNvPr id="8" name="TextBox 7"/>
          <p:cNvSpPr txBox="1"/>
          <p:nvPr/>
        </p:nvSpPr>
        <p:spPr>
          <a:xfrm>
            <a:off x="6881331" y="221856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목표값 10 ℃</a:t>
            </a:r>
          </a:p>
        </p:txBody>
      </p:sp>
      <p:sp>
        <p:nvSpPr>
          <p:cNvPr id="9" name="TextBox 8"/>
          <p:cNvSpPr txBox="1"/>
          <p:nvPr/>
        </p:nvSpPr>
        <p:spPr>
          <a:xfrm>
            <a:off x="8495936" y="505503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실제값 2.53 ℃</a:t>
            </a:r>
          </a:p>
        </p:txBody>
      </p:sp>
      <p:sp>
        <p:nvSpPr>
          <p:cNvPr id="10" name="TextBox 9"/>
          <p:cNvSpPr txBox="1"/>
          <p:nvPr/>
        </p:nvSpPr>
        <p:spPr>
          <a:xfrm>
            <a:off x="5703105" y="5693237"/>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7.47 ℃ 모자란다</a:t>
            </a:r>
          </a:p>
          <a:p>
            <a:pPr algn="ctr">
              <a:lnSpc>
                <a:spcPct val="110000"/>
              </a:lnSpc>
              <a:spcAft>
                <a:spcPts val="100"/>
              </a:spcAft>
            </a:pPr>
            <a:r>
              <a:rPr sz="1300" b="0">
                <a:solidFill>
                  <a:srgbClr val="556175"/>
                </a:solidFill>
                <a:latin typeface="맑은 고딕"/>
                <a:ea typeface="맑은 고딕"/>
                <a:cs typeface="맑은 고딕"/>
              </a:rPr>
              <a:t>달성률 25.3 % · 미달</a:t>
            </a:r>
          </a:p>
        </p:txBody>
      </p:sp>
      <p:sp>
        <p:nvSpPr>
          <p:cNvPr id="11" name="TextBox 10"/>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2" name="TextBox 11"/>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3" name="TextBox 12"/>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4" name="TextBox 13"/>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지표를 하나만 보면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24시간에 설비 가동률은 달성, 인터록 여유는 미달이었으므로 한 지표만으로는 설비의 상태를 알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설비 가동률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100.0 %</a:t>
            </a:r>
          </a:p>
          <a:p>
            <a:pPr algn="l">
              <a:lnSpc>
                <a:spcPct val="110000"/>
              </a:lnSpc>
              <a:spcAft>
                <a:spcPts val="600"/>
              </a:spcAft>
            </a:pPr>
            <a:r>
              <a:rPr sz="1450" b="0">
                <a:solidFill>
                  <a:srgbClr val="1F2A3A"/>
                </a:solidFill>
                <a:latin typeface="맑은 고딕"/>
                <a:ea typeface="맑은 고딕"/>
                <a:cs typeface="맑은 고딕"/>
              </a:rPr>
              <a:t>• 목표값 95 %</a:t>
            </a:r>
          </a:p>
          <a:p>
            <a:pPr algn="l">
              <a:lnSpc>
                <a:spcPct val="110000"/>
              </a:lnSpc>
              <a:spcAft>
                <a:spcPts val="600"/>
              </a:spcAft>
            </a:pPr>
            <a:r>
              <a:rPr sz="1450" b="0">
                <a:solidFill>
                  <a:srgbClr val="1F2A3A"/>
                </a:solidFill>
                <a:latin typeface="맑은 고딕"/>
                <a:ea typeface="맑은 고딕"/>
                <a:cs typeface="맑은 고딕"/>
              </a:rPr>
              <a:t>• 설비는 한 번도 서지 않았다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달성</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인터록 여유</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2.53 ℃</a:t>
            </a:r>
          </a:p>
          <a:p>
            <a:pPr algn="l">
              <a:lnSpc>
                <a:spcPct val="110000"/>
              </a:lnSpc>
              <a:spcAft>
                <a:spcPts val="600"/>
              </a:spcAft>
            </a:pPr>
            <a:r>
              <a:rPr sz="1450" b="0">
                <a:solidFill>
                  <a:srgbClr val="1F2A3A"/>
                </a:solidFill>
                <a:latin typeface="맑은 고딕"/>
                <a:ea typeface="맑은 고딕"/>
                <a:cs typeface="맑은 고딕"/>
              </a:rPr>
              <a:t>• 목표값 10 ℃</a:t>
            </a:r>
          </a:p>
          <a:p>
            <a:pPr algn="l">
              <a:lnSpc>
                <a:spcPct val="110000"/>
              </a:lnSpc>
              <a:spcAft>
                <a:spcPts val="600"/>
              </a:spcAft>
            </a:pPr>
            <a:r>
              <a:rPr sz="1450" b="0">
                <a:solidFill>
                  <a:srgbClr val="1F2A3A"/>
                </a:solidFill>
                <a:latin typeface="맑은 고딕"/>
                <a:ea typeface="맑은 고딕"/>
                <a:cs typeface="맑은 고딕"/>
              </a:rPr>
              <a:t>• 설 뻔한 데까지 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전략맵은 한 목표가 다른 목표를 뒷받침하는 인과관계를 화살표로 이어 그린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107</a:t>
            </a:r>
          </a:p>
        </p:txBody>
      </p:sp>
      <p:pic>
        <p:nvPicPr>
          <p:cNvPr id="6" name="삽화:전략맵_1.svg" descr="illust_2982494326419184740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현장 판단 지식 축적</a:t>
            </a:r>
          </a:p>
        </p:txBody>
      </p:sp>
      <p:sp>
        <p:nvSpPr>
          <p:cNvPr id="19" name="TextBox 18"/>
          <p:cNvSpPr txBox="1"/>
          <p:nvPr/>
        </p:nvSpPr>
        <p:spPr>
          <a:xfrm>
            <a:off x="2822999" y="550413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화살표</a:t>
            </a:r>
          </a:p>
          <a:p>
            <a:pPr algn="ctr">
              <a:lnSpc>
                <a:spcPct val="110000"/>
              </a:lnSpc>
              <a:spcAft>
                <a:spcPts val="100"/>
              </a:spcAft>
            </a:pPr>
            <a:r>
              <a:rPr sz="1100" b="0">
                <a:solidFill>
                  <a:srgbClr val="556175"/>
                </a:solidFill>
                <a:latin typeface="맑은 고딕"/>
                <a:ea typeface="맑은 고딕"/>
                <a:cs typeface="맑은 고딕"/>
              </a:rPr>
              <a:t>뒷받침한다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 내부 프로세스에서 고객으로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설비가 필요할 때 돌 수 있어야 약속한 날짜를 지킬 수 있으므로 설비 가용성 확보가 납기 신뢰를 뒷받침한다.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108</a:t>
            </a:r>
          </a:p>
        </p:txBody>
      </p:sp>
      <p:pic>
        <p:nvPicPr>
          <p:cNvPr id="6" name="삽화:전략맵_2.svg" descr="illust_604962244540391065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 고객에서 재무로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납기와 품질을 지켜 고객의 신뢰를 얻는 것이 영업이익 확대로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109</a:t>
            </a:r>
          </a:p>
        </p:txBody>
      </p:sp>
      <p:pic>
        <p:nvPicPr>
          <p:cNvPr id="6" name="삽화:전략맵_3.svg" descr="illust_910288052155394847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 또 하나의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영업이익으로 가는 길은 하나가 아니며, 에너지 효율이 원가 절감을 거쳐 영업이익 확대로 이어지는 길이 따로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110</a:t>
            </a:r>
          </a:p>
        </p:txBody>
      </p:sp>
      <p:pic>
        <p:nvPicPr>
          <p:cNvPr id="6" name="삽화:전략맵_4.svg" descr="illust_396671642348514754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후행 지표: 이미 나온 결과를 잰다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후행 지표는 일이 끝난 뒤에 나온 결과를 재는 지표이며, 얻고자 하는 것이 무엇인지를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후행 지표</a:t>
            </a:r>
          </a:p>
          <a:p>
            <a:pPr algn="l">
              <a:lnSpc>
                <a:spcPct val="110000"/>
              </a:lnSpc>
              <a:spcAft>
                <a:spcPts val="200"/>
              </a:spcAft>
            </a:pPr>
            <a:r>
              <a:rPr sz="1150" b="0">
                <a:solidFill>
                  <a:srgbClr val="556175"/>
                </a:solidFill>
                <a:latin typeface="맑은 고딕"/>
                <a:ea typeface="맑은 고딕"/>
                <a:cs typeface="맑은 고딕"/>
              </a:rPr>
              <a:t>Lagging Indicator</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이미 나온 결과를 재는 지표이다.</a:t>
            </a:r>
          </a:p>
          <a:p>
            <a:pPr algn="l">
              <a:lnSpc>
                <a:spcPct val="110000"/>
              </a:lnSpc>
              <a:spcAft>
                <a:spcPts val="300"/>
              </a:spcAft>
            </a:pPr>
            <a:r>
              <a:rPr sz="1400" b="0">
                <a:solidFill>
                  <a:srgbClr val="1F2A3A"/>
                </a:solidFill>
                <a:latin typeface="맑은 고딕"/>
                <a:ea typeface="맑은 고딕"/>
                <a:cs typeface="맑은 고딕"/>
              </a:rPr>
              <a:t>정말로 얻고자 하는 것이 무엇인지를 알려 준다.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예</a:t>
            </a:r>
          </a:p>
          <a:p>
            <a:pPr algn="l">
              <a:lnSpc>
                <a:spcPct val="110000"/>
              </a:lnSpc>
              <a:spcAft>
                <a:spcPts val="200"/>
              </a:spcAft>
            </a:pPr>
            <a:r>
              <a:rPr sz="1150" b="0">
                <a:solidFill>
                  <a:srgbClr val="556175"/>
                </a:solidFill>
                <a:latin typeface="맑은 고딕"/>
                <a:ea typeface="맑은 고딕"/>
                <a:cs typeface="맑은 고딕"/>
              </a:rPr>
              <a:t>결과</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납기 준수율은 주마다, 지체상금은 달마다 집계한다.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선행 지표: 결과를 움직이는 동인을 잰다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선행 지표는 결과를 움직이는 동인을 미리 재는 지표이며, 지금 손을 쓸 수 있는 자리를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112</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선행 지표</a:t>
            </a:r>
          </a:p>
          <a:p>
            <a:pPr algn="l">
              <a:lnSpc>
                <a:spcPct val="110000"/>
              </a:lnSpc>
              <a:spcAft>
                <a:spcPts val="200"/>
              </a:spcAft>
            </a:pPr>
            <a:r>
              <a:rPr sz="1150" b="0">
                <a:solidFill>
                  <a:srgbClr val="556175"/>
                </a:solidFill>
                <a:latin typeface="맑은 고딕"/>
                <a:ea typeface="맑은 고딕"/>
                <a:cs typeface="맑은 고딕"/>
              </a:rPr>
              <a:t>Leading Indicator</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결과를 움직이는 동인을 재는 지표이다.</a:t>
            </a:r>
          </a:p>
          <a:p>
            <a:pPr algn="l">
              <a:lnSpc>
                <a:spcPct val="110000"/>
              </a:lnSpc>
              <a:spcAft>
                <a:spcPts val="300"/>
              </a:spcAft>
            </a:pPr>
            <a:r>
              <a:rPr sz="1400" b="0">
                <a:solidFill>
                  <a:srgbClr val="1F2A3A"/>
                </a:solidFill>
                <a:latin typeface="맑은 고딕"/>
                <a:ea typeface="맑은 고딕"/>
                <a:cs typeface="맑은 고딕"/>
              </a:rPr>
              <a:t>결과가 나오기 전에 무엇을 보아야 하는지를 알려 준다.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예</a:t>
            </a:r>
          </a:p>
          <a:p>
            <a:pPr algn="l">
              <a:lnSpc>
                <a:spcPct val="110000"/>
              </a:lnSpc>
              <a:spcAft>
                <a:spcPts val="200"/>
              </a:spcAft>
            </a:pPr>
            <a:r>
              <a:rPr sz="1150" b="0">
                <a:solidFill>
                  <a:srgbClr val="556175"/>
                </a:solidFill>
                <a:latin typeface="맑은 고딕"/>
                <a:ea typeface="맑은 고딕"/>
                <a:cs typeface="맑은 고딕"/>
              </a:rPr>
              <a:t>동인</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생산량과 인터록 여유는 실시간으로, 설비 가동률은 날마다 잰다.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선행 지표에서 후행 지표로 전해지는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영향은 설비의 값에서 선행 지표로, 선행 지표에서 후행 지표로 한 방향으로 전해진다.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펌프 부하</a:t>
            </a:r>
          </a:p>
          <a:p>
            <a:pPr algn="ctr">
              <a:lnSpc>
                <a:spcPct val="110000"/>
              </a:lnSpc>
              <a:spcAft>
                <a:spcPts val="400"/>
              </a:spcAft>
            </a:pPr>
            <a:r>
              <a:rPr sz="1350" b="0">
                <a:solidFill>
                  <a:srgbClr val="1F2A3A"/>
                </a:solidFill>
                <a:latin typeface="맑은 고딕"/>
                <a:ea typeface="맑은 고딕"/>
                <a:cs typeface="맑은 고딕"/>
              </a:rPr>
              <a:t>설비의 값</a:t>
            </a:r>
          </a:p>
          <a:p>
            <a:pPr algn="ctr">
              <a:lnSpc>
                <a:spcPct val="110000"/>
              </a:lnSpc>
              <a:spcAft>
                <a:spcPts val="400"/>
              </a:spcAft>
            </a:pPr>
            <a:r>
              <a:rPr sz="1350" b="0">
                <a:solidFill>
                  <a:srgbClr val="1F2A3A"/>
                </a:solidFill>
                <a:latin typeface="맑은 고딕"/>
                <a:ea typeface="맑은 고딕"/>
                <a:cs typeface="맑은 고딕"/>
              </a:rPr>
              <a:t>부하가 곧</a:t>
            </a:r>
          </a:p>
          <a:p>
            <a:pPr algn="ctr">
              <a:lnSpc>
                <a:spcPct val="110000"/>
              </a:lnSpc>
              <a:spcAft>
                <a:spcPts val="400"/>
              </a:spcAft>
            </a:pPr>
            <a:r>
              <a:rPr sz="1350" b="0">
                <a:solidFill>
                  <a:srgbClr val="1F2A3A"/>
                </a:solidFill>
                <a:latin typeface="맑은 고딕"/>
                <a:ea typeface="맑은 고딕"/>
                <a:cs typeface="맑은 고딕"/>
              </a:rPr>
              <a:t>생산 속도이다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package" descr="packag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생산량</a:t>
            </a:r>
          </a:p>
          <a:p>
            <a:pPr algn="ctr">
              <a:lnSpc>
                <a:spcPct val="110000"/>
              </a:lnSpc>
              <a:spcAft>
                <a:spcPts val="400"/>
              </a:spcAft>
            </a:pPr>
            <a:r>
              <a:rPr sz="1350" b="0">
                <a:solidFill>
                  <a:srgbClr val="1F2A3A"/>
                </a:solidFill>
                <a:latin typeface="맑은 고딕"/>
                <a:ea typeface="맑은 고딕"/>
                <a:cs typeface="맑은 고딕"/>
              </a:rPr>
              <a:t>선행 지표</a:t>
            </a:r>
          </a:p>
          <a:p>
            <a:pPr algn="ctr">
              <a:lnSpc>
                <a:spcPct val="110000"/>
              </a:lnSpc>
              <a:spcAft>
                <a:spcPts val="400"/>
              </a:spcAft>
            </a:pPr>
            <a:r>
              <a:rPr sz="1350" b="0">
                <a:solidFill>
                  <a:srgbClr val="1F2A3A"/>
                </a:solidFill>
                <a:latin typeface="맑은 고딕"/>
                <a:ea typeface="맑은 고딕"/>
                <a:cs typeface="맑은 고딕"/>
              </a:rPr>
              <a:t>부하를 낮추면</a:t>
            </a:r>
          </a:p>
          <a:p>
            <a:pPr algn="ctr">
              <a:lnSpc>
                <a:spcPct val="110000"/>
              </a:lnSpc>
              <a:spcAft>
                <a:spcPts val="400"/>
              </a:spcAft>
            </a:pPr>
            <a:r>
              <a:rPr sz="1350" b="0">
                <a:solidFill>
                  <a:srgbClr val="1F2A3A"/>
                </a:solidFill>
                <a:latin typeface="맑은 고딕"/>
                <a:ea typeface="맑은 고딕"/>
                <a:cs typeface="맑은 고딕"/>
              </a:rPr>
              <a:t>줄어든다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납기 준수율</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생산이 줄면</a:t>
            </a:r>
          </a:p>
          <a:p>
            <a:pPr algn="ctr">
              <a:lnSpc>
                <a:spcPct val="110000"/>
              </a:lnSpc>
              <a:spcAft>
                <a:spcPts val="400"/>
              </a:spcAft>
            </a:pPr>
            <a:r>
              <a:rPr sz="1350" b="0">
                <a:solidFill>
                  <a:srgbClr val="1F2A3A"/>
                </a:solidFill>
                <a:latin typeface="맑은 고딕"/>
                <a:ea typeface="맑은 고딕"/>
                <a:cs typeface="맑은 고딕"/>
              </a:rPr>
              <a:t>떨어진다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oin" descr="coin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지체상금</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납기를 어기면</a:t>
            </a:r>
          </a:p>
          <a:p>
            <a:pPr algn="ctr">
              <a:lnSpc>
                <a:spcPct val="110000"/>
              </a:lnSpc>
              <a:spcAft>
                <a:spcPts val="400"/>
              </a:spcAft>
            </a:pPr>
            <a:r>
              <a:rPr sz="1350" b="0">
                <a:solidFill>
                  <a:srgbClr val="1F2A3A"/>
                </a:solidFill>
                <a:latin typeface="맑은 고딕"/>
                <a:ea typeface="맑은 고딕"/>
                <a:cs typeface="맑은 고딕"/>
              </a:rPr>
              <a:t>늘어난다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처음 바꾸는 것: 설비의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조치는 성과 지표를 직접 바꾸지 않고 설비의 값을 바꾸며, 「팬 최대 운전과 부하 80 %」는 팬 속도와 펌프 부하를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114</a:t>
            </a:r>
          </a:p>
        </p:txBody>
      </p:sp>
      <p:pic>
        <p:nvPicPr>
          <p:cNvPr id="6" name="삽화:성과경로_1.svg" descr="illust_7691097764933295369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이로운 길: 유온과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속도를 올리고 부하를 내리면 두 길이 모두 유온을 내리므로 인터록 여유가 가장 크게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115</a:t>
            </a:r>
          </a:p>
        </p:txBody>
      </p:sp>
      <p:pic>
        <p:nvPicPr>
          <p:cNvPr id="6" name="삽화:성과경로_2.svg" descr="illust_7840686016952741765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8725035" y="4227728"/>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불리한 길 ①: 전력 사용량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팬 속도가 다른 쪽으로도 영향을 주어, 팬을 올리면 전력 사용량이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116</a:t>
            </a:r>
          </a:p>
        </p:txBody>
      </p:sp>
      <p:pic>
        <p:nvPicPr>
          <p:cNvPr id="6" name="삽화:성과경로_3.svg" descr="illust_489181081501267736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8725035" y="422772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a:t>
            </a:r>
          </a:p>
        </p:txBody>
      </p:sp>
      <p:sp>
        <p:nvSpPr>
          <p:cNvPr id="12" name="TextBox 11"/>
          <p:cNvSpPr txBox="1"/>
          <p:nvPr/>
        </p:nvSpPr>
        <p:spPr>
          <a:xfrm>
            <a:off x="8725035" y="2601486"/>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불리한 길 ②: 생산량과 납기 준수율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펌프 부하를 내리면 생산량이 줄고 납기 준수율이 낮아지므로, 유온에 이로운 같은 변화가 납기에는 불리하다.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117</a:t>
            </a:r>
          </a:p>
        </p:txBody>
      </p:sp>
      <p:pic>
        <p:nvPicPr>
          <p:cNvPr id="6" name="삽화:성과경로_4.svg" descr="illust_2037230328814740053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8725035" y="4227728"/>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a:t>
            </a:r>
          </a:p>
        </p:txBody>
      </p:sp>
      <p:sp>
        <p:nvSpPr>
          <p:cNvPr id="12" name="TextBox 11"/>
          <p:cNvSpPr txBox="1"/>
          <p:nvPr/>
        </p:nvSpPr>
        <p:spPr>
          <a:xfrm>
            <a:off x="8725035" y="260148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a:t>
            </a:r>
          </a:p>
        </p:txBody>
      </p:sp>
      <p:sp>
        <p:nvSpPr>
          <p:cNvPr id="13" name="TextBox 12"/>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4" name="TextBox 13"/>
          <p:cNvSpPr txBox="1"/>
          <p:nvPr/>
        </p:nvSpPr>
        <p:spPr>
          <a:xfrm>
            <a:off x="8725035" y="572160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어떤 목표에는 이롭고 다른 목표에는 해로운 것이 성과의 상충이며, 조치 선택은 그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118</a:t>
            </a:r>
          </a:p>
        </p:txBody>
      </p:sp>
      <p:pic>
        <p:nvPicPr>
          <p:cNvPr id="6" name="삽화:성과경로_5.svg" descr="illust_8399035048919143363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p:txBody>
      </p:sp>
      <p:sp>
        <p:nvSpPr>
          <p:cNvPr id="9" name="TextBox 8"/>
          <p:cNvSpPr txBox="1"/>
          <p:nvPr/>
        </p:nvSpPr>
        <p:spPr>
          <a:xfrm>
            <a:off x="3455749" y="572160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p:txBody>
      </p:sp>
      <p:sp>
        <p:nvSpPr>
          <p:cNvPr id="10" name="TextBox 9"/>
          <p:cNvSpPr txBox="1"/>
          <p:nvPr/>
        </p:nvSpPr>
        <p:spPr>
          <a:xfrm>
            <a:off x="6150395"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
        <p:nvSpPr>
          <p:cNvPr id="11" name="TextBox 10"/>
          <p:cNvSpPr txBox="1"/>
          <p:nvPr/>
        </p:nvSpPr>
        <p:spPr>
          <a:xfrm>
            <a:off x="6150395" y="572160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725035" y="260148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725035" y="4227728"/>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725035" y="572160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불리하다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순위: 쿨러 과열 한 건의 네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후보에 실제로 매겨진 점수에서는 생산을 그대로 두는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순위와 조치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점수</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+3.38</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  부하 70 %와 야간 핀 세척</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  팬 최대 운전과 부하 80 %</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-1.58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부하를 낮추는 조치가 얻은 것과 잃은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낮추는 조치는 1순위와 견주어 예측 유온에서 0.26점을 얻었으나 납기와 성과 지표에서 0.89점을 잃었다.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rending-up" descr="trending-u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얻은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예측 유온 +0.26</a:t>
            </a:r>
          </a:p>
          <a:p>
            <a:pPr algn="l">
              <a:lnSpc>
                <a:spcPct val="110000"/>
              </a:lnSpc>
              <a:spcAft>
                <a:spcPts val="600"/>
              </a:spcAft>
            </a:pPr>
            <a:r>
              <a:rPr sz="1450" b="0">
                <a:solidFill>
                  <a:srgbClr val="1F2A3A"/>
                </a:solidFill>
                <a:latin typeface="맑은 고딕"/>
                <a:ea typeface="맑은 고딕"/>
                <a:cs typeface="맑은 고딕"/>
              </a:rPr>
              <a:t>• 유온을 더 내린다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+0.26</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alendar-time" descr="calendar-tim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잃은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납기 -0.67</a:t>
            </a:r>
          </a:p>
          <a:p>
            <a:pPr algn="l">
              <a:lnSpc>
                <a:spcPct val="110000"/>
              </a:lnSpc>
              <a:spcAft>
                <a:spcPts val="600"/>
              </a:spcAft>
            </a:pPr>
            <a:r>
              <a:rPr sz="1450" b="0">
                <a:solidFill>
                  <a:srgbClr val="1F2A3A"/>
                </a:solidFill>
                <a:latin typeface="맑은 고딕"/>
                <a:ea typeface="맑은 고딕"/>
                <a:cs typeface="맑은 고딕"/>
              </a:rPr>
              <a:t>•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-0.89</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원인을 없애는 조치가 4순위인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세척은 원인을 없애지만 지금의 유온을 내리지 못해 예측과 품질에서 크게 뒤지고 경고까지 붙었다.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예측 유온</a:t>
            </a:r>
          </a:p>
          <a:p>
            <a:pPr algn="l">
              <a:lnSpc>
                <a:spcPct val="110000"/>
              </a:lnSpc>
              <a:spcAft>
                <a:spcPts val="400"/>
              </a:spcAft>
            </a:pPr>
            <a:r>
              <a:rPr sz="1400" b="0">
                <a:solidFill>
                  <a:srgbClr val="1F2A3A"/>
                </a:solidFill>
                <a:latin typeface="맑은 고딕"/>
                <a:ea typeface="맑은 고딕"/>
                <a:cs typeface="맑은 고딕"/>
              </a:rPr>
              <a:t>• 62.5 ℃로 경보 기준 55 ℃를 넘는다</a:t>
            </a:r>
          </a:p>
          <a:p>
            <a:pPr algn="l">
              <a:lnSpc>
                <a:spcPct val="110000"/>
              </a:lnSpc>
              <a:spcAft>
                <a:spcPts val="400"/>
              </a:spcAft>
            </a:pPr>
            <a:r>
              <a:rPr sz="1400" b="0">
                <a:solidFill>
                  <a:srgbClr val="1F2A3A"/>
                </a:solidFill>
                <a:latin typeface="맑은 고딕"/>
                <a:ea typeface="맑은 고딕"/>
                <a:cs typeface="맑은 고딕"/>
              </a:rPr>
              <a:t>• 지금의 유온을 내리는 조치가 아니다</a:t>
            </a:r>
          </a:p>
        </p:txBody>
      </p:sp>
      <p:sp>
        <p:nvSpPr>
          <p:cNvPr id="10" name="Rounded Rectangle 9"/>
          <p:cNvSpPr/>
          <p:nvPr/>
        </p:nvSpPr>
        <p:spPr>
          <a:xfrm>
            <a:off x="777240" y="5041392"/>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크게 뒤짐</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경보 해제에 실패할 수 있으므로 다른 조치와 비교하라는 경고가 붙었다</a:t>
            </a:r>
          </a:p>
        </p:txBody>
      </p:sp>
      <p:sp>
        <p:nvSpPr>
          <p:cNvPr id="16" name="Rounded Rectangle 15"/>
          <p:cNvSpPr/>
          <p:nvPr/>
        </p:nvSpPr>
        <p:spPr>
          <a:xfrm>
            <a:off x="4566818" y="5041392"/>
            <a:ext cx="90220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HM-8.6</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certificate" descr="certificat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품질</a:t>
            </a:r>
          </a:p>
          <a:p>
            <a:pPr algn="l">
              <a:lnSpc>
                <a:spcPct val="110000"/>
              </a:lnSpc>
              <a:spcAft>
                <a:spcPts val="400"/>
              </a:spcAft>
            </a:pPr>
            <a:r>
              <a:rPr sz="1400" b="0">
                <a:solidFill>
                  <a:srgbClr val="1F2A3A"/>
                </a:solidFill>
                <a:latin typeface="맑은 고딕"/>
                <a:ea typeface="맑은 고딕"/>
                <a:cs typeface="맑은 고딕"/>
              </a:rPr>
              <a:t>뜨거운 상태로 만든 제품의 품질 문제로 점수가 깎였다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뒤짐</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가장 좋은 조치는 상황과 기준이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좋은 조치는 조치 자체에 정해져 있지 않고 그때의 상황과 견주는 기준에 따라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상황이 달라지면 순위가 달라진다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calendar-time" descr="calendar-tim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상황</a:t>
            </a:r>
          </a:p>
          <a:p>
            <a:pPr algn="l">
              <a:lnSpc>
                <a:spcPct val="110000"/>
              </a:lnSpc>
              <a:spcAft>
                <a:spcPts val="400"/>
              </a:spcAft>
            </a:pPr>
            <a:r>
              <a:rPr sz="1400" b="0">
                <a:solidFill>
                  <a:srgbClr val="1F2A3A"/>
                </a:solidFill>
                <a:latin typeface="맑은 고딕"/>
                <a:ea typeface="맑은 고딕"/>
                <a:cs typeface="맑은 고딕"/>
              </a:rPr>
              <a:t>긴급 오더의 납기가</a:t>
            </a:r>
          </a:p>
          <a:p>
            <a:pPr algn="l">
              <a:lnSpc>
                <a:spcPct val="110000"/>
              </a:lnSpc>
              <a:spcAft>
                <a:spcPts val="400"/>
              </a:spcAft>
            </a:pPr>
            <a:r>
              <a:rPr sz="1400" b="0">
                <a:solidFill>
                  <a:srgbClr val="1F2A3A"/>
                </a:solidFill>
                <a:latin typeface="맑은 고딕"/>
                <a:ea typeface="맑은 고딕"/>
                <a:cs typeface="맑은 고딕"/>
              </a:rPr>
              <a:t>약 6시간 남아 있었다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scale" descr="scal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납기에서 잃는 것을</a:t>
            </a:r>
          </a:p>
          <a:p>
            <a:pPr algn="l">
              <a:lnSpc>
                <a:spcPct val="110000"/>
              </a:lnSpc>
              <a:spcAft>
                <a:spcPts val="400"/>
              </a:spcAft>
            </a:pPr>
            <a:r>
              <a:rPr sz="1400" b="0">
                <a:solidFill>
                  <a:srgbClr val="1F2A3A"/>
                </a:solidFill>
                <a:latin typeface="맑은 고딕"/>
                <a:ea typeface="맑은 고딕"/>
                <a:cs typeface="맑은 고딕"/>
              </a:rPr>
              <a:t>크게 쳤다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trophy" descr="trophy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생산을 지키는</a:t>
            </a:r>
          </a:p>
          <a:p>
            <a:pPr algn="l">
              <a:lnSpc>
                <a:spcPct val="110000"/>
              </a:lnSpc>
              <a:spcAft>
                <a:spcPts val="400"/>
              </a:spcAft>
            </a:pPr>
            <a:r>
              <a:rPr sz="1400" b="0">
                <a:solidFill>
                  <a:srgbClr val="1F2A3A"/>
                </a:solidFill>
                <a:latin typeface="맑은 고딕"/>
                <a:ea typeface="맑은 고딕"/>
                <a:cs typeface="맑은 고딕"/>
              </a:rPr>
              <a:t>팬 최대 운전이 1순위</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되는지는 규칙이 통과와 제외로 가르고, 통과한 조치 가운데 어느 것이 나은지는 성과 기준이 점수로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득실을 함께 본다</a:t>
            </a:r>
          </a:p>
        </p:txBody>
      </p:sp>
      <p:sp>
        <p:nvSpPr>
          <p:cNvPr id="18" name="Rounded Rectangle 17"/>
          <p:cNvSpPr/>
          <p:nvPr/>
        </p:nvSpPr>
        <p:spPr>
          <a:xfrm>
            <a:off x="6781647" y="509600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둘을 섞었을 때 생기는 잘못</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넣으면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안전 조건을 점수에 넣는다</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다른 점수가 충분히 높으면</a:t>
            </a:r>
          </a:p>
          <a:p>
            <a:pPr algn="l">
              <a:lnSpc>
                <a:spcPct val="110000"/>
              </a:lnSpc>
              <a:spcAft>
                <a:spcPts val="600"/>
              </a:spcAft>
            </a:pPr>
            <a:r>
              <a:rPr sz="1450" b="0">
                <a:solidFill>
                  <a:srgbClr val="1F2A3A"/>
                </a:solidFill>
                <a:latin typeface="맑은 고딕"/>
                <a:ea typeface="맑은 고딕"/>
                <a:cs typeface="맑은 고딕"/>
              </a:rPr>
              <a:t>• 위험한 조치가 1순위가 된다</a:t>
            </a:r>
          </a:p>
        </p:txBody>
      </p:sp>
      <p:sp>
        <p:nvSpPr>
          <p:cNvPr id="11" name="Rounded Rectangle 10"/>
          <p:cNvSpPr/>
          <p:nvPr/>
        </p:nvSpPr>
        <p:spPr>
          <a:xfrm>
            <a:off x="868680" y="4795139"/>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넘으면 안 되는 선이 무너진다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견줄 값을 제외 조건에 넣는다</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비용이 조금만 들어도 빠진다</a:t>
            </a:r>
          </a:p>
          <a:p>
            <a:pPr algn="l">
              <a:lnSpc>
                <a:spcPct val="110000"/>
              </a:lnSpc>
              <a:spcAft>
                <a:spcPts val="600"/>
              </a:spcAft>
            </a:pPr>
            <a:r>
              <a:rPr sz="1450" b="0">
                <a:solidFill>
                  <a:srgbClr val="1F2A3A"/>
                </a:solidFill>
                <a:latin typeface="맑은 고딕"/>
                <a:ea typeface="맑은 고딕"/>
                <a:cs typeface="맑은 고딕"/>
              </a:rPr>
              <a:t>• 쓸 만한 조치까지 모두 제외된다</a:t>
            </a:r>
          </a:p>
        </p:txBody>
      </p:sp>
      <p:sp>
        <p:nvSpPr>
          <p:cNvPr id="18" name="Rounded Rectangle 17"/>
          <p:cNvSpPr/>
          <p:nvPr/>
        </p:nvSpPr>
        <p:spPr>
          <a:xfrm>
            <a:off x="6781647" y="4795139"/>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고를 것이 없어진다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감점이 놓이는 자리: 규칙에서 점수로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감점은 규칙에서 나오지만 후보를 빼지 않고 점수에 들어가 다른 득실과 견주어진다.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125</a:t>
            </a:r>
          </a:p>
        </p:txBody>
      </p:sp>
      <p:sp>
        <p:nvSpPr>
          <p:cNvPr id="6" name="Rounded Rectangle 5"/>
          <p:cNvSpPr/>
          <p:nvPr/>
        </p:nvSpPr>
        <p:spPr>
          <a:xfrm>
            <a:off x="548640" y="2707767"/>
            <a:ext cx="3442106"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890647"/>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2057552" y="3044266"/>
            <a:ext cx="424281" cy="424281"/>
          </a:xfrm>
          <a:prstGeom prst="rect">
            <a:avLst/>
          </a:prstGeom>
        </p:spPr>
      </p:pic>
      <p:sp>
        <p:nvSpPr>
          <p:cNvPr id="9" name="TextBox 8"/>
          <p:cNvSpPr txBox="1"/>
          <p:nvPr/>
        </p:nvSpPr>
        <p:spPr>
          <a:xfrm>
            <a:off x="621792"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팬 100 % 연속 운전이</a:t>
            </a:r>
          </a:p>
          <a:p>
            <a:pPr algn="ctr">
              <a:lnSpc>
                <a:spcPct val="110000"/>
              </a:lnSpc>
              <a:spcAft>
                <a:spcPts val="400"/>
              </a:spcAft>
            </a:pPr>
            <a:r>
              <a:rPr sz="1350" b="0">
                <a:solidFill>
                  <a:srgbClr val="1F2A3A"/>
                </a:solidFill>
                <a:latin typeface="맑은 고딕"/>
                <a:ea typeface="맑은 고딕"/>
                <a:cs typeface="맑은 고딕"/>
              </a:rPr>
              <a:t>24시간을 넘겼다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707767"/>
            <a:ext cx="3442106"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890647"/>
            <a:ext cx="731520" cy="731520"/>
          </a:xfrm>
          <a:prstGeom prst="ellipse">
            <a:avLst/>
          </a:prstGeom>
          <a:solidFill>
            <a:srgbClr val="5CB8F2"/>
          </a:solidFill>
          <a:ln>
            <a:noFill/>
          </a:ln>
        </p:spPr>
        <p:txBody>
          <a:bodyPr rtlCol="0" anchor="ctr"/>
          <a:lstStyle/>
          <a:p>
            <a:pPr algn="ctr"/>
          </a:p>
        </p:txBody>
      </p:sp>
      <p:pic>
        <p:nvPicPr>
          <p:cNvPr id="13" name="아이콘:coin" descr="coin_13294B_1.6.png"/>
          <p:cNvPicPr>
            <a:picLocks noChangeAspect="1"/>
          </p:cNvPicPr>
          <p:nvPr/>
        </p:nvPicPr>
        <p:blipFill>
          <a:blip r:embed="rId4"/>
          <a:stretch>
            <a:fillRect/>
          </a:stretch>
        </p:blipFill>
        <p:spPr>
          <a:xfrm>
            <a:off x="5883706" y="3044266"/>
            <a:ext cx="424281" cy="424281"/>
          </a:xfrm>
          <a:prstGeom prst="rect">
            <a:avLst/>
          </a:prstGeom>
        </p:spPr>
      </p:pic>
      <p:sp>
        <p:nvSpPr>
          <p:cNvPr id="14" name="TextBox 13"/>
          <p:cNvSpPr txBox="1"/>
          <p:nvPr/>
        </p:nvSpPr>
        <p:spPr>
          <a:xfrm>
            <a:off x="4447946"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감점</a:t>
            </a:r>
          </a:p>
          <a:p>
            <a:pPr algn="ctr">
              <a:lnSpc>
                <a:spcPct val="110000"/>
              </a:lnSpc>
              <a:spcAft>
                <a:spcPts val="400"/>
              </a:spcAft>
            </a:pPr>
            <a:r>
              <a:rPr sz="1350" b="0">
                <a:solidFill>
                  <a:srgbClr val="1F2A3A"/>
                </a:solidFill>
                <a:latin typeface="맑은 고딕"/>
                <a:ea typeface="맑은 고딕"/>
                <a:cs typeface="맑은 고딕"/>
              </a:rPr>
              <a:t>팬 최대 운전에서</a:t>
            </a:r>
          </a:p>
          <a:p>
            <a:pPr algn="ctr">
              <a:lnSpc>
                <a:spcPct val="110000"/>
              </a:lnSpc>
              <a:spcAft>
                <a:spcPts val="400"/>
              </a:spcAft>
            </a:pPr>
            <a:r>
              <a:rPr sz="1350" b="0">
                <a:solidFill>
                  <a:srgbClr val="1F2A3A"/>
                </a:solidFill>
                <a:latin typeface="맑은 고딕"/>
                <a:ea typeface="맑은 고딕"/>
                <a:cs typeface="맑은 고딕"/>
              </a:rPr>
              <a:t>20만 원을 깎는다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707767"/>
            <a:ext cx="3442106"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890647"/>
            <a:ext cx="731520" cy="731520"/>
          </a:xfrm>
          <a:prstGeom prst="ellipse">
            <a:avLst/>
          </a:prstGeom>
          <a:solidFill>
            <a:srgbClr val="FFFFFF"/>
          </a:solidFill>
          <a:ln>
            <a:noFill/>
          </a:ln>
        </p:spPr>
        <p:txBody>
          <a:bodyPr rtlCol="0" anchor="ctr"/>
          <a:lstStyle/>
          <a:p>
            <a:pPr algn="ctr"/>
          </a:p>
        </p:txBody>
      </p:sp>
      <p:pic>
        <p:nvPicPr>
          <p:cNvPr id="18" name="아이콘:trophy" descr="trophy_13294B_1.6.png"/>
          <p:cNvPicPr>
            <a:picLocks noChangeAspect="1"/>
          </p:cNvPicPr>
          <p:nvPr/>
        </p:nvPicPr>
        <p:blipFill>
          <a:blip r:embed="rId5"/>
          <a:stretch>
            <a:fillRect/>
          </a:stretch>
        </p:blipFill>
        <p:spPr>
          <a:xfrm>
            <a:off x="9709861" y="3044266"/>
            <a:ext cx="424281" cy="424281"/>
          </a:xfrm>
          <a:prstGeom prst="rect">
            <a:avLst/>
          </a:prstGeom>
        </p:spPr>
      </p:pic>
      <p:sp>
        <p:nvSpPr>
          <p:cNvPr id="19" name="TextBox 18"/>
          <p:cNvSpPr txBox="1"/>
          <p:nvPr/>
        </p:nvSpPr>
        <p:spPr>
          <a:xfrm>
            <a:off x="8274100"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순위</a:t>
            </a:r>
          </a:p>
          <a:p>
            <a:pPr algn="ctr">
              <a:lnSpc>
                <a:spcPct val="110000"/>
              </a:lnSpc>
              <a:spcAft>
                <a:spcPts val="400"/>
              </a:spcAft>
            </a:pPr>
            <a:r>
              <a:rPr sz="1350" b="0">
                <a:solidFill>
                  <a:srgbClr val="1F2A3A"/>
                </a:solidFill>
                <a:latin typeface="맑은 고딕"/>
                <a:ea typeface="맑은 고딕"/>
                <a:cs typeface="맑은 고딕"/>
              </a:rPr>
              <a:t>깎인 점수로</a:t>
            </a:r>
          </a:p>
          <a:p>
            <a:pPr algn="ctr">
              <a:lnSpc>
                <a:spcPct val="110000"/>
              </a:lnSpc>
              <a:spcAft>
                <a:spcPts val="400"/>
              </a:spcAft>
            </a:pPr>
            <a:r>
              <a:rPr sz="1350" b="0">
                <a:solidFill>
                  <a:srgbClr val="1F2A3A"/>
                </a:solidFill>
                <a:latin typeface="맑은 고딕"/>
                <a:ea typeface="맑은 고딕"/>
                <a:cs typeface="맑은 고딕"/>
              </a:rPr>
              <a:t>다른 후보와 견준다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 판단 한 건의 사본에서 시작한다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조건이 달랐다면 어떻게 되는지를 계산해 보는 방법이며, 판단 한 건의 사본에서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126</a:t>
            </a:r>
          </a:p>
        </p:txBody>
      </p:sp>
      <p:pic>
        <p:nvPicPr>
          <p:cNvPr id="6" name="삽화:가정분석_1.svg" descr="illust_746159051511770391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가정값: 사본에서 바꾸어 보는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사본에서 값 하나를 실제와 다르게 바꾸어 넣으며, 이렇게 바꾸어 넣는 값을 가정값이라고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127</a:t>
            </a:r>
          </a:p>
        </p:txBody>
      </p:sp>
      <p:pic>
        <p:nvPicPr>
          <p:cNvPr id="6" name="삽화:가정분석_2.svg" descr="illust_207869813285925052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3013915" y="5645962"/>
            <a:ext cx="370922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기준 결과와 시험 결과를 나란히 견준다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가정값으로 순위를 다시 계산해 지금의 값으로 계산한 순위와 나란히 놓으면 무엇이 달라지는지가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128</a:t>
            </a:r>
          </a:p>
        </p:txBody>
      </p:sp>
      <p:pic>
        <p:nvPicPr>
          <p:cNvPr id="6" name="삽화:가정분석_3.svg" descr="illust_4354772372806225251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3777579" y="564596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p:txBody>
      </p:sp>
      <p:sp>
        <p:nvSpPr>
          <p:cNvPr id="10" name="TextBox 9"/>
          <p:cNvSpPr txBox="1"/>
          <p:nvPr/>
        </p:nvSpPr>
        <p:spPr>
          <a:xfrm>
            <a:off x="7426805" y="162763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기준 결과</a:t>
            </a:r>
          </a:p>
          <a:p>
            <a:pPr algn="ctr">
              <a:lnSpc>
                <a:spcPct val="110000"/>
              </a:lnSpc>
              <a:spcAft>
                <a:spcPts val="100"/>
              </a:spcAft>
            </a:pPr>
            <a:r>
              <a:rPr sz="1300" b="0">
                <a:solidFill>
                  <a:srgbClr val="556175"/>
                </a:solidFill>
                <a:latin typeface="맑은 고딕"/>
                <a:ea typeface="맑은 고딕"/>
                <a:cs typeface="맑은 고딕"/>
              </a:rPr>
              <a:t>지금의 값으로 계산한 순위</a:t>
            </a:r>
          </a:p>
        </p:txBody>
      </p:sp>
      <p:sp>
        <p:nvSpPr>
          <p:cNvPr id="11" name="TextBox 10"/>
          <p:cNvSpPr txBox="1"/>
          <p:nvPr/>
        </p:nvSpPr>
        <p:spPr>
          <a:xfrm>
            <a:off x="7426805" y="5598688"/>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시험 결과</a:t>
            </a:r>
          </a:p>
          <a:p>
            <a:pPr algn="ctr">
              <a:lnSpc>
                <a:spcPct val="110000"/>
              </a:lnSpc>
              <a:spcAft>
                <a:spcPts val="100"/>
              </a:spcAft>
            </a:pPr>
            <a:r>
              <a:rPr sz="1300" b="0">
                <a:solidFill>
                  <a:srgbClr val="556175"/>
                </a:solidFill>
                <a:latin typeface="맑은 고딕"/>
                <a:ea typeface="맑은 고딕"/>
                <a:cs typeface="맑은 고딕"/>
              </a:rPr>
              <a:t>가정값으로 다시 계산한 순위</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순위의 경계값: 1순위가 바뀌기 시작하는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가정값을 조금씩 바꾸다가 1순위가 달라지는 값이 순위의 경계값이며, 지금의 추천이 얼마나 튼튼한지를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129</a:t>
            </a:r>
          </a:p>
        </p:txBody>
      </p:sp>
      <p:pic>
        <p:nvPicPr>
          <p:cNvPr id="6" name="삽화:가정분석_4.svg" descr="illust_413191343337838165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3777579" y="564596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p:txBody>
      </p:sp>
      <p:sp>
        <p:nvSpPr>
          <p:cNvPr id="10" name="TextBox 9"/>
          <p:cNvSpPr txBox="1"/>
          <p:nvPr/>
        </p:nvSpPr>
        <p:spPr>
          <a:xfrm>
            <a:off x="7426805" y="1816729"/>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기준 결과</a:t>
            </a:r>
          </a:p>
        </p:txBody>
      </p:sp>
      <p:sp>
        <p:nvSpPr>
          <p:cNvPr id="11" name="TextBox 10"/>
          <p:cNvSpPr txBox="1"/>
          <p:nvPr/>
        </p:nvSpPr>
        <p:spPr>
          <a:xfrm>
            <a:off x="7426805" y="5598688"/>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시험 결과</a:t>
            </a:r>
          </a:p>
        </p:txBody>
      </p:sp>
      <p:sp>
        <p:nvSpPr>
          <p:cNvPr id="12" name="TextBox 11"/>
          <p:cNvSpPr txBox="1"/>
          <p:nvPr/>
        </p:nvSpPr>
        <p:spPr>
          <a:xfrm>
            <a:off x="10099632" y="3518611"/>
            <a:ext cx="1418234" cy="102666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순위의 경계값</a:t>
            </a:r>
          </a:p>
          <a:p>
            <a:pPr algn="ctr">
              <a:lnSpc>
                <a:spcPct val="110000"/>
              </a:lnSpc>
              <a:spcAft>
                <a:spcPts val="100"/>
              </a:spcAft>
            </a:pPr>
            <a:r>
              <a:rPr sz="1300" b="0">
                <a:solidFill>
                  <a:srgbClr val="556175"/>
                </a:solidFill>
                <a:latin typeface="맑은 고딕"/>
                <a:ea typeface="맑은 고딕"/>
                <a:cs typeface="맑은 고딕"/>
              </a:rPr>
              <a:t>1순위가 바뀌는</a:t>
            </a:r>
          </a:p>
          <a:p>
            <a:pPr algn="ctr">
              <a:lnSpc>
                <a:spcPct val="110000"/>
              </a:lnSpc>
              <a:spcAft>
                <a:spcPts val="100"/>
              </a:spcAft>
            </a:pPr>
            <a:r>
              <a:rPr sz="1300" b="0">
                <a:solidFill>
                  <a:srgbClr val="556175"/>
                </a:solidFill>
                <a:latin typeface="맑은 고딕"/>
                <a:ea typeface="맑은 고딕"/>
                <a:cs typeface="맑은 고딕"/>
              </a:rPr>
              <a:t>가정값</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가정값은 원본을 바꾸지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가정값은 사본의 계산에만 쓰이고 원본의 지식과 업무 데이터는 읽기만 하므로, 여러 번 시험해도 실제 값은 그대로이다.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130</a:t>
            </a:r>
          </a:p>
        </p:txBody>
      </p:sp>
      <p:pic>
        <p:nvPicPr>
          <p:cNvPr id="6" name="삽화:가정분석_5.svg" descr="illust_9026471281779105469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761104" y="5645962"/>
            <a:ext cx="229099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읽기만 한다</a:t>
            </a:r>
          </a:p>
          <a:p>
            <a:pPr algn="ctr">
              <a:lnSpc>
                <a:spcPct val="110000"/>
              </a:lnSpc>
              <a:spcAft>
                <a:spcPts val="100"/>
              </a:spcAft>
            </a:pPr>
            <a:r>
              <a:rPr sz="1300" b="0">
                <a:solidFill>
                  <a:srgbClr val="556175"/>
                </a:solidFill>
                <a:latin typeface="맑은 고딕"/>
                <a:ea typeface="맑은 고딕"/>
                <a:cs typeface="맑은 고딕"/>
              </a:rPr>
              <a:t>원본의 값은 그대로 남는다</a:t>
            </a:r>
          </a:p>
        </p:txBody>
      </p:sp>
      <p:sp>
        <p:nvSpPr>
          <p:cNvPr id="9" name="TextBox 8"/>
          <p:cNvSpPr txBox="1"/>
          <p:nvPr/>
        </p:nvSpPr>
        <p:spPr>
          <a:xfrm>
            <a:off x="3668484" y="181672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p:txBody>
      </p:sp>
      <p:sp>
        <p:nvSpPr>
          <p:cNvPr id="10" name="TextBox 9"/>
          <p:cNvSpPr txBox="1"/>
          <p:nvPr/>
        </p:nvSpPr>
        <p:spPr>
          <a:xfrm>
            <a:off x="3777579" y="564596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p:txBody>
      </p:sp>
      <p:sp>
        <p:nvSpPr>
          <p:cNvPr id="11" name="TextBox 10"/>
          <p:cNvSpPr txBox="1"/>
          <p:nvPr/>
        </p:nvSpPr>
        <p:spPr>
          <a:xfrm>
            <a:off x="7426805" y="1816729"/>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기준 결과</a:t>
            </a:r>
          </a:p>
        </p:txBody>
      </p:sp>
      <p:sp>
        <p:nvSpPr>
          <p:cNvPr id="12" name="TextBox 11"/>
          <p:cNvSpPr txBox="1"/>
          <p:nvPr/>
        </p:nvSpPr>
        <p:spPr>
          <a:xfrm>
            <a:off x="7426805" y="5598688"/>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시험 결과</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분석의 결과는 넣은 가정과 계산에 쓴 모델만큼만 믿을 수 있으며 결정 자체를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variable" descr="variabl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가정에 기댄다</a:t>
            </a:r>
          </a:p>
          <a:p>
            <a:pPr algn="l">
              <a:lnSpc>
                <a:spcPct val="110000"/>
              </a:lnSpc>
              <a:spcAft>
                <a:spcPts val="400"/>
              </a:spcAft>
            </a:pPr>
            <a:r>
              <a:rPr sz="1400" b="0">
                <a:solidFill>
                  <a:srgbClr val="1F2A3A"/>
                </a:solidFill>
                <a:latin typeface="맑은 고딕"/>
                <a:ea typeface="맑은 고딕"/>
                <a:cs typeface="맑은 고딕"/>
              </a:rPr>
              <a:t>• 계산에 넣는 값의 일부는 잰 값이 아니라 가정이다</a:t>
            </a:r>
          </a:p>
          <a:p>
            <a:pPr algn="l">
              <a:lnSpc>
                <a:spcPct val="110000"/>
              </a:lnSpc>
              <a:spcAft>
                <a:spcPts val="400"/>
              </a:spcAft>
            </a:pPr>
            <a:r>
              <a:rPr sz="1400" b="0">
                <a:solidFill>
                  <a:srgbClr val="1F2A3A"/>
                </a:solidFill>
                <a:latin typeface="맑은 고딕"/>
                <a:ea typeface="맑은 고딕"/>
                <a:cs typeface="맑은 고딕"/>
              </a:rPr>
              <a:t>• 예: 설비가 주 120시간 운전한다고 본다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입력의 한계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calculator" descr="calculator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모델의 계산이다</a:t>
            </a:r>
          </a:p>
          <a:p>
            <a:pPr algn="l">
              <a:lnSpc>
                <a:spcPct val="110000"/>
              </a:lnSpc>
              <a:spcAft>
                <a:spcPts val="400"/>
              </a:spcAft>
            </a:pPr>
            <a:r>
              <a:rPr sz="1400" b="0">
                <a:solidFill>
                  <a:srgbClr val="1F2A3A"/>
                </a:solidFill>
                <a:latin typeface="맑은 고딕"/>
                <a:ea typeface="맑은 고딕"/>
                <a:cs typeface="맑은 고딕"/>
              </a:rPr>
              <a:t>조치 후의 유온은 설비 모델이 계산한 예측값이다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예측의 한계</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결정을 대신하지 않는다</a:t>
            </a:r>
          </a:p>
          <a:p>
            <a:pPr algn="l">
              <a:lnSpc>
                <a:spcPct val="110000"/>
              </a:lnSpc>
              <a:spcAft>
                <a:spcPts val="400"/>
              </a:spcAft>
            </a:pPr>
            <a:r>
              <a:rPr sz="1400" b="0">
                <a:solidFill>
                  <a:srgbClr val="1F2A3A"/>
                </a:solidFill>
                <a:latin typeface="맑은 고딕"/>
                <a:ea typeface="맑은 고딕"/>
                <a:cs typeface="맑은 고딕"/>
              </a:rPr>
              <a:t>어느 가정이 현실에 가까운지는 사람이 판단한다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해석의 한계</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예측은 재관측으로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예측값은 조건이 그대로라고 보고 계산한 값이므로, SOP는 조치 뒤에 실제 값을 다시 재어 확인하는 단계로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lculator" descr="calculato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예측</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조치하기 전에 계산한다</a:t>
            </a:r>
          </a:p>
          <a:p>
            <a:pPr algn="l">
              <a:lnSpc>
                <a:spcPct val="110000"/>
              </a:lnSpc>
              <a:spcAft>
                <a:spcPts val="600"/>
              </a:spcAft>
            </a:pPr>
            <a:r>
              <a:rPr sz="1450" b="0">
                <a:solidFill>
                  <a:srgbClr val="1F2A3A"/>
                </a:solidFill>
                <a:latin typeface="맑은 고딕"/>
                <a:ea typeface="맑은 고딕"/>
                <a:cs typeface="맑은 고딕"/>
              </a:rPr>
              <a:t>• 팬 최대 운전의 예측 유온 49.8 ℃</a:t>
            </a:r>
          </a:p>
          <a:p>
            <a:pPr algn="l">
              <a:lnSpc>
                <a:spcPct val="110000"/>
              </a:lnSpc>
              <a:spcAft>
                <a:spcPts val="600"/>
              </a:spcAft>
            </a:pPr>
            <a:r>
              <a:rPr sz="1450" b="0">
                <a:solidFill>
                  <a:srgbClr val="1F2A3A"/>
                </a:solidFill>
                <a:latin typeface="맑은 고딕"/>
                <a:ea typeface="맑은 고딕"/>
                <a:cs typeface="맑은 고딕"/>
              </a:rPr>
              <a:t>• 조치를 고르는 데 쓴다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계산한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재관측</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조치한 뒤에 실제로 잰다</a:t>
            </a:r>
          </a:p>
          <a:p>
            <a:pPr algn="l">
              <a:lnSpc>
                <a:spcPct val="110000"/>
              </a:lnSpc>
              <a:spcAft>
                <a:spcPts val="600"/>
              </a:spcAft>
            </a:pPr>
            <a:r>
              <a:rPr sz="1450" b="0">
                <a:solidFill>
                  <a:srgbClr val="1F2A3A"/>
                </a:solidFill>
                <a:latin typeface="맑은 고딕"/>
                <a:ea typeface="맑은 고딕"/>
                <a:cs typeface="맑은 고딕"/>
              </a:rPr>
              <a:t>• 15분 동안 유온이 55 ℃ 미만으로 유지되는지 본다</a:t>
            </a:r>
          </a:p>
          <a:p>
            <a:pPr algn="l">
              <a:lnSpc>
                <a:spcPct val="110000"/>
              </a:lnSpc>
              <a:spcAft>
                <a:spcPts val="600"/>
              </a:spcAft>
            </a:pPr>
            <a:r>
              <a:rPr sz="1450" b="0">
                <a:solidFill>
                  <a:srgbClr val="1F2A3A"/>
                </a:solidFill>
                <a:latin typeface="맑은 고딕"/>
                <a:ea typeface="맑은 고딕"/>
                <a:cs typeface="맑은 고딕"/>
              </a:rPr>
              <a:t>• 완화에 성공했는지 판정하는 데 쓴다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잰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하나를 고르기까지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 조치 하나가 추천되기까지는 절차, 규칙, 성과 기준이 차례로 쓰이고 마지막 결정은 사람이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절차</a:t>
            </a:r>
          </a:p>
          <a:p>
            <a:pPr algn="ctr">
              <a:lnSpc>
                <a:spcPct val="110000"/>
              </a:lnSpc>
              <a:spcAft>
                <a:spcPts val="400"/>
              </a:spcAft>
            </a:pPr>
            <a:r>
              <a:rPr sz="1250" b="0">
                <a:solidFill>
                  <a:srgbClr val="1F2A3A"/>
                </a:solidFill>
                <a:latin typeface="맑은 고딕"/>
                <a:ea typeface="맑은 고딕"/>
                <a:cs typeface="맑은 고딕"/>
              </a:rPr>
              <a:t>SOP가 정한</a:t>
            </a:r>
          </a:p>
          <a:p>
            <a:pPr algn="ctr">
              <a:lnSpc>
                <a:spcPct val="110000"/>
              </a:lnSpc>
              <a:spcAft>
                <a:spcPts val="400"/>
              </a:spcAft>
            </a:pPr>
            <a:r>
              <a:rPr sz="1250" b="0">
                <a:solidFill>
                  <a:srgbClr val="1F2A3A"/>
                </a:solidFill>
                <a:latin typeface="맑은 고딕"/>
                <a:ea typeface="맑은 고딕"/>
                <a:cs typeface="맑은 고딕"/>
              </a:rPr>
              <a:t>조치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규칙</a:t>
            </a:r>
          </a:p>
          <a:p>
            <a:pPr algn="ctr">
              <a:lnSpc>
                <a:spcPct val="110000"/>
              </a:lnSpc>
              <a:spcAft>
                <a:spcPts val="400"/>
              </a:spcAft>
            </a:pPr>
            <a:r>
              <a:rPr sz="1250" b="0">
                <a:solidFill>
                  <a:srgbClr val="1F2A3A"/>
                </a:solidFill>
                <a:latin typeface="맑은 고딕"/>
                <a:ea typeface="맑은 고딕"/>
                <a:cs typeface="맑은 고딕"/>
              </a:rPr>
              <a:t>결정표가 가린</a:t>
            </a:r>
          </a:p>
          <a:p>
            <a:pPr algn="ctr">
              <a:lnSpc>
                <a:spcPct val="110000"/>
              </a:lnSpc>
              <a:spcAft>
                <a:spcPts val="400"/>
              </a:spcAft>
            </a:pPr>
            <a:r>
              <a:rPr sz="1250" b="0">
                <a:solidFill>
                  <a:srgbClr val="1F2A3A"/>
                </a:solidFill>
                <a:latin typeface="맑은 고딕"/>
                <a:ea typeface="맑은 고딕"/>
                <a:cs typeface="맑은 고딕"/>
              </a:rPr>
              <a:t>제외, 감점,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906141"/>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성과 기준</a:t>
            </a:r>
          </a:p>
          <a:p>
            <a:pPr algn="ctr">
              <a:lnSpc>
                <a:spcPct val="110000"/>
              </a:lnSpc>
              <a:spcAft>
                <a:spcPts val="400"/>
              </a:spcAft>
            </a:pPr>
            <a:r>
              <a:rPr sz="1250" b="0">
                <a:solidFill>
                  <a:srgbClr val="1F2A3A"/>
                </a:solidFill>
                <a:latin typeface="맑은 고딕"/>
                <a:ea typeface="맑은 고딕"/>
                <a:cs typeface="맑은 고딕"/>
              </a:rPr>
              <a:t>득실을 견주어</a:t>
            </a:r>
          </a:p>
          <a:p>
            <a:pPr algn="ctr">
              <a:lnSpc>
                <a:spcPct val="110000"/>
              </a:lnSpc>
              <a:spcAft>
                <a:spcPts val="400"/>
              </a:spcAft>
            </a:pPr>
            <a:r>
              <a:rPr sz="1250" b="0">
                <a:solidFill>
                  <a:srgbClr val="1F2A3A"/>
                </a:solidFill>
                <a:latin typeface="맑은 고딕"/>
                <a:ea typeface="맑은 고딕"/>
                <a:cs typeface="맑은 고딕"/>
              </a:rPr>
              <a:t>팬 최대 운전이 1순위</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근거를 읽고</a:t>
            </a:r>
          </a:p>
          <a:p>
            <a:pPr algn="ctr">
              <a:lnSpc>
                <a:spcPct val="110000"/>
              </a:lnSpc>
              <a:spcAft>
                <a:spcPts val="400"/>
              </a:spcAft>
            </a:pPr>
            <a:r>
              <a:rPr sz="1250" b="0">
                <a:solidFill>
                  <a:srgbClr val="1F2A3A"/>
                </a:solidFill>
                <a:latin typeface="맑은 고딕"/>
                <a:ea typeface="맑은 고딕"/>
                <a:cs typeface="맑은 고딕"/>
              </a:rPr>
              <a:t>사람이 결정한다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SOP 자료를 조치 방법과 단계, 결정표로 구조화한다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랩 전용 SOP 자료가 조치 방법과 작업 단계의 구조, 그리고 결정표 자료로 정리된다.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설비 모델의 재사용</a:t>
            </a:r>
          </a:p>
          <a:p>
            <a:pPr algn="ctr">
              <a:lnSpc>
                <a:spcPct val="110000"/>
              </a:lnSpc>
              <a:spcAft>
                <a:spcPts val="400"/>
              </a:spcAft>
            </a:pPr>
            <a:r>
              <a:rPr sz="1350" b="0">
                <a:solidFill>
                  <a:srgbClr val="1F2A3A"/>
                </a:solidFill>
                <a:latin typeface="맑은 고딕"/>
                <a:ea typeface="맑은 고딕"/>
                <a:cs typeface="맑은 고딕"/>
              </a:rPr>
              <a:t>앞 시간에 만든</a:t>
            </a:r>
          </a:p>
          <a:p>
            <a:pPr algn="ctr">
              <a:lnSpc>
                <a:spcPct val="110000"/>
              </a:lnSpc>
              <a:spcAft>
                <a:spcPts val="400"/>
              </a:spcAft>
            </a:pPr>
            <a:r>
              <a:rPr sz="1350" b="0">
                <a:solidFill>
                  <a:srgbClr val="1F2A3A"/>
                </a:solidFill>
                <a:latin typeface="맑은 고딕"/>
                <a:ea typeface="맑은 고딕"/>
                <a:cs typeface="맑은 고딕"/>
              </a:rPr>
              <a:t>설비 모델과 식별자를</a:t>
            </a:r>
          </a:p>
          <a:p>
            <a:pPr algn="ctr">
              <a:lnSpc>
                <a:spcPct val="110000"/>
              </a:lnSpc>
              <a:spcAft>
                <a:spcPts val="400"/>
              </a:spcAft>
            </a:pPr>
            <a:r>
              <a:rPr sz="1350" b="0">
                <a:solidFill>
                  <a:srgbClr val="1F2A3A"/>
                </a:solidFill>
                <a:latin typeface="맑은 고딕"/>
                <a:ea typeface="맑은 고딕"/>
                <a:cs typeface="맑은 고딕"/>
              </a:rPr>
              <a:t>그대로 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유형과 조치</a:t>
            </a:r>
          </a:p>
          <a:p>
            <a:pPr algn="ctr">
              <a:lnSpc>
                <a:spcPct val="110000"/>
              </a:lnSpc>
              <a:spcAft>
                <a:spcPts val="400"/>
              </a:spcAft>
            </a:pPr>
            <a:r>
              <a:rPr sz="1350" b="0">
                <a:solidFill>
                  <a:srgbClr val="1F2A3A"/>
                </a:solidFill>
                <a:latin typeface="맑은 고딕"/>
                <a:ea typeface="맑은 고딕"/>
                <a:cs typeface="맑은 고딕"/>
              </a:rPr>
              <a:t>제공된 고장 유형에</a:t>
            </a:r>
          </a:p>
          <a:p>
            <a:pPr algn="ctr">
              <a:lnSpc>
                <a:spcPct val="110000"/>
              </a:lnSpc>
              <a:spcAft>
                <a:spcPts val="400"/>
              </a:spcAft>
            </a:pPr>
            <a:r>
              <a:rPr sz="1350" b="0">
                <a:solidFill>
                  <a:srgbClr val="1F2A3A"/>
                </a:solidFill>
                <a:latin typeface="맑은 고딕"/>
                <a:ea typeface="맑은 고딕"/>
                <a:cs typeface="맑은 고딕"/>
              </a:rPr>
              <a:t>조치 방법을</a:t>
            </a:r>
          </a:p>
          <a:p>
            <a:pPr algn="ctr">
              <a:lnSpc>
                <a:spcPct val="110000"/>
              </a:lnSpc>
              <a:spcAft>
                <a:spcPts val="400"/>
              </a:spcAft>
            </a:pPr>
            <a:r>
              <a:rPr sz="1350" b="0">
                <a:solidFill>
                  <a:srgbClr val="1F2A3A"/>
                </a:solidFill>
                <a:latin typeface="맑은 고딕"/>
                <a:ea typeface="맑은 고딕"/>
                <a:cs typeface="맑은 고딕"/>
              </a:rPr>
              <a:t>연결한다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절차의 구조화</a:t>
            </a:r>
          </a:p>
          <a:p>
            <a:pPr algn="ctr">
              <a:lnSpc>
                <a:spcPct val="110000"/>
              </a:lnSpc>
              <a:spcAft>
                <a:spcPts val="400"/>
              </a:spcAft>
            </a:pPr>
            <a:r>
              <a:rPr sz="1350" b="0">
                <a:solidFill>
                  <a:srgbClr val="1F2A3A"/>
                </a:solidFill>
                <a:latin typeface="맑은 고딕"/>
                <a:ea typeface="맑은 고딕"/>
                <a:cs typeface="맑은 고딕"/>
              </a:rPr>
              <a:t>적용 조건, 금지 조건,</a:t>
            </a:r>
          </a:p>
          <a:p>
            <a:pPr algn="ctr">
              <a:lnSpc>
                <a:spcPct val="110000"/>
              </a:lnSpc>
              <a:spcAft>
                <a:spcPts val="400"/>
              </a:spcAft>
            </a:pPr>
            <a:r>
              <a:rPr sz="1350" b="0">
                <a:solidFill>
                  <a:srgbClr val="1F2A3A"/>
                </a:solidFill>
                <a:latin typeface="맑은 고딕"/>
                <a:ea typeface="맑은 고딕"/>
                <a:cs typeface="맑은 고딕"/>
              </a:rPr>
              <a:t>수행 단계, 완료 기준을</a:t>
            </a:r>
          </a:p>
          <a:p>
            <a:pPr algn="ctr">
              <a:lnSpc>
                <a:spcPct val="110000"/>
              </a:lnSpc>
              <a:spcAft>
                <a:spcPts val="400"/>
              </a:spcAft>
            </a:pPr>
            <a:r>
              <a:rPr sz="1350" b="0">
                <a:solidFill>
                  <a:srgbClr val="1F2A3A"/>
                </a:solidFill>
                <a:latin typeface="맑은 고딕"/>
                <a:ea typeface="맑은 고딕"/>
                <a:cs typeface="맑은 고딕"/>
              </a:rPr>
              <a:t>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table" descr="tab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 작성</a:t>
            </a:r>
          </a:p>
          <a:p>
            <a:pPr algn="ctr">
              <a:lnSpc>
                <a:spcPct val="110000"/>
              </a:lnSpc>
              <a:spcAft>
                <a:spcPts val="400"/>
              </a:spcAft>
            </a:pPr>
            <a:r>
              <a:rPr sz="1350" b="0">
                <a:solidFill>
                  <a:srgbClr val="1F2A3A"/>
                </a:solidFill>
                <a:latin typeface="맑은 고딕"/>
                <a:ea typeface="맑은 고딕"/>
                <a:cs typeface="맑은 고딕"/>
              </a:rPr>
              <a:t>조건 문장을</a:t>
            </a:r>
          </a:p>
          <a:p>
            <a:pPr algn="ctr">
              <a:lnSpc>
                <a:spcPct val="110000"/>
              </a:lnSpc>
              <a:spcAft>
                <a:spcPts val="400"/>
              </a:spcAft>
            </a:pPr>
            <a:r>
              <a:rPr sz="1350" b="0">
                <a:solidFill>
                  <a:srgbClr val="1F2A3A"/>
                </a:solidFill>
                <a:latin typeface="맑은 고딕"/>
                <a:ea typeface="맑은 고딕"/>
                <a:cs typeface="맑은 고딕"/>
              </a:rPr>
              <a:t>입력 조건과 판단 결과의</a:t>
            </a:r>
          </a:p>
          <a:p>
            <a:pPr algn="ctr">
              <a:lnSpc>
                <a:spcPct val="110000"/>
              </a:lnSpc>
              <a:spcAft>
                <a:spcPts val="400"/>
              </a:spcAft>
            </a:pPr>
            <a:r>
              <a:rPr sz="1350" b="0">
                <a:solidFill>
                  <a:srgbClr val="1F2A3A"/>
                </a:solidFill>
                <a:latin typeface="맑은 고딕"/>
                <a:ea typeface="맑은 고딕"/>
                <a:cs typeface="맑은 고딕"/>
              </a:rPr>
              <a:t>행으로 옮긴다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결정표를 읽어 조치를 가르고 남은 후보를 비교하는 기능을 Claude Code로 만든다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 값으로 조치를 가르고 남은 후보를 비교해 선택 이유를 보여 주는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남고 순위가 매겨진다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경계값</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복수 규칙 일치</a:t>
            </a:r>
          </a:p>
          <a:p>
            <a:pPr algn="l">
              <a:lnSpc>
                <a:spcPct val="110000"/>
              </a:lnSpc>
              <a:spcAft>
                <a:spcPts val="400"/>
              </a:spcAft>
            </a:pPr>
            <a:r>
              <a:rPr sz="1350" b="0">
                <a:solidFill>
                  <a:srgbClr val="1F2A3A"/>
                </a:solidFill>
                <a:latin typeface="맑은 고딕"/>
                <a:ea typeface="맑은 고딕"/>
                <a:cs typeface="맑은 고딕"/>
              </a:rPr>
              <a:t>• 한 후보에 규칙이 둘 이상 맞는 입력이다</a:t>
            </a:r>
          </a:p>
          <a:p>
            <a:pPr algn="l">
              <a:lnSpc>
                <a:spcPct val="110000"/>
              </a:lnSpc>
              <a:spcAft>
                <a:spcPts val="400"/>
              </a:spcAft>
            </a:pPr>
            <a:r>
              <a:rPr sz="1350" b="0">
                <a:solidFill>
                  <a:srgbClr val="1F2A3A"/>
                </a:solidFill>
                <a:latin typeface="맑은 고딕"/>
                <a:ea typeface="맑은 고딕"/>
                <a:cs typeface="맑은 고딕"/>
              </a:rPr>
              <a:t>• 판정이 빠짐없이 모이는지 확인한다</a:t>
            </a:r>
          </a:p>
        </p:txBody>
      </p:sp>
      <p:sp>
        <p:nvSpPr>
          <p:cNvPr id="22" name="Rounded Rectangle 21"/>
          <p:cNvSpPr/>
          <p:nvPr/>
        </p:nvSpPr>
        <p:spPr>
          <a:xfrm>
            <a:off x="6461607" y="5134356"/>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추천을 내지 않고 제외 사유를 보여 주어야 한다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그 약어가 조치 선택에서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선택에서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Operating Procedure</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조치의 순서와 수행 기준</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LOTO</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Lockout/Tagout</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전의 잠금과 표지</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DMN</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Model and Notation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조건을 정의하는 표준</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OMG</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Object Management Group</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DMN을 정한 단체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BSC</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네 관점으로 성과를 보는 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KPI</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현장의 수동 조작으로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Policy가 Collect인 결정표에 팬 100 % 30시간, 「팬 최대 운전」의 예측 유온 56 ℃를 넣었다고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과열 한 건에서 「팬 최대 운전과 부하 80 %」는 예측 유온이 44.6 ℃로 가장 낮았으나 3순위였다.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조치의 가능 여부, 여러 규칙의 처리, 성과의 비교를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Collect는 맞은 행의 출력을 모두 모은다. 감점과 경고가 함께 붙는다.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