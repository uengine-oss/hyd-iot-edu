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추천안이 사람의 승인과 시스템의 실행을 거쳐 끝난 업무가 되기까지를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일차에서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추천안이 나온 것을 운전원이 모르면 흐름이 멈춥니다. 승인을 누가 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앞 일차에서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 이 경보는 앞 일차에서 본 것과 같은 종류의 경보 한 건이며, 이 일차의 처리 건 기록은 모두 이 경보에서 열린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추천안을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HYD 지식 그래프에는 프로세스가 노드로 등록되어 있으며, 그 가운데 하나인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에이전트의 추천은 프로세스 안의 작업 하나이고, 업무의 완료는 시작에서 끝까지의 프로세스가 정합니다. 프로세스를 정의한다는 것은 다섯 가지를 미리 정해 두는 일입니다. 이제 이 다섯 가지를 누구나 같은 뜻으로 읽도록 적는 방법이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처음 보는 BPMN 그림은 이 순서로 읽으면 됩니다. 레인에서 누가 참여하는지를 보고, 시작 이벤트에서 무엇이 프로세스를 여는지를 봅니다. 그다음 작업의 순서와 게이트웨이의 갈림을 따라가고, 끝 이벤트에서 어떤 경우들로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같은 처리 건에서 에이전트가 실제로 호출한 도구의 순서입니다. 스킬 문서를 읽고, diagnose로 지식 그래프와 센서 값에서 원인을 가리고, evaluate_cards로 SOP 조치 넷을 규칙과 성과 기준으로 견주었습니다. 업무 DB에서 생산 오더와 품질 로트를 읽은 뒤 추천안 하나를 제출했고, 제출된 추천안에는 판단 id가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단원과 오늘의 내용을 정리합니다.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오늘 읽은 긴급 대응 프로세스를 직접 그립니다. 세 레인에 작업을 나누어 놓고, 시작에서 결과 보고까지 순서를 잇습니다. 승인과 거절을 가르는 게이트웨이와 각각의 끝을 두고, 승인 작업에는 승인을 끊지 않는 지연 알림 타이머를 붙입니다.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39.png"/><Relationship Id="rId5" Type="http://schemas.openxmlformats.org/officeDocument/2006/relationships/image" Target="../media/image16.png"/><Relationship Id="rId6"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45.png"/><Relationship Id="rId5"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6.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6.png"/><Relationship Id="rId4" Type="http://schemas.openxmlformats.org/officeDocument/2006/relationships/image" Target="../media/image18.png"/><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53.png"/><Relationship Id="rId7"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9일차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추천안을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등록하고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893751268479446425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35911"/>
            <a:ext cx="1911644" cy="33108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8791"/>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72410"/>
            <a:ext cx="424281" cy="424281"/>
          </a:xfrm>
          <a:prstGeom prst="rect">
            <a:avLst/>
          </a:prstGeom>
        </p:spPr>
      </p:pic>
      <p:sp>
        <p:nvSpPr>
          <p:cNvPr id="9" name="TextBox 8"/>
          <p:cNvSpPr txBox="1"/>
          <p:nvPr/>
        </p:nvSpPr>
        <p:spPr>
          <a:xfrm>
            <a:off x="62179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추천안을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35911"/>
            <a:ext cx="1911644" cy="33108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8791"/>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72410"/>
            <a:ext cx="424281" cy="424281"/>
          </a:xfrm>
          <a:prstGeom prst="rect">
            <a:avLst/>
          </a:prstGeom>
        </p:spPr>
      </p:pic>
      <p:sp>
        <p:nvSpPr>
          <p:cNvPr id="14" name="TextBox 13"/>
          <p:cNvSpPr txBox="1"/>
          <p:nvPr/>
        </p:nvSpPr>
        <p:spPr>
          <a:xfrm>
            <a:off x="2917484"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35911"/>
            <a:ext cx="1911644" cy="33108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8791"/>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72410"/>
            <a:ext cx="424281" cy="424281"/>
          </a:xfrm>
          <a:prstGeom prst="rect">
            <a:avLst/>
          </a:prstGeom>
        </p:spPr>
      </p:pic>
      <p:sp>
        <p:nvSpPr>
          <p:cNvPr id="19" name="TextBox 18"/>
          <p:cNvSpPr txBox="1"/>
          <p:nvPr/>
        </p:nvSpPr>
        <p:spPr>
          <a:xfrm>
            <a:off x="5213177"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35911"/>
            <a:ext cx="1911644" cy="33108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8791"/>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72410"/>
            <a:ext cx="424281" cy="424281"/>
          </a:xfrm>
          <a:prstGeom prst="rect">
            <a:avLst/>
          </a:prstGeom>
        </p:spPr>
      </p:pic>
      <p:sp>
        <p:nvSpPr>
          <p:cNvPr id="24" name="TextBox 23"/>
          <p:cNvSpPr txBox="1"/>
          <p:nvPr/>
        </p:nvSpPr>
        <p:spPr>
          <a:xfrm>
            <a:off x="7508869"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Computerized Maintenance</a:t>
            </a:r>
          </a:p>
          <a:p>
            <a:pPr algn="ctr">
              <a:lnSpc>
                <a:spcPct val="110000"/>
              </a:lnSpc>
              <a:spcAft>
                <a:spcPts val="400"/>
              </a:spcAft>
            </a:pPr>
            <a:r>
              <a:rPr sz="1250" b="0">
                <a:solidFill>
                  <a:srgbClr val="1F2A3A"/>
                </a:solidFill>
                <a:latin typeface="맑은 고딕"/>
                <a:ea typeface="맑은 고딕"/>
                <a:cs typeface="맑은 고딕"/>
              </a:rPr>
              <a:t>Management System</a:t>
            </a:r>
          </a:p>
          <a:p>
            <a:pPr algn="ctr">
              <a:lnSpc>
                <a:spcPct val="110000"/>
              </a:lnSpc>
              <a:spcAft>
                <a:spcPts val="400"/>
              </a:spcAft>
            </a:pPr>
            <a:r>
              <a:rPr sz="1250" b="0">
                <a:solidFill>
                  <a:srgbClr val="1F2A3A"/>
                </a:solidFill>
                <a:latin typeface="맑은 고딕"/>
                <a:ea typeface="맑은 고딕"/>
                <a:cs typeface="맑은 고딕"/>
              </a:rPr>
              <a:t>정비를 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35911"/>
            <a:ext cx="1911644" cy="33108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518791"/>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72410"/>
            <a:ext cx="424281" cy="424281"/>
          </a:xfrm>
          <a:prstGeom prst="rect">
            <a:avLst/>
          </a:prstGeom>
        </p:spPr>
      </p:pic>
      <p:sp>
        <p:nvSpPr>
          <p:cNvPr id="29" name="TextBox 28"/>
          <p:cNvSpPr txBox="1"/>
          <p:nvPr/>
        </p:nvSpPr>
        <p:spPr>
          <a:xfrm>
            <a:off x="980456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멈춘다</a:t>
            </a:r>
          </a:p>
          <a:p>
            <a:pPr algn="l">
              <a:lnSpc>
                <a:spcPct val="110000"/>
              </a:lnSpc>
              <a:spcAft>
                <a:spcPts val="400"/>
              </a:spcAft>
            </a:pPr>
            <a:r>
              <a:rPr sz="1400" b="0">
                <a:solidFill>
                  <a:srgbClr val="1F2A3A"/>
                </a:solidFill>
                <a:latin typeface="맑은 고딕"/>
                <a:ea typeface="맑은 고딕"/>
                <a:cs typeface="맑은 고딕"/>
              </a:rPr>
              <a:t>• 추천안이 나와도 승인을 요청받은 사람이 없다</a:t>
            </a:r>
          </a:p>
          <a:p>
            <a:pPr algn="l">
              <a:lnSpc>
                <a:spcPct val="110000"/>
              </a:lnSpc>
              <a:spcAft>
                <a:spcPts val="400"/>
              </a:spcAft>
            </a:pPr>
            <a:r>
              <a:rPr sz="1400" b="0">
                <a:solidFill>
                  <a:srgbClr val="1F2A3A"/>
                </a:solidFill>
                <a:latin typeface="맑은 고딕"/>
                <a:ea typeface="맑은 고딕"/>
                <a:cs typeface="맑은 고딕"/>
              </a:rPr>
              <a:t>• 재관측은 누군가 기억하고 있어야 이루어진다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흩어진다</a:t>
            </a:r>
          </a:p>
          <a:p>
            <a:pPr algn="l">
              <a:lnSpc>
                <a:spcPct val="110000"/>
              </a:lnSpc>
              <a:spcAft>
                <a:spcPts val="400"/>
              </a:spcAft>
            </a:pPr>
            <a:r>
              <a:rPr sz="1400" b="0">
                <a:solidFill>
                  <a:srgbClr val="1F2A3A"/>
                </a:solidFill>
                <a:latin typeface="맑은 고딕"/>
                <a:ea typeface="맑은 고딕"/>
                <a:cs typeface="맑은 고딕"/>
              </a:rPr>
              <a:t>승인을 누가 하는지, 응답이 없으면 어떻게 되는지가 정해져 있지 않다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남은일_종단.svg" descr="illust_541587166180524552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프로세스: 조치 하나의 절차와 업무 전체의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조치 하나</a:t>
            </a:r>
          </a:p>
          <a:p>
            <a:pPr algn="l">
              <a:lnSpc>
                <a:spcPct val="110000"/>
              </a:lnSpc>
              <a:spcAft>
                <a:spcPts val="600"/>
              </a:spcAft>
            </a:pPr>
            <a:r>
              <a:rPr sz="1450" b="0">
                <a:solidFill>
                  <a:srgbClr val="1F2A3A"/>
                </a:solidFill>
                <a:latin typeface="맑은 고딕"/>
                <a:ea typeface="맑은 고딕"/>
                <a:cs typeface="맑은 고딕"/>
              </a:rPr>
              <a:t>• 적는 것: 수행 단계, 조건, 완료 확인 기준</a:t>
            </a:r>
          </a:p>
          <a:p>
            <a:pPr algn="l">
              <a:lnSpc>
                <a:spcPct val="110000"/>
              </a:lnSpc>
              <a:spcAft>
                <a:spcPts val="600"/>
              </a:spcAft>
            </a:pPr>
            <a:r>
              <a:rPr sz="1450" b="0">
                <a:solidFill>
                  <a:srgbClr val="1F2A3A"/>
                </a:solidFill>
                <a:latin typeface="맑은 고딕"/>
                <a:ea typeface="맑은 고딕"/>
                <a:cs typeface="맑은 고딕"/>
              </a:rPr>
              <a:t>• 예: SOP-COOL-11 팬 최대 운전의 세 단계</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시작 사건에서 최종 결과까지</a:t>
            </a:r>
          </a:p>
          <a:p>
            <a:pPr algn="l">
              <a:lnSpc>
                <a:spcPct val="110000"/>
              </a:lnSpc>
              <a:spcAft>
                <a:spcPts val="600"/>
              </a:spcAft>
            </a:pPr>
            <a:r>
              <a:rPr sz="1450" b="0">
                <a:solidFill>
                  <a:srgbClr val="1F2A3A"/>
                </a:solidFill>
                <a:latin typeface="맑은 고딕"/>
                <a:ea typeface="맑은 고딕"/>
                <a:cs typeface="맑은 고딕"/>
              </a:rPr>
              <a:t>• 적는 것: 작업의 순서, 갈림, 책임자, 끝나는 조건</a:t>
            </a:r>
          </a:p>
          <a:p>
            <a:pPr algn="l">
              <a:lnSpc>
                <a:spcPct val="110000"/>
              </a:lnSpc>
              <a:spcAft>
                <a:spcPts val="600"/>
              </a:spcAft>
            </a:pPr>
            <a:r>
              <a:rPr sz="14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경보 한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 진단 · 조치 제안</a:t>
            </a:r>
          </a:p>
          <a:p>
            <a:pPr algn="ctr">
              <a:lnSpc>
                <a:spcPct val="110000"/>
              </a:lnSpc>
              <a:spcAft>
                <a:spcPts val="400"/>
              </a:spcAft>
            </a:pPr>
            <a:r>
              <a:rPr sz="1350" b="0">
                <a:solidFill>
                  <a:srgbClr val="1F2A3A"/>
                </a:solidFill>
                <a:latin typeface="맑은 고딕"/>
                <a:ea typeface="맑은 고딕"/>
                <a:cs typeface="맑은 고딕"/>
              </a:rPr>
              <a:t>받는 것: 경보</a:t>
            </a:r>
          </a:p>
          <a:p>
            <a:pPr algn="ctr">
              <a:lnSpc>
                <a:spcPct val="110000"/>
              </a:lnSpc>
              <a:spcAft>
                <a:spcPts val="400"/>
              </a:spcAft>
            </a:pPr>
            <a:r>
              <a:rPr sz="135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운전원 승인</a:t>
            </a:r>
          </a:p>
          <a:p>
            <a:pPr algn="ctr">
              <a:lnSpc>
                <a:spcPct val="110000"/>
              </a:lnSpc>
              <a:spcAft>
                <a:spcPts val="400"/>
              </a:spcAft>
            </a:pPr>
            <a:r>
              <a:rPr sz="1350" b="0">
                <a:solidFill>
                  <a:srgbClr val="1F2A3A"/>
                </a:solidFill>
                <a:latin typeface="맑은 고딕"/>
                <a:ea typeface="맑은 고딕"/>
                <a:cs typeface="맑은 고딕"/>
              </a:rPr>
              <a:t>받는 것: 추천안</a:t>
            </a:r>
          </a:p>
          <a:p>
            <a:pPr algn="ctr">
              <a:lnSpc>
                <a:spcPct val="110000"/>
              </a:lnSpc>
              <a:spcAft>
                <a:spcPts val="400"/>
              </a:spcAft>
            </a:pPr>
            <a:r>
              <a:rPr sz="135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냉각 명령</a:t>
            </a:r>
          </a:p>
          <a:p>
            <a:pPr algn="ctr">
              <a:lnSpc>
                <a:spcPct val="110000"/>
              </a:lnSpc>
              <a:spcAft>
                <a:spcPts val="400"/>
              </a:spcAft>
            </a:pPr>
            <a:r>
              <a:rPr sz="1350" b="0">
                <a:solidFill>
                  <a:srgbClr val="1F2A3A"/>
                </a:solidFill>
                <a:latin typeface="맑은 고딕"/>
                <a:ea typeface="맑은 고딕"/>
                <a:cs typeface="맑은 고딕"/>
              </a:rPr>
              <a:t>받는 것: 승인된 조치</a:t>
            </a:r>
          </a:p>
          <a:p>
            <a:pPr algn="ctr">
              <a:lnSpc>
                <a:spcPct val="110000"/>
              </a:lnSpc>
              <a:spcAft>
                <a:spcPts val="400"/>
              </a:spcAft>
            </a:pPr>
            <a:r>
              <a:rPr sz="135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재관측</a:t>
            </a:r>
          </a:p>
          <a:p>
            <a:pPr algn="ctr">
              <a:lnSpc>
                <a:spcPct val="110000"/>
              </a:lnSpc>
              <a:spcAft>
                <a:spcPts val="400"/>
              </a:spcAft>
            </a:pPr>
            <a:r>
              <a:rPr sz="1350" b="0">
                <a:solidFill>
                  <a:srgbClr val="1F2A3A"/>
                </a:solidFill>
                <a:latin typeface="맑은 고딕"/>
                <a:ea typeface="맑은 고딕"/>
                <a:cs typeface="맑은 고딕"/>
              </a:rPr>
              <a:t>받는 것: 명령의 완료</a:t>
            </a:r>
          </a:p>
          <a:p>
            <a:pPr algn="ctr">
              <a:lnSpc>
                <a:spcPct val="110000"/>
              </a:lnSpc>
              <a:spcAft>
                <a:spcPts val="400"/>
              </a:spcAft>
            </a:pPr>
            <a:r>
              <a:rPr sz="1350" b="0">
                <a:solidFill>
                  <a:srgbClr val="1F2A3A"/>
                </a:solidFill>
                <a:latin typeface="맑은 고딕"/>
                <a:ea typeface="맑은 고딕"/>
                <a:cs typeface="맑은 고딕"/>
              </a:rPr>
              <a:t>내는 것: 회복 여부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프로세스 노드: 설비 이상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그래프에는 프로세스도 노드로 등록되어 전략 목표에 이어져 있어, 업무가 무엇을 위해 있는지를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이상 조치</a:t>
            </a:r>
          </a:p>
          <a:p>
            <a:pPr algn="ctr">
              <a:lnSpc>
                <a:spcPct val="110000"/>
              </a:lnSpc>
            </a:pPr>
            <a:r>
              <a:rPr sz="1100" b="0">
                <a:solidFill>
                  <a:srgbClr val="556175"/>
                </a:solidFill>
                <a:latin typeface="맑은 고딕"/>
                <a:ea typeface="맑은 고딕"/>
                <a:cs typeface="맑은 고딕"/>
              </a:rPr>
              <a:t>프로세스</a:t>
            </a:r>
          </a:p>
          <a:p>
            <a:pPr algn="ctr">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가용성 확보</a:t>
            </a:r>
          </a:p>
          <a:p>
            <a:pPr algn="ctr">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무재해 운전</a:t>
            </a:r>
          </a:p>
          <a:p>
            <a:pPr algn="ctr">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납기 신뢰</a:t>
            </a:r>
          </a:p>
          <a:p>
            <a:pPr algn="ctr">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BPM주기.svg" descr="illust_362462230431949096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현재와목표.svg" descr="illust_814199126660603944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경보를 본 운전원이 전화로 담당을 찾는다</a:t>
            </a:r>
          </a:p>
          <a:p>
            <a:pPr algn="l">
              <a:lnSpc>
                <a:spcPct val="110000"/>
              </a:lnSpc>
              <a:spcAft>
                <a:spcPts val="600"/>
              </a:spcAft>
            </a:pPr>
            <a:r>
              <a:rPr sz="1450" b="0">
                <a:solidFill>
                  <a:srgbClr val="1F2A3A"/>
                </a:solidFill>
                <a:latin typeface="맑은 고딕"/>
                <a:ea typeface="맑은 고딕"/>
                <a:cs typeface="맑은 고딕"/>
              </a:rPr>
              <a:t>• 조치 뒤의 확인은 각자 기억해서 한다</a:t>
            </a:r>
          </a:p>
          <a:p>
            <a:pPr algn="l">
              <a:lnSpc>
                <a:spcPct val="110000"/>
              </a:lnSpc>
              <a:spcAft>
                <a:spcPts val="600"/>
              </a:spcAft>
            </a:pPr>
            <a:r>
              <a:rPr sz="14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경보가 오면 추천안이 승인 작업으로 운전원에게 놓인다</a:t>
            </a:r>
          </a:p>
          <a:p>
            <a:pPr algn="l">
              <a:lnSpc>
                <a:spcPct val="110000"/>
              </a:lnSpc>
              <a:spcAft>
                <a:spcPts val="600"/>
              </a:spcAft>
            </a:pPr>
            <a:r>
              <a:rPr sz="1450" b="0">
                <a:solidFill>
                  <a:srgbClr val="1F2A3A"/>
                </a:solidFill>
                <a:latin typeface="맑은 고딕"/>
                <a:ea typeface="맑은 고딕"/>
                <a:cs typeface="맑은 고딕"/>
              </a:rPr>
              <a:t>• 승인 뒤의 명령과 재관측은 정해진 순서로 열린다</a:t>
            </a:r>
          </a:p>
          <a:p>
            <a:pPr algn="l">
              <a:lnSpc>
                <a:spcPct val="110000"/>
              </a:lnSpc>
              <a:spcAft>
                <a:spcPts val="600"/>
              </a:spcAft>
            </a:pPr>
            <a:r>
              <a:rPr sz="14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추천에서 끝난 업무까지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프로세스는 시작 조건에서 완료 조건까지를 미리 정해 둔 것이고, BPM은 그 정의를 실행 결과에 비추어 고쳐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여러 주체의 작업을 시작 사건에서 최종 결과까지 잇는다</a:t>
            </a:r>
          </a:p>
        </p:txBody>
      </p:sp>
      <p:sp>
        <p:nvSpPr>
          <p:cNvPr id="10" name="Rounded Rectangle 9"/>
          <p:cNvSpPr/>
          <p:nvPr/>
        </p:nvSpPr>
        <p:spPr>
          <a:xfrm>
            <a:off x="777240" y="4932934"/>
            <a:ext cx="1188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188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End-to-End</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가지</a:t>
            </a:r>
          </a:p>
          <a:p>
            <a:pPr algn="l">
              <a:lnSpc>
                <a:spcPct val="110000"/>
              </a:lnSpc>
              <a:spcAft>
                <a:spcPts val="400"/>
              </a:spcAft>
            </a:pPr>
            <a:r>
              <a:rPr sz="1400" b="0">
                <a:solidFill>
                  <a:srgbClr val="1F2A3A"/>
                </a:solidFill>
                <a:latin typeface="맑은 고딕"/>
                <a:ea typeface="맑은 고딕"/>
                <a:cs typeface="맑은 고딕"/>
              </a:rPr>
              <a:t>시작 조건, 입력, 출력, 책임자, 완료 조건을 실행 전에 정한다</a:t>
            </a:r>
          </a:p>
        </p:txBody>
      </p:sp>
      <p:sp>
        <p:nvSpPr>
          <p:cNvPr id="16" name="Rounded Rectangle 15"/>
          <p:cNvSpPr/>
          <p:nvPr/>
        </p:nvSpPr>
        <p:spPr>
          <a:xfrm>
            <a:off x="4566818" y="493293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a:t>
            </a:r>
          </a:p>
          <a:p>
            <a:pPr algn="l">
              <a:lnSpc>
                <a:spcPct val="110000"/>
              </a:lnSpc>
              <a:spcAft>
                <a:spcPts val="400"/>
              </a:spcAft>
            </a:pPr>
            <a:r>
              <a:rPr sz="1400" b="0">
                <a:solidFill>
                  <a:srgbClr val="1F2A3A"/>
                </a:solidFill>
                <a:latin typeface="맑은 고딕"/>
                <a:ea typeface="맑은 고딕"/>
                <a:cs typeface="맑은 고딕"/>
              </a:rPr>
              <a:t>분석, 설계, 실행, 모니터링, 개선으로 프로세스를 고쳐 간다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요소묶음.svg" descr="illust_815275377764433633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흐름_전체.svg" descr="illust_64218711484175339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이벤트.svg" descr="illust_49231584559416076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작업종류.svg" descr="illust_117548398768598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게이트웨이.svg" descr="illust_488189901174493702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풀과레인.svg" descr="illust_900473654533946624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메시지흐름.svg" descr="illust_423054826841155496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경계타이머.svg" descr="illust_356074027827516234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승인자리.svg" descr="illust_628821968744099039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병렬과하위.svg" descr="illust_286875203323082136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병렬 게이트웨이</a:t>
            </a:r>
          </a:p>
          <a:p>
            <a:pPr algn="ctr">
              <a:lnSpc>
                <a:spcPct val="110000"/>
              </a:lnSpc>
              <a:spcAft>
                <a:spcPts val="100"/>
              </a:spcAft>
            </a:pPr>
            <a:r>
              <a:rPr sz="1300" b="0">
                <a:solidFill>
                  <a:srgbClr val="556175"/>
                </a:solidFill>
                <a:latin typeface="맑은 고딕"/>
                <a:ea typeface="맑은 고딕"/>
                <a:cs typeface="맑은 고딕"/>
              </a:rPr>
              <a:t>Parallel Gateway · 모든 갈래로 함께 보낸다</a:t>
            </a:r>
          </a:p>
        </p:txBody>
      </p:sp>
      <p:sp>
        <p:nvSpPr>
          <p:cNvPr id="8" name="TextBox 7"/>
          <p:cNvSpPr txBox="1"/>
          <p:nvPr/>
        </p:nvSpPr>
        <p:spPr>
          <a:xfrm>
            <a:off x="6641322" y="2313111"/>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하위 프로세스</a:t>
            </a:r>
          </a:p>
          <a:p>
            <a:pPr algn="ctr">
              <a:lnSpc>
                <a:spcPct val="110000"/>
              </a:lnSpc>
              <a:spcAft>
                <a:spcPts val="100"/>
              </a:spcAft>
            </a:pPr>
            <a:r>
              <a:rPr sz="1300" b="0">
                <a:solidFill>
                  <a:srgbClr val="556175"/>
                </a:solidFill>
                <a:latin typeface="맑은 고딕"/>
                <a:ea typeface="맑은 고딕"/>
                <a:cs typeface="맑은 고딕"/>
              </a:rPr>
              <a:t>Sub-Process · 흐름을 작업 하나로 접는다</a:t>
            </a:r>
          </a:p>
        </p:txBody>
      </p:sp>
      <p:sp>
        <p:nvSpPr>
          <p:cNvPr id="9" name="TextBox 8"/>
          <p:cNvSpPr txBox="1"/>
          <p:nvPr/>
        </p:nvSpPr>
        <p:spPr>
          <a:xfrm>
            <a:off x="990203" y="5693237"/>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모든 갈래가 끝나면 합쳐져 다음으로 간다</a:t>
            </a:r>
          </a:p>
        </p:txBody>
      </p:sp>
      <p:sp>
        <p:nvSpPr>
          <p:cNvPr id="10" name="TextBox 9"/>
          <p:cNvSpPr txBox="1"/>
          <p:nvPr/>
        </p:nvSpPr>
        <p:spPr>
          <a:xfrm>
            <a:off x="9259601" y="332951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BPMN 그림을 읽는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레인에서 맡는 쪽을, 시작 이벤트에서 계기를, 게이트웨이에서 갈림을, 끝 이벤트에서 결말을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레인</a:t>
            </a:r>
          </a:p>
          <a:p>
            <a:pPr algn="ctr">
              <a:lnSpc>
                <a:spcPct val="110000"/>
              </a:lnSpc>
              <a:spcAft>
                <a:spcPts val="400"/>
              </a:spcAft>
            </a:pPr>
            <a:r>
              <a:rPr sz="1350" b="0">
                <a:solidFill>
                  <a:srgbClr val="1F2A3A"/>
                </a:solidFill>
                <a:latin typeface="맑은 고딕"/>
                <a:ea typeface="맑은 고딕"/>
                <a:cs typeface="맑은 고딕"/>
              </a:rPr>
              <a:t>누가 참여하는가</a:t>
            </a:r>
          </a:p>
          <a:p>
            <a:pPr algn="ctr">
              <a:lnSpc>
                <a:spcPct val="110000"/>
              </a:lnSpc>
              <a:spcAft>
                <a:spcPts val="400"/>
              </a:spcAft>
            </a:pPr>
            <a:r>
              <a:rPr sz="1350" b="0">
                <a:solidFill>
                  <a:srgbClr val="1F2A3A"/>
                </a:solidFill>
                <a:latin typeface="맑은 고딕"/>
                <a:ea typeface="맑은 고딕"/>
                <a:cs typeface="맑은 고딕"/>
              </a:rPr>
              <a:t>담당자, 에이전트, 시스템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mail" descr="mail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 이벤트</a:t>
            </a:r>
          </a:p>
          <a:p>
            <a:pPr algn="ctr">
              <a:lnSpc>
                <a:spcPct val="110000"/>
              </a:lnSpc>
              <a:spcAft>
                <a:spcPts val="400"/>
              </a:spcAft>
            </a:pPr>
            <a:r>
              <a:rPr sz="1350" b="0">
                <a:solidFill>
                  <a:srgbClr val="1F2A3A"/>
                </a:solidFill>
                <a:latin typeface="맑은 고딕"/>
                <a:ea typeface="맑은 고딕"/>
                <a:cs typeface="맑은 고딕"/>
              </a:rPr>
              <a:t>무엇이 프로세스를 여는가</a:t>
            </a:r>
          </a:p>
          <a:p>
            <a:pPr algn="ctr">
              <a:lnSpc>
                <a:spcPct val="110000"/>
              </a:lnSpc>
              <a:spcAft>
                <a:spcPts val="400"/>
              </a:spcAft>
            </a:pPr>
            <a:r>
              <a:rPr sz="1350" b="0">
                <a:solidFill>
                  <a:srgbClr val="1F2A3A"/>
                </a:solidFill>
                <a:latin typeface="맑은 고딕"/>
                <a:ea typeface="맑은 고딕"/>
                <a:cs typeface="맑은 고딕"/>
              </a:rPr>
              <a:t>쿨러 과열 경보</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작업과 게이트웨이</a:t>
            </a:r>
          </a:p>
          <a:p>
            <a:pPr algn="ctr">
              <a:lnSpc>
                <a:spcPct val="110000"/>
              </a:lnSpc>
              <a:spcAft>
                <a:spcPts val="400"/>
              </a:spcAft>
            </a:pPr>
            <a:r>
              <a:rPr sz="1350" b="0">
                <a:solidFill>
                  <a:srgbClr val="1F2A3A"/>
                </a:solidFill>
                <a:latin typeface="맑은 고딕"/>
                <a:ea typeface="맑은 고딕"/>
                <a:cs typeface="맑은 고딕"/>
              </a:rPr>
              <a:t>어떤 순서로 가고 어디서 갈리는가</a:t>
            </a:r>
          </a:p>
          <a:p>
            <a:pPr algn="ctr">
              <a:lnSpc>
                <a:spcPct val="110000"/>
              </a:lnSpc>
              <a:spcAft>
                <a:spcPts val="400"/>
              </a:spcAft>
            </a:pPr>
            <a:r>
              <a:rPr sz="1350" b="0">
                <a:solidFill>
                  <a:srgbClr val="1F2A3A"/>
                </a:solidFill>
                <a:latin typeface="맑은 고딕"/>
                <a:ea typeface="맑은 고딕"/>
                <a:cs typeface="맑은 고딕"/>
              </a:rPr>
              <a:t>승인?, 유온 정상?</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끝 이벤트</a:t>
            </a:r>
          </a:p>
          <a:p>
            <a:pPr algn="ctr">
              <a:lnSpc>
                <a:spcPct val="110000"/>
              </a:lnSpc>
              <a:spcAft>
                <a:spcPts val="400"/>
              </a:spcAft>
            </a:pPr>
            <a:r>
              <a:rPr sz="1350" b="0">
                <a:solidFill>
                  <a:srgbClr val="1F2A3A"/>
                </a:solidFill>
                <a:latin typeface="맑은 고딕"/>
                <a:ea typeface="맑은 고딕"/>
                <a:cs typeface="맑은 고딕"/>
              </a:rPr>
              <a:t>어떤 경우들로 닫히는가</a:t>
            </a:r>
          </a:p>
          <a:p>
            <a:pPr algn="ctr">
              <a:lnSpc>
                <a:spcPct val="110000"/>
              </a:lnSpc>
              <a:spcAft>
                <a:spcPts val="400"/>
              </a:spcAft>
            </a:pPr>
            <a:r>
              <a:rPr sz="1350" b="0">
                <a:solidFill>
                  <a:srgbClr val="1F2A3A"/>
                </a:solidFill>
                <a:latin typeface="맑은 고딕"/>
                <a:ea typeface="맑은 고딕"/>
                <a:cs typeface="맑은 고딕"/>
              </a:rPr>
              <a:t>끝, 거절 종결, 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정의와인스턴스.svg" descr="illust_404405657775660482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513343069485146087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흐름_토큰_둘.svg" descr="illust_735317916075780034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 하나 안에서 지식 그래프, 센서 값, SOP와 판단 규칙, 업무 DB를 차례로 읽은 뒤 추천안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658081" y="3438271"/>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28542"/>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11430"/>
            <a:ext cx="599985" cy="599985"/>
          </a:xfrm>
          <a:prstGeom prst="rect">
            <a:avLst/>
          </a:prstGeom>
        </p:spPr>
      </p:pic>
      <p:sp>
        <p:nvSpPr>
          <p:cNvPr id="10" name="TextBox 9"/>
          <p:cNvSpPr txBox="1"/>
          <p:nvPr/>
        </p:nvSpPr>
        <p:spPr>
          <a:xfrm>
            <a:off x="64007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 문서</a:t>
            </a:r>
          </a:p>
          <a:p>
            <a:pPr algn="ctr">
              <a:lnSpc>
                <a:spcPct val="110000"/>
              </a:lnSpc>
              <a:spcAft>
                <a:spcPts val="400"/>
              </a:spcAft>
            </a:pPr>
            <a:r>
              <a:rPr sz="1300" b="0">
                <a:solidFill>
                  <a:srgbClr val="1F2A3A"/>
                </a:solidFill>
                <a:latin typeface="맑은 고딕"/>
                <a:ea typeface="맑은 고딕"/>
                <a:cs typeface="맑은 고딕"/>
              </a:rPr>
              <a:t>수행 방법을 읽는다</a:t>
            </a:r>
          </a:p>
        </p:txBody>
      </p:sp>
      <p:sp>
        <p:nvSpPr>
          <p:cNvPr id="11" name="Chevron 10"/>
          <p:cNvSpPr/>
          <p:nvPr/>
        </p:nvSpPr>
        <p:spPr>
          <a:xfrm>
            <a:off x="4867534" y="332854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11430"/>
            <a:ext cx="599985" cy="599985"/>
          </a:xfrm>
          <a:prstGeom prst="rect">
            <a:avLst/>
          </a:prstGeom>
        </p:spPr>
      </p:pic>
      <p:sp>
        <p:nvSpPr>
          <p:cNvPr id="14" name="TextBox 13"/>
          <p:cNvSpPr txBox="1"/>
          <p:nvPr/>
        </p:nvSpPr>
        <p:spPr>
          <a:xfrm>
            <a:off x="2858963"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diagnose</a:t>
            </a:r>
          </a:p>
          <a:p>
            <a:pPr algn="ctr">
              <a:lnSpc>
                <a:spcPct val="110000"/>
              </a:lnSpc>
              <a:spcAft>
                <a:spcPts val="400"/>
              </a:spcAft>
            </a:pPr>
            <a:r>
              <a:rPr sz="1300" b="0">
                <a:solidFill>
                  <a:srgbClr val="1F2A3A"/>
                </a:solidFill>
                <a:latin typeface="맑은 고딕"/>
                <a:ea typeface="맑은 고딕"/>
                <a:cs typeface="맑은 고딕"/>
              </a:rPr>
              <a:t>지식 그래프와 센서 값으로</a:t>
            </a:r>
          </a:p>
          <a:p>
            <a:pPr algn="ctr">
              <a:lnSpc>
                <a:spcPct val="110000"/>
              </a:lnSpc>
              <a:spcAft>
                <a:spcPts val="400"/>
              </a:spcAft>
            </a:pPr>
            <a:r>
              <a:rPr sz="1300" b="0">
                <a:solidFill>
                  <a:srgbClr val="1F2A3A"/>
                </a:solidFill>
                <a:latin typeface="맑은 고딕"/>
                <a:ea typeface="맑은 고딕"/>
                <a:cs typeface="맑은 고딕"/>
              </a:rPr>
              <a:t>원인을 가린다</a:t>
            </a:r>
          </a:p>
        </p:txBody>
      </p:sp>
      <p:sp>
        <p:nvSpPr>
          <p:cNvPr id="15" name="Chevron 14"/>
          <p:cNvSpPr/>
          <p:nvPr/>
        </p:nvSpPr>
        <p:spPr>
          <a:xfrm>
            <a:off x="7086417" y="332854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scale" descr="scale_13294B_1.6.png"/>
          <p:cNvPicPr>
            <a:picLocks noChangeAspect="1"/>
          </p:cNvPicPr>
          <p:nvPr/>
        </p:nvPicPr>
        <p:blipFill>
          <a:blip r:embed="rId5"/>
          <a:stretch>
            <a:fillRect/>
          </a:stretch>
        </p:blipFill>
        <p:spPr>
          <a:xfrm>
            <a:off x="5795854" y="3211430"/>
            <a:ext cx="599985" cy="599985"/>
          </a:xfrm>
          <a:prstGeom prst="rect">
            <a:avLst/>
          </a:prstGeom>
        </p:spPr>
      </p:pic>
      <p:sp>
        <p:nvSpPr>
          <p:cNvPr id="18" name="TextBox 17"/>
          <p:cNvSpPr txBox="1"/>
          <p:nvPr/>
        </p:nvSpPr>
        <p:spPr>
          <a:xfrm>
            <a:off x="5077846"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evaluate_cards</a:t>
            </a:r>
          </a:p>
          <a:p>
            <a:pPr algn="ctr">
              <a:lnSpc>
                <a:spcPct val="110000"/>
              </a:lnSpc>
              <a:spcAft>
                <a:spcPts val="400"/>
              </a:spcAft>
            </a:pPr>
            <a:r>
              <a:rPr sz="1300" b="0">
                <a:solidFill>
                  <a:srgbClr val="1F2A3A"/>
                </a:solidFill>
                <a:latin typeface="맑은 고딕"/>
                <a:ea typeface="맑은 고딕"/>
                <a:cs typeface="맑은 고딕"/>
              </a:rPr>
              <a:t>SOP 조치 넷을 규칙과</a:t>
            </a:r>
          </a:p>
          <a:p>
            <a:pPr algn="ctr">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19" name="Chevron 18"/>
          <p:cNvSpPr/>
          <p:nvPr/>
        </p:nvSpPr>
        <p:spPr>
          <a:xfrm>
            <a:off x="9305300" y="332854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database" descr="database_13294B_1.6.png"/>
          <p:cNvPicPr>
            <a:picLocks noChangeAspect="1"/>
          </p:cNvPicPr>
          <p:nvPr/>
        </p:nvPicPr>
        <p:blipFill>
          <a:blip r:embed="rId6"/>
          <a:stretch>
            <a:fillRect/>
          </a:stretch>
        </p:blipFill>
        <p:spPr>
          <a:xfrm>
            <a:off x="8014737" y="3211430"/>
            <a:ext cx="599985" cy="599985"/>
          </a:xfrm>
          <a:prstGeom prst="rect">
            <a:avLst/>
          </a:prstGeom>
        </p:spPr>
      </p:pic>
      <p:sp>
        <p:nvSpPr>
          <p:cNvPr id="22" name="TextBox 21"/>
          <p:cNvSpPr txBox="1"/>
          <p:nvPr/>
        </p:nvSpPr>
        <p:spPr>
          <a:xfrm>
            <a:off x="729672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mes_orders · qms_lots</a:t>
            </a:r>
          </a:p>
          <a:p>
            <a:pPr algn="ctr">
              <a:lnSpc>
                <a:spcPct val="110000"/>
              </a:lnSpc>
              <a:spcAft>
                <a:spcPts val="400"/>
              </a:spcAft>
            </a:pPr>
            <a:r>
              <a:rPr sz="1300" b="0">
                <a:solidFill>
                  <a:srgbClr val="1F2A3A"/>
                </a:solidFill>
                <a:latin typeface="맑은 고딕"/>
                <a:ea typeface="맑은 고딕"/>
                <a:cs typeface="맑은 고딕"/>
              </a:rPr>
              <a:t>생산 오더와 품질 로트를</a:t>
            </a:r>
          </a:p>
          <a:p>
            <a:pPr algn="ctr">
              <a:lnSpc>
                <a:spcPct val="110000"/>
              </a:lnSpc>
              <a:spcAft>
                <a:spcPts val="400"/>
              </a:spcAft>
            </a:pPr>
            <a:r>
              <a:rPr sz="1300" b="0">
                <a:solidFill>
                  <a:srgbClr val="1F2A3A"/>
                </a:solidFill>
                <a:latin typeface="맑은 고딕"/>
                <a:ea typeface="맑은 고딕"/>
                <a:cs typeface="맑은 고딕"/>
              </a:rPr>
              <a:t>업무 DB에서 읽는다</a:t>
            </a:r>
          </a:p>
        </p:txBody>
      </p:sp>
      <p:sp>
        <p:nvSpPr>
          <p:cNvPr id="23" name="Oval 22"/>
          <p:cNvSpPr/>
          <p:nvPr/>
        </p:nvSpPr>
        <p:spPr>
          <a:xfrm>
            <a:off x="9956704" y="2934513"/>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11430"/>
            <a:ext cx="599985" cy="599985"/>
          </a:xfrm>
          <a:prstGeom prst="rect">
            <a:avLst/>
          </a:prstGeom>
        </p:spPr>
      </p:pic>
      <p:sp>
        <p:nvSpPr>
          <p:cNvPr id="25" name="TextBox 24"/>
          <p:cNvSpPr txBox="1"/>
          <p:nvPr/>
        </p:nvSpPr>
        <p:spPr>
          <a:xfrm>
            <a:off x="9515612"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submit_decision</a:t>
            </a:r>
          </a:p>
          <a:p>
            <a:pPr algn="ctr">
              <a:lnSpc>
                <a:spcPct val="110000"/>
              </a:lnSpc>
              <a:spcAft>
                <a:spcPts val="400"/>
              </a:spcAft>
            </a:pPr>
            <a:r>
              <a:rPr sz="1300" b="0">
                <a:solidFill>
                  <a:srgbClr val="1F2A3A"/>
                </a:solidFill>
                <a:latin typeface="맑은 고딕"/>
                <a:ea typeface="맑은 고딕"/>
                <a:cs typeface="맑은 고딕"/>
              </a:rPr>
              <a:t>추천안을 제출한다</a:t>
            </a:r>
          </a:p>
          <a:p>
            <a:pPr algn="ctr">
              <a:lnSpc>
                <a:spcPct val="110000"/>
              </a:lnSpc>
              <a:spcAft>
                <a:spcPts val="400"/>
              </a:spcAft>
            </a:pPr>
            <a:r>
              <a:rPr sz="1300" b="0">
                <a:solidFill>
                  <a:srgbClr val="1F2A3A"/>
                </a:solidFill>
                <a:latin typeface="맑은 고딕"/>
                <a:ea typeface="맑은 고딕"/>
                <a:cs typeface="맑은 고딕"/>
              </a:rPr>
              <a:t>판단 id</a:t>
            </a:r>
          </a:p>
          <a:p>
            <a:pPr algn="ctr">
              <a:lnSpc>
                <a:spcPct val="110000"/>
              </a:lnSpc>
              <a:spcAft>
                <a:spcPts val="400"/>
              </a:spcAft>
            </a:pPr>
            <a:r>
              <a:rPr sz="1300" b="0">
                <a:solidFill>
                  <a:srgbClr val="1F2A3A"/>
                </a:solidFill>
                <a:latin typeface="맑은 고딕"/>
                <a:ea typeface="맑은 고딕"/>
                <a:cs typeface="맑은 고딕"/>
              </a:rPr>
              <a:t>DEC-1010-058-88a6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추천안을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역할과 승인 조건을 갖춘 설비 이상 대응의 흐름을 그린다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요소와 완성되는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BPMN 파일은 레인, 승인과 거절의 갈림, 지연 알림 타이머를 갖추어야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350" b="0">
                <a:solidFill>
                  <a:srgbClr val="1F2A3A"/>
                </a:solidFill>
                <a:latin typeface="맑은 고딕"/>
                <a:ea typeface="맑은 고딕"/>
                <a:cs typeface="맑은 고딕"/>
              </a:rPr>
              <a:t>담당자, 에이전트, 시스템의 세 칸에 작업을 나누어 놓는다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350" b="0">
                <a:solidFill>
                  <a:srgbClr val="1F2A3A"/>
                </a:solidFill>
                <a:latin typeface="맑은 고딕"/>
                <a:ea typeface="맑은 고딕"/>
                <a:cs typeface="맑은 고딕"/>
              </a:rPr>
              <a:t>쿨러 열화의 시작에서 진단과 제안, 승인, 명령, 재확인, 결과 보고까지 잇는다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갈림과 끝</a:t>
            </a:r>
          </a:p>
          <a:p>
            <a:pPr algn="l">
              <a:lnSpc>
                <a:spcPct val="110000"/>
              </a:lnSpc>
              <a:spcAft>
                <a:spcPts val="400"/>
              </a:spcAft>
            </a:pPr>
            <a:r>
              <a:rPr sz="1350" b="0">
                <a:solidFill>
                  <a:srgbClr val="1F2A3A"/>
                </a:solidFill>
                <a:latin typeface="맑은 고딕"/>
                <a:ea typeface="맑은 고딕"/>
                <a:cs typeface="맑은 고딕"/>
              </a:rPr>
              <a:t>승인과 거절을 가르고 정상 종료와 거절 종결을 따로 둔다</a:t>
            </a:r>
          </a:p>
        </p:txBody>
      </p:sp>
      <p:sp>
        <p:nvSpPr>
          <p:cNvPr id="22" name="Rounded Rectangle 21"/>
          <p:cNvSpPr/>
          <p:nvPr/>
        </p:nvSpPr>
        <p:spPr>
          <a:xfrm>
            <a:off x="6461607" y="5134356"/>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clock" descr="c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승인을 끊지 않는 비중단형 타이머를 승인 작업에 붙인다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