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판단하는 에이전트를 만들고 검증했습니다. 오늘은 그 에이전트의 추천안이 사람의 승인과 시스템의 실행을 거쳐 끝난 업무가 되기까지를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에이전트가 낸 것, 곧 추천 하나와 대안과 그 이유를 묶은 것이 앞 일차에서 본 추천안입니다. 추천안은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다섯 가지를 누가 하는지 보겠습니다. 승인은 운전원이, 냉각 명령은 SCADA가, 재관측과 결과 보고는 process 서비스가, 작업지시 등록은 CMMS가 맡습니다. CMMS는 Computerized Maintenance Management System, 곧 설비 보전 관리 시스템입니다. 다섯 가지는 맡는 쪽이 서로 다르고, 앞의 일이 끝나야 다음 일을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일을 맡을 쪽이 있어도 그 사이를 이어 주는 것이 없으면 세 가지 문제가 생깁니다. 추천안이 나온 것을 운전원이 모르면 흐름이 멈춥니다. 승인을 누가 하고 응답이 없으면 어떻게 되는지가 정해져 있지 않으면 책임이 흩어집니다. 그리고 이 사건이 어디까지 진행되었는지를 한곳에서 볼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Task는 프로세스 안의 작업 하나로, 위쪽 괄호가 가리키는 에이전트의 추천이 그 예입니다. End-to-End는 아래쪽 괄호처럼 경보라는 시작 사건에서 끝까지의 전체이며 우리말로는 종단 간이라고 합니다. 아래의 값은 긴급 대응 프로세스가 처리한 쿨러 성능 저하 경보 한 건의 기록으로, 앞 일차에서 본 경보와 같은 종류의 다른 한 건이어서 식별자와 값이 다릅니다. 이 처리 건에서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혼동하기 쉽습니다. SOP는 팬 최대 운전이라는 조치 하나를 어떤 단계로 수행하는지를 정합니다. 프로세스는 그 조치가 추천되고 승인되고 실행되어 보고되기까지, 여러 주체의 작업을 잇습니다. 프로세스의 승인 작업에서 승인되는 대상이 SOP입니다.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정의하려면 다섯 가지를 정해야 합니다. 무엇이 일어나면 시작하는지, 시작할 때 무엇을 받는지, 끝났을 때 무엇이 남는지, 작업마다 누가 맡는지, 무엇으로 끝났다고 보는지입니다. 오른쪽 열은 긴급 대응 프로세스의 답입니다.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첫째와 둘째, 시작 조건과 입력입니다. 긴급 대응 프로세스를 여는 것은 사람의 조작이 아니라 경보 메시지입니다. pattern이 쿨러 성능 저하인 경보가 도착하면 처리 건이 열리고, 설비와 경보의 식별자가 입력으로 실려 뒤의 작업들이 읽습니다. 같은 경보로 처리 건이 두 번 열리지는 않습니다. 이 경보는 앞 일차에서 본 것과 같은 종류의 경보 한 건이며, 이 일차의 처리 건 기록은 모두 이 경보에서 열린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작업지시이지만, 작업 하나하나에도 받는 것과 내는 것이 정해져 있습니다. 에이전트가 낸 추천안을 운전원이 받고, 운전원이 낸 승인을 냉각 명령이 받습니다. 그래서 작업마다 무엇을 내야 하는지를 미리 정해 두어야 흐름이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프로세스는 작업마다 맡는 쪽을 정하는데, 사람의 이름이 아니라 운전원 같은 역할로 정합니다. 근무자가 바뀌어도 프로세스는 그대로 두기 위해서입니다. 사람만 책임자가 되는 것도 아니어서 에이전트와 시스템도 작업을 맡습니다. 작업마다 맡는 쪽이 하나로 정해져 있으므로 지금 누구의 차례인지가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조건입니다.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에이전트에게 맡길 수 없다고 한 것이 프로세스에서 어떻게 지켜지는지 확인합니다. 냉각 명령 작업은 승인 작업이 승인으로 끝나야 열리므로 추천안만으로는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무엇을 위해 있는지도 지식으로 남길 수 있습니다. HYD 지식 그래프에는 프로세스가 노드로 등록되어 있으며, 그 가운데 하나인 설비 이상 조치는 대상 설비에 ACTS_ON 관계로, 달성하려는 전략 목표 셋에 ACHIEVES 관계로 이어져 있습니다. 그래서 설비 이상에 대응하는 업무가 설비 가용성과 무재해 운전과 납기 신뢰를 위해 있다는 것을 조회로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BPM은 다섯 단계를 되풀이합니다. 위에서 시계 방향으로, 지금의 업무를 조사하는 분석, 바꿀 흐름을 그리는 설계, 그린 대로 수행하는 실행, 수행 결과를 지켜보는 모니터링, 문제를 찾아 고치는 개선입니다. 개선에서 고친 내용이 다시 분석의 대상이 되므로 고리 모양이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단계에서 실제로 하는 일을 이 과정의 활동과 짝지었습니다. 분석에서는 업무의 시작 조건과 책임자와 완료 조건을 가려내고, 설계에서는 그것을 그림으로 그립니다. 실행에서는 그림을 등록하고 배포해 실제 경보에서 수행되게 하고, 모니터링에서는 처리 건을 지켜봅니다. 개선에서는 고친 흐름을 다시 등록합니다.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쓰는 두 낱말입니다. AS-IS는 지금 일하는 방식을 있는 그대로 그린 것이고, TO-BE는 바꾸려는 방식을 그린 것입니다. 위 줄은 프로세스가 정의되어 있지 않은 현장에서 흔히 볼 수 있는 AS-IS의 예로, 경보를 본 운전원이 전화로 보전 담당을 찾습니다. 아래 줄은 같은 업무를 프로세스로 옮긴 TO-BE입니다.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무엇을 바꾸는지가 분명해집니다. AS-IS에서는 사람을 찾고, 확인을 기억하고, 결정을 물어서 확인합니다. TO-BE에서는 그 자리마다 작업과 순서와 기록이 놓입니다. AS-IS에서 사람이 기억으로 잇던 자리를 찾아내는 것이 분석의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에이전트의 추천은 프로세스 안의 작업 하나이고, 업무의 완료는 시작에서 끝까지의 프로세스가 정합니다. 프로세스를 정의한다는 것은 다섯 가지를 미리 정해 두는 일입니다. 이제 이 다섯 가지를 누구나 같은 뜻으로 읽도록 적는 방법이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BPMN의 도형은 세 묶음으로 나누어 읽습니다. 왼쪽의 흐름 객체는 일어나는 일로, 원은 이벤트, 모서리가 둥근 사각형은 작업, 마름모는 게이트웨이입니다. 가운데의 연결 객체는 그것들을 잇는 선이며 실선과 점선의 뜻이 다릅니다. 오른쪽의 스윔레인은 누가 맡는지를 나누는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참여자가 둘이면 풀도 둘을 그립니다. 풀 안에서 작업의 순서를 잇는 선은 실선의 시퀀스 흐름입니다. 풀과 풀 사이에서 오가는 것은 점선의 메시지 흐름으로 그리며, 출발 쪽에 작은 원이 있고 화살촉이 비어 있습니다. 그림은 설비를 운영하는 조직이 공급사에 발주서를 보내고 납기 회신을 받는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커지면 쓰게 되는 요소 둘을 개념만 소개합니다. 왼쪽의 더하기표 마름모는 병렬 게이트웨이로, 나가는 모든 갈래로 흐름을 함께 보내고 모든 갈래가 끝나면 다시 합칩니다. 오른쪽의 하위 프로세스는 여러 작업으로 이루어진 흐름을 작업 하나처럼 접어 그린 것이며, 아래 가운데의 더하기 표식이 안에 흐름이 들어 있음을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처음 보는 BPMN 그림은 이 순서로 읽으면 됩니다. 레인에서 누가 참여하는지를 보고, 시작 이벤트에서 무엇이 프로세스를 여는지를 봅니다. 그다음 작업의 순서와 게이트웨이의 갈림을 따라가고, 끝 이벤트에서 어떤 경우들로 닫히는지를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기한이 지나도록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 단원에서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역할의 작업함에 놓고 사람의 응답을 기다립니다. 서비스 작업이면 SCADA나 CMMS 같은 시스템을 호출하고 처리 결과를 받습니다. 에이전트 단계이면 지정된 에이전트에게 맡기고 추천안이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들여다보겠습니다. 같은 처리 건에서 에이전트가 실제로 호출한 도구의 순서입니다. 스킬 문서를 읽고, diagnose로 지식 그래프와 센서 값에서 원인을 가리고, evaluate_cards로 SOP 조치 넷을 규칙과 성과 기준으로 견주었습니다. 업무 DB에서 생산 오더와 품질 로트를 읽은 뒤 추천안 하나를 제출했고, 제출된 추천안에는 판단 id가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 그래프와 SOP와 업무 DB를 읽는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없으며 결과 보고의 값은 거절을 뜻하는 반려로 적혔습니다.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두 가지 기록으로 남습니다. 처리 기록은 처리 건 한 건 안에서 일어난 일을 차례로 적은 것으로, 승인이 접수되고 다음 단계로 전달될 때와 결과 보고가 나갈 때 한 줄씩 남습니다. 감사 기록, Audit Log는 누가 무엇을 결정했는지를 나중에 확인하려고 처리 건 밖의 일까지 적는 기록입니다. 처리 건이 열린 일과 정의가 배포된 일, 그리고 승인할 역할이 아닌 쪽이 승인을 시도해 거부된 일이 여기에 남습니다. 처리 건 하나를 되짚을 때는 두 기록을 함께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단원과 오늘의 내용을 정리합니다. 지식 그래프는 판단의 재료를 담고, 에이전트는 그 재료로 판단합니다. 프로세스는 그 판단을 사람의 승인과 시스템의 실행으로 잇고, 진행과 결과를 기록으로 남깁니다. 셋이 각자의 몫을 맡아야 경보 한 건이 끝난 업무가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오늘 읽은 긴급 대응 프로세스를 직접 그립니다. 세 레인에 작업을 나누어 놓고, 시작에서 결과 보고까지 순서를 잇습니다. 승인과 거절을 가르는 게이트웨이와 각각의 끝을 두고, 승인 작업에는 승인을 끊지 않는 지연 알림 타이머를 붙입니다.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배포한 프로세스를 실제로 실행합니다. 쿨러 열화를 일으켜 처리 건이 열리는 것을 보고, 에이전트의 추천안이 나온 뒤 운전원 승인에서 기다리는 상태를 확인합니다. 승인한 뒤에는 명령과 재관측을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셋과 함께 비즈니스 프로세스, Task와 End-to-End, AS-IS와 TO-BE, 이벤트, 게이트웨이, 풀과 레인, 경계 이벤트, 프로세스 정의와 인스턴스, 토큰, 프로세스 변수, 감사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39.png"/><Relationship Id="rId5" Type="http://schemas.openxmlformats.org/officeDocument/2006/relationships/image" Target="../media/image16.png"/><Relationship Id="rId6" Type="http://schemas.openxmlformats.org/officeDocument/2006/relationships/image" Target="../media/image3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7.png"/><Relationship Id="rId4" Type="http://schemas.openxmlformats.org/officeDocument/2006/relationships/image" Target="../media/image40.png"/><Relationship Id="rId5"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0.png"/><Relationship Id="rId4" Type="http://schemas.openxmlformats.org/officeDocument/2006/relationships/image" Target="../media/image45.png"/><Relationship Id="rId5" Type="http://schemas.openxmlformats.org/officeDocument/2006/relationships/image" Target="../media/image1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4.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6.png"/><Relationship Id="rId4" Type="http://schemas.openxmlformats.org/officeDocument/2006/relationships/image" Target="../media/image3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2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6.png"/><Relationship Id="rId4" Type="http://schemas.openxmlformats.org/officeDocument/2006/relationships/image" Target="../media/image18.png"/><Relationship Id="rId5" Type="http://schemas.openxmlformats.org/officeDocument/2006/relationships/image" Target="../media/image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5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2.png"/><Relationship Id="rId4" Type="http://schemas.openxmlformats.org/officeDocument/2006/relationships/image" Target="../media/image21.png"/><Relationship Id="rId5" Type="http://schemas.openxmlformats.org/officeDocument/2006/relationships/image" Target="../media/image16.png"/><Relationship Id="rId6" Type="http://schemas.openxmlformats.org/officeDocument/2006/relationships/image" Target="../media/image53.png"/><Relationship Id="rId7" Type="http://schemas.openxmlformats.org/officeDocument/2006/relationships/image" Target="../media/image5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9일차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AI와 사람이 함께 일하는</a:t>
            </a:r>
          </a:p>
          <a:p>
            <a:pPr algn="l">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추천안을 끝난 업무로 잇는 프로세스의 정의, 표기, 실행</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시작 조건, 입력, 출력, 책임자, 완료 조건을 가려낸다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정의와 인스턴스, 토큰, 변수로 실행 중인 프로세스의 상태를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실행</a:t>
            </a:r>
          </a:p>
          <a:p>
            <a:pPr algn="l">
              <a:lnSpc>
                <a:spcPct val="110000"/>
              </a:lnSpc>
              <a:spcAft>
                <a:spcPts val="400"/>
              </a:spcAft>
            </a:pPr>
            <a:r>
              <a:rPr sz="1350" b="0">
                <a:solidFill>
                  <a:srgbClr val="1F2A3A"/>
                </a:solidFill>
                <a:latin typeface="맑은 고딕"/>
                <a:ea typeface="맑은 고딕"/>
                <a:cs typeface="맑은 고딕"/>
              </a:rPr>
              <a:t>긴급 대응 프로세스를 직접 그려 등록하고 처리 건의 기록을 읽는다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추천안이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운전을 권하는 추천안이 나온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321989488116954699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남은 일은 운전원, SCADA, CMMS처럼 서로 다른 쪽이 맡으며, 저마다 앞의 결과를 받아야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335911"/>
            <a:ext cx="1911644" cy="33108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8791"/>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672410"/>
            <a:ext cx="424281" cy="424281"/>
          </a:xfrm>
          <a:prstGeom prst="rect">
            <a:avLst/>
          </a:prstGeom>
        </p:spPr>
      </p:pic>
      <p:sp>
        <p:nvSpPr>
          <p:cNvPr id="9" name="TextBox 8"/>
          <p:cNvSpPr txBox="1"/>
          <p:nvPr/>
        </p:nvSpPr>
        <p:spPr>
          <a:xfrm>
            <a:off x="62179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a:t>
            </a:r>
          </a:p>
          <a:p>
            <a:pPr algn="ctr">
              <a:lnSpc>
                <a:spcPct val="110000"/>
              </a:lnSpc>
              <a:spcAft>
                <a:spcPts val="400"/>
              </a:spcAft>
            </a:pPr>
            <a:r>
              <a:rPr sz="1250" b="0">
                <a:solidFill>
                  <a:srgbClr val="1F2A3A"/>
                </a:solidFill>
                <a:latin typeface="맑은 고딕"/>
                <a:ea typeface="맑은 고딕"/>
                <a:cs typeface="맑은 고딕"/>
              </a:rPr>
              <a:t>추천안을 검토해</a:t>
            </a:r>
          </a:p>
          <a:p>
            <a:pPr algn="ctr">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35911"/>
            <a:ext cx="1911644" cy="33108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8791"/>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672410"/>
            <a:ext cx="424281" cy="424281"/>
          </a:xfrm>
          <a:prstGeom prst="rect">
            <a:avLst/>
          </a:prstGeom>
        </p:spPr>
      </p:pic>
      <p:sp>
        <p:nvSpPr>
          <p:cNvPr id="14" name="TextBox 13"/>
          <p:cNvSpPr txBox="1"/>
          <p:nvPr/>
        </p:nvSpPr>
        <p:spPr>
          <a:xfrm>
            <a:off x="2917484"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냉각 명령</a:t>
            </a:r>
          </a:p>
          <a:p>
            <a:pPr algn="ctr">
              <a:lnSpc>
                <a:spcPct val="110000"/>
              </a:lnSpc>
              <a:spcAft>
                <a:spcPts val="400"/>
              </a:spcAft>
            </a:pPr>
            <a:r>
              <a:rPr sz="1250" b="0">
                <a:solidFill>
                  <a:srgbClr val="1F2A3A"/>
                </a:solidFill>
                <a:latin typeface="맑은 고딕"/>
                <a:ea typeface="맑은 고딕"/>
                <a:cs typeface="맑은 고딕"/>
              </a:rPr>
              <a:t>SCADA</a:t>
            </a:r>
          </a:p>
          <a:p>
            <a:pPr algn="ctr">
              <a:lnSpc>
                <a:spcPct val="110000"/>
              </a:lnSpc>
              <a:spcAft>
                <a:spcPts val="400"/>
              </a:spcAft>
            </a:pPr>
            <a:r>
              <a:rPr sz="1250" b="0">
                <a:solidFill>
                  <a:srgbClr val="1F2A3A"/>
                </a:solidFill>
                <a:latin typeface="맑은 고딕"/>
                <a:ea typeface="맑은 고딕"/>
                <a:cs typeface="맑은 고딕"/>
              </a:rPr>
              <a:t>승인된 조치대로</a:t>
            </a:r>
          </a:p>
          <a:p>
            <a:pPr algn="ctr">
              <a:lnSpc>
                <a:spcPct val="110000"/>
              </a:lnSpc>
              <a:spcAft>
                <a:spcPts val="400"/>
              </a:spcAft>
            </a:pPr>
            <a:r>
              <a:rPr sz="1250" b="0">
                <a:solidFill>
                  <a:srgbClr val="1F2A3A"/>
                </a:solidFill>
                <a:latin typeface="맑은 고딕"/>
                <a:ea typeface="맑은 고딕"/>
                <a:cs typeface="맑은 고딕"/>
              </a:rPr>
              <a:t>PLC에 명령을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35911"/>
            <a:ext cx="1911644" cy="33108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8791"/>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672410"/>
            <a:ext cx="424281" cy="424281"/>
          </a:xfrm>
          <a:prstGeom prst="rect">
            <a:avLst/>
          </a:prstGeom>
        </p:spPr>
      </p:pic>
      <p:sp>
        <p:nvSpPr>
          <p:cNvPr id="19" name="TextBox 18"/>
          <p:cNvSpPr txBox="1"/>
          <p:nvPr/>
        </p:nvSpPr>
        <p:spPr>
          <a:xfrm>
            <a:off x="5213177"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유온이 55 ℃ 미만으로</a:t>
            </a:r>
          </a:p>
          <a:p>
            <a:pPr algn="ctr">
              <a:lnSpc>
                <a:spcPct val="110000"/>
              </a:lnSpc>
              <a:spcAft>
                <a:spcPts val="400"/>
              </a:spcAft>
            </a:pPr>
            <a:r>
              <a:rPr sz="1250" b="0">
                <a:solidFill>
                  <a:srgbClr val="1F2A3A"/>
                </a:solidFill>
                <a:latin typeface="맑은 고딕"/>
                <a:ea typeface="맑은 고딕"/>
                <a:cs typeface="맑은 고딕"/>
              </a:rPr>
              <a:t>회복했는지 판정한다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35911"/>
            <a:ext cx="1911644" cy="33108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8791"/>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672410"/>
            <a:ext cx="424281" cy="424281"/>
          </a:xfrm>
          <a:prstGeom prst="rect">
            <a:avLst/>
          </a:prstGeom>
        </p:spPr>
      </p:pic>
      <p:sp>
        <p:nvSpPr>
          <p:cNvPr id="24" name="TextBox 23"/>
          <p:cNvSpPr txBox="1"/>
          <p:nvPr/>
        </p:nvSpPr>
        <p:spPr>
          <a:xfrm>
            <a:off x="7508869"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 등록</a:t>
            </a:r>
          </a:p>
          <a:p>
            <a:pPr algn="ctr">
              <a:lnSpc>
                <a:spcPct val="110000"/>
              </a:lnSpc>
              <a:spcAft>
                <a:spcPts val="400"/>
              </a:spcAft>
            </a:pPr>
            <a:r>
              <a:rPr sz="1250" b="0">
                <a:solidFill>
                  <a:srgbClr val="1F2A3A"/>
                </a:solidFill>
                <a:latin typeface="맑은 고딕"/>
                <a:ea typeface="맑은 고딕"/>
                <a:cs typeface="맑은 고딕"/>
              </a:rPr>
              <a:t>CMMS</a:t>
            </a:r>
          </a:p>
          <a:p>
            <a:pPr algn="ctr">
              <a:lnSpc>
                <a:spcPct val="110000"/>
              </a:lnSpc>
              <a:spcAft>
                <a:spcPts val="400"/>
              </a:spcAft>
            </a:pPr>
            <a:r>
              <a:rPr sz="1250" b="0">
                <a:solidFill>
                  <a:srgbClr val="1F2A3A"/>
                </a:solidFill>
                <a:latin typeface="맑은 고딕"/>
                <a:ea typeface="맑은 고딕"/>
                <a:cs typeface="맑은 고딕"/>
              </a:rPr>
              <a:t>Computerized Maintenance</a:t>
            </a:r>
          </a:p>
          <a:p>
            <a:pPr algn="ctr">
              <a:lnSpc>
                <a:spcPct val="110000"/>
              </a:lnSpc>
              <a:spcAft>
                <a:spcPts val="400"/>
              </a:spcAft>
            </a:pPr>
            <a:r>
              <a:rPr sz="1250" b="0">
                <a:solidFill>
                  <a:srgbClr val="1F2A3A"/>
                </a:solidFill>
                <a:latin typeface="맑은 고딕"/>
                <a:ea typeface="맑은 고딕"/>
                <a:cs typeface="맑은 고딕"/>
              </a:rPr>
              <a:t>Management System</a:t>
            </a:r>
          </a:p>
          <a:p>
            <a:pPr algn="ctr">
              <a:lnSpc>
                <a:spcPct val="110000"/>
              </a:lnSpc>
              <a:spcAft>
                <a:spcPts val="400"/>
              </a:spcAft>
            </a:pPr>
            <a:r>
              <a:rPr sz="1250" b="0">
                <a:solidFill>
                  <a:srgbClr val="1F2A3A"/>
                </a:solidFill>
                <a:latin typeface="맑은 고딕"/>
                <a:ea typeface="맑은 고딕"/>
                <a:cs typeface="맑은 고딕"/>
              </a:rPr>
              <a:t>정비를 작업지시로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35911"/>
            <a:ext cx="1911644" cy="33108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518791"/>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72410"/>
            <a:ext cx="424281" cy="424281"/>
          </a:xfrm>
          <a:prstGeom prst="rect">
            <a:avLst/>
          </a:prstGeom>
        </p:spPr>
      </p:pic>
      <p:sp>
        <p:nvSpPr>
          <p:cNvPr id="29" name="TextBox 28"/>
          <p:cNvSpPr txBox="1"/>
          <p:nvPr/>
        </p:nvSpPr>
        <p:spPr>
          <a:xfrm>
            <a:off x="980456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처리한 내용과</a:t>
            </a:r>
          </a:p>
          <a:p>
            <a:pPr algn="ctr">
              <a:lnSpc>
                <a:spcPct val="110000"/>
              </a:lnSpc>
              <a:spcAft>
                <a:spcPts val="400"/>
              </a:spcAft>
            </a:pPr>
            <a:r>
              <a:rPr sz="1250" b="0">
                <a:solidFill>
                  <a:srgbClr val="1F2A3A"/>
                </a:solidFill>
                <a:latin typeface="맑은 고딕"/>
                <a:ea typeface="맑은 고딕"/>
                <a:cs typeface="맑은 고딕"/>
              </a:rPr>
              <a:t>결과를 정리해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일과 일 사이를 이어 주는 것이 없으면 추천안은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멈춘다</a:t>
            </a:r>
          </a:p>
          <a:p>
            <a:pPr algn="l">
              <a:lnSpc>
                <a:spcPct val="110000"/>
              </a:lnSpc>
              <a:spcAft>
                <a:spcPts val="400"/>
              </a:spcAft>
            </a:pPr>
            <a:r>
              <a:rPr sz="1400" b="0">
                <a:solidFill>
                  <a:srgbClr val="1F2A3A"/>
                </a:solidFill>
                <a:latin typeface="맑은 고딕"/>
                <a:ea typeface="맑은 고딕"/>
                <a:cs typeface="맑은 고딕"/>
              </a:rPr>
              <a:t>• 추천안이 나와도 승인을 요청받은 사람이 없다</a:t>
            </a:r>
          </a:p>
          <a:p>
            <a:pPr algn="l">
              <a:lnSpc>
                <a:spcPct val="110000"/>
              </a:lnSpc>
              <a:spcAft>
                <a:spcPts val="400"/>
              </a:spcAft>
            </a:pPr>
            <a:r>
              <a:rPr sz="1400" b="0">
                <a:solidFill>
                  <a:srgbClr val="1F2A3A"/>
                </a:solidFill>
                <a:latin typeface="맑은 고딕"/>
                <a:ea typeface="맑은 고딕"/>
                <a:cs typeface="맑은 고딕"/>
              </a:rPr>
              <a:t>• 재관측은 누군가 기억하고 있어야 이루어진다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흩어진다</a:t>
            </a:r>
          </a:p>
          <a:p>
            <a:pPr algn="l">
              <a:lnSpc>
                <a:spcPct val="110000"/>
              </a:lnSpc>
              <a:spcAft>
                <a:spcPts val="400"/>
              </a:spcAft>
            </a:pPr>
            <a:r>
              <a:rPr sz="1400" b="0">
                <a:solidFill>
                  <a:srgbClr val="1F2A3A"/>
                </a:solidFill>
                <a:latin typeface="맑은 고딕"/>
                <a:ea typeface="맑은 고딕"/>
                <a:cs typeface="맑은 고딕"/>
              </a:rPr>
              <a:t>승인을 누가 하는지, 응답이 없으면 어떻게 되는지가 정해져 있지 않다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남은일_종단.svg" descr="illust_775184909204594247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
        <p:nvSpPr>
          <p:cNvPr id="17" name="TextBox 16"/>
          <p:cNvSpPr txBox="1"/>
          <p:nvPr/>
        </p:nvSpPr>
        <p:spPr>
          <a:xfrm>
            <a:off x="7186797" y="1769455"/>
            <a:ext cx="392741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이 기록의 처리 건</a:t>
            </a:r>
          </a:p>
          <a:p>
            <a:pPr algn="ctr">
              <a:lnSpc>
                <a:spcPct val="110000"/>
              </a:lnSpc>
              <a:spcAft>
                <a:spcPts val="100"/>
              </a:spcAft>
            </a:pPr>
            <a:r>
              <a:rPr sz="1100" b="0">
                <a:solidFill>
                  <a:srgbClr val="556175"/>
                </a:solidFill>
                <a:latin typeface="맑은 고딕"/>
                <a:ea typeface="맑은 고딕"/>
                <a:cs typeface="맑은 고딕"/>
              </a:rPr>
              <a:t>긴급 대응 프로세스가 처리한</a:t>
            </a:r>
          </a:p>
          <a:p>
            <a:pPr algn="ctr">
              <a:lnSpc>
                <a:spcPct val="110000"/>
              </a:lnSpc>
              <a:spcAft>
                <a:spcPts val="100"/>
              </a:spcAft>
            </a:pPr>
            <a:r>
              <a:rPr sz="1100" b="0">
                <a:solidFill>
                  <a:srgbClr val="556175"/>
                </a:solidFill>
                <a:latin typeface="맑은 고딕"/>
                <a:ea typeface="맑은 고딕"/>
                <a:cs typeface="맑은 고딕"/>
              </a:rPr>
              <a:t>같은 종류의 경보 한 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프로세스: 조치 하나의 절차와 업무 전체의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 하나를 수행하는 순서를 정하고, 프로세스는 경보에서 결과 보고까지 여러 주체의 작업을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조치 하나</a:t>
            </a:r>
          </a:p>
          <a:p>
            <a:pPr algn="l">
              <a:lnSpc>
                <a:spcPct val="110000"/>
              </a:lnSpc>
              <a:spcAft>
                <a:spcPts val="600"/>
              </a:spcAft>
            </a:pPr>
            <a:r>
              <a:rPr sz="1450" b="0">
                <a:solidFill>
                  <a:srgbClr val="1F2A3A"/>
                </a:solidFill>
                <a:latin typeface="맑은 고딕"/>
                <a:ea typeface="맑은 고딕"/>
                <a:cs typeface="맑은 고딕"/>
              </a:rPr>
              <a:t>• 적는 것: 수행 단계, 조건, 완료 확인 기준</a:t>
            </a:r>
          </a:p>
          <a:p>
            <a:pPr algn="l">
              <a:lnSpc>
                <a:spcPct val="110000"/>
              </a:lnSpc>
              <a:spcAft>
                <a:spcPts val="600"/>
              </a:spcAft>
            </a:pPr>
            <a:r>
              <a:rPr sz="1450" b="0">
                <a:solidFill>
                  <a:srgbClr val="1F2A3A"/>
                </a:solidFill>
                <a:latin typeface="맑은 고딕"/>
                <a:ea typeface="맑은 고딕"/>
                <a:cs typeface="맑은 고딕"/>
              </a:rPr>
              <a:t>• 예: SOP-COOL-11 팬 최대 운전의 세 단계</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시작 사건에서 최종 결과까지</a:t>
            </a:r>
          </a:p>
          <a:p>
            <a:pPr algn="l">
              <a:lnSpc>
                <a:spcPct val="110000"/>
              </a:lnSpc>
              <a:spcAft>
                <a:spcPts val="600"/>
              </a:spcAft>
            </a:pPr>
            <a:r>
              <a:rPr sz="1450" b="0">
                <a:solidFill>
                  <a:srgbClr val="1F2A3A"/>
                </a:solidFill>
                <a:latin typeface="맑은 고딕"/>
                <a:ea typeface="맑은 고딕"/>
                <a:cs typeface="맑은 고딕"/>
              </a:rPr>
              <a:t>• 적는 것: 작업의 순서, 갈림, 책임자, 끝나는 조건</a:t>
            </a:r>
          </a:p>
          <a:p>
            <a:pPr algn="l">
              <a:lnSpc>
                <a:spcPct val="110000"/>
              </a:lnSpc>
              <a:spcAft>
                <a:spcPts val="600"/>
              </a:spcAft>
            </a:pPr>
            <a:r>
              <a:rPr sz="14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프로세스를 정의하는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정의하는 일은 시작 조건, 입력, 출력, 책임자, 완료 조건의 다섯 가지를 실행 전에 정해 두는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 이벤트에 닿는다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COOLER_DEGRADATION인</a:t>
            </a:r>
          </a:p>
          <a:p>
            <a:pPr algn="l">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alertId</a:t>
            </a:r>
          </a:p>
          <a:p>
            <a:pPr algn="l">
              <a:lnSpc>
                <a:spcPct val="110000"/>
              </a:lnSpc>
              <a:spcAft>
                <a:spcPts val="400"/>
              </a:spcAft>
            </a:pPr>
            <a:r>
              <a:rPr sz="1400" b="0">
                <a:solidFill>
                  <a:srgbClr val="1F2A3A"/>
                </a:solidFill>
                <a:latin typeface="맑은 고딕"/>
                <a:ea typeface="맑은 고딕"/>
                <a:cs typeface="맑은 고딕"/>
              </a:rPr>
              <a:t>설비와 경보의 식별자가</a:t>
            </a:r>
          </a:p>
          <a:p>
            <a:pPr algn="l">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경보에 한 건</a:t>
            </a:r>
          </a:p>
          <a:p>
            <a:pPr algn="l">
              <a:lnSpc>
                <a:spcPct val="110000"/>
              </a:lnSpc>
              <a:spcAft>
                <a:spcPts val="400"/>
              </a:spcAft>
            </a:pPr>
            <a:r>
              <a:rPr sz="1400" b="0">
                <a:solidFill>
                  <a:srgbClr val="1F2A3A"/>
                </a:solidFill>
                <a:latin typeface="맑은 고딕"/>
                <a:ea typeface="맑은 고딕"/>
                <a:cs typeface="맑은 고딕"/>
              </a:rPr>
              <a:t>같은 경보로 처리 건이</a:t>
            </a:r>
          </a:p>
          <a:p>
            <a:pPr algn="l">
              <a:lnSpc>
                <a:spcPct val="110000"/>
              </a:lnSpc>
              <a:spcAft>
                <a:spcPts val="400"/>
              </a:spcAft>
            </a:pPr>
            <a:r>
              <a:rPr sz="1400" b="0">
                <a:solidFill>
                  <a:srgbClr val="1F2A3A"/>
                </a:solidFill>
                <a:latin typeface="맑은 고딕"/>
                <a:ea typeface="맑은 고딕"/>
                <a:cs typeface="맑은 고딕"/>
              </a:rPr>
              <a:t>두 번 열리지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 경보 한 건</a:t>
            </a:r>
          </a:p>
          <a:p>
            <a:pPr algn="l">
              <a:lnSpc>
                <a:spcPct val="110000"/>
              </a:lnSpc>
              <a:spcAft>
                <a:spcPts val="400"/>
              </a:spcAft>
            </a:pPr>
            <a:r>
              <a:rPr sz="1400" b="0">
                <a:solidFill>
                  <a:srgbClr val="1F2A3A"/>
                </a:solidFill>
                <a:latin typeface="맑은 고딕"/>
                <a:ea typeface="맑은 고딕"/>
                <a:cs typeface="맑은 고딕"/>
              </a:rPr>
              <a:t>긴급 대응 프로세스가 처리한</a:t>
            </a:r>
          </a:p>
          <a:p>
            <a:pPr algn="l">
              <a:lnSpc>
                <a:spcPct val="110000"/>
              </a:lnSpc>
              <a:spcAft>
                <a:spcPts val="400"/>
              </a:spcAft>
            </a:pPr>
            <a:r>
              <a:rPr sz="1400" b="0">
                <a:solidFill>
                  <a:srgbClr val="1F2A3A"/>
                </a:solidFill>
                <a:latin typeface="맑은 고딕"/>
                <a:ea typeface="맑은 고딕"/>
                <a:cs typeface="맑은 고딕"/>
              </a:rPr>
              <a:t>같은 종류의 경보 한 건이다.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 진단 · 조치 제안</a:t>
            </a:r>
          </a:p>
          <a:p>
            <a:pPr algn="ctr">
              <a:lnSpc>
                <a:spcPct val="110000"/>
              </a:lnSpc>
              <a:spcAft>
                <a:spcPts val="400"/>
              </a:spcAft>
            </a:pPr>
            <a:r>
              <a:rPr sz="1350" b="0">
                <a:solidFill>
                  <a:srgbClr val="1F2A3A"/>
                </a:solidFill>
                <a:latin typeface="맑은 고딕"/>
                <a:ea typeface="맑은 고딕"/>
                <a:cs typeface="맑은 고딕"/>
              </a:rPr>
              <a:t>받는 것: 경보</a:t>
            </a:r>
          </a:p>
          <a:p>
            <a:pPr algn="ctr">
              <a:lnSpc>
                <a:spcPct val="110000"/>
              </a:lnSpc>
              <a:spcAft>
                <a:spcPts val="400"/>
              </a:spcAft>
            </a:pPr>
            <a:r>
              <a:rPr sz="1350" b="0">
                <a:solidFill>
                  <a:srgbClr val="1F2A3A"/>
                </a:solidFill>
                <a:latin typeface="맑은 고딕"/>
                <a:ea typeface="맑은 고딕"/>
                <a:cs typeface="맑은 고딕"/>
              </a:rPr>
              <a:t>내는 것: 원인과 추천안</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운전원 승인</a:t>
            </a:r>
          </a:p>
          <a:p>
            <a:pPr algn="ctr">
              <a:lnSpc>
                <a:spcPct val="110000"/>
              </a:lnSpc>
              <a:spcAft>
                <a:spcPts val="400"/>
              </a:spcAft>
            </a:pPr>
            <a:r>
              <a:rPr sz="1350" b="0">
                <a:solidFill>
                  <a:srgbClr val="1F2A3A"/>
                </a:solidFill>
                <a:latin typeface="맑은 고딕"/>
                <a:ea typeface="맑은 고딕"/>
                <a:cs typeface="맑은 고딕"/>
              </a:rPr>
              <a:t>받는 것: 추천안</a:t>
            </a:r>
          </a:p>
          <a:p>
            <a:pPr algn="ctr">
              <a:lnSpc>
                <a:spcPct val="110000"/>
              </a:lnSpc>
              <a:spcAft>
                <a:spcPts val="400"/>
              </a:spcAft>
            </a:pPr>
            <a:r>
              <a:rPr sz="135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냉각 명령</a:t>
            </a:r>
          </a:p>
          <a:p>
            <a:pPr algn="ctr">
              <a:lnSpc>
                <a:spcPct val="110000"/>
              </a:lnSpc>
              <a:spcAft>
                <a:spcPts val="400"/>
              </a:spcAft>
            </a:pPr>
            <a:r>
              <a:rPr sz="1350" b="0">
                <a:solidFill>
                  <a:srgbClr val="1F2A3A"/>
                </a:solidFill>
                <a:latin typeface="맑은 고딕"/>
                <a:ea typeface="맑은 고딕"/>
                <a:cs typeface="맑은 고딕"/>
              </a:rPr>
              <a:t>받는 것: 승인된 조치</a:t>
            </a:r>
          </a:p>
          <a:p>
            <a:pPr algn="ctr">
              <a:lnSpc>
                <a:spcPct val="110000"/>
              </a:lnSpc>
              <a:spcAft>
                <a:spcPts val="400"/>
              </a:spcAft>
            </a:pPr>
            <a:r>
              <a:rPr sz="135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재관측</a:t>
            </a:r>
          </a:p>
          <a:p>
            <a:pPr algn="ctr">
              <a:lnSpc>
                <a:spcPct val="110000"/>
              </a:lnSpc>
              <a:spcAft>
                <a:spcPts val="400"/>
              </a:spcAft>
            </a:pPr>
            <a:r>
              <a:rPr sz="1350" b="0">
                <a:solidFill>
                  <a:srgbClr val="1F2A3A"/>
                </a:solidFill>
                <a:latin typeface="맑은 고딕"/>
                <a:ea typeface="맑은 고딕"/>
                <a:cs typeface="맑은 고딕"/>
              </a:rPr>
              <a:t>받는 것: 명령의 완료</a:t>
            </a:r>
          </a:p>
          <a:p>
            <a:pPr algn="ctr">
              <a:lnSpc>
                <a:spcPct val="110000"/>
              </a:lnSpc>
              <a:spcAft>
                <a:spcPts val="400"/>
              </a:spcAft>
            </a:pPr>
            <a:r>
              <a:rPr sz="1350" b="0">
                <a:solidFill>
                  <a:srgbClr val="1F2A3A"/>
                </a:solidFill>
                <a:latin typeface="맑은 고딕"/>
                <a:ea typeface="맑은 고딕"/>
                <a:cs typeface="맑은 고딕"/>
              </a:rPr>
              <a:t>내는 것: 회복 여부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책임자는 사람의 이름이 아니라 역할로 정하며, 사람뿐 아니라 에이전트와 시스템도 작업의 책임자가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역할로 정한다</a:t>
            </a:r>
          </a:p>
          <a:p>
            <a:pPr algn="l">
              <a:lnSpc>
                <a:spcPct val="110000"/>
              </a:lnSpc>
              <a:spcAft>
                <a:spcPts val="400"/>
              </a:spcAft>
            </a:pPr>
            <a:r>
              <a:rPr sz="1400" b="0">
                <a:solidFill>
                  <a:srgbClr val="1F2A3A"/>
                </a:solidFill>
                <a:latin typeface="맑은 고딕"/>
                <a:ea typeface="맑은 고딕"/>
                <a:cs typeface="맑은 고딕"/>
              </a:rPr>
              <a:t>• 책임자를 사람의 이름이 아니라 운전원 같은 역할로 적는다</a:t>
            </a:r>
          </a:p>
          <a:p>
            <a:pPr algn="l">
              <a:lnSpc>
                <a:spcPct val="110000"/>
              </a:lnSpc>
              <a:spcAft>
                <a:spcPts val="400"/>
              </a:spcAft>
            </a:pPr>
            <a:r>
              <a:rPr sz="1400" b="0">
                <a:solidFill>
                  <a:srgbClr val="1F2A3A"/>
                </a:solidFill>
                <a:latin typeface="맑은 고딕"/>
                <a:ea typeface="맑은 고딕"/>
                <a:cs typeface="맑은 고딕"/>
              </a:rPr>
              <a:t>• 근무자가 바뀌어도 프로세스는 그대로 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사람만이 아니다</a:t>
            </a:r>
          </a:p>
          <a:p>
            <a:pPr algn="l">
              <a:lnSpc>
                <a:spcPct val="110000"/>
              </a:lnSpc>
              <a:spcAft>
                <a:spcPts val="400"/>
              </a:spcAft>
            </a:pPr>
            <a:r>
              <a:rPr sz="1400" b="0">
                <a:solidFill>
                  <a:srgbClr val="1F2A3A"/>
                </a:solidFill>
                <a:latin typeface="맑은 고딕"/>
                <a:ea typeface="맑은 고딕"/>
                <a:cs typeface="맑은 고딕"/>
              </a:rPr>
              <a:t>• 에이전트와 시스템도 작업을 맡는 책임자이다</a:t>
            </a:r>
          </a:p>
          <a:p>
            <a:pPr algn="l">
              <a:lnSpc>
                <a:spcPct val="110000"/>
              </a:lnSpc>
              <a:spcAft>
                <a:spcPts val="400"/>
              </a:spcAft>
            </a:pPr>
            <a:r>
              <a:rPr sz="1400" b="0">
                <a:solidFill>
                  <a:srgbClr val="1F2A3A"/>
                </a:solidFill>
                <a:latin typeface="맑은 고딕"/>
                <a:ea typeface="맑은 고딕"/>
                <a:cs typeface="맑은 고딕"/>
              </a:rPr>
              <a:t>• 판단, 결정, 실행이 서로 다른 쪽에 놓인다</a:t>
            </a:r>
          </a:p>
        </p:txBody>
      </p:sp>
      <p:sp>
        <p:nvSpPr>
          <p:cNvPr id="16" name="Rounded Rectangle 15"/>
          <p:cNvSpPr/>
          <p:nvPr/>
        </p:nvSpPr>
        <p:spPr>
          <a:xfrm>
            <a:off x="4566818" y="5149850"/>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작업마다 하나</a:t>
            </a:r>
          </a:p>
          <a:p>
            <a:pPr algn="l">
              <a:lnSpc>
                <a:spcPct val="110000"/>
              </a:lnSpc>
              <a:spcAft>
                <a:spcPts val="400"/>
              </a:spcAft>
            </a:pPr>
            <a:r>
              <a:rPr sz="1400" b="0">
                <a:solidFill>
                  <a:srgbClr val="1F2A3A"/>
                </a:solidFill>
                <a:latin typeface="맑은 고딕"/>
                <a:ea typeface="맑은 고딕"/>
                <a:cs typeface="맑은 고딕"/>
              </a:rPr>
              <a:t>작업마다 맡는 쪽이 하나로 정해져 있어 지금 누구의 차례인지가 분명하다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추천안만으로는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프로세스 노드: 설비 이상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그래프에는 프로세스도 노드로 등록되어 전략 목표에 이어져 있어, 업무가 무엇을 위해 있는지를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설비 이상 조치</a:t>
            </a:r>
          </a:p>
          <a:p>
            <a:pPr algn="ctr">
              <a:lnSpc>
                <a:spcPct val="110000"/>
              </a:lnSpc>
            </a:pPr>
            <a:r>
              <a:rPr sz="1100" b="0">
                <a:solidFill>
                  <a:srgbClr val="556175"/>
                </a:solidFill>
                <a:latin typeface="맑은 고딕"/>
                <a:ea typeface="맑은 고딕"/>
                <a:cs typeface="맑은 고딕"/>
              </a:rPr>
              <a:t>프로세스</a:t>
            </a:r>
          </a:p>
          <a:p>
            <a:pPr algn="ctr">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설비 가용성 확보</a:t>
            </a:r>
          </a:p>
          <a:p>
            <a:pPr algn="ctr">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무재해 운전</a:t>
            </a:r>
          </a:p>
          <a:p>
            <a:pPr algn="ctr">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납기 신뢰</a:t>
            </a:r>
          </a:p>
          <a:p>
            <a:pPr algn="ctr">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BPM은 분석, 설계, 실행, 모니터링, 개선의 다섯 단계를 되풀이하며, 개선의 결과는 다음 분석의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BPM주기.svg" descr="illust_20202416885226733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분석</a:t>
            </a:r>
          </a:p>
          <a:p>
            <a:pPr algn="ctr">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설계</a:t>
            </a:r>
          </a:p>
          <a:p>
            <a:pPr algn="ctr">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a:t>
            </a:r>
          </a:p>
          <a:p>
            <a:pPr algn="ctr">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모니터링</a:t>
            </a:r>
          </a:p>
          <a:p>
            <a:pPr algn="ctr">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개선</a:t>
            </a:r>
          </a:p>
          <a:p>
            <a:pPr algn="ctr">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단계의 일은 이 과정에서 프로세스를 그리고, 등록해 실행하고, 처리 건을 지켜보는 활동에 대응한다.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업무를 읽어 시작 조건, 책임자, 완료 조건을 가려낸다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경보 대응 업무의 정리</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 그리기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등록과 배포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건마다 단계의 담당, 대기,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 추적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 판본의 등록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현재와목표.svg" descr="illust_78140012647897041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AS-IS</a:t>
            </a:r>
          </a:p>
          <a:p>
            <a:pPr algn="ctr">
              <a:lnSpc>
                <a:spcPct val="110000"/>
              </a:lnSpc>
              <a:spcAft>
                <a:spcPts val="100"/>
              </a:spcAft>
            </a:pPr>
            <a:r>
              <a:rPr sz="1300" b="0">
                <a:solidFill>
                  <a:srgbClr val="556175"/>
                </a:solidFill>
                <a:latin typeface="맑은 고딕"/>
                <a:ea typeface="맑은 고딕"/>
                <a:cs typeface="맑은 고딕"/>
              </a:rPr>
              <a:t>지금의 방식</a:t>
            </a:r>
          </a:p>
          <a:p>
            <a:pPr algn="ctr">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TO-BE</a:t>
            </a:r>
          </a:p>
          <a:p>
            <a:pPr algn="ctr">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경보를 본 운전원이 전화로 담당을 찾는다</a:t>
            </a:r>
          </a:p>
          <a:p>
            <a:pPr algn="l">
              <a:lnSpc>
                <a:spcPct val="110000"/>
              </a:lnSpc>
              <a:spcAft>
                <a:spcPts val="600"/>
              </a:spcAft>
            </a:pPr>
            <a:r>
              <a:rPr sz="1450" b="0">
                <a:solidFill>
                  <a:srgbClr val="1F2A3A"/>
                </a:solidFill>
                <a:latin typeface="맑은 고딕"/>
                <a:ea typeface="맑은 고딕"/>
                <a:cs typeface="맑은 고딕"/>
              </a:rPr>
              <a:t>• 조치 뒤의 확인은 각자 기억해서 한다</a:t>
            </a:r>
          </a:p>
          <a:p>
            <a:pPr algn="l">
              <a:lnSpc>
                <a:spcPct val="110000"/>
              </a:lnSpc>
              <a:spcAft>
                <a:spcPts val="600"/>
              </a:spcAft>
            </a:pPr>
            <a:r>
              <a:rPr sz="14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경보가 오면 추천안이 승인 작업으로 운전원에게 놓인다</a:t>
            </a:r>
          </a:p>
          <a:p>
            <a:pPr algn="l">
              <a:lnSpc>
                <a:spcPct val="110000"/>
              </a:lnSpc>
              <a:spcAft>
                <a:spcPts val="600"/>
              </a:spcAft>
            </a:pPr>
            <a:r>
              <a:rPr sz="1450" b="0">
                <a:solidFill>
                  <a:srgbClr val="1F2A3A"/>
                </a:solidFill>
                <a:latin typeface="맑은 고딕"/>
                <a:ea typeface="맑은 고딕"/>
                <a:cs typeface="맑은 고딕"/>
              </a:rPr>
              <a:t>• 승인 뒤의 명령과 재관측은 정해진 순서로 열린다</a:t>
            </a:r>
          </a:p>
          <a:p>
            <a:pPr algn="l">
              <a:lnSpc>
                <a:spcPct val="110000"/>
              </a:lnSpc>
              <a:spcAft>
                <a:spcPts val="600"/>
              </a:spcAft>
            </a:pPr>
            <a:r>
              <a:rPr sz="14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추천에서 끝난 업무까지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프로세스는 시작 조건에서 완료 조건까지를 미리 정해 둔 것이고, BPM은 그 정의를 실행 결과에 비추어 고쳐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여러 주체의 작업을 시작 사건에서 최종 결과까지 잇는다</a:t>
            </a:r>
          </a:p>
        </p:txBody>
      </p:sp>
      <p:sp>
        <p:nvSpPr>
          <p:cNvPr id="10" name="Rounded Rectangle 9"/>
          <p:cNvSpPr/>
          <p:nvPr/>
        </p:nvSpPr>
        <p:spPr>
          <a:xfrm>
            <a:off x="777240" y="4932934"/>
            <a:ext cx="1188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188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End-to-End</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다섯 가지</a:t>
            </a:r>
          </a:p>
          <a:p>
            <a:pPr algn="l">
              <a:lnSpc>
                <a:spcPct val="110000"/>
              </a:lnSpc>
              <a:spcAft>
                <a:spcPts val="400"/>
              </a:spcAft>
            </a:pPr>
            <a:r>
              <a:rPr sz="1400" b="0">
                <a:solidFill>
                  <a:srgbClr val="1F2A3A"/>
                </a:solidFill>
                <a:latin typeface="맑은 고딕"/>
                <a:ea typeface="맑은 고딕"/>
                <a:cs typeface="맑은 고딕"/>
              </a:rPr>
              <a:t>시작 조건, 입력, 출력, 책임자, 완료 조건을 실행 전에 정한다</a:t>
            </a:r>
          </a:p>
        </p:txBody>
      </p:sp>
      <p:sp>
        <p:nvSpPr>
          <p:cNvPr id="16" name="Rounded Rectangle 15"/>
          <p:cNvSpPr/>
          <p:nvPr/>
        </p:nvSpPr>
        <p:spPr>
          <a:xfrm>
            <a:off x="4566818" y="4932934"/>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a:t>
            </a:r>
          </a:p>
          <a:p>
            <a:pPr algn="l">
              <a:lnSpc>
                <a:spcPct val="110000"/>
              </a:lnSpc>
              <a:spcAft>
                <a:spcPts val="400"/>
              </a:spcAft>
            </a:pPr>
            <a:r>
              <a:rPr sz="1400" b="0">
                <a:solidFill>
                  <a:srgbClr val="1F2A3A"/>
                </a:solidFill>
                <a:latin typeface="맑은 고딕"/>
                <a:ea typeface="맑은 고딕"/>
                <a:cs typeface="맑은 고딕"/>
              </a:rPr>
              <a:t>분석, 설계, 실행, 모니터링, 개선으로 프로세스를 고쳐 간다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BPMN의 도형은 일어나는 일을 나타내는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요소묶음.svg" descr="illust_814022089071694701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흐름 객체</a:t>
            </a:r>
          </a:p>
          <a:p>
            <a:pPr algn="ctr">
              <a:lnSpc>
                <a:spcPct val="110000"/>
              </a:lnSpc>
              <a:spcAft>
                <a:spcPts val="100"/>
              </a:spcAft>
            </a:pPr>
            <a:r>
              <a:rPr sz="1300" b="0">
                <a:solidFill>
                  <a:srgbClr val="556175"/>
                </a:solidFill>
                <a:latin typeface="맑은 고딕"/>
                <a:ea typeface="맑은 고딕"/>
                <a:cs typeface="맑은 고딕"/>
              </a:rPr>
              <a:t>일어나는 일</a:t>
            </a:r>
          </a:p>
        </p:txBody>
      </p:sp>
      <p:sp>
        <p:nvSpPr>
          <p:cNvPr id="8" name="TextBox 7"/>
          <p:cNvSpPr txBox="1"/>
          <p:nvPr/>
        </p:nvSpPr>
        <p:spPr>
          <a:xfrm>
            <a:off x="5354001" y="2384023"/>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연결 객체</a:t>
            </a:r>
          </a:p>
          <a:p>
            <a:pPr algn="ctr">
              <a:lnSpc>
                <a:spcPct val="110000"/>
              </a:lnSpc>
              <a:spcAft>
                <a:spcPts val="100"/>
              </a:spcAft>
            </a:pPr>
            <a:r>
              <a:rPr sz="1300" b="0">
                <a:solidFill>
                  <a:srgbClr val="556175"/>
                </a:solidFill>
                <a:latin typeface="맑은 고딕"/>
                <a:ea typeface="맑은 고딕"/>
                <a:cs typeface="맑은 고딕"/>
              </a:rPr>
              <a:t>잇는 선</a:t>
            </a:r>
          </a:p>
        </p:txBody>
      </p:sp>
      <p:sp>
        <p:nvSpPr>
          <p:cNvPr id="9" name="TextBox 8"/>
          <p:cNvSpPr txBox="1"/>
          <p:nvPr/>
        </p:nvSpPr>
        <p:spPr>
          <a:xfrm>
            <a:off x="8321384" y="2384023"/>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스윔레인</a:t>
            </a:r>
          </a:p>
          <a:p>
            <a:pPr algn="ctr">
              <a:lnSpc>
                <a:spcPct val="110000"/>
              </a:lnSpc>
              <a:spcAft>
                <a:spcPts val="100"/>
              </a:spcAft>
            </a:pPr>
            <a:r>
              <a:rPr sz="1300" b="0">
                <a:solidFill>
                  <a:srgbClr val="556175"/>
                </a:solidFill>
                <a:latin typeface="맑은 고딕"/>
                <a:ea typeface="맑은 고딕"/>
                <a:cs typeface="맑은 고딕"/>
              </a:rPr>
              <a:t>맡는 쪽</a:t>
            </a:r>
          </a:p>
        </p:txBody>
      </p:sp>
      <p:sp>
        <p:nvSpPr>
          <p:cNvPr id="10" name="TextBox 9"/>
          <p:cNvSpPr txBox="1"/>
          <p:nvPr/>
        </p:nvSpPr>
        <p:spPr>
          <a:xfrm>
            <a:off x="957475"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흐름_전체.svg" descr="illust_654141769453186720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이벤트.svg" descr="illust_202624787285976859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작업종류.svg" descr="illust_396545702858154534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게이트웨이.svg" descr="illust_522061082605371019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풀과레인.svg" descr="illust_857064090248563428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메시지흐름.svg" descr="illust_139106100147514739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403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흐름</a:t>
            </a:r>
          </a:p>
          <a:p>
            <a:pPr algn="ctr">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경계타이머.svg" descr="illust_518017633849222654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승인자리.svg" descr="illust_576854098847989276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커지면 여러 작업을 함께 여는 병렬 게이트웨이와 흐름을 작업 하나로 접는 하위 프로세스가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병렬과하위.svg" descr="illust_406051534919661517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병렬 게이트웨이</a:t>
            </a:r>
          </a:p>
          <a:p>
            <a:pPr algn="ctr">
              <a:lnSpc>
                <a:spcPct val="110000"/>
              </a:lnSpc>
              <a:spcAft>
                <a:spcPts val="100"/>
              </a:spcAft>
            </a:pPr>
            <a:r>
              <a:rPr sz="1300" b="0">
                <a:solidFill>
                  <a:srgbClr val="556175"/>
                </a:solidFill>
                <a:latin typeface="맑은 고딕"/>
                <a:ea typeface="맑은 고딕"/>
                <a:cs typeface="맑은 고딕"/>
              </a:rPr>
              <a:t>Parallel Gateway · 모든 갈래로 함께 보낸다</a:t>
            </a:r>
          </a:p>
        </p:txBody>
      </p:sp>
      <p:sp>
        <p:nvSpPr>
          <p:cNvPr id="8" name="TextBox 7"/>
          <p:cNvSpPr txBox="1"/>
          <p:nvPr/>
        </p:nvSpPr>
        <p:spPr>
          <a:xfrm>
            <a:off x="6641322" y="2313111"/>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하위 프로세스</a:t>
            </a:r>
          </a:p>
          <a:p>
            <a:pPr algn="ctr">
              <a:lnSpc>
                <a:spcPct val="110000"/>
              </a:lnSpc>
              <a:spcAft>
                <a:spcPts val="100"/>
              </a:spcAft>
            </a:pPr>
            <a:r>
              <a:rPr sz="1300" b="0">
                <a:solidFill>
                  <a:srgbClr val="556175"/>
                </a:solidFill>
                <a:latin typeface="맑은 고딕"/>
                <a:ea typeface="맑은 고딕"/>
                <a:cs typeface="맑은 고딕"/>
              </a:rPr>
              <a:t>Sub-Process · 흐름을 작업 하나로 접는다</a:t>
            </a:r>
          </a:p>
        </p:txBody>
      </p:sp>
      <p:sp>
        <p:nvSpPr>
          <p:cNvPr id="9" name="TextBox 8"/>
          <p:cNvSpPr txBox="1"/>
          <p:nvPr/>
        </p:nvSpPr>
        <p:spPr>
          <a:xfrm>
            <a:off x="990203" y="5693237"/>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모든 갈래가 끝나면 합쳐져 다음으로 간다</a:t>
            </a:r>
          </a:p>
        </p:txBody>
      </p:sp>
      <p:sp>
        <p:nvSpPr>
          <p:cNvPr id="10" name="TextBox 9"/>
          <p:cNvSpPr txBox="1"/>
          <p:nvPr/>
        </p:nvSpPr>
        <p:spPr>
          <a:xfrm>
            <a:off x="9259601" y="332951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BPMN 그림을 읽는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레인에서 맡는 쪽을, 시작 이벤트에서 계기를, 게이트웨이에서 갈림을, 끝 이벤트에서 결말을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레인</a:t>
            </a:r>
          </a:p>
          <a:p>
            <a:pPr algn="ctr">
              <a:lnSpc>
                <a:spcPct val="110000"/>
              </a:lnSpc>
              <a:spcAft>
                <a:spcPts val="400"/>
              </a:spcAft>
            </a:pPr>
            <a:r>
              <a:rPr sz="1350" b="0">
                <a:solidFill>
                  <a:srgbClr val="1F2A3A"/>
                </a:solidFill>
                <a:latin typeface="맑은 고딕"/>
                <a:ea typeface="맑은 고딕"/>
                <a:cs typeface="맑은 고딕"/>
              </a:rPr>
              <a:t>누가 참여하는가</a:t>
            </a:r>
          </a:p>
          <a:p>
            <a:pPr algn="ctr">
              <a:lnSpc>
                <a:spcPct val="110000"/>
              </a:lnSpc>
              <a:spcAft>
                <a:spcPts val="400"/>
              </a:spcAft>
            </a:pPr>
            <a:r>
              <a:rPr sz="1350" b="0">
                <a:solidFill>
                  <a:srgbClr val="1F2A3A"/>
                </a:solidFill>
                <a:latin typeface="맑은 고딕"/>
                <a:ea typeface="맑은 고딕"/>
                <a:cs typeface="맑은 고딕"/>
              </a:rPr>
              <a:t>담당자, 에이전트, 시스템</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mail" descr="mail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 이벤트</a:t>
            </a:r>
          </a:p>
          <a:p>
            <a:pPr algn="ctr">
              <a:lnSpc>
                <a:spcPct val="110000"/>
              </a:lnSpc>
              <a:spcAft>
                <a:spcPts val="400"/>
              </a:spcAft>
            </a:pPr>
            <a:r>
              <a:rPr sz="1350" b="0">
                <a:solidFill>
                  <a:srgbClr val="1F2A3A"/>
                </a:solidFill>
                <a:latin typeface="맑은 고딕"/>
                <a:ea typeface="맑은 고딕"/>
                <a:cs typeface="맑은 고딕"/>
              </a:rPr>
              <a:t>무엇이 프로세스를 여는가</a:t>
            </a:r>
          </a:p>
          <a:p>
            <a:pPr algn="ctr">
              <a:lnSpc>
                <a:spcPct val="110000"/>
              </a:lnSpc>
              <a:spcAft>
                <a:spcPts val="400"/>
              </a:spcAft>
            </a:pPr>
            <a:r>
              <a:rPr sz="1350" b="0">
                <a:solidFill>
                  <a:srgbClr val="1F2A3A"/>
                </a:solidFill>
                <a:latin typeface="맑은 고딕"/>
                <a:ea typeface="맑은 고딕"/>
                <a:cs typeface="맑은 고딕"/>
              </a:rPr>
              <a:t>쿨러 과열 경보</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작업과 게이트웨이</a:t>
            </a:r>
          </a:p>
          <a:p>
            <a:pPr algn="ctr">
              <a:lnSpc>
                <a:spcPct val="110000"/>
              </a:lnSpc>
              <a:spcAft>
                <a:spcPts val="400"/>
              </a:spcAft>
            </a:pPr>
            <a:r>
              <a:rPr sz="1350" b="0">
                <a:solidFill>
                  <a:srgbClr val="1F2A3A"/>
                </a:solidFill>
                <a:latin typeface="맑은 고딕"/>
                <a:ea typeface="맑은 고딕"/>
                <a:cs typeface="맑은 고딕"/>
              </a:rPr>
              <a:t>어떤 순서로 가고 어디서 갈리는가</a:t>
            </a:r>
          </a:p>
          <a:p>
            <a:pPr algn="ctr">
              <a:lnSpc>
                <a:spcPct val="110000"/>
              </a:lnSpc>
              <a:spcAft>
                <a:spcPts val="400"/>
              </a:spcAft>
            </a:pPr>
            <a:r>
              <a:rPr sz="1350" b="0">
                <a:solidFill>
                  <a:srgbClr val="1F2A3A"/>
                </a:solidFill>
                <a:latin typeface="맑은 고딕"/>
                <a:ea typeface="맑은 고딕"/>
                <a:cs typeface="맑은 고딕"/>
              </a:rPr>
              <a:t>승인?, 유온 정상?</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끝 이벤트</a:t>
            </a:r>
          </a:p>
          <a:p>
            <a:pPr algn="ctr">
              <a:lnSpc>
                <a:spcPct val="110000"/>
              </a:lnSpc>
              <a:spcAft>
                <a:spcPts val="400"/>
              </a:spcAft>
            </a:pPr>
            <a:r>
              <a:rPr sz="1350" b="0">
                <a:solidFill>
                  <a:srgbClr val="1F2A3A"/>
                </a:solidFill>
                <a:latin typeface="맑은 고딕"/>
                <a:ea typeface="맑은 고딕"/>
                <a:cs typeface="맑은 고딕"/>
              </a:rPr>
              <a:t>어떤 경우들로 닫히는가</a:t>
            </a:r>
          </a:p>
          <a:p>
            <a:pPr algn="ctr">
              <a:lnSpc>
                <a:spcPct val="110000"/>
              </a:lnSpc>
              <a:spcAft>
                <a:spcPts val="400"/>
              </a:spcAft>
            </a:pPr>
            <a:r>
              <a:rPr sz="1350" b="0">
                <a:solidFill>
                  <a:srgbClr val="1F2A3A"/>
                </a:solidFill>
                <a:latin typeface="맑은 고딕"/>
                <a:ea typeface="맑은 고딕"/>
                <a:cs typeface="맑은 고딕"/>
              </a:rPr>
              <a:t>끝, 거절 종결, 알림</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pic>
        <p:nvPicPr>
          <p:cNvPr id="6" name="삽화:정의와인스턴스.svg" descr="illust_460431082210765927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469055799319553878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흐름_토큰_둘.svg" descr="illust_788908064548964535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역할의 작업함에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추천안이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 하나 안에서 지식 그래프, 센서 값, SOP와 판단 규칙, 업무 DB를 차례로 읽은 뒤 추천안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658081" y="3438271"/>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28542"/>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11430"/>
            <a:ext cx="599985" cy="599985"/>
          </a:xfrm>
          <a:prstGeom prst="rect">
            <a:avLst/>
          </a:prstGeom>
        </p:spPr>
      </p:pic>
      <p:sp>
        <p:nvSpPr>
          <p:cNvPr id="10" name="TextBox 9"/>
          <p:cNvSpPr txBox="1"/>
          <p:nvPr/>
        </p:nvSpPr>
        <p:spPr>
          <a:xfrm>
            <a:off x="640079"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스킬 문서</a:t>
            </a:r>
          </a:p>
          <a:p>
            <a:pPr algn="ctr">
              <a:lnSpc>
                <a:spcPct val="110000"/>
              </a:lnSpc>
              <a:spcAft>
                <a:spcPts val="400"/>
              </a:spcAft>
            </a:pPr>
            <a:r>
              <a:rPr sz="1300" b="0">
                <a:solidFill>
                  <a:srgbClr val="1F2A3A"/>
                </a:solidFill>
                <a:latin typeface="맑은 고딕"/>
                <a:ea typeface="맑은 고딕"/>
                <a:cs typeface="맑은 고딕"/>
              </a:rPr>
              <a:t>수행 방법을 읽는다</a:t>
            </a:r>
          </a:p>
        </p:txBody>
      </p:sp>
      <p:sp>
        <p:nvSpPr>
          <p:cNvPr id="11" name="Chevron 10"/>
          <p:cNvSpPr/>
          <p:nvPr/>
        </p:nvSpPr>
        <p:spPr>
          <a:xfrm>
            <a:off x="4867534" y="332854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11430"/>
            <a:ext cx="599985" cy="599985"/>
          </a:xfrm>
          <a:prstGeom prst="rect">
            <a:avLst/>
          </a:prstGeom>
        </p:spPr>
      </p:pic>
      <p:sp>
        <p:nvSpPr>
          <p:cNvPr id="14" name="TextBox 13"/>
          <p:cNvSpPr txBox="1"/>
          <p:nvPr/>
        </p:nvSpPr>
        <p:spPr>
          <a:xfrm>
            <a:off x="2858963"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diagnose</a:t>
            </a:r>
          </a:p>
          <a:p>
            <a:pPr algn="ctr">
              <a:lnSpc>
                <a:spcPct val="110000"/>
              </a:lnSpc>
              <a:spcAft>
                <a:spcPts val="400"/>
              </a:spcAft>
            </a:pPr>
            <a:r>
              <a:rPr sz="1300" b="0">
                <a:solidFill>
                  <a:srgbClr val="1F2A3A"/>
                </a:solidFill>
                <a:latin typeface="맑은 고딕"/>
                <a:ea typeface="맑은 고딕"/>
                <a:cs typeface="맑은 고딕"/>
              </a:rPr>
              <a:t>지식 그래프와 센서 값으로</a:t>
            </a:r>
          </a:p>
          <a:p>
            <a:pPr algn="ctr">
              <a:lnSpc>
                <a:spcPct val="110000"/>
              </a:lnSpc>
              <a:spcAft>
                <a:spcPts val="400"/>
              </a:spcAft>
            </a:pPr>
            <a:r>
              <a:rPr sz="1300" b="0">
                <a:solidFill>
                  <a:srgbClr val="1F2A3A"/>
                </a:solidFill>
                <a:latin typeface="맑은 고딕"/>
                <a:ea typeface="맑은 고딕"/>
                <a:cs typeface="맑은 고딕"/>
              </a:rPr>
              <a:t>원인을 가린다</a:t>
            </a:r>
          </a:p>
        </p:txBody>
      </p:sp>
      <p:sp>
        <p:nvSpPr>
          <p:cNvPr id="15" name="Chevron 14"/>
          <p:cNvSpPr/>
          <p:nvPr/>
        </p:nvSpPr>
        <p:spPr>
          <a:xfrm>
            <a:off x="7086417" y="332854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scale" descr="scale_13294B_1.6.png"/>
          <p:cNvPicPr>
            <a:picLocks noChangeAspect="1"/>
          </p:cNvPicPr>
          <p:nvPr/>
        </p:nvPicPr>
        <p:blipFill>
          <a:blip r:embed="rId5"/>
          <a:stretch>
            <a:fillRect/>
          </a:stretch>
        </p:blipFill>
        <p:spPr>
          <a:xfrm>
            <a:off x="5795854" y="3211430"/>
            <a:ext cx="599985" cy="599985"/>
          </a:xfrm>
          <a:prstGeom prst="rect">
            <a:avLst/>
          </a:prstGeom>
        </p:spPr>
      </p:pic>
      <p:sp>
        <p:nvSpPr>
          <p:cNvPr id="18" name="TextBox 17"/>
          <p:cNvSpPr txBox="1"/>
          <p:nvPr/>
        </p:nvSpPr>
        <p:spPr>
          <a:xfrm>
            <a:off x="5077846"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evaluate_cards</a:t>
            </a:r>
          </a:p>
          <a:p>
            <a:pPr algn="ctr">
              <a:lnSpc>
                <a:spcPct val="110000"/>
              </a:lnSpc>
              <a:spcAft>
                <a:spcPts val="400"/>
              </a:spcAft>
            </a:pPr>
            <a:r>
              <a:rPr sz="1300" b="0">
                <a:solidFill>
                  <a:srgbClr val="1F2A3A"/>
                </a:solidFill>
                <a:latin typeface="맑은 고딕"/>
                <a:ea typeface="맑은 고딕"/>
                <a:cs typeface="맑은 고딕"/>
              </a:rPr>
              <a:t>SOP 조치 넷을 규칙과</a:t>
            </a:r>
          </a:p>
          <a:p>
            <a:pPr algn="ctr">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19" name="Chevron 18"/>
          <p:cNvSpPr/>
          <p:nvPr/>
        </p:nvSpPr>
        <p:spPr>
          <a:xfrm>
            <a:off x="9305300" y="332854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34513"/>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database" descr="database_13294B_1.6.png"/>
          <p:cNvPicPr>
            <a:picLocks noChangeAspect="1"/>
          </p:cNvPicPr>
          <p:nvPr/>
        </p:nvPicPr>
        <p:blipFill>
          <a:blip r:embed="rId6"/>
          <a:stretch>
            <a:fillRect/>
          </a:stretch>
        </p:blipFill>
        <p:spPr>
          <a:xfrm>
            <a:off x="8014737" y="3211430"/>
            <a:ext cx="599985" cy="599985"/>
          </a:xfrm>
          <a:prstGeom prst="rect">
            <a:avLst/>
          </a:prstGeom>
        </p:spPr>
      </p:pic>
      <p:sp>
        <p:nvSpPr>
          <p:cNvPr id="22" name="TextBox 21"/>
          <p:cNvSpPr txBox="1"/>
          <p:nvPr/>
        </p:nvSpPr>
        <p:spPr>
          <a:xfrm>
            <a:off x="7296729"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mes_orders · qms_lots</a:t>
            </a:r>
          </a:p>
          <a:p>
            <a:pPr algn="ctr">
              <a:lnSpc>
                <a:spcPct val="110000"/>
              </a:lnSpc>
              <a:spcAft>
                <a:spcPts val="400"/>
              </a:spcAft>
            </a:pPr>
            <a:r>
              <a:rPr sz="1300" b="0">
                <a:solidFill>
                  <a:srgbClr val="1F2A3A"/>
                </a:solidFill>
                <a:latin typeface="맑은 고딕"/>
                <a:ea typeface="맑은 고딕"/>
                <a:cs typeface="맑은 고딕"/>
              </a:rPr>
              <a:t>생산 오더와 품질 로트를</a:t>
            </a:r>
          </a:p>
          <a:p>
            <a:pPr algn="ctr">
              <a:lnSpc>
                <a:spcPct val="110000"/>
              </a:lnSpc>
              <a:spcAft>
                <a:spcPts val="400"/>
              </a:spcAft>
            </a:pPr>
            <a:r>
              <a:rPr sz="1300" b="0">
                <a:solidFill>
                  <a:srgbClr val="1F2A3A"/>
                </a:solidFill>
                <a:latin typeface="맑은 고딕"/>
                <a:ea typeface="맑은 고딕"/>
                <a:cs typeface="맑은 고딕"/>
              </a:rPr>
              <a:t>업무 DB에서 읽는다</a:t>
            </a:r>
          </a:p>
        </p:txBody>
      </p:sp>
      <p:sp>
        <p:nvSpPr>
          <p:cNvPr id="23" name="Oval 22"/>
          <p:cNvSpPr/>
          <p:nvPr/>
        </p:nvSpPr>
        <p:spPr>
          <a:xfrm>
            <a:off x="9956704" y="2934513"/>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11430"/>
            <a:ext cx="599985" cy="599985"/>
          </a:xfrm>
          <a:prstGeom prst="rect">
            <a:avLst/>
          </a:prstGeom>
        </p:spPr>
      </p:pic>
      <p:sp>
        <p:nvSpPr>
          <p:cNvPr id="25" name="TextBox 24"/>
          <p:cNvSpPr txBox="1"/>
          <p:nvPr/>
        </p:nvSpPr>
        <p:spPr>
          <a:xfrm>
            <a:off x="9515612" y="4225492"/>
            <a:ext cx="2036003" cy="118846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submit_decision</a:t>
            </a:r>
          </a:p>
          <a:p>
            <a:pPr algn="ctr">
              <a:lnSpc>
                <a:spcPct val="110000"/>
              </a:lnSpc>
              <a:spcAft>
                <a:spcPts val="400"/>
              </a:spcAft>
            </a:pPr>
            <a:r>
              <a:rPr sz="1300" b="0">
                <a:solidFill>
                  <a:srgbClr val="1F2A3A"/>
                </a:solidFill>
                <a:latin typeface="맑은 고딕"/>
                <a:ea typeface="맑은 고딕"/>
                <a:cs typeface="맑은 고딕"/>
              </a:rPr>
              <a:t>추천안을 제출한다</a:t>
            </a:r>
          </a:p>
          <a:p>
            <a:pPr algn="ctr">
              <a:lnSpc>
                <a:spcPct val="110000"/>
              </a:lnSpc>
              <a:spcAft>
                <a:spcPts val="400"/>
              </a:spcAft>
            </a:pPr>
            <a:r>
              <a:rPr sz="1300" b="0">
                <a:solidFill>
                  <a:srgbClr val="1F2A3A"/>
                </a:solidFill>
                <a:latin typeface="맑은 고딕"/>
                <a:ea typeface="맑은 고딕"/>
                <a:cs typeface="맑은 고딕"/>
              </a:rPr>
              <a:t>판단 id</a:t>
            </a:r>
          </a:p>
          <a:p>
            <a:pPr algn="ctr">
              <a:lnSpc>
                <a:spcPct val="110000"/>
              </a:lnSpc>
              <a:spcAft>
                <a:spcPts val="400"/>
              </a:spcAft>
            </a:pPr>
            <a:r>
              <a:rPr sz="1300" b="0">
                <a:solidFill>
                  <a:srgbClr val="1F2A3A"/>
                </a:solidFill>
                <a:latin typeface="맑은 고딕"/>
                <a:ea typeface="맑은 고딕"/>
                <a:cs typeface="맑은 고딕"/>
              </a:rPr>
              <a:t>DEC-1010-058-88a6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추천안(추천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거절(기록의 값은 반려)</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지식,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그래프가 판단의 재료를, 에이전트가 판단을, 프로세스가 순서와 책임과 기록을 맡아 경보 한 건이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원인과 조치의 관계, 판단 규칙, 값이 놓인 자리</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재료</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읽어 원인을 가리고 조치를 추천한다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추천안을 승인, 명령, 재관측, 기록으로 잇고 진행과 결과를 남긴다</a:t>
            </a:r>
          </a:p>
        </p:txBody>
      </p:sp>
      <p:sp>
        <p:nvSpPr>
          <p:cNvPr id="22" name="Rounded Rectangle 21"/>
          <p:cNvSpPr/>
          <p:nvPr/>
        </p:nvSpPr>
        <p:spPr>
          <a:xfrm>
            <a:off x="8356396" y="4932934"/>
            <a:ext cx="176783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 · 책임 · 기록</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역할과 승인 조건을 갖춘 설비 이상 대응의 흐름을 그린다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요소와 완성되는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BPMN 파일은 레인, 승인과 거절의 갈림, 지연 알림 타이머를 갖추어야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레인</a:t>
            </a:r>
          </a:p>
          <a:p>
            <a:pPr algn="l">
              <a:lnSpc>
                <a:spcPct val="110000"/>
              </a:lnSpc>
              <a:spcAft>
                <a:spcPts val="400"/>
              </a:spcAft>
            </a:pPr>
            <a:r>
              <a:rPr sz="1350" b="0">
                <a:solidFill>
                  <a:srgbClr val="1F2A3A"/>
                </a:solidFill>
                <a:latin typeface="맑은 고딕"/>
                <a:ea typeface="맑은 고딕"/>
                <a:cs typeface="맑은 고딕"/>
              </a:rPr>
              <a:t>담당자, 에이전트, 시스템의 세 칸에 작업을 나누어 놓는다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작업의 순서</a:t>
            </a:r>
          </a:p>
          <a:p>
            <a:pPr algn="l">
              <a:lnSpc>
                <a:spcPct val="110000"/>
              </a:lnSpc>
              <a:spcAft>
                <a:spcPts val="400"/>
              </a:spcAft>
            </a:pPr>
            <a:r>
              <a:rPr sz="1350" b="0">
                <a:solidFill>
                  <a:srgbClr val="1F2A3A"/>
                </a:solidFill>
                <a:latin typeface="맑은 고딕"/>
                <a:ea typeface="맑은 고딕"/>
                <a:cs typeface="맑은 고딕"/>
              </a:rPr>
              <a:t>쿨러 열화의 시작에서 진단과 제안, 승인, 명령, 재확인, 결과 보고까지 잇는다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split-2" descr="arrows-split-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갈림과 끝</a:t>
            </a:r>
          </a:p>
          <a:p>
            <a:pPr algn="l">
              <a:lnSpc>
                <a:spcPct val="110000"/>
              </a:lnSpc>
              <a:spcAft>
                <a:spcPts val="400"/>
              </a:spcAft>
            </a:pPr>
            <a:r>
              <a:rPr sz="1350" b="0">
                <a:solidFill>
                  <a:srgbClr val="1F2A3A"/>
                </a:solidFill>
                <a:latin typeface="맑은 고딕"/>
                <a:ea typeface="맑은 고딕"/>
                <a:cs typeface="맑은 고딕"/>
              </a:rPr>
              <a:t>승인과 거절을 가르고 정상 종료와 거절 종결을 따로 둔다</a:t>
            </a:r>
          </a:p>
        </p:txBody>
      </p:sp>
      <p:sp>
        <p:nvSpPr>
          <p:cNvPr id="22" name="Rounded Rectangle 21"/>
          <p:cNvSpPr/>
          <p:nvPr/>
        </p:nvSpPr>
        <p:spPr>
          <a:xfrm>
            <a:off x="6461607" y="5134356"/>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clock" descr="c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지연 알림</a:t>
            </a:r>
          </a:p>
          <a:p>
            <a:pPr algn="l">
              <a:lnSpc>
                <a:spcPct val="110000"/>
              </a:lnSpc>
              <a:spcAft>
                <a:spcPts val="400"/>
              </a:spcAft>
            </a:pPr>
            <a:r>
              <a:rPr sz="1350" b="0">
                <a:solidFill>
                  <a:srgbClr val="1F2A3A"/>
                </a:solidFill>
                <a:latin typeface="맑은 고딕"/>
                <a:ea typeface="맑은 고딕"/>
                <a:cs typeface="맑은 고딕"/>
              </a:rPr>
              <a:t>승인을 끊지 않는 비중단형 타이머를 승인 작업에 붙인다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그린 프로세스는 시작 조건과 맡을 쪽을 정해 등록하고 배포해야 쿨러 경보를 받아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판본으로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배포한 프로세스를 쿨러 열화로 실행하면 처리 건 한 건이 열리고, 그 처리 기록에서 대기와 완료를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추천안이 나온 뒤 운전원 승인에서 기다리는 상태를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left" descr="arrows-right-lef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흐름의 비교</a:t>
            </a:r>
          </a:p>
          <a:p>
            <a:pPr algn="l">
              <a:lnSpc>
                <a:spcPct val="110000"/>
              </a:lnSpc>
              <a:spcAft>
                <a:spcPts val="400"/>
              </a:spcAft>
            </a:pPr>
            <a:r>
              <a:rPr sz="1350" b="0">
                <a:solidFill>
                  <a:srgbClr val="1F2A3A"/>
                </a:solidFill>
                <a:latin typeface="맑은 고딕"/>
                <a:ea typeface="맑은 고딕"/>
                <a:cs typeface="맑은 고딕"/>
              </a:rPr>
              <a:t>직접 배포한 흐름과 처음부터 배포되어 있던 흐름이 어떻게 다른지 견준다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