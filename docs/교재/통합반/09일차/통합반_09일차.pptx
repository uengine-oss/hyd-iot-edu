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판단하는 에이전트를 만들고 검증했습니다. 오늘은 그 에이전트의 추천이 사람의 승인과 시스템의 실행을 거쳐 끝난 업무가 되기까지를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원인을 쿨러 핀 오염으로 가리고 팬 최대 운전을 추천한 시점에서 시작하겠습니다. 추천은 나왔지만 팬은 아직 그대로 돌고 유온도 그대로입니다. 운전원의 승인, 설비로 가는 냉각 명령, 유온을 다시 읽는 재관측, 핀 세척을 위한 작업지시 등록, 결과 보고가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다섯 가지를 누가 하는지 보겠습니다. 승인은 운전원이, 냉각 명령은 SCADA가, 재관측과 결과 보고는 process 서비스가, 작업지시 등록은 CMMS가 맡습니다. CMMS는 Computerized Maintenance Management System, 곧 설비 보전 관리 시스템입니다. 다섯 가지는 맡는 쪽이 서로 다르고, 앞의 일이 끝나야 다음 일을 시작할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일을 맡을 쪽이 있어도 그 사이를 이어 주는 것이 없으면 세 가지 문제가 생깁니다. 추천이 나온 것을 운전원이 모르면 흐름이 멈춥니다. 승인을 누가 하고 응답이 없으면 어떻게 되는지가 정해져 있지 않으면 책임이 흩어집니다. 그리고 이 사건이 어디까지 진행되었는지를 한곳에서 볼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순서까지 에이전트에게 맡기면 되지 않느냐는 생각이 들 수 있습니다. 에이전트는 상황을 읽고 그때마다 판단하는 데 강합니다. 하지만 승인 전에는 명령이 나가지 않는다, 승인은 운전원만 한다는 것은 판단할 일이 아니라 어길 수 없게 정해 둘 일입니다. 이런 순서와 책임은 에이전트의 바깥에 따로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책임을 정해 둔 것이 비즈니스 프로세스입니다. 어떤 결과를 내려고 여러 주체가 하는 작업을 순서대로 이은 묶음이며, 시작하는 사건과 끝나는 조건이 있습니다. 쿨러 성능 저하 경보에서 결과 보고까지가 긴급 대응 프로세스입니다. 이 프로세스가 경보 한 건에 대해 실제로 수행되는 한 건을 포털에서는 처리 건이라고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용어를 구분합니다. Task는 프로세스 안의 작업 하나로, 위쪽 괄호가 가리키는 에이전트의 추천이 그 예입니다. End-to-End는 아래쪽 괄호처럼 경보라는 시작 사건에서 끝까지의 전체이며 우리말로는 종단 간이라고 합니다. 처리 건 한 건의 실제 기록을 보면, 에이전트의 Task가 끝난 시점에는 설비 명령이 없었고 유온도 그대로였습니다. 명령과 유온 51.3도와 작업지시는 End-to-End가 끝난 시점에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정한다는 점에서 SOP와 프로세스는 혼동하기 쉽습니다. SOP는 팬 최대 운전이라는 조치 하나를 어떤 단계로 수행하는지를 정합니다. 프로세스는 그 조치가 추천되고 승인되고 실행되어 보고되기까지, 여러 주체의 작업을 잇습니다. 프로세스의 승인 작업에서 승인되는 대상이 SOP입니다.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정의하려면 다섯 가지를 정해야 합니다. 무엇이 일어나면 시작하는지, 시작할 때 무엇을 받는지, 끝났을 때 무엇이 남는지, 작업마다 누가 맡는지, 무엇으로 끝났다고 보는지입니다. 오른쪽 열은 긴급 대응 프로세스의 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첫째와 둘째, 시작 조건과 입력입니다. 긴급 대응 프로세스를 여는 것은 사람의 조작이 아니라 경보 메시지입니다. pattern이 쿨러 성능 저하인 경보가 도착하면 처리 건이 열리고, 설비와 경보의 식별자가 입력으로 실려 뒤의 작업들이 읽습니다. 같은 경보로 처리 건이 두 번 열리지는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셋째는 출력입니다. 프로세스 전체의 출력은 결과 보고와 작업지시이지만, 작업 하나하나에도 받는 것과 내는 것이 정해져 있습니다. 에이전트가 낸 추천 조치를 운전원이 받고, 운전원이 낸 승인을 냉각 명령이 받습니다. 그래서 작업마다 무엇을 내야 하는지를 미리 정해 두어야 흐름이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넷째는 책임자입니다. 프로세스는 작업마다 맡는 쪽을 정하는데, 사람의 이름이 아니라 운전원 같은 역할로 정합니다. 근무자가 바뀌어도 프로세스는 그대로 두기 위해서입니다. 사람만 책임자가 되는 것도 아니어서 에이전트와 시스템도 작업을 맡습니다. 작업마다 맡는 쪽이 하나로 정해져 있으므로 지금 누구의 차례인지가 분명합니다.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다섯째는 완료 조건입니다. 승인되어 유온이 회복된 경우만 정해 두면 나머지 경우에 업무가 닫히지 않은 채 남습니다. 승인했지만 유온이 회복되지 않으면 미달로 보고하고 닫습니다. 거절하면 설비 명령 없이 거절로 보고하고 닫습니다. 운전원이 응답하지 않으면 닫지 않고 기다리며, 10분이 지나면 알림만 보냅니다.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에이전트에게 맡길 수 없다고 한 것이 프로세스에서 어떻게 지켜지는지 확인합니다. 냉각 명령 작업은 승인 작업이 승인으로 끝나야 열리므로 추천만으로는 명령이 나가지 않습니다. 승인 작업은 운전원 역할만 끝낼 수 있고, 다른 역할의 시도는 거부되어 기록으로 남습니다. 이 모든 진행이 처리 건에 남아 나중에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무엇을 위해 있는지도 지식으로 남길 수 있습니다. HYD 지식 그래프에는 프로세스가 노드로 등록되어 있으며, 그 가운데 하나인 설비 이상 조치는 대상 설비에 ACTS_ON 관계로, 달성하려는 전략 목표 셋에 ACHIEVES 관계로 이어져 있습니다. 그래서 설비 이상에 대응하는 업무가 설비 가용성과 무재해 운전과 납기 신뢰를 위해 있다는 것을 조회로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정하면 끝나는 것이 아닙니다. 설비가 바뀌고 담당 조직이 바뀌면 순서와 책임자도 고쳐야 합니다. 프로세스를 만들고 운영하고 고쳐 가는 일 전체를 관리하는 방법이 BPM, Business Process Management입니다. BPM이 보는 것은 작업 하나가 아니라 처음부터 끝까지의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BPM은 다섯 단계를 되풀이합니다. 위에서 시계 방향으로, 지금의 업무를 조사하는 분석, 바꿀 흐름을 그리는 설계, 그린 대로 수행하는 실행, 수행 결과를 지켜보는 모니터링, 문제를 찾아 고치는 개선입니다. 개선에서 고친 내용이 다시 분석의 대상이 되므로 고리 모양이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단계에서 실제로 하는 일을 이 과정의 활동과 짝지었습니다. 분석에서는 업무의 시작 조건과 책임자와 완료 조건을 가려내고, 설계에서는 그것을 그림으로 그립니다. 실행에서는 그림을 등록하고 배포해 실제 경보에서 수행되게 하고, 모니터링에서는 처리 건을 지켜봅니다. 개선에서는 고친 흐름을 다시 등록합니다.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분석과 설계에서 쓰는 두 낱말입니다. AS-IS는 지금 일하는 방식을 있는 그대로 그린 것이고, TO-BE는 바꾸려는 방식을 그린 것입니다. 위 줄은 프로세스가 정의되어 있지 않은 현장에서 흔히 볼 수 있는 AS-IS의 예로, 경보를 본 운전원이 전화로 보전 담당을 찾습니다. 아래 줄은 같은 업무를 프로세스로 옮긴 TO-BE입니다.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그림을 나란히 놓으면 무엇을 바꾸는지가 분명해집니다. AS-IS에서는 사람을 찾고, 확인을 기억하고, 결정을 물어서 확인합니다. TO-BE에서는 그 자리마다 작업과 순서와 기록이 놓입니다. AS-IS에서 사람이 기억으로 잇던 자리를 찾아내는 것이 분석의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정리합니다. 에이전트의 추천은 프로세스 안의 작업 하나이고, 업무의 완료는 시작에서 끝까지의 프로세스가 정합니다. 프로세스를 정의한다는 것은 다섯 가지를 미리 정해 두는 일입니다. 이제 이 다섯 가지를 누구나 같은 뜻으로 읽도록 적는 방법이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프로세스를 문장으로 적어 보았습니다. 틀린 내용은 없지만 읽기가 어렵습니다. 갈림은 문장 속에 흩어져 있고, 재관측과 보고를 누가 하는지는 적혀 있지 않습니다. 마지막 문장은 알림을 보낸 뒤에도 승인을 계속 기다리는지 여기서 끝나는지를 알려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그림으로 적되 도형의 뜻을 약속해 둔 것이 BPMN, Business Process Model and Notation입니다. DMN을 정한 OMG가 정했고 2.0판은 ISO 국제 표준이기도 합니다. 같은 그림을 현업 담당자는 업무를 확인하는 데 쓰고, 소프트웨어는 실행할 설계도로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BPMN의 도형은 세 묶음으로 나누어 읽습니다. 왼쪽의 흐름 객체는 일어나는 일로, 원은 이벤트, 모서리가 둥근 사각형은 작업, 마름모는 게이트웨이입니다. 가운데의 연결 객체는 그것들을 잇는 선이며 실선과 점선의 뜻이 다릅니다. 오른쪽의 스윔레인은 누가 맡는지를 나누는 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문장과 같은 내용을 BPMN으로 그린 그림입니다. 왼쪽의 세 칸은 위에서부터 담당자, 에이전트, 시스템입니다. 에이전트 칸의 경보에서 시작해 진단과 제안, 담당자 칸의 운전원 승인을 거쳐 시스템 칸의 냉각 명령, 재관측, 작업지시 등록, 결과 보고로 이어집니다. 갈림이 두 곳이고 끝이 세 곳입니다. 시작 이벤트에 붙은 이름 쿨러 과열 경보는 지금까지 본 쿨러 성능 저하 경보가 도착하는 사건을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원은 이벤트, 곧 프로세스에서 일어나는 사건입니다. 테두리가 가는 원은 프로세스를 여는 시작 이벤트입니다. 안에 봉투가 그려진 것은 메시지를 받으면 여는 메시지 시작 이벤트로, 긴급 대응 프로세스의 쿨러 과열 경보가 이 모양입니다. 테두리가 굵은 원은 한 갈래를 닫는 끝 이벤트이며 긴급 대응 프로세스에는 끝, 거절 종결, 알림의 셋이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모서리가 둥근 사각형은 작업입니다. 프로세스 안에서 수행되는 일을 활동이라고 하고, 그 가운데 더 쪼개지지 않는 단위가 작업입니다. 왼쪽 위에 사람 표식이 있으면 사람이 수행하는 사용자 작업이고, 톱니 표식이 있으면 시스템이 자동으로 수행하는 서비스 작업입니다. 표식이 없는 작업은 누가 수행할지를 실행 전에 따로 지정하며, 에이전트에게 맡길 진단과 제안이 이 모양으로 그려집니다.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요소를 잇는 실선 화살표가 시퀀스 흐름이며 화살표의 방향이 순서입니다. 마름모는 흐름이 갈라지는 게이트웨이이고, 가위표가 그려진 것은 배타 게이트웨이입니다. 배타 게이트웨이는 나가는 선 가운데 조건이 참인 하나로만 흐름을 보냅니다. 운전원 승인 뒤의 승인? 게이트웨이에서 승인이면 냉각 명령으로, 거절이면 결과 보고: 거절로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게이트웨이에서 나가는 선에는 조건이 붙습니다. 승인? 게이트웨이의 승인 쪽 선은 운전원 승인 작업이 낸 approval 값이 승인일 때 참입니다. 유온 정상? 게이트웨이의 예 쪽 선은 재관측이 낸 recovered 값이 참일 때입니다. 어느 조건도 참이 아닐 때 가는 선을 기본 흐름, Default Flow라고 하며 그림에서는 선의 출발 자리에 빗금을 긋습니다.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맡는지는 칸으로 나타냅니다. 바깥 테두리 전체가 풀이며 프로세스에 참여하는 조직이나 시스템 하나를 뜻합니다. 풀 안을 가로로 나눈 칸이 레인이고, 작업이 놓인 레인이 그 작업을 맡는 쪽입니다. 긴급 대응 프로세스는 풀 하나에 담당자, 에이전트, 시스템의 세 레인을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참여자가 둘이면 풀도 둘을 그립니다. 풀 안에서 작업의 순서를 잇는 선은 실선의 시퀀스 흐름입니다. 풀과 풀 사이에서 오가는 것은 점선의 메시지 흐름으로 그리며, 출발 쪽에 작은 원이 있고 화살촉이 비어 있습니다. 그림은 설비를 운영하는 조직이 공급사에 발주서를 보내고 납기 회신을 받는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끝나기를 기다리는 동안 생기는 일은 경계 이벤트, Boundary Event로 그립니다. 작업의 테두리에 겹테두리 원을 붙이고, 시계가 그려진 것은 정한 기간이 지나면 발생하는 타이머입니다. 왼쪽의 실선은 중단형으로, 발생하면 붙어 있던 작업을 끊고 다른 가지로 갑니다. 오른쪽의 점선은 비중단형으로, 작업은 그대로 두고 가지를 하나 더 엽니다.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놓았습니다. 운전원 승인 뒤에 승인? 게이트웨이가 있어 승인이면 냉각 명령으로, 거절이면 결과 보고: 거절을 거쳐 거절 종결로 갑니다. 승인 작업의 테두리에는 기한이 10분인 승인 지연 타이머가 붙어 있습니다. 점선의 비중단형이어서 10분이 지나면 알림 가지만 열리고 승인 작업은 계속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하나가 여러 경우를 담고 있습니다. 승인하면 냉각 명령, 재관측, 작업지시 등록, 결과 보고를 거쳐 끝에 닿습니다. 거절하면 냉각 명령으로 가는 선을 지나지 않고 거절 종결에 닿습니다. 운전원이 응답하지 않으면 알림 가지만 알림에 닿아 끝나고, 운전원 승인은 열린 채로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건에서 작업을 실제로 맡은 쪽입니다. 진단과 제안은 에이전트가, 승인은 운전원 역할이, 명령과 재관측과 작업지시 등록과 결과 보고는 시스템들이 맡았습니다. 레인의 배치를 보면 설비를 움직이는 냉각 명령 앞에 사람의 승인이 놓여 있습니다. 누가 판단하고 누가 결정하고 누가 실행하는지를 그림이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커지면 쓰게 되는 요소 둘을 개념만 소개합니다. 왼쪽의 더하기표 마름모는 병렬 게이트웨이로, 나가는 모든 갈래로 흐름을 함께 보내고 모든 갈래가 끝나면 다시 합칩니다. 오른쪽의 하위 프로세스는 여러 작업으로 이루어진 흐름을 작업 하나처럼 접어 그린 것이며, 아래 가운데의 더하기 표식이 안에 흐름이 들어 있음을 알립니다.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정리합니다. 처음 보는 BPMN 그림은 이 순서로 읽으면 됩니다. 레인에서 누가 참여하는지를 보고, 시작 이벤트에서 무엇이 프로세스를 여는지를 봅니다. 그다음 작업의 순서와 게이트웨이의 갈림을 따라가고, 끝 이벤트에서 어떤 경우들로 닫히는지를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그림을 그렸다고 업무가 수행되지는 않습니다. 에이전트가 판단을 제출하면 누군가 운전원에게 승인 작업을 놓아야 합니다. 승인의 결과를 게이트웨이에 전해야 하고, 운전원이 한참 뒤에 응답하더라도 어디까지 왔는지를 기억하고 있어야 합니다. 그림을 읽어 이 세 가지를 하는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엔진입니다. 프로세스의 정의를 읽어 작업을 차례로 열고 결과를 넘깁니다. 이렇게 중앙의 한 주체가 전체 순서를 이끄는 방식을 오케스트레이션이라고 합니다. 지휘자가 연주자에게 차례를 알리는 것과 닮았지만, 엔진은 작업의 결과를 받아 다음 작업에 넘기고 기록까지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것을 둘로 구분합니다. 왼쪽의 프로세스 정의는 요소와 선과 조건을 담은 설계도이며 하나뿐입니다. 오른쪽의 프로세스 인스턴스는 그 설계도에 따라 실제로 실행되는 한 건으로, 앞에서 처리 건이라고 부른 것입니다. 경보가 올 때마다 인스턴스가 하나씩 만들어지고, 같은 정의에서 나왔어도 승인으로 끝난 건, 거절로 끝난 건, 승인을 기다리는 건으로 저마다 다르게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건의 실제 기록입니다. 어느 정의의 몇 번째 판본으로 열렸는지가 먼저 적혀 있습니다. start_event_id는 이 처리 건을 연 경보의 식별자이고, end_event는 닿은 끝 이벤트입니다. 처리 건 하나만 보아도 무엇으로 시작해 어디서 끝났는지를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중인 인스턴스가 어디까지 왔는지는 토큰이라는 개념으로 설명합니다. 토큰은 시작 이벤트에서 하나 생겨, 작업이 끝날 때마다 나가는 선을 따라 다음 요소로 옮겨 갑니다. 게이트웨이에서는 조건이 참인 선으로 가고, 끝 이벤트에 닿으면 사라집니다. 그림은 토큰이 운전원 승인에 있는 순간으로, 에이전트의 작업은 끝났고 냉각 명령에는 아직 닿지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운전원의 승인을 기다리는 처리 건의 기록입니다. 처리 건의 상태는 실행 중을 뜻하는 RUNNING이고, 열려 있는 단계는 운전원 승인인 T_approve입니다. 아래는 단계마다의 상태로, 에이전트의 단계는 DONE, 운전원 승인은 IN_PROGRESS, 아직 닿지 않은 단계는 TODO입니다. 승인 대기는 고장이 아니라 토큰이 사용자 작업에 머문 정상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10분 동안 응답하지 않은 처리 건입니다. 승인 지연 타이머가 발생하면서 토큰이 하나 더 생겨 승인 지연 알림을 지났습니다. 처음의 토큰은 운전원 승인에 그대로 있습니다. 그래서 알림이 나간 뒤에도 처리 건은 닫히지 않고, 운전원은 여전히 승인하거나 거절할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방법이 프로세스 변수입니다. 인스턴스는 이름 붙은 값들을 지니고 다니며, 작업이 낸 출력이 여기에 저장됩니다. 앞 단원에서 본 갈림의 조건이 읽던 approval과 recovered가 이 변수입니다. 운전원 승인이 approval을 내고, 재관측이 recovered를 냅니다. 처리 건은 변수마다 그것을 만든 단계를 함께 적어 두므로 값이 어디서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그 작업의 종류에 따라 다르게 움직입니다. 사용자 작업이면 담당 역할의 작업함에 놓고 사람의 응답을 기다립니다. 서비스 작업이면 SCADA나 CMMS 같은 시스템을 호출하고 처리 결과를 받습니다. 에이전트 단계이면 지정된 에이전트에게 맡기고 판단이 제출되기를 기다립니다. 어느 경우든 작업이 끝나야 엔진이 토큰을 다음으로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 안을 들여다보겠습니다. 같은 처리 건에서 에이전트가 실제로 호출한 도구의 순서입니다. 스킬 문서를 읽고, diagnose로 지식 그래프와 센서 값에서 원인을 가리고, evaluate_cards로 SOP 조치 넷을 규칙과 성과 기준으로 견주었습니다. 업무 DB에서 생산 오더와 품질 로트를 읽은 뒤 판단 하나를 제출했습니다.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처리 건이 실제로 지나간 순서입니다. 지식 그래프와 SOP와 업무 DB를 읽는 일은 첫 행인 에이전트 단계 안에서 끝났습니다. 프로세스는 그 결과를 운전원 승인에 넘기고, 승인된 조치를 냉각 명령에, 명령의 완료를 재관측에 넘겼습니다. 에이전트가 무엇을 읽을지는 에이전트가 정하지만, 그 결과가 어떤 순서로 누구에게 가는지는 프로세스가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읽습니다. 처리 건의 상태는 진행 중인 RUNNING과 끝난 COMPLETED입니다. 단계의 상태는 열려 있는 IN_PROGRESS, 끝난 DONE, 아직 닿지 않은 TODO가 있습니다. CANCELLED는 게이트웨이에서 선택되지 않은 갈래의 단계에 붙으며, 거절된 처리 건에서는 냉각 명령이 이 상태로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정의에서 나온 두 처리 건입니다. 왼쪽은 승인되어 설비 명령이 나갔고, 오른쪽은 거절되어 설비 명령이 없습니다. 그런데 두 건의 상태는 똑같이 COMPLETED입니다. COMPLETED는 실행이 끝났다는 뜻일 뿐이어서, 업무가 어떻게 끝났는지는 닿은 끝 이벤트와 결과 보고로 읽어야 합니다. 승인된 뒤 회복에 미달한 경우도 끝 이벤트는 같으므로 결과 보고가 정상인지 미달인지를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고쳤을 때 언제부터 적용되는지 보겠습니다. 고친 정의는 새 판본으로 등록합니다. 등록만으로는 바뀌지 않고, 그 판본을 배포해야 다음 경보부터 그 판본으로 처리 건이 열립니다. 이미 열려 있던 처리 건은 열릴 때의 판본으로 끝까지 가므로, 실행 도중에 규칙이 바뀌는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실행되는 동안 일어난 일은 기록으로 남습니다. 누가 무엇을 결정했는지를 나중에 확인하려고 남기는 이런 기록을 감사 기록, Audit Log라고 합니다. 처리 건이 열릴 때, 승인이 접수되고 다음 단계로 전달될 때, 결과 보고가 나갈 때마다 한 줄씩 남습니다. 승인할 역할이 아닌 쪽이 승인을 시도해 거부된 일도 DECISION_DENIED로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단원과 오늘의 내용을 정리합니다. 지식 그래프는 판단의 재료를 담고, 에이전트는 그 재료로 판단합니다. 프로세스는 그 판단을 사람의 승인과 시스템의 실행으로 잇고, 진행과 결과를 기록으로 남깁니다. 셋이 각자의 몫을 맡아야 경보 한 건이 끝난 업무가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bpmn.io라는 도구로 작은 승인 절차를 직접 그립니다. 정비 요청으로 시작해 담당자가 확인하고, 승인 여부에 따라 승인 종료와 거절 종결로 갈립니다. 게이트웨이의 두 갈래가 빠짐없이 끝 이벤트에 닿는지를 확인합니다. 끝나면 BPMN 파일 하나가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오늘 읽은 긴급 대응 프로세스를 직접 그립니다. 세 레인에 작업을 나누어 놓고, 시작에서 결과 보고까지 순서를 잇습니다. 승인과 거절을 가르는 게이트웨이와 각각의 끝을 두고, 승인 작업에는 승인을 끊지 않는 지연 알림 타이머를 붙입니다. 끝나면 이 프로세스의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그린 그림을 HYD 포털로 가져와 실행할 수 있게 만듭니다. 어떤 경보가 이 프로세스를 여는지, 작업마다 누가 맡는지, 갈림의 조건과 타이머의 기간이 무엇인지를 정합니다. 사전 검사로 빠진 것이 없는지 확인한 뒤 등록하고 배포합니다. 끝나면 쿨러 경보가 왔을 때 직접 그린 프로세스가 열리게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배포한 프로세스를 실제로 실행합니다. 쿨러 열화를 일으켜 처리 건이 열리는 것을 보고, 에이전트의 판단 뒤 운전원 승인에서 기다리는 상태를 확인합니다. 승인한 뒤에는 명령과 재관측을 거쳐 어느 끝 이벤트에 닿았는지를 읽습니다. 승인을 기다리는 상태와 끝난 상태를 처리 건의 기록으로 구분해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약어의 정식 명칭을 한곳에 모았습니다. 이 셋과 함께 비즈니스 프로세스, Task와 End-to-End, AS-IS와 TO-BE, 이벤트, 게이트웨이, 풀과 레인, 경계 이벤트, 프로세스 정의와 인스턴스, 토큰, 프로세스 변수, 감사 기록이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그림과 기록으로 처리 건의 상태를 읽는 문항입니다. 승인 지연 타이머가 중단형인지 비중단형인지, 그리고 처리 건의 상태가 무엇인지를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기록을 근거로 삼아야 하는지를 구분하는 문항입니다. 처리 건의 상태가 말해 주는 것과 끝 이벤트와 단계의 상태가 말해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추천하는 쪽, 결정하는 쪽, 다음 작업을 여는 쪽이 각각 누구였는지를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알림 가지의 끝과 처리 건의 끝을 혼동한 것입니다. 둘째 문항의 2번은 COMPLETED를 성공으로 읽은 것입니다. 셋째 문항의 3번은 결정하는 쪽과 다음 작업을 여는 쪽을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20.png"/><Relationship Id="rId5"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39.png"/><Relationship Id="rId5" Type="http://schemas.openxmlformats.org/officeDocument/2006/relationships/image" Target="../media/image16.png"/><Relationship Id="rId6"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40.png"/><Relationship Id="rId5"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0.png"/><Relationship Id="rId4" Type="http://schemas.openxmlformats.org/officeDocument/2006/relationships/image" Target="../media/image45.png"/><Relationship Id="rId5" Type="http://schemas.openxmlformats.org/officeDocument/2006/relationships/image" Target="../media/image1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4.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6.png"/><Relationship Id="rId4" Type="http://schemas.openxmlformats.org/officeDocument/2006/relationships/image" Target="../media/image3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6.png"/><Relationship Id="rId4" Type="http://schemas.openxmlformats.org/officeDocument/2006/relationships/image" Target="../media/image18.png"/><Relationship Id="rId5"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5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2.png"/><Relationship Id="rId4" Type="http://schemas.openxmlformats.org/officeDocument/2006/relationships/image" Target="../media/image21.png"/><Relationship Id="rId5" Type="http://schemas.openxmlformats.org/officeDocument/2006/relationships/image" Target="../media/image16.png"/><Relationship Id="rId6" Type="http://schemas.openxmlformats.org/officeDocument/2006/relationships/image" Target="../media/image53.png"/><Relationship Id="rId7" Type="http://schemas.openxmlformats.org/officeDocument/2006/relationships/image" Target="../media/image5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4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9일차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AI와 사람이 함께 일하는</a:t>
            </a:r>
          </a:p>
          <a:p>
            <a:pPr algn="l">
              <a:lnSpc>
                <a:spcPct val="110000"/>
              </a:lnSpc>
            </a:pPr>
            <a:r>
              <a:rPr sz="4000" b="1">
                <a:solidFill>
                  <a:srgbClr val="FFFFFF"/>
                </a:solidFill>
                <a:latin typeface="맑은 고딕"/>
                <a:ea typeface="맑은 고딕"/>
                <a:cs typeface="맑은 고딕"/>
              </a:rPr>
              <a:t>업무 프로세스의 설계와 실행</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추천을 끝난 업무로 잇는 프로세스의 정의, 표기, 실행</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ute" descr="rout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itemap" descr="sitemap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layer-play" descr="player-pla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추천이 끝난 업무가 되기까지의 순서와 책임을 프로세스로 정의하고, BPMN으로 그려 실행하는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프로세스의 정의</a:t>
            </a:r>
          </a:p>
          <a:p>
            <a:pPr algn="l">
              <a:lnSpc>
                <a:spcPct val="110000"/>
              </a:lnSpc>
              <a:spcAft>
                <a:spcPts val="400"/>
              </a:spcAft>
            </a:pPr>
            <a:r>
              <a:rPr sz="1350" b="0">
                <a:solidFill>
                  <a:srgbClr val="1F2A3A"/>
                </a:solidFill>
                <a:latin typeface="맑은 고딕"/>
                <a:ea typeface="맑은 고딕"/>
                <a:cs typeface="맑은 고딕"/>
              </a:rPr>
              <a:t>• 작업 하나와 종단 간 프로세스를 구분한다</a:t>
            </a:r>
          </a:p>
          <a:p>
            <a:pPr algn="l">
              <a:lnSpc>
                <a:spcPct val="110000"/>
              </a:lnSpc>
              <a:spcAft>
                <a:spcPts val="400"/>
              </a:spcAft>
            </a:pPr>
            <a:r>
              <a:rPr sz="1350" b="0">
                <a:solidFill>
                  <a:srgbClr val="1F2A3A"/>
                </a:solidFill>
                <a:latin typeface="맑은 고딕"/>
                <a:ea typeface="맑은 고딕"/>
                <a:cs typeface="맑은 고딕"/>
              </a:rPr>
              <a:t>• 시작 조건, 입력, 출력, 책임자, 완료 조건을 가려낸다</a:t>
            </a:r>
          </a:p>
        </p:txBody>
      </p:sp>
      <p:sp>
        <p:nvSpPr>
          <p:cNvPr id="10" name="Rounded Rectangle 9"/>
          <p:cNvSpPr/>
          <p:nvPr/>
        </p:nvSpPr>
        <p:spPr>
          <a:xfrm>
            <a:off x="777240" y="5238940"/>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BPMN 읽기</a:t>
            </a:r>
          </a:p>
          <a:p>
            <a:pPr algn="l">
              <a:lnSpc>
                <a:spcPct val="110000"/>
              </a:lnSpc>
              <a:spcAft>
                <a:spcPts val="400"/>
              </a:spcAft>
            </a:pPr>
            <a:r>
              <a:rPr sz="1350" b="0">
                <a:solidFill>
                  <a:srgbClr val="1F2A3A"/>
                </a:solidFill>
                <a:latin typeface="맑은 고딕"/>
                <a:ea typeface="맑은 고딕"/>
                <a:cs typeface="맑은 고딕"/>
              </a:rPr>
              <a:t>• 이벤트, 작업, 게이트웨이, 레인의 뜻을 그림에서 읽는다</a:t>
            </a:r>
          </a:p>
          <a:p>
            <a:pPr algn="l">
              <a:lnSpc>
                <a:spcPct val="110000"/>
              </a:lnSpc>
              <a:spcAft>
                <a:spcPts val="400"/>
              </a:spcAft>
            </a:pPr>
            <a:r>
              <a:rPr sz="1350" b="0">
                <a:solidFill>
                  <a:srgbClr val="1F2A3A"/>
                </a:solidFill>
                <a:latin typeface="맑은 고딕"/>
                <a:ea typeface="맑은 고딕"/>
                <a:cs typeface="맑은 고딕"/>
              </a:rPr>
              <a:t>• 승인과 거절의 갈림을 따라간다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표기법</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실행의 이해</a:t>
            </a:r>
          </a:p>
          <a:p>
            <a:pPr algn="l">
              <a:lnSpc>
                <a:spcPct val="110000"/>
              </a:lnSpc>
              <a:spcAft>
                <a:spcPts val="400"/>
              </a:spcAft>
            </a:pPr>
            <a:r>
              <a:rPr sz="1350" b="0">
                <a:solidFill>
                  <a:srgbClr val="1F2A3A"/>
                </a:solidFill>
                <a:latin typeface="맑은 고딕"/>
                <a:ea typeface="맑은 고딕"/>
                <a:cs typeface="맑은 고딕"/>
              </a:rPr>
              <a:t>정의와 인스턴스, 토큰, 변수로 실행 중인 프로세스의 상태를 설명한다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설계와 실행</a:t>
            </a:r>
          </a:p>
          <a:p>
            <a:pPr algn="l">
              <a:lnSpc>
                <a:spcPct val="110000"/>
              </a:lnSpc>
              <a:spcAft>
                <a:spcPts val="400"/>
              </a:spcAft>
            </a:pPr>
            <a:r>
              <a:rPr sz="1350" b="0">
                <a:solidFill>
                  <a:srgbClr val="1F2A3A"/>
                </a:solidFill>
                <a:latin typeface="맑은 고딕"/>
                <a:ea typeface="맑은 고딕"/>
                <a:cs typeface="맑은 고딕"/>
              </a:rPr>
              <a:t>긴급 대응 프로세스를 직접 그려 등록하고 처리 건의 기록을 읽는다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비즈니스 프로세스: 작업 하나에서 업무 전체로</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BPMN: 프로세스를 그리는 표준 표기법</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오케스트레이션: 설계한 프로세스의 실행</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비즈니스 프로세스:</a:t>
            </a:r>
          </a:p>
          <a:p>
            <a:pPr algn="l">
              <a:lnSpc>
                <a:spcPct val="110000"/>
              </a:lnSpc>
            </a:pPr>
            <a:r>
              <a:rPr sz="3400" b="1">
                <a:solidFill>
                  <a:srgbClr val="13294B"/>
                </a:solidFill>
                <a:latin typeface="맑은 고딕"/>
                <a:ea typeface="맑은 고딕"/>
                <a:cs typeface="맑은 고딕"/>
              </a:rPr>
              <a:t>작업 하나에서 업무 전체로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추천이 끝난 업무가 되기까지의 순서와 책임을 정하는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추천이 나온 뒤에 남은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추천한 시점에 유온은 그대로이며, 승인에서 결과 보고까지 다섯 가지 일이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남은일_추천뒤.svg" descr="illust_5420614068390887412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804742" y="247857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여기까지 끝났다</a:t>
            </a:r>
          </a:p>
        </p:txBody>
      </p:sp>
      <p:sp>
        <p:nvSpPr>
          <p:cNvPr id="16" name="TextBox 15"/>
          <p:cNvSpPr txBox="1"/>
          <p:nvPr/>
        </p:nvSpPr>
        <p:spPr>
          <a:xfrm>
            <a:off x="4595792" y="2384023"/>
            <a:ext cx="436379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남은 일 다섯 가지</a:t>
            </a:r>
          </a:p>
          <a:p>
            <a:pPr algn="ctr">
              <a:lnSpc>
                <a:spcPct val="110000"/>
              </a:lnSpc>
              <a:spcAft>
                <a:spcPts val="100"/>
              </a:spcAft>
            </a:pPr>
            <a:r>
              <a:rPr sz="1100" b="0">
                <a:solidFill>
                  <a:srgbClr val="556175"/>
                </a:solidFill>
                <a:latin typeface="맑은 고딕"/>
                <a:ea typeface="맑은 고딕"/>
                <a:cs typeface="맑은 고딕"/>
              </a:rPr>
              <a:t>아직 실행되지 않았다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남은 일을 맡는 쪽과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남은 일은 운전원, SCADA, CMMS처럼 서로 다른 쪽이 맡으며, 저마다 앞의 결과를 받아야 시작할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a:t>
            </a:r>
          </a:p>
          <a:p>
            <a:pPr algn="ctr">
              <a:lnSpc>
                <a:spcPct val="110000"/>
              </a:lnSpc>
              <a:spcAft>
                <a:spcPts val="400"/>
              </a:spcAft>
            </a:pPr>
            <a:r>
              <a:rPr sz="1250" b="0">
                <a:solidFill>
                  <a:srgbClr val="1F2A3A"/>
                </a:solidFill>
                <a:latin typeface="맑은 고딕"/>
                <a:ea typeface="맑은 고딕"/>
                <a:cs typeface="맑은 고딕"/>
              </a:rPr>
              <a:t>추천을 검토해</a:t>
            </a:r>
          </a:p>
          <a:p>
            <a:pPr algn="ctr">
              <a:lnSpc>
                <a:spcPct val="110000"/>
              </a:lnSpc>
              <a:spcAft>
                <a:spcPts val="400"/>
              </a:spcAft>
            </a:pPr>
            <a:r>
              <a:rPr sz="1250" b="0">
                <a:solidFill>
                  <a:srgbClr val="1F2A3A"/>
                </a:solidFill>
                <a:latin typeface="맑은 고딕"/>
                <a:ea typeface="맑은 고딕"/>
                <a:cs typeface="맑은 고딕"/>
              </a:rPr>
              <a:t>승인하거나 거절한다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냉각 명령</a:t>
            </a:r>
          </a:p>
          <a:p>
            <a:pPr algn="ctr">
              <a:lnSpc>
                <a:spcPct val="110000"/>
              </a:lnSpc>
              <a:spcAft>
                <a:spcPts val="400"/>
              </a:spcAft>
            </a:pPr>
            <a:r>
              <a:rPr sz="1250" b="0">
                <a:solidFill>
                  <a:srgbClr val="1F2A3A"/>
                </a:solidFill>
                <a:latin typeface="맑은 고딕"/>
                <a:ea typeface="맑은 고딕"/>
                <a:cs typeface="맑은 고딕"/>
              </a:rPr>
              <a:t>SCADA</a:t>
            </a:r>
          </a:p>
          <a:p>
            <a:pPr algn="ctr">
              <a:lnSpc>
                <a:spcPct val="110000"/>
              </a:lnSpc>
              <a:spcAft>
                <a:spcPts val="400"/>
              </a:spcAft>
            </a:pPr>
            <a:r>
              <a:rPr sz="1250" b="0">
                <a:solidFill>
                  <a:srgbClr val="1F2A3A"/>
                </a:solidFill>
                <a:latin typeface="맑은 고딕"/>
                <a:ea typeface="맑은 고딕"/>
                <a:cs typeface="맑은 고딕"/>
              </a:rPr>
              <a:t>승인된 조치대로</a:t>
            </a:r>
          </a:p>
          <a:p>
            <a:pPr algn="ctr">
              <a:lnSpc>
                <a:spcPct val="110000"/>
              </a:lnSpc>
              <a:spcAft>
                <a:spcPts val="400"/>
              </a:spcAft>
            </a:pPr>
            <a:r>
              <a:rPr sz="1250" b="0">
                <a:solidFill>
                  <a:srgbClr val="1F2A3A"/>
                </a:solidFill>
                <a:latin typeface="맑은 고딕"/>
                <a:ea typeface="맑은 고딕"/>
                <a:cs typeface="맑은 고딕"/>
              </a:rPr>
              <a:t>PLC에 명령을 보낸다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a:t>
            </a:r>
          </a:p>
          <a:p>
            <a:pPr algn="ctr">
              <a:lnSpc>
                <a:spcPct val="110000"/>
              </a:lnSpc>
              <a:spcAft>
                <a:spcPts val="400"/>
              </a:spcAft>
            </a:pPr>
            <a:r>
              <a:rPr sz="1250" b="0">
                <a:solidFill>
                  <a:srgbClr val="1F2A3A"/>
                </a:solidFill>
                <a:latin typeface="맑은 고딕"/>
                <a:ea typeface="맑은 고딕"/>
                <a:cs typeface="맑은 고딕"/>
              </a:rPr>
              <a:t>process 서비스</a:t>
            </a:r>
          </a:p>
          <a:p>
            <a:pPr algn="ctr">
              <a:lnSpc>
                <a:spcPct val="110000"/>
              </a:lnSpc>
              <a:spcAft>
                <a:spcPts val="400"/>
              </a:spcAft>
            </a:pPr>
            <a:r>
              <a:rPr sz="1250" b="0">
                <a:solidFill>
                  <a:srgbClr val="1F2A3A"/>
                </a:solidFill>
                <a:latin typeface="맑은 고딕"/>
                <a:ea typeface="맑은 고딕"/>
                <a:cs typeface="맑은 고딕"/>
              </a:rPr>
              <a:t>유온이 55 ℃ 미만으로</a:t>
            </a:r>
          </a:p>
          <a:p>
            <a:pPr algn="ctr">
              <a:lnSpc>
                <a:spcPct val="110000"/>
              </a:lnSpc>
              <a:spcAft>
                <a:spcPts val="400"/>
              </a:spcAft>
            </a:pPr>
            <a:r>
              <a:rPr sz="1250" b="0">
                <a:solidFill>
                  <a:srgbClr val="1F2A3A"/>
                </a:solidFill>
                <a:latin typeface="맑은 고딕"/>
                <a:ea typeface="맑은 고딕"/>
                <a:cs typeface="맑은 고딕"/>
              </a:rPr>
              <a:t>회복했는지 판정한다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작업지시 등록</a:t>
            </a:r>
          </a:p>
          <a:p>
            <a:pPr algn="ctr">
              <a:lnSpc>
                <a:spcPct val="110000"/>
              </a:lnSpc>
              <a:spcAft>
                <a:spcPts val="400"/>
              </a:spcAft>
            </a:pPr>
            <a:r>
              <a:rPr sz="1250" b="0">
                <a:solidFill>
                  <a:srgbClr val="1F2A3A"/>
                </a:solidFill>
                <a:latin typeface="맑은 고딕"/>
                <a:ea typeface="맑은 고딕"/>
                <a:cs typeface="맑은 고딕"/>
              </a:rPr>
              <a:t>CMMS</a:t>
            </a:r>
          </a:p>
          <a:p>
            <a:pPr algn="ctr">
              <a:lnSpc>
                <a:spcPct val="110000"/>
              </a:lnSpc>
              <a:spcAft>
                <a:spcPts val="400"/>
              </a:spcAft>
            </a:pPr>
            <a:r>
              <a:rPr sz="1250" b="0">
                <a:solidFill>
                  <a:srgbClr val="1F2A3A"/>
                </a:solidFill>
                <a:latin typeface="맑은 고딕"/>
                <a:ea typeface="맑은 고딕"/>
                <a:cs typeface="맑은 고딕"/>
              </a:rPr>
              <a:t>원인을 없앨 정비를</a:t>
            </a:r>
          </a:p>
          <a:p>
            <a:pPr algn="ctr">
              <a:lnSpc>
                <a:spcPct val="110000"/>
              </a:lnSpc>
              <a:spcAft>
                <a:spcPts val="400"/>
              </a:spcAft>
            </a:pPr>
            <a:r>
              <a:rPr sz="1250" b="0">
                <a:solidFill>
                  <a:srgbClr val="1F2A3A"/>
                </a:solidFill>
                <a:latin typeface="맑은 고딕"/>
                <a:ea typeface="맑은 고딕"/>
                <a:cs typeface="맑은 고딕"/>
              </a:rPr>
              <a:t>작업지시로 등록한다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809303"/>
            <a:ext cx="731520" cy="731520"/>
          </a:xfrm>
          <a:prstGeom prst="ellipse">
            <a:avLst/>
          </a:prstGeom>
          <a:solidFill>
            <a:srgbClr val="FFFFFF"/>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 보고</a:t>
            </a:r>
          </a:p>
          <a:p>
            <a:pPr algn="ctr">
              <a:lnSpc>
                <a:spcPct val="110000"/>
              </a:lnSpc>
              <a:spcAft>
                <a:spcPts val="400"/>
              </a:spcAft>
            </a:pPr>
            <a:r>
              <a:rPr sz="1250" b="0">
                <a:solidFill>
                  <a:srgbClr val="1F2A3A"/>
                </a:solidFill>
                <a:latin typeface="맑은 고딕"/>
                <a:ea typeface="맑은 고딕"/>
                <a:cs typeface="맑은 고딕"/>
              </a:rPr>
              <a:t>process 서비스</a:t>
            </a:r>
          </a:p>
          <a:p>
            <a:pPr algn="ctr">
              <a:lnSpc>
                <a:spcPct val="110000"/>
              </a:lnSpc>
              <a:spcAft>
                <a:spcPts val="400"/>
              </a:spcAft>
            </a:pPr>
            <a:r>
              <a:rPr sz="1250" b="0">
                <a:solidFill>
                  <a:srgbClr val="1F2A3A"/>
                </a:solidFill>
                <a:latin typeface="맑은 고딕"/>
                <a:ea typeface="맑은 고딕"/>
                <a:cs typeface="맑은 고딕"/>
              </a:rPr>
              <a:t>처리한 내용과</a:t>
            </a:r>
          </a:p>
          <a:p>
            <a:pPr algn="ctr">
              <a:lnSpc>
                <a:spcPct val="110000"/>
              </a:lnSpc>
              <a:spcAft>
                <a:spcPts val="400"/>
              </a:spcAft>
            </a:pPr>
            <a:r>
              <a:rPr sz="1250" b="0">
                <a:solidFill>
                  <a:srgbClr val="1F2A3A"/>
                </a:solidFill>
                <a:latin typeface="맑은 고딕"/>
                <a:ea typeface="맑은 고딕"/>
                <a:cs typeface="맑은 고딕"/>
              </a:rPr>
              <a:t>결과를 정리해 알린다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일과 일 사이를 잇는 것이 없을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일과 일 사이를 이어 주는 것이 없으면 추천은 화면에 머물고, 누가 무엇을 기다리는지 아무도 알지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hourglass" descr="hourglas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멈춘다</a:t>
            </a:r>
          </a:p>
          <a:p>
            <a:pPr algn="l">
              <a:lnSpc>
                <a:spcPct val="110000"/>
              </a:lnSpc>
              <a:spcAft>
                <a:spcPts val="400"/>
              </a:spcAft>
            </a:pPr>
            <a:r>
              <a:rPr sz="1400" b="0">
                <a:solidFill>
                  <a:srgbClr val="1F2A3A"/>
                </a:solidFill>
                <a:latin typeface="맑은 고딕"/>
                <a:ea typeface="맑은 고딕"/>
                <a:cs typeface="맑은 고딕"/>
              </a:rPr>
              <a:t>• 추천이 나와도 승인을 요청받은 사람이 없다</a:t>
            </a:r>
          </a:p>
          <a:p>
            <a:pPr algn="l">
              <a:lnSpc>
                <a:spcPct val="110000"/>
              </a:lnSpc>
              <a:spcAft>
                <a:spcPts val="400"/>
              </a:spcAft>
            </a:pPr>
            <a:r>
              <a:rPr sz="1400" b="0">
                <a:solidFill>
                  <a:srgbClr val="1F2A3A"/>
                </a:solidFill>
                <a:latin typeface="맑은 고딕"/>
                <a:ea typeface="맑은 고딕"/>
                <a:cs typeface="맑은 고딕"/>
              </a:rPr>
              <a:t>• 재관측은 누군가 기억하고 있어야 이루어진다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흩어진다</a:t>
            </a:r>
          </a:p>
          <a:p>
            <a:pPr algn="l">
              <a:lnSpc>
                <a:spcPct val="110000"/>
              </a:lnSpc>
              <a:spcAft>
                <a:spcPts val="400"/>
              </a:spcAft>
            </a:pPr>
            <a:r>
              <a:rPr sz="1400" b="0">
                <a:solidFill>
                  <a:srgbClr val="1F2A3A"/>
                </a:solidFill>
                <a:latin typeface="맑은 고딕"/>
                <a:ea typeface="맑은 고딕"/>
                <a:cs typeface="맑은 고딕"/>
              </a:rPr>
              <a:t>승인을 누가 하는지, 응답이 없으면 어떻게 되는지가 정해져 있지 않다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책임</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남지 않는다</a:t>
            </a:r>
          </a:p>
          <a:p>
            <a:pPr algn="l">
              <a:lnSpc>
                <a:spcPct val="110000"/>
              </a:lnSpc>
              <a:spcAft>
                <a:spcPts val="400"/>
              </a:spcAft>
            </a:pPr>
            <a:r>
              <a:rPr sz="1400" b="0">
                <a:solidFill>
                  <a:srgbClr val="1F2A3A"/>
                </a:solidFill>
                <a:latin typeface="맑은 고딕"/>
                <a:ea typeface="맑은 고딕"/>
                <a:cs typeface="맑은 고딕"/>
              </a:rPr>
              <a:t>어디까지 진행되었고 무엇으로 끝났는지를 한곳에서 볼 수 없다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상황을 읽고 그때마다 판단하므로, 매번 같은 순서와 빠지지 않는 승인은 에이전트 밖에서 보장해야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원인을 가린다</a:t>
            </a:r>
          </a:p>
          <a:p>
            <a:pPr algn="l">
              <a:lnSpc>
                <a:spcPct val="110000"/>
              </a:lnSpc>
              <a:spcAft>
                <a:spcPts val="600"/>
              </a:spcAft>
            </a:pPr>
            <a:r>
              <a:rPr sz="1450" b="0">
                <a:solidFill>
                  <a:srgbClr val="1F2A3A"/>
                </a:solidFill>
                <a:latin typeface="맑은 고딕"/>
                <a:ea typeface="맑은 고딕"/>
                <a:cs typeface="맑은 고딕"/>
              </a:rPr>
              <a:t>• 조치 후보를 견주어 하나를 추천한다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 전에는 설비 명령이 나가지 않는다</a:t>
            </a:r>
          </a:p>
          <a:p>
            <a:pPr algn="l">
              <a:lnSpc>
                <a:spcPct val="110000"/>
              </a:lnSpc>
              <a:spcAft>
                <a:spcPts val="600"/>
              </a:spcAft>
            </a:pPr>
            <a:r>
              <a:rPr sz="1450" b="0">
                <a:solidFill>
                  <a:srgbClr val="1F2A3A"/>
                </a:solidFill>
                <a:latin typeface="맑은 고딕"/>
                <a:ea typeface="맑은 고딕"/>
                <a:cs typeface="맑은 고딕"/>
              </a:rPr>
              <a:t>• 승인은 정해진 역할만 한다</a:t>
            </a:r>
          </a:p>
          <a:p>
            <a:pPr algn="l">
              <a:lnSpc>
                <a:spcPct val="110000"/>
              </a:lnSpc>
              <a:spcAft>
                <a:spcPts val="600"/>
              </a:spcAft>
            </a:pPr>
            <a:r>
              <a:rPr sz="14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비즈니스 프로세스: 결과를 내기 위한 작업의 순서 있는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비즈니스 프로세스는 정해진 결과를 내려고 여러 주체가 수행하는 작업을 순서대로 이은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비즈니스 프로세스</a:t>
            </a:r>
          </a:p>
          <a:p>
            <a:pPr algn="l">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조직이 어떤 결과를 내기 위해 수행하는 관련 작업의 순서 있는 묶음이다.</a:t>
            </a:r>
          </a:p>
          <a:p>
            <a:pPr algn="l">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긴급 대응 프로세스</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a:lnSpc>
                <a:spcPct val="110000"/>
              </a:lnSpc>
              <a:spcAft>
                <a:spcPts val="300"/>
              </a:spcAft>
            </a:pPr>
            <a:r>
              <a:rPr sz="1400" b="0">
                <a:solidFill>
                  <a:srgbClr val="1F2A3A"/>
                </a:solidFill>
                <a:latin typeface="맑은 고딕"/>
                <a:ea typeface="맑은 고딕"/>
                <a:cs typeface="맑은 고딕"/>
              </a:rPr>
              <a:t>에이전트의 추천,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처리 건</a:t>
            </a:r>
          </a:p>
          <a:p>
            <a:pPr algn="l">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건을 HYD 포털은 처리 건이라고 부른다.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Task와 End-to-End: 작업 하나와 종단 간 전체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Task는 작업 하나이고 End-to-End는 시작 사건에서 최종 결과까지의 전체이며, 업무의 완료는 End-to-End로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남은일_종단.svg" descr="illust_67641024914360927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8" name="TextBox 7"/>
          <p:cNvSpPr txBox="1"/>
          <p:nvPr/>
        </p:nvSpPr>
        <p:spPr>
          <a:xfrm>
            <a:off x="2141155"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a:t>
            </a:r>
          </a:p>
        </p:txBody>
      </p:sp>
      <p:sp>
        <p:nvSpPr>
          <p:cNvPr id="9" name="TextBox 8"/>
          <p:cNvSpPr txBox="1"/>
          <p:nvPr/>
        </p:nvSpPr>
        <p:spPr>
          <a:xfrm>
            <a:off x="3504842"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4868529"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623221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7486808"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8959590"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432371" y="418045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1077479" y="1816729"/>
            <a:ext cx="392741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Task</a:t>
            </a:r>
          </a:p>
          <a:p>
            <a:pPr algn="ctr">
              <a:lnSpc>
                <a:spcPct val="110000"/>
              </a:lnSpc>
              <a:spcAft>
                <a:spcPts val="100"/>
              </a:spcAft>
            </a:pPr>
            <a:r>
              <a:rPr sz="1100" b="0">
                <a:solidFill>
                  <a:srgbClr val="556175"/>
                </a:solidFill>
                <a:latin typeface="맑은 고딕"/>
                <a:ea typeface="맑은 고딕"/>
                <a:cs typeface="맑은 고딕"/>
              </a:rPr>
              <a:t>작업 하나</a:t>
            </a:r>
          </a:p>
          <a:p>
            <a:pPr algn="ctr">
              <a:lnSpc>
                <a:spcPct val="110000"/>
              </a:lnSpc>
              <a:spcAft>
                <a:spcPts val="100"/>
              </a:spcAft>
            </a:pPr>
            <a:r>
              <a:rPr sz="1100" b="0">
                <a:solidFill>
                  <a:srgbClr val="556175"/>
                </a:solidFill>
                <a:latin typeface="맑은 고딕"/>
                <a:ea typeface="맑은 고딕"/>
                <a:cs typeface="맑은 고딕"/>
              </a:rPr>
              <a:t>끝난 시점: 설비 명령 없음, 유온 그대로</a:t>
            </a:r>
          </a:p>
        </p:txBody>
      </p:sp>
      <p:sp>
        <p:nvSpPr>
          <p:cNvPr id="16" name="TextBox 15"/>
          <p:cNvSpPr txBox="1"/>
          <p:nvPr/>
        </p:nvSpPr>
        <p:spPr>
          <a:xfrm>
            <a:off x="2822999" y="5409590"/>
            <a:ext cx="6545697"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End-to-End</a:t>
            </a:r>
          </a:p>
          <a:p>
            <a:pPr algn="ctr">
              <a:lnSpc>
                <a:spcPct val="110000"/>
              </a:lnSpc>
              <a:spcAft>
                <a:spcPts val="100"/>
              </a:spcAft>
            </a:pPr>
            <a:r>
              <a:rPr sz="1100" b="0">
                <a:solidFill>
                  <a:srgbClr val="556175"/>
                </a:solidFill>
                <a:latin typeface="맑은 고딕"/>
                <a:ea typeface="맑은 고딕"/>
                <a:cs typeface="맑은 고딕"/>
              </a:rPr>
              <a:t>시작 사건에서 최종 결과까지</a:t>
            </a:r>
          </a:p>
          <a:p>
            <a:pPr algn="ctr">
              <a:lnSpc>
                <a:spcPct val="110000"/>
              </a:lnSpc>
              <a:spcAft>
                <a:spcPts val="100"/>
              </a:spcAft>
            </a:pPr>
            <a:r>
              <a:rPr sz="1100" b="0">
                <a:solidFill>
                  <a:srgbClr val="556175"/>
                </a:solidFill>
                <a:latin typeface="맑은 고딕"/>
                <a:ea typeface="맑은 고딕"/>
                <a:cs typeface="맑은 고딕"/>
              </a:rPr>
              <a:t>끝난 시점: 명령 CMD-1010-0001-01d1, 유온 51.3 ℃, 작업지시 WO-1010-1198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프로세스: 조치 하나의 절차와 업무 전체의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조치 하나를 수행하는 순서를 정하고, 프로세스는 경보에서 결과 보고까지 여러 주체의 작업을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범위: 조치 하나</a:t>
            </a:r>
          </a:p>
          <a:p>
            <a:pPr algn="l">
              <a:lnSpc>
                <a:spcPct val="110000"/>
              </a:lnSpc>
              <a:spcAft>
                <a:spcPts val="600"/>
              </a:spcAft>
            </a:pPr>
            <a:r>
              <a:rPr sz="1450" b="0">
                <a:solidFill>
                  <a:srgbClr val="1F2A3A"/>
                </a:solidFill>
                <a:latin typeface="맑은 고딕"/>
                <a:ea typeface="맑은 고딕"/>
                <a:cs typeface="맑은 고딕"/>
              </a:rPr>
              <a:t>• 적는 것: 수행 단계, 조건, 완료 확인 기준</a:t>
            </a:r>
          </a:p>
          <a:p>
            <a:pPr algn="l">
              <a:lnSpc>
                <a:spcPct val="110000"/>
              </a:lnSpc>
              <a:spcAft>
                <a:spcPts val="600"/>
              </a:spcAft>
            </a:pPr>
            <a:r>
              <a:rPr sz="1450" b="0">
                <a:solidFill>
                  <a:srgbClr val="1F2A3A"/>
                </a:solidFill>
                <a:latin typeface="맑은 고딕"/>
                <a:ea typeface="맑은 고딕"/>
                <a:cs typeface="맑은 고딕"/>
              </a:rPr>
              <a:t>• 예: SOP-COOL-11 팬 최대 운전의 세 단계</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조치의 절차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범위: 시작 사건에서 최종 결과까지</a:t>
            </a:r>
          </a:p>
          <a:p>
            <a:pPr algn="l">
              <a:lnSpc>
                <a:spcPct val="110000"/>
              </a:lnSpc>
              <a:spcAft>
                <a:spcPts val="600"/>
              </a:spcAft>
            </a:pPr>
            <a:r>
              <a:rPr sz="1450" b="0">
                <a:solidFill>
                  <a:srgbClr val="1F2A3A"/>
                </a:solidFill>
                <a:latin typeface="맑은 고딕"/>
                <a:ea typeface="맑은 고딕"/>
                <a:cs typeface="맑은 고딕"/>
              </a:rPr>
              <a:t>• 적는 것: 작업의 순서, 갈림, 책임자, 끝나는 조건</a:t>
            </a:r>
          </a:p>
          <a:p>
            <a:pPr algn="l">
              <a:lnSpc>
                <a:spcPct val="110000"/>
              </a:lnSpc>
              <a:spcAft>
                <a:spcPts val="600"/>
              </a:spcAft>
            </a:pPr>
            <a:r>
              <a:rPr sz="1450" b="0">
                <a:solidFill>
                  <a:srgbClr val="1F2A3A"/>
                </a:solidFill>
                <a:latin typeface="맑은 고딕"/>
                <a:ea typeface="맑은 고딕"/>
                <a:cs typeface="맑은 고딕"/>
              </a:rPr>
              <a:t>• 예: 경보, 추천, 승인, 명령, 재관측, 보고의 순서</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업무의 흐름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프로세스를 정의하는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정의하는 일은 시작 조건, 입력, 출력, 책임자, 완료 조건의 다섯 가지를 실행 전에 정해 두는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정할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답하는 물음</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긴급 대응 프로세스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시작 조건</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무엇이 일어나면 시작하는가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입력</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시작할 때 무엇을 받는가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설비 HYD-01, 경보의 내용</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출력</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끝났을 때 무엇이 남는가</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 작업지시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책임자</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작업마다 누가 맡는가</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에이전트, 운전원,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완료 조건</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무엇으로 끝났다고 보는가</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끝 이벤트에 닿는다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조건과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사람이 시작시키지 않고 경보 메시지가 도착하면 열리며, 그 경보의 내용이 입력이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COOLER_DEGRADATION인</a:t>
            </a:r>
          </a:p>
          <a:p>
            <a:pPr algn="l">
              <a:lnSpc>
                <a:spcPct val="110000"/>
              </a:lnSpc>
              <a:spcAft>
                <a:spcPts val="400"/>
              </a:spcAft>
            </a:pPr>
            <a:r>
              <a:rPr sz="1400" b="0">
                <a:solidFill>
                  <a:srgbClr val="1F2A3A"/>
                </a:solidFill>
                <a:latin typeface="맑은 고딕"/>
                <a:ea typeface="맑은 고딕"/>
                <a:cs typeface="맑은 고딕"/>
              </a:rPr>
              <a:t>경보가 프로세스를 연다.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asset · alertId</a:t>
            </a:r>
          </a:p>
          <a:p>
            <a:pPr algn="l">
              <a:lnSpc>
                <a:spcPct val="110000"/>
              </a:lnSpc>
              <a:spcAft>
                <a:spcPts val="400"/>
              </a:spcAft>
            </a:pPr>
            <a:r>
              <a:rPr sz="1400" b="0">
                <a:solidFill>
                  <a:srgbClr val="1F2A3A"/>
                </a:solidFill>
                <a:latin typeface="맑은 고딕"/>
                <a:ea typeface="맑은 고딕"/>
                <a:cs typeface="맑은 고딕"/>
              </a:rPr>
              <a:t>설비와 경보의 식별자가</a:t>
            </a:r>
          </a:p>
          <a:p>
            <a:pPr algn="l">
              <a:lnSpc>
                <a:spcPct val="110000"/>
              </a:lnSpc>
              <a:spcAft>
                <a:spcPts val="400"/>
              </a:spcAft>
            </a:pPr>
            <a:r>
              <a:rPr sz="1400" b="0">
                <a:solidFill>
                  <a:srgbClr val="1F2A3A"/>
                </a:solidFill>
                <a:latin typeface="맑은 고딕"/>
                <a:ea typeface="맑은 고딕"/>
                <a:cs typeface="맑은 고딕"/>
              </a:rPr>
              <a:t>처리 건의 입력으로 실린다.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경보에 한 건</a:t>
            </a:r>
          </a:p>
          <a:p>
            <a:pPr algn="l">
              <a:lnSpc>
                <a:spcPct val="110000"/>
              </a:lnSpc>
              <a:spcAft>
                <a:spcPts val="400"/>
              </a:spcAft>
            </a:pPr>
            <a:r>
              <a:rPr sz="1400" b="0">
                <a:solidFill>
                  <a:srgbClr val="1F2A3A"/>
                </a:solidFill>
                <a:latin typeface="맑은 고딕"/>
                <a:ea typeface="맑은 고딕"/>
                <a:cs typeface="맑은 고딕"/>
              </a:rPr>
              <a:t>같은 경보로 처리 건이</a:t>
            </a:r>
          </a:p>
          <a:p>
            <a:pPr algn="l">
              <a:lnSpc>
                <a:spcPct val="110000"/>
              </a:lnSpc>
              <a:spcAft>
                <a:spcPts val="400"/>
              </a:spcAft>
            </a:pPr>
            <a:r>
              <a:rPr sz="1400" b="0">
                <a:solidFill>
                  <a:srgbClr val="1F2A3A"/>
                </a:solidFill>
                <a:latin typeface="맑은 고딕"/>
                <a:ea typeface="맑은 고딕"/>
                <a:cs typeface="맑은 고딕"/>
              </a:rPr>
              <a:t>두 번 열리지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출력과 입력의 연쇄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앞 작업의 출력이 다음 작업의 입력이 되므로, 작업 하나가 정해진 출력을 내지 못하면 흐름은 그 자리에서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원인 진단 · 조치 제안</a:t>
            </a:r>
          </a:p>
          <a:p>
            <a:pPr algn="ctr">
              <a:lnSpc>
                <a:spcPct val="110000"/>
              </a:lnSpc>
              <a:spcAft>
                <a:spcPts val="400"/>
              </a:spcAft>
            </a:pPr>
            <a:r>
              <a:rPr sz="1350" b="0">
                <a:solidFill>
                  <a:srgbClr val="1F2A3A"/>
                </a:solidFill>
                <a:latin typeface="맑은 고딕"/>
                <a:ea typeface="맑은 고딕"/>
                <a:cs typeface="맑은 고딕"/>
              </a:rPr>
              <a:t>받는 것: 경보</a:t>
            </a:r>
          </a:p>
          <a:p>
            <a:pPr algn="ctr">
              <a:lnSpc>
                <a:spcPct val="110000"/>
              </a:lnSpc>
              <a:spcAft>
                <a:spcPts val="400"/>
              </a:spcAft>
            </a:pPr>
            <a:r>
              <a:rPr sz="1350" b="0">
                <a:solidFill>
                  <a:srgbClr val="1F2A3A"/>
                </a:solidFill>
                <a:latin typeface="맑은 고딕"/>
                <a:ea typeface="맑은 고딕"/>
                <a:cs typeface="맑은 고딕"/>
              </a:rPr>
              <a:t>내는 것: 원인과 추천 조치</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운전원 승인</a:t>
            </a:r>
          </a:p>
          <a:p>
            <a:pPr algn="ctr">
              <a:lnSpc>
                <a:spcPct val="110000"/>
              </a:lnSpc>
              <a:spcAft>
                <a:spcPts val="400"/>
              </a:spcAft>
            </a:pPr>
            <a:r>
              <a:rPr sz="1350" b="0">
                <a:solidFill>
                  <a:srgbClr val="1F2A3A"/>
                </a:solidFill>
                <a:latin typeface="맑은 고딕"/>
                <a:ea typeface="맑은 고딕"/>
                <a:cs typeface="맑은 고딕"/>
              </a:rPr>
              <a:t>받는 것: 추천 조치</a:t>
            </a:r>
          </a:p>
          <a:p>
            <a:pPr algn="ctr">
              <a:lnSpc>
                <a:spcPct val="110000"/>
              </a:lnSpc>
              <a:spcAft>
                <a:spcPts val="400"/>
              </a:spcAft>
            </a:pPr>
            <a:r>
              <a:rPr sz="1350" b="0">
                <a:solidFill>
                  <a:srgbClr val="1F2A3A"/>
                </a:solidFill>
                <a:latin typeface="맑은 고딕"/>
                <a:ea typeface="맑은 고딕"/>
                <a:cs typeface="맑은 고딕"/>
              </a:rPr>
              <a:t>내는 것: 승인 또는 거절</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냉각 명령</a:t>
            </a:r>
          </a:p>
          <a:p>
            <a:pPr algn="ctr">
              <a:lnSpc>
                <a:spcPct val="110000"/>
              </a:lnSpc>
              <a:spcAft>
                <a:spcPts val="400"/>
              </a:spcAft>
            </a:pPr>
            <a:r>
              <a:rPr sz="1350" b="0">
                <a:solidFill>
                  <a:srgbClr val="1F2A3A"/>
                </a:solidFill>
                <a:latin typeface="맑은 고딕"/>
                <a:ea typeface="맑은 고딕"/>
                <a:cs typeface="맑은 고딕"/>
              </a:rPr>
              <a:t>받는 것: 승인된 조치</a:t>
            </a:r>
          </a:p>
          <a:p>
            <a:pPr algn="ctr">
              <a:lnSpc>
                <a:spcPct val="110000"/>
              </a:lnSpc>
              <a:spcAft>
                <a:spcPts val="400"/>
              </a:spcAft>
            </a:pPr>
            <a:r>
              <a:rPr sz="1350" b="0">
                <a:solidFill>
                  <a:srgbClr val="1F2A3A"/>
                </a:solidFill>
                <a:latin typeface="맑은 고딕"/>
                <a:ea typeface="맑은 고딕"/>
                <a:cs typeface="맑은 고딕"/>
              </a:rPr>
              <a:t>내는 것: 명령의 처리 결과</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eye" descr="eye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재관측</a:t>
            </a:r>
          </a:p>
          <a:p>
            <a:pPr algn="ctr">
              <a:lnSpc>
                <a:spcPct val="110000"/>
              </a:lnSpc>
              <a:spcAft>
                <a:spcPts val="400"/>
              </a:spcAft>
            </a:pPr>
            <a:r>
              <a:rPr sz="1350" b="0">
                <a:solidFill>
                  <a:srgbClr val="1F2A3A"/>
                </a:solidFill>
                <a:latin typeface="맑은 고딕"/>
                <a:ea typeface="맑은 고딕"/>
                <a:cs typeface="맑은 고딕"/>
              </a:rPr>
              <a:t>받는 것: 명령의 완료</a:t>
            </a:r>
          </a:p>
          <a:p>
            <a:pPr algn="ctr">
              <a:lnSpc>
                <a:spcPct val="110000"/>
              </a:lnSpc>
              <a:spcAft>
                <a:spcPts val="400"/>
              </a:spcAft>
            </a:pPr>
            <a:r>
              <a:rPr sz="1350" b="0">
                <a:solidFill>
                  <a:srgbClr val="1F2A3A"/>
                </a:solidFill>
                <a:latin typeface="맑은 고딕"/>
                <a:ea typeface="맑은 고딕"/>
                <a:cs typeface="맑은 고딕"/>
              </a:rPr>
              <a:t>내는 것: 회복 여부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책임자: 사람, 에이전트, 시스템의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책임자는 사람의 이름이 아니라 역할로 정하며, 사람뿐 아니라 에이전트와 시스템도 작업의 책임자가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역할로 정한다</a:t>
            </a:r>
          </a:p>
          <a:p>
            <a:pPr algn="l">
              <a:lnSpc>
                <a:spcPct val="110000"/>
              </a:lnSpc>
              <a:spcAft>
                <a:spcPts val="400"/>
              </a:spcAft>
            </a:pPr>
            <a:r>
              <a:rPr sz="1400" b="0">
                <a:solidFill>
                  <a:srgbClr val="1F2A3A"/>
                </a:solidFill>
                <a:latin typeface="맑은 고딕"/>
                <a:ea typeface="맑은 고딕"/>
                <a:cs typeface="맑은 고딕"/>
              </a:rPr>
              <a:t>• 책임자를 사람의 이름이 아니라 운전원 같은 역할로 적는다</a:t>
            </a:r>
          </a:p>
          <a:p>
            <a:pPr algn="l">
              <a:lnSpc>
                <a:spcPct val="110000"/>
              </a:lnSpc>
              <a:spcAft>
                <a:spcPts val="400"/>
              </a:spcAft>
            </a:pPr>
            <a:r>
              <a:rPr sz="1400" b="0">
                <a:solidFill>
                  <a:srgbClr val="1F2A3A"/>
                </a:solidFill>
                <a:latin typeface="맑은 고딕"/>
                <a:ea typeface="맑은 고딕"/>
                <a:cs typeface="맑은 고딕"/>
              </a:rPr>
              <a:t>• 근무자가 바뀌어도 프로세스는 그대로 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사람만이 아니다</a:t>
            </a:r>
          </a:p>
          <a:p>
            <a:pPr algn="l">
              <a:lnSpc>
                <a:spcPct val="110000"/>
              </a:lnSpc>
              <a:spcAft>
                <a:spcPts val="400"/>
              </a:spcAft>
            </a:pPr>
            <a:r>
              <a:rPr sz="1400" b="0">
                <a:solidFill>
                  <a:srgbClr val="1F2A3A"/>
                </a:solidFill>
                <a:latin typeface="맑은 고딕"/>
                <a:ea typeface="맑은 고딕"/>
                <a:cs typeface="맑은 고딕"/>
              </a:rPr>
              <a:t>• 에이전트와 시스템도 작업을 맡는 책임자이다</a:t>
            </a:r>
          </a:p>
          <a:p>
            <a:pPr algn="l">
              <a:lnSpc>
                <a:spcPct val="110000"/>
              </a:lnSpc>
              <a:spcAft>
                <a:spcPts val="400"/>
              </a:spcAft>
            </a:pPr>
            <a:r>
              <a:rPr sz="1400" b="0">
                <a:solidFill>
                  <a:srgbClr val="1F2A3A"/>
                </a:solidFill>
                <a:latin typeface="맑은 고딕"/>
                <a:ea typeface="맑은 고딕"/>
                <a:cs typeface="맑은 고딕"/>
              </a:rPr>
              <a:t>• 판단, 결정, 실행이 서로 다른 쪽에 놓인다</a:t>
            </a:r>
          </a:p>
        </p:txBody>
      </p:sp>
      <p:sp>
        <p:nvSpPr>
          <p:cNvPr id="16" name="Rounded Rectangle 15"/>
          <p:cNvSpPr/>
          <p:nvPr/>
        </p:nvSpPr>
        <p:spPr>
          <a:xfrm>
            <a:off x="4566818" y="5149850"/>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세 종류</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작업마다 하나</a:t>
            </a:r>
          </a:p>
          <a:p>
            <a:pPr algn="l">
              <a:lnSpc>
                <a:spcPct val="110000"/>
              </a:lnSpc>
              <a:spcAft>
                <a:spcPts val="400"/>
              </a:spcAft>
            </a:pPr>
            <a:r>
              <a:rPr sz="1400" b="0">
                <a:solidFill>
                  <a:srgbClr val="1F2A3A"/>
                </a:solidFill>
                <a:latin typeface="맑은 고딕"/>
                <a:ea typeface="맑은 고딕"/>
                <a:cs typeface="맑은 고딕"/>
              </a:rPr>
              <a:t>작업마다 맡는 쪽이 하나로 정해져 있어 지금 누구의 차례인지가 분명하다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차례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완료 조건: 프로세스가 닫히는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완료 조건은 정상으로 끝난 경우뿐 아니라 거절되거나 회복에 미달한 경우에 업무가 어떻게 닫히는지도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닫히는 모습</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명령</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유온 회복</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정상 — 「유온 정상 · 경보 해제, 작업지시 WO-1010-1198」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회복 미달</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미달로 닫힌다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거절 — 「설비 명령은 내지 않았습니다」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없음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닫히지 않는다. 10분이 지나면 승인 지연 알림이 나가고 승인을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 밖에서 보장하는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 작업은 승인된 뒤에만 열리고 승인은 운전원 역할만 할 수 있어, 순서와 책임이 에이전트의 판단에 달려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순서</a:t>
            </a:r>
          </a:p>
          <a:p>
            <a:pPr algn="l">
              <a:lnSpc>
                <a:spcPct val="110000"/>
              </a:lnSpc>
              <a:spcAft>
                <a:spcPts val="400"/>
              </a:spcAft>
            </a:pPr>
            <a:r>
              <a:rPr sz="1400" b="0">
                <a:solidFill>
                  <a:srgbClr val="1F2A3A"/>
                </a:solidFill>
                <a:latin typeface="맑은 고딕"/>
                <a:ea typeface="맑은 고딕"/>
                <a:cs typeface="맑은 고딕"/>
              </a:rPr>
              <a:t>• 냉각 명령 작업은 승인 작업이 승인으로 끝난 뒤에만 열린다</a:t>
            </a:r>
          </a:p>
          <a:p>
            <a:pPr algn="l">
              <a:lnSpc>
                <a:spcPct val="110000"/>
              </a:lnSpc>
              <a:spcAft>
                <a:spcPts val="400"/>
              </a:spcAft>
            </a:pPr>
            <a:r>
              <a:rPr sz="1400" b="0">
                <a:solidFill>
                  <a:srgbClr val="1F2A3A"/>
                </a:solidFill>
                <a:latin typeface="맑은 고딕"/>
                <a:ea typeface="맑은 고딕"/>
                <a:cs typeface="맑은 고딕"/>
              </a:rPr>
              <a:t>• 추천만으로는 설비 명령이 만들어지지 않는다</a:t>
            </a:r>
          </a:p>
        </p:txBody>
      </p:sp>
      <p:sp>
        <p:nvSpPr>
          <p:cNvPr id="10" name="Rounded Rectangle 9"/>
          <p:cNvSpPr/>
          <p:nvPr/>
        </p:nvSpPr>
        <p:spPr>
          <a:xfrm>
            <a:off x="777240" y="5149850"/>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책임</a:t>
            </a:r>
          </a:p>
          <a:p>
            <a:pPr algn="l">
              <a:lnSpc>
                <a:spcPct val="110000"/>
              </a:lnSpc>
              <a:spcAft>
                <a:spcPts val="400"/>
              </a:spcAft>
            </a:pPr>
            <a:r>
              <a:rPr sz="1400" b="0">
                <a:solidFill>
                  <a:srgbClr val="1F2A3A"/>
                </a:solidFill>
                <a:latin typeface="맑은 고딕"/>
                <a:ea typeface="맑은 고딕"/>
                <a:cs typeface="맑은 고딕"/>
              </a:rPr>
              <a:t>• 승인 작업을 끝낼 수 있는 것은 운전원 역할이다</a:t>
            </a:r>
          </a:p>
          <a:p>
            <a:pPr algn="l">
              <a:lnSpc>
                <a:spcPct val="110000"/>
              </a:lnSpc>
              <a:spcAft>
                <a:spcPts val="400"/>
              </a:spcAft>
            </a:pPr>
            <a:r>
              <a:rPr sz="1400" b="0">
                <a:solidFill>
                  <a:srgbClr val="1F2A3A"/>
                </a:solidFill>
                <a:latin typeface="맑은 고딕"/>
                <a:ea typeface="맑은 고딕"/>
                <a:cs typeface="맑은 고딕"/>
              </a:rPr>
              <a:t>• 다른 역할이 시도한 승인은 거부되고 기록된다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기록</a:t>
            </a:r>
          </a:p>
          <a:p>
            <a:pPr algn="l">
              <a:lnSpc>
                <a:spcPct val="110000"/>
              </a:lnSpc>
              <a:spcAft>
                <a:spcPts val="400"/>
              </a:spcAft>
            </a:pPr>
            <a:r>
              <a:rPr sz="1400" b="0">
                <a:solidFill>
                  <a:srgbClr val="1F2A3A"/>
                </a:solidFill>
                <a:latin typeface="맑은 고딕"/>
                <a:ea typeface="맑은 고딕"/>
                <a:cs typeface="맑은 고딕"/>
              </a:rPr>
              <a:t>어느 경보로 열려 누가 승인했고 어디서 끝났는지가 처리 건에 남는다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프로세스 노드: 설비 이상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그래프에는 프로세스도 노드로 등록되어 전략 목표에 이어져 있어, 업무가 무엇을 위해 있는지를 조회할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Oval 5"/>
          <p:cNvSpPr/>
          <p:nvPr/>
        </p:nvSpPr>
        <p:spPr>
          <a:xfrm>
            <a:off x="548639" y="3122676"/>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HYD-01</a:t>
            </a:r>
          </a:p>
          <a:p>
            <a:pPr algn="ctr">
              <a:lnSpc>
                <a:spcPct val="110000"/>
              </a:lnSpc>
            </a:pPr>
            <a:r>
              <a:rPr sz="1100" b="0">
                <a:solidFill>
                  <a:srgbClr val="556175"/>
                </a:solidFill>
                <a:latin typeface="맑은 고딕"/>
                <a:ea typeface="맑은 고딕"/>
                <a:cs typeface="맑은 고딕"/>
              </a:rPr>
              <a:t>설비</a:t>
            </a:r>
          </a:p>
          <a:p>
            <a:pPr algn="ctr">
              <a:lnSpc>
                <a:spcPct val="110000"/>
              </a:lnSpc>
            </a:pPr>
            <a:r>
              <a:rPr sz="1100" b="0">
                <a:solidFill>
                  <a:srgbClr val="556175"/>
                </a:solidFill>
                <a:latin typeface="맑은 고딕"/>
                <a:ea typeface="맑은 고딕"/>
                <a:cs typeface="맑은 고딕"/>
              </a:rPr>
              <a:t>Asset</a:t>
            </a:r>
          </a:p>
        </p:txBody>
      </p:sp>
      <p:sp>
        <p:nvSpPr>
          <p:cNvPr id="8" name="Oval 7"/>
          <p:cNvSpPr/>
          <p:nvPr/>
        </p:nvSpPr>
        <p:spPr>
          <a:xfrm>
            <a:off x="391717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03879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설비 이상 조치</a:t>
            </a:r>
          </a:p>
          <a:p>
            <a:pPr algn="ctr">
              <a:lnSpc>
                <a:spcPct val="110000"/>
              </a:lnSpc>
            </a:pPr>
            <a:r>
              <a:rPr sz="1100" b="0">
                <a:solidFill>
                  <a:srgbClr val="556175"/>
                </a:solidFill>
                <a:latin typeface="맑은 고딕"/>
                <a:ea typeface="맑은 고딕"/>
                <a:cs typeface="맑은 고딕"/>
              </a:rPr>
              <a:t>프로세스</a:t>
            </a:r>
          </a:p>
          <a:p>
            <a:pPr algn="ctr">
              <a:lnSpc>
                <a:spcPct val="110000"/>
              </a:lnSpc>
            </a:pPr>
            <a:r>
              <a:rPr sz="1100" b="0">
                <a:solidFill>
                  <a:srgbClr val="556175"/>
                </a:solidFill>
                <a:latin typeface="맑은 고딕"/>
                <a:ea typeface="맑은 고딕"/>
                <a:cs typeface="맑은 고딕"/>
              </a:rPr>
              <a:t>Process</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설비 가용성 확보</a:t>
            </a:r>
          </a:p>
          <a:p>
            <a:pPr algn="ctr">
              <a:lnSpc>
                <a:spcPct val="110000"/>
              </a:lnSpc>
            </a:pPr>
            <a:r>
              <a:rPr sz="1100" b="0">
                <a:solidFill>
                  <a:srgbClr val="556175"/>
                </a:solidFill>
                <a:latin typeface="맑은 고딕"/>
                <a:ea typeface="맑은 고딕"/>
                <a:cs typeface="맑은 고딕"/>
              </a:rPr>
              <a:t>전략 목표</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무재해 운전</a:t>
            </a:r>
          </a:p>
          <a:p>
            <a:pPr algn="ctr">
              <a:lnSpc>
                <a:spcPct val="110000"/>
              </a:lnSpc>
            </a:pPr>
            <a:r>
              <a:rPr sz="1100" b="0">
                <a:solidFill>
                  <a:srgbClr val="556175"/>
                </a:solidFill>
                <a:latin typeface="맑은 고딕"/>
                <a:ea typeface="맑은 고딕"/>
                <a:cs typeface="맑은 고딕"/>
              </a:rPr>
              <a:t>전략 목표</a:t>
            </a:r>
          </a:p>
        </p:txBody>
      </p:sp>
      <p:sp>
        <p:nvSpPr>
          <p:cNvPr id="14" name="Oval 13"/>
          <p:cNvSpPr/>
          <p:nvPr/>
        </p:nvSpPr>
        <p:spPr>
          <a:xfrm>
            <a:off x="7660001"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781617"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납기 신뢰</a:t>
            </a:r>
          </a:p>
          <a:p>
            <a:pPr algn="ctr">
              <a:lnSpc>
                <a:spcPct val="110000"/>
              </a:lnSpc>
            </a:pPr>
            <a:r>
              <a:rPr sz="1100" b="0">
                <a:solidFill>
                  <a:srgbClr val="556175"/>
                </a:solidFill>
                <a:latin typeface="맑은 고딕"/>
                <a:ea typeface="맑은 고딕"/>
                <a:cs typeface="맑은 고딕"/>
              </a:rPr>
              <a:t>전략 목표</a:t>
            </a:r>
          </a:p>
        </p:txBody>
      </p:sp>
      <p:cxnSp>
        <p:nvCxnSpPr>
          <p:cNvPr id="16" name="Connector 15"/>
          <p:cNvCxnSpPr/>
          <p:nvPr/>
        </p:nvCxnSpPr>
        <p:spPr>
          <a:xfrm flipH="1">
            <a:off x="2359152" y="3991356"/>
            <a:ext cx="1512307" cy="0"/>
          </a:xfrm>
          <a:prstGeom prst="line">
            <a:avLst/>
          </a:prstGeom>
          <a:ln w="28575">
            <a:solidFill>
              <a:srgbClr val="13294B"/>
            </a:solidFill>
            <a:tailEnd type="triangle" w="med" len="med"/>
          </a:ln>
        </p:spPr>
      </p:cxnSp>
      <p:sp>
        <p:nvSpPr>
          <p:cNvPr id="17" name="Rounded Rectangle 16"/>
          <p:cNvSpPr/>
          <p:nvPr/>
        </p:nvSpPr>
        <p:spPr>
          <a:xfrm>
            <a:off x="2612787" y="3625596"/>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12787" y="3625596"/>
            <a:ext cx="10050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ACTS_ON</a:t>
            </a:r>
          </a:p>
        </p:txBody>
      </p:sp>
      <p:cxnSp>
        <p:nvCxnSpPr>
          <p:cNvPr id="19" name="Connector 18"/>
          <p:cNvCxnSpPr/>
          <p:nvPr/>
        </p:nvCxnSpPr>
        <p:spPr>
          <a:xfrm flipV="1">
            <a:off x="5635021" y="2845679"/>
            <a:ext cx="2019023" cy="806485"/>
          </a:xfrm>
          <a:prstGeom prst="line">
            <a:avLst/>
          </a:prstGeom>
          <a:ln w="28575">
            <a:solidFill>
              <a:srgbClr val="13294B"/>
            </a:solidFill>
            <a:tailEnd type="triangle" w="med" len="med"/>
          </a:ln>
        </p:spPr>
      </p:cxnSp>
      <p:sp>
        <p:nvSpPr>
          <p:cNvPr id="20" name="Rounded Rectangle 19"/>
          <p:cNvSpPr/>
          <p:nvPr/>
        </p:nvSpPr>
        <p:spPr>
          <a:xfrm>
            <a:off x="6079972" y="2883161"/>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6079972" y="2883161"/>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ACHIEVES</a:t>
            </a:r>
          </a:p>
        </p:txBody>
      </p:sp>
      <p:cxnSp>
        <p:nvCxnSpPr>
          <p:cNvPr id="22" name="Connector 21"/>
          <p:cNvCxnSpPr/>
          <p:nvPr/>
        </p:nvCxnSpPr>
        <p:spPr>
          <a:xfrm>
            <a:off x="5700259" y="3991356"/>
            <a:ext cx="4132284" cy="0"/>
          </a:xfrm>
          <a:prstGeom prst="line">
            <a:avLst/>
          </a:prstGeom>
          <a:ln w="28575">
            <a:solidFill>
              <a:srgbClr val="13294B"/>
            </a:solidFill>
            <a:tailEnd type="triangle" w="med" len="med"/>
          </a:ln>
        </p:spPr>
      </p:cxnSp>
      <p:sp>
        <p:nvSpPr>
          <p:cNvPr id="23" name="Rounded Rectangle 22"/>
          <p:cNvSpPr/>
          <p:nvPr/>
        </p:nvSpPr>
        <p:spPr>
          <a:xfrm>
            <a:off x="7201840" y="3625596"/>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7201840" y="3625596"/>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ACHIEVES</a:t>
            </a:r>
          </a:p>
        </p:txBody>
      </p:sp>
      <p:cxnSp>
        <p:nvCxnSpPr>
          <p:cNvPr id="25" name="Connector 24"/>
          <p:cNvCxnSpPr/>
          <p:nvPr/>
        </p:nvCxnSpPr>
        <p:spPr>
          <a:xfrm>
            <a:off x="5635021" y="4330547"/>
            <a:ext cx="2019023" cy="806485"/>
          </a:xfrm>
          <a:prstGeom prst="line">
            <a:avLst/>
          </a:prstGeom>
          <a:ln w="28575">
            <a:solidFill>
              <a:srgbClr val="13294B"/>
            </a:solidFill>
            <a:tailEnd type="triangle" w="med" len="med"/>
          </a:ln>
        </p:spPr>
      </p:cxnSp>
      <p:sp>
        <p:nvSpPr>
          <p:cNvPr id="26" name="Rounded Rectangle 25"/>
          <p:cNvSpPr/>
          <p:nvPr/>
        </p:nvSpPr>
        <p:spPr>
          <a:xfrm>
            <a:off x="6079972" y="436803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079972" y="4368030"/>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ACHIEVES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설비와 조직과 목표가 바뀌면 프로세스도 달라져야 하며,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a:t>
            </a:r>
          </a:p>
          <a:p>
            <a:pPr algn="l">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다루는 대상</a:t>
            </a:r>
          </a:p>
          <a:p>
            <a:pPr algn="l">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BPM의 생애주기: 다섯 단계의 되풀이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BPM은 분석, 설계, 실행, 모니터링, 개선의 다섯 단계를 되풀이하며, 개선의 결과는 다음 분석의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BPM주기.svg" descr="illust_8989609817466373092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786708" y="2904042"/>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분석</a:t>
            </a:r>
          </a:p>
          <a:p>
            <a:pPr algn="ctr">
              <a:lnSpc>
                <a:spcPct val="110000"/>
              </a:lnSpc>
              <a:spcAft>
                <a:spcPts val="100"/>
              </a:spcAft>
            </a:pPr>
            <a:r>
              <a:rPr sz="1300" b="0">
                <a:solidFill>
                  <a:srgbClr val="556175"/>
                </a:solidFill>
                <a:latin typeface="맑은 고딕"/>
                <a:ea typeface="맑은 고딕"/>
                <a:cs typeface="맑은 고딕"/>
              </a:rPr>
              <a:t>지금의 업무를 조사한다</a:t>
            </a:r>
          </a:p>
        </p:txBody>
      </p:sp>
      <p:sp>
        <p:nvSpPr>
          <p:cNvPr id="8" name="TextBox 7"/>
          <p:cNvSpPr txBox="1"/>
          <p:nvPr/>
        </p:nvSpPr>
        <p:spPr>
          <a:xfrm>
            <a:off x="9259601" y="219492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설계</a:t>
            </a:r>
          </a:p>
          <a:p>
            <a:pPr algn="ctr">
              <a:lnSpc>
                <a:spcPct val="110000"/>
              </a:lnSpc>
              <a:spcAft>
                <a:spcPts val="100"/>
              </a:spcAft>
            </a:pPr>
            <a:r>
              <a:rPr sz="1300" b="0">
                <a:solidFill>
                  <a:srgbClr val="556175"/>
                </a:solidFill>
                <a:latin typeface="맑은 고딕"/>
                <a:ea typeface="맑은 고딕"/>
                <a:cs typeface="맑은 고딕"/>
              </a:rPr>
              <a:t>바꿀 흐름을 그린다</a:t>
            </a:r>
          </a:p>
        </p:txBody>
      </p:sp>
      <p:sp>
        <p:nvSpPr>
          <p:cNvPr id="9" name="TextBox 8"/>
          <p:cNvSpPr txBox="1"/>
          <p:nvPr/>
        </p:nvSpPr>
        <p:spPr>
          <a:xfrm>
            <a:off x="8823221" y="517321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a:t>
            </a:r>
          </a:p>
          <a:p>
            <a:pPr algn="ctr">
              <a:lnSpc>
                <a:spcPct val="110000"/>
              </a:lnSpc>
              <a:spcAft>
                <a:spcPts val="100"/>
              </a:spcAft>
            </a:pPr>
            <a:r>
              <a:rPr sz="1300" b="0">
                <a:solidFill>
                  <a:srgbClr val="556175"/>
                </a:solidFill>
                <a:latin typeface="맑은 고딕"/>
                <a:ea typeface="맑은 고딕"/>
                <a:cs typeface="맑은 고딕"/>
              </a:rPr>
              <a:t>그린 대로 수행한다</a:t>
            </a:r>
          </a:p>
        </p:txBody>
      </p:sp>
      <p:sp>
        <p:nvSpPr>
          <p:cNvPr id="10" name="TextBox 9"/>
          <p:cNvSpPr txBox="1"/>
          <p:nvPr/>
        </p:nvSpPr>
        <p:spPr>
          <a:xfrm>
            <a:off x="1186574" y="517321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모니터링</a:t>
            </a:r>
          </a:p>
          <a:p>
            <a:pPr algn="ctr">
              <a:lnSpc>
                <a:spcPct val="110000"/>
              </a:lnSpc>
              <a:spcAft>
                <a:spcPts val="100"/>
              </a:spcAft>
            </a:pPr>
            <a:r>
              <a:rPr sz="1300" b="0">
                <a:solidFill>
                  <a:srgbClr val="556175"/>
                </a:solidFill>
                <a:latin typeface="맑은 고딕"/>
                <a:ea typeface="맑은 고딕"/>
                <a:cs typeface="맑은 고딕"/>
              </a:rPr>
              <a:t>수행 결과를 지켜본다</a:t>
            </a:r>
          </a:p>
        </p:txBody>
      </p:sp>
      <p:sp>
        <p:nvSpPr>
          <p:cNvPr id="11" name="TextBox 10"/>
          <p:cNvSpPr txBox="1"/>
          <p:nvPr/>
        </p:nvSpPr>
        <p:spPr>
          <a:xfrm>
            <a:off x="750195" y="219492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개선</a:t>
            </a:r>
          </a:p>
          <a:p>
            <a:pPr algn="ctr">
              <a:lnSpc>
                <a:spcPct val="110000"/>
              </a:lnSpc>
              <a:spcAft>
                <a:spcPts val="100"/>
              </a:spcAft>
            </a:pPr>
            <a:r>
              <a:rPr sz="1300" b="0">
                <a:solidFill>
                  <a:srgbClr val="556175"/>
                </a:solidFill>
                <a:latin typeface="맑은 고딕"/>
                <a:ea typeface="맑은 고딕"/>
                <a:cs typeface="맑은 고딕"/>
              </a:rPr>
              <a:t>문제를 찾아 고친다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다섯 단계에서 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단계의 일은 이 과정에서 프로세스를 그리고, 등록해 실행하고, 처리 건을 지켜보는 활동에 대응한다.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하는 일</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분석 Analysis</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지금의 업무를 읽어 시작 조건, 책임자, 완료 조건을 가려낸다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경보 대응 업무의 정리</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설계 Design</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바꾸려는 흐름을 그림으로 그린다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 대응 프로세스 그리기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실행 Execution</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그림을 등록하고 배포해 실제 경보에서 수행되게 한다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등록과 배포</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모니터링 Monitoring</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건마다 단계의 담당, 대기, 결과를 지켜본다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 추적</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개선 Optimization</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실행 결과에서 찾은 문제를 반영해 흐름을 고쳐 다시 등록한다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새 판본의 등록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AS-IS와 TO-BE: 지금의 방식과 바꾸려는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분석은 지금의 방식인 AS-IS를 그려 문제를 찾는 일이고, 설계는 바꾸려는 방식인 TO-BE를 그리는 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현재와목표.svg" descr="illust_105213510355390620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573121"/>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AS-IS</a:t>
            </a:r>
          </a:p>
          <a:p>
            <a:pPr algn="ctr">
              <a:lnSpc>
                <a:spcPct val="110000"/>
              </a:lnSpc>
              <a:spcAft>
                <a:spcPts val="100"/>
              </a:spcAft>
            </a:pPr>
            <a:r>
              <a:rPr sz="1300" b="0">
                <a:solidFill>
                  <a:srgbClr val="556175"/>
                </a:solidFill>
                <a:latin typeface="맑은 고딕"/>
                <a:ea typeface="맑은 고딕"/>
                <a:cs typeface="맑은 고딕"/>
              </a:rPr>
              <a:t>지금의 방식</a:t>
            </a:r>
          </a:p>
          <a:p>
            <a:pPr algn="ctr">
              <a:lnSpc>
                <a:spcPct val="110000"/>
              </a:lnSpc>
              <a:spcAft>
                <a:spcPts val="100"/>
              </a:spcAft>
            </a:pPr>
            <a:r>
              <a:rPr sz="1300" b="0">
                <a:solidFill>
                  <a:srgbClr val="556175"/>
                </a:solidFill>
                <a:latin typeface="맑은 고딕"/>
                <a:ea typeface="맑은 고딕"/>
                <a:cs typeface="맑은 고딕"/>
              </a:rPr>
              <a:t>일반적인 예</a:t>
            </a:r>
          </a:p>
        </p:txBody>
      </p:sp>
      <p:sp>
        <p:nvSpPr>
          <p:cNvPr id="8" name="TextBox 7"/>
          <p:cNvSpPr txBox="1"/>
          <p:nvPr/>
        </p:nvSpPr>
        <p:spPr>
          <a:xfrm>
            <a:off x="968384" y="4842296"/>
            <a:ext cx="174551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TO-BE</a:t>
            </a:r>
          </a:p>
          <a:p>
            <a:pPr algn="ctr">
              <a:lnSpc>
                <a:spcPct val="110000"/>
              </a:lnSpc>
              <a:spcAft>
                <a:spcPts val="100"/>
              </a:spcAft>
            </a:pPr>
            <a:r>
              <a:rPr sz="1300" b="0">
                <a:solidFill>
                  <a:srgbClr val="556175"/>
                </a:solidFill>
                <a:latin typeface="맑은 고딕"/>
                <a:ea typeface="맑은 고딕"/>
                <a:cs typeface="맑은 고딕"/>
              </a:rPr>
              <a:t>바꾸려는 방식</a:t>
            </a:r>
          </a:p>
        </p:txBody>
      </p:sp>
      <p:sp>
        <p:nvSpPr>
          <p:cNvPr id="9" name="TextBox 8"/>
          <p:cNvSpPr txBox="1"/>
          <p:nvPr/>
        </p:nvSpPr>
        <p:spPr>
          <a:xfrm>
            <a:off x="2822999"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4819436"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a:t>
            </a:r>
          </a:p>
        </p:txBody>
      </p:sp>
      <p:sp>
        <p:nvSpPr>
          <p:cNvPr id="11" name="TextBox 10"/>
          <p:cNvSpPr txBox="1"/>
          <p:nvPr/>
        </p:nvSpPr>
        <p:spPr>
          <a:xfrm>
            <a:off x="6826783"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전화</a:t>
            </a:r>
          </a:p>
        </p:txBody>
      </p:sp>
      <p:sp>
        <p:nvSpPr>
          <p:cNvPr id="12" name="TextBox 11"/>
          <p:cNvSpPr txBox="1"/>
          <p:nvPr/>
        </p:nvSpPr>
        <p:spPr>
          <a:xfrm>
            <a:off x="8714126" y="356588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보전 담당</a:t>
            </a:r>
          </a:p>
        </p:txBody>
      </p:sp>
      <p:sp>
        <p:nvSpPr>
          <p:cNvPr id="13" name="TextBox 12"/>
          <p:cNvSpPr txBox="1"/>
          <p:nvPr/>
        </p:nvSpPr>
        <p:spPr>
          <a:xfrm>
            <a:off x="4186685" y="5078669"/>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a:t>
            </a:r>
          </a:p>
        </p:txBody>
      </p:sp>
      <p:sp>
        <p:nvSpPr>
          <p:cNvPr id="14" name="TextBox 13"/>
          <p:cNvSpPr txBox="1"/>
          <p:nvPr/>
        </p:nvSpPr>
        <p:spPr>
          <a:xfrm>
            <a:off x="6314037" y="5078669"/>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5" name="TextBox 14"/>
          <p:cNvSpPr txBox="1"/>
          <p:nvPr/>
        </p:nvSpPr>
        <p:spPr>
          <a:xfrm>
            <a:off x="9041411" y="5078669"/>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AS-IS와 TO-BE를 견주어 얻는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두 그림을 견주면 사람이 기억으로 잇던 자리가 드러나고, 그 자리가 프로세스의 작업과 갈림이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일반적인 AS-IS의 예</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경보를 본 운전원이 전화로 담당을 찾는다</a:t>
            </a:r>
          </a:p>
          <a:p>
            <a:pPr algn="l">
              <a:lnSpc>
                <a:spcPct val="110000"/>
              </a:lnSpc>
              <a:spcAft>
                <a:spcPts val="600"/>
              </a:spcAft>
            </a:pPr>
            <a:r>
              <a:rPr sz="1450" b="0">
                <a:solidFill>
                  <a:srgbClr val="1F2A3A"/>
                </a:solidFill>
                <a:latin typeface="맑은 고딕"/>
                <a:ea typeface="맑은 고딕"/>
                <a:cs typeface="맑은 고딕"/>
              </a:rPr>
              <a:t>• 조치 뒤의 확인은 각자 기억해서 한다</a:t>
            </a:r>
          </a:p>
          <a:p>
            <a:pPr algn="l">
              <a:lnSpc>
                <a:spcPct val="110000"/>
              </a:lnSpc>
              <a:spcAft>
                <a:spcPts val="600"/>
              </a:spcAft>
            </a:pPr>
            <a:r>
              <a:rPr sz="1450" b="0">
                <a:solidFill>
                  <a:srgbClr val="1F2A3A"/>
                </a:solidFill>
                <a:latin typeface="맑은 고딕"/>
                <a:ea typeface="맑은 고딕"/>
                <a:cs typeface="맑은 고딕"/>
              </a:rPr>
              <a:t>• 누가 언제 결정했는지는 물어보아야 안다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사람이 잇는다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TO-BE</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경보가 오면 추천이 승인 작업으로 운전원에게 놓인다</a:t>
            </a:r>
          </a:p>
          <a:p>
            <a:pPr algn="l">
              <a:lnSpc>
                <a:spcPct val="110000"/>
              </a:lnSpc>
              <a:spcAft>
                <a:spcPts val="600"/>
              </a:spcAft>
            </a:pPr>
            <a:r>
              <a:rPr sz="1450" b="0">
                <a:solidFill>
                  <a:srgbClr val="1F2A3A"/>
                </a:solidFill>
                <a:latin typeface="맑은 고딕"/>
                <a:ea typeface="맑은 고딕"/>
                <a:cs typeface="맑은 고딕"/>
              </a:rPr>
              <a:t>• 승인 뒤의 명령과 재관측은 정해진 순서로 열린다</a:t>
            </a:r>
          </a:p>
          <a:p>
            <a:pPr algn="l">
              <a:lnSpc>
                <a:spcPct val="110000"/>
              </a:lnSpc>
              <a:spcAft>
                <a:spcPts val="600"/>
              </a:spcAft>
            </a:pPr>
            <a:r>
              <a:rPr sz="1450" b="0">
                <a:solidFill>
                  <a:srgbClr val="1F2A3A"/>
                </a:solidFill>
                <a:latin typeface="맑은 고딕"/>
                <a:ea typeface="맑은 고딕"/>
                <a:cs typeface="맑은 고딕"/>
              </a:rPr>
              <a:t>• 승인한 역할과 결과가 처리 건에 남는다</a:t>
            </a:r>
          </a:p>
        </p:txBody>
      </p:sp>
      <p:sp>
        <p:nvSpPr>
          <p:cNvPr id="18" name="Rounded Rectangle 17"/>
          <p:cNvSpPr/>
          <p:nvPr/>
        </p:nvSpPr>
        <p:spPr>
          <a:xfrm>
            <a:off x="6781647" y="5096002"/>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프로세스가 잇는다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추천에서 끝난 업무까지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프로세스는 시작 조건에서 완료 조건까지를 미리 정해 둔 것이고, BPM은 그 정의를 실행 결과에 비추어 고쳐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a:t>
            </a:r>
          </a:p>
          <a:p>
            <a:pPr algn="l">
              <a:lnSpc>
                <a:spcPct val="110000"/>
              </a:lnSpc>
              <a:spcAft>
                <a:spcPts val="400"/>
              </a:spcAft>
            </a:pPr>
            <a:r>
              <a:rPr sz="1400" b="0">
                <a:solidFill>
                  <a:srgbClr val="1F2A3A"/>
                </a:solidFill>
                <a:latin typeface="맑은 고딕"/>
                <a:ea typeface="맑은 고딕"/>
                <a:cs typeface="맑은 고딕"/>
              </a:rPr>
              <a:t>여러 주체의 작업을 시작 사건에서 최종 결과까지 잇는다</a:t>
            </a:r>
          </a:p>
        </p:txBody>
      </p:sp>
      <p:sp>
        <p:nvSpPr>
          <p:cNvPr id="10" name="Rounded Rectangle 9"/>
          <p:cNvSpPr/>
          <p:nvPr/>
        </p:nvSpPr>
        <p:spPr>
          <a:xfrm>
            <a:off x="777240" y="4932934"/>
            <a:ext cx="11887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188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End-to-End</a:t>
            </a:r>
          </a:p>
        </p:txBody>
      </p:sp>
      <p:sp>
        <p:nvSpPr>
          <p:cNvPr id="12" name="Rounded Rectangle 11"/>
          <p:cNvSpPr/>
          <p:nvPr/>
        </p:nvSpPr>
        <p:spPr>
          <a:xfrm>
            <a:off x="4338218"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5CB8F2"/>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다섯 가지</a:t>
            </a:r>
          </a:p>
          <a:p>
            <a:pPr algn="l">
              <a:lnSpc>
                <a:spcPct val="110000"/>
              </a:lnSpc>
              <a:spcAft>
                <a:spcPts val="400"/>
              </a:spcAft>
            </a:pPr>
            <a:r>
              <a:rPr sz="1400" b="0">
                <a:solidFill>
                  <a:srgbClr val="1F2A3A"/>
                </a:solidFill>
                <a:latin typeface="맑은 고딕"/>
                <a:ea typeface="맑은 고딕"/>
                <a:cs typeface="맑은 고딕"/>
              </a:rPr>
              <a:t>시작 조건, 입력, 출력, 책임자, 완료 조건을 실행 전에 정한다</a:t>
            </a:r>
          </a:p>
        </p:txBody>
      </p:sp>
      <p:sp>
        <p:nvSpPr>
          <p:cNvPr id="16" name="Rounded Rectangle 15"/>
          <p:cNvSpPr/>
          <p:nvPr/>
        </p:nvSpPr>
        <p:spPr>
          <a:xfrm>
            <a:off x="4566818" y="4932934"/>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BPM</a:t>
            </a:r>
          </a:p>
          <a:p>
            <a:pPr algn="l">
              <a:lnSpc>
                <a:spcPct val="110000"/>
              </a:lnSpc>
              <a:spcAft>
                <a:spcPts val="400"/>
              </a:spcAft>
            </a:pPr>
            <a:r>
              <a:rPr sz="1400" b="0">
                <a:solidFill>
                  <a:srgbClr val="1F2A3A"/>
                </a:solidFill>
                <a:latin typeface="맑은 고딕"/>
                <a:ea typeface="맑은 고딕"/>
                <a:cs typeface="맑은 고딕"/>
              </a:rPr>
              <a:t>분석, 설계, 실행, 모니터링, 개선으로 프로세스를 고쳐 간다</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관리</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BPMN: 프로세스를 그리는</a:t>
            </a:r>
          </a:p>
          <a:p>
            <a:pPr algn="l">
              <a:lnSpc>
                <a:spcPct val="110000"/>
              </a:lnSpc>
            </a:pPr>
            <a:r>
              <a:rPr sz="3400" b="1">
                <a:solidFill>
                  <a:srgbClr val="13294B"/>
                </a:solidFill>
                <a:latin typeface="맑은 고딕"/>
                <a:ea typeface="맑은 고딕"/>
                <a:cs typeface="맑은 고딕"/>
              </a:rPr>
              <a:t>표준 표기법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순서, 갈림, 책임자를 누구나 같은 뜻으로 읽게 하는 도형과 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문장으로 적으면 갈림과 책임자와 기다림이 글 속에 묻혀, 읽는 사람마다 다른 흐름을 떠올린다.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갈림이 묻힌다</a:t>
            </a:r>
          </a:p>
          <a:p>
            <a:pPr algn="l">
              <a:lnSpc>
                <a:spcPct val="110000"/>
              </a:lnSpc>
              <a:spcAft>
                <a:spcPts val="400"/>
              </a:spcAft>
            </a:pPr>
            <a:r>
              <a:rPr sz="1400" b="0">
                <a:solidFill>
                  <a:srgbClr val="1F2A3A"/>
                </a:solidFill>
                <a:latin typeface="맑은 고딕"/>
                <a:ea typeface="맑은 고딕"/>
                <a:cs typeface="맑은 고딕"/>
              </a:rPr>
              <a:t>「~하면」과 「아니면」이</a:t>
            </a:r>
          </a:p>
          <a:p>
            <a:pPr algn="l">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책임자가 묻힌다</a:t>
            </a:r>
          </a:p>
          <a:p>
            <a:pPr algn="l">
              <a:lnSpc>
                <a:spcPct val="110000"/>
              </a:lnSpc>
              <a:spcAft>
                <a:spcPts val="400"/>
              </a:spcAft>
            </a:pPr>
            <a:r>
              <a:rPr sz="1400" b="0">
                <a:solidFill>
                  <a:srgbClr val="1F2A3A"/>
                </a:solidFill>
                <a:latin typeface="맑은 고딕"/>
                <a:ea typeface="맑은 고딕"/>
                <a:cs typeface="맑은 고딕"/>
              </a:rPr>
              <a:t>재관측과 보고를 누가 하는지</a:t>
            </a:r>
          </a:p>
          <a:p>
            <a:pPr algn="l">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다르게 읽힌다</a:t>
            </a:r>
          </a:p>
          <a:p>
            <a:pPr algn="l">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BPMN</a:t>
            </a:r>
          </a:p>
          <a:p>
            <a:pPr algn="l">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읽는 쪽</a:t>
            </a:r>
          </a:p>
          <a:p>
            <a:pPr algn="l">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현업 담당자는 업무를 확인하는 그림으로, 프로세스를 실행하는 소프트웨어는 설계도로 같은 그림을 읽는다.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요소의 세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BPMN의 도형은 일어나는 일을 나타내는 흐름 객체, 그것을 잇는 연결 객체, 맡는 쪽을 나누는 스윔레인으로 묶인다.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pic>
        <p:nvPicPr>
          <p:cNvPr id="6" name="삽화:요소묶음.svg" descr="illust_4135421372161173468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68396" y="238402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흐름 객체</a:t>
            </a:r>
          </a:p>
          <a:p>
            <a:pPr algn="ctr">
              <a:lnSpc>
                <a:spcPct val="110000"/>
              </a:lnSpc>
              <a:spcAft>
                <a:spcPts val="100"/>
              </a:spcAft>
            </a:pPr>
            <a:r>
              <a:rPr sz="1300" b="0">
                <a:solidFill>
                  <a:srgbClr val="556175"/>
                </a:solidFill>
                <a:latin typeface="맑은 고딕"/>
                <a:ea typeface="맑은 고딕"/>
                <a:cs typeface="맑은 고딕"/>
              </a:rPr>
              <a:t>일어나는 일</a:t>
            </a:r>
          </a:p>
        </p:txBody>
      </p:sp>
      <p:sp>
        <p:nvSpPr>
          <p:cNvPr id="8" name="TextBox 7"/>
          <p:cNvSpPr txBox="1"/>
          <p:nvPr/>
        </p:nvSpPr>
        <p:spPr>
          <a:xfrm>
            <a:off x="5354001" y="2384023"/>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연결 객체</a:t>
            </a:r>
          </a:p>
          <a:p>
            <a:pPr algn="ctr">
              <a:lnSpc>
                <a:spcPct val="110000"/>
              </a:lnSpc>
              <a:spcAft>
                <a:spcPts val="100"/>
              </a:spcAft>
            </a:pPr>
            <a:r>
              <a:rPr sz="1300" b="0">
                <a:solidFill>
                  <a:srgbClr val="556175"/>
                </a:solidFill>
                <a:latin typeface="맑은 고딕"/>
                <a:ea typeface="맑은 고딕"/>
                <a:cs typeface="맑은 고딕"/>
              </a:rPr>
              <a:t>잇는 선</a:t>
            </a:r>
          </a:p>
        </p:txBody>
      </p:sp>
      <p:sp>
        <p:nvSpPr>
          <p:cNvPr id="9" name="TextBox 8"/>
          <p:cNvSpPr txBox="1"/>
          <p:nvPr/>
        </p:nvSpPr>
        <p:spPr>
          <a:xfrm>
            <a:off x="8321384" y="2384023"/>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스윔레인</a:t>
            </a:r>
          </a:p>
          <a:p>
            <a:pPr algn="ctr">
              <a:lnSpc>
                <a:spcPct val="110000"/>
              </a:lnSpc>
              <a:spcAft>
                <a:spcPts val="100"/>
              </a:spcAft>
            </a:pPr>
            <a:r>
              <a:rPr sz="1300" b="0">
                <a:solidFill>
                  <a:srgbClr val="556175"/>
                </a:solidFill>
                <a:latin typeface="맑은 고딕"/>
                <a:ea typeface="맑은 고딕"/>
                <a:cs typeface="맑은 고딕"/>
              </a:rPr>
              <a:t>맡는 쪽</a:t>
            </a:r>
          </a:p>
        </p:txBody>
      </p:sp>
      <p:sp>
        <p:nvSpPr>
          <p:cNvPr id="10" name="TextBox 9"/>
          <p:cNvSpPr txBox="1"/>
          <p:nvPr/>
        </p:nvSpPr>
        <p:spPr>
          <a:xfrm>
            <a:off x="957475" y="451137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이벤트</a:t>
            </a:r>
          </a:p>
        </p:txBody>
      </p:sp>
      <p:sp>
        <p:nvSpPr>
          <p:cNvPr id="11" name="TextBox 10"/>
          <p:cNvSpPr txBox="1"/>
          <p:nvPr/>
        </p:nvSpPr>
        <p:spPr>
          <a:xfrm>
            <a:off x="2353890" y="451137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p:txBody>
      </p:sp>
      <p:sp>
        <p:nvSpPr>
          <p:cNvPr id="12" name="TextBox 11"/>
          <p:cNvSpPr txBox="1"/>
          <p:nvPr/>
        </p:nvSpPr>
        <p:spPr>
          <a:xfrm>
            <a:off x="3663030" y="4511375"/>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게이트웨이</a:t>
            </a:r>
          </a:p>
        </p:txBody>
      </p:sp>
      <p:sp>
        <p:nvSpPr>
          <p:cNvPr id="13" name="TextBox 12"/>
          <p:cNvSpPr txBox="1"/>
          <p:nvPr/>
        </p:nvSpPr>
        <p:spPr>
          <a:xfrm>
            <a:off x="5572191" y="375498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시퀀스 흐름</a:t>
            </a:r>
          </a:p>
        </p:txBody>
      </p:sp>
      <p:sp>
        <p:nvSpPr>
          <p:cNvPr id="14" name="TextBox 13"/>
          <p:cNvSpPr txBox="1"/>
          <p:nvPr/>
        </p:nvSpPr>
        <p:spPr>
          <a:xfrm>
            <a:off x="5572191" y="5078669"/>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흐름</a:t>
            </a:r>
          </a:p>
        </p:txBody>
      </p:sp>
      <p:sp>
        <p:nvSpPr>
          <p:cNvPr id="15" name="TextBox 14"/>
          <p:cNvSpPr txBox="1"/>
          <p:nvPr/>
        </p:nvSpPr>
        <p:spPr>
          <a:xfrm>
            <a:off x="8757764" y="512594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풀과 레인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레인 셋 위에 시작 이벤트 하나, 작업 아홉, 게이트웨이 둘, 끝 이벤트 셋으로 그려진다.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흐름_전체.svg" descr="illust_61729370196686375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8407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무엇으로 시작해 어떻게 끝나는지는 원으로 그린 이벤트가 알려 주고, 테두리의 굵기가 시작과 끝을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이벤트.svg" descr="illust_779214329664317102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Start Event</a:t>
            </a:r>
          </a:p>
          <a:p>
            <a:pPr algn="ctr">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Message Start Event</a:t>
            </a:r>
          </a:p>
          <a:p>
            <a:pPr algn="ctr">
              <a:lnSpc>
                <a:spcPct val="110000"/>
              </a:lnSpc>
              <a:spcAft>
                <a:spcPts val="100"/>
              </a:spcAft>
            </a:pPr>
            <a:r>
              <a:rPr sz="1300" b="0">
                <a:solidFill>
                  <a:srgbClr val="556175"/>
                </a:solidFill>
                <a:latin typeface="맑은 고딕"/>
                <a:ea typeface="맑은 고딕"/>
                <a:cs typeface="맑은 고딕"/>
              </a:rPr>
              <a:t>메시지를 받으면 연다</a:t>
            </a:r>
          </a:p>
          <a:p>
            <a:pPr algn="ctr">
              <a:lnSpc>
                <a:spcPct val="110000"/>
              </a:lnSpc>
              <a:spcAft>
                <a:spcPts val="100"/>
              </a:spcAft>
            </a:pPr>
            <a:r>
              <a:rPr sz="1300" b="0">
                <a:solidFill>
                  <a:srgbClr val="556175"/>
                </a:solidFill>
                <a:latin typeface="맑은 고딕"/>
                <a:ea typeface="맑은 고딕"/>
                <a:cs typeface="맑은 고딕"/>
              </a:rPr>
              <a:t>예: 쿨러 과열 경보 — 쿨러 성능 저하 경보의 도착</a:t>
            </a:r>
          </a:p>
        </p:txBody>
      </p:sp>
      <p:sp>
        <p:nvSpPr>
          <p:cNvPr id="9" name="TextBox 8"/>
          <p:cNvSpPr txBox="1"/>
          <p:nvPr/>
        </p:nvSpPr>
        <p:spPr>
          <a:xfrm>
            <a:off x="8135923" y="4464100"/>
            <a:ext cx="283646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End Event</a:t>
            </a:r>
          </a:p>
          <a:p>
            <a:pPr algn="ctr">
              <a:lnSpc>
                <a:spcPct val="110000"/>
              </a:lnSpc>
              <a:spcAft>
                <a:spcPts val="100"/>
              </a:spcAft>
            </a:pPr>
            <a:r>
              <a:rPr sz="1300" b="0">
                <a:solidFill>
                  <a:srgbClr val="556175"/>
                </a:solidFill>
                <a:latin typeface="맑은 고딕"/>
                <a:ea typeface="맑은 고딕"/>
                <a:cs typeface="맑은 고딕"/>
              </a:rPr>
              <a:t>한 갈래를 닫는 사건</a:t>
            </a:r>
          </a:p>
          <a:p>
            <a:pPr algn="ctr">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 상자의 왼쪽 위 표식을 보면 그 일을 사람이 하는지 시스템이 하는지를 그림만으로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작업종류.svg" descr="illust_399481222586017641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Task · 표식 없음</a:t>
            </a:r>
          </a:p>
          <a:p>
            <a:pPr algn="ctr">
              <a:lnSpc>
                <a:spcPct val="110000"/>
              </a:lnSpc>
              <a:spcAft>
                <a:spcPts val="100"/>
              </a:spcAft>
            </a:pPr>
            <a:r>
              <a:rPr sz="1300" b="0">
                <a:solidFill>
                  <a:srgbClr val="556175"/>
                </a:solidFill>
                <a:latin typeface="맑은 고딕"/>
                <a:ea typeface="맑은 고딕"/>
                <a:cs typeface="맑은 고딕"/>
              </a:rPr>
              <a:t>맡을 쪽을 실행 전에 지정한다</a:t>
            </a:r>
          </a:p>
          <a:p>
            <a:pPr algn="ctr">
              <a:lnSpc>
                <a:spcPct val="110000"/>
              </a:lnSpc>
              <a:spcAft>
                <a:spcPts val="100"/>
              </a:spcAft>
            </a:pPr>
            <a:r>
              <a:rPr sz="1300" b="0">
                <a:solidFill>
                  <a:srgbClr val="556175"/>
                </a:solidFill>
                <a:latin typeface="맑은 고딕"/>
                <a:ea typeface="맑은 고딕"/>
                <a:cs typeface="맑은 고딕"/>
              </a:rPr>
              <a:t>에이전트에게 맡길 작업이 이 모양이다</a:t>
            </a:r>
          </a:p>
        </p:txBody>
      </p:sp>
      <p:sp>
        <p:nvSpPr>
          <p:cNvPr id="11" name="TextBox 10"/>
          <p:cNvSpPr txBox="1"/>
          <p:nvPr/>
        </p:nvSpPr>
        <p:spPr>
          <a:xfrm>
            <a:off x="4786708" y="4369551"/>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User Task · 사람 표식</a:t>
            </a:r>
          </a:p>
          <a:p>
            <a:pPr algn="ctr">
              <a:lnSpc>
                <a:spcPct val="110000"/>
              </a:lnSpc>
              <a:spcAft>
                <a:spcPts val="100"/>
              </a:spcAft>
            </a:pPr>
            <a:r>
              <a:rPr sz="1300" b="0">
                <a:solidFill>
                  <a:srgbClr val="556175"/>
                </a:solidFill>
                <a:latin typeface="맑은 고딕"/>
                <a:ea typeface="맑은 고딕"/>
                <a:cs typeface="맑은 고딕"/>
              </a:rPr>
              <a:t>사람이 수행하고</a:t>
            </a:r>
          </a:p>
          <a:p>
            <a:pPr algn="ctr">
              <a:lnSpc>
                <a:spcPct val="110000"/>
              </a:lnSpc>
              <a:spcAft>
                <a:spcPts val="100"/>
              </a:spcAft>
            </a:pPr>
            <a:r>
              <a:rPr sz="1300" b="0">
                <a:solidFill>
                  <a:srgbClr val="556175"/>
                </a:solidFill>
                <a:latin typeface="맑은 고딕"/>
                <a:ea typeface="맑은 고딕"/>
                <a:cs typeface="맑은 고딕"/>
              </a:rPr>
              <a:t>끝났음을 알린다</a:t>
            </a:r>
          </a:p>
        </p:txBody>
      </p:sp>
      <p:sp>
        <p:nvSpPr>
          <p:cNvPr id="12" name="TextBox 11"/>
          <p:cNvSpPr txBox="1"/>
          <p:nvPr/>
        </p:nvSpPr>
        <p:spPr>
          <a:xfrm>
            <a:off x="8332294" y="4369551"/>
            <a:ext cx="261827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Service Task · 톱니 표식</a:t>
            </a:r>
          </a:p>
          <a:p>
            <a:pPr algn="ctr">
              <a:lnSpc>
                <a:spcPct val="110000"/>
              </a:lnSpc>
              <a:spcAft>
                <a:spcPts val="100"/>
              </a:spcAft>
            </a:pPr>
            <a:r>
              <a:rPr sz="1300" b="0">
                <a:solidFill>
                  <a:srgbClr val="556175"/>
                </a:solidFill>
                <a:latin typeface="맑은 고딕"/>
                <a:ea typeface="맑은 고딕"/>
                <a:cs typeface="맑은 고딕"/>
              </a:rPr>
              <a:t>시스템이 자동으로 수행한다</a:t>
            </a:r>
          </a:p>
        </p:txBody>
      </p:sp>
      <p:sp>
        <p:nvSpPr>
          <p:cNvPr id="13" name="TextBox 12"/>
          <p:cNvSpPr txBox="1"/>
          <p:nvPr/>
        </p:nvSpPr>
        <p:spPr>
          <a:xfrm>
            <a:off x="1513859" y="1769455"/>
            <a:ext cx="916397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활동(Activity)은 프로세스 안에서 수행되는 일이고, 작업(Task)은 더 쪼개지지 않는 활동이다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게이트웨이.svg" descr="illust_530574246273269313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시퀀스 흐름</a:t>
            </a:r>
          </a:p>
          <a:p>
            <a:pPr algn="ctr">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Exclusive Gateway</a:t>
            </a:r>
          </a:p>
          <a:p>
            <a:pPr algn="ctr">
              <a:lnSpc>
                <a:spcPct val="110000"/>
              </a:lnSpc>
              <a:spcAft>
                <a:spcPts val="100"/>
              </a:spcAft>
            </a:pPr>
            <a:r>
              <a:rPr sz="1300" b="0">
                <a:solidFill>
                  <a:srgbClr val="556175"/>
                </a:solidFill>
                <a:latin typeface="맑은 고딕"/>
                <a:ea typeface="맑은 고딕"/>
                <a:cs typeface="맑은 고딕"/>
              </a:rPr>
              <a:t>나가는 선 가운데 하나만 고른다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갈림의 조건은 앞 작업이 낸 값을 견주는 식이어서, 같은 값이면 누가 언제 실행해도 같은 갈래로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작업을 누가 맡는지는 글로 적지 않고 칸으로 나타내어, 풀 안의 레인 가운데 작업이 놓인 칸이 곧 맡는 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풀과레인.svg" descr="illust_263318895432628571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풀</a:t>
            </a:r>
          </a:p>
          <a:p>
            <a:pPr algn="ctr">
              <a:lnSpc>
                <a:spcPct val="110000"/>
              </a:lnSpc>
              <a:spcAft>
                <a:spcPts val="100"/>
              </a:spcAft>
            </a:pPr>
            <a:r>
              <a:rPr sz="1300" b="0">
                <a:solidFill>
                  <a:srgbClr val="556175"/>
                </a:solidFill>
                <a:latin typeface="맑은 고딕"/>
                <a:ea typeface="맑은 고딕"/>
                <a:cs typeface="맑은 고딕"/>
              </a:rPr>
              <a:t>Pool</a:t>
            </a:r>
          </a:p>
          <a:p>
            <a:pPr algn="ctr">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레인</a:t>
            </a:r>
          </a:p>
          <a:p>
            <a:pPr algn="ctr">
              <a:lnSpc>
                <a:spcPct val="110000"/>
              </a:lnSpc>
              <a:spcAft>
                <a:spcPts val="100"/>
              </a:spcAft>
            </a:pPr>
            <a:r>
              <a:rPr sz="1300" b="0">
                <a:solidFill>
                  <a:srgbClr val="556175"/>
                </a:solidFill>
                <a:latin typeface="맑은 고딕"/>
                <a:ea typeface="맑은 고딕"/>
                <a:cs typeface="맑은 고딕"/>
              </a:rPr>
              <a:t>Lane</a:t>
            </a:r>
          </a:p>
          <a:p>
            <a:pPr algn="ctr">
              <a:lnSpc>
                <a:spcPct val="110000"/>
              </a:lnSpc>
              <a:spcAft>
                <a:spcPts val="100"/>
              </a:spcAft>
            </a:pPr>
            <a:r>
              <a:rPr sz="1300" b="0">
                <a:solidFill>
                  <a:srgbClr val="556175"/>
                </a:solidFill>
                <a:latin typeface="맑은 고딕"/>
                <a:ea typeface="맑은 고딕"/>
                <a:cs typeface="맑은 고딕"/>
              </a:rPr>
              <a:t>풀 안에서 책임을 나누는 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메시지 흐름: 풀과 풀 사이의 주고받음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참여자가 둘이면 풀을 따로 그리고, 풀 사이의 주고받음은 점선의 메시지 흐름으로 그려 풀 안의 순서와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pic>
        <p:nvPicPr>
          <p:cNvPr id="6" name="삽화:메시지흐름.svg" descr="illust_577535013999460168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35745" y="247857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발주 요청</a:t>
            </a:r>
          </a:p>
        </p:txBody>
      </p:sp>
      <p:sp>
        <p:nvSpPr>
          <p:cNvPr id="8" name="TextBox 7"/>
          <p:cNvSpPr txBox="1"/>
          <p:nvPr/>
        </p:nvSpPr>
        <p:spPr>
          <a:xfrm>
            <a:off x="6968607" y="247857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확인</a:t>
            </a:r>
          </a:p>
        </p:txBody>
      </p:sp>
      <p:sp>
        <p:nvSpPr>
          <p:cNvPr id="9" name="TextBox 8"/>
          <p:cNvSpPr txBox="1"/>
          <p:nvPr/>
        </p:nvSpPr>
        <p:spPr>
          <a:xfrm>
            <a:off x="5146721" y="522049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주문 접수</a:t>
            </a:r>
          </a:p>
        </p:txBody>
      </p:sp>
      <p:sp>
        <p:nvSpPr>
          <p:cNvPr id="10" name="TextBox 9"/>
          <p:cNvSpPr txBox="1"/>
          <p:nvPr/>
        </p:nvSpPr>
        <p:spPr>
          <a:xfrm>
            <a:off x="8168651" y="18403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 설비 운영 조직</a:t>
            </a:r>
          </a:p>
        </p:txBody>
      </p:sp>
      <p:sp>
        <p:nvSpPr>
          <p:cNvPr id="11" name="TextBox 10"/>
          <p:cNvSpPr txBox="1"/>
          <p:nvPr/>
        </p:nvSpPr>
        <p:spPr>
          <a:xfrm>
            <a:off x="8495936" y="4605924"/>
            <a:ext cx="261827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 부품 공급사</a:t>
            </a:r>
          </a:p>
        </p:txBody>
      </p:sp>
      <p:sp>
        <p:nvSpPr>
          <p:cNvPr id="12" name="TextBox 11"/>
          <p:cNvSpPr txBox="1"/>
          <p:nvPr/>
        </p:nvSpPr>
        <p:spPr>
          <a:xfrm>
            <a:off x="4492151" y="3707709"/>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흐름</a:t>
            </a:r>
          </a:p>
          <a:p>
            <a:pPr algn="ctr">
              <a:lnSpc>
                <a:spcPct val="110000"/>
              </a:lnSpc>
              <a:spcAft>
                <a:spcPts val="100"/>
              </a:spcAft>
            </a:pPr>
            <a:r>
              <a:rPr sz="1300" b="0">
                <a:solidFill>
                  <a:srgbClr val="556175"/>
                </a:solidFill>
                <a:latin typeface="맑은 고딕"/>
                <a:ea typeface="맑은 고딕"/>
                <a:cs typeface="맑은 고딕"/>
              </a:rPr>
              <a:t>Message Flow</a:t>
            </a:r>
          </a:p>
        </p:txBody>
      </p:sp>
      <p:sp>
        <p:nvSpPr>
          <p:cNvPr id="13" name="TextBox 12"/>
          <p:cNvSpPr txBox="1"/>
          <p:nvPr/>
        </p:nvSpPr>
        <p:spPr>
          <a:xfrm>
            <a:off x="2713904" y="3896807"/>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발주서</a:t>
            </a:r>
          </a:p>
        </p:txBody>
      </p:sp>
      <p:sp>
        <p:nvSpPr>
          <p:cNvPr id="14" name="TextBox 13"/>
          <p:cNvSpPr txBox="1"/>
          <p:nvPr/>
        </p:nvSpPr>
        <p:spPr>
          <a:xfrm>
            <a:off x="7950461" y="389680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회신</a:t>
            </a:r>
          </a:p>
        </p:txBody>
      </p:sp>
      <p:sp>
        <p:nvSpPr>
          <p:cNvPr id="15" name="TextBox 14"/>
          <p:cNvSpPr txBox="1"/>
          <p:nvPr/>
        </p:nvSpPr>
        <p:spPr>
          <a:xfrm>
            <a:off x="5146721" y="2809494"/>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시퀀스 흐름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경계타이머.svg" descr="illust_6748818870473162888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중단형</a:t>
            </a:r>
          </a:p>
          <a:p>
            <a:pPr algn="ctr">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비중단형</a:t>
            </a:r>
          </a:p>
          <a:p>
            <a:pPr algn="ctr">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작업을 끊고 다른 가지로 간다</a:t>
            </a:r>
          </a:p>
        </p:txBody>
      </p:sp>
      <p:sp>
        <p:nvSpPr>
          <p:cNvPr id="10" name="TextBox 9"/>
          <p:cNvSpPr txBox="1"/>
          <p:nvPr/>
        </p:nvSpPr>
        <p:spPr>
          <a:xfrm>
            <a:off x="6423132"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작업은 두고 가지를 하나 더 연다</a:t>
            </a:r>
          </a:p>
        </p:txBody>
      </p:sp>
      <p:sp>
        <p:nvSpPr>
          <p:cNvPr id="11" name="TextBox 10"/>
          <p:cNvSpPr txBox="1"/>
          <p:nvPr/>
        </p:nvSpPr>
        <p:spPr>
          <a:xfrm>
            <a:off x="4077591"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승인자리.svg" descr="illust_6623412633062136462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4765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기한 10분 · 비중단형</a:t>
            </a:r>
          </a:p>
        </p:txBody>
      </p:sp>
      <p:sp>
        <p:nvSpPr>
          <p:cNvPr id="14" name="TextBox 13"/>
          <p:cNvSpPr txBox="1"/>
          <p:nvPr/>
        </p:nvSpPr>
        <p:spPr>
          <a:xfrm>
            <a:off x="7732271" y="2667670"/>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그림 위의 세 가지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그림에서 승인하면 끝에, 거절하면 거절 종결에 닿고, 응답이 없으면 알림 가지만 먼저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a:t>
            </a:r>
          </a:p>
          <a:p>
            <a:pPr algn="l">
              <a:lnSpc>
                <a:spcPct val="110000"/>
              </a:lnSpc>
              <a:spcAft>
                <a:spcPts val="400"/>
              </a:spcAft>
            </a:pPr>
            <a:r>
              <a:rPr sz="1400" b="0">
                <a:solidFill>
                  <a:srgbClr val="1F2A3A"/>
                </a:solidFill>
                <a:latin typeface="맑은 고딕"/>
                <a:ea typeface="맑은 고딕"/>
                <a:cs typeface="맑은 고딕"/>
              </a:rPr>
              <a:t>• 승인? 게이트웨이에서 냉각 명령으로 간다</a:t>
            </a:r>
          </a:p>
          <a:p>
            <a:pPr algn="l">
              <a:lnSpc>
                <a:spcPct val="110000"/>
              </a:lnSpc>
              <a:spcAft>
                <a:spcPts val="400"/>
              </a:spcAft>
            </a:pPr>
            <a:r>
              <a:rPr sz="1400" b="0">
                <a:solidFill>
                  <a:srgbClr val="1F2A3A"/>
                </a:solidFill>
                <a:latin typeface="맑은 고딕"/>
                <a:ea typeface="맑은 고딕"/>
                <a:cs typeface="맑은 고딕"/>
              </a:rPr>
              <a:t>• 재관측과 유온 정상? 게이트웨이를 지난다</a:t>
            </a:r>
          </a:p>
          <a:p>
            <a:pPr algn="l">
              <a:lnSpc>
                <a:spcPct val="110000"/>
              </a:lnSpc>
              <a:spcAft>
                <a:spcPts val="400"/>
              </a:spcAft>
            </a:pPr>
            <a:r>
              <a:rPr sz="1400" b="0">
                <a:solidFill>
                  <a:srgbClr val="1F2A3A"/>
                </a:solidFill>
                <a:latin typeface="맑은 고딕"/>
                <a:ea typeface="맑은 고딕"/>
                <a:cs typeface="맑은 고딕"/>
              </a:rPr>
              <a:t>• 작업지시 등록, 결과 보고: 정상을 거친다</a:t>
            </a:r>
          </a:p>
        </p:txBody>
      </p:sp>
      <p:sp>
        <p:nvSpPr>
          <p:cNvPr id="10" name="Rounded Rectangle 9"/>
          <p:cNvSpPr/>
          <p:nvPr/>
        </p:nvSpPr>
        <p:spPr>
          <a:xfrm>
            <a:off x="777240" y="536676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a:t>
            </a:r>
          </a:p>
          <a:p>
            <a:pPr algn="l">
              <a:lnSpc>
                <a:spcPct val="110000"/>
              </a:lnSpc>
              <a:spcAft>
                <a:spcPts val="400"/>
              </a:spcAft>
            </a:pPr>
            <a:r>
              <a:rPr sz="1400" b="0">
                <a:solidFill>
                  <a:srgbClr val="1F2A3A"/>
                </a:solidFill>
                <a:latin typeface="맑은 고딕"/>
                <a:ea typeface="맑은 고딕"/>
                <a:cs typeface="맑은 고딕"/>
              </a:rPr>
              <a:t>• 승인? 게이트웨이에서 결과 보고: 거절로 간다</a:t>
            </a:r>
          </a:p>
          <a:p>
            <a:pPr algn="l">
              <a:lnSpc>
                <a:spcPct val="110000"/>
              </a:lnSpc>
              <a:spcAft>
                <a:spcPts val="400"/>
              </a:spcAft>
            </a:pPr>
            <a:r>
              <a:rPr sz="1400" b="0">
                <a:solidFill>
                  <a:srgbClr val="1F2A3A"/>
                </a:solidFill>
                <a:latin typeface="맑은 고딕"/>
                <a:ea typeface="맑은 고딕"/>
                <a:cs typeface="맑은 고딕"/>
              </a:rPr>
              <a:t>• 냉각 명령으로 가는 선은 지나지 않는다</a:t>
            </a:r>
          </a:p>
        </p:txBody>
      </p:sp>
      <p:sp>
        <p:nvSpPr>
          <p:cNvPr id="16" name="Rounded Rectangle 15"/>
          <p:cNvSpPr/>
          <p:nvPr/>
        </p:nvSpPr>
        <p:spPr>
          <a:xfrm>
            <a:off x="4566818" y="536676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 없음</a:t>
            </a:r>
          </a:p>
          <a:p>
            <a:pPr algn="l">
              <a:lnSpc>
                <a:spcPct val="110000"/>
              </a:lnSpc>
              <a:spcAft>
                <a:spcPts val="400"/>
              </a:spcAft>
            </a:pPr>
            <a:r>
              <a:rPr sz="1400" b="0">
                <a:solidFill>
                  <a:srgbClr val="1F2A3A"/>
                </a:solidFill>
                <a:latin typeface="맑은 고딕"/>
                <a:ea typeface="맑은 고딕"/>
                <a:cs typeface="맑은 고딕"/>
              </a:rPr>
              <a:t>• 승인 지연 타이머가 승인 지연 알림을 연다</a:t>
            </a:r>
          </a:p>
          <a:p>
            <a:pPr algn="l">
              <a:lnSpc>
                <a:spcPct val="110000"/>
              </a:lnSpc>
              <a:spcAft>
                <a:spcPts val="400"/>
              </a:spcAft>
            </a:pPr>
            <a:r>
              <a:rPr sz="1400" b="0">
                <a:solidFill>
                  <a:srgbClr val="1F2A3A"/>
                </a:solidFill>
                <a:latin typeface="맑은 고딕"/>
                <a:ea typeface="맑은 고딕"/>
                <a:cs typeface="맑은 고딕"/>
              </a:rPr>
              <a:t>• 운전원 승인은 열린 채로 남는다</a:t>
            </a:r>
          </a:p>
        </p:txBody>
      </p:sp>
      <p:sp>
        <p:nvSpPr>
          <p:cNvPr id="22" name="Rounded Rectangle 21"/>
          <p:cNvSpPr/>
          <p:nvPr/>
        </p:nvSpPr>
        <p:spPr>
          <a:xfrm>
            <a:off x="8356396" y="536676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알림</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SCADA · sys:scada</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CMMS · sys:cmms</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병렬 게이트웨이와 하위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커지면 여러 작업을 함께 여는 병렬 게이트웨이와 흐름을 작업 하나로 접는 하위 프로세스가 필요해진다.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병렬과하위.svg" descr="illust_177747447251905738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2313111"/>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병렬 게이트웨이</a:t>
            </a:r>
          </a:p>
          <a:p>
            <a:pPr algn="ctr">
              <a:lnSpc>
                <a:spcPct val="110000"/>
              </a:lnSpc>
              <a:spcAft>
                <a:spcPts val="100"/>
              </a:spcAft>
            </a:pPr>
            <a:r>
              <a:rPr sz="1300" b="0">
                <a:solidFill>
                  <a:srgbClr val="556175"/>
                </a:solidFill>
                <a:latin typeface="맑은 고딕"/>
                <a:ea typeface="맑은 고딕"/>
                <a:cs typeface="맑은 고딕"/>
              </a:rPr>
              <a:t>Parallel Gateway · 모든 갈래로 함께 보낸다</a:t>
            </a:r>
          </a:p>
        </p:txBody>
      </p:sp>
      <p:sp>
        <p:nvSpPr>
          <p:cNvPr id="8" name="TextBox 7"/>
          <p:cNvSpPr txBox="1"/>
          <p:nvPr/>
        </p:nvSpPr>
        <p:spPr>
          <a:xfrm>
            <a:off x="6641322" y="2313111"/>
            <a:ext cx="458198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하위 프로세스</a:t>
            </a:r>
          </a:p>
          <a:p>
            <a:pPr algn="ctr">
              <a:lnSpc>
                <a:spcPct val="110000"/>
              </a:lnSpc>
              <a:spcAft>
                <a:spcPts val="100"/>
              </a:spcAft>
            </a:pPr>
            <a:r>
              <a:rPr sz="1300" b="0">
                <a:solidFill>
                  <a:srgbClr val="556175"/>
                </a:solidFill>
                <a:latin typeface="맑은 고딕"/>
                <a:ea typeface="맑은 고딕"/>
                <a:cs typeface="맑은 고딕"/>
              </a:rPr>
              <a:t>Sub-Process · 흐름을 작업 하나로 접는다</a:t>
            </a:r>
          </a:p>
        </p:txBody>
      </p:sp>
      <p:sp>
        <p:nvSpPr>
          <p:cNvPr id="9" name="TextBox 8"/>
          <p:cNvSpPr txBox="1"/>
          <p:nvPr/>
        </p:nvSpPr>
        <p:spPr>
          <a:xfrm>
            <a:off x="990203" y="5693237"/>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모든 갈래가 끝나면 합쳐져 다음으로 간다</a:t>
            </a:r>
          </a:p>
        </p:txBody>
      </p:sp>
      <p:sp>
        <p:nvSpPr>
          <p:cNvPr id="10" name="TextBox 9"/>
          <p:cNvSpPr txBox="1"/>
          <p:nvPr/>
        </p:nvSpPr>
        <p:spPr>
          <a:xfrm>
            <a:off x="9259601" y="332951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접힌 모양</a:t>
            </a:r>
          </a:p>
        </p:txBody>
      </p:sp>
      <p:sp>
        <p:nvSpPr>
          <p:cNvPr id="11" name="TextBox 10"/>
          <p:cNvSpPr txBox="1"/>
          <p:nvPr/>
        </p:nvSpPr>
        <p:spPr>
          <a:xfrm>
            <a:off x="8059556" y="4416826"/>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펼친 모양</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BPMN 그림을 읽는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 그림은 레인에서 맡는 쪽을, 시작 이벤트에서 계기를, 게이트웨이에서 갈림을, 끝 이벤트에서 결말을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레인</a:t>
            </a:r>
          </a:p>
          <a:p>
            <a:pPr algn="ctr">
              <a:lnSpc>
                <a:spcPct val="110000"/>
              </a:lnSpc>
              <a:spcAft>
                <a:spcPts val="400"/>
              </a:spcAft>
            </a:pPr>
            <a:r>
              <a:rPr sz="1350" b="0">
                <a:solidFill>
                  <a:srgbClr val="1F2A3A"/>
                </a:solidFill>
                <a:latin typeface="맑은 고딕"/>
                <a:ea typeface="맑은 고딕"/>
                <a:cs typeface="맑은 고딕"/>
              </a:rPr>
              <a:t>누가 참여하는가</a:t>
            </a:r>
          </a:p>
          <a:p>
            <a:pPr algn="ctr">
              <a:lnSpc>
                <a:spcPct val="110000"/>
              </a:lnSpc>
              <a:spcAft>
                <a:spcPts val="400"/>
              </a:spcAft>
            </a:pPr>
            <a:r>
              <a:rPr sz="1350" b="0">
                <a:solidFill>
                  <a:srgbClr val="1F2A3A"/>
                </a:solidFill>
                <a:latin typeface="맑은 고딕"/>
                <a:ea typeface="맑은 고딕"/>
                <a:cs typeface="맑은 고딕"/>
              </a:rPr>
              <a:t>담당자, 에이전트, 시스템</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mail" descr="mail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시작 이벤트</a:t>
            </a:r>
          </a:p>
          <a:p>
            <a:pPr algn="ctr">
              <a:lnSpc>
                <a:spcPct val="110000"/>
              </a:lnSpc>
              <a:spcAft>
                <a:spcPts val="400"/>
              </a:spcAft>
            </a:pPr>
            <a:r>
              <a:rPr sz="1350" b="0">
                <a:solidFill>
                  <a:srgbClr val="1F2A3A"/>
                </a:solidFill>
                <a:latin typeface="맑은 고딕"/>
                <a:ea typeface="맑은 고딕"/>
                <a:cs typeface="맑은 고딕"/>
              </a:rPr>
              <a:t>무엇이 프로세스를 여는가</a:t>
            </a:r>
          </a:p>
          <a:p>
            <a:pPr algn="ctr">
              <a:lnSpc>
                <a:spcPct val="110000"/>
              </a:lnSpc>
              <a:spcAft>
                <a:spcPts val="400"/>
              </a:spcAft>
            </a:pPr>
            <a:r>
              <a:rPr sz="1350" b="0">
                <a:solidFill>
                  <a:srgbClr val="1F2A3A"/>
                </a:solidFill>
                <a:latin typeface="맑은 고딕"/>
                <a:ea typeface="맑은 고딕"/>
                <a:cs typeface="맑은 고딕"/>
              </a:rPr>
              <a:t>쿨러 과열 경보</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작업과 게이트웨이</a:t>
            </a:r>
          </a:p>
          <a:p>
            <a:pPr algn="ctr">
              <a:lnSpc>
                <a:spcPct val="110000"/>
              </a:lnSpc>
              <a:spcAft>
                <a:spcPts val="400"/>
              </a:spcAft>
            </a:pPr>
            <a:r>
              <a:rPr sz="1350" b="0">
                <a:solidFill>
                  <a:srgbClr val="1F2A3A"/>
                </a:solidFill>
                <a:latin typeface="맑은 고딕"/>
                <a:ea typeface="맑은 고딕"/>
                <a:cs typeface="맑은 고딕"/>
              </a:rPr>
              <a:t>어떤 순서로 가고 어디서 갈리는가</a:t>
            </a:r>
          </a:p>
          <a:p>
            <a:pPr algn="ctr">
              <a:lnSpc>
                <a:spcPct val="110000"/>
              </a:lnSpc>
              <a:spcAft>
                <a:spcPts val="400"/>
              </a:spcAft>
            </a:pPr>
            <a:r>
              <a:rPr sz="1350" b="0">
                <a:solidFill>
                  <a:srgbClr val="1F2A3A"/>
                </a:solidFill>
                <a:latin typeface="맑은 고딕"/>
                <a:ea typeface="맑은 고딕"/>
                <a:cs typeface="맑은 고딕"/>
              </a:rPr>
              <a:t>승인?, 유온 정상?</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끝 이벤트</a:t>
            </a:r>
          </a:p>
          <a:p>
            <a:pPr algn="ctr">
              <a:lnSpc>
                <a:spcPct val="110000"/>
              </a:lnSpc>
              <a:spcAft>
                <a:spcPts val="400"/>
              </a:spcAft>
            </a:pPr>
            <a:r>
              <a:rPr sz="1350" b="0">
                <a:solidFill>
                  <a:srgbClr val="1F2A3A"/>
                </a:solidFill>
                <a:latin typeface="맑은 고딕"/>
                <a:ea typeface="맑은 고딕"/>
                <a:cs typeface="맑은 고딕"/>
              </a:rPr>
              <a:t>어떤 경우들로 닫히는가</a:t>
            </a:r>
          </a:p>
          <a:p>
            <a:pPr algn="ctr">
              <a:lnSpc>
                <a:spcPct val="110000"/>
              </a:lnSpc>
              <a:spcAft>
                <a:spcPts val="400"/>
              </a:spcAft>
            </a:pPr>
            <a:r>
              <a:rPr sz="1350" b="0">
                <a:solidFill>
                  <a:srgbClr val="1F2A3A"/>
                </a:solidFill>
                <a:latin typeface="맑은 고딕"/>
                <a:ea typeface="맑은 고딕"/>
                <a:cs typeface="맑은 고딕"/>
              </a:rPr>
              <a:t>끝, 거절 종결, 알림</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오케스트레이션:</a:t>
            </a:r>
          </a:p>
          <a:p>
            <a:pPr algn="l">
              <a:lnSpc>
                <a:spcPct val="110000"/>
              </a:lnSpc>
            </a:pPr>
            <a:r>
              <a:rPr sz="3400" b="1">
                <a:solidFill>
                  <a:srgbClr val="13294B"/>
                </a:solidFill>
                <a:latin typeface="맑은 고딕"/>
                <a:ea typeface="맑은 고딕"/>
                <a:cs typeface="맑은 고딕"/>
              </a:rPr>
              <a:t>설계한 프로세스의 실행</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그림이 실제 경보에서 한 단계씩 수행되고 기록되는 방식</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다음 작업 열기</a:t>
            </a:r>
          </a:p>
          <a:p>
            <a:pPr algn="l">
              <a:lnSpc>
                <a:spcPct val="110000"/>
              </a:lnSpc>
              <a:spcAft>
                <a:spcPts val="400"/>
              </a:spcAft>
            </a:pPr>
            <a:r>
              <a:rPr sz="14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넘기기</a:t>
            </a:r>
          </a:p>
          <a:p>
            <a:pPr algn="l">
              <a:lnSpc>
                <a:spcPct val="110000"/>
              </a:lnSpc>
              <a:spcAft>
                <a:spcPts val="400"/>
              </a:spcAft>
            </a:pPr>
            <a:r>
              <a:rPr sz="14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위치 기억하기</a:t>
            </a:r>
          </a:p>
          <a:p>
            <a:pPr algn="l">
              <a:lnSpc>
                <a:spcPct val="110000"/>
              </a:lnSpc>
              <a:spcAft>
                <a:spcPts val="400"/>
              </a:spcAft>
            </a:pPr>
            <a:r>
              <a:rPr sz="14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엔진</a:t>
            </a:r>
          </a:p>
          <a:p>
            <a:pPr algn="l">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a:lnSpc>
                <a:spcPct val="110000"/>
              </a:lnSpc>
              <a:spcAft>
                <a:spcPts val="300"/>
              </a:spcAft>
            </a:pPr>
            <a:r>
              <a:rPr sz="1400" b="0">
                <a:solidFill>
                  <a:srgbClr val="1F2A3A"/>
                </a:solidFill>
                <a:latin typeface="맑은 고딕"/>
                <a:ea typeface="맑은 고딕"/>
                <a:cs typeface="맑은 고딕"/>
              </a:rPr>
              <a:t>HYD에서는 process 서비스가 이 일을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오케스트레이션</a:t>
            </a:r>
          </a:p>
          <a:p>
            <a:pPr algn="l">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오케스트라의 지휘자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a:lnSpc>
                <a:spcPct val="110000"/>
              </a:lnSpc>
              <a:spcAft>
                <a:spcPts val="300"/>
              </a:spcAft>
            </a:pPr>
            <a:r>
              <a:rPr sz="1400" b="0">
                <a:solidFill>
                  <a:srgbClr val="1F2A3A"/>
                </a:solidFill>
                <a:latin typeface="맑은 고딕"/>
                <a:ea typeface="맑은 고딕"/>
                <a:cs typeface="맑은 고딕"/>
              </a:rPr>
              <a:t>다른 점: 엔진은 차례를 알리는 데 그치지 않고 작업의 결과를 받아 다음 작업에 넘기고 기록한다.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pic>
        <p:nvPicPr>
          <p:cNvPr id="6" name="삽화:정의와인스턴스.svg" descr="illust_218409022872758457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정의</a:t>
            </a:r>
          </a:p>
          <a:p>
            <a:pPr algn="ctr">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c3_cooling</a:t>
            </a:r>
          </a:p>
          <a:p>
            <a:pPr algn="ctr">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인스턴스</a:t>
            </a:r>
          </a:p>
          <a:p>
            <a:pPr algn="ctr">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32aca7de… 승인되어 끝남</a:t>
            </a:r>
          </a:p>
        </p:txBody>
      </p:sp>
      <p:sp>
        <p:nvSpPr>
          <p:cNvPr id="11" name="TextBox 10"/>
          <p:cNvSpPr txBox="1"/>
          <p:nvPr/>
        </p:nvSpPr>
        <p:spPr>
          <a:xfrm>
            <a:off x="6968607" y="3792803"/>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968607" y="517321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bede0d2e… 승인 대기</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건에는 어느 정의의 어느 판본으로, 어느 경보에서 열려, 어느 끝 이벤트에 닿았는지가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"proc_inst_name":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HYD-01",</a:t>
            </a:r>
          </a:p>
          <a:p>
            <a:pPr algn="l">
              <a:lnSpc>
                <a:spcPct val="110000"/>
              </a:lnSpc>
              <a:spcAft>
                <a:spcPts val="200"/>
              </a:spcAft>
            </a:pPr>
            <a:r>
              <a:rPr sz="1300" b="0">
                <a:solidFill>
                  <a:srgbClr val="E8EEF6"/>
                </a:solidFill>
                <a:latin typeface="Consolas"/>
                <a:ea typeface="맑은 고딕"/>
                <a:cs typeface="맑은 고딕"/>
              </a:rPr>
              <a:t>"proc_def_id": "c3_cooling",</a:t>
            </a:r>
          </a:p>
          <a:p>
            <a:pPr algn="l">
              <a:lnSpc>
                <a:spcPct val="110000"/>
              </a:lnSpc>
              <a:spcAft>
                <a:spcPts val="200"/>
              </a:spcAft>
            </a:pPr>
            <a:r>
              <a:rPr sz="1300" b="0">
                <a:solidFill>
                  <a:srgbClr val="E8EEF6"/>
                </a:solidFill>
                <a:latin typeface="Consolas"/>
                <a:ea typeface="맑은 고딕"/>
                <a:cs typeface="맑은 고딕"/>
              </a:rPr>
              <a:t>"proc_def_version": "9",</a:t>
            </a:r>
          </a:p>
          <a:p>
            <a:pPr algn="l">
              <a:lnSpc>
                <a:spcPct val="110000"/>
              </a:lnSpc>
              <a:spcAft>
                <a:spcPts val="200"/>
              </a:spcAft>
            </a:pPr>
            <a:r>
              <a:rPr sz="1300" b="0">
                <a:solidFill>
                  <a:srgbClr val="E8EEF6"/>
                </a:solidFill>
                <a:latin typeface="Consolas"/>
                <a:ea typeface="맑은 고딕"/>
                <a:cs typeface="맑은 고딕"/>
              </a:rPr>
              <a:t>"start_event_id": "ALT-hyd01-0026-767a",</a:t>
            </a:r>
          </a:p>
          <a:p>
            <a:pPr algn="l">
              <a:lnSpc>
                <a:spcPct val="110000"/>
              </a:lnSpc>
              <a:spcAft>
                <a:spcPts val="200"/>
              </a:spcAft>
            </a:pPr>
            <a:r>
              <a:rPr sz="1300" b="0">
                <a:solidFill>
                  <a:srgbClr val="E8EEF6"/>
                </a:solidFill>
                <a:latin typeface="Consolas"/>
                <a:ea typeface="맑은 고딕"/>
                <a:cs typeface="맑은 고딕"/>
              </a:rPr>
              <a:t>"status": "COMPLETED",</a:t>
            </a:r>
          </a:p>
          <a:p>
            <a:pPr algn="l">
              <a:lnSpc>
                <a:spcPct val="110000"/>
              </a:lnSpc>
              <a:spcAft>
                <a:spcPts val="200"/>
              </a:spcAft>
            </a:pPr>
            <a:r>
              <a:rPr sz="1300" b="0">
                <a:solidFill>
                  <a:srgbClr val="E8EEF6"/>
                </a:solidFill>
                <a:latin typeface="Consolas"/>
                <a:ea typeface="맑은 고딕"/>
                <a:cs typeface="맑은 고딕"/>
              </a:rPr>
              <a:t>"end_event": "E_end"</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정의와 판본</a:t>
            </a:r>
          </a:p>
          <a:p>
            <a:pPr algn="l">
              <a:lnSpc>
                <a:spcPct val="110000"/>
              </a:lnSpc>
              <a:spcAft>
                <a:spcPts val="400"/>
              </a:spcAft>
            </a:pPr>
            <a:r>
              <a:rPr sz="1400" b="0">
                <a:solidFill>
                  <a:srgbClr val="1F2A3A"/>
                </a:solidFill>
                <a:latin typeface="맑은 고딕"/>
                <a:ea typeface="맑은 고딕"/>
                <a:cs typeface="맑은 고딕"/>
              </a:rPr>
              <a:t>c3_cooling 정의의</a:t>
            </a:r>
          </a:p>
          <a:p>
            <a:pPr algn="l">
              <a:lnSpc>
                <a:spcPct val="110000"/>
              </a:lnSpc>
              <a:spcAft>
                <a:spcPts val="400"/>
              </a:spcAft>
            </a:pPr>
            <a:r>
              <a:rPr sz="1400" b="0">
                <a:solidFill>
                  <a:srgbClr val="1F2A3A"/>
                </a:solidFill>
                <a:latin typeface="맑은 고딕"/>
                <a:ea typeface="맑은 고딕"/>
                <a:cs typeface="맑은 고딕"/>
              </a:rPr>
              <a:t>판본 9로 열렸다.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여는 사건</a:t>
            </a:r>
          </a:p>
          <a:p>
            <a:pPr algn="l">
              <a:lnSpc>
                <a:spcPct val="110000"/>
              </a:lnSpc>
              <a:spcAft>
                <a:spcPts val="400"/>
              </a:spcAft>
            </a:pPr>
            <a:r>
              <a:rPr sz="1400" b="0">
                <a:solidFill>
                  <a:srgbClr val="1F2A3A"/>
                </a:solidFill>
                <a:latin typeface="맑은 고딕"/>
                <a:ea typeface="맑은 고딕"/>
                <a:cs typeface="맑은 고딕"/>
              </a:rPr>
              <a:t>경보 ALT-hyd01-0026-767a가</a:t>
            </a:r>
          </a:p>
          <a:p>
            <a:pPr algn="l">
              <a:lnSpc>
                <a:spcPct val="110000"/>
              </a:lnSpc>
              <a:spcAft>
                <a:spcPts val="400"/>
              </a:spcAft>
            </a:pPr>
            <a:r>
              <a:rPr sz="1400" b="0">
                <a:solidFill>
                  <a:srgbClr val="1F2A3A"/>
                </a:solidFill>
                <a:latin typeface="맑은 고딕"/>
                <a:ea typeface="맑은 고딕"/>
                <a:cs typeface="맑은 고딕"/>
              </a:rPr>
              <a:t>이 처리 건을 열었다.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닫힌 곳</a:t>
            </a:r>
          </a:p>
          <a:p>
            <a:pPr algn="l">
              <a:lnSpc>
                <a:spcPct val="110000"/>
              </a:lnSpc>
              <a:spcAft>
                <a:spcPts val="400"/>
              </a:spcAft>
            </a:pPr>
            <a:r>
              <a:rPr sz="1400" b="0">
                <a:solidFill>
                  <a:srgbClr val="1F2A3A"/>
                </a:solidFill>
                <a:latin typeface="맑은 고딕"/>
                <a:ea typeface="맑은 고딕"/>
                <a:cs typeface="맑은 고딕"/>
              </a:rPr>
              <a:t>끝 이벤트 E_end에 닿아</a:t>
            </a:r>
          </a:p>
          <a:p>
            <a:pPr algn="l">
              <a:lnSpc>
                <a:spcPct val="110000"/>
              </a:lnSpc>
              <a:spcAft>
                <a:spcPts val="400"/>
              </a:spcAft>
            </a:pPr>
            <a:r>
              <a:rPr sz="1400" b="0">
                <a:solidFill>
                  <a:srgbClr val="1F2A3A"/>
                </a:solidFill>
                <a:latin typeface="맑은 고딕"/>
                <a:ea typeface="맑은 고딕"/>
                <a:cs typeface="맑은 고딕"/>
              </a:rPr>
              <a:t>실행이 끝났다.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pic>
        <p:nvPicPr>
          <p:cNvPr id="6" name="삽화:흐름_토큰_승인대기.svg" descr="illust_8421684936495525554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토큰</a:t>
            </a:r>
          </a:p>
          <a:p>
            <a:pPr algn="ctr">
              <a:lnSpc>
                <a:spcPct val="110000"/>
              </a:lnSpc>
              <a:spcAft>
                <a:spcPts val="100"/>
              </a:spcAft>
            </a:pPr>
            <a:r>
              <a:rPr sz="1100" b="0">
                <a:solidFill>
                  <a:srgbClr val="556175"/>
                </a:solidFill>
                <a:latin typeface="맑은 고딕"/>
                <a:ea typeface="맑은 고딕"/>
                <a:cs typeface="맑은 고딕"/>
              </a:rPr>
              <a:t>Token · 프로세스의 현재 위치를 나타내는 표식</a:t>
            </a:r>
          </a:p>
        </p:txBody>
      </p:sp>
      <p:sp>
        <p:nvSpPr>
          <p:cNvPr id="8" name="TextBox 7"/>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생긴다</a:t>
            </a:r>
          </a:p>
        </p:txBody>
      </p:sp>
      <p:sp>
        <p:nvSpPr>
          <p:cNvPr id="11" name="TextBox 10"/>
          <p:cNvSpPr txBox="1"/>
          <p:nvPr/>
        </p:nvSpPr>
        <p:spPr>
          <a:xfrm>
            <a:off x="10350550" y="337678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사라진다</a:t>
            </a:r>
          </a:p>
        </p:txBody>
      </p:sp>
      <p:sp>
        <p:nvSpPr>
          <p:cNvPr id="12" name="TextBox 11"/>
          <p:cNvSpPr txBox="1"/>
          <p:nvPr/>
        </p:nvSpPr>
        <p:spPr>
          <a:xfrm>
            <a:off x="6532227" y="3045866"/>
            <a:ext cx="392741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작업이 끝나면 나가는 선을 따라 다음 요소로 옮겨 간다</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"status": "RUNNING",</a:t>
            </a:r>
          </a:p>
          <a:p>
            <a:pPr algn="l">
              <a:lnSpc>
                <a:spcPct val="110000"/>
              </a:lnSpc>
              <a:spcAft>
                <a:spcPts val="200"/>
              </a:spcAft>
            </a:pPr>
            <a:r>
              <a:rPr sz="1300" b="0">
                <a:solidFill>
                  <a:srgbClr val="E8EEF6"/>
                </a:solidFill>
                <a:latin typeface="Consolas"/>
                <a:ea typeface="맑은 고딕"/>
                <a:cs typeface="맑은 고딕"/>
              </a:rPr>
              <a:t>"current_activity_ids": ["T_approve"]</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T_agent     DONE</a:t>
            </a:r>
          </a:p>
          <a:p>
            <a:pPr algn="l">
              <a:lnSpc>
                <a:spcPct val="110000"/>
              </a:lnSpc>
              <a:spcAft>
                <a:spcPts val="200"/>
              </a:spcAft>
            </a:pPr>
            <a:r>
              <a:rPr sz="1300" b="0">
                <a:solidFill>
                  <a:srgbClr val="E8EEF6"/>
                </a:solidFill>
                <a:latin typeface="Consolas"/>
                <a:ea typeface="맑은 고딕"/>
                <a:cs typeface="맑은 고딕"/>
              </a:rPr>
              <a:t>T_approve   IN_PROGRESS</a:t>
            </a:r>
          </a:p>
          <a:p>
            <a:pPr algn="l">
              <a:lnSpc>
                <a:spcPct val="110000"/>
              </a:lnSpc>
              <a:spcAft>
                <a:spcPts val="200"/>
              </a:spcAft>
            </a:pPr>
            <a:r>
              <a:rPr sz="1300" b="0">
                <a:solidFill>
                  <a:srgbClr val="E8EEF6"/>
                </a:solidFill>
                <a:latin typeface="Consolas"/>
                <a:ea typeface="맑은 고딕"/>
                <a:cs typeface="맑은 고딕"/>
              </a:rPr>
              <a:t>T_cmd       TODO</a:t>
            </a:r>
          </a:p>
          <a:p>
            <a:pPr algn="l">
              <a:lnSpc>
                <a:spcPct val="110000"/>
              </a:lnSpc>
              <a:spcAft>
                <a:spcPts val="200"/>
              </a:spcAft>
            </a:pPr>
            <a:r>
              <a:rPr sz="1300" b="0">
                <a:solidFill>
                  <a:srgbClr val="E8EEF6"/>
                </a:solidFill>
                <a:latin typeface="Consolas"/>
                <a:ea typeface="맑은 고딕"/>
                <a:cs typeface="맑은 고딕"/>
              </a:rPr>
              <a:t>T_reobs     TODO</a:t>
            </a:r>
          </a:p>
          <a:p>
            <a:pPr algn="l">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처리 건의 상태</a:t>
            </a:r>
          </a:p>
          <a:p>
            <a:pPr algn="l">
              <a:lnSpc>
                <a:spcPct val="110000"/>
              </a:lnSpc>
              <a:spcAft>
                <a:spcPts val="400"/>
              </a:spcAft>
            </a:pPr>
            <a:r>
              <a:rPr sz="1400" b="0">
                <a:solidFill>
                  <a:srgbClr val="1F2A3A"/>
                </a:solidFill>
                <a:latin typeface="맑은 고딕"/>
                <a:ea typeface="맑은 고딕"/>
                <a:cs typeface="맑은 고딕"/>
              </a:rPr>
              <a:t>끝나지 않았으므로</a:t>
            </a:r>
          </a:p>
          <a:p>
            <a:pPr algn="l">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열려 있는 단계</a:t>
            </a:r>
          </a:p>
          <a:p>
            <a:pPr algn="l">
              <a:lnSpc>
                <a:spcPct val="110000"/>
              </a:lnSpc>
              <a:spcAft>
                <a:spcPts val="400"/>
              </a:spcAft>
            </a:pPr>
            <a:r>
              <a:rPr sz="1400" b="0">
                <a:solidFill>
                  <a:srgbClr val="1F2A3A"/>
                </a:solidFill>
                <a:latin typeface="맑은 고딕"/>
                <a:ea typeface="맑은 고딕"/>
                <a:cs typeface="맑은 고딕"/>
              </a:rPr>
              <a:t>토큰이 있는 곳이</a:t>
            </a:r>
          </a:p>
          <a:p>
            <a:pPr algn="l">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단계의 상태</a:t>
            </a:r>
          </a:p>
          <a:p>
            <a:pPr algn="l">
              <a:lnSpc>
                <a:spcPct val="110000"/>
              </a:lnSpc>
              <a:spcAft>
                <a:spcPts val="400"/>
              </a:spcAft>
            </a:pPr>
            <a:r>
              <a:rPr sz="1400" b="0">
                <a:solidFill>
                  <a:srgbClr val="1F2A3A"/>
                </a:solidFill>
                <a:latin typeface="맑은 고딕"/>
                <a:ea typeface="맑은 고딕"/>
                <a:cs typeface="맑은 고딕"/>
              </a:rPr>
              <a:t>끝난 것은 DONE,</a:t>
            </a:r>
          </a:p>
          <a:p>
            <a:pPr algn="l">
              <a:lnSpc>
                <a:spcPct val="110000"/>
              </a:lnSpc>
              <a:spcAft>
                <a:spcPts val="400"/>
              </a:spcAft>
            </a:pPr>
            <a:r>
              <a:rPr sz="1400" b="0">
                <a:solidFill>
                  <a:srgbClr val="1F2A3A"/>
                </a:solidFill>
                <a:latin typeface="맑은 고딕"/>
                <a:ea typeface="맑은 고딕"/>
                <a:cs typeface="맑은 고딕"/>
              </a:rPr>
              <a:t>닿지 않은 것은 TODO이다.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비중단형 타이머가 발생하면 토큰이 하나 더 생겨 알림 가지를 지나고, 처음의 토큰은 승인 작업에 남아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pic>
        <p:nvPicPr>
          <p:cNvPr id="6" name="삽화:흐름_토큰_둘.svg" descr="illust_251970386297573311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처음의 토큰</a:t>
            </a:r>
          </a:p>
          <a:p>
            <a:pPr algn="ctr">
              <a:lnSpc>
                <a:spcPct val="110000"/>
              </a:lnSpc>
              <a:spcAft>
                <a:spcPts val="100"/>
              </a:spcAft>
            </a:pPr>
            <a:r>
              <a:rPr sz="1100" b="0">
                <a:solidFill>
                  <a:srgbClr val="556175"/>
                </a:solidFill>
                <a:latin typeface="맑은 고딕"/>
                <a:ea typeface="맑은 고딕"/>
                <a:cs typeface="맑은 고딕"/>
              </a:rPr>
              <a:t>운전원 승인에 남아 승인을 기다린다</a:t>
            </a:r>
          </a:p>
        </p:txBody>
      </p:sp>
      <p:sp>
        <p:nvSpPr>
          <p:cNvPr id="11" name="TextBox 10"/>
          <p:cNvSpPr txBox="1"/>
          <p:nvPr/>
        </p:nvSpPr>
        <p:spPr>
          <a:xfrm>
            <a:off x="1677502" y="4842296"/>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둘째 토큰</a:t>
            </a:r>
          </a:p>
          <a:p>
            <a:pPr algn="ctr">
              <a:lnSpc>
                <a:spcPct val="110000"/>
              </a:lnSpc>
              <a:spcAft>
                <a:spcPts val="100"/>
              </a:spcAft>
            </a:pPr>
            <a:r>
              <a:rPr sz="1100" b="0">
                <a:solidFill>
                  <a:srgbClr val="556175"/>
                </a:solidFill>
                <a:latin typeface="맑은 고딕"/>
                <a:ea typeface="맑은 고딕"/>
                <a:cs typeface="맑은 고딕"/>
              </a:rPr>
              <a:t>승인 지연 타이머에서 생겨 알림 가지를 지난다</a:t>
            </a:r>
          </a:p>
        </p:txBody>
      </p:sp>
      <p:sp>
        <p:nvSpPr>
          <p:cNvPr id="12" name="TextBox 11"/>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변수: 인스턴스가 지니는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변수는 인스턴스가 지니는 데이터로,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변수</a:t>
            </a:r>
          </a:p>
          <a:p>
            <a:pPr algn="l">
              <a:lnSpc>
                <a:spcPct val="110000"/>
              </a:lnSpc>
              <a:spcAft>
                <a:spcPts val="200"/>
              </a:spcAft>
            </a:pPr>
            <a:r>
              <a:rPr sz="1150" b="0">
                <a:solidFill>
                  <a:srgbClr val="556175"/>
                </a:solidFill>
                <a:latin typeface="맑은 고딕"/>
                <a:ea typeface="맑은 고딕"/>
                <a:cs typeface="맑은 고딕"/>
              </a:rPr>
              <a:t>Process Variable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인스턴스마다 따로 지니는 이름 붙은 값이다.</a:t>
            </a:r>
          </a:p>
          <a:p>
            <a:pPr algn="l">
              <a:lnSpc>
                <a:spcPct val="110000"/>
              </a:lnSpc>
              <a:spcAft>
                <a:spcPts val="300"/>
              </a:spcAft>
            </a:pPr>
            <a:r>
              <a:rPr sz="1400" b="0">
                <a:solidFill>
                  <a:srgbClr val="1F2A3A"/>
                </a:solidFill>
                <a:latin typeface="맑은 고딕"/>
                <a:ea typeface="맑은 고딕"/>
                <a:cs typeface="맑은 고딕"/>
              </a:rPr>
              <a:t>작업이 낸 출력이 변수로 저장되고 뒤의 작업과 게이트웨이가 읽는다.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갈림의 조건으로</a:t>
            </a:r>
          </a:p>
          <a:p>
            <a:pPr algn="l">
              <a:lnSpc>
                <a:spcPct val="110000"/>
              </a:lnSpc>
              <a:spcAft>
                <a:spcPts val="200"/>
              </a:spcAft>
            </a:pPr>
            <a:r>
              <a:rPr sz="1150" b="0">
                <a:solidFill>
                  <a:srgbClr val="556175"/>
                </a:solidFill>
                <a:latin typeface="맑은 고딕"/>
                <a:ea typeface="맑은 고딕"/>
                <a:cs typeface="맑은 고딕"/>
              </a:rPr>
              <a:t>approval · recovered</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게이트웨이 「승인?」은 운전원 승인이 낸 approval을 읽는다.</a:t>
            </a:r>
          </a:p>
          <a:p>
            <a:pPr algn="l">
              <a:lnSpc>
                <a:spcPct val="110000"/>
              </a:lnSpc>
              <a:spcAft>
                <a:spcPts val="300"/>
              </a:spcAft>
            </a:pPr>
            <a:r>
              <a:rPr sz="1400" b="0">
                <a:solidFill>
                  <a:srgbClr val="1F2A3A"/>
                </a:solidFill>
                <a:latin typeface="맑은 고딕"/>
                <a:ea typeface="맑은 고딕"/>
                <a:cs typeface="맑은 고딕"/>
              </a:rPr>
              <a:t>게이트웨이 「유온 정상?」은 재관측이 낸 recovered를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만든 곳의 기록</a:t>
            </a:r>
          </a:p>
          <a:p>
            <a:pPr algn="l">
              <a:lnSpc>
                <a:spcPct val="110000"/>
              </a:lnSpc>
              <a:spcAft>
                <a:spcPts val="200"/>
              </a:spcAft>
            </a:pPr>
            <a:r>
              <a:rPr sz="1150" b="0">
                <a:solidFill>
                  <a:srgbClr val="556175"/>
                </a:solidFill>
                <a:latin typeface="맑은 고딕"/>
                <a:ea typeface="맑은 고딕"/>
                <a:cs typeface="맑은 고딕"/>
              </a:rPr>
              <a:t>값의 출처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건은 변수마다 그것을 만든 단계를 함께 적어 둔다.</a:t>
            </a:r>
          </a:p>
          <a:p>
            <a:pPr algn="l">
              <a:lnSpc>
                <a:spcPct val="110000"/>
              </a:lnSpc>
              <a:spcAft>
                <a:spcPts val="300"/>
              </a:spcAft>
            </a:pPr>
            <a:r>
              <a:rPr sz="1400" b="0">
                <a:solidFill>
                  <a:srgbClr val="1F2A3A"/>
                </a:solidFill>
                <a:latin typeface="맑은 고딕"/>
                <a:ea typeface="맑은 고딕"/>
                <a:cs typeface="맑은 고딕"/>
              </a:rPr>
              <a:t>cause는 에이전트 단계가, 승인된 조치 방법 chosen_skill은 운전원 승인이, work_order는 작업지시 등록이 만들었다.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작업의 종류에 따라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엔진은 작업의 종류에 따라 사람의 응답, 시스템의 처리 결과, 에이전트의 제출을 기다린 뒤 토큰을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사용자 작업</a:t>
            </a:r>
          </a:p>
          <a:p>
            <a:pPr algn="l">
              <a:lnSpc>
                <a:spcPct val="110000"/>
              </a:lnSpc>
              <a:spcAft>
                <a:spcPts val="400"/>
              </a:spcAft>
            </a:pPr>
            <a:r>
              <a:rPr sz="1400" b="0">
                <a:solidFill>
                  <a:srgbClr val="1F2A3A"/>
                </a:solidFill>
                <a:latin typeface="맑은 고딕"/>
                <a:ea typeface="맑은 고딕"/>
                <a:cs typeface="맑은 고딕"/>
              </a:rPr>
              <a:t>• 운전원 승인</a:t>
            </a:r>
          </a:p>
          <a:p>
            <a:pPr algn="l">
              <a:lnSpc>
                <a:spcPct val="110000"/>
              </a:lnSpc>
              <a:spcAft>
                <a:spcPts val="400"/>
              </a:spcAft>
            </a:pPr>
            <a:r>
              <a:rPr sz="1400" b="0">
                <a:solidFill>
                  <a:srgbClr val="1F2A3A"/>
                </a:solidFill>
                <a:latin typeface="맑은 고딕"/>
                <a:ea typeface="맑은 고딕"/>
                <a:cs typeface="맑은 고딕"/>
              </a:rPr>
              <a:t>• 담당 역할의 작업함에 놓인다</a:t>
            </a:r>
          </a:p>
          <a:p>
            <a:pPr algn="l">
              <a:lnSpc>
                <a:spcPct val="110000"/>
              </a:lnSpc>
              <a:spcAft>
                <a:spcPts val="400"/>
              </a:spcAft>
            </a:pPr>
            <a:r>
              <a:rPr sz="1400" b="0">
                <a:solidFill>
                  <a:srgbClr val="1F2A3A"/>
                </a:solidFill>
                <a:latin typeface="맑은 고딕"/>
                <a:ea typeface="맑은 고딕"/>
                <a:cs typeface="맑은 고딕"/>
              </a:rPr>
              <a:t>• 사람이 승인하거나 거절하면 끝난다</a:t>
            </a:r>
          </a:p>
        </p:txBody>
      </p:sp>
      <p:sp>
        <p:nvSpPr>
          <p:cNvPr id="10" name="Rounded Rectangle 9"/>
          <p:cNvSpPr/>
          <p:nvPr/>
        </p:nvSpPr>
        <p:spPr>
          <a:xfrm>
            <a:off x="777240" y="5149850"/>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User Task</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settings" descr="setting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서비스 작업</a:t>
            </a:r>
          </a:p>
          <a:p>
            <a:pPr algn="l">
              <a:lnSpc>
                <a:spcPct val="110000"/>
              </a:lnSpc>
              <a:spcAft>
                <a:spcPts val="400"/>
              </a:spcAft>
            </a:pPr>
            <a:r>
              <a:rPr sz="1400" b="0">
                <a:solidFill>
                  <a:srgbClr val="1F2A3A"/>
                </a:solidFill>
                <a:latin typeface="맑은 고딕"/>
                <a:ea typeface="맑은 고딕"/>
                <a:cs typeface="맑은 고딕"/>
              </a:rPr>
              <a:t>• 냉각 명령, 재관측, 작업지시 등록</a:t>
            </a:r>
          </a:p>
          <a:p>
            <a:pPr algn="l">
              <a:lnSpc>
                <a:spcPct val="110000"/>
              </a:lnSpc>
              <a:spcAft>
                <a:spcPts val="400"/>
              </a:spcAft>
            </a:pPr>
            <a:r>
              <a:rPr sz="1400" b="0">
                <a:solidFill>
                  <a:srgbClr val="1F2A3A"/>
                </a:solidFill>
                <a:latin typeface="맑은 고딕"/>
                <a:ea typeface="맑은 고딕"/>
                <a:cs typeface="맑은 고딕"/>
              </a:rPr>
              <a:t>• 엔진이 해당 시스템을 호출한다</a:t>
            </a:r>
          </a:p>
          <a:p>
            <a:pPr algn="l">
              <a:lnSpc>
                <a:spcPct val="110000"/>
              </a:lnSpc>
              <a:spcAft>
                <a:spcPts val="400"/>
              </a:spcAft>
            </a:pPr>
            <a:r>
              <a:rPr sz="1400" b="0">
                <a:solidFill>
                  <a:srgbClr val="1F2A3A"/>
                </a:solidFill>
                <a:latin typeface="맑은 고딕"/>
                <a:ea typeface="맑은 고딕"/>
                <a:cs typeface="맑은 고딕"/>
              </a:rPr>
              <a:t>• 처리 결과를 받으면 끝난다</a:t>
            </a:r>
          </a:p>
        </p:txBody>
      </p:sp>
      <p:sp>
        <p:nvSpPr>
          <p:cNvPr id="16" name="Rounded Rectangle 15"/>
          <p:cNvSpPr/>
          <p:nvPr/>
        </p:nvSpPr>
        <p:spPr>
          <a:xfrm>
            <a:off x="4566818" y="5149850"/>
            <a:ext cx="131368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31368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Service Task</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단계</a:t>
            </a:r>
          </a:p>
          <a:p>
            <a:pPr algn="l">
              <a:lnSpc>
                <a:spcPct val="110000"/>
              </a:lnSpc>
              <a:spcAft>
                <a:spcPts val="400"/>
              </a:spcAft>
            </a:pPr>
            <a:r>
              <a:rPr sz="1400" b="0">
                <a:solidFill>
                  <a:srgbClr val="1F2A3A"/>
                </a:solidFill>
                <a:latin typeface="맑은 고딕"/>
                <a:ea typeface="맑은 고딕"/>
                <a:cs typeface="맑은 고딕"/>
              </a:rPr>
              <a:t>• 원인 진단 · 냉각 조치 제안</a:t>
            </a:r>
          </a:p>
          <a:p>
            <a:pPr algn="l">
              <a:lnSpc>
                <a:spcPct val="110000"/>
              </a:lnSpc>
              <a:spcAft>
                <a:spcPts val="400"/>
              </a:spcAft>
            </a:pPr>
            <a:r>
              <a:rPr sz="1400" b="0">
                <a:solidFill>
                  <a:srgbClr val="1F2A3A"/>
                </a:solidFill>
                <a:latin typeface="맑은 고딕"/>
                <a:ea typeface="맑은 고딕"/>
                <a:cs typeface="맑은 고딕"/>
              </a:rPr>
              <a:t>• 지정된 에이전트에게 맡겨진다</a:t>
            </a:r>
          </a:p>
          <a:p>
            <a:pPr algn="l">
              <a:lnSpc>
                <a:spcPct val="110000"/>
              </a:lnSpc>
              <a:spcAft>
                <a:spcPts val="400"/>
              </a:spcAft>
            </a:pPr>
            <a:r>
              <a:rPr sz="1400" b="0">
                <a:solidFill>
                  <a:srgbClr val="1F2A3A"/>
                </a:solidFill>
                <a:latin typeface="맑은 고딕"/>
                <a:ea typeface="맑은 고딕"/>
                <a:cs typeface="맑은 고딕"/>
              </a:rPr>
              <a:t>• 판단이 제출되면 끝난다</a:t>
            </a:r>
          </a:p>
        </p:txBody>
      </p:sp>
      <p:sp>
        <p:nvSpPr>
          <p:cNvPr id="22" name="Rounded Rectangle 21"/>
          <p:cNvSpPr/>
          <p:nvPr/>
        </p:nvSpPr>
        <p:spPr>
          <a:xfrm>
            <a:off x="8356396" y="5149850"/>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 안에서 읽는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 하나 안에서 지식 그래프, 센서 값, SOP와 판단 규칙, 업무 DB를 차례로 읽은 뒤 판단 하나를 제출한다.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ectangle 5"/>
          <p:cNvSpPr/>
          <p:nvPr/>
        </p:nvSpPr>
        <p:spPr>
          <a:xfrm>
            <a:off x="1658081" y="3438271"/>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28542"/>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34513"/>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1358088" y="3211430"/>
            <a:ext cx="599985" cy="599985"/>
          </a:xfrm>
          <a:prstGeom prst="rect">
            <a:avLst/>
          </a:prstGeom>
        </p:spPr>
      </p:pic>
      <p:sp>
        <p:nvSpPr>
          <p:cNvPr id="10" name="TextBox 9"/>
          <p:cNvSpPr txBox="1"/>
          <p:nvPr/>
        </p:nvSpPr>
        <p:spPr>
          <a:xfrm>
            <a:off x="640079" y="4225492"/>
            <a:ext cx="2036003" cy="118846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스킬 문서</a:t>
            </a:r>
          </a:p>
          <a:p>
            <a:pPr algn="ctr">
              <a:lnSpc>
                <a:spcPct val="110000"/>
              </a:lnSpc>
              <a:spcAft>
                <a:spcPts val="400"/>
              </a:spcAft>
            </a:pPr>
            <a:r>
              <a:rPr sz="1300" b="0">
                <a:solidFill>
                  <a:srgbClr val="1F2A3A"/>
                </a:solidFill>
                <a:latin typeface="맑은 고딕"/>
                <a:ea typeface="맑은 고딕"/>
                <a:cs typeface="맑은 고딕"/>
              </a:rPr>
              <a:t>수행 방법을 읽는다</a:t>
            </a:r>
          </a:p>
        </p:txBody>
      </p:sp>
      <p:sp>
        <p:nvSpPr>
          <p:cNvPr id="11" name="Chevron 10"/>
          <p:cNvSpPr/>
          <p:nvPr/>
        </p:nvSpPr>
        <p:spPr>
          <a:xfrm>
            <a:off x="4867534" y="332854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34513"/>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76971" y="3211430"/>
            <a:ext cx="599985" cy="599985"/>
          </a:xfrm>
          <a:prstGeom prst="rect">
            <a:avLst/>
          </a:prstGeom>
        </p:spPr>
      </p:pic>
      <p:sp>
        <p:nvSpPr>
          <p:cNvPr id="14" name="TextBox 13"/>
          <p:cNvSpPr txBox="1"/>
          <p:nvPr/>
        </p:nvSpPr>
        <p:spPr>
          <a:xfrm>
            <a:off x="2858963" y="4225492"/>
            <a:ext cx="2036003" cy="118846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diagnose</a:t>
            </a:r>
          </a:p>
          <a:p>
            <a:pPr algn="ctr">
              <a:lnSpc>
                <a:spcPct val="110000"/>
              </a:lnSpc>
              <a:spcAft>
                <a:spcPts val="400"/>
              </a:spcAft>
            </a:pPr>
            <a:r>
              <a:rPr sz="1300" b="0">
                <a:solidFill>
                  <a:srgbClr val="1F2A3A"/>
                </a:solidFill>
                <a:latin typeface="맑은 고딕"/>
                <a:ea typeface="맑은 고딕"/>
                <a:cs typeface="맑은 고딕"/>
              </a:rPr>
              <a:t>지식 그래프와 센서 값으로</a:t>
            </a:r>
          </a:p>
          <a:p>
            <a:pPr algn="ctr">
              <a:lnSpc>
                <a:spcPct val="110000"/>
              </a:lnSpc>
              <a:spcAft>
                <a:spcPts val="400"/>
              </a:spcAft>
            </a:pPr>
            <a:r>
              <a:rPr sz="1300" b="0">
                <a:solidFill>
                  <a:srgbClr val="1F2A3A"/>
                </a:solidFill>
                <a:latin typeface="맑은 고딕"/>
                <a:ea typeface="맑은 고딕"/>
                <a:cs typeface="맑은 고딕"/>
              </a:rPr>
              <a:t>원인을 가린다</a:t>
            </a:r>
          </a:p>
        </p:txBody>
      </p:sp>
      <p:sp>
        <p:nvSpPr>
          <p:cNvPr id="15" name="Chevron 14"/>
          <p:cNvSpPr/>
          <p:nvPr/>
        </p:nvSpPr>
        <p:spPr>
          <a:xfrm>
            <a:off x="7086417" y="332854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34513"/>
            <a:ext cx="1153819" cy="1153819"/>
          </a:xfrm>
          <a:prstGeom prst="ellipse">
            <a:avLst/>
          </a:prstGeom>
          <a:solidFill>
            <a:srgbClr val="FFFFFF"/>
          </a:solidFill>
          <a:ln w="28575">
            <a:solidFill>
              <a:srgbClr val="13294B"/>
            </a:solidFill>
          </a:ln>
        </p:spPr>
        <p:txBody>
          <a:bodyPr rtlCol="0" anchor="ctr"/>
          <a:lstStyle/>
          <a:p>
            <a:pPr algn="ctr"/>
          </a:p>
        </p:txBody>
      </p:sp>
      <p:pic>
        <p:nvPicPr>
          <p:cNvPr id="17" name="아이콘:scale" descr="scale_13294B_1.6.png"/>
          <p:cNvPicPr>
            <a:picLocks noChangeAspect="1"/>
          </p:cNvPicPr>
          <p:nvPr/>
        </p:nvPicPr>
        <p:blipFill>
          <a:blip r:embed="rId5"/>
          <a:stretch>
            <a:fillRect/>
          </a:stretch>
        </p:blipFill>
        <p:spPr>
          <a:xfrm>
            <a:off x="5795854" y="3211430"/>
            <a:ext cx="599985" cy="599985"/>
          </a:xfrm>
          <a:prstGeom prst="rect">
            <a:avLst/>
          </a:prstGeom>
        </p:spPr>
      </p:pic>
      <p:sp>
        <p:nvSpPr>
          <p:cNvPr id="18" name="TextBox 17"/>
          <p:cNvSpPr txBox="1"/>
          <p:nvPr/>
        </p:nvSpPr>
        <p:spPr>
          <a:xfrm>
            <a:off x="5077846" y="4225492"/>
            <a:ext cx="2036003" cy="118846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evaluate_cards</a:t>
            </a:r>
          </a:p>
          <a:p>
            <a:pPr algn="ctr">
              <a:lnSpc>
                <a:spcPct val="110000"/>
              </a:lnSpc>
              <a:spcAft>
                <a:spcPts val="400"/>
              </a:spcAft>
            </a:pPr>
            <a:r>
              <a:rPr sz="1300" b="0">
                <a:solidFill>
                  <a:srgbClr val="1F2A3A"/>
                </a:solidFill>
                <a:latin typeface="맑은 고딕"/>
                <a:ea typeface="맑은 고딕"/>
                <a:cs typeface="맑은 고딕"/>
              </a:rPr>
              <a:t>SOP 조치 넷을 규칙과</a:t>
            </a:r>
          </a:p>
          <a:p>
            <a:pPr algn="ctr">
              <a:lnSpc>
                <a:spcPct val="110000"/>
              </a:lnSpc>
              <a:spcAft>
                <a:spcPts val="400"/>
              </a:spcAft>
            </a:pPr>
            <a:r>
              <a:rPr sz="1300" b="0">
                <a:solidFill>
                  <a:srgbClr val="1F2A3A"/>
                </a:solidFill>
                <a:latin typeface="맑은 고딕"/>
                <a:ea typeface="맑은 고딕"/>
                <a:cs typeface="맑은 고딕"/>
              </a:rPr>
              <a:t>성과 기준으로 견준다</a:t>
            </a:r>
          </a:p>
        </p:txBody>
      </p:sp>
      <p:sp>
        <p:nvSpPr>
          <p:cNvPr id="19" name="Chevron 18"/>
          <p:cNvSpPr/>
          <p:nvPr/>
        </p:nvSpPr>
        <p:spPr>
          <a:xfrm>
            <a:off x="9305300" y="332854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34513"/>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database" descr="database_13294B_1.6.png"/>
          <p:cNvPicPr>
            <a:picLocks noChangeAspect="1"/>
          </p:cNvPicPr>
          <p:nvPr/>
        </p:nvPicPr>
        <p:blipFill>
          <a:blip r:embed="rId6"/>
          <a:stretch>
            <a:fillRect/>
          </a:stretch>
        </p:blipFill>
        <p:spPr>
          <a:xfrm>
            <a:off x="8014737" y="3211430"/>
            <a:ext cx="599985" cy="599985"/>
          </a:xfrm>
          <a:prstGeom prst="rect">
            <a:avLst/>
          </a:prstGeom>
        </p:spPr>
      </p:pic>
      <p:sp>
        <p:nvSpPr>
          <p:cNvPr id="22" name="TextBox 21"/>
          <p:cNvSpPr txBox="1"/>
          <p:nvPr/>
        </p:nvSpPr>
        <p:spPr>
          <a:xfrm>
            <a:off x="7296729" y="4225492"/>
            <a:ext cx="2036003" cy="118846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mes_orders · qms_lots</a:t>
            </a:r>
          </a:p>
          <a:p>
            <a:pPr algn="ctr">
              <a:lnSpc>
                <a:spcPct val="110000"/>
              </a:lnSpc>
              <a:spcAft>
                <a:spcPts val="400"/>
              </a:spcAft>
            </a:pPr>
            <a:r>
              <a:rPr sz="1300" b="0">
                <a:solidFill>
                  <a:srgbClr val="1F2A3A"/>
                </a:solidFill>
                <a:latin typeface="맑은 고딕"/>
                <a:ea typeface="맑은 고딕"/>
                <a:cs typeface="맑은 고딕"/>
              </a:rPr>
              <a:t>생산 오더와 품질 로트를</a:t>
            </a:r>
          </a:p>
          <a:p>
            <a:pPr algn="ctr">
              <a:lnSpc>
                <a:spcPct val="110000"/>
              </a:lnSpc>
              <a:spcAft>
                <a:spcPts val="400"/>
              </a:spcAft>
            </a:pPr>
            <a:r>
              <a:rPr sz="1300" b="0">
                <a:solidFill>
                  <a:srgbClr val="1F2A3A"/>
                </a:solidFill>
                <a:latin typeface="맑은 고딕"/>
                <a:ea typeface="맑은 고딕"/>
                <a:cs typeface="맑은 고딕"/>
              </a:rPr>
              <a:t>업무 DB에서 읽는다</a:t>
            </a:r>
          </a:p>
        </p:txBody>
      </p:sp>
      <p:sp>
        <p:nvSpPr>
          <p:cNvPr id="23" name="Oval 22"/>
          <p:cNvSpPr/>
          <p:nvPr/>
        </p:nvSpPr>
        <p:spPr>
          <a:xfrm>
            <a:off x="9956704" y="2934513"/>
            <a:ext cx="1153819" cy="1153819"/>
          </a:xfrm>
          <a:prstGeom prst="ellipse">
            <a:avLst/>
          </a:prstGeom>
          <a:solidFill>
            <a:srgbClr val="5CB8F2"/>
          </a:solidFill>
          <a:ln w="28575">
            <a:solidFill>
              <a:srgbClr val="13294B"/>
            </a:solidFill>
          </a:ln>
        </p:spPr>
        <p:txBody>
          <a:bodyPr rtlCol="0" anchor="ctr"/>
          <a:lstStyle/>
          <a:p>
            <a:pPr algn="ctr"/>
          </a:p>
        </p:txBody>
      </p:sp>
      <p:pic>
        <p:nvPicPr>
          <p:cNvPr id="24" name="아이콘:send" descr="send_13294B_1.6.png"/>
          <p:cNvPicPr>
            <a:picLocks noChangeAspect="1"/>
          </p:cNvPicPr>
          <p:nvPr/>
        </p:nvPicPr>
        <p:blipFill>
          <a:blip r:embed="rId7"/>
          <a:stretch>
            <a:fillRect/>
          </a:stretch>
        </p:blipFill>
        <p:spPr>
          <a:xfrm>
            <a:off x="10233620" y="3211430"/>
            <a:ext cx="599985" cy="599985"/>
          </a:xfrm>
          <a:prstGeom prst="rect">
            <a:avLst/>
          </a:prstGeom>
        </p:spPr>
      </p:pic>
      <p:sp>
        <p:nvSpPr>
          <p:cNvPr id="25" name="TextBox 24"/>
          <p:cNvSpPr txBox="1"/>
          <p:nvPr/>
        </p:nvSpPr>
        <p:spPr>
          <a:xfrm>
            <a:off x="9515612" y="4225492"/>
            <a:ext cx="2036003" cy="118846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submit_decision</a:t>
            </a:r>
          </a:p>
          <a:p>
            <a:pPr algn="ctr">
              <a:lnSpc>
                <a:spcPct val="110000"/>
              </a:lnSpc>
              <a:spcAft>
                <a:spcPts val="400"/>
              </a:spcAft>
            </a:pPr>
            <a:r>
              <a:rPr sz="1300" b="0">
                <a:solidFill>
                  <a:srgbClr val="1F2A3A"/>
                </a:solidFill>
                <a:latin typeface="맑은 고딕"/>
                <a:ea typeface="맑은 고딕"/>
                <a:cs typeface="맑은 고딕"/>
              </a:rPr>
              <a:t>판단 DEC-1010-058-88a6을</a:t>
            </a:r>
          </a:p>
          <a:p>
            <a:pPr algn="ctr">
              <a:lnSpc>
                <a:spcPct val="110000"/>
              </a:lnSpc>
              <a:spcAft>
                <a:spcPts val="400"/>
              </a:spcAft>
            </a:pPr>
            <a:r>
              <a:rPr sz="1300" b="0">
                <a:solidFill>
                  <a:srgbClr val="1F2A3A"/>
                </a:solidFill>
                <a:latin typeface="맑은 고딕"/>
                <a:ea typeface="맑은 고딕"/>
                <a:cs typeface="맑은 고딕"/>
              </a:rPr>
              <a:t>제출한다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지식과 값을 읽는 일은 에이전트 단계 안에서 끝나고, 프로세스는 그 결과를 승인, 명령, 재관측으로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 ALT-hyd01-0026-767a</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쿨러 핀 오염</a:t>
            </a:r>
          </a:p>
          <a:p>
            <a:pPr algn="l">
              <a:lnSpc>
                <a:spcPct val="110000"/>
              </a:lnSpc>
            </a:pPr>
            <a:r>
              <a:rPr sz="1250" b="1">
                <a:solidFill>
                  <a:srgbClr val="556175"/>
                </a:solidFill>
                <a:latin typeface="맑은 고딕"/>
                <a:ea typeface="맑은 고딕"/>
                <a:cs typeface="맑은 고딕"/>
              </a:rPr>
              <a:t>추천 SOP-COOL-11</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 조치와 대안</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a:t>
            </a:r>
          </a:p>
          <a:p>
            <a:pPr algn="l">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CMD-1010-0001-01d1</a:t>
            </a:r>
          </a:p>
          <a:p>
            <a:pPr algn="l">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51.3 ℃</a:t>
            </a:r>
          </a:p>
          <a:p>
            <a:pPr algn="l">
              <a:lnSpc>
                <a:spcPct val="110000"/>
              </a:lnSpc>
            </a:pPr>
            <a:r>
              <a:rPr sz="1250" b="1">
                <a:solidFill>
                  <a:srgbClr val="556175"/>
                </a:solidFill>
                <a:latin typeface="맑은 고딕"/>
                <a:ea typeface="맑은 고딕"/>
                <a:cs typeface="맑은 고딕"/>
              </a:rPr>
              <a:t>기준 55 ℃ 미만</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WO-1010-1198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정상 · 경보 해제</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상태는 진행 중인지 끝났는지만 알려 주고, 어디에서 기다리며 어느 갈래로 갔는지는 단계의 상태가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RUNNING</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COMPLETED</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끝 이벤트에 닿아 실행이 끝났다.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IN_PROGRESS · DONE · TODO</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CANCELLED</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선택되지 않은 갈래에 있었다.</a:t>
            </a:r>
          </a:p>
          <a:p>
            <a:pPr algn="l">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E_end</a:t>
            </a:r>
          </a:p>
          <a:p>
            <a:pPr algn="l">
              <a:lnSpc>
                <a:spcPct val="110000"/>
              </a:lnSpc>
              <a:spcAft>
                <a:spcPts val="600"/>
              </a:spcAft>
            </a:pPr>
            <a:r>
              <a:rPr sz="1450" b="0">
                <a:solidFill>
                  <a:srgbClr val="1F2A3A"/>
                </a:solidFill>
                <a:latin typeface="맑은 고딕"/>
                <a:ea typeface="맑은 고딕"/>
                <a:cs typeface="맑은 고딕"/>
              </a:rPr>
              <a:t>• 결과 보고: 정상</a:t>
            </a:r>
          </a:p>
          <a:p>
            <a:pPr algn="l">
              <a:lnSpc>
                <a:spcPct val="110000"/>
              </a:lnSpc>
              <a:spcAft>
                <a:spcPts val="600"/>
              </a:spcAft>
            </a:pPr>
            <a:r>
              <a:rPr sz="1450" b="0">
                <a:solidFill>
                  <a:srgbClr val="1F2A3A"/>
                </a:solidFill>
                <a:latin typeface="맑은 고딕"/>
                <a:ea typeface="맑은 고딕"/>
                <a:cs typeface="맑은 고딕"/>
              </a:rPr>
              <a:t>• 설비 명령: CMD-1010-0001-01d1</a:t>
            </a:r>
          </a:p>
          <a:p>
            <a:pPr algn="l">
              <a:lnSpc>
                <a:spcPct val="110000"/>
              </a:lnSpc>
              <a:spcAft>
                <a:spcPts val="600"/>
              </a:spcAft>
            </a:pPr>
            <a:r>
              <a:rPr sz="1450" b="0">
                <a:solidFill>
                  <a:srgbClr val="1F2A3A"/>
                </a:solidFill>
                <a:latin typeface="맑은 고딕"/>
                <a:ea typeface="맑은 고딕"/>
                <a:cs typeface="맑은 고딕"/>
              </a:rPr>
              <a:t>• 회복에 미달해도 end_event는 E_end이고 결과 보고가 미달로 달라진다</a:t>
            </a:r>
          </a:p>
        </p:txBody>
      </p:sp>
      <p:sp>
        <p:nvSpPr>
          <p:cNvPr id="11" name="Rounded Rectangle 10"/>
          <p:cNvSpPr/>
          <p:nvPr/>
        </p:nvSpPr>
        <p:spPr>
          <a:xfrm>
            <a:off x="868680" y="5396865"/>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E_rejected</a:t>
            </a:r>
          </a:p>
          <a:p>
            <a:pPr algn="l">
              <a:lnSpc>
                <a:spcPct val="110000"/>
              </a:lnSpc>
              <a:spcAft>
                <a:spcPts val="600"/>
              </a:spcAft>
            </a:pPr>
            <a:r>
              <a:rPr sz="1450" b="0">
                <a:solidFill>
                  <a:srgbClr val="1F2A3A"/>
                </a:solidFill>
                <a:latin typeface="맑은 고딕"/>
                <a:ea typeface="맑은 고딕"/>
                <a:cs typeface="맑은 고딕"/>
              </a:rPr>
              <a:t>• 결과 보고: 거절</a:t>
            </a:r>
          </a:p>
          <a:p>
            <a:pPr algn="l">
              <a:lnSpc>
                <a:spcPct val="110000"/>
              </a:lnSpc>
              <a:spcAft>
                <a:spcPts val="600"/>
              </a:spcAft>
            </a:pPr>
            <a:r>
              <a:rPr sz="1450" b="0">
                <a:solidFill>
                  <a:srgbClr val="1F2A3A"/>
                </a:solidFill>
                <a:latin typeface="맑은 고딕"/>
                <a:ea typeface="맑은 고딕"/>
                <a:cs typeface="맑은 고딕"/>
              </a:rPr>
              <a:t>• 설비 명령: 없음</a:t>
            </a:r>
          </a:p>
          <a:p>
            <a:pPr algn="l">
              <a:lnSpc>
                <a:spcPct val="110000"/>
              </a:lnSpc>
              <a:spcAft>
                <a:spcPts val="600"/>
              </a:spcAft>
            </a:pPr>
            <a:r>
              <a:rPr sz="145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a:t>
            </a:r>
          </a:p>
          <a:p>
            <a:pPr algn="ctr">
              <a:lnSpc>
                <a:spcPct val="110000"/>
              </a:lnSpc>
              <a:spcAft>
                <a:spcPts val="400"/>
              </a:spcAft>
            </a:pPr>
            <a:r>
              <a:rPr sz="1350" b="0">
                <a:solidFill>
                  <a:srgbClr val="1F2A3A"/>
                </a:solidFill>
                <a:latin typeface="맑은 고딕"/>
                <a:ea typeface="맑은 고딕"/>
                <a:cs typeface="맑은 고딕"/>
              </a:rPr>
              <a:t>프로세스 정의를</a:t>
            </a:r>
          </a:p>
          <a:p>
            <a:pPr algn="ctr">
              <a:lnSpc>
                <a:spcPct val="110000"/>
              </a:lnSpc>
              <a:spcAft>
                <a:spcPts val="400"/>
              </a:spcAft>
            </a:pPr>
            <a:r>
              <a:rPr sz="1350" b="0">
                <a:solidFill>
                  <a:srgbClr val="1F2A3A"/>
                </a:solidFill>
                <a:latin typeface="맑은 고딕"/>
                <a:ea typeface="맑은 고딕"/>
                <a:cs typeface="맑은 고딕"/>
              </a:rPr>
              <a:t>새 판본으로 저장한다</a:t>
            </a:r>
          </a:p>
          <a:p>
            <a:pPr algn="ctr">
              <a:lnSpc>
                <a:spcPct val="110000"/>
              </a:lnSpc>
              <a:spcAft>
                <a:spcPts val="400"/>
              </a:spcAft>
            </a:pPr>
            <a:r>
              <a:rPr sz="13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배포</a:t>
            </a:r>
          </a:p>
          <a:p>
            <a:pPr algn="ctr">
              <a:lnSpc>
                <a:spcPct val="110000"/>
              </a:lnSpc>
              <a:spcAft>
                <a:spcPts val="400"/>
              </a:spcAft>
            </a:pPr>
            <a:r>
              <a:rPr sz="1350" b="0">
                <a:solidFill>
                  <a:srgbClr val="1F2A3A"/>
                </a:solidFill>
                <a:latin typeface="맑은 고딕"/>
                <a:ea typeface="맑은 고딕"/>
                <a:cs typeface="맑은 고딕"/>
              </a:rPr>
              <a:t>경보를 받을 판본을</a:t>
            </a:r>
          </a:p>
          <a:p>
            <a:pPr algn="ctr">
              <a:lnSpc>
                <a:spcPct val="110000"/>
              </a:lnSpc>
              <a:spcAft>
                <a:spcPts val="400"/>
              </a:spcAft>
            </a:pPr>
            <a:r>
              <a:rPr sz="13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경보가 오면</a:t>
            </a:r>
          </a:p>
          <a:p>
            <a:pPr algn="ctr">
              <a:lnSpc>
                <a:spcPct val="110000"/>
              </a:lnSpc>
              <a:spcAft>
                <a:spcPts val="400"/>
              </a:spcAft>
            </a:pPr>
            <a:r>
              <a:rPr sz="1350" b="0">
                <a:solidFill>
                  <a:srgbClr val="1F2A3A"/>
                </a:solidFill>
                <a:latin typeface="맑은 고딕"/>
                <a:ea typeface="맑은 고딕"/>
                <a:cs typeface="맑은 고딕"/>
              </a:rPr>
              <a:t>배포된 판본으로</a:t>
            </a:r>
          </a:p>
          <a:p>
            <a:pPr algn="ctr">
              <a:lnSpc>
                <a:spcPct val="110000"/>
              </a:lnSpc>
              <a:spcAft>
                <a:spcPts val="400"/>
              </a:spcAft>
            </a:pPr>
            <a:r>
              <a:rPr sz="13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판본 고정</a:t>
            </a:r>
          </a:p>
          <a:p>
            <a:pPr algn="ctr">
              <a:lnSpc>
                <a:spcPct val="110000"/>
              </a:lnSpc>
              <a:spcAft>
                <a:spcPts val="400"/>
              </a:spcAft>
            </a:pPr>
            <a:r>
              <a:rPr sz="1350" b="0">
                <a:solidFill>
                  <a:srgbClr val="1F2A3A"/>
                </a:solidFill>
                <a:latin typeface="맑은 고딕"/>
                <a:ea typeface="맑은 고딕"/>
                <a:cs typeface="맑은 고딕"/>
              </a:rPr>
              <a:t>열린 처리 건은</a:t>
            </a:r>
          </a:p>
          <a:p>
            <a:pPr algn="ctr">
              <a:lnSpc>
                <a:spcPct val="110000"/>
              </a:lnSpc>
              <a:spcAft>
                <a:spcPts val="400"/>
              </a:spcAft>
            </a:pPr>
            <a:r>
              <a:rPr sz="1350" b="0">
                <a:solidFill>
                  <a:srgbClr val="1F2A3A"/>
                </a:solidFill>
                <a:latin typeface="맑은 고딕"/>
                <a:ea typeface="맑은 고딕"/>
                <a:cs typeface="맑은 고딕"/>
              </a:rPr>
              <a:t>자기 판본으로</a:t>
            </a:r>
          </a:p>
          <a:p>
            <a:pPr algn="ctr">
              <a:lnSpc>
                <a:spcPct val="110000"/>
              </a:lnSpc>
              <a:spcAft>
                <a:spcPts val="400"/>
              </a:spcAft>
            </a:pPr>
            <a:r>
              <a:rPr sz="1350" b="0">
                <a:solidFill>
                  <a:srgbClr val="1F2A3A"/>
                </a:solidFill>
                <a:latin typeface="맑은 고딕"/>
                <a:ea typeface="맑은 고딕"/>
                <a:cs typeface="맑은 고딕"/>
              </a:rPr>
              <a:t>끝까지 간다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기록(Audit Log): 누가 무엇을 결정했는가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감사 기록은 누가 무엇을 결정했는지를 나중에 확인하려고 남기는 기록이며, 처리 건의 시작과 승인과 종결이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때</a:t>
            </a:r>
          </a:p>
        </p:txBody>
      </p:sp>
      <p:sp>
        <p:nvSpPr>
          <p:cNvPr id="9" name="Rounded Rectangle 8"/>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INSTANCE_STARTED</a:t>
            </a:r>
          </a:p>
        </p:txBody>
      </p:sp>
      <p:sp>
        <p:nvSpPr>
          <p:cNvPr id="11" name="TextBox 10"/>
          <p:cNvSpPr txBox="1"/>
          <p:nvPr/>
        </p:nvSpPr>
        <p:spPr>
          <a:xfrm>
            <a:off x="3200400" y="2029968"/>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건이 열릴 때</a:t>
            </a:r>
          </a:p>
        </p:txBody>
      </p:sp>
      <p:sp>
        <p:nvSpPr>
          <p:cNvPr id="12" name="Rounded Rectangle 11"/>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APPROVAL_ACCEPTED</a:t>
            </a:r>
          </a:p>
        </p:txBody>
      </p:sp>
      <p:sp>
        <p:nvSpPr>
          <p:cNvPr id="14" name="TextBox 13"/>
          <p:cNvSpPr txBox="1"/>
          <p:nvPr/>
        </p:nvSpPr>
        <p:spPr>
          <a:xfrm>
            <a:off x="3200400" y="2894990"/>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5" name="Rounded Rectangle 14"/>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APPROVAL_DELIVERY</a:t>
            </a:r>
          </a:p>
        </p:txBody>
      </p:sp>
      <p:sp>
        <p:nvSpPr>
          <p:cNvPr id="17" name="TextBox 16"/>
          <p:cNvSpPr txBox="1"/>
          <p:nvPr/>
        </p:nvSpPr>
        <p:spPr>
          <a:xfrm>
            <a:off x="3200400" y="3760012"/>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다음 단계로 전달될 때</a:t>
            </a:r>
          </a:p>
        </p:txBody>
      </p:sp>
      <p:sp>
        <p:nvSpPr>
          <p:cNvPr id="18" name="Rounded Rectangle 17"/>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4625035"/>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Rounded Rectangle 20"/>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2" name="TextBox 21"/>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DECISION_DENIED</a:t>
            </a:r>
          </a:p>
        </p:txBody>
      </p:sp>
      <p:sp>
        <p:nvSpPr>
          <p:cNvPr id="23" name="TextBox 22"/>
          <p:cNvSpPr txBox="1"/>
          <p:nvPr/>
        </p:nvSpPr>
        <p:spPr>
          <a:xfrm>
            <a:off x="3200400" y="5490057"/>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역할이 아닌 쪽이 승인을 시도해 거부될 때</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지식, 에이전트, 프로세스가 맡는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그래프가 판단의 재료를, 에이전트가 판단을, 프로세스가 순서와 책임과 기록을 맡아 경보 한 건이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a:t>
            </a:r>
          </a:p>
          <a:p>
            <a:pPr algn="l">
              <a:lnSpc>
                <a:spcPct val="110000"/>
              </a:lnSpc>
              <a:spcAft>
                <a:spcPts val="400"/>
              </a:spcAft>
            </a:pPr>
            <a:r>
              <a:rPr sz="1400" b="0">
                <a:solidFill>
                  <a:srgbClr val="1F2A3A"/>
                </a:solidFill>
                <a:latin typeface="맑은 고딕"/>
                <a:ea typeface="맑은 고딕"/>
                <a:cs typeface="맑은 고딕"/>
              </a:rPr>
              <a:t>원인과 조치의 관계, 판단 규칙, 값이 놓인 자리</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재료</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지식과 값을 읽어 원인을 가리고 조치를 추천한다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a:t>
            </a:r>
          </a:p>
          <a:p>
            <a:pPr algn="l">
              <a:lnSpc>
                <a:spcPct val="110000"/>
              </a:lnSpc>
              <a:spcAft>
                <a:spcPts val="400"/>
              </a:spcAft>
            </a:pPr>
            <a:r>
              <a:rPr sz="1400" b="0">
                <a:solidFill>
                  <a:srgbClr val="1F2A3A"/>
                </a:solidFill>
                <a:latin typeface="맑은 고딕"/>
                <a:ea typeface="맑은 고딕"/>
                <a:cs typeface="맑은 고딕"/>
              </a:rPr>
              <a:t>추천을 승인, 명령, 재관측, 기록으로 잇고 진행과 결과를 남긴다</a:t>
            </a:r>
          </a:p>
        </p:txBody>
      </p:sp>
      <p:sp>
        <p:nvSpPr>
          <p:cNvPr id="22" name="Rounded Rectangle 21"/>
          <p:cNvSpPr/>
          <p:nvPr/>
        </p:nvSpPr>
        <p:spPr>
          <a:xfrm>
            <a:off x="8356396" y="4932934"/>
            <a:ext cx="176783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 · 책임 · 기록</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간단한 승인 절차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bpmn.io로 정비 요청의 승인 절차를 BPMN으로 그린다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만들어지는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정비 요청에서 승인 종료와 거절 종결까지를 그린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시작</a:t>
            </a:r>
          </a:p>
          <a:p>
            <a:pPr algn="ctr">
              <a:lnSpc>
                <a:spcPct val="110000"/>
              </a:lnSpc>
              <a:spcAft>
                <a:spcPts val="400"/>
              </a:spcAft>
            </a:pPr>
            <a:r>
              <a:rPr sz="1350" b="0">
                <a:solidFill>
                  <a:srgbClr val="1F2A3A"/>
                </a:solidFill>
                <a:latin typeface="맑은 고딕"/>
                <a:ea typeface="맑은 고딕"/>
                <a:cs typeface="맑은 고딕"/>
              </a:rPr>
              <a:t>정비 요청이</a:t>
            </a:r>
          </a:p>
          <a:p>
            <a:pPr algn="ctr">
              <a:lnSpc>
                <a:spcPct val="110000"/>
              </a:lnSpc>
              <a:spcAft>
                <a:spcPts val="400"/>
              </a:spcAft>
            </a:pPr>
            <a:r>
              <a:rPr sz="1350" b="0">
                <a:solidFill>
                  <a:srgbClr val="1F2A3A"/>
                </a:solidFill>
                <a:latin typeface="맑은 고딕"/>
                <a:ea typeface="맑은 고딕"/>
                <a:cs typeface="맑은 고딕"/>
              </a:rPr>
              <a:t>프로세스를 연다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a:t>
            </a:r>
          </a:p>
          <a:p>
            <a:pPr algn="ctr">
              <a:lnSpc>
                <a:spcPct val="110000"/>
              </a:lnSpc>
              <a:spcAft>
                <a:spcPts val="400"/>
              </a:spcAft>
            </a:pPr>
            <a:r>
              <a:rPr sz="1350" b="0">
                <a:solidFill>
                  <a:srgbClr val="1F2A3A"/>
                </a:solidFill>
                <a:latin typeface="맑은 고딕"/>
                <a:ea typeface="맑은 고딕"/>
                <a:cs typeface="맑은 고딕"/>
              </a:rPr>
              <a:t>담당자가</a:t>
            </a:r>
          </a:p>
          <a:p>
            <a:pPr algn="ctr">
              <a:lnSpc>
                <a:spcPct val="110000"/>
              </a:lnSpc>
              <a:spcAft>
                <a:spcPts val="400"/>
              </a:spcAft>
            </a:pPr>
            <a:r>
              <a:rPr sz="1350" b="0">
                <a:solidFill>
                  <a:srgbClr val="1F2A3A"/>
                </a:solidFill>
                <a:latin typeface="맑은 고딕"/>
                <a:ea typeface="맑은 고딕"/>
                <a:cs typeface="맑은 고딕"/>
              </a:rPr>
              <a:t>요청을 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갈림</a:t>
            </a:r>
          </a:p>
          <a:p>
            <a:pPr algn="ctr">
              <a:lnSpc>
                <a:spcPct val="110000"/>
              </a:lnSpc>
              <a:spcAft>
                <a:spcPts val="400"/>
              </a:spcAft>
            </a:pPr>
            <a:r>
              <a:rPr sz="1350" b="0">
                <a:solidFill>
                  <a:srgbClr val="1F2A3A"/>
                </a:solidFill>
                <a:latin typeface="맑은 고딕"/>
                <a:ea typeface="맑은 고딕"/>
                <a:cs typeface="맑은 고딕"/>
              </a:rPr>
              <a:t>승인 여부에 따라</a:t>
            </a:r>
          </a:p>
          <a:p>
            <a:pPr algn="ctr">
              <a:lnSpc>
                <a:spcPct val="110000"/>
              </a:lnSpc>
              <a:spcAft>
                <a:spcPts val="400"/>
              </a:spcAft>
            </a:pPr>
            <a:r>
              <a:rPr sz="1350" b="0">
                <a:solidFill>
                  <a:srgbClr val="1F2A3A"/>
                </a:solidFill>
                <a:latin typeface="맑은 고딕"/>
                <a:ea typeface="맑은 고딕"/>
                <a:cs typeface="맑은 고딕"/>
              </a:rPr>
              <a:t>두 갈래로 나뉜다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두 개의 끝</a:t>
            </a:r>
          </a:p>
          <a:p>
            <a:pPr algn="ctr">
              <a:lnSpc>
                <a:spcPct val="110000"/>
              </a:lnSpc>
              <a:spcAft>
                <a:spcPts val="400"/>
              </a:spcAft>
            </a:pPr>
            <a:r>
              <a:rPr sz="1350" b="0">
                <a:solidFill>
                  <a:srgbClr val="1F2A3A"/>
                </a:solidFill>
                <a:latin typeface="맑은 고딕"/>
                <a:ea typeface="맑은 고딕"/>
                <a:cs typeface="맑은 고딕"/>
              </a:rPr>
              <a:t>승인 종료와</a:t>
            </a:r>
          </a:p>
          <a:p>
            <a:pPr algn="ctr">
              <a:lnSpc>
                <a:spcPct val="110000"/>
              </a:lnSpc>
              <a:spcAft>
                <a:spcPts val="400"/>
              </a:spcAft>
            </a:pPr>
            <a:r>
              <a:rPr sz="1350" b="0">
                <a:solidFill>
                  <a:srgbClr val="1F2A3A"/>
                </a:solidFill>
                <a:latin typeface="맑은 고딕"/>
                <a:ea typeface="맑은 고딕"/>
                <a:cs typeface="맑은 고딕"/>
              </a:rPr>
              <a:t>거절 종결에</a:t>
            </a:r>
          </a:p>
          <a:p>
            <a:pPr algn="ctr">
              <a:lnSpc>
                <a:spcPct val="110000"/>
              </a:lnSpc>
              <a:spcAft>
                <a:spcPts val="400"/>
              </a:spcAft>
            </a:pPr>
            <a:r>
              <a:rPr sz="1350" b="0">
                <a:solidFill>
                  <a:srgbClr val="1F2A3A"/>
                </a:solidFill>
                <a:latin typeface="맑은 고딕"/>
                <a:ea typeface="맑은 고딕"/>
                <a:cs typeface="맑은 고딕"/>
              </a:rPr>
              <a:t>각각 닿는다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긴급 대응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역할과 승인 조건을 갖춘 설비 이상 대응의 흐름을 그린다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요소와 완성되는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레인, 승인과 거절의 갈림, 지연 알림 타이머를 갖춘 긴급 대응 프로세스의 BPMN 파일이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레인</a:t>
            </a:r>
          </a:p>
          <a:p>
            <a:pPr algn="l">
              <a:lnSpc>
                <a:spcPct val="110000"/>
              </a:lnSpc>
              <a:spcAft>
                <a:spcPts val="400"/>
              </a:spcAft>
            </a:pPr>
            <a:r>
              <a:rPr sz="1350" b="0">
                <a:solidFill>
                  <a:srgbClr val="1F2A3A"/>
                </a:solidFill>
                <a:latin typeface="맑은 고딕"/>
                <a:ea typeface="맑은 고딕"/>
                <a:cs typeface="맑은 고딕"/>
              </a:rPr>
              <a:t>담당자, 에이전트, 시스템의 세 칸에 작업을 나누어 놓는다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책임</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작업의 순서</a:t>
            </a:r>
          </a:p>
          <a:p>
            <a:pPr algn="l">
              <a:lnSpc>
                <a:spcPct val="110000"/>
              </a:lnSpc>
              <a:spcAft>
                <a:spcPts val="400"/>
              </a:spcAft>
            </a:pPr>
            <a:r>
              <a:rPr sz="1350" b="0">
                <a:solidFill>
                  <a:srgbClr val="1F2A3A"/>
                </a:solidFill>
                <a:latin typeface="맑은 고딕"/>
                <a:ea typeface="맑은 고딕"/>
                <a:cs typeface="맑은 고딕"/>
              </a:rPr>
              <a:t>쿨러 열화의 시작에서 진단과 제안, 승인, 명령, 재확인, 결과 보고까지 잇는다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흐름</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split-2" descr="arrows-split-2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갈림과 끝</a:t>
            </a:r>
          </a:p>
          <a:p>
            <a:pPr algn="l">
              <a:lnSpc>
                <a:spcPct val="110000"/>
              </a:lnSpc>
              <a:spcAft>
                <a:spcPts val="400"/>
              </a:spcAft>
            </a:pPr>
            <a:r>
              <a:rPr sz="1350" b="0">
                <a:solidFill>
                  <a:srgbClr val="1F2A3A"/>
                </a:solidFill>
                <a:latin typeface="맑은 고딕"/>
                <a:ea typeface="맑은 고딕"/>
                <a:cs typeface="맑은 고딕"/>
              </a:rPr>
              <a:t>승인과 거절을 가르고 정상 종료와 거절 종결을 따로 둔다</a:t>
            </a:r>
          </a:p>
        </p:txBody>
      </p:sp>
      <p:sp>
        <p:nvSpPr>
          <p:cNvPr id="22" name="Rounded Rectangle 21"/>
          <p:cNvSpPr/>
          <p:nvPr/>
        </p:nvSpPr>
        <p:spPr>
          <a:xfrm>
            <a:off x="6461607" y="5134356"/>
            <a:ext cx="11277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게이트웨이</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clock" descr="c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지연 알림</a:t>
            </a:r>
          </a:p>
          <a:p>
            <a:pPr algn="l">
              <a:lnSpc>
                <a:spcPct val="110000"/>
              </a:lnSpc>
              <a:spcAft>
                <a:spcPts val="400"/>
              </a:spcAft>
            </a:pPr>
            <a:r>
              <a:rPr sz="1350" b="0">
                <a:solidFill>
                  <a:srgbClr val="1F2A3A"/>
                </a:solidFill>
                <a:latin typeface="맑은 고딕"/>
                <a:ea typeface="맑은 고딕"/>
                <a:cs typeface="맑은 고딕"/>
              </a:rPr>
              <a:t>승인을 끊지 않는 비중단형 타이머를 승인 작업에 붙인다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타이머</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그린 흐름을 에이전트와 시스템에 연결하기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프로세스에 시작 조건과 맡을 쪽을 정해 등록하고 배포한다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배포되는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그린 프로세스가 쿨러 경보를 받도록 등록되고 배포된 상태가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시작 조건</a:t>
            </a:r>
          </a:p>
          <a:p>
            <a:pPr algn="ctr">
              <a:lnSpc>
                <a:spcPct val="110000"/>
              </a:lnSpc>
              <a:spcAft>
                <a:spcPts val="400"/>
              </a:spcAft>
            </a:pPr>
            <a:r>
              <a:rPr sz="1250" b="0">
                <a:solidFill>
                  <a:srgbClr val="1F2A3A"/>
                </a:solidFill>
                <a:latin typeface="맑은 고딕"/>
                <a:ea typeface="맑은 고딕"/>
                <a:cs typeface="맑은 고딕"/>
              </a:rPr>
              <a:t>이 프로세스를 열</a:t>
            </a:r>
          </a:p>
          <a:p>
            <a:pPr algn="ctr">
              <a:lnSpc>
                <a:spcPct val="110000"/>
              </a:lnSpc>
              <a:spcAft>
                <a:spcPts val="400"/>
              </a:spcAft>
            </a:pPr>
            <a:r>
              <a:rPr sz="1250" b="0">
                <a:solidFill>
                  <a:srgbClr val="1F2A3A"/>
                </a:solidFill>
                <a:latin typeface="맑은 고딕"/>
                <a:ea typeface="맑은 고딕"/>
                <a:cs typeface="맑은 고딕"/>
              </a:rPr>
              <a:t>경보를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users" descr="users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맡을 쪽</a:t>
            </a:r>
          </a:p>
          <a:p>
            <a:pPr algn="ctr">
              <a:lnSpc>
                <a:spcPct val="110000"/>
              </a:lnSpc>
              <a:spcAft>
                <a:spcPts val="400"/>
              </a:spcAft>
            </a:pPr>
            <a:r>
              <a:rPr sz="1250" b="0">
                <a:solidFill>
                  <a:srgbClr val="1F2A3A"/>
                </a:solidFill>
                <a:latin typeface="맑은 고딕"/>
                <a:ea typeface="맑은 고딕"/>
                <a:cs typeface="맑은 고딕"/>
              </a:rPr>
              <a:t>작업마다 에이전트,</a:t>
            </a:r>
          </a:p>
          <a:p>
            <a:pPr algn="ctr">
              <a:lnSpc>
                <a:spcPct val="110000"/>
              </a:lnSpc>
              <a:spcAft>
                <a:spcPts val="400"/>
              </a:spcAft>
            </a:pPr>
            <a:r>
              <a:rPr sz="1250" b="0">
                <a:solidFill>
                  <a:srgbClr val="1F2A3A"/>
                </a:solidFill>
                <a:latin typeface="맑은 고딕"/>
                <a:ea typeface="맑은 고딕"/>
                <a:cs typeface="맑은 고딕"/>
              </a:rPr>
              <a:t>운전원 역할,</a:t>
            </a:r>
          </a:p>
          <a:p>
            <a:pPr algn="ctr">
              <a:lnSpc>
                <a:spcPct val="110000"/>
              </a:lnSpc>
              <a:spcAft>
                <a:spcPts val="400"/>
              </a:spcAft>
            </a:pPr>
            <a:r>
              <a:rPr sz="1250" b="0">
                <a:solidFill>
                  <a:srgbClr val="1F2A3A"/>
                </a:solidFill>
                <a:latin typeface="맑은 고딕"/>
                <a:ea typeface="맑은 고딕"/>
                <a:cs typeface="맑은 고딕"/>
              </a:rPr>
              <a:t>시스템을 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조건과 기한</a:t>
            </a:r>
          </a:p>
          <a:p>
            <a:pPr algn="ctr">
              <a:lnSpc>
                <a:spcPct val="110000"/>
              </a:lnSpc>
              <a:spcAft>
                <a:spcPts val="400"/>
              </a:spcAft>
            </a:pPr>
            <a:r>
              <a:rPr sz="1250" b="0">
                <a:solidFill>
                  <a:srgbClr val="1F2A3A"/>
                </a:solidFill>
                <a:latin typeface="맑은 고딕"/>
                <a:ea typeface="맑은 고딕"/>
                <a:cs typeface="맑은 고딕"/>
              </a:rPr>
              <a:t>갈림의 조건과</a:t>
            </a:r>
          </a:p>
          <a:p>
            <a:pPr algn="ctr">
              <a:lnSpc>
                <a:spcPct val="110000"/>
              </a:lnSpc>
              <a:spcAft>
                <a:spcPts val="400"/>
              </a:spcAft>
            </a:pPr>
            <a:r>
              <a:rPr sz="1250" b="0">
                <a:solidFill>
                  <a:srgbClr val="1F2A3A"/>
                </a:solidFill>
                <a:latin typeface="맑은 고딕"/>
                <a:ea typeface="맑은 고딕"/>
                <a:cs typeface="맑은 고딕"/>
              </a:rPr>
              <a:t>타이머의 기간을</a:t>
            </a:r>
          </a:p>
          <a:p>
            <a:pPr algn="ctr">
              <a:lnSpc>
                <a:spcPct val="110000"/>
              </a:lnSpc>
              <a:spcAft>
                <a:spcPts val="400"/>
              </a:spcAft>
            </a:pPr>
            <a:r>
              <a:rPr sz="1250" b="0">
                <a:solidFill>
                  <a:srgbClr val="1F2A3A"/>
                </a:solidFill>
                <a:latin typeface="맑은 고딕"/>
                <a:ea typeface="맑은 고딕"/>
                <a:cs typeface="맑은 고딕"/>
              </a:rPr>
              <a:t>넣는다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사전 검사</a:t>
            </a:r>
          </a:p>
          <a:p>
            <a:pPr algn="ctr">
              <a:lnSpc>
                <a:spcPct val="110000"/>
              </a:lnSpc>
              <a:spcAft>
                <a:spcPts val="400"/>
              </a:spcAft>
            </a:pPr>
            <a:r>
              <a:rPr sz="1250" b="0">
                <a:solidFill>
                  <a:srgbClr val="1F2A3A"/>
                </a:solidFill>
                <a:latin typeface="맑은 고딕"/>
                <a:ea typeface="맑은 고딕"/>
                <a:cs typeface="맑은 고딕"/>
              </a:rPr>
              <a:t>빠진 연결이 없는지</a:t>
            </a:r>
          </a:p>
          <a:p>
            <a:pPr algn="ctr">
              <a:lnSpc>
                <a:spcPct val="110000"/>
              </a:lnSpc>
              <a:spcAft>
                <a:spcPts val="400"/>
              </a:spcAft>
            </a:pPr>
            <a:r>
              <a:rPr sz="1250" b="0">
                <a:solidFill>
                  <a:srgbClr val="1F2A3A"/>
                </a:solidFill>
                <a:latin typeface="맑은 고딕"/>
                <a:ea typeface="맑은 고딕"/>
                <a:cs typeface="맑은 고딕"/>
              </a:rPr>
              <a:t>등록 전에 검사한다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rocket" descr="rocket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등록과 배포</a:t>
            </a:r>
          </a:p>
          <a:p>
            <a:pPr algn="ctr">
              <a:lnSpc>
                <a:spcPct val="110000"/>
              </a:lnSpc>
              <a:spcAft>
                <a:spcPts val="400"/>
              </a:spcAft>
            </a:pPr>
            <a:r>
              <a:rPr sz="1250" b="0">
                <a:solidFill>
                  <a:srgbClr val="1F2A3A"/>
                </a:solidFill>
                <a:latin typeface="맑은 고딕"/>
                <a:ea typeface="맑은 고딕"/>
                <a:cs typeface="맑은 고딕"/>
              </a:rPr>
              <a:t>판본으로 등록하고</a:t>
            </a:r>
          </a:p>
          <a:p>
            <a:pPr algn="ctr">
              <a:lnSpc>
                <a:spcPct val="110000"/>
              </a:lnSpc>
              <a:spcAft>
                <a:spcPts val="400"/>
              </a:spcAft>
            </a:pPr>
            <a:r>
              <a:rPr sz="1250" b="0">
                <a:solidFill>
                  <a:srgbClr val="1F2A3A"/>
                </a:solidFill>
                <a:latin typeface="맑은 고딕"/>
                <a:ea typeface="맑은 고딕"/>
                <a:cs typeface="맑은 고딕"/>
              </a:rPr>
              <a:t>경보를 받도록</a:t>
            </a:r>
          </a:p>
          <a:p>
            <a:pPr algn="ctr">
              <a:lnSpc>
                <a:spcPct val="110000"/>
              </a:lnSpc>
              <a:spcAft>
                <a:spcPts val="400"/>
              </a:spcAft>
            </a:pPr>
            <a:r>
              <a:rPr sz="1250" b="0">
                <a:solidFill>
                  <a:srgbClr val="1F2A3A"/>
                </a:solidFill>
                <a:latin typeface="맑은 고딕"/>
                <a:ea typeface="맑은 고딕"/>
                <a:cs typeface="맑은 고딕"/>
              </a:rPr>
              <a:t>배포한다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이벤트로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열화로 처리 건을 열어 단계별 담당, 대기, 결과를 추적한다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것과 확인하는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 한 건과 그 처리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처리 건의 생성</a:t>
            </a:r>
          </a:p>
          <a:p>
            <a:pPr algn="l">
              <a:lnSpc>
                <a:spcPct val="110000"/>
              </a:lnSpc>
              <a:spcAft>
                <a:spcPts val="400"/>
              </a:spcAft>
            </a:pPr>
            <a:r>
              <a:rPr sz="1350" b="0">
                <a:solidFill>
                  <a:srgbClr val="1F2A3A"/>
                </a:solidFill>
                <a:latin typeface="맑은 고딕"/>
                <a:ea typeface="맑은 고딕"/>
                <a:cs typeface="맑은 고딕"/>
              </a:rPr>
              <a:t>쿨러 열화가 경보를 내고 경보가 처리 건을 연다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시작</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대기의 확인</a:t>
            </a:r>
          </a:p>
          <a:p>
            <a:pPr algn="l">
              <a:lnSpc>
                <a:spcPct val="110000"/>
              </a:lnSpc>
              <a:spcAft>
                <a:spcPts val="400"/>
              </a:spcAft>
            </a:pPr>
            <a:r>
              <a:rPr sz="1350" b="0">
                <a:solidFill>
                  <a:srgbClr val="1F2A3A"/>
                </a:solidFill>
                <a:latin typeface="맑은 고딕"/>
                <a:ea typeface="맑은 고딕"/>
                <a:cs typeface="맑은 고딕"/>
              </a:rPr>
              <a:t>에이전트의 판단 뒤 운전원 승인에서 기다리는 상태를 읽는다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완료의 확인</a:t>
            </a:r>
          </a:p>
          <a:p>
            <a:pPr algn="l">
              <a:lnSpc>
                <a:spcPct val="110000"/>
              </a:lnSpc>
              <a:spcAft>
                <a:spcPts val="400"/>
              </a:spcAft>
            </a:pPr>
            <a:r>
              <a:rPr sz="1350" b="0">
                <a:solidFill>
                  <a:srgbClr val="1F2A3A"/>
                </a:solidFill>
                <a:latin typeface="맑은 고딕"/>
                <a:ea typeface="맑은 고딕"/>
                <a:cs typeface="맑은 고딕"/>
              </a:rPr>
              <a:t>승인 뒤 명령, 재관측을 거쳐 닿은 끝 이벤트와 결과를 읽는다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rrows-right-left" descr="arrows-right-lef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흐름의 비교</a:t>
            </a:r>
          </a:p>
          <a:p>
            <a:pPr algn="l">
              <a:lnSpc>
                <a:spcPct val="110000"/>
              </a:lnSpc>
              <a:spcAft>
                <a:spcPts val="400"/>
              </a:spcAft>
            </a:pPr>
            <a:r>
              <a:rPr sz="1350" b="0">
                <a:solidFill>
                  <a:srgbClr val="1F2A3A"/>
                </a:solidFill>
                <a:latin typeface="맑은 고딕"/>
                <a:ea typeface="맑은 고딕"/>
                <a:cs typeface="맑은 고딕"/>
              </a:rPr>
              <a:t>직접 배포한 흐름과 처음부터 배포되어 있던 흐름이 어떻게 다른지 견준다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약어의 정식 명칭과 그 약어가 프로세스의 설계와 실행에서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Management</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고쳐 가는 관리 방법</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Model and Notation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그리는 표기 표준</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CMMS</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Computerized Maintenance Management System</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작업지시를 등록하는 시스템</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긴급 대응 처리 건의 기록에 status는 COMPLETED, end_event는 E_rejected로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냉각 명령을 시작시키는 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추천해 판단을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운전원이 승인했을 때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처리 건의 상태, 판단의 근거가 되는 기록, 작업을 여는 책임의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 운전원은 승인까지 한다.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