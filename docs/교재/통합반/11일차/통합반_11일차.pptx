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9일차에 긴급 대응 프로세스가 처리한 HYD-01의 쿨러 성능 저하 경보 한 건으로, 1~8일차에 본 경보와 같은 종류이며 식별자와 값은 이 처리 건의 것을 씁니다. 이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DMN 결정표로 적은 판단 규칙과, BSC 관점의 KPI로 정한 성과 기준으로 조치를 견주었고, mes_orders와 qms_lots는 업무 DB에서 생산과 품질의 사정을 읽었습니다. 마지막 submit_decision이 추천안을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추천안 하나로 제출했고 거기에 판단 id가 붙었습니다.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후보 넷이며, 도구 이름의 카드는 이 후보 하나하나를 가리킵니다. 고장 유형에 이어진 SOP 넷이 후보가 되고, 3일차에 DMN 결정표로 적은 판단 규칙과 BSC 관점의 KPI로 정한 성과 기준이 순위를 매겼습니다. 같은 종류의 경보를 같은 지식으로 평가했으므로 순위와 점수는 3일차에 본 것과 같습니다. 여기서 볼 것은 오른쪽 칸으로,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규칙과 함께 순위를 매긴 것이 성과 기준입니다. 3일차에 BSC의 관점마다 KPI, 곧 성과 지표를 정해 두었고, 에이전트가 낸 추천안에는 팬 최대 운전이 어느 지표를 올리고 어느 지표를 내리는지가 책임 부서와 함께 실렸습니다. 오른쪽은 앞 장의 두 도구가 업무 DB에서 읽어 온 값으로, 납기가 여섯 시간쯤 남은 OEM 오더와 출하를 기다리는 로트 800개입니다. 지표의 이름은 지식에서, 납기와 로트의 수는 원천에서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추천안 한 건으로 묶여 제출되었고, 판단 id는 이 추천안에 붙은 번호입니다.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추천안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추천안이고, 추천안만으로는 설비에 아무 일도 일어나지 않습니다. 승인은 운전원이 맡고, 그 뒤의 명령과 재관측과 작업지시 등록과 결과 보고는 프로세스 엔진이 SCADA와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추천안을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추천안은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추천안이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수업의 기준 그래프와 섞이지 않도록 따로 둔 이름 공간에 넣어,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 외부 시스템에 쓰는 일처럼 준비된 범위 밖의 작업은 성공한 것으로 적지 않고, 하지 못한 일로 결과 보고에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9일차에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계층이 맡는 일은 이 과정의 세 영역과 닿아 있으며, 어떻게 닿는지는 이어지는 장에서 영역마다 봅니다.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추출하는 일은 ontology-studio라는 별도의 도구가 맡습니다. 2일차와 4일차에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 이 과정의 지식 그래프도 이 스키마 계약을 따라 같은 이름의 관계를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시스템도 같은 모양을 따랐습니다. 왼쪽은 이 과정의 사용자 표로, 세 에이전트인 agent:cooling, agent:pm-plan, agent:spare-buy가 is_agent 표시와 함께 등록되어 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6일차에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9일차에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쓴 시스템과 제품을 나란히 놓았습니다. 왼쪽은 둘이 같은 것으로, 프로세스 정의와 인스턴스, 워크아이템의 상태, 에이전트 행, 사람 작업으로 그린 승인은 이름과 뜻까지 같습니다. 그래서 수업에서 처리 건과 단계를 읽은 방법으로 제품의 인스턴스와 워크아이템을 읽을 수 있습니다. 오른쪽은 제품에서 범위가 넓어지는 것으로, 하위 프로세스와 다중 인스턴스 같은 요소, 말로 설명해 정의를 만드는 길, 여러 에이전트 실행 방식, 문서 색인, 운영 환경의 확장이 여기에 듭니다. 수업에서 익힌 구조는 그대로이고 그 위에 놓이는 것이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7일차 실습에서 제안과 검토를 두 에이전트에게 나누어 맡긴 것이 이 구조의 예입니다.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정리하고, 이어지는 장에서 네 물음의 순서대로 이 과정에서 본 장치와 짝지어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물음은 누가 결정했는가였습니다. 제품은 사람의 개입을 BPMN의 기본 패턴으로 다루어 승인을 프로세스 정의의 한 자리로 둡니다. 그러나 자리가 있어도 아무나 승인할 수 있으면 통제가 되지 않으므로, 승인하려는 쪽이 그 결정에 정해진 역할인지를 검사합니다. 이 과정에서는 승인이 빠진 정의가 등록되지 않았고, 조치마다 승인 역할이 지식에 정해져 있어 쿨러 사건의 승인 기록에는 운전원 역할이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물음의 둘째 통제는 감사 추적입니다. 누가 무엇을 결정하고 실행했는지를 기록에서 차례로 되짚을 수 있어야 합니다. 기록만 있어서는 그것이 맞는 순서였는지를 알 수 없고 견줄 정의가 있어야 하는데, 제품은 ISO/IEC 19510, 곧 BPMN 2.0의 프로세스 모델에 대어 실행을 감사할 수 있음을 내세웁니다. 이 과정에서는 작업지시 한 건에서 명령과 승인과 추천안과 경보까지를 식별자로 거슬러 읽었고, 그 순서를 견줄 정의는 판본 9로 고정되어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물음은 에이전트가 어디까지 닿는가였습니다. 제품은 MCP 서버 같은 도구 서버를 컨테이너, 곧 다른 프로그램과 분리된 실행 환경으로 나누어 실행한다고 밝히며, 그래서 한 서버에 문제가 생겨도 다른 서버의 파일이나 실행에 닿지 못합니다. 이 과정에서는 같은 목적을 6일차의 허용 목록과 최소 권한으로 지켰습니다. 냉각 긴급 대응 에이전트에는 읽는 도구와 추천안의 제출만 연결했고, 인증에 쓰는 값은 설정에 자리표시자만 두고 따로 보관했습니다.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물음은 같은 답이 나오는가였습니다. 결정론은 같은 입력에 언제나 같은 결과가 나오는 성질을 말합니다. 에이전트의 추론은 상황에 맞게 판단하지만 같은 입력에도 과정과 표현이 달라질 수 있어서, 되풀이되는 판단은 DMN이나 코드의 규칙으로 옮깁니다. 쿨러 사건에서 조치의 가능 여부와 순위는 에이전트가 아니라 판단 규칙과 성과 기준이 정했고, 그래서 3일차에 본 경보와 9일차에 프로세스가 처리한 경보에서 순위와 점수가 같게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물음은 되돌릴 수 있는가였고, 그 첫째 통제가 이 과정에서 새로 보는 보상입니다. 발주와 통지처럼 업무 시스템에 효과를 남기는 작업이 이어질수록 이 물음이 무거워집니다. 작업 셋이 끝난 뒤 넷째에서 실패했다고 하면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물음의 둘째 통제는 변경 통제입니다. 프로세스 정의를 고치면 덮어쓰지 않고 새 버전으로 등록하며, 어느 버전을 쓸지는 반영이라는 단계로 따로 지정합니다. 9일차에 판본과 배포로 배운 것과 같은 구조입니다. 쿨러 사건의 처리 건은 c3_cooling의 판본 9로 열려 그 판본으로 끝까지 갔습니다.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1일차에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3.png"/><Relationship Id="rId6"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1.png"/><Relationship Id="rId4" Type="http://schemas.openxmlformats.org/officeDocument/2006/relationships/image" Target="../media/image42.png"/><Relationship Id="rId5"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18.png"/><Relationship Id="rId7"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 Id="rId4" Type="http://schemas.openxmlformats.org/officeDocument/2006/relationships/image" Target="../media/image44.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5.png"/><Relationship Id="rId4"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4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5.png"/><Relationship Id="rId4" Type="http://schemas.openxmlformats.org/officeDocument/2006/relationships/image" Target="../media/image4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8.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4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2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8.png"/><Relationship Id="rId4" Type="http://schemas.openxmlformats.org/officeDocument/2006/relationships/image" Target="../media/image33.png"/><Relationship Id="rId5" Type="http://schemas.openxmlformats.org/officeDocument/2006/relationships/image" Target="../media/image51.png"/><Relationship Id="rId6"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8.png"/><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1.png"/><Relationship Id="rId4" Type="http://schemas.openxmlformats.org/officeDocument/2006/relationships/image" Target="../media/image1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18.png"/><Relationship Id="rId6" Type="http://schemas.openxmlformats.org/officeDocument/2006/relationships/image" Target="../media/image6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추천안이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추천안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342863573666999624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95714" y="2194925"/>
            <a:ext cx="7200266"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9일차에 프로세스가 처리한 쿨러 성능 저하 경보 한 건을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8046984458918679270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314633763635423598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481242" y="5598688"/>
            <a:ext cx="250918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규칙(DMN)</a:t>
            </a:r>
          </a:p>
          <a:p>
            <a:pPr algn="ctr">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63763069237034508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판단 id 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조치 후보를 판단 규칙과 성과 기준으로 평가한 결과에는 후보마다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실린 득과 실: 성과 지표와 업무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조치가 올리고 내리는 성과 지표와 지금의 납기, 품질 사정이 함께 실려 승인하는 사람이 득실을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성과 기준에서 온 득과 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득: 인터록 여유 ↑, 작동유 잔여 수명 ↑</a:t>
            </a:r>
          </a:p>
          <a:p>
            <a:pPr algn="l">
              <a:lnSpc>
                <a:spcPct val="110000"/>
              </a:lnSpc>
              <a:spcAft>
                <a:spcPts val="600"/>
              </a:spcAft>
            </a:pPr>
            <a:r>
              <a:rPr sz="1450" b="0">
                <a:solidFill>
                  <a:srgbClr val="1F2A3A"/>
                </a:solidFill>
                <a:latin typeface="맑은 고딕"/>
                <a:ea typeface="맑은 고딕"/>
                <a:cs typeface="맑은 고딕"/>
              </a:rPr>
              <a:t>• 실: 설비 가동률 ↓, 평균 고장 간격 ↓</a:t>
            </a:r>
          </a:p>
          <a:p>
            <a:pPr algn="l">
              <a:lnSpc>
                <a:spcPct val="110000"/>
              </a:lnSpc>
              <a:spcAft>
                <a:spcPts val="600"/>
              </a:spcAft>
            </a:pPr>
            <a:r>
              <a:rPr sz="1450" b="0">
                <a:solidFill>
                  <a:srgbClr val="1F2A3A"/>
                </a:solidFill>
                <a:latin typeface="맑은 고딕"/>
                <a:ea typeface="맑은 고딕"/>
                <a:cs typeface="맑은 고딕"/>
              </a:rPr>
              <a:t>• 실: 전력 사용량 ↑</a:t>
            </a:r>
          </a:p>
          <a:p>
            <a:pPr algn="l">
              <a:lnSpc>
                <a:spcPct val="110000"/>
              </a:lnSpc>
              <a:spcAft>
                <a:spcPts val="600"/>
              </a:spcAft>
            </a:pPr>
            <a:r>
              <a:rPr sz="1450" b="0">
                <a:solidFill>
                  <a:srgbClr val="1F2A3A"/>
                </a:solidFill>
                <a:latin typeface="맑은 고딕"/>
                <a:ea typeface="맑은 고딕"/>
                <a:cs typeface="맑은 고딕"/>
              </a:rPr>
              <a:t>• 3일차에 BSC의 관점마다 정한 KPI이며 책임 부서가 함께 적힌다</a:t>
            </a:r>
          </a:p>
        </p:txBody>
      </p:sp>
      <p:sp>
        <p:nvSpPr>
          <p:cNvPr id="11" name="Rounded Rectangle 10"/>
          <p:cNvSpPr/>
          <p:nvPr/>
        </p:nvSpPr>
        <p:spPr>
          <a:xfrm>
            <a:off x="868680" y="5246433"/>
            <a:ext cx="11765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BSC · KPI</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DB에서 읽은 사정</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 OEM 오더의 납기까지 5.98 h, 늦으면 시간당 120만원</a:t>
            </a:r>
          </a:p>
          <a:p>
            <a:pPr algn="l">
              <a:lnSpc>
                <a:spcPct val="110000"/>
              </a:lnSpc>
              <a:spcAft>
                <a:spcPts val="600"/>
              </a:spcAft>
            </a:pPr>
            <a:r>
              <a:rPr sz="1450" b="0">
                <a:solidFill>
                  <a:srgbClr val="1F2A3A"/>
                </a:solidFill>
                <a:latin typeface="맑은 고딕"/>
                <a:ea typeface="맑은 고딕"/>
                <a:cs typeface="맑은 고딕"/>
              </a:rPr>
              <a:t>• 품질: 출하를 기다리는 로트 800개</a:t>
            </a:r>
          </a:p>
          <a:p>
            <a:pPr algn="l">
              <a:lnSpc>
                <a:spcPct val="110000"/>
              </a:lnSpc>
              <a:spcAft>
                <a:spcPts val="600"/>
              </a:spcAft>
            </a:pPr>
            <a:r>
              <a:rPr sz="1450" b="0">
                <a:solidFill>
                  <a:srgbClr val="1F2A3A"/>
                </a:solidFill>
                <a:latin typeface="맑은 고딕"/>
                <a:ea typeface="맑은 고딕"/>
                <a:cs typeface="맑은 고딕"/>
              </a:rPr>
              <a:t>• mes_orders와 qms_lots가 읽어 온 값이다</a:t>
            </a:r>
          </a:p>
        </p:txBody>
      </p:sp>
      <p:sp>
        <p:nvSpPr>
          <p:cNvPr id="18" name="Rounded Rectangle 17"/>
          <p:cNvSpPr/>
          <p:nvPr/>
        </p:nvSpPr>
        <p:spPr>
          <a:xfrm>
            <a:off x="6781647" y="5246433"/>
            <a:ext cx="1176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 · QMS</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사건선_지식에서판단.svg" descr="illust_130648231845458007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추천안을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SCADA</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장치자리.svg" descr="illust_2226003211569428787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추천안을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추천안을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5852404019242462463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819273208894184177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추천안이라도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3474073065210437451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9011405903978966569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따로 둔 이름 공간에서</a:t>
            </a:r>
          </a:p>
          <a:p>
            <a:pPr algn="ctr">
              <a:lnSpc>
                <a:spcPct val="110000"/>
              </a:lnSpc>
              <a:spcAft>
                <a:spcPts val="400"/>
              </a:spcAft>
            </a:pPr>
            <a:r>
              <a:rPr sz="1350" b="0">
                <a:solidFill>
                  <a:srgbClr val="1F2A3A"/>
                </a:solidFill>
                <a:latin typeface="맑은 고딕"/>
                <a:ea typeface="맑은 고딕"/>
                <a:cs typeface="맑은 고딕"/>
              </a:rPr>
              <a:t>질문이 조회로</a:t>
            </a:r>
          </a:p>
          <a:p>
            <a:pPr algn="ctr">
              <a:lnSpc>
                <a:spcPct val="110000"/>
              </a:lnSpc>
              <a:spcAft>
                <a:spcPts val="400"/>
              </a:spcAft>
            </a:pPr>
            <a:r>
              <a:rPr sz="1350" b="0">
                <a:solidFill>
                  <a:srgbClr val="1F2A3A"/>
                </a:solidFill>
                <a:latin typeface="맑은 고딕"/>
                <a:ea typeface="맑은 고딕"/>
                <a:cs typeface="맑은 고딕"/>
              </a:rPr>
              <a:t>풀리는지 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한 일과 하지 못한</a:t>
            </a:r>
          </a:p>
          <a:p>
            <a:pPr algn="ctr">
              <a:lnSpc>
                <a:spcPct val="110000"/>
              </a:lnSpc>
              <a:spcAft>
                <a:spcPts val="400"/>
              </a:spcAft>
            </a:pPr>
            <a:r>
              <a:rPr sz="1250" b="0">
                <a:solidFill>
                  <a:srgbClr val="1F2A3A"/>
                </a:solidFill>
                <a:latin typeface="맑은 고딕"/>
                <a:ea typeface="맑은 고딕"/>
                <a:cs typeface="맑은 고딕"/>
              </a:rPr>
              <a:t>일을 정리해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9일차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3일차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7 · 9일차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9일차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 세 계층이 프로세스의 실행, 지식과 문서 검색, 에이전트의 수행을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3334844501532243465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추출하는 일은 별도의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설계와 문서에서의 지식 추출을 맡는 별도의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4일차의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과정의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과정의 세 에이전트</a:t>
            </a:r>
          </a:p>
          <a:p>
            <a:pPr algn="l">
              <a:lnSpc>
                <a:spcPct val="110000"/>
              </a:lnSpc>
              <a:spcAft>
                <a:spcPts val="400"/>
              </a:spcAft>
            </a:pPr>
            <a:r>
              <a:rPr sz="1400" b="0">
                <a:solidFill>
                  <a:srgbClr val="1F2A3A"/>
                </a:solidFill>
                <a:latin typeface="맑은 고딕"/>
                <a:ea typeface="맑은 고딕"/>
                <a:cs typeface="맑은 고딕"/>
              </a:rPr>
              <a:t>같은 모양을 따라 이 과정의</a:t>
            </a:r>
          </a:p>
          <a:p>
            <a:pPr algn="l">
              <a:lnSpc>
                <a:spcPct val="110000"/>
              </a:lnSpc>
              <a:spcAft>
                <a:spcPts val="400"/>
              </a:spcAft>
            </a:pPr>
            <a:r>
              <a:rPr sz="1400" b="0">
                <a:solidFill>
                  <a:srgbClr val="1F2A3A"/>
                </a:solidFill>
                <a:latin typeface="맑은 고딕"/>
                <a:ea typeface="맑은 고딕"/>
                <a:cs typeface="맑은 고딕"/>
              </a:rPr>
              <a:t>사용자 표에 등록해 두었다.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수업의 시스템과 제품: 같은 구조, 넓어지는 범위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과정의 시스템은 제품과 구조가 같아, 수업에서 익힌 정의, 인스턴스, 워크아이템, 승인이 제품에서 더 넓게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제품과 같은 것</a:t>
            </a:r>
          </a:p>
        </p:txBody>
      </p:sp>
      <p:sp>
        <p:nvSpPr>
          <p:cNvPr id="10" name="TextBox 9"/>
          <p:cNvSpPr txBox="1"/>
          <p:nvPr/>
        </p:nvSpPr>
        <p:spPr>
          <a:xfrm>
            <a:off x="822959" y="2879344"/>
            <a:ext cx="4632807" cy="2726944"/>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정의와 인스턴스, 정의 버전과 반영 버전</a:t>
            </a:r>
          </a:p>
          <a:p>
            <a:pPr algn="l">
              <a:lnSpc>
                <a:spcPct val="110000"/>
              </a:lnSpc>
              <a:spcAft>
                <a:spcPts val="600"/>
              </a:spcAft>
            </a:pPr>
            <a:r>
              <a:rPr sz="1450" b="0">
                <a:solidFill>
                  <a:srgbClr val="1F2A3A"/>
                </a:solidFill>
                <a:latin typeface="맑은 고딕"/>
                <a:ea typeface="맑은 고딕"/>
                <a:cs typeface="맑은 고딕"/>
              </a:rPr>
              <a:t>• 워크아이템과 그 상태의 이름과 뜻</a:t>
            </a:r>
          </a:p>
          <a:p>
            <a:pPr algn="l">
              <a:lnSpc>
                <a:spcPct val="110000"/>
              </a:lnSpc>
              <a:spcAft>
                <a:spcPts val="600"/>
              </a:spcAft>
            </a:pPr>
            <a:r>
              <a:rPr sz="1450" b="0">
                <a:solidFill>
                  <a:srgbClr val="1F2A3A"/>
                </a:solidFill>
                <a:latin typeface="맑은 고딕"/>
                <a:ea typeface="맑은 고딕"/>
                <a:cs typeface="맑은 고딕"/>
              </a:rPr>
              <a:t>• 사용자 목록의 에이전트 행과 에이전트 활동의 모양</a:t>
            </a:r>
          </a:p>
          <a:p>
            <a:pPr algn="l">
              <a:lnSpc>
                <a:spcPct val="110000"/>
              </a:lnSpc>
              <a:spcAft>
                <a:spcPts val="600"/>
              </a:spcAft>
            </a:pPr>
            <a:r>
              <a:rPr sz="1450" b="0">
                <a:solidFill>
                  <a:srgbClr val="1F2A3A"/>
                </a:solidFill>
                <a:latin typeface="맑은 고딕"/>
                <a:ea typeface="맑은 고딕"/>
                <a:cs typeface="맑은 고딕"/>
              </a:rPr>
              <a:t>• 승인을 사람 작업으로 두는 자리</a:t>
            </a:r>
          </a:p>
        </p:txBody>
      </p:sp>
      <p:sp>
        <p:nvSpPr>
          <p:cNvPr id="11" name="Rounded Rectangle 10"/>
          <p:cNvSpPr/>
          <p:nvPr/>
        </p:nvSpPr>
        <p:spPr>
          <a:xfrm>
            <a:off x="868680" y="569772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제품에서 넓어지는 것</a:t>
            </a:r>
          </a:p>
        </p:txBody>
      </p:sp>
      <p:sp>
        <p:nvSpPr>
          <p:cNvPr id="17" name="TextBox 16"/>
          <p:cNvSpPr txBox="1"/>
          <p:nvPr/>
        </p:nvSpPr>
        <p:spPr>
          <a:xfrm>
            <a:off x="6735927" y="2879344"/>
            <a:ext cx="4632807" cy="2726944"/>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요소: 하위 프로세스, 같은 작업을 여러 건 여는 다중 인스턴스</a:t>
            </a:r>
          </a:p>
          <a:p>
            <a:pPr algn="l">
              <a:lnSpc>
                <a:spcPct val="110000"/>
              </a:lnSpc>
              <a:spcAft>
                <a:spcPts val="600"/>
              </a:spcAft>
            </a:pPr>
            <a:r>
              <a:rPr sz="1450" b="0">
                <a:solidFill>
                  <a:srgbClr val="1F2A3A"/>
                </a:solidFill>
                <a:latin typeface="맑은 고딕"/>
                <a:ea typeface="맑은 고딕"/>
                <a:cs typeface="맑은 고딕"/>
              </a:rPr>
              <a:t>• 정의: 업무를 말로 설명해 프로세스를 만들고 말로 적은 조건도 평가한다</a:t>
            </a:r>
          </a:p>
          <a:p>
            <a:pPr algn="l">
              <a:lnSpc>
                <a:spcPct val="110000"/>
              </a:lnSpc>
              <a:spcAft>
                <a:spcPts val="600"/>
              </a:spcAft>
            </a:pPr>
            <a:r>
              <a:rPr sz="1450" b="0">
                <a:solidFill>
                  <a:srgbClr val="1F2A3A"/>
                </a:solidFill>
                <a:latin typeface="맑은 고딕"/>
                <a:ea typeface="맑은 고딕"/>
                <a:cs typeface="맑은 고딕"/>
              </a:rPr>
              <a:t>• 에이전트: CrewAI, LangGraph 같은 여러 실행 방식</a:t>
            </a:r>
          </a:p>
          <a:p>
            <a:pPr algn="l">
              <a:lnSpc>
                <a:spcPct val="110000"/>
              </a:lnSpc>
              <a:spcAft>
                <a:spcPts val="600"/>
              </a:spcAft>
            </a:pPr>
            <a:r>
              <a:rPr sz="1450" b="0">
                <a:solidFill>
                  <a:srgbClr val="1F2A3A"/>
                </a:solidFill>
                <a:latin typeface="맑은 고딕"/>
                <a:ea typeface="맑은 고딕"/>
                <a:cs typeface="맑은 고딕"/>
              </a:rPr>
              <a:t>• 지식: 문서를 색인해 검색한다</a:t>
            </a:r>
          </a:p>
          <a:p>
            <a:pPr algn="l">
              <a:lnSpc>
                <a:spcPct val="110000"/>
              </a:lnSpc>
              <a:spcAft>
                <a:spcPts val="600"/>
              </a:spcAft>
            </a:pPr>
            <a:r>
              <a:rPr sz="1450" b="0">
                <a:solidFill>
                  <a:srgbClr val="1F2A3A"/>
                </a:solidFill>
                <a:latin typeface="맑은 고딕"/>
                <a:ea typeface="맑은 고딕"/>
                <a:cs typeface="맑은 고딕"/>
              </a:rPr>
              <a:t>• 운영: 외부 알림 연동, Kubernetes 위의 확장</a:t>
            </a:r>
          </a:p>
        </p:txBody>
      </p:sp>
      <p:sp>
        <p:nvSpPr>
          <p:cNvPr id="18" name="Rounded Rectangle 17"/>
          <p:cNvSpPr/>
          <p:nvPr/>
        </p:nvSpPr>
        <p:spPr>
          <a:xfrm>
            <a:off x="6781647" y="5697728"/>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범위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pic>
        <p:nvPicPr>
          <p:cNvPr id="6" name="삽화:작업목록.svg" descr="illust_7226812111358020425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예를 들면 제안과 검토를 서로 다른 에이전트에게 나누어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에이전트(예)</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에이전트(예)</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통제자리.svg" descr="illust_6435516850343242548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a:p>
            <a:pPr algn="ctr">
              <a:lnSpc>
                <a:spcPct val="110000"/>
              </a:lnSpc>
              <a:spcAft>
                <a:spcPts val="100"/>
              </a:spcAft>
            </a:pPr>
            <a:r>
              <a:rPr sz="1100" b="0">
                <a:solidFill>
                  <a:srgbClr val="556175"/>
                </a:solidFill>
                <a:latin typeface="맑은 고딕"/>
                <a:ea typeface="맑은 고딕"/>
                <a:cs typeface="맑은 고딕"/>
              </a:rPr>
              <a:t>판단 규칙</a:t>
            </a:r>
          </a:p>
        </p:txBody>
      </p:sp>
      <p:sp>
        <p:nvSpPr>
          <p:cNvPr id="8" name="TextBox 7"/>
          <p:cNvSpPr txBox="1"/>
          <p:nvPr/>
        </p:nvSpPr>
        <p:spPr>
          <a:xfrm>
            <a:off x="3286652" y="1911278"/>
            <a:ext cx="152732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a:p>
            <a:pPr algn="ctr">
              <a:lnSpc>
                <a:spcPct val="110000"/>
              </a:lnSpc>
              <a:spcAft>
                <a:spcPts val="100"/>
              </a:spcAft>
            </a:pPr>
            <a:r>
              <a:rPr sz="1100" b="0">
                <a:solidFill>
                  <a:srgbClr val="556175"/>
                </a:solidFill>
                <a:latin typeface="맑은 고딕"/>
                <a:ea typeface="맑은 고딕"/>
                <a:cs typeface="맑은 고딕"/>
              </a:rPr>
              <a:t>운전원 역할</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a:p>
            <a:pPr algn="ctr">
              <a:lnSpc>
                <a:spcPct val="110000"/>
              </a:lnSpc>
              <a:spcAft>
                <a:spcPts val="100"/>
              </a:spcAft>
            </a:pPr>
            <a:r>
              <a:rPr sz="1100" b="0">
                <a:solidFill>
                  <a:srgbClr val="556175"/>
                </a:solidFill>
                <a:latin typeface="맑은 고딕"/>
                <a:ea typeface="맑은 고딕"/>
                <a:cs typeface="맑은 고딕"/>
              </a:rPr>
              <a:t>읽는 도구만 연결</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판본 9로 남긴 정의</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처리 기록과 감사 기록으로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자리는 프로세스 정의에 두고 그 자리에 설 역할은 조치마다 정해 두며, 역할이 맞지 않는 승인은 거부해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 승인: 결정의 자리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사람의 개입을 프로세스 정의의 한 자리로 둔다</a:t>
            </a:r>
          </a:p>
          <a:p>
            <a:pPr algn="l">
              <a:lnSpc>
                <a:spcPct val="110000"/>
              </a:lnSpc>
              <a:spcAft>
                <a:spcPts val="600"/>
              </a:spcAft>
            </a:pPr>
            <a:r>
              <a:rPr sz="1450" b="0">
                <a:solidFill>
                  <a:srgbClr val="1F2A3A"/>
                </a:solidFill>
                <a:latin typeface="맑은 고딕"/>
                <a:ea typeface="맑은 고딕"/>
                <a:cs typeface="맑은 고딕"/>
              </a:rPr>
              <a:t>• 제품은 HITL을 BPMN의 기본 패턴으로 다룬다</a:t>
            </a:r>
          </a:p>
          <a:p>
            <a:pPr algn="l">
              <a:lnSpc>
                <a:spcPct val="110000"/>
              </a:lnSpc>
              <a:spcAft>
                <a:spcPts val="600"/>
              </a:spcAft>
            </a:pPr>
            <a:r>
              <a:rPr sz="1450" b="0">
                <a:solidFill>
                  <a:srgbClr val="1F2A3A"/>
                </a:solidFill>
                <a:latin typeface="맑은 고딕"/>
                <a:ea typeface="맑은 고딕"/>
                <a:cs typeface="맑은 고딕"/>
              </a:rPr>
              <a:t>• 이 과정: 설비 명령 앞에 승인이 없는 정의는 등록되지 않았다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권한: 그 자리에 설 자격</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승인하려는 쪽이 정해진 역할인지를 검사한다</a:t>
            </a:r>
          </a:p>
          <a:p>
            <a:pPr algn="l">
              <a:lnSpc>
                <a:spcPct val="110000"/>
              </a:lnSpc>
              <a:spcAft>
                <a:spcPts val="600"/>
              </a:spcAft>
            </a:pPr>
            <a:r>
              <a:rPr sz="1450" b="0">
                <a:solidFill>
                  <a:srgbClr val="1F2A3A"/>
                </a:solidFill>
                <a:latin typeface="맑은 고딕"/>
                <a:ea typeface="맑은 고딕"/>
                <a:cs typeface="맑은 고딕"/>
              </a:rPr>
              <a:t>• 맞지 않는 승인은 거부하고 DECISION_DENIED로 남긴다</a:t>
            </a:r>
          </a:p>
          <a:p>
            <a:pPr algn="l">
              <a:lnSpc>
                <a:spcPct val="110000"/>
              </a:lnSpc>
              <a:spcAft>
                <a:spcPts val="600"/>
              </a:spcAft>
            </a:pPr>
            <a:r>
              <a:rPr sz="1450" b="0">
                <a:solidFill>
                  <a:srgbClr val="1F2A3A"/>
                </a:solidFill>
                <a:latin typeface="맑은 고딕"/>
                <a:ea typeface="맑은 고딕"/>
                <a:cs typeface="맑은 고딕"/>
              </a:rPr>
              <a:t>• 이 과정: 팬 최대 운전은 운전원, 쿨러 핀 세척은 설비보전팀장</a:t>
            </a:r>
          </a:p>
        </p:txBody>
      </p:sp>
      <p:sp>
        <p:nvSpPr>
          <p:cNvPr id="18" name="Rounded Rectangle 17"/>
          <p:cNvSpPr/>
          <p:nvPr/>
        </p:nvSpPr>
        <p:spPr>
          <a:xfrm>
            <a:off x="6781647" y="5246433"/>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과정에서 본 기록</a:t>
            </a:r>
          </a:p>
          <a:p>
            <a:pPr algn="l">
              <a:lnSpc>
                <a:spcPct val="110000"/>
              </a:lnSpc>
              <a:spcAft>
                <a:spcPts val="200"/>
              </a:spcAft>
            </a:pPr>
            <a:r>
              <a:rPr sz="1150" b="0">
                <a:solidFill>
                  <a:srgbClr val="556175"/>
                </a:solidFill>
                <a:latin typeface="맑은 고딕"/>
                <a:ea typeface="맑은 고딕"/>
                <a:cs typeface="맑은 고딕"/>
              </a:rPr>
              <a:t>처리 기록 ·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작업지시 WO-1010-1198에서 명령 CMD-1010-0001-01d1, 승인한 역할 role:operator, 판단 id DEC-1010-058-88a6, 경보 ALT-hyd01-0026-767a까지 거슬러 읽었다.</a:t>
            </a:r>
          </a:p>
          <a:p>
            <a:pPr algn="l">
              <a:lnSpc>
                <a:spcPct val="110000"/>
              </a:lnSpc>
              <a:spcAft>
                <a:spcPts val="300"/>
              </a:spcAft>
            </a:pPr>
            <a:r>
              <a:rPr sz="1400" b="0">
                <a:solidFill>
                  <a:srgbClr val="1F2A3A"/>
                </a:solidFill>
                <a:latin typeface="맑은 고딕"/>
                <a:ea typeface="맑은 고딕"/>
                <a:cs typeface="맑은 고딕"/>
              </a:rPr>
              <a:t>견줄 정의는 c3_cooling의 판본 9였다.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제품은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 닿지 못하게 한다</a:t>
            </a:r>
          </a:p>
        </p:txBody>
      </p:sp>
      <p:sp>
        <p:nvSpPr>
          <p:cNvPr id="10" name="Rounded Rectangle 9"/>
          <p:cNvSpPr/>
          <p:nvPr/>
        </p:nvSpPr>
        <p:spPr>
          <a:xfrm>
            <a:off x="777240" y="525830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도구를 허용 목록으로 정한다</a:t>
            </a:r>
          </a:p>
          <a:p>
            <a:pPr algn="l">
              <a:lnSpc>
                <a:spcPct val="110000"/>
              </a:lnSpc>
              <a:spcAft>
                <a:spcPts val="400"/>
              </a:spcAft>
            </a:pPr>
            <a:r>
              <a:rPr sz="1400" b="0">
                <a:solidFill>
                  <a:srgbClr val="1F2A3A"/>
                </a:solidFill>
                <a:latin typeface="맑은 고딕"/>
                <a:ea typeface="맑은 고딕"/>
                <a:cs typeface="맑은 고딕"/>
              </a:rPr>
              <a:t>• 이 과정: agent:cooling에는 읽는 도구와</a:t>
            </a:r>
          </a:p>
          <a:p>
            <a:pPr algn="l">
              <a:lnSpc>
                <a:spcPct val="110000"/>
              </a:lnSpc>
              <a:spcAft>
                <a:spcPts val="400"/>
              </a:spcAft>
            </a:pPr>
            <a:r>
              <a:rPr sz="1400" b="0">
                <a:solidFill>
                  <a:srgbClr val="1F2A3A"/>
                </a:solidFill>
                <a:latin typeface="맑은 고딕"/>
                <a:ea typeface="맑은 고딕"/>
                <a:cs typeface="맑은 고딕"/>
              </a:rPr>
              <a:t>• 추천안의 제출만 연결했다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최소 권한</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a:p>
            <a:pPr algn="l">
              <a:lnSpc>
                <a:spcPct val="110000"/>
              </a:lnSpc>
              <a:spcAft>
                <a:spcPts val="400"/>
              </a:spcAft>
            </a:pPr>
            <a:r>
              <a:rPr sz="1400" b="0">
                <a:solidFill>
                  <a:srgbClr val="1F2A3A"/>
                </a:solidFill>
                <a:latin typeface="맑은 고딕"/>
                <a:ea typeface="맑은 고딕"/>
                <a:cs typeface="맑은 고딕"/>
              </a:rPr>
              <a:t>• 이 과정: 설정에는 자리표시자만 두었다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이 과정: 같은 종류의 경보 두 건에서 조치 후보 넷의 순위와 점수가 같았다</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보상.svg" descr="illust_183588417994217904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a:p>
            <a:pPr algn="ctr">
              <a:lnSpc>
                <a:spcPct val="110000"/>
              </a:lnSpc>
              <a:spcAft>
                <a:spcPts val="400"/>
              </a:spcAft>
            </a:pPr>
            <a:r>
              <a:rPr sz="1350" b="0">
                <a:solidFill>
                  <a:srgbClr val="1F2A3A"/>
                </a:solidFill>
                <a:latin typeface="맑은 고딕"/>
                <a:ea typeface="맑은 고딕"/>
                <a:cs typeface="맑은 고딕"/>
              </a:rPr>
              <a:t>이 과정: 판본</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a:p>
            <a:pPr algn="ctr">
              <a:lnSpc>
                <a:spcPct val="110000"/>
              </a:lnSpc>
              <a:spcAft>
                <a:spcPts val="400"/>
              </a:spcAft>
            </a:pPr>
            <a:r>
              <a:rPr sz="1350" b="0">
                <a:solidFill>
                  <a:srgbClr val="1F2A3A"/>
                </a:solidFill>
                <a:latin typeface="맑은 고딕"/>
                <a:ea typeface="맑은 고딕"/>
                <a:cs typeface="맑은 고딕"/>
              </a:rPr>
              <a:t>이 과정: 배포</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1일차에 만든 학습 노트에 개념, 자료, 산출물, 검증 결과를 이어 기록한다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 참고 자료, 실습 산출물, 검증 결과를 서로 이어 적은 학습 노트는 과정이 끝난 뒤에도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