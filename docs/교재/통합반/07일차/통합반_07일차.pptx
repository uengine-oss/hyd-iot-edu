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두 시간에는 에이전트가 일하는 방식과 에이전트에 붙이는 지침과 도구를 다루었습니다. 오늘은 그 에이전트를 믿고 쓰기 위한 두 가지, 곧 사람이 결정하는 자리와 요구사항을 적는 방법을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에이전트가 추천안을 내기까지의 94초를 보았습니다.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첫날 HITL이라는 이름으로 소개한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결정에는 책임이 따르므로 누가 결정했는지가 남아야 합니다. 승인하는 순간 시스템이 승인한 사람과 역할, 고른 안의 사본, 시각을 적습니다. 이 항목들은 승인을 받은 시스템만 채울 수 있어서, 에이전트가 자기 결과에 승인한 사람을 적어 내더라도 쓰이지 않습니다. 넷째 줄처럼 승인하는 순간의 유온과 운전 모드도 다시 읽어 함께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승인도 거절도 하지 않는 경우가 있습니다. 승인 요청이 올라온 뒤 10분 동안 응답이 없으면 승인 지연 알림이 나갑니다. 알림의 문구는 「승인 대기 중, 승인하거나 거절할 때까지 기다립니다」입니다. 알림이 나가도 승인 작업은 닫히지 않으며, 시스템이 대신 승인하거나 거절하지도 않습니다. 담당자가 뒤늦게 승인하면 정상으로 처리됩니다.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질문에는 쓰임의 한계가 있습니다. 왼쪽처럼 요청에서 빠졌고 도구로도 확인할 수 없는 업무 정보는 묻습니다. 오른쪽처럼 도구로 읽을 수 있는 값은 묻지 않고 조회해야 하며, 허용되지 않은 일을 하게 해 달라고 물어서도 안 됩니다. 담당자가 답에 진행하라고 적더라도 그것은 근거가 확인되었다는 뜻도, 조치를 승인했다는 뜻도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대기를 모아, 현장에서 보류라고 부르는 상황을 나누어 봅니다. 첫째는 담당자가 아직 결정하지 않은 경우이고, 승인 작업이 기다리고 있을 뿐입니다. 둘째는 지난 시간에 본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지난 시간에 본 한도, 곧 실행 시간 1,800초나 형식 교정 두 번을 넘긴 에이전트 작업은 결과 없이 멈춘 채로 남습니다. 그대로 두면 처리 건이 끝나지 않으므로 담당자가 기록을 읽고 사유를 적어 닫습니다. 이렇게 끝난 처리 건은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모았습니다. 추천안은 가드레일을 지나 승인 역할의 담당자에게 올라가고, 승인과 거절은 누가 무엇을 결정했는지와 함께 기록됩니다. 에이전트가 정보가 모자라 묻거나 한도를 넘겨 멈추는 경우에도 사람이 답하고 닫는 자리가 정해져 있습니다. 이 다섯 가지가 에이전트의 일과 사람의 책임을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건을 직접 결정합니다. 먼저 올라온 추천안과 그 조치의 승인 역할을 확인합니다. 그런 다음 권한이 있는 역할로 승인하거나 사유를 적어 거절하고, 그 결정이 처리 건의 상태를 어떻게 바꾸었는지를 처리 기록에서 읽습니다. 권한이 없는 역할로는 승인이 받아들여지지 않는다는 것도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5일차에 만든 에이전트를 다시 씁니다. 부품 수량이나 긴급 사유나 승인권자가 빠진 요청을 주었을 때, 에이전트가 그 값을 짐작해 확정하지 않고 확인 질문을 내도록 고칩니다. 추가 입력을 받으면 같은 요청을 다시 판단하고, 질문 전과 답변 후의 상태를 기록으로 남깁니다.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에이전트 둘이 일을 나눕니다. 작성 역할이 업무 요청의 초안을 만들고, 검토 역할이 근거와 수량과 승인 정보가 빠졌는지를 따로 검토합니다. 검토 의견에 따라 초안을 고칩니다. 마지막 카드가 이 실습의 요점으로, AI끼리의 검토 결과와 사람의 최종 승인 여부를 한 항목에 섞지 않고 서로 다른 항목에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그대로 AI에게 주고 고쳐 달라고 하는 방식이 바이브 코딩, Vibe Coding입니다. 자연어로 요청하고, AI가 쓴 코드를 실행해 보며 다시 요청하는 방식입니다. 시작이 빠르다는 장점이 있습니다. 다만 요청에 적지 않은 부분은 AI가 그 자리에서 정하게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요청으로 고친 결과가 반드시 틀리는 것은 아닙니다. 문제는 틀렸는지를 알 방법이 없다는 데 있습니다. 고친 사람은 대개 왼쪽처럼 새 기능만 실행해 보고, 긴급하다는 표시가 나오면 끝났다고 봅니다. 오른쪽의 세 가지는 무엇이 그대로여야 하는지를 적어 둔 것이 없어서 실행해 볼 생각조차 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자리 가운데 출력 형식이 흔들리면 무슨 일이 생기는지를 봅니다. 에이전트의 결과는 혼자 쓰이지 않습니다. 형식 검사가 정해진 이름의 항목이 있는지를 보고, 승인 화면이 추천 항목을 이름으로 찾아 담당자에게 보이고, 뒤 단계가 판단 번호 항목으로 그 판단을 가리킵니다. 긴급 표시를 넣으면서 이 이름 가운데 하나를 바꾸면 그 뒤의 단계가 모두 읽지 못하게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차이는 AI를 쓰느냐가 아니라 순서입니다. 바이브 코딩은 요청 문장을 그대로 AI에게 주고, 해석은 AI가 그때그때 정합니다. SDD는 요청을 받으면 명세부터 고치고, 해석은 사람이 명세에서 정합니다. 구현은 두 경우 모두 AI에게 맡길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가운데 계약이라는 말부터 풀겠습니다. 계약, Contract는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 한 건에서 에이전트가 실제로 받은 입력입니다. 앞에서 본 사건과 같은 유형의 다른 경보여서 경보 번호가 다릅니다. 설비, 경보, 사건 번호의 세 항목이며 유온이나 냉각 효율 같은 값은 들어 있지 않습니다. 그런 값은 에이전트가 도구로 읽어 오므로, 입력 계약은 무엇에 대해 일할지만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계약은 항목마다 세 가지를 정합니다. 이름, 형식, 그리고 뜻입니다. 추천 항목을 보면 이름은 recommended이고, 형식은 조치 방법의 식별자이며, 뜻은 후보 가운데 1순위입니다. 이렇게 적혀 있으면 긴급 여부를 새 항목으로 더하는 것은 계약을 넓히는 변경이고, recommended의 이름이나 뜻을 바꾸는 것은 계약을 깨는 변경이라는 구분이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금지 조건의 실제 예입니다. 쿨러 사건의 에이전트가 읽는 작업 규칙에는 절대 금지라는 절이 따로 있습니다. 첫째 줄은 설비 명령과 업무 조치의 실행, 그리고 사람 대신 승인하는 일을 금지합니다. 둘째 줄은 지식과 규칙을 고치지 못하게 하고, 셋째 줄은 판단 제출이 승인이나 실행이 아니라는 점을 못 박습니다. 이 절은 원인을 가리고 조치를 견주는 업무의 절차와는 따로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수용 기준이 되는 문장과 되지 못하는 문장을 견줍니다. 왼쪽의 「거절이 잘 처리된다」는 실행해 보아도 잘 된 것인지 아닌지를 사람마다 다르게 봅니다. 오른쪽의 「거절하면 설비 명령이 0건이다」는 실행하고 명령의 수를 세면 참과 거짓이 정해집니다. 수용 기준을 쓸 때에는 이 문장이 세거나 대조해서 판정되는지를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승인 단계의 동작은 우연히 그렇게 된 것이 아닙니다. 상황마다 확인되어야 하는 결과가 수용 기준으로 정해져 있고, 검사가 그것을 확인합니다. 승인하면 누가 승인했는지가 기록되고 끝까지 처리됩니다. 거절하면 명령과 업무 처리가 0건입니다. 사유가 없거나 권한이 없는 거절은 받아들여지지 않고, 응답이 없으면 알림만 나가고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쓴 다음의 순서입니다. 명세를 고치고, 그 명세를 AI에게 함께 주어 구현을 맡깁니다. 구현이 끝나면 수용 기준을 하나씩 실행해 참과 거짓을 가립니다. 거짓이 나왔을 때 구현이 명세와 다르면 구현을 고치고, 명세에 빠진 것이 있었다면 명세를 고칩니다. 어느 쪽이 틀렸는지를 가릴 기준이 문서로 있다는 점이 한 문장만 주었을 때와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적은 것은 실행되는 검사로 옮겨 둘 때 힘을 가집니다. 왼쪽은 같은 경보에 대한 추천안의 기대 결과를 저장해 두는 것으로, 변경 뒤의 결과가 달라지면 바로 드러납니다. 결과를 일부러 바꿀 때에만 근거와 함께 갱신합니다. 오른쪽은 기준 에이전트의 작업 규칙을 고정해 두는 것으로, 한 글자라도 달라지면 검사가 실패합니다.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마친 뒤에 할 일입니다. 새 요청만이 아니라 기존 요청도 함께 다시 실행합니다. 기존 요청은 결과가 그대로여야 하고, 새 요청은 명세대로 달라져야 하며, 값을 읽지 못한 경우의 보류처럼 지켜야 할 동작도 그대로여야 합니다. 이때 쓴 입력과 기대 결과를 저장해 두면 다음 시간에 다룰 검증의 재료가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따라붙는 혼동 셋을 앞에서 본 장면으로 바로잡습니다. 명세는 길 필요가 없고, 해석이 갈리는 자리를 한 줄씩 정하면 됩니다. 모호하게 고쳤다고 반드시 고장 나는 것은 아니며, 달라졌는지를 가릴 기준이 없다는 것이 문제입니다. 그리고 수용 기준은 구현하기 전에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모았습니다. 변경 요청 한 문장에는 지킬 것이 적혀 있지 않습니다. 그래서 구현하기 전에 명세에 요구사항과 계약을 정하고, 하지 않을 일을 금지 조건으로, 다 되었는지를 가를 조건을 수용 기준으로 적습니다. 구현한 뒤에는 기존 요청과 새 요청을 함께 다시 실행합니다. 이렇게 저장한 입력과 기대 결과는 다음 시간의 검증으로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앞에서 본 상황을 직접 만들어 봅니다. 5일차에 만든 에이전트에 긴급 정비 조건을 모호한 요청으로 더합니다. 그런 다음 기존의 일반 요청과 새 긴급 요청을 실행하고, 결과의 항목과 승인 조건이 고치기 전과 달라진 곳이 있는지를 찾습니다. 달라진 곳이 없을 수도 있으며, 그때에는 두 버전의 동작을 있는 그대로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실습은 같은 프로젝트에서 이어집니다. spec.md에 기존 일반 정비 처리와 긴급 조건, 값이 입력되지 않았을 때의 보류, 승인 없이 확정하지 않는다는 금지, 결과 형식과 수용 기준을 적습니다. 그 명세를 기준으로 코드를 고친 다음 기존 일반 요청과 긴급 요청을 다시 실행합니다. 끝으로 입력과 기대 결과를 저장해 다음 시간의 검증에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다섯과 함께 승인 역할, 결정 기록, 에이전트의 질문, 금지 조건이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에이전트의 질문과 사람의 승인 사이의 책임 경계를 확인하는 문항입니다. 담당자의 답에서 에이전트가 받아도 되는 것과 받을 수 없는 것을 갈라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두 번 확인했다는 점에서 그럴듯하지만, 두 확인 모두 실행의 결정은 아닙니다. 둘째 문항의 2번은 답변을 승인으로 바꾸어 쓴 것이고, 4번은 시스템만 적는 기록을 에이전트가 채운 것입니다. 셋째 문항의 1번은 얼마나 빨라야 하는지가 적혀 있지 않아 판정할 수 없습니다.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27.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9.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41.png"/><Relationship Id="rId5" Type="http://schemas.openxmlformats.org/officeDocument/2006/relationships/image" Target="../media/image34.png"/><Relationship Id="rId6"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1.png"/><Relationship Id="rId4" Type="http://schemas.openxmlformats.org/officeDocument/2006/relationships/image" Target="../media/image44.png"/><Relationship Id="rId5"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5.png"/><Relationship Id="rId4" Type="http://schemas.openxmlformats.org/officeDocument/2006/relationships/image" Target="../media/image8.png"/><Relationship Id="rId5" Type="http://schemas.openxmlformats.org/officeDocument/2006/relationships/image" Target="../media/image40.png"/><Relationship Id="rId6" Type="http://schemas.openxmlformats.org/officeDocument/2006/relationships/image" Target="../media/image34.png"/><Relationship Id="rId7"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5.png"/><Relationship Id="rId4" Type="http://schemas.openxmlformats.org/officeDocument/2006/relationships/image" Target="../media/image18.png"/><Relationship Id="rId5"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7일차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사람의 판단과 명확한 요구사항으로</a:t>
            </a:r>
          </a:p>
          <a:p>
            <a:pPr algn="l">
              <a:lnSpc>
                <a:spcPct val="110000"/>
              </a:lnSpc>
            </a:pPr>
            <a:r>
              <a:rPr sz="4000" b="1">
                <a:solidFill>
                  <a:srgbClr val="FFFFFF"/>
                </a:solidFill>
                <a:latin typeface="맑은 고딕"/>
                <a:ea typeface="맑은 고딕"/>
                <a:cs typeface="맑은 고딕"/>
              </a:rPr>
              <a:t>높이는 AI 업무의 신뢰성</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사람이 개입하는 지점의 설계와 명세 주도 개발</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hield-check" descr="shield-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file-text" descr="file-tex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추천안을 사람이 결정하는 자리와, 그 에이전트를 고칠 때 기존 기능을 지키는 명세를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개입 지점</a:t>
            </a:r>
          </a:p>
          <a:p>
            <a:pPr algn="l">
              <a:lnSpc>
                <a:spcPct val="110000"/>
              </a:lnSpc>
              <a:spcAft>
                <a:spcPts val="400"/>
              </a:spcAft>
            </a:pPr>
            <a:r>
              <a:rPr sz="1350" b="0">
                <a:solidFill>
                  <a:srgbClr val="1F2A3A"/>
                </a:solidFill>
                <a:latin typeface="맑은 고딕"/>
                <a:ea typeface="맑은 고딕"/>
                <a:cs typeface="맑은 고딕"/>
              </a:rPr>
              <a:t>승인, 에이전트의 질문, 멈춘 작업 닫기가 각각 언제 누구에게 오는지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id" descr="id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권한과 기록</a:t>
            </a:r>
          </a:p>
          <a:p>
            <a:pPr algn="l">
              <a:lnSpc>
                <a:spcPct val="110000"/>
              </a:lnSpc>
              <a:spcAft>
                <a:spcPts val="400"/>
              </a:spcAft>
            </a:pPr>
            <a:r>
              <a:rPr sz="1350" b="0">
                <a:solidFill>
                  <a:srgbClr val="1F2A3A"/>
                </a:solidFill>
                <a:latin typeface="맑은 고딕"/>
                <a:ea typeface="맑은 고딕"/>
                <a:cs typeface="맑은 고딕"/>
              </a:rPr>
              <a:t>승인 역할의 경계와 결정 기록에 남는 것을 실제 사건에서 짚는다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검토와 승인</a:t>
            </a:r>
          </a:p>
          <a:p>
            <a:pPr algn="l">
              <a:lnSpc>
                <a:spcPct val="110000"/>
              </a:lnSpc>
              <a:spcAft>
                <a:spcPts val="400"/>
              </a:spcAft>
            </a:pPr>
            <a:r>
              <a:rPr sz="1350" b="0">
                <a:solidFill>
                  <a:srgbClr val="1F2A3A"/>
                </a:solidFill>
                <a:latin typeface="맑은 고딕"/>
                <a:ea typeface="맑은 고딕"/>
                <a:cs typeface="맑은 고딕"/>
              </a:rPr>
              <a:t>가드레일이나 다른 에이전트의 검토를 사람의 승인과 구분한다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지점의 설계: 승인, 질문, 닫기</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 주도 개발: 요구사항 변경과 기존 기능의 보존</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사람이 개입하는 지점의 설계:</a:t>
            </a:r>
          </a:p>
          <a:p>
            <a:pPr algn="l">
              <a:lnSpc>
                <a:spcPct val="110000"/>
              </a:lnSpc>
            </a:pPr>
            <a:r>
              <a:rPr sz="3400" b="1">
                <a:solidFill>
                  <a:srgbClr val="13294B"/>
                </a:solidFill>
                <a:latin typeface="맑은 고딕"/>
                <a:ea typeface="맑은 고딕"/>
                <a:cs typeface="맑은 고딕"/>
              </a:rPr>
              <a:t>승인, 질문, 닫기</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에이전트의 추천안을 사람이 결정하는 자리와 그 결정이 남기는 기록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7382178461019301218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자동으로 처리하는 일과 사람이 결정하는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HITL은 자동 처리의 정해진 지점에 사람의 결정을 넣는 방식이며, 설비를 바꾸는 되돌리기 어려운 결정이 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125280514835849452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246433"/>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p:txBody>
      </p:sp>
      <p:sp>
        <p:nvSpPr>
          <p:cNvPr id="18" name="Rounded Rectangle 17"/>
          <p:cNvSpPr/>
          <p:nvPr/>
        </p:nvSpPr>
        <p:spPr>
          <a:xfrm>
            <a:off x="6781647" y="5246433"/>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 기록: 승인하는 순간에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 기록은 승인을 받은 시스템만 적을 수 있어, 에이전트가 승인한 사람을 스스로 채워 넣는 길이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승인을 받은 시스템이 적는다</a:t>
            </a:r>
          </a:p>
          <a:p>
            <a:pPr algn="l">
              <a:lnSpc>
                <a:spcPct val="110000"/>
              </a:lnSpc>
            </a:pPr>
            <a:r>
              <a:rPr sz="1400" b="0">
                <a:solidFill>
                  <a:srgbClr val="1F2A3A"/>
                </a:solidFill>
                <a:latin typeface="맑은 고딕"/>
                <a:ea typeface="맑은 고딕"/>
                <a:cs typeface="맑은 고딕"/>
              </a:rPr>
              <a:t>에이전트의 출력에 같은 항목이 있어도 쓰이지 않는다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안의 사본이 함께 남는다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팬 최대 운전</a:t>
            </a:r>
          </a:p>
          <a:p>
            <a:pPr algn="l">
              <a:lnSpc>
                <a:spcPct val="110000"/>
              </a:lnSpc>
            </a:pPr>
            <a:r>
              <a:rPr sz="1250" b="1">
                <a:solidFill>
                  <a:srgbClr val="556175"/>
                </a:solidFill>
                <a:latin typeface="맑은 고딕"/>
                <a:ea typeface="맑은 고딕"/>
                <a:cs typeface="맑은 고딕"/>
              </a:rPr>
              <a:t>SOP-COOL-11</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접수된 때</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11:14:56</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순간의 설비 상태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때의 값이 아니라 승인하는 순간의 값을 다시 읽는다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유온 61.8 ℃</a:t>
            </a:r>
          </a:p>
          <a:p>
            <a:pPr algn="l">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응답이 없는 승인 작업은 기한 10분 뒤에 지연 알림을 낼 뿐 닫히지 않고 담당자의 결정을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무응답.svg" descr="illust_2712044239156379948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요청</a:t>
            </a:r>
          </a:p>
          <a:p>
            <a:pPr algn="ctr">
              <a:lnSpc>
                <a:spcPct val="110000"/>
              </a:lnSpc>
              <a:spcAft>
                <a:spcPts val="100"/>
              </a:spcAft>
            </a:pPr>
            <a:r>
              <a:rPr sz="1300" b="0">
                <a:solidFill>
                  <a:srgbClr val="556175"/>
                </a:solidFill>
                <a:latin typeface="맑은 고딕"/>
                <a:ea typeface="맑은 고딕"/>
                <a:cs typeface="맑은 고딕"/>
              </a:rPr>
              <a:t>추천안이 올라온다</a:t>
            </a:r>
          </a:p>
        </p:txBody>
      </p:sp>
      <p:sp>
        <p:nvSpPr>
          <p:cNvPr id="8" name="TextBox 7"/>
          <p:cNvSpPr txBox="1"/>
          <p:nvPr/>
        </p:nvSpPr>
        <p:spPr>
          <a:xfrm>
            <a:off x="4863074" y="1674906"/>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지연 알림</a:t>
            </a:r>
          </a:p>
          <a:p>
            <a:pPr algn="ctr">
              <a:lnSpc>
                <a:spcPct val="110000"/>
              </a:lnSpc>
              <a:spcAft>
                <a:spcPts val="100"/>
              </a:spcAft>
            </a:pPr>
            <a:r>
              <a:rPr sz="1300" b="0">
                <a:solidFill>
                  <a:srgbClr val="556175"/>
                </a:solidFill>
                <a:latin typeface="맑은 고딕"/>
                <a:ea typeface="맑은 고딕"/>
                <a:cs typeface="맑은 고딕"/>
              </a:rPr>
              <a:t>기한 10분이 지나면 나간다</a:t>
            </a:r>
          </a:p>
        </p:txBody>
      </p:sp>
      <p:sp>
        <p:nvSpPr>
          <p:cNvPr id="9" name="TextBox 8"/>
          <p:cNvSpPr txBox="1"/>
          <p:nvPr/>
        </p:nvSpPr>
        <p:spPr>
          <a:xfrm>
            <a:off x="8277746"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뒤늦은 승인</a:t>
            </a:r>
          </a:p>
          <a:p>
            <a:pPr algn="ctr">
              <a:lnSpc>
                <a:spcPct val="110000"/>
              </a:lnSpc>
              <a:spcAft>
                <a:spcPts val="100"/>
              </a:spcAft>
            </a:pPr>
            <a:r>
              <a:rPr sz="1300" b="0">
                <a:solidFill>
                  <a:srgbClr val="556175"/>
                </a:solidFill>
                <a:latin typeface="맑은 고딕"/>
                <a:ea typeface="맑은 고딕"/>
                <a:cs typeface="맑은 고딕"/>
              </a:rPr>
              <a:t>정상으로 처리된다</a:t>
            </a:r>
          </a:p>
        </p:txBody>
      </p:sp>
      <p:sp>
        <p:nvSpPr>
          <p:cNvPr id="10" name="TextBox 9"/>
          <p:cNvSpPr txBox="1"/>
          <p:nvPr/>
        </p:nvSpPr>
        <p:spPr>
          <a:xfrm>
            <a:off x="3510297" y="389680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작업은 열린 채로 기다린다</a:t>
            </a:r>
          </a:p>
          <a:p>
            <a:pPr algn="ctr">
              <a:lnSpc>
                <a:spcPct val="110000"/>
              </a:lnSpc>
              <a:spcAft>
                <a:spcPts val="100"/>
              </a:spcAft>
            </a:pPr>
            <a:r>
              <a:rPr sz="1300" b="0">
                <a:solidFill>
                  <a:srgbClr val="556175"/>
                </a:solidFill>
                <a:latin typeface="맑은 고딕"/>
                <a:ea typeface="맑은 고딕"/>
                <a:cs typeface="맑은 고딕"/>
              </a:rPr>
              <a:t>알림 뒤에도 승인과 거절을 모두 받는다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질문으로 얻는 것과 얻지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담당자의 답은 모자란 업무 정보를 채우는 데에만 쓰이고 근거나 승인을 대신하지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 설비, 수량, 사유처럼 요청에서 빠진 업무 정보</a:t>
            </a:r>
          </a:p>
          <a:p>
            <a:pPr algn="l">
              <a:lnSpc>
                <a:spcPct val="110000"/>
              </a:lnSpc>
              <a:spcAft>
                <a:spcPts val="600"/>
              </a:spcAft>
            </a:pPr>
            <a:r>
              <a:rPr sz="1450" b="0">
                <a:solidFill>
                  <a:srgbClr val="1F2A3A"/>
                </a:solidFill>
                <a:latin typeface="맑은 고딕"/>
                <a:ea typeface="맑은 고딕"/>
                <a:cs typeface="맑은 고딕"/>
              </a:rPr>
              <a:t>• 연결된 도구로 조회해도 확인할 수 없는 것</a:t>
            </a:r>
          </a:p>
          <a:p>
            <a:pPr algn="l">
              <a:lnSpc>
                <a:spcPct val="110000"/>
              </a:lnSpc>
              <a:spcAft>
                <a:spcPts val="600"/>
              </a:spcAft>
            </a:pPr>
            <a:r>
              <a:rPr sz="1450" b="0">
                <a:solidFill>
                  <a:srgbClr val="1F2A3A"/>
                </a:solidFill>
                <a:latin typeface="맑은 고딕"/>
                <a:ea typeface="맑은 고딕"/>
                <a:cs typeface="맑은 고딕"/>
              </a:rPr>
              <a:t>• 답을 받으면 그 값을 입력으로 삼아 이어 간다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묻지 않는다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도구로 읽을 수 있는 값은 묻지 않고 조회한다</a:t>
            </a:r>
          </a:p>
          <a:p>
            <a:pPr algn="l">
              <a:lnSpc>
                <a:spcPct val="110000"/>
              </a:lnSpc>
              <a:spcAft>
                <a:spcPts val="600"/>
              </a:spcAft>
            </a:pPr>
            <a:r>
              <a:rPr sz="1450" b="0">
                <a:solidFill>
                  <a:srgbClr val="1F2A3A"/>
                </a:solidFill>
                <a:latin typeface="맑은 고딕"/>
                <a:ea typeface="맑은 고딕"/>
                <a:cs typeface="맑은 고딕"/>
              </a:rPr>
              <a:t>• 허용되지 않은 도구를 쓰게 해 달라고 묻지 않는다</a:t>
            </a:r>
          </a:p>
          <a:p>
            <a:pPr algn="l">
              <a:lnSpc>
                <a:spcPct val="110000"/>
              </a:lnSpc>
              <a:spcAft>
                <a:spcPts val="600"/>
              </a:spcAft>
            </a:pPr>
            <a:r>
              <a:rPr sz="1450" b="0">
                <a:solidFill>
                  <a:srgbClr val="1F2A3A"/>
                </a:solidFill>
                <a:latin typeface="맑은 고딕"/>
                <a:ea typeface="맑은 고딕"/>
                <a:cs typeface="맑은 고딕"/>
              </a:rPr>
              <a:t>• 작업 규칙: 「사람의 요청을 근거 충족이나 설비 승인으로 간주하지 않습니다.」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근거와 권한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작업이 멈춘다</a:t>
            </a:r>
          </a:p>
          <a:p>
            <a:pPr algn="ctr">
              <a:lnSpc>
                <a:spcPct val="110000"/>
              </a:lnSpc>
              <a:spcAft>
                <a:spcPts val="400"/>
              </a:spcAft>
            </a:pPr>
            <a:r>
              <a:rPr sz="1350" b="0">
                <a:solidFill>
                  <a:srgbClr val="1F2A3A"/>
                </a:solidFill>
                <a:latin typeface="맑은 고딕"/>
                <a:ea typeface="맑은 고딕"/>
                <a:cs typeface="맑은 고딕"/>
              </a:rPr>
              <a:t>실행 시간 1,800초나 형식 교정 두 번의 한도를 넘기면 결과 없이 멈춘 상태로 남는다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기록을 읽는다</a:t>
            </a:r>
          </a:p>
          <a:p>
            <a:pPr algn="ctr">
              <a:lnSpc>
                <a:spcPct val="110000"/>
              </a:lnSpc>
              <a:spcAft>
                <a:spcPts val="400"/>
              </a:spcAft>
            </a:pPr>
            <a:r>
              <a:rPr sz="1350" b="0">
                <a:solidFill>
                  <a:srgbClr val="1F2A3A"/>
                </a:solidFill>
                <a:latin typeface="맑은 고딕"/>
                <a:ea typeface="맑은 고딕"/>
                <a:cs typeface="맑은 고딕"/>
              </a:rPr>
              <a:t>어디까지 진행되었고 왜 멈췄는지를 처리 기록에서 확인한다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사유를 적고 닫는다</a:t>
            </a:r>
          </a:p>
          <a:p>
            <a:pPr algn="ctr">
              <a:lnSpc>
                <a:spcPct val="110000"/>
              </a:lnSpc>
              <a:spcAft>
                <a:spcPts val="400"/>
              </a:spcAft>
            </a:pPr>
            <a:r>
              <a:rPr sz="1350" b="0">
                <a:solidFill>
                  <a:srgbClr val="1F2A3A"/>
                </a:solidFill>
                <a:latin typeface="맑은 고딕"/>
                <a:ea typeface="맑은 고딕"/>
                <a:cs typeface="맑은 고딕"/>
              </a:rPr>
              <a:t>닫은 사람과 사유가 기록에 남고, 그 작업은 취소로 표시된다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처리 건이 끝난다</a:t>
            </a:r>
          </a:p>
          <a:p>
            <a:pPr algn="ctr">
              <a:lnSpc>
                <a:spcPct val="110000"/>
              </a:lnSpc>
              <a:spcAft>
                <a:spcPts val="400"/>
              </a:spcAft>
            </a:pPr>
            <a:r>
              <a:rPr sz="1350" b="0">
                <a:solidFill>
                  <a:srgbClr val="1F2A3A"/>
                </a:solidFill>
                <a:latin typeface="맑은 고딕"/>
                <a:ea typeface="맑은 고딕"/>
                <a:cs typeface="맑은 고딕"/>
              </a:rPr>
              <a:t>열려 있는 다른 작업이 없으면 처리 건은 사람이 닫았다는 표시와 함께 끝난다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관문.svg" descr="illust_607605643737772703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추천안에서 결정 기록까지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 승인과 거절, 결정 기록, 질문, 닫기의 다섯 자리가 에이전트의 일과 사람의 책임을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가드레일</a:t>
            </a:r>
          </a:p>
          <a:p>
            <a:pPr algn="ctr">
              <a:lnSpc>
                <a:spcPct val="110000"/>
              </a:lnSpc>
              <a:spcAft>
                <a:spcPts val="400"/>
              </a:spcAft>
            </a:pPr>
            <a:r>
              <a:rPr sz="1250" b="0">
                <a:solidFill>
                  <a:srgbClr val="1F2A3A"/>
                </a:solidFill>
                <a:latin typeface="맑은 고딕"/>
                <a:ea typeface="맑은 고딕"/>
                <a:cs typeface="맑은 고딕"/>
              </a:rPr>
              <a:t>규칙을 어긴 추천안은</a:t>
            </a:r>
          </a:p>
          <a:p>
            <a:pPr algn="ctr">
              <a:lnSpc>
                <a:spcPct val="110000"/>
              </a:lnSpc>
              <a:spcAft>
                <a:spcPts val="400"/>
              </a:spcAft>
            </a:pPr>
            <a:r>
              <a:rPr sz="1250" b="0">
                <a:solidFill>
                  <a:srgbClr val="1F2A3A"/>
                </a:solidFill>
                <a:latin typeface="맑은 고딕"/>
                <a:ea typeface="맑은 고딕"/>
                <a:cs typeface="맑은 고딕"/>
              </a:rPr>
              <a:t>올라가지 않는다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906141"/>
            <a:ext cx="731520" cy="731520"/>
          </a:xfrm>
          <a:prstGeom prst="ellipse">
            <a:avLst/>
          </a:prstGeom>
          <a:solidFill>
            <a:srgbClr val="5CB8F2"/>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승인과 거절</a:t>
            </a:r>
          </a:p>
          <a:p>
            <a:pPr algn="ctr">
              <a:lnSpc>
                <a:spcPct val="110000"/>
              </a:lnSpc>
              <a:spcAft>
                <a:spcPts val="400"/>
              </a:spcAft>
            </a:pPr>
            <a:r>
              <a:rPr sz="1250" b="0">
                <a:solidFill>
                  <a:srgbClr val="1F2A3A"/>
                </a:solidFill>
                <a:latin typeface="맑은 고딕"/>
                <a:ea typeface="맑은 고딕"/>
                <a:cs typeface="맑은 고딕"/>
              </a:rPr>
              <a:t>승인 역할의 담당자가</a:t>
            </a:r>
          </a:p>
          <a:p>
            <a:pPr algn="ctr">
              <a:lnSpc>
                <a:spcPct val="110000"/>
              </a:lnSpc>
              <a:spcAft>
                <a:spcPts val="400"/>
              </a:spcAft>
            </a:pPr>
            <a:r>
              <a:rPr sz="1250" b="0">
                <a:solidFill>
                  <a:srgbClr val="1F2A3A"/>
                </a:solidFill>
                <a:latin typeface="맑은 고딕"/>
                <a:ea typeface="맑은 고딕"/>
                <a:cs typeface="맑은 고딕"/>
              </a:rPr>
              <a:t>결정한다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id" descr="id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결정 기록</a:t>
            </a:r>
          </a:p>
          <a:p>
            <a:pPr algn="ctr">
              <a:lnSpc>
                <a:spcPct val="110000"/>
              </a:lnSpc>
              <a:spcAft>
                <a:spcPts val="400"/>
              </a:spcAft>
            </a:pPr>
            <a:r>
              <a:rPr sz="1250" b="0">
                <a:solidFill>
                  <a:srgbClr val="1F2A3A"/>
                </a:solidFill>
                <a:latin typeface="맑은 고딕"/>
                <a:ea typeface="맑은 고딕"/>
                <a:cs typeface="맑은 고딕"/>
              </a:rPr>
              <a:t>누가 무엇을</a:t>
            </a:r>
          </a:p>
          <a:p>
            <a:pPr algn="ctr">
              <a:lnSpc>
                <a:spcPct val="110000"/>
              </a:lnSpc>
              <a:spcAft>
                <a:spcPts val="400"/>
              </a:spcAft>
            </a:pPr>
            <a:r>
              <a:rPr sz="1250" b="0">
                <a:solidFill>
                  <a:srgbClr val="1F2A3A"/>
                </a:solidFill>
                <a:latin typeface="맑은 고딕"/>
                <a:ea typeface="맑은 고딕"/>
                <a:cs typeface="맑은 고딕"/>
              </a:rPr>
              <a:t>승인했는지 남는다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message-question" descr="message-question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질문</a:t>
            </a:r>
          </a:p>
          <a:p>
            <a:pPr algn="ctr">
              <a:lnSpc>
                <a:spcPct val="110000"/>
              </a:lnSpc>
              <a:spcAft>
                <a:spcPts val="400"/>
              </a:spcAft>
            </a:pPr>
            <a:r>
              <a:rPr sz="1250" b="0">
                <a:solidFill>
                  <a:srgbClr val="1F2A3A"/>
                </a:solidFill>
                <a:latin typeface="맑은 고딕"/>
                <a:ea typeface="맑은 고딕"/>
                <a:cs typeface="맑은 고딕"/>
              </a:rPr>
              <a:t>모자란 업무 정보를</a:t>
            </a:r>
          </a:p>
          <a:p>
            <a:pPr algn="ctr">
              <a:lnSpc>
                <a:spcPct val="110000"/>
              </a:lnSpc>
              <a:spcAft>
                <a:spcPts val="400"/>
              </a:spcAft>
            </a:pPr>
            <a:r>
              <a:rPr sz="1250" b="0">
                <a:solidFill>
                  <a:srgbClr val="1F2A3A"/>
                </a:solidFill>
                <a:latin typeface="맑은 고딕"/>
                <a:ea typeface="맑은 고딕"/>
                <a:cs typeface="맑은 고딕"/>
              </a:rPr>
              <a:t>묻고 이어 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player-stop" descr="player-stop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닫기</a:t>
            </a:r>
          </a:p>
          <a:p>
            <a:pPr algn="ctr">
              <a:lnSpc>
                <a:spcPct val="110000"/>
              </a:lnSpc>
              <a:spcAft>
                <a:spcPts val="400"/>
              </a:spcAft>
            </a:pPr>
            <a:r>
              <a:rPr sz="1250" b="0">
                <a:solidFill>
                  <a:srgbClr val="1F2A3A"/>
                </a:solidFill>
                <a:latin typeface="맑은 고딕"/>
                <a:ea typeface="맑은 고딕"/>
                <a:cs typeface="맑은 고딕"/>
              </a:rPr>
              <a:t>멈춘 작업을</a:t>
            </a:r>
          </a:p>
          <a:p>
            <a:pPr algn="ctr">
              <a:lnSpc>
                <a:spcPct val="110000"/>
              </a:lnSpc>
              <a:spcAft>
                <a:spcPts val="400"/>
              </a:spcAft>
            </a:pPr>
            <a:r>
              <a:rPr sz="1250" b="0">
                <a:solidFill>
                  <a:srgbClr val="1F2A3A"/>
                </a:solidFill>
                <a:latin typeface="맑은 고딕"/>
                <a:ea typeface="맑은 고딕"/>
                <a:cs typeface="맑은 고딕"/>
              </a:rPr>
              <a:t>사유와 함께 닫는다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승인과 거절이 처리 결과를 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승인 대기 건에서 역할을 확인하고 승인과 거절이 남기는 결과를 견준다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결정하는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내린 승인 또는 거절 한 건과, 그 결정이 처리 건의 상태를 바꾼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 건을 읽는다</a:t>
            </a:r>
          </a:p>
          <a:p>
            <a:pPr algn="l">
              <a:lnSpc>
                <a:spcPct val="110000"/>
              </a:lnSpc>
              <a:spcAft>
                <a:spcPts val="400"/>
              </a:spcAft>
            </a:pPr>
            <a:r>
              <a:rPr sz="1400" b="0">
                <a:solidFill>
                  <a:srgbClr val="1F2A3A"/>
                </a:solidFill>
                <a:latin typeface="맑은 고딕"/>
                <a:ea typeface="맑은 고딕"/>
                <a:cs typeface="맑은 고딕"/>
              </a:rPr>
              <a:t>올라온 추천안과 그 조치의 승인 역할을 확인한다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결정한다</a:t>
            </a:r>
          </a:p>
          <a:p>
            <a:pPr algn="l">
              <a:lnSpc>
                <a:spcPct val="110000"/>
              </a:lnSpc>
              <a:spcAft>
                <a:spcPts val="400"/>
              </a:spcAft>
            </a:pPr>
            <a:r>
              <a:rPr sz="1400" b="0">
                <a:solidFill>
                  <a:srgbClr val="1F2A3A"/>
                </a:solidFill>
                <a:latin typeface="맑은 고딕"/>
                <a:ea typeface="맑은 고딕"/>
                <a:cs typeface="맑은 고딕"/>
              </a:rPr>
              <a:t>권한이 있는 역할로 승인하거나 사유를 적어 거절한다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견준다</a:t>
            </a:r>
          </a:p>
          <a:p>
            <a:pPr algn="l">
              <a:lnSpc>
                <a:spcPct val="110000"/>
              </a:lnSpc>
              <a:spcAft>
                <a:spcPts val="400"/>
              </a:spcAft>
            </a:pPr>
            <a:r>
              <a:rPr sz="1400" b="0">
                <a:solidFill>
                  <a:srgbClr val="1F2A3A"/>
                </a:solidFill>
                <a:latin typeface="맑은 고딕"/>
                <a:ea typeface="맑은 고딕"/>
                <a:cs typeface="맑은 고딕"/>
              </a:rPr>
              <a:t>• 승인과 거절이 처리 건의 상태를 어떻게 바꾸었는지 처리 기록에서 읽는다</a:t>
            </a:r>
          </a:p>
          <a:p>
            <a:pPr algn="l">
              <a:lnSpc>
                <a:spcPct val="110000"/>
              </a:lnSpc>
              <a:spcAft>
                <a:spcPts val="400"/>
              </a:spcAft>
            </a:pPr>
            <a:r>
              <a:rPr sz="1400" b="0">
                <a:solidFill>
                  <a:srgbClr val="1F2A3A"/>
                </a:solidFill>
                <a:latin typeface="맑은 고딕"/>
                <a:ea typeface="맑은 고딕"/>
                <a:cs typeface="맑은 고딕"/>
              </a:rPr>
              <a:t>• 권한이 없는 역할의 승인이 받아들여지지 않는 것을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5일차에 만든 에이전트가 빠진 정보를 확정하지 않고 확인 질문을 내도록 고친다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빠진 정보를 묻는 확인 질문과, 추가 입력을 받아 다시 판단한 결과와, 그 전후의 상태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부품 수량, 긴급 사유,</a:t>
            </a:r>
          </a:p>
          <a:p>
            <a:pPr algn="ctr">
              <a:lnSpc>
                <a:spcPct val="110000"/>
              </a:lnSpc>
              <a:spcAft>
                <a:spcPts val="400"/>
              </a:spcAft>
            </a:pPr>
            <a:r>
              <a:rPr sz="1350" b="0">
                <a:solidFill>
                  <a:srgbClr val="1F2A3A"/>
                </a:solidFill>
                <a:latin typeface="맑은 고딕"/>
                <a:ea typeface="맑은 고딕"/>
                <a:cs typeface="맑은 고딕"/>
              </a:rPr>
              <a:t>승인권자가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만든다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판단한다</a:t>
            </a:r>
          </a:p>
          <a:p>
            <a:pPr algn="ctr">
              <a:lnSpc>
                <a:spcPct val="110000"/>
              </a:lnSpc>
              <a:spcAft>
                <a:spcPts val="400"/>
              </a:spcAft>
            </a:pPr>
            <a:r>
              <a:rPr sz="1350" b="0">
                <a:solidFill>
                  <a:srgbClr val="1F2A3A"/>
                </a:solidFill>
                <a:latin typeface="맑은 고딕"/>
                <a:ea typeface="맑은 고딕"/>
                <a:cs typeface="맑은 고딕"/>
              </a:rPr>
              <a:t>추가 입력을 받아</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제안과 검토를 나누어 맡는 두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작성 역할의 초안을 검토 역할이 독립적으로 검토하고, 그 결과를 사람의 승인과 구분해 남긴다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나누는 역할과 구분해 남기는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초안, 검토 의견, 수정본이 남고, AI의 검토 결과와 사람의 최종 승인 여부가 서로 다른 항목에 적힌다.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작성 역할</a:t>
            </a:r>
          </a:p>
          <a:p>
            <a:pPr algn="l">
              <a:lnSpc>
                <a:spcPct val="110000"/>
              </a:lnSpc>
              <a:spcAft>
                <a:spcPts val="400"/>
              </a:spcAft>
            </a:pPr>
            <a:r>
              <a:rPr sz="1350" b="0">
                <a:solidFill>
                  <a:srgbClr val="1F2A3A"/>
                </a:solidFill>
                <a:latin typeface="맑은 고딕"/>
                <a:ea typeface="맑은 고딕"/>
                <a:cs typeface="맑은 고딕"/>
              </a:rPr>
              <a:t>업무 요청의 초안을 만든다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초안</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zoom-check" descr="zoom-chec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 역할</a:t>
            </a:r>
          </a:p>
          <a:p>
            <a:pPr algn="l">
              <a:lnSpc>
                <a:spcPct val="110000"/>
              </a:lnSpc>
              <a:spcAft>
                <a:spcPts val="400"/>
              </a:spcAft>
            </a:pPr>
            <a:r>
              <a:rPr sz="1350" b="0">
                <a:solidFill>
                  <a:srgbClr val="1F2A3A"/>
                </a:solidFill>
                <a:latin typeface="맑은 고딕"/>
                <a:ea typeface="맑은 고딕"/>
                <a:cs typeface="맑은 고딕"/>
              </a:rPr>
              <a:t>근거, 수량, 승인 정보가 빠졌는지를 작성 역할과 따로 검토한다</a:t>
            </a:r>
          </a:p>
        </p:txBody>
      </p:sp>
      <p:sp>
        <p:nvSpPr>
          <p:cNvPr id="16" name="Rounded Rectangle 15"/>
          <p:cNvSpPr/>
          <p:nvPr/>
        </p:nvSpPr>
        <p:spPr>
          <a:xfrm>
            <a:off x="3619423" y="5029771"/>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 의견</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replace" descr="replace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수정</a:t>
            </a:r>
          </a:p>
          <a:p>
            <a:pPr algn="l">
              <a:lnSpc>
                <a:spcPct val="110000"/>
              </a:lnSpc>
              <a:spcAft>
                <a:spcPts val="400"/>
              </a:spcAft>
            </a:pPr>
            <a:r>
              <a:rPr sz="1350" b="0">
                <a:solidFill>
                  <a:srgbClr val="1F2A3A"/>
                </a:solidFill>
                <a:latin typeface="맑은 고딕"/>
                <a:ea typeface="맑은 고딕"/>
                <a:cs typeface="맑은 고딕"/>
              </a:rPr>
              <a:t>검토 의견에 따라 초안을 고친다</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수정본</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user-check" descr="user-chec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항목의 구분</a:t>
            </a:r>
          </a:p>
          <a:p>
            <a:pPr algn="l">
              <a:lnSpc>
                <a:spcPct val="110000"/>
              </a:lnSpc>
              <a:spcAft>
                <a:spcPts val="400"/>
              </a:spcAft>
            </a:pPr>
            <a:r>
              <a:rPr sz="1350" b="0">
                <a:solidFill>
                  <a:srgbClr val="1F2A3A"/>
                </a:solidFill>
                <a:latin typeface="맑은 고딕"/>
                <a:ea typeface="맑은 고딕"/>
                <a:cs typeface="맑은 고딕"/>
              </a:rPr>
              <a:t>AI 사이의 검토 결과와 사람의 최종 승인 여부를 서로 다른 항목에 남긴다</a:t>
            </a:r>
          </a:p>
        </p:txBody>
      </p:sp>
      <p:sp>
        <p:nvSpPr>
          <p:cNvPr id="28" name="Rounded Rectangle 27"/>
          <p:cNvSpPr/>
          <p:nvPr/>
        </p:nvSpPr>
        <p:spPr>
          <a:xfrm>
            <a:off x="9303791" y="5029771"/>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검토와 승인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명세 주도 개발:</a:t>
            </a:r>
          </a:p>
          <a:p>
            <a:pPr algn="l">
              <a:lnSpc>
                <a:spcPct val="110000"/>
              </a:lnSpc>
            </a:pPr>
            <a:r>
              <a:rPr sz="3400" b="1">
                <a:solidFill>
                  <a:srgbClr val="13294B"/>
                </a:solidFill>
                <a:latin typeface="맑은 고딕"/>
                <a:ea typeface="맑은 고딕"/>
                <a:cs typeface="맑은 고딕"/>
              </a:rPr>
              <a:t>요구사항 변경과 기존 기능의 보존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에이전트를 고칠 때 달라지는 것과 지킬 것을 구현 전에 정하는 방법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명세 없이 자연어 요청만으로 AI에게 구현을 맡기는 방식이어서, 요청에 없는 부분은 AI가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바이브 코딩</a:t>
            </a:r>
          </a:p>
          <a:p>
            <a:pPr algn="l">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상세한 명세 없이 자연어로 요청하고, AI가 쓴 코드를 실행해 보며 고쳐 가는 개발 방식이다.</a:t>
            </a:r>
          </a:p>
          <a:p>
            <a:pPr algn="l">
              <a:lnSpc>
                <a:spcPct val="110000"/>
              </a:lnSpc>
              <a:spcAft>
                <a:spcPts val="300"/>
              </a:spcAft>
            </a:pPr>
            <a:r>
              <a:rPr sz="1400" b="0">
                <a:solidFill>
                  <a:srgbClr val="1F2A3A"/>
                </a:solidFill>
                <a:latin typeface="맑은 고딕"/>
                <a:ea typeface="맑은 고딕"/>
                <a:cs typeface="맑은 고딕"/>
              </a:rPr>
              <a:t>시작이 빨라 시제품이나 작은 도구를 만드는 데 알맞다.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요청에 없는 부분</a:t>
            </a:r>
          </a:p>
          <a:p>
            <a:pPr algn="l">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출력의 형식, 예외의 처리, 기존 기능의 보존처럼 요청에 적지 않은 것은 AI가 그 자리에서 정한다.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세해석.svg" descr="illust_2500243048225393885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긴급한 경보 한 건을 넣는다</a:t>
            </a:r>
          </a:p>
          <a:p>
            <a:pPr algn="l">
              <a:lnSpc>
                <a:spcPct val="110000"/>
              </a:lnSpc>
              <a:spcAft>
                <a:spcPts val="600"/>
              </a:spcAft>
            </a:pPr>
            <a:r>
              <a:rPr sz="1450" b="0">
                <a:solidFill>
                  <a:srgbClr val="1F2A3A"/>
                </a:solidFill>
                <a:latin typeface="맑은 고딕"/>
                <a:ea typeface="맑은 고딕"/>
                <a:cs typeface="맑은 고딕"/>
              </a:rPr>
              <a:t>• 추천안이 나오고 긴급하다는 표시도 보인다</a:t>
            </a:r>
          </a:p>
          <a:p>
            <a:pPr algn="l">
              <a:lnSpc>
                <a:spcPct val="110000"/>
              </a:lnSpc>
              <a:spcAft>
                <a:spcPts val="600"/>
              </a:spcAft>
            </a:pPr>
            <a:r>
              <a:rPr sz="145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긴급하지 않은 경보의 결과 항목이 이전과 같은가</a:t>
            </a:r>
          </a:p>
          <a:p>
            <a:pPr algn="l">
              <a:lnSpc>
                <a:spcPct val="110000"/>
              </a:lnSpc>
              <a:spcAft>
                <a:spcPts val="600"/>
              </a:spcAft>
            </a:pPr>
            <a:r>
              <a:rPr sz="1450" b="0">
                <a:solidFill>
                  <a:srgbClr val="1F2A3A"/>
                </a:solidFill>
                <a:latin typeface="맑은 고딕"/>
                <a:ea typeface="맑은 고딕"/>
                <a:cs typeface="맑은 고딕"/>
              </a:rPr>
              <a:t>• 추천안이 여전히 승인을 기다리는가</a:t>
            </a:r>
          </a:p>
          <a:p>
            <a:pPr algn="l">
              <a:lnSpc>
                <a:spcPct val="110000"/>
              </a:lnSpc>
              <a:spcAft>
                <a:spcPts val="600"/>
              </a:spcAft>
            </a:pPr>
            <a:r>
              <a:rPr sz="145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항목의 이름이 바뀌었을 때 뒤 단계에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결과 항목은 형식 검사와 승인 화면과 뒤 단계가 이름으로 읽어, 이름 하나의 변경이 그 뒤의 단계를 함께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결과 객체</a:t>
            </a:r>
          </a:p>
          <a:p>
            <a:pPr algn="ctr">
              <a:lnSpc>
                <a:spcPct val="110000"/>
              </a:lnSpc>
              <a:spcAft>
                <a:spcPts val="400"/>
              </a:spcAft>
            </a:pPr>
            <a:r>
              <a:rPr sz="1300" b="0">
                <a:solidFill>
                  <a:srgbClr val="1F2A3A"/>
                </a:solidFill>
                <a:latin typeface="맑은 고딕"/>
                <a:ea typeface="맑은 고딕"/>
                <a:cs typeface="맑은 고딕"/>
              </a:rPr>
              <a:t>에이전트가 낸</a:t>
            </a:r>
          </a:p>
          <a:p>
            <a:pPr algn="ctr">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형식 검사</a:t>
            </a:r>
          </a:p>
          <a:p>
            <a:pPr algn="ctr">
              <a:lnSpc>
                <a:spcPct val="110000"/>
              </a:lnSpc>
              <a:spcAft>
                <a:spcPts val="400"/>
              </a:spcAft>
            </a:pPr>
            <a:r>
              <a:rPr sz="1300" b="0">
                <a:solidFill>
                  <a:srgbClr val="1F2A3A"/>
                </a:solidFill>
                <a:latin typeface="맑은 고딕"/>
                <a:ea typeface="맑은 고딕"/>
                <a:cs typeface="맑은 고딕"/>
              </a:rPr>
              <a:t>정해진 이름의 항목이</a:t>
            </a:r>
          </a:p>
          <a:p>
            <a:pPr algn="ctr">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7" name="아이콘:device-desktop" descr="device-desktop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승인 화면</a:t>
            </a:r>
          </a:p>
          <a:p>
            <a:pPr algn="ctr">
              <a:lnSpc>
                <a:spcPct val="110000"/>
              </a:lnSpc>
              <a:spcAft>
                <a:spcPts val="400"/>
              </a:spcAft>
            </a:pPr>
            <a:r>
              <a:rPr sz="1300" b="0">
                <a:solidFill>
                  <a:srgbClr val="1F2A3A"/>
                </a:solidFill>
                <a:latin typeface="맑은 고딕"/>
                <a:ea typeface="맑은 고딕"/>
                <a:cs typeface="맑은 고딕"/>
              </a:rPr>
              <a:t>추천 항목을 이름으로</a:t>
            </a:r>
          </a:p>
          <a:p>
            <a:pPr algn="ctr">
              <a:lnSpc>
                <a:spcPct val="110000"/>
              </a:lnSpc>
              <a:spcAft>
                <a:spcPts val="400"/>
              </a:spcAft>
            </a:pPr>
            <a:r>
              <a:rPr sz="1300" b="0">
                <a:solidFill>
                  <a:srgbClr val="1F2A3A"/>
                </a:solidFill>
                <a:latin typeface="맑은 고딕"/>
                <a:ea typeface="맑은 고딕"/>
                <a:cs typeface="맑은 고딕"/>
              </a:rPr>
              <a:t>찾아 담당자에게 보인다</a:t>
            </a:r>
          </a:p>
        </p:txBody>
      </p:sp>
      <p:sp>
        <p:nvSpPr>
          <p:cNvPr id="19" name="Oval 18"/>
          <p:cNvSpPr/>
          <p:nvPr/>
        </p:nvSpPr>
        <p:spPr>
          <a:xfrm>
            <a:off x="9661893"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settings-automation" descr="settings-automation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뒤 단계</a:t>
            </a:r>
          </a:p>
          <a:p>
            <a:pPr algn="ctr">
              <a:lnSpc>
                <a:spcPct val="110000"/>
              </a:lnSpc>
              <a:spcAft>
                <a:spcPts val="400"/>
              </a:spcAft>
            </a:pPr>
            <a:r>
              <a:rPr sz="1300" b="0">
                <a:solidFill>
                  <a:srgbClr val="1F2A3A"/>
                </a:solidFill>
                <a:latin typeface="맑은 고딕"/>
                <a:ea typeface="맑은 고딕"/>
                <a:cs typeface="맑은 고딕"/>
              </a:rPr>
              <a:t>판단 번호 항목으로</a:t>
            </a:r>
          </a:p>
          <a:p>
            <a:pPr algn="ctr">
              <a:lnSpc>
                <a:spcPct val="110000"/>
              </a:lnSpc>
              <a:spcAft>
                <a:spcPts val="400"/>
              </a:spcAft>
            </a:pPr>
            <a:r>
              <a:rPr sz="1300" b="0">
                <a:solidFill>
                  <a:srgbClr val="1F2A3A"/>
                </a:solidFill>
                <a:latin typeface="맑은 고딕"/>
                <a:ea typeface="맑은 고딕"/>
                <a:cs typeface="맑은 고딕"/>
              </a:rPr>
              <a:t>그 판단을 가리킨다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요청에서 곧바로 코드로 가고, SDD는 요청을 명세로 옮긴 다음에 코드로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바이브 코딩</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 한 문장을 그대로 AI에게 준다</a:t>
            </a:r>
          </a:p>
          <a:p>
            <a:pPr algn="l">
              <a:lnSpc>
                <a:spcPct val="110000"/>
              </a:lnSpc>
              <a:spcAft>
                <a:spcPts val="600"/>
              </a:spcAft>
            </a:pPr>
            <a:r>
              <a:rPr sz="1450" b="0">
                <a:solidFill>
                  <a:srgbClr val="1F2A3A"/>
                </a:solidFill>
                <a:latin typeface="맑은 고딕"/>
                <a:ea typeface="맑은 고딕"/>
                <a:cs typeface="맑은 고딕"/>
              </a:rPr>
              <a:t>• 해석은 AI가 그때그때 정한다</a:t>
            </a:r>
          </a:p>
          <a:p>
            <a:pPr algn="l">
              <a:lnSpc>
                <a:spcPct val="110000"/>
              </a:lnSpc>
              <a:spcAft>
                <a:spcPts val="600"/>
              </a:spcAft>
            </a:pPr>
            <a:r>
              <a:rPr sz="1450" b="0">
                <a:solidFill>
                  <a:srgbClr val="1F2A3A"/>
                </a:solidFill>
                <a:latin typeface="맑은 고딕"/>
                <a:ea typeface="맑은 고딕"/>
                <a:cs typeface="맑은 고딕"/>
              </a:rPr>
              <a:t>• 실행해 보고 마음에 들지 않으면 다시 요청한다</a:t>
            </a:r>
          </a:p>
          <a:p>
            <a:pPr algn="l">
              <a:lnSpc>
                <a:spcPct val="110000"/>
              </a:lnSpc>
              <a:spcAft>
                <a:spcPts val="600"/>
              </a:spcAft>
            </a:pPr>
            <a:r>
              <a:rPr sz="1450" b="0">
                <a:solidFill>
                  <a:srgbClr val="1F2A3A"/>
                </a:solidFill>
                <a:latin typeface="맑은 고딕"/>
                <a:ea typeface="맑은 고딕"/>
                <a:cs typeface="맑은 고딕"/>
              </a:rPr>
              <a:t>• 무엇이 그대로여야 하는지는 어디에도 남지 않는다</a:t>
            </a:r>
          </a:p>
        </p:txBody>
      </p:sp>
      <p:sp>
        <p:nvSpPr>
          <p:cNvPr id="11" name="Rounded Rectangle 10"/>
          <p:cNvSpPr/>
          <p:nvPr/>
        </p:nvSpPr>
        <p:spPr>
          <a:xfrm>
            <a:off x="868680" y="5096002"/>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요청을 받으면 명세부터 고친다</a:t>
            </a:r>
          </a:p>
          <a:p>
            <a:pPr algn="l">
              <a:lnSpc>
                <a:spcPct val="110000"/>
              </a:lnSpc>
              <a:spcAft>
                <a:spcPts val="600"/>
              </a:spcAft>
            </a:pPr>
            <a:r>
              <a:rPr sz="1450" b="0">
                <a:solidFill>
                  <a:srgbClr val="1F2A3A"/>
                </a:solidFill>
                <a:latin typeface="맑은 고딕"/>
                <a:ea typeface="맑은 고딕"/>
                <a:cs typeface="맑은 고딕"/>
              </a:rPr>
              <a:t>• 해석은 사람이 명세에서 정한다</a:t>
            </a:r>
          </a:p>
          <a:p>
            <a:pPr algn="l">
              <a:lnSpc>
                <a:spcPct val="110000"/>
              </a:lnSpc>
              <a:spcAft>
                <a:spcPts val="600"/>
              </a:spcAft>
            </a:pPr>
            <a:r>
              <a:rPr sz="1450" b="0">
                <a:solidFill>
                  <a:srgbClr val="1F2A3A"/>
                </a:solidFill>
                <a:latin typeface="맑은 고딕"/>
                <a:ea typeface="맑은 고딕"/>
                <a:cs typeface="맑은 고딕"/>
              </a:rPr>
              <a:t>• AI는 명세를 기준으로 구현한다</a:t>
            </a:r>
          </a:p>
          <a:p>
            <a:pPr algn="l">
              <a:lnSpc>
                <a:spcPct val="110000"/>
              </a:lnSpc>
              <a:spcAft>
                <a:spcPts val="600"/>
              </a:spcAft>
            </a:pPr>
            <a:r>
              <a:rPr sz="145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096002"/>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명세문서.svg" descr="illust_793723421874074586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계약.svg" descr="illust_8476348906330877340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a:t>
            </a:r>
          </a:p>
          <a:p>
            <a:pPr algn="ctr">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화면과 뒤 단계</a:t>
            </a:r>
          </a:p>
          <a:p>
            <a:pPr algn="ctr">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계약 Contract</a:t>
            </a:r>
          </a:p>
          <a:p>
            <a:pPr algn="ctr">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경보에서 에이전트가 받는 입력은 설비, 경보, 사건 번호의 세 항목으로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"alert": {</a:t>
            </a:r>
          </a:p>
          <a:p>
            <a:pPr algn="l">
              <a:lnSpc>
                <a:spcPct val="110000"/>
              </a:lnSpc>
              <a:spcAft>
                <a:spcPts val="200"/>
              </a:spcAft>
            </a:pPr>
            <a:r>
              <a:rPr sz="1300" b="0">
                <a:solidFill>
                  <a:srgbClr val="E8EEF6"/>
                </a:solidFill>
                <a:latin typeface="Consolas"/>
                <a:ea typeface="맑은 고딕"/>
                <a:cs typeface="맑은 고딕"/>
              </a:rPr>
              <a:t>    "alertId": "ALT-hyd01-0025-b8ed",</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"incident": "INC-1010-07-0f3d"</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a:t>
            </a:r>
          </a:p>
          <a:p>
            <a:pPr algn="l">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a:t>
            </a:r>
          </a:p>
          <a:p>
            <a:pPr algn="l">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incident</a:t>
            </a:r>
          </a:p>
          <a:p>
            <a:pPr algn="l">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정해진 세 항목</a:t>
            </a:r>
          </a:p>
          <a:p>
            <a:pPr algn="l">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출력 계약에 적힌 이름, 형식, 뜻은 새 항목을 더하는 변경과 기존 항목을 바꾸는 변경을 가르는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cause · failure_mode</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그래프의 식별자</a:t>
            </a:r>
          </a:p>
          <a:p>
            <a:pPr algn="l">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진단한 원인과 고장 유형</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decision.recommended</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방법의 식별자</a:t>
            </a:r>
          </a:p>
          <a:p>
            <a:pPr algn="l">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후보 가운데 1순위로 추천하는 조치</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decision.explanation</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한국어 두세 문장</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추천하는 안, 뒤진 안의 이유</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decision_id</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제출하고 돌려받은 번호</a:t>
            </a:r>
          </a:p>
          <a:p>
            <a:pPr algn="l">
              <a:lnSpc>
                <a:spcPct val="110000"/>
              </a:lnSpc>
            </a:pPr>
            <a:r>
              <a:rPr sz="1400" b="0">
                <a:solidFill>
                  <a:srgbClr val="1F2A3A"/>
                </a:solidFill>
                <a:latin typeface="맑은 고딕"/>
                <a:ea typeface="맑은 고딕"/>
                <a:cs typeface="맑은 고딕"/>
              </a:rPr>
              <a:t>DEC-1010-002-408b</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「절대 금지」 절은 에이전트가 하지 않을 일을 업무의 절차와 따로 적어 둔 금지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첫째 줄</a:t>
            </a:r>
          </a:p>
          <a:p>
            <a:pPr algn="l">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둘째 줄</a:t>
            </a:r>
          </a:p>
          <a:p>
            <a:pPr algn="l">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셋째 줄</a:t>
            </a:r>
          </a:p>
          <a:p>
            <a:pPr algn="l">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「거절이 잘 처리된다」</a:t>
            </a:r>
          </a:p>
          <a:p>
            <a:pPr algn="l">
              <a:lnSpc>
                <a:spcPct val="110000"/>
              </a:lnSpc>
              <a:spcAft>
                <a:spcPts val="600"/>
              </a:spcAft>
            </a:pPr>
            <a:r>
              <a:rPr sz="1450" b="0">
                <a:solidFill>
                  <a:srgbClr val="1F2A3A"/>
                </a:solidFill>
                <a:latin typeface="맑은 고딕"/>
                <a:ea typeface="맑은 고딕"/>
                <a:cs typeface="맑은 고딕"/>
              </a:rPr>
              <a:t>• 「긴급한 경보가 빨리 처리된다」</a:t>
            </a:r>
          </a:p>
          <a:p>
            <a:pPr algn="l">
              <a:lnSpc>
                <a:spcPct val="110000"/>
              </a:lnSpc>
              <a:spcAft>
                <a:spcPts val="600"/>
              </a:spcAft>
            </a:pPr>
            <a:r>
              <a:rPr sz="145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「거절하면 설비 명령이 0건이다」</a:t>
            </a:r>
          </a:p>
          <a:p>
            <a:pPr algn="l">
              <a:lnSpc>
                <a:spcPct val="110000"/>
              </a:lnSpc>
              <a:spcAft>
                <a:spcPts val="600"/>
              </a:spcAft>
            </a:pPr>
            <a:r>
              <a:rPr sz="1450" b="0">
                <a:solidFill>
                  <a:srgbClr val="1F2A3A"/>
                </a:solidFill>
                <a:latin typeface="맑은 고딕"/>
                <a:ea typeface="맑은 고딕"/>
                <a:cs typeface="맑은 고딕"/>
              </a:rPr>
              <a:t>• 「긴급한 경보의 추천안도 승인 대기 상태가 된다」</a:t>
            </a:r>
          </a:p>
          <a:p>
            <a:pPr algn="l">
              <a:lnSpc>
                <a:spcPct val="110000"/>
              </a:lnSpc>
              <a:spcAft>
                <a:spcPts val="600"/>
              </a:spcAft>
            </a:pPr>
            <a:r>
              <a:rPr sz="1450" b="0">
                <a:solidFill>
                  <a:srgbClr val="1F2A3A"/>
                </a:solidFill>
                <a:latin typeface="맑은 고딕"/>
                <a:ea typeface="맑은 고딕"/>
                <a:cs typeface="맑은 고딕"/>
              </a:rPr>
              <a:t>• 누가 실행해도 같은 판정이 나온다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단계의 동작은 상황마다 기대 결과를 적은 수용 기준이 되어 검사로 확인된다.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권한 있는 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명령과 업무 처리가 0건이고 처리 건은 거절로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누락</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무응답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달라지는 것과</a:t>
            </a:r>
          </a:p>
          <a:p>
            <a:pPr algn="ctr">
              <a:lnSpc>
                <a:spcPct val="110000"/>
              </a:lnSpc>
              <a:spcAft>
                <a:spcPts val="400"/>
              </a:spcAft>
            </a:pPr>
            <a:r>
              <a:rPr sz="13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구현을 맡긴다</a:t>
            </a:r>
          </a:p>
          <a:p>
            <a:pPr algn="ctr">
              <a:lnSpc>
                <a:spcPct val="110000"/>
              </a:lnSpc>
              <a:spcAft>
                <a:spcPts val="400"/>
              </a:spcAft>
            </a:pPr>
            <a:r>
              <a:rPr sz="1350" b="0">
                <a:solidFill>
                  <a:srgbClr val="1F2A3A"/>
                </a:solidFill>
                <a:latin typeface="맑은 고딕"/>
                <a:ea typeface="맑은 고딕"/>
                <a:cs typeface="맑은 고딕"/>
              </a:rPr>
              <a:t>명세를 함께 주고</a:t>
            </a:r>
          </a:p>
          <a:p>
            <a:pPr algn="ctr">
              <a:lnSpc>
                <a:spcPct val="110000"/>
              </a:lnSpc>
              <a:spcAft>
                <a:spcPts val="400"/>
              </a:spcAft>
            </a:pPr>
            <a:r>
              <a:rPr sz="13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수용 기준으로 확인한다</a:t>
            </a:r>
          </a:p>
          <a:p>
            <a:pPr algn="ctr">
              <a:lnSpc>
                <a:spcPct val="110000"/>
              </a:lnSpc>
              <a:spcAft>
                <a:spcPts val="400"/>
              </a:spcAft>
            </a:pPr>
            <a:r>
              <a:rPr sz="1350" b="0">
                <a:solidFill>
                  <a:srgbClr val="1F2A3A"/>
                </a:solidFill>
                <a:latin typeface="맑은 고딕"/>
                <a:ea typeface="맑은 고딕"/>
                <a:cs typeface="맑은 고딕"/>
              </a:rPr>
              <a:t>기준마다 실행해</a:t>
            </a:r>
          </a:p>
          <a:p>
            <a:pPr algn="ctr">
              <a:lnSpc>
                <a:spcPct val="110000"/>
              </a:lnSpc>
              <a:spcAft>
                <a:spcPts val="400"/>
              </a:spcAft>
            </a:pPr>
            <a:r>
              <a:rPr sz="13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어긋난 곳을 고친다</a:t>
            </a:r>
          </a:p>
          <a:p>
            <a:pPr algn="ctr">
              <a:lnSpc>
                <a:spcPct val="110000"/>
              </a:lnSpc>
              <a:spcAft>
                <a:spcPts val="400"/>
              </a:spcAft>
            </a:pPr>
            <a:r>
              <a:rPr sz="1350" b="0">
                <a:solidFill>
                  <a:srgbClr val="1F2A3A"/>
                </a:solidFill>
                <a:latin typeface="맑은 고딕"/>
                <a:ea typeface="맑은 고딕"/>
                <a:cs typeface="맑은 고딕"/>
              </a:rPr>
              <a:t>구현이 틀렸으면 구현을,</a:t>
            </a:r>
          </a:p>
          <a:p>
            <a:pPr algn="ctr">
              <a:lnSpc>
                <a:spcPct val="110000"/>
              </a:lnSpc>
              <a:spcAft>
                <a:spcPts val="400"/>
              </a:spcAft>
            </a:pPr>
            <a:r>
              <a:rPr sz="1350" b="0">
                <a:solidFill>
                  <a:srgbClr val="1F2A3A"/>
                </a:solidFill>
                <a:latin typeface="맑은 고딕"/>
                <a:ea typeface="맑은 고딕"/>
                <a:cs typeface="맑은 고딕"/>
              </a:rPr>
              <a:t>명세에 빠진 것이 있으면</a:t>
            </a:r>
          </a:p>
          <a:p>
            <a:pPr algn="ctr">
              <a:lnSpc>
                <a:spcPct val="110000"/>
              </a:lnSpc>
              <a:spcAft>
                <a:spcPts val="400"/>
              </a:spcAft>
            </a:pPr>
            <a:r>
              <a:rPr sz="1350" b="0">
                <a:solidFill>
                  <a:srgbClr val="1F2A3A"/>
                </a:solidFill>
                <a:latin typeface="맑은 고딕"/>
                <a:ea typeface="맑은 고딕"/>
                <a:cs typeface="맑은 고딕"/>
              </a:rPr>
              <a:t>명세를 고친다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명세를 검사로 옮긴 두 가지 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 적은 기대 결과와 금지 조건은 실행되는 검사로 옮겨 두어야 변경할 때마다 대조된다.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amera" descr="camera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기대 결과의 저장</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경보에 대한 추천안의 기대 결과를 저장해 둔다</a:t>
            </a:r>
          </a:p>
          <a:p>
            <a:pPr algn="l">
              <a:lnSpc>
                <a:spcPct val="110000"/>
              </a:lnSpc>
              <a:spcAft>
                <a:spcPts val="600"/>
              </a:spcAft>
            </a:pPr>
            <a:r>
              <a:rPr sz="1450" b="0">
                <a:solidFill>
                  <a:srgbClr val="1F2A3A"/>
                </a:solidFill>
                <a:latin typeface="맑은 고딕"/>
                <a:ea typeface="맑은 고딕"/>
                <a:cs typeface="맑은 고딕"/>
              </a:rPr>
              <a:t>• 변경 뒤의 결과를 저장한 것과 견준다</a:t>
            </a:r>
          </a:p>
          <a:p>
            <a:pPr algn="l">
              <a:lnSpc>
                <a:spcPct val="110000"/>
              </a:lnSpc>
              <a:spcAft>
                <a:spcPts val="600"/>
              </a:spcAft>
            </a:pPr>
            <a:r>
              <a:rPr sz="1450" b="0">
                <a:solidFill>
                  <a:srgbClr val="1F2A3A"/>
                </a:solidFill>
                <a:latin typeface="맑은 고딕"/>
                <a:ea typeface="맑은 고딕"/>
                <a:cs typeface="맑은 고딕"/>
              </a:rPr>
              <a:t>• 결과를 일부러 바꿀 때에만 근거와 함께 갱신한다</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출력의 보존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조건의 고정</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기준 에이전트의 작업 규칙을 고정해 둔다</a:t>
            </a:r>
          </a:p>
          <a:p>
            <a:pPr algn="l">
              <a:lnSpc>
                <a:spcPct val="110000"/>
              </a:lnSpc>
              <a:spcAft>
                <a:spcPts val="600"/>
              </a:spcAft>
            </a:pPr>
            <a:r>
              <a:rPr sz="1450" b="0">
                <a:solidFill>
                  <a:srgbClr val="1F2A3A"/>
                </a:solidFill>
                <a:latin typeface="맑은 고딕"/>
                <a:ea typeface="맑은 고딕"/>
                <a:cs typeface="맑은 고딕"/>
              </a:rPr>
              <a:t>• 한 글자라도 달라지면 검사가 실패한다</a:t>
            </a:r>
          </a:p>
          <a:p>
            <a:pPr algn="l">
              <a:lnSpc>
                <a:spcPct val="110000"/>
              </a:lnSpc>
              <a:spcAft>
                <a:spcPts val="600"/>
              </a:spcAft>
            </a:pPr>
            <a:r>
              <a:rPr sz="1450" b="0">
                <a:solidFill>
                  <a:srgbClr val="1F2A3A"/>
                </a:solidFill>
                <a:latin typeface="맑은 고딕"/>
                <a:ea typeface="맑은 고딕"/>
                <a:cs typeface="맑은 고딕"/>
              </a:rPr>
              <a:t>• 「절대 금지」가 변경 도중에 빠지는 일을 막는다</a:t>
            </a:r>
          </a:p>
        </p:txBody>
      </p:sp>
      <p:sp>
        <p:nvSpPr>
          <p:cNvPr id="18" name="Rounded Rectangle 17"/>
          <p:cNvSpPr/>
          <p:nvPr/>
        </p:nvSpPr>
        <p:spPr>
          <a:xfrm>
            <a:off x="6781647" y="5096002"/>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금지 조건의 보존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변경 뒤에는 기존 요청과 새 요청을 함께 다시 실행하고, 그 입력과 기대 결과를 저장해 다음 검증에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기존 요청</a:t>
            </a:r>
          </a:p>
          <a:p>
            <a:pPr algn="l">
              <a:lnSpc>
                <a:spcPct val="110000"/>
              </a:lnSpc>
              <a:spcAft>
                <a:spcPts val="400"/>
              </a:spcAft>
            </a:pPr>
            <a:r>
              <a:rPr sz="1400" b="0">
                <a:solidFill>
                  <a:srgbClr val="1F2A3A"/>
                </a:solidFill>
                <a:latin typeface="맑은 고딕"/>
                <a:ea typeface="맑은 고딕"/>
                <a:cs typeface="맑은 고딕"/>
              </a:rPr>
              <a:t>• 입력: 긴급하지 않은 경보</a:t>
            </a:r>
          </a:p>
          <a:p>
            <a:pPr algn="l">
              <a:lnSpc>
                <a:spcPct val="110000"/>
              </a:lnSpc>
              <a:spcAft>
                <a:spcPts val="400"/>
              </a:spcAft>
            </a:pPr>
            <a:r>
              <a:rPr sz="1400" b="0">
                <a:solidFill>
                  <a:srgbClr val="1F2A3A"/>
                </a:solidFill>
                <a:latin typeface="맑은 고딕"/>
                <a:ea typeface="맑은 고딕"/>
                <a:cs typeface="맑은 고딕"/>
              </a:rPr>
              <a:t>• 기대: 다섯 항목이 변경 전과 같고 승인 대기가 된다</a:t>
            </a:r>
          </a:p>
        </p:txBody>
      </p:sp>
      <p:sp>
        <p:nvSpPr>
          <p:cNvPr id="10" name="Rounded Rectangle 9"/>
          <p:cNvSpPr/>
          <p:nvPr/>
        </p:nvSpPr>
        <p:spPr>
          <a:xfrm>
            <a:off x="777240" y="5041392"/>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새 요청</a:t>
            </a:r>
          </a:p>
          <a:p>
            <a:pPr algn="l">
              <a:lnSpc>
                <a:spcPct val="110000"/>
              </a:lnSpc>
              <a:spcAft>
                <a:spcPts val="400"/>
              </a:spcAft>
            </a:pPr>
            <a:r>
              <a:rPr sz="1400" b="0">
                <a:solidFill>
                  <a:srgbClr val="1F2A3A"/>
                </a:solidFill>
                <a:latin typeface="맑은 고딕"/>
                <a:ea typeface="맑은 고딕"/>
                <a:cs typeface="맑은 고딕"/>
              </a:rPr>
              <a:t>• 입력: 유온 60 ℃ 이상의 경보</a:t>
            </a:r>
          </a:p>
          <a:p>
            <a:pPr algn="l">
              <a:lnSpc>
                <a:spcPct val="110000"/>
              </a:lnSpc>
              <a:spcAft>
                <a:spcPts val="400"/>
              </a:spcAft>
            </a:pPr>
            <a:r>
              <a:rPr sz="1400" b="0">
                <a:solidFill>
                  <a:srgbClr val="1F2A3A"/>
                </a:solidFill>
                <a:latin typeface="맑은 고딕"/>
                <a:ea typeface="맑은 고딕"/>
                <a:cs typeface="맑은 고딕"/>
              </a:rPr>
              <a:t>• 기대: urgent 항목이 더해지고 승인 대기가 된다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지켜야 할 경우</a:t>
            </a:r>
          </a:p>
          <a:p>
            <a:pPr algn="l">
              <a:lnSpc>
                <a:spcPct val="110000"/>
              </a:lnSpc>
              <a:spcAft>
                <a:spcPts val="400"/>
              </a:spcAft>
            </a:pPr>
            <a:r>
              <a:rPr sz="1400" b="0">
                <a:solidFill>
                  <a:srgbClr val="1F2A3A"/>
                </a:solidFill>
                <a:latin typeface="맑은 고딕"/>
                <a:ea typeface="맑은 고딕"/>
                <a:cs typeface="맑은 고딕"/>
              </a:rPr>
              <a:t>• 입력: 필수 값을 읽지 못한 경보</a:t>
            </a:r>
          </a:p>
          <a:p>
            <a:pPr algn="l">
              <a:lnSpc>
                <a:spcPct val="110000"/>
              </a:lnSpc>
              <a:spcAft>
                <a:spcPts val="400"/>
              </a:spcAft>
            </a:pPr>
            <a:r>
              <a:rPr sz="14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041392"/>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대한 흔한 혼동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명세를 긴 문서나 구현한 뒤에 남기는 기록으로 이해하면 명세가 필요한 자리를 놓친다.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흔한 생각</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확인한 장면</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명세는 길고 무거운 문서이다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해석이 갈리는 자리를 한 줄씩 정한 것이면 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열세 줄의 명세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모호하게 고치면 반드시 고장 난다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고장이 나지 않을 수도 있다</a:t>
            </a:r>
          </a:p>
          <a:p>
            <a:pPr algn="l">
              <a:lnSpc>
                <a:spcPct val="110000"/>
              </a:lnSpc>
            </a:pPr>
            <a:r>
              <a:rPr sz="1400" b="0">
                <a:solidFill>
                  <a:srgbClr val="1F2A3A"/>
                </a:solidFill>
                <a:latin typeface="맑은 고딕"/>
                <a:ea typeface="맑은 고딕"/>
                <a:cs typeface="맑은 고딕"/>
              </a:rPr>
              <a:t>달라졌는지를 가릴 기준이 없는 것이 문제이다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새 기능만의 확인</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기준은 구현한 뒤에 쓴다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구현 전에 적어야 구현과 확인의 기준이 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수용 기준의 쓰임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한 문장의 요청에서 확인할 수 있는 변경까지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모호한 요청이 흔들 수 있는 자리를 명세로 정해 두면, 요구가 바뀌어도 기존 기능이 지켜졌는지를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변경 요청</a:t>
            </a:r>
          </a:p>
          <a:p>
            <a:pPr algn="ctr">
              <a:lnSpc>
                <a:spcPct val="110000"/>
              </a:lnSpc>
              <a:spcAft>
                <a:spcPts val="400"/>
              </a:spcAft>
            </a:pPr>
            <a:r>
              <a:rPr sz="1250" b="0">
                <a:solidFill>
                  <a:srgbClr val="1F2A3A"/>
                </a:solidFill>
                <a:latin typeface="맑은 고딕"/>
                <a:ea typeface="맑은 고딕"/>
                <a:cs typeface="맑은 고딕"/>
              </a:rPr>
              <a:t>한 문장에는</a:t>
            </a:r>
          </a:p>
          <a:p>
            <a:pPr algn="ctr">
              <a:lnSpc>
                <a:spcPct val="110000"/>
              </a:lnSpc>
              <a:spcAft>
                <a:spcPts val="400"/>
              </a:spcAft>
            </a:pPr>
            <a:r>
              <a:rPr sz="1250" b="0">
                <a:solidFill>
                  <a:srgbClr val="1F2A3A"/>
                </a:solidFill>
                <a:latin typeface="맑은 고딕"/>
                <a:ea typeface="맑은 고딕"/>
                <a:cs typeface="맑은 고딕"/>
              </a:rPr>
              <a:t>지킬 것이 없다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809303"/>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a:t>
            </a:r>
          </a:p>
          <a:p>
            <a:pPr algn="ctr">
              <a:lnSpc>
                <a:spcPct val="110000"/>
              </a:lnSpc>
              <a:spcAft>
                <a:spcPts val="400"/>
              </a:spcAft>
            </a:pPr>
            <a:r>
              <a:rPr sz="1250" b="0">
                <a:solidFill>
                  <a:srgbClr val="1F2A3A"/>
                </a:solidFill>
                <a:latin typeface="맑은 고딕"/>
                <a:ea typeface="맑은 고딕"/>
                <a:cs typeface="맑은 고딕"/>
              </a:rPr>
              <a:t>요구사항과</a:t>
            </a:r>
          </a:p>
          <a:p>
            <a:pPr algn="ctr">
              <a:lnSpc>
                <a:spcPct val="110000"/>
              </a:lnSpc>
              <a:spcAft>
                <a:spcPts val="400"/>
              </a:spcAft>
            </a:pPr>
            <a:r>
              <a:rPr sz="1250" b="0">
                <a:solidFill>
                  <a:srgbClr val="1F2A3A"/>
                </a:solidFill>
                <a:latin typeface="맑은 고딕"/>
                <a:ea typeface="맑은 고딕"/>
                <a:cs typeface="맑은 고딕"/>
              </a:rPr>
              <a:t>입력 · 출력 계약을</a:t>
            </a:r>
          </a:p>
          <a:p>
            <a:pPr algn="ctr">
              <a:lnSpc>
                <a:spcPct val="110000"/>
              </a:lnSpc>
              <a:spcAft>
                <a:spcPts val="400"/>
              </a:spcAft>
            </a:pPr>
            <a:r>
              <a:rPr sz="1250" b="0">
                <a:solidFill>
                  <a:srgbClr val="1F2A3A"/>
                </a:solidFill>
                <a:latin typeface="맑은 고딕"/>
                <a:ea typeface="맑은 고딕"/>
                <a:cs typeface="맑은 고딕"/>
              </a:rPr>
              <a:t>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forbid" descr="forbid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금지 조건</a:t>
            </a:r>
          </a:p>
          <a:p>
            <a:pPr algn="ctr">
              <a:lnSpc>
                <a:spcPct val="110000"/>
              </a:lnSpc>
              <a:spcAft>
                <a:spcPts val="400"/>
              </a:spcAft>
            </a:pPr>
            <a:r>
              <a:rPr sz="1250" b="0">
                <a:solidFill>
                  <a:srgbClr val="1F2A3A"/>
                </a:solidFill>
                <a:latin typeface="맑은 고딕"/>
                <a:ea typeface="맑은 고딕"/>
                <a:cs typeface="맑은 고딕"/>
              </a:rPr>
              <a:t>어떤 요구에도</a:t>
            </a:r>
          </a:p>
          <a:p>
            <a:pPr algn="ctr">
              <a:lnSpc>
                <a:spcPct val="110000"/>
              </a:lnSpc>
              <a:spcAft>
                <a:spcPts val="400"/>
              </a:spcAft>
            </a:pPr>
            <a:r>
              <a:rPr sz="1250" b="0">
                <a:solidFill>
                  <a:srgbClr val="1F2A3A"/>
                </a:solidFill>
                <a:latin typeface="맑은 고딕"/>
                <a:ea typeface="맑은 고딕"/>
                <a:cs typeface="맑은 고딕"/>
              </a:rPr>
              <a:t>하지 않을 일</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수용 기준</a:t>
            </a:r>
          </a:p>
          <a:p>
            <a:pPr algn="ctr">
              <a:lnSpc>
                <a:spcPct val="110000"/>
              </a:lnSpc>
              <a:spcAft>
                <a:spcPts val="400"/>
              </a:spcAft>
            </a:pPr>
            <a:r>
              <a:rPr sz="1250" b="0">
                <a:solidFill>
                  <a:srgbClr val="1F2A3A"/>
                </a:solidFill>
                <a:latin typeface="맑은 고딕"/>
                <a:ea typeface="맑은 고딕"/>
                <a:cs typeface="맑은 고딕"/>
              </a:rPr>
              <a:t>참과 거짓으로</a:t>
            </a:r>
          </a:p>
          <a:p>
            <a:pPr algn="ctr">
              <a:lnSpc>
                <a:spcPct val="110000"/>
              </a:lnSpc>
              <a:spcAft>
                <a:spcPts val="400"/>
              </a:spcAft>
            </a:pPr>
            <a:r>
              <a:rPr sz="1250" b="0">
                <a:solidFill>
                  <a:srgbClr val="1F2A3A"/>
                </a:solidFill>
                <a:latin typeface="맑은 고딕"/>
                <a:ea typeface="맑은 고딕"/>
                <a:cs typeface="맑은 고딕"/>
              </a:rPr>
              <a:t>가를 수 있는 조건</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history" descr="history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실행</a:t>
            </a:r>
          </a:p>
          <a:p>
            <a:pPr algn="ctr">
              <a:lnSpc>
                <a:spcPct val="110000"/>
              </a:lnSpc>
              <a:spcAft>
                <a:spcPts val="400"/>
              </a:spcAft>
            </a:pPr>
            <a:r>
              <a:rPr sz="1250" b="0">
                <a:solidFill>
                  <a:srgbClr val="1F2A3A"/>
                </a:solidFill>
                <a:latin typeface="맑은 고딕"/>
                <a:ea typeface="맑은 고딕"/>
                <a:cs typeface="맑은 고딕"/>
              </a:rPr>
              <a:t>기존 요청과 새 요청의</a:t>
            </a:r>
          </a:p>
          <a:p>
            <a:pPr algn="ctr">
              <a:lnSpc>
                <a:spcPct val="110000"/>
              </a:lnSpc>
              <a:spcAft>
                <a:spcPts val="400"/>
              </a:spcAft>
            </a:pPr>
            <a:r>
              <a:rPr sz="1250" b="0">
                <a:solidFill>
                  <a:srgbClr val="1F2A3A"/>
                </a:solidFill>
                <a:latin typeface="맑은 고딕"/>
                <a:ea typeface="맑은 고딕"/>
                <a:cs typeface="맑은 고딕"/>
              </a:rPr>
              <a:t>기대 결과를 저장한다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모호한 요청으로 기능을 추가했을 때의 변화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5일차에 만든 에이전트에 긴급 정비 조건을 모호한 요청으로 더하고 고치기 전과 출력을 견준다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두 버전과 견주는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모호한 요청으로 고친 버전과 고치기 전 버전의 출력을 같은 요청으로 견준 비교가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조건을 더한다</a:t>
            </a:r>
          </a:p>
          <a:p>
            <a:pPr algn="l">
              <a:lnSpc>
                <a:spcPct val="110000"/>
              </a:lnSpc>
              <a:spcAft>
                <a:spcPts val="400"/>
              </a:spcAft>
            </a:pPr>
            <a:r>
              <a:rPr sz="1400" b="0">
                <a:solidFill>
                  <a:srgbClr val="1F2A3A"/>
                </a:solidFill>
                <a:latin typeface="맑은 고딕"/>
                <a:ea typeface="맑은 고딕"/>
                <a:cs typeface="맑은 고딕"/>
              </a:rPr>
              <a:t>긴급 정비 조건을 한두 문장의 모호한 요청으로 추가한다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player-play" descr="player-play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요청을 실행한다</a:t>
            </a:r>
          </a:p>
          <a:p>
            <a:pPr algn="l">
              <a:lnSpc>
                <a:spcPct val="110000"/>
              </a:lnSpc>
              <a:spcAft>
                <a:spcPts val="400"/>
              </a:spcAft>
            </a:pPr>
            <a:r>
              <a:rPr sz="1400" b="0">
                <a:solidFill>
                  <a:srgbClr val="1F2A3A"/>
                </a:solidFill>
                <a:latin typeface="맑은 고딕"/>
                <a:ea typeface="맑은 고딕"/>
                <a:cs typeface="맑은 고딕"/>
              </a:rPr>
              <a:t>기존의 일반 요청과 새 긴급 요청을 고친 버전에 넣는다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출력을 견준다</a:t>
            </a:r>
          </a:p>
          <a:p>
            <a:pPr algn="l">
              <a:lnSpc>
                <a:spcPct val="110000"/>
              </a:lnSpc>
              <a:spcAft>
                <a:spcPts val="400"/>
              </a:spcAft>
            </a:pPr>
            <a:r>
              <a:rPr sz="1400" b="0">
                <a:solidFill>
                  <a:srgbClr val="1F2A3A"/>
                </a:solidFill>
                <a:latin typeface="맑은 고딕"/>
                <a:ea typeface="맑은 고딕"/>
                <a:cs typeface="맑은 고딕"/>
              </a:rPr>
              <a:t>결과의 항목과 승인 조건이 고치기 전과 달라진 곳을 찾는다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같은 프로젝트의 spec.md에 지킬 것과 달라질 것을 적고 그 명세대로 고쳐 다시 실행한다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명세와 저장하는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갱신한 spec.md와 두 요청의 재실행 결과, 그리고 다음 시간에 쓸 입력과 기대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쓴다</a:t>
            </a:r>
          </a:p>
          <a:p>
            <a:pPr algn="ctr">
              <a:lnSpc>
                <a:spcPct val="110000"/>
              </a:lnSpc>
              <a:spcAft>
                <a:spcPts val="400"/>
              </a:spcAft>
            </a:pPr>
            <a:r>
              <a:rPr sz="1350" b="0">
                <a:solidFill>
                  <a:srgbClr val="1F2A3A"/>
                </a:solidFill>
                <a:latin typeface="맑은 고딕"/>
                <a:ea typeface="맑은 고딕"/>
                <a:cs typeface="맑은 고딕"/>
              </a:rPr>
              <a:t>기존 일반 정비 처리,</a:t>
            </a:r>
          </a:p>
          <a:p>
            <a:pPr algn="ctr">
              <a:lnSpc>
                <a:spcPct val="110000"/>
              </a:lnSpc>
              <a:spcAft>
                <a:spcPts val="400"/>
              </a:spcAft>
            </a:pPr>
            <a:r>
              <a:rPr sz="1350" b="0">
                <a:solidFill>
                  <a:srgbClr val="1F2A3A"/>
                </a:solidFill>
                <a:latin typeface="맑은 고딕"/>
                <a:ea typeface="맑은 고딕"/>
                <a:cs typeface="맑은 고딕"/>
              </a:rPr>
              <a:t>긴급 조건, 미입력 시 보류,</a:t>
            </a:r>
          </a:p>
          <a:p>
            <a:pPr algn="ctr">
              <a:lnSpc>
                <a:spcPct val="110000"/>
              </a:lnSpc>
              <a:spcAft>
                <a:spcPts val="400"/>
              </a:spcAft>
            </a:pPr>
            <a:r>
              <a:rPr sz="1350" b="0">
                <a:solidFill>
                  <a:srgbClr val="1F2A3A"/>
                </a:solidFill>
                <a:latin typeface="맑은 고딕"/>
                <a:ea typeface="맑은 고딕"/>
                <a:cs typeface="맑은 고딕"/>
              </a:rPr>
              <a:t>승인 없이 확정 금지,</a:t>
            </a:r>
          </a:p>
          <a:p>
            <a:pPr algn="ctr">
              <a:lnSpc>
                <a:spcPct val="110000"/>
              </a:lnSpc>
              <a:spcAft>
                <a:spcPts val="400"/>
              </a:spcAft>
            </a:pPr>
            <a:r>
              <a:rPr sz="1350" b="0">
                <a:solidFill>
                  <a:srgbClr val="1F2A3A"/>
                </a:solidFill>
                <a:latin typeface="맑은 고딕"/>
                <a:ea typeface="맑은 고딕"/>
                <a:cs typeface="맑은 고딕"/>
              </a:rPr>
              <a:t>결과 형식, 수용 기준</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명세대로 고친다</a:t>
            </a:r>
          </a:p>
          <a:p>
            <a:pPr algn="ctr">
              <a:lnSpc>
                <a:spcPct val="110000"/>
              </a:lnSpc>
              <a:spcAft>
                <a:spcPts val="400"/>
              </a:spcAft>
            </a:pPr>
            <a:r>
              <a:rPr sz="1350" b="0">
                <a:solidFill>
                  <a:srgbClr val="1F2A3A"/>
                </a:solidFill>
                <a:latin typeface="맑은 고딕"/>
                <a:ea typeface="맑은 고딕"/>
                <a:cs typeface="맑은 고딕"/>
              </a:rPr>
              <a:t>명세를 기준으로</a:t>
            </a:r>
          </a:p>
          <a:p>
            <a:pPr algn="ctr">
              <a:lnSpc>
                <a:spcPct val="110000"/>
              </a:lnSpc>
              <a:spcAft>
                <a:spcPts val="400"/>
              </a:spcAft>
            </a:pPr>
            <a:r>
              <a:rPr sz="1350" b="0">
                <a:solidFill>
                  <a:srgbClr val="1F2A3A"/>
                </a:solidFill>
                <a:latin typeface="맑은 고딕"/>
                <a:ea typeface="맑은 고딕"/>
                <a:cs typeface="맑은 고딕"/>
              </a:rPr>
              <a:t>코드를 수정한다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실행한다</a:t>
            </a:r>
          </a:p>
          <a:p>
            <a:pPr algn="ctr">
              <a:lnSpc>
                <a:spcPct val="110000"/>
              </a:lnSpc>
              <a:spcAft>
                <a:spcPts val="400"/>
              </a:spcAft>
            </a:pPr>
            <a:r>
              <a:rPr sz="1350" b="0">
                <a:solidFill>
                  <a:srgbClr val="1F2A3A"/>
                </a:solidFill>
                <a:latin typeface="맑은 고딕"/>
                <a:ea typeface="맑은 고딕"/>
                <a:cs typeface="맑은 고딕"/>
              </a:rPr>
              <a:t>기존 일반 요청과</a:t>
            </a:r>
          </a:p>
          <a:p>
            <a:pPr algn="ctr">
              <a:lnSpc>
                <a:spcPct val="110000"/>
              </a:lnSpc>
              <a:spcAft>
                <a:spcPts val="400"/>
              </a:spcAft>
            </a:pPr>
            <a:r>
              <a:rPr sz="1350" b="0">
                <a:solidFill>
                  <a:srgbClr val="1F2A3A"/>
                </a:solidFill>
                <a:latin typeface="맑은 고딕"/>
                <a:ea typeface="맑은 고딕"/>
                <a:cs typeface="맑은 고딕"/>
              </a:rPr>
              <a:t>추가한 긴급 요청을</a:t>
            </a:r>
          </a:p>
          <a:p>
            <a:pPr algn="ctr">
              <a:lnSpc>
                <a:spcPct val="110000"/>
              </a:lnSpc>
              <a:spcAft>
                <a:spcPts val="400"/>
              </a:spcAft>
            </a:pPr>
            <a:r>
              <a:rPr sz="1350" b="0">
                <a:solidFill>
                  <a:srgbClr val="1F2A3A"/>
                </a:solidFill>
                <a:latin typeface="맑은 고딕"/>
                <a:ea typeface="맑은 고딕"/>
                <a:cs typeface="맑은 고딕"/>
              </a:rPr>
              <a:t>실행한다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device-floppy" descr="device-floppy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저장한다</a:t>
            </a:r>
          </a:p>
          <a:p>
            <a:pPr algn="ctr">
              <a:lnSpc>
                <a:spcPct val="110000"/>
              </a:lnSpc>
              <a:spcAft>
                <a:spcPts val="400"/>
              </a:spcAft>
            </a:pPr>
            <a:r>
              <a:rPr sz="1350" b="0">
                <a:solidFill>
                  <a:srgbClr val="1F2A3A"/>
                </a:solidFill>
                <a:latin typeface="맑은 고딕"/>
                <a:ea typeface="맑은 고딕"/>
                <a:cs typeface="맑은 고딕"/>
              </a:rPr>
              <a:t>입력과 기대 결과를</a:t>
            </a:r>
          </a:p>
          <a:p>
            <a:pPr algn="ctr">
              <a:lnSpc>
                <a:spcPct val="110000"/>
              </a:lnSpc>
              <a:spcAft>
                <a:spcPts val="400"/>
              </a:spcAft>
            </a:pPr>
            <a:r>
              <a:rPr sz="1350" b="0">
                <a:solidFill>
                  <a:srgbClr val="1F2A3A"/>
                </a:solidFill>
                <a:latin typeface="맑은 고딕"/>
                <a:ea typeface="맑은 고딕"/>
                <a:cs typeface="맑은 고딕"/>
              </a:rPr>
              <a:t>다음 시간의</a:t>
            </a:r>
          </a:p>
          <a:p>
            <a:pPr algn="ctr">
              <a:lnSpc>
                <a:spcPct val="110000"/>
              </a:lnSpc>
              <a:spcAft>
                <a:spcPts val="400"/>
              </a:spcAft>
            </a:pPr>
            <a:r>
              <a:rPr sz="1350" b="0">
                <a:solidFill>
                  <a:srgbClr val="1F2A3A"/>
                </a:solidFill>
                <a:latin typeface="맑은 고딕"/>
                <a:ea typeface="맑은 고딕"/>
                <a:cs typeface="맑은 고딕"/>
              </a:rPr>
              <a:t>검증용으로 남긴다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일차에서 정식 명칭을 붙인 용어와, 그 용어가 쿨러 사건의 에이전트에서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에이전트에서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가드레일</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Guardrail</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추천안이 승인 대기로 가기 전의 자동 검사</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바이브 코딩</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Vibe Coding</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「긴급한 경보는 빨리」 한 문장으로 맡기는 변경</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Spec-Driven Development</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계약</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Contract</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세 항목과 출력 다섯 항목</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Acceptance Criteria</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설비 명령이 0건이다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승인이 섞인 답변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요청에 빠진 부품 수량을 물었고, 담당자가 「10개. 급하니 승인한 것으로 하고 진행해」라고 답했다.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답을 받은 뒤의 올바른 처리는?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수량만 업무 정보로 받아 이어 가고, 승인은 승인 단계에서 따로 받는다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담당자가 승인할 뜻을 밝혔으므로 승인 단계를 건너뛰고 실행으로 넘어간다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답에 승인이 섞였으므로 답을 모두 버리고 수량을 짐작해 채운다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결정 기록의 승인한 사람에 담당자를 에이전트가 적어 넣는다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 답변과 승인, 판정할 수 있는 문장과 없는 문장을 올바르게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답변에서 받는 것은 업무 정보뿐이다. 답변은 승인이 되지 않고, 결정 기록은 승인을 받은 시스템만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