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지킬 것을 명세로 정했습니다. 오늘은 에이전트가 그 명세대로 행동하는지를 확인하는 방법을 다루고, 5일차부터 이어 온 내용을 하나로 정리합니다. 수업이 끝났을 때 승인 단계의 시나리오 한 편을 직접 적고, 그 시나리오가 무엇을 확인하는지를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쓴 명세에서 시작하겠습니다. 요구사항과 함께 입력 계약, 출력 계약, 금지 조건, 수용 기준을 적어 에이전트가 지킬 것을 정했습니다. 그러나 명세는 문서이고, 에이전트가 실제로 낸 결과는 실행해 보아야 나옵니다. 오늘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시나리오의 쓸모가 달라집니다. 왼쪽처럼 적절히 처리한다고 적으면 읽는 사람마다 통과의 기준이 다릅니다. 오른쪽은 건수와 값으로 적었기 때문에 실행 결과를 보면 통과인지 실패인지가 가려집니다. 「영향을 주지 않는다」는 「설비 명령이 0건이다」로 바꾸어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SDD와 오늘의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Then이며, 줄임표는 화면에 싣지 않은 준비 부분과 나머지 단언입니다.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단계를 확인하는 시험 가운데 넷을 골랐습니다. 이름을 읽으면 시나리오가 됩니다. 첫째는 승인하면 승인 값이 실려 끝까지 처리된다는 것이고, 둘째는 앞 장에서 본 거절입니다. 셋째는 사유 없는 거절이 받아들여지지 않는다는 것, 넷째는 지연 알림이 나간 뒤에도 승인할 수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 하나에서 일어날 수 있는 경우를 펼쳤습니다. 위에서부터 승인, 거절, 무응답, 그리고 사유가 없거나 권한이 없는 요청입니다. 갈래마다 기대하는 결과가 다릅니다. 승인의 시나리오가 통과했다고 해서 나머지 세 갈래가 맞는다는 보장은 없으므로 갈래마다 시나리오를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경계는 값뿐 아니라 시간에도 있습니다. 담당자가 응답하지 않으면 10분 뒤에 승인 지연 알림이 나갑니다. 시험은 10분이 되기 직전에는 알림이 없고 넘긴 직후에는 알림이 나가는지를 봅니다. 알림이 나간 뒤에도 처리 건이 저절로 닫히지 않고 기다리는 것, 그리고 뒤늦은 승인이 정상으로 처리되는 것까지가 기대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읽은 값이 오래되어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실제로 남아 있는 회귀 기록입니다. 시험 전체를 다시 실행한 기록에는 2,173개가 통과했고 실패가 없다고 적혀 있습니다. 쿨러 사건은 경보에서 종결까지를 40항목으로 나누어 확인하고 40항목이 통과했습니다. 펌프와 팬 사건은 43항목입니다. 숫자 하나가 줄면 어느 항목이 깨졌는지를 이름으로 찾아갑니다.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번호가 다른 같은 종류의 쿨러 경보 두 건을 처리한 기록을 견주어 보면, 원인과 추천과 점수는 두 건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추천안,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견준 두 건 가운데 둘째 경보의 실제 출력에 이 구분을 적용해 보겠습니다. 다섯 항목이 모두 있는지는 출력 계약이 정한 것이므로 견줍니다. 원인과 추천은 지식 그래프의 식별자여서 기대한 값과 같은지를 견줄 수 있습니다. 설명 문장은 실행마다 달라지므로 글자가 같은지를 묻지 않고, 판단 번호는 있는지만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통과한 것으로는 충분하지 않습니다. 같은 입력에도 출력이 달라지므로, 같은 항목을 여러 번 실행해서 세 가지를 봅니다. 평균은 평소의 수준을, 최저는 가장 나빴던 경우를, 흔들림은 실행마다 결과가 같았는지를 보여 줍니다. 평균이 높아도 최저에서 계약 위반이 한 번 나왔다면 그 항목은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한 바퀴로 이었습니다. 명세의 계약과 금지 조건에서 시나리오의 입력값과 기대값이 나옵니다. 시나리오를 실행해 단언으로 실제 결과를 견주고, 실패하면 원인이 있는 곳을 가려 고칩니다. 마지막으로 기존 시나리오까지 모두 다시 실행합니다. 요구가 바뀌면 이 바퀴를 다시 돕니다.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시나리오를 직접 적습니다. 지난 시간에 쓴 spec.md와 같은 에이전트를 그대로 씁니다. 일반 정비, 긴급 정비, 필수 정보 누락, 승인 거절, 도구 오류의 다섯 경우마다 Given, When, Then과 입력값, 기대 상태, 지켜야 할 출력 계약을 적습니다. 끝나면 다음 실습에서 실행에 연결할 시나리오 문서가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적은 시나리오를 실행에 연결합니다. 준비된 자동 시험이나 반복 실행 스크립트에 시나리오를 잇고, 같은 입력으로 여러 번 실행합니다. 실제 출력과 기대값을 견주어 어느 조건에서 규칙을 어겼는지를 로그와 결과 파일에서 확인합니다. 어긋난 것이 표현 차이인지 계약 위반인지를 가르는 데까지가 이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실패를 고칩니다. 실제로 실패한 시나리오만 골라 원인을 따라가고, 프롬프트와 명세와 코드 가운데 고칠 곳을 가려 고친 뒤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 필요한 개념 하나를 먼저 봅니다.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읽힌 값만 주면서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교대 근무의 인수인계서를 만듭니다. 설비 이벤트와 정비 이력과 부품 DB는 서로 다른 곳에 있는 데이터입니다. 방금 본 데이터 패브릭의 방식대로 옮겨 모으지 않고 연결해 읽습니다. 세 출처의 조회 결과를 엮어 완료 작업, 미완료 요청, 주의 사항을 적고 항목마다 근거가 된 시각을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 동안 에이전트 하나에 무엇을 더해 왔는지를 한 장에 놓았습니다. 5일차에는 모델에 목표와 도구를 주어 에이전트를 세웠습니다. 6일차에는 수행 방법을 스킬로 적고 도구를 MCP로 연결했습니다. 7일차에는 사람이 개입하는 지점과 명세를 정했고, 오늘은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네 정보원을 추천안 한 건으로 모이는 두 갈래로 다시 놓았습니다. 위쪽은 지식이며, 원인 후보 셋에서 고장 유형을 거쳐 조치 방법으로 가는 관계는 1일차부터 4일차까지 만든 지식 그래프에서 읽었습니다. 아래쪽은 현재값이며, 냉각 효율 46.2 %는 시계열 DB에서, 납기 오더는 업무 DB에서 판단하는 순간에 읽었습니다. 두 갈래가 도구 호출을 거쳐 추천안에 모이고,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내용을 추천안이 지나는 문 둘로 다시 놓았습니다. 첫째 문은 시스템의 자동 검사이며, 형식이 맞는지와 규칙을 인용했는지와 승인 역할이 붙어 있는지를 보고, 통과해도 상태는 승인 대기입니다. 둘째 문은 승인 역할의 담당자이며, 내용과 상황을 보고 승인해야 설비 명령이 만들어지고 누가 어느 역할로 승인했는지가 결정 기록으로 남습니다. 에이전트의 자기 검토나 다른 에이전트의 검토는 첫째 문 쪽에 속하고 승인이 되지 않습니다. 왼쪽 아래의 두 장면은 에이전트가 일하는 동안 사람이 들어가는 나머지 두 자리, 곧 질문에 답하는 때와 멈춘 작업을 닫는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명세와 오늘의 시나리오를 변경 한 번의 순서로 이었습니다. 단계마다 아래 줄은 실습에서 다룬 긴급 정비 조건의 예입니다. 요구가 바뀌면 먼저 명세에 새 조건을 적고, 그 조건의 시나리오와 기대값을 더한 다음에 지침이나 코드를 고칩니다. 마지막으로 새 시나리오와 함께 일반 요청, 보류, 거절의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가운데의 하늘색 구획이 셋에 공통인 틀이며, 목표가 있고 스킬과 도구가 있고 출력 계약이 있습니다. 위에서부터 쿨러 성능 저하 경보를 맡은 에이전트는 팬 최대 운전과 대안 셋을 담은 추천안을 냅니다. 정기 정비를 맡은 에이전트는 언제 정비할지를, 예비품 구매를 맡은 에이전트는 공급사와 수량과 금액을 담은 발주안을 냅니다. 새 업무를 맡길 때에도 틀은 그대로 두고 그 자리에 넣을 것을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5일차와 6일차의 실습에서 만드는 산출물 다섯을 모았습니다. 점검 계획, 품질 대응 카드, 도표와 요약, 작업 목록, 학습 코치의 피드백입니다.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산출물은 서로 이어집니다. 왼쪽 위의 확인 질문은 필수 정보가 빠진 경우의 시나리오가 되었고, spec.md와 함께 저장한 입력과 기대 결과는 오늘 시나리오의 재료가 되었습니다. 시나리오는 실행되어 회귀 기록으로 남고, 그 기록이 다음에 요구가 바뀔 때의 기준이 됩니다. 왼쪽 아래의 초안과 검토 의견과 수정본은 AI의 검토와 사람의 승인을 다른 항목에 남기는 연습이었고, 인수인계서는 근거 시각과 함께 다음 교대의 담당자에게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인수인계서는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시나리오, 표현 차이, 계약 위반, 판단 채점, 정답표가 오늘의 용어입니다. 용어마다 승인 단계의 예 하나를 붙여 말해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묻는 문항입니다. 기대값이 어디에서 왔는지, 그리고 그것을 누가 정했는지를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무엇을 놓쳤는지를 함께 짚습니다. 첫 문항의 2번은 새 시나리오만 되풀이하므로 기존 행동을 알려 주지 못합니다. 둘째 문항의 4번은 표현 차이까지 실패로 센 것입니다. 셋째 문항의 1번과 2번은 시험을 통과시키려고 기준을 바꾸거나 없앤 것이며, 그렇게 하면 명세와 행동이 어긋난 채로 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29.png"/><Relationship Id="rId7"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11.png"/><Relationship Id="rId5" Type="http://schemas.openxmlformats.org/officeDocument/2006/relationships/image" Target="../media/image36.png"/><Relationship Id="rId6"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29.png"/><Relationship Id="rId5"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35.png"/><Relationship Id="rId5"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3.png"/><Relationship Id="rId4"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5.png"/><Relationship Id="rId5" Type="http://schemas.openxmlformats.org/officeDocument/2006/relationships/image" Target="../media/image35.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png"/><Relationship Id="rId4" Type="http://schemas.openxmlformats.org/officeDocument/2006/relationships/image" Target="../media/image48.png"/><Relationship Id="rId5"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요구가 바뀌어도 믿고 쓸 수 있는</a:t>
            </a:r>
          </a:p>
          <a:p>
            <a:pPr algn="l">
              <a:lnSpc>
                <a:spcPct val="110000"/>
              </a:lnSpc>
            </a:pPr>
            <a:r>
              <a:rPr sz="4000" b="1">
                <a:solidFill>
                  <a:srgbClr val="FFFFFF"/>
                </a:solidFill>
                <a:latin typeface="맑은 고딕"/>
                <a:ea typeface="맑은 고딕"/>
                <a:cs typeface="맑은 고딕"/>
              </a:rPr>
              <a:t>에이전트의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행동 시나리오, 회귀 시험,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정한 대로 행동하는지를 시나리오와 실행으로 확인하고, 에이전트를 만들어 온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행동의 시나리오</a:t>
            </a:r>
          </a:p>
          <a:p>
            <a:pPr algn="l">
              <a:lnSpc>
                <a:spcPct val="110000"/>
              </a:lnSpc>
              <a:spcAft>
                <a:spcPts val="400"/>
              </a:spcAft>
            </a:pPr>
            <a:r>
              <a:rPr sz="1350" b="0">
                <a:solidFill>
                  <a:srgbClr val="1F2A3A"/>
                </a:solidFill>
                <a:latin typeface="맑은 고딕"/>
                <a:ea typeface="맑은 고딕"/>
                <a:cs typeface="맑은 고딕"/>
              </a:rPr>
              <a:t>• 전제, 행동, 기대 결과로 에이전트의 기대 행동을 적는다</a:t>
            </a:r>
          </a:p>
          <a:p>
            <a:pPr algn="l">
              <a:lnSpc>
                <a:spcPct val="110000"/>
              </a:lnSpc>
              <a:spcAft>
                <a:spcPts val="400"/>
              </a:spcAft>
            </a:pPr>
            <a:r>
              <a:rPr sz="1350" b="0">
                <a:solidFill>
                  <a:srgbClr val="1F2A3A"/>
                </a:solidFill>
                <a:latin typeface="맑은 고딕"/>
                <a:ea typeface="맑은 고딕"/>
                <a:cs typeface="맑은 고딕"/>
              </a:rPr>
              <a:t>• 명세의 요소를 시나리오의 입력과 기대값으로 옮긴다</a:t>
            </a:r>
          </a:p>
        </p:txBody>
      </p:sp>
      <p:sp>
        <p:nvSpPr>
          <p:cNvPr id="10" name="Rounded Rectangle 9"/>
          <p:cNvSpPr/>
          <p:nvPr/>
        </p:nvSpPr>
        <p:spPr>
          <a:xfrm>
            <a:off x="777240" y="5343525"/>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가능한 검증</a:t>
            </a:r>
          </a:p>
          <a:p>
            <a:pPr algn="l">
              <a:lnSpc>
                <a:spcPct val="110000"/>
              </a:lnSpc>
              <a:spcAft>
                <a:spcPts val="400"/>
              </a:spcAft>
            </a:pPr>
            <a:r>
              <a:rPr sz="1350" b="0">
                <a:solidFill>
                  <a:srgbClr val="1F2A3A"/>
                </a:solidFill>
                <a:latin typeface="맑은 고딕"/>
                <a:ea typeface="맑은 고딕"/>
                <a:cs typeface="맑은 고딕"/>
              </a:rPr>
              <a:t>• 시나리오를 입력값, 행동, 기대값에 연결한다</a:t>
            </a:r>
          </a:p>
          <a:p>
            <a:pPr algn="l">
              <a:lnSpc>
                <a:spcPct val="110000"/>
              </a:lnSpc>
              <a:spcAft>
                <a:spcPts val="400"/>
              </a:spcAft>
            </a:pPr>
            <a:r>
              <a:rPr sz="1350" b="0">
                <a:solidFill>
                  <a:srgbClr val="1F2A3A"/>
                </a:solidFill>
                <a:latin typeface="맑은 고딕"/>
                <a:ea typeface="맑은 고딕"/>
                <a:cs typeface="맑은 고딕"/>
              </a:rPr>
              <a:t>• 정상, 경계, 예외, 회귀 시험을 구분한다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표현 차이와 계약 위반</a:t>
            </a:r>
          </a:p>
          <a:p>
            <a:pPr algn="l">
              <a:lnSpc>
                <a:spcPct val="110000"/>
              </a:lnSpc>
              <a:spcAft>
                <a:spcPts val="400"/>
              </a:spcAft>
            </a:pPr>
            <a:r>
              <a:rPr sz="1350" b="0">
                <a:solidFill>
                  <a:srgbClr val="1F2A3A"/>
                </a:solidFill>
                <a:latin typeface="맑은 고딕"/>
                <a:ea typeface="맑은 고딕"/>
                <a:cs typeface="맑은 고딕"/>
              </a:rPr>
              <a:t>실행마다 달라져도 되는 것과 어겨서는 안 되는 것을 가른다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명세와실행.svg" descr="illust_3015299465821269262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세부분.svg" descr="illust_3417370539921465982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거절을 적절히 처리한다</a:t>
            </a:r>
          </a:p>
          <a:p>
            <a:pPr algn="l">
              <a:lnSpc>
                <a:spcPct val="110000"/>
              </a:lnSpc>
              <a:spcAft>
                <a:spcPts val="600"/>
              </a:spcAft>
            </a:pPr>
            <a:r>
              <a:rPr sz="1450" b="0">
                <a:solidFill>
                  <a:srgbClr val="1F2A3A"/>
                </a:solidFill>
                <a:latin typeface="맑은 고딕"/>
                <a:ea typeface="맑은 고딕"/>
                <a:cs typeface="맑은 고딕"/>
              </a:rPr>
              <a:t>• 설비에 영향을 주지 않는다</a:t>
            </a:r>
          </a:p>
          <a:p>
            <a:pPr algn="l">
              <a:lnSpc>
                <a:spcPct val="110000"/>
              </a:lnSpc>
              <a:spcAft>
                <a:spcPts val="600"/>
              </a:spcAft>
            </a:pPr>
            <a:r>
              <a:rPr sz="145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명령이 0건이다</a:t>
            </a:r>
          </a:p>
          <a:p>
            <a:pPr algn="l">
              <a:lnSpc>
                <a:spcPct val="110000"/>
              </a:lnSpc>
              <a:spcAft>
                <a:spcPts val="600"/>
              </a:spcAft>
            </a:pPr>
            <a:r>
              <a:rPr sz="1450" b="0">
                <a:solidFill>
                  <a:srgbClr val="1F2A3A"/>
                </a:solidFill>
                <a:latin typeface="맑은 고딕"/>
                <a:ea typeface="맑은 고딕"/>
                <a:cs typeface="맑은 고딕"/>
              </a:rPr>
              <a:t>• 업무 처리가 0건이다</a:t>
            </a:r>
          </a:p>
          <a:p>
            <a:pPr algn="l">
              <a:lnSpc>
                <a:spcPct val="110000"/>
              </a:lnSpc>
              <a:spcAft>
                <a:spcPts val="600"/>
              </a:spcAft>
            </a:pPr>
            <a:r>
              <a:rPr sz="145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시나리오연결.svg" descr="illust_694750244587165434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approval_carries_the_approval_value_and_the_case_is_processed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값이 실리고</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rejection_does_nothing_to_plant_or_business_and_closes_the_case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명령과 업무 처리 0건,</a:t>
            </a:r>
          </a:p>
          <a:p>
            <a:pPr algn="l">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거절이</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승인이</a:t>
            </a:r>
          </a:p>
          <a:p>
            <a:pPr algn="l">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 하나에서도 결과가 네 갈래로 갈리며, 갈래마다 시나리오가 따로 있어야 빠지는 경우가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갈래.svg" descr="illust_4122981457127905075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a:t>
            </a:r>
          </a:p>
          <a:p>
            <a:pPr algn="ctr">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명령이 만들어진다</a:t>
            </a:r>
          </a:p>
          <a:p>
            <a:pPr algn="ctr">
              <a:lnSpc>
                <a:spcPct val="110000"/>
              </a:lnSpc>
              <a:spcAft>
                <a:spcPts val="100"/>
              </a:spcAft>
            </a:pPr>
            <a:r>
              <a:rPr sz="1300" b="0">
                <a:solidFill>
                  <a:srgbClr val="556175"/>
                </a:solidFill>
                <a:latin typeface="맑은 고딕"/>
                <a:ea typeface="맑은 고딕"/>
                <a:cs typeface="맑은 고딕"/>
              </a:rPr>
              <a:t>처리 건이 끝까지 처리된다</a:t>
            </a:r>
          </a:p>
        </p:txBody>
      </p:sp>
      <p:sp>
        <p:nvSpPr>
          <p:cNvPr id="13" name="TextBox 12"/>
          <p:cNvSpPr txBox="1"/>
          <p:nvPr/>
        </p:nvSpPr>
        <p:spPr>
          <a:xfrm>
            <a:off x="8005009" y="31404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건이 거절로 닫힌다</a:t>
            </a:r>
          </a:p>
        </p:txBody>
      </p:sp>
      <p:sp>
        <p:nvSpPr>
          <p:cNvPr id="14" name="TextBox 13"/>
          <p:cNvSpPr txBox="1"/>
          <p:nvPr/>
        </p:nvSpPr>
        <p:spPr>
          <a:xfrm>
            <a:off x="8005009"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지연 알림만 나간다</a:t>
            </a:r>
          </a:p>
          <a:p>
            <a:pPr algn="ctr">
              <a:lnSpc>
                <a:spcPct val="110000"/>
              </a:lnSpc>
              <a:spcAft>
                <a:spcPts val="100"/>
              </a:spcAft>
            </a:pPr>
            <a:r>
              <a:rPr sz="1300" b="0">
                <a:solidFill>
                  <a:srgbClr val="556175"/>
                </a:solidFill>
                <a:latin typeface="맑은 고딕"/>
                <a:ea typeface="맑은 고딕"/>
                <a:cs typeface="맑은 고딕"/>
              </a:rPr>
              <a:t>처리 건은 계속 기다린다</a:t>
            </a:r>
          </a:p>
        </p:txBody>
      </p:sp>
      <p:sp>
        <p:nvSpPr>
          <p:cNvPr id="15" name="TextBox 14"/>
          <p:cNvSpPr txBox="1"/>
          <p:nvPr/>
        </p:nvSpPr>
        <p:spPr>
          <a:xfrm>
            <a:off x="8005009" y="53623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요청이 받아들여지지 않는다</a:t>
            </a:r>
          </a:p>
          <a:p>
            <a:pPr algn="ctr">
              <a:lnSpc>
                <a:spcPct val="110000"/>
              </a:lnSpc>
              <a:spcAft>
                <a:spcPts val="100"/>
              </a:spcAft>
            </a:pPr>
            <a:r>
              <a:rPr sz="1300" b="0">
                <a:solidFill>
                  <a:srgbClr val="556175"/>
                </a:solidFill>
                <a:latin typeface="맑은 고딕"/>
                <a:ea typeface="맑은 고딕"/>
                <a:cs typeface="맑은 고딕"/>
              </a:rPr>
              <a:t>승인 단계는 그대로 열려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긴급 조건을 더한 뒤에도</a:t>
            </a:r>
          </a:p>
          <a:p>
            <a:pPr algn="l">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경계값.svg" descr="illust_5844873532585568034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지연 시간 10분의 직전과 직후에서 행동이 달라지고, 넘긴 뒤에도 처리 건이 닫히지 않는 것까지가 기대 결과이다.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10분이 되기 직전</a:t>
            </a:r>
          </a:p>
          <a:p>
            <a:pPr algn="ctr">
              <a:lnSpc>
                <a:spcPct val="110000"/>
              </a:lnSpc>
              <a:spcAft>
                <a:spcPts val="400"/>
              </a:spcAft>
            </a:pPr>
            <a:r>
              <a:rPr sz="1350" b="0">
                <a:solidFill>
                  <a:srgbClr val="1F2A3A"/>
                </a:solidFill>
                <a:latin typeface="맑은 고딕"/>
                <a:ea typeface="맑은 고딕"/>
                <a:cs typeface="맑은 고딕"/>
              </a:rPr>
              <a:t>지연 알림이</a:t>
            </a:r>
          </a:p>
          <a:p>
            <a:pPr algn="ctr">
              <a:lnSpc>
                <a:spcPct val="110000"/>
              </a:lnSpc>
              <a:spcAft>
                <a:spcPts val="400"/>
              </a:spcAft>
            </a:pPr>
            <a:r>
              <a:rPr sz="13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10분을 넘긴 직후</a:t>
            </a:r>
          </a:p>
          <a:p>
            <a:pPr algn="ctr">
              <a:lnSpc>
                <a:spcPct val="110000"/>
              </a:lnSpc>
              <a:spcAft>
                <a:spcPts val="400"/>
              </a:spcAft>
            </a:pPr>
            <a:r>
              <a:rPr sz="1350" b="0">
                <a:solidFill>
                  <a:srgbClr val="1F2A3A"/>
                </a:solidFill>
                <a:latin typeface="맑은 고딕"/>
                <a:ea typeface="맑은 고딕"/>
                <a:cs typeface="맑은 고딕"/>
              </a:rPr>
              <a:t>「승인 지연」 알림이</a:t>
            </a:r>
          </a:p>
          <a:p>
            <a:pPr algn="ctr">
              <a:lnSpc>
                <a:spcPct val="110000"/>
              </a:lnSpc>
              <a:spcAft>
                <a:spcPts val="400"/>
              </a:spcAft>
            </a:pPr>
            <a:r>
              <a:rPr sz="13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알림이 나간 뒤</a:t>
            </a:r>
          </a:p>
          <a:p>
            <a:pPr algn="ctr">
              <a:lnSpc>
                <a:spcPct val="110000"/>
              </a:lnSpc>
              <a:spcAft>
                <a:spcPts val="400"/>
              </a:spcAft>
            </a:pPr>
            <a:r>
              <a:rPr sz="1350" b="0">
                <a:solidFill>
                  <a:srgbClr val="1F2A3A"/>
                </a:solidFill>
                <a:latin typeface="맑은 고딕"/>
                <a:ea typeface="맑은 고딕"/>
                <a:cs typeface="맑은 고딕"/>
              </a:rPr>
              <a:t>승인 단계는 열려 있고</a:t>
            </a:r>
          </a:p>
          <a:p>
            <a:pPr algn="ctr">
              <a:lnSpc>
                <a:spcPct val="110000"/>
              </a:lnSpc>
              <a:spcAft>
                <a:spcPts val="400"/>
              </a:spcAft>
            </a:pPr>
            <a:r>
              <a:rPr sz="13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뒤늦은 승인</a:t>
            </a:r>
          </a:p>
          <a:p>
            <a:pPr algn="ctr">
              <a:lnSpc>
                <a:spcPct val="110000"/>
              </a:lnSpc>
              <a:spcAft>
                <a:spcPts val="400"/>
              </a:spcAft>
            </a:pPr>
            <a:r>
              <a:rPr sz="1350" b="0">
                <a:solidFill>
                  <a:srgbClr val="1F2A3A"/>
                </a:solidFill>
                <a:latin typeface="맑은 고딕"/>
                <a:ea typeface="맑은 고딕"/>
                <a:cs typeface="맑은 고딕"/>
              </a:rPr>
              <a:t>정상으로 처리되어</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읽은 값이 60초보다 오래되었다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회귀.svg" descr="illust_4573758492570100468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10241455" y="451137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HYD의 회귀 기록에는 다시 실행한 시험의 수와 그 가운데 통과한 수, 실패한 수가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시험 전체</a:t>
            </a:r>
          </a:p>
          <a:p>
            <a:pPr algn="l">
              <a:lnSpc>
                <a:spcPct val="110000"/>
              </a:lnSpc>
              <a:spcAft>
                <a:spcPts val="400"/>
              </a:spcAft>
            </a:pPr>
            <a:r>
              <a:rPr sz="1400" b="0">
                <a:solidFill>
                  <a:srgbClr val="1F2A3A"/>
                </a:solidFill>
                <a:latin typeface="맑은 고딕"/>
                <a:ea typeface="맑은 고딕"/>
                <a:cs typeface="맑은 고딕"/>
              </a:rPr>
              <a:t>• 2,173개 통과</a:t>
            </a:r>
          </a:p>
          <a:p>
            <a:pPr algn="l">
              <a:lnSpc>
                <a:spcPct val="110000"/>
              </a:lnSpc>
              <a:spcAft>
                <a:spcPts val="400"/>
              </a:spcAft>
            </a:pPr>
            <a:r>
              <a:rPr sz="1400" b="0">
                <a:solidFill>
                  <a:srgbClr val="1F2A3A"/>
                </a:solidFill>
                <a:latin typeface="맑은 고딕"/>
                <a:ea typeface="맑은 고딕"/>
                <a:cs typeface="맑은 고딕"/>
              </a:rPr>
              <a:t>• 실패 0</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사건의 검사</a:t>
            </a:r>
          </a:p>
          <a:p>
            <a:pPr algn="l">
              <a:lnSpc>
                <a:spcPct val="110000"/>
              </a:lnSpc>
              <a:spcAft>
                <a:spcPts val="400"/>
              </a:spcAft>
            </a:pPr>
            <a:r>
              <a:rPr sz="1400" b="0">
                <a:solidFill>
                  <a:srgbClr val="1F2A3A"/>
                </a:solidFill>
                <a:latin typeface="맑은 고딕"/>
                <a:ea typeface="맑은 고딕"/>
                <a:cs typeface="맑은 고딕"/>
              </a:rPr>
              <a:t>• 경보가 처리 건 하나를 여는가</a:t>
            </a:r>
          </a:p>
          <a:p>
            <a:pPr algn="l">
              <a:lnSpc>
                <a:spcPct val="110000"/>
              </a:lnSpc>
              <a:spcAft>
                <a:spcPts val="400"/>
              </a:spcAft>
            </a:pPr>
            <a:r>
              <a:rPr sz="1400" b="0">
                <a:solidFill>
                  <a:srgbClr val="1F2A3A"/>
                </a:solidFill>
                <a:latin typeface="맑은 고딕"/>
                <a:ea typeface="맑은 고딕"/>
                <a:cs typeface="맑은 고딕"/>
              </a:rPr>
              <a:t>• 권한 없는 승인이 거부되는가</a:t>
            </a:r>
          </a:p>
          <a:p>
            <a:pPr algn="l">
              <a:lnSpc>
                <a:spcPct val="110000"/>
              </a:lnSpc>
              <a:spcAft>
                <a:spcPts val="400"/>
              </a:spcAft>
            </a:pPr>
            <a:r>
              <a:rPr sz="140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149850"/>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펌프와 팬 사건의 검사</a:t>
            </a:r>
          </a:p>
          <a:p>
            <a:pPr algn="l">
              <a:lnSpc>
                <a:spcPct val="110000"/>
              </a:lnSpc>
              <a:spcAft>
                <a:spcPts val="400"/>
              </a:spcAft>
            </a:pPr>
            <a:r>
              <a:rPr sz="140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149850"/>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조건의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쿨러 경보 두 건을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추천안</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시험은 설명 문장의 일치를 묻지 않고, 출력 계약이 정한 항목이 있는지와 그 값이 기대와 같은지를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항목의 유무</a:t>
            </a:r>
          </a:p>
          <a:p>
            <a:pPr algn="l">
              <a:lnSpc>
                <a:spcPct val="110000"/>
              </a:lnSpc>
              <a:spcAft>
                <a:spcPts val="400"/>
              </a:spcAft>
            </a:pPr>
            <a:r>
              <a:rPr sz="1400" b="0">
                <a:solidFill>
                  <a:srgbClr val="1F2A3A"/>
                </a:solidFill>
                <a:latin typeface="맑은 고딕"/>
                <a:ea typeface="맑은 고딕"/>
                <a:cs typeface="맑은 고딕"/>
              </a:rPr>
              <a:t>다섯 항목이 모두 있는지를 견준다.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recommended</a:t>
            </a:r>
          </a:p>
          <a:p>
            <a:pPr algn="l">
              <a:lnSpc>
                <a:spcPct val="110000"/>
              </a:lnSpc>
              <a:spcAft>
                <a:spcPts val="400"/>
              </a:spcAft>
            </a:pPr>
            <a:r>
              <a:rPr sz="1400" b="0">
                <a:solidFill>
                  <a:srgbClr val="1F2A3A"/>
                </a:solidFill>
                <a:latin typeface="맑은 고딕"/>
                <a:ea typeface="맑은 고딕"/>
                <a:cs typeface="맑은 고딕"/>
              </a:rPr>
              <a:t>값이 기대한 식별자와 같은지를 견준다.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explanation</a:t>
            </a:r>
          </a:p>
          <a:p>
            <a:pPr algn="l">
              <a:lnSpc>
                <a:spcPct val="110000"/>
              </a:lnSpc>
              <a:spcAft>
                <a:spcPts val="400"/>
              </a:spcAft>
            </a:pPr>
            <a:r>
              <a:rPr sz="1400" b="0">
                <a:solidFill>
                  <a:srgbClr val="1F2A3A"/>
                </a:solidFill>
                <a:latin typeface="맑은 고딕"/>
                <a:ea typeface="맑은 고딕"/>
                <a:cs typeface="맑은 고딕"/>
              </a:rPr>
              <a:t>문장은 실행마다 다르다. 글자의 일치를 견주지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번호는 제출할 때마다 새로 붙는다. 있는지만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번의 통과는 그 한 번의 출력만 보인 것이어서, 같은 항목을 여러 번 실행한 평균과 최저와 흔들림을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평균</a:t>
            </a:r>
          </a:p>
          <a:p>
            <a:pPr algn="l">
              <a:lnSpc>
                <a:spcPct val="110000"/>
              </a:lnSpc>
              <a:spcAft>
                <a:spcPts val="400"/>
              </a:spcAft>
            </a:pPr>
            <a:r>
              <a:rPr sz="1400" b="0">
                <a:solidFill>
                  <a:srgbClr val="1F2A3A"/>
                </a:solidFill>
                <a:latin typeface="맑은 고딕"/>
                <a:ea typeface="맑은 고딕"/>
                <a:cs typeface="맑은 고딕"/>
              </a:rPr>
              <a:t>• 여러 번 실행한 점수의 평균이다</a:t>
            </a:r>
          </a:p>
          <a:p>
            <a:pPr algn="l">
              <a:lnSpc>
                <a:spcPct val="110000"/>
              </a:lnSpc>
              <a:spcAft>
                <a:spcPts val="400"/>
              </a:spcAft>
            </a:pPr>
            <a:r>
              <a:rPr sz="1400" b="0">
                <a:solidFill>
                  <a:srgbClr val="1F2A3A"/>
                </a:solidFill>
                <a:latin typeface="맑은 고딕"/>
                <a:ea typeface="맑은 고딕"/>
                <a:cs typeface="맑은 고딕"/>
              </a:rPr>
              <a:t>• 평소의 수준을 보인다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최저</a:t>
            </a:r>
          </a:p>
          <a:p>
            <a:pPr algn="l">
              <a:lnSpc>
                <a:spcPct val="110000"/>
              </a:lnSpc>
              <a:spcAft>
                <a:spcPts val="400"/>
              </a:spcAft>
            </a:pPr>
            <a:r>
              <a:rPr sz="1400" b="0">
                <a:solidFill>
                  <a:srgbClr val="1F2A3A"/>
                </a:solidFill>
                <a:latin typeface="맑은 고딕"/>
                <a:ea typeface="맑은 고딕"/>
                <a:cs typeface="맑은 고딕"/>
              </a:rPr>
              <a:t>• 가장 나빴던 실행의 점수이다</a:t>
            </a:r>
          </a:p>
          <a:p>
            <a:pPr algn="l">
              <a:lnSpc>
                <a:spcPct val="110000"/>
              </a:lnSpc>
              <a:spcAft>
                <a:spcPts val="400"/>
              </a:spcAft>
            </a:pPr>
            <a:r>
              <a:rPr sz="1400" b="0">
                <a:solidFill>
                  <a:srgbClr val="1F2A3A"/>
                </a:solidFill>
                <a:latin typeface="맑은 고딕"/>
                <a:ea typeface="맑은 고딕"/>
                <a:cs typeface="맑은 고딕"/>
              </a:rPr>
              <a:t>• 계약 위반은 한 번만 나와도 실패다</a:t>
            </a:r>
          </a:p>
        </p:txBody>
      </p:sp>
      <p:sp>
        <p:nvSpPr>
          <p:cNvPr id="16" name="Rounded Rectangle 15"/>
          <p:cNvSpPr/>
          <p:nvPr/>
        </p:nvSpPr>
        <p:spPr>
          <a:xfrm>
            <a:off x="4566818" y="493293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최악의 경우</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흔들림</a:t>
            </a:r>
          </a:p>
          <a:p>
            <a:pPr algn="l">
              <a:lnSpc>
                <a:spcPct val="110000"/>
              </a:lnSpc>
              <a:spcAft>
                <a:spcPts val="400"/>
              </a:spcAft>
            </a:pPr>
            <a:r>
              <a:rPr sz="1400" b="0">
                <a:solidFill>
                  <a:srgbClr val="1F2A3A"/>
                </a:solidFill>
                <a:latin typeface="맑은 고딕"/>
                <a:ea typeface="맑은 고딕"/>
                <a:cs typeface="맑은 고딕"/>
              </a:rPr>
              <a:t>실행마다 결과가 같았는지를 보인다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검증의 한 바퀴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명세에서 시나리오를 만들어 실행하고, 실패를 고친 뒤 전체를 다시 실행하는 한 바퀴가 요구가 바뀔 때마다 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계약, 금지 조건,</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checklist" descr="checklis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시나리오</a:t>
            </a:r>
          </a:p>
          <a:p>
            <a:pPr algn="ctr">
              <a:lnSpc>
                <a:spcPct val="110000"/>
              </a:lnSpc>
              <a:spcAft>
                <a:spcPts val="400"/>
              </a:spcAft>
            </a:pPr>
            <a:r>
              <a:rPr sz="1250" b="0">
                <a:solidFill>
                  <a:srgbClr val="1F2A3A"/>
                </a:solidFill>
                <a:latin typeface="맑은 고딕"/>
                <a:ea typeface="맑은 고딕"/>
                <a:cs typeface="맑은 고딕"/>
              </a:rPr>
              <a:t>Given · When · Then,</a:t>
            </a:r>
          </a:p>
          <a:p>
            <a:pPr algn="ctr">
              <a:lnSpc>
                <a:spcPct val="110000"/>
              </a:lnSpc>
              <a:spcAft>
                <a:spcPts val="400"/>
              </a:spcAft>
            </a:pPr>
            <a:r>
              <a:rPr sz="1250" b="0">
                <a:solidFill>
                  <a:srgbClr val="1F2A3A"/>
                </a:solidFill>
                <a:latin typeface="맑은 고딕"/>
                <a:ea typeface="맑은 고딕"/>
                <a:cs typeface="맑은 고딕"/>
              </a:rPr>
              <a:t>입력값과 기대값</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실행과 대조</a:t>
            </a:r>
          </a:p>
          <a:p>
            <a:pPr algn="ctr">
              <a:lnSpc>
                <a:spcPct val="110000"/>
              </a:lnSpc>
              <a:spcAft>
                <a:spcPts val="400"/>
              </a:spcAft>
            </a:pPr>
            <a:r>
              <a:rPr sz="1250" b="0">
                <a:solidFill>
                  <a:srgbClr val="1F2A3A"/>
                </a:solidFill>
                <a:latin typeface="맑은 고딕"/>
                <a:ea typeface="맑은 고딕"/>
                <a:cs typeface="맑은 고딕"/>
              </a:rPr>
              <a:t>단언으로 실제 결과를</a:t>
            </a:r>
          </a:p>
          <a:p>
            <a:pPr algn="ctr">
              <a:lnSpc>
                <a:spcPct val="110000"/>
              </a:lnSpc>
              <a:spcAft>
                <a:spcPts val="400"/>
              </a:spcAft>
            </a:pPr>
            <a:r>
              <a:rPr sz="1250" b="0">
                <a:solidFill>
                  <a:srgbClr val="1F2A3A"/>
                </a:solidFill>
                <a:latin typeface="맑은 고딕"/>
                <a:ea typeface="맑은 고딕"/>
                <a:cs typeface="맑은 고딕"/>
              </a:rPr>
              <a:t>기대값과 견준다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원인과 수정</a:t>
            </a:r>
          </a:p>
          <a:p>
            <a:pPr algn="ctr">
              <a:lnSpc>
                <a:spcPct val="110000"/>
              </a:lnSpc>
              <a:spcAft>
                <a:spcPts val="400"/>
              </a:spcAft>
            </a:pPr>
            <a:r>
              <a:rPr sz="1250" b="0">
                <a:solidFill>
                  <a:srgbClr val="1F2A3A"/>
                </a:solidFill>
                <a:latin typeface="맑은 고딕"/>
                <a:ea typeface="맑은 고딕"/>
                <a:cs typeface="맑은 고딕"/>
              </a:rPr>
              <a:t>지침, 지식, 명세, 코드</a:t>
            </a:r>
          </a:p>
          <a:p>
            <a:pPr algn="ctr">
              <a:lnSpc>
                <a:spcPct val="110000"/>
              </a:lnSpc>
              <a:spcAft>
                <a:spcPts val="400"/>
              </a:spcAft>
            </a:pPr>
            <a:r>
              <a:rPr sz="1250" b="0">
                <a:solidFill>
                  <a:srgbClr val="1F2A3A"/>
                </a:solidFill>
                <a:latin typeface="맑은 고딕"/>
                <a:ea typeface="맑은 고딕"/>
                <a:cs typeface="맑은 고딕"/>
              </a:rPr>
              <a:t>가운데 고칠 곳</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epeat" descr="repea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전체 회귀</a:t>
            </a:r>
          </a:p>
          <a:p>
            <a:pPr algn="ctr">
              <a:lnSpc>
                <a:spcPct val="110000"/>
              </a:lnSpc>
              <a:spcAft>
                <a:spcPts val="400"/>
              </a:spcAft>
            </a:pPr>
            <a:r>
              <a:rPr sz="1250" b="0">
                <a:solidFill>
                  <a:srgbClr val="1F2A3A"/>
                </a:solidFill>
                <a:latin typeface="맑은 고딕"/>
                <a:ea typeface="맑은 고딕"/>
                <a:cs typeface="맑은 고딕"/>
              </a:rPr>
              <a:t>기존 시나리오를</a:t>
            </a:r>
          </a:p>
          <a:p>
            <a:pPr algn="ctr">
              <a:lnSpc>
                <a:spcPct val="110000"/>
              </a:lnSpc>
              <a:spcAft>
                <a:spcPts val="400"/>
              </a:spcAft>
            </a:pPr>
            <a:r>
              <a:rPr sz="1250" b="0">
                <a:solidFill>
                  <a:srgbClr val="1F2A3A"/>
                </a:solidFill>
                <a:latin typeface="맑은 고딕"/>
                <a:ea typeface="맑은 고딕"/>
                <a:cs typeface="맑은 고딕"/>
              </a:rPr>
              <a:t>모두 다시 실행한다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 행동 기준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일반 정비와 긴급 정비를 비롯한 다섯 경우의 Given · When · Then을 적는다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적는 시나리오와 남는 문서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다섯 경우의 Given · When · Then과 입력값, 기대 상태를 적은 시나리오 문서가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경우</a:t>
            </a:r>
          </a:p>
          <a:p>
            <a:pPr algn="l">
              <a:lnSpc>
                <a:spcPct val="110000"/>
              </a:lnSpc>
              <a:spcAft>
                <a:spcPts val="400"/>
              </a:spcAft>
            </a:pPr>
            <a:r>
              <a:rPr sz="1400" b="0">
                <a:solidFill>
                  <a:srgbClr val="1F2A3A"/>
                </a:solidFill>
                <a:latin typeface="맑은 고딕"/>
                <a:ea typeface="맑은 고딕"/>
                <a:cs typeface="맑은 고딕"/>
              </a:rPr>
              <a:t>일반 정비, 긴급 정비, 필수 정보 누락, 승인 거절, 도구 오류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경우</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경우마다 적는 것</a:t>
            </a:r>
          </a:p>
          <a:p>
            <a:pPr algn="l">
              <a:lnSpc>
                <a:spcPct val="110000"/>
              </a:lnSpc>
              <a:spcAft>
                <a:spcPts val="400"/>
              </a:spcAft>
            </a:pPr>
            <a:r>
              <a:rPr sz="1400" b="0">
                <a:solidFill>
                  <a:srgbClr val="1F2A3A"/>
                </a:solidFill>
                <a:latin typeface="맑은 고딕"/>
                <a:ea typeface="맑은 고딕"/>
                <a:cs typeface="맑은 고딕"/>
              </a:rPr>
              <a:t>Given · When · Then과 입력값, 기대 상태, 지켜야 할 출력 계약</a:t>
            </a:r>
          </a:p>
        </p:txBody>
      </p:sp>
      <p:sp>
        <p:nvSpPr>
          <p:cNvPr id="16" name="Rounded Rectangle 15"/>
          <p:cNvSpPr/>
          <p:nvPr/>
        </p:nvSpPr>
        <p:spPr>
          <a:xfrm>
            <a:off x="4566818" y="4932934"/>
            <a:ext cx="9753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지난 시간에 쓴 spec.md와 같은 에이전트를 그대로 쓴다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에이전트 동작의 반복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시나리오를 자동 시험에 연결해 실제 출력과 기대값을 되풀이해 견준다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자동 시험에 이어 되풀이해 실행하고, 실제 출력이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 연결</a:t>
            </a:r>
          </a:p>
          <a:p>
            <a:pPr algn="ctr">
              <a:lnSpc>
                <a:spcPct val="110000"/>
              </a:lnSpc>
              <a:spcAft>
                <a:spcPts val="400"/>
              </a:spcAft>
            </a:pPr>
            <a:r>
              <a:rPr sz="1350" b="0">
                <a:solidFill>
                  <a:srgbClr val="1F2A3A"/>
                </a:solidFill>
                <a:latin typeface="맑은 고딕"/>
                <a:ea typeface="맑은 고딕"/>
                <a:cs typeface="맑은 고딕"/>
              </a:rPr>
              <a:t>준비된 자동 시험이나</a:t>
            </a:r>
          </a:p>
          <a:p>
            <a:pPr algn="ctr">
              <a:lnSpc>
                <a:spcPct val="110000"/>
              </a:lnSpc>
              <a:spcAft>
                <a:spcPts val="400"/>
              </a:spcAft>
            </a:pPr>
            <a:r>
              <a:rPr sz="1350" b="0">
                <a:solidFill>
                  <a:srgbClr val="1F2A3A"/>
                </a:solidFill>
                <a:latin typeface="맑은 고딕"/>
                <a:ea typeface="맑은 고딕"/>
                <a:cs typeface="맑은 고딕"/>
              </a:rPr>
              <a:t>반복 실행 스크립트에</a:t>
            </a:r>
          </a:p>
          <a:p>
            <a:pPr algn="ctr">
              <a:lnSpc>
                <a:spcPct val="110000"/>
              </a:lnSpc>
              <a:spcAft>
                <a:spcPts val="400"/>
              </a:spcAft>
            </a:pPr>
            <a:r>
              <a:rPr sz="1350" b="0">
                <a:solidFill>
                  <a:srgbClr val="1F2A3A"/>
                </a:solidFill>
                <a:latin typeface="맑은 고딕"/>
                <a:ea typeface="맑은 고딕"/>
                <a:cs typeface="맑은 고딕"/>
              </a:rPr>
              <a:t>시나리오를 잇는다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epeat" descr="repea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반복 실행</a:t>
            </a:r>
          </a:p>
          <a:p>
            <a:pPr algn="ctr">
              <a:lnSpc>
                <a:spcPct val="110000"/>
              </a:lnSpc>
              <a:spcAft>
                <a:spcPts val="400"/>
              </a:spcAft>
            </a:pPr>
            <a:r>
              <a:rPr sz="1350" b="0">
                <a:solidFill>
                  <a:srgbClr val="1F2A3A"/>
                </a:solidFill>
                <a:latin typeface="맑은 고딕"/>
                <a:ea typeface="맑은 고딕"/>
                <a:cs typeface="맑은 고딕"/>
              </a:rPr>
              <a:t>같은 입력으로</a:t>
            </a:r>
          </a:p>
          <a:p>
            <a:pPr algn="ctr">
              <a:lnSpc>
                <a:spcPct val="110000"/>
              </a:lnSpc>
              <a:spcAft>
                <a:spcPts val="400"/>
              </a:spcAft>
            </a:pPr>
            <a:r>
              <a:rPr sz="1350" b="0">
                <a:solidFill>
                  <a:srgbClr val="1F2A3A"/>
                </a:solidFill>
                <a:latin typeface="맑은 고딕"/>
                <a:ea typeface="맑은 고딕"/>
                <a:cs typeface="맑은 고딕"/>
              </a:rPr>
              <a:t>여러 번 실행한다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대조</a:t>
            </a:r>
          </a:p>
          <a:p>
            <a:pPr algn="ctr">
              <a:lnSpc>
                <a:spcPct val="110000"/>
              </a:lnSpc>
              <a:spcAft>
                <a:spcPts val="400"/>
              </a:spcAft>
            </a:pPr>
            <a:r>
              <a:rPr sz="1350" b="0">
                <a:solidFill>
                  <a:srgbClr val="1F2A3A"/>
                </a:solidFill>
                <a:latin typeface="맑은 고딕"/>
                <a:ea typeface="맑은 고딕"/>
                <a:cs typeface="맑은 고딕"/>
              </a:rPr>
              <a:t>실제 출력과 기대값을 견주고</a:t>
            </a:r>
          </a:p>
          <a:p>
            <a:pPr algn="ctr">
              <a:lnSpc>
                <a:spcPct val="110000"/>
              </a:lnSpc>
              <a:spcAft>
                <a:spcPts val="400"/>
              </a:spcAft>
            </a:pPr>
            <a:r>
              <a:rPr sz="1350" b="0">
                <a:solidFill>
                  <a:srgbClr val="1F2A3A"/>
                </a:solidFill>
                <a:latin typeface="맑은 고딕"/>
                <a:ea typeface="맑은 고딕"/>
                <a:cs typeface="맑은 고딕"/>
              </a:rPr>
              <a:t>로그와 결과 파일을 읽는다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구별</a:t>
            </a:r>
          </a:p>
          <a:p>
            <a:pPr algn="ctr">
              <a:lnSpc>
                <a:spcPct val="110000"/>
              </a:lnSpc>
              <a:spcAft>
                <a:spcPts val="400"/>
              </a:spcAft>
            </a:pPr>
            <a:r>
              <a:rPr sz="1350" b="0">
                <a:solidFill>
                  <a:srgbClr val="1F2A3A"/>
                </a:solidFill>
                <a:latin typeface="맑은 고딕"/>
                <a:ea typeface="맑은 고딕"/>
                <a:cs typeface="맑은 고딕"/>
              </a:rPr>
              <a:t>표현 차이와</a:t>
            </a:r>
          </a:p>
          <a:p>
            <a:pPr algn="ctr">
              <a:lnSpc>
                <a:spcPct val="110000"/>
              </a:lnSpc>
              <a:spcAft>
                <a:spcPts val="400"/>
              </a:spcAft>
            </a:pPr>
            <a:r>
              <a:rPr sz="1350" b="0">
                <a:solidFill>
                  <a:srgbClr val="1F2A3A"/>
                </a:solidFill>
                <a:latin typeface="맑은 고딕"/>
                <a:ea typeface="맑은 고딕"/>
                <a:cs typeface="맑은 고딕"/>
              </a:rPr>
              <a:t>계약 위반을 가른다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오류 수정과 전체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실패한 시나리오의 원인을 가려 고치고 기존 행동이 유지되는지를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것과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따라간다</a:t>
            </a:r>
          </a:p>
        </p:txBody>
      </p:sp>
      <p:sp>
        <p:nvSpPr>
          <p:cNvPr id="10" name="Rounded Rectangle 9"/>
          <p:cNvSpPr/>
          <p:nvPr/>
        </p:nvSpPr>
        <p:spPr>
          <a:xfrm>
            <a:off x="777240" y="504139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 대상의 구분</a:t>
            </a:r>
          </a:p>
          <a:p>
            <a:pPr algn="l">
              <a:lnSpc>
                <a:spcPct val="110000"/>
              </a:lnSpc>
              <a:spcAft>
                <a:spcPts val="400"/>
              </a:spcAft>
            </a:pPr>
            <a:r>
              <a:rPr sz="1400" b="0">
                <a:solidFill>
                  <a:srgbClr val="1F2A3A"/>
                </a:solidFill>
                <a:latin typeface="맑은 고딕"/>
                <a:ea typeface="맑은 고딕"/>
                <a:cs typeface="맑은 고딕"/>
              </a:rPr>
              <a:t>프롬프트, 명세, 코드 가운데 고칠 곳을 가려 고치고 다시 실행한다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고칠 곳</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패브릭은 여러 시스템의 데이터를 출처에 둔 채 함께 읽는 방식이며, 값마다 출처와 읽은 시각을 붙인다.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데이터를 연결한 교대 인수인계서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이벤트, 정비 이력, 부품 DB의 조회 결과를 엮어 인수인계서 한 장을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엮는 출처와 완성되는 인수인계서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세 출처의 조회 결과를 엮어, 한 일과 남은 일과 주의 사항에 근거 시각을 붙인 인수인계서가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출처</a:t>
            </a:r>
          </a:p>
          <a:p>
            <a:pPr algn="l">
              <a:lnSpc>
                <a:spcPct val="110000"/>
              </a:lnSpc>
              <a:spcAft>
                <a:spcPts val="400"/>
              </a:spcAft>
            </a:pPr>
            <a:r>
              <a:rPr sz="1400" b="0">
                <a:solidFill>
                  <a:srgbClr val="1F2A3A"/>
                </a:solidFill>
                <a:latin typeface="맑은 고딕"/>
                <a:ea typeface="맑은 고딕"/>
                <a:cs typeface="맑은 고딕"/>
              </a:rPr>
              <a:t>설비 이벤트, 정비 이력, 부품 DB의 조회 결과를 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연결해 읽기</a:t>
            </a:r>
          </a:p>
          <a:p>
            <a:pPr algn="l">
              <a:lnSpc>
                <a:spcPct val="110000"/>
              </a:lnSpc>
              <a:spcAft>
                <a:spcPts val="400"/>
              </a:spcAft>
            </a:pPr>
            <a:r>
              <a:rPr sz="1400" b="0">
                <a:solidFill>
                  <a:srgbClr val="1F2A3A"/>
                </a:solidFill>
                <a:latin typeface="맑은 고딕"/>
                <a:ea typeface="맑은 고딕"/>
                <a:cs typeface="맑은 고딕"/>
              </a:rPr>
              <a:t>데이터를 옮겨 모으지 않고 출처에 둔 채 한 물음으로 함께 읽는다</a:t>
            </a:r>
          </a:p>
        </p:txBody>
      </p:sp>
      <p:sp>
        <p:nvSpPr>
          <p:cNvPr id="16" name="Rounded Rectangle 15"/>
          <p:cNvSpPr/>
          <p:nvPr/>
        </p:nvSpPr>
        <p:spPr>
          <a:xfrm>
            <a:off x="4566818" y="493293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 패브릭</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인수인계서</a:t>
            </a:r>
          </a:p>
          <a:p>
            <a:pPr algn="l">
              <a:lnSpc>
                <a:spcPct val="110000"/>
              </a:lnSpc>
              <a:spcAft>
                <a:spcPts val="400"/>
              </a:spcAft>
            </a:pPr>
            <a:r>
              <a:rPr sz="1400" b="0">
                <a:solidFill>
                  <a:srgbClr val="1F2A3A"/>
                </a:solidFill>
                <a:latin typeface="맑은 고딕"/>
                <a:ea typeface="맑은 고딕"/>
                <a:cs typeface="맑은 고딕"/>
              </a:rPr>
              <a:t>완료 작업, 미완료 요청, 주의 사항을 적고 항목마다 근거 시각을 붙인다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교대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더해진것.svg" descr="illust_6985839406701128776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5일차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6일차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8일차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사건위장치.svg" descr="illust_1220188821900603772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8일차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근거자리.svg" descr="illust_8396345175944042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지식 그래프에 정해 둔 관계</a:t>
            </a:r>
          </a:p>
        </p:txBody>
      </p:sp>
      <p:sp>
        <p:nvSpPr>
          <p:cNvPr id="8" name="TextBox 7"/>
          <p:cNvSpPr txBox="1"/>
          <p:nvPr/>
        </p:nvSpPr>
        <p:spPr>
          <a:xfrm>
            <a:off x="2255705" y="3234964"/>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후보 셋</a:t>
            </a:r>
          </a:p>
          <a:p>
            <a:pPr algn="ctr">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현재값</a:t>
            </a:r>
          </a:p>
          <a:p>
            <a:pPr algn="ctr">
              <a:lnSpc>
                <a:spcPct val="110000"/>
              </a:lnSpc>
              <a:spcAft>
                <a:spcPts val="100"/>
              </a:spcAft>
            </a:pPr>
            <a:r>
              <a:rPr sz="1300" b="0">
                <a:solidFill>
                  <a:srgbClr val="556175"/>
                </a:solidFill>
                <a:latin typeface="맑은 고딕"/>
                <a:ea typeface="맑은 고딕"/>
                <a:cs typeface="맑은 고딕"/>
              </a:rPr>
              <a:t>판단하는 순간에 읽는 값</a:t>
            </a:r>
          </a:p>
        </p:txBody>
      </p:sp>
      <p:sp>
        <p:nvSpPr>
          <p:cNvPr id="12" name="TextBox 11"/>
          <p:cNvSpPr txBox="1"/>
          <p:nvPr/>
        </p:nvSpPr>
        <p:spPr>
          <a:xfrm>
            <a:off x="2495714"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근거마다 읽은 곳이 남는다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두문.svg" descr="illust_3757096446134611679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자동 검사</a:t>
            </a:r>
          </a:p>
          <a:p>
            <a:pPr algn="ctr">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담당자의 승인</a:t>
            </a:r>
          </a:p>
          <a:p>
            <a:pPr algn="ctr">
              <a:lnSpc>
                <a:spcPct val="110000"/>
              </a:lnSpc>
              <a:spcAft>
                <a:spcPts val="100"/>
              </a:spcAft>
            </a:pPr>
            <a:r>
              <a:rPr sz="1100" b="0">
                <a:solidFill>
                  <a:srgbClr val="556175"/>
                </a:solidFill>
                <a:latin typeface="맑은 고딕"/>
                <a:ea typeface="맑은 고딕"/>
                <a:cs typeface="맑은 고딕"/>
              </a:rPr>
              <a:t>추천의 내용과 지금의 상황을 본다</a:t>
            </a:r>
          </a:p>
        </p:txBody>
      </p:sp>
      <p:sp>
        <p:nvSpPr>
          <p:cNvPr id="13" name="TextBox 12"/>
          <p:cNvSpPr txBox="1"/>
          <p:nvPr/>
        </p:nvSpPr>
        <p:spPr>
          <a:xfrm>
            <a:off x="7492262" y="4275002"/>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실행해도 된다</a:t>
            </a:r>
          </a:p>
        </p:txBody>
      </p:sp>
      <p:sp>
        <p:nvSpPr>
          <p:cNvPr id="14" name="TextBox 13"/>
          <p:cNvSpPr txBox="1"/>
          <p:nvPr/>
        </p:nvSpPr>
        <p:spPr>
          <a:xfrm>
            <a:off x="9455972" y="3802258"/>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 명령</a:t>
            </a:r>
          </a:p>
          <a:p>
            <a:pPr algn="ctr">
              <a:lnSpc>
                <a:spcPct val="110000"/>
              </a:lnSpc>
              <a:spcAft>
                <a:spcPts val="100"/>
              </a:spcAft>
            </a:pPr>
            <a:r>
              <a:rPr sz="1100" b="0">
                <a:solidFill>
                  <a:srgbClr val="556175"/>
                </a:solidFill>
                <a:latin typeface="맑은 고딕"/>
                <a:ea typeface="맑은 고딕"/>
                <a:cs typeface="맑은 고딕"/>
              </a:rPr>
              <a:t>승인 뒤에만 만들어진다</a:t>
            </a:r>
          </a:p>
        </p:txBody>
      </p:sp>
      <p:sp>
        <p:nvSpPr>
          <p:cNvPr id="15" name="TextBox 14"/>
          <p:cNvSpPr txBox="1"/>
          <p:nvPr/>
        </p:nvSpPr>
        <p:spPr>
          <a:xfrm>
            <a:off x="8823221" y="5409590"/>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 기록</a:t>
            </a:r>
          </a:p>
          <a:p>
            <a:pPr algn="ctr">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p:txBody>
      </p:sp>
      <p:sp>
        <p:nvSpPr>
          <p:cNvPr id="17" name="TextBox 16"/>
          <p:cNvSpPr txBox="1"/>
          <p:nvPr/>
        </p:nvSpPr>
        <p:spPr>
          <a:xfrm>
            <a:off x="2441166" y="5385953"/>
            <a:ext cx="185461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a:p>
            <a:pPr algn="ctr">
              <a:lnSpc>
                <a:spcPct val="110000"/>
              </a:lnSpc>
              <a:spcAft>
                <a:spcPts val="400"/>
              </a:spcAft>
            </a:pPr>
            <a:r>
              <a:rPr sz="13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a:p>
            <a:pPr algn="ctr">
              <a:lnSpc>
                <a:spcPct val="110000"/>
              </a:lnSpc>
              <a:spcAft>
                <a:spcPts val="400"/>
              </a:spcAft>
            </a:pPr>
            <a:r>
              <a:rPr sz="13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a:p>
            <a:pPr algn="ctr">
              <a:lnSpc>
                <a:spcPct val="110000"/>
              </a:lnSpc>
              <a:spcAft>
                <a:spcPts val="400"/>
              </a:spcAft>
            </a:pPr>
            <a:r>
              <a:rPr sz="13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a:p>
            <a:pPr algn="ctr">
              <a:lnSpc>
                <a:spcPct val="110000"/>
              </a:lnSpc>
              <a:spcAft>
                <a:spcPts val="400"/>
              </a:spcAft>
            </a:pPr>
            <a:r>
              <a:rPr sz="1350" b="0">
                <a:solidFill>
                  <a:srgbClr val="1F2A3A"/>
                </a:solidFill>
                <a:latin typeface="맑은 고딕"/>
                <a:ea typeface="맑은 고딕"/>
                <a:cs typeface="맑은 고딕"/>
              </a:rPr>
              <a:t>예: 일반 요청, 보류, 거절의 시나리오까지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세산출물.svg" descr="illust_6059618243264607937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틀</a:t>
            </a:r>
          </a:p>
          <a:p>
            <a:pPr algn="ctr">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긴급 대응</a:t>
            </a:r>
          </a:p>
          <a:p>
            <a:pPr algn="ctr">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정비 계획</a:t>
            </a:r>
          </a:p>
          <a:p>
            <a:pPr algn="ctr">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예비품 구매</a:t>
            </a:r>
          </a:p>
          <a:p>
            <a:pPr algn="ctr">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추천안</a:t>
            </a:r>
          </a:p>
          <a:p>
            <a:pPr algn="ctr">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정비 시간</a:t>
            </a:r>
          </a:p>
          <a:p>
            <a:pPr algn="ctr">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발주안</a:t>
            </a:r>
          </a:p>
          <a:p>
            <a:pPr algn="ctr">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5일차와 6일차의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상관만으로 원인을</a:t>
            </a:r>
          </a:p>
          <a:p>
            <a:pPr algn="l">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정답에 출처를</a:t>
            </a:r>
          </a:p>
          <a:p>
            <a:pPr algn="l">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 · 8일차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확인 질문과 명세는 8일차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산출물이음.svg" descr="illust_4605472501852536419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72036" y="174581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 실습</a:t>
            </a:r>
          </a:p>
        </p:txBody>
      </p:sp>
      <p:sp>
        <p:nvSpPr>
          <p:cNvPr id="8" name="TextBox 7"/>
          <p:cNvSpPr txBox="1"/>
          <p:nvPr/>
        </p:nvSpPr>
        <p:spPr>
          <a:xfrm>
            <a:off x="5539463" y="174581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8일차 실습</a:t>
            </a:r>
          </a:p>
        </p:txBody>
      </p:sp>
      <p:sp>
        <p:nvSpPr>
          <p:cNvPr id="9" name="TextBox 8"/>
          <p:cNvSpPr txBox="1"/>
          <p:nvPr/>
        </p:nvSpPr>
        <p:spPr>
          <a:xfrm>
            <a:off x="935656" y="3022229"/>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시나리오</a:t>
            </a:r>
          </a:p>
          <a:p>
            <a:pPr algn="ctr">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회귀 기록</a:t>
            </a:r>
          </a:p>
          <a:p>
            <a:pPr algn="ctr">
              <a:lnSpc>
                <a:spcPct val="110000"/>
              </a:lnSpc>
              <a:spcAft>
                <a:spcPts val="100"/>
              </a:spcAft>
            </a:pPr>
            <a:r>
              <a:rPr sz="1300" b="0">
                <a:solidFill>
                  <a:srgbClr val="556175"/>
                </a:solidFill>
                <a:latin typeface="맑은 고딕"/>
                <a:ea typeface="맑은 고딕"/>
                <a:cs typeface="맑은 고딕"/>
              </a:rPr>
              <a:t>전체 재실행의 결과</a:t>
            </a:r>
          </a:p>
        </p:txBody>
      </p:sp>
      <p:sp>
        <p:nvSpPr>
          <p:cNvPr id="14" name="TextBox 13"/>
          <p:cNvSpPr txBox="1"/>
          <p:nvPr/>
        </p:nvSpPr>
        <p:spPr>
          <a:xfrm>
            <a:off x="4328509" y="5220492"/>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인수인계서</a:t>
            </a:r>
          </a:p>
          <a:p>
            <a:pPr algn="ctr">
              <a:lnSpc>
                <a:spcPct val="110000"/>
              </a:lnSpc>
              <a:spcAft>
                <a:spcPts val="100"/>
              </a:spcAft>
            </a:pPr>
            <a:r>
              <a:rPr sz="13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다음 변경의 기준</a:t>
            </a:r>
          </a:p>
          <a:p>
            <a:pPr algn="ctr">
              <a:lnSpc>
                <a:spcPct val="110000"/>
              </a:lnSpc>
              <a:spcAft>
                <a:spcPts val="100"/>
              </a:spcAft>
            </a:pPr>
            <a:r>
              <a:rPr sz="1300" b="0">
                <a:solidFill>
                  <a:srgbClr val="556175"/>
                </a:solidFill>
                <a:latin typeface="맑은 고딕"/>
                <a:ea typeface="맑은 고딕"/>
                <a:cs typeface="맑은 고딕"/>
              </a:rPr>
              <a:t>다시 실행할 시나리오</a:t>
            </a:r>
          </a:p>
        </p:txBody>
      </p:sp>
      <p:sp>
        <p:nvSpPr>
          <p:cNvPr id="16" name="TextBox 15"/>
          <p:cNvSpPr txBox="1"/>
          <p:nvPr/>
        </p:nvSpPr>
        <p:spPr>
          <a:xfrm>
            <a:off x="9008682" y="590597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인수인계서는 다음 교대의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추천안은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8일차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행동 검증에서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행동 검증에서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Assertion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경계값 분석</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Value Analysis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출처의 연결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경보 두 건에서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