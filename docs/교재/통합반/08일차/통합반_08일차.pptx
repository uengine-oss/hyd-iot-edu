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에이전트가 지킬 것을 명세로 정했습니다. 오늘은 에이전트가 그 명세대로 행동하는지를 확인하는 방법을 다루고, 5일차부터 이어 온 내용을 하나로 정리합니다. 수업이 끝났을 때 승인 단계의 시나리오 한 편을 직접 적고, 그 시나리오가 무엇을 확인하는지를 말할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쓴 명세에서 시작하겠습니다. 요구사항과 함께 입력 계약, 출력 계약, 금지 조건, 수용 기준을 적어 에이전트가 지킬 것을 정했습니다. 그러나 명세는 문서이고, 에이전트가 실제로 낸 결과는 실행해 보아야 나옵니다. 오늘 다루는 것은 아래쪽의 점선, 곧 명세와 실제 결과를 대어 보는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쉬운 확인은 화면에서 직접 눌러 보는 것입니다. 그러나 승인 단계 하나에도 승인, 거절, 무응답, 권한 없는 요청처럼 경우가 여럿이고, 한 번의 확인은 그 가운데 하나만 봅니다. 조건을 하나 더할 때마다 이 경우들을 모두 다시 확인해야 합니다. 무엇이 맞는 결과인지가 적혀 있지 않으면 확인하는 사람에 따라 판정도 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다루는 방식이 BDD, Behavior-Driven Development입니다. 우리말로는 행동 주도 개발이라고 합니다. 기대하는 행동을 누구나 읽을 수 있는 시나리오로 먼저 적고, 그 시나리오를 실행해서 확인합니다. 여기서 행동은 내부의 구현이 아니라 밖에서 관찰할 수 있는 결과를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시나리오는 세 부분으로 나누어 적습니다. Given은 행동이 일어나기 전의 상태, When은 확인하려는 행동 하나, Then은 그 뒤에 관찰되어야 하는 결과입니다. 쿨러 사건의 승인 단계로 보면, 추천안이 올라와 있는 상태가 Given이고 담당자의 거절이 When입니다. Then은 설비 명령도 업무 처리도 없이 처리 건이 거절로 닫히는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거절을 글로 적은 시나리오입니다. 첫 줄은 시나리오의 이름이고, Given과 When과 Then이 차례로 이어집니다. Then 아래의 And는 기대 결과가 여럿일 때 한 줄에 하나씩 이어 적는 낱말입니다. 이 시나리오의 Then 세 줄 가운데 두 줄은 일어나지 않아야 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Then을 어떻게 적느냐에 따라 시나리오의 쓸모가 달라집니다. 왼쪽처럼 적절히 처리한다고 적으면 읽는 사람마다 통과의 기준이 다릅니다. 오른쪽은 건수와 값으로 적었기 때문에 실행 결과를 보면 통과인지 실패인지가 가려집니다. 「영향을 주지 않는다」는 「설비 명령이 0건이다」로 바꾸어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시간의 SDD와 오늘의 BDD를 나란히 놓겠습니다. SDD는 구현하기 전에 무엇을 지킬지를 정하고, 명세 문서를 남깁니다. BDD는 만든 것이 정한 대로 행동하는지를 실행으로 확인하고, 시나리오와 실행 결과를 남깁니다. 둘은 경쟁하는 방식이 아니라 앞뒤로 이어지는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시나리오가 어떻게 이어지는지를 봅니다. 입력 계약은 Given과 When에 넣는 입력값이 됩니다. 출력 계약은 결과에 있어야 하는 항목으로, 금지 조건은 일어나지 않아야 하는 일로 Then에 옮겨집니다. 수용 기준은 시나리오 하나하나가 통과하는 것으로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문장으로만 둔 시나리오는 사람이 읽고 손으로 확인해야 해서 되풀이되지 않습니다. 그래서 세 부분을 각각 실행할 수 있는 것으로 옮깁니다. Given은 준비할 입력으로, When은 실행할 행동으로, Then은 견줄 기대값으로 옮깁니다. 실행해서 나온 실제 결과를 기대값과 대조하면 통과와 실패가 갈리고, 실패하면 어느 시나리오가 어긋났는지가 이름으로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승인 단계를 확인하는 실제 시험 한 편입니다. 맨 위의 긴 이름이 곧 시나리오 문장이고, 가운데의 reject_card가 사유를 넣어 거절을 실행하는 When입니다. 아래의 assert 두 줄이 Then이며, 줄임표는 화면에 싣지 않은 준비 부분과 나머지 단언입니다. assert는 뒤의 식이 참인지를 확인하는 단언이며, 하나라도 참이 아니면 이 시험은 실패로 기록됩니다.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단계를 확인하는 시험 가운데 넷을 골랐습니다. 이름을 읽으면 시나리오가 됩니다. 첫째는 승인하면 승인 값이 실려 끝까지 처리된다는 것이고, 둘째는 앞 장에서 본 거절입니다. 셋째는 사유 없는 거절이 받아들여지지 않는다는 것, 넷째는 지연 알림이 나간 뒤에도 승인할 수 있다는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단계 하나에서 일어날 수 있는 경우를 펼쳤습니다. 위에서부터 승인, 거절, 무응답, 그리고 사유가 없거나 권한이 없는 요청입니다. 갈래마다 기대하는 결과가 다릅니다. 승인의 시나리오가 통과했다고 해서 나머지 세 갈래가 맞는다는 보장은 없으므로 갈래마다 시나리오를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시험은 확인하는 대상에 따라 네 종류로 나눕니다. 정상 시험은 기본 경로가 끝까지 가는지를 봅니다. 경계 시험은 기준값의 바로 안팎에서 판정이 맞는지를, 예외 시험은 거절과 누락과 오류를 정한 대로 다루는지를 봅니다. 회귀 시험은 무언가를 바꾼 뒤에도 기존 행동이 그대로인지를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 시험의 입력을 고르는 방법이 경계값 분석입니다. 쿨러 사건에서 조치 뒤에 유온을 다시 읽어 회복을 판정하는 기준은 55 ℃ 미만입니다. 실제 사건의 값 51.5 ℃는 기준에서 멀어서, 이 값으로는 기준이 정확히 구현되었는지를 알 수 없습니다. 판정이 갈리는 54.9와 55.0 근처를 넣어 보아야 「미만」을 「이하」로 잘못 만든 실수가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경계는 값뿐 아니라 시간에도 있습니다. 담당자가 응답하지 않으면 10분 뒤에 승인 지연 알림이 나갑니다. 시험은 10분이 되기 직전에는 알림이 없고 넘긴 직후에는 알림이 나가는지를 봅니다. 알림이 나간 뒤에도 처리 건이 저절로 닫히지 않고 기다리는 것, 그리고 뒤늦은 승인이 정상으로 처리되는 것까지가 기대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시험은 잘못된 상황에서 기대하는 행동을 확인합니다. 도구가 오류를 돌려주면 실패를 실패로 적고, 값을 0이나 빈 값으로 채워 성공처럼 내지 않아야 합니다. 읽은 값이 오래되어 근거가 부족하면 보류하고, 필수 정보가 없으면 확정하지 않고 사람에게 묻습니다. 권한이 없는 요청은 거부되어야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시험은 무언가를 바꾼 뒤에 기존 시나리오를 다시 실행하는 것입니다. 왼쪽은 변경 전이고 기존 시나리오 넷이 모두 통과한 상태입니다. 명세에 긴급 조건을 더한 뒤에는 새 시나리오 하나가 늘어납니다. 이때 새 시나리오만 실행하면 일반 요청이나 거절의 행동이 달라졌는지를 알 수 없으므로, 기존 넷도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HYD에 실제로 남아 있는 회귀 기록입니다. 시험 전체를 다시 실행한 기록에는 2,173개가 통과했고 실패가 없다고 적혀 있습니다. 쿨러 사건은 경보에서 종결까지를 40항목으로 나누어 확인하고 40항목이 통과했습니다. 펌프와 팬 사건은 43항목입니다. 숫자 하나가 줄면 어느 항목이 깨졌는지를 이름으로 찾아갑니다.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시험할 때에는 한 가지 어려움이 더 있습니다. 번호가 다른 같은 종류의 쿨러 경보 두 건을 처리한 기록을 견주어 보면, 원인과 추천과 점수는 두 건 모두 같았습니다. 그러나 설명의 문장과 도구를 부른 순서와 걸린 시간은 달랐습니다. 규칙의 판정과 점수는 같은 사실이면 같은 결과를 내는 도구가 계산하고, 문장과 순서는 모델이 그때마다 정하기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달라져도 되는 것과 달라지면 안 되는 것을 먼저 가릅니다. 설명문의 낱말, 도구를 부른 순서, 걸린 시간은 표현 차이이고 허용합니다. 결과 항목이 빠진 것, 승인 없이 쓴 것, 근거 식별자가 없는 추천안, 금지된 조치의 추천은 계약 위반이고 한 번이라도 나오면 실패입니다. 이 구분이 없으면 문장이 조금 달라졌다고 실패가 나거나, 항목이 빠졌는데도 통과합니다.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견준 두 건 가운데 둘째 경보의 실제 출력에 이 구분을 적용해 보겠습니다. 다섯 항목이 모두 있는지는 출력 계약이 정한 것이므로 견줍니다. 원인과 추천은 지식 그래프의 식별자여서 기대한 값과 같은지를 견줄 수 있습니다. 설명 문장은 실행마다 달라지므로 글자가 같은지를 묻지 않고, 판단 번호는 있는지만 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아니라 판단의 내용이 맞는지는 판단 채점으로 확인합니다. 사람이 미리 적어 둔 정답표와 에이전트의 판단을 대어 점수를 냅니다. 견주는 것은 원인, 1순위 조치, 금지 조치, 인용한 근거의 네 항목이며, 정해진 비중으로 더해 0점에서 100점 사이의 점수가 됩니다. 설명 문장은 점수에 들어가지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 통과한 것으로는 충분하지 않습니다. 같은 입력에도 출력이 달라지므로, 같은 항목을 여러 번 실행해서 세 가지를 봅니다. 평균은 평소의 수준을, 최저는 가장 나빴던 경우를, 흔들림은 실행마다 결과가 같았는지를 보여 줍니다. 평균이 높아도 최저에서 계약 위반이 한 번 나왔다면 그 항목은 실패입니다.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시험이 실패했을 때 무엇을 고칠지를 가르는 표입니다. 스킬에 적힌 단계를 건너뛰거나 설명이 부실하면 프롬프트와 스킬 같은 지침을 봅니다. 판정의 기준값이 맞지 않으면 지식 그래프의 판단 규칙을, 결과 항목이 빠졌거나 기대값이 요구와 다르면 명세를 봅니다. 명세대로 적혀 있는데 다르게 동작하면 코드입니다. 통과시키려고 기대값을 낮추는 것은 수정이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여러 시스템의 데이터를 함께 읽을 때 쓰는 개념 하나를 더 봅니다. 설비의 측정값은 시계열 DB에, 정비와 부품의 기록은 업무 DB에 있습니다. 이런 데이터를 한곳으로 옮겨 모으지 않고 출처에 둔 채 연결해 함께 읽는 방식을 데이터 패브릭이라고 합니다. 읽은 값마다 출처와 읽은 시각을 붙이고, 한 출처가 실패하면 읽힌 값만 주면서 그 사실을 함께 알립니다.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단원의 용어를 한 바퀴로 이었습니다. 명세의 계약과 금지 조건에서 시나리오의 입력값과 기대값이 나옵니다. 시나리오를 실행해 단언으로 실제 결과를 견주고, 실패하면 원인이 있는 곳을 가려 고칩니다. 마지막으로 기존 시나리오까지 모두 다시 실행합니다. 요구가 바뀌면 이 바퀴를 다시 돕니다.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시나리오를 직접 적습니다. 지난 시간에 쓴 spec.md와 같은 에이전트를 그대로 씁니다. 일반 정비, 긴급 정비, 필수 정보 누락, 승인 거절, 도구 오류의 다섯 경우마다 Given, When, Then과 입력값, 기대 상태, 지켜야 할 출력 계약을 적습니다. 끝나면 다음 실습에서 실행에 연결할 시나리오 문서가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앞에서 적은 시나리오를 실행에 연결합니다. 준비된 자동 시험이나 반복 실행 스크립트에 시나리오를 잇고, 같은 입력으로 여러 번 실행합니다. 실제 출력과 기대값을 견주어 어느 조건에서 규칙을 어겼는지를 로그와 결과 파일에서 확인합니다. 어긋난 것이 표현 차이인지 계약 위반인지를 가르는 데까지가 이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실패를 고칩니다. 실제로 실패한 시나리오만 골라 원인을 따라가고, 프롬프트와 명세와 코드 가운데 고칠 곳을 가려 고친 뒤 다시 실행합니다. 마지막에는 전체 회귀를 돌려, 긴급 조건이 동작하면서 기존의 일반 요청과 보류와 거절 조건이 그대로인지를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교대 근무의 인수인계서를 만듭니다. 설비 이벤트와 정비 이력과 부품 DB는 서로 다른 곳에 있는 데이터입니다. 앞에서 본 데이터 패브릭의 방식대로 옮겨 모으지 않고 연결해 읽습니다. 세 출처의 조회 결과를 엮어 완료 작업, 미완료 요청, 주의 사항을 적고 항목마다 근거가 된 시각을 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일차 동안 에이전트 하나에 무엇을 더해 왔는지를 한 장에 놓았습니다. 5일차에는 모델에 목표와 도구를 주어 에이전트를 세웠습니다. 6일차에는 수행 방법을 스킬로 적고 도구를 MCP로 연결했습니다. 7일차에는 사람이 개입하는 지점과 명세를 정했고, 오늘은 그 명세대로 행동하는지를 시나리오로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일차의 내용을 여덟 물음으로 바꾸었습니다. 위의 다섯은 에이전트를 만드는 물음이고, 아래의 셋은 그 에이전트를 믿고 쓰기 위한 물음입니다. 오른쪽 칸은 쿨러 사건에서 그 답에 해당하는 것입니다. 새 에이전트를 만들 때에도 이 여덟 물음에 차례로 답하면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쿨러 사건 한 건의 시간 위에 놓았습니다. 11시 13분 8초에 경보가 오면 에이전트가 스킬을 읽고 도구를 불러 추천안을 냅니다. 그 결과는 시스템의 검사를 거쳐 사람에게 올라가고, 11시 14분 56초에 운전원이 승인한 뒤에야 팬을 100 %로 올리는 명령이 만들어집니다. 아래의 괄호처럼 시나리오와 회귀 시험은 이 전체의 행동을 되풀이해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5일차의 내용을 하나가 빠진 경우로 되짚습니다. 목표가 없으면 무엇을 이루어야 끝나는지가 없어서 질문에 한 번 답하고 멈춥니다. 도구가 없으면 유온이나 납기 오더 같은 지금의 값을 읽지 못합니다. 멈춤 조건이 없으면 근거가 부족하거나 도구가 실패해도 결과를 채워서 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5일차의 네 정보원을 추천안 한 건으로 모이는 두 갈래로 다시 놓았습니다. 위쪽은 지식이며, 원인 후보 셋에서 고장 유형을 거쳐 조치 방법으로 가는 관계는 1일차부터 4일차까지 만든 지식 그래프에서 읽었습니다. 아래쪽은 현재값이며, 냉각 효율 46.2 %는 시계열 DB에서, 납기 오더는 업무 DB에서 판단하는 순간에 읽었습니다. 두 갈래가 도구 호출을 거쳐 추천안에 모이고, 변하지 않는 지식과 변하는 값을 섞지 않는 것이 근거를 다루는 기준이었습니다.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6일차의 스킬과 MCP는 무엇을 바꾸려 하는가로 구분하면 쉽습니다. 도구를 부르는 순서나 근거가 없을 때의 행동, 결과 항목의 이름을 바꾸려면 스킬을 고칩니다. 새 시스템의 값을 읽게 하거나 부를 수 있는 도구의 범위를 바꾸려면 MCP 서버의 연결을 고칩니다. 스킬은 수행 방법이고 MCP는 연결된 실행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7일차의 내용을 추천안이 지나는 문 둘로 다시 놓았습니다. 첫째 문은 시스템의 자동 검사이며, 형식이 맞는지와 규칙을 인용했는지와 승인 역할이 붙어 있는지를 보고, 통과해도 상태는 승인 대기입니다. 둘째 문은 승인 역할의 담당자이며, 내용과 상황을 보고 승인해야 설비 명령이 만들어지고 누가 어느 역할로 승인했는지가 결정 기록으로 남습니다. 에이전트의 자기 검토나 다른 에이전트의 검토는 첫째 문 쪽에 속하고 승인이 되지 않습니다. 왼쪽 아래의 두 장면은 에이전트가 일하는 동안 사람이 들어가는 나머지 두 자리, 곧 질문에 답하는 때와 멈춘 작업을 닫는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7일차와 8일차의 용어를 한 그림에 이었습니다. 명세에서 화살표가 둘 나갑니다. 하나는 에이전트가 지킬 기준이 되고, 하나는 시나리오의 기대값이 됩니다. 시나리오는 에이전트의 행동을 확인합니다. 에이전트가 낸 추천안은 가드레일의 검사를 거쳐 담당자에게 올라가고, 승인 역할의 담당자가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7일차의 명세와 오늘의 시나리오를 변경 한 번의 순서로 이었습니다. 단계마다 아래 줄은 실습에서 다룬 긴급 정비 조건의 예입니다. 요구가 바뀌면 먼저 명세에 새 조건을 적고, 그 조건의 시나리오와 기대값을 더한 다음에 지침이나 코드를 고칩니다. 마지막으로 새 시나리오와 함께 일반 요청, 보류, 거절의 기존 시나리오를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장치는 작동하는 때가 둘로 나뉩니다. 출력 계약의 검사와 가드레일과 사람의 승인은 에이전트가 실행될 때마다 작동해서 그 한 건의 잘못된 결과를 막습니다. 시나리오와 판단 채점과 전체 회귀는 무언가를 바꿀 때마다 실행해서 달라진 행동을 미리 찾습니다. 한쪽이 있다고 다른 쪽을 생략할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응용에 따라 산출물이 어떻게 달라지는지를 HYD의 세 에이전트로 봅니다. 가운데의 하늘색 구획이 셋에 공통인 틀이며, 목표가 있고 스킬과 도구가 있고 출력 계약이 있습니다. 위에서부터 쿨러 성능 저하 경보를 맡은 에이전트는 팬 최대 운전과 대안 셋을 담은 추천안을 냅니다. 정기 정비를 맡은 에이전트는 언제 정비할지를, 예비품 구매를 맡은 에이전트는 공급사와 수량과 금액을 담은 발주안을 냅니다. 새 업무를 맡길 때에도 틀은 그대로 두고 그 자리에 넣을 것을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5일차와 6일차의 실습에서 만드는 산출물 다섯을 모았습니다. 점검 계획, 품질 대응 카드, 도표와 요약, 작업 목록, 학습 코치의 피드백입니다. 형식은 서로 다릅니다. 그러나 확인되지 않은 원인은 가설로, 없는 담당자는 미정으로 적어 확정하지 않고, 아는 것에는 출처를 붙인다는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7일차와 8일차의 산출물은 서로 이어집니다. 왼쪽 위의 확인 질문은 필수 정보가 빠진 경우의 시나리오가 되었고, spec.md와 함께 저장한 입력과 기대 결과는 오늘 시나리오의 재료가 되었습니다. 시나리오는 실행되어 회귀 기록으로 남고, 그 기록이 다음에 요구가 바뀔 때의 기준이 됩니다. 왼쪽 아래의 초안과 검토 의견과 수정본은 AI의 검토와 사람의 승인을 다른 항목에 남기는 연습이었고, 인수인계서는 근거 시각과 함께 다음 교대의 담당자에게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형식이 왜 달랐는지를 정리합니다. 형식은 누가 읽느냐와 그 뒤에 무슨 일이 이어지느냐로 정해집니다. 사람이 읽는 인수인계서는 문서로 내면 되지만, 승인 단계가 읽는 추천안은 항목의 이름까지 정해 둔 JSON이어야 다음 단계가 읽을 수 있습니다. 그래서 출력 계약이 가장 엄격한 것은 시스템이 읽는 산출물입니다.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일차의 장치를 문제가 생겼을 때 찾아갈 순서로 놓았습니다. 값이 실제와 다르면 호출 기록에서 입력과 응답과 신선도를 봅니다. 정해 둔 단계를 건너뛰면 스킬의 절차를, 값을 받지 못했으면 서버의 연결과 허용 목록을 봅니다. 묻지 않고 확정했다면 금지 조건과 개입 지점을, 고친 뒤 기존 결과가 달라졌다면 회귀 시험에서 실패한 시나리오를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일차를 사람과 에이전트의 몫으로 나누면 이렇습니다. 목표와 절차, 도구와 권한의 범위, 계약과 금지 조건과 기대값은 사람이 실행 전에 정합니다. 에이전트는 그 안에서 이번에 부를 도구와 다음 행동, 다시 시도할지 보류할지, 설명의 문장을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일차에 나온 여섯 개념을 각각이 푼 문제로 이었습니다. 에이전트는 답만 하던 모델이 목표까지 수행하게 했고, 스킬은 실행마다 다르던 순서를 정했으며, MCP는 시스템의 값을 도구로 읽게 했습니다. 여기까지가 일을 해내게 하는 쪽입니다. HITL은 실행의 결정을 사람에게 두었고, SDD는 지킬 것을 먼저 적게 했으며, BDD는 적은 대로 하는지를 실행으로 확인하게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일차를 한 문장으로 줄이면 이렇습니다. 정한 것을 적어 두고, 그대로 행동하는지를 실행으로 확인합니다. 목표와 스킬과 명세가 적어 둔 기준이고, 출력 계약의 검사와 사람의 승인이 실행 중의 방어입니다. 시나리오와 회귀 시험은 요구가 바뀔 때마다 그 기준을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약어와 영문 용어의 정식 명칭을 한곳에 모았습니다. 이 여섯 개와 함께 시나리오, 표현 차이, 계약 위반, 판단 채점, 정답표가 오늘의 용어입니다. 용어마다 승인 단계의 예 하나를 붙여 말해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 뒤에 무엇을 확인해야 하는지를 묻는 문항입니다. 통과한 시나리오가 알려 주는 범위가 어디까지인지를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표현 차이와 계약 위반을 구분하는 문항입니다. 세 가지 차이 가운데 출력 계약이 정해 둔 것이 무엇인지를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시험이 실패했을 때 무엇을 고칠지를 묻는 문항입니다. 기대값이 어디에서 왔는지, 그리고 그것을 누가 정했는지를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오답이 무엇을 놓쳤는지를 함께 짚습니다. 첫 문항의 2번은 새 시나리오만 되풀이하므로 기존 행동을 알려 주지 못합니다. 둘째 문항의 4번은 표현 차이까지 실패로 센 것입니다. 셋째 문항의 1번과 2번은 시험을 통과시키려고 기준을 바꾸거나 없앤 것이며, 그렇게 하면 명세와 행동이 어긋난 채로 남습니다.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14.png"/><Relationship Id="rId6"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1.png"/><Relationship Id="rId5"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3.png"/><Relationship Id="rId4" Type="http://schemas.openxmlformats.org/officeDocument/2006/relationships/image" Target="../media/image24.png"/><Relationship Id="rId5"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29.png"/><Relationship Id="rId7"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5.png"/><Relationship Id="rId4" Type="http://schemas.openxmlformats.org/officeDocument/2006/relationships/image" Target="../media/image11.png"/><Relationship Id="rId5" Type="http://schemas.openxmlformats.org/officeDocument/2006/relationships/image" Target="../media/image36.png"/><Relationship Id="rId6"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7.png"/><Relationship Id="rId4" Type="http://schemas.openxmlformats.org/officeDocument/2006/relationships/image" Target="../media/image29.png"/><Relationship Id="rId5"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8.png"/><Relationship Id="rId4" Type="http://schemas.openxmlformats.org/officeDocument/2006/relationships/image" Target="../media/image35.png"/><Relationship Id="rId5"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4.png"/><Relationship Id="rId4" Type="http://schemas.openxmlformats.org/officeDocument/2006/relationships/image" Target="../media/image16.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8.png"/><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3.png"/><Relationship Id="rId4" Type="http://schemas.openxmlformats.org/officeDocument/2006/relationships/image" Target="../media/image4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6.png"/><Relationship Id="rId4" Type="http://schemas.openxmlformats.org/officeDocument/2006/relationships/image" Target="../media/image5.png"/><Relationship Id="rId5" Type="http://schemas.openxmlformats.org/officeDocument/2006/relationships/image" Target="../media/image35.png"/><Relationship Id="rId6" Type="http://schemas.openxmlformats.org/officeDocument/2006/relationships/image" Target="../media/image23.png"/><Relationship Id="rId7" Type="http://schemas.openxmlformats.org/officeDocument/2006/relationships/image" Target="../media/image34.png"/><Relationship Id="rId8"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48.png"/><Relationship Id="rId5"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8일차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요구가 바뀌어도 믿고 쓸 수 있는</a:t>
            </a:r>
          </a:p>
          <a:p>
            <a:pPr algn="l">
              <a:lnSpc>
                <a:spcPct val="110000"/>
              </a:lnSpc>
            </a:pPr>
            <a:r>
              <a:rPr sz="4000" b="1">
                <a:solidFill>
                  <a:srgbClr val="FFFFFF"/>
                </a:solidFill>
                <a:latin typeface="맑은 고딕"/>
                <a:ea typeface="맑은 고딕"/>
                <a:cs typeface="맑은 고딕"/>
              </a:rPr>
              <a:t>에이전트의 검증</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행동 시나리오, 회귀 시험, 에이전트 제작 과정의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checklist" descr="checklis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epeat" descr="repea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bot" descr="robo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정한 대로 행동하는지를 시나리오와 실행으로 확인하고, 에이전트를 만들어 온 과정을 하나로 정리한다.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10587"/>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564206"/>
            <a:ext cx="424281" cy="424281"/>
          </a:xfrm>
          <a:prstGeom prst="rect">
            <a:avLst/>
          </a:prstGeom>
        </p:spPr>
      </p:pic>
      <p:sp>
        <p:nvSpPr>
          <p:cNvPr id="9" name="TextBox 8"/>
          <p:cNvSpPr txBox="1"/>
          <p:nvPr/>
        </p:nvSpPr>
        <p:spPr>
          <a:xfrm>
            <a:off x="713232"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행동의 시나리오</a:t>
            </a:r>
          </a:p>
          <a:p>
            <a:pPr algn="l">
              <a:lnSpc>
                <a:spcPct val="110000"/>
              </a:lnSpc>
              <a:spcAft>
                <a:spcPts val="400"/>
              </a:spcAft>
            </a:pPr>
            <a:r>
              <a:rPr sz="1350" b="0">
                <a:solidFill>
                  <a:srgbClr val="1F2A3A"/>
                </a:solidFill>
                <a:latin typeface="맑은 고딕"/>
                <a:ea typeface="맑은 고딕"/>
                <a:cs typeface="맑은 고딕"/>
              </a:rPr>
              <a:t>• 전제, 행동, 기대 결과로 에이전트의 기대 행동을 적는다</a:t>
            </a:r>
          </a:p>
          <a:p>
            <a:pPr algn="l">
              <a:lnSpc>
                <a:spcPct val="110000"/>
              </a:lnSpc>
              <a:spcAft>
                <a:spcPts val="400"/>
              </a:spcAft>
            </a:pPr>
            <a:r>
              <a:rPr sz="1350" b="0">
                <a:solidFill>
                  <a:srgbClr val="1F2A3A"/>
                </a:solidFill>
                <a:latin typeface="맑은 고딕"/>
                <a:ea typeface="맑은 고딕"/>
                <a:cs typeface="맑은 고딕"/>
              </a:rPr>
              <a:t>• 명세의 요소를 시나리오의 입력과 기대값으로 옮긴다</a:t>
            </a:r>
          </a:p>
        </p:txBody>
      </p:sp>
      <p:sp>
        <p:nvSpPr>
          <p:cNvPr id="10" name="Rounded Rectangle 9"/>
          <p:cNvSpPr/>
          <p:nvPr/>
        </p:nvSpPr>
        <p:spPr>
          <a:xfrm>
            <a:off x="777240" y="5343525"/>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352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시나리오</a:t>
            </a:r>
          </a:p>
        </p:txBody>
      </p:sp>
      <p:sp>
        <p:nvSpPr>
          <p:cNvPr id="12" name="Rounded Rectangle 11"/>
          <p:cNvSpPr/>
          <p:nvPr/>
        </p:nvSpPr>
        <p:spPr>
          <a:xfrm>
            <a:off x="3390823"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10587"/>
            <a:ext cx="731520" cy="731520"/>
          </a:xfrm>
          <a:prstGeom prst="ellipse">
            <a:avLst/>
          </a:prstGeom>
          <a:solidFill>
            <a:srgbClr val="E7F3FD"/>
          </a:solidFill>
          <a:ln>
            <a:noFill/>
          </a:ln>
        </p:spPr>
        <p:txBody>
          <a:bodyPr rtlCol="0" anchor="ctr"/>
          <a:lstStyle/>
          <a:p>
            <a:pPr algn="ctr"/>
          </a:p>
        </p:txBody>
      </p:sp>
      <p:pic>
        <p:nvPicPr>
          <p:cNvPr id="14" name="아이콘:player-play" descr="player-play_13294B_1.6.png"/>
          <p:cNvPicPr>
            <a:picLocks noChangeAspect="1"/>
          </p:cNvPicPr>
          <p:nvPr/>
        </p:nvPicPr>
        <p:blipFill>
          <a:blip r:embed="rId4"/>
          <a:stretch>
            <a:fillRect/>
          </a:stretch>
        </p:blipFill>
        <p:spPr>
          <a:xfrm>
            <a:off x="3773043" y="2564206"/>
            <a:ext cx="424281" cy="424281"/>
          </a:xfrm>
          <a:prstGeom prst="rect">
            <a:avLst/>
          </a:prstGeom>
        </p:spPr>
      </p:pic>
      <p:sp>
        <p:nvSpPr>
          <p:cNvPr id="15" name="TextBox 14"/>
          <p:cNvSpPr txBox="1"/>
          <p:nvPr/>
        </p:nvSpPr>
        <p:spPr>
          <a:xfrm>
            <a:off x="3555415"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가능한 검증</a:t>
            </a:r>
          </a:p>
          <a:p>
            <a:pPr algn="l">
              <a:lnSpc>
                <a:spcPct val="110000"/>
              </a:lnSpc>
              <a:spcAft>
                <a:spcPts val="400"/>
              </a:spcAft>
            </a:pPr>
            <a:r>
              <a:rPr sz="1350" b="0">
                <a:solidFill>
                  <a:srgbClr val="1F2A3A"/>
                </a:solidFill>
                <a:latin typeface="맑은 고딕"/>
                <a:ea typeface="맑은 고딕"/>
                <a:cs typeface="맑은 고딕"/>
              </a:rPr>
              <a:t>• 시나리오를 입력값, 행동, 기대값에 연결한다</a:t>
            </a:r>
          </a:p>
          <a:p>
            <a:pPr algn="l">
              <a:lnSpc>
                <a:spcPct val="110000"/>
              </a:lnSpc>
              <a:spcAft>
                <a:spcPts val="400"/>
              </a:spcAft>
            </a:pPr>
            <a:r>
              <a:rPr sz="1350" b="0">
                <a:solidFill>
                  <a:srgbClr val="1F2A3A"/>
                </a:solidFill>
                <a:latin typeface="맑은 고딕"/>
                <a:ea typeface="맑은 고딕"/>
                <a:cs typeface="맑은 고딕"/>
              </a:rPr>
              <a:t>• 정상, 경계, 예외, 회귀 시험을 구분한다</a:t>
            </a:r>
          </a:p>
        </p:txBody>
      </p:sp>
      <p:sp>
        <p:nvSpPr>
          <p:cNvPr id="16" name="Rounded Rectangle 15"/>
          <p:cNvSpPr/>
          <p:nvPr/>
        </p:nvSpPr>
        <p:spPr>
          <a:xfrm>
            <a:off x="3619423" y="534352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검증</a:t>
            </a:r>
          </a:p>
        </p:txBody>
      </p:sp>
      <p:sp>
        <p:nvSpPr>
          <p:cNvPr id="18" name="Rounded Rectangle 17"/>
          <p:cNvSpPr/>
          <p:nvPr/>
        </p:nvSpPr>
        <p:spPr>
          <a:xfrm>
            <a:off x="6233007"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10587"/>
            <a:ext cx="731520" cy="731520"/>
          </a:xfrm>
          <a:prstGeom prst="ellipse">
            <a:avLst/>
          </a:prstGeom>
          <a:solidFill>
            <a:srgbClr val="E7F3FD"/>
          </a:solidFill>
          <a:ln>
            <a:noFill/>
          </a:ln>
        </p:spPr>
        <p:txBody>
          <a:bodyPr rtlCol="0" anchor="ctr"/>
          <a:lstStyle/>
          <a:p>
            <a:pPr algn="ctr"/>
          </a:p>
        </p:txBody>
      </p:sp>
      <p:pic>
        <p:nvPicPr>
          <p:cNvPr id="20" name="아이콘:scale" descr="scale_13294B_1.6.png"/>
          <p:cNvPicPr>
            <a:picLocks noChangeAspect="1"/>
          </p:cNvPicPr>
          <p:nvPr/>
        </p:nvPicPr>
        <p:blipFill>
          <a:blip r:embed="rId5"/>
          <a:stretch>
            <a:fillRect/>
          </a:stretch>
        </p:blipFill>
        <p:spPr>
          <a:xfrm>
            <a:off x="6615226" y="2564206"/>
            <a:ext cx="424281" cy="424281"/>
          </a:xfrm>
          <a:prstGeom prst="rect">
            <a:avLst/>
          </a:prstGeom>
        </p:spPr>
      </p:pic>
      <p:sp>
        <p:nvSpPr>
          <p:cNvPr id="21" name="TextBox 20"/>
          <p:cNvSpPr txBox="1"/>
          <p:nvPr/>
        </p:nvSpPr>
        <p:spPr>
          <a:xfrm>
            <a:off x="6397599"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표현 차이와 계약 위반</a:t>
            </a:r>
          </a:p>
          <a:p>
            <a:pPr algn="l">
              <a:lnSpc>
                <a:spcPct val="110000"/>
              </a:lnSpc>
              <a:spcAft>
                <a:spcPts val="400"/>
              </a:spcAft>
            </a:pPr>
            <a:r>
              <a:rPr sz="1350" b="0">
                <a:solidFill>
                  <a:srgbClr val="1F2A3A"/>
                </a:solidFill>
                <a:latin typeface="맑은 고딕"/>
                <a:ea typeface="맑은 고딕"/>
                <a:cs typeface="맑은 고딕"/>
              </a:rPr>
              <a:t>실행마다 달라져도 되는 것과 어겨서는 안 되는 것을 가른다</a:t>
            </a:r>
          </a:p>
        </p:txBody>
      </p:sp>
      <p:sp>
        <p:nvSpPr>
          <p:cNvPr id="22" name="Rounded Rectangle 21"/>
          <p:cNvSpPr/>
          <p:nvPr/>
        </p:nvSpPr>
        <p:spPr>
          <a:xfrm>
            <a:off x="6461607" y="534352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209419"/>
            <a:ext cx="2567863" cy="35638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10587"/>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564206"/>
            <a:ext cx="424281" cy="424281"/>
          </a:xfrm>
          <a:prstGeom prst="rect">
            <a:avLst/>
          </a:prstGeom>
        </p:spPr>
      </p:pic>
      <p:sp>
        <p:nvSpPr>
          <p:cNvPr id="27" name="TextBox 26"/>
          <p:cNvSpPr txBox="1"/>
          <p:nvPr/>
        </p:nvSpPr>
        <p:spPr>
          <a:xfrm>
            <a:off x="9239783"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과정의 정리</a:t>
            </a:r>
          </a:p>
          <a:p>
            <a:pPr algn="l">
              <a:lnSpc>
                <a:spcPct val="110000"/>
              </a:lnSpc>
              <a:spcAft>
                <a:spcPts val="400"/>
              </a:spcAft>
            </a:pPr>
            <a:r>
              <a:rPr sz="1350" b="0">
                <a:solidFill>
                  <a:srgbClr val="1F2A3A"/>
                </a:solidFill>
                <a:latin typeface="맑은 고딕"/>
                <a:ea typeface="맑은 고딕"/>
                <a:cs typeface="맑은 고딕"/>
              </a:rPr>
              <a:t>목표와 도구에서 검증까지 에이전트를 만들고 믿기까지의 순서를 설명한다</a:t>
            </a:r>
          </a:p>
        </p:txBody>
      </p:sp>
      <p:sp>
        <p:nvSpPr>
          <p:cNvPr id="28" name="Rounded Rectangle 27"/>
          <p:cNvSpPr/>
          <p:nvPr/>
        </p:nvSpPr>
        <p:spPr>
          <a:xfrm>
            <a:off x="9303791" y="5343525"/>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행동 검증: 시나리오와 회귀 시험</a:t>
            </a:r>
          </a:p>
        </p:txBody>
      </p:sp>
      <p:sp>
        <p:nvSpPr>
          <p:cNvPr id="6" name="Rounded Rectangle 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79475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79475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11" name="Rounded Rectangle 10"/>
          <p:cNvSpPr/>
          <p:nvPr/>
        </p:nvSpPr>
        <p:spPr>
          <a:xfrm>
            <a:off x="10088575" y="401421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40142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TextBox 1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행동 검증:</a:t>
            </a:r>
          </a:p>
          <a:p>
            <a:pPr algn="l">
              <a:lnSpc>
                <a:spcPct val="110000"/>
              </a:lnSpc>
            </a:pPr>
            <a:r>
              <a:rPr sz="3400" b="1">
                <a:solidFill>
                  <a:srgbClr val="13294B"/>
                </a:solidFill>
                <a:latin typeface="맑은 고딕"/>
                <a:ea typeface="맑은 고딕"/>
                <a:cs typeface="맑은 고딕"/>
              </a:rPr>
              <a:t>시나리오와 회귀 시험</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기대한 행동을 시나리오로 적고 실행으로 되풀이해 확인하는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적은 것과 실제로 일어나는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지킬 것을 정할 뿐이고, 에이전트가 그대로 행동하는지는 실행 결과를 명세와 대어 보아야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명세와실행.svg" descr="illust_3678528579534693561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2943" y="2464390"/>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p:txBody>
      </p:sp>
      <p:sp>
        <p:nvSpPr>
          <p:cNvPr id="8" name="TextBox 7"/>
          <p:cNvSpPr txBox="1"/>
          <p:nvPr/>
        </p:nvSpPr>
        <p:spPr>
          <a:xfrm>
            <a:off x="1322943" y="3201872"/>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p:txBody>
      </p:sp>
      <p:sp>
        <p:nvSpPr>
          <p:cNvPr id="9" name="TextBox 8"/>
          <p:cNvSpPr txBox="1"/>
          <p:nvPr/>
        </p:nvSpPr>
        <p:spPr>
          <a:xfrm>
            <a:off x="1322943" y="3934626"/>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금지 조건</a:t>
            </a:r>
          </a:p>
        </p:txBody>
      </p:sp>
      <p:sp>
        <p:nvSpPr>
          <p:cNvPr id="10" name="TextBox 9"/>
          <p:cNvSpPr txBox="1"/>
          <p:nvPr/>
        </p:nvSpPr>
        <p:spPr>
          <a:xfrm>
            <a:off x="1322943" y="4672108"/>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수용 기준</a:t>
            </a:r>
          </a:p>
        </p:txBody>
      </p:sp>
      <p:sp>
        <p:nvSpPr>
          <p:cNvPr id="11" name="TextBox 10"/>
          <p:cNvSpPr txBox="1"/>
          <p:nvPr/>
        </p:nvSpPr>
        <p:spPr>
          <a:xfrm>
            <a:off x="4895803" y="2478572"/>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실행</a:t>
            </a:r>
          </a:p>
        </p:txBody>
      </p:sp>
      <p:sp>
        <p:nvSpPr>
          <p:cNvPr id="12" name="TextBox 11"/>
          <p:cNvSpPr txBox="1"/>
          <p:nvPr/>
        </p:nvSpPr>
        <p:spPr>
          <a:xfrm>
            <a:off x="8026828"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실제 결과</a:t>
            </a:r>
          </a:p>
          <a:p>
            <a:pPr algn="ctr">
              <a:lnSpc>
                <a:spcPct val="110000"/>
              </a:lnSpc>
              <a:spcAft>
                <a:spcPts val="100"/>
              </a:spcAft>
            </a:pPr>
            <a:r>
              <a:rPr sz="1300" b="0">
                <a:solidFill>
                  <a:srgbClr val="556175"/>
                </a:solidFill>
                <a:latin typeface="맑은 고딕"/>
                <a:ea typeface="맑은 고딕"/>
                <a:cs typeface="맑은 고딕"/>
              </a:rPr>
              <a:t>추천안</a:t>
            </a:r>
          </a:p>
        </p:txBody>
      </p:sp>
      <p:sp>
        <p:nvSpPr>
          <p:cNvPr id="13" name="TextBox 12"/>
          <p:cNvSpPr txBox="1"/>
          <p:nvPr/>
        </p:nvSpPr>
        <p:spPr>
          <a:xfrm>
            <a:off x="4132138" y="4889571"/>
            <a:ext cx="349103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명세와 실제 결과의 대조</a:t>
            </a:r>
          </a:p>
          <a:p>
            <a:pPr algn="ctr">
              <a:lnSpc>
                <a:spcPct val="110000"/>
              </a:lnSpc>
              <a:spcAft>
                <a:spcPts val="100"/>
              </a:spcAft>
            </a:pPr>
            <a:r>
              <a:rPr sz="1300" b="0">
                <a:solidFill>
                  <a:srgbClr val="556175"/>
                </a:solidFill>
                <a:latin typeface="맑은 고딕"/>
                <a:ea typeface="맑은 고딕"/>
                <a:cs typeface="맑은 고딕"/>
              </a:rPr>
              <a:t>적은 대로 행동했는지는 실행해야 알 수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손으로 한 번 확인하는 방식이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화면에서 한 번 눌러 본 확인은 그때의 한 경우에만 해당하며, 요구가 바뀔 때마다 모든 경우를 다시 눌러 보기는 어렵다.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경우가 여럿이다</a:t>
            </a:r>
          </a:p>
          <a:p>
            <a:pPr algn="l">
              <a:lnSpc>
                <a:spcPct val="110000"/>
              </a:lnSpc>
              <a:spcAft>
                <a:spcPts val="400"/>
              </a:spcAft>
            </a:pPr>
            <a:r>
              <a:rPr sz="1400" b="0">
                <a:solidFill>
                  <a:srgbClr val="1F2A3A"/>
                </a:solidFill>
                <a:latin typeface="맑은 고딕"/>
                <a:ea typeface="맑은 고딕"/>
                <a:cs typeface="맑은 고딕"/>
              </a:rPr>
              <a:t>• 승인 단계 하나에도 승인, 거절, 무응답, 권한 없는 요청이 있다</a:t>
            </a:r>
          </a:p>
          <a:p>
            <a:pPr algn="l">
              <a:lnSpc>
                <a:spcPct val="110000"/>
              </a:lnSpc>
              <a:spcAft>
                <a:spcPts val="400"/>
              </a:spcAft>
            </a:pPr>
            <a:r>
              <a:rPr sz="1400" b="0">
                <a:solidFill>
                  <a:srgbClr val="1F2A3A"/>
                </a:solidFill>
                <a:latin typeface="맑은 고딕"/>
                <a:ea typeface="맑은 고딕"/>
                <a:cs typeface="맑은 고딕"/>
              </a:rPr>
              <a:t>• 한 번의 확인은 그 가운데 하나만 본다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빠지는 경우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바뀔 때마다 되풀이된다</a:t>
            </a:r>
          </a:p>
          <a:p>
            <a:pPr algn="l">
              <a:lnSpc>
                <a:spcPct val="110000"/>
              </a:lnSpc>
              <a:spcAft>
                <a:spcPts val="400"/>
              </a:spcAft>
            </a:pPr>
            <a:r>
              <a:rPr sz="1400" b="0">
                <a:solidFill>
                  <a:srgbClr val="1F2A3A"/>
                </a:solidFill>
                <a:latin typeface="맑은 고딕"/>
                <a:ea typeface="맑은 고딕"/>
                <a:cs typeface="맑은 고딕"/>
              </a:rPr>
              <a:t>긴급 조건 하나를 더해도 기존의 경우를 모두 다시 확인해야 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반복의 부담</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user-question" descr="user-ques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기대가 적혀 있지 않다</a:t>
            </a:r>
          </a:p>
          <a:p>
            <a:pPr algn="l">
              <a:lnSpc>
                <a:spcPct val="110000"/>
              </a:lnSpc>
              <a:spcAft>
                <a:spcPts val="400"/>
              </a:spcAft>
            </a:pPr>
            <a:r>
              <a:rPr sz="1400" b="0">
                <a:solidFill>
                  <a:srgbClr val="1F2A3A"/>
                </a:solidFill>
                <a:latin typeface="맑은 고딕"/>
                <a:ea typeface="맑은 고딕"/>
                <a:cs typeface="맑은 고딕"/>
              </a:rPr>
              <a:t>• 무엇이 맞는 결과인지가 확인하는 사람의 기억에 있다</a:t>
            </a:r>
          </a:p>
          <a:p>
            <a:pPr algn="l">
              <a:lnSpc>
                <a:spcPct val="110000"/>
              </a:lnSpc>
              <a:spcAft>
                <a:spcPts val="400"/>
              </a:spcAft>
            </a:pPr>
            <a:r>
              <a:rPr sz="1400" b="0">
                <a:solidFill>
                  <a:srgbClr val="1F2A3A"/>
                </a:solidFill>
                <a:latin typeface="맑은 고딕"/>
                <a:ea typeface="맑은 고딕"/>
                <a:cs typeface="맑은 고딕"/>
              </a:rPr>
              <a:t>• 사람이 바뀌면 판정도 달라진다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기준의 부재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BDD: 행동을 시나리오로 적고 실행으로 확인하는 개발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BDD는 기대하는 행동을 누구나 읽을 수 있는 시나리오로 적고, 그 시나리오를 실행해 확인하는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BDD</a:t>
            </a:r>
          </a:p>
          <a:p>
            <a:pPr algn="l">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기대하는 행동을 시나리오로 먼저 적고, 그 시나리오를 실행 가능한 검증으로 연결하는 개발 방식이다.</a:t>
            </a:r>
          </a:p>
          <a:p>
            <a:pPr algn="l">
              <a:lnSpc>
                <a:spcPct val="110000"/>
              </a:lnSpc>
              <a:spcAft>
                <a:spcPts val="300"/>
              </a:spcAft>
            </a:pPr>
            <a:r>
              <a:rPr sz="1400" b="0">
                <a:solidFill>
                  <a:srgbClr val="1F2A3A"/>
                </a:solidFill>
                <a:latin typeface="맑은 고딕"/>
                <a:ea typeface="맑은 고딕"/>
                <a:cs typeface="맑은 고딕"/>
              </a:rPr>
              <a:t>개발자가 아닌 사람도 시나리오를 읽고 맞는지 판단할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행동</a:t>
            </a:r>
          </a:p>
          <a:p>
            <a:pPr algn="l">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시나리오</a:t>
            </a:r>
          </a:p>
          <a:p>
            <a:pPr algn="l">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세부분.svg" descr="illust_5387748756407147303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Given</a:t>
            </a:r>
          </a:p>
          <a:p>
            <a:pPr algn="ctr">
              <a:lnSpc>
                <a:spcPct val="110000"/>
              </a:lnSpc>
              <a:spcAft>
                <a:spcPts val="100"/>
              </a:spcAft>
            </a:pPr>
            <a:r>
              <a:rPr sz="1300" b="0">
                <a:solidFill>
                  <a:srgbClr val="556175"/>
                </a:solidFill>
                <a:latin typeface="맑은 고딕"/>
                <a:ea typeface="맑은 고딕"/>
                <a:cs typeface="맑은 고딕"/>
              </a:rPr>
              <a:t>전제: 행동이 일어나기 전의 상태</a:t>
            </a:r>
          </a:p>
        </p:txBody>
      </p:sp>
      <p:sp>
        <p:nvSpPr>
          <p:cNvPr id="8" name="TextBox 7"/>
          <p:cNvSpPr txBox="1"/>
          <p:nvPr/>
        </p:nvSpPr>
        <p:spPr>
          <a:xfrm>
            <a:off x="4568518" y="1769455"/>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When</a:t>
            </a:r>
          </a:p>
          <a:p>
            <a:pPr algn="ctr">
              <a:lnSpc>
                <a:spcPct val="110000"/>
              </a:lnSpc>
              <a:spcAft>
                <a:spcPts val="100"/>
              </a:spcAft>
            </a:pPr>
            <a:r>
              <a:rPr sz="1300" b="0">
                <a:solidFill>
                  <a:srgbClr val="556175"/>
                </a:solidFill>
                <a:latin typeface="맑은 고딕"/>
                <a:ea typeface="맑은 고딕"/>
                <a:cs typeface="맑은 고딕"/>
              </a:rPr>
              <a:t>행동: 확인하려는 행동 하나</a:t>
            </a:r>
          </a:p>
        </p:txBody>
      </p:sp>
      <p:sp>
        <p:nvSpPr>
          <p:cNvPr id="9" name="TextBox 8"/>
          <p:cNvSpPr txBox="1"/>
          <p:nvPr/>
        </p:nvSpPr>
        <p:spPr>
          <a:xfrm>
            <a:off x="8114104"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Then</a:t>
            </a:r>
          </a:p>
          <a:p>
            <a:pPr algn="ctr">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단계가 열려 있다</a:t>
            </a:r>
          </a:p>
          <a:p>
            <a:pPr algn="ctr">
              <a:lnSpc>
                <a:spcPct val="110000"/>
              </a:lnSpc>
              <a:spcAft>
                <a:spcPts val="100"/>
              </a:spcAft>
            </a:pPr>
            <a:r>
              <a:rPr sz="1300" b="0">
                <a:solidFill>
                  <a:srgbClr val="556175"/>
                </a:solidFill>
                <a:latin typeface="맑은 고딕"/>
                <a:ea typeface="맑은 고딕"/>
                <a:cs typeface="맑은 고딕"/>
              </a:rPr>
              <a:t>추천안이 올라와 담당자의 결정을 기다린다</a:t>
            </a:r>
          </a:p>
        </p:txBody>
      </p:sp>
      <p:sp>
        <p:nvSpPr>
          <p:cNvPr id="11" name="TextBox 10"/>
          <p:cNvSpPr txBox="1"/>
          <p:nvPr/>
        </p:nvSpPr>
        <p:spPr>
          <a:xfrm>
            <a:off x="4677613"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사유를 적고 거절한다</a:t>
            </a:r>
          </a:p>
          <a:p>
            <a:pPr algn="ctr">
              <a:lnSpc>
                <a:spcPct val="110000"/>
              </a:lnSpc>
              <a:spcAft>
                <a:spcPts val="100"/>
              </a:spcAft>
            </a:pPr>
            <a:r>
              <a:rPr sz="1300" b="0">
                <a:solidFill>
                  <a:srgbClr val="556175"/>
                </a:solidFill>
                <a:latin typeface="맑은 고딕"/>
                <a:ea typeface="맑은 고딕"/>
                <a:cs typeface="맑은 고딕"/>
              </a:rPr>
              <a:t>승인 권한이 있는 담당자가 한다</a:t>
            </a:r>
          </a:p>
        </p:txBody>
      </p:sp>
      <p:sp>
        <p:nvSpPr>
          <p:cNvPr id="12" name="TextBox 11"/>
          <p:cNvSpPr txBox="1"/>
          <p:nvPr/>
        </p:nvSpPr>
        <p:spPr>
          <a:xfrm>
            <a:off x="8223199"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명령도 업무 처리도 없다</a:t>
            </a:r>
          </a:p>
          <a:p>
            <a:pPr algn="ctr">
              <a:lnSpc>
                <a:spcPct val="110000"/>
              </a:lnSpc>
              <a:spcAft>
                <a:spcPts val="100"/>
              </a:spcAft>
            </a:pPr>
            <a:r>
              <a:rPr sz="1300" b="0">
                <a:solidFill>
                  <a:srgbClr val="556175"/>
                </a:solidFill>
                <a:latin typeface="맑은 고딕"/>
                <a:ea typeface="맑은 고딕"/>
                <a:cs typeface="맑은 고딕"/>
              </a:rPr>
              <a:t>처리 건은 거절로 닫힌다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 한 편: 승인 단계의 거절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Then에 일어나지 않아야 할 일까지 적어, 금지 조건이 지켜지는지를 확인하게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서식</a:t>
            </a:r>
          </a:p>
          <a:p>
            <a:pPr algn="l">
              <a:lnSpc>
                <a:spcPct val="110000"/>
              </a:lnSpc>
              <a:spcAft>
                <a:spcPts val="400"/>
              </a:spcAft>
            </a:pPr>
            <a:r>
              <a:rPr sz="1400" b="0">
                <a:solidFill>
                  <a:srgbClr val="1F2A3A"/>
                </a:solidFill>
                <a:latin typeface="맑은 고딕"/>
                <a:ea typeface="맑은 고딕"/>
                <a:cs typeface="맑은 고딕"/>
              </a:rPr>
              <a:t>Scenario, Given, When, Then, And로 적는 이 서식의 이름이 Gherkin이다.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승인 단계가 열린 상태까지가 전제이다.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행동은 거절 하나뿐이다.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 · And</a:t>
            </a:r>
          </a:p>
          <a:p>
            <a:pPr algn="l">
              <a:lnSpc>
                <a:spcPct val="110000"/>
              </a:lnSpc>
              <a:spcAft>
                <a:spcPts val="400"/>
              </a:spcAft>
            </a:pPr>
            <a:r>
              <a:rPr sz="1400" b="0">
                <a:solidFill>
                  <a:srgbClr val="1F2A3A"/>
                </a:solidFill>
                <a:latin typeface="맑은 고딕"/>
                <a:ea typeface="맑은 고딕"/>
                <a:cs typeface="맑은 고딕"/>
              </a:rPr>
              <a:t>기대 결과를 한 줄에 하나씩 적는다. And는 앞줄과 같은 부분을 잇는다.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Then의 조건: 실행 결과로 가릴 수 있는 사실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Then을 「적절히 처리한다」처럼 적으면 통과와 실패를 가를 수 없어서, 세거나 읽어 낼 수 있는 사실로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가릴 수 없는 Then</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거절을 적절히 처리한다</a:t>
            </a:r>
          </a:p>
          <a:p>
            <a:pPr algn="l">
              <a:lnSpc>
                <a:spcPct val="110000"/>
              </a:lnSpc>
              <a:spcAft>
                <a:spcPts val="600"/>
              </a:spcAft>
            </a:pPr>
            <a:r>
              <a:rPr sz="1450" b="0">
                <a:solidFill>
                  <a:srgbClr val="1F2A3A"/>
                </a:solidFill>
                <a:latin typeface="맑은 고딕"/>
                <a:ea typeface="맑은 고딕"/>
                <a:cs typeface="맑은 고딕"/>
              </a:rPr>
              <a:t>• 설비에 영향을 주지 않는다</a:t>
            </a:r>
          </a:p>
          <a:p>
            <a:pPr algn="l">
              <a:lnSpc>
                <a:spcPct val="110000"/>
              </a:lnSpc>
              <a:spcAft>
                <a:spcPts val="600"/>
              </a:spcAft>
            </a:pPr>
            <a:r>
              <a:rPr sz="1450" b="0">
                <a:solidFill>
                  <a:srgbClr val="1F2A3A"/>
                </a:solidFill>
                <a:latin typeface="맑은 고딕"/>
                <a:ea typeface="맑은 고딕"/>
                <a:cs typeface="맑은 고딕"/>
              </a:rPr>
              <a:t>• 담당자에게 잘 알린다</a:t>
            </a:r>
          </a:p>
        </p:txBody>
      </p:sp>
      <p:sp>
        <p:nvSpPr>
          <p:cNvPr id="11" name="Rounded Rectangle 10"/>
          <p:cNvSpPr/>
          <p:nvPr/>
        </p:nvSpPr>
        <p:spPr>
          <a:xfrm>
            <a:off x="868680" y="4945570"/>
            <a:ext cx="18288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읽는 사람마다 다르다</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eye" descr="ey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가릴 수 있는 Then</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명령이 0건이다</a:t>
            </a:r>
          </a:p>
          <a:p>
            <a:pPr algn="l">
              <a:lnSpc>
                <a:spcPct val="110000"/>
              </a:lnSpc>
              <a:spcAft>
                <a:spcPts val="600"/>
              </a:spcAft>
            </a:pPr>
            <a:r>
              <a:rPr sz="1450" b="0">
                <a:solidFill>
                  <a:srgbClr val="1F2A3A"/>
                </a:solidFill>
                <a:latin typeface="맑은 고딕"/>
                <a:ea typeface="맑은 고딕"/>
                <a:cs typeface="맑은 고딕"/>
              </a:rPr>
              <a:t>• 업무 처리가 0건이다</a:t>
            </a:r>
          </a:p>
          <a:p>
            <a:pPr algn="l">
              <a:lnSpc>
                <a:spcPct val="110000"/>
              </a:lnSpc>
              <a:spcAft>
                <a:spcPts val="600"/>
              </a:spcAft>
            </a:pPr>
            <a:r>
              <a:rPr sz="1450" b="0">
                <a:solidFill>
                  <a:srgbClr val="1F2A3A"/>
                </a:solidFill>
                <a:latin typeface="맑은 고딕"/>
                <a:ea typeface="맑은 고딕"/>
                <a:cs typeface="맑은 고딕"/>
              </a:rPr>
              <a:t>• 처리 건이 거절로 닫히고 사유가 남아 있다</a:t>
            </a:r>
          </a:p>
        </p:txBody>
      </p:sp>
      <p:sp>
        <p:nvSpPr>
          <p:cNvPr id="18" name="Rounded Rectangle 17"/>
          <p:cNvSpPr/>
          <p:nvPr/>
        </p:nvSpPr>
        <p:spPr>
          <a:xfrm>
            <a:off x="6781647" y="494557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결과로 가려진다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SDD와 BDD는 묻는 것과 하는 때와 남기는 것이 다르며, 명세가 먼저 있어야 시나리오의 기대값을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 · 요구 명세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무엇을 만들고 무엇을 지킬 것인가</a:t>
            </a:r>
          </a:p>
          <a:p>
            <a:pPr algn="l">
              <a:lnSpc>
                <a:spcPct val="110000"/>
              </a:lnSpc>
              <a:spcAft>
                <a:spcPts val="600"/>
              </a:spcAft>
            </a:pPr>
            <a:r>
              <a:rPr sz="1450" b="0">
                <a:solidFill>
                  <a:srgbClr val="1F2A3A"/>
                </a:solidFill>
                <a:latin typeface="맑은 고딕"/>
                <a:ea typeface="맑은 고딕"/>
                <a:cs typeface="맑은 고딕"/>
              </a:rPr>
              <a:t>• 때: 구현하기 전</a:t>
            </a:r>
          </a:p>
          <a:p>
            <a:pPr algn="l">
              <a:lnSpc>
                <a:spcPct val="110000"/>
              </a:lnSpc>
              <a:spcAft>
                <a:spcPts val="600"/>
              </a:spcAft>
            </a:pPr>
            <a:r>
              <a:rPr sz="1450" b="0">
                <a:solidFill>
                  <a:srgbClr val="1F2A3A"/>
                </a:solidFill>
                <a:latin typeface="맑은 고딕"/>
                <a:ea typeface="맑은 고딕"/>
                <a:cs typeface="맑은 고딕"/>
              </a:rPr>
              <a:t>• 남는 것: 명세 문서</a:t>
            </a:r>
          </a:p>
          <a:p>
            <a:pPr algn="l">
              <a:lnSpc>
                <a:spcPct val="110000"/>
              </a:lnSpc>
              <a:spcAft>
                <a:spcPts val="600"/>
              </a:spcAft>
            </a:pPr>
            <a:r>
              <a:rPr sz="1450" b="0">
                <a:solidFill>
                  <a:srgbClr val="1F2A3A"/>
                </a:solidFill>
                <a:latin typeface="맑은 고딕"/>
                <a:ea typeface="맑은 고딕"/>
                <a:cs typeface="맑은 고딕"/>
              </a:rPr>
              <a:t>• 예: 「승인 없이 설비 명령을 내지 않는다」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BDD · 행동 검증</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만든 것이 정한 대로 행동하는가</a:t>
            </a:r>
          </a:p>
          <a:p>
            <a:pPr algn="l">
              <a:lnSpc>
                <a:spcPct val="110000"/>
              </a:lnSpc>
              <a:spcAft>
                <a:spcPts val="600"/>
              </a:spcAft>
            </a:pPr>
            <a:r>
              <a:rPr sz="1450" b="0">
                <a:solidFill>
                  <a:srgbClr val="1F2A3A"/>
                </a:solidFill>
                <a:latin typeface="맑은 고딕"/>
                <a:ea typeface="맑은 고딕"/>
                <a:cs typeface="맑은 고딕"/>
              </a:rPr>
              <a:t>• 때: 구현한 뒤, 그리고 바꿀 때마다</a:t>
            </a:r>
          </a:p>
          <a:p>
            <a:pPr algn="l">
              <a:lnSpc>
                <a:spcPct val="110000"/>
              </a:lnSpc>
              <a:spcAft>
                <a:spcPts val="600"/>
              </a:spcAft>
            </a:pPr>
            <a:r>
              <a:rPr sz="1450" b="0">
                <a:solidFill>
                  <a:srgbClr val="1F2A3A"/>
                </a:solidFill>
                <a:latin typeface="맑은 고딕"/>
                <a:ea typeface="맑은 고딕"/>
                <a:cs typeface="맑은 고딕"/>
              </a:rPr>
              <a:t>• 남는 것: 시나리오와 실행 결과</a:t>
            </a:r>
          </a:p>
          <a:p>
            <a:pPr algn="l">
              <a:lnSpc>
                <a:spcPct val="110000"/>
              </a:lnSpc>
              <a:spcAft>
                <a:spcPts val="600"/>
              </a:spcAft>
            </a:pPr>
            <a:r>
              <a:rPr sz="1450" b="0">
                <a:solidFill>
                  <a:srgbClr val="1F2A3A"/>
                </a:solidFill>
                <a:latin typeface="맑은 고딕"/>
                <a:ea typeface="맑은 고딕"/>
                <a:cs typeface="맑은 고딕"/>
              </a:rPr>
              <a:t>• 예: 「거절하면 설비 명령이 0건이다」가 통과한다</a:t>
            </a:r>
          </a:p>
        </p:txBody>
      </p:sp>
      <p:sp>
        <p:nvSpPr>
          <p:cNvPr id="18" name="Rounded Rectangle 17"/>
          <p:cNvSpPr/>
          <p:nvPr/>
        </p:nvSpPr>
        <p:spPr>
          <a:xfrm>
            <a:off x="6781647" y="5096002"/>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적은 것이 시나리오에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시나리오의 입력과 기대값은 명세에서 오며, 명세의 계약과 금지 조건과 수용 기준은 시나리오의 정해진 자리로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명세에 적은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시나리오에서 놓이는 자리</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입력 계약</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Given과 When에 넣는 입력값</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HYD-01,</a:t>
            </a:r>
          </a:p>
          <a:p>
            <a:pPr algn="l">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출력 계약</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Then: 결과에 있어야 하는 항목</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추천, 판단 번호 등</a:t>
            </a:r>
          </a:p>
          <a:p>
            <a:pPr algn="l">
              <a:lnSpc>
                <a:spcPct val="110000"/>
              </a:lnSpc>
            </a:pPr>
            <a:r>
              <a:rPr sz="1250" b="1">
                <a:solidFill>
                  <a:srgbClr val="556175"/>
                </a:solidFill>
                <a:latin typeface="맑은 고딕"/>
                <a:ea typeface="맑은 고딕"/>
                <a:cs typeface="맑은 고딕"/>
              </a:rPr>
              <a:t>다섯 항목</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조건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Then: 일어나지 않아야 하는 일</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승인 전에는</a:t>
            </a:r>
          </a:p>
          <a:p>
            <a:pPr algn="l">
              <a:lnSpc>
                <a:spcPct val="110000"/>
              </a:lnSpc>
            </a:pPr>
            <a:r>
              <a:rPr sz="1250" b="1">
                <a:solidFill>
                  <a:srgbClr val="1A6FC4"/>
                </a:solidFill>
                <a:latin typeface="맑은 고딕"/>
                <a:ea typeface="맑은 고딕"/>
                <a:cs typeface="맑은 고딕"/>
              </a:rPr>
              <a:t>설비 명령 0건</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 하나하나의 통과</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거절하면 명령도</a:t>
            </a:r>
          </a:p>
          <a:p>
            <a:pPr algn="l">
              <a:lnSpc>
                <a:spcPct val="110000"/>
              </a:lnSpc>
            </a:pPr>
            <a:r>
              <a:rPr sz="1250" b="1">
                <a:solidFill>
                  <a:srgbClr val="556175"/>
                </a:solidFill>
                <a:latin typeface="맑은 고딕"/>
                <a:ea typeface="맑은 고딕"/>
                <a:cs typeface="맑은 고딕"/>
              </a:rPr>
              <a:t>업무 처리도 없다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시나리오에서 실행 가능한 검증으로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Given은 준비할 입력으로, When은 실행할 행동으로, Then은 견줄 기대값으로 옮겨져 실행 가능한 검증이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시나리오연결.svg" descr="illust_552973796784960864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2549484"/>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Given</a:t>
            </a:r>
          </a:p>
          <a:p>
            <a:pPr algn="ctr">
              <a:lnSpc>
                <a:spcPct val="110000"/>
              </a:lnSpc>
              <a:spcAft>
                <a:spcPts val="100"/>
              </a:spcAft>
            </a:pPr>
            <a:r>
              <a:rPr sz="1100" b="0">
                <a:solidFill>
                  <a:srgbClr val="556175"/>
                </a:solidFill>
                <a:latin typeface="맑은 고딕"/>
                <a:ea typeface="맑은 고딕"/>
                <a:cs typeface="맑은 고딕"/>
              </a:rPr>
              <a:t>승인 단계가 열려 있다</a:t>
            </a:r>
          </a:p>
        </p:txBody>
      </p:sp>
      <p:sp>
        <p:nvSpPr>
          <p:cNvPr id="8" name="TextBox 7"/>
          <p:cNvSpPr txBox="1"/>
          <p:nvPr/>
        </p:nvSpPr>
        <p:spPr>
          <a:xfrm>
            <a:off x="1219303" y="3825895"/>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When</a:t>
            </a:r>
          </a:p>
          <a:p>
            <a:pPr algn="ctr">
              <a:lnSpc>
                <a:spcPct val="110000"/>
              </a:lnSpc>
              <a:spcAft>
                <a:spcPts val="100"/>
              </a:spcAft>
            </a:pPr>
            <a:r>
              <a:rPr sz="1100" b="0">
                <a:solidFill>
                  <a:srgbClr val="556175"/>
                </a:solidFill>
                <a:latin typeface="맑은 고딕"/>
                <a:ea typeface="맑은 고딕"/>
                <a:cs typeface="맑은 고딕"/>
              </a:rPr>
              <a:t>사유를 적고 거절한다</a:t>
            </a:r>
          </a:p>
        </p:txBody>
      </p:sp>
      <p:sp>
        <p:nvSpPr>
          <p:cNvPr id="9" name="TextBox 8"/>
          <p:cNvSpPr txBox="1"/>
          <p:nvPr/>
        </p:nvSpPr>
        <p:spPr>
          <a:xfrm>
            <a:off x="1219303" y="5102306"/>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Then</a:t>
            </a:r>
          </a:p>
          <a:p>
            <a:pPr algn="ctr">
              <a:lnSpc>
                <a:spcPct val="110000"/>
              </a:lnSpc>
              <a:spcAft>
                <a:spcPts val="100"/>
              </a:spcAft>
            </a:pPr>
            <a:r>
              <a:rPr sz="1100" b="0">
                <a:solidFill>
                  <a:srgbClr val="556175"/>
                </a:solidFill>
                <a:latin typeface="맑은 고딕"/>
                <a:ea typeface="맑은 고딕"/>
                <a:cs typeface="맑은 고딕"/>
              </a:rPr>
              <a:t>명령 0건, 거절로 종료</a:t>
            </a:r>
          </a:p>
        </p:txBody>
      </p:sp>
      <p:sp>
        <p:nvSpPr>
          <p:cNvPr id="10" name="TextBox 9"/>
          <p:cNvSpPr txBox="1"/>
          <p:nvPr/>
        </p:nvSpPr>
        <p:spPr>
          <a:xfrm>
            <a:off x="5768562" y="2478572"/>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준비할 입력</a:t>
            </a:r>
          </a:p>
          <a:p>
            <a:pPr algn="ctr">
              <a:lnSpc>
                <a:spcPct val="110000"/>
              </a:lnSpc>
              <a:spcAft>
                <a:spcPts val="100"/>
              </a:spcAft>
            </a:pPr>
            <a:r>
              <a:rPr sz="1100" b="0">
                <a:solidFill>
                  <a:srgbClr val="556175"/>
                </a:solidFill>
                <a:latin typeface="맑은 고딕"/>
                <a:ea typeface="맑은 고딕"/>
                <a:cs typeface="맑은 고딕"/>
              </a:rPr>
              <a:t>고정한 경보와 값</a:t>
            </a:r>
          </a:p>
        </p:txBody>
      </p:sp>
      <p:sp>
        <p:nvSpPr>
          <p:cNvPr id="11" name="TextBox 10"/>
          <p:cNvSpPr txBox="1"/>
          <p:nvPr/>
        </p:nvSpPr>
        <p:spPr>
          <a:xfrm>
            <a:off x="4426694" y="439318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실행할 행동</a:t>
            </a:r>
          </a:p>
        </p:txBody>
      </p:sp>
      <p:sp>
        <p:nvSpPr>
          <p:cNvPr id="12" name="TextBox 11"/>
          <p:cNvSpPr txBox="1"/>
          <p:nvPr/>
        </p:nvSpPr>
        <p:spPr>
          <a:xfrm>
            <a:off x="4426694" y="5693237"/>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견줄 기대값</a:t>
            </a:r>
          </a:p>
        </p:txBody>
      </p:sp>
      <p:sp>
        <p:nvSpPr>
          <p:cNvPr id="13" name="TextBox 12"/>
          <p:cNvSpPr txBox="1"/>
          <p:nvPr/>
        </p:nvSpPr>
        <p:spPr>
          <a:xfrm>
            <a:off x="6608593" y="318768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실제 결과</a:t>
            </a:r>
          </a:p>
        </p:txBody>
      </p:sp>
      <p:sp>
        <p:nvSpPr>
          <p:cNvPr id="14" name="TextBox 13"/>
          <p:cNvSpPr txBox="1"/>
          <p:nvPr/>
        </p:nvSpPr>
        <p:spPr>
          <a:xfrm>
            <a:off x="6641322" y="5385953"/>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대조</a:t>
            </a:r>
          </a:p>
          <a:p>
            <a:pPr algn="ctr">
              <a:lnSpc>
                <a:spcPct val="110000"/>
              </a:lnSpc>
              <a:spcAft>
                <a:spcPts val="100"/>
              </a:spcAft>
            </a:pPr>
            <a:r>
              <a:rPr sz="1100" b="0">
                <a:solidFill>
                  <a:srgbClr val="556175"/>
                </a:solidFill>
                <a:latin typeface="맑은 고딕"/>
                <a:ea typeface="맑은 고딕"/>
                <a:cs typeface="맑은 고딕"/>
              </a:rPr>
              <a:t>기대값과 실제 결과</a:t>
            </a:r>
          </a:p>
        </p:txBody>
      </p:sp>
      <p:sp>
        <p:nvSpPr>
          <p:cNvPr id="15" name="TextBox 14"/>
          <p:cNvSpPr txBox="1"/>
          <p:nvPr/>
        </p:nvSpPr>
        <p:spPr>
          <a:xfrm>
            <a:off x="9772347" y="4251365"/>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통과</a:t>
            </a:r>
          </a:p>
        </p:txBody>
      </p:sp>
      <p:sp>
        <p:nvSpPr>
          <p:cNvPr id="16" name="TextBox 15"/>
          <p:cNvSpPr txBox="1"/>
          <p:nvPr/>
        </p:nvSpPr>
        <p:spPr>
          <a:xfrm>
            <a:off x="9390515" y="5754694"/>
            <a:ext cx="207280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실패</a:t>
            </a:r>
          </a:p>
          <a:p>
            <a:pPr algn="ctr">
              <a:lnSpc>
                <a:spcPct val="110000"/>
              </a:lnSpc>
              <a:spcAft>
                <a:spcPts val="100"/>
              </a:spcAft>
            </a:pPr>
            <a:r>
              <a:rPr sz="1100" b="0">
                <a:solidFill>
                  <a:srgbClr val="556175"/>
                </a:solidFill>
                <a:latin typeface="맑은 고딕"/>
                <a:ea typeface="맑은 고딕"/>
                <a:cs typeface="맑은 고딕"/>
              </a:rPr>
              <a:t>어긋난 시나리오의 이름이 남는다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단언: 기대값과 실제 결과를 대어 보는 한 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Then의 한 줄은 시험 코드에서 단언 한 줄이 되고, 단언이 하나라도 어긋나면 그 시험은 실패로 기록된다.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test_rejection_does_nothing_to_plant_</a:t>
            </a:r>
          </a:p>
          <a:p>
            <a:pPr algn="l">
              <a:lnSpc>
                <a:spcPct val="110000"/>
              </a:lnSpc>
              <a:spcAft>
                <a:spcPts val="200"/>
              </a:spcAft>
            </a:pPr>
            <a:r>
              <a:rPr sz="1300" b="0">
                <a:solidFill>
                  <a:srgbClr val="E8EEF6"/>
                </a:solidFill>
                <a:latin typeface="Consolas"/>
                <a:ea typeface="맑은 고딕"/>
                <a:cs typeface="맑은 고딕"/>
              </a:rPr>
              <a:t>    or_business_and_closes_the_case_</a:t>
            </a:r>
          </a:p>
          <a:p>
            <a:pPr algn="l">
              <a:lnSpc>
                <a:spcPct val="110000"/>
              </a:lnSpc>
              <a:spcAft>
                <a:spcPts val="200"/>
              </a:spcAft>
            </a:pPr>
            <a:r>
              <a:rPr sz="1300" b="0">
                <a:solidFill>
                  <a:srgbClr val="E8EEF6"/>
                </a:solidFill>
                <a:latin typeface="Consolas"/>
                <a:ea typeface="맑은 고딕"/>
                <a:cs typeface="맑은 고딕"/>
              </a:rPr>
              <a:t>    as_rejected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reject_card(</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assert out.calls == []</a:t>
            </a:r>
          </a:p>
          <a:p>
            <a:pPr algn="l">
              <a:lnSpc>
                <a:spcPct val="110000"/>
              </a:lnSpc>
              <a:spcAft>
                <a:spcPts val="200"/>
              </a:spcAft>
            </a:pP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assert v["approval"] == "</a:t>
            </a:r>
            <a:r>
              <a:rPr sz="1300" b="0">
                <a:solidFill>
                  <a:srgbClr val="E8EEF6"/>
                </a:solidFill>
                <a:latin typeface="맑은 고딕"/>
                <a:ea typeface="맑은 고딕"/>
                <a:cs typeface="맑은 고딕"/>
              </a:rPr>
              <a:t>반려</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시험 이름</a:t>
            </a:r>
          </a:p>
          <a:p>
            <a:pPr algn="l">
              <a:lnSpc>
                <a:spcPct val="110000"/>
              </a:lnSpc>
              <a:spcAft>
                <a:spcPts val="400"/>
              </a:spcAft>
            </a:pPr>
            <a:r>
              <a:rPr sz="1400" b="0">
                <a:solidFill>
                  <a:srgbClr val="1F2A3A"/>
                </a:solidFill>
                <a:latin typeface="맑은 고딕"/>
                <a:ea typeface="맑은 고딕"/>
                <a:cs typeface="맑은 고딕"/>
              </a:rPr>
              <a:t>거절은 설비와 업무에 아무 일도 하지 않고 처리 건을 거절로 닫는다는 시나리오 문장이다.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reject_card</a:t>
            </a:r>
          </a:p>
          <a:p>
            <a:pPr algn="l">
              <a:lnSpc>
                <a:spcPct val="110000"/>
              </a:lnSpc>
              <a:spcAft>
                <a:spcPts val="400"/>
              </a:spcAft>
            </a:pPr>
            <a:r>
              <a:rPr sz="1400" b="0">
                <a:solidFill>
                  <a:srgbClr val="1F2A3A"/>
                </a:solidFill>
                <a:latin typeface="맑은 고딕"/>
                <a:ea typeface="맑은 고딕"/>
                <a:cs typeface="맑은 고딕"/>
              </a:rPr>
              <a:t>When이다. 사유를 넣어 거절을 실행한다.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assert</a:t>
            </a:r>
          </a:p>
          <a:p>
            <a:pPr algn="l">
              <a:lnSpc>
                <a:spcPct val="110000"/>
              </a:lnSpc>
              <a:spcAft>
                <a:spcPts val="400"/>
              </a:spcAft>
            </a:pPr>
            <a:r>
              <a:rPr sz="1400" b="0">
                <a:solidFill>
                  <a:srgbClr val="1F2A3A"/>
                </a:solidFill>
                <a:latin typeface="맑은 고딕"/>
                <a:ea typeface="맑은 고딕"/>
                <a:cs typeface="맑은 고딕"/>
              </a:rPr>
              <a:t>단언(Assertion)이다. 뒤의 식이 참이 아니면 시험이 실패한다.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두 단언</a:t>
            </a:r>
          </a:p>
          <a:p>
            <a:pPr algn="l">
              <a:lnSpc>
                <a:spcPct val="110000"/>
              </a:lnSpc>
              <a:spcAft>
                <a:spcPts val="400"/>
              </a:spcAft>
            </a:pPr>
            <a:r>
              <a:rPr sz="1400" b="0">
                <a:solidFill>
                  <a:srgbClr val="1F2A3A"/>
                </a:solidFill>
                <a:latin typeface="맑은 고딕"/>
                <a:ea typeface="맑은 고딕"/>
                <a:cs typeface="맑은 고딕"/>
              </a:rPr>
              <a:t>업무 처리를 부른 목록이 비어 있다, 승인 값이 거절을 뜻하는 「반려」이다.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시험 이름으로 읽는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단계의 시험은 이름이 시나리오 문장이어서, 실패한 시험의 이름만 보아도 어느 행동이 깨졌는지를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전제와 행동</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시험 이름</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기대 결과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담당자가 승인한다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approval_carries_the_approval_value_and_the_case_is_processed …</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값이 실리고</a:t>
            </a:r>
          </a:p>
          <a:p>
            <a:pPr algn="l">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사유를 적고 거절한다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rejection_does_nothing_to_plant_or_business_and_closes_the_case …</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명령과 업무 처리 0건,</a:t>
            </a:r>
          </a:p>
          <a:p>
            <a:pPr algn="l">
              <a:lnSpc>
                <a:spcPct val="110000"/>
              </a:lnSpc>
            </a:pPr>
            <a:r>
              <a:rPr sz="1250" b="1">
                <a:solidFill>
                  <a:srgbClr val="556175"/>
                </a:solidFill>
                <a:latin typeface="맑은 고딕"/>
                <a:ea typeface="맑은 고딕"/>
                <a:cs typeface="맑은 고딕"/>
              </a:rPr>
              <a:t>거절로 종료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사유 없이 거절한다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a_rejection_needs_a_reason_and_a_role_that_may_approve_the_card</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거절이</a:t>
            </a:r>
          </a:p>
          <a:p>
            <a:pPr algn="l">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지연 알림 뒤에 승인한다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the_person_can_still_approve_after_the_overdue_notice</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승인이</a:t>
            </a:r>
          </a:p>
          <a:p>
            <a:pPr algn="l">
              <a:lnSpc>
                <a:spcPct val="110000"/>
              </a:lnSpc>
            </a:pPr>
            <a:r>
              <a:rPr sz="1250" b="1">
                <a:solidFill>
                  <a:srgbClr val="556175"/>
                </a:solidFill>
                <a:latin typeface="맑은 고딕"/>
                <a:ea typeface="맑은 고딕"/>
                <a:cs typeface="맑은 고딕"/>
              </a:rPr>
              <a:t>정상 처리된다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시나리오가 확인하는 것은 한 경우이다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단계 하나에서도 결과가 네 갈래로 갈리며, 갈래마다 시나리오가 따로 있어야 빠지는 경우가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갈래.svg" descr="illust_8348411623097893620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2242200"/>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단계</a:t>
            </a:r>
          </a:p>
          <a:p>
            <a:pPr algn="ctr">
              <a:lnSpc>
                <a:spcPct val="110000"/>
              </a:lnSpc>
              <a:spcAft>
                <a:spcPts val="100"/>
              </a:spcAft>
            </a:pPr>
            <a:r>
              <a:rPr sz="1300" b="0">
                <a:solidFill>
                  <a:srgbClr val="556175"/>
                </a:solidFill>
                <a:latin typeface="맑은 고딕"/>
                <a:ea typeface="맑은 고딕"/>
                <a:cs typeface="맑은 고딕"/>
              </a:rPr>
              <a:t>추천안과 담당자</a:t>
            </a:r>
          </a:p>
        </p:txBody>
      </p:sp>
      <p:sp>
        <p:nvSpPr>
          <p:cNvPr id="8" name="TextBox 7"/>
          <p:cNvSpPr txBox="1"/>
          <p:nvPr/>
        </p:nvSpPr>
        <p:spPr>
          <a:xfrm>
            <a:off x="4786708" y="264403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4786708" y="375498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p:txBody>
      </p:sp>
      <p:sp>
        <p:nvSpPr>
          <p:cNvPr id="10" name="TextBox 9"/>
          <p:cNvSpPr txBox="1"/>
          <p:nvPr/>
        </p:nvSpPr>
        <p:spPr>
          <a:xfrm>
            <a:off x="4786708" y="486593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무응답</a:t>
            </a:r>
          </a:p>
        </p:txBody>
      </p:sp>
      <p:sp>
        <p:nvSpPr>
          <p:cNvPr id="11" name="TextBox 10"/>
          <p:cNvSpPr txBox="1"/>
          <p:nvPr/>
        </p:nvSpPr>
        <p:spPr>
          <a:xfrm>
            <a:off x="4241233" y="5953246"/>
            <a:ext cx="261827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사유 없음 · 권한 없음</a:t>
            </a:r>
          </a:p>
        </p:txBody>
      </p:sp>
      <p:sp>
        <p:nvSpPr>
          <p:cNvPr id="12" name="TextBox 11"/>
          <p:cNvSpPr txBox="1"/>
          <p:nvPr/>
        </p:nvSpPr>
        <p:spPr>
          <a:xfrm>
            <a:off x="8005009" y="20294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명령이 만들어진다</a:t>
            </a:r>
          </a:p>
          <a:p>
            <a:pPr algn="ctr">
              <a:lnSpc>
                <a:spcPct val="110000"/>
              </a:lnSpc>
              <a:spcAft>
                <a:spcPts val="100"/>
              </a:spcAft>
            </a:pPr>
            <a:r>
              <a:rPr sz="1300" b="0">
                <a:solidFill>
                  <a:srgbClr val="556175"/>
                </a:solidFill>
                <a:latin typeface="맑은 고딕"/>
                <a:ea typeface="맑은 고딕"/>
                <a:cs typeface="맑은 고딕"/>
              </a:rPr>
              <a:t>처리 건이 끝까지 처리된다</a:t>
            </a:r>
          </a:p>
        </p:txBody>
      </p:sp>
      <p:sp>
        <p:nvSpPr>
          <p:cNvPr id="13" name="TextBox 12"/>
          <p:cNvSpPr txBox="1"/>
          <p:nvPr/>
        </p:nvSpPr>
        <p:spPr>
          <a:xfrm>
            <a:off x="8005009" y="314041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명령도 업무 처리도 없다</a:t>
            </a:r>
          </a:p>
          <a:p>
            <a:pPr algn="ctr">
              <a:lnSpc>
                <a:spcPct val="110000"/>
              </a:lnSpc>
              <a:spcAft>
                <a:spcPts val="100"/>
              </a:spcAft>
            </a:pPr>
            <a:r>
              <a:rPr sz="1300" b="0">
                <a:solidFill>
                  <a:srgbClr val="556175"/>
                </a:solidFill>
                <a:latin typeface="맑은 고딕"/>
                <a:ea typeface="맑은 고딕"/>
                <a:cs typeface="맑은 고딕"/>
              </a:rPr>
              <a:t>처리 건이 거절로 닫힌다</a:t>
            </a:r>
          </a:p>
        </p:txBody>
      </p:sp>
      <p:sp>
        <p:nvSpPr>
          <p:cNvPr id="14" name="TextBox 13"/>
          <p:cNvSpPr txBox="1"/>
          <p:nvPr/>
        </p:nvSpPr>
        <p:spPr>
          <a:xfrm>
            <a:off x="8005009" y="42513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지연 알림만 나간다</a:t>
            </a:r>
          </a:p>
          <a:p>
            <a:pPr algn="ctr">
              <a:lnSpc>
                <a:spcPct val="110000"/>
              </a:lnSpc>
              <a:spcAft>
                <a:spcPts val="100"/>
              </a:spcAft>
            </a:pPr>
            <a:r>
              <a:rPr sz="1300" b="0">
                <a:solidFill>
                  <a:srgbClr val="556175"/>
                </a:solidFill>
                <a:latin typeface="맑은 고딕"/>
                <a:ea typeface="맑은 고딕"/>
                <a:cs typeface="맑은 고딕"/>
              </a:rPr>
              <a:t>처리 건은 계속 기다린다</a:t>
            </a:r>
          </a:p>
        </p:txBody>
      </p:sp>
      <p:sp>
        <p:nvSpPr>
          <p:cNvPr id="15" name="TextBox 14"/>
          <p:cNvSpPr txBox="1"/>
          <p:nvPr/>
        </p:nvSpPr>
        <p:spPr>
          <a:xfrm>
            <a:off x="8005009" y="536231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요청이 받아들여지지 않는다</a:t>
            </a:r>
          </a:p>
          <a:p>
            <a:pPr algn="ctr">
              <a:lnSpc>
                <a:spcPct val="110000"/>
              </a:lnSpc>
              <a:spcAft>
                <a:spcPts val="100"/>
              </a:spcAft>
            </a:pPr>
            <a:r>
              <a:rPr sz="1300" b="0">
                <a:solidFill>
                  <a:srgbClr val="556175"/>
                </a:solidFill>
                <a:latin typeface="맑은 고딕"/>
                <a:ea typeface="맑은 고딕"/>
                <a:cs typeface="맑은 고딕"/>
              </a:rPr>
              <a:t>승인 단계는 그대로 열려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종류의 시험: 정상, 경계, 예외, 회귀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종류는 확인하는 대상이 달라서 정상은 기본 경로를, 경계는 기준값 근처를, 예외는 실패를, 회귀는 변경 뒤를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종류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확인하는 것</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승인 단계의 시나리오</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정상</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기본 경로가 끝까지 가는가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승인하면 처리 건이</a:t>
            </a:r>
          </a:p>
          <a:p>
            <a:pPr algn="l">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경계</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기준값의 바로 안팎에서 판정이 맞는가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10분을 넘긴 직후</a:t>
            </a:r>
          </a:p>
          <a:p>
            <a:pPr algn="l">
              <a:lnSpc>
                <a:spcPct val="110000"/>
              </a:lnSpc>
            </a:pPr>
            <a:r>
              <a:rPr sz="1250" b="1">
                <a:solidFill>
                  <a:srgbClr val="556175"/>
                </a:solidFill>
                <a:latin typeface="맑은 고딕"/>
                <a:ea typeface="맑은 고딕"/>
                <a:cs typeface="맑은 고딕"/>
              </a:rPr>
              <a:t>알림만 나가고 기다린다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예외</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누락, 오류를 정한 대로 다루는가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사유 없는 거절은</a:t>
            </a:r>
          </a:p>
          <a:p>
            <a:pPr algn="l">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회귀</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바꾼 뒤에도 기존 행동이 그대로인가</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긴급 조건을 더한 뒤에도</a:t>
            </a:r>
          </a:p>
          <a:p>
            <a:pPr algn="l">
              <a:lnSpc>
                <a:spcPct val="110000"/>
              </a:lnSpc>
            </a:pPr>
            <a:r>
              <a:rPr sz="1250" b="1">
                <a:solidFill>
                  <a:srgbClr val="1A6FC4"/>
                </a:solidFill>
                <a:latin typeface="맑은 고딕"/>
                <a:ea typeface="맑은 고딕"/>
                <a:cs typeface="맑은 고딕"/>
              </a:rPr>
              <a:t>거절하면 명령 0건이다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경계값 분석: 기준값의 바로 안쪽과 바깥쪽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회복 기준인 유온 55 ℃ 미만은 54.9 ℃와 55.0 ℃ 사이에서 판정이 갈리며, 경계 시험은 그 두 값을 입력으로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경계값.svg" descr="illust_2470391750368120029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2714945"/>
            <a:ext cx="370922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회복 기준을 충족하는 구간</a:t>
            </a:r>
          </a:p>
          <a:p>
            <a:pPr algn="ctr">
              <a:lnSpc>
                <a:spcPct val="110000"/>
              </a:lnSpc>
              <a:spcAft>
                <a:spcPts val="100"/>
              </a:spcAft>
            </a:pPr>
            <a:r>
              <a:rPr sz="1300" b="0">
                <a:solidFill>
                  <a:srgbClr val="556175"/>
                </a:solidFill>
                <a:latin typeface="맑은 고딕"/>
                <a:ea typeface="맑은 고딕"/>
                <a:cs typeface="맑은 고딕"/>
              </a:rPr>
              <a:t>유온 55 ℃ 미만</a:t>
            </a:r>
          </a:p>
        </p:txBody>
      </p:sp>
      <p:sp>
        <p:nvSpPr>
          <p:cNvPr id="8" name="TextBox 7"/>
          <p:cNvSpPr txBox="1"/>
          <p:nvPr/>
        </p:nvSpPr>
        <p:spPr>
          <a:xfrm>
            <a:off x="7154068" y="219492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기준값</a:t>
            </a:r>
          </a:p>
        </p:txBody>
      </p:sp>
      <p:sp>
        <p:nvSpPr>
          <p:cNvPr id="9" name="TextBox 8"/>
          <p:cNvSpPr txBox="1"/>
          <p:nvPr/>
        </p:nvSpPr>
        <p:spPr>
          <a:xfrm>
            <a:off x="8823221" y="271494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충족하지 않는 구간</a:t>
            </a:r>
          </a:p>
        </p:txBody>
      </p:sp>
      <p:sp>
        <p:nvSpPr>
          <p:cNvPr id="10" name="TextBox 9"/>
          <p:cNvSpPr txBox="1"/>
          <p:nvPr/>
        </p:nvSpPr>
        <p:spPr>
          <a:xfrm>
            <a:off x="2473895" y="4629561"/>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51.5 ℃</a:t>
            </a:r>
          </a:p>
          <a:p>
            <a:pPr algn="ctr">
              <a:lnSpc>
                <a:spcPct val="110000"/>
              </a:lnSpc>
              <a:spcAft>
                <a:spcPts val="100"/>
              </a:spcAft>
            </a:pPr>
            <a:r>
              <a:rPr sz="1300" b="0">
                <a:solidFill>
                  <a:srgbClr val="556175"/>
                </a:solidFill>
                <a:latin typeface="맑은 고딕"/>
                <a:ea typeface="맑은 고딕"/>
                <a:cs typeface="맑은 고딕"/>
              </a:rPr>
              <a:t>실제 사건의 값</a:t>
            </a:r>
          </a:p>
        </p:txBody>
      </p:sp>
      <p:sp>
        <p:nvSpPr>
          <p:cNvPr id="11" name="TextBox 10"/>
          <p:cNvSpPr txBox="1"/>
          <p:nvPr/>
        </p:nvSpPr>
        <p:spPr>
          <a:xfrm>
            <a:off x="5899476" y="4629561"/>
            <a:ext cx="130913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54.9 ℃</a:t>
            </a:r>
          </a:p>
          <a:p>
            <a:pPr algn="ctr">
              <a:lnSpc>
                <a:spcPct val="110000"/>
              </a:lnSpc>
              <a:spcAft>
                <a:spcPts val="100"/>
              </a:spcAft>
            </a:pPr>
            <a:r>
              <a:rPr sz="1300" b="0">
                <a:solidFill>
                  <a:srgbClr val="556175"/>
                </a:solidFill>
                <a:latin typeface="맑은 고딕"/>
                <a:ea typeface="맑은 고딕"/>
                <a:cs typeface="맑은 고딕"/>
              </a:rPr>
              <a:t>기준의 바로 안쪽</a:t>
            </a:r>
          </a:p>
        </p:txBody>
      </p:sp>
      <p:sp>
        <p:nvSpPr>
          <p:cNvPr id="12" name="TextBox 11"/>
          <p:cNvSpPr txBox="1"/>
          <p:nvPr/>
        </p:nvSpPr>
        <p:spPr>
          <a:xfrm>
            <a:off x="7263163" y="4629561"/>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55.0 ℃</a:t>
            </a:r>
          </a:p>
          <a:p>
            <a:pPr algn="ctr">
              <a:lnSpc>
                <a:spcPct val="110000"/>
              </a:lnSpc>
              <a:spcAft>
                <a:spcPts val="100"/>
              </a:spcAft>
            </a:pPr>
            <a:r>
              <a:rPr sz="1300" b="0">
                <a:solidFill>
                  <a:srgbClr val="556175"/>
                </a:solidFill>
                <a:latin typeface="맑은 고딕"/>
                <a:ea typeface="맑은 고딕"/>
                <a:cs typeface="맑은 고딕"/>
              </a:rPr>
              <a:t>기준값</a:t>
            </a:r>
          </a:p>
        </p:txBody>
      </p:sp>
      <p:sp>
        <p:nvSpPr>
          <p:cNvPr id="13" name="TextBox 12"/>
          <p:cNvSpPr txBox="1"/>
          <p:nvPr/>
        </p:nvSpPr>
        <p:spPr>
          <a:xfrm>
            <a:off x="8626850" y="4629561"/>
            <a:ext cx="130913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55.1 ℃</a:t>
            </a:r>
          </a:p>
          <a:p>
            <a:pPr algn="ctr">
              <a:lnSpc>
                <a:spcPct val="110000"/>
              </a:lnSpc>
              <a:spcAft>
                <a:spcPts val="100"/>
              </a:spcAft>
            </a:pPr>
            <a:r>
              <a:rPr sz="1300" b="0">
                <a:solidFill>
                  <a:srgbClr val="556175"/>
                </a:solidFill>
                <a:latin typeface="맑은 고딕"/>
                <a:ea typeface="맑은 고딕"/>
                <a:cs typeface="맑은 고딕"/>
              </a:rPr>
              <a:t>기준의 바로 바깥쪽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시간의 경계: 승인 지연 시간의 직전과 직후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지연 시간 10분의 직전과 직후에서 행동이 달라지고, 넘긴 뒤에도 처리 건이 닫히지 않는 것까지가 기대 결과이다.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clock" descr="clock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10분이 되기 직전</a:t>
            </a:r>
          </a:p>
          <a:p>
            <a:pPr algn="ctr">
              <a:lnSpc>
                <a:spcPct val="110000"/>
              </a:lnSpc>
              <a:spcAft>
                <a:spcPts val="400"/>
              </a:spcAft>
            </a:pPr>
            <a:r>
              <a:rPr sz="1350" b="0">
                <a:solidFill>
                  <a:srgbClr val="1F2A3A"/>
                </a:solidFill>
                <a:latin typeface="맑은 고딕"/>
                <a:ea typeface="맑은 고딕"/>
                <a:cs typeface="맑은 고딕"/>
              </a:rPr>
              <a:t>지연 알림이</a:t>
            </a:r>
          </a:p>
          <a:p>
            <a:pPr algn="ctr">
              <a:lnSpc>
                <a:spcPct val="110000"/>
              </a:lnSpc>
              <a:spcAft>
                <a:spcPts val="400"/>
              </a:spcAft>
            </a:pPr>
            <a:r>
              <a:rPr sz="1350" b="0">
                <a:solidFill>
                  <a:srgbClr val="1F2A3A"/>
                </a:solidFill>
                <a:latin typeface="맑은 고딕"/>
                <a:ea typeface="맑은 고딕"/>
                <a:cs typeface="맑은 고딕"/>
              </a:rPr>
              <a:t>아직 나가지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10분을 넘긴 직후</a:t>
            </a:r>
          </a:p>
          <a:p>
            <a:pPr algn="ctr">
              <a:lnSpc>
                <a:spcPct val="110000"/>
              </a:lnSpc>
              <a:spcAft>
                <a:spcPts val="400"/>
              </a:spcAft>
            </a:pPr>
            <a:r>
              <a:rPr sz="1350" b="0">
                <a:solidFill>
                  <a:srgbClr val="1F2A3A"/>
                </a:solidFill>
                <a:latin typeface="맑은 고딕"/>
                <a:ea typeface="맑은 고딕"/>
                <a:cs typeface="맑은 고딕"/>
              </a:rPr>
              <a:t>「승인 지연」 알림이</a:t>
            </a:r>
          </a:p>
          <a:p>
            <a:pPr algn="ctr">
              <a:lnSpc>
                <a:spcPct val="110000"/>
              </a:lnSpc>
              <a:spcAft>
                <a:spcPts val="400"/>
              </a:spcAft>
            </a:pPr>
            <a:r>
              <a:rPr sz="1350" b="0">
                <a:solidFill>
                  <a:srgbClr val="1F2A3A"/>
                </a:solidFill>
                <a:latin typeface="맑은 고딕"/>
                <a:ea typeface="맑은 고딕"/>
                <a:cs typeface="맑은 고딕"/>
              </a:rPr>
              <a:t>나간다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hourglass" descr="hourglass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알림이 나간 뒤</a:t>
            </a:r>
          </a:p>
          <a:p>
            <a:pPr algn="ctr">
              <a:lnSpc>
                <a:spcPct val="110000"/>
              </a:lnSpc>
              <a:spcAft>
                <a:spcPts val="400"/>
              </a:spcAft>
            </a:pPr>
            <a:r>
              <a:rPr sz="1350" b="0">
                <a:solidFill>
                  <a:srgbClr val="1F2A3A"/>
                </a:solidFill>
                <a:latin typeface="맑은 고딕"/>
                <a:ea typeface="맑은 고딕"/>
                <a:cs typeface="맑은 고딕"/>
              </a:rPr>
              <a:t>승인 단계는 열려 있고</a:t>
            </a:r>
          </a:p>
          <a:p>
            <a:pPr algn="ctr">
              <a:lnSpc>
                <a:spcPct val="110000"/>
              </a:lnSpc>
              <a:spcAft>
                <a:spcPts val="400"/>
              </a:spcAft>
            </a:pPr>
            <a:r>
              <a:rPr sz="1350" b="0">
                <a:solidFill>
                  <a:srgbClr val="1F2A3A"/>
                </a:solidFill>
                <a:latin typeface="맑은 고딕"/>
                <a:ea typeface="맑은 고딕"/>
                <a:cs typeface="맑은 고딕"/>
              </a:rPr>
              <a:t>처리 건은 계속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뒤늦은 승인</a:t>
            </a:r>
          </a:p>
          <a:p>
            <a:pPr algn="ctr">
              <a:lnSpc>
                <a:spcPct val="110000"/>
              </a:lnSpc>
              <a:spcAft>
                <a:spcPts val="400"/>
              </a:spcAft>
            </a:pPr>
            <a:r>
              <a:rPr sz="1350" b="0">
                <a:solidFill>
                  <a:srgbClr val="1F2A3A"/>
                </a:solidFill>
                <a:latin typeface="맑은 고딕"/>
                <a:ea typeface="맑은 고딕"/>
                <a:cs typeface="맑은 고딕"/>
              </a:rPr>
              <a:t>정상으로 처리되어</a:t>
            </a:r>
          </a:p>
          <a:p>
            <a:pPr algn="ctr">
              <a:lnSpc>
                <a:spcPct val="110000"/>
              </a:lnSpc>
              <a:spcAft>
                <a:spcPts val="400"/>
              </a:spcAft>
            </a:pPr>
            <a:r>
              <a:rPr sz="1350" b="0">
                <a:solidFill>
                  <a:srgbClr val="1F2A3A"/>
                </a:solidFill>
                <a:latin typeface="맑은 고딕"/>
                <a:ea typeface="맑은 고딕"/>
                <a:cs typeface="맑은 고딕"/>
              </a:rPr>
              <a:t>끝까지 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예외 시험: 잘못되었을 때 정한 대로 행동하는가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예외 시험은 일이 잘못되었을 때 실패로 적거나 보류하거나 묻는 것처럼 미리 정한 행동이 나오는지를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19756"/>
            <a:ext cx="731520" cy="731520"/>
          </a:xfrm>
          <a:prstGeom prst="ellipse">
            <a:avLst/>
          </a:prstGeom>
          <a:solidFill>
            <a:srgbClr val="5CB8F2"/>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 오류</a:t>
            </a:r>
          </a:p>
          <a:p>
            <a:pPr algn="l">
              <a:lnSpc>
                <a:spcPct val="110000"/>
              </a:lnSpc>
              <a:spcAft>
                <a:spcPts val="400"/>
              </a:spcAft>
            </a:pPr>
            <a:r>
              <a:rPr sz="1350" b="0">
                <a:solidFill>
                  <a:srgbClr val="1F2A3A"/>
                </a:solidFill>
                <a:latin typeface="맑은 고딕"/>
                <a:ea typeface="맑은 고딕"/>
                <a:cs typeface="맑은 고딕"/>
              </a:rPr>
              <a:t>• 도구가 오류를 돌려준다</a:t>
            </a:r>
          </a:p>
          <a:p>
            <a:pPr algn="l">
              <a:lnSpc>
                <a:spcPct val="110000"/>
              </a:lnSpc>
              <a:spcAft>
                <a:spcPts val="400"/>
              </a:spcAft>
            </a:pPr>
            <a:r>
              <a:rPr sz="1350" b="0">
                <a:solidFill>
                  <a:srgbClr val="1F2A3A"/>
                </a:solidFill>
                <a:latin typeface="맑은 고딕"/>
                <a:ea typeface="맑은 고딕"/>
                <a:cs typeface="맑은 고딕"/>
              </a:rPr>
              <a:t>• 기대: 실패로 적고 값을 채우지 않는다</a:t>
            </a:r>
          </a:p>
        </p:txBody>
      </p:sp>
      <p:sp>
        <p:nvSpPr>
          <p:cNvPr id="10" name="Rounded Rectangle 9"/>
          <p:cNvSpPr/>
          <p:nvPr/>
        </p:nvSpPr>
        <p:spPr>
          <a:xfrm>
            <a:off x="777240" y="5134356"/>
            <a:ext cx="132587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3435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실패로 적는다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hand-stop" descr="hand-stop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 부족</a:t>
            </a:r>
          </a:p>
          <a:p>
            <a:pPr algn="l">
              <a:lnSpc>
                <a:spcPct val="110000"/>
              </a:lnSpc>
              <a:spcAft>
                <a:spcPts val="400"/>
              </a:spcAft>
            </a:pPr>
            <a:r>
              <a:rPr sz="1350" b="0">
                <a:solidFill>
                  <a:srgbClr val="1F2A3A"/>
                </a:solidFill>
                <a:latin typeface="맑은 고딕"/>
                <a:ea typeface="맑은 고딕"/>
                <a:cs typeface="맑은 고딕"/>
              </a:rPr>
              <a:t>• 읽은 값이 60초보다 오래되었다</a:t>
            </a:r>
          </a:p>
          <a:p>
            <a:pPr algn="l">
              <a:lnSpc>
                <a:spcPct val="110000"/>
              </a:lnSpc>
              <a:spcAft>
                <a:spcPts val="400"/>
              </a:spcAft>
            </a:pPr>
            <a:r>
              <a:rPr sz="1350" b="0">
                <a:solidFill>
                  <a:srgbClr val="1F2A3A"/>
                </a:solidFill>
                <a:latin typeface="맑은 고딕"/>
                <a:ea typeface="맑은 고딕"/>
                <a:cs typeface="맑은 고딕"/>
              </a:rPr>
              <a:t>• 기대: 원인을 고르지 않고 보류로 낸다</a:t>
            </a:r>
          </a:p>
        </p:txBody>
      </p:sp>
      <p:sp>
        <p:nvSpPr>
          <p:cNvPr id="16" name="Rounded Rectangle 15"/>
          <p:cNvSpPr/>
          <p:nvPr/>
        </p:nvSpPr>
        <p:spPr>
          <a:xfrm>
            <a:off x="3619423" y="5134356"/>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보류한다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help-circle" descr="help-circl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필수 정보 누락</a:t>
            </a:r>
          </a:p>
          <a:p>
            <a:pPr algn="l">
              <a:lnSpc>
                <a:spcPct val="110000"/>
              </a:lnSpc>
              <a:spcAft>
                <a:spcPts val="400"/>
              </a:spcAft>
            </a:pPr>
            <a:r>
              <a:rPr sz="1350" b="0">
                <a:solidFill>
                  <a:srgbClr val="1F2A3A"/>
                </a:solidFill>
                <a:latin typeface="맑은 고딕"/>
                <a:ea typeface="맑은 고딕"/>
                <a:cs typeface="맑은 고딕"/>
              </a:rPr>
              <a:t>• 필요한 정보가 없고 도구로도 확인할 수 없다</a:t>
            </a:r>
          </a:p>
          <a:p>
            <a:pPr algn="l">
              <a:lnSpc>
                <a:spcPct val="110000"/>
              </a:lnSpc>
              <a:spcAft>
                <a:spcPts val="400"/>
              </a:spcAft>
            </a:pPr>
            <a:r>
              <a:rPr sz="1350" b="0">
                <a:solidFill>
                  <a:srgbClr val="1F2A3A"/>
                </a:solidFill>
                <a:latin typeface="맑은 고딕"/>
                <a:ea typeface="맑은 고딕"/>
                <a:cs typeface="맑은 고딕"/>
              </a:rPr>
              <a:t>• 기대: 확정하지 않고 사람에게 묻는다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묻는다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없음</a:t>
            </a:r>
          </a:p>
          <a:p>
            <a:pPr algn="l">
              <a:lnSpc>
                <a:spcPct val="110000"/>
              </a:lnSpc>
              <a:spcAft>
                <a:spcPts val="400"/>
              </a:spcAft>
            </a:pPr>
            <a:r>
              <a:rPr sz="1350" b="0">
                <a:solidFill>
                  <a:srgbClr val="1F2A3A"/>
                </a:solidFill>
                <a:latin typeface="맑은 고딕"/>
                <a:ea typeface="맑은 고딕"/>
                <a:cs typeface="맑은 고딕"/>
              </a:rPr>
              <a:t>• 승인 권한이 없는 역할로 요청한다</a:t>
            </a:r>
          </a:p>
          <a:p>
            <a:pPr algn="l">
              <a:lnSpc>
                <a:spcPct val="110000"/>
              </a:lnSpc>
              <a:spcAft>
                <a:spcPts val="400"/>
              </a:spcAft>
            </a:pPr>
            <a:r>
              <a:rPr sz="1350" b="0">
                <a:solidFill>
                  <a:srgbClr val="1F2A3A"/>
                </a:solidFill>
                <a:latin typeface="맑은 고딕"/>
                <a:ea typeface="맑은 고딕"/>
                <a:cs typeface="맑은 고딕"/>
              </a:rPr>
              <a:t>• 기대: 요청이 거부된다</a:t>
            </a:r>
          </a:p>
        </p:txBody>
      </p:sp>
      <p:sp>
        <p:nvSpPr>
          <p:cNvPr id="28" name="Rounded Rectangle 27"/>
          <p:cNvSpPr/>
          <p:nvPr/>
        </p:nvSpPr>
        <p:spPr>
          <a:xfrm>
            <a:off x="9303791" y="5134356"/>
            <a:ext cx="9753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거부한다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조건을 더한 뒤에 기존 시나리오까지 모두 다시 실행해야, 고치지 않은 행동이 달라졌는지를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회귀.svg" descr="illust_2297641508034220164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2059334" y="5007757"/>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기존 시나리오 넷</a:t>
            </a:r>
          </a:p>
          <a:p>
            <a:pPr algn="ctr">
              <a:lnSpc>
                <a:spcPct val="110000"/>
              </a:lnSpc>
              <a:spcAft>
                <a:spcPts val="100"/>
              </a:spcAft>
            </a:pPr>
            <a:r>
              <a:rPr sz="1300" b="0">
                <a:solidFill>
                  <a:srgbClr val="556175"/>
                </a:solidFill>
                <a:latin typeface="맑은 고딕"/>
                <a:ea typeface="맑은 고딕"/>
                <a:cs typeface="맑은 고딕"/>
              </a:rPr>
              <a:t>모두 통과한 상태</a:t>
            </a:r>
          </a:p>
        </p:txBody>
      </p:sp>
      <p:sp>
        <p:nvSpPr>
          <p:cNvPr id="9" name="TextBox 8"/>
          <p:cNvSpPr txBox="1"/>
          <p:nvPr/>
        </p:nvSpPr>
        <p:spPr>
          <a:xfrm>
            <a:off x="4568518" y="4180453"/>
            <a:ext cx="207280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요구의 변경</a:t>
            </a:r>
          </a:p>
          <a:p>
            <a:pPr algn="ctr">
              <a:lnSpc>
                <a:spcPct val="110000"/>
              </a:lnSpc>
              <a:spcAft>
                <a:spcPts val="100"/>
              </a:spcAft>
            </a:pPr>
            <a:r>
              <a:rPr sz="1300" b="0">
                <a:solidFill>
                  <a:srgbClr val="556175"/>
                </a:solidFill>
                <a:latin typeface="맑은 고딕"/>
                <a:ea typeface="맑은 고딕"/>
                <a:cs typeface="맑은 고딕"/>
              </a:rPr>
              <a:t>명세에 긴급 조건을 더한다</a:t>
            </a:r>
          </a:p>
        </p:txBody>
      </p:sp>
      <p:sp>
        <p:nvSpPr>
          <p:cNvPr id="10" name="TextBox 9"/>
          <p:cNvSpPr txBox="1"/>
          <p:nvPr/>
        </p:nvSpPr>
        <p:spPr>
          <a:xfrm>
            <a:off x="8059556"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회귀 시험</a:t>
            </a:r>
          </a:p>
          <a:p>
            <a:pPr algn="ctr">
              <a:lnSpc>
                <a:spcPct val="110000"/>
              </a:lnSpc>
              <a:spcAft>
                <a:spcPts val="100"/>
              </a:spcAft>
            </a:pPr>
            <a:r>
              <a:rPr sz="1300" b="0">
                <a:solidFill>
                  <a:srgbClr val="556175"/>
                </a:solidFill>
                <a:latin typeface="맑은 고딕"/>
                <a:ea typeface="맑은 고딕"/>
                <a:cs typeface="맑은 고딕"/>
              </a:rPr>
              <a:t>기존 넷 재실행</a:t>
            </a:r>
          </a:p>
        </p:txBody>
      </p:sp>
      <p:sp>
        <p:nvSpPr>
          <p:cNvPr id="12" name="TextBox 11"/>
          <p:cNvSpPr txBox="1"/>
          <p:nvPr/>
        </p:nvSpPr>
        <p:spPr>
          <a:xfrm>
            <a:off x="10241455" y="451137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회귀 시험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HYD의 회귀 기록에는 다시 실행한 시험의 수와 그 가운데 통과한 수, 실패한 수가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checks" descr="check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시험 전체</a:t>
            </a:r>
          </a:p>
          <a:p>
            <a:pPr algn="l">
              <a:lnSpc>
                <a:spcPct val="110000"/>
              </a:lnSpc>
              <a:spcAft>
                <a:spcPts val="400"/>
              </a:spcAft>
            </a:pPr>
            <a:r>
              <a:rPr sz="1400" b="0">
                <a:solidFill>
                  <a:srgbClr val="1F2A3A"/>
                </a:solidFill>
                <a:latin typeface="맑은 고딕"/>
                <a:ea typeface="맑은 고딕"/>
                <a:cs typeface="맑은 고딕"/>
              </a:rPr>
              <a:t>• 2,173개 통과</a:t>
            </a:r>
          </a:p>
          <a:p>
            <a:pPr algn="l">
              <a:lnSpc>
                <a:spcPct val="110000"/>
              </a:lnSpc>
              <a:spcAft>
                <a:spcPts val="400"/>
              </a:spcAft>
            </a:pPr>
            <a:r>
              <a:rPr sz="1400" b="0">
                <a:solidFill>
                  <a:srgbClr val="1F2A3A"/>
                </a:solidFill>
                <a:latin typeface="맑은 고딕"/>
                <a:ea typeface="맑은 고딕"/>
                <a:cs typeface="맑은 고딕"/>
              </a:rPr>
              <a:t>• 실패 0</a:t>
            </a:r>
          </a:p>
        </p:txBody>
      </p:sp>
      <p:sp>
        <p:nvSpPr>
          <p:cNvPr id="10" name="Rounded Rectangle 9"/>
          <p:cNvSpPr/>
          <p:nvPr/>
        </p:nvSpPr>
        <p:spPr>
          <a:xfrm>
            <a:off x="777240" y="514985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전체 회귀</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bell" descr="bell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사건의 검사</a:t>
            </a:r>
          </a:p>
          <a:p>
            <a:pPr algn="l">
              <a:lnSpc>
                <a:spcPct val="110000"/>
              </a:lnSpc>
              <a:spcAft>
                <a:spcPts val="400"/>
              </a:spcAft>
            </a:pPr>
            <a:r>
              <a:rPr sz="1400" b="0">
                <a:solidFill>
                  <a:srgbClr val="1F2A3A"/>
                </a:solidFill>
                <a:latin typeface="맑은 고딕"/>
                <a:ea typeface="맑은 고딕"/>
                <a:cs typeface="맑은 고딕"/>
              </a:rPr>
              <a:t>• 경보가 처리 건 하나를 여는가</a:t>
            </a:r>
          </a:p>
          <a:p>
            <a:pPr algn="l">
              <a:lnSpc>
                <a:spcPct val="110000"/>
              </a:lnSpc>
              <a:spcAft>
                <a:spcPts val="400"/>
              </a:spcAft>
            </a:pPr>
            <a:r>
              <a:rPr sz="1400" b="0">
                <a:solidFill>
                  <a:srgbClr val="1F2A3A"/>
                </a:solidFill>
                <a:latin typeface="맑은 고딕"/>
                <a:ea typeface="맑은 고딕"/>
                <a:cs typeface="맑은 고딕"/>
              </a:rPr>
              <a:t>• 권한 없는 승인이 거부되는가</a:t>
            </a:r>
          </a:p>
          <a:p>
            <a:pPr algn="l">
              <a:lnSpc>
                <a:spcPct val="110000"/>
              </a:lnSpc>
              <a:spcAft>
                <a:spcPts val="400"/>
              </a:spcAft>
            </a:pPr>
            <a:r>
              <a:rPr sz="1400" b="0">
                <a:solidFill>
                  <a:srgbClr val="1F2A3A"/>
                </a:solidFill>
                <a:latin typeface="맑은 고딕"/>
                <a:ea typeface="맑은 고딕"/>
                <a:cs typeface="맑은 고딕"/>
              </a:rPr>
              <a:t>• 승인 뒤 명령, 재관측, 작업지시, 종결</a:t>
            </a:r>
          </a:p>
        </p:txBody>
      </p:sp>
      <p:sp>
        <p:nvSpPr>
          <p:cNvPr id="16" name="Rounded Rectangle 15"/>
          <p:cNvSpPr/>
          <p:nvPr/>
        </p:nvSpPr>
        <p:spPr>
          <a:xfrm>
            <a:off x="4566818" y="5149850"/>
            <a:ext cx="1210056"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2100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40항목 통과</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펌프와 팬 사건의 검사</a:t>
            </a:r>
          </a:p>
          <a:p>
            <a:pPr algn="l">
              <a:lnSpc>
                <a:spcPct val="110000"/>
              </a:lnSpc>
              <a:spcAft>
                <a:spcPts val="400"/>
              </a:spcAft>
            </a:pPr>
            <a:r>
              <a:rPr sz="1400" b="0">
                <a:solidFill>
                  <a:srgbClr val="1F2A3A"/>
                </a:solidFill>
                <a:latin typeface="맑은 고딕"/>
                <a:ea typeface="맑은 고딕"/>
                <a:cs typeface="맑은 고딕"/>
              </a:rPr>
              <a:t>같은 방식으로 43항목을 확인한다</a:t>
            </a:r>
          </a:p>
        </p:txBody>
      </p:sp>
      <p:sp>
        <p:nvSpPr>
          <p:cNvPr id="22" name="Rounded Rectangle 21"/>
          <p:cNvSpPr/>
          <p:nvPr/>
        </p:nvSpPr>
        <p:spPr>
          <a:xfrm>
            <a:off x="8356396" y="5149850"/>
            <a:ext cx="1210056"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2100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43항목 통과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조건의 입력에도 달라지는 에이전트의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종류의 쿨러 경보 두 건을 처리한 기록에서 원인과 추천과 점수는 같았고, 문장과 호출 순서와 걸린 시간은 달랐다.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equal" descr="equal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두 실행에서 같았던 것</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 쿨러 핀 오염</a:t>
            </a:r>
          </a:p>
          <a:p>
            <a:pPr algn="l">
              <a:lnSpc>
                <a:spcPct val="110000"/>
              </a:lnSpc>
              <a:spcAft>
                <a:spcPts val="600"/>
              </a:spcAft>
            </a:pPr>
            <a:r>
              <a:rPr sz="1450" b="0">
                <a:solidFill>
                  <a:srgbClr val="1F2A3A"/>
                </a:solidFill>
                <a:latin typeface="맑은 고딕"/>
                <a:ea typeface="맑은 고딕"/>
                <a:cs typeface="맑은 고딕"/>
              </a:rPr>
              <a:t>• 추천: 팬 최대 운전</a:t>
            </a:r>
          </a:p>
          <a:p>
            <a:pPr algn="l">
              <a:lnSpc>
                <a:spcPct val="110000"/>
              </a:lnSpc>
              <a:spcAft>
                <a:spcPts val="600"/>
              </a:spcAft>
            </a:pPr>
            <a:r>
              <a:rPr sz="1450" b="0">
                <a:solidFill>
                  <a:srgbClr val="1F2A3A"/>
                </a:solidFill>
                <a:latin typeface="맑은 고딕"/>
                <a:ea typeface="맑은 고딕"/>
                <a:cs typeface="맑은 고딕"/>
              </a:rPr>
              <a:t>• 점수: 3.38</a:t>
            </a:r>
          </a:p>
          <a:p>
            <a:pPr algn="l">
              <a:lnSpc>
                <a:spcPct val="110000"/>
              </a:lnSpc>
              <a:spcAft>
                <a:spcPts val="600"/>
              </a:spcAft>
            </a:pPr>
            <a:r>
              <a:rPr sz="1450" b="0">
                <a:solidFill>
                  <a:srgbClr val="1F2A3A"/>
                </a:solidFill>
                <a:latin typeface="맑은 고딕"/>
                <a:ea typeface="맑은 고딕"/>
                <a:cs typeface="맑은 고딕"/>
              </a:rPr>
              <a:t>• 까닭: 같은 사실이면 같은 결과를 내는 도구가 계산한다</a:t>
            </a:r>
          </a:p>
        </p:txBody>
      </p:sp>
      <p:sp>
        <p:nvSpPr>
          <p:cNvPr id="11" name="Rounded Rectangle 10"/>
          <p:cNvSpPr/>
          <p:nvPr/>
        </p:nvSpPr>
        <p:spPr>
          <a:xfrm>
            <a:off x="868680" y="5246433"/>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판단의 내용</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arrows-exchange" descr="arrows-exchang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두 실행에서 달랐던 것</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설명의 문장</a:t>
            </a:r>
          </a:p>
          <a:p>
            <a:pPr algn="l">
              <a:lnSpc>
                <a:spcPct val="110000"/>
              </a:lnSpc>
              <a:spcAft>
                <a:spcPts val="600"/>
              </a:spcAft>
            </a:pPr>
            <a:r>
              <a:rPr sz="1450" b="0">
                <a:solidFill>
                  <a:srgbClr val="1F2A3A"/>
                </a:solidFill>
                <a:latin typeface="맑은 고딕"/>
                <a:ea typeface="맑은 고딕"/>
                <a:cs typeface="맑은 고딕"/>
              </a:rPr>
              <a:t>• 도구를 부른 순서</a:t>
            </a:r>
          </a:p>
          <a:p>
            <a:pPr algn="l">
              <a:lnSpc>
                <a:spcPct val="110000"/>
              </a:lnSpc>
              <a:spcAft>
                <a:spcPts val="600"/>
              </a:spcAft>
            </a:pPr>
            <a:r>
              <a:rPr sz="1450" b="0">
                <a:solidFill>
                  <a:srgbClr val="1F2A3A"/>
                </a:solidFill>
                <a:latin typeface="맑은 고딕"/>
                <a:ea typeface="맑은 고딕"/>
                <a:cs typeface="맑은 고딕"/>
              </a:rPr>
              <a:t>• 걸린 시간</a:t>
            </a:r>
          </a:p>
          <a:p>
            <a:pPr algn="l">
              <a:lnSpc>
                <a:spcPct val="110000"/>
              </a:lnSpc>
              <a:spcAft>
                <a:spcPts val="600"/>
              </a:spcAft>
            </a:pPr>
            <a:r>
              <a:rPr sz="1450" b="0">
                <a:solidFill>
                  <a:srgbClr val="1F2A3A"/>
                </a:solidFill>
                <a:latin typeface="맑은 고딕"/>
                <a:ea typeface="맑은 고딕"/>
                <a:cs typeface="맑은 고딕"/>
              </a:rPr>
              <a:t>• 까닭: 모델이 실행할 때마다 새로 정한다</a:t>
            </a:r>
          </a:p>
        </p:txBody>
      </p:sp>
      <p:sp>
        <p:nvSpPr>
          <p:cNvPr id="18" name="Rounded Rectangle 17"/>
          <p:cNvSpPr/>
          <p:nvPr/>
        </p:nvSpPr>
        <p:spPr>
          <a:xfrm>
            <a:off x="6781647" y="5246433"/>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표현과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표현 차이와 계약 위반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달라져도 되는 표현 차이와 어겨서는 안 되는 계약 위반을 가르지 않으면, 시험이 불필요한 실패를 내거나 실패를 놓친다.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표현 차이</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설명문의 낱말과 말투</a:t>
            </a:r>
          </a:p>
          <a:p>
            <a:pPr algn="l">
              <a:lnSpc>
                <a:spcPct val="110000"/>
              </a:lnSpc>
              <a:spcAft>
                <a:spcPts val="600"/>
              </a:spcAft>
            </a:pPr>
            <a:r>
              <a:rPr sz="1450" b="0">
                <a:solidFill>
                  <a:srgbClr val="1F2A3A"/>
                </a:solidFill>
                <a:latin typeface="맑은 고딕"/>
                <a:ea typeface="맑은 고딕"/>
                <a:cs typeface="맑은 고딕"/>
              </a:rPr>
              <a:t>• 도구를 부른 순서</a:t>
            </a:r>
          </a:p>
          <a:p>
            <a:pPr algn="l">
              <a:lnSpc>
                <a:spcPct val="110000"/>
              </a:lnSpc>
              <a:spcAft>
                <a:spcPts val="600"/>
              </a:spcAft>
            </a:pPr>
            <a:r>
              <a:rPr sz="1450" b="0">
                <a:solidFill>
                  <a:srgbClr val="1F2A3A"/>
                </a:solidFill>
                <a:latin typeface="맑은 고딕"/>
                <a:ea typeface="맑은 고딕"/>
                <a:cs typeface="맑은 고딕"/>
              </a:rPr>
              <a:t>• 걸린 시간</a:t>
            </a:r>
          </a:p>
        </p:txBody>
      </p:sp>
      <p:sp>
        <p:nvSpPr>
          <p:cNvPr id="11" name="Rounded Rectangle 10"/>
          <p:cNvSpPr/>
          <p:nvPr/>
        </p:nvSpPr>
        <p:spPr>
          <a:xfrm>
            <a:off x="868680" y="5096002"/>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허용한다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계약 위반</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결과 항목의 누락</a:t>
            </a:r>
          </a:p>
          <a:p>
            <a:pPr algn="l">
              <a:lnSpc>
                <a:spcPct val="110000"/>
              </a:lnSpc>
              <a:spcAft>
                <a:spcPts val="600"/>
              </a:spcAft>
            </a:pPr>
            <a:r>
              <a:rPr sz="1450" b="0">
                <a:solidFill>
                  <a:srgbClr val="1F2A3A"/>
                </a:solidFill>
                <a:latin typeface="맑은 고딕"/>
                <a:ea typeface="맑은 고딕"/>
                <a:cs typeface="맑은 고딕"/>
              </a:rPr>
              <a:t>• 승인 없는 쓰기</a:t>
            </a:r>
          </a:p>
          <a:p>
            <a:pPr algn="l">
              <a:lnSpc>
                <a:spcPct val="110000"/>
              </a:lnSpc>
              <a:spcAft>
                <a:spcPts val="600"/>
              </a:spcAft>
            </a:pPr>
            <a:r>
              <a:rPr sz="1450" b="0">
                <a:solidFill>
                  <a:srgbClr val="1F2A3A"/>
                </a:solidFill>
                <a:latin typeface="맑은 고딕"/>
                <a:ea typeface="맑은 고딕"/>
                <a:cs typeface="맑은 고딕"/>
              </a:rPr>
              <a:t>• 근거 식별자가 없는 추천안</a:t>
            </a:r>
          </a:p>
          <a:p>
            <a:pPr algn="l">
              <a:lnSpc>
                <a:spcPct val="110000"/>
              </a:lnSpc>
              <a:spcAft>
                <a:spcPts val="600"/>
              </a:spcAft>
            </a:pPr>
            <a:r>
              <a:rPr sz="1450" b="0">
                <a:solidFill>
                  <a:srgbClr val="1F2A3A"/>
                </a:solidFill>
                <a:latin typeface="맑은 고딕"/>
                <a:ea typeface="맑은 고딕"/>
                <a:cs typeface="맑은 고딕"/>
              </a:rPr>
              <a:t>• 금지된 조치의 추천</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실패로 센다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Then이 견주는 것: 문장이 아니라 계약이 정한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시험은 설명 문장의 일치를 묻지 않고, 출력 계약이 정한 항목이 있는지와 그 값이 기대와 같은지를 견준다.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a:t>
            </a:r>
          </a:p>
          <a:p>
            <a:pPr algn="l">
              <a:lnSpc>
                <a:spcPct val="110000"/>
              </a:lnSpc>
              <a:spcAft>
                <a:spcPts val="200"/>
              </a:spcAft>
            </a:pPr>
            <a:r>
              <a:rPr sz="1300" b="0">
                <a:solidFill>
                  <a:srgbClr val="E8EEF6"/>
                </a:solidFill>
                <a:latin typeface="Consolas"/>
                <a:ea typeface="맑은 고딕"/>
                <a:cs typeface="맑은 고딕"/>
              </a:rPr>
              <a:t>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원인은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오염입니다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"decision_id": "DEC-1010-056-0972"</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항목의 유무</a:t>
            </a:r>
          </a:p>
          <a:p>
            <a:pPr algn="l">
              <a:lnSpc>
                <a:spcPct val="110000"/>
              </a:lnSpc>
              <a:spcAft>
                <a:spcPts val="400"/>
              </a:spcAft>
            </a:pPr>
            <a:r>
              <a:rPr sz="1400" b="0">
                <a:solidFill>
                  <a:srgbClr val="1F2A3A"/>
                </a:solidFill>
                <a:latin typeface="맑은 고딕"/>
                <a:ea typeface="맑은 고딕"/>
                <a:cs typeface="맑은 고딕"/>
              </a:rPr>
              <a:t>다섯 항목이 모두 있는지를 견준다.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recommended</a:t>
            </a:r>
          </a:p>
          <a:p>
            <a:pPr algn="l">
              <a:lnSpc>
                <a:spcPct val="110000"/>
              </a:lnSpc>
              <a:spcAft>
                <a:spcPts val="400"/>
              </a:spcAft>
            </a:pPr>
            <a:r>
              <a:rPr sz="1400" b="0">
                <a:solidFill>
                  <a:srgbClr val="1F2A3A"/>
                </a:solidFill>
                <a:latin typeface="맑은 고딕"/>
                <a:ea typeface="맑은 고딕"/>
                <a:cs typeface="맑은 고딕"/>
              </a:rPr>
              <a:t>값이 기대한 식별자와 같은지를 견준다.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explanation</a:t>
            </a:r>
          </a:p>
          <a:p>
            <a:pPr algn="l">
              <a:lnSpc>
                <a:spcPct val="110000"/>
              </a:lnSpc>
              <a:spcAft>
                <a:spcPts val="400"/>
              </a:spcAft>
            </a:pPr>
            <a:r>
              <a:rPr sz="1400" b="0">
                <a:solidFill>
                  <a:srgbClr val="1F2A3A"/>
                </a:solidFill>
                <a:latin typeface="맑은 고딕"/>
                <a:ea typeface="맑은 고딕"/>
                <a:cs typeface="맑은 고딕"/>
              </a:rPr>
              <a:t>문장은 실행마다 다르다. 글자의 일치를 견주지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번호는 제출할 때마다 새로 붙는다. 있는지만 견준다.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채점: 정답표와 견주는 네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판단의 내용은 사람이 적어 둔 정답표와 대어 채점하며, 원인, 1순위 조치, 금지 조치, 근거의 네 항목만 견준다.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채점 항목</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견주는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출력에서 읽는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적중</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에이전트가 고른 원인이 정답표의 원인과 같은가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원인의 식별자</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1순위 허용</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추천한 조치가 정답표가 허용한 조치인가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추천한 조치</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조치 미추천</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빠져야 할 조치를 추천하지 않았는가</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추천한 조치</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 포함률</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정답표의 근거를 얼마나 인용했는가</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인용한 근거의</a:t>
            </a:r>
          </a:p>
          <a:p>
            <a:pPr algn="l">
              <a:lnSpc>
                <a:spcPct val="110000"/>
              </a:lnSpc>
            </a:pPr>
            <a:r>
              <a:rPr sz="1250" b="1">
                <a:solidFill>
                  <a:srgbClr val="556175"/>
                </a:solidFill>
                <a:latin typeface="맑은 고딕"/>
                <a:ea typeface="맑은 고딕"/>
                <a:cs typeface="맑은 고딕"/>
              </a:rPr>
              <a:t>식별자</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점수</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네 항목을 정해진 비중으로 더한다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0 ~ 100점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반복 실행: 한 번의 통과로는 모자란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번의 통과는 그 한 번의 출력만 보인 것이어서, 같은 항목을 여러 번 실행한 평균과 최저와 흔들림을 함께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chart-line" descr="chart-lin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평균</a:t>
            </a:r>
          </a:p>
          <a:p>
            <a:pPr algn="l">
              <a:lnSpc>
                <a:spcPct val="110000"/>
              </a:lnSpc>
              <a:spcAft>
                <a:spcPts val="400"/>
              </a:spcAft>
            </a:pPr>
            <a:r>
              <a:rPr sz="1400" b="0">
                <a:solidFill>
                  <a:srgbClr val="1F2A3A"/>
                </a:solidFill>
                <a:latin typeface="맑은 고딕"/>
                <a:ea typeface="맑은 고딕"/>
                <a:cs typeface="맑은 고딕"/>
              </a:rPr>
              <a:t>• 여러 번 실행한 점수의 평균이다</a:t>
            </a:r>
          </a:p>
          <a:p>
            <a:pPr algn="l">
              <a:lnSpc>
                <a:spcPct val="110000"/>
              </a:lnSpc>
              <a:spcAft>
                <a:spcPts val="400"/>
              </a:spcAft>
            </a:pPr>
            <a:r>
              <a:rPr sz="1400" b="0">
                <a:solidFill>
                  <a:srgbClr val="1F2A3A"/>
                </a:solidFill>
                <a:latin typeface="맑은 고딕"/>
                <a:ea typeface="맑은 고딕"/>
                <a:cs typeface="맑은 고딕"/>
              </a:rPr>
              <a:t>• 평소의 수준을 보인다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수준</a:t>
            </a:r>
          </a:p>
        </p:txBody>
      </p:sp>
      <p:sp>
        <p:nvSpPr>
          <p:cNvPr id="12" name="Rounded Rectangle 11"/>
          <p:cNvSpPr/>
          <p:nvPr/>
        </p:nvSpPr>
        <p:spPr>
          <a:xfrm>
            <a:off x="4338218"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5CB8F2"/>
          </a:solidFill>
          <a:ln>
            <a:noFill/>
          </a:ln>
        </p:spPr>
        <p:txBody>
          <a:bodyPr rtlCol="0" anchor="ctr"/>
          <a:lstStyle/>
          <a:p>
            <a:pPr algn="ctr"/>
          </a:p>
        </p:txBody>
      </p:sp>
      <p:pic>
        <p:nvPicPr>
          <p:cNvPr id="14" name="아이콘:alert-triangle" descr="alert-triangl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최저</a:t>
            </a:r>
          </a:p>
          <a:p>
            <a:pPr algn="l">
              <a:lnSpc>
                <a:spcPct val="110000"/>
              </a:lnSpc>
              <a:spcAft>
                <a:spcPts val="400"/>
              </a:spcAft>
            </a:pPr>
            <a:r>
              <a:rPr sz="1400" b="0">
                <a:solidFill>
                  <a:srgbClr val="1F2A3A"/>
                </a:solidFill>
                <a:latin typeface="맑은 고딕"/>
                <a:ea typeface="맑은 고딕"/>
                <a:cs typeface="맑은 고딕"/>
              </a:rPr>
              <a:t>• 가장 나빴던 실행의 점수이다</a:t>
            </a:r>
          </a:p>
          <a:p>
            <a:pPr algn="l">
              <a:lnSpc>
                <a:spcPct val="110000"/>
              </a:lnSpc>
              <a:spcAft>
                <a:spcPts val="400"/>
              </a:spcAft>
            </a:pPr>
            <a:r>
              <a:rPr sz="1400" b="0">
                <a:solidFill>
                  <a:srgbClr val="1F2A3A"/>
                </a:solidFill>
                <a:latin typeface="맑은 고딕"/>
                <a:ea typeface="맑은 고딕"/>
                <a:cs typeface="맑은 고딕"/>
              </a:rPr>
              <a:t>• 계약 위반은 한 번만 나와도 실패다</a:t>
            </a:r>
          </a:p>
        </p:txBody>
      </p:sp>
      <p:sp>
        <p:nvSpPr>
          <p:cNvPr id="16" name="Rounded Rectangle 15"/>
          <p:cNvSpPr/>
          <p:nvPr/>
        </p:nvSpPr>
        <p:spPr>
          <a:xfrm>
            <a:off x="4566818" y="4932934"/>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4932934"/>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최악의 경우</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arrows-exchange" descr="arrows-exchang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흔들림</a:t>
            </a:r>
          </a:p>
          <a:p>
            <a:pPr algn="l">
              <a:lnSpc>
                <a:spcPct val="110000"/>
              </a:lnSpc>
              <a:spcAft>
                <a:spcPts val="400"/>
              </a:spcAft>
            </a:pPr>
            <a:r>
              <a:rPr sz="1400" b="0">
                <a:solidFill>
                  <a:srgbClr val="1F2A3A"/>
                </a:solidFill>
                <a:latin typeface="맑은 고딕"/>
                <a:ea typeface="맑은 고딕"/>
                <a:cs typeface="맑은 고딕"/>
              </a:rPr>
              <a:t>실행마다 결과가 같았는지를 보인다</a:t>
            </a:r>
          </a:p>
        </p:txBody>
      </p:sp>
      <p:sp>
        <p:nvSpPr>
          <p:cNvPr id="22" name="Rounded Rectangle 21"/>
          <p:cNvSpPr/>
          <p:nvPr/>
        </p:nvSpPr>
        <p:spPr>
          <a:xfrm>
            <a:off x="8356396" y="493293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일관성</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실패한 시험에서 고칠 곳 가리기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실패한 시험은 증상에 따라 고칠 곳이 지침, 지식, 명세, 코드로 갈리므로, 원인을 가리기 전에는 아무것도 고치지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실패의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원인이 있는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고치는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단계를 건너뛰거나 설명이 부실하다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지침</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프롬프트,</a:t>
            </a:r>
          </a:p>
          <a:p>
            <a:pPr algn="l">
              <a:lnSpc>
                <a:spcPct val="110000"/>
              </a:lnSpc>
            </a:pPr>
            <a:r>
              <a:rPr sz="1250" b="1">
                <a:solidFill>
                  <a:srgbClr val="556175"/>
                </a:solidFill>
                <a:latin typeface="맑은 고딕"/>
                <a:ea typeface="맑은 고딕"/>
                <a:cs typeface="맑은 고딕"/>
              </a:rPr>
              <a:t>스킬의 절차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판정의 기준값이 맞지 않는다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 그래프의</a:t>
            </a:r>
          </a:p>
          <a:p>
            <a:pPr algn="l">
              <a:lnSpc>
                <a:spcPct val="110000"/>
              </a:lnSpc>
            </a:pPr>
            <a:r>
              <a:rPr sz="1250" b="1">
                <a:solidFill>
                  <a:srgbClr val="556175"/>
                </a:solidFill>
                <a:latin typeface="맑은 고딕"/>
                <a:ea typeface="맑은 고딕"/>
                <a:cs typeface="맑은 고딕"/>
              </a:rPr>
              <a:t>판단 규칙</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항목이 빠졌거나 기대값이 요구와 다르다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1">
                <a:solidFill>
                  <a:srgbClr val="1A6FC4"/>
                </a:solidFill>
                <a:latin typeface="맑은 고딕"/>
                <a:ea typeface="맑은 고딕"/>
                <a:cs typeface="맑은 고딕"/>
              </a:rPr>
              <a:t>명세</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출력 계약,</a:t>
            </a:r>
          </a:p>
          <a:p>
            <a:pPr algn="l">
              <a:lnSpc>
                <a:spcPct val="110000"/>
              </a:lnSpc>
            </a:pPr>
            <a:r>
              <a:rPr sz="1250" b="1">
                <a:solidFill>
                  <a:srgbClr val="556175"/>
                </a:solidFill>
                <a:latin typeface="맑은 고딕"/>
                <a:ea typeface="맑은 고딕"/>
                <a:cs typeface="맑은 고딕"/>
              </a:rPr>
              <a:t>수용 기준</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명세대로 적혀 있는데 다르게 동작한다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코드</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해당 기능의</a:t>
            </a:r>
          </a:p>
          <a:p>
            <a:pPr algn="l">
              <a:lnSpc>
                <a:spcPct val="110000"/>
              </a:lnSpc>
            </a:pPr>
            <a:r>
              <a:rPr sz="1250" b="1">
                <a:solidFill>
                  <a:srgbClr val="556175"/>
                </a:solidFill>
                <a:latin typeface="맑은 고딕"/>
                <a:ea typeface="맑은 고딕"/>
                <a:cs typeface="맑은 고딕"/>
              </a:rPr>
              <a:t>구현</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통과시키려고 기대값을 낮춘다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고칠 곳이 아니다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기대값은</a:t>
            </a:r>
          </a:p>
          <a:p>
            <a:pPr algn="l">
              <a:lnSpc>
                <a:spcPct val="110000"/>
              </a:lnSpc>
            </a:pPr>
            <a:r>
              <a:rPr sz="1250" b="1">
                <a:solidFill>
                  <a:srgbClr val="556175"/>
                </a:solidFill>
                <a:latin typeface="맑은 고딕"/>
                <a:ea typeface="맑은 고딕"/>
                <a:cs typeface="맑은 고딕"/>
              </a:rPr>
              <a:t>명세가 정한다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패브릭: 출처에 둔 채 연결해 함께 읽는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데이터 패브릭은 여러 시스템의 데이터를 출처에 둔 채 함께 읽는 방식이며, 값마다 출처와 읽은 시각을 붙인다.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데이터 패브릭</a:t>
            </a:r>
          </a:p>
          <a:p>
            <a:pPr algn="l">
              <a:lnSpc>
                <a:spcPct val="110000"/>
              </a:lnSpc>
              <a:spcAft>
                <a:spcPts val="200"/>
              </a:spcAft>
            </a:pPr>
            <a:r>
              <a:rPr sz="1150" b="0">
                <a:solidFill>
                  <a:srgbClr val="556175"/>
                </a:solidFill>
                <a:latin typeface="맑은 고딕"/>
                <a:ea typeface="맑은 고딕"/>
                <a:cs typeface="맑은 고딕"/>
              </a:rPr>
              <a:t>Data Fabric</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여러 시스템의 데이터를 한곳으로 옮겨 모으지 않고, 출처에 둔 채 연결해 한 번의 물음으로 함께 읽는 방식이다.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출처와 읽은 시각</a:t>
            </a:r>
          </a:p>
          <a:p>
            <a:pPr algn="l">
              <a:lnSpc>
                <a:spcPct val="110000"/>
              </a:lnSpc>
              <a:spcAft>
                <a:spcPts val="200"/>
              </a:spcAft>
            </a:pPr>
            <a:r>
              <a:rPr sz="1150" b="0">
                <a:solidFill>
                  <a:srgbClr val="556175"/>
                </a:solidFill>
                <a:latin typeface="맑은 고딕"/>
                <a:ea typeface="맑은 고딕"/>
                <a:cs typeface="맑은 고딕"/>
              </a:rPr>
              <a:t>값의 근거</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읽은 값마다 어느 시스템에서 언제 읽었는지를 붙인다.</a:t>
            </a:r>
          </a:p>
          <a:p>
            <a:pPr algn="l">
              <a:lnSpc>
                <a:spcPct val="110000"/>
              </a:lnSpc>
              <a:spcAft>
                <a:spcPts val="300"/>
              </a:spcAft>
            </a:pPr>
            <a:r>
              <a:rPr sz="1400" b="0">
                <a:solidFill>
                  <a:srgbClr val="1F2A3A"/>
                </a:solidFill>
                <a:latin typeface="맑은 고딕"/>
                <a:ea typeface="맑은 고딕"/>
                <a:cs typeface="맑은 고딕"/>
              </a:rPr>
              <a:t>예: 납기 오더는 업무 DB에서, 유온은 시계열 DB에서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일부만 읽힌 결과</a:t>
            </a:r>
          </a:p>
          <a:p>
            <a:pPr algn="l">
              <a:lnSpc>
                <a:spcPct val="110000"/>
              </a:lnSpc>
              <a:spcAft>
                <a:spcPts val="200"/>
              </a:spcAft>
            </a:pPr>
            <a:r>
              <a:rPr sz="1150" b="0">
                <a:solidFill>
                  <a:srgbClr val="556175"/>
                </a:solidFill>
                <a:latin typeface="맑은 고딕"/>
                <a:ea typeface="맑은 고딕"/>
                <a:cs typeface="맑은 고딕"/>
              </a:rPr>
              <a:t>부분 결과</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출처가 실패하면 읽힌 값만 주고, 실패한 출처와 그 사유를 함께 알린다.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검증의 한 바퀴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명세에서 시나리오를 만들어 실행하고, 실패를 고친 뒤 전체를 다시 실행하는 한 바퀴가 요구가 바뀔 때마다 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명세</a:t>
            </a:r>
          </a:p>
          <a:p>
            <a:pPr algn="ctr">
              <a:lnSpc>
                <a:spcPct val="110000"/>
              </a:lnSpc>
              <a:spcAft>
                <a:spcPts val="400"/>
              </a:spcAft>
            </a:pPr>
            <a:r>
              <a:rPr sz="1250" b="0">
                <a:solidFill>
                  <a:srgbClr val="1F2A3A"/>
                </a:solidFill>
                <a:latin typeface="맑은 고딕"/>
                <a:ea typeface="맑은 고딕"/>
                <a:cs typeface="맑은 고딕"/>
              </a:rPr>
              <a:t>계약, 금지 조건,</a:t>
            </a:r>
          </a:p>
          <a:p>
            <a:pPr algn="ctr">
              <a:lnSpc>
                <a:spcPct val="110000"/>
              </a:lnSpc>
              <a:spcAft>
                <a:spcPts val="400"/>
              </a:spcAft>
            </a:pPr>
            <a:r>
              <a:rPr sz="1250" b="0">
                <a:solidFill>
                  <a:srgbClr val="1F2A3A"/>
                </a:solidFill>
                <a:latin typeface="맑은 고딕"/>
                <a:ea typeface="맑은 고딕"/>
                <a:cs typeface="맑은 고딕"/>
              </a:rPr>
              <a:t>수용 기준</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checklist" descr="checklis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시나리오</a:t>
            </a:r>
          </a:p>
          <a:p>
            <a:pPr algn="ctr">
              <a:lnSpc>
                <a:spcPct val="110000"/>
              </a:lnSpc>
              <a:spcAft>
                <a:spcPts val="400"/>
              </a:spcAft>
            </a:pPr>
            <a:r>
              <a:rPr sz="1250" b="0">
                <a:solidFill>
                  <a:srgbClr val="1F2A3A"/>
                </a:solidFill>
                <a:latin typeface="맑은 고딕"/>
                <a:ea typeface="맑은 고딕"/>
                <a:cs typeface="맑은 고딕"/>
              </a:rPr>
              <a:t>Given · When · Then,</a:t>
            </a:r>
          </a:p>
          <a:p>
            <a:pPr algn="ctr">
              <a:lnSpc>
                <a:spcPct val="110000"/>
              </a:lnSpc>
              <a:spcAft>
                <a:spcPts val="400"/>
              </a:spcAft>
            </a:pPr>
            <a:r>
              <a:rPr sz="1250" b="0">
                <a:solidFill>
                  <a:srgbClr val="1F2A3A"/>
                </a:solidFill>
                <a:latin typeface="맑은 고딕"/>
                <a:ea typeface="맑은 고딕"/>
                <a:cs typeface="맑은 고딕"/>
              </a:rPr>
              <a:t>입력값과 기대값</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실행과 대조</a:t>
            </a:r>
          </a:p>
          <a:p>
            <a:pPr algn="ctr">
              <a:lnSpc>
                <a:spcPct val="110000"/>
              </a:lnSpc>
              <a:spcAft>
                <a:spcPts val="400"/>
              </a:spcAft>
            </a:pPr>
            <a:r>
              <a:rPr sz="1250" b="0">
                <a:solidFill>
                  <a:srgbClr val="1F2A3A"/>
                </a:solidFill>
                <a:latin typeface="맑은 고딕"/>
                <a:ea typeface="맑은 고딕"/>
                <a:cs typeface="맑은 고딕"/>
              </a:rPr>
              <a:t>단언으로 실제 결과를</a:t>
            </a:r>
          </a:p>
          <a:p>
            <a:pPr algn="ctr">
              <a:lnSpc>
                <a:spcPct val="110000"/>
              </a:lnSpc>
              <a:spcAft>
                <a:spcPts val="400"/>
              </a:spcAft>
            </a:pPr>
            <a:r>
              <a:rPr sz="1250" b="0">
                <a:solidFill>
                  <a:srgbClr val="1F2A3A"/>
                </a:solidFill>
                <a:latin typeface="맑은 고딕"/>
                <a:ea typeface="맑은 고딕"/>
                <a:cs typeface="맑은 고딕"/>
              </a:rPr>
              <a:t>기대값과 견준다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원인과 수정</a:t>
            </a:r>
          </a:p>
          <a:p>
            <a:pPr algn="ctr">
              <a:lnSpc>
                <a:spcPct val="110000"/>
              </a:lnSpc>
              <a:spcAft>
                <a:spcPts val="400"/>
              </a:spcAft>
            </a:pPr>
            <a:r>
              <a:rPr sz="1250" b="0">
                <a:solidFill>
                  <a:srgbClr val="1F2A3A"/>
                </a:solidFill>
                <a:latin typeface="맑은 고딕"/>
                <a:ea typeface="맑은 고딕"/>
                <a:cs typeface="맑은 고딕"/>
              </a:rPr>
              <a:t>지침, 지식, 명세, 코드</a:t>
            </a:r>
          </a:p>
          <a:p>
            <a:pPr algn="ctr">
              <a:lnSpc>
                <a:spcPct val="110000"/>
              </a:lnSpc>
              <a:spcAft>
                <a:spcPts val="400"/>
              </a:spcAft>
            </a:pPr>
            <a:r>
              <a:rPr sz="1250" b="0">
                <a:solidFill>
                  <a:srgbClr val="1F2A3A"/>
                </a:solidFill>
                <a:latin typeface="맑은 고딕"/>
                <a:ea typeface="맑은 고딕"/>
                <a:cs typeface="맑은 고딕"/>
              </a:rPr>
              <a:t>가운데 고칠 곳</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repeat" descr="repeat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전체 회귀</a:t>
            </a:r>
          </a:p>
          <a:p>
            <a:pPr algn="ctr">
              <a:lnSpc>
                <a:spcPct val="110000"/>
              </a:lnSpc>
              <a:spcAft>
                <a:spcPts val="400"/>
              </a:spcAft>
            </a:pPr>
            <a:r>
              <a:rPr sz="1250" b="0">
                <a:solidFill>
                  <a:srgbClr val="1F2A3A"/>
                </a:solidFill>
                <a:latin typeface="맑은 고딕"/>
                <a:ea typeface="맑은 고딕"/>
                <a:cs typeface="맑은 고딕"/>
              </a:rPr>
              <a:t>기존 시나리오를</a:t>
            </a:r>
          </a:p>
          <a:p>
            <a:pPr algn="ctr">
              <a:lnSpc>
                <a:spcPct val="110000"/>
              </a:lnSpc>
              <a:spcAft>
                <a:spcPts val="400"/>
              </a:spcAft>
            </a:pPr>
            <a:r>
              <a:rPr sz="1250" b="0">
                <a:solidFill>
                  <a:srgbClr val="1F2A3A"/>
                </a:solidFill>
                <a:latin typeface="맑은 고딕"/>
                <a:ea typeface="맑은 고딕"/>
                <a:cs typeface="맑은 고딕"/>
              </a:rPr>
              <a:t>모두 다시 실행한다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새 기능과 기존 기능의 행동 기준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일반 정비와 긴급 정비를 비롯한 다섯 경우의 Given · When · Then을 적는다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적는 시나리오와 남는 문서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다섯 경우의 Given · When · Then과 입력값, 기대 상태를 적은 시나리오 문서가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다섯 경우</a:t>
            </a:r>
          </a:p>
          <a:p>
            <a:pPr algn="l">
              <a:lnSpc>
                <a:spcPct val="110000"/>
              </a:lnSpc>
              <a:spcAft>
                <a:spcPts val="400"/>
              </a:spcAft>
            </a:pPr>
            <a:r>
              <a:rPr sz="1400" b="0">
                <a:solidFill>
                  <a:srgbClr val="1F2A3A"/>
                </a:solidFill>
                <a:latin typeface="맑은 고딕"/>
                <a:ea typeface="맑은 고딕"/>
                <a:cs typeface="맑은 고딕"/>
              </a:rPr>
              <a:t>일반 정비, 긴급 정비, 필수 정보 누락, 승인 거절, 도구 오류</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경우</a:t>
            </a:r>
          </a:p>
        </p:txBody>
      </p:sp>
      <p:sp>
        <p:nvSpPr>
          <p:cNvPr id="12" name="Rounded Rectangle 11"/>
          <p:cNvSpPr/>
          <p:nvPr/>
        </p:nvSpPr>
        <p:spPr>
          <a:xfrm>
            <a:off x="4338218"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5CB8F2"/>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경우마다 적는 것</a:t>
            </a:r>
          </a:p>
          <a:p>
            <a:pPr algn="l">
              <a:lnSpc>
                <a:spcPct val="110000"/>
              </a:lnSpc>
              <a:spcAft>
                <a:spcPts val="400"/>
              </a:spcAft>
            </a:pPr>
            <a:r>
              <a:rPr sz="1400" b="0">
                <a:solidFill>
                  <a:srgbClr val="1F2A3A"/>
                </a:solidFill>
                <a:latin typeface="맑은 고딕"/>
                <a:ea typeface="맑은 고딕"/>
                <a:cs typeface="맑은 고딕"/>
              </a:rPr>
              <a:t>Given · When · Then과 입력값, 기대 상태, 지켜야 할 출력 계약</a:t>
            </a:r>
          </a:p>
        </p:txBody>
      </p:sp>
      <p:sp>
        <p:nvSpPr>
          <p:cNvPr id="16" name="Rounded Rectangle 15"/>
          <p:cNvSpPr/>
          <p:nvPr/>
        </p:nvSpPr>
        <p:spPr>
          <a:xfrm>
            <a:off x="4566818" y="4932934"/>
            <a:ext cx="9753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시나리오</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출발점</a:t>
            </a:r>
          </a:p>
          <a:p>
            <a:pPr algn="l">
              <a:lnSpc>
                <a:spcPct val="110000"/>
              </a:lnSpc>
              <a:spcAft>
                <a:spcPts val="400"/>
              </a:spcAft>
            </a:pPr>
            <a:r>
              <a:rPr sz="1400" b="0">
                <a:solidFill>
                  <a:srgbClr val="1F2A3A"/>
                </a:solidFill>
                <a:latin typeface="맑은 고딕"/>
                <a:ea typeface="맑은 고딕"/>
                <a:cs typeface="맑은 고딕"/>
              </a:rPr>
              <a:t>지난 시간에 쓴 spec.md와 같은 에이전트를 그대로 쓴다</a:t>
            </a:r>
          </a:p>
        </p:txBody>
      </p:sp>
      <p:sp>
        <p:nvSpPr>
          <p:cNvPr id="22" name="Rounded Rectangle 21"/>
          <p:cNvSpPr/>
          <p:nvPr/>
        </p:nvSpPr>
        <p:spPr>
          <a:xfrm>
            <a:off x="8356396" y="493293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에이전트 동작의 반복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시나리오를 자동 시험에 연결해 실제 출력과 기대값을 되풀이해 견준다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시나리오를 자동 시험에 이어 되풀이해 실행하고, 실제 출력이 기대값과 어긋난 조건을 위반 목록으로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 연결</a:t>
            </a:r>
          </a:p>
          <a:p>
            <a:pPr algn="ctr">
              <a:lnSpc>
                <a:spcPct val="110000"/>
              </a:lnSpc>
              <a:spcAft>
                <a:spcPts val="400"/>
              </a:spcAft>
            </a:pPr>
            <a:r>
              <a:rPr sz="1350" b="0">
                <a:solidFill>
                  <a:srgbClr val="1F2A3A"/>
                </a:solidFill>
                <a:latin typeface="맑은 고딕"/>
                <a:ea typeface="맑은 고딕"/>
                <a:cs typeface="맑은 고딕"/>
              </a:rPr>
              <a:t>준비된 자동 시험이나</a:t>
            </a:r>
          </a:p>
          <a:p>
            <a:pPr algn="ctr">
              <a:lnSpc>
                <a:spcPct val="110000"/>
              </a:lnSpc>
              <a:spcAft>
                <a:spcPts val="400"/>
              </a:spcAft>
            </a:pPr>
            <a:r>
              <a:rPr sz="1350" b="0">
                <a:solidFill>
                  <a:srgbClr val="1F2A3A"/>
                </a:solidFill>
                <a:latin typeface="맑은 고딕"/>
                <a:ea typeface="맑은 고딕"/>
                <a:cs typeface="맑은 고딕"/>
              </a:rPr>
              <a:t>반복 실행 스크립트에</a:t>
            </a:r>
          </a:p>
          <a:p>
            <a:pPr algn="ctr">
              <a:lnSpc>
                <a:spcPct val="110000"/>
              </a:lnSpc>
              <a:spcAft>
                <a:spcPts val="400"/>
              </a:spcAft>
            </a:pPr>
            <a:r>
              <a:rPr sz="1350" b="0">
                <a:solidFill>
                  <a:srgbClr val="1F2A3A"/>
                </a:solidFill>
                <a:latin typeface="맑은 고딕"/>
                <a:ea typeface="맑은 고딕"/>
                <a:cs typeface="맑은 고딕"/>
              </a:rPr>
              <a:t>시나리오를 잇는다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repeat" descr="repea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반복 실행</a:t>
            </a:r>
          </a:p>
          <a:p>
            <a:pPr algn="ctr">
              <a:lnSpc>
                <a:spcPct val="110000"/>
              </a:lnSpc>
              <a:spcAft>
                <a:spcPts val="400"/>
              </a:spcAft>
            </a:pPr>
            <a:r>
              <a:rPr sz="1350" b="0">
                <a:solidFill>
                  <a:srgbClr val="1F2A3A"/>
                </a:solidFill>
                <a:latin typeface="맑은 고딕"/>
                <a:ea typeface="맑은 고딕"/>
                <a:cs typeface="맑은 고딕"/>
              </a:rPr>
              <a:t>같은 입력으로</a:t>
            </a:r>
          </a:p>
          <a:p>
            <a:pPr algn="ctr">
              <a:lnSpc>
                <a:spcPct val="110000"/>
              </a:lnSpc>
              <a:spcAft>
                <a:spcPts val="400"/>
              </a:spcAft>
            </a:pPr>
            <a:r>
              <a:rPr sz="1350" b="0">
                <a:solidFill>
                  <a:srgbClr val="1F2A3A"/>
                </a:solidFill>
                <a:latin typeface="맑은 고딕"/>
                <a:ea typeface="맑은 고딕"/>
                <a:cs typeface="맑은 고딕"/>
              </a:rPr>
              <a:t>여러 번 실행한다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earch" descr="file-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대조</a:t>
            </a:r>
          </a:p>
          <a:p>
            <a:pPr algn="ctr">
              <a:lnSpc>
                <a:spcPct val="110000"/>
              </a:lnSpc>
              <a:spcAft>
                <a:spcPts val="400"/>
              </a:spcAft>
            </a:pPr>
            <a:r>
              <a:rPr sz="1350" b="0">
                <a:solidFill>
                  <a:srgbClr val="1F2A3A"/>
                </a:solidFill>
                <a:latin typeface="맑은 고딕"/>
                <a:ea typeface="맑은 고딕"/>
                <a:cs typeface="맑은 고딕"/>
              </a:rPr>
              <a:t>실제 출력과 기대값을 견주고</a:t>
            </a:r>
          </a:p>
          <a:p>
            <a:pPr algn="ctr">
              <a:lnSpc>
                <a:spcPct val="110000"/>
              </a:lnSpc>
              <a:spcAft>
                <a:spcPts val="400"/>
              </a:spcAft>
            </a:pPr>
            <a:r>
              <a:rPr sz="1350" b="0">
                <a:solidFill>
                  <a:srgbClr val="1F2A3A"/>
                </a:solidFill>
                <a:latin typeface="맑은 고딕"/>
                <a:ea typeface="맑은 고딕"/>
                <a:cs typeface="맑은 고딕"/>
              </a:rPr>
              <a:t>로그와 결과 파일을 읽는다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구별</a:t>
            </a:r>
          </a:p>
          <a:p>
            <a:pPr algn="ctr">
              <a:lnSpc>
                <a:spcPct val="110000"/>
              </a:lnSpc>
              <a:spcAft>
                <a:spcPts val="400"/>
              </a:spcAft>
            </a:pPr>
            <a:r>
              <a:rPr sz="1350" b="0">
                <a:solidFill>
                  <a:srgbClr val="1F2A3A"/>
                </a:solidFill>
                <a:latin typeface="맑은 고딕"/>
                <a:ea typeface="맑은 고딕"/>
                <a:cs typeface="맑은 고딕"/>
              </a:rPr>
              <a:t>표현 차이와</a:t>
            </a:r>
          </a:p>
          <a:p>
            <a:pPr algn="ctr">
              <a:lnSpc>
                <a:spcPct val="110000"/>
              </a:lnSpc>
              <a:spcAft>
                <a:spcPts val="400"/>
              </a:spcAft>
            </a:pPr>
            <a:r>
              <a:rPr sz="1350" b="0">
                <a:solidFill>
                  <a:srgbClr val="1F2A3A"/>
                </a:solidFill>
                <a:latin typeface="맑은 고딕"/>
                <a:ea typeface="맑은 고딕"/>
                <a:cs typeface="맑은 고딕"/>
              </a:rPr>
              <a:t>계약 위반을 가른다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오류 수정과 전체 회귀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실패한 시나리오의 원인을 가려 고치고 기존 행동이 유지되는지를 확인한다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것과 다시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실패한 시나리오만 원인을 따라가 고치고, 전체 회귀로 긴급 조건과 기존 조건이 함께 통과하는지를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bug" descr="bug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 추적</a:t>
            </a:r>
          </a:p>
          <a:p>
            <a:pPr algn="l">
              <a:lnSpc>
                <a:spcPct val="110000"/>
              </a:lnSpc>
              <a:spcAft>
                <a:spcPts val="400"/>
              </a:spcAft>
            </a:pPr>
            <a:r>
              <a:rPr sz="1400" b="0">
                <a:solidFill>
                  <a:srgbClr val="1F2A3A"/>
                </a:solidFill>
                <a:latin typeface="맑은 고딕"/>
                <a:ea typeface="맑은 고딕"/>
                <a:cs typeface="맑은 고딕"/>
              </a:rPr>
              <a:t>실제로 실패한 시나리오만 골라 원인을 따라간다</a:t>
            </a:r>
          </a:p>
        </p:txBody>
      </p:sp>
      <p:sp>
        <p:nvSpPr>
          <p:cNvPr id="10" name="Rounded Rectangle 9"/>
          <p:cNvSpPr/>
          <p:nvPr/>
        </p:nvSpPr>
        <p:spPr>
          <a:xfrm>
            <a:off x="777240" y="5041392"/>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실패한 것만</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ool" descr="tool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수정 대상의 구분</a:t>
            </a:r>
          </a:p>
          <a:p>
            <a:pPr algn="l">
              <a:lnSpc>
                <a:spcPct val="110000"/>
              </a:lnSpc>
              <a:spcAft>
                <a:spcPts val="400"/>
              </a:spcAft>
            </a:pPr>
            <a:r>
              <a:rPr sz="1400" b="0">
                <a:solidFill>
                  <a:srgbClr val="1F2A3A"/>
                </a:solidFill>
                <a:latin typeface="맑은 고딕"/>
                <a:ea typeface="맑은 고딕"/>
                <a:cs typeface="맑은 고딕"/>
              </a:rPr>
              <a:t>프롬프트, 명세, 코드 가운데 고칠 곳을 가려 고치고 다시 실행한다</a:t>
            </a:r>
          </a:p>
        </p:txBody>
      </p:sp>
      <p:sp>
        <p:nvSpPr>
          <p:cNvPr id="16" name="Rounded Rectangle 15"/>
          <p:cNvSpPr/>
          <p:nvPr/>
        </p:nvSpPr>
        <p:spPr>
          <a:xfrm>
            <a:off x="4566818" y="5041392"/>
            <a:ext cx="8686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고칠 곳</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회귀</a:t>
            </a:r>
          </a:p>
          <a:p>
            <a:pPr algn="l">
              <a:lnSpc>
                <a:spcPct val="110000"/>
              </a:lnSpc>
              <a:spcAft>
                <a:spcPts val="400"/>
              </a:spcAft>
            </a:pPr>
            <a:r>
              <a:rPr sz="1400" b="0">
                <a:solidFill>
                  <a:srgbClr val="1F2A3A"/>
                </a:solidFill>
                <a:latin typeface="맑은 고딕"/>
                <a:ea typeface="맑은 고딕"/>
                <a:cs typeface="맑은 고딕"/>
              </a:rPr>
              <a:t>긴급 조건이 동작하면서 기존의 일반 요청, 보류, 거절 조건이 그대로인지를 확인한다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유지 확인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업무 데이터를 연결한 교대 인수인계서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설비 이벤트, 정비 이력, 부품 DB의 조회 결과를 엮어 인수인계서 한 장을 만든다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엮는 출처와 완성되는 인수인계서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세 출처의 조회 결과를 엮어, 한 일과 남은 일과 주의 사항에 근거 시각을 붙인 인수인계서가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출처</a:t>
            </a:r>
          </a:p>
          <a:p>
            <a:pPr algn="l">
              <a:lnSpc>
                <a:spcPct val="110000"/>
              </a:lnSpc>
              <a:spcAft>
                <a:spcPts val="400"/>
              </a:spcAft>
            </a:pPr>
            <a:r>
              <a:rPr sz="1400" b="0">
                <a:solidFill>
                  <a:srgbClr val="1F2A3A"/>
                </a:solidFill>
                <a:latin typeface="맑은 고딕"/>
                <a:ea typeface="맑은 고딕"/>
                <a:cs typeface="맑은 고딕"/>
              </a:rPr>
              <a:t>설비 이벤트, 정비 이력, 부품 DB의 조회 결과를 쓴다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연결해 읽기</a:t>
            </a:r>
          </a:p>
          <a:p>
            <a:pPr algn="l">
              <a:lnSpc>
                <a:spcPct val="110000"/>
              </a:lnSpc>
              <a:spcAft>
                <a:spcPts val="400"/>
              </a:spcAft>
            </a:pPr>
            <a:r>
              <a:rPr sz="1400" b="0">
                <a:solidFill>
                  <a:srgbClr val="1F2A3A"/>
                </a:solidFill>
                <a:latin typeface="맑은 고딕"/>
                <a:ea typeface="맑은 고딕"/>
                <a:cs typeface="맑은 고딕"/>
              </a:rPr>
              <a:t>데이터를 옮겨 모으지 않고 출처에 둔 채 한 물음으로 함께 읽는다</a:t>
            </a:r>
          </a:p>
        </p:txBody>
      </p:sp>
      <p:sp>
        <p:nvSpPr>
          <p:cNvPr id="16" name="Rounded Rectangle 15"/>
          <p:cNvSpPr/>
          <p:nvPr/>
        </p:nvSpPr>
        <p:spPr>
          <a:xfrm>
            <a:off x="4566818" y="4932934"/>
            <a:ext cx="132587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데이터 패브릭</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file-description" descr="file-description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인수인계서</a:t>
            </a:r>
          </a:p>
          <a:p>
            <a:pPr algn="l">
              <a:lnSpc>
                <a:spcPct val="110000"/>
              </a:lnSpc>
              <a:spcAft>
                <a:spcPts val="400"/>
              </a:spcAft>
            </a:pPr>
            <a:r>
              <a:rPr sz="1400" b="0">
                <a:solidFill>
                  <a:srgbClr val="1F2A3A"/>
                </a:solidFill>
                <a:latin typeface="맑은 고딕"/>
                <a:ea typeface="맑은 고딕"/>
                <a:cs typeface="맑은 고딕"/>
              </a:rPr>
              <a:t>완료 작업, 미완료 요청, 주의 사항을 적고 항목마다 근거 시각을 붙인다</a:t>
            </a:r>
          </a:p>
        </p:txBody>
      </p:sp>
      <p:sp>
        <p:nvSpPr>
          <p:cNvPr id="22" name="Rounded Rectangle 21"/>
          <p:cNvSpPr/>
          <p:nvPr/>
        </p:nvSpPr>
        <p:spPr>
          <a:xfrm>
            <a:off x="8356396" y="4932934"/>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교대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제작부터 검증까지의</a:t>
            </a:r>
          </a:p>
          <a:p>
            <a:pPr algn="l">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목표와 도구, 스킬과 연결, 사람의 결정, 명세와 검증을 하나로 잇는다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일차의 흐름: 에이전트 하나에 더해진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모델에 목표와 도구를 주어 에이전트를 세운 뒤, 수행 방법과 연결, 사람의 결정과 명세, 행동의 검증을 차례로 더해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더해진것.svg" descr="illust_9175939644773069680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0111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5일차</a:t>
            </a:r>
          </a:p>
          <a:p>
            <a:pPr algn="ctr">
              <a:lnSpc>
                <a:spcPct val="110000"/>
              </a:lnSpc>
              <a:spcAft>
                <a:spcPts val="100"/>
              </a:spcAft>
            </a:pPr>
            <a:r>
              <a:rPr sz="1300" b="0">
                <a:solidFill>
                  <a:srgbClr val="556175"/>
                </a:solidFill>
                <a:latin typeface="맑은 고딕"/>
                <a:ea typeface="맑은 고딕"/>
                <a:cs typeface="맑은 고딕"/>
              </a:rPr>
              <a:t>목표와 도구, 실행 고리, 정보원</a:t>
            </a:r>
          </a:p>
        </p:txBody>
      </p:sp>
      <p:sp>
        <p:nvSpPr>
          <p:cNvPr id="8" name="TextBox 7"/>
          <p:cNvSpPr txBox="1"/>
          <p:nvPr/>
        </p:nvSpPr>
        <p:spPr>
          <a:xfrm>
            <a:off x="791773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6일차</a:t>
            </a:r>
          </a:p>
          <a:p>
            <a:pPr algn="ctr">
              <a:lnSpc>
                <a:spcPct val="110000"/>
              </a:lnSpc>
              <a:spcAft>
                <a:spcPts val="100"/>
              </a:spcAft>
            </a:pPr>
            <a:r>
              <a:rPr sz="1300" b="0">
                <a:solidFill>
                  <a:srgbClr val="556175"/>
                </a:solidFill>
                <a:latin typeface="맑은 고딕"/>
                <a:ea typeface="맑은 고딕"/>
                <a:cs typeface="맑은 고딕"/>
              </a:rPr>
              <a:t>에이전트 스킬과 MCP, 안전 기준</a:t>
            </a:r>
          </a:p>
        </p:txBody>
      </p:sp>
      <p:sp>
        <p:nvSpPr>
          <p:cNvPr id="9" name="TextBox 8"/>
          <p:cNvSpPr txBox="1"/>
          <p:nvPr/>
        </p:nvSpPr>
        <p:spPr>
          <a:xfrm>
            <a:off x="1001113" y="42513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7일차</a:t>
            </a:r>
          </a:p>
          <a:p>
            <a:pPr algn="ctr">
              <a:lnSpc>
                <a:spcPct val="110000"/>
              </a:lnSpc>
              <a:spcAft>
                <a:spcPts val="100"/>
              </a:spcAft>
            </a:pPr>
            <a:r>
              <a:rPr sz="1300" b="0">
                <a:solidFill>
                  <a:srgbClr val="556175"/>
                </a:solidFill>
                <a:latin typeface="맑은 고딕"/>
                <a:ea typeface="맑은 고딕"/>
                <a:cs typeface="맑은 고딕"/>
              </a:rPr>
              <a:t>사람이 개입하는 지점과 명세</a:t>
            </a:r>
          </a:p>
        </p:txBody>
      </p:sp>
      <p:sp>
        <p:nvSpPr>
          <p:cNvPr id="10" name="TextBox 9"/>
          <p:cNvSpPr txBox="1"/>
          <p:nvPr/>
        </p:nvSpPr>
        <p:spPr>
          <a:xfrm>
            <a:off x="7917733" y="4251365"/>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8일차</a:t>
            </a:r>
          </a:p>
          <a:p>
            <a:pPr algn="ctr">
              <a:lnSpc>
                <a:spcPct val="110000"/>
              </a:lnSpc>
              <a:spcAft>
                <a:spcPts val="100"/>
              </a:spcAft>
            </a:pPr>
            <a:r>
              <a:rPr sz="1300" b="0">
                <a:solidFill>
                  <a:srgbClr val="556175"/>
                </a:solidFill>
                <a:latin typeface="맑은 고딕"/>
                <a:ea typeface="맑은 고딕"/>
                <a:cs typeface="맑은 고딕"/>
              </a:rPr>
              <a:t>시나리오와 회귀 시험</a:t>
            </a:r>
          </a:p>
        </p:txBody>
      </p:sp>
      <p:sp>
        <p:nvSpPr>
          <p:cNvPr id="11" name="TextBox 10"/>
          <p:cNvSpPr txBox="1"/>
          <p:nvPr/>
        </p:nvSpPr>
        <p:spPr>
          <a:xfrm>
            <a:off x="5332182" y="49368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여덟 물음: 에이전트를 만들고 믿기까지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여덟 물음은 에이전트를 업무에 쓰기 전에 답해 두는 것이며, 위의 다섯은 만드는 일을, 아래의 셋은 믿는 근거를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답이 놓이는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위해 있는가</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에이전트의 목표</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진단과 조치 추천</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근거로 하는가</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그래프와 두 DB</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효율 46.2 %</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어떤 방법으로 하는가</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스킬</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연결해 쓰는가</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MCP 서버의 도구</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hyd-dmn의 diagnose</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내는가</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출력 계약</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어디서 사람이 결정하는가</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단계</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운전원의 승인</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지키기로 했는가</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전 명령 금지</a:t>
            </a:r>
          </a:p>
        </p:txBody>
      </p:sp>
      <p:sp>
        <p:nvSpPr>
          <p:cNvPr id="38" name="Rounded Rectangle 37"/>
          <p:cNvSpPr/>
          <p:nvPr/>
        </p:nvSpPr>
        <p:spPr>
          <a:xfrm>
            <a:off x="548640" y="5846445"/>
            <a:ext cx="11094415" cy="476631"/>
          </a:xfrm>
          <a:prstGeom prst="roundRect">
            <a:avLst>
              <a:gd name="adj" fmla="val 8000"/>
            </a:avLst>
          </a:prstGeom>
          <a:solidFill>
            <a:srgbClr val="E7F3FD"/>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정한 대로 행동하는가</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시나리오와 회귀 시험</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거절하면 명령 0건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 한 건 위에 놓은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건이 설비 명령에 닿기까지 스킬, 도구, 검사, 승인이 차례로 놓이고, 시나리오는 그 전체를 되풀이해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사건위장치.svg" descr="illust_5852501928380761779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135923" y="2360386"/>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a:p>
            <a:pPr algn="ctr">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방법과 실행 도구 · 5~6일차</a:t>
            </a:r>
          </a:p>
        </p:txBody>
      </p:sp>
      <p:sp>
        <p:nvSpPr>
          <p:cNvPr id="15" name="TextBox 14"/>
          <p:cNvSpPr txBox="1"/>
          <p:nvPr/>
        </p:nvSpPr>
        <p:spPr>
          <a:xfrm>
            <a:off x="6586774"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검사와 사람의 결정 · 7일차</a:t>
            </a:r>
          </a:p>
        </p:txBody>
      </p:sp>
      <p:sp>
        <p:nvSpPr>
          <p:cNvPr id="16" name="TextBox 15"/>
          <p:cNvSpPr txBox="1"/>
          <p:nvPr/>
        </p:nvSpPr>
        <p:spPr>
          <a:xfrm>
            <a:off x="7295892" y="5433227"/>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시나리오와 회귀 시험 · 8일차</a:t>
            </a:r>
          </a:p>
          <a:p>
            <a:pPr algn="ctr">
              <a:lnSpc>
                <a:spcPct val="110000"/>
              </a:lnSpc>
              <a:spcAft>
                <a:spcPts val="100"/>
              </a:spcAft>
            </a:pPr>
            <a:r>
              <a:rPr sz="1300" b="0">
                <a:solidFill>
                  <a:srgbClr val="556175"/>
                </a:solidFill>
                <a:latin typeface="맑은 고딕"/>
                <a:ea typeface="맑은 고딕"/>
                <a:cs typeface="맑은 고딕"/>
              </a:rPr>
              <a:t>경보에서 명령까지의 행동을 되풀이해 확인한다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목표가 없으면 끝을 정하지 못하고, 도구가 없으면 현재값을 알지 못하며, 멈춤 조건이 없으면 모르는 것을 채워서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목표가 없다</a:t>
            </a:r>
          </a:p>
          <a:p>
            <a:pPr algn="l">
              <a:lnSpc>
                <a:spcPct val="110000"/>
              </a:lnSpc>
              <a:spcAft>
                <a:spcPts val="400"/>
              </a:spcAft>
            </a:pPr>
            <a:r>
              <a:rPr sz="1400" b="0">
                <a:solidFill>
                  <a:srgbClr val="1F2A3A"/>
                </a:solidFill>
                <a:latin typeface="맑은 고딕"/>
                <a:ea typeface="맑은 고딕"/>
                <a:cs typeface="맑은 고딕"/>
              </a:rPr>
              <a:t>• 무엇을 이루면 끝나는지가 정해지지 않는다</a:t>
            </a:r>
          </a:p>
          <a:p>
            <a:pPr algn="l">
              <a:lnSpc>
                <a:spcPct val="110000"/>
              </a:lnSpc>
              <a:spcAft>
                <a:spcPts val="400"/>
              </a:spcAft>
            </a:pPr>
            <a:r>
              <a:rPr sz="1400" b="0">
                <a:solidFill>
                  <a:srgbClr val="1F2A3A"/>
                </a:solidFill>
                <a:latin typeface="맑은 고딕"/>
                <a:ea typeface="맑은 고딕"/>
                <a:cs typeface="맑은 고딕"/>
              </a:rPr>
              <a:t>• 질문에 한 번 답하고 멈춘다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목표</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도구가 없다</a:t>
            </a:r>
          </a:p>
          <a:p>
            <a:pPr algn="l">
              <a:lnSpc>
                <a:spcPct val="110000"/>
              </a:lnSpc>
              <a:spcAft>
                <a:spcPts val="400"/>
              </a:spcAft>
            </a:pPr>
            <a:r>
              <a:rPr sz="1400" b="0">
                <a:solidFill>
                  <a:srgbClr val="1F2A3A"/>
                </a:solidFill>
                <a:latin typeface="맑은 고딕"/>
                <a:ea typeface="맑은 고딕"/>
                <a:cs typeface="맑은 고딕"/>
              </a:rPr>
              <a:t>• 유온과 납기 오더 같은 지금의 값을 읽지 못한다</a:t>
            </a:r>
          </a:p>
          <a:p>
            <a:pPr algn="l">
              <a:lnSpc>
                <a:spcPct val="110000"/>
              </a:lnSpc>
              <a:spcAft>
                <a:spcPts val="400"/>
              </a:spcAft>
            </a:pPr>
            <a:r>
              <a:rPr sz="1400" b="0">
                <a:solidFill>
                  <a:srgbClr val="1F2A3A"/>
                </a:solidFill>
                <a:latin typeface="맑은 고딕"/>
                <a:ea typeface="맑은 고딕"/>
                <a:cs typeface="맑은 고딕"/>
              </a:rPr>
              <a:t>• 모델이 학습한 내용만으로 답한다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 조건이 없다</a:t>
            </a:r>
          </a:p>
          <a:p>
            <a:pPr algn="l">
              <a:lnSpc>
                <a:spcPct val="110000"/>
              </a:lnSpc>
              <a:spcAft>
                <a:spcPts val="400"/>
              </a:spcAft>
            </a:pPr>
            <a:r>
              <a:rPr sz="1400" b="0">
                <a:solidFill>
                  <a:srgbClr val="1F2A3A"/>
                </a:solidFill>
                <a:latin typeface="맑은 고딕"/>
                <a:ea typeface="맑은 고딕"/>
                <a:cs typeface="맑은 고딕"/>
              </a:rPr>
              <a:t>근거가 부족하거나 도구가 실패해도 결과를 채워서 낸다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멈춤 조건</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든 근거는 지식 그래프의 관계와, 판단하는 순간에 도구로 읽은 값에서 따로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pic>
        <p:nvPicPr>
          <p:cNvPr id="6" name="삽화:근거자리.svg" descr="illust_7274830796665304051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지식 그래프에 정해 둔 관계</a:t>
            </a:r>
          </a:p>
        </p:txBody>
      </p:sp>
      <p:sp>
        <p:nvSpPr>
          <p:cNvPr id="8" name="TextBox 7"/>
          <p:cNvSpPr txBox="1"/>
          <p:nvPr/>
        </p:nvSpPr>
        <p:spPr>
          <a:xfrm>
            <a:off x="2255705" y="3234964"/>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후보 셋</a:t>
            </a:r>
          </a:p>
          <a:p>
            <a:pPr algn="ctr">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현재값</a:t>
            </a:r>
          </a:p>
          <a:p>
            <a:pPr algn="ctr">
              <a:lnSpc>
                <a:spcPct val="110000"/>
              </a:lnSpc>
              <a:spcAft>
                <a:spcPts val="100"/>
              </a:spcAft>
            </a:pPr>
            <a:r>
              <a:rPr sz="1300" b="0">
                <a:solidFill>
                  <a:srgbClr val="556175"/>
                </a:solidFill>
                <a:latin typeface="맑은 고딕"/>
                <a:ea typeface="맑은 고딕"/>
                <a:cs typeface="맑은 고딕"/>
              </a:rPr>
              <a:t>판단하는 순간에 읽는 값</a:t>
            </a:r>
          </a:p>
        </p:txBody>
      </p:sp>
      <p:sp>
        <p:nvSpPr>
          <p:cNvPr id="12" name="TextBox 11"/>
          <p:cNvSpPr txBox="1"/>
          <p:nvPr/>
        </p:nvSpPr>
        <p:spPr>
          <a:xfrm>
            <a:off x="2495714"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근거마다 읽은 곳이 남는다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일하는 순서와 결과의 모양을 바꾸려면 스킬을 고치고, 읽을 수 있는 시스템을 늘리려면 MCP 서버의 연결을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부르는 순서를 바꾼다</a:t>
            </a:r>
          </a:p>
          <a:p>
            <a:pPr algn="l">
              <a:lnSpc>
                <a:spcPct val="110000"/>
              </a:lnSpc>
              <a:spcAft>
                <a:spcPts val="600"/>
              </a:spcAft>
            </a:pPr>
            <a:r>
              <a:rPr sz="1450" b="0">
                <a:solidFill>
                  <a:srgbClr val="1F2A3A"/>
                </a:solidFill>
                <a:latin typeface="맑은 고딕"/>
                <a:ea typeface="맑은 고딕"/>
                <a:cs typeface="맑은 고딕"/>
              </a:rPr>
              <a:t>• 근거가 없을 때의 행동을 정한다</a:t>
            </a:r>
          </a:p>
          <a:p>
            <a:pPr algn="l">
              <a:lnSpc>
                <a:spcPct val="110000"/>
              </a:lnSpc>
              <a:spcAft>
                <a:spcPts val="600"/>
              </a:spcAft>
            </a:pPr>
            <a:r>
              <a:rPr sz="1450" b="0">
                <a:solidFill>
                  <a:srgbClr val="1F2A3A"/>
                </a:solidFill>
                <a:latin typeface="맑은 고딕"/>
                <a:ea typeface="맑은 고딕"/>
                <a:cs typeface="맑은 고딕"/>
              </a:rPr>
              <a:t>• 결과 항목의 이름을 정한다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새 시스템의 값을 읽게 한다</a:t>
            </a:r>
          </a:p>
          <a:p>
            <a:pPr algn="l">
              <a:lnSpc>
                <a:spcPct val="110000"/>
              </a:lnSpc>
              <a:spcAft>
                <a:spcPts val="600"/>
              </a:spcAft>
            </a:pPr>
            <a:r>
              <a:rPr sz="1450" b="0">
                <a:solidFill>
                  <a:srgbClr val="1F2A3A"/>
                </a:solidFill>
                <a:latin typeface="맑은 고딕"/>
                <a:ea typeface="맑은 고딕"/>
                <a:cs typeface="맑은 고딕"/>
              </a:rPr>
              <a:t>• 부를 수 있는 도구의 범위를 좁힌다</a:t>
            </a:r>
          </a:p>
          <a:p>
            <a:pPr algn="l">
              <a:lnSpc>
                <a:spcPct val="110000"/>
              </a:lnSpc>
              <a:spcAft>
                <a:spcPts val="600"/>
              </a:spcAft>
            </a:pPr>
            <a:r>
              <a:rPr sz="1450" b="0">
                <a:solidFill>
                  <a:srgbClr val="1F2A3A"/>
                </a:solidFill>
                <a:latin typeface="맑은 고딕"/>
                <a:ea typeface="맑은 고딕"/>
                <a:cs typeface="맑은 고딕"/>
              </a:rPr>
              <a:t>• 비밀값과 접근 범위를 정한다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검사를 통과한 결과는 사람에게 올려도 된다는 뜻일 뿐이며,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pic>
        <p:nvPicPr>
          <p:cNvPr id="6" name="삽화:두문.svg" descr="illust_4771882715604455688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자동 검사</a:t>
            </a:r>
          </a:p>
          <a:p>
            <a:pPr algn="ctr">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담당자의 승인</a:t>
            </a:r>
          </a:p>
          <a:p>
            <a:pPr algn="ctr">
              <a:lnSpc>
                <a:spcPct val="110000"/>
              </a:lnSpc>
              <a:spcAft>
                <a:spcPts val="100"/>
              </a:spcAft>
            </a:pPr>
            <a:r>
              <a:rPr sz="1100" b="0">
                <a:solidFill>
                  <a:srgbClr val="556175"/>
                </a:solidFill>
                <a:latin typeface="맑은 고딕"/>
                <a:ea typeface="맑은 고딕"/>
                <a:cs typeface="맑은 고딕"/>
              </a:rPr>
              <a:t>추천의 내용과 지금의 상황을 본다</a:t>
            </a:r>
          </a:p>
        </p:txBody>
      </p:sp>
      <p:sp>
        <p:nvSpPr>
          <p:cNvPr id="13" name="TextBox 12"/>
          <p:cNvSpPr txBox="1"/>
          <p:nvPr/>
        </p:nvSpPr>
        <p:spPr>
          <a:xfrm>
            <a:off x="7492262" y="4275002"/>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실행해도 된다</a:t>
            </a:r>
          </a:p>
        </p:txBody>
      </p:sp>
      <p:sp>
        <p:nvSpPr>
          <p:cNvPr id="14" name="TextBox 13"/>
          <p:cNvSpPr txBox="1"/>
          <p:nvPr/>
        </p:nvSpPr>
        <p:spPr>
          <a:xfrm>
            <a:off x="9455972" y="3802258"/>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 명령</a:t>
            </a:r>
          </a:p>
          <a:p>
            <a:pPr algn="ctr">
              <a:lnSpc>
                <a:spcPct val="110000"/>
              </a:lnSpc>
              <a:spcAft>
                <a:spcPts val="100"/>
              </a:spcAft>
            </a:pPr>
            <a:r>
              <a:rPr sz="1100" b="0">
                <a:solidFill>
                  <a:srgbClr val="556175"/>
                </a:solidFill>
                <a:latin typeface="맑은 고딕"/>
                <a:ea typeface="맑은 고딕"/>
                <a:cs typeface="맑은 고딕"/>
              </a:rPr>
              <a:t>승인 뒤에만 만들어진다</a:t>
            </a:r>
          </a:p>
        </p:txBody>
      </p:sp>
      <p:sp>
        <p:nvSpPr>
          <p:cNvPr id="15" name="TextBox 14"/>
          <p:cNvSpPr txBox="1"/>
          <p:nvPr/>
        </p:nvSpPr>
        <p:spPr>
          <a:xfrm>
            <a:off x="8823221" y="5409590"/>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결정 기록</a:t>
            </a:r>
          </a:p>
          <a:p>
            <a:pPr algn="ctr">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p:txBody>
      </p:sp>
      <p:sp>
        <p:nvSpPr>
          <p:cNvPr id="17" name="TextBox 16"/>
          <p:cNvSpPr txBox="1"/>
          <p:nvPr/>
        </p:nvSpPr>
        <p:spPr>
          <a:xfrm>
            <a:off x="2441166" y="5385953"/>
            <a:ext cx="185461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에이전트의 기준이자 시나리오의 기대값이 되고, 에이전트가 낸 추천안은 가드레일과 담당자의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명세</a:t>
            </a:r>
          </a:p>
          <a:p>
            <a:pPr algn="ctr">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시나리오</a:t>
            </a:r>
          </a:p>
          <a:p>
            <a:pPr algn="ctr">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에이전트</a:t>
            </a:r>
          </a:p>
          <a:p>
            <a:pPr algn="ctr">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추천안</a:t>
            </a:r>
          </a:p>
          <a:p>
            <a:pPr algn="ctr">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가드레일</a:t>
            </a:r>
          </a:p>
          <a:p>
            <a:pPr algn="ctr">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담당자</a:t>
            </a:r>
          </a:p>
          <a:p>
            <a:pPr algn="ctr">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ectangle 5"/>
          <p:cNvSpPr/>
          <p:nvPr/>
        </p:nvSpPr>
        <p:spPr>
          <a:xfrm>
            <a:off x="1935441" y="293751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52145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새 조건의 계약과 금지 조건, 수용 기준을 적는다</a:t>
            </a:r>
          </a:p>
          <a:p>
            <a:pPr algn="ctr">
              <a:lnSpc>
                <a:spcPct val="110000"/>
              </a:lnSpc>
              <a:spcAft>
                <a:spcPts val="400"/>
              </a:spcAft>
            </a:pPr>
            <a:r>
              <a:rPr sz="13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52145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더한다</a:t>
            </a:r>
          </a:p>
          <a:p>
            <a:pPr algn="ctr">
              <a:lnSpc>
                <a:spcPct val="110000"/>
              </a:lnSpc>
              <a:spcAft>
                <a:spcPts val="400"/>
              </a:spcAft>
            </a:pPr>
            <a:r>
              <a:rPr sz="1350" b="0">
                <a:solidFill>
                  <a:srgbClr val="1F2A3A"/>
                </a:solidFill>
                <a:latin typeface="맑은 고딕"/>
                <a:ea typeface="맑은 고딕"/>
                <a:cs typeface="맑은 고딕"/>
              </a:rPr>
              <a:t>새 조건의 Given · When · Then과 기대값을 적는다</a:t>
            </a:r>
          </a:p>
          <a:p>
            <a:pPr algn="ctr">
              <a:lnSpc>
                <a:spcPct val="110000"/>
              </a:lnSpc>
              <a:spcAft>
                <a:spcPts val="400"/>
              </a:spcAft>
            </a:pPr>
            <a:r>
              <a:rPr sz="13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52145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구현한다</a:t>
            </a:r>
          </a:p>
          <a:p>
            <a:pPr algn="ctr">
              <a:lnSpc>
                <a:spcPct val="110000"/>
              </a:lnSpc>
              <a:spcAft>
                <a:spcPts val="400"/>
              </a:spcAft>
            </a:pPr>
            <a:r>
              <a:rPr sz="1350" b="0">
                <a:solidFill>
                  <a:srgbClr val="1F2A3A"/>
                </a:solidFill>
                <a:latin typeface="맑은 고딕"/>
                <a:ea typeface="맑은 고딕"/>
                <a:cs typeface="맑은 고딕"/>
              </a:rPr>
              <a:t>지침이나 코드를 명세에 맞추어 고친다</a:t>
            </a:r>
          </a:p>
          <a:p>
            <a:pPr algn="ctr">
              <a:lnSpc>
                <a:spcPct val="110000"/>
              </a:lnSpc>
              <a:spcAft>
                <a:spcPts val="400"/>
              </a:spcAft>
            </a:pPr>
            <a:r>
              <a:rPr sz="13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52145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전체를 다시 실행한다</a:t>
            </a:r>
          </a:p>
          <a:p>
            <a:pPr algn="ctr">
              <a:lnSpc>
                <a:spcPct val="110000"/>
              </a:lnSpc>
              <a:spcAft>
                <a:spcPts val="400"/>
              </a:spcAft>
            </a:pPr>
            <a:r>
              <a:rPr sz="1350" b="0">
                <a:solidFill>
                  <a:srgbClr val="1F2A3A"/>
                </a:solidFill>
                <a:latin typeface="맑은 고딕"/>
                <a:ea typeface="맑은 고딕"/>
                <a:cs typeface="맑은 고딕"/>
              </a:rPr>
              <a:t>새 시나리오와 기존 시나리오가 모두 통과하는지 확인한다</a:t>
            </a:r>
          </a:p>
          <a:p>
            <a:pPr algn="ctr">
              <a:lnSpc>
                <a:spcPct val="110000"/>
              </a:lnSpc>
              <a:spcAft>
                <a:spcPts val="400"/>
              </a:spcAft>
            </a:pPr>
            <a:r>
              <a:rPr sz="1350" b="0">
                <a:solidFill>
                  <a:srgbClr val="1F2A3A"/>
                </a:solidFill>
                <a:latin typeface="맑은 고딕"/>
                <a:ea typeface="맑은 고딕"/>
                <a:cs typeface="맑은 고딕"/>
              </a:rPr>
              <a:t>예: 일반 요청, 보류, 거절의 시나리오까지</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검사와 승인은 실행 한 건의 잘못을 그 자리에서 막고, 시나리오와 회귀 시험은 변경이 만든 잘못을 미리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출력 계약의 검사</a:t>
            </a:r>
          </a:p>
          <a:p>
            <a:pPr algn="l">
              <a:lnSpc>
                <a:spcPct val="110000"/>
              </a:lnSpc>
              <a:spcAft>
                <a:spcPts val="600"/>
              </a:spcAft>
            </a:pPr>
            <a:r>
              <a:rPr sz="1450" b="0">
                <a:solidFill>
                  <a:srgbClr val="1F2A3A"/>
                </a:solidFill>
                <a:latin typeface="맑은 고딕"/>
                <a:ea typeface="맑은 고딕"/>
                <a:cs typeface="맑은 고딕"/>
              </a:rPr>
              <a:t>• 가드레일</a:t>
            </a:r>
          </a:p>
          <a:p>
            <a:pPr algn="l">
              <a:lnSpc>
                <a:spcPct val="110000"/>
              </a:lnSpc>
              <a:spcAft>
                <a:spcPts val="600"/>
              </a:spcAft>
            </a:pPr>
            <a:r>
              <a:rPr sz="1450" b="0">
                <a:solidFill>
                  <a:srgbClr val="1F2A3A"/>
                </a:solidFill>
                <a:latin typeface="맑은 고딕"/>
                <a:ea typeface="맑은 고딕"/>
                <a:cs typeface="맑은 고딕"/>
              </a:rPr>
              <a:t>• 사람의 승인</a:t>
            </a:r>
          </a:p>
          <a:p>
            <a:pPr algn="l">
              <a:lnSpc>
                <a:spcPct val="110000"/>
              </a:lnSpc>
              <a:spcAft>
                <a:spcPts val="600"/>
              </a:spcAft>
            </a:pPr>
            <a:r>
              <a:rPr sz="1450" b="0">
                <a:solidFill>
                  <a:srgbClr val="1F2A3A"/>
                </a:solidFill>
                <a:latin typeface="맑은 고딕"/>
                <a:ea typeface="맑은 고딕"/>
                <a:cs typeface="맑은 고딕"/>
              </a:rPr>
              <a:t>• 막는 것: 그 한 건의 잘못된 결과</a:t>
            </a:r>
          </a:p>
        </p:txBody>
      </p:sp>
      <p:sp>
        <p:nvSpPr>
          <p:cNvPr id="11" name="Rounded Rectangle 10"/>
          <p:cNvSpPr/>
          <p:nvPr/>
        </p:nvSpPr>
        <p:spPr>
          <a:xfrm>
            <a:off x="868680" y="5096002"/>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시나리오의 실행</a:t>
            </a:r>
          </a:p>
          <a:p>
            <a:pPr algn="l">
              <a:lnSpc>
                <a:spcPct val="110000"/>
              </a:lnSpc>
              <a:spcAft>
                <a:spcPts val="600"/>
              </a:spcAft>
            </a:pPr>
            <a:r>
              <a:rPr sz="1450" b="0">
                <a:solidFill>
                  <a:srgbClr val="1F2A3A"/>
                </a:solidFill>
                <a:latin typeface="맑은 고딕"/>
                <a:ea typeface="맑은 고딕"/>
                <a:cs typeface="맑은 고딕"/>
              </a:rPr>
              <a:t>• 판단 채점</a:t>
            </a:r>
          </a:p>
          <a:p>
            <a:pPr algn="l">
              <a:lnSpc>
                <a:spcPct val="110000"/>
              </a:lnSpc>
              <a:spcAft>
                <a:spcPts val="600"/>
              </a:spcAft>
            </a:pPr>
            <a:r>
              <a:rPr sz="1450" b="0">
                <a:solidFill>
                  <a:srgbClr val="1F2A3A"/>
                </a:solidFill>
                <a:latin typeface="맑은 고딕"/>
                <a:ea typeface="맑은 고딕"/>
                <a:cs typeface="맑은 고딕"/>
              </a:rPr>
              <a:t>• 전체 회귀</a:t>
            </a:r>
          </a:p>
          <a:p>
            <a:pPr algn="l">
              <a:lnSpc>
                <a:spcPct val="110000"/>
              </a:lnSpc>
              <a:spcAft>
                <a:spcPts val="600"/>
              </a:spcAft>
            </a:pPr>
            <a:r>
              <a:rPr sz="145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전의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세 에이전트가 내는 산출물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 스킬과 도구, 출력 계약이라는 틀은 세 에이전트가 같고, 그 자리에 넣은 것이 달라서 서로 다른 산출물이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pic>
        <p:nvPicPr>
          <p:cNvPr id="6" name="삽화:세산출물.svg" descr="illust_5146583767105451621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041189" y="1627632"/>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틀</a:t>
            </a:r>
          </a:p>
          <a:p>
            <a:pPr algn="ctr">
              <a:lnSpc>
                <a:spcPct val="110000"/>
              </a:lnSpc>
              <a:spcAft>
                <a:spcPts val="100"/>
              </a:spcAft>
            </a:pPr>
            <a:r>
              <a:rPr sz="1100" b="0">
                <a:solidFill>
                  <a:srgbClr val="556175"/>
                </a:solidFill>
                <a:latin typeface="맑은 고딕"/>
                <a:ea typeface="맑은 고딕"/>
                <a:cs typeface="맑은 고딕"/>
              </a:rPr>
              <a:t>목표, 스킬과 도구, 출력 계약</a:t>
            </a:r>
          </a:p>
        </p:txBody>
      </p:sp>
      <p:sp>
        <p:nvSpPr>
          <p:cNvPr id="8" name="TextBox 7"/>
          <p:cNvSpPr txBox="1"/>
          <p:nvPr/>
        </p:nvSpPr>
        <p:spPr>
          <a:xfrm>
            <a:off x="553824" y="3045866"/>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성능 저하 경보</a:t>
            </a:r>
          </a:p>
        </p:txBody>
      </p:sp>
      <p:sp>
        <p:nvSpPr>
          <p:cNvPr id="9" name="TextBox 8"/>
          <p:cNvSpPr txBox="1"/>
          <p:nvPr/>
        </p:nvSpPr>
        <p:spPr>
          <a:xfrm>
            <a:off x="553824" y="4464100"/>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도래</a:t>
            </a:r>
          </a:p>
        </p:txBody>
      </p:sp>
      <p:sp>
        <p:nvSpPr>
          <p:cNvPr id="10" name="TextBox 9"/>
          <p:cNvSpPr txBox="1"/>
          <p:nvPr/>
        </p:nvSpPr>
        <p:spPr>
          <a:xfrm>
            <a:off x="553824" y="5882335"/>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재고 기준 이탈</a:t>
            </a:r>
          </a:p>
        </p:txBody>
      </p:sp>
      <p:sp>
        <p:nvSpPr>
          <p:cNvPr id="11" name="TextBox 10"/>
          <p:cNvSpPr txBox="1"/>
          <p:nvPr/>
        </p:nvSpPr>
        <p:spPr>
          <a:xfrm>
            <a:off x="3041189" y="302222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긴급 대응</a:t>
            </a:r>
          </a:p>
          <a:p>
            <a:pPr algn="ctr">
              <a:lnSpc>
                <a:spcPct val="110000"/>
              </a:lnSpc>
              <a:spcAft>
                <a:spcPts val="100"/>
              </a:spcAft>
            </a:pPr>
            <a:r>
              <a:rPr sz="1100" b="0">
                <a:solidFill>
                  <a:srgbClr val="556175"/>
                </a:solidFill>
                <a:latin typeface="맑은 고딕"/>
                <a:ea typeface="맑은 고딕"/>
                <a:cs typeface="맑은 고딕"/>
              </a:rPr>
              <a:t>cooling-emergency-response</a:t>
            </a:r>
          </a:p>
        </p:txBody>
      </p:sp>
      <p:sp>
        <p:nvSpPr>
          <p:cNvPr id="12" name="TextBox 11"/>
          <p:cNvSpPr txBox="1"/>
          <p:nvPr/>
        </p:nvSpPr>
        <p:spPr>
          <a:xfrm>
            <a:off x="3041189" y="444046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계획</a:t>
            </a:r>
          </a:p>
          <a:p>
            <a:pPr algn="ctr">
              <a:lnSpc>
                <a:spcPct val="110000"/>
              </a:lnSpc>
              <a:spcAft>
                <a:spcPts val="100"/>
              </a:spcAft>
            </a:pPr>
            <a:r>
              <a:rPr sz="1100" b="0">
                <a:solidFill>
                  <a:srgbClr val="556175"/>
                </a:solidFill>
                <a:latin typeface="맑은 고딕"/>
                <a:ea typeface="맑은 고딕"/>
                <a:cs typeface="맑은 고딕"/>
              </a:rPr>
              <a:t>pm-schedule-planning</a:t>
            </a:r>
          </a:p>
        </p:txBody>
      </p:sp>
      <p:sp>
        <p:nvSpPr>
          <p:cNvPr id="13" name="TextBox 12"/>
          <p:cNvSpPr txBox="1"/>
          <p:nvPr/>
        </p:nvSpPr>
        <p:spPr>
          <a:xfrm>
            <a:off x="3041189" y="581142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구매</a:t>
            </a:r>
          </a:p>
          <a:p>
            <a:pPr algn="ctr">
              <a:lnSpc>
                <a:spcPct val="110000"/>
              </a:lnSpc>
              <a:spcAft>
                <a:spcPts val="100"/>
              </a:spcAft>
            </a:pPr>
            <a:r>
              <a:rPr sz="1100" b="0">
                <a:solidFill>
                  <a:srgbClr val="556175"/>
                </a:solidFill>
                <a:latin typeface="맑은 고딕"/>
                <a:ea typeface="맑은 고딕"/>
                <a:cs typeface="맑은 고딕"/>
              </a:rPr>
              <a:t>spare-purchase-planning</a:t>
            </a:r>
          </a:p>
        </p:txBody>
      </p:sp>
      <p:sp>
        <p:nvSpPr>
          <p:cNvPr id="14" name="TextBox 13"/>
          <p:cNvSpPr txBox="1"/>
          <p:nvPr/>
        </p:nvSpPr>
        <p:spPr>
          <a:xfrm>
            <a:off x="8823221" y="2384023"/>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추천안</a:t>
            </a:r>
          </a:p>
          <a:p>
            <a:pPr algn="ctr">
              <a:lnSpc>
                <a:spcPct val="110000"/>
              </a:lnSpc>
              <a:spcAft>
                <a:spcPts val="100"/>
              </a:spcAft>
            </a:pPr>
            <a:r>
              <a:rPr sz="1100" b="0">
                <a:solidFill>
                  <a:srgbClr val="556175"/>
                </a:solidFill>
                <a:latin typeface="맑은 고딕"/>
                <a:ea typeface="맑은 고딕"/>
                <a:cs typeface="맑은 고딕"/>
              </a:rPr>
              <a:t>팬 최대 운전과 대안 셋</a:t>
            </a:r>
          </a:p>
        </p:txBody>
      </p:sp>
      <p:sp>
        <p:nvSpPr>
          <p:cNvPr id="15" name="TextBox 14"/>
          <p:cNvSpPr txBox="1"/>
          <p:nvPr/>
        </p:nvSpPr>
        <p:spPr>
          <a:xfrm>
            <a:off x="8823221" y="3802258"/>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정비 시간</a:t>
            </a:r>
          </a:p>
          <a:p>
            <a:pPr algn="ctr">
              <a:lnSpc>
                <a:spcPct val="110000"/>
              </a:lnSpc>
              <a:spcAft>
                <a:spcPts val="100"/>
              </a:spcAft>
            </a:pPr>
            <a:r>
              <a:rPr sz="1100" b="0">
                <a:solidFill>
                  <a:srgbClr val="556175"/>
                </a:solidFill>
                <a:latin typeface="맑은 고딕"/>
                <a:ea typeface="맑은 고딕"/>
                <a:cs typeface="맑은 고딕"/>
              </a:rPr>
              <a:t>언제 정비할 것인가</a:t>
            </a:r>
          </a:p>
        </p:txBody>
      </p:sp>
      <p:sp>
        <p:nvSpPr>
          <p:cNvPr id="16" name="TextBox 15"/>
          <p:cNvSpPr txBox="1"/>
          <p:nvPr/>
        </p:nvSpPr>
        <p:spPr>
          <a:xfrm>
            <a:off x="8823221" y="5220492"/>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발주안</a:t>
            </a:r>
          </a:p>
          <a:p>
            <a:pPr algn="ctr">
              <a:lnSpc>
                <a:spcPct val="110000"/>
              </a:lnSpc>
              <a:spcAft>
                <a:spcPts val="100"/>
              </a:spcAft>
            </a:pPr>
            <a:r>
              <a:rPr sz="1100" b="0">
                <a:solidFill>
                  <a:srgbClr val="556175"/>
                </a:solidFill>
                <a:latin typeface="맑은 고딕"/>
                <a:ea typeface="맑은 고딕"/>
                <a:cs typeface="맑은 고딕"/>
              </a:rPr>
              <a:t>공급사, 수량, 금액</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5 · 6일차 실습의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5일차와 6일차의 산출물은 형식이 달라도, 모르는 것은 확정하지 않고 아는 것에는 출처를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점검 계획</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온톨로지의 관계와 센서 입력</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확인되지 않은</a:t>
            </a:r>
          </a:p>
          <a:p>
            <a:pPr algn="l">
              <a:lnSpc>
                <a:spcPct val="110000"/>
              </a:lnSpc>
            </a:pPr>
            <a:r>
              <a:rPr sz="1250" b="1">
                <a:solidFill>
                  <a:srgbClr val="556175"/>
                </a:solidFill>
                <a:latin typeface="맑은 고딕"/>
                <a:ea typeface="맑은 고딕"/>
                <a:cs typeface="맑은 고딕"/>
              </a:rPr>
              <a:t>원인은 가설로 표시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품질 대응 카드</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불량 접수 메시지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원인이 미확정이면</a:t>
            </a:r>
          </a:p>
          <a:p>
            <a:pPr algn="l">
              <a:lnSpc>
                <a:spcPct val="110000"/>
              </a:lnSpc>
            </a:pPr>
            <a:r>
              <a:rPr sz="1250" b="1">
                <a:solidFill>
                  <a:srgbClr val="556175"/>
                </a:solidFill>
                <a:latin typeface="맑은 고딕"/>
                <a:ea typeface="맑은 고딕"/>
                <a:cs typeface="맑은 고딕"/>
              </a:rPr>
              <a:t>조사 요청으로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도표와 이상 구간 요약</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센서 시계열</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상관만으로 원인을</a:t>
            </a:r>
          </a:p>
          <a:p>
            <a:pPr algn="l">
              <a:lnSpc>
                <a:spcPct val="110000"/>
              </a:lnSpc>
            </a:pPr>
            <a:r>
              <a:rPr sz="1250" b="1">
                <a:solidFill>
                  <a:srgbClr val="556175"/>
                </a:solidFill>
                <a:latin typeface="맑은 고딕"/>
                <a:ea typeface="맑은 고딕"/>
                <a:cs typeface="맑은 고딕"/>
              </a:rPr>
              <a:t>단정하지 않음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 목록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담당자와 기한이</a:t>
            </a:r>
          </a:p>
          <a:p>
            <a:pPr algn="l">
              <a:lnSpc>
                <a:spcPct val="110000"/>
              </a:lnSpc>
            </a:pPr>
            <a:r>
              <a:rPr sz="1250" b="1">
                <a:solidFill>
                  <a:srgbClr val="556175"/>
                </a:solidFill>
                <a:latin typeface="맑은 고딕"/>
                <a:ea typeface="맑은 고딕"/>
                <a:cs typeface="맑은 고딕"/>
              </a:rPr>
              <a:t>없으면 미정</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학습 코치의 피드백</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학습 노트와 매뉴얼</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정답에 출처를</a:t>
            </a:r>
          </a:p>
          <a:p>
            <a:pPr algn="l">
              <a:lnSpc>
                <a:spcPct val="110000"/>
              </a:lnSpc>
            </a:pPr>
            <a:r>
              <a:rPr sz="1250" b="1">
                <a:solidFill>
                  <a:srgbClr val="556175"/>
                </a:solidFill>
                <a:latin typeface="맑은 고딕"/>
                <a:ea typeface="맑은 고딕"/>
                <a:cs typeface="맑은 고딕"/>
              </a:rPr>
              <a:t>붙여 되짚음</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7 · 8일차 실습의 산출물과 그것이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7일차의 확인 질문과 명세는 8일차 시나리오의 재료가 되었고, 시나리오와 회귀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pic>
        <p:nvPicPr>
          <p:cNvPr id="6" name="삽화:산출물이음.svg" descr="illust_7615834083831827532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72036" y="174581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7일차 실습</a:t>
            </a:r>
          </a:p>
        </p:txBody>
      </p:sp>
      <p:sp>
        <p:nvSpPr>
          <p:cNvPr id="8" name="TextBox 7"/>
          <p:cNvSpPr txBox="1"/>
          <p:nvPr/>
        </p:nvSpPr>
        <p:spPr>
          <a:xfrm>
            <a:off x="5539463" y="174581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8일차 실습</a:t>
            </a:r>
          </a:p>
        </p:txBody>
      </p:sp>
      <p:sp>
        <p:nvSpPr>
          <p:cNvPr id="9" name="TextBox 8"/>
          <p:cNvSpPr txBox="1"/>
          <p:nvPr/>
        </p:nvSpPr>
        <p:spPr>
          <a:xfrm>
            <a:off x="935656" y="3022229"/>
            <a:ext cx="261827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확인 질문과 전후 기록</a:t>
            </a:r>
          </a:p>
        </p:txBody>
      </p:sp>
      <p:sp>
        <p:nvSpPr>
          <p:cNvPr id="10" name="TextBox 9"/>
          <p:cNvSpPr txBox="1"/>
          <p:nvPr/>
        </p:nvSpPr>
        <p:spPr>
          <a:xfrm>
            <a:off x="935656" y="4511375"/>
            <a:ext cx="261827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spec.md와 기대 결과</a:t>
            </a:r>
          </a:p>
        </p:txBody>
      </p:sp>
      <p:sp>
        <p:nvSpPr>
          <p:cNvPr id="11" name="TextBox 10"/>
          <p:cNvSpPr txBox="1"/>
          <p:nvPr/>
        </p:nvSpPr>
        <p:spPr>
          <a:xfrm>
            <a:off x="935656" y="5811423"/>
            <a:ext cx="261827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초안, 검토 의견, 수정본</a:t>
            </a:r>
          </a:p>
        </p:txBody>
      </p:sp>
      <p:sp>
        <p:nvSpPr>
          <p:cNvPr id="12" name="TextBox 11"/>
          <p:cNvSpPr txBox="1"/>
          <p:nvPr/>
        </p:nvSpPr>
        <p:spPr>
          <a:xfrm>
            <a:off x="4601246" y="427500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시나리오</a:t>
            </a:r>
          </a:p>
          <a:p>
            <a:pPr algn="ctr">
              <a:lnSpc>
                <a:spcPct val="110000"/>
              </a:lnSpc>
              <a:spcAft>
                <a:spcPts val="100"/>
              </a:spcAft>
            </a:pPr>
            <a:r>
              <a:rPr sz="1300" b="0">
                <a:solidFill>
                  <a:srgbClr val="556175"/>
                </a:solidFill>
                <a:latin typeface="맑은 고딕"/>
                <a:ea typeface="맑은 고딕"/>
                <a:cs typeface="맑은 고딕"/>
              </a:rPr>
              <a:t>입력값과 기대값</a:t>
            </a:r>
          </a:p>
        </p:txBody>
      </p:sp>
      <p:sp>
        <p:nvSpPr>
          <p:cNvPr id="13" name="TextBox 12"/>
          <p:cNvSpPr txBox="1"/>
          <p:nvPr/>
        </p:nvSpPr>
        <p:spPr>
          <a:xfrm>
            <a:off x="6674050" y="427500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회귀 기록</a:t>
            </a:r>
          </a:p>
          <a:p>
            <a:pPr algn="ctr">
              <a:lnSpc>
                <a:spcPct val="110000"/>
              </a:lnSpc>
              <a:spcAft>
                <a:spcPts val="100"/>
              </a:spcAft>
            </a:pPr>
            <a:r>
              <a:rPr sz="1300" b="0">
                <a:solidFill>
                  <a:srgbClr val="556175"/>
                </a:solidFill>
                <a:latin typeface="맑은 고딕"/>
                <a:ea typeface="맑은 고딕"/>
                <a:cs typeface="맑은 고딕"/>
              </a:rPr>
              <a:t>전체 재실행의 결과</a:t>
            </a:r>
          </a:p>
        </p:txBody>
      </p:sp>
      <p:sp>
        <p:nvSpPr>
          <p:cNvPr id="14" name="TextBox 13"/>
          <p:cNvSpPr txBox="1"/>
          <p:nvPr/>
        </p:nvSpPr>
        <p:spPr>
          <a:xfrm>
            <a:off x="4328509" y="5220492"/>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인수인계서</a:t>
            </a:r>
          </a:p>
          <a:p>
            <a:pPr algn="ctr">
              <a:lnSpc>
                <a:spcPct val="110000"/>
              </a:lnSpc>
              <a:spcAft>
                <a:spcPts val="100"/>
              </a:spcAft>
            </a:pPr>
            <a:r>
              <a:rPr sz="1300" b="0">
                <a:solidFill>
                  <a:srgbClr val="556175"/>
                </a:solidFill>
                <a:latin typeface="맑은 고딕"/>
                <a:ea typeface="맑은 고딕"/>
                <a:cs typeface="맑은 고딕"/>
              </a:rPr>
              <a:t>항목마다 근거 시각</a:t>
            </a:r>
          </a:p>
        </p:txBody>
      </p:sp>
      <p:sp>
        <p:nvSpPr>
          <p:cNvPr id="15" name="TextBox 14"/>
          <p:cNvSpPr txBox="1"/>
          <p:nvPr/>
        </p:nvSpPr>
        <p:spPr>
          <a:xfrm>
            <a:off x="9095958" y="4275002"/>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다음 변경의 기준</a:t>
            </a:r>
          </a:p>
          <a:p>
            <a:pPr algn="ctr">
              <a:lnSpc>
                <a:spcPct val="110000"/>
              </a:lnSpc>
              <a:spcAft>
                <a:spcPts val="100"/>
              </a:spcAft>
            </a:pPr>
            <a:r>
              <a:rPr sz="1300" b="0">
                <a:solidFill>
                  <a:srgbClr val="556175"/>
                </a:solidFill>
                <a:latin typeface="맑은 고딕"/>
                <a:ea typeface="맑은 고딕"/>
                <a:cs typeface="맑은 고딕"/>
              </a:rPr>
              <a:t>다시 실행할 시나리오</a:t>
            </a:r>
          </a:p>
        </p:txBody>
      </p:sp>
      <p:sp>
        <p:nvSpPr>
          <p:cNvPr id="16" name="TextBox 15"/>
          <p:cNvSpPr txBox="1"/>
          <p:nvPr/>
        </p:nvSpPr>
        <p:spPr>
          <a:xfrm>
            <a:off x="9008682" y="590597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교대의 담당자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쪽</a:t>
            </a:r>
          </a:p>
          <a:p>
            <a:pPr algn="l">
              <a:lnSpc>
                <a:spcPct val="110000"/>
              </a:lnSpc>
              <a:spcAft>
                <a:spcPts val="400"/>
              </a:spcAft>
            </a:pPr>
            <a:r>
              <a:rPr sz="1400" b="0">
                <a:solidFill>
                  <a:srgbClr val="1F2A3A"/>
                </a:solidFill>
                <a:latin typeface="맑은 고딕"/>
                <a:ea typeface="맑은 고딕"/>
                <a:cs typeface="맑은 고딕"/>
              </a:rPr>
              <a:t>• 인수인계서는 다음 교대의 담당자가 읽는다</a:t>
            </a:r>
          </a:p>
          <a:p>
            <a:pPr algn="l">
              <a:lnSpc>
                <a:spcPct val="110000"/>
              </a:lnSpc>
              <a:spcAft>
                <a:spcPts val="400"/>
              </a:spcAft>
            </a:pPr>
            <a:r>
              <a:rPr sz="140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149850"/>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형식</a:t>
            </a:r>
          </a:p>
          <a:p>
            <a:pPr algn="l">
              <a:lnSpc>
                <a:spcPct val="110000"/>
              </a:lnSpc>
              <a:spcAft>
                <a:spcPts val="400"/>
              </a:spcAft>
            </a:pPr>
            <a:r>
              <a:rPr sz="1400" b="0">
                <a:solidFill>
                  <a:srgbClr val="1F2A3A"/>
                </a:solidFill>
                <a:latin typeface="맑은 고딕"/>
                <a:ea typeface="맑은 고딕"/>
                <a:cs typeface="맑은 고딕"/>
              </a:rPr>
              <a:t>• 사람이 읽는 것은 문서와 도표로 낸다</a:t>
            </a:r>
          </a:p>
          <a:p>
            <a:pPr algn="l">
              <a:lnSpc>
                <a:spcPct val="110000"/>
              </a:lnSpc>
              <a:spcAft>
                <a:spcPts val="400"/>
              </a:spcAft>
            </a:pPr>
            <a:r>
              <a:rPr sz="1400" b="0">
                <a:solidFill>
                  <a:srgbClr val="1F2A3A"/>
                </a:solidFill>
                <a:latin typeface="맑은 고딕"/>
                <a:ea typeface="맑은 고딕"/>
                <a:cs typeface="맑은 고딕"/>
              </a:rPr>
              <a:t>• 시스템이 읽는 것은 항목 이름이 정해진 JSON으로 낸다</a:t>
            </a:r>
          </a:p>
        </p:txBody>
      </p:sp>
      <p:sp>
        <p:nvSpPr>
          <p:cNvPr id="16" name="Rounded Rectangle 15"/>
          <p:cNvSpPr/>
          <p:nvPr/>
        </p:nvSpPr>
        <p:spPr>
          <a:xfrm>
            <a:off x="4566818" y="5149850"/>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이어지는 일</a:t>
            </a:r>
          </a:p>
          <a:p>
            <a:pPr algn="l">
              <a:lnSpc>
                <a:spcPct val="110000"/>
              </a:lnSpc>
              <a:spcAft>
                <a:spcPts val="400"/>
              </a:spcAft>
            </a:pPr>
            <a:r>
              <a:rPr sz="1400" b="0">
                <a:solidFill>
                  <a:srgbClr val="1F2A3A"/>
                </a:solidFill>
                <a:latin typeface="맑은 고딕"/>
                <a:ea typeface="맑은 고딕"/>
                <a:cs typeface="맑은 고딕"/>
              </a:rPr>
              <a:t>• 추천안은 승인으로</a:t>
            </a:r>
          </a:p>
          <a:p>
            <a:pPr algn="l">
              <a:lnSpc>
                <a:spcPct val="110000"/>
              </a:lnSpc>
              <a:spcAft>
                <a:spcPts val="400"/>
              </a:spcAft>
            </a:pPr>
            <a:r>
              <a:rPr sz="1400" b="0">
                <a:solidFill>
                  <a:srgbClr val="1F2A3A"/>
                </a:solidFill>
                <a:latin typeface="맑은 고딕"/>
                <a:ea typeface="맑은 고딕"/>
                <a:cs typeface="맑은 고딕"/>
              </a:rPr>
              <a:t>• 품질 대응 카드는 조사 요청으로</a:t>
            </a:r>
          </a:p>
          <a:p>
            <a:pPr algn="l">
              <a:lnSpc>
                <a:spcPct val="110000"/>
              </a:lnSpc>
              <a:spcAft>
                <a:spcPts val="400"/>
              </a:spcAft>
            </a:pPr>
            <a:r>
              <a:rPr sz="1400" b="0">
                <a:solidFill>
                  <a:srgbClr val="1F2A3A"/>
                </a:solidFill>
                <a:latin typeface="맑은 고딕"/>
                <a:ea typeface="맑은 고딕"/>
                <a:cs typeface="맑은 고딕"/>
              </a:rPr>
              <a:t>• 인수인계서는 다음 교대의 작업으로</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배운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호출 기록의 입력과 응답, 값의 신선도</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5일차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정해 둔 단계를 건너뛴다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6일차</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필요한 값을 받지 못했다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서버의 연결과 허용 목록</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6일차</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묻지 않고 확정했다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금지 조건과 사람의 개입 지점</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7일차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고친 뒤 기존 요청의 결과가 달라졌다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회귀 시험에서 실패한 시나리오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8일차</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기준과 한계는 사람이 실행 전에 정하고, 그 안에서 어느 도구를 언제 부르고 어떻게 설명할지는 에이전트가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목표와 스킬의 절차</a:t>
            </a:r>
          </a:p>
          <a:p>
            <a:pPr algn="l">
              <a:lnSpc>
                <a:spcPct val="110000"/>
              </a:lnSpc>
              <a:spcAft>
                <a:spcPts val="600"/>
              </a:spcAft>
            </a:pPr>
            <a:r>
              <a:rPr sz="1450" b="0">
                <a:solidFill>
                  <a:srgbClr val="1F2A3A"/>
                </a:solidFill>
                <a:latin typeface="맑은 고딕"/>
                <a:ea typeface="맑은 고딕"/>
                <a:cs typeface="맑은 고딕"/>
              </a:rPr>
              <a:t>• 연결할 도구와 권한의 범위</a:t>
            </a:r>
          </a:p>
          <a:p>
            <a:pPr algn="l">
              <a:lnSpc>
                <a:spcPct val="110000"/>
              </a:lnSpc>
              <a:spcAft>
                <a:spcPts val="600"/>
              </a:spcAft>
            </a:pPr>
            <a:r>
              <a:rPr sz="1450" b="0">
                <a:solidFill>
                  <a:srgbClr val="1F2A3A"/>
                </a:solidFill>
                <a:latin typeface="맑은 고딕"/>
                <a:ea typeface="맑은 고딕"/>
                <a:cs typeface="맑은 고딕"/>
              </a:rPr>
              <a:t>• 계약과 금지 조건</a:t>
            </a:r>
          </a:p>
          <a:p>
            <a:pPr algn="l">
              <a:lnSpc>
                <a:spcPct val="110000"/>
              </a:lnSpc>
              <a:spcAft>
                <a:spcPts val="600"/>
              </a:spcAft>
            </a:pPr>
            <a:r>
              <a:rPr sz="145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이번에 부를 도구와 입력</a:t>
            </a:r>
          </a:p>
          <a:p>
            <a:pPr algn="l">
              <a:lnSpc>
                <a:spcPct val="110000"/>
              </a:lnSpc>
              <a:spcAft>
                <a:spcPts val="600"/>
              </a:spcAft>
            </a:pPr>
            <a:r>
              <a:rPr sz="1450" b="0">
                <a:solidFill>
                  <a:srgbClr val="1F2A3A"/>
                </a:solidFill>
                <a:latin typeface="맑은 고딕"/>
                <a:ea typeface="맑은 고딕"/>
                <a:cs typeface="맑은 고딕"/>
              </a:rPr>
              <a:t>• 결과를 보고 고르는 다음 행동</a:t>
            </a:r>
          </a:p>
          <a:p>
            <a:pPr algn="l">
              <a:lnSpc>
                <a:spcPct val="110000"/>
              </a:lnSpc>
              <a:spcAft>
                <a:spcPts val="600"/>
              </a:spcAft>
            </a:pPr>
            <a:r>
              <a:rPr sz="1450" b="0">
                <a:solidFill>
                  <a:srgbClr val="1F2A3A"/>
                </a:solidFill>
                <a:latin typeface="맑은 고딕"/>
                <a:ea typeface="맑은 고딕"/>
                <a:cs typeface="맑은 고딕"/>
              </a:rPr>
              <a:t>• 다시 시도할지, 보류할지</a:t>
            </a:r>
          </a:p>
          <a:p>
            <a:pPr algn="l">
              <a:lnSpc>
                <a:spcPct val="110000"/>
              </a:lnSpc>
              <a:spcAft>
                <a:spcPts val="600"/>
              </a:spcAft>
            </a:pPr>
            <a:r>
              <a:rPr sz="1450" b="0">
                <a:solidFill>
                  <a:srgbClr val="1F2A3A"/>
                </a:solidFill>
                <a:latin typeface="맑은 고딕"/>
                <a:ea typeface="맑은 고딕"/>
                <a:cs typeface="맑은 고딕"/>
              </a:rPr>
              <a:t>• 설명의 문장</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 MCP는 일을 해내게 하는 문제를, HITL, SDD, BDD는 그 일을 믿고 맡기게 하는 문제를 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에이전트</a:t>
            </a:r>
          </a:p>
          <a:p>
            <a:pPr algn="ctr">
              <a:lnSpc>
                <a:spcPct val="110000"/>
              </a:lnSpc>
              <a:spcAft>
                <a:spcPts val="400"/>
              </a:spcAft>
            </a:pPr>
            <a:r>
              <a:rPr sz="1200" b="0">
                <a:solidFill>
                  <a:srgbClr val="1F2A3A"/>
                </a:solidFill>
                <a:latin typeface="맑은 고딕"/>
                <a:ea typeface="맑은 고딕"/>
                <a:cs typeface="맑은 고딕"/>
              </a:rPr>
              <a:t>답만 하던 모델이</a:t>
            </a:r>
          </a:p>
          <a:p>
            <a:pPr algn="ctr">
              <a:lnSpc>
                <a:spcPct val="110000"/>
              </a:lnSpc>
              <a:spcAft>
                <a:spcPts val="400"/>
              </a:spcAft>
            </a:pPr>
            <a:r>
              <a:rPr sz="1200" b="0">
                <a:solidFill>
                  <a:srgbClr val="1F2A3A"/>
                </a:solidFill>
                <a:latin typeface="맑은 고딕"/>
                <a:ea typeface="맑은 고딕"/>
                <a:cs typeface="맑은 고딕"/>
              </a:rPr>
              <a:t>목표까지 수행한다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스킬</a:t>
            </a:r>
          </a:p>
          <a:p>
            <a:pPr algn="ctr">
              <a:lnSpc>
                <a:spcPct val="110000"/>
              </a:lnSpc>
              <a:spcAft>
                <a:spcPts val="400"/>
              </a:spcAft>
            </a:pPr>
            <a:r>
              <a:rPr sz="1200" b="0">
                <a:solidFill>
                  <a:srgbClr val="1F2A3A"/>
                </a:solidFill>
                <a:latin typeface="맑은 고딕"/>
                <a:ea typeface="맑은 고딕"/>
                <a:cs typeface="맑은 고딕"/>
              </a:rPr>
              <a:t>실행마다 다르던</a:t>
            </a:r>
          </a:p>
          <a:p>
            <a:pPr algn="ctr">
              <a:lnSpc>
                <a:spcPct val="110000"/>
              </a:lnSpc>
              <a:spcAft>
                <a:spcPts val="400"/>
              </a:spcAft>
            </a:pPr>
            <a:r>
              <a:rPr sz="1200" b="0">
                <a:solidFill>
                  <a:srgbClr val="1F2A3A"/>
                </a:solidFill>
                <a:latin typeface="맑은 고딕"/>
                <a:ea typeface="맑은 고딕"/>
                <a:cs typeface="맑은 고딕"/>
              </a:rPr>
              <a:t>순서가 정해진다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MCP</a:t>
            </a:r>
          </a:p>
          <a:p>
            <a:pPr algn="ctr">
              <a:lnSpc>
                <a:spcPct val="110000"/>
              </a:lnSpc>
              <a:spcAft>
                <a:spcPts val="400"/>
              </a:spcAft>
            </a:pPr>
            <a:r>
              <a:rPr sz="1200" b="0">
                <a:solidFill>
                  <a:srgbClr val="1F2A3A"/>
                </a:solidFill>
                <a:latin typeface="맑은 고딕"/>
                <a:ea typeface="맑은 고딕"/>
                <a:cs typeface="맑은 고딕"/>
              </a:rPr>
              <a:t>시스템의 값을</a:t>
            </a:r>
          </a:p>
          <a:p>
            <a:pPr algn="ctr">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HITL</a:t>
            </a:r>
          </a:p>
          <a:p>
            <a:pPr algn="ctr">
              <a:lnSpc>
                <a:spcPct val="110000"/>
              </a:lnSpc>
              <a:spcAft>
                <a:spcPts val="400"/>
              </a:spcAft>
            </a:pPr>
            <a:r>
              <a:rPr sz="1200" b="0">
                <a:solidFill>
                  <a:srgbClr val="1F2A3A"/>
                </a:solidFill>
                <a:latin typeface="맑은 고딕"/>
                <a:ea typeface="맑은 고딕"/>
                <a:cs typeface="맑은 고딕"/>
              </a:rPr>
              <a:t>실행의 결정을</a:t>
            </a:r>
          </a:p>
          <a:p>
            <a:pPr algn="ctr">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SDD</a:t>
            </a:r>
          </a:p>
          <a:p>
            <a:pPr algn="ctr">
              <a:lnSpc>
                <a:spcPct val="110000"/>
              </a:lnSpc>
              <a:spcAft>
                <a:spcPts val="400"/>
              </a:spcAft>
            </a:pPr>
            <a:r>
              <a:rPr sz="1200" b="0">
                <a:solidFill>
                  <a:srgbClr val="1F2A3A"/>
                </a:solidFill>
                <a:latin typeface="맑은 고딕"/>
                <a:ea typeface="맑은 고딕"/>
                <a:cs typeface="맑은 고딕"/>
              </a:rPr>
              <a:t>지킬 것을</a:t>
            </a:r>
          </a:p>
          <a:p>
            <a:pPr algn="ctr">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BDD</a:t>
            </a:r>
          </a:p>
          <a:p>
            <a:pPr algn="ctr">
              <a:lnSpc>
                <a:spcPct val="110000"/>
              </a:lnSpc>
              <a:spcAft>
                <a:spcPts val="400"/>
              </a:spcAft>
            </a:pPr>
            <a:r>
              <a:rPr sz="1200" b="0">
                <a:solidFill>
                  <a:srgbClr val="1F2A3A"/>
                </a:solidFill>
                <a:latin typeface="맑은 고딕"/>
                <a:ea typeface="맑은 고딕"/>
                <a:cs typeface="맑은 고딕"/>
              </a:rPr>
              <a:t>적은 대로 하는지</a:t>
            </a:r>
          </a:p>
          <a:p>
            <a:pPr algn="ctr">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믿고 쓸 수 있는 에이전트의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에이전트를 믿고 쓰는 근거는 적어 둔 기준과, 바꿀 때마다 그 기준을 다시 통과한 실행의 기록이다.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671318"/>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671318"/>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정한 것을 적어 두고,</a:t>
            </a:r>
          </a:p>
          <a:p>
            <a:pPr algn="ctr">
              <a:lnSpc>
                <a:spcPct val="110000"/>
              </a:lnSpc>
            </a:pPr>
            <a:r>
              <a:rPr sz="2600" b="1">
                <a:solidFill>
                  <a:srgbClr val="13294B"/>
                </a:solidFill>
                <a:latin typeface="맑은 고딕"/>
                <a:ea typeface="맑은 고딕"/>
                <a:cs typeface="맑은 고딕"/>
              </a:rPr>
              <a:t>그대로 행동하는지 실행으로 확인한다</a:t>
            </a:r>
          </a:p>
        </p:txBody>
      </p:sp>
      <p:sp>
        <p:nvSpPr>
          <p:cNvPr id="8" name="Oval 7"/>
          <p:cNvSpPr/>
          <p:nvPr/>
        </p:nvSpPr>
        <p:spPr>
          <a:xfrm>
            <a:off x="548640" y="4408678"/>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562297"/>
            <a:ext cx="424281" cy="424281"/>
          </a:xfrm>
          <a:prstGeom prst="rect">
            <a:avLst/>
          </a:prstGeom>
        </p:spPr>
      </p:pic>
      <p:sp>
        <p:nvSpPr>
          <p:cNvPr id="10" name="TextBox 9"/>
          <p:cNvSpPr txBox="1"/>
          <p:nvPr/>
        </p:nvSpPr>
        <p:spPr>
          <a:xfrm>
            <a:off x="1371600"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적어 둔 기준</a:t>
            </a:r>
          </a:p>
          <a:p>
            <a:pPr algn="l">
              <a:lnSpc>
                <a:spcPct val="110000"/>
              </a:lnSpc>
              <a:spcAft>
                <a:spcPts val="400"/>
              </a:spcAft>
            </a:pPr>
            <a:r>
              <a:rPr sz="1400" b="0">
                <a:solidFill>
                  <a:srgbClr val="1F2A3A"/>
                </a:solidFill>
                <a:latin typeface="맑은 고딕"/>
                <a:ea typeface="맑은 고딕"/>
                <a:cs typeface="맑은 고딕"/>
              </a:rPr>
              <a:t>목표, 스킬, 명세</a:t>
            </a:r>
          </a:p>
        </p:txBody>
      </p:sp>
      <p:sp>
        <p:nvSpPr>
          <p:cNvPr id="11" name="Oval 10"/>
          <p:cNvSpPr/>
          <p:nvPr/>
        </p:nvSpPr>
        <p:spPr>
          <a:xfrm>
            <a:off x="4338218" y="4408678"/>
            <a:ext cx="731520" cy="731520"/>
          </a:xfrm>
          <a:prstGeom prst="ellipse">
            <a:avLst/>
          </a:prstGeom>
          <a:solidFill>
            <a:srgbClr val="E7F3FD"/>
          </a:solidFill>
          <a:ln>
            <a:noFill/>
          </a:ln>
        </p:spPr>
        <p:txBody>
          <a:bodyPr rtlCol="0" anchor="ctr"/>
          <a:lstStyle/>
          <a:p>
            <a:pPr algn="ctr"/>
          </a:p>
        </p:txBody>
      </p:sp>
      <p:pic>
        <p:nvPicPr>
          <p:cNvPr id="12" name="아이콘:shield-check" descr="shield-check_13294B_1.6.png"/>
          <p:cNvPicPr>
            <a:picLocks noChangeAspect="1"/>
          </p:cNvPicPr>
          <p:nvPr/>
        </p:nvPicPr>
        <p:blipFill>
          <a:blip r:embed="rId4"/>
          <a:stretch>
            <a:fillRect/>
          </a:stretch>
        </p:blipFill>
        <p:spPr>
          <a:xfrm>
            <a:off x="4491837" y="4562297"/>
            <a:ext cx="424281" cy="424281"/>
          </a:xfrm>
          <a:prstGeom prst="rect">
            <a:avLst/>
          </a:prstGeom>
        </p:spPr>
      </p:pic>
      <p:sp>
        <p:nvSpPr>
          <p:cNvPr id="13" name="TextBox 12"/>
          <p:cNvSpPr txBox="1"/>
          <p:nvPr/>
        </p:nvSpPr>
        <p:spPr>
          <a:xfrm>
            <a:off x="5161178"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실행 중의 방어</a:t>
            </a:r>
          </a:p>
          <a:p>
            <a:pPr algn="l">
              <a:lnSpc>
                <a:spcPct val="110000"/>
              </a:lnSpc>
              <a:spcAft>
                <a:spcPts val="400"/>
              </a:spcAft>
            </a:pPr>
            <a:r>
              <a:rPr sz="1400" b="0">
                <a:solidFill>
                  <a:srgbClr val="1F2A3A"/>
                </a:solidFill>
                <a:latin typeface="맑은 고딕"/>
                <a:ea typeface="맑은 고딕"/>
                <a:cs typeface="맑은 고딕"/>
              </a:rPr>
              <a:t>출력 계약의 검사, 사람의 승인</a:t>
            </a:r>
          </a:p>
        </p:txBody>
      </p:sp>
      <p:sp>
        <p:nvSpPr>
          <p:cNvPr id="14" name="Oval 13"/>
          <p:cNvSpPr/>
          <p:nvPr/>
        </p:nvSpPr>
        <p:spPr>
          <a:xfrm>
            <a:off x="8127796" y="4408678"/>
            <a:ext cx="731520" cy="731520"/>
          </a:xfrm>
          <a:prstGeom prst="ellipse">
            <a:avLst/>
          </a:prstGeom>
          <a:solidFill>
            <a:srgbClr val="E7F3FD"/>
          </a:solidFill>
          <a:ln>
            <a:noFill/>
          </a:ln>
        </p:spPr>
        <p:txBody>
          <a:bodyPr rtlCol="0" anchor="ctr"/>
          <a:lstStyle/>
          <a:p>
            <a:pPr algn="ctr"/>
          </a:p>
        </p:txBody>
      </p:sp>
      <p:pic>
        <p:nvPicPr>
          <p:cNvPr id="15" name="아이콘:repeat" descr="repeat_13294B_1.6.png"/>
          <p:cNvPicPr>
            <a:picLocks noChangeAspect="1"/>
          </p:cNvPicPr>
          <p:nvPr/>
        </p:nvPicPr>
        <p:blipFill>
          <a:blip r:embed="rId5"/>
          <a:stretch>
            <a:fillRect/>
          </a:stretch>
        </p:blipFill>
        <p:spPr>
          <a:xfrm>
            <a:off x="8281416" y="4562297"/>
            <a:ext cx="424281" cy="424281"/>
          </a:xfrm>
          <a:prstGeom prst="rect">
            <a:avLst/>
          </a:prstGeom>
        </p:spPr>
      </p:pic>
      <p:sp>
        <p:nvSpPr>
          <p:cNvPr id="16" name="TextBox 15"/>
          <p:cNvSpPr txBox="1"/>
          <p:nvPr/>
        </p:nvSpPr>
        <p:spPr>
          <a:xfrm>
            <a:off x="8950756"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되풀이한 확인</a:t>
            </a:r>
          </a:p>
          <a:p>
            <a:pPr algn="l">
              <a:lnSpc>
                <a:spcPct val="110000"/>
              </a:lnSpc>
              <a:spcAft>
                <a:spcPts val="400"/>
              </a:spcAft>
            </a:pPr>
            <a:r>
              <a:rPr sz="1400" b="0">
                <a:solidFill>
                  <a:srgbClr val="1F2A3A"/>
                </a:solidFill>
                <a:latin typeface="맑은 고딕"/>
                <a:ea typeface="맑은 고딕"/>
                <a:cs typeface="맑은 고딕"/>
              </a:rPr>
              <a:t>시나리오와 회귀 시험</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영문 용어의 정식 명칭, 그리고 그 용어가 행동 검증에서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행동 검증에서</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BDD</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Behavior-Driven Development</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시나리오로 행동 확인</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Gherkin</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Given · When · Then 서식</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시나리오를 적는 서식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단언</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Assertion</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기대값과 결과의 대조</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경계값 분석</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Boundary Value Analysis</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기준값 바로 안팎의 입력</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회귀 시험</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Regression Test</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뒤의 재실행</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데이터 패브릭</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Data Fabric</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여러 출처의 연결</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새 시나리오만 통과한 변경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정비 조건을 더한 뒤 긴급 시나리오는 통과했고, 일반 요청과 거절의 시나리오는 아직 다시 실행하지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지금 내릴 수 있는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새 기능이 통과했으므로 변경을 내보낸다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 시나리오를 열 번 더 실행해 평균을 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시나리오를 모두 다시 실행한 뒤에 판단한다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일반 요청의 기대값을 긴급 조건에 맞추어 고친다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두 실행의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종류의 경보 두 건에서 둘째 실행은 설명 문장과 도구 호출 순서가 달랐고, 결과에 decision_id 항목이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시험이 실패로 세어야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decision_id 항목이 빠진 것</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설명 문장이 첫 실행과 다른 것</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도구를 부른 순서가 다른 것</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가지 모두</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실패한 무응답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「무응답이면 지연 알림만 보내고 기다린다」인데, 기능을 고친 뒤에는 10분 뒤 처리 건이 거절로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맞는 조치는?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시나리오의 기대값을 「거절로 닫힌다」로 고친다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무응답 시나리오를 시험 목록에서 뺀다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지연 시간을 30분으로 늘려 다시 실행한다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기대값은 그대로 두고 고친 기능에서 원인을 찾는다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통과가 알려 주는 범위, 표현 차이와 계약 위반의 구분, 기대값을 정하는 쪽을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 시나리오의 통과는 새 행동만 알려 준다. 기존 행동은 기존 시나리오를 다시 실행해야 확인된다.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문장과 호출 순서는 표현 차이다. 출력 계약이 정한 항목이 빠진 것은 계약 위반이다.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기대값은 명세에서 온다. 명세가 그대로이면 기대값을 바꾸지 않고 구현을 고친다.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