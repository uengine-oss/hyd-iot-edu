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네 가지입니다. 먼저 배운 내용을 남기는 기록 방법을 정합니다. 그다음에는 HYD-01의 유온이 오르는 사건 하나를 따라가며 값의 경로, 경보 이후의 판단, 관계의 표현을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 필기를 넘겨 정리한 문서는 보기에는 좋아도 읽고 이해하는 일은 그대로 남습니다. 자료를 덮고 자신의 말로 써 보면 문장이 끊기는 자리가 드러나고, 그 자리가 공부할 범위입니다. 이렇게 쓴 기록을 분류해 두고 다시 찾아 쓰는 것이 지식 자산화입니다.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기준은 둘입니다. 자료를 보지 않고 쓸 수 있는지, 말로 설명할 수 있는지입니다. 하나라도 막히면 그 자리가 아직 모르는 자리이고, 그 자리만 다시 공부해 고쳐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AI를 쓰지 말라는 것이 아니라 순서를 바꾸라는 것입니다. 먼저 물으면 답을 읽고 끝나서 자신의 문장이 남지 않습니다. 아는 범위를 먼저 써서 AI에 보여 주면 틀린 곳과 빠진 곳이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내용을 절차로 묶으면 네 단계입니다. 서술하고, 막힌 자리를 표시하고, 그 자리만 보완하고, 다시 확인합니다. 확인을 통과한 개념만 이해한 것으로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기록할 것은 네 가지입니다. 개념 정의와 동작 원리는 오늘부터 쌓이고, 실습 결과와 오류 해결 과정은 랩이 시작되면 늘어납니다. 오류의 원인과 해결 과정은 같은 문제를 다시 만났을 때 가장 먼저 찾게 되는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노션에서 기록을 쌓는 단위는 데이터베이스입니다. 기록 한 건이 항목 하나이고, 모든 항목이 같은 속성 칸을 갖습니다. 학습 노트의 속성은 분야, 이해도, 생성 일시이며, 항목을 열면 본문을 가진 페이지가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저장된 내용과 보여 주는 모양이 나뉘어 있습니다. 표, 갤러리, 보드는 복사본이 아니라 같은 데이터를 보는 세 가지 방법입니다. 그래서 한 보기에서 고친 값이 다른 보기에도 그대로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템플릿은 새 항목을 만들 때 본문에 미리 채워지는 양식입니다. 왼쪽이 이 과정에서 쓸 양식의 한 예입니다. 양식을 한번 정하면 모든 기록에 같은 틀을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속성으로 분류해 둔 효과가 여기서 나옵니다. 이해도가 설명 가능이 아닌 항목만 남기는 필터를 걸면 다시 공부할 목록이 나옵니다. 확인을 통과해 이해도를 올린 항목은 그 목록에서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공개 방식은 둘입니다. 공유는 지정한 사람에게만 권한을 주고, 게시는 링크만 있으면 누구나 볼 수 있게 합니다. 게시하면 페이지 안의 데이터베이스 항목도 함께 보이므로 접속 키와 계정 정보는 노트에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 만드는 것은 내용이 아니라 내용이 들어갈 구조입니다. 과정 홈과 세 구획, 학습 노트 데이터베이스를 만들고 첫 기록 한 건을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선행 교육에서 배운 내용을 먼저 되짚겠습니다. 설비에서 생긴 물리량을 센서가 재고, PLC가 그 값을 읽어 설비를 제어하며, 관제 화면이 값을 보여 주고 조작을 받습니다. 이 수업은 그다음, 곧 그 값이 어디에 쌓이고 판단과 조치로 어떻게 이어지는지를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 전체가 사건 하나를 따라갑니다. 유압 설비 HYD-01의 유온이 정상값 48 ℃에서 오르기 시작하는 사건입니다. 그 값이 어디서 생기고, 어디에 쌓이고, 누가 알아차리는지를 순서대로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시스템 전체를 먼저 보겠습니다. 아홉 개의 기능 계층이 있고, 아래일수록 설비에 가깝고 위로 갈수록 판단과 실행에 가깝습니다. 오른쪽 세 칸은 보안 영역이며 파란 점이 그 계층이 놓인 영역입니다. 지금은 이름만 보아 두고 유온 한 값을 따라 올라가며 하나씩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TS1이 설비의 어느 자리에서 생기는 값인지 보겠습니다. 탱크, 펌프, 부하, 오일 쿨러, 팬이 있고 TS1은 쿨러로 들어가기 직전의 작동유 온도입니다. 이 그림에서 작동유가 도는 길과 열이 빠지는 자리를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탱크와 펌프를 봅니다. 탱크는 작동유를 담아 두고, 펌프가 그 작동유를 빨아올려 압력을 걸어 위쪽의 부하로 보냅니다. 다음으로 부하에서 뜨거워져 돌아오는 작동유가 오일 쿨러의 관을 지나는 동안 팬이 보내는 바람에 열을 내줍니다. 쿨러가 열을 충분히 내보내지 못하면 덜 식은 작동유가 탱크로 돌아가 다시 돌고, 쿨러 입구에서 재는 TS1이 조금씩 오릅니다. 냉각 효율 CE가 떨어지고 유온이 오르는 것이 이 사건의 모습입니다.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센서가 잰 값을 가장 먼저 받는 것은 설비 옆의 PLC입니다. PLC는 값을 읽어 설비를 제어하고, 위험한 값이 되면 인터록으로 설비를 세웁니다. HYD에서는 plant-sim이 설비와 PLC의 일을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HYD-01의 인터록은 세 가지입니다. 유온이 65 ℃를 넘거나, 토출 압력이 130 bar 아래로 떨어지거나, 팬 진동이 2.0 mm/s 이상이 되면 PLC가 설비를 세웁니다. 이 가운데 유온 65 ℃와 팬 진동 2.0이 뒤에서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코드 칸의 위쪽 태그 값을 봅니다. 센서가 잰 값이 태그마다 따로 올라오고, 유온 TS1과 냉각 효율 CE, 토출 압력 PS1과 팬 진동 VS1에는 각각 단위와 정상값이 있습니다. 이 단원은 TS1과 CE를 따라가고 PS1과 VS1은 원인을 가릴 때 다시 나옵니다. 다음으로 아래쪽 운전 상태입니다. 원격 자동 모드로 운전 중이고 팬 속도 60 %, 부하 90 %, 인터록은 통과 상태이며, 이 운전 상태는 조치를 내릴 수 있는지 판단할 때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값을 받아야 할 곳은 운전 화면과 수집 서비스 두 군데이고 앞으로 더 늘 수 있습니다. 보내는 쪽이 받는 쪽을 직접 연결하면 받는 쪽이 늘 때마다 설비 쪽 프로그램을 고쳐야 합니다. 가운데에 중개 서버를 두면 이 문제가 사라집니다. 이 방식의 이름이 MQTT입니다.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중개 서버가 브로커이고, HYD의 브로커는 EMQX입니다. 보내는 쪽인 발행자는 토픽이라는 주소를 붙여 브로커에 보내고, 받는 쪽인 구독자는 원하는 토픽을 받습니다. 그림에서 흐린 부분은 아직 다루지 않은 구간입니다. 비유 제안: 우체국의 사서함. 닮은 점은 받는 사람의 위치를 몰라도 번호만 알면 된다는 것이고, 다른 점은 브로커가 메시지를 보관하지 않고 바로 넘긴다는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토픽 이름을 뜯어 보면 네 칸입니다. 공장, 설비, 종류, 태그 이름입니다. HYD에는 같은 구조의 유압 파워팩이 세 대 있어서 설비 자리만 hyd01, hyd02, hyd03으로 바뀝니다. 구독자는 이 주소를 보고 필요한 값만 골라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순서로 보면 세 걸음입니다. 받는 쪽이 먼저 받고 싶은 토픽을 브로커에 등록합니다. 보내는 쪽은 값을 토픽에 실어 브로커로 보냅니다. 브로커는 그 토픽을 등록해 둔 구독자 모두에게 메시지를 넘깁니다. 유온은 이렇게 1초에 한 번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브로커까지 왔지만 분석하고 저장하는 서버는 브로커에 직접 붙지 않습니다. IT 쪽은 외부와 닿을 수 있어서 침해될 가능성이 있고, OT는 설비를 직접 움직이기 때문에 잘못된 명령이 곧 사고입니다. 그래서 둘을 직접 잇지 않고 사이에 구역을 하나 둡니다.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영역 사이의 구역이 DMZ입니다. DMZ의 connect-ingest가 EMQX를 구독해 받은 메시지를 IT의 이벤트 로그에 옮겨 적습니다. 값은 OT에서 IT로만 옮겨지고 반대로는 쓰지 않습니다. 비유 제안: 건물의 안내 데스크. 닮은 점은 정해진 창구를 거친다는 것이고, 다른 점은 사람을 들여보내는 것이 아니라 값을 한 방향으로 옮겨 적는다는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이벤트 로그라고 부른 것이 Redpanda입니다. 위가 EMQX가 전달한 메시지이고 아래가 Redpanda에 쌓인 레코드입니다. 토픽 경로에 있던 설비와 태그 이름이 레코드에서는 본문 안으로 들어갑니다. 값 55.71은 뒤에서 볼 경보가 난 순간의 유온입니다.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더 옮겨 적는 이유가 여기에 있습니다. 브로커는 전달이 일이어서 넘기고 나면 값을 갖고 있지 않습니다. 이벤트 로그는 보관이 일이어서 저장 서비스와 감지기가 같은 값을 각자 읽을 수 있습니다. 비유 제안: 생방송과 녹화본. 닮은 점은 하나는 그 순간에만 전달되고 하나는 나중에 다시 볼 수 있다는 것이고, 다른 점은 로그의 기록도 보존 기간이 지나면 지워진다는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Redpanda에 쌓인 값을 읽어 가는 곳이 둘입니다. TimescaleDB는 값을 시각과 함께 저장하고, detector는 같은 값을 읽어 이상을 감지합니다. 두 가지를 하나씩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모습은 단순합니다. 값 하나가 한 줄이고, 줄마다 시각과 설비와 태그 이름과 값이 있습니다. 강조한 줄이 경보가 난 순간의 유온 55.71입니다. Grafana의 추세선은 이 줄들을 시각 순서로 이은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오른쪽 맨 위의 조건 셋을 봅니다. 유온이 55 ℃를 넘고, 냉각 효율이 70 % 아래이며, 유온이 오르는 중이어야 쿨러 성능 저하로 봅니다. 유온만 높고 냉각 효율이 정상이면 이 경보는 나지 않습니다. 다음으로 그래프에서 유온이 55 ℃를 넘은 11시 13분 4초와, 4초 뒤인 11시 13분 8초의 경보를 차례로 짚습니다. 그 사이 조건이 계속 맞는지를 지켜본 것이며, 값이 잠깐 튀었다가 돌아오는 경우에 경보가 울리지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유온을 사람이 보는 화면이 둘입니다. FUXA는 EMQX에서 받은 지금의 값을 보여 주고 운전원의 조작을 받습니다. Grafana는 TimescaleDB에 쌓인 이력과 추세를 보여 줍니다. 지금 무슨 값인지는 FUXA에서, 어떻게 변해 왔는지는 Grafana에서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유온이 오를 때 반응하는 장치가 셋입니다. FUXA의 알람, detector의 경보, PLC의 인터록입니다. 기준도 목적도 서로 다릅니다. 세 장치를 반응하는 온도 순서로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기준을 온도 순서로 놓으면 55, 60, 65입니다. detector의 경보가 가장 낮은 온도에서 먼저 반응하고, 그다음이 화면의 알람입니다. 마지막 65 ℃의 인터록은 설비를 세워 상태가 TRIP이 되며, 자동으로 풀리지 않고 유온이 55 ℃ 아래로 내려온 뒤 사람이 다시 걸어야 합니다. 인터록에 걸려 설비가 서기 전에 원인을 가리고 조치할 시간을 벌기 위한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따라온 경로를 데이터의 종류로 다시 묶겠습니다. 센서와 PLC가 만든 원천 데이터, 그것을 재료로 계산한 가공 데이터, 조건이 성립했다는 이상 이벤트, 그리고 판단 결과입니다. 데이터 리니지는 이 네 가지가 어디서 무엇을 재료로 만들어졌는지를 되짚을 수 있게 하는 내력입니다.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 데이터의 실제 예입니다. 위의 유온 값 셋은 센서가 잰 그대로의 원천 데이터입니다. detector는 이런 값 여러 개에서 기울기를 계산합니다. 기울기가 0보다 크면 오르는 중입니다. 앞에서 본 경보 조건의 추세가 이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한 건의 실제 내용입니다. 이 경보를 가리키는 식별자가 있고, 어느 설비에서 어떤 패턴이 성립했는지가 적혀 있습니다. 아래에는 그 순간의 유온과 냉각 효율이 근거로 붙어 있습니다. 경보만 보아도 무엇을 근거로 났는지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결과도 기록으로 남습니다. 경보, 사건, 판단, 명령, 작업지시에 각각 식별자가 붙습니다. 그래서 작업지시 하나에서 출발해 어떤 판단과 어떤 경보에서 나온 것인지를 거꾸로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올라가는 길과 반대 방향의 길이 하나 더 있습니다. 승인된 조치를 process가 명령으로 만들어 Redpanda에 기록하면, DMZ의 cmd-gateway가 검사한 뒤 OT의 브로커로 내보내고 PLC가 받습니다. 이 그림은 앞의 경로 그림과 방향이 반대여서 왼쪽이 IT입니다.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명령 한 건의 실제 내용입니다. 팬 속도를 100 %로 올리라는 내용과 함께, 어느 사건에서 나왔고 누가 승인했으며 언제까지 유효한지가 들어 있습니다. 명령이 늦게 도착해 상황이 바뀐 뒤에 실행되는 일을 막으려고 유효 시간을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cmd-gateway입니다. 명령의 형식, 유효 시간, 승인 기록, PLC의 운전 모드를 확인하고 하나라도 맞지 않으면 그 명령을 버립니다. 승인 기록을 따로 확인하므로 승인 없이 만들어진 명령은 설비에 닿지 못합니다. 다음으로 오른쪽의 PLC입니다. 관문을 지난 명령도 값이 허용 범위 안인지, 인터록에 걸려 있지 않은지를 다시 보며, 이 사건에서는 실행 완료와 인터록 통과라는 응답이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내려가는 길에 걸린 시간입니다. 승인이 11시 14분 56초, 명령이 57초, 응답이 58초입니다. 조치가 늦어진 것은 이 구간이 아니라 그 앞의 판단 구간이었습니다.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정리하겠습니다. 에이전트는 추천까지만 합니다. 담당자가 승인하거나 거절하고, 승인된 조치만 process가 명령으로 만듭니다. 사람의 판단을 거치게 하는 이 구조를 HITL이라고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OT입니다. 설비와 PLC, 브로커, 운전 화면이 있고 멈추지 않는 것과 안전이 먼저여서, IT 쪽이 모두 멈춰도 OT 안의 제어와 운전 화면은 그대로 동작합니다. 다음으로 DMZ에는 올라가는 길을 맡은 connect-ingest와 내려가는 길을 맡은 cmd-gateway 둘뿐이며, IT 서비스가 OT의 브로커와 PLC 명령 경로에 닿는 길은 이 둘뿐입니다. 마지막으로 IT는 기록하고 분석하고 판단하는 영역입니다. 뒤에서 볼 지식 그래프와 에이전트도 이 영역에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구성요소를 계층 그림에 놓으면 아래 여섯 계층이 채워집니다. 이 여섯 계층이 하는 일은 값을 재고, 전달하고, 저장하고, 보여 주고, 기준을 벗어나면 알리는 것입니다. 계층마다 받는 것과 내는 것을 이어서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1계층과 2계층을 봅니다. 1계층이 낸 태그 값과 운전 상태를 2계층이 받아 토픽에 실린 메시지로 내며, 한 계층이 낸 것이 다음 계층이 받는 것입니다. 다음으로 3계층은 값을 올리고, 기록하고, 명령을 내리는 세 가지 일을 맡아 DMZ와 IT 두 영역에 걸쳐 있고, 4계층과 5계층이 이 계층의 기록을 읽어 일합니다. 마지막으로 4계층과 5계층은 같은 기록을 읽어 하나는 가공 데이터와 경보를 내고 하나는 값을 표에 저장합니다. 4계층은 이상을 알릴 뿐 원인을 가리지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난 다음의 일은 위의 세 계층이 맡습니다. 7계층이 지식을 내면 8계층의 에이전트가 그것을 조회해 근거가 붙은 추천안을 내고, 9계층은 승인된 것만 명령으로 만들어 실행한 뒤 기록을 남깁니다. 이 과정 전체가 이 세 계층을 차례로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한 장으로 줄이면 길이 둘입니다. 실선이 값이 올라가는 길이고 점선이 명령이 내려가는 길입니다. 여기까지가 값을 모아 이상을 알리는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앞에서 그림으로 본 시스템을 실행합니다. 쓰는 도구는 VS Code, Claude Code, Python, Docker입니다. Docker Compose로 서비스를 올리고 포털이 열리는지를 확인하는 데까지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시연에서는 쿨러의 성능이 떨어지는 사건 한 건을 처음부터 끝까지 진행합니다. 볼 것은 화면의 다섯 단계입니다. 단계마다 어떤 정보가 쓰이고 무엇이 다음 단계로 넘어가는지를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 본 사건을 저장된 값으로 다시 보겠습니다. 위가 유온, 아래가 냉각 효율입니다. 경보는 11시 13분 8초에 났는데 조치는 108초 뒤에 승인되었고, 그동안 유온은 61.8 ℃까지 올랐습니다. 경보는 조건을 벗어났다는 사실만 알리기 때문입니다. 비유 제안: 체온계의 고열 표시. 닮은 점은 열이 난다는 사실은 바로 알지만 어떤 병인지는 진찰해야 안다는 것이고, 다른 점은 이 사건에서는 응급 조치를 고르는 데에도 원인 판단이 먼저 필요했다는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108초를 나누어 보면 94초가 원인을 가리고 조치안을 비교하는 데 쓰였고, 13초가 담당자의 승인을 기다리는 데 쓰였습니다. 시간이 걸린 것은 판단이었습니다. 이 단원은 그 판단에 무엇이 필요했는지를 풀어 갑니다.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앞 단원의 구조가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가린다는 것은 대조하는 일입니다. 후보마다 보아야 할 값이 있고, 그 값이 얼마이면 해당하는지의 기준이 있습니다. 잰 값을 그 기준에 대어 보면 됩니다. 이렇게 원인을 확인하는 데 쓰는 값과 기준을 증거라고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조치에는 두 가지가 있습니다. 이 사건에서 승인된 팬 최대 운전은 유온을 우선 낮추는 완화 조치입니다. 팬을 올려도 핀은 막힌 그대로여서 냉각 효율은 기준 아래에 남았습니다. 원인을 없애는 근본 조치는 핀 세척이고, 이것은 작업지시로 따로 등록되었습니다.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모자랐던 것을 세 낱말로 나누어 보겠습니다. 수치 그대로가 데이터, 의미가 붙은 것이 정보, 다른 대상과 이어져 판단에 쓸 수 있는 것이 지식입니다. 비유 제안: 병원의 검사 수치, 정상 범위를 벗어났다는 표시, 의사의 진단. 닮은 점은 수치와 진단이 별개의 일이라는 것이고, 다른 점은 설비에서는 조치를 정할 때 생산 일정까지 함께 따진다는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사건의 문장 다섯 개를 위에서부터 봅니다. 46.2만으로는 무엇을 잰 값인지, 단위가 무엇인지, 높은 것인지 알 수 없습니다. 대상과 단위가 붙으면 지금 얼마인가에, 기준이 붙으면 벗어났는가에 답할 수 있으며, 태그 이름과 경보 조건이 이 일을 해 줍니다. 아래 두 줄은 지식입니다. 냉각 효율이 낮고 팬 진동이 정상이면 핀 오염이고 핀 오염이면 세척한다는 것처럼, 원인과 조치로 이어진 지식만이 왜와 무엇을에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매뉴얼 문장을 봅니다. 원인 후보, 확인할 값, 기준이 모두 들어 있지만 사람이 읽고 해석해야 하는 문장입니다. 다음으로 오른쪽의 세 가지입니다. 이 경보가 났을 때 매뉴얼의 어느 대목을 보아야 하는지, 그 대목의 기준을 어느 태그의 값과 비교해야 하는지, 그 원인이면 어떤 조치가 맞는지는 어느 시스템에도 들어 있지 않습니다. 정보는 모두 어딘가에 있고, 없는 것은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지금까지 이어 온 것은 사람입니다. 숙련자는 증상을 읽고, 고장 유형을 짐작하고, 원인 후보를 꼽고, 증거를 대조한 다음 조치를 고릅니다. 상자 사이의 화살표 하나하나가 그 사람의 머릿속에 든 지식입니다.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적어 둘 곳으로 먼저 떠오르는 것이 표와 문서입니다. 둘 다 내용은 담지만 대상과 대상 사이의 연결이 형식으로 드러나 있지 않습니다. 고장 유형 하나에 원인이 셋이고 핀 오염에는 확인할 값이 둘이어서, 표에 적으면 같은 고장 유형이 네 줄에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따라가게 하려면 코드로 짜는 방법이 있습니다. 실행은 되지만 지식이 코드 안에 묻힙니다. 기준이 바뀔 때마다 개발자가 코드를 고쳐야 하고, 왜 그 원인으로 판단했는지의 근거가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뜻으로 쓴다는 것이 어떤 모습인지 보겠습니다. 현장에서는 같은 증상을 온도 상승이라고도 하고 과열이라고도 합니다. HYD의 온톨로지는 이 말들을 유온 상승이라는 하나의 대상에 묶어 둡니다. 그래서 누가 어떤 말로 부르든 같은 대상을 가리키게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문장으로 읽습니다. 화살표가 나가는 쪽이 주어, 관계 이름이 서술어, 들어가는 쪽이 목적어입니다. 읽어서 뜻이 통하면 제대로 적힌 관계입니다.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컴퓨터가 이 그래프로 원인과 조치를 찾는 과정을 세 걸음으로 보겠습니다. 출발점은 경보입니다. 경보에 실린 패턴 이름에서 DETECTS와 INDICATES를 따라가면 고장 유형에 이릅니다.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유형에서는 들어오는 CAUSES를 거슬러 원인 후보를 모읍니다. 원인마다 EVIDENCED_BY로 증거가 붙어 있고, 증거에는 어느 값을 어떤 기준과 비교할지가 적혀 있습니다. 방향은 뜻을 정하는 것이어서 필요하면 거슬러 가기도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증거에 적힌 대로 값을 읽어 기준과 대조하면 원인이 쿨러 핀 오염으로 확인됩니다. 조치는 고장 유형에서 MITIGATED_BY를 따라가 찾습니다. 판별 기준은 지식 그래프에 있고 잰 값은 TimescaleDB에서 읽어 옵니다. 경보에서 조치까지 컴퓨터는 여섯 종류의 대상을 다섯 관계로 건넜고, 숙련자가 머릿속에서 잇던 화살표가 이것입니다.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정의로 돌아가겠습니다. 지금까지 그림에서 본 노드의 종류와 화살표가 네 가지 가운데 종류와 관계입니다. 여기에 속성과 제약이 더해집니다. 넷을 같은 사건으로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종류와 속성입니다. HYD의 온톨로지는 설비 쪽, 진단 쪽, 조치 쪽으로 종류를 두고, 유온이라는 대상에는 단위와 정상값과 한계가 속성으로 적혀 있습니다. 다음으로 관계입니다. 같은 고장 유형에서 조치로 가는 선이라도 MITIGATED_BY는 우선 완화한다는 뜻이고 REMEDIED_BY는 근본적으로 없앤다는 뜻입니다. 마지막으로 제약은 CAUSES를 원인에서 고장 유형으로만 잇게 하므로 증상에서 조치로 그은 연결은 어긋나며, 관계 그림과 온톨로지를 가르는 것이 이 제약입니다.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지식 그래프는 증상과 원인만으로 끝나지 않습니다. 설비 HYD-01은 오일 쿨러를 구성 요소로 갖고, 오일 쿨러는 유온 센서 TS1로 계측됩니다. 설비가 무엇으로 이루어져 있는지가 대상과 관계로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가운데와 아래 줄이 진단과 조치입니다. 증상, 고장 유형, 원인, 조치 방법이 이어져 있고, 조치 방법은 매뉴얼 HM-8.5를 근거로 가리킵니다. 추천에 근거 문서가 함께 나오는 것은 이 연결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생기는 오해 세 가지입니다. 지식 그래프에는 값을 읽는 방법이 들어 있고 값은 저장소에서 읽습니다. 화살표의 방향은 뜻을 정하는 것이어서 조회할 때는 거슬러 가기도 합니다. 온톨로지는 후보와 근거를 찾게 해 줄 뿐이고 조치는 사람이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단원을 네 걸음으로 줄이겠습니다. 경보는 조건을 벗어났다는 사실만 알리고, 판단에 필요한 정보는 흩어져 있습니다. 그래서 대상과 관계를 명시적으로 정의하고, 컴퓨터가 그 관계를 따라 원인 후보와 조치에 이르게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이후의 과정은 오늘 본 것을 안에서부터 만들어 갑니다. 대상의 종류와 관계의 틀을 설계하고, 조치와 판단 기준을 잇고, 문서에서 지식을 뽑아 넣은 다음, 에이전트와 프로세스가 그 지식을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쓴 약어의 정식 명칭을 한곳에 모았습니다. 뜻은 앞에서 풀었으므로 여기서는 이름과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할 수 있는지를 묻는 문항입니다. 시연에서 에이전트가 한 일과 담당자의 승인 뒤에 일어난 일을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문항의 판단 기준입니다. 첫 문항은 경보와 원인을, 둘째 문항은 이름과 방향을, 셋째 문항은 추천과 실행을 구분하는지를 봅니다. 둘째 문항의 2번은 CAUSED_BY라는 이름에 방향을 원인에서 고장 유형으로 두어 뜻이 통하지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31.png"/><Relationship Id="rId5"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43.png"/><Relationship Id="rId5"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7.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52.png"/><Relationship Id="rId5" Type="http://schemas.openxmlformats.org/officeDocument/2006/relationships/image" Target="../media/image35.png"/><Relationship Id="rId6"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43.png"/><Relationship Id="rId7"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51.png"/><Relationship Id="rId6" Type="http://schemas.openxmlformats.org/officeDocument/2006/relationships/image" Target="../media/image41.png"/><Relationship Id="rId7"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4.png"/><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image" Target="../media/image43.png"/><Relationship Id="rId5"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57.png"/><Relationship Id="rId5"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0.png"/><Relationship Id="rId4" Type="http://schemas.openxmlformats.org/officeDocument/2006/relationships/image" Target="../media/image18.png"/><Relationship Id="rId5" Type="http://schemas.openxmlformats.org/officeDocument/2006/relationships/image" Target="../media/image61.png"/><Relationship Id="rId6"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17.png"/><Relationship Id="rId7"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image" Target="../media/image65.png"/><Relationship Id="rId5"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3.png"/><Relationship Id="rId4" Type="http://schemas.openxmlformats.org/officeDocument/2006/relationships/image" Target="../media/image66.png"/><Relationship Id="rId5" Type="http://schemas.openxmlformats.org/officeDocument/2006/relationships/image" Target="../media/image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6.png"/><Relationship Id="rId4" Type="http://schemas.openxmlformats.org/officeDocument/2006/relationships/image" Target="../media/image5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24.png"/><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3.png"/><Relationship Id="rId4" Type="http://schemas.openxmlformats.org/officeDocument/2006/relationships/image" Target="../media/image68.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5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6.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77.png"/><Relationship Id="rId4" Type="http://schemas.openxmlformats.org/officeDocument/2006/relationships/image" Target="../media/image7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74.png"/><Relationship Id="rId4" Type="http://schemas.openxmlformats.org/officeDocument/2006/relationships/image" Target="../media/image32.png"/><Relationship Id="rId5" Type="http://schemas.openxmlformats.org/officeDocument/2006/relationships/image" Target="../media/image1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38.png"/><Relationship Id="rId4" Type="http://schemas.openxmlformats.org/officeDocument/2006/relationships/image" Target="../media/image67.png"/><Relationship Id="rId5"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0.png"/><Relationship Id="rId4" Type="http://schemas.openxmlformats.org/officeDocument/2006/relationships/image" Target="../media/image29.png"/><Relationship Id="rId5"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8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5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8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28.png"/><Relationship Id="rId4" Type="http://schemas.openxmlformats.org/officeDocument/2006/relationships/image" Target="../media/image47.png"/><Relationship Id="rId5" Type="http://schemas.openxmlformats.org/officeDocument/2006/relationships/image" Target="../media/image87.png"/><Relationship Id="rId6" Type="http://schemas.openxmlformats.org/officeDocument/2006/relationships/image" Target="../media/image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8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8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35.png"/><Relationship Id="rId4" Type="http://schemas.openxmlformats.org/officeDocument/2006/relationships/image" Target="../media/image90.png"/><Relationship Id="rId5" Type="http://schemas.openxmlformats.org/officeDocument/2006/relationships/image" Target="../media/image8.png"/><Relationship Id="rId6" Type="http://schemas.openxmlformats.org/officeDocument/2006/relationships/image" Target="../media/image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79.png"/><Relationship Id="rId4" Type="http://schemas.openxmlformats.org/officeDocument/2006/relationships/image" Target="../media/image22.png"/><Relationship Id="rId5" Type="http://schemas.openxmlformats.org/officeDocument/2006/relationships/image" Target="../media/image91.png"/><Relationship Id="rId6"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92.png"/><Relationship Id="rId4" Type="http://schemas.openxmlformats.org/officeDocument/2006/relationships/image" Target="../media/image87.png"/><Relationship Id="rId5" Type="http://schemas.openxmlformats.org/officeDocument/2006/relationships/image" Target="../media/image9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데이터가 판단과 조치로</a:t>
            </a:r>
          </a:p>
          <a:p>
            <a:pPr algn="l">
              <a:lnSpc>
                <a:spcPct val="110000"/>
              </a:lnSpc>
            </a:pPr>
            <a:r>
              <a:rPr sz="4000" b="1">
                <a:solidFill>
                  <a:srgbClr val="FFFFFF"/>
                </a:solidFill>
                <a:latin typeface="맑은 고딕"/>
                <a:ea typeface="맑은 고딕"/>
                <a:cs typeface="맑은 고딕"/>
              </a:rPr>
              <a:t>이어지는 전체 흐름</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유온 한 값이 지나가는 경로에서 온톨로지의 필요성까지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설비의 값 하나가 지나가는 경로를 따라가며 경보 이후의 판단에 무엇이 더 필요한지를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notebook" descr="noteboo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자산화</a:t>
            </a:r>
          </a:p>
          <a:p>
            <a:pPr algn="l">
              <a:lnSpc>
                <a:spcPct val="110000"/>
              </a:lnSpc>
              <a:spcAft>
                <a:spcPts val="400"/>
              </a:spcAft>
            </a:pPr>
            <a:r>
              <a:rPr sz="1350" b="0">
                <a:solidFill>
                  <a:srgbClr val="1F2A3A"/>
                </a:solidFill>
                <a:latin typeface="맑은 고딕"/>
                <a:ea typeface="맑은 고딕"/>
                <a:cs typeface="맑은 고딕"/>
              </a:rPr>
              <a:t>• 배운 개념을 자신의 문장으로 기록한다</a:t>
            </a:r>
          </a:p>
          <a:p>
            <a:pPr algn="l">
              <a:lnSpc>
                <a:spcPct val="110000"/>
              </a:lnSpc>
              <a:spcAft>
                <a:spcPts val="400"/>
              </a:spcAft>
            </a:pPr>
            <a:r>
              <a:rPr sz="1350" b="0">
                <a:solidFill>
                  <a:srgbClr val="1F2A3A"/>
                </a:solidFill>
                <a:latin typeface="맑은 고딕"/>
                <a:ea typeface="맑은 고딕"/>
                <a:cs typeface="맑은 고딕"/>
              </a:rPr>
              <a:t>• 기록을 분류해 다시 찾아 쓰는 구조를 만든다</a:t>
            </a:r>
          </a:p>
        </p:txBody>
      </p:sp>
      <p:sp>
        <p:nvSpPr>
          <p:cNvPr id="10" name="Rounded Rectangle 9"/>
          <p:cNvSpPr/>
          <p:nvPr/>
        </p:nvSpPr>
        <p:spPr>
          <a:xfrm>
            <a:off x="777240" y="523894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학습 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경로</a:t>
            </a:r>
          </a:p>
          <a:p>
            <a:pPr algn="l">
              <a:lnSpc>
                <a:spcPct val="110000"/>
              </a:lnSpc>
              <a:spcAft>
                <a:spcPts val="400"/>
              </a:spcAft>
            </a:pPr>
            <a:r>
              <a:rPr sz="1350" b="0">
                <a:solidFill>
                  <a:srgbClr val="1F2A3A"/>
                </a:solidFill>
                <a:latin typeface="맑은 고딕"/>
                <a:ea typeface="맑은 고딕"/>
                <a:cs typeface="맑은 고딕"/>
              </a:rPr>
              <a:t>유온 한 값이 설비에서 저장소, 화면, 경보에 이르는 경로를 설명한다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시스템 구조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경보 이후의 판단</a:t>
            </a:r>
          </a:p>
          <a:p>
            <a:pPr algn="l">
              <a:lnSpc>
                <a:spcPct val="110000"/>
              </a:lnSpc>
              <a:spcAft>
                <a:spcPts val="400"/>
              </a:spcAft>
            </a:pPr>
            <a:r>
              <a:rPr sz="1350" b="0">
                <a:solidFill>
                  <a:srgbClr val="1F2A3A"/>
                </a:solidFill>
                <a:latin typeface="맑은 고딕"/>
                <a:ea typeface="맑은 고딕"/>
                <a:cs typeface="맑은 고딕"/>
              </a:rPr>
              <a:t>• 경보가 알려 주는 것과 알려 주지 않는 것을 구분한다</a:t>
            </a:r>
          </a:p>
          <a:p>
            <a:pPr algn="l">
              <a:lnSpc>
                <a:spcPct val="110000"/>
              </a:lnSpc>
              <a:spcAft>
                <a:spcPts val="400"/>
              </a:spcAft>
            </a:pPr>
            <a:r>
              <a:rPr sz="1350" b="0">
                <a:solidFill>
                  <a:srgbClr val="1F2A3A"/>
                </a:solidFill>
                <a:latin typeface="맑은 고딕"/>
                <a:ea typeface="맑은 고딕"/>
                <a:cs typeface="맑은 고딕"/>
              </a:rPr>
              <a:t>• 판단에 필요한 정보가 어디에 있는지 말한다</a:t>
            </a:r>
          </a:p>
        </p:txBody>
      </p:sp>
      <p:sp>
        <p:nvSpPr>
          <p:cNvPr id="22" name="Rounded Rectangle 21"/>
          <p:cNvSpPr/>
          <p:nvPr/>
        </p:nvSpPr>
        <p:spPr>
          <a:xfrm>
            <a:off x="6461607" y="5238940"/>
            <a:ext cx="1630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필요성</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 증상, 원인, 조치를 노드와 관계로 나타낸다</a:t>
            </a:r>
          </a:p>
          <a:p>
            <a:pPr algn="l">
              <a:lnSpc>
                <a:spcPct val="110000"/>
              </a:lnSpc>
              <a:spcAft>
                <a:spcPts val="400"/>
              </a:spcAft>
            </a:pPr>
            <a:r>
              <a:rPr sz="1350" b="0">
                <a:solidFill>
                  <a:srgbClr val="1F2A3A"/>
                </a:solidFill>
                <a:latin typeface="맑은 고딕"/>
                <a:ea typeface="맑은 고딕"/>
                <a:cs typeface="맑은 고딕"/>
              </a:rPr>
              <a:t>• 관계의 이름과 방향을 문장으로 읽는다</a:t>
            </a:r>
          </a:p>
        </p:txBody>
      </p:sp>
      <p:sp>
        <p:nvSpPr>
          <p:cNvPr id="28" name="Rounded Rectangle 27"/>
          <p:cNvSpPr/>
          <p:nvPr/>
        </p:nvSpPr>
        <p:spPr>
          <a:xfrm>
            <a:off x="9303791" y="5238940"/>
            <a:ext cx="14782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온톨로지의 기초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학습 내용의 지식 자산화</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시스템 구조와 데이터 흐름</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학습 내용의 지식 자산화</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자신의 언어로 기록하고 다시 찾아 쓰는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정리한 문서와 자신의 언어로 다시 쓴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AI가 정리해 준 문서는 결과물일 뿐이며, 이해는 학습자가 자신의 언어로 다시 쓸 때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AI가 정리해 준 문서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필기와 강의 자료를 넘겨 정리를 맡긴 결과물이다</a:t>
            </a:r>
          </a:p>
          <a:p>
            <a:pPr algn="l">
              <a:lnSpc>
                <a:spcPct val="110000"/>
              </a:lnSpc>
              <a:spcAft>
                <a:spcPts val="600"/>
              </a:spcAft>
            </a:pPr>
            <a:r>
              <a:rPr sz="1450" b="0">
                <a:solidFill>
                  <a:srgbClr val="1F2A3A"/>
                </a:solidFill>
                <a:latin typeface="맑은 고딕"/>
                <a:ea typeface="맑은 고딕"/>
                <a:cs typeface="맑은 고딕"/>
              </a:rPr>
              <a:t>• 형식은 정돈되어 있으나 학습자의 판단이 들어 있지 않다</a:t>
            </a:r>
          </a:p>
          <a:p>
            <a:pPr algn="l">
              <a:lnSpc>
                <a:spcPct val="110000"/>
              </a:lnSpc>
              <a:spcAft>
                <a:spcPts val="600"/>
              </a:spcAft>
            </a:pPr>
            <a:r>
              <a:rPr sz="1450" b="0">
                <a:solidFill>
                  <a:srgbClr val="1F2A3A"/>
                </a:solidFill>
                <a:latin typeface="맑은 고딕"/>
                <a:ea typeface="맑은 고딕"/>
                <a:cs typeface="맑은 고딕"/>
              </a:rPr>
              <a:t>• 읽을 때는 아는 것 같지만 자료 없이 설명하면 막힌다</a:t>
            </a:r>
          </a:p>
          <a:p>
            <a:pPr algn="l">
              <a:lnSpc>
                <a:spcPct val="110000"/>
              </a:lnSpc>
              <a:spcAft>
                <a:spcPts val="600"/>
              </a:spcAft>
            </a:pPr>
            <a:r>
              <a:rPr sz="1450" b="0">
                <a:solidFill>
                  <a:srgbClr val="1F2A3A"/>
                </a:solidFill>
                <a:latin typeface="맑은 고딕"/>
                <a:ea typeface="맑은 고딕"/>
                <a:cs typeface="맑은 고딕"/>
              </a:rPr>
              <a:t>• 쌓일수록 다시 열지 않게 된다</a:t>
            </a:r>
          </a:p>
        </p:txBody>
      </p:sp>
      <p:sp>
        <p:nvSpPr>
          <p:cNvPr id="11" name="Rounded Rectangle 10"/>
          <p:cNvSpPr/>
          <p:nvPr/>
        </p:nvSpPr>
        <p:spPr>
          <a:xfrm>
            <a:off x="868680" y="5396865"/>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보관된 문서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자신의 언어로 다시 쓴 기록</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자료를 보지 않고 개념을 직접 서술한 기록이다</a:t>
            </a:r>
          </a:p>
          <a:p>
            <a:pPr algn="l">
              <a:lnSpc>
                <a:spcPct val="110000"/>
              </a:lnSpc>
              <a:spcAft>
                <a:spcPts val="600"/>
              </a:spcAft>
            </a:pPr>
            <a:r>
              <a:rPr sz="1450" b="0">
                <a:solidFill>
                  <a:srgbClr val="1F2A3A"/>
                </a:solidFill>
                <a:latin typeface="맑은 고딕"/>
                <a:ea typeface="맑은 고딕"/>
                <a:cs typeface="맑은 고딕"/>
              </a:rPr>
              <a:t>• 서술이 끊기는 자리에서 모르는 부분이 드러난다</a:t>
            </a:r>
          </a:p>
          <a:p>
            <a:pPr algn="l">
              <a:lnSpc>
                <a:spcPct val="110000"/>
              </a:lnSpc>
              <a:spcAft>
                <a:spcPts val="600"/>
              </a:spcAft>
            </a:pPr>
            <a:r>
              <a:rPr sz="1450" b="0">
                <a:solidFill>
                  <a:srgbClr val="1F2A3A"/>
                </a:solidFill>
                <a:latin typeface="맑은 고딕"/>
                <a:ea typeface="맑은 고딕"/>
                <a:cs typeface="맑은 고딕"/>
              </a:rPr>
              <a:t>• 그 부분을 보완해 고쳐 쓴 문장은 다시 설명할 수 있다</a:t>
            </a:r>
          </a:p>
          <a:p>
            <a:pPr algn="l">
              <a:lnSpc>
                <a:spcPct val="110000"/>
              </a:lnSpc>
              <a:spcAft>
                <a:spcPts val="600"/>
              </a:spcAft>
            </a:pPr>
            <a:r>
              <a:rPr sz="1450" b="0">
                <a:solidFill>
                  <a:srgbClr val="1F2A3A"/>
                </a:solidFill>
                <a:latin typeface="맑은 고딕"/>
                <a:ea typeface="맑은 고딕"/>
                <a:cs typeface="맑은 고딕"/>
              </a:rPr>
              <a:t>• 분류와 이해도를 함께 적어 두어 다시 찾아 쓴다</a:t>
            </a:r>
          </a:p>
        </p:txBody>
      </p:sp>
      <p:sp>
        <p:nvSpPr>
          <p:cNvPr id="18" name="Rounded Rectangle 17"/>
          <p:cNvSpPr/>
          <p:nvPr/>
        </p:nvSpPr>
        <p:spPr>
          <a:xfrm>
            <a:off x="6781647" y="5396865"/>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재사용하는 자산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이해의 판정 기준: 설명 가능성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개념을 자료 없이 설명할 수 있는지가 이해 여부를 판정하는 가장 직접적인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writing" descr="writing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써 본다</a:t>
            </a:r>
          </a:p>
          <a:p>
            <a:pPr algn="l">
              <a:lnSpc>
                <a:spcPct val="110000"/>
              </a:lnSpc>
              <a:spcAft>
                <a:spcPts val="400"/>
              </a:spcAft>
            </a:pPr>
            <a:r>
              <a:rPr sz="1400" b="0">
                <a:solidFill>
                  <a:srgbClr val="1F2A3A"/>
                </a:solidFill>
                <a:latin typeface="맑은 고딕"/>
                <a:ea typeface="맑은 고딕"/>
                <a:cs typeface="맑은 고딕"/>
              </a:rPr>
              <a:t>자료를 덮고 정의, 동작 원리, 쓰임을 자신의 문장으로 적는다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microphone" descr="microphon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설명해 본다</a:t>
            </a:r>
          </a:p>
          <a:p>
            <a:pPr algn="l">
              <a:lnSpc>
                <a:spcPct val="110000"/>
              </a:lnSpc>
              <a:spcAft>
                <a:spcPts val="400"/>
              </a:spcAft>
            </a:pPr>
            <a:r>
              <a:rPr sz="1400" b="0">
                <a:solidFill>
                  <a:srgbClr val="1F2A3A"/>
                </a:solidFill>
                <a:latin typeface="맑은 고딕"/>
                <a:ea typeface="맑은 고딕"/>
                <a:cs typeface="맑은 고딕"/>
              </a:rPr>
              <a:t>• 다른 사람에게 말로 설명한다</a:t>
            </a:r>
          </a:p>
          <a:p>
            <a:pPr algn="l">
              <a:lnSpc>
                <a:spcPct val="110000"/>
              </a:lnSpc>
              <a:spcAft>
                <a:spcPts val="400"/>
              </a:spcAft>
            </a:pPr>
            <a:r>
              <a:rPr sz="1400" b="0">
                <a:solidFill>
                  <a:srgbClr val="1F2A3A"/>
                </a:solidFill>
                <a:latin typeface="맑은 고딕"/>
                <a:ea typeface="맑은 고딕"/>
                <a:cs typeface="맑은 고딕"/>
              </a:rPr>
              <a:t>• 표현이 달라도 뜻이 같으면 이해한 것이다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말</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막힌 자리</a:t>
            </a:r>
          </a:p>
          <a:p>
            <a:pPr algn="l">
              <a:lnSpc>
                <a:spcPct val="110000"/>
              </a:lnSpc>
              <a:spcAft>
                <a:spcPts val="400"/>
              </a:spcAft>
            </a:pPr>
            <a:r>
              <a:rPr sz="1400" b="0">
                <a:solidFill>
                  <a:srgbClr val="1F2A3A"/>
                </a:solidFill>
                <a:latin typeface="맑은 고딕"/>
                <a:ea typeface="맑은 고딕"/>
                <a:cs typeface="맑은 고딕"/>
              </a:rPr>
              <a:t>• 둘 중 하나라도 막히면 그 자리가 아직 모르는 자리이다</a:t>
            </a:r>
          </a:p>
          <a:p>
            <a:pPr algn="l">
              <a:lnSpc>
                <a:spcPct val="110000"/>
              </a:lnSpc>
              <a:spcAft>
                <a:spcPts val="400"/>
              </a:spcAft>
            </a:pPr>
            <a:r>
              <a:rPr sz="1400" b="0">
                <a:solidFill>
                  <a:srgbClr val="1F2A3A"/>
                </a:solidFill>
                <a:latin typeface="맑은 고딕"/>
                <a:ea typeface="맑은 고딕"/>
                <a:cs typeface="맑은 고딕"/>
              </a:rPr>
              <a:t>• 그 자리만 다시 공부해 고쳐 쓴다</a:t>
            </a:r>
          </a:p>
        </p:txBody>
      </p:sp>
      <p:sp>
        <p:nvSpPr>
          <p:cNvPr id="22" name="Rounded Rectangle 21"/>
          <p:cNvSpPr/>
          <p:nvPr/>
        </p:nvSpPr>
        <p:spPr>
          <a:xfrm>
            <a:off x="8356396" y="5041392"/>
            <a:ext cx="12191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볼 범위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 활용 순서: 질문 먼저와 서술 먼저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AI에게 먼저 묻지 않고 아는 범위를 먼저 서술하면 보완해야 할 자리가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먼저 묻는다</a:t>
            </a:r>
          </a:p>
        </p:txBody>
      </p:sp>
      <p:sp>
        <p:nvSpPr>
          <p:cNvPr id="8" name="TextBox 7"/>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질문하고 답을 읽는 것으로 끝난다</a:t>
            </a:r>
          </a:p>
          <a:p>
            <a:pPr algn="l">
              <a:lnSpc>
                <a:spcPct val="110000"/>
              </a:lnSpc>
              <a:spcAft>
                <a:spcPts val="600"/>
              </a:spcAft>
            </a:pPr>
            <a:r>
              <a:rPr sz="1450" b="0">
                <a:solidFill>
                  <a:srgbClr val="1F2A3A"/>
                </a:solidFill>
                <a:latin typeface="맑은 고딕"/>
                <a:ea typeface="맑은 고딕"/>
                <a:cs typeface="맑은 고딕"/>
              </a:rPr>
              <a:t>• 자신의 서술이 남지 않는다</a:t>
            </a:r>
          </a:p>
          <a:p>
            <a:pPr algn="l">
              <a:lnSpc>
                <a:spcPct val="110000"/>
              </a:lnSpc>
              <a:spcAft>
                <a:spcPts val="600"/>
              </a:spcAft>
            </a:pPr>
            <a:r>
              <a:rPr sz="1450" b="0">
                <a:solidFill>
                  <a:srgbClr val="1F2A3A"/>
                </a:solidFill>
                <a:latin typeface="맑은 고딕"/>
                <a:ea typeface="맑은 고딕"/>
                <a:cs typeface="맑은 고딕"/>
              </a:rPr>
              <a:t>• 무엇을 모르는지 확인할 기회가 없다</a:t>
            </a:r>
          </a:p>
          <a:p>
            <a:pPr algn="l">
              <a:lnSpc>
                <a:spcPct val="110000"/>
              </a:lnSpc>
              <a:spcAft>
                <a:spcPts val="600"/>
              </a:spcAft>
            </a:pPr>
            <a:r>
              <a:rPr sz="1450" b="0">
                <a:solidFill>
                  <a:srgbClr val="1F2A3A"/>
                </a:solidFill>
                <a:latin typeface="맑은 고딕"/>
                <a:ea typeface="맑은 고딕"/>
                <a:cs typeface="맑은 고딕"/>
              </a:rPr>
              <a:t>• 답에 있던 낯선 용어가 풀리지 않고 남는다</a:t>
            </a:r>
          </a:p>
        </p:txBody>
      </p:sp>
      <p:sp>
        <p:nvSpPr>
          <p:cNvPr id="9" name="Rounded Rectangle 8"/>
          <p:cNvSpPr/>
          <p:nvPr/>
        </p:nvSpPr>
        <p:spPr>
          <a:xfrm>
            <a:off x="868680" y="5246433"/>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읽고 끝나는 학습</a:t>
            </a:r>
          </a:p>
        </p:txBody>
      </p:sp>
      <p:sp>
        <p:nvSpPr>
          <p:cNvPr id="11" name="Rounded Rectangle 10"/>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80246"/>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자신이 먼저 서술한다</a:t>
            </a:r>
          </a:p>
        </p:txBody>
      </p:sp>
      <p:sp>
        <p:nvSpPr>
          <p:cNvPr id="13" name="TextBox 12"/>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자료 없이 써 본 뒤 AI에 검토를 요청한다</a:t>
            </a:r>
          </a:p>
          <a:p>
            <a:pPr algn="l">
              <a:lnSpc>
                <a:spcPct val="110000"/>
              </a:lnSpc>
              <a:spcAft>
                <a:spcPts val="600"/>
              </a:spcAft>
            </a:pPr>
            <a:r>
              <a:rPr sz="1450" b="0">
                <a:solidFill>
                  <a:srgbClr val="1F2A3A"/>
                </a:solidFill>
                <a:latin typeface="맑은 고딕"/>
                <a:ea typeface="맑은 고딕"/>
                <a:cs typeface="맑은 고딕"/>
              </a:rPr>
              <a:t>• 손으로 써도 되고 말로 설명해 음성 입력으로 남겨도 된다</a:t>
            </a:r>
          </a:p>
          <a:p>
            <a:pPr algn="l">
              <a:lnSpc>
                <a:spcPct val="110000"/>
              </a:lnSpc>
              <a:spcAft>
                <a:spcPts val="600"/>
              </a:spcAft>
            </a:pPr>
            <a:r>
              <a:rPr sz="1450" b="0">
                <a:solidFill>
                  <a:srgbClr val="1F2A3A"/>
                </a:solidFill>
                <a:latin typeface="맑은 고딕"/>
                <a:ea typeface="맑은 고딕"/>
                <a:cs typeface="맑은 고딕"/>
              </a:rPr>
              <a:t>• 서툴러도 되며 목적은 막히는 자리를 찾는 것이다</a:t>
            </a:r>
          </a:p>
          <a:p>
            <a:pPr algn="l">
              <a:lnSpc>
                <a:spcPct val="110000"/>
              </a:lnSpc>
              <a:spcAft>
                <a:spcPts val="600"/>
              </a:spcAft>
            </a:pPr>
            <a:r>
              <a:rPr sz="1450" b="0">
                <a:solidFill>
                  <a:srgbClr val="1F2A3A"/>
                </a:solidFill>
                <a:latin typeface="맑은 고딕"/>
                <a:ea typeface="맑은 고딕"/>
                <a:cs typeface="맑은 고딕"/>
              </a:rPr>
              <a:t>• 지적받은 자리가 그대로 학습 범위가 된다</a:t>
            </a:r>
          </a:p>
        </p:txBody>
      </p:sp>
      <p:sp>
        <p:nvSpPr>
          <p:cNvPr id="14" name="Rounded Rectangle 13"/>
          <p:cNvSpPr/>
          <p:nvPr/>
        </p:nvSpPr>
        <p:spPr>
          <a:xfrm>
            <a:off x="6781647" y="5246433"/>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246433"/>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빈 곳을 찾는 학습</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 절차: 서술 · 식별 · 보완 ·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학습은 먼저 서술하고 막힌 자리를 찾아 그 자리만 보완한 뒤 다시 확인하는 순환으로 진행한다.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서술</a:t>
            </a:r>
          </a:p>
          <a:p>
            <a:pPr algn="ctr">
              <a:lnSpc>
                <a:spcPct val="110000"/>
              </a:lnSpc>
              <a:spcAft>
                <a:spcPts val="400"/>
              </a:spcAft>
            </a:pPr>
            <a:r>
              <a:rPr sz="1350" b="0">
                <a:solidFill>
                  <a:srgbClr val="1F2A3A"/>
                </a:solidFill>
                <a:latin typeface="맑은 고딕"/>
                <a:ea typeface="맑은 고딕"/>
                <a:cs typeface="맑은 고딕"/>
              </a:rPr>
              <a:t>자료를 덮고</a:t>
            </a:r>
          </a:p>
          <a:p>
            <a:pPr algn="ctr">
              <a:lnSpc>
                <a:spcPct val="110000"/>
              </a:lnSpc>
              <a:spcAft>
                <a:spcPts val="400"/>
              </a:spcAft>
            </a:pPr>
            <a:r>
              <a:rPr sz="1350" b="0">
                <a:solidFill>
                  <a:srgbClr val="1F2A3A"/>
                </a:solidFill>
                <a:latin typeface="맑은 고딕"/>
                <a:ea typeface="맑은 고딕"/>
                <a:cs typeface="맑은 고딕"/>
              </a:rPr>
              <a:t>개념을 자신의 문장으로 쓴다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식별</a:t>
            </a:r>
          </a:p>
          <a:p>
            <a:pPr algn="ctr">
              <a:lnSpc>
                <a:spcPct val="110000"/>
              </a:lnSpc>
              <a:spcAft>
                <a:spcPts val="400"/>
              </a:spcAft>
            </a:pPr>
            <a:r>
              <a:rPr sz="1350" b="0">
                <a:solidFill>
                  <a:srgbClr val="1F2A3A"/>
                </a:solidFill>
                <a:latin typeface="맑은 고딕"/>
                <a:ea typeface="맑은 고딕"/>
                <a:cs typeface="맑은 고딕"/>
              </a:rPr>
              <a:t>서술이 끊긴 자리와</a:t>
            </a:r>
          </a:p>
          <a:p>
            <a:pPr algn="ctr">
              <a:lnSpc>
                <a:spcPct val="110000"/>
              </a:lnSpc>
              <a:spcAft>
                <a:spcPts val="400"/>
              </a:spcAft>
            </a:pPr>
            <a:r>
              <a:rPr sz="1350" b="0">
                <a:solidFill>
                  <a:srgbClr val="1F2A3A"/>
                </a:solidFill>
                <a:latin typeface="맑은 고딕"/>
                <a:ea typeface="맑은 고딕"/>
                <a:cs typeface="맑은 고딕"/>
              </a:rPr>
              <a:t>틀렸다고 지적된 자리를 표시한다</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보완</a:t>
            </a:r>
          </a:p>
          <a:p>
            <a:pPr algn="ctr">
              <a:lnSpc>
                <a:spcPct val="110000"/>
              </a:lnSpc>
              <a:spcAft>
                <a:spcPts val="400"/>
              </a:spcAft>
            </a:pPr>
            <a:r>
              <a:rPr sz="1350" b="0">
                <a:solidFill>
                  <a:srgbClr val="1F2A3A"/>
                </a:solidFill>
                <a:latin typeface="맑은 고딕"/>
                <a:ea typeface="맑은 고딕"/>
                <a:cs typeface="맑은 고딕"/>
              </a:rPr>
              <a:t>표시한 자리만 다시 학습한다</a:t>
            </a:r>
          </a:p>
          <a:p>
            <a:pPr algn="ctr">
              <a:lnSpc>
                <a:spcPct val="110000"/>
              </a:lnSpc>
              <a:spcAft>
                <a:spcPts val="400"/>
              </a:spcAft>
            </a:pPr>
            <a:r>
              <a:rPr sz="1350" b="0">
                <a:solidFill>
                  <a:srgbClr val="1F2A3A"/>
                </a:solidFill>
                <a:latin typeface="맑은 고딕"/>
                <a:ea typeface="맑은 고딕"/>
                <a:cs typeface="맑은 고딕"/>
              </a:rPr>
              <a:t>모르는 용어가 나오면 그 용어를 다시 묻는다</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고쳐 쓴 내용을 자료 없이 다시 쓰고</a:t>
            </a:r>
          </a:p>
          <a:p>
            <a:pPr algn="ctr">
              <a:lnSpc>
                <a:spcPct val="110000"/>
              </a:lnSpc>
              <a:spcAft>
                <a:spcPts val="400"/>
              </a:spcAft>
            </a:pPr>
            <a:r>
              <a:rPr sz="1350" b="0">
                <a:solidFill>
                  <a:srgbClr val="1F2A3A"/>
                </a:solidFill>
                <a:latin typeface="맑은 고딕"/>
                <a:ea typeface="맑은 고딕"/>
                <a:cs typeface="맑은 고딕"/>
              </a:rPr>
              <a:t>다른 사람에게 설명한다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제조 AI 과정에서 축적할 기록의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과정에서는 개념 정의부터 오류의 원인과 해결 과정까지가 모두 기록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vocabulary" descr="vocabulary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 정의</a:t>
            </a:r>
          </a:p>
          <a:p>
            <a:pPr algn="l">
              <a:lnSpc>
                <a:spcPct val="110000"/>
              </a:lnSpc>
              <a:spcAft>
                <a:spcPts val="400"/>
              </a:spcAft>
            </a:pPr>
            <a:r>
              <a:rPr sz="1350" b="0">
                <a:solidFill>
                  <a:srgbClr val="1F2A3A"/>
                </a:solidFill>
                <a:latin typeface="맑은 고딕"/>
                <a:ea typeface="맑은 고딕"/>
                <a:cs typeface="맑은 고딕"/>
              </a:rPr>
              <a:t>• 용어의 정식 명칭과 뜻을 자신의 문장으로 적는다</a:t>
            </a:r>
          </a:p>
          <a:p>
            <a:pPr algn="l">
              <a:lnSpc>
                <a:spcPct val="110000"/>
              </a:lnSpc>
              <a:spcAft>
                <a:spcPts val="400"/>
              </a:spcAft>
            </a:pPr>
            <a:r>
              <a:rPr sz="1350" b="0">
                <a:solidFill>
                  <a:srgbClr val="1F2A3A"/>
                </a:solidFill>
                <a:latin typeface="맑은 고딕"/>
                <a:ea typeface="맑은 고딕"/>
                <a:cs typeface="맑은 고딕"/>
              </a:rPr>
              <a:t>• 헷갈리기 쉬운 용어와의 차이를 함께 적는다</a:t>
            </a:r>
          </a:p>
        </p:txBody>
      </p:sp>
      <p:sp>
        <p:nvSpPr>
          <p:cNvPr id="10" name="Rounded Rectangle 9"/>
          <p:cNvSpPr/>
          <p:nvPr/>
        </p:nvSpPr>
        <p:spPr>
          <a:xfrm>
            <a:off x="777240" y="5238940"/>
            <a:ext cx="1603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603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브로커와 토픽</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ettings-automation" descr="settings-automation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동작 원리</a:t>
            </a:r>
          </a:p>
          <a:p>
            <a:pPr algn="l">
              <a:lnSpc>
                <a:spcPct val="110000"/>
              </a:lnSpc>
              <a:spcAft>
                <a:spcPts val="400"/>
              </a:spcAft>
            </a:pPr>
            <a:r>
              <a:rPr sz="1350" b="0">
                <a:solidFill>
                  <a:srgbClr val="1F2A3A"/>
                </a:solidFill>
                <a:latin typeface="맑은 고딕"/>
                <a:ea typeface="맑은 고딕"/>
                <a:cs typeface="맑은 고딕"/>
              </a:rPr>
              <a:t>구성요소가 무엇을 받아 무엇을 넘기는지를 적는다</a:t>
            </a:r>
          </a:p>
        </p:txBody>
      </p:sp>
      <p:sp>
        <p:nvSpPr>
          <p:cNvPr id="16" name="Rounded Rectangle 15"/>
          <p:cNvSpPr/>
          <p:nvPr/>
        </p:nvSpPr>
        <p:spPr>
          <a:xfrm>
            <a:off x="3619423" y="5238940"/>
            <a:ext cx="197815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97815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detector 경보 조건</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terminal-2" descr="terminal-2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결과</a:t>
            </a:r>
          </a:p>
          <a:p>
            <a:pPr algn="l">
              <a:lnSpc>
                <a:spcPct val="110000"/>
              </a:lnSpc>
              <a:spcAft>
                <a:spcPts val="400"/>
              </a:spcAft>
            </a:pPr>
            <a:r>
              <a:rPr sz="1350" b="0">
                <a:solidFill>
                  <a:srgbClr val="1F2A3A"/>
                </a:solidFill>
                <a:latin typeface="맑은 고딕"/>
                <a:ea typeface="맑은 고딕"/>
                <a:cs typeface="맑은 고딕"/>
              </a:rPr>
              <a:t>무엇을 실행했고 어떤 결과가 나왔는지를 입력 · 출력과 함께 남긴다</a:t>
            </a:r>
          </a:p>
        </p:txBody>
      </p:sp>
      <p:sp>
        <p:nvSpPr>
          <p:cNvPr id="22" name="Rounded Rectangle 21"/>
          <p:cNvSpPr/>
          <p:nvPr/>
        </p:nvSpPr>
        <p:spPr>
          <a:xfrm>
            <a:off x="6461607" y="5238940"/>
            <a:ext cx="129844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298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관계 그림</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bug" descr="bug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오류와 해결</a:t>
            </a:r>
          </a:p>
          <a:p>
            <a:pPr algn="l">
              <a:lnSpc>
                <a:spcPct val="110000"/>
              </a:lnSpc>
              <a:spcAft>
                <a:spcPts val="400"/>
              </a:spcAft>
            </a:pPr>
            <a:r>
              <a:rPr sz="1350" b="0">
                <a:solidFill>
                  <a:srgbClr val="1F2A3A"/>
                </a:solidFill>
                <a:latin typeface="맑은 고딕"/>
                <a:ea typeface="맑은 고딕"/>
                <a:cs typeface="맑은 고딕"/>
              </a:rPr>
              <a:t>증상, 확인한 원인, 적용한 해결 방법을 순서대로 남긴다</a:t>
            </a:r>
          </a:p>
        </p:txBody>
      </p:sp>
      <p:sp>
        <p:nvSpPr>
          <p:cNvPr id="28" name="Rounded Rectangle 27"/>
          <p:cNvSpPr/>
          <p:nvPr/>
        </p:nvSpPr>
        <p:spPr>
          <a:xfrm>
            <a:off x="9303791" y="5238940"/>
            <a:ext cx="1801367"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80136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서비스 기동 실패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노션 데이터베이스: 항목과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기록 한 건을 데이터베이스의 항목으로 저장하고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으로 분류하면 검색과 재사용이 가능해진다.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노션_데이터베이스.svg" descr="illust_246884922726738321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1816729"/>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같은 형식의 항목을 모은 집합</a:t>
            </a:r>
          </a:p>
        </p:txBody>
      </p:sp>
      <p:sp>
        <p:nvSpPr>
          <p:cNvPr id="8" name="TextBox 7"/>
          <p:cNvSpPr txBox="1"/>
          <p:nvPr/>
        </p:nvSpPr>
        <p:spPr>
          <a:xfrm>
            <a:off x="4001224" y="1816729"/>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모든 항목이 공통으로 갖는 칸</a:t>
            </a:r>
          </a:p>
        </p:txBody>
      </p:sp>
      <p:sp>
        <p:nvSpPr>
          <p:cNvPr id="9" name="TextBox 8"/>
          <p:cNvSpPr txBox="1"/>
          <p:nvPr/>
        </p:nvSpPr>
        <p:spPr>
          <a:xfrm>
            <a:off x="1808416" y="277167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이름</a:t>
            </a:r>
          </a:p>
        </p:txBody>
      </p:sp>
      <p:sp>
        <p:nvSpPr>
          <p:cNvPr id="10" name="TextBox 9"/>
          <p:cNvSpPr txBox="1"/>
          <p:nvPr/>
        </p:nvSpPr>
        <p:spPr>
          <a:xfrm>
            <a:off x="4001224"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분야</a:t>
            </a:r>
          </a:p>
        </p:txBody>
      </p:sp>
      <p:sp>
        <p:nvSpPr>
          <p:cNvPr id="11" name="TextBox 10"/>
          <p:cNvSpPr txBox="1"/>
          <p:nvPr/>
        </p:nvSpPr>
        <p:spPr>
          <a:xfrm>
            <a:off x="5190359" y="2771674"/>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이해도</a:t>
            </a:r>
          </a:p>
        </p:txBody>
      </p:sp>
      <p:sp>
        <p:nvSpPr>
          <p:cNvPr id="12" name="TextBox 11"/>
          <p:cNvSpPr txBox="1"/>
          <p:nvPr/>
        </p:nvSpPr>
        <p:spPr>
          <a:xfrm>
            <a:off x="6226761" y="2771674"/>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생성 일시</a:t>
            </a:r>
          </a:p>
        </p:txBody>
      </p:sp>
      <p:sp>
        <p:nvSpPr>
          <p:cNvPr id="13" name="TextBox 12"/>
          <p:cNvSpPr txBox="1"/>
          <p:nvPr/>
        </p:nvSpPr>
        <p:spPr>
          <a:xfrm>
            <a:off x="8146832" y="1816729"/>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항목 하나 = 페이지 하나</a:t>
            </a:r>
          </a:p>
          <a:p>
            <a:pPr algn="ctr">
              <a:lnSpc>
                <a:spcPct val="110000"/>
              </a:lnSpc>
              <a:spcAft>
                <a:spcPts val="100"/>
              </a:spcAft>
            </a:pPr>
            <a:r>
              <a:rPr sz="1300" b="0">
                <a:solidFill>
                  <a:srgbClr val="556175"/>
                </a:solidFill>
                <a:latin typeface="맑은 고딕"/>
                <a:ea typeface="맑은 고딕"/>
                <a:cs typeface="맑은 고딕"/>
              </a:rPr>
              <a:t>열면 제목, 속성, 본문이 나온다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보기: 같은 데이터를 보여 주는 세 가지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보기를 바꾸어도 데이터는 한 벌이므로 한 보기에서 고친 값은 다른 보기에도 그대로 반영된다.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노션_보기.svg" descr="illust_890200132149735380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769455"/>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보기(View)</a:t>
            </a:r>
          </a:p>
          <a:p>
            <a:pPr algn="ctr">
              <a:lnSpc>
                <a:spcPct val="110000"/>
              </a:lnSpc>
              <a:spcAft>
                <a:spcPts val="100"/>
              </a:spcAft>
            </a:pPr>
            <a:r>
              <a:rPr sz="1300" b="0">
                <a:solidFill>
                  <a:srgbClr val="556175"/>
                </a:solidFill>
                <a:latin typeface="맑은 고딕"/>
                <a:ea typeface="맑은 고딕"/>
                <a:cs typeface="맑은 고딕"/>
              </a:rPr>
              <a:t>같은 데이터를 다른 모양으로 보여 주는 화면</a:t>
            </a:r>
          </a:p>
        </p:txBody>
      </p:sp>
      <p:sp>
        <p:nvSpPr>
          <p:cNvPr id="8" name="TextBox 7"/>
          <p:cNvSpPr txBox="1"/>
          <p:nvPr/>
        </p:nvSpPr>
        <p:spPr>
          <a:xfrm>
            <a:off x="695647" y="493684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데이터베이스</a:t>
            </a:r>
          </a:p>
          <a:p>
            <a:pPr algn="ctr">
              <a:lnSpc>
                <a:spcPct val="110000"/>
              </a:lnSpc>
              <a:spcAft>
                <a:spcPts val="100"/>
              </a:spcAft>
            </a:pPr>
            <a:r>
              <a:rPr sz="1300" b="0">
                <a:solidFill>
                  <a:srgbClr val="556175"/>
                </a:solidFill>
                <a:latin typeface="맑은 고딕"/>
                <a:ea typeface="맑은 고딕"/>
                <a:cs typeface="맑은 고딕"/>
              </a:rPr>
              <a:t>저장된 데이터는 한 벌이다</a:t>
            </a:r>
          </a:p>
        </p:txBody>
      </p:sp>
      <p:sp>
        <p:nvSpPr>
          <p:cNvPr id="9" name="TextBox 8"/>
          <p:cNvSpPr txBox="1"/>
          <p:nvPr/>
        </p:nvSpPr>
        <p:spPr>
          <a:xfrm>
            <a:off x="3990315"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a:t>
            </a:r>
          </a:p>
          <a:p>
            <a:pPr algn="ctr">
              <a:lnSpc>
                <a:spcPct val="110000"/>
              </a:lnSpc>
              <a:spcAft>
                <a:spcPts val="100"/>
              </a:spcAft>
            </a:pPr>
            <a:r>
              <a:rPr sz="1300" b="0">
                <a:solidFill>
                  <a:srgbClr val="556175"/>
                </a:solidFill>
                <a:latin typeface="맑은 고딕"/>
                <a:ea typeface="맑은 고딕"/>
                <a:cs typeface="맑은 고딕"/>
              </a:rPr>
              <a:t>속성 값을 나란히 비교한다</a:t>
            </a:r>
          </a:p>
        </p:txBody>
      </p:sp>
      <p:sp>
        <p:nvSpPr>
          <p:cNvPr id="10" name="TextBox 9"/>
          <p:cNvSpPr txBox="1"/>
          <p:nvPr/>
        </p:nvSpPr>
        <p:spPr>
          <a:xfrm>
            <a:off x="6532227"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갤러리</a:t>
            </a:r>
          </a:p>
          <a:p>
            <a:pPr algn="ctr">
              <a:lnSpc>
                <a:spcPct val="110000"/>
              </a:lnSpc>
              <a:spcAft>
                <a:spcPts val="100"/>
              </a:spcAft>
            </a:pPr>
            <a:r>
              <a:rPr sz="1300" b="0">
                <a:solidFill>
                  <a:srgbClr val="556175"/>
                </a:solidFill>
                <a:latin typeface="맑은 고딕"/>
                <a:ea typeface="맑은 고딕"/>
                <a:cs typeface="맑은 고딕"/>
              </a:rPr>
              <a:t>항목을 카드로 훑어본다</a:t>
            </a:r>
          </a:p>
        </p:txBody>
      </p:sp>
      <p:sp>
        <p:nvSpPr>
          <p:cNvPr id="11" name="TextBox 10"/>
          <p:cNvSpPr txBox="1"/>
          <p:nvPr/>
        </p:nvSpPr>
        <p:spPr>
          <a:xfrm>
            <a:off x="9074139" y="540959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보드</a:t>
            </a:r>
          </a:p>
          <a:p>
            <a:pPr algn="ctr">
              <a:lnSpc>
                <a:spcPct val="110000"/>
              </a:lnSpc>
              <a:spcAft>
                <a:spcPts val="100"/>
              </a:spcAft>
            </a:pPr>
            <a:r>
              <a:rPr sz="1300" b="0">
                <a:solidFill>
                  <a:srgbClr val="556175"/>
                </a:solidFill>
                <a:latin typeface="맑은 고딕"/>
                <a:ea typeface="맑은 고딕"/>
                <a:cs typeface="맑은 고딕"/>
              </a:rPr>
              <a:t>속성 값별로 묶어 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템플릿: 모든 기록이 같은 틀을 갖게 하는 양식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템플릿은 새 항목을 만들 때 본문에 미리 채워지는 양식으로, 기록의 형식을 하나로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개념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자료를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자신의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설명</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시스템에서의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쓰임</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어느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구성요소가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하는가</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다음에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설명이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끊긴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자리</a:t>
            </a:r>
          </a:p>
          <a:p>
            <a:pPr algn="l">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답에서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나온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낯선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용어</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개념별 제목</a:t>
            </a:r>
          </a:p>
          <a:p>
            <a:pPr algn="l">
              <a:lnSpc>
                <a:spcPct val="110000"/>
              </a:lnSpc>
              <a:spcAft>
                <a:spcPts val="400"/>
              </a:spcAft>
            </a:pPr>
            <a:r>
              <a:rPr sz="1400" b="0">
                <a:solidFill>
                  <a:srgbClr val="1F2A3A"/>
                </a:solidFill>
                <a:latin typeface="맑은 고딕"/>
                <a:ea typeface="맑은 고딕"/>
                <a:cs typeface="맑은 고딕"/>
              </a:rPr>
              <a:t>개념 하나에 제목 하나를 둔다. 제목이 나중에 검색어가 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다음에 확인할 것</a:t>
            </a:r>
          </a:p>
          <a:p>
            <a:pPr algn="l">
              <a:lnSpc>
                <a:spcPct val="110000"/>
              </a:lnSpc>
              <a:spcAft>
                <a:spcPts val="400"/>
              </a:spcAft>
            </a:pPr>
            <a:r>
              <a:rPr sz="1400" b="0">
                <a:solidFill>
                  <a:srgbClr val="1F2A3A"/>
                </a:solidFill>
                <a:latin typeface="맑은 고딕"/>
                <a:ea typeface="맑은 고딕"/>
                <a:cs typeface="맑은 고딕"/>
              </a:rPr>
              <a:t>막힌 자리를 체크 목록으로 남긴다. 해결해도 지우지 않아 진행이 기록된다.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기본 템플릿</a:t>
            </a:r>
          </a:p>
          <a:p>
            <a:pPr algn="l">
              <a:lnSpc>
                <a:spcPct val="110000"/>
              </a:lnSpc>
              <a:spcAft>
                <a:spcPts val="400"/>
              </a:spcAft>
            </a:pPr>
            <a:r>
              <a:rPr sz="1400" b="0">
                <a:solidFill>
                  <a:srgbClr val="1F2A3A"/>
                </a:solidFill>
                <a:latin typeface="맑은 고딕"/>
                <a:ea typeface="맑은 고딕"/>
                <a:cs typeface="맑은 고딕"/>
              </a:rPr>
              <a:t>기본으로 지정해 두면 어느 보기에서 항목을 만들어도 같은 양식이 채워진다.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필터: 다시 학습할 항목만 골라내기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이해도 속성에 필터를 걸면 아직 설명하지 못하는 항목만 모아 다시 학습할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이해도 기록</a:t>
            </a:r>
          </a:p>
          <a:p>
            <a:pPr algn="ctr">
              <a:lnSpc>
                <a:spcPct val="110000"/>
              </a:lnSpc>
              <a:spcAft>
                <a:spcPts val="400"/>
              </a:spcAft>
            </a:pPr>
            <a:r>
              <a:rPr sz="1350" b="0">
                <a:solidFill>
                  <a:srgbClr val="1F2A3A"/>
                </a:solidFill>
                <a:latin typeface="맑은 고딕"/>
                <a:ea typeface="맑은 고딕"/>
                <a:cs typeface="맑은 고딕"/>
              </a:rPr>
              <a:t>항목마다</a:t>
            </a:r>
          </a:p>
          <a:p>
            <a:pPr algn="ctr">
              <a:lnSpc>
                <a:spcPct val="110000"/>
              </a:lnSpc>
              <a:spcAft>
                <a:spcPts val="400"/>
              </a:spcAft>
            </a:pPr>
            <a:r>
              <a:rPr sz="1350" b="0">
                <a:solidFill>
                  <a:srgbClr val="1F2A3A"/>
                </a:solidFill>
                <a:latin typeface="맑은 고딕"/>
                <a:ea typeface="맑은 고딕"/>
                <a:cs typeface="맑은 고딕"/>
              </a:rPr>
              <a:t>설명 못함, 대충 앎,</a:t>
            </a:r>
          </a:p>
          <a:p>
            <a:pPr algn="ctr">
              <a:lnSpc>
                <a:spcPct val="110000"/>
              </a:lnSpc>
              <a:spcAft>
                <a:spcPts val="400"/>
              </a:spcAft>
            </a:pPr>
            <a:r>
              <a:rPr sz="1350" b="0">
                <a:solidFill>
                  <a:srgbClr val="1F2A3A"/>
                </a:solidFill>
                <a:latin typeface="맑은 고딕"/>
                <a:ea typeface="맑은 고딕"/>
                <a:cs typeface="맑은 고딕"/>
              </a:rPr>
              <a:t>설명 가능 가운데</a:t>
            </a:r>
          </a:p>
          <a:p>
            <a:pPr algn="ctr">
              <a:lnSpc>
                <a:spcPct val="110000"/>
              </a:lnSpc>
              <a:spcAft>
                <a:spcPts val="400"/>
              </a:spcAft>
            </a:pPr>
            <a:r>
              <a:rPr sz="1350" b="0">
                <a:solidFill>
                  <a:srgbClr val="1F2A3A"/>
                </a:solidFill>
                <a:latin typeface="맑은 고딕"/>
                <a:ea typeface="맑은 고딕"/>
                <a:cs typeface="맑은 고딕"/>
              </a:rPr>
              <a:t>하나를 고른다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filter" descr="filt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필터</a:t>
            </a:r>
          </a:p>
          <a:p>
            <a:pPr algn="ctr">
              <a:lnSpc>
                <a:spcPct val="110000"/>
              </a:lnSpc>
              <a:spcAft>
                <a:spcPts val="400"/>
              </a:spcAft>
            </a:pPr>
            <a:r>
              <a:rPr sz="1350" b="0">
                <a:solidFill>
                  <a:srgbClr val="1F2A3A"/>
                </a:solidFill>
                <a:latin typeface="맑은 고딕"/>
                <a:ea typeface="맑은 고딕"/>
                <a:cs typeface="맑은 고딕"/>
              </a:rPr>
              <a:t>Filter</a:t>
            </a:r>
          </a:p>
          <a:p>
            <a:pPr algn="ctr">
              <a:lnSpc>
                <a:spcPct val="110000"/>
              </a:lnSpc>
              <a:spcAft>
                <a:spcPts val="400"/>
              </a:spcAft>
            </a:pPr>
            <a:r>
              <a:rPr sz="1350" b="0">
                <a:solidFill>
                  <a:srgbClr val="1F2A3A"/>
                </a:solidFill>
                <a:latin typeface="맑은 고딕"/>
                <a:ea typeface="맑은 고딕"/>
                <a:cs typeface="맑은 고딕"/>
              </a:rPr>
              <a:t>「설명 가능」이 아닌</a:t>
            </a:r>
          </a:p>
          <a:p>
            <a:pPr algn="ctr">
              <a:lnSpc>
                <a:spcPct val="110000"/>
              </a:lnSpc>
              <a:spcAft>
                <a:spcPts val="400"/>
              </a:spcAft>
            </a:pPr>
            <a:r>
              <a:rPr sz="1350" b="0">
                <a:solidFill>
                  <a:srgbClr val="1F2A3A"/>
                </a:solidFill>
                <a:latin typeface="맑은 고딕"/>
                <a:ea typeface="맑은 고딕"/>
                <a:cs typeface="맑은 고딕"/>
              </a:rPr>
              <a:t>항목만 남기는</a:t>
            </a:r>
          </a:p>
          <a:p>
            <a:pPr algn="ctr">
              <a:lnSpc>
                <a:spcPct val="110000"/>
              </a:lnSpc>
              <a:spcAft>
                <a:spcPts val="400"/>
              </a:spcAft>
            </a:pPr>
            <a:r>
              <a:rPr sz="1350" b="0">
                <a:solidFill>
                  <a:srgbClr val="1F2A3A"/>
                </a:solidFill>
                <a:latin typeface="맑은 고딕"/>
                <a:ea typeface="맑은 고딕"/>
                <a:cs typeface="맑은 고딕"/>
              </a:rPr>
              <a:t>조건을 건다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재학습</a:t>
            </a:r>
          </a:p>
          <a:p>
            <a:pPr algn="ctr">
              <a:lnSpc>
                <a:spcPct val="110000"/>
              </a:lnSpc>
              <a:spcAft>
                <a:spcPts val="400"/>
              </a:spcAft>
            </a:pPr>
            <a:r>
              <a:rPr sz="1350" b="0">
                <a:solidFill>
                  <a:srgbClr val="1F2A3A"/>
                </a:solidFill>
                <a:latin typeface="맑은 고딕"/>
                <a:ea typeface="맑은 고딕"/>
                <a:cs typeface="맑은 고딕"/>
              </a:rPr>
              <a:t>남은 항목을</a:t>
            </a:r>
          </a:p>
          <a:p>
            <a:pPr algn="ctr">
              <a:lnSpc>
                <a:spcPct val="110000"/>
              </a:lnSpc>
              <a:spcAft>
                <a:spcPts val="400"/>
              </a:spcAft>
            </a:pPr>
            <a:r>
              <a:rPr sz="1350" b="0">
                <a:solidFill>
                  <a:srgbClr val="1F2A3A"/>
                </a:solidFill>
                <a:latin typeface="맑은 고딕"/>
                <a:ea typeface="맑은 고딕"/>
                <a:cs typeface="맑은 고딕"/>
              </a:rPr>
              <a:t>서술, 식별, 보완, 확인의</a:t>
            </a:r>
          </a:p>
          <a:p>
            <a:pPr algn="ctr">
              <a:lnSpc>
                <a:spcPct val="110000"/>
              </a:lnSpc>
              <a:spcAft>
                <a:spcPts val="400"/>
              </a:spcAft>
            </a:pPr>
            <a:r>
              <a:rPr sz="1350" b="0">
                <a:solidFill>
                  <a:srgbClr val="1F2A3A"/>
                </a:solidFill>
                <a:latin typeface="맑은 고딕"/>
                <a:ea typeface="맑은 고딕"/>
                <a:cs typeface="맑은 고딕"/>
              </a:rPr>
              <a:t>절차로 다시 본다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갱신</a:t>
            </a:r>
          </a:p>
          <a:p>
            <a:pPr algn="ctr">
              <a:lnSpc>
                <a:spcPct val="110000"/>
              </a:lnSpc>
              <a:spcAft>
                <a:spcPts val="400"/>
              </a:spcAft>
            </a:pPr>
            <a:r>
              <a:rPr sz="1350" b="0">
                <a:solidFill>
                  <a:srgbClr val="1F2A3A"/>
                </a:solidFill>
                <a:latin typeface="맑은 고딕"/>
                <a:ea typeface="맑은 고딕"/>
                <a:cs typeface="맑은 고딕"/>
              </a:rPr>
              <a:t>확인을 통과하면</a:t>
            </a:r>
          </a:p>
          <a:p>
            <a:pPr algn="ctr">
              <a:lnSpc>
                <a:spcPct val="110000"/>
              </a:lnSpc>
              <a:spcAft>
                <a:spcPts val="400"/>
              </a:spcAft>
            </a:pPr>
            <a:r>
              <a:rPr sz="1350" b="0">
                <a:solidFill>
                  <a:srgbClr val="1F2A3A"/>
                </a:solidFill>
                <a:latin typeface="맑은 고딕"/>
                <a:ea typeface="맑은 고딕"/>
                <a:cs typeface="맑은 고딕"/>
              </a:rPr>
              <a:t>이해도를 올린다</a:t>
            </a:r>
          </a:p>
          <a:p>
            <a:pPr algn="ctr">
              <a:lnSpc>
                <a:spcPct val="110000"/>
              </a:lnSpc>
              <a:spcAft>
                <a:spcPts val="400"/>
              </a:spcAft>
            </a:pPr>
            <a:r>
              <a:rPr sz="1350" b="0">
                <a:solidFill>
                  <a:srgbClr val="1F2A3A"/>
                </a:solidFill>
                <a:latin typeface="맑은 고딕"/>
                <a:ea typeface="맑은 고딕"/>
                <a:cs typeface="맑은 고딕"/>
              </a:rPr>
              <a:t>그 항목은 목록에서</a:t>
            </a:r>
          </a:p>
          <a:p>
            <a:pPr algn="ctr">
              <a:lnSpc>
                <a:spcPct val="110000"/>
              </a:lnSpc>
              <a:spcAft>
                <a:spcPts val="400"/>
              </a:spcAft>
            </a:pPr>
            <a:r>
              <a:rPr sz="1350" b="0">
                <a:solidFill>
                  <a:srgbClr val="1F2A3A"/>
                </a:solidFill>
                <a:latin typeface="맑은 고딕"/>
                <a:ea typeface="맑은 고딕"/>
                <a:cs typeface="맑은 고딕"/>
              </a:rPr>
              <a:t>빠진다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공유와 게시: 공개 범위의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게시한 페이지는 링크를 아는 누구에게나 보이므로 공개하기 전에 내용의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공유</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지정한 사용자에게만 열람 · 편집 권한을 준다</a:t>
            </a:r>
          </a:p>
          <a:p>
            <a:pPr algn="l">
              <a:lnSpc>
                <a:spcPct val="110000"/>
              </a:lnSpc>
              <a:spcAft>
                <a:spcPts val="600"/>
              </a:spcAft>
            </a:pPr>
            <a:r>
              <a:rPr sz="1450" b="0">
                <a:solidFill>
                  <a:srgbClr val="1F2A3A"/>
                </a:solidFill>
                <a:latin typeface="맑은 고딕"/>
                <a:ea typeface="맑은 고딕"/>
                <a:cs typeface="맑은 고딕"/>
              </a:rPr>
              <a:t>• 권한을 받은 계정으로 로그인해야 보인다</a:t>
            </a:r>
          </a:p>
          <a:p>
            <a:pPr algn="l">
              <a:lnSpc>
                <a:spcPct val="110000"/>
              </a:lnSpc>
              <a:spcAft>
                <a:spcPts val="600"/>
              </a:spcAft>
            </a:pPr>
            <a:r>
              <a:rPr sz="1450" b="0">
                <a:solidFill>
                  <a:srgbClr val="1F2A3A"/>
                </a:solidFill>
                <a:latin typeface="맑은 고딕"/>
                <a:ea typeface="맑은 고딕"/>
                <a:cs typeface="맑은 고딕"/>
              </a:rPr>
              <a:t>• 함께 작업하는 사람과 쓸 때 고른다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지정한 사람만</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게시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페이지를 웹 주소로 공개한다</a:t>
            </a:r>
          </a:p>
          <a:p>
            <a:pPr algn="l">
              <a:lnSpc>
                <a:spcPct val="110000"/>
              </a:lnSpc>
              <a:spcAft>
                <a:spcPts val="600"/>
              </a:spcAft>
            </a:pPr>
            <a:r>
              <a:rPr sz="1450" b="0">
                <a:solidFill>
                  <a:srgbClr val="1F2A3A"/>
                </a:solidFill>
                <a:latin typeface="맑은 고딕"/>
                <a:ea typeface="맑은 고딕"/>
                <a:cs typeface="맑은 고딕"/>
              </a:rPr>
              <a:t>• 로그인 없이 링크만으로 열린다</a:t>
            </a:r>
          </a:p>
          <a:p>
            <a:pPr algn="l">
              <a:lnSpc>
                <a:spcPct val="110000"/>
              </a:lnSpc>
              <a:spcAft>
                <a:spcPts val="600"/>
              </a:spcAft>
            </a:pPr>
            <a:r>
              <a:rPr sz="1450" b="0">
                <a:solidFill>
                  <a:srgbClr val="1F2A3A"/>
                </a:solidFill>
                <a:latin typeface="맑은 고딕"/>
                <a:ea typeface="맑은 고딕"/>
                <a:cs typeface="맑은 고딕"/>
              </a:rPr>
              <a:t>• 페이지 안의 데이터베이스 항목도 함께 보인다</a:t>
            </a:r>
          </a:p>
          <a:p>
            <a:pPr algn="l">
              <a:lnSpc>
                <a:spcPct val="110000"/>
              </a:lnSpc>
              <a:spcAft>
                <a:spcPts val="600"/>
              </a:spcAft>
            </a:pPr>
            <a:r>
              <a:rPr sz="1450" b="0">
                <a:solidFill>
                  <a:srgbClr val="1F2A3A"/>
                </a:solidFill>
                <a:latin typeface="맑은 고딕"/>
                <a:ea typeface="맑은 고딕"/>
                <a:cs typeface="맑은 고딕"/>
              </a:rPr>
              <a:t>• 개인 정보, 계정, 접속 키는 넣지 않는다</a:t>
            </a:r>
          </a:p>
        </p:txBody>
      </p:sp>
      <p:sp>
        <p:nvSpPr>
          <p:cNvPr id="18" name="Rounded Rectangle 17"/>
          <p:cNvSpPr/>
          <p:nvPr/>
        </p:nvSpPr>
        <p:spPr>
          <a:xfrm>
            <a:off x="6781647" y="509600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링크를 아는 누구나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Notion 학습 노트의 구성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과정 홈과 학습 노트 데이터베이스를 만들어 이후 기록의 틀로 삼는다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과정 홈 하나와 학습 노트 데이터베이스 하나가 만들어지고 첫 기록 한 건이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home" descr="hom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과정 홈</a:t>
            </a:r>
          </a:p>
          <a:p>
            <a:pPr algn="l">
              <a:lnSpc>
                <a:spcPct val="110000"/>
              </a:lnSpc>
              <a:spcAft>
                <a:spcPts val="400"/>
              </a:spcAft>
            </a:pPr>
            <a:r>
              <a:rPr sz="1400" b="0">
                <a:solidFill>
                  <a:srgbClr val="1F2A3A"/>
                </a:solidFill>
                <a:latin typeface="맑은 고딕"/>
                <a:ea typeface="맑은 고딕"/>
                <a:cs typeface="맑은 고딕"/>
              </a:rPr>
              <a:t>• 과정 전체의 입구가 되는 페이지이다</a:t>
            </a:r>
          </a:p>
          <a:p>
            <a:pPr algn="l">
              <a:lnSpc>
                <a:spcPct val="110000"/>
              </a:lnSpc>
              <a:spcAft>
                <a:spcPts val="400"/>
              </a:spcAft>
            </a:pPr>
            <a:r>
              <a:rPr sz="1400" b="0">
                <a:solidFill>
                  <a:srgbClr val="1F2A3A"/>
                </a:solidFill>
                <a:latin typeface="맑은 고딕"/>
                <a:ea typeface="맑은 고딕"/>
                <a:cs typeface="맑은 고딕"/>
              </a:rPr>
              <a:t>• 노트의 사용 규칙을 몇 줄로 적어 둔다</a:t>
            </a:r>
          </a:p>
        </p:txBody>
      </p:sp>
      <p:sp>
        <p:nvSpPr>
          <p:cNvPr id="10" name="Rounded Rectangle 9"/>
          <p:cNvSpPr/>
          <p:nvPr/>
        </p:nvSpPr>
        <p:spPr>
          <a:xfrm>
            <a:off x="777240" y="536676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기록의 입구</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구획</a:t>
            </a:r>
          </a:p>
          <a:p>
            <a:pPr algn="l">
              <a:lnSpc>
                <a:spcPct val="110000"/>
              </a:lnSpc>
              <a:spcAft>
                <a:spcPts val="400"/>
              </a:spcAft>
            </a:pPr>
            <a:r>
              <a:rPr sz="1400" b="0">
                <a:solidFill>
                  <a:srgbClr val="1F2A3A"/>
                </a:solidFill>
                <a:latin typeface="맑은 고딕"/>
                <a:ea typeface="맑은 고딕"/>
                <a:cs typeface="맑은 고딕"/>
              </a:rPr>
              <a:t>• 본문을 개념 정리, 참고 자료, 실습 결과로 나눈다</a:t>
            </a:r>
          </a:p>
          <a:p>
            <a:pPr algn="l">
              <a:lnSpc>
                <a:spcPct val="110000"/>
              </a:lnSpc>
              <a:spcAft>
                <a:spcPts val="400"/>
              </a:spcAft>
            </a:pPr>
            <a:r>
              <a:rPr sz="1400" b="0">
                <a:solidFill>
                  <a:srgbClr val="1F2A3A"/>
                </a:solidFill>
                <a:latin typeface="맑은 고딕"/>
                <a:ea typeface="맑은 고딕"/>
                <a:cs typeface="맑은 고딕"/>
              </a:rPr>
              <a:t>• 기록의 종류마다 놓일 자리가 정해진다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종류의 구분</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학습 노트 데이터베이스</a:t>
            </a:r>
          </a:p>
          <a:p>
            <a:pPr algn="l">
              <a:lnSpc>
                <a:spcPct val="110000"/>
              </a:lnSpc>
              <a:spcAft>
                <a:spcPts val="400"/>
              </a:spcAft>
            </a:pPr>
            <a:r>
              <a:rPr sz="1400" b="0">
                <a:solidFill>
                  <a:srgbClr val="1F2A3A"/>
                </a:solidFill>
                <a:latin typeface="맑은 고딕"/>
                <a:ea typeface="맑은 고딕"/>
                <a:cs typeface="맑은 고딕"/>
              </a:rPr>
              <a:t>• 속성은 분야, 이해도, 생성 일시이다</a:t>
            </a:r>
          </a:p>
          <a:p>
            <a:pPr algn="l">
              <a:lnSpc>
                <a:spcPct val="110000"/>
              </a:lnSpc>
              <a:spcAft>
                <a:spcPts val="400"/>
              </a:spcAft>
            </a:pPr>
            <a:r>
              <a:rPr sz="1400" b="0">
                <a:solidFill>
                  <a:srgbClr val="1F2A3A"/>
                </a:solidFill>
                <a:latin typeface="맑은 고딕"/>
                <a:ea typeface="맑은 고딕"/>
                <a:cs typeface="맑은 고딕"/>
              </a:rPr>
              <a:t>• 템플릿과 재학습 필터 보기를 함께 둔다</a:t>
            </a:r>
          </a:p>
          <a:p>
            <a:pPr algn="l">
              <a:lnSpc>
                <a:spcPct val="110000"/>
              </a:lnSpc>
              <a:spcAft>
                <a:spcPts val="400"/>
              </a:spcAft>
            </a:pPr>
            <a:r>
              <a:rPr sz="1400" b="0">
                <a:solidFill>
                  <a:srgbClr val="1F2A3A"/>
                </a:solidFill>
                <a:latin typeface="맑은 고딕"/>
                <a:ea typeface="맑은 고딕"/>
                <a:cs typeface="맑은 고딕"/>
              </a:rPr>
              <a:t>• 첫 기록으로 개념 하나를 자신의 문장으로 적는다</a:t>
            </a:r>
          </a:p>
        </p:txBody>
      </p:sp>
      <p:sp>
        <p:nvSpPr>
          <p:cNvPr id="22" name="Rounded Rectangle 21"/>
          <p:cNvSpPr/>
          <p:nvPr/>
        </p:nvSpPr>
        <p:spPr>
          <a:xfrm>
            <a:off x="8356396" y="5366766"/>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분류와 재학습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HYD 시스템 구조와 데이터 흐름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유온 TS1 한 값이 설비에서 저장소와 화면, 경보에 이르는 경로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설비에서 관제 화면까지: 선행 교육의 구성요소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설비에서 생긴 물리량은 센서와 PLC를 거쳐 관제 화면에 이르며, 이 수업은 그 값이 그 뒤에 어떻게 쓰이는지를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ectangle 5"/>
          <p:cNvSpPr/>
          <p:nvPr/>
        </p:nvSpPr>
        <p:spPr>
          <a:xfrm>
            <a:off x="1935441" y="3465385"/>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물리량</a:t>
            </a:r>
          </a:p>
        </p:txBody>
      </p:sp>
      <p:sp>
        <p:nvSpPr>
          <p:cNvPr id="9" name="Oval 8"/>
          <p:cNvSpPr/>
          <p:nvPr/>
        </p:nvSpPr>
        <p:spPr>
          <a:xfrm>
            <a:off x="1341081"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engine" descr="engine_13294B_1.6.png"/>
          <p:cNvPicPr>
            <a:picLocks noChangeAspect="1"/>
          </p:cNvPicPr>
          <p:nvPr/>
        </p:nvPicPr>
        <p:blipFill>
          <a:blip r:embed="rId3"/>
          <a:stretch>
            <a:fillRect/>
          </a:stretch>
        </p:blipFill>
        <p:spPr>
          <a:xfrm>
            <a:off x="1626374" y="3229470"/>
            <a:ext cx="618134" cy="618134"/>
          </a:xfrm>
          <a:prstGeom prst="rect">
            <a:avLst/>
          </a:prstGeom>
        </p:spPr>
      </p:pic>
      <p:sp>
        <p:nvSpPr>
          <p:cNvPr id="11" name="TextBox 10"/>
          <p:cNvSpPr txBox="1"/>
          <p:nvPr/>
        </p:nvSpPr>
        <p:spPr>
          <a:xfrm>
            <a:off x="640079"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a:t>
            </a:r>
          </a:p>
          <a:p>
            <a:pPr algn="ctr">
              <a:lnSpc>
                <a:spcPct val="110000"/>
              </a:lnSpc>
              <a:spcAft>
                <a:spcPts val="400"/>
              </a:spcAft>
            </a:pPr>
            <a:r>
              <a:rPr sz="1300" b="0">
                <a:solidFill>
                  <a:srgbClr val="1F2A3A"/>
                </a:solidFill>
                <a:latin typeface="맑은 고딕"/>
                <a:ea typeface="맑은 고딕"/>
                <a:cs typeface="맑은 고딕"/>
              </a:rPr>
              <a:t>압력, 온도, 진동 같은</a:t>
            </a:r>
          </a:p>
          <a:p>
            <a:pPr algn="ctr">
              <a:lnSpc>
                <a:spcPct val="110000"/>
              </a:lnSpc>
              <a:spcAft>
                <a:spcPts val="400"/>
              </a:spcAft>
            </a:pPr>
            <a:r>
              <a:rPr sz="1300" b="0">
                <a:solidFill>
                  <a:srgbClr val="1F2A3A"/>
                </a:solidFill>
                <a:latin typeface="맑은 고딕"/>
                <a:ea typeface="맑은 고딕"/>
                <a:cs typeface="맑은 고딕"/>
              </a:rPr>
              <a:t>물리량이 생긴다</a:t>
            </a:r>
          </a:p>
        </p:txBody>
      </p:sp>
      <p:sp>
        <p:nvSpPr>
          <p:cNvPr id="12" name="Chevron 11"/>
          <p:cNvSpPr/>
          <p:nvPr/>
        </p:nvSpPr>
        <p:spPr>
          <a:xfrm>
            <a:off x="5976975"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측정값</a:t>
            </a:r>
          </a:p>
        </p:txBody>
      </p:sp>
      <p:sp>
        <p:nvSpPr>
          <p:cNvPr id="14" name="Oval 13"/>
          <p:cNvSpPr/>
          <p:nvPr/>
        </p:nvSpPr>
        <p:spPr>
          <a:xfrm>
            <a:off x="4114685"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gauge" descr="gauge_13294B_1.6.png"/>
          <p:cNvPicPr>
            <a:picLocks noChangeAspect="1"/>
          </p:cNvPicPr>
          <p:nvPr/>
        </p:nvPicPr>
        <p:blipFill>
          <a:blip r:embed="rId4"/>
          <a:stretch>
            <a:fillRect/>
          </a:stretch>
        </p:blipFill>
        <p:spPr>
          <a:xfrm>
            <a:off x="4399978" y="3229470"/>
            <a:ext cx="618134" cy="618134"/>
          </a:xfrm>
          <a:prstGeom prst="rect">
            <a:avLst/>
          </a:prstGeom>
        </p:spPr>
      </p:pic>
      <p:sp>
        <p:nvSpPr>
          <p:cNvPr id="16" name="TextBox 15"/>
          <p:cNvSpPr txBox="1"/>
          <p:nvPr/>
        </p:nvSpPr>
        <p:spPr>
          <a:xfrm>
            <a:off x="3413683"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센서</a:t>
            </a:r>
          </a:p>
          <a:p>
            <a:pPr algn="ctr">
              <a:lnSpc>
                <a:spcPct val="110000"/>
              </a:lnSpc>
              <a:spcAft>
                <a:spcPts val="400"/>
              </a:spcAft>
            </a:pPr>
            <a:r>
              <a:rPr sz="1300" b="0">
                <a:solidFill>
                  <a:srgbClr val="1F2A3A"/>
                </a:solidFill>
                <a:latin typeface="맑은 고딕"/>
                <a:ea typeface="맑은 고딕"/>
                <a:cs typeface="맑은 고딕"/>
              </a:rPr>
              <a:t>물리량을 재어</a:t>
            </a:r>
          </a:p>
          <a:p>
            <a:pPr algn="ctr">
              <a:lnSpc>
                <a:spcPct val="110000"/>
              </a:lnSpc>
              <a:spcAft>
                <a:spcPts val="400"/>
              </a:spcAft>
            </a:pPr>
            <a:r>
              <a:rPr sz="1300" b="0">
                <a:solidFill>
                  <a:srgbClr val="1F2A3A"/>
                </a:solidFill>
                <a:latin typeface="맑은 고딕"/>
                <a:ea typeface="맑은 고딕"/>
                <a:cs typeface="맑은 고딕"/>
              </a:rPr>
              <a:t>값으로 내놓는다</a:t>
            </a:r>
          </a:p>
        </p:txBody>
      </p:sp>
      <p:sp>
        <p:nvSpPr>
          <p:cNvPr id="17" name="Chevron 16"/>
          <p:cNvSpPr/>
          <p:nvPr/>
        </p:nvSpPr>
        <p:spPr>
          <a:xfrm>
            <a:off x="8750579"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값과 상태</a:t>
            </a:r>
          </a:p>
        </p:txBody>
      </p:sp>
      <p:sp>
        <p:nvSpPr>
          <p:cNvPr id="19" name="Oval 18"/>
          <p:cNvSpPr/>
          <p:nvPr/>
        </p:nvSpPr>
        <p:spPr>
          <a:xfrm>
            <a:off x="688828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cpu" descr="cpu_13294B_1.6.png"/>
          <p:cNvPicPr>
            <a:picLocks noChangeAspect="1"/>
          </p:cNvPicPr>
          <p:nvPr/>
        </p:nvPicPr>
        <p:blipFill>
          <a:blip r:embed="rId5"/>
          <a:stretch>
            <a:fillRect/>
          </a:stretch>
        </p:blipFill>
        <p:spPr>
          <a:xfrm>
            <a:off x="7173582" y="3229470"/>
            <a:ext cx="618134" cy="618134"/>
          </a:xfrm>
          <a:prstGeom prst="rect">
            <a:avLst/>
          </a:prstGeom>
        </p:spPr>
      </p:pic>
      <p:sp>
        <p:nvSpPr>
          <p:cNvPr id="21" name="TextBox 20"/>
          <p:cNvSpPr txBox="1"/>
          <p:nvPr/>
        </p:nvSpPr>
        <p:spPr>
          <a:xfrm>
            <a:off x="6187287"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Programmable Logic Controller</a:t>
            </a:r>
          </a:p>
          <a:p>
            <a:pPr algn="ctr">
              <a:lnSpc>
                <a:spcPct val="110000"/>
              </a:lnSpc>
              <a:spcAft>
                <a:spcPts val="400"/>
              </a:spcAft>
            </a:pPr>
            <a:r>
              <a:rPr sz="1300" b="0">
                <a:solidFill>
                  <a:srgbClr val="1F2A3A"/>
                </a:solidFill>
                <a:latin typeface="맑은 고딕"/>
                <a:ea typeface="맑은 고딕"/>
                <a:cs typeface="맑은 고딕"/>
              </a:rPr>
              <a:t>값을 읽어 설비를 제어한다</a:t>
            </a:r>
          </a:p>
        </p:txBody>
      </p:sp>
      <p:sp>
        <p:nvSpPr>
          <p:cNvPr id="22" name="Oval 21"/>
          <p:cNvSpPr/>
          <p:nvPr/>
        </p:nvSpPr>
        <p:spPr>
          <a:xfrm>
            <a:off x="9661893"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device-desktop-analytics" descr="device-desktop-analytics_13294B_1.6.png"/>
          <p:cNvPicPr>
            <a:picLocks noChangeAspect="1"/>
          </p:cNvPicPr>
          <p:nvPr/>
        </p:nvPicPr>
        <p:blipFill>
          <a:blip r:embed="rId6"/>
          <a:stretch>
            <a:fillRect/>
          </a:stretch>
        </p:blipFill>
        <p:spPr>
          <a:xfrm>
            <a:off x="9947186" y="3229470"/>
            <a:ext cx="618134" cy="618134"/>
          </a:xfrm>
          <a:prstGeom prst="rect">
            <a:avLst/>
          </a:prstGeom>
        </p:spPr>
      </p:pic>
      <p:sp>
        <p:nvSpPr>
          <p:cNvPr id="24" name="TextBox 23"/>
          <p:cNvSpPr txBox="1"/>
          <p:nvPr/>
        </p:nvSpPr>
        <p:spPr>
          <a:xfrm>
            <a:off x="8960891"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관제 화면</a:t>
            </a:r>
          </a:p>
          <a:p>
            <a:pPr algn="ctr">
              <a:lnSpc>
                <a:spcPct val="110000"/>
              </a:lnSpc>
              <a:spcAft>
                <a:spcPts val="400"/>
              </a:spcAft>
            </a:pPr>
            <a:r>
              <a:rPr sz="1300" b="0">
                <a:solidFill>
                  <a:srgbClr val="1F2A3A"/>
                </a:solidFill>
                <a:latin typeface="맑은 고딕"/>
                <a:ea typeface="맑은 고딕"/>
                <a:cs typeface="맑은 고딕"/>
              </a:rPr>
              <a:t>SCADA: Supervisory Control</a:t>
            </a:r>
          </a:p>
          <a:p>
            <a:pPr algn="ctr">
              <a:lnSpc>
                <a:spcPct val="110000"/>
              </a:lnSpc>
              <a:spcAft>
                <a:spcPts val="400"/>
              </a:spcAft>
            </a:pPr>
            <a:r>
              <a:rPr sz="1300" b="0">
                <a:solidFill>
                  <a:srgbClr val="1F2A3A"/>
                </a:solidFill>
                <a:latin typeface="맑은 고딕"/>
                <a:ea typeface="맑은 고딕"/>
                <a:cs typeface="맑은 고딕"/>
              </a:rPr>
              <a:t>and Data Acquisition</a:t>
            </a:r>
          </a:p>
          <a:p>
            <a:pPr algn="ctr">
              <a:lnSpc>
                <a:spcPct val="110000"/>
              </a:lnSpc>
              <a:spcAft>
                <a:spcPts val="400"/>
              </a:spcAft>
            </a:pPr>
            <a:r>
              <a:rPr sz="1300" b="0">
                <a:solidFill>
                  <a:srgbClr val="1F2A3A"/>
                </a:solidFill>
                <a:latin typeface="맑은 고딕"/>
                <a:ea typeface="맑은 고딕"/>
                <a:cs typeface="맑은 고딕"/>
              </a:rPr>
              <a:t>값을 보여 주고 조작을 받는다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사건: HYD-01의 유온 TS1 상승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단원은 유압 설비 HYD-01의 유온 TS1이 오르는 사건 하나를 따라가며 값이 지나가는 자리를 차례로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899918"/>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899918"/>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HYD-01의 유온 TS1이 48 ℃에서 오르기 시작한다</a:t>
            </a:r>
          </a:p>
        </p:txBody>
      </p:sp>
      <p:sp>
        <p:nvSpPr>
          <p:cNvPr id="8" name="Oval 7"/>
          <p:cNvSpPr/>
          <p:nvPr/>
        </p:nvSpPr>
        <p:spPr>
          <a:xfrm>
            <a:off x="548640" y="4180078"/>
            <a:ext cx="731520" cy="731520"/>
          </a:xfrm>
          <a:prstGeom prst="ellipse">
            <a:avLst/>
          </a:prstGeom>
          <a:solidFill>
            <a:srgbClr val="E7F3FD"/>
          </a:solidFill>
          <a:ln>
            <a:noFill/>
          </a:ln>
        </p:spPr>
        <p:txBody>
          <a:bodyPr rtlCol="0" anchor="ctr"/>
          <a:lstStyle/>
          <a:p>
            <a:pPr algn="ctr"/>
          </a:p>
        </p:txBody>
      </p:sp>
      <p:pic>
        <p:nvPicPr>
          <p:cNvPr id="9" name="아이콘:gauge" descr="gauge_13294B_1.6.png"/>
          <p:cNvPicPr>
            <a:picLocks noChangeAspect="1"/>
          </p:cNvPicPr>
          <p:nvPr/>
        </p:nvPicPr>
        <p:blipFill>
          <a:blip r:embed="rId3"/>
          <a:stretch>
            <a:fillRect/>
          </a:stretch>
        </p:blipFill>
        <p:spPr>
          <a:xfrm>
            <a:off x="702259" y="4333697"/>
            <a:ext cx="424281" cy="424281"/>
          </a:xfrm>
          <a:prstGeom prst="rect">
            <a:avLst/>
          </a:prstGeom>
        </p:spPr>
      </p:pic>
      <p:sp>
        <p:nvSpPr>
          <p:cNvPr id="10" name="TextBox 9"/>
          <p:cNvSpPr txBox="1"/>
          <p:nvPr/>
        </p:nvSpPr>
        <p:spPr>
          <a:xfrm>
            <a:off x="1371600"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생기는 곳</a:t>
            </a:r>
          </a:p>
          <a:p>
            <a:pPr algn="l">
              <a:lnSpc>
                <a:spcPct val="110000"/>
              </a:lnSpc>
              <a:spcAft>
                <a:spcPts val="400"/>
              </a:spcAft>
            </a:pPr>
            <a:r>
              <a:rPr sz="1400" b="0">
                <a:solidFill>
                  <a:srgbClr val="1F2A3A"/>
                </a:solidFill>
                <a:latin typeface="맑은 고딕"/>
                <a:ea typeface="맑은 고딕"/>
                <a:cs typeface="맑은 고딕"/>
              </a:rPr>
              <a:t>설비의 센서와 PLC</a:t>
            </a:r>
          </a:p>
        </p:txBody>
      </p:sp>
      <p:sp>
        <p:nvSpPr>
          <p:cNvPr id="11" name="Oval 10"/>
          <p:cNvSpPr/>
          <p:nvPr/>
        </p:nvSpPr>
        <p:spPr>
          <a:xfrm>
            <a:off x="4338218" y="4180078"/>
            <a:ext cx="731520" cy="731520"/>
          </a:xfrm>
          <a:prstGeom prst="ellipse">
            <a:avLst/>
          </a:prstGeom>
          <a:solidFill>
            <a:srgbClr val="E7F3FD"/>
          </a:solidFill>
          <a:ln>
            <a:noFill/>
          </a:ln>
        </p:spPr>
        <p:txBody>
          <a:bodyPr rtlCol="0" anchor="ctr"/>
          <a:lstStyle/>
          <a:p>
            <a:pPr algn="ctr"/>
          </a:p>
        </p:txBody>
      </p:sp>
      <p:pic>
        <p:nvPicPr>
          <p:cNvPr id="12" name="아이콘:stack-2" descr="stack-2_13294B_1.6.png"/>
          <p:cNvPicPr>
            <a:picLocks noChangeAspect="1"/>
          </p:cNvPicPr>
          <p:nvPr/>
        </p:nvPicPr>
        <p:blipFill>
          <a:blip r:embed="rId4"/>
          <a:stretch>
            <a:fillRect/>
          </a:stretch>
        </p:blipFill>
        <p:spPr>
          <a:xfrm>
            <a:off x="4491837" y="4333697"/>
            <a:ext cx="424281" cy="424281"/>
          </a:xfrm>
          <a:prstGeom prst="rect">
            <a:avLst/>
          </a:prstGeom>
        </p:spPr>
      </p:pic>
      <p:sp>
        <p:nvSpPr>
          <p:cNvPr id="13" name="TextBox 12"/>
          <p:cNvSpPr txBox="1"/>
          <p:nvPr/>
        </p:nvSpPr>
        <p:spPr>
          <a:xfrm>
            <a:off x="5161178"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값이 쌓이는 곳</a:t>
            </a:r>
          </a:p>
          <a:p>
            <a:pPr algn="l">
              <a:lnSpc>
                <a:spcPct val="110000"/>
              </a:lnSpc>
              <a:spcAft>
                <a:spcPts val="400"/>
              </a:spcAft>
            </a:pPr>
            <a:r>
              <a:rPr sz="1400" b="0">
                <a:solidFill>
                  <a:srgbClr val="1F2A3A"/>
                </a:solidFill>
                <a:latin typeface="맑은 고딕"/>
                <a:ea typeface="맑은 고딕"/>
                <a:cs typeface="맑은 고딕"/>
              </a:rPr>
              <a:t>메시지, 기록, 저장소</a:t>
            </a:r>
          </a:p>
        </p:txBody>
      </p:sp>
      <p:sp>
        <p:nvSpPr>
          <p:cNvPr id="14" name="Oval 13"/>
          <p:cNvSpPr/>
          <p:nvPr/>
        </p:nvSpPr>
        <p:spPr>
          <a:xfrm>
            <a:off x="8127796" y="4180078"/>
            <a:ext cx="731520" cy="731520"/>
          </a:xfrm>
          <a:prstGeom prst="ellipse">
            <a:avLst/>
          </a:prstGeom>
          <a:solidFill>
            <a:srgbClr val="E7F3FD"/>
          </a:solidFill>
          <a:ln>
            <a:noFill/>
          </a:ln>
        </p:spPr>
        <p:txBody>
          <a:bodyPr rtlCol="0" anchor="ctr"/>
          <a:lstStyle/>
          <a:p>
            <a:pPr algn="ctr"/>
          </a:p>
        </p:txBody>
      </p:sp>
      <p:pic>
        <p:nvPicPr>
          <p:cNvPr id="15" name="아이콘:bell-ringing" descr="bell-ringing_13294B_1.6.png"/>
          <p:cNvPicPr>
            <a:picLocks noChangeAspect="1"/>
          </p:cNvPicPr>
          <p:nvPr/>
        </p:nvPicPr>
        <p:blipFill>
          <a:blip r:embed="rId5"/>
          <a:stretch>
            <a:fillRect/>
          </a:stretch>
        </p:blipFill>
        <p:spPr>
          <a:xfrm>
            <a:off x="8281416" y="4333697"/>
            <a:ext cx="424281" cy="424281"/>
          </a:xfrm>
          <a:prstGeom prst="rect">
            <a:avLst/>
          </a:prstGeom>
        </p:spPr>
      </p:pic>
      <p:sp>
        <p:nvSpPr>
          <p:cNvPr id="16" name="TextBox 15"/>
          <p:cNvSpPr txBox="1"/>
          <p:nvPr/>
        </p:nvSpPr>
        <p:spPr>
          <a:xfrm>
            <a:off x="8950756" y="41343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값을 알아차리는 곳</a:t>
            </a:r>
          </a:p>
          <a:p>
            <a:pPr algn="l">
              <a:lnSpc>
                <a:spcPct val="110000"/>
              </a:lnSpc>
              <a:spcAft>
                <a:spcPts val="400"/>
              </a:spcAft>
            </a:pPr>
            <a:r>
              <a:rPr sz="1400" b="0">
                <a:solidFill>
                  <a:srgbClr val="1F2A3A"/>
                </a:solidFill>
                <a:latin typeface="맑은 고딕"/>
                <a:ea typeface="맑은 고딕"/>
                <a:cs typeface="맑은 고딕"/>
              </a:rPr>
              <a:t>화면과 감지기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9개 기능 계층과 보안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HYD는 현장 계측부터 승인과 실행까지를 아홉 기능 계층으로 나누고, 각 계층을 세 보안 영역에 배치한다.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계층_0_전체.svg" descr="illust_109260634588606222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641814"/>
            <a:ext cx="894578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 Operational Technology · DMZ: Demilitarized Zone · IT: Information Technology</a:t>
            </a:r>
          </a:p>
        </p:txBody>
      </p:sp>
      <p:sp>
        <p:nvSpPr>
          <p:cNvPr id="8" name="TextBox 7"/>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9" name="TextBox 8"/>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10" name="TextBox 9"/>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1" name="TextBox 10"/>
          <p:cNvSpPr txBox="1"/>
          <p:nvPr/>
        </p:nvSpPr>
        <p:spPr>
          <a:xfrm>
            <a:off x="1841144" y="2020010"/>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9 · 프로세스 · 승인 · 앱</a:t>
            </a:r>
          </a:p>
        </p:txBody>
      </p:sp>
      <p:sp>
        <p:nvSpPr>
          <p:cNvPr id="12" name="TextBox 11"/>
          <p:cNvSpPr txBox="1"/>
          <p:nvPr/>
        </p:nvSpPr>
        <p:spPr>
          <a:xfrm>
            <a:off x="1841144" y="25022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8 · AI 에이전트</a:t>
            </a:r>
          </a:p>
        </p:txBody>
      </p:sp>
      <p:sp>
        <p:nvSpPr>
          <p:cNvPr id="13" name="TextBox 12"/>
          <p:cNvSpPr txBox="1"/>
          <p:nvPr/>
        </p:nvSpPr>
        <p:spPr>
          <a:xfrm>
            <a:off x="1841144" y="29844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7 · 온톨로지 · 원인분석</a:t>
            </a:r>
          </a:p>
        </p:txBody>
      </p:sp>
      <p:sp>
        <p:nvSpPr>
          <p:cNvPr id="14" name="TextBox 13"/>
          <p:cNvSpPr txBox="1"/>
          <p:nvPr/>
        </p:nvSpPr>
        <p:spPr>
          <a:xfrm>
            <a:off x="1841144" y="3466609"/>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p:txBody>
      </p:sp>
      <p:sp>
        <p:nvSpPr>
          <p:cNvPr id="15" name="TextBox 14"/>
          <p:cNvSpPr txBox="1"/>
          <p:nvPr/>
        </p:nvSpPr>
        <p:spPr>
          <a:xfrm>
            <a:off x="1841144" y="39488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p:txBody>
      </p:sp>
      <p:sp>
        <p:nvSpPr>
          <p:cNvPr id="16" name="TextBox 15"/>
          <p:cNvSpPr txBox="1"/>
          <p:nvPr/>
        </p:nvSpPr>
        <p:spPr>
          <a:xfrm>
            <a:off x="1841144" y="44310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p:txBody>
      </p:sp>
      <p:sp>
        <p:nvSpPr>
          <p:cNvPr id="17" name="TextBox 16"/>
          <p:cNvSpPr txBox="1"/>
          <p:nvPr/>
        </p:nvSpPr>
        <p:spPr>
          <a:xfrm>
            <a:off x="1841144" y="49132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p:txBody>
      </p:sp>
      <p:sp>
        <p:nvSpPr>
          <p:cNvPr id="18" name="TextBox 17"/>
          <p:cNvSpPr txBox="1"/>
          <p:nvPr/>
        </p:nvSpPr>
        <p:spPr>
          <a:xfrm>
            <a:off x="1841144" y="5395408"/>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MQTT(Message Queuing Telemetry Transport)</a:t>
            </a:r>
          </a:p>
        </p:txBody>
      </p:sp>
      <p:sp>
        <p:nvSpPr>
          <p:cNvPr id="19" name="TextBox 18"/>
          <p:cNvSpPr txBox="1"/>
          <p:nvPr/>
        </p:nvSpPr>
        <p:spPr>
          <a:xfrm>
            <a:off x="1841144" y="5877607"/>
            <a:ext cx="763664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설비_유압파워팩.svg" descr="illust_849490782862471765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 TS1이 오르는 까닭: 작동유의 순환과 쿨러의 열 방출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쿨러가 열을 덜 내보내면 덜 식은 작동유가 탱크로 돌아가 다시 돌므로 쿨러 입구의 유온 TS1이 오른다.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_유압파워팩.svg" descr="illust_849490782862471765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531504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작동유 탱크</a:t>
            </a:r>
          </a:p>
        </p:txBody>
      </p:sp>
      <p:sp>
        <p:nvSpPr>
          <p:cNvPr id="8" name="TextBox 7"/>
          <p:cNvSpPr txBox="1"/>
          <p:nvPr/>
        </p:nvSpPr>
        <p:spPr>
          <a:xfrm>
            <a:off x="1252031"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모터 · 펌프</a:t>
            </a:r>
          </a:p>
        </p:txBody>
      </p:sp>
      <p:sp>
        <p:nvSpPr>
          <p:cNvPr id="9" name="TextBox 8"/>
          <p:cNvSpPr txBox="1"/>
          <p:nvPr/>
        </p:nvSpPr>
        <p:spPr>
          <a:xfrm>
            <a:off x="7481353" y="1864004"/>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a:t>
            </a:r>
          </a:p>
        </p:txBody>
      </p:sp>
      <p:sp>
        <p:nvSpPr>
          <p:cNvPr id="10" name="TextBox 9"/>
          <p:cNvSpPr txBox="1"/>
          <p:nvPr/>
        </p:nvSpPr>
        <p:spPr>
          <a:xfrm>
            <a:off x="8386841" y="290404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뜨거운 작동유</a:t>
            </a:r>
          </a:p>
          <a:p>
            <a:pPr algn="ctr">
              <a:lnSpc>
                <a:spcPct val="110000"/>
              </a:lnSpc>
              <a:spcAft>
                <a:spcPts val="100"/>
              </a:spcAft>
            </a:pPr>
            <a:r>
              <a:rPr sz="1300" b="0">
                <a:solidFill>
                  <a:srgbClr val="556175"/>
                </a:solidFill>
                <a:latin typeface="맑은 고딕"/>
                <a:ea typeface="맑은 고딕"/>
                <a:cs typeface="맑은 고딕"/>
              </a:rPr>
              <a:t>부하에서 돌아온다</a:t>
            </a:r>
          </a:p>
        </p:txBody>
      </p:sp>
      <p:sp>
        <p:nvSpPr>
          <p:cNvPr id="11" name="TextBox 10"/>
          <p:cNvSpPr txBox="1"/>
          <p:nvPr/>
        </p:nvSpPr>
        <p:spPr>
          <a:xfrm>
            <a:off x="5550372" y="2667670"/>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TS1 유온</a:t>
            </a:r>
          </a:p>
          <a:p>
            <a:pPr algn="ctr">
              <a:lnSpc>
                <a:spcPct val="110000"/>
              </a:lnSpc>
              <a:spcAft>
                <a:spcPts val="100"/>
              </a:spcAft>
            </a:pPr>
            <a:r>
              <a:rPr sz="1300" b="0">
                <a:solidFill>
                  <a:srgbClr val="556175"/>
                </a:solidFill>
                <a:latin typeface="맑은 고딕"/>
                <a:ea typeface="맑은 고딕"/>
                <a:cs typeface="맑은 고딕"/>
              </a:rPr>
              <a:t>쿨러 입구에서 잰다</a:t>
            </a:r>
          </a:p>
          <a:p>
            <a:pPr algn="ctr">
              <a:lnSpc>
                <a:spcPct val="110000"/>
              </a:lnSpc>
              <a:spcAft>
                <a:spcPts val="100"/>
              </a:spcAft>
            </a:pPr>
            <a:r>
              <a:rPr sz="1300" b="0">
                <a:solidFill>
                  <a:srgbClr val="556175"/>
                </a:solidFill>
                <a:latin typeface="맑은 고딕"/>
                <a:ea typeface="맑은 고딕"/>
                <a:cs typeface="맑은 고딕"/>
              </a:rPr>
              <a:t>정상 48 ℃</a:t>
            </a:r>
          </a:p>
        </p:txBody>
      </p:sp>
      <p:sp>
        <p:nvSpPr>
          <p:cNvPr id="12" name="TextBox 11"/>
          <p:cNvSpPr txBox="1"/>
          <p:nvPr/>
        </p:nvSpPr>
        <p:spPr>
          <a:xfrm>
            <a:off x="6314037" y="5244129"/>
            <a:ext cx="436379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오일 쿨러</a:t>
            </a:r>
          </a:p>
          <a:p>
            <a:pPr algn="ctr">
              <a:lnSpc>
                <a:spcPct val="110000"/>
              </a:lnSpc>
              <a:spcAft>
                <a:spcPts val="100"/>
              </a:spcAft>
            </a:pPr>
            <a:r>
              <a:rPr sz="1300" b="0">
                <a:solidFill>
                  <a:srgbClr val="556175"/>
                </a:solidFill>
                <a:latin typeface="맑은 고딕"/>
                <a:ea typeface="맑은 고딕"/>
                <a:cs typeface="맑은 고딕"/>
              </a:rPr>
              <a:t>작동유의 열을 공기로 내보낸다</a:t>
            </a:r>
          </a:p>
          <a:p>
            <a:pPr algn="ctr">
              <a:lnSpc>
                <a:spcPct val="110000"/>
              </a:lnSpc>
              <a:spcAft>
                <a:spcPts val="100"/>
              </a:spcAft>
            </a:pPr>
            <a:r>
              <a:rPr sz="1300" b="0">
                <a:solidFill>
                  <a:srgbClr val="556175"/>
                </a:solidFill>
                <a:latin typeface="맑은 고딕"/>
                <a:ea typeface="맑은 고딕"/>
                <a:cs typeface="맑은 고딕"/>
              </a:rPr>
              <a:t>열을 덜 내보내면 덜 식은 작동유가 다시 돈다</a:t>
            </a:r>
          </a:p>
        </p:txBody>
      </p:sp>
      <p:sp>
        <p:nvSpPr>
          <p:cNvPr id="13" name="TextBox 12"/>
          <p:cNvSpPr txBox="1"/>
          <p:nvPr/>
        </p:nvSpPr>
        <p:spPr>
          <a:xfrm>
            <a:off x="9870532" y="3991356"/>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팬</a:t>
            </a:r>
          </a:p>
        </p:txBody>
      </p:sp>
      <p:sp>
        <p:nvSpPr>
          <p:cNvPr id="14" name="TextBox 13"/>
          <p:cNvSpPr txBox="1"/>
          <p:nvPr/>
        </p:nvSpPr>
        <p:spPr>
          <a:xfrm>
            <a:off x="4895803" y="5645962"/>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돌아오는 길</a:t>
            </a:r>
          </a:p>
          <a:p>
            <a:pPr algn="ctr">
              <a:lnSpc>
                <a:spcPct val="110000"/>
              </a:lnSpc>
              <a:spcAft>
                <a:spcPts val="100"/>
              </a:spcAft>
            </a:pPr>
            <a:r>
              <a:rPr sz="1300" b="0">
                <a:solidFill>
                  <a:srgbClr val="556175"/>
                </a:solidFill>
                <a:latin typeface="맑은 고딕"/>
                <a:ea typeface="맑은 고딕"/>
                <a:cs typeface="맑은 고딕"/>
              </a:rPr>
              <a:t>쿨러를 거쳐 탱크로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 센서 값을 읽고 설비를 보호하는 제어기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센서 값을 읽어 설비를 제어하고, 값이 위험 수준에 이르면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PLC</a:t>
            </a:r>
          </a:p>
          <a:p>
            <a:pPr algn="l">
              <a:lnSpc>
                <a:spcPct val="110000"/>
              </a:lnSpc>
              <a:spcAft>
                <a:spcPts val="200"/>
              </a:spcAft>
            </a:pPr>
            <a:r>
              <a:rPr sz="1150" b="0">
                <a:solidFill>
                  <a:srgbClr val="556175"/>
                </a:solidFill>
                <a:latin typeface="맑은 고딕"/>
                <a:ea typeface="맑은 고딕"/>
                <a:cs typeface="맑은 고딕"/>
              </a:rPr>
              <a:t>산업용 제어기</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현장에 설치하는 산업용 제어기이다. 센서 값을 읽고 프로그램에 따라 팬 · 펌프를 움직인다.</a:t>
            </a:r>
          </a:p>
          <a:p>
            <a:pPr algn="l">
              <a:lnSpc>
                <a:spcPct val="110000"/>
              </a:lnSpc>
              <a:spcAft>
                <a:spcPts val="300"/>
              </a:spcAft>
            </a:pPr>
            <a:r>
              <a:rPr sz="1400" b="0">
                <a:solidFill>
                  <a:srgbClr val="1F2A3A"/>
                </a:solidFill>
                <a:latin typeface="맑은 고딕"/>
                <a:ea typeface="맑은 고딕"/>
                <a:cs typeface="맑은 고딕"/>
              </a:rPr>
              <a:t>HYD-01의 PLC는 유온 TS1을 읽고, 팬 속도와 펌프 부하의 설정값을 받아 설비에 반영한다.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인터록</a:t>
            </a:r>
          </a:p>
          <a:p>
            <a:pPr algn="l">
              <a:lnSpc>
                <a:spcPct val="110000"/>
              </a:lnSpc>
              <a:spcAft>
                <a:spcPts val="200"/>
              </a:spcAft>
            </a:pPr>
            <a:r>
              <a:rPr sz="1150" b="0">
                <a:solidFill>
                  <a:srgbClr val="556175"/>
                </a:solidFill>
                <a:latin typeface="맑은 고딕"/>
                <a:ea typeface="맑은 고딕"/>
                <a:cs typeface="맑은 고딕"/>
              </a:rPr>
              <a:t>Interlock</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위험 조건이 되면 다른 명령보다 먼저 설비를 안전한 상태로 보내는 보호 동작이다.</a:t>
            </a:r>
          </a:p>
          <a:p>
            <a:pPr algn="l">
              <a:lnSpc>
                <a:spcPct val="110000"/>
              </a:lnSpc>
              <a:spcAft>
                <a:spcPts val="300"/>
              </a:spcAft>
            </a:pPr>
            <a:r>
              <a:rPr sz="1400" b="0">
                <a:solidFill>
                  <a:srgbClr val="1F2A3A"/>
                </a:solidFill>
                <a:latin typeface="맑은 고딕"/>
                <a:ea typeface="맑은 고딕"/>
                <a:cs typeface="맑은 고딕"/>
              </a:rPr>
              <a:t>예: 유온 TS1이 65 ℃를 넘으면 PLC가 설비를 보호 정지(TRIP)시킨다.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plant-sim</a:t>
            </a:r>
          </a:p>
          <a:p>
            <a:pPr algn="l">
              <a:lnSpc>
                <a:spcPct val="110000"/>
              </a:lnSpc>
              <a:spcAft>
                <a:spcPts val="200"/>
              </a:spcAft>
            </a:pPr>
            <a:r>
              <a:rPr sz="1150" b="0">
                <a:solidFill>
                  <a:srgbClr val="556175"/>
                </a:solidFill>
                <a:latin typeface="맑은 고딕"/>
                <a:ea typeface="맑은 고딕"/>
                <a:cs typeface="맑은 고딕"/>
              </a:rPr>
              <a:t>설비 · PLC</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유압 파워팩 3기와 PLC의 동작을 맡는 프로그램이다.</a:t>
            </a:r>
          </a:p>
          <a:p>
            <a:pPr algn="l">
              <a:lnSpc>
                <a:spcPct val="110000"/>
              </a:lnSpc>
              <a:spcAft>
                <a:spcPts val="300"/>
              </a:spcAft>
            </a:pPr>
            <a:r>
              <a:rPr sz="1400" b="0">
                <a:solidFill>
                  <a:srgbClr val="1F2A3A"/>
                </a:solidFill>
                <a:latin typeface="맑은 고딕"/>
                <a:ea typeface="맑은 고딕"/>
                <a:cs typeface="맑은 고딕"/>
              </a:rPr>
              <a:t>이 과정에서 다루는 센서 값과 PLC의 응답은 plant-sim이 만든다.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HYD-01의 인터록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PLC는 유온, 토출 압력, 팬 진동의 세 값 가운데 하나라도 한계를 벗어나면 설비를 보호 정지시킨다.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TS1</a:t>
            </a:r>
          </a:p>
          <a:p>
            <a:pPr algn="l">
              <a:lnSpc>
                <a:spcPct val="110000"/>
              </a:lnSpc>
              <a:spcAft>
                <a:spcPts val="400"/>
              </a:spcAft>
            </a:pPr>
            <a:r>
              <a:rPr sz="1400" b="0">
                <a:solidFill>
                  <a:srgbClr val="1F2A3A"/>
                </a:solidFill>
                <a:latin typeface="맑은 고딕"/>
                <a:ea typeface="맑은 고딕"/>
                <a:cs typeface="맑은 고딕"/>
              </a:rPr>
              <a:t>65 ℃를 넘으면 정지한다</a:t>
            </a:r>
          </a:p>
        </p:txBody>
      </p:sp>
      <p:sp>
        <p:nvSpPr>
          <p:cNvPr id="10" name="Rounded Rectangle 9"/>
          <p:cNvSpPr/>
          <p:nvPr/>
        </p:nvSpPr>
        <p:spPr>
          <a:xfrm>
            <a:off x="777240" y="4824476"/>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과열</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토출 압력 PS1</a:t>
            </a:r>
          </a:p>
          <a:p>
            <a:pPr algn="l">
              <a:lnSpc>
                <a:spcPct val="110000"/>
              </a:lnSpc>
              <a:spcAft>
                <a:spcPts val="400"/>
              </a:spcAft>
            </a:pPr>
            <a:r>
              <a:rPr sz="1400" b="0">
                <a:solidFill>
                  <a:srgbClr val="1F2A3A"/>
                </a:solidFill>
                <a:latin typeface="맑은 고딕"/>
                <a:ea typeface="맑은 고딕"/>
                <a:cs typeface="맑은 고딕"/>
              </a:rPr>
              <a:t>130 bar 아래로 내려가면 정지한다</a:t>
            </a:r>
          </a:p>
        </p:txBody>
      </p:sp>
      <p:sp>
        <p:nvSpPr>
          <p:cNvPr id="16" name="Rounded Rectangle 15"/>
          <p:cNvSpPr/>
          <p:nvPr/>
        </p:nvSpPr>
        <p:spPr>
          <a:xfrm>
            <a:off x="4566818" y="482447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저압</a:t>
            </a:r>
          </a:p>
        </p:txBody>
      </p:sp>
      <p:sp>
        <p:nvSpPr>
          <p:cNvPr id="18" name="Rounded Rectangle 17"/>
          <p:cNvSpPr/>
          <p:nvPr/>
        </p:nvSpPr>
        <p:spPr>
          <a:xfrm>
            <a:off x="8127796"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진동 VS1</a:t>
            </a:r>
          </a:p>
          <a:p>
            <a:pPr algn="l">
              <a:lnSpc>
                <a:spcPct val="110000"/>
              </a:lnSpc>
              <a:spcAft>
                <a:spcPts val="400"/>
              </a:spcAft>
            </a:pPr>
            <a:r>
              <a:rPr sz="1400" b="0">
                <a:solidFill>
                  <a:srgbClr val="1F2A3A"/>
                </a:solidFill>
                <a:latin typeface="맑은 고딕"/>
                <a:ea typeface="맑은 고딕"/>
                <a:cs typeface="맑은 고딕"/>
              </a:rPr>
              <a:t>2.0 mm/s 이상이면 정지한다</a:t>
            </a:r>
          </a:p>
        </p:txBody>
      </p:sp>
      <p:sp>
        <p:nvSpPr>
          <p:cNvPr id="22" name="Rounded Rectangle 21"/>
          <p:cNvSpPr/>
          <p:nvPr/>
        </p:nvSpPr>
        <p:spPr>
          <a:xfrm>
            <a:off x="8356396" y="482447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고진동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태그 값과 운전 상태: PLC가 올려 보내는 두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태그 값과 운전 상태를 올려 보내며, 태그 값은 정상값에 견주어야 높고 낮음을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002917"/>
            <a:ext cx="6766560" cy="397687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40077"/>
            <a:ext cx="6400800" cy="370255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올라온다</a:t>
            </a:r>
          </a:p>
          <a:p>
            <a:pPr algn="l">
              <a:lnSpc>
                <a:spcPct val="110000"/>
              </a:lnSpc>
              <a:spcAft>
                <a:spcPts val="200"/>
              </a:spcAft>
            </a:pPr>
            <a:r>
              <a:rPr sz="1300" b="0">
                <a:solidFill>
                  <a:srgbClr val="E8EEF6"/>
                </a:solidFill>
                <a:latin typeface="Consolas"/>
                <a:ea typeface="맑은 고딕"/>
                <a:cs typeface="맑은 고딕"/>
              </a:rPr>
              <a:t>TS1    48.0</a:t>
            </a:r>
          </a:p>
          <a:p>
            <a:pPr algn="l">
              <a:lnSpc>
                <a:spcPct val="110000"/>
              </a:lnSpc>
              <a:spcAft>
                <a:spcPts val="200"/>
              </a:spcAft>
            </a:pPr>
            <a:r>
              <a:rPr sz="1300" b="0">
                <a:solidFill>
                  <a:srgbClr val="E8EEF6"/>
                </a:solidFill>
                <a:latin typeface="Consolas"/>
                <a:ea typeface="맑은 고딕"/>
                <a:cs typeface="맑은 고딕"/>
              </a:rPr>
              <a:t>CE     84.0</a:t>
            </a:r>
          </a:p>
          <a:p>
            <a:pPr algn="l">
              <a:lnSpc>
                <a:spcPct val="110000"/>
              </a:lnSpc>
              <a:spcAft>
                <a:spcPts val="200"/>
              </a:spcAft>
            </a:pPr>
            <a:r>
              <a:rPr sz="1300" b="0">
                <a:solidFill>
                  <a:srgbClr val="E8EEF6"/>
                </a:solidFill>
                <a:latin typeface="Consolas"/>
                <a:ea typeface="맑은 고딕"/>
                <a:cs typeface="맑은 고딕"/>
              </a:rPr>
              <a:t>PS1    182.0</a:t>
            </a:r>
          </a:p>
          <a:p>
            <a:pPr algn="l">
              <a:lnSpc>
                <a:spcPct val="110000"/>
              </a:lnSpc>
              <a:spcAft>
                <a:spcPts val="200"/>
              </a:spcAft>
            </a:pPr>
            <a:r>
              <a:rPr sz="1300" b="0">
                <a:solidFill>
                  <a:srgbClr val="E8EEF6"/>
                </a:solidFill>
                <a:latin typeface="Consolas"/>
                <a:ea typeface="맑은 고딕"/>
                <a:cs typeface="맑은 고딕"/>
              </a:rPr>
              <a:t>VS1    0.6</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a:p>
            <a:pPr algn="l">
              <a:lnSpc>
                <a:spcPct val="110000"/>
              </a:lnSpc>
              <a:spcAft>
                <a:spcPts val="200"/>
              </a:spcAft>
            </a:pPr>
            <a:r>
              <a:rPr sz="1300" b="0">
                <a:solidFill>
                  <a:srgbClr val="E8EEF6"/>
                </a:solidFill>
                <a:latin typeface="Consolas"/>
                <a:ea typeface="맑은 고딕"/>
                <a:cs typeface="맑은 고딕"/>
              </a:rPr>
              <a:t>mode       REMOTE_AUTO</a:t>
            </a:r>
          </a:p>
          <a:p>
            <a:pPr algn="l">
              <a:lnSpc>
                <a:spcPct val="110000"/>
              </a:lnSpc>
              <a:spcAft>
                <a:spcPts val="200"/>
              </a:spcAft>
            </a:pPr>
            <a:r>
              <a:rPr sz="1300" b="0">
                <a:solidFill>
                  <a:srgbClr val="E8EEF6"/>
                </a:solidFill>
                <a:latin typeface="Consolas"/>
                <a:ea typeface="맑은 고딕"/>
                <a:cs typeface="맑은 고딕"/>
              </a:rPr>
              <a:t>state      RUN</a:t>
            </a:r>
          </a:p>
          <a:p>
            <a:pPr algn="l">
              <a:lnSpc>
                <a:spcPct val="110000"/>
              </a:lnSpc>
              <a:spcAft>
                <a:spcPts val="200"/>
              </a:spcAft>
            </a:pPr>
            <a:r>
              <a:rPr sz="1300" b="0">
                <a:solidFill>
                  <a:srgbClr val="E8EEF6"/>
                </a:solidFill>
                <a:latin typeface="Consolas"/>
                <a:ea typeface="맑은 고딕"/>
                <a:cs typeface="맑은 고딕"/>
              </a:rPr>
              <a:t>fan_pct    60</a:t>
            </a:r>
          </a:p>
          <a:p>
            <a:pPr algn="l">
              <a:lnSpc>
                <a:spcPct val="110000"/>
              </a:lnSpc>
              <a:spcAft>
                <a:spcPts val="200"/>
              </a:spcAft>
            </a:pPr>
            <a:r>
              <a:rPr sz="1300" b="0">
                <a:solidFill>
                  <a:srgbClr val="E8EEF6"/>
                </a:solidFill>
                <a:latin typeface="Consolas"/>
                <a:ea typeface="맑은 고딕"/>
                <a:cs typeface="맑은 고딕"/>
              </a:rPr>
              <a:t>load_pct   90</a:t>
            </a:r>
          </a:p>
          <a:p>
            <a:pPr algn="l">
              <a:lnSpc>
                <a:spcPct val="110000"/>
              </a:lnSpc>
              <a:spcAft>
                <a:spcPts val="200"/>
              </a:spcAft>
            </a:pPr>
            <a:r>
              <a:rPr sz="1300" b="0">
                <a:solidFill>
                  <a:srgbClr val="E8EEF6"/>
                </a:solidFill>
                <a:latin typeface="Consolas"/>
                <a:ea typeface="맑은 고딕"/>
                <a:cs typeface="맑은 고딕"/>
              </a:rPr>
              <a:t>interlock  PASS</a:t>
            </a:r>
          </a:p>
        </p:txBody>
      </p:sp>
      <p:sp>
        <p:nvSpPr>
          <p:cNvPr id="8" name="TextBox 7"/>
          <p:cNvSpPr txBox="1"/>
          <p:nvPr/>
        </p:nvSpPr>
        <p:spPr>
          <a:xfrm>
            <a:off x="7635240" y="2002917"/>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TS1 · CE</a:t>
            </a:r>
          </a:p>
          <a:p>
            <a:pPr algn="l">
              <a:lnSpc>
                <a:spcPct val="110000"/>
              </a:lnSpc>
              <a:spcAft>
                <a:spcPts val="400"/>
              </a:spcAft>
            </a:pPr>
            <a:r>
              <a:rPr sz="1400" b="0">
                <a:solidFill>
                  <a:srgbClr val="1F2A3A"/>
                </a:solidFill>
                <a:latin typeface="맑은 고딕"/>
                <a:ea typeface="맑은 고딕"/>
                <a:cs typeface="맑은 고딕"/>
              </a:rPr>
              <a:t>유온(쿨러 입구의 작동유 온도)은 정상 48 ℃, 냉각 효율(쿨러가 열을 내보내는 정도)은 정상 84 %이다.</a:t>
            </a:r>
          </a:p>
        </p:txBody>
      </p:sp>
      <p:sp>
        <p:nvSpPr>
          <p:cNvPr id="9" name="TextBox 8"/>
          <p:cNvSpPr txBox="1"/>
          <p:nvPr/>
        </p:nvSpPr>
        <p:spPr>
          <a:xfrm>
            <a:off x="7635240" y="3328543"/>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PS1 · VS1</a:t>
            </a:r>
          </a:p>
          <a:p>
            <a:pPr algn="l">
              <a:lnSpc>
                <a:spcPct val="110000"/>
              </a:lnSpc>
              <a:spcAft>
                <a:spcPts val="400"/>
              </a:spcAft>
            </a:pPr>
            <a:r>
              <a:rPr sz="1400" b="0">
                <a:solidFill>
                  <a:srgbClr val="1F2A3A"/>
                </a:solidFill>
                <a:latin typeface="맑은 고딕"/>
                <a:ea typeface="맑은 고딕"/>
                <a:cs typeface="맑은 고딕"/>
              </a:rPr>
              <a:t>토출 압력(펌프가 내보내는 압력)은 정상 182 bar, 팬 진동(쿨러 팬의 떨림)은 정상 0.6 mm/s이다.</a:t>
            </a:r>
          </a:p>
        </p:txBody>
      </p:sp>
      <p:sp>
        <p:nvSpPr>
          <p:cNvPr id="10" name="TextBox 9"/>
          <p:cNvSpPr txBox="1"/>
          <p:nvPr/>
        </p:nvSpPr>
        <p:spPr>
          <a:xfrm>
            <a:off x="7635240" y="4654169"/>
            <a:ext cx="4007815" cy="1325626"/>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운전 상태</a:t>
            </a:r>
          </a:p>
          <a:p>
            <a:pPr algn="l">
              <a:lnSpc>
                <a:spcPct val="110000"/>
              </a:lnSpc>
              <a:spcAft>
                <a:spcPts val="400"/>
              </a:spcAft>
            </a:pPr>
            <a:r>
              <a:rPr sz="1400" b="0">
                <a:solidFill>
                  <a:srgbClr val="1F2A3A"/>
                </a:solidFill>
                <a:latin typeface="맑은 고딕"/>
                <a:ea typeface="맑은 고딕"/>
                <a:cs typeface="맑은 고딕"/>
              </a:rPr>
              <a:t>설비가 어떤 모드로 돌고 있는지, 팬 속도와 부하가 몇 퍼센트인지를 담는다. interlock은 인터록에 걸리지 않았으면 PASS이다.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받는 쪽이 늘 때 생기는 문제: 직접 연결과 중개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보내는 쪽이 받는 쪽을 하나하나 알고 직접 연결하면 받는 쪽이 늘 때마다 설비 쪽을 고쳐야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직접 연결한다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쪽이 받는 쪽의 주소를 모두 안다</a:t>
            </a:r>
          </a:p>
          <a:p>
            <a:pPr algn="l">
              <a:lnSpc>
                <a:spcPct val="110000"/>
              </a:lnSpc>
              <a:spcAft>
                <a:spcPts val="600"/>
              </a:spcAft>
            </a:pPr>
            <a:r>
              <a:rPr sz="1450" b="0">
                <a:solidFill>
                  <a:srgbClr val="1F2A3A"/>
                </a:solidFill>
                <a:latin typeface="맑은 고딕"/>
                <a:ea typeface="맑은 고딕"/>
                <a:cs typeface="맑은 고딕"/>
              </a:rPr>
              <a:t>• 받는 쪽이 하나 늘면 설비 쪽 프로그램을 고친다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받는 쪽마다 연결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roadcast" descr="broadcas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가운데에 중개 서버를 둔다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보내는 쪽은 중개 서버에만 보낸다</a:t>
            </a:r>
          </a:p>
          <a:p>
            <a:pPr algn="l">
              <a:lnSpc>
                <a:spcPct val="110000"/>
              </a:lnSpc>
              <a:spcAft>
                <a:spcPts val="600"/>
              </a:spcAft>
            </a:pPr>
            <a:r>
              <a:rPr sz="1450" b="0">
                <a:solidFill>
                  <a:srgbClr val="1F2A3A"/>
                </a:solidFill>
                <a:latin typeface="맑은 고딕"/>
                <a:ea typeface="맑은 고딕"/>
                <a:cs typeface="맑은 고딕"/>
              </a:rPr>
              <a:t>• 받는 쪽은 중개 서버에 받고 싶은 것을 등록한다</a:t>
            </a:r>
          </a:p>
          <a:p>
            <a:pPr algn="l">
              <a:lnSpc>
                <a:spcPct val="110000"/>
              </a:lnSpc>
              <a:spcAft>
                <a:spcPts val="600"/>
              </a:spcAft>
            </a:pPr>
            <a:r>
              <a:rPr sz="1450" b="0">
                <a:solidFill>
                  <a:srgbClr val="1F2A3A"/>
                </a:solidFill>
                <a:latin typeface="맑은 고딕"/>
                <a:ea typeface="맑은 고딕"/>
                <a:cs typeface="맑은 고딕"/>
              </a:rPr>
              <a:t>• 받는 쪽이 늘어도 설비 쪽은 그대로이다</a:t>
            </a:r>
          </a:p>
        </p:txBody>
      </p:sp>
      <p:sp>
        <p:nvSpPr>
          <p:cNvPr id="18" name="Rounded Rectangle 17"/>
          <p:cNvSpPr/>
          <p:nvPr/>
        </p:nvSpPr>
        <p:spPr>
          <a:xfrm>
            <a:off x="6781647" y="494557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중개 서버 하나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MQTT: 브로커를 거쳐 값을 전달하는 발행 · 구독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MQTT는 보내는 쪽과 받는 쪽 사이에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두고 토픽으로 메시지를 주고받는 통신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리니지_1_MQTT.svg" descr="illust_6904437897283497905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06557" y="2478572"/>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유온 TS1을 잰다</a:t>
            </a:r>
          </a:p>
        </p:txBody>
      </p:sp>
      <p:sp>
        <p:nvSpPr>
          <p:cNvPr id="8" name="TextBox 7"/>
          <p:cNvSpPr txBox="1"/>
          <p:nvPr/>
        </p:nvSpPr>
        <p:spPr>
          <a:xfrm>
            <a:off x="2102972" y="2124014"/>
            <a:ext cx="152732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발행자</a:t>
            </a:r>
          </a:p>
          <a:p>
            <a:pPr algn="ctr">
              <a:lnSpc>
                <a:spcPct val="110000"/>
              </a:lnSpc>
              <a:spcAft>
                <a:spcPts val="100"/>
              </a:spcAft>
            </a:pPr>
            <a:r>
              <a:rPr sz="1100" b="0">
                <a:solidFill>
                  <a:srgbClr val="556175"/>
                </a:solidFill>
                <a:latin typeface="맑은 고딕"/>
                <a:ea typeface="맑은 고딕"/>
                <a:cs typeface="맑은 고딕"/>
              </a:rPr>
              <a:t>Publisher</a:t>
            </a:r>
          </a:p>
          <a:p>
            <a:pPr algn="ctr">
              <a:lnSpc>
                <a:spcPct val="110000"/>
              </a:lnSpc>
              <a:spcAft>
                <a:spcPts val="100"/>
              </a:spcAft>
            </a:pPr>
            <a:r>
              <a:rPr sz="1100" b="0">
                <a:solidFill>
                  <a:srgbClr val="556175"/>
                </a:solidFill>
                <a:latin typeface="맑은 고딕"/>
                <a:ea typeface="맑은 고딕"/>
                <a:cs typeface="맑은 고딕"/>
              </a:rPr>
              <a:t>PLC 쪽에서 값을</a:t>
            </a:r>
          </a:p>
          <a:p>
            <a:pPr algn="ctr">
              <a:lnSpc>
                <a:spcPct val="110000"/>
              </a:lnSpc>
              <a:spcAft>
                <a:spcPts val="100"/>
              </a:spcAft>
            </a:pPr>
            <a:r>
              <a:rPr sz="1100" b="0">
                <a:solidFill>
                  <a:srgbClr val="556175"/>
                </a:solidFill>
                <a:latin typeface="맑은 고딕"/>
                <a:ea typeface="맑은 고딕"/>
                <a:cs typeface="맑은 고딕"/>
              </a:rPr>
              <a:t>토픽에 보낸다</a:t>
            </a:r>
          </a:p>
        </p:txBody>
      </p:sp>
      <p:sp>
        <p:nvSpPr>
          <p:cNvPr id="9" name="TextBox 8"/>
          <p:cNvSpPr txBox="1"/>
          <p:nvPr/>
        </p:nvSpPr>
        <p:spPr>
          <a:xfrm>
            <a:off x="3608482" y="2265837"/>
            <a:ext cx="152732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브로커 EMQX</a:t>
            </a:r>
          </a:p>
          <a:p>
            <a:pPr algn="ctr">
              <a:lnSpc>
                <a:spcPct val="110000"/>
              </a:lnSpc>
              <a:spcAft>
                <a:spcPts val="100"/>
              </a:spcAft>
            </a:pPr>
            <a:r>
              <a:rPr sz="1100" b="0">
                <a:solidFill>
                  <a:srgbClr val="556175"/>
                </a:solidFill>
                <a:latin typeface="맑은 고딕"/>
                <a:ea typeface="맑은 고딕"/>
                <a:cs typeface="맑은 고딕"/>
              </a:rPr>
              <a:t>Broker · 토픽을 보고</a:t>
            </a:r>
          </a:p>
          <a:p>
            <a:pPr algn="ctr">
              <a:lnSpc>
                <a:spcPct val="110000"/>
              </a:lnSpc>
              <a:spcAft>
                <a:spcPts val="100"/>
              </a:spcAft>
            </a:pPr>
            <a:r>
              <a:rPr sz="1100" b="0">
                <a:solidFill>
                  <a:srgbClr val="556175"/>
                </a:solidFill>
                <a:latin typeface="맑은 고딕"/>
                <a:ea typeface="맑은 고딕"/>
                <a:cs typeface="맑은 고딕"/>
              </a:rPr>
              <a:t>구독자에게 전달한다</a:t>
            </a:r>
          </a:p>
        </p:txBody>
      </p:sp>
      <p:sp>
        <p:nvSpPr>
          <p:cNvPr id="10" name="TextBox 9"/>
          <p:cNvSpPr txBox="1"/>
          <p:nvPr/>
        </p:nvSpPr>
        <p:spPr>
          <a:xfrm>
            <a:off x="859290" y="3991356"/>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plant/hyd01/tag/TS1</a:t>
            </a:r>
          </a:p>
          <a:p>
            <a:pPr algn="ctr">
              <a:lnSpc>
                <a:spcPct val="110000"/>
              </a:lnSpc>
              <a:spcAft>
                <a:spcPts val="100"/>
              </a:spcAft>
            </a:pPr>
            <a:r>
              <a:rPr sz="1100" b="0">
                <a:solidFill>
                  <a:srgbClr val="556175"/>
                </a:solidFill>
                <a:latin typeface="맑은 고딕"/>
                <a:ea typeface="맑은 고딕"/>
                <a:cs typeface="맑은 고딕"/>
              </a:rPr>
              <a:t>토픽(Topic): 메시지에 붙는 주소</a:t>
            </a:r>
          </a:p>
          <a:p>
            <a:pPr algn="ctr">
              <a:lnSpc>
                <a:spcPct val="110000"/>
              </a:lnSpc>
              <a:spcAft>
                <a:spcPts val="100"/>
              </a:spcAft>
            </a:pPr>
            <a:r>
              <a:rPr sz="1100" b="0">
                <a:solidFill>
                  <a:srgbClr val="556175"/>
                </a:solidFill>
                <a:latin typeface="맑은 고딕"/>
                <a:ea typeface="맑은 고딕"/>
                <a:cs typeface="맑은 고딕"/>
              </a:rPr>
              <a:t>설비 hyd01 · 태그 TS1의 값</a:t>
            </a:r>
          </a:p>
        </p:txBody>
      </p:sp>
      <p:sp>
        <p:nvSpPr>
          <p:cNvPr id="11" name="TextBox 10"/>
          <p:cNvSpPr txBox="1"/>
          <p:nvPr/>
        </p:nvSpPr>
        <p:spPr>
          <a:xfrm>
            <a:off x="3553935" y="546631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5343092" y="3991356"/>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토픽의 구조: 빗금으로 나눈 계층형 주소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토픽은 빗금으로 계층을 나눈 문자열이어서 설비나 태그가 바뀌면 해당 자리만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plant / hyd01 / tag /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plant/hyd01/tag/TS1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plant/hyd01/tag/CE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a:lnSpc>
                <a:spcPct val="110000"/>
              </a:lnSpc>
              <a:spcAft>
                <a:spcPts val="200"/>
              </a:spcAft>
            </a:pPr>
            <a:r>
              <a:rPr sz="1300" b="0">
                <a:solidFill>
                  <a:srgbClr val="E8EEF6"/>
                </a:solidFill>
                <a:latin typeface="Consolas"/>
                <a:ea typeface="맑은 고딕"/>
                <a:cs typeface="맑은 고딕"/>
              </a:rPr>
              <a:t>plant/hyd02/tag/TS1     HYD-02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a:lnSpc>
                <a:spcPct val="110000"/>
              </a:lnSpc>
              <a:spcAft>
                <a:spcPts val="200"/>
              </a:spcAft>
            </a:pPr>
            <a:r>
              <a:rPr sz="1300" b="0">
                <a:solidFill>
                  <a:srgbClr val="E8EEF6"/>
                </a:solidFill>
                <a:latin typeface="Consolas"/>
                <a:ea typeface="맑은 고딕"/>
                <a:cs typeface="맑은 고딕"/>
              </a:rPr>
              <a:t>plant/hyd01/status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hyd01</a:t>
            </a:r>
          </a:p>
          <a:p>
            <a:pPr algn="l">
              <a:lnSpc>
                <a:spcPct val="110000"/>
              </a:lnSpc>
              <a:spcAft>
                <a:spcPts val="400"/>
              </a:spcAft>
            </a:pPr>
            <a:r>
              <a:rPr sz="1400" b="0">
                <a:solidFill>
                  <a:srgbClr val="1F2A3A"/>
                </a:solidFill>
                <a:latin typeface="맑은 고딕"/>
                <a:ea typeface="맑은 고딕"/>
                <a:cs typeface="맑은 고딕"/>
              </a:rPr>
              <a:t>설비 자리이다. HYD-01, HYD-02, HYD-03 세 대가 hyd01, hyd02, hyd03으로 들어간다.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tag · TS1</a:t>
            </a:r>
          </a:p>
          <a:p>
            <a:pPr algn="l">
              <a:lnSpc>
                <a:spcPct val="110000"/>
              </a:lnSpc>
              <a:spcAft>
                <a:spcPts val="400"/>
              </a:spcAft>
            </a:pPr>
            <a:r>
              <a:rPr sz="1400" b="0">
                <a:solidFill>
                  <a:srgbClr val="1F2A3A"/>
                </a:solidFill>
                <a:latin typeface="맑은 고딕"/>
                <a:ea typeface="맑은 고딕"/>
                <a:cs typeface="맑은 고딕"/>
              </a:rPr>
              <a:t>태그 값이라는 표시와 태그 이름이다.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status</a:t>
            </a:r>
          </a:p>
          <a:p>
            <a:pPr algn="l">
              <a:lnSpc>
                <a:spcPct val="110000"/>
              </a:lnSpc>
              <a:spcAft>
                <a:spcPts val="400"/>
              </a:spcAft>
            </a:pPr>
            <a:r>
              <a:rPr sz="1400" b="0">
                <a:solidFill>
                  <a:srgbClr val="1F2A3A"/>
                </a:solidFill>
                <a:latin typeface="맑은 고딕"/>
                <a:ea typeface="맑은 고딕"/>
                <a:cs typeface="맑은 고딕"/>
              </a:rPr>
              <a:t>앞에서 본 운전 상태가 올라오는 토픽이다.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발행과 구독이 이루어지는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구독자가 받고 싶은 토픽을 브로커에 먼저 등록해 두면, 발행된 메시지를 브로커가 그 구독자에게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구독</a:t>
            </a:r>
          </a:p>
          <a:p>
            <a:pPr algn="ctr">
              <a:lnSpc>
                <a:spcPct val="110000"/>
              </a:lnSpc>
              <a:spcAft>
                <a:spcPts val="400"/>
              </a:spcAft>
            </a:pPr>
            <a:r>
              <a:rPr sz="1350" b="0">
                <a:solidFill>
                  <a:srgbClr val="1F2A3A"/>
                </a:solidFill>
                <a:latin typeface="맑은 고딕"/>
                <a:ea typeface="맑은 고딕"/>
                <a:cs typeface="맑은 고딕"/>
              </a:rPr>
              <a:t>운전 화면과 수집 서비스가</a:t>
            </a:r>
          </a:p>
          <a:p>
            <a:pPr algn="ctr">
              <a:lnSpc>
                <a:spcPct val="110000"/>
              </a:lnSpc>
              <a:spcAft>
                <a:spcPts val="400"/>
              </a:spcAft>
            </a:pPr>
            <a:r>
              <a:rPr sz="1350" b="0">
                <a:solidFill>
                  <a:srgbClr val="1F2A3A"/>
                </a:solidFill>
                <a:latin typeface="맑은 고딕"/>
                <a:ea typeface="맑은 고딕"/>
                <a:cs typeface="맑은 고딕"/>
              </a:rPr>
              <a:t>받을 토픽을 EMQX에 등록한다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발행</a:t>
            </a:r>
          </a:p>
          <a:p>
            <a:pPr algn="ctr">
              <a:lnSpc>
                <a:spcPct val="110000"/>
              </a:lnSpc>
              <a:spcAft>
                <a:spcPts val="400"/>
              </a:spcAft>
            </a:pPr>
            <a:r>
              <a:rPr sz="1350" b="0">
                <a:solidFill>
                  <a:srgbClr val="1F2A3A"/>
                </a:solidFill>
                <a:latin typeface="맑은 고딕"/>
                <a:ea typeface="맑은 고딕"/>
                <a:cs typeface="맑은 고딕"/>
              </a:rPr>
              <a:t>PLC 쪽에서 TS1 값을</a:t>
            </a:r>
          </a:p>
          <a:p>
            <a:pPr algn="ctr">
              <a:lnSpc>
                <a:spcPct val="110000"/>
              </a:lnSpc>
              <a:spcAft>
                <a:spcPts val="400"/>
              </a:spcAft>
            </a:pPr>
            <a:r>
              <a:rPr sz="1350" b="0">
                <a:solidFill>
                  <a:srgbClr val="1F2A3A"/>
                </a:solidFill>
                <a:latin typeface="맑은 고딕"/>
                <a:ea typeface="맑은 고딕"/>
                <a:cs typeface="맑은 고딕"/>
              </a:rPr>
              <a:t>토픽에 실어 EMQX로 보낸다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broadcast" descr="broadcast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전달</a:t>
            </a:r>
          </a:p>
          <a:p>
            <a:pPr algn="ctr">
              <a:lnSpc>
                <a:spcPct val="110000"/>
              </a:lnSpc>
              <a:spcAft>
                <a:spcPts val="400"/>
              </a:spcAft>
            </a:pPr>
            <a:r>
              <a:rPr sz="1350" b="0">
                <a:solidFill>
                  <a:srgbClr val="1F2A3A"/>
                </a:solidFill>
                <a:latin typeface="맑은 고딕"/>
                <a:ea typeface="맑은 고딕"/>
                <a:cs typeface="맑은 고딕"/>
              </a:rPr>
              <a:t>EMQX가 그 토픽을 등록한</a:t>
            </a:r>
          </a:p>
          <a:p>
            <a:pPr algn="ctr">
              <a:lnSpc>
                <a:spcPct val="110000"/>
              </a:lnSpc>
              <a:spcAft>
                <a:spcPts val="400"/>
              </a:spcAft>
            </a:pPr>
            <a:r>
              <a:rPr sz="1350" b="0">
                <a:solidFill>
                  <a:srgbClr val="1F2A3A"/>
                </a:solidFill>
                <a:latin typeface="맑은 고딕"/>
                <a:ea typeface="맑은 고딕"/>
                <a:cs typeface="맑은 고딕"/>
              </a:rPr>
              <a:t>구독자 모두에게 넘긴다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OT와 IT를 직접 잇지 않는 이유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외부와 닿는 IT가 침해되었을 때 그 피해가 설비 사고로 번지지 않도록 두 영역을 직접 잇지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730373"/>
            <a:ext cx="5181447" cy="252196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931541"/>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76579" y="3085160"/>
            <a:ext cx="424281" cy="424281"/>
          </a:xfrm>
          <a:prstGeom prst="rect">
            <a:avLst/>
          </a:prstGeom>
        </p:spPr>
      </p:pic>
      <p:sp>
        <p:nvSpPr>
          <p:cNvPr id="9" name="TextBox 8"/>
          <p:cNvSpPr txBox="1"/>
          <p:nvPr/>
        </p:nvSpPr>
        <p:spPr>
          <a:xfrm>
            <a:off x="1691640"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OT</a:t>
            </a:r>
          </a:p>
        </p:txBody>
      </p:sp>
      <p:sp>
        <p:nvSpPr>
          <p:cNvPr id="10" name="TextBox 9"/>
          <p:cNvSpPr txBox="1"/>
          <p:nvPr/>
        </p:nvSpPr>
        <p:spPr>
          <a:xfrm>
            <a:off x="822959"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설비를 직접 움직인다</a:t>
            </a:r>
          </a:p>
          <a:p>
            <a:pPr algn="l">
              <a:lnSpc>
                <a:spcPct val="110000"/>
              </a:lnSpc>
              <a:spcAft>
                <a:spcPts val="600"/>
              </a:spcAft>
            </a:pPr>
            <a:r>
              <a:rPr sz="1450" b="0">
                <a:solidFill>
                  <a:srgbClr val="1F2A3A"/>
                </a:solidFill>
                <a:latin typeface="맑은 고딕"/>
                <a:ea typeface="맑은 고딕"/>
                <a:cs typeface="맑은 고딕"/>
              </a:rPr>
              <a:t>• 잘못된 명령이 들어오면 설비가 멈추거나 다친다</a:t>
            </a:r>
          </a:p>
        </p:txBody>
      </p:sp>
      <p:sp>
        <p:nvSpPr>
          <p:cNvPr id="11" name="Rounded Rectangle 10"/>
          <p:cNvSpPr/>
          <p:nvPr/>
        </p:nvSpPr>
        <p:spPr>
          <a:xfrm>
            <a:off x="868680" y="4795139"/>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795139"/>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멈추면 안 된다</a:t>
            </a:r>
          </a:p>
        </p:txBody>
      </p:sp>
      <p:sp>
        <p:nvSpPr>
          <p:cNvPr id="13" name="Rounded Rectangle 12"/>
          <p:cNvSpPr/>
          <p:nvPr/>
        </p:nvSpPr>
        <p:spPr>
          <a:xfrm>
            <a:off x="6461607" y="2730373"/>
            <a:ext cx="5181447" cy="2521966"/>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931541"/>
            <a:ext cx="731520" cy="731520"/>
          </a:xfrm>
          <a:prstGeom prst="ellipse">
            <a:avLst/>
          </a:prstGeom>
          <a:solidFill>
            <a:srgbClr val="FFFFFF"/>
          </a:solidFill>
          <a:ln>
            <a:noFill/>
          </a:ln>
        </p:spPr>
        <p:txBody>
          <a:bodyPr rtlCol="0" anchor="ctr"/>
          <a:lstStyle/>
          <a:p>
            <a:pPr algn="ctr"/>
          </a:p>
        </p:txBody>
      </p:sp>
      <p:pic>
        <p:nvPicPr>
          <p:cNvPr id="15" name="아이콘:world" descr="world_13294B_1.6.png"/>
          <p:cNvPicPr>
            <a:picLocks noChangeAspect="1"/>
          </p:cNvPicPr>
          <p:nvPr/>
        </p:nvPicPr>
        <p:blipFill>
          <a:blip r:embed="rId4"/>
          <a:stretch>
            <a:fillRect/>
          </a:stretch>
        </p:blipFill>
        <p:spPr>
          <a:xfrm>
            <a:off x="6889546" y="3085160"/>
            <a:ext cx="424281" cy="424281"/>
          </a:xfrm>
          <a:prstGeom prst="rect">
            <a:avLst/>
          </a:prstGeom>
        </p:spPr>
      </p:pic>
      <p:sp>
        <p:nvSpPr>
          <p:cNvPr id="16" name="TextBox 15"/>
          <p:cNvSpPr txBox="1"/>
          <p:nvPr/>
        </p:nvSpPr>
        <p:spPr>
          <a:xfrm>
            <a:off x="7604607" y="2931541"/>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IT</a:t>
            </a:r>
          </a:p>
        </p:txBody>
      </p:sp>
      <p:sp>
        <p:nvSpPr>
          <p:cNvPr id="17" name="TextBox 16"/>
          <p:cNvSpPr txBox="1"/>
          <p:nvPr/>
        </p:nvSpPr>
        <p:spPr>
          <a:xfrm>
            <a:off x="6735927" y="3781932"/>
            <a:ext cx="4632807" cy="92176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사무망이나 인터넷과 닿을 수 있다</a:t>
            </a:r>
          </a:p>
          <a:p>
            <a:pPr algn="l">
              <a:lnSpc>
                <a:spcPct val="110000"/>
              </a:lnSpc>
              <a:spcAft>
                <a:spcPts val="600"/>
              </a:spcAft>
            </a:pPr>
            <a:r>
              <a:rPr sz="1450" b="0">
                <a:solidFill>
                  <a:srgbClr val="1F2A3A"/>
                </a:solidFill>
                <a:latin typeface="맑은 고딕"/>
                <a:ea typeface="맑은 고딕"/>
                <a:cs typeface="맑은 고딕"/>
              </a:rPr>
              <a:t>• 외부에서 들어오는 침해에 노출된다</a:t>
            </a:r>
          </a:p>
        </p:txBody>
      </p:sp>
      <p:sp>
        <p:nvSpPr>
          <p:cNvPr id="18" name="Rounded Rectangle 17"/>
          <p:cNvSpPr/>
          <p:nvPr/>
        </p:nvSpPr>
        <p:spPr>
          <a:xfrm>
            <a:off x="6781647" y="4795139"/>
            <a:ext cx="132587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795139"/>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외부와 닿는다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영역의 경계와 수집 서비스 connect-ingest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OT와 IT는 직접 이어져 있지 않고, 계측값은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의 connect-ingest가 받아 IT로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리니지_2_DMZ.svg" descr="illust_749271789232519035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52009" y="1755273"/>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a:p>
            <a:pPr algn="ctr">
              <a:lnSpc>
                <a:spcPct val="110000"/>
              </a:lnSpc>
              <a:spcAft>
                <a:spcPts val="100"/>
              </a:spcAft>
            </a:pPr>
            <a:r>
              <a:rPr sz="1300" b="0">
                <a:solidFill>
                  <a:srgbClr val="556175"/>
                </a:solidFill>
                <a:latin typeface="맑은 고딕"/>
                <a:ea typeface="맑은 고딕"/>
                <a:cs typeface="맑은 고딕"/>
              </a:rPr>
              <a:t>설비를 감시 · 제어하는 영역</a:t>
            </a:r>
          </a:p>
        </p:txBody>
      </p:sp>
      <p:sp>
        <p:nvSpPr>
          <p:cNvPr id="8" name="TextBox 7"/>
          <p:cNvSpPr txBox="1"/>
          <p:nvPr/>
        </p:nvSpPr>
        <p:spPr>
          <a:xfrm>
            <a:off x="5315818" y="1755273"/>
            <a:ext cx="169097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a:p>
            <a:pPr algn="ctr">
              <a:lnSpc>
                <a:spcPct val="110000"/>
              </a:lnSpc>
              <a:spcAft>
                <a:spcPts val="100"/>
              </a:spcAft>
            </a:pPr>
            <a:r>
              <a:rPr sz="1300" b="0">
                <a:solidFill>
                  <a:srgbClr val="556175"/>
                </a:solidFill>
                <a:latin typeface="맑은 고딕"/>
                <a:ea typeface="맑은 고딕"/>
                <a:cs typeface="맑은 고딕"/>
              </a:rPr>
              <a:t>OT와 IT 사이의 구역</a:t>
            </a:r>
          </a:p>
        </p:txBody>
      </p:sp>
      <p:sp>
        <p:nvSpPr>
          <p:cNvPr id="9" name="TextBox 8"/>
          <p:cNvSpPr txBox="1"/>
          <p:nvPr/>
        </p:nvSpPr>
        <p:spPr>
          <a:xfrm>
            <a:off x="9434153" y="1755273"/>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a:p>
            <a:pPr algn="ctr">
              <a:lnSpc>
                <a:spcPct val="110000"/>
              </a:lnSpc>
              <a:spcAft>
                <a:spcPts val="100"/>
              </a:spcAft>
            </a:pPr>
            <a:r>
              <a:rPr sz="1300" b="0">
                <a:solidFill>
                  <a:srgbClr val="556175"/>
                </a:solidFill>
                <a:latin typeface="맑은 고딕"/>
                <a:ea typeface="맑은 고딕"/>
                <a:cs typeface="맑은 고딕"/>
              </a:rPr>
              <a:t>기록 · 분석 · 판단 영역</a:t>
            </a:r>
          </a:p>
        </p:txBody>
      </p:sp>
      <p:sp>
        <p:nvSpPr>
          <p:cNvPr id="10" name="TextBox 9"/>
          <p:cNvSpPr txBox="1"/>
          <p:nvPr/>
        </p:nvSpPr>
        <p:spPr>
          <a:xfrm>
            <a:off x="3826672" y="264403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EMQX</a:t>
            </a:r>
          </a:p>
        </p:txBody>
      </p:sp>
      <p:sp>
        <p:nvSpPr>
          <p:cNvPr id="11" name="TextBox 10"/>
          <p:cNvSpPr txBox="1"/>
          <p:nvPr/>
        </p:nvSpPr>
        <p:spPr>
          <a:xfrm>
            <a:off x="5315818" y="3991356"/>
            <a:ext cx="1690971"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connect-ingest</a:t>
            </a:r>
          </a:p>
          <a:p>
            <a:pPr algn="ctr">
              <a:lnSpc>
                <a:spcPct val="110000"/>
              </a:lnSpc>
              <a:spcAft>
                <a:spcPts val="100"/>
              </a:spcAft>
            </a:pPr>
            <a:r>
              <a:rPr sz="1300" b="0">
                <a:solidFill>
                  <a:srgbClr val="556175"/>
                </a:solidFill>
                <a:latin typeface="맑은 고딕"/>
                <a:ea typeface="맑은 고딕"/>
                <a:cs typeface="맑은 고딕"/>
              </a:rPr>
              <a:t>EMQX를 구독해</a:t>
            </a:r>
          </a:p>
          <a:p>
            <a:pPr algn="ctr">
              <a:lnSpc>
                <a:spcPct val="110000"/>
              </a:lnSpc>
              <a:spcAft>
                <a:spcPts val="100"/>
              </a:spcAft>
            </a:pPr>
            <a:r>
              <a:rPr sz="1300" b="0">
                <a:solidFill>
                  <a:srgbClr val="556175"/>
                </a:solidFill>
                <a:latin typeface="맑은 고딕"/>
                <a:ea typeface="맑은 고딕"/>
                <a:cs typeface="맑은 고딕"/>
              </a:rPr>
              <a:t>받은 메시지를</a:t>
            </a:r>
          </a:p>
          <a:p>
            <a:pPr algn="ctr">
              <a:lnSpc>
                <a:spcPct val="110000"/>
              </a:lnSpc>
              <a:spcAft>
                <a:spcPts val="100"/>
              </a:spcAft>
            </a:pPr>
            <a:r>
              <a:rPr sz="1300" b="0">
                <a:solidFill>
                  <a:srgbClr val="556175"/>
                </a:solidFill>
                <a:latin typeface="맑은 고딕"/>
                <a:ea typeface="맑은 고딕"/>
                <a:cs typeface="맑은 고딕"/>
              </a:rPr>
              <a:t>IT로 옮겨 적는다</a:t>
            </a:r>
          </a:p>
          <a:p>
            <a:pPr algn="ctr">
              <a:lnSpc>
                <a:spcPct val="110000"/>
              </a:lnSpc>
              <a:spcAft>
                <a:spcPts val="100"/>
              </a:spcAft>
            </a:pPr>
            <a:r>
              <a:rPr sz="1300" b="0">
                <a:solidFill>
                  <a:srgbClr val="556175"/>
                </a:solidFill>
                <a:latin typeface="맑은 고딕"/>
                <a:ea typeface="맑은 고딕"/>
                <a:cs typeface="맑은 고딕"/>
              </a:rPr>
              <a:t>OT로는 쓰지 않는다</a:t>
            </a:r>
          </a:p>
        </p:txBody>
      </p:sp>
      <p:sp>
        <p:nvSpPr>
          <p:cNvPr id="12" name="TextBox 11"/>
          <p:cNvSpPr txBox="1"/>
          <p:nvPr/>
        </p:nvSpPr>
        <p:spPr>
          <a:xfrm>
            <a:off x="7219525" y="2209108"/>
            <a:ext cx="163642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 로그</a:t>
            </a:r>
          </a:p>
          <a:p>
            <a:pPr algn="ctr">
              <a:lnSpc>
                <a:spcPct val="110000"/>
              </a:lnSpc>
              <a:spcAft>
                <a:spcPts val="100"/>
              </a:spcAft>
            </a:pPr>
            <a:r>
              <a:rPr sz="1300" b="0">
                <a:solidFill>
                  <a:srgbClr val="556175"/>
                </a:solidFill>
                <a:latin typeface="맑은 고딕"/>
                <a:ea typeface="맑은 고딕"/>
                <a:cs typeface="맑은 고딕"/>
              </a:rPr>
              <a:t>받은 순서대로</a:t>
            </a:r>
          </a:p>
          <a:p>
            <a:pPr algn="ctr">
              <a:lnSpc>
                <a:spcPct val="110000"/>
              </a:lnSpc>
              <a:spcAft>
                <a:spcPts val="100"/>
              </a:spcAft>
            </a:pPr>
            <a:r>
              <a:rPr sz="1300" b="0">
                <a:solidFill>
                  <a:srgbClr val="556175"/>
                </a:solidFill>
                <a:latin typeface="맑은 고딕"/>
                <a:ea typeface="맑은 고딕"/>
                <a:cs typeface="맑은 고딕"/>
              </a:rPr>
              <a:t>쌓아 두는 기록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값의 두 형식: MQTT 메시지와 Redpanda 레코드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connect-ingest는 토픽 경로에 있던 설비와 태그 이름을 본문에 넣어 </a:t>
            </a:r>
            <a:r>
              <a:rPr sz="1600" b="1">
                <a:solidFill>
                  <a:srgbClr val="1A6FC4"/>
                </a:solidFill>
                <a:latin typeface="맑은 고딕"/>
                <a:ea typeface="맑은 고딕"/>
                <a:cs typeface="맑은 고딕"/>
              </a:rPr>
              <a:t>Redpanda</a:t>
            </a:r>
            <a:r>
              <a:rPr sz="1600" b="0">
                <a:solidFill>
                  <a:srgbClr val="556175"/>
                </a:solidFill>
                <a:latin typeface="맑은 고딕"/>
                <a:ea typeface="맑은 고딕"/>
                <a:cs typeface="맑은 고딕"/>
              </a:rPr>
              <a:t>에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OT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EMQX</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전달한</a:t>
            </a:r>
            <a:r>
              <a:rPr sz="1300" b="0">
                <a:solidFill>
                  <a:srgbClr val="E8EEF6"/>
                </a:solidFill>
                <a:latin typeface="Consolas"/>
                <a:ea typeface="맑은 고딕"/>
                <a:cs typeface="맑은 고딕"/>
              </a:rPr>
              <a:t> MQTT </a:t>
            </a:r>
            <a:r>
              <a:rPr sz="1300" b="0">
                <a:solidFill>
                  <a:srgbClr val="E8EEF6"/>
                </a:solidFill>
                <a:latin typeface="맑은 고딕"/>
                <a:ea typeface="맑은 고딕"/>
                <a:cs typeface="맑은 고딕"/>
              </a:rPr>
              <a:t>메시지</a:t>
            </a:r>
          </a:p>
          <a:p>
            <a:pPr algn="l">
              <a:lnSpc>
                <a:spcPct val="110000"/>
              </a:lnSpc>
              <a:spcAft>
                <a:spcPts val="200"/>
              </a:spcAft>
            </a:pPr>
            <a:r>
              <a:rPr sz="1300" b="0">
                <a:solidFill>
                  <a:srgbClr val="E8EEF6"/>
                </a:solidFill>
                <a:latin typeface="Consolas"/>
                <a:ea typeface="맑은 고딕"/>
                <a:cs typeface="맑은 고딕"/>
              </a:rPr>
              <a:t>topic    plant/hyd01/tag/TS1</a:t>
            </a:r>
          </a:p>
          <a:p>
            <a:pPr algn="l">
              <a:lnSpc>
                <a:spcPct val="110000"/>
              </a:lnSpc>
              <a:spcAft>
                <a:spcPts val="200"/>
              </a:spcAft>
            </a:pPr>
            <a:r>
              <a:rPr sz="1300" b="0">
                <a:solidFill>
                  <a:srgbClr val="E8EEF6"/>
                </a:solidFill>
                <a:latin typeface="Consolas"/>
                <a:ea typeface="맑은 고딕"/>
                <a:cs typeface="맑은 고딕"/>
              </a:rPr>
              <a:t>payload  {"t": "2026-10-10T02:13:08.508Z",</a:t>
            </a:r>
          </a:p>
          <a:p>
            <a:pPr algn="l">
              <a:lnSpc>
                <a:spcPct val="110000"/>
              </a:lnSpc>
              <a:spcAft>
                <a:spcPts val="200"/>
              </a:spcAft>
            </a:pPr>
            <a:r>
              <a:rPr sz="1300" b="0">
                <a:solidFill>
                  <a:srgbClr val="E8EEF6"/>
                </a:solidFill>
                <a:latin typeface="Consolas"/>
                <a:ea typeface="맑은 고딕"/>
                <a:cs typeface="맑은 고딕"/>
              </a:rPr>
              <a:t>          "v": 55.71, "q": "good"}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IT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Redpanda</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쌓인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레코드</a:t>
            </a:r>
          </a:p>
          <a:p>
            <a:pPr algn="l">
              <a:lnSpc>
                <a:spcPct val="110000"/>
              </a:lnSpc>
              <a:spcAft>
                <a:spcPts val="200"/>
              </a:spcAft>
            </a:pPr>
            <a:r>
              <a:rPr sz="1300" b="0">
                <a:solidFill>
                  <a:srgbClr val="E8EEF6"/>
                </a:solidFill>
                <a:latin typeface="Consolas"/>
                <a:ea typeface="맑은 고딕"/>
                <a:cs typeface="맑은 고딕"/>
              </a:rPr>
              <a:t>topic    plant.tag</a:t>
            </a:r>
          </a:p>
          <a:p>
            <a:pPr algn="l">
              <a:lnSpc>
                <a:spcPct val="110000"/>
              </a:lnSpc>
              <a:spcAft>
                <a:spcPts val="200"/>
              </a:spcAft>
            </a:pPr>
            <a:r>
              <a:rPr sz="1300" b="0">
                <a:solidFill>
                  <a:srgbClr val="E8EEF6"/>
                </a:solidFill>
                <a:latin typeface="Consolas"/>
                <a:ea typeface="맑은 고딕"/>
                <a:cs typeface="맑은 고딕"/>
              </a:rPr>
              <a:t>key      hyd01</a:t>
            </a:r>
          </a:p>
          <a:p>
            <a:pPr algn="l">
              <a:lnSpc>
                <a:spcPct val="110000"/>
              </a:lnSpc>
              <a:spcAft>
                <a:spcPts val="200"/>
              </a:spcAft>
            </a:pPr>
            <a:r>
              <a:rPr sz="1300" b="0">
                <a:solidFill>
                  <a:srgbClr val="E8EEF6"/>
                </a:solidFill>
                <a:latin typeface="Consolas"/>
                <a:ea typeface="맑은 고딕"/>
                <a:cs typeface="맑은 고딕"/>
              </a:rPr>
              <a:t>value    {"asset": "HYD-01", "name": "TS1",</a:t>
            </a:r>
          </a:p>
          <a:p>
            <a:pPr algn="l">
              <a:lnSpc>
                <a:spcPct val="110000"/>
              </a:lnSpc>
              <a:spcAft>
                <a:spcPts val="200"/>
              </a:spcAft>
            </a:pPr>
            <a:r>
              <a:rPr sz="1300" b="0">
                <a:solidFill>
                  <a:srgbClr val="E8EEF6"/>
                </a:solidFill>
                <a:latin typeface="Consolas"/>
                <a:ea typeface="맑은 고딕"/>
                <a:cs typeface="맑은 고딕"/>
              </a:rPr>
              <a:t>          "t": "2026-10-10T02:13:08.508Z",</a:t>
            </a:r>
          </a:p>
          <a:p>
            <a:pPr algn="l">
              <a:lnSpc>
                <a:spcPct val="110000"/>
              </a:lnSpc>
              <a:spcAft>
                <a:spcPts val="200"/>
              </a:spcAft>
            </a:pPr>
            <a:r>
              <a:rPr sz="1300" b="0">
                <a:solidFill>
                  <a:srgbClr val="E8EEF6"/>
                </a:solidFill>
                <a:latin typeface="Consolas"/>
                <a:ea typeface="맑은 고딕"/>
                <a:cs typeface="맑은 고딕"/>
              </a:rPr>
              <a:t>          "v": 55.71, "q": "good"}</a:t>
            </a:r>
          </a:p>
        </p:txBody>
      </p:sp>
      <p:sp>
        <p:nvSpPr>
          <p:cNvPr id="8" name="TextBox 7"/>
          <p:cNvSpPr txBox="1"/>
          <p:nvPr/>
        </p:nvSpPr>
        <p:spPr>
          <a:xfrm>
            <a:off x="7635240" y="1627632"/>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 · v · q</a:t>
            </a:r>
          </a:p>
          <a:p>
            <a:pPr algn="l">
              <a:lnSpc>
                <a:spcPct val="110000"/>
              </a:lnSpc>
              <a:spcAft>
                <a:spcPts val="400"/>
              </a:spcAft>
            </a:pPr>
            <a:r>
              <a:rPr sz="1400" b="0">
                <a:solidFill>
                  <a:srgbClr val="1F2A3A"/>
                </a:solidFill>
                <a:latin typeface="맑은 고딕"/>
                <a:ea typeface="맑은 고딕"/>
                <a:cs typeface="맑은 고딕"/>
              </a:rPr>
              <a:t>본문(payload)에 든 잰 시각, 값, 품질이다.</a:t>
            </a:r>
          </a:p>
          <a:p>
            <a:pPr algn="l">
              <a:lnSpc>
                <a:spcPct val="110000"/>
              </a:lnSpc>
              <a:spcAft>
                <a:spcPts val="400"/>
              </a:spcAft>
            </a:pPr>
            <a:r>
              <a:rPr sz="1400" b="0">
                <a:solidFill>
                  <a:srgbClr val="1F2A3A"/>
                </a:solidFill>
                <a:latin typeface="맑은 고딕"/>
                <a:ea typeface="맑은 고딕"/>
                <a:cs typeface="맑은 고딕"/>
              </a:rPr>
              <a:t>55.71은 경보가 난 순간의 유온이다.</a:t>
            </a:r>
          </a:p>
        </p:txBody>
      </p:sp>
      <p:sp>
        <p:nvSpPr>
          <p:cNvPr id="9" name="TextBox 8"/>
          <p:cNvSpPr txBox="1"/>
          <p:nvPr/>
        </p:nvSpPr>
        <p:spPr>
          <a:xfrm>
            <a:off x="7635240" y="2809494"/>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Redpanda</a:t>
            </a:r>
          </a:p>
          <a:p>
            <a:pPr algn="l">
              <a:lnSpc>
                <a:spcPct val="110000"/>
              </a:lnSpc>
              <a:spcAft>
                <a:spcPts val="400"/>
              </a:spcAft>
            </a:pPr>
            <a:r>
              <a:rPr sz="1400" b="0">
                <a:solidFill>
                  <a:srgbClr val="1F2A3A"/>
                </a:solidFill>
                <a:latin typeface="맑은 고딕"/>
                <a:ea typeface="맑은 고딕"/>
                <a:cs typeface="맑은 고딕"/>
              </a:rPr>
              <a:t>Kafka API와 호환되는 이벤트 스트리밍 플랫폼이다. 받은 레코드를 순서대로 디스크에 보관한다.</a:t>
            </a:r>
          </a:p>
        </p:txBody>
      </p:sp>
      <p:sp>
        <p:nvSpPr>
          <p:cNvPr id="10" name="TextBox 9"/>
          <p:cNvSpPr txBox="1"/>
          <p:nvPr/>
        </p:nvSpPr>
        <p:spPr>
          <a:xfrm>
            <a:off x="7635240" y="3991356"/>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plant.tag</a:t>
            </a:r>
          </a:p>
          <a:p>
            <a:pPr algn="l">
              <a:lnSpc>
                <a:spcPct val="110000"/>
              </a:lnSpc>
              <a:spcAft>
                <a:spcPts val="400"/>
              </a:spcAft>
            </a:pPr>
            <a:r>
              <a:rPr sz="1400" b="0">
                <a:solidFill>
                  <a:srgbClr val="1F2A3A"/>
                </a:solidFill>
                <a:latin typeface="맑은 고딕"/>
                <a:ea typeface="맑은 고딕"/>
                <a:cs typeface="맑은 고딕"/>
              </a:rPr>
              <a:t>태그 값이 쌓이는 Redpanda의 토픽이다.</a:t>
            </a:r>
          </a:p>
          <a:p>
            <a:pPr algn="l">
              <a:lnSpc>
                <a:spcPct val="110000"/>
              </a:lnSpc>
              <a:spcAft>
                <a:spcPts val="400"/>
              </a:spcAft>
            </a:pPr>
            <a:r>
              <a:rPr sz="1400" b="0">
                <a:solidFill>
                  <a:srgbClr val="1F2A3A"/>
                </a:solidFill>
                <a:latin typeface="맑은 고딕"/>
                <a:ea typeface="맑은 고딕"/>
                <a:cs typeface="맑은 고딕"/>
              </a:rPr>
              <a:t>키 hyd01은 설비별 레코드 순서를 지킨다.</a:t>
            </a:r>
          </a:p>
        </p:txBody>
      </p:sp>
      <p:sp>
        <p:nvSpPr>
          <p:cNvPr id="11" name="TextBox 10"/>
          <p:cNvSpPr txBox="1"/>
          <p:nvPr/>
        </p:nvSpPr>
        <p:spPr>
          <a:xfrm>
            <a:off x="7635240" y="5173218"/>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옮겨 적는 이유</a:t>
            </a:r>
          </a:p>
          <a:p>
            <a:pPr algn="l">
              <a:lnSpc>
                <a:spcPct val="110000"/>
              </a:lnSpc>
              <a:spcAft>
                <a:spcPts val="400"/>
              </a:spcAft>
            </a:pPr>
            <a:r>
              <a:rPr sz="1400" b="0">
                <a:solidFill>
                  <a:srgbClr val="1F2A3A"/>
                </a:solidFill>
                <a:latin typeface="맑은 고딕"/>
                <a:ea typeface="맑은 고딕"/>
                <a:cs typeface="맑은 고딕"/>
              </a:rPr>
              <a:t>EMQX는 태그 메시지를 전달한 뒤 보관하지 않는다. Redpanda에 쌓인 레코드는 여러 서비스가 각자 다시 읽는다.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전달하는 브로커와 보관하는 이벤트 로그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EMQX는 메시지를 전달하고 나면 갖고 있지 않으며, Redpanda는 받은 레코드를 순서대로 보관한다.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broadcast" descr="broadcas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EMQX</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순간 구독 중인 쪽에 바로 넘긴다</a:t>
            </a:r>
          </a:p>
          <a:p>
            <a:pPr algn="l">
              <a:lnSpc>
                <a:spcPct val="110000"/>
              </a:lnSpc>
              <a:spcAft>
                <a:spcPts val="600"/>
              </a:spcAft>
            </a:pPr>
            <a:r>
              <a:rPr sz="1450" b="0">
                <a:solidFill>
                  <a:srgbClr val="1F2A3A"/>
                </a:solidFill>
                <a:latin typeface="맑은 고딕"/>
                <a:ea typeface="맑은 고딕"/>
                <a:cs typeface="맑은 고딕"/>
              </a:rPr>
              <a:t>• 나중에 붙은 서비스는 지나간 값을 받지 못한다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전달</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tack-2" descr="stack-2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Redpanda</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받은 순서대로 쌓아 둔다</a:t>
            </a:r>
          </a:p>
          <a:p>
            <a:pPr algn="l">
              <a:lnSpc>
                <a:spcPct val="110000"/>
              </a:lnSpc>
              <a:spcAft>
                <a:spcPts val="600"/>
              </a:spcAft>
            </a:pPr>
            <a:r>
              <a:rPr sz="1450" b="0">
                <a:solidFill>
                  <a:srgbClr val="1F2A3A"/>
                </a:solidFill>
                <a:latin typeface="맑은 고딕"/>
                <a:ea typeface="맑은 고딕"/>
                <a:cs typeface="맑은 고딕"/>
              </a:rPr>
              <a:t>• 여러 서비스가 각자의 속도로 읽는다</a:t>
            </a:r>
          </a:p>
          <a:p>
            <a:pPr algn="l">
              <a:lnSpc>
                <a:spcPct val="110000"/>
              </a:lnSpc>
              <a:spcAft>
                <a:spcPts val="600"/>
              </a:spcAft>
            </a:pPr>
            <a:r>
              <a:rPr sz="1450" b="0">
                <a:solidFill>
                  <a:srgbClr val="1F2A3A"/>
                </a:solidFill>
                <a:latin typeface="맑은 고딕"/>
                <a:ea typeface="맑은 고딕"/>
                <a:cs typeface="맑은 고딕"/>
              </a:rPr>
              <a:t>• 필요하면 앞에서부터 다시 읽는다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TimescaleDB와 detector: 값의 저장과 이상 감지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Redpanda에 쌓인 값은 </a:t>
            </a:r>
            <a:r>
              <a:rPr sz="1600" b="1">
                <a:solidFill>
                  <a:srgbClr val="1A6FC4"/>
                </a:solidFill>
                <a:latin typeface="맑은 고딕"/>
                <a:ea typeface="맑은 고딕"/>
                <a:cs typeface="맑은 고딕"/>
              </a:rPr>
              <a:t>TimescaleDB</a:t>
            </a:r>
            <a:r>
              <a:rPr sz="1600" b="0">
                <a:solidFill>
                  <a:srgbClr val="556175"/>
                </a:solidFill>
                <a:latin typeface="맑은 고딕"/>
                <a:ea typeface="맑은 고딕"/>
                <a:cs typeface="맑은 고딕"/>
              </a:rPr>
              <a:t>에 저장되고, detector는 같은 값을 읽어 이상을 감지한다.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리니지_3_저장감지.svg" descr="illust_199349523025548213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26672" y="261094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EMQX</a:t>
            </a:r>
          </a:p>
        </p:txBody>
      </p:sp>
      <p:sp>
        <p:nvSpPr>
          <p:cNvPr id="8" name="TextBox 7"/>
          <p:cNvSpPr txBox="1"/>
          <p:nvPr/>
        </p:nvSpPr>
        <p:spPr>
          <a:xfrm>
            <a:off x="7383168" y="2610941"/>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Redpanda</a:t>
            </a:r>
          </a:p>
        </p:txBody>
      </p:sp>
      <p:sp>
        <p:nvSpPr>
          <p:cNvPr id="9" name="TextBox 8"/>
          <p:cNvSpPr txBox="1"/>
          <p:nvPr/>
        </p:nvSpPr>
        <p:spPr>
          <a:xfrm>
            <a:off x="9063230" y="1864004"/>
            <a:ext cx="240008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detector</a:t>
            </a:r>
          </a:p>
          <a:p>
            <a:pPr algn="ctr">
              <a:lnSpc>
                <a:spcPct val="110000"/>
              </a:lnSpc>
              <a:spcAft>
                <a:spcPts val="100"/>
              </a:spcAft>
            </a:pPr>
            <a:r>
              <a:rPr sz="1100" b="0">
                <a:solidFill>
                  <a:srgbClr val="556175"/>
                </a:solidFill>
                <a:latin typeface="맑은 고딕"/>
                <a:ea typeface="맑은 고딕"/>
                <a:cs typeface="맑은 고딕"/>
              </a:rPr>
              <a:t>감지기 · 조건이 일정 시간</a:t>
            </a:r>
          </a:p>
          <a:p>
            <a:pPr algn="ctr">
              <a:lnSpc>
                <a:spcPct val="110000"/>
              </a:lnSpc>
              <a:spcAft>
                <a:spcPts val="100"/>
              </a:spcAft>
            </a:pPr>
            <a:r>
              <a:rPr sz="1100" b="0">
                <a:solidFill>
                  <a:srgbClr val="556175"/>
                </a:solidFill>
                <a:latin typeface="맑은 고딕"/>
                <a:ea typeface="맑은 고딕"/>
                <a:cs typeface="맑은 고딕"/>
              </a:rPr>
              <a:t>이어지면 경보를 낸다</a:t>
            </a:r>
          </a:p>
          <a:p>
            <a:pPr algn="ctr">
              <a:lnSpc>
                <a:spcPct val="110000"/>
              </a:lnSpc>
              <a:spcAft>
                <a:spcPts val="100"/>
              </a:spcAft>
            </a:pPr>
            <a:r>
              <a:rPr sz="1100" b="0">
                <a:solidFill>
                  <a:srgbClr val="556175"/>
                </a:solidFill>
                <a:latin typeface="맑은 고딕"/>
                <a:ea typeface="맑은 고딕"/>
                <a:cs typeface="맑은 고딕"/>
              </a:rPr>
              <a:t>조건: 유온 55 ℃ 초과, 냉각 효율</a:t>
            </a:r>
          </a:p>
          <a:p>
            <a:pPr algn="ctr">
              <a:lnSpc>
                <a:spcPct val="110000"/>
              </a:lnSpc>
              <a:spcAft>
                <a:spcPts val="100"/>
              </a:spcAft>
            </a:pPr>
            <a:r>
              <a:rPr sz="1100" b="0">
                <a:solidFill>
                  <a:srgbClr val="556175"/>
                </a:solidFill>
                <a:latin typeface="맑은 고딕"/>
                <a:ea typeface="맑은 고딕"/>
                <a:cs typeface="맑은 고딕"/>
              </a:rPr>
              <a:t>70 % 미만, 유온 상승 중</a:t>
            </a:r>
          </a:p>
        </p:txBody>
      </p:sp>
      <p:sp>
        <p:nvSpPr>
          <p:cNvPr id="10" name="TextBox 9"/>
          <p:cNvSpPr txBox="1"/>
          <p:nvPr/>
        </p:nvSpPr>
        <p:spPr>
          <a:xfrm>
            <a:off x="7186797" y="5466319"/>
            <a:ext cx="2727373"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TimescaleDB</a:t>
            </a:r>
          </a:p>
          <a:p>
            <a:pPr algn="ctr">
              <a:lnSpc>
                <a:spcPct val="110000"/>
              </a:lnSpc>
              <a:spcAft>
                <a:spcPts val="100"/>
              </a:spcAft>
            </a:pPr>
            <a:r>
              <a:rPr sz="1100" b="0">
                <a:solidFill>
                  <a:srgbClr val="556175"/>
                </a:solidFill>
                <a:latin typeface="맑은 고딕"/>
                <a:ea typeface="맑은 고딕"/>
                <a:cs typeface="맑은 고딕"/>
              </a:rPr>
              <a:t>시계열 데이터베이스 · 표 tag_1s</a:t>
            </a:r>
          </a:p>
          <a:p>
            <a:pPr algn="ctr">
              <a:lnSpc>
                <a:spcPct val="110000"/>
              </a:lnSpc>
              <a:spcAft>
                <a:spcPts val="100"/>
              </a:spcAft>
            </a:pPr>
            <a:r>
              <a:rPr sz="1100" b="0">
                <a:solidFill>
                  <a:srgbClr val="556175"/>
                </a:solidFill>
                <a:latin typeface="맑은 고딕"/>
                <a:ea typeface="맑은 고딕"/>
                <a:cs typeface="맑은 고딕"/>
              </a:rPr>
              <a:t>한 행: 시각 · HYD-01 · TS1 · 55.71</a:t>
            </a:r>
          </a:p>
        </p:txBody>
      </p:sp>
      <p:sp>
        <p:nvSpPr>
          <p:cNvPr id="11" name="TextBox 10"/>
          <p:cNvSpPr txBox="1"/>
          <p:nvPr/>
        </p:nvSpPr>
        <p:spPr>
          <a:xfrm>
            <a:off x="10077813" y="5466319"/>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분석 화면</a:t>
            </a:r>
          </a:p>
        </p:txBody>
      </p:sp>
      <p:sp>
        <p:nvSpPr>
          <p:cNvPr id="12" name="TextBox 11"/>
          <p:cNvSpPr txBox="1"/>
          <p:nvPr/>
        </p:nvSpPr>
        <p:spPr>
          <a:xfrm>
            <a:off x="3717577" y="5466319"/>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화면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TimescaleDB에 쌓인 값의 실제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TimescaleDB의 표 tag_1s에는 값 하나가 시각, 설비, 태그 이름, 값의 한 행으로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tag_1s</a:t>
            </a:r>
          </a:p>
          <a:p>
            <a:pPr algn="l">
              <a:lnSpc>
                <a:spcPct val="110000"/>
              </a:lnSpc>
              <a:spcAft>
                <a:spcPts val="200"/>
              </a:spcAft>
            </a:pPr>
            <a:r>
              <a:rPr sz="1300" b="0">
                <a:solidFill>
                  <a:srgbClr val="E8EEF6"/>
                </a:solidFill>
                <a:latin typeface="Consolas"/>
                <a:ea typeface="맑은 고딕"/>
                <a:cs typeface="맑은 고딕"/>
              </a:rPr>
              <a:t>time       asset    name   value</a:t>
            </a:r>
          </a:p>
          <a:p>
            <a:pPr algn="l">
              <a:lnSpc>
                <a:spcPct val="110000"/>
              </a:lnSpc>
              <a:spcAft>
                <a:spcPts val="200"/>
              </a:spcAft>
            </a:pPr>
            <a:r>
              <a:rPr sz="1300" b="0">
                <a:solidFill>
                  <a:srgbClr val="E8EEF6"/>
                </a:solidFill>
                <a:latin typeface="Consolas"/>
                <a:ea typeface="맑은 고딕"/>
                <a:cs typeface="맑은 고딕"/>
              </a:rPr>
              <a:t>11:13:07   HYD-01   TS1    55.56</a:t>
            </a:r>
          </a:p>
          <a:p>
            <a:pPr algn="l">
              <a:lnSpc>
                <a:spcPct val="110000"/>
              </a:lnSpc>
              <a:spcAft>
                <a:spcPts val="200"/>
              </a:spcAft>
            </a:pPr>
            <a:r>
              <a:rPr sz="1300" b="0">
                <a:solidFill>
                  <a:srgbClr val="E8EEF6"/>
                </a:solidFill>
                <a:latin typeface="Consolas"/>
                <a:ea typeface="맑은 고딕"/>
                <a:cs typeface="맑은 고딕"/>
              </a:rPr>
              <a:t>11:13:07   HYD-01   CE     46.2</a:t>
            </a:r>
          </a:p>
          <a:p>
            <a:pPr algn="l">
              <a:lnSpc>
                <a:spcPct val="110000"/>
              </a:lnSpc>
              <a:spcAft>
                <a:spcPts val="200"/>
              </a:spcAft>
            </a:pPr>
            <a:r>
              <a:rPr sz="1300" b="0">
                <a:solidFill>
                  <a:srgbClr val="E8EEF6"/>
                </a:solidFill>
                <a:latin typeface="Consolas"/>
                <a:ea typeface="맑은 고딕"/>
                <a:cs typeface="맑은 고딕"/>
              </a:rPr>
              <a:t>11:13:08   HYD-01   TS1    55.71</a:t>
            </a:r>
          </a:p>
          <a:p>
            <a:pPr algn="l">
              <a:lnSpc>
                <a:spcPct val="110000"/>
              </a:lnSpc>
              <a:spcAft>
                <a:spcPts val="200"/>
              </a:spcAft>
            </a:pPr>
            <a:r>
              <a:rPr sz="1300" b="0">
                <a:solidFill>
                  <a:srgbClr val="E8EEF6"/>
                </a:solidFill>
                <a:latin typeface="Consolas"/>
                <a:ea typeface="맑은 고딕"/>
                <a:cs typeface="맑은 고딕"/>
              </a:rPr>
              <a:t>11:13:08   HYD-01   CE     46.2</a:t>
            </a:r>
          </a:p>
          <a:p>
            <a:pPr algn="l">
              <a:lnSpc>
                <a:spcPct val="110000"/>
              </a:lnSpc>
              <a:spcAft>
                <a:spcPts val="200"/>
              </a:spcAft>
            </a:pPr>
            <a:r>
              <a:rPr sz="1300" b="0">
                <a:solidFill>
                  <a:srgbClr val="E8EEF6"/>
                </a:solidFill>
                <a:latin typeface="Consolas"/>
                <a:ea typeface="맑은 고딕"/>
                <a:cs typeface="맑은 고딕"/>
              </a:rPr>
              <a:t>11:13:09   HYD-01   TS1    55.86</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행</a:t>
            </a:r>
          </a:p>
          <a:p>
            <a:pPr algn="l">
              <a:lnSpc>
                <a:spcPct val="110000"/>
              </a:lnSpc>
              <a:spcAft>
                <a:spcPts val="400"/>
              </a:spcAft>
            </a:pPr>
            <a:r>
              <a:rPr sz="1400" b="0">
                <a:solidFill>
                  <a:srgbClr val="1F2A3A"/>
                </a:solidFill>
                <a:latin typeface="맑은 고딕"/>
                <a:ea typeface="맑은 고딕"/>
                <a:cs typeface="맑은 고딕"/>
              </a:rPr>
              <a:t>값 하나가 한 줄이다. 시각, 설비, 태그 이름, 값이 들어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55.71</a:t>
            </a:r>
          </a:p>
          <a:p>
            <a:pPr algn="l">
              <a:lnSpc>
                <a:spcPct val="110000"/>
              </a:lnSpc>
              <a:spcAft>
                <a:spcPts val="400"/>
              </a:spcAft>
            </a:pPr>
            <a:r>
              <a:rPr sz="1400" b="0">
                <a:solidFill>
                  <a:srgbClr val="1F2A3A"/>
                </a:solidFill>
                <a:latin typeface="맑은 고딕"/>
                <a:ea typeface="맑은 고딕"/>
                <a:cs typeface="맑은 고딕"/>
              </a:rPr>
              <a:t>11:13:08의 유온이다. 경보가 난 순간의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추세선</a:t>
            </a:r>
          </a:p>
          <a:p>
            <a:pPr algn="l">
              <a:lnSpc>
                <a:spcPct val="110000"/>
              </a:lnSpc>
              <a:spcAft>
                <a:spcPts val="400"/>
              </a:spcAft>
            </a:pPr>
            <a:r>
              <a:rPr sz="1400" b="0">
                <a:solidFill>
                  <a:srgbClr val="1F2A3A"/>
                </a:solidFill>
                <a:latin typeface="맑은 고딕"/>
                <a:ea typeface="맑은 고딕"/>
                <a:cs typeface="맑은 고딕"/>
              </a:rPr>
              <a:t>Grafana의 추세선은 이 행들을 시각 순서로 이은 것이다.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조건과 유지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조건은 두 값과 추세를 함께 보고, 그 상태가 일정 시간 이어진 뒤에야 성립해 잠깐 튄 값을 걸러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Picture 5" descr="그래프_경보순간_TS1.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조건: 셋이 모두 맞을 때</a:t>
            </a:r>
          </a:p>
          <a:p>
            <a:pPr algn="l">
              <a:lnSpc>
                <a:spcPct val="110000"/>
              </a:lnSpc>
              <a:spcAft>
                <a:spcPts val="400"/>
              </a:spcAft>
            </a:pPr>
            <a:r>
              <a:rPr sz="1400" b="0">
                <a:solidFill>
                  <a:srgbClr val="1F2A3A"/>
                </a:solidFill>
                <a:latin typeface="맑은 고딕"/>
                <a:ea typeface="맑은 고딕"/>
                <a:cs typeface="맑은 고딕"/>
              </a:rPr>
              <a:t>유온 TS1 &gt; 55 ℃</a:t>
            </a:r>
          </a:p>
          <a:p>
            <a:pPr algn="l">
              <a:lnSpc>
                <a:spcPct val="110000"/>
              </a:lnSpc>
              <a:spcAft>
                <a:spcPts val="400"/>
              </a:spcAft>
            </a:pPr>
            <a:r>
              <a:rPr sz="1400" b="0">
                <a:solidFill>
                  <a:srgbClr val="1F2A3A"/>
                </a:solidFill>
                <a:latin typeface="맑은 고딕"/>
                <a:ea typeface="맑은 고딕"/>
                <a:cs typeface="맑은 고딕"/>
              </a:rPr>
              <a:t>냉각 효율 CE &lt; 70 %</a:t>
            </a:r>
          </a:p>
          <a:p>
            <a:pPr algn="l">
              <a:lnSpc>
                <a:spcPct val="110000"/>
              </a:lnSpc>
              <a:spcAft>
                <a:spcPts val="400"/>
              </a:spcAft>
            </a:pPr>
            <a:r>
              <a:rPr sz="1400" b="0">
                <a:solidFill>
                  <a:srgbClr val="1F2A3A"/>
                </a:solidFill>
                <a:latin typeface="맑은 고딕"/>
                <a:ea typeface="맑은 고딕"/>
                <a:cs typeface="맑은 고딕"/>
              </a:rPr>
              <a:t>유온의 기울기 &gt; 0 (오르는 중)</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기준을 넘음 11:13:04</a:t>
            </a:r>
          </a:p>
          <a:p>
            <a:pPr algn="l">
              <a:lnSpc>
                <a:spcPct val="110000"/>
              </a:lnSpc>
              <a:spcAft>
                <a:spcPts val="400"/>
              </a:spcAft>
            </a:pPr>
            <a:r>
              <a:rPr sz="1400" b="0">
                <a:solidFill>
                  <a:srgbClr val="1F2A3A"/>
                </a:solidFill>
                <a:latin typeface="맑은 고딕"/>
                <a:ea typeface="맑은 고딕"/>
                <a:cs typeface="맑은 고딕"/>
              </a:rPr>
              <a:t>유온이 55 ℃를 넘었다. 아직 경보는 없다.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조건이 약 4초 동안 이어지자 경보가 났다. 이때 유온은 55.71 ℃였다.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유지 시간을 두는 이유</a:t>
            </a:r>
          </a:p>
          <a:p>
            <a:pPr algn="l">
              <a:lnSpc>
                <a:spcPct val="110000"/>
              </a:lnSpc>
              <a:spcAft>
                <a:spcPts val="400"/>
              </a:spcAft>
            </a:pPr>
            <a:r>
              <a:rPr sz="1400" b="0">
                <a:solidFill>
                  <a:srgbClr val="1F2A3A"/>
                </a:solidFill>
                <a:latin typeface="맑은 고딕"/>
                <a:ea typeface="맑은 고딕"/>
                <a:cs typeface="맑은 고딕"/>
              </a:rPr>
              <a:t>잠깐 튄 값에 경보가 울리지 않게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FUXA와 Grafana: 실시간 운전 화면과 이력 분석 화면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FUXA는 EMQX에서 받은 지금의 값을, Grafana는 TimescaleDB에 쌓인 이력을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FUXA</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오픈소스 웹 SCADA · HMI(Human-Machine Interface) 도구이다</a:t>
            </a:r>
          </a:p>
          <a:p>
            <a:pPr algn="l">
              <a:lnSpc>
                <a:spcPct val="110000"/>
              </a:lnSpc>
              <a:spcAft>
                <a:spcPts val="600"/>
              </a:spcAft>
            </a:pPr>
            <a:r>
              <a:rPr sz="1450" b="0">
                <a:solidFill>
                  <a:srgbClr val="1F2A3A"/>
                </a:solidFill>
                <a:latin typeface="맑은 고딕"/>
                <a:ea typeface="맑은 고딕"/>
                <a:cs typeface="맑은 고딕"/>
              </a:rPr>
              <a:t>• OT에서 EMQX를 직접 구독해 지금의 값을 보여 준다</a:t>
            </a:r>
          </a:p>
          <a:p>
            <a:pPr algn="l">
              <a:lnSpc>
                <a:spcPct val="110000"/>
              </a:lnSpc>
              <a:spcAft>
                <a:spcPts val="600"/>
              </a:spcAft>
            </a:pPr>
            <a:r>
              <a:rPr sz="1450" b="0">
                <a:solidFill>
                  <a:srgbClr val="1F2A3A"/>
                </a:solidFill>
                <a:latin typeface="맑은 고딕"/>
                <a:ea typeface="맑은 고딕"/>
                <a:cs typeface="맑은 고딕"/>
              </a:rPr>
              <a:t>• 운전원이 화면에서 팬 속도와 펌프 부하를 바꾼다</a:t>
            </a:r>
          </a:p>
          <a:p>
            <a:pPr algn="l">
              <a:lnSpc>
                <a:spcPct val="110000"/>
              </a:lnSpc>
              <a:spcAft>
                <a:spcPts val="600"/>
              </a:spcAft>
            </a:pPr>
            <a:r>
              <a:rPr sz="1450" b="0">
                <a:solidFill>
                  <a:srgbClr val="1F2A3A"/>
                </a:solidFill>
                <a:latin typeface="맑은 고딕"/>
                <a:ea typeface="맑은 고딕"/>
                <a:cs typeface="맑은 고딕"/>
              </a:rPr>
              <a:t>• IT 쪽 서버가 멈춰도 계속 동작한다</a:t>
            </a:r>
          </a:p>
        </p:txBody>
      </p:sp>
      <p:sp>
        <p:nvSpPr>
          <p:cNvPr id="11" name="Rounded Rectangle 10"/>
          <p:cNvSpPr/>
          <p:nvPr/>
        </p:nvSpPr>
        <p:spPr>
          <a:xfrm>
            <a:off x="868680" y="5246433"/>
            <a:ext cx="20726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20726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운전 · 지금의 값과 조작</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chart-line" descr="chart-lin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Grafana</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저장된 데이터를 그래프로 보여 주는 대시보드이다</a:t>
            </a:r>
          </a:p>
          <a:p>
            <a:pPr algn="l">
              <a:lnSpc>
                <a:spcPct val="110000"/>
              </a:lnSpc>
              <a:spcAft>
                <a:spcPts val="600"/>
              </a:spcAft>
            </a:pPr>
            <a:r>
              <a:rPr sz="1450" b="0">
                <a:solidFill>
                  <a:srgbClr val="1F2A3A"/>
                </a:solidFill>
                <a:latin typeface="맑은 고딕"/>
                <a:ea typeface="맑은 고딕"/>
                <a:cs typeface="맑은 고딕"/>
              </a:rPr>
              <a:t>• IT에서 TimescaleDB를 조회해 이력과 추세를 보여 준다</a:t>
            </a:r>
          </a:p>
          <a:p>
            <a:pPr algn="l">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a:lnSpc>
                <a:spcPct val="110000"/>
              </a:lnSpc>
              <a:spcAft>
                <a:spcPts val="600"/>
              </a:spcAft>
            </a:pPr>
            <a:r>
              <a:rPr sz="1450" b="0">
                <a:solidFill>
                  <a:srgbClr val="1F2A3A"/>
                </a:solidFill>
                <a:latin typeface="맑은 고딕"/>
                <a:ea typeface="맑은 고딕"/>
                <a:cs typeface="맑은 고딕"/>
              </a:rPr>
              <a:t>• 유온 추세선 위에 경보와 조치 시점을 표시한다</a:t>
            </a:r>
          </a:p>
        </p:txBody>
      </p:sp>
      <p:sp>
        <p:nvSpPr>
          <p:cNvPr id="18" name="Rounded Rectangle 17"/>
          <p:cNvSpPr/>
          <p:nvPr/>
        </p:nvSpPr>
        <p:spPr>
          <a:xfrm>
            <a:off x="6781647" y="5246433"/>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분석 · 이력과 추세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유온에 반응하는 세 가지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유온에 화면의 알람, detector의 경보, PLC의 인터록이 서로 다른 기준과 목적으로 반응한다.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bell" descr="bel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FUXA의 알람</a:t>
            </a:r>
          </a:p>
          <a:p>
            <a:pPr algn="l">
              <a:lnSpc>
                <a:spcPct val="110000"/>
              </a:lnSpc>
              <a:spcAft>
                <a:spcPts val="400"/>
              </a:spcAft>
            </a:pPr>
            <a:r>
              <a:rPr sz="1400" b="0">
                <a:solidFill>
                  <a:srgbClr val="1F2A3A"/>
                </a:solidFill>
                <a:latin typeface="맑은 고딕"/>
                <a:ea typeface="맑은 고딕"/>
                <a:cs typeface="맑은 고딕"/>
              </a:rPr>
              <a:t>• 유온 하나가 60 ℃를 넘으면 화면에 띄운다</a:t>
            </a:r>
          </a:p>
          <a:p>
            <a:pPr algn="l">
              <a:lnSpc>
                <a:spcPct val="110000"/>
              </a:lnSpc>
              <a:spcAft>
                <a:spcPts val="400"/>
              </a:spcAft>
            </a:pPr>
            <a:r>
              <a:rPr sz="1400" b="0">
                <a:solidFill>
                  <a:srgbClr val="1F2A3A"/>
                </a:solidFill>
                <a:latin typeface="맑은 고딕"/>
                <a:ea typeface="맑은 고딕"/>
                <a:cs typeface="맑은 고딕"/>
              </a:rPr>
              <a:t>• 운전원에게 지금의 상태를 알린다</a:t>
            </a:r>
          </a:p>
        </p:txBody>
      </p:sp>
      <p:sp>
        <p:nvSpPr>
          <p:cNvPr id="10" name="Rounded Rectangle 9"/>
          <p:cNvSpPr/>
          <p:nvPr/>
        </p:nvSpPr>
        <p:spPr>
          <a:xfrm>
            <a:off x="777240" y="5258308"/>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 하나의 기준</a:t>
            </a:r>
          </a:p>
        </p:txBody>
      </p:sp>
      <p:sp>
        <p:nvSpPr>
          <p:cNvPr id="12" name="Rounded Rectangle 11"/>
          <p:cNvSpPr/>
          <p:nvPr/>
        </p:nvSpPr>
        <p:spPr>
          <a:xfrm>
            <a:off x="4338218"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5CB8F2"/>
          </a:solidFill>
          <a:ln>
            <a:noFill/>
          </a:ln>
        </p:spPr>
        <p:txBody>
          <a:bodyPr rtlCol="0" anchor="ctr"/>
          <a:lstStyle/>
          <a:p>
            <a:pPr algn="ctr"/>
          </a:p>
        </p:txBody>
      </p:sp>
      <p:pic>
        <p:nvPicPr>
          <p:cNvPr id="14" name="아이콘:radar" descr="radar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detector의 경보</a:t>
            </a:r>
          </a:p>
          <a:p>
            <a:pPr algn="l">
              <a:lnSpc>
                <a:spcPct val="110000"/>
              </a:lnSpc>
              <a:spcAft>
                <a:spcPts val="400"/>
              </a:spcAft>
            </a:pPr>
            <a:r>
              <a:rPr sz="1400" b="0">
                <a:solidFill>
                  <a:srgbClr val="1F2A3A"/>
                </a:solidFill>
                <a:latin typeface="맑은 고딕"/>
                <a:ea typeface="맑은 고딕"/>
                <a:cs typeface="맑은 고딕"/>
              </a:rPr>
              <a:t>• 유온 55 ℃ 초과, 냉각 효율 70 % 미만, 상승 추세가 함께 이어질 때 낸다</a:t>
            </a:r>
          </a:p>
          <a:p>
            <a:pPr algn="l">
              <a:lnSpc>
                <a:spcPct val="110000"/>
              </a:lnSpc>
              <a:spcAft>
                <a:spcPts val="400"/>
              </a:spcAft>
            </a:pPr>
            <a:r>
              <a:rPr sz="1400" b="0">
                <a:solidFill>
                  <a:srgbClr val="1F2A3A"/>
                </a:solidFill>
                <a:latin typeface="맑은 고딕"/>
                <a:ea typeface="맑은 고딕"/>
                <a:cs typeface="맑은 고딕"/>
              </a:rPr>
              <a:t>• 이후의 원인 진단과 조치 흐름을 시작시킨다</a:t>
            </a:r>
          </a:p>
        </p:txBody>
      </p:sp>
      <p:sp>
        <p:nvSpPr>
          <p:cNvPr id="16" name="Rounded Rectangle 15"/>
          <p:cNvSpPr/>
          <p:nvPr/>
        </p:nvSpPr>
        <p:spPr>
          <a:xfrm>
            <a:off x="4566818" y="5258308"/>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값과 추세</a:t>
            </a:r>
          </a:p>
        </p:txBody>
      </p:sp>
      <p:sp>
        <p:nvSpPr>
          <p:cNvPr id="18" name="Rounded Rectangle 17"/>
          <p:cNvSpPr/>
          <p:nvPr/>
        </p:nvSpPr>
        <p:spPr>
          <a:xfrm>
            <a:off x="8127796"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PLC의 인터록</a:t>
            </a:r>
          </a:p>
          <a:p>
            <a:pPr algn="l">
              <a:lnSpc>
                <a:spcPct val="110000"/>
              </a:lnSpc>
              <a:spcAft>
                <a:spcPts val="400"/>
              </a:spcAft>
            </a:pPr>
            <a:r>
              <a:rPr sz="1400" b="0">
                <a:solidFill>
                  <a:srgbClr val="1F2A3A"/>
                </a:solidFill>
                <a:latin typeface="맑은 고딕"/>
                <a:ea typeface="맑은 고딕"/>
                <a:cs typeface="맑은 고딕"/>
              </a:rPr>
              <a:t>• 유온이 65 ℃를 넘으면 설비를 세운다</a:t>
            </a:r>
          </a:p>
          <a:p>
            <a:pPr algn="l">
              <a:lnSpc>
                <a:spcPct val="110000"/>
              </a:lnSpc>
              <a:spcAft>
                <a:spcPts val="400"/>
              </a:spcAft>
            </a:pPr>
            <a:r>
              <a:rPr sz="1400" b="0">
                <a:solidFill>
                  <a:srgbClr val="1F2A3A"/>
                </a:solidFill>
                <a:latin typeface="맑은 고딕"/>
                <a:ea typeface="맑은 고딕"/>
                <a:cs typeface="맑은 고딕"/>
              </a:rPr>
              <a:t>• 알리는 것이 아니라 설비를 보호한다</a:t>
            </a:r>
          </a:p>
        </p:txBody>
      </p:sp>
      <p:sp>
        <p:nvSpPr>
          <p:cNvPr id="22" name="Rounded Rectangle 21"/>
          <p:cNvSpPr/>
          <p:nvPr/>
        </p:nvSpPr>
        <p:spPr>
          <a:xfrm>
            <a:off x="8356396" y="5258308"/>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보호 정지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기준의 순서와 인터록의 리셋: 55, 60, 65 ℃</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55 ℃의 경보가 먼저 반응하므로, 사람이 다시 걸어야 풀리는 65 ℃의 인터록에 이르기 전에 조치할 시간이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94013"/>
            <a:ext cx="3442106"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7" name="Oval 6"/>
          <p:cNvSpPr/>
          <p:nvPr/>
        </p:nvSpPr>
        <p:spPr>
          <a:xfrm>
            <a:off x="1903933" y="2576893"/>
            <a:ext cx="731520" cy="731520"/>
          </a:xfrm>
          <a:prstGeom prst="ellipse">
            <a:avLst/>
          </a:prstGeom>
          <a:solidFill>
            <a:srgbClr val="5CB8F2"/>
          </a:solidFill>
          <a:ln>
            <a:noFill/>
          </a:ln>
        </p:spPr>
        <p:txBody>
          <a:bodyPr rtlCol="0" anchor="ctr"/>
          <a:lstStyle/>
          <a:p>
            <a:pPr algn="ctr"/>
          </a:p>
        </p:txBody>
      </p:sp>
      <p:pic>
        <p:nvPicPr>
          <p:cNvPr id="8" name="아이콘:radar" descr="radar_13294B_1.6.png"/>
          <p:cNvPicPr>
            <a:picLocks noChangeAspect="1"/>
          </p:cNvPicPr>
          <p:nvPr/>
        </p:nvPicPr>
        <p:blipFill>
          <a:blip r:embed="rId3"/>
          <a:stretch>
            <a:fillRect/>
          </a:stretch>
        </p:blipFill>
        <p:spPr>
          <a:xfrm>
            <a:off x="2057552" y="2730512"/>
            <a:ext cx="424281" cy="424281"/>
          </a:xfrm>
          <a:prstGeom prst="rect">
            <a:avLst/>
          </a:prstGeom>
        </p:spPr>
      </p:pic>
      <p:sp>
        <p:nvSpPr>
          <p:cNvPr id="9" name="TextBox 8"/>
          <p:cNvSpPr txBox="1"/>
          <p:nvPr/>
        </p:nvSpPr>
        <p:spPr>
          <a:xfrm>
            <a:off x="621792"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55 ℃</a:t>
            </a:r>
          </a:p>
          <a:p>
            <a:pPr algn="ctr">
              <a:lnSpc>
                <a:spcPct val="110000"/>
              </a:lnSpc>
              <a:spcAft>
                <a:spcPts val="400"/>
              </a:spcAft>
            </a:pPr>
            <a:r>
              <a:rPr sz="1350" b="0">
                <a:solidFill>
                  <a:srgbClr val="1F2A3A"/>
                </a:solidFill>
                <a:latin typeface="맑은 고딕"/>
                <a:ea typeface="맑은 고딕"/>
                <a:cs typeface="맑은 고딕"/>
              </a:rPr>
              <a:t>detector의 경보</a:t>
            </a:r>
          </a:p>
          <a:p>
            <a:pPr algn="ctr">
              <a:lnSpc>
                <a:spcPct val="110000"/>
              </a:lnSpc>
              <a:spcAft>
                <a:spcPts val="400"/>
              </a:spcAft>
            </a:pPr>
            <a:r>
              <a:rPr sz="1350" b="0">
                <a:solidFill>
                  <a:srgbClr val="1F2A3A"/>
                </a:solidFill>
                <a:latin typeface="맑은 고딕"/>
                <a:ea typeface="맑은 고딕"/>
                <a:cs typeface="맑은 고딕"/>
              </a:rPr>
              <a:t>가장 먼저 반응한다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394013"/>
            <a:ext cx="3442106"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576893"/>
            <a:ext cx="731520" cy="731520"/>
          </a:xfrm>
          <a:prstGeom prst="ellipse">
            <a:avLst/>
          </a:prstGeom>
          <a:solidFill>
            <a:srgbClr val="FFFFFF"/>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5883706" y="2730512"/>
            <a:ext cx="424281" cy="424281"/>
          </a:xfrm>
          <a:prstGeom prst="rect">
            <a:avLst/>
          </a:prstGeom>
        </p:spPr>
      </p:pic>
      <p:sp>
        <p:nvSpPr>
          <p:cNvPr id="14" name="TextBox 13"/>
          <p:cNvSpPr txBox="1"/>
          <p:nvPr/>
        </p:nvSpPr>
        <p:spPr>
          <a:xfrm>
            <a:off x="4447946"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60 ℃</a:t>
            </a:r>
          </a:p>
          <a:p>
            <a:pPr algn="ctr">
              <a:lnSpc>
                <a:spcPct val="110000"/>
              </a:lnSpc>
              <a:spcAft>
                <a:spcPts val="400"/>
              </a:spcAft>
            </a:pPr>
            <a:r>
              <a:rPr sz="1350" b="0">
                <a:solidFill>
                  <a:srgbClr val="1F2A3A"/>
                </a:solidFill>
                <a:latin typeface="맑은 고딕"/>
                <a:ea typeface="맑은 고딕"/>
                <a:cs typeface="맑은 고딕"/>
              </a:rPr>
              <a:t>FUXA의 알람</a:t>
            </a:r>
          </a:p>
          <a:p>
            <a:pPr algn="ctr">
              <a:lnSpc>
                <a:spcPct val="110000"/>
              </a:lnSpc>
              <a:spcAft>
                <a:spcPts val="400"/>
              </a:spcAft>
            </a:pPr>
            <a:r>
              <a:rPr sz="1350" b="0">
                <a:solidFill>
                  <a:srgbClr val="1F2A3A"/>
                </a:solidFill>
                <a:latin typeface="맑은 고딕"/>
                <a:ea typeface="맑은 고딕"/>
                <a:cs typeface="맑은 고딕"/>
              </a:rPr>
              <a:t>인터록보다 먼저 알린다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394013"/>
            <a:ext cx="3442106"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576893"/>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9709861" y="2730512"/>
            <a:ext cx="424281" cy="424281"/>
          </a:xfrm>
          <a:prstGeom prst="rect">
            <a:avLst/>
          </a:prstGeom>
        </p:spPr>
      </p:pic>
      <p:sp>
        <p:nvSpPr>
          <p:cNvPr id="19" name="TextBox 18"/>
          <p:cNvSpPr txBox="1"/>
          <p:nvPr/>
        </p:nvSpPr>
        <p:spPr>
          <a:xfrm>
            <a:off x="8274100" y="3381565"/>
            <a:ext cx="3295802"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65 ℃</a:t>
            </a:r>
          </a:p>
          <a:p>
            <a:pPr algn="ctr">
              <a:lnSpc>
                <a:spcPct val="110000"/>
              </a:lnSpc>
              <a:spcAft>
                <a:spcPts val="400"/>
              </a:spcAft>
            </a:pPr>
            <a:r>
              <a:rPr sz="1350" b="0">
                <a:solidFill>
                  <a:srgbClr val="1F2A3A"/>
                </a:solidFill>
                <a:latin typeface="맑은 고딕"/>
                <a:ea typeface="맑은 고딕"/>
                <a:cs typeface="맑은 고딕"/>
              </a:rPr>
              <a:t>PLC의 인터록</a:t>
            </a:r>
          </a:p>
          <a:p>
            <a:pPr algn="ctr">
              <a:lnSpc>
                <a:spcPct val="110000"/>
              </a:lnSpc>
              <a:spcAft>
                <a:spcPts val="400"/>
              </a:spcAft>
            </a:pPr>
            <a:r>
              <a:rPr sz="1350" b="0">
                <a:solidFill>
                  <a:srgbClr val="1F2A3A"/>
                </a:solidFill>
                <a:latin typeface="맑은 고딕"/>
                <a:ea typeface="맑은 고딕"/>
                <a:cs typeface="맑은 고딕"/>
              </a:rPr>
              <a:t>상태가 TRIP이 되고 자동으로 풀리지 않는다</a:t>
            </a:r>
          </a:p>
          <a:p>
            <a:pPr algn="ctr">
              <a:lnSpc>
                <a:spcPct val="110000"/>
              </a:lnSpc>
              <a:spcAft>
                <a:spcPts val="400"/>
              </a:spcAft>
            </a:pPr>
            <a:r>
              <a:rPr sz="1350" b="0">
                <a:solidFill>
                  <a:srgbClr val="1F2A3A"/>
                </a:solidFill>
                <a:latin typeface="맑은 고딕"/>
                <a:ea typeface="맑은 고딕"/>
                <a:cs typeface="맑은 고딕"/>
              </a:rPr>
              <a:t>유온이 55 ℃ 아래로 내려온 뒤</a:t>
            </a:r>
          </a:p>
          <a:p>
            <a:pPr algn="ctr">
              <a:lnSpc>
                <a:spcPct val="110000"/>
              </a:lnSpc>
              <a:spcAft>
                <a:spcPts val="400"/>
              </a:spcAft>
            </a:pPr>
            <a:r>
              <a:rPr sz="1350" b="0">
                <a:solidFill>
                  <a:srgbClr val="1F2A3A"/>
                </a:solidFill>
                <a:latin typeface="맑은 고딕"/>
                <a:ea typeface="맑은 고딕"/>
                <a:cs typeface="맑은 고딕"/>
              </a:rPr>
              <a:t>사람이 다시 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리니지: 값이 생겨 판단에 이르기까지의 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데이터 리니지(Data Lineage)는 데이터가 어디서 생겨 무엇을 거쳐 무엇으로 바뀌었는지를 되짚는 내력이다.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원천 데이터</a:t>
            </a:r>
          </a:p>
          <a:p>
            <a:pPr algn="ctr">
              <a:lnSpc>
                <a:spcPct val="110000"/>
              </a:lnSpc>
              <a:spcAft>
                <a:spcPts val="400"/>
              </a:spcAft>
            </a:pPr>
            <a:r>
              <a:rPr sz="1350" b="0">
                <a:solidFill>
                  <a:srgbClr val="1F2A3A"/>
                </a:solidFill>
                <a:latin typeface="맑은 고딕"/>
                <a:ea typeface="맑은 고딕"/>
                <a:cs typeface="맑은 고딕"/>
              </a:rPr>
              <a:t>센서와 PLC가 만든다</a:t>
            </a:r>
          </a:p>
          <a:p>
            <a:pPr algn="ctr">
              <a:lnSpc>
                <a:spcPct val="110000"/>
              </a:lnSpc>
              <a:spcAft>
                <a:spcPts val="400"/>
              </a:spcAft>
            </a:pPr>
            <a:r>
              <a:rPr sz="1350" b="0">
                <a:solidFill>
                  <a:srgbClr val="1F2A3A"/>
                </a:solidFill>
                <a:latin typeface="맑은 고딕"/>
                <a:ea typeface="맑은 고딕"/>
                <a:cs typeface="맑은 고딕"/>
              </a:rPr>
              <a:t>유온 TS1의 측정값</a:t>
            </a:r>
          </a:p>
          <a:p>
            <a:pPr algn="ctr">
              <a:lnSpc>
                <a:spcPct val="110000"/>
              </a:lnSpc>
              <a:spcAft>
                <a:spcPts val="400"/>
              </a:spcAft>
            </a:pPr>
            <a:r>
              <a:rPr sz="1350" b="0">
                <a:solidFill>
                  <a:srgbClr val="1F2A3A"/>
                </a:solidFill>
                <a:latin typeface="맑은 고딕"/>
                <a:ea typeface="맑은 고딕"/>
                <a:cs typeface="맑은 고딕"/>
              </a:rPr>
              <a:t>MQTT 메시지</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transfer" descr="transfer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가공 데이터</a:t>
            </a:r>
          </a:p>
          <a:p>
            <a:pPr algn="ctr">
              <a:lnSpc>
                <a:spcPct val="110000"/>
              </a:lnSpc>
              <a:spcAft>
                <a:spcPts val="400"/>
              </a:spcAft>
            </a:pPr>
            <a:r>
              <a:rPr sz="1350" b="0">
                <a:solidFill>
                  <a:srgbClr val="1F2A3A"/>
                </a:solidFill>
                <a:latin typeface="맑은 고딕"/>
                <a:ea typeface="맑은 고딕"/>
                <a:cs typeface="맑은 고딕"/>
              </a:rPr>
              <a:t>connect-ingest와</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Redpanda 레코드,</a:t>
            </a:r>
          </a:p>
          <a:p>
            <a:pPr algn="ctr">
              <a:lnSpc>
                <a:spcPct val="110000"/>
              </a:lnSpc>
              <a:spcAft>
                <a:spcPts val="400"/>
              </a:spcAft>
            </a:pPr>
            <a:r>
              <a:rPr sz="1350" b="0">
                <a:solidFill>
                  <a:srgbClr val="1F2A3A"/>
                </a:solidFill>
                <a:latin typeface="맑은 고딕"/>
                <a:ea typeface="맑은 고딕"/>
                <a:cs typeface="맑은 고딕"/>
              </a:rPr>
              <a:t>유온의 기울기</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이벤트</a:t>
            </a:r>
          </a:p>
          <a:p>
            <a:pPr algn="ctr">
              <a:lnSpc>
                <a:spcPct val="110000"/>
              </a:lnSpc>
              <a:spcAft>
                <a:spcPts val="400"/>
              </a:spcAft>
            </a:pPr>
            <a:r>
              <a:rPr sz="1350" b="0">
                <a:solidFill>
                  <a:srgbClr val="1F2A3A"/>
                </a:solidFill>
                <a:latin typeface="맑은 고딕"/>
                <a:ea typeface="맑은 고딕"/>
                <a:cs typeface="맑은 고딕"/>
              </a:rPr>
              <a:t>detector가 만든다</a:t>
            </a:r>
          </a:p>
          <a:p>
            <a:pPr algn="ctr">
              <a:lnSpc>
                <a:spcPct val="110000"/>
              </a:lnSpc>
              <a:spcAft>
                <a:spcPts val="400"/>
              </a:spcAft>
            </a:pPr>
            <a:r>
              <a:rPr sz="1350" b="0">
                <a:solidFill>
                  <a:srgbClr val="1F2A3A"/>
                </a:solidFill>
                <a:latin typeface="맑은 고딕"/>
                <a:ea typeface="맑은 고딕"/>
                <a:cs typeface="맑은 고딕"/>
              </a:rPr>
              <a:t>쿨러 성능 저하 경보</a:t>
            </a:r>
          </a:p>
          <a:p>
            <a:pPr algn="ctr">
              <a:lnSpc>
                <a:spcPct val="110000"/>
              </a:lnSpc>
              <a:spcAft>
                <a:spcPts val="400"/>
              </a:spcAft>
            </a:pPr>
            <a:r>
              <a:rPr sz="1350" b="0">
                <a:solidFill>
                  <a:srgbClr val="1F2A3A"/>
                </a:solidFill>
                <a:latin typeface="맑은 고딕"/>
                <a:ea typeface="맑은 고딕"/>
                <a:cs typeface="맑은 고딕"/>
              </a:rPr>
              <a:t>ALT-hyd01-0014-e0a1</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판단 결과</a:t>
            </a:r>
          </a:p>
          <a:p>
            <a:pPr algn="ctr">
              <a:lnSpc>
                <a:spcPct val="110000"/>
              </a:lnSpc>
              <a:spcAft>
                <a:spcPts val="400"/>
              </a:spcAft>
            </a:pPr>
            <a:r>
              <a:rPr sz="1350" b="0">
                <a:solidFill>
                  <a:srgbClr val="1F2A3A"/>
                </a:solidFill>
                <a:latin typeface="맑은 고딕"/>
                <a:ea typeface="맑은 고딕"/>
                <a:cs typeface="맑은 고딕"/>
              </a:rPr>
              <a:t>에이전트와</a:t>
            </a:r>
          </a:p>
          <a:p>
            <a:pPr algn="ctr">
              <a:lnSpc>
                <a:spcPct val="110000"/>
              </a:lnSpc>
              <a:spcAft>
                <a:spcPts val="400"/>
              </a:spcAft>
            </a:pPr>
            <a:r>
              <a:rPr sz="1350" b="0">
                <a:solidFill>
                  <a:srgbClr val="1F2A3A"/>
                </a:solidFill>
                <a:latin typeface="맑은 고딕"/>
                <a:ea typeface="맑은 고딕"/>
                <a:cs typeface="맑은 고딕"/>
              </a:rPr>
              <a:t>담당자가 만든다</a:t>
            </a:r>
          </a:p>
          <a:p>
            <a:pPr algn="ctr">
              <a:lnSpc>
                <a:spcPct val="110000"/>
              </a:lnSpc>
              <a:spcAft>
                <a:spcPts val="400"/>
              </a:spcAft>
            </a:pPr>
            <a:r>
              <a:rPr sz="1350" b="0">
                <a:solidFill>
                  <a:srgbClr val="1F2A3A"/>
                </a:solidFill>
                <a:latin typeface="맑은 고딕"/>
                <a:ea typeface="맑은 고딕"/>
                <a:cs typeface="맑은 고딕"/>
              </a:rPr>
              <a:t>원인 판정, 조치 추천,</a:t>
            </a:r>
          </a:p>
          <a:p>
            <a:pPr algn="ctr">
              <a:lnSpc>
                <a:spcPct val="110000"/>
              </a:lnSpc>
              <a:spcAft>
                <a:spcPts val="400"/>
              </a:spcAft>
            </a:pPr>
            <a:r>
              <a:rPr sz="1350" b="0">
                <a:solidFill>
                  <a:srgbClr val="1F2A3A"/>
                </a:solidFill>
                <a:latin typeface="맑은 고딕"/>
                <a:ea typeface="맑은 고딕"/>
                <a:cs typeface="맑은 고딕"/>
              </a:rPr>
              <a:t>승인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가공 데이터의 예: detector가 계산한 유온의 기울기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가공 데이터는 원천 데이터를 재료로 계산해 낸 값으로, detector는 최근 유온 값들에서 기울기를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11:13:06   55.41</a:t>
            </a:r>
          </a:p>
          <a:p>
            <a:pPr algn="l">
              <a:lnSpc>
                <a:spcPct val="110000"/>
              </a:lnSpc>
              <a:spcAft>
                <a:spcPts val="200"/>
              </a:spcAft>
            </a:pPr>
            <a:r>
              <a:rPr sz="1300" b="0">
                <a:solidFill>
                  <a:srgbClr val="E8EEF6"/>
                </a:solidFill>
                <a:latin typeface="Consolas"/>
                <a:ea typeface="맑은 고딕"/>
                <a:cs typeface="맑은 고딕"/>
              </a:rPr>
              <a:t>11:13:07   55.56</a:t>
            </a:r>
          </a:p>
          <a:p>
            <a:pPr algn="l">
              <a:lnSpc>
                <a:spcPct val="110000"/>
              </a:lnSpc>
              <a:spcAft>
                <a:spcPts val="200"/>
              </a:spcAft>
            </a:pPr>
            <a:r>
              <a:rPr sz="1300" b="0">
                <a:solidFill>
                  <a:srgbClr val="E8EEF6"/>
                </a:solidFill>
                <a:latin typeface="Consolas"/>
                <a:ea typeface="맑은 고딕"/>
                <a:cs typeface="맑은 고딕"/>
              </a:rPr>
              <a:t>11:13:08   55.71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기울기</a:t>
            </a:r>
          </a:p>
          <a:p>
            <a:pPr algn="l">
              <a:lnSpc>
                <a:spcPct val="110000"/>
              </a:lnSpc>
              <a:spcAft>
                <a:spcPts val="200"/>
              </a:spcAft>
            </a:pPr>
            <a:r>
              <a:rPr sz="1300" b="0">
                <a:solidFill>
                  <a:srgbClr val="E8EEF6"/>
                </a:solidFill>
                <a:latin typeface="Consolas"/>
                <a:ea typeface="맑은 고딕"/>
                <a:cs typeface="맑은 고딕"/>
              </a:rPr>
              <a:t>11:13:08   +0.0075   (0</a:t>
            </a:r>
            <a:r>
              <a:rPr sz="1300" b="0">
                <a:solidFill>
                  <a:srgbClr val="E8EEF6"/>
                </a:solidFill>
                <a:latin typeface="맑은 고딕"/>
                <a:ea typeface="맑은 고딕"/>
                <a:cs typeface="맑은 고딕"/>
              </a:rPr>
              <a:t>보다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크다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재료</a:t>
            </a:r>
          </a:p>
          <a:p>
            <a:pPr algn="l">
              <a:lnSpc>
                <a:spcPct val="110000"/>
              </a:lnSpc>
              <a:spcAft>
                <a:spcPts val="400"/>
              </a:spcAft>
            </a:pPr>
            <a:r>
              <a:rPr sz="1400" b="0">
                <a:solidFill>
                  <a:srgbClr val="1F2A3A"/>
                </a:solidFill>
                <a:latin typeface="맑은 고딕"/>
                <a:ea typeface="맑은 고딕"/>
                <a:cs typeface="맑은 고딕"/>
              </a:rPr>
              <a:t>센서가 잰 유온 값 여러 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것</a:t>
            </a:r>
          </a:p>
          <a:p>
            <a:pPr algn="l">
              <a:lnSpc>
                <a:spcPct val="110000"/>
              </a:lnSpc>
              <a:spcAft>
                <a:spcPts val="400"/>
              </a:spcAft>
            </a:pPr>
            <a:r>
              <a:rPr sz="1400" b="0">
                <a:solidFill>
                  <a:srgbClr val="1F2A3A"/>
                </a:solidFill>
                <a:latin typeface="맑은 고딕"/>
                <a:ea typeface="맑은 고딕"/>
                <a:cs typeface="맑은 고딕"/>
              </a:rPr>
              <a:t>그 값들이 오르는지 내리는지를 나타내는 기울기이다.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만든 쪽</a:t>
            </a:r>
          </a:p>
          <a:p>
            <a:pPr algn="l">
              <a:lnSpc>
                <a:spcPct val="110000"/>
              </a:lnSpc>
              <a:spcAft>
                <a:spcPts val="400"/>
              </a:spcAft>
            </a:pPr>
            <a:r>
              <a:rPr sz="1400" b="0">
                <a:solidFill>
                  <a:srgbClr val="1F2A3A"/>
                </a:solidFill>
                <a:latin typeface="맑은 고딕"/>
                <a:ea typeface="맑은 고딕"/>
                <a:cs typeface="맑은 고딕"/>
              </a:rPr>
              <a:t>detector이다. 기울기가 0보다 크면 유온이 오르는 중이다.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이상 이벤트의 예: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이상 이벤트는 값이 아니라 무슨 일이 일어났다는 기록이며, 경보에는 식별자와 그때의 근거 값이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ALT-hyd01-0014-e0a1</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a:p>
            <a:pPr algn="l">
              <a:lnSpc>
                <a:spcPct val="110000"/>
              </a:lnSpc>
              <a:spcAft>
                <a:spcPts val="200"/>
              </a:spcAft>
            </a:pPr>
            <a:r>
              <a:rPr sz="1300" b="0">
                <a:solidFill>
                  <a:srgbClr val="E8EEF6"/>
                </a:solidFill>
                <a:latin typeface="Consolas"/>
                <a:ea typeface="맑은 고딕"/>
                <a:cs typeface="맑은 고딕"/>
              </a:rPr>
              <a:t>t          2026-10-10 11:13:08</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values     TS1 55.71, CE 46.2</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a:t>
            </a:r>
          </a:p>
          <a:p>
            <a:pPr algn="l">
              <a:lnSpc>
                <a:spcPct val="110000"/>
              </a:lnSpc>
              <a:spcAft>
                <a:spcPts val="400"/>
              </a:spcAft>
            </a:pPr>
            <a:r>
              <a:rPr sz="1400" b="0">
                <a:solidFill>
                  <a:srgbClr val="1F2A3A"/>
                </a:solidFill>
                <a:latin typeface="맑은 고딕"/>
                <a:ea typeface="맑은 고딕"/>
                <a:cs typeface="맑은 고딕"/>
              </a:rPr>
              <a:t>이 경보 한 건을 가리키는 식별자이다.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어떤 조건이 성립했는지를 나타낸다. 쿨러 성능 저하이다.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values</a:t>
            </a:r>
          </a:p>
          <a:p>
            <a:pPr algn="l">
              <a:lnSpc>
                <a:spcPct val="110000"/>
              </a:lnSpc>
              <a:spcAft>
                <a:spcPts val="400"/>
              </a:spcAft>
            </a:pPr>
            <a:r>
              <a:rPr sz="1400" b="0">
                <a:solidFill>
                  <a:srgbClr val="1F2A3A"/>
                </a:solidFill>
                <a:latin typeface="맑은 고딕"/>
                <a:ea typeface="맑은 고딕"/>
                <a:cs typeface="맑은 고딕"/>
              </a:rPr>
              <a:t>경보가 난 순간의 값이다. 근거가 경보에 붙어 다닌다.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결과의 예: 식별자로 이어지는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작업지시까지 단계마다 식별자가 남아 있어 결과에서 출발해 처음의 값까지 거슬러 되짚을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ALT-</a:t>
            </a:r>
          </a:p>
          <a:p>
            <a:pPr algn="ctr">
              <a:lnSpc>
                <a:spcPct val="110000"/>
              </a:lnSpc>
              <a:spcAft>
                <a:spcPts val="400"/>
              </a:spcAft>
            </a:pPr>
            <a:r>
              <a:rPr sz="1250" b="0">
                <a:solidFill>
                  <a:srgbClr val="1F2A3A"/>
                </a:solidFill>
                <a:latin typeface="맑은 고딕"/>
                <a:ea typeface="맑은 고딕"/>
                <a:cs typeface="맑은 고딕"/>
              </a:rPr>
              <a:t>hyd01-0014</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clipboard-check" descr="clipboard-check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사건</a:t>
            </a:r>
          </a:p>
          <a:p>
            <a:pPr algn="ctr">
              <a:lnSpc>
                <a:spcPct val="110000"/>
              </a:lnSpc>
              <a:spcAft>
                <a:spcPts val="400"/>
              </a:spcAft>
            </a:pPr>
            <a:r>
              <a:rPr sz="1250" b="0">
                <a:solidFill>
                  <a:srgbClr val="1F2A3A"/>
                </a:solidFill>
                <a:latin typeface="맑은 고딕"/>
                <a:ea typeface="맑은 고딕"/>
                <a:cs typeface="맑은 고딕"/>
              </a:rPr>
              <a:t>INC-</a:t>
            </a:r>
          </a:p>
          <a:p>
            <a:pPr algn="ctr">
              <a:lnSpc>
                <a:spcPct val="110000"/>
              </a:lnSpc>
              <a:spcAft>
                <a:spcPts val="400"/>
              </a:spcAft>
            </a:pPr>
            <a:r>
              <a:rPr sz="1250" b="0">
                <a:solidFill>
                  <a:srgbClr val="1F2A3A"/>
                </a:solidFill>
                <a:latin typeface="맑은 고딕"/>
                <a:ea typeface="맑은 고딕"/>
                <a:cs typeface="맑은 고딕"/>
              </a:rPr>
              <a:t>1010-01</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906141"/>
            <a:ext cx="731520" cy="731520"/>
          </a:xfrm>
          <a:prstGeom prst="ellipse">
            <a:avLst/>
          </a:prstGeom>
          <a:solidFill>
            <a:srgbClr val="5CB8F2"/>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판단</a:t>
            </a:r>
          </a:p>
          <a:p>
            <a:pPr algn="ctr">
              <a:lnSpc>
                <a:spcPct val="110000"/>
              </a:lnSpc>
              <a:spcAft>
                <a:spcPts val="400"/>
              </a:spcAft>
            </a:pPr>
            <a:r>
              <a:rPr sz="1250" b="0">
                <a:solidFill>
                  <a:srgbClr val="1F2A3A"/>
                </a:solidFill>
                <a:latin typeface="맑은 고딕"/>
                <a:ea typeface="맑은 고딕"/>
                <a:cs typeface="맑은 고딕"/>
              </a:rPr>
              <a:t>DEC-</a:t>
            </a:r>
          </a:p>
          <a:p>
            <a:pPr algn="ctr">
              <a:lnSpc>
                <a:spcPct val="110000"/>
              </a:lnSpc>
              <a:spcAft>
                <a:spcPts val="400"/>
              </a:spcAft>
            </a:pPr>
            <a:r>
              <a:rPr sz="1250" b="0">
                <a:solidFill>
                  <a:srgbClr val="1F2A3A"/>
                </a:solidFill>
                <a:latin typeface="맑은 고딕"/>
                <a:ea typeface="맑은 고딕"/>
                <a:cs typeface="맑은 고딕"/>
              </a:rPr>
              <a:t>1010-002</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명령</a:t>
            </a:r>
          </a:p>
          <a:p>
            <a:pPr algn="ctr">
              <a:lnSpc>
                <a:spcPct val="110000"/>
              </a:lnSpc>
              <a:spcAft>
                <a:spcPts val="400"/>
              </a:spcAft>
            </a:pPr>
            <a:r>
              <a:rPr sz="1250" b="0">
                <a:solidFill>
                  <a:srgbClr val="1F2A3A"/>
                </a:solidFill>
                <a:latin typeface="맑은 고딕"/>
                <a:ea typeface="맑은 고딕"/>
                <a:cs typeface="맑은 고딕"/>
              </a:rPr>
              <a:t>CMD-</a:t>
            </a:r>
          </a:p>
          <a:p>
            <a:pPr algn="ctr">
              <a:lnSpc>
                <a:spcPct val="110000"/>
              </a:lnSpc>
              <a:spcAft>
                <a:spcPts val="400"/>
              </a:spcAft>
            </a:pPr>
            <a:r>
              <a:rPr sz="1250" b="0">
                <a:solidFill>
                  <a:srgbClr val="1F2A3A"/>
                </a:solidFill>
                <a:latin typeface="맑은 고딕"/>
                <a:ea typeface="맑은 고딕"/>
                <a:cs typeface="맑은 고딕"/>
              </a:rPr>
              <a:t>1010-0001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tool" descr="tool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a:t>
            </a:r>
          </a:p>
          <a:p>
            <a:pPr algn="ctr">
              <a:lnSpc>
                <a:spcPct val="110000"/>
              </a:lnSpc>
              <a:spcAft>
                <a:spcPts val="400"/>
              </a:spcAft>
            </a:pPr>
            <a:r>
              <a:rPr sz="1250" b="0">
                <a:solidFill>
                  <a:srgbClr val="1F2A3A"/>
                </a:solidFill>
                <a:latin typeface="맑은 고딕"/>
                <a:ea typeface="맑은 고딕"/>
                <a:cs typeface="맑은 고딕"/>
              </a:rPr>
              <a:t>WO-</a:t>
            </a:r>
          </a:p>
          <a:p>
            <a:pPr algn="ctr">
              <a:lnSpc>
                <a:spcPct val="110000"/>
              </a:lnSpc>
              <a:spcAft>
                <a:spcPts val="400"/>
              </a:spcAft>
            </a:pPr>
            <a:r>
              <a:rPr sz="1250" b="0">
                <a:solidFill>
                  <a:srgbClr val="1F2A3A"/>
                </a:solidFill>
                <a:latin typeface="맑은 고딕"/>
                <a:ea typeface="맑은 고딕"/>
                <a:cs typeface="맑은 고딕"/>
              </a:rPr>
              <a:t>1010-C058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승인된 명령이 설비로 내려가는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설비로 내려가는 명령은 DMZ의 cmd-gateway가 검사한 뒤에만 OT의 브로커를 거쳐 PLC에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612647" y="2330818"/>
            <a:ext cx="4309750"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8" name="Rounded Rectangle 7"/>
          <p:cNvSpPr/>
          <p:nvPr/>
        </p:nvSpPr>
        <p:spPr>
          <a:xfrm>
            <a:off x="5050414"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5050414" y="2385682"/>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0" name="Rounded Rectangle 9"/>
          <p:cNvSpPr/>
          <p:nvPr/>
        </p:nvSpPr>
        <p:spPr>
          <a:xfrm>
            <a:off x="7269297" y="2330818"/>
            <a:ext cx="4309750"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7269297" y="2385682"/>
            <a:ext cx="4309750"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TextBox 13"/>
          <p:cNvSpPr txBox="1"/>
          <p:nvPr/>
        </p:nvSpPr>
        <p:spPr>
          <a:xfrm>
            <a:off x="2143551"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기록</a:t>
            </a:r>
          </a:p>
        </p:txBody>
      </p:sp>
      <p:sp>
        <p:nvSpPr>
          <p:cNvPr id="15" name="Oval 14"/>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6" name="아이콘:settings-automation" descr="settings-automation_13294B_1.6.png"/>
          <p:cNvPicPr>
            <a:picLocks noChangeAspect="1"/>
          </p:cNvPicPr>
          <p:nvPr/>
        </p:nvPicPr>
        <p:blipFill>
          <a:blip r:embed="rId3"/>
          <a:stretch>
            <a:fillRect/>
          </a:stretch>
        </p:blipFill>
        <p:spPr>
          <a:xfrm>
            <a:off x="1358088" y="3522135"/>
            <a:ext cx="599985" cy="599985"/>
          </a:xfrm>
          <a:prstGeom prst="rect">
            <a:avLst/>
          </a:prstGeom>
        </p:spPr>
      </p:pic>
      <p:sp>
        <p:nvSpPr>
          <p:cNvPr id="17" name="TextBox 16"/>
          <p:cNvSpPr txBox="1"/>
          <p:nvPr/>
        </p:nvSpPr>
        <p:spPr>
          <a:xfrm>
            <a:off x="64007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process</a:t>
            </a:r>
          </a:p>
          <a:p>
            <a:pPr algn="ctr">
              <a:lnSpc>
                <a:spcPct val="110000"/>
              </a:lnSpc>
              <a:spcAft>
                <a:spcPts val="400"/>
              </a:spcAft>
            </a:pPr>
            <a:r>
              <a:rPr sz="1300" b="0">
                <a:solidFill>
                  <a:srgbClr val="1F2A3A"/>
                </a:solidFill>
                <a:latin typeface="맑은 고딕"/>
                <a:ea typeface="맑은 고딕"/>
                <a:cs typeface="맑은 고딕"/>
              </a:rPr>
              <a:t>승인된 조치를</a:t>
            </a:r>
          </a:p>
          <a:p>
            <a:pPr algn="ctr">
              <a:lnSpc>
                <a:spcPct val="110000"/>
              </a:lnSpc>
              <a:spcAft>
                <a:spcPts val="400"/>
              </a:spcAft>
            </a:pPr>
            <a:r>
              <a:rPr sz="1300" b="0">
                <a:solidFill>
                  <a:srgbClr val="1F2A3A"/>
                </a:solidFill>
                <a:latin typeface="맑은 고딕"/>
                <a:ea typeface="맑은 고딕"/>
                <a:cs typeface="맑은 고딕"/>
              </a:rPr>
              <a:t>명령으로 만든다</a:t>
            </a:r>
          </a:p>
        </p:txBody>
      </p:sp>
      <p:sp>
        <p:nvSpPr>
          <p:cNvPr id="18" name="Chevron 17"/>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9" name="TextBox 18"/>
          <p:cNvSpPr txBox="1"/>
          <p:nvPr/>
        </p:nvSpPr>
        <p:spPr>
          <a:xfrm>
            <a:off x="4362434"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20" name="Oval 19"/>
          <p:cNvSpPr/>
          <p:nvPr/>
        </p:nvSpPr>
        <p:spPr>
          <a:xfrm>
            <a:off x="330005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tack-2" descr="stack-2_13294B_1.6.png"/>
          <p:cNvPicPr>
            <a:picLocks noChangeAspect="1"/>
          </p:cNvPicPr>
          <p:nvPr/>
        </p:nvPicPr>
        <p:blipFill>
          <a:blip r:embed="rId4"/>
          <a:stretch>
            <a:fillRect/>
          </a:stretch>
        </p:blipFill>
        <p:spPr>
          <a:xfrm>
            <a:off x="3576971" y="3522135"/>
            <a:ext cx="599985" cy="599985"/>
          </a:xfrm>
          <a:prstGeom prst="rect">
            <a:avLst/>
          </a:prstGeom>
        </p:spPr>
      </p:pic>
      <p:sp>
        <p:nvSpPr>
          <p:cNvPr id="22" name="TextBox 21"/>
          <p:cNvSpPr txBox="1"/>
          <p:nvPr/>
        </p:nvSpPr>
        <p:spPr>
          <a:xfrm>
            <a:off x="2858963"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Redpanda</a:t>
            </a:r>
          </a:p>
          <a:p>
            <a:pPr algn="ctr">
              <a:lnSpc>
                <a:spcPct val="110000"/>
              </a:lnSpc>
              <a:spcAft>
                <a:spcPts val="400"/>
              </a:spcAft>
            </a:pPr>
            <a:r>
              <a:rPr sz="1300" b="0">
                <a:solidFill>
                  <a:srgbClr val="1F2A3A"/>
                </a:solidFill>
                <a:latin typeface="맑은 고딕"/>
                <a:ea typeface="맑은 고딕"/>
                <a:cs typeface="맑은 고딕"/>
              </a:rPr>
              <a:t>토픽 action.cmd에</a:t>
            </a:r>
          </a:p>
          <a:p>
            <a:pPr algn="ctr">
              <a:lnSpc>
                <a:spcPct val="110000"/>
              </a:lnSpc>
              <a:spcAft>
                <a:spcPts val="400"/>
              </a:spcAft>
            </a:pPr>
            <a:r>
              <a:rPr sz="1300" b="0">
                <a:solidFill>
                  <a:srgbClr val="1F2A3A"/>
                </a:solidFill>
                <a:latin typeface="맑은 고딕"/>
                <a:ea typeface="맑은 고딕"/>
                <a:cs typeface="맑은 고딕"/>
              </a:rPr>
              <a:t>명령이 쌓인다</a:t>
            </a:r>
          </a:p>
        </p:txBody>
      </p:sp>
      <p:sp>
        <p:nvSpPr>
          <p:cNvPr id="23" name="Chevron 22"/>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4" name="TextBox 23"/>
          <p:cNvSpPr txBox="1"/>
          <p:nvPr/>
        </p:nvSpPr>
        <p:spPr>
          <a:xfrm>
            <a:off x="6581317"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검사 통과</a:t>
            </a:r>
          </a:p>
        </p:txBody>
      </p:sp>
      <p:sp>
        <p:nvSpPr>
          <p:cNvPr id="25" name="Oval 24"/>
          <p:cNvSpPr/>
          <p:nvPr/>
        </p:nvSpPr>
        <p:spPr>
          <a:xfrm>
            <a:off x="5518938"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26" name="아이콘:shield-check" descr="shield-check_13294B_1.6.png"/>
          <p:cNvPicPr>
            <a:picLocks noChangeAspect="1"/>
          </p:cNvPicPr>
          <p:nvPr/>
        </p:nvPicPr>
        <p:blipFill>
          <a:blip r:embed="rId5"/>
          <a:stretch>
            <a:fillRect/>
          </a:stretch>
        </p:blipFill>
        <p:spPr>
          <a:xfrm>
            <a:off x="5795854" y="3522135"/>
            <a:ext cx="599985" cy="599985"/>
          </a:xfrm>
          <a:prstGeom prst="rect">
            <a:avLst/>
          </a:prstGeom>
        </p:spPr>
      </p:pic>
      <p:sp>
        <p:nvSpPr>
          <p:cNvPr id="27" name="TextBox 26"/>
          <p:cNvSpPr txBox="1"/>
          <p:nvPr/>
        </p:nvSpPr>
        <p:spPr>
          <a:xfrm>
            <a:off x="5077846"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cmd-gateway</a:t>
            </a:r>
          </a:p>
          <a:p>
            <a:pPr algn="ctr">
              <a:lnSpc>
                <a:spcPct val="110000"/>
              </a:lnSpc>
              <a:spcAft>
                <a:spcPts val="400"/>
              </a:spcAft>
            </a:pPr>
            <a:r>
              <a:rPr sz="1300" b="0">
                <a:solidFill>
                  <a:srgbClr val="1F2A3A"/>
                </a:solidFill>
                <a:latin typeface="맑은 고딕"/>
                <a:ea typeface="맑은 고딕"/>
                <a:cs typeface="맑은 고딕"/>
              </a:rPr>
              <a:t>형식, 만료, 승인 기록,</a:t>
            </a:r>
          </a:p>
          <a:p>
            <a:pPr algn="ctr">
              <a:lnSpc>
                <a:spcPct val="110000"/>
              </a:lnSpc>
              <a:spcAft>
                <a:spcPts val="400"/>
              </a:spcAft>
            </a:pPr>
            <a:r>
              <a:rPr sz="1300" b="0">
                <a:solidFill>
                  <a:srgbClr val="1F2A3A"/>
                </a:solidFill>
                <a:latin typeface="맑은 고딕"/>
                <a:ea typeface="맑은 고딕"/>
                <a:cs typeface="맑은 고딕"/>
              </a:rPr>
              <a:t>운전 모드를 검사한다</a:t>
            </a:r>
          </a:p>
        </p:txBody>
      </p:sp>
      <p:sp>
        <p:nvSpPr>
          <p:cNvPr id="28" name="Chevron 27"/>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9" name="TextBox 28"/>
          <p:cNvSpPr txBox="1"/>
          <p:nvPr/>
        </p:nvSpPr>
        <p:spPr>
          <a:xfrm>
            <a:off x="8800200" y="329177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30" name="Oval 29"/>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1" name="아이콘:broadcast" descr="broadcast_13294B_1.6.png"/>
          <p:cNvPicPr>
            <a:picLocks noChangeAspect="1"/>
          </p:cNvPicPr>
          <p:nvPr/>
        </p:nvPicPr>
        <p:blipFill>
          <a:blip r:embed="rId6"/>
          <a:stretch>
            <a:fillRect/>
          </a:stretch>
        </p:blipFill>
        <p:spPr>
          <a:xfrm>
            <a:off x="8014737" y="3522135"/>
            <a:ext cx="599985" cy="599985"/>
          </a:xfrm>
          <a:prstGeom prst="rect">
            <a:avLst/>
          </a:prstGeom>
        </p:spPr>
      </p:pic>
      <p:sp>
        <p:nvSpPr>
          <p:cNvPr id="32" name="TextBox 31"/>
          <p:cNvSpPr txBox="1"/>
          <p:nvPr/>
        </p:nvSpPr>
        <p:spPr>
          <a:xfrm>
            <a:off x="729672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EMQX</a:t>
            </a:r>
          </a:p>
          <a:p>
            <a:pPr algn="ctr">
              <a:lnSpc>
                <a:spcPct val="110000"/>
              </a:lnSpc>
              <a:spcAft>
                <a:spcPts val="400"/>
              </a:spcAft>
            </a:pPr>
            <a:r>
              <a:rPr sz="1300" b="0">
                <a:solidFill>
                  <a:srgbClr val="1F2A3A"/>
                </a:solidFill>
                <a:latin typeface="맑은 고딕"/>
                <a:ea typeface="맑은 고딕"/>
                <a:cs typeface="맑은 고딕"/>
              </a:rPr>
              <a:t>토픽</a:t>
            </a:r>
          </a:p>
          <a:p>
            <a:pPr algn="ctr">
              <a:lnSpc>
                <a:spcPct val="110000"/>
              </a:lnSpc>
              <a:spcAft>
                <a:spcPts val="400"/>
              </a:spcAft>
            </a:pPr>
            <a:r>
              <a:rPr sz="1300" b="0">
                <a:solidFill>
                  <a:srgbClr val="1F2A3A"/>
                </a:solidFill>
                <a:latin typeface="맑은 고딕"/>
                <a:ea typeface="맑은 고딕"/>
                <a:cs typeface="맑은 고딕"/>
              </a:rPr>
              <a:t>plant/hyd01/cmd/auto</a:t>
            </a:r>
          </a:p>
        </p:txBody>
      </p:sp>
      <p:sp>
        <p:nvSpPr>
          <p:cNvPr id="33" name="Oval 32"/>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4" name="아이콘:cpu" descr="cpu_13294B_1.6.png"/>
          <p:cNvPicPr>
            <a:picLocks noChangeAspect="1"/>
          </p:cNvPicPr>
          <p:nvPr/>
        </p:nvPicPr>
        <p:blipFill>
          <a:blip r:embed="rId7"/>
          <a:stretch>
            <a:fillRect/>
          </a:stretch>
        </p:blipFill>
        <p:spPr>
          <a:xfrm>
            <a:off x="10233620" y="3522135"/>
            <a:ext cx="599985" cy="599985"/>
          </a:xfrm>
          <a:prstGeom prst="rect">
            <a:avLst/>
          </a:prstGeom>
        </p:spPr>
      </p:pic>
      <p:sp>
        <p:nvSpPr>
          <p:cNvPr id="35" name="TextBox 34"/>
          <p:cNvSpPr txBox="1"/>
          <p:nvPr/>
        </p:nvSpPr>
        <p:spPr>
          <a:xfrm>
            <a:off x="9515612"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PLC</a:t>
            </a:r>
          </a:p>
          <a:p>
            <a:pPr algn="ctr">
              <a:lnSpc>
                <a:spcPct val="110000"/>
              </a:lnSpc>
              <a:spcAft>
                <a:spcPts val="400"/>
              </a:spcAft>
            </a:pPr>
            <a:r>
              <a:rPr sz="1300" b="0">
                <a:solidFill>
                  <a:srgbClr val="1F2A3A"/>
                </a:solidFill>
                <a:latin typeface="맑은 고딕"/>
                <a:ea typeface="맑은 고딕"/>
                <a:cs typeface="맑은 고딕"/>
              </a:rPr>
              <a:t>다시 검사한 뒤</a:t>
            </a:r>
          </a:p>
          <a:p>
            <a:pPr algn="ctr">
              <a:lnSpc>
                <a:spcPct val="110000"/>
              </a:lnSpc>
              <a:spcAft>
                <a:spcPts val="400"/>
              </a:spcAft>
            </a:pPr>
            <a:r>
              <a:rPr sz="1300" b="0">
                <a:solidFill>
                  <a:srgbClr val="1F2A3A"/>
                </a:solidFill>
                <a:latin typeface="맑은 고딕"/>
                <a:ea typeface="맑은 고딕"/>
                <a:cs typeface="맑은 고딕"/>
              </a:rPr>
              <a:t>설정값을 바꾼다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메시지 한 건에 들어 있는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명령에는 무엇을 하라는 내용과 함께 누가 승인했는지와 언제까지 유효한지가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cmdId       CMD-1010-0001-b94a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incident    INC-1010-01-d55a</a:t>
            </a:r>
          </a:p>
          <a:p>
            <a:pPr algn="l">
              <a:lnSpc>
                <a:spcPct val="110000"/>
              </a:lnSpc>
              <a:spcAft>
                <a:spcPts val="200"/>
              </a:spcAft>
            </a:pPr>
            <a:r>
              <a:rPr sz="1300" b="0">
                <a:solidFill>
                  <a:srgbClr val="E8EEF6"/>
                </a:solidFill>
                <a:latin typeface="Consolas"/>
                <a:ea typeface="맑은 고딕"/>
                <a:cs typeface="맑은 고딕"/>
              </a:rPr>
              <a:t>actions     FAN_SET  fan_pct 100</a:t>
            </a:r>
          </a:p>
          <a:p>
            <a:pPr algn="l">
              <a:lnSpc>
                <a:spcPct val="110000"/>
              </a:lnSpc>
              <a:spcAft>
                <a:spcPts val="200"/>
              </a:spcAft>
            </a:pPr>
            <a:r>
              <a:rPr sz="1300" b="0">
                <a:solidFill>
                  <a:srgbClr val="E8EEF6"/>
                </a:solidFill>
                <a:latin typeface="Consolas"/>
                <a:ea typeface="맑은 고딕"/>
                <a:cs typeface="맑은 고딕"/>
              </a:rPr>
              <a:t>approvedBy  user:kim-op</a:t>
            </a:r>
          </a:p>
          <a:p>
            <a:pPr algn="l">
              <a:lnSpc>
                <a:spcPct val="110000"/>
              </a:lnSpc>
              <a:spcAft>
                <a:spcPts val="200"/>
              </a:spcAft>
            </a:pPr>
            <a:r>
              <a:rPr sz="1300" b="0">
                <a:solidFill>
                  <a:srgbClr val="E8EEF6"/>
                </a:solidFill>
                <a:latin typeface="Consolas"/>
                <a:ea typeface="맑은 고딕"/>
                <a:cs typeface="맑은 고딕"/>
              </a:rPr>
              <a:t>issuedAt    11:14:57</a:t>
            </a:r>
          </a:p>
          <a:p>
            <a:pPr algn="l">
              <a:lnSpc>
                <a:spcPct val="110000"/>
              </a:lnSpc>
              <a:spcAft>
                <a:spcPts val="200"/>
              </a:spcAft>
            </a:pPr>
            <a:r>
              <a:rPr sz="1300" b="0">
                <a:solidFill>
                  <a:srgbClr val="E8EEF6"/>
                </a:solidFill>
                <a:latin typeface="Consolas"/>
                <a:ea typeface="맑은 고딕"/>
                <a:cs typeface="맑은 고딕"/>
              </a:rPr>
              <a:t>expiresAt   11:16:57</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actions</a:t>
            </a:r>
          </a:p>
          <a:p>
            <a:pPr algn="l">
              <a:lnSpc>
                <a:spcPct val="110000"/>
              </a:lnSpc>
              <a:spcAft>
                <a:spcPts val="400"/>
              </a:spcAft>
            </a:pPr>
            <a:r>
              <a:rPr sz="1400" b="0">
                <a:solidFill>
                  <a:srgbClr val="1F2A3A"/>
                </a:solidFill>
                <a:latin typeface="맑은 고딕"/>
                <a:ea typeface="맑은 고딕"/>
                <a:cs typeface="맑은 고딕"/>
              </a:rPr>
              <a:t>할 일이다. 팬 속도를 100 %로 올린다.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approvedBy</a:t>
            </a:r>
          </a:p>
          <a:p>
            <a:pPr algn="l">
              <a:lnSpc>
                <a:spcPct val="110000"/>
              </a:lnSpc>
              <a:spcAft>
                <a:spcPts val="400"/>
              </a:spcAft>
            </a:pPr>
            <a:r>
              <a:rPr sz="1400" b="0">
                <a:solidFill>
                  <a:srgbClr val="1F2A3A"/>
                </a:solidFill>
                <a:latin typeface="맑은 고딕"/>
                <a:ea typeface="맑은 고딕"/>
                <a:cs typeface="맑은 고딕"/>
              </a:rPr>
              <a:t>승인한 사람이다. 승인 없이는 명령이 만들어지지 않는다.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expiresAt</a:t>
            </a:r>
          </a:p>
          <a:p>
            <a:pPr algn="l">
              <a:lnSpc>
                <a:spcPct val="110000"/>
              </a:lnSpc>
              <a:spcAft>
                <a:spcPts val="400"/>
              </a:spcAft>
            </a:pPr>
            <a:r>
              <a:rPr sz="1400" b="0">
                <a:solidFill>
                  <a:srgbClr val="1F2A3A"/>
                </a:solidFill>
                <a:latin typeface="맑은 고딕"/>
                <a:ea typeface="맑은 고딕"/>
                <a:cs typeface="맑은 고딕"/>
              </a:rPr>
              <a:t>유효 시간이다. 이 시각이 지난 명령은 버려진다.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명령의 두 단계 검사: cmd-gateway와 PLC</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기록은 cmd-gateway가, 범위와 인터록은 PLC가 따로 확인하여 승인 없는 명령이 설비에 닿는 것을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lipboard-check" descr="clipboar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cmd-gateway · DMZ</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형식: 필요한 칸이 모두 있고 허용된 조치인가</a:t>
            </a:r>
          </a:p>
          <a:p>
            <a:pPr algn="l">
              <a:lnSpc>
                <a:spcPct val="110000"/>
              </a:lnSpc>
              <a:spcAft>
                <a:spcPts val="600"/>
              </a:spcAft>
            </a:pPr>
            <a:r>
              <a:rPr sz="1450" b="0">
                <a:solidFill>
                  <a:srgbClr val="1F2A3A"/>
                </a:solidFill>
                <a:latin typeface="맑은 고딕"/>
                <a:ea typeface="맑은 고딕"/>
                <a:cs typeface="맑은 고딕"/>
              </a:rPr>
              <a:t>• 유효 시간: 지나지 않았는가</a:t>
            </a:r>
          </a:p>
          <a:p>
            <a:pPr algn="l">
              <a:lnSpc>
                <a:spcPct val="110000"/>
              </a:lnSpc>
              <a:spcAft>
                <a:spcPts val="600"/>
              </a:spcAft>
            </a:pPr>
            <a:r>
              <a:rPr sz="1450" b="0">
                <a:solidFill>
                  <a:srgbClr val="1F2A3A"/>
                </a:solidFill>
                <a:latin typeface="맑은 고딕"/>
                <a:ea typeface="맑은 고딕"/>
                <a:cs typeface="맑은 고딕"/>
              </a:rPr>
              <a:t>• 승인 기록: 이 명령에 대한 승인 기록이 실제로 있는가</a:t>
            </a:r>
          </a:p>
          <a:p>
            <a:pPr algn="l">
              <a:lnSpc>
                <a:spcPct val="110000"/>
              </a:lnSpc>
              <a:spcAft>
                <a:spcPts val="600"/>
              </a:spcAft>
            </a:pPr>
            <a:r>
              <a:rPr sz="1450" b="0">
                <a:solidFill>
                  <a:srgbClr val="1F2A3A"/>
                </a:solidFill>
                <a:latin typeface="맑은 고딕"/>
                <a:ea typeface="맑은 고딕"/>
                <a:cs typeface="맑은 고딕"/>
              </a:rPr>
              <a:t>• 운전 모드: PLC가 원격 자동 운전 상태인가</a:t>
            </a:r>
          </a:p>
        </p:txBody>
      </p:sp>
      <p:sp>
        <p:nvSpPr>
          <p:cNvPr id="11" name="Rounded Rectangle 10"/>
          <p:cNvSpPr/>
          <p:nvPr/>
        </p:nvSpPr>
        <p:spPr>
          <a:xfrm>
            <a:off x="868680" y="5246433"/>
            <a:ext cx="1911096"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91109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모두 맞는 명령만 OT로</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PLC · OT</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범위: 팬 속도는 0~100 %, 부하는 60~100 % 안인가</a:t>
            </a:r>
          </a:p>
          <a:p>
            <a:pPr algn="l">
              <a:lnSpc>
                <a:spcPct val="110000"/>
              </a:lnSpc>
              <a:spcAft>
                <a:spcPts val="600"/>
              </a:spcAft>
            </a:pPr>
            <a:r>
              <a:rPr sz="1450" b="0">
                <a:solidFill>
                  <a:srgbClr val="1F2A3A"/>
                </a:solidFill>
                <a:latin typeface="맑은 고딕"/>
                <a:ea typeface="맑은 고딕"/>
                <a:cs typeface="맑은 고딕"/>
              </a:rPr>
              <a:t>• 인터록: 지금 인터록에 걸려 있지 않은가</a:t>
            </a:r>
          </a:p>
          <a:p>
            <a:pPr algn="l">
              <a:lnSpc>
                <a:spcPct val="110000"/>
              </a:lnSpc>
              <a:spcAft>
                <a:spcPts val="600"/>
              </a:spcAft>
            </a:pPr>
            <a:r>
              <a:rPr sz="1450" b="0">
                <a:solidFill>
                  <a:srgbClr val="1F2A3A"/>
                </a:solidFill>
                <a:latin typeface="맑은 고딕"/>
                <a:ea typeface="맑은 고딕"/>
                <a:cs typeface="맑은 고딕"/>
              </a:rPr>
              <a:t>• 응답: 설정값을 바꾸고 결과를 돌려보낸다</a:t>
            </a:r>
          </a:p>
          <a:p>
            <a:pPr algn="l">
              <a:lnSpc>
                <a:spcPct val="110000"/>
              </a:lnSpc>
              <a:spcAft>
                <a:spcPts val="600"/>
              </a:spcAft>
            </a:pPr>
            <a:r>
              <a:rPr sz="1450" b="0">
                <a:solidFill>
                  <a:srgbClr val="1F2A3A"/>
                </a:solidFill>
                <a:latin typeface="맑은 고딕"/>
                <a:ea typeface="맑은 고딕"/>
                <a:cs typeface="맑은 고딕"/>
              </a:rPr>
              <a:t>• result DONE · interlock PASS</a:t>
            </a:r>
          </a:p>
        </p:txBody>
      </p:sp>
      <p:sp>
        <p:nvSpPr>
          <p:cNvPr id="18" name="Rounded Rectangle 17"/>
          <p:cNvSpPr/>
          <p:nvPr/>
        </p:nvSpPr>
        <p:spPr>
          <a:xfrm>
            <a:off x="6781647" y="5246433"/>
            <a:ext cx="126492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264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한 번 더 검사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명령 한 건이 설비에 닿기까지 걸린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사건에서 명령은 내려간 뒤 관문과 PLC의 검사를 거쳐 1초 안에 설비에 적용되었다.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11:14:56 승인</a:t>
            </a:r>
          </a:p>
          <a:p>
            <a:pPr algn="ctr">
              <a:lnSpc>
                <a:spcPct val="110000"/>
              </a:lnSpc>
              <a:spcAft>
                <a:spcPts val="400"/>
              </a:spcAft>
            </a:pPr>
            <a:r>
              <a:rPr sz="1350" b="0">
                <a:solidFill>
                  <a:srgbClr val="1F2A3A"/>
                </a:solidFill>
                <a:latin typeface="맑은 고딕"/>
                <a:ea typeface="맑은 고딕"/>
                <a:cs typeface="맑은 고딕"/>
              </a:rPr>
              <a:t>운전원이</a:t>
            </a:r>
          </a:p>
          <a:p>
            <a:pPr algn="ctr">
              <a:lnSpc>
                <a:spcPct val="110000"/>
              </a:lnSpc>
              <a:spcAft>
                <a:spcPts val="400"/>
              </a:spcAft>
            </a:pPr>
            <a:r>
              <a:rPr sz="1350" b="0">
                <a:solidFill>
                  <a:srgbClr val="1F2A3A"/>
                </a:solidFill>
                <a:latin typeface="맑은 고딕"/>
                <a:ea typeface="맑은 고딕"/>
                <a:cs typeface="맑은 고딕"/>
              </a:rPr>
              <a:t>「팬 최대 운전」을 승인한다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11:14:57 명령</a:t>
            </a:r>
          </a:p>
          <a:p>
            <a:pPr algn="ctr">
              <a:lnSpc>
                <a:spcPct val="110000"/>
              </a:lnSpc>
              <a:spcAft>
                <a:spcPts val="400"/>
              </a:spcAft>
            </a:pPr>
            <a:r>
              <a:rPr sz="1350" b="0">
                <a:solidFill>
                  <a:srgbClr val="1F2A3A"/>
                </a:solidFill>
                <a:latin typeface="맑은 고딕"/>
                <a:ea typeface="맑은 고딕"/>
                <a:cs typeface="맑은 고딕"/>
              </a:rPr>
              <a:t>팬 속도 100 % 명령이</a:t>
            </a:r>
          </a:p>
          <a:p>
            <a:pPr algn="ctr">
              <a:lnSpc>
                <a:spcPct val="110000"/>
              </a:lnSpc>
              <a:spcAft>
                <a:spcPts val="400"/>
              </a:spcAft>
            </a:pPr>
            <a:r>
              <a:rPr sz="1350" b="0">
                <a:solidFill>
                  <a:srgbClr val="1F2A3A"/>
                </a:solidFill>
                <a:latin typeface="맑은 고딕"/>
                <a:ea typeface="맑은 고딕"/>
                <a:cs typeface="맑은 고딕"/>
              </a:rPr>
              <a:t>내려간다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circle-check" descr="circle-check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11:14:58 응답</a:t>
            </a:r>
          </a:p>
          <a:p>
            <a:pPr algn="ctr">
              <a:lnSpc>
                <a:spcPct val="110000"/>
              </a:lnSpc>
              <a:spcAft>
                <a:spcPts val="400"/>
              </a:spcAft>
            </a:pPr>
            <a:r>
              <a:rPr sz="1350" b="0">
                <a:solidFill>
                  <a:srgbClr val="1F2A3A"/>
                </a:solidFill>
                <a:latin typeface="맑은 고딕"/>
                <a:ea typeface="맑은 고딕"/>
                <a:cs typeface="맑은 고딕"/>
              </a:rPr>
              <a:t>PLC가 실행 완료로 답한다</a:t>
            </a:r>
          </a:p>
          <a:p>
            <a:pPr algn="ctr">
              <a:lnSpc>
                <a:spcPct val="110000"/>
              </a:lnSpc>
              <a:spcAft>
                <a:spcPts val="400"/>
              </a:spcAft>
            </a:pPr>
            <a:r>
              <a:rPr sz="1350" b="0">
                <a:solidFill>
                  <a:srgbClr val="1F2A3A"/>
                </a:solidFill>
                <a:latin typeface="맑은 고딕"/>
                <a:ea typeface="맑은 고딕"/>
                <a:cs typeface="맑은 고딕"/>
              </a:rPr>
              <a:t>팬 속도 60 % → 100 %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 승인,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추천까지만 하고, 설비 명령은 담당자가 승인한 뒤에 process만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 지식과 값을 조회해 원인을 가리고 조치안을 추천한다</a:t>
            </a:r>
          </a:p>
          <a:p>
            <a:pPr algn="l">
              <a:lnSpc>
                <a:spcPct val="110000"/>
              </a:lnSpc>
              <a:spcAft>
                <a:spcPts val="400"/>
              </a:spcAft>
            </a:pPr>
            <a:r>
              <a:rPr sz="1400" b="0">
                <a:solidFill>
                  <a:srgbClr val="1F2A3A"/>
                </a:solidFill>
                <a:latin typeface="맑은 고딕"/>
                <a:ea typeface="맑은 고딕"/>
                <a:cs typeface="맑은 고딕"/>
              </a:rPr>
              <a:t>• 설비에 명령을 보낼 수단이 없다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추천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a:t>
            </a:r>
          </a:p>
          <a:p>
            <a:pPr algn="l">
              <a:lnSpc>
                <a:spcPct val="110000"/>
              </a:lnSpc>
              <a:spcAft>
                <a:spcPts val="400"/>
              </a:spcAft>
            </a:pPr>
            <a:r>
              <a:rPr sz="1400" b="0">
                <a:solidFill>
                  <a:srgbClr val="1F2A3A"/>
                </a:solidFill>
                <a:latin typeface="맑은 고딕"/>
                <a:ea typeface="맑은 고딕"/>
                <a:cs typeface="맑은 고딕"/>
              </a:rPr>
              <a:t>• 추천과 근거를 보고 승인하거나 거절한다</a:t>
            </a:r>
          </a:p>
          <a:p>
            <a:pPr algn="l">
              <a:lnSpc>
                <a:spcPct val="110000"/>
              </a:lnSpc>
              <a:spcAft>
                <a:spcPts val="400"/>
              </a:spcAft>
            </a:pPr>
            <a:r>
              <a:rPr sz="1400" b="0">
                <a:solidFill>
                  <a:srgbClr val="1F2A3A"/>
                </a:solidFill>
                <a:latin typeface="맑은 고딕"/>
                <a:ea typeface="맑은 고딕"/>
                <a:cs typeface="맑은 고딕"/>
              </a:rPr>
              <a:t>• 사람의 판단을 거치는 이 구조를 HITL(Human-in-the-Loop)이라 한다</a:t>
            </a:r>
          </a:p>
        </p:txBody>
      </p:sp>
      <p:sp>
        <p:nvSpPr>
          <p:cNvPr id="16" name="Rounded Rectangle 15"/>
          <p:cNvSpPr/>
          <p:nvPr/>
        </p:nvSpPr>
        <p:spPr>
          <a:xfrm>
            <a:off x="4566818" y="5149850"/>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또는 거절</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process</a:t>
            </a:r>
          </a:p>
          <a:p>
            <a:pPr algn="l">
              <a:lnSpc>
                <a:spcPct val="110000"/>
              </a:lnSpc>
              <a:spcAft>
                <a:spcPts val="400"/>
              </a:spcAft>
            </a:pPr>
            <a:r>
              <a:rPr sz="1400" b="0">
                <a:solidFill>
                  <a:srgbClr val="1F2A3A"/>
                </a:solidFill>
                <a:latin typeface="맑은 고딕"/>
                <a:ea typeface="맑은 고딕"/>
                <a:cs typeface="맑은 고딕"/>
              </a:rPr>
              <a:t>• 승인된 조치만 명령으로 만들어 내려보낸다</a:t>
            </a:r>
          </a:p>
          <a:p>
            <a:pPr algn="l">
              <a:lnSpc>
                <a:spcPct val="110000"/>
              </a:lnSpc>
              <a:spcAft>
                <a:spcPts val="400"/>
              </a:spcAft>
            </a:pPr>
            <a:r>
              <a:rPr sz="1400" b="0">
                <a:solidFill>
                  <a:srgbClr val="1F2A3A"/>
                </a:solidFill>
                <a:latin typeface="맑은 고딕"/>
                <a:ea typeface="맑은 고딕"/>
                <a:cs typeface="맑은 고딕"/>
              </a:rPr>
              <a:t>• 실행 뒤 결과를 확인하고 기록한다</a:t>
            </a:r>
          </a:p>
        </p:txBody>
      </p:sp>
      <p:sp>
        <p:nvSpPr>
          <p:cNvPr id="22" name="Rounded Rectangle 21"/>
          <p:cNvSpPr/>
          <p:nvPr/>
        </p:nvSpPr>
        <p:spPr>
          <a:xfrm>
            <a:off x="8356396" y="514985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실행과 확인</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영역별 구성요소: OT · DMZ · IT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구성요소를 영역별로 묶으면 OT와 IT가 맡는 일이 갈리고, 두 영역에 함께 닿는 것은 DMZ의 두 서비스뿐임이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387346"/>
            <a:ext cx="731520" cy="731520"/>
          </a:xfrm>
          <a:prstGeom prst="ellipse">
            <a:avLst/>
          </a:prstGeom>
          <a:solidFill>
            <a:srgbClr val="5CB8F2"/>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OT</a:t>
            </a:r>
          </a:p>
          <a:p>
            <a:pPr algn="l">
              <a:lnSpc>
                <a:spcPct val="110000"/>
              </a:lnSpc>
              <a:spcAft>
                <a:spcPts val="400"/>
              </a:spcAft>
            </a:pPr>
            <a:r>
              <a:rPr sz="1400" b="0">
                <a:solidFill>
                  <a:srgbClr val="1F2A3A"/>
                </a:solidFill>
                <a:latin typeface="맑은 고딕"/>
                <a:ea typeface="맑은 고딕"/>
                <a:cs typeface="맑은 고딕"/>
              </a:rPr>
              <a:t>• 설비 · PLC, 브로커 EMQX, 운전 화면 FUXA</a:t>
            </a:r>
          </a:p>
          <a:p>
            <a:pPr algn="l">
              <a:lnSpc>
                <a:spcPct val="110000"/>
              </a:lnSpc>
              <a:spcAft>
                <a:spcPts val="400"/>
              </a:spcAft>
            </a:pPr>
            <a:r>
              <a:rPr sz="1400" b="0">
                <a:solidFill>
                  <a:srgbClr val="1F2A3A"/>
                </a:solidFill>
                <a:latin typeface="맑은 고딕"/>
                <a:ea typeface="맑은 고딕"/>
                <a:cs typeface="맑은 고딕"/>
              </a:rPr>
              <a:t>• 설비를 직접 감시 · 제어한다</a:t>
            </a:r>
          </a:p>
          <a:p>
            <a:pPr algn="l">
              <a:lnSpc>
                <a:spcPct val="110000"/>
              </a:lnSpc>
              <a:spcAft>
                <a:spcPts val="400"/>
              </a:spcAft>
            </a:pPr>
            <a:r>
              <a:rPr sz="1400" b="0">
                <a:solidFill>
                  <a:srgbClr val="1F2A3A"/>
                </a:solidFill>
                <a:latin typeface="맑은 고딕"/>
                <a:ea typeface="맑은 고딕"/>
                <a:cs typeface="맑은 고딕"/>
              </a:rPr>
              <a:t>• 먼저 지키는 것: 가용성, 안전, 실시간성</a:t>
            </a:r>
          </a:p>
        </p:txBody>
      </p:sp>
      <p:sp>
        <p:nvSpPr>
          <p:cNvPr id="10" name="Rounded Rectangle 9"/>
          <p:cNvSpPr/>
          <p:nvPr/>
        </p:nvSpPr>
        <p:spPr>
          <a:xfrm>
            <a:off x="777240" y="5366766"/>
            <a:ext cx="121919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36676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감시 · 제어</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arrows-up-down" descr="arrows-up-dow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DMZ</a:t>
            </a:r>
          </a:p>
          <a:p>
            <a:pPr algn="l">
              <a:lnSpc>
                <a:spcPct val="110000"/>
              </a:lnSpc>
              <a:spcAft>
                <a:spcPts val="400"/>
              </a:spcAft>
            </a:pPr>
            <a:r>
              <a:rPr sz="1400" b="0">
                <a:solidFill>
                  <a:srgbClr val="1F2A3A"/>
                </a:solidFill>
                <a:latin typeface="맑은 고딕"/>
                <a:ea typeface="맑은 고딕"/>
                <a:cs typeface="맑은 고딕"/>
              </a:rPr>
              <a:t>• 올라가는 길 connect-ingest: OT의 계측값을 IT로 옮기고 OT 쪽으로는 아무것도 쓰지 않는다</a:t>
            </a:r>
          </a:p>
          <a:p>
            <a:pPr algn="l">
              <a:lnSpc>
                <a:spcPct val="110000"/>
              </a:lnSpc>
              <a:spcAft>
                <a:spcPts val="400"/>
              </a:spcAft>
            </a:pPr>
            <a:r>
              <a:rPr sz="1400" b="0">
                <a:solidFill>
                  <a:srgbClr val="1F2A3A"/>
                </a:solidFill>
                <a:latin typeface="맑은 고딕"/>
                <a:ea typeface="맑은 고딕"/>
                <a:cs typeface="맑은 고딕"/>
              </a:rPr>
              <a:t>• 내려가는 길 cmd-gateway: IT의 명령을 검사해 OT로 내보내고 통과하지 못한 명령은 버린다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서비스만</a:t>
            </a:r>
          </a:p>
        </p:txBody>
      </p:sp>
      <p:sp>
        <p:nvSpPr>
          <p:cNvPr id="18" name="Rounded Rectangle 17"/>
          <p:cNvSpPr/>
          <p:nvPr/>
        </p:nvSpPr>
        <p:spPr>
          <a:xfrm>
            <a:off x="8127796"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IT</a:t>
            </a:r>
          </a:p>
          <a:p>
            <a:pPr algn="l">
              <a:lnSpc>
                <a:spcPct val="110000"/>
              </a:lnSpc>
              <a:spcAft>
                <a:spcPts val="400"/>
              </a:spcAft>
            </a:pPr>
            <a:r>
              <a:rPr sz="1400" b="0">
                <a:solidFill>
                  <a:srgbClr val="1F2A3A"/>
                </a:solidFill>
                <a:latin typeface="맑은 고딕"/>
                <a:ea typeface="맑은 고딕"/>
                <a:cs typeface="맑은 고딕"/>
              </a:rPr>
              <a:t>• Redpanda: 순서대로 보관</a:t>
            </a:r>
          </a:p>
          <a:p>
            <a:pPr algn="l">
              <a:lnSpc>
                <a:spcPct val="110000"/>
              </a:lnSpc>
              <a:spcAft>
                <a:spcPts val="400"/>
              </a:spcAft>
            </a:pPr>
            <a:r>
              <a:rPr sz="1400" b="0">
                <a:solidFill>
                  <a:srgbClr val="1F2A3A"/>
                </a:solidFill>
                <a:latin typeface="맑은 고딕"/>
                <a:ea typeface="맑은 고딕"/>
                <a:cs typeface="맑은 고딕"/>
              </a:rPr>
              <a:t>• TimescaleDB: 시각과 함께 저장</a:t>
            </a:r>
          </a:p>
          <a:p>
            <a:pPr algn="l">
              <a:lnSpc>
                <a:spcPct val="110000"/>
              </a:lnSpc>
              <a:spcAft>
                <a:spcPts val="400"/>
              </a:spcAft>
            </a:pPr>
            <a:r>
              <a:rPr sz="1400" b="0">
                <a:solidFill>
                  <a:srgbClr val="1F2A3A"/>
                </a:solidFill>
                <a:latin typeface="맑은 고딕"/>
                <a:ea typeface="맑은 고딕"/>
                <a:cs typeface="맑은 고딕"/>
              </a:rPr>
              <a:t>• detector: 이상 감지</a:t>
            </a:r>
          </a:p>
          <a:p>
            <a:pPr algn="l">
              <a:lnSpc>
                <a:spcPct val="110000"/>
              </a:lnSpc>
              <a:spcAft>
                <a:spcPts val="400"/>
              </a:spcAft>
            </a:pPr>
            <a:r>
              <a:rPr sz="1400" b="0">
                <a:solidFill>
                  <a:srgbClr val="1F2A3A"/>
                </a:solidFill>
                <a:latin typeface="맑은 고딕"/>
                <a:ea typeface="맑은 고딕"/>
                <a:cs typeface="맑은 고딕"/>
              </a:rPr>
              <a:t>• Grafana: 이력과 추세</a:t>
            </a:r>
          </a:p>
        </p:txBody>
      </p:sp>
      <p:sp>
        <p:nvSpPr>
          <p:cNvPr id="22" name="Rounded Rectangle 21"/>
          <p:cNvSpPr/>
          <p:nvPr/>
        </p:nvSpPr>
        <p:spPr>
          <a:xfrm>
            <a:off x="8356396" y="5366766"/>
            <a:ext cx="176783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66766"/>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 · 분석 · 판단</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1~6: 값을 모아 이상을 알리는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Layer 1~6은 값을 재고 전달하고 저장하고 보여 주며, 기준을 벗어나면 알리는 데까지를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삽화:계층_L1-6.svg" descr="illust_1566460529611606971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1841144" y="2029465"/>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6 · 관제 · SCADA</a:t>
            </a:r>
          </a:p>
          <a:p>
            <a:pPr algn="ctr">
              <a:lnSpc>
                <a:spcPct val="110000"/>
              </a:lnSpc>
              <a:spcAft>
                <a:spcPts val="100"/>
              </a:spcAft>
            </a:pPr>
            <a:r>
              <a:rPr sz="1300" b="0">
                <a:solidFill>
                  <a:srgbClr val="556175"/>
                </a:solidFill>
                <a:latin typeface="맑은 고딕"/>
                <a:ea typeface="맑은 고딕"/>
                <a:cs typeface="맑은 고딕"/>
              </a:rPr>
              <a:t>FUXA는 지금의 값과 조작, Grafana는 이력과 추세</a:t>
            </a:r>
          </a:p>
        </p:txBody>
      </p:sp>
      <p:sp>
        <p:nvSpPr>
          <p:cNvPr id="11" name="TextBox 10"/>
          <p:cNvSpPr txBox="1"/>
          <p:nvPr/>
        </p:nvSpPr>
        <p:spPr>
          <a:xfrm>
            <a:off x="1841144" y="274803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5 · 시계열 저장소</a:t>
            </a:r>
          </a:p>
          <a:p>
            <a:pPr algn="ctr">
              <a:lnSpc>
                <a:spcPct val="110000"/>
              </a:lnSpc>
              <a:spcAft>
                <a:spcPts val="100"/>
              </a:spcAft>
            </a:pPr>
            <a:r>
              <a:rPr sz="1300" b="0">
                <a:solidFill>
                  <a:srgbClr val="556175"/>
                </a:solidFill>
                <a:latin typeface="맑은 고딕"/>
                <a:ea typeface="맑은 고딕"/>
                <a:cs typeface="맑은 고딕"/>
              </a:rPr>
              <a:t>TimescaleDB가 값을 시각과 함께 보관한다</a:t>
            </a:r>
          </a:p>
        </p:txBody>
      </p:sp>
      <p:sp>
        <p:nvSpPr>
          <p:cNvPr id="12" name="TextBox 11"/>
          <p:cNvSpPr txBox="1"/>
          <p:nvPr/>
        </p:nvSpPr>
        <p:spPr>
          <a:xfrm>
            <a:off x="1841144" y="3471336"/>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4 · 스트림 처리</a:t>
            </a:r>
          </a:p>
          <a:p>
            <a:pPr algn="ctr">
              <a:lnSpc>
                <a:spcPct val="110000"/>
              </a:lnSpc>
              <a:spcAft>
                <a:spcPts val="100"/>
              </a:spcAft>
            </a:pPr>
            <a:r>
              <a:rPr sz="1300" b="0">
                <a:solidFill>
                  <a:srgbClr val="556175"/>
                </a:solidFill>
                <a:latin typeface="맑은 고딕"/>
                <a:ea typeface="맑은 고딕"/>
                <a:cs typeface="맑은 고딕"/>
              </a:rPr>
              <a:t>detector가 조건이 이어지면 경보를 낸다</a:t>
            </a:r>
          </a:p>
        </p:txBody>
      </p:sp>
      <p:sp>
        <p:nvSpPr>
          <p:cNvPr id="13" name="TextBox 12"/>
          <p:cNvSpPr txBox="1"/>
          <p:nvPr/>
        </p:nvSpPr>
        <p:spPr>
          <a:xfrm>
            <a:off x="1841144" y="4189908"/>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3 · 이벤트 백본</a:t>
            </a:r>
          </a:p>
          <a:p>
            <a:pPr algn="ctr">
              <a:lnSpc>
                <a:spcPct val="110000"/>
              </a:lnSpc>
              <a:spcAft>
                <a:spcPts val="100"/>
              </a:spcAft>
            </a:pPr>
            <a:r>
              <a:rPr sz="1300" b="0">
                <a:solidFill>
                  <a:srgbClr val="556175"/>
                </a:solidFill>
                <a:latin typeface="맑은 고딕"/>
                <a:ea typeface="맑은 고딕"/>
                <a:cs typeface="맑은 고딕"/>
              </a:rPr>
              <a:t>connect-ingest, cmd-gateway, Redpanda</a:t>
            </a:r>
          </a:p>
        </p:txBody>
      </p:sp>
      <p:sp>
        <p:nvSpPr>
          <p:cNvPr id="14" name="TextBox 13"/>
          <p:cNvSpPr txBox="1"/>
          <p:nvPr/>
        </p:nvSpPr>
        <p:spPr>
          <a:xfrm>
            <a:off x="1841144" y="4908480"/>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2 · IoT 미들웨어 · MQTT</a:t>
            </a:r>
          </a:p>
          <a:p>
            <a:pPr algn="ctr">
              <a:lnSpc>
                <a:spcPct val="110000"/>
              </a:lnSpc>
              <a:spcAft>
                <a:spcPts val="100"/>
              </a:spcAft>
            </a:pPr>
            <a:r>
              <a:rPr sz="1300" b="0">
                <a:solidFill>
                  <a:srgbClr val="556175"/>
                </a:solidFill>
                <a:latin typeface="맑은 고딕"/>
                <a:ea typeface="맑은 고딕"/>
                <a:cs typeface="맑은 고딕"/>
              </a:rPr>
              <a:t>브로커 EMQX가 토픽으로 메시지를 중개한다</a:t>
            </a:r>
          </a:p>
        </p:txBody>
      </p:sp>
      <p:sp>
        <p:nvSpPr>
          <p:cNvPr id="15" name="TextBox 14"/>
          <p:cNvSpPr txBox="1"/>
          <p:nvPr/>
        </p:nvSpPr>
        <p:spPr>
          <a:xfrm>
            <a:off x="1841144" y="5636507"/>
            <a:ext cx="763664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Layer 1 · 센서 네트워크 · 설비</a:t>
            </a:r>
          </a:p>
          <a:p>
            <a:pPr algn="ctr">
              <a:lnSpc>
                <a:spcPct val="110000"/>
              </a:lnSpc>
              <a:spcAft>
                <a:spcPts val="100"/>
              </a:spcAft>
            </a:pPr>
            <a:r>
              <a:rPr sz="1300" b="0">
                <a:solidFill>
                  <a:srgbClr val="556175"/>
                </a:solidFill>
                <a:latin typeface="맑은 고딕"/>
                <a:ea typeface="맑은 고딕"/>
                <a:cs typeface="맑은 고딕"/>
              </a:rPr>
              <a:t>plant-sim: 유압 파워팩 3기와 PLC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1~5가 받는 것과 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계층이 낸 것을 다음 계층이 받으며, Layer 5까지는 값을 모으고 이상을 알릴 뿐 원인을 가리지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계층</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받는 것과 내는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1 · 센서 네트워크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설비의 물리량과 PLC가 받아들인 설정값</a:t>
            </a:r>
          </a:p>
          <a:p>
            <a:pPr algn="l">
              <a:lnSpc>
                <a:spcPct val="110000"/>
              </a:lnSpc>
            </a:pPr>
            <a:r>
              <a:rPr sz="1400" b="0">
                <a:solidFill>
                  <a:srgbClr val="1F2A3A"/>
                </a:solidFill>
                <a:latin typeface="맑은 고딕"/>
                <a:ea typeface="맑은 고딕"/>
                <a:cs typeface="맑은 고딕"/>
              </a:rPr>
              <a:t>내는 것: 태그 값과 운전 상태</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값이 생긴다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2 · IoT 미들웨어 · MQTT</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태그 값과 운전 상태</a:t>
            </a:r>
          </a:p>
          <a:p>
            <a:pPr algn="l">
              <a:lnSpc>
                <a:spcPct val="110000"/>
              </a:lnSpc>
            </a:pPr>
            <a:r>
              <a:rPr sz="1400" b="0">
                <a:solidFill>
                  <a:srgbClr val="1F2A3A"/>
                </a:solidFill>
                <a:latin typeface="맑은 고딕"/>
                <a:ea typeface="맑은 고딕"/>
                <a:cs typeface="맑은 고딕"/>
              </a:rPr>
              <a:t>내는 것: 토픽에 실린 MQTT 메시지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메시지가 된다</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3 · 이벤트 백본</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올린다: connect-ingest가 MQTT 메시지를 레코드로 옮긴다</a:t>
            </a:r>
          </a:p>
          <a:p>
            <a:pPr algn="l">
              <a:lnSpc>
                <a:spcPct val="110000"/>
              </a:lnSpc>
            </a:pPr>
            <a:r>
              <a:rPr sz="1400" b="0">
                <a:solidFill>
                  <a:srgbClr val="1F2A3A"/>
                </a:solidFill>
                <a:latin typeface="맑은 고딕"/>
                <a:ea typeface="맑은 고딕"/>
                <a:cs typeface="맑은 고딕"/>
              </a:rPr>
              <a:t>기록한다: Redpanda가 레코드를 순서대로 보관한다</a:t>
            </a:r>
          </a:p>
          <a:p>
            <a:pPr algn="l">
              <a:lnSpc>
                <a:spcPct val="110000"/>
              </a:lnSpc>
            </a:pPr>
            <a:r>
              <a:rPr sz="1400" b="0">
                <a:solidFill>
                  <a:srgbClr val="1F2A3A"/>
                </a:solidFill>
                <a:latin typeface="맑은 고딕"/>
                <a:ea typeface="맑은 고딕"/>
                <a:cs typeface="맑은 고딕"/>
              </a:rPr>
              <a:t>내린다: cmd-gateway가 검사한 명령만 내보낸다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DMZ와 IT에</a:t>
            </a:r>
          </a:p>
          <a:p>
            <a:pPr algn="l">
              <a:lnSpc>
                <a:spcPct val="110000"/>
              </a:lnSpc>
            </a:pPr>
            <a:r>
              <a:rPr sz="1250" b="1">
                <a:solidFill>
                  <a:srgbClr val="1A6FC4"/>
                </a:solidFill>
                <a:latin typeface="맑은 고딕"/>
                <a:ea typeface="맑은 고딕"/>
                <a:cs typeface="맑은 고딕"/>
              </a:rPr>
              <a:t>걸친다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4 · 스트림 처리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a:t>
            </a:r>
          </a:p>
          <a:p>
            <a:pPr algn="l">
              <a:lnSpc>
                <a:spcPct val="110000"/>
              </a:lnSpc>
            </a:pPr>
            <a:r>
              <a:rPr sz="1400" b="0">
                <a:solidFill>
                  <a:srgbClr val="1F2A3A"/>
                </a:solidFill>
                <a:latin typeface="맑은 고딕"/>
                <a:ea typeface="맑은 고딕"/>
                <a:cs typeface="맑은 고딕"/>
              </a:rPr>
              <a:t>내는 것: 기울기 같은 가공 데이터와 경보</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detector</a:t>
            </a:r>
          </a:p>
          <a:p>
            <a:pPr algn="l">
              <a:lnSpc>
                <a:spcPct val="110000"/>
              </a:lnSpc>
            </a:pPr>
            <a:r>
              <a:rPr sz="1250" b="1">
                <a:solidFill>
                  <a:srgbClr val="556175"/>
                </a:solidFill>
                <a:latin typeface="맑은 고딕"/>
                <a:ea typeface="맑은 고딕"/>
                <a:cs typeface="맑은 고딕"/>
              </a:rPr>
              <a:t>원인을 가리지는</a:t>
            </a:r>
          </a:p>
          <a:p>
            <a:pPr algn="l">
              <a:lnSpc>
                <a:spcPct val="110000"/>
              </a:lnSpc>
            </a:pPr>
            <a:r>
              <a:rPr sz="1250" b="1">
                <a:solidFill>
                  <a:srgbClr val="556175"/>
                </a:solidFill>
                <a:latin typeface="맑은 고딕"/>
                <a:ea typeface="맑은 고딕"/>
                <a:cs typeface="맑은 고딕"/>
              </a:rPr>
              <a:t>않는다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Layer 5 · 시계열 저장소</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받는 것: Redpanda의 태그 값과 경보</a:t>
            </a:r>
          </a:p>
          <a:p>
            <a:pPr algn="l">
              <a:lnSpc>
                <a:spcPct val="110000"/>
              </a:lnSpc>
            </a:pPr>
            <a:r>
              <a:rPr sz="1400" b="0">
                <a:solidFill>
                  <a:srgbClr val="1F2A3A"/>
                </a:solidFill>
                <a:latin typeface="맑은 고딕"/>
                <a:ea typeface="맑은 고딕"/>
                <a:cs typeface="맑은 고딕"/>
              </a:rPr>
              <a:t>내는 것: 시각으로 조회할 수 있는 표</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TimescaleDB</a:t>
            </a:r>
          </a:p>
          <a:p>
            <a:pPr algn="l">
              <a:lnSpc>
                <a:spcPct val="110000"/>
              </a:lnSpc>
            </a:pPr>
            <a:r>
              <a:rPr sz="1250" b="1">
                <a:solidFill>
                  <a:srgbClr val="556175"/>
                </a:solidFill>
                <a:latin typeface="맑은 고딕"/>
                <a:ea typeface="맑은 고딕"/>
                <a:cs typeface="맑은 고딕"/>
              </a:rPr>
              <a:t>판정은</a:t>
            </a:r>
          </a:p>
          <a:p>
            <a:pPr algn="l">
              <a:lnSpc>
                <a:spcPct val="110000"/>
              </a:lnSpc>
            </a:pPr>
            <a:r>
              <a:rPr sz="1250" b="1">
                <a:solidFill>
                  <a:srgbClr val="556175"/>
                </a:solidFill>
                <a:latin typeface="맑은 고딕"/>
                <a:ea typeface="맑은 고딕"/>
                <a:cs typeface="맑은 고딕"/>
              </a:rPr>
              <a:t>하지 않는다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Layer 7~9: 원인과 조치를 판단하고 실행하는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뒤에 원인을 가리고 조치를 정해 실행하는 일은 Layer 7~9가 맡으며, 이 과정은 이 세 계층을 차례로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계층_L7-9.svg" descr="illust_790640095100622062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799621"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OT</a:t>
            </a:r>
          </a:p>
        </p:txBody>
      </p:sp>
      <p:sp>
        <p:nvSpPr>
          <p:cNvPr id="8" name="TextBox 7"/>
          <p:cNvSpPr txBox="1"/>
          <p:nvPr/>
        </p:nvSpPr>
        <p:spPr>
          <a:xfrm>
            <a:off x="10317822" y="1641814"/>
            <a:ext cx="65456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DMZ</a:t>
            </a:r>
          </a:p>
        </p:txBody>
      </p:sp>
      <p:sp>
        <p:nvSpPr>
          <p:cNvPr id="9" name="TextBox 8"/>
          <p:cNvSpPr txBox="1"/>
          <p:nvPr/>
        </p:nvSpPr>
        <p:spPr>
          <a:xfrm>
            <a:off x="10890570" y="1641814"/>
            <a:ext cx="600022"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IT</a:t>
            </a:r>
          </a:p>
        </p:txBody>
      </p:sp>
      <p:sp>
        <p:nvSpPr>
          <p:cNvPr id="10" name="TextBox 9"/>
          <p:cNvSpPr txBox="1"/>
          <p:nvPr/>
        </p:nvSpPr>
        <p:spPr>
          <a:xfrm>
            <a:off x="2277524" y="2218563"/>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9 · 프로세스 · 승인 · 앱</a:t>
            </a:r>
          </a:p>
          <a:p>
            <a:pPr algn="ctr">
              <a:lnSpc>
                <a:spcPct val="110000"/>
              </a:lnSpc>
              <a:spcAft>
                <a:spcPts val="100"/>
              </a:spcAft>
            </a:pPr>
            <a:r>
              <a:rPr sz="1300" b="0">
                <a:solidFill>
                  <a:srgbClr val="556175"/>
                </a:solidFill>
                <a:latin typeface="맑은 고딕"/>
                <a:ea typeface="맑은 고딕"/>
                <a:cs typeface="맑은 고딕"/>
              </a:rPr>
              <a:t>process와 포털</a:t>
            </a:r>
          </a:p>
          <a:p>
            <a:pPr algn="ctr">
              <a:lnSpc>
                <a:spcPct val="110000"/>
              </a:lnSpc>
              <a:spcAft>
                <a:spcPts val="100"/>
              </a:spcAft>
            </a:pPr>
            <a:r>
              <a:rPr sz="1300" b="0">
                <a:solidFill>
                  <a:srgbClr val="556175"/>
                </a:solidFill>
                <a:latin typeface="맑은 고딕"/>
                <a:ea typeface="맑은 고딕"/>
                <a:cs typeface="맑은 고딕"/>
              </a:rPr>
              <a:t>담당자의 승인을 받아 조치를 실행하고 결과를 확인한다</a:t>
            </a:r>
          </a:p>
        </p:txBody>
      </p:sp>
      <p:sp>
        <p:nvSpPr>
          <p:cNvPr id="11" name="TextBox 10"/>
          <p:cNvSpPr txBox="1"/>
          <p:nvPr/>
        </p:nvSpPr>
        <p:spPr>
          <a:xfrm>
            <a:off x="2277524" y="3660434"/>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8 · AI 에이전트</a:t>
            </a:r>
          </a:p>
          <a:p>
            <a:pPr algn="ctr">
              <a:lnSpc>
                <a:spcPct val="110000"/>
              </a:lnSpc>
              <a:spcAft>
                <a:spcPts val="100"/>
              </a:spcAft>
            </a:pPr>
            <a:r>
              <a:rPr sz="1300" b="0">
                <a:solidFill>
                  <a:srgbClr val="556175"/>
                </a:solidFill>
                <a:latin typeface="맑은 고딕"/>
                <a:ea typeface="맑은 고딕"/>
                <a:cs typeface="맑은 고딕"/>
              </a:rPr>
              <a:t>지식과 값을 조회해 원인을 가리고 조치를 추천한다</a:t>
            </a:r>
          </a:p>
          <a:p>
            <a:pPr algn="ctr">
              <a:lnSpc>
                <a:spcPct val="110000"/>
              </a:lnSpc>
              <a:spcAft>
                <a:spcPts val="100"/>
              </a:spcAft>
            </a:pPr>
            <a:r>
              <a:rPr sz="1300" b="0">
                <a:solidFill>
                  <a:srgbClr val="556175"/>
                </a:solidFill>
                <a:latin typeface="맑은 고딕"/>
                <a:ea typeface="맑은 고딕"/>
                <a:cs typeface="맑은 고딕"/>
              </a:rPr>
              <a:t>설비에 명령을 보내지는 않는다</a:t>
            </a:r>
          </a:p>
        </p:txBody>
      </p:sp>
      <p:sp>
        <p:nvSpPr>
          <p:cNvPr id="12" name="TextBox 11"/>
          <p:cNvSpPr txBox="1"/>
          <p:nvPr/>
        </p:nvSpPr>
        <p:spPr>
          <a:xfrm>
            <a:off x="2277524" y="5102306"/>
            <a:ext cx="7200266"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Layer 7 · 온톨로지 · 원인분석</a:t>
            </a:r>
          </a:p>
          <a:p>
            <a:pPr algn="ctr">
              <a:lnSpc>
                <a:spcPct val="110000"/>
              </a:lnSpc>
              <a:spcAft>
                <a:spcPts val="100"/>
              </a:spcAft>
            </a:pPr>
            <a:r>
              <a:rPr sz="1300" b="0">
                <a:solidFill>
                  <a:srgbClr val="556175"/>
                </a:solidFill>
                <a:latin typeface="맑은 고딕"/>
                <a:ea typeface="맑은 고딕"/>
                <a:cs typeface="맑은 고딕"/>
              </a:rPr>
              <a:t>Neo4j</a:t>
            </a:r>
          </a:p>
          <a:p>
            <a:pPr algn="ctr">
              <a:lnSpc>
                <a:spcPct val="110000"/>
              </a:lnSpc>
              <a:spcAft>
                <a:spcPts val="100"/>
              </a:spcAft>
            </a:pPr>
            <a:r>
              <a:rPr sz="1300" b="0">
                <a:solidFill>
                  <a:srgbClr val="556175"/>
                </a:solidFill>
                <a:latin typeface="맑은 고딕"/>
                <a:ea typeface="맑은 고딕"/>
                <a:cs typeface="맑은 고딕"/>
              </a:rPr>
              <a:t>증상, 원인, 조치의 관계를 지식으로 보관한다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값이 올라가는 길과 명령이 내려가는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값은 OT에서 DMZ를 거쳐 IT로 올라가 기록되고 감지되며, 승인된 명령만 DMZ의 검사를 거쳐 OT로 내려간다.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OT</a:t>
            </a:r>
          </a:p>
        </p:txBody>
      </p:sp>
      <p:sp>
        <p:nvSpPr>
          <p:cNvPr id="8" name="Rounded Rectangle 7"/>
          <p:cNvSpPr/>
          <p:nvPr/>
        </p:nvSpPr>
        <p:spPr>
          <a:xfrm>
            <a:off x="731520"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EMQX</a:t>
            </a:r>
          </a:p>
          <a:p>
            <a:pPr algn="ctr">
              <a:lnSpc>
                <a:spcPct val="110000"/>
              </a:lnSpc>
              <a:spcAft>
                <a:spcPts val="100"/>
              </a:spcAft>
            </a:pPr>
            <a:r>
              <a:rPr sz="1150" b="0">
                <a:solidFill>
                  <a:srgbClr val="556175"/>
                </a:solidFill>
                <a:latin typeface="맑은 고딕"/>
                <a:ea typeface="맑은 고딕"/>
                <a:cs typeface="맑은 고딕"/>
              </a:rPr>
              <a:t>MQTT 브로커</a:t>
            </a:r>
          </a:p>
        </p:txBody>
      </p:sp>
      <p:sp>
        <p:nvSpPr>
          <p:cNvPr id="10" name="Rounded Rectangle 9"/>
          <p:cNvSpPr/>
          <p:nvPr/>
        </p:nvSpPr>
        <p:spPr>
          <a:xfrm>
            <a:off x="731520"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PLC</a:t>
            </a:r>
          </a:p>
          <a:p>
            <a:pPr algn="ctr">
              <a:lnSpc>
                <a:spcPct val="110000"/>
              </a:lnSpc>
              <a:spcAft>
                <a:spcPts val="100"/>
              </a:spcAft>
            </a:pPr>
            <a:r>
              <a:rPr sz="1150" b="0">
                <a:solidFill>
                  <a:srgbClr val="556175"/>
                </a:solidFill>
                <a:latin typeface="맑은 고딕"/>
                <a:ea typeface="맑은 고딕"/>
                <a:cs typeface="맑은 고딕"/>
              </a:rPr>
              <a:t>값을 읽고 설비를 보호</a:t>
            </a:r>
          </a:p>
        </p:txBody>
      </p:sp>
      <p:sp>
        <p:nvSpPr>
          <p:cNvPr id="12" name="Rounded Rectangle 11"/>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3" name="TextBox 12"/>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DMZ</a:t>
            </a:r>
          </a:p>
        </p:txBody>
      </p:sp>
      <p:sp>
        <p:nvSpPr>
          <p:cNvPr id="14" name="Rounded Rectangle 13"/>
          <p:cNvSpPr/>
          <p:nvPr/>
        </p:nvSpPr>
        <p:spPr>
          <a:xfrm>
            <a:off x="4810658" y="2802636"/>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4856378"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connect-ingest</a:t>
            </a:r>
          </a:p>
          <a:p>
            <a:pPr algn="ctr">
              <a:lnSpc>
                <a:spcPct val="110000"/>
              </a:lnSpc>
              <a:spcAft>
                <a:spcPts val="100"/>
              </a:spcAft>
            </a:pPr>
            <a:r>
              <a:rPr sz="1150" b="0">
                <a:solidFill>
                  <a:srgbClr val="556175"/>
                </a:solidFill>
                <a:latin typeface="맑은 고딕"/>
                <a:ea typeface="맑은 고딕"/>
                <a:cs typeface="맑은 고딕"/>
              </a:rPr>
              <a:t>값을 올린다</a:t>
            </a:r>
          </a:p>
        </p:txBody>
      </p:sp>
      <p:sp>
        <p:nvSpPr>
          <p:cNvPr id="16" name="Rounded Rectangle 15"/>
          <p:cNvSpPr/>
          <p:nvPr/>
        </p:nvSpPr>
        <p:spPr>
          <a:xfrm>
            <a:off x="4810658"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cmd-gateway</a:t>
            </a:r>
          </a:p>
          <a:p>
            <a:pPr algn="ctr">
              <a:lnSpc>
                <a:spcPct val="110000"/>
              </a:lnSpc>
              <a:spcAft>
                <a:spcPts val="100"/>
              </a:spcAft>
            </a:pPr>
            <a:r>
              <a:rPr sz="1150" b="0">
                <a:solidFill>
                  <a:srgbClr val="556175"/>
                </a:solidFill>
                <a:latin typeface="맑은 고딕"/>
                <a:ea typeface="맑은 고딕"/>
                <a:cs typeface="맑은 고딕"/>
              </a:rPr>
              <a:t>명령을 검사한다</a:t>
            </a:r>
          </a:p>
        </p:txBody>
      </p:sp>
      <p:sp>
        <p:nvSpPr>
          <p:cNvPr id="18" name="Rounded Rectangle 17"/>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19" name="TextBox 18"/>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IT</a:t>
            </a:r>
          </a:p>
        </p:txBody>
      </p:sp>
      <p:sp>
        <p:nvSpPr>
          <p:cNvPr id="20" name="Rounded Rectangle 19"/>
          <p:cNvSpPr/>
          <p:nvPr/>
        </p:nvSpPr>
        <p:spPr>
          <a:xfrm>
            <a:off x="8889796" y="2802636"/>
            <a:ext cx="2570378" cy="1188720"/>
          </a:xfrm>
          <a:prstGeom prst="roundRect">
            <a:avLst>
              <a:gd name="adj" fmla="val 8000"/>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8935516" y="2802636"/>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Redpanda</a:t>
            </a:r>
          </a:p>
          <a:p>
            <a:pPr algn="ctr">
              <a:lnSpc>
                <a:spcPct val="110000"/>
              </a:lnSpc>
              <a:spcAft>
                <a:spcPts val="100"/>
              </a:spcAft>
            </a:pPr>
            <a:r>
              <a:rPr sz="1150" b="0">
                <a:solidFill>
                  <a:srgbClr val="556175"/>
                </a:solidFill>
                <a:latin typeface="맑은 고딕"/>
                <a:ea typeface="맑은 고딕"/>
                <a:cs typeface="맑은 고딕"/>
              </a:rPr>
              <a:t>순서대로 보관 · detector가 읽어 감지</a:t>
            </a:r>
          </a:p>
        </p:txBody>
      </p:sp>
      <p:sp>
        <p:nvSpPr>
          <p:cNvPr id="22" name="Rounded Rectangle 21"/>
          <p:cNvSpPr/>
          <p:nvPr/>
        </p:nvSpPr>
        <p:spPr>
          <a:xfrm>
            <a:off x="8889796" y="4338828"/>
            <a:ext cx="2570378" cy="1188720"/>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3" name="TextBox 22"/>
          <p:cNvSpPr txBox="1"/>
          <p:nvPr/>
        </p:nvSpPr>
        <p:spPr>
          <a:xfrm>
            <a:off x="8935516" y="4338828"/>
            <a:ext cx="2478938" cy="1188720"/>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process</a:t>
            </a:r>
          </a:p>
          <a:p>
            <a:pPr algn="ctr">
              <a:lnSpc>
                <a:spcPct val="110000"/>
              </a:lnSpc>
              <a:spcAft>
                <a:spcPts val="100"/>
              </a:spcAft>
            </a:pPr>
            <a:r>
              <a:rPr sz="1150" b="0">
                <a:solidFill>
                  <a:srgbClr val="556175"/>
                </a:solidFill>
                <a:latin typeface="맑은 고딕"/>
                <a:ea typeface="맑은 고딕"/>
                <a:cs typeface="맑은 고딕"/>
              </a:rPr>
              <a:t>승인된 조치를 명령으로</a:t>
            </a:r>
          </a:p>
        </p:txBody>
      </p:sp>
      <p:cxnSp>
        <p:nvCxnSpPr>
          <p:cNvPr id="24" name="Connector 23"/>
          <p:cNvCxnSpPr/>
          <p:nvPr/>
        </p:nvCxnSpPr>
        <p:spPr>
          <a:xfrm flipV="1">
            <a:off x="1650949" y="3991356"/>
            <a:ext cx="0" cy="347472"/>
          </a:xfrm>
          <a:prstGeom prst="line">
            <a:avLst/>
          </a:prstGeom>
          <a:ln w="19050">
            <a:solidFill>
              <a:srgbClr val="13294B"/>
            </a:solidFill>
            <a:tailEnd type="triangle" w="med" len="med"/>
          </a:ln>
        </p:spPr>
      </p:cxnSp>
      <p:sp>
        <p:nvSpPr>
          <p:cNvPr id="25" name="TextBox 24"/>
          <p:cNvSpPr txBox="1"/>
          <p:nvPr/>
        </p:nvSpPr>
        <p:spPr>
          <a:xfrm>
            <a:off x="945718" y="4027932"/>
            <a:ext cx="668655"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태그 값</a:t>
            </a:r>
          </a:p>
        </p:txBody>
      </p:sp>
      <p:cxnSp>
        <p:nvCxnSpPr>
          <p:cNvPr id="26" name="Connector 25"/>
          <p:cNvCxnSpPr/>
          <p:nvPr/>
        </p:nvCxnSpPr>
        <p:spPr>
          <a:xfrm>
            <a:off x="3301898" y="3250692"/>
            <a:ext cx="1508760" cy="0"/>
          </a:xfrm>
          <a:prstGeom prst="line">
            <a:avLst/>
          </a:prstGeom>
          <a:ln w="19050">
            <a:solidFill>
              <a:srgbClr val="13294B"/>
            </a:solidFill>
            <a:tailEnd type="triangle" w="med" len="med"/>
          </a:ln>
        </p:spPr>
      </p:cxnSp>
      <p:sp>
        <p:nvSpPr>
          <p:cNvPr id="27" name="TextBox 26"/>
          <p:cNvSpPr txBox="1"/>
          <p:nvPr/>
        </p:nvSpPr>
        <p:spPr>
          <a:xfrm>
            <a:off x="3164738"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구독</a:t>
            </a:r>
          </a:p>
        </p:txBody>
      </p:sp>
      <p:cxnSp>
        <p:nvCxnSpPr>
          <p:cNvPr id="28" name="Connector 27"/>
          <p:cNvCxnSpPr/>
          <p:nvPr/>
        </p:nvCxnSpPr>
        <p:spPr>
          <a:xfrm>
            <a:off x="7381036" y="3250692"/>
            <a:ext cx="1508760" cy="0"/>
          </a:xfrm>
          <a:prstGeom prst="line">
            <a:avLst/>
          </a:prstGeom>
          <a:ln w="19050">
            <a:solidFill>
              <a:srgbClr val="13294B"/>
            </a:solidFill>
            <a:tailEnd type="triangle" w="med" len="med"/>
          </a:ln>
        </p:spPr>
      </p:cxnSp>
      <p:sp>
        <p:nvSpPr>
          <p:cNvPr id="29" name="TextBox 28"/>
          <p:cNvSpPr txBox="1"/>
          <p:nvPr/>
        </p:nvSpPr>
        <p:spPr>
          <a:xfrm>
            <a:off x="7243876" y="295808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레코드</a:t>
            </a:r>
          </a:p>
        </p:txBody>
      </p:sp>
      <p:cxnSp>
        <p:nvCxnSpPr>
          <p:cNvPr id="30" name="Connector 29"/>
          <p:cNvCxnSpPr/>
          <p:nvPr/>
        </p:nvCxnSpPr>
        <p:spPr>
          <a:xfrm flipH="1">
            <a:off x="7381036" y="5079492"/>
            <a:ext cx="1508760" cy="0"/>
          </a:xfrm>
          <a:prstGeom prst="line">
            <a:avLst/>
          </a:prstGeom>
          <a:ln w="28575">
            <a:solidFill>
              <a:srgbClr val="1A6FC4"/>
            </a:solidFill>
            <a:prstDash val="dash"/>
            <a:tailEnd type="triangle" w="med" len="med"/>
          </a:ln>
        </p:spPr>
      </p:cxnSp>
      <p:sp>
        <p:nvSpPr>
          <p:cNvPr id="31" name="TextBox 30"/>
          <p:cNvSpPr txBox="1"/>
          <p:nvPr/>
        </p:nvSpPr>
        <p:spPr>
          <a:xfrm>
            <a:off x="7243876"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명령</a:t>
            </a:r>
          </a:p>
        </p:txBody>
      </p:sp>
      <p:cxnSp>
        <p:nvCxnSpPr>
          <p:cNvPr id="32" name="Connector 31"/>
          <p:cNvCxnSpPr/>
          <p:nvPr/>
        </p:nvCxnSpPr>
        <p:spPr>
          <a:xfrm flipH="1">
            <a:off x="3301898" y="5079492"/>
            <a:ext cx="1508760" cy="0"/>
          </a:xfrm>
          <a:prstGeom prst="line">
            <a:avLst/>
          </a:prstGeom>
          <a:ln w="28575">
            <a:solidFill>
              <a:srgbClr val="1A6FC4"/>
            </a:solidFill>
            <a:prstDash val="dash"/>
            <a:tailEnd type="triangle" w="med" len="med"/>
          </a:ln>
        </p:spPr>
      </p:cxnSp>
      <p:sp>
        <p:nvSpPr>
          <p:cNvPr id="33" name="TextBox 32"/>
          <p:cNvSpPr txBox="1"/>
          <p:nvPr/>
        </p:nvSpPr>
        <p:spPr>
          <a:xfrm>
            <a:off x="3164738" y="5097780"/>
            <a:ext cx="1783079" cy="274320"/>
          </a:xfrm>
          <a:prstGeom prst="rect">
            <a:avLst/>
          </a:prstGeom>
          <a:noFill/>
        </p:spPr>
        <p:txBody>
          <a:bodyPr wrap="square" anchor="ctr"/>
          <a:lstStyle/>
          <a:p>
            <a:pPr algn="ctr">
              <a:lnSpc>
                <a:spcPct val="110000"/>
              </a:lnSpc>
            </a:pPr>
            <a:r>
              <a:rPr sz="1050" b="1">
                <a:solidFill>
                  <a:srgbClr val="1A6FC4"/>
                </a:solidFill>
                <a:latin typeface="맑은 고딕"/>
                <a:ea typeface="맑은 고딕"/>
                <a:cs typeface="맑은 고딕"/>
              </a:rPr>
              <a:t>검사 통과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환경 구성과 서비스 동작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준비된 환경에서 HYD 서비스를 실행하고 포털이 열리는 상태를 확인한다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도구와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Docker Compose로 올린 HYD 서비스가 실행 중이고 포털에 접속되는 상태가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brand-vscode" descr="brand-vscode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VS Code</a:t>
            </a:r>
          </a:p>
          <a:p>
            <a:pPr algn="l">
              <a:lnSpc>
                <a:spcPct val="110000"/>
              </a:lnSpc>
              <a:spcAft>
                <a:spcPts val="400"/>
              </a:spcAft>
            </a:pPr>
            <a:r>
              <a:rPr sz="1350" b="0">
                <a:solidFill>
                  <a:srgbClr val="1F2A3A"/>
                </a:solidFill>
                <a:latin typeface="맑은 고딕"/>
                <a:ea typeface="맑은 고딕"/>
                <a:cs typeface="맑은 고딕"/>
              </a:rPr>
              <a:t>• 파일 편집기이자 터미널이다</a:t>
            </a:r>
          </a:p>
          <a:p>
            <a:pPr algn="l">
              <a:lnSpc>
                <a:spcPct val="110000"/>
              </a:lnSpc>
              <a:spcAft>
                <a:spcPts val="400"/>
              </a:spcAft>
            </a:pPr>
            <a:r>
              <a:rPr sz="1350" b="0">
                <a:solidFill>
                  <a:srgbClr val="1F2A3A"/>
                </a:solidFill>
                <a:latin typeface="맑은 고딕"/>
                <a:ea typeface="맑은 고딕"/>
                <a:cs typeface="맑은 고딕"/>
              </a:rPr>
              <a:t>• 이후 랩의 작업 공간으로 쓴다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개발</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terminal-2" descr="terminal-2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Claude Code</a:t>
            </a:r>
          </a:p>
          <a:p>
            <a:pPr algn="l">
              <a:lnSpc>
                <a:spcPct val="110000"/>
              </a:lnSpc>
              <a:spcAft>
                <a:spcPts val="400"/>
              </a:spcAft>
            </a:pPr>
            <a:r>
              <a:rPr sz="1350" b="0">
                <a:solidFill>
                  <a:srgbClr val="1F2A3A"/>
                </a:solidFill>
                <a:latin typeface="맑은 고딕"/>
                <a:ea typeface="맑은 고딕"/>
                <a:cs typeface="맑은 고딕"/>
              </a:rPr>
              <a:t>• 터미널에서 동작하는 코딩 에이전트이다</a:t>
            </a:r>
          </a:p>
          <a:p>
            <a:pPr algn="l">
              <a:lnSpc>
                <a:spcPct val="110000"/>
              </a:lnSpc>
              <a:spcAft>
                <a:spcPts val="400"/>
              </a:spcAft>
            </a:pPr>
            <a:r>
              <a:rPr sz="1350" b="0">
                <a:solidFill>
                  <a:srgbClr val="1F2A3A"/>
                </a:solidFill>
                <a:latin typeface="맑은 고딕"/>
                <a:ea typeface="맑은 고딕"/>
                <a:cs typeface="맑은 고딕"/>
              </a:rPr>
              <a:t>• 랩에서 코드를 만들 때 쓴다</a:t>
            </a:r>
          </a:p>
          <a:p>
            <a:pPr algn="l">
              <a:lnSpc>
                <a:spcPct val="110000"/>
              </a:lnSpc>
              <a:spcAft>
                <a:spcPts val="400"/>
              </a:spcAft>
            </a:pPr>
            <a:r>
              <a:rPr sz="1350" b="0">
                <a:solidFill>
                  <a:srgbClr val="1F2A3A"/>
                </a:solidFill>
                <a:latin typeface="맑은 고딕"/>
                <a:ea typeface="맑은 고딕"/>
                <a:cs typeface="맑은 고딕"/>
              </a:rPr>
              <a:t>• HYD 안에서는 에이전트 작업을 수행한다</a:t>
            </a:r>
          </a:p>
        </p:txBody>
      </p:sp>
      <p:sp>
        <p:nvSpPr>
          <p:cNvPr id="16" name="Rounded Rectangle 15"/>
          <p:cNvSpPr/>
          <p:nvPr/>
        </p:nvSpPr>
        <p:spPr>
          <a:xfrm>
            <a:off x="3619423" y="5343525"/>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AI 코딩</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brand-python" descr="brand-python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Python</a:t>
            </a:r>
          </a:p>
          <a:p>
            <a:pPr algn="l">
              <a:lnSpc>
                <a:spcPct val="110000"/>
              </a:lnSpc>
              <a:spcAft>
                <a:spcPts val="400"/>
              </a:spcAft>
            </a:pPr>
            <a:r>
              <a:rPr sz="1350" b="0">
                <a:solidFill>
                  <a:srgbClr val="1F2A3A"/>
                </a:solidFill>
                <a:latin typeface="맑은 고딕"/>
                <a:ea typeface="맑은 고딕"/>
                <a:cs typeface="맑은 고딕"/>
              </a:rPr>
              <a:t>HYD의 서비스와 랩의 코드가 쓰는 프로그래밍 언어이다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언어</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brand-docker" descr="brand-docker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Docker</a:t>
            </a:r>
          </a:p>
          <a:p>
            <a:pPr algn="l">
              <a:lnSpc>
                <a:spcPct val="110000"/>
              </a:lnSpc>
              <a:spcAft>
                <a:spcPts val="400"/>
              </a:spcAft>
            </a:pPr>
            <a:r>
              <a:rPr sz="1350" b="0">
                <a:solidFill>
                  <a:srgbClr val="1F2A3A"/>
                </a:solidFill>
                <a:latin typeface="맑은 고딕"/>
                <a:ea typeface="맑은 고딕"/>
                <a:cs typeface="맑은 고딕"/>
              </a:rPr>
              <a:t>• Docker Desktop은 컨테이너를 실행하는 프로그램이다</a:t>
            </a:r>
          </a:p>
          <a:p>
            <a:pPr algn="l">
              <a:lnSpc>
                <a:spcPct val="110000"/>
              </a:lnSpc>
              <a:spcAft>
                <a:spcPts val="400"/>
              </a:spcAft>
            </a:pPr>
            <a:r>
              <a:rPr sz="1350" b="0">
                <a:solidFill>
                  <a:srgbClr val="1F2A3A"/>
                </a:solidFill>
                <a:latin typeface="맑은 고딕"/>
                <a:ea typeface="맑은 고딕"/>
                <a:cs typeface="맑은 고딕"/>
              </a:rPr>
              <a:t>• Docker Compose는 HYD의 서비스 전체를 한 파일의 정의로 기동한다</a:t>
            </a:r>
          </a:p>
        </p:txBody>
      </p:sp>
      <p:sp>
        <p:nvSpPr>
          <p:cNvPr id="28" name="Rounded Rectangle 27"/>
          <p:cNvSpPr/>
          <p:nvPr/>
        </p:nvSpPr>
        <p:spPr>
          <a:xfrm>
            <a:off x="9303791" y="5343525"/>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서비스 실행</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이상에서 조치까지 전체 과정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 한 건이 경보에서 최종 결과까지 진행되는 과정을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시연에서 확인하는 흐름: 경보에서 최종 결과까지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열화 한 건이 경보, 원인 분석, 조치 추천, 승인, 조치, 재관측을 거쳐 닫히는 과정을 처음부터 끝까지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a:t>
            </a:r>
          </a:p>
          <a:p>
            <a:pPr algn="ctr">
              <a:lnSpc>
                <a:spcPct val="110000"/>
              </a:lnSpc>
              <a:spcAft>
                <a:spcPts val="400"/>
              </a:spcAft>
            </a:pPr>
            <a:r>
              <a:rPr sz="1250" b="0">
                <a:solidFill>
                  <a:srgbClr val="1F2A3A"/>
                </a:solidFill>
                <a:latin typeface="맑은 고딕"/>
                <a:ea typeface="맑은 고딕"/>
                <a:cs typeface="맑은 고딕"/>
              </a:rPr>
              <a:t>유온과 냉각 효율이</a:t>
            </a:r>
          </a:p>
          <a:p>
            <a:pPr algn="ctr">
              <a:lnSpc>
                <a:spcPct val="110000"/>
              </a:lnSpc>
              <a:spcAft>
                <a:spcPts val="400"/>
              </a:spcAft>
            </a:pPr>
            <a:r>
              <a:rPr sz="1250" b="0">
                <a:solidFill>
                  <a:srgbClr val="1F2A3A"/>
                </a:solidFill>
                <a:latin typeface="맑은 고딕"/>
                <a:ea typeface="맑은 고딕"/>
                <a:cs typeface="맑은 고딕"/>
              </a:rPr>
              <a:t>조건을 벗어나</a:t>
            </a:r>
          </a:p>
          <a:p>
            <a:pPr algn="ctr">
              <a:lnSpc>
                <a:spcPct val="110000"/>
              </a:lnSpc>
              <a:spcAft>
                <a:spcPts val="400"/>
              </a:spcAft>
            </a:pPr>
            <a:r>
              <a:rPr sz="1250" b="0">
                <a:solidFill>
                  <a:srgbClr val="1F2A3A"/>
                </a:solidFill>
                <a:latin typeface="맑은 고딕"/>
                <a:ea typeface="맑은 고딕"/>
                <a:cs typeface="맑은 고딕"/>
              </a:rPr>
              <a:t>경보가 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분석과 추천</a:t>
            </a:r>
          </a:p>
          <a:p>
            <a:pPr algn="ctr">
              <a:lnSpc>
                <a:spcPct val="110000"/>
              </a:lnSpc>
              <a:spcAft>
                <a:spcPts val="400"/>
              </a:spcAft>
            </a:pPr>
            <a:r>
              <a:rPr sz="1250" b="0">
                <a:solidFill>
                  <a:srgbClr val="1F2A3A"/>
                </a:solidFill>
                <a:latin typeface="맑은 고딕"/>
                <a:ea typeface="맑은 고딕"/>
                <a:cs typeface="맑은 고딕"/>
              </a:rPr>
              <a:t>에이전트가</a:t>
            </a:r>
          </a:p>
          <a:p>
            <a:pPr algn="ctr">
              <a:lnSpc>
                <a:spcPct val="110000"/>
              </a:lnSpc>
              <a:spcAft>
                <a:spcPts val="400"/>
              </a:spcAft>
            </a:pPr>
            <a:r>
              <a:rPr sz="1250" b="0">
                <a:solidFill>
                  <a:srgbClr val="1F2A3A"/>
                </a:solidFill>
                <a:latin typeface="맑은 고딕"/>
                <a:ea typeface="맑은 고딕"/>
                <a:cs typeface="맑은 고딕"/>
              </a:rPr>
              <a:t>지식과 값을 조회해</a:t>
            </a:r>
          </a:p>
          <a:p>
            <a:pPr algn="ctr">
              <a:lnSpc>
                <a:spcPct val="110000"/>
              </a:lnSpc>
              <a:spcAft>
                <a:spcPts val="400"/>
              </a:spcAft>
            </a:pPr>
            <a:r>
              <a:rPr sz="1250" b="0">
                <a:solidFill>
                  <a:srgbClr val="1F2A3A"/>
                </a:solidFill>
                <a:latin typeface="맑은 고딕"/>
                <a:ea typeface="맑은 고딕"/>
                <a:cs typeface="맑은 고딕"/>
              </a:rPr>
              <a:t>원인을 가리고</a:t>
            </a:r>
          </a:p>
          <a:p>
            <a:pPr algn="ctr">
              <a:lnSpc>
                <a:spcPct val="110000"/>
              </a:lnSpc>
              <a:spcAft>
                <a:spcPts val="400"/>
              </a:spcAft>
            </a:pPr>
            <a:r>
              <a:rPr sz="1250" b="0">
                <a:solidFill>
                  <a:srgbClr val="1F2A3A"/>
                </a:solidFill>
                <a:latin typeface="맑은 고딕"/>
                <a:ea typeface="맑은 고딕"/>
                <a:cs typeface="맑은 고딕"/>
              </a:rPr>
              <a:t>조치안을 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712466"/>
            <a:ext cx="731520" cy="731520"/>
          </a:xfrm>
          <a:prstGeom prst="ellipse">
            <a:avLst/>
          </a:prstGeom>
          <a:solidFill>
            <a:srgbClr val="5CB8F2"/>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또는 거절</a:t>
            </a:r>
          </a:p>
          <a:p>
            <a:pPr algn="ctr">
              <a:lnSpc>
                <a:spcPct val="110000"/>
              </a:lnSpc>
              <a:spcAft>
                <a:spcPts val="400"/>
              </a:spcAft>
            </a:pPr>
            <a:r>
              <a:rPr sz="1250" b="0">
                <a:solidFill>
                  <a:srgbClr val="1F2A3A"/>
                </a:solidFill>
                <a:latin typeface="맑은 고딕"/>
                <a:ea typeface="맑은 고딕"/>
                <a:cs typeface="맑은 고딕"/>
              </a:rPr>
              <a:t>HITL</a:t>
            </a:r>
          </a:p>
          <a:p>
            <a:pPr algn="ctr">
              <a:lnSpc>
                <a:spcPct val="110000"/>
              </a:lnSpc>
              <a:spcAft>
                <a:spcPts val="400"/>
              </a:spcAft>
            </a:pPr>
            <a:r>
              <a:rPr sz="1250" b="0">
                <a:solidFill>
                  <a:srgbClr val="1F2A3A"/>
                </a:solidFill>
                <a:latin typeface="맑은 고딕"/>
                <a:ea typeface="맑은 고딕"/>
                <a:cs typeface="맑은 고딕"/>
              </a:rPr>
              <a:t>담당자가 판단한다</a:t>
            </a:r>
          </a:p>
          <a:p>
            <a:pPr algn="ctr">
              <a:lnSpc>
                <a:spcPct val="110000"/>
              </a:lnSpc>
              <a:spcAft>
                <a:spcPts val="400"/>
              </a:spcAft>
            </a:pPr>
            <a:r>
              <a:rPr sz="1250" b="0">
                <a:solidFill>
                  <a:srgbClr val="1F2A3A"/>
                </a:solidFill>
                <a:latin typeface="맑은 고딕"/>
                <a:ea typeface="맑은 고딕"/>
                <a:cs typeface="맑은 고딕"/>
              </a:rPr>
              <a:t>승인 전에는</a:t>
            </a:r>
          </a:p>
          <a:p>
            <a:pPr algn="ctr">
              <a:lnSpc>
                <a:spcPct val="110000"/>
              </a:lnSpc>
              <a:spcAft>
                <a:spcPts val="400"/>
              </a:spcAft>
            </a:pPr>
            <a:r>
              <a:rPr sz="1250" b="0">
                <a:solidFill>
                  <a:srgbClr val="1F2A3A"/>
                </a:solidFill>
                <a:latin typeface="맑은 고딕"/>
                <a:ea typeface="맑은 고딕"/>
                <a:cs typeface="맑은 고딕"/>
              </a:rPr>
              <a:t>설비 명령이 없다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a:t>
            </a:r>
          </a:p>
          <a:p>
            <a:pPr algn="ctr">
              <a:lnSpc>
                <a:spcPct val="110000"/>
              </a:lnSpc>
              <a:spcAft>
                <a:spcPts val="400"/>
              </a:spcAft>
            </a:pPr>
            <a:r>
              <a:rPr sz="1250" b="0">
                <a:solidFill>
                  <a:srgbClr val="1F2A3A"/>
                </a:solidFill>
                <a:latin typeface="맑은 고딕"/>
                <a:ea typeface="맑은 고딕"/>
                <a:cs typeface="맑은 고딕"/>
              </a:rPr>
              <a:t>승인된 조치만</a:t>
            </a:r>
          </a:p>
          <a:p>
            <a:pPr algn="ctr">
              <a:lnSpc>
                <a:spcPct val="110000"/>
              </a:lnSpc>
              <a:spcAft>
                <a:spcPts val="400"/>
              </a:spcAft>
            </a:pPr>
            <a:r>
              <a:rPr sz="1250" b="0">
                <a:solidFill>
                  <a:srgbClr val="1F2A3A"/>
                </a:solidFill>
                <a:latin typeface="맑은 고딕"/>
                <a:ea typeface="맑은 고딕"/>
                <a:cs typeface="맑은 고딕"/>
              </a:rPr>
              <a:t>명령이 되어</a:t>
            </a:r>
          </a:p>
          <a:p>
            <a:pPr algn="ctr">
              <a:lnSpc>
                <a:spcPct val="110000"/>
              </a:lnSpc>
              <a:spcAft>
                <a:spcPts val="400"/>
              </a:spcAft>
            </a:pPr>
            <a:r>
              <a:rPr sz="1250" b="0">
                <a:solidFill>
                  <a:srgbClr val="1F2A3A"/>
                </a:solidFill>
                <a:latin typeface="맑은 고딕"/>
                <a:ea typeface="맑은 고딕"/>
                <a:cs typeface="맑은 고딕"/>
              </a:rPr>
              <a:t>설비로 내려간다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zoom-check" descr="zoom-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재관측과 결과</a:t>
            </a:r>
          </a:p>
          <a:p>
            <a:pPr algn="ctr">
              <a:lnSpc>
                <a:spcPct val="110000"/>
              </a:lnSpc>
              <a:spcAft>
                <a:spcPts val="400"/>
              </a:spcAft>
            </a:pPr>
            <a:r>
              <a:rPr sz="1250" b="0">
                <a:solidFill>
                  <a:srgbClr val="1F2A3A"/>
                </a:solidFill>
                <a:latin typeface="맑은 고딕"/>
                <a:ea typeface="맑은 고딕"/>
                <a:cs typeface="맑은 고딕"/>
              </a:rPr>
              <a:t>유온을 다시 읽어</a:t>
            </a:r>
          </a:p>
          <a:p>
            <a:pPr algn="ctr">
              <a:lnSpc>
                <a:spcPct val="110000"/>
              </a:lnSpc>
              <a:spcAft>
                <a:spcPts val="400"/>
              </a:spcAft>
            </a:pPr>
            <a:r>
              <a:rPr sz="1250" b="0">
                <a:solidFill>
                  <a:srgbClr val="1F2A3A"/>
                </a:solidFill>
                <a:latin typeface="맑은 고딕"/>
                <a:ea typeface="맑은 고딕"/>
                <a:cs typeface="맑은 고딕"/>
              </a:rPr>
              <a:t>회복을 확인하고</a:t>
            </a:r>
          </a:p>
          <a:p>
            <a:pPr algn="ctr">
              <a:lnSpc>
                <a:spcPct val="110000"/>
              </a:lnSpc>
              <a:spcAft>
                <a:spcPts val="400"/>
              </a:spcAft>
            </a:pPr>
            <a:r>
              <a:rPr sz="1250" b="0">
                <a:solidFill>
                  <a:srgbClr val="1F2A3A"/>
                </a:solidFill>
                <a:latin typeface="맑은 고딕"/>
                <a:ea typeface="맑은 고딕"/>
                <a:cs typeface="맑은 고딕"/>
              </a:rPr>
              <a:t>결과를 보고한다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detector의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108초의 내역: 판단에 94초, 승인 대기에 13초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대부분은 원인을 가리고 조치안을 비교하는 데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28468"/>
            <a:ext cx="5410047"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929636"/>
            <a:ext cx="731520" cy="731520"/>
          </a:xfrm>
          <a:prstGeom prst="ellipse">
            <a:avLst/>
          </a:prstGeom>
          <a:solidFill>
            <a:srgbClr val="5CB8F2"/>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가리기와 조치안 비교</a:t>
            </a:r>
          </a:p>
          <a:p>
            <a:pPr algn="l">
              <a:lnSpc>
                <a:spcPct val="110000"/>
              </a:lnSpc>
              <a:spcAft>
                <a:spcPts val="400"/>
              </a:spcAft>
            </a:pPr>
            <a:r>
              <a:rPr sz="1400" b="0">
                <a:solidFill>
                  <a:srgbClr val="1F2A3A"/>
                </a:solidFill>
                <a:latin typeface="맑은 고딕"/>
                <a:ea typeface="맑은 고딕"/>
                <a:cs typeface="맑은 고딕"/>
              </a:rPr>
              <a:t>에이전트가 지식과 값을 조회해 원인을 가리고 조치안을 냈다</a:t>
            </a:r>
          </a:p>
        </p:txBody>
      </p:sp>
      <p:sp>
        <p:nvSpPr>
          <p:cNvPr id="10" name="Rounded Rectangle 9"/>
          <p:cNvSpPr/>
          <p:nvPr/>
        </p:nvSpPr>
        <p:spPr>
          <a:xfrm>
            <a:off x="777240" y="4824476"/>
            <a:ext cx="905256"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94초</a:t>
            </a:r>
          </a:p>
        </p:txBody>
      </p:sp>
      <p:sp>
        <p:nvSpPr>
          <p:cNvPr id="12" name="Rounded Rectangle 11"/>
          <p:cNvSpPr/>
          <p:nvPr/>
        </p:nvSpPr>
        <p:spPr>
          <a:xfrm>
            <a:off x="6233007" y="2728468"/>
            <a:ext cx="5410047"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6461607" y="292963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6615226" y="3083255"/>
            <a:ext cx="424281" cy="424281"/>
          </a:xfrm>
          <a:prstGeom prst="rect">
            <a:avLst/>
          </a:prstGeom>
        </p:spPr>
      </p:pic>
      <p:sp>
        <p:nvSpPr>
          <p:cNvPr id="15" name="TextBox 14"/>
          <p:cNvSpPr txBox="1"/>
          <p:nvPr/>
        </p:nvSpPr>
        <p:spPr>
          <a:xfrm>
            <a:off x="6397599" y="3752596"/>
            <a:ext cx="5080863"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a:t>
            </a:r>
          </a:p>
          <a:p>
            <a:pPr algn="l">
              <a:lnSpc>
                <a:spcPct val="110000"/>
              </a:lnSpc>
              <a:spcAft>
                <a:spcPts val="400"/>
              </a:spcAft>
            </a:pPr>
            <a:r>
              <a:rPr sz="1400" b="0">
                <a:solidFill>
                  <a:srgbClr val="1F2A3A"/>
                </a:solidFill>
                <a:latin typeface="맑은 고딕"/>
                <a:ea typeface="맑은 고딕"/>
                <a:cs typeface="맑은 고딕"/>
              </a:rPr>
              <a:t>담당자가 추천과 근거를 보고 승인했다</a:t>
            </a:r>
          </a:p>
        </p:txBody>
      </p:sp>
      <p:sp>
        <p:nvSpPr>
          <p:cNvPr id="16" name="Rounded Rectangle 15"/>
          <p:cNvSpPr/>
          <p:nvPr/>
        </p:nvSpPr>
        <p:spPr>
          <a:xfrm>
            <a:off x="6461607" y="4824476"/>
            <a:ext cx="90525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824476"/>
            <a:ext cx="90525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약 13초</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구조가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pic>
        <p:nvPicPr>
          <p:cNvPr id="6" name="삽화:원인후보.svg" descr="illust_29050486993381453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원인을 확인하는 데 쓰는 값과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 후보마다 확인할 값과 기준이 정해져 있으며, 잰 값을 그 기준에 대어 보는 것이 판별이다.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확인할 값</a:t>
            </a:r>
          </a:p>
          <a:p>
            <a:pPr algn="l">
              <a:lnSpc>
                <a:spcPct val="110000"/>
              </a:lnSpc>
              <a:spcAft>
                <a:spcPts val="400"/>
              </a:spcAft>
            </a:pPr>
            <a:r>
              <a:rPr sz="1400" b="0">
                <a:solidFill>
                  <a:srgbClr val="1F2A3A"/>
                </a:solidFill>
                <a:latin typeface="맑은 고딕"/>
                <a:ea typeface="맑은 고딕"/>
                <a:cs typeface="맑은 고딕"/>
              </a:rPr>
              <a:t>후보마다 보아야 하는 태그가 다르다</a:t>
            </a:r>
          </a:p>
        </p:txBody>
      </p:sp>
      <p:sp>
        <p:nvSpPr>
          <p:cNvPr id="10" name="Rounded Rectangle 9"/>
          <p:cNvSpPr/>
          <p:nvPr/>
        </p:nvSpPr>
        <p:spPr>
          <a:xfrm>
            <a:off x="777240" y="4932934"/>
            <a:ext cx="147523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475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팬 진동 VS1</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그 값이 얼마이면 해당하는지가 정해져 있다</a:t>
            </a:r>
          </a:p>
        </p:txBody>
      </p:sp>
      <p:sp>
        <p:nvSpPr>
          <p:cNvPr id="16" name="Rounded Rectangle 15"/>
          <p:cNvSpPr/>
          <p:nvPr/>
        </p:nvSpPr>
        <p:spPr>
          <a:xfrm>
            <a:off x="4566818" y="4932934"/>
            <a:ext cx="1624584"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6245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0.9 mm/s 이상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a:t>
            </a:r>
          </a:p>
          <a:p>
            <a:pPr algn="l">
              <a:lnSpc>
                <a:spcPct val="110000"/>
              </a:lnSpc>
              <a:spcAft>
                <a:spcPts val="400"/>
              </a:spcAft>
            </a:pPr>
            <a:r>
              <a:rPr sz="1400" b="0">
                <a:solidFill>
                  <a:srgbClr val="1F2A3A"/>
                </a:solidFill>
                <a:latin typeface="맑은 고딕"/>
                <a:ea typeface="맑은 고딕"/>
                <a:cs typeface="맑은 고딕"/>
              </a:rPr>
              <a:t>잰 값을 기준에 대어 본다</a:t>
            </a:r>
          </a:p>
        </p:txBody>
      </p:sp>
      <p:sp>
        <p:nvSpPr>
          <p:cNvPr id="22" name="Rounded Rectangle 21"/>
          <p:cNvSpPr/>
          <p:nvPr/>
        </p:nvSpPr>
        <p:spPr>
          <a:xfrm>
            <a:off x="8356396" y="4932934"/>
            <a:ext cx="199948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999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0.575 → 해당 없음</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완화 조치와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증상을 우선 누르는 완화 조치와 원인을 없애는 근본 조치는 서로 다른 조치이다.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완화 조치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팬을 최대로 돌려 유온을 우선 낮춘다</a:t>
            </a:r>
          </a:p>
          <a:p>
            <a:pPr algn="l">
              <a:lnSpc>
                <a:spcPct val="110000"/>
              </a:lnSpc>
              <a:spcAft>
                <a:spcPts val="600"/>
              </a:spcAft>
            </a:pPr>
            <a:r>
              <a:rPr sz="1450" b="0">
                <a:solidFill>
                  <a:srgbClr val="1F2A3A"/>
                </a:solidFill>
                <a:latin typeface="맑은 고딕"/>
                <a:ea typeface="맑은 고딕"/>
                <a:cs typeface="맑은 고딕"/>
              </a:rPr>
              <a:t>• 쿨러의 핀은 막힌 그대로이다</a:t>
            </a:r>
          </a:p>
          <a:p>
            <a:pPr algn="l">
              <a:lnSpc>
                <a:spcPct val="110000"/>
              </a:lnSpc>
              <a:spcAft>
                <a:spcPts val="600"/>
              </a:spcAft>
            </a:pPr>
            <a:r>
              <a:rPr sz="1450" b="0">
                <a:solidFill>
                  <a:srgbClr val="1F2A3A"/>
                </a:solidFill>
                <a:latin typeface="맑은 고딕"/>
                <a:ea typeface="맑은 고딕"/>
                <a:cs typeface="맑은 고딕"/>
              </a:rPr>
              <a:t>• 냉각 효율은 55 %로 기준 아래에 남는다</a:t>
            </a:r>
          </a:p>
        </p:txBody>
      </p:sp>
      <p:sp>
        <p:nvSpPr>
          <p:cNvPr id="11" name="Rounded Rectangle 10"/>
          <p:cNvSpPr/>
          <p:nvPr/>
        </p:nvSpPr>
        <p:spPr>
          <a:xfrm>
            <a:off x="868680" y="4945570"/>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팬 최대 운전</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ool" descr="too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근본 조치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막힌 핀을 세척해 원인을 없앤다</a:t>
            </a:r>
          </a:p>
          <a:p>
            <a:pPr algn="l">
              <a:lnSpc>
                <a:spcPct val="110000"/>
              </a:lnSpc>
              <a:spcAft>
                <a:spcPts val="600"/>
              </a:spcAft>
            </a:pPr>
            <a:r>
              <a:rPr sz="1450" b="0">
                <a:solidFill>
                  <a:srgbClr val="1F2A3A"/>
                </a:solidFill>
                <a:latin typeface="맑은 고딕"/>
                <a:ea typeface="맑은 고딕"/>
                <a:cs typeface="맑은 고딕"/>
              </a:rPr>
              <a:t>• 설비를 세우고 해야 하는 작업이다</a:t>
            </a:r>
          </a:p>
          <a:p>
            <a:pPr algn="l">
              <a:lnSpc>
                <a:spcPct val="110000"/>
              </a:lnSpc>
              <a:spcAft>
                <a:spcPts val="600"/>
              </a:spcAft>
            </a:pPr>
            <a:r>
              <a:rPr sz="1450" b="0">
                <a:solidFill>
                  <a:srgbClr val="1F2A3A"/>
                </a:solidFill>
                <a:latin typeface="맑은 고딕"/>
                <a:ea typeface="맑은 고딕"/>
                <a:cs typeface="맑은 고딕"/>
              </a:rPr>
              <a:t>• 작업지시로 따로 등록된다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쿨러 핀 세척</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진동 인터록 2.0 mm/s에 걸려 PLC가 설비를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의미를 붙이면 정보가 되고, 정보가 다른 대상과 이어져 판단에 쓰일 수 있을 때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데이터</a:t>
            </a:r>
          </a:p>
          <a:p>
            <a:pPr algn="ctr">
              <a:lnSpc>
                <a:spcPct val="110000"/>
              </a:lnSpc>
              <a:spcAft>
                <a:spcPts val="400"/>
              </a:spcAft>
            </a:pPr>
            <a:r>
              <a:rPr sz="1350" b="0">
                <a:solidFill>
                  <a:srgbClr val="1F2A3A"/>
                </a:solidFill>
                <a:latin typeface="맑은 고딕"/>
                <a:ea typeface="맑은 고딕"/>
                <a:cs typeface="맑은 고딕"/>
              </a:rPr>
              <a:t>개별 수치이다</a:t>
            </a:r>
          </a:p>
          <a:p>
            <a:pPr algn="ctr">
              <a:lnSpc>
                <a:spcPct val="110000"/>
              </a:lnSpc>
              <a:spcAft>
                <a:spcPts val="400"/>
              </a:spcAft>
            </a:pPr>
            <a:r>
              <a:rPr sz="1350" b="0">
                <a:solidFill>
                  <a:srgbClr val="1F2A3A"/>
                </a:solidFill>
                <a:latin typeface="맑은 고딕"/>
                <a:ea typeface="맑은 고딕"/>
                <a:cs typeface="맑은 고딕"/>
              </a:rPr>
              <a:t>55.71</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info-circle" descr="info-circle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a:t>
            </a:r>
          </a:p>
          <a:p>
            <a:pPr algn="ctr">
              <a:lnSpc>
                <a:spcPct val="110000"/>
              </a:lnSpc>
              <a:spcAft>
                <a:spcPts val="400"/>
              </a:spcAft>
            </a:pPr>
            <a:r>
              <a:rPr sz="1350" b="0">
                <a:solidFill>
                  <a:srgbClr val="1F2A3A"/>
                </a:solidFill>
                <a:latin typeface="맑은 고딕"/>
                <a:ea typeface="맑은 고딕"/>
                <a:cs typeface="맑은 고딕"/>
              </a:rPr>
              <a:t>수치에 의미를 붙인 것이다</a:t>
            </a:r>
          </a:p>
          <a:p>
            <a:pPr algn="ctr">
              <a:lnSpc>
                <a:spcPct val="110000"/>
              </a:lnSpc>
              <a:spcAft>
                <a:spcPts val="400"/>
              </a:spcAft>
            </a:pPr>
            <a:r>
              <a:rPr sz="1350" b="0">
                <a:solidFill>
                  <a:srgbClr val="1F2A3A"/>
                </a:solidFill>
                <a:latin typeface="맑은 고딕"/>
                <a:ea typeface="맑은 고딕"/>
                <a:cs typeface="맑은 고딕"/>
              </a:rPr>
              <a:t>HYD-01의 유온 TS1이 55.71 ℃로</a:t>
            </a:r>
          </a:p>
          <a:p>
            <a:pPr algn="ctr">
              <a:lnSpc>
                <a:spcPct val="110000"/>
              </a:lnSpc>
              <a:spcAft>
                <a:spcPts val="400"/>
              </a:spcAft>
            </a:pPr>
            <a:r>
              <a:rPr sz="1350" b="0">
                <a:solidFill>
                  <a:srgbClr val="1F2A3A"/>
                </a:solidFill>
                <a:latin typeface="맑은 고딕"/>
                <a:ea typeface="맑은 고딕"/>
                <a:cs typeface="맑은 고딕"/>
              </a:rPr>
              <a:t>기준 55 ℃를 넘었다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bulb" descr="bulb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a:t>
            </a:r>
          </a:p>
          <a:p>
            <a:pPr algn="ctr">
              <a:lnSpc>
                <a:spcPct val="110000"/>
              </a:lnSpc>
              <a:spcAft>
                <a:spcPts val="400"/>
              </a:spcAft>
            </a:pPr>
            <a:r>
              <a:rPr sz="1350" b="0">
                <a:solidFill>
                  <a:srgbClr val="1F2A3A"/>
                </a:solidFill>
                <a:latin typeface="맑은 고딕"/>
                <a:ea typeface="맑은 고딕"/>
                <a:cs typeface="맑은 고딕"/>
              </a:rPr>
              <a:t>판단에 쓸 수 있게 이어진 것이다</a:t>
            </a:r>
          </a:p>
          <a:p>
            <a:pPr algn="ctr">
              <a:lnSpc>
                <a:spcPct val="110000"/>
              </a:lnSpc>
              <a:spcAft>
                <a:spcPts val="400"/>
              </a:spcAft>
            </a:pPr>
            <a:r>
              <a:rPr sz="1350" b="0">
                <a:solidFill>
                  <a:srgbClr val="1F2A3A"/>
                </a:solidFill>
                <a:latin typeface="맑은 고딕"/>
                <a:ea typeface="맑은 고딕"/>
                <a:cs typeface="맑은 고딕"/>
              </a:rPr>
              <a:t>유온 상승과 냉각 효율 저하는</a:t>
            </a:r>
          </a:p>
          <a:p>
            <a:pPr algn="ctr">
              <a:lnSpc>
                <a:spcPct val="110000"/>
              </a:lnSpc>
              <a:spcAft>
                <a:spcPts val="400"/>
              </a:spcAft>
            </a:pPr>
            <a:r>
              <a:rPr sz="1350" b="0">
                <a:solidFill>
                  <a:srgbClr val="1F2A3A"/>
                </a:solidFill>
                <a:latin typeface="맑은 고딕"/>
                <a:ea typeface="맑은 고딕"/>
                <a:cs typeface="맑은 고딕"/>
              </a:rPr>
              <a:t>쿨러의 냉각 성능 상실을 가리킨다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연습: 같은 사건의 데이터, 정보,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대상, 단위, 기준이 붙어야 정보가 되고, 정보가 원인과 조치로 이어져야 왜와 무엇을에 답하는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답할 수 있는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데이터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46.2</a:t>
            </a:r>
          </a:p>
          <a:p>
            <a:pPr algn="l">
              <a:lnSpc>
                <a:spcPct val="110000"/>
              </a:lnSpc>
            </a:pPr>
            <a:r>
              <a:rPr sz="1400" b="0">
                <a:solidFill>
                  <a:srgbClr val="1F2A3A"/>
                </a:solidFill>
                <a:latin typeface="맑은 고딕"/>
                <a:ea typeface="맑은 고딕"/>
                <a:cs typeface="맑은 고딕"/>
              </a:rPr>
              <a:t>무엇을 잰 값인지, 단위가 무엇인지, 높은지 정상인지 알 수 없다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HYD-01의 냉각 효율이 46.2 %이다</a:t>
            </a:r>
          </a:p>
          <a:p>
            <a:pPr algn="l">
              <a:lnSpc>
                <a:spcPct val="110000"/>
              </a:lnSpc>
            </a:pPr>
            <a:r>
              <a:rPr sz="1400" b="0">
                <a:solidFill>
                  <a:srgbClr val="1F2A3A"/>
                </a:solidFill>
                <a:latin typeface="맑은 고딕"/>
                <a:ea typeface="맑은 고딕"/>
                <a:cs typeface="맑은 고딕"/>
              </a:rPr>
              <a:t>수치에 대상과 단위가 붙었다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지금 얼마인가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기준 70 %보다 낮다</a:t>
            </a:r>
          </a:p>
          <a:p>
            <a:pPr algn="l">
              <a:lnSpc>
                <a:spcPct val="110000"/>
              </a:lnSpc>
            </a:pPr>
            <a:r>
              <a:rPr sz="1400" b="0">
                <a:solidFill>
                  <a:srgbClr val="1F2A3A"/>
                </a:solidFill>
                <a:latin typeface="맑은 고딕"/>
                <a:ea typeface="맑은 고딕"/>
                <a:cs typeface="맑은 고딕"/>
              </a:rPr>
              <a:t>수치에 기준이 붙었다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벗어났는가</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효율이 낮고 팬 진동이 정상이면 쿨러 핀 오염이다</a:t>
            </a:r>
          </a:p>
          <a:p>
            <a:pPr algn="l">
              <a:lnSpc>
                <a:spcPct val="110000"/>
              </a:lnSpc>
            </a:pPr>
            <a:r>
              <a:rPr sz="1400" b="0">
                <a:solidFill>
                  <a:srgbClr val="1F2A3A"/>
                </a:solidFill>
                <a:latin typeface="맑은 고딕"/>
                <a:ea typeface="맑은 고딕"/>
                <a:cs typeface="맑은 고딕"/>
              </a:rPr>
              <a:t>정보가 원인으로 이어졌다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왜 벗어났는가</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오염이면 핀을 세척한다</a:t>
            </a:r>
          </a:p>
          <a:p>
            <a:pPr algn="l">
              <a:lnSpc>
                <a:spcPct val="110000"/>
              </a:lnSpc>
            </a:pPr>
            <a:r>
              <a:rPr sz="1400" b="0">
                <a:solidFill>
                  <a:srgbClr val="1F2A3A"/>
                </a:solidFill>
                <a:latin typeface="맑은 고딕"/>
                <a:ea typeface="맑은 고딕"/>
                <a:cs typeface="맑은 고딕"/>
              </a:rPr>
              <a:t>원인이 조치로 이어졌다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할 것인가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흩어진정보.svg" descr="illust_2078394668695655785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TimescaleDB</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매뉴얼의 문장에 들어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판별 기준은 매뉴얼에 문장으로 있으나, 그것을 경보와 태그의 값과 조치에 잇는 연결은 어느 시스템에도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p>
          <a:p>
            <a:pPr algn="l">
              <a:lnSpc>
                <a:spcPct val="110000"/>
              </a:lnSpc>
              <a:spcAft>
                <a:spcPts val="200"/>
              </a:spcAft>
            </a:pP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70 %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평균이</a:t>
            </a:r>
          </a:p>
          <a:p>
            <a:pPr algn="l">
              <a:lnSpc>
                <a:spcPct val="110000"/>
              </a:lnSpc>
              <a:spcAft>
                <a:spcPts val="200"/>
              </a:spcAft>
            </a:pPr>
            <a:r>
              <a:rPr sz="1300" b="0">
                <a:solidFill>
                  <a:srgbClr val="E8EEF6"/>
                </a:solidFill>
                <a:latin typeface="Consolas"/>
                <a:ea typeface="맑은 고딕"/>
                <a:cs typeface="맑은 고딕"/>
              </a:rPr>
              <a:t>0.9 mm/s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이면</a:t>
            </a:r>
          </a:p>
          <a:p>
            <a:pPr algn="l">
              <a:lnSpc>
                <a:spcPct val="110000"/>
              </a:lnSpc>
              <a:spcAft>
                <a:spcPts val="200"/>
              </a:spcAft>
            </a:pP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원인 후보, 확인할 값, 기준이다. 사람이 읽고 해석해야 하는 문장이다. 아래 세 연결은 없다.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경보 → 매뉴얼 대목</a:t>
            </a:r>
          </a:p>
          <a:p>
            <a:pPr algn="l">
              <a:lnSpc>
                <a:spcPct val="110000"/>
              </a:lnSpc>
              <a:spcAft>
                <a:spcPts val="400"/>
              </a:spcAft>
            </a:pPr>
            <a:r>
              <a:rPr sz="1400" b="0">
                <a:solidFill>
                  <a:srgbClr val="1F2A3A"/>
                </a:solidFill>
                <a:latin typeface="맑은 고딕"/>
                <a:ea typeface="맑은 고딕"/>
                <a:cs typeface="맑은 고딕"/>
              </a:rPr>
              <a:t>이 경보에는 매뉴얼의 어느 대목이 해당하는가</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기준 → 태그 값</a:t>
            </a:r>
          </a:p>
          <a:p>
            <a:pPr algn="l">
              <a:lnSpc>
                <a:spcPct val="110000"/>
              </a:lnSpc>
              <a:spcAft>
                <a:spcPts val="400"/>
              </a:spcAft>
            </a:pPr>
            <a:r>
              <a:rPr sz="1400" b="0">
                <a:solidFill>
                  <a:srgbClr val="1F2A3A"/>
                </a:solidFill>
                <a:latin typeface="맑은 고딕"/>
                <a:ea typeface="맑은 고딕"/>
                <a:cs typeface="맑은 고딕"/>
              </a:rPr>
              <a:t>그 대목의 기준은 어느 태그의 값과 비교하는가</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원인 → 조치</a:t>
            </a:r>
          </a:p>
          <a:p>
            <a:pPr algn="l">
              <a:lnSpc>
                <a:spcPct val="110000"/>
              </a:lnSpc>
              <a:spcAft>
                <a:spcPts val="400"/>
              </a:spcAft>
            </a:pPr>
            <a:r>
              <a:rPr sz="1400" b="0">
                <a:solidFill>
                  <a:srgbClr val="1F2A3A"/>
                </a:solidFill>
                <a:latin typeface="맑은 고딕"/>
                <a:ea typeface="맑은 고딕"/>
                <a:cs typeface="맑은 고딕"/>
              </a:rPr>
              <a:t>그 원인이면 어떤 조치가 맞는가</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숙련자가 증상에서 조치까지를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지금까지는 숙련자가 흩어진 정보를 머릿속에서 이어 증상에서 조치에 이르렀다.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증상 확인</a:t>
            </a:r>
          </a:p>
          <a:p>
            <a:pPr algn="ctr">
              <a:lnSpc>
                <a:spcPct val="110000"/>
              </a:lnSpc>
              <a:spcAft>
                <a:spcPts val="400"/>
              </a:spcAft>
            </a:pPr>
            <a:r>
              <a:rPr sz="1250" b="0">
                <a:solidFill>
                  <a:srgbClr val="1F2A3A"/>
                </a:solidFill>
                <a:latin typeface="맑은 고딕"/>
                <a:ea typeface="맑은 고딕"/>
                <a:cs typeface="맑은 고딕"/>
              </a:rPr>
              <a:t>경보와 화면에서</a:t>
            </a:r>
          </a:p>
          <a:p>
            <a:pPr algn="ctr">
              <a:lnSpc>
                <a:spcPct val="110000"/>
              </a:lnSpc>
              <a:spcAft>
                <a:spcPts val="400"/>
              </a:spcAft>
            </a:pPr>
            <a:r>
              <a:rPr sz="1250" b="0">
                <a:solidFill>
                  <a:srgbClr val="1F2A3A"/>
                </a:solidFill>
                <a:latin typeface="맑은 고딕"/>
                <a:ea typeface="맑은 고딕"/>
                <a:cs typeface="맑은 고딕"/>
              </a:rPr>
              <a:t>유온이 오르고</a:t>
            </a:r>
          </a:p>
          <a:p>
            <a:pPr algn="ctr">
              <a:lnSpc>
                <a:spcPct val="110000"/>
              </a:lnSpc>
              <a:spcAft>
                <a:spcPts val="400"/>
              </a:spcAft>
            </a:pPr>
            <a:r>
              <a:rPr sz="1250" b="0">
                <a:solidFill>
                  <a:srgbClr val="1F2A3A"/>
                </a:solidFill>
                <a:latin typeface="맑은 고딕"/>
                <a:ea typeface="맑은 고딕"/>
                <a:cs typeface="맑은 고딕"/>
              </a:rPr>
              <a:t>냉각 효율이</a:t>
            </a:r>
          </a:p>
          <a:p>
            <a:pPr algn="ctr">
              <a:lnSpc>
                <a:spcPct val="110000"/>
              </a:lnSpc>
              <a:spcAft>
                <a:spcPts val="400"/>
              </a:spcAft>
            </a:pPr>
            <a:r>
              <a:rPr sz="1250" b="0">
                <a:solidFill>
                  <a:srgbClr val="1F2A3A"/>
                </a:solidFill>
                <a:latin typeface="맑은 고딕"/>
                <a:ea typeface="맑은 고딕"/>
                <a:cs typeface="맑은 고딕"/>
              </a:rPr>
              <a:t>떨어진 것을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고장 유형 짐작</a:t>
            </a:r>
          </a:p>
          <a:p>
            <a:pPr algn="ctr">
              <a:lnSpc>
                <a:spcPct val="110000"/>
              </a:lnSpc>
              <a:spcAft>
                <a:spcPts val="400"/>
              </a:spcAft>
            </a:pPr>
            <a:r>
              <a:rPr sz="1250" b="0">
                <a:solidFill>
                  <a:srgbClr val="1F2A3A"/>
                </a:solidFill>
                <a:latin typeface="맑은 고딕"/>
                <a:ea typeface="맑은 고딕"/>
                <a:cs typeface="맑은 고딕"/>
              </a:rPr>
              <a:t>이 증상이면</a:t>
            </a:r>
          </a:p>
          <a:p>
            <a:pPr algn="ctr">
              <a:lnSpc>
                <a:spcPct val="110000"/>
              </a:lnSpc>
              <a:spcAft>
                <a:spcPts val="400"/>
              </a:spcAft>
            </a:pPr>
            <a:r>
              <a:rPr sz="1250" b="0">
                <a:solidFill>
                  <a:srgbClr val="1F2A3A"/>
                </a:solidFill>
                <a:latin typeface="맑은 고딕"/>
                <a:ea typeface="맑은 고딕"/>
                <a:cs typeface="맑은 고딕"/>
              </a:rPr>
              <a:t>쿨러가 식히는</a:t>
            </a:r>
          </a:p>
          <a:p>
            <a:pPr algn="ctr">
              <a:lnSpc>
                <a:spcPct val="110000"/>
              </a:lnSpc>
              <a:spcAft>
                <a:spcPts val="400"/>
              </a:spcAft>
            </a:pPr>
            <a:r>
              <a:rPr sz="1250" b="0">
                <a:solidFill>
                  <a:srgbClr val="1F2A3A"/>
                </a:solidFill>
                <a:latin typeface="맑은 고딕"/>
                <a:ea typeface="맑은 고딕"/>
                <a:cs typeface="맑은 고딕"/>
              </a:rPr>
              <a:t>능력을 잃은</a:t>
            </a:r>
          </a:p>
          <a:p>
            <a:pPr algn="ctr">
              <a:lnSpc>
                <a:spcPct val="110000"/>
              </a:lnSpc>
              <a:spcAft>
                <a:spcPts val="400"/>
              </a:spcAft>
            </a:pPr>
            <a:r>
              <a:rPr sz="1250" b="0">
                <a:solidFill>
                  <a:srgbClr val="1F2A3A"/>
                </a:solidFill>
                <a:latin typeface="맑은 고딕"/>
                <a:ea typeface="맑은 고딕"/>
                <a:cs typeface="맑은 고딕"/>
              </a:rPr>
              <a:t>것이라고 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경험과 매뉴얼에서</a:t>
            </a:r>
          </a:p>
          <a:p>
            <a:pPr algn="ctr">
              <a:lnSpc>
                <a:spcPct val="110000"/>
              </a:lnSpc>
              <a:spcAft>
                <a:spcPts val="400"/>
              </a:spcAft>
            </a:pPr>
            <a:r>
              <a:rPr sz="1250" b="0">
                <a:solidFill>
                  <a:srgbClr val="1F2A3A"/>
                </a:solidFill>
                <a:latin typeface="맑은 고딕"/>
                <a:ea typeface="맑은 고딕"/>
                <a:cs typeface="맑은 고딕"/>
              </a:rPr>
              <a:t>핀 오염,</a:t>
            </a:r>
          </a:p>
          <a:p>
            <a:pPr algn="ctr">
              <a:lnSpc>
                <a:spcPct val="110000"/>
              </a:lnSpc>
              <a:spcAft>
                <a:spcPts val="400"/>
              </a:spcAft>
            </a:pPr>
            <a:r>
              <a:rPr sz="1250" b="0">
                <a:solidFill>
                  <a:srgbClr val="1F2A3A"/>
                </a:solidFill>
                <a:latin typeface="맑은 고딕"/>
                <a:ea typeface="맑은 고딕"/>
                <a:cs typeface="맑은 고딕"/>
              </a:rPr>
              <a:t>팬 구동 불량,</a:t>
            </a:r>
          </a:p>
          <a:p>
            <a:pPr algn="ctr">
              <a:lnSpc>
                <a:spcPct val="110000"/>
              </a:lnSpc>
              <a:spcAft>
                <a:spcPts val="400"/>
              </a:spcAft>
            </a:pPr>
            <a:r>
              <a:rPr sz="1250" b="0">
                <a:solidFill>
                  <a:srgbClr val="1F2A3A"/>
                </a:solidFill>
                <a:latin typeface="맑은 고딕"/>
                <a:ea typeface="맑은 고딕"/>
                <a:cs typeface="맑은 고딕"/>
              </a:rPr>
              <a:t>주변 온도를 꼽는다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증거 대조</a:t>
            </a:r>
          </a:p>
          <a:p>
            <a:pPr algn="ctr">
              <a:lnSpc>
                <a:spcPct val="110000"/>
              </a:lnSpc>
              <a:spcAft>
                <a:spcPts val="400"/>
              </a:spcAft>
            </a:pPr>
            <a:r>
              <a:rPr sz="1250" b="0">
                <a:solidFill>
                  <a:srgbClr val="1F2A3A"/>
                </a:solidFill>
                <a:latin typeface="맑은 고딕"/>
                <a:ea typeface="맑은 고딕"/>
                <a:cs typeface="맑은 고딕"/>
              </a:rPr>
              <a:t>후보마다 어느</a:t>
            </a:r>
          </a:p>
          <a:p>
            <a:pPr algn="ctr">
              <a:lnSpc>
                <a:spcPct val="110000"/>
              </a:lnSpc>
              <a:spcAft>
                <a:spcPts val="400"/>
              </a:spcAft>
            </a:pPr>
            <a:r>
              <a:rPr sz="1250" b="0">
                <a:solidFill>
                  <a:srgbClr val="1F2A3A"/>
                </a:solidFill>
                <a:latin typeface="맑은 고딕"/>
                <a:ea typeface="맑은 고딕"/>
                <a:cs typeface="맑은 고딕"/>
              </a:rPr>
              <a:t>센서를 볼지 알고</a:t>
            </a:r>
          </a:p>
          <a:p>
            <a:pPr algn="ctr">
              <a:lnSpc>
                <a:spcPct val="110000"/>
              </a:lnSpc>
              <a:spcAft>
                <a:spcPts val="400"/>
              </a:spcAft>
            </a:pPr>
            <a:r>
              <a:rPr sz="1250" b="0">
                <a:solidFill>
                  <a:srgbClr val="1F2A3A"/>
                </a:solidFill>
                <a:latin typeface="맑은 고딕"/>
                <a:ea typeface="맑은 고딕"/>
                <a:cs typeface="맑은 고딕"/>
              </a:rPr>
              <a:t>값을 찾아</a:t>
            </a:r>
          </a:p>
          <a:p>
            <a:pPr algn="ctr">
              <a:lnSpc>
                <a:spcPct val="110000"/>
              </a:lnSpc>
              <a:spcAft>
                <a:spcPts val="400"/>
              </a:spcAft>
            </a:pPr>
            <a:r>
              <a:rPr sz="1250" b="0">
                <a:solidFill>
                  <a:srgbClr val="1F2A3A"/>
                </a:solidFill>
                <a:latin typeface="맑은 고딕"/>
                <a:ea typeface="맑은 고딕"/>
                <a:cs typeface="맑은 고딕"/>
              </a:rPr>
              <a:t>기준과 비교한다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 선택</a:t>
            </a:r>
          </a:p>
          <a:p>
            <a:pPr algn="ctr">
              <a:lnSpc>
                <a:spcPct val="110000"/>
              </a:lnSpc>
              <a:spcAft>
                <a:spcPts val="400"/>
              </a:spcAft>
            </a:pPr>
            <a:r>
              <a:rPr sz="1250" b="0">
                <a:solidFill>
                  <a:srgbClr val="1F2A3A"/>
                </a:solidFill>
                <a:latin typeface="맑은 고딕"/>
                <a:ea typeface="맑은 고딕"/>
                <a:cs typeface="맑은 고딕"/>
              </a:rPr>
              <a:t>원인에 맞는</a:t>
            </a:r>
          </a:p>
          <a:p>
            <a:pPr algn="ctr">
              <a:lnSpc>
                <a:spcPct val="110000"/>
              </a:lnSpc>
              <a:spcAft>
                <a:spcPts val="400"/>
              </a:spcAft>
            </a:pPr>
            <a:r>
              <a:rPr sz="1250" b="0">
                <a:solidFill>
                  <a:srgbClr val="1F2A3A"/>
                </a:solidFill>
                <a:latin typeface="맑은 고딕"/>
                <a:ea typeface="맑은 고딕"/>
                <a:cs typeface="맑은 고딕"/>
              </a:rPr>
              <a:t>조치를 고르고</a:t>
            </a:r>
          </a:p>
          <a:p>
            <a:pPr algn="ctr">
              <a:lnSpc>
                <a:spcPct val="110000"/>
              </a:lnSpc>
              <a:spcAft>
                <a:spcPts val="400"/>
              </a:spcAft>
            </a:pPr>
            <a:r>
              <a:rPr sz="1250" b="0">
                <a:solidFill>
                  <a:srgbClr val="1F2A3A"/>
                </a:solidFill>
                <a:latin typeface="맑은 고딕"/>
                <a:ea typeface="맑은 고딕"/>
                <a:cs typeface="맑은 고딕"/>
              </a:rPr>
              <a:t>생산 일정과</a:t>
            </a:r>
          </a:p>
          <a:p>
            <a:pPr algn="ctr">
              <a:lnSpc>
                <a:spcPct val="110000"/>
              </a:lnSpc>
              <a:spcAft>
                <a:spcPts val="400"/>
              </a:spcAft>
            </a:pPr>
            <a:r>
              <a:rPr sz="1250" b="0">
                <a:solidFill>
                  <a:srgbClr val="1F2A3A"/>
                </a:solidFill>
                <a:latin typeface="맑은 고딕"/>
                <a:ea typeface="맑은 고딕"/>
                <a:cs typeface="맑은 고딕"/>
              </a:rPr>
              <a:t>함께 따진다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표와 문서에 적어 두는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표와 문서는 사람이 읽기에는 충분하지만 대상 사이의 연결을 컴퓨터가 따라가기에는 맞지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표에 적는다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증상, 원인, 조치를 칸에 나누어 적는다</a:t>
            </a:r>
          </a:p>
          <a:p>
            <a:pPr algn="l">
              <a:lnSpc>
                <a:spcPct val="110000"/>
              </a:lnSpc>
              <a:spcAft>
                <a:spcPts val="600"/>
              </a:spcAft>
            </a:pPr>
            <a:r>
              <a:rPr sz="1450" b="0">
                <a:solidFill>
                  <a:srgbClr val="1F2A3A"/>
                </a:solidFill>
                <a:latin typeface="맑은 고딕"/>
                <a:ea typeface="맑은 고딕"/>
                <a:cs typeface="맑은 고딕"/>
              </a:rPr>
              <a:t>• 한 고장에 원인이 여럿이고 원인마다 증거가 여럿이면 칸이 반복된다</a:t>
            </a:r>
          </a:p>
          <a:p>
            <a:pPr algn="l">
              <a:lnSpc>
                <a:spcPct val="110000"/>
              </a:lnSpc>
              <a:spcAft>
                <a:spcPts val="600"/>
              </a:spcAft>
            </a:pPr>
            <a:r>
              <a:rPr sz="1450" b="0">
                <a:solidFill>
                  <a:srgbClr val="1F2A3A"/>
                </a:solidFill>
                <a:latin typeface="맑은 고딕"/>
                <a:ea typeface="맑은 고딕"/>
                <a:cs typeface="맑은 고딕"/>
              </a:rPr>
              <a:t>• 예: 「쿨러 냉각 성능 상실」이 원인 셋과 확인할 값 CE · VS1 · VS1 · TS4의 네 줄에 반복된다</a:t>
            </a:r>
          </a:p>
          <a:p>
            <a:pPr algn="l">
              <a:lnSpc>
                <a:spcPct val="110000"/>
              </a:lnSpc>
              <a:spcAft>
                <a:spcPts val="600"/>
              </a:spcAft>
            </a:pPr>
            <a:r>
              <a:rPr sz="1450" b="0">
                <a:solidFill>
                  <a:srgbClr val="1F2A3A"/>
                </a:solidFill>
                <a:latin typeface="맑은 고딕"/>
                <a:ea typeface="맑은 고딕"/>
                <a:cs typeface="맑은 고딕"/>
              </a:rPr>
              <a:t>• 여러 표를 건너가며 이어 붙이는 일은 다시 사람의 몫이 된다</a:t>
            </a:r>
          </a:p>
        </p:txBody>
      </p:sp>
      <p:sp>
        <p:nvSpPr>
          <p:cNvPr id="11" name="Rounded Rectangle 10"/>
          <p:cNvSpPr/>
          <p:nvPr/>
        </p:nvSpPr>
        <p:spPr>
          <a:xfrm>
            <a:off x="868680" y="5547296"/>
            <a:ext cx="17221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연결이 칸 밖에 있다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문서에 적는다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HM-8처럼 문장으로 풀어 적는다</a:t>
            </a:r>
          </a:p>
          <a:p>
            <a:pPr algn="l">
              <a:lnSpc>
                <a:spcPct val="110000"/>
              </a:lnSpc>
              <a:spcAft>
                <a:spcPts val="600"/>
              </a:spcAft>
            </a:pPr>
            <a:r>
              <a:rPr sz="1450" b="0">
                <a:solidFill>
                  <a:srgbClr val="1F2A3A"/>
                </a:solidFill>
                <a:latin typeface="맑은 고딕"/>
                <a:ea typeface="맑은 고딕"/>
                <a:cs typeface="맑은 고딕"/>
              </a:rPr>
              <a:t>• 사람이 읽고 해석해야 판단에 쓸 수 있다</a:t>
            </a:r>
          </a:p>
          <a:p>
            <a:pPr algn="l">
              <a:lnSpc>
                <a:spcPct val="110000"/>
              </a:lnSpc>
              <a:spcAft>
                <a:spcPts val="600"/>
              </a:spcAft>
            </a:pPr>
            <a:r>
              <a:rPr sz="1450" b="0">
                <a:solidFill>
                  <a:srgbClr val="1F2A3A"/>
                </a:solidFill>
                <a:latin typeface="맑은 고딕"/>
                <a:ea typeface="맑은 고딕"/>
                <a:cs typeface="맑은 고딕"/>
              </a:rPr>
              <a:t>• 문서마다 같은 대상을 다른 말로 부르기도 한다</a:t>
            </a:r>
          </a:p>
        </p:txBody>
      </p:sp>
      <p:sp>
        <p:nvSpPr>
          <p:cNvPr id="18" name="Rounded Rectangle 17"/>
          <p:cNvSpPr/>
          <p:nvPr/>
        </p:nvSpPr>
        <p:spPr>
          <a:xfrm>
            <a:off x="6781647" y="5547296"/>
            <a:ext cx="147828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해석이 필요하다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프로그램 코드에 넣는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코드에 직접 넣으면 컴퓨터는 실행할 수 있지만 지식이 코드 안에 묻혀 고치거나 설명하기 어렵다.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코드로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옮긴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if ts1 &gt; 55 and ce &lt; 70:</a:t>
            </a:r>
          </a:p>
          <a:p>
            <a:pPr algn="l">
              <a:lnSpc>
                <a:spcPct val="110000"/>
              </a:lnSpc>
              <a:spcAft>
                <a:spcPts val="200"/>
              </a:spcAft>
            </a:pPr>
            <a:r>
              <a:rPr sz="1300" b="0">
                <a:solidFill>
                  <a:srgbClr val="E8EEF6"/>
                </a:solidFill>
                <a:latin typeface="Consolas"/>
                <a:ea typeface="맑은 고딕"/>
                <a:cs typeface="맑은 고딕"/>
              </a:rPr>
              <a:t>    if vs1 &gt;= 0.9:</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elif ts4 &gt;= 35:</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else:</a:t>
            </a:r>
          </a:p>
          <a:p>
            <a:pPr algn="l">
              <a:lnSpc>
                <a:spcPct val="110000"/>
              </a:lnSpc>
              <a:spcAft>
                <a:spcPts val="200"/>
              </a:spcAft>
            </a:pPr>
            <a:r>
              <a:rPr sz="1300" b="0">
                <a:solidFill>
                  <a:srgbClr val="E8EEF6"/>
                </a:solidFill>
                <a:latin typeface="Consolas"/>
                <a:ea typeface="맑은 고딕"/>
                <a:cs typeface="맑은 고딕"/>
              </a:rPr>
              <a:t>        cause =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fan_speed = 100</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되는 일</a:t>
            </a:r>
          </a:p>
          <a:p>
            <a:pPr algn="l">
              <a:lnSpc>
                <a:spcPct val="110000"/>
              </a:lnSpc>
              <a:spcAft>
                <a:spcPts val="400"/>
              </a:spcAft>
            </a:pPr>
            <a:r>
              <a:rPr sz="1400" b="0">
                <a:solidFill>
                  <a:srgbClr val="1F2A3A"/>
                </a:solidFill>
                <a:latin typeface="맑은 고딕"/>
                <a:ea typeface="맑은 고딕"/>
                <a:cs typeface="맑은 고딕"/>
              </a:rPr>
              <a:t>조건과 결과를 그대로 옮겼으므로 컴퓨터가 바로 실행한다.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고치기 어렵다</a:t>
            </a:r>
          </a:p>
          <a:p>
            <a:pPr algn="l">
              <a:lnSpc>
                <a:spcPct val="110000"/>
              </a:lnSpc>
              <a:spcAft>
                <a:spcPts val="400"/>
              </a:spcAft>
            </a:pPr>
            <a:r>
              <a:rPr sz="1400" b="0">
                <a:solidFill>
                  <a:srgbClr val="1F2A3A"/>
                </a:solidFill>
                <a:latin typeface="맑은 고딕"/>
                <a:ea typeface="맑은 고딕"/>
                <a:cs typeface="맑은 고딕"/>
              </a:rPr>
              <a:t>매뉴얼의 기준이나 원인 후보가 바뀔 때마다 개발자가 코드를 고쳐야 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설명하기 어렵다</a:t>
            </a:r>
          </a:p>
          <a:p>
            <a:pPr algn="l">
              <a:lnSpc>
                <a:spcPct val="110000"/>
              </a:lnSpc>
              <a:spcAft>
                <a:spcPts val="400"/>
              </a:spcAft>
            </a:pPr>
            <a:r>
              <a:rPr sz="1400" b="0">
                <a:solidFill>
                  <a:srgbClr val="1F2A3A"/>
                </a:solidFill>
                <a:latin typeface="맑은 고딕"/>
                <a:ea typeface="맑은 고딕"/>
                <a:cs typeface="맑은 고딕"/>
              </a:rPr>
              <a:t>왜 그 원인인지, 근거가 매뉴얼의 어디인지가 코드에 남지 않는다.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표와 문서의 장점</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장점</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코드의 약점을 피한다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Layer 7</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대상을 가리키는 여러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사람마다 다르게 부르는 말을 하나의 대상에 묶어 누구에게나 같은 뜻이 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821178"/>
            <a:ext cx="731520" cy="731520"/>
          </a:xfrm>
          <a:prstGeom prst="ellipse">
            <a:avLst/>
          </a:prstGeom>
          <a:solidFill>
            <a:srgbClr val="5CB8F2"/>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유온 상승</a:t>
            </a:r>
          </a:p>
          <a:p>
            <a:pPr algn="l">
              <a:lnSpc>
                <a:spcPct val="110000"/>
              </a:lnSpc>
              <a:spcAft>
                <a:spcPts val="400"/>
              </a:spcAft>
            </a:pPr>
            <a:r>
              <a:rPr sz="1400" b="0">
                <a:solidFill>
                  <a:srgbClr val="1F2A3A"/>
                </a:solidFill>
                <a:latin typeface="맑은 고딕"/>
                <a:ea typeface="맑은 고딕"/>
                <a:cs typeface="맑은 고딕"/>
              </a:rPr>
              <a:t>「온도 상승」, 「과열」이라고도 부른다</a:t>
            </a:r>
          </a:p>
        </p:txBody>
      </p:sp>
      <p:sp>
        <p:nvSpPr>
          <p:cNvPr id="10" name="Rounded Rectangle 9"/>
          <p:cNvSpPr/>
          <p:nvPr/>
        </p:nvSpPr>
        <p:spPr>
          <a:xfrm>
            <a:off x="777240" y="4932934"/>
            <a:ext cx="8229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wind" descr="wind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냉각 효율 저하</a:t>
            </a:r>
          </a:p>
          <a:p>
            <a:pPr algn="l">
              <a:lnSpc>
                <a:spcPct val="110000"/>
              </a:lnSpc>
              <a:spcAft>
                <a:spcPts val="400"/>
              </a:spcAft>
            </a:pPr>
            <a:r>
              <a:rPr sz="1400" b="0">
                <a:solidFill>
                  <a:srgbClr val="1F2A3A"/>
                </a:solidFill>
                <a:latin typeface="맑은 고딕"/>
                <a:ea typeface="맑은 고딕"/>
                <a:cs typeface="맑은 고딕"/>
              </a:rPr>
              <a:t>「냉각 불량」이라고도 부른다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진동 증가</a:t>
            </a:r>
          </a:p>
          <a:p>
            <a:pPr algn="l">
              <a:lnSpc>
                <a:spcPct val="110000"/>
              </a:lnSpc>
              <a:spcAft>
                <a:spcPts val="400"/>
              </a:spcAft>
            </a:pPr>
            <a:r>
              <a:rPr sz="1400" b="0">
                <a:solidFill>
                  <a:srgbClr val="1F2A3A"/>
                </a:solidFill>
                <a:latin typeface="맑은 고딕"/>
                <a:ea typeface="맑은 고딕"/>
                <a:cs typeface="맑은 고딕"/>
              </a:rPr>
              <a:t>「떨림」, 「소음」이라고도 부른다</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증상</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쓴다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pic>
        <p:nvPicPr>
          <p:cNvPr id="6" name="삽화:노드관계.svg" descr="illust_424002242425601618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문장으로 읽는 법: 주어, 서술어, 목적어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화살표가 나가는 쪽을 주어, 관계 이름을 서술어, 들어가는 쪽을 목적어로 읽으면 관계 하나가 문장 하나가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lame" descr="flam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CAUSES</a:t>
            </a:r>
          </a:p>
          <a:p>
            <a:pPr algn="l">
              <a:lnSpc>
                <a:spcPct val="110000"/>
              </a:lnSpc>
              <a:spcAft>
                <a:spcPts val="400"/>
              </a:spcAft>
            </a:pPr>
            <a:r>
              <a:rPr sz="1400" b="0">
                <a:solidFill>
                  <a:srgbClr val="1F2A3A"/>
                </a:solidFill>
                <a:latin typeface="맑은 고딕"/>
                <a:ea typeface="맑은 고딕"/>
                <a:cs typeface="맑은 고딕"/>
              </a:rPr>
              <a:t>• 핀 오염 → 냉각 성능 상실</a:t>
            </a:r>
          </a:p>
          <a:p>
            <a:pPr algn="l">
              <a:lnSpc>
                <a:spcPct val="110000"/>
              </a:lnSpc>
              <a:spcAft>
                <a:spcPts val="400"/>
              </a:spcAft>
            </a:pPr>
            <a:r>
              <a:rPr sz="1400" b="0">
                <a:solidFill>
                  <a:srgbClr val="1F2A3A"/>
                </a:solidFill>
                <a:latin typeface="맑은 고딕"/>
                <a:ea typeface="맑은 고딕"/>
                <a:cs typeface="맑은 고딕"/>
              </a:rPr>
              <a:t>• 핀 오염은 냉각 성능 상실을 일으킨다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일으킨다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guide" descr="arrow-guid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INDICATES</a:t>
            </a:r>
          </a:p>
          <a:p>
            <a:pPr algn="l">
              <a:lnSpc>
                <a:spcPct val="110000"/>
              </a:lnSpc>
              <a:spcAft>
                <a:spcPts val="400"/>
              </a:spcAft>
            </a:pPr>
            <a:r>
              <a:rPr sz="1400" b="0">
                <a:solidFill>
                  <a:srgbClr val="1F2A3A"/>
                </a:solidFill>
                <a:latin typeface="맑은 고딕"/>
                <a:ea typeface="맑은 고딕"/>
                <a:cs typeface="맑은 고딕"/>
              </a:rPr>
              <a:t>• 유온 상승 → 냉각 성능 상실</a:t>
            </a:r>
          </a:p>
          <a:p>
            <a:pPr algn="l">
              <a:lnSpc>
                <a:spcPct val="110000"/>
              </a:lnSpc>
              <a:spcAft>
                <a:spcPts val="400"/>
              </a:spcAft>
            </a:pPr>
            <a:r>
              <a:rPr sz="1400" b="0">
                <a:solidFill>
                  <a:srgbClr val="1F2A3A"/>
                </a:solidFill>
                <a:latin typeface="맑은 고딕"/>
                <a:ea typeface="맑은 고딕"/>
                <a:cs typeface="맑은 고딕"/>
              </a:rPr>
              <a:t>• 유온 상승은 냉각 성능 상실을 가리킨다</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가리킨다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MITIGATED_BY</a:t>
            </a:r>
          </a:p>
          <a:p>
            <a:pPr algn="l">
              <a:lnSpc>
                <a:spcPct val="110000"/>
              </a:lnSpc>
              <a:spcAft>
                <a:spcPts val="400"/>
              </a:spcAft>
            </a:pPr>
            <a:r>
              <a:rPr sz="1400" b="0">
                <a:solidFill>
                  <a:srgbClr val="1F2A3A"/>
                </a:solidFill>
                <a:latin typeface="맑은 고딕"/>
                <a:ea typeface="맑은 고딕"/>
                <a:cs typeface="맑은 고딕"/>
              </a:rPr>
              <a:t>• 냉각 성능 상실 → 팬 최대 운전</a:t>
            </a:r>
          </a:p>
          <a:p>
            <a:pPr algn="l">
              <a:lnSpc>
                <a:spcPct val="110000"/>
              </a:lnSpc>
              <a:spcAft>
                <a:spcPts val="400"/>
              </a:spcAft>
            </a:pPr>
            <a:r>
              <a:rPr sz="1400" b="0">
                <a:solidFill>
                  <a:srgbClr val="1F2A3A"/>
                </a:solidFill>
                <a:latin typeface="맑은 고딕"/>
                <a:ea typeface="맑은 고딕"/>
                <a:cs typeface="맑은 고딕"/>
              </a:rPr>
              <a:t>• 냉각 성능 상실은 팬 최대 운전으로 완화된다</a:t>
            </a:r>
          </a:p>
        </p:txBody>
      </p:sp>
      <p:sp>
        <p:nvSpPr>
          <p:cNvPr id="22" name="Rounded Rectangle 21"/>
          <p:cNvSpPr/>
          <p:nvPr/>
        </p:nvSpPr>
        <p:spPr>
          <a:xfrm>
            <a:off x="8356396" y="5041392"/>
            <a:ext cx="140512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4051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~으로 완화된다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pic>
        <p:nvPicPr>
          <p:cNvPr id="6" name="삽화:관계.svg" descr="illust_575606003209945383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①: 경보에서 고장 유형까지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컴퓨터는 경보에 실려 온 패턴 이름에서 출발해 DETECTS와 INDICATES를 따라 고장 유형에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pic>
        <p:nvPicPr>
          <p:cNvPr id="6" name="삽화:경로_1.svg" descr="illust_781056413764071965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AnomalyPattern</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Symptom</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4104864" y="1982190"/>
            <a:ext cx="152732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FailureMode</a:t>
            </a:r>
          </a:p>
          <a:p>
            <a:pPr algn="ctr">
              <a:lnSpc>
                <a:spcPct val="110000"/>
              </a:lnSpc>
              <a:spcAft>
                <a:spcPts val="100"/>
              </a:spcAft>
            </a:pPr>
            <a:r>
              <a:rPr sz="1300" b="0">
                <a:solidFill>
                  <a:srgbClr val="556175"/>
                </a:solidFill>
                <a:latin typeface="맑은 고딕"/>
                <a:ea typeface="맑은 고딕"/>
                <a:cs typeface="맑은 고딕"/>
              </a:rPr>
              <a:t>쿨러 냉각</a:t>
            </a:r>
          </a:p>
          <a:p>
            <a:pPr algn="ctr">
              <a:lnSpc>
                <a:spcPct val="110000"/>
              </a:lnSpc>
              <a:spcAft>
                <a:spcPts val="100"/>
              </a:spcAft>
            </a:pPr>
            <a:r>
              <a:rPr sz="1300" b="0">
                <a:solidFill>
                  <a:srgbClr val="556175"/>
                </a:solidFill>
                <a:latin typeface="맑은 고딕"/>
                <a:ea typeface="맑은 고딕"/>
                <a:cs typeface="맑은 고딕"/>
              </a:rPr>
              <a:t>성능 상실</a:t>
            </a:r>
          </a:p>
        </p:txBody>
      </p:sp>
      <p:sp>
        <p:nvSpPr>
          <p:cNvPr id="10" name="TextBox 9"/>
          <p:cNvSpPr txBox="1"/>
          <p:nvPr/>
        </p:nvSpPr>
        <p:spPr>
          <a:xfrm>
            <a:off x="1721140" y="394408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a:p>
            <a:pPr algn="ctr">
              <a:lnSpc>
                <a:spcPct val="110000"/>
              </a:lnSpc>
              <a:spcAft>
                <a:spcPts val="100"/>
              </a:spcAft>
            </a:pPr>
            <a:r>
              <a:rPr sz="1300" b="0">
                <a:solidFill>
                  <a:srgbClr val="556175"/>
                </a:solidFill>
                <a:latin typeface="맑은 고딕"/>
                <a:ea typeface="맑은 고딕"/>
                <a:cs typeface="맑은 고딕"/>
              </a:rPr>
              <a:t>감지한다</a:t>
            </a:r>
          </a:p>
        </p:txBody>
      </p:sp>
      <p:sp>
        <p:nvSpPr>
          <p:cNvPr id="11" name="TextBox 10"/>
          <p:cNvSpPr txBox="1"/>
          <p:nvPr/>
        </p:nvSpPr>
        <p:spPr>
          <a:xfrm>
            <a:off x="3292107" y="3944081"/>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913837" y="4747747"/>
            <a:ext cx="316375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출발점은 경보이다</a:t>
            </a:r>
          </a:p>
          <a:p>
            <a:pPr algn="ctr">
              <a:lnSpc>
                <a:spcPct val="110000"/>
              </a:lnSpc>
              <a:spcAft>
                <a:spcPts val="100"/>
              </a:spcAft>
            </a:pPr>
            <a:r>
              <a:rPr sz="1300" b="0">
                <a:solidFill>
                  <a:srgbClr val="556175"/>
                </a:solidFill>
                <a:latin typeface="맑은 고딕"/>
                <a:ea typeface="맑은 고딕"/>
                <a:cs typeface="맑은 고딕"/>
              </a:rPr>
              <a:t>경보에 패턴 이름이 실려 온다</a:t>
            </a:r>
          </a:p>
          <a:p>
            <a:pPr algn="ctr">
              <a:lnSpc>
                <a:spcPct val="110000"/>
              </a:lnSpc>
              <a:spcAft>
                <a:spcPts val="100"/>
              </a:spcAft>
            </a:pPr>
            <a:r>
              <a:rPr sz="1300" b="0">
                <a:solidFill>
                  <a:srgbClr val="556175"/>
                </a:solidFill>
                <a:latin typeface="맑은 고딕"/>
                <a:ea typeface="맑은 고딕"/>
                <a:cs typeface="맑은 고딕"/>
              </a:rPr>
              <a:t>COOLER_DEGRADATION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②: 원인 후보와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고장 유형으로 들어오는 CAUSES를 거슬러 원인 후보를 모으고, 후보마다 EVIDENCED_BY로 확인할 증거를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pic>
        <p:nvPicPr>
          <p:cNvPr id="6" name="삽화:경로_2.svg" descr="illust_167876894620312227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213959" y="254948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8" name="TextBox 7"/>
          <p:cNvSpPr txBox="1"/>
          <p:nvPr/>
        </p:nvSpPr>
        <p:spPr>
          <a:xfrm>
            <a:off x="5277635" y="1982190"/>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9" name="TextBox 8"/>
          <p:cNvSpPr txBox="1"/>
          <p:nvPr/>
        </p:nvSpPr>
        <p:spPr>
          <a:xfrm>
            <a:off x="6826783" y="507866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a:p>
            <a:pPr algn="ctr">
              <a:lnSpc>
                <a:spcPct val="110000"/>
              </a:lnSpc>
              <a:spcAft>
                <a:spcPts val="100"/>
              </a:spcAft>
            </a:pPr>
            <a:r>
              <a:rPr sz="1300" b="0">
                <a:solidFill>
                  <a:srgbClr val="556175"/>
                </a:solidFill>
                <a:latin typeface="맑은 고딕"/>
                <a:ea typeface="맑은 고딕"/>
                <a:cs typeface="맑은 고딕"/>
              </a:rPr>
              <a:t>증거로 확인한다</a:t>
            </a:r>
          </a:p>
        </p:txBody>
      </p:sp>
      <p:sp>
        <p:nvSpPr>
          <p:cNvPr id="10" name="TextBox 9"/>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a:t>
            </a:r>
          </a:p>
        </p:txBody>
      </p:sp>
      <p:sp>
        <p:nvSpPr>
          <p:cNvPr id="11" name="TextBox 10"/>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2" name="TextBox 11"/>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
        <p:nvSpPr>
          <p:cNvPr id="13" name="TextBox 12"/>
          <p:cNvSpPr txBox="1"/>
          <p:nvPr/>
        </p:nvSpPr>
        <p:spPr>
          <a:xfrm>
            <a:off x="804742" y="4464100"/>
            <a:ext cx="338194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원인(Cause)과 증거(Evidence)</a:t>
            </a:r>
          </a:p>
          <a:p>
            <a:pPr algn="ctr">
              <a:lnSpc>
                <a:spcPct val="110000"/>
              </a:lnSpc>
              <a:spcAft>
                <a:spcPts val="100"/>
              </a:spcAft>
            </a:pPr>
            <a:r>
              <a:rPr sz="1300" b="0">
                <a:solidFill>
                  <a:srgbClr val="556175"/>
                </a:solidFill>
                <a:latin typeface="맑은 고딕"/>
                <a:ea typeface="맑은 고딕"/>
                <a:cs typeface="맑은 고딕"/>
              </a:rPr>
              <a:t>들어오는 CAUSES를 거슬러 원인을 찾고</a:t>
            </a:r>
          </a:p>
          <a:p>
            <a:pPr algn="ctr">
              <a:lnSpc>
                <a:spcPct val="110000"/>
              </a:lnSpc>
              <a:spcAft>
                <a:spcPts val="100"/>
              </a:spcAft>
            </a:pPr>
            <a:r>
              <a:rPr sz="1300" b="0">
                <a:solidFill>
                  <a:srgbClr val="556175"/>
                </a:solidFill>
                <a:latin typeface="맑은 고딕"/>
                <a:ea typeface="맑은 고딕"/>
                <a:cs typeface="맑은 고딕"/>
              </a:rPr>
              <a:t>EVIDENCED_BY로 확인할 증거를 얻는다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따라가는 과정 ③: 확인된 원인과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증거에 적힌 값을 읽어 원인을 확인한 뒤, 고장 유형에서 MITIGATED_BY를 따라 조치에 이른다.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pic>
        <p:nvPicPr>
          <p:cNvPr id="6" name="삽화:경로_3.svg" descr="illust_844693602940849059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잰 값 46.2 % · 0.575 → 맞음</a:t>
            </a:r>
          </a:p>
        </p:txBody>
      </p:sp>
      <p:sp>
        <p:nvSpPr>
          <p:cNvPr id="8" name="TextBox 7"/>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잰 값 0.575 → 아님</a:t>
            </a:r>
          </a:p>
        </p:txBody>
      </p:sp>
      <p:sp>
        <p:nvSpPr>
          <p:cNvPr id="9" name="TextBox 8"/>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잰 값 28 ℃ → 아님</a:t>
            </a:r>
          </a:p>
        </p:txBody>
      </p:sp>
      <p:sp>
        <p:nvSpPr>
          <p:cNvPr id="10" name="TextBox 9"/>
          <p:cNvSpPr txBox="1"/>
          <p:nvPr/>
        </p:nvSpPr>
        <p:spPr>
          <a:xfrm>
            <a:off x="2822999" y="4345914"/>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1" name="TextBox 10"/>
          <p:cNvSpPr txBox="1"/>
          <p:nvPr/>
        </p:nvSpPr>
        <p:spPr>
          <a:xfrm>
            <a:off x="5386730" y="5220492"/>
            <a:ext cx="152732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Skill</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2" name="TextBox 11"/>
          <p:cNvSpPr txBox="1"/>
          <p:nvPr/>
        </p:nvSpPr>
        <p:spPr>
          <a:xfrm>
            <a:off x="7732271" y="5267766"/>
            <a:ext cx="370922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그래프 밖에서 읽는다</a:t>
            </a:r>
          </a:p>
          <a:p>
            <a:pPr algn="ctr">
              <a:lnSpc>
                <a:spcPct val="110000"/>
              </a:lnSpc>
              <a:spcAft>
                <a:spcPts val="100"/>
              </a:spcAft>
            </a:pPr>
            <a:r>
              <a:rPr sz="1300" b="0">
                <a:solidFill>
                  <a:srgbClr val="556175"/>
                </a:solidFill>
                <a:latin typeface="맑은 고딕"/>
                <a:ea typeface="맑은 고딕"/>
                <a:cs typeface="맑은 고딕"/>
              </a:rPr>
              <a:t>기준은 지식 그래프에 있고</a:t>
            </a:r>
          </a:p>
          <a:p>
            <a:pPr algn="ctr">
              <a:lnSpc>
                <a:spcPct val="110000"/>
              </a:lnSpc>
              <a:spcAft>
                <a:spcPts val="100"/>
              </a:spcAft>
            </a:pPr>
            <a:r>
              <a:rPr sz="1300" b="0">
                <a:solidFill>
                  <a:srgbClr val="556175"/>
                </a:solidFill>
                <a:latin typeface="맑은 고딕"/>
                <a:ea typeface="맑은 고딕"/>
                <a:cs typeface="맑은 고딕"/>
              </a:rPr>
              <a:t>잰 값은 TimescaleDB에서 읽는다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본 노드와 관계는 온톨로지의 종류와 관계에 해당하며, 여기에 속성과 제약이 더해져 정의가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종류</a:t>
            </a:r>
          </a:p>
          <a:p>
            <a:pPr algn="l">
              <a:lnSpc>
                <a:spcPct val="110000"/>
              </a:lnSpc>
              <a:spcAft>
                <a:spcPts val="400"/>
              </a:spcAft>
            </a:pPr>
            <a:r>
              <a:rPr sz="1350" b="0">
                <a:solidFill>
                  <a:srgbClr val="1F2A3A"/>
                </a:solidFill>
                <a:latin typeface="맑은 고딕"/>
                <a:ea typeface="맑은 고딕"/>
                <a:cs typeface="맑은 고딕"/>
              </a:rPr>
              <a:t>• 어떤 대상이 있는가를 정한다</a:t>
            </a:r>
          </a:p>
          <a:p>
            <a:pPr algn="l">
              <a:lnSpc>
                <a:spcPct val="110000"/>
              </a:lnSpc>
              <a:spcAft>
                <a:spcPts val="400"/>
              </a:spcAft>
            </a:pPr>
            <a:r>
              <a:rPr sz="1350" b="0">
                <a:solidFill>
                  <a:srgbClr val="1F2A3A"/>
                </a:solidFill>
                <a:latin typeface="맑은 고딕"/>
                <a:ea typeface="맑은 고딕"/>
                <a:cs typeface="맑은 고딕"/>
              </a:rPr>
              <a:t>• 설비, 센서, 증상, 고장 유형, 원인, 조치</a:t>
            </a:r>
          </a:p>
        </p:txBody>
      </p:sp>
      <p:sp>
        <p:nvSpPr>
          <p:cNvPr id="10" name="Rounded Rectangle 9"/>
          <p:cNvSpPr/>
          <p:nvPr/>
        </p:nvSpPr>
        <p:spPr>
          <a:xfrm>
            <a:off x="777240" y="5134356"/>
            <a:ext cx="1621536"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6215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핀 오염 = 원인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a:t>
            </a:r>
          </a:p>
          <a:p>
            <a:pPr algn="l">
              <a:lnSpc>
                <a:spcPct val="110000"/>
              </a:lnSpc>
              <a:spcAft>
                <a:spcPts val="400"/>
              </a:spcAft>
            </a:pPr>
            <a:r>
              <a:rPr sz="1350" b="0">
                <a:solidFill>
                  <a:srgbClr val="1F2A3A"/>
                </a:solidFill>
                <a:latin typeface="맑은 고딕"/>
                <a:ea typeface="맑은 고딕"/>
                <a:cs typeface="맑은 고딕"/>
              </a:rPr>
              <a:t>• 대상이 갖는 값의 칸을 정한다</a:t>
            </a:r>
          </a:p>
          <a:p>
            <a:pPr algn="l">
              <a:lnSpc>
                <a:spcPct val="110000"/>
              </a:lnSpc>
              <a:spcAft>
                <a:spcPts val="400"/>
              </a:spcAft>
            </a:pPr>
            <a:r>
              <a:rPr sz="1350" b="0">
                <a:solidFill>
                  <a:srgbClr val="1F2A3A"/>
                </a:solidFill>
                <a:latin typeface="맑은 고딕"/>
                <a:ea typeface="맑은 고딕"/>
                <a:cs typeface="맑은 고딕"/>
              </a:rPr>
              <a:t>• 유온이라는 대상의 단위, 정상값, 한계</a:t>
            </a:r>
          </a:p>
        </p:txBody>
      </p:sp>
      <p:sp>
        <p:nvSpPr>
          <p:cNvPr id="16" name="Rounded Rectangle 15"/>
          <p:cNvSpPr/>
          <p:nvPr/>
        </p:nvSpPr>
        <p:spPr>
          <a:xfrm>
            <a:off x="3619423" y="5134356"/>
            <a:ext cx="15880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5880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 · 48 · 65</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a:t>
            </a:r>
          </a:p>
          <a:p>
            <a:pPr algn="l">
              <a:lnSpc>
                <a:spcPct val="110000"/>
              </a:lnSpc>
              <a:spcAft>
                <a:spcPts val="400"/>
              </a:spcAft>
            </a:pPr>
            <a:r>
              <a:rPr sz="1350" b="0">
                <a:solidFill>
                  <a:srgbClr val="1F2A3A"/>
                </a:solidFill>
                <a:latin typeface="맑은 고딕"/>
                <a:ea typeface="맑은 고딕"/>
                <a:cs typeface="맑은 고딕"/>
              </a:rPr>
              <a:t>• 대상 사이의 이름 있는 연결을 정한다</a:t>
            </a:r>
          </a:p>
          <a:p>
            <a:pPr algn="l">
              <a:lnSpc>
                <a:spcPct val="110000"/>
              </a:lnSpc>
              <a:spcAft>
                <a:spcPts val="400"/>
              </a:spcAft>
            </a:pPr>
            <a:r>
              <a:rPr sz="1350" b="0">
                <a:solidFill>
                  <a:srgbClr val="1F2A3A"/>
                </a:solidFill>
                <a:latin typeface="맑은 고딕"/>
                <a:ea typeface="맑은 고딕"/>
                <a:cs typeface="맑은 고딕"/>
              </a:rPr>
              <a:t>• CAUSES, INDICATES, MITIGATED_BY</a:t>
            </a:r>
          </a:p>
        </p:txBody>
      </p:sp>
      <p:sp>
        <p:nvSpPr>
          <p:cNvPr id="22" name="Rounded Rectangle 21"/>
          <p:cNvSpPr/>
          <p:nvPr/>
        </p:nvSpPr>
        <p:spPr>
          <a:xfrm>
            <a:off x="6461607" y="5134356"/>
            <a:ext cx="12527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일으킨다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제약</a:t>
            </a:r>
          </a:p>
          <a:p>
            <a:pPr algn="l">
              <a:lnSpc>
                <a:spcPct val="110000"/>
              </a:lnSpc>
              <a:spcAft>
                <a:spcPts val="400"/>
              </a:spcAft>
            </a:pPr>
            <a:r>
              <a:rPr sz="1350" b="0">
                <a:solidFill>
                  <a:srgbClr val="1F2A3A"/>
                </a:solidFill>
                <a:latin typeface="맑은 고딕"/>
                <a:ea typeface="맑은 고딕"/>
                <a:cs typeface="맑은 고딕"/>
              </a:rPr>
              <a:t>• 지켜야 하는 조건을 정한다</a:t>
            </a:r>
          </a:p>
          <a:p>
            <a:pPr algn="l">
              <a:lnSpc>
                <a:spcPct val="110000"/>
              </a:lnSpc>
              <a:spcAft>
                <a:spcPts val="400"/>
              </a:spcAft>
            </a:pPr>
            <a:r>
              <a:rPr sz="1350" b="0">
                <a:solidFill>
                  <a:srgbClr val="1F2A3A"/>
                </a:solidFill>
                <a:latin typeface="맑은 고딕"/>
                <a:ea typeface="맑은 고딕"/>
                <a:cs typeface="맑은 고딕"/>
              </a:rPr>
              <a:t>• CAUSES는 원인에서 고장 유형으로만 잇는다</a:t>
            </a:r>
          </a:p>
        </p:txBody>
      </p:sp>
      <p:sp>
        <p:nvSpPr>
          <p:cNvPr id="28" name="Rounded Rectangle 27"/>
          <p:cNvSpPr/>
          <p:nvPr/>
        </p:nvSpPr>
        <p:spPr>
          <a:xfrm>
            <a:off x="9303791" y="5134356"/>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양 끝의 종류</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사건으로 본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정의가 함께 있을 때 값의 뜻이 정해지고, 관계의 뜻이 이름으로 갈리며, 정의에 어긋난 연결이 걸러진다.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종류</a:t>
            </a:r>
          </a:p>
          <a:p>
            <a:pPr algn="l">
              <a:lnSpc>
                <a:spcPct val="110000"/>
              </a:lnSpc>
              <a:spcAft>
                <a:spcPts val="200"/>
              </a:spcAft>
            </a:pPr>
            <a:r>
              <a:rPr sz="1150" b="0">
                <a:solidFill>
                  <a:srgbClr val="556175"/>
                </a:solidFill>
                <a:latin typeface="맑은 고딕"/>
                <a:ea typeface="맑은 고딕"/>
                <a:cs typeface="맑은 고딕"/>
              </a:rPr>
              <a:t>대상의 갈래</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온톨로지가 다루는 대상의 갈래이다.</a:t>
            </a:r>
          </a:p>
          <a:p>
            <a:pPr algn="l">
              <a:lnSpc>
                <a:spcPct val="110000"/>
              </a:lnSpc>
              <a:spcAft>
                <a:spcPts val="300"/>
              </a:spcAft>
            </a:pPr>
            <a:r>
              <a:rPr sz="1400" b="0">
                <a:solidFill>
                  <a:srgbClr val="1F2A3A"/>
                </a:solidFill>
                <a:latin typeface="맑은 고딕"/>
                <a:ea typeface="맑은 고딕"/>
                <a:cs typeface="맑은 고딕"/>
              </a:rPr>
              <a:t>설비 쪽: 설비, 구성 요소, 센서 (예: HYD-01, 오일 쿨러, TS1)</a:t>
            </a:r>
          </a:p>
          <a:p>
            <a:pPr algn="l">
              <a:lnSpc>
                <a:spcPct val="110000"/>
              </a:lnSpc>
              <a:spcAft>
                <a:spcPts val="300"/>
              </a:spcAft>
            </a:pPr>
            <a:r>
              <a:rPr sz="1400" b="0">
                <a:solidFill>
                  <a:srgbClr val="1F2A3A"/>
                </a:solidFill>
                <a:latin typeface="맑은 고딕"/>
                <a:ea typeface="맑은 고딕"/>
                <a:cs typeface="맑은 고딕"/>
              </a:rPr>
              <a:t>진단 쪽: 이상 패턴, 증상, 고장 유형, 원인, 증거 (예: 쿨러 핀 오염은 원인)</a:t>
            </a:r>
          </a:p>
          <a:p>
            <a:pPr algn="l">
              <a:lnSpc>
                <a:spcPct val="110000"/>
              </a:lnSpc>
              <a:spcAft>
                <a:spcPts val="300"/>
              </a:spcAft>
            </a:pPr>
            <a:r>
              <a:rPr sz="1400" b="0">
                <a:solidFill>
                  <a:srgbClr val="1F2A3A"/>
                </a:solidFill>
                <a:latin typeface="맑은 고딕"/>
                <a:ea typeface="맑은 고딕"/>
                <a:cs typeface="맑은 고딕"/>
              </a:rPr>
              <a:t>조치 쪽: 조치 방법, 근거 문서 (예: 팬 최대 운전, HM-8.5)</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속성</a:t>
            </a:r>
          </a:p>
          <a:p>
            <a:pPr algn="l">
              <a:lnSpc>
                <a:spcPct val="110000"/>
              </a:lnSpc>
              <a:spcAft>
                <a:spcPts val="200"/>
              </a:spcAft>
            </a:pPr>
            <a:r>
              <a:rPr sz="1150" b="0">
                <a:solidFill>
                  <a:srgbClr val="556175"/>
                </a:solidFill>
                <a:latin typeface="맑은 고딕"/>
                <a:ea typeface="맑은 고딕"/>
                <a:cs typeface="맑은 고딕"/>
              </a:rPr>
              <a:t>℃ · 48 · 65</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대상마다 채워 두는 값의 칸이며, 같은 종류의 대상은 같은 칸을 갖는다.</a:t>
            </a:r>
          </a:p>
          <a:p>
            <a:pPr algn="l">
              <a:lnSpc>
                <a:spcPct val="110000"/>
              </a:lnSpc>
              <a:spcAft>
                <a:spcPts val="300"/>
              </a:spcAft>
            </a:pPr>
            <a:r>
              <a:rPr sz="1400" b="0">
                <a:solidFill>
                  <a:srgbClr val="1F2A3A"/>
                </a:solidFill>
                <a:latin typeface="맑은 고딕"/>
                <a:ea typeface="맑은 고딕"/>
                <a:cs typeface="맑은 고딕"/>
              </a:rPr>
              <a:t>유온: 단위 ℃, 정상값 48 ℃, 한계 65 ℃(인터록의 기준과 같다)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관계</a:t>
            </a:r>
          </a:p>
          <a:p>
            <a:pPr algn="l">
              <a:lnSpc>
                <a:spcPct val="110000"/>
              </a:lnSpc>
              <a:spcAft>
                <a:spcPts val="200"/>
              </a:spcAft>
            </a:pPr>
            <a:r>
              <a:rPr sz="1150" b="0">
                <a:solidFill>
                  <a:srgbClr val="556175"/>
                </a:solidFill>
                <a:latin typeface="맑은 고딕"/>
                <a:ea typeface="맑은 고딕"/>
                <a:cs typeface="맑은 고딕"/>
              </a:rPr>
              <a:t>완화와 근본 조치</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이름이 다르면 뜻이 다르다. 쿨러 냉각 성능 상실에서 조치로 가는 두 관계가 그렇다.</a:t>
            </a:r>
          </a:p>
          <a:p>
            <a:pPr algn="l">
              <a:lnSpc>
                <a:spcPct val="110000"/>
              </a:lnSpc>
              <a:spcAft>
                <a:spcPts val="300"/>
              </a:spcAft>
            </a:pPr>
            <a:r>
              <a:rPr sz="1400" b="0">
                <a:solidFill>
                  <a:srgbClr val="1F2A3A"/>
                </a:solidFill>
                <a:latin typeface="맑은 고딕"/>
                <a:ea typeface="맑은 고딕"/>
                <a:cs typeface="맑은 고딕"/>
              </a:rPr>
              <a:t>MITIGATED_BY → 팬 최대 운전: 우선 완화한다</a:t>
            </a:r>
          </a:p>
          <a:p>
            <a:pPr algn="l">
              <a:lnSpc>
                <a:spcPct val="110000"/>
              </a:lnSpc>
              <a:spcAft>
                <a:spcPts val="300"/>
              </a:spcAft>
            </a:pPr>
            <a:r>
              <a:rPr sz="1400" b="0">
                <a:solidFill>
                  <a:srgbClr val="1F2A3A"/>
                </a:solidFill>
                <a:latin typeface="맑은 고딕"/>
                <a:ea typeface="맑은 고딕"/>
                <a:cs typeface="맑은 고딕"/>
              </a:rPr>
              <a:t>REMEDIED_BY → 쿨러 핀 세척: 근본적으로 없앤다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제약</a:t>
            </a:r>
          </a:p>
          <a:p>
            <a:pPr algn="l">
              <a:lnSpc>
                <a:spcPct val="110000"/>
              </a:lnSpc>
              <a:spcAft>
                <a:spcPts val="200"/>
              </a:spcAft>
            </a:pPr>
            <a:r>
              <a:rPr sz="1150" b="0">
                <a:solidFill>
                  <a:srgbClr val="556175"/>
                </a:solidFill>
                <a:latin typeface="맑은 고딕"/>
                <a:ea typeface="맑은 고딕"/>
                <a:cs typeface="맑은 고딕"/>
              </a:rPr>
              <a:t>양 끝의 종류</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관계가 어느 종류에서 어느 종류로 이어질 수 있는지를 정해 어긋난 연결을 거른다.</a:t>
            </a:r>
          </a:p>
          <a:p>
            <a:pPr algn="l">
              <a:lnSpc>
                <a:spcPct val="110000"/>
              </a:lnSpc>
              <a:spcAft>
                <a:spcPts val="300"/>
              </a:spcAft>
            </a:pPr>
            <a:r>
              <a:rPr sz="1400" b="0">
                <a:solidFill>
                  <a:srgbClr val="1F2A3A"/>
                </a:solidFill>
                <a:latin typeface="맑은 고딕"/>
                <a:ea typeface="맑은 고딕"/>
                <a:cs typeface="맑은 고딕"/>
              </a:rPr>
              <a:t>쿨러 핀 오염 — CAUSES → 쿨러 냉각 성능 상실: 원인 → 고장 유형, 정의에 맞는다</a:t>
            </a:r>
          </a:p>
          <a:p>
            <a:pPr algn="l">
              <a:lnSpc>
                <a:spcPct val="110000"/>
              </a:lnSpc>
              <a:spcAft>
                <a:spcPts val="300"/>
              </a:spcAft>
            </a:pPr>
            <a:r>
              <a:rPr sz="1400" b="0">
                <a:solidFill>
                  <a:srgbClr val="1F2A3A"/>
                </a:solidFill>
                <a:latin typeface="맑은 고딕"/>
                <a:ea typeface="맑은 고딕"/>
                <a:cs typeface="맑은 고딕"/>
              </a:rPr>
              <a:t>유온 상승 — CAUSES → 팬 최대 운전: 증상 → 조치, 정의에 어긋난다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설비 쪽: 설비, 구성 요소, 센서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그래프의 설비 쪽에는 설비가 어떤 구성 요소로 이루어지고 각 구성 요소를 어느 센서가 재는지가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pic>
        <p:nvPicPr>
          <p:cNvPr id="6" name="삽화:연결_설비쪽.svg" descr="illust_5237785137992020837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64181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a:p>
            <a:pPr algn="ctr">
              <a:lnSpc>
                <a:spcPct val="110000"/>
              </a:lnSpc>
              <a:spcAft>
                <a:spcPts val="100"/>
              </a:spcAft>
            </a:pPr>
            <a:r>
              <a:rPr sz="1300" b="0">
                <a:solidFill>
                  <a:srgbClr val="556175"/>
                </a:solidFill>
                <a:latin typeface="맑은 고딕"/>
                <a:ea typeface="맑은 고딕"/>
                <a:cs typeface="맑은 고딕"/>
              </a:rPr>
              <a:t>유온 센서 TS1</a:t>
            </a:r>
          </a:p>
        </p:txBody>
      </p:sp>
      <p:sp>
        <p:nvSpPr>
          <p:cNvPr id="8" name="TextBox 7"/>
          <p:cNvSpPr txBox="1"/>
          <p:nvPr/>
        </p:nvSpPr>
        <p:spPr>
          <a:xfrm>
            <a:off x="5332182"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구성 요소</a:t>
            </a:r>
          </a:p>
          <a:p>
            <a:pPr algn="ctr">
              <a:lnSpc>
                <a:spcPct val="110000"/>
              </a:lnSpc>
              <a:spcAft>
                <a:spcPts val="100"/>
              </a:spcAft>
            </a:pPr>
            <a:r>
              <a:rPr sz="1300" b="0">
                <a:solidFill>
                  <a:srgbClr val="556175"/>
                </a:solidFill>
                <a:latin typeface="맑은 고딕"/>
                <a:ea typeface="맑은 고딕"/>
                <a:cs typeface="맑은 고딕"/>
              </a:rPr>
              <a:t>오일 쿨러</a:t>
            </a:r>
          </a:p>
        </p:txBody>
      </p:sp>
      <p:sp>
        <p:nvSpPr>
          <p:cNvPr id="9" name="TextBox 8"/>
          <p:cNvSpPr txBox="1"/>
          <p:nvPr/>
        </p:nvSpPr>
        <p:spPr>
          <a:xfrm>
            <a:off x="8965044" y="164181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a:p>
            <a:pPr algn="ctr">
              <a:lnSpc>
                <a:spcPct val="110000"/>
              </a:lnSpc>
              <a:spcAft>
                <a:spcPts val="100"/>
              </a:spcAft>
            </a:pPr>
            <a:r>
              <a:rPr sz="1300" b="0">
                <a:solidFill>
                  <a:srgbClr val="556175"/>
                </a:solidFill>
                <a:latin typeface="맑은 고딕"/>
                <a:ea typeface="맑은 고딕"/>
                <a:cs typeface="맑은 고딕"/>
              </a:rPr>
              <a:t>HYD-01</a:t>
            </a:r>
          </a:p>
        </p:txBody>
      </p:sp>
      <p:sp>
        <p:nvSpPr>
          <p:cNvPr id="10" name="TextBox 9"/>
          <p:cNvSpPr txBox="1"/>
          <p:nvPr/>
        </p:nvSpPr>
        <p:spPr>
          <a:xfrm>
            <a:off x="3346654" y="276221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MONITORED_BY</a:t>
            </a:r>
          </a:p>
          <a:p>
            <a:pPr algn="ctr">
              <a:lnSpc>
                <a:spcPct val="110000"/>
              </a:lnSpc>
              <a:spcAft>
                <a:spcPts val="100"/>
              </a:spcAft>
            </a:pPr>
            <a:r>
              <a:rPr sz="1300" b="0">
                <a:solidFill>
                  <a:srgbClr val="556175"/>
                </a:solidFill>
                <a:latin typeface="맑은 고딕"/>
                <a:ea typeface="맑은 고딕"/>
                <a:cs typeface="맑은 고딕"/>
              </a:rPr>
              <a:t>계측된다</a:t>
            </a:r>
          </a:p>
        </p:txBody>
      </p:sp>
      <p:sp>
        <p:nvSpPr>
          <p:cNvPr id="11" name="TextBox 10"/>
          <p:cNvSpPr txBox="1"/>
          <p:nvPr/>
        </p:nvSpPr>
        <p:spPr>
          <a:xfrm>
            <a:off x="6772236" y="276221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HAS_COMPONENT</a:t>
            </a:r>
          </a:p>
          <a:p>
            <a:pPr algn="ctr">
              <a:lnSpc>
                <a:spcPct val="110000"/>
              </a:lnSpc>
              <a:spcAft>
                <a:spcPts val="100"/>
              </a:spcAft>
            </a:pPr>
            <a:r>
              <a:rPr sz="1300" b="0">
                <a:solidFill>
                  <a:srgbClr val="556175"/>
                </a:solidFill>
                <a:latin typeface="맑은 고딕"/>
                <a:ea typeface="맑은 고딕"/>
                <a:cs typeface="맑은 고딕"/>
              </a:rPr>
              <a:t>구성 요소로 갖는다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진단과 조치 쪽: 증상에서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진단과 조치 쪽에는 증상, 고장 유형, 원인, 조치 방법과 그 조치의 근거 문서가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pic>
        <p:nvPicPr>
          <p:cNvPr id="6" name="삽화:연결_진단쪽.svg" descr="illust_8602134703193107218_179171544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2919"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8" name="TextBox 7"/>
          <p:cNvSpPr txBox="1"/>
          <p:nvPr/>
        </p:nvSpPr>
        <p:spPr>
          <a:xfrm>
            <a:off x="6204942" y="3045866"/>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10077813" y="3754983"/>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3619392" y="4180453"/>
            <a:ext cx="130913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1" name="TextBox 10"/>
          <p:cNvSpPr txBox="1"/>
          <p:nvPr/>
        </p:nvSpPr>
        <p:spPr>
          <a:xfrm>
            <a:off x="7841366" y="4180453"/>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2" name="TextBox 11"/>
          <p:cNvSpPr txBox="1"/>
          <p:nvPr/>
        </p:nvSpPr>
        <p:spPr>
          <a:xfrm>
            <a:off x="6204942" y="4605924"/>
            <a:ext cx="163642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완화된다</a:t>
            </a:r>
          </a:p>
        </p:txBody>
      </p:sp>
      <p:sp>
        <p:nvSpPr>
          <p:cNvPr id="13" name="TextBox 12"/>
          <p:cNvSpPr txBox="1"/>
          <p:nvPr/>
        </p:nvSpPr>
        <p:spPr>
          <a:xfrm>
            <a:off x="4132138" y="526776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4" name="TextBox 13"/>
          <p:cNvSpPr txBox="1"/>
          <p:nvPr/>
        </p:nvSpPr>
        <p:spPr>
          <a:xfrm>
            <a:off x="6390403" y="5693237"/>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HAS_STEP · REFERS_TO</a:t>
            </a:r>
          </a:p>
          <a:p>
            <a:pPr algn="ctr">
              <a:lnSpc>
                <a:spcPct val="110000"/>
              </a:lnSpc>
              <a:spcAft>
                <a:spcPts val="100"/>
              </a:spcAft>
            </a:pPr>
            <a:r>
              <a:rPr sz="1300" b="0">
                <a:solidFill>
                  <a:srgbClr val="556175"/>
                </a:solidFill>
                <a:latin typeface="맑은 고딕"/>
                <a:ea typeface="맑은 고딕"/>
                <a:cs typeface="맑은 고딕"/>
              </a:rPr>
              <a:t>단계를 거쳐 근거를 가리킨다</a:t>
            </a:r>
          </a:p>
        </p:txBody>
      </p:sp>
      <p:sp>
        <p:nvSpPr>
          <p:cNvPr id="15" name="TextBox 14"/>
          <p:cNvSpPr txBox="1"/>
          <p:nvPr/>
        </p:nvSpPr>
        <p:spPr>
          <a:xfrm>
            <a:off x="10077813" y="5267766"/>
            <a:ext cx="141823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문서</a:t>
            </a:r>
          </a:p>
          <a:p>
            <a:pPr algn="ctr">
              <a:lnSpc>
                <a:spcPct val="110000"/>
              </a:lnSpc>
              <a:spcAft>
                <a:spcPts val="100"/>
              </a:spcAft>
            </a:pPr>
            <a:r>
              <a:rPr sz="1300" b="0">
                <a:solidFill>
                  <a:srgbClr val="556175"/>
                </a:solidFill>
                <a:latin typeface="맑은 고딕"/>
                <a:ea typeface="맑은 고딕"/>
                <a:cs typeface="맑은 고딕"/>
              </a:rPr>
              <a:t>매뉴얼 HM-8.5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온톨로지에 대한 흔한 오해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값의 저장소가 아니고 화살표는 통행 방향이 아니며, 온톨로지가 조치를 결정하지도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구분할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그래프에 센서 값이 들어 있다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읽는 방법이 들어 있고 값은 저장소에서 읽는다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지식과 값</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화살표는 한쪽으로만 따라갈 수 있다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방향은 뜻을 정하며, 조회할 때는 거슬러 가기도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뜻과 조회</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온톨로지가 있으면 AI가 알아서 조치한다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관계를 따라 후보와 근거를 찾는 데까지이고, 조치는 사람이 승인한다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추천과 승인</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경보에서 온톨로지까지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원인을 말하지 않고 판단에 필요한 정보는 흩어져 있으므로, 대상과 관계를 정의해 컴퓨터가 따라가게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경보의 한계</a:t>
            </a:r>
          </a:p>
          <a:p>
            <a:pPr algn="ctr">
              <a:lnSpc>
                <a:spcPct val="110000"/>
              </a:lnSpc>
              <a:spcAft>
                <a:spcPts val="400"/>
              </a:spcAft>
            </a:pPr>
            <a:r>
              <a:rPr sz="1350" b="0">
                <a:solidFill>
                  <a:srgbClr val="1F2A3A"/>
                </a:solidFill>
                <a:latin typeface="맑은 고딕"/>
                <a:ea typeface="맑은 고딕"/>
                <a:cs typeface="맑은 고딕"/>
              </a:rPr>
              <a:t>조건을 벗어났다는</a:t>
            </a:r>
          </a:p>
          <a:p>
            <a:pPr algn="ctr">
              <a:lnSpc>
                <a:spcPct val="110000"/>
              </a:lnSpc>
              <a:spcAft>
                <a:spcPts val="400"/>
              </a:spcAft>
            </a:pPr>
            <a:r>
              <a:rPr sz="1350" b="0">
                <a:solidFill>
                  <a:srgbClr val="1F2A3A"/>
                </a:solidFill>
                <a:latin typeface="맑은 고딕"/>
                <a:ea typeface="맑은 고딕"/>
                <a:cs typeface="맑은 고딕"/>
              </a:rPr>
              <a:t>사실만 알린다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puzzle" descr="puzzle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흩어진 정보</a:t>
            </a:r>
          </a:p>
          <a:p>
            <a:pPr algn="ctr">
              <a:lnSpc>
                <a:spcPct val="110000"/>
              </a:lnSpc>
              <a:spcAft>
                <a:spcPts val="400"/>
              </a:spcAft>
            </a:pPr>
            <a:r>
              <a:rPr sz="1350" b="0">
                <a:solidFill>
                  <a:srgbClr val="1F2A3A"/>
                </a:solidFill>
                <a:latin typeface="맑은 고딕"/>
                <a:ea typeface="맑은 고딕"/>
                <a:cs typeface="맑은 고딕"/>
              </a:rPr>
              <a:t>값, 매뉴얼, 생산 일정이</a:t>
            </a:r>
          </a:p>
          <a:p>
            <a:pPr algn="ctr">
              <a:lnSpc>
                <a:spcPct val="110000"/>
              </a:lnSpc>
              <a:spcAft>
                <a:spcPts val="400"/>
              </a:spcAft>
            </a:pPr>
            <a:r>
              <a:rPr sz="1350" b="0">
                <a:solidFill>
                  <a:srgbClr val="1F2A3A"/>
                </a:solidFill>
                <a:latin typeface="맑은 고딕"/>
                <a:ea typeface="맑은 고딕"/>
                <a:cs typeface="맑은 고딕"/>
              </a:rPr>
              <a:t>서로 이어져 있지 않다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온톨로지</a:t>
            </a:r>
          </a:p>
          <a:p>
            <a:pPr algn="ctr">
              <a:lnSpc>
                <a:spcPct val="110000"/>
              </a:lnSpc>
              <a:spcAft>
                <a:spcPts val="400"/>
              </a:spcAft>
            </a:pPr>
            <a:r>
              <a:rPr sz="1350" b="0">
                <a:solidFill>
                  <a:srgbClr val="1F2A3A"/>
                </a:solidFill>
                <a:latin typeface="맑은 고딕"/>
                <a:ea typeface="맑은 고딕"/>
                <a:cs typeface="맑은 고딕"/>
              </a:rPr>
              <a:t>대상의 종류, 속성, 관계, 제약을</a:t>
            </a:r>
          </a:p>
          <a:p>
            <a:pPr algn="ctr">
              <a:lnSpc>
                <a:spcPct val="110000"/>
              </a:lnSpc>
              <a:spcAft>
                <a:spcPts val="400"/>
              </a:spcAft>
            </a:pPr>
            <a:r>
              <a:rPr sz="1350" b="0">
                <a:solidFill>
                  <a:srgbClr val="1F2A3A"/>
                </a:solidFill>
                <a:latin typeface="맑은 고딕"/>
                <a:ea typeface="맑은 고딕"/>
                <a:cs typeface="맑은 고딕"/>
              </a:rPr>
              <a:t>명시적으로 정의한다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route" descr="route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따라가기</a:t>
            </a:r>
          </a:p>
          <a:p>
            <a:pPr algn="ctr">
              <a:lnSpc>
                <a:spcPct val="110000"/>
              </a:lnSpc>
              <a:spcAft>
                <a:spcPts val="400"/>
              </a:spcAft>
            </a:pPr>
            <a:r>
              <a:rPr sz="1350" b="0">
                <a:solidFill>
                  <a:srgbClr val="1F2A3A"/>
                </a:solidFill>
                <a:latin typeface="맑은 고딕"/>
                <a:ea typeface="맑은 고딕"/>
                <a:cs typeface="맑은 고딕"/>
              </a:rPr>
              <a:t>관계를 따라</a:t>
            </a:r>
          </a:p>
          <a:p>
            <a:pPr algn="ctr">
              <a:lnSpc>
                <a:spcPct val="110000"/>
              </a:lnSpc>
              <a:spcAft>
                <a:spcPts val="400"/>
              </a:spcAft>
            </a:pPr>
            <a:r>
              <a:rPr sz="1350" b="0">
                <a:solidFill>
                  <a:srgbClr val="1F2A3A"/>
                </a:solidFill>
                <a:latin typeface="맑은 고딕"/>
                <a:ea typeface="맑은 고딕"/>
                <a:cs typeface="맑은 고딕"/>
              </a:rPr>
              <a:t>원인 후보와 조치에 이른다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이후 과정에서 온톨로지가 쓰이는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이후 과정은 오늘 본 지식 그래프를 직접 설계하고 채운 뒤 에이전트와 프로세스가 그것을 쓰게 만드는 순서로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구조 설계</a:t>
            </a:r>
          </a:p>
          <a:p>
            <a:pPr algn="ctr">
              <a:lnSpc>
                <a:spcPct val="110000"/>
              </a:lnSpc>
              <a:spcAft>
                <a:spcPts val="400"/>
              </a:spcAft>
            </a:pPr>
            <a:r>
              <a:rPr sz="1350" b="0">
                <a:solidFill>
                  <a:srgbClr val="1F2A3A"/>
                </a:solidFill>
                <a:latin typeface="맑은 고딕"/>
                <a:ea typeface="맑은 고딕"/>
                <a:cs typeface="맑은 고딕"/>
              </a:rPr>
              <a:t>대상의 종류와</a:t>
            </a:r>
          </a:p>
          <a:p>
            <a:pPr algn="ctr">
              <a:lnSpc>
                <a:spcPct val="110000"/>
              </a:lnSpc>
              <a:spcAft>
                <a:spcPts val="400"/>
              </a:spcAft>
            </a:pPr>
            <a:r>
              <a:rPr sz="1350" b="0">
                <a:solidFill>
                  <a:srgbClr val="1F2A3A"/>
                </a:solidFill>
                <a:latin typeface="맑은 고딕"/>
                <a:ea typeface="맑은 고딕"/>
                <a:cs typeface="맑은 고딕"/>
              </a:rPr>
              <a:t>관계의 틀을 정해</a:t>
            </a:r>
          </a:p>
          <a:p>
            <a:pPr algn="ctr">
              <a:lnSpc>
                <a:spcPct val="110000"/>
              </a:lnSpc>
              <a:spcAft>
                <a:spcPts val="400"/>
              </a:spcAft>
            </a:pPr>
            <a:r>
              <a:rPr sz="1350" b="0">
                <a:solidFill>
                  <a:srgbClr val="1F2A3A"/>
                </a:solidFill>
                <a:latin typeface="맑은 고딕"/>
                <a:ea typeface="맑은 고딕"/>
                <a:cs typeface="맑은 고딕"/>
              </a:rPr>
              <a:t>그래프 DB에 넣는다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조치와 판단</a:t>
            </a:r>
          </a:p>
          <a:p>
            <a:pPr algn="ctr">
              <a:lnSpc>
                <a:spcPct val="110000"/>
              </a:lnSpc>
              <a:spcAft>
                <a:spcPts val="400"/>
              </a:spcAft>
            </a:pPr>
            <a:r>
              <a:rPr sz="1350" b="0">
                <a:solidFill>
                  <a:srgbClr val="1F2A3A"/>
                </a:solidFill>
                <a:latin typeface="맑은 고딕"/>
                <a:ea typeface="맑은 고딕"/>
                <a:cs typeface="맑은 고딕"/>
              </a:rPr>
              <a:t>조치 절차,</a:t>
            </a:r>
          </a:p>
          <a:p>
            <a:pPr algn="ctr">
              <a:lnSpc>
                <a:spcPct val="110000"/>
              </a:lnSpc>
              <a:spcAft>
                <a:spcPts val="400"/>
              </a:spcAft>
            </a:pPr>
            <a:r>
              <a:rPr sz="1350" b="0">
                <a:solidFill>
                  <a:srgbClr val="1F2A3A"/>
                </a:solidFill>
                <a:latin typeface="맑은 고딕"/>
                <a:ea typeface="맑은 고딕"/>
                <a:cs typeface="맑은 고딕"/>
              </a:rPr>
              <a:t>판단 규칙, 성과 기준을</a:t>
            </a:r>
          </a:p>
          <a:p>
            <a:pPr algn="ctr">
              <a:lnSpc>
                <a:spcPct val="110000"/>
              </a:lnSpc>
              <a:spcAft>
                <a:spcPts val="400"/>
              </a:spcAft>
            </a:pPr>
            <a:r>
              <a:rPr sz="1350" b="0">
                <a:solidFill>
                  <a:srgbClr val="1F2A3A"/>
                </a:solidFill>
                <a:latin typeface="맑은 고딕"/>
                <a:ea typeface="맑은 고딕"/>
                <a:cs typeface="맑은 고딕"/>
              </a:rPr>
              <a:t>지식에 잇는다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문서에서 지식으로</a:t>
            </a:r>
          </a:p>
          <a:p>
            <a:pPr algn="ctr">
              <a:lnSpc>
                <a:spcPct val="110000"/>
              </a:lnSpc>
              <a:spcAft>
                <a:spcPts val="400"/>
              </a:spcAft>
            </a:pPr>
            <a:r>
              <a:rPr sz="1350" b="0">
                <a:solidFill>
                  <a:srgbClr val="1F2A3A"/>
                </a:solidFill>
                <a:latin typeface="맑은 고딕"/>
                <a:ea typeface="맑은 고딕"/>
                <a:cs typeface="맑은 고딕"/>
              </a:rPr>
              <a:t>매뉴얼에서</a:t>
            </a:r>
          </a:p>
          <a:p>
            <a:pPr algn="ctr">
              <a:lnSpc>
                <a:spcPct val="110000"/>
              </a:lnSpc>
              <a:spcAft>
                <a:spcPts val="400"/>
              </a:spcAft>
            </a:pPr>
            <a:r>
              <a:rPr sz="1350" b="0">
                <a:solidFill>
                  <a:srgbClr val="1F2A3A"/>
                </a:solidFill>
                <a:latin typeface="맑은 고딕"/>
                <a:ea typeface="맑은 고딕"/>
                <a:cs typeface="맑은 고딕"/>
              </a:rPr>
              <a:t>지식을 뽑아 검토하고</a:t>
            </a:r>
          </a:p>
          <a:p>
            <a:pPr algn="ctr">
              <a:lnSpc>
                <a:spcPct val="110000"/>
              </a:lnSpc>
              <a:spcAft>
                <a:spcPts val="400"/>
              </a:spcAft>
            </a:pPr>
            <a:r>
              <a:rPr sz="1350" b="0">
                <a:solidFill>
                  <a:srgbClr val="1F2A3A"/>
                </a:solidFill>
                <a:latin typeface="맑은 고딕"/>
                <a:ea typeface="맑은 고딕"/>
                <a:cs typeface="맑은 고딕"/>
              </a:rPr>
              <a:t>출처와 함께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에이전트와 프로세스</a:t>
            </a:r>
          </a:p>
          <a:p>
            <a:pPr algn="ctr">
              <a:lnSpc>
                <a:spcPct val="110000"/>
              </a:lnSpc>
              <a:spcAft>
                <a:spcPts val="400"/>
              </a:spcAft>
            </a:pPr>
            <a:r>
              <a:rPr sz="1350" b="0">
                <a:solidFill>
                  <a:srgbClr val="1F2A3A"/>
                </a:solidFill>
                <a:latin typeface="맑은 고딕"/>
                <a:ea typeface="맑은 고딕"/>
                <a:cs typeface="맑은 고딕"/>
              </a:rPr>
              <a:t>이 지식을 조회해</a:t>
            </a:r>
          </a:p>
          <a:p>
            <a:pPr algn="ctr">
              <a:lnSpc>
                <a:spcPct val="110000"/>
              </a:lnSpc>
              <a:spcAft>
                <a:spcPts val="400"/>
              </a:spcAft>
            </a:pPr>
            <a:r>
              <a:rPr sz="1350" b="0">
                <a:solidFill>
                  <a:srgbClr val="1F2A3A"/>
                </a:solidFill>
                <a:latin typeface="맑은 고딕"/>
                <a:ea typeface="맑은 고딕"/>
                <a:cs typeface="맑은 고딕"/>
              </a:rPr>
              <a:t>판단하고</a:t>
            </a:r>
          </a:p>
          <a:p>
            <a:pPr algn="ctr">
              <a:lnSpc>
                <a:spcPct val="110000"/>
              </a:lnSpc>
              <a:spcAft>
                <a:spcPts val="400"/>
              </a:spcAft>
            </a:pPr>
            <a:r>
              <a:rPr sz="1350" b="0">
                <a:solidFill>
                  <a:srgbClr val="1F2A3A"/>
                </a:solidFill>
                <a:latin typeface="맑은 고딕"/>
                <a:ea typeface="맑은 고딕"/>
                <a:cs typeface="맑은 고딕"/>
              </a:rPr>
              <a:t>승인과 실행으로 잇는다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 센서, 증상, 원인, 조치가 이름과 방향이 있는 관계로 이어진 그림 한 장이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처음 쓴 약어의 정식 명칭과 HYD에서 그 역할을 맡는 구성요소를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OT · IT</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Operational Technology · Information Technology</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영역 · 분석 영역</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DMZ</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Demilitarized Zone</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수집 · 명령 검사 구역</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PLC</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센서 값 읽기 · 인터록</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MQTT</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Message Queuing Telemetry Transport</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브로커 EMQX</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SCADA</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Supervisory Control and Data Acquisition</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HMI</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Human-Machine Interface</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FUXA의 운전 화면</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HITL</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담당자의 승인 · 거절</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MES</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납기의 출처</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추천과 실행의 책임 경계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추천했으며 담당자는 아직 승인하지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상태를 바르게 설명한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추천과 동시에 팬 속도 명령을 설비로 보냈다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지식 그래프에 조치가 연결되어 있으므로 승인 없이 실행된다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일정 시간이 지나면 추천안이 자동으로 실행된다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 명령은 아직 만들어지지 않았고 승인을 기다린다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모두 값과 원인, 이름과 방향, 추천과 실행을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추천까지만 한다. 명령은 담당자가 승인한 뒤에만 만들어진다.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