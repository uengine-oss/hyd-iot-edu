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우체국의 사서함에 견줄 수 있습니다. 받는 사람의 위치를 몰라도 번호만 알면 된다는 점이 닮았고, 브로커가 메시지를 보관하지 않고 바로 넘긴다는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건물의 안내 데스크에 견줄 수 있습니다. 정해진 창구를 거친다는 점이 닮았고, 사람을 들여보내는 것이 아니라 값을 한 방향으로 옮겨 적는다는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Claude Code, Python, Docker입니다.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병원으로 치면 검사 수치, 정상 범위를 벗어났다는 표시, 의사의 진단에 해당합니다. 수치와 진단이 별개의 일이라는 점이 닮았고, 설비에서는 조치를 정할 때 생산 일정까지 함께 따진다는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18.png"/><Relationship Id="rId5" Type="http://schemas.openxmlformats.org/officeDocument/2006/relationships/image" Target="../media/image61.png"/><Relationship Id="rId6" Type="http://schemas.openxmlformats.org/officeDocument/2006/relationships/image" Target="../media/image6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5.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6.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68.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6.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7.png"/><Relationship Id="rId4"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4.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7.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7.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0.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9.png"/><Relationship Id="rId4" Type="http://schemas.openxmlformats.org/officeDocument/2006/relationships/image" Target="../media/image22.png"/><Relationship Id="rId5" Type="http://schemas.openxmlformats.org/officeDocument/2006/relationships/image" Target="../media/image91.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9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58453316502296973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117874180121841246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124061984801950733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719928980851214397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719928980851214397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504269160643282094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906766835599205476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424439118851598647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4076699734155232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442046704049402214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Claude Code</a:t>
            </a:r>
          </a:p>
          <a:p>
            <a:pPr algn="l">
              <a:lnSpc>
                <a:spcPct val="110000"/>
              </a:lnSpc>
              <a:spcAft>
                <a:spcPts val="400"/>
              </a:spcAft>
            </a:pPr>
            <a:r>
              <a:rPr sz="1350" b="0">
                <a:solidFill>
                  <a:srgbClr val="1F2A3A"/>
                </a:solidFill>
                <a:latin typeface="맑은 고딕"/>
                <a:ea typeface="맑은 고딕"/>
                <a:cs typeface="맑은 고딕"/>
              </a:rPr>
              <a:t>• 터미널에서 동작하는 코딩 에이전트이다</a:t>
            </a:r>
          </a:p>
          <a:p>
            <a:pPr algn="l">
              <a:lnSpc>
                <a:spcPct val="110000"/>
              </a:lnSpc>
              <a:spcAft>
                <a:spcPts val="400"/>
              </a:spcAft>
            </a:pPr>
            <a:r>
              <a:rPr sz="1350" b="0">
                <a:solidFill>
                  <a:srgbClr val="1F2A3A"/>
                </a:solidFill>
                <a:latin typeface="맑은 고딕"/>
                <a:ea typeface="맑은 고딕"/>
                <a:cs typeface="맑은 고딕"/>
              </a:rPr>
              <a:t>• 랩에서 코드를 만들 때 쓴다</a:t>
            </a:r>
          </a:p>
          <a:p>
            <a:pPr algn="l">
              <a:lnSpc>
                <a:spcPct val="110000"/>
              </a:lnSpc>
              <a:spcAft>
                <a:spcPts val="400"/>
              </a:spcAft>
            </a:pPr>
            <a:r>
              <a:rPr sz="1350" b="0">
                <a:solidFill>
                  <a:srgbClr val="1F2A3A"/>
                </a:solidFill>
                <a:latin typeface="맑은 고딕"/>
                <a:ea typeface="맑은 고딕"/>
                <a:cs typeface="맑은 고딕"/>
              </a:rPr>
              <a:t>• HYD 안에서는 에이전트 작업을 수행한다</a:t>
            </a:r>
          </a:p>
        </p:txBody>
      </p:sp>
      <p:sp>
        <p:nvSpPr>
          <p:cNvPr id="16" name="Rounded Rectangle 15"/>
          <p:cNvSpPr/>
          <p:nvPr/>
        </p:nvSpPr>
        <p:spPr>
          <a:xfrm>
            <a:off x="3619423" y="534352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34352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669425526014622961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566443210397955291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229298133558571961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46455501669956932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108614431979613761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538615098373136628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46812064993629901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847424660985528423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552456593243461076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