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쌓이고,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그림을 한 부분씩 나누어 다시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그림을 한 부분씩 다시 보겠습니다. 먼저 작동유가 도는 길입니다. 펌프가 탱크의 작동유를 빨아올려 압력을 걸어 보내면 부하 쪽 기계가 그 압력으로 움직이고, 일을 마친 작동유는 쿨러를 지나 탱크로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값에는 태그라는 이름이 붙습니다. 오늘 계속 나오는 태그가 이 넷입니다. 유온 TS1과 냉각 효율 CE를 중심으로 따라가고, 토출 압력 PS1과 팬 진동 VS1은 뒤에서 원인을 가릴 때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열이 빠져나가는 자리입니다. 부하에서 일을 하고 돌아온 작동유는 뜨겁습니다. 이 작동유가 오일 쿨러의 관을 지나는 동안 팬이 보내는 바람이 열을 가져갑니다.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사건의 출발점입니다. 쿨러가 열을 충분히 내보내지 못하면 작동유가 덜 식은 채 탱크로 돌아가 다시 돕니다. 그러면 쿨러로 들어오는 작동유의 온도, 곧 TS1이 조금씩 올라갑니다.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인터록으로 설비를 세웁니다. HYD에서는 plant-sim이 설비와 PLC의 일을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 쪽에서 올라오는 것은 두 종류입니다. 하나는 태그 값이고, 다른 하나는 운전 상태입니다. 원격 자동 모드로 운전 중이고 팬 속도는 60 %, 부하는 90 %이며 인터록은 통과 상태라는 내용입니다. 이 운전 상태는 뒤에서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비유 제안: 우체국의 사서함. 닮은 점은 받는 사람의 위치를 몰라도 번호만 알면 된다는 것이고, 다른 점은 브로커가 메시지를 보관하지 않고 바로 넘긴다는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비유 제안: 건물의 안내 데스크. 닮은 점은 정해진 창구를 거친다는 것이고, 다른 점은 사람을 들여보내는 것이 아니라 값을 한 방향으로 옮겨 적는다는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비유 제안: 생방송과 녹화본. 닮은 점은 하나는 그 순간에만 전달되고 하나는 나중에 다시 볼 수 있다는 것이고, 다른 점은 로그의 기록도 보존 기간이 지나면 지워진다는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detector가 보는 조건을 셋으로 나누면 이렇습니다. 유온이 55 ℃를 넘었는가, 냉각 효율이 70 % 아래인가, 유온이 오르는 중인가입니다. 셋이 모두 맞아야 쿨러 성능 저하로 봅니다. 유온만 높고 냉각 효율이 정상이면 이 경보는 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기록을 확대한 그래프입니다. 유온이 55 ℃를 넘은 것은 11시 13분 4초인데 경보는 4초 뒤에 났습니다. 그 사이 조건이 계속 맞는지를 지켜본 것입니다. 값이 잠깐 튀었다가 돌아오는 경우에 경보가 울리지 않게 하려는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detector의 경보는 앞에서 보았으니 나머지 둘을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장치를 하나씩 보겠습니다. FUXA의 알람은 값 하나의 기준입니다. 유온이 60 ℃를 넘으면 화면에 띄워 운전원이 알게 합니다. 반응하는 것은 사람이고, 운전원이 화면에서 팬 속도나 부하를 직접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인터록은 알리는 것이 아니라 세우는 것입니다. 유온이 65 ℃를 넘으면 PLC가 설비를 정지시킵니다. 자동으로 풀리지 않으며, 유온이 55 ℃ 아래로 내려온 뒤에 사람이 다시 걸어야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반응합니다. 대신 냉각 효율과 추세까지 함께 맞아야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cmd-gateway는 관문입니다. 명령의 형식이 맞는지, 유효 시간이 지나지 않았는지, 승인 기록이 실제로 있는지, PLC가 원격 자동 상태인지를 확인합니다. 하나라도 맞지 않으면 그 명령은 버립니다. 승인 기록을 따로 확인하므로 승인 없이 만들어진 명령은 설비에 닿지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관문을 지난 명령도 PLC가 다시 검사합니다. 값이 허용 범위 안인지, 인터록에 걸려 있지 않은지를 봅니다. 통과하면 설정값을 바꾸고 결과를 돌려보내며, 이 사건에서는 실행 완료와 인터록 통과라는 응답이 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조치가 늦어진 것은 이 구간이 아니라 그 앞의 판단 구간이었습니다.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영역별로 다시 묶겠습니다. OT에는 설비와 PLC, 브로커, 운전 화면이 있습니다. 이 영역에서 가장 중요한 것은 멈추지 않는 것과 안전입니다. 그래서 IT 쪽이 모두 멈춰도 OT 안의 제어와 운전 화면은 그대로 동작합니다.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DMZ에는 서비스가 둘뿐입니다. 올라가는 길을 맡은 connect-ingest와 내려가는 길을 맡은 cmd-gateway입니다. OT와 IT 양쪽에 함께 닿는 것은 이 둘뿐이어서, 두 영역 사이를 오가는 것은 모두 이 둘을 거칩니다. 길을 방향별로 나누어 둔 것이 요점입니다.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IT는 기록하고 분석하고 판단하는 영역입니다. 값을 순서대로 보관하는 Redpanda, 시각과 함께 저장하는 TimescaleDB, 이상을 감지하는 detector, 이력을 보여 주는 Grafana가 여기에 있습니다.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받는 것과 내는 것으로 다시 보겠습니다. 1계층은 물리량과 설정값을 받아 태그 값과 운전 상태를 냅니다. 2계층은 그것을 받아 토픽에 실린 메시지로 냅니다. 한 계층이 낸 것이 다음 계층이 받는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3계층은 하는 일이 셋입니다. 값을 올리고, 기록하고, 명령을 내립니다. 그래서 이 계층은 DMZ와 IT 두 영역에 걸쳐 있습니다. 위의 계층들은 모두 이 계층의 기록을 읽어서 일합니다.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4계층과 5계층은 같은 기록을 읽습니다. 4계층은 값이 들어오는 대로 계산해 가공 데이터와 경보를 내고, 5계층은 값을 표에 저장해 나중에 조회할 수 있게 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7계층은 지식을 보관하고, 8계층의 에이전트는 원인을 가려 조치를 추천하며, 9계층은 승인을 받아 조치를 실행합니다.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세 계층도 받는 것과 내는 것으로 이어집니다. 7계층이 지식을 내면 8계층의 에이전트가 그것을 조회해 추천안을 냅니다. 9계층은 그 추천안을 담당자에게 보여 승인을 받고, 승인된 것만 명령으로 만들어 실행한 뒤 기록을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Claude Code, Python, Docker입니다.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비유 제안: 체온계의 고열 표시. 닮은 점은 열이 난다는 사실은 바로 알지만 어떤 병인지는 진찰해야 안다는 것이고, 다른 점은 이 사건에서는 응급 조치를 고르는 데에도 원인 판단이 먼저 필요했다는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 팬 구동 불량, 주변 온도 상승입니다. 유온만 보아서는 셋을 구분할 수 없고, 가르는 값은 다른 센서에서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 세 후보를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후보는 쿨러 핀 오염입니다. 쿨러의 핀에 먼지나 유막이 끼어 바람이 지나가지 못하는 경우입니다. 냉각 효율이 70 % 아래이고 팬 진동이 정상이면 여기에 해당합니다. 이 사건의 값은 46.2 %와 0.575여서 조건에 맞았습니다.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후보는 팬 구동 불량입니다. 팬이 제 속도로 돌지 못해 바람이 줄어드는 경우입니다. 이때는 팬 진동이 커집니다. 이 사건에서는 팬 진동이 0.575로 정상이어서 이 후보는 배제되었습니다.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후보는 주변 온도 상승입니다. 쿨러는 멀쩡한데 설비 둘레의 공기가 더워서 식히는 효과가 줄어드는 경우입니다. 캐비닛 온도가 35 ℃ 이상이면 해당합니다. 이 사건에서는 28 ℃여서 배제되었고, 남은 것이 쿨러 핀 오염입니다.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비유 제안: 병원의 검사 수치, 정상 범위를 벗어났다는 표시, 의사의 진단. 닮은 점은 수치와 진단이 별개의 일이라는 것이고, 다른 점은 설비에서는 조치를 정할 때 생산 일정까지 함께 따진다는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낱말을 하나씩 보겠습니다. 데이터는 이런 수치입니다. 이 숫자만 보아서는 무엇을 잰 것인지, 단위가 무엇인지, 높은 것인지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수치에 세 가지가 붙으면 정보가 됩니다. 무엇의 값인지, 단위가 무엇인지, 기준이 어디인지입니다. 55.71에 HYD-01의 유온이고 섭씨이며 기준 55를 넘었다는 의미가 붙으면 비로소 유온이 기준을 넘었다고 말할 수 있습니다. 태그 이름과 경보 조건이 이 일을 해 줍니다.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나누어 보겠습니다. 46.2는 데이터입니다. 냉각 효율이 46.2 %이고 기준보다 낮다는 것은 정보입니다. 냉각 효율이 낮고 팬 진동이 정상이면 핀 오염이라는 것과, 핀 오염이면 세척한다는 것은 지식입니다. 왜와 무엇을에 답하는 것은 지식뿐입니다.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곳을 하나씩 보겠습니다. 판별에 쓴 센서 값은 TimescaleDB에 있습니다. 설비가 지금 원격 자동으로 운전 중인지, 팬이 몇 퍼센트로 도는지는 PLC의 상태 메시지에 있습니다. 둘 다 매초 바뀌는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후보와 판별 기준은 설비 매뉴얼에 있습니다. 실제 문장이 이렇습니다. 필요한 내용은 다 들어 있지만 사람이 읽고 해석해야 하는 문장입니다. 그리고 이 대목을 어느 경보가 났을 때 펼쳐야 하는지는 매뉴얼에 적혀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바깥의 정보도 쓰입니다. 생산 계획과 실적을 관리하는 MES에는 이 사건 당시 긴급 오더의 납기가 약 6시간 남았다고 기록되어 있었습니다. 어떤 조치가 맞는지는 설비의 값만으로 정해지지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정보는 모두 어딘가에 있습니다. 없는 것은 연결입니다. 이 경보가 났을 때 매뉴얼의 어느 대목을 보아야 하는지, 그 대목의 기준을 어느 태그의 값과 비교해야 하는지, 그 원인이면 어떤 조치가 맞는지는 어느 시스템에도 들어 있지 않습니다. 지금까지 그 연결은 누가 맡아 왔는지를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표에 적은 모습을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 적은 모습입니다. 고장 유형 하나에 원인이 셋이고 핀 오염에는 확인할 값이 둘이어서, 같은 고장 유형이 네 줄에 반복됩니다. 여기에 조치와 근거 문서까지 붙이면 줄은 더 늘어납니다. 그리고 표는 어느 줄이 어느 줄과 이어지는지를 스스로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이 그림을 두 부분으로 나누어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그림에서 위쪽 두 화살표만 보겠습니다. 두 화살표가 모두 가운데의 고장 유형으로 들어옵니다. 증상에서 원인으로 곧장 가는 선은 없습니다. 그래서 고장 유형 하나에 원인이 여러 개 붙을 수 있고, 앞에서 본 세 후보가 이 자리에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아래쪽 화살표입니다. 조치는 원인이 아니라 고장 유형에 붙어 있습니다. 쿨러 냉각 성능 상실이라는 고장 유형에서 MITIGATED_BY를 따라가면 팬 최대 운전이 나옵니다. 고장 유형이 정해지면 그 고장을 완화하는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걸음으로 본 길을 한 줄로 놓으면 이렇습니다. 여섯 종류의 대상과 다섯 관계입니다. 앞에서 숙련자가 머릿속에서 잇던 화살표가 이것입니다.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가지를 하나씩 보겠습니다. 종류는 대상의 갈래입니다. HYD의 온톨로지는 설비 쪽, 진단 쪽, 조치 쪽으로 종류를 둡니다. 쿨러 핀 오염은 원인이라는 종류에 속하는 대상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칸입니다. 유온이라는 대상에는 단위와 정상값과 한계가 적혀 있습니다. 앞에서 수치에 의미를 붙이면 정보가 된다고 했는데, 그 의미가 적혀 있는 자리가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관계에는 이름이 있고 이름마다 뜻이 다릅니다. 같은 고장 유형에서 조치로 가는 선이라도 MITIGATED_BY는 우선 완화한다는 뜻이고 REMEDIED_BY는 근본적으로 없앤다는 뜻입니다. 앞에서 본 완화 조치와 근본 조치의 구분이 온톨로지에서는 서로 다른 이름의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제약은 지켜야 하는 조건입니다. CAUSES는 원인에서 고장 유형으로만 이을 수 있어서, 증상에서 조치로 그은 오른쪽은 어긋납니다.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31.png"/><Relationship Id="rId6" Type="http://schemas.openxmlformats.org/officeDocument/2006/relationships/image" Target="../media/image4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9.png"/><Relationship Id="rId4" Type="http://schemas.openxmlformats.org/officeDocument/2006/relationships/image" Target="../media/image31.png"/><Relationship Id="rId5" Type="http://schemas.openxmlformats.org/officeDocument/2006/relationships/image" Target="../media/image4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4.png"/><Relationship Id="rId4" Type="http://schemas.openxmlformats.org/officeDocument/2006/relationships/image" Target="../media/image4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2.png"/><Relationship Id="rId4" Type="http://schemas.openxmlformats.org/officeDocument/2006/relationships/image" Target="../media/image47.png"/><Relationship Id="rId5" Type="http://schemas.openxmlformats.org/officeDocument/2006/relationships/image" Target="../media/image4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0.png"/><Relationship Id="rId4"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5.png"/><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5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2.png"/><Relationship Id="rId4" Type="http://schemas.openxmlformats.org/officeDocument/2006/relationships/image" Target="../media/image5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9.png"/><Relationship Id="rId4" Type="http://schemas.openxmlformats.org/officeDocument/2006/relationships/image" Target="../media/image54.png"/><Relationship Id="rId5" Type="http://schemas.openxmlformats.org/officeDocument/2006/relationships/image" Target="../media/image5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9.png"/><Relationship Id="rId4" Type="http://schemas.openxmlformats.org/officeDocument/2006/relationships/image" Target="../media/image58.png"/><Relationship Id="rId5" Type="http://schemas.openxmlformats.org/officeDocument/2006/relationships/image" Target="../media/image1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5.png"/><Relationship Id="rId4" Type="http://schemas.openxmlformats.org/officeDocument/2006/relationships/image" Target="../media/image54.png"/><Relationship Id="rId5" Type="http://schemas.openxmlformats.org/officeDocument/2006/relationships/image" Target="../media/image5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1.png"/><Relationship Id="rId4" Type="http://schemas.openxmlformats.org/officeDocument/2006/relationships/image" Target="../media/image59.png"/><Relationship Id="rId5" Type="http://schemas.openxmlformats.org/officeDocument/2006/relationships/image" Target="../media/image35.png"/><Relationship Id="rId6" Type="http://schemas.openxmlformats.org/officeDocument/2006/relationships/image" Target="../media/image6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5.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47.png"/><Relationship Id="rId7" Type="http://schemas.openxmlformats.org/officeDocument/2006/relationships/image" Target="../media/image6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6.png"/><Relationship Id="rId6" Type="http://schemas.openxmlformats.org/officeDocument/2006/relationships/image" Target="../media/image45.png"/><Relationship Id="rId7" Type="http://schemas.openxmlformats.org/officeDocument/2006/relationships/image" Target="../media/image3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1.png"/><Relationship Id="rId6" Type="http://schemas.openxmlformats.org/officeDocument/2006/relationships/image" Target="../media/image6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7.png"/><Relationship Id="rId4" Type="http://schemas.openxmlformats.org/officeDocument/2006/relationships/image" Target="../media/image56.png"/><Relationship Id="rId5" Type="http://schemas.openxmlformats.org/officeDocument/2006/relationships/image" Target="../media/image4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47.png"/><Relationship Id="rId5" Type="http://schemas.openxmlformats.org/officeDocument/2006/relationships/image" Target="../media/image2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2.png"/><Relationship Id="rId4" Type="http://schemas.openxmlformats.org/officeDocument/2006/relationships/image" Target="../media/image60.png"/><Relationship Id="rId5" Type="http://schemas.openxmlformats.org/officeDocument/2006/relationships/image" Target="../media/image1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7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0.png"/><Relationship Id="rId4"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9.png"/><Relationship Id="rId4" Type="http://schemas.openxmlformats.org/officeDocument/2006/relationships/image" Target="../media/image34.png"/><Relationship Id="rId5" Type="http://schemas.openxmlformats.org/officeDocument/2006/relationships/image" Target="../media/image7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5.png"/><Relationship Id="rId4" Type="http://schemas.openxmlformats.org/officeDocument/2006/relationships/image" Target="../media/image2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7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8.png"/><Relationship Id="rId4" Type="http://schemas.openxmlformats.org/officeDocument/2006/relationships/image" Target="../media/image62.png"/><Relationship Id="rId5" Type="http://schemas.openxmlformats.org/officeDocument/2006/relationships/image" Target="../media/image6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4.png"/><Relationship Id="rId4" Type="http://schemas.openxmlformats.org/officeDocument/2006/relationships/image" Target="../media/image18.png"/><Relationship Id="rId5" Type="http://schemas.openxmlformats.org/officeDocument/2006/relationships/image" Target="../media/image75.png"/><Relationship Id="rId6" Type="http://schemas.openxmlformats.org/officeDocument/2006/relationships/image" Target="../media/image7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35.png"/><Relationship Id="rId4" Type="http://schemas.openxmlformats.org/officeDocument/2006/relationships/image" Target="../media/image62.png"/><Relationship Id="rId5" Type="http://schemas.openxmlformats.org/officeDocument/2006/relationships/image" Target="../media/image60.png"/><Relationship Id="rId6" Type="http://schemas.openxmlformats.org/officeDocument/2006/relationships/image" Target="../media/image17.png"/><Relationship Id="rId7" Type="http://schemas.openxmlformats.org/officeDocument/2006/relationships/image" Target="../media/image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7.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13.png"/><Relationship Id="rId4" Type="http://schemas.openxmlformats.org/officeDocument/2006/relationships/image" Target="../media/image6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7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31.png"/><Relationship Id="rId4" Type="http://schemas.openxmlformats.org/officeDocument/2006/relationships/image" Target="../media/image67.png"/><Relationship Id="rId5" Type="http://schemas.openxmlformats.org/officeDocument/2006/relationships/image" Target="../media/image1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23.png"/><Relationship Id="rId4" Type="http://schemas.openxmlformats.org/officeDocument/2006/relationships/image" Target="../media/image82.png"/><Relationship Id="rId5" Type="http://schemas.openxmlformats.org/officeDocument/2006/relationships/image" Target="../media/image4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2.png"/><Relationship Id="rId4"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24.png"/><Relationship Id="rId4" Type="http://schemas.openxmlformats.org/officeDocument/2006/relationships/image" Target="../media/image8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7.png"/><Relationship Id="rId4" Type="http://schemas.openxmlformats.org/officeDocument/2006/relationships/image" Target="../media/image67.png"/><Relationship Id="rId5" Type="http://schemas.openxmlformats.org/officeDocument/2006/relationships/image" Target="../media/image8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8.png"/><Relationship Id="rId4" Type="http://schemas.openxmlformats.org/officeDocument/2006/relationships/image" Target="../media/image67.png"/><Relationship Id="rId5" Type="http://schemas.openxmlformats.org/officeDocument/2006/relationships/image" Target="../media/image8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9.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90.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9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35.png"/><Relationship Id="rId4" Type="http://schemas.openxmlformats.org/officeDocument/2006/relationships/image" Target="../media/image31.png"/><Relationship Id="rId5" Type="http://schemas.openxmlformats.org/officeDocument/2006/relationships/image" Target="../media/image6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92.png"/><Relationship Id="rId4" Type="http://schemas.openxmlformats.org/officeDocument/2006/relationships/image" Target="../media/image83.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60.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6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95.png"/><Relationship Id="rId4" Type="http://schemas.openxmlformats.org/officeDocument/2006/relationships/image" Target="../media/image9.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96.png"/><Relationship Id="rId4" Type="http://schemas.openxmlformats.org/officeDocument/2006/relationships/image" Target="../media/image97.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image" Target="../media/image93.png"/><Relationship Id="rId4" Type="http://schemas.openxmlformats.org/officeDocument/2006/relationships/image" Target="../media/image32.png"/><Relationship Id="rId5" Type="http://schemas.openxmlformats.org/officeDocument/2006/relationships/image" Target="../media/image1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98.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99.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56.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10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image" Target="../media/image103.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10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image" Target="../media/image105.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106.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107.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image" Target="../media/image35.png"/><Relationship Id="rId4" Type="http://schemas.openxmlformats.org/officeDocument/2006/relationships/image" Target="../media/image39.png"/><Relationship Id="rId5" Type="http://schemas.openxmlformats.org/officeDocument/2006/relationships/image" Target="../media/image83.png"/><Relationship Id="rId6" Type="http://schemas.openxmlformats.org/officeDocument/2006/relationships/image" Target="../media/image13.png"/><Relationship Id="rId7" Type="http://schemas.openxmlformats.org/officeDocument/2006/relationships/image" Target="../media/image31.png"/><Relationship Id="rId8" Type="http://schemas.openxmlformats.org/officeDocument/2006/relationships/image" Target="../media/image63.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28.png"/><Relationship Id="rId4" Type="http://schemas.openxmlformats.org/officeDocument/2006/relationships/image" Target="../media/image52.png"/><Relationship Id="rId5" Type="http://schemas.openxmlformats.org/officeDocument/2006/relationships/image" Target="../media/image108.png"/><Relationship Id="rId6" Type="http://schemas.openxmlformats.org/officeDocument/2006/relationships/image" Target="../media/image25.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image" Target="../media/image30.png"/><Relationship Id="rId4" Type="http://schemas.openxmlformats.org/officeDocument/2006/relationships/image" Target="../media/image109.png"/><Relationship Id="rId5" Type="http://schemas.openxmlformats.org/officeDocument/2006/relationships/image" Target="../media/image63.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image" Target="../media/image82.png"/><Relationship Id="rId4" Type="http://schemas.openxmlformats.org/officeDocument/2006/relationships/image" Target="../media/image63.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image" Target="../media/image24.png"/><Relationship Id="rId4" Type="http://schemas.openxmlformats.org/officeDocument/2006/relationships/image" Target="../media/image110.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image" Target="../media/image11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1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35.png"/><Relationship Id="rId4" Type="http://schemas.openxmlformats.org/officeDocument/2006/relationships/image" Target="../media/image113.png"/><Relationship Id="rId5" Type="http://schemas.openxmlformats.org/officeDocument/2006/relationships/image" Target="../media/image8.png"/><Relationship Id="rId6" Type="http://schemas.openxmlformats.org/officeDocument/2006/relationships/image" Target="../media/image6.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98.png"/><Relationship Id="rId4" Type="http://schemas.openxmlformats.org/officeDocument/2006/relationships/image" Target="../media/image22.png"/><Relationship Id="rId5" Type="http://schemas.openxmlformats.org/officeDocument/2006/relationships/image" Target="../media/image114.png"/><Relationship Id="rId6" Type="http://schemas.openxmlformats.org/officeDocument/2006/relationships/image" Target="../media/image62.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image" Target="../media/image115.png"/><Relationship Id="rId4" Type="http://schemas.openxmlformats.org/officeDocument/2006/relationships/image" Target="../media/image108.png"/><Relationship Id="rId5" Type="http://schemas.openxmlformats.org/officeDocument/2006/relationships/image" Target="../media/image116.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구성요소가 무엇을 받아 무엇을 넘기는지를 적는다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806251208071961133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678865632619997759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현장 계측부터 승인과 실행까지를 아홉 기능 계층으로 나누고, 각 계층을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634702574019385390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269524252522551151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작동유의 순환: 탱크에서 부하를 거쳐 다시 탱크로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펌프가 탱크의 작동유에 압력을 걸어 부하로 보내고, 일을 마친 작동유는 쿨러를 거쳐 탱크로 돌아온다.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1_순환.svg" descr="illust_2337094074283916816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a:p>
            <a:pPr algn="ctr">
              <a:lnSpc>
                <a:spcPct val="110000"/>
              </a:lnSpc>
              <a:spcAft>
                <a:spcPts val="100"/>
              </a:spcAft>
            </a:pPr>
            <a:r>
              <a:rPr sz="1300" b="0">
                <a:solidFill>
                  <a:srgbClr val="556175"/>
                </a:solidFill>
                <a:latin typeface="맑은 고딕"/>
                <a:ea typeface="맑은 고딕"/>
                <a:cs typeface="맑은 고딕"/>
              </a:rPr>
              <a:t>작동유를 담아 둔다</a:t>
            </a:r>
          </a:p>
        </p:txBody>
      </p:sp>
      <p:sp>
        <p:nvSpPr>
          <p:cNvPr id="8" name="TextBox 7"/>
          <p:cNvSpPr txBox="1"/>
          <p:nvPr/>
        </p:nvSpPr>
        <p:spPr>
          <a:xfrm>
            <a:off x="1142936" y="321132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a:p>
            <a:pPr algn="ctr">
              <a:lnSpc>
                <a:spcPct val="110000"/>
              </a:lnSpc>
              <a:spcAft>
                <a:spcPts val="100"/>
              </a:spcAft>
            </a:pPr>
            <a:r>
              <a:rPr sz="1300" b="0">
                <a:solidFill>
                  <a:srgbClr val="556175"/>
                </a:solidFill>
                <a:latin typeface="맑은 고딕"/>
                <a:ea typeface="맑은 고딕"/>
                <a:cs typeface="맑은 고딕"/>
              </a:rPr>
              <a:t>빨아올려 압력을 건다</a:t>
            </a:r>
          </a:p>
        </p:txBody>
      </p:sp>
      <p:sp>
        <p:nvSpPr>
          <p:cNvPr id="9" name="TextBox 8"/>
          <p:cNvSpPr txBox="1"/>
          <p:nvPr/>
        </p:nvSpPr>
        <p:spPr>
          <a:xfrm>
            <a:off x="7263163"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a:p>
            <a:pPr algn="ctr">
              <a:lnSpc>
                <a:spcPct val="110000"/>
              </a:lnSpc>
              <a:spcAft>
                <a:spcPts val="100"/>
              </a:spcAft>
            </a:pPr>
            <a:r>
              <a:rPr sz="1300" b="0">
                <a:solidFill>
                  <a:srgbClr val="556175"/>
                </a:solidFill>
                <a:latin typeface="맑은 고딕"/>
                <a:ea typeface="맑은 고딕"/>
                <a:cs typeface="맑은 고딕"/>
              </a:rPr>
              <a:t>유압으로 움직이는 기계 쪽</a:t>
            </a:r>
          </a:p>
        </p:txBody>
      </p:sp>
      <p:sp>
        <p:nvSpPr>
          <p:cNvPr id="10" name="TextBox 9"/>
          <p:cNvSpPr txBox="1"/>
          <p:nvPr/>
        </p:nvSpPr>
        <p:spPr>
          <a:xfrm>
            <a:off x="4732160" y="559868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센서 값에 붙는 이름과 정상값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센서 값에는 태그 이름이 붙어 있으며, 태그마다 단위와 정상 운전 때의 값이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2434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TS1</a:t>
            </a:r>
          </a:p>
          <a:p>
            <a:pPr algn="l">
              <a:lnSpc>
                <a:spcPct val="110000"/>
              </a:lnSpc>
              <a:spcAft>
                <a:spcPts val="400"/>
              </a:spcAft>
            </a:pPr>
            <a:r>
              <a:rPr sz="1350" b="0">
                <a:solidFill>
                  <a:srgbClr val="1F2A3A"/>
                </a:solidFill>
                <a:latin typeface="맑은 고딕"/>
                <a:ea typeface="맑은 고딕"/>
                <a:cs typeface="맑은 고딕"/>
              </a:rPr>
              <a:t>• 유온</a:t>
            </a:r>
          </a:p>
          <a:p>
            <a:pPr algn="l">
              <a:lnSpc>
                <a:spcPct val="110000"/>
              </a:lnSpc>
              <a:spcAft>
                <a:spcPts val="400"/>
              </a:spcAft>
            </a:pPr>
            <a:r>
              <a:rPr sz="1350" b="0">
                <a:solidFill>
                  <a:srgbClr val="1F2A3A"/>
                </a:solidFill>
                <a:latin typeface="맑은 고딕"/>
                <a:ea typeface="맑은 고딕"/>
                <a:cs typeface="맑은 고딕"/>
              </a:rPr>
              <a:t>• 쿨러 입구의 작동유 온도</a:t>
            </a:r>
          </a:p>
        </p:txBody>
      </p:sp>
      <p:sp>
        <p:nvSpPr>
          <p:cNvPr id="10" name="Rounded Rectangle 9"/>
          <p:cNvSpPr/>
          <p:nvPr/>
        </p:nvSpPr>
        <p:spPr>
          <a:xfrm>
            <a:off x="777240" y="5029771"/>
            <a:ext cx="1030224"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29771"/>
            <a:ext cx="103022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정상 48 ℃</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CE</a:t>
            </a:r>
          </a:p>
          <a:p>
            <a:pPr algn="l">
              <a:lnSpc>
                <a:spcPct val="110000"/>
              </a:lnSpc>
              <a:spcAft>
                <a:spcPts val="400"/>
              </a:spcAft>
            </a:pPr>
            <a:r>
              <a:rPr sz="1350" b="0">
                <a:solidFill>
                  <a:srgbClr val="1F2A3A"/>
                </a:solidFill>
                <a:latin typeface="맑은 고딕"/>
                <a:ea typeface="맑은 고딕"/>
                <a:cs typeface="맑은 고딕"/>
              </a:rPr>
              <a:t>• 냉각 효율</a:t>
            </a:r>
          </a:p>
          <a:p>
            <a:pPr algn="l">
              <a:lnSpc>
                <a:spcPct val="110000"/>
              </a:lnSpc>
              <a:spcAft>
                <a:spcPts val="400"/>
              </a:spcAft>
            </a:pPr>
            <a:r>
              <a:rPr sz="1350" b="0">
                <a:solidFill>
                  <a:srgbClr val="1F2A3A"/>
                </a:solidFill>
                <a:latin typeface="맑은 고딕"/>
                <a:ea typeface="맑은 고딕"/>
                <a:cs typeface="맑은 고딕"/>
              </a:rPr>
              <a:t>• 쿨러가 열을 내보내는 정도</a:t>
            </a:r>
          </a:p>
        </p:txBody>
      </p:sp>
      <p:sp>
        <p:nvSpPr>
          <p:cNvPr id="16" name="Rounded Rectangle 15"/>
          <p:cNvSpPr/>
          <p:nvPr/>
        </p:nvSpPr>
        <p:spPr>
          <a:xfrm>
            <a:off x="3619423" y="5029771"/>
            <a:ext cx="103022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03022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정상 84 %</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gauge" descr="gauge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PS1</a:t>
            </a:r>
          </a:p>
          <a:p>
            <a:pPr algn="l">
              <a:lnSpc>
                <a:spcPct val="110000"/>
              </a:lnSpc>
              <a:spcAft>
                <a:spcPts val="400"/>
              </a:spcAft>
            </a:pPr>
            <a:r>
              <a:rPr sz="1350" b="0">
                <a:solidFill>
                  <a:srgbClr val="1F2A3A"/>
                </a:solidFill>
                <a:latin typeface="맑은 고딕"/>
                <a:ea typeface="맑은 고딕"/>
                <a:cs typeface="맑은 고딕"/>
              </a:rPr>
              <a:t>• 토출 압력</a:t>
            </a:r>
          </a:p>
          <a:p>
            <a:pPr algn="l">
              <a:lnSpc>
                <a:spcPct val="110000"/>
              </a:lnSpc>
              <a:spcAft>
                <a:spcPts val="400"/>
              </a:spcAft>
            </a:pPr>
            <a:r>
              <a:rPr sz="1350" b="0">
                <a:solidFill>
                  <a:srgbClr val="1F2A3A"/>
                </a:solidFill>
                <a:latin typeface="맑은 고딕"/>
                <a:ea typeface="맑은 고딕"/>
                <a:cs typeface="맑은 고딕"/>
              </a:rPr>
              <a:t>• 펌프가 내보내는 압력</a:t>
            </a:r>
          </a:p>
        </p:txBody>
      </p:sp>
      <p:sp>
        <p:nvSpPr>
          <p:cNvPr id="22" name="Rounded Rectangle 21"/>
          <p:cNvSpPr/>
          <p:nvPr/>
        </p:nvSpPr>
        <p:spPr>
          <a:xfrm>
            <a:off x="6461607" y="5029771"/>
            <a:ext cx="128320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283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정상 182 bar</a:t>
            </a:r>
          </a:p>
        </p:txBody>
      </p:sp>
      <p:sp>
        <p:nvSpPr>
          <p:cNvPr id="24" name="Rounded Rectangle 23"/>
          <p:cNvSpPr/>
          <p:nvPr/>
        </p:nvSpPr>
        <p:spPr>
          <a:xfrm>
            <a:off x="9075191"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E7F3FD"/>
          </a:solidFill>
          <a:ln>
            <a:noFill/>
          </a:ln>
        </p:spPr>
        <p:txBody>
          <a:bodyPr rtlCol="0" anchor="ctr"/>
          <a:lstStyle/>
          <a:p>
            <a:pPr algn="ctr"/>
          </a:p>
        </p:txBody>
      </p:sp>
      <p:pic>
        <p:nvPicPr>
          <p:cNvPr id="26" name="아이콘:activity" descr="activity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VS1</a:t>
            </a:r>
          </a:p>
          <a:p>
            <a:pPr algn="l">
              <a:lnSpc>
                <a:spcPct val="110000"/>
              </a:lnSpc>
              <a:spcAft>
                <a:spcPts val="400"/>
              </a:spcAft>
            </a:pPr>
            <a:r>
              <a:rPr sz="1350" b="0">
                <a:solidFill>
                  <a:srgbClr val="1F2A3A"/>
                </a:solidFill>
                <a:latin typeface="맑은 고딕"/>
                <a:ea typeface="맑은 고딕"/>
                <a:cs typeface="맑은 고딕"/>
              </a:rPr>
              <a:t>• 팬 진동</a:t>
            </a:r>
          </a:p>
          <a:p>
            <a:pPr algn="l">
              <a:lnSpc>
                <a:spcPct val="110000"/>
              </a:lnSpc>
              <a:spcAft>
                <a:spcPts val="400"/>
              </a:spcAft>
            </a:pPr>
            <a:r>
              <a:rPr sz="1350" b="0">
                <a:solidFill>
                  <a:srgbClr val="1F2A3A"/>
                </a:solidFill>
                <a:latin typeface="맑은 고딕"/>
                <a:ea typeface="맑은 고딕"/>
                <a:cs typeface="맑은 고딕"/>
              </a:rPr>
              <a:t>• 쿨러 팬의 떨림</a:t>
            </a:r>
          </a:p>
        </p:txBody>
      </p:sp>
      <p:sp>
        <p:nvSpPr>
          <p:cNvPr id="28" name="Rounded Rectangle 27"/>
          <p:cNvSpPr/>
          <p:nvPr/>
        </p:nvSpPr>
        <p:spPr>
          <a:xfrm>
            <a:off x="9303791" y="5029771"/>
            <a:ext cx="1347215"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029771"/>
            <a:ext cx="1347215"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정상 0.6 mm/s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오일 쿨러와 팬: 작동유의 열을 내보내는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부하에서 뜨거워져 돌아온 작동유는 오일 쿨러를 지나며 팬이 보내는 바람에 열을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설비_2_냉각.svg" descr="illust_7039559808696431094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550372" y="2856768"/>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8" name="TextBox 7"/>
          <p:cNvSpPr txBox="1"/>
          <p:nvPr/>
        </p:nvSpPr>
        <p:spPr>
          <a:xfrm>
            <a:off x="6368584" y="524412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p:txBody>
      </p:sp>
      <p:sp>
        <p:nvSpPr>
          <p:cNvPr id="9" name="TextBox 8"/>
          <p:cNvSpPr txBox="1"/>
          <p:nvPr/>
        </p:nvSpPr>
        <p:spPr>
          <a:xfrm>
            <a:off x="9870532" y="3849532"/>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a:p>
            <a:pPr algn="ctr">
              <a:lnSpc>
                <a:spcPct val="110000"/>
              </a:lnSpc>
              <a:spcAft>
                <a:spcPts val="100"/>
              </a:spcAft>
            </a:pPr>
            <a:r>
              <a:rPr sz="1300" b="0">
                <a:solidFill>
                  <a:srgbClr val="556175"/>
                </a:solidFill>
                <a:latin typeface="맑은 고딕"/>
                <a:ea typeface="맑은 고딕"/>
                <a:cs typeface="맑은 고딕"/>
              </a:rPr>
              <a:t>쿨러에 바람을</a:t>
            </a:r>
          </a:p>
          <a:p>
            <a:pPr algn="ctr">
              <a:lnSpc>
                <a:spcPct val="110000"/>
              </a:lnSpc>
              <a:spcAft>
                <a:spcPts val="100"/>
              </a:spcAft>
            </a:pPr>
            <a:r>
              <a:rPr sz="1300" b="0">
                <a:solidFill>
                  <a:srgbClr val="556175"/>
                </a:solidFill>
                <a:latin typeface="맑은 고딕"/>
                <a:ea typeface="맑은 고딕"/>
                <a:cs typeface="맑은 고딕"/>
              </a:rPr>
              <a:t>보낸다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쿨러가 열을 덜 내보낼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다시 돌게 되어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설비_3_TS1.svg" descr="illust_8855497364000011051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8" name="TextBox 7"/>
          <p:cNvSpPr txBox="1"/>
          <p:nvPr/>
        </p:nvSpPr>
        <p:spPr>
          <a:xfrm>
            <a:off x="6368584"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열을 덜 내보내면</a:t>
            </a:r>
          </a:p>
          <a:p>
            <a:pPr algn="ctr">
              <a:lnSpc>
                <a:spcPct val="110000"/>
              </a:lnSpc>
              <a:spcAft>
                <a:spcPts val="100"/>
              </a:spcAft>
            </a:pPr>
            <a:r>
              <a:rPr sz="1300" b="0">
                <a:solidFill>
                  <a:srgbClr val="556175"/>
                </a:solidFill>
                <a:latin typeface="맑은 고딕"/>
                <a:ea typeface="맑은 고딕"/>
                <a:cs typeface="맑은 고딕"/>
              </a:rPr>
              <a:t>덜 식은 작동유가 다시 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센서 값을 읽어 설비를 제어하고, 값이 위험 수준에 이르면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plant-sim</a:t>
            </a:r>
          </a:p>
          <a:p>
            <a:pPr algn="l">
              <a:lnSpc>
                <a:spcPct val="110000"/>
              </a:lnSpc>
              <a:spcAft>
                <a:spcPts val="200"/>
              </a:spcAft>
            </a:pPr>
            <a:r>
              <a:rPr sz="1150" b="0">
                <a:solidFill>
                  <a:srgbClr val="556175"/>
                </a:solidFill>
                <a:latin typeface="맑은 고딕"/>
                <a:ea typeface="맑은 고딕"/>
                <a:cs typeface="맑은 고딕"/>
              </a:rPr>
              <a:t>설비 · PLC</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유압 파워팩 3기와 PLC의 동작을 맡는 프로그램이다.</a:t>
            </a:r>
          </a:p>
          <a:p>
            <a:pPr algn="l">
              <a:lnSpc>
                <a:spcPct val="110000"/>
              </a:lnSpc>
              <a:spcAft>
                <a:spcPts val="300"/>
              </a:spcAft>
            </a:pPr>
            <a:r>
              <a:rPr sz="1400" b="0">
                <a:solidFill>
                  <a:srgbClr val="1F2A3A"/>
                </a:solidFill>
                <a:latin typeface="맑은 고딕"/>
                <a:ea typeface="맑은 고딕"/>
                <a:cs typeface="맑은 고딕"/>
              </a:rPr>
              <a:t>이 과정에서 다루는 센서 값과 PLC의 응답은 plant-sim이 만든다.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넘으면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PLC가 올려 보내는 두 가지: 태그 값과 운전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 쪽에서는 태그 값과 함께 설비가 지금 어떤 상태로 운전 중인지를 알리는 상태 메시지가 올라온다.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태그 값</a:t>
            </a:r>
          </a:p>
          <a:p>
            <a:pPr algn="l">
              <a:lnSpc>
                <a:spcPct val="110000"/>
              </a:lnSpc>
              <a:spcAft>
                <a:spcPts val="400"/>
              </a:spcAft>
            </a:pPr>
            <a:r>
              <a:rPr sz="1400" b="0">
                <a:solidFill>
                  <a:srgbClr val="1F2A3A"/>
                </a:solidFill>
                <a:latin typeface="맑은 고딕"/>
                <a:ea typeface="맑은 고딕"/>
                <a:cs typeface="맑은 고딕"/>
              </a:rPr>
              <a:t>센서가 잰 값이다. 태그마다 따로 올라온다.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interlock</a:t>
            </a:r>
          </a:p>
          <a:p>
            <a:pPr algn="l">
              <a:lnSpc>
                <a:spcPct val="110000"/>
              </a:lnSpc>
              <a:spcAft>
                <a:spcPts val="400"/>
              </a:spcAft>
            </a:pPr>
            <a:r>
              <a:rPr sz="1400" b="0">
                <a:solidFill>
                  <a:srgbClr val="1F2A3A"/>
                </a:solidFill>
                <a:latin typeface="맑은 고딕"/>
                <a:ea typeface="맑은 고딕"/>
                <a:cs typeface="맑은 고딕"/>
              </a:rPr>
              <a:t>인터록에 걸리지 않았으면 PASS이다.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리니지_1_MQTT.svg" descr="illust_73950947264437739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PLC 쪽에서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받고 싶은 토픽을 브로커에 먼저 등록해 두면, 발행된 메시지를 브로커가 그 구독자에게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PLC 쪽에서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2_DMZ.svg" descr="illust_206457265302903347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토픽 경로에 있던 설비와 태그 이름을 본문에 넣어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55.71은 경보가 난 순간의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Redpanda에 쌓인 값은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저장되고, detector는 같은 값을 읽어 이상을 감지한다.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리니지_3_저장감지.svg" descr="illust_847232481885769745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TimescaleDB의 표 tag_1s에는 값 하나가 시각, 설비, 태그 이름, 값의 한 행으로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조건을 이루는 세 부분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detector의 쿨러 성능 저하 조건은 유온 하나의 기준이 아니라 두 값과 추세를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유온의 기준</a:t>
            </a:r>
          </a:p>
          <a:p>
            <a:pPr algn="l">
              <a:lnSpc>
                <a:spcPct val="110000"/>
              </a:lnSpc>
              <a:spcAft>
                <a:spcPts val="400"/>
              </a:spcAft>
            </a:pPr>
            <a:r>
              <a:rPr sz="1400" b="0">
                <a:solidFill>
                  <a:srgbClr val="1F2A3A"/>
                </a:solidFill>
                <a:latin typeface="맑은 고딕"/>
                <a:ea typeface="맑은 고딕"/>
                <a:cs typeface="맑은 고딕"/>
              </a:rPr>
              <a:t>유온 TS1이 55 ℃를 넘는다</a:t>
            </a:r>
          </a:p>
        </p:txBody>
      </p:sp>
      <p:sp>
        <p:nvSpPr>
          <p:cNvPr id="10" name="Rounded Rectangle 9"/>
          <p:cNvSpPr/>
          <p:nvPr/>
        </p:nvSpPr>
        <p:spPr>
          <a:xfrm>
            <a:off x="777240" y="4824476"/>
            <a:ext cx="100888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10088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TS1 &gt; 55</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함께 보는 값</a:t>
            </a:r>
          </a:p>
          <a:p>
            <a:pPr algn="l">
              <a:lnSpc>
                <a:spcPct val="110000"/>
              </a:lnSpc>
              <a:spcAft>
                <a:spcPts val="400"/>
              </a:spcAft>
            </a:pPr>
            <a:r>
              <a:rPr sz="1400" b="0">
                <a:solidFill>
                  <a:srgbClr val="1F2A3A"/>
                </a:solidFill>
                <a:latin typeface="맑은 고딕"/>
                <a:ea typeface="맑은 고딕"/>
                <a:cs typeface="맑은 고딕"/>
              </a:rPr>
              <a:t>냉각 효율 CE가 70 % 아래이다</a:t>
            </a:r>
          </a:p>
        </p:txBody>
      </p:sp>
      <p:sp>
        <p:nvSpPr>
          <p:cNvPr id="16" name="Rounded Rectangle 15"/>
          <p:cNvSpPr/>
          <p:nvPr/>
        </p:nvSpPr>
        <p:spPr>
          <a:xfrm>
            <a:off x="4566818" y="4824476"/>
            <a:ext cx="9144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144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CE &lt; 70</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trending-up" descr="trending-up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추세</a:t>
            </a:r>
          </a:p>
          <a:p>
            <a:pPr algn="l">
              <a:lnSpc>
                <a:spcPct val="110000"/>
              </a:lnSpc>
              <a:spcAft>
                <a:spcPts val="400"/>
              </a:spcAft>
            </a:pPr>
            <a:r>
              <a:rPr sz="1400" b="0">
                <a:solidFill>
                  <a:srgbClr val="1F2A3A"/>
                </a:solidFill>
                <a:latin typeface="맑은 고딕"/>
                <a:ea typeface="맑은 고딕"/>
                <a:cs typeface="맑은 고딕"/>
              </a:rPr>
              <a:t>유온이 오르는 중이다</a:t>
            </a:r>
          </a:p>
        </p:txBody>
      </p:sp>
      <p:sp>
        <p:nvSpPr>
          <p:cNvPr id="22" name="Rounded Rectangle 21"/>
          <p:cNvSpPr/>
          <p:nvPr/>
        </p:nvSpPr>
        <p:spPr>
          <a:xfrm>
            <a:off x="8356396" y="4824476"/>
            <a:ext cx="1088136"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0881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기울기 &gt; 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조건이 이어져야 나는 경보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기준을 넘는 순간이 아니라 조건이 일정 시간 이어진 뒤에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0" name="Oval 9"/>
          <p:cNvSpPr/>
          <p:nvPr/>
        </p:nvSpPr>
        <p:spPr>
          <a:xfrm>
            <a:off x="8138160" y="3246120"/>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3" name="Oval 12"/>
          <p:cNvSpPr/>
          <p:nvPr/>
        </p:nvSpPr>
        <p:spPr>
          <a:xfrm>
            <a:off x="8138160" y="4800600"/>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FUXA는 EMQX에서 받은 지금의 값을, Grafana는 TimescaleDB에 쌓인 이력을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FUXA의 알람: 운전원에게 지금의 값을 알린다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FUXA의 알람은 유온 하나가 60 ℃를 넘었다는 사실을 화면에서 운전원에게 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유온 TS1이 60 ℃를 넘는다</a:t>
            </a:r>
          </a:p>
        </p:txBody>
      </p:sp>
      <p:sp>
        <p:nvSpPr>
          <p:cNvPr id="10" name="Rounded Rectangle 9"/>
          <p:cNvSpPr/>
          <p:nvPr/>
        </p:nvSpPr>
        <p:spPr>
          <a:xfrm>
            <a:off x="777240" y="4932934"/>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bell" descr="bell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목적</a:t>
            </a:r>
          </a:p>
          <a:p>
            <a:pPr algn="l">
              <a:lnSpc>
                <a:spcPct val="110000"/>
              </a:lnSpc>
              <a:spcAft>
                <a:spcPts val="400"/>
              </a:spcAft>
            </a:pPr>
            <a:r>
              <a:rPr sz="1400" b="0">
                <a:solidFill>
                  <a:srgbClr val="1F2A3A"/>
                </a:solidFill>
                <a:latin typeface="맑은 고딕"/>
                <a:ea typeface="맑은 고딕"/>
                <a:cs typeface="맑은 고딕"/>
              </a:rPr>
              <a:t>지금의 상태를 운전원이 놓치지 않게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알림</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user" descr="user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반응하는 쪽</a:t>
            </a:r>
          </a:p>
          <a:p>
            <a:pPr algn="l">
              <a:lnSpc>
                <a:spcPct val="110000"/>
              </a:lnSpc>
              <a:spcAft>
                <a:spcPts val="400"/>
              </a:spcAft>
            </a:pPr>
            <a:r>
              <a:rPr sz="1400" b="0">
                <a:solidFill>
                  <a:srgbClr val="1F2A3A"/>
                </a:solidFill>
                <a:latin typeface="맑은 고딕"/>
                <a:ea typeface="맑은 고딕"/>
                <a:cs typeface="맑은 고딕"/>
              </a:rPr>
              <a:t>운전원이 화면을 보고 팬 속도나 부하를 바꾼다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인터록: 설비를 세우고 사람이 다시 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인터록은 알림이 아니라 정지이며, 한번 걸리면 유온이 내려간 뒤 사람이 다시 걸어야 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한계 초과</a:t>
            </a:r>
          </a:p>
          <a:p>
            <a:pPr algn="ctr">
              <a:lnSpc>
                <a:spcPct val="110000"/>
              </a:lnSpc>
              <a:spcAft>
                <a:spcPts val="400"/>
              </a:spcAft>
            </a:pPr>
            <a:r>
              <a:rPr sz="1350" b="0">
                <a:solidFill>
                  <a:srgbClr val="1F2A3A"/>
                </a:solidFill>
                <a:latin typeface="맑은 고딕"/>
                <a:ea typeface="맑은 고딕"/>
                <a:cs typeface="맑은 고딕"/>
              </a:rPr>
              <a:t>유온 TS1이</a:t>
            </a:r>
          </a:p>
          <a:p>
            <a:pPr algn="ctr">
              <a:lnSpc>
                <a:spcPct val="110000"/>
              </a:lnSpc>
              <a:spcAft>
                <a:spcPts val="400"/>
              </a:spcAft>
            </a:pPr>
            <a:r>
              <a:rPr sz="1350" b="0">
                <a:solidFill>
                  <a:srgbClr val="1F2A3A"/>
                </a:solidFill>
                <a:latin typeface="맑은 고딕"/>
                <a:ea typeface="맑은 고딕"/>
                <a:cs typeface="맑은 고딕"/>
              </a:rPr>
              <a:t>65 ℃를 넘는다</a:t>
            </a:r>
          </a:p>
        </p:txBody>
      </p:sp>
      <p:sp>
        <p:nvSpPr>
          <p:cNvPr id="12" name="Oval 11"/>
          <p:cNvSpPr/>
          <p:nvPr/>
        </p:nvSpPr>
        <p:spPr>
          <a:xfrm>
            <a:off x="5661507" y="2730627"/>
            <a:ext cx="868680" cy="868680"/>
          </a:xfrm>
          <a:prstGeom prst="ellipse">
            <a:avLst/>
          </a:prstGeom>
          <a:solidFill>
            <a:srgbClr val="5CB8F2"/>
          </a:solidFill>
          <a:ln>
            <a:noFill/>
          </a:ln>
        </p:spPr>
        <p:txBody>
          <a:bodyPr rtlCol="0" anchor="ctr"/>
          <a:lstStyle/>
          <a:p>
            <a:pPr algn="ctr"/>
          </a:p>
        </p:txBody>
      </p:sp>
      <p:pic>
        <p:nvPicPr>
          <p:cNvPr id="13" name="아이콘:player-stop" descr="player-stop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보호 정지</a:t>
            </a:r>
          </a:p>
          <a:p>
            <a:pPr algn="ctr">
              <a:lnSpc>
                <a:spcPct val="110000"/>
              </a:lnSpc>
              <a:spcAft>
                <a:spcPts val="400"/>
              </a:spcAft>
            </a:pPr>
            <a:r>
              <a:rPr sz="1350" b="0">
                <a:solidFill>
                  <a:srgbClr val="1F2A3A"/>
                </a:solidFill>
                <a:latin typeface="맑은 고딕"/>
                <a:ea typeface="맑은 고딕"/>
                <a:cs typeface="맑은 고딕"/>
              </a:rPr>
              <a:t>PLC가 설비를 세운다</a:t>
            </a:r>
          </a:p>
          <a:p>
            <a:pPr algn="ctr">
              <a:lnSpc>
                <a:spcPct val="110000"/>
              </a:lnSpc>
              <a:spcAft>
                <a:spcPts val="400"/>
              </a:spcAft>
            </a:pPr>
            <a:r>
              <a:rPr sz="1350" b="0">
                <a:solidFill>
                  <a:srgbClr val="1F2A3A"/>
                </a:solidFill>
                <a:latin typeface="맑은 고딕"/>
                <a:ea typeface="맑은 고딕"/>
                <a:cs typeface="맑은 고딕"/>
              </a:rPr>
              <a:t>상태가 TRIP이 된다</a:t>
            </a:r>
          </a:p>
        </p:txBody>
      </p:sp>
      <p:sp>
        <p:nvSpPr>
          <p:cNvPr id="17" name="Oval 16"/>
          <p:cNvSpPr/>
          <p:nvPr/>
        </p:nvSpPr>
        <p:spPr>
          <a:xfrm>
            <a:off x="9359646"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리셋</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오를 때 detector의 경보가 가장 먼저 반응하여 인터록에 이르기 전에 조치할 시간을 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786062"/>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원인 진단과</a:t>
            </a:r>
          </a:p>
          <a:p>
            <a:pPr algn="ctr">
              <a:lnSpc>
                <a:spcPct val="110000"/>
              </a:lnSpc>
              <a:spcAft>
                <a:spcPts val="400"/>
              </a:spcAft>
            </a:pPr>
            <a:r>
              <a:rPr sz="1350" b="0">
                <a:solidFill>
                  <a:srgbClr val="1F2A3A"/>
                </a:solidFill>
                <a:latin typeface="맑은 고딕"/>
                <a:ea typeface="맑은 고딕"/>
                <a:cs typeface="맑은 고딕"/>
              </a:rPr>
              <a:t>조치 흐름이 시작된다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화면에서 알게 된다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786062"/>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설비가</a:t>
            </a:r>
          </a:p>
          <a:p>
            <a:pPr algn="ctr">
              <a:lnSpc>
                <a:spcPct val="110000"/>
              </a:lnSpc>
              <a:spcAft>
                <a:spcPts val="400"/>
              </a:spcAft>
            </a:pPr>
            <a:r>
              <a:rPr sz="1350" b="0">
                <a:solidFill>
                  <a:srgbClr val="1F2A3A"/>
                </a:solidFill>
                <a:latin typeface="맑은 고딕"/>
                <a:ea typeface="맑은 고딕"/>
                <a:cs typeface="맑은 고딕"/>
              </a:rPr>
              <a:t>보호 정지된다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데이터가 어디서 생겨 무엇을 거쳐 무엇으로 바뀌었는지를 되짚는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cmd-gateway가 통과시키기 전에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명령의 형식, 유효 시간, 승인 기록, 설비의 운전 모드를 확인해 모두 맞는 명령만 OT로 내보낸다.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a:t>
            </a:r>
          </a:p>
          <a:p>
            <a:pPr algn="l">
              <a:lnSpc>
                <a:spcPct val="110000"/>
              </a:lnSpc>
              <a:spcAft>
                <a:spcPts val="400"/>
              </a:spcAft>
            </a:pPr>
            <a:r>
              <a:rPr sz="1350" b="0">
                <a:solidFill>
                  <a:srgbClr val="1F2A3A"/>
                </a:solidFill>
                <a:latin typeface="맑은 고딕"/>
                <a:ea typeface="맑은 고딕"/>
                <a:cs typeface="맑은 고딕"/>
              </a:rPr>
              <a:t>필요한 칸이 모두 있고 허용된 조치인가</a:t>
            </a:r>
          </a:p>
        </p:txBody>
      </p:sp>
      <p:sp>
        <p:nvSpPr>
          <p:cNvPr id="10" name="Rounded Rectangle 9"/>
          <p:cNvSpPr/>
          <p:nvPr/>
        </p:nvSpPr>
        <p:spPr>
          <a:xfrm>
            <a:off x="777240" y="4925187"/>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형식과 조치</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유효 시간</a:t>
            </a:r>
          </a:p>
          <a:p>
            <a:pPr algn="l">
              <a:lnSpc>
                <a:spcPct val="110000"/>
              </a:lnSpc>
              <a:spcAft>
                <a:spcPts val="400"/>
              </a:spcAft>
            </a:pPr>
            <a:r>
              <a:rPr sz="1350" b="0">
                <a:solidFill>
                  <a:srgbClr val="1F2A3A"/>
                </a:solidFill>
                <a:latin typeface="맑은 고딕"/>
                <a:ea typeface="맑은 고딕"/>
                <a:cs typeface="맑은 고딕"/>
              </a:rPr>
              <a:t>유효 시간이 지나지 않았는가</a:t>
            </a:r>
          </a:p>
        </p:txBody>
      </p:sp>
      <p:sp>
        <p:nvSpPr>
          <p:cNvPr id="16" name="Rounded Rectangle 15"/>
          <p:cNvSpPr/>
          <p:nvPr/>
        </p:nvSpPr>
        <p:spPr>
          <a:xfrm>
            <a:off x="3619423" y="492518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만료</a:t>
            </a:r>
          </a:p>
        </p:txBody>
      </p:sp>
      <p:sp>
        <p:nvSpPr>
          <p:cNvPr id="18" name="Rounded Rectangle 17"/>
          <p:cNvSpPr/>
          <p:nvPr/>
        </p:nvSpPr>
        <p:spPr>
          <a:xfrm>
            <a:off x="6233007"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5CB8F2"/>
          </a:solidFill>
          <a:ln>
            <a:noFill/>
          </a:ln>
        </p:spPr>
        <p:txBody>
          <a:bodyPr rtlCol="0" anchor="ctr"/>
          <a:lstStyle/>
          <a:p>
            <a:pPr algn="ctr"/>
          </a:p>
        </p:txBody>
      </p:sp>
      <p:pic>
        <p:nvPicPr>
          <p:cNvPr id="20" name="아이콘:clipboard-check" descr="clipboard-check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기록</a:t>
            </a:r>
          </a:p>
          <a:p>
            <a:pPr algn="l">
              <a:lnSpc>
                <a:spcPct val="110000"/>
              </a:lnSpc>
              <a:spcAft>
                <a:spcPts val="400"/>
              </a:spcAft>
            </a:pPr>
            <a:r>
              <a:rPr sz="1350" b="0">
                <a:solidFill>
                  <a:srgbClr val="1F2A3A"/>
                </a:solidFill>
                <a:latin typeface="맑은 고딕"/>
                <a:ea typeface="맑은 고딕"/>
                <a:cs typeface="맑은 고딕"/>
              </a:rPr>
              <a:t>이 명령에 대한 승인 기록이 실제로 있는가</a:t>
            </a:r>
          </a:p>
        </p:txBody>
      </p:sp>
      <p:sp>
        <p:nvSpPr>
          <p:cNvPr id="22" name="Rounded Rectangle 21"/>
          <p:cNvSpPr/>
          <p:nvPr/>
        </p:nvSpPr>
        <p:spPr>
          <a:xfrm>
            <a:off x="6461607" y="4925187"/>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492518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a:t>
            </a:r>
          </a:p>
        </p:txBody>
      </p:sp>
      <p:sp>
        <p:nvSpPr>
          <p:cNvPr id="24" name="Rounded Rectangle 23"/>
          <p:cNvSpPr/>
          <p:nvPr/>
        </p:nvSpPr>
        <p:spPr>
          <a:xfrm>
            <a:off x="9075191"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E7F3FD"/>
          </a:solidFill>
          <a:ln>
            <a:noFill/>
          </a:ln>
        </p:spPr>
        <p:txBody>
          <a:bodyPr rtlCol="0" anchor="ctr"/>
          <a:lstStyle/>
          <a:p>
            <a:pPr algn="ctr"/>
          </a:p>
        </p:txBody>
      </p:sp>
      <p:pic>
        <p:nvPicPr>
          <p:cNvPr id="26" name="아이콘:settings" descr="settings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모드</a:t>
            </a:r>
          </a:p>
          <a:p>
            <a:pPr algn="l">
              <a:lnSpc>
                <a:spcPct val="110000"/>
              </a:lnSpc>
              <a:spcAft>
                <a:spcPts val="400"/>
              </a:spcAft>
            </a:pPr>
            <a:r>
              <a:rPr sz="1350" b="0">
                <a:solidFill>
                  <a:srgbClr val="1F2A3A"/>
                </a:solidFill>
                <a:latin typeface="맑은 고딕"/>
                <a:ea typeface="맑은 고딕"/>
                <a:cs typeface="맑은 고딕"/>
              </a:rPr>
              <a:t>PLC가 원격 자동 운전 상태인가</a:t>
            </a:r>
          </a:p>
        </p:txBody>
      </p:sp>
      <p:sp>
        <p:nvSpPr>
          <p:cNvPr id="28" name="Rounded Rectangle 27"/>
          <p:cNvSpPr/>
          <p:nvPr/>
        </p:nvSpPr>
        <p:spPr>
          <a:xfrm>
            <a:off x="9303791" y="4925187"/>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492518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재검사와 응답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받은 명령을 한 번 더 검사한 뒤 설정값을 바꾸고, 그 결과를 상태 메시지에 실어 돌려보낸다.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ruler-measure" descr="ruler-measure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범위 확인</a:t>
            </a:r>
          </a:p>
          <a:p>
            <a:pPr algn="ctr">
              <a:lnSpc>
                <a:spcPct val="110000"/>
              </a:lnSpc>
              <a:spcAft>
                <a:spcPts val="400"/>
              </a:spcAft>
            </a:pPr>
            <a:r>
              <a:rPr sz="1350" b="0">
                <a:solidFill>
                  <a:srgbClr val="1F2A3A"/>
                </a:solidFill>
                <a:latin typeface="맑은 고딕"/>
                <a:ea typeface="맑은 고딕"/>
                <a:cs typeface="맑은 고딕"/>
              </a:rPr>
              <a:t>팬 속도는 0~100 %,</a:t>
            </a:r>
          </a:p>
          <a:p>
            <a:pPr algn="ctr">
              <a:lnSpc>
                <a:spcPct val="110000"/>
              </a:lnSpc>
              <a:spcAft>
                <a:spcPts val="400"/>
              </a:spcAft>
            </a:pPr>
            <a:r>
              <a:rPr sz="1350" b="0">
                <a:solidFill>
                  <a:srgbClr val="1F2A3A"/>
                </a:solidFill>
                <a:latin typeface="맑은 고딕"/>
                <a:ea typeface="맑은 고딕"/>
                <a:cs typeface="맑은 고딕"/>
              </a:rPr>
              <a:t>부하는 60~100 % 안인가</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인터록 확인</a:t>
            </a:r>
          </a:p>
          <a:p>
            <a:pPr algn="ctr">
              <a:lnSpc>
                <a:spcPct val="110000"/>
              </a:lnSpc>
              <a:spcAft>
                <a:spcPts val="400"/>
              </a:spcAft>
            </a:pPr>
            <a:r>
              <a:rPr sz="1350" b="0">
                <a:solidFill>
                  <a:srgbClr val="1F2A3A"/>
                </a:solidFill>
                <a:latin typeface="맑은 고딕"/>
                <a:ea typeface="맑은 고딕"/>
                <a:cs typeface="맑은 고딕"/>
              </a:rPr>
              <a:t>지금 인터록에</a:t>
            </a:r>
          </a:p>
          <a:p>
            <a:pPr algn="ctr">
              <a:lnSpc>
                <a:spcPct val="110000"/>
              </a:lnSpc>
              <a:spcAft>
                <a:spcPts val="400"/>
              </a:spcAft>
            </a:pPr>
            <a:r>
              <a:rPr sz="1350" b="0">
                <a:solidFill>
                  <a:srgbClr val="1F2A3A"/>
                </a:solidFill>
                <a:latin typeface="맑은 고딕"/>
                <a:ea typeface="맑은 고딕"/>
                <a:cs typeface="맑은 고딕"/>
              </a:rPr>
              <a:t>걸려 있지 않은가</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응답</a:t>
            </a:r>
          </a:p>
          <a:p>
            <a:pPr algn="ctr">
              <a:lnSpc>
                <a:spcPct val="110000"/>
              </a:lnSpc>
              <a:spcAft>
                <a:spcPts val="400"/>
              </a:spcAft>
            </a:pPr>
            <a:r>
              <a:rPr sz="1350" b="0">
                <a:solidFill>
                  <a:srgbClr val="1F2A3A"/>
                </a:solidFill>
                <a:latin typeface="맑은 고딕"/>
                <a:ea typeface="맑은 고딕"/>
                <a:cs typeface="맑은 고딕"/>
              </a:rPr>
              <a:t>실행 결과를 돌려보낸다</a:t>
            </a:r>
          </a:p>
          <a:p>
            <a:pPr algn="ctr">
              <a:lnSpc>
                <a:spcPct val="110000"/>
              </a:lnSpc>
              <a:spcAft>
                <a:spcPts val="400"/>
              </a:spcAft>
            </a:pPr>
            <a:r>
              <a:rPr sz="1350" b="0">
                <a:solidFill>
                  <a:srgbClr val="1F2A3A"/>
                </a:solidFill>
                <a:latin typeface="맑은 고딕"/>
                <a:ea typeface="맑은 고딕"/>
                <a:cs typeface="맑은 고딕"/>
              </a:rPr>
              <a:t>result DONE · interlock PASS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사건에서 승인된 명령은 관문과 PLC의 검사를 거쳐 1초 안에 설비에 적용되었다.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설비 명령은 담당자가 승인한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 영역: 설비를 직접 감시하고 제어하는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OT에는 설비와 PLC, 브로커 EMQX, 운전 화면 FUXA가 있으며 무엇보다 멈추지 않는 것이 먼저이다.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삽화:리니지_OT.svg" descr="illust_220606045765249745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755273"/>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직접 감시 · 제어한다</a:t>
            </a:r>
          </a:p>
        </p:txBody>
      </p:sp>
      <p:sp>
        <p:nvSpPr>
          <p:cNvPr id="8" name="TextBox 7"/>
          <p:cNvSpPr txBox="1"/>
          <p:nvPr/>
        </p:nvSpPr>
        <p:spPr>
          <a:xfrm>
            <a:off x="1372036" y="264403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 PLC</a:t>
            </a:r>
          </a:p>
        </p:txBody>
      </p:sp>
      <p:sp>
        <p:nvSpPr>
          <p:cNvPr id="9" name="TextBox 8"/>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0" name="TextBox 9"/>
          <p:cNvSpPr txBox="1"/>
          <p:nvPr/>
        </p:nvSpPr>
        <p:spPr>
          <a:xfrm>
            <a:off x="3717577" y="5466319"/>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FUXA</a:t>
            </a:r>
          </a:p>
          <a:p>
            <a:pPr algn="ctr">
              <a:lnSpc>
                <a:spcPct val="110000"/>
              </a:lnSpc>
              <a:spcAft>
                <a:spcPts val="100"/>
              </a:spcAft>
            </a:pPr>
            <a:r>
              <a:rPr sz="1300" b="0">
                <a:solidFill>
                  <a:srgbClr val="556175"/>
                </a:solidFill>
                <a:latin typeface="맑은 고딕"/>
                <a:ea typeface="맑은 고딕"/>
                <a:cs typeface="맑은 고딕"/>
              </a:rPr>
              <a:t>운전 화면</a:t>
            </a:r>
          </a:p>
        </p:txBody>
      </p:sp>
      <p:sp>
        <p:nvSpPr>
          <p:cNvPr id="11" name="TextBox 10"/>
          <p:cNvSpPr txBox="1"/>
          <p:nvPr/>
        </p:nvSpPr>
        <p:spPr>
          <a:xfrm>
            <a:off x="826561" y="455864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먼저 지키는 것</a:t>
            </a:r>
          </a:p>
          <a:p>
            <a:pPr algn="ctr">
              <a:lnSpc>
                <a:spcPct val="110000"/>
              </a:lnSpc>
              <a:spcAft>
                <a:spcPts val="100"/>
              </a:spcAft>
            </a:pPr>
            <a:r>
              <a:rPr sz="1300" b="0">
                <a:solidFill>
                  <a:srgbClr val="556175"/>
                </a:solidFill>
                <a:latin typeface="맑은 고딕"/>
                <a:ea typeface="맑은 고딕"/>
                <a:cs typeface="맑은 고딕"/>
              </a:rPr>
              <a:t>가용성, 안전, 실시간성</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DMZ 영역: 두 영역에 함께 닿는 두 서비스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DMZ에는 값을 올려 보내는 connect-ingest와 명령을 내려 보내는 cmd-gateway 두 서비스만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arrow-up" descr="arrow-up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connect-ingest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OT의 계측값을 IT로 옮긴다</a:t>
            </a:r>
          </a:p>
          <a:p>
            <a:pPr algn="l">
              <a:lnSpc>
                <a:spcPct val="110000"/>
              </a:lnSpc>
              <a:spcAft>
                <a:spcPts val="600"/>
              </a:spcAft>
            </a:pPr>
            <a:r>
              <a:rPr sz="1450" b="0">
                <a:solidFill>
                  <a:srgbClr val="1F2A3A"/>
                </a:solidFill>
                <a:latin typeface="맑은 고딕"/>
                <a:ea typeface="맑은 고딕"/>
                <a:cs typeface="맑은 고딕"/>
              </a:rPr>
              <a:t>• OT 쪽으로는 아무것도 쓰지 않는다</a:t>
            </a:r>
          </a:p>
        </p:txBody>
      </p:sp>
      <p:sp>
        <p:nvSpPr>
          <p:cNvPr id="11" name="Rounded Rectangle 10"/>
          <p:cNvSpPr/>
          <p:nvPr/>
        </p:nvSpPr>
        <p:spPr>
          <a:xfrm>
            <a:off x="868680" y="4795139"/>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올라가는 길</a:t>
            </a:r>
          </a:p>
        </p:txBody>
      </p:sp>
      <p:sp>
        <p:nvSpPr>
          <p:cNvPr id="13" name="Rounded Rectangle 12"/>
          <p:cNvSpPr/>
          <p:nvPr/>
        </p:nvSpPr>
        <p:spPr>
          <a:xfrm>
            <a:off x="6461607" y="2730373"/>
            <a:ext cx="5181447" cy="252196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931541"/>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IT의 명령을 검사해 OT로 내보낸다</a:t>
            </a:r>
          </a:p>
          <a:p>
            <a:pPr algn="l">
              <a:lnSpc>
                <a:spcPct val="110000"/>
              </a:lnSpc>
              <a:spcAft>
                <a:spcPts val="600"/>
              </a:spcAft>
            </a:pPr>
            <a:r>
              <a:rPr sz="1450" b="0">
                <a:solidFill>
                  <a:srgbClr val="1F2A3A"/>
                </a:solidFill>
                <a:latin typeface="맑은 고딕"/>
                <a:ea typeface="맑은 고딕"/>
                <a:cs typeface="맑은 고딕"/>
              </a:rPr>
              <a:t>• 검사를 통과하지 못한 명령은 버린다</a:t>
            </a:r>
          </a:p>
        </p:txBody>
      </p:sp>
      <p:sp>
        <p:nvSpPr>
          <p:cNvPr id="18" name="Rounded Rectangle 17"/>
          <p:cNvSpPr/>
          <p:nvPr/>
        </p:nvSpPr>
        <p:spPr>
          <a:xfrm>
            <a:off x="6781647" y="4795139"/>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795139"/>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내려가는 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IT 영역: 기록하고 분석하고 판단하는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IT에는 값을 기록하는 Redpanda와 TimescaleDB, 이상을 감지하는 detector, 이력을 보여 주는 Grafana가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리니지_IT.svg" descr="illust_18158930960390219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25058" y="1755273"/>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8" name="TextBox 7"/>
          <p:cNvSpPr txBox="1"/>
          <p:nvPr/>
        </p:nvSpPr>
        <p:spPr>
          <a:xfrm>
            <a:off x="7274073" y="24312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Redpanda</a:t>
            </a:r>
          </a:p>
          <a:p>
            <a:pPr algn="ctr">
              <a:lnSpc>
                <a:spcPct val="110000"/>
              </a:lnSpc>
              <a:spcAft>
                <a:spcPts val="100"/>
              </a:spcAft>
            </a:pPr>
            <a:r>
              <a:rPr sz="1300" b="0">
                <a:solidFill>
                  <a:srgbClr val="556175"/>
                </a:solidFill>
                <a:latin typeface="맑은 고딕"/>
                <a:ea typeface="맑은 고딕"/>
                <a:cs typeface="맑은 고딕"/>
              </a:rPr>
              <a:t>순서대로 보관</a:t>
            </a:r>
          </a:p>
        </p:txBody>
      </p:sp>
      <p:sp>
        <p:nvSpPr>
          <p:cNvPr id="9" name="TextBox 8"/>
          <p:cNvSpPr txBox="1"/>
          <p:nvPr/>
        </p:nvSpPr>
        <p:spPr>
          <a:xfrm>
            <a:off x="9848713" y="2431298"/>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detector</a:t>
            </a:r>
          </a:p>
          <a:p>
            <a:pPr algn="ctr">
              <a:lnSpc>
                <a:spcPct val="110000"/>
              </a:lnSpc>
              <a:spcAft>
                <a:spcPts val="100"/>
              </a:spcAft>
            </a:pPr>
            <a:r>
              <a:rPr sz="1300" b="0">
                <a:solidFill>
                  <a:srgbClr val="556175"/>
                </a:solidFill>
                <a:latin typeface="맑은 고딕"/>
                <a:ea typeface="맑은 고딕"/>
                <a:cs typeface="맑은 고딕"/>
              </a:rPr>
              <a:t>이상 감지</a:t>
            </a:r>
          </a:p>
        </p:txBody>
      </p:sp>
      <p:sp>
        <p:nvSpPr>
          <p:cNvPr id="10" name="TextBox 9"/>
          <p:cNvSpPr txBox="1"/>
          <p:nvPr/>
        </p:nvSpPr>
        <p:spPr>
          <a:xfrm>
            <a:off x="7677724" y="546631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시각과 함께 저장</a:t>
            </a:r>
          </a:p>
        </p:txBody>
      </p:sp>
      <p:sp>
        <p:nvSpPr>
          <p:cNvPr id="11" name="TextBox 10"/>
          <p:cNvSpPr txBox="1"/>
          <p:nvPr/>
        </p:nvSpPr>
        <p:spPr>
          <a:xfrm>
            <a:off x="9848713" y="5466319"/>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Grafana</a:t>
            </a:r>
          </a:p>
          <a:p>
            <a:pPr algn="ctr">
              <a:lnSpc>
                <a:spcPct val="110000"/>
              </a:lnSpc>
              <a:spcAft>
                <a:spcPts val="100"/>
              </a:spcAft>
            </a:pPr>
            <a:r>
              <a:rPr sz="1300" b="0">
                <a:solidFill>
                  <a:srgbClr val="556175"/>
                </a:solidFill>
                <a:latin typeface="맑은 고딕"/>
                <a:ea typeface="맑은 고딕"/>
                <a:cs typeface="맑은 고딕"/>
              </a:rPr>
              <a:t>이력과 추세</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계층_L1-6.svg" descr="illust_162956718905768834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브로커 EMQX가 토픽으로 메시지를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plant-sim: 유압 파워팩 3기와 PLC</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1과 Layer 2: 값이 생기고 메시지가 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1은 물리량을 값으로 만들고, Layer 2는 그 값을 메시지로 실어 나른다.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Layer 1 · 센서 네트워크 · 설비</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받는 것: 설비의 물리량과 PLC가 받아들인 설정값</a:t>
            </a:r>
          </a:p>
          <a:p>
            <a:pPr algn="l">
              <a:lnSpc>
                <a:spcPct val="110000"/>
              </a:lnSpc>
              <a:spcAft>
                <a:spcPts val="600"/>
              </a:spcAft>
            </a:pPr>
            <a:r>
              <a:rPr sz="1450" b="0">
                <a:solidFill>
                  <a:srgbClr val="1F2A3A"/>
                </a:solidFill>
                <a:latin typeface="맑은 고딕"/>
                <a:ea typeface="맑은 고딕"/>
                <a:cs typeface="맑은 고딕"/>
              </a:rPr>
              <a:t>• 내는 것: 태그 값과 운전 상태</a:t>
            </a:r>
          </a:p>
        </p:txBody>
      </p:sp>
      <p:sp>
        <p:nvSpPr>
          <p:cNvPr id="11" name="Rounded Rectangle 10"/>
          <p:cNvSpPr/>
          <p:nvPr/>
        </p:nvSpPr>
        <p:spPr>
          <a:xfrm>
            <a:off x="868680" y="4795139"/>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값이 생긴다</a:t>
            </a:r>
          </a:p>
        </p:txBody>
      </p:sp>
      <p:sp>
        <p:nvSpPr>
          <p:cNvPr id="13" name="Rounded Rectangle 12"/>
          <p:cNvSpPr/>
          <p:nvPr/>
        </p:nvSpPr>
        <p:spPr>
          <a:xfrm>
            <a:off x="6461607" y="2730373"/>
            <a:ext cx="5181447" cy="252196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931541"/>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Layer 2 · IoT 미들웨어 · MQTT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받는 것: 태그 값과 운전 상태</a:t>
            </a:r>
          </a:p>
          <a:p>
            <a:pPr algn="l">
              <a:lnSpc>
                <a:spcPct val="110000"/>
              </a:lnSpc>
              <a:spcAft>
                <a:spcPts val="600"/>
              </a:spcAft>
            </a:pPr>
            <a:r>
              <a:rPr sz="1450" b="0">
                <a:solidFill>
                  <a:srgbClr val="1F2A3A"/>
                </a:solidFill>
                <a:latin typeface="맑은 고딕"/>
                <a:ea typeface="맑은 고딕"/>
                <a:cs typeface="맑은 고딕"/>
              </a:rPr>
              <a:t>• 내는 것: 토픽에 실린 MQTT 메시지</a:t>
            </a:r>
          </a:p>
        </p:txBody>
      </p:sp>
      <p:sp>
        <p:nvSpPr>
          <p:cNvPr id="18" name="Rounded Rectangle 17"/>
          <p:cNvSpPr/>
          <p:nvPr/>
        </p:nvSpPr>
        <p:spPr>
          <a:xfrm>
            <a:off x="6781647" y="4795139"/>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메시지가 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영역을 건너고 순서대로 기록하는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3은 값을 IT로 올리고, 순서 있는 기록으로 보관하고, 검사한 명령을 OT로 내리는 세 가지 일을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arrow-up" descr="arrow-up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올린다</a:t>
            </a:r>
          </a:p>
          <a:p>
            <a:pPr algn="l">
              <a:lnSpc>
                <a:spcPct val="110000"/>
              </a:lnSpc>
              <a:spcAft>
                <a:spcPts val="400"/>
              </a:spcAft>
            </a:pPr>
            <a:r>
              <a:rPr sz="1400" b="0">
                <a:solidFill>
                  <a:srgbClr val="1F2A3A"/>
                </a:solidFill>
                <a:latin typeface="맑은 고딕"/>
                <a:ea typeface="맑은 고딕"/>
                <a:cs typeface="맑은 고딕"/>
              </a:rPr>
              <a:t>connect-ingest가 MQTT 메시지를 레코드로 옮긴다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DMZ</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stack-2" descr="stack-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기록한다</a:t>
            </a:r>
          </a:p>
          <a:p>
            <a:pPr algn="l">
              <a:lnSpc>
                <a:spcPct val="110000"/>
              </a:lnSpc>
              <a:spcAft>
                <a:spcPts val="400"/>
              </a:spcAft>
            </a:pPr>
            <a:r>
              <a:rPr sz="1400" b="0">
                <a:solidFill>
                  <a:srgbClr val="1F2A3A"/>
                </a:solidFill>
                <a:latin typeface="맑은 고딕"/>
                <a:ea typeface="맑은 고딕"/>
                <a:cs typeface="맑은 고딕"/>
              </a:rPr>
              <a:t>Redpanda가 레코드를 순서대로 보관한다</a:t>
            </a:r>
          </a:p>
        </p:txBody>
      </p:sp>
      <p:sp>
        <p:nvSpPr>
          <p:cNvPr id="16" name="Rounded Rectangle 15"/>
          <p:cNvSpPr/>
          <p:nvPr/>
        </p:nvSpPr>
        <p:spPr>
          <a:xfrm>
            <a:off x="4566818" y="4932934"/>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IT</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rrow-down" descr="arrow-dow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내린다</a:t>
            </a:r>
          </a:p>
          <a:p>
            <a:pPr algn="l">
              <a:lnSpc>
                <a:spcPct val="110000"/>
              </a:lnSpc>
              <a:spcAft>
                <a:spcPts val="400"/>
              </a:spcAft>
            </a:pPr>
            <a:r>
              <a:rPr sz="1400" b="0">
                <a:solidFill>
                  <a:srgbClr val="1F2A3A"/>
                </a:solidFill>
                <a:latin typeface="맑은 고딕"/>
                <a:ea typeface="맑은 고딕"/>
                <a:cs typeface="맑은 고딕"/>
              </a:rPr>
              <a:t>cmd-gateway가 검사한 명령만 MQTT로 내보낸다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DMZ</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4와 Layer 5: 감지하는 계층과 저장하는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4와 Layer 5는 같은 기록을 읽어 하나는 이상을 감지하고 하나는 값을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781109"/>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Layer 4 · 스트림 처리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받는 것: Redpanda의 태그 값</a:t>
            </a:r>
          </a:p>
          <a:p>
            <a:pPr algn="l">
              <a:lnSpc>
                <a:spcPct val="110000"/>
              </a:lnSpc>
              <a:spcAft>
                <a:spcPts val="600"/>
              </a:spcAft>
            </a:pPr>
            <a:r>
              <a:rPr sz="1450" b="0">
                <a:solidFill>
                  <a:srgbClr val="1F2A3A"/>
                </a:solidFill>
                <a:latin typeface="맑은 고딕"/>
                <a:ea typeface="맑은 고딕"/>
                <a:cs typeface="맑은 고딕"/>
              </a:rPr>
              <a:t>• 내는 것: 기울기 같은 가공 데이터와 경보</a:t>
            </a:r>
          </a:p>
          <a:p>
            <a:pPr algn="l">
              <a:lnSpc>
                <a:spcPct val="110000"/>
              </a:lnSpc>
              <a:spcAft>
                <a:spcPts val="600"/>
              </a:spcAft>
            </a:pPr>
            <a:r>
              <a:rPr sz="1450" b="0">
                <a:solidFill>
                  <a:srgbClr val="1F2A3A"/>
                </a:solidFill>
                <a:latin typeface="맑은 고딕"/>
                <a:ea typeface="맑은 고딕"/>
                <a:cs typeface="맑은 고딕"/>
              </a:rPr>
              <a:t>• 원인을 가리지는 않는다</a:t>
            </a:r>
          </a:p>
        </p:txBody>
      </p:sp>
      <p:sp>
        <p:nvSpPr>
          <p:cNvPr id="11" name="Rounded Rectangle 10"/>
          <p:cNvSpPr/>
          <p:nvPr/>
        </p:nvSpPr>
        <p:spPr>
          <a:xfrm>
            <a:off x="868680" y="4945570"/>
            <a:ext cx="999743"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494557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detector</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Layer 5 · 시계열 저장소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받는 것: Redpanda의 태그 값과 경보</a:t>
            </a:r>
          </a:p>
          <a:p>
            <a:pPr algn="l">
              <a:lnSpc>
                <a:spcPct val="110000"/>
              </a:lnSpc>
              <a:spcAft>
                <a:spcPts val="600"/>
              </a:spcAft>
            </a:pPr>
            <a:r>
              <a:rPr sz="1450" b="0">
                <a:solidFill>
                  <a:srgbClr val="1F2A3A"/>
                </a:solidFill>
                <a:latin typeface="맑은 고딕"/>
                <a:ea typeface="맑은 고딕"/>
                <a:cs typeface="맑은 고딕"/>
              </a:rPr>
              <a:t>• 내는 것: 시각으로 조회할 수 있는 표</a:t>
            </a:r>
          </a:p>
          <a:p>
            <a:pPr algn="l">
              <a:lnSpc>
                <a:spcPct val="110000"/>
              </a:lnSpc>
              <a:spcAft>
                <a:spcPts val="600"/>
              </a:spcAft>
            </a:pPr>
            <a:r>
              <a:rPr sz="1450" b="0">
                <a:solidFill>
                  <a:srgbClr val="1F2A3A"/>
                </a:solidFill>
                <a:latin typeface="맑은 고딕"/>
                <a:ea typeface="맑은 고딕"/>
                <a:cs typeface="맑은 고딕"/>
              </a:rPr>
              <a:t>• 판정은 하지 않는다</a:t>
            </a:r>
          </a:p>
        </p:txBody>
      </p:sp>
      <p:sp>
        <p:nvSpPr>
          <p:cNvPr id="18" name="Rounded Rectangle 17"/>
          <p:cNvSpPr/>
          <p:nvPr/>
        </p:nvSpPr>
        <p:spPr>
          <a:xfrm>
            <a:off x="6781647" y="4945570"/>
            <a:ext cx="1283208"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283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TimescaleDB</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pic>
        <p:nvPicPr>
          <p:cNvPr id="6" name="삽화:계층_L7-9.svg" descr="illust_892658264308020636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7에서 9로 넘어가는 것: 지식, 추천, 승인된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7의 지식을 Layer 8이 조회해 추천을 내고, Layer 9가 승인을 받아 그 추천을 조치로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Layer 7</a:t>
            </a:r>
          </a:p>
          <a:p>
            <a:pPr algn="ctr">
              <a:lnSpc>
                <a:spcPct val="110000"/>
              </a:lnSpc>
              <a:spcAft>
                <a:spcPts val="400"/>
              </a:spcAft>
            </a:pPr>
            <a:r>
              <a:rPr sz="1350" b="0">
                <a:solidFill>
                  <a:srgbClr val="1F2A3A"/>
                </a:solidFill>
                <a:latin typeface="맑은 고딕"/>
                <a:ea typeface="맑은 고딕"/>
                <a:cs typeface="맑은 고딕"/>
              </a:rPr>
              <a:t>내는 것</a:t>
            </a:r>
          </a:p>
          <a:p>
            <a:pPr algn="ctr">
              <a:lnSpc>
                <a:spcPct val="110000"/>
              </a:lnSpc>
              <a:spcAft>
                <a:spcPts val="400"/>
              </a:spcAft>
            </a:pPr>
            <a:r>
              <a:rPr sz="1350" b="0">
                <a:solidFill>
                  <a:srgbClr val="1F2A3A"/>
                </a:solidFill>
                <a:latin typeface="맑은 고딕"/>
                <a:ea typeface="맑은 고딕"/>
                <a:cs typeface="맑은 고딕"/>
              </a:rPr>
              <a:t>원인 후보와</a:t>
            </a:r>
          </a:p>
          <a:p>
            <a:pPr algn="ctr">
              <a:lnSpc>
                <a:spcPct val="110000"/>
              </a:lnSpc>
              <a:spcAft>
                <a:spcPts val="400"/>
              </a:spcAft>
            </a:pPr>
            <a:r>
              <a:rPr sz="1350" b="0">
                <a:solidFill>
                  <a:srgbClr val="1F2A3A"/>
                </a:solidFill>
                <a:latin typeface="맑은 고딕"/>
                <a:ea typeface="맑은 고딕"/>
                <a:cs typeface="맑은 고딕"/>
              </a:rPr>
              <a:t>조치에 관한 지식</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5730087" y="2786062"/>
            <a:ext cx="731520" cy="731520"/>
          </a:xfrm>
          <a:prstGeom prst="ellipse">
            <a:avLst/>
          </a:prstGeom>
          <a:solidFill>
            <a:srgbClr val="5CB8F2"/>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Layer 8</a:t>
            </a:r>
          </a:p>
          <a:p>
            <a:pPr algn="ctr">
              <a:lnSpc>
                <a:spcPct val="110000"/>
              </a:lnSpc>
              <a:spcAft>
                <a:spcPts val="400"/>
              </a:spcAft>
            </a:pPr>
            <a:r>
              <a:rPr sz="1350" b="0">
                <a:solidFill>
                  <a:srgbClr val="1F2A3A"/>
                </a:solidFill>
                <a:latin typeface="맑은 고딕"/>
                <a:ea typeface="맑은 고딕"/>
                <a:cs typeface="맑은 고딕"/>
              </a:rPr>
              <a:t>내는 것</a:t>
            </a:r>
          </a:p>
          <a:p>
            <a:pPr algn="ctr">
              <a:lnSpc>
                <a:spcPct val="110000"/>
              </a:lnSpc>
              <a:spcAft>
                <a:spcPts val="400"/>
              </a:spcAft>
            </a:pPr>
            <a:r>
              <a:rPr sz="1350" b="0">
                <a:solidFill>
                  <a:srgbClr val="1F2A3A"/>
                </a:solidFill>
                <a:latin typeface="맑은 고딕"/>
                <a:ea typeface="맑은 고딕"/>
                <a:cs typeface="맑은 고딕"/>
              </a:rPr>
              <a:t>근거가 붙은</a:t>
            </a:r>
          </a:p>
          <a:p>
            <a:pPr algn="ctr">
              <a:lnSpc>
                <a:spcPct val="110000"/>
              </a:lnSpc>
              <a:spcAft>
                <a:spcPts val="400"/>
              </a:spcAft>
            </a:pPr>
            <a:r>
              <a:rPr sz="1350" b="0">
                <a:solidFill>
                  <a:srgbClr val="1F2A3A"/>
                </a:solidFill>
                <a:latin typeface="맑은 고딕"/>
                <a:ea typeface="맑은 고딕"/>
                <a:cs typeface="맑은 고딕"/>
              </a:rPr>
              <a:t>추천안 하나</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786062"/>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Layer 9</a:t>
            </a:r>
          </a:p>
          <a:p>
            <a:pPr algn="ctr">
              <a:lnSpc>
                <a:spcPct val="110000"/>
              </a:lnSpc>
              <a:spcAft>
                <a:spcPts val="400"/>
              </a:spcAft>
            </a:pPr>
            <a:r>
              <a:rPr sz="1350" b="0">
                <a:solidFill>
                  <a:srgbClr val="1F2A3A"/>
                </a:solidFill>
                <a:latin typeface="맑은 고딕"/>
                <a:ea typeface="맑은 고딕"/>
                <a:cs typeface="맑은 고딕"/>
              </a:rPr>
              <a:t>내는 것</a:t>
            </a:r>
          </a:p>
          <a:p>
            <a:pPr algn="ctr">
              <a:lnSpc>
                <a:spcPct val="110000"/>
              </a:lnSpc>
              <a:spcAft>
                <a:spcPts val="400"/>
              </a:spcAft>
            </a:pPr>
            <a:r>
              <a:rPr sz="1350" b="0">
                <a:solidFill>
                  <a:srgbClr val="1F2A3A"/>
                </a:solidFill>
                <a:latin typeface="맑은 고딕"/>
                <a:ea typeface="맑은 고딕"/>
                <a:cs typeface="맑은 고딕"/>
              </a:rPr>
              <a:t>승인된 명령과</a:t>
            </a:r>
          </a:p>
          <a:p>
            <a:pPr algn="ctr">
              <a:lnSpc>
                <a:spcPct val="110000"/>
              </a:lnSpc>
              <a:spcAft>
                <a:spcPts val="400"/>
              </a:spcAft>
            </a:pPr>
            <a:r>
              <a:rPr sz="1350" b="0">
                <a:solidFill>
                  <a:srgbClr val="1F2A3A"/>
                </a:solidFill>
                <a:latin typeface="맑은 고딕"/>
                <a:ea typeface="맑은 고딕"/>
                <a:cs typeface="맑은 고딕"/>
              </a:rPr>
              <a:t>처리 기록</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Claude Code</a:t>
            </a:r>
          </a:p>
          <a:p>
            <a:pPr algn="l">
              <a:lnSpc>
                <a:spcPct val="110000"/>
              </a:lnSpc>
              <a:spcAft>
                <a:spcPts val="400"/>
              </a:spcAft>
            </a:pPr>
            <a:r>
              <a:rPr sz="1350" b="0">
                <a:solidFill>
                  <a:srgbClr val="1F2A3A"/>
                </a:solidFill>
                <a:latin typeface="맑은 고딕"/>
                <a:ea typeface="맑은 고딕"/>
                <a:cs typeface="맑은 고딕"/>
              </a:rPr>
              <a:t>• 터미널에서 동작하는 코딩 에이전트이다</a:t>
            </a:r>
          </a:p>
          <a:p>
            <a:pPr algn="l">
              <a:lnSpc>
                <a:spcPct val="110000"/>
              </a:lnSpc>
              <a:spcAft>
                <a:spcPts val="400"/>
              </a:spcAft>
            </a:pPr>
            <a:r>
              <a:rPr sz="1350" b="0">
                <a:solidFill>
                  <a:srgbClr val="1F2A3A"/>
                </a:solidFill>
                <a:latin typeface="맑은 고딕"/>
                <a:ea typeface="맑은 고딕"/>
                <a:cs typeface="맑은 고딕"/>
              </a:rPr>
              <a:t>• 랩에서 코드를 만들 때 쓴다</a:t>
            </a:r>
          </a:p>
          <a:p>
            <a:pPr algn="l">
              <a:lnSpc>
                <a:spcPct val="110000"/>
              </a:lnSpc>
              <a:spcAft>
                <a:spcPts val="400"/>
              </a:spcAft>
            </a:pPr>
            <a:r>
              <a:rPr sz="1350" b="0">
                <a:solidFill>
                  <a:srgbClr val="1F2A3A"/>
                </a:solidFill>
                <a:latin typeface="맑은 고딕"/>
                <a:ea typeface="맑은 고딕"/>
                <a:cs typeface="맑은 고딕"/>
              </a:rPr>
              <a:t>• HYD 안에서는 에이전트 작업을 수행한다</a:t>
            </a:r>
          </a:p>
        </p:txBody>
      </p:sp>
      <p:sp>
        <p:nvSpPr>
          <p:cNvPr id="16" name="Rounded Rectangle 15"/>
          <p:cNvSpPr/>
          <p:nvPr/>
        </p:nvSpPr>
        <p:spPr>
          <a:xfrm>
            <a:off x="3619423" y="534352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34352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원인후보.svg" descr="illust_6541332833142588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 후보 ①: 쿨러 핀 오염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오염은 냉각 효율이 낮은데 팬 진동은 정상일 때 해당하며, 이 사건의 값이 여기에 맞았다.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pic>
        <p:nvPicPr>
          <p:cNvPr id="6" name="삽화:원인후보_1.svg" descr="illust_8348192910646868168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7394077" y="2029465"/>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핀에 먼지나 유막이 끼어 막힌다</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 46.2 % · 0.575 → 맞는다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 후보 ②: 팬 구동 불량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구동 불량은 팬 진동이 커졌을 때 해당하며, 이 사건에서는 팬 진동이 정상이어서 배제되었다.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원인후보_2.svg" descr="illust_8771807775070950653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9" name="TextBox 8"/>
          <p:cNvSpPr txBox="1"/>
          <p:nvPr/>
        </p:nvSpPr>
        <p:spPr>
          <a:xfrm>
            <a:off x="7394077" y="3518611"/>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팬이 제 속도로 돌지 못한다</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 후보 ③: 주변 온도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주변 온도 상승은 캐비닛 온도가 높을 때 해당하며, 이 사건에서는 캐비닛 온도가 정상이어서 배제되었다.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원인후보_3.svg" descr="illust_4265389738941759060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9" name="TextBox 8"/>
          <p:cNvSpPr txBox="1"/>
          <p:nvPr/>
        </p:nvSpPr>
        <p:spPr>
          <a:xfrm>
            <a:off x="7394077" y="4936845"/>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설비 둘레의 공기가 덥다</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근본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의미가 붙지 않은 수치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데이터는 개별 수치이며, 수치만으로는 무엇의 값인지도 높은지 낮은지도 알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55.41 · 55.56 · 55.71 · 55.86</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무엇을 잰 값인가</a:t>
            </a:r>
          </a:p>
          <a:p>
            <a:pPr algn="l">
              <a:lnSpc>
                <a:spcPct val="110000"/>
              </a:lnSpc>
              <a:spcAft>
                <a:spcPts val="400"/>
              </a:spcAft>
            </a:pPr>
            <a:r>
              <a:rPr sz="1400" b="0">
                <a:solidFill>
                  <a:srgbClr val="1F2A3A"/>
                </a:solidFill>
                <a:latin typeface="맑은 고딕"/>
                <a:ea typeface="맑은 고딕"/>
                <a:cs typeface="맑은 고딕"/>
              </a:rPr>
              <a:t>수치만으로는 알 수 없다</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ruler-measure" descr="ruler-measure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단위가 무엇인가</a:t>
            </a:r>
          </a:p>
          <a:p>
            <a:pPr algn="l">
              <a:lnSpc>
                <a:spcPct val="110000"/>
              </a:lnSpc>
              <a:spcAft>
                <a:spcPts val="400"/>
              </a:spcAft>
            </a:pPr>
            <a:r>
              <a:rPr sz="1400" b="0">
                <a:solidFill>
                  <a:srgbClr val="1F2A3A"/>
                </a:solidFill>
                <a:latin typeface="맑은 고딕"/>
                <a:ea typeface="맑은 고딕"/>
                <a:cs typeface="맑은 고딕"/>
              </a:rPr>
              <a:t>수치만으로는 알 수 없다</a:t>
            </a:r>
          </a:p>
        </p:txBody>
      </p:sp>
      <p:sp>
        <p:nvSpPr>
          <p:cNvPr id="14" name="Oval 13"/>
          <p:cNvSpPr/>
          <p:nvPr/>
        </p:nvSpPr>
        <p:spPr>
          <a:xfrm>
            <a:off x="8127796" y="41800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높은가, 정상인가</a:t>
            </a:r>
          </a:p>
          <a:p>
            <a:pPr algn="l">
              <a:lnSpc>
                <a:spcPct val="110000"/>
              </a:lnSpc>
              <a:spcAft>
                <a:spcPts val="400"/>
              </a:spcAft>
            </a:pPr>
            <a:r>
              <a:rPr sz="1400" b="0">
                <a:solidFill>
                  <a:srgbClr val="1F2A3A"/>
                </a:solidFill>
                <a:latin typeface="맑은 고딕"/>
                <a:ea typeface="맑은 고딕"/>
                <a:cs typeface="맑은 고딕"/>
              </a:rPr>
              <a:t>수치만으로는 알 수 없다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정보: 수치에 붙는 세 가지 의미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붙으면 그 값이 무엇을 뜻하는지 말할 수 있는 정보가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tag" descr="tag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a:t>
            </a:r>
          </a:p>
          <a:p>
            <a:pPr algn="l">
              <a:lnSpc>
                <a:spcPct val="110000"/>
              </a:lnSpc>
              <a:spcAft>
                <a:spcPts val="400"/>
              </a:spcAft>
            </a:pPr>
            <a:r>
              <a:rPr sz="1400" b="0">
                <a:solidFill>
                  <a:srgbClr val="1F2A3A"/>
                </a:solidFill>
                <a:latin typeface="맑은 고딕"/>
                <a:ea typeface="맑은 고딕"/>
                <a:cs typeface="맑은 고딕"/>
              </a:rPr>
              <a:t>무엇의 값인가</a:t>
            </a:r>
          </a:p>
        </p:txBody>
      </p:sp>
      <p:sp>
        <p:nvSpPr>
          <p:cNvPr id="10" name="Rounded Rectangle 9"/>
          <p:cNvSpPr/>
          <p:nvPr/>
        </p:nvSpPr>
        <p:spPr>
          <a:xfrm>
            <a:off x="777240" y="4824476"/>
            <a:ext cx="174955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17495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HYD-01의 유온 TS1</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단위</a:t>
            </a:r>
          </a:p>
          <a:p>
            <a:pPr algn="l">
              <a:lnSpc>
                <a:spcPct val="110000"/>
              </a:lnSpc>
              <a:spcAft>
                <a:spcPts val="400"/>
              </a:spcAft>
            </a:pPr>
            <a:r>
              <a:rPr sz="1400" b="0">
                <a:solidFill>
                  <a:srgbClr val="1F2A3A"/>
                </a:solidFill>
                <a:latin typeface="맑은 고딕"/>
                <a:ea typeface="맑은 고딕"/>
                <a:cs typeface="맑은 고딕"/>
              </a:rPr>
              <a:t>무엇으로 잰 값인가</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어디부터가 벗어난 것인가</a:t>
            </a:r>
          </a:p>
        </p:txBody>
      </p:sp>
      <p:sp>
        <p:nvSpPr>
          <p:cNvPr id="22" name="Rounded Rectangle 21"/>
          <p:cNvSpPr/>
          <p:nvPr/>
        </p:nvSpPr>
        <p:spPr>
          <a:xfrm>
            <a:off x="8356396" y="4824476"/>
            <a:ext cx="2039112"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203911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정상 48 · 경보 조건 55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사건에서 나온 다섯 가지를 데이터, 정보, 지식으로 나누어 보면 판단에 쓰이는 것은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흩어진정보.svg" descr="illust_518573263934497325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값과 운전 상태가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지금의 센서 값은 TimescaleDB에, 설비의 운전 상태는 PLC의 상태 메시지에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pic>
        <p:nvPicPr>
          <p:cNvPr id="6" name="삽화:흩어진정보_값.svg" descr="illust_2696415345197632896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후보와 판별 기준은 설비 매뉴얼에 사람이 읽는 문장으로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형식</a:t>
            </a:r>
          </a:p>
          <a:p>
            <a:pPr algn="l">
              <a:lnSpc>
                <a:spcPct val="110000"/>
              </a:lnSpc>
              <a:spcAft>
                <a:spcPts val="400"/>
              </a:spcAft>
            </a:pPr>
            <a:r>
              <a:rPr sz="1400" b="0">
                <a:solidFill>
                  <a:srgbClr val="1F2A3A"/>
                </a:solidFill>
                <a:latin typeface="맑은 고딕"/>
                <a:ea typeface="맑은 고딕"/>
                <a:cs typeface="맑은 고딕"/>
              </a:rPr>
              <a:t>사람이 읽고 해석해야 하는 문장이다.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없는 것</a:t>
            </a:r>
          </a:p>
          <a:p>
            <a:pPr algn="l">
              <a:lnSpc>
                <a:spcPct val="110000"/>
              </a:lnSpc>
              <a:spcAft>
                <a:spcPts val="400"/>
              </a:spcAft>
            </a:pPr>
            <a:r>
              <a:rPr sz="1400" b="0">
                <a:solidFill>
                  <a:srgbClr val="1F2A3A"/>
                </a:solidFill>
                <a:latin typeface="맑은 고딕"/>
                <a:ea typeface="맑은 고딕"/>
                <a:cs typeface="맑은 고딕"/>
              </a:rPr>
              <a:t>이 문장을 어느 경보에 적용할지는 적혀 있지 않다.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밖의 정보: 생산 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고르는 데에는 설비 밖의 생산 일정도 쓰이며, 이 사건에서는 긴급 오더의 납기가 약 6시간 남아 있었다.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흩어진정보_MES.svg" descr="illust_494398985545090529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61371" y="5244129"/>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8" name="TextBox 7"/>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어디에도 들어 있지 않은 것: 정보 사이의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정보 하나하나는 어딘가에 있지만, 그 정보들을 서로 잇는 연결은 어느 시스템에도 들어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경보와 매뉴얼</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Rounded Rectangle 9"/>
          <p:cNvSpPr/>
          <p:nvPr/>
        </p:nvSpPr>
        <p:spPr>
          <a:xfrm>
            <a:off x="777240" y="493293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 없음</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기준과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 없음</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원인과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 없음</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246433"/>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246433"/>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표로 적었을 때 생기는 반복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고장에 원인이 여럿이고 원인마다 확인할 값이 다르면 표에는 같은 내용이 줄마다 반복된다.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고장 유형</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확인할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냉각 성능 상실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CE</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냉각 성능 상실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VS1</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냉각 성능 상실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구동 불량</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VS1</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냉각 성능 상실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주변 온도 상승</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TS4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pic>
        <p:nvPicPr>
          <p:cNvPr id="6" name="삽화:노드관계.svg" descr="illust_757823564597045456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103</a:t>
            </a:r>
          </a:p>
        </p:txBody>
      </p:sp>
      <p:pic>
        <p:nvPicPr>
          <p:cNvPr id="6" name="삽화:관계.svg" descr="illust_805822193771181057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증상과 원인이 만나는 자리: 고장 유형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고장 유형에서 만나므로, 한 고장 유형에 원인이 여럿 붙을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104</a:t>
            </a:r>
          </a:p>
        </p:txBody>
      </p:sp>
      <p:pic>
        <p:nvPicPr>
          <p:cNvPr id="6" name="삽화:관계_만남.svg" descr="illust_467455926291114970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조치가 붙는 자리: 원인이 아니라 고장 유형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조치는 원인이 아니라 고장 유형에 연결되어 있어, 원인이 확인되기 전에도 고장 유형에 맞는 완화 조치를 찾을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105</a:t>
            </a:r>
          </a:p>
        </p:txBody>
      </p:sp>
      <p:pic>
        <p:nvPicPr>
          <p:cNvPr id="6" name="삽화:관계_조치.svg" descr="illust_662673379493603450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8" name="TextBox 7"/>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9" name="TextBox 8"/>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107</a:t>
            </a:r>
          </a:p>
        </p:txBody>
      </p:sp>
      <p:pic>
        <p:nvPicPr>
          <p:cNvPr id="6" name="삽화:경로_1.svg" descr="illust_285749266976181923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108</a:t>
            </a:r>
          </a:p>
        </p:txBody>
      </p:sp>
      <p:pic>
        <p:nvPicPr>
          <p:cNvPr id="6" name="삽화:경로_2.svg" descr="illust_474676500131556254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증거에 적힌 값을 읽어 원인을 확인한 뒤, 고장 유형에서 MITIGATED_BY를 따라 조치에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109</a:t>
            </a:r>
          </a:p>
        </p:txBody>
      </p:sp>
      <p:pic>
        <p:nvPicPr>
          <p:cNvPr id="6" name="삽화:경로_3.svg" descr="illust_645710045511848751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건너온 길: 여섯 종류의 대상과 다섯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조치까지 컴퓨터는 여섯 종류의 대상을 다섯 관계로 건너갔다.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110</a:t>
            </a:r>
          </a:p>
        </p:txBody>
      </p:sp>
      <p:sp>
        <p:nvSpPr>
          <p:cNvPr id="6" name="Rounded Rectangle 5"/>
          <p:cNvSpPr/>
          <p:nvPr/>
        </p:nvSpPr>
        <p:spPr>
          <a:xfrm>
            <a:off x="548640" y="2723261"/>
            <a:ext cx="1529029"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947394"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101013" y="3059760"/>
            <a:ext cx="424281" cy="424281"/>
          </a:xfrm>
          <a:prstGeom prst="rect">
            <a:avLst/>
          </a:prstGeom>
        </p:spPr>
      </p:pic>
      <p:sp>
        <p:nvSpPr>
          <p:cNvPr id="9" name="TextBox 8"/>
          <p:cNvSpPr txBox="1"/>
          <p:nvPr/>
        </p:nvSpPr>
        <p:spPr>
          <a:xfrm>
            <a:off x="621792" y="3710813"/>
            <a:ext cx="1382725"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이상 패턴</a:t>
            </a:r>
          </a:p>
          <a:p>
            <a:pPr algn="ctr">
              <a:lnSpc>
                <a:spcPct val="110000"/>
              </a:lnSpc>
              <a:spcAft>
                <a:spcPts val="400"/>
              </a:spcAft>
            </a:pPr>
            <a:r>
              <a:rPr sz="1250" b="0">
                <a:solidFill>
                  <a:srgbClr val="1F2A3A"/>
                </a:solidFill>
                <a:latin typeface="맑은 고딕"/>
                <a:ea typeface="맑은 고딕"/>
                <a:cs typeface="맑은 고딕"/>
              </a:rPr>
              <a:t>DETECTS</a:t>
            </a:r>
          </a:p>
          <a:p>
            <a:pPr algn="ctr">
              <a:lnSpc>
                <a:spcPct val="110000"/>
              </a:lnSpc>
              <a:spcAft>
                <a:spcPts val="400"/>
              </a:spcAft>
            </a:pPr>
            <a:r>
              <a:rPr sz="1250" b="0">
                <a:solidFill>
                  <a:srgbClr val="1F2A3A"/>
                </a:solidFill>
                <a:latin typeface="맑은 고딕"/>
                <a:ea typeface="맑은 고딕"/>
                <a:cs typeface="맑은 고딕"/>
              </a:rPr>
              <a:t>감지한다</a:t>
            </a:r>
          </a:p>
        </p:txBody>
      </p:sp>
      <p:sp>
        <p:nvSpPr>
          <p:cNvPr id="10" name="Right Arrow 9"/>
          <p:cNvSpPr/>
          <p:nvPr/>
        </p:nvSpPr>
        <p:spPr>
          <a:xfrm>
            <a:off x="2141677"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461717" y="2723261"/>
            <a:ext cx="1529029"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2860471" y="2906141"/>
            <a:ext cx="731520" cy="731520"/>
          </a:xfrm>
          <a:prstGeom prst="ellipse">
            <a:avLst/>
          </a:prstGeom>
          <a:solidFill>
            <a:srgbClr val="FFFFFF"/>
          </a:solidFill>
          <a:ln>
            <a:noFill/>
          </a:ln>
        </p:spPr>
        <p:txBody>
          <a:bodyPr rtlCol="0" anchor="ctr"/>
          <a:lstStyle/>
          <a:p>
            <a:pPr algn="ctr"/>
          </a:p>
        </p:txBody>
      </p:sp>
      <p:pic>
        <p:nvPicPr>
          <p:cNvPr id="13" name="아이콘:temperature" descr="temperature_13294B_1.6.png"/>
          <p:cNvPicPr>
            <a:picLocks noChangeAspect="1"/>
          </p:cNvPicPr>
          <p:nvPr/>
        </p:nvPicPr>
        <p:blipFill>
          <a:blip r:embed="rId4"/>
          <a:stretch>
            <a:fillRect/>
          </a:stretch>
        </p:blipFill>
        <p:spPr>
          <a:xfrm>
            <a:off x="3014091" y="3059760"/>
            <a:ext cx="424281" cy="424281"/>
          </a:xfrm>
          <a:prstGeom prst="rect">
            <a:avLst/>
          </a:prstGeom>
        </p:spPr>
      </p:pic>
      <p:sp>
        <p:nvSpPr>
          <p:cNvPr id="14" name="TextBox 13"/>
          <p:cNvSpPr txBox="1"/>
          <p:nvPr/>
        </p:nvSpPr>
        <p:spPr>
          <a:xfrm>
            <a:off x="2534869" y="3710813"/>
            <a:ext cx="1382725"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a:t>
            </a:r>
          </a:p>
          <a:p>
            <a:pPr algn="ctr">
              <a:lnSpc>
                <a:spcPct val="110000"/>
              </a:lnSpc>
              <a:spcAft>
                <a:spcPts val="400"/>
              </a:spcAft>
            </a:pPr>
            <a:r>
              <a:rPr sz="1250" b="0">
                <a:solidFill>
                  <a:srgbClr val="1F2A3A"/>
                </a:solidFill>
                <a:latin typeface="맑은 고딕"/>
                <a:ea typeface="맑은 고딕"/>
                <a:cs typeface="맑은 고딕"/>
              </a:rPr>
              <a:t>INDICATES</a:t>
            </a:r>
          </a:p>
          <a:p>
            <a:pPr algn="ctr">
              <a:lnSpc>
                <a:spcPct val="110000"/>
              </a:lnSpc>
              <a:spcAft>
                <a:spcPts val="400"/>
              </a:spcAft>
            </a:pPr>
            <a:r>
              <a:rPr sz="1250" b="0">
                <a:solidFill>
                  <a:srgbClr val="1F2A3A"/>
                </a:solidFill>
                <a:latin typeface="맑은 고딕"/>
                <a:ea typeface="맑은 고딕"/>
                <a:cs typeface="맑은 고딕"/>
              </a:rPr>
              <a:t>가리킨다</a:t>
            </a:r>
          </a:p>
        </p:txBody>
      </p:sp>
      <p:sp>
        <p:nvSpPr>
          <p:cNvPr id="15" name="Right Arrow 14"/>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4374794" y="2723261"/>
            <a:ext cx="1529029"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4773549" y="2906141"/>
            <a:ext cx="731520" cy="731520"/>
          </a:xfrm>
          <a:prstGeom prst="ellipse">
            <a:avLst/>
          </a:prstGeom>
          <a:solidFill>
            <a:srgbClr val="5CB8F2"/>
          </a:solidFill>
          <a:ln>
            <a:noFill/>
          </a:ln>
        </p:spPr>
        <p:txBody>
          <a:bodyPr rtlCol="0" anchor="ctr"/>
          <a:lstStyle/>
          <a:p>
            <a:pPr algn="ctr"/>
          </a:p>
        </p:txBody>
      </p:sp>
      <p:pic>
        <p:nvPicPr>
          <p:cNvPr id="18" name="아이콘:alert-triangle" descr="alert-triangle_13294B_1.6.png"/>
          <p:cNvPicPr>
            <a:picLocks noChangeAspect="1"/>
          </p:cNvPicPr>
          <p:nvPr/>
        </p:nvPicPr>
        <p:blipFill>
          <a:blip r:embed="rId5"/>
          <a:stretch>
            <a:fillRect/>
          </a:stretch>
        </p:blipFill>
        <p:spPr>
          <a:xfrm>
            <a:off x="4927168" y="3059760"/>
            <a:ext cx="424281" cy="424281"/>
          </a:xfrm>
          <a:prstGeom prst="rect">
            <a:avLst/>
          </a:prstGeom>
        </p:spPr>
      </p:pic>
      <p:sp>
        <p:nvSpPr>
          <p:cNvPr id="19" name="TextBox 18"/>
          <p:cNvSpPr txBox="1"/>
          <p:nvPr/>
        </p:nvSpPr>
        <p:spPr>
          <a:xfrm>
            <a:off x="4447946" y="3710813"/>
            <a:ext cx="1382725"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a:t>
            </a:r>
          </a:p>
          <a:p>
            <a:pPr algn="ctr">
              <a:lnSpc>
                <a:spcPct val="110000"/>
              </a:lnSpc>
              <a:spcAft>
                <a:spcPts val="400"/>
              </a:spcAft>
            </a:pPr>
            <a:r>
              <a:rPr sz="1250" b="0">
                <a:solidFill>
                  <a:srgbClr val="1F2A3A"/>
                </a:solidFill>
                <a:latin typeface="맑은 고딕"/>
                <a:ea typeface="맑은 고딕"/>
                <a:cs typeface="맑은 고딕"/>
              </a:rPr>
              <a:t>CAUSES를</a:t>
            </a:r>
          </a:p>
          <a:p>
            <a:pPr algn="ctr">
              <a:lnSpc>
                <a:spcPct val="110000"/>
              </a:lnSpc>
              <a:spcAft>
                <a:spcPts val="400"/>
              </a:spcAft>
            </a:pPr>
            <a:r>
              <a:rPr sz="1250" b="0">
                <a:solidFill>
                  <a:srgbClr val="1F2A3A"/>
                </a:solidFill>
                <a:latin typeface="맑은 고딕"/>
                <a:ea typeface="맑은 고딕"/>
                <a:cs typeface="맑은 고딕"/>
              </a:rPr>
              <a:t>거슬러 간다</a:t>
            </a:r>
          </a:p>
        </p:txBody>
      </p:sp>
      <p:sp>
        <p:nvSpPr>
          <p:cNvPr id="20" name="Right Arrow 19"/>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6287871" y="2723261"/>
            <a:ext cx="1529029"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6686626" y="2906141"/>
            <a:ext cx="731520" cy="731520"/>
          </a:xfrm>
          <a:prstGeom prst="ellipse">
            <a:avLst/>
          </a:prstGeom>
          <a:solidFill>
            <a:srgbClr val="FFFFFF"/>
          </a:solidFill>
          <a:ln>
            <a:noFill/>
          </a:ln>
        </p:spPr>
        <p:txBody>
          <a:bodyPr rtlCol="0" anchor="ctr"/>
          <a:lstStyle/>
          <a:p>
            <a:pPr algn="ctr"/>
          </a:p>
        </p:txBody>
      </p:sp>
      <p:pic>
        <p:nvPicPr>
          <p:cNvPr id="23" name="아이콘:search" descr="search_13294B_1.6.png"/>
          <p:cNvPicPr>
            <a:picLocks noChangeAspect="1"/>
          </p:cNvPicPr>
          <p:nvPr/>
        </p:nvPicPr>
        <p:blipFill>
          <a:blip r:embed="rId6"/>
          <a:stretch>
            <a:fillRect/>
          </a:stretch>
        </p:blipFill>
        <p:spPr>
          <a:xfrm>
            <a:off x="6840245" y="3059760"/>
            <a:ext cx="424281" cy="424281"/>
          </a:xfrm>
          <a:prstGeom prst="rect">
            <a:avLst/>
          </a:prstGeom>
        </p:spPr>
      </p:pic>
      <p:sp>
        <p:nvSpPr>
          <p:cNvPr id="24" name="TextBox 23"/>
          <p:cNvSpPr txBox="1"/>
          <p:nvPr/>
        </p:nvSpPr>
        <p:spPr>
          <a:xfrm>
            <a:off x="6361023" y="3710813"/>
            <a:ext cx="1382725"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a:t>
            </a:r>
          </a:p>
          <a:p>
            <a:pPr algn="ctr">
              <a:lnSpc>
                <a:spcPct val="110000"/>
              </a:lnSpc>
              <a:spcAft>
                <a:spcPts val="400"/>
              </a:spcAft>
            </a:pPr>
            <a:r>
              <a:rPr sz="1250" b="0">
                <a:solidFill>
                  <a:srgbClr val="1F2A3A"/>
                </a:solidFill>
                <a:latin typeface="맑은 고딕"/>
                <a:ea typeface="맑은 고딕"/>
                <a:cs typeface="맑은 고딕"/>
              </a:rPr>
              <a:t>EVIDENCED_BY</a:t>
            </a:r>
          </a:p>
          <a:p>
            <a:pPr algn="ctr">
              <a:lnSpc>
                <a:spcPct val="110000"/>
              </a:lnSpc>
              <a:spcAft>
                <a:spcPts val="400"/>
              </a:spcAft>
            </a:pPr>
            <a:r>
              <a:rPr sz="1250" b="0">
                <a:solidFill>
                  <a:srgbClr val="1F2A3A"/>
                </a:solidFill>
                <a:latin typeface="맑은 고딕"/>
                <a:ea typeface="맑은 고딕"/>
                <a:cs typeface="맑은 고딕"/>
              </a:rPr>
              <a:t>증거로 확인</a:t>
            </a:r>
          </a:p>
        </p:txBody>
      </p:sp>
      <p:sp>
        <p:nvSpPr>
          <p:cNvPr id="25" name="Right Arrow 2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8200948" y="2723261"/>
            <a:ext cx="1529029"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8599703" y="2906141"/>
            <a:ext cx="731520" cy="731520"/>
          </a:xfrm>
          <a:prstGeom prst="ellipse">
            <a:avLst/>
          </a:prstGeom>
          <a:solidFill>
            <a:srgbClr val="FFFFFF"/>
          </a:solidFill>
          <a:ln>
            <a:noFill/>
          </a:ln>
        </p:spPr>
        <p:txBody>
          <a:bodyPr rtlCol="0" anchor="ctr"/>
          <a:lstStyle/>
          <a:p>
            <a:pPr algn="ctr"/>
          </a:p>
        </p:txBody>
      </p:sp>
      <p:pic>
        <p:nvPicPr>
          <p:cNvPr id="28" name="아이콘:gauge" descr="gauge_13294B_1.6.png"/>
          <p:cNvPicPr>
            <a:picLocks noChangeAspect="1"/>
          </p:cNvPicPr>
          <p:nvPr/>
        </p:nvPicPr>
        <p:blipFill>
          <a:blip r:embed="rId7"/>
          <a:stretch>
            <a:fillRect/>
          </a:stretch>
        </p:blipFill>
        <p:spPr>
          <a:xfrm>
            <a:off x="8753322" y="3059760"/>
            <a:ext cx="424281" cy="424281"/>
          </a:xfrm>
          <a:prstGeom prst="rect">
            <a:avLst/>
          </a:prstGeom>
        </p:spPr>
      </p:pic>
      <p:sp>
        <p:nvSpPr>
          <p:cNvPr id="29" name="TextBox 28"/>
          <p:cNvSpPr txBox="1"/>
          <p:nvPr/>
        </p:nvSpPr>
        <p:spPr>
          <a:xfrm>
            <a:off x="8274100" y="3710813"/>
            <a:ext cx="1382725"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a:t>
            </a:r>
          </a:p>
          <a:p>
            <a:pPr algn="ctr">
              <a:lnSpc>
                <a:spcPct val="110000"/>
              </a:lnSpc>
              <a:spcAft>
                <a:spcPts val="400"/>
              </a:spcAft>
            </a:pPr>
            <a:r>
              <a:rPr sz="1250" b="0">
                <a:solidFill>
                  <a:srgbClr val="1F2A3A"/>
                </a:solidFill>
                <a:latin typeface="맑은 고딕"/>
                <a:ea typeface="맑은 고딕"/>
                <a:cs typeface="맑은 고딕"/>
              </a:rPr>
              <a:t>값을 읽어</a:t>
            </a:r>
          </a:p>
          <a:p>
            <a:pPr algn="ctr">
              <a:lnSpc>
                <a:spcPct val="110000"/>
              </a:lnSpc>
              <a:spcAft>
                <a:spcPts val="400"/>
              </a:spcAft>
            </a:pPr>
            <a:r>
              <a:rPr sz="1250" b="0">
                <a:solidFill>
                  <a:srgbClr val="1F2A3A"/>
                </a:solidFill>
                <a:latin typeface="맑은 고딕"/>
                <a:ea typeface="맑은 고딕"/>
                <a:cs typeface="맑은 고딕"/>
              </a:rPr>
              <a:t>기준과 대조</a:t>
            </a:r>
          </a:p>
        </p:txBody>
      </p:sp>
      <p:sp>
        <p:nvSpPr>
          <p:cNvPr id="30" name="Right Arrow 29"/>
          <p:cNvSpPr/>
          <p:nvPr/>
        </p:nvSpPr>
        <p:spPr>
          <a:xfrm>
            <a:off x="9793986" y="3854196"/>
            <a:ext cx="256031" cy="274320"/>
          </a:xfrm>
          <a:prstGeom prst="rightArrow">
            <a:avLst/>
          </a:prstGeom>
          <a:solidFill>
            <a:srgbClr val="13294B"/>
          </a:solidFill>
          <a:ln>
            <a:noFill/>
          </a:ln>
        </p:spPr>
        <p:txBody>
          <a:bodyPr rtlCol="0" anchor="ctr"/>
          <a:lstStyle/>
          <a:p>
            <a:pPr algn="ctr"/>
          </a:p>
        </p:txBody>
      </p:sp>
      <p:sp>
        <p:nvSpPr>
          <p:cNvPr id="31" name="Rounded Rectangle 30"/>
          <p:cNvSpPr/>
          <p:nvPr/>
        </p:nvSpPr>
        <p:spPr>
          <a:xfrm>
            <a:off x="10114026" y="2723261"/>
            <a:ext cx="1529029" cy="2536189"/>
          </a:xfrm>
          <a:prstGeom prst="roundRect">
            <a:avLst>
              <a:gd name="adj" fmla="val 5000"/>
            </a:avLst>
          </a:prstGeom>
          <a:solidFill>
            <a:srgbClr val="F3F6F9"/>
          </a:solidFill>
          <a:ln>
            <a:noFill/>
          </a:ln>
        </p:spPr>
        <p:txBody>
          <a:bodyPr rtlCol="0" anchor="ctr"/>
          <a:lstStyle/>
          <a:p>
            <a:pPr algn="ctr"/>
          </a:p>
        </p:txBody>
      </p:sp>
      <p:sp>
        <p:nvSpPr>
          <p:cNvPr id="32" name="Oval 31"/>
          <p:cNvSpPr/>
          <p:nvPr/>
        </p:nvSpPr>
        <p:spPr>
          <a:xfrm>
            <a:off x="10512780" y="2906141"/>
            <a:ext cx="731520" cy="731520"/>
          </a:xfrm>
          <a:prstGeom prst="ellipse">
            <a:avLst/>
          </a:prstGeom>
          <a:solidFill>
            <a:srgbClr val="FFFFFF"/>
          </a:solidFill>
          <a:ln>
            <a:noFill/>
          </a:ln>
        </p:spPr>
        <p:txBody>
          <a:bodyPr rtlCol="0" anchor="ctr"/>
          <a:lstStyle/>
          <a:p>
            <a:pPr algn="ctr"/>
          </a:p>
        </p:txBody>
      </p:sp>
      <p:pic>
        <p:nvPicPr>
          <p:cNvPr id="33" name="아이콘:tool" descr="tool_13294B_1.6.png"/>
          <p:cNvPicPr>
            <a:picLocks noChangeAspect="1"/>
          </p:cNvPicPr>
          <p:nvPr/>
        </p:nvPicPr>
        <p:blipFill>
          <a:blip r:embed="rId8"/>
          <a:stretch>
            <a:fillRect/>
          </a:stretch>
        </p:blipFill>
        <p:spPr>
          <a:xfrm>
            <a:off x="10666399" y="3059760"/>
            <a:ext cx="424281" cy="424281"/>
          </a:xfrm>
          <a:prstGeom prst="rect">
            <a:avLst/>
          </a:prstGeom>
        </p:spPr>
      </p:pic>
      <p:sp>
        <p:nvSpPr>
          <p:cNvPr id="34" name="TextBox 33"/>
          <p:cNvSpPr txBox="1"/>
          <p:nvPr/>
        </p:nvSpPr>
        <p:spPr>
          <a:xfrm>
            <a:off x="10187178" y="3710813"/>
            <a:ext cx="1382725"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방법</a:t>
            </a:r>
          </a:p>
          <a:p>
            <a:pPr algn="ctr">
              <a:lnSpc>
                <a:spcPct val="110000"/>
              </a:lnSpc>
              <a:spcAft>
                <a:spcPts val="400"/>
              </a:spcAft>
            </a:pPr>
            <a:r>
              <a:rPr sz="1250" b="0">
                <a:solidFill>
                  <a:srgbClr val="1F2A3A"/>
                </a:solidFill>
                <a:latin typeface="맑은 고딕"/>
                <a:ea typeface="맑은 고딕"/>
                <a:cs typeface="맑은 고딕"/>
              </a:rPr>
              <a:t>MITIGATED_BY</a:t>
            </a:r>
          </a:p>
          <a:p>
            <a:pPr algn="ctr">
              <a:lnSpc>
                <a:spcPct val="110000"/>
              </a:lnSpc>
              <a:spcAft>
                <a:spcPts val="400"/>
              </a:spcAft>
            </a:pPr>
            <a:r>
              <a:rPr sz="1250" b="0">
                <a:solidFill>
                  <a:srgbClr val="1F2A3A"/>
                </a:solidFill>
                <a:latin typeface="맑은 고딕"/>
                <a:ea typeface="맑은 고딕"/>
                <a:cs typeface="맑은 고딕"/>
              </a:rPr>
              <a:t>고장 유형에서</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종류: 어떤 대상이 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종류는 온톨로지가 다루는 대상의 갈래이며, HYD의 온톨로지는 설비, 진단, 조치의 세 쪽으로 종류를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112</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 쪽</a:t>
            </a:r>
          </a:p>
          <a:p>
            <a:pPr algn="l">
              <a:lnSpc>
                <a:spcPct val="110000"/>
              </a:lnSpc>
              <a:spcAft>
                <a:spcPts val="400"/>
              </a:spcAft>
            </a:pPr>
            <a:r>
              <a:rPr sz="1400" b="0">
                <a:solidFill>
                  <a:srgbClr val="1F2A3A"/>
                </a:solidFill>
                <a:latin typeface="맑은 고딕"/>
                <a:ea typeface="맑은 고딕"/>
                <a:cs typeface="맑은 고딕"/>
              </a:rPr>
              <a:t>설비, 구성 요소, 센서</a:t>
            </a:r>
          </a:p>
        </p:txBody>
      </p:sp>
      <p:sp>
        <p:nvSpPr>
          <p:cNvPr id="10" name="Rounded Rectangle 9"/>
          <p:cNvSpPr/>
          <p:nvPr/>
        </p:nvSpPr>
        <p:spPr>
          <a:xfrm>
            <a:off x="777240" y="4932934"/>
            <a:ext cx="2383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2383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HYD-01, 오일 쿨러, TS1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진단 쪽</a:t>
            </a:r>
          </a:p>
          <a:p>
            <a:pPr algn="l">
              <a:lnSpc>
                <a:spcPct val="110000"/>
              </a:lnSpc>
              <a:spcAft>
                <a:spcPts val="400"/>
              </a:spcAft>
            </a:pPr>
            <a:r>
              <a:rPr sz="1400" b="0">
                <a:solidFill>
                  <a:srgbClr val="1F2A3A"/>
                </a:solidFill>
                <a:latin typeface="맑은 고딕"/>
                <a:ea typeface="맑은 고딕"/>
                <a:cs typeface="맑은 고딕"/>
              </a:rPr>
              <a:t>이상 패턴, 증상, 고장 유형, 원인, 증거</a:t>
            </a:r>
          </a:p>
        </p:txBody>
      </p:sp>
      <p:sp>
        <p:nvSpPr>
          <p:cNvPr id="16" name="Rounded Rectangle 15"/>
          <p:cNvSpPr/>
          <p:nvPr/>
        </p:nvSpPr>
        <p:spPr>
          <a:xfrm>
            <a:off x="4566818" y="4932934"/>
            <a:ext cx="199948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쿨러 핀 오염은 원인</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쪽</a:t>
            </a:r>
          </a:p>
          <a:p>
            <a:pPr algn="l">
              <a:lnSpc>
                <a:spcPct val="110000"/>
              </a:lnSpc>
              <a:spcAft>
                <a:spcPts val="400"/>
              </a:spcAft>
            </a:pPr>
            <a:r>
              <a:rPr sz="1400" b="0">
                <a:solidFill>
                  <a:srgbClr val="1F2A3A"/>
                </a:solidFill>
                <a:latin typeface="맑은 고딕"/>
                <a:ea typeface="맑은 고딕"/>
                <a:cs typeface="맑은 고딕"/>
              </a:rPr>
              <a:t>조치 방법, 근거 문서</a:t>
            </a:r>
          </a:p>
        </p:txBody>
      </p:sp>
      <p:sp>
        <p:nvSpPr>
          <p:cNvPr id="22" name="Rounded Rectangle 21"/>
          <p:cNvSpPr/>
          <p:nvPr/>
        </p:nvSpPr>
        <p:spPr>
          <a:xfrm>
            <a:off x="8356396" y="4932934"/>
            <a:ext cx="2157984"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21579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최대 운전, HM-8.5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대상이 갖는 값의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대상마다 채워 두는 값의 칸이며, 같은 종류의 대상은 같은 칸을 갖는다.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113</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단위</a:t>
            </a:r>
          </a:p>
          <a:p>
            <a:pPr algn="l">
              <a:lnSpc>
                <a:spcPct val="110000"/>
              </a:lnSpc>
              <a:spcAft>
                <a:spcPts val="200"/>
              </a:spcAft>
            </a:pPr>
            <a:r>
              <a:rPr sz="1150" b="0">
                <a:solidFill>
                  <a:srgbClr val="556175"/>
                </a:solidFill>
                <a:latin typeface="맑은 고딕"/>
                <a:ea typeface="맑은 고딕"/>
                <a:cs typeface="맑은 고딕"/>
              </a:rPr>
              <a:t>℃</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 값이 무엇으로 재어지는지이다.</a:t>
            </a:r>
          </a:p>
          <a:p>
            <a:pPr algn="l">
              <a:lnSpc>
                <a:spcPct val="110000"/>
              </a:lnSpc>
              <a:spcAft>
                <a:spcPts val="300"/>
              </a:spcAft>
            </a:pPr>
            <a:r>
              <a:rPr sz="1400" b="0">
                <a:solidFill>
                  <a:srgbClr val="1F2A3A"/>
                </a:solidFill>
                <a:latin typeface="맑은 고딕"/>
                <a:ea typeface="맑은 고딕"/>
                <a:cs typeface="맑은 고딕"/>
              </a:rPr>
              <a:t>「유온」이라는 대상의 단위는 ℃이다.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정상값</a:t>
            </a:r>
          </a:p>
          <a:p>
            <a:pPr algn="l">
              <a:lnSpc>
                <a:spcPct val="110000"/>
              </a:lnSpc>
              <a:spcAft>
                <a:spcPts val="200"/>
              </a:spcAft>
            </a:pPr>
            <a:r>
              <a:rPr sz="1150" b="0">
                <a:solidFill>
                  <a:srgbClr val="556175"/>
                </a:solidFill>
                <a:latin typeface="맑은 고딕"/>
                <a:ea typeface="맑은 고딕"/>
                <a:cs typeface="맑은 고딕"/>
              </a:rPr>
              <a:t>48</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평소의 값이다.</a:t>
            </a:r>
          </a:p>
          <a:p>
            <a:pPr algn="l">
              <a:lnSpc>
                <a:spcPct val="110000"/>
              </a:lnSpc>
              <a:spcAft>
                <a:spcPts val="300"/>
              </a:spcAft>
            </a:pPr>
            <a:r>
              <a:rPr sz="1400" b="0">
                <a:solidFill>
                  <a:srgbClr val="1F2A3A"/>
                </a:solidFill>
                <a:latin typeface="맑은 고딕"/>
                <a:ea typeface="맑은 고딕"/>
                <a:cs typeface="맑은 고딕"/>
              </a:rPr>
              <a:t>「유온」의 정상값은 48 ℃이다.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한계</a:t>
            </a:r>
          </a:p>
          <a:p>
            <a:pPr algn="l">
              <a:lnSpc>
                <a:spcPct val="110000"/>
              </a:lnSpc>
              <a:spcAft>
                <a:spcPts val="200"/>
              </a:spcAft>
            </a:pPr>
            <a:r>
              <a:rPr sz="1150" b="0">
                <a:solidFill>
                  <a:srgbClr val="556175"/>
                </a:solidFill>
                <a:latin typeface="맑은 고딕"/>
                <a:ea typeface="맑은 고딕"/>
                <a:cs typeface="맑은 고딕"/>
              </a:rPr>
              <a:t>65</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넘으면 안 되는 값이다.</a:t>
            </a:r>
          </a:p>
          <a:p>
            <a:pPr algn="l">
              <a:lnSpc>
                <a:spcPct val="110000"/>
              </a:lnSpc>
              <a:spcAft>
                <a:spcPts val="300"/>
              </a:spcAft>
            </a:pPr>
            <a:r>
              <a:rPr sz="1400" b="0">
                <a:solidFill>
                  <a:srgbClr val="1F2A3A"/>
                </a:solidFill>
                <a:latin typeface="맑은 고딕"/>
                <a:ea typeface="맑은 고딕"/>
                <a:cs typeface="맑은 고딕"/>
              </a:rPr>
              <a:t>「유온」의 한계는 65 ℃이며 인터록의 기준과 같다.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이름이 다르면 뜻이 다르다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고장 유형과 조치 사이에도 관계의 이름에 따라 뜻이 달라지며, 완화와 근본 조치는 서로 다른 관계이다.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MITIGATED_BY</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냉각 성능 상실 → 팬 최대 운전</a:t>
            </a:r>
          </a:p>
          <a:p>
            <a:pPr algn="l">
              <a:lnSpc>
                <a:spcPct val="110000"/>
              </a:lnSpc>
              <a:spcAft>
                <a:spcPts val="600"/>
              </a:spcAft>
            </a:pPr>
            <a:r>
              <a:rPr sz="1450" b="0">
                <a:solidFill>
                  <a:srgbClr val="1F2A3A"/>
                </a:solidFill>
                <a:latin typeface="맑은 고딕"/>
                <a:ea typeface="맑은 고딕"/>
                <a:cs typeface="맑은 고딕"/>
              </a:rPr>
              <a:t>• 이 조치로 우선 완화된다</a:t>
            </a:r>
          </a:p>
        </p:txBody>
      </p:sp>
      <p:sp>
        <p:nvSpPr>
          <p:cNvPr id="11" name="Rounded Rectangle 10"/>
          <p:cNvSpPr/>
          <p:nvPr/>
        </p:nvSpPr>
        <p:spPr>
          <a:xfrm>
            <a:off x="868680" y="4795139"/>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완화</a:t>
            </a:r>
          </a:p>
        </p:txBody>
      </p:sp>
      <p:sp>
        <p:nvSpPr>
          <p:cNvPr id="13" name="Rounded Rectangle 12"/>
          <p:cNvSpPr/>
          <p:nvPr/>
        </p:nvSpPr>
        <p:spPr>
          <a:xfrm>
            <a:off x="6461607" y="2730373"/>
            <a:ext cx="5181447" cy="252196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931541"/>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REMEDIED_BY</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냉각 성능 상실 → 쿨러 핀 세척</a:t>
            </a:r>
          </a:p>
          <a:p>
            <a:pPr algn="l">
              <a:lnSpc>
                <a:spcPct val="110000"/>
              </a:lnSpc>
              <a:spcAft>
                <a:spcPts val="600"/>
              </a:spcAft>
            </a:pPr>
            <a:r>
              <a:rPr sz="1450" b="0">
                <a:solidFill>
                  <a:srgbClr val="1F2A3A"/>
                </a:solidFill>
                <a:latin typeface="맑은 고딕"/>
                <a:ea typeface="맑은 고딕"/>
                <a:cs typeface="맑은 고딕"/>
              </a:rPr>
              <a:t>• 이 조치로 근본적으로 없어진다</a:t>
            </a:r>
          </a:p>
        </p:txBody>
      </p:sp>
      <p:sp>
        <p:nvSpPr>
          <p:cNvPr id="18" name="Rounded Rectangle 17"/>
          <p:cNvSpPr/>
          <p:nvPr/>
        </p:nvSpPr>
        <p:spPr>
          <a:xfrm>
            <a:off x="6781647" y="4795139"/>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795139"/>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근본 조치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정의에 맞는 연결과 어긋나는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제약은 관계가 어느 종류에서 어느 종류로 이어질 수 있는지를 정해, 뜻이 통하지 않는 연결을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115</a:t>
            </a:r>
          </a:p>
        </p:txBody>
      </p:sp>
      <p:sp>
        <p:nvSpPr>
          <p:cNvPr id="6" name="Rounded Rectangle 5"/>
          <p:cNvSpPr/>
          <p:nvPr/>
        </p:nvSpPr>
        <p:spPr>
          <a:xfrm>
            <a:off x="548640" y="2620010"/>
            <a:ext cx="5410047"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5080863"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정의에 맞는다</a:t>
            </a:r>
          </a:p>
          <a:p>
            <a:pPr algn="l">
              <a:lnSpc>
                <a:spcPct val="110000"/>
              </a:lnSpc>
              <a:spcAft>
                <a:spcPts val="400"/>
              </a:spcAft>
            </a:pPr>
            <a:r>
              <a:rPr sz="1400" b="0">
                <a:solidFill>
                  <a:srgbClr val="1F2A3A"/>
                </a:solidFill>
                <a:latin typeface="맑은 고딕"/>
                <a:ea typeface="맑은 고딕"/>
                <a:cs typeface="맑은 고딕"/>
              </a:rPr>
              <a:t>• 쿨러 핀 오염 — CAUSES → 쿨러 냉각 성능 상실</a:t>
            </a:r>
          </a:p>
          <a:p>
            <a:pPr algn="l">
              <a:lnSpc>
                <a:spcPct val="110000"/>
              </a:lnSpc>
              <a:spcAft>
                <a:spcPts val="400"/>
              </a:spcAft>
            </a:pPr>
            <a:r>
              <a:rPr sz="1400" b="0">
                <a:solidFill>
                  <a:srgbClr val="1F2A3A"/>
                </a:solidFill>
                <a:latin typeface="맑은 고딕"/>
                <a:ea typeface="맑은 고딕"/>
                <a:cs typeface="맑은 고딕"/>
              </a:rPr>
              <a:t>• 원인에서 고장 유형으로 이었다</a:t>
            </a:r>
          </a:p>
        </p:txBody>
      </p:sp>
      <p:sp>
        <p:nvSpPr>
          <p:cNvPr id="10" name="Rounded Rectangle 9"/>
          <p:cNvSpPr/>
          <p:nvPr/>
        </p:nvSpPr>
        <p:spPr>
          <a:xfrm>
            <a:off x="777240" y="4932934"/>
            <a:ext cx="156972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2" name="Rounded Rectangle 11"/>
          <p:cNvSpPr/>
          <p:nvPr/>
        </p:nvSpPr>
        <p:spPr>
          <a:xfrm>
            <a:off x="6233007" y="2620010"/>
            <a:ext cx="5410047"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821178"/>
            <a:ext cx="731520" cy="731520"/>
          </a:xfrm>
          <a:prstGeom prst="ellipse">
            <a:avLst/>
          </a:prstGeom>
          <a:solidFill>
            <a:srgbClr val="E7F3FD"/>
          </a:solidFill>
          <a:ln>
            <a:noFill/>
          </a:ln>
        </p:spPr>
        <p:txBody>
          <a:bodyPr rtlCol="0" anchor="ctr"/>
          <a:lstStyle/>
          <a:p>
            <a:pPr algn="ctr"/>
          </a:p>
        </p:txBody>
      </p:sp>
      <p:pic>
        <p:nvPicPr>
          <p:cNvPr id="14" name="아이콘:circle-x" descr="circle-x_13294B_1.6.png"/>
          <p:cNvPicPr>
            <a:picLocks noChangeAspect="1"/>
          </p:cNvPicPr>
          <p:nvPr/>
        </p:nvPicPr>
        <p:blipFill>
          <a:blip r:embed="rId4"/>
          <a:stretch>
            <a:fillRect/>
          </a:stretch>
        </p:blipFill>
        <p:spPr>
          <a:xfrm>
            <a:off x="6615226" y="2974797"/>
            <a:ext cx="424281" cy="424281"/>
          </a:xfrm>
          <a:prstGeom prst="rect">
            <a:avLst/>
          </a:prstGeom>
        </p:spPr>
      </p:pic>
      <p:sp>
        <p:nvSpPr>
          <p:cNvPr id="15" name="TextBox 14"/>
          <p:cNvSpPr txBox="1"/>
          <p:nvPr/>
        </p:nvSpPr>
        <p:spPr>
          <a:xfrm>
            <a:off x="6397599" y="3644138"/>
            <a:ext cx="5080863"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정의에 어긋난다</a:t>
            </a:r>
          </a:p>
          <a:p>
            <a:pPr algn="l">
              <a:lnSpc>
                <a:spcPct val="110000"/>
              </a:lnSpc>
              <a:spcAft>
                <a:spcPts val="400"/>
              </a:spcAft>
            </a:pPr>
            <a:r>
              <a:rPr sz="1400" b="0">
                <a:solidFill>
                  <a:srgbClr val="1F2A3A"/>
                </a:solidFill>
                <a:latin typeface="맑은 고딕"/>
                <a:ea typeface="맑은 고딕"/>
                <a:cs typeface="맑은 고딕"/>
              </a:rPr>
              <a:t>• 유온 상승 — CAUSES → 팬 최대 운전</a:t>
            </a:r>
          </a:p>
          <a:p>
            <a:pPr algn="l">
              <a:lnSpc>
                <a:spcPct val="110000"/>
              </a:lnSpc>
              <a:spcAft>
                <a:spcPts val="400"/>
              </a:spcAft>
            </a:pPr>
            <a:r>
              <a:rPr sz="1400" b="0">
                <a:solidFill>
                  <a:srgbClr val="1F2A3A"/>
                </a:solidFill>
                <a:latin typeface="맑은 고딕"/>
                <a:ea typeface="맑은 고딕"/>
                <a:cs typeface="맑은 고딕"/>
              </a:rPr>
              <a:t>• 증상에서 조치로 이었다</a:t>
            </a:r>
          </a:p>
        </p:txBody>
      </p:sp>
      <p:sp>
        <p:nvSpPr>
          <p:cNvPr id="16" name="Rounded Rectangle 15"/>
          <p:cNvSpPr/>
          <p:nvPr/>
        </p:nvSpPr>
        <p:spPr>
          <a:xfrm>
            <a:off x="6461607" y="4932934"/>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932934"/>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 → 조치</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설비 쪽에는 설비가 어떤 구성 요소로 이루어지고 각 구성 요소를 어느 센서가 재는지가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116</a:t>
            </a:r>
          </a:p>
        </p:txBody>
      </p:sp>
      <p:pic>
        <p:nvPicPr>
          <p:cNvPr id="6" name="삽화:연결_설비쪽.svg" descr="illust_5747251379082898389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117</a:t>
            </a:r>
          </a:p>
        </p:txBody>
      </p:sp>
      <p:pic>
        <p:nvPicPr>
          <p:cNvPr id="6" name="삽화:연결_진단쪽.svg" descr="illust_8023123004485235957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119</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 센서, 증상, 원인, 조치가 이름과 방향이 있는 관계로 이어진 그림 한 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