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오늘의 목표는 네 가지입니다. 이론에서는 지식이 왜 필요한지와 그 지식을 클래스와 스키마로 정의하고 Cypher로 조회하는 개념을 다룹니다. 이어지는 네 개의 실습에서는 관계를 그리고, 스키마로 정의하고, 그래프 DB에 넣어 조회하고, 실제 지식 구조와 견주어 고칩니다. 이 네 가지를 자료 없이 자신의 말로 설명할 수 있는지가 오늘의 기준입니다.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유온 TS1이 설비의 어느 자리에서 생기는 값인지 보겠습니다. 탱크, 펌프, 부하, 오일 쿨러, 팬이 있고 TS1은 쿨러로 들어가기 직전의 작동유 온도입니다. 이 설비에서 난 사건 하나를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HYD-01에서 난 쿨러 성능 저하 사건을 저장된 값으로 보겠습니다. 위가 유온, 아래가 냉각 효율입니다. 경보는 11시 13분 8초에 났는데 조치는 108초 뒤에 승인되었고, 그동안 유온은 61.8 ℃까지 올랐습니다. 경보는 조건을 벗어났다는 사실만 알리기 때문입니다. 비유 제안: 체온계의 고열 표시. 닮은 점은 열이 난다는 사실은 바로 알지만 어떤 병인지는 진찰해야 안다는 것이고, 다른 점은 이 사건에서는 응급 조치를 고르는 데에도 원인 판단이 먼저 필요했다는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증상에 대해 설비 매뉴얼은 원인 후보를 셋 듭니다. 쿨러 핀 오염은 핀에 먼지나 유막이 끼어 막히는 것이고, 팬 구동 불량은 팬이 제 속도로 돌지 못하는 것이며, 주변 온도 상승은 설비 둘레의 공기가 더운 것입니다. 유온만 보아서는 셋을 구분할 수 없고, 가르는 값은 다른 센서에서 나옵니다. 이 사건의 값으로 보면 핀 오염은 냉각 효율 46.2 %와 팬 진동 0.575로 조건에 맞고, 팬 구동 불량은 팬 진동 0.575로, 주변 온도 상승은 캐비닛 온도 28 ℃로 배제됩니다.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원인을 가리지 않은 조치는 해가 될 수도 있습니다. 이 사건에서는 팬 최대 운전이 맞았지만, 팬 베어링이 닳은 설비에서 같은 조치를 하면 진동이 인터록 기준, 곧 설비를 지키려고 PLC에 정해 둔 정지 조건을 넘어 설비가 섭니다. 유온이 오르면 팬을 올린다는 한 줄의 규칙으로는 부족합니다.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판단에 쓰인 정보가 어디에 있었는지를 보겠습니다. 센서 값, 운전 상태, 매뉴얼, 생산 일정이 서로 다른 곳에 있습니다. 센서 값과 운전 상태는 매초 바뀌는 값이고, 생산 계획과 실적을 관리하는 MES에는 긴급 오더의 납기가 약 6시간 남았다고 기록되어 있었습니다. 그림의 점선은 이들이 이어져 있지 않다는 뜻입니다.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흩어진 정보를 표나 문서에 적어 두면 컴퓨터가 따라가지 못하고, 앞의 한 줄 규칙처럼 코드에 넣으면 고치기 어렵습니다. 그래서 요구는 세 가지입니다. 사람이 읽고 검토할 수 있어야 하고, 컴퓨터가 따라갈 수 있어야 하며, 지식을 프로그램과 따로 고칠 수 있어야 합니다. 이 요구를 채우도록 대상과 관계를 적어 둔 것에 이름이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 이름이 온톨로지입니다. 대상의 종류, 속성, 관계, 제약을 명시적으로 정의한 지식 모델입니다. 머릿속에 있던 것을 정해진 형식으로 적었기 때문에 사람과 컴퓨터가 같은 정의를 씁니다. 노선도 비유는 관계를 따라가면 경로가 나온다는 점까지만 닮았습니다.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온톨로지는 관계 그림이나 그래프 DB와 자주 혼동됩니다. 관계 그림은 사람이 보는 표현이고, 그래프 DB는 저장하는 도구입니다. 온톨로지는 무엇을 그리고 저장할 수 있는지를 정한 정의입니다.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지식 그래프를 이루는 것은 노드와 관계입니다. 동그라미가 노드이고 대상 하나를 나타냅니다. 화살표가 관계이며 이름과 방향이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HYD의 지식 그래프에서 이 사건에 해당하는 부분입니다. 영어 이름이 대상의 종류이고 한글이 실제 대상입니다. 위쪽 두 화살표가 모두 가운데의 고장 유형으로 들어오므로 고장 유형 하나에 원인이 여럿 붙습니다. 조치도 원인이 아니라 고장 유형에 붙어 있어서, 원인이 확인되기 전에도 고장 유형에 맞는 완화 조치를 찾을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유형과 실제 대상이 한 그림에 구분 없이 섞이면 컴퓨터는 센서라는 노드와 TS1이라는 노드의 사이를 알 수 없습니다. 온톨로지는 두 층에 이름을 붙여 나눕니다. 유형이 클래스이고 실제 대상이 인스턴스입니다.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속성은 대상이 갖는 값의 칸이고, 그 칸을 정하는 것이 클래스입니다. 먼저 왼쪽의 다섯 칸을 봅니다. 센서 클래스의 속성은 식별자, 이름, 태그, 단위, 그리고 계산으로 만든 값인지를 나타내는 virtual입니다. 가운데 카드는 유온 센서이고 칸마다 값이 하나씩 들어가며, TS1이 tag의 값입니다. 오른쪽은 냉각 효율인데 CE는 센서 없이 계산한 값이어서 virtual이 true입니다.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관계도 클래스처럼 유형을 먼저 정합니다. 윗줄에서 HAS_COMPONENT는 설비 클래스에서 시작해 구성 요소 클래스에서 끝나고, MONITORED_BY는 구성 요소에서 센서로, OBSERVES는 센서에서 상태 변수, 곧 유온처럼 센서가 읽는 설비의 상태로 향합니다. 아랫줄은 실제 대상이어서 HYD-01은 오일 쿨러를 구성 요소로 갖고, 오일 쿨러는 유온 센서로 계측되며, 유온 센서는 유온을 읽습니다. 파란 화살표 하나하나가 위에서 정의한 관계 유형의 실제 연결입니다. 세로 점선은 아래의 대상이 위 클래스의 인스턴스라는 뜻이고, 앞에서 CAUSES는 원인에서 고장 유형으로 향한다고 한 것이 위층의 정의였습니다.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사람이 같은 장치를 서로 다른 이름으로 넣었습니다. 설비는 오일 쿨러에, 센서는 쿨러에, 부품은 열교환기에 붙었습니다. 쿨러에 달린 센서를 찾으라고 하면 셋 가운데 하나에 붙은 것만 나옵니다.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앞의 문제에서 넣은 사람은 저마다 맞게 넣었고, 없는 것은 모두가 함께 따르는 약속입니다. 그 약속이 스키마입니다. 앞에서 온톨로지는 종류와 속성과 관계와 제약을 명시적으로 정의한 지식 모델이라고 했는데, 그 정의를 실제로 적어 둔 것이 스키마입니다. 둘째 칸에서 스키마가 정하는 항목을, 셋째 칸에서 정의의 예 둘을 봅니다. 양식 비유는 칸을 정하는 쪽과 채우는 쪽이 나뉜다는 점까지만 닮았습니다.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스키마의 클래스 정의에는 속성 목록이 들어가고, 앞에서 본 센서의 다섯 칸이 한 줄씩 적혀 있습니다. 한 줄은 속성의 이름, 자료형, 필수 여부의 순서입니다. tag 한 줄을 읽으면 이름은 tag, 자료형은 글자, 그리고 반드시 있어야 하는 속성입니다. 값의 형식과 필수 여부가 스키마에는 이렇게 적힙니다.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이름을 식별자로 쓰지 않는 까닭은 이름이 겹치거나 바뀌기 때문입니다. 유온 센서라는 이름을 온도 센서로 고쳐도 sen:ts1이라는 식별자는 그대로이고, 이 센서를 가리키는 관계도 그대로 남습니다.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관계도 클래스처럼 스키마에 정의합니다. OBSERVES는 센서에서 시작해 상태 변수에서 끝나는 다대일 관계라고 적혀 있습니다. 앞에서 그림으로 본 관계 유형이 글자로는 이렇게 적힙니다.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앞에서 본 그래프 DB인 Neo4j에서는 인스턴스 하나가 노드 하나가 되고, 노드에 붙는 이름표인 레이블로 클래스 이름을 씁니다. 다음으로 가운데의 관계에는 방향과 관계 유형이 함께 저장되며, 스키마에서 정의한 관계의 이름을 그대로 씁니다. 아래 상자는 속성이고, 앞에서 본 속성이 노드에 그대로 들어갑니다. 노드, 관계, 속성의 세 가지가 그래프 DB가 데이터를 담는 구조의 전부입니다.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그래프 DB에 들어 있는 것을 꺼내 보려면 질의를 보냅니다. HYD에서 관계를 따라 원인 후보를 찾는 일도 Cypher 질의를 Neo4j에 보내는 것입니다. 사람이 Browser에서 쓰는 질의와 같은 언어입니다.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조회의 첫 낱말은 MATCH입니다. 이 질의는 오일 쿨러를 재는 센서는 무엇인가라는 질문이고, 센서가 몇 개인지는 적지 않았습니다. 모양에 맞는 것을 모두 찾는 것이 MATCH의 동작입니다. MATCH만으로는 아무것도 보이지 않으므로 RETURN에 구성 요소의 이름과 센서의 태그를 달라고 적었습니다. 오일 쿨러는 TS1과 CE 두 채널로 계측되므로 두 행이 나옵니다.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찾은 것 가운데 일부만 보고 싶을 때 WHERE를 씁니다. 한계가 정해진 상태 변수만 남겼더니 세 행이 나옵니다. PLC에 정해 둔 인터록의 기준이 이 세 값입니다.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경보에서 출발해 원인 후보까지 가는 길을 Cypher로 적었습니다. 먼저 경보에 실려 오는 패턴 이름인 이상 패턴에서 DETECTS를 따라 증상으로, INDICATES를 따라 고장 유형으로 가며, 두 관계 모두 화살표가 오른쪽을 향합니다. 다음으로 CAUSES는 원인에서 고장 유형으로 가는 관계인데 지금은 고장 유형 쪽에서 출발하므로 화살표를 왼쪽으로 적습니다. 그림의 화살표 방향을 그대로 옮기면 됩니다. 이 한 줄 앞에 MATCH를 붙인 것이 원인 후보를 찾을 때 보내는 질의입니다.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조회 다음은 만들기이고 표기는 조회와 같습니다. 먼저 위의 CREATE는 괄호 안에 적은 레이블과 속성대로 노드를 만듭니다. 다음으로 아래의 MERGE는 먼저 찾아봅니다. 무엇을 같다고 볼지는 괄호 안에 적은 것으로 정해지므로 그 자리에는 식별자를 적습니다. 이름까지 넣으면 이름을 고쳐 다시 실행했을 때 같은 노드를 찾지 못합니다.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실습의 목적은 노드와 관계와 방향을 손으로 정하는 것입니다. 쿨러 사건의 설비, 센서, 증상, 원인, 조치를 노드로 놓고 관계를 이어 이름을 붙입니다. 다 그린 뒤에는 화살표마다 문장으로 읽어 뜻이 통하는지 확인합니다. 이 그림은 뒤의 스키마 설계에서 참고 자료로 씁니다.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앞에서 센서와 오일 쿨러의 예로 본 정의의 순서를 앞서 그린 관계도로 직접 밟습니다. 정의한 내용을 Claude Code에 요구사항으로 전달해 파일을 만들게 합니다. 무엇을 클래스로 두고 무엇을 속성으로 둘지를 정하는 일은 설계하는 사람의 몫입니다.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앞의 실습에서 설계한 스키마와 인스턴스를 그래프 DB에 넣습니다. 질의는 실행하기 전에 읽어, 노드를 식별자로 MERGE하는지와 관계의 방향이 스키마의 정의와 같은지를 확인합니다. 넣은 뒤에는 MATCH와 WHERE와 RETURN으로 원인, 설비, 부품을 찾아 결과가 설계와 같은지 대조합니다.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HYD의 지식 지도에는 같은 부품이 여러 설비에 쓰이는 경우와 한 대상에 관계가 여럿 붙는 경우가 들어 있습니다. 같은 설비를 지식 지도에서 찾아 내 모델과 어디가 다른지를 가립니다. 차이를 스키마 파일에 반영하고, 고친 파일은 이후의 실습에서 다시 쓰므로 보존합니다.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 새로 쓴 용어입니다. 위의 여섯은 지식을 정의하는 쪽의 말이고 아래 둘은 그래프 DB 쪽의 말입니다. 이 가운데 하나를 골라 자료 없이 자신의 문장으로 적어 봅니다.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경보가 알려 주는 것과 원인 판단을 구분하는 문항입니다. 화면의 값을 판별 기준에 대어 보면 됩니다.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유형과 실제 대상을 구분하는 문항입니다. 새로 생긴 것이 유형인지 대상 하나인지를 먼저 따져 봅니다.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표기를 외웠는지가 아니라 스키마의 방향을 질의로 옮길 수 있는지를 확인하는 문항입니다. 출발하는 노드가 관계의 끝 쪽에 있다는 점을 눈여겨봅니다.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정답보다 판단 기준이 중요합니다. 첫 문항은 경보가 알려 주는 것과 원인을 가르는 값을 구분하는지를 봅니다. 둘째 문항의 1번은 대상마다 클래스를 만드는 실수입니다. 셋째 문항의 1번은 방향이 반대이고, 3번은 관계 유형이 다르며, 4번은 둥근 괄호와 대괄호를 바꾸어 썼습니다.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2.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7.png"/><Relationship Id="rId4" Type="http://schemas.openxmlformats.org/officeDocument/2006/relationships/image" Target="../media/image8.png"/><Relationship Id="rId5"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20.png"/><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2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2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2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25.png"/><Relationship Id="rId4" Type="http://schemas.openxmlformats.org/officeDocument/2006/relationships/image" Target="../media/image2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2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2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image" Target="../media/image3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32.png"/><Relationship Id="rId4" Type="http://schemas.openxmlformats.org/officeDocument/2006/relationships/image" Target="../media/image20.png"/><Relationship Id="rId5" Type="http://schemas.openxmlformats.org/officeDocument/2006/relationships/image" Target="../media/image33.png"/><Relationship Id="rId6" Type="http://schemas.openxmlformats.org/officeDocument/2006/relationships/image" Target="../media/image3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35.png"/><Relationship Id="rId4" Type="http://schemas.openxmlformats.org/officeDocument/2006/relationships/image" Target="../media/image36.png"/><Relationship Id="rId5" Type="http://schemas.openxmlformats.org/officeDocument/2006/relationships/image" Target="../media/image37.png"/><Relationship Id="rId6" Type="http://schemas.openxmlformats.org/officeDocument/2006/relationships/image" Target="../media/image3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39.png"/><Relationship Id="rId4" Type="http://schemas.openxmlformats.org/officeDocument/2006/relationships/image" Target="../media/image40.png"/><Relationship Id="rId5" Type="http://schemas.openxmlformats.org/officeDocument/2006/relationships/image" Target="../media/image4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294B"/>
        </a:solidFill>
        <a:effectLst/>
      </p:bgPr>
    </p:bg>
    <p:spTree>
      <p:nvGrpSpPr>
        <p:cNvPr id="1" name=""/>
        <p:cNvGrpSpPr/>
        <p:nvPr/>
      </p:nvGrpSpPr>
      <p:grpSpPr/>
      <p:sp>
        <p:nvSpPr>
          <p:cNvPr id="2" name="TextBox 1"/>
          <p:cNvSpPr txBox="1"/>
          <p:nvPr/>
        </p:nvSpPr>
        <p:spPr>
          <a:xfrm>
            <a:off x="457200" y="841248"/>
            <a:ext cx="8229600" cy="457200"/>
          </a:xfrm>
          <a:prstGeom prst="rect">
            <a:avLst/>
          </a:prstGeom>
          <a:noFill/>
        </p:spPr>
        <p:txBody>
          <a:bodyPr wrap="square" anchor="t"/>
          <a:lstStyle/>
          <a:p>
            <a:pPr algn="l">
              <a:lnSpc>
                <a:spcPct val="110000"/>
              </a:lnSpc>
            </a:pPr>
            <a:r>
              <a:rPr sz="2000" b="1">
                <a:solidFill>
                  <a:srgbClr val="8FCFF8"/>
                </a:solidFill>
                <a:latin typeface="맑은 고딕"/>
                <a:ea typeface="맑은 고딕"/>
                <a:cs typeface="맑은 고딕"/>
              </a:rPr>
              <a:t>경남대학교 피지컬AI 사관학교</a:t>
            </a:r>
          </a:p>
        </p:txBody>
      </p:sp>
      <p:sp>
        <p:nvSpPr>
          <p:cNvPr id="3" name="Rectangle 2"/>
          <p:cNvSpPr/>
          <p:nvPr/>
        </p:nvSpPr>
        <p:spPr>
          <a:xfrm>
            <a:off x="548640" y="13167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1700784"/>
            <a:ext cx="7863840" cy="420624"/>
          </a:xfrm>
          <a:prstGeom prst="rect">
            <a:avLst/>
          </a:prstGeom>
          <a:noFill/>
        </p:spPr>
        <p:txBody>
          <a:bodyPr wrap="square" anchor="t"/>
          <a:lstStyle/>
          <a:p>
            <a:pPr algn="l">
              <a:lnSpc>
                <a:spcPct val="110000"/>
              </a:lnSpc>
            </a:pPr>
            <a:r>
              <a:rPr sz="1800" b="1">
                <a:solidFill>
                  <a:srgbClr val="8FCFF8"/>
                </a:solidFill>
                <a:latin typeface="맑은 고딕"/>
                <a:ea typeface="맑은 고딕"/>
                <a:cs typeface="맑은 고딕"/>
              </a:rPr>
              <a:t>실전반 오프라인 1회차</a:t>
            </a:r>
          </a:p>
        </p:txBody>
      </p:sp>
      <p:sp>
        <p:nvSpPr>
          <p:cNvPr id="5" name="TextBox 4"/>
          <p:cNvSpPr txBox="1"/>
          <p:nvPr/>
        </p:nvSpPr>
        <p:spPr>
          <a:xfrm>
            <a:off x="457200" y="2395728"/>
            <a:ext cx="8412480" cy="1920240"/>
          </a:xfrm>
          <a:prstGeom prst="rect">
            <a:avLst/>
          </a:prstGeom>
          <a:noFill/>
        </p:spPr>
        <p:txBody>
          <a:bodyPr wrap="square" anchor="t"/>
          <a:lstStyle/>
          <a:p>
            <a:pPr algn="l">
              <a:lnSpc>
                <a:spcPct val="110000"/>
              </a:lnSpc>
            </a:pPr>
            <a:r>
              <a:rPr sz="4000" b="1">
                <a:solidFill>
                  <a:srgbClr val="FFFFFF"/>
                </a:solidFill>
                <a:latin typeface="맑은 고딕"/>
                <a:ea typeface="맑은 고딕"/>
                <a:cs typeface="맑은 고딕"/>
              </a:rPr>
              <a:t>설비 데이터의 공통 지식 설계와</a:t>
            </a:r>
          </a:p>
          <a:p>
            <a:pPr algn="l">
              <a:lnSpc>
                <a:spcPct val="110000"/>
              </a:lnSpc>
            </a:pPr>
            <a:r>
              <a:rPr sz="4000" b="1">
                <a:solidFill>
                  <a:srgbClr val="FFFFFF"/>
                </a:solidFill>
                <a:latin typeface="맑은 고딕"/>
                <a:ea typeface="맑은 고딕"/>
                <a:cs typeface="맑은 고딕"/>
              </a:rPr>
              <a:t>그래프 DB 연결</a:t>
            </a:r>
          </a:p>
        </p:txBody>
      </p:sp>
      <p:sp>
        <p:nvSpPr>
          <p:cNvPr id="6" name="TextBox 5"/>
          <p:cNvSpPr txBox="1"/>
          <p:nvPr/>
        </p:nvSpPr>
        <p:spPr>
          <a:xfrm>
            <a:off x="457200" y="4407408"/>
            <a:ext cx="8412480" cy="731520"/>
          </a:xfrm>
          <a:prstGeom prst="rect">
            <a:avLst/>
          </a:prstGeom>
          <a:noFill/>
        </p:spPr>
        <p:txBody>
          <a:bodyPr wrap="square" anchor="t"/>
          <a:lstStyle/>
          <a:p>
            <a:pPr algn="l">
              <a:lnSpc>
                <a:spcPct val="110000"/>
              </a:lnSpc>
            </a:pPr>
            <a:r>
              <a:rPr sz="1900" b="0">
                <a:solidFill>
                  <a:srgbClr val="C6D0DE"/>
                </a:solidFill>
                <a:latin typeface="맑은 고딕"/>
                <a:ea typeface="맑은 고딕"/>
                <a:cs typeface="맑은 고딕"/>
              </a:rPr>
              <a:t>필요한 지식의 정의에서 스키마 설계와 Cypher 조회까지</a:t>
            </a:r>
          </a:p>
        </p:txBody>
      </p:sp>
      <p:pic>
        <p:nvPicPr>
          <p:cNvPr id="7" name="로고:uEngine" descr="logo-uengine_FFFFFF_None.png"/>
          <p:cNvPicPr>
            <a:picLocks noChangeAspect="1"/>
          </p:cNvPicPr>
          <p:nvPr/>
        </p:nvPicPr>
        <p:blipFill>
          <a:blip r:embed="rId2"/>
          <a:stretch>
            <a:fillRect/>
          </a:stretch>
        </p:blipFill>
        <p:spPr>
          <a:xfrm>
            <a:off x="7315200" y="5669280"/>
            <a:ext cx="1325880" cy="275115"/>
          </a:xfrm>
          <a:prstGeom prst="rect">
            <a:avLst/>
          </a:prstGeom>
        </p:spPr>
      </p:pic>
      <p:sp>
        <p:nvSpPr>
          <p:cNvPr id="8" name="Rectangle 7"/>
          <p:cNvSpPr/>
          <p:nvPr/>
        </p:nvSpPr>
        <p:spPr>
          <a:xfrm>
            <a:off x="9464040" y="1188719"/>
            <a:ext cx="1188720" cy="1188720"/>
          </a:xfrm>
          <a:prstGeom prst="rect">
            <a:avLst/>
          </a:prstGeom>
          <a:solidFill>
            <a:srgbClr val="243D66"/>
          </a:solidFill>
          <a:ln>
            <a:noFill/>
          </a:ln>
        </p:spPr>
        <p:txBody>
          <a:bodyPr rtlCol="0" anchor="ctr"/>
          <a:lstStyle/>
          <a:p>
            <a:pPr algn="ctr"/>
          </a:p>
        </p:txBody>
      </p:sp>
      <p:pic>
        <p:nvPicPr>
          <p:cNvPr id="9" name="아이콘:topology-star-3" descr="topology-star-3_5CB8F2_1.5.png"/>
          <p:cNvPicPr>
            <a:picLocks noChangeAspect="1"/>
          </p:cNvPicPr>
          <p:nvPr/>
        </p:nvPicPr>
        <p:blipFill>
          <a:blip r:embed="rId3"/>
          <a:stretch>
            <a:fillRect/>
          </a:stretch>
        </p:blipFill>
        <p:spPr>
          <a:xfrm>
            <a:off x="9701784" y="1426463"/>
            <a:ext cx="713232" cy="713232"/>
          </a:xfrm>
          <a:prstGeom prst="rect">
            <a:avLst/>
          </a:prstGeom>
        </p:spPr>
      </p:pic>
      <p:sp>
        <p:nvSpPr>
          <p:cNvPr id="10" name="Down Arrow 9"/>
          <p:cNvSpPr/>
          <p:nvPr/>
        </p:nvSpPr>
        <p:spPr>
          <a:xfrm>
            <a:off x="9902952" y="2450591"/>
            <a:ext cx="310896" cy="310896"/>
          </a:xfrm>
          <a:prstGeom prst="downArrow">
            <a:avLst/>
          </a:prstGeom>
          <a:solidFill>
            <a:srgbClr val="5CB8F2"/>
          </a:solidFill>
          <a:ln>
            <a:noFill/>
          </a:ln>
        </p:spPr>
        <p:txBody>
          <a:bodyPr rtlCol="0" anchor="ctr"/>
          <a:lstStyle/>
          <a:p>
            <a:pPr algn="ctr"/>
          </a:p>
        </p:txBody>
      </p:sp>
      <p:sp>
        <p:nvSpPr>
          <p:cNvPr id="11" name="Rectangle 10"/>
          <p:cNvSpPr/>
          <p:nvPr/>
        </p:nvSpPr>
        <p:spPr>
          <a:xfrm>
            <a:off x="9464040" y="2834639"/>
            <a:ext cx="1188720" cy="1188720"/>
          </a:xfrm>
          <a:prstGeom prst="rect">
            <a:avLst/>
          </a:prstGeom>
          <a:solidFill>
            <a:srgbClr val="243D66"/>
          </a:solidFill>
          <a:ln>
            <a:noFill/>
          </a:ln>
        </p:spPr>
        <p:txBody>
          <a:bodyPr rtlCol="0" anchor="ctr"/>
          <a:lstStyle/>
          <a:p>
            <a:pPr algn="ctr"/>
          </a:p>
        </p:txBody>
      </p:sp>
      <p:pic>
        <p:nvPicPr>
          <p:cNvPr id="12" name="아이콘:schema" descr="schema_5CB8F2_1.5.png"/>
          <p:cNvPicPr>
            <a:picLocks noChangeAspect="1"/>
          </p:cNvPicPr>
          <p:nvPr/>
        </p:nvPicPr>
        <p:blipFill>
          <a:blip r:embed="rId4"/>
          <a:stretch>
            <a:fillRect/>
          </a:stretch>
        </p:blipFill>
        <p:spPr>
          <a:xfrm>
            <a:off x="9701784" y="3072383"/>
            <a:ext cx="713232" cy="713232"/>
          </a:xfrm>
          <a:prstGeom prst="rect">
            <a:avLst/>
          </a:prstGeom>
        </p:spPr>
      </p:pic>
      <p:sp>
        <p:nvSpPr>
          <p:cNvPr id="13" name="Down Arrow 12"/>
          <p:cNvSpPr/>
          <p:nvPr/>
        </p:nvSpPr>
        <p:spPr>
          <a:xfrm>
            <a:off x="9902952" y="4096511"/>
            <a:ext cx="310896" cy="310896"/>
          </a:xfrm>
          <a:prstGeom prst="downArrow">
            <a:avLst/>
          </a:prstGeom>
          <a:solidFill>
            <a:srgbClr val="5CB8F2"/>
          </a:solidFill>
          <a:ln>
            <a:noFill/>
          </a:ln>
        </p:spPr>
        <p:txBody>
          <a:bodyPr rtlCol="0" anchor="ctr"/>
          <a:lstStyle/>
          <a:p>
            <a:pPr algn="ctr"/>
          </a:p>
        </p:txBody>
      </p:sp>
      <p:sp>
        <p:nvSpPr>
          <p:cNvPr id="14" name="Rectangle 13"/>
          <p:cNvSpPr/>
          <p:nvPr/>
        </p:nvSpPr>
        <p:spPr>
          <a:xfrm>
            <a:off x="9464040" y="4480560"/>
            <a:ext cx="1188720" cy="1188720"/>
          </a:xfrm>
          <a:prstGeom prst="rect">
            <a:avLst/>
          </a:prstGeom>
          <a:solidFill>
            <a:srgbClr val="5CB8F2"/>
          </a:solidFill>
          <a:ln>
            <a:noFill/>
          </a:ln>
        </p:spPr>
        <p:txBody>
          <a:bodyPr rtlCol="0" anchor="ctr"/>
          <a:lstStyle/>
          <a:p>
            <a:pPr algn="ctr"/>
          </a:p>
        </p:txBody>
      </p:sp>
      <p:pic>
        <p:nvPicPr>
          <p:cNvPr id="15" name="아이콘:database" descr="database_13294B_1.5.png"/>
          <p:cNvPicPr>
            <a:picLocks noChangeAspect="1"/>
          </p:cNvPicPr>
          <p:nvPr/>
        </p:nvPicPr>
        <p:blipFill>
          <a:blip r:embed="rId5"/>
          <a:stretch>
            <a:fillRect/>
          </a:stretch>
        </p:blipFill>
        <p:spPr>
          <a:xfrm>
            <a:off x="9701784" y="4718304"/>
            <a:ext cx="713232" cy="71323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학습목표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경보 뒤의 판단에 필요한 지식을 정의하고, 그래프 DB에 넣어 관계를 따라 조회한다.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a:t>
            </a:r>
          </a:p>
        </p:txBody>
      </p:sp>
      <p:sp>
        <p:nvSpPr>
          <p:cNvPr id="6" name="Rounded Rectangle 5"/>
          <p:cNvSpPr/>
          <p:nvPr/>
        </p:nvSpPr>
        <p:spPr>
          <a:xfrm>
            <a:off x="548640"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19756"/>
            <a:ext cx="731520" cy="731520"/>
          </a:xfrm>
          <a:prstGeom prst="ellipse">
            <a:avLst/>
          </a:prstGeom>
          <a:solidFill>
            <a:srgbClr val="E7F3FD"/>
          </a:solidFill>
          <a:ln>
            <a:noFill/>
          </a:ln>
        </p:spPr>
        <p:txBody>
          <a:bodyPr rtlCol="0" anchor="ctr"/>
          <a:lstStyle/>
          <a:p>
            <a:pPr algn="ctr"/>
          </a:p>
        </p:txBody>
      </p:sp>
      <p:pic>
        <p:nvPicPr>
          <p:cNvPr id="8" name="아이콘:alert-triangle" descr="alert-triangle_13294B_1.6.png"/>
          <p:cNvPicPr>
            <a:picLocks noChangeAspect="1"/>
          </p:cNvPicPr>
          <p:nvPr/>
        </p:nvPicPr>
        <p:blipFill>
          <a:blip r:embed="rId3"/>
          <a:stretch>
            <a:fillRect/>
          </a:stretch>
        </p:blipFill>
        <p:spPr>
          <a:xfrm>
            <a:off x="930859" y="2773375"/>
            <a:ext cx="424281" cy="424281"/>
          </a:xfrm>
          <a:prstGeom prst="rect">
            <a:avLst/>
          </a:prstGeom>
        </p:spPr>
      </p:pic>
      <p:sp>
        <p:nvSpPr>
          <p:cNvPr id="9" name="TextBox 8"/>
          <p:cNvSpPr txBox="1"/>
          <p:nvPr/>
        </p:nvSpPr>
        <p:spPr>
          <a:xfrm>
            <a:off x="713232"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지식의 필요</a:t>
            </a:r>
          </a:p>
          <a:p>
            <a:pPr algn="l">
              <a:lnSpc>
                <a:spcPct val="110000"/>
              </a:lnSpc>
              <a:spcAft>
                <a:spcPts val="400"/>
              </a:spcAft>
            </a:pPr>
            <a:r>
              <a:rPr sz="1350" b="0">
                <a:solidFill>
                  <a:srgbClr val="1F2A3A"/>
                </a:solidFill>
                <a:latin typeface="맑은 고딕"/>
                <a:ea typeface="맑은 고딕"/>
                <a:cs typeface="맑은 고딕"/>
              </a:rPr>
              <a:t>경보와 개별 수치만으로는 조치를 정할 수 없는 까닭을 원인 후보와 판별 값으로 설명한다</a:t>
            </a:r>
          </a:p>
        </p:txBody>
      </p:sp>
      <p:sp>
        <p:nvSpPr>
          <p:cNvPr id="10" name="Rounded Rectangle 9"/>
          <p:cNvSpPr/>
          <p:nvPr/>
        </p:nvSpPr>
        <p:spPr>
          <a:xfrm>
            <a:off x="777240" y="5134356"/>
            <a:ext cx="11734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34356"/>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왜 필요한가</a:t>
            </a:r>
          </a:p>
        </p:txBody>
      </p:sp>
      <p:sp>
        <p:nvSpPr>
          <p:cNvPr id="12" name="Rounded Rectangle 11"/>
          <p:cNvSpPr/>
          <p:nvPr/>
        </p:nvSpPr>
        <p:spPr>
          <a:xfrm>
            <a:off x="3390823"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619756"/>
            <a:ext cx="731520" cy="731520"/>
          </a:xfrm>
          <a:prstGeom prst="ellipse">
            <a:avLst/>
          </a:prstGeom>
          <a:solidFill>
            <a:srgbClr val="E7F3FD"/>
          </a:solidFill>
          <a:ln>
            <a:noFill/>
          </a:ln>
        </p:spPr>
        <p:txBody>
          <a:bodyPr rtlCol="0" anchor="ctr"/>
          <a:lstStyle/>
          <a:p>
            <a:pPr algn="ctr"/>
          </a:p>
        </p:txBody>
      </p:sp>
      <p:pic>
        <p:nvPicPr>
          <p:cNvPr id="14" name="아이콘:topology-star-3" descr="topology-star-3_13294B_1.6.png"/>
          <p:cNvPicPr>
            <a:picLocks noChangeAspect="1"/>
          </p:cNvPicPr>
          <p:nvPr/>
        </p:nvPicPr>
        <p:blipFill>
          <a:blip r:embed="rId4"/>
          <a:stretch>
            <a:fillRect/>
          </a:stretch>
        </p:blipFill>
        <p:spPr>
          <a:xfrm>
            <a:off x="3773043" y="2773375"/>
            <a:ext cx="424281" cy="424281"/>
          </a:xfrm>
          <a:prstGeom prst="rect">
            <a:avLst/>
          </a:prstGeom>
        </p:spPr>
      </p:pic>
      <p:sp>
        <p:nvSpPr>
          <p:cNvPr id="15" name="TextBox 14"/>
          <p:cNvSpPr txBox="1"/>
          <p:nvPr/>
        </p:nvSpPr>
        <p:spPr>
          <a:xfrm>
            <a:off x="3555415"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관계의 표현</a:t>
            </a:r>
          </a:p>
          <a:p>
            <a:pPr algn="l">
              <a:lnSpc>
                <a:spcPct val="110000"/>
              </a:lnSpc>
              <a:spcAft>
                <a:spcPts val="400"/>
              </a:spcAft>
            </a:pPr>
            <a:r>
              <a:rPr sz="1350" b="0">
                <a:solidFill>
                  <a:srgbClr val="1F2A3A"/>
                </a:solidFill>
                <a:latin typeface="맑은 고딕"/>
                <a:ea typeface="맑은 고딕"/>
                <a:cs typeface="맑은 고딕"/>
              </a:rPr>
              <a:t>설비, 센서, 증상, 원인, 조치를 이름과 방향이 있는 관계로 그린다</a:t>
            </a:r>
          </a:p>
        </p:txBody>
      </p:sp>
      <p:sp>
        <p:nvSpPr>
          <p:cNvPr id="16" name="Rounded Rectangle 15"/>
          <p:cNvSpPr/>
          <p:nvPr/>
        </p:nvSpPr>
        <p:spPr>
          <a:xfrm>
            <a:off x="3619423" y="5134356"/>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13435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관계도</a:t>
            </a:r>
          </a:p>
        </p:txBody>
      </p:sp>
      <p:sp>
        <p:nvSpPr>
          <p:cNvPr id="18" name="Rounded Rectangle 17"/>
          <p:cNvSpPr/>
          <p:nvPr/>
        </p:nvSpPr>
        <p:spPr>
          <a:xfrm>
            <a:off x="6233007" y="2418588"/>
            <a:ext cx="2567863" cy="3145535"/>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6461607" y="2619756"/>
            <a:ext cx="731520" cy="731520"/>
          </a:xfrm>
          <a:prstGeom prst="ellipse">
            <a:avLst/>
          </a:prstGeom>
          <a:solidFill>
            <a:srgbClr val="5CB8F2"/>
          </a:solidFill>
          <a:ln>
            <a:noFill/>
          </a:ln>
        </p:spPr>
        <p:txBody>
          <a:bodyPr rtlCol="0" anchor="ctr"/>
          <a:lstStyle/>
          <a:p>
            <a:pPr algn="ctr"/>
          </a:p>
        </p:txBody>
      </p:sp>
      <p:pic>
        <p:nvPicPr>
          <p:cNvPr id="20" name="아이콘:schema" descr="schema_13294B_1.6.png"/>
          <p:cNvPicPr>
            <a:picLocks noChangeAspect="1"/>
          </p:cNvPicPr>
          <p:nvPr/>
        </p:nvPicPr>
        <p:blipFill>
          <a:blip r:embed="rId5"/>
          <a:stretch>
            <a:fillRect/>
          </a:stretch>
        </p:blipFill>
        <p:spPr>
          <a:xfrm>
            <a:off x="6615226" y="2773375"/>
            <a:ext cx="424281" cy="424281"/>
          </a:xfrm>
          <a:prstGeom prst="rect">
            <a:avLst/>
          </a:prstGeom>
        </p:spPr>
      </p:pic>
      <p:sp>
        <p:nvSpPr>
          <p:cNvPr id="21" name="TextBox 20"/>
          <p:cNvSpPr txBox="1"/>
          <p:nvPr/>
        </p:nvSpPr>
        <p:spPr>
          <a:xfrm>
            <a:off x="6397599"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스키마 설계</a:t>
            </a:r>
          </a:p>
          <a:p>
            <a:pPr algn="l">
              <a:lnSpc>
                <a:spcPct val="110000"/>
              </a:lnSpc>
              <a:spcAft>
                <a:spcPts val="400"/>
              </a:spcAft>
            </a:pPr>
            <a:r>
              <a:rPr sz="1350" b="0">
                <a:solidFill>
                  <a:srgbClr val="1F2A3A"/>
                </a:solidFill>
                <a:latin typeface="맑은 고딕"/>
                <a:ea typeface="맑은 고딕"/>
                <a:cs typeface="맑은 고딕"/>
              </a:rPr>
              <a:t>클래스, 인스턴스, 속성, 식별자, 관계 방향을 정의한 스키마를 쓴다</a:t>
            </a:r>
          </a:p>
        </p:txBody>
      </p:sp>
      <p:sp>
        <p:nvSpPr>
          <p:cNvPr id="22" name="Rounded Rectangle 21"/>
          <p:cNvSpPr/>
          <p:nvPr/>
        </p:nvSpPr>
        <p:spPr>
          <a:xfrm>
            <a:off x="6461607" y="5134356"/>
            <a:ext cx="102108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6461607" y="5134356"/>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공통 모델</a:t>
            </a:r>
          </a:p>
        </p:txBody>
      </p:sp>
      <p:sp>
        <p:nvSpPr>
          <p:cNvPr id="24" name="Rounded Rectangle 23"/>
          <p:cNvSpPr/>
          <p:nvPr/>
        </p:nvSpPr>
        <p:spPr>
          <a:xfrm>
            <a:off x="9075191"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25" name="Oval 24"/>
          <p:cNvSpPr/>
          <p:nvPr/>
        </p:nvSpPr>
        <p:spPr>
          <a:xfrm>
            <a:off x="9303791" y="2619756"/>
            <a:ext cx="731520" cy="731520"/>
          </a:xfrm>
          <a:prstGeom prst="ellipse">
            <a:avLst/>
          </a:prstGeom>
          <a:solidFill>
            <a:srgbClr val="E7F3FD"/>
          </a:solidFill>
          <a:ln>
            <a:noFill/>
          </a:ln>
        </p:spPr>
        <p:txBody>
          <a:bodyPr rtlCol="0" anchor="ctr"/>
          <a:lstStyle/>
          <a:p>
            <a:pPr algn="ctr"/>
          </a:p>
        </p:txBody>
      </p:sp>
      <p:pic>
        <p:nvPicPr>
          <p:cNvPr id="26" name="아이콘:database" descr="database_13294B_1.6.png"/>
          <p:cNvPicPr>
            <a:picLocks noChangeAspect="1"/>
          </p:cNvPicPr>
          <p:nvPr/>
        </p:nvPicPr>
        <p:blipFill>
          <a:blip r:embed="rId6"/>
          <a:stretch>
            <a:fillRect/>
          </a:stretch>
        </p:blipFill>
        <p:spPr>
          <a:xfrm>
            <a:off x="9457410" y="2773375"/>
            <a:ext cx="424281" cy="424281"/>
          </a:xfrm>
          <a:prstGeom prst="rect">
            <a:avLst/>
          </a:prstGeom>
        </p:spPr>
      </p:pic>
      <p:sp>
        <p:nvSpPr>
          <p:cNvPr id="27" name="TextBox 26"/>
          <p:cNvSpPr txBox="1"/>
          <p:nvPr/>
        </p:nvSpPr>
        <p:spPr>
          <a:xfrm>
            <a:off x="9239783"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그래프 DB 구현</a:t>
            </a:r>
          </a:p>
          <a:p>
            <a:pPr algn="l">
              <a:lnSpc>
                <a:spcPct val="110000"/>
              </a:lnSpc>
              <a:spcAft>
                <a:spcPts val="400"/>
              </a:spcAft>
            </a:pPr>
            <a:r>
              <a:rPr sz="1350" b="0">
                <a:solidFill>
                  <a:srgbClr val="1F2A3A"/>
                </a:solidFill>
                <a:latin typeface="맑은 고딕"/>
                <a:ea typeface="맑은 고딕"/>
                <a:cs typeface="맑은 고딕"/>
              </a:rPr>
              <a:t>Cypher로 노드와 관계를 적재하고 원인, 설비, 부품을 조회한다</a:t>
            </a:r>
          </a:p>
        </p:txBody>
      </p:sp>
      <p:sp>
        <p:nvSpPr>
          <p:cNvPr id="28" name="Rounded Rectangle 27"/>
          <p:cNvSpPr/>
          <p:nvPr/>
        </p:nvSpPr>
        <p:spPr>
          <a:xfrm>
            <a:off x="9303791" y="5134356"/>
            <a:ext cx="1173480" cy="292608"/>
          </a:xfrm>
          <a:prstGeom prst="roundRect">
            <a:avLst>
              <a:gd name="adj" fmla="val 50000"/>
            </a:avLst>
          </a:prstGeom>
          <a:solidFill>
            <a:srgbClr val="D3D9E1"/>
          </a:solidFill>
          <a:ln>
            <a:noFill/>
          </a:ln>
        </p:spPr>
        <p:txBody>
          <a:bodyPr rtlCol="0" anchor="ctr"/>
          <a:lstStyle/>
          <a:p>
            <a:pPr algn="ctr"/>
          </a:p>
        </p:txBody>
      </p:sp>
      <p:sp>
        <p:nvSpPr>
          <p:cNvPr id="29" name="TextBox 28"/>
          <p:cNvSpPr txBox="1"/>
          <p:nvPr/>
        </p:nvSpPr>
        <p:spPr>
          <a:xfrm>
            <a:off x="9303791" y="5134356"/>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적재와 조회</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목차</a:t>
            </a:r>
          </a:p>
        </p:txBody>
      </p:sp>
      <p:sp>
        <p:nvSpPr>
          <p:cNvPr id="3" name="Rectangle 2"/>
          <p:cNvSpPr/>
          <p:nvPr/>
        </p:nvSpPr>
        <p:spPr>
          <a:xfrm>
            <a:off x="548640" y="1097280"/>
            <a:ext cx="11094415" cy="18288"/>
          </a:xfrm>
          <a:prstGeom prst="rect">
            <a:avLst/>
          </a:prstGeom>
          <a:solidFill>
            <a:srgbClr val="D3D9E1"/>
          </a:solidFill>
          <a:ln>
            <a:noFill/>
          </a:ln>
        </p:spPr>
        <p:txBody>
          <a:bodyPr rtlCol="0" anchor="ctr"/>
          <a:lstStyle/>
          <a:p>
            <a:pPr algn="ctr"/>
          </a:p>
        </p:txBody>
      </p:sp>
      <p:sp>
        <p:nvSpPr>
          <p:cNvPr id="4" name="TextBox 3"/>
          <p:cNvSpPr txBox="1"/>
          <p:nvPr/>
        </p:nvSpPr>
        <p:spPr>
          <a:xfrm>
            <a:off x="548640" y="196596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01</a:t>
            </a:r>
          </a:p>
        </p:txBody>
      </p:sp>
      <p:sp>
        <p:nvSpPr>
          <p:cNvPr id="5" name="TextBox 4"/>
          <p:cNvSpPr txBox="1"/>
          <p:nvPr/>
        </p:nvSpPr>
        <p:spPr>
          <a:xfrm>
            <a:off x="1417319" y="196596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온톨로지와 그래프 구조: 필요에서 정의와 조회까지</a:t>
            </a:r>
          </a:p>
        </p:txBody>
      </p:sp>
      <p:sp>
        <p:nvSpPr>
          <p:cNvPr id="6" name="Rounded Rectangle 5"/>
          <p:cNvSpPr/>
          <p:nvPr/>
        </p:nvSpPr>
        <p:spPr>
          <a:xfrm>
            <a:off x="10088575" y="2185415"/>
            <a:ext cx="1371600" cy="292608"/>
          </a:xfrm>
          <a:prstGeom prst="roundRect">
            <a:avLst>
              <a:gd name="adj" fmla="val 50000"/>
            </a:avLst>
          </a:prstGeom>
          <a:solidFill>
            <a:srgbClr val="D3D9E1"/>
          </a:solidFill>
          <a:ln>
            <a:noFill/>
          </a:ln>
        </p:spPr>
        <p:txBody>
          <a:bodyPr rtlCol="0" anchor="ctr"/>
          <a:lstStyle/>
          <a:p>
            <a:pPr algn="ctr"/>
          </a:p>
        </p:txBody>
      </p:sp>
      <p:sp>
        <p:nvSpPr>
          <p:cNvPr id="7" name="TextBox 6"/>
          <p:cNvSpPr txBox="1"/>
          <p:nvPr/>
        </p:nvSpPr>
        <p:spPr>
          <a:xfrm>
            <a:off x="10088575" y="2185415"/>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이론</a:t>
            </a:r>
          </a:p>
        </p:txBody>
      </p:sp>
      <p:sp>
        <p:nvSpPr>
          <p:cNvPr id="8" name="Rectangle 7"/>
          <p:cNvSpPr/>
          <p:nvPr/>
        </p:nvSpPr>
        <p:spPr>
          <a:xfrm>
            <a:off x="548640" y="2688336"/>
            <a:ext cx="11094415" cy="13716"/>
          </a:xfrm>
          <a:prstGeom prst="rect">
            <a:avLst/>
          </a:prstGeom>
          <a:solidFill>
            <a:srgbClr val="D3D9E1"/>
          </a:solidFill>
          <a:ln>
            <a:noFill/>
          </a:ln>
        </p:spPr>
        <p:txBody>
          <a:bodyPr rtlCol="0" anchor="ctr"/>
          <a:lstStyle/>
          <a:p>
            <a:pPr algn="ctr"/>
          </a:p>
        </p:txBody>
      </p:sp>
      <p:sp>
        <p:nvSpPr>
          <p:cNvPr id="9" name="TextBox 8"/>
          <p:cNvSpPr txBox="1"/>
          <p:nvPr/>
        </p:nvSpPr>
        <p:spPr>
          <a:xfrm>
            <a:off x="548640" y="269748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02</a:t>
            </a:r>
          </a:p>
        </p:txBody>
      </p:sp>
      <p:sp>
        <p:nvSpPr>
          <p:cNvPr id="10" name="TextBox 9"/>
          <p:cNvSpPr txBox="1"/>
          <p:nvPr/>
        </p:nvSpPr>
        <p:spPr>
          <a:xfrm>
            <a:off x="1417319" y="269748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설비 이상과 원인 · 조치의 관계 그리기</a:t>
            </a:r>
          </a:p>
        </p:txBody>
      </p:sp>
      <p:sp>
        <p:nvSpPr>
          <p:cNvPr id="11" name="Rounded Rectangle 10"/>
          <p:cNvSpPr/>
          <p:nvPr/>
        </p:nvSpPr>
        <p:spPr>
          <a:xfrm>
            <a:off x="10088575" y="2916936"/>
            <a:ext cx="13716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10088575" y="291693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실습</a:t>
            </a:r>
          </a:p>
        </p:txBody>
      </p:sp>
      <p:sp>
        <p:nvSpPr>
          <p:cNvPr id="13" name="Rectangle 12"/>
          <p:cNvSpPr/>
          <p:nvPr/>
        </p:nvSpPr>
        <p:spPr>
          <a:xfrm>
            <a:off x="548640" y="3419856"/>
            <a:ext cx="11094415" cy="13716"/>
          </a:xfrm>
          <a:prstGeom prst="rect">
            <a:avLst/>
          </a:prstGeom>
          <a:solidFill>
            <a:srgbClr val="D3D9E1"/>
          </a:solidFill>
          <a:ln>
            <a:noFill/>
          </a:ln>
        </p:spPr>
        <p:txBody>
          <a:bodyPr rtlCol="0" anchor="ctr"/>
          <a:lstStyle/>
          <a:p>
            <a:pPr algn="ctr"/>
          </a:p>
        </p:txBody>
      </p:sp>
      <p:sp>
        <p:nvSpPr>
          <p:cNvPr id="14" name="TextBox 13"/>
          <p:cNvSpPr txBox="1"/>
          <p:nvPr/>
        </p:nvSpPr>
        <p:spPr>
          <a:xfrm>
            <a:off x="548640" y="342900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03</a:t>
            </a:r>
          </a:p>
        </p:txBody>
      </p:sp>
      <p:sp>
        <p:nvSpPr>
          <p:cNvPr id="15" name="TextBox 14"/>
          <p:cNvSpPr txBox="1"/>
          <p:nvPr/>
        </p:nvSpPr>
        <p:spPr>
          <a:xfrm>
            <a:off x="1417319" y="342900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온톨로지 직접 설계하기</a:t>
            </a:r>
          </a:p>
        </p:txBody>
      </p:sp>
      <p:sp>
        <p:nvSpPr>
          <p:cNvPr id="16" name="Rounded Rectangle 15"/>
          <p:cNvSpPr/>
          <p:nvPr/>
        </p:nvSpPr>
        <p:spPr>
          <a:xfrm>
            <a:off x="10088575" y="3648456"/>
            <a:ext cx="137160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10088575" y="364845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실습</a:t>
            </a:r>
          </a:p>
        </p:txBody>
      </p:sp>
      <p:sp>
        <p:nvSpPr>
          <p:cNvPr id="18" name="Rectangle 17"/>
          <p:cNvSpPr/>
          <p:nvPr/>
        </p:nvSpPr>
        <p:spPr>
          <a:xfrm>
            <a:off x="548640" y="4151376"/>
            <a:ext cx="11094415" cy="13716"/>
          </a:xfrm>
          <a:prstGeom prst="rect">
            <a:avLst/>
          </a:prstGeom>
          <a:solidFill>
            <a:srgbClr val="D3D9E1"/>
          </a:solidFill>
          <a:ln>
            <a:noFill/>
          </a:ln>
        </p:spPr>
        <p:txBody>
          <a:bodyPr rtlCol="0" anchor="ctr"/>
          <a:lstStyle/>
          <a:p>
            <a:pPr algn="ctr"/>
          </a:p>
        </p:txBody>
      </p:sp>
      <p:sp>
        <p:nvSpPr>
          <p:cNvPr id="19" name="TextBox 18"/>
          <p:cNvSpPr txBox="1"/>
          <p:nvPr/>
        </p:nvSpPr>
        <p:spPr>
          <a:xfrm>
            <a:off x="548640" y="416052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04</a:t>
            </a:r>
          </a:p>
        </p:txBody>
      </p:sp>
      <p:sp>
        <p:nvSpPr>
          <p:cNvPr id="20" name="TextBox 19"/>
          <p:cNvSpPr txBox="1"/>
          <p:nvPr/>
        </p:nvSpPr>
        <p:spPr>
          <a:xfrm>
            <a:off x="1417319" y="416052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설계한 관계의 그래프 DB 구현과 조회</a:t>
            </a:r>
          </a:p>
        </p:txBody>
      </p:sp>
      <p:sp>
        <p:nvSpPr>
          <p:cNvPr id="21" name="Rounded Rectangle 20"/>
          <p:cNvSpPr/>
          <p:nvPr/>
        </p:nvSpPr>
        <p:spPr>
          <a:xfrm>
            <a:off x="10088575" y="4379976"/>
            <a:ext cx="1371600" cy="292608"/>
          </a:xfrm>
          <a:prstGeom prst="roundRect">
            <a:avLst>
              <a:gd name="adj" fmla="val 50000"/>
            </a:avLst>
          </a:prstGeom>
          <a:solidFill>
            <a:srgbClr val="D3D9E1"/>
          </a:solidFill>
          <a:ln>
            <a:noFill/>
          </a:ln>
        </p:spPr>
        <p:txBody>
          <a:bodyPr rtlCol="0" anchor="ctr"/>
          <a:lstStyle/>
          <a:p>
            <a:pPr algn="ctr"/>
          </a:p>
        </p:txBody>
      </p:sp>
      <p:sp>
        <p:nvSpPr>
          <p:cNvPr id="22" name="TextBox 21"/>
          <p:cNvSpPr txBox="1"/>
          <p:nvPr/>
        </p:nvSpPr>
        <p:spPr>
          <a:xfrm>
            <a:off x="10088575" y="437997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실습</a:t>
            </a:r>
          </a:p>
        </p:txBody>
      </p:sp>
      <p:sp>
        <p:nvSpPr>
          <p:cNvPr id="23" name="Rectangle 22"/>
          <p:cNvSpPr/>
          <p:nvPr/>
        </p:nvSpPr>
        <p:spPr>
          <a:xfrm>
            <a:off x="548640" y="4882896"/>
            <a:ext cx="11094415" cy="13716"/>
          </a:xfrm>
          <a:prstGeom prst="rect">
            <a:avLst/>
          </a:prstGeom>
          <a:solidFill>
            <a:srgbClr val="D3D9E1"/>
          </a:solidFill>
          <a:ln>
            <a:noFill/>
          </a:ln>
        </p:spPr>
        <p:txBody>
          <a:bodyPr rtlCol="0" anchor="ctr"/>
          <a:lstStyle/>
          <a:p>
            <a:pPr algn="ctr"/>
          </a:p>
        </p:txBody>
      </p:sp>
      <p:sp>
        <p:nvSpPr>
          <p:cNvPr id="24" name="TextBox 23"/>
          <p:cNvSpPr txBox="1"/>
          <p:nvPr/>
        </p:nvSpPr>
        <p:spPr>
          <a:xfrm>
            <a:off x="548640" y="489204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05</a:t>
            </a:r>
          </a:p>
        </p:txBody>
      </p:sp>
      <p:sp>
        <p:nvSpPr>
          <p:cNvPr id="25" name="TextBox 24"/>
          <p:cNvSpPr txBox="1"/>
          <p:nvPr/>
        </p:nvSpPr>
        <p:spPr>
          <a:xfrm>
            <a:off x="1417319" y="489204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실제 지식 구조와 비교해 설계 개선하기</a:t>
            </a:r>
          </a:p>
        </p:txBody>
      </p:sp>
      <p:sp>
        <p:nvSpPr>
          <p:cNvPr id="26" name="Rounded Rectangle 25"/>
          <p:cNvSpPr/>
          <p:nvPr/>
        </p:nvSpPr>
        <p:spPr>
          <a:xfrm>
            <a:off x="10088575" y="5111496"/>
            <a:ext cx="1371600" cy="292608"/>
          </a:xfrm>
          <a:prstGeom prst="roundRect">
            <a:avLst>
              <a:gd name="adj" fmla="val 50000"/>
            </a:avLst>
          </a:prstGeom>
          <a:solidFill>
            <a:srgbClr val="D3D9E1"/>
          </a:solidFill>
          <a:ln>
            <a:noFill/>
          </a:ln>
        </p:spPr>
        <p:txBody>
          <a:bodyPr rtlCol="0" anchor="ctr"/>
          <a:lstStyle/>
          <a:p>
            <a:pPr algn="ctr"/>
          </a:p>
        </p:txBody>
      </p:sp>
      <p:sp>
        <p:nvSpPr>
          <p:cNvPr id="27" name="TextBox 26"/>
          <p:cNvSpPr txBox="1"/>
          <p:nvPr/>
        </p:nvSpPr>
        <p:spPr>
          <a:xfrm>
            <a:off x="10088575" y="511149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실습</a:t>
            </a:r>
          </a:p>
        </p:txBody>
      </p:sp>
      <p:sp>
        <p:nvSpPr>
          <p:cNvPr id="28" name="TextBox 27"/>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a:lnSpc>
                <a:spcPct val="110000"/>
              </a:lnSpc>
            </a:pPr>
            <a:r>
              <a:rPr sz="8800" b="1">
                <a:solidFill>
                  <a:srgbClr val="5CB8F2"/>
                </a:solidFill>
                <a:latin typeface="맑은 고딕"/>
                <a:ea typeface="맑은 고딕"/>
                <a:cs typeface="맑은 고딕"/>
              </a:rPr>
              <a:t>01</a:t>
            </a:r>
          </a:p>
        </p:txBody>
      </p:sp>
      <p:sp>
        <p:nvSpPr>
          <p:cNvPr id="5" name="TextBox 4"/>
          <p:cNvSpPr txBox="1"/>
          <p:nvPr/>
        </p:nvSpPr>
        <p:spPr>
          <a:xfrm>
            <a:off x="3017520" y="2011680"/>
            <a:ext cx="8625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온톨로지와 그래프 구조:</a:t>
            </a:r>
          </a:p>
          <a:p>
            <a:pPr algn="l">
              <a:lnSpc>
                <a:spcPct val="110000"/>
              </a:lnSpc>
            </a:pPr>
            <a:r>
              <a:rPr sz="3400" b="1">
                <a:solidFill>
                  <a:srgbClr val="13294B"/>
                </a:solidFill>
                <a:latin typeface="맑은 고딕"/>
                <a:ea typeface="맑은 고딕"/>
                <a:cs typeface="맑은 고딕"/>
              </a:rPr>
              <a:t>필요에서 정의와 조회까지</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경보 뒤의 판단에 필요한 지식을 클래스와 스키마로 정의하고 Cypher로 조회하는 순서</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유압 파워팩 HYD-01의 구성과 유온 TS1의 계측 지점</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센서 값마다 </a:t>
            </a:r>
            <a:r>
              <a:rPr sz="1600" b="1">
                <a:solidFill>
                  <a:srgbClr val="1A6FC4"/>
                </a:solidFill>
                <a:latin typeface="맑은 고딕"/>
                <a:ea typeface="맑은 고딕"/>
                <a:cs typeface="맑은 고딕"/>
              </a:rPr>
              <a:t>태그</a:t>
            </a:r>
            <a:r>
              <a:rPr sz="1600" b="0">
                <a:solidFill>
                  <a:srgbClr val="556175"/>
                </a:solidFill>
                <a:latin typeface="맑은 고딕"/>
                <a:ea typeface="맑은 고딕"/>
                <a:cs typeface="맑은 고딕"/>
              </a:rPr>
              <a:t>(Tag)라는 이름이 붙으며, 유온 TS1은 오일 쿨러 입구에서 잰 작동유 온도이다.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a:t>
            </a:r>
          </a:p>
        </p:txBody>
      </p:sp>
      <p:pic>
        <p:nvPicPr>
          <p:cNvPr id="6" name="삽화:설비_유압파워팩.svg" descr="illust_2591401511092740179_1791712364.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241122" y="5315041"/>
            <a:ext cx="152732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작동유 탱크</a:t>
            </a:r>
          </a:p>
          <a:p>
            <a:pPr algn="ctr">
              <a:lnSpc>
                <a:spcPct val="110000"/>
              </a:lnSpc>
              <a:spcAft>
                <a:spcPts val="100"/>
              </a:spcAft>
            </a:pPr>
            <a:r>
              <a:rPr sz="1100" b="0">
                <a:solidFill>
                  <a:srgbClr val="556175"/>
                </a:solidFill>
                <a:latin typeface="맑은 고딕"/>
                <a:ea typeface="맑은 고딕"/>
                <a:cs typeface="맑은 고딕"/>
              </a:rPr>
              <a:t>작동유를 담아 둔다</a:t>
            </a:r>
          </a:p>
        </p:txBody>
      </p:sp>
      <p:sp>
        <p:nvSpPr>
          <p:cNvPr id="8" name="TextBox 7"/>
          <p:cNvSpPr txBox="1"/>
          <p:nvPr/>
        </p:nvSpPr>
        <p:spPr>
          <a:xfrm>
            <a:off x="1415674" y="3116778"/>
            <a:ext cx="1636424" cy="6780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모터 · 펌프</a:t>
            </a:r>
          </a:p>
          <a:p>
            <a:pPr algn="ctr">
              <a:lnSpc>
                <a:spcPct val="110000"/>
              </a:lnSpc>
              <a:spcAft>
                <a:spcPts val="100"/>
              </a:spcAft>
            </a:pPr>
            <a:r>
              <a:rPr sz="1100" b="0">
                <a:solidFill>
                  <a:srgbClr val="556175"/>
                </a:solidFill>
                <a:latin typeface="맑은 고딕"/>
                <a:ea typeface="맑은 고딕"/>
                <a:cs typeface="맑은 고딕"/>
              </a:rPr>
              <a:t>작동유를 빨아올려</a:t>
            </a:r>
          </a:p>
          <a:p>
            <a:pPr algn="ctr">
              <a:lnSpc>
                <a:spcPct val="110000"/>
              </a:lnSpc>
              <a:spcAft>
                <a:spcPts val="100"/>
              </a:spcAft>
            </a:pPr>
            <a:r>
              <a:rPr sz="1100" b="0">
                <a:solidFill>
                  <a:srgbClr val="556175"/>
                </a:solidFill>
                <a:latin typeface="맑은 고딕"/>
                <a:ea typeface="맑은 고딕"/>
                <a:cs typeface="맑은 고딕"/>
              </a:rPr>
              <a:t>압력을 걸어 보낸다</a:t>
            </a:r>
          </a:p>
        </p:txBody>
      </p:sp>
      <p:sp>
        <p:nvSpPr>
          <p:cNvPr id="9" name="TextBox 8"/>
          <p:cNvSpPr txBox="1"/>
          <p:nvPr/>
        </p:nvSpPr>
        <p:spPr>
          <a:xfrm>
            <a:off x="5277635" y="1901823"/>
            <a:ext cx="130913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PS1</a:t>
            </a:r>
          </a:p>
          <a:p>
            <a:pPr algn="ctr">
              <a:lnSpc>
                <a:spcPct val="110000"/>
              </a:lnSpc>
              <a:spcAft>
                <a:spcPts val="100"/>
              </a:spcAft>
            </a:pPr>
            <a:r>
              <a:rPr sz="1100" b="0">
                <a:solidFill>
                  <a:srgbClr val="556175"/>
                </a:solidFill>
                <a:latin typeface="맑은 고딕"/>
                <a:ea typeface="맑은 고딕"/>
                <a:cs typeface="맑은 고딕"/>
              </a:rPr>
              <a:t>토출 압력 (bar)</a:t>
            </a:r>
          </a:p>
        </p:txBody>
      </p:sp>
      <p:sp>
        <p:nvSpPr>
          <p:cNvPr id="10" name="TextBox 9"/>
          <p:cNvSpPr txBox="1"/>
          <p:nvPr/>
        </p:nvSpPr>
        <p:spPr>
          <a:xfrm>
            <a:off x="7481353" y="1807275"/>
            <a:ext cx="196370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부하</a:t>
            </a:r>
          </a:p>
          <a:p>
            <a:pPr algn="ctr">
              <a:lnSpc>
                <a:spcPct val="110000"/>
              </a:lnSpc>
              <a:spcAft>
                <a:spcPts val="100"/>
              </a:spcAft>
            </a:pPr>
            <a:r>
              <a:rPr sz="1100" b="0">
                <a:solidFill>
                  <a:srgbClr val="556175"/>
                </a:solidFill>
                <a:latin typeface="맑은 고딕"/>
                <a:ea typeface="맑은 고딕"/>
                <a:cs typeface="맑은 고딕"/>
              </a:rPr>
              <a:t>유압으로 움직이는 기계 쪽</a:t>
            </a:r>
          </a:p>
        </p:txBody>
      </p:sp>
      <p:sp>
        <p:nvSpPr>
          <p:cNvPr id="11" name="TextBox 10"/>
          <p:cNvSpPr txBox="1"/>
          <p:nvPr/>
        </p:nvSpPr>
        <p:spPr>
          <a:xfrm>
            <a:off x="5659467" y="2762219"/>
            <a:ext cx="1854614" cy="848487"/>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TS1 유온</a:t>
            </a:r>
          </a:p>
          <a:p>
            <a:pPr algn="ctr">
              <a:lnSpc>
                <a:spcPct val="110000"/>
              </a:lnSpc>
              <a:spcAft>
                <a:spcPts val="100"/>
              </a:spcAft>
            </a:pPr>
            <a:r>
              <a:rPr sz="1100" b="0">
                <a:solidFill>
                  <a:srgbClr val="556175"/>
                </a:solidFill>
                <a:latin typeface="맑은 고딕"/>
                <a:ea typeface="맑은 고딕"/>
                <a:cs typeface="맑은 고딕"/>
              </a:rPr>
              <a:t>쿨러로 들어가는</a:t>
            </a:r>
          </a:p>
          <a:p>
            <a:pPr algn="ctr">
              <a:lnSpc>
                <a:spcPct val="110000"/>
              </a:lnSpc>
              <a:spcAft>
                <a:spcPts val="100"/>
              </a:spcAft>
            </a:pPr>
            <a:r>
              <a:rPr sz="1100" b="0">
                <a:solidFill>
                  <a:srgbClr val="556175"/>
                </a:solidFill>
                <a:latin typeface="맑은 고딕"/>
                <a:ea typeface="맑은 고딕"/>
                <a:cs typeface="맑은 고딕"/>
              </a:rPr>
              <a:t>작동유의 온도</a:t>
            </a:r>
          </a:p>
          <a:p>
            <a:pPr algn="ctr">
              <a:lnSpc>
                <a:spcPct val="110000"/>
              </a:lnSpc>
              <a:spcAft>
                <a:spcPts val="100"/>
              </a:spcAft>
            </a:pPr>
            <a:r>
              <a:rPr sz="1100" b="0">
                <a:solidFill>
                  <a:srgbClr val="556175"/>
                </a:solidFill>
                <a:latin typeface="맑은 고딕"/>
                <a:ea typeface="맑은 고딕"/>
                <a:cs typeface="맑은 고딕"/>
              </a:rPr>
              <a:t>정상 48 ℃</a:t>
            </a:r>
          </a:p>
        </p:txBody>
      </p:sp>
      <p:sp>
        <p:nvSpPr>
          <p:cNvPr id="12" name="TextBox 11"/>
          <p:cNvSpPr txBox="1"/>
          <p:nvPr/>
        </p:nvSpPr>
        <p:spPr>
          <a:xfrm>
            <a:off x="3892129" y="3636797"/>
            <a:ext cx="1963709" cy="848487"/>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CE 냉각 효율</a:t>
            </a:r>
          </a:p>
          <a:p>
            <a:pPr algn="ctr">
              <a:lnSpc>
                <a:spcPct val="110000"/>
              </a:lnSpc>
              <a:spcAft>
                <a:spcPts val="100"/>
              </a:spcAft>
            </a:pPr>
            <a:r>
              <a:rPr sz="1100" b="0">
                <a:solidFill>
                  <a:srgbClr val="556175"/>
                </a:solidFill>
                <a:latin typeface="맑은 고딕"/>
                <a:ea typeface="맑은 고딕"/>
                <a:cs typeface="맑은 고딕"/>
              </a:rPr>
              <a:t>쿨러가 열을 내보내는 정도</a:t>
            </a:r>
          </a:p>
          <a:p>
            <a:pPr algn="ctr">
              <a:lnSpc>
                <a:spcPct val="110000"/>
              </a:lnSpc>
              <a:spcAft>
                <a:spcPts val="100"/>
              </a:spcAft>
            </a:pPr>
            <a:r>
              <a:rPr sz="1100" b="0">
                <a:solidFill>
                  <a:srgbClr val="556175"/>
                </a:solidFill>
                <a:latin typeface="맑은 고딕"/>
                <a:ea typeface="맑은 고딕"/>
                <a:cs typeface="맑은 고딕"/>
              </a:rPr>
              <a:t>센서 없이 계산한 값</a:t>
            </a:r>
          </a:p>
          <a:p>
            <a:pPr algn="ctr">
              <a:lnSpc>
                <a:spcPct val="110000"/>
              </a:lnSpc>
              <a:spcAft>
                <a:spcPts val="100"/>
              </a:spcAft>
            </a:pPr>
            <a:r>
              <a:rPr sz="1100" b="0">
                <a:solidFill>
                  <a:srgbClr val="556175"/>
                </a:solidFill>
                <a:latin typeface="맑은 고딕"/>
                <a:ea typeface="맑은 고딕"/>
                <a:cs typeface="맑은 고딕"/>
              </a:rPr>
              <a:t>정상 84 %</a:t>
            </a:r>
          </a:p>
        </p:txBody>
      </p:sp>
      <p:sp>
        <p:nvSpPr>
          <p:cNvPr id="13" name="TextBox 12"/>
          <p:cNvSpPr txBox="1"/>
          <p:nvPr/>
        </p:nvSpPr>
        <p:spPr>
          <a:xfrm>
            <a:off x="6695869" y="5244129"/>
            <a:ext cx="2400088"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오일 쿨러</a:t>
            </a:r>
          </a:p>
          <a:p>
            <a:pPr algn="ctr">
              <a:lnSpc>
                <a:spcPct val="110000"/>
              </a:lnSpc>
              <a:spcAft>
                <a:spcPts val="100"/>
              </a:spcAft>
            </a:pPr>
            <a:r>
              <a:rPr sz="1100" b="0">
                <a:solidFill>
                  <a:srgbClr val="556175"/>
                </a:solidFill>
                <a:latin typeface="맑은 고딕"/>
                <a:ea typeface="맑은 고딕"/>
                <a:cs typeface="맑은 고딕"/>
              </a:rPr>
              <a:t>작동유의 열을 공기로 내보낸다</a:t>
            </a:r>
          </a:p>
        </p:txBody>
      </p:sp>
      <p:sp>
        <p:nvSpPr>
          <p:cNvPr id="14" name="TextBox 13"/>
          <p:cNvSpPr txBox="1"/>
          <p:nvPr/>
        </p:nvSpPr>
        <p:spPr>
          <a:xfrm>
            <a:off x="9979627" y="3944081"/>
            <a:ext cx="1418234" cy="6780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쿨러 팬</a:t>
            </a:r>
          </a:p>
          <a:p>
            <a:pPr algn="ctr">
              <a:lnSpc>
                <a:spcPct val="110000"/>
              </a:lnSpc>
              <a:spcAft>
                <a:spcPts val="100"/>
              </a:spcAft>
            </a:pPr>
            <a:r>
              <a:rPr sz="1100" b="0">
                <a:solidFill>
                  <a:srgbClr val="556175"/>
                </a:solidFill>
                <a:latin typeface="맑은 고딕"/>
                <a:ea typeface="맑은 고딕"/>
                <a:cs typeface="맑은 고딕"/>
              </a:rPr>
              <a:t>쿨러에 바람을</a:t>
            </a:r>
          </a:p>
          <a:p>
            <a:pPr algn="ctr">
              <a:lnSpc>
                <a:spcPct val="110000"/>
              </a:lnSpc>
              <a:spcAft>
                <a:spcPts val="100"/>
              </a:spcAft>
            </a:pPr>
            <a:r>
              <a:rPr sz="1100" b="0">
                <a:solidFill>
                  <a:srgbClr val="556175"/>
                </a:solidFill>
                <a:latin typeface="맑은 고딕"/>
                <a:ea typeface="맑은 고딕"/>
                <a:cs typeface="맑은 고딕"/>
              </a:rPr>
              <a:t>보낸다</a:t>
            </a:r>
          </a:p>
        </p:txBody>
      </p:sp>
      <p:sp>
        <p:nvSpPr>
          <p:cNvPr id="15" name="TextBox 14"/>
          <p:cNvSpPr txBox="1"/>
          <p:nvPr/>
        </p:nvSpPr>
        <p:spPr>
          <a:xfrm>
            <a:off x="10165089" y="5315041"/>
            <a:ext cx="130913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VS1</a:t>
            </a:r>
          </a:p>
          <a:p>
            <a:pPr algn="ctr">
              <a:lnSpc>
                <a:spcPct val="110000"/>
              </a:lnSpc>
              <a:spcAft>
                <a:spcPts val="100"/>
              </a:spcAft>
            </a:pPr>
            <a:r>
              <a:rPr sz="1100" b="0">
                <a:solidFill>
                  <a:srgbClr val="556175"/>
                </a:solidFill>
                <a:latin typeface="맑은 고딕"/>
                <a:ea typeface="맑은 고딕"/>
                <a:cs typeface="맑은 고딕"/>
              </a:rPr>
              <a:t>팬 진동 (mm/s)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경보 발생에서 조치 승인까지의 108초</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경보는 조건을 벗어났다는 사실만 알리므로, 조치를 정하려면 </a:t>
            </a:r>
            <a:r>
              <a:rPr sz="1600" b="1">
                <a:solidFill>
                  <a:srgbClr val="1A6FC4"/>
                </a:solidFill>
                <a:latin typeface="맑은 고딕"/>
                <a:ea typeface="맑은 고딕"/>
                <a:cs typeface="맑은 고딕"/>
              </a:rPr>
              <a:t>원인</a:t>
            </a:r>
            <a:r>
              <a:rPr sz="1600" b="0">
                <a:solidFill>
                  <a:srgbClr val="556175"/>
                </a:solidFill>
                <a:latin typeface="맑은 고딕"/>
                <a:ea typeface="맑은 고딕"/>
                <a:cs typeface="맑은 고딕"/>
              </a:rPr>
              <a:t>을 먼저 가려야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a:t>
            </a:r>
          </a:p>
        </p:txBody>
      </p:sp>
      <p:pic>
        <p:nvPicPr>
          <p:cNvPr id="6" name="Picture 5" descr="그래프_쿨러열화_TS1_CE.png"/>
          <p:cNvPicPr>
            <a:picLocks noChangeAspect="1"/>
          </p:cNvPicPr>
          <p:nvPr/>
        </p:nvPicPr>
        <p:blipFill>
          <a:blip r:embed="rId3"/>
          <a:stretch>
            <a:fillRect/>
          </a:stretch>
        </p:blipFill>
        <p:spPr>
          <a:xfrm>
            <a:off x="548640" y="1682496"/>
            <a:ext cx="7223760" cy="4572000"/>
          </a:xfrm>
          <a:prstGeom prst="rect">
            <a:avLst/>
          </a:prstGeom>
          <a:ln w="12700">
            <a:solidFill>
              <a:srgbClr val="D3D9E1"/>
            </a:solidFill>
          </a:ln>
        </p:spPr>
      </p:pic>
      <p:sp>
        <p:nvSpPr>
          <p:cNvPr id="7" name="Oval 6"/>
          <p:cNvSpPr/>
          <p:nvPr/>
        </p:nvSpPr>
        <p:spPr>
          <a:xfrm>
            <a:off x="8138160" y="1682496"/>
            <a:ext cx="347472" cy="347472"/>
          </a:xfrm>
          <a:prstGeom prst="ellipse">
            <a:avLst/>
          </a:prstGeom>
          <a:solidFill>
            <a:srgbClr val="5CB8F2"/>
          </a:solidFill>
          <a:ln>
            <a:noFill/>
          </a:ln>
        </p:spPr>
        <p:txBody>
          <a:bodyPr rtlCol="0" anchor="ctr"/>
          <a:lstStyle/>
          <a:p>
            <a:pPr algn="ctr"/>
          </a:p>
        </p:txBody>
      </p:sp>
      <p:sp>
        <p:nvSpPr>
          <p:cNvPr id="8" name="TextBox 7"/>
          <p:cNvSpPr txBox="1"/>
          <p:nvPr/>
        </p:nvSpPr>
        <p:spPr>
          <a:xfrm>
            <a:off x="8138160" y="1682496"/>
            <a:ext cx="347472" cy="347472"/>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1</a:t>
            </a:r>
          </a:p>
        </p:txBody>
      </p:sp>
      <p:sp>
        <p:nvSpPr>
          <p:cNvPr id="9" name="TextBox 8"/>
          <p:cNvSpPr txBox="1"/>
          <p:nvPr/>
        </p:nvSpPr>
        <p:spPr>
          <a:xfrm>
            <a:off x="8549640" y="1627632"/>
            <a:ext cx="3093415" cy="117043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경보 발생 11:13:08</a:t>
            </a:r>
          </a:p>
          <a:p>
            <a:pPr algn="l">
              <a:lnSpc>
                <a:spcPct val="110000"/>
              </a:lnSpc>
              <a:spcAft>
                <a:spcPts val="400"/>
              </a:spcAft>
            </a:pPr>
            <a:r>
              <a:rPr sz="1400" b="0">
                <a:solidFill>
                  <a:srgbClr val="1F2A3A"/>
                </a:solidFill>
                <a:latin typeface="맑은 고딕"/>
                <a:ea typeface="맑은 고딕"/>
                <a:cs typeface="맑은 고딕"/>
              </a:rPr>
              <a:t>유온 55.71 ℃, 냉각 효율 46.2 %.</a:t>
            </a:r>
          </a:p>
          <a:p>
            <a:pPr algn="l">
              <a:lnSpc>
                <a:spcPct val="110000"/>
              </a:lnSpc>
              <a:spcAft>
                <a:spcPts val="400"/>
              </a:spcAft>
            </a:pPr>
            <a:r>
              <a:rPr sz="1400" b="0">
                <a:solidFill>
                  <a:srgbClr val="1F2A3A"/>
                </a:solidFill>
                <a:latin typeface="맑은 고딕"/>
                <a:ea typeface="맑은 고딕"/>
                <a:cs typeface="맑은 고딕"/>
              </a:rPr>
              <a:t>경보 조건이 성립했다.</a:t>
            </a:r>
          </a:p>
        </p:txBody>
      </p:sp>
      <p:sp>
        <p:nvSpPr>
          <p:cNvPr id="10" name="Oval 9"/>
          <p:cNvSpPr/>
          <p:nvPr/>
        </p:nvSpPr>
        <p:spPr>
          <a:xfrm>
            <a:off x="8138160" y="2852928"/>
            <a:ext cx="347472" cy="347472"/>
          </a:xfrm>
          <a:prstGeom prst="ellipse">
            <a:avLst/>
          </a:prstGeom>
          <a:solidFill>
            <a:srgbClr val="13294B"/>
          </a:solidFill>
          <a:ln>
            <a:noFill/>
          </a:ln>
        </p:spPr>
        <p:txBody>
          <a:bodyPr rtlCol="0" anchor="ctr"/>
          <a:lstStyle/>
          <a:p>
            <a:pPr algn="ctr"/>
          </a:p>
        </p:txBody>
      </p:sp>
      <p:sp>
        <p:nvSpPr>
          <p:cNvPr id="11" name="TextBox 10"/>
          <p:cNvSpPr txBox="1"/>
          <p:nvPr/>
        </p:nvSpPr>
        <p:spPr>
          <a:xfrm>
            <a:off x="8138160" y="2852928"/>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2</a:t>
            </a:r>
          </a:p>
        </p:txBody>
      </p:sp>
      <p:sp>
        <p:nvSpPr>
          <p:cNvPr id="12" name="TextBox 11"/>
          <p:cNvSpPr txBox="1"/>
          <p:nvPr/>
        </p:nvSpPr>
        <p:spPr>
          <a:xfrm>
            <a:off x="8549640" y="2798064"/>
            <a:ext cx="3093415" cy="117043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108초 동안 한 일</a:t>
            </a:r>
          </a:p>
          <a:p>
            <a:pPr algn="l">
              <a:lnSpc>
                <a:spcPct val="110000"/>
              </a:lnSpc>
              <a:spcAft>
                <a:spcPts val="400"/>
              </a:spcAft>
            </a:pPr>
            <a:r>
              <a:rPr sz="1400" b="0">
                <a:solidFill>
                  <a:srgbClr val="1F2A3A"/>
                </a:solidFill>
                <a:latin typeface="맑은 고딕"/>
                <a:ea typeface="맑은 고딕"/>
                <a:cs typeface="맑은 고딕"/>
              </a:rPr>
              <a:t>원인 후보를 가리고 조치안을 비교한 시간이다. 그동안 유온은 61.8 ℃까지 올랐다.</a:t>
            </a:r>
          </a:p>
        </p:txBody>
      </p:sp>
      <p:sp>
        <p:nvSpPr>
          <p:cNvPr id="13" name="Oval 12"/>
          <p:cNvSpPr/>
          <p:nvPr/>
        </p:nvSpPr>
        <p:spPr>
          <a:xfrm>
            <a:off x="8138160" y="4023359"/>
            <a:ext cx="347472" cy="347472"/>
          </a:xfrm>
          <a:prstGeom prst="ellipse">
            <a:avLst/>
          </a:prstGeom>
          <a:solidFill>
            <a:srgbClr val="13294B"/>
          </a:solidFill>
          <a:ln>
            <a:noFill/>
          </a:ln>
        </p:spPr>
        <p:txBody>
          <a:bodyPr rtlCol="0" anchor="ctr"/>
          <a:lstStyle/>
          <a:p>
            <a:pPr algn="ctr"/>
          </a:p>
        </p:txBody>
      </p:sp>
      <p:sp>
        <p:nvSpPr>
          <p:cNvPr id="14" name="TextBox 13"/>
          <p:cNvSpPr txBox="1"/>
          <p:nvPr/>
        </p:nvSpPr>
        <p:spPr>
          <a:xfrm>
            <a:off x="8138160" y="4023359"/>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3</a:t>
            </a:r>
          </a:p>
        </p:txBody>
      </p:sp>
      <p:sp>
        <p:nvSpPr>
          <p:cNvPr id="15" name="TextBox 14"/>
          <p:cNvSpPr txBox="1"/>
          <p:nvPr/>
        </p:nvSpPr>
        <p:spPr>
          <a:xfrm>
            <a:off x="8549640" y="3968496"/>
            <a:ext cx="3093415" cy="117043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조치 승인 11:14:56</a:t>
            </a:r>
          </a:p>
          <a:p>
            <a:pPr algn="l">
              <a:lnSpc>
                <a:spcPct val="110000"/>
              </a:lnSpc>
              <a:spcAft>
                <a:spcPts val="400"/>
              </a:spcAft>
            </a:pPr>
            <a:r>
              <a:rPr sz="1400" b="0">
                <a:solidFill>
                  <a:srgbClr val="1F2A3A"/>
                </a:solidFill>
                <a:latin typeface="맑은 고딕"/>
                <a:ea typeface="맑은 고딕"/>
                <a:cs typeface="맑은 고딕"/>
              </a:rPr>
              <a:t>운전원이 「팬 최대 운전」을 승인했고 팬 속도 100 % 명령이 내려갔다.</a:t>
            </a:r>
          </a:p>
        </p:txBody>
      </p:sp>
      <p:sp>
        <p:nvSpPr>
          <p:cNvPr id="16" name="Oval 15"/>
          <p:cNvSpPr/>
          <p:nvPr/>
        </p:nvSpPr>
        <p:spPr>
          <a:xfrm>
            <a:off x="8138160" y="5193792"/>
            <a:ext cx="347472" cy="347472"/>
          </a:xfrm>
          <a:prstGeom prst="ellipse">
            <a:avLst/>
          </a:prstGeom>
          <a:solidFill>
            <a:srgbClr val="13294B"/>
          </a:solidFill>
          <a:ln>
            <a:noFill/>
          </a:ln>
        </p:spPr>
        <p:txBody>
          <a:bodyPr rtlCol="0" anchor="ctr"/>
          <a:lstStyle/>
          <a:p>
            <a:pPr algn="ctr"/>
          </a:p>
        </p:txBody>
      </p:sp>
      <p:sp>
        <p:nvSpPr>
          <p:cNvPr id="17" name="TextBox 16"/>
          <p:cNvSpPr txBox="1"/>
          <p:nvPr/>
        </p:nvSpPr>
        <p:spPr>
          <a:xfrm>
            <a:off x="8138160" y="5193792"/>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4</a:t>
            </a:r>
          </a:p>
        </p:txBody>
      </p:sp>
      <p:sp>
        <p:nvSpPr>
          <p:cNvPr id="18" name="TextBox 17"/>
          <p:cNvSpPr txBox="1"/>
          <p:nvPr/>
        </p:nvSpPr>
        <p:spPr>
          <a:xfrm>
            <a:off x="8549640" y="5138928"/>
            <a:ext cx="3093415" cy="117043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경보 해제 11:15:52</a:t>
            </a:r>
          </a:p>
          <a:p>
            <a:pPr algn="l">
              <a:lnSpc>
                <a:spcPct val="110000"/>
              </a:lnSpc>
              <a:spcAft>
                <a:spcPts val="400"/>
              </a:spcAft>
            </a:pPr>
            <a:r>
              <a:rPr sz="1400" b="0">
                <a:solidFill>
                  <a:srgbClr val="1F2A3A"/>
                </a:solidFill>
                <a:latin typeface="맑은 고딕"/>
                <a:ea typeface="맑은 고딕"/>
                <a:cs typeface="맑은 고딕"/>
              </a:rPr>
              <a:t>유온은 내려갔으나 냉각 효율은</a:t>
            </a:r>
          </a:p>
          <a:p>
            <a:pPr algn="l">
              <a:lnSpc>
                <a:spcPct val="110000"/>
              </a:lnSpc>
              <a:spcAft>
                <a:spcPts val="400"/>
              </a:spcAft>
            </a:pPr>
            <a:r>
              <a:rPr sz="1400" b="0">
                <a:solidFill>
                  <a:srgbClr val="1F2A3A"/>
                </a:solidFill>
                <a:latin typeface="맑은 고딕"/>
                <a:ea typeface="맑은 고딕"/>
                <a:cs typeface="맑은 고딕"/>
              </a:rPr>
              <a:t>55 %로, 기준 70 %에 못 미친다.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같은 경보에 대한 세 가지 원인 후보와 판별 증거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같은 유온 상승 경보에 원인 후보가 셋이며, 후보를 가르는 증거는 유온이 아닌 </a:t>
            </a:r>
            <a:r>
              <a:rPr sz="1600" b="1">
                <a:solidFill>
                  <a:srgbClr val="1A6FC4"/>
                </a:solidFill>
                <a:latin typeface="맑은 고딕"/>
                <a:ea typeface="맑은 고딕"/>
                <a:cs typeface="맑은 고딕"/>
              </a:rPr>
              <a:t>다른 센서 값</a:t>
            </a:r>
            <a:r>
              <a:rPr sz="1600" b="0">
                <a:solidFill>
                  <a:srgbClr val="556175"/>
                </a:solidFill>
                <a:latin typeface="맑은 고딕"/>
                <a:ea typeface="맑은 고딕"/>
                <a:cs typeface="맑은 고딕"/>
              </a:rPr>
              <a:t>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a:t>
            </a:r>
          </a:p>
        </p:txBody>
      </p:sp>
      <p:pic>
        <p:nvPicPr>
          <p:cNvPr id="6" name="삽화:원인후보.svg" descr="illust_4710060214023009759_1791712364.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586552" y="4747747"/>
            <a:ext cx="218189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유온 상승</a:t>
            </a:r>
          </a:p>
          <a:p>
            <a:pPr algn="ctr">
              <a:lnSpc>
                <a:spcPct val="110000"/>
              </a:lnSpc>
              <a:spcAft>
                <a:spcPts val="100"/>
              </a:spcAft>
            </a:pPr>
            <a:r>
              <a:rPr sz="1300" b="0">
                <a:solidFill>
                  <a:srgbClr val="556175"/>
                </a:solidFill>
                <a:latin typeface="맑은 고딕"/>
                <a:ea typeface="맑은 고딕"/>
                <a:cs typeface="맑은 고딕"/>
              </a:rPr>
              <a:t>경보가 알려 주는 증상</a:t>
            </a:r>
          </a:p>
        </p:txBody>
      </p:sp>
      <p:sp>
        <p:nvSpPr>
          <p:cNvPr id="8" name="TextBox 7"/>
          <p:cNvSpPr txBox="1"/>
          <p:nvPr/>
        </p:nvSpPr>
        <p:spPr>
          <a:xfrm>
            <a:off x="3995769" y="1698543"/>
            <a:ext cx="152732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CE 46.2 %</a:t>
            </a:r>
          </a:p>
          <a:p>
            <a:pPr algn="ctr">
              <a:lnSpc>
                <a:spcPct val="110000"/>
              </a:lnSpc>
              <a:spcAft>
                <a:spcPts val="100"/>
              </a:spcAft>
            </a:pPr>
            <a:r>
              <a:rPr sz="1300" b="0">
                <a:solidFill>
                  <a:srgbClr val="556175"/>
                </a:solidFill>
                <a:latin typeface="맑은 고딕"/>
                <a:ea typeface="맑은 고딕"/>
                <a:cs typeface="맑은 고딕"/>
              </a:rPr>
              <a:t>냉각 효율</a:t>
            </a:r>
          </a:p>
        </p:txBody>
      </p:sp>
      <p:sp>
        <p:nvSpPr>
          <p:cNvPr id="9" name="TextBox 8"/>
          <p:cNvSpPr txBox="1"/>
          <p:nvPr/>
        </p:nvSpPr>
        <p:spPr>
          <a:xfrm>
            <a:off x="3832127" y="3164052"/>
            <a:ext cx="1854614"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VS1 0.575 mm/s</a:t>
            </a:r>
          </a:p>
          <a:p>
            <a:pPr algn="ctr">
              <a:lnSpc>
                <a:spcPct val="110000"/>
              </a:lnSpc>
              <a:spcAft>
                <a:spcPts val="100"/>
              </a:spcAft>
            </a:pPr>
            <a:r>
              <a:rPr sz="1300" b="0">
                <a:solidFill>
                  <a:srgbClr val="556175"/>
                </a:solidFill>
                <a:latin typeface="맑은 고딕"/>
                <a:ea typeface="맑은 고딕"/>
                <a:cs typeface="맑은 고딕"/>
              </a:rPr>
              <a:t>팬 진동</a:t>
            </a:r>
          </a:p>
        </p:txBody>
      </p:sp>
      <p:sp>
        <p:nvSpPr>
          <p:cNvPr id="10" name="TextBox 9"/>
          <p:cNvSpPr txBox="1"/>
          <p:nvPr/>
        </p:nvSpPr>
        <p:spPr>
          <a:xfrm>
            <a:off x="3995769" y="4639016"/>
            <a:ext cx="152732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TS4 28 ℃</a:t>
            </a:r>
          </a:p>
          <a:p>
            <a:pPr algn="ctr">
              <a:lnSpc>
                <a:spcPct val="110000"/>
              </a:lnSpc>
              <a:spcAft>
                <a:spcPts val="100"/>
              </a:spcAft>
            </a:pPr>
            <a:r>
              <a:rPr sz="1300" b="0">
                <a:solidFill>
                  <a:srgbClr val="556175"/>
                </a:solidFill>
                <a:latin typeface="맑은 고딕"/>
                <a:ea typeface="맑은 고딕"/>
                <a:cs typeface="맑은 고딕"/>
              </a:rPr>
              <a:t>캐비닛 온도</a:t>
            </a:r>
          </a:p>
        </p:txBody>
      </p:sp>
      <p:sp>
        <p:nvSpPr>
          <p:cNvPr id="11" name="TextBox 10"/>
          <p:cNvSpPr txBox="1"/>
          <p:nvPr/>
        </p:nvSpPr>
        <p:spPr>
          <a:xfrm>
            <a:off x="7394077" y="2157106"/>
            <a:ext cx="4036513"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쿨러 핀 오염</a:t>
            </a:r>
          </a:p>
          <a:p>
            <a:pPr algn="ctr">
              <a:lnSpc>
                <a:spcPct val="110000"/>
              </a:lnSpc>
              <a:spcAft>
                <a:spcPts val="100"/>
              </a:spcAft>
            </a:pPr>
            <a:r>
              <a:rPr sz="1300" b="0">
                <a:solidFill>
                  <a:srgbClr val="556175"/>
                </a:solidFill>
                <a:latin typeface="맑은 고딕"/>
                <a:ea typeface="맑은 고딕"/>
                <a:cs typeface="맑은 고딕"/>
              </a:rPr>
              <a:t>CE 70 % 미만 · VS1 0.9 미만이면 해당</a:t>
            </a:r>
          </a:p>
          <a:p>
            <a:pPr algn="ctr">
              <a:lnSpc>
                <a:spcPct val="110000"/>
              </a:lnSpc>
              <a:spcAft>
                <a:spcPts val="100"/>
              </a:spcAft>
            </a:pPr>
            <a:r>
              <a:rPr sz="1300" b="0">
                <a:solidFill>
                  <a:srgbClr val="556175"/>
                </a:solidFill>
                <a:latin typeface="맑은 고딕"/>
                <a:ea typeface="맑은 고딕"/>
                <a:cs typeface="맑은 고딕"/>
              </a:rPr>
              <a:t>잰 값이 조건에 맞는다</a:t>
            </a:r>
          </a:p>
        </p:txBody>
      </p:sp>
      <p:sp>
        <p:nvSpPr>
          <p:cNvPr id="12" name="TextBox 11"/>
          <p:cNvSpPr txBox="1"/>
          <p:nvPr/>
        </p:nvSpPr>
        <p:spPr>
          <a:xfrm>
            <a:off x="7394077" y="3627342"/>
            <a:ext cx="4036513"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팬 구동 불량</a:t>
            </a:r>
          </a:p>
          <a:p>
            <a:pPr algn="ctr">
              <a:lnSpc>
                <a:spcPct val="110000"/>
              </a:lnSpc>
              <a:spcAft>
                <a:spcPts val="100"/>
              </a:spcAft>
            </a:pPr>
            <a:r>
              <a:rPr sz="1300" b="0">
                <a:solidFill>
                  <a:srgbClr val="556175"/>
                </a:solidFill>
                <a:latin typeface="맑은 고딕"/>
                <a:ea typeface="맑은 고딕"/>
                <a:cs typeface="맑은 고딕"/>
              </a:rPr>
              <a:t>VS1 0.9 mm/s 이상이면 해당</a:t>
            </a:r>
          </a:p>
          <a:p>
            <a:pPr algn="ctr">
              <a:lnSpc>
                <a:spcPct val="110000"/>
              </a:lnSpc>
              <a:spcAft>
                <a:spcPts val="100"/>
              </a:spcAft>
            </a:pPr>
            <a:r>
              <a:rPr sz="1300" b="0">
                <a:solidFill>
                  <a:srgbClr val="556175"/>
                </a:solidFill>
                <a:latin typeface="맑은 고딕"/>
                <a:ea typeface="맑은 고딕"/>
                <a:cs typeface="맑은 고딕"/>
              </a:rPr>
              <a:t>잰 값 0.575 → 해당하지 않는다</a:t>
            </a:r>
          </a:p>
        </p:txBody>
      </p:sp>
      <p:sp>
        <p:nvSpPr>
          <p:cNvPr id="13" name="TextBox 12"/>
          <p:cNvSpPr txBox="1"/>
          <p:nvPr/>
        </p:nvSpPr>
        <p:spPr>
          <a:xfrm>
            <a:off x="7394077" y="5102306"/>
            <a:ext cx="4036513"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주변 온도 상승</a:t>
            </a:r>
          </a:p>
          <a:p>
            <a:pPr algn="ctr">
              <a:lnSpc>
                <a:spcPct val="110000"/>
              </a:lnSpc>
              <a:spcAft>
                <a:spcPts val="100"/>
              </a:spcAft>
            </a:pPr>
            <a:r>
              <a:rPr sz="1300" b="0">
                <a:solidFill>
                  <a:srgbClr val="556175"/>
                </a:solidFill>
                <a:latin typeface="맑은 고딕"/>
                <a:ea typeface="맑은 고딕"/>
                <a:cs typeface="맑은 고딕"/>
              </a:rPr>
              <a:t>TS4 35 ℃ 이상이면 해당</a:t>
            </a:r>
          </a:p>
          <a:p>
            <a:pPr algn="ctr">
              <a:lnSpc>
                <a:spcPct val="110000"/>
              </a:lnSpc>
              <a:spcAft>
                <a:spcPts val="100"/>
              </a:spcAft>
            </a:pPr>
            <a:r>
              <a:rPr sz="1300" b="0">
                <a:solidFill>
                  <a:srgbClr val="556175"/>
                </a:solidFill>
                <a:latin typeface="맑은 고딕"/>
                <a:ea typeface="맑은 고딕"/>
                <a:cs typeface="맑은 고딕"/>
              </a:rPr>
              <a:t>잰 값 28 ℃ → 해당하지 않는다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같은 조치가 원인에 따라 설비를 세우는 경우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유온이 오르면 팬을 최대로 올린다는 한 줄의 규칙은 원인에 따라 설비를 정지시킬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a:t>
            </a:r>
          </a:p>
        </p:txBody>
      </p:sp>
      <p:sp>
        <p:nvSpPr>
          <p:cNvPr id="6" name="Rounded Rectangle 5"/>
          <p:cNvSpPr/>
          <p:nvPr/>
        </p:nvSpPr>
        <p:spPr>
          <a:xfrm>
            <a:off x="548640" y="2429509"/>
            <a:ext cx="5181447" cy="3123692"/>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630678"/>
            <a:ext cx="731520" cy="731520"/>
          </a:xfrm>
          <a:prstGeom prst="ellipse">
            <a:avLst/>
          </a:prstGeom>
          <a:solidFill>
            <a:srgbClr val="FFFFFF"/>
          </a:solidFill>
          <a:ln>
            <a:noFill/>
          </a:ln>
        </p:spPr>
        <p:txBody>
          <a:bodyPr rtlCol="0" anchor="ctr"/>
          <a:lstStyle/>
          <a:p>
            <a:pPr algn="ctr"/>
          </a:p>
        </p:txBody>
      </p:sp>
      <p:pic>
        <p:nvPicPr>
          <p:cNvPr id="8" name="아이콘:circle-check" descr="circle-check_13294B_1.6.png"/>
          <p:cNvPicPr>
            <a:picLocks noChangeAspect="1"/>
          </p:cNvPicPr>
          <p:nvPr/>
        </p:nvPicPr>
        <p:blipFill>
          <a:blip r:embed="rId3"/>
          <a:stretch>
            <a:fillRect/>
          </a:stretch>
        </p:blipFill>
        <p:spPr>
          <a:xfrm>
            <a:off x="976579" y="2784297"/>
            <a:ext cx="424281" cy="424281"/>
          </a:xfrm>
          <a:prstGeom prst="rect">
            <a:avLst/>
          </a:prstGeom>
        </p:spPr>
      </p:pic>
      <p:sp>
        <p:nvSpPr>
          <p:cNvPr id="9" name="TextBox 8"/>
          <p:cNvSpPr txBox="1"/>
          <p:nvPr/>
        </p:nvSpPr>
        <p:spPr>
          <a:xfrm>
            <a:off x="1691640"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쿨러 핀이 막힌 설비</a:t>
            </a:r>
          </a:p>
        </p:txBody>
      </p:sp>
      <p:sp>
        <p:nvSpPr>
          <p:cNvPr id="10" name="TextBox 9"/>
          <p:cNvSpPr txBox="1"/>
          <p:nvPr/>
        </p:nvSpPr>
        <p:spPr>
          <a:xfrm>
            <a:off x="822959"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팬 속도를 100 %로 올린다</a:t>
            </a:r>
          </a:p>
          <a:p>
            <a:pPr algn="l">
              <a:lnSpc>
                <a:spcPct val="110000"/>
              </a:lnSpc>
              <a:spcAft>
                <a:spcPts val="600"/>
              </a:spcAft>
            </a:pPr>
            <a:r>
              <a:rPr sz="1450" b="0">
                <a:solidFill>
                  <a:srgbClr val="1F2A3A"/>
                </a:solidFill>
                <a:latin typeface="맑은 고딕"/>
                <a:ea typeface="맑은 고딕"/>
                <a:cs typeface="맑은 고딕"/>
              </a:rPr>
              <a:t>• 바람이 늘어 유온이 61.4 ℃에서 51.5 ℃로 내려간다</a:t>
            </a:r>
          </a:p>
          <a:p>
            <a:pPr algn="l">
              <a:lnSpc>
                <a:spcPct val="110000"/>
              </a:lnSpc>
              <a:spcAft>
                <a:spcPts val="600"/>
              </a:spcAft>
            </a:pPr>
            <a:r>
              <a:rPr sz="1450" b="0">
                <a:solidFill>
                  <a:srgbClr val="1F2A3A"/>
                </a:solidFill>
                <a:latin typeface="맑은 고딕"/>
                <a:ea typeface="맑은 고딕"/>
                <a:cs typeface="맑은 고딕"/>
              </a:rPr>
              <a:t>• 경보가 해제된다</a:t>
            </a:r>
          </a:p>
        </p:txBody>
      </p:sp>
      <p:sp>
        <p:nvSpPr>
          <p:cNvPr id="11" name="Rounded Rectangle 10"/>
          <p:cNvSpPr/>
          <p:nvPr/>
        </p:nvSpPr>
        <p:spPr>
          <a:xfrm>
            <a:off x="868680" y="5096002"/>
            <a:ext cx="1325879"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096002"/>
            <a:ext cx="132587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조치가 듣는다</a:t>
            </a:r>
          </a:p>
        </p:txBody>
      </p:sp>
      <p:sp>
        <p:nvSpPr>
          <p:cNvPr id="13" name="Rounded Rectangle 12"/>
          <p:cNvSpPr/>
          <p:nvPr/>
        </p:nvSpPr>
        <p:spPr>
          <a:xfrm>
            <a:off x="6461607" y="2429509"/>
            <a:ext cx="5181447" cy="3123692"/>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630678"/>
            <a:ext cx="731520" cy="731520"/>
          </a:xfrm>
          <a:prstGeom prst="ellipse">
            <a:avLst/>
          </a:prstGeom>
          <a:solidFill>
            <a:srgbClr val="5CB8F2"/>
          </a:solidFill>
          <a:ln>
            <a:noFill/>
          </a:ln>
        </p:spPr>
        <p:txBody>
          <a:bodyPr rtlCol="0" anchor="ctr"/>
          <a:lstStyle/>
          <a:p>
            <a:pPr algn="ctr"/>
          </a:p>
        </p:txBody>
      </p:sp>
      <p:pic>
        <p:nvPicPr>
          <p:cNvPr id="15" name="아이콘:alert-triangle" descr="alert-triangle_13294B_1.6.png"/>
          <p:cNvPicPr>
            <a:picLocks noChangeAspect="1"/>
          </p:cNvPicPr>
          <p:nvPr/>
        </p:nvPicPr>
        <p:blipFill>
          <a:blip r:embed="rId4"/>
          <a:stretch>
            <a:fillRect/>
          </a:stretch>
        </p:blipFill>
        <p:spPr>
          <a:xfrm>
            <a:off x="6889546" y="2784297"/>
            <a:ext cx="424281" cy="424281"/>
          </a:xfrm>
          <a:prstGeom prst="rect">
            <a:avLst/>
          </a:prstGeom>
        </p:spPr>
      </p:pic>
      <p:sp>
        <p:nvSpPr>
          <p:cNvPr id="16" name="TextBox 15"/>
          <p:cNvSpPr txBox="1"/>
          <p:nvPr/>
        </p:nvSpPr>
        <p:spPr>
          <a:xfrm>
            <a:off x="7604607"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팬 베어링이 닳은 설비</a:t>
            </a:r>
          </a:p>
        </p:txBody>
      </p:sp>
      <p:sp>
        <p:nvSpPr>
          <p:cNvPr id="17" name="TextBox 16"/>
          <p:cNvSpPr txBox="1"/>
          <p:nvPr/>
        </p:nvSpPr>
        <p:spPr>
          <a:xfrm>
            <a:off x="6735927"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같은 조치로 팬 속도를 100 %로 올린다</a:t>
            </a:r>
          </a:p>
          <a:p>
            <a:pPr algn="l">
              <a:lnSpc>
                <a:spcPct val="110000"/>
              </a:lnSpc>
              <a:spcAft>
                <a:spcPts val="600"/>
              </a:spcAft>
            </a:pPr>
            <a:r>
              <a:rPr sz="1450" b="0">
                <a:solidFill>
                  <a:srgbClr val="1F2A3A"/>
                </a:solidFill>
                <a:latin typeface="맑은 고딕"/>
                <a:ea typeface="맑은 고딕"/>
                <a:cs typeface="맑은 고딕"/>
              </a:rPr>
              <a:t>• 팬 진동 VS1이 약 2.8 mm/s로 뛴다</a:t>
            </a:r>
          </a:p>
          <a:p>
            <a:pPr algn="l">
              <a:lnSpc>
                <a:spcPct val="110000"/>
              </a:lnSpc>
              <a:spcAft>
                <a:spcPts val="600"/>
              </a:spcAft>
            </a:pPr>
            <a:r>
              <a:rPr sz="1450" b="0">
                <a:solidFill>
                  <a:srgbClr val="1F2A3A"/>
                </a:solidFill>
                <a:latin typeface="맑은 고딕"/>
                <a:ea typeface="맑은 고딕"/>
                <a:cs typeface="맑은 고딕"/>
              </a:rPr>
              <a:t>• 인터록(설비 보호 정지 조건) 2.0 mm/s를 넘는다</a:t>
            </a:r>
          </a:p>
          <a:p>
            <a:pPr algn="l">
              <a:lnSpc>
                <a:spcPct val="110000"/>
              </a:lnSpc>
              <a:spcAft>
                <a:spcPts val="600"/>
              </a:spcAft>
            </a:pPr>
            <a:r>
              <a:rPr sz="1450" b="0">
                <a:solidFill>
                  <a:srgbClr val="1F2A3A"/>
                </a:solidFill>
                <a:latin typeface="맑은 고딕"/>
                <a:ea typeface="맑은 고딕"/>
                <a:cs typeface="맑은 고딕"/>
              </a:rPr>
              <a:t>• PLC(Programmable Logic Controller)가 세운다</a:t>
            </a:r>
          </a:p>
        </p:txBody>
      </p:sp>
      <p:sp>
        <p:nvSpPr>
          <p:cNvPr id="18" name="Rounded Rectangle 17"/>
          <p:cNvSpPr/>
          <p:nvPr/>
        </p:nvSpPr>
        <p:spPr>
          <a:xfrm>
            <a:off x="6781647" y="5096002"/>
            <a:ext cx="11734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096002"/>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설비가 선다</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판단에 쓰이는 정보가 놓인 곳</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원인을 가리고 조치를 정하는 데 필요한 정보는 서로 다른 시스템과 문서에 </a:t>
            </a:r>
            <a:r>
              <a:rPr sz="1600" b="1">
                <a:solidFill>
                  <a:srgbClr val="1A6FC4"/>
                </a:solidFill>
                <a:latin typeface="맑은 고딕"/>
                <a:ea typeface="맑은 고딕"/>
                <a:cs typeface="맑은 고딕"/>
              </a:rPr>
              <a:t>흩어져</a:t>
            </a:r>
            <a:r>
              <a:rPr sz="1600" b="0">
                <a:solidFill>
                  <a:srgbClr val="556175"/>
                </a:solidFill>
                <a:latin typeface="맑은 고딕"/>
                <a:ea typeface="맑은 고딕"/>
                <a:cs typeface="맑은 고딕"/>
              </a:rPr>
              <a:t>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9</a:t>
            </a:r>
          </a:p>
        </p:txBody>
      </p:sp>
      <p:pic>
        <p:nvPicPr>
          <p:cNvPr id="6" name="삽화:흩어진정보.svg" descr="illust_7618731489997158122_1791712364.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37471" y="3022229"/>
            <a:ext cx="305465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시계열 DB(TimescaleDB)</a:t>
            </a:r>
          </a:p>
          <a:p>
            <a:pPr algn="ctr">
              <a:lnSpc>
                <a:spcPct val="110000"/>
              </a:lnSpc>
              <a:spcAft>
                <a:spcPts val="100"/>
              </a:spcAft>
            </a:pPr>
            <a:r>
              <a:rPr sz="1300" b="0">
                <a:solidFill>
                  <a:srgbClr val="556175"/>
                </a:solidFill>
                <a:latin typeface="맑은 고딕"/>
                <a:ea typeface="맑은 고딕"/>
                <a:cs typeface="맑은 고딕"/>
              </a:rPr>
              <a:t>지금의 센서 값</a:t>
            </a:r>
          </a:p>
          <a:p>
            <a:pPr algn="ctr">
              <a:lnSpc>
                <a:spcPct val="110000"/>
              </a:lnSpc>
              <a:spcAft>
                <a:spcPts val="100"/>
              </a:spcAft>
            </a:pPr>
            <a:r>
              <a:rPr sz="1300" b="0">
                <a:solidFill>
                  <a:srgbClr val="556175"/>
                </a:solidFill>
                <a:latin typeface="맑은 고딕"/>
                <a:ea typeface="맑은 고딕"/>
                <a:cs typeface="맑은 고딕"/>
              </a:rPr>
              <a:t>CE 46.2 % · TS4 28 ℃</a:t>
            </a:r>
          </a:p>
        </p:txBody>
      </p:sp>
      <p:sp>
        <p:nvSpPr>
          <p:cNvPr id="8" name="TextBox 7"/>
          <p:cNvSpPr txBox="1"/>
          <p:nvPr/>
        </p:nvSpPr>
        <p:spPr>
          <a:xfrm>
            <a:off x="837471" y="5244129"/>
            <a:ext cx="305465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PLC의 상태 메시지</a:t>
            </a:r>
          </a:p>
          <a:p>
            <a:pPr algn="ctr">
              <a:lnSpc>
                <a:spcPct val="110000"/>
              </a:lnSpc>
              <a:spcAft>
                <a:spcPts val="100"/>
              </a:spcAft>
            </a:pPr>
            <a:r>
              <a:rPr sz="1300" b="0">
                <a:solidFill>
                  <a:srgbClr val="556175"/>
                </a:solidFill>
                <a:latin typeface="맑은 고딕"/>
                <a:ea typeface="맑은 고딕"/>
                <a:cs typeface="맑은 고딕"/>
              </a:rPr>
              <a:t>설비의 운전 상태</a:t>
            </a:r>
          </a:p>
          <a:p>
            <a:pPr algn="ctr">
              <a:lnSpc>
                <a:spcPct val="110000"/>
              </a:lnSpc>
              <a:spcAft>
                <a:spcPts val="100"/>
              </a:spcAft>
            </a:pPr>
            <a:r>
              <a:rPr sz="1300" b="0">
                <a:solidFill>
                  <a:srgbClr val="556175"/>
                </a:solidFill>
                <a:latin typeface="맑은 고딕"/>
                <a:ea typeface="맑은 고딕"/>
                <a:cs typeface="맑은 고딕"/>
              </a:rPr>
              <a:t>원격 자동 · 팬 60 %</a:t>
            </a:r>
          </a:p>
        </p:txBody>
      </p:sp>
      <p:sp>
        <p:nvSpPr>
          <p:cNvPr id="9" name="TextBox 8"/>
          <p:cNvSpPr txBox="1"/>
          <p:nvPr/>
        </p:nvSpPr>
        <p:spPr>
          <a:xfrm>
            <a:off x="8070466" y="3022229"/>
            <a:ext cx="305465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설비 매뉴얼 HM-8</a:t>
            </a:r>
          </a:p>
          <a:p>
            <a:pPr algn="ctr">
              <a:lnSpc>
                <a:spcPct val="110000"/>
              </a:lnSpc>
              <a:spcAft>
                <a:spcPts val="100"/>
              </a:spcAft>
            </a:pPr>
            <a:r>
              <a:rPr sz="1300" b="0">
                <a:solidFill>
                  <a:srgbClr val="556175"/>
                </a:solidFill>
                <a:latin typeface="맑은 고딕"/>
                <a:ea typeface="맑은 고딕"/>
                <a:cs typeface="맑은 고딕"/>
              </a:rPr>
              <a:t>원인 후보와 판별 기준</a:t>
            </a:r>
          </a:p>
          <a:p>
            <a:pPr algn="ctr">
              <a:lnSpc>
                <a:spcPct val="110000"/>
              </a:lnSpc>
              <a:spcAft>
                <a:spcPts val="100"/>
              </a:spcAft>
            </a:pPr>
            <a:r>
              <a:rPr sz="1300" b="0">
                <a:solidFill>
                  <a:srgbClr val="556175"/>
                </a:solidFill>
                <a:latin typeface="맑은 고딕"/>
                <a:ea typeface="맑은 고딕"/>
                <a:cs typeface="맑은 고딕"/>
              </a:rPr>
              <a:t>조치 방법</a:t>
            </a:r>
          </a:p>
        </p:txBody>
      </p:sp>
      <p:sp>
        <p:nvSpPr>
          <p:cNvPr id="10" name="TextBox 9"/>
          <p:cNvSpPr txBox="1"/>
          <p:nvPr/>
        </p:nvSpPr>
        <p:spPr>
          <a:xfrm>
            <a:off x="7743181" y="5244129"/>
            <a:ext cx="3709228" cy="980185"/>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MES</a:t>
            </a:r>
          </a:p>
          <a:p>
            <a:pPr algn="ctr">
              <a:lnSpc>
                <a:spcPct val="110000"/>
              </a:lnSpc>
              <a:spcAft>
                <a:spcPts val="100"/>
              </a:spcAft>
            </a:pPr>
            <a:r>
              <a:rPr sz="1300" b="0">
                <a:solidFill>
                  <a:srgbClr val="556175"/>
                </a:solidFill>
                <a:latin typeface="맑은 고딕"/>
                <a:ea typeface="맑은 고딕"/>
                <a:cs typeface="맑은 고딕"/>
              </a:rPr>
              <a:t>Manufacturing Execution System</a:t>
            </a:r>
          </a:p>
          <a:p>
            <a:pPr algn="ctr">
              <a:lnSpc>
                <a:spcPct val="110000"/>
              </a:lnSpc>
              <a:spcAft>
                <a:spcPts val="100"/>
              </a:spcAft>
            </a:pPr>
            <a:r>
              <a:rPr sz="1300" b="0">
                <a:solidFill>
                  <a:srgbClr val="556175"/>
                </a:solidFill>
                <a:latin typeface="맑은 고딕"/>
                <a:ea typeface="맑은 고딕"/>
                <a:cs typeface="맑은 고딕"/>
              </a:rPr>
              <a:t>생산 일정의 제약</a:t>
            </a:r>
          </a:p>
          <a:p>
            <a:pPr algn="ctr">
              <a:lnSpc>
                <a:spcPct val="110000"/>
              </a:lnSpc>
              <a:spcAft>
                <a:spcPts val="100"/>
              </a:spcAft>
            </a:pPr>
            <a:r>
              <a:rPr sz="1300" b="0">
                <a:solidFill>
                  <a:srgbClr val="556175"/>
                </a:solidFill>
                <a:latin typeface="맑은 고딕"/>
                <a:ea typeface="맑은 고딕"/>
                <a:cs typeface="맑은 고딕"/>
              </a:rPr>
              <a:t>긴급 오더 납기까지 5.98시간</a:t>
            </a:r>
          </a:p>
        </p:txBody>
      </p:sp>
      <p:sp>
        <p:nvSpPr>
          <p:cNvPr id="11" name="TextBox 10"/>
          <p:cNvSpPr txBox="1"/>
          <p:nvPr/>
        </p:nvSpPr>
        <p:spPr>
          <a:xfrm>
            <a:off x="4677613" y="4298640"/>
            <a:ext cx="283646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경보</a:t>
            </a:r>
          </a:p>
          <a:p>
            <a:pPr algn="ctr">
              <a:lnSpc>
                <a:spcPct val="110000"/>
              </a:lnSpc>
              <a:spcAft>
                <a:spcPts val="100"/>
              </a:spcAft>
            </a:pPr>
            <a:r>
              <a:rPr sz="1300" b="0">
                <a:solidFill>
                  <a:srgbClr val="556175"/>
                </a:solidFill>
                <a:latin typeface="맑은 고딕"/>
                <a:ea typeface="맑은 고딕"/>
                <a:cs typeface="맑은 고딕"/>
              </a:rPr>
              <a:t>유온 상승 · 냉각 효율 저하</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필요한 것: 사람과 컴퓨터가 함께 읽는 관계의 기록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필요한 것은 대상과 그 사이의 관계를 사람도 검토할 수 있고 컴퓨터도 따라갈 수 있게 적어 둔 지식이다.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10</a:t>
            </a:r>
          </a:p>
        </p:txBody>
      </p:sp>
      <p:sp>
        <p:nvSpPr>
          <p:cNvPr id="6" name="Rounded Rectangle 5"/>
          <p:cNvSpPr/>
          <p:nvPr/>
        </p:nvSpPr>
        <p:spPr>
          <a:xfrm>
            <a:off x="548640" y="2620010"/>
            <a:ext cx="3515258" cy="274269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821178"/>
            <a:ext cx="731520" cy="731520"/>
          </a:xfrm>
          <a:prstGeom prst="ellipse">
            <a:avLst/>
          </a:prstGeom>
          <a:solidFill>
            <a:srgbClr val="E7F3FD"/>
          </a:solidFill>
          <a:ln>
            <a:noFill/>
          </a:ln>
        </p:spPr>
        <p:txBody>
          <a:bodyPr rtlCol="0" anchor="ctr"/>
          <a:lstStyle/>
          <a:p>
            <a:pPr algn="ctr"/>
          </a:p>
        </p:txBody>
      </p:sp>
      <p:pic>
        <p:nvPicPr>
          <p:cNvPr id="8" name="아이콘:users" descr="users_13294B_1.6.png"/>
          <p:cNvPicPr>
            <a:picLocks noChangeAspect="1"/>
          </p:cNvPicPr>
          <p:nvPr/>
        </p:nvPicPr>
        <p:blipFill>
          <a:blip r:embed="rId3"/>
          <a:stretch>
            <a:fillRect/>
          </a:stretch>
        </p:blipFill>
        <p:spPr>
          <a:xfrm>
            <a:off x="930859" y="2974797"/>
            <a:ext cx="424281" cy="424281"/>
          </a:xfrm>
          <a:prstGeom prst="rect">
            <a:avLst/>
          </a:prstGeom>
        </p:spPr>
      </p:pic>
      <p:sp>
        <p:nvSpPr>
          <p:cNvPr id="9" name="TextBox 8"/>
          <p:cNvSpPr txBox="1"/>
          <p:nvPr/>
        </p:nvSpPr>
        <p:spPr>
          <a:xfrm>
            <a:off x="713232"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사람이 검토한다</a:t>
            </a:r>
          </a:p>
          <a:p>
            <a:pPr algn="l">
              <a:lnSpc>
                <a:spcPct val="110000"/>
              </a:lnSpc>
              <a:spcAft>
                <a:spcPts val="400"/>
              </a:spcAft>
            </a:pPr>
            <a:r>
              <a:rPr sz="1400" b="0">
                <a:solidFill>
                  <a:srgbClr val="1F2A3A"/>
                </a:solidFill>
                <a:latin typeface="맑은 고딕"/>
                <a:ea typeface="맑은 고딕"/>
                <a:cs typeface="맑은 고딕"/>
              </a:rPr>
              <a:t>현장 담당자가 읽고 맞는지 확인할 수 있어야 한다</a:t>
            </a:r>
          </a:p>
        </p:txBody>
      </p:sp>
      <p:sp>
        <p:nvSpPr>
          <p:cNvPr id="10" name="Rounded Rectangle 9"/>
          <p:cNvSpPr/>
          <p:nvPr/>
        </p:nvSpPr>
        <p:spPr>
          <a:xfrm>
            <a:off x="777240" y="4932934"/>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4932934"/>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검토</a:t>
            </a:r>
          </a:p>
        </p:txBody>
      </p:sp>
      <p:sp>
        <p:nvSpPr>
          <p:cNvPr id="12" name="Rounded Rectangle 11"/>
          <p:cNvSpPr/>
          <p:nvPr/>
        </p:nvSpPr>
        <p:spPr>
          <a:xfrm>
            <a:off x="4338218" y="2620010"/>
            <a:ext cx="3515258" cy="274269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821178"/>
            <a:ext cx="731520" cy="731520"/>
          </a:xfrm>
          <a:prstGeom prst="ellipse">
            <a:avLst/>
          </a:prstGeom>
          <a:solidFill>
            <a:srgbClr val="E7F3FD"/>
          </a:solidFill>
          <a:ln>
            <a:noFill/>
          </a:ln>
        </p:spPr>
        <p:txBody>
          <a:bodyPr rtlCol="0" anchor="ctr"/>
          <a:lstStyle/>
          <a:p>
            <a:pPr algn="ctr"/>
          </a:p>
        </p:txBody>
      </p:sp>
      <p:pic>
        <p:nvPicPr>
          <p:cNvPr id="14" name="아이콘:cpu" descr="cpu_13294B_1.6.png"/>
          <p:cNvPicPr>
            <a:picLocks noChangeAspect="1"/>
          </p:cNvPicPr>
          <p:nvPr/>
        </p:nvPicPr>
        <p:blipFill>
          <a:blip r:embed="rId4"/>
          <a:stretch>
            <a:fillRect/>
          </a:stretch>
        </p:blipFill>
        <p:spPr>
          <a:xfrm>
            <a:off x="4720437" y="2974797"/>
            <a:ext cx="424281" cy="424281"/>
          </a:xfrm>
          <a:prstGeom prst="rect">
            <a:avLst/>
          </a:prstGeom>
        </p:spPr>
      </p:pic>
      <p:sp>
        <p:nvSpPr>
          <p:cNvPr id="15" name="TextBox 14"/>
          <p:cNvSpPr txBox="1"/>
          <p:nvPr/>
        </p:nvSpPr>
        <p:spPr>
          <a:xfrm>
            <a:off x="4502810"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컴퓨터가 따라간다</a:t>
            </a:r>
          </a:p>
          <a:p>
            <a:pPr algn="l">
              <a:lnSpc>
                <a:spcPct val="110000"/>
              </a:lnSpc>
              <a:spcAft>
                <a:spcPts val="400"/>
              </a:spcAft>
            </a:pPr>
            <a:r>
              <a:rPr sz="1400" b="0">
                <a:solidFill>
                  <a:srgbClr val="1F2A3A"/>
                </a:solidFill>
                <a:latin typeface="맑은 고딕"/>
                <a:ea typeface="맑은 고딕"/>
                <a:cs typeface="맑은 고딕"/>
              </a:rPr>
              <a:t>증상에서 원인 후보와 조치까지를 프로그램이 찾아갈 수 있어야 한다</a:t>
            </a:r>
          </a:p>
        </p:txBody>
      </p:sp>
      <p:sp>
        <p:nvSpPr>
          <p:cNvPr id="16" name="Rounded Rectangle 15"/>
          <p:cNvSpPr/>
          <p:nvPr/>
        </p:nvSpPr>
        <p:spPr>
          <a:xfrm>
            <a:off x="4566818" y="4932934"/>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4932934"/>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실행</a:t>
            </a:r>
          </a:p>
        </p:txBody>
      </p:sp>
      <p:sp>
        <p:nvSpPr>
          <p:cNvPr id="18" name="Rounded Rectangle 17"/>
          <p:cNvSpPr/>
          <p:nvPr/>
        </p:nvSpPr>
        <p:spPr>
          <a:xfrm>
            <a:off x="8127796" y="2620010"/>
            <a:ext cx="3515258" cy="2742692"/>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821178"/>
            <a:ext cx="731520" cy="731520"/>
          </a:xfrm>
          <a:prstGeom prst="ellipse">
            <a:avLst/>
          </a:prstGeom>
          <a:solidFill>
            <a:srgbClr val="5CB8F2"/>
          </a:solidFill>
          <a:ln>
            <a:noFill/>
          </a:ln>
        </p:spPr>
        <p:txBody>
          <a:bodyPr rtlCol="0" anchor="ctr"/>
          <a:lstStyle/>
          <a:p>
            <a:pPr algn="ctr"/>
          </a:p>
        </p:txBody>
      </p:sp>
      <p:pic>
        <p:nvPicPr>
          <p:cNvPr id="20" name="아이콘:refresh" descr="refresh_13294B_1.6.png"/>
          <p:cNvPicPr>
            <a:picLocks noChangeAspect="1"/>
          </p:cNvPicPr>
          <p:nvPr/>
        </p:nvPicPr>
        <p:blipFill>
          <a:blip r:embed="rId5"/>
          <a:stretch>
            <a:fillRect/>
          </a:stretch>
        </p:blipFill>
        <p:spPr>
          <a:xfrm>
            <a:off x="8510016" y="2974797"/>
            <a:ext cx="424281" cy="424281"/>
          </a:xfrm>
          <a:prstGeom prst="rect">
            <a:avLst/>
          </a:prstGeom>
        </p:spPr>
      </p:pic>
      <p:sp>
        <p:nvSpPr>
          <p:cNvPr id="21" name="TextBox 20"/>
          <p:cNvSpPr txBox="1"/>
          <p:nvPr/>
        </p:nvSpPr>
        <p:spPr>
          <a:xfrm>
            <a:off x="8292388"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프로그램과 분리된다</a:t>
            </a:r>
          </a:p>
          <a:p>
            <a:pPr algn="l">
              <a:lnSpc>
                <a:spcPct val="110000"/>
              </a:lnSpc>
              <a:spcAft>
                <a:spcPts val="400"/>
              </a:spcAft>
            </a:pPr>
            <a:r>
              <a:rPr sz="1400" b="0">
                <a:solidFill>
                  <a:srgbClr val="1F2A3A"/>
                </a:solidFill>
                <a:latin typeface="맑은 고딕"/>
                <a:ea typeface="맑은 고딕"/>
                <a:cs typeface="맑은 고딕"/>
              </a:rPr>
              <a:t>지식이 바뀌면 코드가 아니라 지식을 고칠 수 있어야 한다</a:t>
            </a:r>
          </a:p>
        </p:txBody>
      </p:sp>
      <p:sp>
        <p:nvSpPr>
          <p:cNvPr id="22" name="Rounded Rectangle 21"/>
          <p:cNvSpPr/>
          <p:nvPr/>
        </p:nvSpPr>
        <p:spPr>
          <a:xfrm>
            <a:off x="8356396" y="4932934"/>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4932934"/>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분리</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온톨로지: 대상의 종류, 속성, 관계, 제약을 정의한 지식 모델</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온톨로지는 대상의 종류, 속성, 관계, 제약을 </a:t>
            </a:r>
            <a:r>
              <a:rPr sz="1600" b="1">
                <a:solidFill>
                  <a:srgbClr val="1A6FC4"/>
                </a:solidFill>
                <a:latin typeface="맑은 고딕"/>
                <a:ea typeface="맑은 고딕"/>
                <a:cs typeface="맑은 고딕"/>
              </a:rPr>
              <a:t>명시적으로 정의</a:t>
            </a:r>
            <a:r>
              <a:rPr sz="1600" b="0">
                <a:solidFill>
                  <a:srgbClr val="556175"/>
                </a:solidFill>
                <a:latin typeface="맑은 고딕"/>
                <a:ea typeface="맑은 고딕"/>
                <a:cs typeface="맑은 고딕"/>
              </a:rPr>
              <a:t>해 사람과 컴퓨터가 같은 뜻으로 쓰게 하는 지식 모델이다.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11</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온톨로지</a:t>
            </a:r>
          </a:p>
          <a:p>
            <a:pPr algn="l">
              <a:lnSpc>
                <a:spcPct val="110000"/>
              </a:lnSpc>
              <a:spcAft>
                <a:spcPts val="200"/>
              </a:spcAft>
            </a:pPr>
            <a:r>
              <a:rPr sz="1150" b="0">
                <a:solidFill>
                  <a:srgbClr val="556175"/>
                </a:solidFill>
                <a:latin typeface="맑은 고딕"/>
                <a:ea typeface="맑은 고딕"/>
                <a:cs typeface="맑은 고딕"/>
              </a:rPr>
              <a:t>Ontology</a:t>
            </a:r>
          </a:p>
        </p:txBody>
      </p:sp>
      <p:sp>
        <p:nvSpPr>
          <p:cNvPr id="8" name="TextBox 7"/>
          <p:cNvSpPr txBox="1"/>
          <p:nvPr/>
        </p:nvSpPr>
        <p:spPr>
          <a:xfrm>
            <a:off x="4023359" y="19339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한 분야에 있는 대상의 종류, 속성, 관계, 제약을 명시적으로 정의한 지식 모델이다.</a:t>
            </a:r>
          </a:p>
          <a:p>
            <a:pPr algn="l">
              <a:lnSpc>
                <a:spcPct val="110000"/>
              </a:lnSpc>
              <a:spcAft>
                <a:spcPts val="300"/>
              </a:spcAft>
            </a:pPr>
            <a:r>
              <a:rPr sz="1400" b="0">
                <a:solidFill>
                  <a:srgbClr val="1F2A3A"/>
                </a:solidFill>
                <a:latin typeface="맑은 고딕"/>
                <a:ea typeface="맑은 고딕"/>
                <a:cs typeface="맑은 고딕"/>
              </a:rPr>
              <a:t>정의가 하나이므로 「쿨러 핀 오염」 같은 말이 사람에게도 컴퓨터에게도 같은 뜻이 된다.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HYD의 온톨로지</a:t>
            </a:r>
          </a:p>
          <a:p>
            <a:pPr algn="l">
              <a:lnSpc>
                <a:spcPct val="110000"/>
              </a:lnSpc>
              <a:spcAft>
                <a:spcPts val="200"/>
              </a:spcAft>
            </a:pPr>
            <a:r>
              <a:rPr sz="1150" b="0">
                <a:solidFill>
                  <a:srgbClr val="556175"/>
                </a:solidFill>
                <a:latin typeface="맑은 고딕"/>
                <a:ea typeface="맑은 고딕"/>
                <a:cs typeface="맑은 고딕"/>
              </a:rPr>
              <a:t>적용</a:t>
            </a:r>
          </a:p>
        </p:txBody>
      </p:sp>
      <p:sp>
        <p:nvSpPr>
          <p:cNvPr id="11" name="TextBox 10"/>
          <p:cNvSpPr txBox="1"/>
          <p:nvPr/>
        </p:nvSpPr>
        <p:spPr>
          <a:xfrm>
            <a:off x="4023359" y="33055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설비, 구성 요소, 센서, 증상, 고장 유형, 원인, 조치, 근거 문서를 대상으로 삼고 그 사이의 관계를 정의한다.</a:t>
            </a:r>
          </a:p>
          <a:p>
            <a:pPr algn="l">
              <a:lnSpc>
                <a:spcPct val="110000"/>
              </a:lnSpc>
              <a:spcAft>
                <a:spcPts val="300"/>
              </a:spcAft>
            </a:pPr>
            <a:r>
              <a:rPr sz="1400" b="0">
                <a:solidFill>
                  <a:srgbClr val="1F2A3A"/>
                </a:solidFill>
                <a:latin typeface="맑은 고딕"/>
                <a:ea typeface="맑은 고딕"/>
                <a:cs typeface="맑은 고딕"/>
              </a:rPr>
              <a:t>경보 뒤에 원인 후보와 조치를 찾는 일이 이 정의 위에서 이루어진다.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비유: 지하철 노선도</a:t>
            </a:r>
          </a:p>
          <a:p>
            <a:pPr algn="l">
              <a:lnSpc>
                <a:spcPct val="110000"/>
              </a:lnSpc>
              <a:spcAft>
                <a:spcPts val="200"/>
              </a:spcAft>
            </a:pPr>
            <a:r>
              <a:rPr sz="1150" b="0">
                <a:solidFill>
                  <a:srgbClr val="556175"/>
                </a:solidFill>
                <a:latin typeface="맑은 고딕"/>
                <a:ea typeface="맑은 고딕"/>
                <a:cs typeface="맑은 고딕"/>
              </a:rPr>
              <a:t>비유</a:t>
            </a:r>
          </a:p>
        </p:txBody>
      </p:sp>
      <p:sp>
        <p:nvSpPr>
          <p:cNvPr id="14" name="TextBox 13"/>
          <p:cNvSpPr txBox="1"/>
          <p:nvPr/>
        </p:nvSpPr>
        <p:spPr>
          <a:xfrm>
            <a:off x="4023359" y="46771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닮은 점: 역과 선만 따라가면 처음 가는 사람도 경로를 찾는다.</a:t>
            </a:r>
          </a:p>
          <a:p>
            <a:pPr algn="l">
              <a:lnSpc>
                <a:spcPct val="110000"/>
              </a:lnSpc>
              <a:spcAft>
                <a:spcPts val="300"/>
              </a:spcAft>
            </a:pPr>
            <a:r>
              <a:rPr sz="1400" b="0">
                <a:solidFill>
                  <a:srgbClr val="1F2A3A"/>
                </a:solidFill>
                <a:latin typeface="맑은 고딕"/>
                <a:ea typeface="맑은 고딕"/>
                <a:cs typeface="맑은 고딕"/>
              </a:rPr>
              <a:t>다른 점: 온톨로지의 선에는 「가리킨다」「일으킨다」 같은 뜻과 방향이 있다.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온톨로지, 관계 그림, 그래프 DB의 구분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관계 그림은 표현이고 그래프 DB는 저장 도구이며, 온톨로지는 무엇을 그리고 저장할 수 있는지를 정한 정의이다.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12</a:t>
            </a:r>
          </a:p>
        </p:txBody>
      </p:sp>
      <p:sp>
        <p:nvSpPr>
          <p:cNvPr id="6" name="Rounded Rectangle 5"/>
          <p:cNvSpPr/>
          <p:nvPr/>
        </p:nvSpPr>
        <p:spPr>
          <a:xfrm>
            <a:off x="548640" y="2294635"/>
            <a:ext cx="3515258" cy="3393440"/>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495804"/>
            <a:ext cx="731520" cy="731520"/>
          </a:xfrm>
          <a:prstGeom prst="ellipse">
            <a:avLst/>
          </a:prstGeom>
          <a:solidFill>
            <a:srgbClr val="E7F3FD"/>
          </a:solidFill>
          <a:ln>
            <a:noFill/>
          </a:ln>
        </p:spPr>
        <p:txBody>
          <a:bodyPr rtlCol="0" anchor="ctr"/>
          <a:lstStyle/>
          <a:p>
            <a:pPr algn="ctr"/>
          </a:p>
        </p:txBody>
      </p:sp>
      <p:pic>
        <p:nvPicPr>
          <p:cNvPr id="8" name="아이콘:pencil" descr="pencil_13294B_1.6.png"/>
          <p:cNvPicPr>
            <a:picLocks noChangeAspect="1"/>
          </p:cNvPicPr>
          <p:nvPr/>
        </p:nvPicPr>
        <p:blipFill>
          <a:blip r:embed="rId3"/>
          <a:stretch>
            <a:fillRect/>
          </a:stretch>
        </p:blipFill>
        <p:spPr>
          <a:xfrm>
            <a:off x="930859" y="2649423"/>
            <a:ext cx="424281" cy="424281"/>
          </a:xfrm>
          <a:prstGeom prst="rect">
            <a:avLst/>
          </a:prstGeom>
        </p:spPr>
      </p:pic>
      <p:sp>
        <p:nvSpPr>
          <p:cNvPr id="9" name="TextBox 8"/>
          <p:cNvSpPr txBox="1"/>
          <p:nvPr/>
        </p:nvSpPr>
        <p:spPr>
          <a:xfrm>
            <a:off x="713232" y="3318764"/>
            <a:ext cx="3186074" cy="1866392"/>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관계 그림</a:t>
            </a:r>
          </a:p>
          <a:p>
            <a:pPr algn="l">
              <a:lnSpc>
                <a:spcPct val="110000"/>
              </a:lnSpc>
              <a:spcAft>
                <a:spcPts val="400"/>
              </a:spcAft>
            </a:pPr>
            <a:r>
              <a:rPr sz="1400" b="0">
                <a:solidFill>
                  <a:srgbClr val="1F2A3A"/>
                </a:solidFill>
                <a:latin typeface="맑은 고딕"/>
                <a:ea typeface="맑은 고딕"/>
                <a:cs typeface="맑은 고딕"/>
              </a:rPr>
              <a:t>• 대상과 선을 그려 사람이 보게 한 표현이다</a:t>
            </a:r>
          </a:p>
          <a:p>
            <a:pPr algn="l">
              <a:lnSpc>
                <a:spcPct val="110000"/>
              </a:lnSpc>
              <a:spcAft>
                <a:spcPts val="400"/>
              </a:spcAft>
            </a:pPr>
            <a:r>
              <a:rPr sz="1400" b="0">
                <a:solidFill>
                  <a:srgbClr val="1F2A3A"/>
                </a:solidFill>
                <a:latin typeface="맑은 고딕"/>
                <a:ea typeface="맑은 고딕"/>
                <a:cs typeface="맑은 고딕"/>
              </a:rPr>
              <a:t>• 무엇이든 그릴 수 있어 뜻이 맞는지 검사할 수 없다</a:t>
            </a:r>
          </a:p>
        </p:txBody>
      </p:sp>
      <p:sp>
        <p:nvSpPr>
          <p:cNvPr id="10" name="Rounded Rectangle 9"/>
          <p:cNvSpPr/>
          <p:nvPr/>
        </p:nvSpPr>
        <p:spPr>
          <a:xfrm>
            <a:off x="777240" y="5258308"/>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258308"/>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표현</a:t>
            </a:r>
          </a:p>
        </p:txBody>
      </p:sp>
      <p:sp>
        <p:nvSpPr>
          <p:cNvPr id="12" name="Rounded Rectangle 11"/>
          <p:cNvSpPr/>
          <p:nvPr/>
        </p:nvSpPr>
        <p:spPr>
          <a:xfrm>
            <a:off x="4338218" y="2294635"/>
            <a:ext cx="3515258" cy="3393440"/>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495804"/>
            <a:ext cx="731520" cy="731520"/>
          </a:xfrm>
          <a:prstGeom prst="ellipse">
            <a:avLst/>
          </a:prstGeom>
          <a:solidFill>
            <a:srgbClr val="E7F3FD"/>
          </a:solidFill>
          <a:ln>
            <a:noFill/>
          </a:ln>
        </p:spPr>
        <p:txBody>
          <a:bodyPr rtlCol="0" anchor="ctr"/>
          <a:lstStyle/>
          <a:p>
            <a:pPr algn="ctr"/>
          </a:p>
        </p:txBody>
      </p:sp>
      <p:pic>
        <p:nvPicPr>
          <p:cNvPr id="14" name="아이콘:database" descr="database_13294B_1.6.png"/>
          <p:cNvPicPr>
            <a:picLocks noChangeAspect="1"/>
          </p:cNvPicPr>
          <p:nvPr/>
        </p:nvPicPr>
        <p:blipFill>
          <a:blip r:embed="rId4"/>
          <a:stretch>
            <a:fillRect/>
          </a:stretch>
        </p:blipFill>
        <p:spPr>
          <a:xfrm>
            <a:off x="4720437" y="2649423"/>
            <a:ext cx="424281" cy="424281"/>
          </a:xfrm>
          <a:prstGeom prst="rect">
            <a:avLst/>
          </a:prstGeom>
        </p:spPr>
      </p:pic>
      <p:sp>
        <p:nvSpPr>
          <p:cNvPr id="15" name="TextBox 14"/>
          <p:cNvSpPr txBox="1"/>
          <p:nvPr/>
        </p:nvSpPr>
        <p:spPr>
          <a:xfrm>
            <a:off x="4502810" y="3318764"/>
            <a:ext cx="3186074" cy="1866392"/>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그래프 DB</a:t>
            </a:r>
          </a:p>
          <a:p>
            <a:pPr algn="l">
              <a:lnSpc>
                <a:spcPct val="110000"/>
              </a:lnSpc>
              <a:spcAft>
                <a:spcPts val="400"/>
              </a:spcAft>
            </a:pPr>
            <a:r>
              <a:rPr sz="1400" b="0">
                <a:solidFill>
                  <a:srgbClr val="1F2A3A"/>
                </a:solidFill>
                <a:latin typeface="맑은 고딕"/>
                <a:ea typeface="맑은 고딕"/>
                <a:cs typeface="맑은 고딕"/>
              </a:rPr>
              <a:t>• 대상과 관계를 저장하고 조회하는 데이터베이스이다</a:t>
            </a:r>
          </a:p>
          <a:p>
            <a:pPr algn="l">
              <a:lnSpc>
                <a:spcPct val="110000"/>
              </a:lnSpc>
              <a:spcAft>
                <a:spcPts val="400"/>
              </a:spcAft>
            </a:pPr>
            <a:r>
              <a:rPr sz="1400" b="0">
                <a:solidFill>
                  <a:srgbClr val="1F2A3A"/>
                </a:solidFill>
                <a:latin typeface="맑은 고딕"/>
                <a:ea typeface="맑은 고딕"/>
                <a:cs typeface="맑은 고딕"/>
              </a:rPr>
              <a:t>• 무엇을 넣을지는 정해 주지 않는다</a:t>
            </a:r>
          </a:p>
          <a:p>
            <a:pPr algn="l">
              <a:lnSpc>
                <a:spcPct val="110000"/>
              </a:lnSpc>
              <a:spcAft>
                <a:spcPts val="400"/>
              </a:spcAft>
            </a:pPr>
            <a:r>
              <a:rPr sz="1400" b="0">
                <a:solidFill>
                  <a:srgbClr val="1F2A3A"/>
                </a:solidFill>
                <a:latin typeface="맑은 고딕"/>
                <a:ea typeface="맑은 고딕"/>
                <a:cs typeface="맑은 고딕"/>
              </a:rPr>
              <a:t>• HYD는 Neo4j를 쓴다</a:t>
            </a:r>
          </a:p>
        </p:txBody>
      </p:sp>
      <p:sp>
        <p:nvSpPr>
          <p:cNvPr id="16" name="Rounded Rectangle 15"/>
          <p:cNvSpPr/>
          <p:nvPr/>
        </p:nvSpPr>
        <p:spPr>
          <a:xfrm>
            <a:off x="4566818" y="5258308"/>
            <a:ext cx="10210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258308"/>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저장 도구</a:t>
            </a:r>
          </a:p>
        </p:txBody>
      </p:sp>
      <p:sp>
        <p:nvSpPr>
          <p:cNvPr id="18" name="Rounded Rectangle 17"/>
          <p:cNvSpPr/>
          <p:nvPr/>
        </p:nvSpPr>
        <p:spPr>
          <a:xfrm>
            <a:off x="8127796" y="2294635"/>
            <a:ext cx="3515258" cy="3393440"/>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495804"/>
            <a:ext cx="731520" cy="731520"/>
          </a:xfrm>
          <a:prstGeom prst="ellipse">
            <a:avLst/>
          </a:prstGeom>
          <a:solidFill>
            <a:srgbClr val="5CB8F2"/>
          </a:solidFill>
          <a:ln>
            <a:noFill/>
          </a:ln>
        </p:spPr>
        <p:txBody>
          <a:bodyPr rtlCol="0" anchor="ctr"/>
          <a:lstStyle/>
          <a:p>
            <a:pPr algn="ctr"/>
          </a:p>
        </p:txBody>
      </p:sp>
      <p:pic>
        <p:nvPicPr>
          <p:cNvPr id="20" name="아이콘:schema" descr="schema_13294B_1.6.png"/>
          <p:cNvPicPr>
            <a:picLocks noChangeAspect="1"/>
          </p:cNvPicPr>
          <p:nvPr/>
        </p:nvPicPr>
        <p:blipFill>
          <a:blip r:embed="rId5"/>
          <a:stretch>
            <a:fillRect/>
          </a:stretch>
        </p:blipFill>
        <p:spPr>
          <a:xfrm>
            <a:off x="8510016" y="2649423"/>
            <a:ext cx="424281" cy="424281"/>
          </a:xfrm>
          <a:prstGeom prst="rect">
            <a:avLst/>
          </a:prstGeom>
        </p:spPr>
      </p:pic>
      <p:sp>
        <p:nvSpPr>
          <p:cNvPr id="21" name="TextBox 20"/>
          <p:cNvSpPr txBox="1"/>
          <p:nvPr/>
        </p:nvSpPr>
        <p:spPr>
          <a:xfrm>
            <a:off x="8292388" y="3318764"/>
            <a:ext cx="3186074" cy="1866392"/>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온톨로지</a:t>
            </a:r>
          </a:p>
          <a:p>
            <a:pPr algn="l">
              <a:lnSpc>
                <a:spcPct val="110000"/>
              </a:lnSpc>
              <a:spcAft>
                <a:spcPts val="400"/>
              </a:spcAft>
            </a:pPr>
            <a:r>
              <a:rPr sz="1400" b="0">
                <a:solidFill>
                  <a:srgbClr val="1F2A3A"/>
                </a:solidFill>
                <a:latin typeface="맑은 고딕"/>
                <a:ea typeface="맑은 고딕"/>
                <a:cs typeface="맑은 고딕"/>
              </a:rPr>
              <a:t>• 어떤 종류의 대상과 관계가 있을 수 있는지를 정한 정의이다</a:t>
            </a:r>
          </a:p>
          <a:p>
            <a:pPr algn="l">
              <a:lnSpc>
                <a:spcPct val="110000"/>
              </a:lnSpc>
              <a:spcAft>
                <a:spcPts val="400"/>
              </a:spcAft>
            </a:pPr>
            <a:r>
              <a:rPr sz="1400" b="0">
                <a:solidFill>
                  <a:srgbClr val="1F2A3A"/>
                </a:solidFill>
                <a:latin typeface="맑은 고딕"/>
                <a:ea typeface="맑은 고딕"/>
                <a:cs typeface="맑은 고딕"/>
              </a:rPr>
              <a:t>• 이 정의에 맞춰 실제 대상을 채워 Neo4j에 저장한 것이 HYD의 지식 그래프이다</a:t>
            </a:r>
          </a:p>
        </p:txBody>
      </p:sp>
      <p:sp>
        <p:nvSpPr>
          <p:cNvPr id="22" name="Rounded Rectangle 21"/>
          <p:cNvSpPr/>
          <p:nvPr/>
        </p:nvSpPr>
        <p:spPr>
          <a:xfrm>
            <a:off x="8356396" y="5258308"/>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258308"/>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정의</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지식 그래프의 구성 요소: 노드, 관계, 방향</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지식 그래프는 대상을 나타내는 </a:t>
            </a:r>
            <a:r>
              <a:rPr sz="1600" b="1">
                <a:solidFill>
                  <a:srgbClr val="1A6FC4"/>
                </a:solidFill>
                <a:latin typeface="맑은 고딕"/>
                <a:ea typeface="맑은 고딕"/>
                <a:cs typeface="맑은 고딕"/>
              </a:rPr>
              <a:t>노드</a:t>
            </a:r>
            <a:r>
              <a:rPr sz="1600" b="0">
                <a:solidFill>
                  <a:srgbClr val="556175"/>
                </a:solidFill>
                <a:latin typeface="맑은 고딕"/>
                <a:ea typeface="맑은 고딕"/>
                <a:cs typeface="맑은 고딕"/>
              </a:rPr>
              <a:t>와, 이름과 방향을 가진 </a:t>
            </a:r>
            <a:r>
              <a:rPr sz="1600" b="1">
                <a:solidFill>
                  <a:srgbClr val="1A6FC4"/>
                </a:solidFill>
                <a:latin typeface="맑은 고딕"/>
                <a:ea typeface="맑은 고딕"/>
                <a:cs typeface="맑은 고딕"/>
              </a:rPr>
              <a:t>관계</a:t>
            </a:r>
            <a:r>
              <a:rPr sz="1600" b="0">
                <a:solidFill>
                  <a:srgbClr val="556175"/>
                </a:solidFill>
                <a:latin typeface="맑은 고딕"/>
                <a:ea typeface="맑은 고딕"/>
                <a:cs typeface="맑은 고딕"/>
              </a:rPr>
              <a:t>로 이루어진다.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13</a:t>
            </a:r>
          </a:p>
        </p:txBody>
      </p:sp>
      <p:pic>
        <p:nvPicPr>
          <p:cNvPr id="6" name="삽화:노드관계.svg" descr="illust_4834014519850444775_1791712364.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492040" y="1816729"/>
            <a:ext cx="283646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노드(Node)</a:t>
            </a:r>
          </a:p>
          <a:p>
            <a:pPr algn="ctr">
              <a:lnSpc>
                <a:spcPct val="110000"/>
              </a:lnSpc>
              <a:spcAft>
                <a:spcPts val="100"/>
              </a:spcAft>
            </a:pPr>
            <a:r>
              <a:rPr sz="1300" b="0">
                <a:solidFill>
                  <a:srgbClr val="556175"/>
                </a:solidFill>
                <a:latin typeface="맑은 고딕"/>
                <a:ea typeface="맑은 고딕"/>
                <a:cs typeface="맑은 고딕"/>
              </a:rPr>
              <a:t>대상 하나를 나타낸다</a:t>
            </a:r>
          </a:p>
        </p:txBody>
      </p:sp>
      <p:sp>
        <p:nvSpPr>
          <p:cNvPr id="8" name="TextBox 7"/>
          <p:cNvSpPr txBox="1"/>
          <p:nvPr/>
        </p:nvSpPr>
        <p:spPr>
          <a:xfrm>
            <a:off x="7863185" y="1816729"/>
            <a:ext cx="283646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노드(Node)</a:t>
            </a:r>
          </a:p>
          <a:p>
            <a:pPr algn="ctr">
              <a:lnSpc>
                <a:spcPct val="110000"/>
              </a:lnSpc>
              <a:spcAft>
                <a:spcPts val="100"/>
              </a:spcAft>
            </a:pPr>
            <a:r>
              <a:rPr sz="1300" b="0">
                <a:solidFill>
                  <a:srgbClr val="556175"/>
                </a:solidFill>
                <a:latin typeface="맑은 고딕"/>
                <a:ea typeface="맑은 고딕"/>
                <a:cs typeface="맑은 고딕"/>
              </a:rPr>
              <a:t>대상마다 종류가 있다</a:t>
            </a:r>
          </a:p>
        </p:txBody>
      </p:sp>
      <p:sp>
        <p:nvSpPr>
          <p:cNvPr id="9" name="TextBox 8"/>
          <p:cNvSpPr txBox="1"/>
          <p:nvPr/>
        </p:nvSpPr>
        <p:spPr>
          <a:xfrm>
            <a:off x="4459423" y="2856768"/>
            <a:ext cx="327284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관계(Relationship)</a:t>
            </a:r>
          </a:p>
          <a:p>
            <a:pPr algn="ctr">
              <a:lnSpc>
                <a:spcPct val="110000"/>
              </a:lnSpc>
              <a:spcAft>
                <a:spcPts val="100"/>
              </a:spcAft>
            </a:pPr>
            <a:r>
              <a:rPr sz="1300" b="0">
                <a:solidFill>
                  <a:srgbClr val="556175"/>
                </a:solidFill>
                <a:latin typeface="맑은 고딕"/>
                <a:ea typeface="맑은 고딕"/>
                <a:cs typeface="맑은 고딕"/>
              </a:rPr>
              <a:t>이름: CAUSES(일으킨다)</a:t>
            </a:r>
          </a:p>
        </p:txBody>
      </p:sp>
      <p:sp>
        <p:nvSpPr>
          <p:cNvPr id="10" name="TextBox 9"/>
          <p:cNvSpPr txBox="1"/>
          <p:nvPr/>
        </p:nvSpPr>
        <p:spPr>
          <a:xfrm>
            <a:off x="4568518" y="4133179"/>
            <a:ext cx="305465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방향</a:t>
            </a:r>
          </a:p>
          <a:p>
            <a:pPr algn="ctr">
              <a:lnSpc>
                <a:spcPct val="110000"/>
              </a:lnSpc>
              <a:spcAft>
                <a:spcPts val="100"/>
              </a:spcAft>
            </a:pPr>
            <a:r>
              <a:rPr sz="1300" b="0">
                <a:solidFill>
                  <a:srgbClr val="556175"/>
                </a:solidFill>
                <a:latin typeface="맑은 고딕"/>
                <a:ea typeface="맑은 고딕"/>
                <a:cs typeface="맑은 고딕"/>
              </a:rPr>
              <a:t>원인에서 고장 유형으로</a:t>
            </a:r>
          </a:p>
        </p:txBody>
      </p:sp>
      <p:sp>
        <p:nvSpPr>
          <p:cNvPr id="11" name="TextBox 10"/>
          <p:cNvSpPr txBox="1"/>
          <p:nvPr/>
        </p:nvSpPr>
        <p:spPr>
          <a:xfrm>
            <a:off x="1492040" y="4984120"/>
            <a:ext cx="283646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쿨러 핀 오염</a:t>
            </a:r>
          </a:p>
          <a:p>
            <a:pPr algn="ctr">
              <a:lnSpc>
                <a:spcPct val="110000"/>
              </a:lnSpc>
              <a:spcAft>
                <a:spcPts val="100"/>
              </a:spcAft>
            </a:pPr>
            <a:r>
              <a:rPr sz="1300" b="0">
                <a:solidFill>
                  <a:srgbClr val="556175"/>
                </a:solidFill>
                <a:latin typeface="맑은 고딕"/>
                <a:ea typeface="맑은 고딕"/>
                <a:cs typeface="맑은 고딕"/>
              </a:rPr>
              <a:t>종류: 원인</a:t>
            </a:r>
          </a:p>
        </p:txBody>
      </p:sp>
      <p:sp>
        <p:nvSpPr>
          <p:cNvPr id="12" name="TextBox 11"/>
          <p:cNvSpPr txBox="1"/>
          <p:nvPr/>
        </p:nvSpPr>
        <p:spPr>
          <a:xfrm>
            <a:off x="7754090" y="4984120"/>
            <a:ext cx="305465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쿨러 냉각 성능 상실</a:t>
            </a:r>
          </a:p>
          <a:p>
            <a:pPr algn="ctr">
              <a:lnSpc>
                <a:spcPct val="110000"/>
              </a:lnSpc>
              <a:spcAft>
                <a:spcPts val="100"/>
              </a:spcAft>
            </a:pPr>
            <a:r>
              <a:rPr sz="1300" b="0">
                <a:solidFill>
                  <a:srgbClr val="556175"/>
                </a:solidFill>
                <a:latin typeface="맑은 고딕"/>
                <a:ea typeface="맑은 고딕"/>
                <a:cs typeface="맑은 고딕"/>
              </a:rPr>
              <a:t>종류: 고장 유형</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HYD 지식 그래프의 실제 관계: 증상 · 고장 유형 · 원인 · 조치</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증상과 원인은 직접 이어지지 않고 </a:t>
            </a:r>
            <a:r>
              <a:rPr sz="1600" b="1">
                <a:solidFill>
                  <a:srgbClr val="1A6FC4"/>
                </a:solidFill>
                <a:latin typeface="맑은 고딕"/>
                <a:ea typeface="맑은 고딕"/>
                <a:cs typeface="맑은 고딕"/>
              </a:rPr>
              <a:t>고장 유형</a:t>
            </a:r>
            <a:r>
              <a:rPr sz="1600" b="0">
                <a:solidFill>
                  <a:srgbClr val="556175"/>
                </a:solidFill>
                <a:latin typeface="맑은 고딕"/>
                <a:ea typeface="맑은 고딕"/>
                <a:cs typeface="맑은 고딕"/>
              </a:rPr>
              <a:t>에서 만나며, 조치도 고장 유형에 연결된다.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14</a:t>
            </a:r>
          </a:p>
        </p:txBody>
      </p:sp>
      <p:pic>
        <p:nvPicPr>
          <p:cNvPr id="6" name="삽화:관계.svg" descr="illust_7152454102958992862_1791712364.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26561" y="4085904"/>
            <a:ext cx="2727373"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Symptom · 증상</a:t>
            </a:r>
          </a:p>
          <a:p>
            <a:pPr algn="ctr">
              <a:lnSpc>
                <a:spcPct val="110000"/>
              </a:lnSpc>
              <a:spcAft>
                <a:spcPts val="100"/>
              </a:spcAft>
            </a:pPr>
            <a:r>
              <a:rPr sz="1300" b="0">
                <a:solidFill>
                  <a:srgbClr val="556175"/>
                </a:solidFill>
                <a:latin typeface="맑은 고딕"/>
                <a:ea typeface="맑은 고딕"/>
                <a:cs typeface="맑은 고딕"/>
              </a:rPr>
              <a:t>유온 상승 · 냉각 효율 저하</a:t>
            </a:r>
          </a:p>
        </p:txBody>
      </p:sp>
      <p:sp>
        <p:nvSpPr>
          <p:cNvPr id="8" name="TextBox 7"/>
          <p:cNvSpPr txBox="1"/>
          <p:nvPr/>
        </p:nvSpPr>
        <p:spPr>
          <a:xfrm>
            <a:off x="4459423" y="2218563"/>
            <a:ext cx="327284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FailureMode · 고장 유형</a:t>
            </a:r>
          </a:p>
          <a:p>
            <a:pPr algn="ctr">
              <a:lnSpc>
                <a:spcPct val="110000"/>
              </a:lnSpc>
              <a:spcAft>
                <a:spcPts val="100"/>
              </a:spcAft>
            </a:pPr>
            <a:r>
              <a:rPr sz="1300" b="0">
                <a:solidFill>
                  <a:srgbClr val="556175"/>
                </a:solidFill>
                <a:latin typeface="맑은 고딕"/>
                <a:ea typeface="맑은 고딕"/>
                <a:cs typeface="맑은 고딕"/>
              </a:rPr>
              <a:t>쿨러 냉각 성능 상실</a:t>
            </a:r>
          </a:p>
        </p:txBody>
      </p:sp>
      <p:sp>
        <p:nvSpPr>
          <p:cNvPr id="9" name="TextBox 8"/>
          <p:cNvSpPr txBox="1"/>
          <p:nvPr/>
        </p:nvSpPr>
        <p:spPr>
          <a:xfrm>
            <a:off x="8910497" y="4085904"/>
            <a:ext cx="218189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Cause · 원인</a:t>
            </a:r>
          </a:p>
          <a:p>
            <a:pPr algn="ctr">
              <a:lnSpc>
                <a:spcPct val="110000"/>
              </a:lnSpc>
              <a:spcAft>
                <a:spcPts val="100"/>
              </a:spcAft>
            </a:pPr>
            <a:r>
              <a:rPr sz="1300" b="0">
                <a:solidFill>
                  <a:srgbClr val="556175"/>
                </a:solidFill>
                <a:latin typeface="맑은 고딕"/>
                <a:ea typeface="맑은 고딕"/>
                <a:cs typeface="맑은 고딕"/>
              </a:rPr>
              <a:t>쿨러 핀 오염</a:t>
            </a:r>
          </a:p>
        </p:txBody>
      </p:sp>
      <p:sp>
        <p:nvSpPr>
          <p:cNvPr id="10" name="TextBox 9"/>
          <p:cNvSpPr txBox="1"/>
          <p:nvPr/>
        </p:nvSpPr>
        <p:spPr>
          <a:xfrm>
            <a:off x="6532227" y="5362315"/>
            <a:ext cx="196370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Skill · 조치 방법</a:t>
            </a:r>
          </a:p>
          <a:p>
            <a:pPr algn="ctr">
              <a:lnSpc>
                <a:spcPct val="110000"/>
              </a:lnSpc>
              <a:spcAft>
                <a:spcPts val="100"/>
              </a:spcAft>
            </a:pPr>
            <a:r>
              <a:rPr sz="1300" b="0">
                <a:solidFill>
                  <a:srgbClr val="556175"/>
                </a:solidFill>
                <a:latin typeface="맑은 고딕"/>
                <a:ea typeface="맑은 고딕"/>
                <a:cs typeface="맑은 고딕"/>
              </a:rPr>
              <a:t>팬 최대 운전</a:t>
            </a:r>
          </a:p>
        </p:txBody>
      </p:sp>
      <p:sp>
        <p:nvSpPr>
          <p:cNvPr id="11" name="TextBox 10"/>
          <p:cNvSpPr txBox="1"/>
          <p:nvPr/>
        </p:nvSpPr>
        <p:spPr>
          <a:xfrm>
            <a:off x="3270288" y="2809494"/>
            <a:ext cx="174551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INDICATES</a:t>
            </a:r>
          </a:p>
          <a:p>
            <a:pPr algn="ctr">
              <a:lnSpc>
                <a:spcPct val="110000"/>
              </a:lnSpc>
              <a:spcAft>
                <a:spcPts val="100"/>
              </a:spcAft>
            </a:pPr>
            <a:r>
              <a:rPr sz="1300" b="0">
                <a:solidFill>
                  <a:srgbClr val="556175"/>
                </a:solidFill>
                <a:latin typeface="맑은 고딕"/>
                <a:ea typeface="맑은 고딕"/>
                <a:cs typeface="맑은 고딕"/>
              </a:rPr>
              <a:t>가리킨다</a:t>
            </a:r>
          </a:p>
        </p:txBody>
      </p:sp>
      <p:sp>
        <p:nvSpPr>
          <p:cNvPr id="12" name="TextBox 11"/>
          <p:cNvSpPr txBox="1"/>
          <p:nvPr/>
        </p:nvSpPr>
        <p:spPr>
          <a:xfrm>
            <a:off x="7175887" y="2809494"/>
            <a:ext cx="174551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CAUSES</a:t>
            </a:r>
          </a:p>
          <a:p>
            <a:pPr algn="ctr">
              <a:lnSpc>
                <a:spcPct val="110000"/>
              </a:lnSpc>
              <a:spcAft>
                <a:spcPts val="100"/>
              </a:spcAft>
            </a:pPr>
            <a:r>
              <a:rPr sz="1300" b="0">
                <a:solidFill>
                  <a:srgbClr val="556175"/>
                </a:solidFill>
                <a:latin typeface="맑은 고딕"/>
                <a:ea typeface="맑은 고딕"/>
                <a:cs typeface="맑은 고딕"/>
              </a:rPr>
              <a:t>일으킨다</a:t>
            </a:r>
          </a:p>
        </p:txBody>
      </p:sp>
      <p:sp>
        <p:nvSpPr>
          <p:cNvPr id="13" name="TextBox 12"/>
          <p:cNvSpPr txBox="1"/>
          <p:nvPr/>
        </p:nvSpPr>
        <p:spPr>
          <a:xfrm>
            <a:off x="3750306" y="4227728"/>
            <a:ext cx="218189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MITIGATED_BY</a:t>
            </a:r>
          </a:p>
          <a:p>
            <a:pPr algn="ctr">
              <a:lnSpc>
                <a:spcPct val="110000"/>
              </a:lnSpc>
              <a:spcAft>
                <a:spcPts val="100"/>
              </a:spcAft>
            </a:pPr>
            <a:r>
              <a:rPr sz="1300" b="0">
                <a:solidFill>
                  <a:srgbClr val="556175"/>
                </a:solidFill>
                <a:latin typeface="맑은 고딕"/>
                <a:ea typeface="맑은 고딕"/>
                <a:cs typeface="맑은 고딕"/>
              </a:rPr>
              <a:t>~으로 완화된다</a:t>
            </a:r>
          </a:p>
        </p:txBody>
      </p:sp>
      <p:sp>
        <p:nvSpPr>
          <p:cNvPr id="14" name="TextBox 13"/>
          <p:cNvSpPr txBox="1"/>
          <p:nvPr/>
        </p:nvSpPr>
        <p:spPr>
          <a:xfrm>
            <a:off x="750195" y="5315041"/>
            <a:ext cx="327284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직접 잇는 선은 없다</a:t>
            </a:r>
          </a:p>
          <a:p>
            <a:pPr algn="ctr">
              <a:lnSpc>
                <a:spcPct val="110000"/>
              </a:lnSpc>
              <a:spcAft>
                <a:spcPts val="100"/>
              </a:spcAft>
            </a:pPr>
            <a:r>
              <a:rPr sz="1300" b="0">
                <a:solidFill>
                  <a:srgbClr val="556175"/>
                </a:solidFill>
                <a:latin typeface="맑은 고딕"/>
                <a:ea typeface="맑은 고딕"/>
                <a:cs typeface="맑은 고딕"/>
              </a:rPr>
              <a:t>증상과 원인은 고장 유형에서 만난다</a:t>
            </a:r>
          </a:p>
        </p:txBody>
      </p:sp>
      <p:sp>
        <p:nvSpPr>
          <p:cNvPr id="15" name="TextBox 14"/>
          <p:cNvSpPr txBox="1"/>
          <p:nvPr/>
        </p:nvSpPr>
        <p:spPr>
          <a:xfrm>
            <a:off x="8223199" y="5315041"/>
            <a:ext cx="327284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원인은 여럿 붙는다</a:t>
            </a:r>
          </a:p>
          <a:p>
            <a:pPr algn="ctr">
              <a:lnSpc>
                <a:spcPct val="110000"/>
              </a:lnSpc>
              <a:spcAft>
                <a:spcPts val="100"/>
              </a:spcAft>
            </a:pPr>
            <a:r>
              <a:rPr sz="1300" b="0">
                <a:solidFill>
                  <a:srgbClr val="556175"/>
                </a:solidFill>
                <a:latin typeface="맑은 고딕"/>
                <a:ea typeface="맑은 고딕"/>
                <a:cs typeface="맑은 고딕"/>
              </a:rPr>
              <a:t>핀 오염, 팬 구동 불량, 주변 온도 상승</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유형과 실제 대상을 나누어 적는 온톨로지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온톨로지는 유형을 </a:t>
            </a:r>
            <a:r>
              <a:rPr sz="1600" b="1">
                <a:solidFill>
                  <a:srgbClr val="1A6FC4"/>
                </a:solidFill>
                <a:latin typeface="맑은 고딕"/>
                <a:ea typeface="맑은 고딕"/>
                <a:cs typeface="맑은 고딕"/>
              </a:rPr>
              <a:t>클래스</a:t>
            </a:r>
            <a:r>
              <a:rPr sz="1600" b="0">
                <a:solidFill>
                  <a:srgbClr val="556175"/>
                </a:solidFill>
                <a:latin typeface="맑은 고딕"/>
                <a:ea typeface="맑은 고딕"/>
                <a:cs typeface="맑은 고딕"/>
              </a:rPr>
              <a:t>로, 실제 대상을 </a:t>
            </a:r>
            <a:r>
              <a:rPr sz="1600" b="1">
                <a:solidFill>
                  <a:srgbClr val="1A6FC4"/>
                </a:solidFill>
                <a:latin typeface="맑은 고딕"/>
                <a:ea typeface="맑은 고딕"/>
                <a:cs typeface="맑은 고딕"/>
              </a:rPr>
              <a:t>인스턴스</a:t>
            </a:r>
            <a:r>
              <a:rPr sz="1600" b="0">
                <a:solidFill>
                  <a:srgbClr val="556175"/>
                </a:solidFill>
                <a:latin typeface="맑은 고딕"/>
                <a:ea typeface="맑은 고딕"/>
                <a:cs typeface="맑은 고딕"/>
              </a:rPr>
              <a:t>로 나누어 적는다.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15</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category" descr="category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클래스</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대상의 유형이다</a:t>
            </a:r>
          </a:p>
          <a:p>
            <a:pPr algn="l">
              <a:lnSpc>
                <a:spcPct val="110000"/>
              </a:lnSpc>
              <a:spcAft>
                <a:spcPts val="600"/>
              </a:spcAft>
            </a:pPr>
            <a:r>
              <a:rPr sz="1450" b="0">
                <a:solidFill>
                  <a:srgbClr val="1F2A3A"/>
                </a:solidFill>
                <a:latin typeface="맑은 고딕"/>
                <a:ea typeface="맑은 고딕"/>
                <a:cs typeface="맑은 고딕"/>
              </a:rPr>
              <a:t>• 설비, 센서, 증상</a:t>
            </a:r>
          </a:p>
          <a:p>
            <a:pPr algn="l">
              <a:lnSpc>
                <a:spcPct val="110000"/>
              </a:lnSpc>
              <a:spcAft>
                <a:spcPts val="600"/>
              </a:spcAft>
            </a:pPr>
            <a:r>
              <a:rPr sz="1450" b="0">
                <a:solidFill>
                  <a:srgbClr val="1F2A3A"/>
                </a:solidFill>
                <a:latin typeface="맑은 고딕"/>
                <a:ea typeface="맑은 고딕"/>
                <a:cs typeface="맑은 고딕"/>
              </a:rPr>
              <a:t>• 앞에서 노드의 「종류」라고 부른 것이다</a:t>
            </a:r>
          </a:p>
        </p:txBody>
      </p:sp>
      <p:sp>
        <p:nvSpPr>
          <p:cNvPr id="11" name="Rounded Rectangle 10"/>
          <p:cNvSpPr/>
          <p:nvPr/>
        </p:nvSpPr>
        <p:spPr>
          <a:xfrm>
            <a:off x="868680" y="4945570"/>
            <a:ext cx="82296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유형</a:t>
            </a:r>
          </a:p>
        </p:txBody>
      </p:sp>
      <p:sp>
        <p:nvSpPr>
          <p:cNvPr id="13" name="Rounded Rectangle 12"/>
          <p:cNvSpPr/>
          <p:nvPr/>
        </p:nvSpPr>
        <p:spPr>
          <a:xfrm>
            <a:off x="6461607"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81109"/>
            <a:ext cx="731520" cy="731520"/>
          </a:xfrm>
          <a:prstGeom prst="ellipse">
            <a:avLst/>
          </a:prstGeom>
          <a:solidFill>
            <a:srgbClr val="5CB8F2"/>
          </a:solidFill>
          <a:ln>
            <a:noFill/>
          </a:ln>
        </p:spPr>
        <p:txBody>
          <a:bodyPr rtlCol="0" anchor="ctr"/>
          <a:lstStyle/>
          <a:p>
            <a:pPr algn="ctr"/>
          </a:p>
        </p:txBody>
      </p:sp>
      <p:pic>
        <p:nvPicPr>
          <p:cNvPr id="15" name="아이콘:target" descr="target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인스턴스</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실제 대상 하나이다</a:t>
            </a:r>
          </a:p>
          <a:p>
            <a:pPr algn="l">
              <a:lnSpc>
                <a:spcPct val="110000"/>
              </a:lnSpc>
              <a:spcAft>
                <a:spcPts val="600"/>
              </a:spcAft>
            </a:pPr>
            <a:r>
              <a:rPr sz="1450" b="0">
                <a:solidFill>
                  <a:srgbClr val="1F2A3A"/>
                </a:solidFill>
                <a:latin typeface="맑은 고딕"/>
                <a:ea typeface="맑은 고딕"/>
                <a:cs typeface="맑은 고딕"/>
              </a:rPr>
              <a:t>• HYD-01, 유온 센서 TS1, 유온 상승</a:t>
            </a:r>
          </a:p>
          <a:p>
            <a:pPr algn="l">
              <a:lnSpc>
                <a:spcPct val="110000"/>
              </a:lnSpc>
              <a:spcAft>
                <a:spcPts val="600"/>
              </a:spcAft>
            </a:pPr>
            <a:r>
              <a:rPr sz="1450" b="0">
                <a:solidFill>
                  <a:srgbClr val="1F2A3A"/>
                </a:solidFill>
                <a:latin typeface="맑은 고딕"/>
                <a:ea typeface="맑은 고딕"/>
                <a:cs typeface="맑은 고딕"/>
              </a:rPr>
              <a:t>• 지식 그래프의 노드 하나하나이다</a:t>
            </a:r>
          </a:p>
        </p:txBody>
      </p:sp>
      <p:sp>
        <p:nvSpPr>
          <p:cNvPr id="18" name="Rounded Rectangle 17"/>
          <p:cNvSpPr/>
          <p:nvPr/>
        </p:nvSpPr>
        <p:spPr>
          <a:xfrm>
            <a:off x="6781647" y="4945570"/>
            <a:ext cx="10210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45570"/>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실제 대상</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속성: 클래스가 정한 칸, 인스턴스가 채운 값</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클래스가 </a:t>
            </a:r>
            <a:r>
              <a:rPr sz="1600" b="1">
                <a:solidFill>
                  <a:srgbClr val="1A6FC4"/>
                </a:solidFill>
                <a:latin typeface="맑은 고딕"/>
                <a:ea typeface="맑은 고딕"/>
                <a:cs typeface="맑은 고딕"/>
              </a:rPr>
              <a:t>속성</a:t>
            </a:r>
            <a:r>
              <a:rPr sz="1600" b="0">
                <a:solidFill>
                  <a:srgbClr val="556175"/>
                </a:solidFill>
                <a:latin typeface="맑은 고딕"/>
                <a:ea typeface="맑은 고딕"/>
                <a:cs typeface="맑은 고딕"/>
              </a:rPr>
              <a:t>의 칸을 정하므로 유온 센서와 냉각 효율은 칸이 같고 채운 값만 다르다.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16</a:t>
            </a:r>
          </a:p>
        </p:txBody>
      </p:sp>
      <p:pic>
        <p:nvPicPr>
          <p:cNvPr id="6" name="삽화:속성_3.svg" descr="illust_1001446303226041418_179171724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055660" y="2067284"/>
            <a:ext cx="2618278" cy="6780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Sensor 클래스의 속성</a:t>
            </a:r>
          </a:p>
          <a:p>
            <a:pPr algn="ctr">
              <a:lnSpc>
                <a:spcPct val="110000"/>
              </a:lnSpc>
              <a:spcAft>
                <a:spcPts val="100"/>
              </a:spcAft>
            </a:pPr>
            <a:r>
              <a:rPr sz="1100" b="0">
                <a:solidFill>
                  <a:srgbClr val="556175"/>
                </a:solidFill>
                <a:latin typeface="맑은 고딕"/>
                <a:ea typeface="맑은 고딕"/>
                <a:cs typeface="맑은 고딕"/>
              </a:rPr>
              <a:t>속성(Property): 클래스가 정한 값의 칸</a:t>
            </a:r>
          </a:p>
        </p:txBody>
      </p:sp>
      <p:sp>
        <p:nvSpPr>
          <p:cNvPr id="8" name="TextBox 7"/>
          <p:cNvSpPr txBox="1"/>
          <p:nvPr/>
        </p:nvSpPr>
        <p:spPr>
          <a:xfrm>
            <a:off x="1273850" y="2866223"/>
            <a:ext cx="218189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id</a:t>
            </a:r>
          </a:p>
        </p:txBody>
      </p:sp>
      <p:sp>
        <p:nvSpPr>
          <p:cNvPr id="9" name="TextBox 8"/>
          <p:cNvSpPr txBox="1"/>
          <p:nvPr/>
        </p:nvSpPr>
        <p:spPr>
          <a:xfrm>
            <a:off x="1273850" y="3575340"/>
            <a:ext cx="218189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name</a:t>
            </a:r>
          </a:p>
        </p:txBody>
      </p:sp>
      <p:sp>
        <p:nvSpPr>
          <p:cNvPr id="10" name="TextBox 9"/>
          <p:cNvSpPr txBox="1"/>
          <p:nvPr/>
        </p:nvSpPr>
        <p:spPr>
          <a:xfrm>
            <a:off x="1273850" y="4284457"/>
            <a:ext cx="218189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tag</a:t>
            </a:r>
          </a:p>
        </p:txBody>
      </p:sp>
      <p:sp>
        <p:nvSpPr>
          <p:cNvPr id="11" name="TextBox 10"/>
          <p:cNvSpPr txBox="1"/>
          <p:nvPr/>
        </p:nvSpPr>
        <p:spPr>
          <a:xfrm>
            <a:off x="1273850" y="4993574"/>
            <a:ext cx="218189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unit</a:t>
            </a:r>
          </a:p>
        </p:txBody>
      </p:sp>
      <p:sp>
        <p:nvSpPr>
          <p:cNvPr id="12" name="TextBox 11"/>
          <p:cNvSpPr txBox="1"/>
          <p:nvPr/>
        </p:nvSpPr>
        <p:spPr>
          <a:xfrm>
            <a:off x="1273850" y="5702692"/>
            <a:ext cx="218189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virtual</a:t>
            </a:r>
          </a:p>
        </p:txBody>
      </p:sp>
      <p:sp>
        <p:nvSpPr>
          <p:cNvPr id="13" name="TextBox 12"/>
          <p:cNvSpPr txBox="1"/>
          <p:nvPr/>
        </p:nvSpPr>
        <p:spPr>
          <a:xfrm>
            <a:off x="5081264" y="2866223"/>
            <a:ext cx="2400088"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sen:ts1</a:t>
            </a:r>
          </a:p>
        </p:txBody>
      </p:sp>
      <p:sp>
        <p:nvSpPr>
          <p:cNvPr id="14" name="TextBox 13"/>
          <p:cNvSpPr txBox="1"/>
          <p:nvPr/>
        </p:nvSpPr>
        <p:spPr>
          <a:xfrm>
            <a:off x="5081264" y="3575340"/>
            <a:ext cx="2400088"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유온 센서</a:t>
            </a:r>
          </a:p>
        </p:txBody>
      </p:sp>
      <p:sp>
        <p:nvSpPr>
          <p:cNvPr id="15" name="TextBox 14"/>
          <p:cNvSpPr txBox="1"/>
          <p:nvPr/>
        </p:nvSpPr>
        <p:spPr>
          <a:xfrm>
            <a:off x="5081264" y="4284457"/>
            <a:ext cx="2400088"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TS1</a:t>
            </a:r>
          </a:p>
        </p:txBody>
      </p:sp>
      <p:sp>
        <p:nvSpPr>
          <p:cNvPr id="16" name="TextBox 15"/>
          <p:cNvSpPr txBox="1"/>
          <p:nvPr/>
        </p:nvSpPr>
        <p:spPr>
          <a:xfrm>
            <a:off x="5081264" y="4993574"/>
            <a:ext cx="2400088"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a:t>
            </a:r>
          </a:p>
        </p:txBody>
      </p:sp>
      <p:sp>
        <p:nvSpPr>
          <p:cNvPr id="17" name="TextBox 16"/>
          <p:cNvSpPr txBox="1"/>
          <p:nvPr/>
        </p:nvSpPr>
        <p:spPr>
          <a:xfrm>
            <a:off x="5081264" y="5702692"/>
            <a:ext cx="2400088"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false</a:t>
            </a:r>
          </a:p>
        </p:txBody>
      </p:sp>
      <p:sp>
        <p:nvSpPr>
          <p:cNvPr id="18" name="TextBox 17"/>
          <p:cNvSpPr txBox="1"/>
          <p:nvPr/>
        </p:nvSpPr>
        <p:spPr>
          <a:xfrm>
            <a:off x="8528664" y="2866223"/>
            <a:ext cx="2400088"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sen:ce</a:t>
            </a:r>
          </a:p>
        </p:txBody>
      </p:sp>
      <p:sp>
        <p:nvSpPr>
          <p:cNvPr id="19" name="TextBox 18"/>
          <p:cNvSpPr txBox="1"/>
          <p:nvPr/>
        </p:nvSpPr>
        <p:spPr>
          <a:xfrm>
            <a:off x="8528664" y="3575340"/>
            <a:ext cx="2400088"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냉각 효율</a:t>
            </a:r>
          </a:p>
        </p:txBody>
      </p:sp>
      <p:sp>
        <p:nvSpPr>
          <p:cNvPr id="20" name="TextBox 19"/>
          <p:cNvSpPr txBox="1"/>
          <p:nvPr/>
        </p:nvSpPr>
        <p:spPr>
          <a:xfrm>
            <a:off x="8528664" y="4284457"/>
            <a:ext cx="2400088"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CE</a:t>
            </a:r>
          </a:p>
        </p:txBody>
      </p:sp>
      <p:sp>
        <p:nvSpPr>
          <p:cNvPr id="21" name="TextBox 20"/>
          <p:cNvSpPr txBox="1"/>
          <p:nvPr/>
        </p:nvSpPr>
        <p:spPr>
          <a:xfrm>
            <a:off x="8528664" y="4993574"/>
            <a:ext cx="2400088"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a:t>
            </a:r>
          </a:p>
        </p:txBody>
      </p:sp>
      <p:sp>
        <p:nvSpPr>
          <p:cNvPr id="22" name="TextBox 21"/>
          <p:cNvSpPr txBox="1"/>
          <p:nvPr/>
        </p:nvSpPr>
        <p:spPr>
          <a:xfrm>
            <a:off x="8528664" y="5702692"/>
            <a:ext cx="2400088"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true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관계 유형과 두 층: 클래스 층, 인스턴스 층</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1">
                <a:solidFill>
                  <a:srgbClr val="1A6FC4"/>
                </a:solidFill>
                <a:latin typeface="맑은 고딕"/>
                <a:ea typeface="맑은 고딕"/>
                <a:cs typeface="맑은 고딕"/>
              </a:rPr>
              <a:t>관계 유형</a:t>
            </a:r>
            <a:r>
              <a:rPr sz="1600" b="0">
                <a:solidFill>
                  <a:srgbClr val="556175"/>
                </a:solidFill>
                <a:latin typeface="맑은 고딕"/>
                <a:ea typeface="맑은 고딕"/>
                <a:cs typeface="맑은 고딕"/>
              </a:rPr>
              <a:t>은 클래스 사이에 정의하고, 인스턴스 사이의 실제 관계는 그 정의에 맞추어 놓인다.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17</a:t>
            </a:r>
          </a:p>
        </p:txBody>
      </p:sp>
      <p:pic>
        <p:nvPicPr>
          <p:cNvPr id="6" name="삽화:두층_3.svg" descr="illust_5535250258297434520_179171724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3913948" y="1651269"/>
            <a:ext cx="6545697" cy="507618"/>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관계 유형</a:t>
            </a:r>
          </a:p>
          <a:p>
            <a:pPr algn="ctr">
              <a:lnSpc>
                <a:spcPct val="110000"/>
              </a:lnSpc>
              <a:spcAft>
                <a:spcPts val="100"/>
              </a:spcAft>
            </a:pPr>
            <a:r>
              <a:rPr sz="1100" b="0">
                <a:solidFill>
                  <a:srgbClr val="556175"/>
                </a:solidFill>
                <a:latin typeface="맑은 고딕"/>
                <a:ea typeface="맑은 고딕"/>
                <a:cs typeface="맑은 고딕"/>
              </a:rPr>
              <a:t>이름과 방향, 시작 클래스와 끝 클래스로 정의한다</a:t>
            </a:r>
          </a:p>
        </p:txBody>
      </p:sp>
      <p:sp>
        <p:nvSpPr>
          <p:cNvPr id="8" name="TextBox 7"/>
          <p:cNvSpPr txBox="1"/>
          <p:nvPr/>
        </p:nvSpPr>
        <p:spPr>
          <a:xfrm>
            <a:off x="804742" y="2573121"/>
            <a:ext cx="1854614" cy="6780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클래스와 관계 유형</a:t>
            </a:r>
          </a:p>
          <a:p>
            <a:pPr algn="ctr">
              <a:lnSpc>
                <a:spcPct val="110000"/>
              </a:lnSpc>
              <a:spcAft>
                <a:spcPts val="100"/>
              </a:spcAft>
            </a:pPr>
            <a:r>
              <a:rPr sz="1100" b="0">
                <a:solidFill>
                  <a:srgbClr val="556175"/>
                </a:solidFill>
                <a:latin typeface="맑은 고딕"/>
                <a:ea typeface="맑은 고딕"/>
                <a:cs typeface="맑은 고딕"/>
              </a:rPr>
              <a:t>무엇이 무엇에</a:t>
            </a:r>
          </a:p>
          <a:p>
            <a:pPr algn="ctr">
              <a:lnSpc>
                <a:spcPct val="110000"/>
              </a:lnSpc>
              <a:spcAft>
                <a:spcPts val="100"/>
              </a:spcAft>
            </a:pPr>
            <a:r>
              <a:rPr sz="1100" b="0">
                <a:solidFill>
                  <a:srgbClr val="556175"/>
                </a:solidFill>
                <a:latin typeface="맑은 고딕"/>
                <a:ea typeface="맑은 고딕"/>
                <a:cs typeface="맑은 고딕"/>
              </a:rPr>
              <a:t>이어질 수 있는가</a:t>
            </a:r>
          </a:p>
        </p:txBody>
      </p:sp>
      <p:sp>
        <p:nvSpPr>
          <p:cNvPr id="9" name="TextBox 8"/>
          <p:cNvSpPr txBox="1"/>
          <p:nvPr/>
        </p:nvSpPr>
        <p:spPr>
          <a:xfrm>
            <a:off x="2986641" y="2762219"/>
            <a:ext cx="130913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Asset</a:t>
            </a:r>
          </a:p>
          <a:p>
            <a:pPr algn="ctr">
              <a:lnSpc>
                <a:spcPct val="110000"/>
              </a:lnSpc>
              <a:spcAft>
                <a:spcPts val="100"/>
              </a:spcAft>
            </a:pPr>
            <a:r>
              <a:rPr sz="1100" b="0">
                <a:solidFill>
                  <a:srgbClr val="556175"/>
                </a:solidFill>
                <a:latin typeface="맑은 고딕"/>
                <a:ea typeface="맑은 고딕"/>
                <a:cs typeface="맑은 고딕"/>
              </a:rPr>
              <a:t>설비</a:t>
            </a:r>
          </a:p>
        </p:txBody>
      </p:sp>
      <p:sp>
        <p:nvSpPr>
          <p:cNvPr id="10" name="TextBox 9"/>
          <p:cNvSpPr txBox="1"/>
          <p:nvPr/>
        </p:nvSpPr>
        <p:spPr>
          <a:xfrm>
            <a:off x="5354001" y="2762219"/>
            <a:ext cx="130913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Component</a:t>
            </a:r>
          </a:p>
          <a:p>
            <a:pPr algn="ctr">
              <a:lnSpc>
                <a:spcPct val="110000"/>
              </a:lnSpc>
              <a:spcAft>
                <a:spcPts val="100"/>
              </a:spcAft>
            </a:pPr>
            <a:r>
              <a:rPr sz="1100" b="0">
                <a:solidFill>
                  <a:srgbClr val="556175"/>
                </a:solidFill>
                <a:latin typeface="맑은 고딕"/>
                <a:ea typeface="맑은 고딕"/>
                <a:cs typeface="맑은 고딕"/>
              </a:rPr>
              <a:t>구성 요소</a:t>
            </a:r>
          </a:p>
        </p:txBody>
      </p:sp>
      <p:sp>
        <p:nvSpPr>
          <p:cNvPr id="11" name="TextBox 10"/>
          <p:cNvSpPr txBox="1"/>
          <p:nvPr/>
        </p:nvSpPr>
        <p:spPr>
          <a:xfrm>
            <a:off x="7710452" y="2762219"/>
            <a:ext cx="130913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Sensor</a:t>
            </a:r>
          </a:p>
          <a:p>
            <a:pPr algn="ctr">
              <a:lnSpc>
                <a:spcPct val="110000"/>
              </a:lnSpc>
              <a:spcAft>
                <a:spcPts val="100"/>
              </a:spcAft>
            </a:pPr>
            <a:r>
              <a:rPr sz="1100" b="0">
                <a:solidFill>
                  <a:srgbClr val="556175"/>
                </a:solidFill>
                <a:latin typeface="맑은 고딕"/>
                <a:ea typeface="맑은 고딕"/>
                <a:cs typeface="맑은 고딕"/>
              </a:rPr>
              <a:t>센서</a:t>
            </a:r>
          </a:p>
        </p:txBody>
      </p:sp>
      <p:sp>
        <p:nvSpPr>
          <p:cNvPr id="12" name="TextBox 11"/>
          <p:cNvSpPr txBox="1"/>
          <p:nvPr/>
        </p:nvSpPr>
        <p:spPr>
          <a:xfrm>
            <a:off x="10077813" y="2762219"/>
            <a:ext cx="1309139" cy="71678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StateVariable</a:t>
            </a:r>
          </a:p>
          <a:p>
            <a:pPr algn="ctr">
              <a:lnSpc>
                <a:spcPct val="110000"/>
              </a:lnSpc>
              <a:spcAft>
                <a:spcPts val="100"/>
              </a:spcAft>
            </a:pPr>
            <a:r>
              <a:rPr sz="1100" b="0">
                <a:solidFill>
                  <a:srgbClr val="556175"/>
                </a:solidFill>
                <a:latin typeface="맑은 고딕"/>
                <a:ea typeface="맑은 고딕"/>
                <a:cs typeface="맑은 고딕"/>
              </a:rPr>
              <a:t>상태 변수</a:t>
            </a:r>
          </a:p>
        </p:txBody>
      </p:sp>
      <p:sp>
        <p:nvSpPr>
          <p:cNvPr id="13" name="TextBox 12"/>
          <p:cNvSpPr txBox="1"/>
          <p:nvPr/>
        </p:nvSpPr>
        <p:spPr>
          <a:xfrm>
            <a:off x="3783034" y="2251655"/>
            <a:ext cx="207280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HAS_COMPONENT</a:t>
            </a:r>
          </a:p>
        </p:txBody>
      </p:sp>
      <p:sp>
        <p:nvSpPr>
          <p:cNvPr id="14" name="TextBox 13"/>
          <p:cNvSpPr txBox="1"/>
          <p:nvPr/>
        </p:nvSpPr>
        <p:spPr>
          <a:xfrm>
            <a:off x="6368584" y="2251655"/>
            <a:ext cx="163642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MONITORED_BY</a:t>
            </a:r>
          </a:p>
        </p:txBody>
      </p:sp>
      <p:sp>
        <p:nvSpPr>
          <p:cNvPr id="15" name="TextBox 14"/>
          <p:cNvSpPr txBox="1"/>
          <p:nvPr/>
        </p:nvSpPr>
        <p:spPr>
          <a:xfrm>
            <a:off x="8735945" y="2251655"/>
            <a:ext cx="163642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OBSERVES</a:t>
            </a:r>
          </a:p>
        </p:txBody>
      </p:sp>
      <p:sp>
        <p:nvSpPr>
          <p:cNvPr id="16" name="TextBox 15"/>
          <p:cNvSpPr txBox="1"/>
          <p:nvPr/>
        </p:nvSpPr>
        <p:spPr>
          <a:xfrm>
            <a:off x="3586663" y="3991356"/>
            <a:ext cx="1527329" cy="337185"/>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인스턴스이다</a:t>
            </a:r>
          </a:p>
        </p:txBody>
      </p:sp>
      <p:sp>
        <p:nvSpPr>
          <p:cNvPr id="17" name="TextBox 16"/>
          <p:cNvSpPr txBox="1"/>
          <p:nvPr/>
        </p:nvSpPr>
        <p:spPr>
          <a:xfrm>
            <a:off x="804742" y="4747747"/>
            <a:ext cx="1854614" cy="6780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인스턴스와 관계</a:t>
            </a:r>
          </a:p>
          <a:p>
            <a:pPr algn="ctr">
              <a:lnSpc>
                <a:spcPct val="110000"/>
              </a:lnSpc>
              <a:spcAft>
                <a:spcPts val="100"/>
              </a:spcAft>
            </a:pPr>
            <a:r>
              <a:rPr sz="1100" b="0">
                <a:solidFill>
                  <a:srgbClr val="556175"/>
                </a:solidFill>
                <a:latin typeface="맑은 고딕"/>
                <a:ea typeface="맑은 고딕"/>
                <a:cs typeface="맑은 고딕"/>
              </a:rPr>
              <a:t>무엇이 무엇에</a:t>
            </a:r>
          </a:p>
          <a:p>
            <a:pPr algn="ctr">
              <a:lnSpc>
                <a:spcPct val="110000"/>
              </a:lnSpc>
              <a:spcAft>
                <a:spcPts val="100"/>
              </a:spcAft>
            </a:pPr>
            <a:r>
              <a:rPr sz="1100" b="0">
                <a:solidFill>
                  <a:srgbClr val="556175"/>
                </a:solidFill>
                <a:latin typeface="맑은 고딕"/>
                <a:ea typeface="맑은 고딕"/>
                <a:cs typeface="맑은 고딕"/>
              </a:rPr>
              <a:t>이어져 있는가</a:t>
            </a:r>
          </a:p>
        </p:txBody>
      </p:sp>
      <p:sp>
        <p:nvSpPr>
          <p:cNvPr id="18" name="TextBox 17"/>
          <p:cNvSpPr txBox="1"/>
          <p:nvPr/>
        </p:nvSpPr>
        <p:spPr>
          <a:xfrm>
            <a:off x="2550261" y="5608143"/>
            <a:ext cx="218189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HYD-01</a:t>
            </a:r>
          </a:p>
          <a:p>
            <a:pPr algn="ctr">
              <a:lnSpc>
                <a:spcPct val="110000"/>
              </a:lnSpc>
              <a:spcAft>
                <a:spcPts val="100"/>
              </a:spcAft>
            </a:pPr>
            <a:r>
              <a:rPr sz="1100" b="0">
                <a:solidFill>
                  <a:srgbClr val="556175"/>
                </a:solidFill>
                <a:latin typeface="맑은 고딕"/>
                <a:ea typeface="맑은 고딕"/>
                <a:cs typeface="맑은 고딕"/>
              </a:rPr>
              <a:t>asset:hyd-01</a:t>
            </a:r>
          </a:p>
        </p:txBody>
      </p:sp>
      <p:sp>
        <p:nvSpPr>
          <p:cNvPr id="19" name="TextBox 18"/>
          <p:cNvSpPr txBox="1"/>
          <p:nvPr/>
        </p:nvSpPr>
        <p:spPr>
          <a:xfrm>
            <a:off x="4917622" y="5608143"/>
            <a:ext cx="218189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오일 쿨러</a:t>
            </a:r>
          </a:p>
          <a:p>
            <a:pPr algn="ctr">
              <a:lnSpc>
                <a:spcPct val="110000"/>
              </a:lnSpc>
              <a:spcAft>
                <a:spcPts val="100"/>
              </a:spcAft>
            </a:pPr>
            <a:r>
              <a:rPr sz="1100" b="0">
                <a:solidFill>
                  <a:srgbClr val="556175"/>
                </a:solidFill>
                <a:latin typeface="맑은 고딕"/>
                <a:ea typeface="맑은 고딕"/>
                <a:cs typeface="맑은 고딕"/>
              </a:rPr>
              <a:t>comp:cooler</a:t>
            </a:r>
          </a:p>
        </p:txBody>
      </p:sp>
      <p:sp>
        <p:nvSpPr>
          <p:cNvPr id="20" name="TextBox 19"/>
          <p:cNvSpPr txBox="1"/>
          <p:nvPr/>
        </p:nvSpPr>
        <p:spPr>
          <a:xfrm>
            <a:off x="7274073" y="5608143"/>
            <a:ext cx="218189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유온 센서</a:t>
            </a:r>
          </a:p>
          <a:p>
            <a:pPr algn="ctr">
              <a:lnSpc>
                <a:spcPct val="110000"/>
              </a:lnSpc>
              <a:spcAft>
                <a:spcPts val="100"/>
              </a:spcAft>
            </a:pPr>
            <a:r>
              <a:rPr sz="1100" b="0">
                <a:solidFill>
                  <a:srgbClr val="556175"/>
                </a:solidFill>
                <a:latin typeface="맑은 고딕"/>
                <a:ea typeface="맑은 고딕"/>
                <a:cs typeface="맑은 고딕"/>
              </a:rPr>
              <a:t>sen:ts1</a:t>
            </a:r>
          </a:p>
        </p:txBody>
      </p:sp>
      <p:sp>
        <p:nvSpPr>
          <p:cNvPr id="21" name="TextBox 20"/>
          <p:cNvSpPr txBox="1"/>
          <p:nvPr/>
        </p:nvSpPr>
        <p:spPr>
          <a:xfrm>
            <a:off x="9641433" y="5608143"/>
            <a:ext cx="218189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유온</a:t>
            </a:r>
          </a:p>
          <a:p>
            <a:pPr algn="ctr">
              <a:lnSpc>
                <a:spcPct val="110000"/>
              </a:lnSpc>
              <a:spcAft>
                <a:spcPts val="100"/>
              </a:spcAft>
            </a:pPr>
            <a:r>
              <a:rPr sz="1100" b="0">
                <a:solidFill>
                  <a:srgbClr val="556175"/>
                </a:solidFill>
                <a:latin typeface="맑은 고딕"/>
                <a:ea typeface="맑은 고딕"/>
                <a:cs typeface="맑은 고딕"/>
              </a:rPr>
              <a:t>sv:ts1</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정의 없이 넣은 데이터: 같은 대상이 여러 노드가 된다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정해 둔 이름이 없으면 같은 장치가 넣는 사람마다 다른 이름의 노드로 들어간다.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18</a:t>
            </a:r>
          </a:p>
        </p:txBody>
      </p:sp>
      <p:pic>
        <p:nvPicPr>
          <p:cNvPr id="6" name="삽화:여러노드.svg" descr="illust_6758935216584791168_179171724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4132138" y="1722180"/>
            <a:ext cx="392741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같은 장치가 노드 셋으로 흩어졌다</a:t>
            </a:r>
          </a:p>
        </p:txBody>
      </p:sp>
      <p:sp>
        <p:nvSpPr>
          <p:cNvPr id="8" name="TextBox 7"/>
          <p:cNvSpPr txBox="1"/>
          <p:nvPr/>
        </p:nvSpPr>
        <p:spPr>
          <a:xfrm>
            <a:off x="2768451" y="3301148"/>
            <a:ext cx="174551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「오일 쿨러」</a:t>
            </a:r>
          </a:p>
        </p:txBody>
      </p:sp>
      <p:sp>
        <p:nvSpPr>
          <p:cNvPr id="9" name="TextBox 8"/>
          <p:cNvSpPr txBox="1"/>
          <p:nvPr/>
        </p:nvSpPr>
        <p:spPr>
          <a:xfrm>
            <a:off x="6804964" y="4062267"/>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「쿨러」</a:t>
            </a:r>
          </a:p>
        </p:txBody>
      </p:sp>
      <p:sp>
        <p:nvSpPr>
          <p:cNvPr id="10" name="TextBox 9"/>
          <p:cNvSpPr txBox="1"/>
          <p:nvPr/>
        </p:nvSpPr>
        <p:spPr>
          <a:xfrm>
            <a:off x="7677724" y="3301148"/>
            <a:ext cx="174551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「열교환기」</a:t>
            </a:r>
          </a:p>
        </p:txBody>
      </p:sp>
      <p:sp>
        <p:nvSpPr>
          <p:cNvPr id="11" name="TextBox 10"/>
          <p:cNvSpPr txBox="1"/>
          <p:nvPr/>
        </p:nvSpPr>
        <p:spPr>
          <a:xfrm>
            <a:off x="1164755" y="3187689"/>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HYD-01</a:t>
            </a:r>
          </a:p>
        </p:txBody>
      </p:sp>
      <p:sp>
        <p:nvSpPr>
          <p:cNvPr id="12" name="TextBox 11"/>
          <p:cNvSpPr txBox="1"/>
          <p:nvPr/>
        </p:nvSpPr>
        <p:spPr>
          <a:xfrm>
            <a:off x="4077591" y="5608143"/>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유온 센서</a:t>
            </a:r>
          </a:p>
        </p:txBody>
      </p:sp>
      <p:sp>
        <p:nvSpPr>
          <p:cNvPr id="13" name="TextBox 12"/>
          <p:cNvSpPr txBox="1"/>
          <p:nvPr/>
        </p:nvSpPr>
        <p:spPr>
          <a:xfrm>
            <a:off x="9717799" y="3187689"/>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쿨러 코어</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온톨로지 스키마: 클래스, 속성, 관계, 제약의 정의</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이런 문제는 넣기 전에 정해 둔 약속이 없어 생기며, 그 약속을 한곳에 정의한 구조가 </a:t>
            </a:r>
            <a:r>
              <a:rPr sz="1600" b="1">
                <a:solidFill>
                  <a:srgbClr val="1A6FC4"/>
                </a:solidFill>
                <a:latin typeface="맑은 고딕"/>
                <a:ea typeface="맑은 고딕"/>
                <a:cs typeface="맑은 고딕"/>
              </a:rPr>
              <a:t>스키마</a:t>
            </a:r>
            <a:r>
              <a:rPr sz="1600" b="0">
                <a:solidFill>
                  <a:srgbClr val="556175"/>
                </a:solidFill>
                <a:latin typeface="맑은 고딕"/>
                <a:ea typeface="맑은 고딕"/>
                <a:cs typeface="맑은 고딕"/>
              </a:rPr>
              <a:t>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19</a:t>
            </a:r>
          </a:p>
        </p:txBody>
      </p:sp>
      <p:sp>
        <p:nvSpPr>
          <p:cNvPr id="6" name="Rounded Rectangle 5"/>
          <p:cNvSpPr/>
          <p:nvPr/>
        </p:nvSpPr>
        <p:spPr>
          <a:xfrm>
            <a:off x="548640" y="1655064"/>
            <a:ext cx="11094415" cy="1126998"/>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627632"/>
            <a:ext cx="3291839" cy="1181862"/>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스키마</a:t>
            </a:r>
          </a:p>
          <a:p>
            <a:pPr algn="l">
              <a:lnSpc>
                <a:spcPct val="110000"/>
              </a:lnSpc>
              <a:spcAft>
                <a:spcPts val="200"/>
              </a:spcAft>
            </a:pPr>
            <a:r>
              <a:rPr sz="1150" b="0">
                <a:solidFill>
                  <a:srgbClr val="556175"/>
                </a:solidFill>
                <a:latin typeface="맑은 고딕"/>
                <a:ea typeface="맑은 고딕"/>
                <a:cs typeface="맑은 고딕"/>
              </a:rPr>
              <a:t>Schema</a:t>
            </a:r>
          </a:p>
        </p:txBody>
      </p:sp>
      <p:sp>
        <p:nvSpPr>
          <p:cNvPr id="8" name="TextBox 7"/>
          <p:cNvSpPr txBox="1"/>
          <p:nvPr/>
        </p:nvSpPr>
        <p:spPr>
          <a:xfrm>
            <a:off x="4023359" y="1627632"/>
            <a:ext cx="7528255" cy="1181862"/>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어떤 클래스와 속성과 관계가 있을 수 있고 어떤 조건을 지켜야 하는지를 정의한다.</a:t>
            </a:r>
          </a:p>
          <a:p>
            <a:pPr algn="l">
              <a:lnSpc>
                <a:spcPct val="110000"/>
              </a:lnSpc>
              <a:spcAft>
                <a:spcPts val="300"/>
              </a:spcAft>
            </a:pPr>
            <a:r>
              <a:rPr sz="1400" b="0">
                <a:solidFill>
                  <a:srgbClr val="1F2A3A"/>
                </a:solidFill>
                <a:latin typeface="맑은 고딕"/>
                <a:ea typeface="맑은 고딕"/>
                <a:cs typeface="맑은 고딕"/>
              </a:rPr>
              <a:t>데이터를 넣는 사람과 읽는 프로그램이 모두 이 정의 하나를 기준으로 삼는다.</a:t>
            </a:r>
          </a:p>
        </p:txBody>
      </p:sp>
      <p:sp>
        <p:nvSpPr>
          <p:cNvPr id="9" name="Rectangle 8"/>
          <p:cNvSpPr/>
          <p:nvPr/>
        </p:nvSpPr>
        <p:spPr>
          <a:xfrm>
            <a:off x="548640" y="2800350"/>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2809494"/>
            <a:ext cx="3291839" cy="1181862"/>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스키마가 정하는 것</a:t>
            </a:r>
          </a:p>
          <a:p>
            <a:pPr algn="l">
              <a:lnSpc>
                <a:spcPct val="110000"/>
              </a:lnSpc>
              <a:spcAft>
                <a:spcPts val="200"/>
              </a:spcAft>
            </a:pPr>
            <a:r>
              <a:rPr sz="1150" b="0">
                <a:solidFill>
                  <a:srgbClr val="556175"/>
                </a:solidFill>
                <a:latin typeface="맑은 고딕"/>
                <a:ea typeface="맑은 고딕"/>
                <a:cs typeface="맑은 고딕"/>
              </a:rPr>
              <a:t>정의의 범위</a:t>
            </a:r>
          </a:p>
        </p:txBody>
      </p:sp>
      <p:sp>
        <p:nvSpPr>
          <p:cNvPr id="11" name="TextBox 10"/>
          <p:cNvSpPr txBox="1"/>
          <p:nvPr/>
        </p:nvSpPr>
        <p:spPr>
          <a:xfrm>
            <a:off x="4023359" y="2809494"/>
            <a:ext cx="7528255" cy="1181862"/>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클래스의 이름과 의미, 속성의 이름 · 자료형 · 필수 여부, 식별자의 규칙</a:t>
            </a:r>
          </a:p>
          <a:p>
            <a:pPr algn="l">
              <a:lnSpc>
                <a:spcPct val="110000"/>
              </a:lnSpc>
              <a:spcAft>
                <a:spcPts val="300"/>
              </a:spcAft>
            </a:pPr>
            <a:r>
              <a:rPr sz="1400" b="0">
                <a:solidFill>
                  <a:srgbClr val="1F2A3A"/>
                </a:solidFill>
                <a:latin typeface="맑은 고딕"/>
                <a:ea typeface="맑은 고딕"/>
                <a:cs typeface="맑은 고딕"/>
              </a:rPr>
              <a:t>관계의 이름과 방향, 시작 클래스와 끝 클래스, 카디널리티</a:t>
            </a:r>
          </a:p>
        </p:txBody>
      </p:sp>
      <p:sp>
        <p:nvSpPr>
          <p:cNvPr id="12" name="Rectangle 11"/>
          <p:cNvSpPr/>
          <p:nvPr/>
        </p:nvSpPr>
        <p:spPr>
          <a:xfrm>
            <a:off x="548640" y="39822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3991356"/>
            <a:ext cx="3291839" cy="1181862"/>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정의의 예</a:t>
            </a:r>
          </a:p>
          <a:p>
            <a:pPr algn="l">
              <a:lnSpc>
                <a:spcPct val="110000"/>
              </a:lnSpc>
              <a:spcAft>
                <a:spcPts val="200"/>
              </a:spcAft>
            </a:pPr>
            <a:r>
              <a:rPr sz="1150" b="0">
                <a:solidFill>
                  <a:srgbClr val="556175"/>
                </a:solidFill>
                <a:latin typeface="맑은 고딕"/>
                <a:ea typeface="맑은 고딕"/>
                <a:cs typeface="맑은 고딕"/>
              </a:rPr>
              <a:t>예</a:t>
            </a:r>
          </a:p>
        </p:txBody>
      </p:sp>
      <p:sp>
        <p:nvSpPr>
          <p:cNvPr id="14" name="TextBox 13"/>
          <p:cNvSpPr txBox="1"/>
          <p:nvPr/>
        </p:nvSpPr>
        <p:spPr>
          <a:xfrm>
            <a:off x="4023359" y="3991356"/>
            <a:ext cx="7528255" cy="1181862"/>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「센서에는 tag가 있어야 한다.」</a:t>
            </a:r>
          </a:p>
          <a:p>
            <a:pPr algn="l">
              <a:lnSpc>
                <a:spcPct val="110000"/>
              </a:lnSpc>
              <a:spcAft>
                <a:spcPts val="300"/>
              </a:spcAft>
            </a:pPr>
            <a:r>
              <a:rPr sz="1400" b="0">
                <a:solidFill>
                  <a:srgbClr val="1F2A3A"/>
                </a:solidFill>
                <a:latin typeface="맑은 고딕"/>
                <a:ea typeface="맑은 고딕"/>
                <a:cs typeface="맑은 고딕"/>
              </a:rPr>
              <a:t>「OBSERVES는 센서에서 상태 변수로 잇는다.」</a:t>
            </a:r>
          </a:p>
        </p:txBody>
      </p:sp>
      <p:sp>
        <p:nvSpPr>
          <p:cNvPr id="15" name="Rectangle 14"/>
          <p:cNvSpPr/>
          <p:nvPr/>
        </p:nvSpPr>
        <p:spPr>
          <a:xfrm>
            <a:off x="548640" y="5164074"/>
            <a:ext cx="11094415" cy="13716"/>
          </a:xfrm>
          <a:prstGeom prst="rect">
            <a:avLst/>
          </a:prstGeom>
          <a:solidFill>
            <a:srgbClr val="D3D9E1"/>
          </a:solidFill>
          <a:ln>
            <a:noFill/>
          </a:ln>
        </p:spPr>
        <p:txBody>
          <a:bodyPr rtlCol="0" anchor="ctr"/>
          <a:lstStyle/>
          <a:p>
            <a:pPr algn="ctr"/>
          </a:p>
        </p:txBody>
      </p:sp>
      <p:sp>
        <p:nvSpPr>
          <p:cNvPr id="16" name="TextBox 15"/>
          <p:cNvSpPr txBox="1"/>
          <p:nvPr/>
        </p:nvSpPr>
        <p:spPr>
          <a:xfrm>
            <a:off x="640080" y="5173218"/>
            <a:ext cx="3291839" cy="1181862"/>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양식과 문서</a:t>
            </a:r>
          </a:p>
          <a:p>
            <a:pPr algn="l">
              <a:lnSpc>
                <a:spcPct val="110000"/>
              </a:lnSpc>
              <a:spcAft>
                <a:spcPts val="200"/>
              </a:spcAft>
            </a:pPr>
            <a:r>
              <a:rPr sz="1150" b="0">
                <a:solidFill>
                  <a:srgbClr val="556175"/>
                </a:solidFill>
                <a:latin typeface="맑은 고딕"/>
                <a:ea typeface="맑은 고딕"/>
                <a:cs typeface="맑은 고딕"/>
              </a:rPr>
              <a:t>비유</a:t>
            </a:r>
          </a:p>
        </p:txBody>
      </p:sp>
      <p:sp>
        <p:nvSpPr>
          <p:cNvPr id="17" name="TextBox 16"/>
          <p:cNvSpPr txBox="1"/>
          <p:nvPr/>
        </p:nvSpPr>
        <p:spPr>
          <a:xfrm>
            <a:off x="4023359" y="5173218"/>
            <a:ext cx="7528255" cy="1181862"/>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닮은 점: 양식이 칸과 필수 항목을 정하고 작성된 문서가 그 칸을 채운다.</a:t>
            </a:r>
          </a:p>
          <a:p>
            <a:pPr algn="l">
              <a:lnSpc>
                <a:spcPct val="110000"/>
              </a:lnSpc>
              <a:spcAft>
                <a:spcPts val="300"/>
              </a:spcAft>
            </a:pPr>
            <a:r>
              <a:rPr sz="1400" b="0">
                <a:solidFill>
                  <a:srgbClr val="1F2A3A"/>
                </a:solidFill>
                <a:latin typeface="맑은 고딕"/>
                <a:ea typeface="맑은 고딕"/>
                <a:cs typeface="맑은 고딕"/>
              </a:rPr>
              <a:t>다른 점: 양식은 문서 한 장의 칸만 정하고, 스키마는 어떤 대상끼리 이어질 수 있는지도 정한다.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클래스 정의: 속성 목록과 속성 정의의 세 항목</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속성 한 줄은 속성명, 자료형, 필수 여부로 이루어지며, 인스턴스의 값은 이 세 가지에 맞아야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20</a:t>
            </a:r>
          </a:p>
        </p:txBody>
      </p:sp>
      <p:sp>
        <p:nvSpPr>
          <p:cNvPr id="6" name="Rounded Rectangle 5"/>
          <p:cNvSpPr/>
          <p:nvPr/>
        </p:nvSpPr>
        <p:spPr>
          <a:xfrm>
            <a:off x="548640" y="1882394"/>
            <a:ext cx="6766560" cy="4217924"/>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019554"/>
            <a:ext cx="6400800" cy="3943604"/>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"name": "Sensor",</a:t>
            </a:r>
          </a:p>
          <a:p>
            <a:pPr algn="l">
              <a:lnSpc>
                <a:spcPct val="110000"/>
              </a:lnSpc>
              <a:spcAft>
                <a:spcPts val="200"/>
              </a:spcAft>
            </a:pPr>
            <a:r>
              <a:rPr sz="1300" b="0">
                <a:solidFill>
                  <a:srgbClr val="E8EEF6"/>
                </a:solidFill>
                <a:latin typeface="Consolas"/>
                <a:ea typeface="맑은 고딕"/>
                <a:cs typeface="맑은 고딕"/>
              </a:rPr>
              <a:t>  "label_ko": "</a:t>
            </a:r>
            <a:r>
              <a:rPr sz="1300" b="0">
                <a:solidFill>
                  <a:srgbClr val="E8EEF6"/>
                </a:solidFill>
                <a:latin typeface="맑은 고딕"/>
                <a:ea typeface="맑은 고딕"/>
                <a:cs typeface="맑은 고딕"/>
              </a:rPr>
              <a:t>센서</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"description": "</a:t>
            </a:r>
            <a:r>
              <a:rPr sz="1300" b="0">
                <a:solidFill>
                  <a:srgbClr val="E8EEF6"/>
                </a:solidFill>
                <a:latin typeface="맑은 고딕"/>
                <a:ea typeface="맑은 고딕"/>
                <a:cs typeface="맑은 고딕"/>
              </a:rPr>
              <a:t>계측</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채널</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태그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이름이</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실시간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데이터와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연결된다</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"properties": [</a:t>
            </a:r>
          </a:p>
          <a:p>
            <a:pPr algn="l">
              <a:lnSpc>
                <a:spcPct val="110000"/>
              </a:lnSpc>
              <a:spcAft>
                <a:spcPts val="200"/>
              </a:spcAft>
            </a:pPr>
            <a:r>
              <a:rPr sz="1300" b="0">
                <a:solidFill>
                  <a:srgbClr val="E8EEF6"/>
                </a:solidFill>
                <a:latin typeface="Consolas"/>
                <a:ea typeface="맑은 고딕"/>
                <a:cs typeface="맑은 고딕"/>
              </a:rPr>
              <a:t>    {"name": "id",      "type": "string",  "required": true},</a:t>
            </a:r>
          </a:p>
          <a:p>
            <a:pPr algn="l">
              <a:lnSpc>
                <a:spcPct val="110000"/>
              </a:lnSpc>
              <a:spcAft>
                <a:spcPts val="200"/>
              </a:spcAft>
            </a:pPr>
            <a:r>
              <a:rPr sz="1300" b="0">
                <a:solidFill>
                  <a:srgbClr val="E8EEF6"/>
                </a:solidFill>
                <a:latin typeface="Consolas"/>
                <a:ea typeface="맑은 고딕"/>
                <a:cs typeface="맑은 고딕"/>
              </a:rPr>
              <a:t>    {"name": "name",    "type": "string",  "required": true},</a:t>
            </a:r>
          </a:p>
          <a:p>
            <a:pPr algn="l">
              <a:lnSpc>
                <a:spcPct val="110000"/>
              </a:lnSpc>
              <a:spcAft>
                <a:spcPts val="200"/>
              </a:spcAft>
            </a:pPr>
            <a:r>
              <a:rPr sz="1300" b="0">
                <a:solidFill>
                  <a:srgbClr val="E8EEF6"/>
                </a:solidFill>
                <a:latin typeface="Consolas"/>
                <a:ea typeface="맑은 고딕"/>
                <a:cs typeface="맑은 고딕"/>
              </a:rPr>
              <a:t>    {"name": "tag",     "type": "string",  "required": true},</a:t>
            </a:r>
          </a:p>
          <a:p>
            <a:pPr algn="l">
              <a:lnSpc>
                <a:spcPct val="110000"/>
              </a:lnSpc>
              <a:spcAft>
                <a:spcPts val="200"/>
              </a:spcAft>
            </a:pPr>
            <a:r>
              <a:rPr sz="1300" b="0">
                <a:solidFill>
                  <a:srgbClr val="E8EEF6"/>
                </a:solidFill>
                <a:latin typeface="Consolas"/>
                <a:ea typeface="맑은 고딕"/>
                <a:cs typeface="맑은 고딕"/>
              </a:rPr>
              <a:t>    {"name": "unit",    "type": "string"},</a:t>
            </a:r>
          </a:p>
          <a:p>
            <a:pPr algn="l">
              <a:lnSpc>
                <a:spcPct val="110000"/>
              </a:lnSpc>
              <a:spcAft>
                <a:spcPts val="200"/>
              </a:spcAft>
            </a:pPr>
            <a:r>
              <a:rPr sz="1300" b="0">
                <a:solidFill>
                  <a:srgbClr val="E8EEF6"/>
                </a:solidFill>
                <a:latin typeface="Consolas"/>
                <a:ea typeface="맑은 고딕"/>
                <a:cs typeface="맑은 고딕"/>
              </a:rPr>
              <a:t>    {"name": "virtual", "type": "boolean"}</a:t>
            </a:r>
          </a:p>
          <a:p>
            <a:pPr algn="l">
              <a:lnSpc>
                <a:spcPct val="110000"/>
              </a:lnSpc>
              <a:spcAft>
                <a:spcPts val="200"/>
              </a:spcAft>
            </a:pPr>
            <a:r>
              <a:rPr sz="1300" b="0">
                <a:solidFill>
                  <a:srgbClr val="E8EEF6"/>
                </a:solidFill>
                <a:latin typeface="Consolas"/>
                <a:ea typeface="맑은 고딕"/>
                <a:cs typeface="맑은 고딕"/>
              </a:rPr>
              <a:t>  ]</a:t>
            </a:r>
          </a:p>
          <a:p>
            <a:pPr algn="l">
              <a:lnSpc>
                <a:spcPct val="110000"/>
              </a:lnSpc>
              <a:spcAft>
                <a:spcPts val="200"/>
              </a:spcAft>
            </a:pPr>
            <a:r>
              <a:rPr sz="1300" b="0">
                <a:solidFill>
                  <a:srgbClr val="E8EEF6"/>
                </a:solidFill>
                <a:latin typeface="Consolas"/>
                <a:ea typeface="맑은 고딕"/>
                <a:cs typeface="맑은 고딕"/>
              </a:rPr>
              <a:t>}</a:t>
            </a:r>
          </a:p>
        </p:txBody>
      </p:sp>
      <p:sp>
        <p:nvSpPr>
          <p:cNvPr id="8" name="TextBox 7"/>
          <p:cNvSpPr txBox="1"/>
          <p:nvPr/>
        </p:nvSpPr>
        <p:spPr>
          <a:xfrm>
            <a:off x="7635240" y="1882394"/>
            <a:ext cx="4007815" cy="1054481"/>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properties</a:t>
            </a:r>
          </a:p>
          <a:p>
            <a:pPr algn="l">
              <a:lnSpc>
                <a:spcPct val="110000"/>
              </a:lnSpc>
              <a:spcAft>
                <a:spcPts val="400"/>
              </a:spcAft>
            </a:pPr>
            <a:r>
              <a:rPr sz="1400" b="0">
                <a:solidFill>
                  <a:srgbClr val="1F2A3A"/>
                </a:solidFill>
                <a:latin typeface="맑은 고딕"/>
                <a:ea typeface="맑은 고딕"/>
                <a:cs typeface="맑은 고딕"/>
              </a:rPr>
              <a:t>한 줄이 속성 하나이다. 앞에서 그림으로 본 다섯 칸이 여기에 적힌다.</a:t>
            </a:r>
          </a:p>
        </p:txBody>
      </p:sp>
      <p:sp>
        <p:nvSpPr>
          <p:cNvPr id="9" name="TextBox 8"/>
          <p:cNvSpPr txBox="1"/>
          <p:nvPr/>
        </p:nvSpPr>
        <p:spPr>
          <a:xfrm>
            <a:off x="7635240" y="2936875"/>
            <a:ext cx="4007815" cy="1054481"/>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속성명</a:t>
            </a:r>
          </a:p>
          <a:p>
            <a:pPr algn="l">
              <a:lnSpc>
                <a:spcPct val="110000"/>
              </a:lnSpc>
              <a:spcAft>
                <a:spcPts val="400"/>
              </a:spcAft>
            </a:pPr>
            <a:r>
              <a:rPr sz="1400" b="0">
                <a:solidFill>
                  <a:srgbClr val="1F2A3A"/>
                </a:solidFill>
                <a:latin typeface="맑은 고딕"/>
                <a:ea typeface="맑은 고딕"/>
                <a:cs typeface="맑은 고딕"/>
              </a:rPr>
              <a:t>"name": "tag"는 칸의 이름이다.</a:t>
            </a:r>
          </a:p>
        </p:txBody>
      </p:sp>
      <p:sp>
        <p:nvSpPr>
          <p:cNvPr id="10" name="TextBox 9"/>
          <p:cNvSpPr txBox="1"/>
          <p:nvPr/>
        </p:nvSpPr>
        <p:spPr>
          <a:xfrm>
            <a:off x="7635240" y="3991356"/>
            <a:ext cx="4007815" cy="1054481"/>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자료형</a:t>
            </a:r>
          </a:p>
          <a:p>
            <a:pPr algn="l">
              <a:lnSpc>
                <a:spcPct val="110000"/>
              </a:lnSpc>
              <a:spcAft>
                <a:spcPts val="400"/>
              </a:spcAft>
            </a:pPr>
            <a:r>
              <a:rPr sz="1400" b="0">
                <a:solidFill>
                  <a:srgbClr val="1F2A3A"/>
                </a:solidFill>
                <a:latin typeface="맑은 고딕"/>
                <a:ea typeface="맑은 고딕"/>
                <a:cs typeface="맑은 고딕"/>
              </a:rPr>
              <a:t>"type": "string"은 칸에 들어갈 값의 종류이다.</a:t>
            </a:r>
          </a:p>
        </p:txBody>
      </p:sp>
      <p:sp>
        <p:nvSpPr>
          <p:cNvPr id="11" name="TextBox 10"/>
          <p:cNvSpPr txBox="1"/>
          <p:nvPr/>
        </p:nvSpPr>
        <p:spPr>
          <a:xfrm>
            <a:off x="7635240" y="5045837"/>
            <a:ext cx="4007815" cy="1054481"/>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필수 여부</a:t>
            </a:r>
          </a:p>
          <a:p>
            <a:pPr algn="l">
              <a:lnSpc>
                <a:spcPct val="110000"/>
              </a:lnSpc>
              <a:spcAft>
                <a:spcPts val="400"/>
              </a:spcAft>
            </a:pPr>
            <a:r>
              <a:rPr sz="1400" b="0">
                <a:solidFill>
                  <a:srgbClr val="1F2A3A"/>
                </a:solidFill>
                <a:latin typeface="맑은 고딕"/>
                <a:ea typeface="맑은 고딕"/>
                <a:cs typeface="맑은 고딕"/>
              </a:rPr>
              <a:t>"required": true는 값이 반드시 있어야 한다는 표시이다.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식별자와 이름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1">
                <a:solidFill>
                  <a:srgbClr val="1A6FC4"/>
                </a:solidFill>
                <a:latin typeface="맑은 고딕"/>
                <a:ea typeface="맑은 고딕"/>
                <a:cs typeface="맑은 고딕"/>
              </a:rPr>
              <a:t>식별자</a:t>
            </a:r>
            <a:r>
              <a:rPr sz="1600" b="0">
                <a:solidFill>
                  <a:srgbClr val="556175"/>
                </a:solidFill>
                <a:latin typeface="맑은 고딕"/>
                <a:ea typeface="맑은 고딕"/>
                <a:cs typeface="맑은 고딕"/>
              </a:rPr>
              <a:t>는 인스턴스 하나를 가리키는 고유한 값이어서, 이름이 바뀌어도 관계는 그대로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21</a:t>
            </a:r>
          </a:p>
        </p:txBody>
      </p:sp>
      <p:sp>
        <p:nvSpPr>
          <p:cNvPr id="6" name="Rounded Rectangle 5"/>
          <p:cNvSpPr/>
          <p:nvPr/>
        </p:nvSpPr>
        <p:spPr>
          <a:xfrm>
            <a:off x="548640" y="2429509"/>
            <a:ext cx="5181447" cy="3123692"/>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630678"/>
            <a:ext cx="731520" cy="731520"/>
          </a:xfrm>
          <a:prstGeom prst="ellipse">
            <a:avLst/>
          </a:prstGeom>
          <a:solidFill>
            <a:srgbClr val="FFFFFF"/>
          </a:solidFill>
          <a:ln>
            <a:noFill/>
          </a:ln>
        </p:spPr>
        <p:txBody>
          <a:bodyPr rtlCol="0" anchor="ctr"/>
          <a:lstStyle/>
          <a:p>
            <a:pPr algn="ctr"/>
          </a:p>
        </p:txBody>
      </p:sp>
      <p:pic>
        <p:nvPicPr>
          <p:cNvPr id="8" name="아이콘:key" descr="key_13294B_1.6.png"/>
          <p:cNvPicPr>
            <a:picLocks noChangeAspect="1"/>
          </p:cNvPicPr>
          <p:nvPr/>
        </p:nvPicPr>
        <p:blipFill>
          <a:blip r:embed="rId3"/>
          <a:stretch>
            <a:fillRect/>
          </a:stretch>
        </p:blipFill>
        <p:spPr>
          <a:xfrm>
            <a:off x="976579" y="2784297"/>
            <a:ext cx="424281" cy="424281"/>
          </a:xfrm>
          <a:prstGeom prst="rect">
            <a:avLst/>
          </a:prstGeom>
        </p:spPr>
      </p:pic>
      <p:sp>
        <p:nvSpPr>
          <p:cNvPr id="9" name="TextBox 8"/>
          <p:cNvSpPr txBox="1"/>
          <p:nvPr/>
        </p:nvSpPr>
        <p:spPr>
          <a:xfrm>
            <a:off x="1691640"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식별자 id</a:t>
            </a:r>
          </a:p>
        </p:txBody>
      </p:sp>
      <p:sp>
        <p:nvSpPr>
          <p:cNvPr id="10" name="TextBox 9"/>
          <p:cNvSpPr txBox="1"/>
          <p:nvPr/>
        </p:nvSpPr>
        <p:spPr>
          <a:xfrm>
            <a:off x="822959"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인스턴스 하나를 가리키는 고유한 값이다</a:t>
            </a:r>
          </a:p>
          <a:p>
            <a:pPr algn="l">
              <a:lnSpc>
                <a:spcPct val="110000"/>
              </a:lnSpc>
              <a:spcAft>
                <a:spcPts val="600"/>
              </a:spcAft>
            </a:pPr>
            <a:r>
              <a:rPr sz="1450" b="0">
                <a:solidFill>
                  <a:srgbClr val="1F2A3A"/>
                </a:solidFill>
                <a:latin typeface="맑은 고딕"/>
                <a:ea typeface="맑은 고딕"/>
                <a:cs typeface="맑은 고딕"/>
              </a:rPr>
              <a:t>• 같은 값이 둘 있을 수 없다</a:t>
            </a:r>
          </a:p>
          <a:p>
            <a:pPr algn="l">
              <a:lnSpc>
                <a:spcPct val="110000"/>
              </a:lnSpc>
              <a:spcAft>
                <a:spcPts val="600"/>
              </a:spcAft>
            </a:pPr>
            <a:r>
              <a:rPr sz="1450" b="0">
                <a:solidFill>
                  <a:srgbClr val="1F2A3A"/>
                </a:solidFill>
                <a:latin typeface="맑은 고딕"/>
                <a:ea typeface="맑은 고딕"/>
                <a:cs typeface="맑은 고딕"/>
              </a:rPr>
              <a:t>• 한번 정하면 바꾸지 않는다</a:t>
            </a:r>
          </a:p>
          <a:p>
            <a:pPr algn="l">
              <a:lnSpc>
                <a:spcPct val="110000"/>
              </a:lnSpc>
              <a:spcAft>
                <a:spcPts val="600"/>
              </a:spcAft>
            </a:pPr>
            <a:r>
              <a:rPr sz="1450" b="0">
                <a:solidFill>
                  <a:srgbClr val="1F2A3A"/>
                </a:solidFill>
                <a:latin typeface="맑은 고딕"/>
                <a:ea typeface="맑은 고딕"/>
                <a:cs typeface="맑은 고딕"/>
              </a:rPr>
              <a:t>• 예: sen:ts1</a:t>
            </a:r>
          </a:p>
        </p:txBody>
      </p:sp>
      <p:sp>
        <p:nvSpPr>
          <p:cNvPr id="11" name="Rounded Rectangle 10"/>
          <p:cNvSpPr/>
          <p:nvPr/>
        </p:nvSpPr>
        <p:spPr>
          <a:xfrm>
            <a:off x="868680" y="5096002"/>
            <a:ext cx="10210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096002"/>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고유한 값</a:t>
            </a:r>
          </a:p>
        </p:txBody>
      </p:sp>
      <p:sp>
        <p:nvSpPr>
          <p:cNvPr id="13" name="Rounded Rectangle 12"/>
          <p:cNvSpPr/>
          <p:nvPr/>
        </p:nvSpPr>
        <p:spPr>
          <a:xfrm>
            <a:off x="6461607" y="2429509"/>
            <a:ext cx="5181447" cy="3123692"/>
          </a:xfrm>
          <a:prstGeom prst="roundRect">
            <a:avLst>
              <a:gd name="adj" fmla="val 4000"/>
            </a:avLst>
          </a:prstGeom>
          <a:solidFill>
            <a:srgbClr val="F3F6F9"/>
          </a:solidFill>
          <a:ln>
            <a:noFill/>
          </a:ln>
        </p:spPr>
        <p:txBody>
          <a:bodyPr rtlCol="0" anchor="ctr"/>
          <a:lstStyle/>
          <a:p>
            <a:pPr algn="ctr"/>
          </a:p>
        </p:txBody>
      </p:sp>
      <p:sp>
        <p:nvSpPr>
          <p:cNvPr id="14" name="Oval 13"/>
          <p:cNvSpPr/>
          <p:nvPr/>
        </p:nvSpPr>
        <p:spPr>
          <a:xfrm>
            <a:off x="6735927" y="2630678"/>
            <a:ext cx="731520" cy="731520"/>
          </a:xfrm>
          <a:prstGeom prst="ellipse">
            <a:avLst/>
          </a:prstGeom>
          <a:solidFill>
            <a:srgbClr val="FFFFFF"/>
          </a:solidFill>
          <a:ln>
            <a:noFill/>
          </a:ln>
        </p:spPr>
        <p:txBody>
          <a:bodyPr rtlCol="0" anchor="ctr"/>
          <a:lstStyle/>
          <a:p>
            <a:pPr algn="ctr"/>
          </a:p>
        </p:txBody>
      </p:sp>
      <p:pic>
        <p:nvPicPr>
          <p:cNvPr id="15" name="아이콘:tag" descr="tag_13294B_1.6.png"/>
          <p:cNvPicPr>
            <a:picLocks noChangeAspect="1"/>
          </p:cNvPicPr>
          <p:nvPr/>
        </p:nvPicPr>
        <p:blipFill>
          <a:blip r:embed="rId4"/>
          <a:stretch>
            <a:fillRect/>
          </a:stretch>
        </p:blipFill>
        <p:spPr>
          <a:xfrm>
            <a:off x="6889546" y="2784297"/>
            <a:ext cx="424281" cy="424281"/>
          </a:xfrm>
          <a:prstGeom prst="rect">
            <a:avLst/>
          </a:prstGeom>
        </p:spPr>
      </p:pic>
      <p:sp>
        <p:nvSpPr>
          <p:cNvPr id="16" name="TextBox 15"/>
          <p:cNvSpPr txBox="1"/>
          <p:nvPr/>
        </p:nvSpPr>
        <p:spPr>
          <a:xfrm>
            <a:off x="7604607"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이름 name</a:t>
            </a:r>
          </a:p>
        </p:txBody>
      </p:sp>
      <p:sp>
        <p:nvSpPr>
          <p:cNvPr id="17" name="TextBox 16"/>
          <p:cNvSpPr txBox="1"/>
          <p:nvPr/>
        </p:nvSpPr>
        <p:spPr>
          <a:xfrm>
            <a:off x="6735927"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사람이 읽는 말이다</a:t>
            </a:r>
          </a:p>
          <a:p>
            <a:pPr algn="l">
              <a:lnSpc>
                <a:spcPct val="110000"/>
              </a:lnSpc>
              <a:spcAft>
                <a:spcPts val="600"/>
              </a:spcAft>
            </a:pPr>
            <a:r>
              <a:rPr sz="1450" b="0">
                <a:solidFill>
                  <a:srgbClr val="1F2A3A"/>
                </a:solidFill>
                <a:latin typeface="맑은 고딕"/>
                <a:ea typeface="맑은 고딕"/>
                <a:cs typeface="맑은 고딕"/>
              </a:rPr>
              <a:t>• 겹칠 수 있다</a:t>
            </a:r>
          </a:p>
          <a:p>
            <a:pPr algn="l">
              <a:lnSpc>
                <a:spcPct val="110000"/>
              </a:lnSpc>
              <a:spcAft>
                <a:spcPts val="600"/>
              </a:spcAft>
            </a:pPr>
            <a:r>
              <a:rPr sz="1450" b="0">
                <a:solidFill>
                  <a:srgbClr val="1F2A3A"/>
                </a:solidFill>
                <a:latin typeface="맑은 고딕"/>
                <a:ea typeface="맑은 고딕"/>
                <a:cs typeface="맑은 고딕"/>
              </a:rPr>
              <a:t>• 고쳐 쓸 수 있다</a:t>
            </a:r>
          </a:p>
          <a:p>
            <a:pPr algn="l">
              <a:lnSpc>
                <a:spcPct val="110000"/>
              </a:lnSpc>
              <a:spcAft>
                <a:spcPts val="600"/>
              </a:spcAft>
            </a:pPr>
            <a:r>
              <a:rPr sz="1450" b="0">
                <a:solidFill>
                  <a:srgbClr val="1F2A3A"/>
                </a:solidFill>
                <a:latin typeface="맑은 고딕"/>
                <a:ea typeface="맑은 고딕"/>
                <a:cs typeface="맑은 고딕"/>
              </a:rPr>
              <a:t>• 예: 유온 센서</a:t>
            </a:r>
          </a:p>
        </p:txBody>
      </p:sp>
      <p:sp>
        <p:nvSpPr>
          <p:cNvPr id="18" name="Rounded Rectangle 17"/>
          <p:cNvSpPr/>
          <p:nvPr/>
        </p:nvSpPr>
        <p:spPr>
          <a:xfrm>
            <a:off x="6781647" y="5096002"/>
            <a:ext cx="822960" cy="292608"/>
          </a:xfrm>
          <a:prstGeom prst="roundRect">
            <a:avLst>
              <a:gd name="adj" fmla="val 50000"/>
            </a:avLst>
          </a:prstGeom>
          <a:solidFill>
            <a:srgbClr val="D3D9E1"/>
          </a:solidFill>
          <a:ln>
            <a:noFill/>
          </a:ln>
        </p:spPr>
        <p:txBody>
          <a:bodyPr rtlCol="0" anchor="ctr"/>
          <a:lstStyle/>
          <a:p>
            <a:pPr algn="ctr"/>
          </a:p>
        </p:txBody>
      </p:sp>
      <p:sp>
        <p:nvSpPr>
          <p:cNvPr id="19" name="TextBox 18"/>
          <p:cNvSpPr txBox="1"/>
          <p:nvPr/>
        </p:nvSpPr>
        <p:spPr>
          <a:xfrm>
            <a:off x="6781647" y="5096002"/>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표시용</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관계 정의: 이름, 양 끝의 클래스, 카디널리티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관계 정의에는 이름, 시작 클래스와 끝 클래스, 카디널리티를 적으며, 이것이 연결을 검사하는 기준이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22</a:t>
            </a:r>
          </a:p>
        </p:txBody>
      </p:sp>
      <p:sp>
        <p:nvSpPr>
          <p:cNvPr id="6" name="Rounded Rectangle 5"/>
          <p:cNvSpPr/>
          <p:nvPr/>
        </p:nvSpPr>
        <p:spPr>
          <a:xfrm>
            <a:off x="548640" y="2328290"/>
            <a:ext cx="6766560" cy="3326130"/>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465450"/>
            <a:ext cx="6400800" cy="3051810"/>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"type": "OBSERVES",</a:t>
            </a:r>
          </a:p>
          <a:p>
            <a:pPr algn="l">
              <a:lnSpc>
                <a:spcPct val="110000"/>
              </a:lnSpc>
              <a:spcAft>
                <a:spcPts val="200"/>
              </a:spcAft>
            </a:pPr>
            <a:r>
              <a:rPr sz="1300" b="0">
                <a:solidFill>
                  <a:srgbClr val="E8EEF6"/>
                </a:solidFill>
                <a:latin typeface="Consolas"/>
                <a:ea typeface="맑은 고딕"/>
                <a:cs typeface="맑은 고딕"/>
              </a:rPr>
              <a:t>  "from": ["Sensor"],</a:t>
            </a:r>
          </a:p>
          <a:p>
            <a:pPr algn="l">
              <a:lnSpc>
                <a:spcPct val="110000"/>
              </a:lnSpc>
              <a:spcAft>
                <a:spcPts val="200"/>
              </a:spcAft>
            </a:pPr>
            <a:r>
              <a:rPr sz="1300" b="0">
                <a:solidFill>
                  <a:srgbClr val="E8EEF6"/>
                </a:solidFill>
                <a:latin typeface="Consolas"/>
                <a:ea typeface="맑은 고딕"/>
                <a:cs typeface="맑은 고딕"/>
              </a:rPr>
              <a:t>  "to": ["StateVariable"],</a:t>
            </a:r>
          </a:p>
          <a:p>
            <a:pPr algn="l">
              <a:lnSpc>
                <a:spcPct val="110000"/>
              </a:lnSpc>
              <a:spcAft>
                <a:spcPts val="200"/>
              </a:spcAft>
            </a:pPr>
            <a:r>
              <a:rPr sz="1300" b="0">
                <a:solidFill>
                  <a:srgbClr val="E8EEF6"/>
                </a:solidFill>
                <a:latin typeface="Consolas"/>
                <a:ea typeface="맑은 고딕"/>
                <a:cs typeface="맑은 고딕"/>
              </a:rPr>
              <a:t>  "cardinality": "N:1",</a:t>
            </a:r>
          </a:p>
          <a:p>
            <a:pPr algn="l">
              <a:lnSpc>
                <a:spcPct val="110000"/>
              </a:lnSpc>
              <a:spcAft>
                <a:spcPts val="200"/>
              </a:spcAft>
            </a:pPr>
            <a:r>
              <a:rPr sz="1300" b="0">
                <a:solidFill>
                  <a:srgbClr val="E8EEF6"/>
                </a:solidFill>
                <a:latin typeface="Consolas"/>
                <a:ea typeface="맑은 고딕"/>
                <a:cs typeface="맑은 고딕"/>
              </a:rPr>
              <a:t>  "description": "</a:t>
            </a:r>
            <a:r>
              <a:rPr sz="1300" b="0">
                <a:solidFill>
                  <a:srgbClr val="E8EEF6"/>
                </a:solidFill>
                <a:latin typeface="맑은 고딕"/>
                <a:ea typeface="맑은 고딕"/>
                <a:cs typeface="맑은 고딕"/>
              </a:rPr>
              <a:t>센서가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읽는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상태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변수</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a:t>
            </a:r>
          </a:p>
        </p:txBody>
      </p:sp>
      <p:sp>
        <p:nvSpPr>
          <p:cNvPr id="8" name="TextBox 7"/>
          <p:cNvSpPr txBox="1"/>
          <p:nvPr/>
        </p:nvSpPr>
        <p:spPr>
          <a:xfrm>
            <a:off x="7635240" y="2328290"/>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type</a:t>
            </a:r>
          </a:p>
          <a:p>
            <a:pPr algn="l">
              <a:lnSpc>
                <a:spcPct val="110000"/>
              </a:lnSpc>
              <a:spcAft>
                <a:spcPts val="400"/>
              </a:spcAft>
            </a:pPr>
            <a:r>
              <a:rPr sz="1400" b="0">
                <a:solidFill>
                  <a:srgbClr val="1F2A3A"/>
                </a:solidFill>
                <a:latin typeface="맑은 고딕"/>
                <a:ea typeface="맑은 고딕"/>
                <a:cs typeface="맑은 고딕"/>
              </a:rPr>
              <a:t>관계의 이름이다.</a:t>
            </a:r>
          </a:p>
        </p:txBody>
      </p:sp>
      <p:sp>
        <p:nvSpPr>
          <p:cNvPr id="9" name="TextBox 8"/>
          <p:cNvSpPr txBox="1"/>
          <p:nvPr/>
        </p:nvSpPr>
        <p:spPr>
          <a:xfrm>
            <a:off x="7635240" y="343700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from · to</a:t>
            </a:r>
          </a:p>
          <a:p>
            <a:pPr algn="l">
              <a:lnSpc>
                <a:spcPct val="110000"/>
              </a:lnSpc>
              <a:spcAft>
                <a:spcPts val="400"/>
              </a:spcAft>
            </a:pPr>
            <a:r>
              <a:rPr sz="1400" b="0">
                <a:solidFill>
                  <a:srgbClr val="1F2A3A"/>
                </a:solidFill>
                <a:latin typeface="맑은 고딕"/>
                <a:ea typeface="맑은 고딕"/>
                <a:cs typeface="맑은 고딕"/>
              </a:rPr>
              <a:t>시작 클래스와 끝 클래스이다. 화살표는 from에서 to로 향한다.</a:t>
            </a:r>
          </a:p>
        </p:txBody>
      </p:sp>
      <p:sp>
        <p:nvSpPr>
          <p:cNvPr id="10" name="TextBox 9"/>
          <p:cNvSpPr txBox="1"/>
          <p:nvPr/>
        </p:nvSpPr>
        <p:spPr>
          <a:xfrm>
            <a:off x="7635240" y="454571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cardinality</a:t>
            </a:r>
          </a:p>
          <a:p>
            <a:pPr algn="l">
              <a:lnSpc>
                <a:spcPct val="110000"/>
              </a:lnSpc>
              <a:spcAft>
                <a:spcPts val="400"/>
              </a:spcAft>
            </a:pPr>
            <a:r>
              <a:rPr sz="1400" b="0">
                <a:solidFill>
                  <a:srgbClr val="1F2A3A"/>
                </a:solidFill>
                <a:latin typeface="맑은 고딕"/>
                <a:ea typeface="맑은 고딕"/>
                <a:cs typeface="맑은 고딕"/>
              </a:rPr>
              <a:t>카디널리티. 양쪽에 몇 개가 이어질 수 있는가이다. N:1은 센서 여럿이 상태 변수 하나에 이어진다는 뜻이다.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그래프 DB의 노드, 관계, 속성</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그래프 DB에서 인스턴스는 노드, 클래스 이름은 </a:t>
            </a:r>
            <a:r>
              <a:rPr sz="1600" b="1">
                <a:solidFill>
                  <a:srgbClr val="1A6FC4"/>
                </a:solidFill>
                <a:latin typeface="맑은 고딕"/>
                <a:ea typeface="맑은 고딕"/>
                <a:cs typeface="맑은 고딕"/>
              </a:rPr>
              <a:t>레이블</a:t>
            </a:r>
            <a:r>
              <a:rPr sz="1600" b="0">
                <a:solidFill>
                  <a:srgbClr val="556175"/>
                </a:solidFill>
                <a:latin typeface="맑은 고딕"/>
                <a:ea typeface="맑은 고딕"/>
                <a:cs typeface="맑은 고딕"/>
              </a:rPr>
              <a:t>, 관계의 이름은 관계 유형으로 저장된다.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23</a:t>
            </a:r>
          </a:p>
        </p:txBody>
      </p:sp>
      <p:pic>
        <p:nvPicPr>
          <p:cNvPr id="6" name="삽화:속성그래프_3.svg" descr="illust_1142946574976373394_179171724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695647" y="2005827"/>
            <a:ext cx="1745519"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레이블(Label)</a:t>
            </a:r>
          </a:p>
          <a:p>
            <a:pPr algn="ctr">
              <a:lnSpc>
                <a:spcPct val="110000"/>
              </a:lnSpc>
              <a:spcAft>
                <a:spcPts val="100"/>
              </a:spcAft>
            </a:pPr>
            <a:r>
              <a:rPr sz="1300" b="0">
                <a:solidFill>
                  <a:srgbClr val="556175"/>
                </a:solidFill>
                <a:latin typeface="맑은 고딕"/>
                <a:ea typeface="맑은 고딕"/>
                <a:cs typeface="맑은 고딕"/>
              </a:rPr>
              <a:t>노드의 종류를</a:t>
            </a:r>
          </a:p>
          <a:p>
            <a:pPr algn="ctr">
              <a:lnSpc>
                <a:spcPct val="110000"/>
              </a:lnSpc>
              <a:spcAft>
                <a:spcPts val="100"/>
              </a:spcAft>
            </a:pPr>
            <a:r>
              <a:rPr sz="1300" b="0">
                <a:solidFill>
                  <a:srgbClr val="556175"/>
                </a:solidFill>
                <a:latin typeface="맑은 고딕"/>
                <a:ea typeface="맑은 고딕"/>
                <a:cs typeface="맑은 고딕"/>
              </a:rPr>
              <a:t>나타내는 이름표</a:t>
            </a:r>
          </a:p>
        </p:txBody>
      </p:sp>
      <p:sp>
        <p:nvSpPr>
          <p:cNvPr id="8" name="TextBox 7"/>
          <p:cNvSpPr txBox="1"/>
          <p:nvPr/>
        </p:nvSpPr>
        <p:spPr>
          <a:xfrm>
            <a:off x="2822999" y="2128741"/>
            <a:ext cx="163642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:Sensor</a:t>
            </a:r>
          </a:p>
        </p:txBody>
      </p:sp>
      <p:sp>
        <p:nvSpPr>
          <p:cNvPr id="9" name="TextBox 8"/>
          <p:cNvSpPr txBox="1"/>
          <p:nvPr/>
        </p:nvSpPr>
        <p:spPr>
          <a:xfrm>
            <a:off x="7677724" y="2128741"/>
            <a:ext cx="174551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:StateVariable</a:t>
            </a:r>
          </a:p>
        </p:txBody>
      </p:sp>
      <p:sp>
        <p:nvSpPr>
          <p:cNvPr id="10" name="TextBox 9"/>
          <p:cNvSpPr txBox="1"/>
          <p:nvPr/>
        </p:nvSpPr>
        <p:spPr>
          <a:xfrm>
            <a:off x="913837" y="3376787"/>
            <a:ext cx="152732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노드(Node)</a:t>
            </a:r>
          </a:p>
          <a:p>
            <a:pPr algn="ctr">
              <a:lnSpc>
                <a:spcPct val="110000"/>
              </a:lnSpc>
              <a:spcAft>
                <a:spcPts val="100"/>
              </a:spcAft>
            </a:pPr>
            <a:r>
              <a:rPr sz="1300" b="0">
                <a:solidFill>
                  <a:srgbClr val="556175"/>
                </a:solidFill>
                <a:latin typeface="맑은 고딕"/>
                <a:ea typeface="맑은 고딕"/>
                <a:cs typeface="맑은 고딕"/>
              </a:rPr>
              <a:t>대상 하나</a:t>
            </a:r>
          </a:p>
        </p:txBody>
      </p:sp>
      <p:sp>
        <p:nvSpPr>
          <p:cNvPr id="11" name="TextBox 10"/>
          <p:cNvSpPr txBox="1"/>
          <p:nvPr/>
        </p:nvSpPr>
        <p:spPr>
          <a:xfrm>
            <a:off x="4677613" y="2289474"/>
            <a:ext cx="2836468"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관계 유형</a:t>
            </a:r>
          </a:p>
          <a:p>
            <a:pPr algn="ctr">
              <a:lnSpc>
                <a:spcPct val="110000"/>
              </a:lnSpc>
              <a:spcAft>
                <a:spcPts val="100"/>
              </a:spcAft>
            </a:pPr>
            <a:r>
              <a:rPr sz="1300" b="0">
                <a:solidFill>
                  <a:srgbClr val="556175"/>
                </a:solidFill>
                <a:latin typeface="맑은 고딕"/>
                <a:ea typeface="맑은 고딕"/>
                <a:cs typeface="맑은 고딕"/>
              </a:rPr>
              <a:t>Relationship Type</a:t>
            </a:r>
          </a:p>
          <a:p>
            <a:pPr algn="ctr">
              <a:lnSpc>
                <a:spcPct val="110000"/>
              </a:lnSpc>
              <a:spcAft>
                <a:spcPts val="100"/>
              </a:spcAft>
            </a:pPr>
            <a:r>
              <a:rPr sz="1300" b="0">
                <a:solidFill>
                  <a:srgbClr val="556175"/>
                </a:solidFill>
                <a:latin typeface="맑은 고딕"/>
                <a:ea typeface="맑은 고딕"/>
                <a:cs typeface="맑은 고딕"/>
              </a:rPr>
              <a:t>관계에 붙는 이름</a:t>
            </a:r>
          </a:p>
        </p:txBody>
      </p:sp>
      <p:sp>
        <p:nvSpPr>
          <p:cNvPr id="12" name="TextBox 11"/>
          <p:cNvSpPr txBox="1"/>
          <p:nvPr/>
        </p:nvSpPr>
        <p:spPr>
          <a:xfrm>
            <a:off x="5332182" y="3405152"/>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:OBSERVES</a:t>
            </a:r>
          </a:p>
        </p:txBody>
      </p:sp>
      <p:sp>
        <p:nvSpPr>
          <p:cNvPr id="13" name="TextBox 12"/>
          <p:cNvSpPr txBox="1"/>
          <p:nvPr/>
        </p:nvSpPr>
        <p:spPr>
          <a:xfrm>
            <a:off x="2332071" y="4747747"/>
            <a:ext cx="2618278" cy="980185"/>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속성(Property)</a:t>
            </a:r>
          </a:p>
          <a:p>
            <a:pPr algn="ctr">
              <a:lnSpc>
                <a:spcPct val="110000"/>
              </a:lnSpc>
              <a:spcAft>
                <a:spcPts val="100"/>
              </a:spcAft>
            </a:pPr>
            <a:r>
              <a:rPr sz="1300" b="0">
                <a:solidFill>
                  <a:srgbClr val="556175"/>
                </a:solidFill>
                <a:latin typeface="맑은 고딕"/>
                <a:ea typeface="맑은 고딕"/>
                <a:cs typeface="맑은 고딕"/>
              </a:rPr>
              <a:t>id: sen:ts1</a:t>
            </a:r>
          </a:p>
          <a:p>
            <a:pPr algn="ctr">
              <a:lnSpc>
                <a:spcPct val="110000"/>
              </a:lnSpc>
              <a:spcAft>
                <a:spcPts val="100"/>
              </a:spcAft>
            </a:pPr>
            <a:r>
              <a:rPr sz="1300" b="0">
                <a:solidFill>
                  <a:srgbClr val="556175"/>
                </a:solidFill>
                <a:latin typeface="맑은 고딕"/>
                <a:ea typeface="맑은 고딕"/>
                <a:cs typeface="맑은 고딕"/>
              </a:rPr>
              <a:t>name: 유온 센서</a:t>
            </a:r>
          </a:p>
          <a:p>
            <a:pPr algn="ctr">
              <a:lnSpc>
                <a:spcPct val="110000"/>
              </a:lnSpc>
              <a:spcAft>
                <a:spcPts val="100"/>
              </a:spcAft>
            </a:pPr>
            <a:r>
              <a:rPr sz="1300" b="0">
                <a:solidFill>
                  <a:srgbClr val="556175"/>
                </a:solidFill>
                <a:latin typeface="맑은 고딕"/>
                <a:ea typeface="맑은 고딕"/>
                <a:cs typeface="맑은 고딕"/>
              </a:rPr>
              <a:t>tag: TS1</a:t>
            </a:r>
          </a:p>
        </p:txBody>
      </p:sp>
      <p:sp>
        <p:nvSpPr>
          <p:cNvPr id="14" name="TextBox 13"/>
          <p:cNvSpPr txBox="1"/>
          <p:nvPr/>
        </p:nvSpPr>
        <p:spPr>
          <a:xfrm>
            <a:off x="7241344" y="4747747"/>
            <a:ext cx="2618278" cy="980185"/>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속성(Property)</a:t>
            </a:r>
          </a:p>
          <a:p>
            <a:pPr algn="ctr">
              <a:lnSpc>
                <a:spcPct val="110000"/>
              </a:lnSpc>
              <a:spcAft>
                <a:spcPts val="100"/>
              </a:spcAft>
            </a:pPr>
            <a:r>
              <a:rPr sz="1300" b="0">
                <a:solidFill>
                  <a:srgbClr val="556175"/>
                </a:solidFill>
                <a:latin typeface="맑은 고딕"/>
                <a:ea typeface="맑은 고딕"/>
                <a:cs typeface="맑은 고딕"/>
              </a:rPr>
              <a:t>id: sv:ts1</a:t>
            </a:r>
          </a:p>
          <a:p>
            <a:pPr algn="ctr">
              <a:lnSpc>
                <a:spcPct val="110000"/>
              </a:lnSpc>
              <a:spcAft>
                <a:spcPts val="100"/>
              </a:spcAft>
            </a:pPr>
            <a:r>
              <a:rPr sz="1300" b="0">
                <a:solidFill>
                  <a:srgbClr val="556175"/>
                </a:solidFill>
                <a:latin typeface="맑은 고딕"/>
                <a:ea typeface="맑은 고딕"/>
                <a:cs typeface="맑은 고딕"/>
              </a:rPr>
              <a:t>name: 유온</a:t>
            </a:r>
          </a:p>
          <a:p>
            <a:pPr algn="ctr">
              <a:lnSpc>
                <a:spcPct val="110000"/>
              </a:lnSpc>
              <a:spcAft>
                <a:spcPts val="100"/>
              </a:spcAft>
            </a:pPr>
            <a:r>
              <a:rPr sz="1300" b="0">
                <a:solidFill>
                  <a:srgbClr val="556175"/>
                </a:solidFill>
                <a:latin typeface="맑은 고딕"/>
                <a:ea typeface="맑은 고딕"/>
                <a:cs typeface="맑은 고딕"/>
              </a:rPr>
              <a:t>normal: 48 · limit: 65</a:t>
            </a:r>
          </a:p>
        </p:txBody>
      </p:sp>
      <p:sp>
        <p:nvSpPr>
          <p:cNvPr id="15" name="TextBox 14"/>
          <p:cNvSpPr txBox="1"/>
          <p:nvPr/>
        </p:nvSpPr>
        <p:spPr>
          <a:xfrm>
            <a:off x="5004898" y="4085904"/>
            <a:ext cx="2181899"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관계의 속성</a:t>
            </a:r>
          </a:p>
          <a:p>
            <a:pPr algn="ctr">
              <a:lnSpc>
                <a:spcPct val="110000"/>
              </a:lnSpc>
              <a:spcAft>
                <a:spcPts val="100"/>
              </a:spcAft>
            </a:pPr>
            <a:r>
              <a:rPr sz="1300" b="0">
                <a:solidFill>
                  <a:srgbClr val="556175"/>
                </a:solidFill>
                <a:latin typeface="맑은 고딕"/>
                <a:ea typeface="맑은 고딕"/>
                <a:cs typeface="맑은 고딕"/>
              </a:rPr>
              <a:t>관계에도 속성을</a:t>
            </a:r>
          </a:p>
          <a:p>
            <a:pPr algn="ctr">
              <a:lnSpc>
                <a:spcPct val="110000"/>
              </a:lnSpc>
              <a:spcAft>
                <a:spcPts val="100"/>
              </a:spcAft>
            </a:pPr>
            <a:r>
              <a:rPr sz="1300" b="0">
                <a:solidFill>
                  <a:srgbClr val="556175"/>
                </a:solidFill>
                <a:latin typeface="맑은 고딕"/>
                <a:ea typeface="맑은 고딕"/>
                <a:cs typeface="맑은 고딕"/>
              </a:rPr>
              <a:t>붙일 수 있다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Cypher와 Neo4j Browser</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Neo4j의 그래프는 </a:t>
            </a:r>
            <a:r>
              <a:rPr sz="1600" b="1">
                <a:solidFill>
                  <a:srgbClr val="1A6FC4"/>
                </a:solidFill>
                <a:latin typeface="맑은 고딕"/>
                <a:ea typeface="맑은 고딕"/>
                <a:cs typeface="맑은 고딕"/>
              </a:rPr>
              <a:t>Cypher</a:t>
            </a:r>
            <a:r>
              <a:rPr sz="1600" b="0">
                <a:solidFill>
                  <a:srgbClr val="556175"/>
                </a:solidFill>
                <a:latin typeface="맑은 고딕"/>
                <a:ea typeface="맑은 고딕"/>
                <a:cs typeface="맑은 고딕"/>
              </a:rPr>
              <a:t>라는 질의 언어로 조회하고 만들며, Neo4j Browser가 그 질의를 실행하는 화면이다.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24</a:t>
            </a:r>
          </a:p>
        </p:txBody>
      </p:sp>
      <p:sp>
        <p:nvSpPr>
          <p:cNvPr id="6" name="TextBox 5"/>
          <p:cNvSpPr txBox="1"/>
          <p:nvPr/>
        </p:nvSpPr>
        <p:spPr>
          <a:xfrm>
            <a:off x="640080" y="19339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질의(Query)</a:t>
            </a:r>
          </a:p>
          <a:p>
            <a:pPr algn="l">
              <a:lnSpc>
                <a:spcPct val="110000"/>
              </a:lnSpc>
              <a:spcAft>
                <a:spcPts val="200"/>
              </a:spcAft>
            </a:pPr>
            <a:r>
              <a:rPr sz="1150" b="0">
                <a:solidFill>
                  <a:srgbClr val="556175"/>
                </a:solidFill>
                <a:latin typeface="맑은 고딕"/>
                <a:ea typeface="맑은 고딕"/>
                <a:cs typeface="맑은 고딕"/>
              </a:rPr>
              <a:t>요청</a:t>
            </a:r>
          </a:p>
        </p:txBody>
      </p:sp>
      <p:sp>
        <p:nvSpPr>
          <p:cNvPr id="7" name="TextBox 6"/>
          <p:cNvSpPr txBox="1"/>
          <p:nvPr/>
        </p:nvSpPr>
        <p:spPr>
          <a:xfrm>
            <a:off x="4023359" y="19339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데이터베이스에 보내는 요청 한 건이다. 무엇을 찾을지 또는 무엇을 만들지를 적는다.</a:t>
            </a:r>
          </a:p>
        </p:txBody>
      </p:sp>
      <p:sp>
        <p:nvSpPr>
          <p:cNvPr id="8" name="Rectangle 7"/>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9" name="Rounded Rectangle 8"/>
          <p:cNvSpPr/>
          <p:nvPr/>
        </p:nvSpPr>
        <p:spPr>
          <a:xfrm>
            <a:off x="548640" y="3332988"/>
            <a:ext cx="11094415" cy="1316736"/>
          </a:xfrm>
          <a:prstGeom prst="roundRect">
            <a:avLst>
              <a:gd name="adj" fmla="val 6000"/>
            </a:avLst>
          </a:prstGeom>
          <a:solidFill>
            <a:srgbClr val="E7F3FD"/>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Cypher</a:t>
            </a:r>
          </a:p>
          <a:p>
            <a:pPr algn="l">
              <a:lnSpc>
                <a:spcPct val="110000"/>
              </a:lnSpc>
              <a:spcAft>
                <a:spcPts val="200"/>
              </a:spcAft>
            </a:pPr>
            <a:r>
              <a:rPr sz="1150" b="0">
                <a:solidFill>
                  <a:srgbClr val="556175"/>
                </a:solidFill>
                <a:latin typeface="맑은 고딕"/>
                <a:ea typeface="맑은 고딕"/>
                <a:cs typeface="맑은 고딕"/>
              </a:rPr>
              <a:t>질의 언어</a:t>
            </a:r>
          </a:p>
        </p:txBody>
      </p:sp>
      <p:sp>
        <p:nvSpPr>
          <p:cNvPr id="11" name="TextBox 10"/>
          <p:cNvSpPr txBox="1"/>
          <p:nvPr/>
        </p:nvSpPr>
        <p:spPr>
          <a:xfrm>
            <a:off x="4023359" y="33055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Neo4j의 질의 언어이다. 찾으려는 노드와 관계의 모양을 글자로 그려서 적는다.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Neo4j Browser</a:t>
            </a:r>
          </a:p>
          <a:p>
            <a:pPr algn="l">
              <a:lnSpc>
                <a:spcPct val="110000"/>
              </a:lnSpc>
              <a:spcAft>
                <a:spcPts val="200"/>
              </a:spcAft>
            </a:pPr>
            <a:r>
              <a:rPr sz="1150" b="0">
                <a:solidFill>
                  <a:srgbClr val="556175"/>
                </a:solidFill>
                <a:latin typeface="맑은 고딕"/>
                <a:ea typeface="맑은 고딕"/>
                <a:cs typeface="맑은 고딕"/>
              </a:rPr>
              <a:t>질의 실행 화면</a:t>
            </a:r>
          </a:p>
        </p:txBody>
      </p:sp>
      <p:sp>
        <p:nvSpPr>
          <p:cNvPr id="14" name="TextBox 13"/>
          <p:cNvSpPr txBox="1"/>
          <p:nvPr/>
        </p:nvSpPr>
        <p:spPr>
          <a:xfrm>
            <a:off x="4023359" y="46771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Neo4j에 딸린 웹 화면이다. Cypher를 입력해 실행하고 결과를 그래프와 표로 본다.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MATCH와 RETURN: 찾을 모양과 돌려받을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MATCH에는 찾을 모양을, RETURN에는 돌려받을 것을 적으며, 모양에 맞는 것마다 한 행이 나온다.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25</a:t>
            </a:r>
          </a:p>
        </p:txBody>
      </p:sp>
      <p:sp>
        <p:nvSpPr>
          <p:cNvPr id="6" name="Rounded Rectangle 5"/>
          <p:cNvSpPr/>
          <p:nvPr/>
        </p:nvSpPr>
        <p:spPr>
          <a:xfrm>
            <a:off x="548640" y="2328290"/>
            <a:ext cx="6766560" cy="3326130"/>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465450"/>
            <a:ext cx="6400800" cy="3051810"/>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MATCH (c:Component {name: '</a:t>
            </a:r>
            <a:r>
              <a:rPr sz="1300" b="0">
                <a:solidFill>
                  <a:srgbClr val="E8EEF6"/>
                </a:solidFill>
                <a:latin typeface="맑은 고딕"/>
                <a:ea typeface="맑은 고딕"/>
                <a:cs typeface="맑은 고딕"/>
              </a:rPr>
              <a:t>오일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-[:MONITORED_BY]-&gt;(s:Sensor)</a:t>
            </a:r>
          </a:p>
          <a:p>
            <a:pPr algn="l">
              <a:lnSpc>
                <a:spcPct val="110000"/>
              </a:lnSpc>
              <a:spcAft>
                <a:spcPts val="200"/>
              </a:spcAft>
            </a:pPr>
            <a:r>
              <a:rPr sz="1300" b="0">
                <a:solidFill>
                  <a:srgbClr val="E8EEF6"/>
                </a:solidFill>
                <a:latin typeface="Consolas"/>
                <a:ea typeface="맑은 고딕"/>
                <a:cs typeface="맑은 고딕"/>
              </a:rPr>
              <a:t>RETURN c.name, s.tag</a:t>
            </a:r>
          </a:p>
          <a:p>
            <a:pPr algn="l">
              <a:lnSpc>
                <a:spcPct val="110000"/>
              </a:lnSpc>
              <a:spcAft>
                <a:spcPts val="200"/>
              </a:spcAft>
            </a:pPr>
          </a:p>
          <a:p>
            <a:pPr algn="l">
              <a:lnSpc>
                <a:spcPct val="110000"/>
              </a:lnSpc>
              <a:spcAft>
                <a:spcPts val="200"/>
              </a:spcAft>
            </a:pP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결과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오일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"TS1"</a:t>
            </a:r>
          </a:p>
          <a:p>
            <a:pPr algn="l">
              <a:lnSpc>
                <a:spcPct val="110000"/>
              </a:lnSpc>
              <a:spcAft>
                <a:spcPts val="200"/>
              </a:spcAft>
            </a:pP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오일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"CE"</a:t>
            </a:r>
          </a:p>
        </p:txBody>
      </p:sp>
      <p:sp>
        <p:nvSpPr>
          <p:cNvPr id="8" name="TextBox 7"/>
          <p:cNvSpPr txBox="1"/>
          <p:nvPr/>
        </p:nvSpPr>
        <p:spPr>
          <a:xfrm>
            <a:off x="7635240" y="2328290"/>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MATCH</a:t>
            </a:r>
          </a:p>
          <a:p>
            <a:pPr algn="l">
              <a:lnSpc>
                <a:spcPct val="110000"/>
              </a:lnSpc>
              <a:spcAft>
                <a:spcPts val="400"/>
              </a:spcAft>
            </a:pPr>
            <a:r>
              <a:rPr sz="1400" b="0">
                <a:solidFill>
                  <a:srgbClr val="1F2A3A"/>
                </a:solidFill>
                <a:latin typeface="맑은 고딕"/>
                <a:ea typeface="맑은 고딕"/>
                <a:cs typeface="맑은 고딕"/>
              </a:rPr>
              <a:t>찾을 모양을 적는 자리이다. 이름이 오일 쿨러인 구성 요소에서 MONITORED_BY로 이어진 센서를 찾는다.</a:t>
            </a:r>
          </a:p>
        </p:txBody>
      </p:sp>
      <p:sp>
        <p:nvSpPr>
          <p:cNvPr id="9" name="TextBox 8"/>
          <p:cNvSpPr txBox="1"/>
          <p:nvPr/>
        </p:nvSpPr>
        <p:spPr>
          <a:xfrm>
            <a:off x="7635240" y="343700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RETURN</a:t>
            </a:r>
          </a:p>
          <a:p>
            <a:pPr algn="l">
              <a:lnSpc>
                <a:spcPct val="110000"/>
              </a:lnSpc>
              <a:spcAft>
                <a:spcPts val="400"/>
              </a:spcAft>
            </a:pPr>
            <a:r>
              <a:rPr sz="1400" b="0">
                <a:solidFill>
                  <a:srgbClr val="1F2A3A"/>
                </a:solidFill>
                <a:latin typeface="맑은 고딕"/>
                <a:ea typeface="맑은 고딕"/>
                <a:cs typeface="맑은 고딕"/>
              </a:rPr>
              <a:t>돌려받을 것을 적는 자리이다. c.name, s.tag는 찾은 구성 요소의 이름과 센서의 태그이다.</a:t>
            </a:r>
          </a:p>
        </p:txBody>
      </p:sp>
      <p:sp>
        <p:nvSpPr>
          <p:cNvPr id="10" name="TextBox 9"/>
          <p:cNvSpPr txBox="1"/>
          <p:nvPr/>
        </p:nvSpPr>
        <p:spPr>
          <a:xfrm>
            <a:off x="7635240" y="454571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결과</a:t>
            </a:r>
          </a:p>
          <a:p>
            <a:pPr algn="l">
              <a:lnSpc>
                <a:spcPct val="110000"/>
              </a:lnSpc>
              <a:spcAft>
                <a:spcPts val="400"/>
              </a:spcAft>
            </a:pPr>
            <a:r>
              <a:rPr sz="1400" b="0">
                <a:solidFill>
                  <a:srgbClr val="1F2A3A"/>
                </a:solidFill>
                <a:latin typeface="맑은 고딕"/>
                <a:ea typeface="맑은 고딕"/>
                <a:cs typeface="맑은 고딕"/>
              </a:rPr>
              <a:t>모양에 맞는 것이 둘이므로 두 행이 나온다.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WHERE: 조건으로 결과를 거른다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WHERE에 조건을 적으면 MATCH가 찾은 것 가운데 그 조건에 맞는 것만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26</a:t>
            </a:r>
          </a:p>
        </p:txBody>
      </p:sp>
      <p:sp>
        <p:nvSpPr>
          <p:cNvPr id="6" name="Rounded Rectangle 5"/>
          <p:cNvSpPr/>
          <p:nvPr/>
        </p:nvSpPr>
        <p:spPr>
          <a:xfrm>
            <a:off x="548640" y="2436749"/>
            <a:ext cx="6766560" cy="3109213"/>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573909"/>
            <a:ext cx="6400800" cy="2834893"/>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MATCH (s:Sensor)-[:OBSERVES]-&gt;(v:StateVariable)</a:t>
            </a:r>
          </a:p>
          <a:p>
            <a:pPr algn="l">
              <a:lnSpc>
                <a:spcPct val="110000"/>
              </a:lnSpc>
              <a:spcAft>
                <a:spcPts val="200"/>
              </a:spcAft>
            </a:pPr>
            <a:r>
              <a:rPr sz="1300" b="0">
                <a:solidFill>
                  <a:srgbClr val="E8EEF6"/>
                </a:solidFill>
                <a:latin typeface="Consolas"/>
                <a:ea typeface="맑은 고딕"/>
                <a:cs typeface="맑은 고딕"/>
              </a:rPr>
              <a:t>WHERE v.limit IS NOT NULL</a:t>
            </a:r>
          </a:p>
          <a:p>
            <a:pPr algn="l">
              <a:lnSpc>
                <a:spcPct val="110000"/>
              </a:lnSpc>
              <a:spcAft>
                <a:spcPts val="200"/>
              </a:spcAft>
            </a:pPr>
            <a:r>
              <a:rPr sz="1300" b="0">
                <a:solidFill>
                  <a:srgbClr val="E8EEF6"/>
                </a:solidFill>
                <a:latin typeface="Consolas"/>
                <a:ea typeface="맑은 고딕"/>
                <a:cs typeface="맑은 고딕"/>
              </a:rPr>
              <a:t>RETURN s.tag, v.name, v.limit</a:t>
            </a:r>
          </a:p>
          <a:p>
            <a:pPr algn="l">
              <a:lnSpc>
                <a:spcPct val="110000"/>
              </a:lnSpc>
              <a:spcAft>
                <a:spcPts val="200"/>
              </a:spcAft>
            </a:pPr>
          </a:p>
          <a:p>
            <a:pPr algn="l">
              <a:lnSpc>
                <a:spcPct val="110000"/>
              </a:lnSpc>
              <a:spcAft>
                <a:spcPts val="200"/>
              </a:spcAft>
            </a:pP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결과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"PS1"  "</a:t>
            </a:r>
            <a:r>
              <a:rPr sz="1300" b="0">
                <a:solidFill>
                  <a:srgbClr val="E8EEF6"/>
                </a:solidFill>
                <a:latin typeface="맑은 고딕"/>
                <a:ea typeface="맑은 고딕"/>
                <a:cs typeface="맑은 고딕"/>
              </a:rPr>
              <a:t>토출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압력</a:t>
            </a:r>
            <a:r>
              <a:rPr sz="1300" b="0">
                <a:solidFill>
                  <a:srgbClr val="E8EEF6"/>
                </a:solidFill>
                <a:latin typeface="Consolas"/>
                <a:ea typeface="맑은 고딕"/>
                <a:cs typeface="맑은 고딕"/>
              </a:rPr>
              <a:t>"   130</a:t>
            </a:r>
          </a:p>
          <a:p>
            <a:pPr algn="l">
              <a:lnSpc>
                <a:spcPct val="110000"/>
              </a:lnSpc>
              <a:spcAft>
                <a:spcPts val="200"/>
              </a:spcAft>
            </a:pPr>
            <a:r>
              <a:rPr sz="1300" b="0">
                <a:solidFill>
                  <a:srgbClr val="E8EEF6"/>
                </a:solidFill>
                <a:latin typeface="Consolas"/>
                <a:ea typeface="맑은 고딕"/>
                <a:cs typeface="맑은 고딕"/>
              </a:rPr>
              <a:t>"TS1"  "</a:t>
            </a:r>
            <a:r>
              <a:rPr sz="1300" b="0">
                <a:solidFill>
                  <a:srgbClr val="E8EEF6"/>
                </a:solidFill>
                <a:latin typeface="맑은 고딕"/>
                <a:ea typeface="맑은 고딕"/>
                <a:cs typeface="맑은 고딕"/>
              </a:rPr>
              <a:t>유온</a:t>
            </a:r>
            <a:r>
              <a:rPr sz="1300" b="0">
                <a:solidFill>
                  <a:srgbClr val="E8EEF6"/>
                </a:solidFill>
                <a:latin typeface="Consolas"/>
                <a:ea typeface="맑은 고딕"/>
                <a:cs typeface="맑은 고딕"/>
              </a:rPr>
              <a:t>"        65</a:t>
            </a:r>
          </a:p>
          <a:p>
            <a:pPr algn="l">
              <a:lnSpc>
                <a:spcPct val="110000"/>
              </a:lnSpc>
              <a:spcAft>
                <a:spcPts val="200"/>
              </a:spcAft>
            </a:pPr>
            <a:r>
              <a:rPr sz="1300" b="0">
                <a:solidFill>
                  <a:srgbClr val="E8EEF6"/>
                </a:solidFill>
                <a:latin typeface="Consolas"/>
                <a:ea typeface="맑은 고딕"/>
                <a:cs typeface="맑은 고딕"/>
              </a:rPr>
              <a:t>"VS1"  "</a:t>
            </a:r>
            <a:r>
              <a:rPr sz="1300" b="0">
                <a:solidFill>
                  <a:srgbClr val="E8EEF6"/>
                </a:solidFill>
                <a:latin typeface="맑은 고딕"/>
                <a:ea typeface="맑은 고딕"/>
                <a:cs typeface="맑은 고딕"/>
              </a:rPr>
              <a:t>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진동</a:t>
            </a:r>
            <a:r>
              <a:rPr sz="1300" b="0">
                <a:solidFill>
                  <a:srgbClr val="E8EEF6"/>
                </a:solidFill>
                <a:latin typeface="Consolas"/>
                <a:ea typeface="맑은 고딕"/>
                <a:cs typeface="맑은 고딕"/>
              </a:rPr>
              <a:t>"     2.0</a:t>
            </a:r>
          </a:p>
        </p:txBody>
      </p:sp>
      <p:sp>
        <p:nvSpPr>
          <p:cNvPr id="8" name="TextBox 7"/>
          <p:cNvSpPr txBox="1"/>
          <p:nvPr/>
        </p:nvSpPr>
        <p:spPr>
          <a:xfrm>
            <a:off x="7635240" y="2436749"/>
            <a:ext cx="4007815" cy="1036404"/>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WHERE</a:t>
            </a:r>
          </a:p>
          <a:p>
            <a:pPr algn="l">
              <a:lnSpc>
                <a:spcPct val="110000"/>
              </a:lnSpc>
              <a:spcAft>
                <a:spcPts val="400"/>
              </a:spcAft>
            </a:pPr>
            <a:r>
              <a:rPr sz="1400" b="0">
                <a:solidFill>
                  <a:srgbClr val="1F2A3A"/>
                </a:solidFill>
                <a:latin typeface="맑은 고딕"/>
                <a:ea typeface="맑은 고딕"/>
                <a:cs typeface="맑은 고딕"/>
              </a:rPr>
              <a:t>MATCH와 RETURN 사이에 조건을 적는다.</a:t>
            </a:r>
          </a:p>
        </p:txBody>
      </p:sp>
      <p:sp>
        <p:nvSpPr>
          <p:cNvPr id="9" name="TextBox 8"/>
          <p:cNvSpPr txBox="1"/>
          <p:nvPr/>
        </p:nvSpPr>
        <p:spPr>
          <a:xfrm>
            <a:off x="7635240" y="3473153"/>
            <a:ext cx="4007815" cy="1036404"/>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IS NOT NULL</a:t>
            </a:r>
          </a:p>
          <a:p>
            <a:pPr algn="l">
              <a:lnSpc>
                <a:spcPct val="110000"/>
              </a:lnSpc>
              <a:spcAft>
                <a:spcPts val="400"/>
              </a:spcAft>
            </a:pPr>
            <a:r>
              <a:rPr sz="1400" b="0">
                <a:solidFill>
                  <a:srgbClr val="1F2A3A"/>
                </a:solidFill>
                <a:latin typeface="맑은 고딕"/>
                <a:ea typeface="맑은 고딕"/>
                <a:cs typeface="맑은 고딕"/>
              </a:rPr>
              <a:t>값이 있는 것만 남긴다. 한계가 정해진 상태 변수 셋이 남는다.</a:t>
            </a:r>
          </a:p>
        </p:txBody>
      </p:sp>
      <p:sp>
        <p:nvSpPr>
          <p:cNvPr id="10" name="TextBox 9"/>
          <p:cNvSpPr txBox="1"/>
          <p:nvPr/>
        </p:nvSpPr>
        <p:spPr>
          <a:xfrm>
            <a:off x="7635240" y="4509558"/>
            <a:ext cx="4007815" cy="1036404"/>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크기 비교</a:t>
            </a:r>
          </a:p>
          <a:p>
            <a:pPr algn="l">
              <a:lnSpc>
                <a:spcPct val="110000"/>
              </a:lnSpc>
              <a:spcAft>
                <a:spcPts val="400"/>
              </a:spcAft>
            </a:pPr>
            <a:r>
              <a:rPr sz="1400" b="0">
                <a:solidFill>
                  <a:srgbClr val="1F2A3A"/>
                </a:solidFill>
                <a:latin typeface="맑은 고딕"/>
                <a:ea typeface="맑은 고딕"/>
                <a:cs typeface="맑은 고딕"/>
              </a:rPr>
              <a:t>v.limit &gt; 100처럼 쓸 수도 있다. limit의 자료형이 수이기 때문이다.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경보에서 원인까지: 화살표를 따라가고 거슬러 가는 모양</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CAUSES처럼 거슬러 가야 하는 관계는 화살표를 반대로 적어, 경보에서 원인까지를 질의 하나로 잇는다.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27</a:t>
            </a:r>
          </a:p>
        </p:txBody>
      </p:sp>
      <p:pic>
        <p:nvPicPr>
          <p:cNvPr id="6" name="삽화:경로질의_2.svg" descr="illust_658344879042556039_179171724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37471" y="3660434"/>
            <a:ext cx="1963709"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이상 패턴</a:t>
            </a:r>
          </a:p>
          <a:p>
            <a:pPr algn="ctr">
              <a:lnSpc>
                <a:spcPct val="110000"/>
              </a:lnSpc>
              <a:spcAft>
                <a:spcPts val="100"/>
              </a:spcAft>
            </a:pPr>
            <a:r>
              <a:rPr sz="1300" b="0">
                <a:solidFill>
                  <a:srgbClr val="556175"/>
                </a:solidFill>
                <a:latin typeface="맑은 고딕"/>
                <a:ea typeface="맑은 고딕"/>
                <a:cs typeface="맑은 고딕"/>
              </a:rPr>
              <a:t>경보에 실려 오는 이름</a:t>
            </a:r>
          </a:p>
          <a:p>
            <a:pPr algn="ctr">
              <a:lnSpc>
                <a:spcPct val="110000"/>
              </a:lnSpc>
              <a:spcAft>
                <a:spcPts val="100"/>
              </a:spcAft>
            </a:pPr>
            <a:r>
              <a:rPr sz="1300" b="0">
                <a:solidFill>
                  <a:srgbClr val="556175"/>
                </a:solidFill>
                <a:latin typeface="맑은 고딕"/>
                <a:ea typeface="맑은 고딕"/>
                <a:cs typeface="맑은 고딕"/>
              </a:rPr>
              <a:t>쿨러 성능 저하</a:t>
            </a:r>
          </a:p>
        </p:txBody>
      </p:sp>
      <p:sp>
        <p:nvSpPr>
          <p:cNvPr id="8" name="TextBox 7"/>
          <p:cNvSpPr txBox="1"/>
          <p:nvPr/>
        </p:nvSpPr>
        <p:spPr>
          <a:xfrm>
            <a:off x="2462985" y="2762219"/>
            <a:ext cx="1090949" cy="375920"/>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DETECTS</a:t>
            </a:r>
          </a:p>
        </p:txBody>
      </p:sp>
      <p:sp>
        <p:nvSpPr>
          <p:cNvPr id="9" name="TextBox 8"/>
          <p:cNvSpPr txBox="1"/>
          <p:nvPr/>
        </p:nvSpPr>
        <p:spPr>
          <a:xfrm>
            <a:off x="3313926" y="3660434"/>
            <a:ext cx="174551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증상</a:t>
            </a:r>
          </a:p>
          <a:p>
            <a:pPr algn="ctr">
              <a:lnSpc>
                <a:spcPct val="110000"/>
              </a:lnSpc>
              <a:spcAft>
                <a:spcPts val="100"/>
              </a:spcAft>
            </a:pPr>
            <a:r>
              <a:rPr sz="1300" b="0">
                <a:solidFill>
                  <a:srgbClr val="556175"/>
                </a:solidFill>
                <a:latin typeface="맑은 고딕"/>
                <a:ea typeface="맑은 고딕"/>
                <a:cs typeface="맑은 고딕"/>
              </a:rPr>
              <a:t>유온 상승</a:t>
            </a:r>
          </a:p>
        </p:txBody>
      </p:sp>
      <p:sp>
        <p:nvSpPr>
          <p:cNvPr id="10" name="TextBox 9"/>
          <p:cNvSpPr txBox="1"/>
          <p:nvPr/>
        </p:nvSpPr>
        <p:spPr>
          <a:xfrm>
            <a:off x="4601246" y="2762219"/>
            <a:ext cx="1527329" cy="375920"/>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INDICATES</a:t>
            </a:r>
          </a:p>
        </p:txBody>
      </p:sp>
      <p:sp>
        <p:nvSpPr>
          <p:cNvPr id="11" name="TextBox 10"/>
          <p:cNvSpPr txBox="1"/>
          <p:nvPr/>
        </p:nvSpPr>
        <p:spPr>
          <a:xfrm>
            <a:off x="5517644" y="3754983"/>
            <a:ext cx="2072804"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고장 유형</a:t>
            </a:r>
          </a:p>
          <a:p>
            <a:pPr algn="ctr">
              <a:lnSpc>
                <a:spcPct val="110000"/>
              </a:lnSpc>
              <a:spcAft>
                <a:spcPts val="100"/>
              </a:spcAft>
            </a:pPr>
            <a:r>
              <a:rPr sz="1300" b="0">
                <a:solidFill>
                  <a:srgbClr val="556175"/>
                </a:solidFill>
                <a:latin typeface="맑은 고딕"/>
                <a:ea typeface="맑은 고딕"/>
                <a:cs typeface="맑은 고딕"/>
              </a:rPr>
              <a:t>쿨러 냉각 성능 상실</a:t>
            </a:r>
          </a:p>
        </p:txBody>
      </p:sp>
      <p:sp>
        <p:nvSpPr>
          <p:cNvPr id="12" name="TextBox 11"/>
          <p:cNvSpPr txBox="1"/>
          <p:nvPr/>
        </p:nvSpPr>
        <p:spPr>
          <a:xfrm>
            <a:off x="7132249" y="1958553"/>
            <a:ext cx="981854" cy="375920"/>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CAUSES</a:t>
            </a:r>
          </a:p>
        </p:txBody>
      </p:sp>
      <p:sp>
        <p:nvSpPr>
          <p:cNvPr id="13" name="TextBox 12"/>
          <p:cNvSpPr txBox="1"/>
          <p:nvPr/>
        </p:nvSpPr>
        <p:spPr>
          <a:xfrm>
            <a:off x="9314148" y="1982190"/>
            <a:ext cx="174551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쿨러 핀 오염</a:t>
            </a:r>
          </a:p>
          <a:p>
            <a:pPr algn="ctr">
              <a:lnSpc>
                <a:spcPct val="110000"/>
              </a:lnSpc>
              <a:spcAft>
                <a:spcPts val="100"/>
              </a:spcAft>
            </a:pPr>
            <a:r>
              <a:rPr sz="1300" b="0">
                <a:solidFill>
                  <a:srgbClr val="556175"/>
                </a:solidFill>
                <a:latin typeface="맑은 고딕"/>
                <a:ea typeface="맑은 고딕"/>
                <a:cs typeface="맑은 고딕"/>
              </a:rPr>
              <a:t>원인</a:t>
            </a:r>
          </a:p>
        </p:txBody>
      </p:sp>
      <p:sp>
        <p:nvSpPr>
          <p:cNvPr id="14" name="TextBox 13"/>
          <p:cNvSpPr txBox="1"/>
          <p:nvPr/>
        </p:nvSpPr>
        <p:spPr>
          <a:xfrm>
            <a:off x="9314148" y="2965499"/>
            <a:ext cx="174551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팬 구동 불량</a:t>
            </a:r>
          </a:p>
          <a:p>
            <a:pPr algn="ctr">
              <a:lnSpc>
                <a:spcPct val="110000"/>
              </a:lnSpc>
              <a:spcAft>
                <a:spcPts val="100"/>
              </a:spcAft>
            </a:pPr>
            <a:r>
              <a:rPr sz="1300" b="0">
                <a:solidFill>
                  <a:srgbClr val="556175"/>
                </a:solidFill>
                <a:latin typeface="맑은 고딕"/>
                <a:ea typeface="맑은 고딕"/>
                <a:cs typeface="맑은 고딕"/>
              </a:rPr>
              <a:t>원인</a:t>
            </a:r>
          </a:p>
        </p:txBody>
      </p:sp>
      <p:sp>
        <p:nvSpPr>
          <p:cNvPr id="15" name="TextBox 14"/>
          <p:cNvSpPr txBox="1"/>
          <p:nvPr/>
        </p:nvSpPr>
        <p:spPr>
          <a:xfrm>
            <a:off x="9314148" y="3944081"/>
            <a:ext cx="174551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주변 온도 상승</a:t>
            </a:r>
          </a:p>
          <a:p>
            <a:pPr algn="ctr">
              <a:lnSpc>
                <a:spcPct val="110000"/>
              </a:lnSpc>
              <a:spcAft>
                <a:spcPts val="100"/>
              </a:spcAft>
            </a:pPr>
            <a:r>
              <a:rPr sz="1300" b="0">
                <a:solidFill>
                  <a:srgbClr val="556175"/>
                </a:solidFill>
                <a:latin typeface="맑은 고딕"/>
                <a:ea typeface="맑은 고딕"/>
                <a:cs typeface="맑은 고딕"/>
              </a:rPr>
              <a:t>원인</a:t>
            </a:r>
          </a:p>
        </p:txBody>
      </p:sp>
      <p:sp>
        <p:nvSpPr>
          <p:cNvPr id="16" name="TextBox 15"/>
          <p:cNvSpPr txBox="1"/>
          <p:nvPr/>
        </p:nvSpPr>
        <p:spPr>
          <a:xfrm>
            <a:off x="1077479" y="5291404"/>
            <a:ext cx="10036735" cy="62382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(p:AnomalyPattern)-[:DETECTS]-&gt;(s:Symptom)-[:INDICATES]-&gt;(fm:FailureMode)&lt;-[:CAUSES]-(c:Cause)</a:t>
            </a:r>
          </a:p>
        </p:txBody>
      </p:sp>
      <p:sp>
        <p:nvSpPr>
          <p:cNvPr id="17" name="TextBox 16"/>
          <p:cNvSpPr txBox="1"/>
          <p:nvPr/>
        </p:nvSpPr>
        <p:spPr>
          <a:xfrm>
            <a:off x="1732049" y="5787786"/>
            <a:ext cx="8727596"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&lt;-[:CAUSES]-</a:t>
            </a:r>
          </a:p>
          <a:p>
            <a:pPr algn="ctr">
              <a:lnSpc>
                <a:spcPct val="110000"/>
              </a:lnSpc>
              <a:spcAft>
                <a:spcPts val="100"/>
              </a:spcAft>
            </a:pPr>
            <a:r>
              <a:rPr sz="1300" b="0">
                <a:solidFill>
                  <a:srgbClr val="556175"/>
                </a:solidFill>
                <a:latin typeface="맑은 고딕"/>
                <a:ea typeface="맑은 고딕"/>
                <a:cs typeface="맑은 고딕"/>
              </a:rPr>
              <a:t>CAUSES는 원인에서 고장 유형으로 향하므로 화살표가 고장 유형 쪽을 본다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CREATE와 MERGE: 새로 만들기와 찾아서 만들기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MERGE는 식별자로 먼저 찾아 없을 때만 만들므로 CREATE와 달리 같은 노드를 중복해 만들지 않는다.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28</a:t>
            </a:r>
          </a:p>
        </p:txBody>
      </p:sp>
      <p:sp>
        <p:nvSpPr>
          <p:cNvPr id="6" name="Rounded Rectangle 5"/>
          <p:cNvSpPr/>
          <p:nvPr/>
        </p:nvSpPr>
        <p:spPr>
          <a:xfrm>
            <a:off x="548640" y="1773936"/>
            <a:ext cx="6766560" cy="4434840"/>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1911096"/>
            <a:ext cx="6400800" cy="4160520"/>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CREATE (s:Sensor {id: 'sen:ts1',</a:t>
            </a:r>
          </a:p>
          <a:p>
            <a:pPr algn="l">
              <a:lnSpc>
                <a:spcPct val="110000"/>
              </a:lnSpc>
              <a:spcAft>
                <a:spcPts val="200"/>
              </a:spcAft>
            </a:pPr>
            <a:r>
              <a:rPr sz="1300" b="0">
                <a:solidFill>
                  <a:srgbClr val="E8EEF6"/>
                </a:solidFill>
                <a:latin typeface="Consolas"/>
                <a:ea typeface="맑은 고딕"/>
                <a:cs typeface="맑은 고딕"/>
              </a:rPr>
              <a:t>                  name: '</a:t>
            </a:r>
            <a:r>
              <a:rPr sz="1300" b="0">
                <a:solidFill>
                  <a:srgbClr val="E8EEF6"/>
                </a:solidFill>
                <a:latin typeface="맑은 고딕"/>
                <a:ea typeface="맑은 고딕"/>
                <a:cs typeface="맑은 고딕"/>
              </a:rPr>
              <a:t>유온</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센서</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tag: 'TS1'})</a:t>
            </a:r>
          </a:p>
          <a:p>
            <a:pPr algn="l">
              <a:lnSpc>
                <a:spcPct val="110000"/>
              </a:lnSpc>
              <a:spcAft>
                <a:spcPts val="200"/>
              </a:spcAft>
            </a:pPr>
          </a:p>
          <a:p>
            <a:pPr algn="l">
              <a:lnSpc>
                <a:spcPct val="110000"/>
              </a:lnSpc>
              <a:spcAft>
                <a:spcPts val="200"/>
              </a:spcAft>
            </a:pPr>
            <a:r>
              <a:rPr sz="1300" b="0">
                <a:solidFill>
                  <a:srgbClr val="E8EEF6"/>
                </a:solidFill>
                <a:latin typeface="Consolas"/>
                <a:ea typeface="맑은 고딕"/>
                <a:cs typeface="맑은 고딕"/>
              </a:rPr>
              <a:t>MERGE (s:Sensor {id: 'sen:ts1'})</a:t>
            </a:r>
          </a:p>
          <a:p>
            <a:pPr algn="l">
              <a:lnSpc>
                <a:spcPct val="110000"/>
              </a:lnSpc>
              <a:spcAft>
                <a:spcPts val="200"/>
              </a:spcAft>
            </a:pPr>
            <a:r>
              <a:rPr sz="1300" b="0">
                <a:solidFill>
                  <a:srgbClr val="E8EEF6"/>
                </a:solidFill>
                <a:latin typeface="Consolas"/>
                <a:ea typeface="맑은 고딕"/>
                <a:cs typeface="맑은 고딕"/>
              </a:rPr>
              <a:t>SET s.name = '</a:t>
            </a:r>
            <a:r>
              <a:rPr sz="1300" b="0">
                <a:solidFill>
                  <a:srgbClr val="E8EEF6"/>
                </a:solidFill>
                <a:latin typeface="맑은 고딕"/>
                <a:ea typeface="맑은 고딕"/>
                <a:cs typeface="맑은 고딕"/>
              </a:rPr>
              <a:t>유온</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센서</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s.tag  = 'TS1'</a:t>
            </a:r>
          </a:p>
        </p:txBody>
      </p:sp>
      <p:sp>
        <p:nvSpPr>
          <p:cNvPr id="8" name="TextBox 7"/>
          <p:cNvSpPr txBox="1"/>
          <p:nvPr/>
        </p:nvSpPr>
        <p:spPr>
          <a:xfrm>
            <a:off x="7635240" y="1773936"/>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CREATE</a:t>
            </a:r>
          </a:p>
          <a:p>
            <a:pPr algn="l">
              <a:lnSpc>
                <a:spcPct val="110000"/>
              </a:lnSpc>
              <a:spcAft>
                <a:spcPts val="400"/>
              </a:spcAft>
            </a:pPr>
            <a:r>
              <a:rPr sz="1400" b="0">
                <a:solidFill>
                  <a:srgbClr val="1F2A3A"/>
                </a:solidFill>
                <a:latin typeface="맑은 고딕"/>
                <a:ea typeface="맑은 고딕"/>
                <a:cs typeface="맑은 고딕"/>
              </a:rPr>
              <a:t>적은 대로 새로 만든다. 이미 있는지는 보지 않는다. Sensor 레이블이 붙고 속성 셋을 가진 노드 하나가 만들어진다.</a:t>
            </a:r>
          </a:p>
        </p:txBody>
      </p:sp>
      <p:sp>
        <p:nvSpPr>
          <p:cNvPr id="9" name="TextBox 8"/>
          <p:cNvSpPr txBox="1"/>
          <p:nvPr/>
        </p:nvSpPr>
        <p:spPr>
          <a:xfrm>
            <a:off x="7635240" y="2882646"/>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MERGE</a:t>
            </a:r>
          </a:p>
          <a:p>
            <a:pPr algn="l">
              <a:lnSpc>
                <a:spcPct val="110000"/>
              </a:lnSpc>
              <a:spcAft>
                <a:spcPts val="400"/>
              </a:spcAft>
            </a:pPr>
            <a:r>
              <a:rPr sz="1400" b="0">
                <a:solidFill>
                  <a:srgbClr val="1F2A3A"/>
                </a:solidFill>
                <a:latin typeface="맑은 고딕"/>
                <a:ea typeface="맑은 고딕"/>
                <a:cs typeface="맑은 고딕"/>
              </a:rPr>
              <a:t>id가 sen:ts1인 센서가 있으면 그 노드를 쓰고, 없으면 만든다.</a:t>
            </a:r>
          </a:p>
        </p:txBody>
      </p:sp>
      <p:sp>
        <p:nvSpPr>
          <p:cNvPr id="10" name="TextBox 9"/>
          <p:cNvSpPr txBox="1"/>
          <p:nvPr/>
        </p:nvSpPr>
        <p:spPr>
          <a:xfrm>
            <a:off x="7635240" y="3991356"/>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SET</a:t>
            </a:r>
          </a:p>
          <a:p>
            <a:pPr algn="l">
              <a:lnSpc>
                <a:spcPct val="110000"/>
              </a:lnSpc>
              <a:spcAft>
                <a:spcPts val="400"/>
              </a:spcAft>
            </a:pPr>
            <a:r>
              <a:rPr sz="1400" b="0">
                <a:solidFill>
                  <a:srgbClr val="1F2A3A"/>
                </a:solidFill>
                <a:latin typeface="맑은 고딕"/>
                <a:ea typeface="맑은 고딕"/>
                <a:cs typeface="맑은 고딕"/>
              </a:rPr>
              <a:t>찾았거나 만든 노드의 속성에 값을 넣는다.</a:t>
            </a:r>
          </a:p>
        </p:txBody>
      </p:sp>
      <p:sp>
        <p:nvSpPr>
          <p:cNvPr id="11" name="TextBox 10"/>
          <p:cNvSpPr txBox="1"/>
          <p:nvPr/>
        </p:nvSpPr>
        <p:spPr>
          <a:xfrm>
            <a:off x="7635240" y="5100066"/>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식별자로 찾는다</a:t>
            </a:r>
          </a:p>
          <a:p>
            <a:pPr algn="l">
              <a:lnSpc>
                <a:spcPct val="110000"/>
              </a:lnSpc>
              <a:spcAft>
                <a:spcPts val="400"/>
              </a:spcAft>
            </a:pPr>
            <a:r>
              <a:rPr sz="1400" b="0">
                <a:solidFill>
                  <a:srgbClr val="1F2A3A"/>
                </a:solidFill>
                <a:latin typeface="맑은 고딕"/>
                <a:ea typeface="맑은 고딕"/>
                <a:cs typeface="맑은 고딕"/>
              </a:rPr>
              <a:t>MERGE의 괄호 안에는 식별자만 적고 나머지 속성은 SET에 적는다.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설비 이상과 원인 · 조치의 관계 그리기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arrows.app에서 노드와 관계를 놓고 이름과 방향을 붙인다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그리는 것과 완성되는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실습을 마치면 설비, 센서, 증상, 원인, 조치가 이름과 방향이 있는 관계로 이어진 그림 한 장이 만들어진다.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30</a:t>
            </a:r>
          </a:p>
        </p:txBody>
      </p:sp>
      <p:sp>
        <p:nvSpPr>
          <p:cNvPr id="6" name="Rounded Rectangle 5"/>
          <p:cNvSpPr/>
          <p:nvPr/>
        </p:nvSpPr>
        <p:spPr>
          <a:xfrm>
            <a:off x="548640"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04262"/>
            <a:ext cx="731520" cy="731520"/>
          </a:xfrm>
          <a:prstGeom prst="ellipse">
            <a:avLst/>
          </a:prstGeom>
          <a:solidFill>
            <a:srgbClr val="E7F3FD"/>
          </a:solidFill>
          <a:ln>
            <a:noFill/>
          </a:ln>
        </p:spPr>
        <p:txBody>
          <a:bodyPr rtlCol="0" anchor="ctr"/>
          <a:lstStyle/>
          <a:p>
            <a:pPr algn="ctr"/>
          </a:p>
        </p:txBody>
      </p:sp>
      <p:pic>
        <p:nvPicPr>
          <p:cNvPr id="8" name="아이콘:circle-plus" descr="circle-plus_13294B_1.6.png"/>
          <p:cNvPicPr>
            <a:picLocks noChangeAspect="1"/>
          </p:cNvPicPr>
          <p:nvPr/>
        </p:nvPicPr>
        <p:blipFill>
          <a:blip r:embed="rId3"/>
          <a:stretch>
            <a:fillRect/>
          </a:stretch>
        </p:blipFill>
        <p:spPr>
          <a:xfrm>
            <a:off x="930859" y="2757881"/>
            <a:ext cx="424281" cy="424281"/>
          </a:xfrm>
          <a:prstGeom prst="rect">
            <a:avLst/>
          </a:prstGeom>
        </p:spPr>
      </p:pic>
      <p:sp>
        <p:nvSpPr>
          <p:cNvPr id="9" name="TextBox 8"/>
          <p:cNvSpPr txBox="1"/>
          <p:nvPr/>
        </p:nvSpPr>
        <p:spPr>
          <a:xfrm>
            <a:off x="713232"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노드를 놓는다</a:t>
            </a:r>
          </a:p>
          <a:p>
            <a:pPr algn="l">
              <a:lnSpc>
                <a:spcPct val="110000"/>
              </a:lnSpc>
              <a:spcAft>
                <a:spcPts val="400"/>
              </a:spcAft>
            </a:pPr>
            <a:r>
              <a:rPr sz="1400" b="0">
                <a:solidFill>
                  <a:srgbClr val="1F2A3A"/>
                </a:solidFill>
                <a:latin typeface="맑은 고딕"/>
                <a:ea typeface="맑은 고딕"/>
                <a:cs typeface="맑은 고딕"/>
              </a:rPr>
              <a:t>• 설비, 센서, 증상, 원인, 조치를 노드로 만든다</a:t>
            </a:r>
          </a:p>
          <a:p>
            <a:pPr algn="l">
              <a:lnSpc>
                <a:spcPct val="110000"/>
              </a:lnSpc>
              <a:spcAft>
                <a:spcPts val="400"/>
              </a:spcAft>
            </a:pPr>
            <a:r>
              <a:rPr sz="1400" b="0">
                <a:solidFill>
                  <a:srgbClr val="1F2A3A"/>
                </a:solidFill>
                <a:latin typeface="맑은 고딕"/>
                <a:ea typeface="맑은 고딕"/>
                <a:cs typeface="맑은 고딕"/>
              </a:rPr>
              <a:t>• 노드마다 실제 대상의 이름과 속성을 적는다</a:t>
            </a:r>
          </a:p>
        </p:txBody>
      </p:sp>
      <p:sp>
        <p:nvSpPr>
          <p:cNvPr id="10" name="Rounded Rectangle 9"/>
          <p:cNvSpPr/>
          <p:nvPr/>
        </p:nvSpPr>
        <p:spPr>
          <a:xfrm>
            <a:off x="777240" y="5149850"/>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4985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대상</a:t>
            </a:r>
          </a:p>
        </p:txBody>
      </p:sp>
      <p:sp>
        <p:nvSpPr>
          <p:cNvPr id="12" name="Rounded Rectangle 11"/>
          <p:cNvSpPr/>
          <p:nvPr/>
        </p:nvSpPr>
        <p:spPr>
          <a:xfrm>
            <a:off x="4338218"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604262"/>
            <a:ext cx="731520" cy="731520"/>
          </a:xfrm>
          <a:prstGeom prst="ellipse">
            <a:avLst/>
          </a:prstGeom>
          <a:solidFill>
            <a:srgbClr val="E7F3FD"/>
          </a:solidFill>
          <a:ln>
            <a:noFill/>
          </a:ln>
        </p:spPr>
        <p:txBody>
          <a:bodyPr rtlCol="0" anchor="ctr"/>
          <a:lstStyle/>
          <a:p>
            <a:pPr algn="ctr"/>
          </a:p>
        </p:txBody>
      </p:sp>
      <p:pic>
        <p:nvPicPr>
          <p:cNvPr id="14" name="아이콘:arrows-right" descr="arrows-right_13294B_1.6.png"/>
          <p:cNvPicPr>
            <a:picLocks noChangeAspect="1"/>
          </p:cNvPicPr>
          <p:nvPr/>
        </p:nvPicPr>
        <p:blipFill>
          <a:blip r:embed="rId4"/>
          <a:stretch>
            <a:fillRect/>
          </a:stretch>
        </p:blipFill>
        <p:spPr>
          <a:xfrm>
            <a:off x="4720437" y="2757881"/>
            <a:ext cx="424281" cy="424281"/>
          </a:xfrm>
          <a:prstGeom prst="rect">
            <a:avLst/>
          </a:prstGeom>
        </p:spPr>
      </p:pic>
      <p:sp>
        <p:nvSpPr>
          <p:cNvPr id="15" name="TextBox 14"/>
          <p:cNvSpPr txBox="1"/>
          <p:nvPr/>
        </p:nvSpPr>
        <p:spPr>
          <a:xfrm>
            <a:off x="4502810"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관계를 잇는다</a:t>
            </a:r>
          </a:p>
          <a:p>
            <a:pPr algn="l">
              <a:lnSpc>
                <a:spcPct val="110000"/>
              </a:lnSpc>
              <a:spcAft>
                <a:spcPts val="400"/>
              </a:spcAft>
            </a:pPr>
            <a:r>
              <a:rPr sz="1400" b="0">
                <a:solidFill>
                  <a:srgbClr val="1F2A3A"/>
                </a:solidFill>
                <a:latin typeface="맑은 고딕"/>
                <a:ea typeface="맑은 고딕"/>
                <a:cs typeface="맑은 고딕"/>
              </a:rPr>
              <a:t>• 노드 사이에 화살표를 긋고 이름을 붙인다</a:t>
            </a:r>
          </a:p>
          <a:p>
            <a:pPr algn="l">
              <a:lnSpc>
                <a:spcPct val="110000"/>
              </a:lnSpc>
              <a:spcAft>
                <a:spcPts val="400"/>
              </a:spcAft>
            </a:pPr>
            <a:r>
              <a:rPr sz="1400" b="0">
                <a:solidFill>
                  <a:srgbClr val="1F2A3A"/>
                </a:solidFill>
                <a:latin typeface="맑은 고딕"/>
                <a:ea typeface="맑은 고딕"/>
                <a:cs typeface="맑은 고딕"/>
              </a:rPr>
              <a:t>• 관계의 이름은 스스로 정한다</a:t>
            </a:r>
          </a:p>
        </p:txBody>
      </p:sp>
      <p:sp>
        <p:nvSpPr>
          <p:cNvPr id="16" name="Rounded Rectangle 15"/>
          <p:cNvSpPr/>
          <p:nvPr/>
        </p:nvSpPr>
        <p:spPr>
          <a:xfrm>
            <a:off x="4566818" y="5149850"/>
            <a:ext cx="11734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149850"/>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이름과 방향</a:t>
            </a:r>
          </a:p>
        </p:txBody>
      </p:sp>
      <p:sp>
        <p:nvSpPr>
          <p:cNvPr id="18" name="Rounded Rectangle 17"/>
          <p:cNvSpPr/>
          <p:nvPr/>
        </p:nvSpPr>
        <p:spPr>
          <a:xfrm>
            <a:off x="8127796" y="2403094"/>
            <a:ext cx="3515258" cy="3176523"/>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604262"/>
            <a:ext cx="731520" cy="731520"/>
          </a:xfrm>
          <a:prstGeom prst="ellipse">
            <a:avLst/>
          </a:prstGeom>
          <a:solidFill>
            <a:srgbClr val="5CB8F2"/>
          </a:solidFill>
          <a:ln>
            <a:noFill/>
          </a:ln>
        </p:spPr>
        <p:txBody>
          <a:bodyPr rtlCol="0" anchor="ctr"/>
          <a:lstStyle/>
          <a:p>
            <a:pPr algn="ctr"/>
          </a:p>
        </p:txBody>
      </p:sp>
      <p:pic>
        <p:nvPicPr>
          <p:cNvPr id="20" name="아이콘:message-check" descr="message-check_13294B_1.6.png"/>
          <p:cNvPicPr>
            <a:picLocks noChangeAspect="1"/>
          </p:cNvPicPr>
          <p:nvPr/>
        </p:nvPicPr>
        <p:blipFill>
          <a:blip r:embed="rId5"/>
          <a:stretch>
            <a:fillRect/>
          </a:stretch>
        </p:blipFill>
        <p:spPr>
          <a:xfrm>
            <a:off x="8510016" y="2757881"/>
            <a:ext cx="424281" cy="424281"/>
          </a:xfrm>
          <a:prstGeom prst="rect">
            <a:avLst/>
          </a:prstGeom>
        </p:spPr>
      </p:pic>
      <p:sp>
        <p:nvSpPr>
          <p:cNvPr id="21" name="TextBox 20"/>
          <p:cNvSpPr txBox="1"/>
          <p:nvPr/>
        </p:nvSpPr>
        <p:spPr>
          <a:xfrm>
            <a:off x="8292388"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문장으로 읽는다</a:t>
            </a:r>
          </a:p>
          <a:p>
            <a:pPr algn="l">
              <a:lnSpc>
                <a:spcPct val="110000"/>
              </a:lnSpc>
              <a:spcAft>
                <a:spcPts val="400"/>
              </a:spcAft>
            </a:pPr>
            <a:r>
              <a:rPr sz="1400" b="0">
                <a:solidFill>
                  <a:srgbClr val="1F2A3A"/>
                </a:solidFill>
                <a:latin typeface="맑은 고딕"/>
                <a:ea typeface="맑은 고딕"/>
                <a:cs typeface="맑은 고딕"/>
              </a:rPr>
              <a:t>• 화살표마다 주어, 서술어, 목적어로 읽는다</a:t>
            </a:r>
          </a:p>
          <a:p>
            <a:pPr algn="l">
              <a:lnSpc>
                <a:spcPct val="110000"/>
              </a:lnSpc>
              <a:spcAft>
                <a:spcPts val="400"/>
              </a:spcAft>
            </a:pPr>
            <a:r>
              <a:rPr sz="1400" b="0">
                <a:solidFill>
                  <a:srgbClr val="1F2A3A"/>
                </a:solidFill>
                <a:latin typeface="맑은 고딕"/>
                <a:ea typeface="맑은 고딕"/>
                <a:cs typeface="맑은 고딕"/>
              </a:rPr>
              <a:t>• 어색하면 이름이나 방향을 고친다</a:t>
            </a:r>
          </a:p>
        </p:txBody>
      </p:sp>
      <p:sp>
        <p:nvSpPr>
          <p:cNvPr id="22" name="Rounded Rectangle 21"/>
          <p:cNvSpPr/>
          <p:nvPr/>
        </p:nvSpPr>
        <p:spPr>
          <a:xfrm>
            <a:off x="8356396" y="5149850"/>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14985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점검</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온톨로지 직접 설계하기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앞서 그린 관계도에서 클래스와 속성과 관계를 정의해 스키마와 인스턴스 데이터를 만든다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설계하는 것과 완성되는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실습을 마치면 앞서 그린 관계도를 바탕으로 정의한 스키마 파일과 예시 인스턴스 데이터가 만들어진다.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32</a:t>
            </a:r>
          </a:p>
        </p:txBody>
      </p:sp>
      <p:sp>
        <p:nvSpPr>
          <p:cNvPr id="6" name="Rounded Rectangle 5"/>
          <p:cNvSpPr/>
          <p:nvPr/>
        </p:nvSpPr>
        <p:spPr>
          <a:xfrm>
            <a:off x="548640" y="2394013"/>
            <a:ext cx="2485567" cy="3194684"/>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576893"/>
            <a:ext cx="731520" cy="731520"/>
          </a:xfrm>
          <a:prstGeom prst="ellipse">
            <a:avLst/>
          </a:prstGeom>
          <a:solidFill>
            <a:srgbClr val="FFFFFF"/>
          </a:solidFill>
          <a:ln>
            <a:noFill/>
          </a:ln>
        </p:spPr>
        <p:txBody>
          <a:bodyPr rtlCol="0" anchor="ctr"/>
          <a:lstStyle/>
          <a:p>
            <a:pPr algn="ctr"/>
          </a:p>
        </p:txBody>
      </p:sp>
      <p:pic>
        <p:nvPicPr>
          <p:cNvPr id="8" name="아이콘:help-circle" descr="help-circle_13294B_1.6.png"/>
          <p:cNvPicPr>
            <a:picLocks noChangeAspect="1"/>
          </p:cNvPicPr>
          <p:nvPr/>
        </p:nvPicPr>
        <p:blipFill>
          <a:blip r:embed="rId3"/>
          <a:stretch>
            <a:fillRect/>
          </a:stretch>
        </p:blipFill>
        <p:spPr>
          <a:xfrm>
            <a:off x="1579283" y="2730512"/>
            <a:ext cx="424281" cy="424281"/>
          </a:xfrm>
          <a:prstGeom prst="rect">
            <a:avLst/>
          </a:prstGeom>
        </p:spPr>
      </p:pic>
      <p:sp>
        <p:nvSpPr>
          <p:cNvPr id="9" name="TextBox 8"/>
          <p:cNvSpPr txBox="1"/>
          <p:nvPr/>
        </p:nvSpPr>
        <p:spPr>
          <a:xfrm>
            <a:off x="621792" y="3381565"/>
            <a:ext cx="2339263" cy="2133980"/>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질문 정하기</a:t>
            </a:r>
          </a:p>
          <a:p>
            <a:pPr algn="ctr">
              <a:lnSpc>
                <a:spcPct val="110000"/>
              </a:lnSpc>
              <a:spcAft>
                <a:spcPts val="400"/>
              </a:spcAft>
            </a:pPr>
            <a:r>
              <a:rPr sz="1350" b="0">
                <a:solidFill>
                  <a:srgbClr val="1F2A3A"/>
                </a:solidFill>
                <a:latin typeface="맑은 고딕"/>
                <a:ea typeface="맑은 고딕"/>
                <a:cs typeface="맑은 고딕"/>
              </a:rPr>
              <a:t>관계도를 읽고</a:t>
            </a:r>
          </a:p>
          <a:p>
            <a:pPr algn="ctr">
              <a:lnSpc>
                <a:spcPct val="110000"/>
              </a:lnSpc>
              <a:spcAft>
                <a:spcPts val="400"/>
              </a:spcAft>
            </a:pPr>
            <a:r>
              <a:rPr sz="1350" b="0">
                <a:solidFill>
                  <a:srgbClr val="1F2A3A"/>
                </a:solidFill>
                <a:latin typeface="맑은 고딕"/>
                <a:ea typeface="맑은 고딕"/>
                <a:cs typeface="맑은 고딕"/>
              </a:rPr>
              <a:t>이 지식으로 답할</a:t>
            </a:r>
          </a:p>
          <a:p>
            <a:pPr algn="ctr">
              <a:lnSpc>
                <a:spcPct val="110000"/>
              </a:lnSpc>
              <a:spcAft>
                <a:spcPts val="400"/>
              </a:spcAft>
            </a:pPr>
            <a:r>
              <a:rPr sz="1350" b="0">
                <a:solidFill>
                  <a:srgbClr val="1F2A3A"/>
                </a:solidFill>
                <a:latin typeface="맑은 고딕"/>
                <a:ea typeface="맑은 고딕"/>
                <a:cs typeface="맑은 고딕"/>
              </a:rPr>
              <a:t>질문을 정한다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394013"/>
            <a:ext cx="2485567" cy="3194684"/>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4295279" y="2576893"/>
            <a:ext cx="731520" cy="731520"/>
          </a:xfrm>
          <a:prstGeom prst="ellipse">
            <a:avLst/>
          </a:prstGeom>
          <a:solidFill>
            <a:srgbClr val="FFFFFF"/>
          </a:solidFill>
          <a:ln>
            <a:noFill/>
          </a:ln>
        </p:spPr>
        <p:txBody>
          <a:bodyPr rtlCol="0" anchor="ctr"/>
          <a:lstStyle/>
          <a:p>
            <a:pPr algn="ctr"/>
          </a:p>
        </p:txBody>
      </p:sp>
      <p:pic>
        <p:nvPicPr>
          <p:cNvPr id="13" name="아이콘:category" descr="category_13294B_1.6.png"/>
          <p:cNvPicPr>
            <a:picLocks noChangeAspect="1"/>
          </p:cNvPicPr>
          <p:nvPr/>
        </p:nvPicPr>
        <p:blipFill>
          <a:blip r:embed="rId4"/>
          <a:stretch>
            <a:fillRect/>
          </a:stretch>
        </p:blipFill>
        <p:spPr>
          <a:xfrm>
            <a:off x="4448898" y="2730512"/>
            <a:ext cx="424281" cy="424281"/>
          </a:xfrm>
          <a:prstGeom prst="rect">
            <a:avLst/>
          </a:prstGeom>
        </p:spPr>
      </p:pic>
      <p:sp>
        <p:nvSpPr>
          <p:cNvPr id="14" name="TextBox 13"/>
          <p:cNvSpPr txBox="1"/>
          <p:nvPr/>
        </p:nvSpPr>
        <p:spPr>
          <a:xfrm>
            <a:off x="3491407" y="3381565"/>
            <a:ext cx="2339263" cy="2133980"/>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대상 나누기</a:t>
            </a:r>
          </a:p>
          <a:p>
            <a:pPr algn="ctr">
              <a:lnSpc>
                <a:spcPct val="110000"/>
              </a:lnSpc>
              <a:spcAft>
                <a:spcPts val="400"/>
              </a:spcAft>
            </a:pPr>
            <a:r>
              <a:rPr sz="1350" b="0">
                <a:solidFill>
                  <a:srgbClr val="1F2A3A"/>
                </a:solidFill>
                <a:latin typeface="맑은 고딕"/>
                <a:ea typeface="맑은 고딕"/>
                <a:cs typeface="맑은 고딕"/>
              </a:rPr>
              <a:t>관계도의 대상을</a:t>
            </a:r>
          </a:p>
          <a:p>
            <a:pPr algn="ctr">
              <a:lnSpc>
                <a:spcPct val="110000"/>
              </a:lnSpc>
              <a:spcAft>
                <a:spcPts val="400"/>
              </a:spcAft>
            </a:pPr>
            <a:r>
              <a:rPr sz="1350" b="0">
                <a:solidFill>
                  <a:srgbClr val="1F2A3A"/>
                </a:solidFill>
                <a:latin typeface="맑은 고딕"/>
                <a:ea typeface="맑은 고딕"/>
                <a:cs typeface="맑은 고딕"/>
              </a:rPr>
              <a:t>클래스와 예시</a:t>
            </a:r>
          </a:p>
          <a:p>
            <a:pPr algn="ctr">
              <a:lnSpc>
                <a:spcPct val="110000"/>
              </a:lnSpc>
              <a:spcAft>
                <a:spcPts val="400"/>
              </a:spcAft>
            </a:pPr>
            <a:r>
              <a:rPr sz="1350" b="0">
                <a:solidFill>
                  <a:srgbClr val="1F2A3A"/>
                </a:solidFill>
                <a:latin typeface="맑은 고딕"/>
                <a:ea typeface="맑은 고딕"/>
                <a:cs typeface="맑은 고딕"/>
              </a:rPr>
              <a:t>인스턴스로 가르고</a:t>
            </a:r>
          </a:p>
          <a:p>
            <a:pPr algn="ctr">
              <a:lnSpc>
                <a:spcPct val="110000"/>
              </a:lnSpc>
              <a:spcAft>
                <a:spcPts val="400"/>
              </a:spcAft>
            </a:pPr>
            <a:r>
              <a:rPr sz="1350" b="0">
                <a:solidFill>
                  <a:srgbClr val="1F2A3A"/>
                </a:solidFill>
                <a:latin typeface="맑은 고딕"/>
                <a:ea typeface="맑은 고딕"/>
                <a:cs typeface="맑은 고딕"/>
              </a:rPr>
              <a:t>공용 부품과 복수 센서</a:t>
            </a:r>
          </a:p>
          <a:p>
            <a:pPr algn="ctr">
              <a:lnSpc>
                <a:spcPct val="110000"/>
              </a:lnSpc>
              <a:spcAft>
                <a:spcPts val="400"/>
              </a:spcAft>
            </a:pPr>
            <a:r>
              <a:rPr sz="1350" b="0">
                <a:solidFill>
                  <a:srgbClr val="1F2A3A"/>
                </a:solidFill>
                <a:latin typeface="맑은 고딕"/>
                <a:ea typeface="맑은 고딕"/>
                <a:cs typeface="맑은 고딕"/>
              </a:rPr>
              <a:t>사례를 더한다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394013"/>
            <a:ext cx="2485567" cy="3194684"/>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576893"/>
            <a:ext cx="731520" cy="731520"/>
          </a:xfrm>
          <a:prstGeom prst="ellipse">
            <a:avLst/>
          </a:prstGeom>
          <a:solidFill>
            <a:srgbClr val="FFFFFF"/>
          </a:solidFill>
          <a:ln>
            <a:noFill/>
          </a:ln>
        </p:spPr>
        <p:txBody>
          <a:bodyPr rtlCol="0" anchor="ctr"/>
          <a:lstStyle/>
          <a:p>
            <a:pPr algn="ctr"/>
          </a:p>
        </p:txBody>
      </p:sp>
      <p:pic>
        <p:nvPicPr>
          <p:cNvPr id="18" name="아이콘:forms" descr="forms_13294B_1.6.png"/>
          <p:cNvPicPr>
            <a:picLocks noChangeAspect="1"/>
          </p:cNvPicPr>
          <p:nvPr/>
        </p:nvPicPr>
        <p:blipFill>
          <a:blip r:embed="rId5"/>
          <a:stretch>
            <a:fillRect/>
          </a:stretch>
        </p:blipFill>
        <p:spPr>
          <a:xfrm>
            <a:off x="7318514" y="2730512"/>
            <a:ext cx="424281" cy="424281"/>
          </a:xfrm>
          <a:prstGeom prst="rect">
            <a:avLst/>
          </a:prstGeom>
        </p:spPr>
      </p:pic>
      <p:sp>
        <p:nvSpPr>
          <p:cNvPr id="19" name="TextBox 18"/>
          <p:cNvSpPr txBox="1"/>
          <p:nvPr/>
        </p:nvSpPr>
        <p:spPr>
          <a:xfrm>
            <a:off x="6361023" y="3381565"/>
            <a:ext cx="2339263" cy="2133980"/>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정의하기</a:t>
            </a:r>
          </a:p>
          <a:p>
            <a:pPr algn="ctr">
              <a:lnSpc>
                <a:spcPct val="110000"/>
              </a:lnSpc>
              <a:spcAft>
                <a:spcPts val="400"/>
              </a:spcAft>
            </a:pPr>
            <a:r>
              <a:rPr sz="1350" b="0">
                <a:solidFill>
                  <a:srgbClr val="1F2A3A"/>
                </a:solidFill>
                <a:latin typeface="맑은 고딕"/>
                <a:ea typeface="맑은 고딕"/>
                <a:cs typeface="맑은 고딕"/>
              </a:rPr>
              <a:t>속성의 자료형,</a:t>
            </a:r>
          </a:p>
          <a:p>
            <a:pPr algn="ctr">
              <a:lnSpc>
                <a:spcPct val="110000"/>
              </a:lnSpc>
              <a:spcAft>
                <a:spcPts val="400"/>
              </a:spcAft>
            </a:pPr>
            <a:r>
              <a:rPr sz="1350" b="0">
                <a:solidFill>
                  <a:srgbClr val="1F2A3A"/>
                </a:solidFill>
                <a:latin typeface="맑은 고딕"/>
                <a:ea typeface="맑은 고딕"/>
                <a:cs typeface="맑은 고딕"/>
              </a:rPr>
              <a:t>식별자, 필수값과</a:t>
            </a:r>
          </a:p>
          <a:p>
            <a:pPr algn="ctr">
              <a:lnSpc>
                <a:spcPct val="110000"/>
              </a:lnSpc>
              <a:spcAft>
                <a:spcPts val="400"/>
              </a:spcAft>
            </a:pPr>
            <a:r>
              <a:rPr sz="1350" b="0">
                <a:solidFill>
                  <a:srgbClr val="1F2A3A"/>
                </a:solidFill>
                <a:latin typeface="맑은 고딕"/>
                <a:ea typeface="맑은 고딕"/>
                <a:cs typeface="맑은 고딕"/>
              </a:rPr>
              <a:t>관계의 유형, 방향,</a:t>
            </a:r>
          </a:p>
          <a:p>
            <a:pPr algn="ctr">
              <a:lnSpc>
                <a:spcPct val="110000"/>
              </a:lnSpc>
              <a:spcAft>
                <a:spcPts val="400"/>
              </a:spcAft>
            </a:pPr>
            <a:r>
              <a:rPr sz="1350" b="0">
                <a:solidFill>
                  <a:srgbClr val="1F2A3A"/>
                </a:solidFill>
                <a:latin typeface="맑은 고딕"/>
                <a:ea typeface="맑은 고딕"/>
                <a:cs typeface="맑은 고딕"/>
              </a:rPr>
              <a:t>연결 제약을 정한다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394013"/>
            <a:ext cx="2485567" cy="3194684"/>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2" name="Oval 21"/>
          <p:cNvSpPr/>
          <p:nvPr/>
        </p:nvSpPr>
        <p:spPr>
          <a:xfrm>
            <a:off x="10034511" y="2576893"/>
            <a:ext cx="731520" cy="731520"/>
          </a:xfrm>
          <a:prstGeom prst="ellipse">
            <a:avLst/>
          </a:prstGeom>
          <a:solidFill>
            <a:srgbClr val="5CB8F2"/>
          </a:solidFill>
          <a:ln>
            <a:noFill/>
          </a:ln>
        </p:spPr>
        <p:txBody>
          <a:bodyPr rtlCol="0" anchor="ctr"/>
          <a:lstStyle/>
          <a:p>
            <a:pPr algn="ctr"/>
          </a:p>
        </p:txBody>
      </p:sp>
      <p:pic>
        <p:nvPicPr>
          <p:cNvPr id="23" name="아이콘:file-check" descr="file-check_13294B_1.6.png"/>
          <p:cNvPicPr>
            <a:picLocks noChangeAspect="1"/>
          </p:cNvPicPr>
          <p:nvPr/>
        </p:nvPicPr>
        <p:blipFill>
          <a:blip r:embed="rId6"/>
          <a:stretch>
            <a:fillRect/>
          </a:stretch>
        </p:blipFill>
        <p:spPr>
          <a:xfrm>
            <a:off x="10188130" y="2730512"/>
            <a:ext cx="424281" cy="424281"/>
          </a:xfrm>
          <a:prstGeom prst="rect">
            <a:avLst/>
          </a:prstGeom>
        </p:spPr>
      </p:pic>
      <p:sp>
        <p:nvSpPr>
          <p:cNvPr id="24" name="TextBox 23"/>
          <p:cNvSpPr txBox="1"/>
          <p:nvPr/>
        </p:nvSpPr>
        <p:spPr>
          <a:xfrm>
            <a:off x="9230639" y="3381565"/>
            <a:ext cx="2339263" cy="2133980"/>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결과 확인</a:t>
            </a:r>
          </a:p>
          <a:p>
            <a:pPr algn="ctr">
              <a:lnSpc>
                <a:spcPct val="110000"/>
              </a:lnSpc>
              <a:spcAft>
                <a:spcPts val="400"/>
              </a:spcAft>
            </a:pPr>
            <a:r>
              <a:rPr sz="1350" b="0">
                <a:solidFill>
                  <a:srgbClr val="1F2A3A"/>
                </a:solidFill>
                <a:latin typeface="맑은 고딕"/>
                <a:ea typeface="맑은 고딕"/>
                <a:cs typeface="맑은 고딕"/>
              </a:rPr>
              <a:t>스키마 파일과</a:t>
            </a:r>
          </a:p>
          <a:p>
            <a:pPr algn="ctr">
              <a:lnSpc>
                <a:spcPct val="110000"/>
              </a:lnSpc>
              <a:spcAft>
                <a:spcPts val="400"/>
              </a:spcAft>
            </a:pPr>
            <a:r>
              <a:rPr sz="1350" b="0">
                <a:solidFill>
                  <a:srgbClr val="1F2A3A"/>
                </a:solidFill>
                <a:latin typeface="맑은 고딕"/>
                <a:ea typeface="맑은 고딕"/>
                <a:cs typeface="맑은 고딕"/>
              </a:rPr>
              <a:t>인스턴스 데이터가</a:t>
            </a:r>
          </a:p>
          <a:p>
            <a:pPr algn="ctr">
              <a:lnSpc>
                <a:spcPct val="110000"/>
              </a:lnSpc>
              <a:spcAft>
                <a:spcPts val="400"/>
              </a:spcAft>
            </a:pPr>
            <a:r>
              <a:rPr sz="1350" b="0">
                <a:solidFill>
                  <a:srgbClr val="1F2A3A"/>
                </a:solidFill>
                <a:latin typeface="맑은 고딕"/>
                <a:ea typeface="맑은 고딕"/>
                <a:cs typeface="맑은 고딕"/>
              </a:rPr>
              <a:t>관계도의 뜻과</a:t>
            </a:r>
          </a:p>
          <a:p>
            <a:pPr algn="ctr">
              <a:lnSpc>
                <a:spcPct val="110000"/>
              </a:lnSpc>
              <a:spcAft>
                <a:spcPts val="400"/>
              </a:spcAft>
            </a:pPr>
            <a:r>
              <a:rPr sz="1350" b="0">
                <a:solidFill>
                  <a:srgbClr val="1F2A3A"/>
                </a:solidFill>
                <a:latin typeface="맑은 고딕"/>
                <a:ea typeface="맑은 고딕"/>
                <a:cs typeface="맑은 고딕"/>
              </a:rPr>
              <a:t>맞는지 대조한다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설계한 관계의 그래프 DB 구현과 조회</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스키마와 인스턴스를 Cypher로 옮겨 그래프 DB에 넣고 질의로 조회한다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적재하는 것과 조회하는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설계한 스키마와 인스턴스가 그래프 DB에 노드와 관계로 들어가고, 원인과 설비와 부품을 질의로 조회한 결과가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34</a:t>
            </a:r>
          </a:p>
        </p:txBody>
      </p:sp>
      <p:sp>
        <p:nvSpPr>
          <p:cNvPr id="6" name="Rectangle 5"/>
          <p:cNvSpPr/>
          <p:nvPr/>
        </p:nvSpPr>
        <p:spPr>
          <a:xfrm>
            <a:off x="1935441" y="3042094"/>
            <a:ext cx="8320811" cy="36576"/>
          </a:xfrm>
          <a:prstGeom prst="rect">
            <a:avLst/>
          </a:prstGeom>
          <a:solidFill>
            <a:srgbClr val="D3D9E1"/>
          </a:solidFill>
          <a:ln>
            <a:noFill/>
          </a:ln>
        </p:spPr>
        <p:txBody>
          <a:bodyPr rtlCol="0" anchor="ctr"/>
          <a:lstStyle/>
          <a:p>
            <a:pPr algn="ctr"/>
          </a:p>
        </p:txBody>
      </p:sp>
      <p:sp>
        <p:nvSpPr>
          <p:cNvPr id="7" name="Oval 6"/>
          <p:cNvSpPr/>
          <p:nvPr/>
        </p:nvSpPr>
        <p:spPr>
          <a:xfrm>
            <a:off x="1501101" y="2626042"/>
            <a:ext cx="868680" cy="868680"/>
          </a:xfrm>
          <a:prstGeom prst="ellipse">
            <a:avLst/>
          </a:prstGeom>
          <a:solidFill>
            <a:srgbClr val="FFFFFF"/>
          </a:solidFill>
          <a:ln w="25400">
            <a:solidFill>
              <a:srgbClr val="13294B"/>
            </a:solidFill>
          </a:ln>
        </p:spPr>
        <p:txBody>
          <a:bodyPr rtlCol="0" anchor="ctr"/>
          <a:lstStyle/>
          <a:p>
            <a:pPr algn="ctr"/>
          </a:p>
        </p:txBody>
      </p:sp>
      <p:pic>
        <p:nvPicPr>
          <p:cNvPr id="8" name="아이콘:code" descr="code_13294B_1.6.png"/>
          <p:cNvPicPr>
            <a:picLocks noChangeAspect="1"/>
          </p:cNvPicPr>
          <p:nvPr/>
        </p:nvPicPr>
        <p:blipFill>
          <a:blip r:embed="rId3"/>
          <a:stretch>
            <a:fillRect/>
          </a:stretch>
        </p:blipFill>
        <p:spPr>
          <a:xfrm>
            <a:off x="1718271" y="2843212"/>
            <a:ext cx="434340" cy="434340"/>
          </a:xfrm>
          <a:prstGeom prst="rect">
            <a:avLst/>
          </a:prstGeom>
        </p:spPr>
      </p:pic>
      <p:sp>
        <p:nvSpPr>
          <p:cNvPr id="9" name="Oval 8"/>
          <p:cNvSpPr/>
          <p:nvPr/>
        </p:nvSpPr>
        <p:spPr>
          <a:xfrm>
            <a:off x="2095461" y="2580322"/>
            <a:ext cx="347472" cy="347472"/>
          </a:xfrm>
          <a:prstGeom prst="ellipse">
            <a:avLst/>
          </a:prstGeom>
          <a:solidFill>
            <a:srgbClr val="13294B"/>
          </a:solidFill>
          <a:ln>
            <a:noFill/>
          </a:ln>
        </p:spPr>
        <p:txBody>
          <a:bodyPr rtlCol="0" anchor="ctr"/>
          <a:lstStyle/>
          <a:p>
            <a:pPr algn="ctr"/>
          </a:p>
        </p:txBody>
      </p:sp>
      <p:sp>
        <p:nvSpPr>
          <p:cNvPr id="10" name="TextBox 9"/>
          <p:cNvSpPr txBox="1"/>
          <p:nvPr/>
        </p:nvSpPr>
        <p:spPr>
          <a:xfrm>
            <a:off x="2095461" y="2580322"/>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1</a:t>
            </a:r>
          </a:p>
        </p:txBody>
      </p:sp>
      <p:sp>
        <p:nvSpPr>
          <p:cNvPr id="11" name="TextBox 10"/>
          <p:cNvSpPr txBox="1"/>
          <p:nvPr/>
        </p:nvSpPr>
        <p:spPr>
          <a:xfrm>
            <a:off x="621791" y="3677602"/>
            <a:ext cx="2627299" cy="1679066"/>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Cypher로 옮긴다</a:t>
            </a:r>
          </a:p>
          <a:p>
            <a:pPr algn="ctr">
              <a:lnSpc>
                <a:spcPct val="110000"/>
              </a:lnSpc>
              <a:spcAft>
                <a:spcPts val="400"/>
              </a:spcAft>
            </a:pPr>
            <a:r>
              <a:rPr sz="1350" b="0">
                <a:solidFill>
                  <a:srgbClr val="1F2A3A"/>
                </a:solidFill>
                <a:latin typeface="맑은 고딕"/>
                <a:ea typeface="맑은 고딕"/>
                <a:cs typeface="맑은 고딕"/>
              </a:rPr>
              <a:t>앞에서 만든 스키마와</a:t>
            </a:r>
          </a:p>
          <a:p>
            <a:pPr algn="ctr">
              <a:lnSpc>
                <a:spcPct val="110000"/>
              </a:lnSpc>
              <a:spcAft>
                <a:spcPts val="400"/>
              </a:spcAft>
            </a:pPr>
            <a:r>
              <a:rPr sz="1350" b="0">
                <a:solidFill>
                  <a:srgbClr val="1F2A3A"/>
                </a:solidFill>
                <a:latin typeface="맑은 고딕"/>
                <a:ea typeface="맑은 고딕"/>
                <a:cs typeface="맑은 고딕"/>
              </a:rPr>
              <a:t>인스턴스를 노드, 속성, 관계를</a:t>
            </a:r>
          </a:p>
          <a:p>
            <a:pPr algn="ctr">
              <a:lnSpc>
                <a:spcPct val="110000"/>
              </a:lnSpc>
              <a:spcAft>
                <a:spcPts val="400"/>
              </a:spcAft>
            </a:pPr>
            <a:r>
              <a:rPr sz="1350" b="0">
                <a:solidFill>
                  <a:srgbClr val="1F2A3A"/>
                </a:solidFill>
                <a:latin typeface="맑은 고딕"/>
                <a:ea typeface="맑은 고딕"/>
                <a:cs typeface="맑은 고딕"/>
              </a:rPr>
              <a:t>만드는 Cypher 질의로 바꾼다</a:t>
            </a:r>
          </a:p>
        </p:txBody>
      </p:sp>
      <p:sp>
        <p:nvSpPr>
          <p:cNvPr id="12" name="Oval 11"/>
          <p:cNvSpPr/>
          <p:nvPr/>
        </p:nvSpPr>
        <p:spPr>
          <a:xfrm>
            <a:off x="4274705" y="2626042"/>
            <a:ext cx="868680" cy="868680"/>
          </a:xfrm>
          <a:prstGeom prst="ellipse">
            <a:avLst/>
          </a:prstGeom>
          <a:solidFill>
            <a:srgbClr val="FFFFFF"/>
          </a:solidFill>
          <a:ln w="25400">
            <a:solidFill>
              <a:srgbClr val="13294B"/>
            </a:solidFill>
          </a:ln>
        </p:spPr>
        <p:txBody>
          <a:bodyPr rtlCol="0" anchor="ctr"/>
          <a:lstStyle/>
          <a:p>
            <a:pPr algn="ctr"/>
          </a:p>
        </p:txBody>
      </p:sp>
      <p:pic>
        <p:nvPicPr>
          <p:cNvPr id="13" name="아이콘:database-import" descr="database-import_13294B_1.6.png"/>
          <p:cNvPicPr>
            <a:picLocks noChangeAspect="1"/>
          </p:cNvPicPr>
          <p:nvPr/>
        </p:nvPicPr>
        <p:blipFill>
          <a:blip r:embed="rId4"/>
          <a:stretch>
            <a:fillRect/>
          </a:stretch>
        </p:blipFill>
        <p:spPr>
          <a:xfrm>
            <a:off x="4491875" y="2843212"/>
            <a:ext cx="434340" cy="434340"/>
          </a:xfrm>
          <a:prstGeom prst="rect">
            <a:avLst/>
          </a:prstGeom>
        </p:spPr>
      </p:pic>
      <p:sp>
        <p:nvSpPr>
          <p:cNvPr id="14" name="Oval 13"/>
          <p:cNvSpPr/>
          <p:nvPr/>
        </p:nvSpPr>
        <p:spPr>
          <a:xfrm>
            <a:off x="4869065" y="2580322"/>
            <a:ext cx="347472" cy="347472"/>
          </a:xfrm>
          <a:prstGeom prst="ellipse">
            <a:avLst/>
          </a:prstGeom>
          <a:solidFill>
            <a:srgbClr val="13294B"/>
          </a:solidFill>
          <a:ln>
            <a:noFill/>
          </a:ln>
        </p:spPr>
        <p:txBody>
          <a:bodyPr rtlCol="0" anchor="ctr"/>
          <a:lstStyle/>
          <a:p>
            <a:pPr algn="ctr"/>
          </a:p>
        </p:txBody>
      </p:sp>
      <p:sp>
        <p:nvSpPr>
          <p:cNvPr id="15" name="TextBox 14"/>
          <p:cNvSpPr txBox="1"/>
          <p:nvPr/>
        </p:nvSpPr>
        <p:spPr>
          <a:xfrm>
            <a:off x="4869065" y="2580322"/>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2</a:t>
            </a:r>
          </a:p>
        </p:txBody>
      </p:sp>
      <p:sp>
        <p:nvSpPr>
          <p:cNvPr id="16" name="TextBox 15"/>
          <p:cNvSpPr txBox="1"/>
          <p:nvPr/>
        </p:nvSpPr>
        <p:spPr>
          <a:xfrm>
            <a:off x="3395395" y="3677602"/>
            <a:ext cx="2627299" cy="1679066"/>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그래프 DB에 넣는다</a:t>
            </a:r>
          </a:p>
          <a:p>
            <a:pPr algn="ctr">
              <a:lnSpc>
                <a:spcPct val="110000"/>
              </a:lnSpc>
              <a:spcAft>
                <a:spcPts val="400"/>
              </a:spcAft>
            </a:pPr>
            <a:r>
              <a:rPr sz="1350" b="0">
                <a:solidFill>
                  <a:srgbClr val="1F2A3A"/>
                </a:solidFill>
                <a:latin typeface="맑은 고딕"/>
                <a:ea typeface="맑은 고딕"/>
                <a:cs typeface="맑은 고딕"/>
              </a:rPr>
              <a:t>Neo4j에서 질의를 실행해</a:t>
            </a:r>
          </a:p>
          <a:p>
            <a:pPr algn="ctr">
              <a:lnSpc>
                <a:spcPct val="110000"/>
              </a:lnSpc>
              <a:spcAft>
                <a:spcPts val="400"/>
              </a:spcAft>
            </a:pPr>
            <a:r>
              <a:rPr sz="1350" b="0">
                <a:solidFill>
                  <a:srgbClr val="1F2A3A"/>
                </a:solidFill>
                <a:latin typeface="맑은 고딕"/>
                <a:ea typeface="맑은 고딕"/>
                <a:cs typeface="맑은 고딕"/>
              </a:rPr>
              <a:t>노드와 관계를</a:t>
            </a:r>
          </a:p>
          <a:p>
            <a:pPr algn="ctr">
              <a:lnSpc>
                <a:spcPct val="110000"/>
              </a:lnSpc>
              <a:spcAft>
                <a:spcPts val="400"/>
              </a:spcAft>
            </a:pPr>
            <a:r>
              <a:rPr sz="1350" b="0">
                <a:solidFill>
                  <a:srgbClr val="1F2A3A"/>
                </a:solidFill>
                <a:latin typeface="맑은 고딕"/>
                <a:ea typeface="맑은 고딕"/>
                <a:cs typeface="맑은 고딕"/>
              </a:rPr>
              <a:t>MERGE로 적재한다</a:t>
            </a:r>
          </a:p>
        </p:txBody>
      </p:sp>
      <p:sp>
        <p:nvSpPr>
          <p:cNvPr id="17" name="Oval 16"/>
          <p:cNvSpPr/>
          <p:nvPr/>
        </p:nvSpPr>
        <p:spPr>
          <a:xfrm>
            <a:off x="7048309" y="2626042"/>
            <a:ext cx="868680" cy="868680"/>
          </a:xfrm>
          <a:prstGeom prst="ellipse">
            <a:avLst/>
          </a:prstGeom>
          <a:solidFill>
            <a:srgbClr val="FFFFFF"/>
          </a:solidFill>
          <a:ln w="25400">
            <a:solidFill>
              <a:srgbClr val="13294B"/>
            </a:solidFill>
          </a:ln>
        </p:spPr>
        <p:txBody>
          <a:bodyPr rtlCol="0" anchor="ctr"/>
          <a:lstStyle/>
          <a:p>
            <a:pPr algn="ctr"/>
          </a:p>
        </p:txBody>
      </p:sp>
      <p:pic>
        <p:nvPicPr>
          <p:cNvPr id="18" name="아이콘:search" descr="search_13294B_1.6.png"/>
          <p:cNvPicPr>
            <a:picLocks noChangeAspect="1"/>
          </p:cNvPicPr>
          <p:nvPr/>
        </p:nvPicPr>
        <p:blipFill>
          <a:blip r:embed="rId5"/>
          <a:stretch>
            <a:fillRect/>
          </a:stretch>
        </p:blipFill>
        <p:spPr>
          <a:xfrm>
            <a:off x="7265479" y="2843212"/>
            <a:ext cx="434340" cy="434340"/>
          </a:xfrm>
          <a:prstGeom prst="rect">
            <a:avLst/>
          </a:prstGeom>
        </p:spPr>
      </p:pic>
      <p:sp>
        <p:nvSpPr>
          <p:cNvPr id="19" name="Oval 18"/>
          <p:cNvSpPr/>
          <p:nvPr/>
        </p:nvSpPr>
        <p:spPr>
          <a:xfrm>
            <a:off x="7642669" y="2580322"/>
            <a:ext cx="347472" cy="347472"/>
          </a:xfrm>
          <a:prstGeom prst="ellipse">
            <a:avLst/>
          </a:prstGeom>
          <a:solidFill>
            <a:srgbClr val="13294B"/>
          </a:solidFill>
          <a:ln>
            <a:noFill/>
          </a:ln>
        </p:spPr>
        <p:txBody>
          <a:bodyPr rtlCol="0" anchor="ctr"/>
          <a:lstStyle/>
          <a:p>
            <a:pPr algn="ctr"/>
          </a:p>
        </p:txBody>
      </p:sp>
      <p:sp>
        <p:nvSpPr>
          <p:cNvPr id="20" name="TextBox 19"/>
          <p:cNvSpPr txBox="1"/>
          <p:nvPr/>
        </p:nvSpPr>
        <p:spPr>
          <a:xfrm>
            <a:off x="7642669" y="2580322"/>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3</a:t>
            </a:r>
          </a:p>
        </p:txBody>
      </p:sp>
      <p:sp>
        <p:nvSpPr>
          <p:cNvPr id="21" name="TextBox 20"/>
          <p:cNvSpPr txBox="1"/>
          <p:nvPr/>
        </p:nvSpPr>
        <p:spPr>
          <a:xfrm>
            <a:off x="6168999" y="3677602"/>
            <a:ext cx="2627299" cy="1679066"/>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질의로 조회한다</a:t>
            </a:r>
          </a:p>
          <a:p>
            <a:pPr algn="ctr">
              <a:lnSpc>
                <a:spcPct val="110000"/>
              </a:lnSpc>
              <a:spcAft>
                <a:spcPts val="400"/>
              </a:spcAft>
            </a:pPr>
            <a:r>
              <a:rPr sz="1350" b="0">
                <a:solidFill>
                  <a:srgbClr val="1F2A3A"/>
                </a:solidFill>
                <a:latin typeface="맑은 고딕"/>
                <a:ea typeface="맑은 고딕"/>
                <a:cs typeface="맑은 고딕"/>
              </a:rPr>
              <a:t>MATCH, WHERE, RETURN으로</a:t>
            </a:r>
          </a:p>
          <a:p>
            <a:pPr algn="ctr">
              <a:lnSpc>
                <a:spcPct val="110000"/>
              </a:lnSpc>
              <a:spcAft>
                <a:spcPts val="400"/>
              </a:spcAft>
            </a:pPr>
            <a:r>
              <a:rPr sz="1350" b="0">
                <a:solidFill>
                  <a:srgbClr val="1F2A3A"/>
                </a:solidFill>
                <a:latin typeface="맑은 고딕"/>
                <a:ea typeface="맑은 고딕"/>
                <a:cs typeface="맑은 고딕"/>
              </a:rPr>
              <a:t>원인과 설비, 부품을</a:t>
            </a:r>
          </a:p>
          <a:p>
            <a:pPr algn="ctr">
              <a:lnSpc>
                <a:spcPct val="110000"/>
              </a:lnSpc>
              <a:spcAft>
                <a:spcPts val="400"/>
              </a:spcAft>
            </a:pPr>
            <a:r>
              <a:rPr sz="1350" b="0">
                <a:solidFill>
                  <a:srgbClr val="1F2A3A"/>
                </a:solidFill>
                <a:latin typeface="맑은 고딕"/>
                <a:ea typeface="맑은 고딕"/>
                <a:cs typeface="맑은 고딕"/>
              </a:rPr>
              <a:t>관계를 따라 찾는다</a:t>
            </a:r>
          </a:p>
        </p:txBody>
      </p:sp>
      <p:sp>
        <p:nvSpPr>
          <p:cNvPr id="22" name="Oval 21"/>
          <p:cNvSpPr/>
          <p:nvPr/>
        </p:nvSpPr>
        <p:spPr>
          <a:xfrm>
            <a:off x="9821913" y="2626042"/>
            <a:ext cx="868680" cy="868680"/>
          </a:xfrm>
          <a:prstGeom prst="ellipse">
            <a:avLst/>
          </a:prstGeom>
          <a:solidFill>
            <a:srgbClr val="5CB8F2"/>
          </a:solidFill>
          <a:ln>
            <a:noFill/>
          </a:ln>
        </p:spPr>
        <p:txBody>
          <a:bodyPr rtlCol="0" anchor="ctr"/>
          <a:lstStyle/>
          <a:p>
            <a:pPr algn="ctr"/>
          </a:p>
        </p:txBody>
      </p:sp>
      <p:pic>
        <p:nvPicPr>
          <p:cNvPr id="23" name="아이콘:checks" descr="checks_13294B_1.6.png"/>
          <p:cNvPicPr>
            <a:picLocks noChangeAspect="1"/>
          </p:cNvPicPr>
          <p:nvPr/>
        </p:nvPicPr>
        <p:blipFill>
          <a:blip r:embed="rId6"/>
          <a:stretch>
            <a:fillRect/>
          </a:stretch>
        </p:blipFill>
        <p:spPr>
          <a:xfrm>
            <a:off x="10039083" y="2843212"/>
            <a:ext cx="434340" cy="434340"/>
          </a:xfrm>
          <a:prstGeom prst="rect">
            <a:avLst/>
          </a:prstGeom>
        </p:spPr>
      </p:pic>
      <p:sp>
        <p:nvSpPr>
          <p:cNvPr id="24" name="Oval 23"/>
          <p:cNvSpPr/>
          <p:nvPr/>
        </p:nvSpPr>
        <p:spPr>
          <a:xfrm>
            <a:off x="10416273" y="2580322"/>
            <a:ext cx="347472" cy="347472"/>
          </a:xfrm>
          <a:prstGeom prst="ellipse">
            <a:avLst/>
          </a:prstGeom>
          <a:solidFill>
            <a:srgbClr val="13294B"/>
          </a:solidFill>
          <a:ln>
            <a:noFill/>
          </a:ln>
        </p:spPr>
        <p:txBody>
          <a:bodyPr rtlCol="0" anchor="ctr"/>
          <a:lstStyle/>
          <a:p>
            <a:pPr algn="ctr"/>
          </a:p>
        </p:txBody>
      </p:sp>
      <p:sp>
        <p:nvSpPr>
          <p:cNvPr id="25" name="TextBox 24"/>
          <p:cNvSpPr txBox="1"/>
          <p:nvPr/>
        </p:nvSpPr>
        <p:spPr>
          <a:xfrm>
            <a:off x="10416273" y="2580322"/>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4</a:t>
            </a:r>
          </a:p>
        </p:txBody>
      </p:sp>
      <p:sp>
        <p:nvSpPr>
          <p:cNvPr id="26" name="TextBox 25"/>
          <p:cNvSpPr txBox="1"/>
          <p:nvPr/>
        </p:nvSpPr>
        <p:spPr>
          <a:xfrm>
            <a:off x="8942603" y="3677602"/>
            <a:ext cx="2627299" cy="1679066"/>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결과를 확인한다</a:t>
            </a:r>
          </a:p>
          <a:p>
            <a:pPr algn="ctr">
              <a:lnSpc>
                <a:spcPct val="110000"/>
              </a:lnSpc>
              <a:spcAft>
                <a:spcPts val="400"/>
              </a:spcAft>
            </a:pPr>
            <a:r>
              <a:rPr sz="1350" b="0">
                <a:solidFill>
                  <a:srgbClr val="1F2A3A"/>
                </a:solidFill>
                <a:latin typeface="맑은 고딕"/>
                <a:ea typeface="맑은 고딕"/>
                <a:cs typeface="맑은 고딕"/>
              </a:rPr>
              <a:t>조회 결과를</a:t>
            </a:r>
          </a:p>
          <a:p>
            <a:pPr algn="ctr">
              <a:lnSpc>
                <a:spcPct val="110000"/>
              </a:lnSpc>
              <a:spcAft>
                <a:spcPts val="400"/>
              </a:spcAft>
            </a:pPr>
            <a:r>
              <a:rPr sz="1350" b="0">
                <a:solidFill>
                  <a:srgbClr val="1F2A3A"/>
                </a:solidFill>
                <a:latin typeface="맑은 고딕"/>
                <a:ea typeface="맑은 고딕"/>
                <a:cs typeface="맑은 고딕"/>
              </a:rPr>
              <a:t>그래프와 표로 읽고</a:t>
            </a:r>
          </a:p>
          <a:p>
            <a:pPr algn="ctr">
              <a:lnSpc>
                <a:spcPct val="110000"/>
              </a:lnSpc>
              <a:spcAft>
                <a:spcPts val="400"/>
              </a:spcAft>
            </a:pPr>
            <a:r>
              <a:rPr sz="1350" b="0">
                <a:solidFill>
                  <a:srgbClr val="1F2A3A"/>
                </a:solidFill>
                <a:latin typeface="맑은 고딕"/>
                <a:ea typeface="맑은 고딕"/>
                <a:cs typeface="맑은 고딕"/>
              </a:rPr>
              <a:t>설계한 구조와 대조한다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실제 지식 구조와 비교해 설계 개선하기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HYD의 지식 지도와 직접 만든 모델을 견주어 스키마를 고친다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견주는 것과 고쳐 남기는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직접 만든 모델은 HYD의 지식 지도와 견주어야 스키마에 빠진 제약과 식별자의 중복이 드러난다.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36</a:t>
            </a:r>
          </a:p>
        </p:txBody>
      </p:sp>
      <p:sp>
        <p:nvSpPr>
          <p:cNvPr id="6" name="Rounded Rectangle 5"/>
          <p:cNvSpPr/>
          <p:nvPr/>
        </p:nvSpPr>
        <p:spPr>
          <a:xfrm>
            <a:off x="548640" y="2603182"/>
            <a:ext cx="3442106" cy="2776346"/>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903933" y="2786062"/>
            <a:ext cx="731520" cy="731520"/>
          </a:xfrm>
          <a:prstGeom prst="ellipse">
            <a:avLst/>
          </a:prstGeom>
          <a:solidFill>
            <a:srgbClr val="FFFFFF"/>
          </a:solidFill>
          <a:ln>
            <a:noFill/>
          </a:ln>
        </p:spPr>
        <p:txBody>
          <a:bodyPr rtlCol="0" anchor="ctr"/>
          <a:lstStyle/>
          <a:p>
            <a:pPr algn="ctr"/>
          </a:p>
        </p:txBody>
      </p:sp>
      <p:pic>
        <p:nvPicPr>
          <p:cNvPr id="8" name="아이콘:map-search" descr="map-search_13294B_1.6.png"/>
          <p:cNvPicPr>
            <a:picLocks noChangeAspect="1"/>
          </p:cNvPicPr>
          <p:nvPr/>
        </p:nvPicPr>
        <p:blipFill>
          <a:blip r:embed="rId3"/>
          <a:stretch>
            <a:fillRect/>
          </a:stretch>
        </p:blipFill>
        <p:spPr>
          <a:xfrm>
            <a:off x="2057552" y="2939681"/>
            <a:ext cx="424281" cy="424281"/>
          </a:xfrm>
          <a:prstGeom prst="rect">
            <a:avLst/>
          </a:prstGeom>
        </p:spPr>
      </p:pic>
      <p:sp>
        <p:nvSpPr>
          <p:cNvPr id="9" name="TextBox 8"/>
          <p:cNvSpPr txBox="1"/>
          <p:nvPr/>
        </p:nvSpPr>
        <p:spPr>
          <a:xfrm>
            <a:off x="621792" y="3590734"/>
            <a:ext cx="3295802"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지식 지도를 읽는다</a:t>
            </a:r>
          </a:p>
          <a:p>
            <a:pPr algn="ctr">
              <a:lnSpc>
                <a:spcPct val="110000"/>
              </a:lnSpc>
              <a:spcAft>
                <a:spcPts val="400"/>
              </a:spcAft>
            </a:pPr>
            <a:r>
              <a:rPr sz="1350" b="0">
                <a:solidFill>
                  <a:srgbClr val="1F2A3A"/>
                </a:solidFill>
                <a:latin typeface="맑은 고딕"/>
                <a:ea typeface="맑은 고딕"/>
                <a:cs typeface="맑은 고딕"/>
              </a:rPr>
              <a:t>HYD의 지식 그래프를</a:t>
            </a:r>
          </a:p>
          <a:p>
            <a:pPr algn="ctr">
              <a:lnSpc>
                <a:spcPct val="110000"/>
              </a:lnSpc>
              <a:spcAft>
                <a:spcPts val="400"/>
              </a:spcAft>
            </a:pPr>
            <a:r>
              <a:rPr sz="1350" b="0">
                <a:solidFill>
                  <a:srgbClr val="1F2A3A"/>
                </a:solidFill>
                <a:latin typeface="맑은 고딕"/>
                <a:ea typeface="맑은 고딕"/>
                <a:cs typeface="맑은 고딕"/>
              </a:rPr>
              <a:t>그림으로 보여 주는 지식 지도에서</a:t>
            </a:r>
          </a:p>
          <a:p>
            <a:pPr algn="ctr">
              <a:lnSpc>
                <a:spcPct val="110000"/>
              </a:lnSpc>
              <a:spcAft>
                <a:spcPts val="400"/>
              </a:spcAft>
            </a:pPr>
            <a:r>
              <a:rPr sz="1350" b="0">
                <a:solidFill>
                  <a:srgbClr val="1F2A3A"/>
                </a:solidFill>
                <a:latin typeface="맑은 고딕"/>
                <a:ea typeface="맑은 고딕"/>
                <a:cs typeface="맑은 고딕"/>
              </a:rPr>
              <a:t>같은 설비의 클래스, 속성, 관계를 본다</a:t>
            </a:r>
          </a:p>
        </p:txBody>
      </p:sp>
      <p:sp>
        <p:nvSpPr>
          <p:cNvPr id="10" name="Right Arrow 9"/>
          <p:cNvSpPr/>
          <p:nvPr/>
        </p:nvSpPr>
        <p:spPr>
          <a:xfrm>
            <a:off x="4054754"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4374794" y="2603182"/>
            <a:ext cx="3442106" cy="2776346"/>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5730087" y="2786062"/>
            <a:ext cx="731520" cy="731520"/>
          </a:xfrm>
          <a:prstGeom prst="ellipse">
            <a:avLst/>
          </a:prstGeom>
          <a:solidFill>
            <a:srgbClr val="FFFFFF"/>
          </a:solidFill>
          <a:ln>
            <a:noFill/>
          </a:ln>
        </p:spPr>
        <p:txBody>
          <a:bodyPr rtlCol="0" anchor="ctr"/>
          <a:lstStyle/>
          <a:p>
            <a:pPr algn="ctr"/>
          </a:p>
        </p:txBody>
      </p:sp>
      <p:pic>
        <p:nvPicPr>
          <p:cNvPr id="13" name="아이콘:git-compare" descr="git-compare_13294B_1.6.png"/>
          <p:cNvPicPr>
            <a:picLocks noChangeAspect="1"/>
          </p:cNvPicPr>
          <p:nvPr/>
        </p:nvPicPr>
        <p:blipFill>
          <a:blip r:embed="rId4"/>
          <a:stretch>
            <a:fillRect/>
          </a:stretch>
        </p:blipFill>
        <p:spPr>
          <a:xfrm>
            <a:off x="5883706" y="2939681"/>
            <a:ext cx="424281" cy="424281"/>
          </a:xfrm>
          <a:prstGeom prst="rect">
            <a:avLst/>
          </a:prstGeom>
        </p:spPr>
      </p:pic>
      <p:sp>
        <p:nvSpPr>
          <p:cNvPr id="14" name="TextBox 13"/>
          <p:cNvSpPr txBox="1"/>
          <p:nvPr/>
        </p:nvSpPr>
        <p:spPr>
          <a:xfrm>
            <a:off x="4447946" y="3590734"/>
            <a:ext cx="3295802"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내 모델과 견준다</a:t>
            </a:r>
          </a:p>
          <a:p>
            <a:pPr algn="ctr">
              <a:lnSpc>
                <a:spcPct val="110000"/>
              </a:lnSpc>
              <a:spcAft>
                <a:spcPts val="400"/>
              </a:spcAft>
            </a:pPr>
            <a:r>
              <a:rPr sz="1350" b="0">
                <a:solidFill>
                  <a:srgbClr val="1F2A3A"/>
                </a:solidFill>
                <a:latin typeface="맑은 고딕"/>
                <a:ea typeface="맑은 고딕"/>
                <a:cs typeface="맑은 고딕"/>
              </a:rPr>
              <a:t>공용 부품, 복수 관계,</a:t>
            </a:r>
          </a:p>
          <a:p>
            <a:pPr algn="ctr">
              <a:lnSpc>
                <a:spcPct val="110000"/>
              </a:lnSpc>
              <a:spcAft>
                <a:spcPts val="400"/>
              </a:spcAft>
            </a:pPr>
            <a:r>
              <a:rPr sz="1350" b="0">
                <a:solidFill>
                  <a:srgbClr val="1F2A3A"/>
                </a:solidFill>
                <a:latin typeface="맑은 고딕"/>
                <a:ea typeface="맑은 고딕"/>
                <a:cs typeface="맑은 고딕"/>
              </a:rPr>
              <a:t>중복 식별자처럼</a:t>
            </a:r>
          </a:p>
          <a:p>
            <a:pPr algn="ctr">
              <a:lnSpc>
                <a:spcPct val="110000"/>
              </a:lnSpc>
              <a:spcAft>
                <a:spcPts val="400"/>
              </a:spcAft>
            </a:pPr>
            <a:r>
              <a:rPr sz="1350" b="0">
                <a:solidFill>
                  <a:srgbClr val="1F2A3A"/>
                </a:solidFill>
                <a:latin typeface="맑은 고딕"/>
                <a:ea typeface="맑은 고딕"/>
                <a:cs typeface="맑은 고딕"/>
              </a:rPr>
              <a:t>내 모델과 다른 곳을 가린다</a:t>
            </a:r>
          </a:p>
        </p:txBody>
      </p:sp>
      <p:sp>
        <p:nvSpPr>
          <p:cNvPr id="15" name="Right Arrow 14"/>
          <p:cNvSpPr/>
          <p:nvPr/>
        </p:nvSpPr>
        <p:spPr>
          <a:xfrm>
            <a:off x="7880908"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8200948" y="2603182"/>
            <a:ext cx="3442106" cy="2776346"/>
          </a:xfrm>
          <a:prstGeom prst="roundRect">
            <a:avLst>
              <a:gd name="adj" fmla="val 5000"/>
            </a:avLst>
          </a:prstGeom>
          <a:solidFill>
            <a:srgbClr val="E7F3FD"/>
          </a:solidFill>
          <a:ln w="25400">
            <a:solidFill>
              <a:srgbClr val="5CB8F2"/>
            </a:solidFill>
          </a:ln>
        </p:spPr>
        <p:txBody>
          <a:bodyPr rtlCol="0" anchor="ctr"/>
          <a:lstStyle/>
          <a:p>
            <a:pPr algn="ctr"/>
          </a:p>
        </p:txBody>
      </p:sp>
      <p:sp>
        <p:nvSpPr>
          <p:cNvPr id="17" name="Oval 16"/>
          <p:cNvSpPr/>
          <p:nvPr/>
        </p:nvSpPr>
        <p:spPr>
          <a:xfrm>
            <a:off x="9556242" y="2786062"/>
            <a:ext cx="731520" cy="731520"/>
          </a:xfrm>
          <a:prstGeom prst="ellipse">
            <a:avLst/>
          </a:prstGeom>
          <a:solidFill>
            <a:srgbClr val="5CB8F2"/>
          </a:solidFill>
          <a:ln>
            <a:noFill/>
          </a:ln>
        </p:spPr>
        <p:txBody>
          <a:bodyPr rtlCol="0" anchor="ctr"/>
          <a:lstStyle/>
          <a:p>
            <a:pPr algn="ctr"/>
          </a:p>
        </p:txBody>
      </p:sp>
      <p:pic>
        <p:nvPicPr>
          <p:cNvPr id="18" name="아이콘:edit" descr="edit_13294B_1.6.png"/>
          <p:cNvPicPr>
            <a:picLocks noChangeAspect="1"/>
          </p:cNvPicPr>
          <p:nvPr/>
        </p:nvPicPr>
        <p:blipFill>
          <a:blip r:embed="rId5"/>
          <a:stretch>
            <a:fillRect/>
          </a:stretch>
        </p:blipFill>
        <p:spPr>
          <a:xfrm>
            <a:off x="9709861" y="2939681"/>
            <a:ext cx="424281" cy="424281"/>
          </a:xfrm>
          <a:prstGeom prst="rect">
            <a:avLst/>
          </a:prstGeom>
        </p:spPr>
      </p:pic>
      <p:sp>
        <p:nvSpPr>
          <p:cNvPr id="19" name="TextBox 18"/>
          <p:cNvSpPr txBox="1"/>
          <p:nvPr/>
        </p:nvSpPr>
        <p:spPr>
          <a:xfrm>
            <a:off x="8274100" y="3590734"/>
            <a:ext cx="3295802"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스키마를 고친다</a:t>
            </a:r>
          </a:p>
          <a:p>
            <a:pPr algn="ctr">
              <a:lnSpc>
                <a:spcPct val="110000"/>
              </a:lnSpc>
              <a:spcAft>
                <a:spcPts val="400"/>
              </a:spcAft>
            </a:pPr>
            <a:r>
              <a:rPr sz="1350" b="0">
                <a:solidFill>
                  <a:srgbClr val="1F2A3A"/>
                </a:solidFill>
                <a:latin typeface="맑은 고딕"/>
                <a:ea typeface="맑은 고딕"/>
                <a:cs typeface="맑은 고딕"/>
              </a:rPr>
              <a:t>차이를 반영해</a:t>
            </a:r>
          </a:p>
          <a:p>
            <a:pPr algn="ctr">
              <a:lnSpc>
                <a:spcPct val="110000"/>
              </a:lnSpc>
              <a:spcAft>
                <a:spcPts val="400"/>
              </a:spcAft>
            </a:pPr>
            <a:r>
              <a:rPr sz="1350" b="0">
                <a:solidFill>
                  <a:srgbClr val="1F2A3A"/>
                </a:solidFill>
                <a:latin typeface="맑은 고딕"/>
                <a:ea typeface="맑은 고딕"/>
                <a:cs typeface="맑은 고딕"/>
              </a:rPr>
              <a:t>스키마 파일을 수정하고</a:t>
            </a:r>
          </a:p>
          <a:p>
            <a:pPr algn="ctr">
              <a:lnSpc>
                <a:spcPct val="110000"/>
              </a:lnSpc>
              <a:spcAft>
                <a:spcPts val="400"/>
              </a:spcAft>
            </a:pPr>
            <a:r>
              <a:rPr sz="1350" b="0">
                <a:solidFill>
                  <a:srgbClr val="1F2A3A"/>
                </a:solidFill>
                <a:latin typeface="맑은 고딕"/>
                <a:ea typeface="맑은 고딕"/>
                <a:cs typeface="맑은 고딕"/>
              </a:rPr>
              <a:t>고친 파일을 보존한다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오늘 다룬 핵심 개념과 주요 용어 정리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오늘의 용어는 지식을 정의하는 말 여섯과 그래프 DB를 쓰는 말 둘이다.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37</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용어</a:t>
            </a:r>
          </a:p>
        </p:txBody>
      </p:sp>
      <p:sp>
        <p:nvSpPr>
          <p:cNvPr id="8" name="TextBox 7"/>
          <p:cNvSpPr txBox="1"/>
          <p:nvPr/>
        </p:nvSpPr>
        <p:spPr>
          <a:xfrm>
            <a:off x="3200400" y="1627632"/>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한 줄 뜻</a:t>
            </a:r>
          </a:p>
        </p:txBody>
      </p:sp>
      <p:sp>
        <p:nvSpPr>
          <p:cNvPr id="9" name="TextBox 8"/>
          <p:cNvSpPr txBox="1"/>
          <p:nvPr/>
        </p:nvSpPr>
        <p:spPr>
          <a:xfrm>
            <a:off x="9448495" y="1627632"/>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영문</a:t>
            </a:r>
          </a:p>
        </p:txBody>
      </p:sp>
      <p:sp>
        <p:nvSpPr>
          <p:cNvPr id="10" name="Rounded Rectangle 9"/>
          <p:cNvSpPr/>
          <p:nvPr/>
        </p:nvSpPr>
        <p:spPr>
          <a:xfrm>
            <a:off x="548640" y="2061972"/>
            <a:ext cx="11094415" cy="476631"/>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온톨로지</a:t>
            </a:r>
          </a:p>
        </p:txBody>
      </p:sp>
      <p:sp>
        <p:nvSpPr>
          <p:cNvPr id="12" name="TextBox 11"/>
          <p:cNvSpPr txBox="1"/>
          <p:nvPr/>
        </p:nvSpPr>
        <p:spPr>
          <a:xfrm>
            <a:off x="3200400" y="2029968"/>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대상의 종류, 속성, 관계, 제약을 정의한 지식 모델</a:t>
            </a:r>
          </a:p>
        </p:txBody>
      </p:sp>
      <p:sp>
        <p:nvSpPr>
          <p:cNvPr id="13" name="TextBox 12"/>
          <p:cNvSpPr txBox="1"/>
          <p:nvPr/>
        </p:nvSpPr>
        <p:spPr>
          <a:xfrm>
            <a:off x="9448495" y="2029968"/>
            <a:ext cx="2103120" cy="540639"/>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Ontology</a:t>
            </a:r>
          </a:p>
        </p:txBody>
      </p:sp>
      <p:sp>
        <p:nvSpPr>
          <p:cNvPr id="14" name="Rounded Rectangle 13"/>
          <p:cNvSpPr/>
          <p:nvPr/>
        </p:nvSpPr>
        <p:spPr>
          <a:xfrm>
            <a:off x="548640" y="2602611"/>
            <a:ext cx="11094415" cy="476631"/>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570607"/>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클래스</a:t>
            </a:r>
          </a:p>
        </p:txBody>
      </p:sp>
      <p:sp>
        <p:nvSpPr>
          <p:cNvPr id="16" name="TextBox 15"/>
          <p:cNvSpPr txBox="1"/>
          <p:nvPr/>
        </p:nvSpPr>
        <p:spPr>
          <a:xfrm>
            <a:off x="3200400" y="2570607"/>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공통 특성을 가진 대상의 유형</a:t>
            </a:r>
          </a:p>
        </p:txBody>
      </p:sp>
      <p:sp>
        <p:nvSpPr>
          <p:cNvPr id="17" name="TextBox 16"/>
          <p:cNvSpPr txBox="1"/>
          <p:nvPr/>
        </p:nvSpPr>
        <p:spPr>
          <a:xfrm>
            <a:off x="9448495" y="2570607"/>
            <a:ext cx="2103120" cy="540639"/>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Class</a:t>
            </a:r>
          </a:p>
        </p:txBody>
      </p:sp>
      <p:sp>
        <p:nvSpPr>
          <p:cNvPr id="18" name="Rounded Rectangle 17"/>
          <p:cNvSpPr/>
          <p:nvPr/>
        </p:nvSpPr>
        <p:spPr>
          <a:xfrm>
            <a:off x="548640" y="3143250"/>
            <a:ext cx="11094415" cy="476631"/>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111246"/>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인스턴스</a:t>
            </a:r>
          </a:p>
        </p:txBody>
      </p:sp>
      <p:sp>
        <p:nvSpPr>
          <p:cNvPr id="20" name="TextBox 19"/>
          <p:cNvSpPr txBox="1"/>
          <p:nvPr/>
        </p:nvSpPr>
        <p:spPr>
          <a:xfrm>
            <a:off x="3200400" y="3111246"/>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클래스에 속하는 실제 대상 하나</a:t>
            </a:r>
          </a:p>
        </p:txBody>
      </p:sp>
      <p:sp>
        <p:nvSpPr>
          <p:cNvPr id="21" name="TextBox 20"/>
          <p:cNvSpPr txBox="1"/>
          <p:nvPr/>
        </p:nvSpPr>
        <p:spPr>
          <a:xfrm>
            <a:off x="9448495" y="3111246"/>
            <a:ext cx="2103120" cy="540639"/>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Instance</a:t>
            </a:r>
          </a:p>
        </p:txBody>
      </p:sp>
      <p:sp>
        <p:nvSpPr>
          <p:cNvPr id="22" name="Rounded Rectangle 21"/>
          <p:cNvSpPr/>
          <p:nvPr/>
        </p:nvSpPr>
        <p:spPr>
          <a:xfrm>
            <a:off x="548640" y="3683888"/>
            <a:ext cx="11094415" cy="476631"/>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3651885"/>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속성</a:t>
            </a:r>
          </a:p>
        </p:txBody>
      </p:sp>
      <p:sp>
        <p:nvSpPr>
          <p:cNvPr id="24" name="TextBox 23"/>
          <p:cNvSpPr txBox="1"/>
          <p:nvPr/>
        </p:nvSpPr>
        <p:spPr>
          <a:xfrm>
            <a:off x="3200400" y="3651885"/>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클래스가 정한 값의 칸</a:t>
            </a:r>
          </a:p>
        </p:txBody>
      </p:sp>
      <p:sp>
        <p:nvSpPr>
          <p:cNvPr id="25" name="TextBox 24"/>
          <p:cNvSpPr txBox="1"/>
          <p:nvPr/>
        </p:nvSpPr>
        <p:spPr>
          <a:xfrm>
            <a:off x="9448495" y="3651885"/>
            <a:ext cx="2103120" cy="540639"/>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Property</a:t>
            </a:r>
          </a:p>
        </p:txBody>
      </p:sp>
      <p:sp>
        <p:nvSpPr>
          <p:cNvPr id="26" name="Rounded Rectangle 25"/>
          <p:cNvSpPr/>
          <p:nvPr/>
        </p:nvSpPr>
        <p:spPr>
          <a:xfrm>
            <a:off x="548640" y="4224528"/>
            <a:ext cx="11094415" cy="476631"/>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4192524"/>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스키마</a:t>
            </a:r>
          </a:p>
        </p:txBody>
      </p:sp>
      <p:sp>
        <p:nvSpPr>
          <p:cNvPr id="28" name="TextBox 27"/>
          <p:cNvSpPr txBox="1"/>
          <p:nvPr/>
        </p:nvSpPr>
        <p:spPr>
          <a:xfrm>
            <a:off x="3200400" y="4192524"/>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클래스, 속성, 관계, 제약의 정의</a:t>
            </a:r>
          </a:p>
        </p:txBody>
      </p:sp>
      <p:sp>
        <p:nvSpPr>
          <p:cNvPr id="29" name="TextBox 28"/>
          <p:cNvSpPr txBox="1"/>
          <p:nvPr/>
        </p:nvSpPr>
        <p:spPr>
          <a:xfrm>
            <a:off x="9448495" y="4192524"/>
            <a:ext cx="2103120" cy="540639"/>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Schema</a:t>
            </a:r>
          </a:p>
        </p:txBody>
      </p:sp>
      <p:sp>
        <p:nvSpPr>
          <p:cNvPr id="30" name="Rounded Rectangle 29"/>
          <p:cNvSpPr/>
          <p:nvPr/>
        </p:nvSpPr>
        <p:spPr>
          <a:xfrm>
            <a:off x="548640" y="4765167"/>
            <a:ext cx="11094415" cy="476631"/>
          </a:xfrm>
          <a:prstGeom prst="roundRect">
            <a:avLst>
              <a:gd name="adj" fmla="val 8000"/>
            </a:avLst>
          </a:prstGeom>
          <a:solidFill>
            <a:srgbClr val="F3F6F9"/>
          </a:solidFill>
          <a:ln>
            <a:noFill/>
          </a:ln>
        </p:spPr>
        <p:txBody>
          <a:bodyPr rtlCol="0" anchor="ctr"/>
          <a:lstStyle/>
          <a:p>
            <a:pPr algn="ctr"/>
          </a:p>
        </p:txBody>
      </p:sp>
      <p:sp>
        <p:nvSpPr>
          <p:cNvPr id="31" name="TextBox 30"/>
          <p:cNvSpPr txBox="1"/>
          <p:nvPr/>
        </p:nvSpPr>
        <p:spPr>
          <a:xfrm>
            <a:off x="685800" y="4733163"/>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식별자</a:t>
            </a:r>
          </a:p>
        </p:txBody>
      </p:sp>
      <p:sp>
        <p:nvSpPr>
          <p:cNvPr id="32" name="TextBox 31"/>
          <p:cNvSpPr txBox="1"/>
          <p:nvPr/>
        </p:nvSpPr>
        <p:spPr>
          <a:xfrm>
            <a:off x="3200400" y="4733163"/>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대상 하나를 가리키는 고유한 값</a:t>
            </a:r>
          </a:p>
        </p:txBody>
      </p:sp>
      <p:sp>
        <p:nvSpPr>
          <p:cNvPr id="33" name="TextBox 32"/>
          <p:cNvSpPr txBox="1"/>
          <p:nvPr/>
        </p:nvSpPr>
        <p:spPr>
          <a:xfrm>
            <a:off x="9448495" y="4733163"/>
            <a:ext cx="2103120" cy="540639"/>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Identifier</a:t>
            </a:r>
          </a:p>
        </p:txBody>
      </p:sp>
      <p:sp>
        <p:nvSpPr>
          <p:cNvPr id="34" name="Rounded Rectangle 33"/>
          <p:cNvSpPr/>
          <p:nvPr/>
        </p:nvSpPr>
        <p:spPr>
          <a:xfrm>
            <a:off x="548640" y="5305806"/>
            <a:ext cx="11094415" cy="476631"/>
          </a:xfrm>
          <a:prstGeom prst="roundRect">
            <a:avLst>
              <a:gd name="adj" fmla="val 8000"/>
            </a:avLst>
          </a:prstGeom>
          <a:solidFill>
            <a:srgbClr val="F3F6F9"/>
          </a:solidFill>
          <a:ln>
            <a:noFill/>
          </a:ln>
        </p:spPr>
        <p:txBody>
          <a:bodyPr rtlCol="0" anchor="ctr"/>
          <a:lstStyle/>
          <a:p>
            <a:pPr algn="ctr"/>
          </a:p>
        </p:txBody>
      </p:sp>
      <p:sp>
        <p:nvSpPr>
          <p:cNvPr id="35" name="TextBox 34"/>
          <p:cNvSpPr txBox="1"/>
          <p:nvPr/>
        </p:nvSpPr>
        <p:spPr>
          <a:xfrm>
            <a:off x="685800" y="5273802"/>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레이블</a:t>
            </a:r>
          </a:p>
        </p:txBody>
      </p:sp>
      <p:sp>
        <p:nvSpPr>
          <p:cNvPr id="36" name="TextBox 35"/>
          <p:cNvSpPr txBox="1"/>
          <p:nvPr/>
        </p:nvSpPr>
        <p:spPr>
          <a:xfrm>
            <a:off x="3200400" y="5273802"/>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노드의 종류를 나타내는 이름표</a:t>
            </a:r>
          </a:p>
        </p:txBody>
      </p:sp>
      <p:sp>
        <p:nvSpPr>
          <p:cNvPr id="37" name="TextBox 36"/>
          <p:cNvSpPr txBox="1"/>
          <p:nvPr/>
        </p:nvSpPr>
        <p:spPr>
          <a:xfrm>
            <a:off x="9448495" y="5273802"/>
            <a:ext cx="2103120" cy="540639"/>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Label</a:t>
            </a:r>
          </a:p>
        </p:txBody>
      </p:sp>
      <p:sp>
        <p:nvSpPr>
          <p:cNvPr id="38" name="Rounded Rectangle 37"/>
          <p:cNvSpPr/>
          <p:nvPr/>
        </p:nvSpPr>
        <p:spPr>
          <a:xfrm>
            <a:off x="548640" y="5846445"/>
            <a:ext cx="11094415" cy="476631"/>
          </a:xfrm>
          <a:prstGeom prst="roundRect">
            <a:avLst>
              <a:gd name="adj" fmla="val 8000"/>
            </a:avLst>
          </a:prstGeom>
          <a:solidFill>
            <a:srgbClr val="F3F6F9"/>
          </a:solidFill>
          <a:ln>
            <a:noFill/>
          </a:ln>
        </p:spPr>
        <p:txBody>
          <a:bodyPr rtlCol="0" anchor="ctr"/>
          <a:lstStyle/>
          <a:p>
            <a:pPr algn="ctr"/>
          </a:p>
        </p:txBody>
      </p:sp>
      <p:sp>
        <p:nvSpPr>
          <p:cNvPr id="39" name="TextBox 38"/>
          <p:cNvSpPr txBox="1"/>
          <p:nvPr/>
        </p:nvSpPr>
        <p:spPr>
          <a:xfrm>
            <a:off x="685800" y="5814441"/>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질의</a:t>
            </a:r>
          </a:p>
        </p:txBody>
      </p:sp>
      <p:sp>
        <p:nvSpPr>
          <p:cNvPr id="40" name="TextBox 39"/>
          <p:cNvSpPr txBox="1"/>
          <p:nvPr/>
        </p:nvSpPr>
        <p:spPr>
          <a:xfrm>
            <a:off x="3200400" y="5814441"/>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데이터베이스에 보내는 요청</a:t>
            </a:r>
          </a:p>
        </p:txBody>
      </p:sp>
      <p:sp>
        <p:nvSpPr>
          <p:cNvPr id="41" name="TextBox 40"/>
          <p:cNvSpPr txBox="1"/>
          <p:nvPr/>
        </p:nvSpPr>
        <p:spPr>
          <a:xfrm>
            <a:off x="9448495" y="5814441"/>
            <a:ext cx="2103120" cy="540639"/>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Query</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Review Quiz: 핵심 흐름 되짚어보기</a:t>
            </a:r>
          </a:p>
        </p:txBody>
      </p:sp>
      <p:sp>
        <p:nvSpPr>
          <p:cNvPr id="5" name="TextBox 4"/>
          <p:cNvSpPr txBox="1"/>
          <p:nvPr/>
        </p:nvSpPr>
        <p:spPr>
          <a:xfrm>
            <a:off x="731520" y="41605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배운 내용을 바탕으로 정답을 맞춰보세요.</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1. 경보 이후의 판단</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HYD-01에서 쿨러 성능 저하 경보가 났고, 그때 팬 진동 VS1의 평균은 1.1 mm/s, 캐비닛 온도 TS4는 28 ℃였다.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39</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이 값에서 내릴 판단으로 가장 적절한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경보 이름이 쿨러 성능 저하이므로 원인은 쿨러 핀 오염이다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팬 진동이 기준 0.9 이상이므로 팬 구동 불량을 먼저 의심한다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유온이 올랐으므로 원인과 관계없이 팬을 최대로 올린다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캐비닛 온도가 정상이므로 설비에는 이상이 없다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2. 스키마와 인스턴스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공장에 같은 기종의 유압 파워팩 한 대가 새로 들어와 HYD-04라는 설비 코드를 받았다.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40</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이 설비를 지식 그래프에 반영하는 방법으로 가장 적절한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스키마에 「HYD-04」라는 클래스를 새로 정의한다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Asset 클래스에 「넷째 설비」라는 속성을 더한다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Asset 클래스의 인스턴스 하나를 더하고 구성 요소와 관계로 잇는다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기존 HYD-01 인스턴스의 code 값을 HYD-04로 고친다</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3. 방향이 있는 관계의 조회</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HAS_COMPONENT는 Asset에서 Component로 향하는 관계이며, 오일 쿨러를 가진 설비를 찾으려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41</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찾을 모양을 바르게 적은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(c:Component {name: '오일 쿨러'})-[:HAS_COMPONENT]-&gt;(a:Asset)</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(c:Component {name: '오일 쿨러'})&lt;-[:HAS_COMPONENT]-(a:Asset)</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(c:Component {name: '오일 쿨러'})&lt;-[:MONITORED_BY]-(a:Asset)</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[c:Component {name: '오일 쿨러'}]&lt;-(:HAS_COMPONENT)-[a:Asset]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정답과 판단 기준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세 문항은 경보와 원인, 유형과 대상, 관계의 방향을 구분하는지를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42</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문항</a:t>
            </a:r>
          </a:p>
        </p:txBody>
      </p:sp>
      <p:sp>
        <p:nvSpPr>
          <p:cNvPr id="8" name="TextBox 7"/>
          <p:cNvSpPr txBox="1"/>
          <p:nvPr/>
        </p:nvSpPr>
        <p:spPr>
          <a:xfrm>
            <a:off x="3200400" y="24185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판단 기준</a:t>
            </a:r>
          </a:p>
        </p:txBody>
      </p:sp>
      <p:sp>
        <p:nvSpPr>
          <p:cNvPr id="9" name="TextBox 8"/>
          <p:cNvSpPr txBox="1"/>
          <p:nvPr/>
        </p:nvSpPr>
        <p:spPr>
          <a:xfrm>
            <a:off x="9448495" y="24185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정답</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1</a:t>
            </a:r>
          </a:p>
        </p:txBody>
      </p:sp>
      <p:sp>
        <p:nvSpPr>
          <p:cNvPr id="12" name="TextBox 11"/>
          <p:cNvSpPr txBox="1"/>
          <p:nvPr/>
        </p:nvSpPr>
        <p:spPr>
          <a:xfrm>
            <a:off x="3200400" y="2820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경보는 조건이 성립했다는 사실만 알린다. 원인은 팬 진동과 캐비닛 온도 같은 다른 값으로 가른다.</a:t>
            </a:r>
          </a:p>
        </p:txBody>
      </p:sp>
      <p:sp>
        <p:nvSpPr>
          <p:cNvPr id="13" name="TextBox 12"/>
          <p:cNvSpPr txBox="1"/>
          <p:nvPr/>
        </p:nvSpPr>
        <p:spPr>
          <a:xfrm>
            <a:off x="9448495" y="2820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2번</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2</a:t>
            </a:r>
          </a:p>
        </p:txBody>
      </p:sp>
      <p:sp>
        <p:nvSpPr>
          <p:cNvPr id="16" name="TextBox 15"/>
          <p:cNvSpPr txBox="1"/>
          <p:nvPr/>
        </p:nvSpPr>
        <p:spPr>
          <a:xfrm>
            <a:off x="3200400" y="37353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새로 생긴 것은 유형이 아니라 대상 하나이다. 스키마는 그대로 두고 인스턴스와 관계를 더한다.</a:t>
            </a:r>
          </a:p>
        </p:txBody>
      </p:sp>
      <p:sp>
        <p:nvSpPr>
          <p:cNvPr id="17" name="TextBox 16"/>
          <p:cNvSpPr txBox="1"/>
          <p:nvPr/>
        </p:nvSpPr>
        <p:spPr>
          <a:xfrm>
            <a:off x="9448495" y="37353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3번</a:t>
            </a:r>
          </a:p>
        </p:txBody>
      </p:sp>
      <p:sp>
        <p:nvSpPr>
          <p:cNvPr id="18" name="Rounded Rectangle 17"/>
          <p:cNvSpPr/>
          <p:nvPr/>
        </p:nvSpPr>
        <p:spPr>
          <a:xfrm>
            <a:off x="548640" y="46817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3</a:t>
            </a:r>
          </a:p>
        </p:txBody>
      </p:sp>
      <p:sp>
        <p:nvSpPr>
          <p:cNvPr id="20" name="TextBox 19"/>
          <p:cNvSpPr txBox="1"/>
          <p:nvPr/>
        </p:nvSpPr>
        <p:spPr>
          <a:xfrm>
            <a:off x="3200400" y="4649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관계는 설비에서 구성 요소로 향한다. 구성 요소 쪽에서 출발하면 화살표를 구성 요소 쪽으로 향하게 적는다.</a:t>
            </a:r>
          </a:p>
        </p:txBody>
      </p:sp>
      <p:sp>
        <p:nvSpPr>
          <p:cNvPr id="21" name="TextBox 20"/>
          <p:cNvSpPr txBox="1"/>
          <p:nvPr/>
        </p:nvSpPr>
        <p:spPr>
          <a:xfrm>
            <a:off x="9448495" y="4649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2번</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