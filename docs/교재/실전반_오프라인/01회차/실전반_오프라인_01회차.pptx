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이론에서는 지식이 왜 필요한지와 그 지식을 클래스와 스키마로 정의하고 Cypher로 조회하는 개념을 다룹니다. 이어지는 네 개의 실습에서는 관계를 그리고, 스키마로 정의하고, 그래프 DB에 넣어 조회하고, 실제 지식 구조와 견주어 고칩니다.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설비에서 난 사건 하나를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HYD-01에서 난 쿨러 성능 저하 사건을 저장된 값으로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 곧 설비를 지키려고 PLC에 정해 둔 정지 조건을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표나 문서에 적어 두면 컴퓨터가 따라가지 못하고, 앞의 한 줄 규칙처럼 코드에 넣으면 고치기 어렵습니다. 그래서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대상이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칸이고,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 곧 유온처럼 센서가 읽는 설비의 상태로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앞에서 CAUSES는 원인에서 고장 유형으로 향한다고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문제에서 넣은 사람은 저마다 맞게 넣었고, 없는 것은 모두가 함께 따르는 약속입니다. 그 약속이 스키마입니다. 앞에서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클래스 정의에는 속성 목록이 들어가고, 앞에서 본 센서의 다섯 칸이 한 줄씩 적혀 있습니다. 한 줄은 속성의 이름, 자료형, 필수 여부의 순서입니다. tag 한 줄을 읽으면 이름은 tag, 자료형은 글자, 그리고 반드시 있어야 하는 속성입니다. 값의 형식과 필수 여부가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HYD에서 관계를 따라 원인 후보를 찾는 일도 Cypher 질의를 Neo4j에 보내는 것입니다.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PLC에 정해 둔 인터록의 기준이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경보에서 출발해 원인 후보까지 가는 길을 Cypher로 적었습니다. 먼저 경보에 실려 오는 패턴 이름인 이상 패턴에서 DETECTS를 따라 증상으로, INDICATES를 따라 고장 유형으로 가며, 두 관계 모두 화살표가 오른쪽을 향합니다. 다음으로 CAUSES는 원인에서 고장 유형으로 가는 관계인데 지금은 고장 유형 쪽에서 출발하므로 화살표를 왼쪽으로 적습니다. 그림의 화살표 방향을 그대로 옮기면 됩니다. 이 한 줄 앞에 MATCH를 붙인 것이 원인 후보를 찾을 때 보내는 질의입니다.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 이 그림은 뒤의 스키마 설계에서 참고 자료로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센서와 오일 쿨러의 예로 본 정의의 순서를 앞서 그린 관계도로 직접 밟습니다. 정의한 내용을 Claude Code에 요구사항으로 전달해 파일을 만들게 합니다.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실습에서 설계한 스키마와 인스턴스를 그래프 DB에 넣습니다. 적재는 실습용 그래프에 하고, 수업에서 기준으로 제공하는 그래프는 읽기만 합니다. 두 그래프를 혼동하지 않도록 질의를 실행하기 전에 어느 쪽에 연결되어 있는지 확인합니다. 질의는 실행하기 전에 읽어, 노드를 식별자로 MERGE하는지와 관계의 방향이 스키마의 정의와 같은지를 확인합니다. 넣은 뒤에는 MATCH와 WHERE와 RETURN으로 원인, 설비, 부품을 찾아 결과가 설계와 같은지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지도에는 같은 부품이 여러 설비에 쓰이는 경우와 한 대상에 관계가 여럿 붙는 경우가 들어 있습니다. 같은 설비를 지식 지도에서 찾아 내 모델과 어디가 다른지를 가립니다. 차이를 스키마 파일에 반영하고, 고친 파일은 이후의 실습에서 다시 쓰므로 보존합니다.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일곱은 지식을 정의하는 쪽의 말이고 아래 둘은 그래프 DB 쪽의 말입니다. 이 가운데 하나를 골라 자료 없이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문항은 경보가 알려 주는 것과 원인을 가르는 값을 구분하는지를 봅니다. 둘째 문항의 1번은 대상마다 클래스를 만드는 실수입니다. 셋째 문항의 1번은 방향이 반대이고, 3번은 관계 유형이 다르며, 4번은 둥근 괄호와 대괄호를 바꾸어 썼습니다.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2.png"/><Relationship Id="rId4" Type="http://schemas.openxmlformats.org/officeDocument/2006/relationships/image" Target="../media/image20.png"/><Relationship Id="rId5" Type="http://schemas.openxmlformats.org/officeDocument/2006/relationships/image" Target="../media/image33.png"/><Relationship Id="rId6"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데이터의 공통 지식 설계와</a:t>
            </a:r>
          </a:p>
          <a:p>
            <a:pPr algn="l">
              <a:lnSpc>
                <a:spcPct val="110000"/>
              </a:lnSpc>
            </a:pPr>
            <a:r>
              <a:rPr sz="4000" b="1">
                <a:solidFill>
                  <a:srgbClr val="FFFFFF"/>
                </a:solidFill>
                <a:latin typeface="맑은 고딕"/>
                <a:ea typeface="맑은 고딕"/>
                <a:cs typeface="맑은 고딕"/>
              </a:rPr>
              <a:t>그래프 DB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필요한 지식의 정의에서 스키마 설계와 Cypher 조회까지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database" descr="databas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뒤의 판단에 필요한 지식을 정의하고, 그래프 DB에 넣어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필요</a:t>
            </a:r>
          </a:p>
          <a:p>
            <a:pPr algn="l">
              <a:lnSpc>
                <a:spcPct val="110000"/>
              </a:lnSpc>
              <a:spcAft>
                <a:spcPts val="400"/>
              </a:spcAft>
            </a:pPr>
            <a:r>
              <a:rPr sz="1350" b="0">
                <a:solidFill>
                  <a:srgbClr val="1F2A3A"/>
                </a:solidFill>
                <a:latin typeface="맑은 고딕"/>
                <a:ea typeface="맑은 고딕"/>
                <a:cs typeface="맑은 고딕"/>
              </a:rPr>
              <a:t>경보와 개별 수치만으로는 조치를 정할 수 없는 까닭을 원인 후보와 판별 값으로 설명한다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필요한가</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설비, 센서, 증상, 원인, 조치를 이름과 방향이 있는 관계로 그린다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관계도</a:t>
            </a:r>
          </a:p>
        </p:txBody>
      </p:sp>
      <p:sp>
        <p:nvSpPr>
          <p:cNvPr id="18" name="Rounded Rectangle 17"/>
          <p:cNvSpPr/>
          <p:nvPr/>
        </p:nvSpPr>
        <p:spPr>
          <a:xfrm>
            <a:off x="6233007"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 설계</a:t>
            </a:r>
          </a:p>
          <a:p>
            <a:pPr algn="l">
              <a:lnSpc>
                <a:spcPct val="110000"/>
              </a:lnSpc>
              <a:spcAft>
                <a:spcPts val="400"/>
              </a:spcAft>
            </a:pPr>
            <a:r>
              <a:rPr sz="1350" b="0">
                <a:solidFill>
                  <a:srgbClr val="1F2A3A"/>
                </a:solidFill>
                <a:latin typeface="맑은 고딕"/>
                <a:ea typeface="맑은 고딕"/>
                <a:cs typeface="맑은 고딕"/>
              </a:rPr>
              <a:t>클래스, 인스턴스, 속성, 식별자, 관계 방향을 정의한 스키마를 쓴다</a:t>
            </a:r>
          </a:p>
        </p:txBody>
      </p:sp>
      <p:sp>
        <p:nvSpPr>
          <p:cNvPr id="22" name="Rounded Rectangle 21"/>
          <p:cNvSpPr/>
          <p:nvPr/>
        </p:nvSpPr>
        <p:spPr>
          <a:xfrm>
            <a:off x="6461607" y="5134356"/>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공통 모델</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database" descr="databas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 구현</a:t>
            </a:r>
          </a:p>
          <a:p>
            <a:pPr algn="l">
              <a:lnSpc>
                <a:spcPct val="110000"/>
              </a:lnSpc>
              <a:spcAft>
                <a:spcPts val="400"/>
              </a:spcAft>
            </a:pPr>
            <a:r>
              <a:rPr sz="1350" b="0">
                <a:solidFill>
                  <a:srgbClr val="1F2A3A"/>
                </a:solidFill>
                <a:latin typeface="맑은 고딕"/>
                <a:ea typeface="맑은 고딕"/>
                <a:cs typeface="맑은 고딕"/>
              </a:rPr>
              <a:t>Cypher로 노드와 관계를 적재하고 원인, 설비, 부품을 조회한다</a:t>
            </a:r>
          </a:p>
        </p:txBody>
      </p:sp>
      <p:sp>
        <p:nvSpPr>
          <p:cNvPr id="28" name="Rounded Rectangle 27"/>
          <p:cNvSpPr/>
          <p:nvPr/>
        </p:nvSpPr>
        <p:spPr>
          <a:xfrm>
            <a:off x="9303791" y="5134356"/>
            <a:ext cx="11734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적재와 조회</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온톨로지와 그래프 구조: 필요에서 정의와 조회까지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이상과 원인 · 조치의 관계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직접 설계하기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설계한 관계의 그래프 DB 구현과 조회</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실제 지식 구조와 비교해 설계 개선하기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온톨로지와 그래프 구조:</a:t>
            </a:r>
          </a:p>
          <a:p>
            <a:pPr algn="l">
              <a:lnSpc>
                <a:spcPct val="110000"/>
              </a:lnSpc>
            </a:pPr>
            <a:r>
              <a:rPr sz="3400" b="1">
                <a:solidFill>
                  <a:srgbClr val="13294B"/>
                </a:solidFill>
                <a:latin typeface="맑은 고딕"/>
                <a:ea typeface="맑은 고딕"/>
                <a:cs typeface="맑은 고딕"/>
              </a:rPr>
              <a:t>필요에서 정의와 조회까지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뒤의 판단에 필요한 지식을 클래스와 스키마로 정의하고 Cypher로 조회하는 순서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설비_유압파워팩.svg" descr="illust_466298369216065474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원인후보.svg" descr="illust_513563000200298593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인터록(설비 보호 정지 조건) 2.0 mm/s를 넘는다</a:t>
            </a:r>
          </a:p>
          <a:p>
            <a:pPr algn="l">
              <a:lnSpc>
                <a:spcPct val="110000"/>
              </a:lnSpc>
              <a:spcAft>
                <a:spcPts val="600"/>
              </a:spcAft>
            </a:pPr>
            <a:r>
              <a:rPr sz="1450" b="0">
                <a:solidFill>
                  <a:srgbClr val="1F2A3A"/>
                </a:solidFill>
                <a:latin typeface="맑은 고딕"/>
                <a:ea typeface="맑은 고딕"/>
                <a:cs typeface="맑은 고딕"/>
              </a:rPr>
              <a:t>• PLC(Programmable Logic Controller)가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흩어진정보.svg" descr="illust_782353058432602358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적용</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노드관계.svg" descr="illust_539080687681974690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관계.svg" descr="illust_438166947085892820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앞에서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속성_3.svg" descr="illust_260215599961880240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층_3.svg" descr="illust_407785771474604392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여러노드.svg" descr="illust_795259120700535680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이런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카디널리티. 양쪽에 몇 개가 이어질 수 있는가이다. N:1은 센서 여럿이 상태 변수 하나에 이어진다는 뜻이다.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속성그래프_3.svg" descr="illust_268515405417565565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원인까지: 화살표를 따라가고 거슬러 가는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CAUSES처럼 거슬러 가야 하는 관계는 화살표를 반대로 적어, 경보에서 원인까지를 질의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경로질의_2.svg" descr="illust_794077091650088696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660434"/>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경보에 실려 오는 이름</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62985" y="2762219"/>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DETECTS</a:t>
            </a:r>
          </a:p>
        </p:txBody>
      </p:sp>
      <p:sp>
        <p:nvSpPr>
          <p:cNvPr id="9" name="TextBox 8"/>
          <p:cNvSpPr txBox="1"/>
          <p:nvPr/>
        </p:nvSpPr>
        <p:spPr>
          <a:xfrm>
            <a:off x="3313926" y="366043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10" name="TextBox 9"/>
          <p:cNvSpPr txBox="1"/>
          <p:nvPr/>
        </p:nvSpPr>
        <p:spPr>
          <a:xfrm>
            <a:off x="4601246" y="2762219"/>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INDICATES</a:t>
            </a:r>
          </a:p>
        </p:txBody>
      </p:sp>
      <p:sp>
        <p:nvSpPr>
          <p:cNvPr id="11" name="TextBox 10"/>
          <p:cNvSpPr txBox="1"/>
          <p:nvPr/>
        </p:nvSpPr>
        <p:spPr>
          <a:xfrm>
            <a:off x="5517644" y="3754983"/>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2" name="TextBox 11"/>
          <p:cNvSpPr txBox="1"/>
          <p:nvPr/>
        </p:nvSpPr>
        <p:spPr>
          <a:xfrm>
            <a:off x="7132249" y="1958553"/>
            <a:ext cx="98185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CAUSES</a:t>
            </a:r>
          </a:p>
        </p:txBody>
      </p:sp>
      <p:sp>
        <p:nvSpPr>
          <p:cNvPr id="13" name="TextBox 12"/>
          <p:cNvSpPr txBox="1"/>
          <p:nvPr/>
        </p:nvSpPr>
        <p:spPr>
          <a:xfrm>
            <a:off x="9314148" y="19821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4" name="TextBox 13"/>
          <p:cNvSpPr txBox="1"/>
          <p:nvPr/>
        </p:nvSpPr>
        <p:spPr>
          <a:xfrm>
            <a:off x="9314148" y="296549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5" name="TextBox 14"/>
          <p:cNvSpPr txBox="1"/>
          <p:nvPr/>
        </p:nvSpPr>
        <p:spPr>
          <a:xfrm>
            <a:off x="9314148" y="394408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6" name="TextBox 15"/>
          <p:cNvSpPr txBox="1"/>
          <p:nvPr/>
        </p:nvSpPr>
        <p:spPr>
          <a:xfrm>
            <a:off x="1077479" y="5291404"/>
            <a:ext cx="10036735"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(p:AnomalyPattern)-[:DETECTS]-&gt;(s:Symptom)-[:INDICATES]-&gt;(fm:FailureMode)&lt;-[:CAUSES]-(c:Cause)</a:t>
            </a:r>
          </a:p>
        </p:txBody>
      </p:sp>
      <p:sp>
        <p:nvSpPr>
          <p:cNvPr id="17" name="TextBox 16"/>
          <p:cNvSpPr txBox="1"/>
          <p:nvPr/>
        </p:nvSpPr>
        <p:spPr>
          <a:xfrm>
            <a:off x="1732049" y="5787786"/>
            <a:ext cx="872759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&lt;-[:CAUSES]-</a:t>
            </a:r>
          </a:p>
          <a:p>
            <a:pPr algn="ctr">
              <a:lnSpc>
                <a:spcPct val="110000"/>
              </a:lnSpc>
              <a:spcAft>
                <a:spcPts val="100"/>
              </a:spcAft>
            </a:pPr>
            <a:r>
              <a:rPr sz="1300" b="0">
                <a:solidFill>
                  <a:srgbClr val="556175"/>
                </a:solidFill>
                <a:latin typeface="맑은 고딕"/>
                <a:ea typeface="맑은 고딕"/>
                <a:cs typeface="맑은 고딕"/>
              </a:rPr>
              <a:t>CAUSES는 원인에서 고장 유형으로 향하므로 화살표가 고장 유형 쪽을 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이름과 속성을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그린 관계도에서 클래스와 속성과 관계를 정의해 스키마와 인스턴스 데이터를 만든다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그린 관계도를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94013"/>
            <a:ext cx="2485567" cy="319468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6893"/>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730512"/>
            <a:ext cx="424281" cy="424281"/>
          </a:xfrm>
          <a:prstGeom prst="rect">
            <a:avLst/>
          </a:prstGeom>
        </p:spPr>
      </p:pic>
      <p:sp>
        <p:nvSpPr>
          <p:cNvPr id="9" name="TextBox 8"/>
          <p:cNvSpPr txBox="1"/>
          <p:nvPr/>
        </p:nvSpPr>
        <p:spPr>
          <a:xfrm>
            <a:off x="621792"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관계도를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94013"/>
            <a:ext cx="2485567"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6893"/>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730512"/>
            <a:ext cx="424281" cy="424281"/>
          </a:xfrm>
          <a:prstGeom prst="rect">
            <a:avLst/>
          </a:prstGeom>
        </p:spPr>
      </p:pic>
      <p:sp>
        <p:nvSpPr>
          <p:cNvPr id="14" name="TextBox 13"/>
          <p:cNvSpPr txBox="1"/>
          <p:nvPr/>
        </p:nvSpPr>
        <p:spPr>
          <a:xfrm>
            <a:off x="3491407"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관계도의 대상을</a:t>
            </a:r>
          </a:p>
          <a:p>
            <a:pPr algn="ctr">
              <a:lnSpc>
                <a:spcPct val="110000"/>
              </a:lnSpc>
              <a:spcAft>
                <a:spcPts val="400"/>
              </a:spcAft>
            </a:pPr>
            <a:r>
              <a:rPr sz="1350" b="0">
                <a:solidFill>
                  <a:srgbClr val="1F2A3A"/>
                </a:solidFill>
                <a:latin typeface="맑은 고딕"/>
                <a:ea typeface="맑은 고딕"/>
                <a:cs typeface="맑은 고딕"/>
              </a:rPr>
              <a:t>클래스와 예시</a:t>
            </a:r>
          </a:p>
          <a:p>
            <a:pPr algn="ctr">
              <a:lnSpc>
                <a:spcPct val="110000"/>
              </a:lnSpc>
              <a:spcAft>
                <a:spcPts val="400"/>
              </a:spcAft>
            </a:pPr>
            <a:r>
              <a:rPr sz="1350" b="0">
                <a:solidFill>
                  <a:srgbClr val="1F2A3A"/>
                </a:solidFill>
                <a:latin typeface="맑은 고딕"/>
                <a:ea typeface="맑은 고딕"/>
                <a:cs typeface="맑은 고딕"/>
              </a:rPr>
              <a:t>인스턴스로 가르고</a:t>
            </a:r>
          </a:p>
          <a:p>
            <a:pPr algn="ctr">
              <a:lnSpc>
                <a:spcPct val="110000"/>
              </a:lnSpc>
              <a:spcAft>
                <a:spcPts val="400"/>
              </a:spcAft>
            </a:pPr>
            <a:r>
              <a:rPr sz="1350" b="0">
                <a:solidFill>
                  <a:srgbClr val="1F2A3A"/>
                </a:solidFill>
                <a:latin typeface="맑은 고딕"/>
                <a:ea typeface="맑은 고딕"/>
                <a:cs typeface="맑은 고딕"/>
              </a:rPr>
              <a:t>공용 부품과 복수 센서</a:t>
            </a:r>
          </a:p>
          <a:p>
            <a:pPr algn="ctr">
              <a:lnSpc>
                <a:spcPct val="110000"/>
              </a:lnSpc>
              <a:spcAft>
                <a:spcPts val="400"/>
              </a:spcAft>
            </a:pPr>
            <a:r>
              <a:rPr sz="1350" b="0">
                <a:solidFill>
                  <a:srgbClr val="1F2A3A"/>
                </a:solidFill>
                <a:latin typeface="맑은 고딕"/>
                <a:ea typeface="맑은 고딕"/>
                <a:cs typeface="맑은 고딕"/>
              </a:rPr>
              <a:t>사례를 더한다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94013"/>
            <a:ext cx="2485567"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6893"/>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730512"/>
            <a:ext cx="424281" cy="424281"/>
          </a:xfrm>
          <a:prstGeom prst="rect">
            <a:avLst/>
          </a:prstGeom>
        </p:spPr>
      </p:pic>
      <p:sp>
        <p:nvSpPr>
          <p:cNvPr id="19" name="TextBox 18"/>
          <p:cNvSpPr txBox="1"/>
          <p:nvPr/>
        </p:nvSpPr>
        <p:spPr>
          <a:xfrm>
            <a:off x="6361023"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a:t>
            </a:r>
          </a:p>
          <a:p>
            <a:pPr algn="ctr">
              <a:lnSpc>
                <a:spcPct val="110000"/>
              </a:lnSpc>
              <a:spcAft>
                <a:spcPts val="400"/>
              </a:spcAft>
            </a:pPr>
            <a:r>
              <a:rPr sz="1350" b="0">
                <a:solidFill>
                  <a:srgbClr val="1F2A3A"/>
                </a:solidFill>
                <a:latin typeface="맑은 고딕"/>
                <a:ea typeface="맑은 고딕"/>
                <a:cs typeface="맑은 고딕"/>
              </a:rPr>
              <a:t>연결 제약을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94013"/>
            <a:ext cx="2485567"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6893"/>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730512"/>
            <a:ext cx="424281" cy="424281"/>
          </a:xfrm>
          <a:prstGeom prst="rect">
            <a:avLst/>
          </a:prstGeom>
        </p:spPr>
      </p:pic>
      <p:sp>
        <p:nvSpPr>
          <p:cNvPr id="24" name="TextBox 23"/>
          <p:cNvSpPr txBox="1"/>
          <p:nvPr/>
        </p:nvSpPr>
        <p:spPr>
          <a:xfrm>
            <a:off x="9230639"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관계도의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설계한 관계의 그래프 DB 구현과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그래프 DB에 넣고 질의로 조회한다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적재하는 것과 조회하는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설계한 스키마와 인스턴스가 그래프 DB에 노드와 관계로 들어가고, 원인과 설비와 부품을 질의로 조회한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a:t>
            </a:r>
          </a:p>
          <a:p>
            <a:pPr algn="ctr">
              <a:lnSpc>
                <a:spcPct val="110000"/>
              </a:lnSpc>
              <a:spcAft>
                <a:spcPts val="400"/>
              </a:spcAft>
            </a:pPr>
            <a:r>
              <a:rPr sz="1350" b="0">
                <a:solidFill>
                  <a:srgbClr val="1F2A3A"/>
                </a:solidFill>
                <a:latin typeface="맑은 고딕"/>
                <a:ea typeface="맑은 고딕"/>
                <a:cs typeface="맑은 고딕"/>
              </a:rPr>
              <a:t>인스턴스를 노드, 속성, 관계를</a:t>
            </a:r>
          </a:p>
          <a:p>
            <a:pPr algn="ctr">
              <a:lnSpc>
                <a:spcPct val="110000"/>
              </a:lnSpc>
              <a:spcAft>
                <a:spcPts val="400"/>
              </a:spcAft>
            </a:pPr>
            <a:r>
              <a:rPr sz="1350" b="0">
                <a:solidFill>
                  <a:srgbClr val="1F2A3A"/>
                </a:solidFill>
                <a:latin typeface="맑은 고딕"/>
                <a:ea typeface="맑은 고딕"/>
                <a:cs typeface="맑은 고딕"/>
              </a:rPr>
              <a:t>만드는 Cypher 질의로 바꾼다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실습용 그래프에 넣는다</a:t>
            </a:r>
          </a:p>
          <a:p>
            <a:pPr algn="ctr">
              <a:lnSpc>
                <a:spcPct val="110000"/>
              </a:lnSpc>
              <a:spcAft>
                <a:spcPts val="400"/>
              </a:spcAft>
            </a:pPr>
            <a:r>
              <a:rPr sz="1350" b="0">
                <a:solidFill>
                  <a:srgbClr val="1F2A3A"/>
                </a:solidFill>
                <a:latin typeface="맑은 고딕"/>
                <a:ea typeface="맑은 고딕"/>
                <a:cs typeface="맑은 고딕"/>
              </a:rPr>
              <a:t>Neo4j의 실습용 그래프에서</a:t>
            </a:r>
          </a:p>
          <a:p>
            <a:pPr algn="ctr">
              <a:lnSpc>
                <a:spcPct val="110000"/>
              </a:lnSpc>
              <a:spcAft>
                <a:spcPts val="400"/>
              </a:spcAft>
            </a:pPr>
            <a:r>
              <a:rPr sz="1350" b="0">
                <a:solidFill>
                  <a:srgbClr val="1F2A3A"/>
                </a:solidFill>
                <a:latin typeface="맑은 고딕"/>
                <a:ea typeface="맑은 고딕"/>
                <a:cs typeface="맑은 고딕"/>
              </a:rPr>
              <a:t>질의를 실행해 노드와 관계를</a:t>
            </a:r>
          </a:p>
          <a:p>
            <a:pPr algn="ctr">
              <a:lnSpc>
                <a:spcPct val="110000"/>
              </a:lnSpc>
              <a:spcAft>
                <a:spcPts val="400"/>
              </a:spcAft>
            </a:pPr>
            <a:r>
              <a:rPr sz="1350" b="0">
                <a:solidFill>
                  <a:srgbClr val="1F2A3A"/>
                </a:solidFill>
                <a:latin typeface="맑은 고딕"/>
                <a:ea typeface="맑은 고딕"/>
                <a:cs typeface="맑은 고딕"/>
              </a:rPr>
              <a:t>MERGE로 적재한다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질의로 조회한다</a:t>
            </a:r>
          </a:p>
          <a:p>
            <a:pPr algn="ctr">
              <a:lnSpc>
                <a:spcPct val="110000"/>
              </a:lnSpc>
              <a:spcAft>
                <a:spcPts val="400"/>
              </a:spcAft>
            </a:pPr>
            <a:r>
              <a:rPr sz="1350" b="0">
                <a:solidFill>
                  <a:srgbClr val="1F2A3A"/>
                </a:solidFill>
                <a:latin typeface="맑은 고딕"/>
                <a:ea typeface="맑은 고딕"/>
                <a:cs typeface="맑은 고딕"/>
              </a:rPr>
              <a:t>MATCH, WHERE, RETURN으로</a:t>
            </a:r>
          </a:p>
          <a:p>
            <a:pPr algn="ctr">
              <a:lnSpc>
                <a:spcPct val="110000"/>
              </a:lnSpc>
              <a:spcAft>
                <a:spcPts val="400"/>
              </a:spcAft>
            </a:pPr>
            <a:r>
              <a:rPr sz="1350" b="0">
                <a:solidFill>
                  <a:srgbClr val="1F2A3A"/>
                </a:solidFill>
                <a:latin typeface="맑은 고딕"/>
                <a:ea typeface="맑은 고딕"/>
                <a:cs typeface="맑은 고딕"/>
              </a:rPr>
              <a:t>원인과 설비, 부품을</a:t>
            </a:r>
          </a:p>
          <a:p>
            <a:pPr algn="ctr">
              <a:lnSpc>
                <a:spcPct val="110000"/>
              </a:lnSpc>
              <a:spcAft>
                <a:spcPts val="400"/>
              </a:spcAft>
            </a:pPr>
            <a:r>
              <a:rPr sz="1350" b="0">
                <a:solidFill>
                  <a:srgbClr val="1F2A3A"/>
                </a:solidFill>
                <a:latin typeface="맑은 고딕"/>
                <a:ea typeface="맑은 고딕"/>
                <a:cs typeface="맑은 고딕"/>
              </a:rPr>
              <a:t>관계를 따라 찾는다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결과를 확인한다</a:t>
            </a:r>
          </a:p>
          <a:p>
            <a:pPr algn="ctr">
              <a:lnSpc>
                <a:spcPct val="110000"/>
              </a:lnSpc>
              <a:spcAft>
                <a:spcPts val="400"/>
              </a:spcAft>
            </a:pPr>
            <a:r>
              <a:rPr sz="1350" b="0">
                <a:solidFill>
                  <a:srgbClr val="1F2A3A"/>
                </a:solidFill>
                <a:latin typeface="맑은 고딕"/>
                <a:ea typeface="맑은 고딕"/>
                <a:cs typeface="맑은 고딕"/>
              </a:rPr>
              <a:t>조회 결과를</a:t>
            </a:r>
          </a:p>
          <a:p>
            <a:pPr algn="ctr">
              <a:lnSpc>
                <a:spcPct val="110000"/>
              </a:lnSpc>
              <a:spcAft>
                <a:spcPts val="400"/>
              </a:spcAft>
            </a:pPr>
            <a:r>
              <a:rPr sz="1350" b="0">
                <a:solidFill>
                  <a:srgbClr val="1F2A3A"/>
                </a:solidFill>
                <a:latin typeface="맑은 고딕"/>
                <a:ea typeface="맑은 고딕"/>
                <a:cs typeface="맑은 고딕"/>
              </a:rPr>
              <a:t>그래프와 표로 읽고</a:t>
            </a:r>
          </a:p>
          <a:p>
            <a:pPr algn="ctr">
              <a:lnSpc>
                <a:spcPct val="110000"/>
              </a:lnSpc>
              <a:spcAft>
                <a:spcPts val="400"/>
              </a:spcAft>
            </a:pPr>
            <a:r>
              <a:rPr sz="1350" b="0">
                <a:solidFill>
                  <a:srgbClr val="1F2A3A"/>
                </a:solidFill>
                <a:latin typeface="맑은 고딕"/>
                <a:ea typeface="맑은 고딕"/>
                <a:cs typeface="맑은 고딕"/>
              </a:rPr>
              <a:t>설계한 구조와 대조한다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실제 지식 구조와 비교해 설계 개선하기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HYD의 지식 지도와 직접 만든 모델을 견주어 스키마를 고친다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것과 고쳐 남기는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만든 모델은 HYD의 지식 지도와 견주어야 스키마에 빠진 제약과 식별자의 중복이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ap-search" descr="map-search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 지도를 읽는다</a:t>
            </a:r>
          </a:p>
          <a:p>
            <a:pPr algn="ctr">
              <a:lnSpc>
                <a:spcPct val="110000"/>
              </a:lnSpc>
              <a:spcAft>
                <a:spcPts val="400"/>
              </a:spcAft>
            </a:pPr>
            <a:r>
              <a:rPr sz="1350" b="0">
                <a:solidFill>
                  <a:srgbClr val="1F2A3A"/>
                </a:solidFill>
                <a:latin typeface="맑은 고딕"/>
                <a:ea typeface="맑은 고딕"/>
                <a:cs typeface="맑은 고딕"/>
              </a:rPr>
              <a:t>HYD의 지식 그래프를</a:t>
            </a:r>
          </a:p>
          <a:p>
            <a:pPr algn="ctr">
              <a:lnSpc>
                <a:spcPct val="110000"/>
              </a:lnSpc>
              <a:spcAft>
                <a:spcPts val="400"/>
              </a:spcAft>
            </a:pPr>
            <a:r>
              <a:rPr sz="1350" b="0">
                <a:solidFill>
                  <a:srgbClr val="1F2A3A"/>
                </a:solidFill>
                <a:latin typeface="맑은 고딕"/>
                <a:ea typeface="맑은 고딕"/>
                <a:cs typeface="맑은 고딕"/>
              </a:rPr>
              <a:t>그림으로 보여 주는 지식 지도에서</a:t>
            </a:r>
          </a:p>
          <a:p>
            <a:pPr algn="ctr">
              <a:lnSpc>
                <a:spcPct val="110000"/>
              </a:lnSpc>
              <a:spcAft>
                <a:spcPts val="400"/>
              </a:spcAft>
            </a:pPr>
            <a:r>
              <a:rPr sz="1350" b="0">
                <a:solidFill>
                  <a:srgbClr val="1F2A3A"/>
                </a:solidFill>
                <a:latin typeface="맑은 고딕"/>
                <a:ea typeface="맑은 고딕"/>
                <a:cs typeface="맑은 고딕"/>
              </a:rPr>
              <a:t>같은 설비의 클래스, 속성, 관계를 본다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내 모델과 견준다</a:t>
            </a:r>
          </a:p>
          <a:p>
            <a:pPr algn="ctr">
              <a:lnSpc>
                <a:spcPct val="110000"/>
              </a:lnSpc>
              <a:spcAft>
                <a:spcPts val="400"/>
              </a:spcAft>
            </a:pPr>
            <a:r>
              <a:rPr sz="1350" b="0">
                <a:solidFill>
                  <a:srgbClr val="1F2A3A"/>
                </a:solidFill>
                <a:latin typeface="맑은 고딕"/>
                <a:ea typeface="맑은 고딕"/>
                <a:cs typeface="맑은 고딕"/>
              </a:rPr>
              <a:t>공용 부품, 복수 관계,</a:t>
            </a:r>
          </a:p>
          <a:p>
            <a:pPr algn="ctr">
              <a:lnSpc>
                <a:spcPct val="110000"/>
              </a:lnSpc>
              <a:spcAft>
                <a:spcPts val="400"/>
              </a:spcAft>
            </a:pPr>
            <a:r>
              <a:rPr sz="1350" b="0">
                <a:solidFill>
                  <a:srgbClr val="1F2A3A"/>
                </a:solidFill>
                <a:latin typeface="맑은 고딕"/>
                <a:ea typeface="맑은 고딕"/>
                <a:cs typeface="맑은 고딕"/>
              </a:rPr>
              <a:t>중복 식별자처럼</a:t>
            </a:r>
          </a:p>
          <a:p>
            <a:pPr algn="ctr">
              <a:lnSpc>
                <a:spcPct val="110000"/>
              </a:lnSpc>
              <a:spcAft>
                <a:spcPts val="400"/>
              </a:spcAft>
            </a:pPr>
            <a:r>
              <a:rPr sz="1350" b="0">
                <a:solidFill>
                  <a:srgbClr val="1F2A3A"/>
                </a:solidFill>
                <a:latin typeface="맑은 고딕"/>
                <a:ea typeface="맑은 고딕"/>
                <a:cs typeface="맑은 고딕"/>
              </a:rPr>
              <a:t>내 모델과 다른 곳을 가린다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스키마를 고친다</a:t>
            </a:r>
          </a:p>
          <a:p>
            <a:pPr algn="ctr">
              <a:lnSpc>
                <a:spcPct val="110000"/>
              </a:lnSpc>
              <a:spcAft>
                <a:spcPts val="400"/>
              </a:spcAft>
            </a:pPr>
            <a:r>
              <a:rPr sz="1350" b="0">
                <a:solidFill>
                  <a:srgbClr val="1F2A3A"/>
                </a:solidFill>
                <a:latin typeface="맑은 고딕"/>
                <a:ea typeface="맑은 고딕"/>
                <a:cs typeface="맑은 고딕"/>
              </a:rPr>
              <a:t>차이를 반영해</a:t>
            </a:r>
          </a:p>
          <a:p>
            <a:pPr algn="ctr">
              <a:lnSpc>
                <a:spcPct val="110000"/>
              </a:lnSpc>
              <a:spcAft>
                <a:spcPts val="400"/>
              </a:spcAft>
            </a:pPr>
            <a:r>
              <a:rPr sz="1350" b="0">
                <a:solidFill>
                  <a:srgbClr val="1F2A3A"/>
                </a:solidFill>
                <a:latin typeface="맑은 고딕"/>
                <a:ea typeface="맑은 고딕"/>
                <a:cs typeface="맑은 고딕"/>
              </a:rPr>
              <a:t>스키마 파일을 수정하고</a:t>
            </a:r>
          </a:p>
          <a:p>
            <a:pPr algn="ctr">
              <a:lnSpc>
                <a:spcPct val="110000"/>
              </a:lnSpc>
              <a:spcAft>
                <a:spcPts val="400"/>
              </a:spcAft>
            </a:pPr>
            <a:r>
              <a:rPr sz="1350" b="0">
                <a:solidFill>
                  <a:srgbClr val="1F2A3A"/>
                </a:solidFill>
                <a:latin typeface="맑은 고딕"/>
                <a:ea typeface="맑은 고딕"/>
                <a:cs typeface="맑은 고딕"/>
              </a:rPr>
              <a:t>고친 파일을 보존한다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일곱과 그래프 DB를 쓰는 말 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뜻</a:t>
            </a:r>
          </a:p>
        </p:txBody>
      </p:sp>
      <p:sp>
        <p:nvSpPr>
          <p:cNvPr id="9" name="TextBox 8"/>
          <p:cNvSpPr txBox="1"/>
          <p:nvPr/>
        </p:nvSpPr>
        <p:spPr>
          <a:xfrm>
            <a:off x="9448495" y="1627631"/>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10" name="Rounded Rectangle 9"/>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온톨로지</a:t>
            </a:r>
          </a:p>
        </p:txBody>
      </p:sp>
      <p:sp>
        <p:nvSpPr>
          <p:cNvPr id="12" name="TextBox 11"/>
          <p:cNvSpPr txBox="1"/>
          <p:nvPr/>
        </p:nvSpPr>
        <p:spPr>
          <a:xfrm>
            <a:off x="3200400" y="202996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대상의 종류, 속성, 관계, 제약을 정의한 지식 모델</a:t>
            </a:r>
          </a:p>
        </p:txBody>
      </p:sp>
      <p:sp>
        <p:nvSpPr>
          <p:cNvPr id="13" name="TextBox 12"/>
          <p:cNvSpPr txBox="1"/>
          <p:nvPr/>
        </p:nvSpPr>
        <p:spPr>
          <a:xfrm>
            <a:off x="9448495" y="202996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Ontology</a:t>
            </a:r>
          </a:p>
        </p:txBody>
      </p:sp>
      <p:sp>
        <p:nvSpPr>
          <p:cNvPr id="14" name="Rounded Rectangle 13"/>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1053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6" name="TextBox 15"/>
          <p:cNvSpPr txBox="1"/>
          <p:nvPr/>
        </p:nvSpPr>
        <p:spPr>
          <a:xfrm>
            <a:off x="3200400" y="251053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공통 특성을 가진 대상의 유형</a:t>
            </a:r>
          </a:p>
        </p:txBody>
      </p:sp>
      <p:sp>
        <p:nvSpPr>
          <p:cNvPr id="17" name="TextBox 16"/>
          <p:cNvSpPr txBox="1"/>
          <p:nvPr/>
        </p:nvSpPr>
        <p:spPr>
          <a:xfrm>
            <a:off x="9448495" y="251053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Class</a:t>
            </a:r>
          </a:p>
        </p:txBody>
      </p:sp>
      <p:sp>
        <p:nvSpPr>
          <p:cNvPr id="18" name="Rounded Rectangle 17"/>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299110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20" name="TextBox 19"/>
          <p:cNvSpPr txBox="1"/>
          <p:nvPr/>
        </p:nvSpPr>
        <p:spPr>
          <a:xfrm>
            <a:off x="3200400" y="299110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클래스에 속하는 실제 대상 하나</a:t>
            </a:r>
          </a:p>
        </p:txBody>
      </p:sp>
      <p:sp>
        <p:nvSpPr>
          <p:cNvPr id="21" name="TextBox 20"/>
          <p:cNvSpPr txBox="1"/>
          <p:nvPr/>
        </p:nvSpPr>
        <p:spPr>
          <a:xfrm>
            <a:off x="9448495" y="299110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Instance</a:t>
            </a:r>
          </a:p>
        </p:txBody>
      </p:sp>
      <p:sp>
        <p:nvSpPr>
          <p:cNvPr id="22" name="Rounded Rectangle 21"/>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47167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속성</a:t>
            </a:r>
          </a:p>
        </p:txBody>
      </p:sp>
      <p:sp>
        <p:nvSpPr>
          <p:cNvPr id="24" name="TextBox 23"/>
          <p:cNvSpPr txBox="1"/>
          <p:nvPr/>
        </p:nvSpPr>
        <p:spPr>
          <a:xfrm>
            <a:off x="3200400" y="347167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클래스가 정한 값의 칸</a:t>
            </a:r>
          </a:p>
        </p:txBody>
      </p:sp>
      <p:sp>
        <p:nvSpPr>
          <p:cNvPr id="25" name="TextBox 24"/>
          <p:cNvSpPr txBox="1"/>
          <p:nvPr/>
        </p:nvSpPr>
        <p:spPr>
          <a:xfrm>
            <a:off x="9448495" y="347167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Property</a:t>
            </a:r>
          </a:p>
        </p:txBody>
      </p:sp>
      <p:sp>
        <p:nvSpPr>
          <p:cNvPr id="26" name="Rounded Rectangle 25"/>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3952239"/>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8" name="TextBox 27"/>
          <p:cNvSpPr txBox="1"/>
          <p:nvPr/>
        </p:nvSpPr>
        <p:spPr>
          <a:xfrm>
            <a:off x="3200400" y="3952239"/>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 속성, 관계, 제약의 정의</a:t>
            </a:r>
          </a:p>
        </p:txBody>
      </p:sp>
      <p:sp>
        <p:nvSpPr>
          <p:cNvPr id="29" name="TextBox 28"/>
          <p:cNvSpPr txBox="1"/>
          <p:nvPr/>
        </p:nvSpPr>
        <p:spPr>
          <a:xfrm>
            <a:off x="9448495" y="3952239"/>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Schema</a:t>
            </a:r>
          </a:p>
        </p:txBody>
      </p:sp>
      <p:sp>
        <p:nvSpPr>
          <p:cNvPr id="30" name="Rounded Rectangle 29"/>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43280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32" name="TextBox 31"/>
          <p:cNvSpPr txBox="1"/>
          <p:nvPr/>
        </p:nvSpPr>
        <p:spPr>
          <a:xfrm>
            <a:off x="3200400" y="443280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 하나를 가리키는 고유한 값</a:t>
            </a:r>
          </a:p>
        </p:txBody>
      </p:sp>
      <p:sp>
        <p:nvSpPr>
          <p:cNvPr id="33" name="TextBox 32"/>
          <p:cNvSpPr txBox="1"/>
          <p:nvPr/>
        </p:nvSpPr>
        <p:spPr>
          <a:xfrm>
            <a:off x="9448495" y="443280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Identifier</a:t>
            </a:r>
          </a:p>
        </p:txBody>
      </p:sp>
      <p:sp>
        <p:nvSpPr>
          <p:cNvPr id="34" name="Rounded Rectangle 33"/>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491337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36" name="TextBox 35"/>
          <p:cNvSpPr txBox="1"/>
          <p:nvPr/>
        </p:nvSpPr>
        <p:spPr>
          <a:xfrm>
            <a:off x="3200400" y="491337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관계의 양쪽에 몇 개가 이어질 수 있는가</a:t>
            </a:r>
          </a:p>
        </p:txBody>
      </p:sp>
      <p:sp>
        <p:nvSpPr>
          <p:cNvPr id="37" name="TextBox 36"/>
          <p:cNvSpPr txBox="1"/>
          <p:nvPr/>
        </p:nvSpPr>
        <p:spPr>
          <a:xfrm>
            <a:off x="9448495" y="491337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Cardinality</a:t>
            </a:r>
          </a:p>
        </p:txBody>
      </p:sp>
      <p:sp>
        <p:nvSpPr>
          <p:cNvPr id="38" name="Rounded Rectangle 37"/>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39394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40" name="TextBox 39"/>
          <p:cNvSpPr txBox="1"/>
          <p:nvPr/>
        </p:nvSpPr>
        <p:spPr>
          <a:xfrm>
            <a:off x="3200400" y="539394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노드의 종류를 나타내는 이름표</a:t>
            </a:r>
          </a:p>
        </p:txBody>
      </p:sp>
      <p:sp>
        <p:nvSpPr>
          <p:cNvPr id="41" name="TextBox 40"/>
          <p:cNvSpPr txBox="1"/>
          <p:nvPr/>
        </p:nvSpPr>
        <p:spPr>
          <a:xfrm>
            <a:off x="9448495" y="539394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Label</a:t>
            </a:r>
          </a:p>
        </p:txBody>
      </p:sp>
      <p:sp>
        <p:nvSpPr>
          <p:cNvPr id="42" name="Rounded Rectangle 41"/>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43" name="TextBox 42"/>
          <p:cNvSpPr txBox="1"/>
          <p:nvPr/>
        </p:nvSpPr>
        <p:spPr>
          <a:xfrm>
            <a:off x="685800" y="587451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Cypher</a:t>
            </a:r>
          </a:p>
        </p:txBody>
      </p:sp>
      <p:sp>
        <p:nvSpPr>
          <p:cNvPr id="44" name="TextBox 43"/>
          <p:cNvSpPr txBox="1"/>
          <p:nvPr/>
        </p:nvSpPr>
        <p:spPr>
          <a:xfrm>
            <a:off x="3200400" y="587451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찾을 모양을 적어 그래프 DB에 요청하는 질의 언어</a:t>
            </a:r>
          </a:p>
        </p:txBody>
      </p:sp>
      <p:sp>
        <p:nvSpPr>
          <p:cNvPr id="45" name="TextBox 44"/>
          <p:cNvSpPr txBox="1"/>
          <p:nvPr/>
        </p:nvSpPr>
        <p:spPr>
          <a:xfrm>
            <a:off x="9448495" y="587451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Cypher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경보와 원인, 유형과 대상, 관계의 방향을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