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 시간에는 경보에서 출발해 원인을 가리는 데까지 갔습니다. 오늘은 그다음, 곧 원인을 안 뒤에 조치 하나를 고르는 과정을 다룹니다. 이론에 이어지는 네 개의 실습에서는 절차를 그래프에 연결하고, 판단 규칙을 쓰고, 판단 기능을 만들고, 성과 지표로 조치를 견줍니다. 이 네 가지를 자료 없이 자신의 말로 설명할 수 있는지가 오늘의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 시간에 도착한 자리에서 시작하겠습니다. 냉각 효율과 팬 진동과 캐비닛 온도를 대조해 원인이 쿨러 핀 오염이라는 것까지 확인했습니다. 그런데 원인을 알았다고 해서 무엇을 할지가 곧바로 정해지지는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설비 매뉴얼을 펴 보면 이 고장에 쓸 수 있는 조치가 넷입니다. 넷 모두 유온을 다루지만 하는 일이 서로 다릅니다. 넷이 무엇을 바꾸는지 견주어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후보를 왼쪽부터 견주겠습니다. 팬 최대 운전은 팬 속도만 100 %로 올리므로 생산은 그대로입니다. 둘째는 거기에 더해 펌프 부하를 80 %로 낮추어 유온을 더 내리지만 생산 속도가 줄어듭니다. 셋째는 팬은 그대로 두고 부하만 70 %로 낮춘 채 버티다가 밤의 정비 시간에 핀 세척을 겁니다. 넷째 쿨러 핀 세척은 설비를 세우고 하는 정비 작업이며 원인인 오염 자체를 없앱니다.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넷 가운데 하나를 고르려면 세 물음에 답해야 합니다. 어떻게 수행하는가, 지금 해도 되는가, 어느 것이 더 나은가입니다. 오늘의 이론이 이 셋을 차례로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조치의 순서와 기준을 문서로 정해 둔 것이 SOP, Standard Operating Procedure입니다. 우리말로는 표준 작업 절차라고 합니다. 앞에서 본 네 후보는 모두 설비 매뉴얼 HM-8에 SOP로 적혀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「팬 속도를 100 %로 올린다」 한 줄만 적힌 메모로는 언제 써도 되는지, 무엇을 하면 안 되는지, 언제 끝난 것인지를 알 수 없습니다. 그래서 SOP에는 수행 단계 외에 여섯 가지가 더 붙습니다. 위에서부터 적용 대상, 전제 조건, 수행 단계, 담당 역할, 안전 조건, 완료 확인 기준, 금지 사항입니다. 일곱 가지가 매뉴얼의 어느 절에 실려 있는지는 원문과 함께 이어서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가지 가운데 절차를 시작하기 전에 정해 두는 셋을 매뉴얼의 문장으로 확인합니다. 적용 대상은 이 절차가 오일 쿨러의 냉각 성능 상실이라는 고장에 쓰인다는 것을 정합니다. 전제 조건은 시작하기 전에 성립해 있어야 하는 상태로, 운전 모드가 원격 자동이어야 한다는 문장입니다. 안전 조건은 작업자를 지키려고 먼저 해 두는 조치이며 핀 세척 절차는 설비를 정지하고 잠금을 거는 것으로 시작합니다. LOTO는 정비하는 동안 다른 사람이 설비를 켜지 못하도록 전원을 잠그고 표지를 다는 조치입니다.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나머지 넷도 원문으로 확인합니다. 수행 단계는 확인, 수행, 판정의 세 단계이고 번호가 곧 순서입니다. 담당 역할은 누가 승인하는지를 정하며, 팬 최대 운전은 운전원이, 설비를 세우는 근본 조치는 설비보전팀장이 승인합니다. 완료 확인 기준은 보는 값과 기준과 시간을 정해 두어서, 15분 동안 유온이 55도 아래로 유지되어야 성공으로 봅니다. 금지 사항은 부하를 60 % 아래로 내리지 않는다, 핀을 고압수로 씻지 않는다처럼 해서는 안 되는 일을 따로 적은 문장입니다.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운전 모드는 설비가 누구의 조작을 받는지를 정하는 PLC의 상태입니다. 윗줄의 팬 최대 운전은 원격으로 팬 속도를 바꾸는 명령을 보내는 조치여서 그런 명령을 받는 원격 자동에서는 후보에 남습니다. 원격 수동과 현장 제어에서는 제외됩니다. 현장에서 누군가 설비를 손으로 조작하고 있는데 원격에서 팬 속도를 바꾸면 그 사람이 예상하지 못한 방향으로 설비가 움직이기 때문입니다. SOP-COOL-11 · 12 · 13이 모두 원격 설비 제어여서 셋이 함께 제외됩니다. 아랫줄의 쿨러 핀 세척은 사람이 현장에 가서 하는 정비 작업이어서 세 모드 모두에서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SOP가 지식 그래프에 어떻게 들어 있는지 보겠습니다. SOP 한 편은 조치 방법 노드 하나이고 클래스 이름은 Skill입니다. 조치 방법은 원인이 아니라 고장 유형에 이어져 있어서 한 고장 유형에 여럿이 붙습니다. MITIGATED_BY는 유온을 우선 내리는 완화 조치로, REMEDIED_BY는 원인을 없애는 근본 조치로 잇는 관계입니다.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둘째 물음, 지금 이 조치를 해도 되는가로 넘어갑니다. 그 답이 되는 조건은 매뉴얼에 이렇게 문장으로 적혀 있습니다. 조건도 셋이고 결과도 셋이며, 적힌 자리도 서로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조건을 정해진 형식으로 적는 표준이 DMN, Decision Model and Notation입니다. OMG라는 국제 표준화 단체가 정했습니다. 무엇을 보고 어떤 조건이면 어떤 결과인지를 누구나 같은 방식으로 적고 읽게 하는 약속입니다.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DMN은 조건을 맡고 SOP는 순서를 맡습니다. SOP 원문에서 순서가 아닌 쪽의 문장, 곧 전제 조건처럼 지금 해도 되는지를 가르는 문장이 DMN의 표로 옮겨집니다. 둘은 함께 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규칙을 모아 두는 형식이 결정표입니다. 놀이공원의 탑승 기준표를 떠올리면 됩니다. 키와 나이를 표에 대어 보면 어느 직원이 판정해도 결과가 같습니다. 결정표는 거기에 더해 값이 어디서 오는지와 규칙의 근거까지 정해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결정표의 머리줄과 그 아래의 첫 행을 봅니다. 원격 조치는 원격 자동이 아닐 때 쓰지 않는다는 매뉴얼의 문장이 이 행이며, 표의 한 행이 규칙 하나입니다. 행의 왼쪽이 조건이고 오른쪽이 출력입니다. 운전 모드가 원격 자동이 아니다가 조건이고, 세 절차를 제외한다가 출력이며 이 출력을 판정이라고도 부릅니다. 조건이 맞으면 출력을 내고, 맞지 않으면 아무것도 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결정표의 출력인 판정은 세 가지입니다. 제외는 조건에 걸린 조치를 후보에서 빼는 것이며, 제외된 조치는 다른 면에서 아무리 좋아도 고를 수 없습니다. 감점은 후보에 남기되 그 조치에 따르는 손실만큼 깎아서 견주게 합니다. 경고는 후보에 남기면서 승인하는 사람이 알아야 할 사항을 붙입니다. 해서는 안 되는 것, 해도 되지만 대가가 있는 것, 해도 되지만 알고 해야 하는 것의 구분입니다. 한 조치에 감점과 경고가 함께 붙을 수는 있으나, 제외에 걸리면 다른 판정과 관계없이 후보에서 빠집니다.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팬의 연속 운전이 24시간을 넘겼다면이라는 조건을 봅니다. 넘었다는 것은 초과이므로 정확히 24.0시간은 조건에 맞지 않고, 24.1시간부터 맞습니다. 사람이 읽을 때는 대수롭지 않던 차이가 표에서는 판정을 가릅니다. 아래의 세 값이 조건을 옮긴 뒤에 넣어 보는 값입니다. 연산자를 잘못 옮겼다면 기준값 자신에서 드러납니다.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결정표의 결함 가운데 중복과 상충을 봅니다. 같은 두 행에서 출력만 바꾸어 견줍니다. 55 이상이면 경고라는 행이 있는데 58 이상이면 경고라는 행을 또 넣으면 중복이며, 당장 틀린 답이 나오지는 않지만 나중에 한 행만 고치면 표가 어긋납니다. 둘째 행의 출력이 제외이면 상충입니다. 59도에는 둘 다 맞고 결과가 달라서 후보에 남길지 뺄지를 표가 정해 주지 못합니다.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조치의 좋고 나쁨을 따지려면 공장이 무엇을 좋은 결과로 보는지부터 정해야 합니다. 왼쪽처럼 이익 하나로만 보면 문제가 있습니다. 이익은 일이 다 끝난 뒤에 나오는 숫자여서 보았을 때는 이미 손쓸 시간이 지났습니다. 오른쪽처럼 여러 관점에서 함께 보는 틀이 BSC, Balanced Scorecard이고 균형 성과표라고 옮깁니다. 재무, 고객, 내부 프로세스, 학습과 성장의 네 관점마다 목표와 지표를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관점마다 둔 목표 하나하나가 전략 목표이며 이루려는 상태를 말로 적은 것입니다. 무재해 운전에는 인터록 한계를 넘지 않는다는 설명이 붙어 있어 방향은 분명하지만, 지금 얼마나 잘하고 있는지는 이 말만으로 알 수 없습니다. 그래서 목표마다 그것을 재는 수치를 붙이며 이것이 KPI, Key Performance Indicator입니다. 무재해 운전에는 인터록 여유가, 납기 신뢰에는 납기 준수율이 붙어 있습니다. 목표가 먼저이고 KPI는 그 목표를 재는 수단입니다.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조치 하나가 바꾸는 값은 여러 목표에 영향을 줍니다. 위쪽을 보면 팬 속도를 올릴 때 전력 사용량이 늘어나므로 에너지 효율이라는 목표에는 불리합니다. 아래쪽을 보면 펌프 부하를 내릴 때 생산량이 줄고 납기 준수율이 낮아지므로 납기 신뢰라는 목표에 불리합니다. 가운데의 인터록 여유만 이롭습니다. 조치 하나가 한 목표에는 이롭고 다른 목표에는 해로운 것을 성과의 상충이라고 하며, 조치를 고른다는 것은 이 득과 실을 저울질하는 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 저울질의 실제 결과입니다. 네 후보에 점수가 매겨졌고 팬 최대 운전이 가장 높았습니다. 부하를 낮추는 두 조치는 유온을 더 내리는데도 점수가 낮습니다.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앞에서 본 규칙과 성과의 기준은 성격이 다릅니다. 왼쪽의 규칙은 통과 아니면 제외이고, 걸린 조치는 다른 면에서 아무리 좋아도 되살아나지 않습니다. 오른쪽의 기준은 더 낫다, 덜 낫다의 문제여서 한쪽의 손해를 다른 쪽의 이득으로 메울 수 있습니다. 칸마다 마지막 줄이 둘을 섞었을 때의 잘못입니다. 조건 하나를 적을 때마다 이것이 넘으면 안 되는 선인지, 견주어 볼 값인지를 먼저 물어야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조치의 순위는 상황과 기준에 따라 달라집니다. 상황이 달랐다면 순위가 어떻게 되는지를 계산해 보는 방법이 What-if 분석입니다. 먼저 왼쪽의 원본에서 판단 한 건에 쓰인 후보와 규칙과 입력 값을 그대로 가져와 사본을 만듭니다. 다음으로 사본 안에서 값 하나를 바꿉니다. 납기까지 남은 시간을 늘려 보거나 위약금을 올려 보거나 전력 단가를 바꾸어 보며, 이렇게 실제와 다르게 넣어 보는 값이 가정값입니다.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앞서 만든 그래프에 새 노드를 더하는 실습입니다. SOP 한 편이 조치 방법 노드 하나가 되어 고장 유형에 이어집니다. 전제 조건과 금지 사항과 완료 확인 기준은 SOP의 구성요소에서 본 구분을 그대로 따라 조치에 연결합니다. 끝에는 고장 유형에서 출발하는 질의로 조치와 조건이 함께 나오는지를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온도와 압력과 설비 상태가 함께 걸리는 판단을 결정표로 씁니다. 행을 다 쓴 뒤에는 세 가지를 표에 표시합니다. 같은 값에 결과가 다른 행이 둘 맞는 상충이 있는지, 임계값에서 기준값 자신이 조건에 드는지, 제외가 감점이나 경고보다 먼저 적용되는지입니다. 끝에는 입력 값을 대어 보아 판정을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실습에서는 앞에서 만든 결정표를 실제로 평가하는 작은 판정 기능을 만듭니다. 만든 뒤에는 네 가지 경우를 넣어 확인합니다. 정상 조건, 경계값, 여러 규칙이 함께 맞는 경우, 그리고 모든 후보가 제외되는 경우입니다. 마지막 경우에 억지로 하나를 추천하지 않고 쓸 수 있는 조치가 없다고 보여 주는지가 가장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앞의 실습에서 만든 판단 기능에 성과의 비교를 잇습니다. 먼저 금지 조건에 걸린 조치를 후보에서 빼고, 남은 조치만 KPI와 예상 비용과 생산 영향으로 견줍니다. 규칙과 기준을 섞으면 위험한 조치가 뽑힐 수 있다는 것을 앞에서 보았습니다. 비용이 가장 적은데도 안전 기준에 걸린 조치가 추천에서 빠져 있는지를 끝에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약어의 정식 명칭을 한곳에 모았습니다. 이 여섯 개와 함께 결정표, 규칙, 판정, 임계값, 전략 목표, 성과의 상충, What-if 분석이 오늘의 용어입니다. 하나를 골라 자료를 덮고 자신의 문장으로 써 보시기 바랍니다.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조치의 가능 여부가 조치의 효과가 아니라 설비의 상태로 정해진다는 점을 확인하는 문항입니다. 보기마다 그 조치가 원격으로 보내는 설비 제어인지를 따져 보시기 바랍니다.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연산자의 뜻이 경계에서 판정을 가른다는 점을 확인하는 문항입니다. 「넘으면」이 초과인지 이상인지를 먼저 따져 보시기 바랍니다.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규칙으로 걸러지는 것과 성과로 견주어지는 것을 구분하는 문항입니다. 이 조치가 후보에 남아 있었는지, 남아 있었다면 무엇과 무엇을 맞바꾸었는지를 떠올리면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정답보다 판단 기준이 중요합니다. 첫 문항의 4번은 팬을 건드리지 않더라도 부하를 낮추는 것이 원격 제어이므로 제외됩니다. 둘째 문항의 1번은 「이상」과 「넘으면」을 혼동한 것입니다. 셋째 문항의 1번은 순위가 매겨졌다는 사실과 맞지 않습니다. 제외된 조치에는 순위가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5.png"/><Relationship Id="rId6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Relationship Id="rId4" Type="http://schemas.openxmlformats.org/officeDocument/2006/relationships/image" Target="../media/image6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29.png"/><Relationship Id="rId5" Type="http://schemas.openxmlformats.org/officeDocument/2006/relationships/image" Target="../media/image39.png"/><Relationship Id="rId6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오프라인 2회차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 조건과 성과를 함께 보는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 판단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조치 절차와 판단 규칙에서 성과 기준까지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list-check" descr="list-check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able" descr="table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cale" descr="scale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원인이 가려진 뒤에 조치 하나를 고르기까지 필요한 절차, 규칙, 성과 기준을 차례로 익힌다.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243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check" descr="list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7795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절차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조치의 순서와 안전 조건을 매뉴얼 원문에서 가려 읽는다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29771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771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어떻게 수행하는가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7243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able" descr="tab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7795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 문장을 결정표의 규칙으로 옮기고 경계값과 충돌을 점검한다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029771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029771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 해도 되는가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72434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hart-bar" descr="chart-bar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7795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기준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 지표로 조치의 득실을 견주고 안전 제약과 구분한다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029771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029771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어느 것이 더 나은가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7243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adjustments-horizontal" descr="adjustments-horizontal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7795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가정 분석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가정값을 바꾸어 조건이 달랐을 때의 순위를 계산한다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029771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029771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조건이 달랐다면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9659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절차 · 판단 규칙 · 성과 기준: 조치 하나를 고르기까지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185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185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883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6974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지식 구조에 작업 절차 연결하기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9169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9169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198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42900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복합 조건의 판단 기준 작성하기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51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1605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허용 · 제외 기능 실행하기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3799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3799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828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89204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효과를 성과 지표와 연결하기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5111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5111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절차 · 판단 규칙 ·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원인이 가려진 뒤 조치 하나를 고르기까지 쓰이는 세 가지 지식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지난 사건의 도달점: 확인된 원인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HYD-01의 유온 상승 경보에서 관계를 따라가 원인이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이라는 데까지 확인했다.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6" name="삽화:조치후보_0.svg" descr="illust_1472827194098924385_1791717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3833" y="4747747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확인된 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3917" y="4747747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2271" y="3660434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남은 일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무엇을 할지는 아직 정해지지 않았다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원인에 대한 네 가지 조치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매뉴얼이 이 고장에 쓸 수 있다고 정해 둔 조치는 하나가 아니라 넷이다.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pic>
        <p:nvPicPr>
          <p:cNvPr id="6" name="삽화:조치후보_전체.svg" descr="illust_6929579859148540010_1791717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3833" y="4747747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확인된 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3917" y="4747747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0483" y="2076739"/>
            <a:ext cx="294556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0483" y="3234964"/>
            <a:ext cx="294556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운전과 부하 80 %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0483" y="4402643"/>
            <a:ext cx="294556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부하 70 %와 야간 핀 세척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0483" y="5565596"/>
            <a:ext cx="294556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후보가 바꾸는 것과 생산에 주는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운전은 생산을 그대로 두고, 부하를 낮추는 두 후보는 생산을 줄이며, 쿨러 핀 세척은 설비를 세운다.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74557"/>
            <a:ext cx="2567863" cy="363359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5725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ropeller" descr="propell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29344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98685"/>
            <a:ext cx="2238679" cy="2106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팬의 속도를 100 %로 올려 바람을 늘린다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생산은 그대로 유지된다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7838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7838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 유지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74557"/>
            <a:ext cx="2567863" cy="363359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75725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adjustments" descr="adjustment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29344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98685"/>
            <a:ext cx="2238679" cy="2106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운전과 부하 80 %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팬을 올리는 데 더해 펌프 부하를 80 %로 낮춘다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유온은 더 내려가지만 생산 속도가 줄어든다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7838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7838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 감소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74557"/>
            <a:ext cx="2567863" cy="363359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75725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moon" descr="mo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29344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98685"/>
            <a:ext cx="2238679" cy="2106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부하 70 %와 야간 핀 세척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팬은 그대로 두고 부하만 70 %로 낮춘다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밤의 정비 시간에 핀 세척을 건다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생산 속도가 줄어든다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7838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7838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 감소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74557"/>
            <a:ext cx="2567863" cy="363359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75725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pray" descr="spray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29344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98685"/>
            <a:ext cx="2238679" cy="2106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설비를 세우고 핀을 세척하는 정비 작업이다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원인인 핀 오염 자체를 없앤다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7838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7838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제거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조치를 정하는 데 필요한 세 가지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조치를 정하려면 수행하는 방법, 지금 해도 되는지의 조건, 후보 사이의 우열을 가리는 기준이 각각 있어야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8211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7479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어떻게 수행하는가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조치의 단계와 순서, 지켜야 할 안전 조건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3293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293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절차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8211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hield-check" descr="shield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97479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 해도 되는가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설비의 운전 상태와 규정에 비추어 후보를 남기거나 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493293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93293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82117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cale" descr="sca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97479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어느 것이 더 나은가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후보가 안전, 생산, 납기, 비용에 미치는 영향을 견준다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493293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493293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기준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SOP: 표준 작업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SOP는 특정 작업을 누가 수행해도 같은 순서와 기준으로 하도록 문서로 정해 둔 절차이다.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71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197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Standard Operating Procedure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26197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특정 작업의 순서와 기준을 문서로 정해 둔 절차이다.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수행하는 사람이 달라도 같은 방식으로 하게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913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SOP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표준 작업 절차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9913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매뉴얼 HM-8은 쿨러 냉각 성능 상실에 대한 조치를 절차로 정해 둔다.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앞에서 본 네 후보가 모두 이 매뉴얼의 SOP이다.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SOP의 구성요소 일곱 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단계만 적힌 메모는 언제 써도 되는지와 언제 끝나는지를 알려 주지 못하며, SOP는 여기에 여섯 가지를 더 갖춘다.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6" name="삽화:SOP문서_all.svg" descr="illust_278606568767265970_1791717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4942" y="1816729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대상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어떤 설비의 어떤 고장에 쓰는가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4942" y="2270564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전제 조건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시작 전에 성립해 있어야 할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4942" y="3197144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수행 단계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무엇을 어떤 차례로 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4942" y="3778620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 역할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누가 승인하는가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4942" y="4473555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작업자를 지키려고 먼저 할 조치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4942" y="4960482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확인 기준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무엇을 얼마 동안 보고 끝내는가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4942" y="5471047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사항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어떤 경우에도 하지 않을 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 전에 정해 두는 세 가지: 적용 대상 · 전제 조건 · 안전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적용 대상, 전제 조건, 안전 조건은 절차를 어느 고장에, 어떤 설비 상태에서, 어떤 보호 조치 뒤에 시작하는지를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매뉴얼 원문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실린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「쿨러 냉각 성능 상실은 오일 쿨러에서 생기는 고장이며 유온 상승과 냉각 효율 저하로 나타난다.」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전제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「원격 조치는 PLC 운전 모드가 REMOTE_AUTO일 때만 한다.」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「설비를 정지하고 현장 패널에서 LOCAL로 전환한 뒤 잠금(LOTO)을 건다.」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LOTO(Lockout/Tagout): 전원을 잠그고 표지를 다는 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SOP-COOL-14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단계 · 담당 역할 · 완료 확인 기준 · 금지 사항의 원문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수행 단계에는 누가 승인하는지, 무엇으로 끝났다고 보는지, 무엇을 해서는 안 되는지가 함께 붙는다.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매뉴얼 원문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실린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1. 운전 모드가 REMOTE_AUTO인지 확인한다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2. 팬 속도를 100 %로 올린다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3. 15분 재관측으로 회복 판정을 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SOP-COOL-11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 역할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「승인: 운전원.」 — 팬 최대 운전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「승인은 설비보전팀장이 한다.」 — 근본 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확인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「조치 뒤 15분 동안 TS1이 55 ℃ 미만이고 경보가 해제된 상태가 유지되면 완화에 성공한 것이다.」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부하를 60 % 미만으로 설정하지 않는다.」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「고압수는 쓰지 않는다.」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HM-8.8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 2단계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모드에 따라 남는 후보와 제외되는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원격으로 보내는 조치는 원격 자동일 때만 후보에 남고, 사람이 현장에서 하는 정비 작업은 어느 운전 모드에서도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6" name="삽화:운전모드_3.svg" descr="illust_5949875185086321487_1791717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53957" y="2809494"/>
            <a:ext cx="207280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REMOTE_AUTO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자동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408" y="2809494"/>
            <a:ext cx="207280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REMOTE_MANUAL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수동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77768" y="2809494"/>
            <a:ext cx="207280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LOCAL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현장 제어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592" y="3754983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원격으로 보내는 설비 제어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592" y="5125943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현장에서 하는 정비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8504" y="4369551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후보에 남는다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4955" y="4369551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제외된다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2316" y="4369551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제외된다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8504" y="5731056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후보에 남는다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4955" y="5731056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후보에 남는다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2316" y="5731056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후보에 남는다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195" y="1911278"/>
            <a:ext cx="349103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제외하는 까닭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현장에서 사람이 설비를 조작하는 동안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명령이 끼어들면 위험하다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 온톨로지: 고장 유형에 이어진 조치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 한 편이 조치 방법 노드 하나이고 고장 유형에 이어져 있어, 고장 유형에서 관계를 따라가면 조치 후보가 모인다.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3122676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" y="3452774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</p:txBody>
      </p:sp>
      <p:sp>
        <p:nvSpPr>
          <p:cNvPr id="8" name="Oval 7"/>
          <p:cNvSpPr/>
          <p:nvPr/>
        </p:nvSpPr>
        <p:spPr>
          <a:xfrm>
            <a:off x="3636468" y="3122676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8083" y="3452774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</p:txBody>
      </p:sp>
      <p:sp>
        <p:nvSpPr>
          <p:cNvPr id="10" name="Oval 9"/>
          <p:cNvSpPr/>
          <p:nvPr/>
        </p:nvSpPr>
        <p:spPr>
          <a:xfrm>
            <a:off x="7847143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68758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 · Skill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</a:t>
            </a:r>
          </a:p>
        </p:txBody>
      </p:sp>
      <p:sp>
        <p:nvSpPr>
          <p:cNvPr id="12" name="Oval 11"/>
          <p:cNvSpPr/>
          <p:nvPr/>
        </p:nvSpPr>
        <p:spPr>
          <a:xfrm>
            <a:off x="9905695" y="3122676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7310" y="3452774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운전과 부하 80 %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SOP-COOL-12</a:t>
            </a:r>
          </a:p>
        </p:txBody>
      </p:sp>
      <p:sp>
        <p:nvSpPr>
          <p:cNvPr id="14" name="Oval 13"/>
          <p:cNvSpPr/>
          <p:nvPr/>
        </p:nvSpPr>
        <p:spPr>
          <a:xfrm>
            <a:off x="7847143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68758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3991356"/>
            <a:ext cx="12315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2489807" y="3625596"/>
            <a:ext cx="91542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9807" y="3625596"/>
            <a:ext cx="91542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366843" y="2811444"/>
            <a:ext cx="2461433" cy="87395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5827916" y="2882663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7916" y="2882663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19548" y="3991356"/>
            <a:ext cx="4412995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6856401" y="3625596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6401" y="3625596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66843" y="4297310"/>
            <a:ext cx="2461433" cy="87395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5881341" y="4368528"/>
            <a:ext cx="143243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81341" y="4368528"/>
            <a:ext cx="143243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REMEDIED_BY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매뉴얼에 문장으로 적힌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조치를 해도 되는지를 가르는 조건은 매뉴얼의 여러 절에 문장으로 흩어져 적혀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이상이면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해제에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실패할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있으므로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HM-8.8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(SOP-COOL-11~13)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쓰지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넘겼다면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수명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손실로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감점해서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조건이 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유온, 운전 모드,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팬의 연속 운전 시간이다.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결과도 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비교하라, 쓰지 마라,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감점하라로 서로 다르다.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자리가 다르다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절에 나뉘어 있고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 본문과도 떨어져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DMN: 업무 의사결정을 정의하는 표준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DMN은 업무에서 되풀이되는 판단을 누가 해도 같은 결과가 나오도록 명확히 정의하는 표준이다.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71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197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Decision Model and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26197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업무의 의사결정을 정의하는 표기 표준이다.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보고 어떤 조건이면 어떤 결과인지를 정해진 형식으로 적는다.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913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정한 곳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Object Management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9913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국제 표준화 단체 OMG가 정했다.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특정 회사나 제품의 방식이 아니라 공통의 약속이다.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SOP와 DMN의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SOP는 조치를 수행하는 순서를 정하고, DMN은 그 조치를 골라도 되는지를 가리는 조건을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811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347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답하는 물음: 어떻게 하는가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적는 것: 순서가 있는 단계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쓰이는 때: 조치를 수행하는 동안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455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455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811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able" descr="tab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347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답하는 물음: 해도 되는가, 어느 것이 나은가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적는 것: 조건과 결과의 표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쓰이는 때: 조치를 고르기 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455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455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결정표: 규칙을 행으로 모은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결정표는 조건과 그 조건이 맞을 때의 결과를 한 행씩 모은 표이며, 지금의 값을 대어 보면 답이 나온다.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71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197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Decision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26197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조건과 결과의 짝을 행으로 모은 표이다.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입력이면 누가 대어 보아도 같은 결과가 나온다.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913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놀이기구 탑승 기준표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9913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닮은 점: 키와 나이를 표에 대면 직원이 누구든 같은 판정이 나온다.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점: 결정표는 값의 출처와 규칙의 근거, 여러 행이 맞을 때의 처리까지 정한다.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규칙(Rule): 조건과 출력으로 이루어진 한 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조건 문장 하나가 규칙 한 행이 되고, 그 행은 입력 값을 견주는 조건과 맞을 때 내는 출력으로 이루어진다.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pic>
        <p:nvPicPr>
          <p:cNvPr id="6" name="삽화:결정표_4.svg" descr="illust_4179163213345025737_1791717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50306" y="1698543"/>
            <a:ext cx="741845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결정: 후보 가운데 규정상 쓸 수 없거나 감점할 것은 무엇인가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8544" y="2265837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50506" y="2265837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7579" y="2833131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plc_mode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 운전 모드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121" y="2833131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fan100_hours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100 % 연속 운전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221" y="2833131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대상이 되는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7579" y="3754983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!= REMOTE_AUTO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126" y="3636797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 · 12 ·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376" y="3518611"/>
            <a:ext cx="2181899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규칙(Rule)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표의 한 행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조건이 맞으면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출력을 낸다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제외, 감점, 경고의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판정을 구분해 두지 않으면 해서는 안 되는 조치와 대가를 치르고 할 수 있는 조치가 한데 섞인다.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1552"/>
            <a:ext cx="3515258" cy="29596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127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an" descr="ba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663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35680"/>
            <a:ext cx="3186074" cy="14325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조건에 걸린 조치를 후보에서 아예 뺀다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후보에 남지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413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41392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해서는 안 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511552"/>
            <a:ext cx="3515258" cy="29596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7127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oin" descr="coi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86633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535680"/>
            <a:ext cx="3186074" cy="14325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후보에 남기되 손실만큼 깎아 다른 후보와 견준다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후보에 남고 점수가 깎인다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041392"/>
            <a:ext cx="20269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041392"/>
            <a:ext cx="2026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해도 되지만 대가가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511552"/>
            <a:ext cx="3515258" cy="29596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7127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lert-triangle" descr="alert-triang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86633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535680"/>
            <a:ext cx="3186074" cy="14325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후보에 남기면서 승인하는 사람이 알아야 할 사항을 붙인다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후보에 남고 사람에게 알린다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041392"/>
            <a:ext cx="222504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041392"/>
            <a:ext cx="22250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해도 되지만 알고 해야 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「넘으면」과 「이상이면」의 차이: 경계값 세 개로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「넘겼다면」은 초과여서 기준값 자신은 맞지 않으며, 이런 경계는 기준값과 그 바로 아래 · 위의 세 값을 넣어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pic>
        <p:nvPicPr>
          <p:cNvPr id="6" name="삽화:수직선_gt.svg" descr="illust_6819673608055266444_1791717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6574" y="2100376"/>
            <a:ext cx="370922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fan100_hours &gt; 24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연속 운전이 24시간을 넘겼다면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518" y="2762219"/>
            <a:ext cx="305465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임계값(Threshold) 24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판정이 갈리는 기준값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빈 점: 기준값은 들지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6783" y="3882624"/>
            <a:ext cx="327284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조건에 맞는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5745" y="5754694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23.9시간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2182" y="5754694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24.0시간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8620" y="5754694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24.1시간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4987" y="1911278"/>
            <a:ext cx="392741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옮긴 뒤의 확인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기준값 자신, 바로 아래, 바로 위의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값을 넣어 원문의 뜻과 같은지 본다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결정표의 결함: 중복과 상충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중복은 한 행만 고쳤을 때 표를 어긋나게 하고, 상충은 같은 값에 다른 답을 둘 내어 따를 쪽을 정하지 못하게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9509"/>
            <a:ext cx="5181447" cy="3123692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3067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opy" descr="cop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8429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630678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81069"/>
            <a:ext cx="4632807" cy="15234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한 값에 같은 결과를 내는 행이 둘 맞는다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두 행: 55 ℃ 이상이면 경고, 58 ℃ 이상이면 경고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59 ℃에서 두 행이 맞고 결과는 같다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나중에 한 행만 고치면 표가 어긋난다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960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960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결과가 같다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429509"/>
            <a:ext cx="5181447" cy="3123692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63067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rrows-split" descr="arrows-spli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84297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630678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81069"/>
            <a:ext cx="4632807" cy="15234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한 값에 결과가 서로 다른 행이 둘 맞는다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두 행: 55 ℃ 이상이면 경고, 58 ℃ 이상이면 제외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59 ℃에서 경고인가, 제외인가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어느 쪽을 따를지 표가 정해 주지 못한다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96002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96002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결과가 다르다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재무 숫자만 볼 때의 문제와 BSC(Balanced Scorecard)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이익 같은 재무 숫자는 일이 끝난 뒤에야 나오며, BSC는 그 결과를 만드는 원인까지 여러 관점에서 함께 보게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oin" descr="coi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재무 숫자만 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이익은 일이 다 끝난 뒤에 나오는 숫자이다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보았을 때는 손쓸 시간이 지났다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정비를 미루는 결정이 당장은 좋아 보인다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지나간 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eye-check" descr="eye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BSC: 여러 관점에서 함께 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BSC(Balanced Scorecard, 균형 성과표)는 성과를 재무 하나가 아니라 네 관점에서 균형 있게 보는 성과 관리의 틀이다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관점마다 이루려는 목표와 그것을 재는 지표를 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납기와 품질, 설비와 안전까지 보아 결과가 나오기 전에 손을 쓴다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캐플런과 노턴이 제안했다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결과와 그 원인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전략 목표와 KPI(Key Performance Indicator)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전략 목표는 방향을 말로 정할 뿐 달성 정도를 알려 주지 않으며, 그 정도는 목표마다 붙인 KPI가 수치로 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arget-arrow" descr="target-arrow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전략 목표 (Strategic Objective)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조직이 이루려는 상태를 문장으로 적은 것이다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방향을 정하지만 얼마나 이루었는지는 말해 주지 않는다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무재해 운전 — 인터록 한계를 넘지 않는다, 금액과 맞바꾸지 않는다 (내부 프로세스 관점)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이루려는 상태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 (Key Performance Indicator)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목표를 얼마나 이루었는지를 수치로 재는 핵심 성과 지표이다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무재해 운전의 KPI: 인터록 여유 — 유온이 인터록 한계까지 얼마나 남았는가 (℃)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납기 신뢰의 KPI: 납기 준수율 — 약속한 납기를 지킨 비율 (%)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KPI는 목표를 재는 수단이다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재는 수치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성과의 상충: 한 조치가 한 목표에는 이롭고 다른 목표에는 해롭다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조치가 한 목표에는 이롭고 다른 목표에는 해로운 것이 성과의 상충이며, 조치 선택은 그 득실의 저울질이다.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pic>
        <p:nvPicPr>
          <p:cNvPr id="6" name="삽화:성과경로_5.svg" descr="illust_6856895006601066735_1791717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3828" y="4345914"/>
            <a:ext cx="1963709" cy="825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운전과 부하 80 %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4831" y="2818948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속도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올린다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5749" y="5721601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내린다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395" y="4227728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내려간다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395" y="5721601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생산량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줄어든다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6845" y="2601486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전력 사용량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늘어난다 · 불리하다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6845" y="4227728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늘어난다 · 이롭다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6845" y="5721601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준수율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낮아진다 · 불리하다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순위: 쿨러 과열 한 건의 네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후보에 실제로 매겨진 점수에서는 생산을 그대로 두는 팬 최대 운전이 1순위였다.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순위와 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 후 예측 유온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  팬 최대 운전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49.8 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+3.38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  부하 70 %와 야간 핀 세척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47.7 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+2.75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  팬 최대 운전과 부하 80 %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44.6 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+2.75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  쿨러 핀 세척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62.5 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-1.58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여부를 가리는 규칙과 효과를 견주는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안전 조건을 점수에 섞으면 위험한 조치가 뽑힐 수 있고, 견줄 값을 제외 조건에 넣으면 고를 조치가 남지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8647"/>
            <a:ext cx="5181447" cy="372541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29815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hield-check" descr="shield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83434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29815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여부를 가리는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80207"/>
            <a:ext cx="4632807" cy="21252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조건에 걸리면 후보에서 빠진다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점수가 높아도 되살아나지 않는다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안전과 규정은 금액과 맞바꾸지 않는다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섞었을 때: 안전 조건을 점수에 넣으면 다른 점수가 높을 때 위험한 조치가 1순위가 되어 넘으면 안 되는 선이 무너진다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9686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686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통과 또는 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28647"/>
            <a:ext cx="5181447" cy="372541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29815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cale" descr="sca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83434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29815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효과와 비용을 견주는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80207"/>
            <a:ext cx="4632807" cy="21252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통과한 후보끼리 점수로 비교한다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한 항목의 손해를 다른 항목의 이득이 메울 수 있다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납기, 품질, 예측 유온, 성과 지표의 득실을 함께 본다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섞었을 때: 견줄 값을 제외 조건에 넣으면 비용이 조금만 들어도 빠져 고를 조치가 남지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96865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96865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더 낫거나 못하다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 분석과 가정값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What-if 분석은 판단 한 건을 사본으로 떠서 그 안의 값을 가정값으로 바꾸어, 조건이 달랐을 때의 순위를 계산한다.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삽화:가정분석_2.svg" descr="illust_280783545487355377_1791717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5652" y="1627632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원본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지식과 업무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8484" y="1627632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판단 한 건의 사본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후보, 규칙, 입력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4820" y="5645962"/>
            <a:ext cx="392741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가정값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사본에서 실제와 다르게 바꾸어 넣는 값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납기까지 남은 시간, 지연 위약금, 전력 단가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4987" y="5645962"/>
            <a:ext cx="392741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 분석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조건이 달랐다면 어떻게 되는지를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계산해 보는 방법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기존 지식 구조에 작업 절차 연결하기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앞서 만든 그래프에 SOP의 전제 조건, 금지 사항, 완료 확인 기준을 조치와 고장 유형에 이어 조회한다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연결하는 것과 조회하는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절차를 그래프에 이어 두면 고장 유형에서 조치와 그 전제 조건, 금지 사항, 완료 확인 기준까지 질의 하나로 찾는다.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database" descr="databas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93968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그래프를 쓴다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앞서 만든 그래프의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설비와 고장 유형을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그대로 쓴다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link" descr="lin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939681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조치와 이어 준다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 한 편을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방법으로 두고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유형에 잇는다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list-check" descr="list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939681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조건을 갈라 잇는다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전제 조건, 금지 사항,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완료 확인 기준을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조치에 연결한다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8606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search" descr="search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939681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질의로 조회한다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유형에서 출발해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조치와 그 조건을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관계를 따라 찾는다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복합 조건의 판단 기준 작성하기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온도, 압력, 설비 상태가 함께 걸리는 판단을 결정표로 쓰고 충돌과 경계값과 금지의 우선순위를 표시한다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작성하는 것과 표시하는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조건이 여럿 겹치는 판단은 충돌, 경계값, 금지의 우선순위를 표에 드러내야 같은 입력에 같은 판정이 나온다.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orms" descr="form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93968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항목을 정한다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온도, 압력, 설비 상태를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결정표의 입력으로 둔다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table" descr="tab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939681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규칙을 쓴다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함께 걸리는 판단을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행에 하나씩 쓴다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flag" descr="flag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939681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표시를 남긴다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충돌하는 행,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경계값, 제외가 먼저인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자리를 표에 표시한다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8606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zoom-check" descr="zoom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939681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결정표를 확인한다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값을 대어 보아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판정이 의도한 대로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나오는지 본다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설비 조건별 조치를 가리는 판단 기능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결정표를 읽어 조치를 허용하거나 제외하고 사유를 보여 주는 기능을 Claude Code로 만든다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만드는 기능과 확인하는 네 가지 경우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실습을 마치면 결정표의 입력 값에 따라 조치를 허용하거나 제외하고 그 사유를 보여 주는 판정 기능이 만들어진다.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8"/>
            <a:ext cx="2567863" cy="31455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1975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7337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42716"/>
            <a:ext cx="2238679" cy="161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정상 조건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모든 조건을 통과하는 입력이다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조치가 모두 허용된다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3435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3435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동작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418588"/>
            <a:ext cx="2567863" cy="31455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61975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77337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42716"/>
            <a:ext cx="2238679" cy="161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경계값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기준값과 같은 값, 바로 위와 아래의 값을 넣는다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연산자를 맞게 옮겼는지 드러난다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3435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3435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임계값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418588"/>
            <a:ext cx="2567863" cy="31455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61975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tack-2" descr="stack-2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77337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42716"/>
            <a:ext cx="2238679" cy="161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복수 규칙 일치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한 후보에 규칙이 둘 이상 맞는 입력이다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판정이 빠짐없이 모이는지 확인한다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3435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34356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여러 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418588"/>
            <a:ext cx="2567863" cy="31455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61975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ban" descr="ban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773375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42716"/>
            <a:ext cx="2238679" cy="161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불가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모든 후보가 제외되는 입력이다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추천을 내지 않고 제외 사유를 보여 주어야 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3435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3435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없음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조치의 효과를 성과 지표와 연결하기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안전 기준을 통과한 조치만 KPI와 예상 비용, 생산 영향으로 견준다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견주는 것과 확인하는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안전 기준을 비교보다 앞에 두면 비용이 가장 적은 조치라도 금지 조건에 걸린 것은 추천에 오르지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hield-check" descr="shield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93968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기준부터 건다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금지 조건에 걸린 조치를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후보에서 뺀다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target-arrow" descr="target-arrow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939681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효과를 지표에 잇는다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조치가 바꾸는 값을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KPI와 이어 본다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cale" descr="sca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939681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비용과 영향을 견준다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예상 비용, 생산 영향,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KPI의 변화를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나란히 놓는다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8606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ban" descr="ban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939681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제외를 확인한다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저렴하지만 안전 기준에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걸린 조치가 추천에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없는지 본다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약어의 정식 명칭과 그 약어가 조치 선택에서 맡은 자리를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 선택에서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Standard Operating Procedure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조치의 순서와 수행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Lockout/Tagout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전의 잠금과 표지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Decision Model and Notation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조건을 정의하는 표준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OMG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Object Management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DMN을 정한 단체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BSC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Balanced Scorecard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관점의 성과 관리 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Key Performance Indicator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목표를 재는 지표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맞춰보세요.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운전 상태와 조치의 가능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HYD-01의 쿨러 성능 저하 경보에서 원인은 쿨러 핀 오염이고, 현장의 수동 조작으로 운전 모드는 REMOTE_MANUAL이다.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상태에서 조치 후보에 남는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— 유온을 경보 기준 아래로 내리므로 남는다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운전과 부하 80 % — 유온을 가장 많이 내리므로 남는다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 — 현장의 정비 작업이므로 운전 모드와 관계없이 남는다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 70 %와 야간 핀 세척 — 팬을 건드리지 않으므로 남는다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경계값의 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「24시간을 넘겼다면 감점한다」를 fan100_hours &gt; 24로 옮긴 결정표에 팬 100 % 연속 운전 24.0시간을 넣었다.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입력에 대한 판정은?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24.0시간은 기준값이므로 감점 규칙에 맞는다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기준값 자신은 맞지 않으므로 감점이 붙지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기준값에서는 판정이 정해지지 않아 오류로 처리된다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24시간에 닿았으므로 후보에서 제외된다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가능 여부의 규칙과 성과의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과열 한 건에서 「팬 최대 운전과 부하 80 %」는 예측 유온이 44.6 ℃로 가장 낮았으나 3순위였다.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이유로 가장 적절한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모드 규칙에 걸려 후보에서 제외되었기 때문이다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유온이 낮을수록 점수가 낮게 매겨지기 때문이다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승인할 역할의 직급이 더 높은 조치였기 때문이다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부하를 낮추면 생산이 줄어 납기 쪽에서 잃는 것이 더 컸기 때문이다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조치의 가능 여부, 경계값의 판정, 성과의 비교를 각각 올바른 기준으로 판단하는지를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원격으로 보내는 설비 제어는 원격 자동에서만 한다. 현장의 정비 작업은 운전 모드와 관계가 없다.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「넘으면」은 초과이므로 기준값 자신은 조건에 맞지 않는다. 기준값 자신, 바로 아래, 바로 위의 세 값으로 확인한다.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네 후보 모두 규칙을 통과했다. 순위는 예측에서 얻은 것과 납기에서 잃은 것을 견준 결과이다.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