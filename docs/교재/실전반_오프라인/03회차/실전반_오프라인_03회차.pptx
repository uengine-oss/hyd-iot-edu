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두 회차에서 지식을 담을 구조를 설계했고 조치 절차와 판단 규칙을 그 구조에 이었습니다. 오늘은 그 내용이 문서에서 어떻게 들어오는지를 따라가고, 네 개의 실습에서 매뉴얼을 등록해 추출하고 검토한 지식만 그래프에 반영합니다. 마지막에는 세 회차의 내용을 하나의 흐름으로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운전원이 승인한 것은 시스템이 올린 추천안이었고, 추천안에는 원인과 조치와 출처가 함께 적혀 있었습니다. 이 셋은 처음부터 지식 그래프에 있던 것이 아니라 쿨러 팬 정비 매뉴얼 HM-8에서 왔습니다. 오늘은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매뉴얼 8.4절의 문장이고 오른쪽은 같은 내용이 등록된 모습입니다. 왼쪽을 오른쪽으로 바꾸는 일이 오늘의 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1회차에서는 예시 인스턴스를 손으로 적어 그래프에 넣었습니다. 그 방식에는 원문의 어디에서 왔는지와 누가 확인했는지가 남지 않습니다. 그래서 옮기는 일을 사람의 솜씨에 맡기지 않고 정해진 과정으로 둡니다. 과정이 정해져 있으면 누가 해도 같은 방법으로 되풀이할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지식으로 옮기는 정해진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1회차에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2단계에서 절과 절차와 번호 단계로 나누어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정해진 항목과 형식에는 맞습니다. 위의 둘부터 봅니다. 조건 문장이 통째로 빠지면 결과에는 틀린 글자가 하나도 없고, 단위만 바뀌면 숫자 자리에 숫자가 있으므로 프로그램이 이상을 찾지 못합니다. 아래의 둘은 매뉴얼이 쿨러 핀 오염에만 이은 핀 세척을 다른 원인에 짐작으로 잇는 오류와,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조치를 사람이 승인해야 설비 명령이 나갔던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들어갑니다.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조치 방법과 근거 문서 사이에는 단계와 절이 있습니다. 다음으로 아래의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그래프에 등록하는 것과 등록하지 않는 것의 구분입니다.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 가운데 원천 확보에서 대조와 검토까지를 정비 문서 한 편으로 직접 진행합니다. 할 일의 중심은 후보를 원문과 견주는 검토입니다. 사람 검토의 네 곳을 확인하고, 출처를 댈 수 없는 후보는 보류로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1회차에 만든 설비 모델과 2회차의 조치와 규칙의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조건 한 건이 개정된 경우를 다룹니다. 개정 전과 후의 문장을 가려내고, 같은 문서 식별자의 새 판본으로 검토해 반영합니다. 반영한 뒤에는 바뀐 지식에서 관계를 따라가 출처가 새 판본의 문장을 가리키는지를 조회합니다. 끝으로 이미 들어 있던 지식과 어긋나는 곳을 찾아 어느 쪽을 남길지를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칸마다 하늘색으로 칠한 부분이 그 단계에서 새로 더해진 것입니다.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스키마 설계였습니다.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스키마 설계가 받은 것은 관계도와 답할 질문이었고, 스키마 설계는 클래스가 아니라 질문에서 출발했습니다. 질문이 정해져야 무엇을 넣고 무엇을 넣지 않을지가 갈립니다. 둘째 줄의 스키마가 둘째 결과물로, 관계 그림에 없던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대상마다 식별자가 있고 관계는 스키마가 정한 방향으로 놓였습니다. Cypher로 이 관계를 따라가면 처음의 질문에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SOP의 구성요소로 본 것 가운데 셋이 입력입니다. 첫 행에서 SOP 한 편이 조치 방법 노드 하나가 되고 번호가 붙은 줄이 작업 단계가 되었습니다. 둘째 행의 금지는 규칙으로 만들지 않았고, 부하를 60 % 아래로 내리지 못한다는 조치의 하한으로 남았습니다. 셋째 행의 전제 조건은 2회차에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조치가 지표에 미치는 영향을 따라가며 본 지표들입니다. 한 조치가 한 지표에는 이롭고 다른 지표에는 불리했습니다.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1회차와 2회차는 지식이 들어갈 자리를 만들었고, 오늘은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걸음 전체의 밑그림은 1회차의 관계 그림입니다. 경보에서 조치 승인까지의 108초 동안 이루어진 판단이 이것이었고, 그것이 가능했던 것은 세 회차의 결과물이 미리 쌓여 있었기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이상 패턴에서 증상을 거쳐 고장 유형까지 갑니다. 이 길은 누가 그때 생각해 낸 것이 아니라, 관계가 정의되어 있고 그 정의에 따라 인스턴스가 이어져 있어서 따라갈 수 있었습니다. 다음으로 오른쪽의 원인 후보 셋과, 후보마다 EVIDENCED_BY로 이어진 증거 기준은 모두 매뉴얼 HM-8.4에서 추출해 검토한 지식입니다. 기준 70이 원문과 다르게 옮겨졌다면 판단은 그 틀린 기준으로 원인을 가립니다. 판단하는 프로그램은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행마다 윗줄이 매뉴얼에서 온 기준이고 아랫줄이 그 순간에 시계열 DB에서 읽은 값입니다. 첫 행부터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본 순위 그대로입니다. 넷 모두 제외 규칙을 통과했고, 쿨러 핀 세척에는 경고가 붙었으며, 순서는 성과 기준이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추천안에 함께 제시된 근거입니다. 이제 줄마다 그것이 어디에서 왔는지를 말할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위의 둘은 지식 그래프에 있고 맨 아래의 값은 지식 그래프 밖의 원천에 있습니다. 줄마다 둘째 줄이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결정표의 조건으로 본 감점 규칙과 그 근거 문장입니다.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규칙만 있고 근거가 없으면 어느 규칙을 고쳐야 하는지 찾을 수 없습니다.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 곧 지식과 값을 조회해 원인과 조치를 추천하는 AI 프로그램에게 무엇을 주는지를 왼쪽부터 봅니다. 지식 그래프는 따라갈 길과 댈 근거를 주므로 같은 경보에는 같은 후보와 같은 근거가 나옵니다. 가운데의 판단 규칙은 조건의 해석을 모델에 맡기지 않고 정해 둔 판정을 주며, 에이전트는 그 판정을 받아 추천에 반영합니다. 오른쪽의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답의 근거를 확인할 수 없습니다. 그 문제에 대한 답이 이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회차의 내용을 한 문장으로 줄인 것입니다. 다음 시간부터는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넷과 함께 지식 후보, 매핑, 판본, 개정 이력이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추출한 후보를 기존 그래프에 잇는 원칙을 묻는 문항입니다. 같은 대상이 그래프에 둘이 되면 어떤 일이 생기는지를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1번이 틀린 이유는 형식 검사와 인용 대조가 내용의 누락까지 잡아 주지는 않기 때문입니다. 셋째 문항의 3번은 문서를 읽었다고 스키마에 새 클래스를 더할 수는 없다는 점에서 틀립니다. 스키마를 바꾸는 일은 추출이 아니라 설계의 일입니다.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0.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7.png"/><Relationship Id="rId4" Type="http://schemas.openxmlformats.org/officeDocument/2006/relationships/image" Target="../media/image24.png"/><Relationship Id="rId5" Type="http://schemas.openxmlformats.org/officeDocument/2006/relationships/image" Target="../media/image28.png"/><Relationship Id="rId6" Type="http://schemas.openxmlformats.org/officeDocument/2006/relationships/image" Target="../media/image11.png"/><Relationship Id="rId7"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31.png"/><Relationship Id="rId5" Type="http://schemas.openxmlformats.org/officeDocument/2006/relationships/image" Target="../media/image3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2.png"/><Relationship Id="rId4" Type="http://schemas.openxmlformats.org/officeDocument/2006/relationships/image" Target="../media/image33.png"/><Relationship Id="rId5"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5.png"/><Relationship Id="rId4" Type="http://schemas.openxmlformats.org/officeDocument/2006/relationships/image" Target="../media/image21.png"/><Relationship Id="rId5" Type="http://schemas.openxmlformats.org/officeDocument/2006/relationships/image" Target="../media/image36.png"/><Relationship Id="rId6"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21.png"/><Relationship Id="rId6"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2.png"/><Relationship Id="rId4" Type="http://schemas.openxmlformats.org/officeDocument/2006/relationships/image" Target="../media/image34.png"/><Relationship Id="rId5" Type="http://schemas.openxmlformats.org/officeDocument/2006/relationships/image" Target="../media/image47.png"/><Relationship Id="rId6"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8.png"/><Relationship Id="rId4" Type="http://schemas.openxmlformats.org/officeDocument/2006/relationships/image" Target="../media/image13.png"/><Relationship Id="rId5" Type="http://schemas.openxmlformats.org/officeDocument/2006/relationships/image" Target="../media/image30.png"/><Relationship Id="rId6" Type="http://schemas.openxmlformats.org/officeDocument/2006/relationships/image" Target="../media/image29.png"/><Relationship Id="rId7" Type="http://schemas.openxmlformats.org/officeDocument/2006/relationships/image" Target="../media/image4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2.png"/><Relationship Id="rId4"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2.png"/><Relationship Id="rId4" Type="http://schemas.openxmlformats.org/officeDocument/2006/relationships/image" Target="../media/image38.png"/><Relationship Id="rId5" Type="http://schemas.openxmlformats.org/officeDocument/2006/relationships/image" Target="../media/image51.png"/><Relationship Id="rId6"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3.png"/><Relationship Id="rId4" Type="http://schemas.openxmlformats.org/officeDocument/2006/relationships/image" Target="../media/image29.png"/><Relationship Id="rId5" Type="http://schemas.openxmlformats.org/officeDocument/2006/relationships/image" Target="../media/image5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7.png"/><Relationship Id="rId4" Type="http://schemas.openxmlformats.org/officeDocument/2006/relationships/image" Target="../media/image5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4.png"/><Relationship Id="rId4" Type="http://schemas.openxmlformats.org/officeDocument/2006/relationships/image" Target="../media/image49.png"/><Relationship Id="rId5" Type="http://schemas.openxmlformats.org/officeDocument/2006/relationships/image" Target="../media/image3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3회차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매뉴얼의 지식 검증과</a:t>
            </a:r>
          </a:p>
          <a:p>
            <a:pPr algn="l">
              <a:lnSpc>
                <a:spcPct val="110000"/>
              </a:lnSpc>
            </a:pPr>
            <a:r>
              <a:rPr sz="4000" b="1">
                <a:solidFill>
                  <a:srgbClr val="FFFFFF"/>
                </a:solidFill>
                <a:latin typeface="맑은 고딕"/>
                <a:ea typeface="맑은 고딕"/>
                <a:cs typeface="맑은 고딕"/>
              </a:rPr>
              <a:t>재사용할 수 있는 지식 자산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매뉴얼의 문장이 출처를 가진 지식이 되기까지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eye-check" descr="eye-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문장이 검토를 거쳐 출처를 가진 지식이 되는 과정을 설명하고 세 회차의 결과물을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과정</a:t>
            </a:r>
          </a:p>
          <a:p>
            <a:pPr algn="l">
              <a:lnSpc>
                <a:spcPct val="110000"/>
              </a:lnSpc>
              <a:spcAft>
                <a:spcPts val="400"/>
              </a:spcAft>
            </a:pPr>
            <a:r>
              <a:rPr sz="1350" b="0">
                <a:solidFill>
                  <a:srgbClr val="1F2A3A"/>
                </a:solidFill>
                <a:latin typeface="맑은 고딕"/>
                <a:ea typeface="맑은 고딕"/>
                <a:cs typeface="맑은 고딕"/>
              </a:rPr>
              <a:t>원천 자료가 지식이 되기까지의 단계를 순서대로 설명한다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 과정</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350" b="0">
                <a:solidFill>
                  <a:srgbClr val="1F2A3A"/>
                </a:solidFill>
                <a:latin typeface="맑은 고딕"/>
                <a:ea typeface="맑은 고딕"/>
                <a:cs typeface="맑은 고딕"/>
              </a:rPr>
              <a:t>추출에서 생기는 오류를 구분하고 원문 대조와 사람 검토가 맡는 일을 말한다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신뢰의 조건</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quote" descr="quo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출처와 개정 이력</a:t>
            </a:r>
          </a:p>
          <a:p>
            <a:pPr algn="l">
              <a:lnSpc>
                <a:spcPct val="110000"/>
              </a:lnSpc>
              <a:spcAft>
                <a:spcPts val="400"/>
              </a:spcAft>
            </a:pPr>
            <a:r>
              <a:rPr sz="1350" b="0">
                <a:solidFill>
                  <a:srgbClr val="1F2A3A"/>
                </a:solidFill>
                <a:latin typeface="맑은 고딕"/>
                <a:ea typeface="맑은 고딕"/>
                <a:cs typeface="맑은 고딕"/>
              </a:rPr>
              <a:t>지식이 문서의 어디에서 왔는지와 개정 뒤에 무엇이 바뀌었는지를 되짚는다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근거의 추적</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온톨로지의 필요에서 스키마, 조치와 규칙, 문서의 지식까지를 한 사건으로 잇는다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매뉴얼을 등록하고 추출 후보 확인하기</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예외 조건을 포함해 지식 추출하기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 완료된 지식만 그래프에 반영하기</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개정 자료를 반영하고 근거 확인하기</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문서에 적힌 지식과 지식 그래프에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내용이라도 문서의 문장은 사람이 읽어야 쓸 수 있고, 등록된 지식은 컴퓨터가 관계를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오염이 가장 흔하다. 최근 30초 냉각 효율 평균이 70 % 미만이고 팬은 정상이면 핀 오염으로 판정한다.」</a:t>
            </a:r>
          </a:p>
          <a:p>
            <a:pPr algn="l">
              <a:lnSpc>
                <a:spcPct val="110000"/>
              </a:lnSpc>
              <a:spcAft>
                <a:spcPts val="600"/>
              </a:spcAft>
            </a:pPr>
            <a:r>
              <a:rPr sz="1450" b="0">
                <a:solidFill>
                  <a:srgbClr val="1F2A3A"/>
                </a:solidFill>
                <a:latin typeface="맑은 고딕"/>
                <a:ea typeface="맑은 고딕"/>
                <a:cs typeface="맑은 고딕"/>
              </a:rPr>
              <a:t>• 원인, 기준값, 확인할 값이 한 문단에 섞여 있다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문장</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오염」이 고장 유형에 CAUSES로 이어진다</a:t>
            </a:r>
          </a:p>
          <a:p>
            <a:pPr algn="l">
              <a:lnSpc>
                <a:spcPct val="110000"/>
              </a:lnSpc>
              <a:spcAft>
                <a:spcPts val="600"/>
              </a:spcAft>
            </a:pPr>
            <a:r>
              <a:rPr sz="1450" b="0">
                <a:solidFill>
                  <a:srgbClr val="1F2A3A"/>
                </a:solidFill>
                <a:latin typeface="맑은 고딕"/>
                <a:ea typeface="맑은 고딕"/>
                <a:cs typeface="맑은 고딕"/>
              </a:rPr>
              <a:t>• 증거에 CE, 최근 30초 평균, 70 % 미만이 속성으로 들어 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노드와 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문서를 지식으로 옮기는 일을 과정으로 정해 두는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손으로 옮기면 느리고 빠뜨리며, 문서가 개정될 때마다 같은 일을 다시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느리다</a:t>
            </a:r>
          </a:p>
          <a:p>
            <a:pPr algn="l">
              <a:lnSpc>
                <a:spcPct val="110000"/>
              </a:lnSpc>
              <a:spcAft>
                <a:spcPts val="400"/>
              </a:spcAft>
            </a:pPr>
            <a:r>
              <a:rPr sz="1400" b="0">
                <a:solidFill>
                  <a:srgbClr val="1F2A3A"/>
                </a:solidFill>
                <a:latin typeface="맑은 고딕"/>
                <a:ea typeface="맑은 고딕"/>
                <a:cs typeface="맑은 고딕"/>
              </a:rPr>
              <a:t>매뉴얼 한 편에 절이 여덟, 절차가 일곱이다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빠뜨린다</a:t>
            </a:r>
          </a:p>
          <a:p>
            <a:pPr algn="l">
              <a:lnSpc>
                <a:spcPct val="110000"/>
              </a:lnSpc>
              <a:spcAft>
                <a:spcPts val="400"/>
              </a:spcAft>
            </a:pPr>
            <a:r>
              <a:rPr sz="1400" b="0">
                <a:solidFill>
                  <a:srgbClr val="1F2A3A"/>
                </a:solidFill>
                <a:latin typeface="맑은 고딕"/>
                <a:ea typeface="맑은 고딕"/>
                <a:cs typeface="맑은 고딕"/>
              </a:rPr>
              <a:t>• 금지 조건 한 줄이 빠져도 알아차리기 어렵다</a:t>
            </a:r>
          </a:p>
          <a:p>
            <a:pPr algn="l">
              <a:lnSpc>
                <a:spcPct val="110000"/>
              </a:lnSpc>
              <a:spcAft>
                <a:spcPts val="400"/>
              </a:spcAft>
            </a:pPr>
            <a:r>
              <a:rPr sz="1400" b="0">
                <a:solidFill>
                  <a:srgbClr val="1F2A3A"/>
                </a:solidFill>
                <a:latin typeface="맑은 고딕"/>
                <a:ea typeface="맑은 고딕"/>
                <a:cs typeface="맑은 고딕"/>
              </a:rPr>
              <a:t>• 손으로 넣은 예시 데이터에는 출처와 검토 기록이 없다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되풀이된다</a:t>
            </a:r>
          </a:p>
          <a:p>
            <a:pPr algn="l">
              <a:lnSpc>
                <a:spcPct val="110000"/>
              </a:lnSpc>
              <a:spcAft>
                <a:spcPts val="400"/>
              </a:spcAft>
            </a:pPr>
            <a:r>
              <a:rPr sz="1400" b="0">
                <a:solidFill>
                  <a:srgbClr val="1F2A3A"/>
                </a:solidFill>
                <a:latin typeface="맑은 고딕"/>
                <a:ea typeface="맑은 고딕"/>
                <a:cs typeface="맑은 고딕"/>
              </a:rPr>
              <a:t>문서가 개정되면 같은 방법으로 다시 옮겨야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인제스천_전체.svg" descr="illust_1752043193217436494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절과 단계로 나누어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항목과 형식만 보는 검사를 모두 통과하므로 추출 결과는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인용.svg" descr="illust_5177993264526192152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인제스천_6.svg" descr="illust_4931510246469152734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적재묶음_사슬.svg" descr="illust_6531636826851284551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등록과 추출 후보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정비 문서 한 편을 등록하고 추출된 후보를 원문과 비교한다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것과 보류하는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추출된 후보는 원문과 견주어 출처를 댈 수 있는 것만 남기고, 출처가 없는 후보는 지식으로 올리지 않고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정비 문서를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증상, 원인, 조치의 후보를 받는다</a:t>
            </a:r>
          </a:p>
        </p:txBody>
      </p:sp>
      <p:sp>
        <p:nvSpPr>
          <p:cNvPr id="10" name="Rounded Rectangle 9"/>
          <p:cNvSpPr/>
          <p:nvPr/>
        </p:nvSpPr>
        <p:spPr>
          <a:xfrm>
            <a:off x="777240" y="5149850"/>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후보까지</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원문과 비교</a:t>
            </a:r>
          </a:p>
          <a:p>
            <a:pPr algn="l">
              <a:lnSpc>
                <a:spcPct val="110000"/>
              </a:lnSpc>
              <a:spcAft>
                <a:spcPts val="400"/>
              </a:spcAft>
            </a:pPr>
            <a:r>
              <a:rPr sz="1400" b="0">
                <a:solidFill>
                  <a:srgbClr val="1F2A3A"/>
                </a:solidFill>
                <a:latin typeface="맑은 고딕"/>
                <a:ea typeface="맑은 고딕"/>
                <a:cs typeface="맑은 고딕"/>
              </a:rPr>
              <a:t>• 후보의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수치와 단위, 단계의 순서, 연결을 확인한다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player-pause" descr="player-paus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보류</a:t>
            </a:r>
          </a:p>
          <a:p>
            <a:pPr algn="l">
              <a:lnSpc>
                <a:spcPct val="110000"/>
              </a:lnSpc>
              <a:spcAft>
                <a:spcPts val="400"/>
              </a:spcAft>
            </a:pPr>
            <a:r>
              <a:rPr sz="1400" b="0">
                <a:solidFill>
                  <a:srgbClr val="1F2A3A"/>
                </a:solidFill>
                <a:latin typeface="맑은 고딕"/>
                <a:ea typeface="맑은 고딕"/>
                <a:cs typeface="맑은 고딕"/>
              </a:rPr>
              <a:t>• 인용이 없거나 인용문을 원문에서 찾을 수 없는 후보를 가려낸다</a:t>
            </a:r>
          </a:p>
          <a:p>
            <a:pPr algn="l">
              <a:lnSpc>
                <a:spcPct val="110000"/>
              </a:lnSpc>
              <a:spcAft>
                <a:spcPts val="400"/>
              </a:spcAft>
            </a:pPr>
            <a:r>
              <a:rPr sz="1400" b="0">
                <a:solidFill>
                  <a:srgbClr val="1F2A3A"/>
                </a:solidFill>
                <a:latin typeface="맑은 고딕"/>
                <a:ea typeface="맑은 고딕"/>
                <a:cs typeface="맑은 고딕"/>
              </a:rPr>
              <a:t>• 그런 후보는 승인하지 않고 보류한다</a:t>
            </a:r>
          </a:p>
        </p:txBody>
      </p:sp>
      <p:sp>
        <p:nvSpPr>
          <p:cNvPr id="22" name="Rounded Rectangle 21"/>
          <p:cNvSpPr/>
          <p:nvPr/>
        </p:nvSpPr>
        <p:spPr>
          <a:xfrm>
            <a:off x="8356396" y="5149850"/>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없는 후보</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Claude Code로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표와 단위, 금지 조건, 작업 순서를 출처가 붙은 지식 후보로 추출한다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문서 식별자, 원문 구간, 인용문이 붙은 검토용 구조화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수치와 단위, 금지 조건, 작업 순서를 확인한다</a:t>
            </a:r>
          </a:p>
        </p:txBody>
      </p:sp>
      <p:sp>
        <p:nvSpPr>
          <p:cNvPr id="10" name="Rounded Rectangle 9"/>
          <p:cNvSpPr/>
          <p:nvPr/>
        </p:nvSpPr>
        <p:spPr>
          <a:xfrm>
            <a:off x="777240" y="525830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원인, 조치, 수행 조건을 스키마의 클래스에 맞춰 뽑도록 Claude Code에 지시한다</a:t>
            </a:r>
          </a:p>
          <a:p>
            <a:pPr algn="l">
              <a:lnSpc>
                <a:spcPct val="110000"/>
              </a:lnSpc>
              <a:spcAft>
                <a:spcPts val="400"/>
              </a:spcAft>
            </a:pPr>
            <a:r>
              <a:rPr sz="1400" b="0">
                <a:solidFill>
                  <a:srgbClr val="1F2A3A"/>
                </a:solidFill>
                <a:latin typeface="맑은 고딕"/>
                <a:ea typeface="맑은 고딕"/>
                <a:cs typeface="맑은 고딕"/>
              </a:rPr>
              <a:t>• 후보마다 문서 식별자, 쪽 또는 구간, 원문 인용을 함께 내게 한다</a:t>
            </a:r>
          </a:p>
        </p:txBody>
      </p:sp>
      <p:sp>
        <p:nvSpPr>
          <p:cNvPr id="16" name="Rounded Rectangle 15"/>
          <p:cNvSpPr/>
          <p:nvPr/>
        </p:nvSpPr>
        <p:spPr>
          <a:xfrm>
            <a:off x="4566818" y="5258308"/>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형식</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빠진 조건과 틀린 추출을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258308"/>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만든 그래프에 문서에서 온 지식이 더해지고 고장 유형에서 출처까지를 한 번에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Claude Code로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 고장 유형에서 원문 출처까지 이어진 관계를 조회한다</a:t>
            </a:r>
          </a:p>
          <a:p>
            <a:pPr algn="l">
              <a:lnSpc>
                <a:spcPct val="110000"/>
              </a:lnSpc>
              <a:spcAft>
                <a:spcPts val="400"/>
              </a:spcAft>
            </a:pPr>
            <a:r>
              <a:rPr sz="1350" b="0">
                <a:solidFill>
                  <a:srgbClr val="1F2A3A"/>
                </a:solidFill>
                <a:latin typeface="맑은 고딕"/>
                <a:ea typeface="맑은 고딕"/>
                <a:cs typeface="맑은 고딕"/>
              </a:rPr>
              <a:t>• 중복 식별자와 잘못된 연결 · 출처를 점검한다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개정 자료를 반영하고 근거 확인하기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정비 조건 한 건의 개정 전과 후를 가려 관계와 출처가 함께 남는지 확인한다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개정과 확인하는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기준이 개정되어도 관계와 출처가 함께 남아 있어야 지금의 기준이 어느 판본의 어느 문장에서 왔는지를 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개정을 가려낸다</a:t>
            </a:r>
          </a:p>
          <a:p>
            <a:pPr algn="ctr">
              <a:lnSpc>
                <a:spcPct val="110000"/>
              </a:lnSpc>
              <a:spcAft>
                <a:spcPts val="400"/>
              </a:spcAft>
            </a:pPr>
            <a:r>
              <a:rPr sz="1350" b="0">
                <a:solidFill>
                  <a:srgbClr val="1F2A3A"/>
                </a:solidFill>
                <a:latin typeface="맑은 고딕"/>
                <a:ea typeface="맑은 고딕"/>
                <a:cs typeface="맑은 고딕"/>
              </a:rPr>
              <a:t>정비 조건 한 건의</a:t>
            </a:r>
          </a:p>
          <a:p>
            <a:pPr algn="ctr">
              <a:lnSpc>
                <a:spcPct val="110000"/>
              </a:lnSpc>
              <a:spcAft>
                <a:spcPts val="400"/>
              </a:spcAft>
            </a:pPr>
            <a:r>
              <a:rPr sz="1350" b="0">
                <a:solidFill>
                  <a:srgbClr val="1F2A3A"/>
                </a:solidFill>
                <a:latin typeface="맑은 고딕"/>
                <a:ea typeface="맑은 고딕"/>
                <a:cs typeface="맑은 고딕"/>
              </a:rPr>
              <a:t>개정 전과 후를</a:t>
            </a:r>
          </a:p>
          <a:p>
            <a:pPr algn="ctr">
              <a:lnSpc>
                <a:spcPct val="110000"/>
              </a:lnSpc>
              <a:spcAft>
                <a:spcPts val="400"/>
              </a:spcAft>
            </a:pPr>
            <a:r>
              <a:rPr sz="1350" b="0">
                <a:solidFill>
                  <a:srgbClr val="1F2A3A"/>
                </a:solidFill>
                <a:latin typeface="맑은 고딕"/>
                <a:ea typeface="맑은 고딕"/>
                <a:cs typeface="맑은 고딕"/>
              </a:rPr>
              <a:t>원문에서 찾는다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판본으로 넣는다</a:t>
            </a:r>
          </a:p>
          <a:p>
            <a:pPr algn="ctr">
              <a:lnSpc>
                <a:spcPct val="110000"/>
              </a:lnSpc>
              <a:spcAft>
                <a:spcPts val="400"/>
              </a:spcAft>
            </a:pPr>
            <a:r>
              <a:rPr sz="1350" b="0">
                <a:solidFill>
                  <a:srgbClr val="1F2A3A"/>
                </a:solidFill>
                <a:latin typeface="맑은 고딕"/>
                <a:ea typeface="맑은 고딕"/>
                <a:cs typeface="맑은 고딕"/>
              </a:rPr>
              <a:t>같은 문서 식별자의</a:t>
            </a:r>
          </a:p>
          <a:p>
            <a:pPr algn="ctr">
              <a:lnSpc>
                <a:spcPct val="110000"/>
              </a:lnSpc>
              <a:spcAft>
                <a:spcPts val="400"/>
              </a:spcAft>
            </a:pPr>
            <a:r>
              <a:rPr sz="1350" b="0">
                <a:solidFill>
                  <a:srgbClr val="1F2A3A"/>
                </a:solidFill>
                <a:latin typeface="맑은 고딕"/>
                <a:ea typeface="맑은 고딕"/>
                <a:cs typeface="맑은 고딕"/>
              </a:rPr>
              <a:t>새 판본으로 검토해</a:t>
            </a:r>
          </a:p>
          <a:p>
            <a:pPr algn="ctr">
              <a:lnSpc>
                <a:spcPct val="110000"/>
              </a:lnSpc>
              <a:spcAft>
                <a:spcPts val="400"/>
              </a:spcAft>
            </a:pPr>
            <a:r>
              <a:rPr sz="1350" b="0">
                <a:solidFill>
                  <a:srgbClr val="1F2A3A"/>
                </a:solidFill>
                <a:latin typeface="맑은 고딕"/>
                <a:ea typeface="맑은 고딕"/>
                <a:cs typeface="맑은 고딕"/>
              </a:rPr>
              <a:t>그래프에 반영한다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nk" descr="lin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관계와 출처를 본다</a:t>
            </a:r>
          </a:p>
          <a:p>
            <a:pPr algn="ctr">
              <a:lnSpc>
                <a:spcPct val="110000"/>
              </a:lnSpc>
              <a:spcAft>
                <a:spcPts val="400"/>
              </a:spcAft>
            </a:pPr>
            <a:r>
              <a:rPr sz="1350" b="0">
                <a:solidFill>
                  <a:srgbClr val="1F2A3A"/>
                </a:solidFill>
                <a:latin typeface="맑은 고딕"/>
                <a:ea typeface="맑은 고딕"/>
                <a:cs typeface="맑은 고딕"/>
              </a:rPr>
              <a:t>바뀐 지식에</a:t>
            </a:r>
          </a:p>
          <a:p>
            <a:pPr algn="ctr">
              <a:lnSpc>
                <a:spcPct val="110000"/>
              </a:lnSpc>
              <a:spcAft>
                <a:spcPts val="400"/>
              </a:spcAft>
            </a:pPr>
            <a:r>
              <a:rPr sz="1350" b="0">
                <a:solidFill>
                  <a:srgbClr val="1F2A3A"/>
                </a:solidFill>
                <a:latin typeface="맑은 고딕"/>
                <a:ea typeface="맑은 고딕"/>
                <a:cs typeface="맑은 고딕"/>
              </a:rPr>
              <a:t>관계와 출처가 함께</a:t>
            </a:r>
          </a:p>
          <a:p>
            <a:pPr algn="ctr">
              <a:lnSpc>
                <a:spcPct val="110000"/>
              </a:lnSpc>
              <a:spcAft>
                <a:spcPts val="400"/>
              </a:spcAft>
            </a:pPr>
            <a:r>
              <a:rPr sz="1350" b="0">
                <a:solidFill>
                  <a:srgbClr val="1F2A3A"/>
                </a:solidFill>
                <a:latin typeface="맑은 고딕"/>
                <a:ea typeface="맑은 고딕"/>
                <a:cs typeface="맑은 고딕"/>
              </a:rPr>
              <a:t>남았는지 조회한다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alert-triangle" descr="alert-triang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충돌을 정리한다</a:t>
            </a:r>
          </a:p>
          <a:p>
            <a:pPr algn="ctr">
              <a:lnSpc>
                <a:spcPct val="110000"/>
              </a:lnSpc>
              <a:spcAft>
                <a:spcPts val="400"/>
              </a:spcAft>
            </a:pPr>
            <a:r>
              <a:rPr sz="1350" b="0">
                <a:solidFill>
                  <a:srgbClr val="1F2A3A"/>
                </a:solidFill>
                <a:latin typeface="맑은 고딕"/>
                <a:ea typeface="맑은 고딕"/>
                <a:cs typeface="맑은 고딕"/>
              </a:rPr>
              <a:t>기존 지식과</a:t>
            </a:r>
          </a:p>
          <a:p>
            <a:pPr algn="ctr">
              <a:lnSpc>
                <a:spcPct val="110000"/>
              </a:lnSpc>
              <a:spcAft>
                <a:spcPts val="400"/>
              </a:spcAft>
            </a:pPr>
            <a:r>
              <a:rPr sz="1350" b="0">
                <a:solidFill>
                  <a:srgbClr val="1F2A3A"/>
                </a:solidFill>
                <a:latin typeface="맑은 고딕"/>
                <a:ea typeface="맑은 고딕"/>
                <a:cs typeface="맑은 고딕"/>
              </a:rPr>
              <a:t>어긋나는 곳을 찾아</a:t>
            </a:r>
          </a:p>
          <a:p>
            <a:pPr algn="ctr">
              <a:lnSpc>
                <a:spcPct val="110000"/>
              </a:lnSpc>
              <a:spcAft>
                <a:spcPts val="400"/>
              </a:spcAft>
            </a:pPr>
            <a:r>
              <a:rPr sz="1350" b="0">
                <a:solidFill>
                  <a:srgbClr val="1F2A3A"/>
                </a:solidFill>
                <a:latin typeface="맑은 고딕"/>
                <a:ea typeface="맑은 고딕"/>
                <a:cs typeface="맑은 고딕"/>
              </a:rPr>
              <a:t>남길 것을 정한다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회차의 결과물이 하나의 지식 그래프로 쌓이는 순서와 그 쓰임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회차의 흐름: 한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회차는 하나의 지식 그래프가 필요성, 구조, 조치와 판단, 문서의 지식 순서로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네일차_흐름.svg" descr="illust_4095412503723934411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 ①</a:t>
            </a:r>
          </a:p>
          <a:p>
            <a:pPr algn="ctr">
              <a:lnSpc>
                <a:spcPct val="110000"/>
              </a:lnSpc>
              <a:spcAft>
                <a:spcPts val="100"/>
              </a:spcAft>
            </a:pPr>
            <a:r>
              <a:rPr sz="1300" b="0">
                <a:solidFill>
                  <a:srgbClr val="556175"/>
                </a:solidFill>
                <a:latin typeface="맑은 고딕"/>
                <a:ea typeface="맑은 고딕"/>
                <a:cs typeface="맑은 고딕"/>
              </a:rPr>
              <a:t>온톨로지의 필요성</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 ②</a:t>
            </a:r>
          </a:p>
          <a:p>
            <a:pPr algn="ctr">
              <a:lnSpc>
                <a:spcPct val="110000"/>
              </a:lnSpc>
              <a:spcAft>
                <a:spcPts val="100"/>
              </a:spcAft>
            </a:pPr>
            <a:r>
              <a:rPr sz="1300" b="0">
                <a:solidFill>
                  <a:srgbClr val="556175"/>
                </a:solidFill>
                <a:latin typeface="맑은 고딕"/>
                <a:ea typeface="맑은 고딕"/>
                <a:cs typeface="맑은 고딕"/>
              </a:rPr>
              <a:t>클래스, 스키마, 그래프 DB</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2회차</a:t>
            </a:r>
          </a:p>
          <a:p>
            <a:pPr algn="ctr">
              <a:lnSpc>
                <a:spcPct val="110000"/>
              </a:lnSpc>
              <a:spcAft>
                <a:spcPts val="100"/>
              </a:spcAft>
            </a:pPr>
            <a:r>
              <a:rPr sz="1300" b="0">
                <a:solidFill>
                  <a:srgbClr val="556175"/>
                </a:solidFill>
                <a:latin typeface="맑은 고딕"/>
                <a:ea typeface="맑은 고딕"/>
                <a:cs typeface="맑은 고딕"/>
              </a:rPr>
              <a:t>SOP, 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3회차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입력과 결과물 ①: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1회차의 관계 그림은 흩어진 정보를 노드와 관계로 꺼내 적었으나, 정의와 식별자는 그림만으로 정해지지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관계.svg" descr="illust_5738832806603147016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그림에 없는 것</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결과물 ②: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스키마의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앞서 그린 관계도를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결과물 ③: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셋째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engine" descr="engine_13294B_1.6.png"/>
          <p:cNvPicPr>
            <a:picLocks noChangeAspect="1"/>
          </p:cNvPicPr>
          <p:nvPr/>
        </p:nvPicPr>
        <p:blipFill>
          <a:blip r:embed="rId3"/>
          <a:stretch>
            <a:fillRect/>
          </a:stretch>
        </p:blipFill>
        <p:spPr>
          <a:xfrm>
            <a:off x="1208836" y="3365906"/>
            <a:ext cx="416966" cy="416966"/>
          </a:xfrm>
          <a:prstGeom prst="rect">
            <a:avLst/>
          </a:prstGeom>
        </p:spPr>
      </p:pic>
      <p:sp>
        <p:nvSpPr>
          <p:cNvPr id="8" name="TextBox 7"/>
          <p:cNvSpPr txBox="1"/>
          <p:nvPr/>
        </p:nvSpPr>
        <p:spPr>
          <a:xfrm>
            <a:off x="670255"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설비</a:t>
            </a:r>
          </a:p>
          <a:p>
            <a:pPr algn="ctr">
              <a:lnSpc>
                <a:spcPct val="110000"/>
              </a:lnSpc>
            </a:pPr>
            <a:r>
              <a:rPr sz="1100" b="0">
                <a:solidFill>
                  <a:srgbClr val="556175"/>
                </a:solidFill>
                <a:latin typeface="맑은 고딕"/>
                <a:ea typeface="맑은 고딕"/>
                <a:cs typeface="맑은 고딕"/>
              </a:rPr>
              <a:t>asset:hyd-01</a:t>
            </a:r>
          </a:p>
        </p:txBody>
      </p:sp>
      <p:sp>
        <p:nvSpPr>
          <p:cNvPr id="9" name="Oval 8"/>
          <p:cNvSpPr/>
          <p:nvPr/>
        </p:nvSpPr>
        <p:spPr>
          <a:xfrm>
            <a:off x="5227167" y="3122676"/>
            <a:ext cx="1737360" cy="1737360"/>
          </a:xfrm>
          <a:prstGeom prst="ellipse">
            <a:avLst/>
          </a:prstGeom>
          <a:solidFill>
            <a:srgbClr val="5CB8F2"/>
          </a:solidFill>
          <a:ln w="25400">
            <a:solidFill>
              <a:srgbClr val="13294B"/>
            </a:solidFill>
          </a:ln>
        </p:spPr>
        <p:txBody>
          <a:bodyPr rtlCol="0" anchor="ctr"/>
          <a:lstStyle/>
          <a:p>
            <a:pPr algn="ctr"/>
          </a:p>
        </p:txBody>
      </p:sp>
      <p:pic>
        <p:nvPicPr>
          <p:cNvPr id="10" name="아이콘:components" descr="components_13294B_1.6.png"/>
          <p:cNvPicPr>
            <a:picLocks noChangeAspect="1"/>
          </p:cNvPicPr>
          <p:nvPr/>
        </p:nvPicPr>
        <p:blipFill>
          <a:blip r:embed="rId4"/>
          <a:stretch>
            <a:fillRect/>
          </a:stretch>
        </p:blipFill>
        <p:spPr>
          <a:xfrm>
            <a:off x="5887364" y="3365906"/>
            <a:ext cx="416966" cy="416966"/>
          </a:xfrm>
          <a:prstGeom prst="rect">
            <a:avLst/>
          </a:prstGeom>
        </p:spPr>
      </p:pic>
      <p:sp>
        <p:nvSpPr>
          <p:cNvPr id="11" name="TextBox 10"/>
          <p:cNvSpPr txBox="1"/>
          <p:nvPr/>
        </p:nvSpPr>
        <p:spPr>
          <a:xfrm>
            <a:off x="5348782"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구성 요소</a:t>
            </a:r>
          </a:p>
          <a:p>
            <a:pPr algn="ctr">
              <a:lnSpc>
                <a:spcPct val="110000"/>
              </a:lnSpc>
            </a:pPr>
            <a:r>
              <a:rPr sz="1100" b="0">
                <a:solidFill>
                  <a:srgbClr val="556175"/>
                </a:solidFill>
                <a:latin typeface="맑은 고딕"/>
                <a:ea typeface="맑은 고딕"/>
                <a:cs typeface="맑은 고딕"/>
              </a:rPr>
              <a:t>comp:cooler</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gauge" descr="gauge_13294B_1.6.png"/>
          <p:cNvPicPr>
            <a:picLocks noChangeAspect="1"/>
          </p:cNvPicPr>
          <p:nvPr/>
        </p:nvPicPr>
        <p:blipFill>
          <a:blip r:embed="rId5"/>
          <a:stretch>
            <a:fillRect/>
          </a:stretch>
        </p:blipFill>
        <p:spPr>
          <a:xfrm>
            <a:off x="10565892" y="3365906"/>
            <a:ext cx="416966" cy="416966"/>
          </a:xfrm>
          <a:prstGeom prst="rect">
            <a:avLst/>
          </a:prstGeom>
        </p:spPr>
      </p:pic>
      <p:sp>
        <p:nvSpPr>
          <p:cNvPr id="14" name="TextBox 13"/>
          <p:cNvSpPr txBox="1"/>
          <p:nvPr/>
        </p:nvSpPr>
        <p:spPr>
          <a:xfrm>
            <a:off x="10027310"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센서</a:t>
            </a:r>
          </a:p>
          <a:p>
            <a:pPr algn="ctr">
              <a:lnSpc>
                <a:spcPct val="110000"/>
              </a:lnSpc>
            </a:pPr>
            <a:r>
              <a:rPr sz="1100" b="0">
                <a:solidFill>
                  <a:srgbClr val="556175"/>
                </a:solidFill>
                <a:latin typeface="맑은 고딕"/>
                <a:ea typeface="맑은 고딕"/>
                <a:cs typeface="맑은 고딕"/>
              </a:rPr>
              <a:t>sen:ts1</a:t>
            </a:r>
          </a:p>
        </p:txBody>
      </p:sp>
      <p:cxnSp>
        <p:nvCxnSpPr>
          <p:cNvPr id="15" name="Connector 14"/>
          <p:cNvCxnSpPr/>
          <p:nvPr/>
        </p:nvCxnSpPr>
        <p:spPr>
          <a:xfrm>
            <a:off x="2331720" y="3991356"/>
            <a:ext cx="2822295" cy="0"/>
          </a:xfrm>
          <a:prstGeom prst="line">
            <a:avLst/>
          </a:prstGeom>
          <a:ln w="28575">
            <a:solidFill>
              <a:srgbClr val="13294B"/>
            </a:solidFill>
            <a:tailEnd type="triangle" w="med" len="med"/>
          </a:ln>
        </p:spPr>
      </p:cxnSp>
      <p:sp>
        <p:nvSpPr>
          <p:cNvPr id="16" name="Rounded Rectangle 15"/>
          <p:cNvSpPr/>
          <p:nvPr/>
        </p:nvSpPr>
        <p:spPr>
          <a:xfrm>
            <a:off x="2919798" y="3625596"/>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7" name="TextBox 16"/>
          <p:cNvSpPr txBox="1"/>
          <p:nvPr/>
        </p:nvSpPr>
        <p:spPr>
          <a:xfrm>
            <a:off x="2919798" y="3625596"/>
            <a:ext cx="16461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HAS_COMPONENT</a:t>
            </a:r>
          </a:p>
        </p:txBody>
      </p:sp>
      <p:cxnSp>
        <p:nvCxnSpPr>
          <p:cNvPr id="18" name="Connector 17"/>
          <p:cNvCxnSpPr/>
          <p:nvPr/>
        </p:nvCxnSpPr>
        <p:spPr>
          <a:xfrm>
            <a:off x="7010247" y="3991356"/>
            <a:ext cx="2822296" cy="0"/>
          </a:xfrm>
          <a:prstGeom prst="line">
            <a:avLst/>
          </a:prstGeom>
          <a:ln w="28575">
            <a:solidFill>
              <a:srgbClr val="13294B"/>
            </a:solidFill>
            <a:tailEnd type="triangle" w="med" len="med"/>
          </a:ln>
        </p:spPr>
      </p:cxnSp>
      <p:sp>
        <p:nvSpPr>
          <p:cNvPr id="19" name="Rounded Rectangle 18"/>
          <p:cNvSpPr/>
          <p:nvPr/>
        </p:nvSpPr>
        <p:spPr>
          <a:xfrm>
            <a:off x="765175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765175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입력과 결과물 ① ②: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옮겨지고 금지 사항은 조치의 하한으로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부하를 60 % 미만으로 설정하지 않는다.」</a:t>
            </a:r>
          </a:p>
          <a:p>
            <a:pPr algn="l">
              <a:lnSpc>
                <a:spcPct val="110000"/>
              </a:lnSpc>
            </a:pPr>
            <a:r>
              <a:rPr sz="1400" b="0">
                <a:solidFill>
                  <a:srgbClr val="1F2A3A"/>
                </a:solidFill>
                <a:latin typeface="맑은 고딕"/>
                <a:ea typeface="맑은 고딕"/>
                <a:cs typeface="맑은 고딕"/>
              </a:rPr>
              <a:t>→ 조치의 한계: 펌프 부하의 하한 60 % (판단 규칙으로는 만들지 않았다)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결과물 ③: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셋째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인터록 여유</a:t>
            </a:r>
          </a:p>
          <a:p>
            <a:pPr algn="l">
              <a:lnSpc>
                <a:spcPct val="110000"/>
              </a:lnSpc>
              <a:spcAft>
                <a:spcPts val="400"/>
              </a:spcAft>
            </a:pPr>
            <a:r>
              <a:rPr sz="1400" b="0">
                <a:solidFill>
                  <a:srgbClr val="1F2A3A"/>
                </a:solidFill>
                <a:latin typeface="맑은 고딕"/>
                <a:ea typeface="맑은 고딕"/>
                <a:cs typeface="맑은 고딕"/>
              </a:rPr>
              <a:t>유온이 내려가면 늘어난다</a:t>
            </a:r>
          </a:p>
        </p:txBody>
      </p:sp>
      <p:sp>
        <p:nvSpPr>
          <p:cNvPr id="10" name="Rounded Rectangle 9"/>
          <p:cNvSpPr/>
          <p:nvPr/>
        </p:nvSpPr>
        <p:spPr>
          <a:xfrm>
            <a:off x="777240" y="482447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전력 사용량</a:t>
            </a:r>
          </a:p>
          <a:p>
            <a:pPr algn="l">
              <a:lnSpc>
                <a:spcPct val="110000"/>
              </a:lnSpc>
              <a:spcAft>
                <a:spcPts val="400"/>
              </a:spcAft>
            </a:pPr>
            <a:r>
              <a:rPr sz="1400" b="0">
                <a:solidFill>
                  <a:srgbClr val="1F2A3A"/>
                </a:solidFill>
                <a:latin typeface="맑은 고딕"/>
                <a:ea typeface="맑은 고딕"/>
                <a:cs typeface="맑은 고딕"/>
              </a:rPr>
              <a:t>팬 속도를 올리면 늘어난다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비용</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calendar-time" descr="calendar-time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납기 준수율</a:t>
            </a:r>
          </a:p>
          <a:p>
            <a:pPr algn="l">
              <a:lnSpc>
                <a:spcPct val="110000"/>
              </a:lnSpc>
              <a:spcAft>
                <a:spcPts val="400"/>
              </a:spcAft>
            </a:pPr>
            <a:r>
              <a:rPr sz="1400" b="0">
                <a:solidFill>
                  <a:srgbClr val="1F2A3A"/>
                </a:solidFill>
                <a:latin typeface="맑은 고딕"/>
                <a:ea typeface="맑은 고딕"/>
                <a:cs typeface="맑은 고딕"/>
              </a:rPr>
              <a:t>펌프 부하를 내리면 낮아진다</a:t>
            </a:r>
          </a:p>
        </p:txBody>
      </p:sp>
      <p:sp>
        <p:nvSpPr>
          <p:cNvPr id="22" name="Rounded Rectangle 21"/>
          <p:cNvSpPr/>
          <p:nvPr/>
        </p:nvSpPr>
        <p:spPr>
          <a:xfrm>
            <a:off x="8356396" y="482447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고객</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입력과 결과물: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3회차는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세 회차의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서로 다른 회차의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1회차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2회차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1회차와 3회차의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경로_3.svg" descr="illust_4191211286877768874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3회차의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증거 기준(지식)과 읽은 값(원천)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냉각 효율 평균 70 % 미만이고 팬 진동 평균 0.9 mm/s 미만</a:t>
            </a:r>
          </a:p>
          <a:p>
            <a:pPr algn="l">
              <a:lnSpc>
                <a:spcPct val="110000"/>
              </a:lnSpc>
            </a:pPr>
            <a:r>
              <a:rPr sz="1400" b="0">
                <a:solidFill>
                  <a:srgbClr val="1F2A3A"/>
                </a:solidFill>
                <a:latin typeface="맑은 고딕"/>
                <a:ea typeface="맑은 고딕"/>
                <a:cs typeface="맑은 고딕"/>
              </a:rPr>
              <a:t>읽은 값: 냉각 효율 46.2 %, 팬 진동 0.575 mm/s</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맞음</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팬 진동 평균 0.9 mm/s 이상</a:t>
            </a:r>
          </a:p>
          <a:p>
            <a:pPr algn="l">
              <a:lnSpc>
                <a:spcPct val="110000"/>
              </a:lnSpc>
            </a:pPr>
            <a:r>
              <a:rPr sz="1400" b="0">
                <a:solidFill>
                  <a:srgbClr val="1F2A3A"/>
                </a:solidFill>
                <a:latin typeface="맑은 고딕"/>
                <a:ea typeface="맑은 고딕"/>
                <a:cs typeface="맑은 고딕"/>
              </a:rPr>
              <a:t>읽은 값: 팬 진동 0.575 mm/s</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아님</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캐비닛 온도 평균 35 ℃ 이상</a:t>
            </a:r>
          </a:p>
          <a:p>
            <a:pPr algn="l">
              <a:lnSpc>
                <a:spcPct val="110000"/>
              </a:lnSpc>
            </a:pPr>
            <a:r>
              <a:rPr sz="1400" b="0">
                <a:solidFill>
                  <a:srgbClr val="1F2A3A"/>
                </a:solidFill>
                <a:latin typeface="맑은 고딕"/>
                <a:ea typeface="맑은 고딕"/>
                <a:cs typeface="맑은 고딕"/>
              </a:rPr>
              <a:t>읽은 값: 캐비닛 온도 28 ℃</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아님</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결과물이 쓰인 자리: 조치의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네 후보의 순위를 정해 한 가지를 추천으로 올린 것이 2회차의 규칙과 성과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방법과 조치 후 예측 유온</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 49.8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2순위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 · 47.7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통과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3순위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 · 44.6 ℃</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통과</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 · 62.5 ℃</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경고</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회차의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지식의 구조</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원인은 고장 유형을 CAUSES로 가리킨다.</a:t>
            </a:r>
          </a:p>
          <a:p>
            <a:pPr algn="l">
              <a:lnSpc>
                <a:spcPct val="110000"/>
              </a:lnSpc>
              <a:spcAft>
                <a:spcPts val="300"/>
              </a:spcAft>
            </a:pPr>
            <a:r>
              <a:rPr sz="1400" b="0">
                <a:solidFill>
                  <a:srgbClr val="1F2A3A"/>
                </a:solidFill>
                <a:latin typeface="맑은 고딕"/>
                <a:ea typeface="맑은 고딕"/>
                <a:cs typeface="맑은 고딕"/>
              </a:rPr>
              <a:t>설계를 고칠 때만 바뀐다.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인스턴스 데이터</a:t>
            </a:r>
          </a:p>
          <a:p>
            <a:pPr algn="l">
              <a:lnSpc>
                <a:spcPct val="110000"/>
              </a:lnSpc>
              <a:spcAft>
                <a:spcPts val="200"/>
              </a:spcAft>
            </a:pPr>
            <a:r>
              <a:rPr sz="1150" b="0">
                <a:solidFill>
                  <a:srgbClr val="556175"/>
                </a:solidFill>
                <a:latin typeface="맑은 고딕"/>
                <a:ea typeface="맑은 고딕"/>
                <a:cs typeface="맑은 고딕"/>
              </a:rPr>
              <a:t>지식</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쿨러 핀 오염이 쿨러 냉각 성능 상실을 일으킨다.</a:t>
            </a:r>
          </a:p>
          <a:p>
            <a:pPr algn="l">
              <a:lnSpc>
                <a:spcPct val="110000"/>
              </a:lnSpc>
              <a:spcAft>
                <a:spcPts val="300"/>
              </a:spcAft>
            </a:pPr>
            <a:r>
              <a:rPr sz="1400" b="0">
                <a:solidFill>
                  <a:srgbClr val="1F2A3A"/>
                </a:solidFill>
                <a:latin typeface="맑은 고딕"/>
                <a:ea typeface="맑은 고딕"/>
                <a:cs typeface="맑은 고딕"/>
              </a:rPr>
              <a:t>근거 문서가 개정될 때 바뀐다.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값</a:t>
            </a:r>
          </a:p>
          <a:p>
            <a:pPr algn="l">
              <a:lnSpc>
                <a:spcPct val="110000"/>
              </a:lnSpc>
              <a:spcAft>
                <a:spcPts val="200"/>
              </a:spcAft>
            </a:pPr>
            <a:r>
              <a:rPr sz="1150" b="0">
                <a:solidFill>
                  <a:srgbClr val="556175"/>
                </a:solidFill>
                <a:latin typeface="맑은 고딕"/>
                <a:ea typeface="맑은 고딕"/>
                <a:cs typeface="맑은 고딕"/>
              </a:rPr>
              <a:t>실제 데이터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경보가 난 순간의 냉각 효율 46.2 %</a:t>
            </a:r>
          </a:p>
          <a:p>
            <a:pPr algn="l">
              <a:lnSpc>
                <a:spcPct val="110000"/>
              </a:lnSpc>
              <a:spcAft>
                <a:spcPts val="300"/>
              </a:spcAft>
            </a:pPr>
            <a:r>
              <a:rPr sz="1400" b="0">
                <a:solidFill>
                  <a:srgbClr val="1F2A3A"/>
                </a:solidFill>
                <a:latin typeface="맑은 고딕"/>
                <a:ea typeface="맑은 고딕"/>
                <a:cs typeface="맑은 고딕"/>
              </a:rPr>
              <a:t>매초, 또는 업무가 일어날 때마다 바뀐다.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 쿨러 성능 저하 경보에서 출발하면 등록된 원인 후보 셋에 이른다</a:t>
            </a:r>
          </a:p>
          <a:p>
            <a:pPr algn="l">
              <a:lnSpc>
                <a:spcPct val="110000"/>
              </a:lnSpc>
              <a:spcAft>
                <a:spcPts val="400"/>
              </a:spcAft>
            </a:pPr>
            <a:r>
              <a:rPr sz="1400" b="0">
                <a:solidFill>
                  <a:srgbClr val="1F2A3A"/>
                </a:solidFill>
                <a:latin typeface="맑은 고딕"/>
                <a:ea typeface="맑은 고딕"/>
                <a:cs typeface="맑은 고딕"/>
              </a:rPr>
              <a:t>• 팬 최대 운전을 추천하면서 매뉴얼 HM-8.5를 출처로 낸다</a:t>
            </a:r>
          </a:p>
        </p:txBody>
      </p:sp>
      <p:sp>
        <p:nvSpPr>
          <p:cNvPr id="10" name="Rounded Rectangle 9"/>
          <p:cNvSpPr/>
          <p:nvPr/>
        </p:nvSpPr>
        <p:spPr>
          <a:xfrm>
            <a:off x="777240" y="5258308"/>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 조건을 그때마다 해석하지 않고 값을 읽어 비교하므로 같은 조건에서 같은 판정이 나온다</a:t>
            </a:r>
          </a:p>
          <a:p>
            <a:pPr algn="l">
              <a:lnSpc>
                <a:spcPct val="110000"/>
              </a:lnSpc>
              <a:spcAft>
                <a:spcPts val="400"/>
              </a:spcAft>
            </a:pPr>
            <a:r>
              <a:rPr sz="14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25830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읽고, 어디서 언제 읽었는지가 남는다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258308"/>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인제스천에서 그 용어가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인제스천에서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인제스천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원천 자료</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Source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지식의 출발점이 되는 자료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등록된 대상과 새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매뉴얼을 추출하던 중 「오일 쿨러」라는 말이 나왔고, 지식 그래프에는 구성 요소 오일 쿨러가 이미 등록되어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후보를 처리하는 방법으로 바른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문서마다 따로 관리하도록 오일 쿨러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이름이 같으므로 기존 노드를 지우고 새 노드로 바꾼다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문서의 표기에 맞춰 오일 쿨러라는 새 클래스를 스키마에 더한다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새로 만들지 않고 등록된 오일 쿨러의 식별자를 가리킨다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형식과 내용, 지식과 값, 새 후보와 등록된 대상을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이미 등록된 대상은 새로 만들지 않는다. 식별자로 가리켜야 새 지식이 기존 그래프에 이어진다.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