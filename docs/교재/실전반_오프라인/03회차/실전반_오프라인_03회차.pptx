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두 회차에서 지식을 담을 구조를 설계했고 조치 절차와 판단 규칙을 그 구조에 이었습니다. 오늘은 그 내용이 문서에서 어떻게 들어오는지를 따라가고, 네 개의 실습에서 매뉴얼을 등록해 추출하고 검토한 지식만 그래프에 반영합니다. 마지막에는 세 회차의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운전원이 승인한 것은 시스템이 올린 추천안이었고, 추천안에는 원인과 조치와 출처가 함께 적혀 있었습니다.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1회차에서는 예시 인스턴스를 손으로 적어 그래프에 넣었습니다. 그 방식에는 원문의 어디에서 왔는지와 누가 확인했는지가 남지 않습니다. 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1회차에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절차와 번호 단계로 나누어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항목과 형식에는 맞습니다.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사이에는 단계와 절이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그래프에 등록하는 것과 등록하지 않는 것의 구분입니다.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가운데 원천 확보에서 대조와 검토까지를 정비 문서 한 편으로 직접 진행합니다. 할 일의 중심은 후보를 원문과 견주는 검토입니다. 사람 검토의 네 곳을 확인하고, 출처를 댈 수 없는 후보는 보류로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1회차에 만든 설비 모델과 2회차의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조건 한 건이 개정된 경우를 다룹니다. 개정 전과 후의 문장을 가려내고, 같은 문서 식별자의 새 판본으로 검토해 반영합니다. 반영한 뒤에는 바뀐 지식에서 관계를 따라가 출처가 새 판본의 문장을 가리키는지를 조회합니다. 끝으로 이미 들어 있던 지식과 어긋나는 곳을 찾아 어느 쪽을 남길지를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1회차의 첫 결과물은 손으로 그린 관계 그림이었고, 같은 회차에 그 그림에 클래스와 식별자라는 틀이 생겼습니다. 2회차에는 조치 방법과 판단 규칙과 성과 지표가 같은 그래프에 이어졌고, 3회차에는 문서에서 온 원인과 증거가 출처와 함께 더해졌습니다. 칸마다 하늘색으로 칠한 부분이 그 단계에서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스키마 설계였습니다.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스키마 설계가 받은 것은 관계도와 답할 질문이었고, 스키마 설계는 클래스가 아니라 질문에서 출발했습니다. 질문이 정해져야 무엇을 넣고 무엇을 넣지 않을지가 갈립니다. 둘째 줄의 스키마가 둘째 결과물로, 관계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둘째 결과물인 스키마이고 아래의 원 줄이 셋째 결과물인 인스턴스 데이터입니다. 아래 줄의 대상마다 식별자가 있고, 관계는 위 줄의 스키마가 정한 이름과 방향으로만 놓였습니다. 왼쪽의 HYD-01에서 오일 쿨러, 유온 센서, 유온까지 관계를 따라가면 스키마를 설계할 때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규칙으로 만들지 않았고, 부하를 60 % 아래로 내리지 못한다는 조치의 한계로 남았습니다. 셋째 행의 전제 조건은 2회차에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결과물은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1회차와 2회차는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1회차의 스키마가 정한 관계를 따라갔고, 원인 후보와 그 기준은 3회차에 매뉴얼에서 들어온 지식이며, 기준에 댄 값은 그 순간 원천에서 읽었습니다. 넷째 걸음에서 2회차의 판단 규칙과 성과 기준이 후보를 가려 순서를 정했고, 마지막에 문서의 절과 인용이 근거로 붙었습니다. 다섯 걸음 전체의 밑그림은 1회차의 관계 그림입니다. 경보에서 조치 승인까지의 108초 동안 이루어진 판단이 이것이었고, 그것이 가능했던 것은 세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 EVIDENCED_BY로 이어진 증거 기준은 모두 매뉴얼 HM-8.4에서 추출해 검토한 지식입니다. 기준 70이 원문과 다르게 옮겨졌다면 판단은 그 틀린 기준으로 원인을 가립니다. 판단하는 프로그램은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본 순위 그대로입니다. 먼저 판단 규칙이 후보를 걸렀고, 넷 모두 제외 규칙을 통과했으며 예측 유온이 62.5도인 쿨러 핀 세척에는 경고가 붙었습니다. 다음으로 통과한 후보의 순서는 성과 기준이 정했습니다. 유온을 가장 많이 내리는 조치가 아니라 생산을 그대로 두는 팬 최대 운전이 추천으로 올라간 것은 납기에서 잃는 것을 크게 쳤기 때문입니다. 부하를 낮추는 두 후보는 점수가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추천안에 함께 제시된 근거입니다. 이제 줄마다 그것이 어디에서 왔는지를 말할 수 있습니다. 추천안에 이른 길은 1회차의 스키마가 정한 관계를 따라온 경로이고, 후보로 고른 규칙은 2회차에 본 판단 규칙이며, 출처는 3회차에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결정표의 조건으로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 곧 지식과 값을 조회해 원인과 조치를 추천하는 AI 프로그램에게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사실과 기준을 AI가 그때그때 만들어 내면 그 답의 근거를 확인할 수 없습니다. 그래서 둘을 나눕니다.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한 문장으로 줄인 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7.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1.png"/><Relationship Id="rId7"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 Id="rId4" Type="http://schemas.openxmlformats.org/officeDocument/2006/relationships/image" Target="../media/image33.png"/><Relationship Id="rId5"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5.png"/><Relationship Id="rId4" Type="http://schemas.openxmlformats.org/officeDocument/2006/relationships/image" Target="../media/image21.png"/><Relationship Id="rId5" Type="http://schemas.openxmlformats.org/officeDocument/2006/relationships/image" Target="../media/image36.png"/><Relationship Id="rId6"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21.png"/><Relationship Id="rId6"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2.png"/><Relationship Id="rId4" Type="http://schemas.openxmlformats.org/officeDocument/2006/relationships/image" Target="../media/image34.png"/><Relationship Id="rId5" Type="http://schemas.openxmlformats.org/officeDocument/2006/relationships/image" Target="../media/image43.png"/><Relationship Id="rId6"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4.png"/><Relationship Id="rId4" Type="http://schemas.openxmlformats.org/officeDocument/2006/relationships/image" Target="../media/image13.png"/><Relationship Id="rId5" Type="http://schemas.openxmlformats.org/officeDocument/2006/relationships/image" Target="../media/image30.png"/><Relationship Id="rId6" Type="http://schemas.openxmlformats.org/officeDocument/2006/relationships/image" Target="../media/image29.png"/><Relationship Id="rId7"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2.png"/><Relationship Id="rId4" Type="http://schemas.openxmlformats.org/officeDocument/2006/relationships/image" Target="../media/image38.png"/><Relationship Id="rId5" Type="http://schemas.openxmlformats.org/officeDocument/2006/relationships/image" Target="../media/image50.png"/><Relationship Id="rId6"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3.png"/><Relationship Id="rId4" Type="http://schemas.openxmlformats.org/officeDocument/2006/relationships/image" Target="../media/image29.png"/><Relationship Id="rId5"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3.png"/><Relationship Id="rId4"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 Id="rId4" Type="http://schemas.openxmlformats.org/officeDocument/2006/relationships/image" Target="../media/image45.png"/><Relationship Id="rId5"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3회차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매뉴얼의 지식 검증과</a:t>
            </a:r>
          </a:p>
          <a:p>
            <a:pPr algn="l">
              <a:lnSpc>
                <a:spcPct val="110000"/>
              </a:lnSpc>
            </a:pPr>
            <a:r>
              <a:rPr sz="4000" b="1">
                <a:solidFill>
                  <a:srgbClr val="FFFFFF"/>
                </a:solidFill>
                <a:latin typeface="맑은 고딕"/>
                <a:ea typeface="맑은 고딕"/>
                <a:cs typeface="맑은 고딕"/>
              </a:rPr>
              <a:t>재사용할 수 있는 지식 자산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eye-check" descr="ey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지식이 되는 과정을 설명하고 세 회차의 결과물을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원문 대조와 사람 검토가 맡는 일을 말한다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왔는지와 개정 뒤에 무엇이 바뀌었는지를 되짚는다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온톨로지의 필요에서 스키마, 조치와 규칙, 문서의 지식까지를 한 사건으로 잇는다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매뉴얼의 등록과 추출 후보 확인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Claude Code로 문서에서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검토한 지식을 그래프 DB에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개정 자료를 반영하고 근거 확인하기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흔하며, 최근 30초 냉각 효율 평균이 70 % 미만이고 팬이 정상이면 핀 오염으로 판정한다고 적혀 있다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 금지 조건 한 줄이 빠져도 알아차리기 어렵다</a:t>
            </a:r>
          </a:p>
          <a:p>
            <a:pPr algn="l">
              <a:lnSpc>
                <a:spcPct val="110000"/>
              </a:lnSpc>
              <a:spcAft>
                <a:spcPts val="400"/>
              </a:spcAft>
            </a:pPr>
            <a:r>
              <a:rPr sz="1400" b="0">
                <a:solidFill>
                  <a:srgbClr val="1F2A3A"/>
                </a:solidFill>
                <a:latin typeface="맑은 고딕"/>
                <a:ea typeface="맑은 고딕"/>
                <a:cs typeface="맑은 고딕"/>
              </a:rPr>
              <a:t>• 손으로 넣은 예시 데이터에는 출처와 검토 기록이 없다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195190120724219062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절과 단계로 나누어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항목과 형식만 보는 검사를 모두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인용.svg" descr="illust_381571845071757335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인제스천_6.svg" descr="illust_6821017833016211375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적재묶음_사슬.svg" descr="illust_8612354463136255523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등록과 추출 후보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정비 문서 한 편을 등록하고 추출된 후보를 원문과 비교한다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보류하는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추출된 후보는 원문과 견주어 출처를 댈 수 있는 것만 남기고, 출처가 없는 후보는 지식으로 올리지 않고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정비 문서를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증상, 원인, 조치의 후보를 받는다</a:t>
            </a:r>
          </a:p>
        </p:txBody>
      </p:sp>
      <p:sp>
        <p:nvSpPr>
          <p:cNvPr id="10" name="Rounded Rectangle 9"/>
          <p:cNvSpPr/>
          <p:nvPr/>
        </p:nvSpPr>
        <p:spPr>
          <a:xfrm>
            <a:off x="777240" y="5149850"/>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후보까지</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원문과 비교</a:t>
            </a:r>
          </a:p>
          <a:p>
            <a:pPr algn="l">
              <a:lnSpc>
                <a:spcPct val="110000"/>
              </a:lnSpc>
              <a:spcAft>
                <a:spcPts val="400"/>
              </a:spcAft>
            </a:pPr>
            <a:r>
              <a:rPr sz="1400" b="0">
                <a:solidFill>
                  <a:srgbClr val="1F2A3A"/>
                </a:solidFill>
                <a:latin typeface="맑은 고딕"/>
                <a:ea typeface="맑은 고딕"/>
                <a:cs typeface="맑은 고딕"/>
              </a:rPr>
              <a:t>• 후보의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수치와 단위, 단계의 순서, 연결을 확인한다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player-pause" descr="player-paus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보류</a:t>
            </a:r>
          </a:p>
          <a:p>
            <a:pPr algn="l">
              <a:lnSpc>
                <a:spcPct val="110000"/>
              </a:lnSpc>
              <a:spcAft>
                <a:spcPts val="400"/>
              </a:spcAft>
            </a:pPr>
            <a:r>
              <a:rPr sz="1400" b="0">
                <a:solidFill>
                  <a:srgbClr val="1F2A3A"/>
                </a:solidFill>
                <a:latin typeface="맑은 고딕"/>
                <a:ea typeface="맑은 고딕"/>
                <a:cs typeface="맑은 고딕"/>
              </a:rPr>
              <a:t>• 인용이 없거나 인용문을 원문에서 찾을 수 없는 후보를 가려낸다</a:t>
            </a:r>
          </a:p>
          <a:p>
            <a:pPr algn="l">
              <a:lnSpc>
                <a:spcPct val="110000"/>
              </a:lnSpc>
              <a:spcAft>
                <a:spcPts val="400"/>
              </a:spcAft>
            </a:pPr>
            <a:r>
              <a:rPr sz="1400" b="0">
                <a:solidFill>
                  <a:srgbClr val="1F2A3A"/>
                </a:solidFill>
                <a:latin typeface="맑은 고딕"/>
                <a:ea typeface="맑은 고딕"/>
                <a:cs typeface="맑은 고딕"/>
              </a:rPr>
              <a:t>• 그런 후보는 승인하지 않고 보류한다</a:t>
            </a:r>
          </a:p>
        </p:txBody>
      </p:sp>
      <p:sp>
        <p:nvSpPr>
          <p:cNvPr id="22" name="Rounded Rectangle 21"/>
          <p:cNvSpPr/>
          <p:nvPr/>
        </p:nvSpPr>
        <p:spPr>
          <a:xfrm>
            <a:off x="8356396" y="5149850"/>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없는 후보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표와 단위, 금지 조건, 작업 순서를 출처가 붙은 지식 후보로 추출한다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원문 구간, 인용문이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수치와 단위, 금지 조건, 작업 순서를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형식</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 고장 유형에서 원문 출처까지 이어진 관계를 조회한다</a:t>
            </a:r>
          </a:p>
          <a:p>
            <a:pPr algn="l">
              <a:lnSpc>
                <a:spcPct val="110000"/>
              </a:lnSpc>
              <a:spcAft>
                <a:spcPts val="400"/>
              </a:spcAft>
            </a:pPr>
            <a:r>
              <a:rPr sz="1350" b="0">
                <a:solidFill>
                  <a:srgbClr val="1F2A3A"/>
                </a:solidFill>
                <a:latin typeface="맑은 고딕"/>
                <a:ea typeface="맑은 고딕"/>
                <a:cs typeface="맑은 고딕"/>
              </a:rPr>
              <a:t>• 중복 식별자와 잘못된 연결 · 출처를 점검한다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개정 자료를 반영하고 근거 확인하기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조건 한 건의 개정 전과 후를 가려 관계와 출처가 함께 남는지 확인한다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기준이 개정되어도 관계와 출처가 함께 남아 있어야 지금의 기준이 어느 판본의 어느 문장에서 왔는지를 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개정을 가려낸다</a:t>
            </a:r>
          </a:p>
          <a:p>
            <a:pPr algn="ctr">
              <a:lnSpc>
                <a:spcPct val="110000"/>
              </a:lnSpc>
              <a:spcAft>
                <a:spcPts val="400"/>
              </a:spcAft>
            </a:pPr>
            <a:r>
              <a:rPr sz="1350" b="0">
                <a:solidFill>
                  <a:srgbClr val="1F2A3A"/>
                </a:solidFill>
                <a:latin typeface="맑은 고딕"/>
                <a:ea typeface="맑은 고딕"/>
                <a:cs typeface="맑은 고딕"/>
              </a:rPr>
              <a:t>정비 조건 한 건의</a:t>
            </a:r>
          </a:p>
          <a:p>
            <a:pPr algn="ctr">
              <a:lnSpc>
                <a:spcPct val="110000"/>
              </a:lnSpc>
              <a:spcAft>
                <a:spcPts val="400"/>
              </a:spcAft>
            </a:pPr>
            <a:r>
              <a:rPr sz="1350" b="0">
                <a:solidFill>
                  <a:srgbClr val="1F2A3A"/>
                </a:solidFill>
                <a:latin typeface="맑은 고딕"/>
                <a:ea typeface="맑은 고딕"/>
                <a:cs typeface="맑은 고딕"/>
              </a:rPr>
              <a:t>개정 전과 후를</a:t>
            </a:r>
          </a:p>
          <a:p>
            <a:pPr algn="ctr">
              <a:lnSpc>
                <a:spcPct val="110000"/>
              </a:lnSpc>
              <a:spcAft>
                <a:spcPts val="400"/>
              </a:spcAft>
            </a:pPr>
            <a:r>
              <a:rPr sz="1350" b="0">
                <a:solidFill>
                  <a:srgbClr val="1F2A3A"/>
                </a:solidFill>
                <a:latin typeface="맑은 고딕"/>
                <a:ea typeface="맑은 고딕"/>
                <a:cs typeface="맑은 고딕"/>
              </a:rPr>
              <a:t>원문에서 찾는다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판본으로 넣는다</a:t>
            </a:r>
          </a:p>
          <a:p>
            <a:pPr algn="ctr">
              <a:lnSpc>
                <a:spcPct val="110000"/>
              </a:lnSpc>
              <a:spcAft>
                <a:spcPts val="400"/>
              </a:spcAft>
            </a:pPr>
            <a:r>
              <a:rPr sz="1350" b="0">
                <a:solidFill>
                  <a:srgbClr val="1F2A3A"/>
                </a:solidFill>
                <a:latin typeface="맑은 고딕"/>
                <a:ea typeface="맑은 고딕"/>
                <a:cs typeface="맑은 고딕"/>
              </a:rPr>
              <a:t>같은 문서 식별자의</a:t>
            </a:r>
          </a:p>
          <a:p>
            <a:pPr algn="ctr">
              <a:lnSpc>
                <a:spcPct val="110000"/>
              </a:lnSpc>
              <a:spcAft>
                <a:spcPts val="400"/>
              </a:spcAft>
            </a:pPr>
            <a:r>
              <a:rPr sz="1350" b="0">
                <a:solidFill>
                  <a:srgbClr val="1F2A3A"/>
                </a:solidFill>
                <a:latin typeface="맑은 고딕"/>
                <a:ea typeface="맑은 고딕"/>
                <a:cs typeface="맑은 고딕"/>
              </a:rPr>
              <a:t>새 판본으로 검토해</a:t>
            </a:r>
          </a:p>
          <a:p>
            <a:pPr algn="ctr">
              <a:lnSpc>
                <a:spcPct val="110000"/>
              </a:lnSpc>
              <a:spcAft>
                <a:spcPts val="400"/>
              </a:spcAft>
            </a:pPr>
            <a:r>
              <a:rPr sz="1350" b="0">
                <a:solidFill>
                  <a:srgbClr val="1F2A3A"/>
                </a:solidFill>
                <a:latin typeface="맑은 고딕"/>
                <a:ea typeface="맑은 고딕"/>
                <a:cs typeface="맑은 고딕"/>
              </a:rPr>
              <a:t>그래프에 반영한다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nk" descr="lin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관계와 출처를 본다</a:t>
            </a:r>
          </a:p>
          <a:p>
            <a:pPr algn="ctr">
              <a:lnSpc>
                <a:spcPct val="110000"/>
              </a:lnSpc>
              <a:spcAft>
                <a:spcPts val="400"/>
              </a:spcAft>
            </a:pPr>
            <a:r>
              <a:rPr sz="1350" b="0">
                <a:solidFill>
                  <a:srgbClr val="1F2A3A"/>
                </a:solidFill>
                <a:latin typeface="맑은 고딕"/>
                <a:ea typeface="맑은 고딕"/>
                <a:cs typeface="맑은 고딕"/>
              </a:rPr>
              <a:t>바뀐 지식에</a:t>
            </a:r>
          </a:p>
          <a:p>
            <a:pPr algn="ctr">
              <a:lnSpc>
                <a:spcPct val="110000"/>
              </a:lnSpc>
              <a:spcAft>
                <a:spcPts val="400"/>
              </a:spcAft>
            </a:pPr>
            <a:r>
              <a:rPr sz="1350" b="0">
                <a:solidFill>
                  <a:srgbClr val="1F2A3A"/>
                </a:solidFill>
                <a:latin typeface="맑은 고딕"/>
                <a:ea typeface="맑은 고딕"/>
                <a:cs typeface="맑은 고딕"/>
              </a:rPr>
              <a:t>관계와 출처가 함께</a:t>
            </a:r>
          </a:p>
          <a:p>
            <a:pPr algn="ctr">
              <a:lnSpc>
                <a:spcPct val="110000"/>
              </a:lnSpc>
              <a:spcAft>
                <a:spcPts val="400"/>
              </a:spcAft>
            </a:pPr>
            <a:r>
              <a:rPr sz="1350" b="0">
                <a:solidFill>
                  <a:srgbClr val="1F2A3A"/>
                </a:solidFill>
                <a:latin typeface="맑은 고딕"/>
                <a:ea typeface="맑은 고딕"/>
                <a:cs typeface="맑은 고딕"/>
              </a:rPr>
              <a:t>남았는지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lert-triangle" descr="alert-triang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충돌을 정리한다</a:t>
            </a:r>
          </a:p>
          <a:p>
            <a:pPr algn="ctr">
              <a:lnSpc>
                <a:spcPct val="110000"/>
              </a:lnSpc>
              <a:spcAft>
                <a:spcPts val="400"/>
              </a:spcAft>
            </a:pPr>
            <a:r>
              <a:rPr sz="1350" b="0">
                <a:solidFill>
                  <a:srgbClr val="1F2A3A"/>
                </a:solidFill>
                <a:latin typeface="맑은 고딕"/>
                <a:ea typeface="맑은 고딕"/>
                <a:cs typeface="맑은 고딕"/>
              </a:rPr>
              <a:t>기존 지식과</a:t>
            </a:r>
          </a:p>
          <a:p>
            <a:pPr algn="ctr">
              <a:lnSpc>
                <a:spcPct val="110000"/>
              </a:lnSpc>
              <a:spcAft>
                <a:spcPts val="400"/>
              </a:spcAft>
            </a:pPr>
            <a:r>
              <a:rPr sz="1350" b="0">
                <a:solidFill>
                  <a:srgbClr val="1F2A3A"/>
                </a:solidFill>
                <a:latin typeface="맑은 고딕"/>
                <a:ea typeface="맑은 고딕"/>
                <a:cs typeface="맑은 고딕"/>
              </a:rPr>
              <a:t>어긋나는 곳을 찾아</a:t>
            </a:r>
          </a:p>
          <a:p>
            <a:pPr algn="ctr">
              <a:lnSpc>
                <a:spcPct val="110000"/>
              </a:lnSpc>
              <a:spcAft>
                <a:spcPts val="400"/>
              </a:spcAft>
            </a:pPr>
            <a:r>
              <a:rPr sz="1350" b="0">
                <a:solidFill>
                  <a:srgbClr val="1F2A3A"/>
                </a:solidFill>
                <a:latin typeface="맑은 고딕"/>
                <a:ea typeface="맑은 고딕"/>
                <a:cs typeface="맑은 고딕"/>
              </a:rPr>
              <a:t>남길 것을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276493251708758296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①</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 ②</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①: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1회차의 관계 그림은 흩어진 정보를 노드와 관계로 꺼내 적었으나, 정의와 식별자는 그림만으로 정해지지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3539263635950024144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그림에 없는 것</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②: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스키마의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앞서 그린 관계도를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결과물 ③: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두층_3.svg" descr="illust_4198833919739665803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②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③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성과경로_5.svg" descr="illust_8834089481567784290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1회차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1회차와 3회차의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7012756134629265003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원인후보.svg" descr="illust_6205421910595779592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2회차의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성과 기준</a:t>
            </a:r>
          </a:p>
          <a:p>
            <a:pPr algn="l">
              <a:lnSpc>
                <a:spcPct val="110000"/>
              </a:lnSpc>
              <a:spcAft>
                <a:spcPts val="400"/>
              </a:spcAft>
            </a:pPr>
            <a:r>
              <a:rPr sz="1400" b="0">
                <a:solidFill>
                  <a:srgbClr val="1F2A3A"/>
                </a:solidFill>
                <a:latin typeface="맑은 고딕"/>
                <a:ea typeface="맑은 고딕"/>
                <a:cs typeface="맑은 고딕"/>
              </a:rPr>
              <a:t>통과한 후보의 순서를 정했다.</a:t>
            </a:r>
          </a:p>
          <a:p>
            <a:pPr algn="l">
              <a:lnSpc>
                <a:spcPct val="110000"/>
              </a:lnSpc>
              <a:spcAft>
                <a:spcPts val="400"/>
              </a:spcAft>
            </a:pPr>
            <a:r>
              <a:rPr sz="1400" b="0">
                <a:solidFill>
                  <a:srgbClr val="1F2A3A"/>
                </a:solidFill>
                <a:latin typeface="맑은 고딕"/>
                <a:ea typeface="맑은 고딕"/>
                <a:cs typeface="맑은 고딕"/>
              </a:rPr>
              <a:t>납기에서 잃는 것을 크게 쳤다.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대안</a:t>
            </a:r>
          </a:p>
          <a:p>
            <a:pPr algn="l">
              <a:lnSpc>
                <a:spcPct val="110000"/>
              </a:lnSpc>
              <a:spcAft>
                <a:spcPts val="400"/>
              </a:spcAft>
            </a:pPr>
            <a:r>
              <a:rPr sz="1400" b="0">
                <a:solidFill>
                  <a:srgbClr val="1F2A3A"/>
                </a:solidFill>
                <a:latin typeface="맑은 고딕"/>
                <a:ea typeface="맑은 고딕"/>
                <a:cs typeface="맑은 고딕"/>
              </a:rPr>
              <a:t>나머지 세 후보는 대안으로</a:t>
            </a:r>
          </a:p>
          <a:p>
            <a:pPr algn="l">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pic>
        <p:nvPicPr>
          <p:cNvPr id="6" name="삽화:세층.svg" descr="illust_3867615079395576119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프로그램인 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