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회차까지는 판단의 재료인 지식과 규칙을 만들었습니다. 오늘은 그 재료로 실제로 일하는 에이전트를 다룹니다. 이론에서 원리를 본 뒤 네 실습에서 에이전트를 구성하고, 원인을 추론하게 하고, 복합 조건과 여러 출처로 넓혀 갑니다. 네 목표 가운데 넷째, 곧 언제 멈추고 무엇을 남기는지가 에이전트를 믿고 쓰는 데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난 쿨러 성능 저하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다음 회차에서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결과 관찰과 종료를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마지막인 종료입니다. 에이전트는 판단 제출이라는 도구를 불러 추천안을 냈고 판단 번호를 돌려받았습니다. 그 뒤 정해진 형식의 결과를 남기고 단계를 끝냈습니다. 시작부터 1분 34초, 곧 94초가 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종료할 때 남기는 결과의 형식입니다.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앞 회차까지 만든 그래프입니다. 에이전트는 고장 유형에서 CAUSES를 거슬러 원인 후보 셋을, MITIGATED_BY를 따라 조치 방법을 얻었습니다. 그래프가 알려 주는 것은 후보까지이며, 셋 가운데 어느 것이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정보원을 읽는 방식에는 공통점이 있습니다. 에이전트는 어느 데이터베이스에도 직접 접속하지 않고 도구를 거칩니다. 시계열 DB와 업무 DB를 읽는 도구는 읽기 전용이며, 한 번에 200행까지만 돌려주고 5초 안에 끝나지 않는 조회는 끊습니다. 에이전트가 조회문을 잘못 쓰더라도 데이터가 바뀌거나 시스템이 오래 붙잡히지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정보원이 여러 시스템에 나뉘어 있을 때 쓰는 개념 하나를 봅니다. 설비의 측정값은 시계열 DB에, 정비와 부품의 기록은 업무 DB에 있습니다. 이런 데이터를 한곳으로 옮겨 모으지 않고 출처에 둔 채 연결해 함께 읽는 방식을 데이터 패브릭이라고 합니다. 읽은 값마다 출처와 읽은 시각을 붙이고, 한 출처가 실패하면 읽힌 값만 주면서 그 사실을 함께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읽은 값에는 신선도라는 기준이 붙습니다.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것이 하나 더 있습니다. 유온이 오르는 동안 냉각 효율이 떨어졌다는 것만으로 쿨러가 원인이라고 적으면 안 됩니다. 같은 모습이 팬 구동 불량이나 주변 온도 상승에서도 나타나기 때문입니다. 쿨러 사건에서는 팬 진동과 캐비닛 온도를 기준에 대어 두 후보를 지우고 남은 하나만 확인된 원인으로 적었습니다. 값을 읽지 못해 지우지도 확인하지도 못한 후보가 있으면 가설이라고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다음 점검 순서를 내는 에이전트를 구성합니다.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 실습의 에이전트에 더 어려운 입력을 줍니다. 센서 증거가 서로 엇갈리는 경우, 필요한 입력이 빠진 경우, 품질 이슈가 섞인 경우입니다. 에이전트는 기준에 맞은 것만 확인된 원인으로 적고, 확인하지 못한 후보는 가설로 표시해야 합니다. 끝나면 가설을 가리는 데 필요한 추가 점검까지 담은 점검 계획이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서로 다른 곳에 있는 자료를 이어 업무 결정 하나를 돕습니다. 앞에서 본 데이터 패브릭의 방식대로 설비와 정비 이력과 부품 자료를 옮겨 모으지 않고 연결해 읽습니다. 읽은 값에는 출처와 읽은 시각을 붙입니다. 끝나면 점검 조치와 필요 부품과 업무 요청을 한데 묶은 출력이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여섯과 함께 실행 고리, 정보원, 신선도, 멈춤 조건, 보류가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방식이 하는 일의 차이를 확인하는 문항입니다. 요청에 든 일 가운데 글을 만드는 것으로 되는 일과 되지 않는 일을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문서를 찾아 읽어도 지금의 값은 문서에 없다는 점을 놓친 것입니다. 둘째 문항의 3번은 같은 일을 방법을 바꾸어 다시 한 경우에 해당하는 말이며 이 장면과는 다릅니다. 셋째 문항의 1번은 묵은 값을, 2번은 실패를 0으로, 3번은 후보를 확인된 원인으로 바꾸어 쓴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image" Target="../media/image28.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6.png"/><Relationship Id="rId5"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1.png"/><Relationship Id="rId6"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1.png"/><Relationship Id="rId6"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4회차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다양한 정보를 활용해</a:t>
            </a:r>
          </a:p>
          <a:p>
            <a:pPr algn="l">
              <a:lnSpc>
                <a:spcPct val="110000"/>
              </a:lnSpc>
            </a:pPr>
            <a:r>
              <a:rPr sz="4000" b="1">
                <a:solidFill>
                  <a:srgbClr val="FFFFFF"/>
                </a:solidFill>
                <a:latin typeface="맑은 고딕"/>
                <a:ea typeface="맑은 고딕"/>
                <a:cs typeface="맑은 고딕"/>
              </a:rPr>
              <a:t>업무 문제를 해결하는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익히고, 그런 에이전트를 직접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도구 호출에서 종료까지의 단계를 실제 처리 기록에서 짚어 낸다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근거</a:t>
            </a:r>
          </a:p>
          <a:p>
            <a:pPr algn="l">
              <a:lnSpc>
                <a:spcPct val="110000"/>
              </a:lnSpc>
              <a:spcAft>
                <a:spcPts val="400"/>
              </a:spcAft>
            </a:pPr>
            <a:r>
              <a:rPr sz="1350" b="0">
                <a:solidFill>
                  <a:srgbClr val="1F2A3A"/>
                </a:solidFill>
                <a:latin typeface="맑은 고딕"/>
                <a:ea typeface="맑은 고딕"/>
                <a:cs typeface="맑은 고딕"/>
              </a:rPr>
              <a:t>온톨로지와 데이터베이스를 도구로 읽고, 확인된 원인과 가설을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기록</a:t>
            </a:r>
          </a:p>
          <a:p>
            <a:pPr algn="l">
              <a:lnSpc>
                <a:spcPct val="110000"/>
              </a:lnSpc>
              <a:spcAft>
                <a:spcPts val="400"/>
              </a:spcAft>
            </a:pPr>
            <a:r>
              <a:rPr sz="1350" b="0">
                <a:solidFill>
                  <a:srgbClr val="1F2A3A"/>
                </a:solidFill>
                <a:latin typeface="맑은 고딕"/>
                <a:ea typeface="맑은 고딕"/>
                <a:cs typeface="맑은 고딕"/>
              </a:rPr>
              <a:t>근거가 모자라거나 도구 호출이 실패했을 때 멈추고 남기는 것을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실행 고리와 정보원 · 도구 사용 원리</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나의 첫 업무 에이전트 구성하기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이상의 원인 추론과 점검 순서 결정</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조건에서의 판단 기능 확장</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출처의 정보를 연결한 업무 결정 지원</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실행 고리와</a:t>
            </a:r>
          </a:p>
          <a:p>
            <a:pPr algn="l">
              <a:lnSpc>
                <a:spcPct val="110000"/>
              </a:lnSpc>
            </a:pPr>
            <a:r>
              <a:rPr sz="3400" b="1">
                <a:solidFill>
                  <a:srgbClr val="13294B"/>
                </a:solidFill>
                <a:latin typeface="맑은 고딕"/>
                <a:ea typeface="맑은 고딕"/>
                <a:cs typeface="맑은 고딕"/>
              </a:rPr>
              <a:t>정보원 · 도구 사용 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도구를 쓰며 일하는 에이전트의 차이, 근거를 읽고 멈추는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848242104975021484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RAG(Retrieval-Augmented Generation)는 질문과 가까운 문서 조각을 찾아 모델에 함께 넣어 그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2828753860784203592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508499435558988547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종료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 ms)</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제출</a:t>
            </a:r>
          </a:p>
          <a:p>
            <a:pPr algn="l">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번호</a:t>
            </a:r>
          </a:p>
          <a:p>
            <a:pPr algn="l">
              <a:lnSpc>
                <a:spcPct val="110000"/>
              </a:lnSpc>
              <a:spcAft>
                <a:spcPts val="400"/>
              </a:spcAft>
            </a:pPr>
            <a:r>
              <a:rPr sz="1400" b="0">
                <a:solidFill>
                  <a:srgbClr val="1F2A3A"/>
                </a:solidFill>
                <a:latin typeface="맑은 고딕"/>
                <a:ea typeface="맑은 고딕"/>
                <a:cs typeface="맑은 고딕"/>
              </a:rPr>
              <a:t>DEC-1010-002-408b. 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 끝</a:t>
            </a:r>
          </a:p>
          <a:p>
            <a:pPr algn="l">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번호를 담은 JSON(JavaScript Object Notation) 객체로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정보원.svg" descr="illust_607835657267435361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에이전트는 데이터베이스에 직접 접속하지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에이전트와 데이터베이스 사이에는 읽기 전용 도구가 놓이며, 조회문이 잘못되어도 데이터는 바뀌지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도구경유.svg" descr="illust_636255167327362839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도구의 이름과</a:t>
            </a:r>
          </a:p>
          <a:p>
            <a:pPr algn="ctr">
              <a:lnSpc>
                <a:spcPct val="110000"/>
              </a:lnSpc>
              <a:spcAft>
                <a:spcPts val="100"/>
              </a:spcAft>
            </a:pPr>
            <a:r>
              <a:rPr sz="1300" b="0">
                <a:solidFill>
                  <a:srgbClr val="556175"/>
                </a:solidFill>
                <a:latin typeface="맑은 고딕"/>
                <a:ea typeface="맑은 고딕"/>
                <a:cs typeface="맑은 고딕"/>
              </a:rPr>
              <a:t>입력을 적는다</a:t>
            </a:r>
          </a:p>
        </p:txBody>
      </p:sp>
      <p:sp>
        <p:nvSpPr>
          <p:cNvPr id="8" name="TextBox 7"/>
          <p:cNvSpPr txBox="1"/>
          <p:nvPr/>
        </p:nvSpPr>
        <p:spPr>
          <a:xfrm>
            <a:off x="4273961" y="5031394"/>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읽기 전용이다</a:t>
            </a:r>
          </a:p>
          <a:p>
            <a:pPr algn="ctr">
              <a:lnSpc>
                <a:spcPct val="110000"/>
              </a:lnSpc>
              <a:spcAft>
                <a:spcPts val="100"/>
              </a:spcAft>
            </a:pPr>
            <a:r>
              <a:rPr sz="1300" b="0">
                <a:solidFill>
                  <a:srgbClr val="556175"/>
                </a:solidFill>
                <a:latin typeface="맑은 고딕"/>
                <a:ea typeface="맑은 고딕"/>
                <a:cs typeface="맑은 고딕"/>
              </a:rPr>
              <a:t>한 번에 200행까지, 5초까지</a:t>
            </a:r>
          </a:p>
        </p:txBody>
      </p:sp>
      <p:sp>
        <p:nvSpPr>
          <p:cNvPr id="9" name="TextBox 8"/>
          <p:cNvSpPr txBox="1"/>
          <p:nvPr/>
        </p:nvSpPr>
        <p:spPr>
          <a:xfrm>
            <a:off x="8768673" y="384953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접속하는 길은 없다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패브릭: 출처에 둔 채 연결해 함께 읽는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패브릭은 여러 시스템의 데이터를 출처에 둔 채 함께 읽는 방식이며, 값마다 출처와 읽은 시각을 붙인다.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데이터 패브릭</a:t>
            </a:r>
          </a:p>
          <a:p>
            <a:pPr algn="l">
              <a:lnSpc>
                <a:spcPct val="110000"/>
              </a:lnSpc>
              <a:spcAft>
                <a:spcPts val="200"/>
              </a:spcAft>
            </a:pPr>
            <a:r>
              <a:rPr sz="1150" b="0">
                <a:solidFill>
                  <a:srgbClr val="556175"/>
                </a:solidFill>
                <a:latin typeface="맑은 고딕"/>
                <a:ea typeface="맑은 고딕"/>
                <a:cs typeface="맑은 고딕"/>
              </a:rPr>
              <a:t>Data Fabric</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시스템의 데이터를 한곳으로 옮겨 모으지 않고, 출처에 둔 채 연결해 한 번의 물음으로 함께 읽는 방식이다.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출처와 읽은 시각</a:t>
            </a:r>
          </a:p>
          <a:p>
            <a:pPr algn="l">
              <a:lnSpc>
                <a:spcPct val="110000"/>
              </a:lnSpc>
              <a:spcAft>
                <a:spcPts val="200"/>
              </a:spcAft>
            </a:pPr>
            <a:r>
              <a:rPr sz="1150" b="0">
                <a:solidFill>
                  <a:srgbClr val="556175"/>
                </a:solidFill>
                <a:latin typeface="맑은 고딕"/>
                <a:ea typeface="맑은 고딕"/>
                <a:cs typeface="맑은 고딕"/>
              </a:rPr>
              <a:t>값의 근거</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읽은 값마다 어느 시스템에서 언제 읽었는지를 붙인다.</a:t>
            </a:r>
          </a:p>
          <a:p>
            <a:pPr algn="l">
              <a:lnSpc>
                <a:spcPct val="110000"/>
              </a:lnSpc>
              <a:spcAft>
                <a:spcPts val="300"/>
              </a:spcAft>
            </a:pPr>
            <a:r>
              <a:rPr sz="1400" b="0">
                <a:solidFill>
                  <a:srgbClr val="1F2A3A"/>
                </a:solidFill>
                <a:latin typeface="맑은 고딕"/>
                <a:ea typeface="맑은 고딕"/>
                <a:cs typeface="맑은 고딕"/>
              </a:rPr>
              <a:t>예: 납기 오더는 업무 DB에서, 유온은 시계열 DB에서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일부만 읽힌 결과</a:t>
            </a:r>
          </a:p>
          <a:p>
            <a:pPr algn="l">
              <a:lnSpc>
                <a:spcPct val="110000"/>
              </a:lnSpc>
              <a:spcAft>
                <a:spcPts val="200"/>
              </a:spcAft>
            </a:pPr>
            <a:r>
              <a:rPr sz="1150" b="0">
                <a:solidFill>
                  <a:srgbClr val="556175"/>
                </a:solidFill>
                <a:latin typeface="맑은 고딕"/>
                <a:ea typeface="맑은 고딕"/>
                <a:cs typeface="맑은 고딕"/>
              </a:rPr>
              <a:t>부분 결과</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출처가 실패하면 읽힌 값만 주고, 실패한 출처와 그 사유를 함께 알린다.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신선도.svg" descr="illust_4050983750405651206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멈춤조건.svg" descr="illust_72555064574332630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확인된 원인과 가설: 함께 변한 값만으로 단정하지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값이 함께 변했다는 사실만으로는 원인을 정할 수 없고, 등록된 증거 기준에 맞은 것만 확인된 원인으로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유온이 오르는 동안 냉각 효율이 떨어졌다</a:t>
            </a:r>
          </a:p>
          <a:p>
            <a:pPr algn="l">
              <a:lnSpc>
                <a:spcPct val="110000"/>
              </a:lnSpc>
              <a:spcAft>
                <a:spcPts val="600"/>
              </a:spcAft>
            </a:pPr>
            <a:r>
              <a:rPr sz="1450" b="0">
                <a:solidFill>
                  <a:srgbClr val="1F2A3A"/>
                </a:solidFill>
                <a:latin typeface="맑은 고딕"/>
                <a:ea typeface="맑은 고딕"/>
                <a:cs typeface="맑은 고딕"/>
              </a:rPr>
              <a:t>• 「쿨러가 원인이다」라고 적는다</a:t>
            </a:r>
          </a:p>
          <a:p>
            <a:pPr algn="l">
              <a:lnSpc>
                <a:spcPct val="110000"/>
              </a:lnSpc>
              <a:spcAft>
                <a:spcPts val="600"/>
              </a:spcAft>
            </a:pPr>
            <a:r>
              <a:rPr sz="1450" b="0">
                <a:solidFill>
                  <a:srgbClr val="1F2A3A"/>
                </a:solidFill>
                <a:latin typeface="맑은 고딕"/>
                <a:ea typeface="맑은 고딕"/>
                <a:cs typeface="맑은 고딕"/>
              </a:rPr>
              <a:t>• 팬 구동 불량이나 주변 온도 상승에서도 같은 모습이 나타난다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진동 0.575 mm/s는 기준 0.9 미만이므로 팬은 정상이다</a:t>
            </a:r>
          </a:p>
          <a:p>
            <a:pPr algn="l">
              <a:lnSpc>
                <a:spcPct val="110000"/>
              </a:lnSpc>
              <a:spcAft>
                <a:spcPts val="600"/>
              </a:spcAft>
            </a:pPr>
            <a:r>
              <a:rPr sz="1450" b="0">
                <a:solidFill>
                  <a:srgbClr val="1F2A3A"/>
                </a:solidFill>
                <a:latin typeface="맑은 고딕"/>
                <a:ea typeface="맑은 고딕"/>
                <a:cs typeface="맑은 고딕"/>
              </a:rPr>
              <a:t>• 캐비닛 온도 28 ℃는 기준 35 ℃에 못 미친다</a:t>
            </a:r>
          </a:p>
          <a:p>
            <a:pPr algn="l">
              <a:lnSpc>
                <a:spcPct val="110000"/>
              </a:lnSpc>
              <a:spcAft>
                <a:spcPts val="600"/>
              </a:spcAft>
            </a:pPr>
            <a:r>
              <a:rPr sz="1450" b="0">
                <a:solidFill>
                  <a:srgbClr val="1F2A3A"/>
                </a:solidFill>
                <a:latin typeface="맑은 고딕"/>
                <a:ea typeface="맑은 고딕"/>
                <a:cs typeface="맑은 고딕"/>
              </a:rPr>
              <a:t>• 남은 쿨러 핀 오염만 확인된 원인으로 적는다</a:t>
            </a:r>
          </a:p>
          <a:p>
            <a:pPr algn="l">
              <a:lnSpc>
                <a:spcPct val="110000"/>
              </a:lnSpc>
              <a:spcAft>
                <a:spcPts val="600"/>
              </a:spcAft>
            </a:pPr>
            <a:r>
              <a:rPr sz="14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24643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도구가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센서 입력을 읽어 점검 계획을 내는 에이전트를 구성한다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결과물은 후보 원인과 증거, 다음 점검 순서를 담은 점검 계획과 그 계획에 쓴 근거 파일이다.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조건에서의 판단 기능 확장</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증거가 엇갈리거나 입력이 빠진 경우에도 가설과 확인된 근거를 나누어 내도록 에이전트를 넓힌다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넣는 조건과 구분해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증거가 엇갈리거나 입력이 빠진 경우까지 넣어 보아야, 에이전트가 가설과 확인된 근거를 나누어 적는지가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엇갈리는 증거</a:t>
            </a:r>
          </a:p>
          <a:p>
            <a:pPr algn="l">
              <a:lnSpc>
                <a:spcPct val="110000"/>
              </a:lnSpc>
              <a:spcAft>
                <a:spcPts val="400"/>
              </a:spcAft>
            </a:pPr>
            <a:r>
              <a:rPr sz="1350" b="0">
                <a:solidFill>
                  <a:srgbClr val="1F2A3A"/>
                </a:solidFill>
                <a:latin typeface="맑은 고딕"/>
                <a:ea typeface="맑은 고딕"/>
                <a:cs typeface="맑은 고딕"/>
              </a:rPr>
              <a:t>센서 값이 서로 다른 원인을 가리키는 경우를 입력으로 준다</a:t>
            </a:r>
          </a:p>
        </p:txBody>
      </p:sp>
      <p:sp>
        <p:nvSpPr>
          <p:cNvPr id="10" name="Rounded Rectangle 9"/>
          <p:cNvSpPr/>
          <p:nvPr/>
        </p:nvSpPr>
        <p:spPr>
          <a:xfrm>
            <a:off x="777240" y="516921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충돌</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file-x" descr="file-x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빠진 입력과 품질 이슈</a:t>
            </a:r>
          </a:p>
          <a:p>
            <a:pPr algn="l">
              <a:lnSpc>
                <a:spcPct val="110000"/>
              </a:lnSpc>
              <a:spcAft>
                <a:spcPts val="400"/>
              </a:spcAft>
            </a:pPr>
            <a:r>
              <a:rPr sz="1350" b="0">
                <a:solidFill>
                  <a:srgbClr val="1F2A3A"/>
                </a:solidFill>
                <a:latin typeface="맑은 고딕"/>
                <a:ea typeface="맑은 고딕"/>
                <a:cs typeface="맑은 고딕"/>
              </a:rPr>
              <a:t>필요한 값이 비었거나 품질 이슈가 함께 있는 경우를 준다</a:t>
            </a:r>
          </a:p>
        </p:txBody>
      </p:sp>
      <p:sp>
        <p:nvSpPr>
          <p:cNvPr id="16" name="Rounded Rectangle 15"/>
          <p:cNvSpPr/>
          <p:nvPr/>
        </p:nvSpPr>
        <p:spPr>
          <a:xfrm>
            <a:off x="3619423" y="516921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가설과 확인된 근거</a:t>
            </a:r>
          </a:p>
          <a:p>
            <a:pPr algn="l">
              <a:lnSpc>
                <a:spcPct val="110000"/>
              </a:lnSpc>
              <a:spcAft>
                <a:spcPts val="400"/>
              </a:spcAft>
            </a:pPr>
            <a:r>
              <a:rPr sz="1350" b="0">
                <a:solidFill>
                  <a:srgbClr val="1F2A3A"/>
                </a:solidFill>
                <a:latin typeface="맑은 고딕"/>
                <a:ea typeface="맑은 고딕"/>
                <a:cs typeface="맑은 고딕"/>
              </a:rPr>
              <a:t>기준에 맞은 것만 확인된 원인으로 적고 나머지는 가설로 표시한다</a:t>
            </a:r>
          </a:p>
        </p:txBody>
      </p:sp>
      <p:sp>
        <p:nvSpPr>
          <p:cNvPr id="22" name="Rounded Rectangle 21"/>
          <p:cNvSpPr/>
          <p:nvPr/>
        </p:nvSpPr>
        <p:spPr>
          <a:xfrm>
            <a:off x="6461607" y="516921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83726"/>
            <a:ext cx="2567863" cy="321525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5CB8F2"/>
          </a:solidFill>
          <a:ln>
            <a:noFill/>
          </a:ln>
        </p:spPr>
        <p:txBody>
          <a:bodyPr rtlCol="0" anchor="ctr"/>
          <a:lstStyle/>
          <a:p>
            <a:pPr algn="ctr"/>
          </a:p>
        </p:txBody>
      </p:sp>
      <p:pic>
        <p:nvPicPr>
          <p:cNvPr id="26" name="아이콘:list-numbers" descr="list-numbers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점검</a:t>
            </a:r>
          </a:p>
          <a:p>
            <a:pPr algn="l">
              <a:lnSpc>
                <a:spcPct val="110000"/>
              </a:lnSpc>
              <a:spcAft>
                <a:spcPts val="400"/>
              </a:spcAft>
            </a:pPr>
            <a:r>
              <a:rPr sz="1350" b="0">
                <a:solidFill>
                  <a:srgbClr val="1F2A3A"/>
                </a:solidFill>
                <a:latin typeface="맑은 고딕"/>
                <a:ea typeface="맑은 고딕"/>
                <a:cs typeface="맑은 고딕"/>
              </a:rPr>
              <a:t>가설을 가리는 데 필요한 점검을 골라 점검 순서에 더한다</a:t>
            </a:r>
          </a:p>
        </p:txBody>
      </p:sp>
      <p:sp>
        <p:nvSpPr>
          <p:cNvPr id="28" name="Rounded Rectangle 27"/>
          <p:cNvSpPr/>
          <p:nvPr/>
        </p:nvSpPr>
        <p:spPr>
          <a:xfrm>
            <a:off x="9303791" y="516921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921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점검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출처의 정보를 연결한 업무 결정 지원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 정비 이력, 부품 자료를 함께 읽어 점검 조치와 필요 부품과 업무 요청을 한 출력으로 묶는다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출처와 묶어 내는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정비 이력, 부품 자료를 출처에 둔 채 함께 읽으면 점검 조치와 필요 부품과 업무 요청이 한 출력에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세 출처를 읽는다</a:t>
            </a:r>
          </a:p>
          <a:p>
            <a:pPr algn="ctr">
              <a:lnSpc>
                <a:spcPct val="110000"/>
              </a:lnSpc>
              <a:spcAft>
                <a:spcPts val="400"/>
              </a:spcAft>
            </a:pPr>
            <a:r>
              <a:rPr sz="1350" b="0">
                <a:solidFill>
                  <a:srgbClr val="1F2A3A"/>
                </a:solidFill>
                <a:latin typeface="맑은 고딕"/>
                <a:ea typeface="맑은 고딕"/>
                <a:cs typeface="맑은 고딕"/>
              </a:rPr>
              <a:t>설비의 상태,</a:t>
            </a:r>
          </a:p>
          <a:p>
            <a:pPr algn="ctr">
              <a:lnSpc>
                <a:spcPct val="110000"/>
              </a:lnSpc>
              <a:spcAft>
                <a:spcPts val="400"/>
              </a:spcAft>
            </a:pPr>
            <a:r>
              <a:rPr sz="1350" b="0">
                <a:solidFill>
                  <a:srgbClr val="1F2A3A"/>
                </a:solidFill>
                <a:latin typeface="맑은 고딕"/>
                <a:ea typeface="맑은 고딕"/>
                <a:cs typeface="맑은 고딕"/>
              </a:rPr>
              <a:t>정비 이력, 부품 자료를</a:t>
            </a:r>
          </a:p>
          <a:p>
            <a:pPr algn="ctr">
              <a:lnSpc>
                <a:spcPct val="110000"/>
              </a:lnSpc>
              <a:spcAft>
                <a:spcPts val="400"/>
              </a:spcAft>
            </a:pPr>
            <a:r>
              <a:rPr sz="1350" b="0">
                <a:solidFill>
                  <a:srgbClr val="1F2A3A"/>
                </a:solidFill>
                <a:latin typeface="맑은 고딕"/>
                <a:ea typeface="맑은 고딕"/>
                <a:cs typeface="맑은 고딕"/>
              </a:rPr>
              <a:t>도구로 읽는다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출처를 붙인다</a:t>
            </a:r>
          </a:p>
          <a:p>
            <a:pPr algn="ctr">
              <a:lnSpc>
                <a:spcPct val="110000"/>
              </a:lnSpc>
              <a:spcAft>
                <a:spcPts val="400"/>
              </a:spcAft>
            </a:pPr>
            <a:r>
              <a:rPr sz="1350" b="0">
                <a:solidFill>
                  <a:srgbClr val="1F2A3A"/>
                </a:solidFill>
                <a:latin typeface="맑은 고딕"/>
                <a:ea typeface="맑은 고딕"/>
                <a:cs typeface="맑은 고딕"/>
              </a:rPr>
              <a:t>읽은 값마다</a:t>
            </a:r>
          </a:p>
          <a:p>
            <a:pPr algn="ctr">
              <a:lnSpc>
                <a:spcPct val="110000"/>
              </a:lnSpc>
              <a:spcAft>
                <a:spcPts val="400"/>
              </a:spcAft>
            </a:pPr>
            <a:r>
              <a:rPr sz="1350" b="0">
                <a:solidFill>
                  <a:srgbClr val="1F2A3A"/>
                </a:solidFill>
                <a:latin typeface="맑은 고딕"/>
                <a:ea typeface="맑은 고딕"/>
                <a:cs typeface="맑은 고딕"/>
              </a:rPr>
              <a:t>어느 출처에서 언제</a:t>
            </a:r>
          </a:p>
          <a:p>
            <a:pPr algn="ctr">
              <a:lnSpc>
                <a:spcPct val="110000"/>
              </a:lnSpc>
              <a:spcAft>
                <a:spcPts val="400"/>
              </a:spcAft>
            </a:pPr>
            <a:r>
              <a:rPr sz="1350" b="0">
                <a:solidFill>
                  <a:srgbClr val="1F2A3A"/>
                </a:solidFill>
                <a:latin typeface="맑은 고딕"/>
                <a:ea typeface="맑은 고딕"/>
                <a:cs typeface="맑은 고딕"/>
              </a:rPr>
              <a:t>읽었는지를 적는다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file-description" descr="file-description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 출력으로 묶는다</a:t>
            </a:r>
          </a:p>
          <a:p>
            <a:pPr algn="ctr">
              <a:lnSpc>
                <a:spcPct val="110000"/>
              </a:lnSpc>
              <a:spcAft>
                <a:spcPts val="400"/>
              </a:spcAft>
            </a:pPr>
            <a:r>
              <a:rPr sz="1350" b="0">
                <a:solidFill>
                  <a:srgbClr val="1F2A3A"/>
                </a:solidFill>
                <a:latin typeface="맑은 고딕"/>
                <a:ea typeface="맑은 고딕"/>
                <a:cs typeface="맑은 고딕"/>
              </a:rPr>
              <a:t>점검 조치, 필요 부품,</a:t>
            </a:r>
          </a:p>
          <a:p>
            <a:pPr algn="ctr">
              <a:lnSpc>
                <a:spcPct val="110000"/>
              </a:lnSpc>
              <a:spcAft>
                <a:spcPts val="400"/>
              </a:spcAft>
            </a:pPr>
            <a:r>
              <a:rPr sz="1350" b="0">
                <a:solidFill>
                  <a:srgbClr val="1F2A3A"/>
                </a:solidFill>
                <a:latin typeface="맑은 고딕"/>
                <a:ea typeface="맑은 고딕"/>
                <a:cs typeface="맑은 고딕"/>
              </a:rPr>
              <a:t>업무 요청을</a:t>
            </a:r>
          </a:p>
          <a:p>
            <a:pPr algn="ctr">
              <a:lnSpc>
                <a:spcPct val="110000"/>
              </a:lnSpc>
              <a:spcAft>
                <a:spcPts val="400"/>
              </a:spcAft>
            </a:pPr>
            <a:r>
              <a:rPr sz="1350" b="0">
                <a:solidFill>
                  <a:srgbClr val="1F2A3A"/>
                </a:solidFill>
                <a:latin typeface="맑은 고딕"/>
                <a:ea typeface="맑은 고딕"/>
                <a:cs typeface="맑은 고딕"/>
              </a:rPr>
              <a:t>한 출력에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 패브릭</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Fabric</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출처를 그 자리에 둔 채 연결해 읽는 방식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 조각을 찾아 모델에 함께 읽히는 방식</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추천안을 제출하는 형식</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요청을 끝까지 수행하는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담당자가 「HYD-01의 냉각 효율을 지금 값으로 확인하고 조치 후보를 견주어 추천안을 제출하라」고 요청했다.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요청을 끝까지 수행할 수 있는 방식과 그 까닭은?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LLM — 유압 설비의 일반 지식을 학습했기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RAG — 매뉴얼의 판별 기준을 찾아 함께 읽기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 도구로 지금의 값을 읽고 결과를 보며 제출까지 하기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LLM과 RAG — 둘을 함께 쓰면 지금의 값도 알 수 있기 때문이다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세 방식의 차이, 실행 고리의 단계, 읽지 못한 값의 처리를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값을 읽고 제출하는 일은 글을 만드는 것으로 되지 않는다. 도구를 부르고 결과를 보며 끝까지 수행하는 것은 에이전트이다.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