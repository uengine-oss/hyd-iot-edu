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회차까지는 판단의 재료인 지식과 규칙을 만들었습니다. 오늘은 그 재료로 실제로 일하는 에이전트를 다룹니다. 이론에서 원리를 본 뒤 네 실습에서 에이전트를 구성하고, 원인을 추론하게 하고, 복합 조건과 여러 출처로 넓혀 갑니다. 네 목표 가운데 넷째, 곧 언제 멈추고 무엇을 남기는지가 에이전트를 믿고 쓰는 데 가장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유압 설비 HYD-01에서 난 쿨러 성능 저하 사건의 시간표입니다. 경보가 나고 승인되기까지 108초가 걸렸고, 그 가운데 94초는 사람이 아니라 에이전트가 일한 시간이었습니다. 그동안 에이전트는 원인을 가리고 조치 후보 넷을 견주어 추천안을 냈습니다. 오늘은 이 94초 안에서 일어난 일을 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LLM이 하는 일은 한 가지입니다. 글을 받아 이어질 글을 만들어 냅니다. 입력 한 번에 출력 한 번이고, 그 사이에 데이터베이스를 읽거나 시스템을 조작하지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LLM만으로는 답하지 못하는 것이 셋 있습니다. 첫째는 지금의 값이며 유온은 시계열 DB에 있고 모델 안에 없습니다. 둘째는 이 공장의 문서이며 HM-8의 기준을 모델은 배운 적이 없습니다. 셋째는 수행이며 조회하고 계산하고 제출하는 일은 글을 만드는 것으로 되지 않습니다. 뒤의 두 방식은 이 빈자리를 메우는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빈자리인 문서를 메우는 방식이 RAG입니다. 질문이 들어오면 먼저 가까운 문서 조각을 찾고, 그 조각을 질문과 함께 모델에 넣습니다. 모델은 배운 적 없는 문서의 내용으로 답할 수 있게 됩니다. 다만 마지막 단계는 여전히 글로 답하는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빈자리인 수행까지 메우는 것이 에이전트입니다. 에이전트는 목표를 받고, 도구를 골라 부르고, 돌아온 결과를 보고 다음에 무엇을 할지 정합니다. 이 일을 목표에 이를 때까지 되풀이합니다. 도구는 모델이 부를 수 있도록 이름과 입력을 정해 둔 기능이며, 쿨러 사건에서는 원인 진단과 생산오더 조회 같은 도구가 쓰였습니다.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요청을 세 방식에 넣어 견줍니다. LLM은 유압 설비에 대한 일반적인 설명을 돌려줍니다. RAG는 관련 문서를 찾아 그 내용을 인용해 설명합니다. 에이전트는 도구로 지금의 값을 읽어 원인을 가리고 후보 넷을 견준 추천안을 제출합니다. 셋을 가르는 것은 답의 근거가 어디에서 오는가와 마지막에 무엇을 하는가이며, 앞의 둘은 글을 내고 에이전트는 산출물을 제출합니다.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뜯어 보면 세 요소가 있습니다. 모델은 앞에서 본 LLM이며 글을 읽고 다음 행동을 정합니다. 도구는 실제로 조회하고 계산해 결과를 돌려줍니다. 실행 고리는 모델과 도구 사이를 목표에 이를 때까지 되풀이해 오가게 하는 틀입니다. 모델이 달라진 것이 아니라 도구와 고리가 더해진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하나는 이 항목들로 정의됩니다. 쿨러 사건을 맡은 냉각 긴급 대응 에이전트의 값입니다. 목표는 무엇을 이루어야 끝나는지를, 도구는 무엇을 쓸 수 있는지를 정합니다. 목표 칸은 에이전트에 적힌 문장을 이 수업의 낱말로 줄여 옮긴 요지입니다. 업무 지침은 에이전트 스킬이라는 파일로 주며, 그 형식은 다음 회차에서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부른다는 것이 실제로 어떤 모습인지 쿨러 사건의 기록에서 한 건을 꺼냈습니다. 모델이 한 일은 원인 진단이라는 도구의 이름과, 물음에 적힌 세 값을 글로 적어 낸 것입니다. 지식 그래프와 시계열 DB를 읽은 것은 모델이 아니라 도구이고, 도구가 그 결과를 돌려주었습니다. 모델은 글만 만든다는 앞의 설명과 어긋나지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틀이 실행 고리입니다. 왼쪽부터 요청 해석, 계획, 도구 선택과 호출, 결과 관찰, 종료입니다. 결과를 관찰해 목표에 이르렀으면 종료로 가고, 아직 못 미쳤거나 호출이 뜻대로 되지 않았으면 위의 점선을 따라 계획으로 되돌아갑니다. 이 가운데 결과 관찰과 종료를 쿨러 사건의 기록에서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선택과 호출, 그리고 결과 관찰이 이어지는 장면입니다. 위는 원인 진단이 돌려준 결과의 요지이고, 아래는 5초 뒤에 부른 대안 평가의 물음입니다. 진단에서 읽은 원인과 고장 유형의 식별자가 아래 물음에 그대로 들어가 있습니다. 관찰한 결과가 다음 호출의 입력을 정한다는 것이 이 두 줄에서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마지막인 종료입니다. 에이전트는 판단 제출이라는 도구를 불러 추천안을 냈고 판단 번호를 돌려받았습니다. 그 뒤 정해진 형식의 결과를 남기고 단계를 끝냈습니다. 시작부터 1분 34초, 곧 94초가 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종료할 때 남기는 결과의 형식입니다. 추천안은 다섯 항목을 가진 JSON 객체 하나이며, 어떤 항목이 있어야 하는지는 작업마다 미리 정해져 있습니다. 승인 화면은 decision에서 추천과 설명을 읽어 보여 주고, 뒤의 단계는 decision_id로 이 판단을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운전이라는 추천안 한 건을 만드는 데 쓰인 정보를 출처별로 놓았습니다. 원인 후보는 온톨로지에서, 냉각 효율 46.2 %는 시계열 DB에서, 납기까지 남은 시간은 업무 DB에서, 조치의 단계와 출처는 SOP에서 왔습니다. 네 곳 모두 에이전트가 도구를 불러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 가운데 온톨로지와 SOP는 같은 지식 그래프에 들어 있습니다. 앞 회차까지 만든 그래프입니다. 에이전트는 고장 유형에서 CAUSES를 거슬러 원인 후보 셋을, MITIGATED_BY를 따라 조치 방법을 얻었습니다. 그래프가 알려 주는 것은 후보까지이며, 셋 가운데 어느 것이 맞는지는 값을 읽어야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정보원을 읽는 방식에는 공통점이 있습니다. 에이전트는 어느 데이터베이스에도 직접 접속하지 않고 도구를 거칩니다. 시계열 DB와 업무 DB를 읽는 도구는 읽기 전용이며, 한 번에 200행까지만 돌려주고 5초 안에 끝나지 않는 조회는 끊습니다. 에이전트가 조회문을 잘못 쓰더라도 데이터가 바뀌거나 시스템이 오래 붙잡히지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정보원이 여러 시스템에 나뉘어 있을 때 쓰는 개념 하나를 봅니다. 설비의 측정값은 시계열 DB에, 정비와 부품의 기록은 업무 DB에 있습니다. 이런 데이터를 한곳으로 옮겨 모으지 않고 출처에 둔 채 연결해 함께 읽는 방식을 데이터 패브릭이라고 합니다. 읽은 값마다 출처와 읽은 시각을 붙이고, 한 출처가 실패하면 읽힌 값만 주면서 그 사실을 함께 알립니다.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읽은 값에는 신선도라는 기준이 붙습니다. 가로축이 시간이고 오른쪽의 굵은 선이 판단하는 시각입니다. 하늘색 띠가 허용 범위 60초입니다. 쿨러 사건에서 최신 유온은 0.6초 전의 값이어서 그대로 판단에 쓰였습니다. 왼쪽처럼 60초보다 오래된 값밖에 없으면, 그 값으로 판단하지 않고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멈춰야 하는 상황은 셋입니다. 위는 근거 부족으로, 값을 얻지 못했거나 얻은 값이 어느 원인에도 맞지 않는 경우입니다. 가운데는 도구 호출 실패로, 다시 시도해도 도구가 오류를 돌려주는 경우입니다. 아래는 권한 제한으로, 일을 하려면 허용되지 않은 도구가 필요한 경우입니다. 셋 모두 에이전트는 지어내지 않고 멈추며, 멈춘 작업은 이유와 함께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부족에는 서로 다른 두 경우가 들어 있습니다. UNKNOWN은 조회에 실패했거나 값이 비어서 맞는지 틀린지를 말할 수 없는 상태입니다. UNSUPPORTED는 값은 읽었지만 어느 원인의 기준에도 맞지 않는 상태입니다. 앞의 것은 값이 들어오면 풀리고, 뒤의 것은 등록된 지식에 없는 원인일 수 있어 사람이 살펴야 합니다. 쿨러 사건의 쿨러 핀 오염은 값을 읽었고 기준에 맞은 SUPPORTED였습니다.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보류에도 정해진 형식이 있습니다. 에이전트는 원인이나 추천 같은 결과 항목을 하나도 채우지 않고, 상태와 이유와 그때까지 모은 증거만 제출합니다. 일부는 채우고 일부는 보류하는 식으로 섞어 내면 받아들여지지 않습니다. 절반만 확인된 추천안이 승인 화면에 올라가는 일을 막기 위해서입니다.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멈춤 조건인 도구 호출 실패입니다. 중요한 것은 실패와 값 없음의 구분입니다. 예비품 재고를 조회해 0행이 돌아왔다면 재고가 없다는 답이고, 조회가 실패했다면 재고를 모른다는 뜻입니다. 실패를 0으로 적으면 모르는 일이 없는 일로 바뀝니다. 그래서 다시 시도해도 끝내 실패하면 실패했다고 그대로 적고, 그 값 없이는 판단할 수 없으면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근거를 적을 때 조심할 것이 하나 더 있습니다. 유온이 오르는 동안 냉각 효율이 떨어졌다는 것만으로 쿨러가 원인이라고 적으면 안 됩니다. 같은 모습이 팬 구동 불량이나 주변 온도 상승에서도 나타나기 때문입니다. 쿨러 사건에서는 팬 진동과 캐비닛 온도를 기준에 대어 두 후보를 지우고 남은 하나만 확인된 원인으로 적었습니다. 값을 읽지 못해 지우지도 확인하지도 못한 후보가 있으면 가설이라고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에이전트 하나를 직접 구성합니다. 앞에서 본 항목대로 이름과 목표와 역할을 적고, 쓸 수 있는 읽기 도구 가운데 필요한 것을 고릅니다. 그런 다음 그 에이전트에게 질문하고, 답에 붙은 근거와 호출 기록을 읽습니다. 끝으로 쿨러 사건을 맡은 기준 에이전트와 무엇이 다른지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Code에서 Claude Code로 진행합니다. 공용 온톨로지의 관계와 제공된 센서 입력을 읽어 후보 원인과 증거, 다음 점검 순서를 내는 에이전트를 구성합니다. 확인되지 않은 원인은 단정하지 않고 가설로 표시해야 합니다. 끝나면 점검 계획과 그 계획에 쓴 근거가 파일로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 실습의 에이전트에 더 어려운 입력을 줍니다. 센서 증거가 서로 엇갈리는 경우, 필요한 입력이 빠진 경우, 제품의 품질 문제 곧 불량 로트가 함께 있는 경우입니다. 에이전트는 기준에 맞은 것만 확인된 원인으로 적고, 확인하지 못한 후보는 가설로 표시해야 합니다. 끝나면 가설을 가리는 데 필요한 추가 점검까지 담은 점검 계획이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서로 다른 곳에 있는 자료를 이어 업무 결정 하나를 돕습니다. 앞에서 본 데이터 패브릭의 방식대로 설비와 정비 이력과 부품 자료를 옮겨 모으지 않고 연결해 읽습니다. 읽은 값에는 출처와 읽은 시각을 붙입니다. 끝나면 점검 조치와 필요 부품과 업무 요청을 한데 묶은 출력이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여섯과 함께 실행 고리, 정보원, 신선도, 멈춤 조건, 보류가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방식이 하는 일의 차이를 확인하는 문항입니다. 요청에 든 일 가운데 글을 만드는 것으로 되는 일과 되지 않는 일을 갈라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기록의 한 장면을 실행 고리의 단계에 대어 보는 문항입니다. 두 호출의 도구가 같은지 다른지, 뒤 호출의 입력이 어디에서 왔는지를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값, 그리고 실패와 값 없음을 구분하는지를 확인하는 문항입니다. 보기마다 무엇을 무엇으로 바꾸어 썼는지를 짚어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4번은 문서를 찾아 읽어도 지금의 값은 문서에 없다는 점을 놓친 것입니다. 둘째 문항의 3번은 같은 일을 방법을 바꾸어 다시 한 경우에 해당하는 말이며 이 장면과는 다릅니다. 셋째 문항의 1번은 묵은 값을, 2번은 실패를 0으로, 3번은 후보를 확인된 원인으로 바꾸어 쓴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16.png"/><Relationship Id="rId5"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1.png"/><Relationship Id="rId6"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4회차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다양한 정보를 활용해</a:t>
            </a:r>
          </a:p>
          <a:p>
            <a:pPr algn="l">
              <a:lnSpc>
                <a:spcPct val="110000"/>
              </a:lnSpc>
            </a:pPr>
            <a:r>
              <a:rPr sz="4000" b="1">
                <a:solidFill>
                  <a:srgbClr val="FFFFFF"/>
                </a:solidFill>
                <a:latin typeface="맑은 고딕"/>
                <a:ea typeface="맑은 고딕"/>
                <a:cs typeface="맑은 고딕"/>
              </a:rPr>
              <a:t>업무 문제를 해결하는 AI 에이전트</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에이전트가 정보와 도구를 써서 업무를 수행하는 원리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bot" descr="robo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search" descr="list-search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건을 맡은 에이전트가 무엇을 읽고 어떤 순서로 일하며 언제 멈추는지를 익히고, 그런 에이전트를 직접 구성한다.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방식의 구분</a:t>
            </a:r>
          </a:p>
          <a:p>
            <a:pPr algn="l">
              <a:lnSpc>
                <a:spcPct val="110000"/>
              </a:lnSpc>
              <a:spcAft>
                <a:spcPts val="400"/>
              </a:spcAft>
            </a:pPr>
            <a:r>
              <a:rPr sz="1350" b="0">
                <a:solidFill>
                  <a:srgbClr val="1F2A3A"/>
                </a:solidFill>
                <a:latin typeface="맑은 고딕"/>
                <a:ea typeface="맑은 고딕"/>
                <a:cs typeface="맑은 고딕"/>
              </a:rPr>
              <a:t>LLM, RAG, 에이전트가 하는 일의 차이를 같은 요청으로 견주어 설명한다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고리</a:t>
            </a:r>
          </a:p>
          <a:p>
            <a:pPr algn="l">
              <a:lnSpc>
                <a:spcPct val="110000"/>
              </a:lnSpc>
              <a:spcAft>
                <a:spcPts val="400"/>
              </a:spcAft>
            </a:pPr>
            <a:r>
              <a:rPr sz="1350" b="0">
                <a:solidFill>
                  <a:srgbClr val="1F2A3A"/>
                </a:solidFill>
                <a:latin typeface="맑은 고딕"/>
                <a:ea typeface="맑은 고딕"/>
                <a:cs typeface="맑은 고딕"/>
              </a:rPr>
              <a:t>도구 호출에서 종료까지의 단계를 실제 처리 기록에서 짚어 낸다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정보원과 근거</a:t>
            </a:r>
          </a:p>
          <a:p>
            <a:pPr algn="l">
              <a:lnSpc>
                <a:spcPct val="110000"/>
              </a:lnSpc>
              <a:spcAft>
                <a:spcPts val="400"/>
              </a:spcAft>
            </a:pPr>
            <a:r>
              <a:rPr sz="1350" b="0">
                <a:solidFill>
                  <a:srgbClr val="1F2A3A"/>
                </a:solidFill>
                <a:latin typeface="맑은 고딕"/>
                <a:ea typeface="맑은 고딕"/>
                <a:cs typeface="맑은 고딕"/>
              </a:rPr>
              <a:t>온톨로지와 데이터베이스를 도구로 읽고, 확인된 원인과 가설을 구분한다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player-stop" descr="player-stop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멈춤과 기록</a:t>
            </a:r>
          </a:p>
          <a:p>
            <a:pPr algn="l">
              <a:lnSpc>
                <a:spcPct val="110000"/>
              </a:lnSpc>
              <a:spcAft>
                <a:spcPts val="400"/>
              </a:spcAft>
            </a:pPr>
            <a:r>
              <a:rPr sz="1350" b="0">
                <a:solidFill>
                  <a:srgbClr val="1F2A3A"/>
                </a:solidFill>
                <a:latin typeface="맑은 고딕"/>
                <a:ea typeface="맑은 고딕"/>
                <a:cs typeface="맑은 고딕"/>
              </a:rPr>
              <a:t>근거가 모자라거나 도구 호출이 실패했을 때 멈추고 남기는 것을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신뢰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실행 고리와 정보원 · 도구 사용 원리</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나의 첫 업무 에이전트 구성하기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이상의 원인 추론과 점검 순서 결정</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복합 조건에서의 판단 기능 확장</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여러 출처의 정보를 연결한 업무 결정 지원</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에이전트의 실행 고리와</a:t>
            </a:r>
          </a:p>
          <a:p>
            <a:pPr algn="l">
              <a:lnSpc>
                <a:spcPct val="110000"/>
              </a:lnSpc>
            </a:pPr>
            <a:r>
              <a:rPr sz="3400" b="1">
                <a:solidFill>
                  <a:srgbClr val="13294B"/>
                </a:solidFill>
                <a:latin typeface="맑은 고딕"/>
                <a:ea typeface="맑은 고딕"/>
                <a:cs typeface="맑은 고딕"/>
              </a:rPr>
              <a:t>정보원 · 도구 사용 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한 번 답하는 모델과 도구를 쓰며 일하는 에이전트의 차이, 근거를 읽고 멈추는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승인까지 108초 가운데 에이전트가 일한 94초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94초는 </a:t>
            </a:r>
            <a:r>
              <a:rPr sz="1600" b="1">
                <a:solidFill>
                  <a:srgbClr val="1A6FC4"/>
                </a:solidFill>
                <a:latin typeface="맑은 고딕"/>
                <a:ea typeface="맑은 고딕"/>
                <a:cs typeface="맑은 고딕"/>
              </a:rPr>
              <a:t>에이전트</a:t>
            </a:r>
            <a:r>
              <a:rPr sz="1600" b="0">
                <a:solidFill>
                  <a:srgbClr val="556175"/>
                </a:solidFill>
                <a:latin typeface="맑은 고딕"/>
                <a:ea typeface="맑은 고딕"/>
                <a:cs typeface="맑은 고딕"/>
              </a:rPr>
              <a:t>가 원인을 가리고 조치 후보를 견주어 추천안을 낸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경보에서승인까지.svg" descr="illust_8277667436112678899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 11:13:08</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3117555" y="1674906"/>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원인을 가리고 후보를 견준다</a:t>
            </a:r>
          </a:p>
        </p:txBody>
      </p:sp>
      <p:sp>
        <p:nvSpPr>
          <p:cNvPr id="9" name="TextBox 8"/>
          <p:cNvSpPr txBox="1"/>
          <p:nvPr/>
        </p:nvSpPr>
        <p:spPr>
          <a:xfrm>
            <a:off x="6444951" y="172218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 11:14:42</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10" name="TextBox 9"/>
          <p:cNvSpPr txBox="1"/>
          <p:nvPr/>
        </p:nvSpPr>
        <p:spPr>
          <a:xfrm>
            <a:off x="9019592"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11:14:56</a:t>
            </a:r>
          </a:p>
          <a:p>
            <a:pPr algn="ctr">
              <a:lnSpc>
                <a:spcPct val="110000"/>
              </a:lnSpc>
              <a:spcAft>
                <a:spcPts val="100"/>
              </a:spcAft>
            </a:pPr>
            <a:r>
              <a:rPr sz="1300" b="0">
                <a:solidFill>
                  <a:srgbClr val="556175"/>
                </a:solidFill>
                <a:latin typeface="맑은 고딕"/>
                <a:ea typeface="맑은 고딕"/>
                <a:cs typeface="맑은 고딕"/>
              </a:rPr>
              <a:t>운전원</a:t>
            </a:r>
          </a:p>
        </p:txBody>
      </p:sp>
      <p:sp>
        <p:nvSpPr>
          <p:cNvPr id="11" name="TextBox 10"/>
          <p:cNvSpPr txBox="1"/>
          <p:nvPr/>
        </p:nvSpPr>
        <p:spPr>
          <a:xfrm>
            <a:off x="3368473" y="5409590"/>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94초</a:t>
            </a:r>
          </a:p>
          <a:p>
            <a:pPr algn="ctr">
              <a:lnSpc>
                <a:spcPct val="110000"/>
              </a:lnSpc>
              <a:spcAft>
                <a:spcPts val="100"/>
              </a:spcAft>
            </a:pPr>
            <a:r>
              <a:rPr sz="1300" b="0">
                <a:solidFill>
                  <a:srgbClr val="556175"/>
                </a:solidFill>
                <a:latin typeface="맑은 고딕"/>
                <a:ea typeface="맑은 고딕"/>
                <a:cs typeface="맑은 고딕"/>
              </a:rPr>
              <a:t>에이전트 단계 전체</a:t>
            </a:r>
          </a:p>
        </p:txBody>
      </p:sp>
      <p:sp>
        <p:nvSpPr>
          <p:cNvPr id="12" name="TextBox 11"/>
          <p:cNvSpPr txBox="1"/>
          <p:nvPr/>
        </p:nvSpPr>
        <p:spPr>
          <a:xfrm>
            <a:off x="7950461" y="54095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13초</a:t>
            </a:r>
          </a:p>
          <a:p>
            <a:pPr algn="ctr">
              <a:lnSpc>
                <a:spcPct val="110000"/>
              </a:lnSpc>
              <a:spcAft>
                <a:spcPts val="100"/>
              </a:spcAft>
            </a:pPr>
            <a:r>
              <a:rPr sz="1300" b="0">
                <a:solidFill>
                  <a:srgbClr val="556175"/>
                </a:solidFill>
                <a:latin typeface="맑은 고딕"/>
                <a:ea typeface="맑은 고딕"/>
                <a:cs typeface="맑은 고딕"/>
              </a:rPr>
              <a:t>승인 대기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LLM의 응답 생성: 입력 한 번에 출력 한 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LLM은 받은 글에 이어질 글을 학습한 내용으로 만들어 한 번 답하며, 그 과정에서 바깥의 데이터를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900629"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읽는다</a:t>
            </a:r>
          </a:p>
        </p:txBody>
      </p:sp>
      <p:sp>
        <p:nvSpPr>
          <p:cNvPr id="9" name="Oval 8"/>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message" descr="message_13294B_1.6.png"/>
          <p:cNvPicPr>
            <a:picLocks noChangeAspect="1"/>
          </p:cNvPicPr>
          <p:nvPr/>
        </p:nvPicPr>
        <p:blipFill>
          <a:blip r:embed="rId3"/>
          <a:stretch>
            <a:fillRect/>
          </a:stretch>
        </p:blipFill>
        <p:spPr>
          <a:xfrm>
            <a:off x="2088642" y="3330181"/>
            <a:ext cx="618134" cy="618134"/>
          </a:xfrm>
          <a:prstGeom prst="rect">
            <a:avLst/>
          </a:prstGeom>
        </p:spPr>
      </p:pic>
      <p:sp>
        <p:nvSpPr>
          <p:cNvPr id="11" name="TextBox 10"/>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사람이 적어 넣은 글</a:t>
            </a:r>
          </a:p>
          <a:p>
            <a:pPr algn="ctr">
              <a:lnSpc>
                <a:spcPct val="110000"/>
              </a:lnSpc>
              <a:spcAft>
                <a:spcPts val="400"/>
              </a:spcAft>
            </a:pPr>
            <a:r>
              <a:rPr sz="1300" b="0">
                <a:solidFill>
                  <a:srgbClr val="1F2A3A"/>
                </a:solidFill>
                <a:latin typeface="맑은 고딕"/>
                <a:ea typeface="맑은 고딕"/>
                <a:cs typeface="맑은 고딕"/>
              </a:rPr>
              <a:t>질문, 지시, 참고 자료</a:t>
            </a:r>
          </a:p>
        </p:txBody>
      </p:sp>
      <p:sp>
        <p:nvSpPr>
          <p:cNvPr id="12" name="Chevron 11"/>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6598767"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만든다</a:t>
            </a:r>
          </a:p>
        </p:txBody>
      </p:sp>
      <p:sp>
        <p:nvSpPr>
          <p:cNvPr id="14" name="Oval 13"/>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5" name="아이콘:cpu" descr="cpu_13294B_1.6.png"/>
          <p:cNvPicPr>
            <a:picLocks noChangeAspect="1"/>
          </p:cNvPicPr>
          <p:nvPr/>
        </p:nvPicPr>
        <p:blipFill>
          <a:blip r:embed="rId4"/>
          <a:stretch>
            <a:fillRect/>
          </a:stretch>
        </p:blipFill>
        <p:spPr>
          <a:xfrm>
            <a:off x="5786780" y="3330181"/>
            <a:ext cx="618134" cy="618134"/>
          </a:xfrm>
          <a:prstGeom prst="rect">
            <a:avLst/>
          </a:prstGeom>
        </p:spPr>
      </p:pic>
      <p:sp>
        <p:nvSpPr>
          <p:cNvPr id="16" name="TextBox 15"/>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LLM</a:t>
            </a:r>
          </a:p>
          <a:p>
            <a:pPr algn="ctr">
              <a:lnSpc>
                <a:spcPct val="110000"/>
              </a:lnSpc>
              <a:spcAft>
                <a:spcPts val="400"/>
              </a:spcAft>
            </a:pPr>
            <a:r>
              <a:rPr sz="1300" b="0">
                <a:solidFill>
                  <a:srgbClr val="1F2A3A"/>
                </a:solidFill>
                <a:latin typeface="맑은 고딕"/>
                <a:ea typeface="맑은 고딕"/>
                <a:cs typeface="맑은 고딕"/>
              </a:rPr>
              <a:t>학습한 내용으로</a:t>
            </a:r>
          </a:p>
          <a:p>
            <a:pPr algn="ctr">
              <a:lnSpc>
                <a:spcPct val="110000"/>
              </a:lnSpc>
              <a:spcAft>
                <a:spcPts val="400"/>
              </a:spcAft>
            </a:pPr>
            <a:r>
              <a:rPr sz="1300" b="0">
                <a:solidFill>
                  <a:srgbClr val="1F2A3A"/>
                </a:solidFill>
                <a:latin typeface="맑은 고딕"/>
                <a:ea typeface="맑은 고딕"/>
                <a:cs typeface="맑은 고딕"/>
              </a:rPr>
              <a:t>이어질 글을 만든다</a:t>
            </a:r>
          </a:p>
        </p:txBody>
      </p:sp>
      <p:sp>
        <p:nvSpPr>
          <p:cNvPr id="17" name="Oval 16"/>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9484918" y="3330181"/>
            <a:ext cx="618134" cy="618134"/>
          </a:xfrm>
          <a:prstGeom prst="rect">
            <a:avLst/>
          </a:prstGeom>
        </p:spPr>
      </p:pic>
      <p:sp>
        <p:nvSpPr>
          <p:cNvPr id="19" name="TextBox 18"/>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출력</a:t>
            </a:r>
          </a:p>
          <a:p>
            <a:pPr algn="ctr">
              <a:lnSpc>
                <a:spcPct val="110000"/>
              </a:lnSpc>
              <a:spcAft>
                <a:spcPts val="400"/>
              </a:spcAft>
            </a:pPr>
            <a:r>
              <a:rPr sz="1300" b="0">
                <a:solidFill>
                  <a:srgbClr val="1F2A3A"/>
                </a:solidFill>
                <a:latin typeface="맑은 고딕"/>
                <a:ea typeface="맑은 고딕"/>
                <a:cs typeface="맑은 고딕"/>
              </a:rPr>
              <a:t>글로 된 응답 한 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LLM만으로는 답할 수 없는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유온이 지금 몇 도인가」의 답은 시계열 DB에 있고 모델이 학습한 내용 안에는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유온, 냉각 효율, 운전 모드는 매초 바뀐다</a:t>
            </a:r>
          </a:p>
          <a:p>
            <a:pPr algn="l">
              <a:lnSpc>
                <a:spcPct val="110000"/>
              </a:lnSpc>
              <a:spcAft>
                <a:spcPts val="400"/>
              </a:spcAft>
            </a:pPr>
            <a:r>
              <a:rPr sz="1400" b="0">
                <a:solidFill>
                  <a:srgbClr val="1F2A3A"/>
                </a:solidFill>
                <a:latin typeface="맑은 고딕"/>
                <a:ea typeface="맑은 고딕"/>
                <a:cs typeface="맑은 고딕"/>
              </a:rPr>
              <a:t>• 학습이 끝난 뒤에 생긴 값은 모델 안에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book-2" descr="book-2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 공장의 문서</a:t>
            </a:r>
          </a:p>
          <a:p>
            <a:pPr algn="l">
              <a:lnSpc>
                <a:spcPct val="110000"/>
              </a:lnSpc>
              <a:spcAft>
                <a:spcPts val="400"/>
              </a:spcAft>
            </a:pPr>
            <a:r>
              <a:rPr sz="1400" b="0">
                <a:solidFill>
                  <a:srgbClr val="1F2A3A"/>
                </a:solidFill>
                <a:latin typeface="맑은 고딕"/>
                <a:ea typeface="맑은 고딕"/>
                <a:cs typeface="맑은 고딕"/>
              </a:rPr>
              <a:t>• 매뉴얼 HM-8의 판별 기준과 절차는 공개된 글이 아니다</a:t>
            </a:r>
          </a:p>
          <a:p>
            <a:pPr algn="l">
              <a:lnSpc>
                <a:spcPct val="110000"/>
              </a:lnSpc>
              <a:spcAft>
                <a:spcPts val="400"/>
              </a:spcAft>
            </a:pPr>
            <a:r>
              <a:rPr sz="1400" b="0">
                <a:solidFill>
                  <a:srgbClr val="1F2A3A"/>
                </a:solidFill>
                <a:latin typeface="맑은 고딕"/>
                <a:ea typeface="맑은 고딕"/>
                <a:cs typeface="맑은 고딕"/>
              </a:rPr>
              <a:t>• 일반적인 유압 설비 지식으로 대신 답하게 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수행</a:t>
            </a:r>
          </a:p>
          <a:p>
            <a:pPr algn="l">
              <a:lnSpc>
                <a:spcPct val="110000"/>
              </a:lnSpc>
              <a:spcAft>
                <a:spcPts val="400"/>
              </a:spcAft>
            </a:pPr>
            <a:r>
              <a:rPr sz="1400" b="0">
                <a:solidFill>
                  <a:srgbClr val="1F2A3A"/>
                </a:solidFill>
                <a:latin typeface="맑은 고딕"/>
                <a:ea typeface="맑은 고딕"/>
                <a:cs typeface="맑은 고딕"/>
              </a:rPr>
              <a:t>• 조회, 계산, 제출은 글을 만드는 일이 아니다</a:t>
            </a:r>
          </a:p>
          <a:p>
            <a:pPr algn="l">
              <a:lnSpc>
                <a:spcPct val="110000"/>
              </a:lnSpc>
              <a:spcAft>
                <a:spcPts val="400"/>
              </a:spcAft>
            </a:pPr>
            <a:r>
              <a:rPr sz="1400" b="0">
                <a:solidFill>
                  <a:srgbClr val="1F2A3A"/>
                </a:solidFill>
                <a:latin typeface="맑은 고딕"/>
                <a:ea typeface="맑은 고딕"/>
                <a:cs typeface="맑은 고딕"/>
              </a:rPr>
              <a:t>• 모델은 글을 낼 뿐 다른 시스템에 닿지 못한다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행동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RAG: 문서를 찾아 모델에 함께 읽히는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RAG(Retrieval-Augmented Generation)는 질문과 가까운 문서 조각을 찾아 모델에 함께 넣어 그 내용으로 답하게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a:t>
            </a:r>
          </a:p>
          <a:p>
            <a:pPr algn="ctr">
              <a:lnSpc>
                <a:spcPct val="110000"/>
              </a:lnSpc>
              <a:spcAft>
                <a:spcPts val="400"/>
              </a:spcAft>
            </a:pPr>
            <a:r>
              <a:rPr sz="1350" b="0">
                <a:solidFill>
                  <a:srgbClr val="1F2A3A"/>
                </a:solidFill>
                <a:latin typeface="맑은 고딕"/>
                <a:ea typeface="맑은 고딕"/>
                <a:cs typeface="맑은 고딕"/>
              </a:rPr>
              <a:t>사람이 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검색</a:t>
            </a:r>
          </a:p>
          <a:p>
            <a:pPr algn="ctr">
              <a:lnSpc>
                <a:spcPct val="110000"/>
              </a:lnSpc>
              <a:spcAft>
                <a:spcPts val="400"/>
              </a:spcAft>
            </a:pPr>
            <a:r>
              <a:rPr sz="1350" b="0">
                <a:solidFill>
                  <a:srgbClr val="1F2A3A"/>
                </a:solidFill>
                <a:latin typeface="맑은 고딕"/>
                <a:ea typeface="맑은 고딕"/>
                <a:cs typeface="맑은 고딕"/>
              </a:rPr>
              <a:t>질문과 뜻이 가까운</a:t>
            </a:r>
          </a:p>
          <a:p>
            <a:pPr algn="ctr">
              <a:lnSpc>
                <a:spcPct val="110000"/>
              </a:lnSpc>
              <a:spcAft>
                <a:spcPts val="400"/>
              </a:spcAft>
            </a:pPr>
            <a:r>
              <a:rPr sz="1350" b="0">
                <a:solidFill>
                  <a:srgbClr val="1F2A3A"/>
                </a:solidFill>
                <a:latin typeface="맑은 고딕"/>
                <a:ea typeface="맑은 고딕"/>
                <a:cs typeface="맑은 고딕"/>
              </a:rPr>
              <a:t>문서 조각을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보강</a:t>
            </a:r>
          </a:p>
          <a:p>
            <a:pPr algn="ctr">
              <a:lnSpc>
                <a:spcPct val="110000"/>
              </a:lnSpc>
              <a:spcAft>
                <a:spcPts val="400"/>
              </a:spcAft>
            </a:pPr>
            <a:r>
              <a:rPr sz="1350" b="0">
                <a:solidFill>
                  <a:srgbClr val="1F2A3A"/>
                </a:solidFill>
                <a:latin typeface="맑은 고딕"/>
                <a:ea typeface="맑은 고딕"/>
                <a:cs typeface="맑은 고딕"/>
              </a:rPr>
              <a:t>찾은 조각을</a:t>
            </a:r>
          </a:p>
          <a:p>
            <a:pPr algn="ctr">
              <a:lnSpc>
                <a:spcPct val="110000"/>
              </a:lnSpc>
              <a:spcAft>
                <a:spcPts val="400"/>
              </a:spcAft>
            </a:pPr>
            <a:r>
              <a:rPr sz="1350" b="0">
                <a:solidFill>
                  <a:srgbClr val="1F2A3A"/>
                </a:solidFill>
                <a:latin typeface="맑은 고딕"/>
                <a:ea typeface="맑은 고딕"/>
                <a:cs typeface="맑은 고딕"/>
              </a:rPr>
              <a:t>질문과 함께</a:t>
            </a:r>
          </a:p>
          <a:p>
            <a:pPr algn="ctr">
              <a:lnSpc>
                <a:spcPct val="110000"/>
              </a:lnSpc>
              <a:spcAft>
                <a:spcPts val="400"/>
              </a:spcAft>
            </a:pPr>
            <a:r>
              <a:rPr sz="1350" b="0">
                <a:solidFill>
                  <a:srgbClr val="1F2A3A"/>
                </a:solidFill>
                <a:latin typeface="맑은 고딕"/>
                <a:ea typeface="맑은 고딕"/>
                <a:cs typeface="맑은 고딕"/>
              </a:rPr>
              <a:t>모델에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message-2" descr="message-2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생성</a:t>
            </a:r>
          </a:p>
          <a:p>
            <a:pPr algn="ctr">
              <a:lnSpc>
                <a:spcPct val="110000"/>
              </a:lnSpc>
              <a:spcAft>
                <a:spcPts val="400"/>
              </a:spcAft>
            </a:pPr>
            <a:r>
              <a:rPr sz="1350" b="0">
                <a:solidFill>
                  <a:srgbClr val="1F2A3A"/>
                </a:solidFill>
                <a:latin typeface="맑은 고딕"/>
                <a:ea typeface="맑은 고딕"/>
                <a:cs typeface="맑은 고딕"/>
              </a:rPr>
              <a:t>모델이 조각을 읽고</a:t>
            </a:r>
          </a:p>
          <a:p>
            <a:pPr algn="ctr">
              <a:lnSpc>
                <a:spcPct val="110000"/>
              </a:lnSpc>
              <a:spcAft>
                <a:spcPts val="400"/>
              </a:spcAft>
            </a:pPr>
            <a:r>
              <a:rPr sz="1350" b="0">
                <a:solidFill>
                  <a:srgbClr val="1F2A3A"/>
                </a:solidFill>
                <a:latin typeface="맑은 고딕"/>
                <a:ea typeface="맑은 고딕"/>
                <a:cs typeface="맑은 고딕"/>
              </a:rPr>
              <a:t>글로 답한다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목표를 받아 도구를 쓰며 끝까지 수행하는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조회하고 계산하고 제출하는 일까지 맡기려면, 모델이 도구를 부르고 그 결과를 보며 다음 행동을 정하게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a:t>
            </a:r>
          </a:p>
          <a:p>
            <a:pPr algn="l">
              <a:lnSpc>
                <a:spcPct val="110000"/>
              </a:lnSpc>
              <a:spcAft>
                <a:spcPts val="200"/>
              </a:spcAft>
            </a:pPr>
            <a:r>
              <a:rPr sz="1150" b="0">
                <a:solidFill>
                  <a:srgbClr val="556175"/>
                </a:solidFill>
                <a:latin typeface="맑은 고딕"/>
                <a:ea typeface="맑은 고딕"/>
                <a:cs typeface="맑은 고딕"/>
              </a:rPr>
              <a:t>AI Agent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목표를 받아 도구를 골라 부르고, 결과를 보고 다음 행동을 정하는 일을 목표에 이를 때까지 되풀이하는 시스템이다.</a:t>
            </a:r>
          </a:p>
          <a:p>
            <a:pPr algn="l">
              <a:lnSpc>
                <a:spcPct val="110000"/>
              </a:lnSpc>
              <a:spcAft>
                <a:spcPts val="300"/>
              </a:spcAft>
            </a:pPr>
            <a:r>
              <a:rPr sz="1400" b="0">
                <a:solidFill>
                  <a:srgbClr val="1F2A3A"/>
                </a:solidFill>
                <a:latin typeface="맑은 고딕"/>
                <a:ea typeface="맑은 고딕"/>
                <a:cs typeface="맑은 고딕"/>
              </a:rPr>
              <a:t>마지막에 내는 것은 답 문장이 아니라 업무 산출물이다.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모델이 이름과 입력을 적어 부를 수 있도록 정해 둔 기능이다.</a:t>
            </a:r>
          </a:p>
          <a:p>
            <a:pPr algn="l">
              <a:lnSpc>
                <a:spcPct val="110000"/>
              </a:lnSpc>
              <a:spcAft>
                <a:spcPts val="300"/>
              </a:spcAft>
            </a:pPr>
            <a:r>
              <a:rPr sz="1400" b="0">
                <a:solidFill>
                  <a:srgbClr val="1F2A3A"/>
                </a:solidFill>
                <a:latin typeface="맑은 고딕"/>
                <a:ea typeface="맑은 고딕"/>
                <a:cs typeface="맑은 고딕"/>
              </a:rPr>
              <a:t>예: 원인 진단, 생산오더 조회, 판단 제출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쿨러 사건의 에이전트</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냉각 긴급 대응 에이전트가 경보 한 건을 받아 원인을 가리고 추천안을 제출했다.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요청에 대한 세 방식의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 조치를 정하라」를 세 방식에 맡기면 돌아오는 것의 모양이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답의 근거와 하는 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돌아오는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LLM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모델이 학습한 내용</a:t>
            </a:r>
          </a:p>
          <a:p>
            <a:pPr algn="l">
              <a:lnSpc>
                <a:spcPct val="110000"/>
              </a:lnSpc>
            </a:pPr>
            <a:r>
              <a:rPr sz="1400" b="0">
                <a:solidFill>
                  <a:srgbClr val="1F2A3A"/>
                </a:solidFill>
                <a:latin typeface="맑은 고딕"/>
                <a:ea typeface="맑은 고딕"/>
                <a:cs typeface="맑은 고딕"/>
              </a:rPr>
              <a:t>이어질 글을 만든다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유압 설비에 대한</a:t>
            </a:r>
          </a:p>
          <a:p>
            <a:pPr algn="l">
              <a:lnSpc>
                <a:spcPct val="110000"/>
              </a:lnSpc>
            </a:pPr>
            <a:r>
              <a:rPr sz="1250" b="1">
                <a:solidFill>
                  <a:srgbClr val="556175"/>
                </a:solidFill>
                <a:latin typeface="맑은 고딕"/>
                <a:ea typeface="맑은 고딕"/>
                <a:cs typeface="맑은 고딕"/>
              </a:rPr>
              <a:t>일반적인 설명</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찾아온 문서 조각</a:t>
            </a:r>
          </a:p>
          <a:p>
            <a:pPr algn="l">
              <a:lnSpc>
                <a:spcPct val="110000"/>
              </a:lnSpc>
            </a:pPr>
            <a:r>
              <a:rPr sz="1400" b="0">
                <a:solidFill>
                  <a:srgbClr val="1F2A3A"/>
                </a:solidFill>
                <a:latin typeface="맑은 고딕"/>
                <a:ea typeface="맑은 고딕"/>
                <a:cs typeface="맑은 고딕"/>
              </a:rPr>
              <a:t>조각을 읽고 글로 답한다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문서를 인용한 설명</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도구가 돌려준 결과</a:t>
            </a:r>
          </a:p>
          <a:p>
            <a:pPr algn="l">
              <a:lnSpc>
                <a:spcPct val="110000"/>
              </a:lnSpc>
            </a:pPr>
            <a:r>
              <a:rPr sz="1400" b="0">
                <a:solidFill>
                  <a:srgbClr val="1F2A3A"/>
                </a:solidFill>
                <a:latin typeface="맑은 고딕"/>
                <a:ea typeface="맑은 고딕"/>
                <a:cs typeface="맑은 고딕"/>
              </a:rPr>
              <a:t>값을 읽어 원인을 가리고 조치 후보 넷을 견주어 제출한다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이 설비의 값으로</a:t>
            </a:r>
          </a:p>
          <a:p>
            <a:pPr algn="l">
              <a:lnSpc>
                <a:spcPct val="110000"/>
              </a:lnSpc>
            </a:pPr>
            <a:r>
              <a:rPr sz="1250" b="1">
                <a:solidFill>
                  <a:srgbClr val="1A6FC4"/>
                </a:solidFill>
                <a:latin typeface="맑은 고딕"/>
                <a:ea typeface="맑은 고딕"/>
                <a:cs typeface="맑은 고딕"/>
              </a:rPr>
              <a:t>만든 추천안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세 요소: 모델, 도구, 실행 고리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모델은 앞에서 본 LLM 그대로이며, 여기에 부를 수 있는 도구와 되풀이하는 실행 고리가 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세요소.svg" descr="illust_1505268244361238395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모델</a:t>
            </a:r>
          </a:p>
          <a:p>
            <a:pPr algn="ctr">
              <a:lnSpc>
                <a:spcPct val="110000"/>
              </a:lnSpc>
              <a:spcAft>
                <a:spcPts val="100"/>
              </a:spcAft>
            </a:pPr>
            <a:r>
              <a:rPr sz="1300" b="0">
                <a:solidFill>
                  <a:srgbClr val="556175"/>
                </a:solidFill>
                <a:latin typeface="맑은 고딕"/>
                <a:ea typeface="맑은 고딕"/>
                <a:cs typeface="맑은 고딕"/>
              </a:rPr>
              <a:t>글을 읽고</a:t>
            </a:r>
          </a:p>
          <a:p>
            <a:pPr algn="ctr">
              <a:lnSpc>
                <a:spcPct val="110000"/>
              </a:lnSpc>
              <a:spcAft>
                <a:spcPts val="100"/>
              </a:spcAft>
            </a:pPr>
            <a:r>
              <a:rPr sz="1300" b="0">
                <a:solidFill>
                  <a:srgbClr val="556175"/>
                </a:solidFill>
                <a:latin typeface="맑은 고딕"/>
                <a:ea typeface="맑은 고딕"/>
                <a:cs typeface="맑은 고딕"/>
              </a:rPr>
              <a:t>다음 행동을 정한다</a:t>
            </a:r>
          </a:p>
        </p:txBody>
      </p:sp>
      <p:sp>
        <p:nvSpPr>
          <p:cNvPr id="8" name="TextBox 7"/>
          <p:cNvSpPr txBox="1"/>
          <p:nvPr/>
        </p:nvSpPr>
        <p:spPr>
          <a:xfrm>
            <a:off x="3848491"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조회하고 계산해</a:t>
            </a:r>
          </a:p>
          <a:p>
            <a:pPr algn="ctr">
              <a:lnSpc>
                <a:spcPct val="110000"/>
              </a:lnSpc>
              <a:spcAft>
                <a:spcPts val="100"/>
              </a:spcAft>
            </a:pPr>
            <a:r>
              <a:rPr sz="1300" b="0">
                <a:solidFill>
                  <a:srgbClr val="556175"/>
                </a:solidFill>
                <a:latin typeface="맑은 고딕"/>
                <a:ea typeface="맑은 고딕"/>
                <a:cs typeface="맑은 고딕"/>
              </a:rPr>
              <a:t>결과를 돌려준다</a:t>
            </a:r>
          </a:p>
        </p:txBody>
      </p:sp>
      <p:sp>
        <p:nvSpPr>
          <p:cNvPr id="9" name="TextBox 8"/>
          <p:cNvSpPr txBox="1"/>
          <p:nvPr/>
        </p:nvSpPr>
        <p:spPr>
          <a:xfrm>
            <a:off x="6619503" y="4653198"/>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고리</a:t>
            </a:r>
          </a:p>
          <a:p>
            <a:pPr algn="ctr">
              <a:lnSpc>
                <a:spcPct val="110000"/>
              </a:lnSpc>
              <a:spcAft>
                <a:spcPts val="100"/>
              </a:spcAft>
            </a:pPr>
            <a:r>
              <a:rPr sz="1300" b="0">
                <a:solidFill>
                  <a:srgbClr val="556175"/>
                </a:solidFill>
                <a:latin typeface="맑은 고딕"/>
                <a:ea typeface="맑은 고딕"/>
                <a:cs typeface="맑은 고딕"/>
              </a:rPr>
              <a:t>목표에 이를 때까지</a:t>
            </a:r>
          </a:p>
          <a:p>
            <a:pPr algn="ctr">
              <a:lnSpc>
                <a:spcPct val="110000"/>
              </a:lnSpc>
              <a:spcAft>
                <a:spcPts val="100"/>
              </a:spcAft>
            </a:pPr>
            <a:r>
              <a:rPr sz="1300" b="0">
                <a:solidFill>
                  <a:srgbClr val="556175"/>
                </a:solidFill>
                <a:latin typeface="맑은 고딕"/>
                <a:ea typeface="맑은 고딕"/>
                <a:cs typeface="맑은 고딕"/>
              </a:rPr>
              <a:t>되풀이한다</a:t>
            </a:r>
          </a:p>
        </p:txBody>
      </p:sp>
      <p:sp>
        <p:nvSpPr>
          <p:cNvPr id="10" name="TextBox 9"/>
          <p:cNvSpPr txBox="1"/>
          <p:nvPr/>
        </p:nvSpPr>
        <p:spPr>
          <a:xfrm>
            <a:off x="9499610" y="465319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하나를 정의하는 항목: 목표, 도구,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모델이라도 목표와 붙여 준 도구와 업무 지침이 다르면 서로 다른 일을 하는 에이전트가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항목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냉각 긴급 대응 에이전트의 값</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정하는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누구인가</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목표</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요지: 쿨러 성능 저하 경보의 원인을 진단하고, 냉각 조치 후보를 규정과 회사 목표로 견주어 추천 하나와 뒤진 대안을 올린다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이루는가</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조회(neo4j), 업무 DB 조회(enterprise), 판단 도구(hyd-dmn)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쓸 수 있는가</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업무 지침</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 cooling-emergency-response</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어떤 순서로 하는가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한 건: 모델이 적는 것과 도구가 돌려주는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부를 도구의 이름과 입력을 글로 적어 낼 뿐이고, 실제 조회는 도구가 수행해 결과를 돌려준다.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(218 ms)</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받음</a:t>
            </a:r>
          </a:p>
          <a:p>
            <a:pPr algn="l">
              <a:lnSpc>
                <a:spcPct val="110000"/>
              </a:lnSpc>
              <a:spcAft>
                <a:spcPts val="200"/>
              </a:spcAft>
            </a:pP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도구의 이름</a:t>
            </a:r>
          </a:p>
          <a:p>
            <a:pPr algn="l">
              <a:lnSpc>
                <a:spcPct val="110000"/>
              </a:lnSpc>
              <a:spcAft>
                <a:spcPts val="400"/>
              </a:spcAft>
            </a:pPr>
            <a:r>
              <a:rPr sz="1400" b="0">
                <a:solidFill>
                  <a:srgbClr val="1F2A3A"/>
                </a:solidFill>
                <a:latin typeface="맑은 고딕"/>
                <a:ea typeface="맑은 고딕"/>
                <a:cs typeface="맑은 고딕"/>
              </a:rPr>
              <a:t>원인 진단. 무엇을 하는 기능인지가 정해져 있다.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물음</a:t>
            </a:r>
          </a:p>
          <a:p>
            <a:pPr algn="l">
              <a:lnSpc>
                <a:spcPct val="110000"/>
              </a:lnSpc>
              <a:spcAft>
                <a:spcPts val="400"/>
              </a:spcAft>
            </a:pPr>
            <a:r>
              <a:rPr sz="1400" b="0">
                <a:solidFill>
                  <a:srgbClr val="1F2A3A"/>
                </a:solidFill>
                <a:latin typeface="맑은 고딕"/>
                <a:ea typeface="맑은 고딕"/>
                <a:cs typeface="맑은 고딕"/>
              </a:rPr>
              <a:t>모델이 적은 입력이다. 설비, 경보의 종류, 경보 번호를 넣었다.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받음</a:t>
            </a:r>
          </a:p>
          <a:p>
            <a:pPr algn="l">
              <a:lnSpc>
                <a:spcPct val="110000"/>
              </a:lnSpc>
              <a:spcAft>
                <a:spcPts val="400"/>
              </a:spcAft>
            </a:pPr>
            <a:r>
              <a:rPr sz="1400" b="0">
                <a:solidFill>
                  <a:srgbClr val="1F2A3A"/>
                </a:solidFill>
                <a:latin typeface="맑은 고딕"/>
                <a:ea typeface="맑은 고딕"/>
                <a:cs typeface="맑은 고딕"/>
              </a:rPr>
              <a:t>도구가 지식 그래프와 시계열 DB를 읽어 돌려준 결과이다.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걸린 시간</a:t>
            </a:r>
          </a:p>
          <a:p>
            <a:pPr algn="l">
              <a:lnSpc>
                <a:spcPct val="110000"/>
              </a:lnSpc>
              <a:spcAft>
                <a:spcPts val="400"/>
              </a:spcAft>
            </a:pPr>
            <a:r>
              <a:rPr sz="1400" b="0">
                <a:solidFill>
                  <a:srgbClr val="1F2A3A"/>
                </a:solidFill>
                <a:latin typeface="맑은 고딕"/>
                <a:ea typeface="맑은 고딕"/>
                <a:cs typeface="맑은 고딕"/>
              </a:rPr>
              <a:t>이 호출 한 번에 218 ms가 걸렸다.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고리: 요청 해석에서 종료까지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고리는 요청 해석, 계획, 도구 선택과 호출, 결과 관찰을 차례로 밟고, 목표에 못 미치면 계획으로 되돌아간다.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실행고리.svg" descr="illust_3213244933606313500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요청 해석</a:t>
            </a:r>
          </a:p>
          <a:p>
            <a:pPr algn="ctr">
              <a:lnSpc>
                <a:spcPct val="110000"/>
              </a:lnSpc>
              <a:spcAft>
                <a:spcPts val="100"/>
              </a:spcAft>
            </a:pPr>
            <a:r>
              <a:rPr sz="1300" b="0">
                <a:solidFill>
                  <a:srgbClr val="556175"/>
                </a:solidFill>
                <a:latin typeface="맑은 고딕"/>
                <a:ea typeface="맑은 고딕"/>
                <a:cs typeface="맑은 고딕"/>
              </a:rPr>
              <a:t>무엇을 받았고</a:t>
            </a:r>
          </a:p>
          <a:p>
            <a:pPr algn="ctr">
              <a:lnSpc>
                <a:spcPct val="110000"/>
              </a:lnSpc>
              <a:spcAft>
                <a:spcPts val="100"/>
              </a:spcAft>
            </a:pPr>
            <a:r>
              <a:rPr sz="1300" b="0">
                <a:solidFill>
                  <a:srgbClr val="556175"/>
                </a:solidFill>
                <a:latin typeface="맑은 고딕"/>
                <a:ea typeface="맑은 고딕"/>
                <a:cs typeface="맑은 고딕"/>
              </a:rPr>
              <a:t>무엇을 내야 하는가</a:t>
            </a:r>
          </a:p>
        </p:txBody>
      </p:sp>
      <p:sp>
        <p:nvSpPr>
          <p:cNvPr id="8" name="TextBox 7"/>
          <p:cNvSpPr txBox="1"/>
          <p:nvPr/>
        </p:nvSpPr>
        <p:spPr>
          <a:xfrm>
            <a:off x="317210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계획</a:t>
            </a:r>
          </a:p>
          <a:p>
            <a:pPr algn="ctr">
              <a:lnSpc>
                <a:spcPct val="110000"/>
              </a:lnSpc>
              <a:spcAft>
                <a:spcPts val="100"/>
              </a:spcAft>
            </a:pPr>
            <a:r>
              <a:rPr sz="1300" b="0">
                <a:solidFill>
                  <a:srgbClr val="556175"/>
                </a:solidFill>
                <a:latin typeface="맑은 고딕"/>
                <a:ea typeface="맑은 고딕"/>
                <a:cs typeface="맑은 고딕"/>
              </a:rPr>
              <a:t>어떤 순서로</a:t>
            </a:r>
          </a:p>
          <a:p>
            <a:pPr algn="ctr">
              <a:lnSpc>
                <a:spcPct val="110000"/>
              </a:lnSpc>
              <a:spcAft>
                <a:spcPts val="100"/>
              </a:spcAft>
            </a:pPr>
            <a:r>
              <a:rPr sz="1300" b="0">
                <a:solidFill>
                  <a:srgbClr val="556175"/>
                </a:solidFill>
                <a:latin typeface="맑은 고딕"/>
                <a:ea typeface="맑은 고딕"/>
                <a:cs typeface="맑은 고딕"/>
              </a:rPr>
              <a:t>할 것인가</a:t>
            </a:r>
          </a:p>
        </p:txBody>
      </p:sp>
      <p:sp>
        <p:nvSpPr>
          <p:cNvPr id="9" name="TextBox 8"/>
          <p:cNvSpPr txBox="1"/>
          <p:nvPr/>
        </p:nvSpPr>
        <p:spPr>
          <a:xfrm>
            <a:off x="5201269" y="4842296"/>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도구 선택 · 호출</a:t>
            </a:r>
          </a:p>
          <a:p>
            <a:pPr algn="ctr">
              <a:lnSpc>
                <a:spcPct val="110000"/>
              </a:lnSpc>
              <a:spcAft>
                <a:spcPts val="100"/>
              </a:spcAft>
            </a:pPr>
            <a:r>
              <a:rPr sz="1300" b="0">
                <a:solidFill>
                  <a:srgbClr val="556175"/>
                </a:solidFill>
                <a:latin typeface="맑은 고딕"/>
                <a:ea typeface="맑은 고딕"/>
                <a:cs typeface="맑은 고딕"/>
              </a:rPr>
              <a:t>어느 도구에</a:t>
            </a:r>
          </a:p>
          <a:p>
            <a:pPr algn="ctr">
              <a:lnSpc>
                <a:spcPct val="110000"/>
              </a:lnSpc>
              <a:spcAft>
                <a:spcPts val="100"/>
              </a:spcAft>
            </a:pPr>
            <a:r>
              <a:rPr sz="1300" b="0">
                <a:solidFill>
                  <a:srgbClr val="556175"/>
                </a:solidFill>
                <a:latin typeface="맑은 고딕"/>
                <a:ea typeface="맑은 고딕"/>
                <a:cs typeface="맑은 고딕"/>
              </a:rPr>
              <a:t>무엇을 물을 것인가</a:t>
            </a:r>
          </a:p>
        </p:txBody>
      </p:sp>
      <p:sp>
        <p:nvSpPr>
          <p:cNvPr id="10" name="TextBox 9"/>
          <p:cNvSpPr txBox="1"/>
          <p:nvPr/>
        </p:nvSpPr>
        <p:spPr>
          <a:xfrm>
            <a:off x="735043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a:p>
            <a:pPr algn="ctr">
              <a:lnSpc>
                <a:spcPct val="110000"/>
              </a:lnSpc>
              <a:spcAft>
                <a:spcPts val="100"/>
              </a:spcAft>
            </a:pPr>
            <a:r>
              <a:rPr sz="1300" b="0">
                <a:solidFill>
                  <a:srgbClr val="556175"/>
                </a:solidFill>
                <a:latin typeface="맑은 고딕"/>
                <a:ea typeface="맑은 고딕"/>
                <a:cs typeface="맑은 고딕"/>
              </a:rPr>
              <a:t>받은 결과로</a:t>
            </a:r>
          </a:p>
          <a:p>
            <a:pPr algn="ctr">
              <a:lnSpc>
                <a:spcPct val="110000"/>
              </a:lnSpc>
              <a:spcAft>
                <a:spcPts val="100"/>
              </a:spcAft>
            </a:pPr>
            <a:r>
              <a:rPr sz="1300" b="0">
                <a:solidFill>
                  <a:srgbClr val="556175"/>
                </a:solidFill>
                <a:latin typeface="맑은 고딕"/>
                <a:ea typeface="맑은 고딕"/>
                <a:cs typeface="맑은 고딕"/>
              </a:rPr>
              <a:t>목표에 이르렀는가</a:t>
            </a:r>
          </a:p>
        </p:txBody>
      </p:sp>
      <p:sp>
        <p:nvSpPr>
          <p:cNvPr id="11" name="TextBox 10"/>
          <p:cNvSpPr txBox="1"/>
          <p:nvPr/>
        </p:nvSpPr>
        <p:spPr>
          <a:xfrm>
            <a:off x="944506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a:t>
            </a:r>
          </a:p>
          <a:p>
            <a:pPr algn="ctr">
              <a:lnSpc>
                <a:spcPct val="110000"/>
              </a:lnSpc>
              <a:spcAft>
                <a:spcPts val="100"/>
              </a:spcAft>
            </a:pPr>
            <a:r>
              <a:rPr sz="1300" b="0">
                <a:solidFill>
                  <a:srgbClr val="556175"/>
                </a:solidFill>
                <a:latin typeface="맑은 고딕"/>
                <a:ea typeface="맑은 고딕"/>
                <a:cs typeface="맑은 고딕"/>
              </a:rPr>
              <a:t>산출물을 제출하고</a:t>
            </a:r>
          </a:p>
          <a:p>
            <a:pPr algn="ctr">
              <a:lnSpc>
                <a:spcPct val="110000"/>
              </a:lnSpc>
              <a:spcAft>
                <a:spcPts val="100"/>
              </a:spcAft>
            </a:pPr>
            <a:r>
              <a:rPr sz="1300" b="0">
                <a:solidFill>
                  <a:srgbClr val="556175"/>
                </a:solidFill>
                <a:latin typeface="맑은 고딕"/>
                <a:ea typeface="맑은 고딕"/>
                <a:cs typeface="맑은 고딕"/>
              </a:rPr>
              <a:t>끝낸다</a:t>
            </a:r>
          </a:p>
        </p:txBody>
      </p:sp>
      <p:sp>
        <p:nvSpPr>
          <p:cNvPr id="12" name="TextBox 11"/>
          <p:cNvSpPr txBox="1"/>
          <p:nvPr/>
        </p:nvSpPr>
        <p:spPr>
          <a:xfrm>
            <a:off x="4001224" y="1911278"/>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재시도와 다음 호출</a:t>
            </a:r>
          </a:p>
          <a:p>
            <a:pPr algn="ctr">
              <a:lnSpc>
                <a:spcPct val="110000"/>
              </a:lnSpc>
              <a:spcAft>
                <a:spcPts val="100"/>
              </a:spcAft>
            </a:pPr>
            <a:r>
              <a:rPr sz="1300" b="0">
                <a:solidFill>
                  <a:srgbClr val="556175"/>
                </a:solidFill>
                <a:latin typeface="맑은 고딕"/>
                <a:ea typeface="맑은 고딕"/>
                <a:cs typeface="맑은 고딕"/>
              </a:rPr>
              <a:t>목표에 못 미쳤으면 계획을 고쳐 다시 부른다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관찰한 결과가 다음 호출의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진단이 돌려준 원인과 고장 유형의 식별자가 대안 평가의 물음에 그대로 들어가, 관찰이 다음 행동을 정했다.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cause:cooler-fin-fouling</a:t>
            </a:r>
          </a:p>
          <a:p>
            <a:pPr algn="l">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fm:cooler-performance-loss</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11:13:23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(807 ms)</a:t>
            </a: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관찰</a:t>
            </a:r>
          </a:p>
          <a:p>
            <a:pPr algn="l">
              <a:lnSpc>
                <a:spcPct val="110000"/>
              </a:lnSpc>
              <a:spcAft>
                <a:spcPts val="400"/>
              </a:spcAft>
            </a:pPr>
            <a:r>
              <a:rPr sz="1400" b="0">
                <a:solidFill>
                  <a:srgbClr val="1F2A3A"/>
                </a:solidFill>
                <a:latin typeface="맑은 고딕"/>
                <a:ea typeface="맑은 고딕"/>
                <a:cs typeface="맑은 고딕"/>
              </a:rPr>
              <a:t>진단의 결과에서 원인 1순위와 고장 유형을 읽었다.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 호출의 입력</a:t>
            </a:r>
          </a:p>
          <a:p>
            <a:pPr algn="l">
              <a:lnSpc>
                <a:spcPct val="110000"/>
              </a:lnSpc>
              <a:spcAft>
                <a:spcPts val="400"/>
              </a:spcAft>
            </a:pPr>
            <a:r>
              <a:rPr sz="1400" b="0">
                <a:solidFill>
                  <a:srgbClr val="1F2A3A"/>
                </a:solidFill>
                <a:latin typeface="맑은 고딕"/>
                <a:ea typeface="맑은 고딕"/>
                <a:cs typeface="맑은 고딕"/>
              </a:rPr>
              <a:t>읽은 두 식별자가 대안 평가의 물음에 들어갔다.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a:t>
            </a:r>
          </a:p>
          <a:p>
            <a:pPr algn="l">
              <a:lnSpc>
                <a:spcPct val="110000"/>
              </a:lnSpc>
              <a:spcAft>
                <a:spcPts val="400"/>
              </a:spcAft>
            </a:pPr>
            <a:r>
              <a:rPr sz="1400" b="0">
                <a:solidFill>
                  <a:srgbClr val="1F2A3A"/>
                </a:solidFill>
                <a:latin typeface="맑은 고딕"/>
                <a:ea typeface="맑은 고딕"/>
                <a:cs typeface="맑은 고딕"/>
              </a:rPr>
              <a:t>cause: 는 원인을, fm: 은 고장 유형을 가리킨다.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종료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단계는 답 문장이 아니라 추천안의 제출로 끝났고, 돌려받은 판단 번호가 뒤의 단계로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11:13:53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a:t>
            </a:r>
            <a:r>
              <a:rPr sz="1300" b="0">
                <a:solidFill>
                  <a:srgbClr val="E8EEF6"/>
                </a:solidFill>
                <a:latin typeface="Consolas"/>
                <a:ea typeface="맑은 고딕"/>
                <a:cs typeface="맑은 고딕"/>
              </a:rPr>
              <a:t>  (494 ms)</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DEC-1010-002-408b</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11:14:38  </a:t>
            </a:r>
            <a:r>
              <a:rPr sz="1300" b="0">
                <a:solidFill>
                  <a:srgbClr val="E8EEF6"/>
                </a:solidFill>
                <a:latin typeface="맑은 고딕"/>
                <a:ea typeface="맑은 고딕"/>
                <a:cs typeface="맑은 고딕"/>
              </a:rPr>
              <a:t>제출이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끝났습니다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스크립트로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작성합니다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11:14:42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시작부터</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34</a:t>
            </a:r>
            <a:r>
              <a:rPr sz="1300" b="0">
                <a:solidFill>
                  <a:srgbClr val="E8EEF6"/>
                </a:solidFill>
                <a:latin typeface="맑은 고딕"/>
                <a:ea typeface="맑은 고딕"/>
                <a:cs typeface="맑은 고딕"/>
              </a:rPr>
              <a:t>초</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판단 제출</a:t>
            </a:r>
          </a:p>
          <a:p>
            <a:pPr algn="l">
              <a:lnSpc>
                <a:spcPct val="110000"/>
              </a:lnSpc>
              <a:spcAft>
                <a:spcPts val="400"/>
              </a:spcAft>
            </a:pPr>
            <a:r>
              <a:rPr sz="1400" b="0">
                <a:solidFill>
                  <a:srgbClr val="1F2A3A"/>
                </a:solidFill>
                <a:latin typeface="맑은 고딕"/>
                <a:ea typeface="맑은 고딕"/>
                <a:cs typeface="맑은 고딕"/>
              </a:rPr>
              <a:t>추천안을 제출하는 도구 호출이다. 판단 번호가 돌아왔다.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판단 번호</a:t>
            </a:r>
          </a:p>
          <a:p>
            <a:pPr algn="l">
              <a:lnSpc>
                <a:spcPct val="110000"/>
              </a:lnSpc>
              <a:spcAft>
                <a:spcPts val="400"/>
              </a:spcAft>
            </a:pPr>
            <a:r>
              <a:rPr sz="1400" b="0">
                <a:solidFill>
                  <a:srgbClr val="1F2A3A"/>
                </a:solidFill>
                <a:latin typeface="맑은 고딕"/>
                <a:ea typeface="맑은 고딕"/>
                <a:cs typeface="맑은 고딕"/>
              </a:rPr>
              <a:t>DEC-1010-002-408b. 뒤에 만들어진 작업지시에도 이 번호가 기록된다.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 끝</a:t>
            </a:r>
          </a:p>
          <a:p>
            <a:pPr algn="l">
              <a:lnSpc>
                <a:spcPct val="110000"/>
              </a:lnSpc>
              <a:spcAft>
                <a:spcPts val="400"/>
              </a:spcAft>
            </a:pPr>
            <a:r>
              <a:rPr sz="1400" b="0">
                <a:solidFill>
                  <a:srgbClr val="1F2A3A"/>
                </a:solidFill>
                <a:latin typeface="맑은 고딕"/>
                <a:ea typeface="맑은 고딕"/>
                <a:cs typeface="맑은 고딕"/>
              </a:rPr>
              <a:t>정해진 형식의 결과를 남기고 1분 34초 만에 끝났다.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구조화 출력: 추천안의 다섯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원인, 고장 유형, 진단 안내, 판단, 판단 번호를 담은 JSON(JavaScript Object Notation) 객체로 제출된다.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"decision_id": "DEC-1010-002-408b"</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원인과 고장 유형을 지식 그래프의 식별자로 적는다.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guide_card</a:t>
            </a:r>
          </a:p>
          <a:p>
            <a:pPr algn="l">
              <a:lnSpc>
                <a:spcPct val="110000"/>
              </a:lnSpc>
              <a:spcAft>
                <a:spcPts val="400"/>
              </a:spcAft>
            </a:pPr>
            <a:r>
              <a:rPr sz="1400" b="0">
                <a:solidFill>
                  <a:srgbClr val="1F2A3A"/>
                </a:solidFill>
                <a:latin typeface="맑은 고딕"/>
                <a:ea typeface="맑은 고딕"/>
                <a:cs typeface="맑은 고딕"/>
              </a:rPr>
              <a:t>진단의 결과와 권장 조치를 담은 안내이다.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추천하는 조치, 그 이유의 설명, 후보의 순서이다.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제출하고 돌려받은 판단 번호이다.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 한 건에 들어간 정보의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한 건에는 원인의 관계, 지금의 측정값, 납기, 작업 절차처럼 서로 다른 곳에서 읽어 온 정보가 함께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정보원.svg" descr="illust_7330296551274853820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후보 셋</a:t>
            </a:r>
          </a:p>
        </p:txBody>
      </p:sp>
      <p:sp>
        <p:nvSpPr>
          <p:cNvPr id="8" name="TextBox 7"/>
          <p:cNvSpPr txBox="1"/>
          <p:nvPr/>
        </p:nvSpPr>
        <p:spPr>
          <a:xfrm>
            <a:off x="706557" y="536231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a:t>
            </a:r>
          </a:p>
          <a:p>
            <a:pPr algn="ctr">
              <a:lnSpc>
                <a:spcPct val="110000"/>
              </a:lnSpc>
              <a:spcAft>
                <a:spcPts val="100"/>
              </a:spcAft>
            </a:pPr>
            <a:r>
              <a:rPr sz="1300" b="0">
                <a:solidFill>
                  <a:srgbClr val="556175"/>
                </a:solidFill>
                <a:latin typeface="맑은 고딕"/>
                <a:ea typeface="맑은 고딕"/>
                <a:cs typeface="맑은 고딕"/>
              </a:rPr>
              <a:t>팬 최대 운전의 단계와 출처</a:t>
            </a:r>
          </a:p>
        </p:txBody>
      </p:sp>
      <p:sp>
        <p:nvSpPr>
          <p:cNvPr id="9" name="TextBox 8"/>
          <p:cNvSpPr txBox="1"/>
          <p:nvPr/>
        </p:nvSpPr>
        <p:spPr>
          <a:xfrm>
            <a:off x="8648669"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0" name="TextBox 9"/>
          <p:cNvSpPr txBox="1"/>
          <p:nvPr/>
        </p:nvSpPr>
        <p:spPr>
          <a:xfrm>
            <a:off x="8648669"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납기까지 5.98시간</a:t>
            </a:r>
          </a:p>
        </p:txBody>
      </p:sp>
      <p:sp>
        <p:nvSpPr>
          <p:cNvPr id="11" name="TextBox 10"/>
          <p:cNvSpPr txBox="1"/>
          <p:nvPr/>
        </p:nvSpPr>
        <p:spPr>
          <a:xfrm>
            <a:off x="4895803" y="4416826"/>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도구를 불러 읽는다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그래프에서 읽는 것: 원인 후보와 조치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온톨로지의 관계와 SOP는 같은 지식 그래프에 있어, 고장 유형에서 관계를 따라가면 원인 후보와 조치 방법에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92292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04453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오염</a:t>
            </a:r>
          </a:p>
          <a:p>
            <a:pPr algn="ctr">
              <a:lnSpc>
                <a:spcPct val="110000"/>
              </a:lnSpc>
            </a:pPr>
            <a:r>
              <a:rPr sz="1100" b="0">
                <a:solidFill>
                  <a:srgbClr val="556175"/>
                </a:solidFill>
                <a:latin typeface="맑은 고딕"/>
                <a:ea typeface="맑은 고딕"/>
                <a:cs typeface="맑은 고딕"/>
              </a:rPr>
              <a:t>원인</a:t>
            </a:r>
          </a:p>
        </p:txBody>
      </p:sp>
      <p:sp>
        <p:nvSpPr>
          <p:cNvPr id="8" name="Oval 7"/>
          <p:cNvSpPr/>
          <p:nvPr/>
        </p:nvSpPr>
        <p:spPr>
          <a:xfrm>
            <a:off x="429146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41307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구동 불량</a:t>
            </a:r>
          </a:p>
          <a:p>
            <a:pPr algn="ctr">
              <a:lnSpc>
                <a:spcPct val="110000"/>
              </a:lnSpc>
            </a:pPr>
            <a:r>
              <a:rPr sz="1100" b="0">
                <a:solidFill>
                  <a:srgbClr val="556175"/>
                </a:solidFill>
                <a:latin typeface="맑은 고딕"/>
                <a:ea typeface="맑은 고딕"/>
                <a:cs typeface="맑은 고딕"/>
              </a:rPr>
              <a:t>원인</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주변 온도 상승</a:t>
            </a:r>
          </a:p>
          <a:p>
            <a:pPr algn="ctr">
              <a:lnSpc>
                <a:spcPct val="110000"/>
              </a:lnSpc>
            </a:pPr>
            <a:r>
              <a:rPr sz="1100" b="0">
                <a:solidFill>
                  <a:srgbClr val="556175"/>
                </a:solidFill>
                <a:latin typeface="맑은 고딕"/>
                <a:ea typeface="맑은 고딕"/>
                <a:cs typeface="맑은 고딕"/>
              </a:rPr>
              <a:t>원인</a:t>
            </a:r>
          </a:p>
        </p:txBody>
      </p:sp>
      <p:sp>
        <p:nvSpPr>
          <p:cNvPr id="12" name="Oval 11"/>
          <p:cNvSpPr/>
          <p:nvPr/>
        </p:nvSpPr>
        <p:spPr>
          <a:xfrm>
            <a:off x="4291462"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4413077"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성능 상실</a:t>
            </a:r>
          </a:p>
          <a:p>
            <a:pPr algn="ctr">
              <a:lnSpc>
                <a:spcPct val="110000"/>
              </a:lnSpc>
            </a:pPr>
            <a:r>
              <a:rPr sz="1100" b="0">
                <a:solidFill>
                  <a:srgbClr val="556175"/>
                </a:solidFill>
                <a:latin typeface="맑은 고딕"/>
                <a:ea typeface="맑은 고딕"/>
                <a:cs typeface="맑은 고딕"/>
              </a:rPr>
              <a:t>고장 유형</a:t>
            </a:r>
          </a:p>
        </p:txBody>
      </p:sp>
      <p:sp>
        <p:nvSpPr>
          <p:cNvPr id="14" name="Oval 13"/>
          <p:cNvSpPr/>
          <p:nvPr/>
        </p:nvSpPr>
        <p:spPr>
          <a:xfrm>
            <a:off x="9531412"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65302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SOP-COOL-11</a:t>
            </a:r>
          </a:p>
        </p:txBody>
      </p:sp>
      <p:cxnSp>
        <p:nvCxnSpPr>
          <p:cNvPr id="16" name="Connector 15"/>
          <p:cNvCxnSpPr/>
          <p:nvPr/>
        </p:nvCxnSpPr>
        <p:spPr>
          <a:xfrm>
            <a:off x="2475453" y="3103333"/>
            <a:ext cx="1980322" cy="1757835"/>
          </a:xfrm>
          <a:prstGeom prst="line">
            <a:avLst/>
          </a:prstGeom>
          <a:ln w="28575">
            <a:solidFill>
              <a:srgbClr val="13294B"/>
            </a:solidFill>
            <a:tailEnd type="triangle" w="med" len="med"/>
          </a:ln>
        </p:spPr>
      </p:cxnSp>
      <p:sp>
        <p:nvSpPr>
          <p:cNvPr id="17" name="Rounded Rectangle 16"/>
          <p:cNvSpPr/>
          <p:nvPr/>
        </p:nvSpPr>
        <p:spPr>
          <a:xfrm>
            <a:off x="3007903"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3007903" y="3616490"/>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a:off x="5160142" y="3410712"/>
            <a:ext cx="0" cy="1133856"/>
          </a:xfrm>
          <a:prstGeom prst="line">
            <a:avLst/>
          </a:prstGeom>
          <a:ln w="28575">
            <a:solidFill>
              <a:srgbClr val="13294B"/>
            </a:solidFill>
            <a:tailEnd type="triangle" w="med" len="med"/>
          </a:ln>
        </p:spPr>
      </p:cxnSp>
      <p:sp>
        <p:nvSpPr>
          <p:cNvPr id="20" name="Rounded Rectangle 19"/>
          <p:cNvSpPr/>
          <p:nvPr/>
        </p:nvSpPr>
        <p:spPr>
          <a:xfrm>
            <a:off x="5251582" y="3831335"/>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251582" y="3831335"/>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22" name="Connector 21"/>
          <p:cNvCxnSpPr/>
          <p:nvPr/>
        </p:nvCxnSpPr>
        <p:spPr>
          <a:xfrm flipH="1">
            <a:off x="5864508" y="3103333"/>
            <a:ext cx="1980322" cy="1757835"/>
          </a:xfrm>
          <a:prstGeom prst="line">
            <a:avLst/>
          </a:prstGeom>
          <a:ln w="28575">
            <a:solidFill>
              <a:srgbClr val="13294B"/>
            </a:solidFill>
            <a:tailEnd type="triangle" w="med" len="med"/>
          </a:ln>
        </p:spPr>
      </p:cxnSp>
      <p:sp>
        <p:nvSpPr>
          <p:cNvPr id="23" name="Rounded Rectangle 22"/>
          <p:cNvSpPr/>
          <p:nvPr/>
        </p:nvSpPr>
        <p:spPr>
          <a:xfrm>
            <a:off x="6396959"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396959" y="3616490"/>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25" name="Connector 24"/>
          <p:cNvCxnSpPr/>
          <p:nvPr/>
        </p:nvCxnSpPr>
        <p:spPr>
          <a:xfrm>
            <a:off x="6074542" y="5486400"/>
            <a:ext cx="3383718" cy="0"/>
          </a:xfrm>
          <a:prstGeom prst="line">
            <a:avLst/>
          </a:prstGeom>
          <a:ln w="28575">
            <a:solidFill>
              <a:srgbClr val="13294B"/>
            </a:solidFill>
            <a:tailEnd type="triangle" w="med" len="med"/>
          </a:ln>
        </p:spPr>
      </p:cxnSp>
      <p:sp>
        <p:nvSpPr>
          <p:cNvPr id="26" name="Rounded Rectangle 25"/>
          <p:cNvSpPr/>
          <p:nvPr/>
        </p:nvSpPr>
        <p:spPr>
          <a:xfrm>
            <a:off x="6996757" y="51206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996757" y="5120640"/>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에이전트는 데이터베이스에 직접 접속하지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에이전트와 데이터베이스 사이에는 읽기 전용 도구가 놓이며, 조회문이 잘못되어도 데이터는 바뀌지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도구경유.svg" descr="illust_5095950272148128308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842296"/>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도구의 이름과</a:t>
            </a:r>
          </a:p>
          <a:p>
            <a:pPr algn="ctr">
              <a:lnSpc>
                <a:spcPct val="110000"/>
              </a:lnSpc>
              <a:spcAft>
                <a:spcPts val="100"/>
              </a:spcAft>
            </a:pPr>
            <a:r>
              <a:rPr sz="1300" b="0">
                <a:solidFill>
                  <a:srgbClr val="556175"/>
                </a:solidFill>
                <a:latin typeface="맑은 고딕"/>
                <a:ea typeface="맑은 고딕"/>
                <a:cs typeface="맑은 고딕"/>
              </a:rPr>
              <a:t>입력을 적는다</a:t>
            </a:r>
          </a:p>
        </p:txBody>
      </p:sp>
      <p:sp>
        <p:nvSpPr>
          <p:cNvPr id="8" name="TextBox 7"/>
          <p:cNvSpPr txBox="1"/>
          <p:nvPr/>
        </p:nvSpPr>
        <p:spPr>
          <a:xfrm>
            <a:off x="4273961" y="5031394"/>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읽기 전용이다</a:t>
            </a:r>
          </a:p>
          <a:p>
            <a:pPr algn="ctr">
              <a:lnSpc>
                <a:spcPct val="110000"/>
              </a:lnSpc>
              <a:spcAft>
                <a:spcPts val="100"/>
              </a:spcAft>
            </a:pPr>
            <a:r>
              <a:rPr sz="1300" b="0">
                <a:solidFill>
                  <a:srgbClr val="556175"/>
                </a:solidFill>
                <a:latin typeface="맑은 고딕"/>
                <a:ea typeface="맑은 고딕"/>
                <a:cs typeface="맑은 고딕"/>
              </a:rPr>
              <a:t>한 번에 200행까지, 5초까지</a:t>
            </a:r>
          </a:p>
        </p:txBody>
      </p:sp>
      <p:sp>
        <p:nvSpPr>
          <p:cNvPr id="9" name="TextBox 8"/>
          <p:cNvSpPr txBox="1"/>
          <p:nvPr/>
        </p:nvSpPr>
        <p:spPr>
          <a:xfrm>
            <a:off x="8768673" y="384953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0" name="TextBox 9"/>
          <p:cNvSpPr txBox="1"/>
          <p:nvPr/>
        </p:nvSpPr>
        <p:spPr>
          <a:xfrm>
            <a:off x="8768673" y="574051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1" name="TextBox 10"/>
          <p:cNvSpPr txBox="1"/>
          <p:nvPr/>
        </p:nvSpPr>
        <p:spPr>
          <a:xfrm>
            <a:off x="3412111"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물음</a:t>
            </a:r>
          </a:p>
        </p:txBody>
      </p:sp>
      <p:sp>
        <p:nvSpPr>
          <p:cNvPr id="12" name="TextBox 11"/>
          <p:cNvSpPr txBox="1"/>
          <p:nvPr/>
        </p:nvSpPr>
        <p:spPr>
          <a:xfrm>
            <a:off x="3412111" y="4558649"/>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받음</a:t>
            </a:r>
          </a:p>
        </p:txBody>
      </p:sp>
      <p:sp>
        <p:nvSpPr>
          <p:cNvPr id="13" name="TextBox 12"/>
          <p:cNvSpPr txBox="1"/>
          <p:nvPr/>
        </p:nvSpPr>
        <p:spPr>
          <a:xfrm>
            <a:off x="4273961" y="2336749"/>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접속하는 길은 없다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패브릭: 출처에 둔 채 연결해 함께 읽는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 패브릭은 여러 시스템의 데이터를 출처에 둔 채 함께 읽는 방식이며, 값마다 출처와 읽은 시각을 붙인다.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데이터 패브릭</a:t>
            </a:r>
          </a:p>
          <a:p>
            <a:pPr algn="l">
              <a:lnSpc>
                <a:spcPct val="110000"/>
              </a:lnSpc>
              <a:spcAft>
                <a:spcPts val="200"/>
              </a:spcAft>
            </a:pPr>
            <a:r>
              <a:rPr sz="1150" b="0">
                <a:solidFill>
                  <a:srgbClr val="556175"/>
                </a:solidFill>
                <a:latin typeface="맑은 고딕"/>
                <a:ea typeface="맑은 고딕"/>
                <a:cs typeface="맑은 고딕"/>
              </a:rPr>
              <a:t>Data Fabric</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시스템의 데이터를 한곳으로 옮겨 모으지 않고, 출처에 둔 채 연결해 한 번의 물음으로 함께 읽는 방식이다.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출처와 읽은 시각</a:t>
            </a:r>
          </a:p>
          <a:p>
            <a:pPr algn="l">
              <a:lnSpc>
                <a:spcPct val="110000"/>
              </a:lnSpc>
              <a:spcAft>
                <a:spcPts val="200"/>
              </a:spcAft>
            </a:pPr>
            <a:r>
              <a:rPr sz="1150" b="0">
                <a:solidFill>
                  <a:srgbClr val="556175"/>
                </a:solidFill>
                <a:latin typeface="맑은 고딕"/>
                <a:ea typeface="맑은 고딕"/>
                <a:cs typeface="맑은 고딕"/>
              </a:rPr>
              <a:t>값의 근거</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읽은 값마다 어느 시스템에서 언제 읽었는지를 붙인다.</a:t>
            </a:r>
          </a:p>
          <a:p>
            <a:pPr algn="l">
              <a:lnSpc>
                <a:spcPct val="110000"/>
              </a:lnSpc>
              <a:spcAft>
                <a:spcPts val="300"/>
              </a:spcAft>
            </a:pPr>
            <a:r>
              <a:rPr sz="1400" b="0">
                <a:solidFill>
                  <a:srgbClr val="1F2A3A"/>
                </a:solidFill>
                <a:latin typeface="맑은 고딕"/>
                <a:ea typeface="맑은 고딕"/>
                <a:cs typeface="맑은 고딕"/>
              </a:rPr>
              <a:t>예: 납기 오더는 업무 DB에서, 유온은 시계열 DB에서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일부만 읽힌 결과</a:t>
            </a:r>
          </a:p>
          <a:p>
            <a:pPr algn="l">
              <a:lnSpc>
                <a:spcPct val="110000"/>
              </a:lnSpc>
              <a:spcAft>
                <a:spcPts val="200"/>
              </a:spcAft>
            </a:pPr>
            <a:r>
              <a:rPr sz="1150" b="0">
                <a:solidFill>
                  <a:srgbClr val="556175"/>
                </a:solidFill>
                <a:latin typeface="맑은 고딕"/>
                <a:ea typeface="맑은 고딕"/>
                <a:cs typeface="맑은 고딕"/>
              </a:rPr>
              <a:t>부분 결과</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출처가 실패하면 읽힌 값만 주고, 실패한 출처와 그 사유를 함께 알린다.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신선도: 읽은 값이 얼마나 묵었는가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최신 유온은 0.6초 전에 읽은 값이었으며, 60초보다 오래된 값밖에 없었다면 판단은 보류되었을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신선도.svg" descr="illust_6882843633699982963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681397" y="488957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지금</a:t>
            </a:r>
          </a:p>
          <a:p>
            <a:pPr algn="ctr">
              <a:lnSpc>
                <a:spcPct val="110000"/>
              </a:lnSpc>
              <a:spcAft>
                <a:spcPts val="100"/>
              </a:spcAft>
            </a:pPr>
            <a:r>
              <a:rPr sz="1300" b="0">
                <a:solidFill>
                  <a:srgbClr val="556175"/>
                </a:solidFill>
                <a:latin typeface="맑은 고딕"/>
                <a:ea typeface="맑은 고딕"/>
                <a:cs typeface="맑은 고딕"/>
              </a:rPr>
              <a:t>판단하는 시각</a:t>
            </a:r>
          </a:p>
        </p:txBody>
      </p:sp>
      <p:sp>
        <p:nvSpPr>
          <p:cNvPr id="8" name="TextBox 7"/>
          <p:cNvSpPr txBox="1"/>
          <p:nvPr/>
        </p:nvSpPr>
        <p:spPr>
          <a:xfrm>
            <a:off x="6455860" y="4889571"/>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허용 범위 60초</a:t>
            </a:r>
          </a:p>
        </p:txBody>
      </p:sp>
      <p:sp>
        <p:nvSpPr>
          <p:cNvPr id="9" name="TextBox 8"/>
          <p:cNvSpPr txBox="1"/>
          <p:nvPr/>
        </p:nvSpPr>
        <p:spPr>
          <a:xfrm>
            <a:off x="5986752" y="2525847"/>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0.6초 전의 값</a:t>
            </a:r>
          </a:p>
          <a:p>
            <a:pPr algn="ctr">
              <a:lnSpc>
                <a:spcPct val="110000"/>
              </a:lnSpc>
              <a:spcAft>
                <a:spcPts val="100"/>
              </a:spcAft>
            </a:pPr>
            <a:r>
              <a:rPr sz="1300" b="0">
                <a:solidFill>
                  <a:srgbClr val="556175"/>
                </a:solidFill>
                <a:latin typeface="맑은 고딕"/>
                <a:ea typeface="맑은 고딕"/>
                <a:cs typeface="맑은 고딕"/>
              </a:rPr>
              <a:t>판단에 쓴다</a:t>
            </a:r>
          </a:p>
        </p:txBody>
      </p:sp>
      <p:sp>
        <p:nvSpPr>
          <p:cNvPr id="10" name="TextBox 9"/>
          <p:cNvSpPr txBox="1"/>
          <p:nvPr/>
        </p:nvSpPr>
        <p:spPr>
          <a:xfrm>
            <a:off x="3804853" y="25258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60초보다 오래된 값</a:t>
            </a:r>
          </a:p>
          <a:p>
            <a:pPr algn="ctr">
              <a:lnSpc>
                <a:spcPct val="110000"/>
              </a:lnSpc>
              <a:spcAft>
                <a:spcPts val="100"/>
              </a:spcAft>
            </a:pPr>
            <a:r>
              <a:rPr sz="1300" b="0">
                <a:solidFill>
                  <a:srgbClr val="556175"/>
                </a:solidFill>
                <a:latin typeface="맑은 고딕"/>
                <a:ea typeface="맑은 고딕"/>
                <a:cs typeface="맑은 고딕"/>
              </a:rPr>
              <a:t>판단을 보류한다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멈춤 조건 세 가지: 근거 부족, 도구 호출 실패, 권한 제한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멈춰야 하는 때는 근거가 모자랄 때, 도구 호출이 끝내 실패했을 때, 허용되지 않은 일이 필요할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멈춤조건.svg" descr="illust_8585131145586572732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450295" y="2714945"/>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부족</a:t>
            </a:r>
          </a:p>
          <a:p>
            <a:pPr algn="ctr">
              <a:lnSpc>
                <a:spcPct val="110000"/>
              </a:lnSpc>
              <a:spcAft>
                <a:spcPts val="100"/>
              </a:spcAft>
            </a:pPr>
            <a:r>
              <a:rPr sz="1300" b="0">
                <a:solidFill>
                  <a:srgbClr val="556175"/>
                </a:solidFill>
                <a:latin typeface="맑은 고딕"/>
                <a:ea typeface="맑은 고딕"/>
                <a:cs typeface="맑은 고딕"/>
              </a:rPr>
              <a:t>값이 없거나 맞는 근거가 없다</a:t>
            </a:r>
          </a:p>
        </p:txBody>
      </p:sp>
      <p:sp>
        <p:nvSpPr>
          <p:cNvPr id="8" name="TextBox 7"/>
          <p:cNvSpPr txBox="1"/>
          <p:nvPr/>
        </p:nvSpPr>
        <p:spPr>
          <a:xfrm>
            <a:off x="3450295" y="427500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 실패</a:t>
            </a:r>
          </a:p>
          <a:p>
            <a:pPr algn="ctr">
              <a:lnSpc>
                <a:spcPct val="110000"/>
              </a:lnSpc>
              <a:spcAft>
                <a:spcPts val="100"/>
              </a:spcAft>
            </a:pPr>
            <a:r>
              <a:rPr sz="1300" b="0">
                <a:solidFill>
                  <a:srgbClr val="556175"/>
                </a:solidFill>
                <a:latin typeface="맑은 고딕"/>
                <a:ea typeface="맑은 고딕"/>
                <a:cs typeface="맑은 고딕"/>
              </a:rPr>
              <a:t>다시 해도 오류가 돌아온다</a:t>
            </a:r>
          </a:p>
        </p:txBody>
      </p:sp>
      <p:sp>
        <p:nvSpPr>
          <p:cNvPr id="9" name="TextBox 8"/>
          <p:cNvSpPr txBox="1"/>
          <p:nvPr/>
        </p:nvSpPr>
        <p:spPr>
          <a:xfrm>
            <a:off x="3450295" y="583506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권한 제한</a:t>
            </a:r>
          </a:p>
          <a:p>
            <a:pPr algn="ctr">
              <a:lnSpc>
                <a:spcPct val="110000"/>
              </a:lnSpc>
              <a:spcAft>
                <a:spcPts val="100"/>
              </a:spcAft>
            </a:pPr>
            <a:r>
              <a:rPr sz="1300" b="0">
                <a:solidFill>
                  <a:srgbClr val="556175"/>
                </a:solidFill>
                <a:latin typeface="맑은 고딕"/>
                <a:ea typeface="맑은 고딕"/>
                <a:cs typeface="맑은 고딕"/>
              </a:rPr>
              <a:t>허용되지 않은 도구이다</a:t>
            </a:r>
          </a:p>
        </p:txBody>
      </p:sp>
      <p:sp>
        <p:nvSpPr>
          <p:cNvPr id="10" name="TextBox 9"/>
          <p:cNvSpPr txBox="1"/>
          <p:nvPr/>
        </p:nvSpPr>
        <p:spPr>
          <a:xfrm>
            <a:off x="6510408" y="2573121"/>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멈춘다</a:t>
            </a:r>
          </a:p>
          <a:p>
            <a:pPr algn="ctr">
              <a:lnSpc>
                <a:spcPct val="110000"/>
              </a:lnSpc>
              <a:spcAft>
                <a:spcPts val="100"/>
              </a:spcAft>
            </a:pPr>
            <a:r>
              <a:rPr sz="1300" b="0">
                <a:solidFill>
                  <a:srgbClr val="556175"/>
                </a:solidFill>
                <a:latin typeface="맑은 고딕"/>
                <a:ea typeface="맑은 고딕"/>
                <a:cs typeface="맑은 고딕"/>
              </a:rPr>
              <a:t>지어내지 않는다</a:t>
            </a:r>
          </a:p>
        </p:txBody>
      </p:sp>
      <p:sp>
        <p:nvSpPr>
          <p:cNvPr id="11" name="TextBox 10"/>
          <p:cNvSpPr txBox="1"/>
          <p:nvPr/>
        </p:nvSpPr>
        <p:spPr>
          <a:xfrm>
            <a:off x="8899587" y="4511375"/>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재평가를 요청하거나</a:t>
            </a:r>
          </a:p>
          <a:p>
            <a:pPr algn="ctr">
              <a:lnSpc>
                <a:spcPct val="110000"/>
              </a:lnSpc>
              <a:spcAft>
                <a:spcPts val="100"/>
              </a:spcAft>
            </a:pPr>
            <a:r>
              <a:rPr sz="1300" b="0">
                <a:solidFill>
                  <a:srgbClr val="556175"/>
                </a:solidFill>
                <a:latin typeface="맑은 고딕"/>
                <a:ea typeface="맑은 고딕"/>
                <a:cs typeface="맑은 고딕"/>
              </a:rPr>
              <a:t>질문에 답하거나 닫는다</a:t>
            </a:r>
          </a:p>
        </p:txBody>
      </p:sp>
      <p:sp>
        <p:nvSpPr>
          <p:cNvPr id="12" name="TextBox 11"/>
          <p:cNvSpPr txBox="1"/>
          <p:nvPr/>
        </p:nvSpPr>
        <p:spPr>
          <a:xfrm>
            <a:off x="1012022" y="446410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근거의 세 가지 상태: SUPPORTED · UNKNOWN · UNSUPPORTED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얻지 못한 것과 값을 얻었으나 맞지 않은 것은 사람이 이어서 할 일이 달라, 근거의 상태를 셋으로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SUPPORTED</a:t>
            </a:r>
          </a:p>
          <a:p>
            <a:pPr algn="l">
              <a:lnSpc>
                <a:spcPct val="110000"/>
              </a:lnSpc>
              <a:spcAft>
                <a:spcPts val="400"/>
              </a:spcAft>
            </a:pPr>
            <a:r>
              <a:rPr sz="1400" b="0">
                <a:solidFill>
                  <a:srgbClr val="1F2A3A"/>
                </a:solidFill>
                <a:latin typeface="맑은 고딕"/>
                <a:ea typeface="맑은 고딕"/>
                <a:cs typeface="맑은 고딕"/>
              </a:rPr>
              <a:t>• 값을 읽었고 기준에 맞았다</a:t>
            </a:r>
          </a:p>
          <a:p>
            <a:pPr algn="l">
              <a:lnSpc>
                <a:spcPct val="110000"/>
              </a:lnSpc>
              <a:spcAft>
                <a:spcPts val="400"/>
              </a:spcAft>
            </a:pPr>
            <a:r>
              <a:rPr sz="1400" b="0">
                <a:solidFill>
                  <a:srgbClr val="1F2A3A"/>
                </a:solidFill>
                <a:latin typeface="맑은 고딕"/>
                <a:ea typeface="맑은 고딕"/>
                <a:cs typeface="맑은 고딕"/>
              </a:rPr>
              <a:t>• 예: 냉각 효율 46.2 %가 기준 70 % 미만이다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확인됨</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zoom-question" descr="zoom-questio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UNKNOWN</a:t>
            </a:r>
          </a:p>
          <a:p>
            <a:pPr algn="l">
              <a:lnSpc>
                <a:spcPct val="110000"/>
              </a:lnSpc>
              <a:spcAft>
                <a:spcPts val="400"/>
              </a:spcAft>
            </a:pPr>
            <a:r>
              <a:rPr sz="1400" b="0">
                <a:solidFill>
                  <a:srgbClr val="1F2A3A"/>
                </a:solidFill>
                <a:latin typeface="맑은 고딕"/>
                <a:ea typeface="맑은 고딕"/>
                <a:cs typeface="맑은 고딕"/>
              </a:rPr>
              <a:t>• 조회에 실패했거나 값이 비었다</a:t>
            </a:r>
          </a:p>
          <a:p>
            <a:pPr algn="l">
              <a:lnSpc>
                <a:spcPct val="110000"/>
              </a:lnSpc>
              <a:spcAft>
                <a:spcPts val="400"/>
              </a:spcAft>
            </a:pPr>
            <a:r>
              <a:rPr sz="1400" b="0">
                <a:solidFill>
                  <a:srgbClr val="1F2A3A"/>
                </a:solidFill>
                <a:latin typeface="맑은 고딕"/>
                <a:ea typeface="맑은 고딕"/>
                <a:cs typeface="맑은 고딕"/>
              </a:rPr>
              <a:t>• 맞는지 틀린지를 말할 수 없다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확인하지 못함</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UNSUPPORTED</a:t>
            </a:r>
          </a:p>
          <a:p>
            <a:pPr algn="l">
              <a:lnSpc>
                <a:spcPct val="110000"/>
              </a:lnSpc>
              <a:spcAft>
                <a:spcPts val="400"/>
              </a:spcAft>
            </a:pPr>
            <a:r>
              <a:rPr sz="1400" b="0">
                <a:solidFill>
                  <a:srgbClr val="1F2A3A"/>
                </a:solidFill>
                <a:latin typeface="맑은 고딕"/>
                <a:ea typeface="맑은 고딕"/>
                <a:cs typeface="맑은 고딕"/>
              </a:rPr>
              <a:t>• 값은 읽었으나 조회한 근거가 모두 기준에 맞지 않았다</a:t>
            </a:r>
          </a:p>
          <a:p>
            <a:pPr algn="l">
              <a:lnSpc>
                <a:spcPct val="110000"/>
              </a:lnSpc>
              <a:spcAft>
                <a:spcPts val="400"/>
              </a:spcAft>
            </a:pPr>
            <a:r>
              <a:rPr sz="1400" b="0">
                <a:solidFill>
                  <a:srgbClr val="1F2A3A"/>
                </a:solidFill>
                <a:latin typeface="맑은 고딕"/>
                <a:ea typeface="맑은 고딕"/>
                <a:cs typeface="맑은 고딕"/>
              </a:rPr>
              <a:t>• 등록된 원인 가운데 맞는 것이 없다</a:t>
            </a:r>
          </a:p>
        </p:txBody>
      </p:sp>
      <p:sp>
        <p:nvSpPr>
          <p:cNvPr id="22" name="Rounded Rectangle 21"/>
          <p:cNvSpPr/>
          <p:nvPr/>
        </p:nvSpPr>
        <p:spPr>
          <a:xfrm>
            <a:off x="8356396" y="5041392"/>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맞는 근거 없음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보류의 형식: 상태, 이유,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보류할 때 에이전트는 결과 항목을 채우지 않고 상태, 이유, 그때까지 모은 증거의 세 가지만 제출한다.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상태</a:t>
            </a:r>
          </a:p>
          <a:p>
            <a:pPr algn="l">
              <a:lnSpc>
                <a:spcPct val="110000"/>
              </a:lnSpc>
              <a:spcAft>
                <a:spcPts val="400"/>
              </a:spcAft>
            </a:pPr>
            <a:r>
              <a:rPr sz="1400" b="0">
                <a:solidFill>
                  <a:srgbClr val="1F2A3A"/>
                </a:solidFill>
                <a:latin typeface="맑은 고딕"/>
                <a:ea typeface="맑은 고딕"/>
                <a:cs typeface="맑은 고딕"/>
              </a:rPr>
              <a:t>UNKNOWN과 UNSUPPORTED 가운데 하나이다</a:t>
            </a:r>
          </a:p>
        </p:txBody>
      </p:sp>
      <p:sp>
        <p:nvSpPr>
          <p:cNvPr id="10" name="Rounded Rectangle 9"/>
          <p:cNvSpPr/>
          <p:nvPr/>
        </p:nvSpPr>
        <p:spPr>
          <a:xfrm>
            <a:off x="777240" y="5149850"/>
            <a:ext cx="841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status</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notes" descr="note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이유</a:t>
            </a:r>
          </a:p>
          <a:p>
            <a:pPr algn="l">
              <a:lnSpc>
                <a:spcPct val="110000"/>
              </a:lnSpc>
              <a:spcAft>
                <a:spcPts val="400"/>
              </a:spcAft>
            </a:pPr>
            <a:r>
              <a:rPr sz="1400" b="0">
                <a:solidFill>
                  <a:srgbClr val="1F2A3A"/>
                </a:solidFill>
                <a:latin typeface="맑은 고딕"/>
                <a:ea typeface="맑은 고딕"/>
                <a:cs typeface="맑은 고딕"/>
              </a:rPr>
              <a:t>• 무엇을 확인하지 못했는지를 사람이 읽을 문장으로 적는다</a:t>
            </a:r>
          </a:p>
          <a:p>
            <a:pPr algn="l">
              <a:lnSpc>
                <a:spcPct val="110000"/>
              </a:lnSpc>
              <a:spcAft>
                <a:spcPts val="400"/>
              </a:spcAft>
            </a:pPr>
            <a:r>
              <a:rPr sz="1400" b="0">
                <a:solidFill>
                  <a:srgbClr val="1F2A3A"/>
                </a:solidFill>
                <a:latin typeface="맑은 고딕"/>
                <a:ea typeface="맑은 고딕"/>
                <a:cs typeface="맑은 고딕"/>
              </a:rPr>
              <a:t>• 예: 「유온의 최신 값이 60초보다 오래되었다」</a:t>
            </a:r>
          </a:p>
        </p:txBody>
      </p:sp>
      <p:sp>
        <p:nvSpPr>
          <p:cNvPr id="16" name="Rounded Rectangle 15"/>
          <p:cNvSpPr/>
          <p:nvPr/>
        </p:nvSpPr>
        <p:spPr>
          <a:xfrm>
            <a:off x="4566818" y="5149850"/>
            <a:ext cx="8412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reason</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증거</a:t>
            </a:r>
          </a:p>
          <a:p>
            <a:pPr algn="l">
              <a:lnSpc>
                <a:spcPct val="110000"/>
              </a:lnSpc>
              <a:spcAft>
                <a:spcPts val="400"/>
              </a:spcAft>
            </a:pPr>
            <a:r>
              <a:rPr sz="1400" b="0">
                <a:solidFill>
                  <a:srgbClr val="1F2A3A"/>
                </a:solidFill>
                <a:latin typeface="맑은 고딕"/>
                <a:ea typeface="맑은 고딕"/>
                <a:cs typeface="맑은 고딕"/>
              </a:rPr>
              <a:t>그때까지 조회해 얻은 것을 담는다</a:t>
            </a:r>
          </a:p>
        </p:txBody>
      </p:sp>
      <p:sp>
        <p:nvSpPr>
          <p:cNvPr id="22" name="Rounded Rectangle 21"/>
          <p:cNvSpPr/>
          <p:nvPr/>
        </p:nvSpPr>
        <p:spPr>
          <a:xfrm>
            <a:off x="8356396" y="5149850"/>
            <a:ext cx="999743"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999743"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실패: 실패와 값 없음의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조회에 실패한 것과 조회해 보니 0건인 것을 구분하지 않으면, 재고를 읽지 못한 일이 재고가 없다는 사실로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 없음</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조회는 성공했고 결과가 0행이다</a:t>
            </a:r>
          </a:p>
          <a:p>
            <a:pPr algn="l">
              <a:lnSpc>
                <a:spcPct val="110000"/>
              </a:lnSpc>
              <a:spcAft>
                <a:spcPts val="600"/>
              </a:spcAft>
            </a:pPr>
            <a:r>
              <a:rPr sz="1450" b="0">
                <a:solidFill>
                  <a:srgbClr val="1F2A3A"/>
                </a:solidFill>
                <a:latin typeface="맑은 고딕"/>
                <a:ea typeface="맑은 고딕"/>
                <a:cs typeface="맑은 고딕"/>
              </a:rPr>
              <a:t>• 「없다」는 답이다</a:t>
            </a:r>
          </a:p>
          <a:p>
            <a:pPr algn="l">
              <a:lnSpc>
                <a:spcPct val="110000"/>
              </a:lnSpc>
              <a:spcAft>
                <a:spcPts val="600"/>
              </a:spcAft>
            </a:pPr>
            <a:r>
              <a:rPr sz="1450" b="0">
                <a:solidFill>
                  <a:srgbClr val="1F2A3A"/>
                </a:solidFill>
                <a:latin typeface="맑은 고딕"/>
                <a:ea typeface="맑은 고딕"/>
                <a:cs typeface="맑은 고딕"/>
              </a:rPr>
              <a:t>• 0행이라고 그대로 적는다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답이 있다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실패</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조회 자체가 되지 않았다</a:t>
            </a:r>
          </a:p>
          <a:p>
            <a:pPr algn="l">
              <a:lnSpc>
                <a:spcPct val="110000"/>
              </a:lnSpc>
              <a:spcAft>
                <a:spcPts val="600"/>
              </a:spcAft>
            </a:pPr>
            <a:r>
              <a:rPr sz="1450" b="0">
                <a:solidFill>
                  <a:srgbClr val="1F2A3A"/>
                </a:solidFill>
                <a:latin typeface="맑은 고딕"/>
                <a:ea typeface="맑은 고딕"/>
                <a:cs typeface="맑은 고딕"/>
              </a:rPr>
              <a:t>• 「모른다」는 뜻이다</a:t>
            </a:r>
          </a:p>
          <a:p>
            <a:pPr algn="l">
              <a:lnSpc>
                <a:spcPct val="110000"/>
              </a:lnSpc>
              <a:spcAft>
                <a:spcPts val="600"/>
              </a:spcAft>
            </a:pPr>
            <a:r>
              <a:rPr sz="1450" b="0">
                <a:solidFill>
                  <a:srgbClr val="1F2A3A"/>
                </a:solidFill>
                <a:latin typeface="맑은 고딕"/>
                <a:ea typeface="맑은 고딕"/>
                <a:cs typeface="맑은 고딕"/>
              </a:rPr>
              <a:t>• 작업 규칙: 「실패를 0이나 빈 값으로 바꿔 성공처럼 제출하지 않습니다.」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답이 없다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확인된 원인과 가설: 함께 변한 값만으로 단정하지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두 값이 함께 변했다는 사실만으로는 원인을 정할 수 없고, 등록된 증거 기준에 맞은 것만 확인된 원인으로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chart-dots" descr="chart-dots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함께 변한 값으로 단정한다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유온이 오르는 동안 냉각 효율이 떨어졌다</a:t>
            </a:r>
          </a:p>
          <a:p>
            <a:pPr algn="l">
              <a:lnSpc>
                <a:spcPct val="110000"/>
              </a:lnSpc>
              <a:spcAft>
                <a:spcPts val="600"/>
              </a:spcAft>
            </a:pPr>
            <a:r>
              <a:rPr sz="1450" b="0">
                <a:solidFill>
                  <a:srgbClr val="1F2A3A"/>
                </a:solidFill>
                <a:latin typeface="맑은 고딕"/>
                <a:ea typeface="맑은 고딕"/>
                <a:cs typeface="맑은 고딕"/>
              </a:rPr>
              <a:t>• 「쿨러가 원인이다」라고 적는다</a:t>
            </a:r>
          </a:p>
          <a:p>
            <a:pPr algn="l">
              <a:lnSpc>
                <a:spcPct val="110000"/>
              </a:lnSpc>
              <a:spcAft>
                <a:spcPts val="600"/>
              </a:spcAft>
            </a:pPr>
            <a:r>
              <a:rPr sz="1450" b="0">
                <a:solidFill>
                  <a:srgbClr val="1F2A3A"/>
                </a:solidFill>
                <a:latin typeface="맑은 고딕"/>
                <a:ea typeface="맑은 고딕"/>
                <a:cs typeface="맑은 고딕"/>
              </a:rPr>
              <a:t>• 팬 구동 불량이나 주변 온도 상승에서도 같은 모습이 나타난다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단정</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zoom-check" descr="zoom-che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증거 기준에 대어 본다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진동 0.575 mm/s는 기준 0.9 미만이므로 팬은 정상이다</a:t>
            </a:r>
          </a:p>
          <a:p>
            <a:pPr algn="l">
              <a:lnSpc>
                <a:spcPct val="110000"/>
              </a:lnSpc>
              <a:spcAft>
                <a:spcPts val="600"/>
              </a:spcAft>
            </a:pPr>
            <a:r>
              <a:rPr sz="1450" b="0">
                <a:solidFill>
                  <a:srgbClr val="1F2A3A"/>
                </a:solidFill>
                <a:latin typeface="맑은 고딕"/>
                <a:ea typeface="맑은 고딕"/>
                <a:cs typeface="맑은 고딕"/>
              </a:rPr>
              <a:t>• 캐비닛 온도 28 ℃는 기준 35 ℃에 못 미친다</a:t>
            </a:r>
          </a:p>
          <a:p>
            <a:pPr algn="l">
              <a:lnSpc>
                <a:spcPct val="110000"/>
              </a:lnSpc>
              <a:spcAft>
                <a:spcPts val="600"/>
              </a:spcAft>
            </a:pPr>
            <a:r>
              <a:rPr sz="1450" b="0">
                <a:solidFill>
                  <a:srgbClr val="1F2A3A"/>
                </a:solidFill>
                <a:latin typeface="맑은 고딕"/>
                <a:ea typeface="맑은 고딕"/>
                <a:cs typeface="맑은 고딕"/>
              </a:rPr>
              <a:t>• 남은 쿨러 핀 오염만 확인된 원인으로 적는다</a:t>
            </a:r>
          </a:p>
          <a:p>
            <a:pPr algn="l">
              <a:lnSpc>
                <a:spcPct val="110000"/>
              </a:lnSpc>
              <a:spcAft>
                <a:spcPts val="600"/>
              </a:spcAft>
            </a:pPr>
            <a:r>
              <a:rPr sz="1450" b="0">
                <a:solidFill>
                  <a:srgbClr val="1F2A3A"/>
                </a:solidFill>
                <a:latin typeface="맑은 고딕"/>
                <a:ea typeface="맑은 고딕"/>
                <a:cs typeface="맑은 고딕"/>
              </a:rPr>
              <a:t>• 확인하지 못한 후보는 가설로 표시한다</a:t>
            </a:r>
          </a:p>
        </p:txBody>
      </p:sp>
      <p:sp>
        <p:nvSpPr>
          <p:cNvPr id="18" name="Rounded Rectangle 17"/>
          <p:cNvSpPr/>
          <p:nvPr/>
        </p:nvSpPr>
        <p:spPr>
          <a:xfrm>
            <a:off x="6781647" y="5246433"/>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확인과 가설을 가른다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나의 첫 업무 에이전트 구성하기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에이전트의 이름, 목표, 역할, 사용 도구를 정하고 직접 질문한다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구성한 에이전트 하나와, 그 에이전트가 근거와 호출 기록을 붙여 답한 질문 한 건이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에이전트를 구성한다</a:t>
            </a:r>
          </a:p>
          <a:p>
            <a:pPr algn="l">
              <a:lnSpc>
                <a:spcPct val="110000"/>
              </a:lnSpc>
              <a:spcAft>
                <a:spcPts val="400"/>
              </a:spcAft>
            </a:pPr>
            <a:r>
              <a:rPr sz="1400" b="0">
                <a:solidFill>
                  <a:srgbClr val="1F2A3A"/>
                </a:solidFill>
                <a:latin typeface="맑은 고딕"/>
                <a:ea typeface="맑은 고딕"/>
                <a:cs typeface="맑은 고딕"/>
              </a:rPr>
              <a:t>• 이름, 목표, 역할을 적는다</a:t>
            </a:r>
          </a:p>
          <a:p>
            <a:pPr algn="l">
              <a:lnSpc>
                <a:spcPct val="110000"/>
              </a:lnSpc>
              <a:spcAft>
                <a:spcPts val="400"/>
              </a:spcAft>
            </a:pPr>
            <a:r>
              <a:rPr sz="1400" b="0">
                <a:solidFill>
                  <a:srgbClr val="1F2A3A"/>
                </a:solidFill>
                <a:latin typeface="맑은 고딕"/>
                <a:ea typeface="맑은 고딕"/>
                <a:cs typeface="맑은 고딕"/>
              </a:rPr>
              <a:t>• 읽기 도구 가운데 쓸 것을 고른다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구성</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message-question" descr="message-question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질문한다</a:t>
            </a:r>
          </a:p>
          <a:p>
            <a:pPr algn="l">
              <a:lnSpc>
                <a:spcPct val="110000"/>
              </a:lnSpc>
              <a:spcAft>
                <a:spcPts val="400"/>
              </a:spcAft>
            </a:pPr>
            <a:r>
              <a:rPr sz="1400" b="0">
                <a:solidFill>
                  <a:srgbClr val="1F2A3A"/>
                </a:solidFill>
                <a:latin typeface="맑은 고딕"/>
                <a:ea typeface="맑은 고딕"/>
                <a:cs typeface="맑은 고딕"/>
              </a:rPr>
              <a:t>• 구성한 에이전트에게 직접 질문한다</a:t>
            </a:r>
          </a:p>
          <a:p>
            <a:pPr algn="l">
              <a:lnSpc>
                <a:spcPct val="110000"/>
              </a:lnSpc>
              <a:spcAft>
                <a:spcPts val="400"/>
              </a:spcAft>
            </a:pPr>
            <a:r>
              <a:rPr sz="1400" b="0">
                <a:solidFill>
                  <a:srgbClr val="1F2A3A"/>
                </a:solidFill>
                <a:latin typeface="맑은 고딕"/>
                <a:ea typeface="맑은 고딕"/>
                <a:cs typeface="맑은 고딕"/>
              </a:rPr>
              <a:t>• 답에 붙은 근거와 도구 호출 기록을 읽는다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질문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 에이전트와 견준다</a:t>
            </a:r>
          </a:p>
          <a:p>
            <a:pPr algn="l">
              <a:lnSpc>
                <a:spcPct val="110000"/>
              </a:lnSpc>
              <a:spcAft>
                <a:spcPts val="400"/>
              </a:spcAft>
            </a:pPr>
            <a:r>
              <a:rPr sz="1400" b="0">
                <a:solidFill>
                  <a:srgbClr val="1F2A3A"/>
                </a:solidFill>
                <a:latin typeface="맑은 고딕"/>
                <a:ea typeface="맑은 고딕"/>
                <a:cs typeface="맑은 고딕"/>
              </a:rPr>
              <a:t>냉각 긴급 대응 에이전트와 목표, 역할, 도구가 어떻게 다른지 확인한다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이상의 원인 추론과 점검 순서 결정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Code로 온톨로지의 관계와 센서 입력을 읽어 점검 계획을 내는 에이전트를 구성한다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결과물은 후보 원인과 증거, 다음 점검 순서를 담은 점검 계획과 그 계획에 쓴 근거 파일이다.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읽는다</a:t>
            </a:r>
          </a:p>
          <a:p>
            <a:pPr algn="ctr">
              <a:lnSpc>
                <a:spcPct val="110000"/>
              </a:lnSpc>
              <a:spcAft>
                <a:spcPts val="400"/>
              </a:spcAft>
            </a:pPr>
            <a:r>
              <a:rPr sz="1350" b="0">
                <a:solidFill>
                  <a:srgbClr val="1F2A3A"/>
                </a:solidFill>
                <a:latin typeface="맑은 고딕"/>
                <a:ea typeface="맑은 고딕"/>
                <a:cs typeface="맑은 고딕"/>
              </a:rPr>
              <a:t>공용 온톨로지에서</a:t>
            </a:r>
          </a:p>
          <a:p>
            <a:pPr algn="ctr">
              <a:lnSpc>
                <a:spcPct val="110000"/>
              </a:lnSpc>
              <a:spcAft>
                <a:spcPts val="400"/>
              </a:spcAft>
            </a:pPr>
            <a:r>
              <a:rPr sz="1350" b="0">
                <a:solidFill>
                  <a:srgbClr val="1F2A3A"/>
                </a:solidFill>
                <a:latin typeface="맑은 고딕"/>
                <a:ea typeface="맑은 고딕"/>
                <a:cs typeface="맑은 고딕"/>
              </a:rPr>
              <a:t>설비, 센서, 고장 유형,</a:t>
            </a:r>
          </a:p>
          <a:p>
            <a:pPr algn="ctr">
              <a:lnSpc>
                <a:spcPct val="110000"/>
              </a:lnSpc>
              <a:spcAft>
                <a:spcPts val="400"/>
              </a:spcAft>
            </a:pPr>
            <a:r>
              <a:rPr sz="1350" b="0">
                <a:solidFill>
                  <a:srgbClr val="1F2A3A"/>
                </a:solidFill>
                <a:latin typeface="맑은 고딕"/>
                <a:ea typeface="맑은 고딕"/>
                <a:cs typeface="맑은 고딕"/>
              </a:rPr>
              <a:t>SOP의 관계를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chart-line" descr="chart-lin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센서 입력을 댄다</a:t>
            </a:r>
          </a:p>
          <a:p>
            <a:pPr algn="ctr">
              <a:lnSpc>
                <a:spcPct val="110000"/>
              </a:lnSpc>
              <a:spcAft>
                <a:spcPts val="400"/>
              </a:spcAft>
            </a:pPr>
            <a:r>
              <a:rPr sz="1350" b="0">
                <a:solidFill>
                  <a:srgbClr val="1F2A3A"/>
                </a:solidFill>
                <a:latin typeface="맑은 고딕"/>
                <a:ea typeface="맑은 고딕"/>
                <a:cs typeface="맑은 고딕"/>
              </a:rPr>
              <a:t>제공된 센서 입력을</a:t>
            </a:r>
          </a:p>
          <a:p>
            <a:pPr algn="ctr">
              <a:lnSpc>
                <a:spcPct val="110000"/>
              </a:lnSpc>
              <a:spcAft>
                <a:spcPts val="400"/>
              </a:spcAft>
            </a:pPr>
            <a:r>
              <a:rPr sz="1350" b="0">
                <a:solidFill>
                  <a:srgbClr val="1F2A3A"/>
                </a:solidFill>
                <a:latin typeface="맑은 고딕"/>
                <a:ea typeface="맑은 고딕"/>
                <a:cs typeface="맑은 고딕"/>
              </a:rPr>
              <a:t>증거 기준에 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원인을 가른다</a:t>
            </a:r>
          </a:p>
          <a:p>
            <a:pPr algn="ctr">
              <a:lnSpc>
                <a:spcPct val="110000"/>
              </a:lnSpc>
              <a:spcAft>
                <a:spcPts val="400"/>
              </a:spcAft>
            </a:pPr>
            <a:r>
              <a:rPr sz="1350" b="0">
                <a:solidFill>
                  <a:srgbClr val="1F2A3A"/>
                </a:solidFill>
                <a:latin typeface="맑은 고딕"/>
                <a:ea typeface="맑은 고딕"/>
                <a:cs typeface="맑은 고딕"/>
              </a:rPr>
              <a:t>확인된 원인과</a:t>
            </a:r>
          </a:p>
          <a:p>
            <a:pPr algn="ctr">
              <a:lnSpc>
                <a:spcPct val="110000"/>
              </a:lnSpc>
              <a:spcAft>
                <a:spcPts val="400"/>
              </a:spcAft>
            </a:pPr>
            <a:r>
              <a:rPr sz="1350" b="0">
                <a:solidFill>
                  <a:srgbClr val="1F2A3A"/>
                </a:solidFill>
                <a:latin typeface="맑은 고딕"/>
                <a:ea typeface="맑은 고딕"/>
                <a:cs typeface="맑은 고딕"/>
              </a:rPr>
              <a:t>가설을 구분해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점검 순서를 낸다</a:t>
            </a:r>
          </a:p>
          <a:p>
            <a:pPr algn="ctr">
              <a:lnSpc>
                <a:spcPct val="110000"/>
              </a:lnSpc>
              <a:spcAft>
                <a:spcPts val="400"/>
              </a:spcAft>
            </a:pPr>
            <a:r>
              <a:rPr sz="1350" b="0">
                <a:solidFill>
                  <a:srgbClr val="1F2A3A"/>
                </a:solidFill>
                <a:latin typeface="맑은 고딕"/>
                <a:ea typeface="맑은 고딕"/>
                <a:cs typeface="맑은 고딕"/>
              </a:rPr>
              <a:t>다음에 점검할 것을</a:t>
            </a:r>
          </a:p>
          <a:p>
            <a:pPr algn="ctr">
              <a:lnSpc>
                <a:spcPct val="110000"/>
              </a:lnSpc>
              <a:spcAft>
                <a:spcPts val="400"/>
              </a:spcAft>
            </a:pPr>
            <a:r>
              <a:rPr sz="1350" b="0">
                <a:solidFill>
                  <a:srgbClr val="1F2A3A"/>
                </a:solidFill>
                <a:latin typeface="맑은 고딕"/>
                <a:ea typeface="맑은 고딕"/>
                <a:cs typeface="맑은 고딕"/>
              </a:rPr>
              <a:t>순서대로 적고</a:t>
            </a:r>
          </a:p>
          <a:p>
            <a:pPr algn="ctr">
              <a:lnSpc>
                <a:spcPct val="110000"/>
              </a:lnSpc>
              <a:spcAft>
                <a:spcPts val="400"/>
              </a:spcAft>
            </a:pPr>
            <a:r>
              <a:rPr sz="1350" b="0">
                <a:solidFill>
                  <a:srgbClr val="1F2A3A"/>
                </a:solidFill>
                <a:latin typeface="맑은 고딕"/>
                <a:ea typeface="맑은 고딕"/>
                <a:cs typeface="맑은 고딕"/>
              </a:rPr>
              <a:t>근거와 함께 저장한다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복합 조건에서의 판단 기능 확장</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증거가 엇갈리거나 입력이 빠지거나 제품의 품질 문제(불량 로트)가 겹쳐도 가설과 확인된 근거를 나누어 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넣는 조건과 구분해 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증거가 엇갈리거나 입력이 빠진 경우까지 넣어 보아야, 에이전트가 가설과 확인된 근거를 나누어 적는지가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279141"/>
            <a:ext cx="2567863" cy="34244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80310"/>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633929"/>
            <a:ext cx="424281" cy="424281"/>
          </a:xfrm>
          <a:prstGeom prst="rect">
            <a:avLst/>
          </a:prstGeom>
        </p:spPr>
      </p:pic>
      <p:sp>
        <p:nvSpPr>
          <p:cNvPr id="9" name="TextBox 8"/>
          <p:cNvSpPr txBox="1"/>
          <p:nvPr/>
        </p:nvSpPr>
        <p:spPr>
          <a:xfrm>
            <a:off x="713232"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엇갈리는 증거</a:t>
            </a:r>
          </a:p>
          <a:p>
            <a:pPr algn="l">
              <a:lnSpc>
                <a:spcPct val="110000"/>
              </a:lnSpc>
              <a:spcAft>
                <a:spcPts val="400"/>
              </a:spcAft>
            </a:pPr>
            <a:r>
              <a:rPr sz="1350" b="0">
                <a:solidFill>
                  <a:srgbClr val="1F2A3A"/>
                </a:solidFill>
                <a:latin typeface="맑은 고딕"/>
                <a:ea typeface="맑은 고딕"/>
                <a:cs typeface="맑은 고딕"/>
              </a:rPr>
              <a:t>센서 값이 서로 다른 원인을 가리키는 경우를 입력으로 준다</a:t>
            </a:r>
          </a:p>
        </p:txBody>
      </p:sp>
      <p:sp>
        <p:nvSpPr>
          <p:cNvPr id="10" name="Rounded Rectangle 9"/>
          <p:cNvSpPr/>
          <p:nvPr/>
        </p:nvSpPr>
        <p:spPr>
          <a:xfrm>
            <a:off x="777240" y="527380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738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충돌</a:t>
            </a:r>
          </a:p>
        </p:txBody>
      </p:sp>
      <p:sp>
        <p:nvSpPr>
          <p:cNvPr id="12" name="Rounded Rectangle 11"/>
          <p:cNvSpPr/>
          <p:nvPr/>
        </p:nvSpPr>
        <p:spPr>
          <a:xfrm>
            <a:off x="3390823" y="2279141"/>
            <a:ext cx="2567863" cy="34244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80310"/>
            <a:ext cx="731520" cy="731520"/>
          </a:xfrm>
          <a:prstGeom prst="ellipse">
            <a:avLst/>
          </a:prstGeom>
          <a:solidFill>
            <a:srgbClr val="E7F3FD"/>
          </a:solidFill>
          <a:ln>
            <a:noFill/>
          </a:ln>
        </p:spPr>
        <p:txBody>
          <a:bodyPr rtlCol="0" anchor="ctr"/>
          <a:lstStyle/>
          <a:p>
            <a:pPr algn="ctr"/>
          </a:p>
        </p:txBody>
      </p:sp>
      <p:pic>
        <p:nvPicPr>
          <p:cNvPr id="14" name="아이콘:file-x" descr="file-x_13294B_1.6.png"/>
          <p:cNvPicPr>
            <a:picLocks noChangeAspect="1"/>
          </p:cNvPicPr>
          <p:nvPr/>
        </p:nvPicPr>
        <p:blipFill>
          <a:blip r:embed="rId4"/>
          <a:stretch>
            <a:fillRect/>
          </a:stretch>
        </p:blipFill>
        <p:spPr>
          <a:xfrm>
            <a:off x="3773043" y="2633929"/>
            <a:ext cx="424281" cy="424281"/>
          </a:xfrm>
          <a:prstGeom prst="rect">
            <a:avLst/>
          </a:prstGeom>
        </p:spPr>
      </p:pic>
      <p:sp>
        <p:nvSpPr>
          <p:cNvPr id="15" name="TextBox 14"/>
          <p:cNvSpPr txBox="1"/>
          <p:nvPr/>
        </p:nvSpPr>
        <p:spPr>
          <a:xfrm>
            <a:off x="3555415"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빠진 입력과 제품 품질 문제</a:t>
            </a:r>
          </a:p>
          <a:p>
            <a:pPr algn="l">
              <a:lnSpc>
                <a:spcPct val="110000"/>
              </a:lnSpc>
              <a:spcAft>
                <a:spcPts val="400"/>
              </a:spcAft>
            </a:pPr>
            <a:r>
              <a:rPr sz="1350" b="0">
                <a:solidFill>
                  <a:srgbClr val="1F2A3A"/>
                </a:solidFill>
                <a:latin typeface="맑은 고딕"/>
                <a:ea typeface="맑은 고딕"/>
                <a:cs typeface="맑은 고딕"/>
              </a:rPr>
              <a:t>필요한 값이 비었거나 제품의 품질 문제(불량 로트)가 함께 있는 경우를 준다</a:t>
            </a:r>
          </a:p>
        </p:txBody>
      </p:sp>
      <p:sp>
        <p:nvSpPr>
          <p:cNvPr id="16" name="Rounded Rectangle 15"/>
          <p:cNvSpPr/>
          <p:nvPr/>
        </p:nvSpPr>
        <p:spPr>
          <a:xfrm>
            <a:off x="3619423" y="5273802"/>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7380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누락 · 불량</a:t>
            </a:r>
          </a:p>
        </p:txBody>
      </p:sp>
      <p:sp>
        <p:nvSpPr>
          <p:cNvPr id="18" name="Rounded Rectangle 17"/>
          <p:cNvSpPr/>
          <p:nvPr/>
        </p:nvSpPr>
        <p:spPr>
          <a:xfrm>
            <a:off x="6233007" y="2279141"/>
            <a:ext cx="2567863" cy="34244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80310"/>
            <a:ext cx="731520" cy="731520"/>
          </a:xfrm>
          <a:prstGeom prst="ellipse">
            <a:avLst/>
          </a:prstGeom>
          <a:solidFill>
            <a:srgbClr val="E7F3FD"/>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6615226" y="2633929"/>
            <a:ext cx="424281" cy="424281"/>
          </a:xfrm>
          <a:prstGeom prst="rect">
            <a:avLst/>
          </a:prstGeom>
        </p:spPr>
      </p:pic>
      <p:sp>
        <p:nvSpPr>
          <p:cNvPr id="21" name="TextBox 20"/>
          <p:cNvSpPr txBox="1"/>
          <p:nvPr/>
        </p:nvSpPr>
        <p:spPr>
          <a:xfrm>
            <a:off x="6397599"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가설과 확인된 근거</a:t>
            </a:r>
          </a:p>
          <a:p>
            <a:pPr algn="l">
              <a:lnSpc>
                <a:spcPct val="110000"/>
              </a:lnSpc>
              <a:spcAft>
                <a:spcPts val="400"/>
              </a:spcAft>
            </a:pPr>
            <a:r>
              <a:rPr sz="1350" b="0">
                <a:solidFill>
                  <a:srgbClr val="1F2A3A"/>
                </a:solidFill>
                <a:latin typeface="맑은 고딕"/>
                <a:ea typeface="맑은 고딕"/>
                <a:cs typeface="맑은 고딕"/>
              </a:rPr>
              <a:t>기준에 맞은 것만 확인된 원인으로 적고 나머지는 가설로 표시한다</a:t>
            </a:r>
          </a:p>
        </p:txBody>
      </p:sp>
      <p:sp>
        <p:nvSpPr>
          <p:cNvPr id="22" name="Rounded Rectangle 21"/>
          <p:cNvSpPr/>
          <p:nvPr/>
        </p:nvSpPr>
        <p:spPr>
          <a:xfrm>
            <a:off x="6461607" y="5273802"/>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738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279141"/>
            <a:ext cx="2567863" cy="342442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80310"/>
            <a:ext cx="731520" cy="731520"/>
          </a:xfrm>
          <a:prstGeom prst="ellipse">
            <a:avLst/>
          </a:prstGeom>
          <a:solidFill>
            <a:srgbClr val="5CB8F2"/>
          </a:solidFill>
          <a:ln>
            <a:noFill/>
          </a:ln>
        </p:spPr>
        <p:txBody>
          <a:bodyPr rtlCol="0" anchor="ctr"/>
          <a:lstStyle/>
          <a:p>
            <a:pPr algn="ctr"/>
          </a:p>
        </p:txBody>
      </p:sp>
      <p:pic>
        <p:nvPicPr>
          <p:cNvPr id="26" name="아이콘:list-numbers" descr="list-numbers_13294B_1.6.png"/>
          <p:cNvPicPr>
            <a:picLocks noChangeAspect="1"/>
          </p:cNvPicPr>
          <p:nvPr/>
        </p:nvPicPr>
        <p:blipFill>
          <a:blip r:embed="rId6"/>
          <a:stretch>
            <a:fillRect/>
          </a:stretch>
        </p:blipFill>
        <p:spPr>
          <a:xfrm>
            <a:off x="9457410" y="2633929"/>
            <a:ext cx="424281" cy="424281"/>
          </a:xfrm>
          <a:prstGeom prst="rect">
            <a:avLst/>
          </a:prstGeom>
        </p:spPr>
      </p:pic>
      <p:sp>
        <p:nvSpPr>
          <p:cNvPr id="27" name="TextBox 26"/>
          <p:cNvSpPr txBox="1"/>
          <p:nvPr/>
        </p:nvSpPr>
        <p:spPr>
          <a:xfrm>
            <a:off x="9239783"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추가 점검</a:t>
            </a:r>
          </a:p>
          <a:p>
            <a:pPr algn="l">
              <a:lnSpc>
                <a:spcPct val="110000"/>
              </a:lnSpc>
              <a:spcAft>
                <a:spcPts val="400"/>
              </a:spcAft>
            </a:pPr>
            <a:r>
              <a:rPr sz="1350" b="0">
                <a:solidFill>
                  <a:srgbClr val="1F2A3A"/>
                </a:solidFill>
                <a:latin typeface="맑은 고딕"/>
                <a:ea typeface="맑은 고딕"/>
                <a:cs typeface="맑은 고딕"/>
              </a:rPr>
              <a:t>가설을 가리는 데 필요한 점검을 골라 점검 순서에 더한다</a:t>
            </a:r>
          </a:p>
        </p:txBody>
      </p:sp>
      <p:sp>
        <p:nvSpPr>
          <p:cNvPr id="28" name="Rounded Rectangle 27"/>
          <p:cNvSpPr/>
          <p:nvPr/>
        </p:nvSpPr>
        <p:spPr>
          <a:xfrm>
            <a:off x="9303791" y="5273802"/>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738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점검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여러 출처의 정보를 연결한 업무 결정 지원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설비, 정비 이력, 부품 자료를 함께 읽어 점검 조치와 필요 부품과 업무 요청을 한 출력으로 묶는다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출처와 묶어 내는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정비 이력, 부품 자료를 출처에 둔 채 함께 읽으면 점검 조치와 필요 부품과 업무 요청이 한 출력에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세 출처를 읽는다</a:t>
            </a:r>
          </a:p>
          <a:p>
            <a:pPr algn="ctr">
              <a:lnSpc>
                <a:spcPct val="110000"/>
              </a:lnSpc>
              <a:spcAft>
                <a:spcPts val="400"/>
              </a:spcAft>
            </a:pPr>
            <a:r>
              <a:rPr sz="1350" b="0">
                <a:solidFill>
                  <a:srgbClr val="1F2A3A"/>
                </a:solidFill>
                <a:latin typeface="맑은 고딕"/>
                <a:ea typeface="맑은 고딕"/>
                <a:cs typeface="맑은 고딕"/>
              </a:rPr>
              <a:t>설비의 상태,</a:t>
            </a:r>
          </a:p>
          <a:p>
            <a:pPr algn="ctr">
              <a:lnSpc>
                <a:spcPct val="110000"/>
              </a:lnSpc>
              <a:spcAft>
                <a:spcPts val="400"/>
              </a:spcAft>
            </a:pPr>
            <a:r>
              <a:rPr sz="1350" b="0">
                <a:solidFill>
                  <a:srgbClr val="1F2A3A"/>
                </a:solidFill>
                <a:latin typeface="맑은 고딕"/>
                <a:ea typeface="맑은 고딕"/>
                <a:cs typeface="맑은 고딕"/>
              </a:rPr>
              <a:t>정비 이력, 부품 자료를</a:t>
            </a:r>
          </a:p>
          <a:p>
            <a:pPr algn="ctr">
              <a:lnSpc>
                <a:spcPct val="110000"/>
              </a:lnSpc>
              <a:spcAft>
                <a:spcPts val="400"/>
              </a:spcAft>
            </a:pPr>
            <a:r>
              <a:rPr sz="1350" b="0">
                <a:solidFill>
                  <a:srgbClr val="1F2A3A"/>
                </a:solidFill>
                <a:latin typeface="맑은 고딕"/>
                <a:ea typeface="맑은 고딕"/>
                <a:cs typeface="맑은 고딕"/>
              </a:rPr>
              <a:t>도구로 읽는다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plug-connected" descr="plug-connected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출처를 붙인다</a:t>
            </a:r>
          </a:p>
          <a:p>
            <a:pPr algn="ctr">
              <a:lnSpc>
                <a:spcPct val="110000"/>
              </a:lnSpc>
              <a:spcAft>
                <a:spcPts val="400"/>
              </a:spcAft>
            </a:pPr>
            <a:r>
              <a:rPr sz="1350" b="0">
                <a:solidFill>
                  <a:srgbClr val="1F2A3A"/>
                </a:solidFill>
                <a:latin typeface="맑은 고딕"/>
                <a:ea typeface="맑은 고딕"/>
                <a:cs typeface="맑은 고딕"/>
              </a:rPr>
              <a:t>읽은 값마다</a:t>
            </a:r>
          </a:p>
          <a:p>
            <a:pPr algn="ctr">
              <a:lnSpc>
                <a:spcPct val="110000"/>
              </a:lnSpc>
              <a:spcAft>
                <a:spcPts val="400"/>
              </a:spcAft>
            </a:pPr>
            <a:r>
              <a:rPr sz="1350" b="0">
                <a:solidFill>
                  <a:srgbClr val="1F2A3A"/>
                </a:solidFill>
                <a:latin typeface="맑은 고딕"/>
                <a:ea typeface="맑은 고딕"/>
                <a:cs typeface="맑은 고딕"/>
              </a:rPr>
              <a:t>어느 출처에서 언제</a:t>
            </a:r>
          </a:p>
          <a:p>
            <a:pPr algn="ctr">
              <a:lnSpc>
                <a:spcPct val="110000"/>
              </a:lnSpc>
              <a:spcAft>
                <a:spcPts val="400"/>
              </a:spcAft>
            </a:pPr>
            <a:r>
              <a:rPr sz="1350" b="0">
                <a:solidFill>
                  <a:srgbClr val="1F2A3A"/>
                </a:solidFill>
                <a:latin typeface="맑은 고딕"/>
                <a:ea typeface="맑은 고딕"/>
                <a:cs typeface="맑은 고딕"/>
              </a:rPr>
              <a:t>읽었는지를 적는다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file-description" descr="file-description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한 출력으로 묶는다</a:t>
            </a:r>
          </a:p>
          <a:p>
            <a:pPr algn="ctr">
              <a:lnSpc>
                <a:spcPct val="110000"/>
              </a:lnSpc>
              <a:spcAft>
                <a:spcPts val="400"/>
              </a:spcAft>
            </a:pPr>
            <a:r>
              <a:rPr sz="1350" b="0">
                <a:solidFill>
                  <a:srgbClr val="1F2A3A"/>
                </a:solidFill>
                <a:latin typeface="맑은 고딕"/>
                <a:ea typeface="맑은 고딕"/>
                <a:cs typeface="맑은 고딕"/>
              </a:rPr>
              <a:t>점검 조치, 필요 부품,</a:t>
            </a:r>
          </a:p>
          <a:p>
            <a:pPr algn="ctr">
              <a:lnSpc>
                <a:spcPct val="110000"/>
              </a:lnSpc>
              <a:spcAft>
                <a:spcPts val="400"/>
              </a:spcAft>
            </a:pPr>
            <a:r>
              <a:rPr sz="1350" b="0">
                <a:solidFill>
                  <a:srgbClr val="1F2A3A"/>
                </a:solidFill>
                <a:latin typeface="맑은 고딕"/>
                <a:ea typeface="맑은 고딕"/>
                <a:cs typeface="맑은 고딕"/>
              </a:rPr>
              <a:t>업무 요청을</a:t>
            </a:r>
          </a:p>
          <a:p>
            <a:pPr algn="ctr">
              <a:lnSpc>
                <a:spcPct val="110000"/>
              </a:lnSpc>
              <a:spcAft>
                <a:spcPts val="400"/>
              </a:spcAft>
            </a:pPr>
            <a:r>
              <a:rPr sz="1350" b="0">
                <a:solidFill>
                  <a:srgbClr val="1F2A3A"/>
                </a:solidFill>
                <a:latin typeface="맑은 고딕"/>
                <a:ea typeface="맑은 고딕"/>
                <a:cs typeface="맑은 고딕"/>
              </a:rPr>
              <a:t>한 출력에 담는다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쿨러 사건의 에이전트에서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에이전트에서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AI Agent</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에이전트</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Tool</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 대안 평가, 판단 제출</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근거의 상태</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SUPPORTED · UNKNOWN · UNSUPPORTED</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확인됨, 확인하지 못함, 맞는 근거 없음</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 패브릭</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Data Fabric</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여러 출처를 그 자리에 둔 채 연결해 읽는 방식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Retrieval-Augmented Generation</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문서 조각을 찾아 모델에 함께 읽히는 방식</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JSON</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JavaScript Object Notation</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추천안을 제출하는 형식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요청을 끝까지 수행하는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담당자가 「HYD-01의 냉각 효율을 지금 값으로 확인하고 조치 후보를 견주어 추천안을 제출하라」고 요청했다.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요청을 끝까지 수행할 수 있는 방식과 그 까닭은?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LLM — 유압 설비의 일반 지식을 학습했기 때문이다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RAG — 매뉴얼의 판별 기준을 찾아 함께 읽기 때문이다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 도구로 지금의 값을 읽고 결과를 보며 제출까지 하기 때문이다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LLM과 RAG — 둘을 함께 쓰면 지금의 값도 알 수 있기 때문이다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처리 기록의 한 장면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 진단을 부른 뒤, 그 결과에 든 원인과 고장 유형의 식별자를 넣어 대안 평가를 불렀다.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장면이 보여 주는 실행 고리의 단계는?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요청 해석 — 맡은 업무와 입력을 읽은 것이다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결과 관찰에 이은 다음 호출 — 앞의 결과가 다음 입력을 정했다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재시도 — 뜻대로 되지 않은 호출을 다시 부른 것이다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종료 — 산출물을 제출하고 끝낸 것이다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읽지 못한 값과 묵은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가리려는데 유온의 최신 값은 3분 전의 것이었고, 냉각 효율의 조회는 실패했다.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이때 에이전트의 올바른 동작은?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3분 전의 유온과 판별 기준 70 %를 써서 쿨러 핀 오염으로 제출한다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효율을 0 %로 적고 유온을 가장 많이 내리는 조치를 추천한다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원인 후보에 올라 있는 쿨러 핀 오염을 확인된 원인으로 적는다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원인을 적지 않고, 확인하지 못한 값과 그 이유를 담아 보류한다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세 방식의 차이, 실행 고리의 단계, 읽지 못한 값의 처리를 각각 올바른 기준으로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지금의 값을 읽고 제출하는 일은 글을 만드는 것으로 되지 않는다. 도구를 부르고 결과를 보며 끝까지 수행하는 것은 에이전트이다.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서로 다른 도구를 이어 불렀고, 앞 호출의 결과가 뒤 호출의 입력이 되었다. 관찰이 다음 행동을 정한 것이다.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묵은 값과 실패한 조회로는 근거가 확인되지 않는다. 채우지 않고 이유와 함께 보류한다.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