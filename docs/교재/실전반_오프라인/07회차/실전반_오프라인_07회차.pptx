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세 회차에서는 에이전트를 만들고 검증했습니다. 오늘부터는 그 에이전트의 추천을 사람의 승인과 시스템의 실행으로 잇는 프로세스를 다룹니다. 프로세스의 정의와 BPMN 표기와 실행 방식을 짚은 뒤, 네 실습에서 긴급 대응 프로세스를 직접 그려 배포합니다.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원인을 쿨러 핀 오염으로 가리고 팬 최대 운전을 추천한 시점에서 시작하겠습니다. 에이전트가 낸 것, 곧 추천 하나와 대안과 그 이유를 묶은 것이 앞 회차에서 본 추천안입니다. 추천안은 나왔지만 팬은 아직 그대로 돌고 유온도 그대로입니다. 운전원의 승인, 설비로 가는 냉각 명령, 유온을 다시 읽는 재관측, 핀 세척을 위한 작업지시 등록, 결과 보고가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순서까지 에이전트에게 맡기면 되지 않느냐는 생각이 들 수 있습니다. 에이전트는 상황을 읽고 그때마다 판단하는 데 강합니다. 하지만 승인 전에는 명령이 나가지 않는다, 승인은 운전원만 한다는 것은 판단할 일이 아니라 어길 수 없게 정해 둘 일입니다. 이런 순서와 책임은 에이전트의 바깥에 따로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순서와 책임을 정해 둔 것이 비즈니스 프로세스입니다. 어떤 결과를 내려고 여러 주체가 하는 작업을 순서대로 이은 묶음이며, 시작하는 사건과 끝나는 조건이 있습니다. 쿨러 성능 저하 경보에서 결과 보고까지가 긴급 대응 프로세스입니다. 이 프로세스가 경보 한 건에 대해 실제로 수행되는 한 건을 포털에서는 처리 건이라고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프로세스는 한 번 정하면 끝나는 것이 아닙니다. 설비가 바뀌고 담당 조직이 바뀌면 순서와 책임자도 고쳐야 합니다. 프로세스를 만들고 운영하고 고쳐 가는 일 전체를 관리하는 방법이 BPM, Business Process Management입니다. BPM이 보는 것은 작업 하나가 아니라 처음부터 끝까지의 흐름입니다.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프로세스를 문장으로 적어 보았습니다. 틀린 내용은 없지만 읽기가 어렵습니다. 갈림은 문장 속에 흩어져 있고, 재관측과 보고를 누가 하는지는 적혀 있지 않습니다. 마지막 문장은 알림을 보낸 뒤에도 승인을 계속 기다리는지 여기서 끝나는지를 알려 주지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그림으로 적되 도형의 뜻을 약속해 둔 것이 BPMN, Business Process Model and Notation입니다. DMN을 정한 OMG가 정했고 2.0판은 ISO 국제 표준이기도 합니다. 같은 그림을 현업 담당자는 업무를 확인하는 데 쓰고, 소프트웨어는 실행할 설계도로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문장과 같은 내용을 BPMN으로 그린 그림입니다. 왼쪽의 세 칸은 위에서부터 담당자, 에이전트, 시스템입니다. 에이전트 칸의 경보에서 시작해 진단과 제안, 담당자 칸의 운전원 승인을 거쳐 시스템 칸의 냉각 명령, 재관측, 작업지시 등록, 결과 보고로 이어집니다. 갈림이 두 곳이고 끝이 세 곳입니다. 시작 이벤트에 붙은 이름 쿨러 과열 경보는 지금까지 본 쿨러 성능 저하 경보가 도착하는 사건을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원은 이벤트, 곧 프로세스에서 일어나는 사건입니다. 테두리가 가는 원은 프로세스를 여는 시작 이벤트입니다. 안에 봉투가 그려진 것은 메시지를 받으면 여는 메시지 시작 이벤트로, 긴급 대응 프로세스의 쿨러 과열 경보가 이 모양입니다. 테두리가 굵은 원은 한 갈래를 닫는 끝 이벤트이며 긴급 대응 프로세스에는 끝, 거절 종결, 알림의 셋이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모서리가 둥근 사각형은 작업입니다. 프로세스 안에서 수행되는 일을 활동이라고 하고, 그 가운데 더 쪼개지지 않는 단위가 작업입니다. 왼쪽 위에 사람 표식이 있으면 사람이 수행하는 사용자 작업이고, 톱니 표식이 있으면 시스템이 자동으로 수행하는 서비스 작업입니다. 표식이 없는 작업은 누가 수행할지를 실행 전에 따로 지정하며, 에이전트에게 맡길 진단과 제안이 이 모양으로 그려집니다.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요소를 잇는 실선 화살표가 시퀀스 흐름이며 화살표의 방향이 순서입니다. 마름모는 흐름이 갈라지는 게이트웨이이고, 가위표가 그려진 것은 배타 게이트웨이입니다. 배타 게이트웨이는 나가는 선 가운데 조건이 참인 하나로만 흐름을 보냅니다. 운전원 승인 뒤의 승인? 게이트웨이에서 승인이면 냉각 명령으로, 거절이면 결과 보고: 거절로 갑니다.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맡는지는 칸으로 나타냅니다. 바깥 테두리 전체가 풀이며 프로세스에 참여하는 조직이나 시스템 하나를 뜻합니다. 풀 안을 가로로 나눈 칸이 레인이고, 작업이 놓인 레인이 그 작업을 맡는 쪽입니다. 긴급 대응 프로세스는 풀 하나에 담당자, 에이전트, 시스템의 세 레인을 둡니다.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작업이 끝나기를 기다리는 동안 생기는 일은 경계 이벤트, Boundary Event로 그립니다. 작업의 테두리에 겹테두리 원을 붙이고, 시계가 그려진 것은 정한 기간이 지나면 발생하는 타이머입니다. 왼쪽의 실선은 중단형으로, 발생하면 붙어 있던 작업을 끊고 다른 가지로 갑니다. 오른쪽의 점선은 비중단형으로, 작업은 그대로 두고 가지를 하나 더 엽니다.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프로세스에서 사람의 결정을 받는 부분만 떼어 놓았습니다. 운전원 승인 뒤에 승인? 게이트웨이가 있어 승인이면 냉각 명령으로, 거절이면 결과 보고: 거절을 거쳐 거절 종결로 갑니다. 승인 작업의 테두리에는 기한이 10분인 승인 지연 타이머가 붙어 있습니다. 점선의 비중단형이어서 10분이 지나면 알림 가지만 열리고 승인 작업은 계속 기다립니다.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 하나가 여러 경우를 담고 있습니다. 승인하면 냉각 명령, 재관측, 작업지시 등록, 결과 보고를 거쳐 끝에 닿습니다. 거절하면 냉각 명령으로 가는 선을 지나지 않고 거절 종결에 닿습니다. 운전원이 응답하지 않으면 알림 가지만 알림에 닿아 끝나고, 운전원 승인은 열린 채로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승인된 처리 건에서 작업을 실제로 맡은 쪽입니다. 진단과 제안은 에이전트가, 승인은 운전원 역할이, 명령과 재관측과 작업지시 등록과 결과 보고는 시스템들이 맡았습니다. SCADA는 설비를 감시하고 제어하는 시스템으로 승인된 냉각 명령을 PLC에 전하고, CMMS는 정비 작업을 관리하는 시스템으로 작업지시가 여기에 등록됩니다. 레인의 배치를 보면 설비를 움직이는 냉각 명령 앞에 사람의 승인이 놓여 있습니다. 누가 판단하고 누가 결정하고 누가 실행하는지를 그림이 정해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그림을 그렸다고 업무가 수행되지는 않습니다. 에이전트가 추천안을 제출하면 누군가 운전원에게 승인 작업을 놓아야 합니다. 승인의 결과를 게이트웨이에 전해야 하고, 운전원이 한참 뒤에 응답하더라도 어디까지 왔는지를 기억하고 있어야 합니다. 그림을 읽어 이 세 가지를 하는 실행 주체가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실행 주체가 프로세스 엔진입니다. 프로세스의 정의를 읽어 작업을 차례로 열고 결과를 넘깁니다. 이렇게 중앙의 한 주체가 전체 순서를 이끄는 방식을 오케스트레이션이라고 합니다. 지휘자가 연주자에게 차례를 알리는 것과 닮았지만, 엔진은 작업의 결과를 받아 다음 작업에 넘기고 기록까지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엔진이 다루는 것을 둘로 구분합니다. 왼쪽의 프로세스 정의는 요소와 선과 조건을 담은 설계도이며 하나뿐입니다. 오른쪽의 프로세스 인스턴스는 그 설계도에 따라 실제로 실행되는 한 건으로, 앞에서 처리 건이라고 부른 것입니다. 경보가 올 때마다 인스턴스가 하나씩 만들어지고, 같은 정의에서 나왔어도 승인으로 끝난 건, 거절로 끝난 건, 승인을 기다리는 건으로 저마다 다르게 진행됩니다.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bpmn.io라는 도구로 작은 승인 절차를 직접 그립니다. 정비 요청으로 시작해 담당자가 확인하고, 승인 여부에 따라 승인 종료와 거절 종결로 갈립니다. 게이트웨이의 두 갈래가 빠짐없이 끝 이벤트에 닿는지를 확인합니다. 끝나면 BPMN 파일 하나가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앞에서 읽은 긴급 대응 프로세스의 기본 순서를 직접 그립니다. 레인은 에이전트, 담당자, 시스템의 역할별로 셋을 둡니다. 에이전트 레인의 경보에서 시작해 진단과 제안, 담당자 레인의 운전원 승인, 시스템 레인의 냉각 명령과 재관측과 결과 보고를 시퀀스 흐름으로 이어 끝 이벤트에 닿게 합니다. 승인과 거절의 갈림은 이어지는 실습에서 더합니다.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앞에서 그린 긴급 대응 프로세스에 승인과 예외의 처리를 더합니다. 운전원 승인 뒤에 배타 게이트웨이를 두어 승인이면 냉각 명령으로, 거절이면 결과 보고: 거절을 거쳐 거절 종결로 가게 합니다. 운전원 승인에는 승인 지연 타이머를 비중단형으로 붙입니다. 완성한 그림에서 거절의 경로를 따라가 냉각 명령에 닿는 선이 없는지를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그린 그림을 HYD 포털로 가져와 실행할 수 있게 만듭니다. 어떤 경보가 이 프로세스를 여는지, 작업마다 누가 맡는지, 갈림의 조건과 타이머의 기간이 무엇인지를 정합니다. 사전 검사로 빠진 것이 없는지 확인한 뒤 등록하고 배포합니다. 끝나면 쿨러 경보가 왔을 때 직접 그린 프로세스가 열리게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SCADA는 설비를 감시하고 제어하는 시스템으로, 승인된 냉각 명령을 받아 PLC에 전합니다. CMMS는 정비 작업을 관리하는 시스템으로, 작업지시가 여기에 등록됩니다. 이 일곱과 함께 비즈니스 프로세스, 이벤트, 작업, 게이트웨이, 풀과 레인, 프로세스 정의와 인스턴스가 오늘의 용어입니다. 긴급 대응 프로세스의 그림을 펴 놓고 용어마다 해당하는 도형을 짚어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그림으로 처리 건의 진행을 읽는 문항입니다. 승인 지연 타이머가 중단형인지 비중단형인지, 그리고 알림이 나간 뒤 승인 작업이 어떻게 남는지를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설계도와 실행되는 한 건을 구분하는 문항입니다. 경보가 도착했을 때 새로 만들어지는 것이 무엇이고 그대로 있는 것이 무엇인지를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맡는지, 책임의 경계를 묻는 문항입니다. 추천하는 쪽, 결정하는 쪽, 다음 작업을 여는 쪽이 각각 누구였는지를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문항의 4번은 알림 가지의 끝과 처리 건의 끝을 혼동한 것입니다. 둘째 문항의 3번은 인스턴스가 만들어지는 것을 정의가 만들어지는 것으로 읽은 것입니다. 셋째 문항의 3번은 결정하는 쪽과 다음 작업을 여는 쪽을 혼동한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21.png"/><Relationship Id="rId5"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24.png"/><Relationship Id="rId5" Type="http://schemas.openxmlformats.org/officeDocument/2006/relationships/image" Target="../media/image7.png"/><Relationship Id="rId6"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24.png"/><Relationship Id="rId5"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27.png"/><Relationship Id="rId5"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7.png"/><Relationship Id="rId6" Type="http://schemas.openxmlformats.org/officeDocument/2006/relationships/image" Target="../media/image31.png"/><Relationship Id="rId7"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오프라인 7회차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다양한 업무를 연결하는</a:t>
            </a:r>
          </a:p>
          <a:p>
            <a:pPr algn="l">
              <a:lnSpc>
                <a:spcPct val="110000"/>
              </a:lnSpc>
            </a:pPr>
            <a:r>
              <a:rPr sz="4000" b="1">
                <a:solidFill>
                  <a:srgbClr val="FFFFFF"/>
                </a:solidFill>
                <a:latin typeface="맑은 고딕"/>
                <a:ea typeface="맑은 고딕"/>
                <a:cs typeface="맑은 고딕"/>
              </a:rPr>
              <a:t>AI 프로세스의 설계와 배포</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비즈니스 프로세스, BPMN, 프로세스 오케스트레이션</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oute" descr="route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itemap" descr="sitemap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user-check" descr="user-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추천이 끝난 업무가 되기까지의 순서와 책임을 프로세스로 정하고, BPMN으로 그려 배포하는 방법을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route" descr="rout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프로세스와 BPM</a:t>
            </a:r>
          </a:p>
          <a:p>
            <a:pPr algn="l">
              <a:lnSpc>
                <a:spcPct val="110000"/>
              </a:lnSpc>
              <a:spcAft>
                <a:spcPts val="400"/>
              </a:spcAft>
            </a:pPr>
            <a:r>
              <a:rPr sz="1350" b="0">
                <a:solidFill>
                  <a:srgbClr val="1F2A3A"/>
                </a:solidFill>
                <a:latin typeface="맑은 고딕"/>
                <a:ea typeface="맑은 고딕"/>
                <a:cs typeface="맑은 고딕"/>
              </a:rPr>
              <a:t>비즈니스 프로세스와 처리 건의 뜻을 말하고, 프로세스를 고쳐 가는 관리 방법인 BPM과 구분한다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sitemap" descr="sitemap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BPMN 읽기</a:t>
            </a:r>
          </a:p>
          <a:p>
            <a:pPr algn="l">
              <a:lnSpc>
                <a:spcPct val="110000"/>
              </a:lnSpc>
              <a:spcAft>
                <a:spcPts val="400"/>
              </a:spcAft>
            </a:pPr>
            <a:r>
              <a:rPr sz="1350" b="0">
                <a:solidFill>
                  <a:srgbClr val="1F2A3A"/>
                </a:solidFill>
                <a:latin typeface="맑은 고딕"/>
                <a:ea typeface="맑은 고딕"/>
                <a:cs typeface="맑은 고딕"/>
              </a:rPr>
              <a:t>이벤트, 작업, 게이트웨이, 레인으로 그린 그림에서 순서와 갈림과 맡는 쪽을 읽는다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표기</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arrows-split-2" descr="arrows-split-2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승인과 거절</a:t>
            </a:r>
          </a:p>
          <a:p>
            <a:pPr algn="l">
              <a:lnSpc>
                <a:spcPct val="110000"/>
              </a:lnSpc>
              <a:spcAft>
                <a:spcPts val="400"/>
              </a:spcAft>
            </a:pPr>
            <a:r>
              <a:rPr sz="1350" b="0">
                <a:solidFill>
                  <a:srgbClr val="1F2A3A"/>
                </a:solidFill>
                <a:latin typeface="맑은 고딕"/>
                <a:ea typeface="맑은 고딕"/>
                <a:cs typeface="맑은 고딕"/>
              </a:rPr>
              <a:t>승인, 거절, 응답 없음의 세 경우가 그림에서 어느 끝에 닿는지 설명한다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경로</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player-play" descr="player-play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오케스트레이션</a:t>
            </a:r>
          </a:p>
          <a:p>
            <a:pPr algn="l">
              <a:lnSpc>
                <a:spcPct val="110000"/>
              </a:lnSpc>
              <a:spcAft>
                <a:spcPts val="400"/>
              </a:spcAft>
            </a:pPr>
            <a:r>
              <a:rPr sz="1350" b="0">
                <a:solidFill>
                  <a:srgbClr val="1F2A3A"/>
                </a:solidFill>
                <a:latin typeface="맑은 고딕"/>
                <a:ea typeface="맑은 고딕"/>
                <a:cs typeface="맑은 고딕"/>
              </a:rPr>
              <a:t>프로세스 엔진이 정의에서 인스턴스를 만들어 작업을 차례로 여는 방식을 설명한다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프로세스의 정의, 표기, 실행: BPM, BPMN, 오케스트레이션</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간단한 승인 절차 그리기</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긴급 대응 프로세스 그리기</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승인, 거절, 지연을 갖춘 흐름의 완성</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그린 흐름을 에이전트와 시스템에 연결하기</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TextBox 2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프로세스의 정의, 표기, 실행:</a:t>
            </a:r>
          </a:p>
          <a:p>
            <a:pPr algn="l">
              <a:lnSpc>
                <a:spcPct val="110000"/>
              </a:lnSpc>
            </a:pPr>
            <a:r>
              <a:rPr sz="3400" b="1">
                <a:solidFill>
                  <a:srgbClr val="13294B"/>
                </a:solidFill>
                <a:latin typeface="맑은 고딕"/>
                <a:ea typeface="맑은 고딕"/>
                <a:cs typeface="맑은 고딕"/>
              </a:rPr>
              <a:t>BPM, BPMN, 오케스트레이션</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추천이 끝난 업무가 되기까지의 순서와 책임을 정하고, 그리고, 실행하는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추천이 나온 뒤에 남은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팬 최대 운전을 권하는 추천안이 나온 시점에 유온은 그대로이며, 승인에서 결과 보고까지 다섯 가지 일이 남아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남은일_추천뒤.svg" descr="illust_171981655173697346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8373"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쿨러 성능 저하</a:t>
            </a:r>
          </a:p>
        </p:txBody>
      </p:sp>
      <p:sp>
        <p:nvSpPr>
          <p:cNvPr id="8" name="TextBox 7"/>
          <p:cNvSpPr txBox="1"/>
          <p:nvPr/>
        </p:nvSpPr>
        <p:spPr>
          <a:xfrm>
            <a:off x="2032060" y="4180453"/>
            <a:ext cx="130913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추천</a:t>
            </a:r>
          </a:p>
          <a:p>
            <a:pPr algn="ctr">
              <a:lnSpc>
                <a:spcPct val="110000"/>
              </a:lnSpc>
              <a:spcAft>
                <a:spcPts val="100"/>
              </a:spcAft>
            </a:pPr>
            <a:r>
              <a:rPr sz="1100" b="0">
                <a:solidFill>
                  <a:srgbClr val="556175"/>
                </a:solidFill>
                <a:latin typeface="맑은 고딕"/>
                <a:ea typeface="맑은 고딕"/>
                <a:cs typeface="맑은 고딕"/>
              </a:rPr>
              <a:t>팬 최대 운전</a:t>
            </a:r>
          </a:p>
        </p:txBody>
      </p:sp>
      <p:sp>
        <p:nvSpPr>
          <p:cNvPr id="9" name="TextBox 8"/>
          <p:cNvSpPr txBox="1"/>
          <p:nvPr/>
        </p:nvSpPr>
        <p:spPr>
          <a:xfrm>
            <a:off x="3395747"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운전원</a:t>
            </a:r>
          </a:p>
        </p:txBody>
      </p:sp>
      <p:sp>
        <p:nvSpPr>
          <p:cNvPr id="10" name="TextBox 9"/>
          <p:cNvSpPr txBox="1"/>
          <p:nvPr/>
        </p:nvSpPr>
        <p:spPr>
          <a:xfrm>
            <a:off x="4759434"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a:p>
            <a:pPr algn="ctr">
              <a:lnSpc>
                <a:spcPct val="110000"/>
              </a:lnSpc>
              <a:spcAft>
                <a:spcPts val="100"/>
              </a:spcAft>
            </a:pPr>
            <a:r>
              <a:rPr sz="1100" b="0">
                <a:solidFill>
                  <a:srgbClr val="556175"/>
                </a:solidFill>
                <a:latin typeface="맑은 고딕"/>
                <a:ea typeface="맑은 고딕"/>
                <a:cs typeface="맑은 고딕"/>
              </a:rPr>
              <a:t>팬 속도 100 %</a:t>
            </a:r>
          </a:p>
        </p:txBody>
      </p:sp>
      <p:sp>
        <p:nvSpPr>
          <p:cNvPr id="11" name="TextBox 10"/>
          <p:cNvSpPr txBox="1"/>
          <p:nvPr/>
        </p:nvSpPr>
        <p:spPr>
          <a:xfrm>
            <a:off x="6123121"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a:p>
            <a:pPr algn="ctr">
              <a:lnSpc>
                <a:spcPct val="110000"/>
              </a:lnSpc>
              <a:spcAft>
                <a:spcPts val="100"/>
              </a:spcAft>
            </a:pPr>
            <a:r>
              <a:rPr sz="1100" b="0">
                <a:solidFill>
                  <a:srgbClr val="556175"/>
                </a:solidFill>
                <a:latin typeface="맑은 고딕"/>
                <a:ea typeface="맑은 고딕"/>
                <a:cs typeface="맑은 고딕"/>
              </a:rPr>
              <a:t>유온의 회복 확인</a:t>
            </a:r>
          </a:p>
        </p:txBody>
      </p:sp>
      <p:sp>
        <p:nvSpPr>
          <p:cNvPr id="12" name="TextBox 11"/>
          <p:cNvSpPr txBox="1"/>
          <p:nvPr/>
        </p:nvSpPr>
        <p:spPr>
          <a:xfrm>
            <a:off x="7486808"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a:p>
            <a:pPr algn="ctr">
              <a:lnSpc>
                <a:spcPct val="110000"/>
              </a:lnSpc>
              <a:spcAft>
                <a:spcPts val="100"/>
              </a:spcAft>
            </a:pPr>
            <a:r>
              <a:rPr sz="1100" b="0">
                <a:solidFill>
                  <a:srgbClr val="556175"/>
                </a:solidFill>
                <a:latin typeface="맑은 고딕"/>
                <a:ea typeface="맑은 고딕"/>
                <a:cs typeface="맑은 고딕"/>
              </a:rPr>
              <a:t>쿨러 핀 세척</a:t>
            </a:r>
          </a:p>
        </p:txBody>
      </p:sp>
      <p:sp>
        <p:nvSpPr>
          <p:cNvPr id="13" name="TextBox 12"/>
          <p:cNvSpPr txBox="1"/>
          <p:nvPr/>
        </p:nvSpPr>
        <p:spPr>
          <a:xfrm>
            <a:off x="8850495" y="4180453"/>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323276"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5" name="TextBox 14"/>
          <p:cNvSpPr txBox="1"/>
          <p:nvPr/>
        </p:nvSpPr>
        <p:spPr>
          <a:xfrm>
            <a:off x="804742" y="247857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여기까지 끝났다</a:t>
            </a:r>
          </a:p>
        </p:txBody>
      </p:sp>
      <p:sp>
        <p:nvSpPr>
          <p:cNvPr id="16" name="TextBox 15"/>
          <p:cNvSpPr txBox="1"/>
          <p:nvPr/>
        </p:nvSpPr>
        <p:spPr>
          <a:xfrm>
            <a:off x="4595792" y="2384023"/>
            <a:ext cx="436379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남은 일 다섯 가지</a:t>
            </a:r>
          </a:p>
          <a:p>
            <a:pPr algn="ctr">
              <a:lnSpc>
                <a:spcPct val="110000"/>
              </a:lnSpc>
              <a:spcAft>
                <a:spcPts val="100"/>
              </a:spcAft>
            </a:pPr>
            <a:r>
              <a:rPr sz="1100" b="0">
                <a:solidFill>
                  <a:srgbClr val="556175"/>
                </a:solidFill>
                <a:latin typeface="맑은 고딕"/>
                <a:ea typeface="맑은 고딕"/>
                <a:cs typeface="맑은 고딕"/>
              </a:rPr>
              <a:t>아직 실행되지 않았다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판단과 정해 두어야 하는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상황을 읽고 그때마다 판단하므로, 매번 같은 순서와 빠지지 않는 승인은 에이전트 밖에서 보장해야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에이전트가 하는 일</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지식과 값을 읽어 원인을 가린다</a:t>
            </a:r>
          </a:p>
          <a:p>
            <a:pPr algn="l">
              <a:lnSpc>
                <a:spcPct val="110000"/>
              </a:lnSpc>
              <a:spcAft>
                <a:spcPts val="600"/>
              </a:spcAft>
            </a:pPr>
            <a:r>
              <a:rPr sz="1450" b="0">
                <a:solidFill>
                  <a:srgbClr val="1F2A3A"/>
                </a:solidFill>
                <a:latin typeface="맑은 고딕"/>
                <a:ea typeface="맑은 고딕"/>
                <a:cs typeface="맑은 고딕"/>
              </a:rPr>
              <a:t>• 조치 후보를 견주어 하나를 추천한다</a:t>
            </a:r>
          </a:p>
          <a:p>
            <a:pPr algn="l">
              <a:lnSpc>
                <a:spcPct val="110000"/>
              </a:lnSpc>
              <a:spcAft>
                <a:spcPts val="600"/>
              </a:spcAft>
            </a:pPr>
            <a:r>
              <a:rPr sz="1450" b="0">
                <a:solidFill>
                  <a:srgbClr val="1F2A3A"/>
                </a:solidFill>
                <a:latin typeface="맑은 고딕"/>
                <a:ea typeface="맑은 고딕"/>
                <a:cs typeface="맑은 고딕"/>
              </a:rPr>
              <a:t>• 같은 입력에도 과정과 표현이 달라질 수 있다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정해 두어야 하는 일</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 전에는 설비 명령이 나가지 않는다</a:t>
            </a:r>
          </a:p>
          <a:p>
            <a:pPr algn="l">
              <a:lnSpc>
                <a:spcPct val="110000"/>
              </a:lnSpc>
              <a:spcAft>
                <a:spcPts val="600"/>
              </a:spcAft>
            </a:pPr>
            <a:r>
              <a:rPr sz="1450" b="0">
                <a:solidFill>
                  <a:srgbClr val="1F2A3A"/>
                </a:solidFill>
                <a:latin typeface="맑은 고딕"/>
                <a:ea typeface="맑은 고딕"/>
                <a:cs typeface="맑은 고딕"/>
              </a:rPr>
              <a:t>• 승인은 정해진 역할만 한다</a:t>
            </a:r>
          </a:p>
          <a:p>
            <a:pPr algn="l">
              <a:lnSpc>
                <a:spcPct val="110000"/>
              </a:lnSpc>
              <a:spcAft>
                <a:spcPts val="600"/>
              </a:spcAft>
            </a:pPr>
            <a:r>
              <a:rPr sz="1450" b="0">
                <a:solidFill>
                  <a:srgbClr val="1F2A3A"/>
                </a:solidFill>
                <a:latin typeface="맑은 고딕"/>
                <a:ea typeface="맑은 고딕"/>
                <a:cs typeface="맑은 고딕"/>
              </a:rPr>
              <a:t>• 명령 뒤에는 유온을 다시 읽어 회복을 확인한다</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순서와 책임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비즈니스 프로세스: 결과를 내기 위한 작업의 순서 있는 묶음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비즈니스 프로세스는 정해진 결과를 내려고 여러 주체가 수행하는 작업을 순서대로 이은 묶음이다.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비즈니스 프로세스</a:t>
            </a:r>
          </a:p>
          <a:p>
            <a:pPr algn="l">
              <a:lnSpc>
                <a:spcPct val="110000"/>
              </a:lnSpc>
              <a:spcAft>
                <a:spcPts val="200"/>
              </a:spcAft>
            </a:pPr>
            <a:r>
              <a:rPr sz="1150" b="0">
                <a:solidFill>
                  <a:srgbClr val="556175"/>
                </a:solidFill>
                <a:latin typeface="맑은 고딕"/>
                <a:ea typeface="맑은 고딕"/>
                <a:cs typeface="맑은 고딕"/>
              </a:rPr>
              <a:t>Business Process</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조직이 어떤 결과를 내기 위해 수행하는 관련 작업의 순서 있는 묶음이다.</a:t>
            </a:r>
          </a:p>
          <a:p>
            <a:pPr algn="l">
              <a:lnSpc>
                <a:spcPct val="110000"/>
              </a:lnSpc>
              <a:spcAft>
                <a:spcPts val="300"/>
              </a:spcAft>
            </a:pPr>
            <a:r>
              <a:rPr sz="1400" b="0">
                <a:solidFill>
                  <a:srgbClr val="1F2A3A"/>
                </a:solidFill>
                <a:latin typeface="맑은 고딕"/>
                <a:ea typeface="맑은 고딕"/>
                <a:cs typeface="맑은 고딕"/>
              </a:rPr>
              <a:t>시작하는 사건이 있고 끝났다고 보는 조건이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긴급 대응 프로세스</a:t>
            </a:r>
          </a:p>
          <a:p>
            <a:pPr algn="l">
              <a:lnSpc>
                <a:spcPct val="110000"/>
              </a:lnSpc>
              <a:spcAft>
                <a:spcPts val="200"/>
              </a:spcAft>
            </a:pPr>
            <a:r>
              <a:rPr sz="1150" b="0">
                <a:solidFill>
                  <a:srgbClr val="556175"/>
                </a:solidFill>
                <a:latin typeface="맑은 고딕"/>
                <a:ea typeface="맑은 고딕"/>
                <a:cs typeface="맑은 고딕"/>
              </a:rPr>
              <a:t>HYD의 예</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쿨러 성능 저하 경보에서 시작해 결과 보고로 끝난다.</a:t>
            </a:r>
          </a:p>
          <a:p>
            <a:pPr algn="l">
              <a:lnSpc>
                <a:spcPct val="110000"/>
              </a:lnSpc>
              <a:spcAft>
                <a:spcPts val="300"/>
              </a:spcAft>
            </a:pPr>
            <a:r>
              <a:rPr sz="1400" b="0">
                <a:solidFill>
                  <a:srgbClr val="1F2A3A"/>
                </a:solidFill>
                <a:latin typeface="맑은 고딕"/>
                <a:ea typeface="맑은 고딕"/>
                <a:cs typeface="맑은 고딕"/>
              </a:rPr>
              <a:t>에이전트의 추천안, 운전원의 승인, 시스템의 명령과 기록이 한 순서로 이어진다.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처리 건</a:t>
            </a:r>
          </a:p>
          <a:p>
            <a:pPr algn="l">
              <a:lnSpc>
                <a:spcPct val="110000"/>
              </a:lnSpc>
              <a:spcAft>
                <a:spcPts val="200"/>
              </a:spcAft>
            </a:pPr>
            <a:r>
              <a:rPr sz="1150" b="0">
                <a:solidFill>
                  <a:srgbClr val="556175"/>
                </a:solidFill>
                <a:latin typeface="맑은 고딕"/>
                <a:ea typeface="맑은 고딕"/>
                <a:cs typeface="맑은 고딕"/>
              </a:rPr>
              <a:t>실행되는 한 건</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프로세스가 경보 한 건에 대해 실제로 수행되는 한 건을 HYD 포털은 처리 건이라고 부른다.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 프로세스를 관리하는 방법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설비와 조직과 목표가 바뀌면 프로세스도 달라져야 하며, 프로세스를 만들고 고쳐 가는 일 전체가 관리의 대상이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BPM</a:t>
            </a:r>
          </a:p>
          <a:p>
            <a:pPr algn="l">
              <a:lnSpc>
                <a:spcPct val="110000"/>
              </a:lnSpc>
              <a:spcAft>
                <a:spcPts val="200"/>
              </a:spcAft>
            </a:pPr>
            <a:r>
              <a:rPr sz="1150" b="0">
                <a:solidFill>
                  <a:srgbClr val="556175"/>
                </a:solidFill>
                <a:latin typeface="맑은 고딕"/>
                <a:ea typeface="맑은 고딕"/>
                <a:cs typeface="맑은 고딕"/>
              </a:rPr>
              <a:t>Business Process Management</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 프로세스를 분석하고 설계해 실행하고, 결과를 보며 고쳐 가는 관리 방법이다.</a:t>
            </a:r>
          </a:p>
          <a:p>
            <a:pPr algn="l">
              <a:lnSpc>
                <a:spcPct val="110000"/>
              </a:lnSpc>
              <a:spcAft>
                <a:spcPts val="300"/>
              </a:spcAft>
            </a:pPr>
            <a:r>
              <a:rPr sz="1400" b="0">
                <a:solidFill>
                  <a:srgbClr val="1F2A3A"/>
                </a:solidFill>
                <a:latin typeface="맑은 고딕"/>
                <a:ea typeface="맑은 고딕"/>
                <a:cs typeface="맑은 고딕"/>
              </a:rPr>
              <a:t>프로세스를 한 번 만들고 끝내는 것이 아니라 계속 다듬는 대상으로 본다.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다루는 대상</a:t>
            </a:r>
          </a:p>
          <a:p>
            <a:pPr algn="l">
              <a:lnSpc>
                <a:spcPct val="110000"/>
              </a:lnSpc>
              <a:spcAft>
                <a:spcPts val="200"/>
              </a:spcAft>
            </a:pPr>
            <a:r>
              <a:rPr sz="1150" b="0">
                <a:solidFill>
                  <a:srgbClr val="556175"/>
                </a:solidFill>
                <a:latin typeface="맑은 고딕"/>
                <a:ea typeface="맑은 고딕"/>
                <a:cs typeface="맑은 고딕"/>
              </a:rPr>
              <a:t>End-to-End</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작업 하나의 효율이 아니라 시작 사건에서 최종 결과까지의 흐름 전체이다.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문장으로 적은 프로세스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프로세스를 문장으로 적으면 갈림과 책임자와 기다림이 글 속에 묻혀, 읽는 사람마다 다른 흐름을 떠올린다.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p>
          <a:p>
            <a:pPr algn="l">
              <a:lnSpc>
                <a:spcPct val="110000"/>
              </a:lnSpc>
              <a:spcAft>
                <a:spcPts val="200"/>
              </a:spcAft>
            </a:pP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제안한다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승인하면</a:t>
            </a:r>
          </a:p>
          <a:p>
            <a:pPr algn="l">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내리고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재관측하는데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정상이면</a:t>
            </a:r>
          </a:p>
          <a:p>
            <a:pPr algn="l">
              <a:lnSpc>
                <a:spcPct val="110000"/>
              </a:lnSpc>
              <a:spcAft>
                <a:spcPts val="200"/>
              </a:spcAft>
            </a:pPr>
            <a:r>
              <a:rPr sz="1300" b="0">
                <a:solidFill>
                  <a:srgbClr val="E8EEF6"/>
                </a:solidFill>
                <a:latin typeface="맑은 고딕"/>
                <a:ea typeface="맑은 고딕"/>
                <a:cs typeface="맑은 고딕"/>
              </a:rPr>
              <a:t>작업지시를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등록하고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아니면</a:t>
            </a:r>
          </a:p>
          <a:p>
            <a:pPr algn="l">
              <a:lnSpc>
                <a:spcPct val="110000"/>
              </a:lnSpc>
              <a:spcAft>
                <a:spcPts val="200"/>
              </a:spcAft>
            </a:pPr>
            <a:r>
              <a:rPr sz="1300" b="0">
                <a:solidFill>
                  <a:srgbClr val="E8EEF6"/>
                </a:solidFill>
                <a:latin typeface="맑은 고딕"/>
                <a:ea typeface="맑은 고딕"/>
                <a:cs typeface="맑은 고딕"/>
              </a:rPr>
              <a:t>미달로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끝낸다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승인이</a:t>
            </a:r>
            <a:r>
              <a:rPr sz="1300" b="0">
                <a:solidFill>
                  <a:srgbClr val="E8EEF6"/>
                </a:solidFill>
                <a:latin typeface="Consolas"/>
                <a:ea typeface="맑은 고딕"/>
                <a:cs typeface="맑은 고딕"/>
              </a:rPr>
              <a:t> 10</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넘게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않으면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알림을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보낸다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갈림이 묻힌다</a:t>
            </a:r>
          </a:p>
          <a:p>
            <a:pPr algn="l">
              <a:lnSpc>
                <a:spcPct val="110000"/>
              </a:lnSpc>
              <a:spcAft>
                <a:spcPts val="400"/>
              </a:spcAft>
            </a:pPr>
            <a:r>
              <a:rPr sz="1400" b="0">
                <a:solidFill>
                  <a:srgbClr val="1F2A3A"/>
                </a:solidFill>
                <a:latin typeface="맑은 고딕"/>
                <a:ea typeface="맑은 고딕"/>
                <a:cs typeface="맑은 고딕"/>
              </a:rPr>
              <a:t>「~하면」과 「아니면」이</a:t>
            </a:r>
          </a:p>
          <a:p>
            <a:pPr algn="l">
              <a:lnSpc>
                <a:spcPct val="110000"/>
              </a:lnSpc>
              <a:spcAft>
                <a:spcPts val="400"/>
              </a:spcAft>
            </a:pPr>
            <a:r>
              <a:rPr sz="1400" b="0">
                <a:solidFill>
                  <a:srgbClr val="1F2A3A"/>
                </a:solidFill>
                <a:latin typeface="맑은 고딕"/>
                <a:ea typeface="맑은 고딕"/>
                <a:cs typeface="맑은 고딕"/>
              </a:rPr>
              <a:t>문장 속에 흩어져 있다.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책임자가 묻힌다</a:t>
            </a:r>
          </a:p>
          <a:p>
            <a:pPr algn="l">
              <a:lnSpc>
                <a:spcPct val="110000"/>
              </a:lnSpc>
              <a:spcAft>
                <a:spcPts val="400"/>
              </a:spcAft>
            </a:pPr>
            <a:r>
              <a:rPr sz="1400" b="0">
                <a:solidFill>
                  <a:srgbClr val="1F2A3A"/>
                </a:solidFill>
                <a:latin typeface="맑은 고딕"/>
                <a:ea typeface="맑은 고딕"/>
                <a:cs typeface="맑은 고딕"/>
              </a:rPr>
              <a:t>재관측과 보고를 누가 하는지</a:t>
            </a:r>
          </a:p>
          <a:p>
            <a:pPr algn="l">
              <a:lnSpc>
                <a:spcPct val="110000"/>
              </a:lnSpc>
              <a:spcAft>
                <a:spcPts val="400"/>
              </a:spcAft>
            </a:pPr>
            <a:r>
              <a:rPr sz="1400" b="0">
                <a:solidFill>
                  <a:srgbClr val="1F2A3A"/>
                </a:solidFill>
                <a:latin typeface="맑은 고딕"/>
                <a:ea typeface="맑은 고딕"/>
                <a:cs typeface="맑은 고딕"/>
              </a:rPr>
              <a:t>적혀 있지 않다.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다르게 읽힌다</a:t>
            </a:r>
          </a:p>
          <a:p>
            <a:pPr algn="l">
              <a:lnSpc>
                <a:spcPct val="110000"/>
              </a:lnSpc>
              <a:spcAft>
                <a:spcPts val="400"/>
              </a:spcAft>
            </a:pPr>
            <a:r>
              <a:rPr sz="1400" b="0">
                <a:solidFill>
                  <a:srgbClr val="1F2A3A"/>
                </a:solidFill>
                <a:latin typeface="맑은 고딕"/>
                <a:ea typeface="맑은 고딕"/>
                <a:cs typeface="맑은 고딕"/>
              </a:rPr>
              <a:t>알림 뒤에도 승인을 기다리는지</a:t>
            </a:r>
          </a:p>
          <a:p>
            <a:pPr algn="l">
              <a:lnSpc>
                <a:spcPct val="110000"/>
              </a:lnSpc>
              <a:spcAft>
                <a:spcPts val="400"/>
              </a:spcAft>
            </a:pPr>
            <a:r>
              <a:rPr sz="1400" b="0">
                <a:solidFill>
                  <a:srgbClr val="1F2A3A"/>
                </a:solidFill>
                <a:latin typeface="맑은 고딕"/>
                <a:ea typeface="맑은 고딕"/>
                <a:cs typeface="맑은 고딕"/>
              </a:rPr>
              <a:t>문장만으로는 알 수 없다.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BPMN: 업무 프로세스의 표기 표준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BPMN은 업무 프로세스를 누구나 같은 뜻으로 읽도록 도형과 선의 의미를 정해 둔 표기 표준이다.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BPMN</a:t>
            </a:r>
          </a:p>
          <a:p>
            <a:pPr algn="l">
              <a:lnSpc>
                <a:spcPct val="110000"/>
              </a:lnSpc>
              <a:spcAft>
                <a:spcPts val="200"/>
              </a:spcAft>
            </a:pPr>
            <a:r>
              <a:rPr sz="1150" b="0">
                <a:solidFill>
                  <a:srgbClr val="556175"/>
                </a:solidFill>
                <a:latin typeface="맑은 고딕"/>
                <a:ea typeface="맑은 고딕"/>
                <a:cs typeface="맑은 고딕"/>
              </a:rPr>
              <a:t>Business Process Model and Notation</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 프로세스를 그림으로 나타내는 표기 표준이다.</a:t>
            </a:r>
          </a:p>
          <a:p>
            <a:pPr algn="l">
              <a:lnSpc>
                <a:spcPct val="110000"/>
              </a:lnSpc>
              <a:spcAft>
                <a:spcPts val="300"/>
              </a:spcAft>
            </a:pPr>
            <a:r>
              <a:rPr sz="1400" b="0">
                <a:solidFill>
                  <a:srgbClr val="1F2A3A"/>
                </a:solidFill>
                <a:latin typeface="맑은 고딕"/>
                <a:ea typeface="맑은 고딕"/>
                <a:cs typeface="맑은 고딕"/>
              </a:rPr>
              <a:t>도형의 모양과 선의 종류마다 뜻이 정해져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정한 곳</a:t>
            </a:r>
          </a:p>
          <a:p>
            <a:pPr algn="l">
              <a:lnSpc>
                <a:spcPct val="110000"/>
              </a:lnSpc>
              <a:spcAft>
                <a:spcPts val="200"/>
              </a:spcAft>
            </a:pPr>
            <a:r>
              <a:rPr sz="1150" b="0">
                <a:solidFill>
                  <a:srgbClr val="556175"/>
                </a:solidFill>
                <a:latin typeface="맑은 고딕"/>
                <a:ea typeface="맑은 고딕"/>
                <a:cs typeface="맑은 고딕"/>
              </a:rPr>
              <a:t>국제 표준</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DMN을 정한 OMG가 정했고, BPMN 2.0은 국제 표준 ISO/IEC 19510이기도 하다.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읽는 쪽</a:t>
            </a:r>
          </a:p>
          <a:p>
            <a:pPr algn="l">
              <a:lnSpc>
                <a:spcPct val="110000"/>
              </a:lnSpc>
              <a:spcAft>
                <a:spcPts val="200"/>
              </a:spcAft>
            </a:pPr>
            <a:r>
              <a:rPr sz="1150" b="0">
                <a:solidFill>
                  <a:srgbClr val="556175"/>
                </a:solidFill>
                <a:latin typeface="맑은 고딕"/>
                <a:ea typeface="맑은 고딕"/>
                <a:cs typeface="맑은 고딕"/>
              </a:rPr>
              <a:t>사람과 시스템</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현업 담당자는 업무를 확인하는 그림으로, 프로세스를 실행하는 소프트웨어는 설계도로 같은 그림을 읽는다.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프로세스는 레인 셋 위에 시작 이벤트 하나, 작업 아홉, 게이트웨이 둘, 끝 이벤트 셋으로 그려진다.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흐름_전체.svg" descr="illust_6014985819386829713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과열 경보</a:t>
            </a:r>
          </a:p>
        </p:txBody>
      </p:sp>
      <p:sp>
        <p:nvSpPr>
          <p:cNvPr id="11" name="TextBox 10"/>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2" name="TextBox 11"/>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6" name="TextBox 15"/>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7" name="TextBox 16"/>
          <p:cNvSpPr txBox="1"/>
          <p:nvPr/>
        </p:nvSpPr>
        <p:spPr>
          <a:xfrm>
            <a:off x="7186797" y="368407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정상?</a:t>
            </a:r>
          </a:p>
        </p:txBody>
      </p:sp>
      <p:sp>
        <p:nvSpPr>
          <p:cNvPr id="18" name="TextBox 17"/>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9" name="TextBox 18"/>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20" name="TextBox 19"/>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21" name="TextBox 20"/>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22" name="TextBox 21"/>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이벤트: 프로세스를 여는 사건과 닫는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프로세스가 무엇으로 시작해 어떻게 끝나는지는 원으로 그린 이벤트가 알려 주고, 테두리의 굵기가 시작과 끝을 가른다.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pic>
        <p:nvPicPr>
          <p:cNvPr id="6" name="삽화:이벤트.svg" descr="illust_3889190051502332991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19303" y="4464100"/>
            <a:ext cx="283646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시작 이벤트</a:t>
            </a:r>
          </a:p>
          <a:p>
            <a:pPr algn="ctr">
              <a:lnSpc>
                <a:spcPct val="110000"/>
              </a:lnSpc>
              <a:spcAft>
                <a:spcPts val="100"/>
              </a:spcAft>
            </a:pPr>
            <a:r>
              <a:rPr sz="1300" b="0">
                <a:solidFill>
                  <a:srgbClr val="556175"/>
                </a:solidFill>
                <a:latin typeface="맑은 고딕"/>
                <a:ea typeface="맑은 고딕"/>
                <a:cs typeface="맑은 고딕"/>
              </a:rPr>
              <a:t>Start Event</a:t>
            </a:r>
          </a:p>
          <a:p>
            <a:pPr algn="ctr">
              <a:lnSpc>
                <a:spcPct val="110000"/>
              </a:lnSpc>
              <a:spcAft>
                <a:spcPts val="100"/>
              </a:spcAft>
            </a:pPr>
            <a:r>
              <a:rPr sz="1300" b="0">
                <a:solidFill>
                  <a:srgbClr val="556175"/>
                </a:solidFill>
                <a:latin typeface="맑은 고딕"/>
                <a:ea typeface="맑은 고딕"/>
                <a:cs typeface="맑은 고딕"/>
              </a:rPr>
              <a:t>프로세스를 여는 사건</a:t>
            </a:r>
          </a:p>
        </p:txBody>
      </p:sp>
      <p:sp>
        <p:nvSpPr>
          <p:cNvPr id="8" name="TextBox 7"/>
          <p:cNvSpPr txBox="1"/>
          <p:nvPr/>
        </p:nvSpPr>
        <p:spPr>
          <a:xfrm>
            <a:off x="4459423" y="4464100"/>
            <a:ext cx="327284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메시지 시작 이벤트</a:t>
            </a:r>
          </a:p>
          <a:p>
            <a:pPr algn="ctr">
              <a:lnSpc>
                <a:spcPct val="110000"/>
              </a:lnSpc>
              <a:spcAft>
                <a:spcPts val="100"/>
              </a:spcAft>
            </a:pPr>
            <a:r>
              <a:rPr sz="1300" b="0">
                <a:solidFill>
                  <a:srgbClr val="556175"/>
                </a:solidFill>
                <a:latin typeface="맑은 고딕"/>
                <a:ea typeface="맑은 고딕"/>
                <a:cs typeface="맑은 고딕"/>
              </a:rPr>
              <a:t>Message Start Event</a:t>
            </a:r>
          </a:p>
          <a:p>
            <a:pPr algn="ctr">
              <a:lnSpc>
                <a:spcPct val="110000"/>
              </a:lnSpc>
              <a:spcAft>
                <a:spcPts val="100"/>
              </a:spcAft>
            </a:pPr>
            <a:r>
              <a:rPr sz="1300" b="0">
                <a:solidFill>
                  <a:srgbClr val="556175"/>
                </a:solidFill>
                <a:latin typeface="맑은 고딕"/>
                <a:ea typeface="맑은 고딕"/>
                <a:cs typeface="맑은 고딕"/>
              </a:rPr>
              <a:t>메시지를 받으면 연다</a:t>
            </a:r>
          </a:p>
          <a:p>
            <a:pPr algn="ctr">
              <a:lnSpc>
                <a:spcPct val="110000"/>
              </a:lnSpc>
              <a:spcAft>
                <a:spcPts val="100"/>
              </a:spcAft>
            </a:pPr>
            <a:r>
              <a:rPr sz="1300" b="0">
                <a:solidFill>
                  <a:srgbClr val="556175"/>
                </a:solidFill>
                <a:latin typeface="맑은 고딕"/>
                <a:ea typeface="맑은 고딕"/>
                <a:cs typeface="맑은 고딕"/>
              </a:rPr>
              <a:t>예: 쿨러 과열 경보 — 쿨러 성능 저하 경보의 도착</a:t>
            </a:r>
          </a:p>
        </p:txBody>
      </p:sp>
      <p:sp>
        <p:nvSpPr>
          <p:cNvPr id="9" name="TextBox 8"/>
          <p:cNvSpPr txBox="1"/>
          <p:nvPr/>
        </p:nvSpPr>
        <p:spPr>
          <a:xfrm>
            <a:off x="8135923" y="4464100"/>
            <a:ext cx="283646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끝 이벤트</a:t>
            </a:r>
          </a:p>
          <a:p>
            <a:pPr algn="ctr">
              <a:lnSpc>
                <a:spcPct val="110000"/>
              </a:lnSpc>
              <a:spcAft>
                <a:spcPts val="100"/>
              </a:spcAft>
            </a:pPr>
            <a:r>
              <a:rPr sz="1300" b="0">
                <a:solidFill>
                  <a:srgbClr val="556175"/>
                </a:solidFill>
                <a:latin typeface="맑은 고딕"/>
                <a:ea typeface="맑은 고딕"/>
                <a:cs typeface="맑은 고딕"/>
              </a:rPr>
              <a:t>End Event</a:t>
            </a:r>
          </a:p>
          <a:p>
            <a:pPr algn="ctr">
              <a:lnSpc>
                <a:spcPct val="110000"/>
              </a:lnSpc>
              <a:spcAft>
                <a:spcPts val="100"/>
              </a:spcAft>
            </a:pPr>
            <a:r>
              <a:rPr sz="1300" b="0">
                <a:solidFill>
                  <a:srgbClr val="556175"/>
                </a:solidFill>
                <a:latin typeface="맑은 고딕"/>
                <a:ea typeface="맑은 고딕"/>
                <a:cs typeface="맑은 고딕"/>
              </a:rPr>
              <a:t>한 갈래를 닫는 사건</a:t>
            </a:r>
          </a:p>
          <a:p>
            <a:pPr algn="ctr">
              <a:lnSpc>
                <a:spcPct val="110000"/>
              </a:lnSpc>
              <a:spcAft>
                <a:spcPts val="100"/>
              </a:spcAft>
            </a:pPr>
            <a:r>
              <a:rPr sz="1300" b="0">
                <a:solidFill>
                  <a:srgbClr val="556175"/>
                </a:solidFill>
                <a:latin typeface="맑은 고딕"/>
                <a:ea typeface="맑은 고딕"/>
                <a:cs typeface="맑은 고딕"/>
              </a:rPr>
              <a:t>예: 끝, 거절 종결, 알림</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작업: 사용자 작업과 서비스 작업</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 상자의 왼쪽 위 표식을 보면 그 일을 사람이 하는지 시스템이 하는지를 그림만으로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작업종류.svg" descr="illust_5845351609922499831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59312" y="3187689"/>
            <a:ext cx="218189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8" name="TextBox 7"/>
          <p:cNvSpPr txBox="1"/>
          <p:nvPr/>
        </p:nvSpPr>
        <p:spPr>
          <a:xfrm>
            <a:off x="5113993" y="32822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9" name="TextBox 8"/>
          <p:cNvSpPr txBox="1"/>
          <p:nvPr/>
        </p:nvSpPr>
        <p:spPr>
          <a:xfrm>
            <a:off x="8659578" y="32822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1022932" y="4369551"/>
            <a:ext cx="305465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작업</a:t>
            </a:r>
          </a:p>
          <a:p>
            <a:pPr algn="ctr">
              <a:lnSpc>
                <a:spcPct val="110000"/>
              </a:lnSpc>
              <a:spcAft>
                <a:spcPts val="100"/>
              </a:spcAft>
            </a:pPr>
            <a:r>
              <a:rPr sz="1300" b="0">
                <a:solidFill>
                  <a:srgbClr val="556175"/>
                </a:solidFill>
                <a:latin typeface="맑은 고딕"/>
                <a:ea typeface="맑은 고딕"/>
                <a:cs typeface="맑은 고딕"/>
              </a:rPr>
              <a:t>Task · 표식 없음</a:t>
            </a:r>
          </a:p>
          <a:p>
            <a:pPr algn="ctr">
              <a:lnSpc>
                <a:spcPct val="110000"/>
              </a:lnSpc>
              <a:spcAft>
                <a:spcPts val="100"/>
              </a:spcAft>
            </a:pPr>
            <a:r>
              <a:rPr sz="1300" b="0">
                <a:solidFill>
                  <a:srgbClr val="556175"/>
                </a:solidFill>
                <a:latin typeface="맑은 고딕"/>
                <a:ea typeface="맑은 고딕"/>
                <a:cs typeface="맑은 고딕"/>
              </a:rPr>
              <a:t>맡을 쪽을 실행 전에 지정한다</a:t>
            </a:r>
          </a:p>
          <a:p>
            <a:pPr algn="ctr">
              <a:lnSpc>
                <a:spcPct val="110000"/>
              </a:lnSpc>
              <a:spcAft>
                <a:spcPts val="100"/>
              </a:spcAft>
            </a:pPr>
            <a:r>
              <a:rPr sz="1300" b="0">
                <a:solidFill>
                  <a:srgbClr val="556175"/>
                </a:solidFill>
                <a:latin typeface="맑은 고딕"/>
                <a:ea typeface="맑은 고딕"/>
                <a:cs typeface="맑은 고딕"/>
              </a:rPr>
              <a:t>에이전트에게 맡길 작업이 이 모양이다</a:t>
            </a:r>
          </a:p>
        </p:txBody>
      </p:sp>
      <p:sp>
        <p:nvSpPr>
          <p:cNvPr id="11" name="TextBox 10"/>
          <p:cNvSpPr txBox="1"/>
          <p:nvPr/>
        </p:nvSpPr>
        <p:spPr>
          <a:xfrm>
            <a:off x="4786708" y="4369551"/>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사용자 작업</a:t>
            </a:r>
          </a:p>
          <a:p>
            <a:pPr algn="ctr">
              <a:lnSpc>
                <a:spcPct val="110000"/>
              </a:lnSpc>
              <a:spcAft>
                <a:spcPts val="100"/>
              </a:spcAft>
            </a:pPr>
            <a:r>
              <a:rPr sz="1300" b="0">
                <a:solidFill>
                  <a:srgbClr val="556175"/>
                </a:solidFill>
                <a:latin typeface="맑은 고딕"/>
                <a:ea typeface="맑은 고딕"/>
                <a:cs typeface="맑은 고딕"/>
              </a:rPr>
              <a:t>User Task · 사람 표식</a:t>
            </a:r>
          </a:p>
          <a:p>
            <a:pPr algn="ctr">
              <a:lnSpc>
                <a:spcPct val="110000"/>
              </a:lnSpc>
              <a:spcAft>
                <a:spcPts val="100"/>
              </a:spcAft>
            </a:pPr>
            <a:r>
              <a:rPr sz="1300" b="0">
                <a:solidFill>
                  <a:srgbClr val="556175"/>
                </a:solidFill>
                <a:latin typeface="맑은 고딕"/>
                <a:ea typeface="맑은 고딕"/>
                <a:cs typeface="맑은 고딕"/>
              </a:rPr>
              <a:t>사람이 수행하고</a:t>
            </a:r>
          </a:p>
          <a:p>
            <a:pPr algn="ctr">
              <a:lnSpc>
                <a:spcPct val="110000"/>
              </a:lnSpc>
              <a:spcAft>
                <a:spcPts val="100"/>
              </a:spcAft>
            </a:pPr>
            <a:r>
              <a:rPr sz="1300" b="0">
                <a:solidFill>
                  <a:srgbClr val="556175"/>
                </a:solidFill>
                <a:latin typeface="맑은 고딕"/>
                <a:ea typeface="맑은 고딕"/>
                <a:cs typeface="맑은 고딕"/>
              </a:rPr>
              <a:t>끝났음을 알린다</a:t>
            </a:r>
          </a:p>
        </p:txBody>
      </p:sp>
      <p:sp>
        <p:nvSpPr>
          <p:cNvPr id="12" name="TextBox 11"/>
          <p:cNvSpPr txBox="1"/>
          <p:nvPr/>
        </p:nvSpPr>
        <p:spPr>
          <a:xfrm>
            <a:off x="8332294" y="4369551"/>
            <a:ext cx="261827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서비스 작업</a:t>
            </a:r>
          </a:p>
          <a:p>
            <a:pPr algn="ctr">
              <a:lnSpc>
                <a:spcPct val="110000"/>
              </a:lnSpc>
              <a:spcAft>
                <a:spcPts val="100"/>
              </a:spcAft>
            </a:pPr>
            <a:r>
              <a:rPr sz="1300" b="0">
                <a:solidFill>
                  <a:srgbClr val="556175"/>
                </a:solidFill>
                <a:latin typeface="맑은 고딕"/>
                <a:ea typeface="맑은 고딕"/>
                <a:cs typeface="맑은 고딕"/>
              </a:rPr>
              <a:t>Service Task · 톱니 표식</a:t>
            </a:r>
          </a:p>
          <a:p>
            <a:pPr algn="ctr">
              <a:lnSpc>
                <a:spcPct val="110000"/>
              </a:lnSpc>
              <a:spcAft>
                <a:spcPts val="100"/>
              </a:spcAft>
            </a:pPr>
            <a:r>
              <a:rPr sz="1300" b="0">
                <a:solidFill>
                  <a:srgbClr val="556175"/>
                </a:solidFill>
                <a:latin typeface="맑은 고딕"/>
                <a:ea typeface="맑은 고딕"/>
                <a:cs typeface="맑은 고딕"/>
              </a:rPr>
              <a:t>시스템이 자동으로 수행한다</a:t>
            </a:r>
          </a:p>
        </p:txBody>
      </p:sp>
      <p:sp>
        <p:nvSpPr>
          <p:cNvPr id="13" name="TextBox 12"/>
          <p:cNvSpPr txBox="1"/>
          <p:nvPr/>
        </p:nvSpPr>
        <p:spPr>
          <a:xfrm>
            <a:off x="1513859" y="1769455"/>
            <a:ext cx="9163975"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활동(Activity)은 프로세스 안에서 수행되는 일이고, 작업(Task)은 더 쪼개지지 않는 활동이다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시퀀스 흐름과 배타 게이트웨이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순서는 실선 화살표인 시퀀스 흐름으로 잇고, 갈림은 조건이 참인 한 갈래만 고르는 배타 게이트웨이로 그린다.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게이트웨이.svg" descr="illust_1561417333345292823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68407" y="3069503"/>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8" name="TextBox 7"/>
          <p:cNvSpPr txBox="1"/>
          <p:nvPr/>
        </p:nvSpPr>
        <p:spPr>
          <a:xfrm>
            <a:off x="4710341" y="1911278"/>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9" name="TextBox 8"/>
          <p:cNvSpPr txBox="1"/>
          <p:nvPr/>
        </p:nvSpPr>
        <p:spPr>
          <a:xfrm>
            <a:off x="8823221" y="3069503"/>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8714126" y="5244129"/>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 거절</a:t>
            </a:r>
          </a:p>
        </p:txBody>
      </p:sp>
      <p:sp>
        <p:nvSpPr>
          <p:cNvPr id="11" name="TextBox 10"/>
          <p:cNvSpPr txBox="1"/>
          <p:nvPr/>
        </p:nvSpPr>
        <p:spPr>
          <a:xfrm>
            <a:off x="6684960" y="2714945"/>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a:t>
            </a:r>
          </a:p>
        </p:txBody>
      </p:sp>
      <p:sp>
        <p:nvSpPr>
          <p:cNvPr id="12" name="TextBox 11"/>
          <p:cNvSpPr txBox="1"/>
          <p:nvPr/>
        </p:nvSpPr>
        <p:spPr>
          <a:xfrm>
            <a:off x="6368584" y="4913208"/>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거절</a:t>
            </a:r>
          </a:p>
        </p:txBody>
      </p:sp>
      <p:sp>
        <p:nvSpPr>
          <p:cNvPr id="13" name="TextBox 12"/>
          <p:cNvSpPr txBox="1"/>
          <p:nvPr/>
        </p:nvSpPr>
        <p:spPr>
          <a:xfrm>
            <a:off x="3150283" y="3329513"/>
            <a:ext cx="152732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시퀀스 흐름</a:t>
            </a:r>
          </a:p>
          <a:p>
            <a:pPr algn="ctr">
              <a:lnSpc>
                <a:spcPct val="110000"/>
              </a:lnSpc>
              <a:spcAft>
                <a:spcPts val="100"/>
              </a:spcAft>
            </a:pPr>
            <a:r>
              <a:rPr sz="1300" b="0">
                <a:solidFill>
                  <a:srgbClr val="556175"/>
                </a:solidFill>
                <a:latin typeface="맑은 고딕"/>
                <a:ea typeface="맑은 고딕"/>
                <a:cs typeface="맑은 고딕"/>
              </a:rPr>
              <a:t>Sequence Flow</a:t>
            </a:r>
          </a:p>
        </p:txBody>
      </p:sp>
      <p:sp>
        <p:nvSpPr>
          <p:cNvPr id="14" name="TextBox 13"/>
          <p:cNvSpPr txBox="1"/>
          <p:nvPr/>
        </p:nvSpPr>
        <p:spPr>
          <a:xfrm>
            <a:off x="1077479" y="4558649"/>
            <a:ext cx="349103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배타 게이트웨이</a:t>
            </a:r>
          </a:p>
          <a:p>
            <a:pPr algn="ctr">
              <a:lnSpc>
                <a:spcPct val="110000"/>
              </a:lnSpc>
              <a:spcAft>
                <a:spcPts val="100"/>
              </a:spcAft>
            </a:pPr>
            <a:r>
              <a:rPr sz="1300" b="0">
                <a:solidFill>
                  <a:srgbClr val="556175"/>
                </a:solidFill>
                <a:latin typeface="맑은 고딕"/>
                <a:ea typeface="맑은 고딕"/>
                <a:cs typeface="맑은 고딕"/>
              </a:rPr>
              <a:t>Exclusive Gateway</a:t>
            </a:r>
          </a:p>
          <a:p>
            <a:pPr algn="ctr">
              <a:lnSpc>
                <a:spcPct val="110000"/>
              </a:lnSpc>
              <a:spcAft>
                <a:spcPts val="100"/>
              </a:spcAft>
            </a:pPr>
            <a:r>
              <a:rPr sz="1300" b="0">
                <a:solidFill>
                  <a:srgbClr val="556175"/>
                </a:solidFill>
                <a:latin typeface="맑은 고딕"/>
                <a:ea typeface="맑은 고딕"/>
                <a:cs typeface="맑은 고딕"/>
              </a:rPr>
              <a:t>나가는 선 가운데 하나만 고른다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풀과 레인: 참여자와 책임의 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작업을 누가 맡는지는 글로 적지 않고 칸으로 나타내어, 풀 안의 레인 가운데 작업이 놓인 칸이 곧 맡는 쪽이다.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pic>
        <p:nvPicPr>
          <p:cNvPr id="6" name="삽화:풀과레인.svg" descr="illust_1425942374797988089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73873" y="288040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담당자</a:t>
            </a:r>
          </a:p>
        </p:txBody>
      </p:sp>
      <p:sp>
        <p:nvSpPr>
          <p:cNvPr id="8" name="TextBox 7"/>
          <p:cNvSpPr txBox="1"/>
          <p:nvPr/>
        </p:nvSpPr>
        <p:spPr>
          <a:xfrm>
            <a:off x="1873873" y="427500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1873873" y="564596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0" name="TextBox 9"/>
          <p:cNvSpPr txBox="1"/>
          <p:nvPr/>
        </p:nvSpPr>
        <p:spPr>
          <a:xfrm>
            <a:off x="4372147" y="3731346"/>
            <a:ext cx="163642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11" name="TextBox 10"/>
          <p:cNvSpPr txBox="1"/>
          <p:nvPr/>
        </p:nvSpPr>
        <p:spPr>
          <a:xfrm>
            <a:off x="6892240" y="2478572"/>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12" name="TextBox 11"/>
          <p:cNvSpPr txBox="1"/>
          <p:nvPr/>
        </p:nvSpPr>
        <p:spPr>
          <a:xfrm>
            <a:off x="9259601" y="5267766"/>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3" name="TextBox 12"/>
          <p:cNvSpPr txBox="1"/>
          <p:nvPr/>
        </p:nvSpPr>
        <p:spPr>
          <a:xfrm>
            <a:off x="3913948" y="2005827"/>
            <a:ext cx="240008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풀</a:t>
            </a:r>
          </a:p>
          <a:p>
            <a:pPr algn="ctr">
              <a:lnSpc>
                <a:spcPct val="110000"/>
              </a:lnSpc>
              <a:spcAft>
                <a:spcPts val="100"/>
              </a:spcAft>
            </a:pPr>
            <a:r>
              <a:rPr sz="1300" b="0">
                <a:solidFill>
                  <a:srgbClr val="556175"/>
                </a:solidFill>
                <a:latin typeface="맑은 고딕"/>
                <a:ea typeface="맑은 고딕"/>
                <a:cs typeface="맑은 고딕"/>
              </a:rPr>
              <a:t>Pool</a:t>
            </a:r>
          </a:p>
          <a:p>
            <a:pPr algn="ctr">
              <a:lnSpc>
                <a:spcPct val="110000"/>
              </a:lnSpc>
              <a:spcAft>
                <a:spcPts val="100"/>
              </a:spcAft>
            </a:pPr>
            <a:r>
              <a:rPr sz="1300" b="0">
                <a:solidFill>
                  <a:srgbClr val="556175"/>
                </a:solidFill>
                <a:latin typeface="맑은 고딕"/>
                <a:ea typeface="맑은 고딕"/>
                <a:cs typeface="맑은 고딕"/>
              </a:rPr>
              <a:t>참여자 하나의 영역</a:t>
            </a:r>
          </a:p>
        </p:txBody>
      </p:sp>
      <p:sp>
        <p:nvSpPr>
          <p:cNvPr id="14" name="TextBox 13"/>
          <p:cNvSpPr txBox="1"/>
          <p:nvPr/>
        </p:nvSpPr>
        <p:spPr>
          <a:xfrm>
            <a:off x="4459423" y="4936845"/>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레인</a:t>
            </a:r>
          </a:p>
          <a:p>
            <a:pPr algn="ctr">
              <a:lnSpc>
                <a:spcPct val="110000"/>
              </a:lnSpc>
              <a:spcAft>
                <a:spcPts val="100"/>
              </a:spcAft>
            </a:pPr>
            <a:r>
              <a:rPr sz="1300" b="0">
                <a:solidFill>
                  <a:srgbClr val="556175"/>
                </a:solidFill>
                <a:latin typeface="맑은 고딕"/>
                <a:ea typeface="맑은 고딕"/>
                <a:cs typeface="맑은 고딕"/>
              </a:rPr>
              <a:t>Lane</a:t>
            </a:r>
          </a:p>
          <a:p>
            <a:pPr algn="ctr">
              <a:lnSpc>
                <a:spcPct val="110000"/>
              </a:lnSpc>
              <a:spcAft>
                <a:spcPts val="100"/>
              </a:spcAft>
            </a:pPr>
            <a:r>
              <a:rPr sz="1300" b="0">
                <a:solidFill>
                  <a:srgbClr val="556175"/>
                </a:solidFill>
                <a:latin typeface="맑은 고딕"/>
                <a:ea typeface="맑은 고딕"/>
                <a:cs typeface="맑은 고딕"/>
              </a:rPr>
              <a:t>풀 안에서 책임을 나누는 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경계 이벤트와 타이머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작업이 끝나기를 기다리는 동안 생기는 일은 테두리에 붙인 경계 이벤트로 그리고, 기간의 경과는 타이머로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경계타이머.svg" descr="illust_9077386304421783564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86574" y="2313111"/>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중단형</a:t>
            </a:r>
          </a:p>
          <a:p>
            <a:pPr algn="ctr">
              <a:lnSpc>
                <a:spcPct val="110000"/>
              </a:lnSpc>
              <a:spcAft>
                <a:spcPts val="100"/>
              </a:spcAft>
            </a:pPr>
            <a:r>
              <a:rPr sz="1300" b="0">
                <a:solidFill>
                  <a:srgbClr val="556175"/>
                </a:solidFill>
                <a:latin typeface="맑은 고딕"/>
                <a:ea typeface="맑은 고딕"/>
                <a:cs typeface="맑은 고딕"/>
              </a:rPr>
              <a:t>Interrupting · 실선 겹테두리</a:t>
            </a:r>
          </a:p>
        </p:txBody>
      </p:sp>
      <p:sp>
        <p:nvSpPr>
          <p:cNvPr id="8" name="TextBox 7"/>
          <p:cNvSpPr txBox="1"/>
          <p:nvPr/>
        </p:nvSpPr>
        <p:spPr>
          <a:xfrm>
            <a:off x="6641322" y="2313111"/>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비중단형</a:t>
            </a:r>
          </a:p>
          <a:p>
            <a:pPr algn="ctr">
              <a:lnSpc>
                <a:spcPct val="110000"/>
              </a:lnSpc>
              <a:spcAft>
                <a:spcPts val="100"/>
              </a:spcAft>
            </a:pPr>
            <a:r>
              <a:rPr sz="1300" b="0">
                <a:solidFill>
                  <a:srgbClr val="556175"/>
                </a:solidFill>
                <a:latin typeface="맑은 고딕"/>
                <a:ea typeface="맑은 고딕"/>
                <a:cs typeface="맑은 고딕"/>
              </a:rPr>
              <a:t>Non-interrupting · 점선 겹테두리</a:t>
            </a:r>
          </a:p>
        </p:txBody>
      </p:sp>
      <p:sp>
        <p:nvSpPr>
          <p:cNvPr id="9" name="TextBox 8"/>
          <p:cNvSpPr txBox="1"/>
          <p:nvPr/>
        </p:nvSpPr>
        <p:spPr>
          <a:xfrm>
            <a:off x="968384" y="4747747"/>
            <a:ext cx="1636424" cy="87172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작업을 끊고 다른 가지로 간다</a:t>
            </a:r>
          </a:p>
        </p:txBody>
      </p:sp>
      <p:sp>
        <p:nvSpPr>
          <p:cNvPr id="10" name="TextBox 9"/>
          <p:cNvSpPr txBox="1"/>
          <p:nvPr/>
        </p:nvSpPr>
        <p:spPr>
          <a:xfrm>
            <a:off x="6423132" y="4747747"/>
            <a:ext cx="1636424" cy="87172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작업은 두고 가지를 하나 더 연다</a:t>
            </a:r>
          </a:p>
        </p:txBody>
      </p:sp>
      <p:sp>
        <p:nvSpPr>
          <p:cNvPr id="11" name="TextBox 10"/>
          <p:cNvSpPr txBox="1"/>
          <p:nvPr/>
        </p:nvSpPr>
        <p:spPr>
          <a:xfrm>
            <a:off x="4077591" y="524412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다른 작업</a:t>
            </a:r>
          </a:p>
        </p:txBody>
      </p:sp>
      <p:sp>
        <p:nvSpPr>
          <p:cNvPr id="12" name="TextBox 11"/>
          <p:cNvSpPr txBox="1"/>
          <p:nvPr/>
        </p:nvSpPr>
        <p:spPr>
          <a:xfrm>
            <a:off x="9532338" y="524412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추가 작업</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승인을 받는 자리의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작업에는 승인과 거절을 가르는 게이트웨이와, 응답이 늦을 때 알림 가지를 여는 비중단형 타이머가 함께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승인자리.svg" descr="illust_2112284859090722211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714945"/>
            <a:ext cx="152732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8" name="TextBox 7"/>
          <p:cNvSpPr txBox="1"/>
          <p:nvPr/>
        </p:nvSpPr>
        <p:spPr>
          <a:xfrm>
            <a:off x="3968496" y="2809494"/>
            <a:ext cx="141823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운전원 승인</a:t>
            </a:r>
          </a:p>
        </p:txBody>
      </p:sp>
      <p:sp>
        <p:nvSpPr>
          <p:cNvPr id="9" name="TextBox 8"/>
          <p:cNvSpPr txBox="1"/>
          <p:nvPr/>
        </p:nvSpPr>
        <p:spPr>
          <a:xfrm>
            <a:off x="6455860" y="214765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9150506" y="2809494"/>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8114104" y="5102306"/>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2" name="TextBox 11"/>
          <p:cNvSpPr txBox="1"/>
          <p:nvPr/>
        </p:nvSpPr>
        <p:spPr>
          <a:xfrm>
            <a:off x="2659356" y="5102306"/>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13" name="TextBox 12"/>
          <p:cNvSpPr txBox="1"/>
          <p:nvPr/>
        </p:nvSpPr>
        <p:spPr>
          <a:xfrm>
            <a:off x="5441277" y="3754983"/>
            <a:ext cx="141823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지연</a:t>
            </a:r>
          </a:p>
          <a:p>
            <a:pPr algn="ctr">
              <a:lnSpc>
                <a:spcPct val="110000"/>
              </a:lnSpc>
              <a:spcAft>
                <a:spcPts val="100"/>
              </a:spcAft>
            </a:pPr>
            <a:r>
              <a:rPr sz="1100" b="0">
                <a:solidFill>
                  <a:srgbClr val="556175"/>
                </a:solidFill>
                <a:latin typeface="맑은 고딕"/>
                <a:ea typeface="맑은 고딕"/>
                <a:cs typeface="맑은 고딕"/>
              </a:rPr>
              <a:t>기한 10분 · 비중단형</a:t>
            </a:r>
          </a:p>
        </p:txBody>
      </p:sp>
      <p:sp>
        <p:nvSpPr>
          <p:cNvPr id="14" name="TextBox 13"/>
          <p:cNvSpPr txBox="1"/>
          <p:nvPr/>
        </p:nvSpPr>
        <p:spPr>
          <a:xfrm>
            <a:off x="7732271" y="2667670"/>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077702" y="4227728"/>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a:t>
            </a:r>
          </a:p>
        </p:txBody>
      </p:sp>
      <p:sp>
        <p:nvSpPr>
          <p:cNvPr id="16" name="TextBox 15"/>
          <p:cNvSpPr txBox="1"/>
          <p:nvPr/>
        </p:nvSpPr>
        <p:spPr>
          <a:xfrm>
            <a:off x="10405098" y="5598688"/>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17" name="TextBox 16"/>
          <p:cNvSpPr txBox="1"/>
          <p:nvPr/>
        </p:nvSpPr>
        <p:spPr>
          <a:xfrm>
            <a:off x="935656" y="559868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그림 위의 세 가지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그림에서 승인하면 끝에, 거절하면 거절 종결에 닿고, 응답이 없으면 알림 가지만 먼저 끝난다.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a:t>
            </a:r>
          </a:p>
          <a:p>
            <a:pPr algn="l">
              <a:lnSpc>
                <a:spcPct val="110000"/>
              </a:lnSpc>
              <a:spcAft>
                <a:spcPts val="400"/>
              </a:spcAft>
            </a:pPr>
            <a:r>
              <a:rPr sz="1400" b="0">
                <a:solidFill>
                  <a:srgbClr val="1F2A3A"/>
                </a:solidFill>
                <a:latin typeface="맑은 고딕"/>
                <a:ea typeface="맑은 고딕"/>
                <a:cs typeface="맑은 고딕"/>
              </a:rPr>
              <a:t>• 승인? 게이트웨이에서 냉각 명령으로 간다</a:t>
            </a:r>
          </a:p>
          <a:p>
            <a:pPr algn="l">
              <a:lnSpc>
                <a:spcPct val="110000"/>
              </a:lnSpc>
              <a:spcAft>
                <a:spcPts val="400"/>
              </a:spcAft>
            </a:pPr>
            <a:r>
              <a:rPr sz="1400" b="0">
                <a:solidFill>
                  <a:srgbClr val="1F2A3A"/>
                </a:solidFill>
                <a:latin typeface="맑은 고딕"/>
                <a:ea typeface="맑은 고딕"/>
                <a:cs typeface="맑은 고딕"/>
              </a:rPr>
              <a:t>• 재관측과 유온 정상? 게이트웨이를 지난다</a:t>
            </a:r>
          </a:p>
          <a:p>
            <a:pPr algn="l">
              <a:lnSpc>
                <a:spcPct val="110000"/>
              </a:lnSpc>
              <a:spcAft>
                <a:spcPts val="400"/>
              </a:spcAft>
            </a:pPr>
            <a:r>
              <a:rPr sz="1400" b="0">
                <a:solidFill>
                  <a:srgbClr val="1F2A3A"/>
                </a:solidFill>
                <a:latin typeface="맑은 고딕"/>
                <a:ea typeface="맑은 고딕"/>
                <a:cs typeface="맑은 고딕"/>
              </a:rPr>
              <a:t>• 작업지시 등록, 결과 보고: 정상을 거친다</a:t>
            </a:r>
          </a:p>
        </p:txBody>
      </p:sp>
      <p:sp>
        <p:nvSpPr>
          <p:cNvPr id="10" name="Rounded Rectangle 9"/>
          <p:cNvSpPr/>
          <p:nvPr/>
        </p:nvSpPr>
        <p:spPr>
          <a:xfrm>
            <a:off x="777240" y="536676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끝</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ban" descr="ban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a:t>
            </a:r>
          </a:p>
          <a:p>
            <a:pPr algn="l">
              <a:lnSpc>
                <a:spcPct val="110000"/>
              </a:lnSpc>
              <a:spcAft>
                <a:spcPts val="400"/>
              </a:spcAft>
            </a:pPr>
            <a:r>
              <a:rPr sz="1400" b="0">
                <a:solidFill>
                  <a:srgbClr val="1F2A3A"/>
                </a:solidFill>
                <a:latin typeface="맑은 고딕"/>
                <a:ea typeface="맑은 고딕"/>
                <a:cs typeface="맑은 고딕"/>
              </a:rPr>
              <a:t>• 승인? 게이트웨이에서 결과 보고: 거절로 간다</a:t>
            </a:r>
          </a:p>
          <a:p>
            <a:pPr algn="l">
              <a:lnSpc>
                <a:spcPct val="110000"/>
              </a:lnSpc>
              <a:spcAft>
                <a:spcPts val="400"/>
              </a:spcAft>
            </a:pPr>
            <a:r>
              <a:rPr sz="1400" b="0">
                <a:solidFill>
                  <a:srgbClr val="1F2A3A"/>
                </a:solidFill>
                <a:latin typeface="맑은 고딕"/>
                <a:ea typeface="맑은 고딕"/>
                <a:cs typeface="맑은 고딕"/>
              </a:rPr>
              <a:t>• 냉각 명령으로 가는 선은 지나지 않는다</a:t>
            </a:r>
          </a:p>
        </p:txBody>
      </p:sp>
      <p:sp>
        <p:nvSpPr>
          <p:cNvPr id="16" name="Rounded Rectangle 15"/>
          <p:cNvSpPr/>
          <p:nvPr/>
        </p:nvSpPr>
        <p:spPr>
          <a:xfrm>
            <a:off x="4566818" y="536676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거절 종결</a:t>
            </a:r>
          </a:p>
        </p:txBody>
      </p:sp>
      <p:sp>
        <p:nvSpPr>
          <p:cNvPr id="18" name="Rounded Rectangle 17"/>
          <p:cNvSpPr/>
          <p:nvPr/>
        </p:nvSpPr>
        <p:spPr>
          <a:xfrm>
            <a:off x="8127796"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5CB8F2"/>
          </a:solidFill>
          <a:ln>
            <a:noFill/>
          </a:ln>
        </p:spPr>
        <p:txBody>
          <a:bodyPr rtlCol="0" anchor="ctr"/>
          <a:lstStyle/>
          <a:p>
            <a:pPr algn="ctr"/>
          </a:p>
        </p:txBody>
      </p:sp>
      <p:pic>
        <p:nvPicPr>
          <p:cNvPr id="20" name="아이콘:hourglass" descr="hourglass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응답 없음</a:t>
            </a:r>
          </a:p>
          <a:p>
            <a:pPr algn="l">
              <a:lnSpc>
                <a:spcPct val="110000"/>
              </a:lnSpc>
              <a:spcAft>
                <a:spcPts val="400"/>
              </a:spcAft>
            </a:pPr>
            <a:r>
              <a:rPr sz="1400" b="0">
                <a:solidFill>
                  <a:srgbClr val="1F2A3A"/>
                </a:solidFill>
                <a:latin typeface="맑은 고딕"/>
                <a:ea typeface="맑은 고딕"/>
                <a:cs typeface="맑은 고딕"/>
              </a:rPr>
              <a:t>• 승인 지연 타이머가 승인 지연 알림을 연다</a:t>
            </a:r>
          </a:p>
          <a:p>
            <a:pPr algn="l">
              <a:lnSpc>
                <a:spcPct val="110000"/>
              </a:lnSpc>
              <a:spcAft>
                <a:spcPts val="400"/>
              </a:spcAft>
            </a:pPr>
            <a:r>
              <a:rPr sz="1400" b="0">
                <a:solidFill>
                  <a:srgbClr val="1F2A3A"/>
                </a:solidFill>
                <a:latin typeface="맑은 고딕"/>
                <a:ea typeface="맑은 고딕"/>
                <a:cs typeface="맑은 고딕"/>
              </a:rPr>
              <a:t>• 운전원 승인은 열린 채로 남는다</a:t>
            </a:r>
          </a:p>
        </p:txBody>
      </p:sp>
      <p:sp>
        <p:nvSpPr>
          <p:cNvPr id="22" name="Rounded Rectangle 21"/>
          <p:cNvSpPr/>
          <p:nvPr/>
        </p:nvSpPr>
        <p:spPr>
          <a:xfrm>
            <a:off x="8356396" y="536676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6676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알림</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 에이전트, 시스템의 책임 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판단은 에이전트 레인에, 결정은 담당자 레인에, 실행과 기록은 시스템 레인에 놓여 설비 명령 앞에 사람의 승인이 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맡는 쪽</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레인</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긴급 대응 에이전트 · agent:cooling</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 역할 · role:operator</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담당자</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SCADA(Supervisory Control and Data Acquisition) · sys:scada</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process 서비스 · sys:process</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CMMS(Computerized Maintenance Management System) · sys:cmms</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보고</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process 서비스 · sys:process</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그림만으로는 일어나지 않는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 그림은 설계도여서, 그림대로 다음 작업을 열고 결과를 넘기고 진행 위치를 기억하는 실행 주체가 따로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다음 작업 열기</a:t>
            </a:r>
          </a:p>
          <a:p>
            <a:pPr algn="l">
              <a:lnSpc>
                <a:spcPct val="110000"/>
              </a:lnSpc>
              <a:spcAft>
                <a:spcPts val="400"/>
              </a:spcAft>
            </a:pPr>
            <a:r>
              <a:rPr sz="1400" b="0">
                <a:solidFill>
                  <a:srgbClr val="1F2A3A"/>
                </a:solidFill>
                <a:latin typeface="맑은 고딕"/>
                <a:ea typeface="맑은 고딕"/>
                <a:cs typeface="맑은 고딕"/>
              </a:rPr>
              <a:t>에이전트의 제출이 끝나면 운전원에게 승인 작업을 놓는다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arrows-right-left" descr="arrows-right-lef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 넘기기</a:t>
            </a:r>
          </a:p>
          <a:p>
            <a:pPr algn="l">
              <a:lnSpc>
                <a:spcPct val="110000"/>
              </a:lnSpc>
              <a:spcAft>
                <a:spcPts val="400"/>
              </a:spcAft>
            </a:pPr>
            <a:r>
              <a:rPr sz="1400" b="0">
                <a:solidFill>
                  <a:srgbClr val="1F2A3A"/>
                </a:solidFill>
                <a:latin typeface="맑은 고딕"/>
                <a:ea typeface="맑은 고딕"/>
                <a:cs typeface="맑은 고딕"/>
              </a:rPr>
              <a:t>승인의 결과를 게이트웨이에, 재관측의 판정을 다음 갈림에 전한다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데이터</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map-pin" descr="map-pin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위치 기억하기</a:t>
            </a:r>
          </a:p>
          <a:p>
            <a:pPr algn="l">
              <a:lnSpc>
                <a:spcPct val="110000"/>
              </a:lnSpc>
              <a:spcAft>
                <a:spcPts val="400"/>
              </a:spcAft>
            </a:pPr>
            <a:r>
              <a:rPr sz="1400" b="0">
                <a:solidFill>
                  <a:srgbClr val="1F2A3A"/>
                </a:solidFill>
                <a:latin typeface="맑은 고딕"/>
                <a:ea typeface="맑은 고딕"/>
                <a:cs typeface="맑은 고딕"/>
              </a:rPr>
              <a:t>승인을 기다리는 동안 어디까지 왔는지를 잊지 않는다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상태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엔진과 오케스트레이션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엔진이 정의를 읽어 작업을 차례로 열며, 한 주체가 전체 순서를 이끄는 이 방식이 오케스트레이션이다.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프로세스 엔진</a:t>
            </a:r>
          </a:p>
          <a:p>
            <a:pPr algn="l">
              <a:lnSpc>
                <a:spcPct val="110000"/>
              </a:lnSpc>
              <a:spcAft>
                <a:spcPts val="200"/>
              </a:spcAft>
            </a:pPr>
            <a:r>
              <a:rPr sz="1150" b="0">
                <a:solidFill>
                  <a:srgbClr val="556175"/>
                </a:solidFill>
                <a:latin typeface="맑은 고딕"/>
                <a:ea typeface="맑은 고딕"/>
                <a:cs typeface="맑은 고딕"/>
              </a:rPr>
              <a:t>Process Engine</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프로세스의 정의를 읽어 그대로 실행하는 소프트웨어이다.</a:t>
            </a:r>
          </a:p>
          <a:p>
            <a:pPr algn="l">
              <a:lnSpc>
                <a:spcPct val="110000"/>
              </a:lnSpc>
              <a:spcAft>
                <a:spcPts val="300"/>
              </a:spcAft>
            </a:pPr>
            <a:r>
              <a:rPr sz="1400" b="0">
                <a:solidFill>
                  <a:srgbClr val="1F2A3A"/>
                </a:solidFill>
                <a:latin typeface="맑은 고딕"/>
                <a:ea typeface="맑은 고딕"/>
                <a:cs typeface="맑은 고딕"/>
              </a:rPr>
              <a:t>HYD에서는 process 서비스가 이 일을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Rounded Rectangle 9"/>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1" name="TextBox 10"/>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오케스트레이션</a:t>
            </a:r>
          </a:p>
          <a:p>
            <a:pPr algn="l">
              <a:lnSpc>
                <a:spcPct val="110000"/>
              </a:lnSpc>
              <a:spcAft>
                <a:spcPts val="200"/>
              </a:spcAft>
            </a:pPr>
            <a:r>
              <a:rPr sz="1150" b="0">
                <a:solidFill>
                  <a:srgbClr val="556175"/>
                </a:solidFill>
                <a:latin typeface="맑은 고딕"/>
                <a:ea typeface="맑은 고딕"/>
                <a:cs typeface="맑은 고딕"/>
              </a:rPr>
              <a:t>Orchestration</a:t>
            </a:r>
          </a:p>
        </p:txBody>
      </p:sp>
      <p:sp>
        <p:nvSpPr>
          <p:cNvPr id="12" name="TextBox 11"/>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중앙의 조정자가 작업의 순서와 호출을 이끄는 방식이다.</a:t>
            </a:r>
          </a:p>
          <a:p>
            <a:pPr algn="l">
              <a:lnSpc>
                <a:spcPct val="110000"/>
              </a:lnSpc>
              <a:spcAft>
                <a:spcPts val="300"/>
              </a:spcAft>
            </a:pPr>
            <a:r>
              <a:rPr sz="1400" b="0">
                <a:solidFill>
                  <a:srgbClr val="1F2A3A"/>
                </a:solidFill>
                <a:latin typeface="맑은 고딕"/>
                <a:ea typeface="맑은 고딕"/>
                <a:cs typeface="맑은 고딕"/>
              </a:rPr>
              <a:t>사람, 에이전트, 시스템은 자기 작업만 하고 다음 차례는 엔진이 정한다.</a:t>
            </a:r>
          </a:p>
        </p:txBody>
      </p:sp>
      <p:sp>
        <p:nvSpPr>
          <p:cNvPr id="13" name="Rectangle 12"/>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오케스트라의 지휘자</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5" name="TextBox 14"/>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연주자는 자기 악기만 맡고 들어올 차례는 지휘자가 알린다.</a:t>
            </a:r>
          </a:p>
          <a:p>
            <a:pPr algn="l">
              <a:lnSpc>
                <a:spcPct val="110000"/>
              </a:lnSpc>
              <a:spcAft>
                <a:spcPts val="300"/>
              </a:spcAft>
            </a:pPr>
            <a:r>
              <a:rPr sz="1400" b="0">
                <a:solidFill>
                  <a:srgbClr val="1F2A3A"/>
                </a:solidFill>
                <a:latin typeface="맑은 고딕"/>
                <a:ea typeface="맑은 고딕"/>
                <a:cs typeface="맑은 고딕"/>
              </a:rPr>
              <a:t>다른 점: 엔진은 차례를 알리는 데 그치지 않고 작업의 결과를 받아 다음 작업에 넘기고 기록한다.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정의와 프로세스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정의는 설계도 하나이고, 경보가 올 때마다 그 정의에서 프로세스 인스턴스가 하나씩 만들어져 따로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정의와인스턴스.svg" descr="illust_8690947670931042807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46565" y="1982190"/>
            <a:ext cx="392741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정의</a:t>
            </a:r>
          </a:p>
          <a:p>
            <a:pPr algn="ctr">
              <a:lnSpc>
                <a:spcPct val="110000"/>
              </a:lnSpc>
              <a:spcAft>
                <a:spcPts val="100"/>
              </a:spcAft>
            </a:pPr>
            <a:r>
              <a:rPr sz="1300" b="0">
                <a:solidFill>
                  <a:srgbClr val="556175"/>
                </a:solidFill>
                <a:latin typeface="맑은 고딕"/>
                <a:ea typeface="맑은 고딕"/>
                <a:cs typeface="맑은 고딕"/>
              </a:rPr>
              <a:t>Process Definition · 설계도 하나</a:t>
            </a:r>
          </a:p>
        </p:txBody>
      </p:sp>
      <p:sp>
        <p:nvSpPr>
          <p:cNvPr id="8" name="TextBox 7"/>
          <p:cNvSpPr txBox="1"/>
          <p:nvPr/>
        </p:nvSpPr>
        <p:spPr>
          <a:xfrm>
            <a:off x="1273850" y="4653198"/>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c3_cooling</a:t>
            </a:r>
          </a:p>
          <a:p>
            <a:pPr algn="ctr">
              <a:lnSpc>
                <a:spcPct val="110000"/>
              </a:lnSpc>
              <a:spcAft>
                <a:spcPts val="100"/>
              </a:spcAft>
            </a:pPr>
            <a:r>
              <a:rPr sz="1300" b="0">
                <a:solidFill>
                  <a:srgbClr val="556175"/>
                </a:solidFill>
                <a:latin typeface="맑은 고딕"/>
                <a:ea typeface="맑은 고딕"/>
                <a:cs typeface="맑은 고딕"/>
              </a:rPr>
              <a:t>긴급 대응 프로세스의 정의</a:t>
            </a:r>
          </a:p>
        </p:txBody>
      </p:sp>
      <p:sp>
        <p:nvSpPr>
          <p:cNvPr id="9" name="TextBox 8"/>
          <p:cNvSpPr txBox="1"/>
          <p:nvPr/>
        </p:nvSpPr>
        <p:spPr>
          <a:xfrm>
            <a:off x="6859512" y="1627632"/>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인스턴스</a:t>
            </a:r>
          </a:p>
          <a:p>
            <a:pPr algn="ctr">
              <a:lnSpc>
                <a:spcPct val="110000"/>
              </a:lnSpc>
              <a:spcAft>
                <a:spcPts val="100"/>
              </a:spcAft>
            </a:pPr>
            <a:r>
              <a:rPr sz="1300" b="0">
                <a:solidFill>
                  <a:srgbClr val="556175"/>
                </a:solidFill>
                <a:latin typeface="맑은 고딕"/>
                <a:ea typeface="맑은 고딕"/>
                <a:cs typeface="맑은 고딕"/>
              </a:rPr>
              <a:t>Process Instance · 실행되는 한 건</a:t>
            </a:r>
          </a:p>
        </p:txBody>
      </p:sp>
      <p:sp>
        <p:nvSpPr>
          <p:cNvPr id="10" name="TextBox 9"/>
          <p:cNvSpPr txBox="1"/>
          <p:nvPr/>
        </p:nvSpPr>
        <p:spPr>
          <a:xfrm>
            <a:off x="6968607" y="2407660"/>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32aca7de… 승인되어 끝남</a:t>
            </a:r>
          </a:p>
        </p:txBody>
      </p:sp>
      <p:sp>
        <p:nvSpPr>
          <p:cNvPr id="11" name="TextBox 10"/>
          <p:cNvSpPr txBox="1"/>
          <p:nvPr/>
        </p:nvSpPr>
        <p:spPr>
          <a:xfrm>
            <a:off x="6968607" y="3792803"/>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94a9231b… 거절로 끝남</a:t>
            </a:r>
          </a:p>
        </p:txBody>
      </p:sp>
      <p:sp>
        <p:nvSpPr>
          <p:cNvPr id="12" name="TextBox 11"/>
          <p:cNvSpPr txBox="1"/>
          <p:nvPr/>
        </p:nvSpPr>
        <p:spPr>
          <a:xfrm>
            <a:off x="6968607" y="5173218"/>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bede0d2e… 승인 대기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간단한 승인 절차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bpmn.io로 정비 요청의 승인 절차를 BPMN으로 그린다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만들어지는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정비 요청에서 승인 종료와 거절 종결까지를 그린 BPMN 파일 하나가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시작</a:t>
            </a:r>
          </a:p>
          <a:p>
            <a:pPr algn="ctr">
              <a:lnSpc>
                <a:spcPct val="110000"/>
              </a:lnSpc>
              <a:spcAft>
                <a:spcPts val="400"/>
              </a:spcAft>
            </a:pPr>
            <a:r>
              <a:rPr sz="1350" b="0">
                <a:solidFill>
                  <a:srgbClr val="1F2A3A"/>
                </a:solidFill>
                <a:latin typeface="맑은 고딕"/>
                <a:ea typeface="맑은 고딕"/>
                <a:cs typeface="맑은 고딕"/>
              </a:rPr>
              <a:t>정비 요청이</a:t>
            </a:r>
          </a:p>
          <a:p>
            <a:pPr algn="ctr">
              <a:lnSpc>
                <a:spcPct val="110000"/>
              </a:lnSpc>
              <a:spcAft>
                <a:spcPts val="400"/>
              </a:spcAft>
            </a:pPr>
            <a:r>
              <a:rPr sz="1350" b="0">
                <a:solidFill>
                  <a:srgbClr val="1F2A3A"/>
                </a:solidFill>
                <a:latin typeface="맑은 고딕"/>
                <a:ea typeface="맑은 고딕"/>
                <a:cs typeface="맑은 고딕"/>
              </a:rPr>
              <a:t>프로세스를 연다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user-check" descr="user-check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작업</a:t>
            </a:r>
          </a:p>
          <a:p>
            <a:pPr algn="ctr">
              <a:lnSpc>
                <a:spcPct val="110000"/>
              </a:lnSpc>
              <a:spcAft>
                <a:spcPts val="400"/>
              </a:spcAft>
            </a:pPr>
            <a:r>
              <a:rPr sz="1350" b="0">
                <a:solidFill>
                  <a:srgbClr val="1F2A3A"/>
                </a:solidFill>
                <a:latin typeface="맑은 고딕"/>
                <a:ea typeface="맑은 고딕"/>
                <a:cs typeface="맑은 고딕"/>
              </a:rPr>
              <a:t>담당자가</a:t>
            </a:r>
          </a:p>
          <a:p>
            <a:pPr algn="ctr">
              <a:lnSpc>
                <a:spcPct val="110000"/>
              </a:lnSpc>
              <a:spcAft>
                <a:spcPts val="400"/>
              </a:spcAft>
            </a:pPr>
            <a:r>
              <a:rPr sz="1350" b="0">
                <a:solidFill>
                  <a:srgbClr val="1F2A3A"/>
                </a:solidFill>
                <a:latin typeface="맑은 고딕"/>
                <a:ea typeface="맑은 고딕"/>
                <a:cs typeface="맑은 고딕"/>
              </a:rPr>
              <a:t>요청을 확인한다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arrows-split-2" descr="arrows-split-2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갈림</a:t>
            </a:r>
          </a:p>
          <a:p>
            <a:pPr algn="ctr">
              <a:lnSpc>
                <a:spcPct val="110000"/>
              </a:lnSpc>
              <a:spcAft>
                <a:spcPts val="400"/>
              </a:spcAft>
            </a:pPr>
            <a:r>
              <a:rPr sz="1350" b="0">
                <a:solidFill>
                  <a:srgbClr val="1F2A3A"/>
                </a:solidFill>
                <a:latin typeface="맑은 고딕"/>
                <a:ea typeface="맑은 고딕"/>
                <a:cs typeface="맑은 고딕"/>
              </a:rPr>
              <a:t>승인 여부에 따라</a:t>
            </a:r>
          </a:p>
          <a:p>
            <a:pPr algn="ctr">
              <a:lnSpc>
                <a:spcPct val="110000"/>
              </a:lnSpc>
              <a:spcAft>
                <a:spcPts val="400"/>
              </a:spcAft>
            </a:pPr>
            <a:r>
              <a:rPr sz="1350" b="0">
                <a:solidFill>
                  <a:srgbClr val="1F2A3A"/>
                </a:solidFill>
                <a:latin typeface="맑은 고딕"/>
                <a:ea typeface="맑은 고딕"/>
                <a:cs typeface="맑은 고딕"/>
              </a:rPr>
              <a:t>두 갈래로 나뉜다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file-text" descr="file-tex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두 개의 끝</a:t>
            </a:r>
          </a:p>
          <a:p>
            <a:pPr algn="ctr">
              <a:lnSpc>
                <a:spcPct val="110000"/>
              </a:lnSpc>
              <a:spcAft>
                <a:spcPts val="400"/>
              </a:spcAft>
            </a:pPr>
            <a:r>
              <a:rPr sz="1350" b="0">
                <a:solidFill>
                  <a:srgbClr val="1F2A3A"/>
                </a:solidFill>
                <a:latin typeface="맑은 고딕"/>
                <a:ea typeface="맑은 고딕"/>
                <a:cs typeface="맑은 고딕"/>
              </a:rPr>
              <a:t>승인 종료와</a:t>
            </a:r>
          </a:p>
          <a:p>
            <a:pPr algn="ctr">
              <a:lnSpc>
                <a:spcPct val="110000"/>
              </a:lnSpc>
              <a:spcAft>
                <a:spcPts val="400"/>
              </a:spcAft>
            </a:pPr>
            <a:r>
              <a:rPr sz="1350" b="0">
                <a:solidFill>
                  <a:srgbClr val="1F2A3A"/>
                </a:solidFill>
                <a:latin typeface="맑은 고딕"/>
                <a:ea typeface="맑은 고딕"/>
                <a:cs typeface="맑은 고딕"/>
              </a:rPr>
              <a:t>거절 종결에</a:t>
            </a:r>
          </a:p>
          <a:p>
            <a:pPr algn="ctr">
              <a:lnSpc>
                <a:spcPct val="110000"/>
              </a:lnSpc>
              <a:spcAft>
                <a:spcPts val="400"/>
              </a:spcAft>
            </a:pPr>
            <a:r>
              <a:rPr sz="1350" b="0">
                <a:solidFill>
                  <a:srgbClr val="1F2A3A"/>
                </a:solidFill>
                <a:latin typeface="맑은 고딕"/>
                <a:ea typeface="맑은 고딕"/>
                <a:cs typeface="맑은 고딕"/>
              </a:rPr>
              <a:t>각각 닿는다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긴급 대응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쿨러 성능 저하 경보에서 종료까지를 역할별 레인에 그린다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레인과 작업의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결과 보고까지의 작업을 역할별 레인에 놓으면, 판단과 결정과 실행을 누가 맡는지가 그림에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레인</a:t>
            </a:r>
          </a:p>
          <a:p>
            <a:pPr algn="l">
              <a:lnSpc>
                <a:spcPct val="110000"/>
              </a:lnSpc>
              <a:spcAft>
                <a:spcPts val="400"/>
              </a:spcAft>
            </a:pPr>
            <a:r>
              <a:rPr sz="1400" b="0">
                <a:solidFill>
                  <a:srgbClr val="1F2A3A"/>
                </a:solidFill>
                <a:latin typeface="맑은 고딕"/>
                <a:ea typeface="맑은 고딕"/>
                <a:cs typeface="맑은 고딕"/>
              </a:rPr>
              <a:t>• 쿨러 경보를 받는 메시지 시작 이벤트를 둔다</a:t>
            </a:r>
          </a:p>
          <a:p>
            <a:pPr algn="l">
              <a:lnSpc>
                <a:spcPct val="110000"/>
              </a:lnSpc>
              <a:spcAft>
                <a:spcPts val="400"/>
              </a:spcAft>
            </a:pPr>
            <a:r>
              <a:rPr sz="1400" b="0">
                <a:solidFill>
                  <a:srgbClr val="1F2A3A"/>
                </a:solidFill>
                <a:latin typeface="맑은 고딕"/>
                <a:ea typeface="맑은 고딕"/>
                <a:cs typeface="맑은 고딕"/>
              </a:rPr>
              <a:t>• 원인 진단과 조치 제안을 표식 없는 작업으로 그린다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담당자 레인</a:t>
            </a:r>
          </a:p>
          <a:p>
            <a:pPr algn="l">
              <a:lnSpc>
                <a:spcPct val="110000"/>
              </a:lnSpc>
              <a:spcAft>
                <a:spcPts val="400"/>
              </a:spcAft>
            </a:pPr>
            <a:r>
              <a:rPr sz="1400" b="0">
                <a:solidFill>
                  <a:srgbClr val="1F2A3A"/>
                </a:solidFill>
                <a:latin typeface="맑은 고딕"/>
                <a:ea typeface="맑은 고딕"/>
                <a:cs typeface="맑은 고딕"/>
              </a:rPr>
              <a:t>• 운전원 승인을 사용자 작업으로 그린다</a:t>
            </a:r>
          </a:p>
          <a:p>
            <a:pPr algn="l">
              <a:lnSpc>
                <a:spcPct val="110000"/>
              </a:lnSpc>
              <a:spcAft>
                <a:spcPts val="400"/>
              </a:spcAft>
            </a:pPr>
            <a:r>
              <a:rPr sz="1400" b="0">
                <a:solidFill>
                  <a:srgbClr val="1F2A3A"/>
                </a:solidFill>
                <a:latin typeface="맑은 고딕"/>
                <a:ea typeface="맑은 고딕"/>
                <a:cs typeface="맑은 고딕"/>
              </a:rPr>
              <a:t>• 에이전트의 제안 뒤, 냉각 명령 앞에 놓는다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결정</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server" descr="server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시스템 레인</a:t>
            </a:r>
          </a:p>
          <a:p>
            <a:pPr algn="l">
              <a:lnSpc>
                <a:spcPct val="110000"/>
              </a:lnSpc>
              <a:spcAft>
                <a:spcPts val="400"/>
              </a:spcAft>
            </a:pPr>
            <a:r>
              <a:rPr sz="1400" b="0">
                <a:solidFill>
                  <a:srgbClr val="1F2A3A"/>
                </a:solidFill>
                <a:latin typeface="맑은 고딕"/>
                <a:ea typeface="맑은 고딕"/>
                <a:cs typeface="맑은 고딕"/>
              </a:rPr>
              <a:t>• PLC로 가는 냉각 명령을 서비스 작업으로 그린다</a:t>
            </a:r>
          </a:p>
          <a:p>
            <a:pPr algn="l">
              <a:lnSpc>
                <a:spcPct val="110000"/>
              </a:lnSpc>
              <a:spcAft>
                <a:spcPts val="400"/>
              </a:spcAft>
            </a:pPr>
            <a:r>
              <a:rPr sz="1400" b="0">
                <a:solidFill>
                  <a:srgbClr val="1F2A3A"/>
                </a:solidFill>
                <a:latin typeface="맑은 고딕"/>
                <a:ea typeface="맑은 고딕"/>
                <a:cs typeface="맑은 고딕"/>
              </a:rPr>
              <a:t>• 재관측과 결과 보고를 이어 끝 이벤트에 닿게 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승인, 거절, 지연을 갖춘 흐름의 완성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승인과 거절의 갈림, 따로 둔 끝 이벤트, 승인 지연 알림을 더하고 거절 경로를 확인한다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더하는 갈림, 끝, 지연 알림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거절의 경로가 설비 명령에 닿지 않고 응답이 늦어도 승인이 끊기지 않도록, 갈림과 지연 알림을 더한다.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승인과 거절의 갈림</a:t>
            </a:r>
          </a:p>
          <a:p>
            <a:pPr algn="l">
              <a:lnSpc>
                <a:spcPct val="110000"/>
              </a:lnSpc>
              <a:spcAft>
                <a:spcPts val="400"/>
              </a:spcAft>
            </a:pPr>
            <a:r>
              <a:rPr sz="1400" b="0">
                <a:solidFill>
                  <a:srgbClr val="1F2A3A"/>
                </a:solidFill>
                <a:latin typeface="맑은 고딕"/>
                <a:ea typeface="맑은 고딕"/>
                <a:cs typeface="맑은 고딕"/>
              </a:rPr>
              <a:t>• 운전원 승인 뒤에 배타 게이트웨이를 둔다</a:t>
            </a:r>
          </a:p>
          <a:p>
            <a:pPr algn="l">
              <a:lnSpc>
                <a:spcPct val="110000"/>
              </a:lnSpc>
              <a:spcAft>
                <a:spcPts val="400"/>
              </a:spcAft>
            </a:pPr>
            <a:r>
              <a:rPr sz="1400" b="0">
                <a:solidFill>
                  <a:srgbClr val="1F2A3A"/>
                </a:solidFill>
                <a:latin typeface="맑은 고딕"/>
                <a:ea typeface="맑은 고딕"/>
                <a:cs typeface="맑은 고딕"/>
              </a:rPr>
              <a:t>• 승인 쪽 선만 냉각 명령으로 간다</a:t>
            </a:r>
          </a:p>
        </p:txBody>
      </p:sp>
      <p:sp>
        <p:nvSpPr>
          <p:cNvPr id="10" name="Rounded Rectangle 9"/>
          <p:cNvSpPr/>
          <p:nvPr/>
        </p:nvSpPr>
        <p:spPr>
          <a:xfrm>
            <a:off x="777240" y="5149850"/>
            <a:ext cx="11277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277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게이트웨이</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flag" descr="flag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따로 둔 끝</a:t>
            </a:r>
          </a:p>
          <a:p>
            <a:pPr algn="l">
              <a:lnSpc>
                <a:spcPct val="110000"/>
              </a:lnSpc>
              <a:spcAft>
                <a:spcPts val="400"/>
              </a:spcAft>
            </a:pPr>
            <a:r>
              <a:rPr sz="1400" b="0">
                <a:solidFill>
                  <a:srgbClr val="1F2A3A"/>
                </a:solidFill>
                <a:latin typeface="맑은 고딕"/>
                <a:ea typeface="맑은 고딕"/>
                <a:cs typeface="맑은 고딕"/>
              </a:rPr>
              <a:t>승인의 경로는 끝에, 거절의 경로는 결과 보고: 거절을 거쳐 거절 종결에 닿는다</a:t>
            </a:r>
          </a:p>
        </p:txBody>
      </p:sp>
      <p:sp>
        <p:nvSpPr>
          <p:cNvPr id="16" name="Rounded Rectangle 15"/>
          <p:cNvSpPr/>
          <p:nvPr/>
        </p:nvSpPr>
        <p:spPr>
          <a:xfrm>
            <a:off x="4566818" y="5149850"/>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끝 이벤트</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clock" descr="clo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지연 알림</a:t>
            </a:r>
          </a:p>
          <a:p>
            <a:pPr algn="l">
              <a:lnSpc>
                <a:spcPct val="110000"/>
              </a:lnSpc>
              <a:spcAft>
                <a:spcPts val="400"/>
              </a:spcAft>
            </a:pPr>
            <a:r>
              <a:rPr sz="1400" b="0">
                <a:solidFill>
                  <a:srgbClr val="1F2A3A"/>
                </a:solidFill>
                <a:latin typeface="맑은 고딕"/>
                <a:ea typeface="맑은 고딕"/>
                <a:cs typeface="맑은 고딕"/>
              </a:rPr>
              <a:t>• 운전원 승인에 비중단형 타이머를 붙여 알림 가지를 연다</a:t>
            </a:r>
          </a:p>
          <a:p>
            <a:pPr algn="l">
              <a:lnSpc>
                <a:spcPct val="110000"/>
              </a:lnSpc>
              <a:spcAft>
                <a:spcPts val="400"/>
              </a:spcAft>
            </a:pPr>
            <a:r>
              <a:rPr sz="1400" b="0">
                <a:solidFill>
                  <a:srgbClr val="1F2A3A"/>
                </a:solidFill>
                <a:latin typeface="맑은 고딕"/>
                <a:ea typeface="맑은 고딕"/>
                <a:cs typeface="맑은 고딕"/>
              </a:rPr>
              <a:t>• 알림 가지는 알림에 닿고 승인 작업은 끊기지 않는다</a:t>
            </a:r>
          </a:p>
        </p:txBody>
      </p:sp>
      <p:sp>
        <p:nvSpPr>
          <p:cNvPr id="22" name="Rounded Rectangle 21"/>
          <p:cNvSpPr/>
          <p:nvPr/>
        </p:nvSpPr>
        <p:spPr>
          <a:xfrm>
            <a:off x="8356396" y="5149850"/>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경계 타이머</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그린 흐름을 에이전트와 시스템에 연결하기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프로세스에 시작 조건과 맡을 쪽을 정해 등록하고 배포한다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정하는 것과 배포되는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직접 그린 프로세스는 시작 조건과 맡을 쪽을 정해 등록하고 배포해야 쿨러 경보를 받아 열린다.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시작 조건</a:t>
            </a:r>
          </a:p>
          <a:p>
            <a:pPr algn="ctr">
              <a:lnSpc>
                <a:spcPct val="110000"/>
              </a:lnSpc>
              <a:spcAft>
                <a:spcPts val="400"/>
              </a:spcAft>
            </a:pPr>
            <a:r>
              <a:rPr sz="1250" b="0">
                <a:solidFill>
                  <a:srgbClr val="1F2A3A"/>
                </a:solidFill>
                <a:latin typeface="맑은 고딕"/>
                <a:ea typeface="맑은 고딕"/>
                <a:cs typeface="맑은 고딕"/>
              </a:rPr>
              <a:t>이 프로세스를 열</a:t>
            </a:r>
          </a:p>
          <a:p>
            <a:pPr algn="ctr">
              <a:lnSpc>
                <a:spcPct val="110000"/>
              </a:lnSpc>
              <a:spcAft>
                <a:spcPts val="400"/>
              </a:spcAft>
            </a:pPr>
            <a:r>
              <a:rPr sz="1250" b="0">
                <a:solidFill>
                  <a:srgbClr val="1F2A3A"/>
                </a:solidFill>
                <a:latin typeface="맑은 고딕"/>
                <a:ea typeface="맑은 고딕"/>
                <a:cs typeface="맑은 고딕"/>
              </a:rPr>
              <a:t>경보를 정한다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users" descr="users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맡을 쪽</a:t>
            </a:r>
          </a:p>
          <a:p>
            <a:pPr algn="ctr">
              <a:lnSpc>
                <a:spcPct val="110000"/>
              </a:lnSpc>
              <a:spcAft>
                <a:spcPts val="400"/>
              </a:spcAft>
            </a:pPr>
            <a:r>
              <a:rPr sz="1250" b="0">
                <a:solidFill>
                  <a:srgbClr val="1F2A3A"/>
                </a:solidFill>
                <a:latin typeface="맑은 고딕"/>
                <a:ea typeface="맑은 고딕"/>
                <a:cs typeface="맑은 고딕"/>
              </a:rPr>
              <a:t>작업마다 에이전트,</a:t>
            </a:r>
          </a:p>
          <a:p>
            <a:pPr algn="ctr">
              <a:lnSpc>
                <a:spcPct val="110000"/>
              </a:lnSpc>
              <a:spcAft>
                <a:spcPts val="400"/>
              </a:spcAft>
            </a:pPr>
            <a:r>
              <a:rPr sz="1250" b="0">
                <a:solidFill>
                  <a:srgbClr val="1F2A3A"/>
                </a:solidFill>
                <a:latin typeface="맑은 고딕"/>
                <a:ea typeface="맑은 고딕"/>
                <a:cs typeface="맑은 고딕"/>
              </a:rPr>
              <a:t>운전원 역할,</a:t>
            </a:r>
          </a:p>
          <a:p>
            <a:pPr algn="ctr">
              <a:lnSpc>
                <a:spcPct val="110000"/>
              </a:lnSpc>
              <a:spcAft>
                <a:spcPts val="400"/>
              </a:spcAft>
            </a:pPr>
            <a:r>
              <a:rPr sz="1250" b="0">
                <a:solidFill>
                  <a:srgbClr val="1F2A3A"/>
                </a:solidFill>
                <a:latin typeface="맑은 고딕"/>
                <a:ea typeface="맑은 고딕"/>
                <a:cs typeface="맑은 고딕"/>
              </a:rPr>
              <a:t>시스템을 정한다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12466"/>
            <a:ext cx="731520" cy="731520"/>
          </a:xfrm>
          <a:prstGeom prst="ellipse">
            <a:avLst/>
          </a:prstGeom>
          <a:solidFill>
            <a:srgbClr val="FFFFFF"/>
          </a:solidFill>
          <a:ln>
            <a:noFill/>
          </a:ln>
        </p:spPr>
        <p:txBody>
          <a:bodyPr rtlCol="0" anchor="ctr"/>
          <a:lstStyle/>
          <a:p>
            <a:pPr algn="ctr"/>
          </a:p>
        </p:txBody>
      </p:sp>
      <p:pic>
        <p:nvPicPr>
          <p:cNvPr id="18" name="아이콘:arrows-split-2" descr="arrows-split-2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조건과 기한</a:t>
            </a:r>
          </a:p>
          <a:p>
            <a:pPr algn="ctr">
              <a:lnSpc>
                <a:spcPct val="110000"/>
              </a:lnSpc>
              <a:spcAft>
                <a:spcPts val="400"/>
              </a:spcAft>
            </a:pPr>
            <a:r>
              <a:rPr sz="1250" b="0">
                <a:solidFill>
                  <a:srgbClr val="1F2A3A"/>
                </a:solidFill>
                <a:latin typeface="맑은 고딕"/>
                <a:ea typeface="맑은 고딕"/>
                <a:cs typeface="맑은 고딕"/>
              </a:rPr>
              <a:t>갈림의 조건과</a:t>
            </a:r>
          </a:p>
          <a:p>
            <a:pPr algn="ctr">
              <a:lnSpc>
                <a:spcPct val="110000"/>
              </a:lnSpc>
              <a:spcAft>
                <a:spcPts val="400"/>
              </a:spcAft>
            </a:pPr>
            <a:r>
              <a:rPr sz="1250" b="0">
                <a:solidFill>
                  <a:srgbClr val="1F2A3A"/>
                </a:solidFill>
                <a:latin typeface="맑은 고딕"/>
                <a:ea typeface="맑은 고딕"/>
                <a:cs typeface="맑은 고딕"/>
              </a:rPr>
              <a:t>타이머의 기간을</a:t>
            </a:r>
          </a:p>
          <a:p>
            <a:pPr algn="ctr">
              <a:lnSpc>
                <a:spcPct val="110000"/>
              </a:lnSpc>
              <a:spcAft>
                <a:spcPts val="400"/>
              </a:spcAft>
            </a:pPr>
            <a:r>
              <a:rPr sz="1250" b="0">
                <a:solidFill>
                  <a:srgbClr val="1F2A3A"/>
                </a:solidFill>
                <a:latin typeface="맑은 고딕"/>
                <a:ea typeface="맑은 고딕"/>
                <a:cs typeface="맑은 고딕"/>
              </a:rPr>
              <a:t>넣는다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zoom-check" descr="zoom-check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사전 검사</a:t>
            </a:r>
          </a:p>
          <a:p>
            <a:pPr algn="ctr">
              <a:lnSpc>
                <a:spcPct val="110000"/>
              </a:lnSpc>
              <a:spcAft>
                <a:spcPts val="400"/>
              </a:spcAft>
            </a:pPr>
            <a:r>
              <a:rPr sz="1250" b="0">
                <a:solidFill>
                  <a:srgbClr val="1F2A3A"/>
                </a:solidFill>
                <a:latin typeface="맑은 고딕"/>
                <a:ea typeface="맑은 고딕"/>
                <a:cs typeface="맑은 고딕"/>
              </a:rPr>
              <a:t>빠진 연결이 없는지</a:t>
            </a:r>
          </a:p>
          <a:p>
            <a:pPr algn="ctr">
              <a:lnSpc>
                <a:spcPct val="110000"/>
              </a:lnSpc>
              <a:spcAft>
                <a:spcPts val="400"/>
              </a:spcAft>
            </a:pPr>
            <a:r>
              <a:rPr sz="1250" b="0">
                <a:solidFill>
                  <a:srgbClr val="1F2A3A"/>
                </a:solidFill>
                <a:latin typeface="맑은 고딕"/>
                <a:ea typeface="맑은 고딕"/>
                <a:cs typeface="맑은 고딕"/>
              </a:rPr>
              <a:t>등록 전에 검사한다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712466"/>
            <a:ext cx="731520" cy="731520"/>
          </a:xfrm>
          <a:prstGeom prst="ellipse">
            <a:avLst/>
          </a:prstGeom>
          <a:solidFill>
            <a:srgbClr val="5CB8F2"/>
          </a:solidFill>
          <a:ln>
            <a:noFill/>
          </a:ln>
        </p:spPr>
        <p:txBody>
          <a:bodyPr rtlCol="0" anchor="ctr"/>
          <a:lstStyle/>
          <a:p>
            <a:pPr algn="ctr"/>
          </a:p>
        </p:txBody>
      </p:sp>
      <p:pic>
        <p:nvPicPr>
          <p:cNvPr id="28" name="아이콘:rocket" descr="rocket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등록과 배포</a:t>
            </a:r>
          </a:p>
          <a:p>
            <a:pPr algn="ctr">
              <a:lnSpc>
                <a:spcPct val="110000"/>
              </a:lnSpc>
              <a:spcAft>
                <a:spcPts val="400"/>
              </a:spcAft>
            </a:pPr>
            <a:r>
              <a:rPr sz="1250" b="0">
                <a:solidFill>
                  <a:srgbClr val="1F2A3A"/>
                </a:solidFill>
                <a:latin typeface="맑은 고딕"/>
                <a:ea typeface="맑은 고딕"/>
                <a:cs typeface="맑은 고딕"/>
              </a:rPr>
              <a:t>프로세스 정의를 등록하고</a:t>
            </a:r>
          </a:p>
          <a:p>
            <a:pPr algn="ctr">
              <a:lnSpc>
                <a:spcPct val="110000"/>
              </a:lnSpc>
              <a:spcAft>
                <a:spcPts val="400"/>
              </a:spcAft>
            </a:pPr>
            <a:r>
              <a:rPr sz="1250" b="0">
                <a:solidFill>
                  <a:srgbClr val="1F2A3A"/>
                </a:solidFill>
                <a:latin typeface="맑은 고딕"/>
                <a:ea typeface="맑은 고딕"/>
                <a:cs typeface="맑은 고딕"/>
              </a:rPr>
              <a:t>경보를 받도록</a:t>
            </a:r>
          </a:p>
          <a:p>
            <a:pPr algn="ctr">
              <a:lnSpc>
                <a:spcPct val="110000"/>
              </a:lnSpc>
              <a:spcAft>
                <a:spcPts val="400"/>
              </a:spcAft>
            </a:pPr>
            <a:r>
              <a:rPr sz="1250" b="0">
                <a:solidFill>
                  <a:srgbClr val="1F2A3A"/>
                </a:solidFill>
                <a:latin typeface="맑은 고딕"/>
                <a:ea typeface="맑은 고딕"/>
                <a:cs typeface="맑은 고딕"/>
              </a:rPr>
              <a:t>배포한다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정식 명칭을 붙인 용어와, 그 용어가 프로세스의 설계와 실행에서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프로세스에서</a:t>
            </a:r>
          </a:p>
        </p:txBody>
      </p:sp>
      <p:sp>
        <p:nvSpPr>
          <p:cNvPr id="10" name="Rounded Rectangle 9"/>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BPM</a:t>
            </a:r>
          </a:p>
        </p:txBody>
      </p:sp>
      <p:sp>
        <p:nvSpPr>
          <p:cNvPr id="12" name="TextBox 11"/>
          <p:cNvSpPr txBox="1"/>
          <p:nvPr/>
        </p:nvSpPr>
        <p:spPr>
          <a:xfrm>
            <a:off x="3200400" y="2029968"/>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Business Process Management</a:t>
            </a:r>
          </a:p>
        </p:txBody>
      </p:sp>
      <p:sp>
        <p:nvSpPr>
          <p:cNvPr id="13" name="TextBox 12"/>
          <p:cNvSpPr txBox="1"/>
          <p:nvPr/>
        </p:nvSpPr>
        <p:spPr>
          <a:xfrm>
            <a:off x="9448495" y="2029968"/>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프로세스를 고쳐 가는 관리 방법</a:t>
            </a:r>
          </a:p>
        </p:txBody>
      </p:sp>
      <p:sp>
        <p:nvSpPr>
          <p:cNvPr id="14" name="Rounded Rectangle 13"/>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647841"/>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BPMN</a:t>
            </a:r>
          </a:p>
        </p:txBody>
      </p:sp>
      <p:sp>
        <p:nvSpPr>
          <p:cNvPr id="16" name="TextBox 15"/>
          <p:cNvSpPr txBox="1"/>
          <p:nvPr/>
        </p:nvSpPr>
        <p:spPr>
          <a:xfrm>
            <a:off x="3200400" y="2647841"/>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Business Process Model and Notation</a:t>
            </a:r>
          </a:p>
        </p:txBody>
      </p:sp>
      <p:sp>
        <p:nvSpPr>
          <p:cNvPr id="17" name="TextBox 16"/>
          <p:cNvSpPr txBox="1"/>
          <p:nvPr/>
        </p:nvSpPr>
        <p:spPr>
          <a:xfrm>
            <a:off x="9448495" y="2647841"/>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프로세스를 그리는 표기 표준</a:t>
            </a:r>
          </a:p>
        </p:txBody>
      </p:sp>
      <p:sp>
        <p:nvSpPr>
          <p:cNvPr id="18" name="Rounded Rectangle 17"/>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265714"/>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경계 이벤트</a:t>
            </a:r>
          </a:p>
        </p:txBody>
      </p:sp>
      <p:sp>
        <p:nvSpPr>
          <p:cNvPr id="20" name="TextBox 19"/>
          <p:cNvSpPr txBox="1"/>
          <p:nvPr/>
        </p:nvSpPr>
        <p:spPr>
          <a:xfrm>
            <a:off x="3200400" y="3265714"/>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Boundary Event</a:t>
            </a:r>
          </a:p>
        </p:txBody>
      </p:sp>
      <p:sp>
        <p:nvSpPr>
          <p:cNvPr id="21" name="TextBox 20"/>
          <p:cNvSpPr txBox="1"/>
          <p:nvPr/>
        </p:nvSpPr>
        <p:spPr>
          <a:xfrm>
            <a:off x="9448495" y="3265714"/>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 승인에 붙은 승인 지연 타이머</a:t>
            </a:r>
          </a:p>
        </p:txBody>
      </p:sp>
      <p:sp>
        <p:nvSpPr>
          <p:cNvPr id="22" name="Rounded Rectangle 21"/>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883587"/>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프로세스 엔진</a:t>
            </a:r>
          </a:p>
        </p:txBody>
      </p:sp>
      <p:sp>
        <p:nvSpPr>
          <p:cNvPr id="24" name="TextBox 23"/>
          <p:cNvSpPr txBox="1"/>
          <p:nvPr/>
        </p:nvSpPr>
        <p:spPr>
          <a:xfrm>
            <a:off x="3200400" y="3883587"/>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Process Engine</a:t>
            </a:r>
          </a:p>
        </p:txBody>
      </p:sp>
      <p:sp>
        <p:nvSpPr>
          <p:cNvPr id="25" name="TextBox 24"/>
          <p:cNvSpPr txBox="1"/>
          <p:nvPr/>
        </p:nvSpPr>
        <p:spPr>
          <a:xfrm>
            <a:off x="9448495" y="3883587"/>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정의를 읽어 작업을 차례로 여는 쪽</a:t>
            </a:r>
          </a:p>
        </p:txBody>
      </p:sp>
      <p:sp>
        <p:nvSpPr>
          <p:cNvPr id="26" name="Rounded Rectangle 25"/>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501460"/>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오케스트레이션</a:t>
            </a:r>
          </a:p>
        </p:txBody>
      </p:sp>
      <p:sp>
        <p:nvSpPr>
          <p:cNvPr id="28" name="TextBox 27"/>
          <p:cNvSpPr txBox="1"/>
          <p:nvPr/>
        </p:nvSpPr>
        <p:spPr>
          <a:xfrm>
            <a:off x="3200400" y="4501460"/>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Orchestration</a:t>
            </a:r>
          </a:p>
        </p:txBody>
      </p:sp>
      <p:sp>
        <p:nvSpPr>
          <p:cNvPr id="29" name="TextBox 28"/>
          <p:cNvSpPr txBox="1"/>
          <p:nvPr/>
        </p:nvSpPr>
        <p:spPr>
          <a:xfrm>
            <a:off x="9448495" y="4501460"/>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엔진이 전체 순서를 이끄는 방식</a:t>
            </a:r>
          </a:p>
        </p:txBody>
      </p:sp>
      <p:sp>
        <p:nvSpPr>
          <p:cNvPr id="30" name="Rounded Rectangle 29"/>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119333"/>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SCADA</a:t>
            </a:r>
          </a:p>
        </p:txBody>
      </p:sp>
      <p:sp>
        <p:nvSpPr>
          <p:cNvPr id="32" name="TextBox 31"/>
          <p:cNvSpPr txBox="1"/>
          <p:nvPr/>
        </p:nvSpPr>
        <p:spPr>
          <a:xfrm>
            <a:off x="3200400" y="5119333"/>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Supervisory Control and Data Acquisition</a:t>
            </a:r>
          </a:p>
        </p:txBody>
      </p:sp>
      <p:sp>
        <p:nvSpPr>
          <p:cNvPr id="33" name="TextBox 32"/>
          <p:cNvSpPr txBox="1"/>
          <p:nvPr/>
        </p:nvSpPr>
        <p:spPr>
          <a:xfrm>
            <a:off x="9448495" y="5119333"/>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명령을 PLC에 전하는 시스템</a:t>
            </a:r>
          </a:p>
        </p:txBody>
      </p:sp>
      <p:sp>
        <p:nvSpPr>
          <p:cNvPr id="34" name="Rounded Rectangle 33"/>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737206"/>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CMMS</a:t>
            </a:r>
          </a:p>
        </p:txBody>
      </p:sp>
      <p:sp>
        <p:nvSpPr>
          <p:cNvPr id="36" name="TextBox 35"/>
          <p:cNvSpPr txBox="1"/>
          <p:nvPr/>
        </p:nvSpPr>
        <p:spPr>
          <a:xfrm>
            <a:off x="3200400" y="5737206"/>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Computerized Maintenance Management System</a:t>
            </a:r>
          </a:p>
        </p:txBody>
      </p:sp>
      <p:sp>
        <p:nvSpPr>
          <p:cNvPr id="37" name="TextBox 36"/>
          <p:cNvSpPr txBox="1"/>
          <p:nvPr/>
        </p:nvSpPr>
        <p:spPr>
          <a:xfrm>
            <a:off x="9448495" y="5737206"/>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작업지시를 등록하는 시스템</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승인 지연 알림이 나간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처리 건이 운전원 승인에서 기다리고 있으며, 승인 지연 알림은 이미 나갔다.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알림이 나갔으므로 처리 건은 거절로 닫혔다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기한이 지났으므로 냉각 명령이 자동으로 나갔다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작업이 열린 채로 남아 운전원의 결정을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알림 가지가 끝났으므로 처리 건도 완료되었다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같은 종류의 경보 두 건으로 열린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성능 저하 경보가 두 건 도착해 처리 건 둘이 열렸고, 하나는 승인되어 끝났으며 다른 하나는 거절로 끝났다.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두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두 건은 같은 프로세스 정의에서 만들어져 따로 진행된 인스턴스이다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거절로 끝난 건은 승인으로 끝난 건과 다른 프로세스 정의로 실행되었다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경보가 올 때마다 프로세스 정의가 하나씩 새로 만들어진다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먼저 끝난 건의 결정이 뒤에 열린 건에도 그대로 적용된다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냉각 명령을 시작시키는 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팬 최대 운전을 권하는 추천안을 제출했고, 처리 건은 운전원 승인에서 기다리고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운전원이 승인했을 때 냉각 명령 작업을 여는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추천안을 제출한 에이전트</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명령을 받아 PLC에 전하는 SCADA</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승인한 운전원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프로세스 엔진</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그림에서 읽는 대기의 뜻, 정의와 인스턴스의 구분, 작업을 여는 책임의 경계를 바르게 판단하는지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지연 타이머는 비중단형이다. 알림 가지만 끝나고 승인 작업은 열린 채로 기다린다.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정의는 설계도 하나이다. 경보가 올 때마다 그 정의에서 인스턴스가 하나씩 만들어져 따로 진행된다.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추천까지, 운전원은 승인까지 한다. 다음 작업을 여는 것은 엔진이다.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