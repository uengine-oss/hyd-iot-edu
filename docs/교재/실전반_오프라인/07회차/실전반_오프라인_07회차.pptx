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회차에서는 에이전트를 만들고 검증했습니다. 오늘부터는 그 에이전트의 추천을 사람의 승인과 시스템의 실행으로 잇는 프로세스를 다룹니다. 프로세스의 정의와 BPMN 표기와 실행 방식을 짚은 뒤, 네 실습에서 긴급 대응 프로세스를 직접 그려 배포합니다.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추천은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SCADA는 설비를 감시하고 제어하는 시스템으로 승인된 냉각 명령을 PLC에 전하고, CMMS는 정비 작업을 관리하는 시스템으로 작업지시가 여기에 등록됩니다.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판단을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읽은 긴급 대응 프로세스의 기본 순서를 직접 그립니다. 레인은 에이전트, 담당자, 시스템의 역할별로 셋을 둡니다. 에이전트 레인의 경보에서 시작해 진단과 제안, 담당자 레인의 운전원 승인, 시스템 레인의 냉각 명령과 재관측과 결과 보고를 시퀀스 흐름으로 이어 끝 이벤트에 닿게 합니다. 승인과 거절의 갈림은 이어지는 실습에서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그린 긴급 대응 프로세스에 승인과 예외의 처리를 더합니다. 운전원 승인 뒤에 배타 게이트웨이를 두어 승인이면 냉각 명령으로, 거절이면 결과 보고: 거절을 거쳐 거절 종결로 가게 합니다. 운전원 승인에는 승인 지연 타이머를 비중단형으로 붙입니다. 완성한 그림에서 거절의 경로를 따라가 냉각 명령에 닿는 선이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SCADA는 설비를 감시하고 제어하는 시스템으로, 승인된 냉각 명령을 받아 PLC에 전합니다. CMMS는 정비 작업을 관리하는 시스템으로, 작업지시가 여기에 등록됩니다. 이 일곱과 함께 비즈니스 프로세스, 이벤트, 작업, 게이트웨이, 풀과 레인, 프로세스 정의와 인스턴스가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처리 건의 진행을 읽는 문항입니다. 승인 지연 타이머가 중단형인지 비중단형인지, 그리고 알림이 나간 뒤 승인 작업이 어떻게 남는지를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설계도와 실행되는 한 건을 구분하는 문항입니다. 경보가 도착했을 때 새로 만들어지는 것이 무엇이고 그대로 있는 것이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3번은 인스턴스가 만들어지는 것을 정의가 만들어지는 것으로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image" Target="../media/image7.png"/><Relationship Id="rId6"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7.png"/><Relationship Id="rId6" Type="http://schemas.openxmlformats.org/officeDocument/2006/relationships/image" Target="../media/image31.png"/><Relationship Id="rId7"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7회차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다양한 업무를 연결하는</a:t>
            </a:r>
          </a:p>
          <a:p>
            <a:pPr algn="l">
              <a:lnSpc>
                <a:spcPct val="110000"/>
              </a:lnSpc>
            </a:pPr>
            <a:r>
              <a:rPr sz="4000" b="1">
                <a:solidFill>
                  <a:srgbClr val="FFFFFF"/>
                </a:solidFill>
                <a:latin typeface="맑은 고딕"/>
                <a:ea typeface="맑은 고딕"/>
                <a:cs typeface="맑은 고딕"/>
              </a:rPr>
              <a:t>AI 프로세스의 설계와 배포</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비즈니스 프로세스, BPMN, 프로세스 오케스트레이션</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정하고, BPMN으로 그려 배포하는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프로세스와 BPM</a:t>
            </a:r>
          </a:p>
          <a:p>
            <a:pPr algn="l">
              <a:lnSpc>
                <a:spcPct val="110000"/>
              </a:lnSpc>
              <a:spcAft>
                <a:spcPts val="400"/>
              </a:spcAft>
            </a:pPr>
            <a:r>
              <a:rPr sz="1350" b="0">
                <a:solidFill>
                  <a:srgbClr val="1F2A3A"/>
                </a:solidFill>
                <a:latin typeface="맑은 고딕"/>
                <a:ea typeface="맑은 고딕"/>
                <a:cs typeface="맑은 고딕"/>
              </a:rPr>
              <a:t>비즈니스 프로세스와 처리 건의 뜻을 말하고, 프로세스를 고쳐 가는 관리 방법인 BPM과 구분한다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이벤트, 작업, 게이트웨이, 레인으로 그린 그림에서 순서와 갈림과 맡는 쪽을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split-2" descr="arrows-split-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a:t>
            </a:r>
          </a:p>
          <a:p>
            <a:pPr algn="l">
              <a:lnSpc>
                <a:spcPct val="110000"/>
              </a:lnSpc>
              <a:spcAft>
                <a:spcPts val="400"/>
              </a:spcAft>
            </a:pPr>
            <a:r>
              <a:rPr sz="1350" b="0">
                <a:solidFill>
                  <a:srgbClr val="1F2A3A"/>
                </a:solidFill>
                <a:latin typeface="맑은 고딕"/>
                <a:ea typeface="맑은 고딕"/>
                <a:cs typeface="맑은 고딕"/>
              </a:rPr>
              <a:t>승인, 거절, 응답 없음의 세 경우가 그림에서 어느 끝에 닿는지 설명한다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play" descr="player-play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오케스트레이션</a:t>
            </a:r>
          </a:p>
          <a:p>
            <a:pPr algn="l">
              <a:lnSpc>
                <a:spcPct val="110000"/>
              </a:lnSpc>
              <a:spcAft>
                <a:spcPts val="400"/>
              </a:spcAft>
            </a:pPr>
            <a:r>
              <a:rPr sz="1350" b="0">
                <a:solidFill>
                  <a:srgbClr val="1F2A3A"/>
                </a:solidFill>
                <a:latin typeface="맑은 고딕"/>
                <a:ea typeface="맑은 고딕"/>
                <a:cs typeface="맑은 고딕"/>
              </a:rPr>
              <a:t>프로세스 엔진이 정의에서 인스턴스를 만들어 작업을 차례로 여는 방식을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프로세스의 정의, 표기, 실행: BPM, BPMN, 오케스트레이션</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간단한 승인 절차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긴급 대응 프로세스 그리기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 지연을 갖춘 흐름의 완성</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그린 흐름을 에이전트와 시스템에 연결하기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프로세스의 정의, 표기, 실행:</a:t>
            </a:r>
          </a:p>
          <a:p>
            <a:pPr algn="l">
              <a:lnSpc>
                <a:spcPct val="110000"/>
              </a:lnSpc>
            </a:pPr>
            <a:r>
              <a:rPr sz="3400" b="1">
                <a:solidFill>
                  <a:srgbClr val="13294B"/>
                </a:solidFill>
                <a:latin typeface="맑은 고딕"/>
                <a:ea typeface="맑은 고딕"/>
                <a:cs typeface="맑은 고딕"/>
              </a:rPr>
              <a:t>BPM, BPMN, 오케스트레이션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추천이 끝난 업무가 되기까지의 순서와 책임을 정하고, 그리고, 실행하는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추천한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31657967361850167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흐름_전체.svg" descr="illust_470152530691856642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이벤트.svg" descr="illust_235473915656254248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작업종류.svg" descr="illust_192757142571545775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게이트웨이.svg" descr="illust_652071632208637479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풀과레인.svg" descr="illust_710621662125229878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경계타이머.svg" descr="illust_88622805090469517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승인자리.svg" descr="illust_766989345157322279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SCADA(Supervisory Control and Data Acquisition)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CMMS(Computerized Maintenance Management System)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정의와인스턴스.svg" descr="illust_1105875312762581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성능 저하 경보에서 종료까지를 역할별 레인에 그린다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레인과 작업의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결과 보고까지의 작업을 역할별 레인에 놓으면, 판단과 결정과 실행을 누가 맡는지가 그림에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레인</a:t>
            </a:r>
          </a:p>
          <a:p>
            <a:pPr algn="l">
              <a:lnSpc>
                <a:spcPct val="110000"/>
              </a:lnSpc>
              <a:spcAft>
                <a:spcPts val="400"/>
              </a:spcAft>
            </a:pPr>
            <a:r>
              <a:rPr sz="1400" b="0">
                <a:solidFill>
                  <a:srgbClr val="1F2A3A"/>
                </a:solidFill>
                <a:latin typeface="맑은 고딕"/>
                <a:ea typeface="맑은 고딕"/>
                <a:cs typeface="맑은 고딕"/>
              </a:rPr>
              <a:t>• 쿨러 경보를 받는 메시지 시작 이벤트를 둔다</a:t>
            </a:r>
          </a:p>
          <a:p>
            <a:pPr algn="l">
              <a:lnSpc>
                <a:spcPct val="110000"/>
              </a:lnSpc>
              <a:spcAft>
                <a:spcPts val="400"/>
              </a:spcAft>
            </a:pPr>
            <a:r>
              <a:rPr sz="1400" b="0">
                <a:solidFill>
                  <a:srgbClr val="1F2A3A"/>
                </a:solidFill>
                <a:latin typeface="맑은 고딕"/>
                <a:ea typeface="맑은 고딕"/>
                <a:cs typeface="맑은 고딕"/>
              </a:rPr>
              <a:t>• 원인 진단과 조치 제안을 표식 없는 작업으로 그린다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레인</a:t>
            </a:r>
          </a:p>
          <a:p>
            <a:pPr algn="l">
              <a:lnSpc>
                <a:spcPct val="110000"/>
              </a:lnSpc>
              <a:spcAft>
                <a:spcPts val="400"/>
              </a:spcAft>
            </a:pPr>
            <a:r>
              <a:rPr sz="1400" b="0">
                <a:solidFill>
                  <a:srgbClr val="1F2A3A"/>
                </a:solidFill>
                <a:latin typeface="맑은 고딕"/>
                <a:ea typeface="맑은 고딕"/>
                <a:cs typeface="맑은 고딕"/>
              </a:rPr>
              <a:t>• 운전원 승인을 사용자 작업으로 그린다</a:t>
            </a:r>
          </a:p>
          <a:p>
            <a:pPr algn="l">
              <a:lnSpc>
                <a:spcPct val="110000"/>
              </a:lnSpc>
              <a:spcAft>
                <a:spcPts val="400"/>
              </a:spcAft>
            </a:pPr>
            <a:r>
              <a:rPr sz="1400" b="0">
                <a:solidFill>
                  <a:srgbClr val="1F2A3A"/>
                </a:solidFill>
                <a:latin typeface="맑은 고딕"/>
                <a:ea typeface="맑은 고딕"/>
                <a:cs typeface="맑은 고딕"/>
              </a:rPr>
              <a:t>• 에이전트의 제안 뒤, 냉각 명령 앞에 놓는다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rver" descr="server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레인</a:t>
            </a:r>
          </a:p>
          <a:p>
            <a:pPr algn="l">
              <a:lnSpc>
                <a:spcPct val="110000"/>
              </a:lnSpc>
              <a:spcAft>
                <a:spcPts val="400"/>
              </a:spcAft>
            </a:pPr>
            <a:r>
              <a:rPr sz="1400" b="0">
                <a:solidFill>
                  <a:srgbClr val="1F2A3A"/>
                </a:solidFill>
                <a:latin typeface="맑은 고딕"/>
                <a:ea typeface="맑은 고딕"/>
                <a:cs typeface="맑은 고딕"/>
              </a:rPr>
              <a:t>• PLC로 가는 냉각 명령을 서비스 작업으로 그린다</a:t>
            </a:r>
          </a:p>
          <a:p>
            <a:pPr algn="l">
              <a:lnSpc>
                <a:spcPct val="110000"/>
              </a:lnSpc>
              <a:spcAft>
                <a:spcPts val="400"/>
              </a:spcAft>
            </a:pPr>
            <a:r>
              <a:rPr sz="1400" b="0">
                <a:solidFill>
                  <a:srgbClr val="1F2A3A"/>
                </a:solidFill>
                <a:latin typeface="맑은 고딕"/>
                <a:ea typeface="맑은 고딕"/>
                <a:cs typeface="맑은 고딕"/>
              </a:rPr>
              <a:t>• 재관측과 결과 보고를 이어 끝 이벤트에 닿게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 지연을 갖춘 흐름의 완성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갈림, 따로 둔 끝 이벤트, 승인 지연 알림을 더하고 거절 경로를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갈림, 끝, 지연 알림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경로가 설비 명령에 닿지 않고 응답이 늦어도 승인이 끊기지 않도록, 갈림과 지연 알림을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갈림</a:t>
            </a:r>
          </a:p>
          <a:p>
            <a:pPr algn="l">
              <a:lnSpc>
                <a:spcPct val="110000"/>
              </a:lnSpc>
              <a:spcAft>
                <a:spcPts val="400"/>
              </a:spcAft>
            </a:pPr>
            <a:r>
              <a:rPr sz="1400" b="0">
                <a:solidFill>
                  <a:srgbClr val="1F2A3A"/>
                </a:solidFill>
                <a:latin typeface="맑은 고딕"/>
                <a:ea typeface="맑은 고딕"/>
                <a:cs typeface="맑은 고딕"/>
              </a:rPr>
              <a:t>• 운전원 승인 뒤에 배타 게이트웨이를 둔다</a:t>
            </a:r>
          </a:p>
          <a:p>
            <a:pPr algn="l">
              <a:lnSpc>
                <a:spcPct val="110000"/>
              </a:lnSpc>
              <a:spcAft>
                <a:spcPts val="400"/>
              </a:spcAft>
            </a:pPr>
            <a:r>
              <a:rPr sz="1400" b="0">
                <a:solidFill>
                  <a:srgbClr val="1F2A3A"/>
                </a:solidFill>
                <a:latin typeface="맑은 고딕"/>
                <a:ea typeface="맑은 고딕"/>
                <a:cs typeface="맑은 고딕"/>
              </a:rPr>
              <a:t>• 승인 쪽 선만 냉각 명령으로 간다</a:t>
            </a:r>
          </a:p>
        </p:txBody>
      </p:sp>
      <p:sp>
        <p:nvSpPr>
          <p:cNvPr id="10" name="Rounded Rectangle 9"/>
          <p:cNvSpPr/>
          <p:nvPr/>
        </p:nvSpPr>
        <p:spPr>
          <a:xfrm>
            <a:off x="777240" y="5149850"/>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lag" descr="flag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따로 둔 끝</a:t>
            </a:r>
          </a:p>
          <a:p>
            <a:pPr algn="l">
              <a:lnSpc>
                <a:spcPct val="110000"/>
              </a:lnSpc>
              <a:spcAft>
                <a:spcPts val="400"/>
              </a:spcAft>
            </a:pPr>
            <a:r>
              <a:rPr sz="1400" b="0">
                <a:solidFill>
                  <a:srgbClr val="1F2A3A"/>
                </a:solidFill>
                <a:latin typeface="맑은 고딕"/>
                <a:ea typeface="맑은 고딕"/>
                <a:cs typeface="맑은 고딕"/>
              </a:rPr>
              <a:t>승인의 경로는 끝에, 거절의 경로는 결과 보고: 거절을 거쳐 거절 종결에 닿는다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 이벤트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지연 알림</a:t>
            </a:r>
          </a:p>
          <a:p>
            <a:pPr algn="l">
              <a:lnSpc>
                <a:spcPct val="110000"/>
              </a:lnSpc>
              <a:spcAft>
                <a:spcPts val="400"/>
              </a:spcAft>
            </a:pPr>
            <a:r>
              <a:rPr sz="1400" b="0">
                <a:solidFill>
                  <a:srgbClr val="1F2A3A"/>
                </a:solidFill>
                <a:latin typeface="맑은 고딕"/>
                <a:ea typeface="맑은 고딕"/>
                <a:cs typeface="맑은 고딕"/>
              </a:rPr>
              <a:t>• 운전원 승인에 비중단형 타이머를 붙여 알림 가지를 연다</a:t>
            </a:r>
          </a:p>
          <a:p>
            <a:pPr algn="l">
              <a:lnSpc>
                <a:spcPct val="110000"/>
              </a:lnSpc>
              <a:spcAft>
                <a:spcPts val="400"/>
              </a:spcAft>
            </a:pPr>
            <a:r>
              <a:rPr sz="1400" b="0">
                <a:solidFill>
                  <a:srgbClr val="1F2A3A"/>
                </a:solidFill>
                <a:latin typeface="맑은 고딕"/>
                <a:ea typeface="맑은 고딕"/>
                <a:cs typeface="맑은 고딕"/>
              </a:rPr>
              <a:t>• 알림 가지는 알림에 닿고 승인 작업은 끊기지 않는다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 타이머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그린 프로세스가 쿨러 경보를 받도록 등록되고 배포된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프로세스 정의를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 이벤트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Boundary Event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 승인에 붙은 승인 지연 타이머</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엔진</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Engine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정의를 읽어 작업을 차례로 여는 쪽</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Orchestration</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엔진이 전체 순서를 이끄는 방식</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SCADA</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명령을 PLC에 전하는 시스템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건이 운전원 승인에서 기다리고 있으며,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같은 경보로 열린 두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경보가 두 번 도착해 처리 건 둘이 열렸고, 하나는 승인되어 끝났으며 다른 하나는 거절로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두 건은 같은 프로세스 정의에서 만들어져 따로 진행된 인스턴스이다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거절로 끝난 건은 승인으로 끝난 건과 다른 프로세스 정의로 실행되었다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경보가 올 때마다 프로세스 정의가 하나씩 새로 만들어진다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먼저 끝난 건의 결정이 뒤에 열린 건에도 그대로 적용된다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추천해 판단을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그림에서 읽는 대기의 뜻, 정의와 인스턴스의 구분, 작업을 여는 책임의 경계를 바르게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정의는 설계도 하나이다. 경보가 올 때마다 그 정의에서 인스턴스가 하나씩 만들어져 따로 진행된다.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