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회차에서는 긴급 대응 프로세스 하나를 그려 배포하고 실행했습니다. 오늘은 그 설계를 정비와 구매 업무에 다시 쓰는 방법을 다룹니다. 네 실습을 마친 뒤에는 지식에서 에이전트를 거쳐 프로세스의 실행에 이르는 과정 전체를 정리합니다. 넷째 목표, 곧 세 영역이 처리 건 한 건에서 어떻게 이어지는지를 설명하는 일은 이 과정 전체의 목표이기도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8회차에 쿨러 성능 저하 경보를 긴급 대응 프로세스로 끝까지 처리했습니다. 그런데 공장의 업무는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가지 물음으로 견주어 보겠습니다. 무엇으로 시작하는가, 어느 에이전트가 판단하는가, 누가 승인하는가, 승인 뒤에 어느 시스템이 실행하는가입니다. 에이전트는 냉각 긴급 대응 에이전트, 정기 정비 계획 에이전트, 예비품 구매 에이전트로 서로 다르고, 추천 하나와 대안과 그 이유를 묶어 내는 추천안의 내용도 냉각 조치, 정비할 시점, 발주안으로 다릅니다. 그런데 에이전트가 제안하고 사람이 승인하고 시스템이 처리해 보고하는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보겠습니다. 긴급 대응의 시작 조건은 센서 값의 규칙이었습니다.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시작 조건입니다. 정기 점검은 고장이 난 뒤에 고치는 것이 아니라 운전시간을 기준으로 미리 하는 예방 정비, 영어로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시작 조건입니다. 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사건이 실제로 도착한 경보입니다. 위는 8회차에 처리한 쿨러 성능 저하 경보이고, 가운데는 정기 점검 도래, 아래는 재고 부족의 경보입니다. 출처는 센서와 CMMS와 ERP로 다르지만 식별자와 패턴을 가진 같은 형식입니다. 그래서 세 프로세스 모두 메시지 시작 이벤트 하나로 시작할 수 있고, pattern의 값이 어느 프로세스를 열지를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처리 건을 열면 에이전트가 추천안을 냅니다. 정기 점검 도래 경보를 받은 정기 정비 계획 에이전트가 낸 추천안입니다. 후보는 넷이었고, 이번 예정된 정비 시간에 한 대만 정비하는 안이 추천이며, 이번 예정된 정비 시간은 야간 정비 시간입니다. 지금 바로 세우는 안은 납기가 스무 시간 남은 생산 오더 때문에 감점되어 대안으로 남았습니다. 미루는 안과 두 대를 묶는 안은 판단 규칙이 제외했습니다. 승인을 맡은 설비보전팀장은 추천만이 아니라 지는 대안과 제외된 까닭까지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부족 경보를 받은 예비품 구매 에이전트가 낸 추천안입니다. 후보는 공급사 셋에 대한 발주안이었습니다. 가장 싼 C트레이딩은 승인 공급사가 아니어서 판단 규칙이 제외했고, A정밀은 값이 싸고 납기가 빠르지만 불량률이 10 %를 넘어 전수 검사 비용을 더해 견주었습니다. 추천은 금액이 가장 큰 순정 공급사 B-OEM이었고, 구매 담당은 이 비교를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시스템을 자세히 보겠습니다. 긴급 대응에서는 승인된 냉각 조치를 SCADA가 PLC 명령으로 보내고 CMMS가 작업지시를 등록했습니다. 정기 점검에서는 승인된 정비 계획대로 CMMS가 정비 오더를 등록하고 생산팀에 공지 메일이 나갑니다. 재고 보충에서는 승인된 발주안대로 ERP가 발주하고 공급사에 통지한 뒤 입고를 확인합니다. 오른쪽은 실행의 결과로 업무 시스템에 남는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달라지는 네 가지를 보았으니 이제 같은 것을 보겠습니다. 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모양이어서 같은 승인 블록이라고 적었습니다.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구조를 패턴이라고 합니다. 한 번 풀어서 검증해 둔 구조를 다음에도 다시 쓰는 것입니다. 세 프로세스에 똑같이 들어 있는 승인의 자리, 곧 승인 작업과 갈림과 지연 타이머와 거절의 결과 보고를 묶어 이 수업에서는 승인 블록이라고 부르겠습니다.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7회차에 읽은 승인을 받는 자리의 그림입니다. 하늘색으로 칠한 일곱 요소, 곧 승인 작업, 승인 지연 타이머, 승인 지연 알림, 승인? 게이트웨이, 결과 보고: 거절, 그리고 끝 이벤트 둘은 세 프로세스에서 식별자까지 같습니다.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블록을 다시 써서 그린 정기 점검 프로세스입니다. 하늘색 요소는 긴급 대응 프로세스의 승인 블록과 같고, 승인 역할만 설비보전팀장으로 바뀌었습니다. 새로 그린 것은 흰 요소 넷입니다. 정기 점검 요청이라는 시작 이벤트, 에이전트의 정비 계획 제안, 그리고 승인 뒤의 정비 오더 등록 · 공지 메일과 결과 보고입니다. 작업은 여섯, 게이트웨이는 하나, 끝 이벤트는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방법으로 그립니다. 하늘색 승인 블록은 그대로이고 승인 역할이 구매 담당입니다. 승인 뒤에는 ERP 발주 · 공급사 메일, 입고 · 재고 반영, 결과 보고의 세 작업이 이어집니다. 정기 점검보다 시스템 작업이 하나 많아 작업은 일곱입니다. 두 그림을 견주면 승인 블록의 오른쪽에 무엇을 잇느냐만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그림에서 얻는 설계 원리를 정리합니다. 변하지 않는 것, 곧 작업의 순서와 승인 블록과 예외 경로는 그림의 구조로 남깁니다. 업무마다 변하는 것은 그림을 실행할 수 있게 연결할 때 값으로 넣습니다. 어떤 경보 패턴이 여는지, 어느 에이전트에게 무슨 지시문으로 맡기는지, 승인 역할이 무엇인지, 승인 뒤에 어느 시스템을 부르는지가 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경로를 설계할 때 생각할 것을 보겠습니다. 거절하면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 경로의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정기 점검 프로세스를 직접 그립니다. 정기 점검 도래로 시작해 정비 계획 에이전트의 제안 작업으로 잇습니다. 승인을 받는 자리는 긴급 대응 프로세스에서 그린 것과 같은 모양으로 놓고 승인 역할만 설비보전팀장으로 합니다. 승인 뒤에는 정비 오더 등록과 공지 메일을 한 작업으로, 그 뒤에 결과 보고를 놓습니다.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그린 프로세스를 실제 업무로 실행합니다. 정기 점검 도래의 경보 패턴, 정비 계획 에이전트, 설비보전팀장 역할, CMMS와 공지 작업을 연결하고, 사전 검사를 거쳐 등록하고 배포합니다. 정기 점검이 도래하면 처리 건이 열리고 에이전트의 추천안이 승인을 기다립니다. 승인한 뒤 정비 오더와 생산팀 공지와 종료 기록이 남았는지를 처리 건에서 확인합니다. 거절한 처리 건에서는 정비 오더가 만들어지지 않았는지를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재고 보충 프로세스를 그립니다. 재고 부족으로 시작해 구매 에이전트가 수량과 공급사를 제안하고, 구매 담당이 승인하거나 거절합니다. 승인 뒤에는 ERP 발주와 공급사 메일을 한 작업으로 그리고, 입고와 재고 반영, 결과 보고를 잇습니다. 끝나면 작업 일곱을 갖춘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재고 보충 프로세스를 실행합니다. 재고 부족의 경보 패턴과 구매 에이전트, 구매 담당 역할, ERP와 통지와 입고 반영 작업을 연결해 검사하고 등록하고 배포합니다. 재고가 부족하면 처리 건이 열리고 발주안이 승인을 기다립니다. 승인한 뒤 발주와 공급사 통지와 입고가 처리되어 가용 재고가 7개가 되었는지, 그리고 종료 기록이 남았는지를 확인합니다. 거절한 처리 건에서는 발주가 만들어지지 않았는지도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영역에서 다룬 것을 한 표로 모았습니다. 먼저 추천이 끝난 업무가 되려면 정해 두어야 하는 것을 비즈니스 프로세스로 정의했습니다. 그 정의를 BPMN으로 그렸고, 프로세스 엔진이 그림대로 실행해 처리 건과 기록을 남기는 것을 보았습니다. 오늘은 그 설계를 정기 점검과 재고 보충에 다시 썼습니다. 이 단원에서는 처리 건이 지나는 자리를 되짚고 세 업무의 결과를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그림에 쓰인 기호는 일곱 가지입니다. 경보가 도착하면 여는 메시지 시작 이벤트, 에이전트에게 맡기는 작업, 사람이 수행하는 사용자 작업, 시스템이 수행하는 서비스 작업이 있습니다. 승인과 거절을 가르는 배타 게이트웨이, 승인 지연을 알리는 비중단형 경계 타이머, 갈래를 닫는 끝 이벤트가 나머지입니다. 세 그림은 작업과 게이트웨이의 수만 다르고 시작 이벤트 하나, 경계 타이머 하나, 끝 이벤트 셋은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다섯 자리를 지납니다. 사건이 경보로 도착하는 시작 이벤트, 에이전트의 판단, 사람의 승인 또는 거절, 시스템의 처리, 그리고 종료 기록입니다. 사람이 거절하면 아래의 선처럼 시스템의 처리를 지나지 않고 종료 기록으로 가며, 세 업무 모두에서 거절된 추천안은 설비 명령도 정비 오더도 발주도 만들지 않고 닫혔습니다. 긴급 대응의 처리 건을 이 다섯 자리로 되짚고, 세 업무가 끝난 모습을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건너가는지를 보겠습니다. 시작 이벤트는 경보의 내용, 곧 설비와 경보 패턴을 에이전트에게 넘깁니다. 에이전트는 추천과 대안을 추천안으로 내고, 사람은 그 가운데 승인한 내용을 냅니다. 시스템은 승인된 내용만 받아 실행하고 그 결과를 결과 보고에 넘깁니다. 앞 자리가 낸 것이 없으면 다음 자리는 일할 수 없고, 이렇게 건너가는 값이 8회차에 본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대응의 처리 건입니다. 쿨러 성능 저하 경보가 처리 건을 열었고, 에이전트가 원인을 쿨러 핀 오염으로 가려 팬 최대 운전을 추천했습니다. 운전원이 추천안을 승인하자 팬 속도 100 % 명령이 나갔고, 유온이 51.3도로 내려간 것을 확인한 뒤 작업지시가 등록되었습니다. 처리 건은 끝 이벤트 E_end에 닿았고 결과 보고의 결과는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51.3도로 내려가 기준 55도 아래가 되었고 작업지시가 남았습니다. 정기 점검은 정비 오더가 등록되고 생산팀에 공지가 나갔습니다. 재고 보충은 씰 키트 6개가 입고되어 검수에 합격했고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건에 남은 식별자를 순서대로 놓았습니다. 작업지시 WO-1010-1198에서 거슬러 올라가면, 그것이 어느 설비 명령 뒤에 등록되었고, 그 명령을 누가 승인했으며, 승인된 추천안이 어느 판단 id의 것이었는지, 그 판단이 어느 경보에서 시작되었는지를 차례로 찾을 수 있습니다. 끝난 업무의 종료 기록이 뜻하는 것은 이렇게 추천안과 결정과 실행이 한 줄로 이어져 남는다는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이어지는지를 다시 봅니다. 1회차부터 3회차까지 만든 온톨로지는 원인과 증거와 조치와 규칙이라는 지식을 정하고, 현재 값이 어디에 있는지를 알려 줍니다. 4회차부터 6회차까지 다룬 에이전트는 그 지식과 값을 읽어 추천과 대안을 제안합니다. 7회차부터 오늘까지 다룬 프로세스는 그 추천안을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서버의 목록입니다. 세 에이전트 모두 지식 그래프와 판단 규칙을 읽습니다. 앞 영역에서 만든 온톨로지가 긴급 대응뿐 아니라 정비와 구매의 판단에도 재료가 된다는 뜻입니다.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보겠습니다. 2회차에 조치 방법으로 적어 둔 SOP-COOL-11 팬 최대 운전이 출발점입니다. 8회차에 본, 프로세스가 처리한 경보 한 건에서 에이전트가 이 조치를 지식 그래프에서 읽어 추천했고, 운전원이 승인했습니다. 프로세스가 승인된 조치를 팬 속도 100 % 명령으로 실행했고, 재관측에서 유온 51.3도를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추천안의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4회차부터 오늘까지 배운 장치를 두 쪽으로 나누었습니다. 에이전트 실행과 스킬과 MCP, 그리고 명세와 시나리오는 에이전트가 추천안 하나를 제대로 만들게 하는 장치입니다. 프로세스 정의와 인스턴스, 사람의 승인, 시스템 실행은 그 추천안을 끝난 업무로 잇는 장치입니다. 두 쪽은 하는 일이 달라 서로를 대신하지 못합니다. 앞에서 식별자로 따라간 긴급 대응 처리 건에서 두 쪽이 한 일을 이어서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장치가 긴급 대응 처리 건에서 실제로 한 일을 줄 위에 놓았습니다. 파란 상자로 두른 둘째 자리가 에이전트 쪽입니다. agent:cooling은 이 한 자리에서 도구를 10번 불렀고, 첫 호출로 cooling-emergency-response 스킬 문서를 읽은 뒤 hyd-dmn과 enterprise라는 MCP 서버의 도구로 지식과 값을 읽었습니다. 왼쪽 아래의 명세와 시나리오는 이 실행 안에서 일한 것이 아니라 출력의 형식과 기대 행동을 실행에 앞서 정해 둔 것입니다. 위쪽은 프로세스 쪽으로, 정의 c3_cooling에서 열린 인스턴스가 경보에서 끝까지를 덮고, 승인은 운전원 역할의 승인 기록 APPROVAL_ACCEPTED로, 시스템 실행은 설비 명령과 작업지시로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있었습니다. 스킬은 에이전트가 읽는 지침으로 한 단계 안에서 어느 도구를 어떤 순서로 부를지를 적으며, 왼쪽에 적은 것은 이 처리 건의 실행 기록에 남은 호출 순서입니다. 프로세스 정의는 엔진이 읽는 설계도로, 단계와 단계 사이의 순서를 정합니다. 스킬에 승인을 받으라고 적어도 승인이 보장되지는 않습니다. 단계 사이의 순서는 엔진이 지키기 때문에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추천안을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6회차에 배운 사람의 승인, HITL은 프로세스 그림에서 사용자 작업 하나로 그려집니다.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가려 두는 쓸모는 문제가 생겼을 때 드러납니다. 기준값이 틀렸거나 승인자가 맞지 않으면 지식을 봅니다. 읽어야 할 값을 읽지 않았거나 결과 항목의 이름이 다르면 스킬과 도구 연결, 명세를 봅니다. 승인 없이 다음 단계가 열렸거나 끝났는데 결과를 알 수 없으면 프로세스 정의와 끝 이벤트를 봅니다. 증상에서 영역을 먼저 가리면 고치지 않아도 될 곳을 건드리지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맡았습니다. 설비 명령이나 발주 같은 처리는 하지 않았습니다. 사람의 일은 세 가지였습니다. 순서와 승인 역할과 예외 경로를 프로세스로 정하는 일, 추천안을 승인하거나 거절하는 일, 그리고 처리 건의 기록을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되짚으며 쓴 다섯 자리는 새 업무를 설계할 때의 물음이 됩니다. 어떤 사건으로 시작하는가, 에이전트가 무엇을 읽어 무엇을 제안하는가, 어느 역할이 결정하는가, 어느 시스템이 실행하는가, 무엇이 남으면 끝났다고 보는가입니다. 지식이 판단의 재료가 되고, 에이전트가 제안하고, 사람이 결정하고, 프로세스가 그 결정을 실행과 기록으로 잇는 구조는 어느 업무에서나 같습니다. 새로 맡게 될 업무가 있다면 이 다섯 물음부터 답해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약어와 용어의 정식 명칭을 한곳에 모았습니다. 이 넷과 함께 승인 블록, 가용 재고, 처리 건이 지나는 다섯 자리가 오늘의 용어입니다. 이 용어들이 정기 점검과 재고 보충의 그림에서 어느 자리에 해당하는지를 짚어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문항입니다. 처리 건이 닫혔다는 것과 그 업무의 원인이 해결되었다는 것이 같은지를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일이 무엇이었는지, 그리고 업무 시스템을 바꾸는 작업을 어디에 두었는지를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문항은 모두 경계를 묻습니다. 첫 문항의 1번은 처리 건의 종결과 업무 원인의 해결을 혼동한 것입니다. 둘째 문항의 4번은 사람이 결정하지 않은 채 정비 오더가 등록되게 하는 설계입니다.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8.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0.png"/><Relationship Id="rId6"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7.png"/><Relationship Id="rId6"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0.png"/><Relationship Id="rId6"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7.png"/><Relationship Id="rId6" Type="http://schemas.openxmlformats.org/officeDocument/2006/relationships/image" Target="../media/image23.png"/><Relationship Id="rId7"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0.png"/><Relationship Id="rId7" Type="http://schemas.openxmlformats.org/officeDocument/2006/relationships/image" Target="../media/image2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1.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32.png"/><Relationship Id="rId7"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1.png"/><Relationship Id="rId4" Type="http://schemas.openxmlformats.org/officeDocument/2006/relationships/image" Target="../media/image27.png"/><Relationship Id="rId5" Type="http://schemas.openxmlformats.org/officeDocument/2006/relationships/image" Target="../media/image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7.png"/><Relationship Id="rId4" Type="http://schemas.openxmlformats.org/officeDocument/2006/relationships/image" Target="../media/image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1.png"/><Relationship Id="rId4" Type="http://schemas.openxmlformats.org/officeDocument/2006/relationships/image" Target="../media/image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3.png"/><Relationship Id="rId4" Type="http://schemas.openxmlformats.org/officeDocument/2006/relationships/image" Target="../media/image3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6.png"/><Relationship Id="rId4" Type="http://schemas.openxmlformats.org/officeDocument/2006/relationships/image" Target="../media/image5.png"/><Relationship Id="rId5" Type="http://schemas.openxmlformats.org/officeDocument/2006/relationships/image" Target="../media/image3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7.png"/><Relationship Id="rId4" Type="http://schemas.openxmlformats.org/officeDocument/2006/relationships/image" Target="../media/image2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9회차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정비와 구매 업무로 넓히는</a:t>
            </a:r>
          </a:p>
          <a:p>
            <a:pPr algn="l">
              <a:lnSpc>
                <a:spcPct val="110000"/>
              </a:lnSpc>
            </a:pPr>
            <a:r>
              <a:rPr sz="4000" b="1">
                <a:solidFill>
                  <a:srgbClr val="FFFFFF"/>
                </a:solidFill>
                <a:latin typeface="맑은 고딕"/>
                <a:ea typeface="맑은 고딕"/>
                <a:cs typeface="맑은 고딕"/>
              </a:rPr>
              <a:t>프로세스 설계의 재사용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세 업무의 프로세스와 지식, 에이전트, 프로세스를 잇는 전체 흐름의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ackage" descr="packag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설계를 정비와 구매에 다시 쓰고, 지식에서 실행까지의 전체 흐름을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업무의 비교</a:t>
            </a:r>
          </a:p>
          <a:p>
            <a:pPr algn="l">
              <a:lnSpc>
                <a:spcPct val="110000"/>
              </a:lnSpc>
              <a:spcAft>
                <a:spcPts val="400"/>
              </a:spcAft>
            </a:pPr>
            <a:r>
              <a:rPr sz="1350" b="0">
                <a:solidFill>
                  <a:srgbClr val="1F2A3A"/>
                </a:solidFill>
                <a:latin typeface="맑은 고딕"/>
                <a:ea typeface="맑은 고딕"/>
                <a:cs typeface="맑은 고딕"/>
              </a:rPr>
              <a:t>설비 경보, 정기 점검 도래, 재고 부족의 시작 조건과 에이전트, 승인자, 실행 시스템을 견준다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패턴의 재사용</a:t>
            </a:r>
          </a:p>
          <a:p>
            <a:pPr algn="l">
              <a:lnSpc>
                <a:spcPct val="110000"/>
              </a:lnSpc>
              <a:spcAft>
                <a:spcPts val="400"/>
              </a:spcAft>
            </a:pPr>
            <a:r>
              <a:rPr sz="1350" b="0">
                <a:solidFill>
                  <a:srgbClr val="1F2A3A"/>
                </a:solidFill>
                <a:latin typeface="맑은 고딕"/>
                <a:ea typeface="맑은 고딕"/>
                <a:cs typeface="맑은 고딕"/>
              </a:rPr>
              <a:t>승인 블록은 그대로 두고 업무마다 달라지는 자리만 정해 새 프로세스를 설계한다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실행과 검증</a:t>
            </a:r>
          </a:p>
          <a:p>
            <a:pPr algn="l">
              <a:lnSpc>
                <a:spcPct val="110000"/>
              </a:lnSpc>
              <a:spcAft>
                <a:spcPts val="400"/>
              </a:spcAft>
            </a:pPr>
            <a:r>
              <a:rPr sz="1350" b="0">
                <a:solidFill>
                  <a:srgbClr val="1F2A3A"/>
                </a:solidFill>
                <a:latin typeface="맑은 고딕"/>
                <a:ea typeface="맑은 고딕"/>
                <a:cs typeface="맑은 고딕"/>
              </a:rPr>
              <a:t>직접 그린 정비와 구매의 프로세스를 실행해 승인과 거절의 결과를 기록으로 확인한다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 에이전트, 프로세스가 처리 건 한 건에서 이어지는 과정을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설계의 재사용: 세 가지 업무와 하나의 패턴</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정기 점검 프로세스 그리기</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정기 점검 프로세스 실행하기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재고 보충 프로세스 그리기</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재고 보충 프로세스 실행하기</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AI와 사람이 함께 수행하는 업무 흐름의 정리</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설계의 재사용:</a:t>
            </a:r>
          </a:p>
          <a:p>
            <a:pPr algn="l">
              <a:lnSpc>
                <a:spcPct val="110000"/>
              </a:lnSpc>
            </a:pPr>
            <a:r>
              <a:rPr sz="3400" b="1">
                <a:solidFill>
                  <a:srgbClr val="13294B"/>
                </a:solidFill>
                <a:latin typeface="맑은 고딕"/>
                <a:ea typeface="맑은 고딕"/>
                <a:cs typeface="맑은 고딕"/>
              </a:rPr>
              <a:t>세 가지 업무와 하나의 패턴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달라지는 것은 값으로 정하고 같은 것은 구조로 다시 쓰는 설계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뒤에 기다리는 두 가지 업무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세시작.svg" descr="illust_648010065885612571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a:t>
            </a:r>
          </a:p>
          <a:p>
            <a:pPr algn="ctr">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 도래</a:t>
            </a:r>
          </a:p>
          <a:p>
            <a:pPr algn="ctr">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부족</a:t>
            </a:r>
          </a:p>
          <a:p>
            <a:pPr algn="ctr">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업무는 시작 조건, 에이전트의 판단, 승인자, 실행 시스템이 다르고, 추천안이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대응</a:t>
            </a:r>
          </a:p>
          <a:p>
            <a:pPr algn="l">
              <a:lnSpc>
                <a:spcPct val="110000"/>
              </a:lnSpc>
              <a:spcAft>
                <a:spcPts val="400"/>
              </a:spcAft>
            </a:pPr>
            <a:r>
              <a:rPr sz="1400" b="0">
                <a:solidFill>
                  <a:srgbClr val="1F2A3A"/>
                </a:solidFill>
                <a:latin typeface="맑은 고딕"/>
                <a:ea typeface="맑은 고딕"/>
                <a:cs typeface="맑은 고딕"/>
              </a:rPr>
              <a:t>• 시작: 쿨러 성능 저하 경보</a:t>
            </a:r>
          </a:p>
          <a:p>
            <a:pPr algn="l">
              <a:lnSpc>
                <a:spcPct val="110000"/>
              </a:lnSpc>
              <a:spcAft>
                <a:spcPts val="400"/>
              </a:spcAft>
            </a:pPr>
            <a:r>
              <a:rPr sz="1400" b="0">
                <a:solidFill>
                  <a:srgbClr val="1F2A3A"/>
                </a:solidFill>
                <a:latin typeface="맑은 고딕"/>
                <a:ea typeface="맑은 고딕"/>
                <a:cs typeface="맑은 고딕"/>
              </a:rPr>
              <a:t>• 에이전트: 원인을 진단하고 냉각 조치 후보를 견주어 추천한다</a:t>
            </a:r>
          </a:p>
          <a:p>
            <a:pPr algn="l">
              <a:lnSpc>
                <a:spcPct val="110000"/>
              </a:lnSpc>
              <a:spcAft>
                <a:spcPts val="400"/>
              </a:spcAft>
            </a:pPr>
            <a:r>
              <a:rPr sz="1400" b="0">
                <a:solidFill>
                  <a:srgbClr val="1F2A3A"/>
                </a:solidFill>
                <a:latin typeface="맑은 고딕"/>
                <a:ea typeface="맑은 고딕"/>
                <a:cs typeface="맑은 고딕"/>
              </a:rPr>
              <a:t>• 승인자: 운전원</a:t>
            </a:r>
          </a:p>
          <a:p>
            <a:pPr algn="l">
              <a:lnSpc>
                <a:spcPct val="110000"/>
              </a:lnSpc>
              <a:spcAft>
                <a:spcPts val="400"/>
              </a:spcAft>
            </a:pPr>
            <a:r>
              <a:rPr sz="1400" b="0">
                <a:solidFill>
                  <a:srgbClr val="1F2A3A"/>
                </a:solidFill>
                <a:latin typeface="맑은 고딕"/>
                <a:ea typeface="맑은 고딕"/>
                <a:cs typeface="맑은 고딕"/>
              </a:rPr>
              <a:t>• 실행: SCADA, CMMS</a:t>
            </a:r>
          </a:p>
        </p:txBody>
      </p:sp>
      <p:sp>
        <p:nvSpPr>
          <p:cNvPr id="8" name="Rounded Rectangle 7"/>
          <p:cNvSpPr/>
          <p:nvPr/>
        </p:nvSpPr>
        <p:spPr>
          <a:xfrm>
            <a:off x="777240" y="506374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정기 점검</a:t>
            </a:r>
          </a:p>
          <a:p>
            <a:pPr algn="l">
              <a:lnSpc>
                <a:spcPct val="110000"/>
              </a:lnSpc>
              <a:spcAft>
                <a:spcPts val="400"/>
              </a:spcAft>
            </a:pPr>
            <a:r>
              <a:rPr sz="1400" b="0">
                <a:solidFill>
                  <a:srgbClr val="1F2A3A"/>
                </a:solidFill>
                <a:latin typeface="맑은 고딕"/>
                <a:ea typeface="맑은 고딕"/>
                <a:cs typeface="맑은 고딕"/>
              </a:rPr>
              <a:t>• 시작: 정기 점검 도래 경보</a:t>
            </a:r>
          </a:p>
          <a:p>
            <a:pPr algn="l">
              <a:lnSpc>
                <a:spcPct val="110000"/>
              </a:lnSpc>
              <a:spcAft>
                <a:spcPts val="400"/>
              </a:spcAft>
            </a:pPr>
            <a:r>
              <a:rPr sz="1400" b="0">
                <a:solidFill>
                  <a:srgbClr val="1F2A3A"/>
                </a:solidFill>
                <a:latin typeface="맑은 고딕"/>
                <a:ea typeface="맑은 고딕"/>
                <a:cs typeface="맑은 고딕"/>
              </a:rPr>
              <a:t>• 에이전트: 운전시간, 생산 오더, 정비 인원, 예비품을 저울질해 정비할 시점을 제안한다</a:t>
            </a:r>
          </a:p>
          <a:p>
            <a:pPr algn="l">
              <a:lnSpc>
                <a:spcPct val="110000"/>
              </a:lnSpc>
              <a:spcAft>
                <a:spcPts val="400"/>
              </a:spcAft>
            </a:pPr>
            <a:r>
              <a:rPr sz="1400" b="0">
                <a:solidFill>
                  <a:srgbClr val="1F2A3A"/>
                </a:solidFill>
                <a:latin typeface="맑은 고딕"/>
                <a:ea typeface="맑은 고딕"/>
                <a:cs typeface="맑은 고딕"/>
              </a:rPr>
              <a:t>• 승인자: 설비보전팀장</a:t>
            </a:r>
          </a:p>
          <a:p>
            <a:pPr algn="l">
              <a:lnSpc>
                <a:spcPct val="110000"/>
              </a:lnSpc>
              <a:spcAft>
                <a:spcPts val="400"/>
              </a:spcAft>
            </a:pPr>
            <a:r>
              <a:rPr sz="1400" b="0">
                <a:solidFill>
                  <a:srgbClr val="1F2A3A"/>
                </a:solidFill>
                <a:latin typeface="맑은 고딕"/>
                <a:ea typeface="맑은 고딕"/>
                <a:cs typeface="맑은 고딕"/>
              </a:rPr>
              <a:t>• 실행: CMMS, 메일</a:t>
            </a:r>
          </a:p>
        </p:txBody>
      </p:sp>
      <p:sp>
        <p:nvSpPr>
          <p:cNvPr id="12" name="Rounded Rectangle 11"/>
          <p:cNvSpPr/>
          <p:nvPr/>
        </p:nvSpPr>
        <p:spPr>
          <a:xfrm>
            <a:off x="4566818" y="506374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489200"/>
            <a:ext cx="3515258" cy="300431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재고 보충</a:t>
            </a:r>
          </a:p>
          <a:p>
            <a:pPr algn="l">
              <a:lnSpc>
                <a:spcPct val="110000"/>
              </a:lnSpc>
              <a:spcAft>
                <a:spcPts val="400"/>
              </a:spcAft>
            </a:pPr>
            <a:r>
              <a:rPr sz="1400" b="0">
                <a:solidFill>
                  <a:srgbClr val="1F2A3A"/>
                </a:solidFill>
                <a:latin typeface="맑은 고딕"/>
                <a:ea typeface="맑은 고딕"/>
                <a:cs typeface="맑은 고딕"/>
              </a:rPr>
              <a:t>• 시작: 재고 부족 경보</a:t>
            </a:r>
          </a:p>
          <a:p>
            <a:pPr algn="l">
              <a:lnSpc>
                <a:spcPct val="110000"/>
              </a:lnSpc>
              <a:spcAft>
                <a:spcPts val="400"/>
              </a:spcAft>
            </a:pPr>
            <a:r>
              <a:rPr sz="1400" b="0">
                <a:solidFill>
                  <a:srgbClr val="1F2A3A"/>
                </a:solidFill>
                <a:latin typeface="맑은 고딕"/>
                <a:ea typeface="맑은 고딕"/>
                <a:cs typeface="맑은 고딕"/>
              </a:rPr>
              <a:t>• 에이전트: 필요량을 정하고 공급사를 금액, 납기, 품질, 회사 규정으로 비교한다</a:t>
            </a:r>
          </a:p>
          <a:p>
            <a:pPr algn="l">
              <a:lnSpc>
                <a:spcPct val="110000"/>
              </a:lnSpc>
              <a:spcAft>
                <a:spcPts val="400"/>
              </a:spcAft>
            </a:pPr>
            <a:r>
              <a:rPr sz="1400" b="0">
                <a:solidFill>
                  <a:srgbClr val="1F2A3A"/>
                </a:solidFill>
                <a:latin typeface="맑은 고딕"/>
                <a:ea typeface="맑은 고딕"/>
                <a:cs typeface="맑은 고딕"/>
              </a:rPr>
              <a:t>• 승인자: 구매 담당</a:t>
            </a:r>
          </a:p>
          <a:p>
            <a:pPr algn="l">
              <a:lnSpc>
                <a:spcPct val="110000"/>
              </a:lnSpc>
              <a:spcAft>
                <a:spcPts val="400"/>
              </a:spcAft>
            </a:pPr>
            <a:r>
              <a:rPr sz="14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06374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유온 TS1, 냉각 효율 CE</a:t>
            </a:r>
          </a:p>
          <a:p>
            <a:pPr algn="l">
              <a:lnSpc>
                <a:spcPct val="110000"/>
              </a:lnSpc>
              <a:spcAft>
                <a:spcPts val="600"/>
              </a:spcAft>
            </a:pPr>
            <a:r>
              <a:rPr sz="1450" b="0">
                <a:solidFill>
                  <a:srgbClr val="1F2A3A"/>
                </a:solidFill>
                <a:latin typeface="맑은 고딕"/>
                <a:ea typeface="맑은 고딕"/>
                <a:cs typeface="맑은 고딕"/>
              </a:rPr>
              <a:t>• 규칙: TS1 &gt; 55 and CE &lt; 70 and slope(TS1) &gt; 0</a:t>
            </a:r>
          </a:p>
          <a:p>
            <a:pPr algn="l">
              <a:lnSpc>
                <a:spcPct val="110000"/>
              </a:lnSpc>
              <a:spcAft>
                <a:spcPts val="600"/>
              </a:spcAft>
            </a:pPr>
            <a:r>
              <a:rPr sz="14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설비의 운전시간, 예비품의 재고</a:t>
            </a:r>
          </a:p>
          <a:p>
            <a:pPr algn="l">
              <a:lnSpc>
                <a:spcPct val="110000"/>
              </a:lnSpc>
              <a:spcAft>
                <a:spcPts val="600"/>
              </a:spcAft>
            </a:pPr>
            <a:r>
              <a:rPr sz="1450" b="0">
                <a:solidFill>
                  <a:srgbClr val="1F2A3A"/>
                </a:solidFill>
                <a:latin typeface="맑은 고딕"/>
                <a:ea typeface="맑은 고딕"/>
                <a:cs typeface="맑은 고딕"/>
              </a:rPr>
              <a:t>• 규칙: 운전시간이 점검 주기에 가까워진다, 가용 재고가 재주문점보다 적다</a:t>
            </a:r>
          </a:p>
          <a:p>
            <a:pPr algn="l">
              <a:lnSpc>
                <a:spcPct val="110000"/>
              </a:lnSpc>
              <a:spcAft>
                <a:spcPts val="600"/>
              </a:spcAft>
            </a:pPr>
            <a:r>
              <a:rPr sz="14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096002"/>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920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운전시간.svg" descr="illust_5274713928816789842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운전시간</a:t>
            </a:r>
          </a:p>
          <a:p>
            <a:pPr algn="ctr">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1,950 h</a:t>
            </a:r>
          </a:p>
          <a:p>
            <a:pPr algn="ctr">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2,000 h</a:t>
            </a:r>
          </a:p>
          <a:p>
            <a:pPr algn="ctr">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사전 알림 50 h</a:t>
            </a:r>
          </a:p>
          <a:p>
            <a:pPr algn="ctr">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정비</a:t>
            </a:r>
          </a:p>
          <a:p>
            <a:pPr algn="ctr">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재고.svg" descr="illust_8787952468935062204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현재고 3</a:t>
            </a:r>
          </a:p>
          <a:p>
            <a:pPr algn="ctr">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예약 2</a:t>
            </a:r>
          </a:p>
          <a:p>
            <a:pPr algn="ctr">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가용 재고 1</a:t>
            </a:r>
          </a:p>
          <a:p>
            <a:pPr algn="ctr">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재주문점 2</a:t>
            </a:r>
          </a:p>
          <a:p>
            <a:pPr algn="ctr">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CMMS-PM_DUE-HYD-02-20261010150830</a:t>
            </a:r>
          </a:p>
          <a:p>
            <a:pPr algn="l">
              <a:lnSpc>
                <a:spcPct val="110000"/>
              </a:lnSpc>
              <a:spcAft>
                <a:spcPts val="200"/>
              </a:spcAft>
            </a:pPr>
            <a:r>
              <a:rPr sz="1300" b="0">
                <a:solidFill>
                  <a:srgbClr val="E8EEF6"/>
                </a:solidFill>
                <a:latin typeface="Consolas"/>
                <a:ea typeface="맑은 고딕"/>
                <a:cs typeface="맑은 고딕"/>
              </a:rPr>
              <a:t>pattern  PM_DUE</a:t>
            </a:r>
          </a:p>
          <a:p>
            <a:pPr algn="l">
              <a:lnSpc>
                <a:spcPct val="110000"/>
              </a:lnSpc>
              <a:spcAft>
                <a:spcPts val="200"/>
              </a:spcAft>
            </a:pPr>
            <a:r>
              <a:rPr sz="1300" b="0">
                <a:solidFill>
                  <a:srgbClr val="E8EEF6"/>
                </a:solidFill>
                <a:latin typeface="Consolas"/>
                <a:ea typeface="맑은 고딕"/>
                <a:cs typeface="맑은 고딕"/>
              </a:rPr>
              <a:t>asset    HYD-02</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a:lnSpc>
                <a:spcPct val="110000"/>
              </a:lnSpc>
              <a:spcAft>
                <a:spcPts val="200"/>
              </a:spcAft>
            </a:pPr>
            <a:r>
              <a:rPr sz="1300" b="0">
                <a:solidFill>
                  <a:srgbClr val="E8EEF6"/>
                </a:solidFill>
                <a:latin typeface="Consolas"/>
                <a:ea typeface="맑은 고딕"/>
                <a:cs typeface="맑은 고딕"/>
              </a:rPr>
              <a:t>pattern  SPARE_BELOW_MIN</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필드</a:t>
            </a:r>
          </a:p>
          <a:p>
            <a:pPr algn="l">
              <a:lnSpc>
                <a:spcPct val="110000"/>
              </a:lnSpc>
              <a:spcAft>
                <a:spcPts val="400"/>
              </a:spcAft>
            </a:pPr>
            <a:r>
              <a:rPr sz="1400" b="0">
                <a:solidFill>
                  <a:srgbClr val="1F2A3A"/>
                </a:solidFill>
                <a:latin typeface="맑은 고딕"/>
                <a:ea typeface="맑은 고딕"/>
                <a:cs typeface="맑은 고딕"/>
              </a:rPr>
              <a:t>세 경보에 alertId와</a:t>
            </a:r>
          </a:p>
          <a:p>
            <a:pPr algn="l">
              <a:lnSpc>
                <a:spcPct val="110000"/>
              </a:lnSpc>
              <a:spcAft>
                <a:spcPts val="400"/>
              </a:spcAft>
            </a:pPr>
            <a:r>
              <a:rPr sz="1400" b="0">
                <a:solidFill>
                  <a:srgbClr val="1F2A3A"/>
                </a:solidFill>
                <a:latin typeface="맑은 고딕"/>
                <a:ea typeface="맑은 고딕"/>
                <a:cs typeface="맑은 고딕"/>
              </a:rPr>
              <a:t>pattern이 똑같이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어느 프로세스를</a:t>
            </a:r>
          </a:p>
          <a:p>
            <a:pPr algn="l">
              <a:lnSpc>
                <a:spcPct val="110000"/>
              </a:lnSpc>
              <a:spcAft>
                <a:spcPts val="400"/>
              </a:spcAft>
            </a:pPr>
            <a:r>
              <a:rPr sz="1400" b="0">
                <a:solidFill>
                  <a:srgbClr val="1F2A3A"/>
                </a:solidFill>
                <a:latin typeface="맑은 고딕"/>
                <a:ea typeface="맑은 고딕"/>
                <a:cs typeface="맑은 고딕"/>
              </a:rPr>
              <a:t>열지를 정한다.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alertId의 머리</a:t>
            </a:r>
          </a:p>
          <a:p>
            <a:pPr algn="l">
              <a:lnSpc>
                <a:spcPct val="110000"/>
              </a:lnSpc>
              <a:spcAft>
                <a:spcPts val="400"/>
              </a:spcAft>
            </a:pPr>
            <a:r>
              <a:rPr sz="1400" b="0">
                <a:solidFill>
                  <a:srgbClr val="1F2A3A"/>
                </a:solidFill>
                <a:latin typeface="맑은 고딕"/>
                <a:ea typeface="맑은 고딕"/>
                <a:cs typeface="맑은 고딕"/>
              </a:rPr>
              <a:t>CMMS와 ERP는 사건이</a:t>
            </a:r>
          </a:p>
          <a:p>
            <a:pPr algn="l">
              <a:lnSpc>
                <a:spcPct val="110000"/>
              </a:lnSpc>
              <a:spcAft>
                <a:spcPts val="400"/>
              </a:spcAft>
            </a:pPr>
            <a:r>
              <a:rPr sz="1400" b="0">
                <a:solidFill>
                  <a:srgbClr val="1F2A3A"/>
                </a:solidFill>
                <a:latin typeface="맑은 고딕"/>
                <a:ea typeface="맑은 고딕"/>
                <a:cs typeface="맑은 고딕"/>
              </a:rPr>
              <a:t>나온 업무 시스템이다.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점검의 추천안: 추천, 대안, 제외된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점검의 추천안에는 추천 하나와 함께, 득실에서 진 대안과 판단 규칙이 제외한 후보가 그 까닭과 함께 실렸다.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후보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판정의 까닭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이번 예정된 정비 시간에 단독 시행</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가동률과 생산량을 지키고 보전비만 든다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a:p>
            <a:pPr algn="l">
              <a:lnSpc>
                <a:spcPct val="110000"/>
              </a:lnSpc>
            </a:pPr>
            <a:r>
              <a:rPr sz="1250" b="1">
                <a:solidFill>
                  <a:srgbClr val="1A6FC4"/>
                </a:solidFill>
                <a:latin typeface="맑은 고딕"/>
                <a:ea typeface="맑은 고딕"/>
                <a:cs typeface="맑은 고딕"/>
              </a:rPr>
              <a:t>점수 +1.73</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 바로 정지하고 시행</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납기가 24시간 안인 생산 오더가 있어 오더 손실을 감점한다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대안</a:t>
            </a:r>
          </a:p>
          <a:p>
            <a:pPr algn="l">
              <a:lnSpc>
                <a:spcPct val="110000"/>
              </a:lnSpc>
            </a:pPr>
            <a:r>
              <a:rPr sz="1250" b="1">
                <a:solidFill>
                  <a:srgbClr val="556175"/>
                </a:solidFill>
                <a:latin typeface="맑은 고딕"/>
                <a:ea typeface="맑은 고딕"/>
                <a:cs typeface="맑은 고딕"/>
              </a:rPr>
              <a:t>점수 -3.35</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그다음 예정된 정비 시간으로 미루기</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그때의 운전시간이 2,200 h를 넘으므로 미루지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같은 기종 두 대 묶어 시행</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씰 키트가 2개 이상 있어야 하는데 가용 재고가 1개이다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보충의 추천안: 공급사 셋의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보충의 추천안은 공급사 셋을 금액, 납기, 불량률, 회사 규정으로 견주어 가장 싼 곳이 아닌 순정 공급사를 추천했다.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공급사</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씰 키트 6개의 금액 · 납기 · 불량률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B-OEM (순정)</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330만원 · 5일 · 2 %</a:t>
            </a:r>
          </a:p>
          <a:p>
            <a:pPr algn="l">
              <a:lnSpc>
                <a:spcPct val="110000"/>
              </a:lnSpc>
            </a:pPr>
            <a:r>
              <a:rPr sz="1400" b="0">
                <a:solidFill>
                  <a:srgbClr val="1F2A3A"/>
                </a:solidFill>
                <a:latin typeface="맑은 고딕"/>
                <a:ea typeface="맑은 고딕"/>
                <a:cs typeface="맑은 고딕"/>
              </a:rPr>
              <a:t>부품 품질에서 앞선다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a:p>
            <a:pPr algn="l">
              <a:lnSpc>
                <a:spcPct val="110000"/>
              </a:lnSpc>
            </a:pPr>
            <a:r>
              <a:rPr sz="1250" b="1">
                <a:solidFill>
                  <a:srgbClr val="1A6FC4"/>
                </a:solidFill>
                <a:latin typeface="맑은 고딕"/>
                <a:ea typeface="맑은 고딕"/>
                <a:cs typeface="맑은 고딕"/>
              </a:rPr>
              <a:t>점수 +2.82</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A정밀 (대체 승인)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210만원 · 2일 · 12 %</a:t>
            </a:r>
          </a:p>
          <a:p>
            <a:pPr algn="l">
              <a:lnSpc>
                <a:spcPct val="110000"/>
              </a:lnSpc>
            </a:pPr>
            <a:r>
              <a:rPr sz="1400" b="0">
                <a:solidFill>
                  <a:srgbClr val="1F2A3A"/>
                </a:solidFill>
                <a:latin typeface="맑은 고딕"/>
                <a:ea typeface="맑은 고딕"/>
                <a:cs typeface="맑은 고딕"/>
              </a:rPr>
              <a:t>불량률이 10 %를 넘어 전수 검사 비용을 더해 견준다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대안</a:t>
            </a:r>
          </a:p>
          <a:p>
            <a:pPr algn="l">
              <a:lnSpc>
                <a:spcPct val="110000"/>
              </a:lnSpc>
            </a:pPr>
            <a:r>
              <a:rPr sz="1250" b="1">
                <a:solidFill>
                  <a:srgbClr val="556175"/>
                </a:solidFill>
                <a:latin typeface="맑은 고딕"/>
                <a:ea typeface="맑은 고딕"/>
                <a:cs typeface="맑은 고딕"/>
              </a:rPr>
              <a:t>점수 +1.32</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C트레이딩 (비승인)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120만원 · 1일 · 30 %</a:t>
            </a:r>
          </a:p>
          <a:p>
            <a:pPr algn="l">
              <a:lnSpc>
                <a:spcPct val="110000"/>
              </a:lnSpc>
            </a:pPr>
            <a:r>
              <a:rPr sz="1400" b="0">
                <a:solidFill>
                  <a:srgbClr val="1F2A3A"/>
                </a:solidFill>
                <a:latin typeface="맑은 고딕"/>
                <a:ea typeface="맑은 고딕"/>
                <a:cs typeface="맑은 고딕"/>
              </a:rPr>
              <a:t>승인 공급사가 아니어서 핵심 부품은 살 수 없다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승인된 추천안의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승인된 추천안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냉각 조치</a:t>
            </a:r>
          </a:p>
          <a:p>
            <a:pPr algn="ctr">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계획</a:t>
            </a:r>
          </a:p>
          <a:p>
            <a:pPr algn="ctr">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발주안</a:t>
            </a:r>
          </a:p>
          <a:p>
            <a:pPr algn="ctr">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SCADA와 CMMS</a:t>
            </a:r>
          </a:p>
          <a:p>
            <a:pPr algn="ctr">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CMMS와 메일</a:t>
            </a:r>
          </a:p>
          <a:p>
            <a:pPr algn="ctr">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ERP와 메일</a:t>
            </a:r>
          </a:p>
          <a:p>
            <a:pPr algn="ctr">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설비 명령과 작업지시</a:t>
            </a:r>
          </a:p>
          <a:p>
            <a:pPr algn="ctr">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오더</a:t>
            </a:r>
          </a:p>
          <a:p>
            <a:pPr algn="ctr">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발주와 입고</a:t>
            </a:r>
          </a:p>
          <a:p>
            <a:pPr algn="ctr">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세흐름_나란히.svg" descr="illust_3620499563412750214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99387" y="2289474"/>
            <a:ext cx="115640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412111" y="3660434"/>
            <a:ext cx="13745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되풀이되는 설계 문제를 한 번 풀어 검증해 둔 구조를 패턴이라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패턴</a:t>
            </a:r>
          </a:p>
          <a:p>
            <a:pPr algn="l">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승인 블록</a:t>
            </a:r>
          </a:p>
          <a:p>
            <a:pPr algn="l">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재사용</a:t>
            </a:r>
          </a:p>
          <a:p>
            <a:pPr algn="l">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승인블록_자리.svg" descr="illust_1766775398328242805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작업</a:t>
            </a:r>
          </a:p>
          <a:p>
            <a:pPr algn="ctr">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뒤의 첫 작업</a:t>
            </a:r>
          </a:p>
          <a:p>
            <a:pPr algn="ctr">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a:p>
            <a:pPr algn="ctr">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a:p>
            <a:pPr algn="ctr">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4403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a:p>
            <a:pPr algn="ctr">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a:p>
            <a:pPr algn="ctr">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역할</a:t>
            </a:r>
          </a:p>
          <a:p>
            <a:pPr algn="ctr">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쓰고, 시작 이벤트와 제안 작업과 승인 뒤의 작업 둘만 새로 그린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흐름_정기점검.svg" descr="illust_8211419731772363076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새로 그린 것</a:t>
            </a:r>
          </a:p>
          <a:p>
            <a:pPr algn="ctr">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프로세스도 같은 승인 블록 뒤에 발주, 입고와 재고 반영, 결과 보고의 세 작업을 이어 작업 일곱으로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흐름_재고보충.svg" descr="illust_4550802412051088374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15282"/>
            <a:ext cx="133095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변하지 않는 순서와 예외 경로는 그림의 구조로 남기고, 업무마다 변하는 것은 그림을 연결할 때 넣는 값으로 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승인 또는 거절, 처리, 결과 보고의 순서</a:t>
            </a:r>
          </a:p>
          <a:p>
            <a:pPr algn="l">
              <a:lnSpc>
                <a:spcPct val="110000"/>
              </a:lnSpc>
              <a:spcAft>
                <a:spcPts val="600"/>
              </a:spcAft>
            </a:pPr>
            <a:r>
              <a:rPr sz="1450" b="0">
                <a:solidFill>
                  <a:srgbClr val="1F2A3A"/>
                </a:solidFill>
                <a:latin typeface="맑은 고딕"/>
                <a:ea typeface="맑은 고딕"/>
                <a:cs typeface="맑은 고딕"/>
              </a:rPr>
              <a:t>• 승인 블록의 일곱 요소</a:t>
            </a:r>
          </a:p>
          <a:p>
            <a:pPr algn="l">
              <a:lnSpc>
                <a:spcPct val="110000"/>
              </a:lnSpc>
              <a:spcAft>
                <a:spcPts val="600"/>
              </a:spcAft>
            </a:pPr>
            <a:r>
              <a:rPr sz="145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프로세스를 여는 경보 패턴</a:t>
            </a:r>
          </a:p>
          <a:p>
            <a:pPr algn="l">
              <a:lnSpc>
                <a:spcPct val="110000"/>
              </a:lnSpc>
              <a:spcAft>
                <a:spcPts val="600"/>
              </a:spcAft>
            </a:pPr>
            <a:r>
              <a:rPr sz="1450" b="0">
                <a:solidFill>
                  <a:srgbClr val="1F2A3A"/>
                </a:solidFill>
                <a:latin typeface="맑은 고딕"/>
                <a:ea typeface="맑은 고딕"/>
                <a:cs typeface="맑은 고딕"/>
              </a:rPr>
              <a:t>• 제안 작업을 맡을 에이전트와 지시문</a:t>
            </a:r>
          </a:p>
          <a:p>
            <a:pPr algn="l">
              <a:lnSpc>
                <a:spcPct val="110000"/>
              </a:lnSpc>
              <a:spcAft>
                <a:spcPts val="600"/>
              </a:spcAft>
            </a:pPr>
            <a:r>
              <a:rPr sz="1450" b="0">
                <a:solidFill>
                  <a:srgbClr val="1F2A3A"/>
                </a:solidFill>
                <a:latin typeface="맑은 고딕"/>
                <a:ea typeface="맑은 고딕"/>
                <a:cs typeface="맑은 고딕"/>
              </a:rPr>
              <a:t>• 승인 역할</a:t>
            </a:r>
          </a:p>
          <a:p>
            <a:pPr algn="l">
              <a:lnSpc>
                <a:spcPct val="110000"/>
              </a:lnSpc>
              <a:spcAft>
                <a:spcPts val="600"/>
              </a:spcAft>
            </a:pPr>
            <a:r>
              <a:rPr sz="1450" b="0">
                <a:solidFill>
                  <a:srgbClr val="1F2A3A"/>
                </a:solidFill>
                <a:latin typeface="맑은 고딕"/>
                <a:ea typeface="맑은 고딕"/>
                <a:cs typeface="맑은 고딕"/>
              </a:rPr>
              <a:t>• 승인 뒤의 작업이 부를 시스템과 메일의 내용</a:t>
            </a:r>
          </a:p>
        </p:txBody>
      </p:sp>
      <p:sp>
        <p:nvSpPr>
          <p:cNvPr id="18" name="Rounded Rectangle 17"/>
          <p:cNvSpPr/>
          <p:nvPr/>
        </p:nvSpPr>
        <p:spPr>
          <a:xfrm>
            <a:off x="6781647" y="5096002"/>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업무마다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거절 경로의 설계: 하지 않은 일을 밝히는 결과 보고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거절했을 때의 결과 보고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뒤의 상태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명령은 내지 않았습니다」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조치가</a:t>
            </a:r>
          </a:p>
          <a:p>
            <a:pPr algn="l">
              <a:lnSpc>
                <a:spcPct val="110000"/>
              </a:lnSpc>
            </a:pPr>
            <a:r>
              <a:rPr sz="1250" b="1">
                <a:solidFill>
                  <a:srgbClr val="556175"/>
                </a:solidFill>
                <a:latin typeface="맑은 고딕"/>
                <a:ea typeface="맑은 고딕"/>
                <a:cs typeface="맑은 고딕"/>
              </a:rPr>
              <a:t>이루어지지 않았다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「정비 오더를 내지 않았습니다」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 도래</a:t>
            </a:r>
          </a:p>
          <a:p>
            <a:pPr algn="l">
              <a:lnSpc>
                <a:spcPct val="110000"/>
              </a:lnSpc>
            </a:pPr>
            <a:r>
              <a:rPr sz="1250" b="1">
                <a:solidFill>
                  <a:srgbClr val="556175"/>
                </a:solidFill>
                <a:latin typeface="맑은 고딕"/>
                <a:ea typeface="맑은 고딕"/>
                <a:cs typeface="맑은 고딕"/>
              </a:rPr>
              <a:t>표시가 남는다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「발주하지 않았습니다」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재고 보충 필요</a:t>
            </a:r>
          </a:p>
          <a:p>
            <a:pPr algn="l">
              <a:lnSpc>
                <a:spcPct val="110000"/>
              </a:lnSpc>
            </a:pPr>
            <a:r>
              <a:rPr sz="1250" b="1">
                <a:solidFill>
                  <a:srgbClr val="1A6FC4"/>
                </a:solidFill>
                <a:latin typeface="맑은 고딕"/>
                <a:ea typeface="맑은 고딕"/>
                <a:cs typeface="맑은 고딕"/>
              </a:rPr>
              <a:t>표시가 남는다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정기 점검 도래에서 정비 오더와 공지까지의 흐름을 bpmn.io로 그린다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두고 시작과 제안 작업, 승인 뒤의 작업만 새로 그려 BPMN 파일로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정기 점검 도래로 시작해 정비 계획 에이전트의 제안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설비보전팀장의 승인과 거절, 승인 지연 타이머를 긴급 대응 프로세스와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정비 오더 등록 · 공지 메일(한 작업)과 결과 보고를 시스템 레인에 놓는다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여섯,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정비 계획 에이전트와 CMMS에 연결해 배포하고 실행한다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건에 정비 오더와 생산팀 공지와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a:t>
            </a:r>
          </a:p>
          <a:p>
            <a:pPr algn="ctr">
              <a:lnSpc>
                <a:spcPct val="110000"/>
              </a:lnSpc>
              <a:spcAft>
                <a:spcPts val="400"/>
              </a:spcAft>
            </a:pPr>
            <a:r>
              <a:rPr sz="1350" b="0">
                <a:solidFill>
                  <a:srgbClr val="1F2A3A"/>
                </a:solidFill>
                <a:latin typeface="맑은 고딕"/>
                <a:ea typeface="맑은 고딕"/>
                <a:cs typeface="맑은 고딕"/>
              </a:rPr>
              <a:t>경보 패턴 PM_DUE,</a:t>
            </a:r>
          </a:p>
          <a:p>
            <a:pPr algn="ctr">
              <a:lnSpc>
                <a:spcPct val="110000"/>
              </a:lnSpc>
              <a:spcAft>
                <a:spcPts val="400"/>
              </a:spcAft>
            </a:pPr>
            <a:r>
              <a:rPr sz="1350" b="0">
                <a:solidFill>
                  <a:srgbClr val="1F2A3A"/>
                </a:solidFill>
                <a:latin typeface="맑은 고딕"/>
                <a:ea typeface="맑은 고딕"/>
                <a:cs typeface="맑은 고딕"/>
              </a:rPr>
              <a:t>정비 계획 에이전트,</a:t>
            </a:r>
          </a:p>
          <a:p>
            <a:pPr algn="ctr">
              <a:lnSpc>
                <a:spcPct val="110000"/>
              </a:lnSpc>
              <a:spcAft>
                <a:spcPts val="400"/>
              </a:spcAft>
            </a:pPr>
            <a:r>
              <a:rPr sz="1350" b="0">
                <a:solidFill>
                  <a:srgbClr val="1F2A3A"/>
                </a:solidFill>
                <a:latin typeface="맑은 고딕"/>
                <a:ea typeface="맑은 고딕"/>
                <a:cs typeface="맑은 고딕"/>
              </a:rPr>
              <a:t>설비보전팀장 역할,</a:t>
            </a:r>
          </a:p>
          <a:p>
            <a:pPr algn="ctr">
              <a:lnSpc>
                <a:spcPct val="110000"/>
              </a:lnSpc>
              <a:spcAft>
                <a:spcPts val="400"/>
              </a:spcAft>
            </a:pPr>
            <a:r>
              <a:rPr sz="1350" b="0">
                <a:solidFill>
                  <a:srgbClr val="1F2A3A"/>
                </a:solidFill>
                <a:latin typeface="맑은 고딕"/>
                <a:ea typeface="맑은 고딕"/>
                <a:cs typeface="맑은 고딕"/>
              </a:rPr>
              <a:t>CMMS와 공지 작업</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검사와 배포</a:t>
            </a:r>
          </a:p>
          <a:p>
            <a:pPr algn="ctr">
              <a:lnSpc>
                <a:spcPct val="110000"/>
              </a:lnSpc>
              <a:spcAft>
                <a:spcPts val="400"/>
              </a:spcAft>
            </a:pPr>
            <a:r>
              <a:rPr sz="1350" b="0">
                <a:solidFill>
                  <a:srgbClr val="1F2A3A"/>
                </a:solidFill>
                <a:latin typeface="맑은 고딕"/>
                <a:ea typeface="맑은 고딕"/>
                <a:cs typeface="맑은 고딕"/>
              </a:rPr>
              <a:t>사전 검사를 거쳐</a:t>
            </a:r>
          </a:p>
          <a:p>
            <a:pPr algn="ctr">
              <a:lnSpc>
                <a:spcPct val="110000"/>
              </a:lnSpc>
              <a:spcAft>
                <a:spcPts val="400"/>
              </a:spcAft>
            </a:pPr>
            <a:r>
              <a:rPr sz="1350" b="0">
                <a:solidFill>
                  <a:srgbClr val="1F2A3A"/>
                </a:solidFill>
                <a:latin typeface="맑은 고딕"/>
                <a:ea typeface="맑은 고딕"/>
                <a:cs typeface="맑은 고딕"/>
              </a:rPr>
              <a:t>등록하고 배포한다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정기 점검 도래로</a:t>
            </a:r>
          </a:p>
          <a:p>
            <a:pPr algn="ctr">
              <a:lnSpc>
                <a:spcPct val="110000"/>
              </a:lnSpc>
              <a:spcAft>
                <a:spcPts val="400"/>
              </a:spcAft>
            </a:pPr>
            <a:r>
              <a:rPr sz="1350" b="0">
                <a:solidFill>
                  <a:srgbClr val="1F2A3A"/>
                </a:solidFill>
                <a:latin typeface="맑은 고딕"/>
                <a:ea typeface="맑은 고딕"/>
                <a:cs typeface="맑은 고딕"/>
              </a:rPr>
              <a:t>처리 건이 열리고</a:t>
            </a:r>
          </a:p>
          <a:p>
            <a:pPr algn="ctr">
              <a:lnSpc>
                <a:spcPct val="110000"/>
              </a:lnSpc>
              <a:spcAft>
                <a:spcPts val="400"/>
              </a:spcAft>
            </a:pPr>
            <a:r>
              <a:rPr sz="1350" b="0">
                <a:solidFill>
                  <a:srgbClr val="1F2A3A"/>
                </a:solidFill>
                <a:latin typeface="맑은 고딕"/>
                <a:ea typeface="맑은 고딕"/>
                <a:cs typeface="맑은 고딕"/>
              </a:rPr>
              <a:t>추천안이 승인을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결정 뒤</a:t>
            </a:r>
          </a:p>
          <a:p>
            <a:pPr algn="ctr">
              <a:lnSpc>
                <a:spcPct val="110000"/>
              </a:lnSpc>
              <a:spcAft>
                <a:spcPts val="400"/>
              </a:spcAft>
            </a:pPr>
            <a:r>
              <a:rPr sz="1350" b="0">
                <a:solidFill>
                  <a:srgbClr val="1F2A3A"/>
                </a:solidFill>
                <a:latin typeface="맑은 고딕"/>
                <a:ea typeface="맑은 고딕"/>
                <a:cs typeface="맑은 고딕"/>
              </a:rPr>
              <a:t>승인하면 정비 오더와</a:t>
            </a:r>
          </a:p>
          <a:p>
            <a:pPr algn="ctr">
              <a:lnSpc>
                <a:spcPct val="110000"/>
              </a:lnSpc>
              <a:spcAft>
                <a:spcPts val="400"/>
              </a:spcAft>
            </a:pPr>
            <a:r>
              <a:rPr sz="1350" b="0">
                <a:solidFill>
                  <a:srgbClr val="1F2A3A"/>
                </a:solidFill>
                <a:latin typeface="맑은 고딕"/>
                <a:ea typeface="맑은 고딕"/>
                <a:cs typeface="맑은 고딕"/>
              </a:rPr>
              <a:t>생산팀 공지,</a:t>
            </a:r>
          </a:p>
          <a:p>
            <a:pPr algn="ctr">
              <a:lnSpc>
                <a:spcPct val="110000"/>
              </a:lnSpc>
              <a:spcAft>
                <a:spcPts val="400"/>
              </a:spcAft>
            </a:pPr>
            <a:r>
              <a:rPr sz="1350" b="0">
                <a:solidFill>
                  <a:srgbClr val="1F2A3A"/>
                </a:solidFill>
                <a:latin typeface="맑은 고딕"/>
                <a:ea typeface="맑은 고딕"/>
                <a:cs typeface="맑은 고딕"/>
              </a:rPr>
              <a:t>거절하면 오더 없이 종결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재고 부족에서 발주와 입고까지의 흐름을 bpmn.io로 그린다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프로세스의 BPMN 파일은 같은 승인 블록 뒤에 발주에서 입고와 재고 반영까지를 이어 그려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재고 부족으로 시작해 구매 에이전트가 수량과 공급사를 제안하는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구매 담당의 승인과 거절, 승인 지연 타이머를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ERP 발주 · 공급사 메일(한 작업), 입고 · 재고 반영, 결과 보고를 차례로 잇는다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일곱,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구매 에이전트와 ERP에 연결해 배포하고 실행한다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배포한 재고 보충 프로세스를 실행하면 발주와 입고가 처리되어 가용 재고가 재주문점 위로 올라간 처리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경보 패턴</a:t>
            </a:r>
          </a:p>
          <a:p>
            <a:pPr algn="ctr">
              <a:lnSpc>
                <a:spcPct val="110000"/>
              </a:lnSpc>
              <a:spcAft>
                <a:spcPts val="400"/>
              </a:spcAft>
            </a:pPr>
            <a:r>
              <a:rPr sz="1250" b="0">
                <a:solidFill>
                  <a:srgbClr val="1F2A3A"/>
                </a:solidFill>
                <a:latin typeface="맑은 고딕"/>
                <a:ea typeface="맑은 고딕"/>
                <a:cs typeface="맑은 고딕"/>
              </a:rPr>
              <a:t>SPARE_BELOW_MIN,</a:t>
            </a:r>
          </a:p>
          <a:p>
            <a:pPr algn="ctr">
              <a:lnSpc>
                <a:spcPct val="110000"/>
              </a:lnSpc>
              <a:spcAft>
                <a:spcPts val="400"/>
              </a:spcAft>
            </a:pPr>
            <a:r>
              <a:rPr sz="1250" b="0">
                <a:solidFill>
                  <a:srgbClr val="1F2A3A"/>
                </a:solidFill>
                <a:latin typeface="맑은 고딕"/>
                <a:ea typeface="맑은 고딕"/>
                <a:cs typeface="맑은 고딕"/>
              </a:rPr>
              <a:t>구매 에이전트,</a:t>
            </a:r>
          </a:p>
          <a:p>
            <a:pPr algn="ctr">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검사와 배포</a:t>
            </a:r>
          </a:p>
          <a:p>
            <a:pPr algn="ctr">
              <a:lnSpc>
                <a:spcPct val="110000"/>
              </a:lnSpc>
              <a:spcAft>
                <a:spcPts val="400"/>
              </a:spcAft>
            </a:pPr>
            <a:r>
              <a:rPr sz="1250" b="0">
                <a:solidFill>
                  <a:srgbClr val="1F2A3A"/>
                </a:solidFill>
                <a:latin typeface="맑은 고딕"/>
                <a:ea typeface="맑은 고딕"/>
                <a:cs typeface="맑은 고딕"/>
              </a:rPr>
              <a:t>사전 검사를 거쳐</a:t>
            </a:r>
          </a:p>
          <a:p>
            <a:pPr algn="ctr">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재고 부족으로</a:t>
            </a:r>
          </a:p>
          <a:p>
            <a:pPr algn="ctr">
              <a:lnSpc>
                <a:spcPct val="110000"/>
              </a:lnSpc>
              <a:spcAft>
                <a:spcPts val="400"/>
              </a:spcAft>
            </a:pPr>
            <a:r>
              <a:rPr sz="1250" b="0">
                <a:solidFill>
                  <a:srgbClr val="1F2A3A"/>
                </a:solidFill>
                <a:latin typeface="맑은 고딕"/>
                <a:ea typeface="맑은 고딕"/>
                <a:cs typeface="맑은 고딕"/>
              </a:rPr>
              <a:t>처리 건이 열리고</a:t>
            </a:r>
          </a:p>
          <a:p>
            <a:pPr algn="ctr">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결정 뒤</a:t>
            </a:r>
          </a:p>
          <a:p>
            <a:pPr algn="ctr">
              <a:lnSpc>
                <a:spcPct val="110000"/>
              </a:lnSpc>
              <a:spcAft>
                <a:spcPts val="400"/>
              </a:spcAft>
            </a:pPr>
            <a:r>
              <a:rPr sz="1250" b="0">
                <a:solidFill>
                  <a:srgbClr val="1F2A3A"/>
                </a:solidFill>
                <a:latin typeface="맑은 고딕"/>
                <a:ea typeface="맑은 고딕"/>
                <a:cs typeface="맑은 고딕"/>
              </a:rPr>
              <a:t>승인하면 발주, 통지,</a:t>
            </a:r>
          </a:p>
          <a:p>
            <a:pPr algn="ctr">
              <a:lnSpc>
                <a:spcPct val="110000"/>
              </a:lnSpc>
              <a:spcAft>
                <a:spcPts val="400"/>
              </a:spcAft>
            </a:pPr>
            <a:r>
              <a:rPr sz="1250" b="0">
                <a:solidFill>
                  <a:srgbClr val="1F2A3A"/>
                </a:solidFill>
                <a:latin typeface="맑은 고딕"/>
                <a:ea typeface="맑은 고딕"/>
                <a:cs typeface="맑은 고딕"/>
              </a:rPr>
              <a:t>입고와 재고 반영,</a:t>
            </a:r>
          </a:p>
          <a:p>
            <a:pPr algn="ctr">
              <a:lnSpc>
                <a:spcPct val="110000"/>
              </a:lnSpc>
              <a:spcAft>
                <a:spcPts val="400"/>
              </a:spcAft>
            </a:pPr>
            <a:r>
              <a:rPr sz="1250" b="0">
                <a:solidFill>
                  <a:srgbClr val="1F2A3A"/>
                </a:solidFill>
                <a:latin typeface="맑은 고딕"/>
                <a:ea typeface="맑은 고딕"/>
                <a:cs typeface="맑은 고딕"/>
              </a:rPr>
              <a:t>거절하면 발주 없음</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 기록</a:t>
            </a:r>
          </a:p>
          <a:p>
            <a:pPr algn="ctr">
              <a:lnSpc>
                <a:spcPct val="110000"/>
              </a:lnSpc>
              <a:spcAft>
                <a:spcPts val="400"/>
              </a:spcAft>
            </a:pPr>
            <a:r>
              <a:rPr sz="1250" b="0">
                <a:solidFill>
                  <a:srgbClr val="1F2A3A"/>
                </a:solidFill>
                <a:latin typeface="맑은 고딕"/>
                <a:ea typeface="맑은 고딕"/>
                <a:cs typeface="맑은 고딕"/>
              </a:rPr>
              <a:t>가용 재고가</a:t>
            </a:r>
          </a:p>
          <a:p>
            <a:pPr algn="ctr">
              <a:lnSpc>
                <a:spcPct val="110000"/>
              </a:lnSpc>
              <a:spcAft>
                <a:spcPts val="400"/>
              </a:spcAft>
            </a:pPr>
            <a:r>
              <a:rPr sz="1250" b="0">
                <a:solidFill>
                  <a:srgbClr val="1F2A3A"/>
                </a:solidFill>
                <a:latin typeface="맑은 고딕"/>
                <a:ea typeface="맑은 고딕"/>
                <a:cs typeface="맑은 고딕"/>
              </a:rPr>
              <a:t>1개에서 7개로,</a:t>
            </a:r>
          </a:p>
          <a:p>
            <a:pPr algn="ctr">
              <a:lnSpc>
                <a:spcPct val="110000"/>
              </a:lnSpc>
              <a:spcAft>
                <a:spcPts val="400"/>
              </a:spcAft>
            </a:pPr>
            <a:r>
              <a:rPr sz="1250" b="0">
                <a:solidFill>
                  <a:srgbClr val="1F2A3A"/>
                </a:solidFill>
                <a:latin typeface="맑은 고딕"/>
                <a:ea typeface="맑은 고딕"/>
                <a:cs typeface="맑은 고딕"/>
              </a:rPr>
              <a:t>결과 보고: 입고 완료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AI와 사람이 함께 수행하는</a:t>
            </a:r>
          </a:p>
          <a:p>
            <a:pPr algn="l">
              <a:lnSpc>
                <a:spcPct val="110000"/>
              </a:lnSpc>
            </a:pPr>
            <a:r>
              <a:rPr sz="3400" b="1">
                <a:solidFill>
                  <a:srgbClr val="13294B"/>
                </a:solidFill>
                <a:latin typeface="맑은 고딕"/>
                <a:ea typeface="맑은 고딕"/>
                <a:cs typeface="맑은 고딕"/>
              </a:rPr>
              <a:t>업무 흐름의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업무의 처리 건을 되짚고 지식, 에이전트, 프로세스를 잇는다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영역에서 다룬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영역에서는 프로세스를 정의하고 그려서 실행했으며, 같은 패턴으로 정비와 구매까지 넓혔다.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다룬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답한 물음</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남은 결과물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비즈니스 프로세스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추천이 업무의 완료로 이어지려면 무엇을 정해야 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시작 조건에서</a:t>
            </a:r>
          </a:p>
          <a:p>
            <a:pPr algn="l">
              <a:lnSpc>
                <a:spcPct val="110000"/>
              </a:lnSpc>
            </a:pPr>
            <a:r>
              <a:rPr sz="1250" b="1">
                <a:solidFill>
                  <a:srgbClr val="556175"/>
                </a:solidFill>
                <a:latin typeface="맑은 고딕"/>
                <a:ea typeface="맑은 고딕"/>
                <a:cs typeface="맑은 고딕"/>
              </a:rPr>
              <a:t>완료 조건까지의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정의를 누구나 같은 뜻으로 읽게 하려면 어떻게 그리는가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프로세스의</a:t>
            </a:r>
          </a:p>
          <a:p>
            <a:pPr algn="l">
              <a:lnSpc>
                <a:spcPct val="110000"/>
              </a:lnSpc>
            </a:pPr>
            <a:r>
              <a:rPr sz="1250" b="1">
                <a:solidFill>
                  <a:srgbClr val="556175"/>
                </a:solidFill>
                <a:latin typeface="맑은 고딕"/>
                <a:ea typeface="맑은 고딕"/>
                <a:cs typeface="맑은 고딕"/>
              </a:rPr>
              <a:t>그림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오케스트레이션</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그림대로 작업을 열고 진행을 기억하는 것은 무엇인가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건과 그 기록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설계의 재사용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다른 업무에도 같은 원리를 쓰려면 무엇을 남기고 무엇을 바꾸는가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정기 점검, 재고 보충</a:t>
            </a:r>
          </a:p>
          <a:p>
            <a:pPr algn="l">
              <a:lnSpc>
                <a:spcPct val="110000"/>
              </a:lnSpc>
            </a:pPr>
            <a:r>
              <a:rPr sz="1250" b="1">
                <a:solidFill>
                  <a:srgbClr val="1A6FC4"/>
                </a:solidFill>
                <a:latin typeface="맑은 고딕"/>
                <a:ea typeface="맑은 고딕"/>
                <a:cs typeface="맑은 고딕"/>
              </a:rPr>
              <a:t>프로세스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그림을 그리는 데 쓴 BPMN 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일곱 가지 기호만으로 그려져, 이 기호를 읽으면 세 업무의 순서와 책임과 예외 경로를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요소_복습.svg" descr="illust_2838220059259967058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6559"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경보가 도착하면 연다</a:t>
            </a:r>
          </a:p>
        </p:txBody>
      </p:sp>
      <p:sp>
        <p:nvSpPr>
          <p:cNvPr id="8" name="TextBox 7"/>
          <p:cNvSpPr txBox="1"/>
          <p:nvPr/>
        </p:nvSpPr>
        <p:spPr>
          <a:xfrm>
            <a:off x="2293888"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에이전트의 제안</a:t>
            </a:r>
          </a:p>
        </p:txBody>
      </p:sp>
      <p:sp>
        <p:nvSpPr>
          <p:cNvPr id="9" name="TextBox 8"/>
          <p:cNvSpPr txBox="1"/>
          <p:nvPr/>
        </p:nvSpPr>
        <p:spPr>
          <a:xfrm>
            <a:off x="3821217"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사람의 승인</a:t>
            </a:r>
          </a:p>
        </p:txBody>
      </p:sp>
      <p:sp>
        <p:nvSpPr>
          <p:cNvPr id="10" name="TextBox 9"/>
          <p:cNvSpPr txBox="1"/>
          <p:nvPr/>
        </p:nvSpPr>
        <p:spPr>
          <a:xfrm>
            <a:off x="5348547"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시스템의 처리와 결과 보고</a:t>
            </a:r>
          </a:p>
        </p:txBody>
      </p:sp>
      <p:sp>
        <p:nvSpPr>
          <p:cNvPr id="11" name="TextBox 10"/>
          <p:cNvSpPr txBox="1"/>
          <p:nvPr/>
        </p:nvSpPr>
        <p:spPr>
          <a:xfrm>
            <a:off x="6875876"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승인과 거절의 갈림</a:t>
            </a:r>
          </a:p>
        </p:txBody>
      </p:sp>
      <p:sp>
        <p:nvSpPr>
          <p:cNvPr id="12" name="TextBox 11"/>
          <p:cNvSpPr txBox="1"/>
          <p:nvPr/>
        </p:nvSpPr>
        <p:spPr>
          <a:xfrm>
            <a:off x="8403205" y="3849532"/>
            <a:ext cx="1472781"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비중단형 경계 타이머</a:t>
            </a:r>
          </a:p>
          <a:p>
            <a:pPr algn="ctr">
              <a:lnSpc>
                <a:spcPct val="110000"/>
              </a:lnSpc>
              <a:spcAft>
                <a:spcPts val="100"/>
              </a:spcAft>
            </a:pPr>
            <a:r>
              <a:rPr sz="1300" b="0">
                <a:solidFill>
                  <a:srgbClr val="556175"/>
                </a:solidFill>
                <a:latin typeface="맑은 고딕"/>
                <a:ea typeface="맑은 고딕"/>
                <a:cs typeface="맑은 고딕"/>
              </a:rPr>
              <a:t>승인 지연의 알림</a:t>
            </a:r>
          </a:p>
        </p:txBody>
      </p:sp>
      <p:sp>
        <p:nvSpPr>
          <p:cNvPr id="13" name="TextBox 12"/>
          <p:cNvSpPr txBox="1"/>
          <p:nvPr/>
        </p:nvSpPr>
        <p:spPr>
          <a:xfrm>
            <a:off x="9930535"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끝, 거절 종결, 알림</a:t>
            </a:r>
          </a:p>
        </p:txBody>
      </p:sp>
      <p:sp>
        <p:nvSpPr>
          <p:cNvPr id="14" name="TextBox 13"/>
          <p:cNvSpPr txBox="1"/>
          <p:nvPr/>
        </p:nvSpPr>
        <p:spPr>
          <a:xfrm>
            <a:off x="1732049"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작업 9 · 게이트웨이 2</a:t>
            </a:r>
          </a:p>
        </p:txBody>
      </p:sp>
      <p:sp>
        <p:nvSpPr>
          <p:cNvPr id="15" name="TextBox 14"/>
          <p:cNvSpPr txBox="1"/>
          <p:nvPr/>
        </p:nvSpPr>
        <p:spPr>
          <a:xfrm>
            <a:off x="4786708"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작업 6 · 게이트웨이 1</a:t>
            </a:r>
          </a:p>
        </p:txBody>
      </p:sp>
      <p:sp>
        <p:nvSpPr>
          <p:cNvPr id="16" name="TextBox 15"/>
          <p:cNvSpPr txBox="1"/>
          <p:nvPr/>
        </p:nvSpPr>
        <p:spPr>
          <a:xfrm>
            <a:off x="7841366"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작업 7 · 게이트웨이 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다섯자리.svg" descr="illust_1516116853111409440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판단</a:t>
            </a:r>
          </a:p>
          <a:p>
            <a:pPr algn="ctr">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 · 거절</a:t>
            </a:r>
          </a:p>
          <a:p>
            <a:pPr algn="ctr">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시스템의 처리</a:t>
            </a:r>
          </a:p>
          <a:p>
            <a:pPr algn="ctr">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 기록</a:t>
            </a:r>
          </a:p>
          <a:p>
            <a:pPr algn="ctr">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5615829" y="5409590"/>
            <a:ext cx="5236557"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a:p>
            <a:pPr algn="ctr">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a:p>
            <a:pPr algn="ctr">
              <a:lnSpc>
                <a:spcPct val="110000"/>
              </a:lnSpc>
              <a:spcAft>
                <a:spcPts val="100"/>
              </a:spcAft>
            </a:pPr>
            <a:r>
              <a:rPr sz="1300" b="0">
                <a:solidFill>
                  <a:srgbClr val="556175"/>
                </a:solidFill>
                <a:latin typeface="맑은 고딕"/>
                <a:ea typeface="맑은 고딕"/>
                <a:cs typeface="맑은 고딕"/>
              </a:rPr>
              <a:t>세 업무 모두 거절된 추천안은 시스템의 실행 없이 닫혔다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자리는 앞 자리가 낸 것을 받아 일하므로, 경보는 추천안이 되고 추천안은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주고받는것.svg" descr="illust_6480850597558375765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경보의 내용</a:t>
            </a:r>
          </a:p>
          <a:p>
            <a:pPr algn="ctr">
              <a:lnSpc>
                <a:spcPct val="110000"/>
              </a:lnSpc>
              <a:spcAft>
                <a:spcPts val="100"/>
              </a:spcAft>
            </a:pPr>
            <a:r>
              <a:rPr sz="1300" b="0">
                <a:solidFill>
                  <a:srgbClr val="556175"/>
                </a:solidFill>
                <a:latin typeface="맑은 고딕"/>
                <a:ea typeface="맑은 고딕"/>
                <a:cs typeface="맑은 고딕"/>
              </a:rPr>
              <a:t>설비와 경보 패턴</a:t>
            </a:r>
          </a:p>
          <a:p>
            <a:pPr algn="ctr">
              <a:lnSpc>
                <a:spcPct val="110000"/>
              </a:lnSpc>
              <a:spcAft>
                <a:spcPts val="100"/>
              </a:spcAft>
            </a:pPr>
            <a:r>
              <a:rPr sz="1300" b="0">
                <a:solidFill>
                  <a:srgbClr val="556175"/>
                </a:solidFill>
                <a:latin typeface="맑은 고딕"/>
                <a:ea typeface="맑은 고딕"/>
                <a:cs typeface="맑은 고딕"/>
              </a:rPr>
              <a:t>HYD-01 · COOLER_DEGRADATION</a:t>
            </a:r>
          </a:p>
          <a:p>
            <a:pPr algn="ctr">
              <a:lnSpc>
                <a:spcPct val="110000"/>
              </a:lnSpc>
              <a:spcAft>
                <a:spcPts val="100"/>
              </a:spcAft>
            </a:pPr>
            <a:r>
              <a:rPr sz="1300" b="0">
                <a:solidFill>
                  <a:srgbClr val="556175"/>
                </a:solidFill>
                <a:latin typeface="맑은 고딕"/>
                <a:ea typeface="맑은 고딕"/>
                <a:cs typeface="맑은 고딕"/>
              </a:rPr>
              <a:t>HYD-02 · PM_DUE</a:t>
            </a:r>
          </a:p>
          <a:p>
            <a:pPr algn="ctr">
              <a:lnSpc>
                <a:spcPct val="110000"/>
              </a:lnSpc>
              <a:spcAft>
                <a:spcPts val="100"/>
              </a:spcAft>
            </a:pPr>
            <a:r>
              <a:rPr sz="1300" b="0">
                <a:solidFill>
                  <a:srgbClr val="556175"/>
                </a:solidFill>
                <a:latin typeface="맑은 고딕"/>
                <a:ea typeface="맑은 고딕"/>
                <a:cs typeface="맑은 고딕"/>
              </a:rPr>
              <a:t>씰 키트 · SPARE_BELOW_MIN</a:t>
            </a:r>
          </a:p>
        </p:txBody>
      </p:sp>
      <p:sp>
        <p:nvSpPr>
          <p:cNvPr id="13" name="TextBox 12"/>
          <p:cNvSpPr txBox="1"/>
          <p:nvPr/>
        </p:nvSpPr>
        <p:spPr>
          <a:xfrm>
            <a:off x="3673939"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추천과 대안, 그 근거</a:t>
            </a:r>
          </a:p>
          <a:p>
            <a:pPr algn="ctr">
              <a:lnSpc>
                <a:spcPct val="110000"/>
              </a:lnSpc>
              <a:spcAft>
                <a:spcPts val="100"/>
              </a:spcAft>
            </a:pPr>
            <a:r>
              <a:rPr sz="1300" b="0">
                <a:solidFill>
                  <a:srgbClr val="556175"/>
                </a:solidFill>
                <a:latin typeface="맑은 고딕"/>
                <a:ea typeface="맑은 고딕"/>
                <a:cs typeface="맑은 고딕"/>
              </a:rPr>
              <a:t>냉각 조치: 팬 최대 운전</a:t>
            </a:r>
          </a:p>
          <a:p>
            <a:pPr algn="ctr">
              <a:lnSpc>
                <a:spcPct val="110000"/>
              </a:lnSpc>
              <a:spcAft>
                <a:spcPts val="100"/>
              </a:spcAft>
            </a:pPr>
            <a:r>
              <a:rPr sz="1300" b="0">
                <a:solidFill>
                  <a:srgbClr val="556175"/>
                </a:solidFill>
                <a:latin typeface="맑은 고딕"/>
                <a:ea typeface="맑은 고딕"/>
                <a:cs typeface="맑은 고딕"/>
              </a:rPr>
              <a:t>정비 시점: 야간 정비 시간</a:t>
            </a:r>
          </a:p>
          <a:p>
            <a:pPr algn="ctr">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승인된 내용</a:t>
            </a:r>
          </a:p>
          <a:p>
            <a:pPr algn="ctr">
              <a:lnSpc>
                <a:spcPct val="110000"/>
              </a:lnSpc>
              <a:spcAft>
                <a:spcPts val="100"/>
              </a:spcAft>
            </a:pPr>
            <a:r>
              <a:rPr sz="1300" b="0">
                <a:solidFill>
                  <a:srgbClr val="556175"/>
                </a:solidFill>
                <a:latin typeface="맑은 고딕"/>
                <a:ea typeface="맑은 고딕"/>
                <a:cs typeface="맑은 고딕"/>
              </a:rPr>
              <a:t>승인한 역할과 승인된 추천안</a:t>
            </a:r>
          </a:p>
          <a:p>
            <a:pPr algn="ctr">
              <a:lnSpc>
                <a:spcPct val="110000"/>
              </a:lnSpc>
              <a:spcAft>
                <a:spcPts val="100"/>
              </a:spcAft>
            </a:pPr>
            <a:r>
              <a:rPr sz="1300" b="0">
                <a:solidFill>
                  <a:srgbClr val="556175"/>
                </a:solidFill>
                <a:latin typeface="맑은 고딕"/>
                <a:ea typeface="맑은 고딕"/>
                <a:cs typeface="맑은 고딕"/>
              </a:rPr>
              <a:t>운전원 · 팬 속도 100 %</a:t>
            </a:r>
          </a:p>
          <a:p>
            <a:pPr algn="ctr">
              <a:lnSpc>
                <a:spcPct val="110000"/>
              </a:lnSpc>
              <a:spcAft>
                <a:spcPts val="100"/>
              </a:spcAft>
            </a:pPr>
            <a:r>
              <a:rPr sz="1300" b="0">
                <a:solidFill>
                  <a:srgbClr val="556175"/>
                </a:solidFill>
                <a:latin typeface="맑은 고딕"/>
                <a:ea typeface="맑은 고딕"/>
                <a:cs typeface="맑은 고딕"/>
              </a:rPr>
              <a:t>설비보전팀장 · 정비 시점</a:t>
            </a:r>
          </a:p>
          <a:p>
            <a:pPr algn="ctr">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처리의 결과</a:t>
            </a:r>
          </a:p>
          <a:p>
            <a:pPr algn="ctr">
              <a:lnSpc>
                <a:spcPct val="110000"/>
              </a:lnSpc>
              <a:spcAft>
                <a:spcPts val="100"/>
              </a:spcAft>
            </a:pPr>
            <a:r>
              <a:rPr sz="1300" b="0">
                <a:solidFill>
                  <a:srgbClr val="556175"/>
                </a:solidFill>
                <a:latin typeface="맑은 고딕"/>
                <a:ea typeface="맑은 고딕"/>
                <a:cs typeface="맑은 고딕"/>
              </a:rPr>
              <a:t>업무 시스템에 남은 기록</a:t>
            </a:r>
          </a:p>
          <a:p>
            <a:pPr algn="ctr">
              <a:lnSpc>
                <a:spcPct val="110000"/>
              </a:lnSpc>
              <a:spcAft>
                <a:spcPts val="100"/>
              </a:spcAft>
            </a:pPr>
            <a:r>
              <a:rPr sz="1300" b="0">
                <a:solidFill>
                  <a:srgbClr val="556175"/>
                </a:solidFill>
                <a:latin typeface="맑은 고딕"/>
                <a:ea typeface="맑은 고딕"/>
                <a:cs typeface="맑은 고딕"/>
              </a:rPr>
              <a:t>설비 명령과 작업지시</a:t>
            </a:r>
          </a:p>
          <a:p>
            <a:pPr algn="ctr">
              <a:lnSpc>
                <a:spcPct val="110000"/>
              </a:lnSpc>
              <a:spcAft>
                <a:spcPts val="100"/>
              </a:spcAft>
            </a:pPr>
            <a:r>
              <a:rPr sz="1300" b="0">
                <a:solidFill>
                  <a:srgbClr val="556175"/>
                </a:solidFill>
                <a:latin typeface="맑은 고딕"/>
                <a:ea typeface="맑은 고딕"/>
                <a:cs typeface="맑은 고딕"/>
              </a:rPr>
              <a:t>정비 오더와 공지</a:t>
            </a:r>
          </a:p>
          <a:p>
            <a:pPr algn="ctr">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쿨러 성능 저하 경보</a:t>
            </a:r>
          </a:p>
          <a:p>
            <a:pPr algn="ctr">
              <a:lnSpc>
                <a:spcPct val="110000"/>
              </a:lnSpc>
              <a:spcAft>
                <a:spcPts val="400"/>
              </a:spcAft>
            </a:pPr>
            <a:r>
              <a:rPr sz="1300" b="0">
                <a:solidFill>
                  <a:srgbClr val="1F2A3A"/>
                </a:solidFill>
                <a:latin typeface="맑은 고딕"/>
                <a:ea typeface="맑은 고딕"/>
                <a:cs typeface="맑은 고딕"/>
              </a:rPr>
              <a:t>ALT-hyd01-0026-767a</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원인 쿨러 핀 오염</a:t>
            </a:r>
          </a:p>
          <a:p>
            <a:pPr algn="ctr">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운전원 승인</a:t>
            </a:r>
          </a:p>
          <a:p>
            <a:pPr algn="ctr">
              <a:lnSpc>
                <a:spcPct val="110000"/>
              </a:lnSpc>
              <a:spcAft>
                <a:spcPts val="400"/>
              </a:spcAft>
            </a:pPr>
            <a:r>
              <a:rPr sz="1300" b="0">
                <a:solidFill>
                  <a:srgbClr val="1F2A3A"/>
                </a:solidFill>
                <a:latin typeface="맑은 고딕"/>
                <a:ea typeface="맑은 고딕"/>
                <a:cs typeface="맑은 고딕"/>
              </a:rPr>
              <a:t>추천안 승인</a:t>
            </a:r>
          </a:p>
          <a:p>
            <a:pPr algn="ctr">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CMD-1010-0001-01d1</a:t>
            </a:r>
          </a:p>
          <a:p>
            <a:pPr algn="ctr">
              <a:lnSpc>
                <a:spcPct val="110000"/>
              </a:lnSpc>
              <a:spcAft>
                <a:spcPts val="400"/>
              </a:spcAft>
            </a:pPr>
            <a:r>
              <a:rPr sz="1300" b="0">
                <a:solidFill>
                  <a:srgbClr val="1F2A3A"/>
                </a:solidFill>
                <a:latin typeface="맑은 고딕"/>
                <a:ea typeface="맑은 고딕"/>
                <a:cs typeface="맑은 고딕"/>
              </a:rPr>
              <a:t>WO-1010-1198</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E_end · 정상</a:t>
            </a:r>
          </a:p>
          <a:p>
            <a:pPr algn="ctr">
              <a:lnSpc>
                <a:spcPct val="110000"/>
              </a:lnSpc>
              <a:spcAft>
                <a:spcPts val="400"/>
              </a:spcAft>
            </a:pPr>
            <a:r>
              <a:rPr sz="1300" b="0">
                <a:solidFill>
                  <a:srgbClr val="1F2A3A"/>
                </a:solidFill>
                <a:latin typeface="맑은 고딕"/>
                <a:ea typeface="맑은 고딕"/>
                <a:cs typeface="맑은 고딕"/>
              </a:rPr>
              <a:t>유온 51.3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세종료.svg" descr="illust_7988607230378243405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유온 51.3 ℃ · 기준 55 ℃ 미만</a:t>
            </a:r>
          </a:p>
          <a:p>
            <a:pPr algn="ctr">
              <a:lnSpc>
                <a:spcPct val="110000"/>
              </a:lnSpc>
              <a:spcAft>
                <a:spcPts val="100"/>
              </a:spcAft>
            </a:pPr>
            <a:r>
              <a:rPr sz="1300" b="0">
                <a:solidFill>
                  <a:srgbClr val="556175"/>
                </a:solidFill>
                <a:latin typeface="맑은 고딕"/>
                <a:ea typeface="맑은 고딕"/>
                <a:cs typeface="맑은 고딕"/>
              </a:rPr>
              <a:t>작업지시 WO-1010-1198</a:t>
            </a:r>
          </a:p>
        </p:txBody>
      </p:sp>
      <p:sp>
        <p:nvSpPr>
          <p:cNvPr id="8" name="TextBox 7"/>
          <p:cNvSpPr txBox="1"/>
          <p:nvPr/>
        </p:nvSpPr>
        <p:spPr>
          <a:xfrm>
            <a:off x="4404875"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정비 오더 WO-1010-5DDD</a:t>
            </a:r>
          </a:p>
          <a:p>
            <a:pPr algn="ctr">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씰 키트 6개 입고 · 검수 합격</a:t>
            </a:r>
          </a:p>
          <a:p>
            <a:pPr algn="ctr">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건을 잇는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판단, 승인, 명령, 작업지시가 식별자로 이어져 있어 끝난 업무를 추천안과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ALT-hyd01-0026-767a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c3_cooling.32aca7de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DEC-1010-058-88a6      </a:t>
            </a:r>
            <a:r>
              <a:rPr sz="1300" b="0">
                <a:solidFill>
                  <a:srgbClr val="E8EEF6"/>
                </a:solidFill>
                <a:latin typeface="맑은 고딕"/>
                <a:ea typeface="맑은 고딕"/>
                <a:cs typeface="맑은 고딕"/>
              </a:rPr>
              <a:t>판단</a:t>
            </a:r>
          </a:p>
          <a:p>
            <a:pPr algn="l">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CMD-1010-0001-01d1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a:lnSpc>
                <a:spcPct val="110000"/>
              </a:lnSpc>
              <a:spcAft>
                <a:spcPts val="200"/>
              </a:spcAft>
            </a:pPr>
            <a:r>
              <a:rPr sz="1300" b="0">
                <a:solidFill>
                  <a:srgbClr val="E8EEF6"/>
                </a:solidFill>
                <a:latin typeface="Consolas"/>
                <a:ea typeface="맑은 고딕"/>
                <a:cs typeface="맑은 고딕"/>
              </a:rPr>
              <a:t>WO-1010-1198           </a:t>
            </a:r>
            <a:r>
              <a:rPr sz="1300" b="0">
                <a:solidFill>
                  <a:srgbClr val="E8EEF6"/>
                </a:solidFill>
                <a:latin typeface="맑은 고딕"/>
                <a:ea typeface="맑은 고딕"/>
                <a:cs typeface="맑은 고딕"/>
              </a:rPr>
              <a:t>작업지시</a:t>
            </a:r>
          </a:p>
          <a:p>
            <a:pPr algn="l">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추천안의 근거</a:t>
            </a:r>
          </a:p>
          <a:p>
            <a:pPr algn="l">
              <a:lnSpc>
                <a:spcPct val="110000"/>
              </a:lnSpc>
              <a:spcAft>
                <a:spcPts val="400"/>
              </a:spcAft>
            </a:pPr>
            <a:r>
              <a:rPr sz="1400" b="0">
                <a:solidFill>
                  <a:srgbClr val="1F2A3A"/>
                </a:solidFill>
                <a:latin typeface="맑은 고딕"/>
                <a:ea typeface="맑은 고딕"/>
                <a:cs typeface="맑은 고딕"/>
              </a:rPr>
              <a:t>판단 id로 에이전트가</a:t>
            </a:r>
          </a:p>
          <a:p>
            <a:pPr algn="l">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결정의 책임</a:t>
            </a:r>
          </a:p>
          <a:p>
            <a:pPr algn="l">
              <a:lnSpc>
                <a:spcPct val="110000"/>
              </a:lnSpc>
              <a:spcAft>
                <a:spcPts val="400"/>
              </a:spcAft>
            </a:pPr>
            <a:r>
              <a:rPr sz="1400" b="0">
                <a:solidFill>
                  <a:srgbClr val="1F2A3A"/>
                </a:solidFill>
                <a:latin typeface="맑은 고딕"/>
                <a:ea typeface="맑은 고딕"/>
                <a:cs typeface="맑은 고딕"/>
              </a:rPr>
              <a:t>승인 기록에 승인한 역할과</a:t>
            </a:r>
          </a:p>
          <a:p>
            <a:pPr algn="l">
              <a:lnSpc>
                <a:spcPct val="110000"/>
              </a:lnSpc>
              <a:spcAft>
                <a:spcPts val="400"/>
              </a:spcAft>
            </a:pPr>
            <a:r>
              <a:rPr sz="1400" b="0">
                <a:solidFill>
                  <a:srgbClr val="1F2A3A"/>
                </a:solidFill>
                <a:latin typeface="맑은 고딕"/>
                <a:ea typeface="맑은 고딕"/>
                <a:cs typeface="맑은 고딕"/>
              </a:rPr>
              <a:t>판단의 식별자가 남는다.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실행의 결과</a:t>
            </a:r>
          </a:p>
          <a:p>
            <a:pPr algn="l">
              <a:lnSpc>
                <a:spcPct val="110000"/>
              </a:lnSpc>
              <a:spcAft>
                <a:spcPts val="400"/>
              </a:spcAft>
            </a:pPr>
            <a:r>
              <a:rPr sz="1400" b="0">
                <a:solidFill>
                  <a:srgbClr val="1F2A3A"/>
                </a:solidFill>
                <a:latin typeface="맑은 고딕"/>
                <a:ea typeface="맑은 고딕"/>
                <a:cs typeface="맑은 고딕"/>
              </a:rPr>
              <a:t>명령과 작업지시의 번호가</a:t>
            </a:r>
          </a:p>
          <a:p>
            <a:pPr algn="l">
              <a:lnSpc>
                <a:spcPct val="110000"/>
              </a:lnSpc>
              <a:spcAft>
                <a:spcPts val="400"/>
              </a:spcAft>
            </a:pPr>
            <a:r>
              <a:rPr sz="1400" b="0">
                <a:solidFill>
                  <a:srgbClr val="1F2A3A"/>
                </a:solidFill>
                <a:latin typeface="맑은 고딕"/>
                <a:ea typeface="맑은 고딕"/>
                <a:cs typeface="맑은 고딕"/>
              </a:rPr>
              <a:t>업무 시스템의 기록을 가리킨다.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에이전트, 프로세스의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추천안을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세층연결.svg" descr="illust_7698440032944220762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추천안을 순서, 책임, 승인, 실행, 기록으로 완결한다</a:t>
            </a:r>
          </a:p>
        </p:txBody>
      </p:sp>
      <p:sp>
        <p:nvSpPr>
          <p:cNvPr id="10" name="TextBox 9"/>
          <p:cNvSpPr txBox="1"/>
          <p:nvPr/>
        </p:nvSpPr>
        <p:spPr>
          <a:xfrm>
            <a:off x="1650228"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1~3회차</a:t>
            </a:r>
          </a:p>
        </p:txBody>
      </p:sp>
      <p:sp>
        <p:nvSpPr>
          <p:cNvPr id="11" name="TextBox 10"/>
          <p:cNvSpPr txBox="1"/>
          <p:nvPr/>
        </p:nvSpPr>
        <p:spPr>
          <a:xfrm>
            <a:off x="5059445"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4~6회차</a:t>
            </a:r>
          </a:p>
        </p:txBody>
      </p:sp>
      <p:sp>
        <p:nvSpPr>
          <p:cNvPr id="12" name="TextBox 11"/>
          <p:cNvSpPr txBox="1"/>
          <p:nvPr/>
        </p:nvSpPr>
        <p:spPr>
          <a:xfrm>
            <a:off x="8741400"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7~9회차</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a:t>
            </a:r>
          </a:p>
          <a:p>
            <a:pPr algn="l">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enterprise-maint</a:t>
            </a:r>
          </a:p>
          <a:p>
            <a:pPr algn="l">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enterprise-purchase</a:t>
            </a:r>
          </a:p>
          <a:p>
            <a:pPr algn="l">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SOP-COOL-11은 에이전트의 추천, 운전원의 승인, 팬 명령을 거쳐 유온 51.3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a:t>
            </a:r>
          </a:p>
          <a:p>
            <a:pPr algn="ctr">
              <a:lnSpc>
                <a:spcPct val="110000"/>
              </a:lnSpc>
              <a:spcAft>
                <a:spcPts val="400"/>
              </a:spcAft>
            </a:pPr>
            <a:r>
              <a:rPr sz="1250" b="0">
                <a:solidFill>
                  <a:srgbClr val="1F2A3A"/>
                </a:solidFill>
                <a:latin typeface="맑은 고딕"/>
                <a:ea typeface="맑은 고딕"/>
                <a:cs typeface="맑은 고딕"/>
              </a:rPr>
              <a:t>조치 SOP-COOL-11</a:t>
            </a:r>
          </a:p>
          <a:p>
            <a:pPr algn="ctr">
              <a:lnSpc>
                <a:spcPct val="110000"/>
              </a:lnSpc>
              <a:spcAft>
                <a:spcPts val="400"/>
              </a:spcAft>
            </a:pPr>
            <a:r>
              <a:rPr sz="1250" b="0">
                <a:solidFill>
                  <a:srgbClr val="1F2A3A"/>
                </a:solidFill>
                <a:latin typeface="맑은 고딕"/>
                <a:ea typeface="맑은 고딕"/>
                <a:cs typeface="맑은 고딕"/>
              </a:rPr>
              <a:t>팬 최대 운전이</a:t>
            </a:r>
          </a:p>
          <a:p>
            <a:pPr algn="ctr">
              <a:lnSpc>
                <a:spcPct val="110000"/>
              </a:lnSpc>
              <a:spcAft>
                <a:spcPts val="400"/>
              </a:spcAft>
            </a:pPr>
            <a:r>
              <a:rPr sz="125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제안</a:t>
            </a:r>
          </a:p>
          <a:p>
            <a:pPr algn="ctr">
              <a:lnSpc>
                <a:spcPct val="110000"/>
              </a:lnSpc>
              <a:spcAft>
                <a:spcPts val="400"/>
              </a:spcAft>
            </a:pPr>
            <a:r>
              <a:rPr sz="1250" b="0">
                <a:solidFill>
                  <a:srgbClr val="1F2A3A"/>
                </a:solidFill>
                <a:latin typeface="맑은 고딕"/>
                <a:ea typeface="맑은 고딕"/>
                <a:cs typeface="맑은 고딕"/>
              </a:rPr>
              <a:t>에이전트가 원인을</a:t>
            </a:r>
          </a:p>
          <a:p>
            <a:pPr algn="ctr">
              <a:lnSpc>
                <a:spcPct val="110000"/>
              </a:lnSpc>
              <a:spcAft>
                <a:spcPts val="400"/>
              </a:spcAft>
            </a:pPr>
            <a:r>
              <a:rPr sz="1250" b="0">
                <a:solidFill>
                  <a:srgbClr val="1F2A3A"/>
                </a:solidFill>
                <a:latin typeface="맑은 고딕"/>
                <a:ea typeface="맑은 고딕"/>
                <a:cs typeface="맑은 고딕"/>
              </a:rPr>
              <a:t>쿨러 핀 오염으로</a:t>
            </a:r>
          </a:p>
          <a:p>
            <a:pPr algn="ctr">
              <a:lnSpc>
                <a:spcPct val="110000"/>
              </a:lnSpc>
              <a:spcAft>
                <a:spcPts val="400"/>
              </a:spcAft>
            </a:pPr>
            <a:r>
              <a:rPr sz="125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운전원이</a:t>
            </a:r>
          </a:p>
          <a:p>
            <a:pPr algn="ctr">
              <a:lnSpc>
                <a:spcPct val="110000"/>
              </a:lnSpc>
              <a:spcAft>
                <a:spcPts val="400"/>
              </a:spcAft>
            </a:pPr>
            <a:r>
              <a:rPr sz="125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프로세스가</a:t>
            </a:r>
          </a:p>
          <a:p>
            <a:pPr algn="ctr">
              <a:lnSpc>
                <a:spcPct val="110000"/>
              </a:lnSpc>
              <a:spcAft>
                <a:spcPts val="400"/>
              </a:spcAft>
            </a:pPr>
            <a:r>
              <a:rPr sz="1250" b="0">
                <a:solidFill>
                  <a:srgbClr val="1F2A3A"/>
                </a:solidFill>
                <a:latin typeface="맑은 고딕"/>
                <a:ea typeface="맑은 고딕"/>
                <a:cs typeface="맑은 고딕"/>
              </a:rPr>
              <a:t>팬 속도 100 %</a:t>
            </a:r>
          </a:p>
          <a:p>
            <a:pPr algn="ctr">
              <a:lnSpc>
                <a:spcPct val="110000"/>
              </a:lnSpc>
              <a:spcAft>
                <a:spcPts val="400"/>
              </a:spcAft>
            </a:pPr>
            <a:r>
              <a:rPr sz="125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a:t>
            </a:r>
          </a:p>
          <a:p>
            <a:pPr algn="ctr">
              <a:lnSpc>
                <a:spcPct val="110000"/>
              </a:lnSpc>
              <a:spcAft>
                <a:spcPts val="400"/>
              </a:spcAft>
            </a:pPr>
            <a:r>
              <a:rPr sz="1250" b="0">
                <a:solidFill>
                  <a:srgbClr val="1F2A3A"/>
                </a:solidFill>
                <a:latin typeface="맑은 고딕"/>
                <a:ea typeface="맑은 고딕"/>
                <a:cs typeface="맑은 고딕"/>
              </a:rPr>
              <a:t>재관측 유온 51.3 ℃</a:t>
            </a:r>
          </a:p>
          <a:p>
            <a:pPr algn="ctr">
              <a:lnSpc>
                <a:spcPct val="110000"/>
              </a:lnSpc>
              <a:spcAft>
                <a:spcPts val="400"/>
              </a:spcAft>
            </a:pPr>
            <a:r>
              <a:rPr sz="1250" b="0">
                <a:solidFill>
                  <a:srgbClr val="1F2A3A"/>
                </a:solidFill>
                <a:latin typeface="맑은 고딕"/>
                <a:ea typeface="맑은 고딕"/>
                <a:cs typeface="맑은 고딕"/>
              </a:rPr>
              <a:t>기준 55 ℃ 미만</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빠지면 추천안에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지식이 없을 때</a:t>
            </a:r>
          </a:p>
          <a:p>
            <a:pPr algn="l">
              <a:lnSpc>
                <a:spcPct val="110000"/>
              </a:lnSpc>
              <a:spcAft>
                <a:spcPts val="400"/>
              </a:spcAft>
            </a:pPr>
            <a:r>
              <a:rPr sz="1400" b="0">
                <a:solidFill>
                  <a:srgbClr val="1F2A3A"/>
                </a:solidFill>
                <a:latin typeface="맑은 고딕"/>
                <a:ea typeface="맑은 고딕"/>
                <a:cs typeface="맑은 고딕"/>
              </a:rPr>
              <a:t>• 원인 후보와 조치와 규칙을 읽을 곳이 없다</a:t>
            </a:r>
          </a:p>
          <a:p>
            <a:pPr algn="l">
              <a:lnSpc>
                <a:spcPct val="110000"/>
              </a:lnSpc>
              <a:spcAft>
                <a:spcPts val="400"/>
              </a:spcAft>
            </a:pPr>
            <a:r>
              <a:rPr sz="1400" b="0">
                <a:solidFill>
                  <a:srgbClr val="1F2A3A"/>
                </a:solidFill>
                <a:latin typeface="맑은 고딕"/>
                <a:ea typeface="맑은 고딕"/>
                <a:cs typeface="맑은 고딕"/>
              </a:rPr>
              <a:t>• 추천안이 무엇에 근거했는지 되짚을 수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없을 때</a:t>
            </a:r>
          </a:p>
          <a:p>
            <a:pPr algn="l">
              <a:lnSpc>
                <a:spcPct val="110000"/>
              </a:lnSpc>
              <a:spcAft>
                <a:spcPts val="400"/>
              </a:spcAft>
            </a:pPr>
            <a:r>
              <a:rPr sz="14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프로세스가 없을 때</a:t>
            </a:r>
          </a:p>
          <a:p>
            <a:pPr algn="l">
              <a:lnSpc>
                <a:spcPct val="110000"/>
              </a:lnSpc>
              <a:spcAft>
                <a:spcPts val="400"/>
              </a:spcAft>
            </a:pPr>
            <a:r>
              <a:rPr sz="1400" b="0">
                <a:solidFill>
                  <a:srgbClr val="1F2A3A"/>
                </a:solidFill>
                <a:latin typeface="맑은 고딕"/>
                <a:ea typeface="맑은 고딕"/>
                <a:cs typeface="맑은 고딕"/>
              </a:rPr>
              <a:t>• 추천이 나와도 누가 승인하고 누가 실행할지가 정해져 있지 않다</a:t>
            </a:r>
          </a:p>
          <a:p>
            <a:pPr algn="l">
              <a:lnSpc>
                <a:spcPct val="110000"/>
              </a:lnSpc>
              <a:spcAft>
                <a:spcPts val="400"/>
              </a:spcAft>
            </a:pPr>
            <a:r>
              <a:rPr sz="14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겹쳐 있는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에이전트 실행, 스킬, MCP</a:t>
            </a:r>
          </a:p>
          <a:p>
            <a:pPr algn="l">
              <a:lnSpc>
                <a:spcPct val="110000"/>
              </a:lnSpc>
              <a:spcAft>
                <a:spcPts val="600"/>
              </a:spcAft>
            </a:pPr>
            <a:r>
              <a:rPr sz="1450" b="0">
                <a:solidFill>
                  <a:srgbClr val="1F2A3A"/>
                </a:solidFill>
                <a:latin typeface="맑은 고딕"/>
                <a:ea typeface="맑은 고딕"/>
                <a:cs typeface="맑은 고딕"/>
              </a:rPr>
              <a:t>• 명세(SDD)와 시나리오(BDD)</a:t>
            </a:r>
          </a:p>
          <a:p>
            <a:pPr algn="l">
              <a:lnSpc>
                <a:spcPct val="110000"/>
              </a:lnSpc>
              <a:spcAft>
                <a:spcPts val="600"/>
              </a:spcAft>
            </a:pPr>
            <a:r>
              <a:rPr sz="1450" b="0">
                <a:solidFill>
                  <a:srgbClr val="1F2A3A"/>
                </a:solidFill>
                <a:latin typeface="맑은 고딕"/>
                <a:ea typeface="맑은 고딕"/>
                <a:cs typeface="맑은 고딕"/>
              </a:rPr>
              <a:t>• 한 단계 안에서 추천안 하나를 만든다</a:t>
            </a:r>
          </a:p>
        </p:txBody>
      </p:sp>
      <p:sp>
        <p:nvSpPr>
          <p:cNvPr id="11" name="Rounded Rectangle 10"/>
          <p:cNvSpPr/>
          <p:nvPr/>
        </p:nvSpPr>
        <p:spPr>
          <a:xfrm>
            <a:off x="868680" y="4945570"/>
            <a:ext cx="93878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4~6회차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 인스턴스</a:t>
            </a:r>
          </a:p>
          <a:p>
            <a:pPr algn="l">
              <a:lnSpc>
                <a:spcPct val="110000"/>
              </a:lnSpc>
              <a:spcAft>
                <a:spcPts val="600"/>
              </a:spcAft>
            </a:pPr>
            <a:r>
              <a:rPr sz="1450" b="0">
                <a:solidFill>
                  <a:srgbClr val="1F2A3A"/>
                </a:solidFill>
                <a:latin typeface="맑은 고딕"/>
                <a:ea typeface="맑은 고딕"/>
                <a:cs typeface="맑은 고딕"/>
              </a:rPr>
              <a:t>• 사람의 승인(HITL), 시스템 실행</a:t>
            </a:r>
          </a:p>
          <a:p>
            <a:pPr algn="l">
              <a:lnSpc>
                <a:spcPct val="110000"/>
              </a:lnSpc>
              <a:spcAft>
                <a:spcPts val="600"/>
              </a:spcAft>
            </a:pPr>
            <a:r>
              <a:rPr sz="145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4945570"/>
            <a:ext cx="9387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6~9회차</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두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쪽의 장치는 둘째 자리 하나에서 일했고, 프로세스 쪽의 장치는 경보에서 끝까지의 진행과 승인과 실행을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장치자리.svg" descr="illust_4929028840743459855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04764" y="1627632"/>
            <a:ext cx="9382165"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프로세스 정의와 인스턴스</a:t>
            </a:r>
          </a:p>
          <a:p>
            <a:pPr algn="ctr">
              <a:lnSpc>
                <a:spcPct val="110000"/>
              </a:lnSpc>
              <a:spcAft>
                <a:spcPts val="100"/>
              </a:spcAft>
            </a:pPr>
            <a:r>
              <a:rPr sz="1100" b="0">
                <a:solidFill>
                  <a:srgbClr val="556175"/>
                </a:solidFill>
                <a:latin typeface="맑은 고딕"/>
                <a:ea typeface="맑은 고딕"/>
                <a:cs typeface="맑은 고딕"/>
              </a:rPr>
              <a:t>c3_cooling: 작업 9, 갈림 2, 타이머 1 · 경보 ALT-hyd01-0026-767a로 열려 E_end에서 닫힌 한 건</a:t>
            </a:r>
          </a:p>
        </p:txBody>
      </p:sp>
      <p:sp>
        <p:nvSpPr>
          <p:cNvPr id="8" name="TextBox 7"/>
          <p:cNvSpPr txBox="1"/>
          <p:nvPr/>
        </p:nvSpPr>
        <p:spPr>
          <a:xfrm>
            <a:off x="3232105" y="2431298"/>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기록</a:t>
            </a:r>
          </a:p>
          <a:p>
            <a:pPr algn="ctr">
              <a:lnSpc>
                <a:spcPct val="110000"/>
              </a:lnSpc>
              <a:spcAft>
                <a:spcPts val="100"/>
              </a:spcAft>
            </a:pPr>
            <a:r>
              <a:rPr sz="1100" b="0">
                <a:solidFill>
                  <a:srgbClr val="556175"/>
                </a:solidFill>
                <a:latin typeface="맑은 고딕"/>
                <a:ea typeface="맑은 고딕"/>
                <a:cs typeface="맑은 고딕"/>
              </a:rPr>
              <a:t>역할 role:operator</a:t>
            </a:r>
          </a:p>
        </p:txBody>
      </p:sp>
      <p:sp>
        <p:nvSpPr>
          <p:cNvPr id="9" name="TextBox 8"/>
          <p:cNvSpPr txBox="1"/>
          <p:nvPr/>
        </p:nvSpPr>
        <p:spPr>
          <a:xfrm>
            <a:off x="5032171" y="2431298"/>
            <a:ext cx="349103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 실행</a:t>
            </a:r>
          </a:p>
          <a:p>
            <a:pPr algn="ctr">
              <a:lnSpc>
                <a:spcPct val="110000"/>
              </a:lnSpc>
              <a:spcAft>
                <a:spcPts val="100"/>
              </a:spcAft>
            </a:pPr>
            <a:r>
              <a:rPr sz="1100" b="0">
                <a:solidFill>
                  <a:srgbClr val="556175"/>
                </a:solidFill>
                <a:latin typeface="맑은 고딕"/>
                <a:ea typeface="맑은 고딕"/>
                <a:cs typeface="맑은 고딕"/>
              </a:rPr>
              <a:t>CMD-1010-0001-01d1 · WO-1010-1198</a:t>
            </a:r>
          </a:p>
        </p:txBody>
      </p:sp>
      <p:sp>
        <p:nvSpPr>
          <p:cNvPr id="10" name="TextBox 9"/>
          <p:cNvSpPr txBox="1"/>
          <p:nvPr/>
        </p:nvSpPr>
        <p:spPr>
          <a:xfrm>
            <a:off x="777468"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1" name="TextBox 10"/>
          <p:cNvSpPr txBox="1"/>
          <p:nvPr/>
        </p:nvSpPr>
        <p:spPr>
          <a:xfrm>
            <a:off x="2032060"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2" name="TextBox 11"/>
          <p:cNvSpPr txBox="1"/>
          <p:nvPr/>
        </p:nvSpPr>
        <p:spPr>
          <a:xfrm>
            <a:off x="3504842"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3" name="TextBox 12"/>
          <p:cNvSpPr txBox="1"/>
          <p:nvPr/>
        </p:nvSpPr>
        <p:spPr>
          <a:xfrm>
            <a:off x="4759434"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232216"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7486808"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a:t>
            </a:r>
          </a:p>
        </p:txBody>
      </p:sp>
      <p:sp>
        <p:nvSpPr>
          <p:cNvPr id="16" name="TextBox 15"/>
          <p:cNvSpPr txBox="1"/>
          <p:nvPr/>
        </p:nvSpPr>
        <p:spPr>
          <a:xfrm>
            <a:off x="8850495"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10432371" y="4582287"/>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2441166" y="4913208"/>
            <a:ext cx="261827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에이전트 실행 · 스킬 · MCP</a:t>
            </a:r>
          </a:p>
          <a:p>
            <a:pPr algn="ctr">
              <a:lnSpc>
                <a:spcPct val="110000"/>
              </a:lnSpc>
              <a:spcAft>
                <a:spcPts val="100"/>
              </a:spcAft>
            </a:pPr>
            <a:r>
              <a:rPr sz="1100" b="0">
                <a:solidFill>
                  <a:srgbClr val="556175"/>
                </a:solidFill>
                <a:latin typeface="맑은 고딕"/>
                <a:ea typeface="맑은 고딕"/>
                <a:cs typeface="맑은 고딕"/>
              </a:rPr>
              <a:t>agent:cooling이 도구를 10번 불렀다</a:t>
            </a:r>
          </a:p>
          <a:p>
            <a:pPr algn="ctr">
              <a:lnSpc>
                <a:spcPct val="110000"/>
              </a:lnSpc>
              <a:spcAft>
                <a:spcPts val="100"/>
              </a:spcAft>
            </a:pPr>
            <a:r>
              <a:rPr sz="1100" b="0">
                <a:solidFill>
                  <a:srgbClr val="556175"/>
                </a:solidFill>
                <a:latin typeface="맑은 고딕"/>
                <a:ea typeface="맑은 고딕"/>
                <a:cs typeface="맑은 고딕"/>
              </a:rPr>
              <a:t>첫 호출로 스킬 문서를 읽었다</a:t>
            </a:r>
          </a:p>
          <a:p>
            <a:pPr algn="ctr">
              <a:lnSpc>
                <a:spcPct val="110000"/>
              </a:lnSpc>
              <a:spcAft>
                <a:spcPts val="100"/>
              </a:spcAft>
            </a:pPr>
            <a:r>
              <a:rPr sz="1100" b="0">
                <a:solidFill>
                  <a:srgbClr val="556175"/>
                </a:solidFill>
                <a:latin typeface="맑은 고딕"/>
                <a:ea typeface="맑은 고딕"/>
                <a:cs typeface="맑은 고딕"/>
              </a:rPr>
              <a:t>hyd-dmn · enterprise의 도구로 읽었다</a:t>
            </a:r>
          </a:p>
        </p:txBody>
      </p:sp>
      <p:sp>
        <p:nvSpPr>
          <p:cNvPr id="19" name="TextBox 18"/>
          <p:cNvSpPr txBox="1"/>
          <p:nvPr/>
        </p:nvSpPr>
        <p:spPr>
          <a:xfrm>
            <a:off x="695647" y="5787786"/>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명세와 시나리오</a:t>
            </a:r>
          </a:p>
          <a:p>
            <a:pPr algn="ctr">
              <a:lnSpc>
                <a:spcPct val="110000"/>
              </a:lnSpc>
              <a:spcAft>
                <a:spcPts val="100"/>
              </a:spcAft>
            </a:pPr>
            <a:r>
              <a:rPr sz="1100" b="0">
                <a:solidFill>
                  <a:srgbClr val="556175"/>
                </a:solidFill>
                <a:latin typeface="맑은 고딕"/>
                <a:ea typeface="맑은 고딕"/>
                <a:cs typeface="맑은 고딕"/>
              </a:rPr>
              <a:t>실행에 앞서 정했다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 → 대안 평가 → 업무 값 조회 → 제출</a:t>
            </a:r>
          </a:p>
          <a:p>
            <a:pPr algn="l">
              <a:lnSpc>
                <a:spcPct val="110000"/>
              </a:lnSpc>
              <a:spcAft>
                <a:spcPts val="600"/>
              </a:spcAft>
            </a:pPr>
            <a:r>
              <a:rPr sz="1450" b="0">
                <a:solidFill>
                  <a:srgbClr val="1F2A3A"/>
                </a:solidFill>
                <a:latin typeface="맑은 고딕"/>
                <a:ea typeface="맑은 고딕"/>
                <a:cs typeface="맑은 고딕"/>
              </a:rPr>
              <a:t>• 이 처리 건의 호출이며 상황에 따라 달라진다</a:t>
            </a:r>
          </a:p>
          <a:p>
            <a:pPr algn="l">
              <a:lnSpc>
                <a:spcPct val="110000"/>
              </a:lnSpc>
              <a:spcAft>
                <a:spcPts val="600"/>
              </a:spcAft>
            </a:pPr>
            <a:r>
              <a:rPr sz="1450" b="0">
                <a:solidFill>
                  <a:srgbClr val="1F2A3A"/>
                </a:solidFill>
                <a:latin typeface="맑은 고딕"/>
                <a:ea typeface="맑은 고딕"/>
                <a:cs typeface="맑은 고딕"/>
              </a:rPr>
              <a:t>• 에이전트가 읽고 따른다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 승인 → 명령 → 재관측 → 작업지시</a:t>
            </a:r>
          </a:p>
          <a:p>
            <a:pPr algn="l">
              <a:lnSpc>
                <a:spcPct val="110000"/>
              </a:lnSpc>
              <a:spcAft>
                <a:spcPts val="600"/>
              </a:spcAft>
            </a:pPr>
            <a:r>
              <a:rPr sz="1450" b="0">
                <a:solidFill>
                  <a:srgbClr val="1F2A3A"/>
                </a:solidFill>
                <a:latin typeface="맑은 고딕"/>
                <a:ea typeface="맑은 고딕"/>
                <a:cs typeface="맑은 고딕"/>
              </a:rPr>
              <a:t>• 엔진이 읽고 실행한다</a:t>
            </a:r>
          </a:p>
          <a:p>
            <a:pPr algn="l">
              <a:lnSpc>
                <a:spcPct val="110000"/>
              </a:lnSpc>
              <a:spcAft>
                <a:spcPts val="600"/>
              </a:spcAft>
            </a:pPr>
            <a:r>
              <a:rPr sz="14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diagnose, evaluate_cards</a:t>
            </a:r>
          </a:p>
          <a:p>
            <a:pPr algn="l">
              <a:lnSpc>
                <a:spcPct val="110000"/>
              </a:lnSpc>
              <a:spcAft>
                <a:spcPts val="600"/>
              </a:spcAft>
            </a:pPr>
            <a:r>
              <a:rPr sz="1450" b="0">
                <a:solidFill>
                  <a:srgbClr val="1F2A3A"/>
                </a:solidFill>
                <a:latin typeface="맑은 고딕"/>
                <a:ea typeface="맑은 고딕"/>
                <a:cs typeface="맑은 고딕"/>
              </a:rPr>
              <a:t>• mes_orders</a:t>
            </a:r>
          </a:p>
          <a:p>
            <a:pPr algn="l">
              <a:lnSpc>
                <a:spcPct val="110000"/>
              </a:lnSpc>
              <a:spcAft>
                <a:spcPts val="600"/>
              </a:spcAft>
            </a:pPr>
            <a:r>
              <a:rPr sz="1450" b="0">
                <a:solidFill>
                  <a:srgbClr val="1F2A3A"/>
                </a:solidFill>
                <a:latin typeface="맑은 고딕"/>
                <a:ea typeface="맑은 고딕"/>
                <a:cs typeface="맑은 고딕"/>
              </a:rPr>
              <a:t>• 쓰기는 추천안의 제출 하나뿐이다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명령: 팬 속도 100 %</a:t>
            </a:r>
          </a:p>
          <a:p>
            <a:pPr algn="l">
              <a:lnSpc>
                <a:spcPct val="110000"/>
              </a:lnSpc>
              <a:spcAft>
                <a:spcPts val="600"/>
              </a:spcAft>
            </a:pPr>
            <a:r>
              <a:rPr sz="1450" b="0">
                <a:solidFill>
                  <a:srgbClr val="1F2A3A"/>
                </a:solidFill>
                <a:latin typeface="맑은 고딕"/>
                <a:ea typeface="맑은 고딕"/>
                <a:cs typeface="맑은 고딕"/>
              </a:rPr>
              <a:t>• 작업지시 등록: WO-1010-1198</a:t>
            </a:r>
          </a:p>
          <a:p>
            <a:pPr algn="l">
              <a:lnSpc>
                <a:spcPct val="110000"/>
              </a:lnSpc>
              <a:spcAft>
                <a:spcPts val="600"/>
              </a:spcAft>
            </a:pPr>
            <a:r>
              <a:rPr sz="145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6회차의 HITL은 프로세스에서 사용자 작업으로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빠진 경로</a:t>
            </a:r>
          </a:p>
          <a:p>
            <a:pPr algn="l">
              <a:lnSpc>
                <a:spcPct val="110000"/>
              </a:lnSpc>
              <a:spcAft>
                <a:spcPts val="400"/>
              </a:spcAft>
            </a:pPr>
            <a:r>
              <a:rPr sz="14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493293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갈래의 실행</a:t>
            </a:r>
          </a:p>
          <a:p>
            <a:pPr algn="l">
              <a:lnSpc>
                <a:spcPct val="110000"/>
              </a:lnSpc>
              <a:spcAft>
                <a:spcPts val="400"/>
              </a:spcAft>
            </a:pPr>
            <a:r>
              <a:rPr sz="14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493293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없는 승인</a:t>
            </a:r>
          </a:p>
          <a:p>
            <a:pPr algn="l">
              <a:lnSpc>
                <a:spcPct val="110000"/>
              </a:lnSpc>
              <a:spcAft>
                <a:spcPts val="400"/>
              </a:spcAft>
            </a:pPr>
            <a:r>
              <a:rPr sz="1400" b="0">
                <a:solidFill>
                  <a:srgbClr val="1F2A3A"/>
                </a:solidFill>
                <a:latin typeface="맑은 고딕"/>
                <a:ea typeface="맑은 고딕"/>
                <a:cs typeface="맑은 고딕"/>
              </a:rPr>
              <a:t>그 조치의 승인 역할이 아닌 쪽의 승인은 거부되고 기록으로 남는다</a:t>
            </a:r>
          </a:p>
        </p:txBody>
      </p:sp>
      <p:sp>
        <p:nvSpPr>
          <p:cNvPr id="22" name="Rounded Rectangle 21"/>
          <p:cNvSpPr/>
          <p:nvPr/>
        </p:nvSpPr>
        <p:spPr>
          <a:xfrm>
            <a:off x="8356396" y="493293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드러난 증상이 어느 영역의 몫인지를 가리면 지식, 에이전트, 프로세스 가운데 고칠 곳이 하나로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조치에 정해진 승인 역할</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업무에서 AI는 읽고 견주어 제안했고, 사람은 프로세스를 설계하고 추천안을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 그래프와 업무 데이터를 읽는다</a:t>
            </a:r>
          </a:p>
          <a:p>
            <a:pPr algn="l">
              <a:lnSpc>
                <a:spcPct val="110000"/>
              </a:lnSpc>
              <a:spcAft>
                <a:spcPts val="600"/>
              </a:spcAft>
            </a:pPr>
            <a:r>
              <a:rPr sz="1450" b="0">
                <a:solidFill>
                  <a:srgbClr val="1F2A3A"/>
                </a:solidFill>
                <a:latin typeface="맑은 고딕"/>
                <a:ea typeface="맑은 고딕"/>
                <a:cs typeface="맑은 고딕"/>
              </a:rPr>
              <a:t>• 후보를 견주어 추천과 대안을 낸다</a:t>
            </a:r>
          </a:p>
          <a:p>
            <a:pPr algn="l">
              <a:lnSpc>
                <a:spcPct val="110000"/>
              </a:lnSpc>
              <a:spcAft>
                <a:spcPts val="600"/>
              </a:spcAft>
            </a:pPr>
            <a:r>
              <a:rPr sz="145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승인 역할, 예외 경로를 프로세스로 정한다</a:t>
            </a:r>
          </a:p>
          <a:p>
            <a:pPr algn="l">
              <a:lnSpc>
                <a:spcPct val="110000"/>
              </a:lnSpc>
              <a:spcAft>
                <a:spcPts val="600"/>
              </a:spcAft>
            </a:pPr>
            <a:r>
              <a:rPr sz="1450" b="0">
                <a:solidFill>
                  <a:srgbClr val="1F2A3A"/>
                </a:solidFill>
                <a:latin typeface="맑은 고딕"/>
                <a:ea typeface="맑은 고딕"/>
                <a:cs typeface="맑은 고딕"/>
              </a:rPr>
              <a:t>• 추천안을 승인하거나 거절한다</a:t>
            </a:r>
          </a:p>
          <a:p>
            <a:pPr algn="l">
              <a:lnSpc>
                <a:spcPct val="110000"/>
              </a:lnSpc>
              <a:spcAft>
                <a:spcPts val="600"/>
              </a:spcAft>
            </a:pPr>
            <a:r>
              <a:rPr sz="1450" b="0">
                <a:solidFill>
                  <a:srgbClr val="1F2A3A"/>
                </a:solidFill>
                <a:latin typeface="맑은 고딕"/>
                <a:ea typeface="맑은 고딕"/>
                <a:cs typeface="맑은 고딕"/>
              </a:rPr>
              <a:t>• 처리 건의 기록을 읽어 프로세스를 고친다</a:t>
            </a:r>
          </a:p>
        </p:txBody>
      </p:sp>
      <p:sp>
        <p:nvSpPr>
          <p:cNvPr id="18" name="Rounded Rectangle 17"/>
          <p:cNvSpPr/>
          <p:nvPr/>
        </p:nvSpPr>
        <p:spPr>
          <a:xfrm>
            <a:off x="6781647" y="494557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업무를 프로세스로 옮길 때의 다섯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업무를 프로세스로 옮기는 일은 처리 건이 지나는 다섯 자리에 무엇을 놓을지를 묻는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ectangle 5"/>
          <p:cNvSpPr/>
          <p:nvPr/>
        </p:nvSpPr>
        <p:spPr>
          <a:xfrm>
            <a:off x="1658081" y="3053715"/>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63766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어떤 사건이 일어나면 이 업무가 시작되는가</a:t>
            </a:r>
          </a:p>
        </p:txBody>
      </p:sp>
      <p:sp>
        <p:nvSpPr>
          <p:cNvPr id="10" name="Oval 9"/>
          <p:cNvSpPr/>
          <p:nvPr/>
        </p:nvSpPr>
        <p:spPr>
          <a:xfrm>
            <a:off x="3442624" y="263766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무엇을 읽어 무엇을 제안하게 할 것인가</a:t>
            </a:r>
          </a:p>
        </p:txBody>
      </p:sp>
      <p:sp>
        <p:nvSpPr>
          <p:cNvPr id="13" name="Oval 12"/>
          <p:cNvSpPr/>
          <p:nvPr/>
        </p:nvSpPr>
        <p:spPr>
          <a:xfrm>
            <a:off x="5661507" y="263766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사람의 승인</a:t>
            </a:r>
          </a:p>
          <a:p>
            <a:pPr algn="ctr">
              <a:lnSpc>
                <a:spcPct val="110000"/>
              </a:lnSpc>
              <a:spcAft>
                <a:spcPts val="400"/>
              </a:spcAft>
            </a:pPr>
            <a:r>
              <a:rPr sz="1300" b="0">
                <a:solidFill>
                  <a:srgbClr val="1F2A3A"/>
                </a:solidFill>
                <a:latin typeface="맑은 고딕"/>
                <a:ea typeface="맑은 고딕"/>
                <a:cs typeface="맑은 고딕"/>
              </a:rPr>
              <a:t>어느 역할이 결정하며 거절과 무응답은 어떻게 닫는가</a:t>
            </a:r>
          </a:p>
        </p:txBody>
      </p:sp>
      <p:sp>
        <p:nvSpPr>
          <p:cNvPr id="16" name="Oval 15"/>
          <p:cNvSpPr/>
          <p:nvPr/>
        </p:nvSpPr>
        <p:spPr>
          <a:xfrm>
            <a:off x="7880390" y="2637663"/>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승인된 내용을 어느 시스템이 실행하고 기록하는가</a:t>
            </a:r>
          </a:p>
        </p:txBody>
      </p:sp>
      <p:sp>
        <p:nvSpPr>
          <p:cNvPr id="19" name="Oval 18"/>
          <p:cNvSpPr/>
          <p:nvPr/>
        </p:nvSpPr>
        <p:spPr>
          <a:xfrm>
            <a:off x="10099273" y="2637663"/>
            <a:ext cx="868680" cy="868680"/>
          </a:xfrm>
          <a:prstGeom prst="ellipse">
            <a:avLst/>
          </a:prstGeom>
          <a:solidFill>
            <a:srgbClr val="FFFFFF"/>
          </a:solidFill>
          <a:ln w="25400">
            <a:solidFill>
              <a:srgbClr val="13294B"/>
            </a:solidFill>
          </a:ln>
        </p:spPr>
        <p:txBody>
          <a:bodyPr rtlCol="0" anchor="ctr"/>
          <a:lstStyle/>
          <a:p>
            <a:pPr algn="ctr"/>
          </a:p>
        </p:txBody>
      </p:sp>
      <p:sp>
        <p:nvSpPr>
          <p:cNvPr id="20" name="TextBox 19"/>
          <p:cNvSpPr txBox="1"/>
          <p:nvPr/>
        </p:nvSpPr>
        <p:spPr>
          <a:xfrm>
            <a:off x="10099273"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무엇이 남으면 이 업무가 끝났다고 보는가</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세 업무의 프로세스에서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ERP</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 Resource Planning</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실행 시스템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PM</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Preventive Maintenance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점검의 경보 패턴 PM_DUE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패턴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Pattern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프로세스가 함께 쓴 승인 블록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재주문점</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Reorder Point</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시작 조건</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정비 계획 에이전트의 추천안이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정확하다면 승인 작업을 빼고 추천안대로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정비 오더의 등록은 업무 시스템을 바꾸는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닫힌 처리 건의 해석, 에이전트와 사람의 책임 경계, 읽기와 쓰기의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제안까지 한다. 업무 시스템을 바꾸는 작업은 책임질 역할의 승인 뒤에 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