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회차에서는 긴급 대응 프로세스 하나를 그려 배포하고 실행했습니다. 오늘은 그 설계를 정비와 구매 업무에 다시 쓰는 방법을 다룹니다. 네 실습을 마친 뒤에는 지식에서 에이전트를 거쳐 프로세스의 실행에 이르는 과정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읽는 정보와 제안하는 내용도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사건이 실제로 도착한 경보입니다. 위는 8회차에 처리한 쿨러 성능 저하 경보이고, 가운데는 정기 점검 도래, 아래는 재고 부족의 경보입니다. 출처는 센서와 CMMS와 ERP로 다르지만 식별자와 패턴을 가진 같은 형식입니다. 그래서 세 프로세스 모두 메시지 시작 이벤트 하나로 시작할 수 있고, pattern의 값이 어느 프로세스를 열지를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시스템을 자세히 보겠습니다. 긴급 대응에서는 승인된 냉각 조치를 SCADA가 PLC 명령으로 보내고 CMMS가 작업지시를 등록했습니다. 정기 점검에서는 승인된 정비 계획대로 CMMS가 정비 오더를 등록하고 생산팀에 공지 메일이 나갑니다. 재고 보충에서는 승인된 발주안대로 ERP가 발주하고 공급사에 통지한 뒤 입고를 확인합니다. 오른쪽은 실행의 결과로 업무 시스템에 남는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모양이어서 같은 승인 블록이라고 적었습니다.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원리를 정리합니다. 변하지 않는 것, 곧 작업의 순서와 승인 블록과 예외 경로는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부르는지가 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제안으로 잇습니다. 승인을 받는 자리는 긴급 대응 프로세스에서 그린 것과 같은 모양으로 놓고 승인 역할만 설비보전팀장으로 합니다. 승인 뒤에는 정비 오더와 생산팀 공지와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제안이 승인을 기다립니다. 승인한 뒤 정비 오더와 생산팀 공지와 종료 기록이 남았는지를 처리 건에서 확인합니다. 거절한 처리 건에서는 정비 오더가 만들어지지 않았는지를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통지, 입고와 재고 반영, 결과 보고가 이어집니다.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 거절한 처리 건에서는 발주가 만들어지지 않았는지도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영역에서 다룬 것을 한 표로 모았습니다. 먼저 추천이 끝난 업무가 되려면 정해 두어야 하는 것을 비즈니스 프로세스로 정의했습니다. 그 정의를 BPMN으로 그렸고, 프로세스 엔진이 그림대로 실행해 처리 건과 기록을 남기는 것을 보았습니다. 오늘은 그 설계를 정기 점검과 재고 보충에 다시 썼습니다. 이 단원에서는 처리 건이 지나는 자리를 되짚고 세 업무의 결과를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점선처럼 시스템의 처리를 지나지 않고 종료 기록으로 갑니다. 긴급 대응의 처리 건을 이 다섯 자리로 되짚고, 세 업무가 끝난 모습을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제안으로 내고, 사람은 그 가운데 승인한 내용을 냅니다. 시스템은 승인된 내용만 받아 실행하고 그 결과를 결과 보고에 넘깁니다. 앞 자리가 낸 것이 없으면 다음 자리는 일할 수 없고, 이렇게 건너가는 값이 8회차에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처리 건입니다. 쿨러 성능 저하 경보가 처리 건을 열었고, 에이전트가 원인을 쿨러 핀 오염으로 가려 팬 최대 운전을 추천했습니다. 운전원이 추천안을 승인하자 팬 속도 100 % 명령이 나갔고, 유온이 51.3도로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가운데 사람의 자리를 다시 보겠습니다. 에이전트의 제안이 같아도 사람의 결정에 따라 결말이 갈립니다. 승인하면 게이트웨이가 승인의 갈래를 열어 시스템의 처리가 이어집니다. 거절하면 설비 명령도 정비 오더도 발주도 만들어지지 않고, 결과 보고가 거절의 사유와 하지 않은 일을 적은 뒤 닫힙니다. 세 업무 모두에서 그랬습니다.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제안이 어느 판단이었는지, 그 판단이 어느 경보에서 시작되었는지를 차례로 찾을 수 있습니다. 끝난 업무의 종료 기록이 뜻하는 것은 이렇게 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1회차부터 3회차까지 만든 온톨로지는 원인과 증거와 조치와 규칙이라는 지식을 정하고, 현재 값이 어디에 있는지를 알려 줍니다. 4회차부터 6회차까지 다룬 에이전트는 그 지식과 값을 읽어 추천과 대안을 제안합니다. 7회차부터 오늘까지 다룬 프로세스는 그 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앞 영역에서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2회차에 조치 방법으로 적어 둔 SOP-COOL-11 팬 최대 운전이 출발점입니다.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4회차부터 오늘까지 배운 장치를 두 쪽으로 나누었습니다. 에이전트 실행과 스킬과 MCP, 그리고 명세와 시나리오는 에이전트가 제안 하나를 제대로 만들게 하는 장치입니다. 프로세스 정의와 인스턴스, 사람의 승인, 시스템 실행은 그 제안을 끝난 업무로 잇는 장치입니다. 두 쪽은 하는 일이 달라 서로를 대신하지 못합니다. 앞에서 식별자로 따라간 긴급 대응 처리 건에서 두 쪽이 한 일을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장치가 긴급 대응 처리 건에서 실제로 한 일입니다. 에이전트 agent:cooling은 도구를 10번 불렀고, 첫 호출이 스킬 문서를 읽는 것이었습니다. hyd-dmn과 enterprise라는 MCP 서버의 도구로 지식과 값을 읽었습니다. 맨 아래의 명세와 시나리오는 이 실행 안에서 일한 것이 아니라, 출력의 형식과 기대 행동을 실행에 앞서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쪽의 장치가 같은 처리 건에서 남긴 것입니다. 프로세스 정의 c3_cooling은 작업 아홉과 갈림 둘, 타이머 하나를 가진 설계도입니다. 인스턴스는 그 설계도에서 열린 한 건으로, 경보에서 열려 끝 이벤트에서 닫혔습니다. 승인은 운전원 역할의 결정으로 기록되었고, 시스템 실행은 설비 명령 한 건과 작업지시 한 건으로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적으며, 왼쪽에 적은 것은 이 처리 건의 실행 기록에 남은 호출 순서입니다.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판단을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6회차에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제안을 승인하거나 거절하는 일, 그리고 처리 건의 기록을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 새로 맡게 될 업무가 있다면 이 다섯 물음부터 답해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넷과 함께 승인 블록, 가용 재고, 처리 건이 지나는 다섯 자리가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업무 시스템을 바꾸는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4번은 사람이 결정하지 않은 채 정비 오더가 등록되게 하는 설계입니다.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0.png"/><Relationship Id="rId6"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0.png"/><Relationship Id="rId6"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23.png"/><Relationship Id="rId7"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0.png"/><Relationship Id="rId7"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0.png"/><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3.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34.png"/><Relationship Id="rId7"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27.png"/><Relationship Id="rId5"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7.png"/><Relationship Id="rId4" Type="http://schemas.openxmlformats.org/officeDocument/2006/relationships/image" Target="../media/image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1.png"/><Relationship Id="rId4"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5.png"/><Relationship Id="rId4" Type="http://schemas.openxmlformats.org/officeDocument/2006/relationships/image" Target="../media/image3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7.png"/><Relationship Id="rId4" Type="http://schemas.openxmlformats.org/officeDocument/2006/relationships/image" Target="../media/image5.png"/><Relationship Id="rId5" Type="http://schemas.openxmlformats.org/officeDocument/2006/relationships/image" Target="../media/image3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7.png"/><Relationship Id="rId4" Type="http://schemas.openxmlformats.org/officeDocument/2006/relationships/image" Target="../media/image2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9회차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정비와 구매 업무로 넓히는</a:t>
            </a:r>
          </a:p>
          <a:p>
            <a:pPr algn="l">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세 업무의 프로세스와 지식, 에이전트, 프로세스를 잇는 전체 흐름의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ackage" descr="packag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정비와 구매에 다시 쓰고, 지식에서 실행까지의 전체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업무마다 달라지는 자리만 정해 새 프로세스를 설계한다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실행과 검증</a:t>
            </a:r>
          </a:p>
          <a:p>
            <a:pPr algn="l">
              <a:lnSpc>
                <a:spcPct val="110000"/>
              </a:lnSpc>
              <a:spcAft>
                <a:spcPts val="400"/>
              </a:spcAft>
            </a:pPr>
            <a:r>
              <a:rPr sz="1350" b="0">
                <a:solidFill>
                  <a:srgbClr val="1F2A3A"/>
                </a:solidFill>
                <a:latin typeface="맑은 고딕"/>
                <a:ea typeface="맑은 고딕"/>
                <a:cs typeface="맑은 고딕"/>
              </a:rPr>
              <a:t>직접 그린 정비와 구매의 프로세스를 실행해 승인과 거절의 결과를 기록으로 확인한다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그리기</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실행하기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그리기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실행하기</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달라지는 것은 값으로 정하고 같은 것은 구조로 다시 쓰는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2745760447338821110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제안에서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운전시간.svg" descr="illust_9070112163298873459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재고.svg" descr="illust_2565607068068227206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CMMS-PM_DUE-HYD-02-20261010150830</a:t>
            </a:r>
          </a:p>
          <a:p>
            <a:pPr algn="l">
              <a:lnSpc>
                <a:spcPct val="110000"/>
              </a:lnSpc>
              <a:spcAft>
                <a:spcPts val="200"/>
              </a:spcAft>
            </a:pPr>
            <a:r>
              <a:rPr sz="1300" b="0">
                <a:solidFill>
                  <a:srgbClr val="E8EEF6"/>
                </a:solidFill>
                <a:latin typeface="Consolas"/>
                <a:ea typeface="맑은 고딕"/>
                <a:cs typeface="맑은 고딕"/>
              </a:rPr>
              <a:t>pattern  PM_DUE</a:t>
            </a:r>
          </a:p>
          <a:p>
            <a:pPr algn="l">
              <a:lnSpc>
                <a:spcPct val="110000"/>
              </a:lnSpc>
              <a:spcAft>
                <a:spcPts val="200"/>
              </a:spcAft>
            </a:pPr>
            <a:r>
              <a:rPr sz="1300" b="0">
                <a:solidFill>
                  <a:srgbClr val="E8EEF6"/>
                </a:solidFill>
                <a:latin typeface="Consolas"/>
                <a:ea typeface="맑은 고딕"/>
                <a:cs typeface="맑은 고딕"/>
              </a:rPr>
              <a:t>asset    HYD-02</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a:lnSpc>
                <a:spcPct val="110000"/>
              </a:lnSpc>
              <a:spcAft>
                <a:spcPts val="200"/>
              </a:spcAft>
            </a:pPr>
            <a:r>
              <a:rPr sz="1300" b="0">
                <a:solidFill>
                  <a:srgbClr val="E8EEF6"/>
                </a:solidFill>
                <a:latin typeface="Consolas"/>
                <a:ea typeface="맑은 고딕"/>
                <a:cs typeface="맑은 고딕"/>
              </a:rPr>
              <a:t>pattern  SPARE_BELOW_MIN</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필드</a:t>
            </a:r>
          </a:p>
          <a:p>
            <a:pPr algn="l">
              <a:lnSpc>
                <a:spcPct val="110000"/>
              </a:lnSpc>
              <a:spcAft>
                <a:spcPts val="400"/>
              </a:spcAft>
            </a:pPr>
            <a:r>
              <a:rPr sz="1400" b="0">
                <a:solidFill>
                  <a:srgbClr val="1F2A3A"/>
                </a:solidFill>
                <a:latin typeface="맑은 고딕"/>
                <a:ea typeface="맑은 고딕"/>
                <a:cs typeface="맑은 고딕"/>
              </a:rPr>
              <a:t>세 경보에 alertId와</a:t>
            </a:r>
          </a:p>
          <a:p>
            <a:pPr algn="l">
              <a:lnSpc>
                <a:spcPct val="110000"/>
              </a:lnSpc>
              <a:spcAft>
                <a:spcPts val="400"/>
              </a:spcAft>
            </a:pPr>
            <a:r>
              <a:rPr sz="1400" b="0">
                <a:solidFill>
                  <a:srgbClr val="1F2A3A"/>
                </a:solidFill>
                <a:latin typeface="맑은 고딕"/>
                <a:ea typeface="맑은 고딕"/>
                <a:cs typeface="맑은 고딕"/>
              </a:rPr>
              <a:t>pattern이 똑같이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어느 프로세스를</a:t>
            </a:r>
          </a:p>
          <a:p>
            <a:pPr algn="l">
              <a:lnSpc>
                <a:spcPct val="110000"/>
              </a:lnSpc>
              <a:spcAft>
                <a:spcPts val="400"/>
              </a:spcAft>
            </a:pPr>
            <a:r>
              <a:rPr sz="1400" b="0">
                <a:solidFill>
                  <a:srgbClr val="1F2A3A"/>
                </a:solidFill>
                <a:latin typeface="맑은 고딕"/>
                <a:ea typeface="맑은 고딕"/>
                <a:cs typeface="맑은 고딕"/>
              </a:rPr>
              <a:t>열지를 정한다.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alertId의 머리</a:t>
            </a:r>
          </a:p>
          <a:p>
            <a:pPr algn="l">
              <a:lnSpc>
                <a:spcPct val="110000"/>
              </a:lnSpc>
              <a:spcAft>
                <a:spcPts val="400"/>
              </a:spcAft>
            </a:pPr>
            <a:r>
              <a:rPr sz="1400" b="0">
                <a:solidFill>
                  <a:srgbClr val="1F2A3A"/>
                </a:solidFill>
                <a:latin typeface="맑은 고딕"/>
                <a:ea typeface="맑은 고딕"/>
                <a:cs typeface="맑은 고딕"/>
              </a:rPr>
              <a:t>CMMS와 ERP는 사건이</a:t>
            </a:r>
          </a:p>
          <a:p>
            <a:pPr algn="l">
              <a:lnSpc>
                <a:spcPct val="110000"/>
              </a:lnSpc>
              <a:spcAft>
                <a:spcPts val="400"/>
              </a:spcAft>
            </a:pPr>
            <a:r>
              <a:rPr sz="1400" b="0">
                <a:solidFill>
                  <a:srgbClr val="1F2A3A"/>
                </a:solidFill>
                <a:latin typeface="맑은 고딕"/>
                <a:ea typeface="맑은 고딕"/>
                <a:cs typeface="맑은 고딕"/>
              </a:rPr>
              <a:t>나온 업무 시스템이다.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승인된 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승인된 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냉각 조치</a:t>
            </a:r>
          </a:p>
          <a:p>
            <a:pPr algn="ctr">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계획</a:t>
            </a:r>
          </a:p>
          <a:p>
            <a:pPr algn="ctr">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발주안</a:t>
            </a:r>
          </a:p>
          <a:p>
            <a:pPr algn="ctr">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SCADA와 CMMS</a:t>
            </a:r>
          </a:p>
          <a:p>
            <a:pPr algn="ctr">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CMMS와 메일</a:t>
            </a:r>
          </a:p>
          <a:p>
            <a:pPr algn="ctr">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ERP와 메일</a:t>
            </a:r>
          </a:p>
          <a:p>
            <a:pPr algn="ctr">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설비 명령과 작업지시</a:t>
            </a:r>
          </a:p>
          <a:p>
            <a:pPr algn="ctr">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오더</a:t>
            </a:r>
          </a:p>
          <a:p>
            <a:pPr algn="ctr">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발주와 입고</a:t>
            </a:r>
          </a:p>
          <a:p>
            <a:pPr algn="ctr">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세흐름_나란히.svg" descr="illust_3200548118550048397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승인블록_자리.svg" descr="illust_1230983329470362823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흐름_정기점검.svg" descr="illust_3102961632587978335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흐름_재고보충.svg" descr="illust_2163492202780176559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변하지 않는 순서와 예외 경로는 그림의 구조로 남기고, 업무마다 변하는 것은 그림을 연결할 때 넣는 값으로 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승인 또는 거절, 처리, 결과 보고의 순서</a:t>
            </a:r>
          </a:p>
          <a:p>
            <a:pPr algn="l">
              <a:lnSpc>
                <a:spcPct val="110000"/>
              </a:lnSpc>
              <a:spcAft>
                <a:spcPts val="600"/>
              </a:spcAft>
            </a:pPr>
            <a:r>
              <a:rPr sz="1450" b="0">
                <a:solidFill>
                  <a:srgbClr val="1F2A3A"/>
                </a:solidFill>
                <a:latin typeface="맑은 고딕"/>
                <a:ea typeface="맑은 고딕"/>
                <a:cs typeface="맑은 고딕"/>
              </a:rPr>
              <a:t>• 승인 블록의 일곱 요소</a:t>
            </a:r>
          </a:p>
          <a:p>
            <a:pPr algn="l">
              <a:lnSpc>
                <a:spcPct val="110000"/>
              </a:lnSpc>
              <a:spcAft>
                <a:spcPts val="600"/>
              </a:spcAft>
            </a:pPr>
            <a:r>
              <a:rPr sz="145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프로세스를 여는 경보 패턴</a:t>
            </a:r>
          </a:p>
          <a:p>
            <a:pPr algn="l">
              <a:lnSpc>
                <a:spcPct val="110000"/>
              </a:lnSpc>
              <a:spcAft>
                <a:spcPts val="600"/>
              </a:spcAft>
            </a:pPr>
            <a:r>
              <a:rPr sz="1450" b="0">
                <a:solidFill>
                  <a:srgbClr val="1F2A3A"/>
                </a:solidFill>
                <a:latin typeface="맑은 고딕"/>
                <a:ea typeface="맑은 고딕"/>
                <a:cs typeface="맑은 고딕"/>
              </a:rPr>
              <a:t>• 제안 작업을 맡을 에이전트와 지시문</a:t>
            </a:r>
          </a:p>
          <a:p>
            <a:pPr algn="l">
              <a:lnSpc>
                <a:spcPct val="110000"/>
              </a:lnSpc>
              <a:spcAft>
                <a:spcPts val="600"/>
              </a:spcAft>
            </a:pPr>
            <a:r>
              <a:rPr sz="1450" b="0">
                <a:solidFill>
                  <a:srgbClr val="1F2A3A"/>
                </a:solidFill>
                <a:latin typeface="맑은 고딕"/>
                <a:ea typeface="맑은 고딕"/>
                <a:cs typeface="맑은 고딕"/>
              </a:rPr>
              <a:t>• 승인 역할</a:t>
            </a:r>
          </a:p>
          <a:p>
            <a:pPr algn="l">
              <a:lnSpc>
                <a:spcPct val="110000"/>
              </a:lnSpc>
              <a:spcAft>
                <a:spcPts val="600"/>
              </a:spcAft>
            </a:pPr>
            <a:r>
              <a:rPr sz="1450" b="0">
                <a:solidFill>
                  <a:srgbClr val="1F2A3A"/>
                </a:solidFill>
                <a:latin typeface="맑은 고딕"/>
                <a:ea typeface="맑은 고딕"/>
                <a:cs typeface="맑은 고딕"/>
              </a:rPr>
              <a:t>• 승인 뒤의 작업이 부를 시스템과 메일의 내용</a:t>
            </a:r>
          </a:p>
        </p:txBody>
      </p:sp>
      <p:sp>
        <p:nvSpPr>
          <p:cNvPr id="18" name="Rounded Rectangle 17"/>
          <p:cNvSpPr/>
          <p:nvPr/>
        </p:nvSpPr>
        <p:spPr>
          <a:xfrm>
            <a:off x="6781647" y="5096002"/>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업무마다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 블록을 다시 쓴 정기 점검 프로세스의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긴급 대응 프로세스와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CMMS 정비 오더, 생산팀 공지,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건에 정비 오더와 생산팀 공지와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 뒤</a:t>
            </a:r>
          </a:p>
          <a:p>
            <a:pPr algn="ctr">
              <a:lnSpc>
                <a:spcPct val="110000"/>
              </a:lnSpc>
              <a:spcAft>
                <a:spcPts val="400"/>
              </a:spcAft>
            </a:pPr>
            <a:r>
              <a:rPr sz="1350" b="0">
                <a:solidFill>
                  <a:srgbClr val="1F2A3A"/>
                </a:solidFill>
                <a:latin typeface="맑은 고딕"/>
                <a:ea typeface="맑은 고딕"/>
                <a:cs typeface="맑은 고딕"/>
              </a:rPr>
              <a:t>승인하면 정비 오더와</a:t>
            </a:r>
          </a:p>
          <a:p>
            <a:pPr algn="ctr">
              <a:lnSpc>
                <a:spcPct val="110000"/>
              </a:lnSpc>
              <a:spcAft>
                <a:spcPts val="400"/>
              </a:spcAft>
            </a:pPr>
            <a:r>
              <a:rPr sz="1350" b="0">
                <a:solidFill>
                  <a:srgbClr val="1F2A3A"/>
                </a:solidFill>
                <a:latin typeface="맑은 고딕"/>
                <a:ea typeface="맑은 고딕"/>
                <a:cs typeface="맑은 고딕"/>
              </a:rPr>
              <a:t>생산팀 공지,</a:t>
            </a:r>
          </a:p>
          <a:p>
            <a:pPr algn="ctr">
              <a:lnSpc>
                <a:spcPct val="110000"/>
              </a:lnSpc>
              <a:spcAft>
                <a:spcPts val="400"/>
              </a:spcAft>
            </a:pPr>
            <a:r>
              <a:rPr sz="1350" b="0">
                <a:solidFill>
                  <a:srgbClr val="1F2A3A"/>
                </a:solidFill>
                <a:latin typeface="맑은 고딕"/>
                <a:ea typeface="맑은 고딕"/>
                <a:cs typeface="맑은 고딕"/>
              </a:rPr>
              <a:t>거절하면 오더 없이 종결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발주에서 입고와 재고 반영까지를 승인 뒤에 이은 재고 보충 프로세스의 BPMN 파일이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공급사 통지, 입고와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발주와 입고가 처리되어 가용 재고가 재주문점 위로 올라간 처리 건과 그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결정 뒤</a:t>
            </a:r>
          </a:p>
          <a:p>
            <a:pPr algn="ctr">
              <a:lnSpc>
                <a:spcPct val="110000"/>
              </a:lnSpc>
              <a:spcAft>
                <a:spcPts val="400"/>
              </a:spcAft>
            </a:pPr>
            <a:r>
              <a:rPr sz="1250" b="0">
                <a:solidFill>
                  <a:srgbClr val="1F2A3A"/>
                </a:solidFill>
                <a:latin typeface="맑은 고딕"/>
                <a:ea typeface="맑은 고딕"/>
                <a:cs typeface="맑은 고딕"/>
              </a:rPr>
              <a:t>승인하면 발주, 통지,</a:t>
            </a:r>
          </a:p>
          <a:p>
            <a:pPr algn="ctr">
              <a:lnSpc>
                <a:spcPct val="110000"/>
              </a:lnSpc>
              <a:spcAft>
                <a:spcPts val="400"/>
              </a:spcAft>
            </a:pPr>
            <a:r>
              <a:rPr sz="1250" b="0">
                <a:solidFill>
                  <a:srgbClr val="1F2A3A"/>
                </a:solidFill>
                <a:latin typeface="맑은 고딕"/>
                <a:ea typeface="맑은 고딕"/>
                <a:cs typeface="맑은 고딕"/>
              </a:rPr>
              <a:t>입고와 재고 반영,</a:t>
            </a:r>
          </a:p>
          <a:p>
            <a:pPr algn="ctr">
              <a:lnSpc>
                <a:spcPct val="110000"/>
              </a:lnSpc>
              <a:spcAft>
                <a:spcPts val="400"/>
              </a:spcAft>
            </a:pPr>
            <a:r>
              <a:rPr sz="1250" b="0">
                <a:solidFill>
                  <a:srgbClr val="1F2A3A"/>
                </a:solidFill>
                <a:latin typeface="맑은 고딕"/>
                <a:ea typeface="맑은 고딕"/>
                <a:cs typeface="맑은 고딕"/>
              </a:rPr>
              <a:t>거절하면 발주 없음</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가용 재고가</a:t>
            </a:r>
          </a:p>
          <a:p>
            <a:pPr algn="ctr">
              <a:lnSpc>
                <a:spcPct val="110000"/>
              </a:lnSpc>
              <a:spcAft>
                <a:spcPts val="400"/>
              </a:spcAft>
            </a:pPr>
            <a:r>
              <a:rPr sz="1250" b="0">
                <a:solidFill>
                  <a:srgbClr val="1F2A3A"/>
                </a:solidFill>
                <a:latin typeface="맑은 고딕"/>
                <a:ea typeface="맑은 고딕"/>
                <a:cs typeface="맑은 고딕"/>
              </a:rPr>
              <a:t>1개에서 7개로,</a:t>
            </a:r>
          </a:p>
          <a:p>
            <a:pPr algn="ctr">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영역에서 다룬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영역에서는 프로세스를 정의하고 그려서 실행했으며, 같은 패턴으로 정비와 구매까지 넓혔다.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다룬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답한 물음</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남은 결과물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비즈니스 프로세스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추천이 업무의 완료로 이어지려면 무엇을 정해야 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시작 조건에서</a:t>
            </a:r>
          </a:p>
          <a:p>
            <a:pPr algn="l">
              <a:lnSpc>
                <a:spcPct val="110000"/>
              </a:lnSpc>
            </a:pPr>
            <a:r>
              <a:rPr sz="1250" b="1">
                <a:solidFill>
                  <a:srgbClr val="556175"/>
                </a:solidFill>
                <a:latin typeface="맑은 고딕"/>
                <a:ea typeface="맑은 고딕"/>
                <a:cs typeface="맑은 고딕"/>
              </a:rPr>
              <a:t>완료 조건까지의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정의를 누구나 같은 뜻으로 읽게 하려면 어떻게 그리는가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프로세스의</a:t>
            </a:r>
          </a:p>
          <a:p>
            <a:pPr algn="l">
              <a:lnSpc>
                <a:spcPct val="110000"/>
              </a:lnSpc>
            </a:pPr>
            <a:r>
              <a:rPr sz="1250" b="1">
                <a:solidFill>
                  <a:srgbClr val="556175"/>
                </a:solidFill>
                <a:latin typeface="맑은 고딕"/>
                <a:ea typeface="맑은 고딕"/>
                <a:cs typeface="맑은 고딕"/>
              </a:rPr>
              <a:t>그림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그림대로 작업을 열고 진행을 기억하는 것은 무엇인가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건과 그 기록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설계의 재사용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다른 업무에도 같은 원리를 쓰려면 무엇을 남기고 무엇을 바꾸는가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정기 점검, 재고 보충</a:t>
            </a:r>
          </a:p>
          <a:p>
            <a:pPr algn="l">
              <a:lnSpc>
                <a:spcPct val="110000"/>
              </a:lnSpc>
            </a:pPr>
            <a:r>
              <a:rPr sz="1250" b="1">
                <a:solidFill>
                  <a:srgbClr val="1A6FC4"/>
                </a:solidFill>
                <a:latin typeface="맑은 고딕"/>
                <a:ea typeface="맑은 고딕"/>
                <a:cs typeface="맑은 고딕"/>
              </a:rPr>
              <a:t>프로세스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요소_복습.svg" descr="illust_1497987964125887775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다섯자리.svg" descr="illust_1620453784050136660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6052209" y="5409590"/>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경보의 내용이 제안이 되고 제안이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주고받는것.svg" descr="illust_28693678126502605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쿨러 성능 저하 경보</a:t>
            </a:r>
          </a:p>
          <a:p>
            <a:pPr algn="ctr">
              <a:lnSpc>
                <a:spcPct val="110000"/>
              </a:lnSpc>
              <a:spcAft>
                <a:spcPts val="400"/>
              </a:spcAft>
            </a:pPr>
            <a:r>
              <a:rPr sz="1300" b="0">
                <a:solidFill>
                  <a:srgbClr val="1F2A3A"/>
                </a:solidFill>
                <a:latin typeface="맑은 고딕"/>
                <a:ea typeface="맑은 고딕"/>
                <a:cs typeface="맑은 고딕"/>
              </a:rPr>
              <a:t>ALT-hyd01-0026-767a</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원인 쿨러 핀 오염</a:t>
            </a:r>
          </a:p>
          <a:p>
            <a:pPr algn="ctr">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운전원 승인</a:t>
            </a:r>
          </a:p>
          <a:p>
            <a:pPr algn="ctr">
              <a:lnSpc>
                <a:spcPct val="110000"/>
              </a:lnSpc>
              <a:spcAft>
                <a:spcPts val="400"/>
              </a:spcAft>
            </a:pPr>
            <a:r>
              <a:rPr sz="1300" b="0">
                <a:solidFill>
                  <a:srgbClr val="1F2A3A"/>
                </a:solidFill>
                <a:latin typeface="맑은 고딕"/>
                <a:ea typeface="맑은 고딕"/>
                <a:cs typeface="맑은 고딕"/>
              </a:rPr>
              <a:t>추천안 승인</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CMD-1010-0001-01d1</a:t>
            </a:r>
          </a:p>
          <a:p>
            <a:pPr algn="ctr">
              <a:lnSpc>
                <a:spcPct val="110000"/>
              </a:lnSpc>
              <a:spcAft>
                <a:spcPts val="400"/>
              </a:spcAft>
            </a:pPr>
            <a:r>
              <a:rPr sz="1300" b="0">
                <a:solidFill>
                  <a:srgbClr val="1F2A3A"/>
                </a:solidFill>
                <a:latin typeface="맑은 고딕"/>
                <a:ea typeface="맑은 고딕"/>
                <a:cs typeface="맑은 고딕"/>
              </a:rPr>
              <a:t>WO-1010-1198</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a:p>
            <a:pPr algn="ctr">
              <a:lnSpc>
                <a:spcPct val="110000"/>
              </a:lnSpc>
              <a:spcAft>
                <a:spcPts val="400"/>
              </a:spcAft>
            </a:pPr>
            <a:r>
              <a:rPr sz="1300" b="0">
                <a:solidFill>
                  <a:srgbClr val="1F2A3A"/>
                </a:solidFill>
                <a:latin typeface="맑은 고딕"/>
                <a:ea typeface="맑은 고딕"/>
                <a:cs typeface="맑은 고딕"/>
              </a:rPr>
              <a:t>유온 51.3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세종료.svg" descr="illust_801794953880731773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같은 제안의 두 결말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승인한 제안만 시스템의 처리로 넘어가며, 거절된 제안은 세 업무 모두에서 시스템의 실행 없이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승인의 갈래를 연다</a:t>
            </a:r>
          </a:p>
          <a:p>
            <a:pPr algn="l">
              <a:lnSpc>
                <a:spcPct val="110000"/>
              </a:lnSpc>
              <a:spcAft>
                <a:spcPts val="600"/>
              </a:spcAft>
            </a:pPr>
            <a:r>
              <a:rPr sz="1450" b="0">
                <a:solidFill>
                  <a:srgbClr val="1F2A3A"/>
                </a:solidFill>
                <a:latin typeface="맑은 고딕"/>
                <a:ea typeface="맑은 고딕"/>
                <a:cs typeface="맑은 고딕"/>
              </a:rPr>
              <a:t>• 긴급 대응: 설비 명령과 작업지시</a:t>
            </a:r>
          </a:p>
          <a:p>
            <a:pPr algn="l">
              <a:lnSpc>
                <a:spcPct val="110000"/>
              </a:lnSpc>
              <a:spcAft>
                <a:spcPts val="600"/>
              </a:spcAft>
            </a:pPr>
            <a:r>
              <a:rPr sz="1450" b="0">
                <a:solidFill>
                  <a:srgbClr val="1F2A3A"/>
                </a:solidFill>
                <a:latin typeface="맑은 고딕"/>
                <a:ea typeface="맑은 고딕"/>
                <a:cs typeface="맑은 고딕"/>
              </a:rPr>
              <a:t>• 정기 점검: 정비 오더와 공지</a:t>
            </a:r>
          </a:p>
          <a:p>
            <a:pPr algn="l">
              <a:lnSpc>
                <a:spcPct val="110000"/>
              </a:lnSpc>
              <a:spcAft>
                <a:spcPts val="600"/>
              </a:spcAft>
            </a:pPr>
            <a:r>
              <a:rPr sz="1450" b="0">
                <a:solidFill>
                  <a:srgbClr val="1F2A3A"/>
                </a:solidFill>
                <a:latin typeface="맑은 고딕"/>
                <a:ea typeface="맑은 고딕"/>
                <a:cs typeface="맑은 고딕"/>
              </a:rPr>
              <a:t>• 재고 보충: 발주와 입고</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E_end</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거절의 갈래를 연다</a:t>
            </a:r>
          </a:p>
          <a:p>
            <a:pPr algn="l">
              <a:lnSpc>
                <a:spcPct val="110000"/>
              </a:lnSpc>
              <a:spcAft>
                <a:spcPts val="600"/>
              </a:spcAft>
            </a:pPr>
            <a:r>
              <a:rPr sz="1450" b="0">
                <a:solidFill>
                  <a:srgbClr val="1F2A3A"/>
                </a:solidFill>
                <a:latin typeface="맑은 고딕"/>
                <a:ea typeface="맑은 고딕"/>
                <a:cs typeface="맑은 고딕"/>
              </a:rPr>
              <a:t>• 설비 명령, 정비 오더, 발주는 만들어지지 않는다</a:t>
            </a:r>
          </a:p>
          <a:p>
            <a:pPr algn="l">
              <a:lnSpc>
                <a:spcPct val="110000"/>
              </a:lnSpc>
              <a:spcAft>
                <a:spcPts val="600"/>
              </a:spcAft>
            </a:pPr>
            <a:r>
              <a:rPr sz="1450" b="0">
                <a:solidFill>
                  <a:srgbClr val="1F2A3A"/>
                </a:solidFill>
                <a:latin typeface="맑은 고딕"/>
                <a:ea typeface="맑은 고딕"/>
                <a:cs typeface="맑은 고딕"/>
              </a:rPr>
              <a:t>• 결과 보고가 거절의 사유와 하지 않은 일을 적는다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E_rejected</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제안의 근거</a:t>
            </a:r>
          </a:p>
          <a:p>
            <a:pPr algn="l">
              <a:lnSpc>
                <a:spcPct val="110000"/>
              </a:lnSpc>
              <a:spcAft>
                <a:spcPts val="400"/>
              </a:spcAft>
            </a:pPr>
            <a:r>
              <a:rPr sz="1400" b="0">
                <a:solidFill>
                  <a:srgbClr val="1F2A3A"/>
                </a:solidFill>
                <a:latin typeface="맑은 고딕"/>
                <a:ea typeface="맑은 고딕"/>
                <a:cs typeface="맑은 고딕"/>
              </a:rPr>
              <a:t>판단의 식별자로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세층연결.svg" descr="illust_2523091343730621568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1~3회차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4~6회차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7~9회차</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a:t>
            </a:r>
          </a:p>
          <a:p>
            <a:pPr algn="ctr">
              <a:lnSpc>
                <a:spcPct val="110000"/>
              </a:lnSpc>
              <a:spcAft>
                <a:spcPts val="400"/>
              </a:spcAft>
            </a:pPr>
            <a:r>
              <a:rPr sz="125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프로세스가</a:t>
            </a:r>
          </a:p>
          <a:p>
            <a:pPr algn="ctr">
              <a:lnSpc>
                <a:spcPct val="110000"/>
              </a:lnSpc>
              <a:spcAft>
                <a:spcPts val="400"/>
              </a:spcAft>
            </a:pPr>
            <a:r>
              <a:rPr sz="1250" b="0">
                <a:solidFill>
                  <a:srgbClr val="1F2A3A"/>
                </a:solidFill>
                <a:latin typeface="맑은 고딕"/>
                <a:ea typeface="맑은 고딕"/>
                <a:cs typeface="맑은 고딕"/>
              </a:rPr>
              <a:t>팬 속도 100 %</a:t>
            </a:r>
          </a:p>
          <a:p>
            <a:pPr algn="ctr">
              <a:lnSpc>
                <a:spcPct val="110000"/>
              </a:lnSpc>
              <a:spcAft>
                <a:spcPts val="400"/>
              </a:spcAft>
            </a:pPr>
            <a:r>
              <a:rPr sz="125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4~6회차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9387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6~9회차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실행, 스킬, MCP는 에이전트 단계 하나 안에서 일했고, 명세와 시나리오는 그 실행보다 앞서 일을 마쳤다.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한 일</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 실행</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agent:cooling이 도구를 10번 불러 조치 카드 묶음을 제출했다</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스킬</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첫 호출로 cooling-emergency-response 스킬을 읽어 일의 순서를 따랐다</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hyd-dmn과 enterprise 서버의 도구로 지식과 값을 읽었다</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명세와 시나리오</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 실행에 앞서 출력의 형식과 기대 행동을 정해 두었다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설계도로, 인스턴스는 진행의 기록으로, 승인은 사람의 결정으로, 시스템 실행은 실제 효과로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남은 것</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정의</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c3_cooling: 작업 9, 갈림 2, 타이머 1을 가진 설계도</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인스턴스(처리 건)</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ALT-hyd01-0026-767a로 열려 끝 이벤트 E_end에서 닫힌 한 건</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APPROVAL_ACCEPTED: 역할 role:operator의 결정</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시스템 실행</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CMD-1010-0001-01d1과 작업지시 WO-1010-1198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조치 평가 → 업무 값 조회 → 제출</a:t>
            </a:r>
          </a:p>
          <a:p>
            <a:pPr algn="l">
              <a:lnSpc>
                <a:spcPct val="110000"/>
              </a:lnSpc>
              <a:spcAft>
                <a:spcPts val="600"/>
              </a:spcAft>
            </a:pPr>
            <a:r>
              <a:rPr sz="1450" b="0">
                <a:solidFill>
                  <a:srgbClr val="1F2A3A"/>
                </a:solidFill>
                <a:latin typeface="맑은 고딕"/>
                <a:ea typeface="맑은 고딕"/>
                <a:cs typeface="맑은 고딕"/>
              </a:rPr>
              <a:t>• 이 처리 건의 호출이며 상황에 따라 달라진다</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a:t>
            </a:r>
          </a:p>
          <a:p>
            <a:pPr algn="l">
              <a:lnSpc>
                <a:spcPct val="110000"/>
              </a:lnSpc>
              <a:spcAft>
                <a:spcPts val="600"/>
              </a:spcAft>
            </a:pPr>
            <a:r>
              <a:rPr sz="1450" b="0">
                <a:solidFill>
                  <a:srgbClr val="1F2A3A"/>
                </a:solidFill>
                <a:latin typeface="맑은 고딕"/>
                <a:ea typeface="맑은 고딕"/>
                <a:cs typeface="맑은 고딕"/>
              </a:rPr>
              <a:t>• 쓰기는 판단의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6회차의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493293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493293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그 조치의 승인 역할이 아닌 쪽의 승인은 거부되고 기록으로 남는다</a:t>
            </a:r>
          </a:p>
        </p:txBody>
      </p:sp>
      <p:sp>
        <p:nvSpPr>
          <p:cNvPr id="22" name="Rounded Rectangle 21"/>
          <p:cNvSpPr/>
          <p:nvPr/>
        </p:nvSpPr>
        <p:spPr>
          <a:xfrm>
            <a:off x="8356396" y="493293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제안을 승인하거나 거절한다</a:t>
            </a:r>
          </a:p>
          <a:p>
            <a:pPr algn="l">
              <a:lnSpc>
                <a:spcPct val="110000"/>
              </a:lnSpc>
              <a:spcAft>
                <a:spcPts val="600"/>
              </a:spcAft>
            </a:pPr>
            <a:r>
              <a:rPr sz="1450" b="0">
                <a:solidFill>
                  <a:srgbClr val="1F2A3A"/>
                </a:solidFill>
                <a:latin typeface="맑은 고딕"/>
                <a:ea typeface="맑은 고딕"/>
                <a:cs typeface="맑은 고딕"/>
              </a:rPr>
              <a:t>• 처리 건의 기록을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ERP</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패턴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재주문점</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제안이 정확하다면 승인 작업을 빼고 에이전트의 제안을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정비 오더의 등록은 업무 시스템을 바꾸는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에이전트와 사람의 책임 경계, 읽기와 쓰기의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업무 시스템을 바꾸는 작업은 책임질 역할의 승인 뒤에 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