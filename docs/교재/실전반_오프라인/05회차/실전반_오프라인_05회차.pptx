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회차에서는 에이전트가 도구를 부르며 일하는 모습을 보았습니다. 오늘은 그 에이전트가 일하는 방법을 어디에 적어 두는지, 도구는 어떻게 연결되는지, 연결할 때 무엇을 지켜야 하는지를 차례로 다룹니다.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에이전트에게 목표와 도구만 주었다고 해 보겠습니다. 쿨러 경보를 맡은 에이전트 앞에는 판단 도구 16개와 업무 DB 도구 14개가 놓여 있습니다. 무엇부터 부를지, 어떤 순서로 부를지, 근거가 없을 때 어떻게 할지, 무엇을 내고 끝낼지를 그때마다 스스로 정해야 합니다. 같은 경보라도 실행할 때마다 과정과 결과의 모양이 달라질 수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작업에서는 이 문제를 절차를 문서로 정해 두어 풀었습니다. 에이전트에게도 같은 방법을 씁니다. 부를 도구의 순서와 근거가 없을 때의 행동과 결과의 모양을 한 번 적어 두고, 에이전트가 일을 시작할 때 먼저 읽게 합니다. 그림에서 에이전트 위에 놓인 문서가 그 지침입니다.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적어 둔 지침을 에이전트 스킬, Agent Skill이라고 합니다. 스킬의 본체는 SKILL.md라는 파일 하나이고, 스킬 이름과 같은 폴더 안에 놓입니다. HYD에서 쿨러 성능 저하 경보에 쓰는 스킬의 이름은 cooling-emergency-response입니다.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실제로 읽은 SKILL.md의 앞부분입니다. 줄 세 개짜리 구분선 사이가 머리말이고, 이름과 설명 두 항목이 들어 있습니다. 그 아래 본문은 경보 한 건에서 원인을 진단하고 조치 후보를 비교해 추천 카드와 대안을 올린다는 요약으로 시작합니다. 마지막 두 줄은 이 스킬이 조회와 계산까지만 한다는 범위의 한계입니다.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파일의 절차 부분입니다. 다섯 단계이고 번호가 곧 순서입니다. 1단계는 입력을 읽을 자리를 가리키고, 2단계와 4단계와 5단계에는 부를 도구의 이름과 넘길 값이 그대로 적혀 있습니다. 2단계의 끝에는 근거가 없을 때 원인을 지어내지 말고 보류로 내라는 지침이 붙어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원문에서 본 것을 여섯 가지로 묶으면 이렇습니다. 위에서부터 호출 조건, 작업 목적, 입력, 예외 지침, 순서, 출력입니다. 호출 조건은 머리말의 description이, 작업 목적은 본문의 첫 문단이 맡습니다. 입력과 예외 지침과 순서는 절차 안에 들어 있고, 출력은 맨 아래 결과 절이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위는 SKILL.md의 결과 절이고 아래는 에이전트가 실제로 쓴 출력 파일입니다. 결과 절에 적힌 다섯 항목이 출력의 최상위 항목과 하나씩 맞습니다. 항목의 이름이 정해져 있어서 사람에게 승인을 받는 다음 단계가 실행마다 같은 이름으로 값을 읽습니다. 추천 값 skill:sop-cool-11은 팬 최대 운전을 가리키는 식별자입니다.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 다 절차를 적은 문서이지만 읽는 이와 적는 내용이 다릅니다. SOP는 현장 작업자가 읽고, 설비를 다루는 순서와 안전 조건과 금지 사항을 적습니다. 에이전트 스킬은 에이전트가 읽고, 부를 도구와 순서와 결과의 모양을 적습니다. SOP의 단계는 설비를 바꾸고, 스킬의 단계는 정보를 얻어 판단을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 절차의 2단계를 다시 보겠습니다. 이 한 줄에는 이름이 셋 들어 있습니다. hyd-dmn은 도구를 내주는 프로그램이고, diagnose는 그 프로그램이 내주는 도구이며, 괄호 안은 넘길 값입니다. 스킬은 이 이름들을 적어 둔 글일 뿐이어서, 실제로 원인을 진단하는 일은 스킬 밖에서 일어납니다.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쓸 지식과 값은 지식 그래프, 시계열 DB, 업무 DB에 나뉘어 있고 시스템마다 접속하는 방법이 다릅니다. 왼쪽처럼 애플리케이션마다 시스템마다 연결을 따로 만들면 셋과 셋 사이에 연결이 아홉 개 필요합니다. 오른쪽처럼 가운데에 표준을 두면 애플리케이션도 시스템도 표준에 한 번씩만 맞추면 됩니다. 시스템이 하나 늘어도 고칠 곳이 한 군데입니다.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표준이 MCP, Model Context Protocol입니다. AI 애플리케이션이 외부의 도구와 데이터에 연결하는 방식을 정한 개방형 프로토콜입니다. 메시지는 JSON-RPC 2.0이라는 형식으로 주고받습니다. 규격 단자에 견줄 수 있지만, 꽂기만 하면 되는 단자와 달리 연결한 뒤에 무엇을 할 수 있는지를 묻고 답하는 절차가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MCP의 구성요소는 넷입니다. 왼쪽의 큰 구획이 호스트이고, 그 안에 모델과 클라이언트가 있습니다. 클라이언트는 서버 하나와 일대일로 연결되므로 서버가 셋이면 클라이언트도 셋입니다. 서버는 뒤에 있는 시스템의 기능을 도구로 내주며, 그림의 톱니바퀴가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구성요소의 정의와 HYD에서 그 자리에 있는 것을 짝지었습니다. 호스트는 에이전트를 실행하는 Claude Code입니다. 클라이언트는 호스트 안에서 서버마다 하나씩 생기는 연결입니다. 서버는 neo4j, hyd-dmn, enterprise이고, 도구는 그 서버들이 내주는 diagnose나 mes_orders 같은 기능입니다.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클라이언트와 서버가 주고받는 메시지를 위에서 아래로 시간 순서대로 그렸습니다. 먼저 initialize로 연결을 열고 규약의 판과 서버 정보를 확인합니다. 다음에 tools/list로 도구 목록을 묻고, 서버는 도구 16개의 이름과 설명과 입력 스키마를 돌려줍니다. 모델이 그 가운데 diagnose를 고르면 클라이언트가 tools/call로 호출하고 결과를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목록에 든 항목 하나를 그대로 옮겼습니다. 구매 쪽 서버가 내주는 part_quotes라는 도구입니다. 이름과 설명과 입력 스키마가 있고, 모델은 이 설명을 읽고 지금 이 도구를 부를지를 정합니다. 그래서 도구의 설명은 사람이 읽는 주석이 아니라 모델의 선택을 좌우하는 글입니다.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DB 서버의 mes_orders를 HYD-01로 불렀을 때 돌아온 응답입니다. 맨 앞의 result가 성공 여부를 알리고, document 안에 읽은 시각과 값이 들어 있습니다. facts는 판단에 바로 쓰는 값이고 records는 업무 DB에서 읽은 원래의 행입니다. 납기 오더 MO-0930-0412가 5.98시간 남았다는 값이 여기서 나왔습니다.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한 번에 관여하는 넷의 몫을 나누어 보겠습니다. 모델이 하는 일은 어느 도구를 어떤 값으로 부르겠다는 요청을 내는 데까지입니다. 호스트가 그 요청을 받아 허용된 도구인지 확인하고, 클라이언트가 서버에 전달하며, 실행은 서버가 합니다. 모델과 실행 사이에 호스트가 있으므로 도구의 사용을 호스트에서 가릴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MCP의 역할을 나란히 놓겠습니다. 스킬은 수행 방법을 적은 글이어서 스스로는 아무것도 실행하지 않습니다. MCP는 도구를 내주고 호출을 받는 연결이며, 순서는 정하지 않습니다. 스킬이 diagnose로 원인을 얻으라고 적고, hyd-dmn 서버가 그 diagnose를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연결하면 에이전트가 할 수 있는 일이 늘고, 잘못했을 때 생기는 일도 함께 늘어납니다. 읽는 도구는 시스템을 바꾸지 않으므로 잘못 불러도 다시 부르면 됩니다. 쓰는 도구는 기록을 바꾸거나 메일을 내보내므로 한 번 실행되면 되돌리기 어렵습니다. 그래서 연결의 안전 기준은 이 둘을 가르는 데서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정의의 annotations에서 본 readOnlyHint가 읽기 전용 표시입니다. hyd-dmn 서버의 도구 16개 가운데 15개가 true이고, 판단을 제출하는 submit_decision 하나만 false입니다. 업무 DB 서버의 도구 14개는 모두 true입니다. 다만 이 표시는 서버가 스스로 적은 값이어서, 연결하는 쪽은 표시만 믿지 않고 한 번 더 가립니다.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 포털에 서버를 직접 등록하면 그 서버의 도구는 세 겹을 지나야 에이전트에 닿습니다. 첫째 겹은 도구가 스스로 다는 표시입니다. 둘째 겹은 연결 검사이며, 서버에 실제로 연결해 도구 목록을 받고 읽기 표시가 있으면서 이름도 쓰기를 뜻하지 않는 도구만 통과시킵니다. 표시가 false이거나 아예 없는 도구는 여기서 걸러집니다. 셋째 겹은 허용 목록이고, 통과한 도구의 이름만 올라갑니다.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에이전트에게 주는 허용 목록의 실제 내용입니다. 지식 그래프 쪽은 조회 도구 둘의 이름만 올라 있습니다. 별표는 그 서버의 도구 전부를 뜻하며, 미리 검사해 둔 기준 서버에만 씁니다. 학생이 새로 등록한 서버는 별표를 쓰지 않고 읽기로 인정된 도구의 이름만 하나씩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응답의 네 가지 경우를 구분합니다. 조회가 성공했는데 결과가 0행이면 「없음」이 사실입니다. 호출이 실패했거나 정해진 시간을 넘겼으면 값이 있는지 없는지를 알 수 없으므로 실패로 적어야 합니다. 실패를 0이나 빈 값으로 바꾸면 재고가 없다는 틀린 사실이 판단에 들어갑니다. 응답이 잘렸을 때는 읽지 못한 범위를 밝힙니다.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실습은 HYD 포털에서 진행합니다. 업무 DB와 판단 도구 서버의 등록 상태를 확인하고, 직접 등록한 서버는 연결 검사를 거친 뒤 읽기 도구를 불러 봅니다. 도구 이름과 입력 값과 반환된 행을 확인하고, 호출 기록이 남는 것을 본 다음 기존 에이전트에 연결합니다.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실습은 VS Code의 Claude Code에서 진행합니다. 준비된 파일시스템, Git, 시간 서버를 각각 연결하고 접근 권한을 서버별로 정합니다. 서버마다 도구 목록과 호출 결과, 호출이 실패했을 때의 응답을 견준 뒤, 세 서버의 도구를 한 요청에서 이어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스킬을 직접 씁니다. 예제 회의록에서 결정사항과 담당자와 기한을 뽑는 SKILL.md를 작성합니다. 담당자나 기한이 적혀 있지 않은 항목은 지어내지 않고 미정으로 표시하도록 예외 지침을 넣습니다. 그 스킬로 만든 작업 목록을 회의록과 대조해 검토하면 요약이 아니라 다음 행동이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앞 실습의 스킬에 예외 지침을 더합니다. 한 작업에 담당자가 겹쳐 적힌 경우, 기한이 정해지지 않은 채 다른 조건과 겹친 경우, 기존 작업과 겹치는 경우를 어떻게 처리할지를 스킬에 적습니다. 도구에 접근하지 못했을 때에는 확인하지 못한 작업을 미확정으로 표시하게 합니다. 끝나면 조건이 겹친 회의록에서도 같은 기준으로 만들어진 작업 목록이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나온 약어와 영문 용어의 정식 명칭을 한곳에 모았습니다. 이 넷과 함께 호스트, 클라이언트, 서버, 도구, 입력 스키마, 허용 목록이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도구의 역할을 구분하는 문항입니다. 스킬에 방법이 적혀 있는데도 실행되지 않았다면 무엇이 빠졌는지를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없는 것과 조회에 실패한 것을 구분하는 문항입니다. 응답이 알려 준 사실이 무엇이고 알려 주지 않은 사실이 무엇인지를 가려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읽기와 쓰기의 경계를 누가 정하는지를 묻는 문항입니다. 세 도구가 연결 검사에서 각각 어떻게 판정되는지를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1번과 3번은 스킬을 고치는 일이어서 빠진 연결을 채우지 못합니다. 둘째 문항의 1번은 실패를 값 없음으로 바꾼 것입니다. 셋째 문항의 2번은 표시가 없는 도구를 읽기로 본 것이며, 표시가 없으면 읽는 도구인지 알 수 없으므로 거절됩니다.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23.png"/><Relationship Id="rId6"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29.png"/><Relationship Id="rId5"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5회차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업무 지침과 외부 도구를</a:t>
            </a:r>
          </a:p>
          <a:p>
            <a:pPr algn="l">
              <a:lnSpc>
                <a:spcPct val="110000"/>
              </a:lnSpc>
            </a:pPr>
            <a:r>
              <a:rPr sz="4000" b="1">
                <a:solidFill>
                  <a:srgbClr val="FFFFFF"/>
                </a:solidFill>
                <a:latin typeface="맑은 고딕"/>
                <a:ea typeface="맑은 고딕"/>
                <a:cs typeface="맑은 고딕"/>
              </a:rPr>
              <a:t>조합한 업무 자동화</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에이전트 스킬, 도구를 잇는 표준, 연결의 안전 기준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file-text" descr="file-tex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plug-connected" descr="plug-connected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shield-check" descr="shield-chec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일하는 방법을 지침으로 남기고, 그 지침이 부르는 도구를 안전하게 연결하는 기준을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스킬</a:t>
            </a:r>
          </a:p>
          <a:p>
            <a:pPr algn="l">
              <a:lnSpc>
                <a:spcPct val="110000"/>
              </a:lnSpc>
              <a:spcAft>
                <a:spcPts val="400"/>
              </a:spcAft>
            </a:pPr>
            <a:r>
              <a:rPr sz="1350" b="0">
                <a:solidFill>
                  <a:srgbClr val="1F2A3A"/>
                </a:solidFill>
                <a:latin typeface="맑은 고딕"/>
                <a:ea typeface="맑은 고딕"/>
                <a:cs typeface="맑은 고딕"/>
              </a:rPr>
              <a:t>• 스킬 파일의 머리말과 절차, 결과가 맡는 일을 원문에서 짚는다</a:t>
            </a:r>
          </a:p>
          <a:p>
            <a:pPr algn="l">
              <a:lnSpc>
                <a:spcPct val="110000"/>
              </a:lnSpc>
              <a:spcAft>
                <a:spcPts val="400"/>
              </a:spcAft>
            </a:pPr>
            <a:r>
              <a:rPr sz="1350" b="0">
                <a:solidFill>
                  <a:srgbClr val="1F2A3A"/>
                </a:solidFill>
                <a:latin typeface="맑은 고딕"/>
                <a:ea typeface="맑은 고딕"/>
                <a:cs typeface="맑은 고딕"/>
              </a:rPr>
              <a:t>• 현장의 SOP와 구분한다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방법</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도구의 연결</a:t>
            </a:r>
          </a:p>
          <a:p>
            <a:pPr algn="l">
              <a:lnSpc>
                <a:spcPct val="110000"/>
              </a:lnSpc>
              <a:spcAft>
                <a:spcPts val="400"/>
              </a:spcAft>
            </a:pPr>
            <a:r>
              <a:rPr sz="1350" b="0">
                <a:solidFill>
                  <a:srgbClr val="1F2A3A"/>
                </a:solidFill>
                <a:latin typeface="맑은 고딕"/>
                <a:ea typeface="맑은 고딕"/>
                <a:cs typeface="맑은 고딕"/>
              </a:rPr>
              <a:t>• 호스트와 클라이언트, 서버와 도구의 관계를 설명한다</a:t>
            </a:r>
          </a:p>
          <a:p>
            <a:pPr algn="l">
              <a:lnSpc>
                <a:spcPct val="110000"/>
              </a:lnSpc>
              <a:spcAft>
                <a:spcPts val="400"/>
              </a:spcAft>
            </a:pPr>
            <a:r>
              <a:rPr sz="1350" b="0">
                <a:solidFill>
                  <a:srgbClr val="1F2A3A"/>
                </a:solidFill>
                <a:latin typeface="맑은 고딕"/>
                <a:ea typeface="맑은 고딕"/>
                <a:cs typeface="맑은 고딕"/>
              </a:rPr>
              <a:t>• 도구 정의에서 입력 스키마와 응답을 읽는다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arrows-split" descr="arrows-spli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역할의 구분</a:t>
            </a:r>
          </a:p>
          <a:p>
            <a:pPr algn="l">
              <a:lnSpc>
                <a:spcPct val="110000"/>
              </a:lnSpc>
              <a:spcAft>
                <a:spcPts val="400"/>
              </a:spcAft>
            </a:pPr>
            <a:r>
              <a:rPr sz="1350" b="0">
                <a:solidFill>
                  <a:srgbClr val="1F2A3A"/>
                </a:solidFill>
                <a:latin typeface="맑은 고딕"/>
                <a:ea typeface="맑은 고딕"/>
                <a:cs typeface="맑은 고딕"/>
              </a:rPr>
              <a:t>수행 방법을 적는 스킬과 실행을 맡는 도구를 가른다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안전 기준</a:t>
            </a:r>
          </a:p>
          <a:p>
            <a:pPr algn="l">
              <a:lnSpc>
                <a:spcPct val="110000"/>
              </a:lnSpc>
              <a:spcAft>
                <a:spcPts val="400"/>
              </a:spcAft>
            </a:pPr>
            <a:r>
              <a:rPr sz="1350" b="0">
                <a:solidFill>
                  <a:srgbClr val="1F2A3A"/>
                </a:solidFill>
                <a:latin typeface="맑은 고딕"/>
                <a:ea typeface="맑은 고딕"/>
                <a:cs typeface="맑은 고딕"/>
              </a:rPr>
              <a:t>읽기와 쓰기 권한, 허용 목록, 실패 처리로 연결을 점검한다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안전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스킬과 MCP: 업무 지침과 도구 연결의 기준</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HYD 업무 도구의 연결과 호출</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서로 다른 MCP 서버의 연결과 조합</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회의 내용을 후속 업무로 바꾸는 스킬 작성</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복합 조건에서도 일관된 결과를 내는 스킬 보완</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스킬과 MCP:</a:t>
            </a:r>
          </a:p>
          <a:p>
            <a:pPr algn="l">
              <a:lnSpc>
                <a:spcPct val="110000"/>
              </a:lnSpc>
            </a:pPr>
            <a:r>
              <a:rPr sz="3400" b="1">
                <a:solidFill>
                  <a:srgbClr val="13294B"/>
                </a:solidFill>
                <a:latin typeface="맑은 고딕"/>
                <a:ea typeface="맑은 고딕"/>
                <a:cs typeface="맑은 고딕"/>
              </a:rPr>
              <a:t>업무 지침과 도구 연결의 기준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에이전트가 일하는 방법을 적는 지침과, 그 지침이 부르는 도구의 연결 기준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목표와 도구만 받은 에이전트가 실행마다 정해야 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방법이 정해져 있지 않으면 어느 도구를 어떤 순서로 부르고 무엇을 낼지를 에이전트가 실행할 때마다 새로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tools" descr="tools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무엇부터 부를 것인가</a:t>
            </a:r>
          </a:p>
          <a:p>
            <a:pPr algn="l">
              <a:lnSpc>
                <a:spcPct val="110000"/>
              </a:lnSpc>
              <a:spcAft>
                <a:spcPts val="400"/>
              </a:spcAft>
            </a:pPr>
            <a:r>
              <a:rPr sz="1350" b="0">
                <a:solidFill>
                  <a:srgbClr val="1F2A3A"/>
                </a:solidFill>
                <a:latin typeface="맑은 고딕"/>
                <a:ea typeface="맑은 고딕"/>
                <a:cs typeface="맑은 고딕"/>
              </a:rPr>
              <a:t>• 판단 도구가 16개, 업무 DB 도구가 14개다</a:t>
            </a:r>
          </a:p>
          <a:p>
            <a:pPr algn="l">
              <a:lnSpc>
                <a:spcPct val="110000"/>
              </a:lnSpc>
              <a:spcAft>
                <a:spcPts val="400"/>
              </a:spcAft>
            </a:pPr>
            <a:r>
              <a:rPr sz="1350" b="0">
                <a:solidFill>
                  <a:srgbClr val="1F2A3A"/>
                </a:solidFill>
                <a:latin typeface="맑은 고딕"/>
                <a:ea typeface="맑은 고딕"/>
                <a:cs typeface="맑은 고딕"/>
              </a:rPr>
              <a:t>• 첫 호출부터 고를 것이 많다</a:t>
            </a:r>
          </a:p>
        </p:txBody>
      </p:sp>
      <p:sp>
        <p:nvSpPr>
          <p:cNvPr id="10" name="Rounded Rectangle 9"/>
          <p:cNvSpPr/>
          <p:nvPr/>
        </p:nvSpPr>
        <p:spPr>
          <a:xfrm>
            <a:off x="777240" y="537838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 선택</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어떤 순서로 부를 것인가</a:t>
            </a:r>
          </a:p>
          <a:p>
            <a:pPr algn="l">
              <a:lnSpc>
                <a:spcPct val="110000"/>
              </a:lnSpc>
              <a:spcAft>
                <a:spcPts val="400"/>
              </a:spcAft>
            </a:pPr>
            <a:r>
              <a:rPr sz="1350" b="0">
                <a:solidFill>
                  <a:srgbClr val="1F2A3A"/>
                </a:solidFill>
                <a:latin typeface="맑은 고딕"/>
                <a:ea typeface="맑은 고딕"/>
                <a:cs typeface="맑은 고딕"/>
              </a:rPr>
              <a:t>• 원인을 알기 전에는 조치 후보를 비교할 수 없다</a:t>
            </a:r>
          </a:p>
          <a:p>
            <a:pPr algn="l">
              <a:lnSpc>
                <a:spcPct val="110000"/>
              </a:lnSpc>
              <a:spcAft>
                <a:spcPts val="400"/>
              </a:spcAft>
            </a:pPr>
            <a:r>
              <a:rPr sz="1350" b="0">
                <a:solidFill>
                  <a:srgbClr val="1F2A3A"/>
                </a:solidFill>
                <a:latin typeface="맑은 고딕"/>
                <a:ea typeface="맑은 고딕"/>
                <a:cs typeface="맑은 고딕"/>
              </a:rPr>
              <a:t>• 순서가 바뀌면 빠지는 근거가 생긴다</a:t>
            </a:r>
          </a:p>
        </p:txBody>
      </p:sp>
      <p:sp>
        <p:nvSpPr>
          <p:cNvPr id="16" name="Rounded Rectangle 15"/>
          <p:cNvSpPr/>
          <p:nvPr/>
        </p:nvSpPr>
        <p:spPr>
          <a:xfrm>
            <a:off x="3619423" y="537838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근거가 없으면 어떻게 할 것인가</a:t>
            </a:r>
          </a:p>
          <a:p>
            <a:pPr algn="l">
              <a:lnSpc>
                <a:spcPct val="110000"/>
              </a:lnSpc>
              <a:spcAft>
                <a:spcPts val="400"/>
              </a:spcAft>
            </a:pPr>
            <a:r>
              <a:rPr sz="1350" b="0">
                <a:solidFill>
                  <a:srgbClr val="1F2A3A"/>
                </a:solidFill>
                <a:latin typeface="맑은 고딕"/>
                <a:ea typeface="맑은 고딕"/>
                <a:cs typeface="맑은 고딕"/>
              </a:rPr>
              <a:t>값을 읽지 못한 채 원인을 고르면 지어낸 판단이 된다</a:t>
            </a:r>
          </a:p>
        </p:txBody>
      </p:sp>
      <p:sp>
        <p:nvSpPr>
          <p:cNvPr id="22" name="Rounded Rectangle 21"/>
          <p:cNvSpPr/>
          <p:nvPr/>
        </p:nvSpPr>
        <p:spPr>
          <a:xfrm>
            <a:off x="6461607" y="537838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예외</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무엇을 내고 끝낼 것인가</a:t>
            </a:r>
          </a:p>
          <a:p>
            <a:pPr algn="l">
              <a:lnSpc>
                <a:spcPct val="110000"/>
              </a:lnSpc>
              <a:spcAft>
                <a:spcPts val="400"/>
              </a:spcAft>
            </a:pPr>
            <a:r>
              <a:rPr sz="1350" b="0">
                <a:solidFill>
                  <a:srgbClr val="1F2A3A"/>
                </a:solidFill>
                <a:latin typeface="맑은 고딕"/>
                <a:ea typeface="맑은 고딕"/>
                <a:cs typeface="맑은 고딕"/>
              </a:rPr>
              <a:t>결과의 모양이 실행마다 다르면 다음 단계가 그 결과를 읽지 못한다</a:t>
            </a:r>
          </a:p>
        </p:txBody>
      </p:sp>
      <p:sp>
        <p:nvSpPr>
          <p:cNvPr id="28" name="Rounded Rectangle 27"/>
          <p:cNvSpPr/>
          <p:nvPr/>
        </p:nvSpPr>
        <p:spPr>
          <a:xfrm>
            <a:off x="9303791" y="537838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수행 방법을 지침으로 정해 실행 앞에 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방법을 한 번 적어 두고 에이전트가 일을 시작할 때 읽게 하면, 같은 종류의 일은 같은 순서로 수행된다.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고리_1.svg" descr="illust_815611649989032360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465319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95714" y="484229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681286" y="330587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681286" y="44877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p:txBody>
      </p:sp>
      <p:sp>
        <p:nvSpPr>
          <p:cNvPr id="11" name="TextBox 10"/>
          <p:cNvSpPr txBox="1"/>
          <p:nvPr/>
        </p:nvSpPr>
        <p:spPr>
          <a:xfrm>
            <a:off x="9532338" y="247857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그래프</a:t>
            </a:r>
          </a:p>
        </p:txBody>
      </p:sp>
      <p:sp>
        <p:nvSpPr>
          <p:cNvPr id="12" name="TextBox 11"/>
          <p:cNvSpPr txBox="1"/>
          <p:nvPr/>
        </p:nvSpPr>
        <p:spPr>
          <a:xfrm>
            <a:off x="9532338" y="384953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p:txBody>
      </p:sp>
      <p:sp>
        <p:nvSpPr>
          <p:cNvPr id="13" name="TextBox 12"/>
          <p:cNvSpPr txBox="1"/>
          <p:nvPr/>
        </p:nvSpPr>
        <p:spPr>
          <a:xfrm>
            <a:off x="9532338" y="522049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p:txBody>
      </p:sp>
      <p:sp>
        <p:nvSpPr>
          <p:cNvPr id="14" name="TextBox 13"/>
          <p:cNvSpPr txBox="1"/>
          <p:nvPr/>
        </p:nvSpPr>
        <p:spPr>
          <a:xfrm>
            <a:off x="5004898" y="559868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5" name="TextBox 14"/>
          <p:cNvSpPr txBox="1"/>
          <p:nvPr/>
        </p:nvSpPr>
        <p:spPr>
          <a:xfrm>
            <a:off x="4786708" y="1864004"/>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수행 방법을 적은 지침</a:t>
            </a:r>
          </a:p>
          <a:p>
            <a:pPr algn="ctr">
              <a:lnSpc>
                <a:spcPct val="110000"/>
              </a:lnSpc>
              <a:spcAft>
                <a:spcPts val="100"/>
              </a:spcAft>
            </a:pPr>
            <a:r>
              <a:rPr sz="1300" b="0">
                <a:solidFill>
                  <a:srgbClr val="556175"/>
                </a:solidFill>
                <a:latin typeface="맑은 고딕"/>
                <a:ea typeface="맑은 고딕"/>
                <a:cs typeface="맑은 고딕"/>
              </a:rPr>
              <a:t>순서, 예외, 결과의 모양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스킬: 이름을 붙여 재사용하는 업무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스킬은 특정한 일을 수행하는 방법을 적어 이름을 붙여 둔 지침 묶음이며, 에이전트가 필요할 때 불러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에이전트 스킬</a:t>
            </a:r>
          </a:p>
          <a:p>
            <a:pPr algn="l">
              <a:lnSpc>
                <a:spcPct val="110000"/>
              </a:lnSpc>
              <a:spcAft>
                <a:spcPts val="200"/>
              </a:spcAft>
            </a:pPr>
            <a:r>
              <a:rPr sz="1150" b="0">
                <a:solidFill>
                  <a:srgbClr val="556175"/>
                </a:solidFill>
                <a:latin typeface="맑은 고딕"/>
                <a:ea typeface="맑은 고딕"/>
                <a:cs typeface="맑은 고딕"/>
              </a:rPr>
              <a:t>Agent Skill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에이전트가 특정한 일을 수행하는 방법을 적어 둔 지침 묶음이다.</a:t>
            </a:r>
          </a:p>
          <a:p>
            <a:pPr algn="l">
              <a:lnSpc>
                <a:spcPct val="110000"/>
              </a:lnSpc>
              <a:spcAft>
                <a:spcPts val="300"/>
              </a:spcAft>
            </a:pPr>
            <a:r>
              <a:rPr sz="1400" b="0">
                <a:solidFill>
                  <a:srgbClr val="1F2A3A"/>
                </a:solidFill>
                <a:latin typeface="맑은 고딕"/>
                <a:ea typeface="맑은 고딕"/>
                <a:cs typeface="맑은 고딕"/>
              </a:rPr>
              <a:t>이름이 있어 여러 실행에 되풀이해 쓰인다.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SKILL.md</a:t>
            </a:r>
          </a:p>
          <a:p>
            <a:pPr algn="l">
              <a:lnSpc>
                <a:spcPct val="110000"/>
              </a:lnSpc>
              <a:spcAft>
                <a:spcPts val="200"/>
              </a:spcAft>
            </a:pPr>
            <a:r>
              <a:rPr sz="1150" b="0">
                <a:solidFill>
                  <a:srgbClr val="556175"/>
                </a:solidFill>
                <a:latin typeface="맑은 고딕"/>
                <a:ea typeface="맑은 고딕"/>
                <a:cs typeface="맑은 고딕"/>
              </a:rPr>
              <a:t>스킬 파일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스킬의 본체가 되는 파일이다.</a:t>
            </a:r>
          </a:p>
          <a:p>
            <a:pPr algn="l">
              <a:lnSpc>
                <a:spcPct val="110000"/>
              </a:lnSpc>
              <a:spcAft>
                <a:spcPts val="300"/>
              </a:spcAft>
            </a:pPr>
            <a:r>
              <a:rPr sz="1400" b="0">
                <a:solidFill>
                  <a:srgbClr val="1F2A3A"/>
                </a:solidFill>
                <a:latin typeface="맑은 고딕"/>
                <a:ea typeface="맑은 고딕"/>
                <a:cs typeface="맑은 고딕"/>
              </a:rPr>
              <a:t>스킬 이름과 같은 폴더에 놓이며 머리말과 본문으로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스킬</a:t>
            </a:r>
          </a:p>
          <a:p>
            <a:pPr algn="l">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쿨러 성능 저하 경보에 쓰는 스킬의 이름은 cooling-emergency-response이다.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①: 머리말과 요약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SKILL.md는 이름과 쓰임을 적은 머리말로 시작해, 맡는 일과 그 범위의 한계를 밝히는 요약으로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name: cooling-emergency-response</a:t>
            </a:r>
          </a:p>
          <a:p>
            <a:pPr algn="l">
              <a:lnSpc>
                <a:spcPct val="110000"/>
              </a:lnSpc>
              <a:spcAft>
                <a:spcPts val="200"/>
              </a:spcAft>
            </a:pPr>
            <a:r>
              <a:rPr sz="1300" b="0">
                <a:solidFill>
                  <a:srgbClr val="E8EEF6"/>
                </a:solidFill>
                <a:latin typeface="Consolas"/>
                <a:ea typeface="맑은 고딕"/>
                <a:cs typeface="맑은 고딕"/>
              </a:rPr>
              <a:t>description: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p>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(COOLER_DEGRADATION)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건에서</a:t>
            </a:r>
          </a:p>
          <a:p>
            <a:pPr algn="l">
              <a:lnSpc>
                <a:spcPct val="110000"/>
              </a:lnSpc>
              <a:spcAft>
                <a:spcPts val="200"/>
              </a:spcAft>
            </a:pP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비교해</a:t>
            </a:r>
          </a:p>
          <a:p>
            <a:pPr algn="l">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장과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계산만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스킬의 이름이다. 폴더 이름과 같다.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어떤 경우에 쓰는 스킬인지를 한 줄로 적는다.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요약 문단</a:t>
            </a:r>
          </a:p>
          <a:p>
            <a:pPr algn="l">
              <a:lnSpc>
                <a:spcPct val="110000"/>
              </a:lnSpc>
              <a:spcAft>
                <a:spcPts val="400"/>
              </a:spcAft>
            </a:pPr>
            <a:r>
              <a:rPr sz="1400" b="0">
                <a:solidFill>
                  <a:srgbClr val="1F2A3A"/>
                </a:solidFill>
                <a:latin typeface="맑은 고딕"/>
                <a:ea typeface="맑은 고딕"/>
                <a:cs typeface="맑은 고딕"/>
              </a:rPr>
              <a:t>경보 한 건에서 무엇을 하고 무엇을 내는지를 밝힌다.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범위의 한계</a:t>
            </a:r>
          </a:p>
          <a:p>
            <a:pPr algn="l">
              <a:lnSpc>
                <a:spcPct val="110000"/>
              </a:lnSpc>
              <a:spcAft>
                <a:spcPts val="400"/>
              </a:spcAft>
            </a:pPr>
            <a:r>
              <a:rPr sz="1400" b="0">
                <a:solidFill>
                  <a:srgbClr val="1F2A3A"/>
                </a:solidFill>
                <a:latin typeface="맑은 고딕"/>
                <a:ea typeface="맑은 고딕"/>
                <a:cs typeface="맑은 고딕"/>
              </a:rPr>
              <a:t>조회와 계산까지만 하고 설비 명령은 내지 않는다.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②: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도구의 이름과 넘길 값이 절차에 그대로 적혀 있어, 에이전트는 무엇을 어떤 순서로 부를지를 추측하지 않아도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a:t>
            </a:r>
          </a:p>
          <a:p>
            <a:pPr algn="l">
              <a:lnSpc>
                <a:spcPct val="110000"/>
              </a:lnSpc>
              <a:spcAft>
                <a:spcPts val="200"/>
              </a:spcAft>
            </a:pPr>
            <a:r>
              <a:rPr sz="1300" b="0">
                <a:solidFill>
                  <a:srgbClr val="E8EEF6"/>
                </a:solidFill>
                <a:latin typeface="Consolas"/>
                <a:ea typeface="맑은 고딕"/>
                <a:cs typeface="맑은 고딕"/>
              </a:rPr>
              <a:t>1. context/task.json </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입력에서</a:t>
            </a:r>
            <a:r>
              <a:rPr sz="1300" b="0">
                <a:solidFill>
                  <a:srgbClr val="E8EEF6"/>
                </a:solidFill>
                <a:latin typeface="Consolas"/>
                <a:ea typeface="맑은 고딕"/>
                <a:cs typeface="맑은 고딕"/>
              </a:rPr>
              <a:t> asset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pattern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alert.alertId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incident </a:t>
            </a:r>
            <a:r>
              <a:rPr sz="1300" b="0">
                <a:solidFill>
                  <a:srgbClr val="E8EEF6"/>
                </a:solidFill>
                <a:latin typeface="맑은 고딕"/>
                <a:ea typeface="맑은 고딕"/>
                <a:cs typeface="맑은 고딕"/>
              </a:rPr>
              <a:t>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2. hyd-dmn diagnose(asset, pattern, alert_id)</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withheld </a:t>
            </a:r>
            <a:r>
              <a:rPr sz="1300" b="0">
                <a:solidFill>
                  <a:srgbClr val="E8EEF6"/>
                </a:solidFill>
                <a:latin typeface="맑은 고딕"/>
                <a:ea typeface="맑은 고딕"/>
                <a:cs typeface="맑은 고딕"/>
              </a:rPr>
              <a:t>이면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지어내지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말고</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3. </a:t>
            </a:r>
            <a:r>
              <a:rPr sz="1300" b="0">
                <a:solidFill>
                  <a:srgbClr val="E8EEF6"/>
                </a:solidFill>
                <a:latin typeface="맑은 고딕"/>
                <a:ea typeface="맑은 고딕"/>
                <a:cs typeface="맑은 고딕"/>
              </a:rPr>
              <a:t>필요하면</a:t>
            </a:r>
            <a:r>
              <a:rPr sz="1300" b="0">
                <a:solidFill>
                  <a:srgbClr val="E8EEF6"/>
                </a:solidFill>
                <a:latin typeface="Consolas"/>
                <a:ea typeface="맑은 고딕"/>
                <a:cs typeface="맑은 고딕"/>
              </a:rPr>
              <a:t> enterprise </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로트를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조회만</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4. hyd-dmn evaluate_cards(asset, pattern,</a:t>
            </a:r>
          </a:p>
          <a:p>
            <a:pPr algn="l">
              <a:lnSpc>
                <a:spcPct val="110000"/>
              </a:lnSpc>
              <a:spcAft>
                <a:spcPts val="200"/>
              </a:spcAft>
            </a:pPr>
            <a:r>
              <a:rPr sz="1300" b="0">
                <a:solidFill>
                  <a:srgbClr val="E8EEF6"/>
                </a:solidFill>
                <a:latin typeface="Consolas"/>
                <a:ea typeface="맑은 고딕"/>
                <a:cs typeface="맑은 고딕"/>
              </a:rPr>
              <a:t>   cause,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5. hyd-dmn submit_decision(</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id </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decision_id </a:t>
            </a:r>
            <a:r>
              <a:rPr sz="1300" b="0">
                <a:solidFill>
                  <a:srgbClr val="E8EEF6"/>
                </a:solidFill>
                <a:latin typeface="맑은 고딕"/>
                <a:ea typeface="맑은 고딕"/>
                <a:cs typeface="맑은 고딕"/>
              </a:rPr>
              <a:t>다</a:t>
            </a: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1단계</a:t>
            </a:r>
          </a:p>
          <a:p>
            <a:pPr algn="l">
              <a:lnSpc>
                <a:spcPct val="110000"/>
              </a:lnSpc>
              <a:spcAft>
                <a:spcPts val="400"/>
              </a:spcAft>
            </a:pPr>
            <a:r>
              <a:rPr sz="1400" b="0">
                <a:solidFill>
                  <a:srgbClr val="1F2A3A"/>
                </a:solidFill>
                <a:latin typeface="맑은 고딕"/>
                <a:ea typeface="맑은 고딕"/>
                <a:cs typeface="맑은 고딕"/>
              </a:rPr>
              <a:t>입력을 읽을 파일과 읽을 항목을 가리킨다.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 · 4 · 5단계</a:t>
            </a:r>
          </a:p>
          <a:p>
            <a:pPr algn="l">
              <a:lnSpc>
                <a:spcPct val="110000"/>
              </a:lnSpc>
              <a:spcAft>
                <a:spcPts val="400"/>
              </a:spcAft>
            </a:pPr>
            <a:r>
              <a:rPr sz="1400" b="0">
                <a:solidFill>
                  <a:srgbClr val="1F2A3A"/>
                </a:solidFill>
                <a:latin typeface="맑은 고딕"/>
                <a:ea typeface="맑은 고딕"/>
                <a:cs typeface="맑은 고딕"/>
              </a:rPr>
              <a:t>도구의 이름과 넘길 값을 그대로 적는다.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2단계의 끝</a:t>
            </a:r>
          </a:p>
          <a:p>
            <a:pPr algn="l">
              <a:lnSpc>
                <a:spcPct val="110000"/>
              </a:lnSpc>
              <a:spcAft>
                <a:spcPts val="400"/>
              </a:spcAft>
            </a:pPr>
            <a:r>
              <a:rPr sz="1400" b="0">
                <a:solidFill>
                  <a:srgbClr val="1F2A3A"/>
                </a:solidFill>
                <a:latin typeface="맑은 고딕"/>
                <a:ea typeface="맑은 고딕"/>
                <a:cs typeface="맑은 고딕"/>
              </a:rPr>
              <a:t>근거가 없을 때의 행동을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3단계</a:t>
            </a:r>
          </a:p>
          <a:p>
            <a:pPr algn="l">
              <a:lnSpc>
                <a:spcPct val="110000"/>
              </a:lnSpc>
              <a:spcAft>
                <a:spcPts val="400"/>
              </a:spcAft>
            </a:pPr>
            <a:r>
              <a:rPr sz="1400" b="0">
                <a:solidFill>
                  <a:srgbClr val="1F2A3A"/>
                </a:solidFill>
                <a:latin typeface="맑은 고딕"/>
                <a:ea typeface="맑은 고딕"/>
                <a:cs typeface="맑은 고딕"/>
              </a:rPr>
              <a:t>「필요하면」과 「조회만」으로 범위를 정한다.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SKILL.md가 정하는 여섯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 한 편은 언제 쓰고, 무엇을 받으며, 막히면 어떻게 하고, 어떤 순서로 해서 무엇을 내는지를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스킬문서.svg" descr="illust_7687404377547191205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68607" y="188291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 조건</a:t>
            </a:r>
          </a:p>
          <a:p>
            <a:pPr algn="ctr">
              <a:lnSpc>
                <a:spcPct val="110000"/>
              </a:lnSpc>
              <a:spcAft>
                <a:spcPts val="100"/>
              </a:spcAft>
            </a:pPr>
            <a:r>
              <a:rPr sz="1300" b="0">
                <a:solidFill>
                  <a:srgbClr val="556175"/>
                </a:solidFill>
                <a:latin typeface="맑은 고딕"/>
                <a:ea typeface="맑은 고딕"/>
                <a:cs typeface="맑은 고딕"/>
              </a:rPr>
              <a:t>description이 맡는다</a:t>
            </a:r>
          </a:p>
        </p:txBody>
      </p:sp>
      <p:sp>
        <p:nvSpPr>
          <p:cNvPr id="8" name="TextBox 7"/>
          <p:cNvSpPr txBox="1"/>
          <p:nvPr/>
        </p:nvSpPr>
        <p:spPr>
          <a:xfrm>
            <a:off x="6968607" y="275276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목적</a:t>
            </a:r>
          </a:p>
          <a:p>
            <a:pPr algn="ctr">
              <a:lnSpc>
                <a:spcPct val="110000"/>
              </a:lnSpc>
              <a:spcAft>
                <a:spcPts val="100"/>
              </a:spcAft>
            </a:pPr>
            <a:r>
              <a:rPr sz="1300" b="0">
                <a:solidFill>
                  <a:srgbClr val="556175"/>
                </a:solidFill>
                <a:latin typeface="맑은 고딕"/>
                <a:ea typeface="맑은 고딕"/>
                <a:cs typeface="맑은 고딕"/>
              </a:rPr>
              <a:t>본문 첫 문단이 밝힌다</a:t>
            </a:r>
          </a:p>
        </p:txBody>
      </p:sp>
      <p:sp>
        <p:nvSpPr>
          <p:cNvPr id="9" name="TextBox 8"/>
          <p:cNvSpPr txBox="1"/>
          <p:nvPr/>
        </p:nvSpPr>
        <p:spPr>
          <a:xfrm>
            <a:off x="6968607" y="333896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a:t>
            </a:r>
          </a:p>
          <a:p>
            <a:pPr algn="ctr">
              <a:lnSpc>
                <a:spcPct val="110000"/>
              </a:lnSpc>
              <a:spcAft>
                <a:spcPts val="100"/>
              </a:spcAft>
            </a:pPr>
            <a:r>
              <a:rPr sz="1300" b="0">
                <a:solidFill>
                  <a:srgbClr val="556175"/>
                </a:solidFill>
                <a:latin typeface="맑은 고딕"/>
                <a:ea typeface="맑은 고딕"/>
                <a:cs typeface="맑은 고딕"/>
              </a:rPr>
              <a:t>1단계가 읽을 자리를 가리킨다</a:t>
            </a:r>
          </a:p>
        </p:txBody>
      </p:sp>
      <p:sp>
        <p:nvSpPr>
          <p:cNvPr id="10" name="TextBox 9"/>
          <p:cNvSpPr txBox="1"/>
          <p:nvPr/>
        </p:nvSpPr>
        <p:spPr>
          <a:xfrm>
            <a:off x="6968607" y="3901534"/>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예외 지침</a:t>
            </a:r>
          </a:p>
          <a:p>
            <a:pPr algn="ctr">
              <a:lnSpc>
                <a:spcPct val="110000"/>
              </a:lnSpc>
              <a:spcAft>
                <a:spcPts val="100"/>
              </a:spcAft>
            </a:pPr>
            <a:r>
              <a:rPr sz="1300" b="0">
                <a:solidFill>
                  <a:srgbClr val="556175"/>
                </a:solidFill>
                <a:latin typeface="맑은 고딕"/>
                <a:ea typeface="맑은 고딕"/>
                <a:cs typeface="맑은 고딕"/>
              </a:rPr>
              <a:t>해당 단계 안에 적는다</a:t>
            </a:r>
          </a:p>
        </p:txBody>
      </p:sp>
      <p:sp>
        <p:nvSpPr>
          <p:cNvPr id="11" name="TextBox 10"/>
          <p:cNvSpPr txBox="1"/>
          <p:nvPr/>
        </p:nvSpPr>
        <p:spPr>
          <a:xfrm>
            <a:off x="6968607" y="448301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순서</a:t>
            </a:r>
          </a:p>
          <a:p>
            <a:pPr algn="ctr">
              <a:lnSpc>
                <a:spcPct val="110000"/>
              </a:lnSpc>
              <a:spcAft>
                <a:spcPts val="100"/>
              </a:spcAft>
            </a:pPr>
            <a:r>
              <a:rPr sz="1300" b="0">
                <a:solidFill>
                  <a:srgbClr val="556175"/>
                </a:solidFill>
                <a:latin typeface="맑은 고딕"/>
                <a:ea typeface="맑은 고딕"/>
                <a:cs typeface="맑은 고딕"/>
              </a:rPr>
              <a:t>단계의 번호가 호출의 차례다</a:t>
            </a:r>
          </a:p>
        </p:txBody>
      </p:sp>
      <p:sp>
        <p:nvSpPr>
          <p:cNvPr id="12" name="TextBox 11"/>
          <p:cNvSpPr txBox="1"/>
          <p:nvPr/>
        </p:nvSpPr>
        <p:spPr>
          <a:xfrm>
            <a:off x="6968607" y="542850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a:t>
            </a:r>
          </a:p>
          <a:p>
            <a:pPr algn="ctr">
              <a:lnSpc>
                <a:spcPct val="110000"/>
              </a:lnSpc>
              <a:spcAft>
                <a:spcPts val="100"/>
              </a:spcAft>
            </a:pPr>
            <a:r>
              <a:rPr sz="1300" b="0">
                <a:solidFill>
                  <a:srgbClr val="556175"/>
                </a:solidFill>
                <a:latin typeface="맑은 고딕"/>
                <a:ea typeface="맑은 고딕"/>
                <a:cs typeface="맑은 고딕"/>
              </a:rPr>
              <a:t>결과 절이 항목 이름을 정한다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 절이 정한 항목과 실제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다음 단계가 값을 항목의 이름으로 읽기 때문에, 결과 절은 내놓을 다섯 항목의 이름을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129282"/>
            <a:ext cx="6766560" cy="37241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66442"/>
            <a:ext cx="6400800" cy="344982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p>
          <a:p>
            <a:pPr algn="l">
              <a:lnSpc>
                <a:spcPct val="110000"/>
              </a:lnSpc>
              <a:spcAft>
                <a:spcPts val="200"/>
              </a:spcAft>
            </a:pPr>
            <a:r>
              <a:rPr sz="1300" b="0">
                <a:solidFill>
                  <a:srgbClr val="E8EEF6"/>
                </a:solidFill>
                <a:latin typeface="Consolas"/>
                <a:ea typeface="맑은 고딕"/>
                <a:cs typeface="맑은 고딕"/>
              </a:rPr>
              <a:t>cause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guide_card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decision{recommended, explanation, order}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decision_id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output/result.json</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"failure_mode": "fm:cooler-performance-loss",</a:t>
            </a:r>
          </a:p>
          <a:p>
            <a:pPr algn="l">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 {</a:t>
            </a:r>
          </a:p>
          <a:p>
            <a:pPr algn="l">
              <a:lnSpc>
                <a:spcPct val="110000"/>
              </a:lnSpc>
              <a:spcAft>
                <a:spcPts val="200"/>
              </a:spcAft>
            </a:pPr>
            <a:r>
              <a:rPr sz="1300" b="0">
                <a:solidFill>
                  <a:srgbClr val="E8EEF6"/>
                </a:solidFill>
                <a:latin typeface="Consolas"/>
                <a:ea typeface="맑은 고딕"/>
                <a:cs typeface="맑은 고딕"/>
              </a:rPr>
              <a:t>    "recommended": "skill:sop-cool-11",</a:t>
            </a:r>
          </a:p>
          <a:p>
            <a:pPr algn="l">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원인은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오염입니다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"decision_id": "DEC-1010-056-0972" }</a:t>
            </a:r>
          </a:p>
        </p:txBody>
      </p:sp>
      <p:sp>
        <p:nvSpPr>
          <p:cNvPr id="8" name="TextBox 7"/>
          <p:cNvSpPr txBox="1"/>
          <p:nvPr/>
        </p:nvSpPr>
        <p:spPr>
          <a:xfrm>
            <a:off x="7635240" y="2129282"/>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 절</a:t>
            </a:r>
          </a:p>
          <a:p>
            <a:pPr algn="l">
              <a:lnSpc>
                <a:spcPct val="110000"/>
              </a:lnSpc>
              <a:spcAft>
                <a:spcPts val="400"/>
              </a:spcAft>
            </a:pPr>
            <a:r>
              <a:rPr sz="1400" b="0">
                <a:solidFill>
                  <a:srgbClr val="1F2A3A"/>
                </a:solidFill>
                <a:latin typeface="맑은 고딕"/>
                <a:ea typeface="맑은 고딕"/>
                <a:cs typeface="맑은 고딕"/>
              </a:rPr>
              <a:t>내놓을 항목의 이름을 정한다.</a:t>
            </a:r>
          </a:p>
        </p:txBody>
      </p:sp>
      <p:sp>
        <p:nvSpPr>
          <p:cNvPr id="9" name="TextBox 8"/>
          <p:cNvSpPr txBox="1"/>
          <p:nvPr/>
        </p:nvSpPr>
        <p:spPr>
          <a:xfrm>
            <a:off x="7635240" y="3060318"/>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cause · failure_mode</a:t>
            </a:r>
          </a:p>
          <a:p>
            <a:pPr algn="l">
              <a:lnSpc>
                <a:spcPct val="110000"/>
              </a:lnSpc>
              <a:spcAft>
                <a:spcPts val="400"/>
              </a:spcAft>
            </a:pPr>
            <a:r>
              <a:rPr sz="1400" b="0">
                <a:solidFill>
                  <a:srgbClr val="1F2A3A"/>
                </a:solidFill>
                <a:latin typeface="맑은 고딕"/>
                <a:ea typeface="맑은 고딕"/>
                <a:cs typeface="맑은 고딕"/>
              </a:rPr>
              <a:t>지식 그래프의 식별자를 그대로 낸다.</a:t>
            </a:r>
          </a:p>
        </p:txBody>
      </p:sp>
      <p:sp>
        <p:nvSpPr>
          <p:cNvPr id="10" name="TextBox 9"/>
          <p:cNvSpPr txBox="1"/>
          <p:nvPr/>
        </p:nvSpPr>
        <p:spPr>
          <a:xfrm>
            <a:off x="7635240" y="3991356"/>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a:t>
            </a:r>
          </a:p>
          <a:p>
            <a:pPr algn="l">
              <a:lnSpc>
                <a:spcPct val="110000"/>
              </a:lnSpc>
              <a:spcAft>
                <a:spcPts val="400"/>
              </a:spcAft>
            </a:pPr>
            <a:r>
              <a:rPr sz="1400" b="0">
                <a:solidFill>
                  <a:srgbClr val="1F2A3A"/>
                </a:solidFill>
                <a:latin typeface="맑은 고딕"/>
                <a:ea typeface="맑은 고딕"/>
                <a:cs typeface="맑은 고딕"/>
              </a:rPr>
              <a:t>추천한 조치, 설명, 후보의 순위이다.</a:t>
            </a:r>
          </a:p>
        </p:txBody>
      </p:sp>
      <p:sp>
        <p:nvSpPr>
          <p:cNvPr id="11" name="TextBox 10"/>
          <p:cNvSpPr txBox="1"/>
          <p:nvPr/>
        </p:nvSpPr>
        <p:spPr>
          <a:xfrm>
            <a:off x="7635240" y="4922393"/>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decision_id</a:t>
            </a:r>
          </a:p>
          <a:p>
            <a:pPr algn="l">
              <a:lnSpc>
                <a:spcPct val="110000"/>
              </a:lnSpc>
              <a:spcAft>
                <a:spcPts val="400"/>
              </a:spcAft>
            </a:pPr>
            <a:r>
              <a:rPr sz="1400" b="0">
                <a:solidFill>
                  <a:srgbClr val="1F2A3A"/>
                </a:solidFill>
                <a:latin typeface="맑은 고딕"/>
                <a:ea typeface="맑은 고딕"/>
                <a:cs typeface="맑은 고딕"/>
              </a:rPr>
              <a:t>제출한 판단에 붙은 번호이다.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SOP와 에이전트 스킬: 읽는 이와 적는 내용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현장 작업자가 읽는 설비 작업의 절차이고, 에이전트 스킬은 에이전트가 읽는 조회와 판단의 절차이다.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현장 작업자</a:t>
            </a:r>
          </a:p>
          <a:p>
            <a:pPr algn="l">
              <a:lnSpc>
                <a:spcPct val="110000"/>
              </a:lnSpc>
              <a:spcAft>
                <a:spcPts val="600"/>
              </a:spcAft>
            </a:pPr>
            <a:r>
              <a:rPr sz="1450" b="0">
                <a:solidFill>
                  <a:srgbClr val="1F2A3A"/>
                </a:solidFill>
                <a:latin typeface="맑은 고딕"/>
                <a:ea typeface="맑은 고딕"/>
                <a:cs typeface="맑은 고딕"/>
              </a:rPr>
              <a:t>• 적는 것: 설비를 다루는 순서, 안전 조건, 금지 사항</a:t>
            </a:r>
          </a:p>
          <a:p>
            <a:pPr algn="l">
              <a:lnSpc>
                <a:spcPct val="110000"/>
              </a:lnSpc>
              <a:spcAft>
                <a:spcPts val="600"/>
              </a:spcAft>
            </a:pPr>
            <a:r>
              <a:rPr sz="1450" b="0">
                <a:solidFill>
                  <a:srgbClr val="1F2A3A"/>
                </a:solidFill>
                <a:latin typeface="맑은 고딕"/>
                <a:ea typeface="맑은 고딕"/>
                <a:cs typeface="맑은 고딕"/>
              </a:rPr>
              <a:t>• 형식: 설비 매뉴얼의 한 절</a:t>
            </a:r>
          </a:p>
          <a:p>
            <a:pPr algn="l">
              <a:lnSpc>
                <a:spcPct val="110000"/>
              </a:lnSpc>
              <a:spcAft>
                <a:spcPts val="600"/>
              </a:spcAft>
            </a:pPr>
            <a:r>
              <a:rPr sz="1450" b="0">
                <a:solidFill>
                  <a:srgbClr val="1F2A3A"/>
                </a:solidFill>
                <a:latin typeface="맑은 고딕"/>
                <a:ea typeface="맑은 고딕"/>
                <a:cs typeface="맑은 고딕"/>
              </a:rPr>
              <a:t>• 예: SOP-COOL-11 — 「팬 속도를 100 %로 올린다」</a:t>
            </a:r>
          </a:p>
        </p:txBody>
      </p:sp>
      <p:sp>
        <p:nvSpPr>
          <p:cNvPr id="11" name="Rounded Rectangle 10"/>
          <p:cNvSpPr/>
          <p:nvPr/>
        </p:nvSpPr>
        <p:spPr>
          <a:xfrm>
            <a:off x="868680" y="539686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설비에 하는 일</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스킬</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에이전트</a:t>
            </a:r>
          </a:p>
          <a:p>
            <a:pPr algn="l">
              <a:lnSpc>
                <a:spcPct val="110000"/>
              </a:lnSpc>
              <a:spcAft>
                <a:spcPts val="600"/>
              </a:spcAft>
            </a:pPr>
            <a:r>
              <a:rPr sz="1450" b="0">
                <a:solidFill>
                  <a:srgbClr val="1F2A3A"/>
                </a:solidFill>
                <a:latin typeface="맑은 고딕"/>
                <a:ea typeface="맑은 고딕"/>
                <a:cs typeface="맑은 고딕"/>
              </a:rPr>
              <a:t>• 적는 것: 부를 도구와 순서, 근거가 없을 때의 행동, 결과의 모양</a:t>
            </a:r>
          </a:p>
          <a:p>
            <a:pPr algn="l">
              <a:lnSpc>
                <a:spcPct val="110000"/>
              </a:lnSpc>
              <a:spcAft>
                <a:spcPts val="600"/>
              </a:spcAft>
            </a:pPr>
            <a:r>
              <a:rPr sz="1450" b="0">
                <a:solidFill>
                  <a:srgbClr val="1F2A3A"/>
                </a:solidFill>
                <a:latin typeface="맑은 고딕"/>
                <a:ea typeface="맑은 고딕"/>
                <a:cs typeface="맑은 고딕"/>
              </a:rPr>
              <a:t>• 형식: 머리말과 본문을 가진 SKILL.md</a:t>
            </a:r>
          </a:p>
          <a:p>
            <a:pPr algn="l">
              <a:lnSpc>
                <a:spcPct val="110000"/>
              </a:lnSpc>
              <a:spcAft>
                <a:spcPts val="600"/>
              </a:spcAft>
            </a:pPr>
            <a:r>
              <a:rPr sz="1450" b="0">
                <a:solidFill>
                  <a:srgbClr val="1F2A3A"/>
                </a:solidFill>
                <a:latin typeface="맑은 고딕"/>
                <a:ea typeface="맑은 고딕"/>
                <a:cs typeface="맑은 고딕"/>
              </a:rPr>
              <a:t>• 예: cooling-emergency-response — 「diagnose로 원인 1순위를 얻는다」</a:t>
            </a:r>
          </a:p>
        </p:txBody>
      </p:sp>
      <p:sp>
        <p:nvSpPr>
          <p:cNvPr id="18" name="Rounded Rectangle 17"/>
          <p:cNvSpPr/>
          <p:nvPr/>
        </p:nvSpPr>
        <p:spPr>
          <a:xfrm>
            <a:off x="6781647" y="5396865"/>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정보로 하는 일</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스킬의 절차가 가리키는 것: 스킬 밖의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절차 2단계의 diagnose는 스킬 안에 든 기능이 아니라, 스킬 밖의 프로그램이 내주는 도구의 이름이다.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hyd-dmn diagnose(asset, pattern, alert_id)</a:t>
            </a:r>
          </a:p>
        </p:txBody>
      </p:sp>
      <p:sp>
        <p:nvSpPr>
          <p:cNvPr id="8" name="Oval 7"/>
          <p:cNvSpPr/>
          <p:nvPr/>
        </p:nvSpPr>
        <p:spPr>
          <a:xfrm>
            <a:off x="548640" y="4071620"/>
            <a:ext cx="731520" cy="731520"/>
          </a:xfrm>
          <a:prstGeom prst="ellipse">
            <a:avLst/>
          </a:prstGeom>
          <a:solidFill>
            <a:srgbClr val="E7F3FD"/>
          </a:solidFill>
          <a:ln>
            <a:noFill/>
          </a:ln>
        </p:spPr>
        <p:txBody>
          <a:bodyPr rtlCol="0" anchor="ctr"/>
          <a:lstStyle/>
          <a:p>
            <a:pPr algn="ctr"/>
          </a:p>
        </p:txBody>
      </p:sp>
      <p:pic>
        <p:nvPicPr>
          <p:cNvPr id="9" name="아이콘:server" descr="server_13294B_1.6.png"/>
          <p:cNvPicPr>
            <a:picLocks noChangeAspect="1"/>
          </p:cNvPicPr>
          <p:nvPr/>
        </p:nvPicPr>
        <p:blipFill>
          <a:blip r:embed="rId3"/>
          <a:stretch>
            <a:fillRect/>
          </a:stretch>
        </p:blipFill>
        <p:spPr>
          <a:xfrm>
            <a:off x="702259" y="4225239"/>
            <a:ext cx="424281" cy="424281"/>
          </a:xfrm>
          <a:prstGeom prst="rect">
            <a:avLst/>
          </a:prstGeom>
        </p:spPr>
      </p:pic>
      <p:sp>
        <p:nvSpPr>
          <p:cNvPr id="10" name="TextBox 9"/>
          <p:cNvSpPr txBox="1"/>
          <p:nvPr/>
        </p:nvSpPr>
        <p:spPr>
          <a:xfrm>
            <a:off x="1371600"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hyd-dmn</a:t>
            </a:r>
          </a:p>
          <a:p>
            <a:pPr algn="l">
              <a:lnSpc>
                <a:spcPct val="110000"/>
              </a:lnSpc>
              <a:spcAft>
                <a:spcPts val="400"/>
              </a:spcAft>
            </a:pPr>
            <a:r>
              <a:rPr sz="1400" b="0">
                <a:solidFill>
                  <a:srgbClr val="1F2A3A"/>
                </a:solidFill>
                <a:latin typeface="맑은 고딕"/>
                <a:ea typeface="맑은 고딕"/>
                <a:cs typeface="맑은 고딕"/>
              </a:rPr>
              <a:t>도구를 내주는 프로그램이다</a:t>
            </a:r>
          </a:p>
          <a:p>
            <a:pPr algn="l">
              <a:lnSpc>
                <a:spcPct val="110000"/>
              </a:lnSpc>
              <a:spcAft>
                <a:spcPts val="400"/>
              </a:spcAft>
            </a:pPr>
            <a:r>
              <a:rPr sz="1400" b="0">
                <a:solidFill>
                  <a:srgbClr val="1F2A3A"/>
                </a:solidFill>
                <a:latin typeface="맑은 고딕"/>
                <a:ea typeface="맑은 고딕"/>
                <a:cs typeface="맑은 고딕"/>
              </a:rPr>
              <a:t>원인 진단은 여기서 실행된다</a:t>
            </a:r>
          </a:p>
        </p:txBody>
      </p:sp>
      <p:sp>
        <p:nvSpPr>
          <p:cNvPr id="11" name="Oval 10"/>
          <p:cNvSpPr/>
          <p:nvPr/>
        </p:nvSpPr>
        <p:spPr>
          <a:xfrm>
            <a:off x="4338218" y="4071620"/>
            <a:ext cx="731520" cy="731520"/>
          </a:xfrm>
          <a:prstGeom prst="ellipse">
            <a:avLst/>
          </a:prstGeom>
          <a:solidFill>
            <a:srgbClr val="E7F3FD"/>
          </a:solidFill>
          <a:ln>
            <a:noFill/>
          </a:ln>
        </p:spPr>
        <p:txBody>
          <a:bodyPr rtlCol="0" anchor="ctr"/>
          <a:lstStyle/>
          <a:p>
            <a:pPr algn="ctr"/>
          </a:p>
        </p:txBody>
      </p:sp>
      <p:pic>
        <p:nvPicPr>
          <p:cNvPr id="12" name="아이콘:tool" descr="tool_13294B_1.6.png"/>
          <p:cNvPicPr>
            <a:picLocks noChangeAspect="1"/>
          </p:cNvPicPr>
          <p:nvPr/>
        </p:nvPicPr>
        <p:blipFill>
          <a:blip r:embed="rId4"/>
          <a:stretch>
            <a:fillRect/>
          </a:stretch>
        </p:blipFill>
        <p:spPr>
          <a:xfrm>
            <a:off x="4491837" y="4225239"/>
            <a:ext cx="424281" cy="424281"/>
          </a:xfrm>
          <a:prstGeom prst="rect">
            <a:avLst/>
          </a:prstGeom>
        </p:spPr>
      </p:pic>
      <p:sp>
        <p:nvSpPr>
          <p:cNvPr id="13" name="TextBox 12"/>
          <p:cNvSpPr txBox="1"/>
          <p:nvPr/>
        </p:nvSpPr>
        <p:spPr>
          <a:xfrm>
            <a:off x="5161178"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diagnose</a:t>
            </a:r>
          </a:p>
          <a:p>
            <a:pPr algn="l">
              <a:lnSpc>
                <a:spcPct val="110000"/>
              </a:lnSpc>
              <a:spcAft>
                <a:spcPts val="400"/>
              </a:spcAft>
            </a:pPr>
            <a:r>
              <a:rPr sz="1400" b="0">
                <a:solidFill>
                  <a:srgbClr val="1F2A3A"/>
                </a:solidFill>
                <a:latin typeface="맑은 고딕"/>
                <a:ea typeface="맑은 고딕"/>
                <a:cs typeface="맑은 고딕"/>
              </a:rPr>
              <a:t>그 프로그램이 내주는 도구의 이름이다</a:t>
            </a:r>
          </a:p>
        </p:txBody>
      </p:sp>
      <p:sp>
        <p:nvSpPr>
          <p:cNvPr id="14" name="Oval 13"/>
          <p:cNvSpPr/>
          <p:nvPr/>
        </p:nvSpPr>
        <p:spPr>
          <a:xfrm>
            <a:off x="8127796" y="4071620"/>
            <a:ext cx="731520" cy="731520"/>
          </a:xfrm>
          <a:prstGeom prst="ellipse">
            <a:avLst/>
          </a:prstGeom>
          <a:solidFill>
            <a:srgbClr val="E7F3FD"/>
          </a:solidFill>
          <a:ln>
            <a:noFill/>
          </a:ln>
        </p:spPr>
        <p:txBody>
          <a:bodyPr rtlCol="0" anchor="ctr"/>
          <a:lstStyle/>
          <a:p>
            <a:pPr algn="ctr"/>
          </a:p>
        </p:txBody>
      </p:sp>
      <p:pic>
        <p:nvPicPr>
          <p:cNvPr id="15" name="아이콘:braces" descr="braces_13294B_1.6.png"/>
          <p:cNvPicPr>
            <a:picLocks noChangeAspect="1"/>
          </p:cNvPicPr>
          <p:nvPr/>
        </p:nvPicPr>
        <p:blipFill>
          <a:blip r:embed="rId5"/>
          <a:stretch>
            <a:fillRect/>
          </a:stretch>
        </p:blipFill>
        <p:spPr>
          <a:xfrm>
            <a:off x="8281416" y="4225239"/>
            <a:ext cx="424281" cy="424281"/>
          </a:xfrm>
          <a:prstGeom prst="rect">
            <a:avLst/>
          </a:prstGeom>
        </p:spPr>
      </p:pic>
      <p:sp>
        <p:nvSpPr>
          <p:cNvPr id="16" name="TextBox 15"/>
          <p:cNvSpPr txBox="1"/>
          <p:nvPr/>
        </p:nvSpPr>
        <p:spPr>
          <a:xfrm>
            <a:off x="8950756"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asset, pattern, alert_id</a:t>
            </a:r>
          </a:p>
          <a:p>
            <a:pPr algn="l">
              <a:lnSpc>
                <a:spcPct val="110000"/>
              </a:lnSpc>
              <a:spcAft>
                <a:spcPts val="400"/>
              </a:spcAft>
            </a:pPr>
            <a:r>
              <a:rPr sz="1400" b="0">
                <a:solidFill>
                  <a:srgbClr val="1F2A3A"/>
                </a:solidFill>
                <a:latin typeface="맑은 고딕"/>
                <a:ea typeface="맑은 고딕"/>
                <a:cs typeface="맑은 고딕"/>
              </a:rPr>
              <a:t>도구에 넘길 값의 이름이다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시스템마다 따로 잇는 방식과 표준을 거치는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 애플리케이션과 시스템을 하나씩 따로 이으면 연결의 수가 둘의 곱으로 늘고, 표준이 있으면 양쪽이 한 번씩만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연결의수.svg" descr="illust_1838324796556139237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따로 잇는 방식</a:t>
            </a:r>
          </a:p>
          <a:p>
            <a:pPr algn="ctr">
              <a:lnSpc>
                <a:spcPct val="110000"/>
              </a:lnSpc>
              <a:spcAft>
                <a:spcPts val="100"/>
              </a:spcAft>
            </a:pPr>
            <a:r>
              <a:rPr sz="1300" b="0">
                <a:solidFill>
                  <a:srgbClr val="556175"/>
                </a:solidFill>
                <a:latin typeface="맑은 고딕"/>
                <a:ea typeface="맑은 고딕"/>
                <a:cs typeface="맑은 고딕"/>
              </a:rPr>
              <a:t>애플리케이션 3 × 시스템 3 = 연결 9</a:t>
            </a:r>
          </a:p>
        </p:txBody>
      </p:sp>
      <p:sp>
        <p:nvSpPr>
          <p:cNvPr id="8" name="TextBox 7"/>
          <p:cNvSpPr txBox="1"/>
          <p:nvPr/>
        </p:nvSpPr>
        <p:spPr>
          <a:xfrm>
            <a:off x="6532227"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표준을 거치는 방식</a:t>
            </a:r>
          </a:p>
          <a:p>
            <a:pPr algn="ctr">
              <a:lnSpc>
                <a:spcPct val="110000"/>
              </a:lnSpc>
              <a:spcAft>
                <a:spcPts val="100"/>
              </a:spcAft>
            </a:pPr>
            <a:r>
              <a:rPr sz="1300" b="0">
                <a:solidFill>
                  <a:srgbClr val="556175"/>
                </a:solidFill>
                <a:latin typeface="맑은 고딕"/>
                <a:ea typeface="맑은 고딕"/>
                <a:cs typeface="맑은 고딕"/>
              </a:rPr>
              <a:t>양쪽이 표준에 한 번씩만 맞춘다</a:t>
            </a:r>
          </a:p>
        </p:txBody>
      </p:sp>
      <p:sp>
        <p:nvSpPr>
          <p:cNvPr id="9" name="TextBox 8"/>
          <p:cNvSpPr txBox="1"/>
          <p:nvPr/>
        </p:nvSpPr>
        <p:spPr>
          <a:xfrm>
            <a:off x="772014"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0" name="TextBox 9"/>
          <p:cNvSpPr txBox="1"/>
          <p:nvPr/>
        </p:nvSpPr>
        <p:spPr>
          <a:xfrm>
            <a:off x="4153957"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6226761"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2" name="TextBox 11"/>
          <p:cNvSpPr txBox="1"/>
          <p:nvPr/>
        </p:nvSpPr>
        <p:spPr>
          <a:xfrm>
            <a:off x="8168651" y="5905972"/>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표준 규약</a:t>
            </a:r>
          </a:p>
        </p:txBody>
      </p:sp>
      <p:sp>
        <p:nvSpPr>
          <p:cNvPr id="13" name="TextBox 12"/>
          <p:cNvSpPr txBox="1"/>
          <p:nvPr/>
        </p:nvSpPr>
        <p:spPr>
          <a:xfrm>
            <a:off x="9783256"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 AI 애플리케이션과 외부 도구를 잇는 개방형 프로토콜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MCP는 AI 애플리케이션이 외부의 도구와 데이터에 연결하는 방식을 하나로 정한 개방형 프로토콜이다.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MCP</a:t>
            </a:r>
          </a:p>
          <a:p>
            <a:pPr algn="l">
              <a:lnSpc>
                <a:spcPct val="110000"/>
              </a:lnSpc>
              <a:spcAft>
                <a:spcPts val="200"/>
              </a:spcAft>
            </a:pPr>
            <a:r>
              <a:rPr sz="1150" b="0">
                <a:solidFill>
                  <a:srgbClr val="556175"/>
                </a:solidFill>
                <a:latin typeface="맑은 고딕"/>
                <a:ea typeface="맑은 고딕"/>
                <a:cs typeface="맑은 고딕"/>
              </a:rPr>
              <a:t>Model Context Protocol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AI 애플리케이션이 외부 도구와 데이터에 연결하는 방식을 정한 개방형 프로토콜이다.</a:t>
            </a:r>
          </a:p>
          <a:p>
            <a:pPr algn="l">
              <a:lnSpc>
                <a:spcPct val="110000"/>
              </a:lnSpc>
              <a:spcAft>
                <a:spcPts val="300"/>
              </a:spcAft>
            </a:pPr>
            <a:r>
              <a:rPr sz="1400" b="0">
                <a:solidFill>
                  <a:srgbClr val="1F2A3A"/>
                </a:solidFill>
                <a:latin typeface="맑은 고딕"/>
                <a:ea typeface="맑은 고딕"/>
                <a:cs typeface="맑은 고딕"/>
              </a:rPr>
              <a:t>이 규약에 맞춘 서버는 규약을 따르는 어느 애플리케이션에도 붙는다.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JSON-RPC 2.0</a:t>
            </a:r>
          </a:p>
          <a:p>
            <a:pPr algn="l">
              <a:lnSpc>
                <a:spcPct val="110000"/>
              </a:lnSpc>
              <a:spcAft>
                <a:spcPts val="200"/>
              </a:spcAft>
            </a:pPr>
            <a:r>
              <a:rPr sz="1150" b="0">
                <a:solidFill>
                  <a:srgbClr val="556175"/>
                </a:solidFill>
                <a:latin typeface="맑은 고딕"/>
                <a:ea typeface="맑은 고딕"/>
                <a:cs typeface="맑은 고딕"/>
              </a:rPr>
              <a:t>JSON Remote Procedure Call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MCP가 메시지를 주고받는 형식이다.</a:t>
            </a:r>
          </a:p>
          <a:p>
            <a:pPr algn="l">
              <a:lnSpc>
                <a:spcPct val="110000"/>
              </a:lnSpc>
              <a:spcAft>
                <a:spcPts val="300"/>
              </a:spcAft>
            </a:pPr>
            <a:r>
              <a:rPr sz="1400" b="0">
                <a:solidFill>
                  <a:srgbClr val="1F2A3A"/>
                </a:solidFill>
                <a:latin typeface="맑은 고딕"/>
                <a:ea typeface="맑은 고딕"/>
                <a:cs typeface="맑은 고딕"/>
              </a:rPr>
              <a:t>요청에는 부를 기능의 이름과 넘길 값이, 응답에는 결과나 오류가 담긴다.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a:t>
            </a:r>
          </a:p>
          <a:p>
            <a:pPr algn="l">
              <a:lnSpc>
                <a:spcPct val="110000"/>
              </a:lnSpc>
              <a:spcAft>
                <a:spcPts val="200"/>
              </a:spcAft>
            </a:pPr>
            <a:r>
              <a:rPr sz="1150" b="0">
                <a:solidFill>
                  <a:srgbClr val="556175"/>
                </a:solidFill>
                <a:latin typeface="맑은 고딕"/>
                <a:ea typeface="맑은 고딕"/>
                <a:cs typeface="맑은 고딕"/>
              </a:rPr>
              <a:t>규격 단자</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규격이 같은 단자처럼, 만든 곳이 달라도 규약이 같으면 연결된다.</a:t>
            </a:r>
          </a:p>
          <a:p>
            <a:pPr algn="l">
              <a:lnSpc>
                <a:spcPct val="110000"/>
              </a:lnSpc>
              <a:spcAft>
                <a:spcPts val="300"/>
              </a:spcAft>
            </a:pPr>
            <a:r>
              <a:rPr sz="1400" b="0">
                <a:solidFill>
                  <a:srgbClr val="1F2A3A"/>
                </a:solidFill>
                <a:latin typeface="맑은 고딕"/>
                <a:ea typeface="맑은 고딕"/>
                <a:cs typeface="맑은 고딕"/>
              </a:rPr>
              <a:t>다른 점: 연결한 뒤에 무엇을 할 수 있는지를 서로 묻고 답한다.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네 구성요소: 호스트, 클라이언트, 서버,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호스트는 서버마다 클라이언트를 하나씩 두어 연결하고, 서버는 뒤에 있는 시스템의 기능을 도구로 내준다.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MCP구성.svg" descr="illust_388268780624301403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42936" y="1722180"/>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호스트</a:t>
            </a:r>
          </a:p>
          <a:p>
            <a:pPr algn="ctr">
              <a:lnSpc>
                <a:spcPct val="110000"/>
              </a:lnSpc>
              <a:spcAft>
                <a:spcPts val="100"/>
              </a:spcAft>
            </a:pPr>
            <a:r>
              <a:rPr sz="1100" b="0">
                <a:solidFill>
                  <a:srgbClr val="556175"/>
                </a:solidFill>
                <a:latin typeface="맑은 고딕"/>
                <a:ea typeface="맑은 고딕"/>
                <a:cs typeface="맑은 고딕"/>
              </a:rPr>
              <a:t>모델과 클라이언트를 가진 애플리케이션</a:t>
            </a:r>
          </a:p>
        </p:txBody>
      </p:sp>
      <p:sp>
        <p:nvSpPr>
          <p:cNvPr id="8" name="TextBox 7"/>
          <p:cNvSpPr txBox="1"/>
          <p:nvPr/>
        </p:nvSpPr>
        <p:spPr>
          <a:xfrm>
            <a:off x="6390403" y="1722180"/>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서버</a:t>
            </a:r>
          </a:p>
          <a:p>
            <a:pPr algn="ctr">
              <a:lnSpc>
                <a:spcPct val="110000"/>
              </a:lnSpc>
              <a:spcAft>
                <a:spcPts val="100"/>
              </a:spcAft>
            </a:pPr>
            <a:r>
              <a:rPr sz="1100" b="0">
                <a:solidFill>
                  <a:srgbClr val="556175"/>
                </a:solidFill>
                <a:latin typeface="맑은 고딕"/>
                <a:ea typeface="맑은 고딕"/>
                <a:cs typeface="맑은 고딕"/>
              </a:rPr>
              <a:t>시스템의 기능을 도구로 내주는 프로그램</a:t>
            </a:r>
          </a:p>
        </p:txBody>
      </p:sp>
      <p:sp>
        <p:nvSpPr>
          <p:cNvPr id="9" name="TextBox 8"/>
          <p:cNvSpPr txBox="1"/>
          <p:nvPr/>
        </p:nvSpPr>
        <p:spPr>
          <a:xfrm>
            <a:off x="9783256" y="186400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022932" y="4842296"/>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모델</a:t>
            </a:r>
          </a:p>
          <a:p>
            <a:pPr algn="ctr">
              <a:lnSpc>
                <a:spcPct val="110000"/>
              </a:lnSpc>
              <a:spcAft>
                <a:spcPts val="100"/>
              </a:spcAft>
            </a:pPr>
            <a:r>
              <a:rPr sz="1100" b="0">
                <a:solidFill>
                  <a:srgbClr val="556175"/>
                </a:solidFill>
                <a:latin typeface="맑은 고딕"/>
                <a:ea typeface="맑은 고딕"/>
                <a:cs typeface="맑은 고딕"/>
              </a:rPr>
              <a:t>부를 도구를 고른다</a:t>
            </a:r>
          </a:p>
        </p:txBody>
      </p:sp>
      <p:sp>
        <p:nvSpPr>
          <p:cNvPr id="11" name="TextBox 10"/>
          <p:cNvSpPr txBox="1"/>
          <p:nvPr/>
        </p:nvSpPr>
        <p:spPr>
          <a:xfrm>
            <a:off x="4153957" y="2407660"/>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클라이언트</a:t>
            </a:r>
          </a:p>
        </p:txBody>
      </p:sp>
      <p:sp>
        <p:nvSpPr>
          <p:cNvPr id="12" name="TextBox 11"/>
          <p:cNvSpPr txBox="1"/>
          <p:nvPr/>
        </p:nvSpPr>
        <p:spPr>
          <a:xfrm>
            <a:off x="6554046" y="3480791"/>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neo4j · 조회 도구</a:t>
            </a:r>
          </a:p>
        </p:txBody>
      </p:sp>
      <p:sp>
        <p:nvSpPr>
          <p:cNvPr id="13" name="TextBox 12"/>
          <p:cNvSpPr txBox="1"/>
          <p:nvPr/>
        </p:nvSpPr>
        <p:spPr>
          <a:xfrm>
            <a:off x="6554046" y="4709928"/>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hyd-dmn · 도구 16개</a:t>
            </a:r>
          </a:p>
        </p:txBody>
      </p:sp>
      <p:sp>
        <p:nvSpPr>
          <p:cNvPr id="14" name="TextBox 13"/>
          <p:cNvSpPr txBox="1"/>
          <p:nvPr/>
        </p:nvSpPr>
        <p:spPr>
          <a:xfrm>
            <a:off x="6554046" y="5929609"/>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enterprise · 도구 14개</a:t>
            </a:r>
          </a:p>
        </p:txBody>
      </p:sp>
      <p:sp>
        <p:nvSpPr>
          <p:cNvPr id="15" name="TextBox 14"/>
          <p:cNvSpPr txBox="1"/>
          <p:nvPr/>
        </p:nvSpPr>
        <p:spPr>
          <a:xfrm>
            <a:off x="9728709" y="3353150"/>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 그래프</a:t>
            </a:r>
          </a:p>
        </p:txBody>
      </p:sp>
      <p:sp>
        <p:nvSpPr>
          <p:cNvPr id="16" name="TextBox 15"/>
          <p:cNvSpPr txBox="1"/>
          <p:nvPr/>
        </p:nvSpPr>
        <p:spPr>
          <a:xfrm>
            <a:off x="9728709" y="4582287"/>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판단 엔진</a:t>
            </a:r>
          </a:p>
        </p:txBody>
      </p:sp>
      <p:sp>
        <p:nvSpPr>
          <p:cNvPr id="17" name="TextBox 16"/>
          <p:cNvSpPr txBox="1"/>
          <p:nvPr/>
        </p:nvSpPr>
        <p:spPr>
          <a:xfrm>
            <a:off x="9728709" y="5811423"/>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업무 DB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구성요소의 정의와 HYD의 대응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HYD에서는 에이전트를 실행하는 Claude Code가 호스트의 자리에, 시스템 앞에 놓인 프로그램들이 서버의 자리에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호스트</a:t>
            </a:r>
          </a:p>
          <a:p>
            <a:pPr algn="l">
              <a:lnSpc>
                <a:spcPct val="110000"/>
              </a:lnSpc>
              <a:spcAft>
                <a:spcPts val="200"/>
              </a:spcAft>
            </a:pPr>
            <a:r>
              <a:rPr sz="1150" b="0">
                <a:solidFill>
                  <a:srgbClr val="556175"/>
                </a:solidFill>
                <a:latin typeface="맑은 고딕"/>
                <a:ea typeface="맑은 고딕"/>
                <a:cs typeface="맑은 고딕"/>
              </a:rPr>
              <a:t>Host</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모델을 가지고 사용자의 일을 수행하는 애플리케이션이다. 클라이언트를 만들고 관리한다.</a:t>
            </a:r>
          </a:p>
          <a:p>
            <a:pPr algn="l">
              <a:lnSpc>
                <a:spcPct val="110000"/>
              </a:lnSpc>
              <a:spcAft>
                <a:spcPts val="300"/>
              </a:spcAft>
            </a:pPr>
            <a:r>
              <a:rPr sz="1400" b="0">
                <a:solidFill>
                  <a:srgbClr val="1F2A3A"/>
                </a:solidFill>
                <a:latin typeface="맑은 고딕"/>
                <a:ea typeface="맑은 고딕"/>
                <a:cs typeface="맑은 고딕"/>
              </a:rPr>
              <a:t>HYD: 에이전트를 실행하는 Claude Code</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클라이언트</a:t>
            </a:r>
          </a:p>
          <a:p>
            <a:pPr algn="l">
              <a:lnSpc>
                <a:spcPct val="110000"/>
              </a:lnSpc>
              <a:spcAft>
                <a:spcPts val="200"/>
              </a:spcAft>
            </a:pPr>
            <a:r>
              <a:rPr sz="1150" b="0">
                <a:solidFill>
                  <a:srgbClr val="556175"/>
                </a:solidFill>
                <a:latin typeface="맑은 고딕"/>
                <a:ea typeface="맑은 고딕"/>
                <a:cs typeface="맑은 고딕"/>
              </a:rPr>
              <a:t>Client</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호스트 안에서 서버 하나와 일대일로 연결을 유지한다.</a:t>
            </a:r>
          </a:p>
          <a:p>
            <a:pPr algn="l">
              <a:lnSpc>
                <a:spcPct val="110000"/>
              </a:lnSpc>
              <a:spcAft>
                <a:spcPts val="300"/>
              </a:spcAft>
            </a:pPr>
            <a:r>
              <a:rPr sz="1400" b="0">
                <a:solidFill>
                  <a:srgbClr val="1F2A3A"/>
                </a:solidFill>
                <a:latin typeface="맑은 고딕"/>
                <a:ea typeface="맑은 고딕"/>
                <a:cs typeface="맑은 고딕"/>
              </a:rPr>
              <a:t>HYD: 연결한 서버의 수만큼 생긴다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서버</a:t>
            </a:r>
          </a:p>
          <a:p>
            <a:pPr algn="l">
              <a:lnSpc>
                <a:spcPct val="110000"/>
              </a:lnSpc>
              <a:spcAft>
                <a:spcPts val="200"/>
              </a:spcAft>
            </a:pPr>
            <a:r>
              <a:rPr sz="1150" b="0">
                <a:solidFill>
                  <a:srgbClr val="556175"/>
                </a:solidFill>
                <a:latin typeface="맑은 고딕"/>
                <a:ea typeface="맑은 고딕"/>
                <a:cs typeface="맑은 고딕"/>
              </a:rPr>
              <a:t>Server</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시스템의 기능을 도구로 내주는 프로그램이다.</a:t>
            </a:r>
          </a:p>
          <a:p>
            <a:pPr algn="l">
              <a:lnSpc>
                <a:spcPct val="110000"/>
              </a:lnSpc>
              <a:spcAft>
                <a:spcPts val="300"/>
              </a:spcAft>
            </a:pPr>
            <a:r>
              <a:rPr sz="1400" b="0">
                <a:solidFill>
                  <a:srgbClr val="1F2A3A"/>
                </a:solidFill>
                <a:latin typeface="맑은 고딕"/>
                <a:ea typeface="맑은 고딕"/>
                <a:cs typeface="맑은 고딕"/>
              </a:rPr>
              <a:t>HYD: neo4j, hyd-dmn, enterprise</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도구</a:t>
            </a:r>
          </a:p>
          <a:p>
            <a:pPr algn="l">
              <a:lnSpc>
                <a:spcPct val="110000"/>
              </a:lnSpc>
              <a:spcAft>
                <a:spcPts val="200"/>
              </a:spcAft>
            </a:pPr>
            <a:r>
              <a:rPr sz="1150" b="0">
                <a:solidFill>
                  <a:srgbClr val="556175"/>
                </a:solidFill>
                <a:latin typeface="맑은 고딕"/>
                <a:ea typeface="맑은 고딕"/>
                <a:cs typeface="맑은 고딕"/>
              </a:rPr>
              <a:t>Tool</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내주는 호출할 수 있는 기능이다. 이름, 설명, 입력 스키마를 가진다.</a:t>
            </a:r>
          </a:p>
          <a:p>
            <a:pPr algn="l">
              <a:lnSpc>
                <a:spcPct val="110000"/>
              </a:lnSpc>
              <a:spcAft>
                <a:spcPts val="300"/>
              </a:spcAft>
            </a:pPr>
            <a:r>
              <a:rPr sz="1400" b="0">
                <a:solidFill>
                  <a:srgbClr val="1F2A3A"/>
                </a:solidFill>
                <a:latin typeface="맑은 고딕"/>
                <a:ea typeface="맑은 고딕"/>
                <a:cs typeface="맑은 고딕"/>
              </a:rPr>
              <a:t>HYD: diagnose, evaluate_cards, mes_orders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목록의 발견과 호출: tools/list와 tools/call</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도구를 호출하기 전에 클라이언트는 서버에 목록을 먼저 물어, 어떤 도구가 있고 무엇을 넘겨야 하는지를 알아낸다.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목록호출.svg" descr="illust_2788587839240657667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350328" y="200582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8" name="TextBox 7"/>
          <p:cNvSpPr txBox="1"/>
          <p:nvPr/>
        </p:nvSpPr>
        <p:spPr>
          <a:xfrm>
            <a:off x="9423243" y="2005827"/>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hyd-dmn</a:t>
            </a:r>
          </a:p>
        </p:txBody>
      </p:sp>
      <p:sp>
        <p:nvSpPr>
          <p:cNvPr id="9" name="TextBox 8"/>
          <p:cNvSpPr txBox="1"/>
          <p:nvPr/>
        </p:nvSpPr>
        <p:spPr>
          <a:xfrm>
            <a:off x="1132027" y="309314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연결</a:t>
            </a:r>
          </a:p>
        </p:txBody>
      </p:sp>
      <p:sp>
        <p:nvSpPr>
          <p:cNvPr id="10" name="TextBox 9"/>
          <p:cNvSpPr txBox="1"/>
          <p:nvPr/>
        </p:nvSpPr>
        <p:spPr>
          <a:xfrm>
            <a:off x="1132027" y="4227728"/>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발견</a:t>
            </a:r>
          </a:p>
        </p:txBody>
      </p:sp>
      <p:sp>
        <p:nvSpPr>
          <p:cNvPr id="11" name="TextBox 10"/>
          <p:cNvSpPr txBox="1"/>
          <p:nvPr/>
        </p:nvSpPr>
        <p:spPr>
          <a:xfrm>
            <a:off x="1132027" y="535286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a:t>
            </a:r>
          </a:p>
        </p:txBody>
      </p:sp>
      <p:sp>
        <p:nvSpPr>
          <p:cNvPr id="12" name="TextBox 11"/>
          <p:cNvSpPr txBox="1"/>
          <p:nvPr/>
        </p:nvSpPr>
        <p:spPr>
          <a:xfrm>
            <a:off x="4186685" y="2790584"/>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initialize</a:t>
            </a:r>
          </a:p>
        </p:txBody>
      </p:sp>
      <p:sp>
        <p:nvSpPr>
          <p:cNvPr id="13" name="TextBox 12"/>
          <p:cNvSpPr txBox="1"/>
          <p:nvPr/>
        </p:nvSpPr>
        <p:spPr>
          <a:xfrm>
            <a:off x="3859401" y="3282238"/>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규약의 판 2025-06-18, 서버 이름 hyd-dmn</a:t>
            </a:r>
          </a:p>
        </p:txBody>
      </p:sp>
      <p:sp>
        <p:nvSpPr>
          <p:cNvPr id="14" name="TextBox 13"/>
          <p:cNvSpPr txBox="1"/>
          <p:nvPr/>
        </p:nvSpPr>
        <p:spPr>
          <a:xfrm>
            <a:off x="4186685" y="3920444"/>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tools/list</a:t>
            </a:r>
          </a:p>
        </p:txBody>
      </p:sp>
      <p:sp>
        <p:nvSpPr>
          <p:cNvPr id="15" name="TextBox 14"/>
          <p:cNvSpPr txBox="1"/>
          <p:nvPr/>
        </p:nvSpPr>
        <p:spPr>
          <a:xfrm>
            <a:off x="3859401" y="4407371"/>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16개의 이름, 설명, 입력 스키마</a:t>
            </a:r>
          </a:p>
        </p:txBody>
      </p:sp>
      <p:sp>
        <p:nvSpPr>
          <p:cNvPr id="16" name="TextBox 15"/>
          <p:cNvSpPr txBox="1"/>
          <p:nvPr/>
        </p:nvSpPr>
        <p:spPr>
          <a:xfrm>
            <a:off x="4186685" y="5045576"/>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tools/call</a:t>
            </a:r>
            <a:r>
              <a:rPr sz="1600" b="1">
                <a:solidFill>
                  <a:srgbClr val="13294B"/>
                </a:solidFill>
                <a:latin typeface="맑은 고딕"/>
                <a:ea typeface="맑은 고딕"/>
                <a:cs typeface="맑은 고딕"/>
              </a:rPr>
              <a:t> — diagnose와 입력</a:t>
            </a:r>
          </a:p>
        </p:txBody>
      </p:sp>
      <p:sp>
        <p:nvSpPr>
          <p:cNvPr id="17" name="TextBox 16"/>
          <p:cNvSpPr txBox="1"/>
          <p:nvPr/>
        </p:nvSpPr>
        <p:spPr>
          <a:xfrm>
            <a:off x="4186685" y="5537231"/>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정의 한 건: part_quotes</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모델이 도구를 부를지 정할 때 읽는 것은 도구 목록의 항목에 든 이름과 설명과 입력 스키마이다.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"part_quotes",</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견적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단가</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만원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리드타임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"input_schema": {</a:t>
            </a:r>
          </a:p>
          <a:p>
            <a:pPr algn="l">
              <a:lnSpc>
                <a:spcPct val="110000"/>
              </a:lnSpc>
              <a:spcAft>
                <a:spcPts val="200"/>
              </a:spcAft>
            </a:pPr>
            <a:r>
              <a:rPr sz="1300" b="0">
                <a:solidFill>
                  <a:srgbClr val="E8EEF6"/>
                </a:solidFill>
                <a:latin typeface="Consolas"/>
                <a:ea typeface="맑은 고딕"/>
                <a:cs typeface="맑은 고딕"/>
              </a:rPr>
              <a:t>    "type": "object",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"part": {</a:t>
            </a:r>
          </a:p>
          <a:p>
            <a:pPr algn="l">
              <a:lnSpc>
                <a:spcPct val="110000"/>
              </a:lnSpc>
              <a:spcAft>
                <a:spcPts val="200"/>
              </a:spcAft>
            </a:pPr>
            <a:r>
              <a:rPr sz="1300" b="0">
                <a:solidFill>
                  <a:srgbClr val="E8EEF6"/>
                </a:solidFill>
                <a:latin typeface="Consolas"/>
                <a:ea typeface="맑은 고딕"/>
                <a:cs typeface="맑은 고딕"/>
              </a:rPr>
              <a:t>        "type": "string",</a:t>
            </a:r>
          </a:p>
          <a:p>
            <a:pPr algn="l">
              <a:lnSpc>
                <a:spcPct val="110000"/>
              </a:lnSpc>
              <a:spcAft>
                <a:spcPts val="200"/>
              </a:spcAft>
            </a:pPr>
            <a:r>
              <a:rPr sz="1300" b="0">
                <a:solidFill>
                  <a:srgbClr val="E8EEF6"/>
                </a:solidFill>
                <a:latin typeface="Consolas"/>
                <a:ea typeface="맑은 고딕"/>
                <a:cs typeface="맑은 고딕"/>
              </a:rPr>
              <a:t>        "default": "P-PMP-SEAL",</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번호</a:t>
            </a:r>
            <a:r>
              <a:rPr sz="1300" b="0">
                <a:solidFill>
                  <a:srgbClr val="E8EEF6"/>
                </a:solidFill>
                <a:latin typeface="Consolas"/>
                <a:ea typeface="맑은 고딕"/>
                <a:cs typeface="맑은 고딕"/>
              </a:rPr>
              <a:t>" } } },</a:t>
            </a:r>
          </a:p>
          <a:p>
            <a:pPr algn="l">
              <a:lnSpc>
                <a:spcPct val="110000"/>
              </a:lnSpc>
              <a:spcAft>
                <a:spcPts val="200"/>
              </a:spcAft>
            </a:pPr>
            <a:r>
              <a:rPr sz="1300" b="0">
                <a:solidFill>
                  <a:srgbClr val="E8EEF6"/>
                </a:solidFill>
                <a:latin typeface="Consolas"/>
                <a:ea typeface="맑은 고딕"/>
                <a:cs typeface="맑은 고딕"/>
              </a:rPr>
              <a:t>  "annotations": { "readOnlyHint": true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호출할 때 쓰는 도구의 이름이다.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모델이 읽고 부를지를 정하는 글이다.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input_schema</a:t>
            </a:r>
          </a:p>
          <a:p>
            <a:pPr algn="l">
              <a:lnSpc>
                <a:spcPct val="110000"/>
              </a:lnSpc>
              <a:spcAft>
                <a:spcPts val="400"/>
              </a:spcAft>
            </a:pPr>
            <a:r>
              <a:rPr sz="1400" b="0">
                <a:solidFill>
                  <a:srgbClr val="1F2A3A"/>
                </a:solidFill>
                <a:latin typeface="맑은 고딕"/>
                <a:ea typeface="맑은 고딕"/>
                <a:cs typeface="맑은 고딕"/>
              </a:rPr>
              <a:t>넘길 값의 이름, 형, 기본값을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annotations</a:t>
            </a:r>
          </a:p>
          <a:p>
            <a:pPr algn="l">
              <a:lnSpc>
                <a:spcPct val="110000"/>
              </a:lnSpc>
              <a:spcAft>
                <a:spcPts val="400"/>
              </a:spcAft>
            </a:pPr>
            <a:r>
              <a:rPr sz="1400" b="0">
                <a:solidFill>
                  <a:srgbClr val="1F2A3A"/>
                </a:solidFill>
                <a:latin typeface="맑은 고딕"/>
                <a:ea typeface="맑은 고딕"/>
                <a:cs typeface="맑은 고딕"/>
              </a:rPr>
              <a:t>읽기 전용인지 같은 표시가 붙는다.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한 건의 응답: mes_orders</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mes_orders의 응답은 성공 여부, 읽은 시각, 판단에 쓸 값이 저마다의 자리에 담긴 JSON이다.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"result": "ok",</a:t>
            </a:r>
          </a:p>
          <a:p>
            <a:pPr algn="l">
              <a:lnSpc>
                <a:spcPct val="110000"/>
              </a:lnSpc>
              <a:spcAft>
                <a:spcPts val="200"/>
              </a:spcAft>
            </a:pPr>
            <a:r>
              <a:rPr sz="1300" b="0">
                <a:solidFill>
                  <a:srgbClr val="E8EEF6"/>
                </a:solidFill>
                <a:latin typeface="Consolas"/>
                <a:ea typeface="맑은 고딕"/>
                <a:cs typeface="맑은 고딕"/>
              </a:rPr>
              <a:t>  "document": {</a:t>
            </a:r>
          </a:p>
          <a:p>
            <a:pPr algn="l">
              <a:lnSpc>
                <a:spcPct val="110000"/>
              </a:lnSpc>
              <a:spcAft>
                <a:spcPts val="200"/>
              </a:spcAft>
            </a:pPr>
            <a:r>
              <a:rPr sz="1300" b="0">
                <a:solidFill>
                  <a:srgbClr val="E8EEF6"/>
                </a:solidFill>
                <a:latin typeface="Consolas"/>
                <a:ea typeface="맑은 고딕"/>
                <a:cs typeface="맑은 고딕"/>
              </a:rPr>
              <a:t>    "system": "MES",</a:t>
            </a:r>
          </a:p>
          <a:p>
            <a:pPr algn="l">
              <a:lnSpc>
                <a:spcPct val="110000"/>
              </a:lnSpc>
              <a:spcAft>
                <a:spcPts val="200"/>
              </a:spcAft>
            </a:pPr>
            <a:r>
              <a:rPr sz="1300" b="0">
                <a:solidFill>
                  <a:srgbClr val="E8EEF6"/>
                </a:solidFill>
                <a:latin typeface="Consolas"/>
                <a:ea typeface="맑은 고딕"/>
                <a:cs typeface="맑은 고딕"/>
              </a:rPr>
              <a:t>    "as_of": "2026-10-10T15:19:07</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"facts": {</a:t>
            </a:r>
          </a:p>
          <a:p>
            <a:pPr algn="l">
              <a:lnSpc>
                <a:spcPct val="110000"/>
              </a:lnSpc>
              <a:spcAft>
                <a:spcPts val="200"/>
              </a:spcAft>
            </a:pPr>
            <a:r>
              <a:rPr sz="1300" b="0">
                <a:solidFill>
                  <a:srgbClr val="E8EEF6"/>
                </a:solidFill>
                <a:latin typeface="Consolas"/>
                <a:ea typeface="맑은 고딕"/>
                <a:cs typeface="맑은 고딕"/>
              </a:rPr>
              <a:t>      "order_id": "MO-0930-0412",</a:t>
            </a:r>
          </a:p>
          <a:p>
            <a:pPr algn="l">
              <a:lnSpc>
                <a:spcPct val="110000"/>
              </a:lnSpc>
              <a:spcAft>
                <a:spcPts val="200"/>
              </a:spcAft>
            </a:pPr>
            <a:r>
              <a:rPr sz="1300" b="0">
                <a:solidFill>
                  <a:srgbClr val="E8EEF6"/>
                </a:solidFill>
                <a:latin typeface="Consolas"/>
                <a:ea typeface="맑은 고딕"/>
                <a:cs typeface="맑은 고딕"/>
              </a:rPr>
              <a:t>      "due_in_h": 5.98,</a:t>
            </a:r>
          </a:p>
          <a:p>
            <a:pPr algn="l">
              <a:lnSpc>
                <a:spcPct val="110000"/>
              </a:lnSpc>
              <a:spcAft>
                <a:spcPts val="200"/>
              </a:spcAft>
            </a:pPr>
            <a:r>
              <a:rPr sz="1300" b="0">
                <a:solidFill>
                  <a:srgbClr val="E8EEF6"/>
                </a:solidFill>
                <a:latin typeface="Consolas"/>
                <a:ea typeface="맑은 고딕"/>
                <a:cs typeface="맑은 고딕"/>
              </a:rPr>
              <a:t>      "remaining_qty": 1500 },</a:t>
            </a:r>
          </a:p>
          <a:p>
            <a:pPr algn="l">
              <a:lnSpc>
                <a:spcPct val="110000"/>
              </a:lnSpc>
              <a:spcAft>
                <a:spcPts val="200"/>
              </a:spcAft>
            </a:pPr>
            <a:r>
              <a:rPr sz="1300" b="0">
                <a:solidFill>
                  <a:srgbClr val="E8EEF6"/>
                </a:solidFill>
                <a:latin typeface="Consolas"/>
                <a:ea typeface="맑은 고딕"/>
                <a:cs typeface="맑은 고딕"/>
              </a:rPr>
              <a:t>    "records": [ { "asset": "HYD-01",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result</a:t>
            </a:r>
          </a:p>
          <a:p>
            <a:pPr algn="l">
              <a:lnSpc>
                <a:spcPct val="110000"/>
              </a:lnSpc>
              <a:spcAft>
                <a:spcPts val="400"/>
              </a:spcAft>
            </a:pPr>
            <a:r>
              <a:rPr sz="1400" b="0">
                <a:solidFill>
                  <a:srgbClr val="1F2A3A"/>
                </a:solidFill>
                <a:latin typeface="맑은 고딕"/>
                <a:ea typeface="맑은 고딕"/>
                <a:cs typeface="맑은 고딕"/>
              </a:rPr>
              <a:t>호출이 성공했는지를 먼저 알린다.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as_of</a:t>
            </a:r>
          </a:p>
          <a:p>
            <a:pPr algn="l">
              <a:lnSpc>
                <a:spcPct val="110000"/>
              </a:lnSpc>
              <a:spcAft>
                <a:spcPts val="400"/>
              </a:spcAft>
            </a:pPr>
            <a:r>
              <a:rPr sz="1400" b="0">
                <a:solidFill>
                  <a:srgbClr val="1F2A3A"/>
                </a:solidFill>
                <a:latin typeface="맑은 고딕"/>
                <a:ea typeface="맑은 고딕"/>
                <a:cs typeface="맑은 고딕"/>
              </a:rPr>
              <a:t>값을 읽은 시각이다.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facts</a:t>
            </a:r>
          </a:p>
          <a:p>
            <a:pPr algn="l">
              <a:lnSpc>
                <a:spcPct val="110000"/>
              </a:lnSpc>
              <a:spcAft>
                <a:spcPts val="400"/>
              </a:spcAft>
            </a:pPr>
            <a:r>
              <a:rPr sz="1400" b="0">
                <a:solidFill>
                  <a:srgbClr val="1F2A3A"/>
                </a:solidFill>
                <a:latin typeface="맑은 고딕"/>
                <a:ea typeface="맑은 고딕"/>
                <a:cs typeface="맑은 고딕"/>
              </a:rPr>
              <a:t>판단에 쓰는 값이다. 납기까지 5.98시간, 남은 수량 1500.</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records</a:t>
            </a:r>
          </a:p>
          <a:p>
            <a:pPr algn="l">
              <a:lnSpc>
                <a:spcPct val="110000"/>
              </a:lnSpc>
              <a:spcAft>
                <a:spcPts val="400"/>
              </a:spcAft>
            </a:pPr>
            <a:r>
              <a:rPr sz="1400" b="0">
                <a:solidFill>
                  <a:srgbClr val="1F2A3A"/>
                </a:solidFill>
                <a:latin typeface="맑은 고딕"/>
                <a:ea typeface="맑은 고딕"/>
                <a:cs typeface="맑은 고딕"/>
              </a:rPr>
              <a:t>업무 DB에서 읽은 원래의 행이다.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요청과 실행의 분리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모델은 도구를 직접 실행하지 않고 부를 도구와 값을 요청으로 내며, 호스트가 그 요청을 확인해 서버에 전달한다.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모델</a:t>
            </a:r>
          </a:p>
          <a:p>
            <a:pPr algn="ctr">
              <a:lnSpc>
                <a:spcPct val="110000"/>
              </a:lnSpc>
              <a:spcAft>
                <a:spcPts val="400"/>
              </a:spcAft>
            </a:pPr>
            <a:r>
              <a:rPr sz="1350" b="0">
                <a:solidFill>
                  <a:srgbClr val="1F2A3A"/>
                </a:solidFill>
                <a:latin typeface="맑은 고딕"/>
                <a:ea typeface="맑은 고딕"/>
                <a:cs typeface="맑은 고딕"/>
              </a:rPr>
              <a:t>부를 도구의 이름과</a:t>
            </a:r>
          </a:p>
          <a:p>
            <a:pPr algn="ctr">
              <a:lnSpc>
                <a:spcPct val="110000"/>
              </a:lnSpc>
              <a:spcAft>
                <a:spcPts val="400"/>
              </a:spcAft>
            </a:pPr>
            <a:r>
              <a:rPr sz="1350" b="0">
                <a:solidFill>
                  <a:srgbClr val="1F2A3A"/>
                </a:solidFill>
                <a:latin typeface="맑은 고딕"/>
                <a:ea typeface="맑은 고딕"/>
                <a:cs typeface="맑은 고딕"/>
              </a:rPr>
              <a:t>입력을 요청으로 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890647"/>
            <a:ext cx="731520" cy="731520"/>
          </a:xfrm>
          <a:prstGeom prst="ellipse">
            <a:avLst/>
          </a:prstGeom>
          <a:solidFill>
            <a:srgbClr val="5CB8F2"/>
          </a:solidFill>
          <a:ln>
            <a:noFill/>
          </a:ln>
        </p:spPr>
        <p:txBody>
          <a:bodyPr rtlCol="0" anchor="ctr"/>
          <a:lstStyle/>
          <a:p>
            <a:pPr algn="ctr"/>
          </a:p>
        </p:txBody>
      </p:sp>
      <p:pic>
        <p:nvPicPr>
          <p:cNvPr id="13" name="아이콘:shield-check" descr="shield-check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호스트</a:t>
            </a:r>
          </a:p>
          <a:p>
            <a:pPr algn="ctr">
              <a:lnSpc>
                <a:spcPct val="110000"/>
              </a:lnSpc>
              <a:spcAft>
                <a:spcPts val="400"/>
              </a:spcAft>
            </a:pPr>
            <a:r>
              <a:rPr sz="1350" b="0">
                <a:solidFill>
                  <a:srgbClr val="1F2A3A"/>
                </a:solidFill>
                <a:latin typeface="맑은 고딕"/>
                <a:ea typeface="맑은 고딕"/>
                <a:cs typeface="맑은 고딕"/>
              </a:rPr>
              <a:t>허용된 도구인지</a:t>
            </a:r>
          </a:p>
          <a:p>
            <a:pPr algn="ctr">
              <a:lnSpc>
                <a:spcPct val="110000"/>
              </a:lnSpc>
              <a:spcAft>
                <a:spcPts val="400"/>
              </a:spcAft>
            </a:pPr>
            <a:r>
              <a:rPr sz="1350" b="0">
                <a:solidFill>
                  <a:srgbClr val="1F2A3A"/>
                </a:solidFill>
                <a:latin typeface="맑은 고딕"/>
                <a:ea typeface="맑은 고딕"/>
                <a:cs typeface="맑은 고딕"/>
              </a:rPr>
              <a:t>확인한다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plug-connected" descr="plug-connected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클라이언트</a:t>
            </a:r>
          </a:p>
          <a:p>
            <a:pPr algn="ctr">
              <a:lnSpc>
                <a:spcPct val="110000"/>
              </a:lnSpc>
              <a:spcAft>
                <a:spcPts val="400"/>
              </a:spcAft>
            </a:pPr>
            <a:r>
              <a:rPr sz="1350" b="0">
                <a:solidFill>
                  <a:srgbClr val="1F2A3A"/>
                </a:solidFill>
                <a:latin typeface="맑은 고딕"/>
                <a:ea typeface="맑은 고딕"/>
                <a:cs typeface="맑은 고딕"/>
              </a:rPr>
              <a:t>tools/call로</a:t>
            </a:r>
          </a:p>
          <a:p>
            <a:pPr algn="ctr">
              <a:lnSpc>
                <a:spcPct val="110000"/>
              </a:lnSpc>
              <a:spcAft>
                <a:spcPts val="400"/>
              </a:spcAft>
            </a:pPr>
            <a:r>
              <a:rPr sz="1350" b="0">
                <a:solidFill>
                  <a:srgbClr val="1F2A3A"/>
                </a:solidFill>
                <a:latin typeface="맑은 고딕"/>
                <a:ea typeface="맑은 고딕"/>
                <a:cs typeface="맑은 고딕"/>
              </a:rPr>
              <a:t>서버에 전달한다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890647"/>
            <a:ext cx="731520" cy="731520"/>
          </a:xfrm>
          <a:prstGeom prst="ellipse">
            <a:avLst/>
          </a:prstGeom>
          <a:solidFill>
            <a:srgbClr val="FFFFFF"/>
          </a:solidFill>
          <a:ln>
            <a:noFill/>
          </a:ln>
        </p:spPr>
        <p:txBody>
          <a:bodyPr rtlCol="0" anchor="ctr"/>
          <a:lstStyle/>
          <a:p>
            <a:pPr algn="ctr"/>
          </a:p>
        </p:txBody>
      </p:sp>
      <p:pic>
        <p:nvPicPr>
          <p:cNvPr id="23" name="아이콘:server" descr="server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서버</a:t>
            </a:r>
          </a:p>
          <a:p>
            <a:pPr algn="ctr">
              <a:lnSpc>
                <a:spcPct val="110000"/>
              </a:lnSpc>
              <a:spcAft>
                <a:spcPts val="400"/>
              </a:spcAft>
            </a:pPr>
            <a:r>
              <a:rPr sz="1350" b="0">
                <a:solidFill>
                  <a:srgbClr val="1F2A3A"/>
                </a:solidFill>
                <a:latin typeface="맑은 고딕"/>
                <a:ea typeface="맑은 고딕"/>
                <a:cs typeface="맑은 고딕"/>
              </a:rPr>
              <a:t>도구를 실행하고</a:t>
            </a:r>
          </a:p>
          <a:p>
            <a:pPr algn="ctr">
              <a:lnSpc>
                <a:spcPct val="110000"/>
              </a:lnSpc>
              <a:spcAft>
                <a:spcPts val="400"/>
              </a:spcAft>
            </a:pPr>
            <a:r>
              <a:rPr sz="1350" b="0">
                <a:solidFill>
                  <a:srgbClr val="1F2A3A"/>
                </a:solidFill>
                <a:latin typeface="맑은 고딕"/>
                <a:ea typeface="맑은 고딕"/>
                <a:cs typeface="맑은 고딕"/>
              </a:rPr>
              <a:t>응답을 돌려준다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수행 방법과 실행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무엇을 어떤 순서로 할지를 적은 글이고, MCP는 그 글에 적힌 도구를 실제로 부를 수 있게 이어 주는 연결이다.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수행 방법을 적은 지침이다</a:t>
            </a:r>
          </a:p>
          <a:p>
            <a:pPr algn="l">
              <a:lnSpc>
                <a:spcPct val="110000"/>
              </a:lnSpc>
              <a:spcAft>
                <a:spcPts val="600"/>
              </a:spcAft>
            </a:pPr>
            <a:r>
              <a:rPr sz="1450" b="0">
                <a:solidFill>
                  <a:srgbClr val="1F2A3A"/>
                </a:solidFill>
                <a:latin typeface="맑은 고딕"/>
                <a:ea typeface="맑은 고딕"/>
                <a:cs typeface="맑은 고딕"/>
              </a:rPr>
              <a:t>• 사람이 읽고 고칠 수 있는 글이다</a:t>
            </a:r>
          </a:p>
          <a:p>
            <a:pPr algn="l">
              <a:lnSpc>
                <a:spcPct val="110000"/>
              </a:lnSpc>
              <a:spcAft>
                <a:spcPts val="600"/>
              </a:spcAft>
            </a:pPr>
            <a:r>
              <a:rPr sz="1450" b="0">
                <a:solidFill>
                  <a:srgbClr val="1F2A3A"/>
                </a:solidFill>
                <a:latin typeface="맑은 고딕"/>
                <a:ea typeface="맑은 고딕"/>
                <a:cs typeface="맑은 고딕"/>
              </a:rPr>
              <a:t>• 스스로는 아무것도 실행하지 않는다</a:t>
            </a:r>
          </a:p>
          <a:p>
            <a:pPr algn="l">
              <a:lnSpc>
                <a:spcPct val="110000"/>
              </a:lnSpc>
              <a:spcAft>
                <a:spcPts val="600"/>
              </a:spcAft>
            </a:pPr>
            <a:r>
              <a:rPr sz="1450" b="0">
                <a:solidFill>
                  <a:srgbClr val="1F2A3A"/>
                </a:solidFill>
                <a:latin typeface="맑은 고딕"/>
                <a:ea typeface="맑은 고딕"/>
                <a:cs typeface="맑은 고딕"/>
              </a:rPr>
              <a:t>• 예: 「diagnose로 원인 1순위를 얻는다」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MCP</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내주고 호출을 받는 연결이다</a:t>
            </a:r>
          </a:p>
          <a:p>
            <a:pPr algn="l">
              <a:lnSpc>
                <a:spcPct val="110000"/>
              </a:lnSpc>
              <a:spcAft>
                <a:spcPts val="600"/>
              </a:spcAft>
            </a:pPr>
            <a:r>
              <a:rPr sz="1450" b="0">
                <a:solidFill>
                  <a:srgbClr val="1F2A3A"/>
                </a:solidFill>
                <a:latin typeface="맑은 고딕"/>
                <a:ea typeface="맑은 고딕"/>
                <a:cs typeface="맑은 고딕"/>
              </a:rPr>
              <a:t>• 서버라는 프로그램이 실제로 일을 한다</a:t>
            </a:r>
          </a:p>
          <a:p>
            <a:pPr algn="l">
              <a:lnSpc>
                <a:spcPct val="110000"/>
              </a:lnSpc>
              <a:spcAft>
                <a:spcPts val="600"/>
              </a:spcAft>
            </a:pPr>
            <a:r>
              <a:rPr sz="1450" b="0">
                <a:solidFill>
                  <a:srgbClr val="1F2A3A"/>
                </a:solidFill>
                <a:latin typeface="맑은 고딕"/>
                <a:ea typeface="맑은 고딕"/>
                <a:cs typeface="맑은 고딕"/>
              </a:rPr>
              <a:t>• 어떤 순서로 부를지는 정하지 않는다</a:t>
            </a:r>
          </a:p>
          <a:p>
            <a:pPr algn="l">
              <a:lnSpc>
                <a:spcPct val="110000"/>
              </a:lnSpc>
              <a:spcAft>
                <a:spcPts val="600"/>
              </a:spcAft>
            </a:pPr>
            <a:r>
              <a:rPr sz="1450" b="0">
                <a:solidFill>
                  <a:srgbClr val="1F2A3A"/>
                </a:solidFill>
                <a:latin typeface="맑은 고딕"/>
                <a:ea typeface="맑은 고딕"/>
                <a:cs typeface="맑은 고딕"/>
              </a:rPr>
              <a:t>• 예: hyd-dmn 서버가 diagnose를 실행해 응답한다</a:t>
            </a:r>
          </a:p>
        </p:txBody>
      </p:sp>
      <p:sp>
        <p:nvSpPr>
          <p:cNvPr id="18" name="Rounded Rectangle 17"/>
          <p:cNvSpPr/>
          <p:nvPr/>
        </p:nvSpPr>
        <p:spPr>
          <a:xfrm>
            <a:off x="6781647" y="5096002"/>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읽는 도구와 쓰는 도구: 잘못 불렀을 때의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읽는 도구를 잘못 부르면 답이 틀리는 데서 그치지만, 쓰는 도구를 잘못 부르면 기록이 바뀌거나 메일이 나간다.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읽는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바꾸지 않는다</a:t>
            </a:r>
          </a:p>
          <a:p>
            <a:pPr algn="l">
              <a:lnSpc>
                <a:spcPct val="110000"/>
              </a:lnSpc>
              <a:spcAft>
                <a:spcPts val="600"/>
              </a:spcAft>
            </a:pPr>
            <a:r>
              <a:rPr sz="1450" b="0">
                <a:solidFill>
                  <a:srgbClr val="1F2A3A"/>
                </a:solidFill>
                <a:latin typeface="맑은 고딕"/>
                <a:ea typeface="맑은 고딕"/>
                <a:cs typeface="맑은 고딕"/>
              </a:rPr>
              <a:t>• 잘못 불렀으면 다시 부르면 된다</a:t>
            </a:r>
          </a:p>
          <a:p>
            <a:pPr algn="l">
              <a:lnSpc>
                <a:spcPct val="110000"/>
              </a:lnSpc>
              <a:spcAft>
                <a:spcPts val="600"/>
              </a:spcAft>
            </a:pPr>
            <a:r>
              <a:rPr sz="1450" b="0">
                <a:solidFill>
                  <a:srgbClr val="1F2A3A"/>
                </a:solidFill>
                <a:latin typeface="맑은 고딕"/>
                <a:ea typeface="맑은 고딕"/>
                <a:cs typeface="맑은 고딕"/>
              </a:rPr>
              <a:t>• 예: mes_orders — 납기 오더를 조회한다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쓰는 도구</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바꾸거나 밖으로 내보낸다</a:t>
            </a:r>
          </a:p>
          <a:p>
            <a:pPr algn="l">
              <a:lnSpc>
                <a:spcPct val="110000"/>
              </a:lnSpc>
              <a:spcAft>
                <a:spcPts val="600"/>
              </a:spcAft>
            </a:pPr>
            <a:r>
              <a:rPr sz="1450" b="0">
                <a:solidFill>
                  <a:srgbClr val="1F2A3A"/>
                </a:solidFill>
                <a:latin typeface="맑은 고딕"/>
                <a:ea typeface="맑은 고딕"/>
                <a:cs typeface="맑은 고딕"/>
              </a:rPr>
              <a:t>• 한 번 실행되면 되돌리기 어렵다</a:t>
            </a:r>
          </a:p>
          <a:p>
            <a:pPr algn="l">
              <a:lnSpc>
                <a:spcPct val="110000"/>
              </a:lnSpc>
              <a:spcAft>
                <a:spcPts val="600"/>
              </a:spcAft>
            </a:pPr>
            <a:r>
              <a:rPr sz="1450" b="0">
                <a:solidFill>
                  <a:srgbClr val="1F2A3A"/>
                </a:solidFill>
                <a:latin typeface="맑은 고딕"/>
                <a:ea typeface="맑은 고딕"/>
                <a:cs typeface="맑은 고딕"/>
              </a:rPr>
              <a:t>• 예: send_mail — 메일을 보낸다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 발송</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readOnlyHint: 도구가 스스로 다는 읽기 전용 표시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readOnlyHint는 도구가 읽기만 하는지를 서버가 스스로 적은 표시여서, 연결하는 쪽이 한 번 더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readOnlyHint</a:t>
            </a:r>
          </a:p>
          <a:p>
            <a:pPr algn="l">
              <a:lnSpc>
                <a:spcPct val="110000"/>
              </a:lnSpc>
              <a:spcAft>
                <a:spcPts val="200"/>
              </a:spcAft>
            </a:pPr>
            <a:r>
              <a:rPr sz="1150" b="0">
                <a:solidFill>
                  <a:srgbClr val="556175"/>
                </a:solidFill>
                <a:latin typeface="맑은 고딕"/>
                <a:ea typeface="맑은 고딕"/>
                <a:cs typeface="맑은 고딕"/>
              </a:rPr>
              <a:t>읽기 전용 표시</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도구 정의의 annotations에 붙는 표시이다.</a:t>
            </a:r>
          </a:p>
          <a:p>
            <a:pPr algn="l">
              <a:lnSpc>
                <a:spcPct val="110000"/>
              </a:lnSpc>
              <a:spcAft>
                <a:spcPts val="300"/>
              </a:spcAft>
            </a:pPr>
            <a:r>
              <a:rPr sz="1400" b="0">
                <a:solidFill>
                  <a:srgbClr val="1F2A3A"/>
                </a:solidFill>
                <a:latin typeface="맑은 고딕"/>
                <a:ea typeface="맑은 고딕"/>
                <a:cs typeface="맑은 고딕"/>
              </a:rPr>
              <a:t>true이면 시스템을 바꾸지 않는 도구라는 뜻이다.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hyd-dmn의 도구</a:t>
            </a:r>
          </a:p>
          <a:p>
            <a:pPr algn="l">
              <a:lnSpc>
                <a:spcPct val="110000"/>
              </a:lnSpc>
              <a:spcAft>
                <a:spcPts val="200"/>
              </a:spcAft>
            </a:pPr>
            <a:r>
              <a:rPr sz="1150" b="0">
                <a:solidFill>
                  <a:srgbClr val="556175"/>
                </a:solidFill>
                <a:latin typeface="맑은 고딕"/>
                <a:ea typeface="맑은 고딕"/>
                <a:cs typeface="맑은 고딕"/>
              </a:rPr>
              <a:t>판단 도구</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16개 가운데 15개가 true이다.</a:t>
            </a:r>
          </a:p>
          <a:p>
            <a:pPr algn="l">
              <a:lnSpc>
                <a:spcPct val="110000"/>
              </a:lnSpc>
              <a:spcAft>
                <a:spcPts val="300"/>
              </a:spcAft>
            </a:pPr>
            <a:r>
              <a:rPr sz="1400" b="0">
                <a:solidFill>
                  <a:srgbClr val="1F2A3A"/>
                </a:solidFill>
                <a:latin typeface="맑은 고딕"/>
                <a:ea typeface="맑은 고딕"/>
                <a:cs typeface="맑은 고딕"/>
              </a:rPr>
              <a:t>submit_decision 하나만 false이다.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enterprise의 도구</a:t>
            </a:r>
          </a:p>
          <a:p>
            <a:pPr algn="l">
              <a:lnSpc>
                <a:spcPct val="110000"/>
              </a:lnSpc>
              <a:spcAft>
                <a:spcPts val="200"/>
              </a:spcAft>
            </a:pPr>
            <a:r>
              <a:rPr sz="1150" b="0">
                <a:solidFill>
                  <a:srgbClr val="556175"/>
                </a:solidFill>
                <a:latin typeface="맑은 고딕"/>
                <a:ea typeface="맑은 고딕"/>
                <a:cs typeface="맑은 고딕"/>
              </a:rPr>
              <a:t>업무 DB 도구</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14개가 모두 true이다.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표시의 성격</a:t>
            </a:r>
          </a:p>
          <a:p>
            <a:pPr algn="l">
              <a:lnSpc>
                <a:spcPct val="110000"/>
              </a:lnSpc>
              <a:spcAft>
                <a:spcPts val="200"/>
              </a:spcAft>
            </a:pPr>
            <a:r>
              <a:rPr sz="1150" b="0">
                <a:solidFill>
                  <a:srgbClr val="556175"/>
                </a:solidFill>
                <a:latin typeface="맑은 고딕"/>
                <a:ea typeface="맑은 고딕"/>
                <a:cs typeface="맑은 고딕"/>
              </a:rPr>
              <a:t>힌트</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스스로 적은 값이다.</a:t>
            </a:r>
          </a:p>
          <a:p>
            <a:pPr algn="l">
              <a:lnSpc>
                <a:spcPct val="110000"/>
              </a:lnSpc>
              <a:spcAft>
                <a:spcPts val="300"/>
              </a:spcAft>
            </a:pPr>
            <a:r>
              <a:rPr sz="1400" b="0">
                <a:solidFill>
                  <a:srgbClr val="1F2A3A"/>
                </a:solidFill>
                <a:latin typeface="맑은 고딕"/>
                <a:ea typeface="맑은 고딕"/>
                <a:cs typeface="맑은 고딕"/>
              </a:rPr>
              <a:t>연결하는 쪽은 표시만 믿지 않고 이름까지 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등록한 서버의 도구가 지나는 세 겹</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학생이 등록한 서버의 도구는 표시, 연결 검사, 허용 목록의 세 겹을 모두 지나야 에이전트가 부를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pic>
        <p:nvPicPr>
          <p:cNvPr id="6" name="삽화:세겹.svg" descr="illust_6269749884118833351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04753" y="1674906"/>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① 도구의 표시</a:t>
            </a:r>
          </a:p>
          <a:p>
            <a:pPr algn="ctr">
              <a:lnSpc>
                <a:spcPct val="110000"/>
              </a:lnSpc>
              <a:spcAft>
                <a:spcPts val="100"/>
              </a:spcAft>
            </a:pPr>
            <a:r>
              <a:rPr sz="1300" b="0">
                <a:solidFill>
                  <a:srgbClr val="556175"/>
                </a:solidFill>
                <a:latin typeface="맑은 고딕"/>
                <a:ea typeface="맑은 고딕"/>
                <a:cs typeface="맑은 고딕"/>
              </a:rPr>
              <a:t>서버가 readOnlyHint를 단다</a:t>
            </a:r>
          </a:p>
        </p:txBody>
      </p:sp>
      <p:sp>
        <p:nvSpPr>
          <p:cNvPr id="8" name="TextBox 7"/>
          <p:cNvSpPr txBox="1"/>
          <p:nvPr/>
        </p:nvSpPr>
        <p:spPr>
          <a:xfrm>
            <a:off x="3979405" y="167490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② 연결 검사</a:t>
            </a:r>
          </a:p>
          <a:p>
            <a:pPr algn="ctr">
              <a:lnSpc>
                <a:spcPct val="110000"/>
              </a:lnSpc>
              <a:spcAft>
                <a:spcPts val="100"/>
              </a:spcAft>
            </a:pPr>
            <a:r>
              <a:rPr sz="1300" b="0">
                <a:solidFill>
                  <a:srgbClr val="556175"/>
                </a:solidFill>
                <a:latin typeface="맑은 고딕"/>
                <a:ea typeface="맑은 고딕"/>
                <a:cs typeface="맑은 고딕"/>
              </a:rPr>
              <a:t>실제로 연결해 본다</a:t>
            </a:r>
          </a:p>
        </p:txBody>
      </p:sp>
      <p:sp>
        <p:nvSpPr>
          <p:cNvPr id="9" name="TextBox 8"/>
          <p:cNvSpPr txBox="1"/>
          <p:nvPr/>
        </p:nvSpPr>
        <p:spPr>
          <a:xfrm>
            <a:off x="6259490" y="167490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③ 허용 목록</a:t>
            </a:r>
          </a:p>
          <a:p>
            <a:pPr algn="ctr">
              <a:lnSpc>
                <a:spcPct val="110000"/>
              </a:lnSpc>
              <a:spcAft>
                <a:spcPts val="100"/>
              </a:spcAft>
            </a:pPr>
            <a:r>
              <a:rPr sz="1300" b="0">
                <a:solidFill>
                  <a:srgbClr val="556175"/>
                </a:solidFill>
                <a:latin typeface="맑은 고딕"/>
                <a:ea typeface="맑은 고딕"/>
                <a:cs typeface="맑은 고딕"/>
              </a:rPr>
              <a:t>통과한 이름만 오른다</a:t>
            </a:r>
          </a:p>
        </p:txBody>
      </p:sp>
      <p:sp>
        <p:nvSpPr>
          <p:cNvPr id="10" name="TextBox 9"/>
          <p:cNvSpPr txBox="1"/>
          <p:nvPr/>
        </p:nvSpPr>
        <p:spPr>
          <a:xfrm>
            <a:off x="1213848" y="328223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part_quotes · true</a:t>
            </a:r>
          </a:p>
        </p:txBody>
      </p:sp>
      <p:sp>
        <p:nvSpPr>
          <p:cNvPr id="11" name="TextBox 10"/>
          <p:cNvSpPr txBox="1"/>
          <p:nvPr/>
        </p:nvSpPr>
        <p:spPr>
          <a:xfrm>
            <a:off x="1213848" y="4511375"/>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send_mail · false</a:t>
            </a:r>
          </a:p>
        </p:txBody>
      </p:sp>
      <p:sp>
        <p:nvSpPr>
          <p:cNvPr id="12" name="TextBox 11"/>
          <p:cNvSpPr txBox="1"/>
          <p:nvPr/>
        </p:nvSpPr>
        <p:spPr>
          <a:xfrm>
            <a:off x="1213848" y="5716874"/>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표시가 없는 도구</a:t>
            </a:r>
          </a:p>
        </p:txBody>
      </p:sp>
      <p:sp>
        <p:nvSpPr>
          <p:cNvPr id="13" name="TextBox 12"/>
          <p:cNvSpPr txBox="1"/>
          <p:nvPr/>
        </p:nvSpPr>
        <p:spPr>
          <a:xfrm>
            <a:off x="9499610" y="4653198"/>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목록의 도구만 부른다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허용 목록: 에이전트가 부를 수 있는 도구의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허용 목록에 없는 도구는 사람의 허락 없이는 실행되지 않으므로, 이 목록이 에이전트가 쓰는 도구의 범위가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허용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목록</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mcp__neo4j__get_neo4j_schema</a:t>
            </a:r>
          </a:p>
          <a:p>
            <a:pPr algn="l">
              <a:lnSpc>
                <a:spcPct val="110000"/>
              </a:lnSpc>
              <a:spcAft>
                <a:spcPts val="200"/>
              </a:spcAft>
            </a:pPr>
            <a:r>
              <a:rPr sz="1300" b="0">
                <a:solidFill>
                  <a:srgbClr val="E8EEF6"/>
                </a:solidFill>
                <a:latin typeface="Consolas"/>
                <a:ea typeface="맑은 고딕"/>
                <a:cs typeface="맑은 고딕"/>
              </a:rPr>
              <a:t>mcp__neo4j__read_neo4j_cypher</a:t>
            </a:r>
          </a:p>
          <a:p>
            <a:pPr algn="l">
              <a:lnSpc>
                <a:spcPct val="110000"/>
              </a:lnSpc>
              <a:spcAft>
                <a:spcPts val="200"/>
              </a:spcAft>
            </a:pPr>
            <a:r>
              <a:rPr sz="1300" b="0">
                <a:solidFill>
                  <a:srgbClr val="E8EEF6"/>
                </a:solidFill>
                <a:latin typeface="Consolas"/>
                <a:ea typeface="맑은 고딕"/>
                <a:cs typeface="맑은 고딕"/>
              </a:rPr>
              <a:t>mcp__hyd-dmn__*</a:t>
            </a:r>
          </a:p>
          <a:p>
            <a:pPr algn="l">
              <a:lnSpc>
                <a:spcPct val="110000"/>
              </a:lnSpc>
              <a:spcAft>
                <a:spcPts val="200"/>
              </a:spcAft>
            </a:pPr>
            <a:r>
              <a:rPr sz="1300" b="0">
                <a:solidFill>
                  <a:srgbClr val="E8EEF6"/>
                </a:solidFill>
                <a:latin typeface="Consolas"/>
                <a:ea typeface="맑은 고딕"/>
                <a:cs typeface="맑은 고딕"/>
              </a:rPr>
              <a:t>mcp__enterprise__*</a:t>
            </a:r>
          </a:p>
          <a:p>
            <a:pPr algn="l">
              <a:lnSpc>
                <a:spcPct val="110000"/>
              </a:lnSpc>
              <a:spcAft>
                <a:spcPts val="200"/>
              </a:spcAft>
            </a:pPr>
            <a:r>
              <a:rPr sz="1300" b="0">
                <a:solidFill>
                  <a:srgbClr val="E8EEF6"/>
                </a:solidFill>
                <a:latin typeface="Consolas"/>
                <a:ea typeface="맑은 고딕"/>
                <a:cs typeface="맑은 고딕"/>
              </a:rPr>
              <a:t>mcp__enterprise-maint__*</a:t>
            </a:r>
          </a:p>
          <a:p>
            <a:pPr algn="l">
              <a:lnSpc>
                <a:spcPct val="110000"/>
              </a:lnSpc>
              <a:spcAft>
                <a:spcPts val="200"/>
              </a:spcAft>
            </a:pPr>
            <a:r>
              <a:rPr sz="1300" b="0">
                <a:solidFill>
                  <a:srgbClr val="E8EEF6"/>
                </a:solidFill>
                <a:latin typeface="Consolas"/>
                <a:ea typeface="맑은 고딕"/>
                <a:cs typeface="맑은 고딕"/>
              </a:rPr>
              <a:t>mcp__enterprise-purchase__*</a:t>
            </a:r>
          </a:p>
          <a:p>
            <a:pPr algn="l">
              <a:lnSpc>
                <a:spcPct val="110000"/>
              </a:lnSpc>
              <a:spcAft>
                <a:spcPts val="200"/>
              </a:spcAft>
            </a:pPr>
            <a:r>
              <a:rPr sz="1300" b="0">
                <a:solidFill>
                  <a:srgbClr val="E8EEF6"/>
                </a:solidFill>
                <a:latin typeface="Consolas"/>
                <a:ea typeface="맑은 고딕"/>
                <a:cs typeface="맑은 고딕"/>
              </a:rPr>
              <a:t>Read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Glob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Grep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Skill</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neo4j</a:t>
            </a:r>
          </a:p>
          <a:p>
            <a:pPr algn="l">
              <a:lnSpc>
                <a:spcPct val="110000"/>
              </a:lnSpc>
              <a:spcAft>
                <a:spcPts val="400"/>
              </a:spcAft>
            </a:pPr>
            <a:r>
              <a:rPr sz="1400" b="0">
                <a:solidFill>
                  <a:srgbClr val="1F2A3A"/>
                </a:solidFill>
                <a:latin typeface="맑은 고딕"/>
                <a:ea typeface="맑은 고딕"/>
                <a:cs typeface="맑은 고딕"/>
              </a:rPr>
              <a:t>조회 도구 둘의 이름만 올린다.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별표</a:t>
            </a:r>
          </a:p>
          <a:p>
            <a:pPr algn="l">
              <a:lnSpc>
                <a:spcPct val="110000"/>
              </a:lnSpc>
              <a:spcAft>
                <a:spcPts val="400"/>
              </a:spcAft>
            </a:pPr>
            <a:r>
              <a:rPr sz="1400" b="0">
                <a:solidFill>
                  <a:srgbClr val="1F2A3A"/>
                </a:solidFill>
                <a:latin typeface="맑은 고딕"/>
                <a:ea typeface="맑은 고딕"/>
                <a:cs typeface="맑은 고딕"/>
              </a:rPr>
              <a:t>그 서버가 내주는 도구 전부를 뜻한다.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학생이 등록한 서버</a:t>
            </a:r>
          </a:p>
          <a:p>
            <a:pPr algn="l">
              <a:lnSpc>
                <a:spcPct val="110000"/>
              </a:lnSpc>
              <a:spcAft>
                <a:spcPts val="400"/>
              </a:spcAft>
            </a:pPr>
            <a:r>
              <a:rPr sz="1400" b="0">
                <a:solidFill>
                  <a:srgbClr val="1F2A3A"/>
                </a:solidFill>
                <a:latin typeface="맑은 고딕"/>
                <a:ea typeface="맑은 고딕"/>
                <a:cs typeface="맑은 고딕"/>
              </a:rPr>
              <a:t>읽기로 인정된 도구의 이름만 오른다. 설정을 고치면 다시 검사한다.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Read · Skill</a:t>
            </a:r>
          </a:p>
          <a:p>
            <a:pPr algn="l">
              <a:lnSpc>
                <a:spcPct val="110000"/>
              </a:lnSpc>
              <a:spcAft>
                <a:spcPts val="400"/>
              </a:spcAft>
            </a:pPr>
            <a:r>
              <a:rPr sz="1400" b="0">
                <a:solidFill>
                  <a:srgbClr val="1F2A3A"/>
                </a:solidFill>
                <a:latin typeface="맑은 고딕"/>
                <a:ea typeface="맑은 고딕"/>
                <a:cs typeface="맑은 고딕"/>
              </a:rPr>
              <a:t>파일 읽기, 스킬 읽기 같은 호스트의 도구이다.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값이 없는 것, 실패한 것, 잘린 것의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조회에 실패한 것을 0이나 빈 값으로 바꾸어 내면, 값이 없다는 틀린 사실이 판단에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응답의 모양</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결과에 적는 법</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없다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ok이고 결과가 0행이다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「없음」을 사실로 적는다</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호출이 실패했다</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error이고</a:t>
            </a:r>
          </a:p>
          <a:p>
            <a:pPr algn="l">
              <a:lnSpc>
                <a:spcPct val="110000"/>
              </a:lnSpc>
            </a:pPr>
            <a:r>
              <a:rPr sz="1400" b="0">
                <a:solidFill>
                  <a:srgbClr val="1F2A3A"/>
                </a:solidFill>
                <a:latin typeface="맑은 고딕"/>
                <a:ea typeface="맑은 고딕"/>
                <a:cs typeface="맑은 고딕"/>
              </a:rPr>
              <a:t>사유가 message에 담겨 온다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실패로 적는다</a:t>
            </a:r>
          </a:p>
          <a:p>
            <a:pPr algn="l">
              <a:lnSpc>
                <a:spcPct val="110000"/>
              </a:lnSpc>
            </a:pPr>
            <a:r>
              <a:rPr sz="1250" b="1">
                <a:solidFill>
                  <a:srgbClr val="1A6FC4"/>
                </a:solidFill>
                <a:latin typeface="맑은 고딕"/>
                <a:ea typeface="맑은 고딕"/>
                <a:cs typeface="맑은 고딕"/>
              </a:rPr>
              <a:t>0이나 빈 값으로 바꾸지 않는다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시간이 넘었다</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정해진 시간 안에 응답하지 못해</a:t>
            </a:r>
          </a:p>
          <a:p>
            <a:pPr algn="l">
              <a:lnSpc>
                <a:spcPct val="110000"/>
              </a:lnSpc>
            </a:pPr>
            <a:r>
              <a:rPr sz="1400" b="0">
                <a:solidFill>
                  <a:srgbClr val="1F2A3A"/>
                </a:solidFill>
                <a:latin typeface="맑은 고딕"/>
                <a:ea typeface="맑은 고딕"/>
                <a:cs typeface="맑은 고딕"/>
              </a:rPr>
              <a:t>오류로 돌아온다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실패로 적는다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응답이 잘렸다</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본문의 일부만 오거나</a:t>
            </a:r>
          </a:p>
          <a:p>
            <a:pPr algn="l">
              <a:lnSpc>
                <a:spcPct val="110000"/>
              </a:lnSpc>
            </a:pPr>
            <a:r>
              <a:rPr sz="1400" b="0">
                <a:solidFill>
                  <a:srgbClr val="1F2A3A"/>
                </a:solidFill>
                <a:latin typeface="맑은 고딕"/>
                <a:ea typeface="맑은 고딕"/>
                <a:cs typeface="맑은 고딕"/>
              </a:rPr>
              <a:t>본문이 전달되지 않는다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읽지 못한 범위를 밝힌다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HYD 업무 도구의 연결과 호출</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MCP 서버의 등록 상태를 확인하고 읽기 도구를 직접 호출한다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확인하는 것과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서버 하나가 연결 검사를 통과해 에이전트에 붙고, 읽기 도구를 부른 호출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server" descr="server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기준 서버 확인</a:t>
            </a:r>
          </a:p>
          <a:p>
            <a:pPr algn="ctr">
              <a:lnSpc>
                <a:spcPct val="110000"/>
              </a:lnSpc>
              <a:spcAft>
                <a:spcPts val="400"/>
              </a:spcAft>
            </a:pPr>
            <a:r>
              <a:rPr sz="1350" b="0">
                <a:solidFill>
                  <a:srgbClr val="1F2A3A"/>
                </a:solidFill>
                <a:latin typeface="맑은 고딕"/>
                <a:ea typeface="맑은 고딕"/>
                <a:cs typeface="맑은 고딕"/>
              </a:rPr>
              <a:t>등록된 서버와</a:t>
            </a:r>
          </a:p>
          <a:p>
            <a:pPr algn="ctr">
              <a:lnSpc>
                <a:spcPct val="110000"/>
              </a:lnSpc>
              <a:spcAft>
                <a:spcPts val="400"/>
              </a:spcAft>
            </a:pPr>
            <a:r>
              <a:rPr sz="1350" b="0">
                <a:solidFill>
                  <a:srgbClr val="1F2A3A"/>
                </a:solidFill>
                <a:latin typeface="맑은 고딕"/>
                <a:ea typeface="맑은 고딕"/>
                <a:cs typeface="맑은 고딕"/>
              </a:rPr>
              <a:t>그 서버의 도구 목록</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90647"/>
            <a:ext cx="731520" cy="731520"/>
          </a:xfrm>
          <a:prstGeom prst="ellipse">
            <a:avLst/>
          </a:prstGeom>
          <a:solidFill>
            <a:srgbClr val="FFFFFF"/>
          </a:solidFill>
          <a:ln>
            <a:noFill/>
          </a:ln>
        </p:spPr>
        <p:txBody>
          <a:bodyPr rtlCol="0" anchor="ctr"/>
          <a:lstStyle/>
          <a:p>
            <a:pPr algn="ctr"/>
          </a:p>
        </p:txBody>
      </p:sp>
      <p:pic>
        <p:nvPicPr>
          <p:cNvPr id="13" name="아이콘:plug-connected" descr="plug-connected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연결 검사</a:t>
            </a:r>
          </a:p>
          <a:p>
            <a:pPr algn="ctr">
              <a:lnSpc>
                <a:spcPct val="110000"/>
              </a:lnSpc>
              <a:spcAft>
                <a:spcPts val="400"/>
              </a:spcAft>
            </a:pPr>
            <a:r>
              <a:rPr sz="1350" b="0">
                <a:solidFill>
                  <a:srgbClr val="1F2A3A"/>
                </a:solidFill>
                <a:latin typeface="맑은 고딕"/>
                <a:ea typeface="맑은 고딕"/>
                <a:cs typeface="맑은 고딕"/>
              </a:rPr>
              <a:t>등록한 서버를 검사해</a:t>
            </a:r>
          </a:p>
          <a:p>
            <a:pPr algn="ctr">
              <a:lnSpc>
                <a:spcPct val="110000"/>
              </a:lnSpc>
              <a:spcAft>
                <a:spcPts val="400"/>
              </a:spcAft>
            </a:pPr>
            <a:r>
              <a:rPr sz="1350" b="0">
                <a:solidFill>
                  <a:srgbClr val="1F2A3A"/>
                </a:solidFill>
                <a:latin typeface="맑은 고딕"/>
                <a:ea typeface="맑은 고딕"/>
                <a:cs typeface="맑은 고딕"/>
              </a:rPr>
              <a:t>통과 표시를 받는다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eye" descr="eye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읽기 도구 호출</a:t>
            </a:r>
          </a:p>
          <a:p>
            <a:pPr algn="ctr">
              <a:lnSpc>
                <a:spcPct val="110000"/>
              </a:lnSpc>
              <a:spcAft>
                <a:spcPts val="400"/>
              </a:spcAft>
            </a:pPr>
            <a:r>
              <a:rPr sz="1350" b="0">
                <a:solidFill>
                  <a:srgbClr val="1F2A3A"/>
                </a:solidFill>
                <a:latin typeface="맑은 고딕"/>
                <a:ea typeface="맑은 고딕"/>
                <a:cs typeface="맑은 고딕"/>
              </a:rPr>
              <a:t>도구 이름, 입력 값,</a:t>
            </a:r>
          </a:p>
          <a:p>
            <a:pPr algn="ctr">
              <a:lnSpc>
                <a:spcPct val="110000"/>
              </a:lnSpc>
              <a:spcAft>
                <a:spcPts val="400"/>
              </a:spcAft>
            </a:pPr>
            <a:r>
              <a:rPr sz="1350" b="0">
                <a:solidFill>
                  <a:srgbClr val="1F2A3A"/>
                </a:solidFill>
                <a:latin typeface="맑은 고딕"/>
                <a:ea typeface="맑은 고딕"/>
                <a:cs typeface="맑은 고딕"/>
              </a:rPr>
              <a:t>반환된 행을 확인한다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890647"/>
            <a:ext cx="731520" cy="731520"/>
          </a:xfrm>
          <a:prstGeom prst="ellipse">
            <a:avLst/>
          </a:prstGeom>
          <a:solidFill>
            <a:srgbClr val="5CB8F2"/>
          </a:solidFill>
          <a:ln>
            <a:noFill/>
          </a:ln>
        </p:spPr>
        <p:txBody>
          <a:bodyPr rtlCol="0" anchor="ctr"/>
          <a:lstStyle/>
          <a:p>
            <a:pPr algn="ctr"/>
          </a:p>
        </p:txBody>
      </p:sp>
      <p:pic>
        <p:nvPicPr>
          <p:cNvPr id="23" name="아이콘:robot" descr="robot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에이전트에 연결</a:t>
            </a:r>
          </a:p>
          <a:p>
            <a:pPr algn="ctr">
              <a:lnSpc>
                <a:spcPct val="110000"/>
              </a:lnSpc>
              <a:spcAft>
                <a:spcPts val="400"/>
              </a:spcAft>
            </a:pPr>
            <a:r>
              <a:rPr sz="1350" b="0">
                <a:solidFill>
                  <a:srgbClr val="1F2A3A"/>
                </a:solidFill>
                <a:latin typeface="맑은 고딕"/>
                <a:ea typeface="맑은 고딕"/>
                <a:cs typeface="맑은 고딕"/>
              </a:rPr>
              <a:t>호출 기록을 확인하고</a:t>
            </a:r>
          </a:p>
          <a:p>
            <a:pPr algn="ctr">
              <a:lnSpc>
                <a:spcPct val="110000"/>
              </a:lnSpc>
              <a:spcAft>
                <a:spcPts val="400"/>
              </a:spcAft>
            </a:pPr>
            <a:r>
              <a:rPr sz="1350" b="0">
                <a:solidFill>
                  <a:srgbClr val="1F2A3A"/>
                </a:solidFill>
                <a:latin typeface="맑은 고딕"/>
                <a:ea typeface="맑은 고딕"/>
                <a:cs typeface="맑은 고딕"/>
              </a:rPr>
              <a:t>기존 에이전트에 붙인다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서로 다른 MCP 서버의 연결과 조합</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Claude Code에 파일시스템, Git, 시간 서버를 연결하고 한 요청에서 조합한다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연결하는 것과 조합하는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서로 다른 세 서버의 도구를 한 요청에서 이어 부른 호출 결과가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settings" descr="settings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서버마다 설정</a:t>
            </a:r>
          </a:p>
          <a:p>
            <a:pPr algn="l">
              <a:lnSpc>
                <a:spcPct val="110000"/>
              </a:lnSpc>
              <a:spcAft>
                <a:spcPts val="400"/>
              </a:spcAft>
            </a:pPr>
            <a:r>
              <a:rPr sz="1400" b="0">
                <a:solidFill>
                  <a:srgbClr val="1F2A3A"/>
                </a:solidFill>
                <a:latin typeface="맑은 고딕"/>
                <a:ea typeface="맑은 고딕"/>
                <a:cs typeface="맑은 고딕"/>
              </a:rPr>
              <a:t>파일시스템, Git, 시간 서버의 실행 방법과 접근 권한을 서버별로 정한다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search" descr="list-search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목록과 결과의 비교</a:t>
            </a:r>
          </a:p>
          <a:p>
            <a:pPr algn="l">
              <a:lnSpc>
                <a:spcPct val="110000"/>
              </a:lnSpc>
              <a:spcAft>
                <a:spcPts val="400"/>
              </a:spcAft>
            </a:pPr>
            <a:r>
              <a:rPr sz="1400" b="0">
                <a:solidFill>
                  <a:srgbClr val="1F2A3A"/>
                </a:solidFill>
                <a:latin typeface="맑은 고딕"/>
                <a:ea typeface="맑은 고딕"/>
                <a:cs typeface="맑은 고딕"/>
              </a:rPr>
              <a:t>서버마다 도구 목록과 호출 결과, 실패했을 때의 응답이 어떻게 다른지 견준다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발견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한 요청에서 조합</a:t>
            </a:r>
          </a:p>
          <a:p>
            <a:pPr algn="l">
              <a:lnSpc>
                <a:spcPct val="110000"/>
              </a:lnSpc>
              <a:spcAft>
                <a:spcPts val="400"/>
              </a:spcAft>
            </a:pPr>
            <a:r>
              <a:rPr sz="1400" b="0">
                <a:solidFill>
                  <a:srgbClr val="1F2A3A"/>
                </a:solidFill>
                <a:latin typeface="맑은 고딕"/>
                <a:ea typeface="맑은 고딕"/>
                <a:cs typeface="맑은 고딕"/>
              </a:rPr>
              <a:t>파일을 읽고, Git의 변경 기록을 확인하고, 시간 정보를 확인하는 일을 한 요청으로 이어 부른다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회의 내용을 후속 업무로 바꾸는 스킬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회의록에서 결정사항, 담당자, 기한을 뽑는 SKILL.md를 작성한다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스킬과 만들어지는 작업 목록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쓴 SKILL.md와, 그 스킬이 회의록에서 만들어 낸 작업 목록이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스킬 작성</a:t>
            </a:r>
          </a:p>
          <a:p>
            <a:pPr algn="l">
              <a:lnSpc>
                <a:spcPct val="110000"/>
              </a:lnSpc>
              <a:spcAft>
                <a:spcPts val="400"/>
              </a:spcAft>
            </a:pPr>
            <a:r>
              <a:rPr sz="1400" b="0">
                <a:solidFill>
                  <a:srgbClr val="1F2A3A"/>
                </a:solidFill>
                <a:latin typeface="맑은 고딕"/>
                <a:ea typeface="맑은 고딕"/>
                <a:cs typeface="맑은 고딕"/>
              </a:rPr>
              <a:t>회의록에서 결정사항, 담당자, 기한을 뽑는 절차와 결과의 모양을 적는다</a:t>
            </a:r>
          </a:p>
        </p:txBody>
      </p:sp>
      <p:sp>
        <p:nvSpPr>
          <p:cNvPr id="10" name="Rounded Rectangle 9"/>
          <p:cNvSpPr/>
          <p:nvPr/>
        </p:nvSpPr>
        <p:spPr>
          <a:xfrm>
            <a:off x="777240" y="5041392"/>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075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SKILL.md</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help-circle" descr="help-circl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예외 지침</a:t>
            </a:r>
          </a:p>
          <a:p>
            <a:pPr algn="l">
              <a:lnSpc>
                <a:spcPct val="110000"/>
              </a:lnSpc>
              <a:spcAft>
                <a:spcPts val="400"/>
              </a:spcAft>
            </a:pPr>
            <a:r>
              <a:rPr sz="1400" b="0">
                <a:solidFill>
                  <a:srgbClr val="1F2A3A"/>
                </a:solidFill>
                <a:latin typeface="맑은 고딕"/>
                <a:ea typeface="맑은 고딕"/>
                <a:cs typeface="맑은 고딕"/>
              </a:rPr>
              <a:t>담당자나 기한이 없는 항목은 지어내지 않고 「미정」으로 표시하게 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미정</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작업 목록</a:t>
            </a:r>
          </a:p>
          <a:p>
            <a:pPr algn="l">
              <a:lnSpc>
                <a:spcPct val="110000"/>
              </a:lnSpc>
              <a:spcAft>
                <a:spcPts val="400"/>
              </a:spcAft>
            </a:pPr>
            <a:r>
              <a:rPr sz="1400" b="0">
                <a:solidFill>
                  <a:srgbClr val="1F2A3A"/>
                </a:solidFill>
                <a:latin typeface="맑은 고딕"/>
                <a:ea typeface="맑은 고딕"/>
                <a:cs typeface="맑은 고딕"/>
              </a:rPr>
              <a:t>Markdown으로 만들고 회의록 원문과 대조해 검토한다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복합 조건에서도 일관된 결과를 내는 스킬 보완</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담당자 중복, 기한 미정, 기존 작업과의 중복을 처리하는 지침을 스킬에 더한다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더하는 지침과 보완되는 작업 목록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예외를 다루는 지침이 스킬에 적혀 있어야, 조건이 겹친 회의록에서도 실행할 때마다 같은 모양의 작업 목록이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담당자 중복</a:t>
            </a:r>
          </a:p>
          <a:p>
            <a:pPr algn="l">
              <a:lnSpc>
                <a:spcPct val="110000"/>
              </a:lnSpc>
              <a:spcAft>
                <a:spcPts val="400"/>
              </a:spcAft>
            </a:pPr>
            <a:r>
              <a:rPr sz="1350" b="0">
                <a:solidFill>
                  <a:srgbClr val="1F2A3A"/>
                </a:solidFill>
                <a:latin typeface="맑은 고딕"/>
                <a:ea typeface="맑은 고딕"/>
                <a:cs typeface="맑은 고딕"/>
              </a:rPr>
              <a:t>한 작업에 담당자가 여럿 적힌 경우의 처리 기준을 적는다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담당자</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calendar-off" descr="calendar-off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기한 미정</a:t>
            </a:r>
          </a:p>
          <a:p>
            <a:pPr algn="l">
              <a:lnSpc>
                <a:spcPct val="110000"/>
              </a:lnSpc>
              <a:spcAft>
                <a:spcPts val="400"/>
              </a:spcAft>
            </a:pPr>
            <a:r>
              <a:rPr sz="1350" b="0">
                <a:solidFill>
                  <a:srgbClr val="1F2A3A"/>
                </a:solidFill>
                <a:latin typeface="맑은 고딕"/>
                <a:ea typeface="맑은 고딕"/>
                <a:cs typeface="맑은 고딕"/>
              </a:rPr>
              <a:t>앞 실습의 미정 표시가 다른 조건과 겹친 작업에도 같게 적용되도록 기준을 적는다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기한</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copy" descr="copy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기존 작업과의 중복</a:t>
            </a:r>
          </a:p>
          <a:p>
            <a:pPr algn="l">
              <a:lnSpc>
                <a:spcPct val="110000"/>
              </a:lnSpc>
              <a:spcAft>
                <a:spcPts val="400"/>
              </a:spcAft>
            </a:pPr>
            <a:r>
              <a:rPr sz="1350" b="0">
                <a:solidFill>
                  <a:srgbClr val="1F2A3A"/>
                </a:solidFill>
                <a:latin typeface="맑은 고딕"/>
                <a:ea typeface="맑은 고딕"/>
                <a:cs typeface="맑은 고딕"/>
              </a:rPr>
              <a:t>이미 있는 작업과 겹치는 항목을 가려 다시 만들지 않는다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중복</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alert-triangle" descr="alert-triangl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 접근 실패</a:t>
            </a:r>
          </a:p>
          <a:p>
            <a:pPr algn="l">
              <a:lnSpc>
                <a:spcPct val="110000"/>
              </a:lnSpc>
              <a:spcAft>
                <a:spcPts val="400"/>
              </a:spcAft>
            </a:pPr>
            <a:r>
              <a:rPr sz="1350" b="0">
                <a:solidFill>
                  <a:srgbClr val="1F2A3A"/>
                </a:solidFill>
                <a:latin typeface="맑은 고딕"/>
                <a:ea typeface="맑은 고딕"/>
                <a:cs typeface="맑은 고딕"/>
              </a:rPr>
              <a:t>도구가 실패하면 확인하지 못한 작업을 미확정으로 표시하고 결과를 보완한다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미확정</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영문 용어의 정식 명칭, 그리고 그 용어가 도구 연결에서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도구 연결에서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SKILL.md</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Agent Skill의 파일</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수행 방법을 적은 지침</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MCP</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Model Context Protocol</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호스트와 서버를 잇는 규약</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JSON-RPC</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JSON Remote Procedure Call</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MCP 메시지의 형식</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readOnlyHint</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전용 표시</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연결 검사와 허용 목록의 기준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스킬에 적힌 조회가 실행되지 않은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스킬에 납기 오더를 확인하라는 단계가 있는데도 값을 받지 못했고, 연결된 서버는 neo4j와 hyd-dmn뿐이다.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절차에 mes_orders의 입력 스키마를 옮겨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에이전트에 업무 DB 서버 enterprise를 연결한다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description을 더 자세히 고쳐 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허용 목록에서 hyd-dmn의 도구를 뺀다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시간을 넘긴 재고 조회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예비품 재고를 조회하는 spare_stock 호출이 정해진 시간 안에 끝나지 못해 result가 error로 돌아왔다.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결과에 적을 내용으로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재고가 0개라고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지난 실행에서 본 재고 값을 적는다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재고 항목을 결과에서 지운다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조회에 실패해 재고를 확인하지 못했다고 적는다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등록한 서버에서 에이전트가 쓸 수 있는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연결 검사를 통과한 서버의 도구가 read_rows(표시 true), update_row(false), export(표시 없음)이다.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에이전트의 허용 목록에 오르는 도구는?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 하나</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read_rows와 export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세 도구 모두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오르는 도구가 없다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스킬과 도구의 역할, 응답이 알려 준 범위, 읽기와 쓰기의 경계를 올바로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스킬은 방법을 적은 글이고 실행은 서버가 한다. 서버가 연결되지 않으면 그 값을 받지 못한다.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실패한 조회는 값이 없다는 사실을 알려 주지 않는다. 실패는 실패로 적는다.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표시가 있는 도구만 읽기로 인정된다. 표시가 없는 도구도 거절된다.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