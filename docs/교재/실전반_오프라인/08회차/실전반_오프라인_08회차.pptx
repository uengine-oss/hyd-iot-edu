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7회차에서는 긴급 대응 프로세스를 직접 그려 배포했습니다. 오늘은 그 프로세스가 실행되는 동안 무슨 일이 일어나는지를 다룹니다. 승인 권한과 실행 상태, 판본과 기록을 짚은 뒤, 네 실습에서 직접 실행하고 예외의 경우를 검증하고 설정을 고쳐 다시 배포합니다. 오늘의 목표는 모두 기록을 읽는 일이어서, 수업이 끝났을 때 처리 건 한 건의 기록을 놓고 어디에서 기다렸고 어떻게 닫혔는지를 말할 수 있어야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비즈니스 프로세스에는 끝났다고 보는 조건, 곧 완료 조건이 있다고 했습니다. 이 조건부터 보겠습니다. 승인되어 유온이 회복된 경우만 정해 두면 나머지 경우에 업무가 닫히지 않은 채 남습니다. 승인했지만 유온이 회복되지 않으면 미달로 보고하고 닫습니다. 거절하면 설비 명령 없이 거절로 보고하고 닫습니다. 운전원이 응답하지 않으면 닫지 않고 기다리며, 10분이 지나면 알림만 보냅니다. 첫 줄의 작업지시 번호는 긴급 대응 프로세스가 처리한 쿨러 성능 저하 경보 한 건의 기록입니다. 6회차까지 본 경보와 같은 종류의 다른 한 건이어서 식별자와 값이 다르며, 오늘 보는 처리 건의 기록은 모두 이 한 건의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순서와 승인을 에이전트의 판단에 맡기지 않고 프로세스가 어떻게 지키는지 확인합니다. 냉각 명령 작업은 승인 작업이 승인으로 끝나야 열리므로 추천안만으로는 명령이 나가지 않습니다. 승인 작업은 운전원 역할만 끝낼 수 있고, 다른 역할의 시도는 거부되어 기록으로 남습니다. 이 모든 진행이 처리 건에 남아 나중에 되짚을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실행 중인 인스턴스가 어디까지 왔는지는 토큰이라는 개념으로 설명합니다. 토큰은 시작 이벤트에서 하나 생겨, 작업이 끝날 때마다 나가는 선을 따라 다음 요소로 옮겨 갑니다. 게이트웨이에서는 조건이 참인 선으로 가고, 끝 이벤트에 닿으면 사라집니다. 그림은 토큰이 운전원 승인에 있는 순간으로, 에이전트의 작업은 끝났고 냉각 명령에는 아직 닿지 않았습니다.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토큰이 작업에 닿으면 엔진은 그 작업의 종류에 따라 다르게 움직입니다. 사용자 작업이면 담당 역할에게 작업을 놓고 사람의 응답을 기다립니다. 서비스 작업이면 SCADA나 CMMS 같은 시스템을 호출하고 처리 결과를 받습니다. 에이전트 단계이면 지정된 에이전트에게 맡기고 추천안이 제출되기를 기다립니다. 어느 경우든 작업이 끝나야 엔진이 토큰을 다음으로 넘깁니다.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운전원의 승인을 기다리는 처리 건의 기록입니다. 처리 건의 상태는 실행 중을 뜻하는 RUNNING이고, 열려 있는 단계는 운전원 승인인 T_approve입니다. 아래는 단계마다의 상태로, 에이전트의 단계는 DONE, 운전원 승인은 IN_PROGRESS, 아직 닿지 않은 단계는 TODO입니다. 승인 대기는 고장이 아니라 토큰이 사용자 작업에 머문 정상 상태입니다.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운전원이 기한이 지나도록 응답하지 않은 처리 건입니다. 승인 지연 타이머가 발생하면서 토큰이 하나 더 생겨 승인 지연 알림을 지났습니다. 처음의 토큰은 운전원 승인에 그대로 있습니다. 그래서 알림이 나간 뒤에도 처리 건은 닫히지 않고, 운전원은 여전히 승인하거나 거절할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실행 상태는 두 층으로 읽습니다. 처리 건의 상태는 진행 중인 RUNNING과 끝난 COMPLETED입니다. 단계의 상태는 열려 있는 IN_PROGRESS, 끝난 DONE, 아직 닿지 않은 TODO가 있습니다. CANCELLED는 게이트웨이에서 선택되지 않은 갈래의 단계에 붙으며, 거절된 처리 건에서는 냉각 명령이 이 상태로 남습니다.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같은 정의에서 나온 두 처리 건입니다. 왼쪽은 승인되어 설비 명령이 나갔고, 오른쪽은 거절되어 설비 명령이 없으며 결과 보고의 값은 거절을 뜻하는 반려로 적혔습니다. 그런데 두 건의 상태는 똑같이 COMPLETED입니다. COMPLETED는 실행이 끝났다는 뜻일 뿐이어서, 업무가 어떻게 끝났는지는 닿은 끝 이벤트와 결과 보고로 읽어야 합니다. 승인된 뒤 회복에 미달한 경우도 끝 이벤트는 같으므로 결과 보고가 정상인지 미달인지를 봅니다.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게이트웨이에서 나가는 선에는 조건이 붙습니다. 승인? 게이트웨이의 승인 쪽 선은 운전원 승인 작업이 낸 approval 값이 승인일 때 참입니다. 유온 정상? 게이트웨이의 예 쪽 선은 재관측이 낸 recovered 값이 참일 때입니다. 어느 조건도 참이 아닐 때 가는 선을 기본 흐름, Default Flow라고 하며 그림에서는 선의 출발 자리에 빗금을 긋습니다.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작업의 결과가 다음으로 전해지는 방법이 프로세스 변수입니다. 인스턴스는 이름 붙은 값들을 지니고 다니며, 작업이 낸 출력이 여기에 저장됩니다. 앞에서 본 갈림의 조건이 읽던 approval과 recovered가 이 변수입니다. 운전원 승인이 approval을 내고, 재관측이 recovered를 냅니다. 처리 건은 변수마다 그것을 만든 단계를 함께 적어 두므로 값이 어디서 나왔는지를 되짚을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승인된 처리 건의 실제 기록입니다. 어느 정의의 몇 번째 판본으로 열렸는지가 먼저 적혀 있습니다. start_event_id는 이 처리 건을 연 경보의 식별자이고, end_event는 닿은 끝 이벤트입니다. 처리 건 하나만 보아도 무엇으로 시작해 어디서 끝났는지를 알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프로세스를 고쳤을 때 언제부터 적용되는지 보겠습니다. 고친 정의는 새 판본으로 등록합니다. 등록만으로는 바뀌지 않고, 그 판본을 배포해야 다음 경보부터 그 판본으로 처리 건이 열립니다. 이미 열려 있던 처리 건은 열릴 때의 판본으로 끝까지 가므로, 실행 도중에 규칙이 바뀌는 일이 없습니다.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프로세스가 실행되는 동안 일어난 일은 두 가지 기록으로 남습니다. 처리 기록은 처리 건 한 건 안에서 일어난 일을 차례로 적은 것으로, 승인이 접수되고 다음 단계로 전달될 때와 결과 보고가 나갈 때 한 줄씩 남습니다. 감사 기록, Audit Log는 누가 무엇을 결정했는지를 나중에 확인하려고 처리 건 밖의 일까지 적는 기록입니다. 처리 건이 열린 일과 정의가 배포된 일, 그리고 승인할 역할이 아닌 쪽이 승인을 시도해 거부된 일이 여기에 남습니다. 처리 건 하나를 되짚을 때는 두 기록을 함께 읽습니다.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실습에서는 배포한 프로세스를 실제로 실행합니다. 쿨러 열화를 일으켜 처리 건이 열리는 것을 보고, 에이전트의 추천안이 나온 뒤 운전원 승인에서 기다리는 상태를 확인합니다. 승인한 뒤에는 명령과 재관측을 거쳐 어느 끝 이벤트에 닿았는지를 읽습니다. 승인을 기다리는 상태와 끝난 상태를 처리 건의 기록으로 구분해 보시기 바랍니다.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둘째 실습에서는 승인으로 끝나지 않는 세 경우를 차례로 실행해 견줍니다. 승인 역할이 아닌 쪽이 승인을 시도하면 받아들여지지 않고 그 시도가 감사 기록에 남습니다. 거절하면 냉각 명령이 열리지 않은 채 거절 종결에 닿습니다. 응답하지 않으면 기한 뒤에 승인 지연 알림만 나가고 처리 건은 승인을 계속 기다립니다. 세 경우 모두 설비 명령이 없다는 것을 처리 건의 기록에서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셋째 실습에서는 설정이 빠진 흐름을 사전 검사에 넣습니다. 검사 결과에서 맡을 쪽이 정해지지 않은 작업과 조건이 없는 갈림을 찾습니다. 검사가 알려 준 자리만 고치고, 검사 결과에 없는 문제를 짐작으로 고치지 않습니다. 고친 흐름은 이어지는 실습에서 다시 검사해 배포합니다.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 실습에서는 고친 흐름을 다시 검사해 새 판본으로 등록하고 배포합니다. 새 판본으로 열린 처리 건을 한 번은 승인하고 한 번은 거절합니다. 승인하면 명령과 결과 보고가 이어지고 거절하면 명령 없이 닫히는지를 처리 건의 기록에서 확인합니다. 그린 파일과 연결할 때 넣은 값과 처리 결과는 고치기 전의 것과 견줄 근거로 남겨 둡니다. 확인을 마치면 기준 흐름을 다시 배포해, 다음 경보가 기준 흐름으로 처리되도록 되돌립니다.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오른쪽 칸은 용어마다 긴급 대응 처리 건에서 찾을 수 있는 자리입니다. 이 넷과 함께 완료 조건, 승인 대기, 단계의 상태, 판본과 배포가 오늘의 용어입니다. 실습에서 연 처리 건의 기록에서 이 용어들에 해당하는 값을 하나씩 찾아보시기 바랍니다.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어떤 기록을 근거로 삼아야 하는지를 구분하는 문항입니다. 처리 건의 상태가 말해 주는 것과 끝 이벤트와 단계의 상태가 말해 주는 것을 나누어 생각해 보시기 바랍니다.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누가 승인 작업을 끝낼 수 있는지, 책임의 경계를 묻는 문항입니다. 승인 작업을 끝낼 수 있는 역할이 누구였는지, 그리고 다른 역할의 시도가 어떻게 남았는지를 떠올려 보시기 바랍니다.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고친 정의가 언제부터 적용되는지를 묻는 문항입니다. 등록과 배포가 각각 무엇을 바꾸는지, 그리고 이미 열린 처리 건이 어느 판본을 따르는지를 떠올려 보시기 바랍니다.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문항 모두 기록의 어느 값을 근거로 삼는지를 묻습니다. 첫 문항의 2번은 COMPLETED를 성공으로 읽은 것입니다. 둘째 문항의 2번은 권한 밖의 시도가 거부된 것을 사람의 거절로 읽은 것입니다. 셋째 문항의 3번은 실행 도중에 규칙이 바뀐다고 본 것으로, 열린 처리 건이 따르는 판본은 바뀌지 않습니다.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5.png"/><Relationship Id="rId4" Type="http://schemas.openxmlformats.org/officeDocument/2006/relationships/image" Target="../media/image9.png"/><Relationship Id="rId5"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9.png"/><Relationship Id="rId4" Type="http://schemas.openxmlformats.org/officeDocument/2006/relationships/image" Target="../media/image12.png"/><Relationship Id="rId5"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15.png"/><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17.png"/><Relationship Id="rId4" Type="http://schemas.openxmlformats.org/officeDocument/2006/relationships/image" Target="../media/image8.png"/><Relationship Id="rId5" Type="http://schemas.openxmlformats.org/officeDocument/2006/relationships/image" Target="../media/image18.png"/><Relationship Id="rId6" Type="http://schemas.openxmlformats.org/officeDocument/2006/relationships/image" Target="../media/image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19.png"/><Relationship Id="rId4" Type="http://schemas.openxmlformats.org/officeDocument/2006/relationships/image" Target="../media/image6.png"/><Relationship Id="rId5" Type="http://schemas.openxmlformats.org/officeDocument/2006/relationships/image" Target="../media/image2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21.png"/><Relationship Id="rId4" Type="http://schemas.openxmlformats.org/officeDocument/2006/relationships/image" Target="../media/image22.png"/><Relationship Id="rId5" Type="http://schemas.openxmlformats.org/officeDocument/2006/relationships/image" Target="../media/image23.png"/><Relationship Id="rId6" Type="http://schemas.openxmlformats.org/officeDocument/2006/relationships/image" Target="../media/image2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18.png"/><Relationship Id="rId4" Type="http://schemas.openxmlformats.org/officeDocument/2006/relationships/image" Target="../media/image25.png"/><Relationship Id="rId5" Type="http://schemas.openxmlformats.org/officeDocument/2006/relationships/image" Target="../media/image26.png"/><Relationship Id="rId6" Type="http://schemas.openxmlformats.org/officeDocument/2006/relationships/image" Target="../media/image2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3294B"/>
        </a:solidFill>
        <a:effectLst/>
      </p:bgPr>
    </p:bg>
    <p:spTree>
      <p:nvGrpSpPr>
        <p:cNvPr id="1" name=""/>
        <p:cNvGrpSpPr/>
        <p:nvPr/>
      </p:nvGrpSpPr>
      <p:grpSpPr/>
      <p:sp>
        <p:nvSpPr>
          <p:cNvPr id="2" name="TextBox 1"/>
          <p:cNvSpPr txBox="1"/>
          <p:nvPr/>
        </p:nvSpPr>
        <p:spPr>
          <a:xfrm>
            <a:off x="457200" y="841248"/>
            <a:ext cx="8229600" cy="457200"/>
          </a:xfrm>
          <a:prstGeom prst="rect">
            <a:avLst/>
          </a:prstGeom>
          <a:noFill/>
        </p:spPr>
        <p:txBody>
          <a:bodyPr wrap="square" anchor="t"/>
          <a:lstStyle/>
          <a:p>
            <a:pPr algn="l">
              <a:lnSpc>
                <a:spcPct val="110000"/>
              </a:lnSpc>
            </a:pPr>
            <a:r>
              <a:rPr sz="2000" b="1">
                <a:solidFill>
                  <a:srgbClr val="8FCFF8"/>
                </a:solidFill>
                <a:latin typeface="맑은 고딕"/>
                <a:ea typeface="맑은 고딕"/>
                <a:cs typeface="맑은 고딕"/>
              </a:rPr>
              <a:t>경남대학교 피지컬AI 사관학교</a:t>
            </a:r>
          </a:p>
        </p:txBody>
      </p:sp>
      <p:sp>
        <p:nvSpPr>
          <p:cNvPr id="3" name="Rectangle 2"/>
          <p:cNvSpPr/>
          <p:nvPr/>
        </p:nvSpPr>
        <p:spPr>
          <a:xfrm>
            <a:off x="548640" y="13167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1700784"/>
            <a:ext cx="7863840" cy="420624"/>
          </a:xfrm>
          <a:prstGeom prst="rect">
            <a:avLst/>
          </a:prstGeom>
          <a:noFill/>
        </p:spPr>
        <p:txBody>
          <a:bodyPr wrap="square" anchor="t"/>
          <a:lstStyle/>
          <a:p>
            <a:pPr algn="l">
              <a:lnSpc>
                <a:spcPct val="110000"/>
              </a:lnSpc>
            </a:pPr>
            <a:r>
              <a:rPr sz="1800" b="1">
                <a:solidFill>
                  <a:srgbClr val="8FCFF8"/>
                </a:solidFill>
                <a:latin typeface="맑은 고딕"/>
                <a:ea typeface="맑은 고딕"/>
                <a:cs typeface="맑은 고딕"/>
              </a:rPr>
              <a:t>실전반 오프라인 8회차</a:t>
            </a:r>
          </a:p>
        </p:txBody>
      </p:sp>
      <p:sp>
        <p:nvSpPr>
          <p:cNvPr id="5" name="TextBox 4"/>
          <p:cNvSpPr txBox="1"/>
          <p:nvPr/>
        </p:nvSpPr>
        <p:spPr>
          <a:xfrm>
            <a:off x="457200" y="2395728"/>
            <a:ext cx="8412480" cy="1920240"/>
          </a:xfrm>
          <a:prstGeom prst="rect">
            <a:avLst/>
          </a:prstGeom>
          <a:noFill/>
        </p:spPr>
        <p:txBody>
          <a:bodyPr wrap="square" anchor="t"/>
          <a:lstStyle/>
          <a:p>
            <a:pPr algn="l">
              <a:lnSpc>
                <a:spcPct val="110000"/>
              </a:lnSpc>
            </a:pPr>
            <a:r>
              <a:rPr sz="4000" b="1">
                <a:solidFill>
                  <a:srgbClr val="FFFFFF"/>
                </a:solidFill>
                <a:latin typeface="맑은 고딕"/>
                <a:ea typeface="맑은 고딕"/>
                <a:cs typeface="맑은 고딕"/>
              </a:rPr>
              <a:t>설비 업무 프로세스의</a:t>
            </a:r>
          </a:p>
          <a:p>
            <a:pPr algn="l">
              <a:lnSpc>
                <a:spcPct val="110000"/>
              </a:lnSpc>
            </a:pPr>
            <a:r>
              <a:rPr sz="4000" b="1">
                <a:solidFill>
                  <a:srgbClr val="FFFFFF"/>
                </a:solidFill>
                <a:latin typeface="맑은 고딕"/>
                <a:ea typeface="맑은 고딕"/>
                <a:cs typeface="맑은 고딕"/>
              </a:rPr>
              <a:t>실행과 안전성 검증</a:t>
            </a:r>
          </a:p>
        </p:txBody>
      </p:sp>
      <p:sp>
        <p:nvSpPr>
          <p:cNvPr id="6" name="TextBox 5"/>
          <p:cNvSpPr txBox="1"/>
          <p:nvPr/>
        </p:nvSpPr>
        <p:spPr>
          <a:xfrm>
            <a:off x="457200" y="4407408"/>
            <a:ext cx="8412480" cy="731520"/>
          </a:xfrm>
          <a:prstGeom prst="rect">
            <a:avLst/>
          </a:prstGeom>
          <a:noFill/>
        </p:spPr>
        <p:txBody>
          <a:bodyPr wrap="square" anchor="t"/>
          <a:lstStyle/>
          <a:p>
            <a:pPr algn="l">
              <a:lnSpc>
                <a:spcPct val="110000"/>
              </a:lnSpc>
            </a:pPr>
            <a:r>
              <a:rPr sz="1900" b="0">
                <a:solidFill>
                  <a:srgbClr val="C6D0DE"/>
                </a:solidFill>
                <a:latin typeface="맑은 고딕"/>
                <a:ea typeface="맑은 고딕"/>
                <a:cs typeface="맑은 고딕"/>
              </a:rPr>
              <a:t>승인 권한, 실행 상태와 예외 처리, 판본과 처리 건의 기록</a:t>
            </a:r>
          </a:p>
        </p:txBody>
      </p:sp>
      <p:pic>
        <p:nvPicPr>
          <p:cNvPr id="7" name="로고:uEngine" descr="logo-uengine_FFFFFF_None.png"/>
          <p:cNvPicPr>
            <a:picLocks noChangeAspect="1"/>
          </p:cNvPicPr>
          <p:nvPr/>
        </p:nvPicPr>
        <p:blipFill>
          <a:blip r:embed="rId2"/>
          <a:stretch>
            <a:fillRect/>
          </a:stretch>
        </p:blipFill>
        <p:spPr>
          <a:xfrm>
            <a:off x="7315200" y="5669280"/>
            <a:ext cx="1325880" cy="275115"/>
          </a:xfrm>
          <a:prstGeom prst="rect">
            <a:avLst/>
          </a:prstGeom>
        </p:spPr>
      </p:pic>
      <p:sp>
        <p:nvSpPr>
          <p:cNvPr id="8" name="Rectangle 7"/>
          <p:cNvSpPr/>
          <p:nvPr/>
        </p:nvSpPr>
        <p:spPr>
          <a:xfrm>
            <a:off x="9464040" y="1188719"/>
            <a:ext cx="1188720" cy="1188720"/>
          </a:xfrm>
          <a:prstGeom prst="rect">
            <a:avLst/>
          </a:prstGeom>
          <a:solidFill>
            <a:srgbClr val="243D66"/>
          </a:solidFill>
          <a:ln>
            <a:noFill/>
          </a:ln>
        </p:spPr>
        <p:txBody>
          <a:bodyPr rtlCol="0" anchor="ctr"/>
          <a:lstStyle/>
          <a:p>
            <a:pPr algn="ctr"/>
          </a:p>
        </p:txBody>
      </p:sp>
      <p:pic>
        <p:nvPicPr>
          <p:cNvPr id="9" name="아이콘:player-play" descr="player-play_5CB8F2_1.5.png"/>
          <p:cNvPicPr>
            <a:picLocks noChangeAspect="1"/>
          </p:cNvPicPr>
          <p:nvPr/>
        </p:nvPicPr>
        <p:blipFill>
          <a:blip r:embed="rId3"/>
          <a:stretch>
            <a:fillRect/>
          </a:stretch>
        </p:blipFill>
        <p:spPr>
          <a:xfrm>
            <a:off x="9701784" y="1426463"/>
            <a:ext cx="713232" cy="713232"/>
          </a:xfrm>
          <a:prstGeom prst="rect">
            <a:avLst/>
          </a:prstGeom>
        </p:spPr>
      </p:pic>
      <p:sp>
        <p:nvSpPr>
          <p:cNvPr id="10" name="Down Arrow 9"/>
          <p:cNvSpPr/>
          <p:nvPr/>
        </p:nvSpPr>
        <p:spPr>
          <a:xfrm>
            <a:off x="9902952" y="2450591"/>
            <a:ext cx="310896" cy="310896"/>
          </a:xfrm>
          <a:prstGeom prst="downArrow">
            <a:avLst/>
          </a:prstGeom>
          <a:solidFill>
            <a:srgbClr val="5CB8F2"/>
          </a:solidFill>
          <a:ln>
            <a:noFill/>
          </a:ln>
        </p:spPr>
        <p:txBody>
          <a:bodyPr rtlCol="0" anchor="ctr"/>
          <a:lstStyle/>
          <a:p>
            <a:pPr algn="ctr"/>
          </a:p>
        </p:txBody>
      </p:sp>
      <p:sp>
        <p:nvSpPr>
          <p:cNvPr id="11" name="Rectangle 10"/>
          <p:cNvSpPr/>
          <p:nvPr/>
        </p:nvSpPr>
        <p:spPr>
          <a:xfrm>
            <a:off x="9464040" y="2834639"/>
            <a:ext cx="1188720" cy="1188720"/>
          </a:xfrm>
          <a:prstGeom prst="rect">
            <a:avLst/>
          </a:prstGeom>
          <a:solidFill>
            <a:srgbClr val="243D66"/>
          </a:solidFill>
          <a:ln>
            <a:noFill/>
          </a:ln>
        </p:spPr>
        <p:txBody>
          <a:bodyPr rtlCol="0" anchor="ctr"/>
          <a:lstStyle/>
          <a:p>
            <a:pPr algn="ctr"/>
          </a:p>
        </p:txBody>
      </p:sp>
      <p:pic>
        <p:nvPicPr>
          <p:cNvPr id="12" name="아이콘:lock" descr="lock_5CB8F2_1.5.png"/>
          <p:cNvPicPr>
            <a:picLocks noChangeAspect="1"/>
          </p:cNvPicPr>
          <p:nvPr/>
        </p:nvPicPr>
        <p:blipFill>
          <a:blip r:embed="rId4"/>
          <a:stretch>
            <a:fillRect/>
          </a:stretch>
        </p:blipFill>
        <p:spPr>
          <a:xfrm>
            <a:off x="9701784" y="3072383"/>
            <a:ext cx="713232" cy="713232"/>
          </a:xfrm>
          <a:prstGeom prst="rect">
            <a:avLst/>
          </a:prstGeom>
        </p:spPr>
      </p:pic>
      <p:sp>
        <p:nvSpPr>
          <p:cNvPr id="13" name="Down Arrow 12"/>
          <p:cNvSpPr/>
          <p:nvPr/>
        </p:nvSpPr>
        <p:spPr>
          <a:xfrm>
            <a:off x="9902952" y="4096511"/>
            <a:ext cx="310896" cy="310896"/>
          </a:xfrm>
          <a:prstGeom prst="downArrow">
            <a:avLst/>
          </a:prstGeom>
          <a:solidFill>
            <a:srgbClr val="5CB8F2"/>
          </a:solidFill>
          <a:ln>
            <a:noFill/>
          </a:ln>
        </p:spPr>
        <p:txBody>
          <a:bodyPr rtlCol="0" anchor="ctr"/>
          <a:lstStyle/>
          <a:p>
            <a:pPr algn="ctr"/>
          </a:p>
        </p:txBody>
      </p:sp>
      <p:sp>
        <p:nvSpPr>
          <p:cNvPr id="14" name="Rectangle 13"/>
          <p:cNvSpPr/>
          <p:nvPr/>
        </p:nvSpPr>
        <p:spPr>
          <a:xfrm>
            <a:off x="9464040" y="4480560"/>
            <a:ext cx="1188720" cy="1188720"/>
          </a:xfrm>
          <a:prstGeom prst="rect">
            <a:avLst/>
          </a:prstGeom>
          <a:solidFill>
            <a:srgbClr val="5CB8F2"/>
          </a:solidFill>
          <a:ln>
            <a:noFill/>
          </a:ln>
        </p:spPr>
        <p:txBody>
          <a:bodyPr rtlCol="0" anchor="ctr"/>
          <a:lstStyle/>
          <a:p>
            <a:pPr algn="ctr"/>
          </a:p>
        </p:txBody>
      </p:sp>
      <p:pic>
        <p:nvPicPr>
          <p:cNvPr id="15" name="아이콘:history" descr="history_13294B_1.5.png"/>
          <p:cNvPicPr>
            <a:picLocks noChangeAspect="1"/>
          </p:cNvPicPr>
          <p:nvPr/>
        </p:nvPicPr>
        <p:blipFill>
          <a:blip r:embed="rId5"/>
          <a:stretch>
            <a:fillRect/>
          </a:stretch>
        </p:blipFill>
        <p:spPr>
          <a:xfrm>
            <a:off x="9701784" y="4718304"/>
            <a:ext cx="713232" cy="713232"/>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학습목표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실행 중인 처리 건의 상태를 기록으로 읽고, 승인 없이는 설비 명령이 나가지 않는 근거를 설명한다.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a:t>
            </a:r>
          </a:p>
        </p:txBody>
      </p:sp>
      <p:sp>
        <p:nvSpPr>
          <p:cNvPr id="6" name="Rounded Rectangle 5"/>
          <p:cNvSpPr/>
          <p:nvPr/>
        </p:nvSpPr>
        <p:spPr>
          <a:xfrm>
            <a:off x="548640"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619756"/>
            <a:ext cx="731520" cy="731520"/>
          </a:xfrm>
          <a:prstGeom prst="ellipse">
            <a:avLst/>
          </a:prstGeom>
          <a:solidFill>
            <a:srgbClr val="E7F3FD"/>
          </a:solidFill>
          <a:ln>
            <a:noFill/>
          </a:ln>
        </p:spPr>
        <p:txBody>
          <a:bodyPr rtlCol="0" anchor="ctr"/>
          <a:lstStyle/>
          <a:p>
            <a:pPr algn="ctr"/>
          </a:p>
        </p:txBody>
      </p:sp>
      <p:pic>
        <p:nvPicPr>
          <p:cNvPr id="8" name="아이콘:lock" descr="lock_13294B_1.6.png"/>
          <p:cNvPicPr>
            <a:picLocks noChangeAspect="1"/>
          </p:cNvPicPr>
          <p:nvPr/>
        </p:nvPicPr>
        <p:blipFill>
          <a:blip r:embed="rId3"/>
          <a:stretch>
            <a:fillRect/>
          </a:stretch>
        </p:blipFill>
        <p:spPr>
          <a:xfrm>
            <a:off x="930859" y="2773375"/>
            <a:ext cx="424281" cy="424281"/>
          </a:xfrm>
          <a:prstGeom prst="rect">
            <a:avLst/>
          </a:prstGeom>
        </p:spPr>
      </p:pic>
      <p:sp>
        <p:nvSpPr>
          <p:cNvPr id="9" name="TextBox 8"/>
          <p:cNvSpPr txBox="1"/>
          <p:nvPr/>
        </p:nvSpPr>
        <p:spPr>
          <a:xfrm>
            <a:off x="713232"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승인 권한</a:t>
            </a:r>
          </a:p>
          <a:p>
            <a:pPr algn="l">
              <a:lnSpc>
                <a:spcPct val="110000"/>
              </a:lnSpc>
              <a:spcAft>
                <a:spcPts val="400"/>
              </a:spcAft>
            </a:pPr>
            <a:r>
              <a:rPr sz="1350" b="0">
                <a:solidFill>
                  <a:srgbClr val="1F2A3A"/>
                </a:solidFill>
                <a:latin typeface="맑은 고딕"/>
                <a:ea typeface="맑은 고딕"/>
                <a:cs typeface="맑은 고딕"/>
              </a:rPr>
              <a:t>승인 작업을 끝낼 수 있는 역할이 정해져 있고, 다른 역할의 시도는 거부되어 기록되는 것을 설명한다</a:t>
            </a:r>
          </a:p>
        </p:txBody>
      </p:sp>
      <p:sp>
        <p:nvSpPr>
          <p:cNvPr id="10" name="Rounded Rectangle 9"/>
          <p:cNvSpPr/>
          <p:nvPr/>
        </p:nvSpPr>
        <p:spPr>
          <a:xfrm>
            <a:off x="777240" y="5134356"/>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134356"/>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권한</a:t>
            </a:r>
          </a:p>
        </p:txBody>
      </p:sp>
      <p:sp>
        <p:nvSpPr>
          <p:cNvPr id="12" name="Rounded Rectangle 11"/>
          <p:cNvSpPr/>
          <p:nvPr/>
        </p:nvSpPr>
        <p:spPr>
          <a:xfrm>
            <a:off x="3390823"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619756"/>
            <a:ext cx="731520" cy="731520"/>
          </a:xfrm>
          <a:prstGeom prst="ellipse">
            <a:avLst/>
          </a:prstGeom>
          <a:solidFill>
            <a:srgbClr val="E7F3FD"/>
          </a:solidFill>
          <a:ln>
            <a:noFill/>
          </a:ln>
        </p:spPr>
        <p:txBody>
          <a:bodyPr rtlCol="0" anchor="ctr"/>
          <a:lstStyle/>
          <a:p>
            <a:pPr algn="ctr"/>
          </a:p>
        </p:txBody>
      </p:sp>
      <p:pic>
        <p:nvPicPr>
          <p:cNvPr id="14" name="아이콘:hourglass" descr="hourglass_13294B_1.6.png"/>
          <p:cNvPicPr>
            <a:picLocks noChangeAspect="1"/>
          </p:cNvPicPr>
          <p:nvPr/>
        </p:nvPicPr>
        <p:blipFill>
          <a:blip r:embed="rId4"/>
          <a:stretch>
            <a:fillRect/>
          </a:stretch>
        </p:blipFill>
        <p:spPr>
          <a:xfrm>
            <a:off x="3773043" y="2773375"/>
            <a:ext cx="424281" cy="424281"/>
          </a:xfrm>
          <a:prstGeom prst="rect">
            <a:avLst/>
          </a:prstGeom>
        </p:spPr>
      </p:pic>
      <p:sp>
        <p:nvSpPr>
          <p:cNvPr id="15" name="TextBox 14"/>
          <p:cNvSpPr txBox="1"/>
          <p:nvPr/>
        </p:nvSpPr>
        <p:spPr>
          <a:xfrm>
            <a:off x="3555415"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대기와 종료</a:t>
            </a:r>
          </a:p>
          <a:p>
            <a:pPr algn="l">
              <a:lnSpc>
                <a:spcPct val="110000"/>
              </a:lnSpc>
              <a:spcAft>
                <a:spcPts val="400"/>
              </a:spcAft>
            </a:pPr>
            <a:r>
              <a:rPr sz="1350" b="0">
                <a:solidFill>
                  <a:srgbClr val="1F2A3A"/>
                </a:solidFill>
                <a:latin typeface="맑은 고딕"/>
                <a:ea typeface="맑은 고딕"/>
                <a:cs typeface="맑은 고딕"/>
              </a:rPr>
              <a:t>토큰의 위치와 단계의 상태로 승인 대기, 거절, 지연, 종료를 구분해 읽는다</a:t>
            </a:r>
          </a:p>
        </p:txBody>
      </p:sp>
      <p:sp>
        <p:nvSpPr>
          <p:cNvPr id="16" name="Rounded Rectangle 15"/>
          <p:cNvSpPr/>
          <p:nvPr/>
        </p:nvSpPr>
        <p:spPr>
          <a:xfrm>
            <a:off x="3619423" y="5134356"/>
            <a:ext cx="102108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134356"/>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실행 상태</a:t>
            </a:r>
          </a:p>
        </p:txBody>
      </p:sp>
      <p:sp>
        <p:nvSpPr>
          <p:cNvPr id="18" name="Rounded Rectangle 17"/>
          <p:cNvSpPr/>
          <p:nvPr/>
        </p:nvSpPr>
        <p:spPr>
          <a:xfrm>
            <a:off x="6233007"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619756"/>
            <a:ext cx="731520" cy="731520"/>
          </a:xfrm>
          <a:prstGeom prst="ellipse">
            <a:avLst/>
          </a:prstGeom>
          <a:solidFill>
            <a:srgbClr val="E7F3FD"/>
          </a:solidFill>
          <a:ln>
            <a:noFill/>
          </a:ln>
        </p:spPr>
        <p:txBody>
          <a:bodyPr rtlCol="0" anchor="ctr"/>
          <a:lstStyle/>
          <a:p>
            <a:pPr algn="ctr"/>
          </a:p>
        </p:txBody>
      </p:sp>
      <p:pic>
        <p:nvPicPr>
          <p:cNvPr id="20" name="아이콘:arrows-right-left" descr="arrows-right-left_13294B_1.6.png"/>
          <p:cNvPicPr>
            <a:picLocks noChangeAspect="1"/>
          </p:cNvPicPr>
          <p:nvPr/>
        </p:nvPicPr>
        <p:blipFill>
          <a:blip r:embed="rId5"/>
          <a:stretch>
            <a:fillRect/>
          </a:stretch>
        </p:blipFill>
        <p:spPr>
          <a:xfrm>
            <a:off x="6615226" y="2773375"/>
            <a:ext cx="424281" cy="424281"/>
          </a:xfrm>
          <a:prstGeom prst="rect">
            <a:avLst/>
          </a:prstGeom>
        </p:spPr>
      </p:pic>
      <p:sp>
        <p:nvSpPr>
          <p:cNvPr id="21" name="TextBox 20"/>
          <p:cNvSpPr txBox="1"/>
          <p:nvPr/>
        </p:nvSpPr>
        <p:spPr>
          <a:xfrm>
            <a:off x="6397599"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변수의 전달</a:t>
            </a:r>
          </a:p>
          <a:p>
            <a:pPr algn="l">
              <a:lnSpc>
                <a:spcPct val="110000"/>
              </a:lnSpc>
              <a:spcAft>
                <a:spcPts val="400"/>
              </a:spcAft>
            </a:pPr>
            <a:r>
              <a:rPr sz="1350" b="0">
                <a:solidFill>
                  <a:srgbClr val="1F2A3A"/>
                </a:solidFill>
                <a:latin typeface="맑은 고딕"/>
                <a:ea typeface="맑은 고딕"/>
                <a:cs typeface="맑은 고딕"/>
              </a:rPr>
              <a:t>앞 작업의 출력이 프로세스 변수가 되어 뒤 작업과 갈림의 조건에 쓰이는 과정을 따라간다</a:t>
            </a:r>
          </a:p>
        </p:txBody>
      </p:sp>
      <p:sp>
        <p:nvSpPr>
          <p:cNvPr id="22" name="Rounded Rectangle 21"/>
          <p:cNvSpPr/>
          <p:nvPr/>
        </p:nvSpPr>
        <p:spPr>
          <a:xfrm>
            <a:off x="6461607" y="5134356"/>
            <a:ext cx="1325879"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134356"/>
            <a:ext cx="132587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프로세스 변수</a:t>
            </a:r>
          </a:p>
        </p:txBody>
      </p:sp>
      <p:sp>
        <p:nvSpPr>
          <p:cNvPr id="24" name="Rounded Rectangle 23"/>
          <p:cNvSpPr/>
          <p:nvPr/>
        </p:nvSpPr>
        <p:spPr>
          <a:xfrm>
            <a:off x="9075191" y="2418588"/>
            <a:ext cx="2567863" cy="3145535"/>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619756"/>
            <a:ext cx="731520" cy="731520"/>
          </a:xfrm>
          <a:prstGeom prst="ellipse">
            <a:avLst/>
          </a:prstGeom>
          <a:solidFill>
            <a:srgbClr val="5CB8F2"/>
          </a:solidFill>
          <a:ln>
            <a:noFill/>
          </a:ln>
        </p:spPr>
        <p:txBody>
          <a:bodyPr rtlCol="0" anchor="ctr"/>
          <a:lstStyle/>
          <a:p>
            <a:pPr algn="ctr"/>
          </a:p>
        </p:txBody>
      </p:sp>
      <p:pic>
        <p:nvPicPr>
          <p:cNvPr id="26" name="아이콘:versions" descr="versions_13294B_1.6.png"/>
          <p:cNvPicPr>
            <a:picLocks noChangeAspect="1"/>
          </p:cNvPicPr>
          <p:nvPr/>
        </p:nvPicPr>
        <p:blipFill>
          <a:blip r:embed="rId6"/>
          <a:stretch>
            <a:fillRect/>
          </a:stretch>
        </p:blipFill>
        <p:spPr>
          <a:xfrm>
            <a:off x="9457410" y="2773375"/>
            <a:ext cx="424281" cy="424281"/>
          </a:xfrm>
          <a:prstGeom prst="rect">
            <a:avLst/>
          </a:prstGeom>
        </p:spPr>
      </p:pic>
      <p:sp>
        <p:nvSpPr>
          <p:cNvPr id="27" name="TextBox 26"/>
          <p:cNvSpPr txBox="1"/>
          <p:nvPr/>
        </p:nvSpPr>
        <p:spPr>
          <a:xfrm>
            <a:off x="9239783"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판본과 기록</a:t>
            </a:r>
          </a:p>
          <a:p>
            <a:pPr algn="l">
              <a:lnSpc>
                <a:spcPct val="110000"/>
              </a:lnSpc>
              <a:spcAft>
                <a:spcPts val="400"/>
              </a:spcAft>
            </a:pPr>
            <a:r>
              <a:rPr sz="1350" b="0">
                <a:solidFill>
                  <a:srgbClr val="1F2A3A"/>
                </a:solidFill>
                <a:latin typeface="맑은 고딕"/>
                <a:ea typeface="맑은 고딕"/>
                <a:cs typeface="맑은 고딕"/>
              </a:rPr>
              <a:t>고친 정의가 적용되는 시점과 처리 건에 남는 기록을 설명한다</a:t>
            </a:r>
          </a:p>
        </p:txBody>
      </p:sp>
      <p:sp>
        <p:nvSpPr>
          <p:cNvPr id="28" name="Rounded Rectangle 27"/>
          <p:cNvSpPr/>
          <p:nvPr/>
        </p:nvSpPr>
        <p:spPr>
          <a:xfrm>
            <a:off x="9303791" y="5134356"/>
            <a:ext cx="1219199"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134356"/>
            <a:ext cx="121919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판본 · 이력</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목차</a:t>
            </a:r>
          </a:p>
        </p:txBody>
      </p:sp>
      <p:sp>
        <p:nvSpPr>
          <p:cNvPr id="3" name="Rectangle 2"/>
          <p:cNvSpPr/>
          <p:nvPr/>
        </p:nvSpPr>
        <p:spPr>
          <a:xfrm>
            <a:off x="548640" y="1097280"/>
            <a:ext cx="11094415" cy="18288"/>
          </a:xfrm>
          <a:prstGeom prst="rect">
            <a:avLst/>
          </a:prstGeom>
          <a:solidFill>
            <a:srgbClr val="D3D9E1"/>
          </a:solidFill>
          <a:ln>
            <a:noFill/>
          </a:ln>
        </p:spPr>
        <p:txBody>
          <a:bodyPr rtlCol="0" anchor="ctr"/>
          <a:lstStyle/>
          <a:p>
            <a:pPr algn="ctr"/>
          </a:p>
        </p:txBody>
      </p:sp>
      <p:sp>
        <p:nvSpPr>
          <p:cNvPr id="4" name="TextBox 3"/>
          <p:cNvSpPr txBox="1"/>
          <p:nvPr/>
        </p:nvSpPr>
        <p:spPr>
          <a:xfrm>
            <a:off x="548640" y="1965960"/>
            <a:ext cx="822960" cy="73152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01</a:t>
            </a:r>
          </a:p>
        </p:txBody>
      </p:sp>
      <p:sp>
        <p:nvSpPr>
          <p:cNvPr id="5" name="TextBox 4"/>
          <p:cNvSpPr txBox="1"/>
          <p:nvPr/>
        </p:nvSpPr>
        <p:spPr>
          <a:xfrm>
            <a:off x="1417319" y="1965960"/>
            <a:ext cx="8488375" cy="73152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프로세스의 실행 상태와 예외 처리: 승인 권한, 대기, 종료, 판본</a:t>
            </a:r>
          </a:p>
        </p:txBody>
      </p:sp>
      <p:sp>
        <p:nvSpPr>
          <p:cNvPr id="6" name="Rounded Rectangle 5"/>
          <p:cNvSpPr/>
          <p:nvPr/>
        </p:nvSpPr>
        <p:spPr>
          <a:xfrm>
            <a:off x="10088575" y="2185415"/>
            <a:ext cx="1371600" cy="292608"/>
          </a:xfrm>
          <a:prstGeom prst="roundRect">
            <a:avLst>
              <a:gd name="adj" fmla="val 50000"/>
            </a:avLst>
          </a:prstGeom>
          <a:solidFill>
            <a:srgbClr val="D3D9E1"/>
          </a:solidFill>
          <a:ln>
            <a:noFill/>
          </a:ln>
        </p:spPr>
        <p:txBody>
          <a:bodyPr rtlCol="0" anchor="ctr"/>
          <a:lstStyle/>
          <a:p>
            <a:pPr algn="ctr"/>
          </a:p>
        </p:txBody>
      </p:sp>
      <p:sp>
        <p:nvSpPr>
          <p:cNvPr id="7" name="TextBox 6"/>
          <p:cNvSpPr txBox="1"/>
          <p:nvPr/>
        </p:nvSpPr>
        <p:spPr>
          <a:xfrm>
            <a:off x="10088575" y="2185415"/>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이론</a:t>
            </a:r>
          </a:p>
        </p:txBody>
      </p:sp>
      <p:sp>
        <p:nvSpPr>
          <p:cNvPr id="8" name="Rectangle 7"/>
          <p:cNvSpPr/>
          <p:nvPr/>
        </p:nvSpPr>
        <p:spPr>
          <a:xfrm>
            <a:off x="548640" y="2688336"/>
            <a:ext cx="11094415" cy="13716"/>
          </a:xfrm>
          <a:prstGeom prst="rect">
            <a:avLst/>
          </a:prstGeom>
          <a:solidFill>
            <a:srgbClr val="D3D9E1"/>
          </a:solidFill>
          <a:ln>
            <a:noFill/>
          </a:ln>
        </p:spPr>
        <p:txBody>
          <a:bodyPr rtlCol="0" anchor="ctr"/>
          <a:lstStyle/>
          <a:p>
            <a:pPr algn="ctr"/>
          </a:p>
        </p:txBody>
      </p:sp>
      <p:sp>
        <p:nvSpPr>
          <p:cNvPr id="9" name="TextBox 8"/>
          <p:cNvSpPr txBox="1"/>
          <p:nvPr/>
        </p:nvSpPr>
        <p:spPr>
          <a:xfrm>
            <a:off x="548640" y="2697480"/>
            <a:ext cx="822960" cy="73152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02</a:t>
            </a:r>
          </a:p>
        </p:txBody>
      </p:sp>
      <p:sp>
        <p:nvSpPr>
          <p:cNvPr id="10" name="TextBox 9"/>
          <p:cNvSpPr txBox="1"/>
          <p:nvPr/>
        </p:nvSpPr>
        <p:spPr>
          <a:xfrm>
            <a:off x="1417319" y="2697480"/>
            <a:ext cx="8488375" cy="73152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설비 이벤트로 프로세스 실행하기</a:t>
            </a:r>
          </a:p>
        </p:txBody>
      </p:sp>
      <p:sp>
        <p:nvSpPr>
          <p:cNvPr id="11" name="Rounded Rectangle 10"/>
          <p:cNvSpPr/>
          <p:nvPr/>
        </p:nvSpPr>
        <p:spPr>
          <a:xfrm>
            <a:off x="10088575" y="2916936"/>
            <a:ext cx="137160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10088575" y="2916936"/>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실습</a:t>
            </a:r>
          </a:p>
        </p:txBody>
      </p:sp>
      <p:sp>
        <p:nvSpPr>
          <p:cNvPr id="13" name="Rectangle 12"/>
          <p:cNvSpPr/>
          <p:nvPr/>
        </p:nvSpPr>
        <p:spPr>
          <a:xfrm>
            <a:off x="548640" y="3419856"/>
            <a:ext cx="11094415" cy="13716"/>
          </a:xfrm>
          <a:prstGeom prst="rect">
            <a:avLst/>
          </a:prstGeom>
          <a:solidFill>
            <a:srgbClr val="D3D9E1"/>
          </a:solidFill>
          <a:ln>
            <a:noFill/>
          </a:ln>
        </p:spPr>
        <p:txBody>
          <a:bodyPr rtlCol="0" anchor="ctr"/>
          <a:lstStyle/>
          <a:p>
            <a:pPr algn="ctr"/>
          </a:p>
        </p:txBody>
      </p:sp>
      <p:sp>
        <p:nvSpPr>
          <p:cNvPr id="14" name="TextBox 13"/>
          <p:cNvSpPr txBox="1"/>
          <p:nvPr/>
        </p:nvSpPr>
        <p:spPr>
          <a:xfrm>
            <a:off x="548640" y="3429000"/>
            <a:ext cx="822960" cy="73152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03</a:t>
            </a:r>
          </a:p>
        </p:txBody>
      </p:sp>
      <p:sp>
        <p:nvSpPr>
          <p:cNvPr id="15" name="TextBox 14"/>
          <p:cNvSpPr txBox="1"/>
          <p:nvPr/>
        </p:nvSpPr>
        <p:spPr>
          <a:xfrm>
            <a:off x="1417319" y="3429000"/>
            <a:ext cx="8488375" cy="73152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승인 거절, 지연, 권한 제한의 검증</a:t>
            </a:r>
          </a:p>
        </p:txBody>
      </p:sp>
      <p:sp>
        <p:nvSpPr>
          <p:cNvPr id="16" name="Rounded Rectangle 15"/>
          <p:cNvSpPr/>
          <p:nvPr/>
        </p:nvSpPr>
        <p:spPr>
          <a:xfrm>
            <a:off x="10088575" y="3648456"/>
            <a:ext cx="137160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10088575" y="3648456"/>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실습</a:t>
            </a:r>
          </a:p>
        </p:txBody>
      </p:sp>
      <p:sp>
        <p:nvSpPr>
          <p:cNvPr id="18" name="Rectangle 17"/>
          <p:cNvSpPr/>
          <p:nvPr/>
        </p:nvSpPr>
        <p:spPr>
          <a:xfrm>
            <a:off x="548640" y="4151376"/>
            <a:ext cx="11094415" cy="13716"/>
          </a:xfrm>
          <a:prstGeom prst="rect">
            <a:avLst/>
          </a:prstGeom>
          <a:solidFill>
            <a:srgbClr val="D3D9E1"/>
          </a:solidFill>
          <a:ln>
            <a:noFill/>
          </a:ln>
        </p:spPr>
        <p:txBody>
          <a:bodyPr rtlCol="0" anchor="ctr"/>
          <a:lstStyle/>
          <a:p>
            <a:pPr algn="ctr"/>
          </a:p>
        </p:txBody>
      </p:sp>
      <p:sp>
        <p:nvSpPr>
          <p:cNvPr id="19" name="TextBox 18"/>
          <p:cNvSpPr txBox="1"/>
          <p:nvPr/>
        </p:nvSpPr>
        <p:spPr>
          <a:xfrm>
            <a:off x="548640" y="4160520"/>
            <a:ext cx="822960" cy="73152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04</a:t>
            </a:r>
          </a:p>
        </p:txBody>
      </p:sp>
      <p:sp>
        <p:nvSpPr>
          <p:cNvPr id="20" name="TextBox 19"/>
          <p:cNvSpPr txBox="1"/>
          <p:nvPr/>
        </p:nvSpPr>
        <p:spPr>
          <a:xfrm>
            <a:off x="1417319" y="4160520"/>
            <a:ext cx="8488375" cy="73152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잘못된 프로세스 설정의 수정</a:t>
            </a:r>
          </a:p>
        </p:txBody>
      </p:sp>
      <p:sp>
        <p:nvSpPr>
          <p:cNvPr id="21" name="Rounded Rectangle 20"/>
          <p:cNvSpPr/>
          <p:nvPr/>
        </p:nvSpPr>
        <p:spPr>
          <a:xfrm>
            <a:off x="10088575" y="4379976"/>
            <a:ext cx="1371600" cy="292608"/>
          </a:xfrm>
          <a:prstGeom prst="roundRect">
            <a:avLst>
              <a:gd name="adj" fmla="val 50000"/>
            </a:avLst>
          </a:prstGeom>
          <a:solidFill>
            <a:srgbClr val="D3D9E1"/>
          </a:solidFill>
          <a:ln>
            <a:noFill/>
          </a:ln>
        </p:spPr>
        <p:txBody>
          <a:bodyPr rtlCol="0" anchor="ctr"/>
          <a:lstStyle/>
          <a:p>
            <a:pPr algn="ctr"/>
          </a:p>
        </p:txBody>
      </p:sp>
      <p:sp>
        <p:nvSpPr>
          <p:cNvPr id="22" name="TextBox 21"/>
          <p:cNvSpPr txBox="1"/>
          <p:nvPr/>
        </p:nvSpPr>
        <p:spPr>
          <a:xfrm>
            <a:off x="10088575" y="4379976"/>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실습</a:t>
            </a:r>
          </a:p>
        </p:txBody>
      </p:sp>
      <p:sp>
        <p:nvSpPr>
          <p:cNvPr id="23" name="Rectangle 22"/>
          <p:cNvSpPr/>
          <p:nvPr/>
        </p:nvSpPr>
        <p:spPr>
          <a:xfrm>
            <a:off x="548640" y="4882896"/>
            <a:ext cx="11094415" cy="13716"/>
          </a:xfrm>
          <a:prstGeom prst="rect">
            <a:avLst/>
          </a:prstGeom>
          <a:solidFill>
            <a:srgbClr val="D3D9E1"/>
          </a:solidFill>
          <a:ln>
            <a:noFill/>
          </a:ln>
        </p:spPr>
        <p:txBody>
          <a:bodyPr rtlCol="0" anchor="ctr"/>
          <a:lstStyle/>
          <a:p>
            <a:pPr algn="ctr"/>
          </a:p>
        </p:txBody>
      </p:sp>
      <p:sp>
        <p:nvSpPr>
          <p:cNvPr id="24" name="TextBox 23"/>
          <p:cNvSpPr txBox="1"/>
          <p:nvPr/>
        </p:nvSpPr>
        <p:spPr>
          <a:xfrm>
            <a:off x="548640" y="4892040"/>
            <a:ext cx="822960" cy="73152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05</a:t>
            </a:r>
          </a:p>
        </p:txBody>
      </p:sp>
      <p:sp>
        <p:nvSpPr>
          <p:cNvPr id="25" name="TextBox 24"/>
          <p:cNvSpPr txBox="1"/>
          <p:nvPr/>
        </p:nvSpPr>
        <p:spPr>
          <a:xfrm>
            <a:off x="1417319" y="4892040"/>
            <a:ext cx="8488375" cy="73152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고친 흐름의 재배포와 실행 확인</a:t>
            </a:r>
          </a:p>
        </p:txBody>
      </p:sp>
      <p:sp>
        <p:nvSpPr>
          <p:cNvPr id="26" name="Rounded Rectangle 25"/>
          <p:cNvSpPr/>
          <p:nvPr/>
        </p:nvSpPr>
        <p:spPr>
          <a:xfrm>
            <a:off x="10088575" y="5111496"/>
            <a:ext cx="1371600" cy="292608"/>
          </a:xfrm>
          <a:prstGeom prst="roundRect">
            <a:avLst>
              <a:gd name="adj" fmla="val 50000"/>
            </a:avLst>
          </a:prstGeom>
          <a:solidFill>
            <a:srgbClr val="D3D9E1"/>
          </a:solidFill>
          <a:ln>
            <a:noFill/>
          </a:ln>
        </p:spPr>
        <p:txBody>
          <a:bodyPr rtlCol="0" anchor="ctr"/>
          <a:lstStyle/>
          <a:p>
            <a:pPr algn="ctr"/>
          </a:p>
        </p:txBody>
      </p:sp>
      <p:sp>
        <p:nvSpPr>
          <p:cNvPr id="27" name="TextBox 26"/>
          <p:cNvSpPr txBox="1"/>
          <p:nvPr/>
        </p:nvSpPr>
        <p:spPr>
          <a:xfrm>
            <a:off x="10088575" y="5111496"/>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실습</a:t>
            </a:r>
          </a:p>
        </p:txBody>
      </p:sp>
      <p:sp>
        <p:nvSpPr>
          <p:cNvPr id="28" name="TextBox 27"/>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a:lnSpc>
                <a:spcPct val="110000"/>
              </a:lnSpc>
            </a:pPr>
            <a:r>
              <a:rPr sz="8800" b="1">
                <a:solidFill>
                  <a:srgbClr val="5CB8F2"/>
                </a:solidFill>
                <a:latin typeface="맑은 고딕"/>
                <a:ea typeface="맑은 고딕"/>
                <a:cs typeface="맑은 고딕"/>
              </a:rPr>
              <a:t>01</a:t>
            </a:r>
          </a:p>
        </p:txBody>
      </p:sp>
      <p:sp>
        <p:nvSpPr>
          <p:cNvPr id="5" name="TextBox 4"/>
          <p:cNvSpPr txBox="1"/>
          <p:nvPr/>
        </p:nvSpPr>
        <p:spPr>
          <a:xfrm>
            <a:off x="3017520" y="2011680"/>
            <a:ext cx="8625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프로세스의 실행 상태와 예외 처리:</a:t>
            </a:r>
          </a:p>
          <a:p>
            <a:pPr algn="l">
              <a:lnSpc>
                <a:spcPct val="110000"/>
              </a:lnSpc>
            </a:pPr>
            <a:r>
              <a:rPr sz="3400" b="1">
                <a:solidFill>
                  <a:srgbClr val="13294B"/>
                </a:solidFill>
                <a:latin typeface="맑은 고딕"/>
                <a:ea typeface="맑은 고딕"/>
                <a:cs typeface="맑은 고딕"/>
              </a:rPr>
              <a:t>승인 권한, 대기, 종료, 판본</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실행 중인 처리 건이 어디에서 기다리고 어떻게 닫히는지를 기록으로 읽는 방법</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완료 조건: 프로세스가 닫히는 경우</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완료 조건은 정상으로 끝난 경우뿐 아니라 거절되거나 회복에 미달한 경우에 업무가 어떻게 닫히는지도 정한다.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a:t>
            </a:r>
          </a:p>
        </p:txBody>
      </p:sp>
      <p:sp>
        <p:nvSpPr>
          <p:cNvPr id="6" name="Rounded Rectangle 5"/>
          <p:cNvSpPr/>
          <p:nvPr/>
        </p:nvSpPr>
        <p:spPr>
          <a:xfrm>
            <a:off x="548640" y="19613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9613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경우</a:t>
            </a:r>
          </a:p>
        </p:txBody>
      </p:sp>
      <p:sp>
        <p:nvSpPr>
          <p:cNvPr id="8" name="TextBox 7"/>
          <p:cNvSpPr txBox="1"/>
          <p:nvPr/>
        </p:nvSpPr>
        <p:spPr>
          <a:xfrm>
            <a:off x="3200400" y="19613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닫히는 모습</a:t>
            </a:r>
          </a:p>
        </p:txBody>
      </p:sp>
      <p:sp>
        <p:nvSpPr>
          <p:cNvPr id="9" name="TextBox 8"/>
          <p:cNvSpPr txBox="1"/>
          <p:nvPr/>
        </p:nvSpPr>
        <p:spPr>
          <a:xfrm>
            <a:off x="9448495" y="19613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설비 명령</a:t>
            </a:r>
          </a:p>
        </p:txBody>
      </p:sp>
      <p:sp>
        <p:nvSpPr>
          <p:cNvPr id="10" name="Rounded Rectangle 9"/>
          <p:cNvSpPr/>
          <p:nvPr/>
        </p:nvSpPr>
        <p:spPr>
          <a:xfrm>
            <a:off x="548640" y="23957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363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승인, 유온 회복</a:t>
            </a:r>
          </a:p>
        </p:txBody>
      </p:sp>
      <p:sp>
        <p:nvSpPr>
          <p:cNvPr id="12" name="TextBox 11"/>
          <p:cNvSpPr txBox="1"/>
          <p:nvPr/>
        </p:nvSpPr>
        <p:spPr>
          <a:xfrm>
            <a:off x="3200400" y="2363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결과 보고: 정상 — 「유온 정상 · 경보 해제, 작업지시 WO-1010-1198」</a:t>
            </a:r>
          </a:p>
        </p:txBody>
      </p:sp>
      <p:sp>
        <p:nvSpPr>
          <p:cNvPr id="13" name="TextBox 12"/>
          <p:cNvSpPr txBox="1"/>
          <p:nvPr/>
        </p:nvSpPr>
        <p:spPr>
          <a:xfrm>
            <a:off x="9448495" y="23637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1건</a:t>
            </a:r>
          </a:p>
        </p:txBody>
      </p:sp>
      <p:sp>
        <p:nvSpPr>
          <p:cNvPr id="14" name="Rounded Rectangle 13"/>
          <p:cNvSpPr/>
          <p:nvPr/>
        </p:nvSpPr>
        <p:spPr>
          <a:xfrm>
            <a:off x="548640" y="33101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2781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승인, 회복 미달</a:t>
            </a:r>
          </a:p>
        </p:txBody>
      </p:sp>
      <p:sp>
        <p:nvSpPr>
          <p:cNvPr id="16" name="TextBox 15"/>
          <p:cNvSpPr txBox="1"/>
          <p:nvPr/>
        </p:nvSpPr>
        <p:spPr>
          <a:xfrm>
            <a:off x="3200400" y="32781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결과 보고: 미달로 닫힌다</a:t>
            </a:r>
          </a:p>
        </p:txBody>
      </p:sp>
      <p:sp>
        <p:nvSpPr>
          <p:cNvPr id="17" name="TextBox 16"/>
          <p:cNvSpPr txBox="1"/>
          <p:nvPr/>
        </p:nvSpPr>
        <p:spPr>
          <a:xfrm>
            <a:off x="9448495" y="32781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1건</a:t>
            </a:r>
          </a:p>
        </p:txBody>
      </p:sp>
      <p:sp>
        <p:nvSpPr>
          <p:cNvPr id="18" name="Rounded Rectangle 17"/>
          <p:cNvSpPr/>
          <p:nvPr/>
        </p:nvSpPr>
        <p:spPr>
          <a:xfrm>
            <a:off x="548640" y="4224527"/>
            <a:ext cx="11094415" cy="850392"/>
          </a:xfrm>
          <a:prstGeom prst="roundRect">
            <a:avLst>
              <a:gd name="adj" fmla="val 8000"/>
            </a:avLst>
          </a:prstGeom>
          <a:solidFill>
            <a:srgbClr val="E7F3FD"/>
          </a:solidFill>
          <a:ln>
            <a:noFill/>
          </a:ln>
        </p:spPr>
        <p:txBody>
          <a:bodyPr rtlCol="0" anchor="ctr"/>
          <a:lstStyle/>
          <a:p>
            <a:pPr algn="ctr"/>
          </a:p>
        </p:txBody>
      </p:sp>
      <p:sp>
        <p:nvSpPr>
          <p:cNvPr id="19" name="TextBox 18"/>
          <p:cNvSpPr txBox="1"/>
          <p:nvPr/>
        </p:nvSpPr>
        <p:spPr>
          <a:xfrm>
            <a:off x="685800" y="41925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거절</a:t>
            </a:r>
          </a:p>
        </p:txBody>
      </p:sp>
      <p:sp>
        <p:nvSpPr>
          <p:cNvPr id="20" name="TextBox 19"/>
          <p:cNvSpPr txBox="1"/>
          <p:nvPr/>
        </p:nvSpPr>
        <p:spPr>
          <a:xfrm>
            <a:off x="3200400" y="41925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결과 보고: 거절 — 「설비 명령은 내지 않았습니다」</a:t>
            </a:r>
          </a:p>
        </p:txBody>
      </p:sp>
      <p:sp>
        <p:nvSpPr>
          <p:cNvPr id="21" name="TextBox 20"/>
          <p:cNvSpPr txBox="1"/>
          <p:nvPr/>
        </p:nvSpPr>
        <p:spPr>
          <a:xfrm>
            <a:off x="9448495" y="4192523"/>
            <a:ext cx="2103120" cy="914400"/>
          </a:xfrm>
          <a:prstGeom prst="rect">
            <a:avLst/>
          </a:prstGeom>
          <a:noFill/>
        </p:spPr>
        <p:txBody>
          <a:bodyPr wrap="square" anchor="ctr"/>
          <a:lstStyle/>
          <a:p>
            <a:pPr algn="l">
              <a:lnSpc>
                <a:spcPct val="110000"/>
              </a:lnSpc>
            </a:pPr>
            <a:r>
              <a:rPr sz="1250" b="1">
                <a:solidFill>
                  <a:srgbClr val="1A6FC4"/>
                </a:solidFill>
                <a:latin typeface="맑은 고딕"/>
                <a:ea typeface="맑은 고딕"/>
                <a:cs typeface="맑은 고딕"/>
              </a:rPr>
              <a:t>없음</a:t>
            </a:r>
          </a:p>
        </p:txBody>
      </p:sp>
      <p:sp>
        <p:nvSpPr>
          <p:cNvPr id="22" name="Rounded Rectangle 21"/>
          <p:cNvSpPr/>
          <p:nvPr/>
        </p:nvSpPr>
        <p:spPr>
          <a:xfrm>
            <a:off x="548640" y="5138927"/>
            <a:ext cx="11094415" cy="850392"/>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5106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응답 없음</a:t>
            </a:r>
          </a:p>
        </p:txBody>
      </p:sp>
      <p:sp>
        <p:nvSpPr>
          <p:cNvPr id="24" name="TextBox 23"/>
          <p:cNvSpPr txBox="1"/>
          <p:nvPr/>
        </p:nvSpPr>
        <p:spPr>
          <a:xfrm>
            <a:off x="3200400" y="5106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닫히지 않는다. 10분이 지나면 승인 지연 알림이 나가고 승인을 계속 기다린다</a:t>
            </a:r>
          </a:p>
        </p:txBody>
      </p:sp>
      <p:sp>
        <p:nvSpPr>
          <p:cNvPr id="25" name="TextBox 24"/>
          <p:cNvSpPr txBox="1"/>
          <p:nvPr/>
        </p:nvSpPr>
        <p:spPr>
          <a:xfrm>
            <a:off x="9448495" y="51069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없음</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프로세스가 에이전트 밖에서 보장하는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명령 작업은 승인된 뒤에만 열리고 승인은 운전원 역할만 할 수 있어, 순서와 책임이 에이전트의 판단에 달려 있지 않다.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a:t>
            </a:r>
          </a:p>
        </p:txBody>
      </p:sp>
      <p:sp>
        <p:nvSpPr>
          <p:cNvPr id="6" name="Rounded Rectangle 5"/>
          <p:cNvSpPr/>
          <p:nvPr/>
        </p:nvSpPr>
        <p:spPr>
          <a:xfrm>
            <a:off x="548640" y="2403094"/>
            <a:ext cx="3515258" cy="317652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604262"/>
            <a:ext cx="731520" cy="731520"/>
          </a:xfrm>
          <a:prstGeom prst="ellipse">
            <a:avLst/>
          </a:prstGeom>
          <a:solidFill>
            <a:srgbClr val="E7F3FD"/>
          </a:solidFill>
          <a:ln>
            <a:noFill/>
          </a:ln>
        </p:spPr>
        <p:txBody>
          <a:bodyPr rtlCol="0" anchor="ctr"/>
          <a:lstStyle/>
          <a:p>
            <a:pPr algn="ctr"/>
          </a:p>
        </p:txBody>
      </p:sp>
      <p:pic>
        <p:nvPicPr>
          <p:cNvPr id="8" name="아이콘:lock" descr="lock_13294B_1.6.png"/>
          <p:cNvPicPr>
            <a:picLocks noChangeAspect="1"/>
          </p:cNvPicPr>
          <p:nvPr/>
        </p:nvPicPr>
        <p:blipFill>
          <a:blip r:embed="rId3"/>
          <a:stretch>
            <a:fillRect/>
          </a:stretch>
        </p:blipFill>
        <p:spPr>
          <a:xfrm>
            <a:off x="930859" y="2757881"/>
            <a:ext cx="424281" cy="424281"/>
          </a:xfrm>
          <a:prstGeom prst="rect">
            <a:avLst/>
          </a:prstGeom>
        </p:spPr>
      </p:pic>
      <p:sp>
        <p:nvSpPr>
          <p:cNvPr id="9" name="TextBox 8"/>
          <p:cNvSpPr txBox="1"/>
          <p:nvPr/>
        </p:nvSpPr>
        <p:spPr>
          <a:xfrm>
            <a:off x="713232"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순서</a:t>
            </a:r>
          </a:p>
          <a:p>
            <a:pPr algn="l">
              <a:lnSpc>
                <a:spcPct val="110000"/>
              </a:lnSpc>
              <a:spcAft>
                <a:spcPts val="400"/>
              </a:spcAft>
            </a:pPr>
            <a:r>
              <a:rPr sz="1400" b="0">
                <a:solidFill>
                  <a:srgbClr val="1F2A3A"/>
                </a:solidFill>
                <a:latin typeface="맑은 고딕"/>
                <a:ea typeface="맑은 고딕"/>
                <a:cs typeface="맑은 고딕"/>
              </a:rPr>
              <a:t>• 냉각 명령 작업은 승인 작업이 승인으로 끝난 뒤에만 열린다</a:t>
            </a:r>
          </a:p>
          <a:p>
            <a:pPr algn="l">
              <a:lnSpc>
                <a:spcPct val="110000"/>
              </a:lnSpc>
              <a:spcAft>
                <a:spcPts val="400"/>
              </a:spcAft>
            </a:pPr>
            <a:r>
              <a:rPr sz="1400" b="0">
                <a:solidFill>
                  <a:srgbClr val="1F2A3A"/>
                </a:solidFill>
                <a:latin typeface="맑은 고딕"/>
                <a:ea typeface="맑은 고딕"/>
                <a:cs typeface="맑은 고딕"/>
              </a:rPr>
              <a:t>• 추천안만으로는 설비 명령이 만들어지지 않는다</a:t>
            </a:r>
          </a:p>
        </p:txBody>
      </p:sp>
      <p:sp>
        <p:nvSpPr>
          <p:cNvPr id="10" name="Rounded Rectangle 9"/>
          <p:cNvSpPr/>
          <p:nvPr/>
        </p:nvSpPr>
        <p:spPr>
          <a:xfrm>
            <a:off x="777240" y="5149850"/>
            <a:ext cx="1219199"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149850"/>
            <a:ext cx="121919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승인 뒤 실행</a:t>
            </a:r>
          </a:p>
        </p:txBody>
      </p:sp>
      <p:sp>
        <p:nvSpPr>
          <p:cNvPr id="12" name="Rounded Rectangle 11"/>
          <p:cNvSpPr/>
          <p:nvPr/>
        </p:nvSpPr>
        <p:spPr>
          <a:xfrm>
            <a:off x="4338218" y="2403094"/>
            <a:ext cx="3515258" cy="317652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604262"/>
            <a:ext cx="731520" cy="731520"/>
          </a:xfrm>
          <a:prstGeom prst="ellipse">
            <a:avLst/>
          </a:prstGeom>
          <a:solidFill>
            <a:srgbClr val="E7F3FD"/>
          </a:solidFill>
          <a:ln>
            <a:noFill/>
          </a:ln>
        </p:spPr>
        <p:txBody>
          <a:bodyPr rtlCol="0" anchor="ctr"/>
          <a:lstStyle/>
          <a:p>
            <a:pPr algn="ctr"/>
          </a:p>
        </p:txBody>
      </p:sp>
      <p:pic>
        <p:nvPicPr>
          <p:cNvPr id="14" name="아이콘:user-check" descr="user-check_13294B_1.6.png"/>
          <p:cNvPicPr>
            <a:picLocks noChangeAspect="1"/>
          </p:cNvPicPr>
          <p:nvPr/>
        </p:nvPicPr>
        <p:blipFill>
          <a:blip r:embed="rId4"/>
          <a:stretch>
            <a:fillRect/>
          </a:stretch>
        </p:blipFill>
        <p:spPr>
          <a:xfrm>
            <a:off x="4720437" y="2757881"/>
            <a:ext cx="424281" cy="424281"/>
          </a:xfrm>
          <a:prstGeom prst="rect">
            <a:avLst/>
          </a:prstGeom>
        </p:spPr>
      </p:pic>
      <p:sp>
        <p:nvSpPr>
          <p:cNvPr id="15" name="TextBox 14"/>
          <p:cNvSpPr txBox="1"/>
          <p:nvPr/>
        </p:nvSpPr>
        <p:spPr>
          <a:xfrm>
            <a:off x="4502810"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책임</a:t>
            </a:r>
          </a:p>
          <a:p>
            <a:pPr algn="l">
              <a:lnSpc>
                <a:spcPct val="110000"/>
              </a:lnSpc>
              <a:spcAft>
                <a:spcPts val="400"/>
              </a:spcAft>
            </a:pPr>
            <a:r>
              <a:rPr sz="1400" b="0">
                <a:solidFill>
                  <a:srgbClr val="1F2A3A"/>
                </a:solidFill>
                <a:latin typeface="맑은 고딕"/>
                <a:ea typeface="맑은 고딕"/>
                <a:cs typeface="맑은 고딕"/>
              </a:rPr>
              <a:t>• 승인 작업을 끝낼 수 있는 것은 운전원 역할이다</a:t>
            </a:r>
          </a:p>
          <a:p>
            <a:pPr algn="l">
              <a:lnSpc>
                <a:spcPct val="110000"/>
              </a:lnSpc>
              <a:spcAft>
                <a:spcPts val="400"/>
              </a:spcAft>
            </a:pPr>
            <a:r>
              <a:rPr sz="1400" b="0">
                <a:solidFill>
                  <a:srgbClr val="1F2A3A"/>
                </a:solidFill>
                <a:latin typeface="맑은 고딕"/>
                <a:ea typeface="맑은 고딕"/>
                <a:cs typeface="맑은 고딕"/>
              </a:rPr>
              <a:t>• 다른 역할이 시도한 승인은 거부되고 기록된다</a:t>
            </a:r>
          </a:p>
        </p:txBody>
      </p:sp>
      <p:sp>
        <p:nvSpPr>
          <p:cNvPr id="16" name="Rounded Rectangle 15"/>
          <p:cNvSpPr/>
          <p:nvPr/>
        </p:nvSpPr>
        <p:spPr>
          <a:xfrm>
            <a:off x="4566818" y="5149850"/>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14985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역할</a:t>
            </a:r>
          </a:p>
        </p:txBody>
      </p:sp>
      <p:sp>
        <p:nvSpPr>
          <p:cNvPr id="18" name="Rounded Rectangle 17"/>
          <p:cNvSpPr/>
          <p:nvPr/>
        </p:nvSpPr>
        <p:spPr>
          <a:xfrm>
            <a:off x="8127796" y="2403094"/>
            <a:ext cx="3515258" cy="3176523"/>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604262"/>
            <a:ext cx="731520" cy="731520"/>
          </a:xfrm>
          <a:prstGeom prst="ellipse">
            <a:avLst/>
          </a:prstGeom>
          <a:solidFill>
            <a:srgbClr val="5CB8F2"/>
          </a:solidFill>
          <a:ln>
            <a:noFill/>
          </a:ln>
        </p:spPr>
        <p:txBody>
          <a:bodyPr rtlCol="0" anchor="ctr"/>
          <a:lstStyle/>
          <a:p>
            <a:pPr algn="ctr"/>
          </a:p>
        </p:txBody>
      </p:sp>
      <p:pic>
        <p:nvPicPr>
          <p:cNvPr id="20" name="아이콘:history" descr="history_13294B_1.6.png"/>
          <p:cNvPicPr>
            <a:picLocks noChangeAspect="1"/>
          </p:cNvPicPr>
          <p:nvPr/>
        </p:nvPicPr>
        <p:blipFill>
          <a:blip r:embed="rId5"/>
          <a:stretch>
            <a:fillRect/>
          </a:stretch>
        </p:blipFill>
        <p:spPr>
          <a:xfrm>
            <a:off x="8510016" y="2757881"/>
            <a:ext cx="424281" cy="424281"/>
          </a:xfrm>
          <a:prstGeom prst="rect">
            <a:avLst/>
          </a:prstGeom>
        </p:spPr>
      </p:pic>
      <p:sp>
        <p:nvSpPr>
          <p:cNvPr id="21" name="TextBox 20"/>
          <p:cNvSpPr txBox="1"/>
          <p:nvPr/>
        </p:nvSpPr>
        <p:spPr>
          <a:xfrm>
            <a:off x="8292388"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기록</a:t>
            </a:r>
          </a:p>
          <a:p>
            <a:pPr algn="l">
              <a:lnSpc>
                <a:spcPct val="110000"/>
              </a:lnSpc>
              <a:spcAft>
                <a:spcPts val="400"/>
              </a:spcAft>
            </a:pPr>
            <a:r>
              <a:rPr sz="1400" b="0">
                <a:solidFill>
                  <a:srgbClr val="1F2A3A"/>
                </a:solidFill>
                <a:latin typeface="맑은 고딕"/>
                <a:ea typeface="맑은 고딕"/>
                <a:cs typeface="맑은 고딕"/>
              </a:rPr>
              <a:t>어느 경보로 열려 누가 승인했고 어디서 끝났는지가 처리 건에 남는다</a:t>
            </a:r>
          </a:p>
        </p:txBody>
      </p:sp>
      <p:sp>
        <p:nvSpPr>
          <p:cNvPr id="22" name="Rounded Rectangle 21"/>
          <p:cNvSpPr/>
          <p:nvPr/>
        </p:nvSpPr>
        <p:spPr>
          <a:xfrm>
            <a:off x="8356396" y="5149850"/>
            <a:ext cx="82296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14985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추적</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토큰: 프로세스의 현재 위치</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토큰은 프로세스의 현재 위치를 나타내는 표식으로, 시작 이벤트에서 생겨 끝 이벤트에서 사라진다.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7</a:t>
            </a:r>
          </a:p>
        </p:txBody>
      </p:sp>
      <p:pic>
        <p:nvPicPr>
          <p:cNvPr id="6" name="삽화:흐름_토큰_승인대기.svg" descr="illust_4467378964442694356_1791735769.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6641322" y="1769455"/>
            <a:ext cx="4363798" cy="507618"/>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토큰</a:t>
            </a:r>
          </a:p>
          <a:p>
            <a:pPr algn="ctr">
              <a:lnSpc>
                <a:spcPct val="110000"/>
              </a:lnSpc>
              <a:spcAft>
                <a:spcPts val="100"/>
              </a:spcAft>
            </a:pPr>
            <a:r>
              <a:rPr sz="1100" b="0">
                <a:solidFill>
                  <a:srgbClr val="556175"/>
                </a:solidFill>
                <a:latin typeface="맑은 고딕"/>
                <a:ea typeface="맑은 고딕"/>
                <a:cs typeface="맑은 고딕"/>
              </a:rPr>
              <a:t>Token · 프로세스의 현재 위치를 나타내는 표식</a:t>
            </a:r>
          </a:p>
        </p:txBody>
      </p:sp>
      <p:sp>
        <p:nvSpPr>
          <p:cNvPr id="8" name="TextBox 7"/>
          <p:cNvSpPr txBox="1"/>
          <p:nvPr/>
        </p:nvSpPr>
        <p:spPr>
          <a:xfrm>
            <a:off x="3564844" y="2015282"/>
            <a:ext cx="120004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운전원 승인</a:t>
            </a:r>
          </a:p>
        </p:txBody>
      </p:sp>
      <p:sp>
        <p:nvSpPr>
          <p:cNvPr id="9" name="TextBox 8"/>
          <p:cNvSpPr txBox="1"/>
          <p:nvPr/>
        </p:nvSpPr>
        <p:spPr>
          <a:xfrm>
            <a:off x="2282979" y="2870950"/>
            <a:ext cx="1352777"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원인 진단 · 냉각 조치 제안</a:t>
            </a:r>
          </a:p>
        </p:txBody>
      </p:sp>
      <p:sp>
        <p:nvSpPr>
          <p:cNvPr id="10" name="TextBox 9"/>
          <p:cNvSpPr txBox="1"/>
          <p:nvPr/>
        </p:nvSpPr>
        <p:spPr>
          <a:xfrm>
            <a:off x="1546588" y="3424062"/>
            <a:ext cx="872759"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여기서 생긴다</a:t>
            </a:r>
          </a:p>
        </p:txBody>
      </p:sp>
      <p:sp>
        <p:nvSpPr>
          <p:cNvPr id="11" name="TextBox 10"/>
          <p:cNvSpPr txBox="1"/>
          <p:nvPr/>
        </p:nvSpPr>
        <p:spPr>
          <a:xfrm>
            <a:off x="10350550" y="3376787"/>
            <a:ext cx="981854"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여기서 사라진다</a:t>
            </a:r>
          </a:p>
        </p:txBody>
      </p:sp>
      <p:sp>
        <p:nvSpPr>
          <p:cNvPr id="12" name="TextBox 11"/>
          <p:cNvSpPr txBox="1"/>
          <p:nvPr/>
        </p:nvSpPr>
        <p:spPr>
          <a:xfrm>
            <a:off x="6532227" y="3045866"/>
            <a:ext cx="3927418"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작업이 끝나면 나가는 선을 따라 다음 요소로 옮겨 간다</a:t>
            </a:r>
          </a:p>
        </p:txBody>
      </p:sp>
      <p:sp>
        <p:nvSpPr>
          <p:cNvPr id="13" name="TextBox 12"/>
          <p:cNvSpPr txBox="1"/>
          <p:nvPr/>
        </p:nvSpPr>
        <p:spPr>
          <a:xfrm>
            <a:off x="4666703" y="4199363"/>
            <a:ext cx="120004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냉각 명령</a:t>
            </a:r>
          </a:p>
        </p:txBody>
      </p:sp>
      <p:sp>
        <p:nvSpPr>
          <p:cNvPr id="14" name="TextBox 13"/>
          <p:cNvSpPr txBox="1"/>
          <p:nvPr/>
        </p:nvSpPr>
        <p:spPr>
          <a:xfrm>
            <a:off x="6194033" y="4199363"/>
            <a:ext cx="109094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재관측</a:t>
            </a:r>
          </a:p>
        </p:txBody>
      </p:sp>
      <p:sp>
        <p:nvSpPr>
          <p:cNvPr id="15" name="TextBox 14"/>
          <p:cNvSpPr txBox="1"/>
          <p:nvPr/>
        </p:nvSpPr>
        <p:spPr>
          <a:xfrm>
            <a:off x="8397751" y="4081177"/>
            <a:ext cx="981854"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작업지시 등록</a:t>
            </a:r>
          </a:p>
        </p:txBody>
      </p:sp>
      <p:sp>
        <p:nvSpPr>
          <p:cNvPr id="16" name="TextBox 15"/>
          <p:cNvSpPr txBox="1"/>
          <p:nvPr/>
        </p:nvSpPr>
        <p:spPr>
          <a:xfrm>
            <a:off x="9717799" y="4081177"/>
            <a:ext cx="1090949"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결과 보고: 정상</a:t>
            </a:r>
          </a:p>
        </p:txBody>
      </p:sp>
      <p:sp>
        <p:nvSpPr>
          <p:cNvPr id="17" name="TextBox 16"/>
          <p:cNvSpPr txBox="1"/>
          <p:nvPr/>
        </p:nvSpPr>
        <p:spPr>
          <a:xfrm>
            <a:off x="7284982" y="4941573"/>
            <a:ext cx="1090949"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결과 보고: 미달</a:t>
            </a:r>
          </a:p>
        </p:txBody>
      </p:sp>
      <p:sp>
        <p:nvSpPr>
          <p:cNvPr id="18" name="TextBox 17"/>
          <p:cNvSpPr txBox="1"/>
          <p:nvPr/>
        </p:nvSpPr>
        <p:spPr>
          <a:xfrm>
            <a:off x="5474006" y="4941573"/>
            <a:ext cx="1090949"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결과 보고: 거절</a:t>
            </a:r>
          </a:p>
        </p:txBody>
      </p:sp>
      <p:sp>
        <p:nvSpPr>
          <p:cNvPr id="19" name="TextBox 18"/>
          <p:cNvSpPr txBox="1"/>
          <p:nvPr/>
        </p:nvSpPr>
        <p:spPr>
          <a:xfrm>
            <a:off x="3968496" y="4941573"/>
            <a:ext cx="981854"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승인 지연 알림</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작업의 종류에 따라 엔진이 기다리는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엔진은 작업의 종류에 따라 사람의 응답, 시스템의 처리 결과, 에이전트의 제출을 기다린 뒤 토큰을 넘긴다.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8</a:t>
            </a:r>
          </a:p>
        </p:txBody>
      </p:sp>
      <p:sp>
        <p:nvSpPr>
          <p:cNvPr id="6" name="Rounded Rectangle 5"/>
          <p:cNvSpPr/>
          <p:nvPr/>
        </p:nvSpPr>
        <p:spPr>
          <a:xfrm>
            <a:off x="548640" y="2403094"/>
            <a:ext cx="3515258" cy="317652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604262"/>
            <a:ext cx="731520" cy="731520"/>
          </a:xfrm>
          <a:prstGeom prst="ellipse">
            <a:avLst/>
          </a:prstGeom>
          <a:solidFill>
            <a:srgbClr val="E7F3FD"/>
          </a:solidFill>
          <a:ln>
            <a:noFill/>
          </a:ln>
        </p:spPr>
        <p:txBody>
          <a:bodyPr rtlCol="0" anchor="ctr"/>
          <a:lstStyle/>
          <a:p>
            <a:pPr algn="ctr"/>
          </a:p>
        </p:txBody>
      </p:sp>
      <p:pic>
        <p:nvPicPr>
          <p:cNvPr id="8" name="아이콘:user-check" descr="user-check_13294B_1.6.png"/>
          <p:cNvPicPr>
            <a:picLocks noChangeAspect="1"/>
          </p:cNvPicPr>
          <p:nvPr/>
        </p:nvPicPr>
        <p:blipFill>
          <a:blip r:embed="rId3"/>
          <a:stretch>
            <a:fillRect/>
          </a:stretch>
        </p:blipFill>
        <p:spPr>
          <a:xfrm>
            <a:off x="930859" y="2757881"/>
            <a:ext cx="424281" cy="424281"/>
          </a:xfrm>
          <a:prstGeom prst="rect">
            <a:avLst/>
          </a:prstGeom>
        </p:spPr>
      </p:pic>
      <p:sp>
        <p:nvSpPr>
          <p:cNvPr id="9" name="TextBox 8"/>
          <p:cNvSpPr txBox="1"/>
          <p:nvPr/>
        </p:nvSpPr>
        <p:spPr>
          <a:xfrm>
            <a:off x="713232"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사용자 작업</a:t>
            </a:r>
          </a:p>
          <a:p>
            <a:pPr algn="l">
              <a:lnSpc>
                <a:spcPct val="110000"/>
              </a:lnSpc>
              <a:spcAft>
                <a:spcPts val="400"/>
              </a:spcAft>
            </a:pPr>
            <a:r>
              <a:rPr sz="1400" b="0">
                <a:solidFill>
                  <a:srgbClr val="1F2A3A"/>
                </a:solidFill>
                <a:latin typeface="맑은 고딕"/>
                <a:ea typeface="맑은 고딕"/>
                <a:cs typeface="맑은 고딕"/>
              </a:rPr>
              <a:t>• 운전원 승인</a:t>
            </a:r>
          </a:p>
          <a:p>
            <a:pPr algn="l">
              <a:lnSpc>
                <a:spcPct val="110000"/>
              </a:lnSpc>
              <a:spcAft>
                <a:spcPts val="400"/>
              </a:spcAft>
            </a:pPr>
            <a:r>
              <a:rPr sz="1400" b="0">
                <a:solidFill>
                  <a:srgbClr val="1F2A3A"/>
                </a:solidFill>
                <a:latin typeface="맑은 고딕"/>
                <a:ea typeface="맑은 고딕"/>
                <a:cs typeface="맑은 고딕"/>
              </a:rPr>
              <a:t>• 담당 역할에게 승인 작업이 놓인다</a:t>
            </a:r>
          </a:p>
          <a:p>
            <a:pPr algn="l">
              <a:lnSpc>
                <a:spcPct val="110000"/>
              </a:lnSpc>
              <a:spcAft>
                <a:spcPts val="400"/>
              </a:spcAft>
            </a:pPr>
            <a:r>
              <a:rPr sz="1400" b="0">
                <a:solidFill>
                  <a:srgbClr val="1F2A3A"/>
                </a:solidFill>
                <a:latin typeface="맑은 고딕"/>
                <a:ea typeface="맑은 고딕"/>
                <a:cs typeface="맑은 고딕"/>
              </a:rPr>
              <a:t>• 사람이 승인하거나 거절하면 끝난다</a:t>
            </a:r>
          </a:p>
        </p:txBody>
      </p:sp>
      <p:sp>
        <p:nvSpPr>
          <p:cNvPr id="10" name="Rounded Rectangle 9"/>
          <p:cNvSpPr/>
          <p:nvPr/>
        </p:nvSpPr>
        <p:spPr>
          <a:xfrm>
            <a:off x="777240" y="5149850"/>
            <a:ext cx="1075944"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149850"/>
            <a:ext cx="1075944"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User Task</a:t>
            </a:r>
          </a:p>
        </p:txBody>
      </p:sp>
      <p:sp>
        <p:nvSpPr>
          <p:cNvPr id="12" name="Rounded Rectangle 11"/>
          <p:cNvSpPr/>
          <p:nvPr/>
        </p:nvSpPr>
        <p:spPr>
          <a:xfrm>
            <a:off x="4338218" y="2403094"/>
            <a:ext cx="3515258" cy="317652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604262"/>
            <a:ext cx="731520" cy="731520"/>
          </a:xfrm>
          <a:prstGeom prst="ellipse">
            <a:avLst/>
          </a:prstGeom>
          <a:solidFill>
            <a:srgbClr val="E7F3FD"/>
          </a:solidFill>
          <a:ln>
            <a:noFill/>
          </a:ln>
        </p:spPr>
        <p:txBody>
          <a:bodyPr rtlCol="0" anchor="ctr"/>
          <a:lstStyle/>
          <a:p>
            <a:pPr algn="ctr"/>
          </a:p>
        </p:txBody>
      </p:sp>
      <p:pic>
        <p:nvPicPr>
          <p:cNvPr id="14" name="아이콘:settings" descr="settings_13294B_1.6.png"/>
          <p:cNvPicPr>
            <a:picLocks noChangeAspect="1"/>
          </p:cNvPicPr>
          <p:nvPr/>
        </p:nvPicPr>
        <p:blipFill>
          <a:blip r:embed="rId4"/>
          <a:stretch>
            <a:fillRect/>
          </a:stretch>
        </p:blipFill>
        <p:spPr>
          <a:xfrm>
            <a:off x="4720437" y="2757881"/>
            <a:ext cx="424281" cy="424281"/>
          </a:xfrm>
          <a:prstGeom prst="rect">
            <a:avLst/>
          </a:prstGeom>
        </p:spPr>
      </p:pic>
      <p:sp>
        <p:nvSpPr>
          <p:cNvPr id="15" name="TextBox 14"/>
          <p:cNvSpPr txBox="1"/>
          <p:nvPr/>
        </p:nvSpPr>
        <p:spPr>
          <a:xfrm>
            <a:off x="4502810"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서비스 작업</a:t>
            </a:r>
          </a:p>
          <a:p>
            <a:pPr algn="l">
              <a:lnSpc>
                <a:spcPct val="110000"/>
              </a:lnSpc>
              <a:spcAft>
                <a:spcPts val="400"/>
              </a:spcAft>
            </a:pPr>
            <a:r>
              <a:rPr sz="1400" b="0">
                <a:solidFill>
                  <a:srgbClr val="1F2A3A"/>
                </a:solidFill>
                <a:latin typeface="맑은 고딕"/>
                <a:ea typeface="맑은 고딕"/>
                <a:cs typeface="맑은 고딕"/>
              </a:rPr>
              <a:t>• 냉각 명령, 재관측, 작업지시 등록</a:t>
            </a:r>
          </a:p>
          <a:p>
            <a:pPr algn="l">
              <a:lnSpc>
                <a:spcPct val="110000"/>
              </a:lnSpc>
              <a:spcAft>
                <a:spcPts val="400"/>
              </a:spcAft>
            </a:pPr>
            <a:r>
              <a:rPr sz="1400" b="0">
                <a:solidFill>
                  <a:srgbClr val="1F2A3A"/>
                </a:solidFill>
                <a:latin typeface="맑은 고딕"/>
                <a:ea typeface="맑은 고딕"/>
                <a:cs typeface="맑은 고딕"/>
              </a:rPr>
              <a:t>• 엔진이 해당 시스템을 호출한다</a:t>
            </a:r>
          </a:p>
          <a:p>
            <a:pPr algn="l">
              <a:lnSpc>
                <a:spcPct val="110000"/>
              </a:lnSpc>
              <a:spcAft>
                <a:spcPts val="400"/>
              </a:spcAft>
            </a:pPr>
            <a:r>
              <a:rPr sz="1400" b="0">
                <a:solidFill>
                  <a:srgbClr val="1F2A3A"/>
                </a:solidFill>
                <a:latin typeface="맑은 고딕"/>
                <a:ea typeface="맑은 고딕"/>
                <a:cs typeface="맑은 고딕"/>
              </a:rPr>
              <a:t>• 처리 결과를 받으면 끝난다</a:t>
            </a:r>
          </a:p>
        </p:txBody>
      </p:sp>
      <p:sp>
        <p:nvSpPr>
          <p:cNvPr id="16" name="Rounded Rectangle 15"/>
          <p:cNvSpPr/>
          <p:nvPr/>
        </p:nvSpPr>
        <p:spPr>
          <a:xfrm>
            <a:off x="4566818" y="5149850"/>
            <a:ext cx="1313687"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149850"/>
            <a:ext cx="1313687"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Service Task</a:t>
            </a:r>
          </a:p>
        </p:txBody>
      </p:sp>
      <p:sp>
        <p:nvSpPr>
          <p:cNvPr id="18" name="Rounded Rectangle 17"/>
          <p:cNvSpPr/>
          <p:nvPr/>
        </p:nvSpPr>
        <p:spPr>
          <a:xfrm>
            <a:off x="8127796" y="2403094"/>
            <a:ext cx="3515258" cy="3176523"/>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604262"/>
            <a:ext cx="731520" cy="731520"/>
          </a:xfrm>
          <a:prstGeom prst="ellipse">
            <a:avLst/>
          </a:prstGeom>
          <a:solidFill>
            <a:srgbClr val="5CB8F2"/>
          </a:solidFill>
          <a:ln>
            <a:noFill/>
          </a:ln>
        </p:spPr>
        <p:txBody>
          <a:bodyPr rtlCol="0" anchor="ctr"/>
          <a:lstStyle/>
          <a:p>
            <a:pPr algn="ctr"/>
          </a:p>
        </p:txBody>
      </p:sp>
      <p:pic>
        <p:nvPicPr>
          <p:cNvPr id="20" name="아이콘:robot" descr="robot_13294B_1.6.png"/>
          <p:cNvPicPr>
            <a:picLocks noChangeAspect="1"/>
          </p:cNvPicPr>
          <p:nvPr/>
        </p:nvPicPr>
        <p:blipFill>
          <a:blip r:embed="rId5"/>
          <a:stretch>
            <a:fillRect/>
          </a:stretch>
        </p:blipFill>
        <p:spPr>
          <a:xfrm>
            <a:off x="8510016" y="2757881"/>
            <a:ext cx="424281" cy="424281"/>
          </a:xfrm>
          <a:prstGeom prst="rect">
            <a:avLst/>
          </a:prstGeom>
        </p:spPr>
      </p:pic>
      <p:sp>
        <p:nvSpPr>
          <p:cNvPr id="21" name="TextBox 20"/>
          <p:cNvSpPr txBox="1"/>
          <p:nvPr/>
        </p:nvSpPr>
        <p:spPr>
          <a:xfrm>
            <a:off x="8292388"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에이전트 단계</a:t>
            </a:r>
          </a:p>
          <a:p>
            <a:pPr algn="l">
              <a:lnSpc>
                <a:spcPct val="110000"/>
              </a:lnSpc>
              <a:spcAft>
                <a:spcPts val="400"/>
              </a:spcAft>
            </a:pPr>
            <a:r>
              <a:rPr sz="1400" b="0">
                <a:solidFill>
                  <a:srgbClr val="1F2A3A"/>
                </a:solidFill>
                <a:latin typeface="맑은 고딕"/>
                <a:ea typeface="맑은 고딕"/>
                <a:cs typeface="맑은 고딕"/>
              </a:rPr>
              <a:t>• 원인 진단 · 냉각 조치 제안</a:t>
            </a:r>
          </a:p>
          <a:p>
            <a:pPr algn="l">
              <a:lnSpc>
                <a:spcPct val="110000"/>
              </a:lnSpc>
              <a:spcAft>
                <a:spcPts val="400"/>
              </a:spcAft>
            </a:pPr>
            <a:r>
              <a:rPr sz="1400" b="0">
                <a:solidFill>
                  <a:srgbClr val="1F2A3A"/>
                </a:solidFill>
                <a:latin typeface="맑은 고딕"/>
                <a:ea typeface="맑은 고딕"/>
                <a:cs typeface="맑은 고딕"/>
              </a:rPr>
              <a:t>• 지정된 에이전트에게 맡겨진다</a:t>
            </a:r>
          </a:p>
          <a:p>
            <a:pPr algn="l">
              <a:lnSpc>
                <a:spcPct val="110000"/>
              </a:lnSpc>
              <a:spcAft>
                <a:spcPts val="400"/>
              </a:spcAft>
            </a:pPr>
            <a:r>
              <a:rPr sz="1400" b="0">
                <a:solidFill>
                  <a:srgbClr val="1F2A3A"/>
                </a:solidFill>
                <a:latin typeface="맑은 고딕"/>
                <a:ea typeface="맑은 고딕"/>
                <a:cs typeface="맑은 고딕"/>
              </a:rPr>
              <a:t>• 추천안이 제출되면 끝난다</a:t>
            </a:r>
          </a:p>
        </p:txBody>
      </p:sp>
      <p:sp>
        <p:nvSpPr>
          <p:cNvPr id="22" name="Rounded Rectangle 21"/>
          <p:cNvSpPr/>
          <p:nvPr/>
        </p:nvSpPr>
        <p:spPr>
          <a:xfrm>
            <a:off x="8356396" y="5149850"/>
            <a:ext cx="97536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149850"/>
            <a:ext cx="9753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에이전트</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승인 대기: 토큰이 사용자 작업에 머문 상태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승인 대기는 멈춤이나 오류가 아니라, 토큰이 사용자 작업에 머물러 사람의 결정을 기다리는 정상적인 실행 상태이다.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9</a:t>
            </a:r>
          </a:p>
        </p:txBody>
      </p:sp>
      <p:sp>
        <p:nvSpPr>
          <p:cNvPr id="6" name="Rounded Rectangle 5"/>
          <p:cNvSpPr/>
          <p:nvPr/>
        </p:nvSpPr>
        <p:spPr>
          <a:xfrm>
            <a:off x="548640" y="2328291"/>
            <a:ext cx="6766560" cy="3326129"/>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465451"/>
            <a:ext cx="6400800" cy="3051810"/>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"status": "RUNNING",</a:t>
            </a:r>
          </a:p>
          <a:p>
            <a:pPr algn="l">
              <a:lnSpc>
                <a:spcPct val="110000"/>
              </a:lnSpc>
              <a:spcAft>
                <a:spcPts val="200"/>
              </a:spcAft>
            </a:pPr>
            <a:r>
              <a:rPr sz="1300" b="0">
                <a:solidFill>
                  <a:srgbClr val="E8EEF6"/>
                </a:solidFill>
                <a:latin typeface="Consolas"/>
                <a:ea typeface="맑은 고딕"/>
                <a:cs typeface="맑은 고딕"/>
              </a:rPr>
              <a:t>"current_activity_ids": ["T_approve"]</a:t>
            </a:r>
          </a:p>
          <a:p>
            <a:pPr algn="l">
              <a:lnSpc>
                <a:spcPct val="110000"/>
              </a:lnSpc>
              <a:spcAft>
                <a:spcPts val="200"/>
              </a:spcAft>
            </a:pPr>
          </a:p>
          <a:p>
            <a:pPr algn="l">
              <a:lnSpc>
                <a:spcPct val="110000"/>
              </a:lnSpc>
              <a:spcAft>
                <a:spcPts val="200"/>
              </a:spcAft>
            </a:pPr>
            <a:r>
              <a:rPr sz="1300" b="0">
                <a:solidFill>
                  <a:srgbClr val="E8EEF6"/>
                </a:solidFill>
                <a:latin typeface="Consolas"/>
                <a:ea typeface="맑은 고딕"/>
                <a:cs typeface="맑은 고딕"/>
              </a:rPr>
              <a:t>T_agent     DONE</a:t>
            </a:r>
          </a:p>
          <a:p>
            <a:pPr algn="l">
              <a:lnSpc>
                <a:spcPct val="110000"/>
              </a:lnSpc>
              <a:spcAft>
                <a:spcPts val="200"/>
              </a:spcAft>
            </a:pPr>
            <a:r>
              <a:rPr sz="1300" b="0">
                <a:solidFill>
                  <a:srgbClr val="E8EEF6"/>
                </a:solidFill>
                <a:latin typeface="Consolas"/>
                <a:ea typeface="맑은 고딕"/>
                <a:cs typeface="맑은 고딕"/>
              </a:rPr>
              <a:t>T_approve   IN_PROGRESS</a:t>
            </a:r>
          </a:p>
          <a:p>
            <a:pPr algn="l">
              <a:lnSpc>
                <a:spcPct val="110000"/>
              </a:lnSpc>
              <a:spcAft>
                <a:spcPts val="200"/>
              </a:spcAft>
            </a:pPr>
            <a:r>
              <a:rPr sz="1300" b="0">
                <a:solidFill>
                  <a:srgbClr val="E8EEF6"/>
                </a:solidFill>
                <a:latin typeface="Consolas"/>
                <a:ea typeface="맑은 고딕"/>
                <a:cs typeface="맑은 고딕"/>
              </a:rPr>
              <a:t>T_cmd       TODO</a:t>
            </a:r>
          </a:p>
          <a:p>
            <a:pPr algn="l">
              <a:lnSpc>
                <a:spcPct val="110000"/>
              </a:lnSpc>
              <a:spcAft>
                <a:spcPts val="200"/>
              </a:spcAft>
            </a:pPr>
            <a:r>
              <a:rPr sz="1300" b="0">
                <a:solidFill>
                  <a:srgbClr val="E8EEF6"/>
                </a:solidFill>
                <a:latin typeface="Consolas"/>
                <a:ea typeface="맑은 고딕"/>
                <a:cs typeface="맑은 고딕"/>
              </a:rPr>
              <a:t>T_reobs     TODO</a:t>
            </a:r>
          </a:p>
          <a:p>
            <a:pPr algn="l">
              <a:lnSpc>
                <a:spcPct val="110000"/>
              </a:lnSpc>
              <a:spcAft>
                <a:spcPts val="200"/>
              </a:spcAft>
            </a:pPr>
            <a:r>
              <a:rPr sz="1300" b="0">
                <a:solidFill>
                  <a:srgbClr val="E8EEF6"/>
                </a:solidFill>
                <a:latin typeface="Consolas"/>
                <a:ea typeface="맑은 고딕"/>
                <a:cs typeface="맑은 고딕"/>
              </a:rPr>
              <a:t>T_wo        TODO</a:t>
            </a:r>
          </a:p>
        </p:txBody>
      </p:sp>
      <p:sp>
        <p:nvSpPr>
          <p:cNvPr id="8" name="TextBox 7"/>
          <p:cNvSpPr txBox="1"/>
          <p:nvPr/>
        </p:nvSpPr>
        <p:spPr>
          <a:xfrm>
            <a:off x="7635240" y="232829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처리 건의 상태</a:t>
            </a:r>
          </a:p>
          <a:p>
            <a:pPr algn="l">
              <a:lnSpc>
                <a:spcPct val="110000"/>
              </a:lnSpc>
              <a:spcAft>
                <a:spcPts val="400"/>
              </a:spcAft>
            </a:pPr>
            <a:r>
              <a:rPr sz="1400" b="0">
                <a:solidFill>
                  <a:srgbClr val="1F2A3A"/>
                </a:solidFill>
                <a:latin typeface="맑은 고딕"/>
                <a:ea typeface="맑은 고딕"/>
                <a:cs typeface="맑은 고딕"/>
              </a:rPr>
              <a:t>끝나지 않았으므로</a:t>
            </a:r>
          </a:p>
          <a:p>
            <a:pPr algn="l">
              <a:lnSpc>
                <a:spcPct val="110000"/>
              </a:lnSpc>
              <a:spcAft>
                <a:spcPts val="400"/>
              </a:spcAft>
            </a:pPr>
            <a:r>
              <a:rPr sz="1400" b="0">
                <a:solidFill>
                  <a:srgbClr val="1F2A3A"/>
                </a:solidFill>
                <a:latin typeface="맑은 고딕"/>
                <a:ea typeface="맑은 고딕"/>
                <a:cs typeface="맑은 고딕"/>
              </a:rPr>
              <a:t>RUNNING이다.</a:t>
            </a:r>
          </a:p>
        </p:txBody>
      </p:sp>
      <p:sp>
        <p:nvSpPr>
          <p:cNvPr id="9" name="TextBox 8"/>
          <p:cNvSpPr txBox="1"/>
          <p:nvPr/>
        </p:nvSpPr>
        <p:spPr>
          <a:xfrm>
            <a:off x="7635240" y="343700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열려 있는 단계</a:t>
            </a:r>
          </a:p>
          <a:p>
            <a:pPr algn="l">
              <a:lnSpc>
                <a:spcPct val="110000"/>
              </a:lnSpc>
              <a:spcAft>
                <a:spcPts val="400"/>
              </a:spcAft>
            </a:pPr>
            <a:r>
              <a:rPr sz="1400" b="0">
                <a:solidFill>
                  <a:srgbClr val="1F2A3A"/>
                </a:solidFill>
                <a:latin typeface="맑은 고딕"/>
                <a:ea typeface="맑은 고딕"/>
                <a:cs typeface="맑은 고딕"/>
              </a:rPr>
              <a:t>토큰이 있는 곳이</a:t>
            </a:r>
          </a:p>
          <a:p>
            <a:pPr algn="l">
              <a:lnSpc>
                <a:spcPct val="110000"/>
              </a:lnSpc>
              <a:spcAft>
                <a:spcPts val="400"/>
              </a:spcAft>
            </a:pPr>
            <a:r>
              <a:rPr sz="1400" b="0">
                <a:solidFill>
                  <a:srgbClr val="1F2A3A"/>
                </a:solidFill>
                <a:latin typeface="맑은 고딕"/>
                <a:ea typeface="맑은 고딕"/>
                <a:cs typeface="맑은 고딕"/>
              </a:rPr>
              <a:t>T_approve, 운전원 승인이다.</a:t>
            </a:r>
          </a:p>
        </p:txBody>
      </p:sp>
      <p:sp>
        <p:nvSpPr>
          <p:cNvPr id="10" name="TextBox 9"/>
          <p:cNvSpPr txBox="1"/>
          <p:nvPr/>
        </p:nvSpPr>
        <p:spPr>
          <a:xfrm>
            <a:off x="7635240" y="454571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단계의 상태</a:t>
            </a:r>
          </a:p>
          <a:p>
            <a:pPr algn="l">
              <a:lnSpc>
                <a:spcPct val="110000"/>
              </a:lnSpc>
              <a:spcAft>
                <a:spcPts val="400"/>
              </a:spcAft>
            </a:pPr>
            <a:r>
              <a:rPr sz="1400" b="0">
                <a:solidFill>
                  <a:srgbClr val="1F2A3A"/>
                </a:solidFill>
                <a:latin typeface="맑은 고딕"/>
                <a:ea typeface="맑은 고딕"/>
                <a:cs typeface="맑은 고딕"/>
              </a:rPr>
              <a:t>끝난 것은 DONE,</a:t>
            </a:r>
          </a:p>
          <a:p>
            <a:pPr algn="l">
              <a:lnSpc>
                <a:spcPct val="110000"/>
              </a:lnSpc>
              <a:spcAft>
                <a:spcPts val="400"/>
              </a:spcAft>
            </a:pPr>
            <a:r>
              <a:rPr sz="1400" b="0">
                <a:solidFill>
                  <a:srgbClr val="1F2A3A"/>
                </a:solidFill>
                <a:latin typeface="맑은 고딕"/>
                <a:ea typeface="맑은 고딕"/>
                <a:cs typeface="맑은 고딕"/>
              </a:rPr>
              <a:t>닿지 않은 것은 TODO이다.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토큰이 둘이 되는 순간</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비중단형 타이머가 발생하면 토큰이 하나 더 생겨 알림 가지를 지나고, 처음의 토큰은 승인 작업에 남아 계속 기다린다.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10</a:t>
            </a:r>
          </a:p>
        </p:txBody>
      </p:sp>
      <p:pic>
        <p:nvPicPr>
          <p:cNvPr id="6" name="삽화:흐름_토큰_둘.svg" descr="illust_8665054756328738036_1791735769.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3564844" y="2015282"/>
            <a:ext cx="120004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운전원 승인</a:t>
            </a:r>
          </a:p>
        </p:txBody>
      </p:sp>
      <p:sp>
        <p:nvSpPr>
          <p:cNvPr id="8" name="TextBox 7"/>
          <p:cNvSpPr txBox="1"/>
          <p:nvPr/>
        </p:nvSpPr>
        <p:spPr>
          <a:xfrm>
            <a:off x="3968496" y="4941573"/>
            <a:ext cx="981854"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승인 지연 알림</a:t>
            </a:r>
          </a:p>
        </p:txBody>
      </p:sp>
      <p:sp>
        <p:nvSpPr>
          <p:cNvPr id="9" name="TextBox 8"/>
          <p:cNvSpPr txBox="1"/>
          <p:nvPr/>
        </p:nvSpPr>
        <p:spPr>
          <a:xfrm>
            <a:off x="4513970" y="2785856"/>
            <a:ext cx="545474"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승인 지연</a:t>
            </a:r>
          </a:p>
        </p:txBody>
      </p:sp>
      <p:sp>
        <p:nvSpPr>
          <p:cNvPr id="10" name="TextBox 9"/>
          <p:cNvSpPr txBox="1"/>
          <p:nvPr/>
        </p:nvSpPr>
        <p:spPr>
          <a:xfrm>
            <a:off x="6750417" y="1769455"/>
            <a:ext cx="4145608" cy="507618"/>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처음의 토큰</a:t>
            </a:r>
          </a:p>
          <a:p>
            <a:pPr algn="ctr">
              <a:lnSpc>
                <a:spcPct val="110000"/>
              </a:lnSpc>
              <a:spcAft>
                <a:spcPts val="100"/>
              </a:spcAft>
            </a:pPr>
            <a:r>
              <a:rPr sz="1100" b="0">
                <a:solidFill>
                  <a:srgbClr val="556175"/>
                </a:solidFill>
                <a:latin typeface="맑은 고딕"/>
                <a:ea typeface="맑은 고딕"/>
                <a:cs typeface="맑은 고딕"/>
              </a:rPr>
              <a:t>운전원 승인에 남아 승인을 기다린다</a:t>
            </a:r>
          </a:p>
        </p:txBody>
      </p:sp>
      <p:sp>
        <p:nvSpPr>
          <p:cNvPr id="11" name="TextBox 10"/>
          <p:cNvSpPr txBox="1"/>
          <p:nvPr/>
        </p:nvSpPr>
        <p:spPr>
          <a:xfrm>
            <a:off x="1677502" y="4842296"/>
            <a:ext cx="1854614" cy="678053"/>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둘째 토큰</a:t>
            </a:r>
          </a:p>
          <a:p>
            <a:pPr algn="ctr">
              <a:lnSpc>
                <a:spcPct val="110000"/>
              </a:lnSpc>
              <a:spcAft>
                <a:spcPts val="100"/>
              </a:spcAft>
            </a:pPr>
            <a:r>
              <a:rPr sz="1100" b="0">
                <a:solidFill>
                  <a:srgbClr val="556175"/>
                </a:solidFill>
                <a:latin typeface="맑은 고딕"/>
                <a:ea typeface="맑은 고딕"/>
                <a:cs typeface="맑은 고딕"/>
              </a:rPr>
              <a:t>승인 지연 타이머에서 생겨 알림 가지를 지난다</a:t>
            </a:r>
          </a:p>
        </p:txBody>
      </p:sp>
      <p:sp>
        <p:nvSpPr>
          <p:cNvPr id="12" name="TextBox 11"/>
          <p:cNvSpPr txBox="1"/>
          <p:nvPr/>
        </p:nvSpPr>
        <p:spPr>
          <a:xfrm>
            <a:off x="2282979" y="2870950"/>
            <a:ext cx="1352777"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원인 진단 · 냉각 조치 제안</a:t>
            </a:r>
          </a:p>
        </p:txBody>
      </p:sp>
      <p:sp>
        <p:nvSpPr>
          <p:cNvPr id="13" name="TextBox 12"/>
          <p:cNvSpPr txBox="1"/>
          <p:nvPr/>
        </p:nvSpPr>
        <p:spPr>
          <a:xfrm>
            <a:off x="4666703" y="4199363"/>
            <a:ext cx="120004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냉각 명령</a:t>
            </a:r>
          </a:p>
        </p:txBody>
      </p:sp>
      <p:sp>
        <p:nvSpPr>
          <p:cNvPr id="14" name="TextBox 13"/>
          <p:cNvSpPr txBox="1"/>
          <p:nvPr/>
        </p:nvSpPr>
        <p:spPr>
          <a:xfrm>
            <a:off x="6194033" y="4199363"/>
            <a:ext cx="109094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재관측</a:t>
            </a:r>
          </a:p>
        </p:txBody>
      </p:sp>
      <p:sp>
        <p:nvSpPr>
          <p:cNvPr id="15" name="TextBox 14"/>
          <p:cNvSpPr txBox="1"/>
          <p:nvPr/>
        </p:nvSpPr>
        <p:spPr>
          <a:xfrm>
            <a:off x="8397751" y="4081177"/>
            <a:ext cx="981854"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작업지시 등록</a:t>
            </a:r>
          </a:p>
        </p:txBody>
      </p:sp>
      <p:sp>
        <p:nvSpPr>
          <p:cNvPr id="16" name="TextBox 15"/>
          <p:cNvSpPr txBox="1"/>
          <p:nvPr/>
        </p:nvSpPr>
        <p:spPr>
          <a:xfrm>
            <a:off x="9717799" y="4081177"/>
            <a:ext cx="1090949"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결과 보고: 정상</a:t>
            </a:r>
          </a:p>
        </p:txBody>
      </p:sp>
      <p:sp>
        <p:nvSpPr>
          <p:cNvPr id="17" name="TextBox 16"/>
          <p:cNvSpPr txBox="1"/>
          <p:nvPr/>
        </p:nvSpPr>
        <p:spPr>
          <a:xfrm>
            <a:off x="7284982" y="4941573"/>
            <a:ext cx="1090949"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결과 보고: 미달</a:t>
            </a:r>
          </a:p>
        </p:txBody>
      </p:sp>
      <p:sp>
        <p:nvSpPr>
          <p:cNvPr id="18" name="TextBox 17"/>
          <p:cNvSpPr txBox="1"/>
          <p:nvPr/>
        </p:nvSpPr>
        <p:spPr>
          <a:xfrm>
            <a:off x="5474006" y="4941573"/>
            <a:ext cx="1090949"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결과 보고: 거절</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실행 상태: 처리 건의 상태와 단계의 상태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처리 건의 상태는 진행 중인지 끝났는지만 알려 주고, 어디에서 기다리며 어느 갈래로 갔는지는 단계의 상태가 알려 준다.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11</a:t>
            </a:r>
          </a:p>
        </p:txBody>
      </p:sp>
      <p:sp>
        <p:nvSpPr>
          <p:cNvPr id="6" name="TextBox 5"/>
          <p:cNvSpPr txBox="1"/>
          <p:nvPr/>
        </p:nvSpPr>
        <p:spPr>
          <a:xfrm>
            <a:off x="640080" y="1627632"/>
            <a:ext cx="3291839" cy="1181862"/>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RUNNING</a:t>
            </a:r>
          </a:p>
          <a:p>
            <a:pPr algn="l">
              <a:lnSpc>
                <a:spcPct val="110000"/>
              </a:lnSpc>
              <a:spcAft>
                <a:spcPts val="200"/>
              </a:spcAft>
            </a:pPr>
            <a:r>
              <a:rPr sz="1150" b="0">
                <a:solidFill>
                  <a:srgbClr val="556175"/>
                </a:solidFill>
                <a:latin typeface="맑은 고딕"/>
                <a:ea typeface="맑은 고딕"/>
                <a:cs typeface="맑은 고딕"/>
              </a:rPr>
              <a:t>처리 건</a:t>
            </a:r>
          </a:p>
        </p:txBody>
      </p:sp>
      <p:sp>
        <p:nvSpPr>
          <p:cNvPr id="7" name="TextBox 6"/>
          <p:cNvSpPr txBox="1"/>
          <p:nvPr/>
        </p:nvSpPr>
        <p:spPr>
          <a:xfrm>
            <a:off x="4023359" y="1627632"/>
            <a:ext cx="7528255" cy="1181862"/>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처리 건이 열려 진행 중이다. 승인을 기다리는 동안에도 이 상태이다.</a:t>
            </a:r>
          </a:p>
        </p:txBody>
      </p:sp>
      <p:sp>
        <p:nvSpPr>
          <p:cNvPr id="8" name="Rectangle 7"/>
          <p:cNvSpPr/>
          <p:nvPr/>
        </p:nvSpPr>
        <p:spPr>
          <a:xfrm>
            <a:off x="548640" y="2800350"/>
            <a:ext cx="11094415" cy="13716"/>
          </a:xfrm>
          <a:prstGeom prst="rect">
            <a:avLst/>
          </a:prstGeom>
          <a:solidFill>
            <a:srgbClr val="D3D9E1"/>
          </a:solidFill>
          <a:ln>
            <a:noFill/>
          </a:ln>
        </p:spPr>
        <p:txBody>
          <a:bodyPr rtlCol="0" anchor="ctr"/>
          <a:lstStyle/>
          <a:p>
            <a:pPr algn="ctr"/>
          </a:p>
        </p:txBody>
      </p:sp>
      <p:sp>
        <p:nvSpPr>
          <p:cNvPr id="9" name="TextBox 8"/>
          <p:cNvSpPr txBox="1"/>
          <p:nvPr/>
        </p:nvSpPr>
        <p:spPr>
          <a:xfrm>
            <a:off x="640080" y="2809494"/>
            <a:ext cx="3291839" cy="1181862"/>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COMPLETED</a:t>
            </a:r>
          </a:p>
          <a:p>
            <a:pPr algn="l">
              <a:lnSpc>
                <a:spcPct val="110000"/>
              </a:lnSpc>
              <a:spcAft>
                <a:spcPts val="200"/>
              </a:spcAft>
            </a:pPr>
            <a:r>
              <a:rPr sz="1150" b="0">
                <a:solidFill>
                  <a:srgbClr val="556175"/>
                </a:solidFill>
                <a:latin typeface="맑은 고딕"/>
                <a:ea typeface="맑은 고딕"/>
                <a:cs typeface="맑은 고딕"/>
              </a:rPr>
              <a:t>처리 건</a:t>
            </a:r>
          </a:p>
        </p:txBody>
      </p:sp>
      <p:sp>
        <p:nvSpPr>
          <p:cNvPr id="10" name="TextBox 9"/>
          <p:cNvSpPr txBox="1"/>
          <p:nvPr/>
        </p:nvSpPr>
        <p:spPr>
          <a:xfrm>
            <a:off x="4023359" y="2809494"/>
            <a:ext cx="7528255" cy="1181862"/>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처리 건이 끝 이벤트에 닿아 실행이 끝났다.</a:t>
            </a:r>
          </a:p>
        </p:txBody>
      </p:sp>
      <p:sp>
        <p:nvSpPr>
          <p:cNvPr id="11" name="Rectangle 10"/>
          <p:cNvSpPr/>
          <p:nvPr/>
        </p:nvSpPr>
        <p:spPr>
          <a:xfrm>
            <a:off x="548640" y="3982212"/>
            <a:ext cx="11094415" cy="13716"/>
          </a:xfrm>
          <a:prstGeom prst="rect">
            <a:avLst/>
          </a:prstGeom>
          <a:solidFill>
            <a:srgbClr val="D3D9E1"/>
          </a:solidFill>
          <a:ln>
            <a:noFill/>
          </a:ln>
        </p:spPr>
        <p:txBody>
          <a:bodyPr rtlCol="0" anchor="ctr"/>
          <a:lstStyle/>
          <a:p>
            <a:pPr algn="ctr"/>
          </a:p>
        </p:txBody>
      </p:sp>
      <p:sp>
        <p:nvSpPr>
          <p:cNvPr id="12" name="TextBox 11"/>
          <p:cNvSpPr txBox="1"/>
          <p:nvPr/>
        </p:nvSpPr>
        <p:spPr>
          <a:xfrm>
            <a:off x="640080" y="3991356"/>
            <a:ext cx="3291839" cy="1181862"/>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IN_PROGRESS · DONE · TODO</a:t>
            </a:r>
          </a:p>
          <a:p>
            <a:pPr algn="l">
              <a:lnSpc>
                <a:spcPct val="110000"/>
              </a:lnSpc>
              <a:spcAft>
                <a:spcPts val="200"/>
              </a:spcAft>
            </a:pPr>
            <a:r>
              <a:rPr sz="1150" b="0">
                <a:solidFill>
                  <a:srgbClr val="556175"/>
                </a:solidFill>
                <a:latin typeface="맑은 고딕"/>
                <a:ea typeface="맑은 고딕"/>
                <a:cs typeface="맑은 고딕"/>
              </a:rPr>
              <a:t>단계</a:t>
            </a:r>
          </a:p>
        </p:txBody>
      </p:sp>
      <p:sp>
        <p:nvSpPr>
          <p:cNvPr id="13" name="TextBox 12"/>
          <p:cNvSpPr txBox="1"/>
          <p:nvPr/>
        </p:nvSpPr>
        <p:spPr>
          <a:xfrm>
            <a:off x="4023359" y="3991356"/>
            <a:ext cx="7528255" cy="1181862"/>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단계가 열려 있다, 끝났다, 아직 닿지 않았다.</a:t>
            </a:r>
          </a:p>
        </p:txBody>
      </p:sp>
      <p:sp>
        <p:nvSpPr>
          <p:cNvPr id="14" name="Rectangle 13"/>
          <p:cNvSpPr/>
          <p:nvPr/>
        </p:nvSpPr>
        <p:spPr>
          <a:xfrm>
            <a:off x="548640" y="5164074"/>
            <a:ext cx="11094415" cy="13716"/>
          </a:xfrm>
          <a:prstGeom prst="rect">
            <a:avLst/>
          </a:prstGeom>
          <a:solidFill>
            <a:srgbClr val="D3D9E1"/>
          </a:solidFill>
          <a:ln>
            <a:noFill/>
          </a:ln>
        </p:spPr>
        <p:txBody>
          <a:bodyPr rtlCol="0" anchor="ctr"/>
          <a:lstStyle/>
          <a:p>
            <a:pPr algn="ctr"/>
          </a:p>
        </p:txBody>
      </p:sp>
      <p:sp>
        <p:nvSpPr>
          <p:cNvPr id="15" name="Rounded Rectangle 14"/>
          <p:cNvSpPr/>
          <p:nvPr/>
        </p:nvSpPr>
        <p:spPr>
          <a:xfrm>
            <a:off x="548640" y="5200650"/>
            <a:ext cx="11094415" cy="1126998"/>
          </a:xfrm>
          <a:prstGeom prst="roundRect">
            <a:avLst>
              <a:gd name="adj" fmla="val 6000"/>
            </a:avLst>
          </a:prstGeom>
          <a:solidFill>
            <a:srgbClr val="E7F3FD"/>
          </a:solidFill>
          <a:ln>
            <a:noFill/>
          </a:ln>
        </p:spPr>
        <p:txBody>
          <a:bodyPr rtlCol="0" anchor="ctr"/>
          <a:lstStyle/>
          <a:p>
            <a:pPr algn="ctr"/>
          </a:p>
        </p:txBody>
      </p:sp>
      <p:sp>
        <p:nvSpPr>
          <p:cNvPr id="16" name="TextBox 15"/>
          <p:cNvSpPr txBox="1"/>
          <p:nvPr/>
        </p:nvSpPr>
        <p:spPr>
          <a:xfrm>
            <a:off x="640080" y="5173218"/>
            <a:ext cx="3291839" cy="1181862"/>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CANCELLED</a:t>
            </a:r>
          </a:p>
          <a:p>
            <a:pPr algn="l">
              <a:lnSpc>
                <a:spcPct val="110000"/>
              </a:lnSpc>
              <a:spcAft>
                <a:spcPts val="200"/>
              </a:spcAft>
            </a:pPr>
            <a:r>
              <a:rPr sz="1150" b="0">
                <a:solidFill>
                  <a:srgbClr val="556175"/>
                </a:solidFill>
                <a:latin typeface="맑은 고딕"/>
                <a:ea typeface="맑은 고딕"/>
                <a:cs typeface="맑은 고딕"/>
              </a:rPr>
              <a:t>단계</a:t>
            </a:r>
          </a:p>
        </p:txBody>
      </p:sp>
      <p:sp>
        <p:nvSpPr>
          <p:cNvPr id="17" name="TextBox 16"/>
          <p:cNvSpPr txBox="1"/>
          <p:nvPr/>
        </p:nvSpPr>
        <p:spPr>
          <a:xfrm>
            <a:off x="4023359" y="5173218"/>
            <a:ext cx="7528255" cy="1181862"/>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단계가 선택되지 않은 갈래에 있었다.</a:t>
            </a:r>
          </a:p>
          <a:p>
            <a:pPr algn="l">
              <a:lnSpc>
                <a:spcPct val="110000"/>
              </a:lnSpc>
              <a:spcAft>
                <a:spcPts val="300"/>
              </a:spcAft>
            </a:pPr>
            <a:r>
              <a:rPr sz="1400" b="0">
                <a:solidFill>
                  <a:srgbClr val="1F2A3A"/>
                </a:solidFill>
                <a:latin typeface="맑은 고딕"/>
                <a:ea typeface="맑은 고딕"/>
                <a:cs typeface="맑은 고딕"/>
              </a:rPr>
              <a:t>거절된 처리 건의 냉각 명령이 이 상태로 남는다.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COMPLETED는 성공을 뜻하지 않는다</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거절로 닫힌 처리 건도 상태는 COMPLETED이므로, 업무의 결과는 닿은 끝 이벤트와 결과 보고의 내용으로 판단한다.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12</a:t>
            </a:r>
          </a:p>
        </p:txBody>
      </p:sp>
      <p:sp>
        <p:nvSpPr>
          <p:cNvPr id="6" name="Rounded Rectangle 5"/>
          <p:cNvSpPr/>
          <p:nvPr/>
        </p:nvSpPr>
        <p:spPr>
          <a:xfrm>
            <a:off x="548640" y="2128647"/>
            <a:ext cx="5181447" cy="3725418"/>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329815"/>
            <a:ext cx="731520" cy="731520"/>
          </a:xfrm>
          <a:prstGeom prst="ellipse">
            <a:avLst/>
          </a:prstGeom>
          <a:solidFill>
            <a:srgbClr val="FFFFFF"/>
          </a:solidFill>
          <a:ln>
            <a:noFill/>
          </a:ln>
        </p:spPr>
        <p:txBody>
          <a:bodyPr rtlCol="0" anchor="ctr"/>
          <a:lstStyle/>
          <a:p>
            <a:pPr algn="ctr"/>
          </a:p>
        </p:txBody>
      </p:sp>
      <p:pic>
        <p:nvPicPr>
          <p:cNvPr id="8" name="아이콘:circle-check" descr="circle-check_13294B_1.6.png"/>
          <p:cNvPicPr>
            <a:picLocks noChangeAspect="1"/>
          </p:cNvPicPr>
          <p:nvPr/>
        </p:nvPicPr>
        <p:blipFill>
          <a:blip r:embed="rId3"/>
          <a:stretch>
            <a:fillRect/>
          </a:stretch>
        </p:blipFill>
        <p:spPr>
          <a:xfrm>
            <a:off x="976579" y="2483434"/>
            <a:ext cx="424281" cy="424281"/>
          </a:xfrm>
          <a:prstGeom prst="rect">
            <a:avLst/>
          </a:prstGeom>
        </p:spPr>
      </p:pic>
      <p:sp>
        <p:nvSpPr>
          <p:cNvPr id="9" name="TextBox 8"/>
          <p:cNvSpPr txBox="1"/>
          <p:nvPr/>
        </p:nvSpPr>
        <p:spPr>
          <a:xfrm>
            <a:off x="1691640" y="2329815"/>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승인된 처리 건</a:t>
            </a:r>
          </a:p>
        </p:txBody>
      </p:sp>
      <p:sp>
        <p:nvSpPr>
          <p:cNvPr id="10" name="TextBox 9"/>
          <p:cNvSpPr txBox="1"/>
          <p:nvPr/>
        </p:nvSpPr>
        <p:spPr>
          <a:xfrm>
            <a:off x="822959" y="3180207"/>
            <a:ext cx="4632807" cy="2125218"/>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status: COMPLETED</a:t>
            </a:r>
          </a:p>
          <a:p>
            <a:pPr algn="l">
              <a:lnSpc>
                <a:spcPct val="110000"/>
              </a:lnSpc>
              <a:spcAft>
                <a:spcPts val="600"/>
              </a:spcAft>
            </a:pPr>
            <a:r>
              <a:rPr sz="1450" b="0">
                <a:solidFill>
                  <a:srgbClr val="1F2A3A"/>
                </a:solidFill>
                <a:latin typeface="맑은 고딕"/>
                <a:ea typeface="맑은 고딕"/>
                <a:cs typeface="맑은 고딕"/>
              </a:rPr>
              <a:t>• end_event: E_end</a:t>
            </a:r>
          </a:p>
          <a:p>
            <a:pPr algn="l">
              <a:lnSpc>
                <a:spcPct val="110000"/>
              </a:lnSpc>
              <a:spcAft>
                <a:spcPts val="600"/>
              </a:spcAft>
            </a:pPr>
            <a:r>
              <a:rPr sz="1450" b="0">
                <a:solidFill>
                  <a:srgbClr val="1F2A3A"/>
                </a:solidFill>
                <a:latin typeface="맑은 고딕"/>
                <a:ea typeface="맑은 고딕"/>
                <a:cs typeface="맑은 고딕"/>
              </a:rPr>
              <a:t>• 결과 보고: 정상</a:t>
            </a:r>
          </a:p>
          <a:p>
            <a:pPr algn="l">
              <a:lnSpc>
                <a:spcPct val="110000"/>
              </a:lnSpc>
              <a:spcAft>
                <a:spcPts val="600"/>
              </a:spcAft>
            </a:pPr>
            <a:r>
              <a:rPr sz="1450" b="0">
                <a:solidFill>
                  <a:srgbClr val="1F2A3A"/>
                </a:solidFill>
                <a:latin typeface="맑은 고딕"/>
                <a:ea typeface="맑은 고딕"/>
                <a:cs typeface="맑은 고딕"/>
              </a:rPr>
              <a:t>• 설비 명령: CMD-1010-0001-01d1</a:t>
            </a:r>
          </a:p>
          <a:p>
            <a:pPr algn="l">
              <a:lnSpc>
                <a:spcPct val="110000"/>
              </a:lnSpc>
              <a:spcAft>
                <a:spcPts val="600"/>
              </a:spcAft>
            </a:pPr>
            <a:r>
              <a:rPr sz="1450" b="0">
                <a:solidFill>
                  <a:srgbClr val="1F2A3A"/>
                </a:solidFill>
                <a:latin typeface="맑은 고딕"/>
                <a:ea typeface="맑은 고딕"/>
                <a:cs typeface="맑은 고딕"/>
              </a:rPr>
              <a:t>• 회복에 미달해도 end_event는 E_end이고 결과 보고가 미달로 달라진다</a:t>
            </a:r>
          </a:p>
        </p:txBody>
      </p:sp>
      <p:sp>
        <p:nvSpPr>
          <p:cNvPr id="11" name="Rounded Rectangle 10"/>
          <p:cNvSpPr/>
          <p:nvPr/>
        </p:nvSpPr>
        <p:spPr>
          <a:xfrm>
            <a:off x="868680" y="5396865"/>
            <a:ext cx="82296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396865"/>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끝</a:t>
            </a:r>
          </a:p>
        </p:txBody>
      </p:sp>
      <p:sp>
        <p:nvSpPr>
          <p:cNvPr id="13" name="Rounded Rectangle 12"/>
          <p:cNvSpPr/>
          <p:nvPr/>
        </p:nvSpPr>
        <p:spPr>
          <a:xfrm>
            <a:off x="6461607" y="2128647"/>
            <a:ext cx="5181447" cy="3725418"/>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329815"/>
            <a:ext cx="731520" cy="731520"/>
          </a:xfrm>
          <a:prstGeom prst="ellipse">
            <a:avLst/>
          </a:prstGeom>
          <a:solidFill>
            <a:srgbClr val="5CB8F2"/>
          </a:solidFill>
          <a:ln>
            <a:noFill/>
          </a:ln>
        </p:spPr>
        <p:txBody>
          <a:bodyPr rtlCol="0" anchor="ctr"/>
          <a:lstStyle/>
          <a:p>
            <a:pPr algn="ctr"/>
          </a:p>
        </p:txBody>
      </p:sp>
      <p:pic>
        <p:nvPicPr>
          <p:cNvPr id="15" name="아이콘:ban" descr="ban_13294B_1.6.png"/>
          <p:cNvPicPr>
            <a:picLocks noChangeAspect="1"/>
          </p:cNvPicPr>
          <p:nvPr/>
        </p:nvPicPr>
        <p:blipFill>
          <a:blip r:embed="rId4"/>
          <a:stretch>
            <a:fillRect/>
          </a:stretch>
        </p:blipFill>
        <p:spPr>
          <a:xfrm>
            <a:off x="6889546" y="2483434"/>
            <a:ext cx="424281" cy="424281"/>
          </a:xfrm>
          <a:prstGeom prst="rect">
            <a:avLst/>
          </a:prstGeom>
        </p:spPr>
      </p:pic>
      <p:sp>
        <p:nvSpPr>
          <p:cNvPr id="16" name="TextBox 15"/>
          <p:cNvSpPr txBox="1"/>
          <p:nvPr/>
        </p:nvSpPr>
        <p:spPr>
          <a:xfrm>
            <a:off x="7604607" y="2329815"/>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거절된 처리 건</a:t>
            </a:r>
          </a:p>
        </p:txBody>
      </p:sp>
      <p:sp>
        <p:nvSpPr>
          <p:cNvPr id="17" name="TextBox 16"/>
          <p:cNvSpPr txBox="1"/>
          <p:nvPr/>
        </p:nvSpPr>
        <p:spPr>
          <a:xfrm>
            <a:off x="6735927" y="3180207"/>
            <a:ext cx="4632807" cy="2125218"/>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status: COMPLETED</a:t>
            </a:r>
          </a:p>
          <a:p>
            <a:pPr algn="l">
              <a:lnSpc>
                <a:spcPct val="110000"/>
              </a:lnSpc>
              <a:spcAft>
                <a:spcPts val="600"/>
              </a:spcAft>
            </a:pPr>
            <a:r>
              <a:rPr sz="1450" b="0">
                <a:solidFill>
                  <a:srgbClr val="1F2A3A"/>
                </a:solidFill>
                <a:latin typeface="맑은 고딕"/>
                <a:ea typeface="맑은 고딕"/>
                <a:cs typeface="맑은 고딕"/>
              </a:rPr>
              <a:t>• end_event: E_rejected</a:t>
            </a:r>
          </a:p>
          <a:p>
            <a:pPr algn="l">
              <a:lnSpc>
                <a:spcPct val="110000"/>
              </a:lnSpc>
              <a:spcAft>
                <a:spcPts val="600"/>
              </a:spcAft>
            </a:pPr>
            <a:r>
              <a:rPr sz="1450" b="0">
                <a:solidFill>
                  <a:srgbClr val="1F2A3A"/>
                </a:solidFill>
                <a:latin typeface="맑은 고딕"/>
                <a:ea typeface="맑은 고딕"/>
                <a:cs typeface="맑은 고딕"/>
              </a:rPr>
              <a:t>• 결과 보고: 거절(기록의 값은 반려)</a:t>
            </a:r>
          </a:p>
          <a:p>
            <a:pPr algn="l">
              <a:lnSpc>
                <a:spcPct val="110000"/>
              </a:lnSpc>
              <a:spcAft>
                <a:spcPts val="600"/>
              </a:spcAft>
            </a:pPr>
            <a:r>
              <a:rPr sz="1450" b="0">
                <a:solidFill>
                  <a:srgbClr val="1F2A3A"/>
                </a:solidFill>
                <a:latin typeface="맑은 고딕"/>
                <a:ea typeface="맑은 고딕"/>
                <a:cs typeface="맑은 고딕"/>
              </a:rPr>
              <a:t>• 설비 명령: 없음</a:t>
            </a:r>
          </a:p>
          <a:p>
            <a:pPr algn="l">
              <a:lnSpc>
                <a:spcPct val="110000"/>
              </a:lnSpc>
              <a:spcAft>
                <a:spcPts val="600"/>
              </a:spcAft>
            </a:pPr>
            <a:r>
              <a:rPr sz="1450" b="0">
                <a:solidFill>
                  <a:srgbClr val="1F2A3A"/>
                </a:solidFill>
                <a:latin typeface="맑은 고딕"/>
                <a:ea typeface="맑은 고딕"/>
                <a:cs typeface="맑은 고딕"/>
              </a:rPr>
              <a:t>• 냉각 명령, 재관측, 작업지시 등록은 CANCELLED</a:t>
            </a:r>
          </a:p>
        </p:txBody>
      </p:sp>
      <p:sp>
        <p:nvSpPr>
          <p:cNvPr id="18" name="Rounded Rectangle 17"/>
          <p:cNvSpPr/>
          <p:nvPr/>
        </p:nvSpPr>
        <p:spPr>
          <a:xfrm>
            <a:off x="6781647" y="5396865"/>
            <a:ext cx="102108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396865"/>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거절 종결</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갈림의 조건과 기본 흐름</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갈림의 조건은 앞 작업이 낸 값을 견주는 식이어서, 같은 값이면 누가 언제 실행해도 같은 갈래로 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13</a:t>
            </a:r>
          </a:p>
        </p:txBody>
      </p:sp>
      <p:sp>
        <p:nvSpPr>
          <p:cNvPr id="6" name="Rounded Rectangle 5"/>
          <p:cNvSpPr/>
          <p:nvPr/>
        </p:nvSpPr>
        <p:spPr>
          <a:xfrm>
            <a:off x="548640" y="19613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9613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게이트웨이</a:t>
            </a:r>
          </a:p>
        </p:txBody>
      </p:sp>
      <p:sp>
        <p:nvSpPr>
          <p:cNvPr id="8" name="TextBox 7"/>
          <p:cNvSpPr txBox="1"/>
          <p:nvPr/>
        </p:nvSpPr>
        <p:spPr>
          <a:xfrm>
            <a:off x="3200400" y="19613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나가는 선</a:t>
            </a:r>
          </a:p>
        </p:txBody>
      </p:sp>
      <p:sp>
        <p:nvSpPr>
          <p:cNvPr id="9" name="TextBox 8"/>
          <p:cNvSpPr txBox="1"/>
          <p:nvPr/>
        </p:nvSpPr>
        <p:spPr>
          <a:xfrm>
            <a:off x="9448495" y="19613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조건</a:t>
            </a:r>
          </a:p>
        </p:txBody>
      </p:sp>
      <p:sp>
        <p:nvSpPr>
          <p:cNvPr id="10" name="Rounded Rectangle 9"/>
          <p:cNvSpPr/>
          <p:nvPr/>
        </p:nvSpPr>
        <p:spPr>
          <a:xfrm>
            <a:off x="548640" y="23957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363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승인?</a:t>
            </a:r>
          </a:p>
        </p:txBody>
      </p:sp>
      <p:sp>
        <p:nvSpPr>
          <p:cNvPr id="12" name="TextBox 11"/>
          <p:cNvSpPr txBox="1"/>
          <p:nvPr/>
        </p:nvSpPr>
        <p:spPr>
          <a:xfrm>
            <a:off x="3200400" y="2363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승인 → 냉각 명령</a:t>
            </a:r>
          </a:p>
        </p:txBody>
      </p:sp>
      <p:sp>
        <p:nvSpPr>
          <p:cNvPr id="13" name="TextBox 12"/>
          <p:cNvSpPr txBox="1"/>
          <p:nvPr/>
        </p:nvSpPr>
        <p:spPr>
          <a:xfrm>
            <a:off x="9448495" y="23637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approval == '승인'</a:t>
            </a:r>
          </a:p>
        </p:txBody>
      </p:sp>
      <p:sp>
        <p:nvSpPr>
          <p:cNvPr id="14" name="Rounded Rectangle 13"/>
          <p:cNvSpPr/>
          <p:nvPr/>
        </p:nvSpPr>
        <p:spPr>
          <a:xfrm>
            <a:off x="548640" y="33101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2781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승인?</a:t>
            </a:r>
          </a:p>
        </p:txBody>
      </p:sp>
      <p:sp>
        <p:nvSpPr>
          <p:cNvPr id="16" name="TextBox 15"/>
          <p:cNvSpPr txBox="1"/>
          <p:nvPr/>
        </p:nvSpPr>
        <p:spPr>
          <a:xfrm>
            <a:off x="3200400" y="32781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거절 → 결과 보고: 거절</a:t>
            </a:r>
          </a:p>
        </p:txBody>
      </p:sp>
      <p:sp>
        <p:nvSpPr>
          <p:cNvPr id="17" name="TextBox 16"/>
          <p:cNvSpPr txBox="1"/>
          <p:nvPr/>
        </p:nvSpPr>
        <p:spPr>
          <a:xfrm>
            <a:off x="9448495" y="32781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기본 흐름</a:t>
            </a:r>
          </a:p>
        </p:txBody>
      </p:sp>
      <p:sp>
        <p:nvSpPr>
          <p:cNvPr id="18" name="Rounded Rectangle 17"/>
          <p:cNvSpPr/>
          <p:nvPr/>
        </p:nvSpPr>
        <p:spPr>
          <a:xfrm>
            <a:off x="548640" y="42245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1925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유온 정상?</a:t>
            </a:r>
          </a:p>
        </p:txBody>
      </p:sp>
      <p:sp>
        <p:nvSpPr>
          <p:cNvPr id="20" name="TextBox 19"/>
          <p:cNvSpPr txBox="1"/>
          <p:nvPr/>
        </p:nvSpPr>
        <p:spPr>
          <a:xfrm>
            <a:off x="3200400" y="41925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예 → 작업지시 등록</a:t>
            </a:r>
          </a:p>
        </p:txBody>
      </p:sp>
      <p:sp>
        <p:nvSpPr>
          <p:cNvPr id="21" name="TextBox 20"/>
          <p:cNvSpPr txBox="1"/>
          <p:nvPr/>
        </p:nvSpPr>
        <p:spPr>
          <a:xfrm>
            <a:off x="9448495" y="41925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recovered == True</a:t>
            </a:r>
          </a:p>
        </p:txBody>
      </p:sp>
      <p:sp>
        <p:nvSpPr>
          <p:cNvPr id="22" name="Rounded Rectangle 21"/>
          <p:cNvSpPr/>
          <p:nvPr/>
        </p:nvSpPr>
        <p:spPr>
          <a:xfrm>
            <a:off x="548640" y="5138927"/>
            <a:ext cx="11094415" cy="850392"/>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5106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유온 정상?</a:t>
            </a:r>
          </a:p>
        </p:txBody>
      </p:sp>
      <p:sp>
        <p:nvSpPr>
          <p:cNvPr id="24" name="TextBox 23"/>
          <p:cNvSpPr txBox="1"/>
          <p:nvPr/>
        </p:nvSpPr>
        <p:spPr>
          <a:xfrm>
            <a:off x="3200400" y="5106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아니오 → 결과 보고: 미달</a:t>
            </a:r>
          </a:p>
        </p:txBody>
      </p:sp>
      <p:sp>
        <p:nvSpPr>
          <p:cNvPr id="25" name="TextBox 24"/>
          <p:cNvSpPr txBox="1"/>
          <p:nvPr/>
        </p:nvSpPr>
        <p:spPr>
          <a:xfrm>
            <a:off x="9448495" y="51069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기본 흐름</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프로세스 변수: 인스턴스가 지니는 데이터</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프로세스 변수는 인스턴스가 지니는 데이터로, 앞 작업의 출력이 뒤 작업의 입력과 갈림의 조건이 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14</a:t>
            </a:r>
          </a:p>
        </p:txBody>
      </p:sp>
      <p:sp>
        <p:nvSpPr>
          <p:cNvPr id="6" name="Rounded Rectangle 5"/>
          <p:cNvSpPr/>
          <p:nvPr/>
        </p:nvSpPr>
        <p:spPr>
          <a:xfrm>
            <a:off x="548640" y="1961388"/>
            <a:ext cx="11094415" cy="1316736"/>
          </a:xfrm>
          <a:prstGeom prst="roundRect">
            <a:avLst>
              <a:gd name="adj" fmla="val 6000"/>
            </a:avLst>
          </a:prstGeom>
          <a:solidFill>
            <a:srgbClr val="E7F3FD"/>
          </a:solidFill>
          <a:ln>
            <a:noFill/>
          </a:ln>
        </p:spPr>
        <p:txBody>
          <a:bodyPr rtlCol="0" anchor="ctr"/>
          <a:lstStyle/>
          <a:p>
            <a:pPr algn="ctr"/>
          </a:p>
        </p:txBody>
      </p:sp>
      <p:sp>
        <p:nvSpPr>
          <p:cNvPr id="7" name="TextBox 6"/>
          <p:cNvSpPr txBox="1"/>
          <p:nvPr/>
        </p:nvSpPr>
        <p:spPr>
          <a:xfrm>
            <a:off x="640080" y="19339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프로세스 변수</a:t>
            </a:r>
          </a:p>
          <a:p>
            <a:pPr algn="l">
              <a:lnSpc>
                <a:spcPct val="110000"/>
              </a:lnSpc>
              <a:spcAft>
                <a:spcPts val="200"/>
              </a:spcAft>
            </a:pPr>
            <a:r>
              <a:rPr sz="1150" b="0">
                <a:solidFill>
                  <a:srgbClr val="556175"/>
                </a:solidFill>
                <a:latin typeface="맑은 고딕"/>
                <a:ea typeface="맑은 고딕"/>
                <a:cs typeface="맑은 고딕"/>
              </a:rPr>
              <a:t>Process Variable</a:t>
            </a:r>
          </a:p>
        </p:txBody>
      </p:sp>
      <p:sp>
        <p:nvSpPr>
          <p:cNvPr id="8" name="TextBox 7"/>
          <p:cNvSpPr txBox="1"/>
          <p:nvPr/>
        </p:nvSpPr>
        <p:spPr>
          <a:xfrm>
            <a:off x="4023359" y="19339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인스턴스마다 따로 지니는 이름 붙은 값이다.</a:t>
            </a:r>
          </a:p>
          <a:p>
            <a:pPr algn="l">
              <a:lnSpc>
                <a:spcPct val="110000"/>
              </a:lnSpc>
              <a:spcAft>
                <a:spcPts val="300"/>
              </a:spcAft>
            </a:pPr>
            <a:r>
              <a:rPr sz="1400" b="0">
                <a:solidFill>
                  <a:srgbClr val="1F2A3A"/>
                </a:solidFill>
                <a:latin typeface="맑은 고딕"/>
                <a:ea typeface="맑은 고딕"/>
                <a:cs typeface="맑은 고딕"/>
              </a:rPr>
              <a:t>작업이 낸 출력이 변수로 저장되고 뒤의 작업과 게이트웨이가 읽는다.</a:t>
            </a:r>
          </a:p>
        </p:txBody>
      </p:sp>
      <p:sp>
        <p:nvSpPr>
          <p:cNvPr id="9" name="Rectangle 8"/>
          <p:cNvSpPr/>
          <p:nvPr/>
        </p:nvSpPr>
        <p:spPr>
          <a:xfrm>
            <a:off x="548640" y="3296412"/>
            <a:ext cx="11094415" cy="13716"/>
          </a:xfrm>
          <a:prstGeom prst="rect">
            <a:avLst/>
          </a:prstGeom>
          <a:solidFill>
            <a:srgbClr val="D3D9E1"/>
          </a:solidFill>
          <a:ln>
            <a:noFill/>
          </a:ln>
        </p:spPr>
        <p:txBody>
          <a:bodyPr rtlCol="0" anchor="ctr"/>
          <a:lstStyle/>
          <a:p>
            <a:pPr algn="ctr"/>
          </a:p>
        </p:txBody>
      </p:sp>
      <p:sp>
        <p:nvSpPr>
          <p:cNvPr id="10" name="TextBox 9"/>
          <p:cNvSpPr txBox="1"/>
          <p:nvPr/>
        </p:nvSpPr>
        <p:spPr>
          <a:xfrm>
            <a:off x="640080" y="33055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갈림의 조건으로</a:t>
            </a:r>
          </a:p>
          <a:p>
            <a:pPr algn="l">
              <a:lnSpc>
                <a:spcPct val="110000"/>
              </a:lnSpc>
              <a:spcAft>
                <a:spcPts val="200"/>
              </a:spcAft>
            </a:pPr>
            <a:r>
              <a:rPr sz="1150" b="0">
                <a:solidFill>
                  <a:srgbClr val="556175"/>
                </a:solidFill>
                <a:latin typeface="맑은 고딕"/>
                <a:ea typeface="맑은 고딕"/>
                <a:cs typeface="맑은 고딕"/>
              </a:rPr>
              <a:t>approval · recovered</a:t>
            </a:r>
          </a:p>
        </p:txBody>
      </p:sp>
      <p:sp>
        <p:nvSpPr>
          <p:cNvPr id="11" name="TextBox 10"/>
          <p:cNvSpPr txBox="1"/>
          <p:nvPr/>
        </p:nvSpPr>
        <p:spPr>
          <a:xfrm>
            <a:off x="4023359" y="33055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게이트웨이 「승인?」은 운전원 승인이 낸 approval을 읽는다.</a:t>
            </a:r>
          </a:p>
          <a:p>
            <a:pPr algn="l">
              <a:lnSpc>
                <a:spcPct val="110000"/>
              </a:lnSpc>
              <a:spcAft>
                <a:spcPts val="300"/>
              </a:spcAft>
            </a:pPr>
            <a:r>
              <a:rPr sz="1400" b="0">
                <a:solidFill>
                  <a:srgbClr val="1F2A3A"/>
                </a:solidFill>
                <a:latin typeface="맑은 고딕"/>
                <a:ea typeface="맑은 고딕"/>
                <a:cs typeface="맑은 고딕"/>
              </a:rPr>
              <a:t>게이트웨이 「유온 정상?」은 재관측이 낸 recovered를 읽는다.</a:t>
            </a:r>
          </a:p>
        </p:txBody>
      </p:sp>
      <p:sp>
        <p:nvSpPr>
          <p:cNvPr id="12" name="Rectangle 11"/>
          <p:cNvSpPr/>
          <p:nvPr/>
        </p:nvSpPr>
        <p:spPr>
          <a:xfrm>
            <a:off x="548640" y="4668012"/>
            <a:ext cx="11094415" cy="13716"/>
          </a:xfrm>
          <a:prstGeom prst="rect">
            <a:avLst/>
          </a:prstGeom>
          <a:solidFill>
            <a:srgbClr val="D3D9E1"/>
          </a:solidFill>
          <a:ln>
            <a:noFill/>
          </a:ln>
        </p:spPr>
        <p:txBody>
          <a:bodyPr rtlCol="0" anchor="ctr"/>
          <a:lstStyle/>
          <a:p>
            <a:pPr algn="ctr"/>
          </a:p>
        </p:txBody>
      </p:sp>
      <p:sp>
        <p:nvSpPr>
          <p:cNvPr id="13" name="TextBox 12"/>
          <p:cNvSpPr txBox="1"/>
          <p:nvPr/>
        </p:nvSpPr>
        <p:spPr>
          <a:xfrm>
            <a:off x="640080" y="46771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만든 곳의 기록</a:t>
            </a:r>
          </a:p>
          <a:p>
            <a:pPr algn="l">
              <a:lnSpc>
                <a:spcPct val="110000"/>
              </a:lnSpc>
              <a:spcAft>
                <a:spcPts val="200"/>
              </a:spcAft>
            </a:pPr>
            <a:r>
              <a:rPr sz="1150" b="0">
                <a:solidFill>
                  <a:srgbClr val="556175"/>
                </a:solidFill>
                <a:latin typeface="맑은 고딕"/>
                <a:ea typeface="맑은 고딕"/>
                <a:cs typeface="맑은 고딕"/>
              </a:rPr>
              <a:t>값의 출처</a:t>
            </a:r>
          </a:p>
        </p:txBody>
      </p:sp>
      <p:sp>
        <p:nvSpPr>
          <p:cNvPr id="14" name="TextBox 13"/>
          <p:cNvSpPr txBox="1"/>
          <p:nvPr/>
        </p:nvSpPr>
        <p:spPr>
          <a:xfrm>
            <a:off x="4023359" y="46771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처리 건은 변수마다 그것을 만든 단계를 함께 적어 둔다.</a:t>
            </a:r>
          </a:p>
          <a:p>
            <a:pPr algn="l">
              <a:lnSpc>
                <a:spcPct val="110000"/>
              </a:lnSpc>
              <a:spcAft>
                <a:spcPts val="300"/>
              </a:spcAft>
            </a:pPr>
            <a:r>
              <a:rPr sz="1400" b="0">
                <a:solidFill>
                  <a:srgbClr val="1F2A3A"/>
                </a:solidFill>
                <a:latin typeface="맑은 고딕"/>
                <a:ea typeface="맑은 고딕"/>
                <a:cs typeface="맑은 고딕"/>
              </a:rPr>
              <a:t>cause는 에이전트 단계가, 승인된 조치 방법 chosen_skill은 운전원 승인이, work_order는 작업지시 등록이 만들었다.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처리 건 한 건에 남는 기록</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처리 건에는 어느 정의의 어느 판본으로, 어느 경보에서 열려, 어느 끝 이벤트에 닿았는지가 남는다.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15</a:t>
            </a:r>
          </a:p>
        </p:txBody>
      </p:sp>
      <p:sp>
        <p:nvSpPr>
          <p:cNvPr id="6" name="Rounded Rectangle 5"/>
          <p:cNvSpPr/>
          <p:nvPr/>
        </p:nvSpPr>
        <p:spPr>
          <a:xfrm>
            <a:off x="548640" y="1773936"/>
            <a:ext cx="6766560" cy="4434840"/>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1911096"/>
            <a:ext cx="6400800" cy="4160520"/>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"proc_inst_name": "</a:t>
            </a:r>
            <a:r>
              <a:rPr sz="1300" b="0">
                <a:solidFill>
                  <a:srgbClr val="E8EEF6"/>
                </a:solidFill>
                <a:latin typeface="맑은 고딕"/>
                <a:ea typeface="맑은 고딕"/>
                <a:cs typeface="맑은 고딕"/>
              </a:rPr>
              <a:t>냉각</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긴급</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대응</a:t>
            </a:r>
            <a:r>
              <a:rPr sz="1300" b="0">
                <a:solidFill>
                  <a:srgbClr val="E8EEF6"/>
                </a:solidFill>
                <a:latin typeface="Consolas"/>
                <a:ea typeface="맑은 고딕"/>
                <a:cs typeface="맑은 고딕"/>
              </a:rPr>
              <a:t> HYD-01",</a:t>
            </a:r>
          </a:p>
          <a:p>
            <a:pPr algn="l">
              <a:lnSpc>
                <a:spcPct val="110000"/>
              </a:lnSpc>
              <a:spcAft>
                <a:spcPts val="200"/>
              </a:spcAft>
            </a:pPr>
            <a:r>
              <a:rPr sz="1300" b="0">
                <a:solidFill>
                  <a:srgbClr val="E8EEF6"/>
                </a:solidFill>
                <a:latin typeface="Consolas"/>
                <a:ea typeface="맑은 고딕"/>
                <a:cs typeface="맑은 고딕"/>
              </a:rPr>
              <a:t>"proc_def_id": "c3_cooling",</a:t>
            </a:r>
          </a:p>
          <a:p>
            <a:pPr algn="l">
              <a:lnSpc>
                <a:spcPct val="110000"/>
              </a:lnSpc>
              <a:spcAft>
                <a:spcPts val="200"/>
              </a:spcAft>
            </a:pPr>
            <a:r>
              <a:rPr sz="1300" b="0">
                <a:solidFill>
                  <a:srgbClr val="E8EEF6"/>
                </a:solidFill>
                <a:latin typeface="Consolas"/>
                <a:ea typeface="맑은 고딕"/>
                <a:cs typeface="맑은 고딕"/>
              </a:rPr>
              <a:t>"proc_def_version": "9",</a:t>
            </a:r>
          </a:p>
          <a:p>
            <a:pPr algn="l">
              <a:lnSpc>
                <a:spcPct val="110000"/>
              </a:lnSpc>
              <a:spcAft>
                <a:spcPts val="200"/>
              </a:spcAft>
            </a:pPr>
            <a:r>
              <a:rPr sz="1300" b="0">
                <a:solidFill>
                  <a:srgbClr val="E8EEF6"/>
                </a:solidFill>
                <a:latin typeface="Consolas"/>
                <a:ea typeface="맑은 고딕"/>
                <a:cs typeface="맑은 고딕"/>
              </a:rPr>
              <a:t>"start_event_id": "ALT-hyd01-0026-767a",</a:t>
            </a:r>
          </a:p>
          <a:p>
            <a:pPr algn="l">
              <a:lnSpc>
                <a:spcPct val="110000"/>
              </a:lnSpc>
              <a:spcAft>
                <a:spcPts val="200"/>
              </a:spcAft>
            </a:pPr>
            <a:r>
              <a:rPr sz="1300" b="0">
                <a:solidFill>
                  <a:srgbClr val="E8EEF6"/>
                </a:solidFill>
                <a:latin typeface="Consolas"/>
                <a:ea typeface="맑은 고딕"/>
                <a:cs typeface="맑은 고딕"/>
              </a:rPr>
              <a:t>"status": "COMPLETED",</a:t>
            </a:r>
          </a:p>
          <a:p>
            <a:pPr algn="l">
              <a:lnSpc>
                <a:spcPct val="110000"/>
              </a:lnSpc>
              <a:spcAft>
                <a:spcPts val="200"/>
              </a:spcAft>
            </a:pPr>
            <a:r>
              <a:rPr sz="1300" b="0">
                <a:solidFill>
                  <a:srgbClr val="E8EEF6"/>
                </a:solidFill>
                <a:latin typeface="Consolas"/>
                <a:ea typeface="맑은 고딕"/>
                <a:cs typeface="맑은 고딕"/>
              </a:rPr>
              <a:t>"end_event": "E_end"</a:t>
            </a:r>
          </a:p>
        </p:txBody>
      </p:sp>
      <p:sp>
        <p:nvSpPr>
          <p:cNvPr id="8" name="TextBox 7"/>
          <p:cNvSpPr txBox="1"/>
          <p:nvPr/>
        </p:nvSpPr>
        <p:spPr>
          <a:xfrm>
            <a:off x="7635240" y="1773936"/>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정의와 판본</a:t>
            </a:r>
          </a:p>
          <a:p>
            <a:pPr algn="l">
              <a:lnSpc>
                <a:spcPct val="110000"/>
              </a:lnSpc>
              <a:spcAft>
                <a:spcPts val="400"/>
              </a:spcAft>
            </a:pPr>
            <a:r>
              <a:rPr sz="1400" b="0">
                <a:solidFill>
                  <a:srgbClr val="1F2A3A"/>
                </a:solidFill>
                <a:latin typeface="맑은 고딕"/>
                <a:ea typeface="맑은 고딕"/>
                <a:cs typeface="맑은 고딕"/>
              </a:rPr>
              <a:t>c3_cooling 정의의</a:t>
            </a:r>
          </a:p>
          <a:p>
            <a:pPr algn="l">
              <a:lnSpc>
                <a:spcPct val="110000"/>
              </a:lnSpc>
              <a:spcAft>
                <a:spcPts val="400"/>
              </a:spcAft>
            </a:pPr>
            <a:r>
              <a:rPr sz="1400" b="0">
                <a:solidFill>
                  <a:srgbClr val="1F2A3A"/>
                </a:solidFill>
                <a:latin typeface="맑은 고딕"/>
                <a:ea typeface="맑은 고딕"/>
                <a:cs typeface="맑은 고딕"/>
              </a:rPr>
              <a:t>판본 9로 열렸다.</a:t>
            </a:r>
          </a:p>
        </p:txBody>
      </p:sp>
      <p:sp>
        <p:nvSpPr>
          <p:cNvPr id="9" name="TextBox 8"/>
          <p:cNvSpPr txBox="1"/>
          <p:nvPr/>
        </p:nvSpPr>
        <p:spPr>
          <a:xfrm>
            <a:off x="7635240" y="2882646"/>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여는 사건</a:t>
            </a:r>
          </a:p>
          <a:p>
            <a:pPr algn="l">
              <a:lnSpc>
                <a:spcPct val="110000"/>
              </a:lnSpc>
              <a:spcAft>
                <a:spcPts val="400"/>
              </a:spcAft>
            </a:pPr>
            <a:r>
              <a:rPr sz="1400" b="0">
                <a:solidFill>
                  <a:srgbClr val="1F2A3A"/>
                </a:solidFill>
                <a:latin typeface="맑은 고딕"/>
                <a:ea typeface="맑은 고딕"/>
                <a:cs typeface="맑은 고딕"/>
              </a:rPr>
              <a:t>경보 ALT-hyd01-0026-767a가</a:t>
            </a:r>
          </a:p>
          <a:p>
            <a:pPr algn="l">
              <a:lnSpc>
                <a:spcPct val="110000"/>
              </a:lnSpc>
              <a:spcAft>
                <a:spcPts val="400"/>
              </a:spcAft>
            </a:pPr>
            <a:r>
              <a:rPr sz="1400" b="0">
                <a:solidFill>
                  <a:srgbClr val="1F2A3A"/>
                </a:solidFill>
                <a:latin typeface="맑은 고딕"/>
                <a:ea typeface="맑은 고딕"/>
                <a:cs typeface="맑은 고딕"/>
              </a:rPr>
              <a:t>이 처리 건을 열었다.</a:t>
            </a:r>
          </a:p>
        </p:txBody>
      </p:sp>
      <p:sp>
        <p:nvSpPr>
          <p:cNvPr id="10" name="TextBox 9"/>
          <p:cNvSpPr txBox="1"/>
          <p:nvPr/>
        </p:nvSpPr>
        <p:spPr>
          <a:xfrm>
            <a:off x="7635240" y="3991356"/>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닫힌 곳</a:t>
            </a:r>
          </a:p>
          <a:p>
            <a:pPr algn="l">
              <a:lnSpc>
                <a:spcPct val="110000"/>
              </a:lnSpc>
              <a:spcAft>
                <a:spcPts val="400"/>
              </a:spcAft>
            </a:pPr>
            <a:r>
              <a:rPr sz="1400" b="0">
                <a:solidFill>
                  <a:srgbClr val="1F2A3A"/>
                </a:solidFill>
                <a:latin typeface="맑은 고딕"/>
                <a:ea typeface="맑은 고딕"/>
                <a:cs typeface="맑은 고딕"/>
              </a:rPr>
              <a:t>끝 이벤트 E_end에 닿아</a:t>
            </a:r>
          </a:p>
          <a:p>
            <a:pPr algn="l">
              <a:lnSpc>
                <a:spcPct val="110000"/>
              </a:lnSpc>
              <a:spcAft>
                <a:spcPts val="400"/>
              </a:spcAft>
            </a:pPr>
            <a:r>
              <a:rPr sz="1400" b="0">
                <a:solidFill>
                  <a:srgbClr val="1F2A3A"/>
                </a:solidFill>
                <a:latin typeface="맑은 고딕"/>
                <a:ea typeface="맑은 고딕"/>
                <a:cs typeface="맑은 고딕"/>
              </a:rPr>
              <a:t>실행이 끝났다.</a:t>
            </a:r>
          </a:p>
        </p:txBody>
      </p:sp>
      <p:sp>
        <p:nvSpPr>
          <p:cNvPr id="11" name="TextBox 10"/>
          <p:cNvSpPr txBox="1"/>
          <p:nvPr/>
        </p:nvSpPr>
        <p:spPr>
          <a:xfrm>
            <a:off x="7635240" y="5100066"/>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이 처리 건</a:t>
            </a:r>
          </a:p>
          <a:p>
            <a:pPr algn="l">
              <a:lnSpc>
                <a:spcPct val="110000"/>
              </a:lnSpc>
              <a:spcAft>
                <a:spcPts val="400"/>
              </a:spcAft>
            </a:pPr>
            <a:r>
              <a:rPr sz="1400" b="0">
                <a:solidFill>
                  <a:srgbClr val="1F2A3A"/>
                </a:solidFill>
                <a:latin typeface="맑은 고딕"/>
                <a:ea typeface="맑은 고딕"/>
                <a:cs typeface="맑은 고딕"/>
              </a:rPr>
              <a:t>긴급 대응 프로세스가 처리한</a:t>
            </a:r>
          </a:p>
          <a:p>
            <a:pPr algn="l">
              <a:lnSpc>
                <a:spcPct val="110000"/>
              </a:lnSpc>
              <a:spcAft>
                <a:spcPts val="400"/>
              </a:spcAft>
            </a:pPr>
            <a:r>
              <a:rPr sz="1400" b="0">
                <a:solidFill>
                  <a:srgbClr val="1F2A3A"/>
                </a:solidFill>
                <a:latin typeface="맑은 고딕"/>
                <a:ea typeface="맑은 고딕"/>
                <a:cs typeface="맑은 고딕"/>
              </a:rPr>
              <a:t>같은 종류의 경보 한 건이다.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판본과 배포: 고친 프로세스가 적용되는 시점</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고친 프로세스는 새 판본으로 배포해야 다음 경보부터 적용되고, 열린 처리 건은 열릴 때의 판본으로 끝까지 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16</a:t>
            </a:r>
          </a:p>
        </p:txBody>
      </p:sp>
      <p:sp>
        <p:nvSpPr>
          <p:cNvPr id="6" name="Rounded Rectangle 5"/>
          <p:cNvSpPr/>
          <p:nvPr/>
        </p:nvSpPr>
        <p:spPr>
          <a:xfrm>
            <a:off x="548640" y="2498598"/>
            <a:ext cx="2485567" cy="2985515"/>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425663" y="2681478"/>
            <a:ext cx="731520" cy="731520"/>
          </a:xfrm>
          <a:prstGeom prst="ellipse">
            <a:avLst/>
          </a:prstGeom>
          <a:solidFill>
            <a:srgbClr val="FFFFFF"/>
          </a:solidFill>
          <a:ln>
            <a:noFill/>
          </a:ln>
        </p:spPr>
        <p:txBody>
          <a:bodyPr rtlCol="0" anchor="ctr"/>
          <a:lstStyle/>
          <a:p>
            <a:pPr algn="ctr"/>
          </a:p>
        </p:txBody>
      </p:sp>
      <p:pic>
        <p:nvPicPr>
          <p:cNvPr id="8" name="아이콘:pencil" descr="pencil_13294B_1.6.png"/>
          <p:cNvPicPr>
            <a:picLocks noChangeAspect="1"/>
          </p:cNvPicPr>
          <p:nvPr/>
        </p:nvPicPr>
        <p:blipFill>
          <a:blip r:embed="rId3"/>
          <a:stretch>
            <a:fillRect/>
          </a:stretch>
        </p:blipFill>
        <p:spPr>
          <a:xfrm>
            <a:off x="1579283" y="2835097"/>
            <a:ext cx="424281" cy="424281"/>
          </a:xfrm>
          <a:prstGeom prst="rect">
            <a:avLst/>
          </a:prstGeom>
        </p:spPr>
      </p:pic>
      <p:sp>
        <p:nvSpPr>
          <p:cNvPr id="9" name="TextBox 8"/>
          <p:cNvSpPr txBox="1"/>
          <p:nvPr/>
        </p:nvSpPr>
        <p:spPr>
          <a:xfrm>
            <a:off x="621792" y="3486150"/>
            <a:ext cx="2339263" cy="1924811"/>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등록</a:t>
            </a:r>
          </a:p>
          <a:p>
            <a:pPr algn="ctr">
              <a:lnSpc>
                <a:spcPct val="110000"/>
              </a:lnSpc>
              <a:spcAft>
                <a:spcPts val="400"/>
              </a:spcAft>
            </a:pPr>
            <a:r>
              <a:rPr sz="1350" b="0">
                <a:solidFill>
                  <a:srgbClr val="1F2A3A"/>
                </a:solidFill>
                <a:latin typeface="맑은 고딕"/>
                <a:ea typeface="맑은 고딕"/>
                <a:cs typeface="맑은 고딕"/>
              </a:rPr>
              <a:t>프로세스 정의를</a:t>
            </a:r>
          </a:p>
          <a:p>
            <a:pPr algn="ctr">
              <a:lnSpc>
                <a:spcPct val="110000"/>
              </a:lnSpc>
              <a:spcAft>
                <a:spcPts val="400"/>
              </a:spcAft>
            </a:pPr>
            <a:r>
              <a:rPr sz="1350" b="0">
                <a:solidFill>
                  <a:srgbClr val="1F2A3A"/>
                </a:solidFill>
                <a:latin typeface="맑은 고딕"/>
                <a:ea typeface="맑은 고딕"/>
                <a:cs typeface="맑은 고딕"/>
              </a:rPr>
              <a:t>새 판본으로 저장한다</a:t>
            </a:r>
          </a:p>
          <a:p>
            <a:pPr algn="ctr">
              <a:lnSpc>
                <a:spcPct val="110000"/>
              </a:lnSpc>
              <a:spcAft>
                <a:spcPts val="400"/>
              </a:spcAft>
            </a:pPr>
            <a:r>
              <a:rPr sz="1350" b="0">
                <a:solidFill>
                  <a:srgbClr val="1F2A3A"/>
                </a:solidFill>
                <a:latin typeface="맑은 고딕"/>
                <a:ea typeface="맑은 고딕"/>
                <a:cs typeface="맑은 고딕"/>
              </a:rPr>
              <a:t>저장된 판본은 고치지 않는다</a:t>
            </a:r>
          </a:p>
        </p:txBody>
      </p:sp>
      <p:sp>
        <p:nvSpPr>
          <p:cNvPr id="10" name="Right Arrow 9"/>
          <p:cNvSpPr/>
          <p:nvPr/>
        </p:nvSpPr>
        <p:spPr>
          <a:xfrm>
            <a:off x="3098215"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3418255" y="2498598"/>
            <a:ext cx="2485567" cy="2985515"/>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4295279" y="2681478"/>
            <a:ext cx="731520" cy="731520"/>
          </a:xfrm>
          <a:prstGeom prst="ellipse">
            <a:avLst/>
          </a:prstGeom>
          <a:solidFill>
            <a:srgbClr val="FFFFFF"/>
          </a:solidFill>
          <a:ln>
            <a:noFill/>
          </a:ln>
        </p:spPr>
        <p:txBody>
          <a:bodyPr rtlCol="0" anchor="ctr"/>
          <a:lstStyle/>
          <a:p>
            <a:pPr algn="ctr"/>
          </a:p>
        </p:txBody>
      </p:sp>
      <p:pic>
        <p:nvPicPr>
          <p:cNvPr id="13" name="아이콘:versions" descr="versions_13294B_1.6.png"/>
          <p:cNvPicPr>
            <a:picLocks noChangeAspect="1"/>
          </p:cNvPicPr>
          <p:nvPr/>
        </p:nvPicPr>
        <p:blipFill>
          <a:blip r:embed="rId4"/>
          <a:stretch>
            <a:fillRect/>
          </a:stretch>
        </p:blipFill>
        <p:spPr>
          <a:xfrm>
            <a:off x="4448898" y="2835097"/>
            <a:ext cx="424281" cy="424281"/>
          </a:xfrm>
          <a:prstGeom prst="rect">
            <a:avLst/>
          </a:prstGeom>
        </p:spPr>
      </p:pic>
      <p:sp>
        <p:nvSpPr>
          <p:cNvPr id="14" name="TextBox 13"/>
          <p:cNvSpPr txBox="1"/>
          <p:nvPr/>
        </p:nvSpPr>
        <p:spPr>
          <a:xfrm>
            <a:off x="3491407" y="3486150"/>
            <a:ext cx="2339263" cy="1924811"/>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배포</a:t>
            </a:r>
          </a:p>
          <a:p>
            <a:pPr algn="ctr">
              <a:lnSpc>
                <a:spcPct val="110000"/>
              </a:lnSpc>
              <a:spcAft>
                <a:spcPts val="400"/>
              </a:spcAft>
            </a:pPr>
            <a:r>
              <a:rPr sz="1350" b="0">
                <a:solidFill>
                  <a:srgbClr val="1F2A3A"/>
                </a:solidFill>
                <a:latin typeface="맑은 고딕"/>
                <a:ea typeface="맑은 고딕"/>
                <a:cs typeface="맑은 고딕"/>
              </a:rPr>
              <a:t>경보를 받을 판본을</a:t>
            </a:r>
          </a:p>
          <a:p>
            <a:pPr algn="ctr">
              <a:lnSpc>
                <a:spcPct val="110000"/>
              </a:lnSpc>
              <a:spcAft>
                <a:spcPts val="400"/>
              </a:spcAft>
            </a:pPr>
            <a:r>
              <a:rPr sz="1350" b="0">
                <a:solidFill>
                  <a:srgbClr val="1F2A3A"/>
                </a:solidFill>
                <a:latin typeface="맑은 고딕"/>
                <a:ea typeface="맑은 고딕"/>
                <a:cs typeface="맑은 고딕"/>
              </a:rPr>
              <a:t>지정한다</a:t>
            </a:r>
          </a:p>
        </p:txBody>
      </p:sp>
      <p:sp>
        <p:nvSpPr>
          <p:cNvPr id="15" name="Right Arrow 14"/>
          <p:cNvSpPr/>
          <p:nvPr/>
        </p:nvSpPr>
        <p:spPr>
          <a:xfrm>
            <a:off x="5967831"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6287871" y="2498598"/>
            <a:ext cx="2485567" cy="2985515"/>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7164895" y="2681478"/>
            <a:ext cx="731520" cy="731520"/>
          </a:xfrm>
          <a:prstGeom prst="ellipse">
            <a:avLst/>
          </a:prstGeom>
          <a:solidFill>
            <a:srgbClr val="FFFFFF"/>
          </a:solidFill>
          <a:ln>
            <a:noFill/>
          </a:ln>
        </p:spPr>
        <p:txBody>
          <a:bodyPr rtlCol="0" anchor="ctr"/>
          <a:lstStyle/>
          <a:p>
            <a:pPr algn="ctr"/>
          </a:p>
        </p:txBody>
      </p:sp>
      <p:pic>
        <p:nvPicPr>
          <p:cNvPr id="18" name="아이콘:rocket" descr="rocket_13294B_1.6.png"/>
          <p:cNvPicPr>
            <a:picLocks noChangeAspect="1"/>
          </p:cNvPicPr>
          <p:nvPr/>
        </p:nvPicPr>
        <p:blipFill>
          <a:blip r:embed="rId5"/>
          <a:stretch>
            <a:fillRect/>
          </a:stretch>
        </p:blipFill>
        <p:spPr>
          <a:xfrm>
            <a:off x="7318514" y="2835097"/>
            <a:ext cx="424281" cy="424281"/>
          </a:xfrm>
          <a:prstGeom prst="rect">
            <a:avLst/>
          </a:prstGeom>
        </p:spPr>
      </p:pic>
      <p:sp>
        <p:nvSpPr>
          <p:cNvPr id="19" name="TextBox 18"/>
          <p:cNvSpPr txBox="1"/>
          <p:nvPr/>
        </p:nvSpPr>
        <p:spPr>
          <a:xfrm>
            <a:off x="6361023" y="3486150"/>
            <a:ext cx="2339263" cy="1924811"/>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실행</a:t>
            </a:r>
          </a:p>
          <a:p>
            <a:pPr algn="ctr">
              <a:lnSpc>
                <a:spcPct val="110000"/>
              </a:lnSpc>
              <a:spcAft>
                <a:spcPts val="400"/>
              </a:spcAft>
            </a:pPr>
            <a:r>
              <a:rPr sz="1350" b="0">
                <a:solidFill>
                  <a:srgbClr val="1F2A3A"/>
                </a:solidFill>
                <a:latin typeface="맑은 고딕"/>
                <a:ea typeface="맑은 고딕"/>
                <a:cs typeface="맑은 고딕"/>
              </a:rPr>
              <a:t>경보가 오면</a:t>
            </a:r>
          </a:p>
          <a:p>
            <a:pPr algn="ctr">
              <a:lnSpc>
                <a:spcPct val="110000"/>
              </a:lnSpc>
              <a:spcAft>
                <a:spcPts val="400"/>
              </a:spcAft>
            </a:pPr>
            <a:r>
              <a:rPr sz="1350" b="0">
                <a:solidFill>
                  <a:srgbClr val="1F2A3A"/>
                </a:solidFill>
                <a:latin typeface="맑은 고딕"/>
                <a:ea typeface="맑은 고딕"/>
                <a:cs typeface="맑은 고딕"/>
              </a:rPr>
              <a:t>배포된 판본으로</a:t>
            </a:r>
          </a:p>
          <a:p>
            <a:pPr algn="ctr">
              <a:lnSpc>
                <a:spcPct val="110000"/>
              </a:lnSpc>
              <a:spcAft>
                <a:spcPts val="400"/>
              </a:spcAft>
            </a:pPr>
            <a:r>
              <a:rPr sz="1350" b="0">
                <a:solidFill>
                  <a:srgbClr val="1F2A3A"/>
                </a:solidFill>
                <a:latin typeface="맑은 고딕"/>
                <a:ea typeface="맑은 고딕"/>
                <a:cs typeface="맑은 고딕"/>
              </a:rPr>
              <a:t>처리 건이 열린다</a:t>
            </a:r>
          </a:p>
        </p:txBody>
      </p:sp>
      <p:sp>
        <p:nvSpPr>
          <p:cNvPr id="20" name="Right Arrow 19"/>
          <p:cNvSpPr/>
          <p:nvPr/>
        </p:nvSpPr>
        <p:spPr>
          <a:xfrm>
            <a:off x="883744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9157487" y="2498598"/>
            <a:ext cx="2485567" cy="2985515"/>
          </a:xfrm>
          <a:prstGeom prst="roundRect">
            <a:avLst>
              <a:gd name="adj" fmla="val 5000"/>
            </a:avLst>
          </a:prstGeom>
          <a:solidFill>
            <a:srgbClr val="E7F3FD"/>
          </a:solidFill>
          <a:ln w="25400">
            <a:solidFill>
              <a:srgbClr val="5CB8F2"/>
            </a:solidFill>
          </a:ln>
        </p:spPr>
        <p:txBody>
          <a:bodyPr rtlCol="0" anchor="ctr"/>
          <a:lstStyle/>
          <a:p>
            <a:pPr algn="ctr"/>
          </a:p>
        </p:txBody>
      </p:sp>
      <p:sp>
        <p:nvSpPr>
          <p:cNvPr id="22" name="Oval 21"/>
          <p:cNvSpPr/>
          <p:nvPr/>
        </p:nvSpPr>
        <p:spPr>
          <a:xfrm>
            <a:off x="10034511" y="2681478"/>
            <a:ext cx="731520" cy="731520"/>
          </a:xfrm>
          <a:prstGeom prst="ellipse">
            <a:avLst/>
          </a:prstGeom>
          <a:solidFill>
            <a:srgbClr val="5CB8F2"/>
          </a:solidFill>
          <a:ln>
            <a:noFill/>
          </a:ln>
        </p:spPr>
        <p:txBody>
          <a:bodyPr rtlCol="0" anchor="ctr"/>
          <a:lstStyle/>
          <a:p>
            <a:pPr algn="ctr"/>
          </a:p>
        </p:txBody>
      </p:sp>
      <p:pic>
        <p:nvPicPr>
          <p:cNvPr id="23" name="아이콘:lock" descr="lock_13294B_1.6.png"/>
          <p:cNvPicPr>
            <a:picLocks noChangeAspect="1"/>
          </p:cNvPicPr>
          <p:nvPr/>
        </p:nvPicPr>
        <p:blipFill>
          <a:blip r:embed="rId6"/>
          <a:stretch>
            <a:fillRect/>
          </a:stretch>
        </p:blipFill>
        <p:spPr>
          <a:xfrm>
            <a:off x="10188130" y="2835097"/>
            <a:ext cx="424281" cy="424281"/>
          </a:xfrm>
          <a:prstGeom prst="rect">
            <a:avLst/>
          </a:prstGeom>
        </p:spPr>
      </p:pic>
      <p:sp>
        <p:nvSpPr>
          <p:cNvPr id="24" name="TextBox 23"/>
          <p:cNvSpPr txBox="1"/>
          <p:nvPr/>
        </p:nvSpPr>
        <p:spPr>
          <a:xfrm>
            <a:off x="9230639" y="3486150"/>
            <a:ext cx="2339263" cy="1924811"/>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판본 고정</a:t>
            </a:r>
          </a:p>
          <a:p>
            <a:pPr algn="ctr">
              <a:lnSpc>
                <a:spcPct val="110000"/>
              </a:lnSpc>
              <a:spcAft>
                <a:spcPts val="400"/>
              </a:spcAft>
            </a:pPr>
            <a:r>
              <a:rPr sz="1350" b="0">
                <a:solidFill>
                  <a:srgbClr val="1F2A3A"/>
                </a:solidFill>
                <a:latin typeface="맑은 고딕"/>
                <a:ea typeface="맑은 고딕"/>
                <a:cs typeface="맑은 고딕"/>
              </a:rPr>
              <a:t>열린 처리 건은</a:t>
            </a:r>
          </a:p>
          <a:p>
            <a:pPr algn="ctr">
              <a:lnSpc>
                <a:spcPct val="110000"/>
              </a:lnSpc>
              <a:spcAft>
                <a:spcPts val="400"/>
              </a:spcAft>
            </a:pPr>
            <a:r>
              <a:rPr sz="1350" b="0">
                <a:solidFill>
                  <a:srgbClr val="1F2A3A"/>
                </a:solidFill>
                <a:latin typeface="맑은 고딕"/>
                <a:ea typeface="맑은 고딕"/>
                <a:cs typeface="맑은 고딕"/>
              </a:rPr>
              <a:t>자기 판본으로</a:t>
            </a:r>
          </a:p>
          <a:p>
            <a:pPr algn="ctr">
              <a:lnSpc>
                <a:spcPct val="110000"/>
              </a:lnSpc>
              <a:spcAft>
                <a:spcPts val="400"/>
              </a:spcAft>
            </a:pPr>
            <a:r>
              <a:rPr sz="1350" b="0">
                <a:solidFill>
                  <a:srgbClr val="1F2A3A"/>
                </a:solidFill>
                <a:latin typeface="맑은 고딕"/>
                <a:ea typeface="맑은 고딕"/>
                <a:cs typeface="맑은 고딕"/>
              </a:rPr>
              <a:t>끝까지 간다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감사 기록(Audit Log): 누가 무엇을 결정했는가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처리 건 안의 진행은 처리 기록에, 처리 건의 시작과 배포와 거부된 승인은 감사 기록에 남아 결정을 뒤에 확인할 수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17</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기록</a:t>
            </a:r>
          </a:p>
        </p:txBody>
      </p:sp>
      <p:sp>
        <p:nvSpPr>
          <p:cNvPr id="8" name="TextBox 7"/>
          <p:cNvSpPr txBox="1"/>
          <p:nvPr/>
        </p:nvSpPr>
        <p:spPr>
          <a:xfrm>
            <a:off x="3200400" y="1627632"/>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남는 때</a:t>
            </a:r>
          </a:p>
        </p:txBody>
      </p:sp>
      <p:sp>
        <p:nvSpPr>
          <p:cNvPr id="9" name="TextBox 8"/>
          <p:cNvSpPr txBox="1"/>
          <p:nvPr/>
        </p:nvSpPr>
        <p:spPr>
          <a:xfrm>
            <a:off x="9448495" y="1627632"/>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구분</a:t>
            </a:r>
          </a:p>
        </p:txBody>
      </p:sp>
      <p:sp>
        <p:nvSpPr>
          <p:cNvPr id="10" name="Rounded Rectangle 9"/>
          <p:cNvSpPr/>
          <p:nvPr/>
        </p:nvSpPr>
        <p:spPr>
          <a:xfrm>
            <a:off x="548640" y="2061972"/>
            <a:ext cx="11094415" cy="656843"/>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APPROVAL_ACCEPTED</a:t>
            </a:r>
          </a:p>
        </p:txBody>
      </p:sp>
      <p:sp>
        <p:nvSpPr>
          <p:cNvPr id="12" name="TextBox 11"/>
          <p:cNvSpPr txBox="1"/>
          <p:nvPr/>
        </p:nvSpPr>
        <p:spPr>
          <a:xfrm>
            <a:off x="3200400" y="2029968"/>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승인이 접수될 때. 승인한 역할과 판단 id가 담긴다</a:t>
            </a:r>
          </a:p>
        </p:txBody>
      </p:sp>
      <p:sp>
        <p:nvSpPr>
          <p:cNvPr id="13" name="TextBox 12"/>
          <p:cNvSpPr txBox="1"/>
          <p:nvPr/>
        </p:nvSpPr>
        <p:spPr>
          <a:xfrm>
            <a:off x="9448495" y="2029968"/>
            <a:ext cx="2103120" cy="720851"/>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처리 기록</a:t>
            </a:r>
          </a:p>
        </p:txBody>
      </p:sp>
      <p:sp>
        <p:nvSpPr>
          <p:cNvPr id="14" name="Rounded Rectangle 13"/>
          <p:cNvSpPr/>
          <p:nvPr/>
        </p:nvSpPr>
        <p:spPr>
          <a:xfrm>
            <a:off x="548640" y="2782824"/>
            <a:ext cx="11094415" cy="656843"/>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750820"/>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APPROVAL_DELIVERY</a:t>
            </a:r>
          </a:p>
        </p:txBody>
      </p:sp>
      <p:sp>
        <p:nvSpPr>
          <p:cNvPr id="16" name="TextBox 15"/>
          <p:cNvSpPr txBox="1"/>
          <p:nvPr/>
        </p:nvSpPr>
        <p:spPr>
          <a:xfrm>
            <a:off x="3200400" y="2750820"/>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승인이 다음 단계로 전달될 때</a:t>
            </a:r>
          </a:p>
        </p:txBody>
      </p:sp>
      <p:sp>
        <p:nvSpPr>
          <p:cNvPr id="17" name="TextBox 16"/>
          <p:cNvSpPr txBox="1"/>
          <p:nvPr/>
        </p:nvSpPr>
        <p:spPr>
          <a:xfrm>
            <a:off x="9448495" y="2750820"/>
            <a:ext cx="2103120" cy="720851"/>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처리 기록</a:t>
            </a:r>
          </a:p>
        </p:txBody>
      </p:sp>
      <p:sp>
        <p:nvSpPr>
          <p:cNvPr id="18" name="Rounded Rectangle 17"/>
          <p:cNvSpPr/>
          <p:nvPr/>
        </p:nvSpPr>
        <p:spPr>
          <a:xfrm>
            <a:off x="548640" y="3503676"/>
            <a:ext cx="11094415" cy="656843"/>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471672"/>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RESULT_REPORT</a:t>
            </a:r>
          </a:p>
        </p:txBody>
      </p:sp>
      <p:sp>
        <p:nvSpPr>
          <p:cNvPr id="20" name="TextBox 19"/>
          <p:cNvSpPr txBox="1"/>
          <p:nvPr/>
        </p:nvSpPr>
        <p:spPr>
          <a:xfrm>
            <a:off x="3200400" y="3471672"/>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결과 보고가 나갈 때. 보고의 본문이 담긴다</a:t>
            </a:r>
          </a:p>
        </p:txBody>
      </p:sp>
      <p:sp>
        <p:nvSpPr>
          <p:cNvPr id="21" name="TextBox 20"/>
          <p:cNvSpPr txBox="1"/>
          <p:nvPr/>
        </p:nvSpPr>
        <p:spPr>
          <a:xfrm>
            <a:off x="9448495" y="3471672"/>
            <a:ext cx="2103120" cy="720851"/>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처리 기록</a:t>
            </a:r>
          </a:p>
        </p:txBody>
      </p:sp>
      <p:sp>
        <p:nvSpPr>
          <p:cNvPr id="22" name="Rounded Rectangle 21"/>
          <p:cNvSpPr/>
          <p:nvPr/>
        </p:nvSpPr>
        <p:spPr>
          <a:xfrm>
            <a:off x="548640" y="4224528"/>
            <a:ext cx="11094415" cy="656843"/>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4192524"/>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INSTANCE_STARTED</a:t>
            </a:r>
          </a:p>
        </p:txBody>
      </p:sp>
      <p:sp>
        <p:nvSpPr>
          <p:cNvPr id="24" name="TextBox 23"/>
          <p:cNvSpPr txBox="1"/>
          <p:nvPr/>
        </p:nvSpPr>
        <p:spPr>
          <a:xfrm>
            <a:off x="3200400" y="4192524"/>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처리 건이 열릴 때</a:t>
            </a:r>
          </a:p>
        </p:txBody>
      </p:sp>
      <p:sp>
        <p:nvSpPr>
          <p:cNvPr id="25" name="TextBox 24"/>
          <p:cNvSpPr txBox="1"/>
          <p:nvPr/>
        </p:nvSpPr>
        <p:spPr>
          <a:xfrm>
            <a:off x="9448495" y="4192524"/>
            <a:ext cx="2103120" cy="720851"/>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감사 기록</a:t>
            </a:r>
          </a:p>
        </p:txBody>
      </p:sp>
      <p:sp>
        <p:nvSpPr>
          <p:cNvPr id="26" name="Rounded Rectangle 25"/>
          <p:cNvSpPr/>
          <p:nvPr/>
        </p:nvSpPr>
        <p:spPr>
          <a:xfrm>
            <a:off x="548640" y="4945380"/>
            <a:ext cx="11094415" cy="656843"/>
          </a:xfrm>
          <a:prstGeom prst="roundRect">
            <a:avLst>
              <a:gd name="adj" fmla="val 8000"/>
            </a:avLst>
          </a:prstGeom>
          <a:solidFill>
            <a:srgbClr val="F3F6F9"/>
          </a:solidFill>
          <a:ln>
            <a:noFill/>
          </a:ln>
        </p:spPr>
        <p:txBody>
          <a:bodyPr rtlCol="0" anchor="ctr"/>
          <a:lstStyle/>
          <a:p>
            <a:pPr algn="ctr"/>
          </a:p>
        </p:txBody>
      </p:sp>
      <p:sp>
        <p:nvSpPr>
          <p:cNvPr id="27" name="TextBox 26"/>
          <p:cNvSpPr txBox="1"/>
          <p:nvPr/>
        </p:nvSpPr>
        <p:spPr>
          <a:xfrm>
            <a:off x="685800" y="4913376"/>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DEFINITION_DEPLOYED</a:t>
            </a:r>
          </a:p>
        </p:txBody>
      </p:sp>
      <p:sp>
        <p:nvSpPr>
          <p:cNvPr id="28" name="TextBox 27"/>
          <p:cNvSpPr txBox="1"/>
          <p:nvPr/>
        </p:nvSpPr>
        <p:spPr>
          <a:xfrm>
            <a:off x="3200400" y="4913376"/>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프로세스 정의의 판본이 배포될 때</a:t>
            </a:r>
          </a:p>
        </p:txBody>
      </p:sp>
      <p:sp>
        <p:nvSpPr>
          <p:cNvPr id="29" name="TextBox 28"/>
          <p:cNvSpPr txBox="1"/>
          <p:nvPr/>
        </p:nvSpPr>
        <p:spPr>
          <a:xfrm>
            <a:off x="9448495" y="4913376"/>
            <a:ext cx="2103120" cy="720851"/>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감사 기록</a:t>
            </a:r>
          </a:p>
        </p:txBody>
      </p:sp>
      <p:sp>
        <p:nvSpPr>
          <p:cNvPr id="30" name="Rounded Rectangle 29"/>
          <p:cNvSpPr/>
          <p:nvPr/>
        </p:nvSpPr>
        <p:spPr>
          <a:xfrm>
            <a:off x="548640" y="5666232"/>
            <a:ext cx="11094415" cy="656843"/>
          </a:xfrm>
          <a:prstGeom prst="roundRect">
            <a:avLst>
              <a:gd name="adj" fmla="val 8000"/>
            </a:avLst>
          </a:prstGeom>
          <a:solidFill>
            <a:srgbClr val="E7F3FD"/>
          </a:solidFill>
          <a:ln>
            <a:noFill/>
          </a:ln>
        </p:spPr>
        <p:txBody>
          <a:bodyPr rtlCol="0" anchor="ctr"/>
          <a:lstStyle/>
          <a:p>
            <a:pPr algn="ctr"/>
          </a:p>
        </p:txBody>
      </p:sp>
      <p:sp>
        <p:nvSpPr>
          <p:cNvPr id="31" name="TextBox 30"/>
          <p:cNvSpPr txBox="1"/>
          <p:nvPr/>
        </p:nvSpPr>
        <p:spPr>
          <a:xfrm>
            <a:off x="685800" y="5634228"/>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DECISION_DENIED</a:t>
            </a:r>
          </a:p>
        </p:txBody>
      </p:sp>
      <p:sp>
        <p:nvSpPr>
          <p:cNvPr id="32" name="TextBox 31"/>
          <p:cNvSpPr txBox="1"/>
          <p:nvPr/>
        </p:nvSpPr>
        <p:spPr>
          <a:xfrm>
            <a:off x="3200400" y="5634228"/>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승인 역할이 아닌 쪽이 승인을 시도해 거부될 때</a:t>
            </a:r>
          </a:p>
        </p:txBody>
      </p:sp>
      <p:sp>
        <p:nvSpPr>
          <p:cNvPr id="33" name="TextBox 32"/>
          <p:cNvSpPr txBox="1"/>
          <p:nvPr/>
        </p:nvSpPr>
        <p:spPr>
          <a:xfrm>
            <a:off x="9448495" y="5634228"/>
            <a:ext cx="2103120" cy="720851"/>
          </a:xfrm>
          <a:prstGeom prst="rect">
            <a:avLst/>
          </a:prstGeom>
          <a:noFill/>
        </p:spPr>
        <p:txBody>
          <a:bodyPr wrap="square" anchor="ctr"/>
          <a:lstStyle/>
          <a:p>
            <a:pPr algn="l">
              <a:lnSpc>
                <a:spcPct val="110000"/>
              </a:lnSpc>
            </a:pPr>
            <a:r>
              <a:rPr sz="1250" b="1">
                <a:solidFill>
                  <a:srgbClr val="1A6FC4"/>
                </a:solidFill>
                <a:latin typeface="맑은 고딕"/>
                <a:ea typeface="맑은 고딕"/>
                <a:cs typeface="맑은 고딕"/>
              </a:rPr>
              <a:t>감사 기록</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설비 이벤트로 프로세스 실행하기</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쿨러 열화로 처리 건을 열어 단계별 담당, 대기, 결과를 추적한다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실습에서 실행하는 것과 확인하는 기록</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배포한 프로세스를 쿨러 열화로 실행하면 처리 건 한 건이 열리고, 그 처리 기록에서 대기와 완료를 구분해 읽는다.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19</a:t>
            </a:r>
          </a:p>
        </p:txBody>
      </p:sp>
      <p:sp>
        <p:nvSpPr>
          <p:cNvPr id="6" name="Rounded Rectangle 5"/>
          <p:cNvSpPr/>
          <p:nvPr/>
        </p:nvSpPr>
        <p:spPr>
          <a:xfrm>
            <a:off x="548640" y="2620010"/>
            <a:ext cx="3515258" cy="274269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821178"/>
            <a:ext cx="731520" cy="731520"/>
          </a:xfrm>
          <a:prstGeom prst="ellipse">
            <a:avLst/>
          </a:prstGeom>
          <a:solidFill>
            <a:srgbClr val="E7F3FD"/>
          </a:solidFill>
          <a:ln>
            <a:noFill/>
          </a:ln>
        </p:spPr>
        <p:txBody>
          <a:bodyPr rtlCol="0" anchor="ctr"/>
          <a:lstStyle/>
          <a:p>
            <a:pPr algn="ctr"/>
          </a:p>
        </p:txBody>
      </p:sp>
      <p:pic>
        <p:nvPicPr>
          <p:cNvPr id="8" name="아이콘:player-play" descr="player-play_13294B_1.6.png"/>
          <p:cNvPicPr>
            <a:picLocks noChangeAspect="1"/>
          </p:cNvPicPr>
          <p:nvPr/>
        </p:nvPicPr>
        <p:blipFill>
          <a:blip r:embed="rId3"/>
          <a:stretch>
            <a:fillRect/>
          </a:stretch>
        </p:blipFill>
        <p:spPr>
          <a:xfrm>
            <a:off x="930859" y="2974797"/>
            <a:ext cx="424281" cy="424281"/>
          </a:xfrm>
          <a:prstGeom prst="rect">
            <a:avLst/>
          </a:prstGeom>
        </p:spPr>
      </p:pic>
      <p:sp>
        <p:nvSpPr>
          <p:cNvPr id="9" name="TextBox 8"/>
          <p:cNvSpPr txBox="1"/>
          <p:nvPr/>
        </p:nvSpPr>
        <p:spPr>
          <a:xfrm>
            <a:off x="713232" y="3644138"/>
            <a:ext cx="3186074" cy="1215644"/>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처리 건의 생성</a:t>
            </a:r>
          </a:p>
          <a:p>
            <a:pPr algn="l">
              <a:lnSpc>
                <a:spcPct val="110000"/>
              </a:lnSpc>
              <a:spcAft>
                <a:spcPts val="400"/>
              </a:spcAft>
            </a:pPr>
            <a:r>
              <a:rPr sz="1400" b="0">
                <a:solidFill>
                  <a:srgbClr val="1F2A3A"/>
                </a:solidFill>
                <a:latin typeface="맑은 고딕"/>
                <a:ea typeface="맑은 고딕"/>
                <a:cs typeface="맑은 고딕"/>
              </a:rPr>
              <a:t>쿨러 열화가 경보를 내고 경보가 처리 건을 연다</a:t>
            </a:r>
          </a:p>
        </p:txBody>
      </p:sp>
      <p:sp>
        <p:nvSpPr>
          <p:cNvPr id="10" name="Rounded Rectangle 9"/>
          <p:cNvSpPr/>
          <p:nvPr/>
        </p:nvSpPr>
        <p:spPr>
          <a:xfrm>
            <a:off x="777240" y="4932934"/>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4932934"/>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시작</a:t>
            </a:r>
          </a:p>
        </p:txBody>
      </p:sp>
      <p:sp>
        <p:nvSpPr>
          <p:cNvPr id="12" name="Rounded Rectangle 11"/>
          <p:cNvSpPr/>
          <p:nvPr/>
        </p:nvSpPr>
        <p:spPr>
          <a:xfrm>
            <a:off x="4338218" y="2620010"/>
            <a:ext cx="3515258" cy="274269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821178"/>
            <a:ext cx="731520" cy="731520"/>
          </a:xfrm>
          <a:prstGeom prst="ellipse">
            <a:avLst/>
          </a:prstGeom>
          <a:solidFill>
            <a:srgbClr val="E7F3FD"/>
          </a:solidFill>
          <a:ln>
            <a:noFill/>
          </a:ln>
        </p:spPr>
        <p:txBody>
          <a:bodyPr rtlCol="0" anchor="ctr"/>
          <a:lstStyle/>
          <a:p>
            <a:pPr algn="ctr"/>
          </a:p>
        </p:txBody>
      </p:sp>
      <p:pic>
        <p:nvPicPr>
          <p:cNvPr id="14" name="아이콘:hourglass" descr="hourglass_13294B_1.6.png"/>
          <p:cNvPicPr>
            <a:picLocks noChangeAspect="1"/>
          </p:cNvPicPr>
          <p:nvPr/>
        </p:nvPicPr>
        <p:blipFill>
          <a:blip r:embed="rId4"/>
          <a:stretch>
            <a:fillRect/>
          </a:stretch>
        </p:blipFill>
        <p:spPr>
          <a:xfrm>
            <a:off x="4720437" y="2974797"/>
            <a:ext cx="424281" cy="424281"/>
          </a:xfrm>
          <a:prstGeom prst="rect">
            <a:avLst/>
          </a:prstGeom>
        </p:spPr>
      </p:pic>
      <p:sp>
        <p:nvSpPr>
          <p:cNvPr id="15" name="TextBox 14"/>
          <p:cNvSpPr txBox="1"/>
          <p:nvPr/>
        </p:nvSpPr>
        <p:spPr>
          <a:xfrm>
            <a:off x="4502810" y="3644138"/>
            <a:ext cx="3186074" cy="1215644"/>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승인 대기의 확인</a:t>
            </a:r>
          </a:p>
          <a:p>
            <a:pPr algn="l">
              <a:lnSpc>
                <a:spcPct val="110000"/>
              </a:lnSpc>
              <a:spcAft>
                <a:spcPts val="400"/>
              </a:spcAft>
            </a:pPr>
            <a:r>
              <a:rPr sz="1400" b="0">
                <a:solidFill>
                  <a:srgbClr val="1F2A3A"/>
                </a:solidFill>
                <a:latin typeface="맑은 고딕"/>
                <a:ea typeface="맑은 고딕"/>
                <a:cs typeface="맑은 고딕"/>
              </a:rPr>
              <a:t>에이전트의 추천안이 나온 뒤 운전원 승인에서 기다리는 상태를 읽는다</a:t>
            </a:r>
          </a:p>
        </p:txBody>
      </p:sp>
      <p:sp>
        <p:nvSpPr>
          <p:cNvPr id="16" name="Rounded Rectangle 15"/>
          <p:cNvSpPr/>
          <p:nvPr/>
        </p:nvSpPr>
        <p:spPr>
          <a:xfrm>
            <a:off x="4566818" y="4932934"/>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4932934"/>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대기</a:t>
            </a:r>
          </a:p>
        </p:txBody>
      </p:sp>
      <p:sp>
        <p:nvSpPr>
          <p:cNvPr id="18" name="Rounded Rectangle 17"/>
          <p:cNvSpPr/>
          <p:nvPr/>
        </p:nvSpPr>
        <p:spPr>
          <a:xfrm>
            <a:off x="8127796" y="2620010"/>
            <a:ext cx="3515258" cy="2742692"/>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821178"/>
            <a:ext cx="731520" cy="731520"/>
          </a:xfrm>
          <a:prstGeom prst="ellipse">
            <a:avLst/>
          </a:prstGeom>
          <a:solidFill>
            <a:srgbClr val="5CB8F2"/>
          </a:solidFill>
          <a:ln>
            <a:noFill/>
          </a:ln>
        </p:spPr>
        <p:txBody>
          <a:bodyPr rtlCol="0" anchor="ctr"/>
          <a:lstStyle/>
          <a:p>
            <a:pPr algn="ctr"/>
          </a:p>
        </p:txBody>
      </p:sp>
      <p:pic>
        <p:nvPicPr>
          <p:cNvPr id="20" name="아이콘:list-check" descr="list-check_13294B_1.6.png"/>
          <p:cNvPicPr>
            <a:picLocks noChangeAspect="1"/>
          </p:cNvPicPr>
          <p:nvPr/>
        </p:nvPicPr>
        <p:blipFill>
          <a:blip r:embed="rId5"/>
          <a:stretch>
            <a:fillRect/>
          </a:stretch>
        </p:blipFill>
        <p:spPr>
          <a:xfrm>
            <a:off x="8510016" y="2974797"/>
            <a:ext cx="424281" cy="424281"/>
          </a:xfrm>
          <a:prstGeom prst="rect">
            <a:avLst/>
          </a:prstGeom>
        </p:spPr>
      </p:pic>
      <p:sp>
        <p:nvSpPr>
          <p:cNvPr id="21" name="TextBox 20"/>
          <p:cNvSpPr txBox="1"/>
          <p:nvPr/>
        </p:nvSpPr>
        <p:spPr>
          <a:xfrm>
            <a:off x="8292388" y="3644138"/>
            <a:ext cx="3186074" cy="1215644"/>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완료의 확인</a:t>
            </a:r>
          </a:p>
          <a:p>
            <a:pPr algn="l">
              <a:lnSpc>
                <a:spcPct val="110000"/>
              </a:lnSpc>
              <a:spcAft>
                <a:spcPts val="400"/>
              </a:spcAft>
            </a:pPr>
            <a:r>
              <a:rPr sz="1400" b="0">
                <a:solidFill>
                  <a:srgbClr val="1F2A3A"/>
                </a:solidFill>
                <a:latin typeface="맑은 고딕"/>
                <a:ea typeface="맑은 고딕"/>
                <a:cs typeface="맑은 고딕"/>
              </a:rPr>
              <a:t>승인 뒤 명령, 재관측을 거쳐 닿은 끝 이벤트와 결과를 읽는다</a:t>
            </a:r>
          </a:p>
        </p:txBody>
      </p:sp>
      <p:sp>
        <p:nvSpPr>
          <p:cNvPr id="22" name="Rounded Rectangle 21"/>
          <p:cNvSpPr/>
          <p:nvPr/>
        </p:nvSpPr>
        <p:spPr>
          <a:xfrm>
            <a:off x="8356396" y="4932934"/>
            <a:ext cx="82296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4932934"/>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완료</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승인 거절, 지연, 권한 제한의 검증</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권한 밖의 승인, 거절, 응답 없음의 세 경우에 처리 건이 어떻게 남는지 견준다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세 경우에서 견주는 처리 건의 기록</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승인으로 끝나지 않는 세 경우 모두 처리 건에 설비 명령이 남지 않는다는 것을 기록으로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21</a:t>
            </a:r>
          </a:p>
        </p:txBody>
      </p:sp>
      <p:sp>
        <p:nvSpPr>
          <p:cNvPr id="6" name="Rounded Rectangle 5"/>
          <p:cNvSpPr/>
          <p:nvPr/>
        </p:nvSpPr>
        <p:spPr>
          <a:xfrm>
            <a:off x="548640" y="24185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24185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경우</a:t>
            </a:r>
          </a:p>
        </p:txBody>
      </p:sp>
      <p:sp>
        <p:nvSpPr>
          <p:cNvPr id="8" name="TextBox 7"/>
          <p:cNvSpPr txBox="1"/>
          <p:nvPr/>
        </p:nvSpPr>
        <p:spPr>
          <a:xfrm>
            <a:off x="3200400" y="24185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확인하는 것</a:t>
            </a:r>
          </a:p>
        </p:txBody>
      </p:sp>
      <p:sp>
        <p:nvSpPr>
          <p:cNvPr id="9" name="TextBox 8"/>
          <p:cNvSpPr txBox="1"/>
          <p:nvPr/>
        </p:nvSpPr>
        <p:spPr>
          <a:xfrm>
            <a:off x="9448495" y="24185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처리 건에 남는 것</a:t>
            </a:r>
          </a:p>
        </p:txBody>
      </p:sp>
      <p:sp>
        <p:nvSpPr>
          <p:cNvPr id="10" name="Rounded Rectangle 9"/>
          <p:cNvSpPr/>
          <p:nvPr/>
        </p:nvSpPr>
        <p:spPr>
          <a:xfrm>
            <a:off x="548640" y="28529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820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권한 밖의 승인</a:t>
            </a:r>
          </a:p>
        </p:txBody>
      </p:sp>
      <p:sp>
        <p:nvSpPr>
          <p:cNvPr id="12" name="TextBox 11"/>
          <p:cNvSpPr txBox="1"/>
          <p:nvPr/>
        </p:nvSpPr>
        <p:spPr>
          <a:xfrm>
            <a:off x="3200400" y="2820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승인 역할이 아닌 쪽의 승인이 받아들여지지 않는다</a:t>
            </a:r>
          </a:p>
        </p:txBody>
      </p:sp>
      <p:sp>
        <p:nvSpPr>
          <p:cNvPr id="13" name="TextBox 12"/>
          <p:cNvSpPr txBox="1"/>
          <p:nvPr/>
        </p:nvSpPr>
        <p:spPr>
          <a:xfrm>
            <a:off x="9448495" y="28209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거부의</a:t>
            </a:r>
          </a:p>
          <a:p>
            <a:pPr algn="l">
              <a:lnSpc>
                <a:spcPct val="110000"/>
              </a:lnSpc>
            </a:pPr>
            <a:r>
              <a:rPr sz="1250" b="1">
                <a:solidFill>
                  <a:srgbClr val="556175"/>
                </a:solidFill>
                <a:latin typeface="맑은 고딕"/>
                <a:ea typeface="맑은 고딕"/>
                <a:cs typeface="맑은 고딕"/>
              </a:rPr>
              <a:t>감사 기록</a:t>
            </a:r>
          </a:p>
        </p:txBody>
      </p:sp>
      <p:sp>
        <p:nvSpPr>
          <p:cNvPr id="14" name="Rounded Rectangle 13"/>
          <p:cNvSpPr/>
          <p:nvPr/>
        </p:nvSpPr>
        <p:spPr>
          <a:xfrm>
            <a:off x="548640" y="37673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7353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거절</a:t>
            </a:r>
          </a:p>
        </p:txBody>
      </p:sp>
      <p:sp>
        <p:nvSpPr>
          <p:cNvPr id="16" name="TextBox 15"/>
          <p:cNvSpPr txBox="1"/>
          <p:nvPr/>
        </p:nvSpPr>
        <p:spPr>
          <a:xfrm>
            <a:off x="3200400" y="37353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냉각 명령이 열리지 않은 채 거절 종결에 닿는다</a:t>
            </a:r>
          </a:p>
        </p:txBody>
      </p:sp>
      <p:sp>
        <p:nvSpPr>
          <p:cNvPr id="17" name="TextBox 16"/>
          <p:cNvSpPr txBox="1"/>
          <p:nvPr/>
        </p:nvSpPr>
        <p:spPr>
          <a:xfrm>
            <a:off x="9448495" y="37353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결과 보고:</a:t>
            </a:r>
          </a:p>
          <a:p>
            <a:pPr algn="l">
              <a:lnSpc>
                <a:spcPct val="110000"/>
              </a:lnSpc>
            </a:pPr>
            <a:r>
              <a:rPr sz="1250" b="1">
                <a:solidFill>
                  <a:srgbClr val="556175"/>
                </a:solidFill>
                <a:latin typeface="맑은 고딕"/>
                <a:ea typeface="맑은 고딕"/>
                <a:cs typeface="맑은 고딕"/>
              </a:rPr>
              <a:t>거절</a:t>
            </a:r>
          </a:p>
        </p:txBody>
      </p:sp>
      <p:sp>
        <p:nvSpPr>
          <p:cNvPr id="18" name="Rounded Rectangle 17"/>
          <p:cNvSpPr/>
          <p:nvPr/>
        </p:nvSpPr>
        <p:spPr>
          <a:xfrm>
            <a:off x="548640" y="4681727"/>
            <a:ext cx="11094415" cy="850392"/>
          </a:xfrm>
          <a:prstGeom prst="roundRect">
            <a:avLst>
              <a:gd name="adj" fmla="val 8000"/>
            </a:avLst>
          </a:prstGeom>
          <a:solidFill>
            <a:srgbClr val="E7F3FD"/>
          </a:solidFill>
          <a:ln>
            <a:noFill/>
          </a:ln>
        </p:spPr>
        <p:txBody>
          <a:bodyPr rtlCol="0" anchor="ctr"/>
          <a:lstStyle/>
          <a:p>
            <a:pPr algn="ctr"/>
          </a:p>
        </p:txBody>
      </p:sp>
      <p:sp>
        <p:nvSpPr>
          <p:cNvPr id="19" name="TextBox 18"/>
          <p:cNvSpPr txBox="1"/>
          <p:nvPr/>
        </p:nvSpPr>
        <p:spPr>
          <a:xfrm>
            <a:off x="685800" y="4649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응답 없음</a:t>
            </a:r>
          </a:p>
        </p:txBody>
      </p:sp>
      <p:sp>
        <p:nvSpPr>
          <p:cNvPr id="20" name="TextBox 19"/>
          <p:cNvSpPr txBox="1"/>
          <p:nvPr/>
        </p:nvSpPr>
        <p:spPr>
          <a:xfrm>
            <a:off x="3200400" y="4649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기한이 지나면 승인 지연 알림만 나가고 승인 작업은 열린 채로 남는다</a:t>
            </a:r>
          </a:p>
        </p:txBody>
      </p:sp>
      <p:sp>
        <p:nvSpPr>
          <p:cNvPr id="21" name="TextBox 20"/>
          <p:cNvSpPr txBox="1"/>
          <p:nvPr/>
        </p:nvSpPr>
        <p:spPr>
          <a:xfrm>
            <a:off x="9448495" y="4649723"/>
            <a:ext cx="2103120" cy="914400"/>
          </a:xfrm>
          <a:prstGeom prst="rect">
            <a:avLst/>
          </a:prstGeom>
          <a:noFill/>
        </p:spPr>
        <p:txBody>
          <a:bodyPr wrap="square" anchor="ctr"/>
          <a:lstStyle/>
          <a:p>
            <a:pPr algn="l">
              <a:lnSpc>
                <a:spcPct val="110000"/>
              </a:lnSpc>
            </a:pPr>
            <a:r>
              <a:rPr sz="1250" b="1">
                <a:solidFill>
                  <a:srgbClr val="1A6FC4"/>
                </a:solidFill>
                <a:latin typeface="맑은 고딕"/>
                <a:ea typeface="맑은 고딕"/>
                <a:cs typeface="맑은 고딕"/>
              </a:rPr>
              <a:t>진행 중인</a:t>
            </a:r>
          </a:p>
          <a:p>
            <a:pPr algn="l">
              <a:lnSpc>
                <a:spcPct val="110000"/>
              </a:lnSpc>
            </a:pPr>
            <a:r>
              <a:rPr sz="1250" b="1">
                <a:solidFill>
                  <a:srgbClr val="1A6FC4"/>
                </a:solidFill>
                <a:latin typeface="맑은 고딕"/>
                <a:ea typeface="맑은 고딕"/>
                <a:cs typeface="맑은 고딕"/>
              </a:rPr>
              <a:t>상태</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잘못된 프로세스 설정의 수정</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사전 검사가 알려 주는 누락을 찾아 작업을 맡을 쪽과 갈림의 조건을 채운다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사전 검사가 알려 주는 누락과 고치는 자리</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맡을 쪽이 빠진 작업과 조건이 빠진 갈림은 실행하기 전의 사전 검사에서 드러나며, 검사 결과가 고칠 자리의 근거가 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23</a:t>
            </a:r>
          </a:p>
        </p:txBody>
      </p:sp>
      <p:sp>
        <p:nvSpPr>
          <p:cNvPr id="6" name="Rounded Rectangle 5"/>
          <p:cNvSpPr/>
          <p:nvPr/>
        </p:nvSpPr>
        <p:spPr>
          <a:xfrm>
            <a:off x="548640" y="2603182"/>
            <a:ext cx="2485567" cy="2776346"/>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425663" y="2786062"/>
            <a:ext cx="731520" cy="731520"/>
          </a:xfrm>
          <a:prstGeom prst="ellipse">
            <a:avLst/>
          </a:prstGeom>
          <a:solidFill>
            <a:srgbClr val="FFFFFF"/>
          </a:solidFill>
          <a:ln>
            <a:noFill/>
          </a:ln>
        </p:spPr>
        <p:txBody>
          <a:bodyPr rtlCol="0" anchor="ctr"/>
          <a:lstStyle/>
          <a:p>
            <a:pPr algn="ctr"/>
          </a:p>
        </p:txBody>
      </p:sp>
      <p:pic>
        <p:nvPicPr>
          <p:cNvPr id="8" name="아이콘:zoom-check" descr="zoom-check_13294B_1.6.png"/>
          <p:cNvPicPr>
            <a:picLocks noChangeAspect="1"/>
          </p:cNvPicPr>
          <p:nvPr/>
        </p:nvPicPr>
        <p:blipFill>
          <a:blip r:embed="rId3"/>
          <a:stretch>
            <a:fillRect/>
          </a:stretch>
        </p:blipFill>
        <p:spPr>
          <a:xfrm>
            <a:off x="1579283" y="2939681"/>
            <a:ext cx="424281" cy="424281"/>
          </a:xfrm>
          <a:prstGeom prst="rect">
            <a:avLst/>
          </a:prstGeom>
        </p:spPr>
      </p:pic>
      <p:sp>
        <p:nvSpPr>
          <p:cNvPr id="9" name="TextBox 8"/>
          <p:cNvSpPr txBox="1"/>
          <p:nvPr/>
        </p:nvSpPr>
        <p:spPr>
          <a:xfrm>
            <a:off x="621792"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사전 검사</a:t>
            </a:r>
          </a:p>
          <a:p>
            <a:pPr algn="ctr">
              <a:lnSpc>
                <a:spcPct val="110000"/>
              </a:lnSpc>
              <a:spcAft>
                <a:spcPts val="400"/>
              </a:spcAft>
            </a:pPr>
            <a:r>
              <a:rPr sz="1350" b="0">
                <a:solidFill>
                  <a:srgbClr val="1F2A3A"/>
                </a:solidFill>
                <a:latin typeface="맑은 고딕"/>
                <a:ea typeface="맑은 고딕"/>
                <a:cs typeface="맑은 고딕"/>
              </a:rPr>
              <a:t>가져온 흐름을</a:t>
            </a:r>
          </a:p>
          <a:p>
            <a:pPr algn="ctr">
              <a:lnSpc>
                <a:spcPct val="110000"/>
              </a:lnSpc>
              <a:spcAft>
                <a:spcPts val="400"/>
              </a:spcAft>
            </a:pPr>
            <a:r>
              <a:rPr sz="1350" b="0">
                <a:solidFill>
                  <a:srgbClr val="1F2A3A"/>
                </a:solidFill>
                <a:latin typeface="맑은 고딕"/>
                <a:ea typeface="맑은 고딕"/>
                <a:cs typeface="맑은 고딕"/>
              </a:rPr>
              <a:t>등록하기 전에</a:t>
            </a:r>
          </a:p>
          <a:p>
            <a:pPr algn="ctr">
              <a:lnSpc>
                <a:spcPct val="110000"/>
              </a:lnSpc>
              <a:spcAft>
                <a:spcPts val="400"/>
              </a:spcAft>
            </a:pPr>
            <a:r>
              <a:rPr sz="1350" b="0">
                <a:solidFill>
                  <a:srgbClr val="1F2A3A"/>
                </a:solidFill>
                <a:latin typeface="맑은 고딕"/>
                <a:ea typeface="맑은 고딕"/>
                <a:cs typeface="맑은 고딕"/>
              </a:rPr>
              <a:t>검사한다</a:t>
            </a:r>
          </a:p>
        </p:txBody>
      </p:sp>
      <p:sp>
        <p:nvSpPr>
          <p:cNvPr id="10" name="Right Arrow 9"/>
          <p:cNvSpPr/>
          <p:nvPr/>
        </p:nvSpPr>
        <p:spPr>
          <a:xfrm>
            <a:off x="3098215"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3418255" y="2603182"/>
            <a:ext cx="2485567" cy="2776346"/>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4295279" y="2786062"/>
            <a:ext cx="731520" cy="731520"/>
          </a:xfrm>
          <a:prstGeom prst="ellipse">
            <a:avLst/>
          </a:prstGeom>
          <a:solidFill>
            <a:srgbClr val="FFFFFF"/>
          </a:solidFill>
          <a:ln>
            <a:noFill/>
          </a:ln>
        </p:spPr>
        <p:txBody>
          <a:bodyPr rtlCol="0" anchor="ctr"/>
          <a:lstStyle/>
          <a:p>
            <a:pPr algn="ctr"/>
          </a:p>
        </p:txBody>
      </p:sp>
      <p:pic>
        <p:nvPicPr>
          <p:cNvPr id="13" name="아이콘:alert-triangle" descr="alert-triangle_13294B_1.6.png"/>
          <p:cNvPicPr>
            <a:picLocks noChangeAspect="1"/>
          </p:cNvPicPr>
          <p:nvPr/>
        </p:nvPicPr>
        <p:blipFill>
          <a:blip r:embed="rId4"/>
          <a:stretch>
            <a:fillRect/>
          </a:stretch>
        </p:blipFill>
        <p:spPr>
          <a:xfrm>
            <a:off x="4448898" y="2939681"/>
            <a:ext cx="424281" cy="424281"/>
          </a:xfrm>
          <a:prstGeom prst="rect">
            <a:avLst/>
          </a:prstGeom>
        </p:spPr>
      </p:pic>
      <p:sp>
        <p:nvSpPr>
          <p:cNvPr id="14" name="TextBox 13"/>
          <p:cNvSpPr txBox="1"/>
          <p:nvPr/>
        </p:nvSpPr>
        <p:spPr>
          <a:xfrm>
            <a:off x="3491407"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누락의 확인</a:t>
            </a:r>
          </a:p>
          <a:p>
            <a:pPr algn="ctr">
              <a:lnSpc>
                <a:spcPct val="110000"/>
              </a:lnSpc>
              <a:spcAft>
                <a:spcPts val="400"/>
              </a:spcAft>
            </a:pPr>
            <a:r>
              <a:rPr sz="1350" b="0">
                <a:solidFill>
                  <a:srgbClr val="1F2A3A"/>
                </a:solidFill>
                <a:latin typeface="맑은 고딕"/>
                <a:ea typeface="맑은 고딕"/>
                <a:cs typeface="맑은 고딕"/>
              </a:rPr>
              <a:t>맡을 쪽이 빠진 작업과</a:t>
            </a:r>
          </a:p>
          <a:p>
            <a:pPr algn="ctr">
              <a:lnSpc>
                <a:spcPct val="110000"/>
              </a:lnSpc>
              <a:spcAft>
                <a:spcPts val="400"/>
              </a:spcAft>
            </a:pPr>
            <a:r>
              <a:rPr sz="1350" b="0">
                <a:solidFill>
                  <a:srgbClr val="1F2A3A"/>
                </a:solidFill>
                <a:latin typeface="맑은 고딕"/>
                <a:ea typeface="맑은 고딕"/>
                <a:cs typeface="맑은 고딕"/>
              </a:rPr>
              <a:t>조건이 빠진 갈림을</a:t>
            </a:r>
          </a:p>
          <a:p>
            <a:pPr algn="ctr">
              <a:lnSpc>
                <a:spcPct val="110000"/>
              </a:lnSpc>
              <a:spcAft>
                <a:spcPts val="400"/>
              </a:spcAft>
            </a:pPr>
            <a:r>
              <a:rPr sz="1350" b="0">
                <a:solidFill>
                  <a:srgbClr val="1F2A3A"/>
                </a:solidFill>
                <a:latin typeface="맑은 고딕"/>
                <a:ea typeface="맑은 고딕"/>
                <a:cs typeface="맑은 고딕"/>
              </a:rPr>
              <a:t>검사 결과에서 찾는다</a:t>
            </a:r>
          </a:p>
        </p:txBody>
      </p:sp>
      <p:sp>
        <p:nvSpPr>
          <p:cNvPr id="15" name="Right Arrow 14"/>
          <p:cNvSpPr/>
          <p:nvPr/>
        </p:nvSpPr>
        <p:spPr>
          <a:xfrm>
            <a:off x="5967831"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6287871" y="2603182"/>
            <a:ext cx="2485567" cy="2776346"/>
          </a:xfrm>
          <a:prstGeom prst="roundRect">
            <a:avLst>
              <a:gd name="adj" fmla="val 5000"/>
            </a:avLst>
          </a:prstGeom>
          <a:solidFill>
            <a:srgbClr val="E7F3FD"/>
          </a:solidFill>
          <a:ln w="25400">
            <a:solidFill>
              <a:srgbClr val="5CB8F2"/>
            </a:solidFill>
          </a:ln>
        </p:spPr>
        <p:txBody>
          <a:bodyPr rtlCol="0" anchor="ctr"/>
          <a:lstStyle/>
          <a:p>
            <a:pPr algn="ctr"/>
          </a:p>
        </p:txBody>
      </p:sp>
      <p:sp>
        <p:nvSpPr>
          <p:cNvPr id="17" name="Oval 16"/>
          <p:cNvSpPr/>
          <p:nvPr/>
        </p:nvSpPr>
        <p:spPr>
          <a:xfrm>
            <a:off x="7164895" y="2786062"/>
            <a:ext cx="731520" cy="731520"/>
          </a:xfrm>
          <a:prstGeom prst="ellipse">
            <a:avLst/>
          </a:prstGeom>
          <a:solidFill>
            <a:srgbClr val="5CB8F2"/>
          </a:solidFill>
          <a:ln>
            <a:noFill/>
          </a:ln>
        </p:spPr>
        <p:txBody>
          <a:bodyPr rtlCol="0" anchor="ctr"/>
          <a:lstStyle/>
          <a:p>
            <a:pPr algn="ctr"/>
          </a:p>
        </p:txBody>
      </p:sp>
      <p:pic>
        <p:nvPicPr>
          <p:cNvPr id="18" name="아이콘:edit" descr="edit_13294B_1.6.png"/>
          <p:cNvPicPr>
            <a:picLocks noChangeAspect="1"/>
          </p:cNvPicPr>
          <p:nvPr/>
        </p:nvPicPr>
        <p:blipFill>
          <a:blip r:embed="rId5"/>
          <a:stretch>
            <a:fillRect/>
          </a:stretch>
        </p:blipFill>
        <p:spPr>
          <a:xfrm>
            <a:off x="7318514" y="2939681"/>
            <a:ext cx="424281" cy="424281"/>
          </a:xfrm>
          <a:prstGeom prst="rect">
            <a:avLst/>
          </a:prstGeom>
        </p:spPr>
      </p:pic>
      <p:sp>
        <p:nvSpPr>
          <p:cNvPr id="19" name="TextBox 18"/>
          <p:cNvSpPr txBox="1"/>
          <p:nvPr/>
        </p:nvSpPr>
        <p:spPr>
          <a:xfrm>
            <a:off x="6361023"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수정</a:t>
            </a:r>
          </a:p>
          <a:p>
            <a:pPr algn="ctr">
              <a:lnSpc>
                <a:spcPct val="110000"/>
              </a:lnSpc>
              <a:spcAft>
                <a:spcPts val="400"/>
              </a:spcAft>
            </a:pPr>
            <a:r>
              <a:rPr sz="1350" b="0">
                <a:solidFill>
                  <a:srgbClr val="1F2A3A"/>
                </a:solidFill>
                <a:latin typeface="맑은 고딕"/>
                <a:ea typeface="맑은 고딕"/>
                <a:cs typeface="맑은 고딕"/>
              </a:rPr>
              <a:t>작업을 맡을 쪽과</a:t>
            </a:r>
          </a:p>
          <a:p>
            <a:pPr algn="ctr">
              <a:lnSpc>
                <a:spcPct val="110000"/>
              </a:lnSpc>
              <a:spcAft>
                <a:spcPts val="400"/>
              </a:spcAft>
            </a:pPr>
            <a:r>
              <a:rPr sz="1350" b="0">
                <a:solidFill>
                  <a:srgbClr val="1F2A3A"/>
                </a:solidFill>
                <a:latin typeface="맑은 고딕"/>
                <a:ea typeface="맑은 고딕"/>
                <a:cs typeface="맑은 고딕"/>
              </a:rPr>
              <a:t>갈림의 조건을</a:t>
            </a:r>
          </a:p>
          <a:p>
            <a:pPr algn="ctr">
              <a:lnSpc>
                <a:spcPct val="110000"/>
              </a:lnSpc>
              <a:spcAft>
                <a:spcPts val="400"/>
              </a:spcAft>
            </a:pPr>
            <a:r>
              <a:rPr sz="1350" b="0">
                <a:solidFill>
                  <a:srgbClr val="1F2A3A"/>
                </a:solidFill>
                <a:latin typeface="맑은 고딕"/>
                <a:ea typeface="맑은 고딕"/>
                <a:cs typeface="맑은 고딕"/>
              </a:rPr>
              <a:t>채운다</a:t>
            </a:r>
          </a:p>
        </p:txBody>
      </p:sp>
      <p:sp>
        <p:nvSpPr>
          <p:cNvPr id="20" name="Right Arrow 19"/>
          <p:cNvSpPr/>
          <p:nvPr/>
        </p:nvSpPr>
        <p:spPr>
          <a:xfrm>
            <a:off x="883744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9157487" y="2603182"/>
            <a:ext cx="2485567" cy="2776346"/>
          </a:xfrm>
          <a:prstGeom prst="roundRect">
            <a:avLst>
              <a:gd name="adj" fmla="val 5000"/>
            </a:avLst>
          </a:prstGeom>
          <a:solidFill>
            <a:srgbClr val="F3F6F9"/>
          </a:solidFill>
          <a:ln>
            <a:noFill/>
          </a:ln>
        </p:spPr>
        <p:txBody>
          <a:bodyPr rtlCol="0" anchor="ctr"/>
          <a:lstStyle/>
          <a:p>
            <a:pPr algn="ctr"/>
          </a:p>
        </p:txBody>
      </p:sp>
      <p:sp>
        <p:nvSpPr>
          <p:cNvPr id="22" name="Oval 21"/>
          <p:cNvSpPr/>
          <p:nvPr/>
        </p:nvSpPr>
        <p:spPr>
          <a:xfrm>
            <a:off x="10034511" y="2786062"/>
            <a:ext cx="731520" cy="731520"/>
          </a:xfrm>
          <a:prstGeom prst="ellipse">
            <a:avLst/>
          </a:prstGeom>
          <a:solidFill>
            <a:srgbClr val="FFFFFF"/>
          </a:solidFill>
          <a:ln>
            <a:noFill/>
          </a:ln>
        </p:spPr>
        <p:txBody>
          <a:bodyPr rtlCol="0" anchor="ctr"/>
          <a:lstStyle/>
          <a:p>
            <a:pPr algn="ctr"/>
          </a:p>
        </p:txBody>
      </p:sp>
      <p:pic>
        <p:nvPicPr>
          <p:cNvPr id="23" name="아이콘:file-text" descr="file-text_13294B_1.6.png"/>
          <p:cNvPicPr>
            <a:picLocks noChangeAspect="1"/>
          </p:cNvPicPr>
          <p:nvPr/>
        </p:nvPicPr>
        <p:blipFill>
          <a:blip r:embed="rId6"/>
          <a:stretch>
            <a:fillRect/>
          </a:stretch>
        </p:blipFill>
        <p:spPr>
          <a:xfrm>
            <a:off x="10188130" y="2939681"/>
            <a:ext cx="424281" cy="424281"/>
          </a:xfrm>
          <a:prstGeom prst="rect">
            <a:avLst/>
          </a:prstGeom>
        </p:spPr>
      </p:pic>
      <p:sp>
        <p:nvSpPr>
          <p:cNvPr id="24" name="TextBox 23"/>
          <p:cNvSpPr txBox="1"/>
          <p:nvPr/>
        </p:nvSpPr>
        <p:spPr>
          <a:xfrm>
            <a:off x="9230639"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고친 흐름</a:t>
            </a:r>
          </a:p>
          <a:p>
            <a:pPr algn="ctr">
              <a:lnSpc>
                <a:spcPct val="110000"/>
              </a:lnSpc>
              <a:spcAft>
                <a:spcPts val="400"/>
              </a:spcAft>
            </a:pPr>
            <a:r>
              <a:rPr sz="1350" b="0">
                <a:solidFill>
                  <a:srgbClr val="1F2A3A"/>
                </a:solidFill>
                <a:latin typeface="맑은 고딕"/>
                <a:ea typeface="맑은 고딕"/>
                <a:cs typeface="맑은 고딕"/>
              </a:rPr>
              <a:t>맡을 쪽과 조건이</a:t>
            </a:r>
          </a:p>
          <a:p>
            <a:pPr algn="ctr">
              <a:lnSpc>
                <a:spcPct val="110000"/>
              </a:lnSpc>
              <a:spcAft>
                <a:spcPts val="400"/>
              </a:spcAft>
            </a:pPr>
            <a:r>
              <a:rPr sz="1350" b="0">
                <a:solidFill>
                  <a:srgbClr val="1F2A3A"/>
                </a:solidFill>
                <a:latin typeface="맑은 고딕"/>
                <a:ea typeface="맑은 고딕"/>
                <a:cs typeface="맑은 고딕"/>
              </a:rPr>
              <a:t>채워진 흐름을</a:t>
            </a:r>
          </a:p>
          <a:p>
            <a:pPr algn="ctr">
              <a:lnSpc>
                <a:spcPct val="110000"/>
              </a:lnSpc>
              <a:spcAft>
                <a:spcPts val="400"/>
              </a:spcAft>
            </a:pPr>
            <a:r>
              <a:rPr sz="1350" b="0">
                <a:solidFill>
                  <a:srgbClr val="1F2A3A"/>
                </a:solidFill>
                <a:latin typeface="맑은 고딕"/>
                <a:ea typeface="맑은 고딕"/>
                <a:cs typeface="맑은 고딕"/>
              </a:rPr>
              <a:t>저장한다</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고친 흐름의 재배포와 실행 확인</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고친 정의를 새 판본으로 배포하고 승인과 거절의 결과를 다시 확인한다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재배포한 흐름에서 확인하는 것과 남기는 근거</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고친 정의는 새 판본으로 배포한 뒤의 경보부터 적용되어, 그 판본의 처리 건에서 결과를 다시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25</a:t>
            </a:r>
          </a:p>
        </p:txBody>
      </p:sp>
      <p:sp>
        <p:nvSpPr>
          <p:cNvPr id="6" name="Rounded Rectangle 5"/>
          <p:cNvSpPr/>
          <p:nvPr/>
        </p:nvSpPr>
        <p:spPr>
          <a:xfrm>
            <a:off x="548640" y="2383726"/>
            <a:ext cx="2567863" cy="3215258"/>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584894"/>
            <a:ext cx="731520" cy="731520"/>
          </a:xfrm>
          <a:prstGeom prst="ellipse">
            <a:avLst/>
          </a:prstGeom>
          <a:solidFill>
            <a:srgbClr val="E7F3FD"/>
          </a:solidFill>
          <a:ln>
            <a:noFill/>
          </a:ln>
        </p:spPr>
        <p:txBody>
          <a:bodyPr rtlCol="0" anchor="ctr"/>
          <a:lstStyle/>
          <a:p>
            <a:pPr algn="ctr"/>
          </a:p>
        </p:txBody>
      </p:sp>
      <p:pic>
        <p:nvPicPr>
          <p:cNvPr id="8" name="아이콘:rocket" descr="rocket_13294B_1.6.png"/>
          <p:cNvPicPr>
            <a:picLocks noChangeAspect="1"/>
          </p:cNvPicPr>
          <p:nvPr/>
        </p:nvPicPr>
        <p:blipFill>
          <a:blip r:embed="rId3"/>
          <a:stretch>
            <a:fillRect/>
          </a:stretch>
        </p:blipFill>
        <p:spPr>
          <a:xfrm>
            <a:off x="930859" y="2738513"/>
            <a:ext cx="424281" cy="424281"/>
          </a:xfrm>
          <a:prstGeom prst="rect">
            <a:avLst/>
          </a:prstGeom>
        </p:spPr>
      </p:pic>
      <p:sp>
        <p:nvSpPr>
          <p:cNvPr id="9" name="TextBox 8"/>
          <p:cNvSpPr txBox="1"/>
          <p:nvPr/>
        </p:nvSpPr>
        <p:spPr>
          <a:xfrm>
            <a:off x="713232" y="3407854"/>
            <a:ext cx="2238679" cy="1688210"/>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재검사와 배포</a:t>
            </a:r>
          </a:p>
          <a:p>
            <a:pPr algn="l">
              <a:lnSpc>
                <a:spcPct val="110000"/>
              </a:lnSpc>
              <a:spcAft>
                <a:spcPts val="400"/>
              </a:spcAft>
            </a:pPr>
            <a:r>
              <a:rPr sz="1350" b="0">
                <a:solidFill>
                  <a:srgbClr val="1F2A3A"/>
                </a:solidFill>
                <a:latin typeface="맑은 고딕"/>
                <a:ea typeface="맑은 고딕"/>
                <a:cs typeface="맑은 고딕"/>
              </a:rPr>
              <a:t>고친 흐름을 다시 검사해 새 판본으로 등록하고 배포한다</a:t>
            </a:r>
          </a:p>
        </p:txBody>
      </p:sp>
      <p:sp>
        <p:nvSpPr>
          <p:cNvPr id="10" name="Rounded Rectangle 9"/>
          <p:cNvSpPr/>
          <p:nvPr/>
        </p:nvSpPr>
        <p:spPr>
          <a:xfrm>
            <a:off x="777240" y="5169217"/>
            <a:ext cx="86868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169217"/>
            <a:ext cx="8686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새 판본</a:t>
            </a:r>
          </a:p>
        </p:txBody>
      </p:sp>
      <p:sp>
        <p:nvSpPr>
          <p:cNvPr id="12" name="Rounded Rectangle 11"/>
          <p:cNvSpPr/>
          <p:nvPr/>
        </p:nvSpPr>
        <p:spPr>
          <a:xfrm>
            <a:off x="3390823" y="2383726"/>
            <a:ext cx="2567863" cy="3215258"/>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584894"/>
            <a:ext cx="731520" cy="731520"/>
          </a:xfrm>
          <a:prstGeom prst="ellipse">
            <a:avLst/>
          </a:prstGeom>
          <a:solidFill>
            <a:srgbClr val="E7F3FD"/>
          </a:solidFill>
          <a:ln>
            <a:noFill/>
          </a:ln>
        </p:spPr>
        <p:txBody>
          <a:bodyPr rtlCol="0" anchor="ctr"/>
          <a:lstStyle/>
          <a:p>
            <a:pPr algn="ctr"/>
          </a:p>
        </p:txBody>
      </p:sp>
      <p:pic>
        <p:nvPicPr>
          <p:cNvPr id="14" name="아이콘:arrows-split-2" descr="arrows-split-2_13294B_1.6.png"/>
          <p:cNvPicPr>
            <a:picLocks noChangeAspect="1"/>
          </p:cNvPicPr>
          <p:nvPr/>
        </p:nvPicPr>
        <p:blipFill>
          <a:blip r:embed="rId4"/>
          <a:stretch>
            <a:fillRect/>
          </a:stretch>
        </p:blipFill>
        <p:spPr>
          <a:xfrm>
            <a:off x="3773043" y="2738513"/>
            <a:ext cx="424281" cy="424281"/>
          </a:xfrm>
          <a:prstGeom prst="rect">
            <a:avLst/>
          </a:prstGeom>
        </p:spPr>
      </p:pic>
      <p:sp>
        <p:nvSpPr>
          <p:cNvPr id="15" name="TextBox 14"/>
          <p:cNvSpPr txBox="1"/>
          <p:nvPr/>
        </p:nvSpPr>
        <p:spPr>
          <a:xfrm>
            <a:off x="3555415" y="3407854"/>
            <a:ext cx="2238679" cy="1688210"/>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승인과 거절의 실행</a:t>
            </a:r>
          </a:p>
          <a:p>
            <a:pPr algn="l">
              <a:lnSpc>
                <a:spcPct val="110000"/>
              </a:lnSpc>
              <a:spcAft>
                <a:spcPts val="400"/>
              </a:spcAft>
            </a:pPr>
            <a:r>
              <a:rPr sz="1350" b="0">
                <a:solidFill>
                  <a:srgbClr val="1F2A3A"/>
                </a:solidFill>
                <a:latin typeface="맑은 고딕"/>
                <a:ea typeface="맑은 고딕"/>
                <a:cs typeface="맑은 고딕"/>
              </a:rPr>
              <a:t>새 판본으로 열린 처리 건에서 승인의 결과와 거절의 결과를 각각 확인한다</a:t>
            </a:r>
          </a:p>
        </p:txBody>
      </p:sp>
      <p:sp>
        <p:nvSpPr>
          <p:cNvPr id="16" name="Rounded Rectangle 15"/>
          <p:cNvSpPr/>
          <p:nvPr/>
        </p:nvSpPr>
        <p:spPr>
          <a:xfrm>
            <a:off x="3619423" y="5169217"/>
            <a:ext cx="86868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169217"/>
            <a:ext cx="8686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두 결말</a:t>
            </a:r>
          </a:p>
        </p:txBody>
      </p:sp>
      <p:sp>
        <p:nvSpPr>
          <p:cNvPr id="18" name="Rounded Rectangle 17"/>
          <p:cNvSpPr/>
          <p:nvPr/>
        </p:nvSpPr>
        <p:spPr>
          <a:xfrm>
            <a:off x="6233007" y="2383726"/>
            <a:ext cx="2567863" cy="3215258"/>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6461607" y="2584894"/>
            <a:ext cx="731520" cy="731520"/>
          </a:xfrm>
          <a:prstGeom prst="ellipse">
            <a:avLst/>
          </a:prstGeom>
          <a:solidFill>
            <a:srgbClr val="5CB8F2"/>
          </a:solidFill>
          <a:ln>
            <a:noFill/>
          </a:ln>
        </p:spPr>
        <p:txBody>
          <a:bodyPr rtlCol="0" anchor="ctr"/>
          <a:lstStyle/>
          <a:p>
            <a:pPr algn="ctr"/>
          </a:p>
        </p:txBody>
      </p:sp>
      <p:pic>
        <p:nvPicPr>
          <p:cNvPr id="20" name="아이콘:archive" descr="archive_13294B_1.6.png"/>
          <p:cNvPicPr>
            <a:picLocks noChangeAspect="1"/>
          </p:cNvPicPr>
          <p:nvPr/>
        </p:nvPicPr>
        <p:blipFill>
          <a:blip r:embed="rId5"/>
          <a:stretch>
            <a:fillRect/>
          </a:stretch>
        </p:blipFill>
        <p:spPr>
          <a:xfrm>
            <a:off x="6615226" y="2738513"/>
            <a:ext cx="424281" cy="424281"/>
          </a:xfrm>
          <a:prstGeom prst="rect">
            <a:avLst/>
          </a:prstGeom>
        </p:spPr>
      </p:pic>
      <p:sp>
        <p:nvSpPr>
          <p:cNvPr id="21" name="TextBox 20"/>
          <p:cNvSpPr txBox="1"/>
          <p:nvPr/>
        </p:nvSpPr>
        <p:spPr>
          <a:xfrm>
            <a:off x="6397599" y="3407854"/>
            <a:ext cx="2238679" cy="1688210"/>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비교의 근거</a:t>
            </a:r>
          </a:p>
          <a:p>
            <a:pPr algn="l">
              <a:lnSpc>
                <a:spcPct val="110000"/>
              </a:lnSpc>
              <a:spcAft>
                <a:spcPts val="400"/>
              </a:spcAft>
            </a:pPr>
            <a:r>
              <a:rPr sz="1350" b="0">
                <a:solidFill>
                  <a:srgbClr val="1F2A3A"/>
                </a:solidFill>
                <a:latin typeface="맑은 고딕"/>
                <a:ea typeface="맑은 고딕"/>
                <a:cs typeface="맑은 고딕"/>
              </a:rPr>
              <a:t>저장한 .bpmn 파일과 연결할 때 넣은 값, 처리 결과를 고치기 전의 것과 견줄 수 있게 남긴다</a:t>
            </a:r>
          </a:p>
        </p:txBody>
      </p:sp>
      <p:sp>
        <p:nvSpPr>
          <p:cNvPr id="22" name="Rounded Rectangle 21"/>
          <p:cNvSpPr/>
          <p:nvPr/>
        </p:nvSpPr>
        <p:spPr>
          <a:xfrm>
            <a:off x="6461607" y="5169217"/>
            <a:ext cx="82296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6461607" y="5169217"/>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보존</a:t>
            </a:r>
          </a:p>
        </p:txBody>
      </p:sp>
      <p:sp>
        <p:nvSpPr>
          <p:cNvPr id="24" name="Rounded Rectangle 23"/>
          <p:cNvSpPr/>
          <p:nvPr/>
        </p:nvSpPr>
        <p:spPr>
          <a:xfrm>
            <a:off x="9075191" y="2383726"/>
            <a:ext cx="2567863" cy="3215258"/>
          </a:xfrm>
          <a:prstGeom prst="roundRect">
            <a:avLst>
              <a:gd name="adj" fmla="val 4000"/>
            </a:avLst>
          </a:prstGeom>
          <a:solidFill>
            <a:srgbClr val="FFFFFF"/>
          </a:solidFill>
          <a:ln w="15875">
            <a:solidFill>
              <a:srgbClr val="D3D9E1"/>
            </a:solidFill>
          </a:ln>
        </p:spPr>
        <p:txBody>
          <a:bodyPr rtlCol="0" anchor="ctr"/>
          <a:lstStyle/>
          <a:p>
            <a:pPr algn="ctr"/>
          </a:p>
        </p:txBody>
      </p:sp>
      <p:sp>
        <p:nvSpPr>
          <p:cNvPr id="25" name="Oval 24"/>
          <p:cNvSpPr/>
          <p:nvPr/>
        </p:nvSpPr>
        <p:spPr>
          <a:xfrm>
            <a:off x="9303791" y="2584894"/>
            <a:ext cx="731520" cy="731520"/>
          </a:xfrm>
          <a:prstGeom prst="ellipse">
            <a:avLst/>
          </a:prstGeom>
          <a:solidFill>
            <a:srgbClr val="E7F3FD"/>
          </a:solidFill>
          <a:ln>
            <a:noFill/>
          </a:ln>
        </p:spPr>
        <p:txBody>
          <a:bodyPr rtlCol="0" anchor="ctr"/>
          <a:lstStyle/>
          <a:p>
            <a:pPr algn="ctr"/>
          </a:p>
        </p:txBody>
      </p:sp>
      <p:pic>
        <p:nvPicPr>
          <p:cNvPr id="26" name="아이콘:arrow-back-up" descr="arrow-back-up_13294B_1.6.png"/>
          <p:cNvPicPr>
            <a:picLocks noChangeAspect="1"/>
          </p:cNvPicPr>
          <p:nvPr/>
        </p:nvPicPr>
        <p:blipFill>
          <a:blip r:embed="rId6"/>
          <a:stretch>
            <a:fillRect/>
          </a:stretch>
        </p:blipFill>
        <p:spPr>
          <a:xfrm>
            <a:off x="9457410" y="2738513"/>
            <a:ext cx="424281" cy="424281"/>
          </a:xfrm>
          <a:prstGeom prst="rect">
            <a:avLst/>
          </a:prstGeom>
        </p:spPr>
      </p:pic>
      <p:sp>
        <p:nvSpPr>
          <p:cNvPr id="27" name="TextBox 26"/>
          <p:cNvSpPr txBox="1"/>
          <p:nvPr/>
        </p:nvSpPr>
        <p:spPr>
          <a:xfrm>
            <a:off x="9239783" y="3407854"/>
            <a:ext cx="2238679" cy="1688210"/>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기준 흐름으로 되돌리기</a:t>
            </a:r>
          </a:p>
          <a:p>
            <a:pPr algn="l">
              <a:lnSpc>
                <a:spcPct val="110000"/>
              </a:lnSpc>
              <a:spcAft>
                <a:spcPts val="400"/>
              </a:spcAft>
            </a:pPr>
            <a:r>
              <a:rPr sz="1350" b="0">
                <a:solidFill>
                  <a:srgbClr val="1F2A3A"/>
                </a:solidFill>
                <a:latin typeface="맑은 고딕"/>
                <a:ea typeface="맑은 고딕"/>
                <a:cs typeface="맑은 고딕"/>
              </a:rPr>
              <a:t>확인을 마치면 기준 흐름을 다시 배포해 경보를 받는 흐름을 되돌린다</a:t>
            </a:r>
          </a:p>
        </p:txBody>
      </p:sp>
      <p:sp>
        <p:nvSpPr>
          <p:cNvPr id="28" name="Rounded Rectangle 27"/>
          <p:cNvSpPr/>
          <p:nvPr/>
        </p:nvSpPr>
        <p:spPr>
          <a:xfrm>
            <a:off x="9303791" y="5169217"/>
            <a:ext cx="975360" cy="292608"/>
          </a:xfrm>
          <a:prstGeom prst="roundRect">
            <a:avLst>
              <a:gd name="adj" fmla="val 50000"/>
            </a:avLst>
          </a:prstGeom>
          <a:solidFill>
            <a:srgbClr val="D3D9E1"/>
          </a:solidFill>
          <a:ln>
            <a:noFill/>
          </a:ln>
        </p:spPr>
        <p:txBody>
          <a:bodyPr rtlCol="0" anchor="ctr"/>
          <a:lstStyle/>
          <a:p>
            <a:pPr algn="ctr"/>
          </a:p>
        </p:txBody>
      </p:sp>
      <p:sp>
        <p:nvSpPr>
          <p:cNvPr id="29" name="TextBox 28"/>
          <p:cNvSpPr txBox="1"/>
          <p:nvPr/>
        </p:nvSpPr>
        <p:spPr>
          <a:xfrm>
            <a:off x="9303791" y="5169217"/>
            <a:ext cx="9753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되돌리기</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오늘 다룬 핵심 개념과 주요 용어 정리</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오늘 정식 명칭을 붙인 용어와, 그 용어가 긴급 대응 처리 건에서 놓이는 자리를 모은다.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26</a:t>
            </a:r>
          </a:p>
        </p:txBody>
      </p:sp>
      <p:sp>
        <p:nvSpPr>
          <p:cNvPr id="6" name="Rounded Rectangle 5"/>
          <p:cNvSpPr/>
          <p:nvPr/>
        </p:nvSpPr>
        <p:spPr>
          <a:xfrm>
            <a:off x="548640" y="19613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9613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용어</a:t>
            </a:r>
          </a:p>
        </p:txBody>
      </p:sp>
      <p:sp>
        <p:nvSpPr>
          <p:cNvPr id="8" name="TextBox 7"/>
          <p:cNvSpPr txBox="1"/>
          <p:nvPr/>
        </p:nvSpPr>
        <p:spPr>
          <a:xfrm>
            <a:off x="3200400" y="19613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정식 명칭</a:t>
            </a:r>
          </a:p>
        </p:txBody>
      </p:sp>
      <p:sp>
        <p:nvSpPr>
          <p:cNvPr id="9" name="TextBox 8"/>
          <p:cNvSpPr txBox="1"/>
          <p:nvPr/>
        </p:nvSpPr>
        <p:spPr>
          <a:xfrm>
            <a:off x="9448495" y="19613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긴급 대응 처리 건에서</a:t>
            </a:r>
          </a:p>
        </p:txBody>
      </p:sp>
      <p:sp>
        <p:nvSpPr>
          <p:cNvPr id="10" name="Rounded Rectangle 9"/>
          <p:cNvSpPr/>
          <p:nvPr/>
        </p:nvSpPr>
        <p:spPr>
          <a:xfrm>
            <a:off x="548640" y="23957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363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토큰</a:t>
            </a:r>
          </a:p>
        </p:txBody>
      </p:sp>
      <p:sp>
        <p:nvSpPr>
          <p:cNvPr id="12" name="TextBox 11"/>
          <p:cNvSpPr txBox="1"/>
          <p:nvPr/>
        </p:nvSpPr>
        <p:spPr>
          <a:xfrm>
            <a:off x="3200400" y="2363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Token</a:t>
            </a:r>
          </a:p>
        </p:txBody>
      </p:sp>
      <p:sp>
        <p:nvSpPr>
          <p:cNvPr id="13" name="TextBox 12"/>
          <p:cNvSpPr txBox="1"/>
          <p:nvPr/>
        </p:nvSpPr>
        <p:spPr>
          <a:xfrm>
            <a:off x="9448495" y="23637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운전원 승인에 머문 현재 위치</a:t>
            </a:r>
          </a:p>
        </p:txBody>
      </p:sp>
      <p:sp>
        <p:nvSpPr>
          <p:cNvPr id="14" name="Rounded Rectangle 13"/>
          <p:cNvSpPr/>
          <p:nvPr/>
        </p:nvSpPr>
        <p:spPr>
          <a:xfrm>
            <a:off x="548640" y="33101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2781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프로세스 변수</a:t>
            </a:r>
          </a:p>
        </p:txBody>
      </p:sp>
      <p:sp>
        <p:nvSpPr>
          <p:cNvPr id="16" name="TextBox 15"/>
          <p:cNvSpPr txBox="1"/>
          <p:nvPr/>
        </p:nvSpPr>
        <p:spPr>
          <a:xfrm>
            <a:off x="3200400" y="32781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Process Variable</a:t>
            </a:r>
          </a:p>
        </p:txBody>
      </p:sp>
      <p:sp>
        <p:nvSpPr>
          <p:cNvPr id="17" name="TextBox 16"/>
          <p:cNvSpPr txBox="1"/>
          <p:nvPr/>
        </p:nvSpPr>
        <p:spPr>
          <a:xfrm>
            <a:off x="9448495" y="32781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approval, recovered</a:t>
            </a:r>
          </a:p>
        </p:txBody>
      </p:sp>
      <p:sp>
        <p:nvSpPr>
          <p:cNvPr id="18" name="Rounded Rectangle 17"/>
          <p:cNvSpPr/>
          <p:nvPr/>
        </p:nvSpPr>
        <p:spPr>
          <a:xfrm>
            <a:off x="548640" y="42245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1925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기본 흐름</a:t>
            </a:r>
          </a:p>
        </p:txBody>
      </p:sp>
      <p:sp>
        <p:nvSpPr>
          <p:cNvPr id="20" name="TextBox 19"/>
          <p:cNvSpPr txBox="1"/>
          <p:nvPr/>
        </p:nvSpPr>
        <p:spPr>
          <a:xfrm>
            <a:off x="3200400" y="41925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Default Flow</a:t>
            </a:r>
          </a:p>
        </p:txBody>
      </p:sp>
      <p:sp>
        <p:nvSpPr>
          <p:cNvPr id="21" name="TextBox 20"/>
          <p:cNvSpPr txBox="1"/>
          <p:nvPr/>
        </p:nvSpPr>
        <p:spPr>
          <a:xfrm>
            <a:off x="9448495" y="41925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거절 쪽과 미달 쪽의 선</a:t>
            </a:r>
          </a:p>
        </p:txBody>
      </p:sp>
      <p:sp>
        <p:nvSpPr>
          <p:cNvPr id="22" name="Rounded Rectangle 21"/>
          <p:cNvSpPr/>
          <p:nvPr/>
        </p:nvSpPr>
        <p:spPr>
          <a:xfrm>
            <a:off x="548640" y="5138927"/>
            <a:ext cx="11094415" cy="850392"/>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5106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감사 기록</a:t>
            </a:r>
          </a:p>
        </p:txBody>
      </p:sp>
      <p:sp>
        <p:nvSpPr>
          <p:cNvPr id="24" name="TextBox 23"/>
          <p:cNvSpPr txBox="1"/>
          <p:nvPr/>
        </p:nvSpPr>
        <p:spPr>
          <a:xfrm>
            <a:off x="3200400" y="5106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Audit Log</a:t>
            </a:r>
          </a:p>
        </p:txBody>
      </p:sp>
      <p:sp>
        <p:nvSpPr>
          <p:cNvPr id="25" name="TextBox 24"/>
          <p:cNvSpPr txBox="1"/>
          <p:nvPr/>
        </p:nvSpPr>
        <p:spPr>
          <a:xfrm>
            <a:off x="9448495" y="51069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승인의 접수와 거부의 기록</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Review Quiz: 핵심 흐름 되짚어보기</a:t>
            </a:r>
          </a:p>
        </p:txBody>
      </p:sp>
      <p:sp>
        <p:nvSpPr>
          <p:cNvPr id="5" name="TextBox 4"/>
          <p:cNvSpPr txBox="1"/>
          <p:nvPr/>
        </p:nvSpPr>
        <p:spPr>
          <a:xfrm>
            <a:off x="731520" y="41605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배운 내용을 바탕으로 정답을 맞혀 보세요.</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Quiz 1. 설비 명령이 나갔는지를 판단하는 근거</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어느 긴급 대응 처리 건의 기록에 status는 COMPLETED, end_event는 E_rejected로 적혀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28</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이 처리 건에서 냉각 명령이 설비에 나갔는지를 판단한 것으로 옳은 것은?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끝 이벤트가 E_rejected이고 냉각 명령 단계가 CANCELLED이므로 나가지 않았다</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status가 COMPLETED이므로 명령이 나가 유온이 회복되었다</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에이전트 단계가 DONE이므로 추천대로 명령이 나갔다</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기록으로는 알 수 없으므로 에이전트에게 다시 판단을 맡긴다</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Quiz 2. 승인 역할이 아닌 쪽의 승인 시도</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긴급 대응 처리 건이 운전원 승인에서 기다리는 동안, 운전원 역할이 아닌 담당자가 추천안을 승인하려고 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29</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이 시도 뒤의 처리 건에 대한 설명으로 옳은 것은?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승인이 접수되어 냉각 명령 작업이 열린다</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승인이 거부되면서 처리 건이 거절 종결로 닫힌다</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시도는 기록 없이 무시되고 처리 건은 그대로 기다린다</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시도는 거부되어 감사 기록에 남고 운전원 승인은 열린 채로 기다린다</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Quiz 3. 승인을 기다리는 동안 배포된 새 판본</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어느 긴급 대응 처리 건이 운전원 승인에서 기다리는 동안, 갈림의 조건을 고친 정의가 새 판본으로 배포되었다.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30</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기다리던 처리 건에 대한 설명으로 옳은 것은?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기다리던 처리 건은 닫히고 새 판본으로 다시 열린다</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기다리던 처리 건은 열릴 때의 판본으로 끝까지 간다</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기다리던 처리 건의 남은 단계부터 새 판본의 조건이 적용된다</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기다리던 처리 건은 새 판본이 배포되는 순간 거절로 닫힌다</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정답과 판단 기준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세 문항은 판단의 근거가 되는 기록, 승인할 수 있는 역할의 경계, 판본이 적용되는 시점을 바르게 읽는지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31</a:t>
            </a:r>
          </a:p>
        </p:txBody>
      </p:sp>
      <p:sp>
        <p:nvSpPr>
          <p:cNvPr id="6" name="Rounded Rectangle 5"/>
          <p:cNvSpPr/>
          <p:nvPr/>
        </p:nvSpPr>
        <p:spPr>
          <a:xfrm>
            <a:off x="548640" y="24185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24185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문항</a:t>
            </a:r>
          </a:p>
        </p:txBody>
      </p:sp>
      <p:sp>
        <p:nvSpPr>
          <p:cNvPr id="8" name="TextBox 7"/>
          <p:cNvSpPr txBox="1"/>
          <p:nvPr/>
        </p:nvSpPr>
        <p:spPr>
          <a:xfrm>
            <a:off x="3200400" y="24185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판단 기준</a:t>
            </a:r>
          </a:p>
        </p:txBody>
      </p:sp>
      <p:sp>
        <p:nvSpPr>
          <p:cNvPr id="9" name="TextBox 8"/>
          <p:cNvSpPr txBox="1"/>
          <p:nvPr/>
        </p:nvSpPr>
        <p:spPr>
          <a:xfrm>
            <a:off x="9448495" y="24185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정답</a:t>
            </a:r>
          </a:p>
        </p:txBody>
      </p:sp>
      <p:sp>
        <p:nvSpPr>
          <p:cNvPr id="10" name="Rounded Rectangle 9"/>
          <p:cNvSpPr/>
          <p:nvPr/>
        </p:nvSpPr>
        <p:spPr>
          <a:xfrm>
            <a:off x="548640" y="28529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820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Quiz 1</a:t>
            </a:r>
          </a:p>
        </p:txBody>
      </p:sp>
      <p:sp>
        <p:nvSpPr>
          <p:cNvPr id="12" name="TextBox 11"/>
          <p:cNvSpPr txBox="1"/>
          <p:nvPr/>
        </p:nvSpPr>
        <p:spPr>
          <a:xfrm>
            <a:off x="3200400" y="2820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COMPLETED는 실행이 끝났다는 뜻이다. 결과는 끝 이벤트와 단계의 상태로 읽는다.</a:t>
            </a:r>
          </a:p>
        </p:txBody>
      </p:sp>
      <p:sp>
        <p:nvSpPr>
          <p:cNvPr id="13" name="TextBox 12"/>
          <p:cNvSpPr txBox="1"/>
          <p:nvPr/>
        </p:nvSpPr>
        <p:spPr>
          <a:xfrm>
            <a:off x="9448495" y="28209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1번</a:t>
            </a:r>
          </a:p>
        </p:txBody>
      </p:sp>
      <p:sp>
        <p:nvSpPr>
          <p:cNvPr id="14" name="Rounded Rectangle 13"/>
          <p:cNvSpPr/>
          <p:nvPr/>
        </p:nvSpPr>
        <p:spPr>
          <a:xfrm>
            <a:off x="548640" y="37673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7353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Quiz 2</a:t>
            </a:r>
          </a:p>
        </p:txBody>
      </p:sp>
      <p:sp>
        <p:nvSpPr>
          <p:cNvPr id="16" name="TextBox 15"/>
          <p:cNvSpPr txBox="1"/>
          <p:nvPr/>
        </p:nvSpPr>
        <p:spPr>
          <a:xfrm>
            <a:off x="3200400" y="37353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승인 작업은 운전원 역할만 끝낼 수 있다. 다른 역할의 시도는 거부되어 기록되고 승인 작업은 그대로 기다린다.</a:t>
            </a:r>
          </a:p>
        </p:txBody>
      </p:sp>
      <p:sp>
        <p:nvSpPr>
          <p:cNvPr id="17" name="TextBox 16"/>
          <p:cNvSpPr txBox="1"/>
          <p:nvPr/>
        </p:nvSpPr>
        <p:spPr>
          <a:xfrm>
            <a:off x="9448495" y="37353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4번</a:t>
            </a:r>
          </a:p>
        </p:txBody>
      </p:sp>
      <p:sp>
        <p:nvSpPr>
          <p:cNvPr id="18" name="Rounded Rectangle 17"/>
          <p:cNvSpPr/>
          <p:nvPr/>
        </p:nvSpPr>
        <p:spPr>
          <a:xfrm>
            <a:off x="548640" y="46817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649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Quiz 3</a:t>
            </a:r>
          </a:p>
        </p:txBody>
      </p:sp>
      <p:sp>
        <p:nvSpPr>
          <p:cNvPr id="20" name="TextBox 19"/>
          <p:cNvSpPr txBox="1"/>
          <p:nvPr/>
        </p:nvSpPr>
        <p:spPr>
          <a:xfrm>
            <a:off x="3200400" y="4649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열린 처리 건은 열릴 때의 판본으로 끝까지 간다. 새 판본은 배포한 뒤의 경보부터 적용된다.</a:t>
            </a:r>
          </a:p>
        </p:txBody>
      </p:sp>
      <p:sp>
        <p:nvSpPr>
          <p:cNvPr id="21" name="TextBox 20"/>
          <p:cNvSpPr txBox="1"/>
          <p:nvPr/>
        </p:nvSpPr>
        <p:spPr>
          <a:xfrm>
            <a:off x="9448495" y="46497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2번</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