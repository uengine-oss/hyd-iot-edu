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7회차에서는 긴급 대응 프로세스를 직접 그려 배포했습니다. 오늘은 그 프로세스가 실행되는 동안 무슨 일이 일어나는지를 다룹니다. 승인 권한과 실행 상태, 판본과 기록을 짚은 뒤, 네 실습에서 직접 실행하고 예외의 경우를 검증하고 설정을 고쳐 다시 배포합니다.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비즈니스 프로세스에는 끝났다고 보는 조건, 곧 완료 조건이 있다고 했습니다. 이 조건부터 보겠습니다.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승인을 에이전트의 판단에 맡기지 않고 프로세스가 어떻게 지키는지 확인합니다. 냉각 명령 작업은 승인 작업이 승인으로 끝나야 열리므로 추천만으로는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역할에게 작업을 놓고 사람의 응답을 기다립니다. 서비스 작업이면 SCADA나 CMMS 같은 시스템을 호출하고 처리 결과를 받습니다. 에이전트 단계이면 지정된 에이전트에게 맡기고 판단이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10분 동안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기록으로 남습니다. 누가 무엇을 결정했는지를 나중에 확인하려고 남기는 이런 기록을 감사 기록, Audit Log라고 합니다. 처리 건이 열릴 때, 승인이 접수되고 다음 단계로 전달될 때, 결과 보고가 나갈 때마다 한 줄씩 남습니다. 승인할 역할이 아닌 쪽이 승인을 시도해 거부된 일도 DECISION_DENIED로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배포한 프로세스를 실제로 실행합니다. 쿨러 열화를 일으켜 처리 건이 열리는 것을 보고, 에이전트의 판단 뒤 운전원 승인에서 기다리는 상태를 확인합니다. 승인한 뒤에는 명령과 재관측을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승인으로 끝나지 않는 세 경우를 차례로 실행해 견줍니다. 승인 역할이 아닌 쪽이 승인을 시도하면 받아들여지지 않고 그 시도가 감사 기록에 남습니다. 거절하면 냉각 명령이 열리지 않은 채 거절 종결에 닿습니다. 응답하지 않으면 기한 뒤에 승인 지연 알림만 나가고 처리 건은 승인을 계속 기다립니다. 세 경우 모두 설비 명령이 없다는 것을 처리 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설정이 빠진 흐름을 사전 검사에 넣습니다. 검사 결과에서 맡을 쪽이 정해지지 않은 작업과 조건이 없는 갈림을 찾습니다. 검사가 알려 준 자리만 고치고, 검사 결과에 없는 문제를 짐작으로 고치지 않습니다. 고친 흐름은 이어지는 실습에서 다시 검사해 배포합니다.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고친 흐름을 다시 검사해 새 판본으로 등록하고 배포합니다. 새 판본으로 열린 처리 건을 한 번은 승인하고 한 번은 거절합니다. 승인하면 명령과 결과 보고가 이어지고 거절하면 명령 없이 닫히는지를 처리 건의 기록에서 확인합니다. 그린 파일과 연결할 때 넣은 값과 처리 결과는 고치기 전의 것과 견줄 근거로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완료 조건, 승인 대기, 단계의 상태, 판본과 배포가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 작업을 끝낼 수 있는지, 책임의 경계를 묻는 문항입니다. 승인 작업을 끝낼 수 있는 역할이 누구였는지, 그리고 다른 역할의 시도가 어떻게 남았는지를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고친 정의가 언제부터 적용되는지를 묻는 문항입니다. 등록과 배포가 각각 무엇을 바꾸는지, 그리고 이미 열린 처리 건이 어느 판본을 따르는지를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2번은 COMPLETED를 성공으로 읽은 것입니다. 둘째 문항의 2번은 권한 밖의 시도가 거부된 것을 사람의 거절로 읽은 것입니다. 셋째 문항의 3번은 실행 도중에 규칙이 바뀐다고 본 것으로, 열린 처리 건이 따르는 판본은 바뀌지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18.png"/><Relationship Id="rId6"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25.png"/><Relationship Id="rId5"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8회차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업무 프로세스의</a:t>
            </a:r>
          </a:p>
          <a:p>
            <a:pPr algn="l">
              <a:lnSpc>
                <a:spcPct val="110000"/>
              </a:lnSpc>
            </a:pPr>
            <a:r>
              <a:rPr sz="4000" b="1">
                <a:solidFill>
                  <a:srgbClr val="FFFFFF"/>
                </a:solidFill>
                <a:latin typeface="맑은 고딕"/>
                <a:ea typeface="맑은 고딕"/>
                <a:cs typeface="맑은 고딕"/>
              </a:rPr>
              <a:t>실행과 안전성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권한, 실행 상태와 예외 처리, 판본과 처리 건의 기록</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player-play" descr="player-pla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lock" descr="lo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history" descr="histor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중인 처리 건의 상태를 기록으로 읽고, 승인 없이는 설비 명령이 나가지 않는 근거를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권한</a:t>
            </a:r>
          </a:p>
          <a:p>
            <a:pPr algn="l">
              <a:lnSpc>
                <a:spcPct val="110000"/>
              </a:lnSpc>
              <a:spcAft>
                <a:spcPts val="400"/>
              </a:spcAft>
            </a:pPr>
            <a:r>
              <a:rPr sz="1350" b="0">
                <a:solidFill>
                  <a:srgbClr val="1F2A3A"/>
                </a:solidFill>
                <a:latin typeface="맑은 고딕"/>
                <a:ea typeface="맑은 고딕"/>
                <a:cs typeface="맑은 고딕"/>
              </a:rPr>
              <a:t>승인 작업을 끝낼 수 있는 역할이 정해져 있고, 다른 역할의 시도는 거부되어 기록되는 것을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권한</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대기와 종료</a:t>
            </a:r>
          </a:p>
          <a:p>
            <a:pPr algn="l">
              <a:lnSpc>
                <a:spcPct val="110000"/>
              </a:lnSpc>
              <a:spcAft>
                <a:spcPts val="400"/>
              </a:spcAft>
            </a:pPr>
            <a:r>
              <a:rPr sz="1350" b="0">
                <a:solidFill>
                  <a:srgbClr val="1F2A3A"/>
                </a:solidFill>
                <a:latin typeface="맑은 고딕"/>
                <a:ea typeface="맑은 고딕"/>
                <a:cs typeface="맑은 고딕"/>
              </a:rPr>
              <a:t>토큰의 위치와 단계의 상태로 승인 대기, 거절, 지연, 종료를 구분해 읽는다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상태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left" descr="arrows-right-lef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변수의 전달</a:t>
            </a:r>
          </a:p>
          <a:p>
            <a:pPr algn="l">
              <a:lnSpc>
                <a:spcPct val="110000"/>
              </a:lnSpc>
              <a:spcAft>
                <a:spcPts val="400"/>
              </a:spcAft>
            </a:pPr>
            <a:r>
              <a:rPr sz="1350" b="0">
                <a:solidFill>
                  <a:srgbClr val="1F2A3A"/>
                </a:solidFill>
                <a:latin typeface="맑은 고딕"/>
                <a:ea typeface="맑은 고딕"/>
                <a:cs typeface="맑은 고딕"/>
              </a:rPr>
              <a:t>앞 작업의 출력이 프로세스 변수가 되어 뒤 작업과 갈림의 조건에 쓰이는 과정을 따라간다</a:t>
            </a:r>
          </a:p>
        </p:txBody>
      </p:sp>
      <p:sp>
        <p:nvSpPr>
          <p:cNvPr id="22" name="Rounded Rectangle 21"/>
          <p:cNvSpPr/>
          <p:nvPr/>
        </p:nvSpPr>
        <p:spPr>
          <a:xfrm>
            <a:off x="6461607" y="513435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 변수</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versions" descr="version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판본과 기록</a:t>
            </a:r>
          </a:p>
          <a:p>
            <a:pPr algn="l">
              <a:lnSpc>
                <a:spcPct val="110000"/>
              </a:lnSpc>
              <a:spcAft>
                <a:spcPts val="400"/>
              </a:spcAft>
            </a:pPr>
            <a:r>
              <a:rPr sz="1350" b="0">
                <a:solidFill>
                  <a:srgbClr val="1F2A3A"/>
                </a:solidFill>
                <a:latin typeface="맑은 고딕"/>
                <a:ea typeface="맑은 고딕"/>
                <a:cs typeface="맑은 고딕"/>
              </a:rPr>
              <a:t>고친 정의가 적용되는 시점과 처리 건에 남는 기록을 설명한다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판본 · 이력</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프로세스의 실행 상태와 예외 처리: 승인 권한, 대기, 종료, 판본</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이벤트로 프로세스 실행하기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 지연, 권한 제한의 검증</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잘못된 프로세스 설정의 수정</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고친 흐름의 재배포와 실행 확인</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프로세스의 실행 상태와 예외 처리:</a:t>
            </a:r>
          </a:p>
          <a:p>
            <a:pPr algn="l">
              <a:lnSpc>
                <a:spcPct val="110000"/>
              </a:lnSpc>
            </a:pPr>
            <a:r>
              <a:rPr sz="3400" b="1">
                <a:solidFill>
                  <a:srgbClr val="13294B"/>
                </a:solidFill>
                <a:latin typeface="맑은 고딕"/>
                <a:ea typeface="맑은 고딕"/>
                <a:cs typeface="맑은 고딕"/>
              </a:rPr>
              <a:t>승인 권한, 대기, 종료, 판본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실행 중인 처리 건이 어디에서 기다리고 어떻게 닫히는지를 기록으로 읽는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흐름_토큰_승인대기.svg" descr="illust_422172798625382429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역할에게 승인 작업이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판단이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흐름_토큰_둘.svg" descr="illust_389753878268764231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감사 기록은 누가 무엇을 결정했는지를 나중에 확인하려고 남기는 기록이며, 처리 건의 시작과 승인과 종결이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11" name="TextBox 10"/>
          <p:cNvSpPr txBox="1"/>
          <p:nvPr/>
        </p:nvSpPr>
        <p:spPr>
          <a:xfrm>
            <a:off x="3200400" y="2029968"/>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4" name="TextBox 13"/>
          <p:cNvSpPr txBox="1"/>
          <p:nvPr/>
        </p:nvSpPr>
        <p:spPr>
          <a:xfrm>
            <a:off x="3200400" y="2894990"/>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7" name="TextBox 16"/>
          <p:cNvSpPr txBox="1"/>
          <p:nvPr/>
        </p:nvSpPr>
        <p:spPr>
          <a:xfrm>
            <a:off x="3200400" y="3760012"/>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4625035"/>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Rounded Rectangle 20"/>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23" name="TextBox 22"/>
          <p:cNvSpPr txBox="1"/>
          <p:nvPr/>
        </p:nvSpPr>
        <p:spPr>
          <a:xfrm>
            <a:off x="3200400" y="5490057"/>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 한 건과 그 처리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40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400" b="0">
                <a:solidFill>
                  <a:srgbClr val="1F2A3A"/>
                </a:solidFill>
                <a:latin typeface="맑은 고딕"/>
                <a:ea typeface="맑은 고딕"/>
                <a:cs typeface="맑은 고딕"/>
              </a:rPr>
              <a:t>에이전트의 판단 뒤 운전원 승인에서 기다리는 상태를 읽는다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40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 지연, 권한 제한의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권한 밖의 승인, 거절, 응답 없음의 세 경우에 처리 건이 어떻게 남는지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경우에서 견주는 처리 건의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승인으로 끝나지 않는 세 경우 모두 처리 건에 설비 명령이 남지 않는다는 것을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건에 남는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권한 밖의 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쪽의 승인이 받아들여지지 않는다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거부의</a:t>
            </a:r>
          </a:p>
          <a:p>
            <a:pPr algn="l">
              <a:lnSpc>
                <a:spcPct val="110000"/>
              </a:lnSpc>
            </a:pPr>
            <a:r>
              <a:rPr sz="1250" b="1">
                <a:solidFill>
                  <a:srgbClr val="556175"/>
                </a:solidFill>
                <a:latin typeface="맑은 고딕"/>
                <a:ea typeface="맑은 고딕"/>
                <a:cs typeface="맑은 고딕"/>
              </a:rPr>
              <a:t>감사 기록</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명령이 열리지 않은 채 거절 종결에 닿는다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a:p>
            <a:pPr algn="l">
              <a:lnSpc>
                <a:spcPct val="110000"/>
              </a:lnSpc>
            </a:pPr>
            <a:r>
              <a:rPr sz="1250" b="1">
                <a:solidFill>
                  <a:srgbClr val="556175"/>
                </a:solidFill>
                <a:latin typeface="맑은 고딕"/>
                <a:ea typeface="맑은 고딕"/>
                <a:cs typeface="맑은 고딕"/>
              </a:rPr>
              <a:t>거절</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기한이 지나면 승인 지연 알림만 나가고 승인 작업은 열린 채로 남는다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진행 중인</a:t>
            </a:r>
          </a:p>
          <a:p>
            <a:pPr algn="l">
              <a:lnSpc>
                <a:spcPct val="110000"/>
              </a:lnSpc>
            </a:pPr>
            <a:r>
              <a:rPr sz="1250" b="1">
                <a:solidFill>
                  <a:srgbClr val="1A6FC4"/>
                </a:solidFill>
                <a:latin typeface="맑은 고딕"/>
                <a:ea typeface="맑은 고딕"/>
                <a:cs typeface="맑은 고딕"/>
              </a:rPr>
              <a:t>상태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잘못된 프로세스 설정의 수정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사전 검사가 알려 주는 누락을 찾아 작업을 맡을 쪽과 갈림의 조건을 채운다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사전 검사가 알려 주는 누락과 고치는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맡을 쪽이 빠진 작업과 조건이 빠진 갈림은 실행하기 전의 사전 검사에서 드러나며, 검사 결과가 고칠 자리의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a:t>
            </a:r>
          </a:p>
          <a:p>
            <a:pPr algn="ctr">
              <a:lnSpc>
                <a:spcPct val="110000"/>
              </a:lnSpc>
              <a:spcAft>
                <a:spcPts val="400"/>
              </a:spcAft>
            </a:pPr>
            <a:r>
              <a:rPr sz="1350" b="0">
                <a:solidFill>
                  <a:srgbClr val="1F2A3A"/>
                </a:solidFill>
                <a:latin typeface="맑은 고딕"/>
                <a:ea typeface="맑은 고딕"/>
                <a:cs typeface="맑은 고딕"/>
              </a:rPr>
              <a:t>가져온 흐름을</a:t>
            </a:r>
          </a:p>
          <a:p>
            <a:pPr algn="ctr">
              <a:lnSpc>
                <a:spcPct val="110000"/>
              </a:lnSpc>
              <a:spcAft>
                <a:spcPts val="400"/>
              </a:spcAft>
            </a:pPr>
            <a:r>
              <a:rPr sz="1350" b="0">
                <a:solidFill>
                  <a:srgbClr val="1F2A3A"/>
                </a:solidFill>
                <a:latin typeface="맑은 고딕"/>
                <a:ea typeface="맑은 고딕"/>
                <a:cs typeface="맑은 고딕"/>
              </a:rPr>
              <a:t>등록하기 전에</a:t>
            </a:r>
          </a:p>
          <a:p>
            <a:pPr algn="ctr">
              <a:lnSpc>
                <a:spcPct val="110000"/>
              </a:lnSpc>
              <a:spcAft>
                <a:spcPts val="400"/>
              </a:spcAft>
            </a:pPr>
            <a:r>
              <a:rPr sz="1350" b="0">
                <a:solidFill>
                  <a:srgbClr val="1F2A3A"/>
                </a:solidFill>
                <a:latin typeface="맑은 고딕"/>
                <a:ea typeface="맑은 고딕"/>
                <a:cs typeface="맑은 고딕"/>
              </a:rPr>
              <a:t>검사한다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누락의 확인</a:t>
            </a:r>
          </a:p>
          <a:p>
            <a:pPr algn="ctr">
              <a:lnSpc>
                <a:spcPct val="110000"/>
              </a:lnSpc>
              <a:spcAft>
                <a:spcPts val="400"/>
              </a:spcAft>
            </a:pPr>
            <a:r>
              <a:rPr sz="1350" b="0">
                <a:solidFill>
                  <a:srgbClr val="1F2A3A"/>
                </a:solidFill>
                <a:latin typeface="맑은 고딕"/>
                <a:ea typeface="맑은 고딕"/>
                <a:cs typeface="맑은 고딕"/>
              </a:rPr>
              <a:t>맡을 쪽이 빠진 작업과</a:t>
            </a:r>
          </a:p>
          <a:p>
            <a:pPr algn="ctr">
              <a:lnSpc>
                <a:spcPct val="110000"/>
              </a:lnSpc>
              <a:spcAft>
                <a:spcPts val="400"/>
              </a:spcAft>
            </a:pPr>
            <a:r>
              <a:rPr sz="1350" b="0">
                <a:solidFill>
                  <a:srgbClr val="1F2A3A"/>
                </a:solidFill>
                <a:latin typeface="맑은 고딕"/>
                <a:ea typeface="맑은 고딕"/>
                <a:cs typeface="맑은 고딕"/>
              </a:rPr>
              <a:t>조건이 빠진 갈림을</a:t>
            </a:r>
          </a:p>
          <a:p>
            <a:pPr algn="ctr">
              <a:lnSpc>
                <a:spcPct val="110000"/>
              </a:lnSpc>
              <a:spcAft>
                <a:spcPts val="400"/>
              </a:spcAft>
            </a:pPr>
            <a:r>
              <a:rPr sz="1350" b="0">
                <a:solidFill>
                  <a:srgbClr val="1F2A3A"/>
                </a:solidFill>
                <a:latin typeface="맑은 고딕"/>
                <a:ea typeface="맑은 고딕"/>
                <a:cs typeface="맑은 고딕"/>
              </a:rPr>
              <a:t>검사 결과에서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수정</a:t>
            </a:r>
          </a:p>
          <a:p>
            <a:pPr algn="ctr">
              <a:lnSpc>
                <a:spcPct val="110000"/>
              </a:lnSpc>
              <a:spcAft>
                <a:spcPts val="400"/>
              </a:spcAft>
            </a:pPr>
            <a:r>
              <a:rPr sz="1350" b="0">
                <a:solidFill>
                  <a:srgbClr val="1F2A3A"/>
                </a:solidFill>
                <a:latin typeface="맑은 고딕"/>
                <a:ea typeface="맑은 고딕"/>
                <a:cs typeface="맑은 고딕"/>
              </a:rPr>
              <a:t>작업을 맡을 쪽과</a:t>
            </a:r>
          </a:p>
          <a:p>
            <a:pPr algn="ctr">
              <a:lnSpc>
                <a:spcPct val="110000"/>
              </a:lnSpc>
              <a:spcAft>
                <a:spcPts val="400"/>
              </a:spcAft>
            </a:pPr>
            <a:r>
              <a:rPr sz="1350" b="0">
                <a:solidFill>
                  <a:srgbClr val="1F2A3A"/>
                </a:solidFill>
                <a:latin typeface="맑은 고딕"/>
                <a:ea typeface="맑은 고딕"/>
                <a:cs typeface="맑은 고딕"/>
              </a:rPr>
              <a:t>갈림의 조건을</a:t>
            </a:r>
          </a:p>
          <a:p>
            <a:pPr algn="ctr">
              <a:lnSpc>
                <a:spcPct val="110000"/>
              </a:lnSpc>
              <a:spcAft>
                <a:spcPts val="400"/>
              </a:spcAft>
            </a:pPr>
            <a:r>
              <a:rPr sz="1350" b="0">
                <a:solidFill>
                  <a:srgbClr val="1F2A3A"/>
                </a:solidFill>
                <a:latin typeface="맑은 고딕"/>
                <a:ea typeface="맑은 고딕"/>
                <a:cs typeface="맑은 고딕"/>
              </a:rPr>
              <a:t>채운다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 흐름</a:t>
            </a:r>
          </a:p>
          <a:p>
            <a:pPr algn="ctr">
              <a:lnSpc>
                <a:spcPct val="110000"/>
              </a:lnSpc>
              <a:spcAft>
                <a:spcPts val="400"/>
              </a:spcAft>
            </a:pPr>
            <a:r>
              <a:rPr sz="1350" b="0">
                <a:solidFill>
                  <a:srgbClr val="1F2A3A"/>
                </a:solidFill>
                <a:latin typeface="맑은 고딕"/>
                <a:ea typeface="맑은 고딕"/>
                <a:cs typeface="맑은 고딕"/>
              </a:rPr>
              <a:t>맡을 쪽과 조건이</a:t>
            </a:r>
          </a:p>
          <a:p>
            <a:pPr algn="ctr">
              <a:lnSpc>
                <a:spcPct val="110000"/>
              </a:lnSpc>
              <a:spcAft>
                <a:spcPts val="400"/>
              </a:spcAft>
            </a:pPr>
            <a:r>
              <a:rPr sz="1350" b="0">
                <a:solidFill>
                  <a:srgbClr val="1F2A3A"/>
                </a:solidFill>
                <a:latin typeface="맑은 고딕"/>
                <a:ea typeface="맑은 고딕"/>
                <a:cs typeface="맑은 고딕"/>
              </a:rPr>
              <a:t>채워진 흐름을</a:t>
            </a:r>
          </a:p>
          <a:p>
            <a:pPr algn="ctr">
              <a:lnSpc>
                <a:spcPct val="110000"/>
              </a:lnSpc>
              <a:spcAft>
                <a:spcPts val="400"/>
              </a:spcAft>
            </a:pPr>
            <a:r>
              <a:rPr sz="1350" b="0">
                <a:solidFill>
                  <a:srgbClr val="1F2A3A"/>
                </a:solidFill>
                <a:latin typeface="맑은 고딕"/>
                <a:ea typeface="맑은 고딕"/>
                <a:cs typeface="맑은 고딕"/>
              </a:rPr>
              <a:t>저장한다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고친 흐름의 재배포와 실행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고친 정의를 새 판본으로 배포하고 승인과 거절의 결과를 다시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재배포한 흐름에서 확인하는 것과 남기는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정의는 새 판본으로 배포한 뒤의 경보부터 적용되어, 그 판본의 처리 건에서 결과를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cket" descr="rock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재검사와 배포</a:t>
            </a:r>
          </a:p>
          <a:p>
            <a:pPr algn="l">
              <a:lnSpc>
                <a:spcPct val="110000"/>
              </a:lnSpc>
              <a:spcAft>
                <a:spcPts val="400"/>
              </a:spcAft>
            </a:pPr>
            <a:r>
              <a:rPr sz="1400" b="0">
                <a:solidFill>
                  <a:srgbClr val="1F2A3A"/>
                </a:solidFill>
                <a:latin typeface="맑은 고딕"/>
                <a:ea typeface="맑은 고딕"/>
                <a:cs typeface="맑은 고딕"/>
              </a:rPr>
              <a:t>고친 흐름을 다시 검사해 새 판본으로 등록하고 배포한다</a:t>
            </a:r>
          </a:p>
        </p:txBody>
      </p:sp>
      <p:sp>
        <p:nvSpPr>
          <p:cNvPr id="10" name="Rounded Rectangle 9"/>
          <p:cNvSpPr/>
          <p:nvPr/>
        </p:nvSpPr>
        <p:spPr>
          <a:xfrm>
            <a:off x="777240" y="504139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판본</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실행</a:t>
            </a:r>
          </a:p>
          <a:p>
            <a:pPr algn="l">
              <a:lnSpc>
                <a:spcPct val="110000"/>
              </a:lnSpc>
              <a:spcAft>
                <a:spcPts val="400"/>
              </a:spcAft>
            </a:pPr>
            <a:r>
              <a:rPr sz="1400" b="0">
                <a:solidFill>
                  <a:srgbClr val="1F2A3A"/>
                </a:solidFill>
                <a:latin typeface="맑은 고딕"/>
                <a:ea typeface="맑은 고딕"/>
                <a:cs typeface="맑은 고딕"/>
              </a:rPr>
              <a:t>새 판본으로 열린 처리 건에서 승인의 결과와 거절의 결과를 각각 확인한다</a:t>
            </a:r>
          </a:p>
        </p:txBody>
      </p:sp>
      <p:sp>
        <p:nvSpPr>
          <p:cNvPr id="16" name="Rounded Rectangle 15"/>
          <p:cNvSpPr/>
          <p:nvPr/>
        </p:nvSpPr>
        <p:spPr>
          <a:xfrm>
            <a:off x="4566818" y="5041392"/>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결말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archive" descr="archiv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비교의 근거</a:t>
            </a:r>
          </a:p>
          <a:p>
            <a:pPr algn="l">
              <a:lnSpc>
                <a:spcPct val="110000"/>
              </a:lnSpc>
              <a:spcAft>
                <a:spcPts val="400"/>
              </a:spcAft>
            </a:pPr>
            <a:r>
              <a:rPr sz="1400" b="0">
                <a:solidFill>
                  <a:srgbClr val="1F2A3A"/>
                </a:solidFill>
                <a:latin typeface="맑은 고딕"/>
                <a:ea typeface="맑은 고딕"/>
                <a:cs typeface="맑은 고딕"/>
              </a:rPr>
              <a:t>저장한 .bpmn 파일과 연결할 때 넣은 값, 처리 결과를 고치기 전의 것과 견줄 수 있게 남긴다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긴급 대응 처리 건에서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처리 건에서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토큰</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Token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 승인에 머문 현재 위치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변수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Variable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recovered</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기본 흐름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Default Flow</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 쪽과 미달 쪽의 선</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기록</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Log</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승인의 접수와 거부의 기록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 역할이 아닌 쪽의 승인 시도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건이 운전원 승인에서 기다리는 동안, 운전원 역할이 아닌 담당자가 추천안을 승인하려고 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시도 뒤의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승인이 접수되어 냉각 명령 작업이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승인이 거부되면서 처리 건이 거절 종결로 닫힌다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시도는 기록 없이 무시되고 처리 건은 그대로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시도는 거부되어 감사 기록에 남고 운전원 승인은 열린 채로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기다리는 동안 배포된 새 판본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건이 운전원 승인에서 기다리는 동안, 갈림의 조건을 고친 정의가 새 판본으로 배포되었다.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기다리던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닫히고 새 판본으로 다시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열릴 때의 판본으로 끝까지 간다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건의 남은 단계부터 새 판본의 조건이 적용된다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새 판본이 배포되는 순간 거절로 닫힌다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판단의 근거가 되는 기록, 승인할 수 있는 역할의 경계, 판본이 적용되는 시점을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작업은 운전원 역할만 끝낼 수 있다. 다른 역할의 시도는 거부되어 기록되고 승인 작업은 그대로 기다린다.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열린 처리 건은 열릴 때의 판본으로 끝까지 간다. 새 판본은 배포한 뒤의 경보부터 적용된다.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