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회차에는 긴급 대응 프로세스 하나를 그려 배포하고 실행했습니다. 오늘은 그 설계를 정비와 구매 업무에 다시 쓰고, 네 개의 실습에서 두 프로세스를 직접 그려 실행합니다. 마지막에는 온톨로지에서 에이전트와 프로세스를 거쳐 시스템 실행에 이르는 과정 전체를 정리합니다.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9회차에 쿨러 성능 저하 경보를 긴급 대응 프로세스로 끝까지 처리했습니다. 그런데 공장의 업무는 설비 경보만이 아닙니다. HYD-02는 운전시간이 1,950시간에 이르러 정기 점검이 도래했고, HYD-03에 쓰는 펌프 축 씰 키트는 가용 재고가 1개뿐입니다. 이 두 업무에는 아직 프로세스가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업무의 프로세스를 처음부터 따로 그릴 수도 있습니다. 그러면 거절했을 때와 응답이 없을 때를 다루는 방식이 프로세스마다 달라지기 쉽습니다. 운영하는 사람은 처리 건을 읽는 기준을 프로세스마다 새로 익혀야 합니다. 승인 기한 같은 것을 바꿀 때도 그림마다 다른 자리를 찾아 고쳐야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같은 네 가지 물음으로 견주어 보겠습니다. 무엇으로 시작하는가, 어느 에이전트가 판단하는가, 누가 승인하는가, 승인 뒤에 어느 시스템이 실행하는가입니다. 에이전트는 냉각 긴급 대응 에이전트, 정기 정비 계획 에이전트, 예비품 구매 에이전트로 서로 다르고, 읽는 정보와 제안하는 내용도 다릅니다. 그런데 에이전트가 제안하고 사람이 승인하고 시스템이 처리해 보고하는 순서는 세 업무가 같습니다. ERP는 구매와 재고를 관리하는 전사적 자원 관리 시스템입니다.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가운데 시작 조건부터 보겠습니다. 긴급 대응의 시작 조건은 센서 값의 규칙이었습니다. 유온이 55도를 넘고 냉각 효율이 70 % 아래이며 유온이 오르는 중일 때 경보가 났습니다. 정기 점검과 재고 보충은 센서가 아니라 업무 시스템에 쌓인 데이터가 기준에 닿을 때 시작합니다. 운전시간이 점검 주기에 가까워지거나, 가용 재고가 재주문점보다 적어질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점검의 시작 조건입니다. 정기 점검은 고장이 난 뒤에 고치는 것이 아니라 운전시간을 기준으로 미리 하는 예방 정비, 영어로 Preventive Maintenance입니다. HYD-02의 점검 주기는 2,000시간이고, 준비할 시간을 두려고 50시간 앞인 1,950시간에 도래 경보가 납니다. 경보 패턴 PM_DUE의 PM이 예방 정비의 약어입니다.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보충의 시작 조건입니다. 창고에는 펌프 축 씰 키트가 3개 있지만 2개는 예정된 정비에 쓰기로 예약되어 있어, 새로 쓸 수 있는 가용 재고는 1개입니다. 재주문점은 재고가 이 수량 아래로 내려가면 다시 주문해야 하는 기준이며 여기서는 2개입니다. 가용 재고 1개가 재주문점 2개보다 적으므로 재고 부족 경보가 납니다. 목표 재고 7개까지 채우는 데 필요한 수량은 6개입니다.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사건이 실제로 도착한 경보입니다. 위는 9회차의 쿨러 성능 저하 경보이고, 가운데는 정기 점검 도래, 아래는 재고 부족의 경보입니다. 출처는 센서와 CMMS와 ERP로 다르지만 식별자와 패턴을 가진 같은 형식입니다. 그래서 세 프로세스 모두 메시지 시작 이벤트 하나로 시작할 수 있고, pattern의 값이 어느 프로세스를 열지를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시스템을 자세히 보겠습니다. 긴급 대응에서는 승인된 냉각 조치를 SCADA가 PLC 명령으로 보내고 CMMS가 작업지시를 등록했습니다. 정기 점검에서는 승인된 정비 계획대로 CMMS가 정비 오더를 등록하고 생산팀에 공지 메일이 나갑니다. 재고 보충에서는 승인된 발주안대로 ERP가 발주하고 공급사에 통지한 뒤 입고를 확인합니다. 오른쪽은 실행의 결과로 업무 시스템에 남는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달라지는 네 가지를 보았으니 이제 같은 것을 보겠습니다. 위에서부터 긴급 대응, 정기 점검, 재고 보충의 뼈대입니다. 세 줄 모두 경보로 시작해 에이전트가 제안하고, 사람이 승인하거나 거절하고, 시스템이 처리한 뒤 결과를 보고합니다. 하늘색 띠 안의 승인 작업과 갈림은 세 줄이 같은 자리, 같은 모양입니다. 달라지는 것은 띠의 오른쪽에 이어지는 시스템 작업의 수와 내용입니다.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여러 곳에서 되풀이되는 구조를 패턴이라고 합니다. 한 번 풀어서 검증해 둔 구조를 다음에도 다시 쓰는 것입니다. 세 프로세스에 똑같이 들어 있는 승인의 자리, 곧 승인 작업과 갈림과 지연 타이머와 거절의 결과 보고를 묶어 이 수업에서는 승인 블록이라고 부르겠습니다. 패턴을 다시 쓰면 긴급 대응에서 이미 확인한 거절과 무응답의 경로가 새 프로세스에도 그대로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8회차에 읽은 승인을 받는 자리의 그림입니다. 하늘색으로 칠한 일곱 요소, 곧 승인 작업, 승인 지연 타이머, 승인 지연 알림, 승인? 게이트웨이, 결과 보고: 거절, 그리고 끝 이벤트 둘은 세 프로세스에서 식별자까지 같습니다. 기한 10분과 승인의 조건도 같습니다. 파란 점선으로 표시한 두 자리만 바뀝니다. 하나는 승인 역할이고, 다른 하나는 승인 뒤에 이어지는 첫 작업입니다.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블록을 다시 써서 그린 정기 점검 프로세스입니다. 하늘색 요소는 긴급 대응 프로세스의 승인 블록과 같고, 승인 역할만 설비보전팀장으로 바뀌었습니다. 새로 그린 것은 흰 요소 넷입니다. 정기 점검 요청이라는 시작 이벤트, 에이전트의 정비 계획 제안, 그리고 승인 뒤의 정비 오더 등록 · 공지 메일과 결과 보고입니다. 작업은 여섯, 게이트웨이는 하나, 끝 이벤트는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 프로세스도 같은 방법으로 그립니다. 하늘색 승인 블록은 그대로이고 승인 역할이 구매 담당입니다. 승인 뒤에는 ERP 발주 · 공급사 메일, 입고 · 재고 반영, 결과 보고의 세 작업이 이어집니다. 정기 점검보다 시스템 작업이 하나 많아 작업은 일곱입니다. 두 그림을 견주면 승인 블록의 오른쪽에 무엇을 잇느냐만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경로를 설계할 때 생각할 것을 보겠습니다. 거절하면 처리 건은 거절 종결에 닿아 닫힙니다. 하지만 업무의 원인까지 사라진 것은 아닙니다. 설비보전팀장이 정비 계획을 거절해도 정기 점검은 여전히 도래해 있고, 구매 담당이 발주안을 거절해도 재고는 여전히 부족합니다. 그래서 거절 경로의 결과 보고에는 무엇을 하지 않았는지를 적어, 남은 일이 있다는 것을 읽는 사람이 알 수 있게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작업을 누구에게 맡길지에도 원칙이 있습니다. 여러 정보를 읽고 저울질해야 하는 일은 에이전트에게 맡깁니다. 결과에 책임이 따르는 결정은 그 책임을 질 역할의 사람에게 맡깁니다. 한번 정해지면 그대로 수행하면 되는 등록과 통지와 보고는 시스템에 맡깁니다. 그리고 정비 오더나 발주처럼 실제로 효과를 내는 작업은 승인의 갈림 뒤에 놓습니다.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정기 점검 프로세스를 직접 그립니다. 정기 점검 도래로 시작해 정비 계획 에이전트의 제안으로 잇습니다. 승인을 받는 자리는 8회차에 그린 것과 같은 모양으로 놓고 승인 역할만 설비보전팀장으로 합니다. 승인 뒤에는 정비 오더와 생산팀 공지와 결과 보고를 놓습니다. 끝나면 이 프로세스의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그린 프로세스를 실제 업무로 실행합니다. 정기 점검 도래의 경보 패턴, 정비 계획 에이전트, 설비보전팀장 역할, CMMS와 공지 작업을 연결하고, 사전 검사를 거쳐 등록하고 배포합니다. 정기 점검이 도래하면 처리 건이 열리고 에이전트의 제안이 승인을 기다립니다. 승인한 뒤 정비 오더와 생산팀 공지와 종료 기록이 남았는지를 처리 건에서 확인합니다. 거절한 경우에는 정비 오더가 만들어지지 않고 거절 종결에 닿아 닫히는지를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재고 보충 프로세스를 그립니다. 재고 부족으로 시작해 구매 에이전트가 수량과 공급사를 제안하고, 구매 담당이 승인하거나 거절합니다. 승인 뒤에는 ERP 발주와 공급사 통지, 입고와 재고 반영, 결과 보고가 이어집니다. 끝나면 작업 일곱을 갖춘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재고 보충 프로세스를 실행합니다. 재고 부족의 경보 패턴과 구매 에이전트, 구매 담당 역할, ERP와 통지와 입고 반영 작업을 연결해 검사하고 등록하고 배포합니다. 재고가 부족하면 처리 건이 열리고 발주안이 승인을 기다립니다. 승인한 뒤 발주와 공급사 통지와 입고가 처리되어 가용 재고가 7개가 되었는지, 그리고 종료 기록이 남았는지를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과정의 세 영역이 어떻게 이어지는지를 다시 봅니다. 1회차부터 4회차까지 만든 온톨로지는 원인과 증거와 조치와 규칙이라는 지식을 정하고, 현재 값이 어디에 있는지를 알려 줍니다. 5회차부터 7회차까지 다룬 에이전트는 그 지식과 값을 읽어 추천과 대안을 제안합니다. 8회차부터 오늘까지 다룬 프로세스는 그 제안을 순서와 책임과 승인과 실행과 기록으로 완결합니다.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에이전트에 연결된 도구 서버의 목록입니다. 세 에이전트 모두 지식 그래프와 판단 규칙을 읽습니다. 앞 영역에서 만든 온톨로지가 긴급 대응뿐 아니라 정비와 구매의 판단에도 재료가 된다는 뜻입니다. 다른 것은 업무 데이터로, 정기 정비 계획 에이전트는 정비 쪽을, 예비품 구매 에이전트는 구매 쪽을 읽습니다. 프로세스에서 승인 블록을 다시 쓴 것처럼 지식도 여러 업무가 함께 씁니다.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연결을 값 하나로 따라가 보겠습니다. 앞 회차에 조치 방법으로 적어 둔 SOP-COOL-11 팬 최대 운전이 출발점입니다. 에이전트가 이 조치를 지식 그래프에서 읽어 추천했고, 운전원이 승인했습니다. 프로세스가 승인된 조치를 팬 속도 100 % 명령으로 실행했고, 재관측에서 유온 51.3도를 확인했습니다. 지식에 적힌 한 줄이 세 영역을 지나 설비의 상태를 바꾸었습니다.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처리 건 한 건을 놓고, 5회차부터 10회차까지 배운 장치를 두 쪽으로 나누었습니다. 에이전트 실행과 스킬과 MCP, 그리고 명세와 시나리오는 에이전트가 제안 하나를 제대로 만들게 하는 장치입니다. 프로세스 정의와 인스턴스, 사람의 승인, 시스템 실행은 그 제안을 끝난 업무로 잇는 장치입니다. 두 쪽은 하는 일이 달라 서로를 대신하지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쪽의 장치가 같은 처리 건에서 실제로 한 일입니다. 에이전트 agent:cooling은 도구를 10번 불렀고, 첫 호출이 스킬 문서를 읽는 것이었습니다. hyd-dmn과 enterprise라는 MCP 서버의 도구로 지식과 값을 읽었습니다. 맨 아래의 명세와 시나리오는 이 실행 안에서 일한 것이 아니라, 출력의 형식과 기대 행동을 실행에 앞서 정해 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 쪽의 장치가 같은 처리 건에서 남긴 것입니다. 프로세스 정의 c3_cooling은 작업 아홉과 갈림 둘, 타이머 하나를 가진 설계도입니다. 인스턴스는 그 설계도에서 열린 한 건으로, 경보에서 열려 끝 이벤트에서 닫혔습니다. 승인은 운전원 역할의 결정으로 기록되었고, 시스템 실행은 설비 명령 한 건과 작업지시 한 건으로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적은 문서가 둘 있었습니다. 스킬은 에이전트가 읽는 지침으로, 한 단계 안에서 어느 도구를 어떤 순서로 부를지를 적습니다. 프로세스 정의는 엔진이 읽는 설계도로, 단계와 단계 사이의 순서를 정합니다. 스킬에 승인을 받으라고 적어도 승인이 보장되지는 않습니다. 단계 사이의 순서는 엔진이 지키기 때문에 승인 없이는 명령으로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시스템에 닿는 길도 두 쪽이 다릅니다. 에이전트에 연결된 MCP 도구는 지식과 값을 읽는 도구이고, 쓰기는 판단을 제출하는 것 하나뿐입니다. 팬 속도를 바꾸는 명령과 작업지시의 등록처럼 설비와 업무 시스템을 실제로 바꾸는 쓰기는 프로세스의 서비스 작업에 있습니다. 그 작업은 승인이 전달된 뒤에만 열리므로, 에이전트가 잘못 판단해도 승인 없이는 아무것도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프로세스의 그림에 쓰인 기호는 일곱 가지입니다. 경보가 도착하면 여는 메시지 시작 이벤트, 에이전트에게 맡기는 작업, 사람이 수행하는 사용자 작업, 시스템이 수행하는 서비스 작업이 있습니다. 승인과 거절을 가르는 배타 게이트웨이, 승인 지연을 알리는 비중단형 경계 타이머, 갈래를 닫는 끝 이벤트가 나머지입니다. 세 그림은 작업과 게이트웨이의 수만 다르고 시작 이벤트 하나, 경계 타이머 하나, 끝 이벤트 셋은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되짚는 데 쓸 틀입니다. 처리 건 한 건은 다섯 자리를 지납니다. 사건이 경보로 도착하는 시작 이벤트, 에이전트의 판단, 사람의 승인 또는 거절, 시스템의 처리, 그리고 종료 기록입니다. 사람이 거절하면 아래의 점선처럼 시스템의 처리를 지나지 않고 종료 기록으로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 사이에 무엇이 건너가는지를 보겠습니다. 시작 이벤트는 경보의 내용, 곧 설비와 경보 패턴을 에이전트에게 넘깁니다. 에이전트는 추천과 대안을 제안으로 내고, 사람은 그 가운데 승인한 내용을 냅니다. 시스템은 승인된 내용만 받아 실행하고 그 결과를 결과 보고에 넘깁니다. 앞 자리가 낸 것이 없으면 다음 자리는 일할 수 없고, 이렇게 건너가는 값이 9회차에 본 프로세스 변수입니다.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 가운데 사람의 자리를 다시 보겠습니다. 에이전트의 제안이 같아도 사람의 결정에 따라 결말이 갈립니다. 승인하면 게이트웨이가 승인의 갈래를 열어 시스템의 처리가 이어집니다. 거절하면 설비 명령도 정비 오더도 발주도 만들어지지 않고, 결과 보고가 거절의 사유와 하지 않은 일을 적은 뒤 닫힙니다. 세 업무 모두에서 그랬습니다.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7회차에 배운 사람의 승인, HITL은 프로세스 그림에서 사용자 작업 하나로 그려집니다. 이 자리가 그림에 있어야 한다는 것은 검사로 지켜집니다. 설비 명령 앞의 경로에 사람의 승인이 없는 프로세스는 등록하기 전의 검사에서 거절됩니다. 거절의 갈래에서 실행에 닿는 경로가 있어도 마찬가지입니다. 실행 중에는 승인하려는 쪽이 그 조치의 승인 역할인지를 검사해, 아니면 거부하고 기록으로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뒤에 엔진이 연 서비스 작업 셋입니다. 첫째로 설비에 팬 속도 100 %의 명령을 냈고, 인터록 검사를 통과해 수행되었습니다. 둘째로 시계열 DB에서 유온을 다시 읽어 51.3 ℃로 기준 55 ℃ 아래임을 확인했습니다. 셋째로 CMMS에 작업지시를 등록했습니다. 가운데 화살표만 방향이 반대인 것은 재관측이 쓰는 일이 아니라 값을 읽어 오는 일이기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열 때 본 세 사건이 끝난 모습입니다. 긴급 대응은 유온이 51.3도로 내려가 기준 55도 아래가 되었고 작업지시가 남았습니다. 정기 점검은 정비 오더가 등록되고 생산팀에 공지가 나갔습니다. 재고 보충은 씰 키트 6개가 입고되어 검수에 합격했고 가용 재고가 7개가 되었습니다. 세 건 모두 끝 이벤트 E_end에 닿았으며, 결과 보고의 결과는 정상과 입고 완료입니다.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셋이 저마다 필요한 이유는 하나씩 빼 보면 분명해집니다. 지식이 없으면 에이전트가 읽을 곳이 없어 제안의 근거를 되짚을 수 없습니다. 에이전트가 없으면 경보가 올 때마다 사람이 지식과 값을 찾아 직접 견주어야 합니다. 프로세스가 없으면 추천이 나와도 누가 승인하고 누가 실행할지가 정해져 있지 않고, 진행과 결과가 한곳에 남지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AI와 사람이 함께 일한다는 말의 뜻을 세 업무에서 확인합니다. AI 에이전트는 지식과 데이터를 읽고 후보를 견주어 제안하는 데까지 맡았습니다. 설비 명령이나 발주 같은 처리는 하지 않았습니다. 사람의 일은 세 가지였습니다. 순서와 승인 역할과 예외 경로를 프로세스로 정하는 일, 제안을 승인하거나 거절하는 일, 그리고 기록을 읽어 프로세스를 고치는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되짚으며 쓴 다섯 자리는 새 업무를 설계할 때의 물음이 됩니다. 어떤 사건으로 시작하는가, 에이전트가 무엇을 읽어 무엇을 제안하는가, 어느 역할이 결정하는가, 어느 시스템이 실행하는가, 무엇이 남으면 끝났다고 보는가입니다. 지식이 판단의 재료가 되고, 에이전트가 제안하고, 사람이 결정하고, 프로세스가 그 결정을 실행과 기록으로 잇는 구조는 어느 업무에서나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 전체를 정리합니다. 에이전트의 제안이 끝난 업무가 되려면 세 가지가 갖추어져야 합니다. 판단의 근거가 등록된 지식과 읽은 값에 닿아 있어야 하고, 판단이 명세가 정한 형식으로 제출되어야 하며, 정해진 역할이 승인하고 실행과 결과가 기록되어야 합니다. 새 업무를 맡았을 때에도 이 세 가지가 갖추어졌는지를 먼저 확인하시기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나온 약어와 용어의 정식 명칭을 한곳에 모았습니다. 이 넷과 함께 승인 블록, 가용 재고가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건의 기록으로 업무의 상황을 읽는 문항입니다. 처리 건이 닫혔다는 것과 그 업무의 원인이 해결되었다는 것이 같은지를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맡는지, 책임의 경계를 묻는 문항입니다. 에이전트가 맡은 일과 사람이 맡은 일이 무엇이었는지, 그리고 효과를 내는 작업을 어디에 두었는지를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책임의 경계를 묻는 문항입니다. 에이전트의 읽기와 프로세스의 쓰기가 어디에서 나뉘었는지, 스킬에 적은 순서와 엔진이 지키는 순서가 어떻게 달랐는지를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처리 건의 종결과 업무 원인의 해결을 혼동한 것입니다. 둘째 문항의 4번은 사람이 결정하지 않은 채 효과가 나가게 하는 설계입니다. 셋째 문항의 2번은 스킬에 적은 순서를 엔진이 지키는 순서와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7.png"/><Relationship Id="rId6"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7.png"/><Relationship Id="rId6" Type="http://schemas.openxmlformats.org/officeDocument/2006/relationships/image" Target="../media/image27.png"/><Relationship Id="rId7"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0.png"/><Relationship Id="rId7"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7.png"/><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9.png"/><Relationship Id="rId4" Type="http://schemas.openxmlformats.org/officeDocument/2006/relationships/image" Target="../media/image5.png"/><Relationship Id="rId5"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20.png"/><Relationship Id="rId5"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0.png"/><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9.png"/><Relationship Id="rId4" Type="http://schemas.openxmlformats.org/officeDocument/2006/relationships/image" Target="../media/image20.png"/><Relationship Id="rId5"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10회차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대응에서 정비와 구매까지</a:t>
            </a:r>
          </a:p>
          <a:p>
            <a:pPr algn="l">
              <a:lnSpc>
                <a:spcPct val="110000"/>
              </a:lnSpc>
            </a:pPr>
            <a:r>
              <a:rPr sz="4000" b="1">
                <a:solidFill>
                  <a:srgbClr val="FFFFFF"/>
                </a:solidFill>
                <a:latin typeface="맑은 고딕"/>
                <a:ea typeface="맑은 고딕"/>
                <a:cs typeface="맑은 고딕"/>
              </a:rPr>
              <a:t>프로세스 설계의 확장과 전체 정리</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승인 패턴의 재사용과 지식, 에이전트, 프로세스의 전체 흐름</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epeat" descr="repea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ol" descr="tool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ackage" descr="packag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프로세스의 설계를 정기 점검과 재고 보충에 다시 쓰고, 지식에서 시스템 실행까지의 전체 흐름을 설명한다.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업무의 비교</a:t>
            </a:r>
          </a:p>
          <a:p>
            <a:pPr algn="l">
              <a:lnSpc>
                <a:spcPct val="110000"/>
              </a:lnSpc>
              <a:spcAft>
                <a:spcPts val="400"/>
              </a:spcAft>
            </a:pPr>
            <a:r>
              <a:rPr sz="1350" b="0">
                <a:solidFill>
                  <a:srgbClr val="1F2A3A"/>
                </a:solidFill>
                <a:latin typeface="맑은 고딕"/>
                <a:ea typeface="맑은 고딕"/>
                <a:cs typeface="맑은 고딕"/>
              </a:rPr>
              <a:t>설비 경보, 정기 점검 도래, 재고 부족의 시작 조건과 에이전트, 승인자, 실행 시스템을 견준다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패턴의 재사용</a:t>
            </a:r>
          </a:p>
          <a:p>
            <a:pPr algn="l">
              <a:lnSpc>
                <a:spcPct val="110000"/>
              </a:lnSpc>
              <a:spcAft>
                <a:spcPts val="400"/>
              </a:spcAft>
            </a:pPr>
            <a:r>
              <a:rPr sz="1350" b="0">
                <a:solidFill>
                  <a:srgbClr val="1F2A3A"/>
                </a:solidFill>
                <a:latin typeface="맑은 고딕"/>
                <a:ea typeface="맑은 고딕"/>
                <a:cs typeface="맑은 고딕"/>
              </a:rPr>
              <a:t>승인 블록은 그대로 두고 업무마다 달라지는 자리만 정해 새 프로세스를 설계한다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설계와 실행</a:t>
            </a:r>
          </a:p>
          <a:p>
            <a:pPr algn="l">
              <a:lnSpc>
                <a:spcPct val="110000"/>
              </a:lnSpc>
              <a:spcAft>
                <a:spcPts val="400"/>
              </a:spcAft>
            </a:pPr>
            <a:r>
              <a:rPr sz="1350" b="0">
                <a:solidFill>
                  <a:srgbClr val="1F2A3A"/>
                </a:solidFill>
                <a:latin typeface="맑은 고딕"/>
                <a:ea typeface="맑은 고딕"/>
                <a:cs typeface="맑은 고딕"/>
              </a:rPr>
              <a:t>정기 점검과 재고 보충의 프로세스를 그려 배포하고 승인과 거절의 결과를 확인한다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흐름의 정리</a:t>
            </a:r>
          </a:p>
          <a:p>
            <a:pPr algn="l">
              <a:lnSpc>
                <a:spcPct val="110000"/>
              </a:lnSpc>
              <a:spcAft>
                <a:spcPts val="400"/>
              </a:spcAft>
            </a:pPr>
            <a:r>
              <a:rPr sz="1350" b="0">
                <a:solidFill>
                  <a:srgbClr val="1F2A3A"/>
                </a:solidFill>
                <a:latin typeface="맑은 고딕"/>
                <a:ea typeface="맑은 고딕"/>
                <a:cs typeface="맑은 고딕"/>
              </a:rPr>
              <a:t>온톨로지, 에이전트, 프로세스가 처리 건 한 건에서 이어지는 과정을 설명한다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프로세스 설계의 재사용: 세 가지 업무와 하나의 패턴</a:t>
            </a:r>
          </a:p>
        </p:txBody>
      </p:sp>
      <p:sp>
        <p:nvSpPr>
          <p:cNvPr id="6" name="Rounded Rectangle 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79475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79475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AI와 사람이 함께 수행하는 업무 흐름의 정리</a:t>
            </a:r>
          </a:p>
        </p:txBody>
      </p:sp>
      <p:sp>
        <p:nvSpPr>
          <p:cNvPr id="11" name="Rounded Rectangle 10"/>
          <p:cNvSpPr/>
          <p:nvPr/>
        </p:nvSpPr>
        <p:spPr>
          <a:xfrm>
            <a:off x="10088575" y="401421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40142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TextBox 1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프로세스 설계의 재사용:</a:t>
            </a:r>
          </a:p>
          <a:p>
            <a:pPr algn="l">
              <a:lnSpc>
                <a:spcPct val="110000"/>
              </a:lnSpc>
            </a:pPr>
            <a:r>
              <a:rPr sz="3400" b="1">
                <a:solidFill>
                  <a:srgbClr val="13294B"/>
                </a:solidFill>
                <a:latin typeface="맑은 고딕"/>
                <a:ea typeface="맑은 고딕"/>
                <a:cs typeface="맑은 고딕"/>
              </a:rPr>
              <a:t>세 가지 업무와 하나의 패턴</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승인의 자리는 그대로 두고 달라지는 자리만 정하는 설계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뒤에 기다리는 두 가지 업무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경보를 처리한 뒤에도 HYD-02에는 정기 점검이 도래해 있고 HYD-03의 예비품 재고는 기준 아래로 내려가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세시작.svg" descr="illust_884813186719317307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35656"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경보</a:t>
            </a:r>
          </a:p>
          <a:p>
            <a:pPr algn="ctr">
              <a:lnSpc>
                <a:spcPct val="110000"/>
              </a:lnSpc>
              <a:spcAft>
                <a:spcPts val="100"/>
              </a:spcAft>
            </a:pPr>
            <a:r>
              <a:rPr sz="1300" b="0">
                <a:solidFill>
                  <a:srgbClr val="556175"/>
                </a:solidFill>
                <a:latin typeface="맑은 고딕"/>
                <a:ea typeface="맑은 고딕"/>
                <a:cs typeface="맑은 고딕"/>
              </a:rPr>
              <a:t>HYD-01 · 유온이 오르고 냉각 효율이 떨어졌다</a:t>
            </a:r>
          </a:p>
        </p:txBody>
      </p:sp>
      <p:sp>
        <p:nvSpPr>
          <p:cNvPr id="8" name="TextBox 7"/>
          <p:cNvSpPr txBox="1"/>
          <p:nvPr/>
        </p:nvSpPr>
        <p:spPr>
          <a:xfrm>
            <a:off x="4513970"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 도래</a:t>
            </a:r>
          </a:p>
          <a:p>
            <a:pPr algn="ctr">
              <a:lnSpc>
                <a:spcPct val="110000"/>
              </a:lnSpc>
              <a:spcAft>
                <a:spcPts val="100"/>
              </a:spcAft>
            </a:pPr>
            <a:r>
              <a:rPr sz="1300" b="0">
                <a:solidFill>
                  <a:srgbClr val="556175"/>
                </a:solidFill>
                <a:latin typeface="맑은 고딕"/>
                <a:ea typeface="맑은 고딕"/>
                <a:cs typeface="맑은 고딕"/>
              </a:rPr>
              <a:t>HYD-02 · 운전시간 1,950 h, 점검 주기 2,000 h</a:t>
            </a:r>
          </a:p>
        </p:txBody>
      </p:sp>
      <p:sp>
        <p:nvSpPr>
          <p:cNvPr id="9" name="TextBox 8"/>
          <p:cNvSpPr txBox="1"/>
          <p:nvPr/>
        </p:nvSpPr>
        <p:spPr>
          <a:xfrm>
            <a:off x="8092285"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부족</a:t>
            </a:r>
          </a:p>
          <a:p>
            <a:pPr algn="ctr">
              <a:lnSpc>
                <a:spcPct val="110000"/>
              </a:lnSpc>
              <a:spcAft>
                <a:spcPts val="100"/>
              </a:spcAft>
            </a:pPr>
            <a:r>
              <a:rPr sz="1300" b="0">
                <a:solidFill>
                  <a:srgbClr val="556175"/>
                </a:solidFill>
                <a:latin typeface="맑은 고딕"/>
                <a:ea typeface="맑은 고딕"/>
                <a:cs typeface="맑은 고딕"/>
              </a:rPr>
              <a:t>HYD-03 · 펌프 축 씰 키트의 가용 재고 1개</a:t>
            </a:r>
          </a:p>
        </p:txBody>
      </p:sp>
      <p:sp>
        <p:nvSpPr>
          <p:cNvPr id="10" name="TextBox 9"/>
          <p:cNvSpPr txBox="1"/>
          <p:nvPr/>
        </p:nvSpPr>
        <p:spPr>
          <a:xfrm>
            <a:off x="935656" y="5882335"/>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긴급 대응 프로세스가 있다</a:t>
            </a:r>
          </a:p>
        </p:txBody>
      </p:sp>
      <p:sp>
        <p:nvSpPr>
          <p:cNvPr id="11" name="TextBox 10"/>
          <p:cNvSpPr txBox="1"/>
          <p:nvPr/>
        </p:nvSpPr>
        <p:spPr>
          <a:xfrm>
            <a:off x="4513970" y="588233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프로세스가 아직 없다</a:t>
            </a:r>
          </a:p>
        </p:txBody>
      </p:sp>
      <p:sp>
        <p:nvSpPr>
          <p:cNvPr id="12" name="TextBox 11"/>
          <p:cNvSpPr txBox="1"/>
          <p:nvPr/>
        </p:nvSpPr>
        <p:spPr>
          <a:xfrm>
            <a:off x="8092285" y="588233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프로세스가 아직 없다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업무마다 처음부터 설계할 때 생기는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업무마다 프로세스를 처음부터 따로 설계하면 승인을 다루는 방식과 기록을 읽는 법이 업무의 수만큼 늘어난다.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승인이 제각각이 된다</a:t>
            </a:r>
          </a:p>
          <a:p>
            <a:pPr algn="l">
              <a:lnSpc>
                <a:spcPct val="110000"/>
              </a:lnSpc>
              <a:spcAft>
                <a:spcPts val="400"/>
              </a:spcAft>
            </a:pPr>
            <a:r>
              <a:rPr sz="1400" b="0">
                <a:solidFill>
                  <a:srgbClr val="1F2A3A"/>
                </a:solidFill>
                <a:latin typeface="맑은 고딕"/>
                <a:ea typeface="맑은 고딕"/>
                <a:cs typeface="맑은 고딕"/>
              </a:rPr>
              <a:t>• 거절과 무응답을 다루는 방식이 프로세스마다 달라진다</a:t>
            </a:r>
          </a:p>
          <a:p>
            <a:pPr algn="l">
              <a:lnSpc>
                <a:spcPct val="110000"/>
              </a:lnSpc>
              <a:spcAft>
                <a:spcPts val="400"/>
              </a:spcAft>
            </a:pPr>
            <a:r>
              <a:rPr sz="1400" b="0">
                <a:solidFill>
                  <a:srgbClr val="1F2A3A"/>
                </a:solidFill>
                <a:latin typeface="맑은 고딕"/>
                <a:ea typeface="맑은 고딕"/>
                <a:cs typeface="맑은 고딕"/>
              </a:rPr>
              <a:t>• 한 곳에서 확인한 거절 경로가 다른 곳에서는 빠진다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file-search" descr="file-search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읽는 법이 늘어난다</a:t>
            </a:r>
          </a:p>
          <a:p>
            <a:pPr algn="l">
              <a:lnSpc>
                <a:spcPct val="110000"/>
              </a:lnSpc>
              <a:spcAft>
                <a:spcPts val="400"/>
              </a:spcAft>
            </a:pPr>
            <a:r>
              <a:rPr sz="1400" b="0">
                <a:solidFill>
                  <a:srgbClr val="1F2A3A"/>
                </a:solidFill>
                <a:latin typeface="맑은 고딕"/>
                <a:ea typeface="맑은 고딕"/>
                <a:cs typeface="맑은 고딕"/>
              </a:rPr>
              <a:t>승인 대기와 종결을 가르는 기준을 프로세스마다 새로 익혀야 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운영</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tool" descr="tool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고칠 곳이 흩어진다</a:t>
            </a:r>
          </a:p>
          <a:p>
            <a:pPr algn="l">
              <a:lnSpc>
                <a:spcPct val="110000"/>
              </a:lnSpc>
              <a:spcAft>
                <a:spcPts val="400"/>
              </a:spcAft>
            </a:pPr>
            <a:r>
              <a:rPr sz="1400" b="0">
                <a:solidFill>
                  <a:srgbClr val="1F2A3A"/>
                </a:solidFill>
                <a:latin typeface="맑은 고딕"/>
                <a:ea typeface="맑은 고딕"/>
                <a:cs typeface="맑은 고딕"/>
              </a:rPr>
              <a:t>승인 기한 하나를 바꾸는 데도 그림마다 다른 자리를 찾아 고쳐야 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업무에서 달라지는 네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업무는 시작 조건, 에이전트의 판단, 승인자, 실행 시스템이 다르고, 제안에서 승인을 거쳐 처리로 가는 순서는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89200"/>
            <a:ext cx="3515258" cy="300431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긴급 대응</a:t>
            </a:r>
          </a:p>
          <a:p>
            <a:pPr algn="l">
              <a:lnSpc>
                <a:spcPct val="110000"/>
              </a:lnSpc>
              <a:spcAft>
                <a:spcPts val="400"/>
              </a:spcAft>
            </a:pPr>
            <a:r>
              <a:rPr sz="1400" b="0">
                <a:solidFill>
                  <a:srgbClr val="1F2A3A"/>
                </a:solidFill>
                <a:latin typeface="맑은 고딕"/>
                <a:ea typeface="맑은 고딕"/>
                <a:cs typeface="맑은 고딕"/>
              </a:rPr>
              <a:t>• 시작: 쿨러 성능 저하 경보</a:t>
            </a:r>
          </a:p>
          <a:p>
            <a:pPr algn="l">
              <a:lnSpc>
                <a:spcPct val="110000"/>
              </a:lnSpc>
              <a:spcAft>
                <a:spcPts val="400"/>
              </a:spcAft>
            </a:pPr>
            <a:r>
              <a:rPr sz="1400" b="0">
                <a:solidFill>
                  <a:srgbClr val="1F2A3A"/>
                </a:solidFill>
                <a:latin typeface="맑은 고딕"/>
                <a:ea typeface="맑은 고딕"/>
                <a:cs typeface="맑은 고딕"/>
              </a:rPr>
              <a:t>• 에이전트: 원인을 진단하고 냉각 조치 후보를 견주어 추천한다</a:t>
            </a:r>
          </a:p>
          <a:p>
            <a:pPr algn="l">
              <a:lnSpc>
                <a:spcPct val="110000"/>
              </a:lnSpc>
              <a:spcAft>
                <a:spcPts val="400"/>
              </a:spcAft>
            </a:pPr>
            <a:r>
              <a:rPr sz="1400" b="0">
                <a:solidFill>
                  <a:srgbClr val="1F2A3A"/>
                </a:solidFill>
                <a:latin typeface="맑은 고딕"/>
                <a:ea typeface="맑은 고딕"/>
                <a:cs typeface="맑은 고딕"/>
              </a:rPr>
              <a:t>• 승인자: 운전원</a:t>
            </a:r>
          </a:p>
          <a:p>
            <a:pPr algn="l">
              <a:lnSpc>
                <a:spcPct val="110000"/>
              </a:lnSpc>
              <a:spcAft>
                <a:spcPts val="400"/>
              </a:spcAft>
            </a:pPr>
            <a:r>
              <a:rPr sz="1400" b="0">
                <a:solidFill>
                  <a:srgbClr val="1F2A3A"/>
                </a:solidFill>
                <a:latin typeface="맑은 고딕"/>
                <a:ea typeface="맑은 고딕"/>
                <a:cs typeface="맑은 고딕"/>
              </a:rPr>
              <a:t>• 실행: SCADA, CMMS</a:t>
            </a:r>
          </a:p>
        </p:txBody>
      </p:sp>
      <p:sp>
        <p:nvSpPr>
          <p:cNvPr id="8" name="Rounded Rectangle 7"/>
          <p:cNvSpPr/>
          <p:nvPr/>
        </p:nvSpPr>
        <p:spPr>
          <a:xfrm>
            <a:off x="777240" y="5063744"/>
            <a:ext cx="917448"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HYD-01</a:t>
            </a:r>
          </a:p>
        </p:txBody>
      </p:sp>
      <p:sp>
        <p:nvSpPr>
          <p:cNvPr id="10" name="Rounded Rectangle 9"/>
          <p:cNvSpPr/>
          <p:nvPr/>
        </p:nvSpPr>
        <p:spPr>
          <a:xfrm>
            <a:off x="4338218" y="2489200"/>
            <a:ext cx="3515258" cy="300431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정기 점검</a:t>
            </a:r>
          </a:p>
          <a:p>
            <a:pPr algn="l">
              <a:lnSpc>
                <a:spcPct val="110000"/>
              </a:lnSpc>
              <a:spcAft>
                <a:spcPts val="400"/>
              </a:spcAft>
            </a:pPr>
            <a:r>
              <a:rPr sz="1400" b="0">
                <a:solidFill>
                  <a:srgbClr val="1F2A3A"/>
                </a:solidFill>
                <a:latin typeface="맑은 고딕"/>
                <a:ea typeface="맑은 고딕"/>
                <a:cs typeface="맑은 고딕"/>
              </a:rPr>
              <a:t>• 시작: 정기 점검 도래 경보</a:t>
            </a:r>
          </a:p>
          <a:p>
            <a:pPr algn="l">
              <a:lnSpc>
                <a:spcPct val="110000"/>
              </a:lnSpc>
              <a:spcAft>
                <a:spcPts val="400"/>
              </a:spcAft>
            </a:pPr>
            <a:r>
              <a:rPr sz="1400" b="0">
                <a:solidFill>
                  <a:srgbClr val="1F2A3A"/>
                </a:solidFill>
                <a:latin typeface="맑은 고딕"/>
                <a:ea typeface="맑은 고딕"/>
                <a:cs typeface="맑은 고딕"/>
              </a:rPr>
              <a:t>• 에이전트: 운전시간, 생산 오더, 정비 인원, 예비품을 저울질해 정비할 시점을 제안한다</a:t>
            </a:r>
          </a:p>
          <a:p>
            <a:pPr algn="l">
              <a:lnSpc>
                <a:spcPct val="110000"/>
              </a:lnSpc>
              <a:spcAft>
                <a:spcPts val="400"/>
              </a:spcAft>
            </a:pPr>
            <a:r>
              <a:rPr sz="1400" b="0">
                <a:solidFill>
                  <a:srgbClr val="1F2A3A"/>
                </a:solidFill>
                <a:latin typeface="맑은 고딕"/>
                <a:ea typeface="맑은 고딕"/>
                <a:cs typeface="맑은 고딕"/>
              </a:rPr>
              <a:t>• 승인자: 설비보전팀장</a:t>
            </a:r>
          </a:p>
          <a:p>
            <a:pPr algn="l">
              <a:lnSpc>
                <a:spcPct val="110000"/>
              </a:lnSpc>
              <a:spcAft>
                <a:spcPts val="400"/>
              </a:spcAft>
            </a:pPr>
            <a:r>
              <a:rPr sz="1400" b="0">
                <a:solidFill>
                  <a:srgbClr val="1F2A3A"/>
                </a:solidFill>
                <a:latin typeface="맑은 고딕"/>
                <a:ea typeface="맑은 고딕"/>
                <a:cs typeface="맑은 고딕"/>
              </a:rPr>
              <a:t>• 실행: CMMS, 메일</a:t>
            </a:r>
          </a:p>
        </p:txBody>
      </p:sp>
      <p:sp>
        <p:nvSpPr>
          <p:cNvPr id="12" name="Rounded Rectangle 11"/>
          <p:cNvSpPr/>
          <p:nvPr/>
        </p:nvSpPr>
        <p:spPr>
          <a:xfrm>
            <a:off x="4566818" y="5063744"/>
            <a:ext cx="917448"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HYD-02</a:t>
            </a:r>
          </a:p>
        </p:txBody>
      </p:sp>
      <p:sp>
        <p:nvSpPr>
          <p:cNvPr id="14" name="Rounded Rectangle 13"/>
          <p:cNvSpPr/>
          <p:nvPr/>
        </p:nvSpPr>
        <p:spPr>
          <a:xfrm>
            <a:off x="8127796" y="2489200"/>
            <a:ext cx="3515258" cy="300431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재고 보충</a:t>
            </a:r>
          </a:p>
          <a:p>
            <a:pPr algn="l">
              <a:lnSpc>
                <a:spcPct val="110000"/>
              </a:lnSpc>
              <a:spcAft>
                <a:spcPts val="400"/>
              </a:spcAft>
            </a:pPr>
            <a:r>
              <a:rPr sz="1400" b="0">
                <a:solidFill>
                  <a:srgbClr val="1F2A3A"/>
                </a:solidFill>
                <a:latin typeface="맑은 고딕"/>
                <a:ea typeface="맑은 고딕"/>
                <a:cs typeface="맑은 고딕"/>
              </a:rPr>
              <a:t>• 시작: 재고 부족 경보</a:t>
            </a:r>
          </a:p>
          <a:p>
            <a:pPr algn="l">
              <a:lnSpc>
                <a:spcPct val="110000"/>
              </a:lnSpc>
              <a:spcAft>
                <a:spcPts val="400"/>
              </a:spcAft>
            </a:pPr>
            <a:r>
              <a:rPr sz="1400" b="0">
                <a:solidFill>
                  <a:srgbClr val="1F2A3A"/>
                </a:solidFill>
                <a:latin typeface="맑은 고딕"/>
                <a:ea typeface="맑은 고딕"/>
                <a:cs typeface="맑은 고딕"/>
              </a:rPr>
              <a:t>• 에이전트: 필요량을 정하고 공급사를 금액, 납기, 품질, 회사 규정으로 비교한다</a:t>
            </a:r>
          </a:p>
          <a:p>
            <a:pPr algn="l">
              <a:lnSpc>
                <a:spcPct val="110000"/>
              </a:lnSpc>
              <a:spcAft>
                <a:spcPts val="400"/>
              </a:spcAft>
            </a:pPr>
            <a:r>
              <a:rPr sz="1400" b="0">
                <a:solidFill>
                  <a:srgbClr val="1F2A3A"/>
                </a:solidFill>
                <a:latin typeface="맑은 고딕"/>
                <a:ea typeface="맑은 고딕"/>
                <a:cs typeface="맑은 고딕"/>
              </a:rPr>
              <a:t>• 승인자: 구매 담당</a:t>
            </a:r>
          </a:p>
          <a:p>
            <a:pPr algn="l">
              <a:lnSpc>
                <a:spcPct val="110000"/>
              </a:lnSpc>
              <a:spcAft>
                <a:spcPts val="400"/>
              </a:spcAft>
            </a:pPr>
            <a:r>
              <a:rPr sz="1400" b="0">
                <a:solidFill>
                  <a:srgbClr val="1F2A3A"/>
                </a:solidFill>
                <a:latin typeface="맑은 고딕"/>
                <a:ea typeface="맑은 고딕"/>
                <a:cs typeface="맑은 고딕"/>
              </a:rPr>
              <a:t>• 실행: ERP(Enterprise Resource Planning), 메일</a:t>
            </a:r>
          </a:p>
        </p:txBody>
      </p:sp>
      <p:sp>
        <p:nvSpPr>
          <p:cNvPr id="16" name="Rounded Rectangle 15"/>
          <p:cNvSpPr/>
          <p:nvPr/>
        </p:nvSpPr>
        <p:spPr>
          <a:xfrm>
            <a:off x="8356396" y="5063744"/>
            <a:ext cx="917448"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조건: 센서 값의 규칙과 업무 데이터의 규칙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대응은 센서 값의 규칙이, 정기 점검과 재고 보충은 업무 시스템에 쌓인 데이터의 규칙이 프로세스를 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센서 값의 규칙</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값: 유온 TS1, 냉각 효율 CE</a:t>
            </a:r>
          </a:p>
          <a:p>
            <a:pPr algn="l">
              <a:lnSpc>
                <a:spcPct val="110000"/>
              </a:lnSpc>
              <a:spcAft>
                <a:spcPts val="600"/>
              </a:spcAft>
            </a:pPr>
            <a:r>
              <a:rPr sz="1450" b="0">
                <a:solidFill>
                  <a:srgbClr val="1F2A3A"/>
                </a:solidFill>
                <a:latin typeface="맑은 고딕"/>
                <a:ea typeface="맑은 고딕"/>
                <a:cs typeface="맑은 고딕"/>
              </a:rPr>
              <a:t>• 규칙: TS1 &gt; 55 and CE &lt; 70 and slope(TS1) &gt; 0</a:t>
            </a:r>
          </a:p>
          <a:p>
            <a:pPr algn="l">
              <a:lnSpc>
                <a:spcPct val="110000"/>
              </a:lnSpc>
              <a:spcAft>
                <a:spcPts val="600"/>
              </a:spcAft>
            </a:pPr>
            <a:r>
              <a:rPr sz="1450" b="0">
                <a:solidFill>
                  <a:srgbClr val="1F2A3A"/>
                </a:solidFill>
                <a:latin typeface="맑은 고딕"/>
                <a:ea typeface="맑은 고딕"/>
                <a:cs typeface="맑은 고딕"/>
              </a:rPr>
              <a:t>• 경보 패턴: COOLER_DEGRADATION</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긴급 대응</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alendar" descr="calendar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업무 데이터의 규칙</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값: 설비의 운전시간, 예비품의 재고</a:t>
            </a:r>
          </a:p>
          <a:p>
            <a:pPr algn="l">
              <a:lnSpc>
                <a:spcPct val="110000"/>
              </a:lnSpc>
              <a:spcAft>
                <a:spcPts val="600"/>
              </a:spcAft>
            </a:pPr>
            <a:r>
              <a:rPr sz="1450" b="0">
                <a:solidFill>
                  <a:srgbClr val="1F2A3A"/>
                </a:solidFill>
                <a:latin typeface="맑은 고딕"/>
                <a:ea typeface="맑은 고딕"/>
                <a:cs typeface="맑은 고딕"/>
              </a:rPr>
              <a:t>• 규칙: 운전시간이 점검 주기에 가까워진다, 가용 재고가 재주문점보다 적다</a:t>
            </a:r>
          </a:p>
          <a:p>
            <a:pPr algn="l">
              <a:lnSpc>
                <a:spcPct val="110000"/>
              </a:lnSpc>
              <a:spcAft>
                <a:spcPts val="600"/>
              </a:spcAft>
            </a:pPr>
            <a:r>
              <a:rPr sz="1450" b="0">
                <a:solidFill>
                  <a:srgbClr val="1F2A3A"/>
                </a:solidFill>
                <a:latin typeface="맑은 고딕"/>
                <a:ea typeface="맑은 고딕"/>
                <a:cs typeface="맑은 고딕"/>
              </a:rPr>
              <a:t>• 경보 패턴: PM_DUE, SPARE_BELOW_MIN</a:t>
            </a:r>
          </a:p>
        </p:txBody>
      </p:sp>
      <p:sp>
        <p:nvSpPr>
          <p:cNvPr id="18" name="Rounded Rectangle 17"/>
          <p:cNvSpPr/>
          <p:nvPr/>
        </p:nvSpPr>
        <p:spPr>
          <a:xfrm>
            <a:off x="6781647" y="5096002"/>
            <a:ext cx="192024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9202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정기 점검 · 재고 보충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도래: 운전시간이 주기에 가까워진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점검은 운전시간을 기준으로 미리 하는 예방 정비이며, 주기 2,000 h보다 50 h 앞선 1,950 h에 도래 경보가 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pic>
        <p:nvPicPr>
          <p:cNvPr id="6" name="삽화:운전시간.svg" descr="illust_619622158190749682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02927" y="318768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운전시간</a:t>
            </a:r>
          </a:p>
          <a:p>
            <a:pPr algn="ctr">
              <a:lnSpc>
                <a:spcPct val="110000"/>
              </a:lnSpc>
              <a:spcAft>
                <a:spcPts val="100"/>
              </a:spcAft>
            </a:pPr>
            <a:r>
              <a:rPr sz="1300" b="0">
                <a:solidFill>
                  <a:srgbClr val="556175"/>
                </a:solidFill>
                <a:latin typeface="맑은 고딕"/>
                <a:ea typeface="맑은 고딕"/>
                <a:cs typeface="맑은 고딕"/>
              </a:rPr>
              <a:t>마지막 정기 점검 뒤의 운전</a:t>
            </a:r>
          </a:p>
        </p:txBody>
      </p:sp>
      <p:sp>
        <p:nvSpPr>
          <p:cNvPr id="8" name="TextBox 7"/>
          <p:cNvSpPr txBox="1"/>
          <p:nvPr/>
        </p:nvSpPr>
        <p:spPr>
          <a:xfrm>
            <a:off x="4023043" y="2289474"/>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1,950 h</a:t>
            </a:r>
          </a:p>
          <a:p>
            <a:pPr algn="ctr">
              <a:lnSpc>
                <a:spcPct val="110000"/>
              </a:lnSpc>
              <a:spcAft>
                <a:spcPts val="100"/>
              </a:spcAft>
            </a:pPr>
            <a:r>
              <a:rPr sz="1300" b="0">
                <a:solidFill>
                  <a:srgbClr val="556175"/>
                </a:solidFill>
                <a:latin typeface="맑은 고딕"/>
                <a:ea typeface="맑은 고딕"/>
                <a:cs typeface="맑은 고딕"/>
              </a:rPr>
              <a:t>도래 경보 PM_DUE</a:t>
            </a:r>
          </a:p>
        </p:txBody>
      </p:sp>
      <p:sp>
        <p:nvSpPr>
          <p:cNvPr id="9" name="TextBox 8"/>
          <p:cNvSpPr txBox="1"/>
          <p:nvPr/>
        </p:nvSpPr>
        <p:spPr>
          <a:xfrm>
            <a:off x="8768673" y="228947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2,000 h</a:t>
            </a:r>
          </a:p>
          <a:p>
            <a:pPr algn="ctr">
              <a:lnSpc>
                <a:spcPct val="110000"/>
              </a:lnSpc>
              <a:spcAft>
                <a:spcPts val="100"/>
              </a:spcAft>
            </a:pPr>
            <a:r>
              <a:rPr sz="1300" b="0">
                <a:solidFill>
                  <a:srgbClr val="556175"/>
                </a:solidFill>
                <a:latin typeface="맑은 고딕"/>
                <a:ea typeface="맑은 고딕"/>
                <a:cs typeface="맑은 고딕"/>
              </a:rPr>
              <a:t>정기 점검 주기</a:t>
            </a:r>
          </a:p>
        </p:txBody>
      </p:sp>
      <p:sp>
        <p:nvSpPr>
          <p:cNvPr id="10" name="TextBox 9"/>
          <p:cNvSpPr txBox="1"/>
          <p:nvPr/>
        </p:nvSpPr>
        <p:spPr>
          <a:xfrm>
            <a:off x="5954024"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사전 알림 50 h</a:t>
            </a:r>
          </a:p>
          <a:p>
            <a:pPr algn="ctr">
              <a:lnSpc>
                <a:spcPct val="110000"/>
              </a:lnSpc>
              <a:spcAft>
                <a:spcPts val="100"/>
              </a:spcAft>
            </a:pPr>
            <a:r>
              <a:rPr sz="1300" b="0">
                <a:solidFill>
                  <a:srgbClr val="556175"/>
                </a:solidFill>
                <a:latin typeface="맑은 고딕"/>
                <a:ea typeface="맑은 고딕"/>
                <a:cs typeface="맑은 고딕"/>
              </a:rPr>
              <a:t>2,000 - 50 = 1,950 h</a:t>
            </a:r>
          </a:p>
        </p:txBody>
      </p:sp>
      <p:sp>
        <p:nvSpPr>
          <p:cNvPr id="11" name="TextBox 10"/>
          <p:cNvSpPr txBox="1"/>
          <p:nvPr/>
        </p:nvSpPr>
        <p:spPr>
          <a:xfrm>
            <a:off x="902927"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예방 정비</a:t>
            </a:r>
          </a:p>
          <a:p>
            <a:pPr algn="ctr">
              <a:lnSpc>
                <a:spcPct val="110000"/>
              </a:lnSpc>
              <a:spcAft>
                <a:spcPts val="100"/>
              </a:spcAft>
            </a:pPr>
            <a:r>
              <a:rPr sz="1300" b="0">
                <a:solidFill>
                  <a:srgbClr val="556175"/>
                </a:solidFill>
                <a:latin typeface="맑은 고딕"/>
                <a:ea typeface="맑은 고딕"/>
                <a:cs typeface="맑은 고딕"/>
              </a:rPr>
              <a:t>Preventive Maintenance · PM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부족: 가용 재고가 재주문점 아래로 내려간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재고는 예약분을 뺀 가용 재고로 판단하며, 씰 키트의 가용 1개가 재주문점 2개보다 적어 재고 부족 경보가 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재고.svg" descr="illust_2419711985664982672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현재고 3</a:t>
            </a:r>
          </a:p>
          <a:p>
            <a:pPr algn="ctr">
              <a:lnSpc>
                <a:spcPct val="110000"/>
              </a:lnSpc>
              <a:spcAft>
                <a:spcPts val="100"/>
              </a:spcAft>
            </a:pPr>
            <a:r>
              <a:rPr sz="1100" b="0">
                <a:solidFill>
                  <a:srgbClr val="556175"/>
                </a:solidFill>
                <a:latin typeface="맑은 고딕"/>
                <a:ea typeface="맑은 고딕"/>
                <a:cs typeface="맑은 고딕"/>
              </a:rPr>
              <a:t>창고에 있는 수량</a:t>
            </a:r>
          </a:p>
        </p:txBody>
      </p:sp>
      <p:sp>
        <p:nvSpPr>
          <p:cNvPr id="8" name="TextBox 7"/>
          <p:cNvSpPr txBox="1"/>
          <p:nvPr/>
        </p:nvSpPr>
        <p:spPr>
          <a:xfrm>
            <a:off x="6314037" y="2431298"/>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예약 2</a:t>
            </a:r>
          </a:p>
          <a:p>
            <a:pPr algn="ctr">
              <a:lnSpc>
                <a:spcPct val="110000"/>
              </a:lnSpc>
              <a:spcAft>
                <a:spcPts val="100"/>
              </a:spcAft>
            </a:pPr>
            <a:r>
              <a:rPr sz="1100" b="0">
                <a:solidFill>
                  <a:srgbClr val="556175"/>
                </a:solidFill>
                <a:latin typeface="맑은 고딕"/>
                <a:ea typeface="맑은 고딕"/>
                <a:cs typeface="맑은 고딕"/>
              </a:rPr>
              <a:t>예정된 정비에 쓰기로 잡아 둔 수량</a:t>
            </a:r>
          </a:p>
        </p:txBody>
      </p:sp>
      <p:sp>
        <p:nvSpPr>
          <p:cNvPr id="9" name="TextBox 8"/>
          <p:cNvSpPr txBox="1"/>
          <p:nvPr/>
        </p:nvSpPr>
        <p:spPr>
          <a:xfrm>
            <a:off x="750195" y="4653198"/>
            <a:ext cx="196370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가용 재고 1</a:t>
            </a:r>
          </a:p>
          <a:p>
            <a:pPr algn="ctr">
              <a:lnSpc>
                <a:spcPct val="110000"/>
              </a:lnSpc>
              <a:spcAft>
                <a:spcPts val="100"/>
              </a:spcAft>
            </a:pPr>
            <a:r>
              <a:rPr sz="1100" b="0">
                <a:solidFill>
                  <a:srgbClr val="556175"/>
                </a:solidFill>
                <a:latin typeface="맑은 고딕"/>
                <a:ea typeface="맑은 고딕"/>
                <a:cs typeface="맑은 고딕"/>
              </a:rPr>
              <a:t>현재고 3 - 정비 예약 2</a:t>
            </a:r>
          </a:p>
        </p:txBody>
      </p:sp>
      <p:sp>
        <p:nvSpPr>
          <p:cNvPr id="10" name="TextBox 9"/>
          <p:cNvSpPr txBox="1"/>
          <p:nvPr/>
        </p:nvSpPr>
        <p:spPr>
          <a:xfrm>
            <a:off x="4104864" y="3707709"/>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재주문점 2</a:t>
            </a:r>
          </a:p>
          <a:p>
            <a:pPr algn="ctr">
              <a:lnSpc>
                <a:spcPct val="110000"/>
              </a:lnSpc>
              <a:spcAft>
                <a:spcPts val="100"/>
              </a:spcAft>
            </a:pPr>
            <a:r>
              <a:rPr sz="1100" b="0">
                <a:solidFill>
                  <a:srgbClr val="556175"/>
                </a:solidFill>
                <a:latin typeface="맑은 고딕"/>
                <a:ea typeface="맑은 고딕"/>
                <a:cs typeface="맑은 고딕"/>
              </a:rPr>
              <a:t>Reorder Point</a:t>
            </a:r>
          </a:p>
        </p:txBody>
      </p:sp>
      <p:sp>
        <p:nvSpPr>
          <p:cNvPr id="11" name="TextBox 10"/>
          <p:cNvSpPr txBox="1"/>
          <p:nvPr/>
        </p:nvSpPr>
        <p:spPr>
          <a:xfrm>
            <a:off x="9695980" y="389680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목표 재고 7</a:t>
            </a:r>
          </a:p>
        </p:txBody>
      </p:sp>
      <p:sp>
        <p:nvSpPr>
          <p:cNvPr id="12" name="TextBox 11"/>
          <p:cNvSpPr txBox="1"/>
          <p:nvPr/>
        </p:nvSpPr>
        <p:spPr>
          <a:xfrm>
            <a:off x="4612156" y="5929609"/>
            <a:ext cx="501836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필요 수량 6 = 목표 재고 7 - 가용 재고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사건이 같은 형식의 경보로 도착한다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출처가 센서이든 업무 시스템이든 사건은 같은 형식의 경보가 되어, 세 프로세스가 같은 메시지 시작 이벤트로 열린다.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ALT-hyd01-0026-767a</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alertId  CMMS-PM_DUE-HYD-02-20261010150830</a:t>
            </a:r>
          </a:p>
          <a:p>
            <a:pPr algn="l">
              <a:lnSpc>
                <a:spcPct val="110000"/>
              </a:lnSpc>
              <a:spcAft>
                <a:spcPts val="200"/>
              </a:spcAft>
            </a:pPr>
            <a:r>
              <a:rPr sz="1300" b="0">
                <a:solidFill>
                  <a:srgbClr val="E8EEF6"/>
                </a:solidFill>
                <a:latin typeface="Consolas"/>
                <a:ea typeface="맑은 고딕"/>
                <a:cs typeface="맑은 고딕"/>
              </a:rPr>
              <a:t>pattern  PM_DUE</a:t>
            </a:r>
          </a:p>
          <a:p>
            <a:pPr algn="l">
              <a:lnSpc>
                <a:spcPct val="110000"/>
              </a:lnSpc>
              <a:spcAft>
                <a:spcPts val="200"/>
              </a:spcAft>
            </a:pPr>
            <a:r>
              <a:rPr sz="1300" b="0">
                <a:solidFill>
                  <a:srgbClr val="E8EEF6"/>
                </a:solidFill>
                <a:latin typeface="Consolas"/>
                <a:ea typeface="맑은 고딕"/>
                <a:cs typeface="맑은 고딕"/>
              </a:rPr>
              <a:t>asset    HYD-02</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alertId  ERP-SPARE_BELOW_MIN-P-PMP-SEAL-20261010151032</a:t>
            </a:r>
          </a:p>
          <a:p>
            <a:pPr algn="l">
              <a:lnSpc>
                <a:spcPct val="110000"/>
              </a:lnSpc>
              <a:spcAft>
                <a:spcPts val="200"/>
              </a:spcAft>
            </a:pPr>
            <a:r>
              <a:rPr sz="1300" b="0">
                <a:solidFill>
                  <a:srgbClr val="E8EEF6"/>
                </a:solidFill>
                <a:latin typeface="Consolas"/>
                <a:ea typeface="맑은 고딕"/>
                <a:cs typeface="맑은 고딕"/>
              </a:rPr>
              <a:t>pattern  SPARE_BELOW_MIN</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같은 필드</a:t>
            </a:r>
          </a:p>
          <a:p>
            <a:pPr algn="l">
              <a:lnSpc>
                <a:spcPct val="110000"/>
              </a:lnSpc>
              <a:spcAft>
                <a:spcPts val="400"/>
              </a:spcAft>
            </a:pPr>
            <a:r>
              <a:rPr sz="1400" b="0">
                <a:solidFill>
                  <a:srgbClr val="1F2A3A"/>
                </a:solidFill>
                <a:latin typeface="맑은 고딕"/>
                <a:ea typeface="맑은 고딕"/>
                <a:cs typeface="맑은 고딕"/>
              </a:rPr>
              <a:t>세 경보에 alertId와</a:t>
            </a:r>
          </a:p>
          <a:p>
            <a:pPr algn="l">
              <a:lnSpc>
                <a:spcPct val="110000"/>
              </a:lnSpc>
              <a:spcAft>
                <a:spcPts val="400"/>
              </a:spcAft>
            </a:pPr>
            <a:r>
              <a:rPr sz="1400" b="0">
                <a:solidFill>
                  <a:srgbClr val="1F2A3A"/>
                </a:solidFill>
                <a:latin typeface="맑은 고딕"/>
                <a:ea typeface="맑은 고딕"/>
                <a:cs typeface="맑은 고딕"/>
              </a:rPr>
              <a:t>pattern이 똑같이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이 값이 어느 프로세스를</a:t>
            </a:r>
          </a:p>
          <a:p>
            <a:pPr algn="l">
              <a:lnSpc>
                <a:spcPct val="110000"/>
              </a:lnSpc>
              <a:spcAft>
                <a:spcPts val="400"/>
              </a:spcAft>
            </a:pPr>
            <a:r>
              <a:rPr sz="1400" b="0">
                <a:solidFill>
                  <a:srgbClr val="1F2A3A"/>
                </a:solidFill>
                <a:latin typeface="맑은 고딕"/>
                <a:ea typeface="맑은 고딕"/>
                <a:cs typeface="맑은 고딕"/>
              </a:rPr>
              <a:t>열지를 정한다.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alertId의 머리</a:t>
            </a:r>
          </a:p>
          <a:p>
            <a:pPr algn="l">
              <a:lnSpc>
                <a:spcPct val="110000"/>
              </a:lnSpc>
              <a:spcAft>
                <a:spcPts val="400"/>
              </a:spcAft>
            </a:pPr>
            <a:r>
              <a:rPr sz="1400" b="0">
                <a:solidFill>
                  <a:srgbClr val="1F2A3A"/>
                </a:solidFill>
                <a:latin typeface="맑은 고딕"/>
                <a:ea typeface="맑은 고딕"/>
                <a:cs typeface="맑은 고딕"/>
              </a:rPr>
              <a:t>CMMS와 ERP는 사건이</a:t>
            </a:r>
          </a:p>
          <a:p>
            <a:pPr algn="l">
              <a:lnSpc>
                <a:spcPct val="110000"/>
              </a:lnSpc>
              <a:spcAft>
                <a:spcPts val="400"/>
              </a:spcAft>
            </a:pPr>
            <a:r>
              <a:rPr sz="1400" b="0">
                <a:solidFill>
                  <a:srgbClr val="1F2A3A"/>
                </a:solidFill>
                <a:latin typeface="맑은 고딕"/>
                <a:ea typeface="맑은 고딕"/>
                <a:cs typeface="맑은 고딕"/>
              </a:rPr>
              <a:t>나온 업무 시스템이다.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뒤의 실행: 업무마다 다른 시스템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승인된 제안의 실행은 설비 명령이면 SCADA가, 정비 오더이면 CMMS가, 발주와 입고이면 ERP가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승인된 제안</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냉각 조치</a:t>
            </a:r>
          </a:p>
          <a:p>
            <a:pPr algn="ctr">
              <a:lnSpc>
                <a:spcPct val="110000"/>
              </a:lnSpc>
              <a:spcAft>
                <a:spcPts val="100"/>
              </a:spcAft>
            </a:pPr>
            <a:r>
              <a:rPr sz="1150" b="0">
                <a:solidFill>
                  <a:srgbClr val="556175"/>
                </a:solidFill>
                <a:latin typeface="맑은 고딕"/>
                <a:ea typeface="맑은 고딕"/>
                <a:cs typeface="맑은 고딕"/>
              </a:rPr>
              <a:t>팬 최대 운전</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정비 계획</a:t>
            </a:r>
          </a:p>
          <a:p>
            <a:pPr algn="ctr">
              <a:lnSpc>
                <a:spcPct val="110000"/>
              </a:lnSpc>
              <a:spcAft>
                <a:spcPts val="100"/>
              </a:spcAft>
            </a:pPr>
            <a:r>
              <a:rPr sz="1150" b="0">
                <a:solidFill>
                  <a:srgbClr val="556175"/>
                </a:solidFill>
                <a:latin typeface="맑은 고딕"/>
                <a:ea typeface="맑은 고딕"/>
                <a:cs typeface="맑은 고딕"/>
              </a:rPr>
              <a:t>야간 정비 시간</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발주안</a:t>
            </a:r>
          </a:p>
          <a:p>
            <a:pPr algn="ctr">
              <a:lnSpc>
                <a:spcPct val="110000"/>
              </a:lnSpc>
              <a:spcAft>
                <a:spcPts val="100"/>
              </a:spcAft>
            </a:pPr>
            <a:r>
              <a:rPr sz="1150" b="0">
                <a:solidFill>
                  <a:srgbClr val="556175"/>
                </a:solidFill>
                <a:latin typeface="맑은 고딕"/>
                <a:ea typeface="맑은 고딕"/>
                <a:cs typeface="맑은 고딕"/>
              </a:rPr>
              <a:t>씰 키트 6개</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실행 시스템</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SCADA와 CMMS</a:t>
            </a:r>
          </a:p>
          <a:p>
            <a:pPr algn="ctr">
              <a:lnSpc>
                <a:spcPct val="110000"/>
              </a:lnSpc>
              <a:spcAft>
                <a:spcPts val="100"/>
              </a:spcAft>
            </a:pPr>
            <a:r>
              <a:rPr sz="1150" b="0">
                <a:solidFill>
                  <a:srgbClr val="556175"/>
                </a:solidFill>
                <a:latin typeface="맑은 고딕"/>
                <a:ea typeface="맑은 고딕"/>
                <a:cs typeface="맑은 고딕"/>
              </a:rPr>
              <a:t>PLC 명령, 작업지시 등록</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CMMS와 메일</a:t>
            </a:r>
          </a:p>
          <a:p>
            <a:pPr algn="ctr">
              <a:lnSpc>
                <a:spcPct val="110000"/>
              </a:lnSpc>
              <a:spcAft>
                <a:spcPts val="100"/>
              </a:spcAft>
            </a:pPr>
            <a:r>
              <a:rPr sz="1150" b="0">
                <a:solidFill>
                  <a:srgbClr val="556175"/>
                </a:solidFill>
                <a:latin typeface="맑은 고딕"/>
                <a:ea typeface="맑은 고딕"/>
                <a:cs typeface="맑은 고딕"/>
              </a:rPr>
              <a:t>정비 오더 등록, 생산팀 공지</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ERP와 메일</a:t>
            </a:r>
          </a:p>
          <a:p>
            <a:pPr algn="ctr">
              <a:lnSpc>
                <a:spcPct val="110000"/>
              </a:lnSpc>
              <a:spcAft>
                <a:spcPts val="100"/>
              </a:spcAft>
            </a:pPr>
            <a:r>
              <a:rPr sz="1150" b="0">
                <a:solidFill>
                  <a:srgbClr val="556175"/>
                </a:solidFill>
                <a:latin typeface="맑은 고딕"/>
                <a:ea typeface="맑은 고딕"/>
                <a:cs typeface="맑은 고딕"/>
              </a:rPr>
              <a:t>발주, 공급사 통지, 입고 확인</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남는 기록</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설비 명령과 작업지시</a:t>
            </a:r>
          </a:p>
          <a:p>
            <a:pPr algn="ctr">
              <a:lnSpc>
                <a:spcPct val="110000"/>
              </a:lnSpc>
              <a:spcAft>
                <a:spcPts val="100"/>
              </a:spcAft>
            </a:pPr>
            <a:r>
              <a:rPr sz="1150" b="0">
                <a:solidFill>
                  <a:srgbClr val="556175"/>
                </a:solidFill>
                <a:latin typeface="맑은 고딕"/>
                <a:ea typeface="맑은 고딕"/>
                <a:cs typeface="맑은 고딕"/>
              </a:rPr>
              <a:t>팬 속도 100 %, 핀 세척</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정비 오더</a:t>
            </a:r>
          </a:p>
          <a:p>
            <a:pPr algn="ctr">
              <a:lnSpc>
                <a:spcPct val="110000"/>
              </a:lnSpc>
              <a:spcAft>
                <a:spcPts val="100"/>
              </a:spcAft>
            </a:pPr>
            <a:r>
              <a:rPr sz="1150" b="0">
                <a:solidFill>
                  <a:srgbClr val="556175"/>
                </a:solidFill>
                <a:latin typeface="맑은 고딕"/>
                <a:ea typeface="맑은 고딕"/>
                <a:cs typeface="맑은 고딕"/>
              </a:rPr>
              <a:t>정비할 시점과 작업</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발주와 입고</a:t>
            </a:r>
          </a:p>
          <a:p>
            <a:pPr algn="ctr">
              <a:lnSpc>
                <a:spcPct val="110000"/>
              </a:lnSpc>
              <a:spcAft>
                <a:spcPts val="100"/>
              </a:spcAft>
            </a:pPr>
            <a:r>
              <a:rPr sz="1150" b="0">
                <a:solidFill>
                  <a:srgbClr val="556175"/>
                </a:solidFill>
                <a:latin typeface="맑은 고딕"/>
                <a:ea typeface="맑은 고딕"/>
                <a:cs typeface="맑은 고딕"/>
              </a:rPr>
              <a:t>수량, 공급사, 금액</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운전원 승인</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설비보전팀장 승인</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구매 담당 승인</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프로세스의 같은 뼈대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프로세스를 나란히 놓으면 에이전트의 제안, 사람의 승인과 거절, 시스템의 처리, 결과 보고라는 뼈대가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세흐름_나란히.svg" descr="illust_8659158603366479997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46654" y="1745818"/>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같은 승인 블록</a:t>
            </a:r>
          </a:p>
        </p:txBody>
      </p:sp>
      <p:sp>
        <p:nvSpPr>
          <p:cNvPr id="8" name="TextBox 7"/>
          <p:cNvSpPr txBox="1"/>
          <p:nvPr/>
        </p:nvSpPr>
        <p:spPr>
          <a:xfrm>
            <a:off x="1732049" y="2171288"/>
            <a:ext cx="126550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조치 제안</a:t>
            </a:r>
          </a:p>
        </p:txBody>
      </p:sp>
      <p:sp>
        <p:nvSpPr>
          <p:cNvPr id="9" name="TextBox 8"/>
          <p:cNvSpPr txBox="1"/>
          <p:nvPr/>
        </p:nvSpPr>
        <p:spPr>
          <a:xfrm>
            <a:off x="3499387" y="2289474"/>
            <a:ext cx="1156406"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10" name="TextBox 9"/>
          <p:cNvSpPr txBox="1"/>
          <p:nvPr/>
        </p:nvSpPr>
        <p:spPr>
          <a:xfrm>
            <a:off x="5921295"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7154068"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8386841" y="2171288"/>
            <a:ext cx="104731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9630523"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732049" y="3778620"/>
            <a:ext cx="126550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계획 제안</a:t>
            </a:r>
          </a:p>
        </p:txBody>
      </p:sp>
      <p:sp>
        <p:nvSpPr>
          <p:cNvPr id="15" name="TextBox 14"/>
          <p:cNvSpPr txBox="1"/>
          <p:nvPr/>
        </p:nvSpPr>
        <p:spPr>
          <a:xfrm>
            <a:off x="3412111" y="3660434"/>
            <a:ext cx="137459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6" name="TextBox 15"/>
          <p:cNvSpPr txBox="1"/>
          <p:nvPr/>
        </p:nvSpPr>
        <p:spPr>
          <a:xfrm>
            <a:off x="5834019" y="3660434"/>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오더와 공지</a:t>
            </a:r>
          </a:p>
        </p:txBody>
      </p:sp>
      <p:sp>
        <p:nvSpPr>
          <p:cNvPr id="17" name="TextBox 16"/>
          <p:cNvSpPr txBox="1"/>
          <p:nvPr/>
        </p:nvSpPr>
        <p:spPr>
          <a:xfrm>
            <a:off x="7154068" y="3778620"/>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732049" y="5267766"/>
            <a:ext cx="126550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발주안 제안</a:t>
            </a:r>
          </a:p>
        </p:txBody>
      </p:sp>
      <p:sp>
        <p:nvSpPr>
          <p:cNvPr id="19" name="TextBox 18"/>
          <p:cNvSpPr txBox="1"/>
          <p:nvPr/>
        </p:nvSpPr>
        <p:spPr>
          <a:xfrm>
            <a:off x="3521206" y="5149580"/>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 승인</a:t>
            </a:r>
          </a:p>
        </p:txBody>
      </p:sp>
      <p:sp>
        <p:nvSpPr>
          <p:cNvPr id="20" name="TextBox 19"/>
          <p:cNvSpPr txBox="1"/>
          <p:nvPr/>
        </p:nvSpPr>
        <p:spPr>
          <a:xfrm>
            <a:off x="5834019" y="5149580"/>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ERP 발주와 통지</a:t>
            </a:r>
          </a:p>
        </p:txBody>
      </p:sp>
      <p:sp>
        <p:nvSpPr>
          <p:cNvPr id="21" name="TextBox 20"/>
          <p:cNvSpPr txBox="1"/>
          <p:nvPr/>
        </p:nvSpPr>
        <p:spPr>
          <a:xfrm>
            <a:off x="7066792" y="5149580"/>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입고와 재고 반영</a:t>
            </a:r>
          </a:p>
        </p:txBody>
      </p:sp>
      <p:sp>
        <p:nvSpPr>
          <p:cNvPr id="22" name="TextBox 21"/>
          <p:cNvSpPr txBox="1"/>
          <p:nvPr/>
        </p:nvSpPr>
        <p:spPr>
          <a:xfrm>
            <a:off x="8386841" y="5267766"/>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패턴: 되풀이되는 문제에 다시 쓰는 검증된 구조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되풀이되는 설계 문제를 한 번 풀어 검증해 둔 구조를 패턴이라 하며, 승인을 받는 자리의 요소 묶음이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패턴</a:t>
            </a:r>
          </a:p>
          <a:p>
            <a:pPr algn="l">
              <a:lnSpc>
                <a:spcPct val="110000"/>
              </a:lnSpc>
              <a:spcAft>
                <a:spcPts val="200"/>
              </a:spcAft>
            </a:pPr>
            <a:r>
              <a:rPr sz="1150" b="0">
                <a:solidFill>
                  <a:srgbClr val="556175"/>
                </a:solidFill>
                <a:latin typeface="맑은 고딕"/>
                <a:ea typeface="맑은 고딕"/>
                <a:cs typeface="맑은 고딕"/>
              </a:rPr>
              <a:t>Pattern</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여러 곳에서 되풀이되는 설계 문제에 다시 쓸 수 있게 다듬어 둔 구조이다.</a:t>
            </a:r>
          </a:p>
          <a:p>
            <a:pPr algn="l">
              <a:lnSpc>
                <a:spcPct val="110000"/>
              </a:lnSpc>
              <a:spcAft>
                <a:spcPts val="300"/>
              </a:spcAft>
            </a:pPr>
            <a:r>
              <a:rPr sz="1400" b="0">
                <a:solidFill>
                  <a:srgbClr val="1F2A3A"/>
                </a:solidFill>
                <a:latin typeface="맑은 고딕"/>
                <a:ea typeface="맑은 고딕"/>
                <a:cs typeface="맑은 고딕"/>
              </a:rPr>
              <a:t>새 프로세스는 패턴을 가져와 달라지는 부분만 정한다.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승인 블록</a:t>
            </a:r>
          </a:p>
          <a:p>
            <a:pPr algn="l">
              <a:lnSpc>
                <a:spcPct val="110000"/>
              </a:lnSpc>
              <a:spcAft>
                <a:spcPts val="200"/>
              </a:spcAft>
            </a:pPr>
            <a:r>
              <a:rPr sz="1150" b="0">
                <a:solidFill>
                  <a:srgbClr val="556175"/>
                </a:solidFill>
                <a:latin typeface="맑은 고딕"/>
                <a:ea typeface="맑은 고딕"/>
                <a:cs typeface="맑은 고딕"/>
              </a:rPr>
              <a:t>승인의 패턴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승인 작업, 승인과 거절의 갈림, 승인 지연 타이머와 알림, 거절의 결과 보고와 끝 이벤트를 묶은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재사용</a:t>
            </a:r>
          </a:p>
          <a:p>
            <a:pPr algn="l">
              <a:lnSpc>
                <a:spcPct val="110000"/>
              </a:lnSpc>
              <a:spcAft>
                <a:spcPts val="200"/>
              </a:spcAft>
            </a:pPr>
            <a:r>
              <a:rPr sz="1150" b="0">
                <a:solidFill>
                  <a:srgbClr val="556175"/>
                </a:solidFill>
                <a:latin typeface="맑은 고딕"/>
                <a:ea typeface="맑은 고딕"/>
                <a:cs typeface="맑은 고딕"/>
              </a:rPr>
              <a:t>Reuse</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검증된 구조를 고치지 않고 다른 프로세스에 다시 쓰는 일이다.</a:t>
            </a:r>
          </a:p>
          <a:p>
            <a:pPr algn="l">
              <a:lnSpc>
                <a:spcPct val="110000"/>
              </a:lnSpc>
              <a:spcAft>
                <a:spcPts val="300"/>
              </a:spcAft>
            </a:pPr>
            <a:r>
              <a:rPr sz="1400" b="0">
                <a:solidFill>
                  <a:srgbClr val="1F2A3A"/>
                </a:solidFill>
                <a:latin typeface="맑은 고딕"/>
                <a:ea typeface="맑은 고딕"/>
                <a:cs typeface="맑은 고딕"/>
              </a:rPr>
              <a:t>한 번 확인한 예외 경로가 새 프로세스에도 그대로 들어간다.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블록: 같은 일곱 요소와 바뀌는 두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블록은 요소 일곱 개와 기한과 갈림의 조건이 세 프로세스에서 같고, 승인 역할과 승인 뒤의 첫 작업만 바뀐다.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pic>
        <p:nvPicPr>
          <p:cNvPr id="6" name="삽화:승인블록_자리.svg" descr="illust_1407692610915484264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809494"/>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제안 작업</a:t>
            </a:r>
          </a:p>
        </p:txBody>
      </p:sp>
      <p:sp>
        <p:nvSpPr>
          <p:cNvPr id="8" name="TextBox 7"/>
          <p:cNvSpPr txBox="1"/>
          <p:nvPr/>
        </p:nvSpPr>
        <p:spPr>
          <a:xfrm>
            <a:off x="3859401" y="2714945"/>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작업</a:t>
            </a:r>
          </a:p>
          <a:p>
            <a:pPr algn="ctr">
              <a:lnSpc>
                <a:spcPct val="110000"/>
              </a:lnSpc>
              <a:spcAft>
                <a:spcPts val="100"/>
              </a:spcAft>
            </a:pPr>
            <a:r>
              <a:rPr sz="1100" b="0">
                <a:solidFill>
                  <a:srgbClr val="556175"/>
                </a:solidFill>
                <a:latin typeface="맑은 고딕"/>
                <a:ea typeface="맑은 고딕"/>
                <a:cs typeface="맑은 고딕"/>
              </a:rPr>
              <a:t>T_approve</a:t>
            </a:r>
          </a:p>
        </p:txBody>
      </p:sp>
      <p:sp>
        <p:nvSpPr>
          <p:cNvPr id="9" name="TextBox 8"/>
          <p:cNvSpPr txBox="1"/>
          <p:nvPr/>
        </p:nvSpPr>
        <p:spPr>
          <a:xfrm>
            <a:off x="6586774" y="181672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G_approved</a:t>
            </a:r>
          </a:p>
        </p:txBody>
      </p:sp>
      <p:sp>
        <p:nvSpPr>
          <p:cNvPr id="10" name="TextBox 9"/>
          <p:cNvSpPr txBox="1"/>
          <p:nvPr/>
        </p:nvSpPr>
        <p:spPr>
          <a:xfrm>
            <a:off x="8899587" y="2644033"/>
            <a:ext cx="185461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뒤의 첫 작업</a:t>
            </a:r>
          </a:p>
          <a:p>
            <a:pPr algn="ctr">
              <a:lnSpc>
                <a:spcPct val="110000"/>
              </a:lnSpc>
              <a:spcAft>
                <a:spcPts val="100"/>
              </a:spcAft>
            </a:pPr>
            <a:r>
              <a:rPr sz="1100" b="0">
                <a:solidFill>
                  <a:srgbClr val="556175"/>
                </a:solidFill>
                <a:latin typeface="맑은 고딕"/>
                <a:ea typeface="맑은 고딕"/>
                <a:cs typeface="맑은 고딕"/>
              </a:rPr>
              <a:t>냉각 명령 · 정비 오더 · 발주</a:t>
            </a:r>
          </a:p>
        </p:txBody>
      </p:sp>
      <p:sp>
        <p:nvSpPr>
          <p:cNvPr id="11" name="TextBox 10"/>
          <p:cNvSpPr txBox="1"/>
          <p:nvPr/>
        </p:nvSpPr>
        <p:spPr>
          <a:xfrm>
            <a:off x="8114104" y="5007757"/>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a:p>
            <a:pPr algn="ctr">
              <a:lnSpc>
                <a:spcPct val="110000"/>
              </a:lnSpc>
              <a:spcAft>
                <a:spcPts val="100"/>
              </a:spcAft>
            </a:pPr>
            <a:r>
              <a:rPr sz="1100" b="0">
                <a:solidFill>
                  <a:srgbClr val="556175"/>
                </a:solidFill>
                <a:latin typeface="맑은 고딕"/>
                <a:ea typeface="맑은 고딕"/>
                <a:cs typeface="맑은 고딕"/>
              </a:rPr>
              <a:t>R_rejected</a:t>
            </a:r>
          </a:p>
        </p:txBody>
      </p:sp>
      <p:sp>
        <p:nvSpPr>
          <p:cNvPr id="12" name="TextBox 11"/>
          <p:cNvSpPr txBox="1"/>
          <p:nvPr/>
        </p:nvSpPr>
        <p:spPr>
          <a:xfrm>
            <a:off x="2659356" y="5007757"/>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a:p>
            <a:pPr algn="ctr">
              <a:lnSpc>
                <a:spcPct val="110000"/>
              </a:lnSpc>
              <a:spcAft>
                <a:spcPts val="100"/>
              </a:spcAft>
            </a:pPr>
            <a:r>
              <a:rPr sz="1100" b="0">
                <a:solidFill>
                  <a:srgbClr val="556175"/>
                </a:solidFill>
                <a:latin typeface="맑은 고딕"/>
                <a:ea typeface="맑은 고딕"/>
                <a:cs typeface="맑은 고딕"/>
              </a:rPr>
              <a:t>T_notice</a:t>
            </a:r>
          </a:p>
        </p:txBody>
      </p:sp>
      <p:sp>
        <p:nvSpPr>
          <p:cNvPr id="13" name="TextBox 12"/>
          <p:cNvSpPr txBox="1"/>
          <p:nvPr/>
        </p:nvSpPr>
        <p:spPr>
          <a:xfrm>
            <a:off x="5419458" y="3754983"/>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a:p>
            <a:pPr algn="ctr">
              <a:lnSpc>
                <a:spcPct val="110000"/>
              </a:lnSpc>
              <a:spcAft>
                <a:spcPts val="100"/>
              </a:spcAft>
            </a:pPr>
            <a:r>
              <a:rPr sz="1100" b="0">
                <a:solidFill>
                  <a:srgbClr val="556175"/>
                </a:solidFill>
                <a:latin typeface="맑은 고딕"/>
                <a:ea typeface="맑은 고딕"/>
                <a:cs typeface="맑은 고딕"/>
              </a:rPr>
              <a:t>B_overdue · 10분</a:t>
            </a:r>
          </a:p>
        </p:txBody>
      </p:sp>
      <p:sp>
        <p:nvSpPr>
          <p:cNvPr id="14" name="TextBox 13"/>
          <p:cNvSpPr txBox="1"/>
          <p:nvPr/>
        </p:nvSpPr>
        <p:spPr>
          <a:xfrm>
            <a:off x="7732271" y="264403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350439" y="3093140"/>
            <a:ext cx="163642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approval == '승인'</a:t>
            </a:r>
          </a:p>
        </p:txBody>
      </p:sp>
      <p:sp>
        <p:nvSpPr>
          <p:cNvPr id="16" name="TextBox 15"/>
          <p:cNvSpPr txBox="1"/>
          <p:nvPr/>
        </p:nvSpPr>
        <p:spPr>
          <a:xfrm>
            <a:off x="7077702" y="4227728"/>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a:t>
            </a:r>
          </a:p>
        </p:txBody>
      </p:sp>
      <p:sp>
        <p:nvSpPr>
          <p:cNvPr id="17" name="TextBox 16"/>
          <p:cNvSpPr txBox="1"/>
          <p:nvPr/>
        </p:nvSpPr>
        <p:spPr>
          <a:xfrm>
            <a:off x="10405098" y="5598688"/>
            <a:ext cx="109094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a:p>
            <a:pPr algn="ctr">
              <a:lnSpc>
                <a:spcPct val="110000"/>
              </a:lnSpc>
              <a:spcAft>
                <a:spcPts val="100"/>
              </a:spcAft>
            </a:pPr>
            <a:r>
              <a:rPr sz="1100" b="0">
                <a:solidFill>
                  <a:srgbClr val="556175"/>
                </a:solidFill>
                <a:latin typeface="맑은 고딕"/>
                <a:ea typeface="맑은 고딕"/>
                <a:cs typeface="맑은 고딕"/>
              </a:rPr>
              <a:t>E_rejected</a:t>
            </a:r>
          </a:p>
        </p:txBody>
      </p:sp>
      <p:sp>
        <p:nvSpPr>
          <p:cNvPr id="18" name="TextBox 17"/>
          <p:cNvSpPr txBox="1"/>
          <p:nvPr/>
        </p:nvSpPr>
        <p:spPr>
          <a:xfrm>
            <a:off x="935656" y="5598688"/>
            <a:ext cx="87275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a:p>
            <a:pPr algn="ctr">
              <a:lnSpc>
                <a:spcPct val="110000"/>
              </a:lnSpc>
              <a:spcAft>
                <a:spcPts val="100"/>
              </a:spcAft>
            </a:pPr>
            <a:r>
              <a:rPr sz="1100" b="0">
                <a:solidFill>
                  <a:srgbClr val="556175"/>
                </a:solidFill>
                <a:latin typeface="맑은 고딕"/>
                <a:ea typeface="맑은 고딕"/>
                <a:cs typeface="맑은 고딕"/>
              </a:rPr>
              <a:t>E_notice</a:t>
            </a:r>
          </a:p>
        </p:txBody>
      </p:sp>
      <p:sp>
        <p:nvSpPr>
          <p:cNvPr id="19" name="TextBox 18"/>
          <p:cNvSpPr txBox="1"/>
          <p:nvPr/>
        </p:nvSpPr>
        <p:spPr>
          <a:xfrm>
            <a:off x="2932094" y="1627632"/>
            <a:ext cx="327284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역할</a:t>
            </a:r>
          </a:p>
          <a:p>
            <a:pPr algn="ctr">
              <a:lnSpc>
                <a:spcPct val="110000"/>
              </a:lnSpc>
              <a:spcAft>
                <a:spcPts val="100"/>
              </a:spcAft>
            </a:pPr>
            <a:r>
              <a:rPr sz="1100" b="0">
                <a:solidFill>
                  <a:srgbClr val="556175"/>
                </a:solidFill>
                <a:latin typeface="맑은 고딕"/>
                <a:ea typeface="맑은 고딕"/>
                <a:cs typeface="맑은 고딕"/>
              </a:rPr>
              <a:t>운전원 · 설비보전팀장 · 구매 담당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 프로세스는 승인 블록을 그대로 쓰고, 시작 이벤트와 제안 작업과 승인 뒤의 작업 둘만 새로 그린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흐름_정기점검.svg" descr="illust_6722734069720143242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점검 요청</a:t>
            </a:r>
          </a:p>
        </p:txBody>
      </p:sp>
      <p:sp>
        <p:nvSpPr>
          <p:cNvPr id="11" name="TextBox 10"/>
          <p:cNvSpPr txBox="1"/>
          <p:nvPr/>
        </p:nvSpPr>
        <p:spPr>
          <a:xfrm>
            <a:off x="2282979" y="3022229"/>
            <a:ext cx="135277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계획 제안</a:t>
            </a:r>
          </a:p>
        </p:txBody>
      </p:sp>
      <p:sp>
        <p:nvSpPr>
          <p:cNvPr id="12" name="TextBox 11"/>
          <p:cNvSpPr txBox="1"/>
          <p:nvPr/>
        </p:nvSpPr>
        <p:spPr>
          <a:xfrm>
            <a:off x="3444840" y="1840367"/>
            <a:ext cx="133095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 · 공지 메일</a:t>
            </a:r>
          </a:p>
        </p:txBody>
      </p:sp>
      <p:sp>
        <p:nvSpPr>
          <p:cNvPr id="16" name="TextBox 15"/>
          <p:cNvSpPr txBox="1"/>
          <p:nvPr/>
        </p:nvSpPr>
        <p:spPr>
          <a:xfrm>
            <a:off x="7088611"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9455972" y="3825895"/>
            <a:ext cx="54547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20" name="TextBox 19"/>
          <p:cNvSpPr txBox="1"/>
          <p:nvPr/>
        </p:nvSpPr>
        <p:spPr>
          <a:xfrm>
            <a:off x="6204942" y="5882335"/>
            <a:ext cx="98185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21" name="TextBox 20"/>
          <p:cNvSpPr txBox="1"/>
          <p:nvPr/>
        </p:nvSpPr>
        <p:spPr>
          <a:xfrm>
            <a:off x="3510297" y="5882335"/>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
        <p:nvSpPr>
          <p:cNvPr id="22" name="TextBox 21"/>
          <p:cNvSpPr txBox="1"/>
          <p:nvPr/>
        </p:nvSpPr>
        <p:spPr>
          <a:xfrm>
            <a:off x="7623176" y="4842296"/>
            <a:ext cx="349103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새로 그린 것</a:t>
            </a:r>
          </a:p>
          <a:p>
            <a:pPr algn="ctr">
              <a:lnSpc>
                <a:spcPct val="110000"/>
              </a:lnSpc>
              <a:spcAft>
                <a:spcPts val="100"/>
              </a:spcAft>
            </a:pPr>
            <a:r>
              <a:rPr sz="1100" b="0">
                <a:solidFill>
                  <a:srgbClr val="556175"/>
                </a:solidFill>
                <a:latin typeface="맑은 고딕"/>
                <a:ea typeface="맑은 고딕"/>
                <a:cs typeface="맑은 고딕"/>
              </a:rPr>
              <a:t>시작 이벤트, 정비 계획 제안, 정비 오더 등록 · 공지 메일, 결과 보고</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프로세스도 같은 승인 블록 뒤에 발주, 입고와 재고 반영, 결과 보고의 세 작업을 이어 작업 일곱으로 완성된다.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흐름_재고보충.svg" descr="illust_4441460548179220333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재고 보충 요청</a:t>
            </a:r>
          </a:p>
        </p:txBody>
      </p:sp>
      <p:sp>
        <p:nvSpPr>
          <p:cNvPr id="11" name="TextBox 10"/>
          <p:cNvSpPr txBox="1"/>
          <p:nvPr/>
        </p:nvSpPr>
        <p:spPr>
          <a:xfrm>
            <a:off x="2282979" y="3022229"/>
            <a:ext cx="135277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발주안 제안</a:t>
            </a:r>
          </a:p>
        </p:txBody>
      </p:sp>
      <p:sp>
        <p:nvSpPr>
          <p:cNvPr id="12" name="TextBox 11"/>
          <p:cNvSpPr txBox="1"/>
          <p:nvPr/>
        </p:nvSpPr>
        <p:spPr>
          <a:xfrm>
            <a:off x="3444840" y="2015282"/>
            <a:ext cx="133095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ERP 발주 · 공급사 메일</a:t>
            </a:r>
          </a:p>
        </p:txBody>
      </p:sp>
      <p:sp>
        <p:nvSpPr>
          <p:cNvPr id="16" name="TextBox 15"/>
          <p:cNvSpPr txBox="1"/>
          <p:nvPr/>
        </p:nvSpPr>
        <p:spPr>
          <a:xfrm>
            <a:off x="6728598" y="419936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입고 · 재고 반영</a:t>
            </a:r>
          </a:p>
        </p:txBody>
      </p:sp>
      <p:sp>
        <p:nvSpPr>
          <p:cNvPr id="17" name="TextBox 16"/>
          <p:cNvSpPr txBox="1"/>
          <p:nvPr/>
        </p:nvSpPr>
        <p:spPr>
          <a:xfrm>
            <a:off x="8725035"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0645107" y="3825895"/>
            <a:ext cx="54547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9" name="TextBox 18"/>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20" name="TextBox 19"/>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21" name="TextBox 20"/>
          <p:cNvSpPr txBox="1"/>
          <p:nvPr/>
        </p:nvSpPr>
        <p:spPr>
          <a:xfrm>
            <a:off x="6204942" y="5882335"/>
            <a:ext cx="98185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22" name="TextBox 21"/>
          <p:cNvSpPr txBox="1"/>
          <p:nvPr/>
        </p:nvSpPr>
        <p:spPr>
          <a:xfrm>
            <a:off x="3510297" y="5882335"/>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거절 경로의 설계: 하지 않은 일을 밝히는 결과 보고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거절하면 처리 건은 닫혀도 점검 도래와 재고 부족은 그대로 남으므로, 거절의 결과 보고는 하지 않은 일을 밝혀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거절했을 때의 결과 보고</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닫힌 뒤의 상태</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긴급 대응</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명령은 내지 않았습니다」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조치가</a:t>
            </a:r>
          </a:p>
          <a:p>
            <a:pPr algn="l">
              <a:lnSpc>
                <a:spcPct val="110000"/>
              </a:lnSpc>
            </a:pPr>
            <a:r>
              <a:rPr sz="1250" b="1">
                <a:solidFill>
                  <a:srgbClr val="556175"/>
                </a:solidFill>
                <a:latin typeface="맑은 고딕"/>
                <a:ea typeface="맑은 고딕"/>
                <a:cs typeface="맑은 고딕"/>
              </a:rPr>
              <a:t>이루어지지 않았다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점검</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「정비 오더를 내지 않았습니다」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정기 점검 도래</a:t>
            </a:r>
          </a:p>
          <a:p>
            <a:pPr algn="l">
              <a:lnSpc>
                <a:spcPct val="110000"/>
              </a:lnSpc>
            </a:pPr>
            <a:r>
              <a:rPr sz="1250" b="1">
                <a:solidFill>
                  <a:srgbClr val="556175"/>
                </a:solidFill>
                <a:latin typeface="맑은 고딕"/>
                <a:ea typeface="맑은 고딕"/>
                <a:cs typeface="맑은 고딕"/>
              </a:rPr>
              <a:t>표시가 남는다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재고 보충</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「발주하지 않았습니다」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재고 보충 필요</a:t>
            </a:r>
          </a:p>
          <a:p>
            <a:pPr algn="l">
              <a:lnSpc>
                <a:spcPct val="110000"/>
              </a:lnSpc>
            </a:pPr>
            <a:r>
              <a:rPr sz="1250" b="1">
                <a:solidFill>
                  <a:srgbClr val="1A6FC4"/>
                </a:solidFill>
                <a:latin typeface="맑은 고딕"/>
                <a:ea typeface="맑은 고딕"/>
                <a:cs typeface="맑은 고딕"/>
              </a:rPr>
              <a:t>표시가 남는다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역할 배분: 에이전트, 사람, 시스템에 맡기는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여러 정보를 저울질하는 일은 에이전트에, 책임이 따르는 결정은 사람에, 정해진 처리와 기록은 시스템에 맡긴다.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a:t>
            </a:r>
          </a:p>
          <a:p>
            <a:pPr algn="l">
              <a:lnSpc>
                <a:spcPct val="110000"/>
              </a:lnSpc>
              <a:spcAft>
                <a:spcPts val="400"/>
              </a:spcAft>
            </a:pPr>
            <a:r>
              <a:rPr sz="1350" b="0">
                <a:solidFill>
                  <a:srgbClr val="1F2A3A"/>
                </a:solidFill>
                <a:latin typeface="맑은 고딕"/>
                <a:ea typeface="맑은 고딕"/>
                <a:cs typeface="맑은 고딕"/>
              </a:rPr>
              <a:t>• 지식과 현재 값을 읽어 후보를 견준다</a:t>
            </a:r>
          </a:p>
          <a:p>
            <a:pPr algn="l">
              <a:lnSpc>
                <a:spcPct val="110000"/>
              </a:lnSpc>
              <a:spcAft>
                <a:spcPts val="400"/>
              </a:spcAft>
            </a:pPr>
            <a:r>
              <a:rPr sz="1350" b="0">
                <a:solidFill>
                  <a:srgbClr val="1F2A3A"/>
                </a:solidFill>
                <a:latin typeface="맑은 고딕"/>
                <a:ea typeface="맑은 고딕"/>
                <a:cs typeface="맑은 고딕"/>
              </a:rPr>
              <a:t>• 예: 정비할 시점, 발주 수량과 공급사</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제안</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a:t>
            </a:r>
          </a:p>
          <a:p>
            <a:pPr algn="l">
              <a:lnSpc>
                <a:spcPct val="110000"/>
              </a:lnSpc>
              <a:spcAft>
                <a:spcPts val="400"/>
              </a:spcAft>
            </a:pPr>
            <a:r>
              <a:rPr sz="1350" b="0">
                <a:solidFill>
                  <a:srgbClr val="1F2A3A"/>
                </a:solidFill>
                <a:latin typeface="맑은 고딕"/>
                <a:ea typeface="맑은 고딕"/>
                <a:cs typeface="맑은 고딕"/>
              </a:rPr>
              <a:t>• 제안을 검토해 승인하거나 거절한다</a:t>
            </a:r>
          </a:p>
          <a:p>
            <a:pPr algn="l">
              <a:lnSpc>
                <a:spcPct val="110000"/>
              </a:lnSpc>
              <a:spcAft>
                <a:spcPts val="400"/>
              </a:spcAft>
            </a:pPr>
            <a:r>
              <a:rPr sz="1350" b="0">
                <a:solidFill>
                  <a:srgbClr val="1F2A3A"/>
                </a:solidFill>
                <a:latin typeface="맑은 고딕"/>
                <a:ea typeface="맑은 고딕"/>
                <a:cs typeface="맑은 고딕"/>
              </a:rPr>
              <a:t>• 예: 설비보전팀장, 구매 담당</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시스템</a:t>
            </a:r>
          </a:p>
          <a:p>
            <a:pPr algn="l">
              <a:lnSpc>
                <a:spcPct val="110000"/>
              </a:lnSpc>
              <a:spcAft>
                <a:spcPts val="400"/>
              </a:spcAft>
            </a:pPr>
            <a:r>
              <a:rPr sz="1350" b="0">
                <a:solidFill>
                  <a:srgbClr val="1F2A3A"/>
                </a:solidFill>
                <a:latin typeface="맑은 고딕"/>
                <a:ea typeface="맑은 고딕"/>
                <a:cs typeface="맑은 고딕"/>
              </a:rPr>
              <a:t>• 승인된 내용을 정해진 대로 실행한다</a:t>
            </a:r>
          </a:p>
          <a:p>
            <a:pPr algn="l">
              <a:lnSpc>
                <a:spcPct val="110000"/>
              </a:lnSpc>
              <a:spcAft>
                <a:spcPts val="400"/>
              </a:spcAft>
            </a:pPr>
            <a:r>
              <a:rPr sz="1350" b="0">
                <a:solidFill>
                  <a:srgbClr val="1F2A3A"/>
                </a:solidFill>
                <a:latin typeface="맑은 고딕"/>
                <a:ea typeface="맑은 고딕"/>
                <a:cs typeface="맑은 고딕"/>
              </a:rPr>
              <a:t>• 예: 정비 오더 등록, 발주, 입고 확인</a:t>
            </a:r>
          </a:p>
        </p:txBody>
      </p:sp>
      <p:sp>
        <p:nvSpPr>
          <p:cNvPr id="22" name="Rounded Rectangle 21"/>
          <p:cNvSpPr/>
          <p:nvPr/>
        </p:nvSpPr>
        <p:spPr>
          <a:xfrm>
            <a:off x="6461607" y="5134356"/>
            <a:ext cx="12191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 기록</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배치의 원칙</a:t>
            </a:r>
          </a:p>
          <a:p>
            <a:pPr algn="l">
              <a:lnSpc>
                <a:spcPct val="110000"/>
              </a:lnSpc>
              <a:spcAft>
                <a:spcPts val="400"/>
              </a:spcAft>
            </a:pPr>
            <a:r>
              <a:rPr sz="1350" b="0">
                <a:solidFill>
                  <a:srgbClr val="1F2A3A"/>
                </a:solidFill>
                <a:latin typeface="맑은 고딕"/>
                <a:ea typeface="맑은 고딕"/>
                <a:cs typeface="맑은 고딕"/>
              </a:rPr>
              <a:t>설비와 업무에 효과를 내는 작업은 승인의 갈림 뒤에 둔다</a:t>
            </a:r>
          </a:p>
        </p:txBody>
      </p:sp>
      <p:sp>
        <p:nvSpPr>
          <p:cNvPr id="28" name="Rounded Rectangle 27"/>
          <p:cNvSpPr/>
          <p:nvPr/>
        </p:nvSpPr>
        <p:spPr>
          <a:xfrm>
            <a:off x="9303791" y="5134356"/>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뒤 실행</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정기 점검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정기 점검 도래에서 정비 오더와 공지까지의 흐름을 bpmn.io로 그린다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승인 블록을 다시 쓴 정기 점검 프로세스의 BPMN 파일 하나가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시작과 제안</a:t>
            </a:r>
          </a:p>
          <a:p>
            <a:pPr algn="l">
              <a:lnSpc>
                <a:spcPct val="110000"/>
              </a:lnSpc>
              <a:spcAft>
                <a:spcPts val="400"/>
              </a:spcAft>
            </a:pPr>
            <a:r>
              <a:rPr sz="1350" b="0">
                <a:solidFill>
                  <a:srgbClr val="1F2A3A"/>
                </a:solidFill>
                <a:latin typeface="맑은 고딕"/>
                <a:ea typeface="맑은 고딕"/>
                <a:cs typeface="맑은 고딕"/>
              </a:rPr>
              <a:t>정기 점검 도래로 시작해 정비 계획 에이전트의 제안 작업으로 잇는다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블록</a:t>
            </a:r>
          </a:p>
          <a:p>
            <a:pPr algn="l">
              <a:lnSpc>
                <a:spcPct val="110000"/>
              </a:lnSpc>
              <a:spcAft>
                <a:spcPts val="400"/>
              </a:spcAft>
            </a:pPr>
            <a:r>
              <a:rPr sz="1350" b="0">
                <a:solidFill>
                  <a:srgbClr val="1F2A3A"/>
                </a:solidFill>
                <a:latin typeface="맑은 고딕"/>
                <a:ea typeface="맑은 고딕"/>
                <a:cs typeface="맑은 고딕"/>
              </a:rPr>
              <a:t>설비보전팀장의 승인과 거절, 승인 지연 타이머를 8회차의 그림과 같은 모양으로 놓는다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쓴다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뒤의 작업</a:t>
            </a:r>
          </a:p>
          <a:p>
            <a:pPr algn="l">
              <a:lnSpc>
                <a:spcPct val="110000"/>
              </a:lnSpc>
              <a:spcAft>
                <a:spcPts val="400"/>
              </a:spcAft>
            </a:pPr>
            <a:r>
              <a:rPr sz="1350" b="0">
                <a:solidFill>
                  <a:srgbClr val="1F2A3A"/>
                </a:solidFill>
                <a:latin typeface="맑은 고딕"/>
                <a:ea typeface="맑은 고딕"/>
                <a:cs typeface="맑은 고딕"/>
              </a:rPr>
              <a:t>CMMS 정비 오더, 생산팀 공지, 결과 보고를 시스템 레인에 놓는다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350" b="0">
                <a:solidFill>
                  <a:srgbClr val="1F2A3A"/>
                </a:solidFill>
                <a:latin typeface="맑은 고딕"/>
                <a:ea typeface="맑은 고딕"/>
                <a:cs typeface="맑은 고딕"/>
              </a:rPr>
              <a:t>작업 여섯, 게이트웨이 하나, 끝 이벤트 셋을 갖춘 BPMN 파일</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정기 점검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정비 계획 에이전트와 CMMS에 연결해 배포하고 실행한다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 연결하는 것과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배포한 프로세스로 열린 처리 건에 정비 오더와 생산팀 공지와 종료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연결</a:t>
            </a:r>
          </a:p>
          <a:p>
            <a:pPr algn="ctr">
              <a:lnSpc>
                <a:spcPct val="110000"/>
              </a:lnSpc>
              <a:spcAft>
                <a:spcPts val="400"/>
              </a:spcAft>
            </a:pPr>
            <a:r>
              <a:rPr sz="1350" b="0">
                <a:solidFill>
                  <a:srgbClr val="1F2A3A"/>
                </a:solidFill>
                <a:latin typeface="맑은 고딕"/>
                <a:ea typeface="맑은 고딕"/>
                <a:cs typeface="맑은 고딕"/>
              </a:rPr>
              <a:t>경보 패턴 PM_DUE,</a:t>
            </a:r>
          </a:p>
          <a:p>
            <a:pPr algn="ctr">
              <a:lnSpc>
                <a:spcPct val="110000"/>
              </a:lnSpc>
              <a:spcAft>
                <a:spcPts val="400"/>
              </a:spcAft>
            </a:pPr>
            <a:r>
              <a:rPr sz="1350" b="0">
                <a:solidFill>
                  <a:srgbClr val="1F2A3A"/>
                </a:solidFill>
                <a:latin typeface="맑은 고딕"/>
                <a:ea typeface="맑은 고딕"/>
                <a:cs typeface="맑은 고딕"/>
              </a:rPr>
              <a:t>정비 계획 에이전트,</a:t>
            </a:r>
          </a:p>
          <a:p>
            <a:pPr algn="ctr">
              <a:lnSpc>
                <a:spcPct val="110000"/>
              </a:lnSpc>
              <a:spcAft>
                <a:spcPts val="400"/>
              </a:spcAft>
            </a:pPr>
            <a:r>
              <a:rPr sz="1350" b="0">
                <a:solidFill>
                  <a:srgbClr val="1F2A3A"/>
                </a:solidFill>
                <a:latin typeface="맑은 고딕"/>
                <a:ea typeface="맑은 고딕"/>
                <a:cs typeface="맑은 고딕"/>
              </a:rPr>
              <a:t>설비보전팀장 역할,</a:t>
            </a:r>
          </a:p>
          <a:p>
            <a:pPr algn="ctr">
              <a:lnSpc>
                <a:spcPct val="110000"/>
              </a:lnSpc>
              <a:spcAft>
                <a:spcPts val="400"/>
              </a:spcAft>
            </a:pPr>
            <a:r>
              <a:rPr sz="1350" b="0">
                <a:solidFill>
                  <a:srgbClr val="1F2A3A"/>
                </a:solidFill>
                <a:latin typeface="맑은 고딕"/>
                <a:ea typeface="맑은 고딕"/>
                <a:cs typeface="맑은 고딕"/>
              </a:rPr>
              <a:t>CMMS와 공지 작업</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검사와 배포</a:t>
            </a:r>
          </a:p>
          <a:p>
            <a:pPr algn="ctr">
              <a:lnSpc>
                <a:spcPct val="110000"/>
              </a:lnSpc>
              <a:spcAft>
                <a:spcPts val="400"/>
              </a:spcAft>
            </a:pPr>
            <a:r>
              <a:rPr sz="1350" b="0">
                <a:solidFill>
                  <a:srgbClr val="1F2A3A"/>
                </a:solidFill>
                <a:latin typeface="맑은 고딕"/>
                <a:ea typeface="맑은 고딕"/>
                <a:cs typeface="맑은 고딕"/>
              </a:rPr>
              <a:t>사전 검사를 거쳐</a:t>
            </a:r>
          </a:p>
          <a:p>
            <a:pPr algn="ctr">
              <a:lnSpc>
                <a:spcPct val="110000"/>
              </a:lnSpc>
              <a:spcAft>
                <a:spcPts val="400"/>
              </a:spcAft>
            </a:pPr>
            <a:r>
              <a:rPr sz="1350" b="0">
                <a:solidFill>
                  <a:srgbClr val="1F2A3A"/>
                </a:solidFill>
                <a:latin typeface="맑은 고딕"/>
                <a:ea typeface="맑은 고딕"/>
                <a:cs typeface="맑은 고딕"/>
              </a:rPr>
              <a:t>등록하고 배포한다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정기 점검 도래로</a:t>
            </a:r>
          </a:p>
          <a:p>
            <a:pPr algn="ctr">
              <a:lnSpc>
                <a:spcPct val="110000"/>
              </a:lnSpc>
              <a:spcAft>
                <a:spcPts val="400"/>
              </a:spcAft>
            </a:pPr>
            <a:r>
              <a:rPr sz="1350" b="0">
                <a:solidFill>
                  <a:srgbClr val="1F2A3A"/>
                </a:solidFill>
                <a:latin typeface="맑은 고딕"/>
                <a:ea typeface="맑은 고딕"/>
                <a:cs typeface="맑은 고딕"/>
              </a:rPr>
              <a:t>처리 건이 열리고</a:t>
            </a:r>
          </a:p>
          <a:p>
            <a:pPr algn="ctr">
              <a:lnSpc>
                <a:spcPct val="110000"/>
              </a:lnSpc>
              <a:spcAft>
                <a:spcPts val="400"/>
              </a:spcAft>
            </a:pPr>
            <a:r>
              <a:rPr sz="1350" b="0">
                <a:solidFill>
                  <a:srgbClr val="1F2A3A"/>
                </a:solidFill>
                <a:latin typeface="맑은 고딕"/>
                <a:ea typeface="맑은 고딕"/>
                <a:cs typeface="맑은 고딕"/>
              </a:rPr>
              <a:t>제안이 승인을 기다린다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승인과 거절</a:t>
            </a:r>
          </a:p>
          <a:p>
            <a:pPr algn="ctr">
              <a:lnSpc>
                <a:spcPct val="110000"/>
              </a:lnSpc>
              <a:spcAft>
                <a:spcPts val="400"/>
              </a:spcAft>
            </a:pPr>
            <a:r>
              <a:rPr sz="1350" b="0">
                <a:solidFill>
                  <a:srgbClr val="1F2A3A"/>
                </a:solidFill>
                <a:latin typeface="맑은 고딕"/>
                <a:ea typeface="맑은 고딕"/>
                <a:cs typeface="맑은 고딕"/>
              </a:rPr>
              <a:t>승인하면 정비 오더와 공지,</a:t>
            </a:r>
          </a:p>
          <a:p>
            <a:pPr algn="ctr">
              <a:lnSpc>
                <a:spcPct val="110000"/>
              </a:lnSpc>
              <a:spcAft>
                <a:spcPts val="400"/>
              </a:spcAft>
            </a:pPr>
            <a:r>
              <a:rPr sz="1350" b="0">
                <a:solidFill>
                  <a:srgbClr val="1F2A3A"/>
                </a:solidFill>
                <a:latin typeface="맑은 고딕"/>
                <a:ea typeface="맑은 고딕"/>
                <a:cs typeface="맑은 고딕"/>
              </a:rPr>
              <a:t>거절하면 정비 오더 없이</a:t>
            </a:r>
          </a:p>
          <a:p>
            <a:pPr algn="ctr">
              <a:lnSpc>
                <a:spcPct val="110000"/>
              </a:lnSpc>
              <a:spcAft>
                <a:spcPts val="400"/>
              </a:spcAft>
            </a:pPr>
            <a:r>
              <a:rPr sz="1350" b="0">
                <a:solidFill>
                  <a:srgbClr val="1F2A3A"/>
                </a:solidFill>
                <a:latin typeface="맑은 고딕"/>
                <a:ea typeface="맑은 고딕"/>
                <a:cs typeface="맑은 고딕"/>
              </a:rPr>
              <a:t>거절 종결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재고 보충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재고 부족에서 발주와 입고까지의 흐름을 bpmn.io로 그린다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발주에서 입고와 재고 반영까지를 승인 뒤에 이은 재고 보충 프로세스의 BPMN 파일이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시작과 제안</a:t>
            </a:r>
          </a:p>
          <a:p>
            <a:pPr algn="l">
              <a:lnSpc>
                <a:spcPct val="110000"/>
              </a:lnSpc>
              <a:spcAft>
                <a:spcPts val="400"/>
              </a:spcAft>
            </a:pPr>
            <a:r>
              <a:rPr sz="1350" b="0">
                <a:solidFill>
                  <a:srgbClr val="1F2A3A"/>
                </a:solidFill>
                <a:latin typeface="맑은 고딕"/>
                <a:ea typeface="맑은 고딕"/>
                <a:cs typeface="맑은 고딕"/>
              </a:rPr>
              <a:t>재고 부족으로 시작해 구매 에이전트가 수량과 공급사를 제안하는 작업으로 잇는다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블록</a:t>
            </a:r>
          </a:p>
          <a:p>
            <a:pPr algn="l">
              <a:lnSpc>
                <a:spcPct val="110000"/>
              </a:lnSpc>
              <a:spcAft>
                <a:spcPts val="400"/>
              </a:spcAft>
            </a:pPr>
            <a:r>
              <a:rPr sz="1350" b="0">
                <a:solidFill>
                  <a:srgbClr val="1F2A3A"/>
                </a:solidFill>
                <a:latin typeface="맑은 고딕"/>
                <a:ea typeface="맑은 고딕"/>
                <a:cs typeface="맑은 고딕"/>
              </a:rPr>
              <a:t>구매 담당의 승인과 거절, 승인 지연 타이머를 같은 모양으로 놓는다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쓴다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뒤의 작업</a:t>
            </a:r>
          </a:p>
          <a:p>
            <a:pPr algn="l">
              <a:lnSpc>
                <a:spcPct val="110000"/>
              </a:lnSpc>
              <a:spcAft>
                <a:spcPts val="400"/>
              </a:spcAft>
            </a:pPr>
            <a:r>
              <a:rPr sz="1350" b="0">
                <a:solidFill>
                  <a:srgbClr val="1F2A3A"/>
                </a:solidFill>
                <a:latin typeface="맑은 고딕"/>
                <a:ea typeface="맑은 고딕"/>
                <a:cs typeface="맑은 고딕"/>
              </a:rPr>
              <a:t>ERP 발주, 공급사 통지, 입고와 재고 반영, 결과 보고를 차례로 잇는다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350" b="0">
                <a:solidFill>
                  <a:srgbClr val="1F2A3A"/>
                </a:solidFill>
                <a:latin typeface="맑은 고딕"/>
                <a:ea typeface="맑은 고딕"/>
                <a:cs typeface="맑은 고딕"/>
              </a:rPr>
              <a:t>작업 일곱, 게이트웨이 하나, 끝 이벤트 셋을 갖춘 BPMN 파일</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재고 보충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구매 에이전트와 ERP에 연결해 배포하고 실행한다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 연결하는 것과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발주와 입고가 처리되어 가용 재고가 재주문점 위로 올라간 처리 건과 그 종료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연결</a:t>
            </a:r>
          </a:p>
          <a:p>
            <a:pPr algn="ctr">
              <a:lnSpc>
                <a:spcPct val="110000"/>
              </a:lnSpc>
              <a:spcAft>
                <a:spcPts val="400"/>
              </a:spcAft>
            </a:pPr>
            <a:r>
              <a:rPr sz="1250" b="0">
                <a:solidFill>
                  <a:srgbClr val="1F2A3A"/>
                </a:solidFill>
                <a:latin typeface="맑은 고딕"/>
                <a:ea typeface="맑은 고딕"/>
                <a:cs typeface="맑은 고딕"/>
              </a:rPr>
              <a:t>경보 패턴</a:t>
            </a:r>
          </a:p>
          <a:p>
            <a:pPr algn="ctr">
              <a:lnSpc>
                <a:spcPct val="110000"/>
              </a:lnSpc>
              <a:spcAft>
                <a:spcPts val="400"/>
              </a:spcAft>
            </a:pPr>
            <a:r>
              <a:rPr sz="1250" b="0">
                <a:solidFill>
                  <a:srgbClr val="1F2A3A"/>
                </a:solidFill>
                <a:latin typeface="맑은 고딕"/>
                <a:ea typeface="맑은 고딕"/>
                <a:cs typeface="맑은 고딕"/>
              </a:rPr>
              <a:t>SPARE_BELOW_MIN,</a:t>
            </a:r>
          </a:p>
          <a:p>
            <a:pPr algn="ctr">
              <a:lnSpc>
                <a:spcPct val="110000"/>
              </a:lnSpc>
              <a:spcAft>
                <a:spcPts val="400"/>
              </a:spcAft>
            </a:pPr>
            <a:r>
              <a:rPr sz="1250" b="0">
                <a:solidFill>
                  <a:srgbClr val="1F2A3A"/>
                </a:solidFill>
                <a:latin typeface="맑은 고딕"/>
                <a:ea typeface="맑은 고딕"/>
                <a:cs typeface="맑은 고딕"/>
              </a:rPr>
              <a:t>구매 에이전트,</a:t>
            </a:r>
          </a:p>
          <a:p>
            <a:pPr algn="ctr">
              <a:lnSpc>
                <a:spcPct val="110000"/>
              </a:lnSpc>
              <a:spcAft>
                <a:spcPts val="400"/>
              </a:spcAft>
            </a:pPr>
            <a:r>
              <a:rPr sz="1250" b="0">
                <a:solidFill>
                  <a:srgbClr val="1F2A3A"/>
                </a:solidFill>
                <a:latin typeface="맑은 고딕"/>
                <a:ea typeface="맑은 고딕"/>
                <a:cs typeface="맑은 고딕"/>
              </a:rPr>
              <a:t>구매 담당 역할</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검사와 배포</a:t>
            </a:r>
          </a:p>
          <a:p>
            <a:pPr algn="ctr">
              <a:lnSpc>
                <a:spcPct val="110000"/>
              </a:lnSpc>
              <a:spcAft>
                <a:spcPts val="400"/>
              </a:spcAft>
            </a:pPr>
            <a:r>
              <a:rPr sz="1250" b="0">
                <a:solidFill>
                  <a:srgbClr val="1F2A3A"/>
                </a:solidFill>
                <a:latin typeface="맑은 고딕"/>
                <a:ea typeface="맑은 고딕"/>
                <a:cs typeface="맑은 고딕"/>
              </a:rPr>
              <a:t>사전 검사를 거쳐</a:t>
            </a:r>
          </a:p>
          <a:p>
            <a:pPr algn="ctr">
              <a:lnSpc>
                <a:spcPct val="110000"/>
              </a:lnSpc>
              <a:spcAft>
                <a:spcPts val="400"/>
              </a:spcAft>
            </a:pPr>
            <a:r>
              <a:rPr sz="1250" b="0">
                <a:solidFill>
                  <a:srgbClr val="1F2A3A"/>
                </a:solidFill>
                <a:latin typeface="맑은 고딕"/>
                <a:ea typeface="맑은 고딕"/>
                <a:cs typeface="맑은 고딕"/>
              </a:rPr>
              <a:t>등록하고 배포한다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a:t>
            </a:r>
          </a:p>
          <a:p>
            <a:pPr algn="ctr">
              <a:lnSpc>
                <a:spcPct val="110000"/>
              </a:lnSpc>
              <a:spcAft>
                <a:spcPts val="400"/>
              </a:spcAft>
            </a:pPr>
            <a:r>
              <a:rPr sz="1250" b="0">
                <a:solidFill>
                  <a:srgbClr val="1F2A3A"/>
                </a:solidFill>
                <a:latin typeface="맑은 고딕"/>
                <a:ea typeface="맑은 고딕"/>
                <a:cs typeface="맑은 고딕"/>
              </a:rPr>
              <a:t>재고 부족으로</a:t>
            </a:r>
          </a:p>
          <a:p>
            <a:pPr algn="ctr">
              <a:lnSpc>
                <a:spcPct val="110000"/>
              </a:lnSpc>
              <a:spcAft>
                <a:spcPts val="400"/>
              </a:spcAft>
            </a:pPr>
            <a:r>
              <a:rPr sz="1250" b="0">
                <a:solidFill>
                  <a:srgbClr val="1F2A3A"/>
                </a:solidFill>
                <a:latin typeface="맑은 고딕"/>
                <a:ea typeface="맑은 고딕"/>
                <a:cs typeface="맑은 고딕"/>
              </a:rPr>
              <a:t>처리 건이 열리고</a:t>
            </a:r>
          </a:p>
          <a:p>
            <a:pPr algn="ctr">
              <a:lnSpc>
                <a:spcPct val="110000"/>
              </a:lnSpc>
              <a:spcAft>
                <a:spcPts val="400"/>
              </a:spcAft>
            </a:pPr>
            <a:r>
              <a:rPr sz="1250" b="0">
                <a:solidFill>
                  <a:srgbClr val="1F2A3A"/>
                </a:solidFill>
                <a:latin typeface="맑은 고딕"/>
                <a:ea typeface="맑은 고딕"/>
                <a:cs typeface="맑은 고딕"/>
              </a:rPr>
              <a:t>발주안이 승인을 기다린다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package" descr="package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 뒤</a:t>
            </a:r>
          </a:p>
          <a:p>
            <a:pPr algn="ctr">
              <a:lnSpc>
                <a:spcPct val="110000"/>
              </a:lnSpc>
              <a:spcAft>
                <a:spcPts val="400"/>
              </a:spcAft>
            </a:pPr>
            <a:r>
              <a:rPr sz="1250" b="0">
                <a:solidFill>
                  <a:srgbClr val="1F2A3A"/>
                </a:solidFill>
                <a:latin typeface="맑은 고딕"/>
                <a:ea typeface="맑은 고딕"/>
                <a:cs typeface="맑은 고딕"/>
              </a:rPr>
              <a:t>ERP 발주,</a:t>
            </a:r>
          </a:p>
          <a:p>
            <a:pPr algn="ctr">
              <a:lnSpc>
                <a:spcPct val="110000"/>
              </a:lnSpc>
              <a:spcAft>
                <a:spcPts val="400"/>
              </a:spcAft>
            </a:pPr>
            <a:r>
              <a:rPr sz="1250" b="0">
                <a:solidFill>
                  <a:srgbClr val="1F2A3A"/>
                </a:solidFill>
                <a:latin typeface="맑은 고딕"/>
                <a:ea typeface="맑은 고딕"/>
                <a:cs typeface="맑은 고딕"/>
              </a:rPr>
              <a:t>공급사 통지,</a:t>
            </a:r>
          </a:p>
          <a:p>
            <a:pPr algn="ctr">
              <a:lnSpc>
                <a:spcPct val="110000"/>
              </a:lnSpc>
              <a:spcAft>
                <a:spcPts val="400"/>
              </a:spcAft>
            </a:pPr>
            <a:r>
              <a:rPr sz="1250" b="0">
                <a:solidFill>
                  <a:srgbClr val="1F2A3A"/>
                </a:solidFill>
                <a:latin typeface="맑은 고딕"/>
                <a:ea typeface="맑은 고딕"/>
                <a:cs typeface="맑은 고딕"/>
              </a:rPr>
              <a:t>입고와 재고 반영</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12466"/>
            <a:ext cx="731520" cy="731520"/>
          </a:xfrm>
          <a:prstGeom prst="ellipse">
            <a:avLst/>
          </a:prstGeom>
          <a:solidFill>
            <a:srgbClr val="5CB8F2"/>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종료 기록</a:t>
            </a:r>
          </a:p>
          <a:p>
            <a:pPr algn="ctr">
              <a:lnSpc>
                <a:spcPct val="110000"/>
              </a:lnSpc>
              <a:spcAft>
                <a:spcPts val="400"/>
              </a:spcAft>
            </a:pPr>
            <a:r>
              <a:rPr sz="1250" b="0">
                <a:solidFill>
                  <a:srgbClr val="1F2A3A"/>
                </a:solidFill>
                <a:latin typeface="맑은 고딕"/>
                <a:ea typeface="맑은 고딕"/>
                <a:cs typeface="맑은 고딕"/>
              </a:rPr>
              <a:t>가용 재고가</a:t>
            </a:r>
          </a:p>
          <a:p>
            <a:pPr algn="ctr">
              <a:lnSpc>
                <a:spcPct val="110000"/>
              </a:lnSpc>
              <a:spcAft>
                <a:spcPts val="400"/>
              </a:spcAft>
            </a:pPr>
            <a:r>
              <a:rPr sz="1250" b="0">
                <a:solidFill>
                  <a:srgbClr val="1F2A3A"/>
                </a:solidFill>
                <a:latin typeface="맑은 고딕"/>
                <a:ea typeface="맑은 고딕"/>
                <a:cs typeface="맑은 고딕"/>
              </a:rPr>
              <a:t>1개에서 7개로,</a:t>
            </a:r>
          </a:p>
          <a:p>
            <a:pPr algn="ctr">
              <a:lnSpc>
                <a:spcPct val="110000"/>
              </a:lnSpc>
              <a:spcAft>
                <a:spcPts val="400"/>
              </a:spcAft>
            </a:pPr>
            <a:r>
              <a:rPr sz="1250" b="0">
                <a:solidFill>
                  <a:srgbClr val="1F2A3A"/>
                </a:solidFill>
                <a:latin typeface="맑은 고딕"/>
                <a:ea typeface="맑은 고딕"/>
                <a:cs typeface="맑은 고딕"/>
              </a:rPr>
              <a:t>결과 보고: 입고 완료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AI와 사람이 함께 수행하는</a:t>
            </a:r>
          </a:p>
          <a:p>
            <a:pPr algn="l">
              <a:lnSpc>
                <a:spcPct val="110000"/>
              </a:lnSpc>
            </a:pPr>
            <a:r>
              <a:rPr sz="3400" b="1">
                <a:solidFill>
                  <a:srgbClr val="13294B"/>
                </a:solidFill>
                <a:latin typeface="맑은 고딕"/>
                <a:ea typeface="맑은 고딕"/>
                <a:cs typeface="맑은 고딕"/>
              </a:rPr>
              <a:t>업무 흐름의 정리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세 업무의 처리 건을 되짚고 지식, 에이전트, 프로세스를 잇는다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에이전트, 프로세스의 연결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온톨로지가 판단의 재료를 정하고, 에이전트가 그것을 읽어 제안하며, 프로세스가 제안을 끝난 업무로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pic>
        <p:nvPicPr>
          <p:cNvPr id="6" name="삽화:세층연결.svg" descr="illust_3582952683975048986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5267766"/>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온톨로지</a:t>
            </a:r>
          </a:p>
          <a:p>
            <a:pPr algn="ctr">
              <a:lnSpc>
                <a:spcPct val="110000"/>
              </a:lnSpc>
              <a:spcAft>
                <a:spcPts val="100"/>
              </a:spcAft>
            </a:pPr>
            <a:r>
              <a:rPr sz="1300" b="0">
                <a:solidFill>
                  <a:srgbClr val="556175"/>
                </a:solidFill>
                <a:latin typeface="맑은 고딕"/>
                <a:ea typeface="맑은 고딕"/>
                <a:cs typeface="맑은 고딕"/>
              </a:rPr>
              <a:t>원인, 증거, 조치, 규칙의 지식과 값이 놓인 자리를 정한다</a:t>
            </a:r>
          </a:p>
        </p:txBody>
      </p:sp>
      <p:sp>
        <p:nvSpPr>
          <p:cNvPr id="8" name="TextBox 7"/>
          <p:cNvSpPr txBox="1"/>
          <p:nvPr/>
        </p:nvSpPr>
        <p:spPr>
          <a:xfrm>
            <a:off x="4459423" y="5267766"/>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지식과 현재 값을 읽어 추천과 대안을 제안한다</a:t>
            </a:r>
          </a:p>
        </p:txBody>
      </p:sp>
      <p:sp>
        <p:nvSpPr>
          <p:cNvPr id="9" name="TextBox 8"/>
          <p:cNvSpPr txBox="1"/>
          <p:nvPr/>
        </p:nvSpPr>
        <p:spPr>
          <a:xfrm>
            <a:off x="7704998" y="5267766"/>
            <a:ext cx="360013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a:t>
            </a:r>
          </a:p>
          <a:p>
            <a:pPr algn="ctr">
              <a:lnSpc>
                <a:spcPct val="110000"/>
              </a:lnSpc>
              <a:spcAft>
                <a:spcPts val="100"/>
              </a:spcAft>
            </a:pPr>
            <a:r>
              <a:rPr sz="1300" b="0">
                <a:solidFill>
                  <a:srgbClr val="556175"/>
                </a:solidFill>
                <a:latin typeface="맑은 고딕"/>
                <a:ea typeface="맑은 고딕"/>
                <a:cs typeface="맑은 고딕"/>
              </a:rPr>
              <a:t>제안을 순서, 책임, 승인, 실행, 기록으로 완결한다</a:t>
            </a:r>
          </a:p>
        </p:txBody>
      </p:sp>
      <p:sp>
        <p:nvSpPr>
          <p:cNvPr id="10" name="TextBox 9"/>
          <p:cNvSpPr txBox="1"/>
          <p:nvPr/>
        </p:nvSpPr>
        <p:spPr>
          <a:xfrm>
            <a:off x="1650228"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1~4회차</a:t>
            </a:r>
          </a:p>
        </p:txBody>
      </p:sp>
      <p:sp>
        <p:nvSpPr>
          <p:cNvPr id="11" name="TextBox 10"/>
          <p:cNvSpPr txBox="1"/>
          <p:nvPr/>
        </p:nvSpPr>
        <p:spPr>
          <a:xfrm>
            <a:off x="5059445"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5~7회차</a:t>
            </a:r>
          </a:p>
        </p:txBody>
      </p:sp>
      <p:sp>
        <p:nvSpPr>
          <p:cNvPr id="12" name="TextBox 11"/>
          <p:cNvSpPr txBox="1"/>
          <p:nvPr/>
        </p:nvSpPr>
        <p:spPr>
          <a:xfrm>
            <a:off x="8741400"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8~10회차</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에이전트가 읽는 곳: 같은 지식과 다른 업무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에이전트는 모두 지식 그래프와 판단 규칙을 읽고, 업무 데이터만 업무에 따라 서로 다른 곳을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에이전트</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함께 읽는 것</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따로 읽는 업무 데이터</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긴급 대응 에이전트</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enterprise</a:t>
            </a:r>
          </a:p>
          <a:p>
            <a:pPr algn="l">
              <a:lnSpc>
                <a:spcPct val="110000"/>
              </a:lnSpc>
            </a:pPr>
            <a:r>
              <a:rPr sz="1250" b="1">
                <a:solidFill>
                  <a:srgbClr val="556175"/>
                </a:solidFill>
                <a:latin typeface="맑은 고딕"/>
                <a:ea typeface="맑은 고딕"/>
                <a:cs typeface="맑은 고딕"/>
              </a:rPr>
              <a:t>생산 오더, 품질 로트</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정비 계획 에이전트</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enterprise-maint</a:t>
            </a:r>
          </a:p>
          <a:p>
            <a:pPr algn="l">
              <a:lnSpc>
                <a:spcPct val="110000"/>
              </a:lnSpc>
            </a:pPr>
            <a:r>
              <a:rPr sz="1250" b="1">
                <a:solidFill>
                  <a:srgbClr val="556175"/>
                </a:solidFill>
                <a:latin typeface="맑은 고딕"/>
                <a:ea typeface="맑은 고딕"/>
                <a:cs typeface="맑은 고딕"/>
              </a:rPr>
              <a:t>정비 업무의 데이터</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예비품 구매 에이전트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enterprise-purchase</a:t>
            </a:r>
          </a:p>
          <a:p>
            <a:pPr algn="l">
              <a:lnSpc>
                <a:spcPct val="110000"/>
              </a:lnSpc>
            </a:pPr>
            <a:r>
              <a:rPr sz="1250" b="1">
                <a:solidFill>
                  <a:srgbClr val="1A6FC4"/>
                </a:solidFill>
                <a:latin typeface="맑은 고딕"/>
                <a:ea typeface="맑은 고딕"/>
                <a:cs typeface="맑은 고딕"/>
              </a:rPr>
              <a:t>구매 업무의 데이터</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한 줄이 끝난 업무가 되기까지: 팬 최대 운전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 SOP-COOL-11은 에이전트의 추천, 운전원의 승인, 팬 명령을 거쳐 유온 51.3 ℃라는 결과가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지식</a:t>
            </a:r>
          </a:p>
          <a:p>
            <a:pPr algn="ctr">
              <a:lnSpc>
                <a:spcPct val="110000"/>
              </a:lnSpc>
              <a:spcAft>
                <a:spcPts val="400"/>
              </a:spcAft>
            </a:pPr>
            <a:r>
              <a:rPr sz="1250" b="0">
                <a:solidFill>
                  <a:srgbClr val="1F2A3A"/>
                </a:solidFill>
                <a:latin typeface="맑은 고딕"/>
                <a:ea typeface="맑은 고딕"/>
                <a:cs typeface="맑은 고딕"/>
              </a:rPr>
              <a:t>조치 SOP-COOL-11</a:t>
            </a:r>
          </a:p>
          <a:p>
            <a:pPr algn="ctr">
              <a:lnSpc>
                <a:spcPct val="110000"/>
              </a:lnSpc>
              <a:spcAft>
                <a:spcPts val="400"/>
              </a:spcAft>
            </a:pPr>
            <a:r>
              <a:rPr sz="1250" b="0">
                <a:solidFill>
                  <a:srgbClr val="1F2A3A"/>
                </a:solidFill>
                <a:latin typeface="맑은 고딕"/>
                <a:ea typeface="맑은 고딕"/>
                <a:cs typeface="맑은 고딕"/>
              </a:rPr>
              <a:t>팬 최대 운전이</a:t>
            </a:r>
          </a:p>
          <a:p>
            <a:pPr algn="ctr">
              <a:lnSpc>
                <a:spcPct val="110000"/>
              </a:lnSpc>
              <a:spcAft>
                <a:spcPts val="400"/>
              </a:spcAft>
            </a:pPr>
            <a:r>
              <a:rPr sz="1250" b="0">
                <a:solidFill>
                  <a:srgbClr val="1F2A3A"/>
                </a:solidFill>
                <a:latin typeface="맑은 고딕"/>
                <a:ea typeface="맑은 고딕"/>
                <a:cs typeface="맑은 고딕"/>
              </a:rPr>
              <a:t>지식 그래프에 있다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제안</a:t>
            </a:r>
          </a:p>
          <a:p>
            <a:pPr algn="ctr">
              <a:lnSpc>
                <a:spcPct val="110000"/>
              </a:lnSpc>
              <a:spcAft>
                <a:spcPts val="400"/>
              </a:spcAft>
            </a:pPr>
            <a:r>
              <a:rPr sz="1250" b="0">
                <a:solidFill>
                  <a:srgbClr val="1F2A3A"/>
                </a:solidFill>
                <a:latin typeface="맑은 고딕"/>
                <a:ea typeface="맑은 고딕"/>
                <a:cs typeface="맑은 고딕"/>
              </a:rPr>
              <a:t>에이전트가 원인을</a:t>
            </a:r>
          </a:p>
          <a:p>
            <a:pPr algn="ctr">
              <a:lnSpc>
                <a:spcPct val="110000"/>
              </a:lnSpc>
              <a:spcAft>
                <a:spcPts val="400"/>
              </a:spcAft>
            </a:pPr>
            <a:r>
              <a:rPr sz="1250" b="0">
                <a:solidFill>
                  <a:srgbClr val="1F2A3A"/>
                </a:solidFill>
                <a:latin typeface="맑은 고딕"/>
                <a:ea typeface="맑은 고딕"/>
                <a:cs typeface="맑은 고딕"/>
              </a:rPr>
              <a:t>쿨러 핀 오염으로 가려</a:t>
            </a:r>
          </a:p>
          <a:p>
            <a:pPr algn="ctr">
              <a:lnSpc>
                <a:spcPct val="110000"/>
              </a:lnSpc>
              <a:spcAft>
                <a:spcPts val="400"/>
              </a:spcAft>
            </a:pPr>
            <a:r>
              <a:rPr sz="1250" b="0">
                <a:solidFill>
                  <a:srgbClr val="1F2A3A"/>
                </a:solidFill>
                <a:latin typeface="맑은 고딕"/>
                <a:ea typeface="맑은 고딕"/>
                <a:cs typeface="맑은 고딕"/>
              </a:rPr>
              <a:t>이 조치를 추천한다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운전원이</a:t>
            </a:r>
          </a:p>
          <a:p>
            <a:pPr algn="ctr">
              <a:lnSpc>
                <a:spcPct val="110000"/>
              </a:lnSpc>
              <a:spcAft>
                <a:spcPts val="400"/>
              </a:spcAft>
            </a:pPr>
            <a:r>
              <a:rPr sz="1250" b="0">
                <a:solidFill>
                  <a:srgbClr val="1F2A3A"/>
                </a:solidFill>
                <a:latin typeface="맑은 고딕"/>
                <a:ea typeface="맑은 고딕"/>
                <a:cs typeface="맑은 고딕"/>
              </a:rPr>
              <a:t>추천안을 승인한다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a:t>
            </a:r>
          </a:p>
          <a:p>
            <a:pPr algn="ctr">
              <a:lnSpc>
                <a:spcPct val="110000"/>
              </a:lnSpc>
              <a:spcAft>
                <a:spcPts val="400"/>
              </a:spcAft>
            </a:pPr>
            <a:r>
              <a:rPr sz="1250" b="0">
                <a:solidFill>
                  <a:srgbClr val="1F2A3A"/>
                </a:solidFill>
                <a:latin typeface="맑은 고딕"/>
                <a:ea typeface="맑은 고딕"/>
                <a:cs typeface="맑은 고딕"/>
              </a:rPr>
              <a:t>팬 속도 100 % 명령</a:t>
            </a:r>
          </a:p>
          <a:p>
            <a:pPr algn="ctr">
              <a:lnSpc>
                <a:spcPct val="110000"/>
              </a:lnSpc>
              <a:spcAft>
                <a:spcPts val="400"/>
              </a:spcAft>
            </a:pPr>
            <a:r>
              <a:rPr sz="1250" b="0">
                <a:solidFill>
                  <a:srgbClr val="1F2A3A"/>
                </a:solidFill>
                <a:latin typeface="맑은 고딕"/>
                <a:ea typeface="맑은 고딕"/>
                <a:cs typeface="맑은 고딕"/>
              </a:rPr>
              <a:t>CMD-1010-0001-01d1</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eye" descr="eye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a:t>
            </a:r>
          </a:p>
          <a:p>
            <a:pPr algn="ctr">
              <a:lnSpc>
                <a:spcPct val="110000"/>
              </a:lnSpc>
              <a:spcAft>
                <a:spcPts val="400"/>
              </a:spcAft>
            </a:pPr>
            <a:r>
              <a:rPr sz="1250" b="0">
                <a:solidFill>
                  <a:srgbClr val="1F2A3A"/>
                </a:solidFill>
                <a:latin typeface="맑은 고딕"/>
                <a:ea typeface="맑은 고딕"/>
                <a:cs typeface="맑은 고딕"/>
              </a:rPr>
              <a:t>재관측 유온 51.3 ℃</a:t>
            </a:r>
          </a:p>
          <a:p>
            <a:pPr algn="ctr">
              <a:lnSpc>
                <a:spcPct val="110000"/>
              </a:lnSpc>
              <a:spcAft>
                <a:spcPts val="400"/>
              </a:spcAft>
            </a:pPr>
            <a:r>
              <a:rPr sz="1250" b="0">
                <a:solidFill>
                  <a:srgbClr val="1F2A3A"/>
                </a:solidFill>
                <a:latin typeface="맑은 고딕"/>
                <a:ea typeface="맑은 고딕"/>
                <a:cs typeface="맑은 고딕"/>
              </a:rPr>
              <a:t>기준 55 ℃ 미만</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건에 겹쳐 있는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 한 건에는 에이전트 쪽과 프로세스 쪽의 장치가 겹쳐 있어, 결과가 기대와 다를 때 어느 장치의 몫인지부터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쪽의 장치</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에이전트 실행, 스킬, MCP</a:t>
            </a:r>
          </a:p>
          <a:p>
            <a:pPr algn="l">
              <a:lnSpc>
                <a:spcPct val="110000"/>
              </a:lnSpc>
              <a:spcAft>
                <a:spcPts val="600"/>
              </a:spcAft>
            </a:pPr>
            <a:r>
              <a:rPr sz="1450" b="0">
                <a:solidFill>
                  <a:srgbClr val="1F2A3A"/>
                </a:solidFill>
                <a:latin typeface="맑은 고딕"/>
                <a:ea typeface="맑은 고딕"/>
                <a:cs typeface="맑은 고딕"/>
              </a:rPr>
              <a:t>• 명세(SDD)와 시나리오(BDD)</a:t>
            </a:r>
          </a:p>
          <a:p>
            <a:pPr algn="l">
              <a:lnSpc>
                <a:spcPct val="110000"/>
              </a:lnSpc>
              <a:spcAft>
                <a:spcPts val="600"/>
              </a:spcAft>
            </a:pPr>
            <a:r>
              <a:rPr sz="1450" b="0">
                <a:solidFill>
                  <a:srgbClr val="1F2A3A"/>
                </a:solidFill>
                <a:latin typeface="맑은 고딕"/>
                <a:ea typeface="맑은 고딕"/>
                <a:cs typeface="맑은 고딕"/>
              </a:rPr>
              <a:t>• 한 단계 안에서 제안 하나를 만든다</a:t>
            </a:r>
          </a:p>
        </p:txBody>
      </p:sp>
      <p:sp>
        <p:nvSpPr>
          <p:cNvPr id="11" name="Rounded Rectangle 10"/>
          <p:cNvSpPr/>
          <p:nvPr/>
        </p:nvSpPr>
        <p:spPr>
          <a:xfrm>
            <a:off x="868680" y="4945570"/>
            <a:ext cx="938784"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387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5~7회차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쪽의 장치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 정의, 인스턴스</a:t>
            </a:r>
          </a:p>
          <a:p>
            <a:pPr algn="l">
              <a:lnSpc>
                <a:spcPct val="110000"/>
              </a:lnSpc>
              <a:spcAft>
                <a:spcPts val="600"/>
              </a:spcAft>
            </a:pPr>
            <a:r>
              <a:rPr sz="1450" b="0">
                <a:solidFill>
                  <a:srgbClr val="1F2A3A"/>
                </a:solidFill>
                <a:latin typeface="맑은 고딕"/>
                <a:ea typeface="맑은 고딕"/>
                <a:cs typeface="맑은 고딕"/>
              </a:rPr>
              <a:t>• 사람의 승인(HITL), 시스템 실행</a:t>
            </a:r>
          </a:p>
          <a:p>
            <a:pPr algn="l">
              <a:lnSpc>
                <a:spcPct val="110000"/>
              </a:lnSpc>
              <a:spcAft>
                <a:spcPts val="600"/>
              </a:spcAft>
            </a:pPr>
            <a:r>
              <a:rPr sz="1450" b="0">
                <a:solidFill>
                  <a:srgbClr val="1F2A3A"/>
                </a:solidFill>
                <a:latin typeface="맑은 고딕"/>
                <a:ea typeface="맑은 고딕"/>
                <a:cs typeface="맑은 고딕"/>
              </a:rPr>
              <a:t>• 단계와 단계를 이어 업무를 끝낸다</a:t>
            </a:r>
          </a:p>
        </p:txBody>
      </p:sp>
      <p:sp>
        <p:nvSpPr>
          <p:cNvPr id="18" name="Rounded Rectangle 17"/>
          <p:cNvSpPr/>
          <p:nvPr/>
        </p:nvSpPr>
        <p:spPr>
          <a:xfrm>
            <a:off x="6781647" y="4945570"/>
            <a:ext cx="1033271"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33271"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7~10회차</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쪽의 장치가 이 처리 건에서 한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실행, 스킬, MCP는 에이전트 단계 하나 안에서 일했고, 명세와 시나리오는 그 실행보다 앞서 일을 마쳤다.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장치</a:t>
            </a:r>
          </a:p>
        </p:txBody>
      </p:sp>
      <p:sp>
        <p:nvSpPr>
          <p:cNvPr id="8" name="TextBox 7"/>
          <p:cNvSpPr txBox="1"/>
          <p:nvPr/>
        </p:nvSpPr>
        <p:spPr>
          <a:xfrm>
            <a:off x="3200400" y="1961387"/>
            <a:ext cx="844265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처리 건에서 한 일</a:t>
            </a:r>
          </a:p>
        </p:txBody>
      </p:sp>
      <p:sp>
        <p:nvSpPr>
          <p:cNvPr id="9" name="Rounded Rectangle 8"/>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 실행</a:t>
            </a:r>
          </a:p>
        </p:txBody>
      </p:sp>
      <p:sp>
        <p:nvSpPr>
          <p:cNvPr id="11" name="TextBox 10"/>
          <p:cNvSpPr txBox="1"/>
          <p:nvPr/>
        </p:nvSpPr>
        <p:spPr>
          <a:xfrm>
            <a:off x="3200400" y="23637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agent:cooling이 도구를 10번 불러 조치 카드 묶음을 제출했다</a:t>
            </a:r>
          </a:p>
        </p:txBody>
      </p:sp>
      <p:sp>
        <p:nvSpPr>
          <p:cNvPr id="12" name="Rounded Rectangle 11"/>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스킬</a:t>
            </a:r>
          </a:p>
        </p:txBody>
      </p:sp>
      <p:sp>
        <p:nvSpPr>
          <p:cNvPr id="14" name="TextBox 13"/>
          <p:cNvSpPr txBox="1"/>
          <p:nvPr/>
        </p:nvSpPr>
        <p:spPr>
          <a:xfrm>
            <a:off x="3200400" y="32781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첫 호출로 cooling-emergency-response 스킬을 읽어 일의 순서를 따랐다</a:t>
            </a:r>
          </a:p>
        </p:txBody>
      </p:sp>
      <p:sp>
        <p:nvSpPr>
          <p:cNvPr id="15" name="Rounded Rectangle 14"/>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MCP</a:t>
            </a:r>
          </a:p>
        </p:txBody>
      </p:sp>
      <p:sp>
        <p:nvSpPr>
          <p:cNvPr id="17" name="TextBox 16"/>
          <p:cNvSpPr txBox="1"/>
          <p:nvPr/>
        </p:nvSpPr>
        <p:spPr>
          <a:xfrm>
            <a:off x="3200400" y="41925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hyd-dmn과 enterprise 서버의 도구로 지식과 값을 읽었다</a:t>
            </a:r>
          </a:p>
        </p:txBody>
      </p:sp>
      <p:sp>
        <p:nvSpPr>
          <p:cNvPr id="18" name="Rounded Rectangle 17"/>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명세와 시나리오</a:t>
            </a:r>
          </a:p>
        </p:txBody>
      </p:sp>
      <p:sp>
        <p:nvSpPr>
          <p:cNvPr id="20" name="TextBox 19"/>
          <p:cNvSpPr txBox="1"/>
          <p:nvPr/>
        </p:nvSpPr>
        <p:spPr>
          <a:xfrm>
            <a:off x="3200400" y="51069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이 실행에 앞서 출력의 형식과 기대 행동을 정해 두었다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쪽의 장치가 이 처리 건에서 한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정의는 설계도로, 인스턴스는 진행의 기록으로, 승인은 사람의 결정으로, 시스템 실행은 실제 효과로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장치</a:t>
            </a:r>
          </a:p>
        </p:txBody>
      </p:sp>
      <p:sp>
        <p:nvSpPr>
          <p:cNvPr id="8" name="TextBox 7"/>
          <p:cNvSpPr txBox="1"/>
          <p:nvPr/>
        </p:nvSpPr>
        <p:spPr>
          <a:xfrm>
            <a:off x="3200400" y="1961387"/>
            <a:ext cx="844265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처리 건에서 남은 것</a:t>
            </a:r>
          </a:p>
        </p:txBody>
      </p:sp>
      <p:sp>
        <p:nvSpPr>
          <p:cNvPr id="9" name="Rounded Rectangle 8"/>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프로세스 정의</a:t>
            </a:r>
          </a:p>
        </p:txBody>
      </p:sp>
      <p:sp>
        <p:nvSpPr>
          <p:cNvPr id="11" name="TextBox 10"/>
          <p:cNvSpPr txBox="1"/>
          <p:nvPr/>
        </p:nvSpPr>
        <p:spPr>
          <a:xfrm>
            <a:off x="3200400" y="23637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c3_cooling: 작업 9, 갈림 2, 타이머 1을 가진 설계도</a:t>
            </a:r>
          </a:p>
        </p:txBody>
      </p:sp>
      <p:sp>
        <p:nvSpPr>
          <p:cNvPr id="12" name="Rounded Rectangle 11"/>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인스턴스(처리 건)</a:t>
            </a:r>
          </a:p>
        </p:txBody>
      </p:sp>
      <p:sp>
        <p:nvSpPr>
          <p:cNvPr id="14" name="TextBox 13"/>
          <p:cNvSpPr txBox="1"/>
          <p:nvPr/>
        </p:nvSpPr>
        <p:spPr>
          <a:xfrm>
            <a:off x="3200400" y="32781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 ALT-hyd01-0026-767a로 열려 끝 이벤트 E_end에서 닫힌 한 건</a:t>
            </a:r>
          </a:p>
        </p:txBody>
      </p:sp>
      <p:sp>
        <p:nvSpPr>
          <p:cNvPr id="15" name="Rounded Rectangle 14"/>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7" name="TextBox 16"/>
          <p:cNvSpPr txBox="1"/>
          <p:nvPr/>
        </p:nvSpPr>
        <p:spPr>
          <a:xfrm>
            <a:off x="3200400" y="41925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APPROVAL_ACCEPTED: 역할 role:operator의 결정</a:t>
            </a:r>
          </a:p>
        </p:txBody>
      </p:sp>
      <p:sp>
        <p:nvSpPr>
          <p:cNvPr id="18" name="Rounded Rectangle 17"/>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시스템 실행</a:t>
            </a:r>
          </a:p>
        </p:txBody>
      </p:sp>
      <p:sp>
        <p:nvSpPr>
          <p:cNvPr id="20" name="TextBox 19"/>
          <p:cNvSpPr txBox="1"/>
          <p:nvPr/>
        </p:nvSpPr>
        <p:spPr>
          <a:xfrm>
            <a:off x="3200400" y="51069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 CMD-1010-0001-01d1과 작업지시 WO-1010-1198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스킬이 정한 순서와 프로세스 정의가 정한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에이전트 단계 안에서 도구를 부르는 순서를, 프로세스 정의는 단계와 단계 사이의 순서를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진단 → 조치 평가 → 업무 값 조회 → 제출</a:t>
            </a:r>
          </a:p>
          <a:p>
            <a:pPr algn="l">
              <a:lnSpc>
                <a:spcPct val="110000"/>
              </a:lnSpc>
              <a:spcAft>
                <a:spcPts val="600"/>
              </a:spcAft>
            </a:pPr>
            <a:r>
              <a:rPr sz="1450" b="0">
                <a:solidFill>
                  <a:srgbClr val="1F2A3A"/>
                </a:solidFill>
                <a:latin typeface="맑은 고딕"/>
                <a:ea typeface="맑은 고딕"/>
                <a:cs typeface="맑은 고딕"/>
              </a:rPr>
              <a:t>• 에이전트가 읽고 따른다</a:t>
            </a:r>
          </a:p>
          <a:p>
            <a:pPr algn="l">
              <a:lnSpc>
                <a:spcPct val="110000"/>
              </a:lnSpc>
              <a:spcAft>
                <a:spcPts val="600"/>
              </a:spcAft>
            </a:pPr>
            <a:r>
              <a:rPr sz="1450" b="0">
                <a:solidFill>
                  <a:srgbClr val="1F2A3A"/>
                </a:solidFill>
                <a:latin typeface="맑은 고딕"/>
                <a:ea typeface="맑은 고딕"/>
                <a:cs typeface="맑은 고딕"/>
              </a:rPr>
              <a:t>• 상황에 따라 호출이 달라질 수 있다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안의 순서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sitemap" descr="sitemap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정의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제안 → 승인 → 명령 → 재관측 → 작업지시</a:t>
            </a:r>
          </a:p>
          <a:p>
            <a:pPr algn="l">
              <a:lnSpc>
                <a:spcPct val="110000"/>
              </a:lnSpc>
              <a:spcAft>
                <a:spcPts val="600"/>
              </a:spcAft>
            </a:pPr>
            <a:r>
              <a:rPr sz="1450" b="0">
                <a:solidFill>
                  <a:srgbClr val="1F2A3A"/>
                </a:solidFill>
                <a:latin typeface="맑은 고딕"/>
                <a:ea typeface="맑은 고딕"/>
                <a:cs typeface="맑은 고딕"/>
              </a:rPr>
              <a:t>• 엔진이 읽고 실행한다</a:t>
            </a:r>
          </a:p>
          <a:p>
            <a:pPr algn="l">
              <a:lnSpc>
                <a:spcPct val="110000"/>
              </a:lnSpc>
              <a:spcAft>
                <a:spcPts val="600"/>
              </a:spcAft>
            </a:pPr>
            <a:r>
              <a:rPr sz="1450" b="0">
                <a:solidFill>
                  <a:srgbClr val="1F2A3A"/>
                </a:solidFill>
                <a:latin typeface="맑은 고딕"/>
                <a:ea typeface="맑은 고딕"/>
                <a:cs typeface="맑은 고딕"/>
              </a:rPr>
              <a:t>• 승인이 없으면 다음으로 넘어가지 않는다</a:t>
            </a:r>
          </a:p>
        </p:txBody>
      </p:sp>
      <p:sp>
        <p:nvSpPr>
          <p:cNvPr id="18" name="Rounded Rectangle 17"/>
          <p:cNvSpPr/>
          <p:nvPr/>
        </p:nvSpPr>
        <p:spPr>
          <a:xfrm>
            <a:off x="6781647" y="4945570"/>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사이의 순서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읽기와 프로세스의 쓰기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에이전트에 연결된 MCP 도구는 읽는 데 쓰이고, 설비와 업무 시스템을 바꾸는 쓰기는 승인 뒤의 서비스 작업에만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에이전트의 MCP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diagnose, evaluate_cards</a:t>
            </a:r>
          </a:p>
          <a:p>
            <a:pPr algn="l">
              <a:lnSpc>
                <a:spcPct val="110000"/>
              </a:lnSpc>
              <a:spcAft>
                <a:spcPts val="600"/>
              </a:spcAft>
            </a:pPr>
            <a:r>
              <a:rPr sz="1450" b="0">
                <a:solidFill>
                  <a:srgbClr val="1F2A3A"/>
                </a:solidFill>
                <a:latin typeface="맑은 고딕"/>
                <a:ea typeface="맑은 고딕"/>
                <a:cs typeface="맑은 고딕"/>
              </a:rPr>
              <a:t>• mes_orders, qms_lots</a:t>
            </a:r>
          </a:p>
          <a:p>
            <a:pPr algn="l">
              <a:lnSpc>
                <a:spcPct val="110000"/>
              </a:lnSpc>
              <a:spcAft>
                <a:spcPts val="600"/>
              </a:spcAft>
            </a:pPr>
            <a:r>
              <a:rPr sz="1450" b="0">
                <a:solidFill>
                  <a:srgbClr val="1F2A3A"/>
                </a:solidFill>
                <a:latin typeface="맑은 고딕"/>
                <a:ea typeface="맑은 고딕"/>
                <a:cs typeface="맑은 고딕"/>
              </a:rPr>
              <a:t>• 쓰기는 판단의 제출 하나뿐이다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bolt" descr="bol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프로세스의 서비스 작업</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명령: 팬 속도 100 %</a:t>
            </a:r>
          </a:p>
          <a:p>
            <a:pPr algn="l">
              <a:lnSpc>
                <a:spcPct val="110000"/>
              </a:lnSpc>
              <a:spcAft>
                <a:spcPts val="600"/>
              </a:spcAft>
            </a:pPr>
            <a:r>
              <a:rPr sz="1450" b="0">
                <a:solidFill>
                  <a:srgbClr val="1F2A3A"/>
                </a:solidFill>
                <a:latin typeface="맑은 고딕"/>
                <a:ea typeface="맑은 고딕"/>
                <a:cs typeface="맑은 고딕"/>
              </a:rPr>
              <a:t>• 작업지시 등록: WO-1010-1198</a:t>
            </a:r>
          </a:p>
          <a:p>
            <a:pPr algn="l">
              <a:lnSpc>
                <a:spcPct val="110000"/>
              </a:lnSpc>
              <a:spcAft>
                <a:spcPts val="600"/>
              </a:spcAft>
            </a:pPr>
            <a:r>
              <a:rPr sz="1450" b="0">
                <a:solidFill>
                  <a:srgbClr val="1F2A3A"/>
                </a:solidFill>
                <a:latin typeface="맑은 고딕"/>
                <a:ea typeface="맑은 고딕"/>
                <a:cs typeface="맑은 고딕"/>
              </a:rPr>
              <a:t>• 승인이 전달된 뒤에만 열린다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쓰기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그림을 그리는 데 쓴 BPMN 요소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프로세스는 일곱 가지 기호만으로 그려져, 이 기호를 읽으면 세 업무의 순서와 책임과 예외 경로를 따라갈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pic>
        <p:nvPicPr>
          <p:cNvPr id="6" name="삽화:요소_복습.svg" descr="illust_1750027897296731026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6559" y="3849532"/>
            <a:ext cx="1472781" cy="102666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메시지 시작 이벤트</a:t>
            </a:r>
          </a:p>
          <a:p>
            <a:pPr algn="ctr">
              <a:lnSpc>
                <a:spcPct val="110000"/>
              </a:lnSpc>
              <a:spcAft>
                <a:spcPts val="100"/>
              </a:spcAft>
            </a:pPr>
            <a:r>
              <a:rPr sz="1300" b="0">
                <a:solidFill>
                  <a:srgbClr val="556175"/>
                </a:solidFill>
                <a:latin typeface="맑은 고딕"/>
                <a:ea typeface="맑은 고딕"/>
                <a:cs typeface="맑은 고딕"/>
              </a:rPr>
              <a:t>경보가 도착하면 연다</a:t>
            </a:r>
          </a:p>
        </p:txBody>
      </p:sp>
      <p:sp>
        <p:nvSpPr>
          <p:cNvPr id="8" name="TextBox 7"/>
          <p:cNvSpPr txBox="1"/>
          <p:nvPr/>
        </p:nvSpPr>
        <p:spPr>
          <a:xfrm>
            <a:off x="2293888" y="3849532"/>
            <a:ext cx="1472781"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a:t>
            </a:r>
          </a:p>
          <a:p>
            <a:pPr algn="ctr">
              <a:lnSpc>
                <a:spcPct val="110000"/>
              </a:lnSpc>
              <a:spcAft>
                <a:spcPts val="100"/>
              </a:spcAft>
            </a:pPr>
            <a:r>
              <a:rPr sz="1300" b="0">
                <a:solidFill>
                  <a:srgbClr val="556175"/>
                </a:solidFill>
                <a:latin typeface="맑은 고딕"/>
                <a:ea typeface="맑은 고딕"/>
                <a:cs typeface="맑은 고딕"/>
              </a:rPr>
              <a:t>에이전트의 제안</a:t>
            </a:r>
          </a:p>
        </p:txBody>
      </p:sp>
      <p:sp>
        <p:nvSpPr>
          <p:cNvPr id="9" name="TextBox 8"/>
          <p:cNvSpPr txBox="1"/>
          <p:nvPr/>
        </p:nvSpPr>
        <p:spPr>
          <a:xfrm>
            <a:off x="3821217" y="3849532"/>
            <a:ext cx="1472781"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사용자 작업</a:t>
            </a:r>
          </a:p>
          <a:p>
            <a:pPr algn="ctr">
              <a:lnSpc>
                <a:spcPct val="110000"/>
              </a:lnSpc>
              <a:spcAft>
                <a:spcPts val="100"/>
              </a:spcAft>
            </a:pPr>
            <a:r>
              <a:rPr sz="1300" b="0">
                <a:solidFill>
                  <a:srgbClr val="556175"/>
                </a:solidFill>
                <a:latin typeface="맑은 고딕"/>
                <a:ea typeface="맑은 고딕"/>
                <a:cs typeface="맑은 고딕"/>
              </a:rPr>
              <a:t>사람의 승인</a:t>
            </a:r>
          </a:p>
        </p:txBody>
      </p:sp>
      <p:sp>
        <p:nvSpPr>
          <p:cNvPr id="10" name="TextBox 9"/>
          <p:cNvSpPr txBox="1"/>
          <p:nvPr/>
        </p:nvSpPr>
        <p:spPr>
          <a:xfrm>
            <a:off x="5348547" y="3849532"/>
            <a:ext cx="147278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서비스 작업</a:t>
            </a:r>
          </a:p>
          <a:p>
            <a:pPr algn="ctr">
              <a:lnSpc>
                <a:spcPct val="110000"/>
              </a:lnSpc>
              <a:spcAft>
                <a:spcPts val="100"/>
              </a:spcAft>
            </a:pPr>
            <a:r>
              <a:rPr sz="1300" b="0">
                <a:solidFill>
                  <a:srgbClr val="556175"/>
                </a:solidFill>
                <a:latin typeface="맑은 고딕"/>
                <a:ea typeface="맑은 고딕"/>
                <a:cs typeface="맑은 고딕"/>
              </a:rPr>
              <a:t>시스템의 처리와 결과 보고</a:t>
            </a:r>
          </a:p>
        </p:txBody>
      </p:sp>
      <p:sp>
        <p:nvSpPr>
          <p:cNvPr id="11" name="TextBox 10"/>
          <p:cNvSpPr txBox="1"/>
          <p:nvPr/>
        </p:nvSpPr>
        <p:spPr>
          <a:xfrm>
            <a:off x="6875876" y="3849532"/>
            <a:ext cx="1472781" cy="102666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배타 게이트웨이</a:t>
            </a:r>
          </a:p>
          <a:p>
            <a:pPr algn="ctr">
              <a:lnSpc>
                <a:spcPct val="110000"/>
              </a:lnSpc>
              <a:spcAft>
                <a:spcPts val="100"/>
              </a:spcAft>
            </a:pPr>
            <a:r>
              <a:rPr sz="1300" b="0">
                <a:solidFill>
                  <a:srgbClr val="556175"/>
                </a:solidFill>
                <a:latin typeface="맑은 고딕"/>
                <a:ea typeface="맑은 고딕"/>
                <a:cs typeface="맑은 고딕"/>
              </a:rPr>
              <a:t>승인과 거절의 갈림</a:t>
            </a:r>
          </a:p>
        </p:txBody>
      </p:sp>
      <p:sp>
        <p:nvSpPr>
          <p:cNvPr id="12" name="TextBox 11"/>
          <p:cNvSpPr txBox="1"/>
          <p:nvPr/>
        </p:nvSpPr>
        <p:spPr>
          <a:xfrm>
            <a:off x="8403205" y="3849532"/>
            <a:ext cx="1472781"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비중단형 경계 타이머</a:t>
            </a:r>
          </a:p>
          <a:p>
            <a:pPr algn="ctr">
              <a:lnSpc>
                <a:spcPct val="110000"/>
              </a:lnSpc>
              <a:spcAft>
                <a:spcPts val="100"/>
              </a:spcAft>
            </a:pPr>
            <a:r>
              <a:rPr sz="1300" b="0">
                <a:solidFill>
                  <a:srgbClr val="556175"/>
                </a:solidFill>
                <a:latin typeface="맑은 고딕"/>
                <a:ea typeface="맑은 고딕"/>
                <a:cs typeface="맑은 고딕"/>
              </a:rPr>
              <a:t>승인 지연의 알림</a:t>
            </a:r>
          </a:p>
        </p:txBody>
      </p:sp>
      <p:sp>
        <p:nvSpPr>
          <p:cNvPr id="13" name="TextBox 12"/>
          <p:cNvSpPr txBox="1"/>
          <p:nvPr/>
        </p:nvSpPr>
        <p:spPr>
          <a:xfrm>
            <a:off x="9930535" y="3849532"/>
            <a:ext cx="147278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 이벤트</a:t>
            </a:r>
          </a:p>
          <a:p>
            <a:pPr algn="ctr">
              <a:lnSpc>
                <a:spcPct val="110000"/>
              </a:lnSpc>
              <a:spcAft>
                <a:spcPts val="100"/>
              </a:spcAft>
            </a:pPr>
            <a:r>
              <a:rPr sz="1300" b="0">
                <a:solidFill>
                  <a:srgbClr val="556175"/>
                </a:solidFill>
                <a:latin typeface="맑은 고딕"/>
                <a:ea typeface="맑은 고딕"/>
                <a:cs typeface="맑은 고딕"/>
              </a:rPr>
              <a:t>끝, 거절 종결, 알림</a:t>
            </a:r>
          </a:p>
        </p:txBody>
      </p:sp>
      <p:sp>
        <p:nvSpPr>
          <p:cNvPr id="14" name="TextBox 13"/>
          <p:cNvSpPr txBox="1"/>
          <p:nvPr/>
        </p:nvSpPr>
        <p:spPr>
          <a:xfrm>
            <a:off x="1732049"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긴급 대응</a:t>
            </a:r>
          </a:p>
          <a:p>
            <a:pPr algn="ctr">
              <a:lnSpc>
                <a:spcPct val="110000"/>
              </a:lnSpc>
              <a:spcAft>
                <a:spcPts val="100"/>
              </a:spcAft>
            </a:pPr>
            <a:r>
              <a:rPr sz="1300" b="0">
                <a:solidFill>
                  <a:srgbClr val="556175"/>
                </a:solidFill>
                <a:latin typeface="맑은 고딕"/>
                <a:ea typeface="맑은 고딕"/>
                <a:cs typeface="맑은 고딕"/>
              </a:rPr>
              <a:t>작업 9 · 게이트웨이 2</a:t>
            </a:r>
          </a:p>
        </p:txBody>
      </p:sp>
      <p:sp>
        <p:nvSpPr>
          <p:cNvPr id="15" name="TextBox 14"/>
          <p:cNvSpPr txBox="1"/>
          <p:nvPr/>
        </p:nvSpPr>
        <p:spPr>
          <a:xfrm>
            <a:off x="4786708"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a:t>
            </a:r>
          </a:p>
          <a:p>
            <a:pPr algn="ctr">
              <a:lnSpc>
                <a:spcPct val="110000"/>
              </a:lnSpc>
              <a:spcAft>
                <a:spcPts val="100"/>
              </a:spcAft>
            </a:pPr>
            <a:r>
              <a:rPr sz="1300" b="0">
                <a:solidFill>
                  <a:srgbClr val="556175"/>
                </a:solidFill>
                <a:latin typeface="맑은 고딕"/>
                <a:ea typeface="맑은 고딕"/>
                <a:cs typeface="맑은 고딕"/>
              </a:rPr>
              <a:t>작업 6 · 게이트웨이 1</a:t>
            </a:r>
          </a:p>
        </p:txBody>
      </p:sp>
      <p:sp>
        <p:nvSpPr>
          <p:cNvPr id="16" name="TextBox 15"/>
          <p:cNvSpPr txBox="1"/>
          <p:nvPr/>
        </p:nvSpPr>
        <p:spPr>
          <a:xfrm>
            <a:off x="7841366"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보충</a:t>
            </a:r>
          </a:p>
          <a:p>
            <a:pPr algn="ctr">
              <a:lnSpc>
                <a:spcPct val="110000"/>
              </a:lnSpc>
              <a:spcAft>
                <a:spcPts val="100"/>
              </a:spcAft>
            </a:pPr>
            <a:r>
              <a:rPr sz="1300" b="0">
                <a:solidFill>
                  <a:srgbClr val="556175"/>
                </a:solidFill>
                <a:latin typeface="맑은 고딕"/>
                <a:ea typeface="맑은 고딕"/>
                <a:cs typeface="맑은 고딕"/>
              </a:rPr>
              <a:t>작업 7 · 게이트웨이 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건이 지나는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업무든 승인된 처리 건은 시작 이벤트, 에이전트의 판단, 사람의 승인, 시스템의 처리, 종료 기록을 차례로 지난다.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pic>
        <p:nvPicPr>
          <p:cNvPr id="6" name="삽화:다섯자리.svg" descr="illust_6302877682551932864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시작 이벤트</a:t>
            </a:r>
          </a:p>
          <a:p>
            <a:pPr algn="ctr">
              <a:lnSpc>
                <a:spcPct val="110000"/>
              </a:lnSpc>
              <a:spcAft>
                <a:spcPts val="100"/>
              </a:spcAft>
            </a:pPr>
            <a:r>
              <a:rPr sz="1300" b="0">
                <a:solidFill>
                  <a:srgbClr val="556175"/>
                </a:solidFill>
                <a:latin typeface="맑은 고딕"/>
                <a:ea typeface="맑은 고딕"/>
                <a:cs typeface="맑은 고딕"/>
              </a:rPr>
              <a:t>사건이 경보로 도착한다</a:t>
            </a:r>
          </a:p>
        </p:txBody>
      </p:sp>
      <p:sp>
        <p:nvSpPr>
          <p:cNvPr id="8" name="TextBox 7"/>
          <p:cNvSpPr txBox="1"/>
          <p:nvPr/>
        </p:nvSpPr>
        <p:spPr>
          <a:xfrm>
            <a:off x="2975732"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판단</a:t>
            </a:r>
          </a:p>
          <a:p>
            <a:pPr algn="ctr">
              <a:lnSpc>
                <a:spcPct val="110000"/>
              </a:lnSpc>
              <a:spcAft>
                <a:spcPts val="100"/>
              </a:spcAft>
            </a:pPr>
            <a:r>
              <a:rPr sz="1300" b="0">
                <a:solidFill>
                  <a:srgbClr val="556175"/>
                </a:solidFill>
                <a:latin typeface="맑은 고딕"/>
                <a:ea typeface="맑은 고딕"/>
                <a:cs typeface="맑은 고딕"/>
              </a:rPr>
              <a:t>읽고 견주어 제안한다</a:t>
            </a:r>
          </a:p>
        </p:txBody>
      </p:sp>
      <p:sp>
        <p:nvSpPr>
          <p:cNvPr id="9" name="TextBox 8"/>
          <p:cNvSpPr txBox="1"/>
          <p:nvPr/>
        </p:nvSpPr>
        <p:spPr>
          <a:xfrm>
            <a:off x="5059445" y="1769455"/>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 · 거절</a:t>
            </a:r>
          </a:p>
          <a:p>
            <a:pPr algn="ctr">
              <a:lnSpc>
                <a:spcPct val="110000"/>
              </a:lnSpc>
              <a:spcAft>
                <a:spcPts val="100"/>
              </a:spcAft>
            </a:pPr>
            <a:r>
              <a:rPr sz="1300" b="0">
                <a:solidFill>
                  <a:srgbClr val="556175"/>
                </a:solidFill>
                <a:latin typeface="맑은 고딕"/>
                <a:ea typeface="맑은 고딕"/>
                <a:cs typeface="맑은 고딕"/>
              </a:rPr>
              <a:t>정해진 역할이 결정한다</a:t>
            </a:r>
          </a:p>
        </p:txBody>
      </p:sp>
      <p:sp>
        <p:nvSpPr>
          <p:cNvPr id="10" name="TextBox 9"/>
          <p:cNvSpPr txBox="1"/>
          <p:nvPr/>
        </p:nvSpPr>
        <p:spPr>
          <a:xfrm>
            <a:off x="7252254"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시스템의 처리</a:t>
            </a:r>
          </a:p>
          <a:p>
            <a:pPr algn="ctr">
              <a:lnSpc>
                <a:spcPct val="110000"/>
              </a:lnSpc>
              <a:spcAft>
                <a:spcPts val="100"/>
              </a:spcAft>
            </a:pPr>
            <a:r>
              <a:rPr sz="1300" b="0">
                <a:solidFill>
                  <a:srgbClr val="556175"/>
                </a:solidFill>
                <a:latin typeface="맑은 고딕"/>
                <a:ea typeface="맑은 고딕"/>
                <a:cs typeface="맑은 고딕"/>
              </a:rPr>
              <a:t>승인된 내용을 실행한다</a:t>
            </a:r>
          </a:p>
        </p:txBody>
      </p:sp>
      <p:sp>
        <p:nvSpPr>
          <p:cNvPr id="11" name="TextBox 10"/>
          <p:cNvSpPr txBox="1"/>
          <p:nvPr/>
        </p:nvSpPr>
        <p:spPr>
          <a:xfrm>
            <a:off x="9390515"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종료 기록</a:t>
            </a:r>
          </a:p>
          <a:p>
            <a:pPr algn="ctr">
              <a:lnSpc>
                <a:spcPct val="110000"/>
              </a:lnSpc>
              <a:spcAft>
                <a:spcPts val="100"/>
              </a:spcAft>
            </a:pPr>
            <a:r>
              <a:rPr sz="1300" b="0">
                <a:solidFill>
                  <a:srgbClr val="556175"/>
                </a:solidFill>
                <a:latin typeface="맑은 고딕"/>
                <a:ea typeface="맑은 고딕"/>
                <a:cs typeface="맑은 고딕"/>
              </a:rPr>
              <a:t>끝 이벤트와 결과 보고</a:t>
            </a:r>
          </a:p>
        </p:txBody>
      </p:sp>
      <p:sp>
        <p:nvSpPr>
          <p:cNvPr id="12" name="TextBox 11"/>
          <p:cNvSpPr txBox="1"/>
          <p:nvPr/>
        </p:nvSpPr>
        <p:spPr>
          <a:xfrm>
            <a:off x="6052209" y="5409590"/>
            <a:ext cx="436379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a:p>
            <a:pPr algn="ctr">
              <a:lnSpc>
                <a:spcPct val="110000"/>
              </a:lnSpc>
              <a:spcAft>
                <a:spcPts val="100"/>
              </a:spcAft>
            </a:pPr>
            <a:r>
              <a:rPr sz="1300" b="0">
                <a:solidFill>
                  <a:srgbClr val="556175"/>
                </a:solidFill>
                <a:latin typeface="맑은 고딕"/>
                <a:ea typeface="맑은 고딕"/>
                <a:cs typeface="맑은 고딕"/>
              </a:rPr>
              <a:t>시스템의 처리를 지나지 않고 종료 기록으로 간다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처리 건 안에서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다섯 자리는 앞 자리가 낸 것을 받아 일하므로, 경보의 내용이 제안이 되고 제안이 승인된 내용이 되어 기록으로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주고받는것.svg" descr="illust_7246963307799639891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시작 이벤트</a:t>
            </a:r>
          </a:p>
        </p:txBody>
      </p:sp>
      <p:sp>
        <p:nvSpPr>
          <p:cNvPr id="8" name="TextBox 7"/>
          <p:cNvSpPr txBox="1"/>
          <p:nvPr/>
        </p:nvSpPr>
        <p:spPr>
          <a:xfrm>
            <a:off x="3106645"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332182"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p:txBody>
      </p:sp>
      <p:sp>
        <p:nvSpPr>
          <p:cNvPr id="10" name="TextBox 9"/>
          <p:cNvSpPr txBox="1"/>
          <p:nvPr/>
        </p:nvSpPr>
        <p:spPr>
          <a:xfrm>
            <a:off x="7557719"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9783256"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2" name="TextBox 11"/>
          <p:cNvSpPr txBox="1"/>
          <p:nvPr/>
        </p:nvSpPr>
        <p:spPr>
          <a:xfrm>
            <a:off x="1252031" y="3707709"/>
            <a:ext cx="2836468" cy="1383029"/>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경보의 내용</a:t>
            </a:r>
          </a:p>
          <a:p>
            <a:pPr algn="ctr">
              <a:lnSpc>
                <a:spcPct val="110000"/>
              </a:lnSpc>
              <a:spcAft>
                <a:spcPts val="100"/>
              </a:spcAft>
            </a:pPr>
            <a:r>
              <a:rPr sz="1300" b="0">
                <a:solidFill>
                  <a:srgbClr val="556175"/>
                </a:solidFill>
                <a:latin typeface="맑은 고딕"/>
                <a:ea typeface="맑은 고딕"/>
                <a:cs typeface="맑은 고딕"/>
              </a:rPr>
              <a:t>설비와 경보 패턴</a:t>
            </a:r>
          </a:p>
          <a:p>
            <a:pPr algn="ctr">
              <a:lnSpc>
                <a:spcPct val="110000"/>
              </a:lnSpc>
              <a:spcAft>
                <a:spcPts val="100"/>
              </a:spcAft>
            </a:pPr>
            <a:r>
              <a:rPr sz="1300" b="0">
                <a:solidFill>
                  <a:srgbClr val="556175"/>
                </a:solidFill>
                <a:latin typeface="맑은 고딕"/>
                <a:ea typeface="맑은 고딕"/>
                <a:cs typeface="맑은 고딕"/>
              </a:rPr>
              <a:t>HYD-01 · COOLER_DEGRADATION</a:t>
            </a:r>
          </a:p>
          <a:p>
            <a:pPr algn="ctr">
              <a:lnSpc>
                <a:spcPct val="110000"/>
              </a:lnSpc>
              <a:spcAft>
                <a:spcPts val="100"/>
              </a:spcAft>
            </a:pPr>
            <a:r>
              <a:rPr sz="1300" b="0">
                <a:solidFill>
                  <a:srgbClr val="556175"/>
                </a:solidFill>
                <a:latin typeface="맑은 고딕"/>
                <a:ea typeface="맑은 고딕"/>
                <a:cs typeface="맑은 고딕"/>
              </a:rPr>
              <a:t>HYD-02 · PM_DUE</a:t>
            </a:r>
          </a:p>
          <a:p>
            <a:pPr algn="ctr">
              <a:lnSpc>
                <a:spcPct val="110000"/>
              </a:lnSpc>
              <a:spcAft>
                <a:spcPts val="100"/>
              </a:spcAft>
            </a:pPr>
            <a:r>
              <a:rPr sz="1300" b="0">
                <a:solidFill>
                  <a:srgbClr val="556175"/>
                </a:solidFill>
                <a:latin typeface="맑은 고딕"/>
                <a:ea typeface="맑은 고딕"/>
                <a:cs typeface="맑은 고딕"/>
              </a:rPr>
              <a:t>씰 키트 · SPARE_BELOW_MIN</a:t>
            </a:r>
          </a:p>
        </p:txBody>
      </p:sp>
      <p:sp>
        <p:nvSpPr>
          <p:cNvPr id="13" name="TextBox 12"/>
          <p:cNvSpPr txBox="1"/>
          <p:nvPr/>
        </p:nvSpPr>
        <p:spPr>
          <a:xfrm>
            <a:off x="3673939"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제안</a:t>
            </a:r>
          </a:p>
          <a:p>
            <a:pPr algn="ctr">
              <a:lnSpc>
                <a:spcPct val="110000"/>
              </a:lnSpc>
              <a:spcAft>
                <a:spcPts val="100"/>
              </a:spcAft>
            </a:pPr>
            <a:r>
              <a:rPr sz="1300" b="0">
                <a:solidFill>
                  <a:srgbClr val="556175"/>
                </a:solidFill>
                <a:latin typeface="맑은 고딕"/>
                <a:ea typeface="맑은 고딕"/>
                <a:cs typeface="맑은 고딕"/>
              </a:rPr>
              <a:t>추천과 대안, 그 근거</a:t>
            </a:r>
          </a:p>
          <a:p>
            <a:pPr algn="ctr">
              <a:lnSpc>
                <a:spcPct val="110000"/>
              </a:lnSpc>
              <a:spcAft>
                <a:spcPts val="100"/>
              </a:spcAft>
            </a:pPr>
            <a:r>
              <a:rPr sz="1300" b="0">
                <a:solidFill>
                  <a:srgbClr val="556175"/>
                </a:solidFill>
                <a:latin typeface="맑은 고딕"/>
                <a:ea typeface="맑은 고딕"/>
                <a:cs typeface="맑은 고딕"/>
              </a:rPr>
              <a:t>냉각 조치: 팬 최대 운전</a:t>
            </a:r>
          </a:p>
          <a:p>
            <a:pPr algn="ctr">
              <a:lnSpc>
                <a:spcPct val="110000"/>
              </a:lnSpc>
              <a:spcAft>
                <a:spcPts val="100"/>
              </a:spcAft>
            </a:pPr>
            <a:r>
              <a:rPr sz="1300" b="0">
                <a:solidFill>
                  <a:srgbClr val="556175"/>
                </a:solidFill>
                <a:latin typeface="맑은 고딕"/>
                <a:ea typeface="맑은 고딕"/>
                <a:cs typeface="맑은 고딕"/>
              </a:rPr>
              <a:t>정비 시점: 야간 정비 시간</a:t>
            </a:r>
          </a:p>
          <a:p>
            <a:pPr algn="ctr">
              <a:lnSpc>
                <a:spcPct val="110000"/>
              </a:lnSpc>
              <a:spcAft>
                <a:spcPts val="100"/>
              </a:spcAft>
            </a:pPr>
            <a:r>
              <a:rPr sz="1300" b="0">
                <a:solidFill>
                  <a:srgbClr val="556175"/>
                </a:solidFill>
                <a:latin typeface="맑은 고딕"/>
                <a:ea typeface="맑은 고딕"/>
                <a:cs typeface="맑은 고딕"/>
              </a:rPr>
              <a:t>발주안: 6개 · 공급사 · 금액</a:t>
            </a:r>
          </a:p>
        </p:txBody>
      </p:sp>
      <p:sp>
        <p:nvSpPr>
          <p:cNvPr id="14" name="TextBox 13"/>
          <p:cNvSpPr txBox="1"/>
          <p:nvPr/>
        </p:nvSpPr>
        <p:spPr>
          <a:xfrm>
            <a:off x="5899476"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승인된 내용</a:t>
            </a:r>
          </a:p>
          <a:p>
            <a:pPr algn="ctr">
              <a:lnSpc>
                <a:spcPct val="110000"/>
              </a:lnSpc>
              <a:spcAft>
                <a:spcPts val="100"/>
              </a:spcAft>
            </a:pPr>
            <a:r>
              <a:rPr sz="1300" b="0">
                <a:solidFill>
                  <a:srgbClr val="556175"/>
                </a:solidFill>
                <a:latin typeface="맑은 고딕"/>
                <a:ea typeface="맑은 고딕"/>
                <a:cs typeface="맑은 고딕"/>
              </a:rPr>
              <a:t>승인한 역할과 승인된 제안</a:t>
            </a:r>
          </a:p>
          <a:p>
            <a:pPr algn="ctr">
              <a:lnSpc>
                <a:spcPct val="110000"/>
              </a:lnSpc>
              <a:spcAft>
                <a:spcPts val="100"/>
              </a:spcAft>
            </a:pPr>
            <a:r>
              <a:rPr sz="1300" b="0">
                <a:solidFill>
                  <a:srgbClr val="556175"/>
                </a:solidFill>
                <a:latin typeface="맑은 고딕"/>
                <a:ea typeface="맑은 고딕"/>
                <a:cs typeface="맑은 고딕"/>
              </a:rPr>
              <a:t>운전원 · 팬 속도 100 %</a:t>
            </a:r>
          </a:p>
          <a:p>
            <a:pPr algn="ctr">
              <a:lnSpc>
                <a:spcPct val="110000"/>
              </a:lnSpc>
              <a:spcAft>
                <a:spcPts val="100"/>
              </a:spcAft>
            </a:pPr>
            <a:r>
              <a:rPr sz="1300" b="0">
                <a:solidFill>
                  <a:srgbClr val="556175"/>
                </a:solidFill>
                <a:latin typeface="맑은 고딕"/>
                <a:ea typeface="맑은 고딕"/>
                <a:cs typeface="맑은 고딕"/>
              </a:rPr>
              <a:t>설비보전팀장 · 정비 시점</a:t>
            </a:r>
          </a:p>
          <a:p>
            <a:pPr algn="ctr">
              <a:lnSpc>
                <a:spcPct val="110000"/>
              </a:lnSpc>
              <a:spcAft>
                <a:spcPts val="100"/>
              </a:spcAft>
            </a:pPr>
            <a:r>
              <a:rPr sz="1300" b="0">
                <a:solidFill>
                  <a:srgbClr val="556175"/>
                </a:solidFill>
                <a:latin typeface="맑은 고딕"/>
                <a:ea typeface="맑은 고딕"/>
                <a:cs typeface="맑은 고딕"/>
              </a:rPr>
              <a:t>구매 담당 · 수량과 공급사</a:t>
            </a:r>
          </a:p>
        </p:txBody>
      </p:sp>
      <p:sp>
        <p:nvSpPr>
          <p:cNvPr id="15" name="TextBox 14"/>
          <p:cNvSpPr txBox="1"/>
          <p:nvPr/>
        </p:nvSpPr>
        <p:spPr>
          <a:xfrm>
            <a:off x="8125013"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처리의 결과</a:t>
            </a:r>
          </a:p>
          <a:p>
            <a:pPr algn="ctr">
              <a:lnSpc>
                <a:spcPct val="110000"/>
              </a:lnSpc>
              <a:spcAft>
                <a:spcPts val="100"/>
              </a:spcAft>
            </a:pPr>
            <a:r>
              <a:rPr sz="1300" b="0">
                <a:solidFill>
                  <a:srgbClr val="556175"/>
                </a:solidFill>
                <a:latin typeface="맑은 고딕"/>
                <a:ea typeface="맑은 고딕"/>
                <a:cs typeface="맑은 고딕"/>
              </a:rPr>
              <a:t>업무 시스템에 남은 기록</a:t>
            </a:r>
          </a:p>
          <a:p>
            <a:pPr algn="ctr">
              <a:lnSpc>
                <a:spcPct val="110000"/>
              </a:lnSpc>
              <a:spcAft>
                <a:spcPts val="100"/>
              </a:spcAft>
            </a:pPr>
            <a:r>
              <a:rPr sz="1300" b="0">
                <a:solidFill>
                  <a:srgbClr val="556175"/>
                </a:solidFill>
                <a:latin typeface="맑은 고딕"/>
                <a:ea typeface="맑은 고딕"/>
                <a:cs typeface="맑은 고딕"/>
              </a:rPr>
              <a:t>설비 명령과 작업지시</a:t>
            </a:r>
          </a:p>
          <a:p>
            <a:pPr algn="ctr">
              <a:lnSpc>
                <a:spcPct val="110000"/>
              </a:lnSpc>
              <a:spcAft>
                <a:spcPts val="100"/>
              </a:spcAft>
            </a:pPr>
            <a:r>
              <a:rPr sz="1300" b="0">
                <a:solidFill>
                  <a:srgbClr val="556175"/>
                </a:solidFill>
                <a:latin typeface="맑은 고딕"/>
                <a:ea typeface="맑은 고딕"/>
                <a:cs typeface="맑은 고딕"/>
              </a:rPr>
              <a:t>정비 오더와 공지</a:t>
            </a:r>
          </a:p>
          <a:p>
            <a:pPr algn="ctr">
              <a:lnSpc>
                <a:spcPct val="110000"/>
              </a:lnSpc>
              <a:spcAft>
                <a:spcPts val="100"/>
              </a:spcAft>
            </a:pPr>
            <a:r>
              <a:rPr sz="1300" b="0">
                <a:solidFill>
                  <a:srgbClr val="556175"/>
                </a:solidFill>
                <a:latin typeface="맑은 고딕"/>
                <a:ea typeface="맑은 고딕"/>
                <a:cs typeface="맑은 고딕"/>
              </a:rPr>
              <a:t>발주와 입고</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승인과 거절: 같은 제안의 두 결말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사람이 승인한 제안만 시스템의 처리로 넘어가며, 거절된 제안은 세 업무 모두에서 시스템의 실행 없이 닫혔다.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게이트웨이가 승인의 갈래를 연다</a:t>
            </a:r>
          </a:p>
          <a:p>
            <a:pPr algn="l">
              <a:lnSpc>
                <a:spcPct val="110000"/>
              </a:lnSpc>
              <a:spcAft>
                <a:spcPts val="600"/>
              </a:spcAft>
            </a:pPr>
            <a:r>
              <a:rPr sz="1450" b="0">
                <a:solidFill>
                  <a:srgbClr val="1F2A3A"/>
                </a:solidFill>
                <a:latin typeface="맑은 고딕"/>
                <a:ea typeface="맑은 고딕"/>
                <a:cs typeface="맑은 고딕"/>
              </a:rPr>
              <a:t>• 긴급 대응: 설비 명령과 작업지시</a:t>
            </a:r>
          </a:p>
          <a:p>
            <a:pPr algn="l">
              <a:lnSpc>
                <a:spcPct val="110000"/>
              </a:lnSpc>
              <a:spcAft>
                <a:spcPts val="600"/>
              </a:spcAft>
            </a:pPr>
            <a:r>
              <a:rPr sz="1450" b="0">
                <a:solidFill>
                  <a:srgbClr val="1F2A3A"/>
                </a:solidFill>
                <a:latin typeface="맑은 고딕"/>
                <a:ea typeface="맑은 고딕"/>
                <a:cs typeface="맑은 고딕"/>
              </a:rPr>
              <a:t>• 정기 점검: 정비 오더와 공지</a:t>
            </a:r>
          </a:p>
          <a:p>
            <a:pPr algn="l">
              <a:lnSpc>
                <a:spcPct val="110000"/>
              </a:lnSpc>
              <a:spcAft>
                <a:spcPts val="600"/>
              </a:spcAft>
            </a:pPr>
            <a:r>
              <a:rPr sz="1450" b="0">
                <a:solidFill>
                  <a:srgbClr val="1F2A3A"/>
                </a:solidFill>
                <a:latin typeface="맑은 고딕"/>
                <a:ea typeface="맑은 고딕"/>
                <a:cs typeface="맑은 고딕"/>
              </a:rPr>
              <a:t>• 재고 보충: 발주와 입고</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E_end</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게이트웨이가 거절의 갈래를 연다</a:t>
            </a:r>
          </a:p>
          <a:p>
            <a:pPr algn="l">
              <a:lnSpc>
                <a:spcPct val="110000"/>
              </a:lnSpc>
              <a:spcAft>
                <a:spcPts val="600"/>
              </a:spcAft>
            </a:pPr>
            <a:r>
              <a:rPr sz="1450" b="0">
                <a:solidFill>
                  <a:srgbClr val="1F2A3A"/>
                </a:solidFill>
                <a:latin typeface="맑은 고딕"/>
                <a:ea typeface="맑은 고딕"/>
                <a:cs typeface="맑은 고딕"/>
              </a:rPr>
              <a:t>• 설비 명령, 정비 오더, 발주는 만들어지지 않는다</a:t>
            </a:r>
          </a:p>
          <a:p>
            <a:pPr algn="l">
              <a:lnSpc>
                <a:spcPct val="110000"/>
              </a:lnSpc>
              <a:spcAft>
                <a:spcPts val="600"/>
              </a:spcAft>
            </a:pPr>
            <a:r>
              <a:rPr sz="1450" b="0">
                <a:solidFill>
                  <a:srgbClr val="1F2A3A"/>
                </a:solidFill>
                <a:latin typeface="맑은 고딕"/>
                <a:ea typeface="맑은 고딕"/>
                <a:cs typeface="맑은 고딕"/>
              </a:rPr>
              <a:t>• 결과 보고가 거절의 사유와 하지 않은 일을 적는다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E_rejected</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HITL을 지키는 검사: 승인 없는 실행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7회차의 HITL은 프로세스에서 사용자 작업으로 그려지고, 설비 명령 앞에 그 작업이 없는 정의는 등록이 거절된다.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승인이 빠진 경로</a:t>
            </a:r>
          </a:p>
          <a:p>
            <a:pPr algn="l">
              <a:lnSpc>
                <a:spcPct val="110000"/>
              </a:lnSpc>
              <a:spcAft>
                <a:spcPts val="400"/>
              </a:spcAft>
            </a:pPr>
            <a:r>
              <a:rPr sz="1400" b="0">
                <a:solidFill>
                  <a:srgbClr val="1F2A3A"/>
                </a:solidFill>
                <a:latin typeface="맑은 고딕"/>
                <a:ea typeface="맑은 고딕"/>
                <a:cs typeface="맑은 고딕"/>
              </a:rPr>
              <a:t>• 설비 명령 앞의 경로에</a:t>
            </a:r>
          </a:p>
          <a:p>
            <a:pPr algn="l">
              <a:lnSpc>
                <a:spcPct val="110000"/>
              </a:lnSpc>
              <a:spcAft>
                <a:spcPts val="400"/>
              </a:spcAft>
            </a:pPr>
            <a:r>
              <a:rPr sz="1400" b="0">
                <a:solidFill>
                  <a:srgbClr val="1F2A3A"/>
                </a:solidFill>
                <a:latin typeface="맑은 고딕"/>
                <a:ea typeface="맑은 고딕"/>
                <a:cs typeface="맑은 고딕"/>
              </a:rPr>
              <a:t>• 사람의 승인이 없으면</a:t>
            </a:r>
          </a:p>
          <a:p>
            <a:pPr algn="l">
              <a:lnSpc>
                <a:spcPct val="110000"/>
              </a:lnSpc>
              <a:spcAft>
                <a:spcPts val="400"/>
              </a:spcAft>
            </a:pPr>
            <a:r>
              <a:rPr sz="1400" b="0">
                <a:solidFill>
                  <a:srgbClr val="1F2A3A"/>
                </a:solidFill>
                <a:latin typeface="맑은 고딕"/>
                <a:ea typeface="맑은 고딕"/>
                <a:cs typeface="맑은 고딕"/>
              </a:rPr>
              <a:t>• 등록하지 않는다</a:t>
            </a:r>
          </a:p>
        </p:txBody>
      </p:sp>
      <p:sp>
        <p:nvSpPr>
          <p:cNvPr id="10" name="Rounded Rectangle 9"/>
          <p:cNvSpPr/>
          <p:nvPr/>
        </p:nvSpPr>
        <p:spPr>
          <a:xfrm>
            <a:off x="777240" y="5041392"/>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 갈래의 실행</a:t>
            </a:r>
          </a:p>
          <a:p>
            <a:pPr algn="l">
              <a:lnSpc>
                <a:spcPct val="110000"/>
              </a:lnSpc>
              <a:spcAft>
                <a:spcPts val="400"/>
              </a:spcAft>
            </a:pPr>
            <a:r>
              <a:rPr sz="1400" b="0">
                <a:solidFill>
                  <a:srgbClr val="1F2A3A"/>
                </a:solidFill>
                <a:latin typeface="맑은 고딕"/>
                <a:ea typeface="맑은 고딕"/>
                <a:cs typeface="맑은 고딕"/>
              </a:rPr>
              <a:t>• 승인 조건의 선을 지나지 않고</a:t>
            </a:r>
          </a:p>
          <a:p>
            <a:pPr algn="l">
              <a:lnSpc>
                <a:spcPct val="110000"/>
              </a:lnSpc>
              <a:spcAft>
                <a:spcPts val="400"/>
              </a:spcAft>
            </a:pPr>
            <a:r>
              <a:rPr sz="1400" b="0">
                <a:solidFill>
                  <a:srgbClr val="1F2A3A"/>
                </a:solidFill>
                <a:latin typeface="맑은 고딕"/>
                <a:ea typeface="맑은 고딕"/>
                <a:cs typeface="맑은 고딕"/>
              </a:rPr>
              <a:t>• 실행에 닿는 경로가 있으면</a:t>
            </a:r>
          </a:p>
          <a:p>
            <a:pPr algn="l">
              <a:lnSpc>
                <a:spcPct val="110000"/>
              </a:lnSpc>
              <a:spcAft>
                <a:spcPts val="400"/>
              </a:spcAft>
            </a:pPr>
            <a:r>
              <a:rPr sz="1400" b="0">
                <a:solidFill>
                  <a:srgbClr val="1F2A3A"/>
                </a:solidFill>
                <a:latin typeface="맑은 고딕"/>
                <a:ea typeface="맑은 고딕"/>
                <a:cs typeface="맑은 고딕"/>
              </a:rPr>
              <a:t>• 등록하지 않는다</a:t>
            </a:r>
          </a:p>
        </p:txBody>
      </p:sp>
      <p:sp>
        <p:nvSpPr>
          <p:cNvPr id="16" name="Rounded Rectangle 15"/>
          <p:cNvSpPr/>
          <p:nvPr/>
        </p:nvSpPr>
        <p:spPr>
          <a:xfrm>
            <a:off x="4566818" y="5041392"/>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없는 승인</a:t>
            </a:r>
          </a:p>
          <a:p>
            <a:pPr algn="l">
              <a:lnSpc>
                <a:spcPct val="110000"/>
              </a:lnSpc>
              <a:spcAft>
                <a:spcPts val="400"/>
              </a:spcAft>
            </a:pPr>
            <a:r>
              <a:rPr sz="1400" b="0">
                <a:solidFill>
                  <a:srgbClr val="1F2A3A"/>
                </a:solidFill>
                <a:latin typeface="맑은 고딕"/>
                <a:ea typeface="맑은 고딕"/>
                <a:cs typeface="맑은 고딕"/>
              </a:rPr>
              <a:t>• 그 조치의 승인 역할이 아닌</a:t>
            </a:r>
          </a:p>
          <a:p>
            <a:pPr algn="l">
              <a:lnSpc>
                <a:spcPct val="110000"/>
              </a:lnSpc>
              <a:spcAft>
                <a:spcPts val="400"/>
              </a:spcAft>
            </a:pPr>
            <a:r>
              <a:rPr sz="1400" b="0">
                <a:solidFill>
                  <a:srgbClr val="1F2A3A"/>
                </a:solidFill>
                <a:latin typeface="맑은 고딕"/>
                <a:ea typeface="맑은 고딕"/>
                <a:cs typeface="맑은 고딕"/>
              </a:rPr>
              <a:t>• 쪽의 승인은 거부되고</a:t>
            </a:r>
          </a:p>
          <a:p>
            <a:pPr algn="l">
              <a:lnSpc>
                <a:spcPct val="110000"/>
              </a:lnSpc>
              <a:spcAft>
                <a:spcPts val="400"/>
              </a:spcAft>
            </a:pPr>
            <a:r>
              <a:rPr sz="1400" b="0">
                <a:solidFill>
                  <a:srgbClr val="1F2A3A"/>
                </a:solidFill>
                <a:latin typeface="맑은 고딕"/>
                <a:ea typeface="맑은 고딕"/>
                <a:cs typeface="맑은 고딕"/>
              </a:rPr>
              <a:t>• 기록으로 남는다</a:t>
            </a:r>
          </a:p>
        </p:txBody>
      </p:sp>
      <p:sp>
        <p:nvSpPr>
          <p:cNvPr id="22" name="Rounded Rectangle 21"/>
          <p:cNvSpPr/>
          <p:nvPr/>
        </p:nvSpPr>
        <p:spPr>
          <a:xfrm>
            <a:off x="8356396" y="5041392"/>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검사</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뒤의 시스템 실행 셋</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승인이 전달되면 엔진은 설비에 명령을 내고, 시계열 DB에서 유온을 다시 읽고, CMMS에 작업지시를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pic>
        <p:nvPicPr>
          <p:cNvPr id="6" name="삽화:시스템실행.svg" descr="illust_3816008224309231806_179174492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3073917"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엔진</a:t>
            </a:r>
          </a:p>
          <a:p>
            <a:pPr algn="ctr">
              <a:lnSpc>
                <a:spcPct val="110000"/>
              </a:lnSpc>
              <a:spcAft>
                <a:spcPts val="100"/>
              </a:spcAft>
            </a:pPr>
            <a:r>
              <a:rPr sz="1300" b="0">
                <a:solidFill>
                  <a:srgbClr val="556175"/>
                </a:solidFill>
                <a:latin typeface="맑은 고딕"/>
                <a:ea typeface="맑은 고딕"/>
                <a:cs typeface="맑은 고딕"/>
              </a:rPr>
              <a:t>서비스 작업을 차례로 연다</a:t>
            </a:r>
          </a:p>
        </p:txBody>
      </p:sp>
      <p:sp>
        <p:nvSpPr>
          <p:cNvPr id="9" name="TextBox 8"/>
          <p:cNvSpPr txBox="1"/>
          <p:nvPr/>
        </p:nvSpPr>
        <p:spPr>
          <a:xfrm>
            <a:off x="8714126" y="2100376"/>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a:p>
            <a:pPr algn="ctr">
              <a:lnSpc>
                <a:spcPct val="110000"/>
              </a:lnSpc>
              <a:spcAft>
                <a:spcPts val="100"/>
              </a:spcAft>
            </a:pPr>
            <a:r>
              <a:rPr sz="1300" b="0">
                <a:solidFill>
                  <a:srgbClr val="556175"/>
                </a:solidFill>
                <a:latin typeface="맑은 고딕"/>
                <a:ea typeface="맑은 고딕"/>
                <a:cs typeface="맑은 고딕"/>
              </a:rPr>
              <a:t>CMD-1010-0001-01d1</a:t>
            </a:r>
          </a:p>
          <a:p>
            <a:pPr algn="ctr">
              <a:lnSpc>
                <a:spcPct val="110000"/>
              </a:lnSpc>
              <a:spcAft>
                <a:spcPts val="100"/>
              </a:spcAft>
            </a:pPr>
            <a:r>
              <a:rPr sz="1300" b="0">
                <a:solidFill>
                  <a:srgbClr val="556175"/>
                </a:solidFill>
                <a:latin typeface="맑은 고딕"/>
                <a:ea typeface="맑은 고딕"/>
                <a:cs typeface="맑은 고딕"/>
              </a:rPr>
              <a:t>인터록 PASS</a:t>
            </a:r>
          </a:p>
        </p:txBody>
      </p:sp>
      <p:sp>
        <p:nvSpPr>
          <p:cNvPr id="10" name="TextBox 9"/>
          <p:cNvSpPr txBox="1"/>
          <p:nvPr/>
        </p:nvSpPr>
        <p:spPr>
          <a:xfrm>
            <a:off x="8714126" y="3565885"/>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a:p>
            <a:pPr algn="ctr">
              <a:lnSpc>
                <a:spcPct val="110000"/>
              </a:lnSpc>
              <a:spcAft>
                <a:spcPts val="100"/>
              </a:spcAft>
            </a:pPr>
            <a:r>
              <a:rPr sz="1300" b="0">
                <a:solidFill>
                  <a:srgbClr val="556175"/>
                </a:solidFill>
                <a:latin typeface="맑은 고딕"/>
                <a:ea typeface="맑은 고딕"/>
                <a:cs typeface="맑은 고딕"/>
              </a:rPr>
              <a:t>유온 51.3 ℃</a:t>
            </a:r>
          </a:p>
          <a:p>
            <a:pPr algn="ctr">
              <a:lnSpc>
                <a:spcPct val="110000"/>
              </a:lnSpc>
              <a:spcAft>
                <a:spcPts val="100"/>
              </a:spcAft>
            </a:pPr>
            <a:r>
              <a:rPr sz="1300" b="0">
                <a:solidFill>
                  <a:srgbClr val="556175"/>
                </a:solidFill>
                <a:latin typeface="맑은 고딕"/>
                <a:ea typeface="맑은 고딕"/>
                <a:cs typeface="맑은 고딕"/>
              </a:rPr>
              <a:t>기준 55 ℃ 미만</a:t>
            </a:r>
          </a:p>
        </p:txBody>
      </p:sp>
      <p:sp>
        <p:nvSpPr>
          <p:cNvPr id="11" name="TextBox 10"/>
          <p:cNvSpPr txBox="1"/>
          <p:nvPr/>
        </p:nvSpPr>
        <p:spPr>
          <a:xfrm>
            <a:off x="8714126" y="5031394"/>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 등록</a:t>
            </a:r>
          </a:p>
          <a:p>
            <a:pPr algn="ctr">
              <a:lnSpc>
                <a:spcPct val="110000"/>
              </a:lnSpc>
              <a:spcAft>
                <a:spcPts val="100"/>
              </a:spcAft>
            </a:pPr>
            <a:r>
              <a:rPr sz="1300" b="0">
                <a:solidFill>
                  <a:srgbClr val="556175"/>
                </a:solidFill>
                <a:latin typeface="맑은 고딕"/>
                <a:ea typeface="맑은 고딕"/>
                <a:cs typeface="맑은 고딕"/>
              </a:rPr>
              <a:t>WO-1010-1198</a:t>
            </a:r>
          </a:p>
          <a:p>
            <a:pPr algn="ctr">
              <a:lnSpc>
                <a:spcPct val="110000"/>
              </a:lnSpc>
              <a:spcAft>
                <a:spcPts val="100"/>
              </a:spcAft>
            </a:pPr>
            <a:r>
              <a:rPr sz="1300" b="0">
                <a:solidFill>
                  <a:srgbClr val="556175"/>
                </a:solidFill>
                <a:latin typeface="맑은 고딕"/>
                <a:ea typeface="맑은 고딕"/>
                <a:cs typeface="맑은 고딕"/>
              </a:rPr>
              <a:t>CMMS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업무가 끝난 모습: 종료 기록과 달라진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종료 기록의 끝 이벤트와 결과 보고는 유온의 회복, 등록된 정비 오더, 채워진 재고라는 달라진 상태를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pic>
        <p:nvPicPr>
          <p:cNvPr id="6" name="삽화:세종료.svg" descr="illust_1623480526279703829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긴급 대응</a:t>
            </a:r>
          </a:p>
          <a:p>
            <a:pPr algn="ctr">
              <a:lnSpc>
                <a:spcPct val="110000"/>
              </a:lnSpc>
              <a:spcAft>
                <a:spcPts val="100"/>
              </a:spcAft>
            </a:pPr>
            <a:r>
              <a:rPr sz="1300" b="0">
                <a:solidFill>
                  <a:srgbClr val="556175"/>
                </a:solidFill>
                <a:latin typeface="맑은 고딕"/>
                <a:ea typeface="맑은 고딕"/>
                <a:cs typeface="맑은 고딕"/>
              </a:rPr>
              <a:t>유온 51.3 ℃ · 기준 55 ℃ 미만</a:t>
            </a:r>
          </a:p>
          <a:p>
            <a:pPr algn="ctr">
              <a:lnSpc>
                <a:spcPct val="110000"/>
              </a:lnSpc>
              <a:spcAft>
                <a:spcPts val="100"/>
              </a:spcAft>
            </a:pPr>
            <a:r>
              <a:rPr sz="1300" b="0">
                <a:solidFill>
                  <a:srgbClr val="556175"/>
                </a:solidFill>
                <a:latin typeface="맑은 고딕"/>
                <a:ea typeface="맑은 고딕"/>
                <a:cs typeface="맑은 고딕"/>
              </a:rPr>
              <a:t>작업지시 WO-1010-1198</a:t>
            </a:r>
          </a:p>
        </p:txBody>
      </p:sp>
      <p:sp>
        <p:nvSpPr>
          <p:cNvPr id="8" name="TextBox 7"/>
          <p:cNvSpPr txBox="1"/>
          <p:nvPr/>
        </p:nvSpPr>
        <p:spPr>
          <a:xfrm>
            <a:off x="4404875"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a:t>
            </a:r>
          </a:p>
          <a:p>
            <a:pPr algn="ctr">
              <a:lnSpc>
                <a:spcPct val="110000"/>
              </a:lnSpc>
              <a:spcAft>
                <a:spcPts val="100"/>
              </a:spcAft>
            </a:pPr>
            <a:r>
              <a:rPr sz="1300" b="0">
                <a:solidFill>
                  <a:srgbClr val="556175"/>
                </a:solidFill>
                <a:latin typeface="맑은 고딕"/>
                <a:ea typeface="맑은 고딕"/>
                <a:cs typeface="맑은 고딕"/>
              </a:rPr>
              <a:t>정비 오더 WO-1010-5DDD</a:t>
            </a:r>
          </a:p>
          <a:p>
            <a:pPr algn="ctr">
              <a:lnSpc>
                <a:spcPct val="110000"/>
              </a:lnSpc>
              <a:spcAft>
                <a:spcPts val="100"/>
              </a:spcAft>
            </a:pPr>
            <a:r>
              <a:rPr sz="1300" b="0">
                <a:solidFill>
                  <a:srgbClr val="556175"/>
                </a:solidFill>
                <a:latin typeface="맑은 고딕"/>
                <a:ea typeface="맑은 고딕"/>
                <a:cs typeface="맑은 고딕"/>
              </a:rPr>
              <a:t>생산팀에 공지 메일</a:t>
            </a:r>
          </a:p>
        </p:txBody>
      </p:sp>
      <p:sp>
        <p:nvSpPr>
          <p:cNvPr id="9" name="TextBox 8"/>
          <p:cNvSpPr txBox="1"/>
          <p:nvPr/>
        </p:nvSpPr>
        <p:spPr>
          <a:xfrm>
            <a:off x="7983190"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보충</a:t>
            </a:r>
          </a:p>
          <a:p>
            <a:pPr algn="ctr">
              <a:lnSpc>
                <a:spcPct val="110000"/>
              </a:lnSpc>
              <a:spcAft>
                <a:spcPts val="100"/>
              </a:spcAft>
            </a:pPr>
            <a:r>
              <a:rPr sz="1300" b="0">
                <a:solidFill>
                  <a:srgbClr val="556175"/>
                </a:solidFill>
                <a:latin typeface="맑은 고딕"/>
                <a:ea typeface="맑은 고딕"/>
                <a:cs typeface="맑은 고딕"/>
              </a:rPr>
              <a:t>씰 키트 6개 입고 · 검수 합격</a:t>
            </a:r>
          </a:p>
          <a:p>
            <a:pPr algn="ctr">
              <a:lnSpc>
                <a:spcPct val="110000"/>
              </a:lnSpc>
              <a:spcAft>
                <a:spcPts val="100"/>
              </a:spcAft>
            </a:pPr>
            <a:r>
              <a:rPr sz="1300" b="0">
                <a:solidFill>
                  <a:srgbClr val="556175"/>
                </a:solidFill>
                <a:latin typeface="맑은 고딕"/>
                <a:ea typeface="맑은 고딕"/>
                <a:cs typeface="맑은 고딕"/>
              </a:rPr>
              <a:t>가용 재고 1개에서 7개로</a:t>
            </a:r>
          </a:p>
        </p:txBody>
      </p:sp>
      <p:sp>
        <p:nvSpPr>
          <p:cNvPr id="10" name="TextBox 9"/>
          <p:cNvSpPr txBox="1"/>
          <p:nvPr/>
        </p:nvSpPr>
        <p:spPr>
          <a:xfrm>
            <a:off x="935656"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정상</a:t>
            </a:r>
          </a:p>
        </p:txBody>
      </p:sp>
      <p:sp>
        <p:nvSpPr>
          <p:cNvPr id="11" name="TextBox 10"/>
          <p:cNvSpPr txBox="1"/>
          <p:nvPr/>
        </p:nvSpPr>
        <p:spPr>
          <a:xfrm>
            <a:off x="4513970"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정상</a:t>
            </a:r>
          </a:p>
        </p:txBody>
      </p:sp>
      <p:sp>
        <p:nvSpPr>
          <p:cNvPr id="12" name="TextBox 11"/>
          <p:cNvSpPr txBox="1"/>
          <p:nvPr/>
        </p:nvSpPr>
        <p:spPr>
          <a:xfrm>
            <a:off x="8092285"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입고 완료</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셋 가운데 하나가 빠질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지식이 빠지면 제안에 근거가 없고, 에이전트가 빠지면 사람이 견주며, 프로세스가 빠지면 실행에 닿지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지식이 없을 때</a:t>
            </a:r>
          </a:p>
          <a:p>
            <a:pPr algn="l">
              <a:lnSpc>
                <a:spcPct val="110000"/>
              </a:lnSpc>
              <a:spcAft>
                <a:spcPts val="400"/>
              </a:spcAft>
            </a:pPr>
            <a:r>
              <a:rPr sz="1400" b="0">
                <a:solidFill>
                  <a:srgbClr val="1F2A3A"/>
                </a:solidFill>
                <a:latin typeface="맑은 고딕"/>
                <a:ea typeface="맑은 고딕"/>
                <a:cs typeface="맑은 고딕"/>
              </a:rPr>
              <a:t>• 원인 후보와 조치와 규칙을 읽을 곳이 없다</a:t>
            </a:r>
          </a:p>
          <a:p>
            <a:pPr algn="l">
              <a:lnSpc>
                <a:spcPct val="110000"/>
              </a:lnSpc>
              <a:spcAft>
                <a:spcPts val="400"/>
              </a:spcAft>
            </a:pPr>
            <a:r>
              <a:rPr sz="1400" b="0">
                <a:solidFill>
                  <a:srgbClr val="1F2A3A"/>
                </a:solidFill>
                <a:latin typeface="맑은 고딕"/>
                <a:ea typeface="맑은 고딕"/>
                <a:cs typeface="맑은 고딕"/>
              </a:rPr>
              <a:t>• 제안이 무엇에 근거했는지 되짚을 수 없다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에이전트가 없을 때</a:t>
            </a:r>
          </a:p>
          <a:p>
            <a:pPr algn="l">
              <a:lnSpc>
                <a:spcPct val="110000"/>
              </a:lnSpc>
              <a:spcAft>
                <a:spcPts val="400"/>
              </a:spcAft>
            </a:pPr>
            <a:r>
              <a:rPr sz="1400" b="0">
                <a:solidFill>
                  <a:srgbClr val="1F2A3A"/>
                </a:solidFill>
                <a:latin typeface="맑은 고딕"/>
                <a:ea typeface="맑은 고딕"/>
                <a:cs typeface="맑은 고딕"/>
              </a:rPr>
              <a:t>경보가 올 때마다 사람이 지식과 값을 찾아 후보를 견주어야 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프로세스가 없을 때</a:t>
            </a:r>
          </a:p>
          <a:p>
            <a:pPr algn="l">
              <a:lnSpc>
                <a:spcPct val="110000"/>
              </a:lnSpc>
              <a:spcAft>
                <a:spcPts val="400"/>
              </a:spcAft>
            </a:pPr>
            <a:r>
              <a:rPr sz="1400" b="0">
                <a:solidFill>
                  <a:srgbClr val="1F2A3A"/>
                </a:solidFill>
                <a:latin typeface="맑은 고딕"/>
                <a:ea typeface="맑은 고딕"/>
                <a:cs typeface="맑은 고딕"/>
              </a:rPr>
              <a:t>• 추천이 나와도 누가 승인하고 누가 실행할지가 정해져 있지 않다</a:t>
            </a:r>
          </a:p>
          <a:p>
            <a:pPr algn="l">
              <a:lnSpc>
                <a:spcPct val="110000"/>
              </a:lnSpc>
              <a:spcAft>
                <a:spcPts val="400"/>
              </a:spcAft>
            </a:pPr>
            <a:r>
              <a:rPr sz="1400" b="0">
                <a:solidFill>
                  <a:srgbClr val="1F2A3A"/>
                </a:solidFill>
                <a:latin typeface="맑은 고딕"/>
                <a:ea typeface="맑은 고딕"/>
                <a:cs typeface="맑은 고딕"/>
              </a:rPr>
              <a:t>• 진행과 결과가 한곳에 남지 않는다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완결</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AI가 맡은 일과 사람이 맡은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업무에서 AI는 읽고 견주어 제안했고, 사람은 프로세스를 설계하고 제안을 승인하거나 거절했다.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 에이전트</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 그래프와 업무 데이터를 읽는다</a:t>
            </a:r>
          </a:p>
          <a:p>
            <a:pPr algn="l">
              <a:lnSpc>
                <a:spcPct val="110000"/>
              </a:lnSpc>
              <a:spcAft>
                <a:spcPts val="600"/>
              </a:spcAft>
            </a:pPr>
            <a:r>
              <a:rPr sz="1450" b="0">
                <a:solidFill>
                  <a:srgbClr val="1F2A3A"/>
                </a:solidFill>
                <a:latin typeface="맑은 고딕"/>
                <a:ea typeface="맑은 고딕"/>
                <a:cs typeface="맑은 고딕"/>
              </a:rPr>
              <a:t>• 후보를 견주어 추천과 대안을 낸다</a:t>
            </a:r>
          </a:p>
          <a:p>
            <a:pPr algn="l">
              <a:lnSpc>
                <a:spcPct val="110000"/>
              </a:lnSpc>
              <a:spcAft>
                <a:spcPts val="600"/>
              </a:spcAft>
            </a:pPr>
            <a:r>
              <a:rPr sz="1450" b="0">
                <a:solidFill>
                  <a:srgbClr val="1F2A3A"/>
                </a:solidFill>
                <a:latin typeface="맑은 고딕"/>
                <a:ea typeface="맑은 고딕"/>
                <a:cs typeface="맑은 고딕"/>
              </a:rPr>
              <a:t>• 설비 명령과 업무 처리는 하지 않는다</a:t>
            </a:r>
          </a:p>
        </p:txBody>
      </p:sp>
      <p:sp>
        <p:nvSpPr>
          <p:cNvPr id="11" name="Rounded Rectangle 10"/>
          <p:cNvSpPr/>
          <p:nvPr/>
        </p:nvSpPr>
        <p:spPr>
          <a:xfrm>
            <a:off x="868680" y="494557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제안까지</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순서, 승인 역할, 예외 경로를 프로세스로 정한다</a:t>
            </a:r>
          </a:p>
          <a:p>
            <a:pPr algn="l">
              <a:lnSpc>
                <a:spcPct val="110000"/>
              </a:lnSpc>
              <a:spcAft>
                <a:spcPts val="600"/>
              </a:spcAft>
            </a:pPr>
            <a:r>
              <a:rPr sz="1450" b="0">
                <a:solidFill>
                  <a:srgbClr val="1F2A3A"/>
                </a:solidFill>
                <a:latin typeface="맑은 고딕"/>
                <a:ea typeface="맑은 고딕"/>
                <a:cs typeface="맑은 고딕"/>
              </a:rPr>
              <a:t>• 제안을 승인하거나 거절한다</a:t>
            </a:r>
          </a:p>
          <a:p>
            <a:pPr algn="l">
              <a:lnSpc>
                <a:spcPct val="110000"/>
              </a:lnSpc>
              <a:spcAft>
                <a:spcPts val="600"/>
              </a:spcAft>
            </a:pPr>
            <a:r>
              <a:rPr sz="1450" b="0">
                <a:solidFill>
                  <a:srgbClr val="1F2A3A"/>
                </a:solidFill>
                <a:latin typeface="맑은 고딕"/>
                <a:ea typeface="맑은 고딕"/>
                <a:cs typeface="맑은 고딕"/>
              </a:rPr>
              <a:t>• 기록을 읽어 프로세스를 고친다</a:t>
            </a:r>
          </a:p>
        </p:txBody>
      </p:sp>
      <p:sp>
        <p:nvSpPr>
          <p:cNvPr id="18" name="Rounded Rectangle 17"/>
          <p:cNvSpPr/>
          <p:nvPr/>
        </p:nvSpPr>
        <p:spPr>
          <a:xfrm>
            <a:off x="6781647" y="4945570"/>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 · 결정 · 개선</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새 업무를 프로세스로 옮길 때의 다섯 물음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업무를 프로세스로 옮기는 일은 처리 건이 지나는 다섯 자리에 무엇을 놓을지를 묻는 데서 시작한다.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ectangle 5"/>
          <p:cNvSpPr/>
          <p:nvPr/>
        </p:nvSpPr>
        <p:spPr>
          <a:xfrm>
            <a:off x="1658081" y="3053715"/>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637663"/>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223741"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어떤 사건이 일어나면 이 업무가 시작되는가</a:t>
            </a:r>
          </a:p>
        </p:txBody>
      </p:sp>
      <p:sp>
        <p:nvSpPr>
          <p:cNvPr id="10" name="Oval 9"/>
          <p:cNvSpPr/>
          <p:nvPr/>
        </p:nvSpPr>
        <p:spPr>
          <a:xfrm>
            <a:off x="3442624" y="2637663"/>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3442624"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2840675"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무엇을 읽어 무엇을 제안하게 할 것인가</a:t>
            </a:r>
          </a:p>
        </p:txBody>
      </p:sp>
      <p:sp>
        <p:nvSpPr>
          <p:cNvPr id="13" name="Oval 12"/>
          <p:cNvSpPr/>
          <p:nvPr/>
        </p:nvSpPr>
        <p:spPr>
          <a:xfrm>
            <a:off x="5661507" y="2637663"/>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5661507"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5059558"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사람의 승인</a:t>
            </a:r>
          </a:p>
          <a:p>
            <a:pPr algn="ctr">
              <a:lnSpc>
                <a:spcPct val="110000"/>
              </a:lnSpc>
              <a:spcAft>
                <a:spcPts val="400"/>
              </a:spcAft>
            </a:pPr>
            <a:r>
              <a:rPr sz="1300" b="0">
                <a:solidFill>
                  <a:srgbClr val="1F2A3A"/>
                </a:solidFill>
                <a:latin typeface="맑은 고딕"/>
                <a:ea typeface="맑은 고딕"/>
                <a:cs typeface="맑은 고딕"/>
              </a:rPr>
              <a:t>어느 역할이 결정하며 거절과 무응답은 어떻게 닫는가</a:t>
            </a:r>
          </a:p>
        </p:txBody>
      </p:sp>
      <p:sp>
        <p:nvSpPr>
          <p:cNvPr id="16" name="Oval 15"/>
          <p:cNvSpPr/>
          <p:nvPr/>
        </p:nvSpPr>
        <p:spPr>
          <a:xfrm>
            <a:off x="7880390" y="2637663"/>
            <a:ext cx="868680" cy="868680"/>
          </a:xfrm>
          <a:prstGeom prst="ellipse">
            <a:avLst/>
          </a:prstGeom>
          <a:solidFill>
            <a:srgbClr val="FFFFFF"/>
          </a:solidFill>
          <a:ln w="25400">
            <a:solidFill>
              <a:srgbClr val="13294B"/>
            </a:solidFill>
          </a:ln>
        </p:spPr>
        <p:txBody>
          <a:bodyPr rtlCol="0" anchor="ctr"/>
          <a:lstStyle/>
          <a:p>
            <a:pPr algn="ctr"/>
          </a:p>
        </p:txBody>
      </p:sp>
      <p:sp>
        <p:nvSpPr>
          <p:cNvPr id="17" name="TextBox 16"/>
          <p:cNvSpPr txBox="1"/>
          <p:nvPr/>
        </p:nvSpPr>
        <p:spPr>
          <a:xfrm>
            <a:off x="7880390"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7278441"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승인된 내용을 어느 시스템이 실행하고 기록하는가</a:t>
            </a:r>
          </a:p>
        </p:txBody>
      </p:sp>
      <p:sp>
        <p:nvSpPr>
          <p:cNvPr id="19" name="Oval 18"/>
          <p:cNvSpPr/>
          <p:nvPr/>
        </p:nvSpPr>
        <p:spPr>
          <a:xfrm>
            <a:off x="10099273" y="2637663"/>
            <a:ext cx="868680" cy="868680"/>
          </a:xfrm>
          <a:prstGeom prst="ellipse">
            <a:avLst/>
          </a:prstGeom>
          <a:solidFill>
            <a:srgbClr val="FFFFFF"/>
          </a:solidFill>
          <a:ln w="25400">
            <a:solidFill>
              <a:srgbClr val="13294B"/>
            </a:solidFill>
          </a:ln>
        </p:spPr>
        <p:txBody>
          <a:bodyPr rtlCol="0" anchor="ctr"/>
          <a:lstStyle/>
          <a:p>
            <a:pPr algn="ctr"/>
          </a:p>
        </p:txBody>
      </p:sp>
      <p:sp>
        <p:nvSpPr>
          <p:cNvPr id="20" name="TextBox 19"/>
          <p:cNvSpPr txBox="1"/>
          <p:nvPr/>
        </p:nvSpPr>
        <p:spPr>
          <a:xfrm>
            <a:off x="10099273"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5</a:t>
            </a:r>
          </a:p>
        </p:txBody>
      </p:sp>
      <p:sp>
        <p:nvSpPr>
          <p:cNvPr id="21" name="TextBox 20"/>
          <p:cNvSpPr txBox="1"/>
          <p:nvPr/>
        </p:nvSpPr>
        <p:spPr>
          <a:xfrm>
            <a:off x="9497324"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무엇이 남으면 이 업무가 끝났다고 보는가</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정리: 제안이 끝난 업무가 되는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제안은 근거가 지식에 닿아 있고, 정해진 역할이 승인하고, 실행과 결과가 기록으로 남을 때 끝난 업무가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a:t>
            </a:r>
          </a:p>
          <a:p>
            <a:pPr algn="l">
              <a:lnSpc>
                <a:spcPct val="110000"/>
              </a:lnSpc>
              <a:spcAft>
                <a:spcPts val="400"/>
              </a:spcAft>
            </a:pPr>
            <a:r>
              <a:rPr sz="1400" b="0">
                <a:solidFill>
                  <a:srgbClr val="1F2A3A"/>
                </a:solidFill>
                <a:latin typeface="맑은 고딕"/>
                <a:ea typeface="맑은 고딕"/>
                <a:cs typeface="맑은 고딕"/>
              </a:rPr>
              <a:t>• 판단의 근거가 등록된 지식과</a:t>
            </a:r>
          </a:p>
          <a:p>
            <a:pPr algn="l">
              <a:lnSpc>
                <a:spcPct val="110000"/>
              </a:lnSpc>
              <a:spcAft>
                <a:spcPts val="400"/>
              </a:spcAft>
            </a:pPr>
            <a:r>
              <a:rPr sz="1400" b="0">
                <a:solidFill>
                  <a:srgbClr val="1F2A3A"/>
                </a:solidFill>
                <a:latin typeface="맑은 고딕"/>
                <a:ea typeface="맑은 고딕"/>
                <a:cs typeface="맑은 고딕"/>
              </a:rPr>
              <a:t>• 도구로 읽은 값에 닿아 있다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a:t>
            </a:r>
          </a:p>
          <a:p>
            <a:pPr algn="l">
              <a:lnSpc>
                <a:spcPct val="110000"/>
              </a:lnSpc>
              <a:spcAft>
                <a:spcPts val="400"/>
              </a:spcAft>
            </a:pPr>
            <a:r>
              <a:rPr sz="1400" b="0">
                <a:solidFill>
                  <a:srgbClr val="1F2A3A"/>
                </a:solidFill>
                <a:latin typeface="맑은 고딕"/>
                <a:ea typeface="맑은 고딕"/>
                <a:cs typeface="맑은 고딕"/>
              </a:rPr>
              <a:t>• 스킬과 도구로 만든 판단이</a:t>
            </a:r>
          </a:p>
          <a:p>
            <a:pPr algn="l">
              <a:lnSpc>
                <a:spcPct val="110000"/>
              </a:lnSpc>
              <a:spcAft>
                <a:spcPts val="400"/>
              </a:spcAft>
            </a:pPr>
            <a:r>
              <a:rPr sz="1400" b="0">
                <a:solidFill>
                  <a:srgbClr val="1F2A3A"/>
                </a:solidFill>
                <a:latin typeface="맑은 고딕"/>
                <a:ea typeface="맑은 고딕"/>
                <a:cs typeface="맑은 고딕"/>
              </a:rPr>
              <a:t>• 명세가 정한 형식으로 제출된다</a:t>
            </a:r>
          </a:p>
        </p:txBody>
      </p:sp>
      <p:sp>
        <p:nvSpPr>
          <p:cNvPr id="16" name="Rounded Rectangle 15"/>
          <p:cNvSpPr/>
          <p:nvPr/>
        </p:nvSpPr>
        <p:spPr>
          <a:xfrm>
            <a:off x="4566818" y="4932934"/>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a:t>
            </a:r>
          </a:p>
          <a:p>
            <a:pPr algn="l">
              <a:lnSpc>
                <a:spcPct val="110000"/>
              </a:lnSpc>
              <a:spcAft>
                <a:spcPts val="400"/>
              </a:spcAft>
            </a:pPr>
            <a:r>
              <a:rPr sz="1400" b="0">
                <a:solidFill>
                  <a:srgbClr val="1F2A3A"/>
                </a:solidFill>
                <a:latin typeface="맑은 고딕"/>
                <a:ea typeface="맑은 고딕"/>
                <a:cs typeface="맑은 고딕"/>
              </a:rPr>
              <a:t>• 정해진 역할이 승인하고</a:t>
            </a:r>
          </a:p>
          <a:p>
            <a:pPr algn="l">
              <a:lnSpc>
                <a:spcPct val="110000"/>
              </a:lnSpc>
              <a:spcAft>
                <a:spcPts val="400"/>
              </a:spcAft>
            </a:pPr>
            <a:r>
              <a:rPr sz="1400" b="0">
                <a:solidFill>
                  <a:srgbClr val="1F2A3A"/>
                </a:solidFill>
                <a:latin typeface="맑은 고딕"/>
                <a:ea typeface="맑은 고딕"/>
                <a:cs typeface="맑은 고딕"/>
              </a:rPr>
              <a:t>• 실행과 결과가 기록된다</a:t>
            </a:r>
          </a:p>
        </p:txBody>
      </p:sp>
      <p:sp>
        <p:nvSpPr>
          <p:cNvPr id="22" name="Rounded Rectangle 21"/>
          <p:cNvSpPr/>
          <p:nvPr/>
        </p:nvSpPr>
        <p:spPr>
          <a:xfrm>
            <a:off x="8356396" y="4932934"/>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프로세스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용어의 정식 명칭, 그리고 그것이 세 업무의 프로세스에서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ERP</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Enterprise Resource Planning</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재고 보충의 실행 시스템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PM</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Preventive Maintenance</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정기 점검의 경보 패턴 PM_DUE</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패턴</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Pattern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세 프로세스가 함께 쓴 승인 블록</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재주문점</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Reorder Point</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재고 보충의 시작 조건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거절로 닫힌 재고 보충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처리 건의 상태가 COMPLETED이고, 닿은 끝 이벤트는 E_rejected이다.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건이 닫힌 뒤의 상황으로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처리 건이 끝났으므로 씰 키트의 재고 부족도 해결되었다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발주는 만들어지지 않았고 재고 보충이 필요한 상태는 그대로 남아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발주는 나갔지만 입고만 이루어지지 않았다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타이머가 처리 건을 자동으로 닫았다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승인을 생략하자는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정비 계획 에이전트의 제안이 대부분 적절했으므로 승인 작업을 빼고 정비 오더를 바로 등록하자는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의견에 대한 판단으로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제안이 정확하다면 승인 작업을 빼고 에이전트의 제안을 바로 등록한다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작업을 서비스 작업으로 바꾸어 시스템이 대신 승인하게 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설비를 세우는 정비 오더는 효과를 내는 작업이므로 설비보전팀장의 승인 뒤에 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타이머를 중단형으로 바꾸어 기한이 지나면 자동으로 등록한다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발주를 직접 내는 도구를 연결하자는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보충을 빨리 끝내려고, 구매 에이전트에게 발주를 직접 등록하는 쓰기 도구를 연결하자는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의견에 대한 판단으로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발주의 등록은 승인 뒤의 프로세스 작업에 두고 에이전트는 읽기만 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스킬에 「승인 뒤에만 발주한다」고 적어 두면 쓰기 도구를 연결해도 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발주한 뒤에 감사 기록이 남으므로 쓰기 도구를 연결해도 문제가 없다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 수량을 규칙으로 계산하게 하면 사람의 승인은 필요하지 않다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닫힌 처리 건의 해석, 에이전트와 사람의 책임 경계, 읽기와 쓰기의 책임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거절하면 처리 건은 닫히지만 발주는 만들어지지 않는다. 재고 부족은 그대로 남는다.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제안까지 한다. 효과를 내는 작업은 책임질 역할의 승인 뒤에 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쓰기는 승인 뒤의 프로세스 작업에 둔다. 스킬의 문장과 사후의 기록은 승인을 대신하지 못한다.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