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8회차와 9회차에는 긴급 대응 프로세스 하나를 그려 배포하고 실행했습니다. 오늘은 그 설계를 정비와 구매 업무에 다시 쓰고, 네 개의 실습에서 두 프로세스를 직접 그려 실행합니다. 마지막에는 온톨로지에서 에이전트와 프로세스를 거쳐 시스템 실행에 이르는 과정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9회차에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업무의 프로세스를 처음부터 따로 그릴 수도 있습니다. 그러면 거절했을 때와 응답이 없을 때를 다루는 방식이 프로세스마다 달라지기 쉽습니다. 운영하는 사람은 처리 건을 읽는 기준을 프로세스마다 새로 익혀야 합니다. 승인 기한 같은 것을 바꿀 때도 그림마다 다른 자리를 찾아 고쳐야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읽는 정보와 제안하는 내용도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9회차의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맡길지에도 원칙이 있습니다.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제안으로 잇습니다. 승인을 받는 자리는 8회차에 그린 것과 같은 모양으로 놓고 승인 역할만 설비보전팀장으로 합니다. 승인 뒤에는 정비 오더와 생산팀 공지와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제안이 승인을 기다립니다. 승인한 뒤 정비 오더와 생산팀 공지와 종료 기록이 남았는지를 처리 건에서 확인합니다. 거절한 경우에는 정비 오더가 만들어지지 않고 거절 종결에 닿아 닫히는지를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통지, 입고와 재고 반영, 결과 보고가 이어집니다.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1회차부터 4회차까지 만든 온톨로지는 원인과 증거와 조치와 규칙이라는 지식을 정하고, 현재 값이 어디에 있는지를 알려 줍니다. 5회차부터 7회차까지 다룬 에이전트는 그 지식과 값을 읽어 추천과 대안을 제안합니다. 8회차부터 오늘까지 다룬 프로세스는 그 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1~4회차에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2회차에 조치 방법으로 적어 둔 SOP-COOL-11 팬 최대 운전이 출발점입니다.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 한 건을 놓고, 5회차부터 10회차까지 배운 장치를 두 쪽으로 나누었습니다. 에이전트 실행과 스킬과 MCP, 그리고 명세와 시나리오는 에이전트가 제안 하나를 제대로 만들게 하는 장치입니다. 프로세스 정의와 인스턴스, 사람의 승인, 시스템 실행은 그 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장치가 같은 처리 건에서 실제로 한 일입니다. 에이전트 agent:cooling은 도구를 10번 불렀고, 첫 호출이 스킬 문서를 읽는 것이었습니다. hyd-dmn과 enterprise라는 MCP 서버의 도구로 지식과 값을 읽었습니다. 맨 아래의 명세와 시나리오는 이 실행 안에서 일한 것이 아니라, 출력의 형식과 기대 행동을 실행에 앞서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쪽의 장치가 같은 처리 건에서 남긴 것입니다. 프로세스 정의 c3_cooling은 작업 아홉과 갈림 둘, 타이머 하나를 가진 설계도입니다. 인스턴스는 그 설계도에서 열린 한 건으로, 경보에서 열려 끝 이벤트에서 닫혔습니다. 승인은 운전원 역할의 결정으로 기록되었고, 시스템 실행은 설비 명령 한 건과 작업지시 한 건으로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적으며, 왼쪽에 적은 것은 이 처리 건의 실행 기록에 남은 호출 순서입니다.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판단을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점선처럼 시스템의 처리를 지나지 않고 종료 기록으로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제안으로 내고, 사람은 그 가운데 승인한 내용을 냅니다. 시스템은 승인된 내용만 받아 실행하고 그 결과를 결과 보고에 넘깁니다. 앞 자리가 낸 것이 없으면 다음 자리는 일할 수 없고, 이렇게 건너가는 값이 9회차에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가운데 사람의 자리를 다시 보겠습니다. 에이전트의 제안이 같아도 사람의 결정에 따라 결말이 갈립니다. 승인하면 게이트웨이가 승인의 갈래를 열어 시스템의 처리가 이어집니다. 거절하면 설비 명령도 정비 오더도 발주도 만들어지지 않고, 결과 보고가 거절의 사유와 하지 않은 일을 적은 뒤 닫힙니다. 세 업무 모두에서 그랬습니다.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제안을 승인하거나 거절하는 일, 그리고 기록을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정리합니다. 에이전트의 제안이 끝난 업무가 되려면 세 가지가 갖추어져야 합니다. 판단의 근거가 등록된 지식과 읽은 값에 닿아 있어야 하고, 판단이 명세가 정한 형식으로 제출되어야 하며, 정해진 역할이 승인하고 실행과 결과가 기록되어야 합니다. 새 업무를 맡았을 때에도 이 세 가지가 갖추어졌는지를 먼저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 가용 재고가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4번은 사람이 결정하지 않은 채 효과가 나가게 하는 설계입니다.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7.png"/><Relationship Id="rId6"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7.png"/><Relationship Id="rId6" Type="http://schemas.openxmlformats.org/officeDocument/2006/relationships/image" Target="../media/image27.png"/><Relationship Id="rId7"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30.png"/><Relationship Id="rId7"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7.png"/><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9.png"/><Relationship Id="rId4" Type="http://schemas.openxmlformats.org/officeDocument/2006/relationships/image" Target="../media/image5.png"/><Relationship Id="rId5"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0.png"/><Relationship Id="rId4"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10회차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대응에서 정비와 구매까지</a:t>
            </a:r>
          </a:p>
          <a:p>
            <a:pPr algn="l">
              <a:lnSpc>
                <a:spcPct val="110000"/>
              </a:lnSpc>
            </a:pPr>
            <a:r>
              <a:rPr sz="4000" b="1">
                <a:solidFill>
                  <a:srgbClr val="FFFFFF"/>
                </a:solidFill>
                <a:latin typeface="맑은 고딕"/>
                <a:ea typeface="맑은 고딕"/>
                <a:cs typeface="맑은 고딕"/>
              </a:rPr>
              <a:t>프로세스 설계의 확장과 전체 정리</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지식, 에이전트, 프로세스의 전체 흐름</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정기 점검과 재고 보충에 다시 쓰고, 지식에서 시스템 실행까지의 전체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실행</a:t>
            </a:r>
          </a:p>
          <a:p>
            <a:pPr algn="l">
              <a:lnSpc>
                <a:spcPct val="110000"/>
              </a:lnSpc>
              <a:spcAft>
                <a:spcPts val="400"/>
              </a:spcAft>
            </a:pPr>
            <a:r>
              <a:rPr sz="1350" b="0">
                <a:solidFill>
                  <a:srgbClr val="1F2A3A"/>
                </a:solidFill>
                <a:latin typeface="맑은 고딕"/>
                <a:ea typeface="맑은 고딕"/>
                <a:cs typeface="맑은 고딕"/>
              </a:rPr>
              <a:t>정기 점검과 재고 보충의 프로세스를 그려 배포하고 승인과 거절의 결과를 확인한다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그리기</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실행하기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그리기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실행하기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승인의 자리는 그대로 두고 달라지는 자리만 정하는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502367828194527016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업무마다 프로세스를 처음부터 따로 설계하면 승인을 다루는 방식과 기록을 읽는 법이 업무의 수만큼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제각각이 된다</a:t>
            </a:r>
          </a:p>
          <a:p>
            <a:pPr algn="l">
              <a:lnSpc>
                <a:spcPct val="110000"/>
              </a:lnSpc>
              <a:spcAft>
                <a:spcPts val="400"/>
              </a:spcAft>
            </a:pPr>
            <a:r>
              <a:rPr sz="1400" b="0">
                <a:solidFill>
                  <a:srgbClr val="1F2A3A"/>
                </a:solidFill>
                <a:latin typeface="맑은 고딕"/>
                <a:ea typeface="맑은 고딕"/>
                <a:cs typeface="맑은 고딕"/>
              </a:rPr>
              <a:t>• 거절과 무응답을 다루는 방식이 프로세스마다 달라진다</a:t>
            </a:r>
          </a:p>
          <a:p>
            <a:pPr algn="l">
              <a:lnSpc>
                <a:spcPct val="110000"/>
              </a:lnSpc>
              <a:spcAft>
                <a:spcPts val="400"/>
              </a:spcAft>
            </a:pPr>
            <a:r>
              <a:rPr sz="1400" b="0">
                <a:solidFill>
                  <a:srgbClr val="1F2A3A"/>
                </a:solidFill>
                <a:latin typeface="맑은 고딕"/>
                <a:ea typeface="맑은 고딕"/>
                <a:cs typeface="맑은 고딕"/>
              </a:rPr>
              <a:t>• 한 곳에서 확인한 거절 경로가 다른 곳에서는 빠진다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법이 늘어난다</a:t>
            </a:r>
          </a:p>
          <a:p>
            <a:pPr algn="l">
              <a:lnSpc>
                <a:spcPct val="110000"/>
              </a:lnSpc>
              <a:spcAft>
                <a:spcPts val="400"/>
              </a:spcAft>
            </a:pPr>
            <a:r>
              <a:rPr sz="14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고칠 곳이 흩어진다</a:t>
            </a:r>
          </a:p>
          <a:p>
            <a:pPr algn="l">
              <a:lnSpc>
                <a:spcPct val="110000"/>
              </a:lnSpc>
              <a:spcAft>
                <a:spcPts val="400"/>
              </a:spcAft>
            </a:pPr>
            <a:r>
              <a:rPr sz="14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제안에서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운전시간.svg" descr="illust_159128930060059428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재고.svg" descr="illust_899321046043246077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세흐름_나란히.svg" descr="illust_52203605938129066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승인블록_자리.svg" descr="illust_875279253132800503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흐름_정기점검.svg" descr="illust_379841264772860133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흐름_재고보충.svg" descr="illust_727649611965962008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 블록을 다시 쓴 정기 점검 프로세스의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8회차의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CMMS 정비 오더, 생산팀 공지,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승인과 거절</a:t>
            </a:r>
          </a:p>
          <a:p>
            <a:pPr algn="ctr">
              <a:lnSpc>
                <a:spcPct val="110000"/>
              </a:lnSpc>
              <a:spcAft>
                <a:spcPts val="400"/>
              </a:spcAft>
            </a:pPr>
            <a:r>
              <a:rPr sz="1350" b="0">
                <a:solidFill>
                  <a:srgbClr val="1F2A3A"/>
                </a:solidFill>
                <a:latin typeface="맑은 고딕"/>
                <a:ea typeface="맑은 고딕"/>
                <a:cs typeface="맑은 고딕"/>
              </a:rPr>
              <a:t>승인하면 정비 오더와 공지,</a:t>
            </a:r>
          </a:p>
          <a:p>
            <a:pPr algn="ctr">
              <a:lnSpc>
                <a:spcPct val="110000"/>
              </a:lnSpc>
              <a:spcAft>
                <a:spcPts val="400"/>
              </a:spcAft>
            </a:pPr>
            <a:r>
              <a:rPr sz="1350" b="0">
                <a:solidFill>
                  <a:srgbClr val="1F2A3A"/>
                </a:solidFill>
                <a:latin typeface="맑은 고딕"/>
                <a:ea typeface="맑은 고딕"/>
                <a:cs typeface="맑은 고딕"/>
              </a:rPr>
              <a:t>거절하면 정비 오더 없이</a:t>
            </a:r>
          </a:p>
          <a:p>
            <a:pPr algn="ctr">
              <a:lnSpc>
                <a:spcPct val="110000"/>
              </a:lnSpc>
              <a:spcAft>
                <a:spcPts val="400"/>
              </a:spcAft>
            </a:pPr>
            <a:r>
              <a:rPr sz="1350" b="0">
                <a:solidFill>
                  <a:srgbClr val="1F2A3A"/>
                </a:solidFill>
                <a:latin typeface="맑은 고딕"/>
                <a:ea typeface="맑은 고딕"/>
                <a:cs typeface="맑은 고딕"/>
              </a:rPr>
              <a:t>거절 종결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발주에서 입고와 재고 반영까지를 승인 뒤에 이은 재고 보충 프로세스의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공급사 통지, 입고와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발주와 입고가 처리되어 가용 재고가 재주문점 위로 올라간 처리 건과 그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세층연결.svg" descr="illust_534705195900934117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1~4회차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5~7회차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8~10회차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5~7회차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033271"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33271"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7~10회차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실행, 스킬, MCP는 에이전트 단계 하나 안에서 일했고, 명세와 시나리오는 그 실행보다 앞서 일을 마쳤다.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한 일</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 실행</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agent:cooling이 도구를 10번 불러 추천안을 제출했다</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스킬</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첫 호출로 cooling-emergency-response 스킬을 읽어 일의 순서를 따랐다</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hyd-dmn과 enterprise 서버의 도구로 지식과 값을 읽었다</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명세와 시나리오</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 실행에 앞서 출력의 형식과 기대 행동을 정해 두었다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설계도로, 인스턴스는 진행의 기록으로, 승인은 사람의 결정으로, 시스템 실행은 실제 효과로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남은 것</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정의</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c3_cooling: 작업 9, 갈림 2, 타이머 1을 가진 설계도</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인스턴스(처리 건)</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ALT-hyd01-0026-767a로 열려 끝 이벤트 E_end에서 닫힌 한 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APPROVAL_ACCEPTED: 역할 role:operator의 결정</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시스템 실행</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CMD-1010-0001-01d1과 작업지시 WO-1010-1198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조치 평가 → 업무 값 조회 → 제출</a:t>
            </a:r>
          </a:p>
          <a:p>
            <a:pPr algn="l">
              <a:lnSpc>
                <a:spcPct val="110000"/>
              </a:lnSpc>
              <a:spcAft>
                <a:spcPts val="600"/>
              </a:spcAft>
            </a:pPr>
            <a:r>
              <a:rPr sz="1450" b="0">
                <a:solidFill>
                  <a:srgbClr val="1F2A3A"/>
                </a:solidFill>
                <a:latin typeface="맑은 고딕"/>
                <a:ea typeface="맑은 고딕"/>
                <a:cs typeface="맑은 고딕"/>
              </a:rPr>
              <a:t>• 이 처리 건의 호출이며 상황에 따라 달라진다</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판단의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요소_복습.svg" descr="illust_51412826535630308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다섯자리.svg" descr="illust_905297797964186370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6052209" y="5409590"/>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경보의 내용이 제안이 되고 제안이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주고받는것.svg" descr="illust_712691337501107676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같은 제안의 두 결말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승인한 제안만 시스템의 처리로 넘어가며, 거절된 제안은 세 업무 모두에서 시스템의 실행 없이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승인의 갈래를 연다</a:t>
            </a:r>
          </a:p>
          <a:p>
            <a:pPr algn="l">
              <a:lnSpc>
                <a:spcPct val="110000"/>
              </a:lnSpc>
              <a:spcAft>
                <a:spcPts val="600"/>
              </a:spcAft>
            </a:pPr>
            <a:r>
              <a:rPr sz="1450" b="0">
                <a:solidFill>
                  <a:srgbClr val="1F2A3A"/>
                </a:solidFill>
                <a:latin typeface="맑은 고딕"/>
                <a:ea typeface="맑은 고딕"/>
                <a:cs typeface="맑은 고딕"/>
              </a:rPr>
              <a:t>• 긴급 대응: 설비 명령과 작업지시</a:t>
            </a:r>
          </a:p>
          <a:p>
            <a:pPr algn="l">
              <a:lnSpc>
                <a:spcPct val="110000"/>
              </a:lnSpc>
              <a:spcAft>
                <a:spcPts val="600"/>
              </a:spcAft>
            </a:pPr>
            <a:r>
              <a:rPr sz="1450" b="0">
                <a:solidFill>
                  <a:srgbClr val="1F2A3A"/>
                </a:solidFill>
                <a:latin typeface="맑은 고딕"/>
                <a:ea typeface="맑은 고딕"/>
                <a:cs typeface="맑은 고딕"/>
              </a:rPr>
              <a:t>• 정기 점검: 정비 오더와 공지</a:t>
            </a:r>
          </a:p>
          <a:p>
            <a:pPr algn="l">
              <a:lnSpc>
                <a:spcPct val="110000"/>
              </a:lnSpc>
              <a:spcAft>
                <a:spcPts val="600"/>
              </a:spcAft>
            </a:pPr>
            <a:r>
              <a:rPr sz="1450" b="0">
                <a:solidFill>
                  <a:srgbClr val="1F2A3A"/>
                </a:solidFill>
                <a:latin typeface="맑은 고딕"/>
                <a:ea typeface="맑은 고딕"/>
                <a:cs typeface="맑은 고딕"/>
              </a:rPr>
              <a:t>• 재고 보충: 발주와 입고</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E_end</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게이트웨이가 거절의 갈래를 연다</a:t>
            </a:r>
          </a:p>
          <a:p>
            <a:pPr algn="l">
              <a:lnSpc>
                <a:spcPct val="110000"/>
              </a:lnSpc>
              <a:spcAft>
                <a:spcPts val="600"/>
              </a:spcAft>
            </a:pPr>
            <a:r>
              <a:rPr sz="1450" b="0">
                <a:solidFill>
                  <a:srgbClr val="1F2A3A"/>
                </a:solidFill>
                <a:latin typeface="맑은 고딕"/>
                <a:ea typeface="맑은 고딕"/>
                <a:cs typeface="맑은 고딕"/>
              </a:rPr>
              <a:t>• 설비 명령, 정비 오더, 발주는 만들어지지 않는다</a:t>
            </a:r>
          </a:p>
          <a:p>
            <a:pPr algn="l">
              <a:lnSpc>
                <a:spcPct val="110000"/>
              </a:lnSpc>
              <a:spcAft>
                <a:spcPts val="600"/>
              </a:spcAft>
            </a:pPr>
            <a:r>
              <a:rPr sz="1450" b="0">
                <a:solidFill>
                  <a:srgbClr val="1F2A3A"/>
                </a:solidFill>
                <a:latin typeface="맑은 고딕"/>
                <a:ea typeface="맑은 고딕"/>
                <a:cs typeface="맑은 고딕"/>
              </a:rPr>
              <a:t>• 결과 보고가 거절의 사유와 하지 않은 일을 적는다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E_rejected</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7회차의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493293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493293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493293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설비에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시스템실행.svg" descr="illust_321133327508974296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세종료.svg" descr="illust_771533456766207058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기록을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판단의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판단이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제안이 정확하다면 승인 작업을 빼고 에이전트의 제안을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에이전트와 사람의 책임 경계, 읽기와 쓰기의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