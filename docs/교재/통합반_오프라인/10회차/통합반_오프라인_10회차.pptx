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8회차와 9회차에는 긴급 대응 프로세스 하나를 그려 배포하고 실행했습니다. 오늘은 그 설계를 정비와 구매 업무에 다시 쓰고, 네 개의 실습에서 두 프로세스를 직접 그려 실행합니다. 마지막에는 온톨로지에서 에이전트와 프로세스를 거쳐 시스템 실행에 이르는 과정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9회차에 쿨러 성능 저하 경보를 긴급 대응 프로세스로 끝까지 처리했습니다. 그런데 공장의 업무는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합니다.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가지 물음으로 견주어 보겠습니다. 무엇으로 시작하는가, 어느 에이전트가 판단하는가, 누가 승인하는가, 승인 뒤에 어느 시스템이 실행하는가입니다. 에이전트는 냉각 긴급 대응 에이전트, 정기 정비 계획 에이전트, 예비품 구매 에이전트로 서로 다르고, 추천 하나와 대안과 그 이유를 묶어 내는 추천안의 내용도 냉각 조치, 정비할 시점, 발주안으로 다릅니다. 그런데 에이전트가 제안하고 사람이 승인하고 시스템이 처리해 보고하는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보겠습니다. 긴급 대응의 시작 조건은 센서 값의 규칙이었습니다.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시작 조건입니다. 정기 점검은 고장이 난 뒤에 고치는 것이 아니라 운전시간을 기준으로 미리 하는 예방 정비, 영어로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시작 조건입니다. 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9회차의 쿨러 성능 저하 경보이고, 가운데는 정기 점검 도래, 아래는 재고 부족의 경보입니다. 출처는 센서와 CMMS와 ERP로 다르지만 식별자와 패턴을 가진 같은 형식입니다. 그래서 세 프로세스 모두 메시지 시작 이벤트 하나로 시작할 수 있고, pattern의 값이 어느 프로세스를 열지를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시스템을 자세히 보겠습니다. 긴급 대응에서는 승인된 냉각 조치를 SCADA가 PLC 명령으로 보내고 CMMS가 작업지시를 등록했습니다. 정기 점검에서는 승인된 정비 계획대로 CMMS가 정비 오더를 등록하고 생산팀에 공지 메일이 나갑니다. 재고 보충에서는 승인된 발주안대로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달라지는 네 가지를 보았으니 이제 같은 것을 보겠습니다. 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여러 곳에서 되풀이되는 구조를 패턴이라고 합니다. 한 번 풀어서 검증해 둔 구조를 다음에도 다시 쓰는 것입니다. 세 프로세스에 똑같이 들어 있는 승인의 자리, 곧 승인 작업과 갈림과 지연 타이머와 거절의 결과 보고를 묶어 이 수업에서는 승인 블록이라고 부르겠습니다.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읽은 승인을 받는 자리의 그림입니다. 하늘색으로 칠한 일곱 요소, 곧 승인 작업, 승인 지연 타이머, 승인 지연 알림, 승인? 게이트웨이, 결과 보고: 거절, 그리고 끝 이벤트 둘은 세 프로세스에서 식별자까지 같습니다.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블록을 다시 써서 그린 정기 점검 프로세스입니다. 하늘색 요소는 긴급 대응 프로세스의 승인 블록과 같고, 승인 역할만 설비보전팀장으로 바뀌었습니다. 새로 그린 것은 흰 요소 넷입니다. 정기 점검 요청이라는 시작 이벤트, 에이전트의 정비 계획 제안, 그리고 승인 뒤의 정비 오더 등록 · 공지 메일과 결과 보고입니다. 작업은 여섯, 게이트웨이는 하나, 끝 이벤트는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방법으로 그립니다. 하늘색 승인 블록은 그대로이고 승인 역할이 구매 담당입니다. 승인 뒤에는 ERP 발주 · 공급사 메일, 입고 · 재고 반영, 결과 보고의 세 작업이 이어집니다. 정기 점검보다 시스템 작업이 하나 많아 작업은 일곱입니다. 두 그림을 견주면 승인 블록의 오른쪽에 무엇을 잇느냐만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경로를 설계할 때 생각할 것을 보겠습니다. 거절하면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 경로의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맡길지에도 원칙이 있습니다. 여러 정보를 읽고 저울질해야 하는 일은 에이전트에게 맡깁니다. 결과에 책임이 따르는 결정은 그 책임을 질 역할의 사람에게 맡깁니다. 한번 정해지면 그대로 수행하면 되는 등록과 통지와 보고는 시스템에 맡깁니다. 그리고 정비 오더나 발주처럼 실제로 효과를 내는 작업은 승인의 갈림 뒤에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정기 점검 프로세스를 직접 그립니다. 정기 점검 도래로 시작해 정비 계획 에이전트의 제안 작업으로 잇습니다. 승인을 받는 자리는 8회차에 그린 것과 같은 모양으로 놓고 승인 역할만 설비보전팀장으로 합니다. 승인 뒤에는 정비 오더 등록과 공지 메일을 한 작업으로, 그 뒤에 결과 보고를 놓습니다. 끝나면 이 프로세스의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그린 프로세스를 실제 업무로 실행합니다. 정기 점검 도래의 경보 패턴, 정비 계획 에이전트, 설비보전팀장 역할, CMMS와 공지 작업을 연결하고, 사전 검사를 거쳐 등록하고 배포합니다. 정기 점검이 도래하면 처리 건이 열리고 에이전트의 추천안이 승인을 기다립니다. 승인한 뒤 정비 오더와 생산팀 공지와 종료 기록이 남았는지를 처리 건에서 확인합니다. 거절한 경우에는 정비 오더가 만들어지지 않고 거절 종결에 닿아 닫히는지를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재고 보충 프로세스를 그립니다. 재고 부족으로 시작해 구매 에이전트가 수량과 공급사를 제안하고, 구매 담당이 승인하거나 거절합니다. 승인 뒤에는 ERP 발주와 공급사 메일을 한 작업으로 그리고, 입고와 재고 반영, 결과 보고를 잇습니다. 끝나면 작업 일곱을 갖춘 BPMN 파일이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재고 보충 프로세스를 실행합니다. 재고 부족의 경보 패턴과 구매 에이전트, 구매 담당 역할, ERP와 통지와 입고 반영 작업을 연결해 검사하고 등록하고 배포합니다. 재고가 부족하면 처리 건이 열리고 발주안이 승인을 기다립니다. 승인한 뒤 발주와 공급사 통지와 입고가 처리되어 가용 재고가 7개가 되었는지, 그리고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이어지는지를 다시 봅니다. 1회차부터 4회차까지 만든 온톨로지는 원인과 증거와 조치와 규칙이라는 지식을 정하고, 현재 값이 어디에 있는지를 알려 줍니다. 5회차부터 7회차까지 다룬 에이전트는 그 지식과 값을 읽어 추천과 대안을 제안합니다. 8회차부터 오늘까지 다룬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서버의 목록입니다. 세 에이전트 모두 지식 그래프와 판단 규칙을 읽습니다. 1~4회차에 만든 온톨로지가 긴급 대응뿐 아니라 정비와 구매의 판단에도 재료가 된다는 뜻입니다.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보겠습니다. 2회차에 조치 방법으로 적어 둔 SOP-COOL-11 팬 최대 운전이 출발점입니다. 8회차와 9회차에 기록을 읽은 긴급 대응 처리 건에서 에이전트가 이 조치를 지식 그래프에서 읽어 추천했고, 운전원이 승인했습니다. 프로세스가 승인된 조치를 팬 속도 100 % 명령으로 실행했고, 재관측에서 유온 51.3도를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처리 건 한 건을 놓고, 5회차부터 10회차까지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그림에 쓰인 기호는 일곱 가지입니다. 경보가 도착하면 여는 메시지 시작 이벤트, 에이전트에게 맡기는 작업, 사람이 수행하는 사용자 작업, 시스템이 수행하는 서비스 작업이 있습니다. 승인과 거절을 가르는 배타 게이트웨이, 승인 지연을 알리는 비중단형 경계 타이머, 갈래를 닫는 끝 이벤트가 나머지입니다. 세 그림은 작업과 게이트웨이의 수만 다르고 시작 이벤트 하나, 경계 타이머 하나, 끝 이벤트 셋은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다섯 자리를 지납니다. 사건이 경보로 도착하는 시작 이벤트, 에이전트의 판단, 사람의 승인 또는 거절, 시스템의 처리, 그리고 종료 기록입니다. 사람이 거절하면 아래의 선처럼 시스템의 처리를 지나지 않고 종료 기록으로 가며, 세 업무 모두에서 거절된 추천안은 설비 명령도 정비 오더도 발주도 만들지 않고 닫혔습니다.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건너가는지를 보겠습니다. 시작 이벤트는 경보의 내용, 곧 설비와 경보 패턴을 에이전트에게 넘깁니다. 에이전트는 추천과 대안을 추천안으로 내고, 사람은 그 가운데 승인한 내용을 냅니다. 시스템은 승인된 내용만 받아 실행하고 그 결과를 결과 보고에 넘깁니다. 앞 자리가 낸 것이 없으면 다음 자리는 일할 수 없고, 이렇게 건너가는 값이 9회차에 본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가운데 둘째인 에이전트의 판단을 정기 점검의 처리 건에서 열어 봅니다. 정기 정비 계획 에이전트가 낸 추천안의 속입니다. 후보는 넷이었고, 이번 예정된 정비 시간에 한 대만 정비하는 안이 추천입니다. 지금 바로 세우는 안은 납기가 스무 시간 남은 생산 오더 때문에 감점되어 대안으로 남았습니다.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건에서 예비품 구매 에이전트가 낸 추천안입니다. 후보는 공급사 셋에 대한 발주안이었습니다.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구매 담당은 이 비교를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51.3도로 내려가 기준 55도 아래가 되었고 작업지시가 남았습니다. 정기 점검은 정비 오더가 등록되고 생산팀에 공지가 나갔습니다. 재고 보충은 씰 키트 6개가 입고되어 검수에 합격했고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맡았습니다. 설비 명령이나 발주 같은 처리는 하지 않았습니다. 사람의 일은 세 가지였습니다. 순서와 승인 역할과 예외 경로를 프로세스로 정하는 일, 추천안을 승인하거나 거절하는 일, 그리고 기록을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되짚으며 쓴 다섯 자리는 새 업무를 설계할 때의 물음이 됩니다. 어떤 사건으로 시작하는가, 에이전트가 무엇을 읽어 무엇을 제안하는가, 어느 역할이 결정하는가, 어느 시스템이 실행하는가, 무엇이 남으면 끝났다고 보는가입니다. 지식이 판단의 재료가 되고, 에이전트가 제안하고, 사람이 결정하고, 프로세스가 그 결정을 실행과 기록으로 잇는 구조는 어느 업무에서나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정리합니다. 에이전트의 추천안이 끝난 업무가 되려면 세 가지가 갖추어져야 합니다. 추천안의 근거가 등록된 지식과 읽은 값에 닿아 있어야 하고, 추천안이 명세가 정한 형식으로 제출되어야 하며, 정해진 역할이 승인하고 실행과 결과가 기록되어야 합니다. 새 업무를 맡았을 때에도 이 세 가지가 갖추어졌는지를 먼저 확인하시기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약어와 용어의 정식 명칭을 한곳에 모았습니다. 이 넷과 함께 승인 블록, 가용 재고가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문항입니다. 처리 건이 닫혔다는 것과 그 업무의 원인이 해결되었다는 것이 같은지를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일이 무엇이었는지, 그리고 효과를 내는 작업을 어디에 두었는지를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처리 건의 종결과 업무 원인의 해결을 혼동한 것입니다. 둘째 문항의 4번은 사람이 결정하지 않은 채 효과가 나가게 하는 설계입니다.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7.png"/><Relationship Id="rId6" Type="http://schemas.openxmlformats.org/officeDocument/2006/relationships/image" Target="../media/image27.png"/><Relationship Id="rId7"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30.png"/><Relationship Id="rId7"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 Id="rId4" Type="http://schemas.openxmlformats.org/officeDocument/2006/relationships/image" Target="../media/image5.png"/><Relationship Id="rId5"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0.png"/><Relationship Id="rId4"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9.png"/><Relationship Id="rId4" Type="http://schemas.openxmlformats.org/officeDocument/2006/relationships/image" Target="../media/image20.png"/><Relationship Id="rId5"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10회차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대응에서 정비와 구매까지</a:t>
            </a:r>
          </a:p>
          <a:p>
            <a:pPr algn="l">
              <a:lnSpc>
                <a:spcPct val="110000"/>
              </a:lnSpc>
            </a:pPr>
            <a:r>
              <a:rPr sz="4000" b="1">
                <a:solidFill>
                  <a:srgbClr val="FFFFFF"/>
                </a:solidFill>
                <a:latin typeface="맑은 고딕"/>
                <a:ea typeface="맑은 고딕"/>
                <a:cs typeface="맑은 고딕"/>
              </a:rPr>
              <a:t>프로세스 설계의 확장과 전체 정리</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패턴의 재사용과 지식, 에이전트, 프로세스의 전체 흐름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프로세스의 설계를 정기 점검과 재고 보충에 다시 쓰고, 지식에서 시스템 실행까지의 전체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업무의 비교</a:t>
            </a:r>
          </a:p>
          <a:p>
            <a:pPr algn="l">
              <a:lnSpc>
                <a:spcPct val="110000"/>
              </a:lnSpc>
              <a:spcAft>
                <a:spcPts val="400"/>
              </a:spcAft>
            </a:pPr>
            <a:r>
              <a:rPr sz="1350" b="0">
                <a:solidFill>
                  <a:srgbClr val="1F2A3A"/>
                </a:solidFill>
                <a:latin typeface="맑은 고딕"/>
                <a:ea typeface="맑은 고딕"/>
                <a:cs typeface="맑은 고딕"/>
              </a:rPr>
              <a:t>설비 경보, 정기 점검 도래, 재고 부족의 시작 조건과 에이전트, 승인자, 실행 시스템을 견준다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패턴의 재사용</a:t>
            </a:r>
          </a:p>
          <a:p>
            <a:pPr algn="l">
              <a:lnSpc>
                <a:spcPct val="110000"/>
              </a:lnSpc>
              <a:spcAft>
                <a:spcPts val="400"/>
              </a:spcAft>
            </a:pPr>
            <a:r>
              <a:rPr sz="1350" b="0">
                <a:solidFill>
                  <a:srgbClr val="1F2A3A"/>
                </a:solidFill>
                <a:latin typeface="맑은 고딕"/>
                <a:ea typeface="맑은 고딕"/>
                <a:cs typeface="맑은 고딕"/>
              </a:rPr>
              <a:t>승인 블록은 그대로 두고 업무마다 달라지는 자리만 정해 새 프로세스를 설계한다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실행</a:t>
            </a:r>
          </a:p>
          <a:p>
            <a:pPr algn="l">
              <a:lnSpc>
                <a:spcPct val="110000"/>
              </a:lnSpc>
              <a:spcAft>
                <a:spcPts val="400"/>
              </a:spcAft>
            </a:pPr>
            <a:r>
              <a:rPr sz="1350" b="0">
                <a:solidFill>
                  <a:srgbClr val="1F2A3A"/>
                </a:solidFill>
                <a:latin typeface="맑은 고딕"/>
                <a:ea typeface="맑은 고딕"/>
                <a:cs typeface="맑은 고딕"/>
              </a:rPr>
              <a:t>정기 점검과 재고 보충의 프로세스를 그려 배포하고 승인과 거절의 결과를 확인한다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정리</a:t>
            </a:r>
          </a:p>
          <a:p>
            <a:pPr algn="l">
              <a:lnSpc>
                <a:spcPct val="110000"/>
              </a:lnSpc>
              <a:spcAft>
                <a:spcPts val="400"/>
              </a:spcAft>
            </a:pPr>
            <a:r>
              <a:rPr sz="1350" b="0">
                <a:solidFill>
                  <a:srgbClr val="1F2A3A"/>
                </a:solidFill>
                <a:latin typeface="맑은 고딕"/>
                <a:ea typeface="맑은 고딕"/>
                <a:cs typeface="맑은 고딕"/>
              </a:rPr>
              <a:t>온톨로지, 에이전트, 프로세스가 처리 건 한 건에서 이어지는 과정을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설계의 재사용: 세 가지 업무와 하나의 패턴</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그리기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정기 점검 프로세스 실행하기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그리기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재고 보충 프로세스 실행하기</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AI와 사람이 함께 수행하는 업무 흐름의 정리</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설계의 재사용:</a:t>
            </a:r>
          </a:p>
          <a:p>
            <a:pPr algn="l">
              <a:lnSpc>
                <a:spcPct val="110000"/>
              </a:lnSpc>
            </a:pPr>
            <a:r>
              <a:rPr sz="3400" b="1">
                <a:solidFill>
                  <a:srgbClr val="13294B"/>
                </a:solidFill>
                <a:latin typeface="맑은 고딕"/>
                <a:ea typeface="맑은 고딕"/>
                <a:cs typeface="맑은 고딕"/>
              </a:rPr>
              <a:t>세 가지 업무와 하나의 패턴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승인의 자리는 그대로 두고 달라지는 자리만 정하는 설계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뒤에 기다리는 두 가지 업무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세시작.svg" descr="illust_691481358489957236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a:t>
            </a:r>
          </a:p>
          <a:p>
            <a:pPr algn="ctr">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 도래</a:t>
            </a:r>
          </a:p>
          <a:p>
            <a:pPr algn="ctr">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부족</a:t>
            </a:r>
          </a:p>
          <a:p>
            <a:pPr algn="ctr">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제각각이 된다</a:t>
            </a:r>
          </a:p>
          <a:p>
            <a:pPr algn="l">
              <a:lnSpc>
                <a:spcPct val="110000"/>
              </a:lnSpc>
              <a:spcAft>
                <a:spcPts val="400"/>
              </a:spcAft>
            </a:pPr>
            <a:r>
              <a:rPr sz="1400" b="0">
                <a:solidFill>
                  <a:srgbClr val="1F2A3A"/>
                </a:solidFill>
                <a:latin typeface="맑은 고딕"/>
                <a:ea typeface="맑은 고딕"/>
                <a:cs typeface="맑은 고딕"/>
              </a:rPr>
              <a:t>• 거절과 무응답을 다루는 방식이 프로세스마다 달라진다</a:t>
            </a:r>
          </a:p>
          <a:p>
            <a:pPr algn="l">
              <a:lnSpc>
                <a:spcPct val="110000"/>
              </a:lnSpc>
              <a:spcAft>
                <a:spcPts val="400"/>
              </a:spcAft>
            </a:pPr>
            <a:r>
              <a:rPr sz="1400" b="0">
                <a:solidFill>
                  <a:srgbClr val="1F2A3A"/>
                </a:solidFill>
                <a:latin typeface="맑은 고딕"/>
                <a:ea typeface="맑은 고딕"/>
                <a:cs typeface="맑은 고딕"/>
              </a:rPr>
              <a:t>• 한 곳에서 확인한 거절 경로가 다른 곳에서는 빠진다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법이 늘어난다</a:t>
            </a:r>
          </a:p>
          <a:p>
            <a:pPr algn="l">
              <a:lnSpc>
                <a:spcPct val="110000"/>
              </a:lnSpc>
              <a:spcAft>
                <a:spcPts val="400"/>
              </a:spcAft>
            </a:pPr>
            <a:r>
              <a:rPr sz="14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고칠 곳이 흩어진다</a:t>
            </a:r>
          </a:p>
          <a:p>
            <a:pPr algn="l">
              <a:lnSpc>
                <a:spcPct val="110000"/>
              </a:lnSpc>
              <a:spcAft>
                <a:spcPts val="400"/>
              </a:spcAft>
            </a:pPr>
            <a:r>
              <a:rPr sz="14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업무는 시작 조건, 에이전트의 판단,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대응</a:t>
            </a:r>
          </a:p>
          <a:p>
            <a:pPr algn="l">
              <a:lnSpc>
                <a:spcPct val="110000"/>
              </a:lnSpc>
              <a:spcAft>
                <a:spcPts val="400"/>
              </a:spcAft>
            </a:pPr>
            <a:r>
              <a:rPr sz="1400" b="0">
                <a:solidFill>
                  <a:srgbClr val="1F2A3A"/>
                </a:solidFill>
                <a:latin typeface="맑은 고딕"/>
                <a:ea typeface="맑은 고딕"/>
                <a:cs typeface="맑은 고딕"/>
              </a:rPr>
              <a:t>• 시작: 쿨러 성능 저하 경보</a:t>
            </a:r>
          </a:p>
          <a:p>
            <a:pPr algn="l">
              <a:lnSpc>
                <a:spcPct val="110000"/>
              </a:lnSpc>
              <a:spcAft>
                <a:spcPts val="400"/>
              </a:spcAft>
            </a:pPr>
            <a:r>
              <a:rPr sz="1400" b="0">
                <a:solidFill>
                  <a:srgbClr val="1F2A3A"/>
                </a:solidFill>
                <a:latin typeface="맑은 고딕"/>
                <a:ea typeface="맑은 고딕"/>
                <a:cs typeface="맑은 고딕"/>
              </a:rPr>
              <a:t>• 에이전트: 원인을 진단하고 냉각 조치 후보를 견주어 추천한다</a:t>
            </a:r>
          </a:p>
          <a:p>
            <a:pPr algn="l">
              <a:lnSpc>
                <a:spcPct val="110000"/>
              </a:lnSpc>
              <a:spcAft>
                <a:spcPts val="400"/>
              </a:spcAft>
            </a:pPr>
            <a:r>
              <a:rPr sz="1400" b="0">
                <a:solidFill>
                  <a:srgbClr val="1F2A3A"/>
                </a:solidFill>
                <a:latin typeface="맑은 고딕"/>
                <a:ea typeface="맑은 고딕"/>
                <a:cs typeface="맑은 고딕"/>
              </a:rPr>
              <a:t>• 승인자: 운전원</a:t>
            </a:r>
          </a:p>
          <a:p>
            <a:pPr algn="l">
              <a:lnSpc>
                <a:spcPct val="110000"/>
              </a:lnSpc>
              <a:spcAft>
                <a:spcPts val="400"/>
              </a:spcAft>
            </a:pPr>
            <a:r>
              <a:rPr sz="1400" b="0">
                <a:solidFill>
                  <a:srgbClr val="1F2A3A"/>
                </a:solidFill>
                <a:latin typeface="맑은 고딕"/>
                <a:ea typeface="맑은 고딕"/>
                <a:cs typeface="맑은 고딕"/>
              </a:rPr>
              <a:t>• 실행: SCADA, CMMS</a:t>
            </a:r>
          </a:p>
        </p:txBody>
      </p:sp>
      <p:sp>
        <p:nvSpPr>
          <p:cNvPr id="8" name="Rounded Rectangle 7"/>
          <p:cNvSpPr/>
          <p:nvPr/>
        </p:nvSpPr>
        <p:spPr>
          <a:xfrm>
            <a:off x="777240" y="506374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489200"/>
            <a:ext cx="3515258" cy="300431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정기 점검</a:t>
            </a:r>
          </a:p>
          <a:p>
            <a:pPr algn="l">
              <a:lnSpc>
                <a:spcPct val="110000"/>
              </a:lnSpc>
              <a:spcAft>
                <a:spcPts val="400"/>
              </a:spcAft>
            </a:pPr>
            <a:r>
              <a:rPr sz="1400" b="0">
                <a:solidFill>
                  <a:srgbClr val="1F2A3A"/>
                </a:solidFill>
                <a:latin typeface="맑은 고딕"/>
                <a:ea typeface="맑은 고딕"/>
                <a:cs typeface="맑은 고딕"/>
              </a:rPr>
              <a:t>• 시작: 정기 점검 도래 경보</a:t>
            </a:r>
          </a:p>
          <a:p>
            <a:pPr algn="l">
              <a:lnSpc>
                <a:spcPct val="110000"/>
              </a:lnSpc>
              <a:spcAft>
                <a:spcPts val="400"/>
              </a:spcAft>
            </a:pPr>
            <a:r>
              <a:rPr sz="1400" b="0">
                <a:solidFill>
                  <a:srgbClr val="1F2A3A"/>
                </a:solidFill>
                <a:latin typeface="맑은 고딕"/>
                <a:ea typeface="맑은 고딕"/>
                <a:cs typeface="맑은 고딕"/>
              </a:rPr>
              <a:t>• 에이전트: 운전시간, 생산 오더, 정비 인원, 예비품을 저울질해 정비할 시점을 제안한다</a:t>
            </a:r>
          </a:p>
          <a:p>
            <a:pPr algn="l">
              <a:lnSpc>
                <a:spcPct val="110000"/>
              </a:lnSpc>
              <a:spcAft>
                <a:spcPts val="400"/>
              </a:spcAft>
            </a:pPr>
            <a:r>
              <a:rPr sz="1400" b="0">
                <a:solidFill>
                  <a:srgbClr val="1F2A3A"/>
                </a:solidFill>
                <a:latin typeface="맑은 고딕"/>
                <a:ea typeface="맑은 고딕"/>
                <a:cs typeface="맑은 고딕"/>
              </a:rPr>
              <a:t>• 승인자: 설비보전팀장</a:t>
            </a:r>
          </a:p>
          <a:p>
            <a:pPr algn="l">
              <a:lnSpc>
                <a:spcPct val="110000"/>
              </a:lnSpc>
              <a:spcAft>
                <a:spcPts val="400"/>
              </a:spcAft>
            </a:pPr>
            <a:r>
              <a:rPr sz="1400" b="0">
                <a:solidFill>
                  <a:srgbClr val="1F2A3A"/>
                </a:solidFill>
                <a:latin typeface="맑은 고딕"/>
                <a:ea typeface="맑은 고딕"/>
                <a:cs typeface="맑은 고딕"/>
              </a:rPr>
              <a:t>• 실행: CMMS, 메일</a:t>
            </a:r>
          </a:p>
        </p:txBody>
      </p:sp>
      <p:sp>
        <p:nvSpPr>
          <p:cNvPr id="12" name="Rounded Rectangle 11"/>
          <p:cNvSpPr/>
          <p:nvPr/>
        </p:nvSpPr>
        <p:spPr>
          <a:xfrm>
            <a:off x="4566818" y="506374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489200"/>
            <a:ext cx="3515258" cy="300431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9036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재고 보충</a:t>
            </a:r>
          </a:p>
          <a:p>
            <a:pPr algn="l">
              <a:lnSpc>
                <a:spcPct val="110000"/>
              </a:lnSpc>
              <a:spcAft>
                <a:spcPts val="400"/>
              </a:spcAft>
            </a:pPr>
            <a:r>
              <a:rPr sz="1400" b="0">
                <a:solidFill>
                  <a:srgbClr val="1F2A3A"/>
                </a:solidFill>
                <a:latin typeface="맑은 고딕"/>
                <a:ea typeface="맑은 고딕"/>
                <a:cs typeface="맑은 고딕"/>
              </a:rPr>
              <a:t>• 시작: 재고 부족 경보</a:t>
            </a:r>
          </a:p>
          <a:p>
            <a:pPr algn="l">
              <a:lnSpc>
                <a:spcPct val="110000"/>
              </a:lnSpc>
              <a:spcAft>
                <a:spcPts val="400"/>
              </a:spcAft>
            </a:pPr>
            <a:r>
              <a:rPr sz="1400" b="0">
                <a:solidFill>
                  <a:srgbClr val="1F2A3A"/>
                </a:solidFill>
                <a:latin typeface="맑은 고딕"/>
                <a:ea typeface="맑은 고딕"/>
                <a:cs typeface="맑은 고딕"/>
              </a:rPr>
              <a:t>• 에이전트: 필요량을 정하고 공급사를 금액, 납기, 품질, 회사 규정으로 비교한다</a:t>
            </a:r>
          </a:p>
          <a:p>
            <a:pPr algn="l">
              <a:lnSpc>
                <a:spcPct val="110000"/>
              </a:lnSpc>
              <a:spcAft>
                <a:spcPts val="400"/>
              </a:spcAft>
            </a:pPr>
            <a:r>
              <a:rPr sz="1400" b="0">
                <a:solidFill>
                  <a:srgbClr val="1F2A3A"/>
                </a:solidFill>
                <a:latin typeface="맑은 고딕"/>
                <a:ea typeface="맑은 고딕"/>
                <a:cs typeface="맑은 고딕"/>
              </a:rPr>
              <a:t>• 승인자: 구매 담당</a:t>
            </a:r>
          </a:p>
          <a:p>
            <a:pPr algn="l">
              <a:lnSpc>
                <a:spcPct val="110000"/>
              </a:lnSpc>
              <a:spcAft>
                <a:spcPts val="400"/>
              </a:spcAft>
            </a:pPr>
            <a:r>
              <a:rPr sz="14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06374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063744"/>
            <a:ext cx="917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유온 TS1, 냉각 효율 CE</a:t>
            </a:r>
          </a:p>
          <a:p>
            <a:pPr algn="l">
              <a:lnSpc>
                <a:spcPct val="110000"/>
              </a:lnSpc>
              <a:spcAft>
                <a:spcPts val="600"/>
              </a:spcAft>
            </a:pPr>
            <a:r>
              <a:rPr sz="1450" b="0">
                <a:solidFill>
                  <a:srgbClr val="1F2A3A"/>
                </a:solidFill>
                <a:latin typeface="맑은 고딕"/>
                <a:ea typeface="맑은 고딕"/>
                <a:cs typeface="맑은 고딕"/>
              </a:rPr>
              <a:t>• 규칙: TS1 &gt; 55 and CE &lt; 70 and slope(TS1) &gt; 0</a:t>
            </a:r>
          </a:p>
          <a:p>
            <a:pPr algn="l">
              <a:lnSpc>
                <a:spcPct val="110000"/>
              </a:lnSpc>
              <a:spcAft>
                <a:spcPts val="600"/>
              </a:spcAft>
            </a:pPr>
            <a:r>
              <a:rPr sz="14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값: 설비의 운전시간, 예비품의 재고</a:t>
            </a:r>
          </a:p>
          <a:p>
            <a:pPr algn="l">
              <a:lnSpc>
                <a:spcPct val="110000"/>
              </a:lnSpc>
              <a:spcAft>
                <a:spcPts val="600"/>
              </a:spcAft>
            </a:pPr>
            <a:r>
              <a:rPr sz="1450" b="0">
                <a:solidFill>
                  <a:srgbClr val="1F2A3A"/>
                </a:solidFill>
                <a:latin typeface="맑은 고딕"/>
                <a:ea typeface="맑은 고딕"/>
                <a:cs typeface="맑은 고딕"/>
              </a:rPr>
              <a:t>• 규칙: 운전시간이 점검 주기에 가까워진다, 가용 재고가 재주문점보다 적다</a:t>
            </a:r>
          </a:p>
          <a:p>
            <a:pPr algn="l">
              <a:lnSpc>
                <a:spcPct val="110000"/>
              </a:lnSpc>
              <a:spcAft>
                <a:spcPts val="600"/>
              </a:spcAft>
            </a:pPr>
            <a:r>
              <a:rPr sz="14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096002"/>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920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운전시간.svg" descr="illust_6594850039201187302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운전시간</a:t>
            </a:r>
          </a:p>
          <a:p>
            <a:pPr algn="ctr">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1,950 h</a:t>
            </a:r>
          </a:p>
          <a:p>
            <a:pPr algn="ctr">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2,000 h</a:t>
            </a:r>
          </a:p>
          <a:p>
            <a:pPr algn="ctr">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사전 알림 50 h</a:t>
            </a:r>
          </a:p>
          <a:p>
            <a:pPr algn="ctr">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정비</a:t>
            </a:r>
          </a:p>
          <a:p>
            <a:pPr algn="ctr">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재고.svg" descr="illust_3595975750939439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현재고 3</a:t>
            </a:r>
          </a:p>
          <a:p>
            <a:pPr algn="ctr">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예약 2</a:t>
            </a:r>
          </a:p>
          <a:p>
            <a:pPr algn="ctr">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가용 재고 1</a:t>
            </a:r>
          </a:p>
          <a:p>
            <a:pPr algn="ctr">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재주문점 2</a:t>
            </a:r>
          </a:p>
          <a:p>
            <a:pPr algn="ctr">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CMMS-PM_DUE-HYD-02-20261010150830</a:t>
            </a:r>
          </a:p>
          <a:p>
            <a:pPr algn="l">
              <a:lnSpc>
                <a:spcPct val="110000"/>
              </a:lnSpc>
              <a:spcAft>
                <a:spcPts val="200"/>
              </a:spcAft>
            </a:pPr>
            <a:r>
              <a:rPr sz="1300" b="0">
                <a:solidFill>
                  <a:srgbClr val="E8EEF6"/>
                </a:solidFill>
                <a:latin typeface="Consolas"/>
                <a:ea typeface="맑은 고딕"/>
                <a:cs typeface="맑은 고딕"/>
              </a:rPr>
              <a:t>pattern  PM_DUE</a:t>
            </a:r>
          </a:p>
          <a:p>
            <a:pPr algn="l">
              <a:lnSpc>
                <a:spcPct val="110000"/>
              </a:lnSpc>
              <a:spcAft>
                <a:spcPts val="200"/>
              </a:spcAft>
            </a:pPr>
            <a:r>
              <a:rPr sz="1300" b="0">
                <a:solidFill>
                  <a:srgbClr val="E8EEF6"/>
                </a:solidFill>
                <a:latin typeface="Consolas"/>
                <a:ea typeface="맑은 고딕"/>
                <a:cs typeface="맑은 고딕"/>
              </a:rPr>
              <a:t>asset    HYD-02</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필드</a:t>
            </a:r>
          </a:p>
          <a:p>
            <a:pPr algn="l">
              <a:lnSpc>
                <a:spcPct val="110000"/>
              </a:lnSpc>
              <a:spcAft>
                <a:spcPts val="400"/>
              </a:spcAft>
            </a:pPr>
            <a:r>
              <a:rPr sz="1400" b="0">
                <a:solidFill>
                  <a:srgbClr val="1F2A3A"/>
                </a:solidFill>
                <a:latin typeface="맑은 고딕"/>
                <a:ea typeface="맑은 고딕"/>
                <a:cs typeface="맑은 고딕"/>
              </a:rPr>
              <a:t>세 경보에 alertId와</a:t>
            </a:r>
          </a:p>
          <a:p>
            <a:pPr algn="l">
              <a:lnSpc>
                <a:spcPct val="110000"/>
              </a:lnSpc>
              <a:spcAft>
                <a:spcPts val="400"/>
              </a:spcAft>
            </a:pPr>
            <a:r>
              <a:rPr sz="1400" b="0">
                <a:solidFill>
                  <a:srgbClr val="1F2A3A"/>
                </a:solidFill>
                <a:latin typeface="맑은 고딕"/>
                <a:ea typeface="맑은 고딕"/>
                <a:cs typeface="맑은 고딕"/>
              </a:rPr>
              <a:t>pattern이 똑같이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어느 프로세스를</a:t>
            </a:r>
          </a:p>
          <a:p>
            <a:pPr algn="l">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alertId의 머리</a:t>
            </a:r>
          </a:p>
          <a:p>
            <a:pPr algn="l">
              <a:lnSpc>
                <a:spcPct val="110000"/>
              </a:lnSpc>
              <a:spcAft>
                <a:spcPts val="400"/>
              </a:spcAft>
            </a:pPr>
            <a:r>
              <a:rPr sz="1400" b="0">
                <a:solidFill>
                  <a:srgbClr val="1F2A3A"/>
                </a:solidFill>
                <a:latin typeface="맑은 고딕"/>
                <a:ea typeface="맑은 고딕"/>
                <a:cs typeface="맑은 고딕"/>
              </a:rPr>
              <a:t>CMMS와 ERP는 사건이</a:t>
            </a:r>
          </a:p>
          <a:p>
            <a:pPr algn="l">
              <a:lnSpc>
                <a:spcPct val="110000"/>
              </a:lnSpc>
              <a:spcAft>
                <a:spcPts val="400"/>
              </a:spcAft>
            </a:pPr>
            <a:r>
              <a:rPr sz="1400" b="0">
                <a:solidFill>
                  <a:srgbClr val="1F2A3A"/>
                </a:solidFill>
                <a:latin typeface="맑은 고딕"/>
                <a:ea typeface="맑은 고딕"/>
                <a:cs typeface="맑은 고딕"/>
              </a:rPr>
              <a:t>나온 업무 시스템이다.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냉각 조치</a:t>
            </a:r>
          </a:p>
          <a:p>
            <a:pPr algn="ctr">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계획</a:t>
            </a:r>
          </a:p>
          <a:p>
            <a:pPr algn="ctr">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발주안</a:t>
            </a:r>
          </a:p>
          <a:p>
            <a:pPr algn="ctr">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SCADA와 CMMS</a:t>
            </a:r>
          </a:p>
          <a:p>
            <a:pPr algn="ctr">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CMMS와 메일</a:t>
            </a:r>
          </a:p>
          <a:p>
            <a:pPr algn="ctr">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ERP와 메일</a:t>
            </a:r>
          </a:p>
          <a:p>
            <a:pPr algn="ctr">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설비 명령과 작업지시</a:t>
            </a:r>
          </a:p>
          <a:p>
            <a:pPr algn="ctr">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정비 오더</a:t>
            </a:r>
          </a:p>
          <a:p>
            <a:pPr algn="ctr">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발주와 입고</a:t>
            </a:r>
          </a:p>
          <a:p>
            <a:pPr algn="ctr">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세흐름_나란히.svg" descr="illust_94811505059748179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99387" y="2289474"/>
            <a:ext cx="115640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412111" y="3660434"/>
            <a:ext cx="137459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되풀이되는 설계 문제를 한 번 풀어 검증해 둔 구조를 패턴이라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패턴</a:t>
            </a:r>
          </a:p>
          <a:p>
            <a:pPr algn="l">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승인 블록</a:t>
            </a:r>
          </a:p>
          <a:p>
            <a:pPr algn="l">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재사용</a:t>
            </a:r>
          </a:p>
          <a:p>
            <a:pPr algn="l">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승인블록_자리.svg" descr="illust_4133486982481253994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작업</a:t>
            </a:r>
          </a:p>
          <a:p>
            <a:pPr algn="ctr">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뒤의 첫 작업</a:t>
            </a:r>
          </a:p>
          <a:p>
            <a:pPr algn="ctr">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a:p>
            <a:pPr algn="ctr">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a:p>
            <a:pPr algn="ctr">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4403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a:p>
            <a:pPr algn="ctr">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a:p>
            <a:pPr algn="ctr">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역할</a:t>
            </a:r>
          </a:p>
          <a:p>
            <a:pPr algn="ctr">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쓰고, 시작 이벤트와 제안 작업과 승인 뒤의 작업 둘만 새로 그린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흐름_정기점검.svg" descr="illust_7149280400560905535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새로 그린 것</a:t>
            </a:r>
          </a:p>
          <a:p>
            <a:pPr algn="ctr">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프로세스도 같은 승인 블록 뒤에 발주, 입고와 재고 반영, 결과 보고의 세 작업을 이어 작업 일곱으로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흐름_재고보충.svg" descr="illust_8615721108996379366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15282"/>
            <a:ext cx="133095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825895"/>
            <a:ext cx="54547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거절 경로의 설계: 하지 않은 일을 밝히는 결과 보고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거절했을 때의 결과 보고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뒤의 상태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명령은 내지 않았습니다」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조치가</a:t>
            </a:r>
          </a:p>
          <a:p>
            <a:pPr algn="l">
              <a:lnSpc>
                <a:spcPct val="110000"/>
              </a:lnSpc>
            </a:pPr>
            <a:r>
              <a:rPr sz="1250" b="1">
                <a:solidFill>
                  <a:srgbClr val="556175"/>
                </a:solidFill>
                <a:latin typeface="맑은 고딕"/>
                <a:ea typeface="맑은 고딕"/>
                <a:cs typeface="맑은 고딕"/>
              </a:rPr>
              <a:t>이루어지지 않았다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「정비 오더를 내지 않았습니다」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 도래</a:t>
            </a:r>
          </a:p>
          <a:p>
            <a:pPr algn="l">
              <a:lnSpc>
                <a:spcPct val="110000"/>
              </a:lnSpc>
            </a:pPr>
            <a:r>
              <a:rPr sz="1250" b="1">
                <a:solidFill>
                  <a:srgbClr val="556175"/>
                </a:solidFill>
                <a:latin typeface="맑은 고딕"/>
                <a:ea typeface="맑은 고딕"/>
                <a:cs typeface="맑은 고딕"/>
              </a:rPr>
              <a:t>표시가 남는다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「발주하지 않았습니다」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재고 보충 필요</a:t>
            </a:r>
          </a:p>
          <a:p>
            <a:pPr algn="l">
              <a:lnSpc>
                <a:spcPct val="110000"/>
              </a:lnSpc>
            </a:pPr>
            <a:r>
              <a:rPr sz="1250" b="1">
                <a:solidFill>
                  <a:srgbClr val="1A6FC4"/>
                </a:solidFill>
                <a:latin typeface="맑은 고딕"/>
                <a:ea typeface="맑은 고딕"/>
                <a:cs typeface="맑은 고딕"/>
              </a:rPr>
              <a:t>표시가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350" b="0">
                <a:solidFill>
                  <a:srgbClr val="1F2A3A"/>
                </a:solidFill>
                <a:latin typeface="맑은 고딕"/>
                <a:ea typeface="맑은 고딕"/>
                <a:cs typeface="맑은 고딕"/>
              </a:rPr>
              <a:t>• 지식과 현재 값을 읽어 후보를 견준다</a:t>
            </a:r>
          </a:p>
          <a:p>
            <a:pPr algn="l">
              <a:lnSpc>
                <a:spcPct val="110000"/>
              </a:lnSpc>
              <a:spcAft>
                <a:spcPts val="400"/>
              </a:spcAft>
            </a:pPr>
            <a:r>
              <a:rPr sz="135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a:t>
            </a:r>
          </a:p>
          <a:p>
            <a:pPr algn="l">
              <a:lnSpc>
                <a:spcPct val="110000"/>
              </a:lnSpc>
              <a:spcAft>
                <a:spcPts val="400"/>
              </a:spcAft>
            </a:pPr>
            <a:r>
              <a:rPr sz="1350" b="0">
                <a:solidFill>
                  <a:srgbClr val="1F2A3A"/>
                </a:solidFill>
                <a:latin typeface="맑은 고딕"/>
                <a:ea typeface="맑은 고딕"/>
                <a:cs typeface="맑은 고딕"/>
              </a:rPr>
              <a:t>• 추천안을 검토해 승인하거나 거절한다</a:t>
            </a:r>
          </a:p>
          <a:p>
            <a:pPr algn="l">
              <a:lnSpc>
                <a:spcPct val="110000"/>
              </a:lnSpc>
              <a:spcAft>
                <a:spcPts val="400"/>
              </a:spcAft>
            </a:pPr>
            <a:r>
              <a:rPr sz="135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a:t>
            </a:r>
          </a:p>
          <a:p>
            <a:pPr algn="l">
              <a:lnSpc>
                <a:spcPct val="110000"/>
              </a:lnSpc>
              <a:spcAft>
                <a:spcPts val="400"/>
              </a:spcAft>
            </a:pPr>
            <a:r>
              <a:rPr sz="1350" b="0">
                <a:solidFill>
                  <a:srgbClr val="1F2A3A"/>
                </a:solidFill>
                <a:latin typeface="맑은 고딕"/>
                <a:ea typeface="맑은 고딕"/>
                <a:cs typeface="맑은 고딕"/>
              </a:rPr>
              <a:t>• 승인된 내용을 정해진 대로 실행한다</a:t>
            </a:r>
          </a:p>
          <a:p>
            <a:pPr algn="l">
              <a:lnSpc>
                <a:spcPct val="110000"/>
              </a:lnSpc>
              <a:spcAft>
                <a:spcPts val="400"/>
              </a:spcAft>
            </a:pPr>
            <a:r>
              <a:rPr sz="135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34356"/>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배치의 원칙</a:t>
            </a:r>
          </a:p>
          <a:p>
            <a:pPr algn="l">
              <a:lnSpc>
                <a:spcPct val="110000"/>
              </a:lnSpc>
              <a:spcAft>
                <a:spcPts val="400"/>
              </a:spcAft>
            </a:pPr>
            <a:r>
              <a:rPr sz="1350" b="0">
                <a:solidFill>
                  <a:srgbClr val="1F2A3A"/>
                </a:solidFill>
                <a:latin typeface="맑은 고딕"/>
                <a:ea typeface="맑은 고딕"/>
                <a:cs typeface="맑은 고딕"/>
              </a:rPr>
              <a:t>설비와 업무에 효과를 내는 작업은 승인의 갈림 뒤에 둔다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정기 점검 도래에서 정비 오더와 공지까지의 흐름을 bpmn.io로 그린다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 프로세스는 승인 블록을 그대로 두고 시작과 제안 작업, 승인 뒤의 작업만 새로 그려 BPMN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정기 점검 도래로 시작해 정비 계획 에이전트의 제안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설비보전팀장의 승인과 거절, 승인 지연 타이머를 8회차의 그림과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정비 오더 등록 · 공지 메일(한 작업)과 결과 보고를 시스템 레인에 놓는다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여섯,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정비 계획 에이전트와 CMMS에 연결해 배포하고 실행한다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건에 정비 오더와 생산팀 공지와 종료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a:t>
            </a:r>
          </a:p>
          <a:p>
            <a:pPr algn="ctr">
              <a:lnSpc>
                <a:spcPct val="110000"/>
              </a:lnSpc>
              <a:spcAft>
                <a:spcPts val="400"/>
              </a:spcAft>
            </a:pPr>
            <a:r>
              <a:rPr sz="1350" b="0">
                <a:solidFill>
                  <a:srgbClr val="1F2A3A"/>
                </a:solidFill>
                <a:latin typeface="맑은 고딕"/>
                <a:ea typeface="맑은 고딕"/>
                <a:cs typeface="맑은 고딕"/>
              </a:rPr>
              <a:t>경보 패턴 PM_DUE,</a:t>
            </a:r>
          </a:p>
          <a:p>
            <a:pPr algn="ctr">
              <a:lnSpc>
                <a:spcPct val="110000"/>
              </a:lnSpc>
              <a:spcAft>
                <a:spcPts val="400"/>
              </a:spcAft>
            </a:pPr>
            <a:r>
              <a:rPr sz="1350" b="0">
                <a:solidFill>
                  <a:srgbClr val="1F2A3A"/>
                </a:solidFill>
                <a:latin typeface="맑은 고딕"/>
                <a:ea typeface="맑은 고딕"/>
                <a:cs typeface="맑은 고딕"/>
              </a:rPr>
              <a:t>정비 계획 에이전트,</a:t>
            </a:r>
          </a:p>
          <a:p>
            <a:pPr algn="ctr">
              <a:lnSpc>
                <a:spcPct val="110000"/>
              </a:lnSpc>
              <a:spcAft>
                <a:spcPts val="400"/>
              </a:spcAft>
            </a:pPr>
            <a:r>
              <a:rPr sz="1350" b="0">
                <a:solidFill>
                  <a:srgbClr val="1F2A3A"/>
                </a:solidFill>
                <a:latin typeface="맑은 고딕"/>
                <a:ea typeface="맑은 고딕"/>
                <a:cs typeface="맑은 고딕"/>
              </a:rPr>
              <a:t>설비보전팀장 역할,</a:t>
            </a:r>
          </a:p>
          <a:p>
            <a:pPr algn="ctr">
              <a:lnSpc>
                <a:spcPct val="110000"/>
              </a:lnSpc>
              <a:spcAft>
                <a:spcPts val="400"/>
              </a:spcAft>
            </a:pPr>
            <a:r>
              <a:rPr sz="1350" b="0">
                <a:solidFill>
                  <a:srgbClr val="1F2A3A"/>
                </a:solidFill>
                <a:latin typeface="맑은 고딕"/>
                <a:ea typeface="맑은 고딕"/>
                <a:cs typeface="맑은 고딕"/>
              </a:rPr>
              <a:t>CMMS와 공지 작업</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검사와 배포</a:t>
            </a:r>
          </a:p>
          <a:p>
            <a:pPr algn="ctr">
              <a:lnSpc>
                <a:spcPct val="110000"/>
              </a:lnSpc>
              <a:spcAft>
                <a:spcPts val="400"/>
              </a:spcAft>
            </a:pPr>
            <a:r>
              <a:rPr sz="1350" b="0">
                <a:solidFill>
                  <a:srgbClr val="1F2A3A"/>
                </a:solidFill>
                <a:latin typeface="맑은 고딕"/>
                <a:ea typeface="맑은 고딕"/>
                <a:cs typeface="맑은 고딕"/>
              </a:rPr>
              <a:t>사전 검사를 거쳐</a:t>
            </a:r>
          </a:p>
          <a:p>
            <a:pPr algn="ctr">
              <a:lnSpc>
                <a:spcPct val="110000"/>
              </a:lnSpc>
              <a:spcAft>
                <a:spcPts val="400"/>
              </a:spcAft>
            </a:pPr>
            <a:r>
              <a:rPr sz="1350" b="0">
                <a:solidFill>
                  <a:srgbClr val="1F2A3A"/>
                </a:solidFill>
                <a:latin typeface="맑은 고딕"/>
                <a:ea typeface="맑은 고딕"/>
                <a:cs typeface="맑은 고딕"/>
              </a:rPr>
              <a:t>등록하고 배포한다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정기 점검 도래로</a:t>
            </a:r>
          </a:p>
          <a:p>
            <a:pPr algn="ctr">
              <a:lnSpc>
                <a:spcPct val="110000"/>
              </a:lnSpc>
              <a:spcAft>
                <a:spcPts val="400"/>
              </a:spcAft>
            </a:pPr>
            <a:r>
              <a:rPr sz="1350" b="0">
                <a:solidFill>
                  <a:srgbClr val="1F2A3A"/>
                </a:solidFill>
                <a:latin typeface="맑은 고딕"/>
                <a:ea typeface="맑은 고딕"/>
                <a:cs typeface="맑은 고딕"/>
              </a:rPr>
              <a:t>처리 건이 열리고</a:t>
            </a:r>
          </a:p>
          <a:p>
            <a:pPr algn="ctr">
              <a:lnSpc>
                <a:spcPct val="110000"/>
              </a:lnSpc>
              <a:spcAft>
                <a:spcPts val="400"/>
              </a:spcAft>
            </a:pPr>
            <a:r>
              <a:rPr sz="1350" b="0">
                <a:solidFill>
                  <a:srgbClr val="1F2A3A"/>
                </a:solidFill>
                <a:latin typeface="맑은 고딕"/>
                <a:ea typeface="맑은 고딕"/>
                <a:cs typeface="맑은 고딕"/>
              </a:rPr>
              <a:t>추천안이 승인을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승인과 거절</a:t>
            </a:r>
          </a:p>
          <a:p>
            <a:pPr algn="ctr">
              <a:lnSpc>
                <a:spcPct val="110000"/>
              </a:lnSpc>
              <a:spcAft>
                <a:spcPts val="400"/>
              </a:spcAft>
            </a:pPr>
            <a:r>
              <a:rPr sz="1350" b="0">
                <a:solidFill>
                  <a:srgbClr val="1F2A3A"/>
                </a:solidFill>
                <a:latin typeface="맑은 고딕"/>
                <a:ea typeface="맑은 고딕"/>
                <a:cs typeface="맑은 고딕"/>
              </a:rPr>
              <a:t>승인하면 정비 오더와 공지,</a:t>
            </a:r>
          </a:p>
          <a:p>
            <a:pPr algn="ctr">
              <a:lnSpc>
                <a:spcPct val="110000"/>
              </a:lnSpc>
              <a:spcAft>
                <a:spcPts val="400"/>
              </a:spcAft>
            </a:pPr>
            <a:r>
              <a:rPr sz="1350" b="0">
                <a:solidFill>
                  <a:srgbClr val="1F2A3A"/>
                </a:solidFill>
                <a:latin typeface="맑은 고딕"/>
                <a:ea typeface="맑은 고딕"/>
                <a:cs typeface="맑은 고딕"/>
              </a:rPr>
              <a:t>거절하면 정비 오더 없이</a:t>
            </a:r>
          </a:p>
          <a:p>
            <a:pPr algn="ctr">
              <a:lnSpc>
                <a:spcPct val="110000"/>
              </a:lnSpc>
              <a:spcAft>
                <a:spcPts val="400"/>
              </a:spcAft>
            </a:pPr>
            <a:r>
              <a:rPr sz="1350" b="0">
                <a:solidFill>
                  <a:srgbClr val="1F2A3A"/>
                </a:solidFill>
                <a:latin typeface="맑은 고딕"/>
                <a:ea typeface="맑은 고딕"/>
                <a:cs typeface="맑은 고딕"/>
              </a:rPr>
              <a:t>거절 종결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재고 부족에서 발주와 입고까지의 흐름을 bpmn.io로 그린다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프로세스의 BPMN 파일은 같은 승인 블록 뒤에 발주에서 입고와 재고 반영까지를 이어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시작과 제안</a:t>
            </a:r>
          </a:p>
          <a:p>
            <a:pPr algn="l">
              <a:lnSpc>
                <a:spcPct val="110000"/>
              </a:lnSpc>
              <a:spcAft>
                <a:spcPts val="400"/>
              </a:spcAft>
            </a:pPr>
            <a:r>
              <a:rPr sz="1350" b="0">
                <a:solidFill>
                  <a:srgbClr val="1F2A3A"/>
                </a:solidFill>
                <a:latin typeface="맑은 고딕"/>
                <a:ea typeface="맑은 고딕"/>
                <a:cs typeface="맑은 고딕"/>
              </a:rPr>
              <a:t>재고 부족으로 시작해 구매 에이전트가 수량과 공급사를 제안하는 작업으로 잇는다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블록</a:t>
            </a:r>
          </a:p>
          <a:p>
            <a:pPr algn="l">
              <a:lnSpc>
                <a:spcPct val="110000"/>
              </a:lnSpc>
              <a:spcAft>
                <a:spcPts val="400"/>
              </a:spcAft>
            </a:pPr>
            <a:r>
              <a:rPr sz="1350" b="0">
                <a:solidFill>
                  <a:srgbClr val="1F2A3A"/>
                </a:solidFill>
                <a:latin typeface="맑은 고딕"/>
                <a:ea typeface="맑은 고딕"/>
                <a:cs typeface="맑은 고딕"/>
              </a:rPr>
              <a:t>구매 담당의 승인과 거절, 승인 지연 타이머를 같은 모양으로 놓는다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쓴다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뒤의 작업</a:t>
            </a:r>
          </a:p>
          <a:p>
            <a:pPr algn="l">
              <a:lnSpc>
                <a:spcPct val="110000"/>
              </a:lnSpc>
              <a:spcAft>
                <a:spcPts val="400"/>
              </a:spcAft>
            </a:pPr>
            <a:r>
              <a:rPr sz="1350" b="0">
                <a:solidFill>
                  <a:srgbClr val="1F2A3A"/>
                </a:solidFill>
                <a:latin typeface="맑은 고딕"/>
                <a:ea typeface="맑은 고딕"/>
                <a:cs typeface="맑은 고딕"/>
              </a:rPr>
              <a:t>ERP 발주 · 공급사 메일(한 작업), 입고 · 재고 반영, 결과 보고를 차례로 잇는다</a:t>
            </a:r>
          </a:p>
        </p:txBody>
      </p:sp>
      <p:sp>
        <p:nvSpPr>
          <p:cNvPr id="22" name="Rounded Rectangle 21"/>
          <p:cNvSpPr/>
          <p:nvPr/>
        </p:nvSpPr>
        <p:spPr>
          <a:xfrm>
            <a:off x="6461607" y="513435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새로 그린다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350" b="0">
                <a:solidFill>
                  <a:srgbClr val="1F2A3A"/>
                </a:solidFill>
                <a:latin typeface="맑은 고딕"/>
                <a:ea typeface="맑은 고딕"/>
                <a:cs typeface="맑은 고딕"/>
              </a:rPr>
              <a:t>작업 일곱, 게이트웨이 하나, 끝 이벤트 셋을 갖춘 BPMN 파일</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구매 에이전트와 ERP에 연결해 배포하고 실행한다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 프로세스: 연결하는 것과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경보 패턴</a:t>
            </a:r>
          </a:p>
          <a:p>
            <a:pPr algn="ctr">
              <a:lnSpc>
                <a:spcPct val="110000"/>
              </a:lnSpc>
              <a:spcAft>
                <a:spcPts val="400"/>
              </a:spcAft>
            </a:pPr>
            <a:r>
              <a:rPr sz="1250" b="0">
                <a:solidFill>
                  <a:srgbClr val="1F2A3A"/>
                </a:solidFill>
                <a:latin typeface="맑은 고딕"/>
                <a:ea typeface="맑은 고딕"/>
                <a:cs typeface="맑은 고딕"/>
              </a:rPr>
              <a:t>SPARE_BELOW_MIN,</a:t>
            </a:r>
          </a:p>
          <a:p>
            <a:pPr algn="ctr">
              <a:lnSpc>
                <a:spcPct val="110000"/>
              </a:lnSpc>
              <a:spcAft>
                <a:spcPts val="400"/>
              </a:spcAft>
            </a:pPr>
            <a:r>
              <a:rPr sz="1250" b="0">
                <a:solidFill>
                  <a:srgbClr val="1F2A3A"/>
                </a:solidFill>
                <a:latin typeface="맑은 고딕"/>
                <a:ea typeface="맑은 고딕"/>
                <a:cs typeface="맑은 고딕"/>
              </a:rPr>
              <a:t>구매 에이전트,</a:t>
            </a:r>
          </a:p>
          <a:p>
            <a:pPr algn="ctr">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검사와 배포</a:t>
            </a:r>
          </a:p>
          <a:p>
            <a:pPr algn="ctr">
              <a:lnSpc>
                <a:spcPct val="110000"/>
              </a:lnSpc>
              <a:spcAft>
                <a:spcPts val="400"/>
              </a:spcAft>
            </a:pPr>
            <a:r>
              <a:rPr sz="1250" b="0">
                <a:solidFill>
                  <a:srgbClr val="1F2A3A"/>
                </a:solidFill>
                <a:latin typeface="맑은 고딕"/>
                <a:ea typeface="맑은 고딕"/>
                <a:cs typeface="맑은 고딕"/>
              </a:rPr>
              <a:t>사전 검사를 거쳐</a:t>
            </a:r>
          </a:p>
          <a:p>
            <a:pPr algn="ctr">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재고 부족으로</a:t>
            </a:r>
          </a:p>
          <a:p>
            <a:pPr algn="ctr">
              <a:lnSpc>
                <a:spcPct val="110000"/>
              </a:lnSpc>
              <a:spcAft>
                <a:spcPts val="400"/>
              </a:spcAft>
            </a:pPr>
            <a:r>
              <a:rPr sz="1250" b="0">
                <a:solidFill>
                  <a:srgbClr val="1F2A3A"/>
                </a:solidFill>
                <a:latin typeface="맑은 고딕"/>
                <a:ea typeface="맑은 고딕"/>
                <a:cs typeface="맑은 고딕"/>
              </a:rPr>
              <a:t>처리 건이 열리고</a:t>
            </a:r>
          </a:p>
          <a:p>
            <a:pPr algn="ctr">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뒤</a:t>
            </a:r>
          </a:p>
          <a:p>
            <a:pPr algn="ctr">
              <a:lnSpc>
                <a:spcPct val="110000"/>
              </a:lnSpc>
              <a:spcAft>
                <a:spcPts val="400"/>
              </a:spcAft>
            </a:pPr>
            <a:r>
              <a:rPr sz="1250" b="0">
                <a:solidFill>
                  <a:srgbClr val="1F2A3A"/>
                </a:solidFill>
                <a:latin typeface="맑은 고딕"/>
                <a:ea typeface="맑은 고딕"/>
                <a:cs typeface="맑은 고딕"/>
              </a:rPr>
              <a:t>ERP 발주,</a:t>
            </a:r>
          </a:p>
          <a:p>
            <a:pPr algn="ctr">
              <a:lnSpc>
                <a:spcPct val="110000"/>
              </a:lnSpc>
              <a:spcAft>
                <a:spcPts val="400"/>
              </a:spcAft>
            </a:pPr>
            <a:r>
              <a:rPr sz="1250" b="0">
                <a:solidFill>
                  <a:srgbClr val="1F2A3A"/>
                </a:solidFill>
                <a:latin typeface="맑은 고딕"/>
                <a:ea typeface="맑은 고딕"/>
                <a:cs typeface="맑은 고딕"/>
              </a:rPr>
              <a:t>공급사 통지,</a:t>
            </a:r>
          </a:p>
          <a:p>
            <a:pPr algn="ctr">
              <a:lnSpc>
                <a:spcPct val="110000"/>
              </a:lnSpc>
              <a:spcAft>
                <a:spcPts val="400"/>
              </a:spcAft>
            </a:pPr>
            <a:r>
              <a:rPr sz="1250" b="0">
                <a:solidFill>
                  <a:srgbClr val="1F2A3A"/>
                </a:solidFill>
                <a:latin typeface="맑은 고딕"/>
                <a:ea typeface="맑은 고딕"/>
                <a:cs typeface="맑은 고딕"/>
              </a:rPr>
              <a:t>입고와 재고 반영</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 기록</a:t>
            </a:r>
          </a:p>
          <a:p>
            <a:pPr algn="ctr">
              <a:lnSpc>
                <a:spcPct val="110000"/>
              </a:lnSpc>
              <a:spcAft>
                <a:spcPts val="400"/>
              </a:spcAft>
            </a:pPr>
            <a:r>
              <a:rPr sz="1250" b="0">
                <a:solidFill>
                  <a:srgbClr val="1F2A3A"/>
                </a:solidFill>
                <a:latin typeface="맑은 고딕"/>
                <a:ea typeface="맑은 고딕"/>
                <a:cs typeface="맑은 고딕"/>
              </a:rPr>
              <a:t>가용 재고가</a:t>
            </a:r>
          </a:p>
          <a:p>
            <a:pPr algn="ctr">
              <a:lnSpc>
                <a:spcPct val="110000"/>
              </a:lnSpc>
              <a:spcAft>
                <a:spcPts val="400"/>
              </a:spcAft>
            </a:pPr>
            <a:r>
              <a:rPr sz="1250" b="0">
                <a:solidFill>
                  <a:srgbClr val="1F2A3A"/>
                </a:solidFill>
                <a:latin typeface="맑은 고딕"/>
                <a:ea typeface="맑은 고딕"/>
                <a:cs typeface="맑은 고딕"/>
              </a:rPr>
              <a:t>1개에서 7개로,</a:t>
            </a:r>
          </a:p>
          <a:p>
            <a:pPr algn="ctr">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AI와 사람이 함께 수행하는</a:t>
            </a:r>
          </a:p>
          <a:p>
            <a:pPr algn="l">
              <a:lnSpc>
                <a:spcPct val="110000"/>
              </a:lnSpc>
            </a:pPr>
            <a:r>
              <a:rPr sz="3400" b="1">
                <a:solidFill>
                  <a:srgbClr val="13294B"/>
                </a:solidFill>
                <a:latin typeface="맑은 고딕"/>
                <a:ea typeface="맑은 고딕"/>
                <a:cs typeface="맑은 고딕"/>
              </a:rPr>
              <a:t>업무 흐름의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업무의 처리 건을 되짚고 지식, 에이전트, 프로세스를 잇는다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에이전트, 프로세스의 연결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세층연결.svg" descr="illust_237944092055766763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
        <p:nvSpPr>
          <p:cNvPr id="10" name="TextBox 9"/>
          <p:cNvSpPr txBox="1"/>
          <p:nvPr/>
        </p:nvSpPr>
        <p:spPr>
          <a:xfrm>
            <a:off x="1650228"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1~4회차</a:t>
            </a:r>
          </a:p>
        </p:txBody>
      </p:sp>
      <p:sp>
        <p:nvSpPr>
          <p:cNvPr id="11" name="TextBox 10"/>
          <p:cNvSpPr txBox="1"/>
          <p:nvPr/>
        </p:nvSpPr>
        <p:spPr>
          <a:xfrm>
            <a:off x="5059445"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5~7회차</a:t>
            </a:r>
          </a:p>
        </p:txBody>
      </p:sp>
      <p:sp>
        <p:nvSpPr>
          <p:cNvPr id="12" name="TextBox 11"/>
          <p:cNvSpPr txBox="1"/>
          <p:nvPr/>
        </p:nvSpPr>
        <p:spPr>
          <a:xfrm>
            <a:off x="8741400" y="172218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8~10회차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a:t>
            </a:r>
          </a:p>
          <a:p>
            <a:pPr algn="l">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enterprise-maint</a:t>
            </a:r>
          </a:p>
          <a:p>
            <a:pPr algn="l">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neo4j · 판단 규칙 hyd-dmn</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enterprise-purchase</a:t>
            </a:r>
          </a:p>
          <a:p>
            <a:pPr algn="l">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SOP-COOL-11은 에이전트의 추천, 운전원의 승인, 팬 명령을 거쳐 유온 51.3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지식</a:t>
            </a:r>
          </a:p>
          <a:p>
            <a:pPr algn="ctr">
              <a:lnSpc>
                <a:spcPct val="110000"/>
              </a:lnSpc>
              <a:spcAft>
                <a:spcPts val="400"/>
              </a:spcAft>
            </a:pPr>
            <a:r>
              <a:rPr sz="1250" b="0">
                <a:solidFill>
                  <a:srgbClr val="1F2A3A"/>
                </a:solidFill>
                <a:latin typeface="맑은 고딕"/>
                <a:ea typeface="맑은 고딕"/>
                <a:cs typeface="맑은 고딕"/>
              </a:rPr>
              <a:t>조치 SOP-COOL-11</a:t>
            </a:r>
          </a:p>
          <a:p>
            <a:pPr algn="ctr">
              <a:lnSpc>
                <a:spcPct val="110000"/>
              </a:lnSpc>
              <a:spcAft>
                <a:spcPts val="400"/>
              </a:spcAft>
            </a:pPr>
            <a:r>
              <a:rPr sz="1250" b="0">
                <a:solidFill>
                  <a:srgbClr val="1F2A3A"/>
                </a:solidFill>
                <a:latin typeface="맑은 고딕"/>
                <a:ea typeface="맑은 고딕"/>
                <a:cs typeface="맑은 고딕"/>
              </a:rPr>
              <a:t>팬 최대 운전이</a:t>
            </a:r>
          </a:p>
          <a:p>
            <a:pPr algn="ctr">
              <a:lnSpc>
                <a:spcPct val="110000"/>
              </a:lnSpc>
              <a:spcAft>
                <a:spcPts val="400"/>
              </a:spcAft>
            </a:pPr>
            <a:r>
              <a:rPr sz="125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제안</a:t>
            </a:r>
          </a:p>
          <a:p>
            <a:pPr algn="ctr">
              <a:lnSpc>
                <a:spcPct val="110000"/>
              </a:lnSpc>
              <a:spcAft>
                <a:spcPts val="400"/>
              </a:spcAft>
            </a:pPr>
            <a:r>
              <a:rPr sz="1250" b="0">
                <a:solidFill>
                  <a:srgbClr val="1F2A3A"/>
                </a:solidFill>
                <a:latin typeface="맑은 고딕"/>
                <a:ea typeface="맑은 고딕"/>
                <a:cs typeface="맑은 고딕"/>
              </a:rPr>
              <a:t>에이전트가 원인을</a:t>
            </a:r>
          </a:p>
          <a:p>
            <a:pPr algn="ctr">
              <a:lnSpc>
                <a:spcPct val="110000"/>
              </a:lnSpc>
              <a:spcAft>
                <a:spcPts val="400"/>
              </a:spcAft>
            </a:pPr>
            <a:r>
              <a:rPr sz="1250" b="0">
                <a:solidFill>
                  <a:srgbClr val="1F2A3A"/>
                </a:solidFill>
                <a:latin typeface="맑은 고딕"/>
                <a:ea typeface="맑은 고딕"/>
                <a:cs typeface="맑은 고딕"/>
              </a:rPr>
              <a:t>쿨러 핀 오염으로</a:t>
            </a:r>
          </a:p>
          <a:p>
            <a:pPr algn="ctr">
              <a:lnSpc>
                <a:spcPct val="110000"/>
              </a:lnSpc>
              <a:spcAft>
                <a:spcPts val="400"/>
              </a:spcAft>
            </a:pPr>
            <a:r>
              <a:rPr sz="125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운전원이</a:t>
            </a:r>
          </a:p>
          <a:p>
            <a:pPr algn="ctr">
              <a:lnSpc>
                <a:spcPct val="110000"/>
              </a:lnSpc>
              <a:spcAft>
                <a:spcPts val="400"/>
              </a:spcAft>
            </a:pPr>
            <a:r>
              <a:rPr sz="125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a:t>
            </a:r>
          </a:p>
          <a:p>
            <a:pPr algn="ctr">
              <a:lnSpc>
                <a:spcPct val="110000"/>
              </a:lnSpc>
              <a:spcAft>
                <a:spcPts val="400"/>
              </a:spcAft>
            </a:pPr>
            <a:r>
              <a:rPr sz="1250" b="0">
                <a:solidFill>
                  <a:srgbClr val="1F2A3A"/>
                </a:solidFill>
                <a:latin typeface="맑은 고딕"/>
                <a:ea typeface="맑은 고딕"/>
                <a:cs typeface="맑은 고딕"/>
              </a:rPr>
              <a:t>프로세스가</a:t>
            </a:r>
          </a:p>
          <a:p>
            <a:pPr algn="ctr">
              <a:lnSpc>
                <a:spcPct val="110000"/>
              </a:lnSpc>
              <a:spcAft>
                <a:spcPts val="400"/>
              </a:spcAft>
            </a:pPr>
            <a:r>
              <a:rPr sz="1250" b="0">
                <a:solidFill>
                  <a:srgbClr val="1F2A3A"/>
                </a:solidFill>
                <a:latin typeface="맑은 고딕"/>
                <a:ea typeface="맑은 고딕"/>
                <a:cs typeface="맑은 고딕"/>
              </a:rPr>
              <a:t>팬 속도 100 %</a:t>
            </a:r>
          </a:p>
          <a:p>
            <a:pPr algn="ctr">
              <a:lnSpc>
                <a:spcPct val="110000"/>
              </a:lnSpc>
              <a:spcAft>
                <a:spcPts val="400"/>
              </a:spcAft>
            </a:pPr>
            <a:r>
              <a:rPr sz="125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a:t>
            </a:r>
          </a:p>
          <a:p>
            <a:pPr algn="ctr">
              <a:lnSpc>
                <a:spcPct val="110000"/>
              </a:lnSpc>
              <a:spcAft>
                <a:spcPts val="400"/>
              </a:spcAft>
            </a:pPr>
            <a:r>
              <a:rPr sz="1250" b="0">
                <a:solidFill>
                  <a:srgbClr val="1F2A3A"/>
                </a:solidFill>
                <a:latin typeface="맑은 고딕"/>
                <a:ea typeface="맑은 고딕"/>
                <a:cs typeface="맑은 고딕"/>
              </a:rPr>
              <a:t>재관측 유온 51.3 ℃</a:t>
            </a:r>
          </a:p>
          <a:p>
            <a:pPr algn="ctr">
              <a:lnSpc>
                <a:spcPct val="110000"/>
              </a:lnSpc>
              <a:spcAft>
                <a:spcPts val="400"/>
              </a:spcAft>
            </a:pPr>
            <a:r>
              <a:rPr sz="1250" b="0">
                <a:solidFill>
                  <a:srgbClr val="1F2A3A"/>
                </a:solidFill>
                <a:latin typeface="맑은 고딕"/>
                <a:ea typeface="맑은 고딕"/>
                <a:cs typeface="맑은 고딕"/>
              </a:rPr>
              <a:t>기준 55 ℃ 미만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5~7회차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033271"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33271"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7~10회차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장치자리.svg" descr="illust_5503550975636153996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그림을 그리는 데 쓴 BPMN 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프로세스는 일곱 가지 기호만으로 그려져, 이 기호를 읽으면 세 업무의 순서와 책임과 예외 경로를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요소_복습.svg" descr="illust_6669910783780166749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6559"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경보가 도착하면 연다</a:t>
            </a:r>
          </a:p>
        </p:txBody>
      </p:sp>
      <p:sp>
        <p:nvSpPr>
          <p:cNvPr id="8" name="TextBox 7"/>
          <p:cNvSpPr txBox="1"/>
          <p:nvPr/>
        </p:nvSpPr>
        <p:spPr>
          <a:xfrm>
            <a:off x="2293888"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에이전트의 제안</a:t>
            </a:r>
          </a:p>
        </p:txBody>
      </p:sp>
      <p:sp>
        <p:nvSpPr>
          <p:cNvPr id="9" name="TextBox 8"/>
          <p:cNvSpPr txBox="1"/>
          <p:nvPr/>
        </p:nvSpPr>
        <p:spPr>
          <a:xfrm>
            <a:off x="3821217" y="3849532"/>
            <a:ext cx="1472781"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사람의 승인</a:t>
            </a:r>
          </a:p>
        </p:txBody>
      </p:sp>
      <p:sp>
        <p:nvSpPr>
          <p:cNvPr id="10" name="TextBox 9"/>
          <p:cNvSpPr txBox="1"/>
          <p:nvPr/>
        </p:nvSpPr>
        <p:spPr>
          <a:xfrm>
            <a:off x="5348547"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시스템의 처리와 결과 보고</a:t>
            </a:r>
          </a:p>
        </p:txBody>
      </p:sp>
      <p:sp>
        <p:nvSpPr>
          <p:cNvPr id="11" name="TextBox 10"/>
          <p:cNvSpPr txBox="1"/>
          <p:nvPr/>
        </p:nvSpPr>
        <p:spPr>
          <a:xfrm>
            <a:off x="6875876" y="3849532"/>
            <a:ext cx="1472781" cy="102666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승인과 거절의 갈림</a:t>
            </a:r>
          </a:p>
        </p:txBody>
      </p:sp>
      <p:sp>
        <p:nvSpPr>
          <p:cNvPr id="12" name="TextBox 11"/>
          <p:cNvSpPr txBox="1"/>
          <p:nvPr/>
        </p:nvSpPr>
        <p:spPr>
          <a:xfrm>
            <a:off x="8403205" y="3849532"/>
            <a:ext cx="1472781"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비중단형 경계 타이머</a:t>
            </a:r>
          </a:p>
          <a:p>
            <a:pPr algn="ctr">
              <a:lnSpc>
                <a:spcPct val="110000"/>
              </a:lnSpc>
              <a:spcAft>
                <a:spcPts val="100"/>
              </a:spcAft>
            </a:pPr>
            <a:r>
              <a:rPr sz="1300" b="0">
                <a:solidFill>
                  <a:srgbClr val="556175"/>
                </a:solidFill>
                <a:latin typeface="맑은 고딕"/>
                <a:ea typeface="맑은 고딕"/>
                <a:cs typeface="맑은 고딕"/>
              </a:rPr>
              <a:t>승인 지연의 알림</a:t>
            </a:r>
          </a:p>
        </p:txBody>
      </p:sp>
      <p:sp>
        <p:nvSpPr>
          <p:cNvPr id="13" name="TextBox 12"/>
          <p:cNvSpPr txBox="1"/>
          <p:nvPr/>
        </p:nvSpPr>
        <p:spPr>
          <a:xfrm>
            <a:off x="9930535" y="3849532"/>
            <a:ext cx="147278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끝, 거절 종결, 알림</a:t>
            </a:r>
          </a:p>
        </p:txBody>
      </p:sp>
      <p:sp>
        <p:nvSpPr>
          <p:cNvPr id="14" name="TextBox 13"/>
          <p:cNvSpPr txBox="1"/>
          <p:nvPr/>
        </p:nvSpPr>
        <p:spPr>
          <a:xfrm>
            <a:off x="1732049"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작업 9 · 게이트웨이 2</a:t>
            </a:r>
          </a:p>
        </p:txBody>
      </p:sp>
      <p:sp>
        <p:nvSpPr>
          <p:cNvPr id="15" name="TextBox 14"/>
          <p:cNvSpPr txBox="1"/>
          <p:nvPr/>
        </p:nvSpPr>
        <p:spPr>
          <a:xfrm>
            <a:off x="4786708"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작업 6 · 게이트웨이 1</a:t>
            </a:r>
          </a:p>
        </p:txBody>
      </p:sp>
      <p:sp>
        <p:nvSpPr>
          <p:cNvPr id="16" name="TextBox 15"/>
          <p:cNvSpPr txBox="1"/>
          <p:nvPr/>
        </p:nvSpPr>
        <p:spPr>
          <a:xfrm>
            <a:off x="7841366" y="550413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작업 7 · 게이트웨이 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다섯자리.svg" descr="illust_2396511633058597893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판단</a:t>
            </a:r>
          </a:p>
          <a:p>
            <a:pPr algn="ctr">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 · 거절</a:t>
            </a:r>
          </a:p>
          <a:p>
            <a:pPr algn="ctr">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시스템의 처리</a:t>
            </a:r>
          </a:p>
          <a:p>
            <a:pPr algn="ctr">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 기록</a:t>
            </a:r>
          </a:p>
          <a:p>
            <a:pPr algn="ctr">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a:p>
            <a:pPr algn="ctr">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주고받는것.svg" descr="illust_792343401901960521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경보의 내용</a:t>
            </a:r>
          </a:p>
          <a:p>
            <a:pPr algn="ctr">
              <a:lnSpc>
                <a:spcPct val="110000"/>
              </a:lnSpc>
              <a:spcAft>
                <a:spcPts val="100"/>
              </a:spcAft>
            </a:pPr>
            <a:r>
              <a:rPr sz="1300" b="0">
                <a:solidFill>
                  <a:srgbClr val="556175"/>
                </a:solidFill>
                <a:latin typeface="맑은 고딕"/>
                <a:ea typeface="맑은 고딕"/>
                <a:cs typeface="맑은 고딕"/>
              </a:rPr>
              <a:t>설비와 경보 패턴</a:t>
            </a:r>
          </a:p>
          <a:p>
            <a:pPr algn="ctr">
              <a:lnSpc>
                <a:spcPct val="110000"/>
              </a:lnSpc>
              <a:spcAft>
                <a:spcPts val="100"/>
              </a:spcAft>
            </a:pPr>
            <a:r>
              <a:rPr sz="1300" b="0">
                <a:solidFill>
                  <a:srgbClr val="556175"/>
                </a:solidFill>
                <a:latin typeface="맑은 고딕"/>
                <a:ea typeface="맑은 고딕"/>
                <a:cs typeface="맑은 고딕"/>
              </a:rPr>
              <a:t>HYD-01 · COOLER_DEGRADATION</a:t>
            </a:r>
          </a:p>
          <a:p>
            <a:pPr algn="ctr">
              <a:lnSpc>
                <a:spcPct val="110000"/>
              </a:lnSpc>
              <a:spcAft>
                <a:spcPts val="100"/>
              </a:spcAft>
            </a:pPr>
            <a:r>
              <a:rPr sz="1300" b="0">
                <a:solidFill>
                  <a:srgbClr val="556175"/>
                </a:solidFill>
                <a:latin typeface="맑은 고딕"/>
                <a:ea typeface="맑은 고딕"/>
                <a:cs typeface="맑은 고딕"/>
              </a:rPr>
              <a:t>HYD-02 · PM_DUE</a:t>
            </a:r>
          </a:p>
          <a:p>
            <a:pPr algn="ctr">
              <a:lnSpc>
                <a:spcPct val="110000"/>
              </a:lnSpc>
              <a:spcAft>
                <a:spcPts val="100"/>
              </a:spcAft>
            </a:pPr>
            <a:r>
              <a:rPr sz="1300" b="0">
                <a:solidFill>
                  <a:srgbClr val="556175"/>
                </a:solidFill>
                <a:latin typeface="맑은 고딕"/>
                <a:ea typeface="맑은 고딕"/>
                <a:cs typeface="맑은 고딕"/>
              </a:rPr>
              <a:t>씰 키트 · SPARE_BELOW_MIN</a:t>
            </a:r>
          </a:p>
        </p:txBody>
      </p:sp>
      <p:sp>
        <p:nvSpPr>
          <p:cNvPr id="13" name="TextBox 12"/>
          <p:cNvSpPr txBox="1"/>
          <p:nvPr/>
        </p:nvSpPr>
        <p:spPr>
          <a:xfrm>
            <a:off x="3673939"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 그 근거</a:t>
            </a:r>
          </a:p>
          <a:p>
            <a:pPr algn="ctr">
              <a:lnSpc>
                <a:spcPct val="110000"/>
              </a:lnSpc>
              <a:spcAft>
                <a:spcPts val="100"/>
              </a:spcAft>
            </a:pPr>
            <a:r>
              <a:rPr sz="1300" b="0">
                <a:solidFill>
                  <a:srgbClr val="556175"/>
                </a:solidFill>
                <a:latin typeface="맑은 고딕"/>
                <a:ea typeface="맑은 고딕"/>
                <a:cs typeface="맑은 고딕"/>
              </a:rPr>
              <a:t>냉각 조치: 팬 최대 운전</a:t>
            </a:r>
          </a:p>
          <a:p>
            <a:pPr algn="ctr">
              <a:lnSpc>
                <a:spcPct val="110000"/>
              </a:lnSpc>
              <a:spcAft>
                <a:spcPts val="100"/>
              </a:spcAft>
            </a:pPr>
            <a:r>
              <a:rPr sz="1300" b="0">
                <a:solidFill>
                  <a:srgbClr val="556175"/>
                </a:solidFill>
                <a:latin typeface="맑은 고딕"/>
                <a:ea typeface="맑은 고딕"/>
                <a:cs typeface="맑은 고딕"/>
              </a:rPr>
              <a:t>정비 시점: 야간 정비 시간</a:t>
            </a:r>
          </a:p>
          <a:p>
            <a:pPr algn="ctr">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승인된 내용</a:t>
            </a:r>
          </a:p>
          <a:p>
            <a:pPr algn="ctr">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a:lnSpc>
                <a:spcPct val="110000"/>
              </a:lnSpc>
              <a:spcAft>
                <a:spcPts val="100"/>
              </a:spcAft>
            </a:pPr>
            <a:r>
              <a:rPr sz="1300" b="0">
                <a:solidFill>
                  <a:srgbClr val="556175"/>
                </a:solidFill>
                <a:latin typeface="맑은 고딕"/>
                <a:ea typeface="맑은 고딕"/>
                <a:cs typeface="맑은 고딕"/>
              </a:rPr>
              <a:t>운전원 · 팬 속도 100 %</a:t>
            </a:r>
          </a:p>
          <a:p>
            <a:pPr algn="ctr">
              <a:lnSpc>
                <a:spcPct val="110000"/>
              </a:lnSpc>
              <a:spcAft>
                <a:spcPts val="100"/>
              </a:spcAft>
            </a:pPr>
            <a:r>
              <a:rPr sz="1300" b="0">
                <a:solidFill>
                  <a:srgbClr val="556175"/>
                </a:solidFill>
                <a:latin typeface="맑은 고딕"/>
                <a:ea typeface="맑은 고딕"/>
                <a:cs typeface="맑은 고딕"/>
              </a:rPr>
              <a:t>설비보전팀장 · 정비 시점</a:t>
            </a:r>
          </a:p>
          <a:p>
            <a:pPr algn="ctr">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처리의 결과</a:t>
            </a:r>
          </a:p>
          <a:p>
            <a:pPr algn="ctr">
              <a:lnSpc>
                <a:spcPct val="110000"/>
              </a:lnSpc>
              <a:spcAft>
                <a:spcPts val="100"/>
              </a:spcAft>
            </a:pPr>
            <a:r>
              <a:rPr sz="1300" b="0">
                <a:solidFill>
                  <a:srgbClr val="556175"/>
                </a:solidFill>
                <a:latin typeface="맑은 고딕"/>
                <a:ea typeface="맑은 고딕"/>
                <a:cs typeface="맑은 고딕"/>
              </a:rPr>
              <a:t>업무 시스템에 남은 기록</a:t>
            </a:r>
          </a:p>
          <a:p>
            <a:pPr algn="ctr">
              <a:lnSpc>
                <a:spcPct val="110000"/>
              </a:lnSpc>
              <a:spcAft>
                <a:spcPts val="100"/>
              </a:spcAft>
            </a:pPr>
            <a:r>
              <a:rPr sz="1300" b="0">
                <a:solidFill>
                  <a:srgbClr val="556175"/>
                </a:solidFill>
                <a:latin typeface="맑은 고딕"/>
                <a:ea typeface="맑은 고딕"/>
                <a:cs typeface="맑은 고딕"/>
              </a:rPr>
              <a:t>설비 명령과 작업지시</a:t>
            </a:r>
          </a:p>
          <a:p>
            <a:pPr algn="ctr">
              <a:lnSpc>
                <a:spcPct val="110000"/>
              </a:lnSpc>
              <a:spcAft>
                <a:spcPts val="100"/>
              </a:spcAft>
            </a:pPr>
            <a:r>
              <a:rPr sz="1300" b="0">
                <a:solidFill>
                  <a:srgbClr val="556175"/>
                </a:solidFill>
                <a:latin typeface="맑은 고딕"/>
                <a:ea typeface="맑은 고딕"/>
                <a:cs typeface="맑은 고딕"/>
              </a:rPr>
              <a:t>정비 오더와 공지</a:t>
            </a:r>
          </a:p>
          <a:p>
            <a:pPr algn="ctr">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가동률과 생산량을 지키고 보전비만 든다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+1.73</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납기가 24시간 안인 생산 오더가 있어 오더 손실을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-3.35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그때의 운전시간이 2,200 h를 넘으므로 미루지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B-OEM (순정)</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330만원 · 5일 · 2 %</a:t>
            </a:r>
          </a:p>
          <a:p>
            <a:pPr algn="l">
              <a:lnSpc>
                <a:spcPct val="110000"/>
              </a:lnSpc>
            </a:pPr>
            <a:r>
              <a:rPr sz="1400" b="0">
                <a:solidFill>
                  <a:srgbClr val="1F2A3A"/>
                </a:solidFill>
                <a:latin typeface="맑은 고딕"/>
                <a:ea typeface="맑은 고딕"/>
                <a:cs typeface="맑은 고딕"/>
              </a:rPr>
              <a:t>부품 품질에서 앞선다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a:p>
            <a:pPr algn="l">
              <a:lnSpc>
                <a:spcPct val="110000"/>
              </a:lnSpc>
            </a:pPr>
            <a:r>
              <a:rPr sz="1250" b="1">
                <a:solidFill>
                  <a:srgbClr val="1A6FC4"/>
                </a:solidFill>
                <a:latin typeface="맑은 고딕"/>
                <a:ea typeface="맑은 고딕"/>
                <a:cs typeface="맑은 고딕"/>
              </a:rPr>
              <a:t>점수 +2.82</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A정밀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210만원 · 2일 · 12 %</a:t>
            </a:r>
          </a:p>
          <a:p>
            <a:pPr algn="l">
              <a:lnSpc>
                <a:spcPct val="110000"/>
              </a:lnSpc>
            </a:pPr>
            <a:r>
              <a:rPr sz="1400" b="0">
                <a:solidFill>
                  <a:srgbClr val="1F2A3A"/>
                </a:solidFill>
                <a:latin typeface="맑은 고딕"/>
                <a:ea typeface="맑은 고딕"/>
                <a:cs typeface="맑은 고딕"/>
              </a:rPr>
              <a:t>불량률이 10 %를 넘어 전수 검사 비용을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대안</a:t>
            </a:r>
          </a:p>
          <a:p>
            <a:pPr algn="l">
              <a:lnSpc>
                <a:spcPct val="110000"/>
              </a:lnSpc>
            </a:pPr>
            <a:r>
              <a:rPr sz="1250" b="1">
                <a:solidFill>
                  <a:srgbClr val="556175"/>
                </a:solidFill>
                <a:latin typeface="맑은 고딕"/>
                <a:ea typeface="맑은 고딕"/>
                <a:cs typeface="맑은 고딕"/>
              </a:rPr>
              <a:t>점수 +1.32</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C트레이딩 (비승인)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120만원 · 1일 · 30 %</a:t>
            </a:r>
          </a:p>
          <a:p>
            <a:pPr algn="l">
              <a:lnSpc>
                <a:spcPct val="110000"/>
              </a:lnSpc>
            </a:pPr>
            <a:r>
              <a:rPr sz="1400" b="0">
                <a:solidFill>
                  <a:srgbClr val="1F2A3A"/>
                </a:solidFill>
                <a:latin typeface="맑은 고딕"/>
                <a:ea typeface="맑은 고딕"/>
                <a:cs typeface="맑은 고딕"/>
              </a:rPr>
              <a:t>승인 공급사가 아니어서 핵심 부품은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7회차의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시스템실행.svg" descr="illust_8865255667507569099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세종료.svg" descr="illust_6724290866089676280_179177294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긴급 대응</a:t>
            </a:r>
          </a:p>
          <a:p>
            <a:pPr algn="ctr">
              <a:lnSpc>
                <a:spcPct val="110000"/>
              </a:lnSpc>
              <a:spcAft>
                <a:spcPts val="100"/>
              </a:spcAft>
            </a:pPr>
            <a:r>
              <a:rPr sz="1300" b="0">
                <a:solidFill>
                  <a:srgbClr val="556175"/>
                </a:solidFill>
                <a:latin typeface="맑은 고딕"/>
                <a:ea typeface="맑은 고딕"/>
                <a:cs typeface="맑은 고딕"/>
              </a:rPr>
              <a:t>유온 51.3 ℃ · 기준 55 ℃ 미만</a:t>
            </a:r>
          </a:p>
          <a:p>
            <a:pPr algn="ctr">
              <a:lnSpc>
                <a:spcPct val="110000"/>
              </a:lnSpc>
              <a:spcAft>
                <a:spcPts val="100"/>
              </a:spcAft>
            </a:pPr>
            <a:r>
              <a:rPr sz="1300" b="0">
                <a:solidFill>
                  <a:srgbClr val="556175"/>
                </a:solidFill>
                <a:latin typeface="맑은 고딕"/>
                <a:ea typeface="맑은 고딕"/>
                <a:cs typeface="맑은 고딕"/>
              </a:rPr>
              <a:t>작업지시 WO-1010-1198</a:t>
            </a:r>
          </a:p>
        </p:txBody>
      </p:sp>
      <p:sp>
        <p:nvSpPr>
          <p:cNvPr id="8" name="TextBox 7"/>
          <p:cNvSpPr txBox="1"/>
          <p:nvPr/>
        </p:nvSpPr>
        <p:spPr>
          <a:xfrm>
            <a:off x="4404875"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정기 점검</a:t>
            </a:r>
          </a:p>
          <a:p>
            <a:pPr algn="ctr">
              <a:lnSpc>
                <a:spcPct val="110000"/>
              </a:lnSpc>
              <a:spcAft>
                <a:spcPts val="100"/>
              </a:spcAft>
            </a:pPr>
            <a:r>
              <a:rPr sz="1300" b="0">
                <a:solidFill>
                  <a:srgbClr val="556175"/>
                </a:solidFill>
                <a:latin typeface="맑은 고딕"/>
                <a:ea typeface="맑은 고딕"/>
                <a:cs typeface="맑은 고딕"/>
              </a:rPr>
              <a:t>정비 오더 WO-1010-5DDD</a:t>
            </a:r>
          </a:p>
          <a:p>
            <a:pPr algn="ctr">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재고 보충</a:t>
            </a:r>
          </a:p>
          <a:p>
            <a:pPr algn="ctr">
              <a:lnSpc>
                <a:spcPct val="110000"/>
              </a:lnSpc>
              <a:spcAft>
                <a:spcPts val="100"/>
              </a:spcAft>
            </a:pPr>
            <a:r>
              <a:rPr sz="1300" b="0">
                <a:solidFill>
                  <a:srgbClr val="556175"/>
                </a:solidFill>
                <a:latin typeface="맑은 고딕"/>
                <a:ea typeface="맑은 고딕"/>
                <a:cs typeface="맑은 고딕"/>
              </a:rPr>
              <a:t>씰 키트 6개 입고 · 검수 합격</a:t>
            </a:r>
          </a:p>
          <a:p>
            <a:pPr algn="ctr">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지식이 없을 때</a:t>
            </a:r>
          </a:p>
          <a:p>
            <a:pPr algn="l">
              <a:lnSpc>
                <a:spcPct val="110000"/>
              </a:lnSpc>
              <a:spcAft>
                <a:spcPts val="400"/>
              </a:spcAft>
            </a:pPr>
            <a:r>
              <a:rPr sz="1400" b="0">
                <a:solidFill>
                  <a:srgbClr val="1F2A3A"/>
                </a:solidFill>
                <a:latin typeface="맑은 고딕"/>
                <a:ea typeface="맑은 고딕"/>
                <a:cs typeface="맑은 고딕"/>
              </a:rPr>
              <a:t>• 원인 후보와 조치와 규칙을 읽을 곳이 없다</a:t>
            </a:r>
          </a:p>
          <a:p>
            <a:pPr algn="l">
              <a:lnSpc>
                <a:spcPct val="110000"/>
              </a:lnSpc>
              <a:spcAft>
                <a:spcPts val="400"/>
              </a:spcAft>
            </a:pPr>
            <a:r>
              <a:rPr sz="14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없을 때</a:t>
            </a:r>
          </a:p>
          <a:p>
            <a:pPr algn="l">
              <a:lnSpc>
                <a:spcPct val="110000"/>
              </a:lnSpc>
              <a:spcAft>
                <a:spcPts val="400"/>
              </a:spcAft>
            </a:pPr>
            <a:r>
              <a:rPr sz="14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프로세스가 없을 때</a:t>
            </a:r>
          </a:p>
          <a:p>
            <a:pPr algn="l">
              <a:lnSpc>
                <a:spcPct val="110000"/>
              </a:lnSpc>
              <a:spcAft>
                <a:spcPts val="400"/>
              </a:spcAft>
            </a:pPr>
            <a:r>
              <a:rPr sz="1400" b="0">
                <a:solidFill>
                  <a:srgbClr val="1F2A3A"/>
                </a:solidFill>
                <a:latin typeface="맑은 고딕"/>
                <a:ea typeface="맑은 고딕"/>
                <a:cs typeface="맑은 고딕"/>
              </a:rPr>
              <a:t>• 추천이 나와도 누가 승인하고 누가 실행할지가 정해져 있지 않다</a:t>
            </a:r>
          </a:p>
          <a:p>
            <a:pPr algn="l">
              <a:lnSpc>
                <a:spcPct val="110000"/>
              </a:lnSpc>
              <a:spcAft>
                <a:spcPts val="400"/>
              </a:spcAft>
            </a:pPr>
            <a:r>
              <a:rPr sz="14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 그래프와 업무 데이터를 읽는다</a:t>
            </a:r>
          </a:p>
          <a:p>
            <a:pPr algn="l">
              <a:lnSpc>
                <a:spcPct val="110000"/>
              </a:lnSpc>
              <a:spcAft>
                <a:spcPts val="600"/>
              </a:spcAft>
            </a:pPr>
            <a:r>
              <a:rPr sz="1450" b="0">
                <a:solidFill>
                  <a:srgbClr val="1F2A3A"/>
                </a:solidFill>
                <a:latin typeface="맑은 고딕"/>
                <a:ea typeface="맑은 고딕"/>
                <a:cs typeface="맑은 고딕"/>
              </a:rPr>
              <a:t>• 후보를 견주어 추천과 대안을 낸다</a:t>
            </a:r>
          </a:p>
          <a:p>
            <a:pPr algn="l">
              <a:lnSpc>
                <a:spcPct val="110000"/>
              </a:lnSpc>
              <a:spcAft>
                <a:spcPts val="600"/>
              </a:spcAft>
            </a:pPr>
            <a:r>
              <a:rPr sz="145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승인 역할, 예외 경로를 프로세스로 정한다</a:t>
            </a:r>
          </a:p>
          <a:p>
            <a:pPr algn="l">
              <a:lnSpc>
                <a:spcPct val="110000"/>
              </a:lnSpc>
              <a:spcAft>
                <a:spcPts val="600"/>
              </a:spcAft>
            </a:pPr>
            <a:r>
              <a:rPr sz="1450" b="0">
                <a:solidFill>
                  <a:srgbClr val="1F2A3A"/>
                </a:solidFill>
                <a:latin typeface="맑은 고딕"/>
                <a:ea typeface="맑은 고딕"/>
                <a:cs typeface="맑은 고딕"/>
              </a:rPr>
              <a:t>• 추천안을 승인하거나 거절한다</a:t>
            </a:r>
          </a:p>
          <a:p>
            <a:pPr algn="l">
              <a:lnSpc>
                <a:spcPct val="110000"/>
              </a:lnSpc>
              <a:spcAft>
                <a:spcPts val="600"/>
              </a:spcAft>
            </a:pPr>
            <a:r>
              <a:rPr sz="1450" b="0">
                <a:solidFill>
                  <a:srgbClr val="1F2A3A"/>
                </a:solidFill>
                <a:latin typeface="맑은 고딕"/>
                <a:ea typeface="맑은 고딕"/>
                <a:cs typeface="맑은 고딕"/>
              </a:rPr>
              <a:t>• 기록을 읽어 프로세스를 고친다</a:t>
            </a:r>
          </a:p>
        </p:txBody>
      </p:sp>
      <p:sp>
        <p:nvSpPr>
          <p:cNvPr id="18" name="Rounded Rectangle 17"/>
          <p:cNvSpPr/>
          <p:nvPr/>
        </p:nvSpPr>
        <p:spPr>
          <a:xfrm>
            <a:off x="6781647" y="494557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업무를 프로세스로 옮길 때의 다섯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업무를 프로세스로 옮기는 일은 처리 건이 지나는 다섯 자리에 무엇을 놓을지를 묻는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ectangle 5"/>
          <p:cNvSpPr/>
          <p:nvPr/>
        </p:nvSpPr>
        <p:spPr>
          <a:xfrm>
            <a:off x="1658081" y="3053715"/>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63766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시작 이벤트</a:t>
            </a:r>
          </a:p>
          <a:p>
            <a:pPr algn="ctr">
              <a:lnSpc>
                <a:spcPct val="110000"/>
              </a:lnSpc>
              <a:spcAft>
                <a:spcPts val="400"/>
              </a:spcAft>
            </a:pPr>
            <a:r>
              <a:rPr sz="1300" b="0">
                <a:solidFill>
                  <a:srgbClr val="1F2A3A"/>
                </a:solidFill>
                <a:latin typeface="맑은 고딕"/>
                <a:ea typeface="맑은 고딕"/>
                <a:cs typeface="맑은 고딕"/>
              </a:rPr>
              <a:t>어떤 사건이 일어나면 이 업무가 시작되는가</a:t>
            </a:r>
          </a:p>
        </p:txBody>
      </p:sp>
      <p:sp>
        <p:nvSpPr>
          <p:cNvPr id="10" name="Oval 9"/>
          <p:cNvSpPr/>
          <p:nvPr/>
        </p:nvSpPr>
        <p:spPr>
          <a:xfrm>
            <a:off x="3442624" y="263766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에이전트의 판단</a:t>
            </a:r>
          </a:p>
          <a:p>
            <a:pPr algn="ctr">
              <a:lnSpc>
                <a:spcPct val="110000"/>
              </a:lnSpc>
              <a:spcAft>
                <a:spcPts val="400"/>
              </a:spcAft>
            </a:pPr>
            <a:r>
              <a:rPr sz="1300" b="0">
                <a:solidFill>
                  <a:srgbClr val="1F2A3A"/>
                </a:solidFill>
                <a:latin typeface="맑은 고딕"/>
                <a:ea typeface="맑은 고딕"/>
                <a:cs typeface="맑은 고딕"/>
              </a:rPr>
              <a:t>무엇을 읽어 무엇을 제안하게 할 것인가</a:t>
            </a:r>
          </a:p>
        </p:txBody>
      </p:sp>
      <p:sp>
        <p:nvSpPr>
          <p:cNvPr id="13" name="Oval 12"/>
          <p:cNvSpPr/>
          <p:nvPr/>
        </p:nvSpPr>
        <p:spPr>
          <a:xfrm>
            <a:off x="5661507" y="263766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사람의 승인</a:t>
            </a:r>
          </a:p>
          <a:p>
            <a:pPr algn="ctr">
              <a:lnSpc>
                <a:spcPct val="110000"/>
              </a:lnSpc>
              <a:spcAft>
                <a:spcPts val="400"/>
              </a:spcAft>
            </a:pPr>
            <a:r>
              <a:rPr sz="1300" b="0">
                <a:solidFill>
                  <a:srgbClr val="1F2A3A"/>
                </a:solidFill>
                <a:latin typeface="맑은 고딕"/>
                <a:ea typeface="맑은 고딕"/>
                <a:cs typeface="맑은 고딕"/>
              </a:rPr>
              <a:t>어느 역할이 결정하며 거절과 무응답은 어떻게 닫는가</a:t>
            </a:r>
          </a:p>
        </p:txBody>
      </p:sp>
      <p:sp>
        <p:nvSpPr>
          <p:cNvPr id="16" name="Oval 15"/>
          <p:cNvSpPr/>
          <p:nvPr/>
        </p:nvSpPr>
        <p:spPr>
          <a:xfrm>
            <a:off x="7880390" y="2637663"/>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시스템의 처리</a:t>
            </a:r>
          </a:p>
          <a:p>
            <a:pPr algn="ctr">
              <a:lnSpc>
                <a:spcPct val="110000"/>
              </a:lnSpc>
              <a:spcAft>
                <a:spcPts val="400"/>
              </a:spcAft>
            </a:pPr>
            <a:r>
              <a:rPr sz="1300" b="0">
                <a:solidFill>
                  <a:srgbClr val="1F2A3A"/>
                </a:solidFill>
                <a:latin typeface="맑은 고딕"/>
                <a:ea typeface="맑은 고딕"/>
                <a:cs typeface="맑은 고딕"/>
              </a:rPr>
              <a:t>승인된 내용을 어느 시스템이 실행하고 기록하는가</a:t>
            </a:r>
          </a:p>
        </p:txBody>
      </p:sp>
      <p:sp>
        <p:nvSpPr>
          <p:cNvPr id="19" name="Oval 18"/>
          <p:cNvSpPr/>
          <p:nvPr/>
        </p:nvSpPr>
        <p:spPr>
          <a:xfrm>
            <a:off x="10099273" y="2637663"/>
            <a:ext cx="868680" cy="868680"/>
          </a:xfrm>
          <a:prstGeom prst="ellipse">
            <a:avLst/>
          </a:prstGeom>
          <a:solidFill>
            <a:srgbClr val="FFFFFF"/>
          </a:solidFill>
          <a:ln w="25400">
            <a:solidFill>
              <a:srgbClr val="13294B"/>
            </a:solidFill>
          </a:ln>
        </p:spPr>
        <p:txBody>
          <a:bodyPr rtlCol="0" anchor="ctr"/>
          <a:lstStyle/>
          <a:p>
            <a:pPr algn="ctr"/>
          </a:p>
        </p:txBody>
      </p:sp>
      <p:sp>
        <p:nvSpPr>
          <p:cNvPr id="20" name="TextBox 19"/>
          <p:cNvSpPr txBox="1"/>
          <p:nvPr/>
        </p:nvSpPr>
        <p:spPr>
          <a:xfrm>
            <a:off x="10099273" y="2637663"/>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689223"/>
            <a:ext cx="2072579" cy="1655825"/>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종료 기록</a:t>
            </a:r>
          </a:p>
          <a:p>
            <a:pPr algn="ctr">
              <a:lnSpc>
                <a:spcPct val="110000"/>
              </a:lnSpc>
              <a:spcAft>
                <a:spcPts val="400"/>
              </a:spcAft>
            </a:pPr>
            <a:r>
              <a:rPr sz="1300" b="0">
                <a:solidFill>
                  <a:srgbClr val="1F2A3A"/>
                </a:solidFill>
                <a:latin typeface="맑은 고딕"/>
                <a:ea typeface="맑은 고딕"/>
                <a:cs typeface="맑은 고딕"/>
              </a:rPr>
              <a:t>무엇이 남으면 이 업무가 끝났다고 보는가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추천안의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추천안이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용어의 정식 명칭, 그리고 그것이 세 업무의 프로세스에서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ERP</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Enterprise Resource Planning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실행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Preventive Maintenance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정기 점검의 경보 패턴 PM_DUE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패턴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Pattern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세 프로세스가 함께 쓴 승인 블록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재주문점</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Reorder Point</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재고 보충의 시작 조건</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의견에 대한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닫힌 처리 건의 해석, 에이전트와 사람의 책임 경계, 읽기와 쓰기의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