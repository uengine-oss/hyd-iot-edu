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5회차에는 에이전트가 도구를 부르며 일하는 모습을 보았습니다. 오늘은 그 에이전트가 일하는 방법을 어디에 적어 두는지, 도구는 어떻게 연결되는지, 연결할 때 무엇을 지켜야 하는지를 차례로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과열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새로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도구의 입력 스키마를 읽은 뒤 읽기 도구를 불러 봅니다. 도구 이름과 입력 값과 반환된 행을 확인하고, 부른 도구와 입력과 결과가 호출 기록에 남는 것을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이름과 필수 인수와 호출 결과를 견준 뒤, 권한이 없는 경로를 읽게 했을 때와 서버가 연결되지 않았을 때 돌아오는 오류를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적혀 있지 않은 항목은 지어내지 않고 미정으로, 겹치는 항목은 합치지 않고 중복으로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앞의 두 실습에서 연결한 서버와 직접 쓴 스킬을 한 요청으로 잇습니다. 회의록 파일을 읽고, Git에서 바뀐 자료를 확인하고, 업무 항목을 만들어 저장하는 데까지가 한 번의 요청입니다. 도중에 도구 호출이 실패하면 그 항목을 채우지 않고 미완료로 표시합니다. 원인을 고친 뒤 다시 실행해 미완료 항목이 채워지는 것까지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다섯 개와 함께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33.png"/><Relationship Id="rId5" Type="http://schemas.openxmlformats.org/officeDocument/2006/relationships/image" Target="../media/image32.png"/><Relationship Id="rId6"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6회차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여러 도구의 연결과</a:t>
            </a:r>
          </a:p>
          <a:p>
            <a:pPr algn="l">
              <a:lnSpc>
                <a:spcPct val="110000"/>
              </a:lnSpc>
            </a:pPr>
            <a:r>
              <a:rPr sz="4000" b="1">
                <a:solidFill>
                  <a:srgbClr val="FFFFFF"/>
                </a:solidFill>
                <a:latin typeface="맑은 고딕"/>
                <a:ea typeface="맑은 고딕"/>
                <a:cs typeface="맑은 고딕"/>
              </a:rPr>
              <a:t>반복 업무의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145389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538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95681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9659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9659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69748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69748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42900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42900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업무 도구의 호출과 기록 확인</a:t>
            </a:r>
          </a:p>
        </p:txBody>
      </p:sp>
      <p:sp>
        <p:nvSpPr>
          <p:cNvPr id="21" name="Rounded Rectangle 2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16052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16052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서로 다른 MCP 서버의 연결과 비교</a:t>
            </a:r>
          </a:p>
        </p:txBody>
      </p:sp>
      <p:sp>
        <p:nvSpPr>
          <p:cNvPr id="26" name="Rounded Rectangle 2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8920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8920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회의 내용을 후속 업무로 바꾸는 스킬 작성</a:t>
            </a:r>
          </a:p>
        </p:txBody>
      </p:sp>
      <p:sp>
        <p:nvSpPr>
          <p:cNvPr id="31" name="Rounded Rectangle 30"/>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61441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6235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6235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도구를 조합한 업무 결과의 완성</a:t>
            </a:r>
          </a:p>
        </p:txBody>
      </p:sp>
      <p:sp>
        <p:nvSpPr>
          <p:cNvPr id="36" name="Rounded Rectangle 35"/>
          <p:cNvSpPr/>
          <p:nvPr/>
        </p:nvSpPr>
        <p:spPr>
          <a:xfrm>
            <a:off x="10088575" y="584301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8430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8" name="TextBox 3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508408822614550935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과열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392853034196608710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두절차.svg" descr="illust_94641717789131428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연결의수.svg" descr="illust_329543276575660145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MCP구성.svg" descr="illust_461710911149500650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목록호출.svg" descr="illust_780664443260902861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연결방식.svg" descr="illust_740764050494135014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읽기와 쓰기의 권한, 불완전한 응답과 실패를 다루는 기준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포털에 새로 등록하는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세겹.svg" descr="illust_4840548018425553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호출과 기록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HYD의 읽기 도구를 직접 부른 호출 한 건의 입력과 조회 결과, 그리고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등록된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braces" descr="brace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 스키마 확인</a:t>
            </a:r>
          </a:p>
          <a:p>
            <a:pPr algn="ctr">
              <a:lnSpc>
                <a:spcPct val="110000"/>
              </a:lnSpc>
              <a:spcAft>
                <a:spcPts val="400"/>
              </a:spcAft>
            </a:pPr>
            <a:r>
              <a:rPr sz="1350" b="0">
                <a:solidFill>
                  <a:srgbClr val="1F2A3A"/>
                </a:solidFill>
                <a:latin typeface="맑은 고딕"/>
                <a:ea typeface="맑은 고딕"/>
                <a:cs typeface="맑은 고딕"/>
              </a:rPr>
              <a:t>도구가 받는 값의</a:t>
            </a:r>
          </a:p>
          <a:p>
            <a:pPr algn="ctr">
              <a:lnSpc>
                <a:spcPct val="110000"/>
              </a:lnSpc>
              <a:spcAft>
                <a:spcPts val="400"/>
              </a:spcAft>
            </a:pPr>
            <a:r>
              <a:rPr sz="1350" b="0">
                <a:solidFill>
                  <a:srgbClr val="1F2A3A"/>
                </a:solidFill>
                <a:latin typeface="맑은 고딕"/>
                <a:ea typeface="맑은 고딕"/>
                <a:cs typeface="맑은 고딕"/>
              </a:rPr>
              <a:t>이름과 형을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기록 확인</a:t>
            </a:r>
          </a:p>
          <a:p>
            <a:pPr algn="ctr">
              <a:lnSpc>
                <a:spcPct val="110000"/>
              </a:lnSpc>
              <a:spcAft>
                <a:spcPts val="400"/>
              </a:spcAft>
            </a:pPr>
            <a:r>
              <a:rPr sz="1350" b="0">
                <a:solidFill>
                  <a:srgbClr val="1F2A3A"/>
                </a:solidFill>
                <a:latin typeface="맑은 고딕"/>
                <a:ea typeface="맑은 고딕"/>
                <a:cs typeface="맑은 고딕"/>
              </a:rPr>
              <a:t>부른 도구와 입력, 결과가</a:t>
            </a:r>
          </a:p>
          <a:p>
            <a:pPr algn="ctr">
              <a:lnSpc>
                <a:spcPct val="110000"/>
              </a:lnSpc>
              <a:spcAft>
                <a:spcPts val="400"/>
              </a:spcAft>
            </a:pPr>
            <a:r>
              <a:rPr sz="1350" b="0">
                <a:solidFill>
                  <a:srgbClr val="1F2A3A"/>
                </a:solidFill>
                <a:latin typeface="맑은 고딕"/>
                <a:ea typeface="맑은 고딕"/>
                <a:cs typeface="맑은 고딕"/>
              </a:rPr>
              <a:t>기록에 남았는지 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도구와 호출 결과를 견준다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견주는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 이름과 필수 인수, 호출 결과를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이름, 필수 인수,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실패할 때의 동작</a:t>
            </a:r>
          </a:p>
          <a:p>
            <a:pPr algn="l">
              <a:lnSpc>
                <a:spcPct val="110000"/>
              </a:lnSpc>
              <a:spcAft>
                <a:spcPts val="400"/>
              </a:spcAft>
            </a:pPr>
            <a:r>
              <a:rPr sz="1400" b="0">
                <a:solidFill>
                  <a:srgbClr val="1F2A3A"/>
                </a:solidFill>
                <a:latin typeface="맑은 고딕"/>
                <a:ea typeface="맑은 고딕"/>
                <a:cs typeface="맑은 고딕"/>
              </a:rPr>
              <a:t>권한이 없는 경로를 읽게 하거나 서버를 연결하지 않고 불러, 돌아오는 오류를 확인한다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담당자가 없는 항목은 지어내지 않고 「미정」으로, 겹치는 항목은 합치지 않고 「중복」으로 표시하게 한다</a:t>
            </a:r>
          </a:p>
        </p:txBody>
      </p:sp>
      <p:sp>
        <p:nvSpPr>
          <p:cNvPr id="16" name="Rounded Rectangle 15"/>
          <p:cNvSpPr/>
          <p:nvPr/>
        </p:nvSpPr>
        <p:spPr>
          <a:xfrm>
            <a:off x="4566818" y="5041392"/>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 · 중복</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도구를 조합한 업무 결과의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 읽기, 변경된 자료 확인, 업무 항목의 생성과 저장을 한 요청으로 잇는다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도구와 완성되는 업무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한 요청으로 만들어 저장한 업무 항목과, 도구가 실패했을 때 미완료로 표시한 항목의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회의록을 읽는다</a:t>
            </a:r>
          </a:p>
          <a:p>
            <a:pPr algn="ctr">
              <a:lnSpc>
                <a:spcPct val="110000"/>
              </a:lnSpc>
              <a:spcAft>
                <a:spcPts val="400"/>
              </a:spcAft>
            </a:pPr>
            <a:r>
              <a:rPr sz="1350" b="0">
                <a:solidFill>
                  <a:srgbClr val="1F2A3A"/>
                </a:solidFill>
                <a:latin typeface="맑은 고딕"/>
                <a:ea typeface="맑은 고딕"/>
                <a:cs typeface="맑은 고딕"/>
              </a:rPr>
              <a:t>파일시스템 서버의 도구로</a:t>
            </a:r>
          </a:p>
          <a:p>
            <a:pPr algn="ctr">
              <a:lnSpc>
                <a:spcPct val="110000"/>
              </a:lnSpc>
              <a:spcAft>
                <a:spcPts val="400"/>
              </a:spcAft>
            </a:pPr>
            <a:r>
              <a:rPr sz="1350" b="0">
                <a:solidFill>
                  <a:srgbClr val="1F2A3A"/>
                </a:solidFill>
                <a:latin typeface="맑은 고딕"/>
                <a:ea typeface="맑은 고딕"/>
                <a:cs typeface="맑은 고딕"/>
              </a:rPr>
              <a:t>회의록 파일을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변경을 확인한다</a:t>
            </a:r>
          </a:p>
          <a:p>
            <a:pPr algn="ctr">
              <a:lnSpc>
                <a:spcPct val="110000"/>
              </a:lnSpc>
              <a:spcAft>
                <a:spcPts val="400"/>
              </a:spcAft>
            </a:pPr>
            <a:r>
              <a:rPr sz="1350" b="0">
                <a:solidFill>
                  <a:srgbClr val="1F2A3A"/>
                </a:solidFill>
                <a:latin typeface="맑은 고딕"/>
                <a:ea typeface="맑은 고딕"/>
                <a:cs typeface="맑은 고딕"/>
              </a:rPr>
              <a:t>Git 서버의 도구로</a:t>
            </a:r>
          </a:p>
          <a:p>
            <a:pPr algn="ctr">
              <a:lnSpc>
                <a:spcPct val="110000"/>
              </a:lnSpc>
              <a:spcAft>
                <a:spcPts val="400"/>
              </a:spcAft>
            </a:pPr>
            <a:r>
              <a:rPr sz="1350" b="0">
                <a:solidFill>
                  <a:srgbClr val="1F2A3A"/>
                </a:solidFill>
                <a:latin typeface="맑은 고딕"/>
                <a:ea typeface="맑은 고딕"/>
                <a:cs typeface="맑은 고딕"/>
              </a:rPr>
              <a:t>바뀐 자료를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업무 항목을 만든다</a:t>
            </a:r>
          </a:p>
          <a:p>
            <a:pPr algn="ctr">
              <a:lnSpc>
                <a:spcPct val="110000"/>
              </a:lnSpc>
              <a:spcAft>
                <a:spcPts val="400"/>
              </a:spcAft>
            </a:pPr>
            <a:r>
              <a:rPr sz="1350" b="0">
                <a:solidFill>
                  <a:srgbClr val="1F2A3A"/>
                </a:solidFill>
                <a:latin typeface="맑은 고딕"/>
                <a:ea typeface="맑은 고딕"/>
                <a:cs typeface="맑은 고딕"/>
              </a:rPr>
              <a:t>회의록 스킬로</a:t>
            </a:r>
          </a:p>
          <a:p>
            <a:pPr algn="ctr">
              <a:lnSpc>
                <a:spcPct val="110000"/>
              </a:lnSpc>
              <a:spcAft>
                <a:spcPts val="400"/>
              </a:spcAft>
            </a:pPr>
            <a:r>
              <a:rPr sz="1350" b="0">
                <a:solidFill>
                  <a:srgbClr val="1F2A3A"/>
                </a:solidFill>
                <a:latin typeface="맑은 고딕"/>
                <a:ea typeface="맑은 고딕"/>
                <a:cs typeface="맑은 고딕"/>
              </a:rPr>
              <a:t>업무 항목을 만들어</a:t>
            </a:r>
          </a:p>
          <a:p>
            <a:pPr algn="ctr">
              <a:lnSpc>
                <a:spcPct val="110000"/>
              </a:lnSpc>
              <a:spcAft>
                <a:spcPts val="400"/>
              </a:spcAft>
            </a:pPr>
            <a:r>
              <a:rPr sz="1350" b="0">
                <a:solidFill>
                  <a:srgbClr val="1F2A3A"/>
                </a:solidFill>
                <a:latin typeface="맑은 고딕"/>
                <a:ea typeface="맑은 고딕"/>
                <a:cs typeface="맑은 고딕"/>
              </a:rPr>
              <a:t>저장한다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표시한다</a:t>
            </a:r>
          </a:p>
          <a:p>
            <a:pPr algn="ctr">
              <a:lnSpc>
                <a:spcPct val="110000"/>
              </a:lnSpc>
              <a:spcAft>
                <a:spcPts val="400"/>
              </a:spcAft>
            </a:pPr>
            <a:r>
              <a:rPr sz="1350" b="0">
                <a:solidFill>
                  <a:srgbClr val="1F2A3A"/>
                </a:solidFill>
                <a:latin typeface="맑은 고딕"/>
                <a:ea typeface="맑은 고딕"/>
                <a:cs typeface="맑은 고딕"/>
              </a:rPr>
              <a:t>도구가 실패한 항목은</a:t>
            </a:r>
          </a:p>
          <a:p>
            <a:pPr algn="ctr">
              <a:lnSpc>
                <a:spcPct val="110000"/>
              </a:lnSpc>
              <a:spcAft>
                <a:spcPts val="400"/>
              </a:spcAft>
            </a:pPr>
            <a:r>
              <a:rPr sz="1350" b="0">
                <a:solidFill>
                  <a:srgbClr val="1F2A3A"/>
                </a:solidFill>
                <a:latin typeface="맑은 고딕"/>
                <a:ea typeface="맑은 고딕"/>
                <a:cs typeface="맑은 고딕"/>
              </a:rPr>
              <a:t>미완료로 표시하고</a:t>
            </a:r>
          </a:p>
          <a:p>
            <a:pPr algn="ctr">
              <a:lnSpc>
                <a:spcPct val="110000"/>
              </a:lnSpc>
              <a:spcAft>
                <a:spcPts val="400"/>
              </a:spcAft>
            </a:pPr>
            <a:r>
              <a:rPr sz="1350" b="0">
                <a:solidFill>
                  <a:srgbClr val="1F2A3A"/>
                </a:solidFill>
                <a:latin typeface="맑은 고딕"/>
                <a:ea typeface="맑은 고딕"/>
                <a:cs typeface="맑은 고딕"/>
              </a:rPr>
              <a:t>고친 뒤 다시 실행한다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