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5회차에는 에이전트가 도구를 부르며 일하는 모습을 보았습니다. 오늘은 그 에이전트가 일하는 방법을 어디에 적어 두는지, 도구는 어떻게 연결되는지, 연결할 때 무엇을 지켜야 하는지를 차례로 다룹니다. 수업이 끝났을 때 SKILL.md 한 편과 서버 설정 한 건을 놓고 어디에 무엇이 적혀 있는지를 짚을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에이전트 위에 놓인 문서가 수행 방법을 적은 지침입니다.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성능 저하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원문의 「추천 카드」가 곧 추천안이고, 「쿨러 과열 경보」는 쿨러 성능 저하 경보를 가리킵니다.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구조화 출력의 다섯 항목은 이 결과 절이 이름을 정해 둔 것이어서, 사람에게 승인을 받는 다음 단계가 실행마다 같은 이름으로 값을 읽습니다. 추천 값 skill:sop-cool-11은 팬 최대 운전을 가리키는 식별자입니다. 이 파일은 같은 스킬로 처리한 같은 종류의 다른 쿨러 경보 한 건의 기록이어서, 판단 번호가 앞에서 본 사건의 것과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추천안을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업무 DB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새로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것은 에이전트의 멈춤 조건에서 이미 구분했고, 위의 두 줄이 그것입니다. 도구를 연결해 쓰면 경우가 둘 더 생깁니다. 정해진 시간 안에 응답하지 못한 호출은 오류로 돌아오므로 실패로 적고, 응답이 잘렸을 때는 읽지 못한 범위를 밝힙니다. 어느 경우에도 0이나 빈 값으로 바꾸어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실습은 HYD 포털에서 진행합니다. 업무 DB와 판단 도구 서버의 등록 상태를 확인하고, 도구의 입력 스키마를 읽은 뒤 읽기 도구를 불러 봅니다. 도구 이름과 입력 값과 반환된 행을 확인하고, 부른 도구와 입력과 결과가 호출 기록에 남는 것을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Code의 Claude Code에서 진행합니다. 준비된 파일시스템, Git, 시간 서버를 각각 연결하고 접근 권한을 서버별로 정합니다. 서버마다 도구 이름과 필수 인수와 호출 결과를 견준 뒤, 권한이 없는 경로를 읽게 했을 때와 서버가 연결되지 않았을 때 돌아오는 오류를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담당자가 적혀 있지 않은 항목은 지어내지 않고 미정으로, 겹치는 항목은 합치지 않고 중복으로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앞의 두 실습에서 연결한 서버와 직접 쓴 스킬을 한 요청으로 잇습니다. 회의록 파일을 읽고, Git에서 바뀐 자료를 확인하고, 업무 항목을 만들어 저장하는 데까지가 한 번의 요청입니다. 도중에 도구 호출이 실패하면 그 항목을 채우지 않고 미완료로 표시합니다. 원인을 고친 뒤 다시 실행해 미완료 항목이 채워지는 것까지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다섯 개와 함께 호스트, 클라이언트, 서버, 도구, 입력 스키마, 허용 목록이 오늘의 용어입니다. 용어마다 스킬 쪽의 말인지 연결 쪽의 말인지를 갈라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것을 구분하는 문항입니다. 응답이 알려 준 사실이 무엇이고 알려 주지 않은 사실이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오답이 어느 구분을 놓쳤는지를 함께 짚습니다. 첫 문항의 1번과 3번은 스킬을 고치는 일이어서 빠진 연결을 채우지 못합니다. 둘째 문항의 1번은 실패를 값 없음으로 바꾼 것입니다.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20.png"/><Relationship Id="rId5" Type="http://schemas.openxmlformats.org/officeDocument/2006/relationships/image" Target="../media/image25.png"/><Relationship Id="rId6"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31.png"/><Relationship Id="rId5"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33.png"/><Relationship Id="rId5" Type="http://schemas.openxmlformats.org/officeDocument/2006/relationships/image" Target="../media/image32.png"/><Relationship Id="rId6"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6회차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여러 도구의 연결과</a:t>
            </a:r>
          </a:p>
          <a:p>
            <a:pPr algn="l">
              <a:lnSpc>
                <a:spcPct val="110000"/>
              </a:lnSpc>
            </a:pPr>
            <a:r>
              <a:rPr sz="4000" b="1">
                <a:solidFill>
                  <a:srgbClr val="FFFFFF"/>
                </a:solidFill>
                <a:latin typeface="맑은 고딕"/>
                <a:ea typeface="맑은 고딕"/>
                <a:cs typeface="맑은 고딕"/>
              </a:rPr>
              <a:t>반복 업무의 자동화</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 스킬, 도구를 잇는 표준, 연결의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일하는 방법을 지침으로 남기고, 그 지침이 부르는 도구를 안전하게 연결하는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파일의 머리말과 절차, 결과가 맡는 일을 원문에서 짚는다</a:t>
            </a:r>
          </a:p>
          <a:p>
            <a:pPr algn="l">
              <a:lnSpc>
                <a:spcPct val="110000"/>
              </a:lnSpc>
              <a:spcAft>
                <a:spcPts val="400"/>
              </a:spcAft>
            </a:pPr>
            <a:r>
              <a:rPr sz="1350" b="0">
                <a:solidFill>
                  <a:srgbClr val="1F2A3A"/>
                </a:solidFill>
                <a:latin typeface="맑은 고딕"/>
                <a:ea typeface="맑은 고딕"/>
                <a:cs typeface="맑은 고딕"/>
              </a:rPr>
              <a:t>• 현장의 SOP와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연결</a:t>
            </a:r>
          </a:p>
          <a:p>
            <a:pPr algn="l">
              <a:lnSpc>
                <a:spcPct val="110000"/>
              </a:lnSpc>
              <a:spcAft>
                <a:spcPts val="400"/>
              </a:spcAft>
            </a:pPr>
            <a:r>
              <a:rPr sz="1350" b="0">
                <a:solidFill>
                  <a:srgbClr val="1F2A3A"/>
                </a:solidFill>
                <a:latin typeface="맑은 고딕"/>
                <a:ea typeface="맑은 고딕"/>
                <a:cs typeface="맑은 고딕"/>
              </a:rPr>
              <a:t>• 호스트와 클라이언트, 서버와 도구의 관계를 설명한다</a:t>
            </a:r>
          </a:p>
          <a:p>
            <a:pPr algn="l">
              <a:lnSpc>
                <a:spcPct val="110000"/>
              </a:lnSpc>
              <a:spcAft>
                <a:spcPts val="400"/>
              </a:spcAft>
            </a:pPr>
            <a:r>
              <a:rPr sz="1350" b="0">
                <a:solidFill>
                  <a:srgbClr val="1F2A3A"/>
                </a:solidFill>
                <a:latin typeface="맑은 고딕"/>
                <a:ea typeface="맑은 고딕"/>
                <a:cs typeface="맑은 고딕"/>
              </a:rPr>
              <a:t>• 도구 정의에서 입력 스키마와 응답을 읽는다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split" descr="arrows-spli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역할의 구분</a:t>
            </a:r>
          </a:p>
          <a:p>
            <a:pPr algn="l">
              <a:lnSpc>
                <a:spcPct val="110000"/>
              </a:lnSpc>
              <a:spcAft>
                <a:spcPts val="400"/>
              </a:spcAft>
            </a:pPr>
            <a:r>
              <a:rPr sz="1350" b="0">
                <a:solidFill>
                  <a:srgbClr val="1F2A3A"/>
                </a:solidFill>
                <a:latin typeface="맑은 고딕"/>
                <a:ea typeface="맑은 고딕"/>
                <a:cs typeface="맑은 고딕"/>
              </a:rPr>
              <a:t>수행 방법을 적는 스킬과 실행을 맡는 도구를 가른다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안전 기준</a:t>
            </a:r>
          </a:p>
          <a:p>
            <a:pPr algn="l">
              <a:lnSpc>
                <a:spcPct val="110000"/>
              </a:lnSpc>
              <a:spcAft>
                <a:spcPts val="400"/>
              </a:spcAft>
            </a:pPr>
            <a:r>
              <a:rPr sz="1350" b="0">
                <a:solidFill>
                  <a:srgbClr val="1F2A3A"/>
                </a:solidFill>
                <a:latin typeface="맑은 고딕"/>
                <a:ea typeface="맑은 고딕"/>
                <a:cs typeface="맑은 고딕"/>
              </a:rPr>
              <a:t>읽기와 쓰기 권한, 실패 처리로 연결을 점검한다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 재사용하는 업무 수행 지침</a:t>
            </a:r>
          </a:p>
        </p:txBody>
      </p:sp>
      <p:sp>
        <p:nvSpPr>
          <p:cNvPr id="6" name="Rounded Rectangle 5"/>
          <p:cNvSpPr/>
          <p:nvPr/>
        </p:nvSpPr>
        <p:spPr>
          <a:xfrm>
            <a:off x="10088575" y="145389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538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95681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96596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96596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MCP: 에이전트와 외부 시스템을 잇는 표준</a:t>
            </a:r>
          </a:p>
        </p:txBody>
      </p:sp>
      <p:sp>
        <p:nvSpPr>
          <p:cNvPr id="11" name="Rounded Rectangle 10"/>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69748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69748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도구 연결의 안전 기준</a:t>
            </a:r>
          </a:p>
        </p:txBody>
      </p:sp>
      <p:sp>
        <p:nvSpPr>
          <p:cNvPr id="16" name="Rounded Rectangle 15"/>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42900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42900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업무 도구의 호출과 기록 확인</a:t>
            </a:r>
          </a:p>
        </p:txBody>
      </p:sp>
      <p:sp>
        <p:nvSpPr>
          <p:cNvPr id="21" name="Rounded Rectangle 2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16052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16052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서로 다른 MCP 서버의 연결과 비교</a:t>
            </a:r>
          </a:p>
        </p:txBody>
      </p:sp>
      <p:sp>
        <p:nvSpPr>
          <p:cNvPr id="26" name="Rounded Rectangle 2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89204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89204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회의 내용을 후속 업무로 바꾸는 스킬 작성</a:t>
            </a:r>
          </a:p>
        </p:txBody>
      </p:sp>
      <p:sp>
        <p:nvSpPr>
          <p:cNvPr id="31" name="Rounded Rectangle 30"/>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61441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62356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62356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여러 도구를 조합한 업무 결과의 완성</a:t>
            </a:r>
          </a:p>
        </p:txBody>
      </p:sp>
      <p:sp>
        <p:nvSpPr>
          <p:cNvPr id="36" name="Rounded Rectangle 35"/>
          <p:cNvSpPr/>
          <p:nvPr/>
        </p:nvSpPr>
        <p:spPr>
          <a:xfrm>
            <a:off x="10088575" y="584301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8430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8" name="TextBox 3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a:t>
            </a:r>
          </a:p>
          <a:p>
            <a:pPr algn="l">
              <a:lnSpc>
                <a:spcPct val="110000"/>
              </a:lnSpc>
            </a:pPr>
            <a:r>
              <a:rPr sz="3400" b="1">
                <a:solidFill>
                  <a:srgbClr val="13294B"/>
                </a:solidFill>
                <a:latin typeface="맑은 고딕"/>
                <a:ea typeface="맑은 고딕"/>
                <a:cs typeface="맑은 고딕"/>
              </a:rPr>
              <a:t>재사용하는 업무 수행 지침</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순서와 결과의 모양을 지침으로 정해 두는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고리_1.svg" descr="illust_17616888702298818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 쓰는 스킬의 이름은 cooling-emergency-response이다.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스킬문서.svg" descr="illust_3352974254540190087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두절차.svg" descr="illust_242307851978587257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a:lnSpc>
                <a:spcPct val="110000"/>
              </a:lnSpc>
              <a:spcAft>
                <a:spcPts val="100"/>
              </a:spcAft>
            </a:pPr>
            <a:r>
              <a:rPr sz="1300" b="0">
                <a:solidFill>
                  <a:srgbClr val="556175"/>
                </a:solidFill>
                <a:latin typeface="맑은 고딕"/>
                <a:ea typeface="맑은 고딕"/>
                <a:cs typeface="맑은 고딕"/>
              </a:rPr>
              <a:t>승인 전: 조회, 계산, 판단의 제출</a:t>
            </a:r>
          </a:p>
        </p:txBody>
      </p:sp>
      <p:sp>
        <p:nvSpPr>
          <p:cNvPr id="8" name="TextBox 7"/>
          <p:cNvSpPr txBox="1"/>
          <p:nvPr/>
        </p:nvSpPr>
        <p:spPr>
          <a:xfrm>
            <a:off x="8746854" y="2360386"/>
            <a:ext cx="250918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SOP가 정한 구간</a:t>
            </a:r>
          </a:p>
          <a:p>
            <a:pPr algn="ctr">
              <a:lnSpc>
                <a:spcPct val="110000"/>
              </a:lnSpc>
              <a:spcAft>
                <a:spcPts val="100"/>
              </a:spcAft>
            </a:pPr>
            <a:r>
              <a:rPr sz="1300" b="0">
                <a:solidFill>
                  <a:srgbClr val="556175"/>
                </a:solidFill>
                <a:latin typeface="맑은 고딕"/>
                <a:ea typeface="맑은 고딕"/>
                <a:cs typeface="맑은 고딕"/>
              </a:rPr>
              <a:t>승인 뒤: 설비에 하는 작업</a:t>
            </a:r>
          </a:p>
        </p:txBody>
      </p:sp>
      <p:sp>
        <p:nvSpPr>
          <p:cNvPr id="9" name="TextBox 8"/>
          <p:cNvSpPr txBox="1"/>
          <p:nvPr/>
        </p:nvSpPr>
        <p:spPr>
          <a:xfrm>
            <a:off x="859290" y="470047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운전원의 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408660" y="479502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MCP: 에이전트와 외부 시스템을</a:t>
            </a:r>
          </a:p>
          <a:p>
            <a:pPr algn="l">
              <a:lnSpc>
                <a:spcPct val="110000"/>
              </a:lnSpc>
            </a:pPr>
            <a:r>
              <a:rPr sz="3400" b="1">
                <a:solidFill>
                  <a:srgbClr val="13294B"/>
                </a:solidFill>
                <a:latin typeface="맑은 고딕"/>
                <a:ea typeface="맑은 고딕"/>
                <a:cs typeface="맑은 고딕"/>
              </a:rPr>
              <a:t>잇는 표준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스킬의 절차가 부르는 도구가 연결되고 호출되는 방식</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연결의수.svg" descr="illust_3332905791933954658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MCP구성.svg" descr="illust_1171167847395386957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목록호출.svg" descr="illust_6801412339466788897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서버를 내 PC에서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연결방식.svg" descr="illust_70511317405385791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stdio (standard input/output)</a:t>
            </a:r>
          </a:p>
          <a:p>
            <a:pPr algn="ctr">
              <a:lnSpc>
                <a:spcPct val="110000"/>
              </a:lnSpc>
              <a:spcAft>
                <a:spcPts val="100"/>
              </a:spcAft>
            </a:pPr>
            <a:r>
              <a:rPr sz="1300" b="0">
                <a:solidFill>
                  <a:srgbClr val="556175"/>
                </a:solidFill>
                <a:latin typeface="맑은 고딕"/>
                <a:ea typeface="맑은 고딕"/>
                <a:cs typeface="맑은 고딕"/>
              </a:rPr>
              <a:t>호스트가 서버를 하위 프로세스로 띄운다</a:t>
            </a:r>
          </a:p>
        </p:txBody>
      </p:sp>
      <p:sp>
        <p:nvSpPr>
          <p:cNvPr id="8" name="TextBox 7"/>
          <p:cNvSpPr txBox="1"/>
          <p:nvPr/>
        </p:nvSpPr>
        <p:spPr>
          <a:xfrm>
            <a:off x="6575865" y="1722180"/>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Streamable HTTP</a:t>
            </a:r>
          </a:p>
          <a:p>
            <a:pPr algn="ctr">
              <a:lnSpc>
                <a:spcPct val="110000"/>
              </a:lnSpc>
              <a:spcAft>
                <a:spcPts val="100"/>
              </a:spcAft>
            </a:pPr>
            <a:r>
              <a:rPr sz="1300" b="0">
                <a:solidFill>
                  <a:srgbClr val="556175"/>
                </a:solidFill>
                <a:latin typeface="맑은 고딕"/>
                <a:ea typeface="맑은 고딕"/>
                <a:cs typeface="맑은 고딕"/>
              </a:rPr>
              <a:t>떠 있는 서버에 주소로 접속한다</a:t>
            </a:r>
          </a:p>
        </p:txBody>
      </p:sp>
      <p:sp>
        <p:nvSpPr>
          <p:cNvPr id="9" name="TextBox 8"/>
          <p:cNvSpPr txBox="1"/>
          <p:nvPr/>
        </p:nvSpPr>
        <p:spPr>
          <a:xfrm>
            <a:off x="1426583" y="441682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673939"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670266" y="420409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PC 안에서 주고받는다</a:t>
            </a:r>
          </a:p>
        </p:txBody>
      </p:sp>
      <p:sp>
        <p:nvSpPr>
          <p:cNvPr id="14" name="TextBox 13"/>
          <p:cNvSpPr txBox="1"/>
          <p:nvPr/>
        </p:nvSpPr>
        <p:spPr>
          <a:xfrm>
            <a:off x="6652231" y="318768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a:t>
            </a:r>
          </a:p>
          <a:p>
            <a:pPr algn="ctr">
              <a:lnSpc>
                <a:spcPct val="110000"/>
              </a:lnSpc>
              <a:spcAft>
                <a:spcPts val="100"/>
              </a:spcAft>
            </a:pPr>
            <a:r>
              <a:rPr sz="1300" b="0">
                <a:solidFill>
                  <a:srgbClr val="556175"/>
                </a:solidFill>
                <a:latin typeface="맑은 고딕"/>
                <a:ea typeface="맑은 고딕"/>
                <a:cs typeface="맑은 고딕"/>
              </a:rPr>
              <a:t>HTTP 요청을 받아 응답한다</a:t>
            </a:r>
          </a:p>
        </p:txBody>
      </p:sp>
      <p:sp>
        <p:nvSpPr>
          <p:cNvPr id="17" name="TextBox 16"/>
          <p:cNvSpPr txBox="1"/>
          <p:nvPr/>
        </p:nvSpPr>
        <p:spPr>
          <a:xfrm>
            <a:off x="6532227" y="578778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여러 클라이언트가 한 서버를 함께 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도구 연결의 안전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읽기와 쓰기의 권한, 불완전한 응답과 실패를 다루는 기준</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포털에 새로 등록하는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세겹.svg" descr="illust_384100824540108347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 없음과 실패의 구분에 더해, 시간을 넘긴 응답과 잘린 응답도 결과에 적는 법이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a:p>
            <a:pPr algn="l">
              <a:lnSpc>
                <a:spcPct val="110000"/>
              </a:lnSpc>
            </a:pPr>
            <a:r>
              <a:rPr sz="1250" b="1">
                <a:solidFill>
                  <a:srgbClr val="556175"/>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업무 도구의 호출과 기록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MCP 서버의 등록 상태를 확인하고 읽기 도구를 직접 호출한다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확인하는 것과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읽기 도구를 직접 불러 보면 그 호출의 입력과 조회 결과가 호출 기록에 그대로 남는 것을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등록된 서버 확인</a:t>
            </a:r>
          </a:p>
          <a:p>
            <a:pPr algn="ctr">
              <a:lnSpc>
                <a:spcPct val="110000"/>
              </a:lnSpc>
              <a:spcAft>
                <a:spcPts val="400"/>
              </a:spcAft>
            </a:pPr>
            <a:r>
              <a:rPr sz="1350" b="0">
                <a:solidFill>
                  <a:srgbClr val="1F2A3A"/>
                </a:solidFill>
                <a:latin typeface="맑은 고딕"/>
                <a:ea typeface="맑은 고딕"/>
                <a:cs typeface="맑은 고딕"/>
              </a:rPr>
              <a:t>등록된 서버의</a:t>
            </a:r>
          </a:p>
          <a:p>
            <a:pPr algn="ctr">
              <a:lnSpc>
                <a:spcPct val="110000"/>
              </a:lnSpc>
              <a:spcAft>
                <a:spcPts val="400"/>
              </a:spcAft>
            </a:pPr>
            <a:r>
              <a:rPr sz="1350" b="0">
                <a:solidFill>
                  <a:srgbClr val="1F2A3A"/>
                </a:solidFill>
                <a:latin typeface="맑은 고딕"/>
                <a:ea typeface="맑은 고딕"/>
                <a:cs typeface="맑은 고딕"/>
              </a:rPr>
              <a:t>연결 방식과 도구 목록</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braces" descr="braces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입력 스키마 확인</a:t>
            </a:r>
          </a:p>
          <a:p>
            <a:pPr algn="ctr">
              <a:lnSpc>
                <a:spcPct val="110000"/>
              </a:lnSpc>
              <a:spcAft>
                <a:spcPts val="400"/>
              </a:spcAft>
            </a:pPr>
            <a:r>
              <a:rPr sz="1350" b="0">
                <a:solidFill>
                  <a:srgbClr val="1F2A3A"/>
                </a:solidFill>
                <a:latin typeface="맑은 고딕"/>
                <a:ea typeface="맑은 고딕"/>
                <a:cs typeface="맑은 고딕"/>
              </a:rPr>
              <a:t>도구가 받는 값의</a:t>
            </a:r>
          </a:p>
          <a:p>
            <a:pPr algn="ctr">
              <a:lnSpc>
                <a:spcPct val="110000"/>
              </a:lnSpc>
              <a:spcAft>
                <a:spcPts val="400"/>
              </a:spcAft>
            </a:pPr>
            <a:r>
              <a:rPr sz="1350" b="0">
                <a:solidFill>
                  <a:srgbClr val="1F2A3A"/>
                </a:solidFill>
                <a:latin typeface="맑은 고딕"/>
                <a:ea typeface="맑은 고딕"/>
                <a:cs typeface="맑은 고딕"/>
              </a:rPr>
              <a:t>이름과 형을 읽는다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호출</a:t>
            </a:r>
          </a:p>
          <a:p>
            <a:pPr algn="ctr">
              <a:lnSpc>
                <a:spcPct val="110000"/>
              </a:lnSpc>
              <a:spcAft>
                <a:spcPts val="400"/>
              </a:spcAft>
            </a:pPr>
            <a:r>
              <a:rPr sz="1350" b="0">
                <a:solidFill>
                  <a:srgbClr val="1F2A3A"/>
                </a:solidFill>
                <a:latin typeface="맑은 고딕"/>
                <a:ea typeface="맑은 고딕"/>
                <a:cs typeface="맑은 고딕"/>
              </a:rPr>
              <a:t>도구 이름, 입력 값,</a:t>
            </a:r>
          </a:p>
          <a:p>
            <a:pPr algn="ctr">
              <a:lnSpc>
                <a:spcPct val="110000"/>
              </a:lnSpc>
              <a:spcAft>
                <a:spcPts val="400"/>
              </a:spcAft>
            </a:pPr>
            <a:r>
              <a:rPr sz="1350" b="0">
                <a:solidFill>
                  <a:srgbClr val="1F2A3A"/>
                </a:solidFill>
                <a:latin typeface="맑은 고딕"/>
                <a:ea typeface="맑은 고딕"/>
                <a:cs typeface="맑은 고딕"/>
              </a:rPr>
              <a:t>반환된 행을 확인한다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 기록 확인</a:t>
            </a:r>
          </a:p>
          <a:p>
            <a:pPr algn="ctr">
              <a:lnSpc>
                <a:spcPct val="110000"/>
              </a:lnSpc>
              <a:spcAft>
                <a:spcPts val="400"/>
              </a:spcAft>
            </a:pPr>
            <a:r>
              <a:rPr sz="1350" b="0">
                <a:solidFill>
                  <a:srgbClr val="1F2A3A"/>
                </a:solidFill>
                <a:latin typeface="맑은 고딕"/>
                <a:ea typeface="맑은 고딕"/>
                <a:cs typeface="맑은 고딕"/>
              </a:rPr>
              <a:t>부른 도구와 입력, 결과가</a:t>
            </a:r>
          </a:p>
          <a:p>
            <a:pPr algn="ctr">
              <a:lnSpc>
                <a:spcPct val="110000"/>
              </a:lnSpc>
              <a:spcAft>
                <a:spcPts val="400"/>
              </a:spcAft>
            </a:pPr>
            <a:r>
              <a:rPr sz="1350" b="0">
                <a:solidFill>
                  <a:srgbClr val="1F2A3A"/>
                </a:solidFill>
                <a:latin typeface="맑은 고딕"/>
                <a:ea typeface="맑은 고딕"/>
                <a:cs typeface="맑은 고딕"/>
              </a:rPr>
              <a:t>기록에 남았는지 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서로 다른 MCP 서버의 연결과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Code에 파일시스템, Git, 시간 서버를 연결하고 도구와 호출 결과를 견준다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견주는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서로 다른 세 서버의 도구 이름과 필수 인수, 호출 결과를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서버마다 설정</a:t>
            </a:r>
          </a:p>
          <a:p>
            <a:pPr algn="l">
              <a:lnSpc>
                <a:spcPct val="110000"/>
              </a:lnSpc>
              <a:spcAft>
                <a:spcPts val="400"/>
              </a:spcAft>
            </a:pPr>
            <a:r>
              <a:rPr sz="1400" b="0">
                <a:solidFill>
                  <a:srgbClr val="1F2A3A"/>
                </a:solidFill>
                <a:latin typeface="맑은 고딕"/>
                <a:ea typeface="맑은 고딕"/>
                <a:cs typeface="맑은 고딕"/>
              </a:rPr>
              <a:t>파일시스템, Git, 시간 서버의 실행 방법과 접근 권한을 서버별로 정한다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목록과 결과의 비교</a:t>
            </a:r>
          </a:p>
          <a:p>
            <a:pPr algn="l">
              <a:lnSpc>
                <a:spcPct val="110000"/>
              </a:lnSpc>
              <a:spcAft>
                <a:spcPts val="400"/>
              </a:spcAft>
            </a:pPr>
            <a:r>
              <a:rPr sz="1400" b="0">
                <a:solidFill>
                  <a:srgbClr val="1F2A3A"/>
                </a:solidFill>
                <a:latin typeface="맑은 고딕"/>
                <a:ea typeface="맑은 고딕"/>
                <a:cs typeface="맑은 고딕"/>
              </a:rPr>
              <a:t>서버마다 도구 이름, 필수 인수, 호출 결과가 어떻게 다른지 견준다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실패할 때의 동작</a:t>
            </a:r>
          </a:p>
          <a:p>
            <a:pPr algn="l">
              <a:lnSpc>
                <a:spcPct val="110000"/>
              </a:lnSpc>
              <a:spcAft>
                <a:spcPts val="400"/>
              </a:spcAft>
            </a:pPr>
            <a:r>
              <a:rPr sz="1400" b="0">
                <a:solidFill>
                  <a:srgbClr val="1F2A3A"/>
                </a:solidFill>
                <a:latin typeface="맑은 고딕"/>
                <a:ea typeface="맑은 고딕"/>
                <a:cs typeface="맑은 고딕"/>
              </a:rPr>
              <a:t>권한이 없는 경로를 읽게 하거나 서버를 연결하지 않고 불러, 돌아오는 오류를 확인한다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쓴 SKILL.md와, 그 스킬이 회의록에서 만들어 낸 작업 목록이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041392"/>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담당자가 없는 항목은 지어내지 않고 「미정」으로, 겹치는 항목은 합치지 않고 「중복」으로 표시하게 한다</a:t>
            </a:r>
          </a:p>
        </p:txBody>
      </p:sp>
      <p:sp>
        <p:nvSpPr>
          <p:cNvPr id="16" name="Rounded Rectangle 15"/>
          <p:cNvSpPr/>
          <p:nvPr/>
        </p:nvSpPr>
        <p:spPr>
          <a:xfrm>
            <a:off x="4566818" y="5041392"/>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 · 중복</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Markdown과 JSON으로 만들고 회의록 원문과 대조해 검토한다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도구를 조합한 업무 결과의 완성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 읽기, 변경된 자료 확인, 업무 항목의 생성과 저장을 한 요청으로 잇는다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잇는 도구와 완성되는 업무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요청으로 만들어 저장한 업무 항목과, 도구가 실패했을 때 미완료로 표시한 항목의 기록이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회의록을 읽는다</a:t>
            </a:r>
          </a:p>
          <a:p>
            <a:pPr algn="ctr">
              <a:lnSpc>
                <a:spcPct val="110000"/>
              </a:lnSpc>
              <a:spcAft>
                <a:spcPts val="400"/>
              </a:spcAft>
            </a:pPr>
            <a:r>
              <a:rPr sz="1350" b="0">
                <a:solidFill>
                  <a:srgbClr val="1F2A3A"/>
                </a:solidFill>
                <a:latin typeface="맑은 고딕"/>
                <a:ea typeface="맑은 고딕"/>
                <a:cs typeface="맑은 고딕"/>
              </a:rPr>
              <a:t>파일시스템 서버의 도구로</a:t>
            </a:r>
          </a:p>
          <a:p>
            <a:pPr algn="ctr">
              <a:lnSpc>
                <a:spcPct val="110000"/>
              </a:lnSpc>
              <a:spcAft>
                <a:spcPts val="400"/>
              </a:spcAft>
            </a:pPr>
            <a:r>
              <a:rPr sz="1350" b="0">
                <a:solidFill>
                  <a:srgbClr val="1F2A3A"/>
                </a:solidFill>
                <a:latin typeface="맑은 고딕"/>
                <a:ea typeface="맑은 고딕"/>
                <a:cs typeface="맑은 고딕"/>
              </a:rPr>
              <a:t>회의록 파일을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변경을 확인한다</a:t>
            </a:r>
          </a:p>
          <a:p>
            <a:pPr algn="ctr">
              <a:lnSpc>
                <a:spcPct val="110000"/>
              </a:lnSpc>
              <a:spcAft>
                <a:spcPts val="400"/>
              </a:spcAft>
            </a:pPr>
            <a:r>
              <a:rPr sz="1350" b="0">
                <a:solidFill>
                  <a:srgbClr val="1F2A3A"/>
                </a:solidFill>
                <a:latin typeface="맑은 고딕"/>
                <a:ea typeface="맑은 고딕"/>
                <a:cs typeface="맑은 고딕"/>
              </a:rPr>
              <a:t>Git 서버의 도구로</a:t>
            </a:r>
          </a:p>
          <a:p>
            <a:pPr algn="ctr">
              <a:lnSpc>
                <a:spcPct val="110000"/>
              </a:lnSpc>
              <a:spcAft>
                <a:spcPts val="400"/>
              </a:spcAft>
            </a:pPr>
            <a:r>
              <a:rPr sz="1350" b="0">
                <a:solidFill>
                  <a:srgbClr val="1F2A3A"/>
                </a:solidFill>
                <a:latin typeface="맑은 고딕"/>
                <a:ea typeface="맑은 고딕"/>
                <a:cs typeface="맑은 고딕"/>
              </a:rPr>
              <a:t>바뀐 자료를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업무 항목을 만든다</a:t>
            </a:r>
          </a:p>
          <a:p>
            <a:pPr algn="ctr">
              <a:lnSpc>
                <a:spcPct val="110000"/>
              </a:lnSpc>
              <a:spcAft>
                <a:spcPts val="400"/>
              </a:spcAft>
            </a:pPr>
            <a:r>
              <a:rPr sz="1350" b="0">
                <a:solidFill>
                  <a:srgbClr val="1F2A3A"/>
                </a:solidFill>
                <a:latin typeface="맑은 고딕"/>
                <a:ea typeface="맑은 고딕"/>
                <a:cs typeface="맑은 고딕"/>
              </a:rPr>
              <a:t>회의록 스킬로</a:t>
            </a:r>
          </a:p>
          <a:p>
            <a:pPr algn="ctr">
              <a:lnSpc>
                <a:spcPct val="110000"/>
              </a:lnSpc>
              <a:spcAft>
                <a:spcPts val="400"/>
              </a:spcAft>
            </a:pPr>
            <a:r>
              <a:rPr sz="1350" b="0">
                <a:solidFill>
                  <a:srgbClr val="1F2A3A"/>
                </a:solidFill>
                <a:latin typeface="맑은 고딕"/>
                <a:ea typeface="맑은 고딕"/>
                <a:cs typeface="맑은 고딕"/>
              </a:rPr>
              <a:t>업무 항목을 만들어</a:t>
            </a:r>
          </a:p>
          <a:p>
            <a:pPr algn="ctr">
              <a:lnSpc>
                <a:spcPct val="110000"/>
              </a:lnSpc>
              <a:spcAft>
                <a:spcPts val="400"/>
              </a:spcAft>
            </a:pPr>
            <a:r>
              <a:rPr sz="1350" b="0">
                <a:solidFill>
                  <a:srgbClr val="1F2A3A"/>
                </a:solidFill>
                <a:latin typeface="맑은 고딕"/>
                <a:ea typeface="맑은 고딕"/>
                <a:cs typeface="맑은 고딕"/>
              </a:rPr>
              <a:t>저장한다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alert-triangle" descr="alert-triang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실패를 표시한다</a:t>
            </a:r>
          </a:p>
          <a:p>
            <a:pPr algn="ctr">
              <a:lnSpc>
                <a:spcPct val="110000"/>
              </a:lnSpc>
              <a:spcAft>
                <a:spcPts val="400"/>
              </a:spcAft>
            </a:pPr>
            <a:r>
              <a:rPr sz="1350" b="0">
                <a:solidFill>
                  <a:srgbClr val="1F2A3A"/>
                </a:solidFill>
                <a:latin typeface="맑은 고딕"/>
                <a:ea typeface="맑은 고딕"/>
                <a:cs typeface="맑은 고딕"/>
              </a:rPr>
              <a:t>도구가 실패한 항목은</a:t>
            </a:r>
          </a:p>
          <a:p>
            <a:pPr algn="ctr">
              <a:lnSpc>
                <a:spcPct val="110000"/>
              </a:lnSpc>
              <a:spcAft>
                <a:spcPts val="400"/>
              </a:spcAft>
            </a:pPr>
            <a:r>
              <a:rPr sz="1350" b="0">
                <a:solidFill>
                  <a:srgbClr val="1F2A3A"/>
                </a:solidFill>
                <a:latin typeface="맑은 고딕"/>
                <a:ea typeface="맑은 고딕"/>
                <a:cs typeface="맑은 고딕"/>
              </a:rPr>
              <a:t>미완료로 표시하고</a:t>
            </a:r>
          </a:p>
          <a:p>
            <a:pPr algn="ctr">
              <a:lnSpc>
                <a:spcPct val="110000"/>
              </a:lnSpc>
              <a:spcAft>
                <a:spcPts val="400"/>
              </a:spcAft>
            </a:pPr>
            <a:r>
              <a:rPr sz="1350" b="0">
                <a:solidFill>
                  <a:srgbClr val="1F2A3A"/>
                </a:solidFill>
                <a:latin typeface="맑은 고딕"/>
                <a:ea typeface="맑은 고딕"/>
                <a:cs typeface="맑은 고딕"/>
              </a:rPr>
              <a:t>고친 뒤 다시 실행한다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도구 연결에서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 연결에서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SKILL.md</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JSON-RPC</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stdio</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input/output</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호스트가 띄운 서버와의 연결 방식</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readOnlyHint</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예비품 재고를 조회하는 spare_stock 호출이 정해진 시간 안에 끝나지 못해 result가 error로 돌아왔다.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결과에 적을 내용으로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새로 등록한 서버의 도구 목록이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