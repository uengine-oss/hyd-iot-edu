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5회차와 6회차에는 에이전트가 일하는 방식과 에이전트에 붙이는 지침과 도구를 다루었습니다. 오늘은 그 에이전트를 믿고 쓰기 위한 세 가지, 곧 사람이 결정하는 자리와 명세와 행동 검증을 다루고 네 개의 실습에서 직접 고치고 검증합니다. 마지막에는 에이전트 영역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5회차에는 에이전트가 추천안을 내기까지의 94초를 보았습니다.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HITL이라는 이름의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실행 시간이나 형식 교정 횟수의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보류라고 부르는 상황을 나누어 봅니다. 첫째는 담당자가 아직 결정하지 않은 경우이고, 승인 작업이 기다리고 있을 뿐입니다. 둘째는 5회차에 본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정해 둔 한도, 곧 실행 시간 1,800초나 형식 교정 두 번을 넘긴 에이전트 작업은 결과 없이 멈춘 채로 남습니다. 그대로 두면 처리 건이 끝나지 않으므로 담당자가 기록을 읽고 사유를 적어 닫습니다. 이렇게 끝난 처리 건은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 본 명세에서 시작하겠습니다. 요구사항과 함께 입력 계약, 출력 계약, 금지 조건, 수용 기준을 적어 에이전트가 지킬 것을 정했습니다. 그러나 명세는 문서이고, 에이전트가 실제로 낸 결과는 실행해 보아야 나옵니다. 이 단원에서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문제를 다루는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낱말입니다. 이 시나리오의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단원의 SDD와 이 단원의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건의 상태를 읽습니다. 먼저 올라온 추천안과 그 조치의 승인 역할을 확인하고, 권한이 없는 역할로는 승인이 받아들여지지 않는 것을 봅니다. 그런 다음 가드레일을 통과한 추천안이 승인된 것이 아니라 승인 대기 상태라는 것과, 승인한 사람과 역할은 승인 뒤에만 기록된다는 것을 확인합니다. AI의 검토를 통과한 것과 사람이 승인한 것이 다른 상태라는 점을 처리 건에서 직접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5회차에 만든 에이전트를 다시 씁니다. 필수 입력이 빠진 요청을 주었을 때, 에이전트가 그 값을 짐작해 확정하지 않고 확인 질문을 내도록 고칩니다. 추가 입력을 받으면 같은 요청을 다시 판단하고, 질문 전과 답변 후의 상태를 기록으로 남깁니다. 다시 판단한 결과도 승인을 받기 전에는 확정된 것으로 적지 않습니다.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실습은 같은 프로젝트에서 이어집니다. 먼저 긴급 조건을 모호한 요청으로 더했을 때 결과의 항목이나 승인 조건이 고치기 전과 달라진 사례를 견줍니다. 그런 다음 spec.md에 기존 일반 요청의 처리와 긴급 조건, 값이 입력되지 않았을 때의 보류, 승인 없이 확정하지 않는다는 금지, 결과 형식과 수용 기준을 적습니다. 그 명세를 기준으로 코드를 고쳐 기존 일반 요청과 긴급 요청을 다시 실행하고, 입력과 기대 결과를 저장해 다음 실습의 검증에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시나리오를 실행하고 실패를 고칩니다. 정상, 긴급, 미입력, 거절의 네 경우를 Given, When, Then으로 실행한 뒤, 실제로 실패한 시나리오만 골라 원인을 따라가 고치고 다시 실행합니다. 마지막에는 전체 회귀를 돌려, 긴급 조건이 동작하면서 기존의 일반 요청과 보류와 거절 조건이 그대로인지를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 동안 에이전트 하나에 무엇을 더해 왔는지를 한 장에 놓았습니다. 5회차에는 모델에 목표와 도구를 주어 에이전트를 세웠습니다. 6회차에는 수행 방법을 스킬로 적고 도구를 MCP로 연결했습니다. 오늘은 사람이 개입하는 지점과 명세를 정하고,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네 정보원을 추천안 한 건으로 모이는 두 갈래로 다시 놓았습니다. 위쪽은 지식이며, 원인 후보 셋에서 고장 유형을 거쳐 조치 방법으로 가는 관계는 1회차부터 4회차까지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6회차의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첫 단원의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시나리오를 변경 한 번의 순서로 이었습니다. 단계마다 아래 줄은 실습에서 다룬 긴급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출력 계약의 검사와 가드레일과 사람의 승인은 에이전트가 실행될 때마다 작동해서 그 한 건의 잘못된 결과를 막습니다. 시나리오의 실행과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봅니다. HYD에는 쿨러 사건의 에이전트 말고도 정기 정비의 시점을 정하는 에이전트와 예비품의 발주를 정하는 에이전트가 있습니다.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5회차와 6회차의 실습에서 만든 산출물 넷을 모았습니다. 후보 원인과 점검 순서, 품질 대응 카드, 작업 목록, 도구를 조합해 만든 업무 항목입니다. 형식은 서로 다릅니다. 그러나 확인되지 않은 원인은 가설로, 없는 담당자는 미정으로, 실패한 항목은 미완료로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실습의 산출물은 서로 이어집니다. 둘째 실습에서 만든 확인 질문은 필수 정보가 빠진 경우의 시나리오가 되었고, 셋째 실습에서 spec.md와 함께 저장한 입력과 기대 결과는 넷째 실습에서 시나리오의 재료가 되었습니다. 시나리오는 실행되어 회귀 기록으로 남고, 그 기록이 다음에 요구가 바뀔 때의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장치를 문제가 생겼을 때 찾아갈 순서로 놓았습니다. 값이 실제와 다르면 호출 기록에서 입력과 응답을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한 문장으로 줄이면 이렇습니다. 정한 것을 적어 두고, 그대로 행동하는지를 실행으로 확인합니다. 목표와 스킬과 명세가 적어 둔 기준이고, 출력 계약의 검사와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약어와 영문 용어의 정식 명칭을 한곳에 모았습니다. 이 일곱 개와 함께 승인 역할, 에이전트의 질문, 명세, 계약, 금지 조건, 시나리오가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문항입니다. 통과한 시나리오가 알려 주는 범위가 어디까지인지를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두 번 확인했다는 점에서 그럴듯하지만, 두 확인 모두 실행의 결정은 아닙니다. 둘째 문항의 1번은 얼마나 빨라야 하는지가 적혀 있지 않아 판정할 수 없습니다. 셋째 문항의 2번은 새 시나리오만 되풀이하므로 기존 행동을 알려 주지 못합니다.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14.png"/><Relationship Id="rId5"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6.png"/><Relationship Id="rId5" Type="http://schemas.openxmlformats.org/officeDocument/2006/relationships/image" Target="../media/image35.png"/><Relationship Id="rId6" Type="http://schemas.openxmlformats.org/officeDocument/2006/relationships/image" Target="../media/image18.png"/><Relationship Id="rId7"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37.png"/><Relationship Id="rId5"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7.png"/><Relationship Id="rId5" Type="http://schemas.openxmlformats.org/officeDocument/2006/relationships/image" Target="../media/image35.png"/><Relationship Id="rId6" Type="http://schemas.openxmlformats.org/officeDocument/2006/relationships/image" Target="../media/image15.png"/><Relationship Id="rId7" Type="http://schemas.openxmlformats.org/officeDocument/2006/relationships/image" Target="../media/image48.png"/><Relationship Id="rId8"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8.pn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2.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47.png"/><Relationship Id="rId8"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48.png"/><Relationship Id="rId5"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7회차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사람의 확인과 검증으로 완성하는</a:t>
            </a:r>
          </a:p>
          <a:p>
            <a:pPr algn="l">
              <a:lnSpc>
                <a:spcPct val="110000"/>
              </a:lnSpc>
            </a:pPr>
            <a:r>
              <a:rPr sz="4000" b="1">
                <a:solidFill>
                  <a:srgbClr val="FFFFFF"/>
                </a:solidFill>
                <a:latin typeface="맑은 고딕"/>
                <a:ea typeface="맑은 고딕"/>
                <a:cs typeface="맑은 고딕"/>
              </a:rPr>
              <a:t>신뢰할 수 있는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사람의 승인, 명세, 행동 검증과 에이전트 영역의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사람의 결정과 명세와 시나리오로 에이전트를 믿고 쓰는 근거를 세우고, 에이전트 영역 전체를 정리한다.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사람의 결정</a:t>
            </a:r>
          </a:p>
          <a:p>
            <a:pPr algn="l">
              <a:lnSpc>
                <a:spcPct val="110000"/>
              </a:lnSpc>
              <a:spcAft>
                <a:spcPts val="400"/>
              </a:spcAft>
            </a:pPr>
            <a:r>
              <a:rPr sz="1350" b="0">
                <a:solidFill>
                  <a:srgbClr val="1F2A3A"/>
                </a:solidFill>
                <a:latin typeface="맑은 고딕"/>
                <a:ea typeface="맑은 고딕"/>
                <a:cs typeface="맑은 고딕"/>
              </a:rPr>
              <a:t>승인, 거절, 보류가 언제 누구에게서 나오는지와 검토와 승인의 차이를 설명한다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SDD</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checklist" descr="checklis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a:t>
            </a:r>
          </a:p>
          <a:p>
            <a:pPr algn="l">
              <a:lnSpc>
                <a:spcPct val="110000"/>
              </a:lnSpc>
              <a:spcAft>
                <a:spcPts val="400"/>
              </a:spcAft>
            </a:pPr>
            <a:r>
              <a:rPr sz="1350" b="0">
                <a:solidFill>
                  <a:srgbClr val="1F2A3A"/>
                </a:solidFill>
                <a:latin typeface="맑은 고딕"/>
                <a:ea typeface="맑은 고딕"/>
                <a:cs typeface="맑은 고딕"/>
              </a:rPr>
              <a:t>기대 행동을 Given · When · Then으로 적고 변경 뒤에 기존 시나리오까지 다시 실행한다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BDD</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목표와 도구에서 검증까지 에이전트를 만들고 믿기까지의 순서를 설명한다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23444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23444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지점의 설계: 승인, 질문, 닫기</a:t>
            </a:r>
          </a:p>
        </p:txBody>
      </p:sp>
      <p:sp>
        <p:nvSpPr>
          <p:cNvPr id="6" name="Rounded Rectangle 5"/>
          <p:cNvSpPr/>
          <p:nvPr/>
        </p:nvSpPr>
        <p:spPr>
          <a:xfrm>
            <a:off x="10088575" y="1408176"/>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4081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18653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187451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187451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 주도 개발: 요구사항 변경과 기존 기능의 보존</a:t>
            </a:r>
          </a:p>
        </p:txBody>
      </p:sp>
      <p:sp>
        <p:nvSpPr>
          <p:cNvPr id="11" name="Rounded Rectangle 10"/>
          <p:cNvSpPr/>
          <p:nvPr/>
        </p:nvSpPr>
        <p:spPr>
          <a:xfrm>
            <a:off x="10088575" y="204825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0482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25054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251460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251460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행동 검증: 시나리오와 회귀 시험</a:t>
            </a:r>
          </a:p>
        </p:txBody>
      </p:sp>
      <p:sp>
        <p:nvSpPr>
          <p:cNvPr id="16" name="Rounded Rectangle 15"/>
          <p:cNvSpPr/>
          <p:nvPr/>
        </p:nvSpPr>
        <p:spPr>
          <a:xfrm>
            <a:off x="10088575" y="268833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26883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14553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15467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15467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사람이 개입하는 업무 상태 확인</a:t>
            </a:r>
          </a:p>
        </p:txBody>
      </p:sp>
      <p:sp>
        <p:nvSpPr>
          <p:cNvPr id="21" name="Rounded Rectangle 20"/>
          <p:cNvSpPr/>
          <p:nvPr/>
        </p:nvSpPr>
        <p:spPr>
          <a:xfrm>
            <a:off x="10088575" y="3328415"/>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3328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379476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379476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정보가 부족하면 질문하고 다시 처리하는 에이전트</a:t>
            </a:r>
          </a:p>
        </p:txBody>
      </p:sp>
      <p:sp>
        <p:nvSpPr>
          <p:cNvPr id="26" name="Rounded Rectangle 25"/>
          <p:cNvSpPr/>
          <p:nvPr/>
        </p:nvSpPr>
        <p:spPr>
          <a:xfrm>
            <a:off x="10088575" y="3968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3968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4425696"/>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443484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443484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명세를 갱신해 기존 기능을 유지하며 요구사항 추가</a:t>
            </a:r>
          </a:p>
        </p:txBody>
      </p:sp>
      <p:sp>
        <p:nvSpPr>
          <p:cNvPr id="31" name="Rounded Rectangle 30"/>
          <p:cNvSpPr/>
          <p:nvPr/>
        </p:nvSpPr>
        <p:spPr>
          <a:xfrm>
            <a:off x="10088575" y="4608575"/>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46085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3" name="Rectangle 32"/>
          <p:cNvSpPr/>
          <p:nvPr/>
        </p:nvSpPr>
        <p:spPr>
          <a:xfrm>
            <a:off x="548640" y="5065776"/>
            <a:ext cx="11094415" cy="13716"/>
          </a:xfrm>
          <a:prstGeom prst="rect">
            <a:avLst/>
          </a:prstGeom>
          <a:solidFill>
            <a:srgbClr val="D3D9E1"/>
          </a:solidFill>
          <a:ln>
            <a:noFill/>
          </a:ln>
        </p:spPr>
        <p:txBody>
          <a:bodyPr rtlCol="0" anchor="ctr"/>
          <a:lstStyle/>
          <a:p>
            <a:pPr algn="ctr"/>
          </a:p>
        </p:txBody>
      </p:sp>
      <p:sp>
        <p:nvSpPr>
          <p:cNvPr id="34" name="TextBox 33"/>
          <p:cNvSpPr txBox="1"/>
          <p:nvPr/>
        </p:nvSpPr>
        <p:spPr>
          <a:xfrm>
            <a:off x="548640" y="5074919"/>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07</a:t>
            </a:r>
          </a:p>
        </p:txBody>
      </p:sp>
      <p:sp>
        <p:nvSpPr>
          <p:cNvPr id="35" name="TextBox 34"/>
          <p:cNvSpPr txBox="1"/>
          <p:nvPr/>
        </p:nvSpPr>
        <p:spPr>
          <a:xfrm>
            <a:off x="1417319" y="5074919"/>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기능과 기존 기능의 시나리오 실행과 회귀 검증</a:t>
            </a:r>
          </a:p>
        </p:txBody>
      </p:sp>
      <p:sp>
        <p:nvSpPr>
          <p:cNvPr id="36" name="Rounded Rectangle 35"/>
          <p:cNvSpPr/>
          <p:nvPr/>
        </p:nvSpPr>
        <p:spPr>
          <a:xfrm>
            <a:off x="10088575" y="5248655"/>
            <a:ext cx="1371600" cy="292608"/>
          </a:xfrm>
          <a:prstGeom prst="roundRect">
            <a:avLst>
              <a:gd name="adj" fmla="val 50000"/>
            </a:avLst>
          </a:prstGeom>
          <a:solidFill>
            <a:srgbClr val="D3D9E1"/>
          </a:solidFill>
          <a:ln>
            <a:noFill/>
          </a:ln>
        </p:spPr>
        <p:txBody>
          <a:bodyPr rtlCol="0" anchor="ctr"/>
          <a:lstStyle/>
          <a:p>
            <a:pPr algn="ctr"/>
          </a:p>
        </p:txBody>
      </p:sp>
      <p:sp>
        <p:nvSpPr>
          <p:cNvPr id="37" name="TextBox 36"/>
          <p:cNvSpPr txBox="1"/>
          <p:nvPr/>
        </p:nvSpPr>
        <p:spPr>
          <a:xfrm>
            <a:off x="10088575" y="5248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38" name="Rectangle 37"/>
          <p:cNvSpPr/>
          <p:nvPr/>
        </p:nvSpPr>
        <p:spPr>
          <a:xfrm>
            <a:off x="548640" y="5705855"/>
            <a:ext cx="11094415" cy="13716"/>
          </a:xfrm>
          <a:prstGeom prst="rect">
            <a:avLst/>
          </a:prstGeom>
          <a:solidFill>
            <a:srgbClr val="D3D9E1"/>
          </a:solidFill>
          <a:ln>
            <a:noFill/>
          </a:ln>
        </p:spPr>
        <p:txBody>
          <a:bodyPr rtlCol="0" anchor="ctr"/>
          <a:lstStyle/>
          <a:p>
            <a:pPr algn="ctr"/>
          </a:p>
        </p:txBody>
      </p:sp>
      <p:sp>
        <p:nvSpPr>
          <p:cNvPr id="39" name="TextBox 38"/>
          <p:cNvSpPr txBox="1"/>
          <p:nvPr/>
        </p:nvSpPr>
        <p:spPr>
          <a:xfrm>
            <a:off x="548640" y="5715000"/>
            <a:ext cx="822960" cy="64008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08</a:t>
            </a:r>
          </a:p>
        </p:txBody>
      </p:sp>
      <p:sp>
        <p:nvSpPr>
          <p:cNvPr id="40" name="TextBox 39"/>
          <p:cNvSpPr txBox="1"/>
          <p:nvPr/>
        </p:nvSpPr>
        <p:spPr>
          <a:xfrm>
            <a:off x="1417319" y="5715000"/>
            <a:ext cx="8488375" cy="64008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41" name="Rounded Rectangle 40"/>
          <p:cNvSpPr/>
          <p:nvPr/>
        </p:nvSpPr>
        <p:spPr>
          <a:xfrm>
            <a:off x="10088575" y="5888736"/>
            <a:ext cx="1371600" cy="292608"/>
          </a:xfrm>
          <a:prstGeom prst="roundRect">
            <a:avLst>
              <a:gd name="adj" fmla="val 50000"/>
            </a:avLst>
          </a:prstGeom>
          <a:solidFill>
            <a:srgbClr val="D3D9E1"/>
          </a:solidFill>
          <a:ln>
            <a:noFill/>
          </a:ln>
        </p:spPr>
        <p:txBody>
          <a:bodyPr rtlCol="0" anchor="ctr"/>
          <a:lstStyle/>
          <a:p>
            <a:pPr algn="ctr"/>
          </a:p>
        </p:txBody>
      </p:sp>
      <p:sp>
        <p:nvSpPr>
          <p:cNvPr id="42" name="TextBox 41"/>
          <p:cNvSpPr txBox="1"/>
          <p:nvPr/>
        </p:nvSpPr>
        <p:spPr>
          <a:xfrm>
            <a:off x="10088575" y="5888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43" name="TextBox 4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사람이 개입하는 지점의 설계:</a:t>
            </a:r>
          </a:p>
          <a:p>
            <a:pPr algn="l">
              <a:lnSpc>
                <a:spcPct val="110000"/>
              </a:lnSpc>
            </a:pPr>
            <a:r>
              <a:rPr sz="3400" b="1">
                <a:solidFill>
                  <a:srgbClr val="13294B"/>
                </a:solidFill>
                <a:latin typeface="맑은 고딕"/>
                <a:ea typeface="맑은 고딕"/>
                <a:cs typeface="맑은 고딕"/>
              </a:rPr>
              <a:t>승인, 질문, 닫기</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에이전트의 추천안을 사람이 결정하는 자리와 그 결정이 남기는 기록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5807602756857197968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자동으로 처리하는 일과 사람이 결정하는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HITL(Human-in-the-Loop)은 자동 처리의 정해진 지점에 사람의 결정을 넣는 방식이며, 설비를 바꾸는 결정이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873506645268702194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179383"/>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547296"/>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547296"/>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1978215"/>
            <a:ext cx="5181447" cy="4026281"/>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179383"/>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a:p>
            <a:pPr algn="l">
              <a:lnSpc>
                <a:spcPct val="110000"/>
              </a:lnSpc>
              <a:spcAft>
                <a:spcPts val="600"/>
              </a:spcAft>
            </a:pPr>
            <a:r>
              <a:rPr sz="1450" b="0">
                <a:solidFill>
                  <a:srgbClr val="1F2A3A"/>
                </a:solidFill>
                <a:latin typeface="맑은 고딕"/>
                <a:ea typeface="맑은 고딕"/>
                <a:cs typeface="맑은 고딕"/>
              </a:rPr>
              <a:t>• 처리 건: 경보 하나가 열어 끝날 때까지 이어지는 업무 한 건</a:t>
            </a:r>
          </a:p>
        </p:txBody>
      </p:sp>
      <p:sp>
        <p:nvSpPr>
          <p:cNvPr id="18" name="Rounded Rectangle 17"/>
          <p:cNvSpPr/>
          <p:nvPr/>
        </p:nvSpPr>
        <p:spPr>
          <a:xfrm>
            <a:off x="6781647" y="554729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547296"/>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ectangle 5"/>
          <p:cNvSpPr/>
          <p:nvPr/>
        </p:nvSpPr>
        <p:spPr>
          <a:xfrm>
            <a:off x="1935441" y="3042094"/>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843212"/>
            <a:ext cx="434340" cy="434340"/>
          </a:xfrm>
          <a:prstGeom prst="rect">
            <a:avLst/>
          </a:prstGeom>
        </p:spPr>
      </p:pic>
      <p:sp>
        <p:nvSpPr>
          <p:cNvPr id="9" name="Oval 8"/>
          <p:cNvSpPr/>
          <p:nvPr/>
        </p:nvSpPr>
        <p:spPr>
          <a:xfrm>
            <a:off x="2095461"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작업이 멈춘다</a:t>
            </a:r>
          </a:p>
          <a:p>
            <a:pPr algn="ctr">
              <a:lnSpc>
                <a:spcPct val="110000"/>
              </a:lnSpc>
              <a:spcAft>
                <a:spcPts val="400"/>
              </a:spcAft>
            </a:pPr>
            <a:r>
              <a:rPr sz="1350" b="0">
                <a:solidFill>
                  <a:srgbClr val="1F2A3A"/>
                </a:solidFill>
                <a:latin typeface="맑은 고딕"/>
                <a:ea typeface="맑은 고딕"/>
                <a:cs typeface="맑은 고딕"/>
              </a:rPr>
              <a:t>실행 시간 1,800초나 형식 교정 두 번의 한도를 넘기면 결과 없이 멈춘 상태로 남는다</a:t>
            </a:r>
          </a:p>
        </p:txBody>
      </p:sp>
      <p:sp>
        <p:nvSpPr>
          <p:cNvPr id="12" name="Oval 11"/>
          <p:cNvSpPr/>
          <p:nvPr/>
        </p:nvSpPr>
        <p:spPr>
          <a:xfrm>
            <a:off x="4274705"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843212"/>
            <a:ext cx="434340" cy="434340"/>
          </a:xfrm>
          <a:prstGeom prst="rect">
            <a:avLst/>
          </a:prstGeom>
        </p:spPr>
      </p:pic>
      <p:sp>
        <p:nvSpPr>
          <p:cNvPr id="14" name="Oval 13"/>
          <p:cNvSpPr/>
          <p:nvPr/>
        </p:nvSpPr>
        <p:spPr>
          <a:xfrm>
            <a:off x="4869065"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기록을 읽는다</a:t>
            </a:r>
          </a:p>
          <a:p>
            <a:pPr algn="ctr">
              <a:lnSpc>
                <a:spcPct val="110000"/>
              </a:lnSpc>
              <a:spcAft>
                <a:spcPts val="400"/>
              </a:spcAft>
            </a:pPr>
            <a:r>
              <a:rPr sz="1350" b="0">
                <a:solidFill>
                  <a:srgbClr val="1F2A3A"/>
                </a:solidFill>
                <a:latin typeface="맑은 고딕"/>
                <a:ea typeface="맑은 고딕"/>
                <a:cs typeface="맑은 고딕"/>
              </a:rPr>
              <a:t>어디까지 진행되었고 왜 멈췄는지를 처리 기록에서 확인한다</a:t>
            </a:r>
          </a:p>
        </p:txBody>
      </p:sp>
      <p:sp>
        <p:nvSpPr>
          <p:cNvPr id="17" name="Oval 16"/>
          <p:cNvSpPr/>
          <p:nvPr/>
        </p:nvSpPr>
        <p:spPr>
          <a:xfrm>
            <a:off x="7048309" y="2626042"/>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843212"/>
            <a:ext cx="434340" cy="434340"/>
          </a:xfrm>
          <a:prstGeom prst="rect">
            <a:avLst/>
          </a:prstGeom>
        </p:spPr>
      </p:pic>
      <p:sp>
        <p:nvSpPr>
          <p:cNvPr id="19" name="Oval 18"/>
          <p:cNvSpPr/>
          <p:nvPr/>
        </p:nvSpPr>
        <p:spPr>
          <a:xfrm>
            <a:off x="7642669"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사유를 적고 닫는다</a:t>
            </a:r>
          </a:p>
          <a:p>
            <a:pPr algn="ctr">
              <a:lnSpc>
                <a:spcPct val="110000"/>
              </a:lnSpc>
              <a:spcAft>
                <a:spcPts val="400"/>
              </a:spcAft>
            </a:pPr>
            <a:r>
              <a:rPr sz="1350" b="0">
                <a:solidFill>
                  <a:srgbClr val="1F2A3A"/>
                </a:solidFill>
                <a:latin typeface="맑은 고딕"/>
                <a:ea typeface="맑은 고딕"/>
                <a:cs typeface="맑은 고딕"/>
              </a:rPr>
              <a:t>닫은 사람과 사유가 기록에 남고, 그 작업은 취소로 표시된다</a:t>
            </a:r>
          </a:p>
        </p:txBody>
      </p:sp>
      <p:sp>
        <p:nvSpPr>
          <p:cNvPr id="22" name="Oval 21"/>
          <p:cNvSpPr/>
          <p:nvPr/>
        </p:nvSpPr>
        <p:spPr>
          <a:xfrm>
            <a:off x="9821913" y="2626042"/>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843212"/>
            <a:ext cx="434340" cy="434340"/>
          </a:xfrm>
          <a:prstGeom prst="rect">
            <a:avLst/>
          </a:prstGeom>
        </p:spPr>
      </p:pic>
      <p:sp>
        <p:nvSpPr>
          <p:cNvPr id="24" name="Oval 23"/>
          <p:cNvSpPr/>
          <p:nvPr/>
        </p:nvSpPr>
        <p:spPr>
          <a:xfrm>
            <a:off x="10416273" y="2580322"/>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677602"/>
            <a:ext cx="2627299"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처리 건이 끝난다</a:t>
            </a:r>
          </a:p>
          <a:p>
            <a:pPr algn="ctr">
              <a:lnSpc>
                <a:spcPct val="110000"/>
              </a:lnSpc>
              <a:spcAft>
                <a:spcPts val="400"/>
              </a:spcAft>
            </a:pPr>
            <a:r>
              <a:rPr sz="1350" b="0">
                <a:solidFill>
                  <a:srgbClr val="1F2A3A"/>
                </a:solidFill>
                <a:latin typeface="맑은 고딕"/>
                <a:ea typeface="맑은 고딕"/>
                <a:cs typeface="맑은 고딕"/>
              </a:rPr>
              <a:t>열려 있는 다른 작업이 없으면 처리 건은 사람이 닫았다는 표시와 함께 끝난다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두관문.svg" descr="illust_7728708357051362937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명세 주도 개발:</a:t>
            </a:r>
          </a:p>
          <a:p>
            <a:pPr algn="l">
              <a:lnSpc>
                <a:spcPct val="110000"/>
              </a:lnSpc>
            </a:pPr>
            <a:r>
              <a:rPr sz="3400" b="1">
                <a:solidFill>
                  <a:srgbClr val="13294B"/>
                </a:solidFill>
                <a:latin typeface="맑은 고딕"/>
                <a:ea typeface="맑은 고딕"/>
                <a:cs typeface="맑은 고딕"/>
              </a:rPr>
              <a:t>요구사항 변경과 기존 기능의 보존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에이전트를 고칠 때 달라지는 것과 지킬 것을 구현 전에 정하는 방법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세해석.svg" descr="illust_4280252158090638321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명세문서.svg" descr="illust_3047379782703707475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행동 검증:</a:t>
            </a:r>
          </a:p>
          <a:p>
            <a:pPr algn="l">
              <a:lnSpc>
                <a:spcPct val="110000"/>
              </a:lnSpc>
            </a:pPr>
            <a:r>
              <a:rPr sz="3400" b="1">
                <a:solidFill>
                  <a:srgbClr val="13294B"/>
                </a:solidFill>
                <a:latin typeface="맑은 고딕"/>
                <a:ea typeface="맑은 고딕"/>
                <a:cs typeface="맑은 고딕"/>
              </a:rPr>
              <a:t>시나리오와 회귀 시험</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기대한 행동을 시나리오로 적고 실행으로 되풀이해 확인하는 방법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명세와실행.svg" descr="illust_7248913572776036197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 결과</a:t>
            </a:r>
          </a:p>
          <a:p>
            <a:pPr algn="ctr">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명세와 실제 결과의 대조</a:t>
            </a:r>
          </a:p>
          <a:p>
            <a:pPr algn="ctr">
              <a:lnSpc>
                <a:spcPct val="110000"/>
              </a:lnSpc>
              <a:spcAft>
                <a:spcPts val="100"/>
              </a:spcAft>
            </a:pPr>
            <a:r>
              <a:rPr sz="1300" b="0">
                <a:solidFill>
                  <a:srgbClr val="556175"/>
                </a:solidFill>
                <a:latin typeface="맑은 고딕"/>
                <a:ea typeface="맑은 고딕"/>
                <a:cs typeface="맑은 고딕"/>
              </a:rPr>
              <a:t>적은 대로 행동했는지는 실행해야 알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세부분.svg" descr="illust_446910928281116005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서식</a:t>
            </a:r>
          </a:p>
          <a:p>
            <a:pPr algn="l">
              <a:lnSpc>
                <a:spcPct val="110000"/>
              </a:lnSpc>
              <a:spcAft>
                <a:spcPts val="400"/>
              </a:spcAft>
            </a:pPr>
            <a:r>
              <a:rPr sz="1400" b="0">
                <a:solidFill>
                  <a:srgbClr val="1F2A3A"/>
                </a:solidFill>
                <a:latin typeface="맑은 고딕"/>
                <a:ea typeface="맑은 고딕"/>
                <a:cs typeface="맑은 고딕"/>
              </a:rPr>
              <a:t>Scenario, Given, When, Then, And로 적는 이 서식의 이름이 Gherkin이다.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 · And</a:t>
            </a:r>
          </a:p>
          <a:p>
            <a:pPr algn="l">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회귀.svg" descr="illust_758980913843380783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일반 요청, 보류, 거절 등</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사람이 개입하는 업무 상태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포털의 승인 대기 건에서 승인 역할의 제한을 확인하고 AI의 검토와 사람의 승인을 구분한다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확인하는 상태와 구분하는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실습에서는 승인 대기 건 하나에서 승인 역할의 제한과, 검사를 통과한 상태와 승인된 상태의 차이를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 건을 읽는다</a:t>
            </a:r>
          </a:p>
          <a:p>
            <a:pPr algn="l">
              <a:lnSpc>
                <a:spcPct val="110000"/>
              </a:lnSpc>
              <a:spcAft>
                <a:spcPts val="400"/>
              </a:spcAft>
            </a:pPr>
            <a:r>
              <a:rPr sz="1400" b="0">
                <a:solidFill>
                  <a:srgbClr val="1F2A3A"/>
                </a:solidFill>
                <a:latin typeface="맑은 고딕"/>
                <a:ea typeface="맑은 고딕"/>
                <a:cs typeface="맑은 고딕"/>
              </a:rPr>
              <a:t>올라온 추천안과, 처리 건이 사람의 승인을 기다리는 상태임을 확인한다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id" descr="id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 제한을 확인한다</a:t>
            </a:r>
          </a:p>
          <a:p>
            <a:pPr algn="l">
              <a:lnSpc>
                <a:spcPct val="110000"/>
              </a:lnSpc>
              <a:spcAft>
                <a:spcPts val="400"/>
              </a:spcAft>
            </a:pPr>
            <a:r>
              <a:rPr sz="1400" b="0">
                <a:solidFill>
                  <a:srgbClr val="1F2A3A"/>
                </a:solidFill>
                <a:latin typeface="맑은 고딕"/>
                <a:ea typeface="맑은 고딕"/>
                <a:cs typeface="맑은 고딕"/>
              </a:rPr>
              <a:t>• 그 조치의 승인 역할을 확인한다</a:t>
            </a:r>
          </a:p>
          <a:p>
            <a:pPr algn="l">
              <a:lnSpc>
                <a:spcPct val="110000"/>
              </a:lnSpc>
              <a:spcAft>
                <a:spcPts val="400"/>
              </a:spcAft>
            </a:pPr>
            <a:r>
              <a:rPr sz="1400" b="0">
                <a:solidFill>
                  <a:srgbClr val="1F2A3A"/>
                </a:solidFill>
                <a:latin typeface="맑은 고딕"/>
                <a:ea typeface="맑은 고딕"/>
                <a:cs typeface="맑은 고딕"/>
              </a:rPr>
              <a:t>• 권한이 없는 역할의 승인이 받아들여지지 않는 것을 본다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검토와 승인을 구분한다</a:t>
            </a:r>
          </a:p>
          <a:p>
            <a:pPr algn="l">
              <a:lnSpc>
                <a:spcPct val="110000"/>
              </a:lnSpc>
              <a:spcAft>
                <a:spcPts val="400"/>
              </a:spcAft>
            </a:pPr>
            <a:r>
              <a:rPr sz="1400" b="0">
                <a:solidFill>
                  <a:srgbClr val="1F2A3A"/>
                </a:solidFill>
                <a:latin typeface="맑은 고딕"/>
                <a:ea typeface="맑은 고딕"/>
                <a:cs typeface="맑은 고딕"/>
              </a:rPr>
              <a:t>• 가드레일을 통과한 추천안의 상태가 승인 대기임을 확인한다</a:t>
            </a:r>
          </a:p>
          <a:p>
            <a:pPr algn="l">
              <a:lnSpc>
                <a:spcPct val="110000"/>
              </a:lnSpc>
              <a:spcAft>
                <a:spcPts val="400"/>
              </a:spcAft>
            </a:pPr>
            <a:r>
              <a:rPr sz="1400" b="0">
                <a:solidFill>
                  <a:srgbClr val="1F2A3A"/>
                </a:solidFill>
                <a:latin typeface="맑은 고딕"/>
                <a:ea typeface="맑은 고딕"/>
                <a:cs typeface="맑은 고딕"/>
              </a:rPr>
              <a:t>• 승인한 사람과 역할은 승인 뒤에만 기록되는 것을 본다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5회차에 만든 에이전트가 빠진 정보를 확정하지 않고 확인 질문을 내도록 고친다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빠진 정보를 확정하지 않고 확인 질문을 내게 고친 뒤, 추가 입력을 받아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필수 입력이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만든다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판단한다</a:t>
            </a:r>
          </a:p>
          <a:p>
            <a:pPr algn="ctr">
              <a:lnSpc>
                <a:spcPct val="110000"/>
              </a:lnSpc>
              <a:spcAft>
                <a:spcPts val="400"/>
              </a:spcAft>
            </a:pPr>
            <a:r>
              <a:rPr sz="1350" b="0">
                <a:solidFill>
                  <a:srgbClr val="1F2A3A"/>
                </a:solidFill>
                <a:latin typeface="맑은 고딕"/>
                <a:ea typeface="맑은 고딕"/>
                <a:cs typeface="맑은 고딕"/>
              </a:rPr>
              <a:t>추가 입력을 받아</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남기고</a:t>
            </a:r>
          </a:p>
          <a:p>
            <a:pPr algn="ctr">
              <a:lnSpc>
                <a:spcPct val="110000"/>
              </a:lnSpc>
              <a:spcAft>
                <a:spcPts val="400"/>
              </a:spcAft>
            </a:pPr>
            <a:r>
              <a:rPr sz="1350" b="0">
                <a:solidFill>
                  <a:srgbClr val="1F2A3A"/>
                </a:solidFill>
                <a:latin typeface="맑은 고딕"/>
                <a:ea typeface="맑은 고딕"/>
                <a:cs typeface="맑은 고딕"/>
              </a:rPr>
              <a:t>승인 전에는</a:t>
            </a:r>
          </a:p>
          <a:p>
            <a:pPr algn="ctr">
              <a:lnSpc>
                <a:spcPct val="110000"/>
              </a:lnSpc>
              <a:spcAft>
                <a:spcPts val="400"/>
              </a:spcAft>
            </a:pPr>
            <a:r>
              <a:rPr sz="1350" b="0">
                <a:solidFill>
                  <a:srgbClr val="1F2A3A"/>
                </a:solidFill>
                <a:latin typeface="맑은 고딕"/>
                <a:ea typeface="맑은 고딕"/>
                <a:cs typeface="맑은 고딕"/>
              </a:rPr>
              <a:t>확정하지 않는다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모호한 요청이 만든 변화의 사례를 견준 뒤 spec.md에 지킬 것과 달라질 것을 적고 그 명세대로 고친다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명세와 저장하는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갱신한 spec.md와 두 요청의 재실행 결과, 그리고 다음 실습에 쓸 입력과 기대 결과가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사례를 견준다</a:t>
            </a:r>
          </a:p>
          <a:p>
            <a:pPr algn="ctr">
              <a:lnSpc>
                <a:spcPct val="110000"/>
              </a:lnSpc>
              <a:spcAft>
                <a:spcPts val="400"/>
              </a:spcAft>
            </a:pPr>
            <a:r>
              <a:rPr sz="1250" b="0">
                <a:solidFill>
                  <a:srgbClr val="1F2A3A"/>
                </a:solidFill>
                <a:latin typeface="맑은 고딕"/>
                <a:ea typeface="맑은 고딕"/>
                <a:cs typeface="맑은 고딕"/>
              </a:rPr>
              <a:t>모호한 요청으로</a:t>
            </a:r>
          </a:p>
          <a:p>
            <a:pPr algn="ctr">
              <a:lnSpc>
                <a:spcPct val="110000"/>
              </a:lnSpc>
              <a:spcAft>
                <a:spcPts val="400"/>
              </a:spcAft>
            </a:pPr>
            <a:r>
              <a:rPr sz="1250" b="0">
                <a:solidFill>
                  <a:srgbClr val="1F2A3A"/>
                </a:solidFill>
                <a:latin typeface="맑은 고딕"/>
                <a:ea typeface="맑은 고딕"/>
                <a:cs typeface="맑은 고딕"/>
              </a:rPr>
              <a:t>고친 결과가</a:t>
            </a:r>
          </a:p>
          <a:p>
            <a:pPr algn="ctr">
              <a:lnSpc>
                <a:spcPct val="110000"/>
              </a:lnSpc>
              <a:spcAft>
                <a:spcPts val="400"/>
              </a:spcAft>
            </a:pPr>
            <a:r>
              <a:rPr sz="1250" b="0">
                <a:solidFill>
                  <a:srgbClr val="1F2A3A"/>
                </a:solidFill>
                <a:latin typeface="맑은 고딕"/>
                <a:ea typeface="맑은 고딕"/>
                <a:cs typeface="맑은 고딕"/>
              </a:rPr>
              <a:t>달라진 곳을 본다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3434394" y="2712466"/>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명세를 쓴다</a:t>
            </a:r>
          </a:p>
          <a:p>
            <a:pPr algn="ctr">
              <a:lnSpc>
                <a:spcPct val="110000"/>
              </a:lnSpc>
              <a:spcAft>
                <a:spcPts val="400"/>
              </a:spcAft>
            </a:pPr>
            <a:r>
              <a:rPr sz="1250" b="0">
                <a:solidFill>
                  <a:srgbClr val="1F2A3A"/>
                </a:solidFill>
                <a:latin typeface="맑은 고딕"/>
                <a:ea typeface="맑은 고딕"/>
                <a:cs typeface="맑은 고딕"/>
              </a:rPr>
              <a:t>일반 요청, 긴급 요청,</a:t>
            </a:r>
          </a:p>
          <a:p>
            <a:pPr algn="ctr">
              <a:lnSpc>
                <a:spcPct val="110000"/>
              </a:lnSpc>
              <a:spcAft>
                <a:spcPts val="400"/>
              </a:spcAft>
            </a:pPr>
            <a:r>
              <a:rPr sz="1250" b="0">
                <a:solidFill>
                  <a:srgbClr val="1F2A3A"/>
                </a:solidFill>
                <a:latin typeface="맑은 고딕"/>
                <a:ea typeface="맑은 고딕"/>
                <a:cs typeface="맑은 고딕"/>
              </a:rPr>
              <a:t>미입력 시 보류,</a:t>
            </a:r>
          </a:p>
          <a:p>
            <a:pPr algn="ctr">
              <a:lnSpc>
                <a:spcPct val="110000"/>
              </a:lnSpc>
              <a:spcAft>
                <a:spcPts val="400"/>
              </a:spcAft>
            </a:pPr>
            <a:r>
              <a:rPr sz="1250" b="0">
                <a:solidFill>
                  <a:srgbClr val="1F2A3A"/>
                </a:solidFill>
                <a:latin typeface="맑은 고딕"/>
                <a:ea typeface="맑은 고딕"/>
                <a:cs typeface="맑은 고딕"/>
              </a:rPr>
              <a:t>승인 없이 확정 금지,</a:t>
            </a:r>
          </a:p>
          <a:p>
            <a:pPr algn="ctr">
              <a:lnSpc>
                <a:spcPct val="110000"/>
              </a:lnSpc>
              <a:spcAft>
                <a:spcPts val="400"/>
              </a:spcAft>
            </a:pPr>
            <a:r>
              <a:rPr sz="1250" b="0">
                <a:solidFill>
                  <a:srgbClr val="1F2A3A"/>
                </a:solidFill>
                <a:latin typeface="맑은 고딕"/>
                <a:ea typeface="맑은 고딕"/>
                <a:cs typeface="맑은 고딕"/>
              </a:rPr>
              <a:t>수용 기준</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명세대로 고친다</a:t>
            </a:r>
          </a:p>
          <a:p>
            <a:pPr algn="ctr">
              <a:lnSpc>
                <a:spcPct val="110000"/>
              </a:lnSpc>
              <a:spcAft>
                <a:spcPts val="400"/>
              </a:spcAft>
            </a:pPr>
            <a:r>
              <a:rPr sz="1250" b="0">
                <a:solidFill>
                  <a:srgbClr val="1F2A3A"/>
                </a:solidFill>
                <a:latin typeface="맑은 고딕"/>
                <a:ea typeface="맑은 고딕"/>
                <a:cs typeface="맑은 고딕"/>
              </a:rPr>
              <a:t>명세를 기준으로</a:t>
            </a:r>
          </a:p>
          <a:p>
            <a:pPr algn="ctr">
              <a:lnSpc>
                <a:spcPct val="110000"/>
              </a:lnSpc>
              <a:spcAft>
                <a:spcPts val="400"/>
              </a:spcAft>
            </a:pPr>
            <a:r>
              <a:rPr sz="1250" b="0">
                <a:solidFill>
                  <a:srgbClr val="1F2A3A"/>
                </a:solidFill>
                <a:latin typeface="맑은 고딕"/>
                <a:ea typeface="맑은 고딕"/>
                <a:cs typeface="맑은 고딕"/>
              </a:rPr>
              <a:t>코드를 수정한다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실행한다</a:t>
            </a:r>
          </a:p>
          <a:p>
            <a:pPr algn="ctr">
              <a:lnSpc>
                <a:spcPct val="110000"/>
              </a:lnSpc>
              <a:spcAft>
                <a:spcPts val="400"/>
              </a:spcAft>
            </a:pPr>
            <a:r>
              <a:rPr sz="1250" b="0">
                <a:solidFill>
                  <a:srgbClr val="1F2A3A"/>
                </a:solidFill>
                <a:latin typeface="맑은 고딕"/>
                <a:ea typeface="맑은 고딕"/>
                <a:cs typeface="맑은 고딕"/>
              </a:rPr>
              <a:t>기존 일반 요청과</a:t>
            </a:r>
          </a:p>
          <a:p>
            <a:pPr algn="ctr">
              <a:lnSpc>
                <a:spcPct val="110000"/>
              </a:lnSpc>
              <a:spcAft>
                <a:spcPts val="400"/>
              </a:spcAft>
            </a:pPr>
            <a:r>
              <a:rPr sz="1250" b="0">
                <a:solidFill>
                  <a:srgbClr val="1F2A3A"/>
                </a:solidFill>
                <a:latin typeface="맑은 고딕"/>
                <a:ea typeface="맑은 고딕"/>
                <a:cs typeface="맑은 고딕"/>
              </a:rPr>
              <a:t>추가한 긴급 요청을</a:t>
            </a:r>
          </a:p>
          <a:p>
            <a:pPr algn="ctr">
              <a:lnSpc>
                <a:spcPct val="110000"/>
              </a:lnSpc>
              <a:spcAft>
                <a:spcPts val="400"/>
              </a:spcAft>
            </a:pPr>
            <a:r>
              <a:rPr sz="1250" b="0">
                <a:solidFill>
                  <a:srgbClr val="1F2A3A"/>
                </a:solidFill>
                <a:latin typeface="맑은 고딕"/>
                <a:ea typeface="맑은 고딕"/>
                <a:cs typeface="맑은 고딕"/>
              </a:rPr>
              <a:t>실행한다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712466"/>
            <a:ext cx="731520" cy="731520"/>
          </a:xfrm>
          <a:prstGeom prst="ellipse">
            <a:avLst/>
          </a:prstGeom>
          <a:solidFill>
            <a:srgbClr val="FFFFFF"/>
          </a:solidFill>
          <a:ln>
            <a:noFill/>
          </a:ln>
        </p:spPr>
        <p:txBody>
          <a:bodyPr rtlCol="0" anchor="ctr"/>
          <a:lstStyle/>
          <a:p>
            <a:pPr algn="ctr"/>
          </a:p>
        </p:txBody>
      </p:sp>
      <p:pic>
        <p:nvPicPr>
          <p:cNvPr id="28" name="아이콘:device-floppy" descr="device-floppy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저장한다</a:t>
            </a:r>
          </a:p>
          <a:p>
            <a:pPr algn="ctr">
              <a:lnSpc>
                <a:spcPct val="110000"/>
              </a:lnSpc>
              <a:spcAft>
                <a:spcPts val="400"/>
              </a:spcAft>
            </a:pPr>
            <a:r>
              <a:rPr sz="1250" b="0">
                <a:solidFill>
                  <a:srgbClr val="1F2A3A"/>
                </a:solidFill>
                <a:latin typeface="맑은 고딕"/>
                <a:ea typeface="맑은 고딕"/>
                <a:cs typeface="맑은 고딕"/>
              </a:rPr>
              <a:t>입력과 기대 결과를</a:t>
            </a:r>
          </a:p>
          <a:p>
            <a:pPr algn="ctr">
              <a:lnSpc>
                <a:spcPct val="110000"/>
              </a:lnSpc>
              <a:spcAft>
                <a:spcPts val="400"/>
              </a:spcAft>
            </a:pPr>
            <a:r>
              <a:rPr sz="1250" b="0">
                <a:solidFill>
                  <a:srgbClr val="1F2A3A"/>
                </a:solidFill>
                <a:latin typeface="맑은 고딕"/>
                <a:ea typeface="맑은 고딕"/>
                <a:cs typeface="맑은 고딕"/>
              </a:rPr>
              <a:t>다음 실습의</a:t>
            </a:r>
          </a:p>
          <a:p>
            <a:pPr algn="ctr">
              <a:lnSpc>
                <a:spcPct val="110000"/>
              </a:lnSpc>
              <a:spcAft>
                <a:spcPts val="400"/>
              </a:spcAft>
            </a:pPr>
            <a:r>
              <a:rPr sz="1250" b="0">
                <a:solidFill>
                  <a:srgbClr val="1F2A3A"/>
                </a:solidFill>
                <a:latin typeface="맑은 고딕"/>
                <a:ea typeface="맑은 고딕"/>
                <a:cs typeface="맑은 고딕"/>
              </a:rPr>
              <a:t>검증용으로 남긴다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새 기능과 기존 기능의</a:t>
            </a:r>
          </a:p>
          <a:p>
            <a:pPr algn="l">
              <a:lnSpc>
                <a:spcPct val="110000"/>
              </a:lnSpc>
            </a:pPr>
            <a:r>
              <a:rPr sz="3400" b="1">
                <a:solidFill>
                  <a:srgbClr val="13294B"/>
                </a:solidFill>
                <a:latin typeface="맑은 고딕"/>
                <a:ea typeface="맑은 고딕"/>
                <a:cs typeface="맑은 고딕"/>
              </a:rPr>
              <a:t>시나리오 실행과 회귀 검증</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미입력, 거절의 시나리오를 실행해 실패를 고치고 기존 행동이 유지되는지를 확인한다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시나리오와 다시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실패한 시나리오만 원인을 따라가 고치고, 전체 회귀로 긴급 조건과 기존 조건이 함께 통과하는지를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시나리오 실행</a:t>
            </a:r>
          </a:p>
          <a:p>
            <a:pPr algn="l">
              <a:lnSpc>
                <a:spcPct val="110000"/>
              </a:lnSpc>
              <a:spcAft>
                <a:spcPts val="400"/>
              </a:spcAft>
            </a:pPr>
            <a:r>
              <a:rPr sz="1400" b="0">
                <a:solidFill>
                  <a:srgbClr val="1F2A3A"/>
                </a:solidFill>
                <a:latin typeface="맑은 고딕"/>
                <a:ea typeface="맑은 고딕"/>
                <a:cs typeface="맑은 고딕"/>
              </a:rPr>
              <a:t>정상, 긴급, 미입력, 거절의 Given · When · Then을 같은 프로젝트에서 실행한다</a:t>
            </a:r>
          </a:p>
        </p:txBody>
      </p:sp>
      <p:sp>
        <p:nvSpPr>
          <p:cNvPr id="10" name="Rounded Rectangle 9"/>
          <p:cNvSpPr/>
          <p:nvPr/>
        </p:nvSpPr>
        <p:spPr>
          <a:xfrm>
            <a:off x="777240" y="5041392"/>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네 경우</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ug" descr="b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추적과 수정</a:t>
            </a:r>
          </a:p>
          <a:p>
            <a:pPr algn="l">
              <a:lnSpc>
                <a:spcPct val="110000"/>
              </a:lnSpc>
              <a:spcAft>
                <a:spcPts val="400"/>
              </a:spcAft>
            </a:pPr>
            <a:r>
              <a:rPr sz="1400" b="0">
                <a:solidFill>
                  <a:srgbClr val="1F2A3A"/>
                </a:solidFill>
                <a:latin typeface="맑은 고딕"/>
                <a:ea typeface="맑은 고딕"/>
                <a:cs typeface="맑은 고딕"/>
              </a:rPr>
              <a:t>실제로 실패한 시나리오만 골라 원인을 따라가 고치고 다시 실행한다</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실패한 것만</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회귀</a:t>
            </a:r>
          </a:p>
          <a:p>
            <a:pPr algn="l">
              <a:lnSpc>
                <a:spcPct val="110000"/>
              </a:lnSpc>
              <a:spcAft>
                <a:spcPts val="400"/>
              </a:spcAft>
            </a:pPr>
            <a:r>
              <a:rPr sz="1400" b="0">
                <a:solidFill>
                  <a:srgbClr val="1F2A3A"/>
                </a:solidFill>
                <a:latin typeface="맑은 고딕"/>
                <a:ea typeface="맑은 고딕"/>
                <a:cs typeface="맑은 고딕"/>
              </a:rPr>
              <a:t>긴급 조건이 동작하면서 기존의 일반 요청, 보류, 거절 조건이 그대로인지를 확인한다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유지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회차의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더해진것.svg" descr="illust_5825763034559273812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5회차</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6회차</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7회차 ①</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7회차 ②</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사건위장치.svg" descr="illust_2817661661310532639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5~6회차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7회차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7회차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근거자리.svg" descr="illust_4636443171889986622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서버마다 접근 권한을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pic>
        <p:nvPicPr>
          <p:cNvPr id="6" name="삽화:두문.svg" descr="illust_399433852536605508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출력 계약의 검사</a:t>
            </a:r>
          </a:p>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5096002"/>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pic>
        <p:nvPicPr>
          <p:cNvPr id="6" name="삽화:세산출물.svg" descr="illust_6874315836092504546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틀</a:t>
            </a:r>
          </a:p>
          <a:p>
            <a:pPr algn="ctr">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긴급 대응</a:t>
            </a:r>
          </a:p>
          <a:p>
            <a:pPr algn="ctr">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계획</a:t>
            </a:r>
          </a:p>
          <a:p>
            <a:pPr algn="ctr">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구매</a:t>
            </a:r>
          </a:p>
          <a:p>
            <a:pPr algn="ctr">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추천안</a:t>
            </a:r>
          </a:p>
          <a:p>
            <a:pPr algn="ctr">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정비 시간</a:t>
            </a:r>
          </a:p>
          <a:p>
            <a:pPr algn="ctr">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발주안</a:t>
            </a:r>
          </a:p>
          <a:p>
            <a:pPr algn="ctr">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 · 6회차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5회차와 6회차의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후보 원인과 점검 순서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품질 대응 카드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불량 접수 메시지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원인이 미확정이면</a:t>
            </a:r>
          </a:p>
          <a:p>
            <a:pPr algn="l">
              <a:lnSpc>
                <a:spcPct val="110000"/>
              </a:lnSpc>
            </a:pPr>
            <a:r>
              <a:rPr sz="1250" b="1">
                <a:solidFill>
                  <a:srgbClr val="556175"/>
                </a:solidFill>
                <a:latin typeface="맑은 고딕"/>
                <a:ea typeface="맑은 고딕"/>
                <a:cs typeface="맑은 고딕"/>
              </a:rPr>
              <a:t>조사 요청으로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목록</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담당자가 없으면</a:t>
            </a:r>
          </a:p>
          <a:p>
            <a:pPr algn="l">
              <a:lnSpc>
                <a:spcPct val="110000"/>
              </a:lnSpc>
            </a:pPr>
            <a:r>
              <a:rPr sz="1250" b="1">
                <a:solidFill>
                  <a:srgbClr val="556175"/>
                </a:solidFill>
                <a:latin typeface="맑은 고딕"/>
                <a:ea typeface="맑은 고딕"/>
                <a:cs typeface="맑은 고딕"/>
              </a:rPr>
              <a:t>미정</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도구를 조합해 만든 업무 항목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 파일과 Git의 변경 기록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도구가 실패한 항목은</a:t>
            </a:r>
          </a:p>
          <a:p>
            <a:pPr algn="l">
              <a:lnSpc>
                <a:spcPct val="110000"/>
              </a:lnSpc>
            </a:pPr>
            <a:r>
              <a:rPr sz="1250" b="1">
                <a:solidFill>
                  <a:srgbClr val="556175"/>
                </a:solidFill>
                <a:latin typeface="맑은 고딕"/>
                <a:ea typeface="맑은 고딕"/>
                <a:cs typeface="맑은 고딕"/>
              </a:rPr>
              <a:t>미완료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7회차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확인 질문과 명세는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 질문과 전후 기록</a:t>
            </a:r>
          </a:p>
          <a:p>
            <a:pPr algn="ctr">
              <a:lnSpc>
                <a:spcPct val="110000"/>
              </a:lnSpc>
              <a:spcAft>
                <a:spcPts val="400"/>
              </a:spcAft>
            </a:pPr>
            <a:r>
              <a:rPr sz="1350" b="0">
                <a:solidFill>
                  <a:srgbClr val="1F2A3A"/>
                </a:solidFill>
                <a:latin typeface="맑은 고딕"/>
                <a:ea typeface="맑은 고딕"/>
                <a:cs typeface="맑은 고딕"/>
              </a:rPr>
              <a:t>둘째 실습</a:t>
            </a:r>
          </a:p>
          <a:p>
            <a:pPr algn="ctr">
              <a:lnSpc>
                <a:spcPct val="110000"/>
              </a:lnSpc>
              <a:spcAft>
                <a:spcPts val="400"/>
              </a:spcAft>
            </a:pPr>
            <a:r>
              <a:rPr sz="1350" b="0">
                <a:solidFill>
                  <a:srgbClr val="1F2A3A"/>
                </a:solidFill>
                <a:latin typeface="맑은 고딕"/>
                <a:ea typeface="맑은 고딕"/>
                <a:cs typeface="맑은 고딕"/>
              </a:rPr>
              <a:t>빠진 정보를 묻고</a:t>
            </a:r>
          </a:p>
          <a:p>
            <a:pPr algn="ctr">
              <a:lnSpc>
                <a:spcPct val="110000"/>
              </a:lnSpc>
              <a:spcAft>
                <a:spcPts val="400"/>
              </a:spcAft>
            </a:pPr>
            <a:r>
              <a:rPr sz="1350" b="0">
                <a:solidFill>
                  <a:srgbClr val="1F2A3A"/>
                </a:solidFill>
                <a:latin typeface="맑은 고딕"/>
                <a:ea typeface="맑은 고딕"/>
                <a:cs typeface="맑은 고딕"/>
              </a:rPr>
              <a:t>다시 처리한 기록</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spec.md와 기대 결과</a:t>
            </a:r>
          </a:p>
          <a:p>
            <a:pPr algn="ctr">
              <a:lnSpc>
                <a:spcPct val="110000"/>
              </a:lnSpc>
              <a:spcAft>
                <a:spcPts val="400"/>
              </a:spcAft>
            </a:pPr>
            <a:r>
              <a:rPr sz="1350" b="0">
                <a:solidFill>
                  <a:srgbClr val="1F2A3A"/>
                </a:solidFill>
                <a:latin typeface="맑은 고딕"/>
                <a:ea typeface="맑은 고딕"/>
                <a:cs typeface="맑은 고딕"/>
              </a:rPr>
              <a:t>셋째 실습</a:t>
            </a:r>
          </a:p>
          <a:p>
            <a:pPr algn="ctr">
              <a:lnSpc>
                <a:spcPct val="110000"/>
              </a:lnSpc>
              <a:spcAft>
                <a:spcPts val="400"/>
              </a:spcAft>
            </a:pPr>
            <a:r>
              <a:rPr sz="1350" b="0">
                <a:solidFill>
                  <a:srgbClr val="1F2A3A"/>
                </a:solidFill>
                <a:latin typeface="맑은 고딕"/>
                <a:ea typeface="맑은 고딕"/>
                <a:cs typeface="맑은 고딕"/>
              </a:rPr>
              <a:t>갱신한 명세와</a:t>
            </a:r>
          </a:p>
          <a:p>
            <a:pPr algn="ctr">
              <a:lnSpc>
                <a:spcPct val="110000"/>
              </a:lnSpc>
              <a:spcAft>
                <a:spcPts val="400"/>
              </a:spcAft>
            </a:pPr>
            <a:r>
              <a:rPr sz="1350" b="0">
                <a:solidFill>
                  <a:srgbClr val="1F2A3A"/>
                </a:solidFill>
                <a:latin typeface="맑은 고딕"/>
                <a:ea typeface="맑은 고딕"/>
                <a:cs typeface="맑은 고딕"/>
              </a:rPr>
              <a:t>저장한 입력, 기대값</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시나리오와 회귀 기록</a:t>
            </a:r>
          </a:p>
          <a:p>
            <a:pPr algn="ctr">
              <a:lnSpc>
                <a:spcPct val="110000"/>
              </a:lnSpc>
              <a:spcAft>
                <a:spcPts val="400"/>
              </a:spcAft>
            </a:pPr>
            <a:r>
              <a:rPr sz="1350" b="0">
                <a:solidFill>
                  <a:srgbClr val="1F2A3A"/>
                </a:solidFill>
                <a:latin typeface="맑은 고딕"/>
                <a:ea typeface="맑은 고딕"/>
                <a:cs typeface="맑은 고딕"/>
              </a:rPr>
              <a:t>넷째 실습</a:t>
            </a:r>
          </a:p>
          <a:p>
            <a:pPr algn="ctr">
              <a:lnSpc>
                <a:spcPct val="110000"/>
              </a:lnSpc>
              <a:spcAft>
                <a:spcPts val="400"/>
              </a:spcAft>
            </a:pPr>
            <a:r>
              <a:rPr sz="1350" b="0">
                <a:solidFill>
                  <a:srgbClr val="1F2A3A"/>
                </a:solidFill>
                <a:latin typeface="맑은 고딕"/>
                <a:ea typeface="맑은 고딕"/>
                <a:cs typeface="맑은 고딕"/>
              </a:rPr>
              <a:t>네 경우의 실행과</a:t>
            </a:r>
          </a:p>
          <a:p>
            <a:pPr algn="ctr">
              <a:lnSpc>
                <a:spcPct val="110000"/>
              </a:lnSpc>
              <a:spcAft>
                <a:spcPts val="400"/>
              </a:spcAft>
            </a:pPr>
            <a:r>
              <a:rPr sz="1350" b="0">
                <a:solidFill>
                  <a:srgbClr val="1F2A3A"/>
                </a:solidFill>
                <a:latin typeface="맑은 고딕"/>
                <a:ea typeface="맑은 고딕"/>
                <a:cs typeface="맑은 고딕"/>
              </a:rPr>
              <a:t>전체 재실행의 결과</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repeat" descr="repea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변경의 기준</a:t>
            </a:r>
          </a:p>
          <a:p>
            <a:pPr algn="ctr">
              <a:lnSpc>
                <a:spcPct val="110000"/>
              </a:lnSpc>
              <a:spcAft>
                <a:spcPts val="400"/>
              </a:spcAft>
            </a:pPr>
            <a:r>
              <a:rPr sz="1350" b="0">
                <a:solidFill>
                  <a:srgbClr val="1F2A3A"/>
                </a:solidFill>
                <a:latin typeface="맑은 고딕"/>
                <a:ea typeface="맑은 고딕"/>
                <a:cs typeface="맑은 고딕"/>
              </a:rPr>
              <a:t>요구가 또 바뀌면</a:t>
            </a:r>
          </a:p>
          <a:p>
            <a:pPr algn="ctr">
              <a:lnSpc>
                <a:spcPct val="110000"/>
              </a:lnSpc>
              <a:spcAft>
                <a:spcPts val="400"/>
              </a:spcAft>
            </a:pPr>
            <a:r>
              <a:rPr sz="1350" b="0">
                <a:solidFill>
                  <a:srgbClr val="1F2A3A"/>
                </a:solidFill>
                <a:latin typeface="맑은 고딕"/>
                <a:ea typeface="맑은 고딕"/>
                <a:cs typeface="맑은 고딕"/>
              </a:rPr>
              <a:t>이 시나리오를</a:t>
            </a:r>
          </a:p>
          <a:p>
            <a:pPr algn="ctr">
              <a:lnSpc>
                <a:spcPct val="110000"/>
              </a:lnSpc>
              <a:spcAft>
                <a:spcPts val="400"/>
              </a:spcAft>
            </a:pPr>
            <a:r>
              <a:rPr sz="1350" b="0">
                <a:solidFill>
                  <a:srgbClr val="1F2A3A"/>
                </a:solidFill>
                <a:latin typeface="맑은 고딕"/>
                <a:ea typeface="맑은 고딕"/>
                <a:cs typeface="맑은 고딕"/>
              </a:rPr>
              <a:t>다시 실행한다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일을 맡을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품질 대응 카드는 조사 요청으로</a:t>
            </a:r>
          </a:p>
          <a:p>
            <a:pPr algn="l">
              <a:lnSpc>
                <a:spcPct val="110000"/>
              </a:lnSpc>
              <a:spcAft>
                <a:spcPts val="400"/>
              </a:spcAft>
            </a:pPr>
            <a:r>
              <a:rPr sz="1400" b="0">
                <a:solidFill>
                  <a:srgbClr val="1F2A3A"/>
                </a:solidFill>
                <a:latin typeface="맑은 고딕"/>
                <a:ea typeface="맑은 고딕"/>
                <a:cs typeface="맑은 고딕"/>
              </a:rPr>
              <a:t>• 작업 목록은 담당자의 다음 행동으로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7회차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7회차</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출력 계약의 검사,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영문 용어의 정식 명칭, 그리고 그 용어가 에이전트를 믿고 쓰는 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맡은 자리</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정해진 지점에 넣는 사람의 결정</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가드레일</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Guardrail</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대기로 가기 전의 자동 검사</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Spec-Driven Development</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Acceptance Criteria</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다 되었는지를 가르는 조건</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BDD</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Behavior-Driven Development</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Gherkin</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Given · When · Then 서식</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시나리오를 적는 서식</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 시험</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Regression Test</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지금 내릴 수 있는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 판정할 수 있는 문장과 없는 문장, 통과가 알려 주는 범위를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