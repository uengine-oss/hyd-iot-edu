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8회차에는 설비 이상 대응 프로세스를 그려 배포했습니다. 오늘은 그 프로세스를 실제 경보로 실행하면서, 처리 건이 어디에서 기다리고 어떻게 끝났는지를 상태와 기록으로 읽습니다. 네 개의 실습에서 승인과 거절과 지연의 경우를 실행하고, 잘못된 설정을 찾아 고친 뒤 다시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8회차에 그린 긴급 대응 프로세스의 그림 하나가 여러 경우를 담고 있습니다. 승인하면 냉각 명령, 재관측, 작업지시 등록, 결과 보고를 거쳐 끝에 닿습니다. 거절하면 냉각 명령으로 가는 선을 지나지 않고 거절 종결에 닿습니다. 운전원이 응답하지 않으면 알림 가지만 알림에 닿아 끝나고, 운전원 승인은 열린 채로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기한이 지나도록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없으며 결과 보고의 값은 거절을 뜻하는 반려로 적혔습니다.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8회차에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처리 건이 실제로 지나간 순서입니다. 지식 그래프와 SOP와 업무 DB를 읽는 일은 첫 행인 에이전트 단계 안에서 끝났습니다. 프로세스는 그 결과를 운전원 승인에 넘기고, 승인된 조치를 냉각 명령에, 명령의 완료를 재관측에 넘겼습니다. 에이전트가 무엇을 읽을지는 에이전트가 정하지만, 그 결과가 어떤 순서로 누구에게 가는지는 프로세스가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실행하면 기록이 쌓입니다. 승인된 긴급 대응 처리 건의 단계별 시각입니다. 에이전트의 단계는 15시 22분 46초에 시작해 24분 8초에 끝났고, 곧바로 운전원 승인 단계가 열렸습니다. 이런 기록으로 업무가 어디까지 진행되었고 어디서 기다리고 있는지를 지켜보는 일을 모니터링이라고 합니다. 끝 시각에서 시작 시각을 빼면 그 단계에 걸린 시간이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두 가지 기록으로 남습니다. 처리 기록은 처리 건 한 건 안에서 일어난 일을 차례로 적은 것으로, 승인이 접수되고 다음 단계로 전달될 때와 결과 보고가 나갈 때 한 줄씩 남습니다. 감사 기록, Audit Log는 누가 무엇을 결정했는지를 나중에 확인하려고 처리 건 밖의 일까지 적는 기록입니다. 처리 건이 열린 일과 정의가 배포된 일, 그리고 승인할 역할이 아닌 쪽이 승인을 시도해 거부된 일이 여기에 남습니다. 처리 건 하나를 되짚을 때는 두 기록을 함께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기록을 읽은 긴급 대응 처리 건 한 건을 경보에서 끝까지 한 줄로 놓았습니다. 이 경보가 처리 건을 열었고, 에이전트의 진단과 제안, 운전원의 승인, 냉각 명령, 재관측, 작업지시 등록, 결과 보고를 거쳐 끝났습니다. 아래의 식별자는 자리마다 남은 기록의 이름입니다. 작업지시 WO-1010-1198에서 왼쪽으로 거슬러 가면, 그것이 어느 설비 명령 뒤에 등록되었고, 그 명령을 누가 승인했으며, 승인된 추천안이 어느 판단의 것이고 어느 경보에서 시작되었는지를 차례로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건에서 지식과 에이전트와 프로세스가 맡는 것을 한 그림으로 나누어 보겠습니다. 지식은 에이전트에게 관계와 기준이라는 재료를 건넵니다. 에이전트는 그것을 읽어 만든 추천안 한 건을 프로세스에 넘깁니다. 프로세스는 그 추천안을 사람의 승인과 시스템의 실행으로 잇고, 누가 무엇을 결정하고 실행했는지를 기록으로 남깁니다. 영역 사이를 넘어가는 것은 두 가지뿐이어서, 한 영역을 고칠 때 다른 영역은 그대로 둘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가려 두는 쓸모는 문제가 생겼을 때 드러납니다. 기준값이 틀렸거나 승인자가 맞지 않으면 지식을 봅니다. 읽어야 할 값을 읽지 않았거나 결과 항목의 이름이 다르면 스킬과 도구 연결, 명세를 봅니다. 승인 없이 다음 단계가 열렸거나 끝났는데 결과를 알 수 없으면 프로세스 정의와 끝 이벤트를 봅니다. 증상에서 영역을 먼저 가리면 고치지 않아도 될 곳을 건드리지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8회차에 배포한 프로세스를 실제로 실행합니다. 쿨러 열화를 일으켜 처리 건이 열리는 것을 보고, 에이전트의 추천안이 나온 뒤 운전원 승인에서 기다리는 상태를 확인합니다. 승인한 뒤에는 명령과 재관측을 거쳐 어느 끝 이벤트에 닿았는지를 읽습니다. 단계마다의 담당과 상태를 적어 두고,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승인하지 않은 두 경우를 실행해 견줍니다. 추천안을 거절하면 냉각 명령 단계는 CANCELLED로 남고 처리 건은 거절 종결에 닿아 닫힙니다. 응답하지 않고 기다리면 승인 지연 알림만 나가고 처리 건은 RUNNING인 채로 승인을 계속 기다립니다. 끝으로 두 처리 건의 기록을 나란히 놓고, 설비 명령이 나가지 않았다는 것을 어느 기록으로 알 수 있는지를 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실습은 두 부분입니다. 먼저 끝난 처리 건의 작업과 승인과 실행 기록을 읽어, 에이전트의 추천과 운전원의 승인이 어떤 값으로 다음 단계에 전달되었는지를 따라갑니다. 그런 다음 작업을 맡을 쪽과 갈림의 조건이 잘못된 프로세스 정의를 사전 검사에 넣어 어느 항목이 문제로 잡히는지를 봅니다. 검사가 가리킨 설정을 바로잡으면 고친 정의가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고친 정의를 다시 실행합니다. 사전 검사를 다시 거쳐 새 판본으로 등록하고 배포합니다. 쿨러 성능 저하 경보로 처리 건을 열어 승인한 경우에는 정상으로 끝나는지를, 거절한 경우에는 설비 명령 없이 거절 종결에 닿아 닫히는지를 확인합니다. 수업을 마치기 전에 쿨러 성능 저하 경보를 받는 흐름을 처음부터 배포되어 있던 기준 흐름으로 되돌려, 다음 경보가 기준 흐름에서 열리게 합니다. 끝으로 완성한 BPMN 파일과 처리 건의 결과를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나온 용어의 정식 명칭을 한곳에 모았습니다. 이 넷과 함께 승인 대기, 처리 건의 상태와 단계의 상태, 처리 건을 잇는 식별자가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그림과 기록으로 처리 건의 상태를 읽는 문항입니다. 승인 지연 타이머가 중단형인지 비중단형인지, 그리고 처리 건의 상태가 무엇인지를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4번은 알림 가지의 끝과 처리 건의 끝을 혼동한 것입니다. 둘째 문항의 2번은 COMPLETED를 성공으로 읽은 것입니다. 셋째 문항의 1번과 2번은 결말을 알려 주는 기록을 시간의 근거로 삼은 것입니다.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9.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5.png"/><Relationship Id="rId4" Type="http://schemas.openxmlformats.org/officeDocument/2006/relationships/image" Target="../media/image5.png"/><Relationship Id="rId5" Type="http://schemas.openxmlformats.org/officeDocument/2006/relationships/image" Target="../media/image16.png"/><Relationship Id="rId6"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6.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22.png"/><Relationship Id="rId7"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오프라인 9회차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이벤트로 검증하는</a:t>
            </a:r>
          </a:p>
          <a:p>
            <a:pPr algn="l">
              <a:lnSpc>
                <a:spcPct val="110000"/>
              </a:lnSpc>
            </a:pPr>
            <a:r>
              <a:rPr sz="4000" b="1">
                <a:solidFill>
                  <a:srgbClr val="FFFFFF"/>
                </a:solidFill>
                <a:latin typeface="맑은 고딕"/>
                <a:ea typeface="맑은 고딕"/>
                <a:cs typeface="맑은 고딕"/>
              </a:rPr>
              <a:t>프로세스의 실행과 안전성</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처리 건의 상태와 실행 기록, 판본, 책임의 구분</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player-play" descr="player-pla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hourglass" descr="hourglass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history" descr="histor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중인 처리 건의 상태와 기록을 읽어 승인, 거절, 지연을 구분하고, 잘못된 설정을 고친 정의를 다시 배포한다.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10587"/>
            <a:ext cx="731520" cy="731520"/>
          </a:xfrm>
          <a:prstGeom prst="ellipse">
            <a:avLst/>
          </a:prstGeom>
          <a:solidFill>
            <a:srgbClr val="E7F3FD"/>
          </a:solidFill>
          <a:ln>
            <a:noFill/>
          </a:ln>
        </p:spPr>
        <p:txBody>
          <a:bodyPr rtlCol="0" anchor="ctr"/>
          <a:lstStyle/>
          <a:p>
            <a:pPr algn="ctr"/>
          </a:p>
        </p:txBody>
      </p:sp>
      <p:pic>
        <p:nvPicPr>
          <p:cNvPr id="8" name="아이콘:hourglass" descr="hourglass_13294B_1.6.png"/>
          <p:cNvPicPr>
            <a:picLocks noChangeAspect="1"/>
          </p:cNvPicPr>
          <p:nvPr/>
        </p:nvPicPr>
        <p:blipFill>
          <a:blip r:embed="rId3"/>
          <a:stretch>
            <a:fillRect/>
          </a:stretch>
        </p:blipFill>
        <p:spPr>
          <a:xfrm>
            <a:off x="930859" y="2564206"/>
            <a:ext cx="424281" cy="424281"/>
          </a:xfrm>
          <a:prstGeom prst="rect">
            <a:avLst/>
          </a:prstGeom>
        </p:spPr>
      </p:pic>
      <p:sp>
        <p:nvSpPr>
          <p:cNvPr id="9" name="TextBox 8"/>
          <p:cNvSpPr txBox="1"/>
          <p:nvPr/>
        </p:nvSpPr>
        <p:spPr>
          <a:xfrm>
            <a:off x="713232"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상태</a:t>
            </a:r>
          </a:p>
          <a:p>
            <a:pPr algn="l">
              <a:lnSpc>
                <a:spcPct val="110000"/>
              </a:lnSpc>
              <a:spcAft>
                <a:spcPts val="400"/>
              </a:spcAft>
            </a:pPr>
            <a:r>
              <a:rPr sz="1350" b="0">
                <a:solidFill>
                  <a:srgbClr val="1F2A3A"/>
                </a:solidFill>
                <a:latin typeface="맑은 고딕"/>
                <a:ea typeface="맑은 고딕"/>
                <a:cs typeface="맑은 고딕"/>
              </a:rPr>
              <a:t>토큰과 단계의 상태로 승인 대기, 거절, 승인 지연을 구분한다</a:t>
            </a:r>
          </a:p>
        </p:txBody>
      </p:sp>
      <p:sp>
        <p:nvSpPr>
          <p:cNvPr id="10" name="Rounded Rectangle 9"/>
          <p:cNvSpPr/>
          <p:nvPr/>
        </p:nvSpPr>
        <p:spPr>
          <a:xfrm>
            <a:off x="777240" y="534352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상태</a:t>
            </a:r>
          </a:p>
        </p:txBody>
      </p:sp>
      <p:sp>
        <p:nvSpPr>
          <p:cNvPr id="12" name="Rounded Rectangle 11"/>
          <p:cNvSpPr/>
          <p:nvPr/>
        </p:nvSpPr>
        <p:spPr>
          <a:xfrm>
            <a:off x="3390823"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410587"/>
            <a:ext cx="731520" cy="731520"/>
          </a:xfrm>
          <a:prstGeom prst="ellipse">
            <a:avLst/>
          </a:prstGeom>
          <a:solidFill>
            <a:srgbClr val="E7F3FD"/>
          </a:solidFill>
          <a:ln>
            <a:noFill/>
          </a:ln>
        </p:spPr>
        <p:txBody>
          <a:bodyPr rtlCol="0" anchor="ctr"/>
          <a:lstStyle/>
          <a:p>
            <a:pPr algn="ctr"/>
          </a:p>
        </p:txBody>
      </p:sp>
      <p:pic>
        <p:nvPicPr>
          <p:cNvPr id="14" name="아이콘:history" descr="history_13294B_1.6.png"/>
          <p:cNvPicPr>
            <a:picLocks noChangeAspect="1"/>
          </p:cNvPicPr>
          <p:nvPr/>
        </p:nvPicPr>
        <p:blipFill>
          <a:blip r:embed="rId4"/>
          <a:stretch>
            <a:fillRect/>
          </a:stretch>
        </p:blipFill>
        <p:spPr>
          <a:xfrm>
            <a:off x="3773043" y="2564206"/>
            <a:ext cx="424281" cy="424281"/>
          </a:xfrm>
          <a:prstGeom prst="rect">
            <a:avLst/>
          </a:prstGeom>
        </p:spPr>
      </p:pic>
      <p:sp>
        <p:nvSpPr>
          <p:cNvPr id="15" name="TextBox 14"/>
          <p:cNvSpPr txBox="1"/>
          <p:nvPr/>
        </p:nvSpPr>
        <p:spPr>
          <a:xfrm>
            <a:off x="3555415"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 기록</a:t>
            </a:r>
          </a:p>
          <a:p>
            <a:pPr algn="l">
              <a:lnSpc>
                <a:spcPct val="110000"/>
              </a:lnSpc>
              <a:spcAft>
                <a:spcPts val="400"/>
              </a:spcAft>
            </a:pPr>
            <a:r>
              <a:rPr sz="1350" b="0">
                <a:solidFill>
                  <a:srgbClr val="1F2A3A"/>
                </a:solidFill>
                <a:latin typeface="맑은 고딕"/>
                <a:ea typeface="맑은 고딕"/>
                <a:cs typeface="맑은 고딕"/>
              </a:rPr>
              <a:t>프로세스 변수, 단계의 시각, 처리 기록과 감사 기록으로 값과 결정이 지나간 길을 따라간다</a:t>
            </a:r>
          </a:p>
        </p:txBody>
      </p:sp>
      <p:sp>
        <p:nvSpPr>
          <p:cNvPr id="16" name="Rounded Rectangle 15"/>
          <p:cNvSpPr/>
          <p:nvPr/>
        </p:nvSpPr>
        <p:spPr>
          <a:xfrm>
            <a:off x="3619423" y="534352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
        <p:nvSpPr>
          <p:cNvPr id="18" name="Rounded Rectangle 17"/>
          <p:cNvSpPr/>
          <p:nvPr/>
        </p:nvSpPr>
        <p:spPr>
          <a:xfrm>
            <a:off x="6233007" y="2209419"/>
            <a:ext cx="2567863" cy="35638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410587"/>
            <a:ext cx="731520" cy="731520"/>
          </a:xfrm>
          <a:prstGeom prst="ellipse">
            <a:avLst/>
          </a:prstGeom>
          <a:solidFill>
            <a:srgbClr val="E7F3FD"/>
          </a:solidFill>
          <a:ln>
            <a:noFill/>
          </a:ln>
        </p:spPr>
        <p:txBody>
          <a:bodyPr rtlCol="0" anchor="ctr"/>
          <a:lstStyle/>
          <a:p>
            <a:pPr algn="ctr"/>
          </a:p>
        </p:txBody>
      </p:sp>
      <p:pic>
        <p:nvPicPr>
          <p:cNvPr id="20" name="아이콘:versions" descr="versions_13294B_1.6.png"/>
          <p:cNvPicPr>
            <a:picLocks noChangeAspect="1"/>
          </p:cNvPicPr>
          <p:nvPr/>
        </p:nvPicPr>
        <p:blipFill>
          <a:blip r:embed="rId5"/>
          <a:stretch>
            <a:fillRect/>
          </a:stretch>
        </p:blipFill>
        <p:spPr>
          <a:xfrm>
            <a:off x="6615226" y="2564206"/>
            <a:ext cx="424281" cy="424281"/>
          </a:xfrm>
          <a:prstGeom prst="rect">
            <a:avLst/>
          </a:prstGeom>
        </p:spPr>
      </p:pic>
      <p:sp>
        <p:nvSpPr>
          <p:cNvPr id="21" name="TextBox 20"/>
          <p:cNvSpPr txBox="1"/>
          <p:nvPr/>
        </p:nvSpPr>
        <p:spPr>
          <a:xfrm>
            <a:off x="6397599"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판본과 책임</a:t>
            </a:r>
          </a:p>
          <a:p>
            <a:pPr algn="l">
              <a:lnSpc>
                <a:spcPct val="110000"/>
              </a:lnSpc>
              <a:spcAft>
                <a:spcPts val="400"/>
              </a:spcAft>
            </a:pPr>
            <a:r>
              <a:rPr sz="1350" b="0">
                <a:solidFill>
                  <a:srgbClr val="1F2A3A"/>
                </a:solidFill>
                <a:latin typeface="맑은 고딕"/>
                <a:ea typeface="맑은 고딕"/>
                <a:cs typeface="맑은 고딕"/>
              </a:rPr>
              <a:t>• 처리 건이 어느 판본으로 열렸는지를 기록에서 읽는다</a:t>
            </a:r>
          </a:p>
          <a:p>
            <a:pPr algn="l">
              <a:lnSpc>
                <a:spcPct val="110000"/>
              </a:lnSpc>
              <a:spcAft>
                <a:spcPts val="400"/>
              </a:spcAft>
            </a:pPr>
            <a:r>
              <a:rPr sz="1350" b="0">
                <a:solidFill>
                  <a:srgbClr val="1F2A3A"/>
                </a:solidFill>
                <a:latin typeface="맑은 고딕"/>
                <a:ea typeface="맑은 고딕"/>
                <a:cs typeface="맑은 고딕"/>
              </a:rPr>
              <a:t>• 증상이 지식, 에이전트, 프로세스 가운데 어느 쪽의 몫인지 가린다</a:t>
            </a:r>
          </a:p>
        </p:txBody>
      </p:sp>
      <p:sp>
        <p:nvSpPr>
          <p:cNvPr id="22" name="Rounded Rectangle 21"/>
          <p:cNvSpPr/>
          <p:nvPr/>
        </p:nvSpPr>
        <p:spPr>
          <a:xfrm>
            <a:off x="6461607" y="5343525"/>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통제</a:t>
            </a:r>
          </a:p>
        </p:txBody>
      </p:sp>
      <p:sp>
        <p:nvSpPr>
          <p:cNvPr id="24" name="Rounded Rectangle 23"/>
          <p:cNvSpPr/>
          <p:nvPr/>
        </p:nvSpPr>
        <p:spPr>
          <a:xfrm>
            <a:off x="9075191" y="2209419"/>
            <a:ext cx="2567863" cy="35638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410587"/>
            <a:ext cx="731520" cy="731520"/>
          </a:xfrm>
          <a:prstGeom prst="ellipse">
            <a:avLst/>
          </a:prstGeom>
          <a:solidFill>
            <a:srgbClr val="5CB8F2"/>
          </a:solidFill>
          <a:ln>
            <a:noFill/>
          </a:ln>
        </p:spPr>
        <p:txBody>
          <a:bodyPr rtlCol="0" anchor="ctr"/>
          <a:lstStyle/>
          <a:p>
            <a:pPr algn="ctr"/>
          </a:p>
        </p:txBody>
      </p:sp>
      <p:pic>
        <p:nvPicPr>
          <p:cNvPr id="26" name="아이콘:tool" descr="tool_13294B_1.6.png"/>
          <p:cNvPicPr>
            <a:picLocks noChangeAspect="1"/>
          </p:cNvPicPr>
          <p:nvPr/>
        </p:nvPicPr>
        <p:blipFill>
          <a:blip r:embed="rId6"/>
          <a:stretch>
            <a:fillRect/>
          </a:stretch>
        </p:blipFill>
        <p:spPr>
          <a:xfrm>
            <a:off x="9457410" y="2564206"/>
            <a:ext cx="424281" cy="424281"/>
          </a:xfrm>
          <a:prstGeom prst="rect">
            <a:avLst/>
          </a:prstGeom>
        </p:spPr>
      </p:pic>
      <p:sp>
        <p:nvSpPr>
          <p:cNvPr id="27" name="TextBox 26"/>
          <p:cNvSpPr txBox="1"/>
          <p:nvPr/>
        </p:nvSpPr>
        <p:spPr>
          <a:xfrm>
            <a:off x="9239783" y="3233547"/>
            <a:ext cx="2238679" cy="2036826"/>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실행과 수정</a:t>
            </a:r>
          </a:p>
          <a:p>
            <a:pPr algn="l">
              <a:lnSpc>
                <a:spcPct val="110000"/>
              </a:lnSpc>
              <a:spcAft>
                <a:spcPts val="400"/>
              </a:spcAft>
            </a:pPr>
            <a:r>
              <a:rPr sz="1350" b="0">
                <a:solidFill>
                  <a:srgbClr val="1F2A3A"/>
                </a:solidFill>
                <a:latin typeface="맑은 고딕"/>
                <a:ea typeface="맑은 고딕"/>
                <a:cs typeface="맑은 고딕"/>
              </a:rPr>
              <a:t>직접 배포한 프로세스를 승인, 거절, 지연의 경우로 실행하고 잘못된 설정을 고쳐 다시 배포한다</a:t>
            </a:r>
          </a:p>
        </p:txBody>
      </p:sp>
      <p:sp>
        <p:nvSpPr>
          <p:cNvPr id="28" name="Rounded Rectangle 27"/>
          <p:cNvSpPr/>
          <p:nvPr/>
        </p:nvSpPr>
        <p:spPr>
          <a:xfrm>
            <a:off x="9303791" y="534352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4352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실행 중인 프로세스의 통제: 상태, 기록, 책임</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이벤트로 프로세스 실행하기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거절과 승인 지연의 처리</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실행 기록의 추적과 잘못된 설정의 수정</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수정한 프로세스의 재배포와 재실행</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실행 중인 프로세스의 통제:</a:t>
            </a:r>
          </a:p>
          <a:p>
            <a:pPr algn="l">
              <a:lnSpc>
                <a:spcPct val="110000"/>
              </a:lnSpc>
            </a:pPr>
            <a:r>
              <a:rPr sz="3400" b="1">
                <a:solidFill>
                  <a:srgbClr val="13294B"/>
                </a:solidFill>
                <a:latin typeface="맑은 고딕"/>
                <a:ea typeface="맑은 고딕"/>
                <a:cs typeface="맑은 고딕"/>
              </a:rPr>
              <a:t>상태, 기록, 책임</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처리 건이 어디에서 기다리고 어떻게 끝났는지를 읽고, 문제가 생긴 곳을 가리는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긴급 대응 프로세스의 세 가지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프로세스는 승인하면 끝에, 거절하면 거절 종결에 닿고, 응답이 없으면 알림 가지만 먼저 끝난다.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a:t>
            </a:r>
          </a:p>
          <a:p>
            <a:pPr algn="l">
              <a:lnSpc>
                <a:spcPct val="110000"/>
              </a:lnSpc>
              <a:spcAft>
                <a:spcPts val="400"/>
              </a:spcAft>
            </a:pPr>
            <a:r>
              <a:rPr sz="1400" b="0">
                <a:solidFill>
                  <a:srgbClr val="1F2A3A"/>
                </a:solidFill>
                <a:latin typeface="맑은 고딕"/>
                <a:ea typeface="맑은 고딕"/>
                <a:cs typeface="맑은 고딕"/>
              </a:rPr>
              <a:t>• 승인? 게이트웨이에서 냉각 명령으로 간다</a:t>
            </a:r>
          </a:p>
          <a:p>
            <a:pPr algn="l">
              <a:lnSpc>
                <a:spcPct val="110000"/>
              </a:lnSpc>
              <a:spcAft>
                <a:spcPts val="400"/>
              </a:spcAft>
            </a:pPr>
            <a:r>
              <a:rPr sz="1400" b="0">
                <a:solidFill>
                  <a:srgbClr val="1F2A3A"/>
                </a:solidFill>
                <a:latin typeface="맑은 고딕"/>
                <a:ea typeface="맑은 고딕"/>
                <a:cs typeface="맑은 고딕"/>
              </a:rPr>
              <a:t>• 재관측과 유온 정상? 게이트웨이를 지난다</a:t>
            </a:r>
          </a:p>
          <a:p>
            <a:pPr algn="l">
              <a:lnSpc>
                <a:spcPct val="110000"/>
              </a:lnSpc>
              <a:spcAft>
                <a:spcPts val="400"/>
              </a:spcAft>
            </a:pPr>
            <a:r>
              <a:rPr sz="1400" b="0">
                <a:solidFill>
                  <a:srgbClr val="1F2A3A"/>
                </a:solidFill>
                <a:latin typeface="맑은 고딕"/>
                <a:ea typeface="맑은 고딕"/>
                <a:cs typeface="맑은 고딕"/>
              </a:rPr>
              <a:t>• 작업지시 등록, 결과 보고: 정상을 거친다</a:t>
            </a:r>
          </a:p>
        </p:txBody>
      </p:sp>
      <p:sp>
        <p:nvSpPr>
          <p:cNvPr id="10" name="Rounded Rectangle 9"/>
          <p:cNvSpPr/>
          <p:nvPr/>
        </p:nvSpPr>
        <p:spPr>
          <a:xfrm>
            <a:off x="777240" y="536676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ban" descr="ban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 승인? 게이트웨이에서 결과 보고: 거절로 간다</a:t>
            </a:r>
          </a:p>
          <a:p>
            <a:pPr algn="l">
              <a:lnSpc>
                <a:spcPct val="110000"/>
              </a:lnSpc>
              <a:spcAft>
                <a:spcPts val="400"/>
              </a:spcAft>
            </a:pPr>
            <a:r>
              <a:rPr sz="1400" b="0">
                <a:solidFill>
                  <a:srgbClr val="1F2A3A"/>
                </a:solidFill>
                <a:latin typeface="맑은 고딕"/>
                <a:ea typeface="맑은 고딕"/>
                <a:cs typeface="맑은 고딕"/>
              </a:rPr>
              <a:t>• 냉각 명령으로 가는 선은 지나지 않는다</a:t>
            </a:r>
          </a:p>
        </p:txBody>
      </p:sp>
      <p:sp>
        <p:nvSpPr>
          <p:cNvPr id="16" name="Rounded Rectangle 15"/>
          <p:cNvSpPr/>
          <p:nvPr/>
        </p:nvSpPr>
        <p:spPr>
          <a:xfrm>
            <a:off x="4566818" y="536676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hourglass" descr="hourglas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 승인 지연 타이머가 승인 지연 알림을 연다</a:t>
            </a:r>
          </a:p>
          <a:p>
            <a:pPr algn="l">
              <a:lnSpc>
                <a:spcPct val="110000"/>
              </a:lnSpc>
              <a:spcAft>
                <a:spcPts val="400"/>
              </a:spcAft>
            </a:pPr>
            <a:r>
              <a:rPr sz="1400" b="0">
                <a:solidFill>
                  <a:srgbClr val="1F2A3A"/>
                </a:solidFill>
                <a:latin typeface="맑은 고딕"/>
                <a:ea typeface="맑은 고딕"/>
                <a:cs typeface="맑은 고딕"/>
              </a:rPr>
              <a:t>• 운전원 승인은 열린 채로 남는다</a:t>
            </a:r>
          </a:p>
        </p:txBody>
      </p:sp>
      <p:sp>
        <p:nvSpPr>
          <p:cNvPr id="22" name="Rounded Rectangle 21"/>
          <p:cNvSpPr/>
          <p:nvPr/>
        </p:nvSpPr>
        <p:spPr>
          <a:xfrm>
            <a:off x="8356396" y="536676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알림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삽화:흐름_토큰_승인대기.svg" descr="illust_803789814118098765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pic>
        <p:nvPicPr>
          <p:cNvPr id="6" name="삽화:흐름_토큰_둘.svg" descr="illust_8649597606866644971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거절(기록의 값은 반려)</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승인된 조치 방법 chosen_skill은 운전원 승인이, work_order는 작업지시 등록이 만들었다.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에이전트의 결과를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지식과 값을 읽는 일은 에이전트 단계 안에서 끝나고, 프로세스는 그 결과를 승인, 명령, 재관측으로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작업</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받은 것</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낸 것</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 ALT-hyd01-0026-767a</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원인 쿨러 핀 오염</a:t>
            </a:r>
          </a:p>
          <a:p>
            <a:pPr algn="l">
              <a:lnSpc>
                <a:spcPct val="110000"/>
              </a:lnSpc>
            </a:pPr>
            <a:r>
              <a:rPr sz="1250" b="1">
                <a:solidFill>
                  <a:srgbClr val="556175"/>
                </a:solidFill>
                <a:latin typeface="맑은 고딕"/>
                <a:ea typeface="맑은 고딕"/>
                <a:cs typeface="맑은 고딕"/>
              </a:rPr>
              <a:t>추천 SOP-COOL-11</a:t>
            </a:r>
          </a:p>
        </p:txBody>
      </p:sp>
      <p:sp>
        <p:nvSpPr>
          <p:cNvPr id="14" name="Rounded Rectangle 13"/>
          <p:cNvSpPr/>
          <p:nvPr/>
        </p:nvSpPr>
        <p:spPr>
          <a:xfrm>
            <a:off x="548640" y="2782824"/>
            <a:ext cx="11094415" cy="656843"/>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추천안(추천 조치와 대안)</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승인</a:t>
            </a:r>
          </a:p>
          <a:p>
            <a:pPr algn="l">
              <a:lnSpc>
                <a:spcPct val="110000"/>
              </a:lnSpc>
            </a:pPr>
            <a:r>
              <a:rPr sz="1250" b="1">
                <a:solidFill>
                  <a:srgbClr val="1A6FC4"/>
                </a:solidFill>
                <a:latin typeface="맑은 고딕"/>
                <a:ea typeface="맑은 고딕"/>
                <a:cs typeface="맑은 고딕"/>
              </a:rPr>
              <a:t>팬 속도 100 %</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승인된 조치</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CMD-1010-0001-01d1</a:t>
            </a:r>
          </a:p>
          <a:p>
            <a:pPr algn="l">
              <a:lnSpc>
                <a:spcPct val="110000"/>
              </a:lnSpc>
            </a:pPr>
            <a:r>
              <a:rPr sz="1250" b="1">
                <a:solidFill>
                  <a:srgbClr val="556175"/>
                </a:solidFill>
                <a:latin typeface="맑은 고딕"/>
                <a:ea typeface="맑은 고딕"/>
                <a:cs typeface="맑은 고딕"/>
              </a:rPr>
              <a:t>인터록 PASS</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명령의 완료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51.3 ℃</a:t>
            </a:r>
          </a:p>
          <a:p>
            <a:pPr algn="l">
              <a:lnSpc>
                <a:spcPct val="110000"/>
              </a:lnSpc>
            </a:pPr>
            <a:r>
              <a:rPr sz="1250" b="1">
                <a:solidFill>
                  <a:srgbClr val="556175"/>
                </a:solidFill>
                <a:latin typeface="맑은 고딕"/>
                <a:ea typeface="맑은 고딕"/>
                <a:cs typeface="맑은 고딕"/>
              </a:rPr>
              <a:t>기준 55 ℃ 미만</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작업지시 등록</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회복 판정</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WO-1010-1198</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보고: 정상</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위의 결과 전부</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유온 정상 · 경보 해제</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단계마다 시작과 끝의 시각이 남으며, 이 기록으로 업무의 진행을 지켜보는 일이 모니터링이다.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단계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시작</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끝</a:t>
            </a:r>
          </a:p>
          <a:p>
            <a:pPr algn="l">
              <a:lnSpc>
                <a:spcPct val="110000"/>
              </a:lnSpc>
              <a:spcAft>
                <a:spcPts val="200"/>
              </a:spcAft>
            </a:pPr>
            <a:r>
              <a:rPr sz="1300" b="0">
                <a:solidFill>
                  <a:srgbClr val="E8EEF6"/>
                </a:solidFill>
                <a:latin typeface="Consolas"/>
                <a:ea typeface="맑은 고딕"/>
                <a:cs typeface="맑은 고딕"/>
              </a:rPr>
              <a:t>T_agent     15:22:46    15:24:08</a:t>
            </a:r>
          </a:p>
          <a:p>
            <a:pPr algn="l">
              <a:lnSpc>
                <a:spcPct val="110000"/>
              </a:lnSpc>
              <a:spcAft>
                <a:spcPts val="200"/>
              </a:spcAft>
            </a:pPr>
            <a:r>
              <a:rPr sz="1300" b="0">
                <a:solidFill>
                  <a:srgbClr val="E8EEF6"/>
                </a:solidFill>
                <a:latin typeface="Consolas"/>
                <a:ea typeface="맑은 고딕"/>
                <a:cs typeface="맑은 고딕"/>
              </a:rPr>
              <a:t>T_approve   15:24:08    15:24:09</a:t>
            </a:r>
          </a:p>
          <a:p>
            <a:pPr algn="l">
              <a:lnSpc>
                <a:spcPct val="110000"/>
              </a:lnSpc>
              <a:spcAft>
                <a:spcPts val="200"/>
              </a:spcAft>
            </a:pPr>
            <a:r>
              <a:rPr sz="1300" b="0">
                <a:solidFill>
                  <a:srgbClr val="E8EEF6"/>
                </a:solidFill>
                <a:latin typeface="Consolas"/>
                <a:ea typeface="맑은 고딕"/>
                <a:cs typeface="맑은 고딕"/>
              </a:rPr>
              <a:t>T_cmd       15:24:09    15:24:10</a:t>
            </a:r>
          </a:p>
          <a:p>
            <a:pPr algn="l">
              <a:lnSpc>
                <a:spcPct val="110000"/>
              </a:lnSpc>
              <a:spcAft>
                <a:spcPts val="200"/>
              </a:spcAft>
            </a:pPr>
            <a:r>
              <a:rPr sz="1300" b="0">
                <a:solidFill>
                  <a:srgbClr val="E8EEF6"/>
                </a:solidFill>
                <a:latin typeface="Consolas"/>
                <a:ea typeface="맑은 고딕"/>
                <a:cs typeface="맑은 고딕"/>
              </a:rPr>
              <a:t>T_reobs     15:24:10    15:25:11</a:t>
            </a:r>
          </a:p>
          <a:p>
            <a:pPr algn="l">
              <a:lnSpc>
                <a:spcPct val="110000"/>
              </a:lnSpc>
              <a:spcAft>
                <a:spcPts val="200"/>
              </a:spcAft>
            </a:pPr>
            <a:r>
              <a:rPr sz="1300" b="0">
                <a:solidFill>
                  <a:srgbClr val="E8EEF6"/>
                </a:solidFill>
                <a:latin typeface="Consolas"/>
                <a:ea typeface="맑은 고딕"/>
                <a:cs typeface="맑은 고딕"/>
              </a:rPr>
              <a:t>T_wo        15:25:11    15:25:12</a:t>
            </a:r>
          </a:p>
          <a:p>
            <a:pPr algn="l">
              <a:lnSpc>
                <a:spcPct val="110000"/>
              </a:lnSpc>
              <a:spcAft>
                <a:spcPts val="200"/>
              </a:spcAft>
            </a:pPr>
            <a:r>
              <a:rPr sz="1300" b="0">
                <a:solidFill>
                  <a:srgbClr val="E8EEF6"/>
                </a:solidFill>
                <a:latin typeface="Consolas"/>
                <a:ea typeface="맑은 고딕"/>
                <a:cs typeface="맑은 고딕"/>
              </a:rPr>
              <a:t>R_ok        15:25:12    15:25:12</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실행 기록</a:t>
            </a:r>
          </a:p>
          <a:p>
            <a:pPr algn="l">
              <a:lnSpc>
                <a:spcPct val="110000"/>
              </a:lnSpc>
              <a:spcAft>
                <a:spcPts val="400"/>
              </a:spcAft>
            </a:pPr>
            <a:r>
              <a:rPr sz="1400" b="0">
                <a:solidFill>
                  <a:srgbClr val="1F2A3A"/>
                </a:solidFill>
                <a:latin typeface="맑은 고딕"/>
                <a:ea typeface="맑은 고딕"/>
                <a:cs typeface="맑은 고딕"/>
              </a:rPr>
              <a:t>단계의 시작과 끝, 담당,</a:t>
            </a:r>
          </a:p>
          <a:p>
            <a:pPr algn="l">
              <a:lnSpc>
                <a:spcPct val="110000"/>
              </a:lnSpc>
              <a:spcAft>
                <a:spcPts val="400"/>
              </a:spcAft>
            </a:pPr>
            <a:r>
              <a:rPr sz="1400" b="0">
                <a:solidFill>
                  <a:srgbClr val="1F2A3A"/>
                </a:solidFill>
                <a:latin typeface="맑은 고딕"/>
                <a:ea typeface="맑은 고딕"/>
                <a:cs typeface="맑은 고딕"/>
              </a:rPr>
              <a:t>결과가 처리 건에 남는다.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모니터링</a:t>
            </a:r>
          </a:p>
          <a:p>
            <a:pPr algn="l">
              <a:lnSpc>
                <a:spcPct val="110000"/>
              </a:lnSpc>
              <a:spcAft>
                <a:spcPts val="400"/>
              </a:spcAft>
            </a:pPr>
            <a:r>
              <a:rPr sz="1400" b="0">
                <a:solidFill>
                  <a:srgbClr val="1F2A3A"/>
                </a:solidFill>
                <a:latin typeface="맑은 고딕"/>
                <a:ea typeface="맑은 고딕"/>
                <a:cs typeface="맑은 고딕"/>
              </a:rPr>
              <a:t>Monitoring · 이 기록으로</a:t>
            </a:r>
          </a:p>
          <a:p>
            <a:pPr algn="l">
              <a:lnSpc>
                <a:spcPct val="110000"/>
              </a:lnSpc>
              <a:spcAft>
                <a:spcPts val="400"/>
              </a:spcAft>
            </a:pPr>
            <a:r>
              <a:rPr sz="1400" b="0">
                <a:solidFill>
                  <a:srgbClr val="1F2A3A"/>
                </a:solidFill>
                <a:latin typeface="맑은 고딕"/>
                <a:ea typeface="맑은 고딕"/>
                <a:cs typeface="맑은 고딕"/>
              </a:rPr>
              <a:t>진행과 대기를 지켜본다.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읽는 법</a:t>
            </a:r>
          </a:p>
          <a:p>
            <a:pPr algn="l">
              <a:lnSpc>
                <a:spcPct val="110000"/>
              </a:lnSpc>
              <a:spcAft>
                <a:spcPts val="400"/>
              </a:spcAft>
            </a:pPr>
            <a:r>
              <a:rPr sz="1400" b="0">
                <a:solidFill>
                  <a:srgbClr val="1F2A3A"/>
                </a:solidFill>
                <a:latin typeface="맑은 고딕"/>
                <a:ea typeface="맑은 고딕"/>
                <a:cs typeface="맑은 고딕"/>
              </a:rPr>
              <a:t>끝에서 시작을 빼면</a:t>
            </a:r>
          </a:p>
          <a:p>
            <a:pPr algn="l">
              <a:lnSpc>
                <a:spcPct val="110000"/>
              </a:lnSpc>
              <a:spcAft>
                <a:spcPts val="400"/>
              </a:spcAft>
            </a:pPr>
            <a:r>
              <a:rPr sz="1400" b="0">
                <a:solidFill>
                  <a:srgbClr val="1F2A3A"/>
                </a:solidFill>
                <a:latin typeface="맑은 고딕"/>
                <a:ea typeface="맑은 고딕"/>
                <a:cs typeface="맑은 고딕"/>
              </a:rPr>
              <a:t>단계에 걸린 시간이다.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 안의 진행은 처리 기록에, 처리 건의 시작과 배포와 거부된 승인은 감사 기록에 남아 결정을 뒤에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DEFINITION_DEPLOYED</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판본이 배포될 때</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감사 기록</a:t>
            </a:r>
          </a:p>
        </p:txBody>
      </p:sp>
      <p:sp>
        <p:nvSpPr>
          <p:cNvPr id="30" name="Rounded Rectangle 29"/>
          <p:cNvSpPr/>
          <p:nvPr/>
        </p:nvSpPr>
        <p:spPr>
          <a:xfrm>
            <a:off x="548640" y="5666232"/>
            <a:ext cx="11094415" cy="656843"/>
          </a:xfrm>
          <a:prstGeom prst="roundRect">
            <a:avLst>
              <a:gd name="adj" fmla="val 8000"/>
            </a:avLst>
          </a:prstGeom>
          <a:solidFill>
            <a:srgbClr val="E7F3FD"/>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감사 기록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건을 잇는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성능 저하 경보 한 건은 경보에서 끝까지의 자리를 차례로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사건선_전체.svg" descr="illust_4338746720933726929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495714" y="2194925"/>
            <a:ext cx="7200266"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긴급 대응 프로세스의 처리 건 한 건</a:t>
            </a:r>
          </a:p>
          <a:p>
            <a:pPr algn="ctr">
              <a:lnSpc>
                <a:spcPct val="110000"/>
              </a:lnSpc>
              <a:spcAft>
                <a:spcPts val="100"/>
              </a:spcAft>
            </a:pPr>
            <a:r>
              <a:rPr sz="1100" b="0">
                <a:solidFill>
                  <a:srgbClr val="556175"/>
                </a:solidFill>
                <a:latin typeface="맑은 고딕"/>
                <a:ea typeface="맑은 고딕"/>
                <a:cs typeface="맑은 고딕"/>
              </a:rPr>
              <a:t>자리마다 남은 식별자로 끝난 업무를 거슬러 읽는다</a:t>
            </a:r>
          </a:p>
        </p:txBody>
      </p:sp>
      <p:sp>
        <p:nvSpPr>
          <p:cNvPr id="8" name="TextBox 7"/>
          <p:cNvSpPr txBox="1"/>
          <p:nvPr/>
        </p:nvSpPr>
        <p:spPr>
          <a:xfrm>
            <a:off x="646554"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경보</a:t>
            </a:r>
          </a:p>
          <a:p>
            <a:pPr algn="ctr">
              <a:lnSpc>
                <a:spcPct val="110000"/>
              </a:lnSpc>
              <a:spcAft>
                <a:spcPts val="100"/>
              </a:spcAft>
            </a:pPr>
            <a:r>
              <a:rPr sz="1100" b="0">
                <a:solidFill>
                  <a:srgbClr val="556175"/>
                </a:solidFill>
                <a:latin typeface="맑은 고딕"/>
                <a:ea typeface="맑은 고딕"/>
                <a:cs typeface="맑은 고딕"/>
              </a:rPr>
              <a:t>ALT-hyd01-0026-767a</a:t>
            </a:r>
          </a:p>
        </p:txBody>
      </p:sp>
      <p:sp>
        <p:nvSpPr>
          <p:cNvPr id="9" name="TextBox 8"/>
          <p:cNvSpPr txBox="1"/>
          <p:nvPr/>
        </p:nvSpPr>
        <p:spPr>
          <a:xfrm>
            <a:off x="2010241"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진단 · 제안</a:t>
            </a:r>
          </a:p>
          <a:p>
            <a:pPr algn="ctr">
              <a:lnSpc>
                <a:spcPct val="110000"/>
              </a:lnSpc>
              <a:spcAft>
                <a:spcPts val="100"/>
              </a:spcAft>
            </a:pPr>
            <a:r>
              <a:rPr sz="1100" b="0">
                <a:solidFill>
                  <a:srgbClr val="556175"/>
                </a:solidFill>
                <a:latin typeface="맑은 고딕"/>
                <a:ea typeface="맑은 고딕"/>
                <a:cs typeface="맑은 고딕"/>
              </a:rPr>
              <a:t>DEC-1010-058-88a6</a:t>
            </a:r>
          </a:p>
        </p:txBody>
      </p:sp>
      <p:sp>
        <p:nvSpPr>
          <p:cNvPr id="10" name="TextBox 9"/>
          <p:cNvSpPr txBox="1"/>
          <p:nvPr/>
        </p:nvSpPr>
        <p:spPr>
          <a:xfrm>
            <a:off x="3395747"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a:t>
            </a:r>
          </a:p>
          <a:p>
            <a:pPr algn="ctr">
              <a:lnSpc>
                <a:spcPct val="110000"/>
              </a:lnSpc>
              <a:spcAft>
                <a:spcPts val="100"/>
              </a:spcAft>
            </a:pPr>
            <a:r>
              <a:rPr sz="1100" b="0">
                <a:solidFill>
                  <a:srgbClr val="556175"/>
                </a:solidFill>
                <a:latin typeface="맑은 고딕"/>
                <a:ea typeface="맑은 고딕"/>
                <a:cs typeface="맑은 고딕"/>
              </a:rPr>
              <a:t>운전원</a:t>
            </a:r>
          </a:p>
        </p:txBody>
      </p:sp>
      <p:sp>
        <p:nvSpPr>
          <p:cNvPr id="11" name="TextBox 10"/>
          <p:cNvSpPr txBox="1"/>
          <p:nvPr/>
        </p:nvSpPr>
        <p:spPr>
          <a:xfrm>
            <a:off x="4737615"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a:p>
            <a:pPr algn="ctr">
              <a:lnSpc>
                <a:spcPct val="110000"/>
              </a:lnSpc>
              <a:spcAft>
                <a:spcPts val="100"/>
              </a:spcAft>
            </a:pPr>
            <a:r>
              <a:rPr sz="1100" b="0">
                <a:solidFill>
                  <a:srgbClr val="556175"/>
                </a:solidFill>
                <a:latin typeface="맑은 고딕"/>
                <a:ea typeface="맑은 고딕"/>
                <a:cs typeface="맑은 고딕"/>
              </a:rPr>
              <a:t>CMD-1010-0001-01d1</a:t>
            </a:r>
          </a:p>
        </p:txBody>
      </p:sp>
      <p:sp>
        <p:nvSpPr>
          <p:cNvPr id="12" name="TextBox 11"/>
          <p:cNvSpPr txBox="1"/>
          <p:nvPr/>
        </p:nvSpPr>
        <p:spPr>
          <a:xfrm>
            <a:off x="6123121"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a:p>
            <a:pPr algn="ctr">
              <a:lnSpc>
                <a:spcPct val="110000"/>
              </a:lnSpc>
              <a:spcAft>
                <a:spcPts val="100"/>
              </a:spcAft>
            </a:pPr>
            <a:r>
              <a:rPr sz="1100" b="0">
                <a:solidFill>
                  <a:srgbClr val="556175"/>
                </a:solidFill>
                <a:latin typeface="맑은 고딕"/>
                <a:ea typeface="맑은 고딕"/>
                <a:cs typeface="맑은 고딕"/>
              </a:rPr>
              <a:t>유온 51.3 ℃</a:t>
            </a:r>
          </a:p>
        </p:txBody>
      </p:sp>
      <p:sp>
        <p:nvSpPr>
          <p:cNvPr id="13" name="TextBox 12"/>
          <p:cNvSpPr txBox="1"/>
          <p:nvPr/>
        </p:nvSpPr>
        <p:spPr>
          <a:xfrm>
            <a:off x="7486808" y="4275002"/>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a:p>
            <a:pPr algn="ctr">
              <a:lnSpc>
                <a:spcPct val="110000"/>
              </a:lnSpc>
              <a:spcAft>
                <a:spcPts val="100"/>
              </a:spcAft>
            </a:pPr>
            <a:r>
              <a:rPr sz="1100" b="0">
                <a:solidFill>
                  <a:srgbClr val="556175"/>
                </a:solidFill>
                <a:latin typeface="맑은 고딕"/>
                <a:ea typeface="맑은 고딕"/>
                <a:cs typeface="맑은 고딕"/>
              </a:rPr>
              <a:t>WO-1010-1198</a:t>
            </a:r>
          </a:p>
        </p:txBody>
      </p:sp>
      <p:sp>
        <p:nvSpPr>
          <p:cNvPr id="14" name="TextBox 13"/>
          <p:cNvSpPr txBox="1"/>
          <p:nvPr/>
        </p:nvSpPr>
        <p:spPr>
          <a:xfrm>
            <a:off x="8828676" y="4275002"/>
            <a:ext cx="1352777"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a:t>
            </a:r>
          </a:p>
          <a:p>
            <a:pPr algn="ctr">
              <a:lnSpc>
                <a:spcPct val="110000"/>
              </a:lnSpc>
              <a:spcAft>
                <a:spcPts val="100"/>
              </a:spcAft>
            </a:pPr>
            <a:r>
              <a:rPr sz="1100" b="0">
                <a:solidFill>
                  <a:srgbClr val="556175"/>
                </a:solidFill>
                <a:latin typeface="맑은 고딕"/>
                <a:ea typeface="맑은 고딕"/>
                <a:cs typeface="맑은 고딕"/>
              </a:rPr>
              <a:t>유온 정상 · 경보 해제</a:t>
            </a:r>
          </a:p>
        </p:txBody>
      </p:sp>
      <p:sp>
        <p:nvSpPr>
          <p:cNvPr id="15" name="TextBox 14"/>
          <p:cNvSpPr txBox="1"/>
          <p:nvPr/>
        </p:nvSpPr>
        <p:spPr>
          <a:xfrm>
            <a:off x="10323276" y="4275002"/>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지식은 에이전트에게 재료를, 에이전트는 프로세스에게 추천안을 넘기고, 프로세스는 승인과 실행을 기록으로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세영역.svg" descr="illust_2875965704278617918_179177077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지식</a:t>
            </a:r>
          </a:p>
          <a:p>
            <a:pPr algn="ctr">
              <a:lnSpc>
                <a:spcPct val="110000"/>
              </a:lnSpc>
              <a:spcAft>
                <a:spcPts val="100"/>
              </a:spcAft>
            </a:pPr>
            <a:r>
              <a:rPr sz="1300" b="0">
                <a:solidFill>
                  <a:srgbClr val="556175"/>
                </a:solidFill>
                <a:latin typeface="맑은 고딕"/>
                <a:ea typeface="맑은 고딕"/>
                <a:cs typeface="맑은 고딕"/>
              </a:rPr>
              <a:t>1~4회차</a:t>
            </a:r>
          </a:p>
        </p:txBody>
      </p:sp>
      <p:sp>
        <p:nvSpPr>
          <p:cNvPr id="8" name="TextBox 7"/>
          <p:cNvSpPr txBox="1"/>
          <p:nvPr/>
        </p:nvSpPr>
        <p:spPr>
          <a:xfrm>
            <a:off x="500489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5~7회차</a:t>
            </a:r>
          </a:p>
        </p:txBody>
      </p:sp>
      <p:sp>
        <p:nvSpPr>
          <p:cNvPr id="9" name="TextBox 8"/>
          <p:cNvSpPr txBox="1"/>
          <p:nvPr/>
        </p:nvSpPr>
        <p:spPr>
          <a:xfrm>
            <a:off x="9095958" y="2053102"/>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프로세스</a:t>
            </a:r>
          </a:p>
          <a:p>
            <a:pPr algn="ctr">
              <a:lnSpc>
                <a:spcPct val="110000"/>
              </a:lnSpc>
              <a:spcAft>
                <a:spcPts val="100"/>
              </a:spcAft>
            </a:pPr>
            <a:r>
              <a:rPr sz="1300" b="0">
                <a:solidFill>
                  <a:srgbClr val="556175"/>
                </a:solidFill>
                <a:latin typeface="맑은 고딕"/>
                <a:ea typeface="맑은 고딕"/>
                <a:cs typeface="맑은 고딕"/>
              </a:rPr>
              <a:t>8~10회차</a:t>
            </a:r>
          </a:p>
        </p:txBody>
      </p:sp>
      <p:sp>
        <p:nvSpPr>
          <p:cNvPr id="10" name="TextBox 9"/>
          <p:cNvSpPr txBox="1"/>
          <p:nvPr/>
        </p:nvSpPr>
        <p:spPr>
          <a:xfrm>
            <a:off x="85929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재료</a:t>
            </a:r>
          </a:p>
          <a:p>
            <a:pPr algn="ctr">
              <a:lnSpc>
                <a:spcPct val="110000"/>
              </a:lnSpc>
              <a:spcAft>
                <a:spcPts val="100"/>
              </a:spcAft>
            </a:pPr>
            <a:r>
              <a:rPr sz="1300" b="0">
                <a:solidFill>
                  <a:srgbClr val="556175"/>
                </a:solidFill>
                <a:latin typeface="맑은 고딕"/>
                <a:ea typeface="맑은 고딕"/>
                <a:cs typeface="맑은 고딕"/>
              </a:rPr>
              <a:t>관계 · 기준</a:t>
            </a:r>
          </a:p>
        </p:txBody>
      </p:sp>
      <p:sp>
        <p:nvSpPr>
          <p:cNvPr id="14" name="TextBox 13"/>
          <p:cNvSpPr txBox="1"/>
          <p:nvPr/>
        </p:nvSpPr>
        <p:spPr>
          <a:xfrm>
            <a:off x="7323165" y="2904042"/>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추천안</a:t>
            </a:r>
          </a:p>
          <a:p>
            <a:pPr algn="ctr">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드러난 증상이 어느 영역의 몫인지를 가리면 지식, 에이전트, 프로세스 가운데 고칠 곳이 하나로 좁혀진다.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조치에 정해진 승인 역할</a:t>
            </a:r>
          </a:p>
        </p:txBody>
      </p:sp>
      <p:sp>
        <p:nvSpPr>
          <p:cNvPr id="17" name="TextBox 16"/>
          <p:cNvSpPr txBox="1"/>
          <p:nvPr/>
        </p:nvSpPr>
        <p:spPr>
          <a:xfrm>
            <a:off x="9448495" y="2750820"/>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배포한 프로세스를 쿨러 열화로 실행하면 처리 건 한 건이 열리고, 그 처리 기록에서 대기와 완료를 구분해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35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350" b="0">
                <a:solidFill>
                  <a:srgbClr val="1F2A3A"/>
                </a:solidFill>
                <a:latin typeface="맑은 고딕"/>
                <a:ea typeface="맑은 고딕"/>
                <a:cs typeface="맑은 고딕"/>
              </a:rPr>
              <a:t>에이전트의 추천안이 나온 뒤 운전원 승인에서 기다리는 상태를 읽는다</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350" b="0">
                <a:solidFill>
                  <a:srgbClr val="1F2A3A"/>
                </a:solidFill>
                <a:latin typeface="맑은 고딕"/>
                <a:ea typeface="맑은 고딕"/>
                <a:cs typeface="맑은 고딕"/>
              </a:rPr>
              <a:t>승인 뒤 명령, 재관측을 거쳐 닿은 끝 이벤트와 결과를 읽는다</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pencil" descr="pencil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 상태의 기록</a:t>
            </a:r>
          </a:p>
          <a:p>
            <a:pPr algn="l">
              <a:lnSpc>
                <a:spcPct val="110000"/>
              </a:lnSpc>
              <a:spcAft>
                <a:spcPts val="400"/>
              </a:spcAft>
            </a:pPr>
            <a:r>
              <a:rPr sz="1350" b="0">
                <a:solidFill>
                  <a:srgbClr val="1F2A3A"/>
                </a:solidFill>
                <a:latin typeface="맑은 고딕"/>
                <a:ea typeface="맑은 고딕"/>
                <a:cs typeface="맑은 고딕"/>
              </a:rPr>
              <a:t>단계마다 누가 맡았고 어떤 상태로 끝났는지를 적어 둔다</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거절과 승인 지연의 처리</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거절한 처리 건과 응답하지 않은 처리 건이 각각 어떤 상태로 남는지를 견준다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두 경우와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거절은 설비 명령 없이 처리 건을 닫고, 무응답은 알림만 낸 채 승인 작업을 열어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거절</a:t>
            </a:r>
          </a:p>
          <a:p>
            <a:pPr algn="l">
              <a:lnSpc>
                <a:spcPct val="110000"/>
              </a:lnSpc>
              <a:spcAft>
                <a:spcPts val="400"/>
              </a:spcAft>
            </a:pPr>
            <a:r>
              <a:rPr sz="1400" b="0">
                <a:solidFill>
                  <a:srgbClr val="1F2A3A"/>
                </a:solidFill>
                <a:latin typeface="맑은 고딕"/>
                <a:ea typeface="맑은 고딕"/>
                <a:cs typeface="맑은 고딕"/>
              </a:rPr>
              <a:t>추천안을 거절해 설비 명령 없이 거절 종결에 닿아 닫히는 것을 확인한다</a:t>
            </a:r>
          </a:p>
        </p:txBody>
      </p:sp>
      <p:sp>
        <p:nvSpPr>
          <p:cNvPr id="10" name="Rounded Rectangle 9"/>
          <p:cNvSpPr/>
          <p:nvPr/>
        </p:nvSpPr>
        <p:spPr>
          <a:xfrm>
            <a:off x="777240" y="5149850"/>
            <a:ext cx="121615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615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COMPLETED</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응답 없음</a:t>
            </a:r>
          </a:p>
          <a:p>
            <a:pPr algn="l">
              <a:lnSpc>
                <a:spcPct val="110000"/>
              </a:lnSpc>
              <a:spcAft>
                <a:spcPts val="400"/>
              </a:spcAft>
            </a:pPr>
            <a:r>
              <a:rPr sz="1400" b="0">
                <a:solidFill>
                  <a:srgbClr val="1F2A3A"/>
                </a:solidFill>
                <a:latin typeface="맑은 고딕"/>
                <a:ea typeface="맑은 고딕"/>
                <a:cs typeface="맑은 고딕"/>
              </a:rPr>
              <a:t>승인하지 않고 기다려 승인 지연 알림만 나가고 승인 작업은 열려 있는 것을 확인한다</a:t>
            </a:r>
          </a:p>
        </p:txBody>
      </p:sp>
      <p:sp>
        <p:nvSpPr>
          <p:cNvPr id="16" name="Rounded Rectangle 15"/>
          <p:cNvSpPr/>
          <p:nvPr/>
        </p:nvSpPr>
        <p:spPr>
          <a:xfrm>
            <a:off x="4566818" y="5149850"/>
            <a:ext cx="102717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02717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RUNNING</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eye" descr="eye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두 건의 기록</a:t>
            </a:r>
          </a:p>
          <a:p>
            <a:pPr algn="l">
              <a:lnSpc>
                <a:spcPct val="110000"/>
              </a:lnSpc>
              <a:spcAft>
                <a:spcPts val="400"/>
              </a:spcAft>
            </a:pPr>
            <a:r>
              <a:rPr sz="1400" b="0">
                <a:solidFill>
                  <a:srgbClr val="1F2A3A"/>
                </a:solidFill>
                <a:latin typeface="맑은 고딕"/>
                <a:ea typeface="맑은 고딕"/>
                <a:cs typeface="맑은 고딕"/>
              </a:rPr>
              <a:t>거절된 건은 냉각 명령이 CANCELLED이고 설비 명령이 없음을, 응답 없는 건은 승인이 IN_PROGRESS임을 견준다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기록의 추적과 잘못된 설정의 수정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처리 건의 기록에서 단계 사이에 전달된 값을 따라가고, 사전 검사로 잘못된 설정을 찾아 고친다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따라가는 값과 바로잡는 설정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기록은 단계 사이에 전달된 값을 보이고, 사전 검사는 잘못된 설정을 등록하기 전에 가려낸다.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history" descr="history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기록을 읽는다</a:t>
            </a:r>
          </a:p>
          <a:p>
            <a:pPr algn="ctr">
              <a:lnSpc>
                <a:spcPct val="110000"/>
              </a:lnSpc>
              <a:spcAft>
                <a:spcPts val="400"/>
              </a:spcAft>
            </a:pPr>
            <a:r>
              <a:rPr sz="1350" b="0">
                <a:solidFill>
                  <a:srgbClr val="1F2A3A"/>
                </a:solidFill>
                <a:latin typeface="맑은 고딕"/>
                <a:ea typeface="맑은 고딕"/>
                <a:cs typeface="맑은 고딕"/>
              </a:rPr>
              <a:t>처리 건의 작업, 승인,</a:t>
            </a:r>
          </a:p>
          <a:p>
            <a:pPr algn="ctr">
              <a:lnSpc>
                <a:spcPct val="110000"/>
              </a:lnSpc>
              <a:spcAft>
                <a:spcPts val="400"/>
              </a:spcAft>
            </a:pPr>
            <a:r>
              <a:rPr sz="1350" b="0">
                <a:solidFill>
                  <a:srgbClr val="1F2A3A"/>
                </a:solidFill>
                <a:latin typeface="맑은 고딕"/>
                <a:ea typeface="맑은 고딕"/>
                <a:cs typeface="맑은 고딕"/>
              </a:rPr>
              <a:t>실행 기록을</a:t>
            </a:r>
          </a:p>
          <a:p>
            <a:pPr algn="ctr">
              <a:lnSpc>
                <a:spcPct val="110000"/>
              </a:lnSpc>
              <a:spcAft>
                <a:spcPts val="400"/>
              </a:spcAft>
            </a:pPr>
            <a:r>
              <a:rPr sz="1350" b="0">
                <a:solidFill>
                  <a:srgbClr val="1F2A3A"/>
                </a:solidFill>
                <a:latin typeface="맑은 고딕"/>
                <a:ea typeface="맑은 고딕"/>
                <a:cs typeface="맑은 고딕"/>
              </a:rPr>
              <a:t>차례로 읽는다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rrows-right-left" descr="arrows-right-left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값을 따라간다</a:t>
            </a:r>
          </a:p>
          <a:p>
            <a:pPr algn="ctr">
              <a:lnSpc>
                <a:spcPct val="110000"/>
              </a:lnSpc>
              <a:spcAft>
                <a:spcPts val="400"/>
              </a:spcAft>
            </a:pPr>
            <a:r>
              <a:rPr sz="1350" b="0">
                <a:solidFill>
                  <a:srgbClr val="1F2A3A"/>
                </a:solidFill>
                <a:latin typeface="맑은 고딕"/>
                <a:ea typeface="맑은 고딕"/>
                <a:cs typeface="맑은 고딕"/>
              </a:rPr>
              <a:t>단계가 낸 값이</a:t>
            </a:r>
          </a:p>
          <a:p>
            <a:pPr algn="ctr">
              <a:lnSpc>
                <a:spcPct val="110000"/>
              </a:lnSpc>
              <a:spcAft>
                <a:spcPts val="400"/>
              </a:spcAft>
            </a:pPr>
            <a:r>
              <a:rPr sz="1350" b="0">
                <a:solidFill>
                  <a:srgbClr val="1F2A3A"/>
                </a:solidFill>
                <a:latin typeface="맑은 고딕"/>
                <a:ea typeface="맑은 고딕"/>
                <a:cs typeface="맑은 고딕"/>
              </a:rPr>
              <a:t>다음 단계에</a:t>
            </a:r>
          </a:p>
          <a:p>
            <a:pPr algn="ctr">
              <a:lnSpc>
                <a:spcPct val="110000"/>
              </a:lnSpc>
              <a:spcAft>
                <a:spcPts val="400"/>
              </a:spcAft>
            </a:pPr>
            <a:r>
              <a:rPr sz="1350" b="0">
                <a:solidFill>
                  <a:srgbClr val="1F2A3A"/>
                </a:solidFill>
                <a:latin typeface="맑은 고딕"/>
                <a:ea typeface="맑은 고딕"/>
                <a:cs typeface="맑은 고딕"/>
              </a:rPr>
              <a:t>전달된 것을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zoom-check" descr="zoom-check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검사로 찾는다</a:t>
            </a:r>
          </a:p>
          <a:p>
            <a:pPr algn="ctr">
              <a:lnSpc>
                <a:spcPct val="110000"/>
              </a:lnSpc>
              <a:spcAft>
                <a:spcPts val="400"/>
              </a:spcAft>
            </a:pPr>
            <a:r>
              <a:rPr sz="1350" b="0">
                <a:solidFill>
                  <a:srgbClr val="1F2A3A"/>
                </a:solidFill>
                <a:latin typeface="맑은 고딕"/>
                <a:ea typeface="맑은 고딕"/>
                <a:cs typeface="맑은 고딕"/>
              </a:rPr>
              <a:t>작업을 맡을 쪽과</a:t>
            </a:r>
          </a:p>
          <a:p>
            <a:pPr algn="ctr">
              <a:lnSpc>
                <a:spcPct val="110000"/>
              </a:lnSpc>
              <a:spcAft>
                <a:spcPts val="400"/>
              </a:spcAft>
            </a:pPr>
            <a:r>
              <a:rPr sz="1350" b="0">
                <a:solidFill>
                  <a:srgbClr val="1F2A3A"/>
                </a:solidFill>
                <a:latin typeface="맑은 고딕"/>
                <a:ea typeface="맑은 고딕"/>
                <a:cs typeface="맑은 고딕"/>
              </a:rPr>
              <a:t>갈림의 조건이 잘못된</a:t>
            </a:r>
          </a:p>
          <a:p>
            <a:pPr algn="ctr">
              <a:lnSpc>
                <a:spcPct val="110000"/>
              </a:lnSpc>
              <a:spcAft>
                <a:spcPts val="400"/>
              </a:spcAft>
            </a:pPr>
            <a:r>
              <a:rPr sz="1350" b="0">
                <a:solidFill>
                  <a:srgbClr val="1F2A3A"/>
                </a:solidFill>
                <a:latin typeface="맑은 고딕"/>
                <a:ea typeface="맑은 고딕"/>
                <a:cs typeface="맑은 고딕"/>
              </a:rPr>
              <a:t>정의를 검사한다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tool" descr="tool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바로잡는다</a:t>
            </a:r>
          </a:p>
          <a:p>
            <a:pPr algn="ctr">
              <a:lnSpc>
                <a:spcPct val="110000"/>
              </a:lnSpc>
              <a:spcAft>
                <a:spcPts val="400"/>
              </a:spcAft>
            </a:pPr>
            <a:r>
              <a:rPr sz="1350" b="0">
                <a:solidFill>
                  <a:srgbClr val="1F2A3A"/>
                </a:solidFill>
                <a:latin typeface="맑은 고딕"/>
                <a:ea typeface="맑은 고딕"/>
                <a:cs typeface="맑은 고딕"/>
              </a:rPr>
              <a:t>검사가 가리킨</a:t>
            </a:r>
          </a:p>
          <a:p>
            <a:pPr algn="ctr">
              <a:lnSpc>
                <a:spcPct val="110000"/>
              </a:lnSpc>
              <a:spcAft>
                <a:spcPts val="400"/>
              </a:spcAft>
            </a:pPr>
            <a:r>
              <a:rPr sz="1350" b="0">
                <a:solidFill>
                  <a:srgbClr val="1F2A3A"/>
                </a:solidFill>
                <a:latin typeface="맑은 고딕"/>
                <a:ea typeface="맑은 고딕"/>
                <a:cs typeface="맑은 고딕"/>
              </a:rPr>
              <a:t>설정을 고친다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수정한 프로세스의 재배포와 재실행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고친 정의를 다시 배포해 승인의 정상 종료와 거절의 명령 차단을 확인한다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다시 확인하는 두 결말과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정의는 승인과 거절을 모두 다시 실행해야 정상 종료와 명령 없는 거절 종결을 함께 확인할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rocket" descr="rocket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다시 검사해 배포한다</a:t>
            </a:r>
          </a:p>
          <a:p>
            <a:pPr algn="ctr">
              <a:lnSpc>
                <a:spcPct val="110000"/>
              </a:lnSpc>
              <a:spcAft>
                <a:spcPts val="400"/>
              </a:spcAft>
            </a:pPr>
            <a:r>
              <a:rPr sz="1250" b="0">
                <a:solidFill>
                  <a:srgbClr val="1F2A3A"/>
                </a:solidFill>
                <a:latin typeface="맑은 고딕"/>
                <a:ea typeface="맑은 고딕"/>
                <a:cs typeface="맑은 고딕"/>
              </a:rPr>
              <a:t>고친 정의를</a:t>
            </a:r>
          </a:p>
          <a:p>
            <a:pPr algn="ctr">
              <a:lnSpc>
                <a:spcPct val="110000"/>
              </a:lnSpc>
              <a:spcAft>
                <a:spcPts val="400"/>
              </a:spcAft>
            </a:pPr>
            <a:r>
              <a:rPr sz="1250" b="0">
                <a:solidFill>
                  <a:srgbClr val="1F2A3A"/>
                </a:solidFill>
                <a:latin typeface="맑은 고딕"/>
                <a:ea typeface="맑은 고딕"/>
                <a:cs typeface="맑은 고딕"/>
              </a:rPr>
              <a:t>사전 검사에 넣고</a:t>
            </a:r>
          </a:p>
          <a:p>
            <a:pPr algn="ctr">
              <a:lnSpc>
                <a:spcPct val="110000"/>
              </a:lnSpc>
              <a:spcAft>
                <a:spcPts val="400"/>
              </a:spcAft>
            </a:pPr>
            <a:r>
              <a:rPr sz="1250" b="0">
                <a:solidFill>
                  <a:srgbClr val="1F2A3A"/>
                </a:solidFill>
                <a:latin typeface="맑은 고딕"/>
                <a:ea typeface="맑은 고딕"/>
                <a:cs typeface="맑은 고딕"/>
              </a:rPr>
              <a:t>새 판본으로 배포한다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circle-check" descr="circle-check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승인으로 실행한다</a:t>
            </a:r>
          </a:p>
          <a:p>
            <a:pPr algn="ctr">
              <a:lnSpc>
                <a:spcPct val="110000"/>
              </a:lnSpc>
              <a:spcAft>
                <a:spcPts val="400"/>
              </a:spcAft>
            </a:pPr>
            <a:r>
              <a:rPr sz="1250" b="0">
                <a:solidFill>
                  <a:srgbClr val="1F2A3A"/>
                </a:solidFill>
                <a:latin typeface="맑은 고딕"/>
                <a:ea typeface="맑은 고딕"/>
                <a:cs typeface="맑은 고딕"/>
              </a:rPr>
              <a:t>명령과 재관측을 거쳐</a:t>
            </a:r>
          </a:p>
          <a:p>
            <a:pPr algn="ctr">
              <a:lnSpc>
                <a:spcPct val="110000"/>
              </a:lnSpc>
              <a:spcAft>
                <a:spcPts val="400"/>
              </a:spcAft>
            </a:pPr>
            <a:r>
              <a:rPr sz="1250" b="0">
                <a:solidFill>
                  <a:srgbClr val="1F2A3A"/>
                </a:solidFill>
                <a:latin typeface="맑은 고딕"/>
                <a:ea typeface="맑은 고딕"/>
                <a:cs typeface="맑은 고딕"/>
              </a:rPr>
              <a:t>정상으로 끝나는지</a:t>
            </a:r>
          </a:p>
          <a:p>
            <a:pPr algn="ctr">
              <a:lnSpc>
                <a:spcPct val="110000"/>
              </a:lnSpc>
              <a:spcAft>
                <a:spcPts val="400"/>
              </a:spcAft>
            </a:pPr>
            <a:r>
              <a:rPr sz="1250" b="0">
                <a:solidFill>
                  <a:srgbClr val="1F2A3A"/>
                </a:solidFill>
                <a:latin typeface="맑은 고딕"/>
                <a:ea typeface="맑은 고딕"/>
                <a:cs typeface="맑은 고딕"/>
              </a:rPr>
              <a:t>확인한다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ban" descr="ban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거절로 실행한다</a:t>
            </a:r>
          </a:p>
          <a:p>
            <a:pPr algn="ctr">
              <a:lnSpc>
                <a:spcPct val="110000"/>
              </a:lnSpc>
              <a:spcAft>
                <a:spcPts val="400"/>
              </a:spcAft>
            </a:pPr>
            <a:r>
              <a:rPr sz="1250" b="0">
                <a:solidFill>
                  <a:srgbClr val="1F2A3A"/>
                </a:solidFill>
                <a:latin typeface="맑은 고딕"/>
                <a:ea typeface="맑은 고딕"/>
                <a:cs typeface="맑은 고딕"/>
              </a:rPr>
              <a:t>설비 명령 없이</a:t>
            </a:r>
          </a:p>
          <a:p>
            <a:pPr algn="ctr">
              <a:lnSpc>
                <a:spcPct val="110000"/>
              </a:lnSpc>
              <a:spcAft>
                <a:spcPts val="400"/>
              </a:spcAft>
            </a:pPr>
            <a:r>
              <a:rPr sz="1250" b="0">
                <a:solidFill>
                  <a:srgbClr val="1F2A3A"/>
                </a:solidFill>
                <a:latin typeface="맑은 고딕"/>
                <a:ea typeface="맑은 고딕"/>
                <a:cs typeface="맑은 고딕"/>
              </a:rPr>
              <a:t>거절 종결에 닿는지</a:t>
            </a:r>
          </a:p>
          <a:p>
            <a:pPr algn="ctr">
              <a:lnSpc>
                <a:spcPct val="110000"/>
              </a:lnSpc>
              <a:spcAft>
                <a:spcPts val="400"/>
              </a:spcAft>
            </a:pPr>
            <a:r>
              <a:rPr sz="1250" b="0">
                <a:solidFill>
                  <a:srgbClr val="1F2A3A"/>
                </a:solidFill>
                <a:latin typeface="맑은 고딕"/>
                <a:ea typeface="맑은 고딕"/>
                <a:cs typeface="맑은 고딕"/>
              </a:rPr>
              <a:t>확인한다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8025780" y="2809303"/>
            <a:ext cx="731520" cy="731520"/>
          </a:xfrm>
          <a:prstGeom prst="ellipse">
            <a:avLst/>
          </a:prstGeom>
          <a:solidFill>
            <a:srgbClr val="5CB8F2"/>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되돌린다</a:t>
            </a:r>
          </a:p>
          <a:p>
            <a:pPr algn="ctr">
              <a:lnSpc>
                <a:spcPct val="110000"/>
              </a:lnSpc>
              <a:spcAft>
                <a:spcPts val="400"/>
              </a:spcAft>
            </a:pPr>
            <a:r>
              <a:rPr sz="1250" b="0">
                <a:solidFill>
                  <a:srgbClr val="1F2A3A"/>
                </a:solidFill>
                <a:latin typeface="맑은 고딕"/>
                <a:ea typeface="맑은 고딕"/>
                <a:cs typeface="맑은 고딕"/>
              </a:rPr>
              <a:t>경보를 받는 흐름을</a:t>
            </a:r>
          </a:p>
          <a:p>
            <a:pPr algn="ctr">
              <a:lnSpc>
                <a:spcPct val="110000"/>
              </a:lnSpc>
              <a:spcAft>
                <a:spcPts val="400"/>
              </a:spcAft>
            </a:pPr>
            <a:r>
              <a:rPr sz="1250" b="0">
                <a:solidFill>
                  <a:srgbClr val="1F2A3A"/>
                </a:solidFill>
                <a:latin typeface="맑은 고딕"/>
                <a:ea typeface="맑은 고딕"/>
                <a:cs typeface="맑은 고딕"/>
              </a:rPr>
              <a:t>기준 흐름으로</a:t>
            </a:r>
          </a:p>
          <a:p>
            <a:pPr algn="ctr">
              <a:lnSpc>
                <a:spcPct val="110000"/>
              </a:lnSpc>
              <a:spcAft>
                <a:spcPts val="400"/>
              </a:spcAft>
            </a:pPr>
            <a:r>
              <a:rPr sz="1250" b="0">
                <a:solidFill>
                  <a:srgbClr val="1F2A3A"/>
                </a:solidFill>
                <a:latin typeface="맑은 고딕"/>
                <a:ea typeface="맑은 고딕"/>
                <a:cs typeface="맑은 고딕"/>
              </a:rPr>
              <a:t>되돌린다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809303"/>
            <a:ext cx="731520" cy="731520"/>
          </a:xfrm>
          <a:prstGeom prst="ellipse">
            <a:avLst/>
          </a:prstGeom>
          <a:solidFill>
            <a:srgbClr val="FFFFFF"/>
          </a:solidFill>
          <a:ln>
            <a:noFill/>
          </a:ln>
        </p:spPr>
        <p:txBody>
          <a:bodyPr rtlCol="0" anchor="ctr"/>
          <a:lstStyle/>
          <a:p>
            <a:pPr algn="ctr"/>
          </a:p>
        </p:txBody>
      </p:sp>
      <p:pic>
        <p:nvPicPr>
          <p:cNvPr id="28" name="아이콘:device-floppy" descr="device-floppy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남긴다</a:t>
            </a:r>
          </a:p>
          <a:p>
            <a:pPr algn="ctr">
              <a:lnSpc>
                <a:spcPct val="110000"/>
              </a:lnSpc>
              <a:spcAft>
                <a:spcPts val="400"/>
              </a:spcAft>
            </a:pPr>
            <a:r>
              <a:rPr sz="1250" b="0">
                <a:solidFill>
                  <a:srgbClr val="1F2A3A"/>
                </a:solidFill>
                <a:latin typeface="맑은 고딕"/>
                <a:ea typeface="맑은 고딕"/>
                <a:cs typeface="맑은 고딕"/>
              </a:rPr>
              <a:t>BPMN 파일과</a:t>
            </a:r>
          </a:p>
          <a:p>
            <a:pPr algn="ctr">
              <a:lnSpc>
                <a:spcPct val="110000"/>
              </a:lnSpc>
              <a:spcAft>
                <a:spcPts val="400"/>
              </a:spcAft>
            </a:pPr>
            <a:r>
              <a:rPr sz="1250" b="0">
                <a:solidFill>
                  <a:srgbClr val="1F2A3A"/>
                </a:solidFill>
                <a:latin typeface="맑은 고딕"/>
                <a:ea typeface="맑은 고딕"/>
                <a:cs typeface="맑은 고딕"/>
              </a:rPr>
              <a:t>처리 건의 결과를</a:t>
            </a:r>
          </a:p>
          <a:p>
            <a:pPr algn="ctr">
              <a:lnSpc>
                <a:spcPct val="110000"/>
              </a:lnSpc>
              <a:spcAft>
                <a:spcPts val="400"/>
              </a:spcAft>
            </a:pPr>
            <a:r>
              <a:rPr sz="1250" b="0">
                <a:solidFill>
                  <a:srgbClr val="1F2A3A"/>
                </a:solidFill>
                <a:latin typeface="맑은 고딕"/>
                <a:ea typeface="맑은 고딕"/>
                <a:cs typeface="맑은 고딕"/>
              </a:rPr>
              <a:t>보존한다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프로세스의 실행에서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프로세스의 실행에서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토큰</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Token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처리 건의 현재 위치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변수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Variable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단계가 낸 값과 갈림의 조건</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모니터링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Monitoring</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단계의 시각과 상태를 읽는 일</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Log</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시작, 배포, 거부된 승인의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승인 지연 알림이 나간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처리 건의 상태가 RUNNING이고 열려 있는 단계가 운전원 승인이며, 승인 지연 알림은 이미 나갔다.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알림이 나갔으므로 처리 건은 거절로 닫혔다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기한이 지났으므로 냉각 명령이 자동으로 나갔다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열린 채로 남아 운전원의 결정을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알림 가지가 끝났으므로 처리 건도 완료되었다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늦어지는 단계를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긴급 대응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늦어지는 단계를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처리 건의 상태, 결말의 근거가 되는 기록, 시간의 근거가 되는 기록을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지연 타이머는 비중단형이다. 알림 가지만 끝나고 승인 작업은 열린 채로 기다린다.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