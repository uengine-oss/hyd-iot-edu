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3회차까지는 지식이 들어갈 구조와 조치를 가리는 기준을 만들었습니다. 오늘은 현장 문서의 문장을 그 구조에 맞는 지식으로 들여오는 과정을 다루고, 네 개의 실습에서 직접 추출하고 검토해 적재합니다. 마지막에는 온톨로지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추천안에는 원인과 조치와 출처가 함께 나옵니다.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문서의 문장을 등록된 지식으로 바꾸는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넣는다는 점은 같지만 넣는 것과 남는 것이 다릅니다. 왼쪽은 2회차에 한 일로, 설계한 스키마에 맞춰 직접 정리한 예시 인스턴스를 Cypher로 넣고 저장된 결과가 설계와 같은지를 조회해 확인했습니다. 오른쪽은 사람이 정리한 목록이 아니라 매뉴얼 원문이 입력이며, 추출한 후보를 원문과 대조하고 사람이 검토해 승인한 것만 넣습니다. 맨 아래 줄을 견주면 왼쪽은 내용의 출처를 넣은 사람만 알고, 오른쪽은 근거가 된 원문과 검토한 사람이 지식과 함께 남습니다. 이 차이를 만드는 것이 이어서 볼 일곱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2회차에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2단계에서 절과 번호가 붙은 단계를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정해진 형식에는 맞는 결과입니다. 위의 둘부터 봅니다. 조건 문장이 통째로 빠지면 결과에는 틀린 글자가 하나도 없고, 단위만 바뀌면 숫자 자리에 숫자가 있으므로 프로그램이 이상을 찾지 못합니다. 아래의 둘은 매뉴얼이 쿨러 핀 오염에만 이은 핀 세척을 다른 원인에 짐작으로 잇는 오류, 곧 조치 방법이 듣는 원인을 가리키는 관계 ADDRESSES를 틀리게 잇는 오류와,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조치는 사람이 승인해야 설비 명령이 나가는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들어갑니다.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조치 방법과 근거 문서 사이를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결정표에서 기준은 표에 적고 값은 판단할 때 읽었습니다. 같은 구분을 지식 그래프 전체에 적용합니다.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지식 그래프에 넣지 않는다면 판단할 때 그 값을 어디에서 읽을지는 적어 두어야 합니다. 업무 데이터베이스의 값은 표와 열의 위치로 가리키고, 이 위치를 입력 데이터로 등록합니다.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원문에서 근거를 찾을 수 없는 후보는 고치거나 보류합니다.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2회차에 만든 설비 모델과 조치의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절차에서 조건 한 건이 바뀌었을 때 그 조건을 검토해 새 출처와 함께 그래프에 넣습니다. 그런 다음 같은 조치의 이전 기준과 새 기준을 출처로 구별해 조회하고, 같은 대상이 둘로 들어가지 않았는지를 확인합니다. 개정한 뒤에도 어느 기준이 어느 판본에서 왔는지를 말할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칸마다 하늘색으로 칠한 부분이 그 회차에 새로 더해진 것입니다.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2회차의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2회차가 받은 것은 설비 자료와 답할 질문이었고, 스키마 설계는 클래스가 아니라 질문에서 출발했습니다. 질문이 정해져야 무엇을 넣고 무엇을 넣지 않을지가 갈립니다. 둘째 줄의 스키마가 첫 결과물로, 1회차의 관계 그림을 누구나 같은 기준으로 쓰게 하는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대상마다 식별자가 있고 관계는 스키마가 정한 방향으로 놓였습니다. Cypher로 이 관계를 따라가면 처음의 질문에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SOP의 구성요소로 본 것 가운데 셋이 입력입니다. 첫 행에서 SOP 한 편이 조치 방법 노드 하나가 되고 번호가 붙은 줄이 작업 단계가 되었습니다. 둘째 행의 금지는 부하를 60 % 아래로 내리지 못한다는 조치의 하한으로 남았습니다. 셋째 행의 전제 조건은 3회차에 결정표에서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조치가 지표에 미치는 영향을 따라가며 본 지표들입니다. 한 조치가 한 지표에는 이롭고 다른 지표에는 불리했습니다.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2회차와 3회차는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걸음 전체의 밑그림은 1회차의 관계 그림입니다. 쿨러 사건의 추천안이 이 다섯 걸음으로 만들어졌고, 그것이 가능했던 것은 네 회차의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행마다 윗줄이 매뉴얼에서 온 기준이고 아랫줄이 그 순간에 시계열 DB에서 읽은 값입니다. 첫 행부터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본 순위 그대로입니다. 넷 모두 제외 규칙을 통과했고, 쿨러 핀 세척에는 경고가 붙었으며, 순서는 성과 기준이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추천안에 근거가 붙어 나오는 화면입니다. 이제는 줄마다 그것이 어디에서 왔는지를 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위의 둘은 지식 그래프에 있고 맨 아래의 값은 지식 그래프 밖의 원천에 있습니다. 줄마다 둘째 줄이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기준이 틀렸으면 인용을 따라 문서로 가고, 숫자가 틀렸으면 값을 읽은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결정표의 행으로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규칙은 오른쪽으로 문서에 이어지고 아래로 값의 자리에 이어집니다.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규칙만 있고 근거가 없으면 어느 규칙을 고쳐야 하는지 찾을 수 없습니다.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 AI에게 그대로 물으면 답의 근거를 확인할 수 없다고 했습니다. 그 문제에 대한 답이 이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회차의 내용을 한 문장으로 줄인 것입니다. 근거가 있는 판단이 뜻하는 것이 이것입니다. 다음 회차부터는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지식 후보, 매핑, 판본, 개정 이력, 값의 자리가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형식이 맞는지와 인용문이 원문에 있는지의 확인이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2.png"/><Relationship Id="rId4" Type="http://schemas.openxmlformats.org/officeDocument/2006/relationships/image" Target="../media/image18.png"/><Relationship Id="rId5" Type="http://schemas.openxmlformats.org/officeDocument/2006/relationships/image" Target="../media/image12.png"/><Relationship Id="rId6"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34.png"/><Relationship Id="rId6"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 Id="rId4" Type="http://schemas.openxmlformats.org/officeDocument/2006/relationships/image" Target="../media/image31.png"/><Relationship Id="rId5" Type="http://schemas.openxmlformats.org/officeDocument/2006/relationships/image" Target="../media/image43.png"/><Relationship Id="rId6"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4.png"/><Relationship Id="rId4" Type="http://schemas.openxmlformats.org/officeDocument/2006/relationships/image" Target="../media/image8.png"/><Relationship Id="rId5" Type="http://schemas.openxmlformats.org/officeDocument/2006/relationships/image" Target="../media/image28.png"/><Relationship Id="rId6" Type="http://schemas.openxmlformats.org/officeDocument/2006/relationships/image" Target="../media/image27.png"/><Relationship Id="rId7" Type="http://schemas.openxmlformats.org/officeDocument/2006/relationships/image" Target="../media/image4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5.png"/><Relationship Id="rId4"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11.png"/><Relationship Id="rId6"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34.png"/><Relationship Id="rId6"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8.png"/><Relationship Id="rId4" Type="http://schemas.openxmlformats.org/officeDocument/2006/relationships/image" Target="../media/image27.png"/><Relationship Id="rId5" Type="http://schemas.openxmlformats.org/officeDocument/2006/relationships/image" Target="../media/image4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3.png"/><Relationship Id="rId4" Type="http://schemas.openxmlformats.org/officeDocument/2006/relationships/image" Target="../media/image4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0.png"/><Relationship Id="rId4" Type="http://schemas.openxmlformats.org/officeDocument/2006/relationships/image" Target="../media/image45.png"/><Relationship Id="rId5"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4회차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문서를 검토된 지식으로</a:t>
            </a:r>
          </a:p>
          <a:p>
            <a:pPr algn="l">
              <a:lnSpc>
                <a:spcPct val="110000"/>
              </a:lnSpc>
            </a:pPr>
            <a:r>
              <a:rPr sz="4000" b="1">
                <a:solidFill>
                  <a:srgbClr val="FFFFFF"/>
                </a:solidFill>
                <a:latin typeface="맑은 고딕"/>
                <a:ea typeface="맑은 고딕"/>
                <a:cs typeface="맑은 고딕"/>
              </a:rPr>
              <a:t>전환하는 인제스천</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원문 등록에서 출처 조회까지의 과정과 온톨로지 영역의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출처를 가진 지식으로 등록되는 과정을 익히고 온톨로지 영역 전체를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단계</a:t>
            </a:r>
          </a:p>
          <a:p>
            <a:pPr algn="l">
              <a:lnSpc>
                <a:spcPct val="110000"/>
              </a:lnSpc>
              <a:spcAft>
                <a:spcPts val="400"/>
              </a:spcAft>
            </a:pPr>
            <a:r>
              <a:rPr sz="1350" b="0">
                <a:solidFill>
                  <a:srgbClr val="1F2A3A"/>
                </a:solidFill>
                <a:latin typeface="맑은 고딕"/>
                <a:ea typeface="맑은 고딕"/>
                <a:cs typeface="맑은 고딕"/>
              </a:rPr>
              <a:t>원문 보관에서 출처 조회까지 일곱 단계가 하는 일을 순서대로 설명한다</a:t>
            </a:r>
          </a:p>
        </p:txBody>
      </p:sp>
      <p:sp>
        <p:nvSpPr>
          <p:cNvPr id="10" name="Rounded Rectangle 9"/>
          <p:cNvSpPr/>
          <p:nvPr/>
        </p:nvSpPr>
        <p:spPr>
          <a:xfrm>
            <a:off x="777240" y="516921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과정</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350" b="0">
                <a:solidFill>
                  <a:srgbClr val="1F2A3A"/>
                </a:solidFill>
                <a:latin typeface="맑은 고딕"/>
                <a:ea typeface="맑은 고딕"/>
                <a:cs typeface="맑은 고딕"/>
              </a:rPr>
              <a:t>추출 결과를 원문 인용과 대조해 틀린 곳을 가려내고 검토한 것만 적재한다</a:t>
            </a:r>
          </a:p>
        </p:txBody>
      </p:sp>
      <p:sp>
        <p:nvSpPr>
          <p:cNvPr id="16" name="Rounded Rectangle 15"/>
          <p:cNvSpPr/>
          <p:nvPr/>
        </p:nvSpPr>
        <p:spPr>
          <a:xfrm>
            <a:off x="3619423" y="5169217"/>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 · 실습</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versions" descr="versions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a:t>
            </a:r>
          </a:p>
          <a:p>
            <a:pPr algn="l">
              <a:lnSpc>
                <a:spcPct val="110000"/>
              </a:lnSpc>
              <a:spcAft>
                <a:spcPts val="400"/>
              </a:spcAft>
            </a:pPr>
            <a:r>
              <a:rPr sz="1350" b="0">
                <a:solidFill>
                  <a:srgbClr val="1F2A3A"/>
                </a:solidFill>
                <a:latin typeface="맑은 고딕"/>
                <a:ea typeface="맑은 고딕"/>
                <a:cs typeface="맑은 고딕"/>
              </a:rPr>
              <a:t>지식의 출처를 관계로 조회하고 개정된 기준을 이전 기준과 구별한다</a:t>
            </a:r>
          </a:p>
        </p:txBody>
      </p:sp>
      <p:sp>
        <p:nvSpPr>
          <p:cNvPr id="22" name="Rounded Rectangle 21"/>
          <p:cNvSpPr/>
          <p:nvPr/>
        </p:nvSpPr>
        <p:spPr>
          <a:xfrm>
            <a:off x="6461607" y="5169217"/>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 · 실습</a:t>
            </a:r>
          </a:p>
        </p:txBody>
      </p:sp>
      <p:sp>
        <p:nvSpPr>
          <p:cNvPr id="24" name="Rounded Rectangle 23"/>
          <p:cNvSpPr/>
          <p:nvPr/>
        </p:nvSpPr>
        <p:spPr>
          <a:xfrm>
            <a:off x="9075191" y="2383726"/>
            <a:ext cx="2567863" cy="321525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영역의 정리</a:t>
            </a:r>
          </a:p>
          <a:p>
            <a:pPr algn="l">
              <a:lnSpc>
                <a:spcPct val="110000"/>
              </a:lnSpc>
              <a:spcAft>
                <a:spcPts val="400"/>
              </a:spcAft>
            </a:pPr>
            <a:r>
              <a:rPr sz="1350" b="0">
                <a:solidFill>
                  <a:srgbClr val="1F2A3A"/>
                </a:solidFill>
                <a:latin typeface="맑은 고딕"/>
                <a:ea typeface="맑은 고딕"/>
                <a:cs typeface="맑은 고딕"/>
              </a:rPr>
              <a:t>네 회차의 결과물이 판단 한 건에서 쓰이는 자리를 설명한다</a:t>
            </a:r>
          </a:p>
        </p:txBody>
      </p:sp>
      <p:sp>
        <p:nvSpPr>
          <p:cNvPr id="28" name="Rounded Rectangle 27"/>
          <p:cNvSpPr/>
          <p:nvPr/>
        </p:nvSpPr>
        <p:spPr>
          <a:xfrm>
            <a:off x="9303791" y="516921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매뉴얼의 등록, 추출, 검토, 승인</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Claude Code로 문서에서 지식 추출하기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검토한 지식을 그래프 DB에 반영하기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개정에 따른 변경 결과 확인</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인스턴스의 적재와 문서 인제스천의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넣은 인스턴스와 달리 문서에서 들여온 지식은 근거 원문과 검토 기록이 남아야 판단의 근거로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database-import" descr="database-impor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2회차의 예시 인스턴스 적재</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설계한 스키마에 맞춰 사람이 정리한 예시 인스턴스와 관계</a:t>
            </a:r>
          </a:p>
          <a:p>
            <a:pPr algn="l">
              <a:lnSpc>
                <a:spcPct val="110000"/>
              </a:lnSpc>
              <a:spcAft>
                <a:spcPts val="600"/>
              </a:spcAft>
            </a:pPr>
            <a:r>
              <a:rPr sz="1450" b="0">
                <a:solidFill>
                  <a:srgbClr val="1F2A3A"/>
                </a:solidFill>
                <a:latin typeface="맑은 고딕"/>
                <a:ea typeface="맑은 고딕"/>
                <a:cs typeface="맑은 고딕"/>
              </a:rPr>
              <a:t>• 넣는 방법: Cypher 문으로 그래프 DB에 직접 적재한다</a:t>
            </a:r>
          </a:p>
          <a:p>
            <a:pPr algn="l">
              <a:lnSpc>
                <a:spcPct val="110000"/>
              </a:lnSpc>
              <a:spcAft>
                <a:spcPts val="600"/>
              </a:spcAft>
            </a:pPr>
            <a:r>
              <a:rPr sz="1450" b="0">
                <a:solidFill>
                  <a:srgbClr val="1F2A3A"/>
                </a:solidFill>
                <a:latin typeface="맑은 고딕"/>
                <a:ea typeface="맑은 고딕"/>
                <a:cs typeface="맑은 고딕"/>
              </a:rPr>
              <a:t>• 확인: 저장된 노드와 관계가 설계한 것과 같은지 조회해 본다</a:t>
            </a:r>
          </a:p>
          <a:p>
            <a:pPr algn="l">
              <a:lnSpc>
                <a:spcPct val="110000"/>
              </a:lnSpc>
              <a:spcAft>
                <a:spcPts val="600"/>
              </a:spcAft>
            </a:pPr>
            <a:r>
              <a:rPr sz="1450" b="0">
                <a:solidFill>
                  <a:srgbClr val="1F2A3A"/>
                </a:solidFill>
                <a:latin typeface="맑은 고딕"/>
                <a:ea typeface="맑은 고딕"/>
                <a:cs typeface="맑은 고딕"/>
              </a:rPr>
              <a:t>• 내용이 어디에서 왔는지는 넣은 사람이 안다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직접 정해 넣는다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file-import" descr="file-impor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 인제스천</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매뉴얼 원문에서 추출한 지식 후보</a:t>
            </a:r>
          </a:p>
          <a:p>
            <a:pPr algn="l">
              <a:lnSpc>
                <a:spcPct val="110000"/>
              </a:lnSpc>
              <a:spcAft>
                <a:spcPts val="600"/>
              </a:spcAft>
            </a:pPr>
            <a:r>
              <a:rPr sz="1450" b="0">
                <a:solidFill>
                  <a:srgbClr val="1F2A3A"/>
                </a:solidFill>
                <a:latin typeface="맑은 고딕"/>
                <a:ea typeface="맑은 고딕"/>
                <a:cs typeface="맑은 고딕"/>
              </a:rPr>
              <a:t>• 넣는 방법: 스키마와 식별자에 맞추고 원문 대조, 사람 검토, 승인을 거친 것만 적재한다</a:t>
            </a:r>
          </a:p>
          <a:p>
            <a:pPr algn="l">
              <a:lnSpc>
                <a:spcPct val="110000"/>
              </a:lnSpc>
              <a:spcAft>
                <a:spcPts val="600"/>
              </a:spcAft>
            </a:pPr>
            <a:r>
              <a:rPr sz="1450" b="0">
                <a:solidFill>
                  <a:srgbClr val="1F2A3A"/>
                </a:solidFill>
                <a:latin typeface="맑은 고딕"/>
                <a:ea typeface="맑은 고딕"/>
                <a:cs typeface="맑은 고딕"/>
              </a:rPr>
              <a:t>• 확인: 지식마다 근거가 된 원문 구간과 검토한 사람이 기록된다</a:t>
            </a:r>
          </a:p>
          <a:p>
            <a:pPr algn="l">
              <a:lnSpc>
                <a:spcPct val="110000"/>
              </a:lnSpc>
              <a:spcAft>
                <a:spcPts val="600"/>
              </a:spcAft>
            </a:pPr>
            <a:r>
              <a:rPr sz="1450" b="0">
                <a:solidFill>
                  <a:srgbClr val="1F2A3A"/>
                </a:solidFill>
                <a:latin typeface="맑은 고딕"/>
                <a:ea typeface="맑은 고딕"/>
                <a:cs typeface="맑은 고딕"/>
              </a:rPr>
              <a:t>• 손으로 옮기면 느리고 빠뜨리며 개정 때마다 되풀이되므로 정해진 과정으로 둔다</a:t>
            </a:r>
          </a:p>
        </p:txBody>
      </p:sp>
      <p:sp>
        <p:nvSpPr>
          <p:cNvPr id="18" name="Rounded Rectangle 17"/>
          <p:cNvSpPr/>
          <p:nvPr/>
        </p:nvSpPr>
        <p:spPr>
          <a:xfrm>
            <a:off x="6781647" y="5547296"/>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검토해 출처와 함께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인제스천_전체.svg" descr="illust_7891228106698875287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2단계에서 절과 단계로 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정해진 형식에는 맞아 프로그램의 검사로 드러나지 않으므로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인용.svg" descr="illust_8461561332909107541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인제스천_6.svg" descr="illust_7923349212144680434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적재묶음_사슬.svg" descr="illust_7643442384725368045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입력데이터_자리.svg" descr="illust_6493621877835910792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a:p>
            <a:pPr algn="l">
              <a:lnSpc>
                <a:spcPct val="110000"/>
              </a:lnSpc>
              <a:spcAft>
                <a:spcPts val="400"/>
              </a:spcAft>
            </a:pPr>
            <a:r>
              <a:rPr sz="1400" b="0">
                <a:solidFill>
                  <a:srgbClr val="1F2A3A"/>
                </a:solidFill>
                <a:latin typeface="맑은 고딕"/>
                <a:ea typeface="맑은 고딕"/>
                <a:cs typeface="맑은 고딕"/>
              </a:rPr>
              <a:t>• 원문에 근거가 없는 후보는 보류한다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문서 식별자, 쪽, 원문 문장이 붙은 검토용 구조화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7888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432507"/>
            <a:ext cx="424281" cy="424281"/>
          </a:xfrm>
          <a:prstGeom prst="rect">
            <a:avLst/>
          </a:prstGeom>
        </p:spPr>
      </p:pic>
      <p:sp>
        <p:nvSpPr>
          <p:cNvPr id="9" name="TextBox 8"/>
          <p:cNvSpPr txBox="1"/>
          <p:nvPr/>
        </p:nvSpPr>
        <p:spPr>
          <a:xfrm>
            <a:off x="713232"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작업 단계, 단위, 금지 조건을 확인한다</a:t>
            </a:r>
          </a:p>
        </p:txBody>
      </p:sp>
      <p:sp>
        <p:nvSpPr>
          <p:cNvPr id="10" name="Rounded Rectangle 9"/>
          <p:cNvSpPr/>
          <p:nvPr/>
        </p:nvSpPr>
        <p:spPr>
          <a:xfrm>
            <a:off x="777240" y="547522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278888"/>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432507"/>
            <a:ext cx="424281" cy="424281"/>
          </a:xfrm>
          <a:prstGeom prst="rect">
            <a:avLst/>
          </a:prstGeom>
        </p:spPr>
      </p:pic>
      <p:sp>
        <p:nvSpPr>
          <p:cNvPr id="15" name="TextBox 14"/>
          <p:cNvSpPr txBox="1"/>
          <p:nvPr/>
        </p:nvSpPr>
        <p:spPr>
          <a:xfrm>
            <a:off x="4502810"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JSON(JavaScript Object Notation) 형식으로, 후보마다 문서 식별자, 쪽, 원문 문장을 함께 내게 한다</a:t>
            </a:r>
          </a:p>
        </p:txBody>
      </p:sp>
      <p:sp>
        <p:nvSpPr>
          <p:cNvPr id="16" name="Rounded Rectangle 15"/>
          <p:cNvSpPr/>
          <p:nvPr/>
        </p:nvSpPr>
        <p:spPr>
          <a:xfrm>
            <a:off x="4566818" y="5475224"/>
            <a:ext cx="109423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75224"/>
            <a:ext cx="1094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JSON 출력</a:t>
            </a:r>
          </a:p>
        </p:txBody>
      </p:sp>
      <p:sp>
        <p:nvSpPr>
          <p:cNvPr id="18" name="Rounded Rectangle 17"/>
          <p:cNvSpPr/>
          <p:nvPr/>
        </p:nvSpPr>
        <p:spPr>
          <a:xfrm>
            <a:off x="8127796" y="2077720"/>
            <a:ext cx="3515258" cy="382727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278888"/>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432507"/>
            <a:ext cx="424281" cy="424281"/>
          </a:xfrm>
          <a:prstGeom prst="rect">
            <a:avLst/>
          </a:prstGeom>
        </p:spPr>
      </p:pic>
      <p:sp>
        <p:nvSpPr>
          <p:cNvPr id="21" name="TextBox 20"/>
          <p:cNvSpPr txBox="1"/>
          <p:nvPr/>
        </p:nvSpPr>
        <p:spPr>
          <a:xfrm>
            <a:off x="8292388"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오탈자와 긍정 · 부정이 뒤바뀐 조건을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475224"/>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7522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개정에 따른 변경 결과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정비 절차에서 바뀐 조건 한 건을 반영하고 이전 기준과 새 기준을 출처로 구별한다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개정과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조치의 이전 기준과 새 기준이 출처로 구별되는 그래프와 그것을 확인한 조회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개정 내용 확인</a:t>
            </a:r>
          </a:p>
          <a:p>
            <a:pPr algn="ctr">
              <a:lnSpc>
                <a:spcPct val="110000"/>
              </a:lnSpc>
              <a:spcAft>
                <a:spcPts val="400"/>
              </a:spcAft>
            </a:pPr>
            <a:r>
              <a:rPr sz="1350" b="0">
                <a:solidFill>
                  <a:srgbClr val="1F2A3A"/>
                </a:solidFill>
                <a:latin typeface="맑은 고딕"/>
                <a:ea typeface="맑은 고딕"/>
                <a:cs typeface="맑은 고딕"/>
              </a:rPr>
              <a:t>정비 절차에서</a:t>
            </a:r>
          </a:p>
          <a:p>
            <a:pPr algn="ctr">
              <a:lnSpc>
                <a:spcPct val="110000"/>
              </a:lnSpc>
              <a:spcAft>
                <a:spcPts val="400"/>
              </a:spcAft>
            </a:pPr>
            <a:r>
              <a:rPr sz="1350" b="0">
                <a:solidFill>
                  <a:srgbClr val="1F2A3A"/>
                </a:solidFill>
                <a:latin typeface="맑은 고딕"/>
                <a:ea typeface="맑은 고딕"/>
                <a:cs typeface="맑은 고딕"/>
              </a:rPr>
              <a:t>바뀐 조건 한 건을</a:t>
            </a:r>
          </a:p>
          <a:p>
            <a:pPr algn="ctr">
              <a:lnSpc>
                <a:spcPct val="110000"/>
              </a:lnSpc>
              <a:spcAft>
                <a:spcPts val="400"/>
              </a:spcAft>
            </a:pPr>
            <a:r>
              <a:rPr sz="1350" b="0">
                <a:solidFill>
                  <a:srgbClr val="1F2A3A"/>
                </a:solidFill>
                <a:latin typeface="맑은 고딕"/>
                <a:ea typeface="맑은 고딕"/>
                <a:cs typeface="맑은 고딕"/>
              </a:rPr>
              <a:t>원문에서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기준 반영</a:t>
            </a:r>
          </a:p>
          <a:p>
            <a:pPr algn="ctr">
              <a:lnSpc>
                <a:spcPct val="110000"/>
              </a:lnSpc>
              <a:spcAft>
                <a:spcPts val="400"/>
              </a:spcAft>
            </a:pPr>
            <a:r>
              <a:rPr sz="1350" b="0">
                <a:solidFill>
                  <a:srgbClr val="1F2A3A"/>
                </a:solidFill>
                <a:latin typeface="맑은 고딕"/>
                <a:ea typeface="맑은 고딕"/>
                <a:cs typeface="맑은 고딕"/>
              </a:rPr>
              <a:t>바뀐 조건을 검토해</a:t>
            </a:r>
          </a:p>
          <a:p>
            <a:pPr algn="ctr">
              <a:lnSpc>
                <a:spcPct val="110000"/>
              </a:lnSpc>
              <a:spcAft>
                <a:spcPts val="400"/>
              </a:spcAft>
            </a:pPr>
            <a:r>
              <a:rPr sz="1350" b="0">
                <a:solidFill>
                  <a:srgbClr val="1F2A3A"/>
                </a:solidFill>
                <a:latin typeface="맑은 고딕"/>
                <a:ea typeface="맑은 고딕"/>
                <a:cs typeface="맑은 고딕"/>
              </a:rPr>
              <a:t>새 출처와 함께</a:t>
            </a:r>
          </a:p>
          <a:p>
            <a:pPr algn="ctr">
              <a:lnSpc>
                <a:spcPct val="110000"/>
              </a:lnSpc>
              <a:spcAft>
                <a:spcPts val="400"/>
              </a:spcAft>
            </a:pPr>
            <a:r>
              <a:rPr sz="1350" b="0">
                <a:solidFill>
                  <a:srgbClr val="1F2A3A"/>
                </a:solidFill>
                <a:latin typeface="맑은 고딕"/>
                <a:ea typeface="맑은 고딕"/>
                <a:cs typeface="맑은 고딕"/>
              </a:rPr>
              <a:t>그래프에 넣는다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기준의 구별</a:t>
            </a:r>
          </a:p>
          <a:p>
            <a:pPr algn="ctr">
              <a:lnSpc>
                <a:spcPct val="110000"/>
              </a:lnSpc>
              <a:spcAft>
                <a:spcPts val="400"/>
              </a:spcAft>
            </a:pPr>
            <a:r>
              <a:rPr sz="1350" b="0">
                <a:solidFill>
                  <a:srgbClr val="1F2A3A"/>
                </a:solidFill>
                <a:latin typeface="맑은 고딕"/>
                <a:ea typeface="맑은 고딕"/>
                <a:cs typeface="맑은 고딕"/>
              </a:rPr>
              <a:t>이전 기준과</a:t>
            </a:r>
          </a:p>
          <a:p>
            <a:pPr algn="ctr">
              <a:lnSpc>
                <a:spcPct val="110000"/>
              </a:lnSpc>
              <a:spcAft>
                <a:spcPts val="400"/>
              </a:spcAft>
            </a:pPr>
            <a:r>
              <a:rPr sz="1350" b="0">
                <a:solidFill>
                  <a:srgbClr val="1F2A3A"/>
                </a:solidFill>
                <a:latin typeface="맑은 고딕"/>
                <a:ea typeface="맑은 고딕"/>
                <a:cs typeface="맑은 고딕"/>
              </a:rPr>
              <a:t>새 기준을 출처로</a:t>
            </a:r>
          </a:p>
          <a:p>
            <a:pPr algn="ctr">
              <a:lnSpc>
                <a:spcPct val="110000"/>
              </a:lnSpc>
              <a:spcAft>
                <a:spcPts val="400"/>
              </a:spcAft>
            </a:pPr>
            <a:r>
              <a:rPr sz="1350" b="0">
                <a:solidFill>
                  <a:srgbClr val="1F2A3A"/>
                </a:solidFill>
                <a:latin typeface="맑은 고딕"/>
                <a:ea typeface="맑은 고딕"/>
                <a:cs typeface="맑은 고딕"/>
              </a:rPr>
              <a:t>가려 조회한다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중복 확인</a:t>
            </a:r>
          </a:p>
          <a:p>
            <a:pPr algn="ctr">
              <a:lnSpc>
                <a:spcPct val="110000"/>
              </a:lnSpc>
              <a:spcAft>
                <a:spcPts val="400"/>
              </a:spcAft>
            </a:pPr>
            <a:r>
              <a:rPr sz="1350" b="0">
                <a:solidFill>
                  <a:srgbClr val="1F2A3A"/>
                </a:solidFill>
                <a:latin typeface="맑은 고딕"/>
                <a:ea typeface="맑은 고딕"/>
                <a:cs typeface="맑은 고딕"/>
              </a:rPr>
              <a:t>같은 대상이</a:t>
            </a:r>
          </a:p>
          <a:p>
            <a:pPr algn="ctr">
              <a:lnSpc>
                <a:spcPct val="110000"/>
              </a:lnSpc>
              <a:spcAft>
                <a:spcPts val="400"/>
              </a:spcAft>
            </a:pPr>
            <a:r>
              <a:rPr sz="1350" b="0">
                <a:solidFill>
                  <a:srgbClr val="1F2A3A"/>
                </a:solidFill>
                <a:latin typeface="맑은 고딕"/>
                <a:ea typeface="맑은 고딕"/>
                <a:cs typeface="맑은 고딕"/>
              </a:rPr>
              <a:t>둘로 들어가지</a:t>
            </a:r>
          </a:p>
          <a:p>
            <a:pPr algn="ctr">
              <a:lnSpc>
                <a:spcPct val="110000"/>
              </a:lnSpc>
              <a:spcAft>
                <a:spcPts val="400"/>
              </a:spcAft>
            </a:pPr>
            <a:r>
              <a:rPr sz="1350" b="0">
                <a:solidFill>
                  <a:srgbClr val="1F2A3A"/>
                </a:solidFill>
                <a:latin typeface="맑은 고딕"/>
                <a:ea typeface="맑은 고딕"/>
                <a:cs typeface="맑은 고딕"/>
              </a:rPr>
              <a:t>않았는지 조회한다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네 회차의 결과물이 하나의 지식 그래프로 쌓이는 순서와 그 쓰임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회차의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회차는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네일차_흐름.svg" descr="illust_5130936238677179413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a:t>
            </a:r>
          </a:p>
          <a:p>
            <a:pPr algn="ctr">
              <a:lnSpc>
                <a:spcPct val="110000"/>
              </a:lnSpc>
              <a:spcAft>
                <a:spcPts val="100"/>
              </a:spcAft>
            </a:pPr>
            <a:r>
              <a:rPr sz="1300" b="0">
                <a:solidFill>
                  <a:srgbClr val="556175"/>
                </a:solidFill>
                <a:latin typeface="맑은 고딕"/>
                <a:ea typeface="맑은 고딕"/>
                <a:cs typeface="맑은 고딕"/>
              </a:rPr>
              <a:t>온톨로지의 필요, 클래스</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a:t>
            </a:r>
          </a:p>
          <a:p>
            <a:pPr algn="ctr">
              <a:lnSpc>
                <a:spcPct val="110000"/>
              </a:lnSpc>
              <a:spcAft>
                <a:spcPts val="100"/>
              </a:spcAft>
            </a:pPr>
            <a:r>
              <a:rPr sz="1300" b="0">
                <a:solidFill>
                  <a:srgbClr val="556175"/>
                </a:solidFill>
                <a:latin typeface="맑은 고딕"/>
                <a:ea typeface="맑은 고딕"/>
                <a:cs typeface="맑은 고딕"/>
              </a:rPr>
              <a:t>스키마, 그래프 DB, SOP</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3회차</a:t>
            </a:r>
          </a:p>
          <a:p>
            <a:pPr algn="ctr">
              <a:lnSpc>
                <a:spcPct val="110000"/>
              </a:lnSpc>
              <a:spcAft>
                <a:spcPts val="100"/>
              </a:spcAft>
            </a:pPr>
            <a:r>
              <a:rPr sz="1300" b="0">
                <a:solidFill>
                  <a:srgbClr val="556175"/>
                </a:solidFill>
                <a:latin typeface="맑은 고딕"/>
                <a:ea typeface="맑은 고딕"/>
                <a:cs typeface="맑은 고딕"/>
              </a:rPr>
              <a:t>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4회차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1회차는 네 곳에 흩어진 정보를 노드와 이름 붙은 관계로 꺼내 적었고, 스키마의 정의와 제약이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관계.svg" descr="illust_4574315648433355133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어긋난 것을 걸러 내는 제약</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2회차의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engine" descr="engine_13294B_1.6.png"/>
          <p:cNvPicPr>
            <a:picLocks noChangeAspect="1"/>
          </p:cNvPicPr>
          <p:nvPr/>
        </p:nvPicPr>
        <p:blipFill>
          <a:blip r:embed="rId3"/>
          <a:stretch>
            <a:fillRect/>
          </a:stretch>
        </p:blipFill>
        <p:spPr>
          <a:xfrm>
            <a:off x="1208836" y="3365906"/>
            <a:ext cx="416966" cy="416966"/>
          </a:xfrm>
          <a:prstGeom prst="rect">
            <a:avLst/>
          </a:prstGeom>
        </p:spPr>
      </p:pic>
      <p:sp>
        <p:nvSpPr>
          <p:cNvPr id="8" name="TextBox 7"/>
          <p:cNvSpPr txBox="1"/>
          <p:nvPr/>
        </p:nvSpPr>
        <p:spPr>
          <a:xfrm>
            <a:off x="670255"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asset:hyd-01</a:t>
            </a:r>
          </a:p>
        </p:txBody>
      </p:sp>
      <p:sp>
        <p:nvSpPr>
          <p:cNvPr id="9" name="Oval 8"/>
          <p:cNvSpPr/>
          <p:nvPr/>
        </p:nvSpPr>
        <p:spPr>
          <a:xfrm>
            <a:off x="5227167" y="3122676"/>
            <a:ext cx="1737360" cy="1737360"/>
          </a:xfrm>
          <a:prstGeom prst="ellipse">
            <a:avLst/>
          </a:prstGeom>
          <a:solidFill>
            <a:srgbClr val="5CB8F2"/>
          </a:solidFill>
          <a:ln w="25400">
            <a:solidFill>
              <a:srgbClr val="13294B"/>
            </a:solidFill>
          </a:ln>
        </p:spPr>
        <p:txBody>
          <a:bodyPr rtlCol="0" anchor="ctr"/>
          <a:lstStyle/>
          <a:p>
            <a:pPr algn="ctr"/>
          </a:p>
        </p:txBody>
      </p:sp>
      <p:pic>
        <p:nvPicPr>
          <p:cNvPr id="10" name="아이콘:components" descr="components_13294B_1.6.png"/>
          <p:cNvPicPr>
            <a:picLocks noChangeAspect="1"/>
          </p:cNvPicPr>
          <p:nvPr/>
        </p:nvPicPr>
        <p:blipFill>
          <a:blip r:embed="rId4"/>
          <a:stretch>
            <a:fillRect/>
          </a:stretch>
        </p:blipFill>
        <p:spPr>
          <a:xfrm>
            <a:off x="5887364" y="3365906"/>
            <a:ext cx="416966" cy="416966"/>
          </a:xfrm>
          <a:prstGeom prst="rect">
            <a:avLst/>
          </a:prstGeom>
        </p:spPr>
      </p:pic>
      <p:sp>
        <p:nvSpPr>
          <p:cNvPr id="11" name="TextBox 10"/>
          <p:cNvSpPr txBox="1"/>
          <p:nvPr/>
        </p:nvSpPr>
        <p:spPr>
          <a:xfrm>
            <a:off x="5348782"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a:p>
            <a:pPr algn="ctr">
              <a:lnSpc>
                <a:spcPct val="110000"/>
              </a:lnSpc>
            </a:pPr>
            <a:r>
              <a:rPr sz="1100" b="0">
                <a:solidFill>
                  <a:srgbClr val="556175"/>
                </a:solidFill>
                <a:latin typeface="맑은 고딕"/>
                <a:ea typeface="맑은 고딕"/>
                <a:cs typeface="맑은 고딕"/>
              </a:rPr>
              <a:t>comp:cooler</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gauge" descr="gauge_13294B_1.6.png"/>
          <p:cNvPicPr>
            <a:picLocks noChangeAspect="1"/>
          </p:cNvPicPr>
          <p:nvPr/>
        </p:nvPicPr>
        <p:blipFill>
          <a:blip r:embed="rId5"/>
          <a:stretch>
            <a:fillRect/>
          </a:stretch>
        </p:blipFill>
        <p:spPr>
          <a:xfrm>
            <a:off x="10565892" y="3365906"/>
            <a:ext cx="416966" cy="416966"/>
          </a:xfrm>
          <a:prstGeom prst="rect">
            <a:avLst/>
          </a:prstGeom>
        </p:spPr>
      </p:pic>
      <p:sp>
        <p:nvSpPr>
          <p:cNvPr id="14" name="TextBox 13"/>
          <p:cNvSpPr txBox="1"/>
          <p:nvPr/>
        </p:nvSpPr>
        <p:spPr>
          <a:xfrm>
            <a:off x="10027310"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센서</a:t>
            </a:r>
          </a:p>
          <a:p>
            <a:pPr algn="ctr">
              <a:lnSpc>
                <a:spcPct val="110000"/>
              </a:lnSpc>
            </a:pPr>
            <a:r>
              <a:rPr sz="1100" b="0">
                <a:solidFill>
                  <a:srgbClr val="556175"/>
                </a:solidFill>
                <a:latin typeface="맑은 고딕"/>
                <a:ea typeface="맑은 고딕"/>
                <a:cs typeface="맑은 고딕"/>
              </a:rPr>
              <a:t>sen:ts1</a:t>
            </a:r>
          </a:p>
        </p:txBody>
      </p:sp>
      <p:cxnSp>
        <p:nvCxnSpPr>
          <p:cNvPr id="15" name="Connector 14"/>
          <p:cNvCxnSpPr/>
          <p:nvPr/>
        </p:nvCxnSpPr>
        <p:spPr>
          <a:xfrm>
            <a:off x="2331720" y="3991356"/>
            <a:ext cx="2822295" cy="0"/>
          </a:xfrm>
          <a:prstGeom prst="line">
            <a:avLst/>
          </a:prstGeom>
          <a:ln w="28575">
            <a:solidFill>
              <a:srgbClr val="13294B"/>
            </a:solidFill>
            <a:tailEnd type="triangle" w="med" len="med"/>
          </a:ln>
        </p:spPr>
      </p:cxnSp>
      <p:sp>
        <p:nvSpPr>
          <p:cNvPr id="16" name="Rounded Rectangle 15"/>
          <p:cNvSpPr/>
          <p:nvPr/>
        </p:nvSpPr>
        <p:spPr>
          <a:xfrm>
            <a:off x="2919798" y="362559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2919798" y="3625596"/>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18" name="Connector 17"/>
          <p:cNvCxnSpPr/>
          <p:nvPr/>
        </p:nvCxnSpPr>
        <p:spPr>
          <a:xfrm>
            <a:off x="7010247" y="3991356"/>
            <a:ext cx="2822296" cy="0"/>
          </a:xfrm>
          <a:prstGeom prst="line">
            <a:avLst/>
          </a:prstGeom>
          <a:ln w="28575">
            <a:solidFill>
              <a:srgbClr val="13294B"/>
            </a:solidFill>
            <a:tailEnd type="triangle" w="med" len="med"/>
          </a:ln>
        </p:spPr>
      </p:cxnSp>
      <p:sp>
        <p:nvSpPr>
          <p:cNvPr id="19" name="Rounded Rectangle 18"/>
          <p:cNvSpPr/>
          <p:nvPr/>
        </p:nvSpPr>
        <p:spPr>
          <a:xfrm>
            <a:off x="765175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765175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 · 3회차의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옮겨지고 금지 사항은 조치의 하한으로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3회차의 또 다른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인터록 여유</a:t>
            </a:r>
          </a:p>
          <a:p>
            <a:pPr algn="l">
              <a:lnSpc>
                <a:spcPct val="110000"/>
              </a:lnSpc>
              <a:spcAft>
                <a:spcPts val="400"/>
              </a:spcAft>
            </a:pPr>
            <a:r>
              <a:rPr sz="1400" b="0">
                <a:solidFill>
                  <a:srgbClr val="1F2A3A"/>
                </a:solidFill>
                <a:latin typeface="맑은 고딕"/>
                <a:ea typeface="맑은 고딕"/>
                <a:cs typeface="맑은 고딕"/>
              </a:rPr>
              <a:t>유온이 내려가면 늘어난다</a:t>
            </a:r>
          </a:p>
        </p:txBody>
      </p:sp>
      <p:sp>
        <p:nvSpPr>
          <p:cNvPr id="10" name="Rounded Rectangle 9"/>
          <p:cNvSpPr/>
          <p:nvPr/>
        </p:nvSpPr>
        <p:spPr>
          <a:xfrm>
            <a:off x="777240" y="482447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전력 사용량</a:t>
            </a:r>
          </a:p>
          <a:p>
            <a:pPr algn="l">
              <a:lnSpc>
                <a:spcPct val="110000"/>
              </a:lnSpc>
              <a:spcAft>
                <a:spcPts val="400"/>
              </a:spcAft>
            </a:pPr>
            <a:r>
              <a:rPr sz="1400" b="0">
                <a:solidFill>
                  <a:srgbClr val="1F2A3A"/>
                </a:solidFill>
                <a:latin typeface="맑은 고딕"/>
                <a:ea typeface="맑은 고딕"/>
                <a:cs typeface="맑은 고딕"/>
              </a:rPr>
              <a:t>팬 속도를 올리면 늘어난다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비용</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 준수율</a:t>
            </a:r>
          </a:p>
          <a:p>
            <a:pPr algn="l">
              <a:lnSpc>
                <a:spcPct val="110000"/>
              </a:lnSpc>
              <a:spcAft>
                <a:spcPts val="400"/>
              </a:spcAft>
            </a:pPr>
            <a:r>
              <a:rPr sz="1400" b="0">
                <a:solidFill>
                  <a:srgbClr val="1F2A3A"/>
                </a:solidFill>
                <a:latin typeface="맑은 고딕"/>
                <a:ea typeface="맑은 고딕"/>
                <a:cs typeface="맑은 고딕"/>
              </a:rPr>
              <a:t>펌프 부하를 내리면 낮아진다</a:t>
            </a:r>
          </a:p>
        </p:txBody>
      </p:sp>
      <p:sp>
        <p:nvSpPr>
          <p:cNvPr id="22" name="Rounded Rectangle 21"/>
          <p:cNvSpPr/>
          <p:nvPr/>
        </p:nvSpPr>
        <p:spPr>
          <a:xfrm>
            <a:off x="8356396" y="482447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고객</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4회차는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네 회차의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회차의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2회차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2회차와 4회차의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경로_3.svg" descr="illust_688571767696211755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4회차의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증거 기준(지식)과 읽은 값(원천)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냉각 효율 평균 70 % 미만이고 팬 진동 평균 0.9 mm/s 미만</a:t>
            </a:r>
          </a:p>
          <a:p>
            <a:pPr algn="l">
              <a:lnSpc>
                <a:spcPct val="110000"/>
              </a:lnSpc>
            </a:pPr>
            <a:r>
              <a:rPr sz="1400" b="0">
                <a:solidFill>
                  <a:srgbClr val="1F2A3A"/>
                </a:solidFill>
                <a:latin typeface="맑은 고딕"/>
                <a:ea typeface="맑은 고딕"/>
                <a:cs typeface="맑은 고딕"/>
              </a:rPr>
              <a:t>읽은 값: 냉각 효율 46.2 %, 팬 진동 0.575 mm/s</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맞음</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팬 진동 평균 0.9 mm/s 이상</a:t>
            </a:r>
          </a:p>
          <a:p>
            <a:pPr algn="l">
              <a:lnSpc>
                <a:spcPct val="110000"/>
              </a:lnSpc>
            </a:pPr>
            <a:r>
              <a:rPr sz="1400" b="0">
                <a:solidFill>
                  <a:srgbClr val="1F2A3A"/>
                </a:solidFill>
                <a:latin typeface="맑은 고딕"/>
                <a:ea typeface="맑은 고딕"/>
                <a:cs typeface="맑은 고딕"/>
              </a:rPr>
              <a:t>읽은 값: 팬 진동 0.575 mm/s</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캐비닛 온도 평균 35 ℃ 이상</a:t>
            </a:r>
          </a:p>
          <a:p>
            <a:pPr algn="l">
              <a:lnSpc>
                <a:spcPct val="110000"/>
              </a:lnSpc>
            </a:pPr>
            <a:r>
              <a:rPr sz="1400" b="0">
                <a:solidFill>
                  <a:srgbClr val="1F2A3A"/>
                </a:solidFill>
                <a:latin typeface="맑은 고딕"/>
                <a:ea typeface="맑은 고딕"/>
                <a:cs typeface="맑은 고딕"/>
              </a:rPr>
              <a:t>읽은 값: 캐비닛 온도 28 ℃</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3회차의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방법과 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 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 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 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경고</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회차의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지식의 구조</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원인은 고장 유형을 CAUSES로 가리킨다.</a:t>
            </a:r>
          </a:p>
          <a:p>
            <a:pPr algn="l">
              <a:lnSpc>
                <a:spcPct val="110000"/>
              </a:lnSpc>
              <a:spcAft>
                <a:spcPts val="300"/>
              </a:spcAft>
            </a:pPr>
            <a:r>
              <a:rPr sz="1400" b="0">
                <a:solidFill>
                  <a:srgbClr val="1F2A3A"/>
                </a:solidFill>
                <a:latin typeface="맑은 고딕"/>
                <a:ea typeface="맑은 고딕"/>
                <a:cs typeface="맑은 고딕"/>
              </a:rPr>
              <a:t>설계를 고칠 때만 바뀐다.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 데이터</a:t>
            </a:r>
          </a:p>
          <a:p>
            <a:pPr algn="l">
              <a:lnSpc>
                <a:spcPct val="110000"/>
              </a:lnSpc>
              <a:spcAft>
                <a:spcPts val="200"/>
              </a:spcAft>
            </a:pPr>
            <a:r>
              <a:rPr sz="1150" b="0">
                <a:solidFill>
                  <a:srgbClr val="556175"/>
                </a:solidFill>
                <a:latin typeface="맑은 고딕"/>
                <a:ea typeface="맑은 고딕"/>
                <a:cs typeface="맑은 고딕"/>
              </a:rPr>
              <a:t>지식</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쿨러 핀 오염이 쿨러 냉각 성능 상실을 일으킨다.</a:t>
            </a:r>
          </a:p>
          <a:p>
            <a:pPr algn="l">
              <a:lnSpc>
                <a:spcPct val="110000"/>
              </a:lnSpc>
              <a:spcAft>
                <a:spcPts val="300"/>
              </a:spcAft>
            </a:pPr>
            <a:r>
              <a:rPr sz="1400" b="0">
                <a:solidFill>
                  <a:srgbClr val="1F2A3A"/>
                </a:solidFill>
                <a:latin typeface="맑은 고딕"/>
                <a:ea typeface="맑은 고딕"/>
                <a:cs typeface="맑은 고딕"/>
              </a:rPr>
              <a:t>근거 문서가 개정될 때 바뀐다.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a:t>
            </a:r>
          </a:p>
          <a:p>
            <a:pPr algn="l">
              <a:lnSpc>
                <a:spcPct val="110000"/>
              </a:lnSpc>
              <a:spcAft>
                <a:spcPts val="200"/>
              </a:spcAft>
            </a:pPr>
            <a:r>
              <a:rPr sz="1150" b="0">
                <a:solidFill>
                  <a:srgbClr val="556175"/>
                </a:solidFill>
                <a:latin typeface="맑은 고딕"/>
                <a:ea typeface="맑은 고딕"/>
                <a:cs typeface="맑은 고딕"/>
              </a:rPr>
              <a:t>실제 데이터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경보가 난 순간의 냉각 효율 46.2 %</a:t>
            </a:r>
          </a:p>
          <a:p>
            <a:pPr algn="l">
              <a:lnSpc>
                <a:spcPct val="110000"/>
              </a:lnSpc>
              <a:spcAft>
                <a:spcPts val="300"/>
              </a:spcAft>
            </a:pPr>
            <a:r>
              <a:rPr sz="1400" b="0">
                <a:solidFill>
                  <a:srgbClr val="1F2A3A"/>
                </a:solidFill>
                <a:latin typeface="맑은 고딕"/>
                <a:ea typeface="맑은 고딕"/>
                <a:cs typeface="맑은 고딕"/>
              </a:rPr>
              <a:t>매초, 또는 업무가 일어날 때마다 바뀐다.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그 값을 읽은 곳의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회차에서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원천 자료</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Source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지식의 출발점이 되는 자료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