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3회차까지는 지식이 들어갈 구조와 조치를 가리는 기준을 만들었습니다. 오늘은 현장 문서의 문장을 그 구조에 맞는 지식으로 들여오는 과정을 다루고, 네 개의 실습에서 직접 추출하고 검토해 적재합니다. 마지막에는 온톨로지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원인을 가리고 조치 하나를 대안과 함께 내놓은 결과를 추천안이라고 하며, 3회차에 본 1순위 조치가 그 추천입니다. 추천안을 만드는 프로그램은 에이전트라고 부르고 다음 회차부터 다룹니다. 이 추천안에는 원인과 조치와 출처가 함께 나옵니다.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2회차에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번호가 붙은 단계를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형식에는 맞는 결과입니다.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조치는 사람이 승인해야 설비 명령이 나가는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사이를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결정표에서 기준은 표에 적고 값은 판단할 때 읽었습니다. 같은 구분을 지식 그래프 전체에 적용합니다.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오른쪽 위의 이상 패턴은 어떤 값이 어떤 조건에 이르면 이상으로 볼지를 적어 둔 지식이며, 검사할 입력 데이터를 TESTS로 가리킵니다.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원문에서 근거를 찾을 수 없는 후보는 고치거나 보류합니다.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2회차에 만든 설비 모델과 조치의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절차에서 조건 한 건이 바뀌었을 때 그 조건을 검토해 새 출처와 함께 그래프에 넣습니다. 그런 다음 같은 조치의 이전 기준과 새 기준을 출처로 구별해 조회하고, 같은 대상이 둘로 들어가지 않았는지를 확인합니다. 개정한 뒤에도 어느 기준이 어느 판본에서 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1회차의 결과물은 손으로 그린 관계 그림이었고, 2회차에 그 그림에 스키마와 식별자라는 틀이 생겼습니다. 이어서 2회차의 SOP와 3회차의 판단 규칙과 성과 지표가 같은 그래프에 이어졌고, 4회차에는 문서에서 온 원인과 증거가 출처와 함께 더해졌습니다. 칸마다 하늘색으로 칠한 부분이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2회차의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2회차가 받은 것은 설비 자료와 답할 질문이었고, 스키마 설계는 클래스가 아니라 질문에서 출발했습니다. 질문이 정해져야 무엇을 넣고 무엇을 넣지 않을지가 갈립니다. 둘째 줄의 스키마가 첫 결과물로, 1회차의 관계 그림을 누구나 같은 기준으로 쓰게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2회차가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부하를 60 % 아래로 내리지 못한다는 조치의 한계로 남았습니다. 셋째 행의 전제 조건은 3회차에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더해진 것은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2회차의 스키마가 정한 관계를 따라갔고, 원인 후보와 그 기준은 4회차에 매뉴얼에서 들어온 지식이며, 기준에 댄 값은 그 순간 원천에서 읽었습니다. 넷째 걸음에서 3회차의 판단 규칙과 성과 기준이 후보를 가려 순서를 정했고, 마지막에 문서의 절과 인용이 근거로 붙었습니다. 다섯 걸음 전체의 밑그림은 1회차의 관계 그림입니다. 쿨러 사건의 추천안이 이 다섯 걸음으로 만들어졌고, 그것이 가능했던 것은 네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쿨러 성능 저하 경보에 실려 온 이상 패턴에서 출발해 DETECTS, 곧 감지한다는 관계로 증상에, INDICATES로 고장 유형에 이릅니다. 이 길은 누가 그때 생각해 낸 것이 아니라, 관계가 정의되어 있고 그 정의에 따라 인스턴스가 이어져 있어서 따라갈 수 있었습니다. 다음으로 오른쪽의 원인 후보 셋에는 EVIDENCED_BY, 곧 증거로 확인한다는 관계로 증거 기준이 붙어 있으며, 이 후보와 기준은 모두 매뉴얼 HM-8.4에서 추출해 검토한 지식입니다. 기준 70이 원문과 다르게 옮겨졌다면 판단은 그 틀린 기준으로 원인을 가립니다. 판단하는 쪽은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본 그래프와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추천안에 근거가 붙어 나오는 화면입니다. 이제는 줄마다 그것이 어디에서 왔는지를 말할 수 있습니다. 추천안에 이른 길은 2회차의 스키마가 정한 관계를 따라온 경로이고, 후보로 고른 규칙은 3회차에 본 판단 규칙이며, 출처는 4회차에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값을 읽은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회차의 내용을 한 문장으로 줄인 것입니다. 근거가 있는 판단이 뜻하는 것이 이것입니다. 다음 회차부터는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 값의 자리가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형식이 맞는지와 인용문이 원문에 있는지의 확인이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39.png"/><Relationship Id="rId6"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7.png"/><Relationship Id="rId7"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 Id="rId4" Type="http://schemas.openxmlformats.org/officeDocument/2006/relationships/image" Target="../media/image41.png"/><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문서를 검토된 지식으로</a:t>
            </a:r>
          </a:p>
          <a:p>
            <a:pPr algn="l">
              <a:lnSpc>
                <a:spcPct val="110000"/>
              </a:lnSpc>
            </a:pPr>
            <a:r>
              <a:rPr sz="4000" b="1">
                <a:solidFill>
                  <a:srgbClr val="FFFFFF"/>
                </a:solidFill>
                <a:latin typeface="맑은 고딕"/>
                <a:ea typeface="맑은 고딕"/>
                <a:cs typeface="맑은 고딕"/>
              </a:rPr>
              <a:t>전환하는 인제스천</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원문 등록에서 출처 조회까지의 과정과 온톨로지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출처를 가진 지식으로 등록되는 과정을 익히고 온톨로지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단계</a:t>
            </a:r>
          </a:p>
          <a:p>
            <a:pPr algn="l">
              <a:lnSpc>
                <a:spcPct val="110000"/>
              </a:lnSpc>
              <a:spcAft>
                <a:spcPts val="400"/>
              </a:spcAft>
            </a:pPr>
            <a:r>
              <a:rPr sz="1350" b="0">
                <a:solidFill>
                  <a:srgbClr val="1F2A3A"/>
                </a:solidFill>
                <a:latin typeface="맑은 고딕"/>
                <a:ea typeface="맑은 고딕"/>
                <a:cs typeface="맑은 고딕"/>
              </a:rPr>
              <a:t>원문 보관에서 출처 조회까지 일곱 단계가 하는 일을 순서대로 설명한다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과정</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 결과를 원문 인용과 대조해 틀린 곳을 가려내고 검토한 것만 적재한다</a:t>
            </a:r>
          </a:p>
        </p:txBody>
      </p:sp>
      <p:sp>
        <p:nvSpPr>
          <p:cNvPr id="16" name="Rounded Rectangle 15"/>
          <p:cNvSpPr/>
          <p:nvPr/>
        </p:nvSpPr>
        <p:spPr>
          <a:xfrm>
            <a:off x="3619423" y="5169217"/>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 실습</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a:t>
            </a:r>
          </a:p>
          <a:p>
            <a:pPr algn="l">
              <a:lnSpc>
                <a:spcPct val="110000"/>
              </a:lnSpc>
              <a:spcAft>
                <a:spcPts val="400"/>
              </a:spcAft>
            </a:pPr>
            <a:r>
              <a:rPr sz="1350" b="0">
                <a:solidFill>
                  <a:srgbClr val="1F2A3A"/>
                </a:solidFill>
                <a:latin typeface="맑은 고딕"/>
                <a:ea typeface="맑은 고딕"/>
                <a:cs typeface="맑은 고딕"/>
              </a:rPr>
              <a:t>지식의 출처를 관계로 조회하고 개정된 기준을 이전 기준과 구별한다</a:t>
            </a:r>
          </a:p>
        </p:txBody>
      </p:sp>
      <p:sp>
        <p:nvSpPr>
          <p:cNvPr id="22" name="Rounded Rectangle 21"/>
          <p:cNvSpPr/>
          <p:nvPr/>
        </p:nvSpPr>
        <p:spPr>
          <a:xfrm>
            <a:off x="6461607" y="5169217"/>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 · 실습</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영역의 정리</a:t>
            </a:r>
          </a:p>
          <a:p>
            <a:pPr algn="l">
              <a:lnSpc>
                <a:spcPct val="110000"/>
              </a:lnSpc>
              <a:spcAft>
                <a:spcPts val="400"/>
              </a:spcAft>
            </a:pPr>
            <a:r>
              <a:rPr sz="1350" b="0">
                <a:solidFill>
                  <a:srgbClr val="1F2A3A"/>
                </a:solidFill>
                <a:latin typeface="맑은 고딕"/>
                <a:ea typeface="맑은 고딕"/>
                <a:cs typeface="맑은 고딕"/>
              </a:rPr>
              <a:t>네 회차의 결과물이 판단 한 건에서 쓰이는 자리를 설명한다</a:t>
            </a:r>
          </a:p>
        </p:txBody>
      </p:sp>
      <p:sp>
        <p:nvSpPr>
          <p:cNvPr id="28" name="Rounded Rectangle 27"/>
          <p:cNvSpPr/>
          <p:nvPr/>
        </p:nvSpPr>
        <p:spPr>
          <a:xfrm>
            <a:off x="9303791" y="516921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 추출, 검토, 승인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개정에 따른 변경 결과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2회차의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인제스천_전체.svg" descr="illust_368560138065608352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2단계에서 절과 단계로 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정해진 형식에는 맞아 프로그램의 검사로 드러나지 않으므로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인용.svg" descr="illust_7686510316608414949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인제스천_6.svg" descr="illust_388001880992151217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적재묶음_사슬.svg" descr="illust_3989366211305636505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입력데이터_자리.svg" descr="illust_160730003782438965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a:p>
            <a:pPr algn="l">
              <a:lnSpc>
                <a:spcPct val="110000"/>
              </a:lnSpc>
              <a:spcAft>
                <a:spcPts val="400"/>
              </a:spcAft>
            </a:pPr>
            <a:r>
              <a:rPr sz="1400" b="0">
                <a:solidFill>
                  <a:srgbClr val="1F2A3A"/>
                </a:solidFill>
                <a:latin typeface="맑은 고딕"/>
                <a:ea typeface="맑은 고딕"/>
                <a:cs typeface="맑은 고딕"/>
              </a:rPr>
              <a:t>• 원문에 근거가 없는 후보는 보류한다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쪽, 원문 문장이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조건을 확인한다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JSON(JavaScript Object Notation) 형식으로, 후보마다 문서 식별자, 쪽, 원문 문장을 함께 내게 한다</a:t>
            </a:r>
          </a:p>
        </p:txBody>
      </p:sp>
      <p:sp>
        <p:nvSpPr>
          <p:cNvPr id="16" name="Rounded Rectangle 15"/>
          <p:cNvSpPr/>
          <p:nvPr/>
        </p:nvSpPr>
        <p:spPr>
          <a:xfrm>
            <a:off x="4566818" y="5475224"/>
            <a:ext cx="109423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75224"/>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JSON 출력</a:t>
            </a:r>
          </a:p>
        </p:txBody>
      </p:sp>
      <p:sp>
        <p:nvSpPr>
          <p:cNvPr id="18" name="Rounded Rectangle 17"/>
          <p:cNvSpPr/>
          <p:nvPr/>
        </p:nvSpPr>
        <p:spPr>
          <a:xfrm>
            <a:off x="8127796"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오탈자와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475224"/>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7522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개정에 따른 변경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절차에서 바뀐 조건 한 건을 반영하고 이전 기준과 새 기준을 출처로 구별한다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개정된 조건 한 건을 새 출처와 함께 넣으면 같은 조치의 이전 기준과 새 기준을 출처로 구별해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 내용 확인</a:t>
            </a:r>
          </a:p>
          <a:p>
            <a:pPr algn="ctr">
              <a:lnSpc>
                <a:spcPct val="110000"/>
              </a:lnSpc>
              <a:spcAft>
                <a:spcPts val="400"/>
              </a:spcAft>
            </a:pPr>
            <a:r>
              <a:rPr sz="1350" b="0">
                <a:solidFill>
                  <a:srgbClr val="1F2A3A"/>
                </a:solidFill>
                <a:latin typeface="맑은 고딕"/>
                <a:ea typeface="맑은 고딕"/>
                <a:cs typeface="맑은 고딕"/>
              </a:rPr>
              <a:t>정비 절차에서</a:t>
            </a:r>
          </a:p>
          <a:p>
            <a:pPr algn="ctr">
              <a:lnSpc>
                <a:spcPct val="110000"/>
              </a:lnSpc>
              <a:spcAft>
                <a:spcPts val="400"/>
              </a:spcAft>
            </a:pPr>
            <a:r>
              <a:rPr sz="1350" b="0">
                <a:solidFill>
                  <a:srgbClr val="1F2A3A"/>
                </a:solidFill>
                <a:latin typeface="맑은 고딕"/>
                <a:ea typeface="맑은 고딕"/>
                <a:cs typeface="맑은 고딕"/>
              </a:rPr>
              <a:t>바뀐 조건 한 건을</a:t>
            </a:r>
          </a:p>
          <a:p>
            <a:pPr algn="ctr">
              <a:lnSpc>
                <a:spcPct val="110000"/>
              </a:lnSpc>
              <a:spcAft>
                <a:spcPts val="400"/>
              </a:spcAft>
            </a:pPr>
            <a:r>
              <a:rPr sz="1350" b="0">
                <a:solidFill>
                  <a:srgbClr val="1F2A3A"/>
                </a:solidFill>
                <a:latin typeface="맑은 고딕"/>
                <a:ea typeface="맑은 고딕"/>
                <a:cs typeface="맑은 고딕"/>
              </a:rPr>
              <a:t>원문에서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기준 반영</a:t>
            </a:r>
          </a:p>
          <a:p>
            <a:pPr algn="ctr">
              <a:lnSpc>
                <a:spcPct val="110000"/>
              </a:lnSpc>
              <a:spcAft>
                <a:spcPts val="400"/>
              </a:spcAft>
            </a:pPr>
            <a:r>
              <a:rPr sz="1350" b="0">
                <a:solidFill>
                  <a:srgbClr val="1F2A3A"/>
                </a:solidFill>
                <a:latin typeface="맑은 고딕"/>
                <a:ea typeface="맑은 고딕"/>
                <a:cs typeface="맑은 고딕"/>
              </a:rPr>
              <a:t>바뀐 조건을 검토해</a:t>
            </a:r>
          </a:p>
          <a:p>
            <a:pPr algn="ctr">
              <a:lnSpc>
                <a:spcPct val="110000"/>
              </a:lnSpc>
              <a:spcAft>
                <a:spcPts val="400"/>
              </a:spcAft>
            </a:pPr>
            <a:r>
              <a:rPr sz="1350" b="0">
                <a:solidFill>
                  <a:srgbClr val="1F2A3A"/>
                </a:solidFill>
                <a:latin typeface="맑은 고딕"/>
                <a:ea typeface="맑은 고딕"/>
                <a:cs typeface="맑은 고딕"/>
              </a:rPr>
              <a:t>새 출처와 함께</a:t>
            </a:r>
          </a:p>
          <a:p>
            <a:pPr algn="ctr">
              <a:lnSpc>
                <a:spcPct val="110000"/>
              </a:lnSpc>
              <a:spcAft>
                <a:spcPts val="400"/>
              </a:spcAft>
            </a:pPr>
            <a:r>
              <a:rPr sz="1350" b="0">
                <a:solidFill>
                  <a:srgbClr val="1F2A3A"/>
                </a:solidFill>
                <a:latin typeface="맑은 고딕"/>
                <a:ea typeface="맑은 고딕"/>
                <a:cs typeface="맑은 고딕"/>
              </a:rPr>
              <a:t>그래프에 넣는다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기준의 구별</a:t>
            </a:r>
          </a:p>
          <a:p>
            <a:pPr algn="ctr">
              <a:lnSpc>
                <a:spcPct val="110000"/>
              </a:lnSpc>
              <a:spcAft>
                <a:spcPts val="400"/>
              </a:spcAft>
            </a:pPr>
            <a:r>
              <a:rPr sz="1350" b="0">
                <a:solidFill>
                  <a:srgbClr val="1F2A3A"/>
                </a:solidFill>
                <a:latin typeface="맑은 고딕"/>
                <a:ea typeface="맑은 고딕"/>
                <a:cs typeface="맑은 고딕"/>
              </a:rPr>
              <a:t>이전 기준과</a:t>
            </a:r>
          </a:p>
          <a:p>
            <a:pPr algn="ctr">
              <a:lnSpc>
                <a:spcPct val="110000"/>
              </a:lnSpc>
              <a:spcAft>
                <a:spcPts val="400"/>
              </a:spcAft>
            </a:pPr>
            <a:r>
              <a:rPr sz="1350" b="0">
                <a:solidFill>
                  <a:srgbClr val="1F2A3A"/>
                </a:solidFill>
                <a:latin typeface="맑은 고딕"/>
                <a:ea typeface="맑은 고딕"/>
                <a:cs typeface="맑은 고딕"/>
              </a:rPr>
              <a:t>새 기준을 출처로</a:t>
            </a:r>
          </a:p>
          <a:p>
            <a:pPr algn="ctr">
              <a:lnSpc>
                <a:spcPct val="110000"/>
              </a:lnSpc>
              <a:spcAft>
                <a:spcPts val="400"/>
              </a:spcAft>
            </a:pPr>
            <a:r>
              <a:rPr sz="1350" b="0">
                <a:solidFill>
                  <a:srgbClr val="1F2A3A"/>
                </a:solidFill>
                <a:latin typeface="맑은 고딕"/>
                <a:ea typeface="맑은 고딕"/>
                <a:cs typeface="맑은 고딕"/>
              </a:rPr>
              <a:t>가려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중복 확인</a:t>
            </a:r>
          </a:p>
          <a:p>
            <a:pPr algn="ctr">
              <a:lnSpc>
                <a:spcPct val="110000"/>
              </a:lnSpc>
              <a:spcAft>
                <a:spcPts val="400"/>
              </a:spcAft>
            </a:pPr>
            <a:r>
              <a:rPr sz="1350" b="0">
                <a:solidFill>
                  <a:srgbClr val="1F2A3A"/>
                </a:solidFill>
                <a:latin typeface="맑은 고딕"/>
                <a:ea typeface="맑은 고딕"/>
                <a:cs typeface="맑은 고딕"/>
              </a:rPr>
              <a:t>같은 대상이</a:t>
            </a:r>
          </a:p>
          <a:p>
            <a:pPr algn="ctr">
              <a:lnSpc>
                <a:spcPct val="110000"/>
              </a:lnSpc>
              <a:spcAft>
                <a:spcPts val="400"/>
              </a:spcAft>
            </a:pPr>
            <a:r>
              <a:rPr sz="1350" b="0">
                <a:solidFill>
                  <a:srgbClr val="1F2A3A"/>
                </a:solidFill>
                <a:latin typeface="맑은 고딕"/>
                <a:ea typeface="맑은 고딕"/>
                <a:cs typeface="맑은 고딕"/>
              </a:rPr>
              <a:t>둘로 들어가지</a:t>
            </a:r>
          </a:p>
          <a:p>
            <a:pPr algn="ctr">
              <a:lnSpc>
                <a:spcPct val="110000"/>
              </a:lnSpc>
              <a:spcAft>
                <a:spcPts val="400"/>
              </a:spcAft>
            </a:pPr>
            <a:r>
              <a:rPr sz="1350" b="0">
                <a:solidFill>
                  <a:srgbClr val="1F2A3A"/>
                </a:solidFill>
                <a:latin typeface="맑은 고딕"/>
                <a:ea typeface="맑은 고딕"/>
                <a:cs typeface="맑은 고딕"/>
              </a:rPr>
              <a:t>않았는지 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452936162899876378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a:t>
            </a:r>
          </a:p>
          <a:p>
            <a:pPr algn="ctr">
              <a:lnSpc>
                <a:spcPct val="110000"/>
              </a:lnSpc>
              <a:spcAft>
                <a:spcPts val="100"/>
              </a:spcAft>
            </a:pPr>
            <a:r>
              <a:rPr sz="1300" b="0">
                <a:solidFill>
                  <a:srgbClr val="556175"/>
                </a:solidFill>
                <a:latin typeface="맑은 고딕"/>
                <a:ea typeface="맑은 고딕"/>
                <a:cs typeface="맑은 고딕"/>
              </a:rPr>
              <a:t>온톨로지의 필요, 클래스</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스키마, 그래프 DB, SOP</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1회차는 네 곳에 흩어진 정보를 노드와 이름 붙은 관계로 꺼내 적었고, 스키마의 정의와 제약이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915764407297637284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어긋난 것을 걸러 내는 제약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2회차의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두층_3.svg" descr="illust_3049196237046753828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 · 3회차의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3회차의 또 다른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성과경로_5.svg" descr="illust_596669633164800935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2회차와 4회차의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1109891159962406691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원인후보.svg" descr="illust_4224751649078734433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세층.svg" descr="illust_334329162516425113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그 값을 읽은 곳의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