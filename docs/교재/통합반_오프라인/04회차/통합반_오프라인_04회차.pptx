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3회차까지는 지식이 들어갈 구조와 조치를 가리는 기준을 만들었습니다. 오늘은 현장 문서의 문장을 그 구조에 맞는 지식으로 들여오는 과정을 다루고, 네 개의 실습에서 직접 추출하고 검토해 적재합니다. 마지막에는 온톨로지 영역 전체를 정리합니다.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추천안에는 원인과 조치와 출처가 함께 나옵니다. 이 셋은 처음부터 지식 그래프에 있던 것이 아니라 쿨러 팬 정비 매뉴얼 HM-8에서 왔습니다. 오늘은 이 문서가 지식이 되는 과정을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문서의 문장을 등록된 지식으로 바꾸는 과정에 붙은 이름이 인제스천입니다. 원래는 바깥의 자료를 시스템 안으로 받아들인다는 넓은 뜻의 말입니다. 원천 자료는 매뉴얼과 작업 절차서처럼 문장으로 된 것도 있고 업무 데이터베이스처럼 표로 된 것도 있어서 형태가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넣는다는 점은 같지만 넣는 것과 남는 것이 다릅니다. 왼쪽은 2회차에 한 일로, 설계한 스키마에 맞춰 직접 정리한 예시 인스턴스를 Cypher로 넣고 저장된 결과가 설계와 같은지를 조회해 확인했습니다. 오른쪽은 사람이 정리한 목록이 아니라 매뉴얼 원문이 입력이며, 추출한 후보를 원문과 대조하고 사람이 검토해 승인한 것만 넣습니다. 맨 아래 줄을 견주면 왼쪽은 내용의 출처를 넣은 사람만 알고, 오른쪽은 근거가 된 원문과 검토한 사람이 지식과 함께 남습니다. 이 차이를 만드는 것이 이어서 볼 일곱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일곱 단계 가운데 모델이 문서를 읽는 곳은 하늘색으로 묶은 두 단계입니다. 앞뒤는 정해진 절차와 사람의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보관을 봅니다. 뒤에서 추출 결과가 맞는지를 확인할 때 비교하는 대상이 이 원문이므로, 원문이 바뀔 수 있다면 대조가 의미를 잃습니다. 다음으로 가운데의 파일 이름은 바뀌고 겹칠 수 있어 문서를 가리키는 값으로 쓰지 못합니다. 그래서 오른쪽처럼 문서마다 식별자를 발급합니다. 2회차에 배운, 대상 하나를 가리키는 고유한 값이 문서에도 붙는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2단계에서 절과 번호가 붙은 단계를 가려 둔 원문이 이 단계의 입력입니다. 첫 줄부터 봅니다. 여기서 뽑은 것은 아직 지식이 아니라 후보입니다. 번호가 붙은 줄이 단계라는 것은 겉모양으로 알 수 있지만, 문장의 어느 부분이 기준이고 어느 부분이 결론인지는 뜻을 읽어야 알기 때문에 둘째 줄의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것 가운데 하나여야 합니다. 왼쪽은 문서가 새로 알려 주는 지식이어서 후보로 만듭니다. 오른쪽은 이미 등록된 대상이어서 새로 만들지 않고 식별자로 가리킵니다. 매뉴얼에 오일 쿨러라는 말이 나왔다고 오일 쿨러 노드를 하나 더 만들면 같은 구성 요소가 둘이 됩니다. 그래서 등록된 식별자의 목록을 모델에게 주고 그 안에서 고르게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네 가지이고, 넷 모두 정해진 형식에는 맞는 결과입니다. 위의 둘부터 봅니다. 조건 문장이 통째로 빠지면 결과에는 틀린 글자가 하나도 없고, 단위만 바뀌면 숫자 자리에 숫자가 있으므로 프로그램이 이상을 찾지 못합니다. 아래의 둘은 매뉴얼이 쿨러 핀 오염에만 이은 핀 세척을 다른 원인에 짐작으로 잇는 오류와, 팬 최대 운전의 세 단계에 없는 단계를 만들어 넣는 오류입니다.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오류는 결과만 보아서는 드러나지 않으므로 대조하는 단계를 둡니다. 먼저 오른쪽 위의 지식 한 건에서 원문의 한 줄로 가는 화살표가 인용이며, 팬 최대 운전의 2단계는 원문의 1569번째 글자부터 1615번째 글자까지가 근거입니다. 다음으로 아래의 대조입니다. 프로그램이 인용문을 원문의 그 쪽에서 찾아보므로 원문에 없는 문장을 근거로 댄 후보는 여기서 돌려보내집니다. 다만 조건이 빠졌는지,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다시 읽는 것이 아니라 인용이 가리키는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조치는 사람이 승인해야 설비 명령이 나가는 것과 같은 구조입니다. 일부만 들어가 절차는 있는데 금지 조건이 없는 상태가 생기지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맨 위의 판본입니다. 문서 식별자는 그대로이고 내용이 바뀔 때마다 판본만 새로 생깁니다. 다음으로 판본 아래의 적재 기록에는 누가 언제 검토해 넣었는지와 넣기 전후의 지식 그래프의 상태가 들어갑니다. 기록 사이의 화살표는 새 기록이 앞 기록을 가리킨다는 뜻이고, 이 사슬이 그 문서의 개정 이력입니다. 전과 후의 상태를 비교하면 어느 개정에서 무엇이 바뀌었는지를 알 수 있고, 되돌릴 때는 가장 새 기록부터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사건에서 추천안에 출처가 함께 나온 것이 이 단계의 결과입니다. 윗줄을 왼쪽부터 따라갑니다. 조치 방법과 근거 문서 사이를 펼치면 단계와 절이 그 사이에 있습니다. 다음으로 아래의 규칙도 자신이 나온 절을 가리킵니다. 그래서 출처는 따로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3회차의 결정표에서 기준은 표에 적고 값은 판단할 때 읽었습니다. 같은 구분을 지식 그래프 전체에 적용합니다. 먼저 왼쪽입니다. 매뉴얼에서 뽑아 등록한 것은 모두 지식입니다. 다음으로 오른쪽의 값은 등록하지 않습니다. 편하다는 이유로 지금의 값을 노드의 속성으로 넣어 두면, 유온이 2분 사이에 6 ℃ 오른 쿨러 사건에서는 지난 값으로 판단하게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지식 그래프에 넣지 않는다면 판단할 때 그 값을 어디에서 읽을지는 적어 두어야 합니다. 업무 데이터베이스의 값은 표와 열의 위치로 가리키고, 이 위치를 입력 데이터로 등록합니다. 지식에는 값이 어디에 있는지를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매뉴얼 한 편으로 직접 진행합니다. 할 일의 중심은 검토입니다. 원문에서 근거를 찾을 수 없는 후보는 고치거나 보류합니다. 끝나면 문서 한 편이 출처를 가진 지식으로 바뀌어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지시에 들어가야 하는 것은 스키마의 클래스에 맞출 것, 정해진 형식으로 낼 것, 후보마다 인용을 붙일 것의 세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오늘 배운 과정 그대로입니다. 2회차에 만든 설비 모델과 조치의 구조가 여기서 다시 쓰입니다. 고장 유형 하나에서 원문 출처까지 따라갈 수 있으면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정비 절차에서 조건 한 건이 바뀌었을 때 그 조건을 검토해 새 출처와 함께 그래프에 넣습니다. 그런 다음 같은 조치의 이전 기준과 새 기준을 출처로 구별해 조회하고, 같은 대상이 둘로 들어가지 않았는지를 확인합니다. 개정한 뒤에도 어느 기준이 어느 판본에서 왔는지를 말할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칸마다 하늘색으로 칠한 부분이 그 회차에 새로 더해진 것입니다. 앞 칸의 결과물이 다음 칸의 바탕이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1회차의 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그림에는 증상에서 조치로 CAUSES를 그어도 막을 방법이 없습니다. 그 틀을 만드는 것이 2회차의 일이었습니다.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줄부터 봅니다. 2회차가 받은 것은 설비 자료와 답할 질문이었고, 스키마 설계는 클래스가 아니라 질문에서 출발했습니다. 질문이 정해져야 무엇을 넣고 무엇을 넣지 않을지가 갈립니다. 둘째 줄의 스키마가 첫 결과물로, 1회차의 관계 그림을 누구나 같은 기준으로 쓰게 하는 틀입니다.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대상마다 식별자가 있고 관계는 스키마가 정한 방향으로 놓였습니다. Cypher로 이 관계를 따라가면 처음의 질문에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2회차에 SOP의 구성요소로 본 것 가운데 셋이 입력입니다. 첫 행에서 SOP 한 편이 조치 방법 노드 하나가 되고 번호가 붙은 줄이 작업 단계가 되었습니다. 둘째 행의 금지는 부하를 60 % 아래로 내리지 못한다는 조치의 하한으로 남았습니다. 셋째 행의 전제 조건은 3회차에 결정표에서 본 제외 규칙이 되었습니다. 조건에 댈 운전 모드의 값은 규칙에 없고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3회차에 조치가 지표에 미치는 영향을 따라가며 본 지표들입니다. 한 조치가 한 지표에는 이롭고 다른 지표에는 불리했습니다.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2회차와 3회차는 지식이 들어갈 자리를 만들었고, 오늘은 그 자리를 채우는 방법을 다루었습니다. 왼쪽부터 원문, 후보, 검토된 지식, 출처를 가진 지식의 순서입니다. 마지막 칸에는 내용과 함께 그것이 어디에서 왔고 누가 확인했는지가 같이 들어 있습니다. 내용만 있는 지식과 달리 뒤의 둘이 있어야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걸음 전체의 밑그림은 1회차의 관계 그림입니다. 쿨러 사건의 추천안이 이 다섯 걸음으로 만들어졌고, 그것이 가능했던 것은 네 회차의 결과물이 미리 쌓여 있었기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이상 패턴에서 증상을 거쳐 고장 유형까지 갑니다. 이 길은 누가 그때 생각해 낸 것이 아니라, 관계가 정의되어 있고 그 정의에 따라 인스턴스가 이어져 있어서 따라갈 수 있었습니다. 다음으로 오른쪽의 원인 후보 셋과 후보마다의 증거 기준은 모두 매뉴얼 HM-8.4에서 추출해 검토한 지식입니다. 기준 70이 원문과 다르게 옮겨졌다면 판단은 그 틀린 기준으로 원인을 가립니다. 에이전트는 등록된 지식을 그대로 조회하므로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행마다 윗줄이 매뉴얼에서 온 기준이고 아랫줄이 그 순간에 시계열 DB에서 읽은 값입니다. 첫 행부터 봅니다. 기준 70은 지식이고 46.2는 읽은 값이며, 둘은 서로 다른 곳에 있다가 판단하는 순간에만 만납니다. 팬 진동 0.575는 팬이 정상이라는 뜻이어서 핀 오염에는 맞고 팬 구동 불량에는 맞지 않습니다.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3회차에 본 순위 그대로입니다. 넷 모두 제외 규칙을 통과했고, 쿨러 핀 세척에는 경고가 붙었으며, 순서는 성과 기준이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추천안에 근거가 붙어 나오는 화면입니다. 이제는 줄마다 그것이 어디에서 왔는지를 말할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위의 둘은 지식 그래프에 있고 맨 아래의 값은 지식 그래프 밖의 원천에 있습니다. 줄마다 둘째 줄이 그 층이 바뀌는 때입니다.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층을 나누어 둔 덕분에 어디를 보아야 하는지가 갈립니다. 기준이 틀렸으면 인용을 따라 문서로 가고, 숫자가 틀렸으면 값을 읽은 기록을 따라 원천으로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3회차에 결정표의 행으로 본 감점 규칙과 그 근거 문장입니다. 문서의 문장은 왜 그런 기준이 있는지를 사람에게 설명하고, 규칙은 지금 그 기준을 어떻게 판정할지를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규칙은 오른쪽으로 문서에 이어지고 아래로 값의 자리에 이어집니다. 근거는 문서 쪽으로, 값은 입력 데이터 쪽으로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규칙만 있고 근거가 없으면 어느 규칙을 고쳐야 하는지 찾을 수 없습니다. 출처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무엇을 주는지를 왼쪽부터 봅니다. 지식 그래프는 따라갈 길과 댈 근거를 주므로 같은 경보에는 같은 후보와 같은 근거가 나옵니다. 가운데의 판단 규칙은 조건의 해석을 모델에 맡기지 않고 정해 둔 판정을 주며, 에이전트는 그 판정을 받아 추천에 반영합니다. 오른쪽의 값의 자리는 도구로 읽을 곳을 줍니다. 에이전트의 동작과 도구가 만들어지는 방식은 이후의 과정에서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1회차에 AI에게 그대로 물으면 답의 근거를 확인할 수 없다고 했습니다. 그 문제에 대한 답이 이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회차의 내용을 한 문장으로 줄인 것입니다. 근거가 있는 판단이 뜻하는 것이 이것입니다. 다음 회차부터는 이 재료로 실제로 판단하는 에이전트를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넷과 함께 지식 후보, 매핑, 판본, 개정 이력, 값의 자리가 오늘의 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맞는 것과 내용이 맞는 것을 구분하는 문항입니다. 추출 결과와 인용문을 나란히 놓고 무엇이 다른지를 먼저 찾아보시기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하나만 성격이 다릅니다. 문서가 개정되기 전에는 바뀌지 않는 것과 매초 바뀌는 것을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추출한 후보를 기존 그래프에 잇는 원칙을 묻는 문항입니다. 같은 대상이 그래프에 둘이 되면 어떤 일이 생기는지를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1번이 틀린 이유는 형식이 맞는지와 인용문이 원문에 있는지의 확인이 내용의 누락까지 잡아 주지는 않기 때문입니다. 셋째 문항의 3번은 문서를 읽었다고 스키마에 새 클래스를 더할 수는 없다는 점에서 틀립니다. 스키마를 바꾸는 일은 추출이 아니라 설계의 일입니다.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5.png"/><Relationship Id="rId4" Type="http://schemas.openxmlformats.org/officeDocument/2006/relationships/image" Target="../media/image22.pn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image" Target="../media/image2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30.png"/><Relationship Id="rId5" Type="http://schemas.openxmlformats.org/officeDocument/2006/relationships/image" Target="../media/image3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2.png"/><Relationship Id="rId4" Type="http://schemas.openxmlformats.org/officeDocument/2006/relationships/image" Target="../media/image18.png"/><Relationship Id="rId5" Type="http://schemas.openxmlformats.org/officeDocument/2006/relationships/image" Target="../media/image12.png"/><Relationship Id="rId6"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34.png"/><Relationship Id="rId6"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5.png"/><Relationship Id="rId4" Type="http://schemas.openxmlformats.org/officeDocument/2006/relationships/image" Target="../media/image31.png"/><Relationship Id="rId5" Type="http://schemas.openxmlformats.org/officeDocument/2006/relationships/image" Target="../media/image43.png"/><Relationship Id="rId6" Type="http://schemas.openxmlformats.org/officeDocument/2006/relationships/image" Target="../media/image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4.png"/><Relationship Id="rId4" Type="http://schemas.openxmlformats.org/officeDocument/2006/relationships/image" Target="../media/image8.png"/><Relationship Id="rId5" Type="http://schemas.openxmlformats.org/officeDocument/2006/relationships/image" Target="../media/image28.png"/><Relationship Id="rId6" Type="http://schemas.openxmlformats.org/officeDocument/2006/relationships/image" Target="../media/image27.png"/><Relationship Id="rId7" Type="http://schemas.openxmlformats.org/officeDocument/2006/relationships/image" Target="../media/image4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15.png"/><Relationship Id="rId4" Type="http://schemas.openxmlformats.org/officeDocument/2006/relationships/image" Target="../media/image2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27.png"/><Relationship Id="rId4" Type="http://schemas.openxmlformats.org/officeDocument/2006/relationships/image" Target="../media/image26.png"/><Relationship Id="rId5" Type="http://schemas.openxmlformats.org/officeDocument/2006/relationships/image" Target="../media/image11.png"/><Relationship Id="rId6" Type="http://schemas.openxmlformats.org/officeDocument/2006/relationships/image" Target="../media/image4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34.png"/><Relationship Id="rId6" Type="http://schemas.openxmlformats.org/officeDocument/2006/relationships/image" Target="../media/image2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8.png"/><Relationship Id="rId4" Type="http://schemas.openxmlformats.org/officeDocument/2006/relationships/image" Target="../media/image27.png"/><Relationship Id="rId5" Type="http://schemas.openxmlformats.org/officeDocument/2006/relationships/image" Target="../media/image4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3.png"/><Relationship Id="rId4" Type="http://schemas.openxmlformats.org/officeDocument/2006/relationships/image" Target="../media/image4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0.png"/><Relationship Id="rId4" Type="http://schemas.openxmlformats.org/officeDocument/2006/relationships/image" Target="../media/image45.png"/><Relationship Id="rId5" Type="http://schemas.openxmlformats.org/officeDocument/2006/relationships/image" Target="../media/image2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4회차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현장 문서를 검토된 지식으로</a:t>
            </a:r>
          </a:p>
          <a:p>
            <a:pPr algn="l">
              <a:lnSpc>
                <a:spcPct val="110000"/>
              </a:lnSpc>
            </a:pPr>
            <a:r>
              <a:rPr sz="4000" b="1">
                <a:solidFill>
                  <a:srgbClr val="FFFFFF"/>
                </a:solidFill>
                <a:latin typeface="맑은 고딕"/>
                <a:ea typeface="맑은 고딕"/>
                <a:cs typeface="맑은 고딕"/>
              </a:rPr>
              <a:t>전환하는 인제스천</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원문 등록에서 출처 조회까지의 과정과 온톨로지 영역의 정리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zoom-check" descr="zoom-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문장이 출처를 가진 지식으로 등록되는 과정을 익히고 온톨로지 영역 전체를 정리한다.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84894"/>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738513"/>
            <a:ext cx="424281" cy="424281"/>
          </a:xfrm>
          <a:prstGeom prst="rect">
            <a:avLst/>
          </a:prstGeom>
        </p:spPr>
      </p:pic>
      <p:sp>
        <p:nvSpPr>
          <p:cNvPr id="9" name="TextBox 8"/>
          <p:cNvSpPr txBox="1"/>
          <p:nvPr/>
        </p:nvSpPr>
        <p:spPr>
          <a:xfrm>
            <a:off x="713232"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인제스천의 단계</a:t>
            </a:r>
          </a:p>
          <a:p>
            <a:pPr algn="l">
              <a:lnSpc>
                <a:spcPct val="110000"/>
              </a:lnSpc>
              <a:spcAft>
                <a:spcPts val="400"/>
              </a:spcAft>
            </a:pPr>
            <a:r>
              <a:rPr sz="1350" b="0">
                <a:solidFill>
                  <a:srgbClr val="1F2A3A"/>
                </a:solidFill>
                <a:latin typeface="맑은 고딕"/>
                <a:ea typeface="맑은 고딕"/>
                <a:cs typeface="맑은 고딕"/>
              </a:rPr>
              <a:t>원문 보관에서 출처 조회까지 일곱 단계가 하는 일을 순서대로 설명한다</a:t>
            </a:r>
          </a:p>
        </p:txBody>
      </p:sp>
      <p:sp>
        <p:nvSpPr>
          <p:cNvPr id="10" name="Rounded Rectangle 9"/>
          <p:cNvSpPr/>
          <p:nvPr/>
        </p:nvSpPr>
        <p:spPr>
          <a:xfrm>
            <a:off x="777240" y="5169217"/>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921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과정</a:t>
            </a:r>
          </a:p>
        </p:txBody>
      </p:sp>
      <p:sp>
        <p:nvSpPr>
          <p:cNvPr id="12" name="Rounded Rectangle 11"/>
          <p:cNvSpPr/>
          <p:nvPr/>
        </p:nvSpPr>
        <p:spPr>
          <a:xfrm>
            <a:off x="3390823"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84894"/>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3773043" y="2738513"/>
            <a:ext cx="424281" cy="424281"/>
          </a:xfrm>
          <a:prstGeom prst="rect">
            <a:avLst/>
          </a:prstGeom>
        </p:spPr>
      </p:pic>
      <p:sp>
        <p:nvSpPr>
          <p:cNvPr id="15" name="TextBox 14"/>
          <p:cNvSpPr txBox="1"/>
          <p:nvPr/>
        </p:nvSpPr>
        <p:spPr>
          <a:xfrm>
            <a:off x="3555415"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350" b="0">
                <a:solidFill>
                  <a:srgbClr val="1F2A3A"/>
                </a:solidFill>
                <a:latin typeface="맑은 고딕"/>
                <a:ea typeface="맑은 고딕"/>
                <a:cs typeface="맑은 고딕"/>
              </a:rPr>
              <a:t>추출 결과를 원문 인용과 대조해 틀린 곳을 가려내고 검토한 것만 적재한다</a:t>
            </a:r>
          </a:p>
        </p:txBody>
      </p:sp>
      <p:sp>
        <p:nvSpPr>
          <p:cNvPr id="16" name="Rounded Rectangle 15"/>
          <p:cNvSpPr/>
          <p:nvPr/>
        </p:nvSpPr>
        <p:spPr>
          <a:xfrm>
            <a:off x="3619423" y="5169217"/>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9217"/>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 · 실습</a:t>
            </a:r>
          </a:p>
        </p:txBody>
      </p:sp>
      <p:sp>
        <p:nvSpPr>
          <p:cNvPr id="18" name="Rounded Rectangle 17"/>
          <p:cNvSpPr/>
          <p:nvPr/>
        </p:nvSpPr>
        <p:spPr>
          <a:xfrm>
            <a:off x="6233007"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84894"/>
            <a:ext cx="731520" cy="731520"/>
          </a:xfrm>
          <a:prstGeom prst="ellipse">
            <a:avLst/>
          </a:prstGeom>
          <a:solidFill>
            <a:srgbClr val="E7F3FD"/>
          </a:solidFill>
          <a:ln>
            <a:noFill/>
          </a:ln>
        </p:spPr>
        <p:txBody>
          <a:bodyPr rtlCol="0" anchor="ctr"/>
          <a:lstStyle/>
          <a:p>
            <a:pPr algn="ctr"/>
          </a:p>
        </p:txBody>
      </p:sp>
      <p:pic>
        <p:nvPicPr>
          <p:cNvPr id="20" name="아이콘:versions" descr="versions_13294B_1.6.png"/>
          <p:cNvPicPr>
            <a:picLocks noChangeAspect="1"/>
          </p:cNvPicPr>
          <p:nvPr/>
        </p:nvPicPr>
        <p:blipFill>
          <a:blip r:embed="rId5"/>
          <a:stretch>
            <a:fillRect/>
          </a:stretch>
        </p:blipFill>
        <p:spPr>
          <a:xfrm>
            <a:off x="6615226" y="2738513"/>
            <a:ext cx="424281" cy="424281"/>
          </a:xfrm>
          <a:prstGeom prst="rect">
            <a:avLst/>
          </a:prstGeom>
        </p:spPr>
      </p:pic>
      <p:sp>
        <p:nvSpPr>
          <p:cNvPr id="21" name="TextBox 20"/>
          <p:cNvSpPr txBox="1"/>
          <p:nvPr/>
        </p:nvSpPr>
        <p:spPr>
          <a:xfrm>
            <a:off x="6397599"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출처와 개정</a:t>
            </a:r>
          </a:p>
          <a:p>
            <a:pPr algn="l">
              <a:lnSpc>
                <a:spcPct val="110000"/>
              </a:lnSpc>
              <a:spcAft>
                <a:spcPts val="400"/>
              </a:spcAft>
            </a:pPr>
            <a:r>
              <a:rPr sz="1350" b="0">
                <a:solidFill>
                  <a:srgbClr val="1F2A3A"/>
                </a:solidFill>
                <a:latin typeface="맑은 고딕"/>
                <a:ea typeface="맑은 고딕"/>
                <a:cs typeface="맑은 고딕"/>
              </a:rPr>
              <a:t>지식의 출처를 관계로 조회하고 개정된 기준을 이전 기준과 구별한다</a:t>
            </a:r>
          </a:p>
        </p:txBody>
      </p:sp>
      <p:sp>
        <p:nvSpPr>
          <p:cNvPr id="22" name="Rounded Rectangle 21"/>
          <p:cNvSpPr/>
          <p:nvPr/>
        </p:nvSpPr>
        <p:spPr>
          <a:xfrm>
            <a:off x="6461607" y="5169217"/>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9217"/>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 · 실습</a:t>
            </a:r>
          </a:p>
        </p:txBody>
      </p:sp>
      <p:sp>
        <p:nvSpPr>
          <p:cNvPr id="24" name="Rounded Rectangle 23"/>
          <p:cNvSpPr/>
          <p:nvPr/>
        </p:nvSpPr>
        <p:spPr>
          <a:xfrm>
            <a:off x="9075191" y="2383726"/>
            <a:ext cx="2567863" cy="321525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84894"/>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738513"/>
            <a:ext cx="424281" cy="424281"/>
          </a:xfrm>
          <a:prstGeom prst="rect">
            <a:avLst/>
          </a:prstGeom>
        </p:spPr>
      </p:pic>
      <p:sp>
        <p:nvSpPr>
          <p:cNvPr id="27" name="TextBox 26"/>
          <p:cNvSpPr txBox="1"/>
          <p:nvPr/>
        </p:nvSpPr>
        <p:spPr>
          <a:xfrm>
            <a:off x="9239783"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 영역의 정리</a:t>
            </a:r>
          </a:p>
          <a:p>
            <a:pPr algn="l">
              <a:lnSpc>
                <a:spcPct val="110000"/>
              </a:lnSpc>
              <a:spcAft>
                <a:spcPts val="400"/>
              </a:spcAft>
            </a:pPr>
            <a:r>
              <a:rPr sz="1350" b="0">
                <a:solidFill>
                  <a:srgbClr val="1F2A3A"/>
                </a:solidFill>
                <a:latin typeface="맑은 고딕"/>
                <a:ea typeface="맑은 고딕"/>
                <a:cs typeface="맑은 고딕"/>
              </a:rPr>
              <a:t>네 회차의 결과물이 판단 한 건에서 쓰이는 자리를 설명한다</a:t>
            </a:r>
          </a:p>
        </p:txBody>
      </p:sp>
      <p:sp>
        <p:nvSpPr>
          <p:cNvPr id="28" name="Rounded Rectangle 27"/>
          <p:cNvSpPr/>
          <p:nvPr/>
        </p:nvSpPr>
        <p:spPr>
          <a:xfrm>
            <a:off x="9303791" y="516921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921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인제스천: 현장 자료에서 온톨로지 지식으로</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매뉴얼의 등록, 추출, 검토, 승인</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Claude Code로 문서에서 지식 추출하기</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검토한 지식을 그래프 DB에 반영하기</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개정에 따른 변경 결과 확인</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설계에서 지식 활용까지의 전체 과정</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33" name="TextBox 32"/>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인제스천: 현장 자료에서</a:t>
            </a:r>
          </a:p>
          <a:p>
            <a:pPr algn="l">
              <a:lnSpc>
                <a:spcPct val="110000"/>
              </a:lnSpc>
            </a:pPr>
            <a:r>
              <a:rPr sz="3400" b="1">
                <a:solidFill>
                  <a:srgbClr val="13294B"/>
                </a:solidFill>
                <a:latin typeface="맑은 고딕"/>
                <a:ea typeface="맑은 고딕"/>
                <a:cs typeface="맑은 고딕"/>
              </a:rPr>
              <a:t>온톨로지 지식으로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매뉴얼의 문장을 추출하고 검토해 출처와 함께 지식 그래프에 등록하는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나온 원인, 조치,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ounded Rectangle 9"/>
          <p:cNvSpPr/>
          <p:nvPr/>
        </p:nvSpPr>
        <p:spPr>
          <a:xfrm>
            <a:off x="777240" y="4824476"/>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HM-8.4</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조치</a:t>
            </a:r>
          </a:p>
          <a:p>
            <a:pPr algn="l">
              <a:lnSpc>
                <a:spcPct val="110000"/>
              </a:lnSpc>
              <a:spcAft>
                <a:spcPts val="400"/>
              </a:spcAft>
            </a:pPr>
            <a:r>
              <a:rPr sz="1400" b="0">
                <a:solidFill>
                  <a:srgbClr val="1F2A3A"/>
                </a:solidFill>
                <a:latin typeface="맑은 고딕"/>
                <a:ea typeface="맑은 고딕"/>
                <a:cs typeface="맑은 고딕"/>
              </a:rPr>
              <a:t>팬 최대 운전</a:t>
            </a:r>
          </a:p>
        </p:txBody>
      </p:sp>
      <p:sp>
        <p:nvSpPr>
          <p:cNvPr id="16" name="Rounded Rectangle 15"/>
          <p:cNvSpPr/>
          <p:nvPr/>
        </p:nvSpPr>
        <p:spPr>
          <a:xfrm>
            <a:off x="4566818" y="4824476"/>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HM-8.5</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HM-8.5 즉시 완화 조치</a:t>
            </a:r>
          </a:p>
        </p:txBody>
      </p:sp>
      <p:sp>
        <p:nvSpPr>
          <p:cNvPr id="22" name="Rounded Rectangle 21"/>
          <p:cNvSpPr/>
          <p:nvPr/>
        </p:nvSpPr>
        <p:spPr>
          <a:xfrm>
            <a:off x="8356396" y="482447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매뉴얼의 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인제스천: 원천 자료를 지식으로 들여오는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문서와 데이터베이스 같은 원천 자료를 온톨로지에 맞는 지식으로 바꾸어 등록하는 과정을 인제스천이라고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인제스천</a:t>
            </a:r>
          </a:p>
          <a:p>
            <a:pPr algn="l">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바깥의 자료를 받아들여 시스템이 쓸 수 있는 형태로 바꾸어 넣는 과정이다.</a:t>
            </a:r>
          </a:p>
          <a:p>
            <a:pPr algn="l">
              <a:lnSpc>
                <a:spcPct val="110000"/>
              </a:lnSpc>
              <a:spcAft>
                <a:spcPts val="300"/>
              </a:spcAft>
            </a:pPr>
            <a:r>
              <a:rPr sz="1400" b="0">
                <a:solidFill>
                  <a:srgbClr val="1F2A3A"/>
                </a:solidFill>
                <a:latin typeface="맑은 고딕"/>
                <a:ea typeface="맑은 고딕"/>
                <a:cs typeface="맑은 고딕"/>
              </a:rPr>
              <a:t>여기서는 문서의 내용을 노드와 관계로 옮겨 지식 그래프에 등록하는 일이다.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원천 자료</a:t>
            </a:r>
          </a:p>
          <a:p>
            <a:pPr algn="l">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지식의 출발점이 되는 자료이다. 매뉴얼, 작업 절차서, 업무 데이터베이스가 있다.</a:t>
            </a:r>
          </a:p>
          <a:p>
            <a:pPr algn="l">
              <a:lnSpc>
                <a:spcPct val="110000"/>
              </a:lnSpc>
              <a:spcAft>
                <a:spcPts val="300"/>
              </a:spcAft>
            </a:pPr>
            <a:r>
              <a:rPr sz="1400" b="0">
                <a:solidFill>
                  <a:srgbClr val="1F2A3A"/>
                </a:solidFill>
                <a:latin typeface="맑은 고딕"/>
                <a:ea typeface="맑은 고딕"/>
                <a:cs typeface="맑은 고딕"/>
              </a:rPr>
              <a:t>예: 쿨러 팬 정비 매뉴얼 HM-8, 정기 점검표 PM-02, 예비품 기준 PR-07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예시 인스턴스의 적재와 문서 인제스천의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넣은 인스턴스와 달리 문서에서 들여온 지식은 근거 원문과 검토 기록이 남아야 판단의 근거로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database-import" descr="database-impor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2회차의 예시 인스턴스 적재</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넣는 것: 설계한 스키마에 맞춰 사람이 정리한 예시 인스턴스와 관계</a:t>
            </a:r>
          </a:p>
          <a:p>
            <a:pPr algn="l">
              <a:lnSpc>
                <a:spcPct val="110000"/>
              </a:lnSpc>
              <a:spcAft>
                <a:spcPts val="600"/>
              </a:spcAft>
            </a:pPr>
            <a:r>
              <a:rPr sz="1450" b="0">
                <a:solidFill>
                  <a:srgbClr val="1F2A3A"/>
                </a:solidFill>
                <a:latin typeface="맑은 고딕"/>
                <a:ea typeface="맑은 고딕"/>
                <a:cs typeface="맑은 고딕"/>
              </a:rPr>
              <a:t>• 넣는 방법: Cypher 문으로 그래프 DB에 직접 적재한다</a:t>
            </a:r>
          </a:p>
          <a:p>
            <a:pPr algn="l">
              <a:lnSpc>
                <a:spcPct val="110000"/>
              </a:lnSpc>
              <a:spcAft>
                <a:spcPts val="600"/>
              </a:spcAft>
            </a:pPr>
            <a:r>
              <a:rPr sz="1450" b="0">
                <a:solidFill>
                  <a:srgbClr val="1F2A3A"/>
                </a:solidFill>
                <a:latin typeface="맑은 고딕"/>
                <a:ea typeface="맑은 고딕"/>
                <a:cs typeface="맑은 고딕"/>
              </a:rPr>
              <a:t>• 확인: 저장된 노드와 관계가 설계한 것과 같은지 조회해 본다</a:t>
            </a:r>
          </a:p>
          <a:p>
            <a:pPr algn="l">
              <a:lnSpc>
                <a:spcPct val="110000"/>
              </a:lnSpc>
              <a:spcAft>
                <a:spcPts val="600"/>
              </a:spcAft>
            </a:pPr>
            <a:r>
              <a:rPr sz="1450" b="0">
                <a:solidFill>
                  <a:srgbClr val="1F2A3A"/>
                </a:solidFill>
                <a:latin typeface="맑은 고딕"/>
                <a:ea typeface="맑은 고딕"/>
                <a:cs typeface="맑은 고딕"/>
              </a:rPr>
              <a:t>• 내용이 어디에서 왔는지는 넣은 사람이 안다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직접 정해 넣는다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file-import" descr="file-impor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 인제스천</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넣는 것: 매뉴얼 원문에서 추출한 지식 후보</a:t>
            </a:r>
          </a:p>
          <a:p>
            <a:pPr algn="l">
              <a:lnSpc>
                <a:spcPct val="110000"/>
              </a:lnSpc>
              <a:spcAft>
                <a:spcPts val="600"/>
              </a:spcAft>
            </a:pPr>
            <a:r>
              <a:rPr sz="1450" b="0">
                <a:solidFill>
                  <a:srgbClr val="1F2A3A"/>
                </a:solidFill>
                <a:latin typeface="맑은 고딕"/>
                <a:ea typeface="맑은 고딕"/>
                <a:cs typeface="맑은 고딕"/>
              </a:rPr>
              <a:t>• 넣는 방법: 스키마와 식별자에 맞추고 원문 대조, 사람 검토, 승인을 거친 것만 적재한다</a:t>
            </a:r>
          </a:p>
          <a:p>
            <a:pPr algn="l">
              <a:lnSpc>
                <a:spcPct val="110000"/>
              </a:lnSpc>
              <a:spcAft>
                <a:spcPts val="600"/>
              </a:spcAft>
            </a:pPr>
            <a:r>
              <a:rPr sz="1450" b="0">
                <a:solidFill>
                  <a:srgbClr val="1F2A3A"/>
                </a:solidFill>
                <a:latin typeface="맑은 고딕"/>
                <a:ea typeface="맑은 고딕"/>
                <a:cs typeface="맑은 고딕"/>
              </a:rPr>
              <a:t>• 확인: 지식마다 근거가 된 원문 구간과 검토한 사람이 기록된다</a:t>
            </a:r>
          </a:p>
          <a:p>
            <a:pPr algn="l">
              <a:lnSpc>
                <a:spcPct val="110000"/>
              </a:lnSpc>
              <a:spcAft>
                <a:spcPts val="600"/>
              </a:spcAft>
            </a:pPr>
            <a:r>
              <a:rPr sz="1450" b="0">
                <a:solidFill>
                  <a:srgbClr val="1F2A3A"/>
                </a:solidFill>
                <a:latin typeface="맑은 고딕"/>
                <a:ea typeface="맑은 고딕"/>
                <a:cs typeface="맑은 고딕"/>
              </a:rPr>
              <a:t>• 손으로 옮기면 느리고 빠뜨리며 개정 때마다 되풀이되므로 정해진 과정으로 둔다</a:t>
            </a:r>
          </a:p>
        </p:txBody>
      </p:sp>
      <p:sp>
        <p:nvSpPr>
          <p:cNvPr id="18" name="Rounded Rectangle 17"/>
          <p:cNvSpPr/>
          <p:nvPr/>
        </p:nvSpPr>
        <p:spPr>
          <a:xfrm>
            <a:off x="6781647" y="5547296"/>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검토해 출처와 함께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원천 자료는 보관, 분석, 추출, 매핑, 대조와 검토, 적재를 차례로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인제스천_전체.svg" descr="illust_862121247348545630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6608593" y="1674906"/>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언어 모델이 문서를 읽고 후보를 만드는 단계</a:t>
            </a:r>
          </a:p>
        </p:txBody>
      </p:sp>
      <p:sp>
        <p:nvSpPr>
          <p:cNvPr id="12" name="TextBox 11"/>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3" name="TextBox 12"/>
          <p:cNvSpPr txBox="1"/>
          <p:nvPr/>
        </p:nvSpPr>
        <p:spPr>
          <a:xfrm>
            <a:off x="3553935"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4" name="TextBox 13"/>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1단계 원천 확보와 보관: 원문 고정과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원문을 고쳐지지 않게 보관하고 문서마다 식별자를 발급해야 뒤의 대조와 검토가 같은 원문과 같은 문서를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 보관</a:t>
            </a:r>
          </a:p>
          <a:p>
            <a:pPr algn="l">
              <a:lnSpc>
                <a:spcPct val="110000"/>
              </a:lnSpc>
              <a:spcAft>
                <a:spcPts val="400"/>
              </a:spcAft>
            </a:pPr>
            <a:r>
              <a:rPr sz="1400" b="0">
                <a:solidFill>
                  <a:srgbClr val="1F2A3A"/>
                </a:solidFill>
                <a:latin typeface="맑은 고딕"/>
                <a:ea typeface="맑은 고딕"/>
                <a:cs typeface="맑은 고딕"/>
              </a:rPr>
              <a:t>• 받은 문서를 고치지 못하게 그대로 보관한다</a:t>
            </a:r>
          </a:p>
          <a:p>
            <a:pPr algn="l">
              <a:lnSpc>
                <a:spcPct val="110000"/>
              </a:lnSpc>
              <a:spcAft>
                <a:spcPts val="400"/>
              </a:spcAft>
            </a:pPr>
            <a:r>
              <a:rPr sz="1400" b="0">
                <a:solidFill>
                  <a:srgbClr val="1F2A3A"/>
                </a:solidFill>
                <a:latin typeface="맑은 고딕"/>
                <a:ea typeface="맑은 고딕"/>
                <a:cs typeface="맑은 고딕"/>
              </a:rPr>
              <a:t>• 뒤의 대조와 검토가 모두 이 원문을 기준으로 한다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이름</a:t>
            </a:r>
          </a:p>
          <a:p>
            <a:pPr algn="l">
              <a:lnSpc>
                <a:spcPct val="110000"/>
              </a:lnSpc>
              <a:spcAft>
                <a:spcPts val="400"/>
              </a:spcAft>
            </a:pPr>
            <a:r>
              <a:rPr sz="1400" b="0">
                <a:solidFill>
                  <a:srgbClr val="1F2A3A"/>
                </a:solidFill>
                <a:latin typeface="맑은 고딕"/>
                <a:ea typeface="맑은 고딕"/>
                <a:cs typeface="맑은 고딕"/>
              </a:rPr>
              <a:t>• 누구나 바꿀 수 있다</a:t>
            </a:r>
          </a:p>
          <a:p>
            <a:pPr algn="l">
              <a:lnSpc>
                <a:spcPct val="110000"/>
              </a:lnSpc>
              <a:spcAft>
                <a:spcPts val="400"/>
              </a:spcAft>
            </a:pPr>
            <a:r>
              <a:rPr sz="14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149850"/>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식별자</a:t>
            </a:r>
          </a:p>
          <a:p>
            <a:pPr algn="l">
              <a:lnSpc>
                <a:spcPct val="110000"/>
              </a:lnSpc>
              <a:spcAft>
                <a:spcPts val="400"/>
              </a:spcAft>
            </a:pPr>
            <a:r>
              <a:rPr sz="1400" b="0">
                <a:solidFill>
                  <a:srgbClr val="1F2A3A"/>
                </a:solidFill>
                <a:latin typeface="맑은 고딕"/>
                <a:ea typeface="맑은 고딕"/>
                <a:cs typeface="맑은 고딕"/>
              </a:rPr>
              <a:t>• 보관할 때 문서마다 새로 발급한다</a:t>
            </a:r>
          </a:p>
          <a:p>
            <a:pPr algn="l">
              <a:lnSpc>
                <a:spcPct val="110000"/>
              </a:lnSpc>
              <a:spcAft>
                <a:spcPts val="400"/>
              </a:spcAft>
            </a:pPr>
            <a:r>
              <a:rPr sz="1400" b="0">
                <a:solidFill>
                  <a:srgbClr val="1F2A3A"/>
                </a:solidFill>
                <a:latin typeface="맑은 고딕"/>
                <a:ea typeface="맑은 고딕"/>
                <a:cs typeface="맑은 고딕"/>
              </a:rPr>
              <a:t>• 개정판을 올려도 같은 문서는 같은 식별자를 쓴다</a:t>
            </a:r>
          </a:p>
        </p:txBody>
      </p:sp>
      <p:sp>
        <p:nvSpPr>
          <p:cNvPr id="22" name="Rounded Rectangle 21"/>
          <p:cNvSpPr/>
          <p:nvPr/>
        </p:nvSpPr>
        <p:spPr>
          <a:xfrm>
            <a:off x="8356396" y="5149850"/>
            <a:ext cx="14782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가리킨다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정리되지 않은 문장에서 원인과 조건을 가리려면 뜻을 읽어야 하므로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후보</a:t>
            </a:r>
          </a:p>
          <a:p>
            <a:pPr algn="l">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2단계에서 절과 단계로 구조를 가려 둔 원문을 모델이 읽고 원인, 조치, 조건을 정해진 형식으로 뽑은 제안이다.</a:t>
            </a:r>
          </a:p>
          <a:p>
            <a:pPr algn="l">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LLM</a:t>
            </a:r>
          </a:p>
          <a:p>
            <a:pPr algn="l">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방대한 글을 학습해 문장을 이해하고 만들어 내는 언어 모델이다.</a:t>
            </a:r>
          </a:p>
          <a:p>
            <a:pPr algn="l">
              <a:lnSpc>
                <a:spcPct val="110000"/>
              </a:lnSpc>
              <a:spcAft>
                <a:spcPts val="300"/>
              </a:spcAft>
            </a:pPr>
            <a:r>
              <a:rPr sz="1400" b="0">
                <a:solidFill>
                  <a:srgbClr val="1F2A3A"/>
                </a:solidFill>
                <a:latin typeface="맑은 고딕"/>
                <a:ea typeface="맑은 고딕"/>
                <a:cs typeface="맑은 고딕"/>
              </a:rPr>
              <a:t>예: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4단계 스키마 · 식별자 매핑: 새 지식과 등록된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후보는 스키마의 클래스에 맞추고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매뉴얼의 절, 조치 방법과 단계</a:t>
            </a:r>
          </a:p>
          <a:p>
            <a:pPr algn="l">
              <a:lnSpc>
                <a:spcPct val="110000"/>
              </a:lnSpc>
              <a:spcAft>
                <a:spcPts val="600"/>
              </a:spcAft>
            </a:pPr>
            <a:r>
              <a:rPr sz="1450" b="0">
                <a:solidFill>
                  <a:srgbClr val="1F2A3A"/>
                </a:solidFill>
                <a:latin typeface="맑은 고딕"/>
                <a:ea typeface="맑은 고딕"/>
                <a:cs typeface="맑은 고딕"/>
              </a:rPr>
              <a:t>• 고장 유형, 원인, 증거</a:t>
            </a:r>
          </a:p>
          <a:p>
            <a:pPr algn="l">
              <a:lnSpc>
                <a:spcPct val="110000"/>
              </a:lnSpc>
              <a:spcAft>
                <a:spcPts val="600"/>
              </a:spcAft>
            </a:pPr>
            <a:r>
              <a:rPr sz="1450" b="0">
                <a:solidFill>
                  <a:srgbClr val="1F2A3A"/>
                </a:solidFill>
                <a:latin typeface="맑은 고딕"/>
                <a:ea typeface="맑은 고딕"/>
                <a:cs typeface="맑은 고딕"/>
              </a:rPr>
              <a:t>• 판단 규칙</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후보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구성 요소, 부품, 공급사, 증상</a:t>
            </a:r>
          </a:p>
          <a:p>
            <a:pPr algn="l">
              <a:lnSpc>
                <a:spcPct val="110000"/>
              </a:lnSpc>
              <a:spcAft>
                <a:spcPts val="600"/>
              </a:spcAft>
            </a:pPr>
            <a:r>
              <a:rPr sz="1450" b="0">
                <a:solidFill>
                  <a:srgbClr val="1F2A3A"/>
                </a:solidFill>
                <a:latin typeface="맑은 고딕"/>
                <a:ea typeface="맑은 고딕"/>
                <a:cs typeface="맑은 고딕"/>
              </a:rPr>
              <a:t>• 상태 변수, 성과 지표, 승인 역할</a:t>
            </a:r>
          </a:p>
          <a:p>
            <a:pPr algn="l">
              <a:lnSpc>
                <a:spcPct val="110000"/>
              </a:lnSpc>
              <a:spcAft>
                <a:spcPts val="600"/>
              </a:spcAft>
            </a:pPr>
            <a:r>
              <a:rPr sz="145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오류는 정해진 형식에는 맞아 프로그램의 검사로 드러나지 않으므로 원문과 나란히 놓고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세척을 주변 온도 상승에 ADDRESSES로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없는 내용 생성</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단계 셋에 「팬 베어링의 소음을 확인한다」가 끼어든다면 → 인용할 원문이 없다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5단계 근거 대조: 인용과 원문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지식마다 근거가 된 원문의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인용.svg" descr="illust_6926813088621790637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한 건</a:t>
            </a:r>
          </a:p>
          <a:p>
            <a:pPr algn="ctr">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인용에 담기는 것</a:t>
            </a:r>
          </a:p>
          <a:p>
            <a:pPr algn="ctr">
              <a:lnSpc>
                <a:spcPct val="110000"/>
              </a:lnSpc>
              <a:spcAft>
                <a:spcPts val="100"/>
              </a:spcAft>
            </a:pPr>
            <a:r>
              <a:rPr sz="1300" b="0">
                <a:solidFill>
                  <a:srgbClr val="556175"/>
                </a:solidFill>
                <a:latin typeface="맑은 고딕"/>
                <a:ea typeface="맑은 고딕"/>
                <a:cs typeface="맑은 고딕"/>
              </a:rPr>
              <a:t>문서 식별자와 판본</a:t>
            </a:r>
          </a:p>
          <a:p>
            <a:pPr algn="ctr">
              <a:lnSpc>
                <a:spcPct val="110000"/>
              </a:lnSpc>
              <a:spcAft>
                <a:spcPts val="100"/>
              </a:spcAft>
            </a:pPr>
            <a:r>
              <a:rPr sz="1300" b="0">
                <a:solidFill>
                  <a:srgbClr val="556175"/>
                </a:solidFill>
                <a:latin typeface="맑은 고딕"/>
                <a:ea typeface="맑은 고딕"/>
                <a:cs typeface="맑은 고딕"/>
              </a:rPr>
              <a:t>쪽 1 · 문자 위치 1569~1615</a:t>
            </a:r>
          </a:p>
          <a:p>
            <a:pPr algn="ctr">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223088" y="578778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대조</a:t>
            </a:r>
          </a:p>
          <a:p>
            <a:pPr algn="ctr">
              <a:lnSpc>
                <a:spcPct val="110000"/>
              </a:lnSpc>
              <a:spcAft>
                <a:spcPts val="100"/>
              </a:spcAft>
            </a:pPr>
            <a:r>
              <a:rPr sz="1300" b="0">
                <a:solidFill>
                  <a:srgbClr val="556175"/>
                </a:solidFill>
                <a:latin typeface="맑은 고딕"/>
                <a:ea typeface="맑은 고딕"/>
                <a:cs typeface="맑은 고딕"/>
              </a:rPr>
              <a:t>인용문을 그 쪽에서 찾는다</a:t>
            </a:r>
          </a:p>
          <a:p>
            <a:pPr algn="ctr">
              <a:lnSpc>
                <a:spcPct val="110000"/>
              </a:lnSpc>
              <a:spcAft>
                <a:spcPts val="100"/>
              </a:spcAft>
            </a:pPr>
            <a:r>
              <a:rPr sz="1300" b="0">
                <a:solidFill>
                  <a:srgbClr val="556175"/>
                </a:solidFill>
                <a:latin typeface="맑은 고딕"/>
                <a:ea typeface="맑은 고딕"/>
                <a:cs typeface="맑은 고딕"/>
              </a:rPr>
              <a:t>없으면 후보를 돌려보낸다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오류의 종류가 곧 점검 항목이므로 검토자는 문서 전체가 아니라 인용이 가리키는 자리의 네 곳을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부정 조건</a:t>
            </a:r>
          </a:p>
          <a:p>
            <a:pPr algn="l">
              <a:lnSpc>
                <a:spcPct val="110000"/>
              </a:lnSpc>
              <a:spcAft>
                <a:spcPts val="400"/>
              </a:spcAft>
            </a:pPr>
            <a:r>
              <a:rPr sz="1350" b="0">
                <a:solidFill>
                  <a:srgbClr val="1F2A3A"/>
                </a:solidFill>
                <a:latin typeface="맑은 고딕"/>
                <a:ea typeface="맑은 고딕"/>
                <a:cs typeface="맑은 고딕"/>
              </a:rPr>
              <a:t>「~가 아니면」「~하지 않는다」가 빠지지 않았는가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수치와 단위</a:t>
            </a:r>
          </a:p>
          <a:p>
            <a:pPr algn="l">
              <a:lnSpc>
                <a:spcPct val="110000"/>
              </a:lnSpc>
              <a:spcAft>
                <a:spcPts val="400"/>
              </a:spcAft>
            </a:pPr>
            <a:r>
              <a:rPr sz="13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단계의 순서</a:t>
            </a:r>
          </a:p>
          <a:p>
            <a:pPr algn="l">
              <a:lnSpc>
                <a:spcPct val="110000"/>
              </a:lnSpc>
              <a:spcAft>
                <a:spcPts val="400"/>
              </a:spcAft>
            </a:pPr>
            <a:r>
              <a:rPr sz="13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대상과 관계</a:t>
            </a:r>
          </a:p>
          <a:p>
            <a:pPr algn="l">
              <a:lnSpc>
                <a:spcPct val="110000"/>
              </a:lnSpc>
              <a:spcAft>
                <a:spcPts val="400"/>
              </a:spcAft>
            </a:pPr>
            <a:r>
              <a:rPr sz="1350" b="0">
                <a:solidFill>
                  <a:srgbClr val="1F2A3A"/>
                </a:solidFill>
                <a:latin typeface="맑은 고딕"/>
                <a:ea typeface="맑은 고딕"/>
                <a:cs typeface="맑은 고딕"/>
              </a:rPr>
              <a:t>고장 유형과 관계가 바르게 이어졌는가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6단계: 승인된 지식 적재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제안의 일부만 들어가 조건이 빠진 지식이 되지 않도록, 검토자가 이름을 밝혀 승인한 것만 한 번에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인제스천_6.svg" descr="illust_7541406579388033207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 승인된 지식 적재</a:t>
            </a:r>
          </a:p>
          <a:p>
            <a:pPr algn="ctr">
              <a:lnSpc>
                <a:spcPct val="110000"/>
              </a:lnSpc>
              <a:spcAft>
                <a:spcPts val="100"/>
              </a:spcAft>
            </a:pPr>
            <a:r>
              <a:rPr sz="1300" b="0">
                <a:solidFill>
                  <a:srgbClr val="556175"/>
                </a:solidFill>
                <a:latin typeface="맑은 고딕"/>
                <a:ea typeface="맑은 고딕"/>
                <a:cs typeface="맑은 고딕"/>
              </a:rPr>
              <a:t>승인된 것만 한 번에 넣고</a:t>
            </a:r>
          </a:p>
          <a:p>
            <a:pPr algn="ctr">
              <a:lnSpc>
                <a:spcPct val="110000"/>
              </a:lnSpc>
              <a:spcAft>
                <a:spcPts val="100"/>
              </a:spcAft>
            </a:pPr>
            <a:r>
              <a:rPr sz="1300" b="0">
                <a:solidFill>
                  <a:srgbClr val="556175"/>
                </a:solidFill>
                <a:latin typeface="맑은 고딕"/>
                <a:ea typeface="맑은 고딕"/>
                <a:cs typeface="맑은 고딕"/>
              </a:rPr>
              <a:t>어긋나면 모두 취소한다</a:t>
            </a:r>
          </a:p>
        </p:txBody>
      </p:sp>
      <p:sp>
        <p:nvSpPr>
          <p:cNvPr id="13" name="TextBox 12"/>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적재 기록, 개정 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내용이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판본마다 적재 전후를 기록하고 앞 기록을 가리켜야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적재묶음_사슬.svg" descr="illust_3943541199319558800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되돌리기</a:t>
            </a:r>
          </a:p>
          <a:p>
            <a:pPr algn="ctr">
              <a:lnSpc>
                <a:spcPct val="110000"/>
              </a:lnSpc>
              <a:spcAft>
                <a:spcPts val="100"/>
              </a:spcAft>
            </a:pPr>
            <a:r>
              <a:rPr sz="1300" b="0">
                <a:solidFill>
                  <a:srgbClr val="556175"/>
                </a:solidFill>
                <a:latin typeface="맑은 고딕"/>
                <a:ea typeface="맑은 고딕"/>
                <a:cs typeface="맑은 고딕"/>
              </a:rPr>
              <a:t>가장 새 기록부터 적재 전의 상태로 되돌린다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절을 거쳐 문서에 속하고(PART_OF) 규칙이 절을 가리켜(DERIVED_FROM) 출처는 관계로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2단계</a:t>
            </a:r>
          </a:p>
          <a:p>
            <a:pPr algn="ctr">
              <a:lnSpc>
                <a:spcPct val="110000"/>
              </a:lnSpc>
            </a:pPr>
            <a:r>
              <a:rPr sz="1100" b="0">
                <a:solidFill>
                  <a:srgbClr val="556175"/>
                </a:solidFill>
                <a:latin typeface="맑은 고딕"/>
                <a:ea typeface="맑은 고딕"/>
                <a:cs typeface="맑은 고딕"/>
              </a:rPr>
              <a:t>팬 속도를</a:t>
            </a:r>
          </a:p>
          <a:p>
            <a:pPr algn="ctr">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a:p>
            <a:pPr algn="ctr">
              <a:lnSpc>
                <a:spcPct val="110000"/>
              </a:lnSpc>
            </a:pPr>
            <a:r>
              <a:rPr sz="1100" b="0">
                <a:solidFill>
                  <a:srgbClr val="556175"/>
                </a:solidFill>
                <a:latin typeface="맑은 고딕"/>
                <a:ea typeface="맑은 고딕"/>
                <a:cs typeface="맑은 고딕"/>
              </a:rPr>
              <a:t>쿨러 팬 정비 매뉴얼</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후보 선택 규칙</a:t>
            </a:r>
          </a:p>
          <a:p>
            <a:pPr algn="ctr">
              <a:lnSpc>
                <a:spcPct val="110000"/>
              </a:lnSpc>
            </a:pPr>
            <a:r>
              <a:rPr sz="1100" b="0">
                <a:solidFill>
                  <a:srgbClr val="556175"/>
                </a:solidFill>
                <a:latin typeface="맑은 고딕"/>
                <a:ea typeface="맑은 고딕"/>
                <a:cs typeface="맑은 고딕"/>
              </a:rPr>
              <a:t>냉각 성능 상실의</a:t>
            </a:r>
          </a:p>
          <a:p>
            <a:pPr algn="ctr">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지식 그래프에 복사하면 원천과 어긋나 판단이 지난 값을 보므로, 지식만 등록하고 값은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절차, 규칙, 기준</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a:p>
            <a:pPr algn="l">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547296"/>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값, 재고, 운전시간</a:t>
            </a:r>
          </a:p>
          <a:p>
            <a:pPr algn="l">
              <a:lnSpc>
                <a:spcPct val="110000"/>
              </a:lnSpc>
              <a:spcAft>
                <a:spcPts val="600"/>
              </a:spcAft>
            </a:pPr>
            <a:r>
              <a:rPr sz="1450" b="0">
                <a:solidFill>
                  <a:srgbClr val="1F2A3A"/>
                </a:solidFill>
                <a:latin typeface="맑은 고딕"/>
                <a:ea typeface="맑은 고딕"/>
                <a:cs typeface="맑은 고딕"/>
              </a:rPr>
              <a:t>• 매초, 또는 업무가 일어날 때마다 바뀐다</a:t>
            </a:r>
          </a:p>
          <a:p>
            <a:pPr algn="l">
              <a:lnSpc>
                <a:spcPct val="110000"/>
              </a:lnSpc>
              <a:spcAft>
                <a:spcPts val="600"/>
              </a:spcAft>
            </a:pPr>
            <a:r>
              <a:rPr sz="1450" b="0">
                <a:solidFill>
                  <a:srgbClr val="1F2A3A"/>
                </a:solidFill>
                <a:latin typeface="맑은 고딕"/>
                <a:ea typeface="맑은 고딕"/>
                <a:cs typeface="맑은 고딕"/>
              </a:rPr>
              <a:t>• 지식 그래프에 복사하면 넣은 순간부터 원천과 어긋난다</a:t>
            </a:r>
          </a:p>
          <a:p>
            <a:pPr algn="l">
              <a:lnSpc>
                <a:spcPct val="110000"/>
              </a:lnSpc>
              <a:spcAft>
                <a:spcPts val="600"/>
              </a:spcAft>
            </a:pPr>
            <a:r>
              <a:rPr sz="1450" b="0">
                <a:solidFill>
                  <a:srgbClr val="1F2A3A"/>
                </a:solidFill>
                <a:latin typeface="맑은 고딕"/>
                <a:ea typeface="맑은 고딕"/>
                <a:cs typeface="맑은 고딕"/>
              </a:rPr>
              <a:t>• 예: 쿨러 사건의 유온은 2분이 안 되어 6 ℃ 올랐다</a:t>
            </a:r>
          </a:p>
          <a:p>
            <a:pPr algn="l">
              <a:lnSpc>
                <a:spcPct val="110000"/>
              </a:lnSpc>
              <a:spcAft>
                <a:spcPts val="600"/>
              </a:spcAft>
            </a:pPr>
            <a:r>
              <a:rPr sz="145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데이터베이스의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 데이터베이스는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입력데이터_자리.svg" descr="illust_7155347227955976293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값의 자리: 어느 표의 어느 열인가</a:t>
            </a:r>
          </a:p>
        </p:txBody>
      </p:sp>
      <p:sp>
        <p:nvSpPr>
          <p:cNvPr id="8" name="TextBox 7"/>
          <p:cNvSpPr txBox="1"/>
          <p:nvPr/>
        </p:nvSpPr>
        <p:spPr>
          <a:xfrm>
            <a:off x="935656" y="5622325"/>
            <a:ext cx="414560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DB의 표</a:t>
            </a:r>
          </a:p>
          <a:p>
            <a:pPr algn="ctr">
              <a:lnSpc>
                <a:spcPct val="110000"/>
              </a:lnSpc>
              <a:spcAft>
                <a:spcPts val="100"/>
              </a:spcAft>
            </a:pPr>
            <a:r>
              <a:rPr sz="1300" b="0">
                <a:solidFill>
                  <a:srgbClr val="556175"/>
                </a:solidFill>
                <a:latin typeface="맑은 고딕"/>
                <a:ea typeface="맑은 고딕"/>
                <a:cs typeface="맑은 고딕"/>
              </a:rPr>
              <a:t>정비 계수기 표의 운전시간 열</a:t>
            </a:r>
          </a:p>
          <a:p>
            <a:pPr algn="ctr">
              <a:lnSpc>
                <a:spcPct val="110000"/>
              </a:lnSpc>
              <a:spcAft>
                <a:spcPts val="100"/>
              </a:spcAft>
            </a:pPr>
            <a:r>
              <a:rPr sz="1300" b="0">
                <a:solidFill>
                  <a:srgbClr val="556175"/>
                </a:solidFill>
                <a:latin typeface="맑은 고딕"/>
                <a:ea typeface="맑은 고딕"/>
                <a:cs typeface="맑은 고딕"/>
              </a:rPr>
              <a:t>값은 이 표에 그대로 있다</a:t>
            </a:r>
          </a:p>
        </p:txBody>
      </p:sp>
      <p:sp>
        <p:nvSpPr>
          <p:cNvPr id="9" name="TextBox 8"/>
          <p:cNvSpPr txBox="1"/>
          <p:nvPr/>
        </p:nvSpPr>
        <p:spPr>
          <a:xfrm>
            <a:off x="8114104" y="2194925"/>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정기 정비 도래</a:t>
            </a:r>
          </a:p>
          <a:p>
            <a:pPr algn="ctr">
              <a:lnSpc>
                <a:spcPct val="110000"/>
              </a:lnSpc>
              <a:spcAft>
                <a:spcPts val="100"/>
              </a:spcAft>
            </a:pPr>
            <a:r>
              <a:rPr sz="1300" b="0">
                <a:solidFill>
                  <a:srgbClr val="556175"/>
                </a:solidFill>
                <a:latin typeface="맑은 고딕"/>
                <a:ea typeface="맑은 고딕"/>
                <a:cs typeface="맑은 고딕"/>
              </a:rPr>
              <a:t>1,950시간 이상인가</a:t>
            </a:r>
          </a:p>
        </p:txBody>
      </p:sp>
      <p:sp>
        <p:nvSpPr>
          <p:cNvPr id="10" name="TextBox 9"/>
          <p:cNvSpPr txBox="1"/>
          <p:nvPr/>
        </p:nvSpPr>
        <p:spPr>
          <a:xfrm>
            <a:off x="6368584" y="3329513"/>
            <a:ext cx="98185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TESTS</a:t>
            </a:r>
          </a:p>
          <a:p>
            <a:pPr algn="ctr">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a:t>
            </a:r>
          </a:p>
          <a:p>
            <a:pPr algn="ctr">
              <a:lnSpc>
                <a:spcPct val="110000"/>
              </a:lnSpc>
              <a:spcAft>
                <a:spcPts val="100"/>
              </a:spcAft>
            </a:pPr>
            <a:r>
              <a:rPr sz="1300" b="0">
                <a:solidFill>
                  <a:srgbClr val="556175"/>
                </a:solidFill>
                <a:latin typeface="맑은 고딕"/>
                <a:ea typeface="맑은 고딕"/>
                <a:cs typeface="맑은 고딕"/>
              </a:rPr>
              <a:t>마지막 정기 정비 뒤</a:t>
            </a:r>
          </a:p>
          <a:p>
            <a:pPr algn="ctr">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SOURCED_FROM</a:t>
            </a:r>
          </a:p>
          <a:p>
            <a:pPr algn="ctr">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출처 시스템</a:t>
            </a:r>
          </a:p>
          <a:p>
            <a:pPr algn="ctr">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시점에 읽는다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매뉴얼의 등록, 추출, 검토, 승인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설비 정비 매뉴얼 한 편을 원문 보관부터 승인 적재까지 진행한다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하는 일과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매뉴얼 한 편에서 나온 조치 방법, 원인, 규칙이 출처와 함께 지식 그래프에 등록된다.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등록과 추출</a:t>
            </a:r>
          </a:p>
          <a:p>
            <a:pPr algn="l">
              <a:lnSpc>
                <a:spcPct val="110000"/>
              </a:lnSpc>
              <a:spcAft>
                <a:spcPts val="400"/>
              </a:spcAft>
            </a:pPr>
            <a:r>
              <a:rPr sz="1400" b="0">
                <a:solidFill>
                  <a:srgbClr val="1F2A3A"/>
                </a:solidFill>
                <a:latin typeface="맑은 고딕"/>
                <a:ea typeface="맑은 고딕"/>
                <a:cs typeface="맑은 고딕"/>
              </a:rPr>
              <a:t>• 설비 정비 매뉴얼을 올려 원문을 보관한다</a:t>
            </a:r>
          </a:p>
          <a:p>
            <a:pPr algn="l">
              <a:lnSpc>
                <a:spcPct val="110000"/>
              </a:lnSpc>
              <a:spcAft>
                <a:spcPts val="400"/>
              </a:spcAft>
            </a:pPr>
            <a:r>
              <a:rPr sz="1400" b="0">
                <a:solidFill>
                  <a:srgbClr val="1F2A3A"/>
                </a:solidFill>
                <a:latin typeface="맑은 고딕"/>
                <a:ea typeface="맑은 고딕"/>
                <a:cs typeface="맑은 고딕"/>
              </a:rPr>
              <a:t>• 추출을 요청해 조치 방법, 단계, 고장 유형, 원인, 규칙의 제안을 받는다</a:t>
            </a:r>
          </a:p>
        </p:txBody>
      </p:sp>
      <p:sp>
        <p:nvSpPr>
          <p:cNvPr id="10" name="Rounded Rectangle 9"/>
          <p:cNvSpPr/>
          <p:nvPr/>
        </p:nvSpPr>
        <p:spPr>
          <a:xfrm>
            <a:off x="777240" y="536676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원문에서 제안까지</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400" b="0">
                <a:solidFill>
                  <a:srgbClr val="1F2A3A"/>
                </a:solidFill>
                <a:latin typeface="맑은 고딕"/>
                <a:ea typeface="맑은 고딕"/>
                <a:cs typeface="맑은 고딕"/>
              </a:rPr>
              <a:t>• 제안의 단계 문장을 원문 인용과 나란히 읽는다</a:t>
            </a:r>
          </a:p>
          <a:p>
            <a:pPr algn="l">
              <a:lnSpc>
                <a:spcPct val="110000"/>
              </a:lnSpc>
              <a:spcAft>
                <a:spcPts val="400"/>
              </a:spcAft>
            </a:pPr>
            <a:r>
              <a:rPr sz="1400" b="0">
                <a:solidFill>
                  <a:srgbClr val="1F2A3A"/>
                </a:solidFill>
                <a:latin typeface="맑은 고딕"/>
                <a:ea typeface="맑은 고딕"/>
                <a:cs typeface="맑은 고딕"/>
              </a:rPr>
              <a:t>• 부정 조건, 단위, 단계의 순서, 대상 설비를 확인해 틀린 곳을 고친다</a:t>
            </a:r>
          </a:p>
          <a:p>
            <a:pPr algn="l">
              <a:lnSpc>
                <a:spcPct val="110000"/>
              </a:lnSpc>
              <a:spcAft>
                <a:spcPts val="400"/>
              </a:spcAft>
            </a:pPr>
            <a:r>
              <a:rPr sz="1400" b="0">
                <a:solidFill>
                  <a:srgbClr val="1F2A3A"/>
                </a:solidFill>
                <a:latin typeface="맑은 고딕"/>
                <a:ea typeface="맑은 고딕"/>
                <a:cs typeface="맑은 고딕"/>
              </a:rPr>
              <a:t>• 원문에 근거가 없는 후보는 보류한다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사람의 확인</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topology-star-3" descr="topology-star-3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확인</a:t>
            </a:r>
          </a:p>
          <a:p>
            <a:pPr algn="l">
              <a:lnSpc>
                <a:spcPct val="110000"/>
              </a:lnSpc>
              <a:spcAft>
                <a:spcPts val="400"/>
              </a:spcAft>
            </a:pPr>
            <a:r>
              <a:rPr sz="1400" b="0">
                <a:solidFill>
                  <a:srgbClr val="1F2A3A"/>
                </a:solidFill>
                <a:latin typeface="맑은 고딕"/>
                <a:ea typeface="맑은 고딕"/>
                <a:cs typeface="맑은 고딕"/>
              </a:rPr>
              <a:t>• 검토를 마쳤다고 표시해 지식 그래프에 적재한다</a:t>
            </a:r>
          </a:p>
          <a:p>
            <a:pPr algn="l">
              <a:lnSpc>
                <a:spcPct val="110000"/>
              </a:lnSpc>
              <a:spcAft>
                <a:spcPts val="400"/>
              </a:spcAft>
            </a:pPr>
            <a:r>
              <a:rPr sz="1400" b="0">
                <a:solidFill>
                  <a:srgbClr val="1F2A3A"/>
                </a:solidFill>
                <a:latin typeface="맑은 고딕"/>
                <a:ea typeface="맑은 고딕"/>
                <a:cs typeface="맑은 고딕"/>
              </a:rPr>
              <a:t>• 조치, 원인, 근거 문서가 이어진 관계를 확인한다</a:t>
            </a:r>
          </a:p>
          <a:p>
            <a:pPr algn="l">
              <a:lnSpc>
                <a:spcPct val="110000"/>
              </a:lnSpc>
              <a:spcAft>
                <a:spcPts val="400"/>
              </a:spcAft>
            </a:pPr>
            <a:r>
              <a:rPr sz="1400" b="0">
                <a:solidFill>
                  <a:srgbClr val="1F2A3A"/>
                </a:solidFill>
                <a:latin typeface="맑은 고딕"/>
                <a:ea typeface="맑은 고딕"/>
                <a:cs typeface="맑은 고딕"/>
              </a:rPr>
              <a:t>• 판단 기준과 원천에서 읽히는 지금의 값을 견주어 본다</a:t>
            </a:r>
          </a:p>
        </p:txBody>
      </p:sp>
      <p:sp>
        <p:nvSpPr>
          <p:cNvPr id="22" name="Rounded Rectangle 21"/>
          <p:cNvSpPr/>
          <p:nvPr/>
        </p:nvSpPr>
        <p:spPr>
          <a:xfrm>
            <a:off x="8356396" y="536676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등록된 지식</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Claude Code로 문서에서 지식 추출하기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실습용 기술 매뉴얼과 작업 절차 자료에서 출처가 붙은 지식 후보를 만든다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지시하는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문서 식별자, 쪽, 원문 문장이 붙은 검토용 구조화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077720"/>
            <a:ext cx="3515258" cy="382727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78888"/>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432507"/>
            <a:ext cx="424281" cy="424281"/>
          </a:xfrm>
          <a:prstGeom prst="rect">
            <a:avLst/>
          </a:prstGeom>
        </p:spPr>
      </p:pic>
      <p:sp>
        <p:nvSpPr>
          <p:cNvPr id="9" name="TextBox 8"/>
          <p:cNvSpPr txBox="1"/>
          <p:nvPr/>
        </p:nvSpPr>
        <p:spPr>
          <a:xfrm>
            <a:off x="713232"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분석</a:t>
            </a:r>
          </a:p>
          <a:p>
            <a:pPr algn="l">
              <a:lnSpc>
                <a:spcPct val="110000"/>
              </a:lnSpc>
              <a:spcAft>
                <a:spcPts val="400"/>
              </a:spcAft>
            </a:pPr>
            <a:r>
              <a:rPr sz="1400" b="0">
                <a:solidFill>
                  <a:srgbClr val="1F2A3A"/>
                </a:solidFill>
                <a:latin typeface="맑은 고딕"/>
                <a:ea typeface="맑은 고딕"/>
                <a:cs typeface="맑은 고딕"/>
              </a:rPr>
              <a:t>• 실습용 매뉴얼과 작업 절차 자료를 읽는다</a:t>
            </a:r>
          </a:p>
          <a:p>
            <a:pPr algn="l">
              <a:lnSpc>
                <a:spcPct val="110000"/>
              </a:lnSpc>
              <a:spcAft>
                <a:spcPts val="400"/>
              </a:spcAft>
            </a:pPr>
            <a:r>
              <a:rPr sz="1400" b="0">
                <a:solidFill>
                  <a:srgbClr val="1F2A3A"/>
                </a:solidFill>
                <a:latin typeface="맑은 고딕"/>
                <a:ea typeface="맑은 고딕"/>
                <a:cs typeface="맑은 고딕"/>
              </a:rPr>
              <a:t>• 표, 작업 단계, 단위, 금지 조건을 확인한다</a:t>
            </a:r>
          </a:p>
        </p:txBody>
      </p:sp>
      <p:sp>
        <p:nvSpPr>
          <p:cNvPr id="10" name="Rounded Rectangle 9"/>
          <p:cNvSpPr/>
          <p:nvPr/>
        </p:nvSpPr>
        <p:spPr>
          <a:xfrm>
            <a:off x="777240" y="547522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7522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읽을 대상</a:t>
            </a:r>
          </a:p>
        </p:txBody>
      </p:sp>
      <p:sp>
        <p:nvSpPr>
          <p:cNvPr id="12" name="Rounded Rectangle 11"/>
          <p:cNvSpPr/>
          <p:nvPr/>
        </p:nvSpPr>
        <p:spPr>
          <a:xfrm>
            <a:off x="4338218" y="2077720"/>
            <a:ext cx="3515258" cy="382727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278888"/>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4720437" y="2432507"/>
            <a:ext cx="424281" cy="424281"/>
          </a:xfrm>
          <a:prstGeom prst="rect">
            <a:avLst/>
          </a:prstGeom>
        </p:spPr>
      </p:pic>
      <p:sp>
        <p:nvSpPr>
          <p:cNvPr id="15" name="TextBox 14"/>
          <p:cNvSpPr txBox="1"/>
          <p:nvPr/>
        </p:nvSpPr>
        <p:spPr>
          <a:xfrm>
            <a:off x="4502810"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 지시</a:t>
            </a:r>
          </a:p>
          <a:p>
            <a:pPr algn="l">
              <a:lnSpc>
                <a:spcPct val="110000"/>
              </a:lnSpc>
              <a:spcAft>
                <a:spcPts val="400"/>
              </a:spcAft>
            </a:pPr>
            <a:r>
              <a:rPr sz="1400" b="0">
                <a:solidFill>
                  <a:srgbClr val="1F2A3A"/>
                </a:solidFill>
                <a:latin typeface="맑은 고딕"/>
                <a:ea typeface="맑은 고딕"/>
                <a:cs typeface="맑은 고딕"/>
              </a:rPr>
              <a:t>• 원인, 조치, 수행 조건을 스키마의 클래스에 맞춰 뽑도록 Claude Code에 지시한다</a:t>
            </a:r>
          </a:p>
          <a:p>
            <a:pPr algn="l">
              <a:lnSpc>
                <a:spcPct val="110000"/>
              </a:lnSpc>
              <a:spcAft>
                <a:spcPts val="400"/>
              </a:spcAft>
            </a:pPr>
            <a:r>
              <a:rPr sz="1400" b="0">
                <a:solidFill>
                  <a:srgbClr val="1F2A3A"/>
                </a:solidFill>
                <a:latin typeface="맑은 고딕"/>
                <a:ea typeface="맑은 고딕"/>
                <a:cs typeface="맑은 고딕"/>
              </a:rPr>
              <a:t>• JSON(JavaScript Object Notation) 형식으로, 후보마다 문서 식별자, 쪽, 원문 문장을 함께 내게 한다</a:t>
            </a:r>
          </a:p>
        </p:txBody>
      </p:sp>
      <p:sp>
        <p:nvSpPr>
          <p:cNvPr id="16" name="Rounded Rectangle 15"/>
          <p:cNvSpPr/>
          <p:nvPr/>
        </p:nvSpPr>
        <p:spPr>
          <a:xfrm>
            <a:off x="4566818" y="5475224"/>
            <a:ext cx="109423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75224"/>
            <a:ext cx="1094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JSON 출력</a:t>
            </a:r>
          </a:p>
        </p:txBody>
      </p:sp>
      <p:sp>
        <p:nvSpPr>
          <p:cNvPr id="18" name="Rounded Rectangle 17"/>
          <p:cNvSpPr/>
          <p:nvPr/>
        </p:nvSpPr>
        <p:spPr>
          <a:xfrm>
            <a:off x="8127796" y="2077720"/>
            <a:ext cx="3515258" cy="382727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278888"/>
            <a:ext cx="731520" cy="731520"/>
          </a:xfrm>
          <a:prstGeom prst="ellipse">
            <a:avLst/>
          </a:prstGeom>
          <a:solidFill>
            <a:srgbClr val="5CB8F2"/>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8510016" y="2432507"/>
            <a:ext cx="424281" cy="424281"/>
          </a:xfrm>
          <a:prstGeom prst="rect">
            <a:avLst/>
          </a:prstGeom>
        </p:spPr>
      </p:pic>
      <p:sp>
        <p:nvSpPr>
          <p:cNvPr id="21" name="TextBox 20"/>
          <p:cNvSpPr txBox="1"/>
          <p:nvPr/>
        </p:nvSpPr>
        <p:spPr>
          <a:xfrm>
            <a:off x="8292388" y="3101848"/>
            <a:ext cx="3186074" cy="230022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보완</a:t>
            </a:r>
          </a:p>
          <a:p>
            <a:pPr algn="l">
              <a:lnSpc>
                <a:spcPct val="110000"/>
              </a:lnSpc>
              <a:spcAft>
                <a:spcPts val="400"/>
              </a:spcAft>
            </a:pPr>
            <a:r>
              <a:rPr sz="1400" b="0">
                <a:solidFill>
                  <a:srgbClr val="1F2A3A"/>
                </a:solidFill>
                <a:latin typeface="맑은 고딕"/>
                <a:ea typeface="맑은 고딕"/>
                <a:cs typeface="맑은 고딕"/>
              </a:rPr>
              <a:t>• 결과를 원문과 대조해 오탈자와 긍정 · 부정이 뒤바뀐 조건을 고친다</a:t>
            </a:r>
          </a:p>
          <a:p>
            <a:pPr algn="l">
              <a:lnSpc>
                <a:spcPct val="110000"/>
              </a:lnSpc>
              <a:spcAft>
                <a:spcPts val="400"/>
              </a:spcAft>
            </a:pPr>
            <a:r>
              <a:rPr sz="1400" b="0">
                <a:solidFill>
                  <a:srgbClr val="1F2A3A"/>
                </a:solidFill>
                <a:latin typeface="맑은 고딕"/>
                <a:ea typeface="맑은 고딕"/>
                <a:cs typeface="맑은 고딕"/>
              </a:rPr>
              <a:t>• 다음 실습의 적재에 쓸 검토용 데이터로 정리한다</a:t>
            </a:r>
          </a:p>
        </p:txBody>
      </p:sp>
      <p:sp>
        <p:nvSpPr>
          <p:cNvPr id="22" name="Rounded Rectangle 21"/>
          <p:cNvSpPr/>
          <p:nvPr/>
        </p:nvSpPr>
        <p:spPr>
          <a:xfrm>
            <a:off x="8356396" y="5475224"/>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75224"/>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검토용 데이터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추출한 후보를 검토해 실습용 그래프 DB에 넣고 출처까지 이어진 관계를 조회한다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것과 확인하는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만든 그래프에 문서에서 온 지식이 더해지고 고장 유형에서 출처까지를 한 번에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a:t>
            </a:r>
          </a:p>
          <a:p>
            <a:pPr algn="l">
              <a:lnSpc>
                <a:spcPct val="110000"/>
              </a:lnSpc>
              <a:spcAft>
                <a:spcPts val="400"/>
              </a:spcAft>
            </a:pPr>
            <a:r>
              <a:rPr sz="1350" b="0">
                <a:solidFill>
                  <a:srgbClr val="1F2A3A"/>
                </a:solidFill>
                <a:latin typeface="맑은 고딕"/>
                <a:ea typeface="맑은 고딕"/>
                <a:cs typeface="맑은 고딕"/>
              </a:rPr>
              <a:t>• 추출한 후보를 원문과 대조한다</a:t>
            </a:r>
          </a:p>
          <a:p>
            <a:pPr algn="l">
              <a:lnSpc>
                <a:spcPct val="110000"/>
              </a:lnSpc>
              <a:spcAft>
                <a:spcPts val="400"/>
              </a:spcAft>
            </a:pPr>
            <a:r>
              <a:rPr sz="1350" b="0">
                <a:solidFill>
                  <a:srgbClr val="1F2A3A"/>
                </a:solidFill>
                <a:latin typeface="맑은 고딕"/>
                <a:ea typeface="맑은 고딕"/>
                <a:cs typeface="맑은 고딕"/>
              </a:rPr>
              <a:t>• 채택할 것, 고칠 것, 뺄 것을 정한다</a:t>
            </a:r>
          </a:p>
        </p:txBody>
      </p:sp>
      <p:sp>
        <p:nvSpPr>
          <p:cNvPr id="10" name="Rounded Rectangle 9"/>
          <p:cNvSpPr/>
          <p:nvPr/>
        </p:nvSpPr>
        <p:spPr>
          <a:xfrm>
            <a:off x="777240" y="523894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후보의 선별</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매핑</a:t>
            </a:r>
          </a:p>
          <a:p>
            <a:pPr algn="l">
              <a:lnSpc>
                <a:spcPct val="110000"/>
              </a:lnSpc>
              <a:spcAft>
                <a:spcPts val="400"/>
              </a:spcAft>
            </a:pPr>
            <a:r>
              <a:rPr sz="1350" b="0">
                <a:solidFill>
                  <a:srgbClr val="1F2A3A"/>
                </a:solidFill>
                <a:latin typeface="맑은 고딕"/>
                <a:ea typeface="맑은 고딕"/>
                <a:cs typeface="맑은 고딕"/>
              </a:rPr>
              <a:t>• 후보를 이미 만든 클래스, 인스턴스, 관계에 잇는다</a:t>
            </a:r>
          </a:p>
          <a:p>
            <a:pPr algn="l">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적재</a:t>
            </a:r>
          </a:p>
          <a:p>
            <a:pPr algn="l">
              <a:lnSpc>
                <a:spcPct val="110000"/>
              </a:lnSpc>
              <a:spcAft>
                <a:spcPts val="400"/>
              </a:spcAft>
            </a:pPr>
            <a:r>
              <a:rPr sz="1350" b="0">
                <a:solidFill>
                  <a:srgbClr val="1F2A3A"/>
                </a:solidFill>
                <a:latin typeface="맑은 고딕"/>
                <a:ea typeface="맑은 고딕"/>
                <a:cs typeface="맑은 고딕"/>
              </a:rPr>
              <a:t>• Claude Code로 적재 코드를 만든다</a:t>
            </a:r>
          </a:p>
          <a:p>
            <a:pPr algn="l">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검토한 것만</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a:t>
            </a:r>
          </a:p>
          <a:p>
            <a:pPr algn="l">
              <a:lnSpc>
                <a:spcPct val="110000"/>
              </a:lnSpc>
              <a:spcAft>
                <a:spcPts val="400"/>
              </a:spcAft>
            </a:pPr>
            <a:r>
              <a:rPr sz="1350" b="0">
                <a:solidFill>
                  <a:srgbClr val="1F2A3A"/>
                </a:solidFill>
                <a:latin typeface="맑은 고딕"/>
                <a:ea typeface="맑은 고딕"/>
                <a:cs typeface="맑은 고딕"/>
              </a:rPr>
              <a:t>고장 유형에서 원인, 조치, 판단 규칙, 원문 출처로 이어지는 관계를 조회한다</a:t>
            </a:r>
          </a:p>
        </p:txBody>
      </p:sp>
      <p:sp>
        <p:nvSpPr>
          <p:cNvPr id="28" name="Rounded Rectangle 27"/>
          <p:cNvSpPr/>
          <p:nvPr/>
        </p:nvSpPr>
        <p:spPr>
          <a:xfrm>
            <a:off x="9303791" y="5238940"/>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보강된 그래프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개정에 따른 변경 결과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정비 절차에서 바뀐 조건 한 건을 반영하고 이전 기준과 새 기준을 출처로 구별한다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개정과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같은 조치의 이전 기준과 새 기준이 출처로 구별되는 그래프와 그것을 확인한 조회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개정 내용 확인</a:t>
            </a:r>
          </a:p>
          <a:p>
            <a:pPr algn="ctr">
              <a:lnSpc>
                <a:spcPct val="110000"/>
              </a:lnSpc>
              <a:spcAft>
                <a:spcPts val="400"/>
              </a:spcAft>
            </a:pPr>
            <a:r>
              <a:rPr sz="1350" b="0">
                <a:solidFill>
                  <a:srgbClr val="1F2A3A"/>
                </a:solidFill>
                <a:latin typeface="맑은 고딕"/>
                <a:ea typeface="맑은 고딕"/>
                <a:cs typeface="맑은 고딕"/>
              </a:rPr>
              <a:t>정비 절차에서</a:t>
            </a:r>
          </a:p>
          <a:p>
            <a:pPr algn="ctr">
              <a:lnSpc>
                <a:spcPct val="110000"/>
              </a:lnSpc>
              <a:spcAft>
                <a:spcPts val="400"/>
              </a:spcAft>
            </a:pPr>
            <a:r>
              <a:rPr sz="1350" b="0">
                <a:solidFill>
                  <a:srgbClr val="1F2A3A"/>
                </a:solidFill>
                <a:latin typeface="맑은 고딕"/>
                <a:ea typeface="맑은 고딕"/>
                <a:cs typeface="맑은 고딕"/>
              </a:rPr>
              <a:t>바뀐 조건 한 건을</a:t>
            </a:r>
          </a:p>
          <a:p>
            <a:pPr algn="ctr">
              <a:lnSpc>
                <a:spcPct val="110000"/>
              </a:lnSpc>
              <a:spcAft>
                <a:spcPts val="400"/>
              </a:spcAft>
            </a:pPr>
            <a:r>
              <a:rPr sz="1350" b="0">
                <a:solidFill>
                  <a:srgbClr val="1F2A3A"/>
                </a:solidFill>
                <a:latin typeface="맑은 고딕"/>
                <a:ea typeface="맑은 고딕"/>
                <a:cs typeface="맑은 고딕"/>
              </a:rPr>
              <a:t>원문에서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기준 반영</a:t>
            </a:r>
          </a:p>
          <a:p>
            <a:pPr algn="ctr">
              <a:lnSpc>
                <a:spcPct val="110000"/>
              </a:lnSpc>
              <a:spcAft>
                <a:spcPts val="400"/>
              </a:spcAft>
            </a:pPr>
            <a:r>
              <a:rPr sz="1350" b="0">
                <a:solidFill>
                  <a:srgbClr val="1F2A3A"/>
                </a:solidFill>
                <a:latin typeface="맑은 고딕"/>
                <a:ea typeface="맑은 고딕"/>
                <a:cs typeface="맑은 고딕"/>
              </a:rPr>
              <a:t>바뀐 조건을 검토해</a:t>
            </a:r>
          </a:p>
          <a:p>
            <a:pPr algn="ctr">
              <a:lnSpc>
                <a:spcPct val="110000"/>
              </a:lnSpc>
              <a:spcAft>
                <a:spcPts val="400"/>
              </a:spcAft>
            </a:pPr>
            <a:r>
              <a:rPr sz="1350" b="0">
                <a:solidFill>
                  <a:srgbClr val="1F2A3A"/>
                </a:solidFill>
                <a:latin typeface="맑은 고딕"/>
                <a:ea typeface="맑은 고딕"/>
                <a:cs typeface="맑은 고딕"/>
              </a:rPr>
              <a:t>새 출처와 함께</a:t>
            </a:r>
          </a:p>
          <a:p>
            <a:pPr algn="ctr">
              <a:lnSpc>
                <a:spcPct val="110000"/>
              </a:lnSpc>
              <a:spcAft>
                <a:spcPts val="400"/>
              </a:spcAft>
            </a:pPr>
            <a:r>
              <a:rPr sz="1350" b="0">
                <a:solidFill>
                  <a:srgbClr val="1F2A3A"/>
                </a:solidFill>
                <a:latin typeface="맑은 고딕"/>
                <a:ea typeface="맑은 고딕"/>
                <a:cs typeface="맑은 고딕"/>
              </a:rPr>
              <a:t>그래프에 넣는다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기준의 구별</a:t>
            </a:r>
          </a:p>
          <a:p>
            <a:pPr algn="ctr">
              <a:lnSpc>
                <a:spcPct val="110000"/>
              </a:lnSpc>
              <a:spcAft>
                <a:spcPts val="400"/>
              </a:spcAft>
            </a:pPr>
            <a:r>
              <a:rPr sz="1350" b="0">
                <a:solidFill>
                  <a:srgbClr val="1F2A3A"/>
                </a:solidFill>
                <a:latin typeface="맑은 고딕"/>
                <a:ea typeface="맑은 고딕"/>
                <a:cs typeface="맑은 고딕"/>
              </a:rPr>
              <a:t>이전 기준과</a:t>
            </a:r>
          </a:p>
          <a:p>
            <a:pPr algn="ctr">
              <a:lnSpc>
                <a:spcPct val="110000"/>
              </a:lnSpc>
              <a:spcAft>
                <a:spcPts val="400"/>
              </a:spcAft>
            </a:pPr>
            <a:r>
              <a:rPr sz="1350" b="0">
                <a:solidFill>
                  <a:srgbClr val="1F2A3A"/>
                </a:solidFill>
                <a:latin typeface="맑은 고딕"/>
                <a:ea typeface="맑은 고딕"/>
                <a:cs typeface="맑은 고딕"/>
              </a:rPr>
              <a:t>새 기준을 출처로</a:t>
            </a:r>
          </a:p>
          <a:p>
            <a:pPr algn="ctr">
              <a:lnSpc>
                <a:spcPct val="110000"/>
              </a:lnSpc>
              <a:spcAft>
                <a:spcPts val="400"/>
              </a:spcAft>
            </a:pPr>
            <a:r>
              <a:rPr sz="1350" b="0">
                <a:solidFill>
                  <a:srgbClr val="1F2A3A"/>
                </a:solidFill>
                <a:latin typeface="맑은 고딕"/>
                <a:ea typeface="맑은 고딕"/>
                <a:cs typeface="맑은 고딕"/>
              </a:rPr>
              <a:t>가려 조회한다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중복 확인</a:t>
            </a:r>
          </a:p>
          <a:p>
            <a:pPr algn="ctr">
              <a:lnSpc>
                <a:spcPct val="110000"/>
              </a:lnSpc>
              <a:spcAft>
                <a:spcPts val="400"/>
              </a:spcAft>
            </a:pPr>
            <a:r>
              <a:rPr sz="1350" b="0">
                <a:solidFill>
                  <a:srgbClr val="1F2A3A"/>
                </a:solidFill>
                <a:latin typeface="맑은 고딕"/>
                <a:ea typeface="맑은 고딕"/>
                <a:cs typeface="맑은 고딕"/>
              </a:rPr>
              <a:t>같은 대상이</a:t>
            </a:r>
          </a:p>
          <a:p>
            <a:pPr algn="ctr">
              <a:lnSpc>
                <a:spcPct val="110000"/>
              </a:lnSpc>
              <a:spcAft>
                <a:spcPts val="400"/>
              </a:spcAft>
            </a:pPr>
            <a:r>
              <a:rPr sz="1350" b="0">
                <a:solidFill>
                  <a:srgbClr val="1F2A3A"/>
                </a:solidFill>
                <a:latin typeface="맑은 고딕"/>
                <a:ea typeface="맑은 고딕"/>
                <a:cs typeface="맑은 고딕"/>
              </a:rPr>
              <a:t>둘로 들어가지</a:t>
            </a:r>
          </a:p>
          <a:p>
            <a:pPr algn="ctr">
              <a:lnSpc>
                <a:spcPct val="110000"/>
              </a:lnSpc>
              <a:spcAft>
                <a:spcPts val="400"/>
              </a:spcAft>
            </a:pPr>
            <a:r>
              <a:rPr sz="1350" b="0">
                <a:solidFill>
                  <a:srgbClr val="1F2A3A"/>
                </a:solidFill>
                <a:latin typeface="맑은 고딕"/>
                <a:ea typeface="맑은 고딕"/>
                <a:cs typeface="맑은 고딕"/>
              </a:rPr>
              <a:t>않았는지 조회한다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설계에서</a:t>
            </a:r>
          </a:p>
          <a:p>
            <a:pPr algn="l">
              <a:lnSpc>
                <a:spcPct val="110000"/>
              </a:lnSpc>
            </a:pPr>
            <a:r>
              <a:rPr sz="3400" b="1">
                <a:solidFill>
                  <a:srgbClr val="13294B"/>
                </a:solidFill>
                <a:latin typeface="맑은 고딕"/>
                <a:ea typeface="맑은 고딕"/>
                <a:cs typeface="맑은 고딕"/>
              </a:rPr>
              <a:t>지식 활용까지의 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네 회차의 결과물이 하나의 지식 그래프로 쌓이는 순서와 그 쓰임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회차의 흐름: 한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회차는 하나의 지식 그래프가 필요성, 구조, 조치와 판단, 문서의 지식 순서로 자라 온 과정이다.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삽화:네일차_흐름.svg" descr="illust_1638699357814707979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1회차</a:t>
            </a:r>
          </a:p>
          <a:p>
            <a:pPr algn="ctr">
              <a:lnSpc>
                <a:spcPct val="110000"/>
              </a:lnSpc>
              <a:spcAft>
                <a:spcPts val="100"/>
              </a:spcAft>
            </a:pPr>
            <a:r>
              <a:rPr sz="1300" b="0">
                <a:solidFill>
                  <a:srgbClr val="556175"/>
                </a:solidFill>
                <a:latin typeface="맑은 고딕"/>
                <a:ea typeface="맑은 고딕"/>
                <a:cs typeface="맑은 고딕"/>
              </a:rPr>
              <a:t>온톨로지의 필요, 클래스</a:t>
            </a:r>
          </a:p>
        </p:txBody>
      </p:sp>
      <p:sp>
        <p:nvSpPr>
          <p:cNvPr id="8" name="TextBox 7"/>
          <p:cNvSpPr txBox="1"/>
          <p:nvPr/>
        </p:nvSpPr>
        <p:spPr>
          <a:xfrm>
            <a:off x="3150283"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2회차</a:t>
            </a:r>
          </a:p>
          <a:p>
            <a:pPr algn="ctr">
              <a:lnSpc>
                <a:spcPct val="110000"/>
              </a:lnSpc>
              <a:spcAft>
                <a:spcPts val="100"/>
              </a:spcAft>
            </a:pPr>
            <a:r>
              <a:rPr sz="1300" b="0">
                <a:solidFill>
                  <a:srgbClr val="556175"/>
                </a:solidFill>
                <a:latin typeface="맑은 고딕"/>
                <a:ea typeface="맑은 고딕"/>
                <a:cs typeface="맑은 고딕"/>
              </a:rPr>
              <a:t>스키마, 그래프 DB, SOP</a:t>
            </a:r>
          </a:p>
        </p:txBody>
      </p:sp>
      <p:sp>
        <p:nvSpPr>
          <p:cNvPr id="9" name="TextBox 8"/>
          <p:cNvSpPr txBox="1"/>
          <p:nvPr/>
        </p:nvSpPr>
        <p:spPr>
          <a:xfrm>
            <a:off x="5583101"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3회차</a:t>
            </a:r>
          </a:p>
          <a:p>
            <a:pPr algn="ctr">
              <a:lnSpc>
                <a:spcPct val="110000"/>
              </a:lnSpc>
              <a:spcAft>
                <a:spcPts val="100"/>
              </a:spcAft>
            </a:pPr>
            <a:r>
              <a:rPr sz="1300" b="0">
                <a:solidFill>
                  <a:srgbClr val="556175"/>
                </a:solidFill>
                <a:latin typeface="맑은 고딕"/>
                <a:ea typeface="맑은 고딕"/>
                <a:cs typeface="맑은 고딕"/>
              </a:rPr>
              <a:t>판단 규칙, 성과 지표</a:t>
            </a:r>
          </a:p>
        </p:txBody>
      </p:sp>
      <p:sp>
        <p:nvSpPr>
          <p:cNvPr id="10" name="TextBox 9"/>
          <p:cNvSpPr txBox="1"/>
          <p:nvPr/>
        </p:nvSpPr>
        <p:spPr>
          <a:xfrm>
            <a:off x="8081375" y="1651269"/>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4회차</a:t>
            </a:r>
          </a:p>
          <a:p>
            <a:pPr algn="ctr">
              <a:lnSpc>
                <a:spcPct val="110000"/>
              </a:lnSpc>
              <a:spcAft>
                <a:spcPts val="100"/>
              </a:spcAft>
            </a:pPr>
            <a:r>
              <a:rPr sz="1300" b="0">
                <a:solidFill>
                  <a:srgbClr val="556175"/>
                </a:solidFill>
                <a:latin typeface="맑은 고딕"/>
                <a:ea typeface="맑은 고딕"/>
                <a:cs typeface="맑은 고딕"/>
              </a:rPr>
              <a:t>추출, 검토, 출처</a:t>
            </a:r>
          </a:p>
        </p:txBody>
      </p:sp>
      <p:sp>
        <p:nvSpPr>
          <p:cNvPr id="11" name="TextBox 10"/>
          <p:cNvSpPr txBox="1"/>
          <p:nvPr/>
        </p:nvSpPr>
        <p:spPr>
          <a:xfrm>
            <a:off x="772014" y="545686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이후 과정</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1회차의 입력과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1회차는 네 곳에 흩어진 정보를 노드와 이름 붙은 관계로 꺼내 적었고, 스키마의 정의와 제약이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관계.svg" descr="illust_8543305955665669347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경보 한 건과 네 곳의 정보</a:t>
            </a:r>
          </a:p>
          <a:p>
            <a:pPr algn="ctr">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과제</a:t>
            </a:r>
          </a:p>
          <a:p>
            <a:pPr algn="ctr">
              <a:lnSpc>
                <a:spcPct val="110000"/>
              </a:lnSpc>
              <a:spcAft>
                <a:spcPts val="100"/>
              </a:spcAft>
            </a:pPr>
            <a:r>
              <a:rPr sz="1300" b="0">
                <a:solidFill>
                  <a:srgbClr val="556175"/>
                </a:solidFill>
                <a:latin typeface="맑은 고딕"/>
                <a:ea typeface="맑은 고딕"/>
                <a:cs typeface="맑은 고딕"/>
              </a:rPr>
              <a:t>그려도 되는 것의 정의</a:t>
            </a:r>
          </a:p>
          <a:p>
            <a:pPr algn="ctr">
              <a:lnSpc>
                <a:spcPct val="110000"/>
              </a:lnSpc>
              <a:spcAft>
                <a:spcPts val="100"/>
              </a:spcAft>
            </a:pPr>
            <a:r>
              <a:rPr sz="1300" b="0">
                <a:solidFill>
                  <a:srgbClr val="556175"/>
                </a:solidFill>
                <a:latin typeface="맑은 고딕"/>
                <a:ea typeface="맑은 고딕"/>
                <a:cs typeface="맑은 고딕"/>
              </a:rPr>
              <a:t>어긋난 것을 걸러 내는 제약</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입력과 결과물 ①: 답할 질문에서 스키마까지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무엇을 넣을 수 있는지를 정의하므로 그 정의에 어긋나는 것을 걸러 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답할 질문</a:t>
            </a:r>
          </a:p>
          <a:p>
            <a:pPr algn="l">
              <a:lnSpc>
                <a:spcPct val="110000"/>
              </a:lnSpc>
              <a:spcAft>
                <a:spcPts val="200"/>
              </a:spcAft>
            </a:pPr>
            <a:r>
              <a:rPr sz="1150" b="0">
                <a:solidFill>
                  <a:srgbClr val="556175"/>
                </a:solidFill>
                <a:latin typeface="맑은 고딕"/>
                <a:ea typeface="맑은 고딕"/>
                <a:cs typeface="맑은 고딕"/>
              </a:rPr>
              <a:t>2회차의 입력</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제공된 설비 자료를 재료로, 이 지식으로 무엇에 답하려는지를 먼저 정한다.</a:t>
            </a:r>
          </a:p>
          <a:p>
            <a:pPr algn="l">
              <a:lnSpc>
                <a:spcPct val="110000"/>
              </a:lnSpc>
              <a:spcAft>
                <a:spcPts val="300"/>
              </a:spcAft>
            </a:pPr>
            <a:r>
              <a:rPr sz="1400" b="0">
                <a:solidFill>
                  <a:srgbClr val="1F2A3A"/>
                </a:solidFill>
                <a:latin typeface="맑은 고딕"/>
                <a:ea typeface="맑은 고딕"/>
                <a:cs typeface="맑은 고딕"/>
              </a:rPr>
              <a:t>예: 「HYD-01의 오일 쿨러를 재는 센서와 그 한계값은 무엇인가」</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40187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속성, 관계, 제약을 한곳에 정의한 구조이다.</a:t>
            </a:r>
          </a:p>
          <a:p>
            <a:pPr algn="l">
              <a:lnSpc>
                <a:spcPct val="110000"/>
              </a:lnSpc>
              <a:spcAft>
                <a:spcPts val="300"/>
              </a:spcAft>
            </a:pPr>
            <a:r>
              <a:rPr sz="1400" b="0">
                <a:solidFill>
                  <a:srgbClr val="1F2A3A"/>
                </a:solidFill>
                <a:latin typeface="맑은 고딕"/>
                <a:ea typeface="맑은 고딕"/>
                <a:cs typeface="맑은 고딕"/>
              </a:rPr>
              <a:t>정의의 예: 센서에는 tag가 있어야 한다. 구성 요소는 센서로 계측된다(MONITORED_BY).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2회차의 결과물 ②: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둘째 결과물은 그 정의에 따라 식별자와 함께 그래프 DB에 넣은 실제 대상과 관계, 곧 인스턴스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engine" descr="engine_13294B_1.6.png"/>
          <p:cNvPicPr>
            <a:picLocks noChangeAspect="1"/>
          </p:cNvPicPr>
          <p:nvPr/>
        </p:nvPicPr>
        <p:blipFill>
          <a:blip r:embed="rId3"/>
          <a:stretch>
            <a:fillRect/>
          </a:stretch>
        </p:blipFill>
        <p:spPr>
          <a:xfrm>
            <a:off x="1208836" y="3365906"/>
            <a:ext cx="416966" cy="416966"/>
          </a:xfrm>
          <a:prstGeom prst="rect">
            <a:avLst/>
          </a:prstGeom>
        </p:spPr>
      </p:pic>
      <p:sp>
        <p:nvSpPr>
          <p:cNvPr id="8" name="TextBox 7"/>
          <p:cNvSpPr txBox="1"/>
          <p:nvPr/>
        </p:nvSpPr>
        <p:spPr>
          <a:xfrm>
            <a:off x="670255"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설비</a:t>
            </a:r>
          </a:p>
          <a:p>
            <a:pPr algn="ctr">
              <a:lnSpc>
                <a:spcPct val="110000"/>
              </a:lnSpc>
            </a:pPr>
            <a:r>
              <a:rPr sz="1100" b="0">
                <a:solidFill>
                  <a:srgbClr val="556175"/>
                </a:solidFill>
                <a:latin typeface="맑은 고딕"/>
                <a:ea typeface="맑은 고딕"/>
                <a:cs typeface="맑은 고딕"/>
              </a:rPr>
              <a:t>asset:hyd-01</a:t>
            </a:r>
          </a:p>
        </p:txBody>
      </p:sp>
      <p:sp>
        <p:nvSpPr>
          <p:cNvPr id="9" name="Oval 8"/>
          <p:cNvSpPr/>
          <p:nvPr/>
        </p:nvSpPr>
        <p:spPr>
          <a:xfrm>
            <a:off x="5227167" y="3122676"/>
            <a:ext cx="1737360" cy="1737360"/>
          </a:xfrm>
          <a:prstGeom prst="ellipse">
            <a:avLst/>
          </a:prstGeom>
          <a:solidFill>
            <a:srgbClr val="5CB8F2"/>
          </a:solidFill>
          <a:ln w="25400">
            <a:solidFill>
              <a:srgbClr val="13294B"/>
            </a:solidFill>
          </a:ln>
        </p:spPr>
        <p:txBody>
          <a:bodyPr rtlCol="0" anchor="ctr"/>
          <a:lstStyle/>
          <a:p>
            <a:pPr algn="ctr"/>
          </a:p>
        </p:txBody>
      </p:sp>
      <p:pic>
        <p:nvPicPr>
          <p:cNvPr id="10" name="아이콘:components" descr="components_13294B_1.6.png"/>
          <p:cNvPicPr>
            <a:picLocks noChangeAspect="1"/>
          </p:cNvPicPr>
          <p:nvPr/>
        </p:nvPicPr>
        <p:blipFill>
          <a:blip r:embed="rId4"/>
          <a:stretch>
            <a:fillRect/>
          </a:stretch>
        </p:blipFill>
        <p:spPr>
          <a:xfrm>
            <a:off x="5887364" y="3365906"/>
            <a:ext cx="416966" cy="416966"/>
          </a:xfrm>
          <a:prstGeom prst="rect">
            <a:avLst/>
          </a:prstGeom>
        </p:spPr>
      </p:pic>
      <p:sp>
        <p:nvSpPr>
          <p:cNvPr id="11" name="TextBox 10"/>
          <p:cNvSpPr txBox="1"/>
          <p:nvPr/>
        </p:nvSpPr>
        <p:spPr>
          <a:xfrm>
            <a:off x="5348782"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구성 요소</a:t>
            </a:r>
          </a:p>
          <a:p>
            <a:pPr algn="ctr">
              <a:lnSpc>
                <a:spcPct val="110000"/>
              </a:lnSpc>
            </a:pPr>
            <a:r>
              <a:rPr sz="1100" b="0">
                <a:solidFill>
                  <a:srgbClr val="556175"/>
                </a:solidFill>
                <a:latin typeface="맑은 고딕"/>
                <a:ea typeface="맑은 고딕"/>
                <a:cs typeface="맑은 고딕"/>
              </a:rPr>
              <a:t>comp:cooler</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gauge" descr="gauge_13294B_1.6.png"/>
          <p:cNvPicPr>
            <a:picLocks noChangeAspect="1"/>
          </p:cNvPicPr>
          <p:nvPr/>
        </p:nvPicPr>
        <p:blipFill>
          <a:blip r:embed="rId5"/>
          <a:stretch>
            <a:fillRect/>
          </a:stretch>
        </p:blipFill>
        <p:spPr>
          <a:xfrm>
            <a:off x="10565892" y="3365906"/>
            <a:ext cx="416966" cy="416966"/>
          </a:xfrm>
          <a:prstGeom prst="rect">
            <a:avLst/>
          </a:prstGeom>
        </p:spPr>
      </p:pic>
      <p:sp>
        <p:nvSpPr>
          <p:cNvPr id="14" name="TextBox 13"/>
          <p:cNvSpPr txBox="1"/>
          <p:nvPr/>
        </p:nvSpPr>
        <p:spPr>
          <a:xfrm>
            <a:off x="10027310"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센서</a:t>
            </a:r>
          </a:p>
          <a:p>
            <a:pPr algn="ctr">
              <a:lnSpc>
                <a:spcPct val="110000"/>
              </a:lnSpc>
            </a:pPr>
            <a:r>
              <a:rPr sz="1100" b="0">
                <a:solidFill>
                  <a:srgbClr val="556175"/>
                </a:solidFill>
                <a:latin typeface="맑은 고딕"/>
                <a:ea typeface="맑은 고딕"/>
                <a:cs typeface="맑은 고딕"/>
              </a:rPr>
              <a:t>sen:ts1</a:t>
            </a:r>
          </a:p>
        </p:txBody>
      </p:sp>
      <p:cxnSp>
        <p:nvCxnSpPr>
          <p:cNvPr id="15" name="Connector 14"/>
          <p:cNvCxnSpPr/>
          <p:nvPr/>
        </p:nvCxnSpPr>
        <p:spPr>
          <a:xfrm>
            <a:off x="2331720" y="3991356"/>
            <a:ext cx="2822295" cy="0"/>
          </a:xfrm>
          <a:prstGeom prst="line">
            <a:avLst/>
          </a:prstGeom>
          <a:ln w="28575">
            <a:solidFill>
              <a:srgbClr val="13294B"/>
            </a:solidFill>
            <a:tailEnd type="triangle" w="med" len="med"/>
          </a:ln>
        </p:spPr>
      </p:cxnSp>
      <p:sp>
        <p:nvSpPr>
          <p:cNvPr id="16" name="Rounded Rectangle 15"/>
          <p:cNvSpPr/>
          <p:nvPr/>
        </p:nvSpPr>
        <p:spPr>
          <a:xfrm>
            <a:off x="2919798" y="3625596"/>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7" name="TextBox 16"/>
          <p:cNvSpPr txBox="1"/>
          <p:nvPr/>
        </p:nvSpPr>
        <p:spPr>
          <a:xfrm>
            <a:off x="2919798" y="3625596"/>
            <a:ext cx="16461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HAS_COMPONENT</a:t>
            </a:r>
          </a:p>
        </p:txBody>
      </p:sp>
      <p:cxnSp>
        <p:nvCxnSpPr>
          <p:cNvPr id="18" name="Connector 17"/>
          <p:cNvCxnSpPr/>
          <p:nvPr/>
        </p:nvCxnSpPr>
        <p:spPr>
          <a:xfrm>
            <a:off x="7010247" y="3991356"/>
            <a:ext cx="2822296" cy="0"/>
          </a:xfrm>
          <a:prstGeom prst="line">
            <a:avLst/>
          </a:prstGeom>
          <a:ln w="28575">
            <a:solidFill>
              <a:srgbClr val="13294B"/>
            </a:solidFill>
            <a:tailEnd type="triangle" w="med" len="med"/>
          </a:ln>
        </p:spPr>
      </p:cxnSp>
      <p:sp>
        <p:nvSpPr>
          <p:cNvPr id="19" name="Rounded Rectangle 18"/>
          <p:cNvSpPr/>
          <p:nvPr/>
        </p:nvSpPr>
        <p:spPr>
          <a:xfrm>
            <a:off x="765175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765175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 · 3회차의 결과물: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단계는 조치 방법의 작업 단계로, 전제 조건은 판단 규칙으로 옮겨지고 금지 사항은 조치의 하한으로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어떻게</a:t>
            </a:r>
          </a:p>
          <a:p>
            <a:pPr algn="l">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부하를 60 % 미만으로 설정하지 않는다.」</a:t>
            </a:r>
          </a:p>
          <a:p>
            <a:pPr algn="l">
              <a:lnSpc>
                <a:spcPct val="110000"/>
              </a:lnSpc>
            </a:pPr>
            <a:r>
              <a:rPr sz="1400" b="0">
                <a:solidFill>
                  <a:srgbClr val="1F2A3A"/>
                </a:solidFill>
                <a:latin typeface="맑은 고딕"/>
                <a:ea typeface="맑은 고딕"/>
                <a:cs typeface="맑은 고딕"/>
              </a:rPr>
              <a:t>→ 조치의 한계: 펌프 부하의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하면</a:t>
            </a:r>
          </a:p>
          <a:p>
            <a:pPr algn="l">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a:p>
            <a:pPr algn="l">
              <a:lnSpc>
                <a:spcPct val="110000"/>
              </a:lnSpc>
            </a:pPr>
            <a:r>
              <a:rPr sz="140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언제 할 수</a:t>
            </a:r>
          </a:p>
          <a:p>
            <a:pPr algn="l">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결과물: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3회차의 또 다른 결과물은 규칙을 통과한 후보끼리 어느 쪽이 나은지를 견주는 기준인 성과 지표이다.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인터록 여유</a:t>
            </a:r>
          </a:p>
          <a:p>
            <a:pPr algn="l">
              <a:lnSpc>
                <a:spcPct val="110000"/>
              </a:lnSpc>
              <a:spcAft>
                <a:spcPts val="400"/>
              </a:spcAft>
            </a:pPr>
            <a:r>
              <a:rPr sz="1400" b="0">
                <a:solidFill>
                  <a:srgbClr val="1F2A3A"/>
                </a:solidFill>
                <a:latin typeface="맑은 고딕"/>
                <a:ea typeface="맑은 고딕"/>
                <a:cs typeface="맑은 고딕"/>
              </a:rPr>
              <a:t>유온이 내려가면 늘어난다</a:t>
            </a:r>
          </a:p>
        </p:txBody>
      </p:sp>
      <p:sp>
        <p:nvSpPr>
          <p:cNvPr id="10" name="Rounded Rectangle 9"/>
          <p:cNvSpPr/>
          <p:nvPr/>
        </p:nvSpPr>
        <p:spPr>
          <a:xfrm>
            <a:off x="777240" y="482447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bolt" descr="bolt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전력 사용량</a:t>
            </a:r>
          </a:p>
          <a:p>
            <a:pPr algn="l">
              <a:lnSpc>
                <a:spcPct val="110000"/>
              </a:lnSpc>
              <a:spcAft>
                <a:spcPts val="400"/>
              </a:spcAft>
            </a:pPr>
            <a:r>
              <a:rPr sz="1400" b="0">
                <a:solidFill>
                  <a:srgbClr val="1F2A3A"/>
                </a:solidFill>
                <a:latin typeface="맑은 고딕"/>
                <a:ea typeface="맑은 고딕"/>
                <a:cs typeface="맑은 고딕"/>
              </a:rPr>
              <a:t>팬 속도를 올리면 늘어난다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비용</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calendar-time" descr="calendar-time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납기 준수율</a:t>
            </a:r>
          </a:p>
          <a:p>
            <a:pPr algn="l">
              <a:lnSpc>
                <a:spcPct val="110000"/>
              </a:lnSpc>
              <a:spcAft>
                <a:spcPts val="400"/>
              </a:spcAft>
            </a:pPr>
            <a:r>
              <a:rPr sz="1400" b="0">
                <a:solidFill>
                  <a:srgbClr val="1F2A3A"/>
                </a:solidFill>
                <a:latin typeface="맑은 고딕"/>
                <a:ea typeface="맑은 고딕"/>
                <a:cs typeface="맑은 고딕"/>
              </a:rPr>
              <a:t>펌프 부하를 내리면 낮아진다</a:t>
            </a:r>
          </a:p>
        </p:txBody>
      </p:sp>
      <p:sp>
        <p:nvSpPr>
          <p:cNvPr id="22" name="Rounded Rectangle 21"/>
          <p:cNvSpPr/>
          <p:nvPr/>
        </p:nvSpPr>
        <p:spPr>
          <a:xfrm>
            <a:off x="8356396" y="482447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고객</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4회차의 입력과 결과물: 매뉴얼 원문에서 출처를 가진 지식으로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4회차는 매뉴얼 원문에서, 판단의 근거로 내놓을 수 있게 내용에 출처와 확인이 함께 붙은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매뉴얼 원문</a:t>
            </a:r>
          </a:p>
          <a:p>
            <a:pPr algn="ctr">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지식 후보</a:t>
            </a:r>
          </a:p>
          <a:p>
            <a:pPr algn="ctr">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검토된 지식</a:t>
            </a:r>
          </a:p>
          <a:p>
            <a:pPr algn="ctr">
              <a:lnSpc>
                <a:spcPct val="110000"/>
              </a:lnSpc>
              <a:spcAft>
                <a:spcPts val="400"/>
              </a:spcAft>
            </a:pPr>
            <a:r>
              <a:rPr sz="1300" b="0">
                <a:solidFill>
                  <a:srgbClr val="1F2A3A"/>
                </a:solidFill>
                <a:latin typeface="맑은 고딕"/>
                <a:ea typeface="맑은 고딕"/>
                <a:cs typeface="맑은 고딕"/>
              </a:rPr>
              <a:t>사람의 승인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출처를 가진 지식</a:t>
            </a:r>
          </a:p>
          <a:p>
            <a:pPr algn="ctr">
              <a:lnSpc>
                <a:spcPct val="110000"/>
              </a:lnSpc>
              <a:spcAft>
                <a:spcPts val="400"/>
              </a:spcAft>
            </a:pPr>
            <a:r>
              <a:rPr sz="1300" b="0">
                <a:solidFill>
                  <a:srgbClr val="1F2A3A"/>
                </a:solidFill>
                <a:latin typeface="맑은 고딕"/>
                <a:ea typeface="맑은 고딕"/>
                <a:cs typeface="맑은 고딕"/>
              </a:rPr>
              <a:t>내용: 원인, 증거, 조치 방법, 규칙</a:t>
            </a:r>
          </a:p>
          <a:p>
            <a:pPr algn="ctr">
              <a:lnSpc>
                <a:spcPct val="110000"/>
              </a:lnSpc>
              <a:spcAft>
                <a:spcPts val="400"/>
              </a:spcAft>
            </a:pPr>
            <a:r>
              <a:rPr sz="1300" b="0">
                <a:solidFill>
                  <a:srgbClr val="1F2A3A"/>
                </a:solidFill>
                <a:latin typeface="맑은 고딕"/>
                <a:ea typeface="맑은 고딕"/>
                <a:cs typeface="맑은 고딕"/>
              </a:rPr>
              <a:t>출처: 문서 식별자, 판본, 인용</a:t>
            </a:r>
          </a:p>
          <a:p>
            <a:pPr algn="ctr">
              <a:lnSpc>
                <a:spcPct val="110000"/>
              </a:lnSpc>
              <a:spcAft>
                <a:spcPts val="400"/>
              </a:spcAft>
            </a:pPr>
            <a:r>
              <a:rPr sz="1300" b="0">
                <a:solidFill>
                  <a:srgbClr val="1F2A3A"/>
                </a:solidFill>
                <a:latin typeface="맑은 고딕"/>
                <a:ea typeface="맑은 고딕"/>
                <a:cs typeface="맑은 고딕"/>
              </a:rPr>
              <a:t>확인: 검토자, 검토한 시각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다섯 걸음과 네 회차의 결과물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판단을 순서대로 놓으면 걸음마다 서로 다른 회차의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경보와 고장 유형</a:t>
            </a:r>
          </a:p>
          <a:p>
            <a:pPr algn="ctr">
              <a:lnSpc>
                <a:spcPct val="110000"/>
              </a:lnSpc>
              <a:spcAft>
                <a:spcPts val="400"/>
              </a:spcAft>
            </a:pPr>
            <a:r>
              <a:rPr sz="1250" b="0">
                <a:solidFill>
                  <a:srgbClr val="1F2A3A"/>
                </a:solidFill>
                <a:latin typeface="맑은 고딕"/>
                <a:ea typeface="맑은 고딕"/>
                <a:cs typeface="맑은 고딕"/>
              </a:rPr>
              <a:t>2회차</a:t>
            </a:r>
          </a:p>
          <a:p>
            <a:pPr algn="ctr">
              <a:lnSpc>
                <a:spcPct val="110000"/>
              </a:lnSpc>
              <a:spcAft>
                <a:spcPts val="400"/>
              </a:spcAft>
            </a:pPr>
            <a:r>
              <a:rPr sz="1250" b="0">
                <a:solidFill>
                  <a:srgbClr val="1F2A3A"/>
                </a:solidFill>
                <a:latin typeface="맑은 고딕"/>
                <a:ea typeface="맑은 고딕"/>
                <a:cs typeface="맑은 고딕"/>
              </a:rPr>
              <a:t>스키마가</a:t>
            </a:r>
          </a:p>
          <a:p>
            <a:pPr algn="ctr">
              <a:lnSpc>
                <a:spcPct val="110000"/>
              </a:lnSpc>
              <a:spcAft>
                <a:spcPts val="400"/>
              </a:spcAft>
            </a:pPr>
            <a:r>
              <a:rPr sz="1250" b="0">
                <a:solidFill>
                  <a:srgbClr val="1F2A3A"/>
                </a:solidFill>
                <a:latin typeface="맑은 고딕"/>
                <a:ea typeface="맑은 고딕"/>
                <a:cs typeface="맑은 고딕"/>
              </a:rPr>
              <a:t>정한 길</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4회차</a:t>
            </a:r>
          </a:p>
          <a:p>
            <a:pPr algn="ctr">
              <a:lnSpc>
                <a:spcPct val="110000"/>
              </a:lnSpc>
              <a:spcAft>
                <a:spcPts val="400"/>
              </a:spcAft>
            </a:pPr>
            <a:r>
              <a:rPr sz="1250" b="0">
                <a:solidFill>
                  <a:srgbClr val="1F2A3A"/>
                </a:solidFill>
                <a:latin typeface="맑은 고딕"/>
                <a:ea typeface="맑은 고딕"/>
                <a:cs typeface="맑은 고딕"/>
              </a:rPr>
              <a:t>매뉴얼에서</a:t>
            </a:r>
          </a:p>
          <a:p>
            <a:pPr algn="ctr">
              <a:lnSpc>
                <a:spcPct val="110000"/>
              </a:lnSpc>
              <a:spcAft>
                <a:spcPts val="400"/>
              </a:spcAft>
            </a:pPr>
            <a:r>
              <a:rPr sz="1250" b="0">
                <a:solidFill>
                  <a:srgbClr val="1F2A3A"/>
                </a:solidFill>
                <a:latin typeface="맑은 고딕"/>
                <a:ea typeface="맑은 고딕"/>
                <a:cs typeface="맑은 고딕"/>
              </a:rPr>
              <a:t>온 지식</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값의 대조</a:t>
            </a:r>
          </a:p>
          <a:p>
            <a:pPr algn="ctr">
              <a:lnSpc>
                <a:spcPct val="110000"/>
              </a:lnSpc>
              <a:spcAft>
                <a:spcPts val="400"/>
              </a:spcAft>
            </a:pPr>
            <a:r>
              <a:rPr sz="1250" b="0">
                <a:solidFill>
                  <a:srgbClr val="1F2A3A"/>
                </a:solidFill>
                <a:latin typeface="맑은 고딕"/>
                <a:ea typeface="맑은 고딕"/>
                <a:cs typeface="맑은 고딕"/>
              </a:rPr>
              <a:t>4회차</a:t>
            </a:r>
          </a:p>
          <a:p>
            <a:pPr algn="ctr">
              <a:lnSpc>
                <a:spcPct val="110000"/>
              </a:lnSpc>
              <a:spcAft>
                <a:spcPts val="400"/>
              </a:spcAft>
            </a:pPr>
            <a:r>
              <a:rPr sz="1250" b="0">
                <a:solidFill>
                  <a:srgbClr val="1F2A3A"/>
                </a:solidFill>
                <a:latin typeface="맑은 고딕"/>
                <a:ea typeface="맑은 고딕"/>
                <a:cs typeface="맑은 고딕"/>
              </a:rPr>
              <a:t>원천에서</a:t>
            </a:r>
          </a:p>
          <a:p>
            <a:pPr algn="ctr">
              <a:lnSpc>
                <a:spcPct val="110000"/>
              </a:lnSpc>
              <a:spcAft>
                <a:spcPts val="400"/>
              </a:spcAft>
            </a:pPr>
            <a:r>
              <a:rPr sz="12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조치의 판단</a:t>
            </a:r>
          </a:p>
          <a:p>
            <a:pPr algn="ctr">
              <a:lnSpc>
                <a:spcPct val="110000"/>
              </a:lnSpc>
              <a:spcAft>
                <a:spcPts val="400"/>
              </a:spcAft>
            </a:pPr>
            <a:r>
              <a:rPr sz="1250" b="0">
                <a:solidFill>
                  <a:srgbClr val="1F2A3A"/>
                </a:solidFill>
                <a:latin typeface="맑은 고딕"/>
                <a:ea typeface="맑은 고딕"/>
                <a:cs typeface="맑은 고딕"/>
              </a:rPr>
              <a:t>3회차</a:t>
            </a:r>
          </a:p>
          <a:p>
            <a:pPr algn="ctr">
              <a:lnSpc>
                <a:spcPct val="110000"/>
              </a:lnSpc>
              <a:spcAft>
                <a:spcPts val="400"/>
              </a:spcAft>
            </a:pPr>
            <a:r>
              <a:rPr sz="1250" b="0">
                <a:solidFill>
                  <a:srgbClr val="1F2A3A"/>
                </a:solidFill>
                <a:latin typeface="맑은 고딕"/>
                <a:ea typeface="맑은 고딕"/>
                <a:cs typeface="맑은 고딕"/>
              </a:rPr>
              <a:t>판단 규칙과</a:t>
            </a:r>
          </a:p>
          <a:p>
            <a:pPr algn="ctr">
              <a:lnSpc>
                <a:spcPct val="110000"/>
              </a:lnSpc>
              <a:spcAft>
                <a:spcPts val="400"/>
              </a:spcAft>
            </a:pPr>
            <a:r>
              <a:rPr sz="12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근거의 제시</a:t>
            </a:r>
          </a:p>
          <a:p>
            <a:pPr algn="ctr">
              <a:lnSpc>
                <a:spcPct val="110000"/>
              </a:lnSpc>
              <a:spcAft>
                <a:spcPts val="400"/>
              </a:spcAft>
            </a:pPr>
            <a:r>
              <a:rPr sz="1250" b="0">
                <a:solidFill>
                  <a:srgbClr val="1F2A3A"/>
                </a:solidFill>
                <a:latin typeface="맑은 고딕"/>
                <a:ea typeface="맑은 고딕"/>
                <a:cs typeface="맑은 고딕"/>
              </a:rPr>
              <a:t>4회차</a:t>
            </a:r>
          </a:p>
          <a:p>
            <a:pPr algn="ctr">
              <a:lnSpc>
                <a:spcPct val="110000"/>
              </a:lnSpc>
              <a:spcAft>
                <a:spcPts val="400"/>
              </a:spcAft>
            </a:pPr>
            <a:r>
              <a:rPr sz="1250" b="0">
                <a:solidFill>
                  <a:srgbClr val="1F2A3A"/>
                </a:solidFill>
                <a:latin typeface="맑은 고딕"/>
                <a:ea typeface="맑은 고딕"/>
                <a:cs typeface="맑은 고딕"/>
              </a:rPr>
              <a:t>문서의 절과</a:t>
            </a:r>
          </a:p>
          <a:p>
            <a:pPr algn="ctr">
              <a:lnSpc>
                <a:spcPct val="110000"/>
              </a:lnSpc>
              <a:spcAft>
                <a:spcPts val="400"/>
              </a:spcAft>
            </a:pPr>
            <a:r>
              <a:rPr sz="1250" b="0">
                <a:solidFill>
                  <a:srgbClr val="1F2A3A"/>
                </a:solidFill>
                <a:latin typeface="맑은 고딕"/>
                <a:ea typeface="맑은 고딕"/>
                <a:cs typeface="맑은 고딕"/>
              </a:rPr>
              <a:t>인용</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2회차와 4회차의 결과물이 쓰인 자리: 경보에서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pic>
        <p:nvPicPr>
          <p:cNvPr id="6" name="삽화:경로_3.svg" descr="illust_2525965748032971155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2회차의 결과물</a:t>
            </a:r>
          </a:p>
          <a:p>
            <a:pPr algn="ctr">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4회차의 결과물</a:t>
            </a:r>
          </a:p>
          <a:p>
            <a:pPr algn="ctr">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4회차의 결과물이 쓰인 자리 ①: 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지식에 있고 값은 원천에 있어, 판단하는 순간 읽은 값을 기준에 대어야 원인이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증거 기준(지식)과 읽은 값(원천)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냉각 효율 평균 70 % 미만이고 팬 진동 평균 0.9 mm/s 미만</a:t>
            </a:r>
          </a:p>
          <a:p>
            <a:pPr algn="l">
              <a:lnSpc>
                <a:spcPct val="110000"/>
              </a:lnSpc>
            </a:pPr>
            <a:r>
              <a:rPr sz="1400" b="0">
                <a:solidFill>
                  <a:srgbClr val="1F2A3A"/>
                </a:solidFill>
                <a:latin typeface="맑은 고딕"/>
                <a:ea typeface="맑은 고딕"/>
                <a:cs typeface="맑은 고딕"/>
              </a:rPr>
              <a:t>읽은 값: 냉각 효율 46.2 %, 팬 진동 0.575 mm/s</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맞음</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팬 진동 평균 0.9 mm/s 이상</a:t>
            </a:r>
          </a:p>
          <a:p>
            <a:pPr algn="l">
              <a:lnSpc>
                <a:spcPct val="110000"/>
              </a:lnSpc>
            </a:pPr>
            <a:r>
              <a:rPr sz="1400" b="0">
                <a:solidFill>
                  <a:srgbClr val="1F2A3A"/>
                </a:solidFill>
                <a:latin typeface="맑은 고딕"/>
                <a:ea typeface="맑은 고딕"/>
                <a:cs typeface="맑은 고딕"/>
              </a:rPr>
              <a:t>읽은 값: 팬 진동 0.575 mm/s</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아님</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캐비닛 온도 평균 35 ℃ 이상</a:t>
            </a:r>
          </a:p>
          <a:p>
            <a:pPr algn="l">
              <a:lnSpc>
                <a:spcPct val="110000"/>
              </a:lnSpc>
            </a:pPr>
            <a:r>
              <a:rPr sz="1400" b="0">
                <a:solidFill>
                  <a:srgbClr val="1F2A3A"/>
                </a:solidFill>
                <a:latin typeface="맑은 고딕"/>
                <a:ea typeface="맑은 고딕"/>
                <a:cs typeface="맑은 고딕"/>
              </a:rPr>
              <a:t>읽은 값: 캐비닛 온도 28 ℃</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아님</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3회차의 결과물이 쓰인 자리: 조치의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사건에서 네 후보의 순위를 정해 한 가지를 추천으로 올린 것이 3회차의 규칙과 성과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방법과 조치 후 예측 유온</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 49.8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2순위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 · 47.7 ℃</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통과</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3순위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 · 44.6 ℃</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통과</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 · 62.5 ℃</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경고</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4회차의 결과물이 쓰인 자리 ②: 근거의 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a:lnSpc>
                <a:spcPct val="110000"/>
              </a:lnSpc>
              <a:spcAft>
                <a:spcPts val="200"/>
              </a:spcAft>
            </a:pPr>
            <a:r>
              <a:rPr sz="1300" b="0">
                <a:solidFill>
                  <a:srgbClr val="E8EEF6"/>
                </a:solidFill>
                <a:latin typeface="맑은 고딕"/>
                <a:ea typeface="맑은 고딕"/>
                <a:cs typeface="맑은 고딕"/>
              </a:rPr>
              <a:t>출처</a:t>
            </a:r>
          </a:p>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추천안에 이른 길</a:t>
            </a:r>
          </a:p>
          <a:p>
            <a:pPr algn="l">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후보로 고른 규칙</a:t>
            </a:r>
          </a:p>
          <a:p>
            <a:pPr algn="l">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층: 스키마, 인스턴스 데이터,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회차의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지식의 구조</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원인은 고장 유형을 CAUSES로 가리킨다.</a:t>
            </a:r>
          </a:p>
          <a:p>
            <a:pPr algn="l">
              <a:lnSpc>
                <a:spcPct val="110000"/>
              </a:lnSpc>
              <a:spcAft>
                <a:spcPts val="300"/>
              </a:spcAft>
            </a:pPr>
            <a:r>
              <a:rPr sz="1400" b="0">
                <a:solidFill>
                  <a:srgbClr val="1F2A3A"/>
                </a:solidFill>
                <a:latin typeface="맑은 고딕"/>
                <a:ea typeface="맑은 고딕"/>
                <a:cs typeface="맑은 고딕"/>
              </a:rPr>
              <a:t>설계를 고칠 때만 바뀐다.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인스턴스 데이터</a:t>
            </a:r>
          </a:p>
          <a:p>
            <a:pPr algn="l">
              <a:lnSpc>
                <a:spcPct val="110000"/>
              </a:lnSpc>
              <a:spcAft>
                <a:spcPts val="200"/>
              </a:spcAft>
            </a:pPr>
            <a:r>
              <a:rPr sz="1150" b="0">
                <a:solidFill>
                  <a:srgbClr val="556175"/>
                </a:solidFill>
                <a:latin typeface="맑은 고딕"/>
                <a:ea typeface="맑은 고딕"/>
                <a:cs typeface="맑은 고딕"/>
              </a:rPr>
              <a:t>지식</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쿨러 핀 오염이 쿨러 냉각 성능 상실을 일으킨다.</a:t>
            </a:r>
          </a:p>
          <a:p>
            <a:pPr algn="l">
              <a:lnSpc>
                <a:spcPct val="110000"/>
              </a:lnSpc>
              <a:spcAft>
                <a:spcPts val="300"/>
              </a:spcAft>
            </a:pPr>
            <a:r>
              <a:rPr sz="1400" b="0">
                <a:solidFill>
                  <a:srgbClr val="1F2A3A"/>
                </a:solidFill>
                <a:latin typeface="맑은 고딕"/>
                <a:ea typeface="맑은 고딕"/>
                <a:cs typeface="맑은 고딕"/>
              </a:rPr>
              <a:t>근거 문서가 개정될 때 바뀐다.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값</a:t>
            </a:r>
          </a:p>
          <a:p>
            <a:pPr algn="l">
              <a:lnSpc>
                <a:spcPct val="110000"/>
              </a:lnSpc>
              <a:spcAft>
                <a:spcPts val="200"/>
              </a:spcAft>
            </a:pPr>
            <a:r>
              <a:rPr sz="1150" b="0">
                <a:solidFill>
                  <a:srgbClr val="556175"/>
                </a:solidFill>
                <a:latin typeface="맑은 고딕"/>
                <a:ea typeface="맑은 고딕"/>
                <a:cs typeface="맑은 고딕"/>
              </a:rPr>
              <a:t>실제 데이터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경보가 난 순간의 냉각 효율 46.2 %</a:t>
            </a:r>
          </a:p>
          <a:p>
            <a:pPr algn="l">
              <a:lnSpc>
                <a:spcPct val="110000"/>
              </a:lnSpc>
              <a:spcAft>
                <a:spcPts val="300"/>
              </a:spcAft>
            </a:pPr>
            <a:r>
              <a:rPr sz="1400" b="0">
                <a:solidFill>
                  <a:srgbClr val="1F2A3A"/>
                </a:solidFill>
                <a:latin typeface="맑은 고딕"/>
                <a:ea typeface="맑은 고딕"/>
                <a:cs typeface="맑은 고딕"/>
              </a:rPr>
              <a:t>매초, 또는 업무가 일어날 때마다 바뀐다.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문제가 생겼을 때 살펴볼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판단이 이상할 때 드러난 모습에 따라 살펴볼 층이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모습</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층</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고칠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따라갈 관계가 없어 답이 나오지 않는다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스키마</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판정 기준이 매뉴얼과 다르다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그 출처</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판단에 쓰인 숫자가 실제와 다르다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값과, 그 값을 읽은 곳의 기록</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원천</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규칙만 있으면 기준의 이유를 설명할 수 없고 문장만 있으면 판정에 쓸 수 없으므로 둘을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HM-8.8</a:t>
            </a:r>
          </a:p>
          <a:p>
            <a:pPr algn="l">
              <a:lnSpc>
                <a:spcPct val="110000"/>
              </a:lnSpc>
              <a:spcAft>
                <a:spcPts val="600"/>
              </a:spcAft>
            </a:pPr>
            <a:r>
              <a:rPr sz="1450" b="0">
                <a:solidFill>
                  <a:srgbClr val="1F2A3A"/>
                </a:solidFill>
                <a:latin typeface="맑은 고딕"/>
                <a:ea typeface="맑은 고딕"/>
                <a:cs typeface="맑은 고딕"/>
              </a:rPr>
              <a:t>• 「이미 24시간을 넘겼다면 팬 최대 운전 조치는 20만 원을 감점해서 비교한다.」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fan100_hours &gt; 24</a:t>
            </a:r>
          </a:p>
          <a:p>
            <a:pPr algn="l">
              <a:lnSpc>
                <a:spcPct val="110000"/>
              </a:lnSpc>
              <a:spcAft>
                <a:spcPts val="600"/>
              </a:spcAft>
            </a:pPr>
            <a:r>
              <a:rPr sz="1450" b="0">
                <a:solidFill>
                  <a:srgbClr val="1F2A3A"/>
                </a:solidFill>
                <a:latin typeface="맑은 고딕"/>
                <a:ea typeface="맑은 고딕"/>
                <a:cs typeface="맑은 고딕"/>
              </a:rPr>
              <a:t>• 판정: 감점 20만 원</a:t>
            </a:r>
          </a:p>
          <a:p>
            <a:pPr algn="l">
              <a:lnSpc>
                <a:spcPct val="110000"/>
              </a:lnSpc>
              <a:spcAft>
                <a:spcPts val="600"/>
              </a:spcAft>
            </a:pPr>
            <a:r>
              <a:rPr sz="1450" b="0">
                <a:solidFill>
                  <a:srgbClr val="1F2A3A"/>
                </a:solidFill>
                <a:latin typeface="맑은 고딕"/>
                <a:ea typeface="맑은 고딕"/>
                <a:cs typeface="맑은 고딕"/>
              </a:rPr>
              <a:t>• 대상: 팬 최대 운전</a:t>
            </a:r>
          </a:p>
        </p:txBody>
      </p:sp>
      <p:sp>
        <p:nvSpPr>
          <p:cNvPr id="18" name="Rounded Rectangle 17"/>
          <p:cNvSpPr/>
          <p:nvPr/>
        </p:nvSpPr>
        <p:spPr>
          <a:xfrm>
            <a:off x="6781647" y="4945570"/>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규칙에서 문서까지 이어진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규칙은 자신이 나온 절을 DERIVED_FROM 관계로 가리키므로, 규칙이 걸리면 근거가 된 문장을 바로 내보일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Oval 5"/>
          <p:cNvSpPr/>
          <p:nvPr/>
        </p:nvSpPr>
        <p:spPr>
          <a:xfrm>
            <a:off x="548639"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7" name="아이콘:list-check" descr="list-check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감점 규칙</a:t>
            </a:r>
          </a:p>
          <a:p>
            <a:pPr algn="ctr">
              <a:lnSpc>
                <a:spcPct val="110000"/>
              </a:lnSpc>
            </a:pPr>
            <a:r>
              <a:rPr sz="1100" b="0">
                <a:solidFill>
                  <a:srgbClr val="556175"/>
                </a:solidFill>
                <a:latin typeface="맑은 고딕"/>
                <a:ea typeface="맑은 고딕"/>
                <a:cs typeface="맑은 고딕"/>
              </a:rPr>
              <a:t>연속 운전</a:t>
            </a:r>
          </a:p>
          <a:p>
            <a:pPr algn="ctr">
              <a:lnSpc>
                <a:spcPct val="110000"/>
              </a:lnSpc>
            </a:pPr>
            <a:r>
              <a:rPr sz="1100" b="0">
                <a:solidFill>
                  <a:srgbClr val="556175"/>
                </a:solidFill>
                <a:latin typeface="맑은 고딕"/>
                <a:ea typeface="맑은 고딕"/>
                <a:cs typeface="맑은 고딕"/>
              </a:rPr>
              <a:t>24시간 초과</a:t>
            </a:r>
          </a:p>
        </p:txBody>
      </p:sp>
      <p:sp>
        <p:nvSpPr>
          <p:cNvPr id="9" name="Oval 8"/>
          <p:cNvSpPr/>
          <p:nvPr/>
        </p:nvSpPr>
        <p:spPr>
          <a:xfrm>
            <a:off x="5227167"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file-description" descr="file-description_13294B_1.6.png"/>
          <p:cNvPicPr>
            <a:picLocks noChangeAspect="1"/>
          </p:cNvPicPr>
          <p:nvPr/>
        </p:nvPicPr>
        <p:blipFill>
          <a:blip r:embed="rId4"/>
          <a:stretch>
            <a:fillRect/>
          </a:stretch>
        </p:blipFill>
        <p:spPr>
          <a:xfrm>
            <a:off x="5887364" y="1870862"/>
            <a:ext cx="416966" cy="416966"/>
          </a:xfrm>
          <a:prstGeom prst="rect">
            <a:avLst/>
          </a:prstGeom>
        </p:spPr>
      </p:pic>
      <p:sp>
        <p:nvSpPr>
          <p:cNvPr id="11" name="TextBox 10"/>
          <p:cNvSpPr txBox="1"/>
          <p:nvPr/>
        </p:nvSpPr>
        <p:spPr>
          <a:xfrm>
            <a:off x="53487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HM-8.8</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금지와 제한</a:t>
            </a:r>
          </a:p>
        </p:txBody>
      </p:sp>
      <p:sp>
        <p:nvSpPr>
          <p:cNvPr id="12" name="Oval 11"/>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book-2" descr="book-2_13294B_1.6.png"/>
          <p:cNvPicPr>
            <a:picLocks noChangeAspect="1"/>
          </p:cNvPicPr>
          <p:nvPr/>
        </p:nvPicPr>
        <p:blipFill>
          <a:blip r:embed="rId5"/>
          <a:stretch>
            <a:fillRect/>
          </a:stretch>
        </p:blipFill>
        <p:spPr>
          <a:xfrm>
            <a:off x="10565892" y="1870862"/>
            <a:ext cx="416966" cy="416966"/>
          </a:xfrm>
          <a:prstGeom prst="rect">
            <a:avLst/>
          </a:prstGeom>
        </p:spPr>
      </p:pic>
      <p:sp>
        <p:nvSpPr>
          <p:cNvPr id="14" name="TextBox 13"/>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p:txBody>
      </p:sp>
      <p:sp>
        <p:nvSpPr>
          <p:cNvPr id="15" name="Oval 14"/>
          <p:cNvSpPr/>
          <p:nvPr/>
        </p:nvSpPr>
        <p:spPr>
          <a:xfrm>
            <a:off x="548639"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clock" descr="clock_13294B_1.6.png"/>
          <p:cNvPicPr>
            <a:picLocks noChangeAspect="1"/>
          </p:cNvPicPr>
          <p:nvPr/>
        </p:nvPicPr>
        <p:blipFill>
          <a:blip r:embed="rId6"/>
          <a:stretch>
            <a:fillRect/>
          </a:stretch>
        </p:blipFill>
        <p:spPr>
          <a:xfrm>
            <a:off x="1208836" y="4860950"/>
            <a:ext cx="416966" cy="416966"/>
          </a:xfrm>
          <a:prstGeom prst="rect">
            <a:avLst/>
          </a:prstGeom>
        </p:spPr>
      </p:pic>
      <p:sp>
        <p:nvSpPr>
          <p:cNvPr id="17" name="TextBox 16"/>
          <p:cNvSpPr txBox="1"/>
          <p:nvPr/>
        </p:nvSpPr>
        <p:spPr>
          <a:xfrm>
            <a:off x="670255"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연속 운전 시간</a:t>
            </a:r>
          </a:p>
          <a:p>
            <a:pPr algn="ctr">
              <a:lnSpc>
                <a:spcPct val="110000"/>
              </a:lnSpc>
            </a:pPr>
            <a:r>
              <a:rPr sz="1100" b="0">
                <a:solidFill>
                  <a:srgbClr val="556175"/>
                </a:solidFill>
                <a:latin typeface="맑은 고딕"/>
                <a:ea typeface="맑은 고딕"/>
                <a:cs typeface="맑은 고딕"/>
              </a:rPr>
              <a:t>입력 데이터</a:t>
            </a:r>
          </a:p>
        </p:txBody>
      </p:sp>
      <p:cxnSp>
        <p:nvCxnSpPr>
          <p:cNvPr id="18" name="Connector 17"/>
          <p:cNvCxnSpPr/>
          <p:nvPr/>
        </p:nvCxnSpPr>
        <p:spPr>
          <a:xfrm>
            <a:off x="2331720" y="2496312"/>
            <a:ext cx="2822295" cy="0"/>
          </a:xfrm>
          <a:prstGeom prst="line">
            <a:avLst/>
          </a:prstGeom>
          <a:ln w="28575">
            <a:solidFill>
              <a:srgbClr val="13294B"/>
            </a:solidFill>
            <a:tailEnd type="triangle" w="med" len="med"/>
          </a:ln>
        </p:spPr>
      </p:cxnSp>
      <p:sp>
        <p:nvSpPr>
          <p:cNvPr id="19" name="Rounded Rectangle 18"/>
          <p:cNvSpPr/>
          <p:nvPr/>
        </p:nvSpPr>
        <p:spPr>
          <a:xfrm>
            <a:off x="2973223" y="2130552"/>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973223" y="2130552"/>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cxnSp>
        <p:nvCxnSpPr>
          <p:cNvPr id="21" name="Connector 20"/>
          <p:cNvCxnSpPr/>
          <p:nvPr/>
        </p:nvCxnSpPr>
        <p:spPr>
          <a:xfrm>
            <a:off x="7010247" y="2496312"/>
            <a:ext cx="2822296" cy="0"/>
          </a:xfrm>
          <a:prstGeom prst="line">
            <a:avLst/>
          </a:prstGeom>
          <a:ln w="28575">
            <a:solidFill>
              <a:srgbClr val="13294B"/>
            </a:solidFill>
            <a:tailEnd type="triangle" w="med" len="med"/>
          </a:ln>
        </p:spPr>
      </p:cxnSp>
      <p:sp>
        <p:nvSpPr>
          <p:cNvPr id="22" name="Rounded Rectangle 21"/>
          <p:cNvSpPr/>
          <p:nvPr/>
        </p:nvSpPr>
        <p:spPr>
          <a:xfrm>
            <a:off x="791887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791887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24" name="Connector 23"/>
          <p:cNvCxnSpPr/>
          <p:nvPr/>
        </p:nvCxnSpPr>
        <p:spPr>
          <a:xfrm>
            <a:off x="1417319" y="3410712"/>
            <a:ext cx="0" cy="1133856"/>
          </a:xfrm>
          <a:prstGeom prst="line">
            <a:avLst/>
          </a:prstGeom>
          <a:ln w="28575">
            <a:solidFill>
              <a:srgbClr val="13294B"/>
            </a:solidFill>
            <a:tailEnd type="triangle" w="med" len="med"/>
          </a:ln>
        </p:spPr>
      </p:cxnSp>
      <p:sp>
        <p:nvSpPr>
          <p:cNvPr id="25" name="Rounded Rectangle 24"/>
          <p:cNvSpPr/>
          <p:nvPr/>
        </p:nvSpPr>
        <p:spPr>
          <a:xfrm>
            <a:off x="1508760" y="3831335"/>
            <a:ext cx="80857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508760" y="3831335"/>
            <a:ext cx="80857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TESTS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문서의 개정</a:t>
            </a:r>
          </a:p>
          <a:p>
            <a:pPr algn="ctr">
              <a:lnSpc>
                <a:spcPct val="110000"/>
              </a:lnSpc>
              <a:spcAft>
                <a:spcPts val="400"/>
              </a:spcAft>
            </a:pPr>
            <a:r>
              <a:rPr sz="1350" b="0">
                <a:solidFill>
                  <a:srgbClr val="1F2A3A"/>
                </a:solidFill>
                <a:latin typeface="맑은 고딕"/>
                <a:ea typeface="맑은 고딕"/>
                <a:cs typeface="맑은 고딕"/>
              </a:rPr>
              <a:t>절의 기준값이</a:t>
            </a:r>
          </a:p>
          <a:p>
            <a:pPr algn="ctr">
              <a:lnSpc>
                <a:spcPct val="110000"/>
              </a:lnSpc>
              <a:spcAft>
                <a:spcPts val="400"/>
              </a:spcAft>
            </a:pPr>
            <a:r>
              <a:rPr sz="13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a:t>
            </a:r>
          </a:p>
          <a:p>
            <a:pPr algn="ctr">
              <a:lnSpc>
                <a:spcPct val="110000"/>
              </a:lnSpc>
              <a:spcAft>
                <a:spcPts val="400"/>
              </a:spcAft>
            </a:pPr>
            <a:r>
              <a:rPr sz="1350" b="0">
                <a:solidFill>
                  <a:srgbClr val="1F2A3A"/>
                </a:solidFill>
                <a:latin typeface="맑은 고딕"/>
                <a:ea typeface="맑은 고딕"/>
                <a:cs typeface="맑은 고딕"/>
              </a:rPr>
              <a:t>같은 문서 식별자로</a:t>
            </a:r>
          </a:p>
          <a:p>
            <a:pPr algn="ctr">
              <a:lnSpc>
                <a:spcPct val="110000"/>
              </a:lnSpc>
              <a:spcAft>
                <a:spcPts val="400"/>
              </a:spcAft>
            </a:pPr>
            <a:r>
              <a:rPr sz="13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영향받는 규칙</a:t>
            </a:r>
          </a:p>
          <a:p>
            <a:pPr algn="ctr">
              <a:lnSpc>
                <a:spcPct val="110000"/>
              </a:lnSpc>
              <a:spcAft>
                <a:spcPts val="400"/>
              </a:spcAft>
            </a:pPr>
            <a:r>
              <a:rPr sz="1350" b="0">
                <a:solidFill>
                  <a:srgbClr val="1F2A3A"/>
                </a:solidFill>
                <a:latin typeface="맑은 고딕"/>
                <a:ea typeface="맑은 고딕"/>
                <a:cs typeface="맑은 고딕"/>
              </a:rPr>
              <a:t>그 절을 가리키는</a:t>
            </a:r>
          </a:p>
          <a:p>
            <a:pPr algn="ctr">
              <a:lnSpc>
                <a:spcPct val="110000"/>
              </a:lnSpc>
              <a:spcAft>
                <a:spcPts val="400"/>
              </a:spcAft>
            </a:pPr>
            <a:r>
              <a:rPr sz="13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검토와 적재</a:t>
            </a:r>
          </a:p>
          <a:p>
            <a:pPr algn="ctr">
              <a:lnSpc>
                <a:spcPct val="110000"/>
              </a:lnSpc>
              <a:spcAft>
                <a:spcPts val="400"/>
              </a:spcAft>
            </a:pPr>
            <a:r>
              <a:rPr sz="1350" b="0">
                <a:solidFill>
                  <a:srgbClr val="1F2A3A"/>
                </a:solidFill>
                <a:latin typeface="맑은 고딕"/>
                <a:ea typeface="맑은 고딕"/>
                <a:cs typeface="맑은 고딕"/>
              </a:rPr>
              <a:t>고친 내용을</a:t>
            </a:r>
          </a:p>
          <a:p>
            <a:pPr algn="ctr">
              <a:lnSpc>
                <a:spcPct val="110000"/>
              </a:lnSpc>
              <a:spcAft>
                <a:spcPts val="400"/>
              </a:spcAft>
            </a:pPr>
            <a:r>
              <a:rPr sz="1350" b="0">
                <a:solidFill>
                  <a:srgbClr val="1F2A3A"/>
                </a:solidFill>
                <a:latin typeface="맑은 고딕"/>
                <a:ea typeface="맑은 고딕"/>
                <a:cs typeface="맑은 고딕"/>
              </a:rPr>
              <a:t>검토해 넣고</a:t>
            </a:r>
          </a:p>
          <a:p>
            <a:pPr algn="ctr">
              <a:lnSpc>
                <a:spcPct val="110000"/>
              </a:lnSpc>
              <a:spcAft>
                <a:spcPts val="400"/>
              </a:spcAft>
            </a:pPr>
            <a:r>
              <a:rPr sz="1350" b="0">
                <a:solidFill>
                  <a:srgbClr val="1F2A3A"/>
                </a:solidFill>
                <a:latin typeface="맑은 고딕"/>
                <a:ea typeface="맑은 고딕"/>
                <a:cs typeface="맑은 고딕"/>
              </a:rPr>
              <a:t>기록을 남긴다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규칙이 에이전트에게 주는 것: 길과 근거, 기준,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원인이나 값을 지어내지 않고 등록된 관계를 조회하고 규칙의 판정을 받고 도구로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그래프</a:t>
            </a:r>
          </a:p>
          <a:p>
            <a:pPr algn="l">
              <a:lnSpc>
                <a:spcPct val="110000"/>
              </a:lnSpc>
              <a:spcAft>
                <a:spcPts val="400"/>
              </a:spcAft>
            </a:pPr>
            <a:r>
              <a:rPr sz="1400" b="0">
                <a:solidFill>
                  <a:srgbClr val="1F2A3A"/>
                </a:solidFill>
                <a:latin typeface="맑은 고딕"/>
                <a:ea typeface="맑은 고딕"/>
                <a:cs typeface="맑은 고딕"/>
              </a:rPr>
              <a:t>• 쿨러 성능 저하 경보에서 출발하면 등록된 원인 후보 셋에 이른다</a:t>
            </a:r>
          </a:p>
          <a:p>
            <a:pPr algn="l">
              <a:lnSpc>
                <a:spcPct val="110000"/>
              </a:lnSpc>
              <a:spcAft>
                <a:spcPts val="400"/>
              </a:spcAft>
            </a:pPr>
            <a:r>
              <a:rPr sz="1400" b="0">
                <a:solidFill>
                  <a:srgbClr val="1F2A3A"/>
                </a:solidFill>
                <a:latin typeface="맑은 고딕"/>
                <a:ea typeface="맑은 고딕"/>
                <a:cs typeface="맑은 고딕"/>
              </a:rPr>
              <a:t>• 팬 최대 운전을 추천하면서 매뉴얼 HM-8.5를 출처로 낸다</a:t>
            </a:r>
          </a:p>
        </p:txBody>
      </p:sp>
      <p:sp>
        <p:nvSpPr>
          <p:cNvPr id="10" name="Rounded Rectangle 9"/>
          <p:cNvSpPr/>
          <p:nvPr/>
        </p:nvSpPr>
        <p:spPr>
          <a:xfrm>
            <a:off x="777240" y="5258308"/>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 조건을 그때마다 해석하지 않고 값을 읽어 비교하므로 같은 조건에서 같은 판정이 나온다</a:t>
            </a:r>
          </a:p>
          <a:p>
            <a:pPr algn="l">
              <a:lnSpc>
                <a:spcPct val="110000"/>
              </a:lnSpc>
              <a:spcAft>
                <a:spcPts val="400"/>
              </a:spcAft>
            </a:pPr>
            <a:r>
              <a:rPr sz="14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25830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자리</a:t>
            </a:r>
          </a:p>
          <a:p>
            <a:pPr algn="l">
              <a:lnSpc>
                <a:spcPct val="110000"/>
              </a:lnSpc>
              <a:spcAft>
                <a:spcPts val="400"/>
              </a:spcAft>
            </a:pPr>
            <a:r>
              <a:rPr sz="1400" b="0">
                <a:solidFill>
                  <a:srgbClr val="1F2A3A"/>
                </a:solidFill>
                <a:latin typeface="맑은 고딕"/>
                <a:ea typeface="맑은 고딕"/>
                <a:cs typeface="맑은 고딕"/>
              </a:rPr>
              <a:t>• 지식에 적힌 자리를 보고 도구로 원천에서 값을 읽고, 어디서 언제 읽었는지가 남는다</a:t>
            </a:r>
          </a:p>
          <a:p>
            <a:pPr algn="l">
              <a:lnSpc>
                <a:spcPct val="110000"/>
              </a:lnSpc>
              <a:spcAft>
                <a:spcPts val="400"/>
              </a:spcAft>
            </a:pPr>
            <a:r>
              <a:rPr sz="1400" b="0">
                <a:solidFill>
                  <a:srgbClr val="1F2A3A"/>
                </a:solidFill>
                <a:latin typeface="맑은 고딕"/>
                <a:ea typeface="맑은 고딕"/>
                <a:cs typeface="맑은 고딕"/>
              </a:rPr>
              <a:t>• 예: 시계열 DB에서 읽은 냉각 효율 46.2 %</a:t>
            </a:r>
          </a:p>
        </p:txBody>
      </p:sp>
      <p:sp>
        <p:nvSpPr>
          <p:cNvPr id="22" name="Rounded Rectangle 21"/>
          <p:cNvSpPr/>
          <p:nvPr/>
        </p:nvSpPr>
        <p:spPr>
          <a:xfrm>
            <a:off x="8356396" y="5258308"/>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도구로 읽을 곳</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정해 둔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스키마의 정의</a:t>
            </a:r>
          </a:p>
          <a:p>
            <a:pPr algn="l">
              <a:lnSpc>
                <a:spcPct val="110000"/>
              </a:lnSpc>
              <a:spcAft>
                <a:spcPts val="600"/>
              </a:spcAft>
            </a:pPr>
            <a:r>
              <a:rPr sz="1450" b="0">
                <a:solidFill>
                  <a:srgbClr val="1F2A3A"/>
                </a:solidFill>
                <a:latin typeface="맑은 고딕"/>
                <a:ea typeface="맑은 고딕"/>
                <a:cs typeface="맑은 고딕"/>
              </a:rPr>
              <a:t>• 문서에서 온 지식과 규칙</a:t>
            </a:r>
          </a:p>
          <a:p>
            <a:pPr algn="l">
              <a:lnSpc>
                <a:spcPct val="110000"/>
              </a:lnSpc>
              <a:spcAft>
                <a:spcPts val="600"/>
              </a:spcAft>
            </a:pPr>
            <a:r>
              <a:rPr sz="1450" b="0">
                <a:solidFill>
                  <a:srgbClr val="1F2A3A"/>
                </a:solidFill>
                <a:latin typeface="맑은 고딕"/>
                <a:ea typeface="맑은 고딕"/>
                <a:cs typeface="맑은 고딕"/>
              </a:rPr>
              <a:t>• 값이 있는 자리</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상황에 맞는 지식을 조회한다</a:t>
            </a:r>
          </a:p>
          <a:p>
            <a:pPr algn="l">
              <a:lnSpc>
                <a:spcPct val="110000"/>
              </a:lnSpc>
              <a:spcAft>
                <a:spcPts val="600"/>
              </a:spcAft>
            </a:pPr>
            <a:r>
              <a:rPr sz="1450" b="0">
                <a:solidFill>
                  <a:srgbClr val="1F2A3A"/>
                </a:solidFill>
                <a:latin typeface="맑은 고딕"/>
                <a:ea typeface="맑은 고딕"/>
                <a:cs typeface="맑은 고딕"/>
              </a:rPr>
              <a:t>• 값을 읽어 기준에 댄다</a:t>
            </a:r>
          </a:p>
          <a:p>
            <a:pPr algn="l">
              <a:lnSpc>
                <a:spcPct val="110000"/>
              </a:lnSpc>
              <a:spcAft>
                <a:spcPts val="600"/>
              </a:spcAft>
            </a:pPr>
            <a:r>
              <a:rPr sz="1450" b="0">
                <a:solidFill>
                  <a:srgbClr val="1F2A3A"/>
                </a:solidFill>
                <a:latin typeface="맑은 고딕"/>
                <a:ea typeface="맑은 고딕"/>
                <a:cs typeface="맑은 고딕"/>
              </a:rPr>
              <a:t>• 결과를 종합해 추천한다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판단의 재료가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근거가 있는 판단은 구조와 검토된 지식과 원천의 값이 저마다 제자리에 있고 서로 이어져 있을 때 가능하다.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판단이 따라갈 관계는 스키마가 정하고,</a:t>
            </a:r>
          </a:p>
          <a:p>
            <a:pPr algn="ctr">
              <a:lnSpc>
                <a:spcPct val="110000"/>
              </a:lnSpc>
            </a:pPr>
            <a:r>
              <a:rPr sz="2600" b="1">
                <a:solidFill>
                  <a:srgbClr val="13294B"/>
                </a:solidFill>
                <a:latin typeface="맑은 고딕"/>
                <a:ea typeface="맑은 고딕"/>
                <a:cs typeface="맑은 고딕"/>
              </a:rPr>
              <a:t>내용과 기준은 검토된 지식에서, 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schema" descr="schema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구조</a:t>
            </a:r>
          </a:p>
          <a:p>
            <a:pPr algn="l">
              <a:lnSpc>
                <a:spcPct val="110000"/>
              </a:lnSpc>
              <a:spcAft>
                <a:spcPts val="400"/>
              </a:spcAft>
            </a:pPr>
            <a:r>
              <a:rPr sz="1400" b="0">
                <a:solidFill>
                  <a:srgbClr val="1F2A3A"/>
                </a:solidFill>
                <a:latin typeface="맑은 고딕"/>
                <a:ea typeface="맑은 고딕"/>
                <a:cs typeface="맑은 고딕"/>
              </a:rPr>
              <a:t>스키마가 따라갈 길을 정한다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file-certificate" descr="file-certificate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지식과 규칙</a:t>
            </a:r>
          </a:p>
          <a:p>
            <a:pPr algn="l">
              <a:lnSpc>
                <a:spcPct val="110000"/>
              </a:lnSpc>
              <a:spcAft>
                <a:spcPts val="400"/>
              </a:spcAft>
            </a:pPr>
            <a:r>
              <a:rPr sz="1400" b="0">
                <a:solidFill>
                  <a:srgbClr val="1F2A3A"/>
                </a:solidFill>
                <a:latin typeface="맑은 고딕"/>
                <a:ea typeface="맑은 고딕"/>
                <a:cs typeface="맑은 고딕"/>
              </a:rPr>
              <a:t>사람이 검토한 내용이 출처와 함께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판단하는 순간에 읽고 읽은 출처를 남긴다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회차에서 정식 명칭을 붙인 용어와 인제스천에서 그 용어가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인제스천에서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인제스천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Ingestion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자료를 지식으로 등록</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원천 자료</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Source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지식의 출발점이 되는 자료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Large Language Model</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후보의 추출</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인용</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Citation</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근거가 된 원문 구간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추출 결과의 검토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결과의 단계에는 팬 속도를 100 %로 올린다는 내용만 있고, 그 인용문에는 24시간 제한이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검토자의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형식에 맞고 인용도 붙어 있으므로 그대로 승인한다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인용문이 단계 문장보다 길므로 인용을 단계 문장에 맞춰 줄인다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연속 운전 제한이 빠졌으므로 원문대로 고친 뒤 승인한다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수치가 들어 있지 않은 단계이므로 대조할 필요가 없다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그래프에 등록하지 않고 판단 시점에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최근 30초 동안의 냉각 효율 평균</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 평균이 70 % 미만이면 핀 오염으로 본다는 기준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운전의 수행 단계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등록된 대상과 새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 매뉴얼을 추출하던 중 「오일 쿨러」라는 말이 나왔고, 지식 그래프에는 구성 요소 오일 쿨러가 이미 등록되어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후보를 처리하는 방법으로 바른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문서마다 따로 관리하도록 오일 쿨러 노드를 하나 더 만든다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이름이 같으므로 기존 노드를 지우고 새 노드로 바꾼다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문서의 표기에 맞춰 오일 쿨러라는 새 클래스를 스키마에 더한다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새로 만들지 않고 등록된 오일 쿨러의 식별자를 가리킨다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형식과 내용, 지식과 값, 새 후보와 등록된 대상을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형식이 맞아도 내용은 원문과 대조해야 한다. 빠진 조건은 원문대로 고친 뒤에 승인한다.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절차, 관계는 지식이고 그 순간의 측정값은 값이다. 값은 판단 시점에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이미 등록된 대상은 새로 만들지 않는다. 식별자로 가리켜야 새 지식이 기존 그래프에 이어진다.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