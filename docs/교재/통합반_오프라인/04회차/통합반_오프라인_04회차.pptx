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3회차까지는 지식이 들어갈 구조와 조치를 가리는 기준을 만들었습니다. 오늘은 현장 문서의 문장을 그 구조에 맞는 지식으로 들여오는 과정을 다루고, 네 개의 실습에서 직접 추출하고 검토해 적재합니다. 마지막에는 온톨로지 영역 전체를 정리합니다. 이 네 가지를 자료 없이 자신의 말로 설명할 수 있는지가 오늘의 기준입니다.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쿨러 사건에서 원인을 가리고 조치 하나를 대안과 함께 내놓은 결과를 추천안이라고 하며, 3회차에 본 1순위 조치가 그 추천입니다. 추천안을 만드는 프로그램은 에이전트라고 부르고 다음 회차부터 다룹니다. 이 추천안에는 원인과 조치와 출처가 함께 나옵니다. 이 셋은 처음부터 지식 그래프에 있던 것이 아니라 쿨러 팬 정비 매뉴얼 HM-8에서 왔습니다. 오늘은 이 문서가 지식이 되는 과정을 봅니다.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문서의 문장을 등록된 지식으로 바꾸는 과정에 붙은 이름이 인제스천입니다. 원래는 바깥의 자료를 시스템 안으로 받아들인다는 넓은 뜻의 말입니다. 원천 자료는 매뉴얼과 작업 절차서처럼 문장으로 된 것도 있고 업무 데이터베이스처럼 표로 된 것도 있어서 형태가 서로 다릅니다.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그래프 DB에 넣는다는 점은 같지만 넣는 것과 남는 것이 다릅니다. 왼쪽은 2회차에 한 일로, 설계한 스키마에 맞춰 직접 정리한 예시 인스턴스를 Cypher로 넣고 저장된 결과가 설계와 같은지를 조회해 확인했습니다. 오른쪽은 사람이 정리한 목록이 아니라 매뉴얼 원문이 입력이며, 추출한 후보를 원문과 대조하고 사람이 검토해 승인한 것만 넣습니다. 맨 아래 줄을 견주면 왼쪽은 내용의 출처를 넣은 사람만 알고, 오른쪽은 근거가 된 원문과 검토한 사람이 지식과 함께 남습니다. 이 차이를 만드는 것이 이어서 볼 일곱 단계입니다.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윗줄 왼쪽부터 원천 확보와 보관, 문서 내용 분석, 지식 후보 추출, 스키마 · 식별자 매핑이고 아랫줄이 대조와 사람 검토, 승인된 지식 적재, 관계 · 출처 조회입니다. 일곱 단계 가운데 모델이 문서를 읽는 곳은 하늘색으로 묶은 두 단계입니다. 앞뒤는 정해진 절차와 사람의 확인입니다.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왼쪽의 원문 보관을 봅니다. 뒤에서 추출 결과가 맞는지를 확인할 때 비교하는 대상이 이 원문이므로, 원문이 바뀔 수 있다면 대조가 의미를 잃습니다. 다음으로 가운데의 파일 이름은 바뀌고 겹칠 수 있어 문서를 가리키는 값으로 쓰지 못합니다. 그래서 오른쪽처럼 문서마다 식별자를 발급합니다. 2회차에 배운, 대상 하나를 가리키는 고유한 값이 문서에도 붙는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2단계에서 절과 번호가 붙은 단계를 가려 둔 원문이 이 단계의 입력입니다. 첫 줄부터 봅니다. 여기서 뽑은 것은 아직 지식이 아니라 후보입니다. 번호가 붙은 줄이 단계라는 것은 겉모양으로 알 수 있지만, 문장의 어느 부분이 기준이고 어느 부분이 결론인지는 뜻을 읽어야 알기 때문에 둘째 줄의 LLM이 이 일을 맡습니다. 셋째 줄의 다른 점 때문에 뒤에 대조와 검토가 붙습니다.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문서를 읽었다고 새 클래스나 새 관계를 만들 수는 없으므로 후보는 스키마에 정의된 것 가운데 하나여야 합니다. 왼쪽은 문서가 새로 알려 주는 지식이어서 후보로 만듭니다. 오른쪽은 이미 등록된 대상이어서 새로 만들지 않고 식별자로 가리킵니다. 매뉴얼에 오일 쿨러라는 말이 나왔다고 오일 쿨러 노드를 하나 더 만들면 같은 구성 요소가 둘이 됩니다. 그래서 등록된 식별자의 목록을 모델에게 주고 그 안에서 고르게 합니다.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모델의 출력이 틀릴 수 있는 방식은 크게 네 가지이고, 넷 모두 정해진 형식에는 맞는 결과입니다. 위의 둘부터 봅니다. 조건 문장이 통째로 빠지면 결과에는 틀린 글자가 하나도 없고, 단위만 바뀌면 숫자 자리에 숫자가 있으므로 프로그램이 이상을 찾지 못합니다. 셋째는 관계를 틀리게 잇는 오류입니다. ADDRESSES는 조치 방법이 어느 원인에 듣는지를 적는 관계인데, 매뉴얼은 핀 세척을 쿨러 핀 오염에만 이었습니다. 넷째는 팬 최대 운전의 세 단계에 없는 단계를 만들어 넣는 오류입니다. 넷을 가려내는 방법은 원문과 인용을 나란히 놓고 읽는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앞에서 본 오류는 결과만 보아서는 드러나지 않으므로 대조하는 단계를 둡니다. 먼저 오른쪽 위의 지식 한 건에서 원문의 한 줄로 가는 화살표가 인용이며, 팬 최대 운전의 2단계는 원문의 1569번째 글자부터 1615번째 글자까지가 근거입니다. 다음으로 아래의 대조입니다. 프로그램이 인용문을 원문의 그 쪽에서 찾아보므로 원문에 없는 문장을 근거로 댄 후보는 여기서 돌려보내집니다. 다만 조건이 빠졌는지, 관계가 맞는지는 사람이 읽어야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인용문이 원문에 있는지는 프로그램이 대조하고, 조건과 수치와 순서와 연결이 맞는지는 사람이 검토합니다. 앞에서 본 오류의 종류가 그대로 검토의 점검 항목이 됩니다. 문서 전체를 다시 읽는 것이 아니라 인용이 가리키는 자리만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추출이 끝난 시점에 지식 그래프는 조금도 바뀌어 있지 않습니다. 조치는 사람이 승인해야 설비 명령이 나가는 것과 같은 구조입니다. 일부만 들어가 절차는 있는데 금지 조건이 없는 상태가 생기지 않게 합니다.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맨 위의 판본입니다. 문서 식별자는 그대로이고 내용이 바뀔 때마다 판본만 새로 생깁니다. 다음으로 판본 아래의 적재 기록에는 누가 언제 검토해 넣었는지와 넣기 전후의 지식 그래프의 상태가 들어가므로, 어느 지식이 어느 문서의 것인지가 남아 개정 때 그 문서의 지식만 바꿀 수 있습니다. 기록 사이의 화살표는 새 기록이 앞 기록을 가리킨다는 뜻이고, 이 사슬이 그 문서의 개정 이력입니다. 전과 후의 상태를 비교하면 어느 개정에서 무엇이 바뀌었는지를 알 수 있고, 되돌릴 때는 가장 새 기록부터 되돌립니다.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일곱 단계의 끝이고, 쿨러 사건에서 추천안에 출처가 함께 나온 것이 이 단계의 결과입니다. 윗줄을 왼쪽부터 따라갑니다. 조치 방법과 근거 문서 사이를 펼치면 단계와 절이 그 사이에 있습니다. 다음으로 아래의 규칙도 자신이 나온 절을 가리킵니다. 그래서 출처는 따로 검색하는 것이 아니라 관계를 따라가면 나옵니다.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3회차의 결정표에서 기준은 표에 적고 값은 판단할 때 읽었습니다. 같은 구분을 지식 그래프 전체에 적용합니다. 먼저 왼쪽입니다. 매뉴얼에서 뽑아 등록한 것은 모두 지식입니다. 다음으로 오른쪽의 값은 등록하지 않습니다. 편하다는 이유로 지금의 값을 노드의 속성으로 넣어 두면, 유온이 2분 사이에 6 ℃ 오른 쿨러 사건에서는 지난 값으로 판단하게 됩니다.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값을 지식 그래프에 넣지 않는다면 판단할 때 그 값을 어디에서 읽을지는 적어 두어야 합니다. 업무 데이터베이스의 값은 표와 열의 위치로 가리키고, 이 위치를 입력 데이터로 등록합니다. 오른쪽 위의 이상 패턴은 어떤 값이 어떤 조건에 이르면 이상으로 볼지를 적어 둔 지식이며, 검사할 입력 데이터를 TESTS로 가리킵니다. 지식에는 값이 어디에 있는지를 적고 값은 원천에 둡니다.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일곱 단계를 매뉴얼 한 편으로 직접 진행합니다. 할 일의 중심은 검토입니다. 원문에서 근거를 찾을 수 없는 후보는 고치거나 보류합니다. 끝나면 문서 한 편이 출처를 가진 지식으로 바뀌어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이번에는 추출하는 쪽을 직접 만듭니다. 지시에 들어가야 하는 것은 스키마의 클래스에 맞출 것, 정해진 형식으로 낼 것, 후보마다 인용을 붙일 것의 세 가지입니다.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순서는 오늘 배운 과정 그대로입니다. 2회차에 만든 설비 모델과 조치의 구조가 여기서 다시 쓰입니다. 고장 유형 하나에서 원문 출처까지 따라갈 수 있으면 됩니다.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정비 절차에서 조건 한 건이 바뀌었을 때 그 조건을 검토해 새 출처와 함께 그래프에 넣습니다. 그런 다음 같은 조치의 이전 기준과 새 기준을 출처로 구별해 조회하고, 같은 대상이 둘로 들어가지 않았는지를 확인합니다. 개정한 뒤에도 어느 기준이 어느 판본에서 왔는지를 말할 수 있어야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왼쪽 칸부터 봅니다. 1회차의 결과물은 손으로 그린 관계 그림이었고, 2회차에 그 그림에 스키마와 식별자라는 틀이 생겼습니다. 이어서 2회차의 SOP와 3회차의 판단 규칙과 성과 지표가 같은 그래프에 이어졌고, 4회차에는 문서에서 온 원인과 증거가 출처와 함께 더해졌습니다. 칸마다 하늘색으로 칠한 부분이 새로 더해진 것이며, 앞 칸의 결과물이 다음 칸의 바탕이 됩니다.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1회차의 출발점은 쿨러 사건의 경보 한 건과 시계열 DB, PLC, 매뉴얼, MES에 흩어진 정보였고, 그 사이를 잇는 연결은 사람의 머릿속에만 있었습니다. 그 연결을 꺼내 적은 것이 이 그림입니다. 증상은 고장 유형을 가리키고, 원인은 고장 유형을 일으키며, 고장 유형은 조치로 완화된다는 세 문장을 화살표를 따라 읽습니다. 다만 그림에는 증상에서 조치로 CAUSES를 그어도 막을 방법이 없습니다. 그 틀을 만드는 것이 2회차의 일이었습니다.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줄부터 봅니다. 2회차가 받은 것은 설비 자료와 답할 질문이었고, 스키마 설계는 클래스가 아니라 질문에서 출발했습니다. 질문이 정해져야 무엇을 넣고 무엇을 넣지 않을지가 갈립니다. 둘째 줄의 스키마가 첫 결과물로, 1회차의 관계 그림을 누구나 같은 기준으로 쓰게 하는 틀입니다.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위의 점선 상자 줄이 첫 결과물인 스키마이고 아래의 원 줄이 둘째 결과물인 인스턴스 데이터입니다. 아래 줄의 대상마다 식별자가 있고, 관계는 위 줄의 스키마가 정한 이름과 방향으로만 놓였습니다. 왼쪽의 HYD-01에서 오일 쿨러, 유온 센서, 유온까지 관계를 따라가면 2회차가 처음에 정한 질문의 답인 센서와 한계값 65도가 나옵니다. Cypher로 조회한 것이 이 길입니다.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2회차에 SOP의 구성요소로 본 것 가운데 셋이 입력입니다. 첫 행에서 SOP 한 편이 조치 방법 노드 하나가 되고 번호가 붙은 줄이 작업 단계가 되었습니다. 둘째 행의 금지는 부하를 60 % 아래로 내리지 못한다는 조치의 한계로 남았습니다. 셋째 행의 전제 조건은 3회차에 결정표에서 본 제외 규칙이 되었습니다. 조건에 댈 운전 모드의 값은 규칙에 없고 판단할 때 읽어 옵니다.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3회차에 더해진 것은 성과 지표와, 조치가 그 지표에 닿는 길입니다. 왼쪽의 조치 후보에서 출발해 팬 속도와 펌프 부하라는 설비의 값을 거쳐 오른쪽의 세 지표에 이릅니다. 인터록 여유는 무재해 운전을, 전력 사용량은 에너지 효율을 재는 내부 프로세스 관점의 지표이고, 납기 준수율은 납기 신뢰를 재는 고객 관점의 지표입니다. 한 조치가 한 지표에는 이롭고 다른 지표에는 불리하므로, 규칙을 통과한 후보끼리는 이 지표로 견줍니다.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2회차와 3회차는 지식이 들어갈 자리를 만들었고, 오늘은 그 자리를 채우는 방법을 다루었습니다. 왼쪽부터 원문, 후보, 검토된 지식, 출처를 가진 지식의 순서입니다. 마지막 칸에는 내용과 함께 그것이 어디에서 왔고 누가 확인했는지가 같이 들어 있습니다. 내용만 있는 지식과 달리 뒤의 둘이 있어야 판단의 근거로 내놓을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왼쪽부터 다섯 걸음입니다. 경보에서 고장 유형까지는 2회차의 스키마가 정한 관계를 따라갔고, 원인 후보와 그 기준은 4회차에 매뉴얼에서 들어온 지식이며, 기준에 댄 값은 그 순간 원천에서 읽었습니다. 넷째 걸음에서 3회차의 판단 규칙과 성과 기준이 후보를 가려 순서를 정했고, 마지막에 문서의 절과 인용이 근거로 붙었습니다. 다섯 걸음 전체의 밑그림은 1회차의 관계 그림입니다. 쿨러 사건의 추천안이 이 다섯 걸음으로 만들어졌고, 그것이 가능했던 것은 네 회차의 결과물이 미리 쌓여 있었기 때문입니다.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왼쪽입니다. 쿨러 성능 저하 경보에 실려 온 이상 패턴에서 출발해 DETECTS, 곧 감지한다는 관계로 증상에, INDICATES로 고장 유형에 이릅니다. 이 길은 누가 그때 생각해 낸 것이 아니라, 관계가 정의되어 있고 그 정의에 따라 인스턴스가 이어져 있어서 따라갈 수 있었습니다. 다음으로 오른쪽의 원인 후보 셋에는 EVIDENCED_BY, 곧 증거로 확인한다는 관계로 증거 기준이 붙어 있으며, 이 후보와 기준은 모두 매뉴얼 HM-8.4에서 추출해 검토한 지식입니다. 기준 70이 원문과 다르게 옮겨졌다면 판단은 그 틀린 기준으로 원인을 가립니다. 판단하는 쪽은 등록된 지식을 그대로 조회하므로 넣기 전의 검토가 이 걸음을 믿을 수 있게 하는 조건입니다.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가운데의 계기 셋이 그 순간에 시계열 DB에서 읽은 값이고, 오른쪽의 원인마다 적힌 기준이 매뉴얼에서 온 지식입니다. 맨 위부터 봅니다. 기준 70은 지식이고 46.2는 읽은 값이며, 둘은 서로 다른 곳에 있다가 판단하는 순간에만 만납니다. 팬 진동 0.575는 팬이 정상이라는 뜻이어서 핀 오염에는 맞고 팬 구동 불량에는 맞지 않습니다. 캐비닛 온도도 기준에 못 미쳐 원인은 쿨러 핀 오염 하나로 정해졌습니다.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3회차에 본 그래프와 순위 그대로입니다. 먼저 판단 규칙이 후보를 걸렀고, 넷 모두 제외 규칙을 통과했으며 예측 유온이 62.5도인 쿨러 핀 세척에는 경고가 붙었습니다. 다음으로 통과한 후보의 순서는 성과 기준이 정했습니다. 유온을 가장 많이 내리는 조치가 아니라 생산을 그대로 두는 팬 최대 운전이 추천으로 올라간 것은 납기에서 잃는 것을 크게 쳤기 때문입니다. 부하를 낮추는 두 후보는 점수가 같았습니다.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추천안에 근거가 붙어 나오는 화면입니다. 이제는 줄마다 그것이 어디에서 왔는지를 말할 수 있습니다. 추천안에 이른 길은 2회차의 스키마가 정한 관계를 따라온 경로이고, 후보로 고른 규칙은 3회차에 본 판단 규칙이며, 출처는 4회차에 조치 방법의 단계에 이어 둔 매뉴얼의 절입니다. 담당자는 이 세 가지를 보고 승인할지를 정합니다.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위에서 아래로 스키마, 인스턴스 데이터, 값입니다. 맨 위의 점선 상자는 원인이 고장 유형을 CAUSES로 가리킨다는 정의이고, 가운데는 그 정의에 맞추어 들어간 쿨러 핀 오염과 쿨러 냉각 성능 상실, 그리고 증거 기준입니다. 위의 둘은 지식 그래프에 있고 맨 아래의 값은 지식 그래프 밖의 원천에 있어, 판단하는 순간에 파란 점선을 따라 읽습니다. 왼쪽에 적힌 것이 그 층이 바뀌는 때입니다. 센서를 하나 새로 달면 인스턴스가 늘 뿐 스키마는 그대로이고, 매뉴얼의 기준이 바뀌면 인스턴스 데이터가 바뀌며, 유온은 매초 바뀝니다.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층을 나누어 둔 덕분에 어디를 보아야 하는지가 갈립니다. 첫 행처럼 따라갈 관계가 없어 답이 나오지 않으면 스키마의 정의를 봅니다. 둘째 행처럼 기준이 매뉴얼과 다르면 인용을 따라 문서로 가서 인스턴스 데이터를 고칩니다. 셋째 행처럼 숫자가 실제와 다르면 값을 읽은 기록을 따라 원천으로 갑니다.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3회차에 결정표의 행으로 본 감점 규칙과 그 근거 문장입니다. 문서의 문장은 왜 그런 기준이 있는지를 사람에게 설명하고, 규칙은 지금 그 기준을 어떻게 판정할지를 정합니다.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감점 규칙에서 오른쪽으로 가면 근거가 나옵니다. 규칙은 DERIVED_FROM으로 매뉴얼 8.8절을 가리키고 그 절은 PART_OF로 문서 HM-8에 속합니다. 아래로 가면 값의 자리가 나옵니다. 규칙이 TESTS로 검사하는 입력 데이터가 연속 운전 시간이고, 그 값은 판단할 때 원천에서 읽습니다. 그래서 규칙 하나에서 근거는 문서 쪽으로, 값은 입력 데이터 쪽으로 따라갑니다.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매뉴얼이 개정되어 24시간이라는 기준이 바뀐다고 해 봅니다. 문서 식별자는 그대로 두고 새 판본을 올린 뒤, 바뀐 절을 DERIVED_FROM으로 가리키는 규칙을 찾으면 고칠 대상이 나옵니다. 고친 내용은 처음 넣을 때와 같이 검토를 거쳐 적재하고 적재 기록을 남깁니다. 규칙만 있고 근거가 없으면 어느 규칙을 고쳐야 하는지 찾을 수 없으므로, 출처 관계와 개정 이력이 여기서 함께 쓰입니다.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지금까지 만든 것이 에이전트에게 무엇을 주는지를 왼쪽부터 봅니다. 지식 그래프는 따라갈 길과 댈 근거를 주므로 같은 경보에는 같은 후보와 같은 근거가 나옵니다. 가운데의 판단 규칙은 조건의 해석을 모델에 맡기지 않고 정해 둔 판정을 주며, 에이전트는 그 판정을 받아 추천에 반영합니다. 오른쪽의 값의 자리는 도구로 읽을 곳을 줍니다. 에이전트의 동작과 도구가 만들어지는 방식은 이후의 과정에서 다룹니다.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1회차에 AI에게 그대로 물으면 답의 근거를 확인할 수 없다고 했습니다. 그 문제에 대한 답이 이 구분입니다. 왼쪽의 사실과 기준은 사람이 검토해 지식 그래프와 규칙에 정해 두고, 오른쪽의 조회와 종합만 에이전트에게 맡깁니다. 그래서 에이전트가 낸 추천은 어느 지식과 어느 값에서 나왔는지를 되짚을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회차의 내용을 한 문장으로 줄인 것입니다. 근거가 있는 판단이 뜻하는 것이 이것입니다. 다음 회차부터는 이 재료로 실제로 판단하는 에이전트를 다룹니다.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뜻은 앞에서 풀었으므로 여기서는 이름과 자리만 확인합니다. 이 넷과 함께 지식 후보, 매핑, 판본, 개정 이력, 값의 자리가 오늘의 용어입니다.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형식이 맞는 것과 내용이 맞는 것을 구분하는 문항입니다. 추출 결과와 인용문을 나란히 놓고 무엇이 다른지를 먼저 찾아보시기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넷 가운데 하나만 성격이 다릅니다. 문서가 개정되기 전에는 바뀌지 않는 것과 매초 바뀌는 것을 가려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추출한 후보를 기존 그래프에 잇는 원칙을 묻는 문항입니다. 같은 대상이 그래프에 둘이 되면 어떤 일이 생기는지를 떠올리면 됩니다.</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문항의 1번이 틀린 이유는 형식이 맞는지와 인용문이 원문에 있는지의 확인이 내용의 누락까지 잡아 주지는 않기 때문입니다. 셋째 문항의 3번은 문서를 읽었다고 스키마에 새 클래스를 더할 수는 없다는 점에서 틀립니다. 스키마를 바꾸는 일은 추출이 아니라 설계의 일입니다.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2.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7.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1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2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2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25.png"/><Relationship Id="rId4" Type="http://schemas.openxmlformats.org/officeDocument/2006/relationships/image" Target="../media/image22.png"/><Relationship Id="rId5" Type="http://schemas.openxmlformats.org/officeDocument/2006/relationships/image" Target="../media/image26.png"/><Relationship Id="rId6" Type="http://schemas.openxmlformats.org/officeDocument/2006/relationships/image" Target="../media/image11.png"/><Relationship Id="rId7" Type="http://schemas.openxmlformats.org/officeDocument/2006/relationships/image" Target="../media/image2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1.png"/><Relationship Id="rId4" Type="http://schemas.openxmlformats.org/officeDocument/2006/relationships/image" Target="../media/image2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2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15.png"/><Relationship Id="rId4" Type="http://schemas.openxmlformats.org/officeDocument/2006/relationships/image" Target="../media/image30.png"/><Relationship Id="rId5" Type="http://schemas.openxmlformats.org/officeDocument/2006/relationships/image" Target="../media/image3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32.png"/><Relationship Id="rId4" Type="http://schemas.openxmlformats.org/officeDocument/2006/relationships/image" Target="../media/image18.png"/><Relationship Id="rId5" Type="http://schemas.openxmlformats.org/officeDocument/2006/relationships/image" Target="../media/image12.png"/><Relationship Id="rId6" Type="http://schemas.openxmlformats.org/officeDocument/2006/relationships/image" Target="../media/image3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15.png"/><Relationship Id="rId4" Type="http://schemas.openxmlformats.org/officeDocument/2006/relationships/image" Target="../media/image7.png"/><Relationship Id="rId5" Type="http://schemas.openxmlformats.org/officeDocument/2006/relationships/image" Target="../media/image34.png"/><Relationship Id="rId6" Type="http://schemas.openxmlformats.org/officeDocument/2006/relationships/image" Target="../media/image2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3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3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3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3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15.png"/><Relationship Id="rId4" Type="http://schemas.openxmlformats.org/officeDocument/2006/relationships/image" Target="../media/image31.png"/><Relationship Id="rId5" Type="http://schemas.openxmlformats.org/officeDocument/2006/relationships/image" Target="../media/image39.png"/><Relationship Id="rId6" Type="http://schemas.openxmlformats.org/officeDocument/2006/relationships/image" Target="../media/image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40.png"/><Relationship Id="rId4" Type="http://schemas.openxmlformats.org/officeDocument/2006/relationships/image" Target="../media/image8.png"/><Relationship Id="rId5" Type="http://schemas.openxmlformats.org/officeDocument/2006/relationships/image" Target="../media/image28.png"/><Relationship Id="rId6" Type="http://schemas.openxmlformats.org/officeDocument/2006/relationships/image" Target="../media/image27.png"/><Relationship Id="rId7" Type="http://schemas.openxmlformats.org/officeDocument/2006/relationships/image" Target="../media/image4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4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4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4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45.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15.png"/><Relationship Id="rId4" Type="http://schemas.openxmlformats.org/officeDocument/2006/relationships/image" Target="../media/image27.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27.png"/><Relationship Id="rId4" Type="http://schemas.openxmlformats.org/officeDocument/2006/relationships/image" Target="../media/image26.png"/><Relationship Id="rId5" Type="http://schemas.openxmlformats.org/officeDocument/2006/relationships/image" Target="../media/image11.png"/><Relationship Id="rId6" Type="http://schemas.openxmlformats.org/officeDocument/2006/relationships/image" Target="../media/image46.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15.png"/><Relationship Id="rId4" Type="http://schemas.openxmlformats.org/officeDocument/2006/relationships/image" Target="../media/image7.png"/><Relationship Id="rId5" Type="http://schemas.openxmlformats.org/officeDocument/2006/relationships/image" Target="../media/image34.png"/><Relationship Id="rId6" Type="http://schemas.openxmlformats.org/officeDocument/2006/relationships/image" Target="../media/image27.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8.png"/><Relationship Id="rId4" Type="http://schemas.openxmlformats.org/officeDocument/2006/relationships/image" Target="../media/image27.png"/><Relationship Id="rId5" Type="http://schemas.openxmlformats.org/officeDocument/2006/relationships/image" Target="../media/image47.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39.png"/><Relationship Id="rId4" Type="http://schemas.openxmlformats.org/officeDocument/2006/relationships/image" Target="../media/image48.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image" Target="../media/image49.png"/><Relationship Id="rId4" Type="http://schemas.openxmlformats.org/officeDocument/2006/relationships/image" Target="../media/image41.png"/><Relationship Id="rId5" Type="http://schemas.openxmlformats.org/officeDocument/2006/relationships/image" Target="../media/image28.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294B"/>
        </a:solidFill>
        <a:effectLst/>
      </p:bgPr>
    </p:bg>
    <p:spTree>
      <p:nvGrpSpPr>
        <p:cNvPr id="1" name=""/>
        <p:cNvGrpSpPr/>
        <p:nvPr/>
      </p:nvGrpSpPr>
      <p:grpSpPr/>
      <p:sp>
        <p:nvSpPr>
          <p:cNvPr id="2" name="TextBox 1"/>
          <p:cNvSpPr txBox="1"/>
          <p:nvPr/>
        </p:nvSpPr>
        <p:spPr>
          <a:xfrm>
            <a:off x="457200" y="841248"/>
            <a:ext cx="8229600" cy="457200"/>
          </a:xfrm>
          <a:prstGeom prst="rect">
            <a:avLst/>
          </a:prstGeom>
          <a:noFill/>
        </p:spPr>
        <p:txBody>
          <a:bodyPr wrap="square" anchor="t"/>
          <a:lstStyle/>
          <a:p>
            <a:pPr algn="l">
              <a:lnSpc>
                <a:spcPct val="110000"/>
              </a:lnSpc>
            </a:pPr>
            <a:r>
              <a:rPr sz="2000" b="1">
                <a:solidFill>
                  <a:srgbClr val="8FCFF8"/>
                </a:solidFill>
                <a:latin typeface="맑은 고딕"/>
                <a:ea typeface="맑은 고딕"/>
                <a:cs typeface="맑은 고딕"/>
              </a:rPr>
              <a:t>경남대학교 피지컬AI 사관학교</a:t>
            </a:r>
          </a:p>
        </p:txBody>
      </p:sp>
      <p:sp>
        <p:nvSpPr>
          <p:cNvPr id="3" name="Rectangle 2"/>
          <p:cNvSpPr/>
          <p:nvPr/>
        </p:nvSpPr>
        <p:spPr>
          <a:xfrm>
            <a:off x="548640" y="13167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1700784"/>
            <a:ext cx="7863840" cy="420624"/>
          </a:xfrm>
          <a:prstGeom prst="rect">
            <a:avLst/>
          </a:prstGeom>
          <a:noFill/>
        </p:spPr>
        <p:txBody>
          <a:bodyPr wrap="square" anchor="t"/>
          <a:lstStyle/>
          <a:p>
            <a:pPr algn="l">
              <a:lnSpc>
                <a:spcPct val="110000"/>
              </a:lnSpc>
            </a:pPr>
            <a:r>
              <a:rPr sz="1800" b="1">
                <a:solidFill>
                  <a:srgbClr val="8FCFF8"/>
                </a:solidFill>
                <a:latin typeface="맑은 고딕"/>
                <a:ea typeface="맑은 고딕"/>
                <a:cs typeface="맑은 고딕"/>
              </a:rPr>
              <a:t>통합반 오프라인 4회차</a:t>
            </a:r>
          </a:p>
        </p:txBody>
      </p:sp>
      <p:sp>
        <p:nvSpPr>
          <p:cNvPr id="5" name="TextBox 4"/>
          <p:cNvSpPr txBox="1"/>
          <p:nvPr/>
        </p:nvSpPr>
        <p:spPr>
          <a:xfrm>
            <a:off x="457200" y="2395728"/>
            <a:ext cx="8412480" cy="1920240"/>
          </a:xfrm>
          <a:prstGeom prst="rect">
            <a:avLst/>
          </a:prstGeom>
          <a:noFill/>
        </p:spPr>
        <p:txBody>
          <a:bodyPr wrap="square" anchor="t"/>
          <a:lstStyle/>
          <a:p>
            <a:pPr algn="l">
              <a:lnSpc>
                <a:spcPct val="110000"/>
              </a:lnSpc>
            </a:pPr>
            <a:r>
              <a:rPr sz="4000" b="1">
                <a:solidFill>
                  <a:srgbClr val="FFFFFF"/>
                </a:solidFill>
                <a:latin typeface="맑은 고딕"/>
                <a:ea typeface="맑은 고딕"/>
                <a:cs typeface="맑은 고딕"/>
              </a:rPr>
              <a:t>현장 문서를 검토된 지식으로</a:t>
            </a:r>
          </a:p>
          <a:p>
            <a:pPr algn="l">
              <a:lnSpc>
                <a:spcPct val="110000"/>
              </a:lnSpc>
            </a:pPr>
            <a:r>
              <a:rPr sz="4000" b="1">
                <a:solidFill>
                  <a:srgbClr val="FFFFFF"/>
                </a:solidFill>
                <a:latin typeface="맑은 고딕"/>
                <a:ea typeface="맑은 고딕"/>
                <a:cs typeface="맑은 고딕"/>
              </a:rPr>
              <a:t>전환하는 인제스천</a:t>
            </a:r>
          </a:p>
        </p:txBody>
      </p:sp>
      <p:sp>
        <p:nvSpPr>
          <p:cNvPr id="6" name="TextBox 5"/>
          <p:cNvSpPr txBox="1"/>
          <p:nvPr/>
        </p:nvSpPr>
        <p:spPr>
          <a:xfrm>
            <a:off x="457200" y="4407408"/>
            <a:ext cx="8412480" cy="731520"/>
          </a:xfrm>
          <a:prstGeom prst="rect">
            <a:avLst/>
          </a:prstGeom>
          <a:noFill/>
        </p:spPr>
        <p:txBody>
          <a:bodyPr wrap="square" anchor="t"/>
          <a:lstStyle/>
          <a:p>
            <a:pPr algn="l">
              <a:lnSpc>
                <a:spcPct val="110000"/>
              </a:lnSpc>
            </a:pPr>
            <a:r>
              <a:rPr sz="1900" b="0">
                <a:solidFill>
                  <a:srgbClr val="C6D0DE"/>
                </a:solidFill>
                <a:latin typeface="맑은 고딕"/>
                <a:ea typeface="맑은 고딕"/>
                <a:cs typeface="맑은 고딕"/>
              </a:rPr>
              <a:t>원문 등록에서 출처 조회까지의 과정과 온톨로지 영역의 정리</a:t>
            </a:r>
          </a:p>
        </p:txBody>
      </p:sp>
      <p:pic>
        <p:nvPicPr>
          <p:cNvPr id="7" name="로고:uEngine" descr="logo-uengine_FFFFFF_None.png"/>
          <p:cNvPicPr>
            <a:picLocks noChangeAspect="1"/>
          </p:cNvPicPr>
          <p:nvPr/>
        </p:nvPicPr>
        <p:blipFill>
          <a:blip r:embed="rId2"/>
          <a:stretch>
            <a:fillRect/>
          </a:stretch>
        </p:blipFill>
        <p:spPr>
          <a:xfrm>
            <a:off x="7315200" y="5669280"/>
            <a:ext cx="1325880" cy="275115"/>
          </a:xfrm>
          <a:prstGeom prst="rect">
            <a:avLst/>
          </a:prstGeom>
        </p:spPr>
      </p:pic>
      <p:sp>
        <p:nvSpPr>
          <p:cNvPr id="8" name="Rectangle 7"/>
          <p:cNvSpPr/>
          <p:nvPr/>
        </p:nvSpPr>
        <p:spPr>
          <a:xfrm>
            <a:off x="9464040" y="1188719"/>
            <a:ext cx="1188720" cy="1188720"/>
          </a:xfrm>
          <a:prstGeom prst="rect">
            <a:avLst/>
          </a:prstGeom>
          <a:solidFill>
            <a:srgbClr val="243D66"/>
          </a:solidFill>
          <a:ln>
            <a:noFill/>
          </a:ln>
        </p:spPr>
        <p:txBody>
          <a:bodyPr rtlCol="0" anchor="ctr"/>
          <a:lstStyle/>
          <a:p>
            <a:pPr algn="ctr"/>
          </a:p>
        </p:txBody>
      </p:sp>
      <p:pic>
        <p:nvPicPr>
          <p:cNvPr id="9" name="아이콘:file-text" descr="file-text_5CB8F2_1.5.png"/>
          <p:cNvPicPr>
            <a:picLocks noChangeAspect="1"/>
          </p:cNvPicPr>
          <p:nvPr/>
        </p:nvPicPr>
        <p:blipFill>
          <a:blip r:embed="rId3"/>
          <a:stretch>
            <a:fillRect/>
          </a:stretch>
        </p:blipFill>
        <p:spPr>
          <a:xfrm>
            <a:off x="9701784" y="1426463"/>
            <a:ext cx="713232" cy="713232"/>
          </a:xfrm>
          <a:prstGeom prst="rect">
            <a:avLst/>
          </a:prstGeom>
        </p:spPr>
      </p:pic>
      <p:sp>
        <p:nvSpPr>
          <p:cNvPr id="10" name="Down Arrow 9"/>
          <p:cNvSpPr/>
          <p:nvPr/>
        </p:nvSpPr>
        <p:spPr>
          <a:xfrm>
            <a:off x="9902952" y="2450591"/>
            <a:ext cx="310896" cy="310896"/>
          </a:xfrm>
          <a:prstGeom prst="downArrow">
            <a:avLst/>
          </a:prstGeom>
          <a:solidFill>
            <a:srgbClr val="5CB8F2"/>
          </a:solidFill>
          <a:ln>
            <a:noFill/>
          </a:ln>
        </p:spPr>
        <p:txBody>
          <a:bodyPr rtlCol="0" anchor="ctr"/>
          <a:lstStyle/>
          <a:p>
            <a:pPr algn="ctr"/>
          </a:p>
        </p:txBody>
      </p:sp>
      <p:sp>
        <p:nvSpPr>
          <p:cNvPr id="11" name="Rectangle 10"/>
          <p:cNvSpPr/>
          <p:nvPr/>
        </p:nvSpPr>
        <p:spPr>
          <a:xfrm>
            <a:off x="9464040" y="2834639"/>
            <a:ext cx="1188720" cy="1188720"/>
          </a:xfrm>
          <a:prstGeom prst="rect">
            <a:avLst/>
          </a:prstGeom>
          <a:solidFill>
            <a:srgbClr val="243D66"/>
          </a:solidFill>
          <a:ln>
            <a:noFill/>
          </a:ln>
        </p:spPr>
        <p:txBody>
          <a:bodyPr rtlCol="0" anchor="ctr"/>
          <a:lstStyle/>
          <a:p>
            <a:pPr algn="ctr"/>
          </a:p>
        </p:txBody>
      </p:sp>
      <p:pic>
        <p:nvPicPr>
          <p:cNvPr id="12" name="아이콘:zoom-check" descr="zoom-check_5CB8F2_1.5.png"/>
          <p:cNvPicPr>
            <a:picLocks noChangeAspect="1"/>
          </p:cNvPicPr>
          <p:nvPr/>
        </p:nvPicPr>
        <p:blipFill>
          <a:blip r:embed="rId4"/>
          <a:stretch>
            <a:fillRect/>
          </a:stretch>
        </p:blipFill>
        <p:spPr>
          <a:xfrm>
            <a:off x="9701784" y="3072383"/>
            <a:ext cx="713232" cy="713232"/>
          </a:xfrm>
          <a:prstGeom prst="rect">
            <a:avLst/>
          </a:prstGeom>
        </p:spPr>
      </p:pic>
      <p:sp>
        <p:nvSpPr>
          <p:cNvPr id="13" name="Down Arrow 12"/>
          <p:cNvSpPr/>
          <p:nvPr/>
        </p:nvSpPr>
        <p:spPr>
          <a:xfrm>
            <a:off x="9902952" y="4096511"/>
            <a:ext cx="310896" cy="310896"/>
          </a:xfrm>
          <a:prstGeom prst="downArrow">
            <a:avLst/>
          </a:prstGeom>
          <a:solidFill>
            <a:srgbClr val="5CB8F2"/>
          </a:solidFill>
          <a:ln>
            <a:noFill/>
          </a:ln>
        </p:spPr>
        <p:txBody>
          <a:bodyPr rtlCol="0" anchor="ctr"/>
          <a:lstStyle/>
          <a:p>
            <a:pPr algn="ctr"/>
          </a:p>
        </p:txBody>
      </p:sp>
      <p:sp>
        <p:nvSpPr>
          <p:cNvPr id="14" name="Rectangle 13"/>
          <p:cNvSpPr/>
          <p:nvPr/>
        </p:nvSpPr>
        <p:spPr>
          <a:xfrm>
            <a:off x="9464040" y="4480560"/>
            <a:ext cx="1188720" cy="1188720"/>
          </a:xfrm>
          <a:prstGeom prst="rect">
            <a:avLst/>
          </a:prstGeom>
          <a:solidFill>
            <a:srgbClr val="5CB8F2"/>
          </a:solidFill>
          <a:ln>
            <a:noFill/>
          </a:ln>
        </p:spPr>
        <p:txBody>
          <a:bodyPr rtlCol="0" anchor="ctr"/>
          <a:lstStyle/>
          <a:p>
            <a:pPr algn="ctr"/>
          </a:p>
        </p:txBody>
      </p:sp>
      <p:pic>
        <p:nvPicPr>
          <p:cNvPr id="15" name="아이콘:topology-star-3" descr="topology-star-3_13294B_1.5.png"/>
          <p:cNvPicPr>
            <a:picLocks noChangeAspect="1"/>
          </p:cNvPicPr>
          <p:nvPr/>
        </p:nvPicPr>
        <p:blipFill>
          <a:blip r:embed="rId5"/>
          <a:stretch>
            <a:fillRect/>
          </a:stretch>
        </p:blipFill>
        <p:spPr>
          <a:xfrm>
            <a:off x="9701784" y="4718304"/>
            <a:ext cx="713232" cy="71323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학습목표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매뉴얼의 문장이 출처를 가진 지식으로 등록되는 과정을 익히고 온톨로지 영역 전체를 정리한다.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a:t>
            </a:r>
          </a:p>
        </p:txBody>
      </p:sp>
      <p:sp>
        <p:nvSpPr>
          <p:cNvPr id="6" name="Rounded Rectangle 5"/>
          <p:cNvSpPr/>
          <p:nvPr/>
        </p:nvSpPr>
        <p:spPr>
          <a:xfrm>
            <a:off x="548640" y="2383726"/>
            <a:ext cx="2567863" cy="3215258"/>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584894"/>
            <a:ext cx="731520" cy="731520"/>
          </a:xfrm>
          <a:prstGeom prst="ellipse">
            <a:avLst/>
          </a:prstGeom>
          <a:solidFill>
            <a:srgbClr val="E7F3FD"/>
          </a:solidFill>
          <a:ln>
            <a:noFill/>
          </a:ln>
        </p:spPr>
        <p:txBody>
          <a:bodyPr rtlCol="0" anchor="ctr"/>
          <a:lstStyle/>
          <a:p>
            <a:pPr algn="ctr"/>
          </a:p>
        </p:txBody>
      </p:sp>
      <p:pic>
        <p:nvPicPr>
          <p:cNvPr id="8" name="아이콘:file-import" descr="file-import_13294B_1.6.png"/>
          <p:cNvPicPr>
            <a:picLocks noChangeAspect="1"/>
          </p:cNvPicPr>
          <p:nvPr/>
        </p:nvPicPr>
        <p:blipFill>
          <a:blip r:embed="rId3"/>
          <a:stretch>
            <a:fillRect/>
          </a:stretch>
        </p:blipFill>
        <p:spPr>
          <a:xfrm>
            <a:off x="930859" y="2738513"/>
            <a:ext cx="424281" cy="424281"/>
          </a:xfrm>
          <a:prstGeom prst="rect">
            <a:avLst/>
          </a:prstGeom>
        </p:spPr>
      </p:pic>
      <p:sp>
        <p:nvSpPr>
          <p:cNvPr id="9" name="TextBox 8"/>
          <p:cNvSpPr txBox="1"/>
          <p:nvPr/>
        </p:nvSpPr>
        <p:spPr>
          <a:xfrm>
            <a:off x="713232" y="3407854"/>
            <a:ext cx="2238679" cy="1688210"/>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인제스천의 단계</a:t>
            </a:r>
          </a:p>
          <a:p>
            <a:pPr algn="l">
              <a:lnSpc>
                <a:spcPct val="110000"/>
              </a:lnSpc>
              <a:spcAft>
                <a:spcPts val="400"/>
              </a:spcAft>
            </a:pPr>
            <a:r>
              <a:rPr sz="1350" b="0">
                <a:solidFill>
                  <a:srgbClr val="1F2A3A"/>
                </a:solidFill>
                <a:latin typeface="맑은 고딕"/>
                <a:ea typeface="맑은 고딕"/>
                <a:cs typeface="맑은 고딕"/>
              </a:rPr>
              <a:t>원문 보관에서 출처 조회까지 일곱 단계가 하는 일을 순서대로 설명한다</a:t>
            </a:r>
          </a:p>
        </p:txBody>
      </p:sp>
      <p:sp>
        <p:nvSpPr>
          <p:cNvPr id="10" name="Rounded Rectangle 9"/>
          <p:cNvSpPr/>
          <p:nvPr/>
        </p:nvSpPr>
        <p:spPr>
          <a:xfrm>
            <a:off x="777240" y="5169217"/>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69217"/>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과정</a:t>
            </a:r>
          </a:p>
        </p:txBody>
      </p:sp>
      <p:sp>
        <p:nvSpPr>
          <p:cNvPr id="12" name="Rounded Rectangle 11"/>
          <p:cNvSpPr/>
          <p:nvPr/>
        </p:nvSpPr>
        <p:spPr>
          <a:xfrm>
            <a:off x="3390823" y="2383726"/>
            <a:ext cx="2567863" cy="3215258"/>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584894"/>
            <a:ext cx="731520" cy="731520"/>
          </a:xfrm>
          <a:prstGeom prst="ellipse">
            <a:avLst/>
          </a:prstGeom>
          <a:solidFill>
            <a:srgbClr val="E7F3FD"/>
          </a:solidFill>
          <a:ln>
            <a:noFill/>
          </a:ln>
        </p:spPr>
        <p:txBody>
          <a:bodyPr rtlCol="0" anchor="ctr"/>
          <a:lstStyle/>
          <a:p>
            <a:pPr algn="ctr"/>
          </a:p>
        </p:txBody>
      </p:sp>
      <p:pic>
        <p:nvPicPr>
          <p:cNvPr id="14" name="아이콘:eye-check" descr="eye-check_13294B_1.6.png"/>
          <p:cNvPicPr>
            <a:picLocks noChangeAspect="1"/>
          </p:cNvPicPr>
          <p:nvPr/>
        </p:nvPicPr>
        <p:blipFill>
          <a:blip r:embed="rId4"/>
          <a:stretch>
            <a:fillRect/>
          </a:stretch>
        </p:blipFill>
        <p:spPr>
          <a:xfrm>
            <a:off x="3773043" y="2738513"/>
            <a:ext cx="424281" cy="424281"/>
          </a:xfrm>
          <a:prstGeom prst="rect">
            <a:avLst/>
          </a:prstGeom>
        </p:spPr>
      </p:pic>
      <p:sp>
        <p:nvSpPr>
          <p:cNvPr id="15" name="TextBox 14"/>
          <p:cNvSpPr txBox="1"/>
          <p:nvPr/>
        </p:nvSpPr>
        <p:spPr>
          <a:xfrm>
            <a:off x="3555415" y="3407854"/>
            <a:ext cx="2238679" cy="1688210"/>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대조와 검토</a:t>
            </a:r>
          </a:p>
          <a:p>
            <a:pPr algn="l">
              <a:lnSpc>
                <a:spcPct val="110000"/>
              </a:lnSpc>
              <a:spcAft>
                <a:spcPts val="400"/>
              </a:spcAft>
            </a:pPr>
            <a:r>
              <a:rPr sz="1350" b="0">
                <a:solidFill>
                  <a:srgbClr val="1F2A3A"/>
                </a:solidFill>
                <a:latin typeface="맑은 고딕"/>
                <a:ea typeface="맑은 고딕"/>
                <a:cs typeface="맑은 고딕"/>
              </a:rPr>
              <a:t>추출 결과를 원문 인용과 대조해 틀린 곳을 가려내고 검토한 것만 적재한다</a:t>
            </a:r>
          </a:p>
        </p:txBody>
      </p:sp>
      <p:sp>
        <p:nvSpPr>
          <p:cNvPr id="16" name="Rounded Rectangle 15"/>
          <p:cNvSpPr/>
          <p:nvPr/>
        </p:nvSpPr>
        <p:spPr>
          <a:xfrm>
            <a:off x="3619423" y="5169217"/>
            <a:ext cx="1219199"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169217"/>
            <a:ext cx="12191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검토 · 실습</a:t>
            </a:r>
          </a:p>
        </p:txBody>
      </p:sp>
      <p:sp>
        <p:nvSpPr>
          <p:cNvPr id="18" name="Rounded Rectangle 17"/>
          <p:cNvSpPr/>
          <p:nvPr/>
        </p:nvSpPr>
        <p:spPr>
          <a:xfrm>
            <a:off x="6233007" y="2383726"/>
            <a:ext cx="2567863" cy="3215258"/>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584894"/>
            <a:ext cx="731520" cy="731520"/>
          </a:xfrm>
          <a:prstGeom prst="ellipse">
            <a:avLst/>
          </a:prstGeom>
          <a:solidFill>
            <a:srgbClr val="E7F3FD"/>
          </a:solidFill>
          <a:ln>
            <a:noFill/>
          </a:ln>
        </p:spPr>
        <p:txBody>
          <a:bodyPr rtlCol="0" anchor="ctr"/>
          <a:lstStyle/>
          <a:p>
            <a:pPr algn="ctr"/>
          </a:p>
        </p:txBody>
      </p:sp>
      <p:pic>
        <p:nvPicPr>
          <p:cNvPr id="20" name="아이콘:versions" descr="versions_13294B_1.6.png"/>
          <p:cNvPicPr>
            <a:picLocks noChangeAspect="1"/>
          </p:cNvPicPr>
          <p:nvPr/>
        </p:nvPicPr>
        <p:blipFill>
          <a:blip r:embed="rId5"/>
          <a:stretch>
            <a:fillRect/>
          </a:stretch>
        </p:blipFill>
        <p:spPr>
          <a:xfrm>
            <a:off x="6615226" y="2738513"/>
            <a:ext cx="424281" cy="424281"/>
          </a:xfrm>
          <a:prstGeom prst="rect">
            <a:avLst/>
          </a:prstGeom>
        </p:spPr>
      </p:pic>
      <p:sp>
        <p:nvSpPr>
          <p:cNvPr id="21" name="TextBox 20"/>
          <p:cNvSpPr txBox="1"/>
          <p:nvPr/>
        </p:nvSpPr>
        <p:spPr>
          <a:xfrm>
            <a:off x="6397599" y="3407854"/>
            <a:ext cx="2238679" cy="1688210"/>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출처와 개정</a:t>
            </a:r>
          </a:p>
          <a:p>
            <a:pPr algn="l">
              <a:lnSpc>
                <a:spcPct val="110000"/>
              </a:lnSpc>
              <a:spcAft>
                <a:spcPts val="400"/>
              </a:spcAft>
            </a:pPr>
            <a:r>
              <a:rPr sz="1350" b="0">
                <a:solidFill>
                  <a:srgbClr val="1F2A3A"/>
                </a:solidFill>
                <a:latin typeface="맑은 고딕"/>
                <a:ea typeface="맑은 고딕"/>
                <a:cs typeface="맑은 고딕"/>
              </a:rPr>
              <a:t>지식의 출처를 관계로 조회하고 개정된 기준을 이전 기준과 구별한다</a:t>
            </a:r>
          </a:p>
        </p:txBody>
      </p:sp>
      <p:sp>
        <p:nvSpPr>
          <p:cNvPr id="22" name="Rounded Rectangle 21"/>
          <p:cNvSpPr/>
          <p:nvPr/>
        </p:nvSpPr>
        <p:spPr>
          <a:xfrm>
            <a:off x="6461607" y="5169217"/>
            <a:ext cx="1219199"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169217"/>
            <a:ext cx="12191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추적 · 실습</a:t>
            </a:r>
          </a:p>
        </p:txBody>
      </p:sp>
      <p:sp>
        <p:nvSpPr>
          <p:cNvPr id="24" name="Rounded Rectangle 23"/>
          <p:cNvSpPr/>
          <p:nvPr/>
        </p:nvSpPr>
        <p:spPr>
          <a:xfrm>
            <a:off x="9075191" y="2383726"/>
            <a:ext cx="2567863" cy="3215258"/>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584894"/>
            <a:ext cx="731520" cy="731520"/>
          </a:xfrm>
          <a:prstGeom prst="ellipse">
            <a:avLst/>
          </a:prstGeom>
          <a:solidFill>
            <a:srgbClr val="5CB8F2"/>
          </a:solidFill>
          <a:ln>
            <a:noFill/>
          </a:ln>
        </p:spPr>
        <p:txBody>
          <a:bodyPr rtlCol="0" anchor="ctr"/>
          <a:lstStyle/>
          <a:p>
            <a:pPr algn="ctr"/>
          </a:p>
        </p:txBody>
      </p:sp>
      <p:pic>
        <p:nvPicPr>
          <p:cNvPr id="26" name="아이콘:topology-star-3" descr="topology-star-3_13294B_1.6.png"/>
          <p:cNvPicPr>
            <a:picLocks noChangeAspect="1"/>
          </p:cNvPicPr>
          <p:nvPr/>
        </p:nvPicPr>
        <p:blipFill>
          <a:blip r:embed="rId6"/>
          <a:stretch>
            <a:fillRect/>
          </a:stretch>
        </p:blipFill>
        <p:spPr>
          <a:xfrm>
            <a:off x="9457410" y="2738513"/>
            <a:ext cx="424281" cy="424281"/>
          </a:xfrm>
          <a:prstGeom prst="rect">
            <a:avLst/>
          </a:prstGeom>
        </p:spPr>
      </p:pic>
      <p:sp>
        <p:nvSpPr>
          <p:cNvPr id="27" name="TextBox 26"/>
          <p:cNvSpPr txBox="1"/>
          <p:nvPr/>
        </p:nvSpPr>
        <p:spPr>
          <a:xfrm>
            <a:off x="9239783" y="3407854"/>
            <a:ext cx="2238679" cy="1688210"/>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온톨로지 영역의 정리</a:t>
            </a:r>
          </a:p>
          <a:p>
            <a:pPr algn="l">
              <a:lnSpc>
                <a:spcPct val="110000"/>
              </a:lnSpc>
              <a:spcAft>
                <a:spcPts val="400"/>
              </a:spcAft>
            </a:pPr>
            <a:r>
              <a:rPr sz="1350" b="0">
                <a:solidFill>
                  <a:srgbClr val="1F2A3A"/>
                </a:solidFill>
                <a:latin typeface="맑은 고딕"/>
                <a:ea typeface="맑은 고딕"/>
                <a:cs typeface="맑은 고딕"/>
              </a:rPr>
              <a:t>네 회차의 결과물이 판단 한 건에서 쓰이는 자리를 설명한다</a:t>
            </a:r>
          </a:p>
        </p:txBody>
      </p:sp>
      <p:sp>
        <p:nvSpPr>
          <p:cNvPr id="28" name="Rounded Rectangle 27"/>
          <p:cNvSpPr/>
          <p:nvPr/>
        </p:nvSpPr>
        <p:spPr>
          <a:xfrm>
            <a:off x="9303791" y="5169217"/>
            <a:ext cx="8229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169217"/>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정리</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목차</a:t>
            </a:r>
          </a:p>
        </p:txBody>
      </p:sp>
      <p:sp>
        <p:nvSpPr>
          <p:cNvPr id="3" name="Rectangle 2"/>
          <p:cNvSpPr/>
          <p:nvPr/>
        </p:nvSpPr>
        <p:spPr>
          <a:xfrm>
            <a:off x="548640" y="1097280"/>
            <a:ext cx="11094415" cy="18288"/>
          </a:xfrm>
          <a:prstGeom prst="rect">
            <a:avLst/>
          </a:prstGeom>
          <a:solidFill>
            <a:srgbClr val="D3D9E1"/>
          </a:solidFill>
          <a:ln>
            <a:noFill/>
          </a:ln>
        </p:spPr>
        <p:txBody>
          <a:bodyPr rtlCol="0" anchor="ctr"/>
          <a:lstStyle/>
          <a:p>
            <a:pPr algn="ctr"/>
          </a:p>
        </p:txBody>
      </p:sp>
      <p:sp>
        <p:nvSpPr>
          <p:cNvPr id="4" name="TextBox 3"/>
          <p:cNvSpPr txBox="1"/>
          <p:nvPr/>
        </p:nvSpPr>
        <p:spPr>
          <a:xfrm>
            <a:off x="548640" y="1600199"/>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01</a:t>
            </a:r>
          </a:p>
        </p:txBody>
      </p:sp>
      <p:sp>
        <p:nvSpPr>
          <p:cNvPr id="5" name="TextBox 4"/>
          <p:cNvSpPr txBox="1"/>
          <p:nvPr/>
        </p:nvSpPr>
        <p:spPr>
          <a:xfrm>
            <a:off x="1417319" y="1600199"/>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인제스천: 현장 자료에서 온톨로지 지식으로</a:t>
            </a:r>
          </a:p>
        </p:txBody>
      </p:sp>
      <p:sp>
        <p:nvSpPr>
          <p:cNvPr id="6" name="Rounded Rectangle 5"/>
          <p:cNvSpPr/>
          <p:nvPr/>
        </p:nvSpPr>
        <p:spPr>
          <a:xfrm>
            <a:off x="10088575" y="1819655"/>
            <a:ext cx="1371600" cy="292608"/>
          </a:xfrm>
          <a:prstGeom prst="roundRect">
            <a:avLst>
              <a:gd name="adj" fmla="val 50000"/>
            </a:avLst>
          </a:prstGeom>
          <a:solidFill>
            <a:srgbClr val="D3D9E1"/>
          </a:solidFill>
          <a:ln>
            <a:noFill/>
          </a:ln>
        </p:spPr>
        <p:txBody>
          <a:bodyPr rtlCol="0" anchor="ctr"/>
          <a:lstStyle/>
          <a:p>
            <a:pPr algn="ctr"/>
          </a:p>
        </p:txBody>
      </p:sp>
      <p:sp>
        <p:nvSpPr>
          <p:cNvPr id="7" name="TextBox 6"/>
          <p:cNvSpPr txBox="1"/>
          <p:nvPr/>
        </p:nvSpPr>
        <p:spPr>
          <a:xfrm>
            <a:off x="10088575" y="1819655"/>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이론</a:t>
            </a:r>
          </a:p>
        </p:txBody>
      </p:sp>
      <p:sp>
        <p:nvSpPr>
          <p:cNvPr id="8" name="Rectangle 7"/>
          <p:cNvSpPr/>
          <p:nvPr/>
        </p:nvSpPr>
        <p:spPr>
          <a:xfrm>
            <a:off x="548640" y="2322576"/>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548640" y="233172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02</a:t>
            </a:r>
          </a:p>
        </p:txBody>
      </p:sp>
      <p:sp>
        <p:nvSpPr>
          <p:cNvPr id="10" name="TextBox 9"/>
          <p:cNvSpPr txBox="1"/>
          <p:nvPr/>
        </p:nvSpPr>
        <p:spPr>
          <a:xfrm>
            <a:off x="1417319" y="233172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매뉴얼의 등록, 추출, 검토, 승인</a:t>
            </a:r>
          </a:p>
        </p:txBody>
      </p:sp>
      <p:sp>
        <p:nvSpPr>
          <p:cNvPr id="11" name="Rounded Rectangle 10"/>
          <p:cNvSpPr/>
          <p:nvPr/>
        </p:nvSpPr>
        <p:spPr>
          <a:xfrm>
            <a:off x="10088575" y="2551175"/>
            <a:ext cx="13716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10088575" y="2551175"/>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실습</a:t>
            </a:r>
          </a:p>
        </p:txBody>
      </p:sp>
      <p:sp>
        <p:nvSpPr>
          <p:cNvPr id="13" name="Rectangle 12"/>
          <p:cNvSpPr/>
          <p:nvPr/>
        </p:nvSpPr>
        <p:spPr>
          <a:xfrm>
            <a:off x="548640" y="3054096"/>
            <a:ext cx="11094415" cy="13716"/>
          </a:xfrm>
          <a:prstGeom prst="rect">
            <a:avLst/>
          </a:prstGeom>
          <a:solidFill>
            <a:srgbClr val="D3D9E1"/>
          </a:solidFill>
          <a:ln>
            <a:noFill/>
          </a:ln>
        </p:spPr>
        <p:txBody>
          <a:bodyPr rtlCol="0" anchor="ctr"/>
          <a:lstStyle/>
          <a:p>
            <a:pPr algn="ctr"/>
          </a:p>
        </p:txBody>
      </p:sp>
      <p:sp>
        <p:nvSpPr>
          <p:cNvPr id="14" name="TextBox 13"/>
          <p:cNvSpPr txBox="1"/>
          <p:nvPr/>
        </p:nvSpPr>
        <p:spPr>
          <a:xfrm>
            <a:off x="548640" y="3063239"/>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03</a:t>
            </a:r>
          </a:p>
        </p:txBody>
      </p:sp>
      <p:sp>
        <p:nvSpPr>
          <p:cNvPr id="15" name="TextBox 14"/>
          <p:cNvSpPr txBox="1"/>
          <p:nvPr/>
        </p:nvSpPr>
        <p:spPr>
          <a:xfrm>
            <a:off x="1417319" y="3063239"/>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바이브 코딩으로 문서에서 지식 추출하기</a:t>
            </a:r>
          </a:p>
        </p:txBody>
      </p:sp>
      <p:sp>
        <p:nvSpPr>
          <p:cNvPr id="16" name="Rounded Rectangle 15"/>
          <p:cNvSpPr/>
          <p:nvPr/>
        </p:nvSpPr>
        <p:spPr>
          <a:xfrm>
            <a:off x="10088575" y="3282695"/>
            <a:ext cx="137160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10088575" y="3282695"/>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실습</a:t>
            </a:r>
          </a:p>
        </p:txBody>
      </p:sp>
      <p:sp>
        <p:nvSpPr>
          <p:cNvPr id="18" name="Rectangle 17"/>
          <p:cNvSpPr/>
          <p:nvPr/>
        </p:nvSpPr>
        <p:spPr>
          <a:xfrm>
            <a:off x="548640" y="3785615"/>
            <a:ext cx="11094415" cy="13716"/>
          </a:xfrm>
          <a:prstGeom prst="rect">
            <a:avLst/>
          </a:prstGeom>
          <a:solidFill>
            <a:srgbClr val="D3D9E1"/>
          </a:solidFill>
          <a:ln>
            <a:noFill/>
          </a:ln>
        </p:spPr>
        <p:txBody>
          <a:bodyPr rtlCol="0" anchor="ctr"/>
          <a:lstStyle/>
          <a:p>
            <a:pPr algn="ctr"/>
          </a:p>
        </p:txBody>
      </p:sp>
      <p:sp>
        <p:nvSpPr>
          <p:cNvPr id="19" name="TextBox 18"/>
          <p:cNvSpPr txBox="1"/>
          <p:nvPr/>
        </p:nvSpPr>
        <p:spPr>
          <a:xfrm>
            <a:off x="548640" y="379476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04</a:t>
            </a:r>
          </a:p>
        </p:txBody>
      </p:sp>
      <p:sp>
        <p:nvSpPr>
          <p:cNvPr id="20" name="TextBox 19"/>
          <p:cNvSpPr txBox="1"/>
          <p:nvPr/>
        </p:nvSpPr>
        <p:spPr>
          <a:xfrm>
            <a:off x="1417319" y="379476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검토한 지식을 그래프 DB에 반영하기</a:t>
            </a:r>
          </a:p>
        </p:txBody>
      </p:sp>
      <p:sp>
        <p:nvSpPr>
          <p:cNvPr id="21" name="Rounded Rectangle 20"/>
          <p:cNvSpPr/>
          <p:nvPr/>
        </p:nvSpPr>
        <p:spPr>
          <a:xfrm>
            <a:off x="10088575" y="4014216"/>
            <a:ext cx="1371600" cy="292608"/>
          </a:xfrm>
          <a:prstGeom prst="roundRect">
            <a:avLst>
              <a:gd name="adj" fmla="val 50000"/>
            </a:avLst>
          </a:prstGeom>
          <a:solidFill>
            <a:srgbClr val="D3D9E1"/>
          </a:solidFill>
          <a:ln>
            <a:noFill/>
          </a:ln>
        </p:spPr>
        <p:txBody>
          <a:bodyPr rtlCol="0" anchor="ctr"/>
          <a:lstStyle/>
          <a:p>
            <a:pPr algn="ctr"/>
          </a:p>
        </p:txBody>
      </p:sp>
      <p:sp>
        <p:nvSpPr>
          <p:cNvPr id="22" name="TextBox 21"/>
          <p:cNvSpPr txBox="1"/>
          <p:nvPr/>
        </p:nvSpPr>
        <p:spPr>
          <a:xfrm>
            <a:off x="10088575" y="401421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실습</a:t>
            </a:r>
          </a:p>
        </p:txBody>
      </p:sp>
      <p:sp>
        <p:nvSpPr>
          <p:cNvPr id="23" name="Rectangle 22"/>
          <p:cNvSpPr/>
          <p:nvPr/>
        </p:nvSpPr>
        <p:spPr>
          <a:xfrm>
            <a:off x="548640" y="4517136"/>
            <a:ext cx="11094415" cy="13716"/>
          </a:xfrm>
          <a:prstGeom prst="rect">
            <a:avLst/>
          </a:prstGeom>
          <a:solidFill>
            <a:srgbClr val="D3D9E1"/>
          </a:solidFill>
          <a:ln>
            <a:noFill/>
          </a:ln>
        </p:spPr>
        <p:txBody>
          <a:bodyPr rtlCol="0" anchor="ctr"/>
          <a:lstStyle/>
          <a:p>
            <a:pPr algn="ctr"/>
          </a:p>
        </p:txBody>
      </p:sp>
      <p:sp>
        <p:nvSpPr>
          <p:cNvPr id="24" name="TextBox 23"/>
          <p:cNvSpPr txBox="1"/>
          <p:nvPr/>
        </p:nvSpPr>
        <p:spPr>
          <a:xfrm>
            <a:off x="548640" y="4526279"/>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05</a:t>
            </a:r>
          </a:p>
        </p:txBody>
      </p:sp>
      <p:sp>
        <p:nvSpPr>
          <p:cNvPr id="25" name="TextBox 24"/>
          <p:cNvSpPr txBox="1"/>
          <p:nvPr/>
        </p:nvSpPr>
        <p:spPr>
          <a:xfrm>
            <a:off x="1417319" y="4526279"/>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지식 개정에 따른 변경 결과 확인</a:t>
            </a:r>
          </a:p>
        </p:txBody>
      </p:sp>
      <p:sp>
        <p:nvSpPr>
          <p:cNvPr id="26" name="Rounded Rectangle 25"/>
          <p:cNvSpPr/>
          <p:nvPr/>
        </p:nvSpPr>
        <p:spPr>
          <a:xfrm>
            <a:off x="10088575" y="4745736"/>
            <a:ext cx="1371600" cy="292608"/>
          </a:xfrm>
          <a:prstGeom prst="roundRect">
            <a:avLst>
              <a:gd name="adj" fmla="val 50000"/>
            </a:avLst>
          </a:prstGeom>
          <a:solidFill>
            <a:srgbClr val="D3D9E1"/>
          </a:solidFill>
          <a:ln>
            <a:noFill/>
          </a:ln>
        </p:spPr>
        <p:txBody>
          <a:bodyPr rtlCol="0" anchor="ctr"/>
          <a:lstStyle/>
          <a:p>
            <a:pPr algn="ctr"/>
          </a:p>
        </p:txBody>
      </p:sp>
      <p:sp>
        <p:nvSpPr>
          <p:cNvPr id="27" name="TextBox 26"/>
          <p:cNvSpPr txBox="1"/>
          <p:nvPr/>
        </p:nvSpPr>
        <p:spPr>
          <a:xfrm>
            <a:off x="10088575" y="474573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실습</a:t>
            </a:r>
          </a:p>
        </p:txBody>
      </p:sp>
      <p:sp>
        <p:nvSpPr>
          <p:cNvPr id="28" name="Rectangle 27"/>
          <p:cNvSpPr/>
          <p:nvPr/>
        </p:nvSpPr>
        <p:spPr>
          <a:xfrm>
            <a:off x="548640" y="5248655"/>
            <a:ext cx="11094415" cy="13716"/>
          </a:xfrm>
          <a:prstGeom prst="rect">
            <a:avLst/>
          </a:prstGeom>
          <a:solidFill>
            <a:srgbClr val="D3D9E1"/>
          </a:solidFill>
          <a:ln>
            <a:noFill/>
          </a:ln>
        </p:spPr>
        <p:txBody>
          <a:bodyPr rtlCol="0" anchor="ctr"/>
          <a:lstStyle/>
          <a:p>
            <a:pPr algn="ctr"/>
          </a:p>
        </p:txBody>
      </p:sp>
      <p:sp>
        <p:nvSpPr>
          <p:cNvPr id="29" name="TextBox 28"/>
          <p:cNvSpPr txBox="1"/>
          <p:nvPr/>
        </p:nvSpPr>
        <p:spPr>
          <a:xfrm>
            <a:off x="548640" y="525780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06</a:t>
            </a:r>
          </a:p>
        </p:txBody>
      </p:sp>
      <p:sp>
        <p:nvSpPr>
          <p:cNvPr id="30" name="TextBox 29"/>
          <p:cNvSpPr txBox="1"/>
          <p:nvPr/>
        </p:nvSpPr>
        <p:spPr>
          <a:xfrm>
            <a:off x="1417319" y="525780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온톨로지 설계에서 지식 활용까지의 전체 과정</a:t>
            </a:r>
          </a:p>
        </p:txBody>
      </p:sp>
      <p:sp>
        <p:nvSpPr>
          <p:cNvPr id="31" name="Rounded Rectangle 30"/>
          <p:cNvSpPr/>
          <p:nvPr/>
        </p:nvSpPr>
        <p:spPr>
          <a:xfrm>
            <a:off x="10088575" y="5477256"/>
            <a:ext cx="1371600" cy="292608"/>
          </a:xfrm>
          <a:prstGeom prst="roundRect">
            <a:avLst>
              <a:gd name="adj" fmla="val 50000"/>
            </a:avLst>
          </a:prstGeom>
          <a:solidFill>
            <a:srgbClr val="D3D9E1"/>
          </a:solidFill>
          <a:ln>
            <a:noFill/>
          </a:ln>
        </p:spPr>
        <p:txBody>
          <a:bodyPr rtlCol="0" anchor="ctr"/>
          <a:lstStyle/>
          <a:p>
            <a:pPr algn="ctr"/>
          </a:p>
        </p:txBody>
      </p:sp>
      <p:sp>
        <p:nvSpPr>
          <p:cNvPr id="32" name="TextBox 31"/>
          <p:cNvSpPr txBox="1"/>
          <p:nvPr/>
        </p:nvSpPr>
        <p:spPr>
          <a:xfrm>
            <a:off x="10088575" y="547725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이론</a:t>
            </a:r>
          </a:p>
        </p:txBody>
      </p:sp>
      <p:sp>
        <p:nvSpPr>
          <p:cNvPr id="33" name="TextBox 32"/>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a:lnSpc>
                <a:spcPct val="110000"/>
              </a:lnSpc>
            </a:pPr>
            <a:r>
              <a:rPr sz="8800" b="1">
                <a:solidFill>
                  <a:srgbClr val="5CB8F2"/>
                </a:solidFill>
                <a:latin typeface="맑은 고딕"/>
                <a:ea typeface="맑은 고딕"/>
                <a:cs typeface="맑은 고딕"/>
              </a:rPr>
              <a:t>01</a:t>
            </a:r>
          </a:p>
        </p:txBody>
      </p:sp>
      <p:sp>
        <p:nvSpPr>
          <p:cNvPr id="5" name="TextBox 4"/>
          <p:cNvSpPr txBox="1"/>
          <p:nvPr/>
        </p:nvSpPr>
        <p:spPr>
          <a:xfrm>
            <a:off x="3017520" y="2011680"/>
            <a:ext cx="8625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인제스천: 현장 자료에서</a:t>
            </a:r>
          </a:p>
          <a:p>
            <a:pPr algn="l">
              <a:lnSpc>
                <a:spcPct val="110000"/>
              </a:lnSpc>
            </a:pPr>
            <a:r>
              <a:rPr sz="3400" b="1">
                <a:solidFill>
                  <a:srgbClr val="13294B"/>
                </a:solidFill>
                <a:latin typeface="맑은 고딕"/>
                <a:ea typeface="맑은 고딕"/>
                <a:cs typeface="맑은 고딕"/>
              </a:rPr>
              <a:t>온톨로지 지식으로</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매뉴얼의 문장을 추출하고 검토해 출처와 함께 지식 그래프에 등록하는 과정</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추천안에 나온 원인, 조치, 출처</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쿨러 사건의 추천안에 나온 원인과 조치와 출처는 모두 매뉴얼 HM-8 한 편에서 온 지식이다.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a:t>
            </a:r>
          </a:p>
        </p:txBody>
      </p:sp>
      <p:sp>
        <p:nvSpPr>
          <p:cNvPr id="6" name="Rounded Rectangle 5"/>
          <p:cNvSpPr/>
          <p:nvPr/>
        </p:nvSpPr>
        <p:spPr>
          <a:xfrm>
            <a:off x="548640" y="2728468"/>
            <a:ext cx="3515258" cy="252577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929636"/>
            <a:ext cx="731520" cy="731520"/>
          </a:xfrm>
          <a:prstGeom prst="ellipse">
            <a:avLst/>
          </a:prstGeom>
          <a:solidFill>
            <a:srgbClr val="E7F3FD"/>
          </a:solidFill>
          <a:ln>
            <a:noFill/>
          </a:ln>
        </p:spPr>
        <p:txBody>
          <a:bodyPr rtlCol="0" anchor="ctr"/>
          <a:lstStyle/>
          <a:p>
            <a:pPr algn="ctr"/>
          </a:p>
        </p:txBody>
      </p:sp>
      <p:pic>
        <p:nvPicPr>
          <p:cNvPr id="8" name="아이콘:filter" descr="filter_13294B_1.6.png"/>
          <p:cNvPicPr>
            <a:picLocks noChangeAspect="1"/>
          </p:cNvPicPr>
          <p:nvPr/>
        </p:nvPicPr>
        <p:blipFill>
          <a:blip r:embed="rId3"/>
          <a:stretch>
            <a:fillRect/>
          </a:stretch>
        </p:blipFill>
        <p:spPr>
          <a:xfrm>
            <a:off x="930859" y="3083255"/>
            <a:ext cx="424281" cy="424281"/>
          </a:xfrm>
          <a:prstGeom prst="rect">
            <a:avLst/>
          </a:prstGeom>
        </p:spPr>
      </p:pic>
      <p:sp>
        <p:nvSpPr>
          <p:cNvPr id="9" name="TextBox 8"/>
          <p:cNvSpPr txBox="1"/>
          <p:nvPr/>
        </p:nvSpPr>
        <p:spPr>
          <a:xfrm>
            <a:off x="713232" y="3752596"/>
            <a:ext cx="3186074" cy="99872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원인</a:t>
            </a:r>
          </a:p>
          <a:p>
            <a:pPr algn="l">
              <a:lnSpc>
                <a:spcPct val="110000"/>
              </a:lnSpc>
              <a:spcAft>
                <a:spcPts val="400"/>
              </a:spcAft>
            </a:pPr>
            <a:r>
              <a:rPr sz="1400" b="0">
                <a:solidFill>
                  <a:srgbClr val="1F2A3A"/>
                </a:solidFill>
                <a:latin typeface="맑은 고딕"/>
                <a:ea typeface="맑은 고딕"/>
                <a:cs typeface="맑은 고딕"/>
              </a:rPr>
              <a:t>쿨러 핀 오염</a:t>
            </a:r>
          </a:p>
        </p:txBody>
      </p:sp>
      <p:sp>
        <p:nvSpPr>
          <p:cNvPr id="10" name="Rounded Rectangle 9"/>
          <p:cNvSpPr/>
          <p:nvPr/>
        </p:nvSpPr>
        <p:spPr>
          <a:xfrm>
            <a:off x="777240" y="4824476"/>
            <a:ext cx="902208"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4824476"/>
            <a:ext cx="902208"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HM-8.4</a:t>
            </a:r>
          </a:p>
        </p:txBody>
      </p:sp>
      <p:sp>
        <p:nvSpPr>
          <p:cNvPr id="12" name="Rounded Rectangle 11"/>
          <p:cNvSpPr/>
          <p:nvPr/>
        </p:nvSpPr>
        <p:spPr>
          <a:xfrm>
            <a:off x="4338218" y="2728468"/>
            <a:ext cx="3515258" cy="252577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929636"/>
            <a:ext cx="731520" cy="731520"/>
          </a:xfrm>
          <a:prstGeom prst="ellipse">
            <a:avLst/>
          </a:prstGeom>
          <a:solidFill>
            <a:srgbClr val="E7F3FD"/>
          </a:solidFill>
          <a:ln>
            <a:noFill/>
          </a:ln>
        </p:spPr>
        <p:txBody>
          <a:bodyPr rtlCol="0" anchor="ctr"/>
          <a:lstStyle/>
          <a:p>
            <a:pPr algn="ctr"/>
          </a:p>
        </p:txBody>
      </p:sp>
      <p:pic>
        <p:nvPicPr>
          <p:cNvPr id="14" name="아이콘:propeller" descr="propeller_13294B_1.6.png"/>
          <p:cNvPicPr>
            <a:picLocks noChangeAspect="1"/>
          </p:cNvPicPr>
          <p:nvPr/>
        </p:nvPicPr>
        <p:blipFill>
          <a:blip r:embed="rId4"/>
          <a:stretch>
            <a:fillRect/>
          </a:stretch>
        </p:blipFill>
        <p:spPr>
          <a:xfrm>
            <a:off x="4720437" y="3083255"/>
            <a:ext cx="424281" cy="424281"/>
          </a:xfrm>
          <a:prstGeom prst="rect">
            <a:avLst/>
          </a:prstGeom>
        </p:spPr>
      </p:pic>
      <p:sp>
        <p:nvSpPr>
          <p:cNvPr id="15" name="TextBox 14"/>
          <p:cNvSpPr txBox="1"/>
          <p:nvPr/>
        </p:nvSpPr>
        <p:spPr>
          <a:xfrm>
            <a:off x="4502810" y="3752596"/>
            <a:ext cx="3186074" cy="99872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추천 조치</a:t>
            </a:r>
          </a:p>
          <a:p>
            <a:pPr algn="l">
              <a:lnSpc>
                <a:spcPct val="110000"/>
              </a:lnSpc>
              <a:spcAft>
                <a:spcPts val="400"/>
              </a:spcAft>
            </a:pPr>
            <a:r>
              <a:rPr sz="1400" b="0">
                <a:solidFill>
                  <a:srgbClr val="1F2A3A"/>
                </a:solidFill>
                <a:latin typeface="맑은 고딕"/>
                <a:ea typeface="맑은 고딕"/>
                <a:cs typeface="맑은 고딕"/>
              </a:rPr>
              <a:t>팬 최대 운전</a:t>
            </a:r>
          </a:p>
        </p:txBody>
      </p:sp>
      <p:sp>
        <p:nvSpPr>
          <p:cNvPr id="16" name="Rounded Rectangle 15"/>
          <p:cNvSpPr/>
          <p:nvPr/>
        </p:nvSpPr>
        <p:spPr>
          <a:xfrm>
            <a:off x="4566818" y="4824476"/>
            <a:ext cx="902208"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4824476"/>
            <a:ext cx="902208"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HM-8.5</a:t>
            </a:r>
          </a:p>
        </p:txBody>
      </p:sp>
      <p:sp>
        <p:nvSpPr>
          <p:cNvPr id="18" name="Rounded Rectangle 17"/>
          <p:cNvSpPr/>
          <p:nvPr/>
        </p:nvSpPr>
        <p:spPr>
          <a:xfrm>
            <a:off x="8127796" y="2728468"/>
            <a:ext cx="3515258" cy="2525776"/>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929636"/>
            <a:ext cx="731520" cy="731520"/>
          </a:xfrm>
          <a:prstGeom prst="ellipse">
            <a:avLst/>
          </a:prstGeom>
          <a:solidFill>
            <a:srgbClr val="5CB8F2"/>
          </a:solidFill>
          <a:ln>
            <a:noFill/>
          </a:ln>
        </p:spPr>
        <p:txBody>
          <a:bodyPr rtlCol="0" anchor="ctr"/>
          <a:lstStyle/>
          <a:p>
            <a:pPr algn="ctr"/>
          </a:p>
        </p:txBody>
      </p:sp>
      <p:pic>
        <p:nvPicPr>
          <p:cNvPr id="20" name="아이콘:book-2" descr="book-2_13294B_1.6.png"/>
          <p:cNvPicPr>
            <a:picLocks noChangeAspect="1"/>
          </p:cNvPicPr>
          <p:nvPr/>
        </p:nvPicPr>
        <p:blipFill>
          <a:blip r:embed="rId5"/>
          <a:stretch>
            <a:fillRect/>
          </a:stretch>
        </p:blipFill>
        <p:spPr>
          <a:xfrm>
            <a:off x="8510016" y="3083255"/>
            <a:ext cx="424281" cy="424281"/>
          </a:xfrm>
          <a:prstGeom prst="rect">
            <a:avLst/>
          </a:prstGeom>
        </p:spPr>
      </p:pic>
      <p:sp>
        <p:nvSpPr>
          <p:cNvPr id="21" name="TextBox 20"/>
          <p:cNvSpPr txBox="1"/>
          <p:nvPr/>
        </p:nvSpPr>
        <p:spPr>
          <a:xfrm>
            <a:off x="8292388" y="3752596"/>
            <a:ext cx="3186074" cy="99872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출처</a:t>
            </a:r>
          </a:p>
          <a:p>
            <a:pPr algn="l">
              <a:lnSpc>
                <a:spcPct val="110000"/>
              </a:lnSpc>
              <a:spcAft>
                <a:spcPts val="400"/>
              </a:spcAft>
            </a:pPr>
            <a:r>
              <a:rPr sz="1400" b="0">
                <a:solidFill>
                  <a:srgbClr val="1F2A3A"/>
                </a:solidFill>
                <a:latin typeface="맑은 고딕"/>
                <a:ea typeface="맑은 고딕"/>
                <a:cs typeface="맑은 고딕"/>
              </a:rPr>
              <a:t>HM-8.5 즉시 완화 조치</a:t>
            </a:r>
          </a:p>
        </p:txBody>
      </p:sp>
      <p:sp>
        <p:nvSpPr>
          <p:cNvPr id="22" name="Rounded Rectangle 21"/>
          <p:cNvSpPr/>
          <p:nvPr/>
        </p:nvSpPr>
        <p:spPr>
          <a:xfrm>
            <a:off x="8356396" y="4824476"/>
            <a:ext cx="117348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4824476"/>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매뉴얼의 절</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인제스천: 원천 자료를 지식으로 들여오는 과정</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문서와 데이터베이스 같은 원천 자료를 온톨로지에 맞는 지식으로 바꾸어 등록하는 과정을 인제스천이라고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a:t>
            </a:r>
          </a:p>
        </p:txBody>
      </p:sp>
      <p:sp>
        <p:nvSpPr>
          <p:cNvPr id="6" name="Rounded Rectangle 5"/>
          <p:cNvSpPr/>
          <p:nvPr/>
        </p:nvSpPr>
        <p:spPr>
          <a:xfrm>
            <a:off x="548640" y="26471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26197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인제스천</a:t>
            </a:r>
          </a:p>
          <a:p>
            <a:pPr algn="l">
              <a:lnSpc>
                <a:spcPct val="110000"/>
              </a:lnSpc>
              <a:spcAft>
                <a:spcPts val="200"/>
              </a:spcAft>
            </a:pPr>
            <a:r>
              <a:rPr sz="1150" b="0">
                <a:solidFill>
                  <a:srgbClr val="556175"/>
                </a:solidFill>
                <a:latin typeface="맑은 고딕"/>
                <a:ea typeface="맑은 고딕"/>
                <a:cs typeface="맑은 고딕"/>
              </a:rPr>
              <a:t>Ingestion</a:t>
            </a:r>
          </a:p>
        </p:txBody>
      </p:sp>
      <p:sp>
        <p:nvSpPr>
          <p:cNvPr id="8" name="TextBox 7"/>
          <p:cNvSpPr txBox="1"/>
          <p:nvPr/>
        </p:nvSpPr>
        <p:spPr>
          <a:xfrm>
            <a:off x="4023359" y="26197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바깥의 자료를 받아들여 시스템이 쓸 수 있는 형태로 바꾸어 넣는 과정이다.</a:t>
            </a:r>
          </a:p>
          <a:p>
            <a:pPr algn="l">
              <a:lnSpc>
                <a:spcPct val="110000"/>
              </a:lnSpc>
              <a:spcAft>
                <a:spcPts val="300"/>
              </a:spcAft>
            </a:pPr>
            <a:r>
              <a:rPr sz="1400" b="0">
                <a:solidFill>
                  <a:srgbClr val="1F2A3A"/>
                </a:solidFill>
                <a:latin typeface="맑은 고딕"/>
                <a:ea typeface="맑은 고딕"/>
                <a:cs typeface="맑은 고딕"/>
              </a:rPr>
              <a:t>여기서는 문서의 내용을 노드와 관계로 옮겨 지식 그래프에 등록하는 일이다.</a:t>
            </a:r>
          </a:p>
        </p:txBody>
      </p:sp>
      <p:sp>
        <p:nvSpPr>
          <p:cNvPr id="9" name="Rectangle 8"/>
          <p:cNvSpPr/>
          <p:nvPr/>
        </p:nvSpPr>
        <p:spPr>
          <a:xfrm>
            <a:off x="548640" y="39822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9913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원천 자료</a:t>
            </a:r>
          </a:p>
          <a:p>
            <a:pPr algn="l">
              <a:lnSpc>
                <a:spcPct val="110000"/>
              </a:lnSpc>
              <a:spcAft>
                <a:spcPts val="200"/>
              </a:spcAft>
            </a:pPr>
            <a:r>
              <a:rPr sz="1150" b="0">
                <a:solidFill>
                  <a:srgbClr val="556175"/>
                </a:solidFill>
                <a:latin typeface="맑은 고딕"/>
                <a:ea typeface="맑은 고딕"/>
                <a:cs typeface="맑은 고딕"/>
              </a:rPr>
              <a:t>Source</a:t>
            </a:r>
          </a:p>
        </p:txBody>
      </p:sp>
      <p:sp>
        <p:nvSpPr>
          <p:cNvPr id="11" name="TextBox 10"/>
          <p:cNvSpPr txBox="1"/>
          <p:nvPr/>
        </p:nvSpPr>
        <p:spPr>
          <a:xfrm>
            <a:off x="4023359" y="39913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지식의 출발점이 되는 자료이다. 매뉴얼, 작업 절차서, 업무 데이터베이스가 있다.</a:t>
            </a:r>
          </a:p>
          <a:p>
            <a:pPr algn="l">
              <a:lnSpc>
                <a:spcPct val="110000"/>
              </a:lnSpc>
              <a:spcAft>
                <a:spcPts val="300"/>
              </a:spcAft>
            </a:pPr>
            <a:r>
              <a:rPr sz="1400" b="0">
                <a:solidFill>
                  <a:srgbClr val="1F2A3A"/>
                </a:solidFill>
                <a:latin typeface="맑은 고딕"/>
                <a:ea typeface="맑은 고딕"/>
                <a:cs typeface="맑은 고딕"/>
              </a:rPr>
              <a:t>예: 쿨러 팬 정비 매뉴얼 HM-8, 정기 점검표 PM-02, 예비품 기준 PR-07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예시 인스턴스의 적재와 문서 인제스천의 차이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직접 넣은 인스턴스와 달리 문서에서 들여온 지식은 근거 원문과 검토 기록이 남아야 판단의 근거로 쓰인다.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a:t>
            </a:r>
          </a:p>
        </p:txBody>
      </p:sp>
      <p:sp>
        <p:nvSpPr>
          <p:cNvPr id="6" name="Rounded Rectangle 5"/>
          <p:cNvSpPr/>
          <p:nvPr/>
        </p:nvSpPr>
        <p:spPr>
          <a:xfrm>
            <a:off x="548640" y="1978215"/>
            <a:ext cx="5181447" cy="4026281"/>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179383"/>
            <a:ext cx="731520" cy="731520"/>
          </a:xfrm>
          <a:prstGeom prst="ellipse">
            <a:avLst/>
          </a:prstGeom>
          <a:solidFill>
            <a:srgbClr val="FFFFFF"/>
          </a:solidFill>
          <a:ln>
            <a:noFill/>
          </a:ln>
        </p:spPr>
        <p:txBody>
          <a:bodyPr rtlCol="0" anchor="ctr"/>
          <a:lstStyle/>
          <a:p>
            <a:pPr algn="ctr"/>
          </a:p>
        </p:txBody>
      </p:sp>
      <p:pic>
        <p:nvPicPr>
          <p:cNvPr id="8" name="아이콘:database-import" descr="database-import_13294B_1.6.png"/>
          <p:cNvPicPr>
            <a:picLocks noChangeAspect="1"/>
          </p:cNvPicPr>
          <p:nvPr/>
        </p:nvPicPr>
        <p:blipFill>
          <a:blip r:embed="rId3"/>
          <a:stretch>
            <a:fillRect/>
          </a:stretch>
        </p:blipFill>
        <p:spPr>
          <a:xfrm>
            <a:off x="976579" y="2333002"/>
            <a:ext cx="424281" cy="424281"/>
          </a:xfrm>
          <a:prstGeom prst="rect">
            <a:avLst/>
          </a:prstGeom>
        </p:spPr>
      </p:pic>
      <p:sp>
        <p:nvSpPr>
          <p:cNvPr id="9" name="TextBox 8"/>
          <p:cNvSpPr txBox="1"/>
          <p:nvPr/>
        </p:nvSpPr>
        <p:spPr>
          <a:xfrm>
            <a:off x="1691640" y="2179383"/>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2회차의 예시 인스턴스 적재</a:t>
            </a:r>
          </a:p>
        </p:txBody>
      </p:sp>
      <p:sp>
        <p:nvSpPr>
          <p:cNvPr id="10" name="TextBox 9"/>
          <p:cNvSpPr txBox="1"/>
          <p:nvPr/>
        </p:nvSpPr>
        <p:spPr>
          <a:xfrm>
            <a:off x="822959" y="3029775"/>
            <a:ext cx="4632807" cy="2426081"/>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넣는 것: 설계한 스키마에 맞춰 사람이 정리한 예시 인스턴스와 관계</a:t>
            </a:r>
          </a:p>
          <a:p>
            <a:pPr algn="l">
              <a:lnSpc>
                <a:spcPct val="110000"/>
              </a:lnSpc>
              <a:spcAft>
                <a:spcPts val="600"/>
              </a:spcAft>
            </a:pPr>
            <a:r>
              <a:rPr sz="1450" b="0">
                <a:solidFill>
                  <a:srgbClr val="1F2A3A"/>
                </a:solidFill>
                <a:latin typeface="맑은 고딕"/>
                <a:ea typeface="맑은 고딕"/>
                <a:cs typeface="맑은 고딕"/>
              </a:rPr>
              <a:t>• 넣는 방법: Cypher 문으로 그래프 DB에 직접 적재한다</a:t>
            </a:r>
          </a:p>
          <a:p>
            <a:pPr algn="l">
              <a:lnSpc>
                <a:spcPct val="110000"/>
              </a:lnSpc>
              <a:spcAft>
                <a:spcPts val="600"/>
              </a:spcAft>
            </a:pPr>
            <a:r>
              <a:rPr sz="1450" b="0">
                <a:solidFill>
                  <a:srgbClr val="1F2A3A"/>
                </a:solidFill>
                <a:latin typeface="맑은 고딕"/>
                <a:ea typeface="맑은 고딕"/>
                <a:cs typeface="맑은 고딕"/>
              </a:rPr>
              <a:t>• 확인: 저장된 노드와 관계가 설계한 것과 같은지 조회해 본다</a:t>
            </a:r>
          </a:p>
          <a:p>
            <a:pPr algn="l">
              <a:lnSpc>
                <a:spcPct val="110000"/>
              </a:lnSpc>
              <a:spcAft>
                <a:spcPts val="600"/>
              </a:spcAft>
            </a:pPr>
            <a:r>
              <a:rPr sz="1450" b="0">
                <a:solidFill>
                  <a:srgbClr val="1F2A3A"/>
                </a:solidFill>
                <a:latin typeface="맑은 고딕"/>
                <a:ea typeface="맑은 고딕"/>
                <a:cs typeface="맑은 고딕"/>
              </a:rPr>
              <a:t>• 내용이 어디에서 왔는지는 넣은 사람이 안다</a:t>
            </a:r>
          </a:p>
        </p:txBody>
      </p:sp>
      <p:sp>
        <p:nvSpPr>
          <p:cNvPr id="11" name="Rounded Rectangle 10"/>
          <p:cNvSpPr/>
          <p:nvPr/>
        </p:nvSpPr>
        <p:spPr>
          <a:xfrm>
            <a:off x="868680" y="5547296"/>
            <a:ext cx="1523999"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547296"/>
            <a:ext cx="15239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직접 정해 넣는다</a:t>
            </a:r>
          </a:p>
        </p:txBody>
      </p:sp>
      <p:sp>
        <p:nvSpPr>
          <p:cNvPr id="13" name="Rounded Rectangle 12"/>
          <p:cNvSpPr/>
          <p:nvPr/>
        </p:nvSpPr>
        <p:spPr>
          <a:xfrm>
            <a:off x="6461607" y="1978215"/>
            <a:ext cx="5181447" cy="4026281"/>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179383"/>
            <a:ext cx="731520" cy="731520"/>
          </a:xfrm>
          <a:prstGeom prst="ellipse">
            <a:avLst/>
          </a:prstGeom>
          <a:solidFill>
            <a:srgbClr val="5CB8F2"/>
          </a:solidFill>
          <a:ln>
            <a:noFill/>
          </a:ln>
        </p:spPr>
        <p:txBody>
          <a:bodyPr rtlCol="0" anchor="ctr"/>
          <a:lstStyle/>
          <a:p>
            <a:pPr algn="ctr"/>
          </a:p>
        </p:txBody>
      </p:sp>
      <p:pic>
        <p:nvPicPr>
          <p:cNvPr id="15" name="아이콘:file-import" descr="file-import_13294B_1.6.png"/>
          <p:cNvPicPr>
            <a:picLocks noChangeAspect="1"/>
          </p:cNvPicPr>
          <p:nvPr/>
        </p:nvPicPr>
        <p:blipFill>
          <a:blip r:embed="rId4"/>
          <a:stretch>
            <a:fillRect/>
          </a:stretch>
        </p:blipFill>
        <p:spPr>
          <a:xfrm>
            <a:off x="6889546" y="2333002"/>
            <a:ext cx="424281" cy="424281"/>
          </a:xfrm>
          <a:prstGeom prst="rect">
            <a:avLst/>
          </a:prstGeom>
        </p:spPr>
      </p:pic>
      <p:sp>
        <p:nvSpPr>
          <p:cNvPr id="16" name="TextBox 15"/>
          <p:cNvSpPr txBox="1"/>
          <p:nvPr/>
        </p:nvSpPr>
        <p:spPr>
          <a:xfrm>
            <a:off x="7604607" y="2179383"/>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문서 인제스천</a:t>
            </a:r>
          </a:p>
        </p:txBody>
      </p:sp>
      <p:sp>
        <p:nvSpPr>
          <p:cNvPr id="17" name="TextBox 16"/>
          <p:cNvSpPr txBox="1"/>
          <p:nvPr/>
        </p:nvSpPr>
        <p:spPr>
          <a:xfrm>
            <a:off x="6735927" y="3029775"/>
            <a:ext cx="4632807" cy="2426081"/>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넣는 것: 매뉴얼 원문에서 추출한 지식 후보</a:t>
            </a:r>
          </a:p>
          <a:p>
            <a:pPr algn="l">
              <a:lnSpc>
                <a:spcPct val="110000"/>
              </a:lnSpc>
              <a:spcAft>
                <a:spcPts val="600"/>
              </a:spcAft>
            </a:pPr>
            <a:r>
              <a:rPr sz="1450" b="0">
                <a:solidFill>
                  <a:srgbClr val="1F2A3A"/>
                </a:solidFill>
                <a:latin typeface="맑은 고딕"/>
                <a:ea typeface="맑은 고딕"/>
                <a:cs typeface="맑은 고딕"/>
              </a:rPr>
              <a:t>• 넣는 방법: 스키마와 식별자에 맞추고 원문 대조, 사람 검토, 승인을 거친 것만 적재한다</a:t>
            </a:r>
          </a:p>
          <a:p>
            <a:pPr algn="l">
              <a:lnSpc>
                <a:spcPct val="110000"/>
              </a:lnSpc>
              <a:spcAft>
                <a:spcPts val="600"/>
              </a:spcAft>
            </a:pPr>
            <a:r>
              <a:rPr sz="1450" b="0">
                <a:solidFill>
                  <a:srgbClr val="1F2A3A"/>
                </a:solidFill>
                <a:latin typeface="맑은 고딕"/>
                <a:ea typeface="맑은 고딕"/>
                <a:cs typeface="맑은 고딕"/>
              </a:rPr>
              <a:t>• 확인: 지식마다 근거가 된 원문 구간과 검토한 사람이 기록된다</a:t>
            </a:r>
          </a:p>
          <a:p>
            <a:pPr algn="l">
              <a:lnSpc>
                <a:spcPct val="110000"/>
              </a:lnSpc>
              <a:spcAft>
                <a:spcPts val="600"/>
              </a:spcAft>
            </a:pPr>
            <a:r>
              <a:rPr sz="1450" b="0">
                <a:solidFill>
                  <a:srgbClr val="1F2A3A"/>
                </a:solidFill>
                <a:latin typeface="맑은 고딕"/>
                <a:ea typeface="맑은 고딕"/>
                <a:cs typeface="맑은 고딕"/>
              </a:rPr>
              <a:t>• 손으로 옮기면 느리고 빠뜨리며 개정 때마다 되풀이되므로 정해진 과정으로 둔다</a:t>
            </a:r>
          </a:p>
        </p:txBody>
      </p:sp>
      <p:sp>
        <p:nvSpPr>
          <p:cNvPr id="18" name="Rounded Rectangle 17"/>
          <p:cNvSpPr/>
          <p:nvPr/>
        </p:nvSpPr>
        <p:spPr>
          <a:xfrm>
            <a:off x="6781647" y="5547296"/>
            <a:ext cx="1676399"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547296"/>
            <a:ext cx="16763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검토해 출처와 함께</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문서가 지식이 되는 일곱 단계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원천 자료는 보관, 분석, 추출, 매핑, 대조와 검토, 적재를 차례로 거친 뒤에야 조회할 수 있는 지식이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a:t>
            </a:r>
          </a:p>
        </p:txBody>
      </p:sp>
      <p:pic>
        <p:nvPicPr>
          <p:cNvPr id="6" name="삽화:인제스천_전체.svg" descr="illust_8327570329662586392_1791770333.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59290" y="2927680"/>
            <a:ext cx="240008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1. 원천 확보와 보관</a:t>
            </a:r>
          </a:p>
        </p:txBody>
      </p:sp>
      <p:sp>
        <p:nvSpPr>
          <p:cNvPr id="8" name="TextBox 7"/>
          <p:cNvSpPr txBox="1"/>
          <p:nvPr/>
        </p:nvSpPr>
        <p:spPr>
          <a:xfrm>
            <a:off x="3553935" y="2927680"/>
            <a:ext cx="240008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2. 문서 내용 분석</a:t>
            </a:r>
          </a:p>
        </p:txBody>
      </p:sp>
      <p:sp>
        <p:nvSpPr>
          <p:cNvPr id="9" name="TextBox 8"/>
          <p:cNvSpPr txBox="1"/>
          <p:nvPr/>
        </p:nvSpPr>
        <p:spPr>
          <a:xfrm>
            <a:off x="6237671" y="2927680"/>
            <a:ext cx="2400088" cy="375920"/>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3. 지식 후보 추출</a:t>
            </a:r>
          </a:p>
        </p:txBody>
      </p:sp>
      <p:sp>
        <p:nvSpPr>
          <p:cNvPr id="10" name="TextBox 9"/>
          <p:cNvSpPr txBox="1"/>
          <p:nvPr/>
        </p:nvSpPr>
        <p:spPr>
          <a:xfrm>
            <a:off x="8932316" y="2927680"/>
            <a:ext cx="2400088" cy="62382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4. 스키마 · 식별자 매핑</a:t>
            </a:r>
          </a:p>
        </p:txBody>
      </p:sp>
      <p:sp>
        <p:nvSpPr>
          <p:cNvPr id="11" name="TextBox 10"/>
          <p:cNvSpPr txBox="1"/>
          <p:nvPr/>
        </p:nvSpPr>
        <p:spPr>
          <a:xfrm>
            <a:off x="6608593" y="1674906"/>
            <a:ext cx="436379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언어 모델이 문서를 읽고 후보를 만드는 단계</a:t>
            </a:r>
          </a:p>
        </p:txBody>
      </p:sp>
      <p:sp>
        <p:nvSpPr>
          <p:cNvPr id="12" name="TextBox 11"/>
          <p:cNvSpPr txBox="1"/>
          <p:nvPr/>
        </p:nvSpPr>
        <p:spPr>
          <a:xfrm>
            <a:off x="859290" y="5220492"/>
            <a:ext cx="240008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5. 대조와 사람 검토</a:t>
            </a:r>
          </a:p>
        </p:txBody>
      </p:sp>
      <p:sp>
        <p:nvSpPr>
          <p:cNvPr id="13" name="TextBox 12"/>
          <p:cNvSpPr txBox="1"/>
          <p:nvPr/>
        </p:nvSpPr>
        <p:spPr>
          <a:xfrm>
            <a:off x="3553935" y="5220492"/>
            <a:ext cx="240008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6. 승인된 지식 적재</a:t>
            </a:r>
          </a:p>
        </p:txBody>
      </p:sp>
      <p:sp>
        <p:nvSpPr>
          <p:cNvPr id="14" name="TextBox 13"/>
          <p:cNvSpPr txBox="1"/>
          <p:nvPr/>
        </p:nvSpPr>
        <p:spPr>
          <a:xfrm>
            <a:off x="6237671" y="5220492"/>
            <a:ext cx="240008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7. 관계 · 출처 조회</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1단계 원천 확보와 보관: 원문 고정과 문서 식별자</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원문을 고쳐지지 않게 보관하고 문서마다 식별자를 발급해야 뒤의 대조와 검토가 같은 원문과 같은 문서를 가리킨다.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9</a:t>
            </a:r>
          </a:p>
        </p:txBody>
      </p:sp>
      <p:sp>
        <p:nvSpPr>
          <p:cNvPr id="6" name="Rounded Rectangle 5"/>
          <p:cNvSpPr/>
          <p:nvPr/>
        </p:nvSpPr>
        <p:spPr>
          <a:xfrm>
            <a:off x="548640"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04262"/>
            <a:ext cx="731520" cy="731520"/>
          </a:xfrm>
          <a:prstGeom prst="ellipse">
            <a:avLst/>
          </a:prstGeom>
          <a:solidFill>
            <a:srgbClr val="E7F3FD"/>
          </a:solidFill>
          <a:ln>
            <a:noFill/>
          </a:ln>
        </p:spPr>
        <p:txBody>
          <a:bodyPr rtlCol="0" anchor="ctr"/>
          <a:lstStyle/>
          <a:p>
            <a:pPr algn="ctr"/>
          </a:p>
        </p:txBody>
      </p:sp>
      <p:pic>
        <p:nvPicPr>
          <p:cNvPr id="8" name="아이콘:lock" descr="lock_13294B_1.6.png"/>
          <p:cNvPicPr>
            <a:picLocks noChangeAspect="1"/>
          </p:cNvPicPr>
          <p:nvPr/>
        </p:nvPicPr>
        <p:blipFill>
          <a:blip r:embed="rId3"/>
          <a:stretch>
            <a:fillRect/>
          </a:stretch>
        </p:blipFill>
        <p:spPr>
          <a:xfrm>
            <a:off x="930859" y="2757881"/>
            <a:ext cx="424281" cy="424281"/>
          </a:xfrm>
          <a:prstGeom prst="rect">
            <a:avLst/>
          </a:prstGeom>
        </p:spPr>
      </p:pic>
      <p:sp>
        <p:nvSpPr>
          <p:cNvPr id="9" name="TextBox 8"/>
          <p:cNvSpPr txBox="1"/>
          <p:nvPr/>
        </p:nvSpPr>
        <p:spPr>
          <a:xfrm>
            <a:off x="713232"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원문 보관</a:t>
            </a:r>
          </a:p>
          <a:p>
            <a:pPr algn="l">
              <a:lnSpc>
                <a:spcPct val="110000"/>
              </a:lnSpc>
              <a:spcAft>
                <a:spcPts val="400"/>
              </a:spcAft>
            </a:pPr>
            <a:r>
              <a:rPr sz="1400" b="0">
                <a:solidFill>
                  <a:srgbClr val="1F2A3A"/>
                </a:solidFill>
                <a:latin typeface="맑은 고딕"/>
                <a:ea typeface="맑은 고딕"/>
                <a:cs typeface="맑은 고딕"/>
              </a:rPr>
              <a:t>• 받은 문서를 고치지 못하게 그대로 보관한다</a:t>
            </a:r>
          </a:p>
          <a:p>
            <a:pPr algn="l">
              <a:lnSpc>
                <a:spcPct val="110000"/>
              </a:lnSpc>
              <a:spcAft>
                <a:spcPts val="400"/>
              </a:spcAft>
            </a:pPr>
            <a:r>
              <a:rPr sz="1400" b="0">
                <a:solidFill>
                  <a:srgbClr val="1F2A3A"/>
                </a:solidFill>
                <a:latin typeface="맑은 고딕"/>
                <a:ea typeface="맑은 고딕"/>
                <a:cs typeface="맑은 고딕"/>
              </a:rPr>
              <a:t>• 뒤의 대조와 검토가 모두 이 원문을 기준으로 한다</a:t>
            </a:r>
          </a:p>
        </p:txBody>
      </p:sp>
      <p:sp>
        <p:nvSpPr>
          <p:cNvPr id="10" name="Rounded Rectangle 9"/>
          <p:cNvSpPr/>
          <p:nvPr/>
        </p:nvSpPr>
        <p:spPr>
          <a:xfrm>
            <a:off x="777240" y="5149850"/>
            <a:ext cx="11734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49850"/>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고정된 원문</a:t>
            </a:r>
          </a:p>
        </p:txBody>
      </p:sp>
      <p:sp>
        <p:nvSpPr>
          <p:cNvPr id="12" name="Rounded Rectangle 11"/>
          <p:cNvSpPr/>
          <p:nvPr/>
        </p:nvSpPr>
        <p:spPr>
          <a:xfrm>
            <a:off x="4338218"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604262"/>
            <a:ext cx="731520" cy="731520"/>
          </a:xfrm>
          <a:prstGeom prst="ellipse">
            <a:avLst/>
          </a:prstGeom>
          <a:solidFill>
            <a:srgbClr val="E7F3FD"/>
          </a:solidFill>
          <a:ln>
            <a:noFill/>
          </a:ln>
        </p:spPr>
        <p:txBody>
          <a:bodyPr rtlCol="0" anchor="ctr"/>
          <a:lstStyle/>
          <a:p>
            <a:pPr algn="ctr"/>
          </a:p>
        </p:txBody>
      </p:sp>
      <p:pic>
        <p:nvPicPr>
          <p:cNvPr id="14" name="아이콘:file-text" descr="file-text_13294B_1.6.png"/>
          <p:cNvPicPr>
            <a:picLocks noChangeAspect="1"/>
          </p:cNvPicPr>
          <p:nvPr/>
        </p:nvPicPr>
        <p:blipFill>
          <a:blip r:embed="rId4"/>
          <a:stretch>
            <a:fillRect/>
          </a:stretch>
        </p:blipFill>
        <p:spPr>
          <a:xfrm>
            <a:off x="4720437" y="2757881"/>
            <a:ext cx="424281" cy="424281"/>
          </a:xfrm>
          <a:prstGeom prst="rect">
            <a:avLst/>
          </a:prstGeom>
        </p:spPr>
      </p:pic>
      <p:sp>
        <p:nvSpPr>
          <p:cNvPr id="15" name="TextBox 14"/>
          <p:cNvSpPr txBox="1"/>
          <p:nvPr/>
        </p:nvSpPr>
        <p:spPr>
          <a:xfrm>
            <a:off x="4502810"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파일 이름</a:t>
            </a:r>
          </a:p>
          <a:p>
            <a:pPr algn="l">
              <a:lnSpc>
                <a:spcPct val="110000"/>
              </a:lnSpc>
              <a:spcAft>
                <a:spcPts val="400"/>
              </a:spcAft>
            </a:pPr>
            <a:r>
              <a:rPr sz="1400" b="0">
                <a:solidFill>
                  <a:srgbClr val="1F2A3A"/>
                </a:solidFill>
                <a:latin typeface="맑은 고딕"/>
                <a:ea typeface="맑은 고딕"/>
                <a:cs typeface="맑은 고딕"/>
              </a:rPr>
              <a:t>• 누구나 바꿀 수 있다</a:t>
            </a:r>
          </a:p>
          <a:p>
            <a:pPr algn="l">
              <a:lnSpc>
                <a:spcPct val="110000"/>
              </a:lnSpc>
              <a:spcAft>
                <a:spcPts val="400"/>
              </a:spcAft>
            </a:pPr>
            <a:r>
              <a:rPr sz="1400" b="0">
                <a:solidFill>
                  <a:srgbClr val="1F2A3A"/>
                </a:solidFill>
                <a:latin typeface="맑은 고딕"/>
                <a:ea typeface="맑은 고딕"/>
                <a:cs typeface="맑은 고딕"/>
              </a:rPr>
              <a:t>• 서로 다른 문서가 같은 이름을 가질 수 있다</a:t>
            </a:r>
          </a:p>
        </p:txBody>
      </p:sp>
      <p:sp>
        <p:nvSpPr>
          <p:cNvPr id="16" name="Rounded Rectangle 15"/>
          <p:cNvSpPr/>
          <p:nvPr/>
        </p:nvSpPr>
        <p:spPr>
          <a:xfrm>
            <a:off x="4566818" y="5149850"/>
            <a:ext cx="1325879"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149850"/>
            <a:ext cx="132587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바뀌고 겹친다</a:t>
            </a:r>
          </a:p>
        </p:txBody>
      </p:sp>
      <p:sp>
        <p:nvSpPr>
          <p:cNvPr id="18" name="Rounded Rectangle 17"/>
          <p:cNvSpPr/>
          <p:nvPr/>
        </p:nvSpPr>
        <p:spPr>
          <a:xfrm>
            <a:off x="8127796" y="2403094"/>
            <a:ext cx="3515258" cy="3176523"/>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604262"/>
            <a:ext cx="731520" cy="731520"/>
          </a:xfrm>
          <a:prstGeom prst="ellipse">
            <a:avLst/>
          </a:prstGeom>
          <a:solidFill>
            <a:srgbClr val="5CB8F2"/>
          </a:solidFill>
          <a:ln>
            <a:noFill/>
          </a:ln>
        </p:spPr>
        <p:txBody>
          <a:bodyPr rtlCol="0" anchor="ctr"/>
          <a:lstStyle/>
          <a:p>
            <a:pPr algn="ctr"/>
          </a:p>
        </p:txBody>
      </p:sp>
      <p:pic>
        <p:nvPicPr>
          <p:cNvPr id="20" name="아이콘:id" descr="id_13294B_1.6.png"/>
          <p:cNvPicPr>
            <a:picLocks noChangeAspect="1"/>
          </p:cNvPicPr>
          <p:nvPr/>
        </p:nvPicPr>
        <p:blipFill>
          <a:blip r:embed="rId5"/>
          <a:stretch>
            <a:fillRect/>
          </a:stretch>
        </p:blipFill>
        <p:spPr>
          <a:xfrm>
            <a:off x="8510016" y="2757881"/>
            <a:ext cx="424281" cy="424281"/>
          </a:xfrm>
          <a:prstGeom prst="rect">
            <a:avLst/>
          </a:prstGeom>
        </p:spPr>
      </p:pic>
      <p:sp>
        <p:nvSpPr>
          <p:cNvPr id="21" name="TextBox 20"/>
          <p:cNvSpPr txBox="1"/>
          <p:nvPr/>
        </p:nvSpPr>
        <p:spPr>
          <a:xfrm>
            <a:off x="8292388"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문서 식별자</a:t>
            </a:r>
          </a:p>
          <a:p>
            <a:pPr algn="l">
              <a:lnSpc>
                <a:spcPct val="110000"/>
              </a:lnSpc>
              <a:spcAft>
                <a:spcPts val="400"/>
              </a:spcAft>
            </a:pPr>
            <a:r>
              <a:rPr sz="1400" b="0">
                <a:solidFill>
                  <a:srgbClr val="1F2A3A"/>
                </a:solidFill>
                <a:latin typeface="맑은 고딕"/>
                <a:ea typeface="맑은 고딕"/>
                <a:cs typeface="맑은 고딕"/>
              </a:rPr>
              <a:t>• 보관할 때 문서마다 새로 발급한다</a:t>
            </a:r>
          </a:p>
          <a:p>
            <a:pPr algn="l">
              <a:lnSpc>
                <a:spcPct val="110000"/>
              </a:lnSpc>
              <a:spcAft>
                <a:spcPts val="400"/>
              </a:spcAft>
            </a:pPr>
            <a:r>
              <a:rPr sz="1400" b="0">
                <a:solidFill>
                  <a:srgbClr val="1F2A3A"/>
                </a:solidFill>
                <a:latin typeface="맑은 고딕"/>
                <a:ea typeface="맑은 고딕"/>
                <a:cs typeface="맑은 고딕"/>
              </a:rPr>
              <a:t>• 개정판을 올려도 같은 문서는 같은 식별자를 쓴다</a:t>
            </a:r>
          </a:p>
        </p:txBody>
      </p:sp>
      <p:sp>
        <p:nvSpPr>
          <p:cNvPr id="22" name="Rounded Rectangle 21"/>
          <p:cNvSpPr/>
          <p:nvPr/>
        </p:nvSpPr>
        <p:spPr>
          <a:xfrm>
            <a:off x="8356396" y="5149850"/>
            <a:ext cx="147828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149850"/>
            <a:ext cx="14782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하나만 가리킨다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3단계 지식 후보 추출과 LLM</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정리되지 않은 문장에서 원인과 조건을 가리려면 뜻을 읽어야 하므로 지식 후보의 추출은 LLM이 맡는다.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10</a:t>
            </a:r>
          </a:p>
        </p:txBody>
      </p:sp>
      <p:sp>
        <p:nvSpPr>
          <p:cNvPr id="6" name="TextBox 5"/>
          <p:cNvSpPr txBox="1"/>
          <p:nvPr/>
        </p:nvSpPr>
        <p:spPr>
          <a:xfrm>
            <a:off x="640080" y="19339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지식 후보</a:t>
            </a:r>
          </a:p>
          <a:p>
            <a:pPr algn="l">
              <a:lnSpc>
                <a:spcPct val="110000"/>
              </a:lnSpc>
              <a:spcAft>
                <a:spcPts val="200"/>
              </a:spcAft>
            </a:pPr>
            <a:r>
              <a:rPr sz="1150" b="0">
                <a:solidFill>
                  <a:srgbClr val="556175"/>
                </a:solidFill>
                <a:latin typeface="맑은 고딕"/>
                <a:ea typeface="맑은 고딕"/>
                <a:cs typeface="맑은 고딕"/>
              </a:rPr>
              <a:t>3단계의 결과</a:t>
            </a:r>
          </a:p>
        </p:txBody>
      </p:sp>
      <p:sp>
        <p:nvSpPr>
          <p:cNvPr id="7" name="TextBox 6"/>
          <p:cNvSpPr txBox="1"/>
          <p:nvPr/>
        </p:nvSpPr>
        <p:spPr>
          <a:xfrm>
            <a:off x="4023359" y="19339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2단계에서 절과 단계로 구조를 가려 둔 원문을 모델이 읽고 원인, 조치, 조건을 정해진 형식으로 뽑은 제안이다.</a:t>
            </a:r>
          </a:p>
          <a:p>
            <a:pPr algn="l">
              <a:lnSpc>
                <a:spcPct val="110000"/>
              </a:lnSpc>
              <a:spcAft>
                <a:spcPts val="300"/>
              </a:spcAft>
            </a:pPr>
            <a:r>
              <a:rPr sz="1400" b="0">
                <a:solidFill>
                  <a:srgbClr val="1F2A3A"/>
                </a:solidFill>
                <a:latin typeface="맑은 고딕"/>
                <a:ea typeface="맑은 고딕"/>
                <a:cs typeface="맑은 고딕"/>
              </a:rPr>
              <a:t>검토와 승인을 거치기 전이므로 아직 지식이 아니다.</a:t>
            </a:r>
          </a:p>
        </p:txBody>
      </p:sp>
      <p:sp>
        <p:nvSpPr>
          <p:cNvPr id="8" name="Rectangle 7"/>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9" name="Rounded Rectangle 8"/>
          <p:cNvSpPr/>
          <p:nvPr/>
        </p:nvSpPr>
        <p:spPr>
          <a:xfrm>
            <a:off x="548640" y="3332988"/>
            <a:ext cx="11094415" cy="1316736"/>
          </a:xfrm>
          <a:prstGeom prst="roundRect">
            <a:avLst>
              <a:gd name="adj" fmla="val 6000"/>
            </a:avLst>
          </a:prstGeom>
          <a:solidFill>
            <a:srgbClr val="E7F3FD"/>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LLM</a:t>
            </a:r>
          </a:p>
          <a:p>
            <a:pPr algn="l">
              <a:lnSpc>
                <a:spcPct val="110000"/>
              </a:lnSpc>
              <a:spcAft>
                <a:spcPts val="200"/>
              </a:spcAft>
            </a:pPr>
            <a:r>
              <a:rPr sz="1150" b="0">
                <a:solidFill>
                  <a:srgbClr val="556175"/>
                </a:solidFill>
                <a:latin typeface="맑은 고딕"/>
                <a:ea typeface="맑은 고딕"/>
                <a:cs typeface="맑은 고딕"/>
              </a:rPr>
              <a:t>Large Language Model</a:t>
            </a:r>
          </a:p>
        </p:txBody>
      </p:sp>
      <p:sp>
        <p:nvSpPr>
          <p:cNvPr id="11" name="TextBox 10"/>
          <p:cNvSpPr txBox="1"/>
          <p:nvPr/>
        </p:nvSpPr>
        <p:spPr>
          <a:xfrm>
            <a:off x="4023359" y="33055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방대한 글을 학습해 문장을 이해하고 만들어 내는 언어 모델이다.</a:t>
            </a:r>
          </a:p>
          <a:p>
            <a:pPr algn="l">
              <a:lnSpc>
                <a:spcPct val="110000"/>
              </a:lnSpc>
              <a:spcAft>
                <a:spcPts val="300"/>
              </a:spcAft>
            </a:pPr>
            <a:r>
              <a:rPr sz="1400" b="0">
                <a:solidFill>
                  <a:srgbClr val="1F2A3A"/>
                </a:solidFill>
                <a:latin typeface="맑은 고딕"/>
                <a:ea typeface="맑은 고딕"/>
                <a:cs typeface="맑은 고딕"/>
              </a:rPr>
              <a:t>예: 「팬은 정상이면 핀 오염으로 판정한다」에서 조건과 결론을 가려낸다.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비유: 문서를 처음 맡은 신입 사원</a:t>
            </a:r>
          </a:p>
          <a:p>
            <a:pPr algn="l">
              <a:lnSpc>
                <a:spcPct val="110000"/>
              </a:lnSpc>
              <a:spcAft>
                <a:spcPts val="200"/>
              </a:spcAft>
            </a:pPr>
            <a:r>
              <a:rPr sz="1150" b="0">
                <a:solidFill>
                  <a:srgbClr val="556175"/>
                </a:solidFill>
                <a:latin typeface="맑은 고딕"/>
                <a:ea typeface="맑은 고딕"/>
                <a:cs typeface="맑은 고딕"/>
              </a:rPr>
              <a:t>비유</a:t>
            </a:r>
          </a:p>
        </p:txBody>
      </p:sp>
      <p:sp>
        <p:nvSpPr>
          <p:cNvPr id="14" name="TextBox 13"/>
          <p:cNvSpPr txBox="1"/>
          <p:nvPr/>
        </p:nvSpPr>
        <p:spPr>
          <a:xfrm>
            <a:off x="4023359" y="46771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닮은 점: 처음 보는 문서도 읽고 요지를 항목으로 정리한다.</a:t>
            </a:r>
          </a:p>
          <a:p>
            <a:pPr algn="l">
              <a:lnSpc>
                <a:spcPct val="110000"/>
              </a:lnSpc>
              <a:spcAft>
                <a:spcPts val="300"/>
              </a:spcAft>
            </a:pPr>
            <a:r>
              <a:rPr sz="1400" b="0">
                <a:solidFill>
                  <a:srgbClr val="1F2A3A"/>
                </a:solidFill>
                <a:latin typeface="맑은 고딕"/>
                <a:ea typeface="맑은 고딕"/>
                <a:cs typeface="맑은 고딕"/>
              </a:rPr>
              <a:t>다른 점: 모르는 부분도 그럴듯하게 채워 적을 수 있어 원문과 대조해야 한다.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4단계 스키마 · 식별자 매핑: 새 지식과 등록된 대상</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후보는 스키마의 클래스에 맞추고 등록된 대상은 식별자로 가리켜야 새 지식이 기존 그래프에 이어진다.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11</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circle-plus" descr="circle-plus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문서가 새로 알려 주는 지식</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매뉴얼의 절, 조치 방법과 단계</a:t>
            </a:r>
          </a:p>
          <a:p>
            <a:pPr algn="l">
              <a:lnSpc>
                <a:spcPct val="110000"/>
              </a:lnSpc>
              <a:spcAft>
                <a:spcPts val="600"/>
              </a:spcAft>
            </a:pPr>
            <a:r>
              <a:rPr sz="1450" b="0">
                <a:solidFill>
                  <a:srgbClr val="1F2A3A"/>
                </a:solidFill>
                <a:latin typeface="맑은 고딕"/>
                <a:ea typeface="맑은 고딕"/>
                <a:cs typeface="맑은 고딕"/>
              </a:rPr>
              <a:t>• 고장 유형, 원인, 증거</a:t>
            </a:r>
          </a:p>
          <a:p>
            <a:pPr algn="l">
              <a:lnSpc>
                <a:spcPct val="110000"/>
              </a:lnSpc>
              <a:spcAft>
                <a:spcPts val="600"/>
              </a:spcAft>
            </a:pPr>
            <a:r>
              <a:rPr sz="1450" b="0">
                <a:solidFill>
                  <a:srgbClr val="1F2A3A"/>
                </a:solidFill>
                <a:latin typeface="맑은 고딕"/>
                <a:ea typeface="맑은 고딕"/>
                <a:cs typeface="맑은 고딕"/>
              </a:rPr>
              <a:t>• 판단 규칙</a:t>
            </a:r>
          </a:p>
        </p:txBody>
      </p:sp>
      <p:sp>
        <p:nvSpPr>
          <p:cNvPr id="11" name="Rounded Rectangle 10"/>
          <p:cNvSpPr/>
          <p:nvPr/>
        </p:nvSpPr>
        <p:spPr>
          <a:xfrm>
            <a:off x="868680" y="4945570"/>
            <a:ext cx="8686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8686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새 후보</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link" descr="link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이미 등록된 대상</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구성 요소, 부품, 공급사, 증상</a:t>
            </a:r>
          </a:p>
          <a:p>
            <a:pPr algn="l">
              <a:lnSpc>
                <a:spcPct val="110000"/>
              </a:lnSpc>
              <a:spcAft>
                <a:spcPts val="600"/>
              </a:spcAft>
            </a:pPr>
            <a:r>
              <a:rPr sz="1450" b="0">
                <a:solidFill>
                  <a:srgbClr val="1F2A3A"/>
                </a:solidFill>
                <a:latin typeface="맑은 고딕"/>
                <a:ea typeface="맑은 고딕"/>
                <a:cs typeface="맑은 고딕"/>
              </a:rPr>
              <a:t>• 상태 변수, 성과 지표, 승인 역할</a:t>
            </a:r>
          </a:p>
          <a:p>
            <a:pPr algn="l">
              <a:lnSpc>
                <a:spcPct val="110000"/>
              </a:lnSpc>
              <a:spcAft>
                <a:spcPts val="600"/>
              </a:spcAft>
            </a:pPr>
            <a:r>
              <a:rPr sz="1450" b="0">
                <a:solidFill>
                  <a:srgbClr val="1F2A3A"/>
                </a:solidFill>
                <a:latin typeface="맑은 고딕"/>
                <a:ea typeface="맑은 고딕"/>
                <a:cs typeface="맑은 고딕"/>
              </a:rPr>
              <a:t>• 입력 데이터와 결정표</a:t>
            </a:r>
          </a:p>
        </p:txBody>
      </p:sp>
      <p:sp>
        <p:nvSpPr>
          <p:cNvPr id="18" name="Rounded Rectangle 17"/>
          <p:cNvSpPr/>
          <p:nvPr/>
        </p:nvSpPr>
        <p:spPr>
          <a:xfrm>
            <a:off x="6781647" y="4945570"/>
            <a:ext cx="11734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기존 식별자</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추출에서 생길 수 있는 네 가지 오류</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네 가지 오류는 정해진 형식에는 맞아 프로그램의 검사로 드러나지 않으므로 원문과 나란히 놓고 대조해야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12</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오류</a:t>
            </a:r>
          </a:p>
        </p:txBody>
      </p:sp>
      <p:sp>
        <p:nvSpPr>
          <p:cNvPr id="8" name="TextBox 7"/>
          <p:cNvSpPr txBox="1"/>
          <p:nvPr/>
        </p:nvSpPr>
        <p:spPr>
          <a:xfrm>
            <a:off x="3200400" y="19613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원문 → 틀리게 옮겨진 결과</a:t>
            </a:r>
          </a:p>
        </p:txBody>
      </p:sp>
      <p:sp>
        <p:nvSpPr>
          <p:cNvPr id="9" name="TextBox 8"/>
          <p:cNvSpPr txBox="1"/>
          <p:nvPr/>
        </p:nvSpPr>
        <p:spPr>
          <a:xfrm>
            <a:off x="9448495" y="19613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틀리는 곳</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부정 조건 누락</a:t>
            </a:r>
          </a:p>
        </p:txBody>
      </p:sp>
      <p:sp>
        <p:nvSpPr>
          <p:cNvPr id="12" name="TextBox 11"/>
          <p:cNvSpPr txBox="1"/>
          <p:nvPr/>
        </p:nvSpPr>
        <p:spPr>
          <a:xfrm>
            <a:off x="3200400" y="2363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「REMOTE_AUTO가 아닐 때 쓰지 않는다」가 빠진다면 → 언제나 쓸 수 있는 조치</a:t>
            </a:r>
          </a:p>
        </p:txBody>
      </p:sp>
      <p:sp>
        <p:nvSpPr>
          <p:cNvPr id="13" name="TextBox 12"/>
          <p:cNvSpPr txBox="1"/>
          <p:nvPr/>
        </p:nvSpPr>
        <p:spPr>
          <a:xfrm>
            <a:off x="9448495" y="2363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조건</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수치 · 단위 오류</a:t>
            </a:r>
          </a:p>
        </p:txBody>
      </p:sp>
      <p:sp>
        <p:nvSpPr>
          <p:cNvPr id="16" name="TextBox 15"/>
          <p:cNvSpPr txBox="1"/>
          <p:nvPr/>
        </p:nvSpPr>
        <p:spPr>
          <a:xfrm>
            <a:off x="3200400" y="32781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「24시간 이내」가 「24분 이내」로 옮겨진다면 → 숫자는 같고 단위만 다르다</a:t>
            </a:r>
          </a:p>
        </p:txBody>
      </p:sp>
      <p:sp>
        <p:nvSpPr>
          <p:cNvPr id="17" name="TextBox 16"/>
          <p:cNvSpPr txBox="1"/>
          <p:nvPr/>
        </p:nvSpPr>
        <p:spPr>
          <a:xfrm>
            <a:off x="9448495" y="32781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값</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잘못된 관계 추론</a:t>
            </a:r>
          </a:p>
        </p:txBody>
      </p:sp>
      <p:sp>
        <p:nvSpPr>
          <p:cNvPr id="20" name="TextBox 19"/>
          <p:cNvSpPr txBox="1"/>
          <p:nvPr/>
        </p:nvSpPr>
        <p:spPr>
          <a:xfrm>
            <a:off x="3200400" y="41925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쿨러 핀 세척을 주변 온도 상승에 ADDRESSES(듣는 원인)로 잇는다면 → 듣지 않는 조치의 추천</a:t>
            </a:r>
          </a:p>
        </p:txBody>
      </p:sp>
      <p:sp>
        <p:nvSpPr>
          <p:cNvPr id="21" name="TextBox 20"/>
          <p:cNvSpPr txBox="1"/>
          <p:nvPr/>
        </p:nvSpPr>
        <p:spPr>
          <a:xfrm>
            <a:off x="9448495" y="41925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연결</a:t>
            </a:r>
          </a:p>
        </p:txBody>
      </p:sp>
      <p:sp>
        <p:nvSpPr>
          <p:cNvPr id="22" name="Rounded Rectangle 21"/>
          <p:cNvSpPr/>
          <p:nvPr/>
        </p:nvSpPr>
        <p:spPr>
          <a:xfrm>
            <a:off x="548640" y="5138927"/>
            <a:ext cx="11094415" cy="850392"/>
          </a:xfrm>
          <a:prstGeom prst="roundRect">
            <a:avLst>
              <a:gd name="adj" fmla="val 8000"/>
            </a:avLst>
          </a:prstGeom>
          <a:solidFill>
            <a:srgbClr val="E7F3FD"/>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근거 없는 내용 생성</a:t>
            </a:r>
          </a:p>
        </p:txBody>
      </p:sp>
      <p:sp>
        <p:nvSpPr>
          <p:cNvPr id="24" name="TextBox 23"/>
          <p:cNvSpPr txBox="1"/>
          <p:nvPr/>
        </p:nvSpPr>
        <p:spPr>
          <a:xfrm>
            <a:off x="3200400" y="5106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단계 셋에 「팬 베어링의 소음을 확인한다」가 끼어든다면 → 인용할 원문이 없다</a:t>
            </a:r>
          </a:p>
        </p:txBody>
      </p:sp>
      <p:sp>
        <p:nvSpPr>
          <p:cNvPr id="25" name="TextBox 24"/>
          <p:cNvSpPr txBox="1"/>
          <p:nvPr/>
        </p:nvSpPr>
        <p:spPr>
          <a:xfrm>
            <a:off x="9448495" y="5106923"/>
            <a:ext cx="2103120" cy="914400"/>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출처</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5단계 근거 대조: 인용과 원문 확인</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지식마다 근거가 된 원문의 구간을 </a:t>
            </a:r>
            <a:r>
              <a:rPr sz="1600" b="1">
                <a:solidFill>
                  <a:srgbClr val="1A6FC4"/>
                </a:solidFill>
                <a:latin typeface="맑은 고딕"/>
                <a:ea typeface="맑은 고딕"/>
                <a:cs typeface="맑은 고딕"/>
              </a:rPr>
              <a:t>인용</a:t>
            </a:r>
            <a:r>
              <a:rPr sz="1600" b="0">
                <a:solidFill>
                  <a:srgbClr val="556175"/>
                </a:solidFill>
                <a:latin typeface="맑은 고딕"/>
                <a:ea typeface="맑은 고딕"/>
                <a:cs typeface="맑은 고딕"/>
              </a:rPr>
              <a:t>으로 붙여야 프로그램이 인용문을 원문에서 찾아 대조할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13</a:t>
            </a:r>
          </a:p>
        </p:txBody>
      </p:sp>
      <p:pic>
        <p:nvPicPr>
          <p:cNvPr id="6" name="삽화:인용.svg" descr="illust_615585929791357957_1791770333.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448402" y="1698543"/>
            <a:ext cx="392741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보관된 원문 · 매뉴얼 HM-8</a:t>
            </a:r>
          </a:p>
        </p:txBody>
      </p:sp>
      <p:sp>
        <p:nvSpPr>
          <p:cNvPr id="8" name="TextBox 7"/>
          <p:cNvSpPr txBox="1"/>
          <p:nvPr/>
        </p:nvSpPr>
        <p:spPr>
          <a:xfrm>
            <a:off x="8059556" y="1651269"/>
            <a:ext cx="261827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지식 한 건</a:t>
            </a:r>
          </a:p>
          <a:p>
            <a:pPr algn="ctr">
              <a:lnSpc>
                <a:spcPct val="110000"/>
              </a:lnSpc>
              <a:spcAft>
                <a:spcPts val="100"/>
              </a:spcAft>
            </a:pPr>
            <a:r>
              <a:rPr sz="1300" b="0">
                <a:solidFill>
                  <a:srgbClr val="556175"/>
                </a:solidFill>
                <a:latin typeface="맑은 고딕"/>
                <a:ea typeface="맑은 고딕"/>
                <a:cs typeface="맑은 고딕"/>
              </a:rPr>
              <a:t>팬 최대 운전의 2단계</a:t>
            </a:r>
          </a:p>
        </p:txBody>
      </p:sp>
      <p:sp>
        <p:nvSpPr>
          <p:cNvPr id="9" name="TextBox 8"/>
          <p:cNvSpPr txBox="1"/>
          <p:nvPr/>
        </p:nvSpPr>
        <p:spPr>
          <a:xfrm>
            <a:off x="6477679" y="3187689"/>
            <a:ext cx="1854614" cy="375920"/>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인용(Citation)</a:t>
            </a:r>
          </a:p>
        </p:txBody>
      </p:sp>
      <p:sp>
        <p:nvSpPr>
          <p:cNvPr id="10" name="TextBox 9"/>
          <p:cNvSpPr txBox="1"/>
          <p:nvPr/>
        </p:nvSpPr>
        <p:spPr>
          <a:xfrm>
            <a:off x="8114104" y="4204091"/>
            <a:ext cx="3381943" cy="1181608"/>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인용에 담기는 것</a:t>
            </a:r>
          </a:p>
          <a:p>
            <a:pPr algn="ctr">
              <a:lnSpc>
                <a:spcPct val="110000"/>
              </a:lnSpc>
              <a:spcAft>
                <a:spcPts val="100"/>
              </a:spcAft>
            </a:pPr>
            <a:r>
              <a:rPr sz="1300" b="0">
                <a:solidFill>
                  <a:srgbClr val="556175"/>
                </a:solidFill>
                <a:latin typeface="맑은 고딕"/>
                <a:ea typeface="맑은 고딕"/>
                <a:cs typeface="맑은 고딕"/>
              </a:rPr>
              <a:t>문서 식별자와 판본</a:t>
            </a:r>
          </a:p>
          <a:p>
            <a:pPr algn="ctr">
              <a:lnSpc>
                <a:spcPct val="110000"/>
              </a:lnSpc>
              <a:spcAft>
                <a:spcPts val="100"/>
              </a:spcAft>
            </a:pPr>
            <a:r>
              <a:rPr sz="1300" b="0">
                <a:solidFill>
                  <a:srgbClr val="556175"/>
                </a:solidFill>
                <a:latin typeface="맑은 고딕"/>
                <a:ea typeface="맑은 고딕"/>
                <a:cs typeface="맑은 고딕"/>
              </a:rPr>
              <a:t>쪽 1 · 문자 위치 1569~1615</a:t>
            </a:r>
          </a:p>
          <a:p>
            <a:pPr algn="ctr">
              <a:lnSpc>
                <a:spcPct val="110000"/>
              </a:lnSpc>
              <a:spcAft>
                <a:spcPts val="100"/>
              </a:spcAft>
            </a:pPr>
            <a:r>
              <a:rPr sz="1300" b="0">
                <a:solidFill>
                  <a:srgbClr val="556175"/>
                </a:solidFill>
                <a:latin typeface="맑은 고딕"/>
                <a:ea typeface="맑은 고딕"/>
                <a:cs typeface="맑은 고딕"/>
              </a:rPr>
              <a:t>인용문: 「2. 팬 속도를 100 %로 올린다.</a:t>
            </a:r>
          </a:p>
          <a:p>
            <a:pPr algn="ctr">
              <a:lnSpc>
                <a:spcPct val="110000"/>
              </a:lnSpc>
              <a:spcAft>
                <a:spcPts val="100"/>
              </a:spcAft>
            </a:pPr>
            <a:r>
              <a:rPr sz="1300" b="0">
                <a:solidFill>
                  <a:srgbClr val="556175"/>
                </a:solidFill>
                <a:latin typeface="맑은 고딕"/>
                <a:ea typeface="맑은 고딕"/>
                <a:cs typeface="맑은 고딕"/>
              </a:rPr>
              <a:t>100 % 연속 운전은 24시간 이내로 한다.」</a:t>
            </a:r>
          </a:p>
        </p:txBody>
      </p:sp>
      <p:sp>
        <p:nvSpPr>
          <p:cNvPr id="11" name="TextBox 10"/>
          <p:cNvSpPr txBox="1"/>
          <p:nvPr/>
        </p:nvSpPr>
        <p:spPr>
          <a:xfrm>
            <a:off x="5223088" y="5787786"/>
            <a:ext cx="2836468"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대조</a:t>
            </a:r>
          </a:p>
          <a:p>
            <a:pPr algn="ctr">
              <a:lnSpc>
                <a:spcPct val="110000"/>
              </a:lnSpc>
              <a:spcAft>
                <a:spcPts val="100"/>
              </a:spcAft>
            </a:pPr>
            <a:r>
              <a:rPr sz="1300" b="0">
                <a:solidFill>
                  <a:srgbClr val="556175"/>
                </a:solidFill>
                <a:latin typeface="맑은 고딕"/>
                <a:ea typeface="맑은 고딕"/>
                <a:cs typeface="맑은 고딕"/>
              </a:rPr>
              <a:t>인용문을 그 쪽에서 찾는다</a:t>
            </a:r>
          </a:p>
          <a:p>
            <a:pPr algn="ctr">
              <a:lnSpc>
                <a:spcPct val="110000"/>
              </a:lnSpc>
              <a:spcAft>
                <a:spcPts val="100"/>
              </a:spcAft>
            </a:pPr>
            <a:r>
              <a:rPr sz="1300" b="0">
                <a:solidFill>
                  <a:srgbClr val="556175"/>
                </a:solidFill>
                <a:latin typeface="맑은 고딕"/>
                <a:ea typeface="맑은 고딕"/>
                <a:cs typeface="맑은 고딕"/>
              </a:rPr>
              <a:t>없으면 후보를 돌려보낸다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사람 검토에서 확인하는 네 곳</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오류의 종류가 곧 점검 항목이므로 검토자는 문서 전체가 아니라 인용이 가리키는 자리의 네 곳을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14</a:t>
            </a:r>
          </a:p>
        </p:txBody>
      </p:sp>
      <p:sp>
        <p:nvSpPr>
          <p:cNvPr id="6" name="Rounded Rectangle 5"/>
          <p:cNvSpPr/>
          <p:nvPr/>
        </p:nvSpPr>
        <p:spPr>
          <a:xfrm>
            <a:off x="548640" y="2523172"/>
            <a:ext cx="2567863" cy="293636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724340"/>
            <a:ext cx="731520" cy="731520"/>
          </a:xfrm>
          <a:prstGeom prst="ellipse">
            <a:avLst/>
          </a:prstGeom>
          <a:solidFill>
            <a:srgbClr val="E7F3FD"/>
          </a:solidFill>
          <a:ln>
            <a:noFill/>
          </a:ln>
        </p:spPr>
        <p:txBody>
          <a:bodyPr rtlCol="0" anchor="ctr"/>
          <a:lstStyle/>
          <a:p>
            <a:pPr algn="ctr"/>
          </a:p>
        </p:txBody>
      </p:sp>
      <p:pic>
        <p:nvPicPr>
          <p:cNvPr id="8" name="아이콘:ban" descr="ban_13294B_1.6.png"/>
          <p:cNvPicPr>
            <a:picLocks noChangeAspect="1"/>
          </p:cNvPicPr>
          <p:nvPr/>
        </p:nvPicPr>
        <p:blipFill>
          <a:blip r:embed="rId3"/>
          <a:stretch>
            <a:fillRect/>
          </a:stretch>
        </p:blipFill>
        <p:spPr>
          <a:xfrm>
            <a:off x="930859" y="2877959"/>
            <a:ext cx="424281" cy="424281"/>
          </a:xfrm>
          <a:prstGeom prst="rect">
            <a:avLst/>
          </a:prstGeom>
        </p:spPr>
      </p:pic>
      <p:sp>
        <p:nvSpPr>
          <p:cNvPr id="9" name="TextBox 8"/>
          <p:cNvSpPr txBox="1"/>
          <p:nvPr/>
        </p:nvSpPr>
        <p:spPr>
          <a:xfrm>
            <a:off x="713232" y="3547300"/>
            <a:ext cx="2238679" cy="140931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부정 조건</a:t>
            </a:r>
          </a:p>
          <a:p>
            <a:pPr algn="l">
              <a:lnSpc>
                <a:spcPct val="110000"/>
              </a:lnSpc>
              <a:spcAft>
                <a:spcPts val="400"/>
              </a:spcAft>
            </a:pPr>
            <a:r>
              <a:rPr sz="1350" b="0">
                <a:solidFill>
                  <a:srgbClr val="1F2A3A"/>
                </a:solidFill>
                <a:latin typeface="맑은 고딕"/>
                <a:ea typeface="맑은 고딕"/>
                <a:cs typeface="맑은 고딕"/>
              </a:rPr>
              <a:t>「~가 아니면」「~하지 않는다」가 빠지지 않았는가</a:t>
            </a:r>
          </a:p>
        </p:txBody>
      </p:sp>
      <p:sp>
        <p:nvSpPr>
          <p:cNvPr id="10" name="Rounded Rectangle 9"/>
          <p:cNvSpPr/>
          <p:nvPr/>
        </p:nvSpPr>
        <p:spPr>
          <a:xfrm>
            <a:off x="777240" y="5029771"/>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029771"/>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조건</a:t>
            </a:r>
          </a:p>
        </p:txBody>
      </p:sp>
      <p:sp>
        <p:nvSpPr>
          <p:cNvPr id="12" name="Rounded Rectangle 11"/>
          <p:cNvSpPr/>
          <p:nvPr/>
        </p:nvSpPr>
        <p:spPr>
          <a:xfrm>
            <a:off x="3390823" y="2523172"/>
            <a:ext cx="2567863" cy="293636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724340"/>
            <a:ext cx="731520" cy="731520"/>
          </a:xfrm>
          <a:prstGeom prst="ellipse">
            <a:avLst/>
          </a:prstGeom>
          <a:solidFill>
            <a:srgbClr val="E7F3FD"/>
          </a:solidFill>
          <a:ln>
            <a:noFill/>
          </a:ln>
        </p:spPr>
        <p:txBody>
          <a:bodyPr rtlCol="0" anchor="ctr"/>
          <a:lstStyle/>
          <a:p>
            <a:pPr algn="ctr"/>
          </a:p>
        </p:txBody>
      </p:sp>
      <p:pic>
        <p:nvPicPr>
          <p:cNvPr id="14" name="아이콘:ruler-measure" descr="ruler-measure_13294B_1.6.png"/>
          <p:cNvPicPr>
            <a:picLocks noChangeAspect="1"/>
          </p:cNvPicPr>
          <p:nvPr/>
        </p:nvPicPr>
        <p:blipFill>
          <a:blip r:embed="rId4"/>
          <a:stretch>
            <a:fillRect/>
          </a:stretch>
        </p:blipFill>
        <p:spPr>
          <a:xfrm>
            <a:off x="3773043" y="2877959"/>
            <a:ext cx="424281" cy="424281"/>
          </a:xfrm>
          <a:prstGeom prst="rect">
            <a:avLst/>
          </a:prstGeom>
        </p:spPr>
      </p:pic>
      <p:sp>
        <p:nvSpPr>
          <p:cNvPr id="15" name="TextBox 14"/>
          <p:cNvSpPr txBox="1"/>
          <p:nvPr/>
        </p:nvSpPr>
        <p:spPr>
          <a:xfrm>
            <a:off x="3555415" y="3547300"/>
            <a:ext cx="2238679" cy="140931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수치와 단위</a:t>
            </a:r>
          </a:p>
          <a:p>
            <a:pPr algn="l">
              <a:lnSpc>
                <a:spcPct val="110000"/>
              </a:lnSpc>
              <a:spcAft>
                <a:spcPts val="400"/>
              </a:spcAft>
            </a:pPr>
            <a:r>
              <a:rPr sz="1350" b="0">
                <a:solidFill>
                  <a:srgbClr val="1F2A3A"/>
                </a:solidFill>
                <a:latin typeface="맑은 고딕"/>
                <a:ea typeface="맑은 고딕"/>
                <a:cs typeface="맑은 고딕"/>
              </a:rPr>
              <a:t>숫자와 단위가 인용문과 같은가</a:t>
            </a:r>
          </a:p>
        </p:txBody>
      </p:sp>
      <p:sp>
        <p:nvSpPr>
          <p:cNvPr id="16" name="Rounded Rectangle 15"/>
          <p:cNvSpPr/>
          <p:nvPr/>
        </p:nvSpPr>
        <p:spPr>
          <a:xfrm>
            <a:off x="3619423" y="5029771"/>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029771"/>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값</a:t>
            </a:r>
          </a:p>
        </p:txBody>
      </p:sp>
      <p:sp>
        <p:nvSpPr>
          <p:cNvPr id="18" name="Rounded Rectangle 17"/>
          <p:cNvSpPr/>
          <p:nvPr/>
        </p:nvSpPr>
        <p:spPr>
          <a:xfrm>
            <a:off x="6233007" y="2523172"/>
            <a:ext cx="2567863" cy="293636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724340"/>
            <a:ext cx="731520" cy="731520"/>
          </a:xfrm>
          <a:prstGeom prst="ellipse">
            <a:avLst/>
          </a:prstGeom>
          <a:solidFill>
            <a:srgbClr val="E7F3FD"/>
          </a:solidFill>
          <a:ln>
            <a:noFill/>
          </a:ln>
        </p:spPr>
        <p:txBody>
          <a:bodyPr rtlCol="0" anchor="ctr"/>
          <a:lstStyle/>
          <a:p>
            <a:pPr algn="ctr"/>
          </a:p>
        </p:txBody>
      </p:sp>
      <p:pic>
        <p:nvPicPr>
          <p:cNvPr id="20" name="아이콘:list-numbers" descr="list-numbers_13294B_1.6.png"/>
          <p:cNvPicPr>
            <a:picLocks noChangeAspect="1"/>
          </p:cNvPicPr>
          <p:nvPr/>
        </p:nvPicPr>
        <p:blipFill>
          <a:blip r:embed="rId5"/>
          <a:stretch>
            <a:fillRect/>
          </a:stretch>
        </p:blipFill>
        <p:spPr>
          <a:xfrm>
            <a:off x="6615226" y="2877959"/>
            <a:ext cx="424281" cy="424281"/>
          </a:xfrm>
          <a:prstGeom prst="rect">
            <a:avLst/>
          </a:prstGeom>
        </p:spPr>
      </p:pic>
      <p:sp>
        <p:nvSpPr>
          <p:cNvPr id="21" name="TextBox 20"/>
          <p:cNvSpPr txBox="1"/>
          <p:nvPr/>
        </p:nvSpPr>
        <p:spPr>
          <a:xfrm>
            <a:off x="6397599" y="3547300"/>
            <a:ext cx="2238679" cy="140931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단계의 순서</a:t>
            </a:r>
          </a:p>
          <a:p>
            <a:pPr algn="l">
              <a:lnSpc>
                <a:spcPct val="110000"/>
              </a:lnSpc>
              <a:spcAft>
                <a:spcPts val="400"/>
              </a:spcAft>
            </a:pPr>
            <a:r>
              <a:rPr sz="1350" b="0">
                <a:solidFill>
                  <a:srgbClr val="1F2A3A"/>
                </a:solidFill>
                <a:latin typeface="맑은 고딕"/>
                <a:ea typeface="맑은 고딕"/>
                <a:cs typeface="맑은 고딕"/>
              </a:rPr>
              <a:t>번호와 순서가 원문과 같은가</a:t>
            </a:r>
          </a:p>
        </p:txBody>
      </p:sp>
      <p:sp>
        <p:nvSpPr>
          <p:cNvPr id="22" name="Rounded Rectangle 21"/>
          <p:cNvSpPr/>
          <p:nvPr/>
        </p:nvSpPr>
        <p:spPr>
          <a:xfrm>
            <a:off x="6461607" y="5029771"/>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029771"/>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순서</a:t>
            </a:r>
          </a:p>
        </p:txBody>
      </p:sp>
      <p:sp>
        <p:nvSpPr>
          <p:cNvPr id="24" name="Rounded Rectangle 23"/>
          <p:cNvSpPr/>
          <p:nvPr/>
        </p:nvSpPr>
        <p:spPr>
          <a:xfrm>
            <a:off x="9075191" y="2523172"/>
            <a:ext cx="2567863" cy="2936366"/>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724340"/>
            <a:ext cx="731520" cy="731520"/>
          </a:xfrm>
          <a:prstGeom prst="ellipse">
            <a:avLst/>
          </a:prstGeom>
          <a:solidFill>
            <a:srgbClr val="5CB8F2"/>
          </a:solidFill>
          <a:ln>
            <a:noFill/>
          </a:ln>
        </p:spPr>
        <p:txBody>
          <a:bodyPr rtlCol="0" anchor="ctr"/>
          <a:lstStyle/>
          <a:p>
            <a:pPr algn="ctr"/>
          </a:p>
        </p:txBody>
      </p:sp>
      <p:pic>
        <p:nvPicPr>
          <p:cNvPr id="26" name="아이콘:link" descr="link_13294B_1.6.png"/>
          <p:cNvPicPr>
            <a:picLocks noChangeAspect="1"/>
          </p:cNvPicPr>
          <p:nvPr/>
        </p:nvPicPr>
        <p:blipFill>
          <a:blip r:embed="rId6"/>
          <a:stretch>
            <a:fillRect/>
          </a:stretch>
        </p:blipFill>
        <p:spPr>
          <a:xfrm>
            <a:off x="9457410" y="2877959"/>
            <a:ext cx="424281" cy="424281"/>
          </a:xfrm>
          <a:prstGeom prst="rect">
            <a:avLst/>
          </a:prstGeom>
        </p:spPr>
      </p:pic>
      <p:sp>
        <p:nvSpPr>
          <p:cNvPr id="27" name="TextBox 26"/>
          <p:cNvSpPr txBox="1"/>
          <p:nvPr/>
        </p:nvSpPr>
        <p:spPr>
          <a:xfrm>
            <a:off x="9239783" y="3547300"/>
            <a:ext cx="2238679" cy="140931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대상과 관계</a:t>
            </a:r>
          </a:p>
          <a:p>
            <a:pPr algn="l">
              <a:lnSpc>
                <a:spcPct val="110000"/>
              </a:lnSpc>
              <a:spcAft>
                <a:spcPts val="400"/>
              </a:spcAft>
            </a:pPr>
            <a:r>
              <a:rPr sz="1350" b="0">
                <a:solidFill>
                  <a:srgbClr val="1F2A3A"/>
                </a:solidFill>
                <a:latin typeface="맑은 고딕"/>
                <a:ea typeface="맑은 고딕"/>
                <a:cs typeface="맑은 고딕"/>
              </a:rPr>
              <a:t>고장 유형과 관계가 바르게 이어졌는가</a:t>
            </a:r>
          </a:p>
        </p:txBody>
      </p:sp>
      <p:sp>
        <p:nvSpPr>
          <p:cNvPr id="28" name="Rounded Rectangle 27"/>
          <p:cNvSpPr/>
          <p:nvPr/>
        </p:nvSpPr>
        <p:spPr>
          <a:xfrm>
            <a:off x="9303791" y="5029771"/>
            <a:ext cx="8229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029771"/>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연결</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6단계: 승인된 지식 적재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제안의 일부만 들어가 조건이 빠진 지식이 되지 않도록, 검토자가 이름을 밝혀 승인한 것만 한 번에 넣는다.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15</a:t>
            </a:r>
          </a:p>
        </p:txBody>
      </p:sp>
      <p:pic>
        <p:nvPicPr>
          <p:cNvPr id="6" name="삽화:인제스천_6.svg" descr="illust_2364343020624401511_1791770333.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59290" y="2927680"/>
            <a:ext cx="240008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1. 원천 확보와 보관</a:t>
            </a:r>
          </a:p>
        </p:txBody>
      </p:sp>
      <p:sp>
        <p:nvSpPr>
          <p:cNvPr id="8" name="TextBox 7"/>
          <p:cNvSpPr txBox="1"/>
          <p:nvPr/>
        </p:nvSpPr>
        <p:spPr>
          <a:xfrm>
            <a:off x="3553935" y="2927680"/>
            <a:ext cx="240008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2. 문서 내용 분석</a:t>
            </a:r>
          </a:p>
        </p:txBody>
      </p:sp>
      <p:sp>
        <p:nvSpPr>
          <p:cNvPr id="9" name="TextBox 8"/>
          <p:cNvSpPr txBox="1"/>
          <p:nvPr/>
        </p:nvSpPr>
        <p:spPr>
          <a:xfrm>
            <a:off x="6237671" y="2927680"/>
            <a:ext cx="240008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3. 지식 후보 추출</a:t>
            </a:r>
          </a:p>
        </p:txBody>
      </p:sp>
      <p:sp>
        <p:nvSpPr>
          <p:cNvPr id="10" name="TextBox 9"/>
          <p:cNvSpPr txBox="1"/>
          <p:nvPr/>
        </p:nvSpPr>
        <p:spPr>
          <a:xfrm>
            <a:off x="8932316" y="2927680"/>
            <a:ext cx="2400088" cy="62382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4. 스키마 · 식별자 매핑</a:t>
            </a:r>
          </a:p>
        </p:txBody>
      </p:sp>
      <p:sp>
        <p:nvSpPr>
          <p:cNvPr id="11" name="TextBox 10"/>
          <p:cNvSpPr txBox="1"/>
          <p:nvPr/>
        </p:nvSpPr>
        <p:spPr>
          <a:xfrm>
            <a:off x="859290" y="5220492"/>
            <a:ext cx="240008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5. 대조와 사람 검토</a:t>
            </a:r>
          </a:p>
        </p:txBody>
      </p:sp>
      <p:sp>
        <p:nvSpPr>
          <p:cNvPr id="12" name="TextBox 11"/>
          <p:cNvSpPr txBox="1"/>
          <p:nvPr/>
        </p:nvSpPr>
        <p:spPr>
          <a:xfrm>
            <a:off x="3553935" y="5220492"/>
            <a:ext cx="2400088"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6. 승인된 지식 적재</a:t>
            </a:r>
          </a:p>
          <a:p>
            <a:pPr algn="ctr">
              <a:lnSpc>
                <a:spcPct val="110000"/>
              </a:lnSpc>
              <a:spcAft>
                <a:spcPts val="100"/>
              </a:spcAft>
            </a:pPr>
            <a:r>
              <a:rPr sz="1300" b="0">
                <a:solidFill>
                  <a:srgbClr val="556175"/>
                </a:solidFill>
                <a:latin typeface="맑은 고딕"/>
                <a:ea typeface="맑은 고딕"/>
                <a:cs typeface="맑은 고딕"/>
              </a:rPr>
              <a:t>승인된 것만 한 번에 넣고</a:t>
            </a:r>
          </a:p>
          <a:p>
            <a:pPr algn="ctr">
              <a:lnSpc>
                <a:spcPct val="110000"/>
              </a:lnSpc>
              <a:spcAft>
                <a:spcPts val="100"/>
              </a:spcAft>
            </a:pPr>
            <a:r>
              <a:rPr sz="1300" b="0">
                <a:solidFill>
                  <a:srgbClr val="556175"/>
                </a:solidFill>
                <a:latin typeface="맑은 고딕"/>
                <a:ea typeface="맑은 고딕"/>
                <a:cs typeface="맑은 고딕"/>
              </a:rPr>
              <a:t>어긋나면 모두 취소한다</a:t>
            </a:r>
          </a:p>
        </p:txBody>
      </p:sp>
      <p:sp>
        <p:nvSpPr>
          <p:cNvPr id="13" name="TextBox 12"/>
          <p:cNvSpPr txBox="1"/>
          <p:nvPr/>
        </p:nvSpPr>
        <p:spPr>
          <a:xfrm>
            <a:off x="6237671" y="5220492"/>
            <a:ext cx="240008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7. 관계 · 출처 조회</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판본과 적재 기록, 개정 이력</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내용이 바뀌면 다른 </a:t>
            </a:r>
            <a:r>
              <a:rPr sz="1600" b="1">
                <a:solidFill>
                  <a:srgbClr val="1A6FC4"/>
                </a:solidFill>
                <a:latin typeface="맑은 고딕"/>
                <a:ea typeface="맑은 고딕"/>
                <a:cs typeface="맑은 고딕"/>
              </a:rPr>
              <a:t>판본</a:t>
            </a:r>
            <a:r>
              <a:rPr sz="1600" b="0">
                <a:solidFill>
                  <a:srgbClr val="556175"/>
                </a:solidFill>
                <a:latin typeface="맑은 고딕"/>
                <a:ea typeface="맑은 고딕"/>
                <a:cs typeface="맑은 고딕"/>
              </a:rPr>
              <a:t>이며, 판본마다 적재 전후를 기록하고 앞 기록을 가리켜야 변경을 추적하고 되돌린다.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16</a:t>
            </a:r>
          </a:p>
        </p:txBody>
      </p:sp>
      <p:pic>
        <p:nvPicPr>
          <p:cNvPr id="6" name="삽화:적재묶음_사슬.svg" descr="illust_5810836795822336316_1791770333.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590226" y="1722180"/>
            <a:ext cx="174551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첫 판본</a:t>
            </a:r>
          </a:p>
        </p:txBody>
      </p:sp>
      <p:sp>
        <p:nvSpPr>
          <p:cNvPr id="8" name="TextBox 7"/>
          <p:cNvSpPr txBox="1"/>
          <p:nvPr/>
        </p:nvSpPr>
        <p:spPr>
          <a:xfrm>
            <a:off x="5223088" y="1722180"/>
            <a:ext cx="174551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개정 판본</a:t>
            </a:r>
          </a:p>
        </p:txBody>
      </p:sp>
      <p:sp>
        <p:nvSpPr>
          <p:cNvPr id="9" name="TextBox 8"/>
          <p:cNvSpPr txBox="1"/>
          <p:nvPr/>
        </p:nvSpPr>
        <p:spPr>
          <a:xfrm>
            <a:off x="8746854" y="1722180"/>
            <a:ext cx="1963709" cy="375920"/>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지금의 판본</a:t>
            </a:r>
          </a:p>
        </p:txBody>
      </p:sp>
      <p:sp>
        <p:nvSpPr>
          <p:cNvPr id="10" name="TextBox 9"/>
          <p:cNvSpPr txBox="1"/>
          <p:nvPr/>
        </p:nvSpPr>
        <p:spPr>
          <a:xfrm>
            <a:off x="1372036" y="2979682"/>
            <a:ext cx="218189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적재 기록 1</a:t>
            </a:r>
          </a:p>
        </p:txBody>
      </p:sp>
      <p:sp>
        <p:nvSpPr>
          <p:cNvPr id="11" name="TextBox 10"/>
          <p:cNvSpPr txBox="1"/>
          <p:nvPr/>
        </p:nvSpPr>
        <p:spPr>
          <a:xfrm>
            <a:off x="5004898" y="2979682"/>
            <a:ext cx="218189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적재 기록 2</a:t>
            </a:r>
          </a:p>
        </p:txBody>
      </p:sp>
      <p:sp>
        <p:nvSpPr>
          <p:cNvPr id="12" name="TextBox 11"/>
          <p:cNvSpPr txBox="1"/>
          <p:nvPr/>
        </p:nvSpPr>
        <p:spPr>
          <a:xfrm>
            <a:off x="8637759" y="2979682"/>
            <a:ext cx="218189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적재 기록 3</a:t>
            </a:r>
          </a:p>
        </p:txBody>
      </p:sp>
      <p:sp>
        <p:nvSpPr>
          <p:cNvPr id="13" name="TextBox 12"/>
          <p:cNvSpPr txBox="1"/>
          <p:nvPr/>
        </p:nvSpPr>
        <p:spPr>
          <a:xfrm>
            <a:off x="1262941" y="4369551"/>
            <a:ext cx="240008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적재 전 → 적재 후</a:t>
            </a:r>
          </a:p>
        </p:txBody>
      </p:sp>
      <p:sp>
        <p:nvSpPr>
          <p:cNvPr id="14" name="TextBox 13"/>
          <p:cNvSpPr txBox="1"/>
          <p:nvPr/>
        </p:nvSpPr>
        <p:spPr>
          <a:xfrm>
            <a:off x="4895803" y="4369551"/>
            <a:ext cx="240008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적재 전 → 적재 후</a:t>
            </a:r>
          </a:p>
        </p:txBody>
      </p:sp>
      <p:sp>
        <p:nvSpPr>
          <p:cNvPr id="15" name="TextBox 14"/>
          <p:cNvSpPr txBox="1"/>
          <p:nvPr/>
        </p:nvSpPr>
        <p:spPr>
          <a:xfrm>
            <a:off x="8528664" y="4369551"/>
            <a:ext cx="240008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적재 전 → 적재 후</a:t>
            </a:r>
          </a:p>
        </p:txBody>
      </p:sp>
      <p:sp>
        <p:nvSpPr>
          <p:cNvPr id="16" name="TextBox 15"/>
          <p:cNvSpPr txBox="1"/>
          <p:nvPr/>
        </p:nvSpPr>
        <p:spPr>
          <a:xfrm>
            <a:off x="3783034" y="3471336"/>
            <a:ext cx="98185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앞 기록</a:t>
            </a:r>
          </a:p>
        </p:txBody>
      </p:sp>
      <p:sp>
        <p:nvSpPr>
          <p:cNvPr id="17" name="TextBox 16"/>
          <p:cNvSpPr txBox="1"/>
          <p:nvPr/>
        </p:nvSpPr>
        <p:spPr>
          <a:xfrm>
            <a:off x="7426805" y="3471336"/>
            <a:ext cx="98185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앞 기록</a:t>
            </a:r>
          </a:p>
        </p:txBody>
      </p:sp>
      <p:sp>
        <p:nvSpPr>
          <p:cNvPr id="18" name="TextBox 17"/>
          <p:cNvSpPr txBox="1"/>
          <p:nvPr/>
        </p:nvSpPr>
        <p:spPr>
          <a:xfrm>
            <a:off x="5735834" y="5716874"/>
            <a:ext cx="436379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되돌리기</a:t>
            </a:r>
          </a:p>
          <a:p>
            <a:pPr algn="ctr">
              <a:lnSpc>
                <a:spcPct val="110000"/>
              </a:lnSpc>
              <a:spcAft>
                <a:spcPts val="100"/>
              </a:spcAft>
            </a:pPr>
            <a:r>
              <a:rPr sz="1300" b="0">
                <a:solidFill>
                  <a:srgbClr val="556175"/>
                </a:solidFill>
                <a:latin typeface="맑은 고딕"/>
                <a:ea typeface="맑은 고딕"/>
                <a:cs typeface="맑은 고딕"/>
              </a:rPr>
              <a:t>가장 새 기록부터 적재 전의 상태로 되돌린다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7단계 관계 · 출처 조회: 조치에서 근거 문서까지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조치 방법이 절을 거쳐 문서에 속하고(PART_OF) 규칙이 절을 가리켜(DERIVED_FROM) 출처는 관계로 조회된다.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17</a:t>
            </a:r>
          </a:p>
        </p:txBody>
      </p:sp>
      <p:sp>
        <p:nvSpPr>
          <p:cNvPr id="6" name="Oval 5"/>
          <p:cNvSpPr/>
          <p:nvPr/>
        </p:nvSpPr>
        <p:spPr>
          <a:xfrm>
            <a:off x="548639" y="1627632"/>
            <a:ext cx="1737360" cy="1737360"/>
          </a:xfrm>
          <a:prstGeom prst="ellipse">
            <a:avLst/>
          </a:prstGeom>
          <a:solidFill>
            <a:srgbClr val="E7F3FD"/>
          </a:solidFill>
          <a:ln w="25400">
            <a:solidFill>
              <a:srgbClr val="5CB8F2"/>
            </a:solidFill>
          </a:ln>
        </p:spPr>
        <p:txBody>
          <a:bodyPr rtlCol="0" anchor="ctr"/>
          <a:lstStyle/>
          <a:p>
            <a:pPr algn="ctr"/>
          </a:p>
        </p:txBody>
      </p:sp>
      <p:pic>
        <p:nvPicPr>
          <p:cNvPr id="7" name="아이콘:tool" descr="tool_13294B_1.6.png"/>
          <p:cNvPicPr>
            <a:picLocks noChangeAspect="1"/>
          </p:cNvPicPr>
          <p:nvPr/>
        </p:nvPicPr>
        <p:blipFill>
          <a:blip r:embed="rId3"/>
          <a:stretch>
            <a:fillRect/>
          </a:stretch>
        </p:blipFill>
        <p:spPr>
          <a:xfrm>
            <a:off x="1208836" y="1870862"/>
            <a:ext cx="416966" cy="416966"/>
          </a:xfrm>
          <a:prstGeom prst="rect">
            <a:avLst/>
          </a:prstGeom>
        </p:spPr>
      </p:pic>
      <p:sp>
        <p:nvSpPr>
          <p:cNvPr id="8" name="TextBox 7"/>
          <p:cNvSpPr txBox="1"/>
          <p:nvPr/>
        </p:nvSpPr>
        <p:spPr>
          <a:xfrm>
            <a:off x="670255" y="2322576"/>
            <a:ext cx="1494129" cy="868680"/>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팬 최대 운전</a:t>
            </a:r>
          </a:p>
          <a:p>
            <a:pPr algn="ctr">
              <a:lnSpc>
                <a:spcPct val="110000"/>
              </a:lnSpc>
            </a:pPr>
            <a:r>
              <a:rPr sz="1100" b="0">
                <a:solidFill>
                  <a:srgbClr val="556175"/>
                </a:solidFill>
                <a:latin typeface="맑은 고딕"/>
                <a:ea typeface="맑은 고딕"/>
                <a:cs typeface="맑은 고딕"/>
              </a:rPr>
              <a:t>조치 방법</a:t>
            </a:r>
          </a:p>
        </p:txBody>
      </p:sp>
      <p:sp>
        <p:nvSpPr>
          <p:cNvPr id="9" name="Oval 8"/>
          <p:cNvSpPr/>
          <p:nvPr/>
        </p:nvSpPr>
        <p:spPr>
          <a:xfrm>
            <a:off x="3636468" y="1627632"/>
            <a:ext cx="1737360" cy="1737360"/>
          </a:xfrm>
          <a:prstGeom prst="ellipse">
            <a:avLst/>
          </a:prstGeom>
          <a:solidFill>
            <a:srgbClr val="E7F3FD"/>
          </a:solidFill>
          <a:ln w="25400">
            <a:solidFill>
              <a:srgbClr val="5CB8F2"/>
            </a:solidFill>
          </a:ln>
        </p:spPr>
        <p:txBody>
          <a:bodyPr rtlCol="0" anchor="ctr"/>
          <a:lstStyle/>
          <a:p>
            <a:pPr algn="ctr"/>
          </a:p>
        </p:txBody>
      </p:sp>
      <p:pic>
        <p:nvPicPr>
          <p:cNvPr id="10" name="아이콘:list-numbers" descr="list-numbers_13294B_1.6.png"/>
          <p:cNvPicPr>
            <a:picLocks noChangeAspect="1"/>
          </p:cNvPicPr>
          <p:nvPr/>
        </p:nvPicPr>
        <p:blipFill>
          <a:blip r:embed="rId4"/>
          <a:stretch>
            <a:fillRect/>
          </a:stretch>
        </p:blipFill>
        <p:spPr>
          <a:xfrm>
            <a:off x="4296665" y="1870862"/>
            <a:ext cx="416966" cy="416966"/>
          </a:xfrm>
          <a:prstGeom prst="rect">
            <a:avLst/>
          </a:prstGeom>
        </p:spPr>
      </p:pic>
      <p:sp>
        <p:nvSpPr>
          <p:cNvPr id="11" name="TextBox 10"/>
          <p:cNvSpPr txBox="1"/>
          <p:nvPr/>
        </p:nvSpPr>
        <p:spPr>
          <a:xfrm>
            <a:off x="3758083" y="2322576"/>
            <a:ext cx="1494129" cy="868680"/>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2단계</a:t>
            </a:r>
          </a:p>
          <a:p>
            <a:pPr algn="ctr">
              <a:lnSpc>
                <a:spcPct val="110000"/>
              </a:lnSpc>
            </a:pPr>
            <a:r>
              <a:rPr sz="1100" b="0">
                <a:solidFill>
                  <a:srgbClr val="556175"/>
                </a:solidFill>
                <a:latin typeface="맑은 고딕"/>
                <a:ea typeface="맑은 고딕"/>
                <a:cs typeface="맑은 고딕"/>
              </a:rPr>
              <a:t>팬 속도를</a:t>
            </a:r>
          </a:p>
          <a:p>
            <a:pPr algn="ctr">
              <a:lnSpc>
                <a:spcPct val="110000"/>
              </a:lnSpc>
            </a:pPr>
            <a:r>
              <a:rPr sz="1100" b="0">
                <a:solidFill>
                  <a:srgbClr val="556175"/>
                </a:solidFill>
                <a:latin typeface="맑은 고딕"/>
                <a:ea typeface="맑은 고딕"/>
                <a:cs typeface="맑은 고딕"/>
              </a:rPr>
              <a:t>100 %로 올린다</a:t>
            </a:r>
          </a:p>
        </p:txBody>
      </p:sp>
      <p:sp>
        <p:nvSpPr>
          <p:cNvPr id="12" name="Oval 11"/>
          <p:cNvSpPr/>
          <p:nvPr/>
        </p:nvSpPr>
        <p:spPr>
          <a:xfrm>
            <a:off x="6817866" y="1627632"/>
            <a:ext cx="1737360" cy="1737360"/>
          </a:xfrm>
          <a:prstGeom prst="ellipse">
            <a:avLst/>
          </a:prstGeom>
          <a:solidFill>
            <a:srgbClr val="5CB8F2"/>
          </a:solidFill>
          <a:ln w="25400">
            <a:solidFill>
              <a:srgbClr val="13294B"/>
            </a:solidFill>
          </a:ln>
        </p:spPr>
        <p:txBody>
          <a:bodyPr rtlCol="0" anchor="ctr"/>
          <a:lstStyle/>
          <a:p>
            <a:pPr algn="ctr"/>
          </a:p>
        </p:txBody>
      </p:sp>
      <p:pic>
        <p:nvPicPr>
          <p:cNvPr id="13" name="아이콘:file-description" descr="file-description_13294B_1.6.png"/>
          <p:cNvPicPr>
            <a:picLocks noChangeAspect="1"/>
          </p:cNvPicPr>
          <p:nvPr/>
        </p:nvPicPr>
        <p:blipFill>
          <a:blip r:embed="rId5"/>
          <a:stretch>
            <a:fillRect/>
          </a:stretch>
        </p:blipFill>
        <p:spPr>
          <a:xfrm>
            <a:off x="7478063" y="1870862"/>
            <a:ext cx="416966" cy="416966"/>
          </a:xfrm>
          <a:prstGeom prst="rect">
            <a:avLst/>
          </a:prstGeom>
        </p:spPr>
      </p:pic>
      <p:sp>
        <p:nvSpPr>
          <p:cNvPr id="14" name="TextBox 13"/>
          <p:cNvSpPr txBox="1"/>
          <p:nvPr/>
        </p:nvSpPr>
        <p:spPr>
          <a:xfrm>
            <a:off x="6939482" y="2322576"/>
            <a:ext cx="1494129" cy="868680"/>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HM-8.5</a:t>
            </a:r>
          </a:p>
          <a:p>
            <a:pPr algn="ctr">
              <a:lnSpc>
                <a:spcPct val="110000"/>
              </a:lnSpc>
            </a:pPr>
            <a:r>
              <a:rPr sz="1100" b="0">
                <a:solidFill>
                  <a:srgbClr val="556175"/>
                </a:solidFill>
                <a:latin typeface="맑은 고딕"/>
                <a:ea typeface="맑은 고딕"/>
                <a:cs typeface="맑은 고딕"/>
              </a:rPr>
              <a:t>매뉴얼 절</a:t>
            </a:r>
          </a:p>
          <a:p>
            <a:pPr algn="ctr">
              <a:lnSpc>
                <a:spcPct val="110000"/>
              </a:lnSpc>
            </a:pPr>
            <a:r>
              <a:rPr sz="1100" b="0">
                <a:solidFill>
                  <a:srgbClr val="556175"/>
                </a:solidFill>
                <a:latin typeface="맑은 고딕"/>
                <a:ea typeface="맑은 고딕"/>
                <a:cs typeface="맑은 고딕"/>
              </a:rPr>
              <a:t>즉시 완화 조치</a:t>
            </a:r>
          </a:p>
        </p:txBody>
      </p:sp>
      <p:sp>
        <p:nvSpPr>
          <p:cNvPr id="15" name="Oval 14"/>
          <p:cNvSpPr/>
          <p:nvPr/>
        </p:nvSpPr>
        <p:spPr>
          <a:xfrm>
            <a:off x="9905695" y="1627632"/>
            <a:ext cx="1737360" cy="1737360"/>
          </a:xfrm>
          <a:prstGeom prst="ellipse">
            <a:avLst/>
          </a:prstGeom>
          <a:solidFill>
            <a:srgbClr val="E7F3FD"/>
          </a:solidFill>
          <a:ln w="25400">
            <a:solidFill>
              <a:srgbClr val="5CB8F2"/>
            </a:solidFill>
          </a:ln>
        </p:spPr>
        <p:txBody>
          <a:bodyPr rtlCol="0" anchor="ctr"/>
          <a:lstStyle/>
          <a:p>
            <a:pPr algn="ctr"/>
          </a:p>
        </p:txBody>
      </p:sp>
      <p:pic>
        <p:nvPicPr>
          <p:cNvPr id="16" name="아이콘:book-2" descr="book-2_13294B_1.6.png"/>
          <p:cNvPicPr>
            <a:picLocks noChangeAspect="1"/>
          </p:cNvPicPr>
          <p:nvPr/>
        </p:nvPicPr>
        <p:blipFill>
          <a:blip r:embed="rId6"/>
          <a:stretch>
            <a:fillRect/>
          </a:stretch>
        </p:blipFill>
        <p:spPr>
          <a:xfrm>
            <a:off x="10565892" y="1870862"/>
            <a:ext cx="416966" cy="416966"/>
          </a:xfrm>
          <a:prstGeom prst="rect">
            <a:avLst/>
          </a:prstGeom>
        </p:spPr>
      </p:pic>
      <p:sp>
        <p:nvSpPr>
          <p:cNvPr id="17" name="TextBox 16"/>
          <p:cNvSpPr txBox="1"/>
          <p:nvPr/>
        </p:nvSpPr>
        <p:spPr>
          <a:xfrm>
            <a:off x="10027310" y="2322576"/>
            <a:ext cx="1494129" cy="868680"/>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HM-8</a:t>
            </a:r>
          </a:p>
          <a:p>
            <a:pPr algn="ctr">
              <a:lnSpc>
                <a:spcPct val="110000"/>
              </a:lnSpc>
            </a:pPr>
            <a:r>
              <a:rPr sz="1100" b="0">
                <a:solidFill>
                  <a:srgbClr val="556175"/>
                </a:solidFill>
                <a:latin typeface="맑은 고딕"/>
                <a:ea typeface="맑은 고딕"/>
                <a:cs typeface="맑은 고딕"/>
              </a:rPr>
              <a:t>문서</a:t>
            </a:r>
          </a:p>
          <a:p>
            <a:pPr algn="ctr">
              <a:lnSpc>
                <a:spcPct val="110000"/>
              </a:lnSpc>
            </a:pPr>
            <a:r>
              <a:rPr sz="1100" b="0">
                <a:solidFill>
                  <a:srgbClr val="556175"/>
                </a:solidFill>
                <a:latin typeface="맑은 고딕"/>
                <a:ea typeface="맑은 고딕"/>
                <a:cs typeface="맑은 고딕"/>
              </a:rPr>
              <a:t>쿨러 팬 정비 매뉴얼</a:t>
            </a:r>
          </a:p>
        </p:txBody>
      </p:sp>
      <p:sp>
        <p:nvSpPr>
          <p:cNvPr id="18" name="Oval 17"/>
          <p:cNvSpPr/>
          <p:nvPr/>
        </p:nvSpPr>
        <p:spPr>
          <a:xfrm>
            <a:off x="6817866" y="4617720"/>
            <a:ext cx="1737360" cy="1737360"/>
          </a:xfrm>
          <a:prstGeom prst="ellipse">
            <a:avLst/>
          </a:prstGeom>
          <a:solidFill>
            <a:srgbClr val="E7F3FD"/>
          </a:solidFill>
          <a:ln w="25400">
            <a:solidFill>
              <a:srgbClr val="5CB8F2"/>
            </a:solidFill>
          </a:ln>
        </p:spPr>
        <p:txBody>
          <a:bodyPr rtlCol="0" anchor="ctr"/>
          <a:lstStyle/>
          <a:p>
            <a:pPr algn="ctr"/>
          </a:p>
        </p:txBody>
      </p:sp>
      <p:pic>
        <p:nvPicPr>
          <p:cNvPr id="19" name="아이콘:list-check" descr="list-check_13294B_1.6.png"/>
          <p:cNvPicPr>
            <a:picLocks noChangeAspect="1"/>
          </p:cNvPicPr>
          <p:nvPr/>
        </p:nvPicPr>
        <p:blipFill>
          <a:blip r:embed="rId7"/>
          <a:stretch>
            <a:fillRect/>
          </a:stretch>
        </p:blipFill>
        <p:spPr>
          <a:xfrm>
            <a:off x="7478063" y="4860950"/>
            <a:ext cx="416966" cy="416966"/>
          </a:xfrm>
          <a:prstGeom prst="rect">
            <a:avLst/>
          </a:prstGeom>
        </p:spPr>
      </p:pic>
      <p:sp>
        <p:nvSpPr>
          <p:cNvPr id="20" name="TextBox 19"/>
          <p:cNvSpPr txBox="1"/>
          <p:nvPr/>
        </p:nvSpPr>
        <p:spPr>
          <a:xfrm>
            <a:off x="6939482" y="5312664"/>
            <a:ext cx="1494129" cy="868680"/>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후보 선택 규칙</a:t>
            </a:r>
          </a:p>
          <a:p>
            <a:pPr algn="ctr">
              <a:lnSpc>
                <a:spcPct val="110000"/>
              </a:lnSpc>
            </a:pPr>
            <a:r>
              <a:rPr sz="1100" b="0">
                <a:solidFill>
                  <a:srgbClr val="556175"/>
                </a:solidFill>
                <a:latin typeface="맑은 고딕"/>
                <a:ea typeface="맑은 고딕"/>
                <a:cs typeface="맑은 고딕"/>
              </a:rPr>
              <a:t>냉각 성능 상실의</a:t>
            </a:r>
          </a:p>
          <a:p>
            <a:pPr algn="ctr">
              <a:lnSpc>
                <a:spcPct val="110000"/>
              </a:lnSpc>
            </a:pPr>
            <a:r>
              <a:rPr sz="1100" b="0">
                <a:solidFill>
                  <a:srgbClr val="556175"/>
                </a:solidFill>
                <a:latin typeface="맑은 고딕"/>
                <a:ea typeface="맑은 고딕"/>
                <a:cs typeface="맑은 고딕"/>
              </a:rPr>
              <a:t>완화 후보</a:t>
            </a:r>
          </a:p>
        </p:txBody>
      </p:sp>
      <p:cxnSp>
        <p:nvCxnSpPr>
          <p:cNvPr id="21" name="Connector 20"/>
          <p:cNvCxnSpPr/>
          <p:nvPr/>
        </p:nvCxnSpPr>
        <p:spPr>
          <a:xfrm>
            <a:off x="2331720" y="2496312"/>
            <a:ext cx="1231596" cy="0"/>
          </a:xfrm>
          <a:prstGeom prst="line">
            <a:avLst/>
          </a:prstGeom>
          <a:ln w="28575">
            <a:solidFill>
              <a:srgbClr val="13294B"/>
            </a:solidFill>
            <a:tailEnd type="triangle" w="med" len="med"/>
          </a:ln>
        </p:spPr>
      </p:cxnSp>
      <p:sp>
        <p:nvSpPr>
          <p:cNvPr id="22" name="Rounded Rectangle 21"/>
          <p:cNvSpPr/>
          <p:nvPr/>
        </p:nvSpPr>
        <p:spPr>
          <a:xfrm>
            <a:off x="2391574" y="2130552"/>
            <a:ext cx="1111887"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3" name="TextBox 22"/>
          <p:cNvSpPr txBox="1"/>
          <p:nvPr/>
        </p:nvSpPr>
        <p:spPr>
          <a:xfrm>
            <a:off x="2391574" y="2130552"/>
            <a:ext cx="1111887"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HAS_STEP</a:t>
            </a:r>
          </a:p>
        </p:txBody>
      </p:sp>
      <p:cxnSp>
        <p:nvCxnSpPr>
          <p:cNvPr id="24" name="Connector 23"/>
          <p:cNvCxnSpPr/>
          <p:nvPr/>
        </p:nvCxnSpPr>
        <p:spPr>
          <a:xfrm>
            <a:off x="5419548" y="2496312"/>
            <a:ext cx="1325166" cy="0"/>
          </a:xfrm>
          <a:prstGeom prst="line">
            <a:avLst/>
          </a:prstGeom>
          <a:ln w="28575">
            <a:solidFill>
              <a:srgbClr val="13294B"/>
            </a:solidFill>
            <a:tailEnd type="triangle" w="med" len="med"/>
          </a:ln>
        </p:spPr>
      </p:cxnSp>
      <p:sp>
        <p:nvSpPr>
          <p:cNvPr id="25" name="Rounded Rectangle 24"/>
          <p:cNvSpPr/>
          <p:nvPr/>
        </p:nvSpPr>
        <p:spPr>
          <a:xfrm>
            <a:off x="5472762" y="2130552"/>
            <a:ext cx="1218737"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6" name="TextBox 25"/>
          <p:cNvSpPr txBox="1"/>
          <p:nvPr/>
        </p:nvSpPr>
        <p:spPr>
          <a:xfrm>
            <a:off x="5472762" y="2130552"/>
            <a:ext cx="1218737"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REFERS_TO</a:t>
            </a:r>
          </a:p>
        </p:txBody>
      </p:sp>
      <p:cxnSp>
        <p:nvCxnSpPr>
          <p:cNvPr id="27" name="Connector 26"/>
          <p:cNvCxnSpPr/>
          <p:nvPr/>
        </p:nvCxnSpPr>
        <p:spPr>
          <a:xfrm>
            <a:off x="8600946" y="2496312"/>
            <a:ext cx="1231597" cy="0"/>
          </a:xfrm>
          <a:prstGeom prst="line">
            <a:avLst/>
          </a:prstGeom>
          <a:ln w="28575">
            <a:solidFill>
              <a:srgbClr val="13294B"/>
            </a:solidFill>
            <a:tailEnd type="triangle" w="med" len="med"/>
          </a:ln>
        </p:spPr>
      </p:cxnSp>
      <p:sp>
        <p:nvSpPr>
          <p:cNvPr id="28" name="Rounded Rectangle 27"/>
          <p:cNvSpPr/>
          <p:nvPr/>
        </p:nvSpPr>
        <p:spPr>
          <a:xfrm>
            <a:off x="8714226" y="2130552"/>
            <a:ext cx="1005037"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9" name="TextBox 28"/>
          <p:cNvSpPr txBox="1"/>
          <p:nvPr/>
        </p:nvSpPr>
        <p:spPr>
          <a:xfrm>
            <a:off x="8714226" y="2130552"/>
            <a:ext cx="1005037"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PART_OF</a:t>
            </a:r>
          </a:p>
        </p:txBody>
      </p:sp>
      <p:cxnSp>
        <p:nvCxnSpPr>
          <p:cNvPr id="30" name="Connector 29"/>
          <p:cNvCxnSpPr/>
          <p:nvPr/>
        </p:nvCxnSpPr>
        <p:spPr>
          <a:xfrm flipV="1">
            <a:off x="7686546" y="3438144"/>
            <a:ext cx="0" cy="1133856"/>
          </a:xfrm>
          <a:prstGeom prst="line">
            <a:avLst/>
          </a:prstGeom>
          <a:ln w="28575">
            <a:solidFill>
              <a:srgbClr val="13294B"/>
            </a:solidFill>
            <a:tailEnd type="triangle" w="med" len="med"/>
          </a:ln>
        </p:spPr>
      </p:cxnSp>
      <p:sp>
        <p:nvSpPr>
          <p:cNvPr id="31" name="Rounded Rectangle 30"/>
          <p:cNvSpPr/>
          <p:nvPr/>
        </p:nvSpPr>
        <p:spPr>
          <a:xfrm>
            <a:off x="7777986" y="3858768"/>
            <a:ext cx="1539288"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32" name="TextBox 31"/>
          <p:cNvSpPr txBox="1"/>
          <p:nvPr/>
        </p:nvSpPr>
        <p:spPr>
          <a:xfrm>
            <a:off x="7777986" y="3858768"/>
            <a:ext cx="1539288"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DERIVED_FROM</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지식과 값: 잘 바뀌지 않는 것과 계속 변하는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값을 지식 그래프에 복사하면 원천과 어긋나 판단이 지난 값을 보므로, 지식만 등록하고 값은 원천에서 읽는다.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18</a:t>
            </a:r>
          </a:p>
        </p:txBody>
      </p:sp>
      <p:sp>
        <p:nvSpPr>
          <p:cNvPr id="6" name="Rounded Rectangle 5"/>
          <p:cNvSpPr/>
          <p:nvPr/>
        </p:nvSpPr>
        <p:spPr>
          <a:xfrm>
            <a:off x="548640" y="1978215"/>
            <a:ext cx="5181447" cy="4026281"/>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179383"/>
            <a:ext cx="731520" cy="731520"/>
          </a:xfrm>
          <a:prstGeom prst="ellipse">
            <a:avLst/>
          </a:prstGeom>
          <a:solidFill>
            <a:srgbClr val="FFFFFF"/>
          </a:solidFill>
          <a:ln>
            <a:noFill/>
          </a:ln>
        </p:spPr>
        <p:txBody>
          <a:bodyPr rtlCol="0" anchor="ctr"/>
          <a:lstStyle/>
          <a:p>
            <a:pPr algn="ctr"/>
          </a:p>
        </p:txBody>
      </p:sp>
      <p:pic>
        <p:nvPicPr>
          <p:cNvPr id="8" name="아이콘:book-2" descr="book-2_13294B_1.6.png"/>
          <p:cNvPicPr>
            <a:picLocks noChangeAspect="1"/>
          </p:cNvPicPr>
          <p:nvPr/>
        </p:nvPicPr>
        <p:blipFill>
          <a:blip r:embed="rId3"/>
          <a:stretch>
            <a:fillRect/>
          </a:stretch>
        </p:blipFill>
        <p:spPr>
          <a:xfrm>
            <a:off x="976579" y="2333002"/>
            <a:ext cx="424281" cy="424281"/>
          </a:xfrm>
          <a:prstGeom prst="rect">
            <a:avLst/>
          </a:prstGeom>
        </p:spPr>
      </p:pic>
      <p:sp>
        <p:nvSpPr>
          <p:cNvPr id="9" name="TextBox 8"/>
          <p:cNvSpPr txBox="1"/>
          <p:nvPr/>
        </p:nvSpPr>
        <p:spPr>
          <a:xfrm>
            <a:off x="1691640" y="2179383"/>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지식</a:t>
            </a:r>
          </a:p>
        </p:txBody>
      </p:sp>
      <p:sp>
        <p:nvSpPr>
          <p:cNvPr id="10" name="TextBox 9"/>
          <p:cNvSpPr txBox="1"/>
          <p:nvPr/>
        </p:nvSpPr>
        <p:spPr>
          <a:xfrm>
            <a:off x="822959" y="3029775"/>
            <a:ext cx="4632807" cy="2426081"/>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원인, 절차, 규칙, 기준</a:t>
            </a:r>
          </a:p>
          <a:p>
            <a:pPr algn="l">
              <a:lnSpc>
                <a:spcPct val="110000"/>
              </a:lnSpc>
              <a:spcAft>
                <a:spcPts val="600"/>
              </a:spcAft>
            </a:pPr>
            <a:r>
              <a:rPr sz="1450" b="0">
                <a:solidFill>
                  <a:srgbClr val="1F2A3A"/>
                </a:solidFill>
                <a:latin typeface="맑은 고딕"/>
                <a:ea typeface="맑은 고딕"/>
                <a:cs typeface="맑은 고딕"/>
              </a:rPr>
              <a:t>• 문서가 개정될 때만 바뀐다</a:t>
            </a:r>
          </a:p>
          <a:p>
            <a:pPr algn="l">
              <a:lnSpc>
                <a:spcPct val="110000"/>
              </a:lnSpc>
              <a:spcAft>
                <a:spcPts val="600"/>
              </a:spcAft>
            </a:pPr>
            <a:r>
              <a:rPr sz="1450" b="0">
                <a:solidFill>
                  <a:srgbClr val="1F2A3A"/>
                </a:solidFill>
                <a:latin typeface="맑은 고딕"/>
                <a:ea typeface="맑은 고딕"/>
                <a:cs typeface="맑은 고딕"/>
              </a:rPr>
              <a:t>• 지식 그래프에 등록한다</a:t>
            </a:r>
          </a:p>
        </p:txBody>
      </p:sp>
      <p:sp>
        <p:nvSpPr>
          <p:cNvPr id="11" name="Rounded Rectangle 10"/>
          <p:cNvSpPr/>
          <p:nvPr/>
        </p:nvSpPr>
        <p:spPr>
          <a:xfrm>
            <a:off x="868680" y="5547296"/>
            <a:ext cx="112776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547296"/>
            <a:ext cx="11277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안정적이다</a:t>
            </a:r>
          </a:p>
        </p:txBody>
      </p:sp>
      <p:sp>
        <p:nvSpPr>
          <p:cNvPr id="13" name="Rounded Rectangle 12"/>
          <p:cNvSpPr/>
          <p:nvPr/>
        </p:nvSpPr>
        <p:spPr>
          <a:xfrm>
            <a:off x="6461607" y="1978215"/>
            <a:ext cx="5181447" cy="4026281"/>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179383"/>
            <a:ext cx="731520" cy="731520"/>
          </a:xfrm>
          <a:prstGeom prst="ellipse">
            <a:avLst/>
          </a:prstGeom>
          <a:solidFill>
            <a:srgbClr val="5CB8F2"/>
          </a:solidFill>
          <a:ln>
            <a:noFill/>
          </a:ln>
        </p:spPr>
        <p:txBody>
          <a:bodyPr rtlCol="0" anchor="ctr"/>
          <a:lstStyle/>
          <a:p>
            <a:pPr algn="ctr"/>
          </a:p>
        </p:txBody>
      </p:sp>
      <p:pic>
        <p:nvPicPr>
          <p:cNvPr id="15" name="아이콘:activity" descr="activity_13294B_1.6.png"/>
          <p:cNvPicPr>
            <a:picLocks noChangeAspect="1"/>
          </p:cNvPicPr>
          <p:nvPr/>
        </p:nvPicPr>
        <p:blipFill>
          <a:blip r:embed="rId4"/>
          <a:stretch>
            <a:fillRect/>
          </a:stretch>
        </p:blipFill>
        <p:spPr>
          <a:xfrm>
            <a:off x="6889546" y="2333002"/>
            <a:ext cx="424281" cy="424281"/>
          </a:xfrm>
          <a:prstGeom prst="rect">
            <a:avLst/>
          </a:prstGeom>
        </p:spPr>
      </p:pic>
      <p:sp>
        <p:nvSpPr>
          <p:cNvPr id="16" name="TextBox 15"/>
          <p:cNvSpPr txBox="1"/>
          <p:nvPr/>
        </p:nvSpPr>
        <p:spPr>
          <a:xfrm>
            <a:off x="7604607" y="2179383"/>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값</a:t>
            </a:r>
          </a:p>
        </p:txBody>
      </p:sp>
      <p:sp>
        <p:nvSpPr>
          <p:cNvPr id="17" name="TextBox 16"/>
          <p:cNvSpPr txBox="1"/>
          <p:nvPr/>
        </p:nvSpPr>
        <p:spPr>
          <a:xfrm>
            <a:off x="6735927" y="3029775"/>
            <a:ext cx="4632807" cy="2426081"/>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센서 값, 재고, 운전시간</a:t>
            </a:r>
          </a:p>
          <a:p>
            <a:pPr algn="l">
              <a:lnSpc>
                <a:spcPct val="110000"/>
              </a:lnSpc>
              <a:spcAft>
                <a:spcPts val="600"/>
              </a:spcAft>
            </a:pPr>
            <a:r>
              <a:rPr sz="1450" b="0">
                <a:solidFill>
                  <a:srgbClr val="1F2A3A"/>
                </a:solidFill>
                <a:latin typeface="맑은 고딕"/>
                <a:ea typeface="맑은 고딕"/>
                <a:cs typeface="맑은 고딕"/>
              </a:rPr>
              <a:t>• 매초, 또는 업무가 일어날 때마다 바뀐다</a:t>
            </a:r>
          </a:p>
          <a:p>
            <a:pPr algn="l">
              <a:lnSpc>
                <a:spcPct val="110000"/>
              </a:lnSpc>
              <a:spcAft>
                <a:spcPts val="600"/>
              </a:spcAft>
            </a:pPr>
            <a:r>
              <a:rPr sz="1450" b="0">
                <a:solidFill>
                  <a:srgbClr val="1F2A3A"/>
                </a:solidFill>
                <a:latin typeface="맑은 고딕"/>
                <a:ea typeface="맑은 고딕"/>
                <a:cs typeface="맑은 고딕"/>
              </a:rPr>
              <a:t>• 지식 그래프에 복사하면 넣은 순간부터 원천과 어긋난다</a:t>
            </a:r>
          </a:p>
          <a:p>
            <a:pPr algn="l">
              <a:lnSpc>
                <a:spcPct val="110000"/>
              </a:lnSpc>
              <a:spcAft>
                <a:spcPts val="600"/>
              </a:spcAft>
            </a:pPr>
            <a:r>
              <a:rPr sz="1450" b="0">
                <a:solidFill>
                  <a:srgbClr val="1F2A3A"/>
                </a:solidFill>
                <a:latin typeface="맑은 고딕"/>
                <a:ea typeface="맑은 고딕"/>
                <a:cs typeface="맑은 고딕"/>
              </a:rPr>
              <a:t>• 예: 쿨러 사건의 유온은 2분이 안 되어 6 ℃ 올랐다</a:t>
            </a:r>
          </a:p>
          <a:p>
            <a:pPr algn="l">
              <a:lnSpc>
                <a:spcPct val="110000"/>
              </a:lnSpc>
              <a:spcAft>
                <a:spcPts val="600"/>
              </a:spcAft>
            </a:pPr>
            <a:r>
              <a:rPr sz="1450" b="0">
                <a:solidFill>
                  <a:srgbClr val="1F2A3A"/>
                </a:solidFill>
                <a:latin typeface="맑은 고딕"/>
                <a:ea typeface="맑은 고딕"/>
                <a:cs typeface="맑은 고딕"/>
              </a:rPr>
              <a:t>• 시계열 DB와 업무 DB에 두고 판단하는 순간에 읽는다</a:t>
            </a:r>
          </a:p>
        </p:txBody>
      </p:sp>
      <p:sp>
        <p:nvSpPr>
          <p:cNvPr id="18" name="Rounded Rectangle 17"/>
          <p:cNvSpPr/>
          <p:nvPr/>
        </p:nvSpPr>
        <p:spPr>
          <a:xfrm>
            <a:off x="6781647" y="5547296"/>
            <a:ext cx="11734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547296"/>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계속 변한다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업무 데이터베이스의 등록: 값이 아니라 값의 자리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업무 데이터베이스는 행의 값을 옮기지 않고, 값이 어느 표의 어느 열에 있는지를 입력 데이터로 등록한다.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19</a:t>
            </a:r>
          </a:p>
        </p:txBody>
      </p:sp>
      <p:pic>
        <p:nvPicPr>
          <p:cNvPr id="6" name="삽화:입력데이터_자리.svg" descr="illust_5283095531706225683_1791770333.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2932094" y="1745818"/>
            <a:ext cx="370922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값의 자리: 어느 표의 어느 열인가</a:t>
            </a:r>
          </a:p>
        </p:txBody>
      </p:sp>
      <p:sp>
        <p:nvSpPr>
          <p:cNvPr id="8" name="TextBox 7"/>
          <p:cNvSpPr txBox="1"/>
          <p:nvPr/>
        </p:nvSpPr>
        <p:spPr>
          <a:xfrm>
            <a:off x="935656" y="5622325"/>
            <a:ext cx="414560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업무 DB의 표</a:t>
            </a:r>
          </a:p>
          <a:p>
            <a:pPr algn="ctr">
              <a:lnSpc>
                <a:spcPct val="110000"/>
              </a:lnSpc>
              <a:spcAft>
                <a:spcPts val="100"/>
              </a:spcAft>
            </a:pPr>
            <a:r>
              <a:rPr sz="1300" b="0">
                <a:solidFill>
                  <a:srgbClr val="556175"/>
                </a:solidFill>
                <a:latin typeface="맑은 고딕"/>
                <a:ea typeface="맑은 고딕"/>
                <a:cs typeface="맑은 고딕"/>
              </a:rPr>
              <a:t>정비 계수기 표의 운전시간 열</a:t>
            </a:r>
          </a:p>
          <a:p>
            <a:pPr algn="ctr">
              <a:lnSpc>
                <a:spcPct val="110000"/>
              </a:lnSpc>
              <a:spcAft>
                <a:spcPts val="100"/>
              </a:spcAft>
            </a:pPr>
            <a:r>
              <a:rPr sz="1300" b="0">
                <a:solidFill>
                  <a:srgbClr val="556175"/>
                </a:solidFill>
                <a:latin typeface="맑은 고딕"/>
                <a:ea typeface="맑은 고딕"/>
                <a:cs typeface="맑은 고딕"/>
              </a:rPr>
              <a:t>값은 이 표에 그대로 있다</a:t>
            </a:r>
          </a:p>
        </p:txBody>
      </p:sp>
      <p:sp>
        <p:nvSpPr>
          <p:cNvPr id="9" name="TextBox 8"/>
          <p:cNvSpPr txBox="1"/>
          <p:nvPr/>
        </p:nvSpPr>
        <p:spPr>
          <a:xfrm>
            <a:off x="8114104" y="2194925"/>
            <a:ext cx="2290993"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이상 패턴</a:t>
            </a:r>
          </a:p>
          <a:p>
            <a:pPr algn="ctr">
              <a:lnSpc>
                <a:spcPct val="110000"/>
              </a:lnSpc>
              <a:spcAft>
                <a:spcPts val="100"/>
              </a:spcAft>
            </a:pPr>
            <a:r>
              <a:rPr sz="1300" b="0">
                <a:solidFill>
                  <a:srgbClr val="556175"/>
                </a:solidFill>
                <a:latin typeface="맑은 고딕"/>
                <a:ea typeface="맑은 고딕"/>
                <a:cs typeface="맑은 고딕"/>
              </a:rPr>
              <a:t>정기 정비 도래</a:t>
            </a:r>
          </a:p>
          <a:p>
            <a:pPr algn="ctr">
              <a:lnSpc>
                <a:spcPct val="110000"/>
              </a:lnSpc>
              <a:spcAft>
                <a:spcPts val="100"/>
              </a:spcAft>
            </a:pPr>
            <a:r>
              <a:rPr sz="1300" b="0">
                <a:solidFill>
                  <a:srgbClr val="556175"/>
                </a:solidFill>
                <a:latin typeface="맑은 고딕"/>
                <a:ea typeface="맑은 고딕"/>
                <a:cs typeface="맑은 고딕"/>
              </a:rPr>
              <a:t>1,950시간 이상인가</a:t>
            </a:r>
          </a:p>
        </p:txBody>
      </p:sp>
      <p:sp>
        <p:nvSpPr>
          <p:cNvPr id="10" name="TextBox 9"/>
          <p:cNvSpPr txBox="1"/>
          <p:nvPr/>
        </p:nvSpPr>
        <p:spPr>
          <a:xfrm>
            <a:off x="6368584" y="3329513"/>
            <a:ext cx="981854"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TESTS</a:t>
            </a:r>
          </a:p>
          <a:p>
            <a:pPr algn="ctr">
              <a:lnSpc>
                <a:spcPct val="110000"/>
              </a:lnSpc>
              <a:spcAft>
                <a:spcPts val="100"/>
              </a:spcAft>
            </a:pPr>
            <a:r>
              <a:rPr sz="1300" b="0">
                <a:solidFill>
                  <a:srgbClr val="556175"/>
                </a:solidFill>
                <a:latin typeface="맑은 고딕"/>
                <a:ea typeface="맑은 고딕"/>
                <a:cs typeface="맑은 고딕"/>
              </a:rPr>
              <a:t>검사한다</a:t>
            </a:r>
          </a:p>
        </p:txBody>
      </p:sp>
      <p:sp>
        <p:nvSpPr>
          <p:cNvPr id="11" name="TextBox 10"/>
          <p:cNvSpPr txBox="1"/>
          <p:nvPr/>
        </p:nvSpPr>
        <p:spPr>
          <a:xfrm>
            <a:off x="6859512" y="4960482"/>
            <a:ext cx="2400088"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입력 데이터</a:t>
            </a:r>
          </a:p>
          <a:p>
            <a:pPr algn="ctr">
              <a:lnSpc>
                <a:spcPct val="110000"/>
              </a:lnSpc>
              <a:spcAft>
                <a:spcPts val="100"/>
              </a:spcAft>
            </a:pPr>
            <a:r>
              <a:rPr sz="1300" b="0">
                <a:solidFill>
                  <a:srgbClr val="556175"/>
                </a:solidFill>
                <a:latin typeface="맑은 고딕"/>
                <a:ea typeface="맑은 고딕"/>
                <a:cs typeface="맑은 고딕"/>
              </a:rPr>
              <a:t>마지막 정기 정비 뒤</a:t>
            </a:r>
          </a:p>
          <a:p>
            <a:pPr algn="ctr">
              <a:lnSpc>
                <a:spcPct val="110000"/>
              </a:lnSpc>
              <a:spcAft>
                <a:spcPts val="100"/>
              </a:spcAft>
            </a:pPr>
            <a:r>
              <a:rPr sz="1300" b="0">
                <a:solidFill>
                  <a:srgbClr val="556175"/>
                </a:solidFill>
                <a:latin typeface="맑은 고딕"/>
                <a:ea typeface="맑은 고딕"/>
                <a:cs typeface="맑은 고딕"/>
              </a:rPr>
              <a:t>운전시간</a:t>
            </a:r>
          </a:p>
        </p:txBody>
      </p:sp>
      <p:sp>
        <p:nvSpPr>
          <p:cNvPr id="12" name="TextBox 11"/>
          <p:cNvSpPr txBox="1"/>
          <p:nvPr/>
        </p:nvSpPr>
        <p:spPr>
          <a:xfrm>
            <a:off x="8059556" y="3494973"/>
            <a:ext cx="1854614"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SOURCED_FROM</a:t>
            </a:r>
          </a:p>
          <a:p>
            <a:pPr algn="ctr">
              <a:lnSpc>
                <a:spcPct val="110000"/>
              </a:lnSpc>
              <a:spcAft>
                <a:spcPts val="100"/>
              </a:spcAft>
            </a:pPr>
            <a:r>
              <a:rPr sz="1300" b="0">
                <a:solidFill>
                  <a:srgbClr val="556175"/>
                </a:solidFill>
                <a:latin typeface="맑은 고딕"/>
                <a:ea typeface="맑은 고딕"/>
                <a:cs typeface="맑은 고딕"/>
              </a:rPr>
              <a:t>출처로 삼는다</a:t>
            </a:r>
          </a:p>
        </p:txBody>
      </p:sp>
      <p:sp>
        <p:nvSpPr>
          <p:cNvPr id="13" name="TextBox 12"/>
          <p:cNvSpPr txBox="1"/>
          <p:nvPr/>
        </p:nvSpPr>
        <p:spPr>
          <a:xfrm>
            <a:off x="9401424" y="4865933"/>
            <a:ext cx="174551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출처 시스템</a:t>
            </a:r>
          </a:p>
          <a:p>
            <a:pPr algn="ctr">
              <a:lnSpc>
                <a:spcPct val="110000"/>
              </a:lnSpc>
              <a:spcAft>
                <a:spcPts val="100"/>
              </a:spcAft>
            </a:pPr>
            <a:r>
              <a:rPr sz="1300" b="0">
                <a:solidFill>
                  <a:srgbClr val="556175"/>
                </a:solidFill>
                <a:latin typeface="맑은 고딕"/>
                <a:ea typeface="맑은 고딕"/>
                <a:cs typeface="맑은 고딕"/>
              </a:rPr>
              <a:t>정비 관리 시스템</a:t>
            </a:r>
          </a:p>
        </p:txBody>
      </p:sp>
      <p:sp>
        <p:nvSpPr>
          <p:cNvPr id="14" name="TextBox 13"/>
          <p:cNvSpPr txBox="1"/>
          <p:nvPr/>
        </p:nvSpPr>
        <p:spPr>
          <a:xfrm>
            <a:off x="4895803" y="5031394"/>
            <a:ext cx="1854614" cy="62382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판단 시점에 읽는다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매뉴얼의 등록, 추출, 검토, 승인</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HYD 포털에서 설비 정비 매뉴얼 한 편을 원문 보관부터 승인 적재까지 진행한다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하는 일과 만들어지는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실습을 마치면 매뉴얼 한 편에서 나온 조치 방법, 원인, 규칙이 출처와 함께 지식 그래프에 등록된다.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21</a:t>
            </a:r>
          </a:p>
        </p:txBody>
      </p:sp>
      <p:sp>
        <p:nvSpPr>
          <p:cNvPr id="6" name="Rounded Rectangle 5"/>
          <p:cNvSpPr/>
          <p:nvPr/>
        </p:nvSpPr>
        <p:spPr>
          <a:xfrm>
            <a:off x="548640" y="2186178"/>
            <a:ext cx="3515258" cy="361035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387346"/>
            <a:ext cx="731520" cy="731520"/>
          </a:xfrm>
          <a:prstGeom prst="ellipse">
            <a:avLst/>
          </a:prstGeom>
          <a:solidFill>
            <a:srgbClr val="E7F3FD"/>
          </a:solidFill>
          <a:ln>
            <a:noFill/>
          </a:ln>
        </p:spPr>
        <p:txBody>
          <a:bodyPr rtlCol="0" anchor="ctr"/>
          <a:lstStyle/>
          <a:p>
            <a:pPr algn="ctr"/>
          </a:p>
        </p:txBody>
      </p:sp>
      <p:pic>
        <p:nvPicPr>
          <p:cNvPr id="8" name="아이콘:file-import" descr="file-import_13294B_1.6.png"/>
          <p:cNvPicPr>
            <a:picLocks noChangeAspect="1"/>
          </p:cNvPicPr>
          <p:nvPr/>
        </p:nvPicPr>
        <p:blipFill>
          <a:blip r:embed="rId3"/>
          <a:stretch>
            <a:fillRect/>
          </a:stretch>
        </p:blipFill>
        <p:spPr>
          <a:xfrm>
            <a:off x="930859" y="2540965"/>
            <a:ext cx="424281" cy="424281"/>
          </a:xfrm>
          <a:prstGeom prst="rect">
            <a:avLst/>
          </a:prstGeom>
        </p:spPr>
      </p:pic>
      <p:sp>
        <p:nvSpPr>
          <p:cNvPr id="9" name="TextBox 8"/>
          <p:cNvSpPr txBox="1"/>
          <p:nvPr/>
        </p:nvSpPr>
        <p:spPr>
          <a:xfrm>
            <a:off x="713232" y="3210306"/>
            <a:ext cx="3186074" cy="208330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등록과 추출</a:t>
            </a:r>
          </a:p>
          <a:p>
            <a:pPr algn="l">
              <a:lnSpc>
                <a:spcPct val="110000"/>
              </a:lnSpc>
              <a:spcAft>
                <a:spcPts val="400"/>
              </a:spcAft>
            </a:pPr>
            <a:r>
              <a:rPr sz="1400" b="0">
                <a:solidFill>
                  <a:srgbClr val="1F2A3A"/>
                </a:solidFill>
                <a:latin typeface="맑은 고딕"/>
                <a:ea typeface="맑은 고딕"/>
                <a:cs typeface="맑은 고딕"/>
              </a:rPr>
              <a:t>• 설비 정비 매뉴얼을 올려 원문을 보관한다</a:t>
            </a:r>
          </a:p>
          <a:p>
            <a:pPr algn="l">
              <a:lnSpc>
                <a:spcPct val="110000"/>
              </a:lnSpc>
              <a:spcAft>
                <a:spcPts val="400"/>
              </a:spcAft>
            </a:pPr>
            <a:r>
              <a:rPr sz="1400" b="0">
                <a:solidFill>
                  <a:srgbClr val="1F2A3A"/>
                </a:solidFill>
                <a:latin typeface="맑은 고딕"/>
                <a:ea typeface="맑은 고딕"/>
                <a:cs typeface="맑은 고딕"/>
              </a:rPr>
              <a:t>• 추출을 요청해 조치 방법, 단계, 고장 유형, 원인, 규칙의 제안을 받는다</a:t>
            </a:r>
          </a:p>
        </p:txBody>
      </p:sp>
      <p:sp>
        <p:nvSpPr>
          <p:cNvPr id="10" name="Rounded Rectangle 9"/>
          <p:cNvSpPr/>
          <p:nvPr/>
        </p:nvSpPr>
        <p:spPr>
          <a:xfrm>
            <a:off x="777240" y="5366766"/>
            <a:ext cx="16306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366766"/>
            <a:ext cx="16306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원문에서 제안까지</a:t>
            </a:r>
          </a:p>
        </p:txBody>
      </p:sp>
      <p:sp>
        <p:nvSpPr>
          <p:cNvPr id="12" name="Rounded Rectangle 11"/>
          <p:cNvSpPr/>
          <p:nvPr/>
        </p:nvSpPr>
        <p:spPr>
          <a:xfrm>
            <a:off x="4338218" y="2186178"/>
            <a:ext cx="3515258" cy="361035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387346"/>
            <a:ext cx="731520" cy="731520"/>
          </a:xfrm>
          <a:prstGeom prst="ellipse">
            <a:avLst/>
          </a:prstGeom>
          <a:solidFill>
            <a:srgbClr val="E7F3FD"/>
          </a:solidFill>
          <a:ln>
            <a:noFill/>
          </a:ln>
        </p:spPr>
        <p:txBody>
          <a:bodyPr rtlCol="0" anchor="ctr"/>
          <a:lstStyle/>
          <a:p>
            <a:pPr algn="ctr"/>
          </a:p>
        </p:txBody>
      </p:sp>
      <p:pic>
        <p:nvPicPr>
          <p:cNvPr id="14" name="아이콘:eye-check" descr="eye-check_13294B_1.6.png"/>
          <p:cNvPicPr>
            <a:picLocks noChangeAspect="1"/>
          </p:cNvPicPr>
          <p:nvPr/>
        </p:nvPicPr>
        <p:blipFill>
          <a:blip r:embed="rId4"/>
          <a:stretch>
            <a:fillRect/>
          </a:stretch>
        </p:blipFill>
        <p:spPr>
          <a:xfrm>
            <a:off x="4720437" y="2540965"/>
            <a:ext cx="424281" cy="424281"/>
          </a:xfrm>
          <a:prstGeom prst="rect">
            <a:avLst/>
          </a:prstGeom>
        </p:spPr>
      </p:pic>
      <p:sp>
        <p:nvSpPr>
          <p:cNvPr id="15" name="TextBox 14"/>
          <p:cNvSpPr txBox="1"/>
          <p:nvPr/>
        </p:nvSpPr>
        <p:spPr>
          <a:xfrm>
            <a:off x="4502810" y="3210306"/>
            <a:ext cx="3186074" cy="208330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대조와 검토</a:t>
            </a:r>
          </a:p>
          <a:p>
            <a:pPr algn="l">
              <a:lnSpc>
                <a:spcPct val="110000"/>
              </a:lnSpc>
              <a:spcAft>
                <a:spcPts val="400"/>
              </a:spcAft>
            </a:pPr>
            <a:r>
              <a:rPr sz="1400" b="0">
                <a:solidFill>
                  <a:srgbClr val="1F2A3A"/>
                </a:solidFill>
                <a:latin typeface="맑은 고딕"/>
                <a:ea typeface="맑은 고딕"/>
                <a:cs typeface="맑은 고딕"/>
              </a:rPr>
              <a:t>• 제안의 단계 문장을 원문 인용과 나란히 읽는다</a:t>
            </a:r>
          </a:p>
          <a:p>
            <a:pPr algn="l">
              <a:lnSpc>
                <a:spcPct val="110000"/>
              </a:lnSpc>
              <a:spcAft>
                <a:spcPts val="400"/>
              </a:spcAft>
            </a:pPr>
            <a:r>
              <a:rPr sz="1400" b="0">
                <a:solidFill>
                  <a:srgbClr val="1F2A3A"/>
                </a:solidFill>
                <a:latin typeface="맑은 고딕"/>
                <a:ea typeface="맑은 고딕"/>
                <a:cs typeface="맑은 고딕"/>
              </a:rPr>
              <a:t>• 부정 조건, 단위, 단계의 순서, 대상 설비를 확인해 틀린 곳을 고친다</a:t>
            </a:r>
          </a:p>
          <a:p>
            <a:pPr algn="l">
              <a:lnSpc>
                <a:spcPct val="110000"/>
              </a:lnSpc>
              <a:spcAft>
                <a:spcPts val="400"/>
              </a:spcAft>
            </a:pPr>
            <a:r>
              <a:rPr sz="1400" b="0">
                <a:solidFill>
                  <a:srgbClr val="1F2A3A"/>
                </a:solidFill>
                <a:latin typeface="맑은 고딕"/>
                <a:ea typeface="맑은 고딕"/>
                <a:cs typeface="맑은 고딕"/>
              </a:rPr>
              <a:t>• 원문에 근거가 없는 후보는 보류한다</a:t>
            </a:r>
          </a:p>
        </p:txBody>
      </p:sp>
      <p:sp>
        <p:nvSpPr>
          <p:cNvPr id="16" name="Rounded Rectangle 15"/>
          <p:cNvSpPr/>
          <p:nvPr/>
        </p:nvSpPr>
        <p:spPr>
          <a:xfrm>
            <a:off x="4566818" y="5366766"/>
            <a:ext cx="11734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366766"/>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사람의 확인</a:t>
            </a:r>
          </a:p>
        </p:txBody>
      </p:sp>
      <p:sp>
        <p:nvSpPr>
          <p:cNvPr id="18" name="Rounded Rectangle 17"/>
          <p:cNvSpPr/>
          <p:nvPr/>
        </p:nvSpPr>
        <p:spPr>
          <a:xfrm>
            <a:off x="8127796" y="2186178"/>
            <a:ext cx="3515258" cy="3610356"/>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387346"/>
            <a:ext cx="731520" cy="731520"/>
          </a:xfrm>
          <a:prstGeom prst="ellipse">
            <a:avLst/>
          </a:prstGeom>
          <a:solidFill>
            <a:srgbClr val="5CB8F2"/>
          </a:solidFill>
          <a:ln>
            <a:noFill/>
          </a:ln>
        </p:spPr>
        <p:txBody>
          <a:bodyPr rtlCol="0" anchor="ctr"/>
          <a:lstStyle/>
          <a:p>
            <a:pPr algn="ctr"/>
          </a:p>
        </p:txBody>
      </p:sp>
      <p:pic>
        <p:nvPicPr>
          <p:cNvPr id="20" name="아이콘:topology-star-3" descr="topology-star-3_13294B_1.6.png"/>
          <p:cNvPicPr>
            <a:picLocks noChangeAspect="1"/>
          </p:cNvPicPr>
          <p:nvPr/>
        </p:nvPicPr>
        <p:blipFill>
          <a:blip r:embed="rId5"/>
          <a:stretch>
            <a:fillRect/>
          </a:stretch>
        </p:blipFill>
        <p:spPr>
          <a:xfrm>
            <a:off x="8510016" y="2540965"/>
            <a:ext cx="424281" cy="424281"/>
          </a:xfrm>
          <a:prstGeom prst="rect">
            <a:avLst/>
          </a:prstGeom>
        </p:spPr>
      </p:pic>
      <p:sp>
        <p:nvSpPr>
          <p:cNvPr id="21" name="TextBox 20"/>
          <p:cNvSpPr txBox="1"/>
          <p:nvPr/>
        </p:nvSpPr>
        <p:spPr>
          <a:xfrm>
            <a:off x="8292388" y="3210306"/>
            <a:ext cx="3186074" cy="208330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승인과 확인</a:t>
            </a:r>
          </a:p>
          <a:p>
            <a:pPr algn="l">
              <a:lnSpc>
                <a:spcPct val="110000"/>
              </a:lnSpc>
              <a:spcAft>
                <a:spcPts val="400"/>
              </a:spcAft>
            </a:pPr>
            <a:r>
              <a:rPr sz="1400" b="0">
                <a:solidFill>
                  <a:srgbClr val="1F2A3A"/>
                </a:solidFill>
                <a:latin typeface="맑은 고딕"/>
                <a:ea typeface="맑은 고딕"/>
                <a:cs typeface="맑은 고딕"/>
              </a:rPr>
              <a:t>• 검토를 마쳤다고 표시해 지식 그래프에 적재한다</a:t>
            </a:r>
          </a:p>
          <a:p>
            <a:pPr algn="l">
              <a:lnSpc>
                <a:spcPct val="110000"/>
              </a:lnSpc>
              <a:spcAft>
                <a:spcPts val="400"/>
              </a:spcAft>
            </a:pPr>
            <a:r>
              <a:rPr sz="1400" b="0">
                <a:solidFill>
                  <a:srgbClr val="1F2A3A"/>
                </a:solidFill>
                <a:latin typeface="맑은 고딕"/>
                <a:ea typeface="맑은 고딕"/>
                <a:cs typeface="맑은 고딕"/>
              </a:rPr>
              <a:t>• 조치, 원인, 근거 문서가 이어진 관계를 확인한다</a:t>
            </a:r>
          </a:p>
          <a:p>
            <a:pPr algn="l">
              <a:lnSpc>
                <a:spcPct val="110000"/>
              </a:lnSpc>
              <a:spcAft>
                <a:spcPts val="400"/>
              </a:spcAft>
            </a:pPr>
            <a:r>
              <a:rPr sz="1400" b="0">
                <a:solidFill>
                  <a:srgbClr val="1F2A3A"/>
                </a:solidFill>
                <a:latin typeface="맑은 고딕"/>
                <a:ea typeface="맑은 고딕"/>
                <a:cs typeface="맑은 고딕"/>
              </a:rPr>
              <a:t>• 판단 기준과 원천에서 읽히는 지금의 값을 견주어 본다</a:t>
            </a:r>
          </a:p>
        </p:txBody>
      </p:sp>
      <p:sp>
        <p:nvSpPr>
          <p:cNvPr id="22" name="Rounded Rectangle 21"/>
          <p:cNvSpPr/>
          <p:nvPr/>
        </p:nvSpPr>
        <p:spPr>
          <a:xfrm>
            <a:off x="8356396" y="5366766"/>
            <a:ext cx="117348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366766"/>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등록된 지식</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바이브 코딩으로 문서에서 지식 추출하기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실습용 기술 매뉴얼과 작업 절차 자료에서 출처가 붙은 지식 후보를 만든다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지시하는 것과 완성되는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추출 실습의 결과물은 문서 식별자, 쪽, 원문 문장이 붙은 검토용 구조화 데이터이다.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23</a:t>
            </a:r>
          </a:p>
        </p:txBody>
      </p:sp>
      <p:sp>
        <p:nvSpPr>
          <p:cNvPr id="6" name="Rounded Rectangle 5"/>
          <p:cNvSpPr/>
          <p:nvPr/>
        </p:nvSpPr>
        <p:spPr>
          <a:xfrm>
            <a:off x="548640" y="2186178"/>
            <a:ext cx="3515258" cy="361035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387346"/>
            <a:ext cx="731520" cy="731520"/>
          </a:xfrm>
          <a:prstGeom prst="ellipse">
            <a:avLst/>
          </a:prstGeom>
          <a:solidFill>
            <a:srgbClr val="E7F3FD"/>
          </a:solidFill>
          <a:ln>
            <a:noFill/>
          </a:ln>
        </p:spPr>
        <p:txBody>
          <a:bodyPr rtlCol="0" anchor="ctr"/>
          <a:lstStyle/>
          <a:p>
            <a:pPr algn="ctr"/>
          </a:p>
        </p:txBody>
      </p:sp>
      <p:pic>
        <p:nvPicPr>
          <p:cNvPr id="8" name="아이콘:file-text" descr="file-text_13294B_1.6.png"/>
          <p:cNvPicPr>
            <a:picLocks noChangeAspect="1"/>
          </p:cNvPicPr>
          <p:nvPr/>
        </p:nvPicPr>
        <p:blipFill>
          <a:blip r:embed="rId3"/>
          <a:stretch>
            <a:fillRect/>
          </a:stretch>
        </p:blipFill>
        <p:spPr>
          <a:xfrm>
            <a:off x="930859" y="2540965"/>
            <a:ext cx="424281" cy="424281"/>
          </a:xfrm>
          <a:prstGeom prst="rect">
            <a:avLst/>
          </a:prstGeom>
        </p:spPr>
      </p:pic>
      <p:sp>
        <p:nvSpPr>
          <p:cNvPr id="9" name="TextBox 8"/>
          <p:cNvSpPr txBox="1"/>
          <p:nvPr/>
        </p:nvSpPr>
        <p:spPr>
          <a:xfrm>
            <a:off x="713232" y="3210306"/>
            <a:ext cx="3186074" cy="208330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문서 분석</a:t>
            </a:r>
          </a:p>
          <a:p>
            <a:pPr algn="l">
              <a:lnSpc>
                <a:spcPct val="110000"/>
              </a:lnSpc>
              <a:spcAft>
                <a:spcPts val="400"/>
              </a:spcAft>
            </a:pPr>
            <a:r>
              <a:rPr sz="1400" b="0">
                <a:solidFill>
                  <a:srgbClr val="1F2A3A"/>
                </a:solidFill>
                <a:latin typeface="맑은 고딕"/>
                <a:ea typeface="맑은 고딕"/>
                <a:cs typeface="맑은 고딕"/>
              </a:rPr>
              <a:t>• 실습용 매뉴얼과 작업 절차 자료를 읽는다</a:t>
            </a:r>
          </a:p>
          <a:p>
            <a:pPr algn="l">
              <a:lnSpc>
                <a:spcPct val="110000"/>
              </a:lnSpc>
              <a:spcAft>
                <a:spcPts val="400"/>
              </a:spcAft>
            </a:pPr>
            <a:r>
              <a:rPr sz="1400" b="0">
                <a:solidFill>
                  <a:srgbClr val="1F2A3A"/>
                </a:solidFill>
                <a:latin typeface="맑은 고딕"/>
                <a:ea typeface="맑은 고딕"/>
                <a:cs typeface="맑은 고딕"/>
              </a:rPr>
              <a:t>• 표, 작업 단계, 단위, 금지 조건을 확인한다</a:t>
            </a:r>
          </a:p>
        </p:txBody>
      </p:sp>
      <p:sp>
        <p:nvSpPr>
          <p:cNvPr id="10" name="Rounded Rectangle 9"/>
          <p:cNvSpPr/>
          <p:nvPr/>
        </p:nvSpPr>
        <p:spPr>
          <a:xfrm>
            <a:off x="777240" y="5366766"/>
            <a:ext cx="10210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366766"/>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읽을 대상</a:t>
            </a:r>
          </a:p>
        </p:txBody>
      </p:sp>
      <p:sp>
        <p:nvSpPr>
          <p:cNvPr id="12" name="Rounded Rectangle 11"/>
          <p:cNvSpPr/>
          <p:nvPr/>
        </p:nvSpPr>
        <p:spPr>
          <a:xfrm>
            <a:off x="4338218" y="2186178"/>
            <a:ext cx="3515258" cy="361035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387346"/>
            <a:ext cx="731520" cy="731520"/>
          </a:xfrm>
          <a:prstGeom prst="ellipse">
            <a:avLst/>
          </a:prstGeom>
          <a:solidFill>
            <a:srgbClr val="E7F3FD"/>
          </a:solidFill>
          <a:ln>
            <a:noFill/>
          </a:ln>
        </p:spPr>
        <p:txBody>
          <a:bodyPr rtlCol="0" anchor="ctr"/>
          <a:lstStyle/>
          <a:p>
            <a:pPr algn="ctr"/>
          </a:p>
        </p:txBody>
      </p:sp>
      <p:pic>
        <p:nvPicPr>
          <p:cNvPr id="14" name="아이콘:message-chatbot" descr="message-chatbot_13294B_1.6.png"/>
          <p:cNvPicPr>
            <a:picLocks noChangeAspect="1"/>
          </p:cNvPicPr>
          <p:nvPr/>
        </p:nvPicPr>
        <p:blipFill>
          <a:blip r:embed="rId4"/>
          <a:stretch>
            <a:fillRect/>
          </a:stretch>
        </p:blipFill>
        <p:spPr>
          <a:xfrm>
            <a:off x="4720437" y="2540965"/>
            <a:ext cx="424281" cy="424281"/>
          </a:xfrm>
          <a:prstGeom prst="rect">
            <a:avLst/>
          </a:prstGeom>
        </p:spPr>
      </p:pic>
      <p:sp>
        <p:nvSpPr>
          <p:cNvPr id="15" name="TextBox 14"/>
          <p:cNvSpPr txBox="1"/>
          <p:nvPr/>
        </p:nvSpPr>
        <p:spPr>
          <a:xfrm>
            <a:off x="4502810" y="3210306"/>
            <a:ext cx="3186074" cy="208330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추출 지시</a:t>
            </a:r>
          </a:p>
          <a:p>
            <a:pPr algn="l">
              <a:lnSpc>
                <a:spcPct val="110000"/>
              </a:lnSpc>
              <a:spcAft>
                <a:spcPts val="400"/>
              </a:spcAft>
            </a:pPr>
            <a:r>
              <a:rPr sz="1400" b="0">
                <a:solidFill>
                  <a:srgbClr val="1F2A3A"/>
                </a:solidFill>
                <a:latin typeface="맑은 고딕"/>
                <a:ea typeface="맑은 고딕"/>
                <a:cs typeface="맑은 고딕"/>
              </a:rPr>
              <a:t>• AI에게 원인, 조치, 수행 조건을 스키마의 클래스에 맞춰 뽑게 한다</a:t>
            </a:r>
          </a:p>
          <a:p>
            <a:pPr algn="l">
              <a:lnSpc>
                <a:spcPct val="110000"/>
              </a:lnSpc>
              <a:spcAft>
                <a:spcPts val="400"/>
              </a:spcAft>
            </a:pPr>
            <a:r>
              <a:rPr sz="1400" b="0">
                <a:solidFill>
                  <a:srgbClr val="1F2A3A"/>
                </a:solidFill>
                <a:latin typeface="맑은 고딕"/>
                <a:ea typeface="맑은 고딕"/>
                <a:cs typeface="맑은 고딕"/>
              </a:rPr>
              <a:t>• JSON(JavaScript Object Notation) 형식으로, 후보마다 문서 식별자, 쪽, 원문 문장을 함께 내게 한다</a:t>
            </a:r>
          </a:p>
        </p:txBody>
      </p:sp>
      <p:sp>
        <p:nvSpPr>
          <p:cNvPr id="16" name="Rounded Rectangle 15"/>
          <p:cNvSpPr/>
          <p:nvPr/>
        </p:nvSpPr>
        <p:spPr>
          <a:xfrm>
            <a:off x="4566818" y="5366766"/>
            <a:ext cx="1094232"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366766"/>
            <a:ext cx="1094232"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JSON 출력</a:t>
            </a:r>
          </a:p>
        </p:txBody>
      </p:sp>
      <p:sp>
        <p:nvSpPr>
          <p:cNvPr id="18" name="Rounded Rectangle 17"/>
          <p:cNvSpPr/>
          <p:nvPr/>
        </p:nvSpPr>
        <p:spPr>
          <a:xfrm>
            <a:off x="8127796" y="2186178"/>
            <a:ext cx="3515258" cy="3610356"/>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387346"/>
            <a:ext cx="731520" cy="731520"/>
          </a:xfrm>
          <a:prstGeom prst="ellipse">
            <a:avLst/>
          </a:prstGeom>
          <a:solidFill>
            <a:srgbClr val="5CB8F2"/>
          </a:solidFill>
          <a:ln>
            <a:noFill/>
          </a:ln>
        </p:spPr>
        <p:txBody>
          <a:bodyPr rtlCol="0" anchor="ctr"/>
          <a:lstStyle/>
          <a:p>
            <a:pPr algn="ctr"/>
          </a:p>
        </p:txBody>
      </p:sp>
      <p:pic>
        <p:nvPicPr>
          <p:cNvPr id="20" name="아이콘:braces" descr="braces_13294B_1.6.png"/>
          <p:cNvPicPr>
            <a:picLocks noChangeAspect="1"/>
          </p:cNvPicPr>
          <p:nvPr/>
        </p:nvPicPr>
        <p:blipFill>
          <a:blip r:embed="rId5"/>
          <a:stretch>
            <a:fillRect/>
          </a:stretch>
        </p:blipFill>
        <p:spPr>
          <a:xfrm>
            <a:off x="8510016" y="2540965"/>
            <a:ext cx="424281" cy="424281"/>
          </a:xfrm>
          <a:prstGeom prst="rect">
            <a:avLst/>
          </a:prstGeom>
        </p:spPr>
      </p:pic>
      <p:sp>
        <p:nvSpPr>
          <p:cNvPr id="21" name="TextBox 20"/>
          <p:cNvSpPr txBox="1"/>
          <p:nvPr/>
        </p:nvSpPr>
        <p:spPr>
          <a:xfrm>
            <a:off x="8292388" y="3210306"/>
            <a:ext cx="3186074" cy="208330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대조와 보완</a:t>
            </a:r>
          </a:p>
          <a:p>
            <a:pPr algn="l">
              <a:lnSpc>
                <a:spcPct val="110000"/>
              </a:lnSpc>
              <a:spcAft>
                <a:spcPts val="400"/>
              </a:spcAft>
            </a:pPr>
            <a:r>
              <a:rPr sz="1400" b="0">
                <a:solidFill>
                  <a:srgbClr val="1F2A3A"/>
                </a:solidFill>
                <a:latin typeface="맑은 고딕"/>
                <a:ea typeface="맑은 고딕"/>
                <a:cs typeface="맑은 고딕"/>
              </a:rPr>
              <a:t>• 결과를 원문과 대조해 오탈자와 긍정 · 부정이 뒤바뀐 조건을 고친다</a:t>
            </a:r>
          </a:p>
          <a:p>
            <a:pPr algn="l">
              <a:lnSpc>
                <a:spcPct val="110000"/>
              </a:lnSpc>
              <a:spcAft>
                <a:spcPts val="400"/>
              </a:spcAft>
            </a:pPr>
            <a:r>
              <a:rPr sz="1400" b="0">
                <a:solidFill>
                  <a:srgbClr val="1F2A3A"/>
                </a:solidFill>
                <a:latin typeface="맑은 고딕"/>
                <a:ea typeface="맑은 고딕"/>
                <a:cs typeface="맑은 고딕"/>
              </a:rPr>
              <a:t>• 다음 실습의 적재에 쓸 검토용 데이터로 정리한다</a:t>
            </a:r>
          </a:p>
        </p:txBody>
      </p:sp>
      <p:sp>
        <p:nvSpPr>
          <p:cNvPr id="22" name="Rounded Rectangle 21"/>
          <p:cNvSpPr/>
          <p:nvPr/>
        </p:nvSpPr>
        <p:spPr>
          <a:xfrm>
            <a:off x="8356396" y="5366766"/>
            <a:ext cx="1325879"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366766"/>
            <a:ext cx="132587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검토용 데이터</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검토한 지식을 그래프 DB에 반영하기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추출한 후보를 검토해 실습용 그래프 DB에 넣고 출처까지 이어진 관계를 조회한다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반영하는 것과 확인하는 관계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실습을 마치면 앞서 만든 그래프에 문서에서 온 지식이 더해지고 고장 유형에서 출처까지를 한 번에 조회할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25</a:t>
            </a:r>
          </a:p>
        </p:txBody>
      </p:sp>
      <p:sp>
        <p:nvSpPr>
          <p:cNvPr id="6" name="Rounded Rectangle 5"/>
          <p:cNvSpPr/>
          <p:nvPr/>
        </p:nvSpPr>
        <p:spPr>
          <a:xfrm>
            <a:off x="548640" y="2314003"/>
            <a:ext cx="2567863" cy="335470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515171"/>
            <a:ext cx="731520" cy="731520"/>
          </a:xfrm>
          <a:prstGeom prst="ellipse">
            <a:avLst/>
          </a:prstGeom>
          <a:solidFill>
            <a:srgbClr val="E7F3FD"/>
          </a:solidFill>
          <a:ln>
            <a:noFill/>
          </a:ln>
        </p:spPr>
        <p:txBody>
          <a:bodyPr rtlCol="0" anchor="ctr"/>
          <a:lstStyle/>
          <a:p>
            <a:pPr algn="ctr"/>
          </a:p>
        </p:txBody>
      </p:sp>
      <p:pic>
        <p:nvPicPr>
          <p:cNvPr id="8" name="아이콘:checklist" descr="checklist_13294B_1.6.png"/>
          <p:cNvPicPr>
            <a:picLocks noChangeAspect="1"/>
          </p:cNvPicPr>
          <p:nvPr/>
        </p:nvPicPr>
        <p:blipFill>
          <a:blip r:embed="rId3"/>
          <a:stretch>
            <a:fillRect/>
          </a:stretch>
        </p:blipFill>
        <p:spPr>
          <a:xfrm>
            <a:off x="930859" y="2668790"/>
            <a:ext cx="424281" cy="424281"/>
          </a:xfrm>
          <a:prstGeom prst="rect">
            <a:avLst/>
          </a:prstGeom>
        </p:spPr>
      </p:pic>
      <p:sp>
        <p:nvSpPr>
          <p:cNvPr id="9" name="TextBox 8"/>
          <p:cNvSpPr txBox="1"/>
          <p:nvPr/>
        </p:nvSpPr>
        <p:spPr>
          <a:xfrm>
            <a:off x="713232" y="3338131"/>
            <a:ext cx="2238679" cy="182765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검토</a:t>
            </a:r>
          </a:p>
          <a:p>
            <a:pPr algn="l">
              <a:lnSpc>
                <a:spcPct val="110000"/>
              </a:lnSpc>
              <a:spcAft>
                <a:spcPts val="400"/>
              </a:spcAft>
            </a:pPr>
            <a:r>
              <a:rPr sz="1350" b="0">
                <a:solidFill>
                  <a:srgbClr val="1F2A3A"/>
                </a:solidFill>
                <a:latin typeface="맑은 고딕"/>
                <a:ea typeface="맑은 고딕"/>
                <a:cs typeface="맑은 고딕"/>
              </a:rPr>
              <a:t>• 추출한 후보를 원문과 대조한다</a:t>
            </a:r>
          </a:p>
          <a:p>
            <a:pPr algn="l">
              <a:lnSpc>
                <a:spcPct val="110000"/>
              </a:lnSpc>
              <a:spcAft>
                <a:spcPts val="400"/>
              </a:spcAft>
            </a:pPr>
            <a:r>
              <a:rPr sz="1350" b="0">
                <a:solidFill>
                  <a:srgbClr val="1F2A3A"/>
                </a:solidFill>
                <a:latin typeface="맑은 고딕"/>
                <a:ea typeface="맑은 고딕"/>
                <a:cs typeface="맑은 고딕"/>
              </a:rPr>
              <a:t>• 채택할 것, 고칠 것, 뺄 것을 정한다</a:t>
            </a:r>
          </a:p>
        </p:txBody>
      </p:sp>
      <p:sp>
        <p:nvSpPr>
          <p:cNvPr id="10" name="Rounded Rectangle 9"/>
          <p:cNvSpPr/>
          <p:nvPr/>
        </p:nvSpPr>
        <p:spPr>
          <a:xfrm>
            <a:off x="777240" y="5238940"/>
            <a:ext cx="11734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238940"/>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후보의 선별</a:t>
            </a:r>
          </a:p>
        </p:txBody>
      </p:sp>
      <p:sp>
        <p:nvSpPr>
          <p:cNvPr id="12" name="Rounded Rectangle 11"/>
          <p:cNvSpPr/>
          <p:nvPr/>
        </p:nvSpPr>
        <p:spPr>
          <a:xfrm>
            <a:off x="3390823" y="2314003"/>
            <a:ext cx="2567863" cy="335470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515171"/>
            <a:ext cx="731520" cy="731520"/>
          </a:xfrm>
          <a:prstGeom prst="ellipse">
            <a:avLst/>
          </a:prstGeom>
          <a:solidFill>
            <a:srgbClr val="E7F3FD"/>
          </a:solidFill>
          <a:ln>
            <a:noFill/>
          </a:ln>
        </p:spPr>
        <p:txBody>
          <a:bodyPr rtlCol="0" anchor="ctr"/>
          <a:lstStyle/>
          <a:p>
            <a:pPr algn="ctr"/>
          </a:p>
        </p:txBody>
      </p:sp>
      <p:pic>
        <p:nvPicPr>
          <p:cNvPr id="14" name="아이콘:link" descr="link_13294B_1.6.png"/>
          <p:cNvPicPr>
            <a:picLocks noChangeAspect="1"/>
          </p:cNvPicPr>
          <p:nvPr/>
        </p:nvPicPr>
        <p:blipFill>
          <a:blip r:embed="rId4"/>
          <a:stretch>
            <a:fillRect/>
          </a:stretch>
        </p:blipFill>
        <p:spPr>
          <a:xfrm>
            <a:off x="3773043" y="2668790"/>
            <a:ext cx="424281" cy="424281"/>
          </a:xfrm>
          <a:prstGeom prst="rect">
            <a:avLst/>
          </a:prstGeom>
        </p:spPr>
      </p:pic>
      <p:sp>
        <p:nvSpPr>
          <p:cNvPr id="15" name="TextBox 14"/>
          <p:cNvSpPr txBox="1"/>
          <p:nvPr/>
        </p:nvSpPr>
        <p:spPr>
          <a:xfrm>
            <a:off x="3555415" y="3338131"/>
            <a:ext cx="2238679" cy="182765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매핑</a:t>
            </a:r>
          </a:p>
          <a:p>
            <a:pPr algn="l">
              <a:lnSpc>
                <a:spcPct val="110000"/>
              </a:lnSpc>
              <a:spcAft>
                <a:spcPts val="400"/>
              </a:spcAft>
            </a:pPr>
            <a:r>
              <a:rPr sz="1350" b="0">
                <a:solidFill>
                  <a:srgbClr val="1F2A3A"/>
                </a:solidFill>
                <a:latin typeface="맑은 고딕"/>
                <a:ea typeface="맑은 고딕"/>
                <a:cs typeface="맑은 고딕"/>
              </a:rPr>
              <a:t>• 후보를 이미 만든 클래스, 인스턴스, 관계에 잇는다</a:t>
            </a:r>
          </a:p>
          <a:p>
            <a:pPr algn="l">
              <a:lnSpc>
                <a:spcPct val="110000"/>
              </a:lnSpc>
              <a:spcAft>
                <a:spcPts val="400"/>
              </a:spcAft>
            </a:pPr>
            <a:r>
              <a:rPr sz="1350" b="0">
                <a:solidFill>
                  <a:srgbClr val="1F2A3A"/>
                </a:solidFill>
                <a:latin typeface="맑은 고딕"/>
                <a:ea typeface="맑은 고딕"/>
                <a:cs typeface="맑은 고딕"/>
              </a:rPr>
              <a:t>• 등록된 대상은 그 식별자로 가리킨다</a:t>
            </a:r>
          </a:p>
        </p:txBody>
      </p:sp>
      <p:sp>
        <p:nvSpPr>
          <p:cNvPr id="16" name="Rounded Rectangle 15"/>
          <p:cNvSpPr/>
          <p:nvPr/>
        </p:nvSpPr>
        <p:spPr>
          <a:xfrm>
            <a:off x="3619423" y="5238940"/>
            <a:ext cx="11734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238940"/>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기존 식별자</a:t>
            </a:r>
          </a:p>
        </p:txBody>
      </p:sp>
      <p:sp>
        <p:nvSpPr>
          <p:cNvPr id="18" name="Rounded Rectangle 17"/>
          <p:cNvSpPr/>
          <p:nvPr/>
        </p:nvSpPr>
        <p:spPr>
          <a:xfrm>
            <a:off x="6233007" y="2314003"/>
            <a:ext cx="2567863" cy="335470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515171"/>
            <a:ext cx="731520" cy="731520"/>
          </a:xfrm>
          <a:prstGeom prst="ellipse">
            <a:avLst/>
          </a:prstGeom>
          <a:solidFill>
            <a:srgbClr val="E7F3FD"/>
          </a:solidFill>
          <a:ln>
            <a:noFill/>
          </a:ln>
        </p:spPr>
        <p:txBody>
          <a:bodyPr rtlCol="0" anchor="ctr"/>
          <a:lstStyle/>
          <a:p>
            <a:pPr algn="ctr"/>
          </a:p>
        </p:txBody>
      </p:sp>
      <p:pic>
        <p:nvPicPr>
          <p:cNvPr id="20" name="아이콘:database-import" descr="database-import_13294B_1.6.png"/>
          <p:cNvPicPr>
            <a:picLocks noChangeAspect="1"/>
          </p:cNvPicPr>
          <p:nvPr/>
        </p:nvPicPr>
        <p:blipFill>
          <a:blip r:embed="rId5"/>
          <a:stretch>
            <a:fillRect/>
          </a:stretch>
        </p:blipFill>
        <p:spPr>
          <a:xfrm>
            <a:off x="6615226" y="2668790"/>
            <a:ext cx="424281" cy="424281"/>
          </a:xfrm>
          <a:prstGeom prst="rect">
            <a:avLst/>
          </a:prstGeom>
        </p:spPr>
      </p:pic>
      <p:sp>
        <p:nvSpPr>
          <p:cNvPr id="21" name="TextBox 20"/>
          <p:cNvSpPr txBox="1"/>
          <p:nvPr/>
        </p:nvSpPr>
        <p:spPr>
          <a:xfrm>
            <a:off x="6397599" y="3338131"/>
            <a:ext cx="2238679" cy="182765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적재</a:t>
            </a:r>
          </a:p>
          <a:p>
            <a:pPr algn="l">
              <a:lnSpc>
                <a:spcPct val="110000"/>
              </a:lnSpc>
              <a:spcAft>
                <a:spcPts val="400"/>
              </a:spcAft>
            </a:pPr>
            <a:r>
              <a:rPr sz="1350" b="0">
                <a:solidFill>
                  <a:srgbClr val="1F2A3A"/>
                </a:solidFill>
                <a:latin typeface="맑은 고딕"/>
                <a:ea typeface="맑은 고딕"/>
                <a:cs typeface="맑은 고딕"/>
              </a:rPr>
              <a:t>• 바이브 코딩으로 적재 코드를 만든다</a:t>
            </a:r>
          </a:p>
          <a:p>
            <a:pPr algn="l">
              <a:lnSpc>
                <a:spcPct val="110000"/>
              </a:lnSpc>
              <a:spcAft>
                <a:spcPts val="400"/>
              </a:spcAft>
            </a:pPr>
            <a:r>
              <a:rPr sz="1350" b="0">
                <a:solidFill>
                  <a:srgbClr val="1F2A3A"/>
                </a:solidFill>
                <a:latin typeface="맑은 고딕"/>
                <a:ea typeface="맑은 고딕"/>
                <a:cs typeface="맑은 고딕"/>
              </a:rPr>
              <a:t>• 검토한 항목만 실습용 그래프 DB에 넣는다</a:t>
            </a:r>
          </a:p>
        </p:txBody>
      </p:sp>
      <p:sp>
        <p:nvSpPr>
          <p:cNvPr id="22" name="Rounded Rectangle 21"/>
          <p:cNvSpPr/>
          <p:nvPr/>
        </p:nvSpPr>
        <p:spPr>
          <a:xfrm>
            <a:off x="6461607" y="5238940"/>
            <a:ext cx="117348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238940"/>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검토한 것만</a:t>
            </a:r>
          </a:p>
        </p:txBody>
      </p:sp>
      <p:sp>
        <p:nvSpPr>
          <p:cNvPr id="24" name="Rounded Rectangle 23"/>
          <p:cNvSpPr/>
          <p:nvPr/>
        </p:nvSpPr>
        <p:spPr>
          <a:xfrm>
            <a:off x="9075191" y="2314003"/>
            <a:ext cx="2567863" cy="3354705"/>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515171"/>
            <a:ext cx="731520" cy="731520"/>
          </a:xfrm>
          <a:prstGeom prst="ellipse">
            <a:avLst/>
          </a:prstGeom>
          <a:solidFill>
            <a:srgbClr val="5CB8F2"/>
          </a:solidFill>
          <a:ln>
            <a:noFill/>
          </a:ln>
        </p:spPr>
        <p:txBody>
          <a:bodyPr rtlCol="0" anchor="ctr"/>
          <a:lstStyle/>
          <a:p>
            <a:pPr algn="ctr"/>
          </a:p>
        </p:txBody>
      </p:sp>
      <p:pic>
        <p:nvPicPr>
          <p:cNvPr id="26" name="아이콘:route" descr="route_13294B_1.6.png"/>
          <p:cNvPicPr>
            <a:picLocks noChangeAspect="1"/>
          </p:cNvPicPr>
          <p:nvPr/>
        </p:nvPicPr>
        <p:blipFill>
          <a:blip r:embed="rId6"/>
          <a:stretch>
            <a:fillRect/>
          </a:stretch>
        </p:blipFill>
        <p:spPr>
          <a:xfrm>
            <a:off x="9457410" y="2668790"/>
            <a:ext cx="424281" cy="424281"/>
          </a:xfrm>
          <a:prstGeom prst="rect">
            <a:avLst/>
          </a:prstGeom>
        </p:spPr>
      </p:pic>
      <p:sp>
        <p:nvSpPr>
          <p:cNvPr id="27" name="TextBox 26"/>
          <p:cNvSpPr txBox="1"/>
          <p:nvPr/>
        </p:nvSpPr>
        <p:spPr>
          <a:xfrm>
            <a:off x="9239783" y="3338131"/>
            <a:ext cx="2238679" cy="182765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조회</a:t>
            </a:r>
          </a:p>
          <a:p>
            <a:pPr algn="l">
              <a:lnSpc>
                <a:spcPct val="110000"/>
              </a:lnSpc>
              <a:spcAft>
                <a:spcPts val="400"/>
              </a:spcAft>
            </a:pPr>
            <a:r>
              <a:rPr sz="1350" b="0">
                <a:solidFill>
                  <a:srgbClr val="1F2A3A"/>
                </a:solidFill>
                <a:latin typeface="맑은 고딕"/>
                <a:ea typeface="맑은 고딕"/>
                <a:cs typeface="맑은 고딕"/>
              </a:rPr>
              <a:t>고장 유형에서 원인, 조치, 판단 규칙, 원문 출처로 이어지는 관계를 조회한다</a:t>
            </a:r>
          </a:p>
        </p:txBody>
      </p:sp>
      <p:sp>
        <p:nvSpPr>
          <p:cNvPr id="28" name="Rounded Rectangle 27"/>
          <p:cNvSpPr/>
          <p:nvPr/>
        </p:nvSpPr>
        <p:spPr>
          <a:xfrm>
            <a:off x="9303791" y="5238940"/>
            <a:ext cx="1325879"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238940"/>
            <a:ext cx="132587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보강된 그래프</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지식 개정에 따른 변경 결과 확인</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정비 절차에서 바뀐 조건 한 건을 반영하고 이전 기준과 새 기준을 출처로 구별한다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반영하는 개정과 확인하는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개정된 조건 한 건을 새 출처와 함께 넣으면 같은 조치의 이전 기준과 새 기준을 출처로 구별해 조회할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27</a:t>
            </a:r>
          </a:p>
        </p:txBody>
      </p:sp>
      <p:sp>
        <p:nvSpPr>
          <p:cNvPr id="6" name="Rounded Rectangle 5"/>
          <p:cNvSpPr/>
          <p:nvPr/>
        </p:nvSpPr>
        <p:spPr>
          <a:xfrm>
            <a:off x="548640" y="2603182"/>
            <a:ext cx="2485567" cy="2776346"/>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786062"/>
            <a:ext cx="731520" cy="731520"/>
          </a:xfrm>
          <a:prstGeom prst="ellipse">
            <a:avLst/>
          </a:prstGeom>
          <a:solidFill>
            <a:srgbClr val="FFFFFF"/>
          </a:solidFill>
          <a:ln>
            <a:noFill/>
          </a:ln>
        </p:spPr>
        <p:txBody>
          <a:bodyPr rtlCol="0" anchor="ctr"/>
          <a:lstStyle/>
          <a:p>
            <a:pPr algn="ctr"/>
          </a:p>
        </p:txBody>
      </p:sp>
      <p:pic>
        <p:nvPicPr>
          <p:cNvPr id="8" name="아이콘:file-text" descr="file-text_13294B_1.6.png"/>
          <p:cNvPicPr>
            <a:picLocks noChangeAspect="1"/>
          </p:cNvPicPr>
          <p:nvPr/>
        </p:nvPicPr>
        <p:blipFill>
          <a:blip r:embed="rId3"/>
          <a:stretch>
            <a:fillRect/>
          </a:stretch>
        </p:blipFill>
        <p:spPr>
          <a:xfrm>
            <a:off x="1579283" y="2939681"/>
            <a:ext cx="424281" cy="424281"/>
          </a:xfrm>
          <a:prstGeom prst="rect">
            <a:avLst/>
          </a:prstGeom>
        </p:spPr>
      </p:pic>
      <p:sp>
        <p:nvSpPr>
          <p:cNvPr id="9" name="TextBox 8"/>
          <p:cNvSpPr txBox="1"/>
          <p:nvPr/>
        </p:nvSpPr>
        <p:spPr>
          <a:xfrm>
            <a:off x="621792"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개정 내용 확인</a:t>
            </a:r>
          </a:p>
          <a:p>
            <a:pPr algn="ctr">
              <a:lnSpc>
                <a:spcPct val="110000"/>
              </a:lnSpc>
              <a:spcAft>
                <a:spcPts val="400"/>
              </a:spcAft>
            </a:pPr>
            <a:r>
              <a:rPr sz="1350" b="0">
                <a:solidFill>
                  <a:srgbClr val="1F2A3A"/>
                </a:solidFill>
                <a:latin typeface="맑은 고딕"/>
                <a:ea typeface="맑은 고딕"/>
                <a:cs typeface="맑은 고딕"/>
              </a:rPr>
              <a:t>정비 절차에서</a:t>
            </a:r>
          </a:p>
          <a:p>
            <a:pPr algn="ctr">
              <a:lnSpc>
                <a:spcPct val="110000"/>
              </a:lnSpc>
              <a:spcAft>
                <a:spcPts val="400"/>
              </a:spcAft>
            </a:pPr>
            <a:r>
              <a:rPr sz="1350" b="0">
                <a:solidFill>
                  <a:srgbClr val="1F2A3A"/>
                </a:solidFill>
                <a:latin typeface="맑은 고딕"/>
                <a:ea typeface="맑은 고딕"/>
                <a:cs typeface="맑은 고딕"/>
              </a:rPr>
              <a:t>바뀐 조건 한 건을</a:t>
            </a:r>
          </a:p>
          <a:p>
            <a:pPr algn="ctr">
              <a:lnSpc>
                <a:spcPct val="110000"/>
              </a:lnSpc>
              <a:spcAft>
                <a:spcPts val="400"/>
              </a:spcAft>
            </a:pPr>
            <a:r>
              <a:rPr sz="1350" b="0">
                <a:solidFill>
                  <a:srgbClr val="1F2A3A"/>
                </a:solidFill>
                <a:latin typeface="맑은 고딕"/>
                <a:ea typeface="맑은 고딕"/>
                <a:cs typeface="맑은 고딕"/>
              </a:rPr>
              <a:t>원문에서 읽는다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603182"/>
            <a:ext cx="2485567" cy="2776346"/>
          </a:xfrm>
          <a:prstGeom prst="roundRect">
            <a:avLst>
              <a:gd name="adj" fmla="val 5000"/>
            </a:avLst>
          </a:prstGeom>
          <a:solidFill>
            <a:srgbClr val="E7F3FD"/>
          </a:solidFill>
          <a:ln w="25400">
            <a:solidFill>
              <a:srgbClr val="5CB8F2"/>
            </a:solidFill>
          </a:ln>
        </p:spPr>
        <p:txBody>
          <a:bodyPr rtlCol="0" anchor="ctr"/>
          <a:lstStyle/>
          <a:p>
            <a:pPr algn="ctr"/>
          </a:p>
        </p:txBody>
      </p:sp>
      <p:sp>
        <p:nvSpPr>
          <p:cNvPr id="12" name="Oval 11"/>
          <p:cNvSpPr/>
          <p:nvPr/>
        </p:nvSpPr>
        <p:spPr>
          <a:xfrm>
            <a:off x="4295279" y="2786062"/>
            <a:ext cx="731520" cy="731520"/>
          </a:xfrm>
          <a:prstGeom prst="ellipse">
            <a:avLst/>
          </a:prstGeom>
          <a:solidFill>
            <a:srgbClr val="5CB8F2"/>
          </a:solidFill>
          <a:ln>
            <a:noFill/>
          </a:ln>
        </p:spPr>
        <p:txBody>
          <a:bodyPr rtlCol="0" anchor="ctr"/>
          <a:lstStyle/>
          <a:p>
            <a:pPr algn="ctr"/>
          </a:p>
        </p:txBody>
      </p:sp>
      <p:pic>
        <p:nvPicPr>
          <p:cNvPr id="13" name="아이콘:versions" descr="versions_13294B_1.6.png"/>
          <p:cNvPicPr>
            <a:picLocks noChangeAspect="1"/>
          </p:cNvPicPr>
          <p:nvPr/>
        </p:nvPicPr>
        <p:blipFill>
          <a:blip r:embed="rId4"/>
          <a:stretch>
            <a:fillRect/>
          </a:stretch>
        </p:blipFill>
        <p:spPr>
          <a:xfrm>
            <a:off x="4448898" y="2939681"/>
            <a:ext cx="424281" cy="424281"/>
          </a:xfrm>
          <a:prstGeom prst="rect">
            <a:avLst/>
          </a:prstGeom>
        </p:spPr>
      </p:pic>
      <p:sp>
        <p:nvSpPr>
          <p:cNvPr id="14" name="TextBox 13"/>
          <p:cNvSpPr txBox="1"/>
          <p:nvPr/>
        </p:nvSpPr>
        <p:spPr>
          <a:xfrm>
            <a:off x="3491407"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새 기준 반영</a:t>
            </a:r>
          </a:p>
          <a:p>
            <a:pPr algn="ctr">
              <a:lnSpc>
                <a:spcPct val="110000"/>
              </a:lnSpc>
              <a:spcAft>
                <a:spcPts val="400"/>
              </a:spcAft>
            </a:pPr>
            <a:r>
              <a:rPr sz="1350" b="0">
                <a:solidFill>
                  <a:srgbClr val="1F2A3A"/>
                </a:solidFill>
                <a:latin typeface="맑은 고딕"/>
                <a:ea typeface="맑은 고딕"/>
                <a:cs typeface="맑은 고딕"/>
              </a:rPr>
              <a:t>바뀐 조건을 검토해</a:t>
            </a:r>
          </a:p>
          <a:p>
            <a:pPr algn="ctr">
              <a:lnSpc>
                <a:spcPct val="110000"/>
              </a:lnSpc>
              <a:spcAft>
                <a:spcPts val="400"/>
              </a:spcAft>
            </a:pPr>
            <a:r>
              <a:rPr sz="1350" b="0">
                <a:solidFill>
                  <a:srgbClr val="1F2A3A"/>
                </a:solidFill>
                <a:latin typeface="맑은 고딕"/>
                <a:ea typeface="맑은 고딕"/>
                <a:cs typeface="맑은 고딕"/>
              </a:rPr>
              <a:t>새 출처와 함께</a:t>
            </a:r>
          </a:p>
          <a:p>
            <a:pPr algn="ctr">
              <a:lnSpc>
                <a:spcPct val="110000"/>
              </a:lnSpc>
              <a:spcAft>
                <a:spcPts val="400"/>
              </a:spcAft>
            </a:pPr>
            <a:r>
              <a:rPr sz="1350" b="0">
                <a:solidFill>
                  <a:srgbClr val="1F2A3A"/>
                </a:solidFill>
                <a:latin typeface="맑은 고딕"/>
                <a:ea typeface="맑은 고딕"/>
                <a:cs typeface="맑은 고딕"/>
              </a:rPr>
              <a:t>그래프에 넣는다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603182"/>
            <a:ext cx="2485567" cy="2776346"/>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786062"/>
            <a:ext cx="731520" cy="731520"/>
          </a:xfrm>
          <a:prstGeom prst="ellipse">
            <a:avLst/>
          </a:prstGeom>
          <a:solidFill>
            <a:srgbClr val="FFFFFF"/>
          </a:solidFill>
          <a:ln>
            <a:noFill/>
          </a:ln>
        </p:spPr>
        <p:txBody>
          <a:bodyPr rtlCol="0" anchor="ctr"/>
          <a:lstStyle/>
          <a:p>
            <a:pPr algn="ctr"/>
          </a:p>
        </p:txBody>
      </p:sp>
      <p:pic>
        <p:nvPicPr>
          <p:cNvPr id="18" name="아이콘:list-search" descr="list-search_13294B_1.6.png"/>
          <p:cNvPicPr>
            <a:picLocks noChangeAspect="1"/>
          </p:cNvPicPr>
          <p:nvPr/>
        </p:nvPicPr>
        <p:blipFill>
          <a:blip r:embed="rId5"/>
          <a:stretch>
            <a:fillRect/>
          </a:stretch>
        </p:blipFill>
        <p:spPr>
          <a:xfrm>
            <a:off x="7318514" y="2939681"/>
            <a:ext cx="424281" cy="424281"/>
          </a:xfrm>
          <a:prstGeom prst="rect">
            <a:avLst/>
          </a:prstGeom>
        </p:spPr>
      </p:pic>
      <p:sp>
        <p:nvSpPr>
          <p:cNvPr id="19" name="TextBox 18"/>
          <p:cNvSpPr txBox="1"/>
          <p:nvPr/>
        </p:nvSpPr>
        <p:spPr>
          <a:xfrm>
            <a:off x="6361023"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기준의 구별</a:t>
            </a:r>
          </a:p>
          <a:p>
            <a:pPr algn="ctr">
              <a:lnSpc>
                <a:spcPct val="110000"/>
              </a:lnSpc>
              <a:spcAft>
                <a:spcPts val="400"/>
              </a:spcAft>
            </a:pPr>
            <a:r>
              <a:rPr sz="1350" b="0">
                <a:solidFill>
                  <a:srgbClr val="1F2A3A"/>
                </a:solidFill>
                <a:latin typeface="맑은 고딕"/>
                <a:ea typeface="맑은 고딕"/>
                <a:cs typeface="맑은 고딕"/>
              </a:rPr>
              <a:t>이전 기준과</a:t>
            </a:r>
          </a:p>
          <a:p>
            <a:pPr algn="ctr">
              <a:lnSpc>
                <a:spcPct val="110000"/>
              </a:lnSpc>
              <a:spcAft>
                <a:spcPts val="400"/>
              </a:spcAft>
            </a:pPr>
            <a:r>
              <a:rPr sz="1350" b="0">
                <a:solidFill>
                  <a:srgbClr val="1F2A3A"/>
                </a:solidFill>
                <a:latin typeface="맑은 고딕"/>
                <a:ea typeface="맑은 고딕"/>
                <a:cs typeface="맑은 고딕"/>
              </a:rPr>
              <a:t>새 기준을 출처로</a:t>
            </a:r>
          </a:p>
          <a:p>
            <a:pPr algn="ctr">
              <a:lnSpc>
                <a:spcPct val="110000"/>
              </a:lnSpc>
              <a:spcAft>
                <a:spcPts val="400"/>
              </a:spcAft>
            </a:pPr>
            <a:r>
              <a:rPr sz="1350" b="0">
                <a:solidFill>
                  <a:srgbClr val="1F2A3A"/>
                </a:solidFill>
                <a:latin typeface="맑은 고딕"/>
                <a:ea typeface="맑은 고딕"/>
                <a:cs typeface="맑은 고딕"/>
              </a:rPr>
              <a:t>가려 조회한다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603182"/>
            <a:ext cx="2485567" cy="2776346"/>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10034511" y="2786062"/>
            <a:ext cx="731520" cy="731520"/>
          </a:xfrm>
          <a:prstGeom prst="ellipse">
            <a:avLst/>
          </a:prstGeom>
          <a:solidFill>
            <a:srgbClr val="FFFFFF"/>
          </a:solidFill>
          <a:ln>
            <a:noFill/>
          </a:ln>
        </p:spPr>
        <p:txBody>
          <a:bodyPr rtlCol="0" anchor="ctr"/>
          <a:lstStyle/>
          <a:p>
            <a:pPr algn="ctr"/>
          </a:p>
        </p:txBody>
      </p:sp>
      <p:pic>
        <p:nvPicPr>
          <p:cNvPr id="23" name="아이콘:list-check" descr="list-check_13294B_1.6.png"/>
          <p:cNvPicPr>
            <a:picLocks noChangeAspect="1"/>
          </p:cNvPicPr>
          <p:nvPr/>
        </p:nvPicPr>
        <p:blipFill>
          <a:blip r:embed="rId6"/>
          <a:stretch>
            <a:fillRect/>
          </a:stretch>
        </p:blipFill>
        <p:spPr>
          <a:xfrm>
            <a:off x="10188130" y="2939681"/>
            <a:ext cx="424281" cy="424281"/>
          </a:xfrm>
          <a:prstGeom prst="rect">
            <a:avLst/>
          </a:prstGeom>
        </p:spPr>
      </p:pic>
      <p:sp>
        <p:nvSpPr>
          <p:cNvPr id="24" name="TextBox 23"/>
          <p:cNvSpPr txBox="1"/>
          <p:nvPr/>
        </p:nvSpPr>
        <p:spPr>
          <a:xfrm>
            <a:off x="9230639"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중복 확인</a:t>
            </a:r>
          </a:p>
          <a:p>
            <a:pPr algn="ctr">
              <a:lnSpc>
                <a:spcPct val="110000"/>
              </a:lnSpc>
              <a:spcAft>
                <a:spcPts val="400"/>
              </a:spcAft>
            </a:pPr>
            <a:r>
              <a:rPr sz="1350" b="0">
                <a:solidFill>
                  <a:srgbClr val="1F2A3A"/>
                </a:solidFill>
                <a:latin typeface="맑은 고딕"/>
                <a:ea typeface="맑은 고딕"/>
                <a:cs typeface="맑은 고딕"/>
              </a:rPr>
              <a:t>같은 대상이</a:t>
            </a:r>
          </a:p>
          <a:p>
            <a:pPr algn="ctr">
              <a:lnSpc>
                <a:spcPct val="110000"/>
              </a:lnSpc>
              <a:spcAft>
                <a:spcPts val="400"/>
              </a:spcAft>
            </a:pPr>
            <a:r>
              <a:rPr sz="1350" b="0">
                <a:solidFill>
                  <a:srgbClr val="1F2A3A"/>
                </a:solidFill>
                <a:latin typeface="맑은 고딕"/>
                <a:ea typeface="맑은 고딕"/>
                <a:cs typeface="맑은 고딕"/>
              </a:rPr>
              <a:t>둘로 들어가지</a:t>
            </a:r>
          </a:p>
          <a:p>
            <a:pPr algn="ctr">
              <a:lnSpc>
                <a:spcPct val="110000"/>
              </a:lnSpc>
              <a:spcAft>
                <a:spcPts val="400"/>
              </a:spcAft>
            </a:pPr>
            <a:r>
              <a:rPr sz="1350" b="0">
                <a:solidFill>
                  <a:srgbClr val="1F2A3A"/>
                </a:solidFill>
                <a:latin typeface="맑은 고딕"/>
                <a:ea typeface="맑은 고딕"/>
                <a:cs typeface="맑은 고딕"/>
              </a:rPr>
              <a:t>않았는지 조회한다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a:lnSpc>
                <a:spcPct val="110000"/>
              </a:lnSpc>
            </a:pPr>
            <a:r>
              <a:rPr sz="8800" b="1">
                <a:solidFill>
                  <a:srgbClr val="5CB8F2"/>
                </a:solidFill>
                <a:latin typeface="맑은 고딕"/>
                <a:ea typeface="맑은 고딕"/>
                <a:cs typeface="맑은 고딕"/>
              </a:rPr>
              <a:t>02</a:t>
            </a:r>
          </a:p>
        </p:txBody>
      </p:sp>
      <p:sp>
        <p:nvSpPr>
          <p:cNvPr id="5" name="TextBox 4"/>
          <p:cNvSpPr txBox="1"/>
          <p:nvPr/>
        </p:nvSpPr>
        <p:spPr>
          <a:xfrm>
            <a:off x="3017520" y="2011680"/>
            <a:ext cx="8625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온톨로지 설계에서</a:t>
            </a:r>
          </a:p>
          <a:p>
            <a:pPr algn="l">
              <a:lnSpc>
                <a:spcPct val="110000"/>
              </a:lnSpc>
            </a:pPr>
            <a:r>
              <a:rPr sz="3400" b="1">
                <a:solidFill>
                  <a:srgbClr val="13294B"/>
                </a:solidFill>
                <a:latin typeface="맑은 고딕"/>
                <a:ea typeface="맑은 고딕"/>
                <a:cs typeface="맑은 고딕"/>
              </a:rPr>
              <a:t>지식 활용까지의 전체 과정</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네 회차의 결과물이 하나의 지식 그래프로 쌓이는 순서와 그 쓰임</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네 회차의 흐름: 한 그래프가 자라는 순서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네 회차는 하나의 지식 그래프가 필요성, 구조, 조치와 판단, 문서의 지식 순서로 자라 온 과정이다.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29</a:t>
            </a:r>
          </a:p>
        </p:txBody>
      </p:sp>
      <p:pic>
        <p:nvPicPr>
          <p:cNvPr id="6" name="삽화:네일차_흐름.svg" descr="illust_8402772190930188392_1791770333.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772014" y="1651269"/>
            <a:ext cx="218189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1회차</a:t>
            </a:r>
          </a:p>
          <a:p>
            <a:pPr algn="ctr">
              <a:lnSpc>
                <a:spcPct val="110000"/>
              </a:lnSpc>
              <a:spcAft>
                <a:spcPts val="100"/>
              </a:spcAft>
            </a:pPr>
            <a:r>
              <a:rPr sz="1300" b="0">
                <a:solidFill>
                  <a:srgbClr val="556175"/>
                </a:solidFill>
                <a:latin typeface="맑은 고딕"/>
                <a:ea typeface="맑은 고딕"/>
                <a:cs typeface="맑은 고딕"/>
              </a:rPr>
              <a:t>온톨로지의 필요, 클래스</a:t>
            </a:r>
          </a:p>
        </p:txBody>
      </p:sp>
      <p:sp>
        <p:nvSpPr>
          <p:cNvPr id="8" name="TextBox 7"/>
          <p:cNvSpPr txBox="1"/>
          <p:nvPr/>
        </p:nvSpPr>
        <p:spPr>
          <a:xfrm>
            <a:off x="3150283" y="1651269"/>
            <a:ext cx="2290993"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2회차</a:t>
            </a:r>
          </a:p>
          <a:p>
            <a:pPr algn="ctr">
              <a:lnSpc>
                <a:spcPct val="110000"/>
              </a:lnSpc>
              <a:spcAft>
                <a:spcPts val="100"/>
              </a:spcAft>
            </a:pPr>
            <a:r>
              <a:rPr sz="1300" b="0">
                <a:solidFill>
                  <a:srgbClr val="556175"/>
                </a:solidFill>
                <a:latin typeface="맑은 고딕"/>
                <a:ea typeface="맑은 고딕"/>
                <a:cs typeface="맑은 고딕"/>
              </a:rPr>
              <a:t>스키마, 그래프 DB, SOP</a:t>
            </a:r>
          </a:p>
        </p:txBody>
      </p:sp>
      <p:sp>
        <p:nvSpPr>
          <p:cNvPr id="9" name="TextBox 8"/>
          <p:cNvSpPr txBox="1"/>
          <p:nvPr/>
        </p:nvSpPr>
        <p:spPr>
          <a:xfrm>
            <a:off x="5583101" y="1651269"/>
            <a:ext cx="2290993"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3회차</a:t>
            </a:r>
          </a:p>
          <a:p>
            <a:pPr algn="ctr">
              <a:lnSpc>
                <a:spcPct val="110000"/>
              </a:lnSpc>
              <a:spcAft>
                <a:spcPts val="100"/>
              </a:spcAft>
            </a:pPr>
            <a:r>
              <a:rPr sz="1300" b="0">
                <a:solidFill>
                  <a:srgbClr val="556175"/>
                </a:solidFill>
                <a:latin typeface="맑은 고딕"/>
                <a:ea typeface="맑은 고딕"/>
                <a:cs typeface="맑은 고딕"/>
              </a:rPr>
              <a:t>판단 규칙, 성과 지표</a:t>
            </a:r>
          </a:p>
        </p:txBody>
      </p:sp>
      <p:sp>
        <p:nvSpPr>
          <p:cNvPr id="10" name="TextBox 9"/>
          <p:cNvSpPr txBox="1"/>
          <p:nvPr/>
        </p:nvSpPr>
        <p:spPr>
          <a:xfrm>
            <a:off x="8081375" y="1651269"/>
            <a:ext cx="2181899"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4회차</a:t>
            </a:r>
          </a:p>
          <a:p>
            <a:pPr algn="ctr">
              <a:lnSpc>
                <a:spcPct val="110000"/>
              </a:lnSpc>
              <a:spcAft>
                <a:spcPts val="100"/>
              </a:spcAft>
            </a:pPr>
            <a:r>
              <a:rPr sz="1300" b="0">
                <a:solidFill>
                  <a:srgbClr val="556175"/>
                </a:solidFill>
                <a:latin typeface="맑은 고딕"/>
                <a:ea typeface="맑은 고딕"/>
                <a:cs typeface="맑은 고딕"/>
              </a:rPr>
              <a:t>추출, 검토, 출처</a:t>
            </a:r>
          </a:p>
        </p:txBody>
      </p:sp>
      <p:sp>
        <p:nvSpPr>
          <p:cNvPr id="11" name="TextBox 10"/>
          <p:cNvSpPr txBox="1"/>
          <p:nvPr/>
        </p:nvSpPr>
        <p:spPr>
          <a:xfrm>
            <a:off x="772014" y="5456864"/>
            <a:ext cx="218189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관계 그림</a:t>
            </a:r>
          </a:p>
        </p:txBody>
      </p:sp>
      <p:sp>
        <p:nvSpPr>
          <p:cNvPr id="12" name="TextBox 11"/>
          <p:cNvSpPr txBox="1"/>
          <p:nvPr/>
        </p:nvSpPr>
        <p:spPr>
          <a:xfrm>
            <a:off x="3150283" y="5456864"/>
            <a:ext cx="2290993"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스키마와 인스턴스</a:t>
            </a:r>
          </a:p>
        </p:txBody>
      </p:sp>
      <p:sp>
        <p:nvSpPr>
          <p:cNvPr id="13" name="TextBox 12"/>
          <p:cNvSpPr txBox="1"/>
          <p:nvPr/>
        </p:nvSpPr>
        <p:spPr>
          <a:xfrm>
            <a:off x="5583101" y="5456864"/>
            <a:ext cx="2290993"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조치 절차와 판단 규칙</a:t>
            </a:r>
          </a:p>
        </p:txBody>
      </p:sp>
      <p:sp>
        <p:nvSpPr>
          <p:cNvPr id="14" name="TextBox 13"/>
          <p:cNvSpPr txBox="1"/>
          <p:nvPr/>
        </p:nvSpPr>
        <p:spPr>
          <a:xfrm>
            <a:off x="8026828" y="5456864"/>
            <a:ext cx="2290993" cy="375920"/>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검토된 지식과 출처</a:t>
            </a:r>
          </a:p>
        </p:txBody>
      </p:sp>
      <p:sp>
        <p:nvSpPr>
          <p:cNvPr id="15" name="TextBox 14"/>
          <p:cNvSpPr txBox="1"/>
          <p:nvPr/>
        </p:nvSpPr>
        <p:spPr>
          <a:xfrm>
            <a:off x="10339641" y="4369551"/>
            <a:ext cx="1200044"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에이전트</a:t>
            </a:r>
          </a:p>
          <a:p>
            <a:pPr algn="ctr">
              <a:lnSpc>
                <a:spcPct val="110000"/>
              </a:lnSpc>
              <a:spcAft>
                <a:spcPts val="100"/>
              </a:spcAft>
            </a:pPr>
            <a:r>
              <a:rPr sz="1300" b="0">
                <a:solidFill>
                  <a:srgbClr val="556175"/>
                </a:solidFill>
                <a:latin typeface="맑은 고딕"/>
                <a:ea typeface="맑은 고딕"/>
                <a:cs typeface="맑은 고딕"/>
              </a:rPr>
              <a:t>이후 과정</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1회차의 입력과 결과물: 흩어진 정보에서 관계 그림으로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1회차는 네 곳에 흩어진 정보를 노드와 이름 붙은 관계로 꺼내 적었고, 스키마의 정의와 제약이 과제로 남았다.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30</a:t>
            </a:r>
          </a:p>
        </p:txBody>
      </p:sp>
      <p:pic>
        <p:nvPicPr>
          <p:cNvPr id="6" name="삽화:관계.svg" descr="illust_414856117744802284_179171539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990203" y="4085904"/>
            <a:ext cx="240008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유온 상승</a:t>
            </a:r>
          </a:p>
          <a:p>
            <a:pPr algn="ctr">
              <a:lnSpc>
                <a:spcPct val="110000"/>
              </a:lnSpc>
              <a:spcAft>
                <a:spcPts val="100"/>
              </a:spcAft>
            </a:pPr>
            <a:r>
              <a:rPr sz="1300" b="0">
                <a:solidFill>
                  <a:srgbClr val="556175"/>
                </a:solidFill>
                <a:latin typeface="맑은 고딕"/>
                <a:ea typeface="맑은 고딕"/>
                <a:cs typeface="맑은 고딕"/>
              </a:rPr>
              <a:t>증상</a:t>
            </a:r>
          </a:p>
        </p:txBody>
      </p:sp>
      <p:sp>
        <p:nvSpPr>
          <p:cNvPr id="8" name="TextBox 7"/>
          <p:cNvSpPr txBox="1"/>
          <p:nvPr/>
        </p:nvSpPr>
        <p:spPr>
          <a:xfrm>
            <a:off x="4459423" y="2218563"/>
            <a:ext cx="327284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쿨러 냉각 성능 상실</a:t>
            </a:r>
          </a:p>
          <a:p>
            <a:pPr algn="ctr">
              <a:lnSpc>
                <a:spcPct val="110000"/>
              </a:lnSpc>
              <a:spcAft>
                <a:spcPts val="100"/>
              </a:spcAft>
            </a:pPr>
            <a:r>
              <a:rPr sz="1300" b="0">
                <a:solidFill>
                  <a:srgbClr val="556175"/>
                </a:solidFill>
                <a:latin typeface="맑은 고딕"/>
                <a:ea typeface="맑은 고딕"/>
                <a:cs typeface="맑은 고딕"/>
              </a:rPr>
              <a:t>고장 유형</a:t>
            </a:r>
          </a:p>
        </p:txBody>
      </p:sp>
      <p:sp>
        <p:nvSpPr>
          <p:cNvPr id="9" name="TextBox 8"/>
          <p:cNvSpPr txBox="1"/>
          <p:nvPr/>
        </p:nvSpPr>
        <p:spPr>
          <a:xfrm>
            <a:off x="8910497" y="4085904"/>
            <a:ext cx="218189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쿨러 핀 오염</a:t>
            </a:r>
          </a:p>
          <a:p>
            <a:pPr algn="ctr">
              <a:lnSpc>
                <a:spcPct val="110000"/>
              </a:lnSpc>
              <a:spcAft>
                <a:spcPts val="100"/>
              </a:spcAft>
            </a:pPr>
            <a:r>
              <a:rPr sz="1300" b="0">
                <a:solidFill>
                  <a:srgbClr val="556175"/>
                </a:solidFill>
                <a:latin typeface="맑은 고딕"/>
                <a:ea typeface="맑은 고딕"/>
                <a:cs typeface="맑은 고딕"/>
              </a:rPr>
              <a:t>원인</a:t>
            </a:r>
          </a:p>
        </p:txBody>
      </p:sp>
      <p:sp>
        <p:nvSpPr>
          <p:cNvPr id="10" name="TextBox 9"/>
          <p:cNvSpPr txBox="1"/>
          <p:nvPr/>
        </p:nvSpPr>
        <p:spPr>
          <a:xfrm>
            <a:off x="6532227" y="5362315"/>
            <a:ext cx="196370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팬 최대 운전</a:t>
            </a:r>
          </a:p>
          <a:p>
            <a:pPr algn="ctr">
              <a:lnSpc>
                <a:spcPct val="110000"/>
              </a:lnSpc>
              <a:spcAft>
                <a:spcPts val="100"/>
              </a:spcAft>
            </a:pPr>
            <a:r>
              <a:rPr sz="1300" b="0">
                <a:solidFill>
                  <a:srgbClr val="556175"/>
                </a:solidFill>
                <a:latin typeface="맑은 고딕"/>
                <a:ea typeface="맑은 고딕"/>
                <a:cs typeface="맑은 고딕"/>
              </a:rPr>
              <a:t>조치</a:t>
            </a:r>
          </a:p>
        </p:txBody>
      </p:sp>
      <p:sp>
        <p:nvSpPr>
          <p:cNvPr id="11" name="TextBox 10"/>
          <p:cNvSpPr txBox="1"/>
          <p:nvPr/>
        </p:nvSpPr>
        <p:spPr>
          <a:xfrm>
            <a:off x="3270288" y="2904042"/>
            <a:ext cx="174551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INDICATES</a:t>
            </a:r>
          </a:p>
        </p:txBody>
      </p:sp>
      <p:sp>
        <p:nvSpPr>
          <p:cNvPr id="12" name="TextBox 11"/>
          <p:cNvSpPr txBox="1"/>
          <p:nvPr/>
        </p:nvSpPr>
        <p:spPr>
          <a:xfrm>
            <a:off x="7175887" y="2904042"/>
            <a:ext cx="174551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CAUSES</a:t>
            </a:r>
          </a:p>
        </p:txBody>
      </p:sp>
      <p:sp>
        <p:nvSpPr>
          <p:cNvPr id="13" name="TextBox 12"/>
          <p:cNvSpPr txBox="1"/>
          <p:nvPr/>
        </p:nvSpPr>
        <p:spPr>
          <a:xfrm>
            <a:off x="3750306" y="4322277"/>
            <a:ext cx="218189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MITIGATED_BY</a:t>
            </a:r>
          </a:p>
        </p:txBody>
      </p:sp>
      <p:sp>
        <p:nvSpPr>
          <p:cNvPr id="14" name="TextBox 13"/>
          <p:cNvSpPr txBox="1"/>
          <p:nvPr/>
        </p:nvSpPr>
        <p:spPr>
          <a:xfrm>
            <a:off x="750195" y="5220492"/>
            <a:ext cx="3927418" cy="980185"/>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입력</a:t>
            </a:r>
          </a:p>
          <a:p>
            <a:pPr algn="ctr">
              <a:lnSpc>
                <a:spcPct val="110000"/>
              </a:lnSpc>
              <a:spcAft>
                <a:spcPts val="100"/>
              </a:spcAft>
            </a:pPr>
            <a:r>
              <a:rPr sz="1300" b="0">
                <a:solidFill>
                  <a:srgbClr val="556175"/>
                </a:solidFill>
                <a:latin typeface="맑은 고딕"/>
                <a:ea typeface="맑은 고딕"/>
                <a:cs typeface="맑은 고딕"/>
              </a:rPr>
              <a:t>경보 한 건과 네 곳의 정보</a:t>
            </a:r>
          </a:p>
          <a:p>
            <a:pPr algn="ctr">
              <a:lnSpc>
                <a:spcPct val="110000"/>
              </a:lnSpc>
              <a:spcAft>
                <a:spcPts val="100"/>
              </a:spcAft>
            </a:pPr>
            <a:r>
              <a:rPr sz="1300" b="0">
                <a:solidFill>
                  <a:srgbClr val="556175"/>
                </a:solidFill>
                <a:latin typeface="맑은 고딕"/>
                <a:ea typeface="맑은 고딕"/>
                <a:cs typeface="맑은 고딕"/>
              </a:rPr>
              <a:t>시계열 DB의 센서 값, PLC의 운전 상태</a:t>
            </a:r>
          </a:p>
          <a:p>
            <a:pPr algn="ctr">
              <a:lnSpc>
                <a:spcPct val="110000"/>
              </a:lnSpc>
              <a:spcAft>
                <a:spcPts val="100"/>
              </a:spcAft>
            </a:pPr>
            <a:r>
              <a:rPr sz="1300" b="0">
                <a:solidFill>
                  <a:srgbClr val="556175"/>
                </a:solidFill>
                <a:latin typeface="맑은 고딕"/>
                <a:ea typeface="맑은 고딕"/>
                <a:cs typeface="맑은 고딕"/>
              </a:rPr>
              <a:t>매뉴얼 HM-8의 원인과 조치, MES의 생산 일정</a:t>
            </a:r>
          </a:p>
        </p:txBody>
      </p:sp>
      <p:sp>
        <p:nvSpPr>
          <p:cNvPr id="15" name="TextBox 14"/>
          <p:cNvSpPr txBox="1"/>
          <p:nvPr/>
        </p:nvSpPr>
        <p:spPr>
          <a:xfrm>
            <a:off x="8605031" y="5220492"/>
            <a:ext cx="283646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남은 과제</a:t>
            </a:r>
          </a:p>
          <a:p>
            <a:pPr algn="ctr">
              <a:lnSpc>
                <a:spcPct val="110000"/>
              </a:lnSpc>
              <a:spcAft>
                <a:spcPts val="100"/>
              </a:spcAft>
            </a:pPr>
            <a:r>
              <a:rPr sz="1300" b="0">
                <a:solidFill>
                  <a:srgbClr val="556175"/>
                </a:solidFill>
                <a:latin typeface="맑은 고딕"/>
                <a:ea typeface="맑은 고딕"/>
                <a:cs typeface="맑은 고딕"/>
              </a:rPr>
              <a:t>그려도 되는 것의 정의</a:t>
            </a:r>
          </a:p>
          <a:p>
            <a:pPr algn="ctr">
              <a:lnSpc>
                <a:spcPct val="110000"/>
              </a:lnSpc>
              <a:spcAft>
                <a:spcPts val="100"/>
              </a:spcAft>
            </a:pPr>
            <a:r>
              <a:rPr sz="1300" b="0">
                <a:solidFill>
                  <a:srgbClr val="556175"/>
                </a:solidFill>
                <a:latin typeface="맑은 고딕"/>
                <a:ea typeface="맑은 고딕"/>
                <a:cs typeface="맑은 고딕"/>
              </a:rPr>
              <a:t>어긋난 것을 걸러 내는 제약</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2회차의 입력과 결과물 ①: 답할 질문에서 스키마까지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스키마는 답해야 할 질문에서 출발해 무엇을 넣을 수 있는지를 정의하므로 그 정의에 어긋나는 것을 걸러 낼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31</a:t>
            </a:r>
          </a:p>
        </p:txBody>
      </p:sp>
      <p:sp>
        <p:nvSpPr>
          <p:cNvPr id="6" name="TextBox 5"/>
          <p:cNvSpPr txBox="1"/>
          <p:nvPr/>
        </p:nvSpPr>
        <p:spPr>
          <a:xfrm>
            <a:off x="640080" y="26197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답할 질문</a:t>
            </a:r>
          </a:p>
          <a:p>
            <a:pPr algn="l">
              <a:lnSpc>
                <a:spcPct val="110000"/>
              </a:lnSpc>
              <a:spcAft>
                <a:spcPts val="200"/>
              </a:spcAft>
            </a:pPr>
            <a:r>
              <a:rPr sz="1150" b="0">
                <a:solidFill>
                  <a:srgbClr val="556175"/>
                </a:solidFill>
                <a:latin typeface="맑은 고딕"/>
                <a:ea typeface="맑은 고딕"/>
                <a:cs typeface="맑은 고딕"/>
              </a:rPr>
              <a:t>2회차의 입력</a:t>
            </a:r>
          </a:p>
        </p:txBody>
      </p:sp>
      <p:sp>
        <p:nvSpPr>
          <p:cNvPr id="7" name="TextBox 6"/>
          <p:cNvSpPr txBox="1"/>
          <p:nvPr/>
        </p:nvSpPr>
        <p:spPr>
          <a:xfrm>
            <a:off x="4023359" y="26197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제공된 설비 자료를 재료로, 이 지식으로 무엇에 답하려는지를 먼저 정한다.</a:t>
            </a:r>
          </a:p>
          <a:p>
            <a:pPr algn="l">
              <a:lnSpc>
                <a:spcPct val="110000"/>
              </a:lnSpc>
              <a:spcAft>
                <a:spcPts val="300"/>
              </a:spcAft>
            </a:pPr>
            <a:r>
              <a:rPr sz="1400" b="0">
                <a:solidFill>
                  <a:srgbClr val="1F2A3A"/>
                </a:solidFill>
                <a:latin typeface="맑은 고딕"/>
                <a:ea typeface="맑은 고딕"/>
                <a:cs typeface="맑은 고딕"/>
              </a:rPr>
              <a:t>예: 「HYD-01의 오일 쿨러를 재는 센서와 그 한계값은 무엇인가」</a:t>
            </a:r>
          </a:p>
        </p:txBody>
      </p:sp>
      <p:sp>
        <p:nvSpPr>
          <p:cNvPr id="8" name="Rectangle 7"/>
          <p:cNvSpPr/>
          <p:nvPr/>
        </p:nvSpPr>
        <p:spPr>
          <a:xfrm>
            <a:off x="548640" y="3982212"/>
            <a:ext cx="11094415" cy="13716"/>
          </a:xfrm>
          <a:prstGeom prst="rect">
            <a:avLst/>
          </a:prstGeom>
          <a:solidFill>
            <a:srgbClr val="D3D9E1"/>
          </a:solidFill>
          <a:ln>
            <a:noFill/>
          </a:ln>
        </p:spPr>
        <p:txBody>
          <a:bodyPr rtlCol="0" anchor="ctr"/>
          <a:lstStyle/>
          <a:p>
            <a:pPr algn="ctr"/>
          </a:p>
        </p:txBody>
      </p:sp>
      <p:sp>
        <p:nvSpPr>
          <p:cNvPr id="9" name="Rounded Rectangle 8"/>
          <p:cNvSpPr/>
          <p:nvPr/>
        </p:nvSpPr>
        <p:spPr>
          <a:xfrm>
            <a:off x="548640" y="4018788"/>
            <a:ext cx="11094415" cy="1316736"/>
          </a:xfrm>
          <a:prstGeom prst="roundRect">
            <a:avLst>
              <a:gd name="adj" fmla="val 6000"/>
            </a:avLst>
          </a:prstGeom>
          <a:solidFill>
            <a:srgbClr val="E7F3FD"/>
          </a:solidFill>
          <a:ln>
            <a:noFill/>
          </a:ln>
        </p:spPr>
        <p:txBody>
          <a:bodyPr rtlCol="0" anchor="ctr"/>
          <a:lstStyle/>
          <a:p>
            <a:pPr algn="ctr"/>
          </a:p>
        </p:txBody>
      </p:sp>
      <p:sp>
        <p:nvSpPr>
          <p:cNvPr id="10" name="TextBox 9"/>
          <p:cNvSpPr txBox="1"/>
          <p:nvPr/>
        </p:nvSpPr>
        <p:spPr>
          <a:xfrm>
            <a:off x="640080" y="39913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스키마</a:t>
            </a:r>
          </a:p>
          <a:p>
            <a:pPr algn="l">
              <a:lnSpc>
                <a:spcPct val="110000"/>
              </a:lnSpc>
              <a:spcAft>
                <a:spcPts val="200"/>
              </a:spcAft>
            </a:pPr>
            <a:r>
              <a:rPr sz="1150" b="0">
                <a:solidFill>
                  <a:srgbClr val="556175"/>
                </a:solidFill>
                <a:latin typeface="맑은 고딕"/>
                <a:ea typeface="맑은 고딕"/>
                <a:cs typeface="맑은 고딕"/>
              </a:rPr>
              <a:t>Schema</a:t>
            </a:r>
          </a:p>
        </p:txBody>
      </p:sp>
      <p:sp>
        <p:nvSpPr>
          <p:cNvPr id="11" name="TextBox 10"/>
          <p:cNvSpPr txBox="1"/>
          <p:nvPr/>
        </p:nvSpPr>
        <p:spPr>
          <a:xfrm>
            <a:off x="4023359" y="39913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클래스, 속성, 관계, 제약을 한곳에 정의한 구조이다.</a:t>
            </a:r>
          </a:p>
          <a:p>
            <a:pPr algn="l">
              <a:lnSpc>
                <a:spcPct val="110000"/>
              </a:lnSpc>
              <a:spcAft>
                <a:spcPts val="300"/>
              </a:spcAft>
            </a:pPr>
            <a:r>
              <a:rPr sz="1400" b="0">
                <a:solidFill>
                  <a:srgbClr val="1F2A3A"/>
                </a:solidFill>
                <a:latin typeface="맑은 고딕"/>
                <a:ea typeface="맑은 고딕"/>
                <a:cs typeface="맑은 고딕"/>
              </a:rPr>
              <a:t>정의의 예: 센서에는 tag가 있어야 한다. 구성 요소는 센서로 계측된다(MONITORED_BY).</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2회차의 결과물 ②: 인스턴스 데이터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둘째 결과물은 그 정의에 따라 식별자와 함께 그래프 DB에 넣은 실제 대상과 관계, 곧 인스턴스 데이터이다.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32</a:t>
            </a:r>
          </a:p>
        </p:txBody>
      </p:sp>
      <p:pic>
        <p:nvPicPr>
          <p:cNvPr id="6" name="삽화:두층_3.svg" descr="illust_2384537276285878973_179177088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3804853" y="1651269"/>
            <a:ext cx="6763886"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질문의 답이 나오는 길</a:t>
            </a:r>
          </a:p>
          <a:p>
            <a:pPr algn="ctr">
              <a:lnSpc>
                <a:spcPct val="110000"/>
              </a:lnSpc>
              <a:spcAft>
                <a:spcPts val="100"/>
              </a:spcAft>
            </a:pPr>
            <a:r>
              <a:rPr sz="1100" b="0">
                <a:solidFill>
                  <a:srgbClr val="556175"/>
                </a:solidFill>
                <a:latin typeface="맑은 고딕"/>
                <a:ea typeface="맑은 고딕"/>
                <a:cs typeface="맑은 고딕"/>
              </a:rPr>
              <a:t>오일 쿨러를 재는 센서와 그 한계값은 아래 줄의 관계를 따라가면 나온다</a:t>
            </a:r>
          </a:p>
        </p:txBody>
      </p:sp>
      <p:sp>
        <p:nvSpPr>
          <p:cNvPr id="8" name="TextBox 7"/>
          <p:cNvSpPr txBox="1"/>
          <p:nvPr/>
        </p:nvSpPr>
        <p:spPr>
          <a:xfrm>
            <a:off x="804742" y="2573121"/>
            <a:ext cx="1854614" cy="6780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결과물 ① 스키마</a:t>
            </a:r>
          </a:p>
          <a:p>
            <a:pPr algn="ctr">
              <a:lnSpc>
                <a:spcPct val="110000"/>
              </a:lnSpc>
              <a:spcAft>
                <a:spcPts val="100"/>
              </a:spcAft>
            </a:pPr>
            <a:r>
              <a:rPr sz="1100" b="0">
                <a:solidFill>
                  <a:srgbClr val="556175"/>
                </a:solidFill>
                <a:latin typeface="맑은 고딕"/>
                <a:ea typeface="맑은 고딕"/>
                <a:cs typeface="맑은 고딕"/>
              </a:rPr>
              <a:t>무엇이 무엇에</a:t>
            </a:r>
          </a:p>
          <a:p>
            <a:pPr algn="ctr">
              <a:lnSpc>
                <a:spcPct val="110000"/>
              </a:lnSpc>
              <a:spcAft>
                <a:spcPts val="100"/>
              </a:spcAft>
            </a:pPr>
            <a:r>
              <a:rPr sz="1100" b="0">
                <a:solidFill>
                  <a:srgbClr val="556175"/>
                </a:solidFill>
                <a:latin typeface="맑은 고딕"/>
                <a:ea typeface="맑은 고딕"/>
                <a:cs typeface="맑은 고딕"/>
              </a:rPr>
              <a:t>이어질 수 있는가</a:t>
            </a:r>
          </a:p>
        </p:txBody>
      </p:sp>
      <p:sp>
        <p:nvSpPr>
          <p:cNvPr id="9" name="TextBox 8"/>
          <p:cNvSpPr txBox="1"/>
          <p:nvPr/>
        </p:nvSpPr>
        <p:spPr>
          <a:xfrm>
            <a:off x="2986641" y="2762219"/>
            <a:ext cx="130913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Asset</a:t>
            </a:r>
          </a:p>
          <a:p>
            <a:pPr algn="ctr">
              <a:lnSpc>
                <a:spcPct val="110000"/>
              </a:lnSpc>
              <a:spcAft>
                <a:spcPts val="100"/>
              </a:spcAft>
            </a:pPr>
            <a:r>
              <a:rPr sz="1100" b="0">
                <a:solidFill>
                  <a:srgbClr val="556175"/>
                </a:solidFill>
                <a:latin typeface="맑은 고딕"/>
                <a:ea typeface="맑은 고딕"/>
                <a:cs typeface="맑은 고딕"/>
              </a:rPr>
              <a:t>설비</a:t>
            </a:r>
          </a:p>
        </p:txBody>
      </p:sp>
      <p:sp>
        <p:nvSpPr>
          <p:cNvPr id="10" name="TextBox 9"/>
          <p:cNvSpPr txBox="1"/>
          <p:nvPr/>
        </p:nvSpPr>
        <p:spPr>
          <a:xfrm>
            <a:off x="5354001" y="2762219"/>
            <a:ext cx="130913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Component</a:t>
            </a:r>
          </a:p>
          <a:p>
            <a:pPr algn="ctr">
              <a:lnSpc>
                <a:spcPct val="110000"/>
              </a:lnSpc>
              <a:spcAft>
                <a:spcPts val="100"/>
              </a:spcAft>
            </a:pPr>
            <a:r>
              <a:rPr sz="1100" b="0">
                <a:solidFill>
                  <a:srgbClr val="556175"/>
                </a:solidFill>
                <a:latin typeface="맑은 고딕"/>
                <a:ea typeface="맑은 고딕"/>
                <a:cs typeface="맑은 고딕"/>
              </a:rPr>
              <a:t>구성 요소</a:t>
            </a:r>
          </a:p>
        </p:txBody>
      </p:sp>
      <p:sp>
        <p:nvSpPr>
          <p:cNvPr id="11" name="TextBox 10"/>
          <p:cNvSpPr txBox="1"/>
          <p:nvPr/>
        </p:nvSpPr>
        <p:spPr>
          <a:xfrm>
            <a:off x="7710452" y="2762219"/>
            <a:ext cx="130913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Sensor</a:t>
            </a:r>
          </a:p>
          <a:p>
            <a:pPr algn="ctr">
              <a:lnSpc>
                <a:spcPct val="110000"/>
              </a:lnSpc>
              <a:spcAft>
                <a:spcPts val="100"/>
              </a:spcAft>
            </a:pPr>
            <a:r>
              <a:rPr sz="1100" b="0">
                <a:solidFill>
                  <a:srgbClr val="556175"/>
                </a:solidFill>
                <a:latin typeface="맑은 고딕"/>
                <a:ea typeface="맑은 고딕"/>
                <a:cs typeface="맑은 고딕"/>
              </a:rPr>
              <a:t>센서</a:t>
            </a:r>
          </a:p>
        </p:txBody>
      </p:sp>
      <p:sp>
        <p:nvSpPr>
          <p:cNvPr id="12" name="TextBox 11"/>
          <p:cNvSpPr txBox="1"/>
          <p:nvPr/>
        </p:nvSpPr>
        <p:spPr>
          <a:xfrm>
            <a:off x="10077813" y="2762219"/>
            <a:ext cx="1309139" cy="71678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StateVariable</a:t>
            </a:r>
          </a:p>
          <a:p>
            <a:pPr algn="ctr">
              <a:lnSpc>
                <a:spcPct val="110000"/>
              </a:lnSpc>
              <a:spcAft>
                <a:spcPts val="100"/>
              </a:spcAft>
            </a:pPr>
            <a:r>
              <a:rPr sz="1100" b="0">
                <a:solidFill>
                  <a:srgbClr val="556175"/>
                </a:solidFill>
                <a:latin typeface="맑은 고딕"/>
                <a:ea typeface="맑은 고딕"/>
                <a:cs typeface="맑은 고딕"/>
              </a:rPr>
              <a:t>상태 변수</a:t>
            </a:r>
          </a:p>
        </p:txBody>
      </p:sp>
      <p:sp>
        <p:nvSpPr>
          <p:cNvPr id="13" name="TextBox 12"/>
          <p:cNvSpPr txBox="1"/>
          <p:nvPr/>
        </p:nvSpPr>
        <p:spPr>
          <a:xfrm>
            <a:off x="3783034" y="2251655"/>
            <a:ext cx="207280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HAS_COMPONENT</a:t>
            </a:r>
          </a:p>
        </p:txBody>
      </p:sp>
      <p:sp>
        <p:nvSpPr>
          <p:cNvPr id="14" name="TextBox 13"/>
          <p:cNvSpPr txBox="1"/>
          <p:nvPr/>
        </p:nvSpPr>
        <p:spPr>
          <a:xfrm>
            <a:off x="6368584" y="2251655"/>
            <a:ext cx="163642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MONITORED_BY</a:t>
            </a:r>
          </a:p>
        </p:txBody>
      </p:sp>
      <p:sp>
        <p:nvSpPr>
          <p:cNvPr id="15" name="TextBox 14"/>
          <p:cNvSpPr txBox="1"/>
          <p:nvPr/>
        </p:nvSpPr>
        <p:spPr>
          <a:xfrm>
            <a:off x="8735945" y="2251655"/>
            <a:ext cx="163642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OBSERVES</a:t>
            </a:r>
          </a:p>
        </p:txBody>
      </p:sp>
      <p:sp>
        <p:nvSpPr>
          <p:cNvPr id="16" name="TextBox 15"/>
          <p:cNvSpPr txBox="1"/>
          <p:nvPr/>
        </p:nvSpPr>
        <p:spPr>
          <a:xfrm>
            <a:off x="695647" y="4605924"/>
            <a:ext cx="2072804" cy="887222"/>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결과물 ② 인스턴스 데이터</a:t>
            </a:r>
          </a:p>
          <a:p>
            <a:pPr algn="ctr">
              <a:lnSpc>
                <a:spcPct val="110000"/>
              </a:lnSpc>
              <a:spcAft>
                <a:spcPts val="100"/>
              </a:spcAft>
            </a:pPr>
            <a:r>
              <a:rPr sz="1100" b="0">
                <a:solidFill>
                  <a:srgbClr val="556175"/>
                </a:solidFill>
                <a:latin typeface="맑은 고딕"/>
                <a:ea typeface="맑은 고딕"/>
                <a:cs typeface="맑은 고딕"/>
              </a:rPr>
              <a:t>무엇이 무엇에</a:t>
            </a:r>
          </a:p>
          <a:p>
            <a:pPr algn="ctr">
              <a:lnSpc>
                <a:spcPct val="110000"/>
              </a:lnSpc>
              <a:spcAft>
                <a:spcPts val="100"/>
              </a:spcAft>
            </a:pPr>
            <a:r>
              <a:rPr sz="1100" b="0">
                <a:solidFill>
                  <a:srgbClr val="556175"/>
                </a:solidFill>
                <a:latin typeface="맑은 고딕"/>
                <a:ea typeface="맑은 고딕"/>
                <a:cs typeface="맑은 고딕"/>
              </a:rPr>
              <a:t>이어져 있는가</a:t>
            </a:r>
          </a:p>
        </p:txBody>
      </p:sp>
      <p:sp>
        <p:nvSpPr>
          <p:cNvPr id="17" name="TextBox 16"/>
          <p:cNvSpPr txBox="1"/>
          <p:nvPr/>
        </p:nvSpPr>
        <p:spPr>
          <a:xfrm>
            <a:off x="2550261" y="5608143"/>
            <a:ext cx="218189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HYD-01</a:t>
            </a:r>
          </a:p>
          <a:p>
            <a:pPr algn="ctr">
              <a:lnSpc>
                <a:spcPct val="110000"/>
              </a:lnSpc>
              <a:spcAft>
                <a:spcPts val="100"/>
              </a:spcAft>
            </a:pPr>
            <a:r>
              <a:rPr sz="1100" b="0">
                <a:solidFill>
                  <a:srgbClr val="556175"/>
                </a:solidFill>
                <a:latin typeface="맑은 고딕"/>
                <a:ea typeface="맑은 고딕"/>
                <a:cs typeface="맑은 고딕"/>
              </a:rPr>
              <a:t>asset:hyd-01</a:t>
            </a:r>
          </a:p>
        </p:txBody>
      </p:sp>
      <p:sp>
        <p:nvSpPr>
          <p:cNvPr id="18" name="TextBox 17"/>
          <p:cNvSpPr txBox="1"/>
          <p:nvPr/>
        </p:nvSpPr>
        <p:spPr>
          <a:xfrm>
            <a:off x="4917622" y="5608143"/>
            <a:ext cx="218189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오일 쿨러</a:t>
            </a:r>
          </a:p>
          <a:p>
            <a:pPr algn="ctr">
              <a:lnSpc>
                <a:spcPct val="110000"/>
              </a:lnSpc>
              <a:spcAft>
                <a:spcPts val="100"/>
              </a:spcAft>
            </a:pPr>
            <a:r>
              <a:rPr sz="1100" b="0">
                <a:solidFill>
                  <a:srgbClr val="556175"/>
                </a:solidFill>
                <a:latin typeface="맑은 고딕"/>
                <a:ea typeface="맑은 고딕"/>
                <a:cs typeface="맑은 고딕"/>
              </a:rPr>
              <a:t>comp:cooler</a:t>
            </a:r>
          </a:p>
        </p:txBody>
      </p:sp>
      <p:sp>
        <p:nvSpPr>
          <p:cNvPr id="19" name="TextBox 18"/>
          <p:cNvSpPr txBox="1"/>
          <p:nvPr/>
        </p:nvSpPr>
        <p:spPr>
          <a:xfrm>
            <a:off x="7274073" y="5608143"/>
            <a:ext cx="218189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유온 센서</a:t>
            </a:r>
          </a:p>
          <a:p>
            <a:pPr algn="ctr">
              <a:lnSpc>
                <a:spcPct val="110000"/>
              </a:lnSpc>
              <a:spcAft>
                <a:spcPts val="100"/>
              </a:spcAft>
            </a:pPr>
            <a:r>
              <a:rPr sz="1100" b="0">
                <a:solidFill>
                  <a:srgbClr val="556175"/>
                </a:solidFill>
                <a:latin typeface="맑은 고딕"/>
                <a:ea typeface="맑은 고딕"/>
                <a:cs typeface="맑은 고딕"/>
              </a:rPr>
              <a:t>sen:ts1</a:t>
            </a:r>
          </a:p>
        </p:txBody>
      </p:sp>
      <p:sp>
        <p:nvSpPr>
          <p:cNvPr id="20" name="TextBox 19"/>
          <p:cNvSpPr txBox="1"/>
          <p:nvPr/>
        </p:nvSpPr>
        <p:spPr>
          <a:xfrm>
            <a:off x="9641433" y="5608143"/>
            <a:ext cx="218189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유온</a:t>
            </a:r>
          </a:p>
          <a:p>
            <a:pPr algn="ctr">
              <a:lnSpc>
                <a:spcPct val="110000"/>
              </a:lnSpc>
              <a:spcAft>
                <a:spcPts val="100"/>
              </a:spcAft>
            </a:pPr>
            <a:r>
              <a:rPr sz="1100" b="0">
                <a:solidFill>
                  <a:srgbClr val="556175"/>
                </a:solidFill>
                <a:latin typeface="맑은 고딕"/>
                <a:ea typeface="맑은 고딕"/>
                <a:cs typeface="맑은 고딕"/>
              </a:rPr>
              <a:t>sv:ts1 · 한계 65 ℃</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2 · 3회차의 결과물: 조치 방법과 판단 규칙</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수행 단계는 조치 방법의 작업 단계로, 전제 조건은 판단 규칙으로, 금지 사항은 펌프 부하의 하한 60 %로 옮겨진다.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33</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절차 자료의 구성요소</a:t>
            </a:r>
          </a:p>
        </p:txBody>
      </p:sp>
      <p:sp>
        <p:nvSpPr>
          <p:cNvPr id="8" name="TextBox 7"/>
          <p:cNvSpPr txBox="1"/>
          <p:nvPr/>
        </p:nvSpPr>
        <p:spPr>
          <a:xfrm>
            <a:off x="3200400" y="24185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적힌 문장과 옮겨진 결과물</a:t>
            </a:r>
          </a:p>
        </p:txBody>
      </p:sp>
      <p:sp>
        <p:nvSpPr>
          <p:cNvPr id="9" name="TextBox 8"/>
          <p:cNvSpPr txBox="1"/>
          <p:nvPr/>
        </p:nvSpPr>
        <p:spPr>
          <a:xfrm>
            <a:off x="9448495" y="24185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답하는 것</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수행 단계</a:t>
            </a:r>
          </a:p>
        </p:txBody>
      </p:sp>
      <p:sp>
        <p:nvSpPr>
          <p:cNvPr id="12" name="TextBox 11"/>
          <p:cNvSpPr txBox="1"/>
          <p:nvPr/>
        </p:nvSpPr>
        <p:spPr>
          <a:xfrm>
            <a:off x="3200400" y="2820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「2. 팬 속도를 100 %로 올린다.」</a:t>
            </a:r>
          </a:p>
          <a:p>
            <a:pPr algn="l">
              <a:lnSpc>
                <a:spcPct val="110000"/>
              </a:lnSpc>
            </a:pPr>
            <a:r>
              <a:rPr sz="1400" b="0">
                <a:solidFill>
                  <a:srgbClr val="1F2A3A"/>
                </a:solidFill>
                <a:latin typeface="맑은 고딕"/>
                <a:ea typeface="맑은 고딕"/>
                <a:cs typeface="맑은 고딕"/>
              </a:rPr>
              <a:t>→ 조치 방법의 작업 단계: 냉각 성능 상실 -MITIGATED_BY→ 팬 최대 운전 -HAS_STEP→ 2단계</a:t>
            </a:r>
          </a:p>
        </p:txBody>
      </p:sp>
      <p:sp>
        <p:nvSpPr>
          <p:cNvPr id="13" name="TextBox 12"/>
          <p:cNvSpPr txBox="1"/>
          <p:nvPr/>
        </p:nvSpPr>
        <p:spPr>
          <a:xfrm>
            <a:off x="9448495" y="2820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어떻게</a:t>
            </a:r>
          </a:p>
          <a:p>
            <a:pPr algn="l">
              <a:lnSpc>
                <a:spcPct val="110000"/>
              </a:lnSpc>
            </a:pPr>
            <a:r>
              <a:rPr sz="1250" b="1">
                <a:solidFill>
                  <a:srgbClr val="556175"/>
                </a:solidFill>
                <a:latin typeface="맑은 고딕"/>
                <a:ea typeface="맑은 고딕"/>
                <a:cs typeface="맑은 고딕"/>
              </a:rPr>
              <a:t>하는가</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금지 사항</a:t>
            </a:r>
          </a:p>
        </p:txBody>
      </p:sp>
      <p:sp>
        <p:nvSpPr>
          <p:cNvPr id="16" name="TextBox 15"/>
          <p:cNvSpPr txBox="1"/>
          <p:nvPr/>
        </p:nvSpPr>
        <p:spPr>
          <a:xfrm>
            <a:off x="3200400" y="37353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「펌프 부하는 60 % 아래로 내리지 않는다.」</a:t>
            </a:r>
          </a:p>
          <a:p>
            <a:pPr algn="l">
              <a:lnSpc>
                <a:spcPct val="110000"/>
              </a:lnSpc>
            </a:pPr>
            <a:r>
              <a:rPr sz="1400" b="0">
                <a:solidFill>
                  <a:srgbClr val="1F2A3A"/>
                </a:solidFill>
                <a:latin typeface="맑은 고딕"/>
                <a:ea typeface="맑은 고딕"/>
                <a:cs typeface="맑은 고딕"/>
              </a:rPr>
              <a:t>→ 조치의 한계: 펌프 부하의 하한 60 %</a:t>
            </a:r>
          </a:p>
        </p:txBody>
      </p:sp>
      <p:sp>
        <p:nvSpPr>
          <p:cNvPr id="17" name="TextBox 16"/>
          <p:cNvSpPr txBox="1"/>
          <p:nvPr/>
        </p:nvSpPr>
        <p:spPr>
          <a:xfrm>
            <a:off x="9448495" y="37353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무엇을 하면</a:t>
            </a:r>
          </a:p>
          <a:p>
            <a:pPr algn="l">
              <a:lnSpc>
                <a:spcPct val="110000"/>
              </a:lnSpc>
            </a:pPr>
            <a:r>
              <a:rPr sz="1250" b="1">
                <a:solidFill>
                  <a:srgbClr val="556175"/>
                </a:solidFill>
                <a:latin typeface="맑은 고딕"/>
                <a:ea typeface="맑은 고딕"/>
                <a:cs typeface="맑은 고딕"/>
              </a:rPr>
              <a:t>안 되는가</a:t>
            </a:r>
          </a:p>
        </p:txBody>
      </p:sp>
      <p:sp>
        <p:nvSpPr>
          <p:cNvPr id="18" name="Rounded Rectangle 17"/>
          <p:cNvSpPr/>
          <p:nvPr/>
        </p:nvSpPr>
        <p:spPr>
          <a:xfrm>
            <a:off x="548640" y="4681727"/>
            <a:ext cx="11094415" cy="850392"/>
          </a:xfrm>
          <a:prstGeom prst="roundRect">
            <a:avLst>
              <a:gd name="adj" fmla="val 8000"/>
            </a:avLst>
          </a:prstGeom>
          <a:solidFill>
            <a:srgbClr val="E7F3FD"/>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전제 조건</a:t>
            </a:r>
          </a:p>
        </p:txBody>
      </p:sp>
      <p:sp>
        <p:nvSpPr>
          <p:cNvPr id="20" name="TextBox 19"/>
          <p:cNvSpPr txBox="1"/>
          <p:nvPr/>
        </p:nvSpPr>
        <p:spPr>
          <a:xfrm>
            <a:off x="3200400" y="4649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「원격 조치는 PLC 운전 모드가 REMOTE_AUTO일 때만 한다.」</a:t>
            </a:r>
          </a:p>
          <a:p>
            <a:pPr algn="l">
              <a:lnSpc>
                <a:spcPct val="110000"/>
              </a:lnSpc>
            </a:pPr>
            <a:r>
              <a:rPr sz="1400" b="0">
                <a:solidFill>
                  <a:srgbClr val="1F2A3A"/>
                </a:solidFill>
                <a:latin typeface="맑은 고딕"/>
                <a:ea typeface="맑은 고딕"/>
                <a:cs typeface="맑은 고딕"/>
              </a:rPr>
              <a:t>→ 판단 규칙: plc_mode != REMOTE_AUTO → 제외 (근거 HM-8.8)</a:t>
            </a:r>
          </a:p>
        </p:txBody>
      </p:sp>
      <p:sp>
        <p:nvSpPr>
          <p:cNvPr id="21" name="TextBox 20"/>
          <p:cNvSpPr txBox="1"/>
          <p:nvPr/>
        </p:nvSpPr>
        <p:spPr>
          <a:xfrm>
            <a:off x="9448495" y="4649723"/>
            <a:ext cx="2103120" cy="914400"/>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언제 할 수</a:t>
            </a:r>
          </a:p>
          <a:p>
            <a:pPr algn="l">
              <a:lnSpc>
                <a:spcPct val="110000"/>
              </a:lnSpc>
            </a:pPr>
            <a:r>
              <a:rPr sz="1250" b="1">
                <a:solidFill>
                  <a:srgbClr val="1A6FC4"/>
                </a:solidFill>
                <a:latin typeface="맑은 고딕"/>
                <a:ea typeface="맑은 고딕"/>
                <a:cs typeface="맑은 고딕"/>
              </a:rPr>
              <a:t>있는가</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3회차의 결과물: 후보를 견주는 성과 지표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3회차의 또 다른 결과물은 규칙을 통과한 후보끼리 어느 쪽이 나은지를 견주는 기준인 성과 지표이다.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34</a:t>
            </a:r>
          </a:p>
        </p:txBody>
      </p:sp>
      <p:pic>
        <p:nvPicPr>
          <p:cNvPr id="6" name="삽화:성과경로_5.svg" descr="illust_5371350959261032333_179177088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673828" y="4345914"/>
            <a:ext cx="1963709" cy="825246"/>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팬 최대 운전과 부하 80 %</a:t>
            </a:r>
          </a:p>
          <a:p>
            <a:pPr algn="ctr">
              <a:lnSpc>
                <a:spcPct val="110000"/>
              </a:lnSpc>
              <a:spcAft>
                <a:spcPts val="100"/>
              </a:spcAft>
            </a:pPr>
            <a:r>
              <a:rPr sz="1300" b="0">
                <a:solidFill>
                  <a:srgbClr val="556175"/>
                </a:solidFill>
                <a:latin typeface="맑은 고딕"/>
                <a:ea typeface="맑은 고딕"/>
                <a:cs typeface="맑은 고딕"/>
              </a:rPr>
              <a:t>조치 후보</a:t>
            </a:r>
          </a:p>
        </p:txBody>
      </p:sp>
      <p:sp>
        <p:nvSpPr>
          <p:cNvPr id="8" name="TextBox 7"/>
          <p:cNvSpPr txBox="1"/>
          <p:nvPr/>
        </p:nvSpPr>
        <p:spPr>
          <a:xfrm>
            <a:off x="3204831" y="2818948"/>
            <a:ext cx="1636424"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팬 속도</a:t>
            </a:r>
          </a:p>
          <a:p>
            <a:pPr algn="ctr">
              <a:lnSpc>
                <a:spcPct val="110000"/>
              </a:lnSpc>
              <a:spcAft>
                <a:spcPts val="100"/>
              </a:spcAft>
            </a:pPr>
            <a:r>
              <a:rPr sz="1300" b="0">
                <a:solidFill>
                  <a:srgbClr val="556175"/>
                </a:solidFill>
                <a:latin typeface="맑은 고딕"/>
                <a:ea typeface="맑은 고딕"/>
                <a:cs typeface="맑은 고딕"/>
              </a:rPr>
              <a:t>올린다</a:t>
            </a:r>
          </a:p>
        </p:txBody>
      </p:sp>
      <p:sp>
        <p:nvSpPr>
          <p:cNvPr id="9" name="TextBox 8"/>
          <p:cNvSpPr txBox="1"/>
          <p:nvPr/>
        </p:nvSpPr>
        <p:spPr>
          <a:xfrm>
            <a:off x="3455749" y="5721601"/>
            <a:ext cx="1636424"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펌프 부하</a:t>
            </a:r>
          </a:p>
          <a:p>
            <a:pPr algn="ctr">
              <a:lnSpc>
                <a:spcPct val="110000"/>
              </a:lnSpc>
              <a:spcAft>
                <a:spcPts val="100"/>
              </a:spcAft>
            </a:pPr>
            <a:r>
              <a:rPr sz="1300" b="0">
                <a:solidFill>
                  <a:srgbClr val="556175"/>
                </a:solidFill>
                <a:latin typeface="맑은 고딕"/>
                <a:ea typeface="맑은 고딕"/>
                <a:cs typeface="맑은 고딕"/>
              </a:rPr>
              <a:t>내린다</a:t>
            </a:r>
          </a:p>
        </p:txBody>
      </p:sp>
      <p:sp>
        <p:nvSpPr>
          <p:cNvPr id="10" name="TextBox 9"/>
          <p:cNvSpPr txBox="1"/>
          <p:nvPr/>
        </p:nvSpPr>
        <p:spPr>
          <a:xfrm>
            <a:off x="6150395" y="4227728"/>
            <a:ext cx="152732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유온</a:t>
            </a:r>
          </a:p>
          <a:p>
            <a:pPr algn="ctr">
              <a:lnSpc>
                <a:spcPct val="110000"/>
              </a:lnSpc>
              <a:spcAft>
                <a:spcPts val="100"/>
              </a:spcAft>
            </a:pPr>
            <a:r>
              <a:rPr sz="1300" b="0">
                <a:solidFill>
                  <a:srgbClr val="556175"/>
                </a:solidFill>
                <a:latin typeface="맑은 고딕"/>
                <a:ea typeface="맑은 고딕"/>
                <a:cs typeface="맑은 고딕"/>
              </a:rPr>
              <a:t>내려간다</a:t>
            </a:r>
          </a:p>
        </p:txBody>
      </p:sp>
      <p:sp>
        <p:nvSpPr>
          <p:cNvPr id="11" name="TextBox 10"/>
          <p:cNvSpPr txBox="1"/>
          <p:nvPr/>
        </p:nvSpPr>
        <p:spPr>
          <a:xfrm>
            <a:off x="6150395" y="5721601"/>
            <a:ext cx="152732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생산량</a:t>
            </a:r>
          </a:p>
          <a:p>
            <a:pPr algn="ctr">
              <a:lnSpc>
                <a:spcPct val="110000"/>
              </a:lnSpc>
              <a:spcAft>
                <a:spcPts val="100"/>
              </a:spcAft>
            </a:pPr>
            <a:r>
              <a:rPr sz="1300" b="0">
                <a:solidFill>
                  <a:srgbClr val="556175"/>
                </a:solidFill>
                <a:latin typeface="맑은 고딕"/>
                <a:ea typeface="맑은 고딕"/>
                <a:cs typeface="맑은 고딕"/>
              </a:rPr>
              <a:t>줄어든다</a:t>
            </a:r>
          </a:p>
        </p:txBody>
      </p:sp>
      <p:sp>
        <p:nvSpPr>
          <p:cNvPr id="12" name="TextBox 11"/>
          <p:cNvSpPr txBox="1"/>
          <p:nvPr/>
        </p:nvSpPr>
        <p:spPr>
          <a:xfrm>
            <a:off x="8506845" y="2601486"/>
            <a:ext cx="218189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전력 사용량</a:t>
            </a:r>
          </a:p>
          <a:p>
            <a:pPr algn="ctr">
              <a:lnSpc>
                <a:spcPct val="110000"/>
              </a:lnSpc>
              <a:spcAft>
                <a:spcPts val="100"/>
              </a:spcAft>
            </a:pPr>
            <a:r>
              <a:rPr sz="1300" b="0">
                <a:solidFill>
                  <a:srgbClr val="556175"/>
                </a:solidFill>
                <a:latin typeface="맑은 고딕"/>
                <a:ea typeface="맑은 고딕"/>
                <a:cs typeface="맑은 고딕"/>
              </a:rPr>
              <a:t>불리하다</a:t>
            </a:r>
          </a:p>
        </p:txBody>
      </p:sp>
      <p:sp>
        <p:nvSpPr>
          <p:cNvPr id="13" name="TextBox 12"/>
          <p:cNvSpPr txBox="1"/>
          <p:nvPr/>
        </p:nvSpPr>
        <p:spPr>
          <a:xfrm>
            <a:off x="8506845" y="4227728"/>
            <a:ext cx="2181899"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인터록 여유</a:t>
            </a:r>
          </a:p>
          <a:p>
            <a:pPr algn="ctr">
              <a:lnSpc>
                <a:spcPct val="110000"/>
              </a:lnSpc>
              <a:spcAft>
                <a:spcPts val="100"/>
              </a:spcAft>
            </a:pPr>
            <a:r>
              <a:rPr sz="1300" b="0">
                <a:solidFill>
                  <a:srgbClr val="556175"/>
                </a:solidFill>
                <a:latin typeface="맑은 고딕"/>
                <a:ea typeface="맑은 고딕"/>
                <a:cs typeface="맑은 고딕"/>
              </a:rPr>
              <a:t>이롭다</a:t>
            </a:r>
          </a:p>
        </p:txBody>
      </p:sp>
      <p:sp>
        <p:nvSpPr>
          <p:cNvPr id="14" name="TextBox 13"/>
          <p:cNvSpPr txBox="1"/>
          <p:nvPr/>
        </p:nvSpPr>
        <p:spPr>
          <a:xfrm>
            <a:off x="8506845" y="5721601"/>
            <a:ext cx="218189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납기 준수율</a:t>
            </a:r>
          </a:p>
          <a:p>
            <a:pPr algn="ctr">
              <a:lnSpc>
                <a:spcPct val="110000"/>
              </a:lnSpc>
              <a:spcAft>
                <a:spcPts val="100"/>
              </a:spcAft>
            </a:pPr>
            <a:r>
              <a:rPr sz="1300" b="0">
                <a:solidFill>
                  <a:srgbClr val="556175"/>
                </a:solidFill>
                <a:latin typeface="맑은 고딕"/>
                <a:ea typeface="맑은 고딕"/>
                <a:cs typeface="맑은 고딕"/>
              </a:rPr>
              <a:t>불리하다</a:t>
            </a:r>
          </a:p>
        </p:txBody>
      </p:sp>
      <p:sp>
        <p:nvSpPr>
          <p:cNvPr id="15" name="TextBox 14"/>
          <p:cNvSpPr txBox="1"/>
          <p:nvPr/>
        </p:nvSpPr>
        <p:spPr>
          <a:xfrm>
            <a:off x="10241455" y="1958553"/>
            <a:ext cx="1309139"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에너지 효율</a:t>
            </a:r>
          </a:p>
          <a:p>
            <a:pPr algn="ctr">
              <a:lnSpc>
                <a:spcPct val="110000"/>
              </a:lnSpc>
              <a:spcAft>
                <a:spcPts val="100"/>
              </a:spcAft>
            </a:pPr>
            <a:r>
              <a:rPr sz="1300" b="0">
                <a:solidFill>
                  <a:srgbClr val="556175"/>
                </a:solidFill>
                <a:latin typeface="맑은 고딕"/>
                <a:ea typeface="맑은 고딕"/>
                <a:cs typeface="맑은 고딕"/>
              </a:rPr>
              <a:t>내부 프로세스 관점</a:t>
            </a:r>
          </a:p>
        </p:txBody>
      </p:sp>
      <p:sp>
        <p:nvSpPr>
          <p:cNvPr id="16" name="TextBox 15"/>
          <p:cNvSpPr txBox="1"/>
          <p:nvPr/>
        </p:nvSpPr>
        <p:spPr>
          <a:xfrm>
            <a:off x="10241455" y="3684071"/>
            <a:ext cx="1309139"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무재해 운전</a:t>
            </a:r>
          </a:p>
          <a:p>
            <a:pPr algn="ctr">
              <a:lnSpc>
                <a:spcPct val="110000"/>
              </a:lnSpc>
              <a:spcAft>
                <a:spcPts val="100"/>
              </a:spcAft>
            </a:pPr>
            <a:r>
              <a:rPr sz="1300" b="0">
                <a:solidFill>
                  <a:srgbClr val="556175"/>
                </a:solidFill>
                <a:latin typeface="맑은 고딕"/>
                <a:ea typeface="맑은 고딕"/>
                <a:cs typeface="맑은 고딕"/>
              </a:rPr>
              <a:t>내부 프로세스 관점</a:t>
            </a:r>
          </a:p>
        </p:txBody>
      </p:sp>
      <p:sp>
        <p:nvSpPr>
          <p:cNvPr id="17" name="TextBox 16"/>
          <p:cNvSpPr txBox="1"/>
          <p:nvPr/>
        </p:nvSpPr>
        <p:spPr>
          <a:xfrm>
            <a:off x="10241455" y="5244129"/>
            <a:ext cx="130913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납기 신뢰</a:t>
            </a:r>
          </a:p>
          <a:p>
            <a:pPr algn="ctr">
              <a:lnSpc>
                <a:spcPct val="110000"/>
              </a:lnSpc>
              <a:spcAft>
                <a:spcPts val="100"/>
              </a:spcAft>
            </a:pPr>
            <a:r>
              <a:rPr sz="1300" b="0">
                <a:solidFill>
                  <a:srgbClr val="556175"/>
                </a:solidFill>
                <a:latin typeface="맑은 고딕"/>
                <a:ea typeface="맑은 고딕"/>
                <a:cs typeface="맑은 고딕"/>
              </a:rPr>
              <a:t>고객 관점</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4회차의 입력과 결과물: 매뉴얼 원문에서 출처를 가진 지식으로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4회차는 매뉴얼 원문에서, 판단의 근거로 내놓을 수 있게 내용에 출처와 확인이 함께 붙은 지식을 만들었다.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35</a:t>
            </a:r>
          </a:p>
        </p:txBody>
      </p:sp>
      <p:sp>
        <p:nvSpPr>
          <p:cNvPr id="6" name="Rectangle 5"/>
          <p:cNvSpPr/>
          <p:nvPr/>
        </p:nvSpPr>
        <p:spPr>
          <a:xfrm>
            <a:off x="1935441" y="3364674"/>
            <a:ext cx="8320811" cy="146304"/>
          </a:xfrm>
          <a:prstGeom prst="rect">
            <a:avLst/>
          </a:prstGeom>
          <a:solidFill>
            <a:srgbClr val="5CB8F2"/>
          </a:solidFill>
          <a:ln>
            <a:noFill/>
          </a:ln>
        </p:spPr>
        <p:txBody>
          <a:bodyPr rtlCol="0" anchor="ctr"/>
          <a:lstStyle/>
          <a:p>
            <a:pPr algn="ctr"/>
          </a:p>
        </p:txBody>
      </p:sp>
      <p:sp>
        <p:nvSpPr>
          <p:cNvPr id="7" name="Chevron 6"/>
          <p:cNvSpPr/>
          <p:nvPr/>
        </p:nvSpPr>
        <p:spPr>
          <a:xfrm>
            <a:off x="3203371" y="3254946"/>
            <a:ext cx="237744" cy="365760"/>
          </a:xfrm>
          <a:prstGeom prst="chevron">
            <a:avLst/>
          </a:prstGeom>
          <a:solidFill>
            <a:srgbClr val="13294B"/>
          </a:solidFill>
          <a:ln>
            <a:noFill/>
          </a:ln>
        </p:spPr>
        <p:txBody>
          <a:bodyPr rtlCol="0" anchor="ctr"/>
          <a:lstStyle/>
          <a:p>
            <a:pPr algn="ctr"/>
          </a:p>
        </p:txBody>
      </p:sp>
      <p:sp>
        <p:nvSpPr>
          <p:cNvPr id="8" name="TextBox 7"/>
          <p:cNvSpPr txBox="1"/>
          <p:nvPr/>
        </p:nvSpPr>
        <p:spPr>
          <a:xfrm>
            <a:off x="2438361" y="2907474"/>
            <a:ext cx="1767763" cy="310896"/>
          </a:xfrm>
          <a:prstGeom prst="rect">
            <a:avLst/>
          </a:prstGeom>
          <a:noFill/>
        </p:spPr>
        <p:txBody>
          <a:bodyPr wrap="square" anchor="ctr"/>
          <a:lstStyle/>
          <a:p>
            <a:pPr algn="ctr">
              <a:lnSpc>
                <a:spcPct val="110000"/>
              </a:lnSpc>
            </a:pPr>
            <a:r>
              <a:rPr sz="1150" b="1">
                <a:solidFill>
                  <a:srgbClr val="1A6FC4"/>
                </a:solidFill>
                <a:latin typeface="맑은 고딕"/>
                <a:ea typeface="맑은 고딕"/>
                <a:cs typeface="맑은 고딕"/>
              </a:rPr>
              <a:t>추출</a:t>
            </a:r>
          </a:p>
        </p:txBody>
      </p:sp>
      <p:sp>
        <p:nvSpPr>
          <p:cNvPr id="9" name="Oval 8"/>
          <p:cNvSpPr/>
          <p:nvPr/>
        </p:nvSpPr>
        <p:spPr>
          <a:xfrm>
            <a:off x="1341081" y="2843466"/>
            <a:ext cx="1188720" cy="1188720"/>
          </a:xfrm>
          <a:prstGeom prst="ellipse">
            <a:avLst/>
          </a:prstGeom>
          <a:solidFill>
            <a:srgbClr val="FFFFFF"/>
          </a:solidFill>
          <a:ln w="28575">
            <a:solidFill>
              <a:srgbClr val="13294B"/>
            </a:solidFill>
          </a:ln>
        </p:spPr>
        <p:txBody>
          <a:bodyPr rtlCol="0" anchor="ctr"/>
          <a:lstStyle/>
          <a:p>
            <a:pPr algn="ctr"/>
          </a:p>
        </p:txBody>
      </p:sp>
      <p:pic>
        <p:nvPicPr>
          <p:cNvPr id="10" name="아이콘:file-text" descr="file-text_13294B_1.6.png"/>
          <p:cNvPicPr>
            <a:picLocks noChangeAspect="1"/>
          </p:cNvPicPr>
          <p:nvPr/>
        </p:nvPicPr>
        <p:blipFill>
          <a:blip r:embed="rId3"/>
          <a:stretch>
            <a:fillRect/>
          </a:stretch>
        </p:blipFill>
        <p:spPr>
          <a:xfrm>
            <a:off x="1626374" y="3128759"/>
            <a:ext cx="618134" cy="618134"/>
          </a:xfrm>
          <a:prstGeom prst="rect">
            <a:avLst/>
          </a:prstGeom>
        </p:spPr>
      </p:pic>
      <p:sp>
        <p:nvSpPr>
          <p:cNvPr id="11" name="TextBox 10"/>
          <p:cNvSpPr txBox="1"/>
          <p:nvPr/>
        </p:nvSpPr>
        <p:spPr>
          <a:xfrm>
            <a:off x="640079" y="4169346"/>
            <a:ext cx="2590723" cy="1335658"/>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매뉴얼 원문</a:t>
            </a:r>
          </a:p>
          <a:p>
            <a:pPr algn="ctr">
              <a:lnSpc>
                <a:spcPct val="110000"/>
              </a:lnSpc>
              <a:spcAft>
                <a:spcPts val="400"/>
              </a:spcAft>
            </a:pPr>
            <a:r>
              <a:rPr sz="1300" b="0">
                <a:solidFill>
                  <a:srgbClr val="1F2A3A"/>
                </a:solidFill>
                <a:latin typeface="맑은 고딕"/>
                <a:ea typeface="맑은 고딕"/>
                <a:cs typeface="맑은 고딕"/>
              </a:rPr>
              <a:t>입력</a:t>
            </a:r>
          </a:p>
        </p:txBody>
      </p:sp>
      <p:sp>
        <p:nvSpPr>
          <p:cNvPr id="12" name="Chevron 11"/>
          <p:cNvSpPr/>
          <p:nvPr/>
        </p:nvSpPr>
        <p:spPr>
          <a:xfrm>
            <a:off x="5976975" y="3254946"/>
            <a:ext cx="237744" cy="365760"/>
          </a:xfrm>
          <a:prstGeom prst="chevron">
            <a:avLst/>
          </a:prstGeom>
          <a:solidFill>
            <a:srgbClr val="13294B"/>
          </a:solidFill>
          <a:ln>
            <a:noFill/>
          </a:ln>
        </p:spPr>
        <p:txBody>
          <a:bodyPr rtlCol="0" anchor="ctr"/>
          <a:lstStyle/>
          <a:p>
            <a:pPr algn="ctr"/>
          </a:p>
        </p:txBody>
      </p:sp>
      <p:sp>
        <p:nvSpPr>
          <p:cNvPr id="13" name="TextBox 12"/>
          <p:cNvSpPr txBox="1"/>
          <p:nvPr/>
        </p:nvSpPr>
        <p:spPr>
          <a:xfrm>
            <a:off x="5211965" y="2907474"/>
            <a:ext cx="1767763" cy="310896"/>
          </a:xfrm>
          <a:prstGeom prst="rect">
            <a:avLst/>
          </a:prstGeom>
          <a:noFill/>
        </p:spPr>
        <p:txBody>
          <a:bodyPr wrap="square" anchor="ctr"/>
          <a:lstStyle/>
          <a:p>
            <a:pPr algn="ctr">
              <a:lnSpc>
                <a:spcPct val="110000"/>
              </a:lnSpc>
            </a:pPr>
            <a:r>
              <a:rPr sz="1150" b="1">
                <a:solidFill>
                  <a:srgbClr val="1A6FC4"/>
                </a:solidFill>
                <a:latin typeface="맑은 고딕"/>
                <a:ea typeface="맑은 고딕"/>
                <a:cs typeface="맑은 고딕"/>
              </a:rPr>
              <a:t>검토</a:t>
            </a:r>
          </a:p>
        </p:txBody>
      </p:sp>
      <p:sp>
        <p:nvSpPr>
          <p:cNvPr id="14" name="Oval 13"/>
          <p:cNvSpPr/>
          <p:nvPr/>
        </p:nvSpPr>
        <p:spPr>
          <a:xfrm>
            <a:off x="4114685" y="2843466"/>
            <a:ext cx="1188720" cy="1188720"/>
          </a:xfrm>
          <a:prstGeom prst="ellipse">
            <a:avLst/>
          </a:prstGeom>
          <a:solidFill>
            <a:srgbClr val="FFFFFF"/>
          </a:solidFill>
          <a:ln w="28575">
            <a:solidFill>
              <a:srgbClr val="13294B"/>
            </a:solidFill>
          </a:ln>
        </p:spPr>
        <p:txBody>
          <a:bodyPr rtlCol="0" anchor="ctr"/>
          <a:lstStyle/>
          <a:p>
            <a:pPr algn="ctr"/>
          </a:p>
        </p:txBody>
      </p:sp>
      <p:pic>
        <p:nvPicPr>
          <p:cNvPr id="15" name="아이콘:braces" descr="braces_13294B_1.6.png"/>
          <p:cNvPicPr>
            <a:picLocks noChangeAspect="1"/>
          </p:cNvPicPr>
          <p:nvPr/>
        </p:nvPicPr>
        <p:blipFill>
          <a:blip r:embed="rId4"/>
          <a:stretch>
            <a:fillRect/>
          </a:stretch>
        </p:blipFill>
        <p:spPr>
          <a:xfrm>
            <a:off x="4399978" y="3128759"/>
            <a:ext cx="618134" cy="618134"/>
          </a:xfrm>
          <a:prstGeom prst="rect">
            <a:avLst/>
          </a:prstGeom>
        </p:spPr>
      </p:pic>
      <p:sp>
        <p:nvSpPr>
          <p:cNvPr id="16" name="TextBox 15"/>
          <p:cNvSpPr txBox="1"/>
          <p:nvPr/>
        </p:nvSpPr>
        <p:spPr>
          <a:xfrm>
            <a:off x="3413683" y="4169346"/>
            <a:ext cx="2590723" cy="1335658"/>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지식 후보</a:t>
            </a:r>
          </a:p>
          <a:p>
            <a:pPr algn="ctr">
              <a:lnSpc>
                <a:spcPct val="110000"/>
              </a:lnSpc>
              <a:spcAft>
                <a:spcPts val="400"/>
              </a:spcAft>
            </a:pPr>
            <a:r>
              <a:rPr sz="1300" b="0">
                <a:solidFill>
                  <a:srgbClr val="1F2A3A"/>
                </a:solidFill>
                <a:latin typeface="맑은 고딕"/>
                <a:ea typeface="맑은 고딕"/>
                <a:cs typeface="맑은 고딕"/>
              </a:rPr>
              <a:t>항목마다 인용</a:t>
            </a:r>
          </a:p>
        </p:txBody>
      </p:sp>
      <p:sp>
        <p:nvSpPr>
          <p:cNvPr id="17" name="Chevron 16"/>
          <p:cNvSpPr/>
          <p:nvPr/>
        </p:nvSpPr>
        <p:spPr>
          <a:xfrm>
            <a:off x="8750579" y="3254946"/>
            <a:ext cx="237744" cy="365760"/>
          </a:xfrm>
          <a:prstGeom prst="chevron">
            <a:avLst/>
          </a:prstGeom>
          <a:solidFill>
            <a:srgbClr val="13294B"/>
          </a:solidFill>
          <a:ln>
            <a:noFill/>
          </a:ln>
        </p:spPr>
        <p:txBody>
          <a:bodyPr rtlCol="0" anchor="ctr"/>
          <a:lstStyle/>
          <a:p>
            <a:pPr algn="ctr"/>
          </a:p>
        </p:txBody>
      </p:sp>
      <p:sp>
        <p:nvSpPr>
          <p:cNvPr id="18" name="TextBox 17"/>
          <p:cNvSpPr txBox="1"/>
          <p:nvPr/>
        </p:nvSpPr>
        <p:spPr>
          <a:xfrm>
            <a:off x="7985569" y="2907474"/>
            <a:ext cx="1767763" cy="310896"/>
          </a:xfrm>
          <a:prstGeom prst="rect">
            <a:avLst/>
          </a:prstGeom>
          <a:noFill/>
        </p:spPr>
        <p:txBody>
          <a:bodyPr wrap="square" anchor="ctr"/>
          <a:lstStyle/>
          <a:p>
            <a:pPr algn="ctr">
              <a:lnSpc>
                <a:spcPct val="110000"/>
              </a:lnSpc>
            </a:pPr>
            <a:r>
              <a:rPr sz="1150" b="1">
                <a:solidFill>
                  <a:srgbClr val="1A6FC4"/>
                </a:solidFill>
                <a:latin typeface="맑은 고딕"/>
                <a:ea typeface="맑은 고딕"/>
                <a:cs typeface="맑은 고딕"/>
              </a:rPr>
              <a:t>적재</a:t>
            </a:r>
          </a:p>
        </p:txBody>
      </p:sp>
      <p:sp>
        <p:nvSpPr>
          <p:cNvPr id="19" name="Oval 18"/>
          <p:cNvSpPr/>
          <p:nvPr/>
        </p:nvSpPr>
        <p:spPr>
          <a:xfrm>
            <a:off x="6888289" y="2843466"/>
            <a:ext cx="1188720" cy="1188720"/>
          </a:xfrm>
          <a:prstGeom prst="ellipse">
            <a:avLst/>
          </a:prstGeom>
          <a:solidFill>
            <a:srgbClr val="FFFFFF"/>
          </a:solidFill>
          <a:ln w="28575">
            <a:solidFill>
              <a:srgbClr val="13294B"/>
            </a:solidFill>
          </a:ln>
        </p:spPr>
        <p:txBody>
          <a:bodyPr rtlCol="0" anchor="ctr"/>
          <a:lstStyle/>
          <a:p>
            <a:pPr algn="ctr"/>
          </a:p>
        </p:txBody>
      </p:sp>
      <p:pic>
        <p:nvPicPr>
          <p:cNvPr id="20" name="아이콘:user-check" descr="user-check_13294B_1.6.png"/>
          <p:cNvPicPr>
            <a:picLocks noChangeAspect="1"/>
          </p:cNvPicPr>
          <p:nvPr/>
        </p:nvPicPr>
        <p:blipFill>
          <a:blip r:embed="rId5"/>
          <a:stretch>
            <a:fillRect/>
          </a:stretch>
        </p:blipFill>
        <p:spPr>
          <a:xfrm>
            <a:off x="7173582" y="3128759"/>
            <a:ext cx="618134" cy="618134"/>
          </a:xfrm>
          <a:prstGeom prst="rect">
            <a:avLst/>
          </a:prstGeom>
        </p:spPr>
      </p:pic>
      <p:sp>
        <p:nvSpPr>
          <p:cNvPr id="21" name="TextBox 20"/>
          <p:cNvSpPr txBox="1"/>
          <p:nvPr/>
        </p:nvSpPr>
        <p:spPr>
          <a:xfrm>
            <a:off x="6187287" y="4169346"/>
            <a:ext cx="2590723" cy="1335658"/>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검토된 지식</a:t>
            </a:r>
          </a:p>
          <a:p>
            <a:pPr algn="ctr">
              <a:lnSpc>
                <a:spcPct val="110000"/>
              </a:lnSpc>
              <a:spcAft>
                <a:spcPts val="400"/>
              </a:spcAft>
            </a:pPr>
            <a:r>
              <a:rPr sz="1300" b="0">
                <a:solidFill>
                  <a:srgbClr val="1F2A3A"/>
                </a:solidFill>
                <a:latin typeface="맑은 고딕"/>
                <a:ea typeface="맑은 고딕"/>
                <a:cs typeface="맑은 고딕"/>
              </a:rPr>
              <a:t>사람의 승인</a:t>
            </a:r>
          </a:p>
        </p:txBody>
      </p:sp>
      <p:sp>
        <p:nvSpPr>
          <p:cNvPr id="22" name="Oval 21"/>
          <p:cNvSpPr/>
          <p:nvPr/>
        </p:nvSpPr>
        <p:spPr>
          <a:xfrm>
            <a:off x="9661893" y="2843466"/>
            <a:ext cx="1188720" cy="1188720"/>
          </a:xfrm>
          <a:prstGeom prst="ellipse">
            <a:avLst/>
          </a:prstGeom>
          <a:solidFill>
            <a:srgbClr val="5CB8F2"/>
          </a:solidFill>
          <a:ln w="28575">
            <a:solidFill>
              <a:srgbClr val="13294B"/>
            </a:solidFill>
          </a:ln>
        </p:spPr>
        <p:txBody>
          <a:bodyPr rtlCol="0" anchor="ctr"/>
          <a:lstStyle/>
          <a:p>
            <a:pPr algn="ctr"/>
          </a:p>
        </p:txBody>
      </p:sp>
      <p:pic>
        <p:nvPicPr>
          <p:cNvPr id="23" name="아이콘:topology-star-3" descr="topology-star-3_13294B_1.6.png"/>
          <p:cNvPicPr>
            <a:picLocks noChangeAspect="1"/>
          </p:cNvPicPr>
          <p:nvPr/>
        </p:nvPicPr>
        <p:blipFill>
          <a:blip r:embed="rId6"/>
          <a:stretch>
            <a:fillRect/>
          </a:stretch>
        </p:blipFill>
        <p:spPr>
          <a:xfrm>
            <a:off x="9947186" y="3128759"/>
            <a:ext cx="618134" cy="618134"/>
          </a:xfrm>
          <a:prstGeom prst="rect">
            <a:avLst/>
          </a:prstGeom>
        </p:spPr>
      </p:pic>
      <p:sp>
        <p:nvSpPr>
          <p:cNvPr id="24" name="TextBox 23"/>
          <p:cNvSpPr txBox="1"/>
          <p:nvPr/>
        </p:nvSpPr>
        <p:spPr>
          <a:xfrm>
            <a:off x="8960891" y="4169346"/>
            <a:ext cx="2590723" cy="1335658"/>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출처를 가진 지식</a:t>
            </a:r>
          </a:p>
          <a:p>
            <a:pPr algn="ctr">
              <a:lnSpc>
                <a:spcPct val="110000"/>
              </a:lnSpc>
              <a:spcAft>
                <a:spcPts val="400"/>
              </a:spcAft>
            </a:pPr>
            <a:r>
              <a:rPr sz="1300" b="0">
                <a:solidFill>
                  <a:srgbClr val="1F2A3A"/>
                </a:solidFill>
                <a:latin typeface="맑은 고딕"/>
                <a:ea typeface="맑은 고딕"/>
                <a:cs typeface="맑은 고딕"/>
              </a:rPr>
              <a:t>내용: 원인, 증거, 조치 방법, 규칙</a:t>
            </a:r>
          </a:p>
          <a:p>
            <a:pPr algn="ctr">
              <a:lnSpc>
                <a:spcPct val="110000"/>
              </a:lnSpc>
              <a:spcAft>
                <a:spcPts val="400"/>
              </a:spcAft>
            </a:pPr>
            <a:r>
              <a:rPr sz="1300" b="0">
                <a:solidFill>
                  <a:srgbClr val="1F2A3A"/>
                </a:solidFill>
                <a:latin typeface="맑은 고딕"/>
                <a:ea typeface="맑은 고딕"/>
                <a:cs typeface="맑은 고딕"/>
              </a:rPr>
              <a:t>출처: 문서 식별자, 판본, 인용</a:t>
            </a:r>
          </a:p>
          <a:p>
            <a:pPr algn="ctr">
              <a:lnSpc>
                <a:spcPct val="110000"/>
              </a:lnSpc>
              <a:spcAft>
                <a:spcPts val="400"/>
              </a:spcAft>
            </a:pPr>
            <a:r>
              <a:rPr sz="1300" b="0">
                <a:solidFill>
                  <a:srgbClr val="1F2A3A"/>
                </a:solidFill>
                <a:latin typeface="맑은 고딕"/>
                <a:ea typeface="맑은 고딕"/>
                <a:cs typeface="맑은 고딕"/>
              </a:rPr>
              <a:t>확인: 검토자, 검토한 시각</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사건의 다섯 걸음과 네 회차의 결과물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쿨러 사건의 판단을 순서대로 놓으면 걸음마다 서로 다른 회차의 결과물이 쓰였고, 그 자리에서 지어낸 것은 없었다.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36</a:t>
            </a:r>
          </a:p>
        </p:txBody>
      </p:sp>
      <p:sp>
        <p:nvSpPr>
          <p:cNvPr id="6" name="Rounded Rectangle 5"/>
          <p:cNvSpPr/>
          <p:nvPr/>
        </p:nvSpPr>
        <p:spPr>
          <a:xfrm>
            <a:off x="548640" y="2626423"/>
            <a:ext cx="1911644" cy="2729864"/>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138702" y="2809303"/>
            <a:ext cx="731520" cy="731520"/>
          </a:xfrm>
          <a:prstGeom prst="ellipse">
            <a:avLst/>
          </a:prstGeom>
          <a:solidFill>
            <a:srgbClr val="FFFFFF"/>
          </a:solidFill>
          <a:ln>
            <a:noFill/>
          </a:ln>
        </p:spPr>
        <p:txBody>
          <a:bodyPr rtlCol="0" anchor="ctr"/>
          <a:lstStyle/>
          <a:p>
            <a:pPr algn="ctr"/>
          </a:p>
        </p:txBody>
      </p:sp>
      <p:pic>
        <p:nvPicPr>
          <p:cNvPr id="8" name="아이콘:bell-ringing" descr="bell-ringing_13294B_1.6.png"/>
          <p:cNvPicPr>
            <a:picLocks noChangeAspect="1"/>
          </p:cNvPicPr>
          <p:nvPr/>
        </p:nvPicPr>
        <p:blipFill>
          <a:blip r:embed="rId3"/>
          <a:stretch>
            <a:fillRect/>
          </a:stretch>
        </p:blipFill>
        <p:spPr>
          <a:xfrm>
            <a:off x="1292321" y="2962922"/>
            <a:ext cx="424281" cy="424281"/>
          </a:xfrm>
          <a:prstGeom prst="rect">
            <a:avLst/>
          </a:prstGeom>
        </p:spPr>
      </p:pic>
      <p:sp>
        <p:nvSpPr>
          <p:cNvPr id="9" name="TextBox 8"/>
          <p:cNvSpPr txBox="1"/>
          <p:nvPr/>
        </p:nvSpPr>
        <p:spPr>
          <a:xfrm>
            <a:off x="621792" y="3613975"/>
            <a:ext cx="1765340" cy="1669160"/>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경보와 고장 유형</a:t>
            </a:r>
          </a:p>
          <a:p>
            <a:pPr algn="ctr">
              <a:lnSpc>
                <a:spcPct val="110000"/>
              </a:lnSpc>
              <a:spcAft>
                <a:spcPts val="400"/>
              </a:spcAft>
            </a:pPr>
            <a:r>
              <a:rPr sz="1250" b="0">
                <a:solidFill>
                  <a:srgbClr val="1F2A3A"/>
                </a:solidFill>
                <a:latin typeface="맑은 고딕"/>
                <a:ea typeface="맑은 고딕"/>
                <a:cs typeface="맑은 고딕"/>
              </a:rPr>
              <a:t>2회차</a:t>
            </a:r>
          </a:p>
          <a:p>
            <a:pPr algn="ctr">
              <a:lnSpc>
                <a:spcPct val="110000"/>
              </a:lnSpc>
              <a:spcAft>
                <a:spcPts val="400"/>
              </a:spcAft>
            </a:pPr>
            <a:r>
              <a:rPr sz="1250" b="0">
                <a:solidFill>
                  <a:srgbClr val="1F2A3A"/>
                </a:solidFill>
                <a:latin typeface="맑은 고딕"/>
                <a:ea typeface="맑은 고딕"/>
                <a:cs typeface="맑은 고딕"/>
              </a:rPr>
              <a:t>스키마가</a:t>
            </a:r>
          </a:p>
          <a:p>
            <a:pPr algn="ctr">
              <a:lnSpc>
                <a:spcPct val="110000"/>
              </a:lnSpc>
              <a:spcAft>
                <a:spcPts val="400"/>
              </a:spcAft>
            </a:pPr>
            <a:r>
              <a:rPr sz="1250" b="0">
                <a:solidFill>
                  <a:srgbClr val="1F2A3A"/>
                </a:solidFill>
                <a:latin typeface="맑은 고딕"/>
                <a:ea typeface="맑은 고딕"/>
                <a:cs typeface="맑은 고딕"/>
              </a:rPr>
              <a:t>정한 길</a:t>
            </a:r>
          </a:p>
        </p:txBody>
      </p:sp>
      <p:sp>
        <p:nvSpPr>
          <p:cNvPr id="10" name="Right Arrow 9"/>
          <p:cNvSpPr/>
          <p:nvPr/>
        </p:nvSpPr>
        <p:spPr>
          <a:xfrm>
            <a:off x="2524292"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2844332" y="2626423"/>
            <a:ext cx="1911644" cy="2729864"/>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3434394" y="2809303"/>
            <a:ext cx="731520" cy="731520"/>
          </a:xfrm>
          <a:prstGeom prst="ellipse">
            <a:avLst/>
          </a:prstGeom>
          <a:solidFill>
            <a:srgbClr val="FFFFFF"/>
          </a:solidFill>
          <a:ln>
            <a:noFill/>
          </a:ln>
        </p:spPr>
        <p:txBody>
          <a:bodyPr rtlCol="0" anchor="ctr"/>
          <a:lstStyle/>
          <a:p>
            <a:pPr algn="ctr"/>
          </a:p>
        </p:txBody>
      </p:sp>
      <p:pic>
        <p:nvPicPr>
          <p:cNvPr id="13" name="아이콘:topology-star-3" descr="topology-star-3_13294B_1.6.png"/>
          <p:cNvPicPr>
            <a:picLocks noChangeAspect="1"/>
          </p:cNvPicPr>
          <p:nvPr/>
        </p:nvPicPr>
        <p:blipFill>
          <a:blip r:embed="rId4"/>
          <a:stretch>
            <a:fillRect/>
          </a:stretch>
        </p:blipFill>
        <p:spPr>
          <a:xfrm>
            <a:off x="3588014" y="2962922"/>
            <a:ext cx="424281" cy="424281"/>
          </a:xfrm>
          <a:prstGeom prst="rect">
            <a:avLst/>
          </a:prstGeom>
        </p:spPr>
      </p:pic>
      <p:sp>
        <p:nvSpPr>
          <p:cNvPr id="14" name="TextBox 13"/>
          <p:cNvSpPr txBox="1"/>
          <p:nvPr/>
        </p:nvSpPr>
        <p:spPr>
          <a:xfrm>
            <a:off x="2917484" y="3613975"/>
            <a:ext cx="1765340" cy="1669160"/>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원인 후보</a:t>
            </a:r>
          </a:p>
          <a:p>
            <a:pPr algn="ctr">
              <a:lnSpc>
                <a:spcPct val="110000"/>
              </a:lnSpc>
              <a:spcAft>
                <a:spcPts val="400"/>
              </a:spcAft>
            </a:pPr>
            <a:r>
              <a:rPr sz="1250" b="0">
                <a:solidFill>
                  <a:srgbClr val="1F2A3A"/>
                </a:solidFill>
                <a:latin typeface="맑은 고딕"/>
                <a:ea typeface="맑은 고딕"/>
                <a:cs typeface="맑은 고딕"/>
              </a:rPr>
              <a:t>4회차</a:t>
            </a:r>
          </a:p>
          <a:p>
            <a:pPr algn="ctr">
              <a:lnSpc>
                <a:spcPct val="110000"/>
              </a:lnSpc>
              <a:spcAft>
                <a:spcPts val="400"/>
              </a:spcAft>
            </a:pPr>
            <a:r>
              <a:rPr sz="1250" b="0">
                <a:solidFill>
                  <a:srgbClr val="1F2A3A"/>
                </a:solidFill>
                <a:latin typeface="맑은 고딕"/>
                <a:ea typeface="맑은 고딕"/>
                <a:cs typeface="맑은 고딕"/>
              </a:rPr>
              <a:t>매뉴얼에서</a:t>
            </a:r>
          </a:p>
          <a:p>
            <a:pPr algn="ctr">
              <a:lnSpc>
                <a:spcPct val="110000"/>
              </a:lnSpc>
              <a:spcAft>
                <a:spcPts val="400"/>
              </a:spcAft>
            </a:pPr>
            <a:r>
              <a:rPr sz="1250" b="0">
                <a:solidFill>
                  <a:srgbClr val="1F2A3A"/>
                </a:solidFill>
                <a:latin typeface="맑은 고딕"/>
                <a:ea typeface="맑은 고딕"/>
                <a:cs typeface="맑은 고딕"/>
              </a:rPr>
              <a:t>온 지식</a:t>
            </a:r>
          </a:p>
        </p:txBody>
      </p:sp>
      <p:sp>
        <p:nvSpPr>
          <p:cNvPr id="15" name="Right Arrow 14"/>
          <p:cNvSpPr/>
          <p:nvPr/>
        </p:nvSpPr>
        <p:spPr>
          <a:xfrm>
            <a:off x="4819985"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5140025" y="2626423"/>
            <a:ext cx="1911644" cy="2729864"/>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5730087" y="2809303"/>
            <a:ext cx="731520" cy="731520"/>
          </a:xfrm>
          <a:prstGeom prst="ellipse">
            <a:avLst/>
          </a:prstGeom>
          <a:solidFill>
            <a:srgbClr val="FFFFFF"/>
          </a:solidFill>
          <a:ln>
            <a:noFill/>
          </a:ln>
        </p:spPr>
        <p:txBody>
          <a:bodyPr rtlCol="0" anchor="ctr"/>
          <a:lstStyle/>
          <a:p>
            <a:pPr algn="ctr"/>
          </a:p>
        </p:txBody>
      </p:sp>
      <p:pic>
        <p:nvPicPr>
          <p:cNvPr id="18" name="아이콘:activity" descr="activity_13294B_1.6.png"/>
          <p:cNvPicPr>
            <a:picLocks noChangeAspect="1"/>
          </p:cNvPicPr>
          <p:nvPr/>
        </p:nvPicPr>
        <p:blipFill>
          <a:blip r:embed="rId5"/>
          <a:stretch>
            <a:fillRect/>
          </a:stretch>
        </p:blipFill>
        <p:spPr>
          <a:xfrm>
            <a:off x="5883706" y="2962922"/>
            <a:ext cx="424281" cy="424281"/>
          </a:xfrm>
          <a:prstGeom prst="rect">
            <a:avLst/>
          </a:prstGeom>
        </p:spPr>
      </p:pic>
      <p:sp>
        <p:nvSpPr>
          <p:cNvPr id="19" name="TextBox 18"/>
          <p:cNvSpPr txBox="1"/>
          <p:nvPr/>
        </p:nvSpPr>
        <p:spPr>
          <a:xfrm>
            <a:off x="5213177" y="3613975"/>
            <a:ext cx="1765340" cy="1669160"/>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값의 대조</a:t>
            </a:r>
          </a:p>
          <a:p>
            <a:pPr algn="ctr">
              <a:lnSpc>
                <a:spcPct val="110000"/>
              </a:lnSpc>
              <a:spcAft>
                <a:spcPts val="400"/>
              </a:spcAft>
            </a:pPr>
            <a:r>
              <a:rPr sz="1250" b="0">
                <a:solidFill>
                  <a:srgbClr val="1F2A3A"/>
                </a:solidFill>
                <a:latin typeface="맑은 고딕"/>
                <a:ea typeface="맑은 고딕"/>
                <a:cs typeface="맑은 고딕"/>
              </a:rPr>
              <a:t>4회차</a:t>
            </a:r>
          </a:p>
          <a:p>
            <a:pPr algn="ctr">
              <a:lnSpc>
                <a:spcPct val="110000"/>
              </a:lnSpc>
              <a:spcAft>
                <a:spcPts val="400"/>
              </a:spcAft>
            </a:pPr>
            <a:r>
              <a:rPr sz="1250" b="0">
                <a:solidFill>
                  <a:srgbClr val="1F2A3A"/>
                </a:solidFill>
                <a:latin typeface="맑은 고딕"/>
                <a:ea typeface="맑은 고딕"/>
                <a:cs typeface="맑은 고딕"/>
              </a:rPr>
              <a:t>원천에서</a:t>
            </a:r>
          </a:p>
          <a:p>
            <a:pPr algn="ctr">
              <a:lnSpc>
                <a:spcPct val="110000"/>
              </a:lnSpc>
              <a:spcAft>
                <a:spcPts val="400"/>
              </a:spcAft>
            </a:pPr>
            <a:r>
              <a:rPr sz="1250" b="0">
                <a:solidFill>
                  <a:srgbClr val="1F2A3A"/>
                </a:solidFill>
                <a:latin typeface="맑은 고딕"/>
                <a:ea typeface="맑은 고딕"/>
                <a:cs typeface="맑은 고딕"/>
              </a:rPr>
              <a:t>읽은 값</a:t>
            </a:r>
          </a:p>
        </p:txBody>
      </p:sp>
      <p:sp>
        <p:nvSpPr>
          <p:cNvPr id="20" name="Right Arrow 19"/>
          <p:cNvSpPr/>
          <p:nvPr/>
        </p:nvSpPr>
        <p:spPr>
          <a:xfrm>
            <a:off x="711567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7435717" y="2626423"/>
            <a:ext cx="1911644" cy="2729864"/>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8025780" y="2809303"/>
            <a:ext cx="731520" cy="731520"/>
          </a:xfrm>
          <a:prstGeom prst="ellipse">
            <a:avLst/>
          </a:prstGeom>
          <a:solidFill>
            <a:srgbClr val="FFFFFF"/>
          </a:solidFill>
          <a:ln>
            <a:noFill/>
          </a:ln>
        </p:spPr>
        <p:txBody>
          <a:bodyPr rtlCol="0" anchor="ctr"/>
          <a:lstStyle/>
          <a:p>
            <a:pPr algn="ctr"/>
          </a:p>
        </p:txBody>
      </p:sp>
      <p:pic>
        <p:nvPicPr>
          <p:cNvPr id="23" name="아이콘:list-check" descr="list-check_13294B_1.6.png"/>
          <p:cNvPicPr>
            <a:picLocks noChangeAspect="1"/>
          </p:cNvPicPr>
          <p:nvPr/>
        </p:nvPicPr>
        <p:blipFill>
          <a:blip r:embed="rId6"/>
          <a:stretch>
            <a:fillRect/>
          </a:stretch>
        </p:blipFill>
        <p:spPr>
          <a:xfrm>
            <a:off x="8179399" y="2962922"/>
            <a:ext cx="424281" cy="424281"/>
          </a:xfrm>
          <a:prstGeom prst="rect">
            <a:avLst/>
          </a:prstGeom>
        </p:spPr>
      </p:pic>
      <p:sp>
        <p:nvSpPr>
          <p:cNvPr id="24" name="TextBox 23"/>
          <p:cNvSpPr txBox="1"/>
          <p:nvPr/>
        </p:nvSpPr>
        <p:spPr>
          <a:xfrm>
            <a:off x="7508869" y="3613975"/>
            <a:ext cx="1765340" cy="1669160"/>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조치의 판단</a:t>
            </a:r>
          </a:p>
          <a:p>
            <a:pPr algn="ctr">
              <a:lnSpc>
                <a:spcPct val="110000"/>
              </a:lnSpc>
              <a:spcAft>
                <a:spcPts val="400"/>
              </a:spcAft>
            </a:pPr>
            <a:r>
              <a:rPr sz="1250" b="0">
                <a:solidFill>
                  <a:srgbClr val="1F2A3A"/>
                </a:solidFill>
                <a:latin typeface="맑은 고딕"/>
                <a:ea typeface="맑은 고딕"/>
                <a:cs typeface="맑은 고딕"/>
              </a:rPr>
              <a:t>3회차</a:t>
            </a:r>
          </a:p>
          <a:p>
            <a:pPr algn="ctr">
              <a:lnSpc>
                <a:spcPct val="110000"/>
              </a:lnSpc>
              <a:spcAft>
                <a:spcPts val="400"/>
              </a:spcAft>
            </a:pPr>
            <a:r>
              <a:rPr sz="1250" b="0">
                <a:solidFill>
                  <a:srgbClr val="1F2A3A"/>
                </a:solidFill>
                <a:latin typeface="맑은 고딕"/>
                <a:ea typeface="맑은 고딕"/>
                <a:cs typeface="맑은 고딕"/>
              </a:rPr>
              <a:t>판단 규칙과</a:t>
            </a:r>
          </a:p>
          <a:p>
            <a:pPr algn="ctr">
              <a:lnSpc>
                <a:spcPct val="110000"/>
              </a:lnSpc>
              <a:spcAft>
                <a:spcPts val="400"/>
              </a:spcAft>
            </a:pPr>
            <a:r>
              <a:rPr sz="1250" b="0">
                <a:solidFill>
                  <a:srgbClr val="1F2A3A"/>
                </a:solidFill>
                <a:latin typeface="맑은 고딕"/>
                <a:ea typeface="맑은 고딕"/>
                <a:cs typeface="맑은 고딕"/>
              </a:rPr>
              <a:t>성과 기준</a:t>
            </a:r>
          </a:p>
        </p:txBody>
      </p:sp>
      <p:sp>
        <p:nvSpPr>
          <p:cNvPr id="25" name="Right Arrow 24"/>
          <p:cNvSpPr/>
          <p:nvPr/>
        </p:nvSpPr>
        <p:spPr>
          <a:xfrm>
            <a:off x="9411370" y="3854196"/>
            <a:ext cx="256031" cy="274320"/>
          </a:xfrm>
          <a:prstGeom prst="rightArrow">
            <a:avLst/>
          </a:prstGeom>
          <a:solidFill>
            <a:srgbClr val="13294B"/>
          </a:solidFill>
          <a:ln>
            <a:noFill/>
          </a:ln>
        </p:spPr>
        <p:txBody>
          <a:bodyPr rtlCol="0" anchor="ctr"/>
          <a:lstStyle/>
          <a:p>
            <a:pPr algn="ctr"/>
          </a:p>
        </p:txBody>
      </p:sp>
      <p:sp>
        <p:nvSpPr>
          <p:cNvPr id="26" name="Rounded Rectangle 25"/>
          <p:cNvSpPr/>
          <p:nvPr/>
        </p:nvSpPr>
        <p:spPr>
          <a:xfrm>
            <a:off x="9731410" y="2626423"/>
            <a:ext cx="1911644" cy="2729864"/>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7" name="Oval 26"/>
          <p:cNvSpPr/>
          <p:nvPr/>
        </p:nvSpPr>
        <p:spPr>
          <a:xfrm>
            <a:off x="10321472" y="2809303"/>
            <a:ext cx="731520" cy="731520"/>
          </a:xfrm>
          <a:prstGeom prst="ellipse">
            <a:avLst/>
          </a:prstGeom>
          <a:solidFill>
            <a:srgbClr val="5CB8F2"/>
          </a:solidFill>
          <a:ln>
            <a:noFill/>
          </a:ln>
        </p:spPr>
        <p:txBody>
          <a:bodyPr rtlCol="0" anchor="ctr"/>
          <a:lstStyle/>
          <a:p>
            <a:pPr algn="ctr"/>
          </a:p>
        </p:txBody>
      </p:sp>
      <p:pic>
        <p:nvPicPr>
          <p:cNvPr id="28" name="아이콘:file-certificate" descr="file-certificate_13294B_1.6.png"/>
          <p:cNvPicPr>
            <a:picLocks noChangeAspect="1"/>
          </p:cNvPicPr>
          <p:nvPr/>
        </p:nvPicPr>
        <p:blipFill>
          <a:blip r:embed="rId7"/>
          <a:stretch>
            <a:fillRect/>
          </a:stretch>
        </p:blipFill>
        <p:spPr>
          <a:xfrm>
            <a:off x="10475092" y="2962922"/>
            <a:ext cx="424281" cy="424281"/>
          </a:xfrm>
          <a:prstGeom prst="rect">
            <a:avLst/>
          </a:prstGeom>
        </p:spPr>
      </p:pic>
      <p:sp>
        <p:nvSpPr>
          <p:cNvPr id="29" name="TextBox 28"/>
          <p:cNvSpPr txBox="1"/>
          <p:nvPr/>
        </p:nvSpPr>
        <p:spPr>
          <a:xfrm>
            <a:off x="9804562" y="3613975"/>
            <a:ext cx="1765340" cy="1669160"/>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근거의 제시</a:t>
            </a:r>
          </a:p>
          <a:p>
            <a:pPr algn="ctr">
              <a:lnSpc>
                <a:spcPct val="110000"/>
              </a:lnSpc>
              <a:spcAft>
                <a:spcPts val="400"/>
              </a:spcAft>
            </a:pPr>
            <a:r>
              <a:rPr sz="1250" b="0">
                <a:solidFill>
                  <a:srgbClr val="1F2A3A"/>
                </a:solidFill>
                <a:latin typeface="맑은 고딕"/>
                <a:ea typeface="맑은 고딕"/>
                <a:cs typeface="맑은 고딕"/>
              </a:rPr>
              <a:t>4회차</a:t>
            </a:r>
          </a:p>
          <a:p>
            <a:pPr algn="ctr">
              <a:lnSpc>
                <a:spcPct val="110000"/>
              </a:lnSpc>
              <a:spcAft>
                <a:spcPts val="400"/>
              </a:spcAft>
            </a:pPr>
            <a:r>
              <a:rPr sz="1250" b="0">
                <a:solidFill>
                  <a:srgbClr val="1F2A3A"/>
                </a:solidFill>
                <a:latin typeface="맑은 고딕"/>
                <a:ea typeface="맑은 고딕"/>
                <a:cs typeface="맑은 고딕"/>
              </a:rPr>
              <a:t>문서의 절과</a:t>
            </a:r>
          </a:p>
          <a:p>
            <a:pPr algn="ctr">
              <a:lnSpc>
                <a:spcPct val="110000"/>
              </a:lnSpc>
              <a:spcAft>
                <a:spcPts val="400"/>
              </a:spcAft>
            </a:pPr>
            <a:r>
              <a:rPr sz="1250" b="0">
                <a:solidFill>
                  <a:srgbClr val="1F2A3A"/>
                </a:solidFill>
                <a:latin typeface="맑은 고딕"/>
                <a:ea typeface="맑은 고딕"/>
                <a:cs typeface="맑은 고딕"/>
              </a:rPr>
              <a:t>인용</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2회차와 4회차의 결과물이 쓰인 자리: 경보에서 원인 후보까지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경보에서 고장 유형까지는 스키마가 정의한 관계를 따라갔고, 원인 후보와 증거 기준은 매뉴얼에서 온 지식이다.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37</a:t>
            </a:r>
          </a:p>
        </p:txBody>
      </p:sp>
      <p:pic>
        <p:nvPicPr>
          <p:cNvPr id="6" name="삽화:경로_3.svg" descr="illust_2456489447850758782_179171539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739285" y="2265837"/>
            <a:ext cx="152732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이상 패턴</a:t>
            </a:r>
          </a:p>
          <a:p>
            <a:pPr algn="ctr">
              <a:lnSpc>
                <a:spcPct val="110000"/>
              </a:lnSpc>
              <a:spcAft>
                <a:spcPts val="100"/>
              </a:spcAft>
            </a:pPr>
            <a:r>
              <a:rPr sz="1300" b="0">
                <a:solidFill>
                  <a:srgbClr val="556175"/>
                </a:solidFill>
                <a:latin typeface="맑은 고딕"/>
                <a:ea typeface="맑은 고딕"/>
                <a:cs typeface="맑은 고딕"/>
              </a:rPr>
              <a:t>쿨러 성능 저하</a:t>
            </a:r>
          </a:p>
        </p:txBody>
      </p:sp>
      <p:sp>
        <p:nvSpPr>
          <p:cNvPr id="8" name="TextBox 7"/>
          <p:cNvSpPr txBox="1"/>
          <p:nvPr/>
        </p:nvSpPr>
        <p:spPr>
          <a:xfrm>
            <a:off x="2375709" y="2265837"/>
            <a:ext cx="152732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증상</a:t>
            </a:r>
          </a:p>
          <a:p>
            <a:pPr algn="ctr">
              <a:lnSpc>
                <a:spcPct val="110000"/>
              </a:lnSpc>
              <a:spcAft>
                <a:spcPts val="100"/>
              </a:spcAft>
            </a:pPr>
            <a:r>
              <a:rPr sz="1300" b="0">
                <a:solidFill>
                  <a:srgbClr val="556175"/>
                </a:solidFill>
                <a:latin typeface="맑은 고딕"/>
                <a:ea typeface="맑은 고딕"/>
                <a:cs typeface="맑은 고딕"/>
              </a:rPr>
              <a:t>유온 상승</a:t>
            </a:r>
          </a:p>
        </p:txBody>
      </p:sp>
      <p:sp>
        <p:nvSpPr>
          <p:cNvPr id="9" name="TextBox 8"/>
          <p:cNvSpPr txBox="1"/>
          <p:nvPr/>
        </p:nvSpPr>
        <p:spPr>
          <a:xfrm>
            <a:off x="3368473" y="2194925"/>
            <a:ext cx="218189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고장 유형</a:t>
            </a:r>
          </a:p>
          <a:p>
            <a:pPr algn="ctr">
              <a:lnSpc>
                <a:spcPct val="110000"/>
              </a:lnSpc>
              <a:spcAft>
                <a:spcPts val="100"/>
              </a:spcAft>
            </a:pPr>
            <a:r>
              <a:rPr sz="1300" b="0">
                <a:solidFill>
                  <a:srgbClr val="556175"/>
                </a:solidFill>
                <a:latin typeface="맑은 고딕"/>
                <a:ea typeface="맑은 고딕"/>
                <a:cs typeface="맑은 고딕"/>
              </a:rPr>
              <a:t>쿨러 냉각 성능 상실</a:t>
            </a:r>
          </a:p>
        </p:txBody>
      </p:sp>
      <p:sp>
        <p:nvSpPr>
          <p:cNvPr id="10" name="TextBox 9"/>
          <p:cNvSpPr txBox="1"/>
          <p:nvPr/>
        </p:nvSpPr>
        <p:spPr>
          <a:xfrm>
            <a:off x="1721140" y="3944081"/>
            <a:ext cx="1200044"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DETECTS</a:t>
            </a:r>
          </a:p>
          <a:p>
            <a:pPr algn="ctr">
              <a:lnSpc>
                <a:spcPct val="110000"/>
              </a:lnSpc>
              <a:spcAft>
                <a:spcPts val="100"/>
              </a:spcAft>
            </a:pPr>
            <a:r>
              <a:rPr sz="1300" b="0">
                <a:solidFill>
                  <a:srgbClr val="556175"/>
                </a:solidFill>
                <a:latin typeface="맑은 고딕"/>
                <a:ea typeface="맑은 고딕"/>
                <a:cs typeface="맑은 고딕"/>
              </a:rPr>
              <a:t>감지한다</a:t>
            </a:r>
          </a:p>
        </p:txBody>
      </p:sp>
      <p:sp>
        <p:nvSpPr>
          <p:cNvPr id="11" name="TextBox 10"/>
          <p:cNvSpPr txBox="1"/>
          <p:nvPr/>
        </p:nvSpPr>
        <p:spPr>
          <a:xfrm>
            <a:off x="3292107" y="4038630"/>
            <a:ext cx="141823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INDICATES</a:t>
            </a:r>
          </a:p>
        </p:txBody>
      </p:sp>
      <p:sp>
        <p:nvSpPr>
          <p:cNvPr id="12" name="TextBox 11"/>
          <p:cNvSpPr txBox="1"/>
          <p:nvPr/>
        </p:nvSpPr>
        <p:spPr>
          <a:xfrm>
            <a:off x="5441277" y="1958553"/>
            <a:ext cx="109094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CAUSES</a:t>
            </a:r>
          </a:p>
        </p:txBody>
      </p:sp>
      <p:sp>
        <p:nvSpPr>
          <p:cNvPr id="13" name="TextBox 12"/>
          <p:cNvSpPr txBox="1"/>
          <p:nvPr/>
        </p:nvSpPr>
        <p:spPr>
          <a:xfrm>
            <a:off x="8877768" y="2081467"/>
            <a:ext cx="261827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쿨러 핀 오염</a:t>
            </a:r>
          </a:p>
          <a:p>
            <a:pPr algn="ctr">
              <a:lnSpc>
                <a:spcPct val="110000"/>
              </a:lnSpc>
              <a:spcAft>
                <a:spcPts val="100"/>
              </a:spcAft>
            </a:pPr>
            <a:r>
              <a:rPr sz="1300" b="0">
                <a:solidFill>
                  <a:srgbClr val="556175"/>
                </a:solidFill>
                <a:latin typeface="맑은 고딕"/>
                <a:ea typeface="맑은 고딕"/>
                <a:cs typeface="맑은 고딕"/>
              </a:rPr>
              <a:t>냉각 효율 평균 70 % 미만</a:t>
            </a:r>
          </a:p>
        </p:txBody>
      </p:sp>
      <p:sp>
        <p:nvSpPr>
          <p:cNvPr id="14" name="TextBox 13"/>
          <p:cNvSpPr txBox="1"/>
          <p:nvPr/>
        </p:nvSpPr>
        <p:spPr>
          <a:xfrm>
            <a:off x="8877768" y="3220781"/>
            <a:ext cx="261827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팬 구동 불량</a:t>
            </a:r>
          </a:p>
          <a:p>
            <a:pPr algn="ctr">
              <a:lnSpc>
                <a:spcPct val="110000"/>
              </a:lnSpc>
              <a:spcAft>
                <a:spcPts val="100"/>
              </a:spcAft>
            </a:pPr>
            <a:r>
              <a:rPr sz="1300" b="0">
                <a:solidFill>
                  <a:srgbClr val="556175"/>
                </a:solidFill>
                <a:latin typeface="맑은 고딕"/>
                <a:ea typeface="맑은 고딕"/>
                <a:cs typeface="맑은 고딕"/>
              </a:rPr>
              <a:t>팬 진동 평균 0.9 mm/s 이상</a:t>
            </a:r>
          </a:p>
        </p:txBody>
      </p:sp>
      <p:sp>
        <p:nvSpPr>
          <p:cNvPr id="15" name="TextBox 14"/>
          <p:cNvSpPr txBox="1"/>
          <p:nvPr/>
        </p:nvSpPr>
        <p:spPr>
          <a:xfrm>
            <a:off x="8877768" y="4355369"/>
            <a:ext cx="261827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주변 온도 상승</a:t>
            </a:r>
          </a:p>
          <a:p>
            <a:pPr algn="ctr">
              <a:lnSpc>
                <a:spcPct val="110000"/>
              </a:lnSpc>
              <a:spcAft>
                <a:spcPts val="100"/>
              </a:spcAft>
            </a:pPr>
            <a:r>
              <a:rPr sz="1300" b="0">
                <a:solidFill>
                  <a:srgbClr val="556175"/>
                </a:solidFill>
                <a:latin typeface="맑은 고딕"/>
                <a:ea typeface="맑은 고딕"/>
                <a:cs typeface="맑은 고딕"/>
              </a:rPr>
              <a:t>캐비닛 온도 평균 35 ℃ 이상</a:t>
            </a:r>
          </a:p>
        </p:txBody>
      </p:sp>
      <p:sp>
        <p:nvSpPr>
          <p:cNvPr id="16" name="TextBox 15"/>
          <p:cNvSpPr txBox="1"/>
          <p:nvPr/>
        </p:nvSpPr>
        <p:spPr>
          <a:xfrm>
            <a:off x="6826783" y="5078669"/>
            <a:ext cx="1854614"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EVIDENCED_BY</a:t>
            </a:r>
          </a:p>
          <a:p>
            <a:pPr algn="ctr">
              <a:lnSpc>
                <a:spcPct val="110000"/>
              </a:lnSpc>
              <a:spcAft>
                <a:spcPts val="100"/>
              </a:spcAft>
            </a:pPr>
            <a:r>
              <a:rPr sz="1300" b="0">
                <a:solidFill>
                  <a:srgbClr val="556175"/>
                </a:solidFill>
                <a:latin typeface="맑은 고딕"/>
                <a:ea typeface="맑은 고딕"/>
                <a:cs typeface="맑은 고딕"/>
              </a:rPr>
              <a:t>증거로 확인한다</a:t>
            </a:r>
          </a:p>
        </p:txBody>
      </p:sp>
      <p:sp>
        <p:nvSpPr>
          <p:cNvPr id="17" name="TextBox 16"/>
          <p:cNvSpPr txBox="1"/>
          <p:nvPr/>
        </p:nvSpPr>
        <p:spPr>
          <a:xfrm>
            <a:off x="2659356" y="4653198"/>
            <a:ext cx="185461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MITIGATED_BY</a:t>
            </a:r>
          </a:p>
        </p:txBody>
      </p:sp>
      <p:sp>
        <p:nvSpPr>
          <p:cNvPr id="18" name="TextBox 17"/>
          <p:cNvSpPr txBox="1"/>
          <p:nvPr/>
        </p:nvSpPr>
        <p:spPr>
          <a:xfrm>
            <a:off x="5386730" y="5220492"/>
            <a:ext cx="152732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조치 방법</a:t>
            </a:r>
          </a:p>
          <a:p>
            <a:pPr algn="ctr">
              <a:lnSpc>
                <a:spcPct val="110000"/>
              </a:lnSpc>
              <a:spcAft>
                <a:spcPts val="100"/>
              </a:spcAft>
            </a:pPr>
            <a:r>
              <a:rPr sz="1300" b="0">
                <a:solidFill>
                  <a:srgbClr val="556175"/>
                </a:solidFill>
                <a:latin typeface="맑은 고딕"/>
                <a:ea typeface="맑은 고딕"/>
                <a:cs typeface="맑은 고딕"/>
              </a:rPr>
              <a:t>팬 최대 운전</a:t>
            </a:r>
          </a:p>
        </p:txBody>
      </p:sp>
      <p:sp>
        <p:nvSpPr>
          <p:cNvPr id="19" name="TextBox 18"/>
          <p:cNvSpPr txBox="1"/>
          <p:nvPr/>
        </p:nvSpPr>
        <p:spPr>
          <a:xfrm>
            <a:off x="750195" y="5220492"/>
            <a:ext cx="283646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2회차의 결과물</a:t>
            </a:r>
          </a:p>
          <a:p>
            <a:pPr algn="ctr">
              <a:lnSpc>
                <a:spcPct val="110000"/>
              </a:lnSpc>
              <a:spcAft>
                <a:spcPts val="100"/>
              </a:spcAft>
            </a:pPr>
            <a:r>
              <a:rPr sz="1300" b="0">
                <a:solidFill>
                  <a:srgbClr val="556175"/>
                </a:solidFill>
                <a:latin typeface="맑은 고딕"/>
                <a:ea typeface="맑은 고딕"/>
                <a:cs typeface="맑은 고딕"/>
              </a:rPr>
              <a:t>스키마가 정의한 관계</a:t>
            </a:r>
          </a:p>
        </p:txBody>
      </p:sp>
      <p:sp>
        <p:nvSpPr>
          <p:cNvPr id="20" name="TextBox 19"/>
          <p:cNvSpPr txBox="1"/>
          <p:nvPr/>
        </p:nvSpPr>
        <p:spPr>
          <a:xfrm>
            <a:off x="7950461" y="5598688"/>
            <a:ext cx="349103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4회차의 결과물</a:t>
            </a:r>
          </a:p>
          <a:p>
            <a:pPr algn="ctr">
              <a:lnSpc>
                <a:spcPct val="110000"/>
              </a:lnSpc>
              <a:spcAft>
                <a:spcPts val="100"/>
              </a:spcAft>
            </a:pPr>
            <a:r>
              <a:rPr sz="1300" b="0">
                <a:solidFill>
                  <a:srgbClr val="556175"/>
                </a:solidFill>
                <a:latin typeface="맑은 고딕"/>
                <a:ea typeface="맑은 고딕"/>
                <a:cs typeface="맑은 고딕"/>
              </a:rPr>
              <a:t>매뉴얼 HM-8.4에서 온 지식</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4회차의 결과물이 쓰인 자리 ①: 기준과 읽은 값의 대조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증거 기준은 지식에 있고 값은 원천에 있어, 판단하는 순간 읽은 값을 기준에 대어야 원인이 정해진다.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38</a:t>
            </a:r>
          </a:p>
        </p:txBody>
      </p:sp>
      <p:pic>
        <p:nvPicPr>
          <p:cNvPr id="6" name="삽화:원인후보.svg" descr="illust_3492460853514954599_179177088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586552" y="4747747"/>
            <a:ext cx="218189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유온 상승</a:t>
            </a:r>
          </a:p>
          <a:p>
            <a:pPr algn="ctr">
              <a:lnSpc>
                <a:spcPct val="110000"/>
              </a:lnSpc>
              <a:spcAft>
                <a:spcPts val="100"/>
              </a:spcAft>
            </a:pPr>
            <a:r>
              <a:rPr sz="1300" b="0">
                <a:solidFill>
                  <a:srgbClr val="556175"/>
                </a:solidFill>
                <a:latin typeface="맑은 고딕"/>
                <a:ea typeface="맑은 고딕"/>
                <a:cs typeface="맑은 고딕"/>
              </a:rPr>
              <a:t>경보가 알려 주는 증상</a:t>
            </a:r>
          </a:p>
        </p:txBody>
      </p:sp>
      <p:sp>
        <p:nvSpPr>
          <p:cNvPr id="8" name="TextBox 7"/>
          <p:cNvSpPr txBox="1"/>
          <p:nvPr/>
        </p:nvSpPr>
        <p:spPr>
          <a:xfrm>
            <a:off x="3777579" y="1698543"/>
            <a:ext cx="196370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냉각 효율 46.2 %</a:t>
            </a:r>
          </a:p>
          <a:p>
            <a:pPr algn="ctr">
              <a:lnSpc>
                <a:spcPct val="110000"/>
              </a:lnSpc>
              <a:spcAft>
                <a:spcPts val="100"/>
              </a:spcAft>
            </a:pPr>
            <a:r>
              <a:rPr sz="1300" b="0">
                <a:solidFill>
                  <a:srgbClr val="556175"/>
                </a:solidFill>
                <a:latin typeface="맑은 고딕"/>
                <a:ea typeface="맑은 고딕"/>
                <a:cs typeface="맑은 고딕"/>
              </a:rPr>
              <a:t>읽은 값</a:t>
            </a:r>
          </a:p>
        </p:txBody>
      </p:sp>
      <p:sp>
        <p:nvSpPr>
          <p:cNvPr id="9" name="TextBox 8"/>
          <p:cNvSpPr txBox="1"/>
          <p:nvPr/>
        </p:nvSpPr>
        <p:spPr>
          <a:xfrm>
            <a:off x="3668484" y="3164052"/>
            <a:ext cx="218189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팬 진동 0.575 mm/s</a:t>
            </a:r>
          </a:p>
          <a:p>
            <a:pPr algn="ctr">
              <a:lnSpc>
                <a:spcPct val="110000"/>
              </a:lnSpc>
              <a:spcAft>
                <a:spcPts val="100"/>
              </a:spcAft>
            </a:pPr>
            <a:r>
              <a:rPr sz="1300" b="0">
                <a:solidFill>
                  <a:srgbClr val="556175"/>
                </a:solidFill>
                <a:latin typeface="맑은 고딕"/>
                <a:ea typeface="맑은 고딕"/>
                <a:cs typeface="맑은 고딕"/>
              </a:rPr>
              <a:t>읽은 값</a:t>
            </a:r>
          </a:p>
        </p:txBody>
      </p:sp>
      <p:sp>
        <p:nvSpPr>
          <p:cNvPr id="10" name="TextBox 9"/>
          <p:cNvSpPr txBox="1"/>
          <p:nvPr/>
        </p:nvSpPr>
        <p:spPr>
          <a:xfrm>
            <a:off x="3777579" y="4639016"/>
            <a:ext cx="196370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캐비닛 온도 28 ℃</a:t>
            </a:r>
          </a:p>
          <a:p>
            <a:pPr algn="ctr">
              <a:lnSpc>
                <a:spcPct val="110000"/>
              </a:lnSpc>
              <a:spcAft>
                <a:spcPts val="100"/>
              </a:spcAft>
            </a:pPr>
            <a:r>
              <a:rPr sz="1300" b="0">
                <a:solidFill>
                  <a:srgbClr val="556175"/>
                </a:solidFill>
                <a:latin typeface="맑은 고딕"/>
                <a:ea typeface="맑은 고딕"/>
                <a:cs typeface="맑은 고딕"/>
              </a:rPr>
              <a:t>읽은 값</a:t>
            </a:r>
          </a:p>
        </p:txBody>
      </p:sp>
      <p:sp>
        <p:nvSpPr>
          <p:cNvPr id="11" name="TextBox 10"/>
          <p:cNvSpPr txBox="1"/>
          <p:nvPr/>
        </p:nvSpPr>
        <p:spPr>
          <a:xfrm>
            <a:off x="7394077" y="2076739"/>
            <a:ext cx="4036513" cy="980185"/>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쿨러 핀 오염</a:t>
            </a:r>
          </a:p>
          <a:p>
            <a:pPr algn="ctr">
              <a:lnSpc>
                <a:spcPct val="110000"/>
              </a:lnSpc>
              <a:spcAft>
                <a:spcPts val="100"/>
              </a:spcAft>
            </a:pPr>
            <a:r>
              <a:rPr sz="1300" b="0">
                <a:solidFill>
                  <a:srgbClr val="556175"/>
                </a:solidFill>
                <a:latin typeface="맑은 고딕"/>
                <a:ea typeface="맑은 고딕"/>
                <a:cs typeface="맑은 고딕"/>
              </a:rPr>
              <a:t>기준: 냉각 효율 평균 70 % 미만,</a:t>
            </a:r>
          </a:p>
          <a:p>
            <a:pPr algn="ctr">
              <a:lnSpc>
                <a:spcPct val="110000"/>
              </a:lnSpc>
              <a:spcAft>
                <a:spcPts val="100"/>
              </a:spcAft>
            </a:pPr>
            <a:r>
              <a:rPr sz="1300" b="0">
                <a:solidFill>
                  <a:srgbClr val="556175"/>
                </a:solidFill>
                <a:latin typeface="맑은 고딕"/>
                <a:ea typeface="맑은 고딕"/>
                <a:cs typeface="맑은 고딕"/>
              </a:rPr>
              <a:t>팬 진동 평균 0.9 mm/s 미만</a:t>
            </a:r>
          </a:p>
          <a:p>
            <a:pPr algn="ctr">
              <a:lnSpc>
                <a:spcPct val="110000"/>
              </a:lnSpc>
              <a:spcAft>
                <a:spcPts val="100"/>
              </a:spcAft>
            </a:pPr>
            <a:r>
              <a:rPr sz="1300" b="0">
                <a:solidFill>
                  <a:srgbClr val="556175"/>
                </a:solidFill>
                <a:latin typeface="맑은 고딕"/>
                <a:ea typeface="맑은 고딕"/>
                <a:cs typeface="맑은 고딕"/>
              </a:rPr>
              <a:t>판정: 맞음</a:t>
            </a:r>
          </a:p>
        </p:txBody>
      </p:sp>
      <p:sp>
        <p:nvSpPr>
          <p:cNvPr id="12" name="TextBox 11"/>
          <p:cNvSpPr txBox="1"/>
          <p:nvPr/>
        </p:nvSpPr>
        <p:spPr>
          <a:xfrm>
            <a:off x="7394077" y="3627342"/>
            <a:ext cx="4036513"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팬 구동 불량</a:t>
            </a:r>
          </a:p>
          <a:p>
            <a:pPr algn="ctr">
              <a:lnSpc>
                <a:spcPct val="110000"/>
              </a:lnSpc>
              <a:spcAft>
                <a:spcPts val="100"/>
              </a:spcAft>
            </a:pPr>
            <a:r>
              <a:rPr sz="1300" b="0">
                <a:solidFill>
                  <a:srgbClr val="556175"/>
                </a:solidFill>
                <a:latin typeface="맑은 고딕"/>
                <a:ea typeface="맑은 고딕"/>
                <a:cs typeface="맑은 고딕"/>
              </a:rPr>
              <a:t>기준: 팬 진동 평균 0.9 mm/s 이상</a:t>
            </a:r>
          </a:p>
          <a:p>
            <a:pPr algn="ctr">
              <a:lnSpc>
                <a:spcPct val="110000"/>
              </a:lnSpc>
              <a:spcAft>
                <a:spcPts val="100"/>
              </a:spcAft>
            </a:pPr>
            <a:r>
              <a:rPr sz="1300" b="0">
                <a:solidFill>
                  <a:srgbClr val="556175"/>
                </a:solidFill>
                <a:latin typeface="맑은 고딕"/>
                <a:ea typeface="맑은 고딕"/>
                <a:cs typeface="맑은 고딕"/>
              </a:rPr>
              <a:t>판정: 아님</a:t>
            </a:r>
          </a:p>
        </p:txBody>
      </p:sp>
      <p:sp>
        <p:nvSpPr>
          <p:cNvPr id="13" name="TextBox 12"/>
          <p:cNvSpPr txBox="1"/>
          <p:nvPr/>
        </p:nvSpPr>
        <p:spPr>
          <a:xfrm>
            <a:off x="7394077" y="5102306"/>
            <a:ext cx="4036513"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주변 온도 상승</a:t>
            </a:r>
          </a:p>
          <a:p>
            <a:pPr algn="ctr">
              <a:lnSpc>
                <a:spcPct val="110000"/>
              </a:lnSpc>
              <a:spcAft>
                <a:spcPts val="100"/>
              </a:spcAft>
            </a:pPr>
            <a:r>
              <a:rPr sz="1300" b="0">
                <a:solidFill>
                  <a:srgbClr val="556175"/>
                </a:solidFill>
                <a:latin typeface="맑은 고딕"/>
                <a:ea typeface="맑은 고딕"/>
                <a:cs typeface="맑은 고딕"/>
              </a:rPr>
              <a:t>기준: 캐비닛 온도 평균 35 ℃ 이상</a:t>
            </a:r>
          </a:p>
          <a:p>
            <a:pPr algn="ctr">
              <a:lnSpc>
                <a:spcPct val="110000"/>
              </a:lnSpc>
              <a:spcAft>
                <a:spcPts val="100"/>
              </a:spcAft>
            </a:pPr>
            <a:r>
              <a:rPr sz="1300" b="0">
                <a:solidFill>
                  <a:srgbClr val="556175"/>
                </a:solidFill>
                <a:latin typeface="맑은 고딕"/>
                <a:ea typeface="맑은 고딕"/>
                <a:cs typeface="맑은 고딕"/>
              </a:rPr>
              <a:t>판정: 아님</a:t>
            </a:r>
          </a:p>
        </p:txBody>
      </p:sp>
      <p:sp>
        <p:nvSpPr>
          <p:cNvPr id="14" name="TextBox 13"/>
          <p:cNvSpPr txBox="1"/>
          <p:nvPr/>
        </p:nvSpPr>
        <p:spPr>
          <a:xfrm>
            <a:off x="3450295" y="5835060"/>
            <a:ext cx="261827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값은 원천에 있다</a:t>
            </a:r>
          </a:p>
          <a:p>
            <a:pPr algn="ctr">
              <a:lnSpc>
                <a:spcPct val="110000"/>
              </a:lnSpc>
              <a:spcAft>
                <a:spcPts val="100"/>
              </a:spcAft>
            </a:pPr>
            <a:r>
              <a:rPr sz="1300" b="0">
                <a:solidFill>
                  <a:srgbClr val="556175"/>
                </a:solidFill>
                <a:latin typeface="맑은 고딕"/>
                <a:ea typeface="맑은 고딕"/>
                <a:cs typeface="맑은 고딕"/>
              </a:rPr>
              <a:t>판단하는 순간에 시계열 DB에서 읽는다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3회차의 결과물이 쓰인 자리: 조치의 판단</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쿨러 사건에서 네 후보의 순위를 정해 한 가지를 추천으로 올린 것이 3회차의 규칙과 성과 기준이다.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39</a:t>
            </a:r>
          </a:p>
        </p:txBody>
      </p:sp>
      <p:pic>
        <p:nvPicPr>
          <p:cNvPr id="6" name="Picture 5" descr="그래프_조치후보_예측유온.png"/>
          <p:cNvPicPr>
            <a:picLocks noChangeAspect="1"/>
          </p:cNvPicPr>
          <p:nvPr/>
        </p:nvPicPr>
        <p:blipFill>
          <a:blip r:embed="rId3"/>
          <a:stretch>
            <a:fillRect/>
          </a:stretch>
        </p:blipFill>
        <p:spPr>
          <a:xfrm>
            <a:off x="548640" y="1682496"/>
            <a:ext cx="7223760" cy="4572000"/>
          </a:xfrm>
          <a:prstGeom prst="rect">
            <a:avLst/>
          </a:prstGeom>
          <a:ln w="12700">
            <a:solidFill>
              <a:srgbClr val="D3D9E1"/>
            </a:solidFill>
          </a:ln>
        </p:spPr>
      </p:pic>
      <p:sp>
        <p:nvSpPr>
          <p:cNvPr id="7" name="Oval 6"/>
          <p:cNvSpPr/>
          <p:nvPr/>
        </p:nvSpPr>
        <p:spPr>
          <a:xfrm>
            <a:off x="8138160" y="1682496"/>
            <a:ext cx="347472" cy="347472"/>
          </a:xfrm>
          <a:prstGeom prst="ellipse">
            <a:avLst/>
          </a:prstGeom>
          <a:solidFill>
            <a:srgbClr val="5CB8F2"/>
          </a:solidFill>
          <a:ln>
            <a:noFill/>
          </a:ln>
        </p:spPr>
        <p:txBody>
          <a:bodyPr rtlCol="0" anchor="ctr"/>
          <a:lstStyle/>
          <a:p>
            <a:pPr algn="ctr"/>
          </a:p>
        </p:txBody>
      </p:sp>
      <p:sp>
        <p:nvSpPr>
          <p:cNvPr id="8" name="TextBox 7"/>
          <p:cNvSpPr txBox="1"/>
          <p:nvPr/>
        </p:nvSpPr>
        <p:spPr>
          <a:xfrm>
            <a:off x="8138160" y="1682496"/>
            <a:ext cx="347472" cy="347472"/>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1</a:t>
            </a:r>
          </a:p>
        </p:txBody>
      </p:sp>
      <p:sp>
        <p:nvSpPr>
          <p:cNvPr id="9" name="TextBox 8"/>
          <p:cNvSpPr txBox="1"/>
          <p:nvPr/>
        </p:nvSpPr>
        <p:spPr>
          <a:xfrm>
            <a:off x="8549640" y="1627632"/>
            <a:ext cx="3093415" cy="117043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판단 규칙</a:t>
            </a:r>
          </a:p>
          <a:p>
            <a:pPr algn="l">
              <a:lnSpc>
                <a:spcPct val="110000"/>
              </a:lnSpc>
              <a:spcAft>
                <a:spcPts val="400"/>
              </a:spcAft>
            </a:pPr>
            <a:r>
              <a:rPr sz="1400" b="0">
                <a:solidFill>
                  <a:srgbClr val="1F2A3A"/>
                </a:solidFill>
                <a:latin typeface="맑은 고딕"/>
                <a:ea typeface="맑은 고딕"/>
                <a:cs typeface="맑은 고딕"/>
              </a:rPr>
              <a:t>네 후보 모두 제외 규칙을 통과했다.</a:t>
            </a:r>
          </a:p>
          <a:p>
            <a:pPr algn="l">
              <a:lnSpc>
                <a:spcPct val="110000"/>
              </a:lnSpc>
              <a:spcAft>
                <a:spcPts val="400"/>
              </a:spcAft>
            </a:pPr>
            <a:r>
              <a:rPr sz="1400" b="0">
                <a:solidFill>
                  <a:srgbClr val="1F2A3A"/>
                </a:solidFill>
                <a:latin typeface="맑은 고딕"/>
                <a:ea typeface="맑은 고딕"/>
                <a:cs typeface="맑은 고딕"/>
              </a:rPr>
              <a:t>쿨러 핀 세척에는 경고가 붙었다.</a:t>
            </a:r>
          </a:p>
        </p:txBody>
      </p:sp>
      <p:sp>
        <p:nvSpPr>
          <p:cNvPr id="10" name="Oval 9"/>
          <p:cNvSpPr/>
          <p:nvPr/>
        </p:nvSpPr>
        <p:spPr>
          <a:xfrm>
            <a:off x="8138160" y="2852928"/>
            <a:ext cx="347472" cy="347472"/>
          </a:xfrm>
          <a:prstGeom prst="ellipse">
            <a:avLst/>
          </a:prstGeom>
          <a:solidFill>
            <a:srgbClr val="13294B"/>
          </a:solidFill>
          <a:ln>
            <a:noFill/>
          </a:ln>
        </p:spPr>
        <p:txBody>
          <a:bodyPr rtlCol="0" anchor="ctr"/>
          <a:lstStyle/>
          <a:p>
            <a:pPr algn="ctr"/>
          </a:p>
        </p:txBody>
      </p:sp>
      <p:sp>
        <p:nvSpPr>
          <p:cNvPr id="11" name="TextBox 10"/>
          <p:cNvSpPr txBox="1"/>
          <p:nvPr/>
        </p:nvSpPr>
        <p:spPr>
          <a:xfrm>
            <a:off x="8138160" y="2852928"/>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2</a:t>
            </a:r>
          </a:p>
        </p:txBody>
      </p:sp>
      <p:sp>
        <p:nvSpPr>
          <p:cNvPr id="12" name="TextBox 11"/>
          <p:cNvSpPr txBox="1"/>
          <p:nvPr/>
        </p:nvSpPr>
        <p:spPr>
          <a:xfrm>
            <a:off x="8549640" y="2798064"/>
            <a:ext cx="3093415" cy="117043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성과 기준</a:t>
            </a:r>
          </a:p>
          <a:p>
            <a:pPr algn="l">
              <a:lnSpc>
                <a:spcPct val="110000"/>
              </a:lnSpc>
              <a:spcAft>
                <a:spcPts val="400"/>
              </a:spcAft>
            </a:pPr>
            <a:r>
              <a:rPr sz="1400" b="0">
                <a:solidFill>
                  <a:srgbClr val="1F2A3A"/>
                </a:solidFill>
                <a:latin typeface="맑은 고딕"/>
                <a:ea typeface="맑은 고딕"/>
                <a:cs typeface="맑은 고딕"/>
              </a:rPr>
              <a:t>통과한 후보의 순서를 정했다.</a:t>
            </a:r>
          </a:p>
          <a:p>
            <a:pPr algn="l">
              <a:lnSpc>
                <a:spcPct val="110000"/>
              </a:lnSpc>
              <a:spcAft>
                <a:spcPts val="400"/>
              </a:spcAft>
            </a:pPr>
            <a:r>
              <a:rPr sz="1400" b="0">
                <a:solidFill>
                  <a:srgbClr val="1F2A3A"/>
                </a:solidFill>
                <a:latin typeface="맑은 고딕"/>
                <a:ea typeface="맑은 고딕"/>
                <a:cs typeface="맑은 고딕"/>
              </a:rPr>
              <a:t>납기에서 잃는 것을 크게 쳤다.</a:t>
            </a:r>
          </a:p>
        </p:txBody>
      </p:sp>
      <p:sp>
        <p:nvSpPr>
          <p:cNvPr id="13" name="Oval 12"/>
          <p:cNvSpPr/>
          <p:nvPr/>
        </p:nvSpPr>
        <p:spPr>
          <a:xfrm>
            <a:off x="8138160" y="4023359"/>
            <a:ext cx="347472" cy="347472"/>
          </a:xfrm>
          <a:prstGeom prst="ellipse">
            <a:avLst/>
          </a:prstGeom>
          <a:solidFill>
            <a:srgbClr val="5CB8F2"/>
          </a:solidFill>
          <a:ln>
            <a:noFill/>
          </a:ln>
        </p:spPr>
        <p:txBody>
          <a:bodyPr rtlCol="0" anchor="ctr"/>
          <a:lstStyle/>
          <a:p>
            <a:pPr algn="ctr"/>
          </a:p>
        </p:txBody>
      </p:sp>
      <p:sp>
        <p:nvSpPr>
          <p:cNvPr id="14" name="TextBox 13"/>
          <p:cNvSpPr txBox="1"/>
          <p:nvPr/>
        </p:nvSpPr>
        <p:spPr>
          <a:xfrm>
            <a:off x="8138160" y="4023359"/>
            <a:ext cx="347472" cy="347472"/>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3</a:t>
            </a:r>
          </a:p>
        </p:txBody>
      </p:sp>
      <p:sp>
        <p:nvSpPr>
          <p:cNvPr id="15" name="TextBox 14"/>
          <p:cNvSpPr txBox="1"/>
          <p:nvPr/>
        </p:nvSpPr>
        <p:spPr>
          <a:xfrm>
            <a:off x="8549640" y="3968496"/>
            <a:ext cx="3093415" cy="117043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추천</a:t>
            </a:r>
          </a:p>
          <a:p>
            <a:pPr algn="l">
              <a:lnSpc>
                <a:spcPct val="110000"/>
              </a:lnSpc>
              <a:spcAft>
                <a:spcPts val="400"/>
              </a:spcAft>
            </a:pPr>
            <a:r>
              <a:rPr sz="1400" b="0">
                <a:solidFill>
                  <a:srgbClr val="1F2A3A"/>
                </a:solidFill>
                <a:latin typeface="맑은 고딕"/>
                <a:ea typeface="맑은 고딕"/>
                <a:cs typeface="맑은 고딕"/>
              </a:rPr>
              <a:t>팬 최대 운전</a:t>
            </a:r>
          </a:p>
          <a:p>
            <a:pPr algn="l">
              <a:lnSpc>
                <a:spcPct val="110000"/>
              </a:lnSpc>
              <a:spcAft>
                <a:spcPts val="400"/>
              </a:spcAft>
            </a:pPr>
            <a:r>
              <a:rPr sz="1400" b="0">
                <a:solidFill>
                  <a:srgbClr val="1F2A3A"/>
                </a:solidFill>
                <a:latin typeface="맑은 고딕"/>
                <a:ea typeface="맑은 고딕"/>
                <a:cs typeface="맑은 고딕"/>
              </a:rPr>
              <a:t>예측 유온 49.8 ℃</a:t>
            </a:r>
          </a:p>
        </p:txBody>
      </p:sp>
      <p:sp>
        <p:nvSpPr>
          <p:cNvPr id="16" name="Oval 15"/>
          <p:cNvSpPr/>
          <p:nvPr/>
        </p:nvSpPr>
        <p:spPr>
          <a:xfrm>
            <a:off x="8138160" y="5193792"/>
            <a:ext cx="347472" cy="347472"/>
          </a:xfrm>
          <a:prstGeom prst="ellipse">
            <a:avLst/>
          </a:prstGeom>
          <a:solidFill>
            <a:srgbClr val="13294B"/>
          </a:solidFill>
          <a:ln>
            <a:noFill/>
          </a:ln>
        </p:spPr>
        <p:txBody>
          <a:bodyPr rtlCol="0" anchor="ctr"/>
          <a:lstStyle/>
          <a:p>
            <a:pPr algn="ctr"/>
          </a:p>
        </p:txBody>
      </p:sp>
      <p:sp>
        <p:nvSpPr>
          <p:cNvPr id="17" name="TextBox 16"/>
          <p:cNvSpPr txBox="1"/>
          <p:nvPr/>
        </p:nvSpPr>
        <p:spPr>
          <a:xfrm>
            <a:off x="8138160" y="5193792"/>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4</a:t>
            </a:r>
          </a:p>
        </p:txBody>
      </p:sp>
      <p:sp>
        <p:nvSpPr>
          <p:cNvPr id="18" name="TextBox 17"/>
          <p:cNvSpPr txBox="1"/>
          <p:nvPr/>
        </p:nvSpPr>
        <p:spPr>
          <a:xfrm>
            <a:off x="8549640" y="5138928"/>
            <a:ext cx="3093415" cy="117043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대안</a:t>
            </a:r>
          </a:p>
          <a:p>
            <a:pPr algn="l">
              <a:lnSpc>
                <a:spcPct val="110000"/>
              </a:lnSpc>
              <a:spcAft>
                <a:spcPts val="400"/>
              </a:spcAft>
            </a:pPr>
            <a:r>
              <a:rPr sz="1400" b="0">
                <a:solidFill>
                  <a:srgbClr val="1F2A3A"/>
                </a:solidFill>
                <a:latin typeface="맑은 고딕"/>
                <a:ea typeface="맑은 고딕"/>
                <a:cs typeface="맑은 고딕"/>
              </a:rPr>
              <a:t>나머지 세 후보는 대안으로</a:t>
            </a:r>
          </a:p>
          <a:p>
            <a:pPr algn="l">
              <a:lnSpc>
                <a:spcPct val="110000"/>
              </a:lnSpc>
              <a:spcAft>
                <a:spcPts val="400"/>
              </a:spcAft>
            </a:pPr>
            <a:r>
              <a:rPr sz="1400" b="0">
                <a:solidFill>
                  <a:srgbClr val="1F2A3A"/>
                </a:solidFill>
                <a:latin typeface="맑은 고딕"/>
                <a:ea typeface="맑은 고딕"/>
                <a:cs typeface="맑은 고딕"/>
              </a:rPr>
              <a:t>추천과 함께 제시되었다.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4회차의 결과물이 쓰인 자리 ②: 근거의 제시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추천안에는 따라온 길과 후보를 고른 규칙과 매뉴얼의 절이 함께 제시되어 담당자가 근거를 보고 승인한다.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40</a:t>
            </a:r>
          </a:p>
        </p:txBody>
      </p:sp>
      <p:sp>
        <p:nvSpPr>
          <p:cNvPr id="6" name="Rounded Rectangle 5"/>
          <p:cNvSpPr/>
          <p:nvPr/>
        </p:nvSpPr>
        <p:spPr>
          <a:xfrm>
            <a:off x="548640" y="2653665"/>
            <a:ext cx="6766560" cy="2675382"/>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790825"/>
            <a:ext cx="6400800" cy="2401062"/>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추천안과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함께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제시된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근거</a:t>
            </a:r>
          </a:p>
          <a:p>
            <a:pPr algn="l">
              <a:lnSpc>
                <a:spcPct val="110000"/>
              </a:lnSpc>
              <a:spcAft>
                <a:spcPts val="200"/>
              </a:spcAft>
            </a:pPr>
            <a:r>
              <a:rPr sz="1300" b="0">
                <a:solidFill>
                  <a:srgbClr val="E8EEF6"/>
                </a:solidFill>
                <a:latin typeface="맑은 고딕"/>
                <a:ea typeface="맑은 고딕"/>
                <a:cs typeface="맑은 고딕"/>
              </a:rPr>
              <a:t>추천안에</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이른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길</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원인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오염</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고장</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유형</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냉각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성능</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상실</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완화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최대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운전</a:t>
            </a:r>
          </a:p>
          <a:p>
            <a:pPr algn="l">
              <a:lnSpc>
                <a:spcPct val="110000"/>
              </a:lnSpc>
              <a:spcAft>
                <a:spcPts val="200"/>
              </a:spcAft>
            </a:pPr>
            <a:r>
              <a:rPr sz="1300" b="0">
                <a:solidFill>
                  <a:srgbClr val="E8EEF6"/>
                </a:solidFill>
                <a:latin typeface="맑은 고딕"/>
                <a:ea typeface="맑은 고딕"/>
                <a:cs typeface="맑은 고딕"/>
              </a:rPr>
              <a:t>후보로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고른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규칙</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냉각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성능</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상실의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즉시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완화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후보</a:t>
            </a:r>
            <a:r>
              <a:rPr sz="1300" b="0">
                <a:solidFill>
                  <a:srgbClr val="E8EEF6"/>
                </a:solidFill>
                <a:latin typeface="Consolas"/>
                <a:ea typeface="맑은 고딕"/>
                <a:cs typeface="맑은 고딕"/>
              </a:rPr>
              <a:t> (HM-8.5)</a:t>
            </a:r>
          </a:p>
          <a:p>
            <a:pPr algn="l">
              <a:lnSpc>
                <a:spcPct val="110000"/>
              </a:lnSpc>
              <a:spcAft>
                <a:spcPts val="200"/>
              </a:spcAft>
            </a:pPr>
            <a:r>
              <a:rPr sz="1300" b="0">
                <a:solidFill>
                  <a:srgbClr val="E8EEF6"/>
                </a:solidFill>
                <a:latin typeface="맑은 고딕"/>
                <a:ea typeface="맑은 고딕"/>
                <a:cs typeface="맑은 고딕"/>
              </a:rPr>
              <a:t>출처</a:t>
            </a:r>
          </a:p>
          <a:p>
            <a:pPr algn="l">
              <a:lnSpc>
                <a:spcPct val="110000"/>
              </a:lnSpc>
              <a:spcAft>
                <a:spcPts val="200"/>
              </a:spcAft>
            </a:pPr>
            <a:r>
              <a:rPr sz="1300" b="0">
                <a:solidFill>
                  <a:srgbClr val="E8EEF6"/>
                </a:solidFill>
                <a:latin typeface="Consolas"/>
                <a:ea typeface="맑은 고딕"/>
                <a:cs typeface="맑은 고딕"/>
              </a:rPr>
              <a:t>  HM-8.5 </a:t>
            </a:r>
            <a:r>
              <a:rPr sz="1300" b="0">
                <a:solidFill>
                  <a:srgbClr val="E8EEF6"/>
                </a:solidFill>
                <a:latin typeface="맑은 고딕"/>
                <a:ea typeface="맑은 고딕"/>
                <a:cs typeface="맑은 고딕"/>
              </a:rPr>
              <a:t>즉시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완화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조치</a:t>
            </a:r>
          </a:p>
        </p:txBody>
      </p:sp>
      <p:sp>
        <p:nvSpPr>
          <p:cNvPr id="8" name="TextBox 7"/>
          <p:cNvSpPr txBox="1"/>
          <p:nvPr/>
        </p:nvSpPr>
        <p:spPr>
          <a:xfrm>
            <a:off x="7635240" y="2653665"/>
            <a:ext cx="4007815" cy="891794"/>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추천안에 이른 길</a:t>
            </a:r>
          </a:p>
          <a:p>
            <a:pPr algn="l">
              <a:lnSpc>
                <a:spcPct val="110000"/>
              </a:lnSpc>
              <a:spcAft>
                <a:spcPts val="400"/>
              </a:spcAft>
            </a:pPr>
            <a:r>
              <a:rPr sz="1400" b="0">
                <a:solidFill>
                  <a:srgbClr val="1F2A3A"/>
                </a:solidFill>
                <a:latin typeface="맑은 고딕"/>
                <a:ea typeface="맑은 고딕"/>
                <a:cs typeface="맑은 고딕"/>
              </a:rPr>
              <a:t>스키마의 관계를 따라온 경로이다.</a:t>
            </a:r>
          </a:p>
        </p:txBody>
      </p:sp>
      <p:sp>
        <p:nvSpPr>
          <p:cNvPr id="9" name="TextBox 8"/>
          <p:cNvSpPr txBox="1"/>
          <p:nvPr/>
        </p:nvSpPr>
        <p:spPr>
          <a:xfrm>
            <a:off x="7635240" y="3545459"/>
            <a:ext cx="4007815" cy="891794"/>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후보로 고른 규칙</a:t>
            </a:r>
          </a:p>
          <a:p>
            <a:pPr algn="l">
              <a:lnSpc>
                <a:spcPct val="110000"/>
              </a:lnSpc>
              <a:spcAft>
                <a:spcPts val="400"/>
              </a:spcAft>
            </a:pPr>
            <a:r>
              <a:rPr sz="1400" b="0">
                <a:solidFill>
                  <a:srgbClr val="1F2A3A"/>
                </a:solidFill>
                <a:latin typeface="맑은 고딕"/>
                <a:ea typeface="맑은 고딕"/>
                <a:cs typeface="맑은 고딕"/>
              </a:rPr>
              <a:t>이 조치를 후보로 올린 판단 규칙이다.</a:t>
            </a:r>
          </a:p>
        </p:txBody>
      </p:sp>
      <p:sp>
        <p:nvSpPr>
          <p:cNvPr id="10" name="TextBox 9"/>
          <p:cNvSpPr txBox="1"/>
          <p:nvPr/>
        </p:nvSpPr>
        <p:spPr>
          <a:xfrm>
            <a:off x="7635240" y="4437253"/>
            <a:ext cx="4007815" cy="891794"/>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출처</a:t>
            </a:r>
          </a:p>
          <a:p>
            <a:pPr algn="l">
              <a:lnSpc>
                <a:spcPct val="110000"/>
              </a:lnSpc>
              <a:spcAft>
                <a:spcPts val="400"/>
              </a:spcAft>
            </a:pPr>
            <a:r>
              <a:rPr sz="1400" b="0">
                <a:solidFill>
                  <a:srgbClr val="1F2A3A"/>
                </a:solidFill>
                <a:latin typeface="맑은 고딕"/>
                <a:ea typeface="맑은 고딕"/>
                <a:cs typeface="맑은 고딕"/>
              </a:rPr>
              <a:t>조치 방법의 단계가 가리키는 매뉴얼의 절이다.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세 층: 스키마, 인스턴스 데이터, 값</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네 회차의 결과물은 바뀌는 빠르기가 다른 세 층이며, 빠르기가 다른 것은 한곳에 섞어 두지 않는다.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41</a:t>
            </a:r>
          </a:p>
        </p:txBody>
      </p:sp>
      <p:pic>
        <p:nvPicPr>
          <p:cNvPr id="6" name="삽화:세층.svg" descr="illust_8309950841647814025_179177088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761104" y="1958553"/>
            <a:ext cx="2072804" cy="6780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스키마</a:t>
            </a:r>
          </a:p>
          <a:p>
            <a:pPr algn="ctr">
              <a:lnSpc>
                <a:spcPct val="110000"/>
              </a:lnSpc>
              <a:spcAft>
                <a:spcPts val="100"/>
              </a:spcAft>
            </a:pPr>
            <a:r>
              <a:rPr sz="1100" b="0">
                <a:solidFill>
                  <a:srgbClr val="556175"/>
                </a:solidFill>
                <a:latin typeface="맑은 고딕"/>
                <a:ea typeface="맑은 고딕"/>
                <a:cs typeface="맑은 고딕"/>
              </a:rPr>
              <a:t>지식의 구조</a:t>
            </a:r>
          </a:p>
          <a:p>
            <a:pPr algn="ctr">
              <a:lnSpc>
                <a:spcPct val="110000"/>
              </a:lnSpc>
              <a:spcAft>
                <a:spcPts val="100"/>
              </a:spcAft>
            </a:pPr>
            <a:r>
              <a:rPr sz="1100" b="0">
                <a:solidFill>
                  <a:srgbClr val="556175"/>
                </a:solidFill>
                <a:latin typeface="맑은 고딕"/>
                <a:ea typeface="맑은 고딕"/>
                <a:cs typeface="맑은 고딕"/>
              </a:rPr>
              <a:t>설계를 고칠 때만 바뀐다</a:t>
            </a:r>
          </a:p>
        </p:txBody>
      </p:sp>
      <p:sp>
        <p:nvSpPr>
          <p:cNvPr id="8" name="TextBox 7"/>
          <p:cNvSpPr txBox="1"/>
          <p:nvPr/>
        </p:nvSpPr>
        <p:spPr>
          <a:xfrm>
            <a:off x="761104" y="3424062"/>
            <a:ext cx="2072804" cy="6780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인스턴스 데이터</a:t>
            </a:r>
          </a:p>
          <a:p>
            <a:pPr algn="ctr">
              <a:lnSpc>
                <a:spcPct val="110000"/>
              </a:lnSpc>
              <a:spcAft>
                <a:spcPts val="100"/>
              </a:spcAft>
            </a:pPr>
            <a:r>
              <a:rPr sz="1100" b="0">
                <a:solidFill>
                  <a:srgbClr val="556175"/>
                </a:solidFill>
                <a:latin typeface="맑은 고딕"/>
                <a:ea typeface="맑은 고딕"/>
                <a:cs typeface="맑은 고딕"/>
              </a:rPr>
              <a:t>지식</a:t>
            </a:r>
          </a:p>
          <a:p>
            <a:pPr algn="ctr">
              <a:lnSpc>
                <a:spcPct val="110000"/>
              </a:lnSpc>
              <a:spcAft>
                <a:spcPts val="100"/>
              </a:spcAft>
            </a:pPr>
            <a:r>
              <a:rPr sz="1100" b="0">
                <a:solidFill>
                  <a:srgbClr val="556175"/>
                </a:solidFill>
                <a:latin typeface="맑은 고딕"/>
                <a:ea typeface="맑은 고딕"/>
                <a:cs typeface="맑은 고딕"/>
              </a:rPr>
              <a:t>근거 문서가 개정될 때 바뀐다</a:t>
            </a:r>
          </a:p>
        </p:txBody>
      </p:sp>
      <p:sp>
        <p:nvSpPr>
          <p:cNvPr id="9" name="TextBox 8"/>
          <p:cNvSpPr txBox="1"/>
          <p:nvPr/>
        </p:nvSpPr>
        <p:spPr>
          <a:xfrm>
            <a:off x="761104" y="5125943"/>
            <a:ext cx="2072804" cy="848487"/>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값</a:t>
            </a:r>
          </a:p>
          <a:p>
            <a:pPr algn="ctr">
              <a:lnSpc>
                <a:spcPct val="110000"/>
              </a:lnSpc>
              <a:spcAft>
                <a:spcPts val="100"/>
              </a:spcAft>
            </a:pPr>
            <a:r>
              <a:rPr sz="1100" b="0">
                <a:solidFill>
                  <a:srgbClr val="556175"/>
                </a:solidFill>
                <a:latin typeface="맑은 고딕"/>
                <a:ea typeface="맑은 고딕"/>
                <a:cs typeface="맑은 고딕"/>
              </a:rPr>
              <a:t>실제 데이터</a:t>
            </a:r>
          </a:p>
          <a:p>
            <a:pPr algn="ctr">
              <a:lnSpc>
                <a:spcPct val="110000"/>
              </a:lnSpc>
              <a:spcAft>
                <a:spcPts val="100"/>
              </a:spcAft>
            </a:pPr>
            <a:r>
              <a:rPr sz="1100" b="0">
                <a:solidFill>
                  <a:srgbClr val="556175"/>
                </a:solidFill>
                <a:latin typeface="맑은 고딕"/>
                <a:ea typeface="맑은 고딕"/>
                <a:cs typeface="맑은 고딕"/>
              </a:rPr>
              <a:t>매초, 또는 업무가 일어날 때마다 바뀐다</a:t>
            </a:r>
          </a:p>
        </p:txBody>
      </p:sp>
      <p:sp>
        <p:nvSpPr>
          <p:cNvPr id="10" name="TextBox 9"/>
          <p:cNvSpPr txBox="1"/>
          <p:nvPr/>
        </p:nvSpPr>
        <p:spPr>
          <a:xfrm>
            <a:off x="3892129" y="2275292"/>
            <a:ext cx="130913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FailureMode</a:t>
            </a:r>
          </a:p>
          <a:p>
            <a:pPr algn="ctr">
              <a:lnSpc>
                <a:spcPct val="110000"/>
              </a:lnSpc>
              <a:spcAft>
                <a:spcPts val="100"/>
              </a:spcAft>
            </a:pPr>
            <a:r>
              <a:rPr sz="1100" b="0">
                <a:solidFill>
                  <a:srgbClr val="556175"/>
                </a:solidFill>
                <a:latin typeface="맑은 고딕"/>
                <a:ea typeface="맑은 고딕"/>
                <a:cs typeface="맑은 고딕"/>
              </a:rPr>
              <a:t>고장 유형</a:t>
            </a:r>
          </a:p>
        </p:txBody>
      </p:sp>
      <p:sp>
        <p:nvSpPr>
          <p:cNvPr id="11" name="TextBox 10"/>
          <p:cNvSpPr txBox="1"/>
          <p:nvPr/>
        </p:nvSpPr>
        <p:spPr>
          <a:xfrm>
            <a:off x="6444951" y="2275292"/>
            <a:ext cx="130913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Cause</a:t>
            </a:r>
          </a:p>
          <a:p>
            <a:pPr algn="ctr">
              <a:lnSpc>
                <a:spcPct val="110000"/>
              </a:lnSpc>
              <a:spcAft>
                <a:spcPts val="100"/>
              </a:spcAft>
            </a:pPr>
            <a:r>
              <a:rPr sz="1100" b="0">
                <a:solidFill>
                  <a:srgbClr val="556175"/>
                </a:solidFill>
                <a:latin typeface="맑은 고딕"/>
                <a:ea typeface="맑은 고딕"/>
                <a:cs typeface="맑은 고딕"/>
              </a:rPr>
              <a:t>원인</a:t>
            </a:r>
          </a:p>
        </p:txBody>
      </p:sp>
      <p:sp>
        <p:nvSpPr>
          <p:cNvPr id="12" name="TextBox 11"/>
          <p:cNvSpPr txBox="1"/>
          <p:nvPr/>
        </p:nvSpPr>
        <p:spPr>
          <a:xfrm>
            <a:off x="8986863" y="2275292"/>
            <a:ext cx="130913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Evidence</a:t>
            </a:r>
          </a:p>
          <a:p>
            <a:pPr algn="ctr">
              <a:lnSpc>
                <a:spcPct val="110000"/>
              </a:lnSpc>
              <a:spcAft>
                <a:spcPts val="100"/>
              </a:spcAft>
            </a:pPr>
            <a:r>
              <a:rPr sz="1100" b="0">
                <a:solidFill>
                  <a:srgbClr val="556175"/>
                </a:solidFill>
                <a:latin typeface="맑은 고딕"/>
                <a:ea typeface="맑은 고딕"/>
                <a:cs typeface="맑은 고딕"/>
              </a:rPr>
              <a:t>증거</a:t>
            </a:r>
          </a:p>
        </p:txBody>
      </p:sp>
      <p:sp>
        <p:nvSpPr>
          <p:cNvPr id="13" name="TextBox 12"/>
          <p:cNvSpPr txBox="1"/>
          <p:nvPr/>
        </p:nvSpPr>
        <p:spPr>
          <a:xfrm>
            <a:off x="5277635" y="1793092"/>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CAUSES</a:t>
            </a:r>
          </a:p>
        </p:txBody>
      </p:sp>
      <p:sp>
        <p:nvSpPr>
          <p:cNvPr id="14" name="TextBox 13"/>
          <p:cNvSpPr txBox="1"/>
          <p:nvPr/>
        </p:nvSpPr>
        <p:spPr>
          <a:xfrm>
            <a:off x="7601357" y="1793092"/>
            <a:ext cx="152732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EVIDENCED_BY</a:t>
            </a:r>
          </a:p>
        </p:txBody>
      </p:sp>
      <p:sp>
        <p:nvSpPr>
          <p:cNvPr id="15" name="TextBox 14"/>
          <p:cNvSpPr txBox="1"/>
          <p:nvPr/>
        </p:nvSpPr>
        <p:spPr>
          <a:xfrm>
            <a:off x="3455749" y="4180453"/>
            <a:ext cx="218189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쿨러 냉각 성능 상실</a:t>
            </a:r>
          </a:p>
        </p:txBody>
      </p:sp>
      <p:sp>
        <p:nvSpPr>
          <p:cNvPr id="16" name="TextBox 15"/>
          <p:cNvSpPr txBox="1"/>
          <p:nvPr/>
        </p:nvSpPr>
        <p:spPr>
          <a:xfrm>
            <a:off x="6226761" y="4180453"/>
            <a:ext cx="174551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쿨러 핀 오염</a:t>
            </a:r>
          </a:p>
        </p:txBody>
      </p:sp>
      <p:sp>
        <p:nvSpPr>
          <p:cNvPr id="17" name="TextBox 16"/>
          <p:cNvSpPr txBox="1"/>
          <p:nvPr/>
        </p:nvSpPr>
        <p:spPr>
          <a:xfrm>
            <a:off x="8605031" y="4180453"/>
            <a:ext cx="207280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냉각 효율 70 % 미만</a:t>
            </a:r>
          </a:p>
        </p:txBody>
      </p:sp>
      <p:sp>
        <p:nvSpPr>
          <p:cNvPr id="18" name="TextBox 17"/>
          <p:cNvSpPr txBox="1"/>
          <p:nvPr/>
        </p:nvSpPr>
        <p:spPr>
          <a:xfrm>
            <a:off x="3564844" y="5740511"/>
            <a:ext cx="196370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납기까지 5.98시간</a:t>
            </a:r>
          </a:p>
          <a:p>
            <a:pPr algn="ctr">
              <a:lnSpc>
                <a:spcPct val="110000"/>
              </a:lnSpc>
              <a:spcAft>
                <a:spcPts val="100"/>
              </a:spcAft>
            </a:pPr>
            <a:r>
              <a:rPr sz="1100" b="0">
                <a:solidFill>
                  <a:srgbClr val="556175"/>
                </a:solidFill>
                <a:latin typeface="맑은 고딕"/>
                <a:ea typeface="맑은 고딕"/>
                <a:cs typeface="맑은 고딕"/>
              </a:rPr>
              <a:t>MES</a:t>
            </a:r>
          </a:p>
        </p:txBody>
      </p:sp>
      <p:sp>
        <p:nvSpPr>
          <p:cNvPr id="19" name="TextBox 18"/>
          <p:cNvSpPr txBox="1"/>
          <p:nvPr/>
        </p:nvSpPr>
        <p:spPr>
          <a:xfrm>
            <a:off x="6117666" y="5740511"/>
            <a:ext cx="196370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운전 모드 원격 자동</a:t>
            </a:r>
          </a:p>
          <a:p>
            <a:pPr algn="ctr">
              <a:lnSpc>
                <a:spcPct val="110000"/>
              </a:lnSpc>
              <a:spcAft>
                <a:spcPts val="100"/>
              </a:spcAft>
            </a:pPr>
            <a:r>
              <a:rPr sz="1100" b="0">
                <a:solidFill>
                  <a:srgbClr val="556175"/>
                </a:solidFill>
                <a:latin typeface="맑은 고딕"/>
                <a:ea typeface="맑은 고딕"/>
                <a:cs typeface="맑은 고딕"/>
              </a:rPr>
              <a:t>PLC</a:t>
            </a:r>
          </a:p>
        </p:txBody>
      </p:sp>
      <p:sp>
        <p:nvSpPr>
          <p:cNvPr id="20" name="TextBox 19"/>
          <p:cNvSpPr txBox="1"/>
          <p:nvPr/>
        </p:nvSpPr>
        <p:spPr>
          <a:xfrm>
            <a:off x="8659578" y="5740511"/>
            <a:ext cx="196370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냉각 효율 46.2 %</a:t>
            </a:r>
          </a:p>
          <a:p>
            <a:pPr algn="ctr">
              <a:lnSpc>
                <a:spcPct val="110000"/>
              </a:lnSpc>
              <a:spcAft>
                <a:spcPts val="100"/>
              </a:spcAft>
            </a:pPr>
            <a:r>
              <a:rPr sz="1100" b="0">
                <a:solidFill>
                  <a:srgbClr val="556175"/>
                </a:solidFill>
                <a:latin typeface="맑은 고딕"/>
                <a:ea typeface="맑은 고딕"/>
                <a:cs typeface="맑은 고딕"/>
              </a:rPr>
              <a:t>시계열 DB</a:t>
            </a:r>
          </a:p>
        </p:txBody>
      </p:sp>
      <p:sp>
        <p:nvSpPr>
          <p:cNvPr id="21" name="TextBox 20"/>
          <p:cNvSpPr txBox="1"/>
          <p:nvPr/>
        </p:nvSpPr>
        <p:spPr>
          <a:xfrm>
            <a:off x="6750417" y="4605924"/>
            <a:ext cx="2400088"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판단하는 순간에 읽는다</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문제가 생겼을 때 살펴볼 층</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판단이 이상할 때 드러난 모습에 따라 살펴볼 층이 다르다.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42</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드러난 모습</a:t>
            </a:r>
          </a:p>
        </p:txBody>
      </p:sp>
      <p:sp>
        <p:nvSpPr>
          <p:cNvPr id="8" name="TextBox 7"/>
          <p:cNvSpPr txBox="1"/>
          <p:nvPr/>
        </p:nvSpPr>
        <p:spPr>
          <a:xfrm>
            <a:off x="3200400" y="24185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살펴볼 층</a:t>
            </a:r>
          </a:p>
        </p:txBody>
      </p:sp>
      <p:sp>
        <p:nvSpPr>
          <p:cNvPr id="9" name="TextBox 8"/>
          <p:cNvSpPr txBox="1"/>
          <p:nvPr/>
        </p:nvSpPr>
        <p:spPr>
          <a:xfrm>
            <a:off x="9448495" y="24185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고칠 곳</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따라갈 관계가 없어 답이 나오지 않는다</a:t>
            </a:r>
          </a:p>
        </p:txBody>
      </p:sp>
      <p:sp>
        <p:nvSpPr>
          <p:cNvPr id="12" name="TextBox 11"/>
          <p:cNvSpPr txBox="1"/>
          <p:nvPr/>
        </p:nvSpPr>
        <p:spPr>
          <a:xfrm>
            <a:off x="3200400" y="2820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스키마</a:t>
            </a:r>
          </a:p>
        </p:txBody>
      </p:sp>
      <p:sp>
        <p:nvSpPr>
          <p:cNvPr id="13" name="TextBox 12"/>
          <p:cNvSpPr txBox="1"/>
          <p:nvPr/>
        </p:nvSpPr>
        <p:spPr>
          <a:xfrm>
            <a:off x="9448495" y="2820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정의</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판정 기준이 매뉴얼과 다르다</a:t>
            </a:r>
          </a:p>
        </p:txBody>
      </p:sp>
      <p:sp>
        <p:nvSpPr>
          <p:cNvPr id="16" name="TextBox 15"/>
          <p:cNvSpPr txBox="1"/>
          <p:nvPr/>
        </p:nvSpPr>
        <p:spPr>
          <a:xfrm>
            <a:off x="3200400" y="37353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인스턴스 데이터와 그 출처</a:t>
            </a:r>
          </a:p>
        </p:txBody>
      </p:sp>
      <p:sp>
        <p:nvSpPr>
          <p:cNvPr id="17" name="TextBox 16"/>
          <p:cNvSpPr txBox="1"/>
          <p:nvPr/>
        </p:nvSpPr>
        <p:spPr>
          <a:xfrm>
            <a:off x="9448495" y="37353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지식</a:t>
            </a:r>
          </a:p>
        </p:txBody>
      </p:sp>
      <p:sp>
        <p:nvSpPr>
          <p:cNvPr id="18" name="Rounded Rectangle 17"/>
          <p:cNvSpPr/>
          <p:nvPr/>
        </p:nvSpPr>
        <p:spPr>
          <a:xfrm>
            <a:off x="548640" y="46817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판단에 쓰인 숫자가 실제와 다르다</a:t>
            </a:r>
          </a:p>
        </p:txBody>
      </p:sp>
      <p:sp>
        <p:nvSpPr>
          <p:cNvPr id="20" name="TextBox 19"/>
          <p:cNvSpPr txBox="1"/>
          <p:nvPr/>
        </p:nvSpPr>
        <p:spPr>
          <a:xfrm>
            <a:off x="3200400" y="4649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값과, 그 값을 읽은 곳의 기록</a:t>
            </a:r>
          </a:p>
        </p:txBody>
      </p:sp>
      <p:sp>
        <p:nvSpPr>
          <p:cNvPr id="21" name="TextBox 20"/>
          <p:cNvSpPr txBox="1"/>
          <p:nvPr/>
        </p:nvSpPr>
        <p:spPr>
          <a:xfrm>
            <a:off x="9448495" y="4649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원천</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판단 규칙과 근거 문서: 같은 내용의 두 모습</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규칙만 있으면 기준의 이유를 설명할 수 없고 문장만 있으면 판정에 쓸 수 없으므로 둘을 함께 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43</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file-text" descr="file-text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근거 문서의 문장</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매뉴얼 HM-8.8</a:t>
            </a:r>
          </a:p>
          <a:p>
            <a:pPr algn="l">
              <a:lnSpc>
                <a:spcPct val="110000"/>
              </a:lnSpc>
              <a:spcAft>
                <a:spcPts val="600"/>
              </a:spcAft>
            </a:pPr>
            <a:r>
              <a:rPr sz="1450" b="0">
                <a:solidFill>
                  <a:srgbClr val="1F2A3A"/>
                </a:solidFill>
                <a:latin typeface="맑은 고딕"/>
                <a:ea typeface="맑은 고딕"/>
                <a:cs typeface="맑은 고딕"/>
              </a:rPr>
              <a:t>• 「이미 24시간을 넘겼다면 팬 최대 운전 조치는 20만 원을 감점해서 비교한다.」</a:t>
            </a:r>
          </a:p>
        </p:txBody>
      </p:sp>
      <p:sp>
        <p:nvSpPr>
          <p:cNvPr id="11" name="Rounded Rectangle 10"/>
          <p:cNvSpPr/>
          <p:nvPr/>
        </p:nvSpPr>
        <p:spPr>
          <a:xfrm>
            <a:off x="868680" y="4945570"/>
            <a:ext cx="1523999"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15239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왜 그런 기준인가</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list-check" descr="list-check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판단 규칙</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조건: fan100_hours &gt; 24</a:t>
            </a:r>
          </a:p>
          <a:p>
            <a:pPr algn="l">
              <a:lnSpc>
                <a:spcPct val="110000"/>
              </a:lnSpc>
              <a:spcAft>
                <a:spcPts val="600"/>
              </a:spcAft>
            </a:pPr>
            <a:r>
              <a:rPr sz="1450" b="0">
                <a:solidFill>
                  <a:srgbClr val="1F2A3A"/>
                </a:solidFill>
                <a:latin typeface="맑은 고딕"/>
                <a:ea typeface="맑은 고딕"/>
                <a:cs typeface="맑은 고딕"/>
              </a:rPr>
              <a:t>• 판정: 감점 20만 원</a:t>
            </a:r>
          </a:p>
          <a:p>
            <a:pPr algn="l">
              <a:lnSpc>
                <a:spcPct val="110000"/>
              </a:lnSpc>
              <a:spcAft>
                <a:spcPts val="600"/>
              </a:spcAft>
            </a:pPr>
            <a:r>
              <a:rPr sz="1450" b="0">
                <a:solidFill>
                  <a:srgbClr val="1F2A3A"/>
                </a:solidFill>
                <a:latin typeface="맑은 고딕"/>
                <a:ea typeface="맑은 고딕"/>
                <a:cs typeface="맑은 고딕"/>
              </a:rPr>
              <a:t>• 대상: 팬 최대 운전</a:t>
            </a:r>
          </a:p>
        </p:txBody>
      </p:sp>
      <p:sp>
        <p:nvSpPr>
          <p:cNvPr id="18" name="Rounded Rectangle 17"/>
          <p:cNvSpPr/>
          <p:nvPr/>
        </p:nvSpPr>
        <p:spPr>
          <a:xfrm>
            <a:off x="6781647" y="4945570"/>
            <a:ext cx="1981199"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19811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지금 어떻게 판정하는가</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규칙에서 문서까지 이어진 관계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규칙은 자신이 나온 절을 DERIVED_FROM 관계로 가리키므로, 규칙이 걸리면 근거가 된 문장을 바로 내보일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44</a:t>
            </a:r>
          </a:p>
        </p:txBody>
      </p:sp>
      <p:sp>
        <p:nvSpPr>
          <p:cNvPr id="6" name="Oval 5"/>
          <p:cNvSpPr/>
          <p:nvPr/>
        </p:nvSpPr>
        <p:spPr>
          <a:xfrm>
            <a:off x="548639" y="1627632"/>
            <a:ext cx="1737360" cy="1737360"/>
          </a:xfrm>
          <a:prstGeom prst="ellipse">
            <a:avLst/>
          </a:prstGeom>
          <a:solidFill>
            <a:srgbClr val="5CB8F2"/>
          </a:solidFill>
          <a:ln w="25400">
            <a:solidFill>
              <a:srgbClr val="13294B"/>
            </a:solidFill>
          </a:ln>
        </p:spPr>
        <p:txBody>
          <a:bodyPr rtlCol="0" anchor="ctr"/>
          <a:lstStyle/>
          <a:p>
            <a:pPr algn="ctr"/>
          </a:p>
        </p:txBody>
      </p:sp>
      <p:pic>
        <p:nvPicPr>
          <p:cNvPr id="7" name="아이콘:list-check" descr="list-check_13294B_1.6.png"/>
          <p:cNvPicPr>
            <a:picLocks noChangeAspect="1"/>
          </p:cNvPicPr>
          <p:nvPr/>
        </p:nvPicPr>
        <p:blipFill>
          <a:blip r:embed="rId3"/>
          <a:stretch>
            <a:fillRect/>
          </a:stretch>
        </p:blipFill>
        <p:spPr>
          <a:xfrm>
            <a:off x="1208836" y="1870862"/>
            <a:ext cx="416966" cy="416966"/>
          </a:xfrm>
          <a:prstGeom prst="rect">
            <a:avLst/>
          </a:prstGeom>
        </p:spPr>
      </p:pic>
      <p:sp>
        <p:nvSpPr>
          <p:cNvPr id="8" name="TextBox 7"/>
          <p:cNvSpPr txBox="1"/>
          <p:nvPr/>
        </p:nvSpPr>
        <p:spPr>
          <a:xfrm>
            <a:off x="670255" y="2322576"/>
            <a:ext cx="1494129" cy="868680"/>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감점 규칙</a:t>
            </a:r>
          </a:p>
          <a:p>
            <a:pPr algn="ctr">
              <a:lnSpc>
                <a:spcPct val="110000"/>
              </a:lnSpc>
            </a:pPr>
            <a:r>
              <a:rPr sz="1100" b="0">
                <a:solidFill>
                  <a:srgbClr val="556175"/>
                </a:solidFill>
                <a:latin typeface="맑은 고딕"/>
                <a:ea typeface="맑은 고딕"/>
                <a:cs typeface="맑은 고딕"/>
              </a:rPr>
              <a:t>연속 운전</a:t>
            </a:r>
          </a:p>
          <a:p>
            <a:pPr algn="ctr">
              <a:lnSpc>
                <a:spcPct val="110000"/>
              </a:lnSpc>
            </a:pPr>
            <a:r>
              <a:rPr sz="1100" b="0">
                <a:solidFill>
                  <a:srgbClr val="556175"/>
                </a:solidFill>
                <a:latin typeface="맑은 고딕"/>
                <a:ea typeface="맑은 고딕"/>
                <a:cs typeface="맑은 고딕"/>
              </a:rPr>
              <a:t>24시간 초과</a:t>
            </a:r>
          </a:p>
        </p:txBody>
      </p:sp>
      <p:sp>
        <p:nvSpPr>
          <p:cNvPr id="9" name="Oval 8"/>
          <p:cNvSpPr/>
          <p:nvPr/>
        </p:nvSpPr>
        <p:spPr>
          <a:xfrm>
            <a:off x="5227167" y="1627632"/>
            <a:ext cx="1737360" cy="1737360"/>
          </a:xfrm>
          <a:prstGeom prst="ellipse">
            <a:avLst/>
          </a:prstGeom>
          <a:solidFill>
            <a:srgbClr val="E7F3FD"/>
          </a:solidFill>
          <a:ln w="25400">
            <a:solidFill>
              <a:srgbClr val="5CB8F2"/>
            </a:solidFill>
          </a:ln>
        </p:spPr>
        <p:txBody>
          <a:bodyPr rtlCol="0" anchor="ctr"/>
          <a:lstStyle/>
          <a:p>
            <a:pPr algn="ctr"/>
          </a:p>
        </p:txBody>
      </p:sp>
      <p:pic>
        <p:nvPicPr>
          <p:cNvPr id="10" name="아이콘:file-description" descr="file-description_13294B_1.6.png"/>
          <p:cNvPicPr>
            <a:picLocks noChangeAspect="1"/>
          </p:cNvPicPr>
          <p:nvPr/>
        </p:nvPicPr>
        <p:blipFill>
          <a:blip r:embed="rId4"/>
          <a:stretch>
            <a:fillRect/>
          </a:stretch>
        </p:blipFill>
        <p:spPr>
          <a:xfrm>
            <a:off x="5887364" y="1870862"/>
            <a:ext cx="416966" cy="416966"/>
          </a:xfrm>
          <a:prstGeom prst="rect">
            <a:avLst/>
          </a:prstGeom>
        </p:spPr>
      </p:pic>
      <p:sp>
        <p:nvSpPr>
          <p:cNvPr id="11" name="TextBox 10"/>
          <p:cNvSpPr txBox="1"/>
          <p:nvPr/>
        </p:nvSpPr>
        <p:spPr>
          <a:xfrm>
            <a:off x="5348782" y="2322576"/>
            <a:ext cx="1494129" cy="868680"/>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HM-8.8</a:t>
            </a:r>
          </a:p>
          <a:p>
            <a:pPr algn="ctr">
              <a:lnSpc>
                <a:spcPct val="110000"/>
              </a:lnSpc>
            </a:pPr>
            <a:r>
              <a:rPr sz="1100" b="0">
                <a:solidFill>
                  <a:srgbClr val="556175"/>
                </a:solidFill>
                <a:latin typeface="맑은 고딕"/>
                <a:ea typeface="맑은 고딕"/>
                <a:cs typeface="맑은 고딕"/>
              </a:rPr>
              <a:t>매뉴얼 절</a:t>
            </a:r>
          </a:p>
          <a:p>
            <a:pPr algn="ctr">
              <a:lnSpc>
                <a:spcPct val="110000"/>
              </a:lnSpc>
            </a:pPr>
            <a:r>
              <a:rPr sz="1100" b="0">
                <a:solidFill>
                  <a:srgbClr val="556175"/>
                </a:solidFill>
                <a:latin typeface="맑은 고딕"/>
                <a:ea typeface="맑은 고딕"/>
                <a:cs typeface="맑은 고딕"/>
              </a:rPr>
              <a:t>금지와 제한</a:t>
            </a:r>
          </a:p>
        </p:txBody>
      </p:sp>
      <p:sp>
        <p:nvSpPr>
          <p:cNvPr id="12" name="Oval 11"/>
          <p:cNvSpPr/>
          <p:nvPr/>
        </p:nvSpPr>
        <p:spPr>
          <a:xfrm>
            <a:off x="9905695" y="1627632"/>
            <a:ext cx="1737360" cy="1737360"/>
          </a:xfrm>
          <a:prstGeom prst="ellipse">
            <a:avLst/>
          </a:prstGeom>
          <a:solidFill>
            <a:srgbClr val="E7F3FD"/>
          </a:solidFill>
          <a:ln w="25400">
            <a:solidFill>
              <a:srgbClr val="5CB8F2"/>
            </a:solidFill>
          </a:ln>
        </p:spPr>
        <p:txBody>
          <a:bodyPr rtlCol="0" anchor="ctr"/>
          <a:lstStyle/>
          <a:p>
            <a:pPr algn="ctr"/>
          </a:p>
        </p:txBody>
      </p:sp>
      <p:pic>
        <p:nvPicPr>
          <p:cNvPr id="13" name="아이콘:book-2" descr="book-2_13294B_1.6.png"/>
          <p:cNvPicPr>
            <a:picLocks noChangeAspect="1"/>
          </p:cNvPicPr>
          <p:nvPr/>
        </p:nvPicPr>
        <p:blipFill>
          <a:blip r:embed="rId5"/>
          <a:stretch>
            <a:fillRect/>
          </a:stretch>
        </p:blipFill>
        <p:spPr>
          <a:xfrm>
            <a:off x="10565892" y="1870862"/>
            <a:ext cx="416966" cy="416966"/>
          </a:xfrm>
          <a:prstGeom prst="rect">
            <a:avLst/>
          </a:prstGeom>
        </p:spPr>
      </p:pic>
      <p:sp>
        <p:nvSpPr>
          <p:cNvPr id="14" name="TextBox 13"/>
          <p:cNvSpPr txBox="1"/>
          <p:nvPr/>
        </p:nvSpPr>
        <p:spPr>
          <a:xfrm>
            <a:off x="10027310" y="2322576"/>
            <a:ext cx="1494129" cy="868680"/>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HM-8</a:t>
            </a:r>
          </a:p>
          <a:p>
            <a:pPr algn="ctr">
              <a:lnSpc>
                <a:spcPct val="110000"/>
              </a:lnSpc>
            </a:pPr>
            <a:r>
              <a:rPr sz="1100" b="0">
                <a:solidFill>
                  <a:srgbClr val="556175"/>
                </a:solidFill>
                <a:latin typeface="맑은 고딕"/>
                <a:ea typeface="맑은 고딕"/>
                <a:cs typeface="맑은 고딕"/>
              </a:rPr>
              <a:t>문서</a:t>
            </a:r>
          </a:p>
        </p:txBody>
      </p:sp>
      <p:sp>
        <p:nvSpPr>
          <p:cNvPr id="15" name="Oval 14"/>
          <p:cNvSpPr/>
          <p:nvPr/>
        </p:nvSpPr>
        <p:spPr>
          <a:xfrm>
            <a:off x="548639" y="4617720"/>
            <a:ext cx="1737360" cy="1737360"/>
          </a:xfrm>
          <a:prstGeom prst="ellipse">
            <a:avLst/>
          </a:prstGeom>
          <a:solidFill>
            <a:srgbClr val="E7F3FD"/>
          </a:solidFill>
          <a:ln w="25400">
            <a:solidFill>
              <a:srgbClr val="5CB8F2"/>
            </a:solidFill>
          </a:ln>
        </p:spPr>
        <p:txBody>
          <a:bodyPr rtlCol="0" anchor="ctr"/>
          <a:lstStyle/>
          <a:p>
            <a:pPr algn="ctr"/>
          </a:p>
        </p:txBody>
      </p:sp>
      <p:pic>
        <p:nvPicPr>
          <p:cNvPr id="16" name="아이콘:clock" descr="clock_13294B_1.6.png"/>
          <p:cNvPicPr>
            <a:picLocks noChangeAspect="1"/>
          </p:cNvPicPr>
          <p:nvPr/>
        </p:nvPicPr>
        <p:blipFill>
          <a:blip r:embed="rId6"/>
          <a:stretch>
            <a:fillRect/>
          </a:stretch>
        </p:blipFill>
        <p:spPr>
          <a:xfrm>
            <a:off x="1208836" y="4860950"/>
            <a:ext cx="416966" cy="416966"/>
          </a:xfrm>
          <a:prstGeom prst="rect">
            <a:avLst/>
          </a:prstGeom>
        </p:spPr>
      </p:pic>
      <p:sp>
        <p:nvSpPr>
          <p:cNvPr id="17" name="TextBox 16"/>
          <p:cNvSpPr txBox="1"/>
          <p:nvPr/>
        </p:nvSpPr>
        <p:spPr>
          <a:xfrm>
            <a:off x="670255" y="5312664"/>
            <a:ext cx="1494129" cy="868680"/>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연속 운전 시간</a:t>
            </a:r>
          </a:p>
          <a:p>
            <a:pPr algn="ctr">
              <a:lnSpc>
                <a:spcPct val="110000"/>
              </a:lnSpc>
            </a:pPr>
            <a:r>
              <a:rPr sz="1100" b="0">
                <a:solidFill>
                  <a:srgbClr val="556175"/>
                </a:solidFill>
                <a:latin typeface="맑은 고딕"/>
                <a:ea typeface="맑은 고딕"/>
                <a:cs typeface="맑은 고딕"/>
              </a:rPr>
              <a:t>입력 데이터</a:t>
            </a:r>
          </a:p>
        </p:txBody>
      </p:sp>
      <p:cxnSp>
        <p:nvCxnSpPr>
          <p:cNvPr id="18" name="Connector 17"/>
          <p:cNvCxnSpPr/>
          <p:nvPr/>
        </p:nvCxnSpPr>
        <p:spPr>
          <a:xfrm>
            <a:off x="2331720" y="2496312"/>
            <a:ext cx="2822295" cy="0"/>
          </a:xfrm>
          <a:prstGeom prst="line">
            <a:avLst/>
          </a:prstGeom>
          <a:ln w="28575">
            <a:solidFill>
              <a:srgbClr val="13294B"/>
            </a:solidFill>
            <a:tailEnd type="triangle" w="med" len="med"/>
          </a:ln>
        </p:spPr>
      </p:cxnSp>
      <p:sp>
        <p:nvSpPr>
          <p:cNvPr id="19" name="Rounded Rectangle 18"/>
          <p:cNvSpPr/>
          <p:nvPr/>
        </p:nvSpPr>
        <p:spPr>
          <a:xfrm>
            <a:off x="2973223" y="2130552"/>
            <a:ext cx="1539288"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0" name="TextBox 19"/>
          <p:cNvSpPr txBox="1"/>
          <p:nvPr/>
        </p:nvSpPr>
        <p:spPr>
          <a:xfrm>
            <a:off x="2973223" y="2130552"/>
            <a:ext cx="1539288"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DERIVED_FROM</a:t>
            </a:r>
          </a:p>
        </p:txBody>
      </p:sp>
      <p:cxnSp>
        <p:nvCxnSpPr>
          <p:cNvPr id="21" name="Connector 20"/>
          <p:cNvCxnSpPr/>
          <p:nvPr/>
        </p:nvCxnSpPr>
        <p:spPr>
          <a:xfrm>
            <a:off x="7010247" y="2496312"/>
            <a:ext cx="2822296" cy="0"/>
          </a:xfrm>
          <a:prstGeom prst="line">
            <a:avLst/>
          </a:prstGeom>
          <a:ln w="28575">
            <a:solidFill>
              <a:srgbClr val="13294B"/>
            </a:solidFill>
            <a:tailEnd type="triangle" w="med" len="med"/>
          </a:ln>
        </p:spPr>
      </p:cxnSp>
      <p:sp>
        <p:nvSpPr>
          <p:cNvPr id="22" name="Rounded Rectangle 21"/>
          <p:cNvSpPr/>
          <p:nvPr/>
        </p:nvSpPr>
        <p:spPr>
          <a:xfrm>
            <a:off x="7918876" y="2130552"/>
            <a:ext cx="1005037"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3" name="TextBox 22"/>
          <p:cNvSpPr txBox="1"/>
          <p:nvPr/>
        </p:nvSpPr>
        <p:spPr>
          <a:xfrm>
            <a:off x="7918876" y="2130552"/>
            <a:ext cx="1005037"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PART_OF</a:t>
            </a:r>
          </a:p>
        </p:txBody>
      </p:sp>
      <p:cxnSp>
        <p:nvCxnSpPr>
          <p:cNvPr id="24" name="Connector 23"/>
          <p:cNvCxnSpPr/>
          <p:nvPr/>
        </p:nvCxnSpPr>
        <p:spPr>
          <a:xfrm>
            <a:off x="1417319" y="3410712"/>
            <a:ext cx="0" cy="1133856"/>
          </a:xfrm>
          <a:prstGeom prst="line">
            <a:avLst/>
          </a:prstGeom>
          <a:ln w="28575">
            <a:solidFill>
              <a:srgbClr val="13294B"/>
            </a:solidFill>
            <a:tailEnd type="triangle" w="med" len="med"/>
          </a:ln>
        </p:spPr>
      </p:cxnSp>
      <p:sp>
        <p:nvSpPr>
          <p:cNvPr id="25" name="Rounded Rectangle 24"/>
          <p:cNvSpPr/>
          <p:nvPr/>
        </p:nvSpPr>
        <p:spPr>
          <a:xfrm>
            <a:off x="1508760" y="3831335"/>
            <a:ext cx="808570"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6" name="TextBox 25"/>
          <p:cNvSpPr txBox="1"/>
          <p:nvPr/>
        </p:nvSpPr>
        <p:spPr>
          <a:xfrm>
            <a:off x="1508760" y="3831335"/>
            <a:ext cx="808570"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TESTS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문서가 개정될 때 규칙을 찾아 고치는 길</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매뉴얼의 기준이 개정된다면 그 절에서 나온 규칙을 관계로 찾아 새 판본의 검토와 적재로 고친다.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45</a:t>
            </a:r>
          </a:p>
        </p:txBody>
      </p:sp>
      <p:sp>
        <p:nvSpPr>
          <p:cNvPr id="6" name="Rounded Rectangle 5"/>
          <p:cNvSpPr/>
          <p:nvPr/>
        </p:nvSpPr>
        <p:spPr>
          <a:xfrm>
            <a:off x="548640" y="2603182"/>
            <a:ext cx="2485567" cy="2776346"/>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786062"/>
            <a:ext cx="731520" cy="731520"/>
          </a:xfrm>
          <a:prstGeom prst="ellipse">
            <a:avLst/>
          </a:prstGeom>
          <a:solidFill>
            <a:srgbClr val="FFFFFF"/>
          </a:solidFill>
          <a:ln>
            <a:noFill/>
          </a:ln>
        </p:spPr>
        <p:txBody>
          <a:bodyPr rtlCol="0" anchor="ctr"/>
          <a:lstStyle/>
          <a:p>
            <a:pPr algn="ctr"/>
          </a:p>
        </p:txBody>
      </p:sp>
      <p:pic>
        <p:nvPicPr>
          <p:cNvPr id="8" name="아이콘:file-text" descr="file-text_13294B_1.6.png"/>
          <p:cNvPicPr>
            <a:picLocks noChangeAspect="1"/>
          </p:cNvPicPr>
          <p:nvPr/>
        </p:nvPicPr>
        <p:blipFill>
          <a:blip r:embed="rId3"/>
          <a:stretch>
            <a:fillRect/>
          </a:stretch>
        </p:blipFill>
        <p:spPr>
          <a:xfrm>
            <a:off x="1579283" y="2939681"/>
            <a:ext cx="424281" cy="424281"/>
          </a:xfrm>
          <a:prstGeom prst="rect">
            <a:avLst/>
          </a:prstGeom>
        </p:spPr>
      </p:pic>
      <p:sp>
        <p:nvSpPr>
          <p:cNvPr id="9" name="TextBox 8"/>
          <p:cNvSpPr txBox="1"/>
          <p:nvPr/>
        </p:nvSpPr>
        <p:spPr>
          <a:xfrm>
            <a:off x="621792"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문서의 개정</a:t>
            </a:r>
          </a:p>
          <a:p>
            <a:pPr algn="ctr">
              <a:lnSpc>
                <a:spcPct val="110000"/>
              </a:lnSpc>
              <a:spcAft>
                <a:spcPts val="400"/>
              </a:spcAft>
            </a:pPr>
            <a:r>
              <a:rPr sz="1350" b="0">
                <a:solidFill>
                  <a:srgbClr val="1F2A3A"/>
                </a:solidFill>
                <a:latin typeface="맑은 고딕"/>
                <a:ea typeface="맑은 고딕"/>
                <a:cs typeface="맑은 고딕"/>
              </a:rPr>
              <a:t>절의 기준값이</a:t>
            </a:r>
          </a:p>
          <a:p>
            <a:pPr algn="ctr">
              <a:lnSpc>
                <a:spcPct val="110000"/>
              </a:lnSpc>
              <a:spcAft>
                <a:spcPts val="400"/>
              </a:spcAft>
            </a:pPr>
            <a:r>
              <a:rPr sz="1350" b="0">
                <a:solidFill>
                  <a:srgbClr val="1F2A3A"/>
                </a:solidFill>
                <a:latin typeface="맑은 고딕"/>
                <a:ea typeface="맑은 고딕"/>
                <a:cs typeface="맑은 고딕"/>
              </a:rPr>
              <a:t>바뀐다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603182"/>
            <a:ext cx="2485567" cy="2776346"/>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4295279" y="2786062"/>
            <a:ext cx="731520" cy="731520"/>
          </a:xfrm>
          <a:prstGeom prst="ellipse">
            <a:avLst/>
          </a:prstGeom>
          <a:solidFill>
            <a:srgbClr val="FFFFFF"/>
          </a:solidFill>
          <a:ln>
            <a:noFill/>
          </a:ln>
        </p:spPr>
        <p:txBody>
          <a:bodyPr rtlCol="0" anchor="ctr"/>
          <a:lstStyle/>
          <a:p>
            <a:pPr algn="ctr"/>
          </a:p>
        </p:txBody>
      </p:sp>
      <p:pic>
        <p:nvPicPr>
          <p:cNvPr id="13" name="아이콘:versions" descr="versions_13294B_1.6.png"/>
          <p:cNvPicPr>
            <a:picLocks noChangeAspect="1"/>
          </p:cNvPicPr>
          <p:nvPr/>
        </p:nvPicPr>
        <p:blipFill>
          <a:blip r:embed="rId4"/>
          <a:stretch>
            <a:fillRect/>
          </a:stretch>
        </p:blipFill>
        <p:spPr>
          <a:xfrm>
            <a:off x="4448898" y="2939681"/>
            <a:ext cx="424281" cy="424281"/>
          </a:xfrm>
          <a:prstGeom prst="rect">
            <a:avLst/>
          </a:prstGeom>
        </p:spPr>
      </p:pic>
      <p:sp>
        <p:nvSpPr>
          <p:cNvPr id="14" name="TextBox 13"/>
          <p:cNvSpPr txBox="1"/>
          <p:nvPr/>
        </p:nvSpPr>
        <p:spPr>
          <a:xfrm>
            <a:off x="3491407"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새 판본</a:t>
            </a:r>
          </a:p>
          <a:p>
            <a:pPr algn="ctr">
              <a:lnSpc>
                <a:spcPct val="110000"/>
              </a:lnSpc>
              <a:spcAft>
                <a:spcPts val="400"/>
              </a:spcAft>
            </a:pPr>
            <a:r>
              <a:rPr sz="1350" b="0">
                <a:solidFill>
                  <a:srgbClr val="1F2A3A"/>
                </a:solidFill>
                <a:latin typeface="맑은 고딕"/>
                <a:ea typeface="맑은 고딕"/>
                <a:cs typeface="맑은 고딕"/>
              </a:rPr>
              <a:t>같은 문서 식별자로</a:t>
            </a:r>
          </a:p>
          <a:p>
            <a:pPr algn="ctr">
              <a:lnSpc>
                <a:spcPct val="110000"/>
              </a:lnSpc>
              <a:spcAft>
                <a:spcPts val="400"/>
              </a:spcAft>
            </a:pPr>
            <a:r>
              <a:rPr sz="1350" b="0">
                <a:solidFill>
                  <a:srgbClr val="1F2A3A"/>
                </a:solidFill>
                <a:latin typeface="맑은 고딕"/>
                <a:ea typeface="맑은 고딕"/>
                <a:cs typeface="맑은 고딕"/>
              </a:rPr>
              <a:t>새 판본을 올린다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603182"/>
            <a:ext cx="2485567" cy="2776346"/>
          </a:xfrm>
          <a:prstGeom prst="roundRect">
            <a:avLst>
              <a:gd name="adj" fmla="val 5000"/>
            </a:avLst>
          </a:prstGeom>
          <a:solidFill>
            <a:srgbClr val="E7F3FD"/>
          </a:solidFill>
          <a:ln w="25400">
            <a:solidFill>
              <a:srgbClr val="5CB8F2"/>
            </a:solidFill>
          </a:ln>
        </p:spPr>
        <p:txBody>
          <a:bodyPr rtlCol="0" anchor="ctr"/>
          <a:lstStyle/>
          <a:p>
            <a:pPr algn="ctr"/>
          </a:p>
        </p:txBody>
      </p:sp>
      <p:sp>
        <p:nvSpPr>
          <p:cNvPr id="17" name="Oval 16"/>
          <p:cNvSpPr/>
          <p:nvPr/>
        </p:nvSpPr>
        <p:spPr>
          <a:xfrm>
            <a:off x="7164895" y="2786062"/>
            <a:ext cx="731520" cy="731520"/>
          </a:xfrm>
          <a:prstGeom prst="ellipse">
            <a:avLst/>
          </a:prstGeom>
          <a:solidFill>
            <a:srgbClr val="5CB8F2"/>
          </a:solidFill>
          <a:ln>
            <a:noFill/>
          </a:ln>
        </p:spPr>
        <p:txBody>
          <a:bodyPr rtlCol="0" anchor="ctr"/>
          <a:lstStyle/>
          <a:p>
            <a:pPr algn="ctr"/>
          </a:p>
        </p:txBody>
      </p:sp>
      <p:pic>
        <p:nvPicPr>
          <p:cNvPr id="18" name="아이콘:list-search" descr="list-search_13294B_1.6.png"/>
          <p:cNvPicPr>
            <a:picLocks noChangeAspect="1"/>
          </p:cNvPicPr>
          <p:nvPr/>
        </p:nvPicPr>
        <p:blipFill>
          <a:blip r:embed="rId5"/>
          <a:stretch>
            <a:fillRect/>
          </a:stretch>
        </p:blipFill>
        <p:spPr>
          <a:xfrm>
            <a:off x="7318514" y="2939681"/>
            <a:ext cx="424281" cy="424281"/>
          </a:xfrm>
          <a:prstGeom prst="rect">
            <a:avLst/>
          </a:prstGeom>
        </p:spPr>
      </p:pic>
      <p:sp>
        <p:nvSpPr>
          <p:cNvPr id="19" name="TextBox 18"/>
          <p:cNvSpPr txBox="1"/>
          <p:nvPr/>
        </p:nvSpPr>
        <p:spPr>
          <a:xfrm>
            <a:off x="6361023"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영향받는 규칙</a:t>
            </a:r>
          </a:p>
          <a:p>
            <a:pPr algn="ctr">
              <a:lnSpc>
                <a:spcPct val="110000"/>
              </a:lnSpc>
              <a:spcAft>
                <a:spcPts val="400"/>
              </a:spcAft>
            </a:pPr>
            <a:r>
              <a:rPr sz="1350" b="0">
                <a:solidFill>
                  <a:srgbClr val="1F2A3A"/>
                </a:solidFill>
                <a:latin typeface="맑은 고딕"/>
                <a:ea typeface="맑은 고딕"/>
                <a:cs typeface="맑은 고딕"/>
              </a:rPr>
              <a:t>그 절을 가리키는</a:t>
            </a:r>
          </a:p>
          <a:p>
            <a:pPr algn="ctr">
              <a:lnSpc>
                <a:spcPct val="110000"/>
              </a:lnSpc>
              <a:spcAft>
                <a:spcPts val="400"/>
              </a:spcAft>
            </a:pPr>
            <a:r>
              <a:rPr sz="1350" b="0">
                <a:solidFill>
                  <a:srgbClr val="1F2A3A"/>
                </a:solidFill>
                <a:latin typeface="맑은 고딕"/>
                <a:ea typeface="맑은 고딕"/>
                <a:cs typeface="맑은 고딕"/>
              </a:rPr>
              <a:t>규칙을 찾는다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603182"/>
            <a:ext cx="2485567" cy="2776346"/>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10034511" y="2786062"/>
            <a:ext cx="731520" cy="731520"/>
          </a:xfrm>
          <a:prstGeom prst="ellipse">
            <a:avLst/>
          </a:prstGeom>
          <a:solidFill>
            <a:srgbClr val="FFFFFF"/>
          </a:solidFill>
          <a:ln>
            <a:noFill/>
          </a:ln>
        </p:spPr>
        <p:txBody>
          <a:bodyPr rtlCol="0" anchor="ctr"/>
          <a:lstStyle/>
          <a:p>
            <a:pPr algn="ctr"/>
          </a:p>
        </p:txBody>
      </p:sp>
      <p:pic>
        <p:nvPicPr>
          <p:cNvPr id="23" name="아이콘:list-check" descr="list-check_13294B_1.6.png"/>
          <p:cNvPicPr>
            <a:picLocks noChangeAspect="1"/>
          </p:cNvPicPr>
          <p:nvPr/>
        </p:nvPicPr>
        <p:blipFill>
          <a:blip r:embed="rId6"/>
          <a:stretch>
            <a:fillRect/>
          </a:stretch>
        </p:blipFill>
        <p:spPr>
          <a:xfrm>
            <a:off x="10188130" y="2939681"/>
            <a:ext cx="424281" cy="424281"/>
          </a:xfrm>
          <a:prstGeom prst="rect">
            <a:avLst/>
          </a:prstGeom>
        </p:spPr>
      </p:pic>
      <p:sp>
        <p:nvSpPr>
          <p:cNvPr id="24" name="TextBox 23"/>
          <p:cNvSpPr txBox="1"/>
          <p:nvPr/>
        </p:nvSpPr>
        <p:spPr>
          <a:xfrm>
            <a:off x="9230639"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검토와 적재</a:t>
            </a:r>
          </a:p>
          <a:p>
            <a:pPr algn="ctr">
              <a:lnSpc>
                <a:spcPct val="110000"/>
              </a:lnSpc>
              <a:spcAft>
                <a:spcPts val="400"/>
              </a:spcAft>
            </a:pPr>
            <a:r>
              <a:rPr sz="1350" b="0">
                <a:solidFill>
                  <a:srgbClr val="1F2A3A"/>
                </a:solidFill>
                <a:latin typeface="맑은 고딕"/>
                <a:ea typeface="맑은 고딕"/>
                <a:cs typeface="맑은 고딕"/>
              </a:rPr>
              <a:t>고친 내용을</a:t>
            </a:r>
          </a:p>
          <a:p>
            <a:pPr algn="ctr">
              <a:lnSpc>
                <a:spcPct val="110000"/>
              </a:lnSpc>
              <a:spcAft>
                <a:spcPts val="400"/>
              </a:spcAft>
            </a:pPr>
            <a:r>
              <a:rPr sz="1350" b="0">
                <a:solidFill>
                  <a:srgbClr val="1F2A3A"/>
                </a:solidFill>
                <a:latin typeface="맑은 고딕"/>
                <a:ea typeface="맑은 고딕"/>
                <a:cs typeface="맑은 고딕"/>
              </a:rPr>
              <a:t>검토해 넣고</a:t>
            </a:r>
          </a:p>
          <a:p>
            <a:pPr algn="ctr">
              <a:lnSpc>
                <a:spcPct val="110000"/>
              </a:lnSpc>
              <a:spcAft>
                <a:spcPts val="400"/>
              </a:spcAft>
            </a:pPr>
            <a:r>
              <a:rPr sz="1350" b="0">
                <a:solidFill>
                  <a:srgbClr val="1F2A3A"/>
                </a:solidFill>
                <a:latin typeface="맑은 고딕"/>
                <a:ea typeface="맑은 고딕"/>
                <a:cs typeface="맑은 고딕"/>
              </a:rPr>
              <a:t>기록을 남긴다</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지식과 규칙이 에이전트에게 주는 것: 길과 근거, 기준, 값의 자리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에이전트는 원인이나 값을 지어내지 않고 등록된 관계를 조회하고 규칙의 판정을 받고 도구로 값을 읽는다.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46</a:t>
            </a:r>
          </a:p>
        </p:txBody>
      </p:sp>
      <p:sp>
        <p:nvSpPr>
          <p:cNvPr id="6" name="Rounded Rectangle 5"/>
          <p:cNvSpPr/>
          <p:nvPr/>
        </p:nvSpPr>
        <p:spPr>
          <a:xfrm>
            <a:off x="548640" y="2294635"/>
            <a:ext cx="3515258" cy="3393440"/>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495804"/>
            <a:ext cx="731520" cy="731520"/>
          </a:xfrm>
          <a:prstGeom prst="ellipse">
            <a:avLst/>
          </a:prstGeom>
          <a:solidFill>
            <a:srgbClr val="E7F3FD"/>
          </a:solidFill>
          <a:ln>
            <a:noFill/>
          </a:ln>
        </p:spPr>
        <p:txBody>
          <a:bodyPr rtlCol="0" anchor="ctr"/>
          <a:lstStyle/>
          <a:p>
            <a:pPr algn="ctr"/>
          </a:p>
        </p:txBody>
      </p:sp>
      <p:pic>
        <p:nvPicPr>
          <p:cNvPr id="8" name="아이콘:topology-star-3" descr="topology-star-3_13294B_1.6.png"/>
          <p:cNvPicPr>
            <a:picLocks noChangeAspect="1"/>
          </p:cNvPicPr>
          <p:nvPr/>
        </p:nvPicPr>
        <p:blipFill>
          <a:blip r:embed="rId3"/>
          <a:stretch>
            <a:fillRect/>
          </a:stretch>
        </p:blipFill>
        <p:spPr>
          <a:xfrm>
            <a:off x="930859" y="2649423"/>
            <a:ext cx="424281" cy="424281"/>
          </a:xfrm>
          <a:prstGeom prst="rect">
            <a:avLst/>
          </a:prstGeom>
        </p:spPr>
      </p:pic>
      <p:sp>
        <p:nvSpPr>
          <p:cNvPr id="9" name="TextBox 8"/>
          <p:cNvSpPr txBox="1"/>
          <p:nvPr/>
        </p:nvSpPr>
        <p:spPr>
          <a:xfrm>
            <a:off x="713232" y="3318764"/>
            <a:ext cx="3186074" cy="1866392"/>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지식 그래프</a:t>
            </a:r>
          </a:p>
          <a:p>
            <a:pPr algn="l">
              <a:lnSpc>
                <a:spcPct val="110000"/>
              </a:lnSpc>
              <a:spcAft>
                <a:spcPts val="400"/>
              </a:spcAft>
            </a:pPr>
            <a:r>
              <a:rPr sz="1400" b="0">
                <a:solidFill>
                  <a:srgbClr val="1F2A3A"/>
                </a:solidFill>
                <a:latin typeface="맑은 고딕"/>
                <a:ea typeface="맑은 고딕"/>
                <a:cs typeface="맑은 고딕"/>
              </a:rPr>
              <a:t>• 쿨러 성능 저하 경보에서 출발하면 등록된 원인 후보 셋에 이른다</a:t>
            </a:r>
          </a:p>
          <a:p>
            <a:pPr algn="l">
              <a:lnSpc>
                <a:spcPct val="110000"/>
              </a:lnSpc>
              <a:spcAft>
                <a:spcPts val="400"/>
              </a:spcAft>
            </a:pPr>
            <a:r>
              <a:rPr sz="1400" b="0">
                <a:solidFill>
                  <a:srgbClr val="1F2A3A"/>
                </a:solidFill>
                <a:latin typeface="맑은 고딕"/>
                <a:ea typeface="맑은 고딕"/>
                <a:cs typeface="맑은 고딕"/>
              </a:rPr>
              <a:t>• 팬 최대 운전을 추천하면서 매뉴얼 HM-8.5를 출처로 낸다</a:t>
            </a:r>
          </a:p>
        </p:txBody>
      </p:sp>
      <p:sp>
        <p:nvSpPr>
          <p:cNvPr id="10" name="Rounded Rectangle 9"/>
          <p:cNvSpPr/>
          <p:nvPr/>
        </p:nvSpPr>
        <p:spPr>
          <a:xfrm>
            <a:off x="777240" y="5258308"/>
            <a:ext cx="172212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258308"/>
            <a:ext cx="172212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따라갈 길과 댈 근거</a:t>
            </a:r>
          </a:p>
        </p:txBody>
      </p:sp>
      <p:sp>
        <p:nvSpPr>
          <p:cNvPr id="12" name="Rounded Rectangle 11"/>
          <p:cNvSpPr/>
          <p:nvPr/>
        </p:nvSpPr>
        <p:spPr>
          <a:xfrm>
            <a:off x="4338218" y="2294635"/>
            <a:ext cx="3515258" cy="3393440"/>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3" name="Oval 12"/>
          <p:cNvSpPr/>
          <p:nvPr/>
        </p:nvSpPr>
        <p:spPr>
          <a:xfrm>
            <a:off x="4566818" y="2495804"/>
            <a:ext cx="731520" cy="731520"/>
          </a:xfrm>
          <a:prstGeom prst="ellipse">
            <a:avLst/>
          </a:prstGeom>
          <a:solidFill>
            <a:srgbClr val="5CB8F2"/>
          </a:solidFill>
          <a:ln>
            <a:noFill/>
          </a:ln>
        </p:spPr>
        <p:txBody>
          <a:bodyPr rtlCol="0" anchor="ctr"/>
          <a:lstStyle/>
          <a:p>
            <a:pPr algn="ctr"/>
          </a:p>
        </p:txBody>
      </p:sp>
      <p:pic>
        <p:nvPicPr>
          <p:cNvPr id="14" name="아이콘:list-check" descr="list-check_13294B_1.6.png"/>
          <p:cNvPicPr>
            <a:picLocks noChangeAspect="1"/>
          </p:cNvPicPr>
          <p:nvPr/>
        </p:nvPicPr>
        <p:blipFill>
          <a:blip r:embed="rId4"/>
          <a:stretch>
            <a:fillRect/>
          </a:stretch>
        </p:blipFill>
        <p:spPr>
          <a:xfrm>
            <a:off x="4720437" y="2649423"/>
            <a:ext cx="424281" cy="424281"/>
          </a:xfrm>
          <a:prstGeom prst="rect">
            <a:avLst/>
          </a:prstGeom>
        </p:spPr>
      </p:pic>
      <p:sp>
        <p:nvSpPr>
          <p:cNvPr id="15" name="TextBox 14"/>
          <p:cNvSpPr txBox="1"/>
          <p:nvPr/>
        </p:nvSpPr>
        <p:spPr>
          <a:xfrm>
            <a:off x="4502810" y="3318764"/>
            <a:ext cx="3186074" cy="1866392"/>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판단 규칙</a:t>
            </a:r>
          </a:p>
          <a:p>
            <a:pPr algn="l">
              <a:lnSpc>
                <a:spcPct val="110000"/>
              </a:lnSpc>
              <a:spcAft>
                <a:spcPts val="400"/>
              </a:spcAft>
            </a:pPr>
            <a:r>
              <a:rPr sz="1400" b="0">
                <a:solidFill>
                  <a:srgbClr val="1F2A3A"/>
                </a:solidFill>
                <a:latin typeface="맑은 고딕"/>
                <a:ea typeface="맑은 고딕"/>
                <a:cs typeface="맑은 고딕"/>
              </a:rPr>
              <a:t>• 조건을 그때마다 해석하지 않고 값을 읽어 비교하므로 같은 조건에서 같은 판정이 나온다</a:t>
            </a:r>
          </a:p>
          <a:p>
            <a:pPr algn="l">
              <a:lnSpc>
                <a:spcPct val="110000"/>
              </a:lnSpc>
              <a:spcAft>
                <a:spcPts val="400"/>
              </a:spcAft>
            </a:pPr>
            <a:r>
              <a:rPr sz="1400" b="0">
                <a:solidFill>
                  <a:srgbClr val="1F2A3A"/>
                </a:solidFill>
                <a:latin typeface="맑은 고딕"/>
                <a:ea typeface="맑은 고딕"/>
                <a:cs typeface="맑은 고딕"/>
              </a:rPr>
              <a:t>• 걸린 규칙과 근거가 결과에 남는다</a:t>
            </a:r>
          </a:p>
        </p:txBody>
      </p:sp>
      <p:sp>
        <p:nvSpPr>
          <p:cNvPr id="16" name="Rounded Rectangle 15"/>
          <p:cNvSpPr/>
          <p:nvPr/>
        </p:nvSpPr>
        <p:spPr>
          <a:xfrm>
            <a:off x="4566818" y="5258308"/>
            <a:ext cx="1021080" cy="292608"/>
          </a:xfrm>
          <a:prstGeom prst="roundRect">
            <a:avLst>
              <a:gd name="adj" fmla="val 50000"/>
            </a:avLst>
          </a:prstGeom>
          <a:solidFill>
            <a:srgbClr val="5CB8F2"/>
          </a:solidFill>
          <a:ln>
            <a:noFill/>
          </a:ln>
        </p:spPr>
        <p:txBody>
          <a:bodyPr rtlCol="0" anchor="ctr"/>
          <a:lstStyle/>
          <a:p>
            <a:pPr algn="ctr"/>
          </a:p>
        </p:txBody>
      </p:sp>
      <p:sp>
        <p:nvSpPr>
          <p:cNvPr id="17" name="TextBox 16"/>
          <p:cNvSpPr txBox="1"/>
          <p:nvPr/>
        </p:nvSpPr>
        <p:spPr>
          <a:xfrm>
            <a:off x="4566818" y="5258308"/>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지킬 기준</a:t>
            </a:r>
          </a:p>
        </p:txBody>
      </p:sp>
      <p:sp>
        <p:nvSpPr>
          <p:cNvPr id="18" name="Rounded Rectangle 17"/>
          <p:cNvSpPr/>
          <p:nvPr/>
        </p:nvSpPr>
        <p:spPr>
          <a:xfrm>
            <a:off x="8127796" y="2294635"/>
            <a:ext cx="3515258" cy="3393440"/>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8356396" y="2495804"/>
            <a:ext cx="731520" cy="731520"/>
          </a:xfrm>
          <a:prstGeom prst="ellipse">
            <a:avLst/>
          </a:prstGeom>
          <a:solidFill>
            <a:srgbClr val="E7F3FD"/>
          </a:solidFill>
          <a:ln>
            <a:noFill/>
          </a:ln>
        </p:spPr>
        <p:txBody>
          <a:bodyPr rtlCol="0" anchor="ctr"/>
          <a:lstStyle/>
          <a:p>
            <a:pPr algn="ctr"/>
          </a:p>
        </p:txBody>
      </p:sp>
      <p:pic>
        <p:nvPicPr>
          <p:cNvPr id="20" name="아이콘:map-pin" descr="map-pin_13294B_1.6.png"/>
          <p:cNvPicPr>
            <a:picLocks noChangeAspect="1"/>
          </p:cNvPicPr>
          <p:nvPr/>
        </p:nvPicPr>
        <p:blipFill>
          <a:blip r:embed="rId5"/>
          <a:stretch>
            <a:fillRect/>
          </a:stretch>
        </p:blipFill>
        <p:spPr>
          <a:xfrm>
            <a:off x="8510016" y="2649423"/>
            <a:ext cx="424281" cy="424281"/>
          </a:xfrm>
          <a:prstGeom prst="rect">
            <a:avLst/>
          </a:prstGeom>
        </p:spPr>
      </p:pic>
      <p:sp>
        <p:nvSpPr>
          <p:cNvPr id="21" name="TextBox 20"/>
          <p:cNvSpPr txBox="1"/>
          <p:nvPr/>
        </p:nvSpPr>
        <p:spPr>
          <a:xfrm>
            <a:off x="8292388" y="3318764"/>
            <a:ext cx="3186074" cy="1866392"/>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값의 자리</a:t>
            </a:r>
          </a:p>
          <a:p>
            <a:pPr algn="l">
              <a:lnSpc>
                <a:spcPct val="110000"/>
              </a:lnSpc>
              <a:spcAft>
                <a:spcPts val="400"/>
              </a:spcAft>
            </a:pPr>
            <a:r>
              <a:rPr sz="1400" b="0">
                <a:solidFill>
                  <a:srgbClr val="1F2A3A"/>
                </a:solidFill>
                <a:latin typeface="맑은 고딕"/>
                <a:ea typeface="맑은 고딕"/>
                <a:cs typeface="맑은 고딕"/>
              </a:rPr>
              <a:t>• 지식에 적힌 자리를 보고 도구로 원천에서 값을 읽고, 어디서 언제 읽었는지가 남는다</a:t>
            </a:r>
          </a:p>
          <a:p>
            <a:pPr algn="l">
              <a:lnSpc>
                <a:spcPct val="110000"/>
              </a:lnSpc>
              <a:spcAft>
                <a:spcPts val="400"/>
              </a:spcAft>
            </a:pPr>
            <a:r>
              <a:rPr sz="1400" b="0">
                <a:solidFill>
                  <a:srgbClr val="1F2A3A"/>
                </a:solidFill>
                <a:latin typeface="맑은 고딕"/>
                <a:ea typeface="맑은 고딕"/>
                <a:cs typeface="맑은 고딕"/>
              </a:rPr>
              <a:t>• 예: 시계열 DB에서 읽은 냉각 효율 46.2 %</a:t>
            </a:r>
          </a:p>
        </p:txBody>
      </p:sp>
      <p:sp>
        <p:nvSpPr>
          <p:cNvPr id="22" name="Rounded Rectangle 21"/>
          <p:cNvSpPr/>
          <p:nvPr/>
        </p:nvSpPr>
        <p:spPr>
          <a:xfrm>
            <a:off x="8356396" y="5258308"/>
            <a:ext cx="137160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8356396" y="5258308"/>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도구로 읽을 곳</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사람이 정해 둔 것과 에이전트에게 맡기는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무엇이 사실이고 무엇이 기준인지는 사람이 검토한 지식에 두고, 에이전트에게는 조회하고 종합하는 일을 맡긴다.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47</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user-check" descr="user-check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사람이 검토해 정해 둔 것</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스키마의 정의</a:t>
            </a:r>
          </a:p>
          <a:p>
            <a:pPr algn="l">
              <a:lnSpc>
                <a:spcPct val="110000"/>
              </a:lnSpc>
              <a:spcAft>
                <a:spcPts val="600"/>
              </a:spcAft>
            </a:pPr>
            <a:r>
              <a:rPr sz="1450" b="0">
                <a:solidFill>
                  <a:srgbClr val="1F2A3A"/>
                </a:solidFill>
                <a:latin typeface="맑은 고딕"/>
                <a:ea typeface="맑은 고딕"/>
                <a:cs typeface="맑은 고딕"/>
              </a:rPr>
              <a:t>• 문서에서 온 지식과 규칙</a:t>
            </a:r>
          </a:p>
          <a:p>
            <a:pPr algn="l">
              <a:lnSpc>
                <a:spcPct val="110000"/>
              </a:lnSpc>
              <a:spcAft>
                <a:spcPts val="600"/>
              </a:spcAft>
            </a:pPr>
            <a:r>
              <a:rPr sz="1450" b="0">
                <a:solidFill>
                  <a:srgbClr val="1F2A3A"/>
                </a:solidFill>
                <a:latin typeface="맑은 고딕"/>
                <a:ea typeface="맑은 고딕"/>
                <a:cs typeface="맑은 고딕"/>
              </a:rPr>
              <a:t>• 값이 있는 자리</a:t>
            </a:r>
          </a:p>
        </p:txBody>
      </p:sp>
      <p:sp>
        <p:nvSpPr>
          <p:cNvPr id="11" name="Rounded Rectangle 10"/>
          <p:cNvSpPr/>
          <p:nvPr/>
        </p:nvSpPr>
        <p:spPr>
          <a:xfrm>
            <a:off x="868680" y="4945570"/>
            <a:ext cx="11734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사실과 기준</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robot" descr="robot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에이전트에게 맡기는 것</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상황에 맞는 지식을 조회한다</a:t>
            </a:r>
          </a:p>
          <a:p>
            <a:pPr algn="l">
              <a:lnSpc>
                <a:spcPct val="110000"/>
              </a:lnSpc>
              <a:spcAft>
                <a:spcPts val="600"/>
              </a:spcAft>
            </a:pPr>
            <a:r>
              <a:rPr sz="1450" b="0">
                <a:solidFill>
                  <a:srgbClr val="1F2A3A"/>
                </a:solidFill>
                <a:latin typeface="맑은 고딕"/>
                <a:ea typeface="맑은 고딕"/>
                <a:cs typeface="맑은 고딕"/>
              </a:rPr>
              <a:t>• 값을 읽어 기준에 댄다</a:t>
            </a:r>
          </a:p>
          <a:p>
            <a:pPr algn="l">
              <a:lnSpc>
                <a:spcPct val="110000"/>
              </a:lnSpc>
              <a:spcAft>
                <a:spcPts val="600"/>
              </a:spcAft>
            </a:pPr>
            <a:r>
              <a:rPr sz="1450" b="0">
                <a:solidFill>
                  <a:srgbClr val="1F2A3A"/>
                </a:solidFill>
                <a:latin typeface="맑은 고딕"/>
                <a:ea typeface="맑은 고딕"/>
                <a:cs typeface="맑은 고딕"/>
              </a:rPr>
              <a:t>• 결과를 종합해 추천한다</a:t>
            </a:r>
          </a:p>
        </p:txBody>
      </p:sp>
      <p:sp>
        <p:nvSpPr>
          <p:cNvPr id="18" name="Rounded Rectangle 17"/>
          <p:cNvSpPr/>
          <p:nvPr/>
        </p:nvSpPr>
        <p:spPr>
          <a:xfrm>
            <a:off x="6781647" y="4945570"/>
            <a:ext cx="11734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조회와 종합</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정리: 판단의 재료가 놓이는 자리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근거가 있는 판단은 구조와 검토된 지식과 원천의 값이 저마다 제자리에 있고 서로 이어져 있을 때 가능하다.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48</a:t>
            </a:r>
          </a:p>
        </p:txBody>
      </p:sp>
      <p:sp>
        <p:nvSpPr>
          <p:cNvPr id="6" name="Rounded Rectangle 5"/>
          <p:cNvSpPr/>
          <p:nvPr/>
        </p:nvSpPr>
        <p:spPr>
          <a:xfrm>
            <a:off x="548640" y="2562860"/>
            <a:ext cx="11094415" cy="1371600"/>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822959" y="2562860"/>
            <a:ext cx="10545775" cy="1371600"/>
          </a:xfrm>
          <a:prstGeom prst="rect">
            <a:avLst/>
          </a:prstGeom>
          <a:noFill/>
        </p:spPr>
        <p:txBody>
          <a:bodyPr wrap="square" anchor="ctr"/>
          <a:lstStyle/>
          <a:p>
            <a:pPr algn="ctr">
              <a:lnSpc>
                <a:spcPct val="110000"/>
              </a:lnSpc>
            </a:pPr>
            <a:r>
              <a:rPr sz="2600" b="1">
                <a:solidFill>
                  <a:srgbClr val="13294B"/>
                </a:solidFill>
                <a:latin typeface="맑은 고딕"/>
                <a:ea typeface="맑은 고딕"/>
                <a:cs typeface="맑은 고딕"/>
              </a:rPr>
              <a:t>판단이 따라갈 관계는 스키마가 정하고,</a:t>
            </a:r>
          </a:p>
          <a:p>
            <a:pPr algn="ctr">
              <a:lnSpc>
                <a:spcPct val="110000"/>
              </a:lnSpc>
            </a:pPr>
            <a:r>
              <a:rPr sz="2600" b="1">
                <a:solidFill>
                  <a:srgbClr val="13294B"/>
                </a:solidFill>
                <a:latin typeface="맑은 고딕"/>
                <a:ea typeface="맑은 고딕"/>
                <a:cs typeface="맑은 고딕"/>
              </a:rPr>
              <a:t>내용과 기준은 검토된 지식에서, 값은 원천에서 읽는다</a:t>
            </a:r>
          </a:p>
        </p:txBody>
      </p:sp>
      <p:sp>
        <p:nvSpPr>
          <p:cNvPr id="8" name="Oval 7"/>
          <p:cNvSpPr/>
          <p:nvPr/>
        </p:nvSpPr>
        <p:spPr>
          <a:xfrm>
            <a:off x="548640" y="4300220"/>
            <a:ext cx="731520" cy="731520"/>
          </a:xfrm>
          <a:prstGeom prst="ellipse">
            <a:avLst/>
          </a:prstGeom>
          <a:solidFill>
            <a:srgbClr val="E7F3FD"/>
          </a:solidFill>
          <a:ln>
            <a:noFill/>
          </a:ln>
        </p:spPr>
        <p:txBody>
          <a:bodyPr rtlCol="0" anchor="ctr"/>
          <a:lstStyle/>
          <a:p>
            <a:pPr algn="ctr"/>
          </a:p>
        </p:txBody>
      </p:sp>
      <p:pic>
        <p:nvPicPr>
          <p:cNvPr id="9" name="아이콘:schema" descr="schema_13294B_1.6.png"/>
          <p:cNvPicPr>
            <a:picLocks noChangeAspect="1"/>
          </p:cNvPicPr>
          <p:nvPr/>
        </p:nvPicPr>
        <p:blipFill>
          <a:blip r:embed="rId3"/>
          <a:stretch>
            <a:fillRect/>
          </a:stretch>
        </p:blipFill>
        <p:spPr>
          <a:xfrm>
            <a:off x="702259" y="4453839"/>
            <a:ext cx="424281" cy="424281"/>
          </a:xfrm>
          <a:prstGeom prst="rect">
            <a:avLst/>
          </a:prstGeom>
        </p:spPr>
      </p:pic>
      <p:sp>
        <p:nvSpPr>
          <p:cNvPr id="10" name="TextBox 9"/>
          <p:cNvSpPr txBox="1"/>
          <p:nvPr/>
        </p:nvSpPr>
        <p:spPr>
          <a:xfrm>
            <a:off x="1371600" y="4254500"/>
            <a:ext cx="2692298" cy="130251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구조</a:t>
            </a:r>
          </a:p>
          <a:p>
            <a:pPr algn="l">
              <a:lnSpc>
                <a:spcPct val="110000"/>
              </a:lnSpc>
              <a:spcAft>
                <a:spcPts val="400"/>
              </a:spcAft>
            </a:pPr>
            <a:r>
              <a:rPr sz="1400" b="0">
                <a:solidFill>
                  <a:srgbClr val="1F2A3A"/>
                </a:solidFill>
                <a:latin typeface="맑은 고딕"/>
                <a:ea typeface="맑은 고딕"/>
                <a:cs typeface="맑은 고딕"/>
              </a:rPr>
              <a:t>스키마가 따라갈 길을 정한다</a:t>
            </a:r>
          </a:p>
        </p:txBody>
      </p:sp>
      <p:sp>
        <p:nvSpPr>
          <p:cNvPr id="11" name="Oval 10"/>
          <p:cNvSpPr/>
          <p:nvPr/>
        </p:nvSpPr>
        <p:spPr>
          <a:xfrm>
            <a:off x="4338218" y="4300220"/>
            <a:ext cx="731520" cy="731520"/>
          </a:xfrm>
          <a:prstGeom prst="ellipse">
            <a:avLst/>
          </a:prstGeom>
          <a:solidFill>
            <a:srgbClr val="E7F3FD"/>
          </a:solidFill>
          <a:ln>
            <a:noFill/>
          </a:ln>
        </p:spPr>
        <p:txBody>
          <a:bodyPr rtlCol="0" anchor="ctr"/>
          <a:lstStyle/>
          <a:p>
            <a:pPr algn="ctr"/>
          </a:p>
        </p:txBody>
      </p:sp>
      <p:pic>
        <p:nvPicPr>
          <p:cNvPr id="12" name="아이콘:file-certificate" descr="file-certificate_13294B_1.6.png"/>
          <p:cNvPicPr>
            <a:picLocks noChangeAspect="1"/>
          </p:cNvPicPr>
          <p:nvPr/>
        </p:nvPicPr>
        <p:blipFill>
          <a:blip r:embed="rId4"/>
          <a:stretch>
            <a:fillRect/>
          </a:stretch>
        </p:blipFill>
        <p:spPr>
          <a:xfrm>
            <a:off x="4491837" y="4453839"/>
            <a:ext cx="424281" cy="424281"/>
          </a:xfrm>
          <a:prstGeom prst="rect">
            <a:avLst/>
          </a:prstGeom>
        </p:spPr>
      </p:pic>
      <p:sp>
        <p:nvSpPr>
          <p:cNvPr id="13" name="TextBox 12"/>
          <p:cNvSpPr txBox="1"/>
          <p:nvPr/>
        </p:nvSpPr>
        <p:spPr>
          <a:xfrm>
            <a:off x="5161178" y="4254500"/>
            <a:ext cx="2692298" cy="130251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지식과 규칙</a:t>
            </a:r>
          </a:p>
          <a:p>
            <a:pPr algn="l">
              <a:lnSpc>
                <a:spcPct val="110000"/>
              </a:lnSpc>
              <a:spcAft>
                <a:spcPts val="400"/>
              </a:spcAft>
            </a:pPr>
            <a:r>
              <a:rPr sz="1400" b="0">
                <a:solidFill>
                  <a:srgbClr val="1F2A3A"/>
                </a:solidFill>
                <a:latin typeface="맑은 고딕"/>
                <a:ea typeface="맑은 고딕"/>
                <a:cs typeface="맑은 고딕"/>
              </a:rPr>
              <a:t>사람이 검토한 내용이 출처와 함께 들어간다</a:t>
            </a:r>
          </a:p>
        </p:txBody>
      </p:sp>
      <p:sp>
        <p:nvSpPr>
          <p:cNvPr id="14" name="Oval 13"/>
          <p:cNvSpPr/>
          <p:nvPr/>
        </p:nvSpPr>
        <p:spPr>
          <a:xfrm>
            <a:off x="8127796" y="4300220"/>
            <a:ext cx="731520" cy="731520"/>
          </a:xfrm>
          <a:prstGeom prst="ellipse">
            <a:avLst/>
          </a:prstGeom>
          <a:solidFill>
            <a:srgbClr val="E7F3FD"/>
          </a:solidFill>
          <a:ln>
            <a:noFill/>
          </a:ln>
        </p:spPr>
        <p:txBody>
          <a:bodyPr rtlCol="0" anchor="ctr"/>
          <a:lstStyle/>
          <a:p>
            <a:pPr algn="ctr"/>
          </a:p>
        </p:txBody>
      </p:sp>
      <p:pic>
        <p:nvPicPr>
          <p:cNvPr id="15" name="아이콘:activity" descr="activity_13294B_1.6.png"/>
          <p:cNvPicPr>
            <a:picLocks noChangeAspect="1"/>
          </p:cNvPicPr>
          <p:nvPr/>
        </p:nvPicPr>
        <p:blipFill>
          <a:blip r:embed="rId5"/>
          <a:stretch>
            <a:fillRect/>
          </a:stretch>
        </p:blipFill>
        <p:spPr>
          <a:xfrm>
            <a:off x="8281416" y="4453839"/>
            <a:ext cx="424281" cy="424281"/>
          </a:xfrm>
          <a:prstGeom prst="rect">
            <a:avLst/>
          </a:prstGeom>
        </p:spPr>
      </p:pic>
      <p:sp>
        <p:nvSpPr>
          <p:cNvPr id="16" name="TextBox 15"/>
          <p:cNvSpPr txBox="1"/>
          <p:nvPr/>
        </p:nvSpPr>
        <p:spPr>
          <a:xfrm>
            <a:off x="8950756" y="4254500"/>
            <a:ext cx="2692298" cy="130251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값</a:t>
            </a:r>
          </a:p>
          <a:p>
            <a:pPr algn="l">
              <a:lnSpc>
                <a:spcPct val="110000"/>
              </a:lnSpc>
              <a:spcAft>
                <a:spcPts val="400"/>
              </a:spcAft>
            </a:pPr>
            <a:r>
              <a:rPr sz="1400" b="0">
                <a:solidFill>
                  <a:srgbClr val="1F2A3A"/>
                </a:solidFill>
                <a:latin typeface="맑은 고딕"/>
                <a:ea typeface="맑은 고딕"/>
                <a:cs typeface="맑은 고딕"/>
              </a:rPr>
              <a:t>판단하는 순간에 읽고 읽은 출처를 남긴다</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오늘 다룬 핵심 개념과 주요 용어 정리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회차에서 정식 명칭을 붙인 용어와 인제스천에서 그 용어가 놓이는 자리를 모은다.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49</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용어</a:t>
            </a:r>
          </a:p>
        </p:txBody>
      </p:sp>
      <p:sp>
        <p:nvSpPr>
          <p:cNvPr id="8" name="TextBox 7"/>
          <p:cNvSpPr txBox="1"/>
          <p:nvPr/>
        </p:nvSpPr>
        <p:spPr>
          <a:xfrm>
            <a:off x="3200400" y="19613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정식 명칭</a:t>
            </a:r>
          </a:p>
        </p:txBody>
      </p:sp>
      <p:sp>
        <p:nvSpPr>
          <p:cNvPr id="9" name="TextBox 8"/>
          <p:cNvSpPr txBox="1"/>
          <p:nvPr/>
        </p:nvSpPr>
        <p:spPr>
          <a:xfrm>
            <a:off x="9448495" y="19613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인제스천에서</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인제스천</a:t>
            </a:r>
          </a:p>
        </p:txBody>
      </p:sp>
      <p:sp>
        <p:nvSpPr>
          <p:cNvPr id="12" name="TextBox 11"/>
          <p:cNvSpPr txBox="1"/>
          <p:nvPr/>
        </p:nvSpPr>
        <p:spPr>
          <a:xfrm>
            <a:off x="3200400" y="2363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Ingestion</a:t>
            </a:r>
          </a:p>
        </p:txBody>
      </p:sp>
      <p:sp>
        <p:nvSpPr>
          <p:cNvPr id="13" name="TextBox 12"/>
          <p:cNvSpPr txBox="1"/>
          <p:nvPr/>
        </p:nvSpPr>
        <p:spPr>
          <a:xfrm>
            <a:off x="9448495" y="2363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자료를 지식으로 등록</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원천 자료</a:t>
            </a:r>
          </a:p>
        </p:txBody>
      </p:sp>
      <p:sp>
        <p:nvSpPr>
          <p:cNvPr id="16" name="TextBox 15"/>
          <p:cNvSpPr txBox="1"/>
          <p:nvPr/>
        </p:nvSpPr>
        <p:spPr>
          <a:xfrm>
            <a:off x="3200400" y="32781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Source</a:t>
            </a:r>
          </a:p>
        </p:txBody>
      </p:sp>
      <p:sp>
        <p:nvSpPr>
          <p:cNvPr id="17" name="TextBox 16"/>
          <p:cNvSpPr txBox="1"/>
          <p:nvPr/>
        </p:nvSpPr>
        <p:spPr>
          <a:xfrm>
            <a:off x="9448495" y="32781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지식의 출발점이 되는 자료</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LLM</a:t>
            </a:r>
          </a:p>
        </p:txBody>
      </p:sp>
      <p:sp>
        <p:nvSpPr>
          <p:cNvPr id="20" name="TextBox 19"/>
          <p:cNvSpPr txBox="1"/>
          <p:nvPr/>
        </p:nvSpPr>
        <p:spPr>
          <a:xfrm>
            <a:off x="3200400" y="41925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Large Language Model</a:t>
            </a:r>
          </a:p>
        </p:txBody>
      </p:sp>
      <p:sp>
        <p:nvSpPr>
          <p:cNvPr id="21" name="TextBox 20"/>
          <p:cNvSpPr txBox="1"/>
          <p:nvPr/>
        </p:nvSpPr>
        <p:spPr>
          <a:xfrm>
            <a:off x="9448495" y="41925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지식 후보의 추출</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인용</a:t>
            </a:r>
          </a:p>
        </p:txBody>
      </p:sp>
      <p:sp>
        <p:nvSpPr>
          <p:cNvPr id="24" name="TextBox 23"/>
          <p:cNvSpPr txBox="1"/>
          <p:nvPr/>
        </p:nvSpPr>
        <p:spPr>
          <a:xfrm>
            <a:off x="3200400" y="5106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Citation</a:t>
            </a:r>
          </a:p>
        </p:txBody>
      </p:sp>
      <p:sp>
        <p:nvSpPr>
          <p:cNvPr id="25" name="TextBox 24"/>
          <p:cNvSpPr txBox="1"/>
          <p:nvPr/>
        </p:nvSpPr>
        <p:spPr>
          <a:xfrm>
            <a:off x="9448495" y="5106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근거가 된 원문 구간</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Review Quiz: 핵심 흐름 되짚어보기</a:t>
            </a:r>
          </a:p>
        </p:txBody>
      </p:sp>
      <p:sp>
        <p:nvSpPr>
          <p:cNvPr id="5" name="TextBox 4"/>
          <p:cNvSpPr txBox="1"/>
          <p:nvPr/>
        </p:nvSpPr>
        <p:spPr>
          <a:xfrm>
            <a:off x="731520" y="41605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배운 내용을 바탕으로 정답을 맞혀 보세요.</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1. 추출 결과의 검토</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추출 결과의 단계에는 팬 속도를 100 %로 올린다는 내용만 있고, 그 인용문에는 24시간 제한이 이어져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51</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검토자의 판단으로 가장 적절한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형식에 맞고 인용도 붙어 있으므로 그대로 승인한다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인용문이 단계 문장보다 길므로 인용을 단계 문장에 맞춰 줄인다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연속 운전 제한이 빠졌으므로 원문대로 고친 뒤 승인한다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수치가 들어 있지 않은 단계이므로 대조할 필요가 없다</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2. 지식과 값의 구분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쿨러 냉각 성능 상실의 판단에 쓰이는 네 가지를 지식 그래프에 둘 것과 원천에서 읽을 것으로 나누려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52</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지식 그래프에 등록하지 않고 판단 시점에 원천에서 읽어야 하는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최근 30초 동안의 냉각 효율 평균</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냉각 효율 평균이 70 % 미만이면 핀 오염으로 본다는 기준</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팬 최대 운전의 수행 단계</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쿨러 핀 오염이 쿨러 냉각 성능 상실을 일으킨다는 관계</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3. 등록된 대상과 새 후보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새 매뉴얼을 추출하던 중 「오일 쿨러」라는 말이 나왔고, 지식 그래프에는 구성 요소 오일 쿨러가 이미 등록되어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53</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이 후보를 처리하는 방법으로 바른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문서마다 따로 관리하도록 오일 쿨러 노드를 하나 더 만든다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이름이 같으므로 기존 노드를 지우고 새 노드로 바꾼다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문서의 표기에 맞춰 오일 쿨러라는 새 클래스를 스키마에 더한다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새로 만들지 않고 등록된 오일 쿨러의 식별자를 가리킨다</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정답과 판단 기준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세 문항은 형식과 내용, 지식과 값, 새 후보와 등록된 대상을 구분하는지를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54</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문항</a:t>
            </a:r>
          </a:p>
        </p:txBody>
      </p:sp>
      <p:sp>
        <p:nvSpPr>
          <p:cNvPr id="8" name="TextBox 7"/>
          <p:cNvSpPr txBox="1"/>
          <p:nvPr/>
        </p:nvSpPr>
        <p:spPr>
          <a:xfrm>
            <a:off x="3200400" y="24185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판단 기준</a:t>
            </a:r>
          </a:p>
        </p:txBody>
      </p:sp>
      <p:sp>
        <p:nvSpPr>
          <p:cNvPr id="9" name="TextBox 8"/>
          <p:cNvSpPr txBox="1"/>
          <p:nvPr/>
        </p:nvSpPr>
        <p:spPr>
          <a:xfrm>
            <a:off x="9448495" y="24185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정답</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1</a:t>
            </a:r>
          </a:p>
        </p:txBody>
      </p:sp>
      <p:sp>
        <p:nvSpPr>
          <p:cNvPr id="12" name="TextBox 11"/>
          <p:cNvSpPr txBox="1"/>
          <p:nvPr/>
        </p:nvSpPr>
        <p:spPr>
          <a:xfrm>
            <a:off x="3200400" y="2820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형식이 맞아도 내용은 원문과 대조해야 한다. 빠진 조건은 원문대로 고친 뒤에 승인한다.</a:t>
            </a:r>
          </a:p>
        </p:txBody>
      </p:sp>
      <p:sp>
        <p:nvSpPr>
          <p:cNvPr id="13" name="TextBox 12"/>
          <p:cNvSpPr txBox="1"/>
          <p:nvPr/>
        </p:nvSpPr>
        <p:spPr>
          <a:xfrm>
            <a:off x="9448495" y="2820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3번</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2</a:t>
            </a:r>
          </a:p>
        </p:txBody>
      </p:sp>
      <p:sp>
        <p:nvSpPr>
          <p:cNvPr id="16" name="TextBox 15"/>
          <p:cNvSpPr txBox="1"/>
          <p:nvPr/>
        </p:nvSpPr>
        <p:spPr>
          <a:xfrm>
            <a:off x="3200400" y="37353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기준, 절차, 관계는 지식이고 그 순간의 측정값은 값이다. 값은 판단 시점에 원천에서 읽는다.</a:t>
            </a:r>
          </a:p>
        </p:txBody>
      </p:sp>
      <p:sp>
        <p:nvSpPr>
          <p:cNvPr id="17" name="TextBox 16"/>
          <p:cNvSpPr txBox="1"/>
          <p:nvPr/>
        </p:nvSpPr>
        <p:spPr>
          <a:xfrm>
            <a:off x="9448495" y="37353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1번</a:t>
            </a:r>
          </a:p>
        </p:txBody>
      </p:sp>
      <p:sp>
        <p:nvSpPr>
          <p:cNvPr id="18" name="Rounded Rectangle 17"/>
          <p:cNvSpPr/>
          <p:nvPr/>
        </p:nvSpPr>
        <p:spPr>
          <a:xfrm>
            <a:off x="548640" y="46817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3</a:t>
            </a:r>
          </a:p>
        </p:txBody>
      </p:sp>
      <p:sp>
        <p:nvSpPr>
          <p:cNvPr id="20" name="TextBox 19"/>
          <p:cNvSpPr txBox="1"/>
          <p:nvPr/>
        </p:nvSpPr>
        <p:spPr>
          <a:xfrm>
            <a:off x="3200400" y="4649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이미 등록된 대상은 새로 만들지 않는다. 식별자로 가리켜야 새 지식이 기존 그래프에 이어진다.</a:t>
            </a:r>
          </a:p>
        </p:txBody>
      </p:sp>
      <p:sp>
        <p:nvSpPr>
          <p:cNvPr id="21" name="TextBox 20"/>
          <p:cNvSpPr txBox="1"/>
          <p:nvPr/>
        </p:nvSpPr>
        <p:spPr>
          <a:xfrm>
            <a:off x="9448495" y="4649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4번</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