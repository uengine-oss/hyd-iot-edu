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지식이 들어갈 구조와 조치를 가리는 기준을 만들었습니다. 오늘은 현장 문서의 문장을 그 구조에 맞는 지식으로 들여오는 과정을 다루고, 네 개의 실습에서 직접 추출하고 검토해 적재합니다. 마지막에는 온톨로지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추천안에는 원인과 조치와 출처가 함께 나옵니다.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2회차에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번호가 붙은 단계를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형식에는 맞는 결과입니다.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조치는 사람이 승인해야 설비 명령이 나가는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사이를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결정표에서 기준은 표에 적고 값은 판단할 때 읽었습니다. 같은 구분을 지식 그래프 전체에 적용합니다.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원문에서 근거를 찾을 수 없는 후보는 고치거나 보류합니다.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앞 회차들에서 만든 설비 모델과 조치의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절차에서 조건 한 건이 바뀌었을 때 그 조건을 검토해 새 출처와 함께 그래프에 넣습니다. 그런 다음 같은 조치의 이전 기준과 새 기준을 출처로 구별해 조회하고, 같은 대상이 둘로 들어가지 않았는지를 확인합니다. 개정한 뒤에도 어느 기준이 어느 판본에서 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회차에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2회차의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2회차가 받은 것은 설비 자료와 답할 질문이었고, 스키마 설계는 클래스가 아니라 질문에서 출발했습니다. 질문이 정해져야 무엇을 넣고 무엇을 넣지 않을지가 갈립니다. 둘째 줄의 스키마가 첫 결과물로, 1회차의 관계 그림을 누구나 같은 기준으로 쓰게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SOP의 구성요소로 본 것 가운데 셋이 3회차의 입력입니다. 첫 행에서 SOP 한 편이 조치 방법 노드 하나가 되고 번호가 붙은 줄이 작업 단계가 되었습니다. 둘째 행의 금지는 부하를 60 % 아래로 내리지 못한다는 조치의 하한으로 남았습니다. 셋째 행의 전제 조건은 3회차에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1회차의 관계 그림입니다. 쿨러 사건의 추천안이 이 다섯 걸음으로 만들어졌고, 그것이 가능했던 것은 네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추천안에 근거가 붙어 나오는 화면입니다. 이제는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값을 읽은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회차의 내용을 한 문장으로 줄인 것입니다. 근거가 있는 판단이 뜻하는 것이 이것입니다. 다음 회차부터는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 값의 자리가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형식이 맞는지와 인용문이 원문에 있는지의 확인이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43.png"/><Relationship Id="rId6"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7.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0.png"/><Relationship Id="rId4" Type="http://schemas.openxmlformats.org/officeDocument/2006/relationships/image" Target="../media/image45.png"/><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문서를 검토된 지식으로</a:t>
            </a:r>
          </a:p>
          <a:p>
            <a:pPr algn="l">
              <a:lnSpc>
                <a:spcPct val="110000"/>
              </a:lnSpc>
            </a:pPr>
            <a:r>
              <a:rPr sz="4000" b="1">
                <a:solidFill>
                  <a:srgbClr val="FFFFFF"/>
                </a:solidFill>
                <a:latin typeface="맑은 고딕"/>
                <a:ea typeface="맑은 고딕"/>
                <a:cs typeface="맑은 고딕"/>
              </a:rPr>
              <a:t>전환하는 인제스천</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원문 등록에서 출처 조회까지의 과정과 온톨로지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출처를 가진 지식으로 등록되는 과정을 익히고 온톨로지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단계</a:t>
            </a:r>
          </a:p>
          <a:p>
            <a:pPr algn="l">
              <a:lnSpc>
                <a:spcPct val="110000"/>
              </a:lnSpc>
              <a:spcAft>
                <a:spcPts val="400"/>
              </a:spcAft>
            </a:pPr>
            <a:r>
              <a:rPr sz="1350" b="0">
                <a:solidFill>
                  <a:srgbClr val="1F2A3A"/>
                </a:solidFill>
                <a:latin typeface="맑은 고딕"/>
                <a:ea typeface="맑은 고딕"/>
                <a:cs typeface="맑은 고딕"/>
              </a:rPr>
              <a:t>원문 보관에서 출처 조회까지 일곱 단계가 하는 일을 순서대로 설명한다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과정</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 결과를 원문 인용과 대조해 틀린 곳을 가려내고 검토한 것만 적재한다</a:t>
            </a:r>
          </a:p>
        </p:txBody>
      </p:sp>
      <p:sp>
        <p:nvSpPr>
          <p:cNvPr id="16" name="Rounded Rectangle 15"/>
          <p:cNvSpPr/>
          <p:nvPr/>
        </p:nvSpPr>
        <p:spPr>
          <a:xfrm>
            <a:off x="3619423" y="5169217"/>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 실습</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a:t>
            </a:r>
          </a:p>
          <a:p>
            <a:pPr algn="l">
              <a:lnSpc>
                <a:spcPct val="110000"/>
              </a:lnSpc>
              <a:spcAft>
                <a:spcPts val="400"/>
              </a:spcAft>
            </a:pPr>
            <a:r>
              <a:rPr sz="1350" b="0">
                <a:solidFill>
                  <a:srgbClr val="1F2A3A"/>
                </a:solidFill>
                <a:latin typeface="맑은 고딕"/>
                <a:ea typeface="맑은 고딕"/>
                <a:cs typeface="맑은 고딕"/>
              </a:rPr>
              <a:t>지식의 출처를 관계로 조회하고 개정된 기준을 이전 기준과 구별한다</a:t>
            </a:r>
          </a:p>
        </p:txBody>
      </p:sp>
      <p:sp>
        <p:nvSpPr>
          <p:cNvPr id="22" name="Rounded Rectangle 21"/>
          <p:cNvSpPr/>
          <p:nvPr/>
        </p:nvSpPr>
        <p:spPr>
          <a:xfrm>
            <a:off x="6461607" y="5169217"/>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 · 실습</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영역의 정리</a:t>
            </a:r>
          </a:p>
          <a:p>
            <a:pPr algn="l">
              <a:lnSpc>
                <a:spcPct val="110000"/>
              </a:lnSpc>
              <a:spcAft>
                <a:spcPts val="400"/>
              </a:spcAft>
            </a:pPr>
            <a:r>
              <a:rPr sz="1350" b="0">
                <a:solidFill>
                  <a:srgbClr val="1F2A3A"/>
                </a:solidFill>
                <a:latin typeface="맑은 고딕"/>
                <a:ea typeface="맑은 고딕"/>
                <a:cs typeface="맑은 고딕"/>
              </a:rPr>
              <a:t>네 회차의 결과물이 판단 한 건에서 쓰이는 자리를 설명한다</a:t>
            </a:r>
          </a:p>
        </p:txBody>
      </p:sp>
      <p:sp>
        <p:nvSpPr>
          <p:cNvPr id="28" name="Rounded Rectangle 27"/>
          <p:cNvSpPr/>
          <p:nvPr/>
        </p:nvSpPr>
        <p:spPr>
          <a:xfrm>
            <a:off x="9303791" y="516921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2회차의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인제스천_전체.svg" descr="illust_6379809320828350675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2단계에서 절과 단계로 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정해진 형식에는 맞아 프로그램의 검사로 드러나지 않으므로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인용.svg" descr="illust_798981190853275896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인제스천_6.svg" descr="illust_833566315215732556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적재묶음_사슬.svg" descr="illust_519329973830619543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입력데이터_자리.svg" descr="illust_310791718132286355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a:p>
            <a:pPr algn="l">
              <a:lnSpc>
                <a:spcPct val="110000"/>
              </a:lnSpc>
              <a:spcAft>
                <a:spcPts val="400"/>
              </a:spcAft>
            </a:pPr>
            <a:r>
              <a:rPr sz="1400" b="0">
                <a:solidFill>
                  <a:srgbClr val="1F2A3A"/>
                </a:solidFill>
                <a:latin typeface="맑은 고딕"/>
                <a:ea typeface="맑은 고딕"/>
                <a:cs typeface="맑은 고딕"/>
              </a:rPr>
              <a:t>• 원문에 근거가 없는 후보는 보류한다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쪽, 원문 문장이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조건을 확인한다</a:t>
            </a:r>
          </a:p>
        </p:txBody>
      </p:sp>
      <p:sp>
        <p:nvSpPr>
          <p:cNvPr id="10" name="Rounded Rectangle 9"/>
          <p:cNvSpPr/>
          <p:nvPr/>
        </p:nvSpPr>
        <p:spPr>
          <a:xfrm>
            <a:off x="777240" y="536676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 형식으로, 후보마다 문서 식별자, 쪽, 원문 문장을 함께 내게 한다</a:t>
            </a:r>
          </a:p>
        </p:txBody>
      </p:sp>
      <p:sp>
        <p:nvSpPr>
          <p:cNvPr id="16" name="Rounded Rectangle 15"/>
          <p:cNvSpPr/>
          <p:nvPr/>
        </p:nvSpPr>
        <p:spPr>
          <a:xfrm>
            <a:off x="4566818" y="5366766"/>
            <a:ext cx="109423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JSON 출력</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오탈자와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개정에 따른 변경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절차에서 바뀐 조건 한 건을 반영하고 이전 기준과 새 기준을 출처로 구별한다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조치의 이전 기준과 새 기준이 출처로 구별되는 그래프와 그것을 확인한 조회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 내용 확인</a:t>
            </a:r>
          </a:p>
          <a:p>
            <a:pPr algn="ctr">
              <a:lnSpc>
                <a:spcPct val="110000"/>
              </a:lnSpc>
              <a:spcAft>
                <a:spcPts val="400"/>
              </a:spcAft>
            </a:pPr>
            <a:r>
              <a:rPr sz="1350" b="0">
                <a:solidFill>
                  <a:srgbClr val="1F2A3A"/>
                </a:solidFill>
                <a:latin typeface="맑은 고딕"/>
                <a:ea typeface="맑은 고딕"/>
                <a:cs typeface="맑은 고딕"/>
              </a:rPr>
              <a:t>정비 절차에서</a:t>
            </a:r>
          </a:p>
          <a:p>
            <a:pPr algn="ctr">
              <a:lnSpc>
                <a:spcPct val="110000"/>
              </a:lnSpc>
              <a:spcAft>
                <a:spcPts val="400"/>
              </a:spcAft>
            </a:pPr>
            <a:r>
              <a:rPr sz="1350" b="0">
                <a:solidFill>
                  <a:srgbClr val="1F2A3A"/>
                </a:solidFill>
                <a:latin typeface="맑은 고딕"/>
                <a:ea typeface="맑은 고딕"/>
                <a:cs typeface="맑은 고딕"/>
              </a:rPr>
              <a:t>바뀐 조건 한 건을</a:t>
            </a:r>
          </a:p>
          <a:p>
            <a:pPr algn="ctr">
              <a:lnSpc>
                <a:spcPct val="110000"/>
              </a:lnSpc>
              <a:spcAft>
                <a:spcPts val="400"/>
              </a:spcAft>
            </a:pPr>
            <a:r>
              <a:rPr sz="1350" b="0">
                <a:solidFill>
                  <a:srgbClr val="1F2A3A"/>
                </a:solidFill>
                <a:latin typeface="맑은 고딕"/>
                <a:ea typeface="맑은 고딕"/>
                <a:cs typeface="맑은 고딕"/>
              </a:rPr>
              <a:t>원문에서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기준 반영</a:t>
            </a:r>
          </a:p>
          <a:p>
            <a:pPr algn="ctr">
              <a:lnSpc>
                <a:spcPct val="110000"/>
              </a:lnSpc>
              <a:spcAft>
                <a:spcPts val="400"/>
              </a:spcAft>
            </a:pPr>
            <a:r>
              <a:rPr sz="1350" b="0">
                <a:solidFill>
                  <a:srgbClr val="1F2A3A"/>
                </a:solidFill>
                <a:latin typeface="맑은 고딕"/>
                <a:ea typeface="맑은 고딕"/>
                <a:cs typeface="맑은 고딕"/>
              </a:rPr>
              <a:t>바뀐 조건을 검토해</a:t>
            </a:r>
          </a:p>
          <a:p>
            <a:pPr algn="ctr">
              <a:lnSpc>
                <a:spcPct val="110000"/>
              </a:lnSpc>
              <a:spcAft>
                <a:spcPts val="400"/>
              </a:spcAft>
            </a:pPr>
            <a:r>
              <a:rPr sz="1350" b="0">
                <a:solidFill>
                  <a:srgbClr val="1F2A3A"/>
                </a:solidFill>
                <a:latin typeface="맑은 고딕"/>
                <a:ea typeface="맑은 고딕"/>
                <a:cs typeface="맑은 고딕"/>
              </a:rPr>
              <a:t>새 출처와 함께</a:t>
            </a:r>
          </a:p>
          <a:p>
            <a:pPr algn="ctr">
              <a:lnSpc>
                <a:spcPct val="110000"/>
              </a:lnSpc>
              <a:spcAft>
                <a:spcPts val="400"/>
              </a:spcAft>
            </a:pPr>
            <a:r>
              <a:rPr sz="1350" b="0">
                <a:solidFill>
                  <a:srgbClr val="1F2A3A"/>
                </a:solidFill>
                <a:latin typeface="맑은 고딕"/>
                <a:ea typeface="맑은 고딕"/>
                <a:cs typeface="맑은 고딕"/>
              </a:rPr>
              <a:t>그래프에 넣는다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기준의 구별</a:t>
            </a:r>
          </a:p>
          <a:p>
            <a:pPr algn="ctr">
              <a:lnSpc>
                <a:spcPct val="110000"/>
              </a:lnSpc>
              <a:spcAft>
                <a:spcPts val="400"/>
              </a:spcAft>
            </a:pPr>
            <a:r>
              <a:rPr sz="1350" b="0">
                <a:solidFill>
                  <a:srgbClr val="1F2A3A"/>
                </a:solidFill>
                <a:latin typeface="맑은 고딕"/>
                <a:ea typeface="맑은 고딕"/>
                <a:cs typeface="맑은 고딕"/>
              </a:rPr>
              <a:t>이전 기준과</a:t>
            </a:r>
          </a:p>
          <a:p>
            <a:pPr algn="ctr">
              <a:lnSpc>
                <a:spcPct val="110000"/>
              </a:lnSpc>
              <a:spcAft>
                <a:spcPts val="400"/>
              </a:spcAft>
            </a:pPr>
            <a:r>
              <a:rPr sz="1350" b="0">
                <a:solidFill>
                  <a:srgbClr val="1F2A3A"/>
                </a:solidFill>
                <a:latin typeface="맑은 고딕"/>
                <a:ea typeface="맑은 고딕"/>
                <a:cs typeface="맑은 고딕"/>
              </a:rPr>
              <a:t>새 기준을 출처로</a:t>
            </a:r>
          </a:p>
          <a:p>
            <a:pPr algn="ctr">
              <a:lnSpc>
                <a:spcPct val="110000"/>
              </a:lnSpc>
              <a:spcAft>
                <a:spcPts val="400"/>
              </a:spcAft>
            </a:pPr>
            <a:r>
              <a:rPr sz="1350" b="0">
                <a:solidFill>
                  <a:srgbClr val="1F2A3A"/>
                </a:solidFill>
                <a:latin typeface="맑은 고딕"/>
                <a:ea typeface="맑은 고딕"/>
                <a:cs typeface="맑은 고딕"/>
              </a:rPr>
              <a:t>가려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중복 확인</a:t>
            </a:r>
          </a:p>
          <a:p>
            <a:pPr algn="ctr">
              <a:lnSpc>
                <a:spcPct val="110000"/>
              </a:lnSpc>
              <a:spcAft>
                <a:spcPts val="400"/>
              </a:spcAft>
            </a:pPr>
            <a:r>
              <a:rPr sz="1350" b="0">
                <a:solidFill>
                  <a:srgbClr val="1F2A3A"/>
                </a:solidFill>
                <a:latin typeface="맑은 고딕"/>
                <a:ea typeface="맑은 고딕"/>
                <a:cs typeface="맑은 고딕"/>
              </a:rPr>
              <a:t>같은 대상이</a:t>
            </a:r>
          </a:p>
          <a:p>
            <a:pPr algn="ctr">
              <a:lnSpc>
                <a:spcPct val="110000"/>
              </a:lnSpc>
              <a:spcAft>
                <a:spcPts val="400"/>
              </a:spcAft>
            </a:pPr>
            <a:r>
              <a:rPr sz="1350" b="0">
                <a:solidFill>
                  <a:srgbClr val="1F2A3A"/>
                </a:solidFill>
                <a:latin typeface="맑은 고딕"/>
                <a:ea typeface="맑은 고딕"/>
                <a:cs typeface="맑은 고딕"/>
              </a:rPr>
              <a:t>둘로 들어가지</a:t>
            </a:r>
          </a:p>
          <a:p>
            <a:pPr algn="ctr">
              <a:lnSpc>
                <a:spcPct val="110000"/>
              </a:lnSpc>
              <a:spcAft>
                <a:spcPts val="400"/>
              </a:spcAft>
            </a:pPr>
            <a:r>
              <a:rPr sz="1350" b="0">
                <a:solidFill>
                  <a:srgbClr val="1F2A3A"/>
                </a:solidFill>
                <a:latin typeface="맑은 고딕"/>
                <a:ea typeface="맑은 고딕"/>
                <a:cs typeface="맑은 고딕"/>
              </a:rPr>
              <a:t>않았는지 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362906056853321532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a:t>
            </a:r>
          </a:p>
          <a:p>
            <a:pPr algn="ctr">
              <a:lnSpc>
                <a:spcPct val="110000"/>
              </a:lnSpc>
              <a:spcAft>
                <a:spcPts val="100"/>
              </a:spcAft>
            </a:pPr>
            <a:r>
              <a:rPr sz="1300" b="0">
                <a:solidFill>
                  <a:srgbClr val="556175"/>
                </a:solidFill>
                <a:latin typeface="맑은 고딕"/>
                <a:ea typeface="맑은 고딕"/>
                <a:cs typeface="맑은 고딕"/>
              </a:rPr>
              <a:t>온톨로지의 필요, 클래스</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스키마, 식별자,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1회차는 네 곳에 흩어진 정보를 노드와 이름 붙은 관계로 꺼내 적었고, 스키마의 정의와 제약이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712143726602654886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어긋난 것을 걸러 내는 제약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2회차의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2회차와 4회차의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6059617676990061457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그 값을 읽은 곳의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