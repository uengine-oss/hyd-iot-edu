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 설비 지식을 스키마로 정의하고 조치의 절차인 SOP를 그 지식에 연결했습니다. 오늘은 원인을 안 뒤에 조치 하나를 고르는 기준을 다루고, 네 개의 실습에서 결정표와 판정 기능과 선택 근거를 직접 만듭니다.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원인은 쿨러 핀 오염으로 확인되었습니다. 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오른쪽의 조치 결정을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수행하는 방법은 지난 시간에 SOP로 다루었고, 오늘은 나머지 두 물음을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SOP의 구성요소 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조건과 결과의 짝 하나를 규칙이라고 하며, 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띠가 이 표가 답할 물음이고 머리줄의 두 항목이 판단에 쓰는 입력입니다. 첫 행은 원격 조치를 원격 자동이 아닐 때 쓰지 않는다는 문장을 옮긴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24시간을 넘겼다면이라는 조건으로 보겠습니다.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출력은 세 가지 판정으로 나뉩니다.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쿨러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그래프의 65 ℃ 점선은 인터록 한계로, 유온이 이 값을 넘으면 PLC가 설비를 보호하려고 세웁니다.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팬 속도와 펌프 부하 같은 설비의 값을 바꿉니다.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후보의 순위는 예측 유온, 납기, 성과 지표 같은 항목의 점수를 더해 정했습니다. 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쿨러 사건에서는 먼저 팬 최대 운전으로 유온을 내리고 핀 세척은 뒤에 이어 했습니다. 성과 지표의 득실은 관점마다 둔 중요도에 따라 계산되므로, 관점의 중요도를 바꾸면 이 내역과 순위가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규칙과 지금 본 성과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납기까지 남은 시간 같은 상황이 달랐다면 순위도 달라집니다.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고장 유형과 조치에 이어 둔 SOP에서 조건 문장을 골라 결정표로 옮기는 실습입니다. 문장 하나가 한 행이 되고, 행마다 무엇을 무엇과 견주는지와 맞을 때의 출력을 적습니다. 옮긴 뒤에는 기준값과 그 바로 아래, 바로 위의 값을 대어 원문의 뜻과 같은지 확인합니다. 조건에 걸려 빠지는 조치는 어느 행에 걸렸는지를 사유로 함께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한 후보에 여러 행이 맞으면 맞은 판정을 모두 모으고, 제외가 하나라도 있으면 그 후보는 제외됩니다. 마지막 경우에 억지로 하나를 남기지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실습의 판정 기능이 남긴 후보를 성과로 견주는 실습입니다. 제외된 조치는 비교에 넣지 않고, 남은 후보마다 비용, 생산, 품질, 에너지 지표의 값을 한 표에 놓습니다. 1순위로 고른 후보가 무엇을 얻고 무엇을 잃는지를 그 값으로 적으면 추천 사유가 됩니다. 마지막으로 원인을 가린 추론과 조치를 고른 업무 결정이 서로 다른 근거를 쓴다는 점을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약어와 용어의 정식 명칭을 한곳에 모았습니다. 이 여섯과 함께 운전 모드, 제외와 감점과 경고, 전략 목표, 성과의 상충이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조건의 문장을 연산자로 옮겼을 때 기준값 자신이 어느 쪽에 드는지를 확인하는 문항입니다. 「넘겼다면」이 초과인지 이상인지를 먼저 정하고 24.0을 대어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팬을 건드리지 않더라도 부하를 낮추는 것이 원격 제어이므로 제외됩니다. 둘째 문항의 2번은 초과를 이상으로 읽은 것이고, 3번은 감점과 제외를 섞은 것입니다.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3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18.png"/><Relationship Id="rId5"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29.png"/><Relationship Id="rId5" Type="http://schemas.openxmlformats.org/officeDocument/2006/relationships/image" Target="../media/image39.png"/><Relationship Id="rId6"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7.png"/><Relationship Id="rId5" Type="http://schemas.openxmlformats.org/officeDocument/2006/relationships/image" Target="../media/image41.png"/><Relationship Id="rId6" Type="http://schemas.openxmlformats.org/officeDocument/2006/relationships/image" Target="../media/image4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규칙과 성과를 고려한</a:t>
            </a:r>
          </a:p>
          <a:p>
            <a:pPr algn="l">
              <a:lnSpc>
                <a:spcPct val="110000"/>
              </a:lnSpc>
            </a:pPr>
            <a:r>
              <a:rPr sz="4000" b="1">
                <a:solidFill>
                  <a:srgbClr val="FFFFFF"/>
                </a:solidFill>
                <a:latin typeface="맑은 고딕"/>
                <a:ea typeface="맑은 고딕"/>
                <a:cs typeface="맑은 고딕"/>
              </a:rPr>
              <a:t>적절한 조치의 판단</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SOP와 DMN, 결정표, BSC와 KPI, What-if 분석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able" descr="tab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ale" descr="sca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art-bar" descr="chart-bar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해도 되는 조치를 규칙으로 가리고 남은 후보를 성과로 견주어 조치 하나를 고르는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절차와 규칙</a:t>
            </a:r>
          </a:p>
          <a:p>
            <a:pPr algn="l">
              <a:lnSpc>
                <a:spcPct val="110000"/>
              </a:lnSpc>
              <a:spcAft>
                <a:spcPts val="400"/>
              </a:spcAft>
            </a:pPr>
            <a:r>
              <a:rPr sz="1350" b="0">
                <a:solidFill>
                  <a:srgbClr val="1F2A3A"/>
                </a:solidFill>
                <a:latin typeface="맑은 고딕"/>
                <a:ea typeface="맑은 고딕"/>
                <a:cs typeface="맑은 고딕"/>
              </a:rPr>
              <a:t>SOP가 정하는 순서와 DMN이 정하는 조건을 구분한다</a:t>
            </a:r>
          </a:p>
        </p:txBody>
      </p:sp>
      <p:sp>
        <p:nvSpPr>
          <p:cNvPr id="10" name="Rounded Rectangle 9"/>
          <p:cNvSpPr/>
          <p:nvPr/>
        </p:nvSpPr>
        <p:spPr>
          <a:xfrm>
            <a:off x="777240" y="5238940"/>
            <a:ext cx="11765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SOP · DMN</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결정표와 제외</a:t>
            </a:r>
          </a:p>
          <a:p>
            <a:pPr algn="l">
              <a:lnSpc>
                <a:spcPct val="110000"/>
              </a:lnSpc>
              <a:spcAft>
                <a:spcPts val="400"/>
              </a:spcAft>
            </a:pPr>
            <a:r>
              <a:rPr sz="1350" b="0">
                <a:solidFill>
                  <a:srgbClr val="1F2A3A"/>
                </a:solidFill>
                <a:latin typeface="맑은 고딕"/>
                <a:ea typeface="맑은 고딕"/>
                <a:cs typeface="맑은 고딕"/>
              </a:rPr>
              <a:t>조건 문장을 결정표의 행으로 읽고 제외, 감점, 경고를 가린다</a:t>
            </a:r>
          </a:p>
        </p:txBody>
      </p:sp>
      <p:sp>
        <p:nvSpPr>
          <p:cNvPr id="16" name="Rounded Rectangle 15"/>
          <p:cNvSpPr/>
          <p:nvPr/>
        </p:nvSpPr>
        <p:spPr>
          <a:xfrm>
            <a:off x="3619423" y="523894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성과의 비교</a:t>
            </a:r>
          </a:p>
          <a:p>
            <a:pPr algn="l">
              <a:lnSpc>
                <a:spcPct val="110000"/>
              </a:lnSpc>
              <a:spcAft>
                <a:spcPts val="400"/>
              </a:spcAft>
            </a:pPr>
            <a:r>
              <a:rPr sz="1350" b="0">
                <a:solidFill>
                  <a:srgbClr val="1F2A3A"/>
                </a:solidFill>
                <a:latin typeface="맑은 고딕"/>
                <a:ea typeface="맑은 고딕"/>
                <a:cs typeface="맑은 고딕"/>
              </a:rPr>
              <a:t>• BSC의 네 관점과 KPI로 조치의 득실을 견준다</a:t>
            </a:r>
          </a:p>
          <a:p>
            <a:pPr algn="l">
              <a:lnSpc>
                <a:spcPct val="110000"/>
              </a:lnSpc>
              <a:spcAft>
                <a:spcPts val="400"/>
              </a:spcAft>
            </a:pPr>
            <a:r>
              <a:rPr sz="1350" b="0">
                <a:solidFill>
                  <a:srgbClr val="1F2A3A"/>
                </a:solidFill>
                <a:latin typeface="맑은 고딕"/>
                <a:ea typeface="맑은 고딕"/>
                <a:cs typeface="맑은 고딕"/>
              </a:rPr>
              <a:t>• What-if 분석으로 조건이 달랐을 때의 순위를 본다</a:t>
            </a:r>
          </a:p>
        </p:txBody>
      </p:sp>
      <p:sp>
        <p:nvSpPr>
          <p:cNvPr id="22" name="Rounded Rectangle 21"/>
          <p:cNvSpPr/>
          <p:nvPr/>
        </p:nvSpPr>
        <p:spPr>
          <a:xfrm>
            <a:off x="6461607" y="523894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판단하기</a:t>
            </a:r>
          </a:p>
          <a:p>
            <a:pPr algn="l">
              <a:lnSpc>
                <a:spcPct val="110000"/>
              </a:lnSpc>
              <a:spcAft>
                <a:spcPts val="400"/>
              </a:spcAft>
            </a:pPr>
            <a:r>
              <a:rPr sz="1350" b="0">
                <a:solidFill>
                  <a:srgbClr val="1F2A3A"/>
                </a:solidFill>
                <a:latin typeface="맑은 고딕"/>
                <a:ea typeface="맑은 고딕"/>
                <a:cs typeface="맑은 고딕"/>
              </a:rPr>
              <a:t>• 조건을 결정표로 옮기고 판정 기능을 만든다</a:t>
            </a:r>
          </a:p>
          <a:p>
            <a:pPr algn="l">
              <a:lnSpc>
                <a:spcPct val="110000"/>
              </a:lnSpc>
              <a:spcAft>
                <a:spcPts val="400"/>
              </a:spcAft>
            </a:pPr>
            <a:r>
              <a:rPr sz="1350" b="0">
                <a:solidFill>
                  <a:srgbClr val="1F2A3A"/>
                </a:solidFill>
                <a:latin typeface="맑은 고딕"/>
                <a:ea typeface="맑은 고딕"/>
                <a:cs typeface="맑은 고딕"/>
              </a:rPr>
              <a:t>• 통과한 후보를 지표로 견주어 추천 사유를 쓴다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조건을 결정표로 옮기기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 조건과 성과 기준에 따른 조치 결과 비교</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조건을 반영하는 판단 기능 만들기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비용과 효과를 고려한 조치 선택 근거 완성하기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해도 되는 조치를 규칙으로 가리고 남은 후보를 성과로 견주는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전체.svg" descr="illust_607711994217555920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0" name="TextBox 9"/>
          <p:cNvSpPr txBox="1"/>
          <p:nvPr/>
        </p:nvSpPr>
        <p:spPr>
          <a:xfrm>
            <a:off x="8550483" y="3234964"/>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11" name="TextBox 10"/>
          <p:cNvSpPr txBox="1"/>
          <p:nvPr/>
        </p:nvSpPr>
        <p:spPr>
          <a:xfrm>
            <a:off x="8550483" y="4402643"/>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a:p>
            <a:pPr algn="ctr">
              <a:lnSpc>
                <a:spcPct val="110000"/>
              </a:lnSpc>
              <a:spcAft>
                <a:spcPts val="100"/>
              </a:spcAft>
            </a:pPr>
            <a:r>
              <a:rPr sz="1300" b="0">
                <a:solidFill>
                  <a:srgbClr val="556175"/>
                </a:solidFill>
                <a:latin typeface="맑은 고딕"/>
                <a:ea typeface="맑은 고딕"/>
                <a:cs typeface="맑은 고딕"/>
              </a:rPr>
              <a:t>SOP-COOL-13</a:t>
            </a:r>
          </a:p>
        </p:txBody>
      </p:sp>
      <p:sp>
        <p:nvSpPr>
          <p:cNvPr id="12" name="TextBox 11"/>
          <p:cNvSpPr txBox="1"/>
          <p:nvPr/>
        </p:nvSpPr>
        <p:spPr>
          <a:xfrm>
            <a:off x="8550483" y="5565596"/>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SOP-COOL-14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운전모드_0.svg" descr="illust_371745309206087150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운전모드_3.svg" descr="illust_875855707441388562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결정표_6.svg" descr="illust_219534242922048193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수직선_gt.svg" descr="illust_342261814106767036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 62.5 ℃</a:t>
            </a:r>
          </a:p>
          <a:p>
            <a:pPr algn="l">
              <a:lnSpc>
                <a:spcPct val="110000"/>
              </a:lnSpc>
              <a:spcAft>
                <a:spcPts val="400"/>
              </a:spcAft>
            </a:pPr>
            <a:r>
              <a:rPr sz="1400" b="0">
                <a:solidFill>
                  <a:srgbClr val="1F2A3A"/>
                </a:solidFill>
                <a:latin typeface="맑은 고딕"/>
                <a:ea typeface="맑은 고딕"/>
                <a:cs typeface="맑은 고딕"/>
              </a:rPr>
              <a:t>인터록 한계 65 ℃: 넘으면</a:t>
            </a:r>
          </a:p>
          <a:p>
            <a:pPr algn="l">
              <a:lnSpc>
                <a:spcPct val="110000"/>
              </a:lnSpc>
              <a:spcAft>
                <a:spcPts val="400"/>
              </a:spcAft>
            </a:pPr>
            <a:r>
              <a:rPr sz="1400" b="0">
                <a:solidFill>
                  <a:srgbClr val="1F2A3A"/>
                </a:solidFill>
                <a:latin typeface="맑은 고딕"/>
                <a:ea typeface="맑은 고딕"/>
                <a:cs typeface="맑은 고딕"/>
              </a:rPr>
              <a:t>PLC가 설비를 세운다</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성과경로_5.svg" descr="illust_126389727220226743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가정분석_2.svg" descr="illust_463656888262546765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조치 조건을 결정표로 옮기기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SOP의 허용, 금지, 경계 조건을 결정표의 행으로 옮기고 제외되는 조치의 사유를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옮기는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SOP의 조건 문장을 결정표의 행으로 옮겨 두면 어느 조치가 어떤 조건에 걸려 제외되는지가 기록으로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 고르기</a:t>
            </a:r>
          </a:p>
          <a:p>
            <a:pPr algn="ctr">
              <a:lnSpc>
                <a:spcPct val="110000"/>
              </a:lnSpc>
              <a:spcAft>
                <a:spcPts val="400"/>
              </a:spcAft>
            </a:pPr>
            <a:r>
              <a:rPr sz="1350" b="0">
                <a:solidFill>
                  <a:srgbClr val="1F2A3A"/>
                </a:solidFill>
                <a:latin typeface="맑은 고딕"/>
                <a:ea typeface="맑은 고딕"/>
                <a:cs typeface="맑은 고딕"/>
              </a:rPr>
              <a:t>SOP에서</a:t>
            </a:r>
          </a:p>
          <a:p>
            <a:pPr algn="ctr">
              <a:lnSpc>
                <a:spcPct val="110000"/>
              </a:lnSpc>
              <a:spcAft>
                <a:spcPts val="400"/>
              </a:spcAft>
            </a:pPr>
            <a:r>
              <a:rPr sz="1350" b="0">
                <a:solidFill>
                  <a:srgbClr val="1F2A3A"/>
                </a:solidFill>
                <a:latin typeface="맑은 고딕"/>
                <a:ea typeface="맑은 고딕"/>
                <a:cs typeface="맑은 고딕"/>
              </a:rPr>
              <a:t>써도 되는 때와</a:t>
            </a:r>
          </a:p>
          <a:p>
            <a:pPr algn="ctr">
              <a:lnSpc>
                <a:spcPct val="110000"/>
              </a:lnSpc>
              <a:spcAft>
                <a:spcPts val="400"/>
              </a:spcAft>
            </a:pPr>
            <a:r>
              <a:rPr sz="1350" b="0">
                <a:solidFill>
                  <a:srgbClr val="1F2A3A"/>
                </a:solidFill>
                <a:latin typeface="맑은 고딕"/>
                <a:ea typeface="맑은 고딕"/>
                <a:cs typeface="맑은 고딕"/>
              </a:rPr>
              <a:t>안 되는 때의</a:t>
            </a:r>
          </a:p>
          <a:p>
            <a:pPr algn="ctr">
              <a:lnSpc>
                <a:spcPct val="110000"/>
              </a:lnSpc>
              <a:spcAft>
                <a:spcPts val="400"/>
              </a:spcAft>
            </a:pPr>
            <a:r>
              <a:rPr sz="1350" b="0">
                <a:solidFill>
                  <a:srgbClr val="1F2A3A"/>
                </a:solidFill>
                <a:latin typeface="맑은 고딕"/>
                <a:ea typeface="맑은 고딕"/>
                <a:cs typeface="맑은 고딕"/>
              </a:rPr>
              <a:t>문장을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문장마다</a:t>
            </a:r>
          </a:p>
          <a:p>
            <a:pPr algn="ctr">
              <a:lnSpc>
                <a:spcPct val="110000"/>
              </a:lnSpc>
              <a:spcAft>
                <a:spcPts val="400"/>
              </a:spcAft>
            </a:pPr>
            <a:r>
              <a:rPr sz="1350" b="0">
                <a:solidFill>
                  <a:srgbClr val="1F2A3A"/>
                </a:solidFill>
                <a:latin typeface="맑은 고딕"/>
                <a:ea typeface="맑은 고딕"/>
                <a:cs typeface="맑은 고딕"/>
              </a:rPr>
              <a:t>입력, 비교 기호, 기준값과</a:t>
            </a:r>
          </a:p>
          <a:p>
            <a:pPr algn="ctr">
              <a:lnSpc>
                <a:spcPct val="110000"/>
              </a:lnSpc>
              <a:spcAft>
                <a:spcPts val="400"/>
              </a:spcAft>
            </a:pPr>
            <a:r>
              <a:rPr sz="1350" b="0">
                <a:solidFill>
                  <a:srgbClr val="1F2A3A"/>
                </a:solidFill>
                <a:latin typeface="맑은 고딕"/>
                <a:ea typeface="맑은 고딕"/>
                <a:cs typeface="맑은 고딕"/>
              </a:rPr>
              <a:t>출력의 행으로</a:t>
            </a:r>
          </a:p>
          <a:p>
            <a:pPr algn="ctr">
              <a:lnSpc>
                <a:spcPct val="110000"/>
              </a:lnSpc>
              <a:spcAft>
                <a:spcPts val="400"/>
              </a:spcAft>
            </a:pPr>
            <a:r>
              <a:rPr sz="1350" b="0">
                <a:solidFill>
                  <a:srgbClr val="1F2A3A"/>
                </a:solidFill>
                <a:latin typeface="맑은 고딕"/>
                <a:ea typeface="맑은 고딕"/>
                <a:cs typeface="맑은 고딕"/>
              </a:rPr>
              <a:t>옮긴다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uler-measure" descr="ruler-measur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경계 확인</a:t>
            </a:r>
          </a:p>
          <a:p>
            <a:pPr algn="ctr">
              <a:lnSpc>
                <a:spcPct val="110000"/>
              </a:lnSpc>
              <a:spcAft>
                <a:spcPts val="400"/>
              </a:spcAft>
            </a:pPr>
            <a:r>
              <a:rPr sz="1350" b="0">
                <a:solidFill>
                  <a:srgbClr val="1F2A3A"/>
                </a:solidFill>
                <a:latin typeface="맑은 고딕"/>
                <a:ea typeface="맑은 고딕"/>
                <a:cs typeface="맑은 고딕"/>
              </a:rPr>
              <a:t>기준값과</a:t>
            </a:r>
          </a:p>
          <a:p>
            <a:pPr algn="ctr">
              <a:lnSpc>
                <a:spcPct val="110000"/>
              </a:lnSpc>
              <a:spcAft>
                <a:spcPts val="400"/>
              </a:spcAft>
            </a:pPr>
            <a:r>
              <a:rPr sz="1350" b="0">
                <a:solidFill>
                  <a:srgbClr val="1F2A3A"/>
                </a:solidFill>
                <a:latin typeface="맑은 고딕"/>
                <a:ea typeface="맑은 고딕"/>
                <a:cs typeface="맑은 고딕"/>
              </a:rPr>
              <a:t>바로 아래, 바로 위의</a:t>
            </a:r>
          </a:p>
          <a:p>
            <a:pPr algn="ctr">
              <a:lnSpc>
                <a:spcPct val="110000"/>
              </a:lnSpc>
              <a:spcAft>
                <a:spcPts val="400"/>
              </a:spcAft>
            </a:pPr>
            <a:r>
              <a:rPr sz="1350" b="0">
                <a:solidFill>
                  <a:srgbClr val="1F2A3A"/>
                </a:solidFill>
                <a:latin typeface="맑은 고딕"/>
                <a:ea typeface="맑은 고딕"/>
                <a:cs typeface="맑은 고딕"/>
              </a:rPr>
              <a:t>값을 대어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제외 사유 기록</a:t>
            </a:r>
          </a:p>
          <a:p>
            <a:pPr algn="ctr">
              <a:lnSpc>
                <a:spcPct val="110000"/>
              </a:lnSpc>
              <a:spcAft>
                <a:spcPts val="400"/>
              </a:spcAft>
            </a:pPr>
            <a:r>
              <a:rPr sz="1350" b="0">
                <a:solidFill>
                  <a:srgbClr val="1F2A3A"/>
                </a:solidFill>
                <a:latin typeface="맑은 고딕"/>
                <a:ea typeface="맑은 고딕"/>
                <a:cs typeface="맑은 고딕"/>
              </a:rPr>
              <a:t>조건에 걸려</a:t>
            </a:r>
          </a:p>
          <a:p>
            <a:pPr algn="ctr">
              <a:lnSpc>
                <a:spcPct val="110000"/>
              </a:lnSpc>
              <a:spcAft>
                <a:spcPts val="400"/>
              </a:spcAft>
            </a:pPr>
            <a:r>
              <a:rPr sz="1350" b="0">
                <a:solidFill>
                  <a:srgbClr val="1F2A3A"/>
                </a:solidFill>
                <a:latin typeface="맑은 고딕"/>
                <a:ea typeface="맑은 고딕"/>
                <a:cs typeface="맑은 고딕"/>
              </a:rPr>
              <a:t>빠지는 조치와</a:t>
            </a:r>
          </a:p>
          <a:p>
            <a:pPr algn="ctr">
              <a:lnSpc>
                <a:spcPct val="110000"/>
              </a:lnSpc>
              <a:spcAft>
                <a:spcPts val="400"/>
              </a:spcAft>
            </a:pPr>
            <a:r>
              <a:rPr sz="1350" b="0">
                <a:solidFill>
                  <a:srgbClr val="1F2A3A"/>
                </a:solidFill>
                <a:latin typeface="맑은 고딕"/>
                <a:ea typeface="맑은 고딕"/>
                <a:cs typeface="맑은 고딕"/>
              </a:rPr>
              <a:t>그 사유를 적는다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조건을 반영하는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결정표에 온도, 압력, 설비 상태의 조합을 대어 조치의 허용과 제외를 가르는 기능을 만든다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온도, 압력, 설비 상태의 조합으로 조치의 허용과 제외를 가르고 근거를 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남는다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남는 후보가 없다고 알리고 제외 사유를 보여 주어야 한다</a:t>
            </a:r>
          </a:p>
        </p:txBody>
      </p:sp>
      <p:sp>
        <p:nvSpPr>
          <p:cNvPr id="28" name="Rounded Rectangle 27"/>
          <p:cNvSpPr/>
          <p:nvPr/>
        </p:nvSpPr>
        <p:spPr>
          <a:xfrm>
            <a:off x="9303791" y="523894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비용과 효과를 고려한 조치 선택 근거 완성하기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후보를 비용, 생산, 품질, 에너지 지표로 견주어 추천 사유를 만든다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후보만을 비용, 생산, 품질, 에너지 지표로 견준 결과표가 추천 사유의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후보를 추린다</a:t>
            </a:r>
          </a:p>
          <a:p>
            <a:pPr algn="l">
              <a:lnSpc>
                <a:spcPct val="110000"/>
              </a:lnSpc>
              <a:spcAft>
                <a:spcPts val="400"/>
              </a:spcAft>
            </a:pPr>
            <a:r>
              <a:rPr sz="1350" b="0">
                <a:solidFill>
                  <a:srgbClr val="1F2A3A"/>
                </a:solidFill>
                <a:latin typeface="맑은 고딕"/>
                <a:ea typeface="맑은 고딕"/>
                <a:cs typeface="맑은 고딕"/>
              </a:rPr>
              <a:t>제외된 조치를 빼고 규칙을 통과한 후보만 남긴다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hart-bar" descr="chart-ba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지표로 견준다</a:t>
            </a:r>
          </a:p>
          <a:p>
            <a:pPr algn="l">
              <a:lnSpc>
                <a:spcPct val="110000"/>
              </a:lnSpc>
              <a:spcAft>
                <a:spcPts val="400"/>
              </a:spcAft>
            </a:pPr>
            <a:r>
              <a:rPr sz="1350" b="0">
                <a:solidFill>
                  <a:srgbClr val="1F2A3A"/>
                </a:solidFill>
                <a:latin typeface="맑은 고딕"/>
                <a:ea typeface="맑은 고딕"/>
                <a:cs typeface="맑은 고딕"/>
              </a:rPr>
              <a:t>후보마다 비용, 생산, 품질, 에너지 지표의 값을 나란히 놓는다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결과표</a:t>
            </a:r>
          </a:p>
        </p:txBody>
      </p:sp>
      <p:sp>
        <p:nvSpPr>
          <p:cNvPr id="18" name="Rounded Rectangle 17"/>
          <p:cNvSpPr/>
          <p:nvPr/>
        </p:nvSpPr>
        <p:spPr>
          <a:xfrm>
            <a:off x="6233007"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사유를 쓴다</a:t>
            </a:r>
          </a:p>
          <a:p>
            <a:pPr algn="l">
              <a:lnSpc>
                <a:spcPct val="110000"/>
              </a:lnSpc>
              <a:spcAft>
                <a:spcPts val="400"/>
              </a:spcAft>
            </a:pPr>
            <a:r>
              <a:rPr sz="1350" b="0">
                <a:solidFill>
                  <a:srgbClr val="1F2A3A"/>
                </a:solidFill>
                <a:latin typeface="맑은 고딕"/>
                <a:ea typeface="맑은 고딕"/>
                <a:cs typeface="맑은 고딕"/>
              </a:rPr>
              <a:t>1순위 후보가 얻는 것과 잃는 것을 지표의 값으로 적는다</a:t>
            </a:r>
          </a:p>
        </p:txBody>
      </p:sp>
      <p:sp>
        <p:nvSpPr>
          <p:cNvPr id="22" name="Rounded Rectangle 21"/>
          <p:cNvSpPr/>
          <p:nvPr/>
        </p:nvSpPr>
        <p:spPr>
          <a:xfrm>
            <a:off x="6461607" y="5029771"/>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판단을 가른다</a:t>
            </a:r>
          </a:p>
          <a:p>
            <a:pPr algn="l">
              <a:lnSpc>
                <a:spcPct val="110000"/>
              </a:lnSpc>
              <a:spcAft>
                <a:spcPts val="400"/>
              </a:spcAft>
            </a:pPr>
            <a:r>
              <a:rPr sz="1350" b="0">
                <a:solidFill>
                  <a:srgbClr val="1F2A3A"/>
                </a:solidFill>
                <a:latin typeface="맑은 고딕"/>
                <a:ea typeface="맑은 고딕"/>
                <a:cs typeface="맑은 고딕"/>
              </a:rPr>
              <a:t>원인을 가린 추론과 조치를 고른 업무 결정을 나누어 적는다</a:t>
            </a:r>
          </a:p>
        </p:txBody>
      </p:sp>
      <p:sp>
        <p:nvSpPr>
          <p:cNvPr id="28" name="Rounded Rectangle 27"/>
          <p:cNvSpPr/>
          <p:nvPr/>
        </p:nvSpPr>
        <p:spPr>
          <a:xfrm>
            <a:off x="9303791" y="5029771"/>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Table</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조건과 결과의 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What-if 분석</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본 순위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기준값에 꼭 맞는 값의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「24시간을 넘겼다면 감점한다」를 fan100_hours &gt; 24로 옮겼고, 지금의 값은 정확히 24.0시간이다.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「팬 최대 운전」에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조건에 맞지 않으므로 감점하지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24시간에 닿았으므로 감점 20만 원을 붙인다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조건에 걸렸으므로 후보에서 제외한다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값이 기준값과 같으므로 판정할 수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경계에 놓인 값의 판정,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「넘겼다면」은 초과이다. 기준값 24.0은 조건에 맞지 않으므로 감점이 붙지 않는다.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