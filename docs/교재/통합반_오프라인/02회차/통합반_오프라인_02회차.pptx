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설비 정보를 클래스와 인스턴스와 관계로 나누어 표현했습니다. 오늘은 그 구조를 스키마로 정의하고 그래프 DB에 넣는 방법을 다루고, 네 개의 실습에서 직접 구현합니다.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적힌 센서 클래스의 정의입니다. 영문 이름, 한글 이름, 설명 뒤에 속성 목록이 오고, 지난 시간에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온톨로지가 정의하는 네 가지의 하나로 든 제약이 스키마에서는 이렇게 구체적인 조건이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지난 시간에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말을 한 줄씩 맞추었습니다. DB 제약은 데이터를 저장하는 순간에 데이터베이스가 직접 검사하는 조건입니다. 온톨로지 스키마는 지식이 어떤 모양이어야 하는가를 정한 정의이고, Neo4j의 레이블과 제약은 그 정의를 도구 안에 옮겨 놓은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시간의 조회 실습에서 적은 문장이 Cypher 질의였습니다.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그래프에는 설비와 센서만이 아니라 조치를 수행하는 방법도 들어갑니다.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지난 시간에 본 팬 최대 운전과 쿨러 핀 세척이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여섯 가지가 더 붙습니다. 위에서부터 적용 대상, 전제 조건, 수행 단계, 담당 역할, 안전 조건, 완료 확인 기준, 금지 사항입니다.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SOP가 지식 그래프에 어떻게 들어 있는지 보겠습니다. SOP 한 편은 조치 방법 노드 하나이고 클래스 이름은 Skill입니다. 조치 방법은 원인이 아니라 고장 유형에 이어져 있어서 한 고장 유형에 여럿이 붙습니다. MITIGATED_BY는 유온을 당장 내리는 완화 조치에, REMEDIED_BY는 원인을 없애는 조치에 붙는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만든 schema.json을 제공된 설비, 부품, 센서 자료로 이어서 보완합니다. 같은 대상이 두 번 들어가지 않게 하는 규칙도 함께 정합니다.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Claude Code가 만든 질의를 실행하기 전에 읽어 봅니다. 노드를 식별자로 MERGE하는지, 관계의 방향이 스키마의 정의와 같은지는 오늘 배운 것으로 확인할 수 있습니다. 넣은 뒤에는 MATCH로 노드와 관계의 수를 세어 설계한 수와 같은지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새로 생겼을 때 더하는 것은 클래스가 아니라 인스턴스입니다. 부품을 함께 쓰면 부품 인스턴스 하나에 두 설비 쪽의 관계가 모이고, 센서가 여럿이면 센서마다 인스턴스와 관계가 생깁니다. 같은 질의를 두 설비에 실행해 결과가 같은 모양으로 나오는지 견줍니다. 스키마를 다시 만들지 않았는데도 질의가 그대로 통하는지가 확인할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만든 설비 모델에 고장 유형과 조치 방법을 연결합니다. 제공된 SOP에서 전제 조건과 안전 조건과 금지 사항을 뽑아 조치 방법에 이어 붙입니다. 끝나면 고장 유형에서 조치 방법을 거쳐 그 조치의 전제와 금지 사항까지 따라갈 수 있는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다섯은 지식을 정의하는 쪽의 말이고, 레이블과 질의는 그래프 DB 쪽의 말이며, 마지막은 작업 절차의 약어입니다.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화살표가 어느 노드에서 나와 어느 노드로 들어가는지를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같은 노드로 볼지를 괄호 안에 적은 것이 정한다는 점을 확인하는 문항입니다. 보기마다 먼저 찾아보는 문장인지, 찾을 때 무엇을 기준으로 삼는지를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대상마다 클래스를 만드는 실수입니다. 둘째 문항의 1번은 방향이 반대이고, 3번은 관계 유형이 다르며, 4번은 둥근 괄호와 대괄호를 바꾸어 썼습니다. 셋째 문항의 1번과 3번은 찾아보지 않고 새로 만들고, 2번은 고친 이름까지 같아야 찾으므로 있던 노드를 찾지 못합니다.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2.png"/><Relationship Id="rId6"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6.png"/><Relationship Id="rId6"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0.png"/><Relationship Id="rId4" Type="http://schemas.openxmlformats.org/officeDocument/2006/relationships/image" Target="../media/image33.png"/><Relationship Id="rId5" Type="http://schemas.openxmlformats.org/officeDocument/2006/relationships/image" Target="../media/image35.png"/><Relationship Id="rId6"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2회차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재사용 가능한 설비 지식 구조</a:t>
            </a:r>
          </a:p>
          <a:p>
            <a:pPr algn="l">
              <a:lnSpc>
                <a:spcPct val="110000"/>
              </a:lnSpc>
            </a:pPr>
            <a:r>
              <a:rPr sz="4000" b="1">
                <a:solidFill>
                  <a:srgbClr val="FFFFFF"/>
                </a:solidFill>
                <a:latin typeface="맑은 고딕"/>
                <a:ea typeface="맑은 고딕"/>
                <a:cs typeface="맑은 고딕"/>
              </a:rPr>
              <a:t>스키마의 설계와 그래프 DB 구현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식별자와 제약, 새 설비로의 확장, 작업 절차의 연결</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schema" descr="schema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database-import" descr="database-impor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nk" descr="lin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지식의 구조를 스키마로 정의해 그래프 DB에 넣고, 같은 구조를 새 설비와 작업 절차에 다시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8031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633929"/>
            <a:ext cx="424281" cy="424281"/>
          </a:xfrm>
          <a:prstGeom prst="rect">
            <a:avLst/>
          </a:prstGeom>
        </p:spPr>
      </p:pic>
      <p:sp>
        <p:nvSpPr>
          <p:cNvPr id="9" name="TextBox 8"/>
          <p:cNvSpPr txBox="1"/>
          <p:nvPr/>
        </p:nvSpPr>
        <p:spPr>
          <a:xfrm>
            <a:off x="713232"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스키마와 데이터</a:t>
            </a:r>
          </a:p>
          <a:p>
            <a:pPr algn="l">
              <a:lnSpc>
                <a:spcPct val="110000"/>
              </a:lnSpc>
              <a:spcAft>
                <a:spcPts val="400"/>
              </a:spcAft>
            </a:pPr>
            <a:r>
              <a:rPr sz="1350" b="0">
                <a:solidFill>
                  <a:srgbClr val="1F2A3A"/>
                </a:solidFill>
                <a:latin typeface="맑은 고딕"/>
                <a:ea typeface="맑은 고딕"/>
                <a:cs typeface="맑은 고딕"/>
              </a:rPr>
              <a:t>스키마가 정하는 것과 인스턴스 데이터가 담는 것을 구분한다</a:t>
            </a:r>
          </a:p>
        </p:txBody>
      </p:sp>
      <p:sp>
        <p:nvSpPr>
          <p:cNvPr id="10" name="Rounded Rectangle 9"/>
          <p:cNvSpPr/>
          <p:nvPr/>
        </p:nvSpPr>
        <p:spPr>
          <a:xfrm>
            <a:off x="777240" y="52738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80310"/>
            <a:ext cx="731520" cy="731520"/>
          </a:xfrm>
          <a:prstGeom prst="ellipse">
            <a:avLst/>
          </a:prstGeom>
          <a:solidFill>
            <a:srgbClr val="E7F3FD"/>
          </a:solidFill>
          <a:ln>
            <a:noFill/>
          </a:ln>
        </p:spPr>
        <p:txBody>
          <a:bodyPr rtlCol="0" anchor="ctr"/>
          <a:lstStyle/>
          <a:p>
            <a:pPr algn="ctr"/>
          </a:p>
        </p:txBody>
      </p:sp>
      <p:pic>
        <p:nvPicPr>
          <p:cNvPr id="14" name="아이콘:forms" descr="forms_13294B_1.6.png"/>
          <p:cNvPicPr>
            <a:picLocks noChangeAspect="1"/>
          </p:cNvPicPr>
          <p:nvPr/>
        </p:nvPicPr>
        <p:blipFill>
          <a:blip r:embed="rId4"/>
          <a:stretch>
            <a:fillRect/>
          </a:stretch>
        </p:blipFill>
        <p:spPr>
          <a:xfrm>
            <a:off x="3773043" y="2633929"/>
            <a:ext cx="424281" cy="424281"/>
          </a:xfrm>
          <a:prstGeom prst="rect">
            <a:avLst/>
          </a:prstGeom>
        </p:spPr>
      </p:pic>
      <p:sp>
        <p:nvSpPr>
          <p:cNvPr id="15" name="TextBox 14"/>
          <p:cNvSpPr txBox="1"/>
          <p:nvPr/>
        </p:nvSpPr>
        <p:spPr>
          <a:xfrm>
            <a:off x="3555415"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정의의 요소</a:t>
            </a:r>
          </a:p>
          <a:p>
            <a:pPr algn="l">
              <a:lnSpc>
                <a:spcPct val="110000"/>
              </a:lnSpc>
              <a:spcAft>
                <a:spcPts val="400"/>
              </a:spcAft>
            </a:pPr>
            <a:r>
              <a:rPr sz="1350" b="0">
                <a:solidFill>
                  <a:srgbClr val="1F2A3A"/>
                </a:solidFill>
                <a:latin typeface="맑은 고딕"/>
                <a:ea typeface="맑은 고딕"/>
                <a:cs typeface="맑은 고딕"/>
              </a:rPr>
              <a:t>자료형, 필수 여부, 식별자, 카디널리티, 제약으로 클래스와 관계를 정의한다</a:t>
            </a:r>
          </a:p>
        </p:txBody>
      </p:sp>
      <p:sp>
        <p:nvSpPr>
          <p:cNvPr id="16" name="Rounded Rectangle 15"/>
          <p:cNvSpPr/>
          <p:nvPr/>
        </p:nvSpPr>
        <p:spPr>
          <a:xfrm>
            <a:off x="3619423" y="52738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279141"/>
            <a:ext cx="2567863" cy="34244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80310"/>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633929"/>
            <a:ext cx="424281" cy="424281"/>
          </a:xfrm>
          <a:prstGeom prst="rect">
            <a:avLst/>
          </a:prstGeom>
        </p:spPr>
      </p:pic>
      <p:sp>
        <p:nvSpPr>
          <p:cNvPr id="21" name="TextBox 20"/>
          <p:cNvSpPr txBox="1"/>
          <p:nvPr/>
        </p:nvSpPr>
        <p:spPr>
          <a:xfrm>
            <a:off x="6397599"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 Cypher</a:t>
            </a:r>
          </a:p>
          <a:p>
            <a:pPr algn="l">
              <a:lnSpc>
                <a:spcPct val="110000"/>
              </a:lnSpc>
              <a:spcAft>
                <a:spcPts val="400"/>
              </a:spcAft>
            </a:pPr>
            <a:r>
              <a:rPr sz="1350" b="0">
                <a:solidFill>
                  <a:srgbClr val="1F2A3A"/>
                </a:solidFill>
                <a:latin typeface="맑은 고딕"/>
                <a:ea typeface="맑은 고딕"/>
                <a:cs typeface="맑은 고딕"/>
              </a:rPr>
              <a:t>• 스키마를 그래프 DB에 옮긴다</a:t>
            </a:r>
          </a:p>
          <a:p>
            <a:pPr algn="l">
              <a:lnSpc>
                <a:spcPct val="110000"/>
              </a:lnSpc>
              <a:spcAft>
                <a:spcPts val="400"/>
              </a:spcAft>
            </a:pPr>
            <a:r>
              <a:rPr sz="1350" b="0">
                <a:solidFill>
                  <a:srgbClr val="1F2A3A"/>
                </a:solidFill>
                <a:latin typeface="맑은 고딕"/>
                <a:ea typeface="맑은 고딕"/>
                <a:cs typeface="맑은 고딕"/>
              </a:rPr>
              <a:t>• MATCH로 조회하고 MERGE로 만든다</a:t>
            </a:r>
          </a:p>
        </p:txBody>
      </p:sp>
      <p:sp>
        <p:nvSpPr>
          <p:cNvPr id="22" name="Rounded Rectangle 21"/>
          <p:cNvSpPr/>
          <p:nvPr/>
        </p:nvSpPr>
        <p:spPr>
          <a:xfrm>
            <a:off x="6461607" y="5273802"/>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738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279141"/>
            <a:ext cx="2567863" cy="34244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80310"/>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33929"/>
            <a:ext cx="424281" cy="424281"/>
          </a:xfrm>
          <a:prstGeom prst="rect">
            <a:avLst/>
          </a:prstGeom>
        </p:spPr>
      </p:pic>
      <p:sp>
        <p:nvSpPr>
          <p:cNvPr id="27" name="TextBox 26"/>
          <p:cNvSpPr txBox="1"/>
          <p:nvPr/>
        </p:nvSpPr>
        <p:spPr>
          <a:xfrm>
            <a:off x="9239783" y="3303270"/>
            <a:ext cx="2238679" cy="189738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구현하기</a:t>
            </a:r>
          </a:p>
          <a:p>
            <a:pPr algn="l">
              <a:lnSpc>
                <a:spcPct val="110000"/>
              </a:lnSpc>
              <a:spcAft>
                <a:spcPts val="400"/>
              </a:spcAft>
            </a:pPr>
            <a:r>
              <a:rPr sz="1350" b="0">
                <a:solidFill>
                  <a:srgbClr val="1F2A3A"/>
                </a:solidFill>
                <a:latin typeface="맑은 고딕"/>
                <a:ea typeface="맑은 고딕"/>
                <a:cs typeface="맑은 고딕"/>
              </a:rPr>
              <a:t>• 스키마를 보완해 그래프 DB에 넣고 검사한다</a:t>
            </a:r>
          </a:p>
          <a:p>
            <a:pPr algn="l">
              <a:lnSpc>
                <a:spcPct val="110000"/>
              </a:lnSpc>
              <a:spcAft>
                <a:spcPts val="400"/>
              </a:spcAft>
            </a:pPr>
            <a:r>
              <a:rPr sz="1350" b="0">
                <a:solidFill>
                  <a:srgbClr val="1F2A3A"/>
                </a:solidFill>
                <a:latin typeface="맑은 고딕"/>
                <a:ea typeface="맑은 고딕"/>
                <a:cs typeface="맑은 고딕"/>
              </a:rPr>
              <a:t>• 새 설비와 작업 절차로 넓힌다</a:t>
            </a:r>
          </a:p>
        </p:txBody>
      </p:sp>
      <p:sp>
        <p:nvSpPr>
          <p:cNvPr id="28" name="Rounded Rectangle 27"/>
          <p:cNvSpPr/>
          <p:nvPr/>
        </p:nvSpPr>
        <p:spPr>
          <a:xfrm>
            <a:off x="9303791" y="5273802"/>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738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스키마와 그래프 DB</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지식을 그래프 DB에 구현하기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새로운 설비에도 같은 지식 구조 적용하기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지식에 안전한 작업 절차 연결하기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스키마와 그래프 DB</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정의 없이 넣은 데이터의 문제에서 스키마와 질의, 지식에 잇는 작업 절차까지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여러노드.svg" descr="illust_915527271939541036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지난 시간에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두층_3.svg" descr="illust_544041816566348618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카디널리티.svg" descr="illust_347075071004505116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연결조건_2.svg" descr="illust_727558887426935045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세 값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속성그래프_3.svg" descr="illust_735538162966530685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스키마와 Neo4j의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 스키마의 정의는 Neo4j에서 레이블, 관계 유형, 속성, DB 제약으로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온톨로지 스키마</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Neo4j</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레이블</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노드와 관계의 속성</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관계 유형</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 유형</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:OBSERVES</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식별자의 고유성</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DB 제약</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id의 유일 제약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표기_3.svg" descr="illust_574646461090940916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팬 최대 운전과 쿨러 핀 세척이 모두 이 매뉴얼의 SOP이다.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일곱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여섯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SOP문서_all.svg" descr="illust_575773790188047805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81672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7056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3197144"/>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0" name="TextBox 9"/>
          <p:cNvSpPr txBox="1"/>
          <p:nvPr/>
        </p:nvSpPr>
        <p:spPr>
          <a:xfrm>
            <a:off x="6204942" y="377862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1" name="TextBox 10"/>
          <p:cNvSpPr txBox="1"/>
          <p:nvPr/>
        </p:nvSpPr>
        <p:spPr>
          <a:xfrm>
            <a:off x="6204942" y="447355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2" name="TextBox 11"/>
          <p:cNvSpPr txBox="1"/>
          <p:nvPr/>
        </p:nvSpPr>
        <p:spPr>
          <a:xfrm>
            <a:off x="6204942" y="4960482"/>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3" name="TextBox 12"/>
          <p:cNvSpPr txBox="1"/>
          <p:nvPr/>
        </p:nvSpPr>
        <p:spPr>
          <a:xfrm>
            <a:off x="6204942" y="5471047"/>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고장 유형에 이어진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 한 편이 조치 방법 노드 하나이고 고장 유형에 이어져 있어, 고장 유형에서 관계를 따라가면 조치 후보가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363646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75808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FailureMode</a:t>
            </a:r>
          </a:p>
        </p:txBody>
      </p:sp>
      <p:sp>
        <p:nvSpPr>
          <p:cNvPr id="10" name="Oval 9"/>
          <p:cNvSpPr/>
          <p:nvPr/>
        </p:nvSpPr>
        <p:spPr>
          <a:xfrm>
            <a:off x="784714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796875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운전과 부하 80 %</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SOP-COOL-12</a:t>
            </a:r>
          </a:p>
        </p:txBody>
      </p:sp>
      <p:sp>
        <p:nvSpPr>
          <p:cNvPr id="14" name="Oval 13"/>
          <p:cNvSpPr/>
          <p:nvPr/>
        </p:nvSpPr>
        <p:spPr>
          <a:xfrm>
            <a:off x="784714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96875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세척</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SOP-COOL-14</a:t>
            </a:r>
          </a:p>
        </p:txBody>
      </p:sp>
      <p:cxnSp>
        <p:nvCxnSpPr>
          <p:cNvPr id="16" name="Connector 15"/>
          <p:cNvCxnSpPr/>
          <p:nvPr/>
        </p:nvCxnSpPr>
        <p:spPr>
          <a:xfrm>
            <a:off x="2331720" y="3991356"/>
            <a:ext cx="1231596" cy="0"/>
          </a:xfrm>
          <a:prstGeom prst="line">
            <a:avLst/>
          </a:prstGeom>
          <a:ln w="28575">
            <a:solidFill>
              <a:srgbClr val="13294B"/>
            </a:solidFill>
            <a:tailEnd type="triangle" w="med" len="med"/>
          </a:ln>
        </p:spPr>
      </p:cxnSp>
      <p:sp>
        <p:nvSpPr>
          <p:cNvPr id="17" name="Rounded Rectangle 16"/>
          <p:cNvSpPr/>
          <p:nvPr/>
        </p:nvSpPr>
        <p:spPr>
          <a:xfrm>
            <a:off x="2489807"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489807"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flipV="1">
            <a:off x="5366843" y="2811444"/>
            <a:ext cx="2461433" cy="873957"/>
          </a:xfrm>
          <a:prstGeom prst="line">
            <a:avLst/>
          </a:prstGeom>
          <a:ln w="28575">
            <a:solidFill>
              <a:srgbClr val="13294B"/>
            </a:solidFill>
            <a:tailEnd type="triangle" w="med" len="med"/>
          </a:ln>
        </p:spPr>
      </p:cxnSp>
      <p:sp>
        <p:nvSpPr>
          <p:cNvPr id="20" name="Rounded Rectangle 19"/>
          <p:cNvSpPr/>
          <p:nvPr/>
        </p:nvSpPr>
        <p:spPr>
          <a:xfrm>
            <a:off x="5827916" y="2882663"/>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827916" y="2882663"/>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2" name="Connector 21"/>
          <p:cNvCxnSpPr/>
          <p:nvPr/>
        </p:nvCxnSpPr>
        <p:spPr>
          <a:xfrm>
            <a:off x="5419548" y="3991356"/>
            <a:ext cx="4412995" cy="0"/>
          </a:xfrm>
          <a:prstGeom prst="line">
            <a:avLst/>
          </a:prstGeom>
          <a:ln w="28575">
            <a:solidFill>
              <a:srgbClr val="13294B"/>
            </a:solidFill>
            <a:tailEnd type="triangle" w="med" len="med"/>
          </a:ln>
        </p:spPr>
      </p:cxnSp>
      <p:sp>
        <p:nvSpPr>
          <p:cNvPr id="23" name="Rounded Rectangle 22"/>
          <p:cNvSpPr/>
          <p:nvPr/>
        </p:nvSpPr>
        <p:spPr>
          <a:xfrm>
            <a:off x="685640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85640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5" name="Connector 24"/>
          <p:cNvCxnSpPr/>
          <p:nvPr/>
        </p:nvCxnSpPr>
        <p:spPr>
          <a:xfrm>
            <a:off x="5366843" y="4297310"/>
            <a:ext cx="2461433" cy="873957"/>
          </a:xfrm>
          <a:prstGeom prst="line">
            <a:avLst/>
          </a:prstGeom>
          <a:ln w="28575">
            <a:solidFill>
              <a:srgbClr val="13294B"/>
            </a:solidFill>
            <a:tailEnd type="triangle" w="med" len="med"/>
          </a:ln>
        </p:spPr>
      </p:cxnSp>
      <p:sp>
        <p:nvSpPr>
          <p:cNvPr id="26" name="Rounded Rectangle 25"/>
          <p:cNvSpPr/>
          <p:nvPr/>
        </p:nvSpPr>
        <p:spPr>
          <a:xfrm>
            <a:off x="5881341" y="4368528"/>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5881341" y="4368528"/>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REMEDIED_BY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부품 · 센서 자료에서 속성과 식별자와 관계를 정의해 schema.json을 보완한다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속성, 식별자, 연결 방향, 중복 처리 규칙을 정의해 보완한 schema.json이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방향, 연결 제약,</a:t>
            </a:r>
          </a:p>
          <a:p>
            <a:pPr algn="ctr">
              <a:lnSpc>
                <a:spcPct val="110000"/>
              </a:lnSpc>
              <a:spcAft>
                <a:spcPts val="400"/>
              </a:spcAft>
            </a:pPr>
            <a:r>
              <a:rPr sz="1350" b="0">
                <a:solidFill>
                  <a:srgbClr val="1F2A3A"/>
                </a:solidFill>
                <a:latin typeface="맑은 고딕"/>
                <a:ea typeface="맑은 고딕"/>
                <a:cs typeface="맑은 고딕"/>
              </a:rPr>
              <a:t>중복 처리 규칙을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지식을 그래프 DB에 구현하기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질의로 검사한다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설계한 지식이 그래프 DB에 들어가고, 노드와 관계의 수와 연결이 질의로 검사된다.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검사한다</a:t>
            </a:r>
          </a:p>
          <a:p>
            <a:pPr algn="ctr">
              <a:lnSpc>
                <a:spcPct val="110000"/>
              </a:lnSpc>
              <a:spcAft>
                <a:spcPts val="400"/>
              </a:spcAft>
            </a:pPr>
            <a:r>
              <a:rPr sz="1350" b="0">
                <a:solidFill>
                  <a:srgbClr val="1F2A3A"/>
                </a:solidFill>
                <a:latin typeface="맑은 고딕"/>
                <a:ea typeface="맑은 고딕"/>
                <a:cs typeface="맑은 고딕"/>
              </a:rPr>
              <a:t>MATCH로 노드와 관계의 수를 세고</a:t>
            </a:r>
          </a:p>
          <a:p>
            <a:pPr algn="ctr">
              <a:lnSpc>
                <a:spcPct val="110000"/>
              </a:lnSpc>
              <a:spcAft>
                <a:spcPts val="400"/>
              </a:spcAft>
            </a:pPr>
            <a:r>
              <a:rPr sz="1350" b="0">
                <a:solidFill>
                  <a:srgbClr val="1F2A3A"/>
                </a:solidFill>
                <a:latin typeface="맑은 고딕"/>
                <a:ea typeface="맑은 고딕"/>
                <a:cs typeface="맑은 고딕"/>
              </a:rPr>
              <a:t>식별자가 겹치거나 관계의 끝이</a:t>
            </a:r>
          </a:p>
          <a:p>
            <a:pPr algn="ctr">
              <a:lnSpc>
                <a:spcPct val="110000"/>
              </a:lnSpc>
              <a:spcAft>
                <a:spcPts val="400"/>
              </a:spcAft>
            </a:pPr>
            <a:r>
              <a:rPr sz="1350" b="0">
                <a:solidFill>
                  <a:srgbClr val="1F2A3A"/>
                </a:solidFill>
                <a:latin typeface="맑은 고딕"/>
                <a:ea typeface="맑은 고딕"/>
                <a:cs typeface="맑은 고딕"/>
              </a:rPr>
              <a:t>정의와 다른 곳이 없는지 확인한다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새로운 설비에도 같은 지식 구조 적용하기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기존 스키마는 그대로 두고 새 설비의 인스턴스를 더한다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추가하는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스키마를 고치지 않고 새 설비의 인스턴스만 더해도 공용 부품과 복수 센서의 관계가 같은 질의로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인스턴스를 더한다</a:t>
            </a:r>
          </a:p>
          <a:p>
            <a:pPr algn="ctr">
              <a:lnSpc>
                <a:spcPct val="110000"/>
              </a:lnSpc>
              <a:spcAft>
                <a:spcPts val="400"/>
              </a:spcAft>
            </a:pPr>
            <a:r>
              <a:rPr sz="1350" b="0">
                <a:solidFill>
                  <a:srgbClr val="1F2A3A"/>
                </a:solidFill>
                <a:latin typeface="맑은 고딕"/>
                <a:ea typeface="맑은 고딕"/>
                <a:cs typeface="맑은 고딕"/>
              </a:rPr>
              <a:t>기존 스키마는 그대로 두고</a:t>
            </a:r>
          </a:p>
          <a:p>
            <a:pPr algn="ctr">
              <a:lnSpc>
                <a:spcPct val="110000"/>
              </a:lnSpc>
              <a:spcAft>
                <a:spcPts val="400"/>
              </a:spcAft>
            </a:pPr>
            <a:r>
              <a:rPr sz="1350" b="0">
                <a:solidFill>
                  <a:srgbClr val="1F2A3A"/>
                </a:solidFill>
                <a:latin typeface="맑은 고딕"/>
                <a:ea typeface="맑은 고딕"/>
                <a:cs typeface="맑은 고딕"/>
              </a:rPr>
              <a:t>새 설비의 인스턴스와</a:t>
            </a:r>
          </a:p>
          <a:p>
            <a:pPr algn="ctr">
              <a:lnSpc>
                <a:spcPct val="110000"/>
              </a:lnSpc>
              <a:spcAft>
                <a:spcPts val="400"/>
              </a:spcAft>
            </a:pPr>
            <a:r>
              <a:rPr sz="1350" b="0">
                <a:solidFill>
                  <a:srgbClr val="1F2A3A"/>
                </a:solidFill>
                <a:latin typeface="맑은 고딕"/>
                <a:ea typeface="맑은 고딕"/>
                <a:cs typeface="맑은 고딕"/>
              </a:rPr>
              <a:t>식별자를 만든다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잇는다</a:t>
            </a:r>
          </a:p>
          <a:p>
            <a:pPr algn="ctr">
              <a:lnSpc>
                <a:spcPct val="110000"/>
              </a:lnSpc>
              <a:spcAft>
                <a:spcPts val="400"/>
              </a:spcAft>
            </a:pPr>
            <a:r>
              <a:rPr sz="1350" b="0">
                <a:solidFill>
                  <a:srgbClr val="1F2A3A"/>
                </a:solidFill>
                <a:latin typeface="맑은 고딕"/>
                <a:ea typeface="맑은 고딕"/>
                <a:cs typeface="맑은 고딕"/>
              </a:rPr>
              <a:t>두 설비가 함께 쓰는 부품과</a:t>
            </a:r>
          </a:p>
          <a:p>
            <a:pPr algn="ctr">
              <a:lnSpc>
                <a:spcPct val="110000"/>
              </a:lnSpc>
              <a:spcAft>
                <a:spcPts val="400"/>
              </a:spcAft>
            </a:pPr>
            <a:r>
              <a:rPr sz="1350" b="0">
                <a:solidFill>
                  <a:srgbClr val="1F2A3A"/>
                </a:solidFill>
                <a:latin typeface="맑은 고딕"/>
                <a:ea typeface="맑은 고딕"/>
                <a:cs typeface="맑은 고딕"/>
              </a:rPr>
              <a:t>한 구성 요소를 재는 여러 센서를</a:t>
            </a:r>
          </a:p>
          <a:p>
            <a:pPr algn="ctr">
              <a:lnSpc>
                <a:spcPct val="110000"/>
              </a:lnSpc>
              <a:spcAft>
                <a:spcPts val="400"/>
              </a:spcAft>
            </a:pPr>
            <a:r>
              <a:rPr sz="1350" b="0">
                <a:solidFill>
                  <a:srgbClr val="1F2A3A"/>
                </a:solidFill>
                <a:latin typeface="맑은 고딕"/>
                <a:ea typeface="맑은 고딕"/>
                <a:cs typeface="맑은 고딕"/>
              </a:rPr>
              <a:t>관계로 잇는다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git-compare" descr="git-compare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견준다</a:t>
            </a:r>
          </a:p>
          <a:p>
            <a:pPr algn="ctr">
              <a:lnSpc>
                <a:spcPct val="110000"/>
              </a:lnSpc>
              <a:spcAft>
                <a:spcPts val="400"/>
              </a:spcAft>
            </a:pPr>
            <a:r>
              <a:rPr sz="1350" b="0">
                <a:solidFill>
                  <a:srgbClr val="1F2A3A"/>
                </a:solidFill>
                <a:latin typeface="맑은 고딕"/>
                <a:ea typeface="맑은 고딕"/>
                <a:cs typeface="맑은 고딕"/>
              </a:rPr>
              <a:t>같은 질의를 새 설비와</a:t>
            </a:r>
          </a:p>
          <a:p>
            <a:pPr algn="ctr">
              <a:lnSpc>
                <a:spcPct val="110000"/>
              </a:lnSpc>
              <a:spcAft>
                <a:spcPts val="400"/>
              </a:spcAft>
            </a:pPr>
            <a:r>
              <a:rPr sz="1350" b="0">
                <a:solidFill>
                  <a:srgbClr val="1F2A3A"/>
                </a:solidFill>
                <a:latin typeface="맑은 고딕"/>
                <a:ea typeface="맑은 고딕"/>
                <a:cs typeface="맑은 고딕"/>
              </a:rPr>
              <a:t>기존 설비에 실행해</a:t>
            </a:r>
          </a:p>
          <a:p>
            <a:pPr algn="ctr">
              <a:lnSpc>
                <a:spcPct val="110000"/>
              </a:lnSpc>
              <a:spcAft>
                <a:spcPts val="400"/>
              </a:spcAft>
            </a:pPr>
            <a:r>
              <a:rPr sz="1350" b="0">
                <a:solidFill>
                  <a:srgbClr val="1F2A3A"/>
                </a:solidFill>
                <a:latin typeface="맑은 고딕"/>
                <a:ea typeface="맑은 고딕"/>
                <a:cs typeface="맑은 고딕"/>
              </a:rPr>
              <a:t>결과를 나란히 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지식에 안전한 작업 절차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SOP에서 전제 조건, 안전 조건, 금지 사항을 뽑아 고장 유형과 조치에 연결한다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SOP의 전제 조건, 안전 조건, 금지 사항이 고장 유형과 조치 방법에 이어진 자료가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설비 모델의 재사용</a:t>
            </a:r>
          </a:p>
          <a:p>
            <a:pPr algn="ctr">
              <a:lnSpc>
                <a:spcPct val="110000"/>
              </a:lnSpc>
              <a:spcAft>
                <a:spcPts val="400"/>
              </a:spcAft>
            </a:pPr>
            <a:r>
              <a:rPr sz="1350" b="0">
                <a:solidFill>
                  <a:srgbClr val="1F2A3A"/>
                </a:solidFill>
                <a:latin typeface="맑은 고딕"/>
                <a:ea typeface="맑은 고딕"/>
                <a:cs typeface="맑은 고딕"/>
              </a:rPr>
              <a:t>앞서 만든</a:t>
            </a:r>
          </a:p>
          <a:p>
            <a:pPr algn="ctr">
              <a:lnSpc>
                <a:spcPct val="110000"/>
              </a:lnSpc>
              <a:spcAft>
                <a:spcPts val="400"/>
              </a:spcAft>
            </a:pPr>
            <a:r>
              <a:rPr sz="1350" b="0">
                <a:solidFill>
                  <a:srgbClr val="1F2A3A"/>
                </a:solidFill>
                <a:latin typeface="맑은 고딕"/>
                <a:ea typeface="맑은 고딕"/>
                <a:cs typeface="맑은 고딕"/>
              </a:rPr>
              <a:t>설비 모델과 식별자를</a:t>
            </a:r>
          </a:p>
          <a:p>
            <a:pPr algn="ctr">
              <a:lnSpc>
                <a:spcPct val="110000"/>
              </a:lnSpc>
              <a:spcAft>
                <a:spcPts val="400"/>
              </a:spcAft>
            </a:pPr>
            <a:r>
              <a:rPr sz="1350" b="0">
                <a:solidFill>
                  <a:srgbClr val="1F2A3A"/>
                </a:solidFill>
                <a:latin typeface="맑은 고딕"/>
                <a:ea typeface="맑은 고딕"/>
                <a:cs typeface="맑은 고딕"/>
              </a:rPr>
              <a:t>그대로 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유형과 조치</a:t>
            </a:r>
          </a:p>
          <a:p>
            <a:pPr algn="ctr">
              <a:lnSpc>
                <a:spcPct val="110000"/>
              </a:lnSpc>
              <a:spcAft>
                <a:spcPts val="400"/>
              </a:spcAft>
            </a:pPr>
            <a:r>
              <a:rPr sz="1350" b="0">
                <a:solidFill>
                  <a:srgbClr val="1F2A3A"/>
                </a:solidFill>
                <a:latin typeface="맑은 고딕"/>
                <a:ea typeface="맑은 고딕"/>
                <a:cs typeface="맑은 고딕"/>
              </a:rPr>
              <a:t>제공된 고장 유형에</a:t>
            </a:r>
          </a:p>
          <a:p>
            <a:pPr algn="ctr">
              <a:lnSpc>
                <a:spcPct val="110000"/>
              </a:lnSpc>
              <a:spcAft>
                <a:spcPts val="400"/>
              </a:spcAft>
            </a:pPr>
            <a:r>
              <a:rPr sz="1350" b="0">
                <a:solidFill>
                  <a:srgbClr val="1F2A3A"/>
                </a:solidFill>
                <a:latin typeface="맑은 고딕"/>
                <a:ea typeface="맑은 고딕"/>
                <a:cs typeface="맑은 고딕"/>
              </a:rPr>
              <a:t>조치 방법을</a:t>
            </a:r>
          </a:p>
          <a:p>
            <a:pPr algn="ctr">
              <a:lnSpc>
                <a:spcPct val="110000"/>
              </a:lnSpc>
              <a:spcAft>
                <a:spcPts val="400"/>
              </a:spcAft>
            </a:pPr>
            <a:r>
              <a:rPr sz="1350" b="0">
                <a:solidFill>
                  <a:srgbClr val="1F2A3A"/>
                </a:solidFill>
                <a:latin typeface="맑은 고딕"/>
                <a:ea typeface="맑은 고딕"/>
                <a:cs typeface="맑은 고딕"/>
              </a:rPr>
              <a:t>연결한다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전제와 안전 조건</a:t>
            </a:r>
          </a:p>
          <a:p>
            <a:pPr algn="ctr">
              <a:lnSpc>
                <a:spcPct val="110000"/>
              </a:lnSpc>
              <a:spcAft>
                <a:spcPts val="400"/>
              </a:spcAft>
            </a:pPr>
            <a:r>
              <a:rPr sz="1350" b="0">
                <a:solidFill>
                  <a:srgbClr val="1F2A3A"/>
                </a:solidFill>
                <a:latin typeface="맑은 고딕"/>
                <a:ea typeface="맑은 고딕"/>
                <a:cs typeface="맑은 고딕"/>
              </a:rPr>
              <a:t>시작 전에 성립해야 할</a:t>
            </a:r>
          </a:p>
          <a:p>
            <a:pPr algn="ctr">
              <a:lnSpc>
                <a:spcPct val="110000"/>
              </a:lnSpc>
              <a:spcAft>
                <a:spcPts val="400"/>
              </a:spcAft>
            </a:pPr>
            <a:r>
              <a:rPr sz="1350" b="0">
                <a:solidFill>
                  <a:srgbClr val="1F2A3A"/>
                </a:solidFill>
                <a:latin typeface="맑은 고딕"/>
                <a:ea typeface="맑은 고딕"/>
                <a:cs typeface="맑은 고딕"/>
              </a:rPr>
              <a:t>상태와 먼저 할</a:t>
            </a:r>
          </a:p>
          <a:p>
            <a:pPr algn="ctr">
              <a:lnSpc>
                <a:spcPct val="110000"/>
              </a:lnSpc>
              <a:spcAft>
                <a:spcPts val="400"/>
              </a:spcAft>
            </a:pPr>
            <a:r>
              <a:rPr sz="1350" b="0">
                <a:solidFill>
                  <a:srgbClr val="1F2A3A"/>
                </a:solidFill>
                <a:latin typeface="맑은 고딕"/>
                <a:ea typeface="맑은 고딕"/>
                <a:cs typeface="맑은 고딕"/>
              </a:rPr>
              <a:t>안전 조치를 뽑는다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ban" descr="ban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금지 사항 연결</a:t>
            </a:r>
          </a:p>
          <a:p>
            <a:pPr algn="ctr">
              <a:lnSpc>
                <a:spcPct val="110000"/>
              </a:lnSpc>
              <a:spcAft>
                <a:spcPts val="400"/>
              </a:spcAft>
            </a:pPr>
            <a:r>
              <a:rPr sz="1350" b="0">
                <a:solidFill>
                  <a:srgbClr val="1F2A3A"/>
                </a:solidFill>
                <a:latin typeface="맑은 고딕"/>
                <a:ea typeface="맑은 고딕"/>
                <a:cs typeface="맑은 고딕"/>
              </a:rPr>
              <a:t>하지 않을 일을 뽑아</a:t>
            </a:r>
          </a:p>
          <a:p>
            <a:pPr algn="ctr">
              <a:lnSpc>
                <a:spcPct val="110000"/>
              </a:lnSpc>
              <a:spcAft>
                <a:spcPts val="400"/>
              </a:spcAft>
            </a:pPr>
            <a:r>
              <a:rPr sz="1350" b="0">
                <a:solidFill>
                  <a:srgbClr val="1F2A3A"/>
                </a:solidFill>
                <a:latin typeface="맑은 고딕"/>
                <a:ea typeface="맑은 고딕"/>
                <a:cs typeface="맑은 고딕"/>
              </a:rPr>
              <a:t>조치 방법에</a:t>
            </a:r>
          </a:p>
          <a:p>
            <a:pPr algn="ctr">
              <a:lnSpc>
                <a:spcPct val="110000"/>
              </a:lnSpc>
              <a:spcAft>
                <a:spcPts val="400"/>
              </a:spcAft>
            </a:pPr>
            <a:r>
              <a:rPr sz="1350" b="0">
                <a:solidFill>
                  <a:srgbClr val="1F2A3A"/>
                </a:solidFill>
                <a:latin typeface="맑은 고딕"/>
                <a:ea typeface="맑은 고딕"/>
                <a:cs typeface="맑은 고딕"/>
              </a:rPr>
              <a:t>이어서 남긴다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구조에서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구조에서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Schema</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클래스와 관계의 정의</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Identifier</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인스턴스의 고유한 값</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자료형</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Type</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칸에 들어갈 값의 종류</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Cardinality</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이어지는 상대의 수</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제약</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Constraint</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데이터가 지킬 조건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Label</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노드의 종류 이름표</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Query</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DB에 보내는 요청</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SOP</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Operating Procedure</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 방법의 출처</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(a:Asset)-[:HAS_COMPONENT]-&gt;(c:Component {name: '오일 쿨러'})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(a:Asset)-[:MONITORED_BY]-&gt;(c:Component {name: '오일 쿨러'})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[a:Asset]-(:HAS_COMPONENT)-&gt;[c:Component {name: '오일 쿨러'}]</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이름을 고쳐 다시 넣는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식별자가 sen:ts1이고 이름이 「유온 센서」인 노드가 이미 있으며, 이름을 「온도 센서」로 고쳐 다시 넣으려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있던 노드를 찾아 이름만 고치는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CREATE (s:Sensor {id: 'sen:ts1', name: '온도 센서'})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MERGE (s:Sensor {id: 'sen:ts1', name: '온도 센서'})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CREATE (s:Sensor {id: 'sen:ts1'}) SET s.name = '온도 센서'</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MERGE (s:Sensor {id: 'sen:ts1'}) SET s.name = '온도 센서'</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관계의 방향, 식별자로 찾아 만드는 문장을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화살표는 설비 노드에서 나와 구성 요소 노드로 들어가게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MERGE는 괄호 안에 적은 것으로 먼저 찾는다. 식별자만 적어야 이름이 바뀌어도 같은 노드를 찾는다.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