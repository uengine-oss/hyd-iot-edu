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설비 정보를 클래스와 인스턴스와 관계로 나누어 표현했습니다. 오늘은 그 구조를 스키마로 정의하고 그래프 DB에 넣는 방법을 다루고, 네 개의 실습에서 직접 구현합니다.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적힌 센서 클래스의 정의입니다. 영문 이름, 한글 이름, 설명 뒤에 속성 목록이 오고, 지난 시간에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온톨로지가 정의하는 네 가지의 하나로 든 제약이 스키마에서는 이렇게 구체적인 조건이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지난 시간에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DB 제약은 데이터를 저장하는 순간에 데이터베이스가 직접 검사하는 조건입니다.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시간의 조회 실습에서 적은 문장이 Cypher 질의였습니다.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그래프에는 설비와 센서만이 아니라 조치를 수행하는 방법도 들어갑니다.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지난 시간에 본 팬 최대 운전과 쿨러 핀 세척이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여섯 가지가 더 붙습니다. 위에서부터 적용 대상, 전제 조건, 수행 단계, 담당 역할, 안전 조건, 완료 확인 기준, 금지 사항입니다.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 MITIGATED_BY는 유온을 당장 내리는 완화 조치에, REMEDIED_BY는 원인을 없애는 조치에 붙는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만든 schema.json을 제공된 설비, 부품, 센서 자료로 이어서 보완합니다. 같은 대상이 두 번 들어가지 않게 하는 규칙도 함께 정합니다.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 넣은 뒤에는 MATCH로 노드와 관계의 수를 세어 설계한 수와 같은지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새로 생겼을 때 더하는 것은 클래스가 아니라 인스턴스입니다. 부품을 함께 쓰면 부품 인스턴스 하나에 두 설비 쪽의 관계가 모이고, 센서가 여럿이면 센서마다 인스턴스와 관계가 생깁니다. 같은 질의를 두 설비에 실행해 결과가 같은 모양으로 나오는지 견줍니다. 스키마를 다시 만들지 않았는데도 질의가 그대로 통하는지가 확인할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설비 모델에 고장 유형과 조치 방법을 연결합니다. 제공된 SOP에서 전제 조건과 안전 조건과 금지 사항을 뽑아 조치 방법에 이어 붙입니다. 끝나면 고장 유형에서 조치 방법을 거쳐 그 조치의 전제와 금지 사항까지 따라갈 수 있는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쪽의 말이고, 레이블과 질의는 그래프 DB 쪽의 말이며, 마지막은 작업 절차의 약어입니다.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화살표가 어느 노드에서 나와 어느 노드로 들어가는지를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같은 노드로 볼지를 괄호 안에 적은 것이 정한다는 점을 확인하는 문항입니다. 보기마다 먼저 찾아보는 문장인지, 찾을 때 무엇을 기준으로 삼는지를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1번과 3번은 찾아보지 않고 새로 만들고, 2번은 고친 이름까지 같아야 찾으므로 있던 노드를 찾지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6.png"/><Relationship Id="rId6"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0.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2회차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 가능한 설비 지식 구조</a:t>
            </a:r>
          </a:p>
          <a:p>
            <a:pPr algn="l">
              <a:lnSpc>
                <a:spcPct val="110000"/>
              </a:lnSpc>
            </a:pPr>
            <a:r>
              <a:rPr sz="4000" b="1">
                <a:solidFill>
                  <a:srgbClr val="FFFFFF"/>
                </a:solidFill>
                <a:latin typeface="맑은 고딕"/>
                <a:ea typeface="맑은 고딕"/>
                <a:cs typeface="맑은 고딕"/>
              </a:rPr>
              <a:t>스키마의 설계와 그래프 DB 구현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식별자와 제약, 새 설비로의 확장, 작업 절차의 연결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hema" descr="schema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database-import" descr="databas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nk" descr="lin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지식의 구조를 스키마로 정의해 그래프 DB에 넣고, 같은 구조를 새 설비와 작업 절차에 다시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스키마와 데이터</a:t>
            </a:r>
          </a:p>
          <a:p>
            <a:pPr algn="l">
              <a:lnSpc>
                <a:spcPct val="110000"/>
              </a:lnSpc>
              <a:spcAft>
                <a:spcPts val="400"/>
              </a:spcAft>
            </a:pPr>
            <a:r>
              <a:rPr sz="1350" b="0">
                <a:solidFill>
                  <a:srgbClr val="1F2A3A"/>
                </a:solidFill>
                <a:latin typeface="맑은 고딕"/>
                <a:ea typeface="맑은 고딕"/>
                <a:cs typeface="맑은 고딕"/>
              </a:rPr>
              <a:t>스키마가 정하는 것과 인스턴스 데이터가 담는 것을 구분한다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orms" descr="forms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정의의 요소</a:t>
            </a:r>
          </a:p>
          <a:p>
            <a:pPr algn="l">
              <a:lnSpc>
                <a:spcPct val="110000"/>
              </a:lnSpc>
              <a:spcAft>
                <a:spcPts val="400"/>
              </a:spcAft>
            </a:pPr>
            <a:r>
              <a:rPr sz="1350" b="0">
                <a:solidFill>
                  <a:srgbClr val="1F2A3A"/>
                </a:solidFill>
                <a:latin typeface="맑은 고딕"/>
                <a:ea typeface="맑은 고딕"/>
                <a:cs typeface="맑은 고딕"/>
              </a:rPr>
              <a:t>자료형, 필수 여부, 식별자, 카디널리티, 제약으로 클래스와 관계를 정의한다</a:t>
            </a:r>
          </a:p>
        </p:txBody>
      </p:sp>
      <p:sp>
        <p:nvSpPr>
          <p:cNvPr id="16" name="Rounded Rectangle 15"/>
          <p:cNvSpPr/>
          <p:nvPr/>
        </p:nvSpPr>
        <p:spPr>
          <a:xfrm>
            <a:off x="3619423" y="52738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 Cypher</a:t>
            </a:r>
          </a:p>
          <a:p>
            <a:pPr algn="l">
              <a:lnSpc>
                <a:spcPct val="110000"/>
              </a:lnSpc>
              <a:spcAft>
                <a:spcPts val="400"/>
              </a:spcAft>
            </a:pPr>
            <a:r>
              <a:rPr sz="1350" b="0">
                <a:solidFill>
                  <a:srgbClr val="1F2A3A"/>
                </a:solidFill>
                <a:latin typeface="맑은 고딕"/>
                <a:ea typeface="맑은 고딕"/>
                <a:cs typeface="맑은 고딕"/>
              </a:rPr>
              <a:t>• 스키마를 그래프 DB에 옮긴다</a:t>
            </a:r>
          </a:p>
          <a:p>
            <a:pPr algn="l">
              <a:lnSpc>
                <a:spcPct val="110000"/>
              </a:lnSpc>
              <a:spcAft>
                <a:spcPts val="400"/>
              </a:spcAft>
            </a:pPr>
            <a:r>
              <a:rPr sz="1350" b="0">
                <a:solidFill>
                  <a:srgbClr val="1F2A3A"/>
                </a:solidFill>
                <a:latin typeface="맑은 고딕"/>
                <a:ea typeface="맑은 고딕"/>
                <a:cs typeface="맑은 고딕"/>
              </a:rPr>
              <a:t>• MATCH로 조회하고 MERGE로 만든다</a:t>
            </a:r>
          </a:p>
        </p:txBody>
      </p:sp>
      <p:sp>
        <p:nvSpPr>
          <p:cNvPr id="22" name="Rounded Rectangle 21"/>
          <p:cNvSpPr/>
          <p:nvPr/>
        </p:nvSpPr>
        <p:spPr>
          <a:xfrm>
            <a:off x="6461607" y="527380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구현하기</a:t>
            </a:r>
          </a:p>
          <a:p>
            <a:pPr algn="l">
              <a:lnSpc>
                <a:spcPct val="110000"/>
              </a:lnSpc>
              <a:spcAft>
                <a:spcPts val="400"/>
              </a:spcAft>
            </a:pPr>
            <a:r>
              <a:rPr sz="1350" b="0">
                <a:solidFill>
                  <a:srgbClr val="1F2A3A"/>
                </a:solidFill>
                <a:latin typeface="맑은 고딕"/>
                <a:ea typeface="맑은 고딕"/>
                <a:cs typeface="맑은 고딕"/>
              </a:rPr>
              <a:t>• 스키마를 보완해 그래프 DB에 넣고 검사한다</a:t>
            </a:r>
          </a:p>
          <a:p>
            <a:pPr algn="l">
              <a:lnSpc>
                <a:spcPct val="110000"/>
              </a:lnSpc>
              <a:spcAft>
                <a:spcPts val="400"/>
              </a:spcAft>
            </a:pPr>
            <a:r>
              <a:rPr sz="1350" b="0">
                <a:solidFill>
                  <a:srgbClr val="1F2A3A"/>
                </a:solidFill>
                <a:latin typeface="맑은 고딕"/>
                <a:ea typeface="맑은 고딕"/>
                <a:cs typeface="맑은 고딕"/>
              </a:rPr>
              <a:t>• 새 설비와 작업 절차로 넓힌다</a:t>
            </a:r>
          </a:p>
        </p:txBody>
      </p:sp>
      <p:sp>
        <p:nvSpPr>
          <p:cNvPr id="28" name="Rounded Rectangle 27"/>
          <p:cNvSpPr/>
          <p:nvPr/>
        </p:nvSpPr>
        <p:spPr>
          <a:xfrm>
            <a:off x="9303791" y="5273802"/>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지식을 그래프 DB에 구현하기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새로운 설비에도 같은 지식 구조 적용하기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지식에 안전한 작업 절차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정의 없이 넣은 데이터의 문제에서 스키마와 질의, 지식에 잇는 작업 절차까지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여러노드.svg" descr="illust_253062758571099512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지난 시간에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두층_3.svg" descr="illust_364523432649507658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카디널리티.svg" descr="illust_694840766588638319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조건_2.svg" descr="illust_489834120589974845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속성그래프_3.svg" descr="illust_250441008927446277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표기_3.svg" descr="illust_739608165725874021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팬 최대 운전과 쿨러 핀 세척이 모두 이 매뉴얼의 SOP이다.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일곱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여섯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SOP문서_all.svg" descr="illust_243131188303796769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8167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7056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3197144"/>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0" name="TextBox 9"/>
          <p:cNvSpPr txBox="1"/>
          <p:nvPr/>
        </p:nvSpPr>
        <p:spPr>
          <a:xfrm>
            <a:off x="6204942" y="377862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1" name="TextBox 10"/>
          <p:cNvSpPr txBox="1"/>
          <p:nvPr/>
        </p:nvSpPr>
        <p:spPr>
          <a:xfrm>
            <a:off x="6204942" y="447355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2" name="TextBox 11"/>
          <p:cNvSpPr txBox="1"/>
          <p:nvPr/>
        </p:nvSpPr>
        <p:spPr>
          <a:xfrm>
            <a:off x="6204942" y="496048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3" name="TextBox 12"/>
          <p:cNvSpPr txBox="1"/>
          <p:nvPr/>
        </p:nvSpPr>
        <p:spPr>
          <a:xfrm>
            <a:off x="6204942" y="5471047"/>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부품 · 센서 자료에서 속성과 식별자와 관계를 정의해 schema.json을 보완한다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속성, 식별자, 연결 방향, 중복 처리 규칙을 정의해 보완한 schema.json이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방향, 연결 제약,</a:t>
            </a:r>
          </a:p>
          <a:p>
            <a:pPr algn="ctr">
              <a:lnSpc>
                <a:spcPct val="110000"/>
              </a:lnSpc>
              <a:spcAft>
                <a:spcPts val="400"/>
              </a:spcAft>
            </a:pPr>
            <a:r>
              <a:rPr sz="1350" b="0">
                <a:solidFill>
                  <a:srgbClr val="1F2A3A"/>
                </a:solidFill>
                <a:latin typeface="맑은 고딕"/>
                <a:ea typeface="맑은 고딕"/>
                <a:cs typeface="맑은 고딕"/>
              </a:rPr>
              <a:t>중복 처리 규칙을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지식을 그래프 DB에 구현하기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질의로 검사한다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설계한 지식이 그래프 DB에 들어가고, 노드와 관계의 수와 연결이 질의로 검사된다.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검사한다</a:t>
            </a:r>
          </a:p>
          <a:p>
            <a:pPr algn="ctr">
              <a:lnSpc>
                <a:spcPct val="110000"/>
              </a:lnSpc>
              <a:spcAft>
                <a:spcPts val="400"/>
              </a:spcAft>
            </a:pPr>
            <a:r>
              <a:rPr sz="1350" b="0">
                <a:solidFill>
                  <a:srgbClr val="1F2A3A"/>
                </a:solidFill>
                <a:latin typeface="맑은 고딕"/>
                <a:ea typeface="맑은 고딕"/>
                <a:cs typeface="맑은 고딕"/>
              </a:rPr>
              <a:t>MATCH로 노드와 관계의 수를 세고</a:t>
            </a:r>
          </a:p>
          <a:p>
            <a:pPr algn="ctr">
              <a:lnSpc>
                <a:spcPct val="110000"/>
              </a:lnSpc>
              <a:spcAft>
                <a:spcPts val="400"/>
              </a:spcAft>
            </a:pPr>
            <a:r>
              <a:rPr sz="1350" b="0">
                <a:solidFill>
                  <a:srgbClr val="1F2A3A"/>
                </a:solidFill>
                <a:latin typeface="맑은 고딕"/>
                <a:ea typeface="맑은 고딕"/>
                <a:cs typeface="맑은 고딕"/>
              </a:rPr>
              <a:t>식별자가 겹치거나 관계의 끝이</a:t>
            </a:r>
          </a:p>
          <a:p>
            <a:pPr algn="ctr">
              <a:lnSpc>
                <a:spcPct val="110000"/>
              </a:lnSpc>
              <a:spcAft>
                <a:spcPts val="400"/>
              </a:spcAft>
            </a:pPr>
            <a:r>
              <a:rPr sz="1350" b="0">
                <a:solidFill>
                  <a:srgbClr val="1F2A3A"/>
                </a:solidFill>
                <a:latin typeface="맑은 고딕"/>
                <a:ea typeface="맑은 고딕"/>
                <a:cs typeface="맑은 고딕"/>
              </a:rPr>
              <a:t>정의와 다른 곳이 없는지 확인한다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새로운 설비에도 같은 지식 구조 적용하기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기존 스키마는 그대로 두고 새 설비의 인스턴스를 더한다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추가하는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스키마를 고치지 않고 새 설비의 인스턴스만 더해도 공용 부품과 복수 센서의 관계가 같은 질의로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인스턴스를 더한다</a:t>
            </a:r>
          </a:p>
          <a:p>
            <a:pPr algn="ctr">
              <a:lnSpc>
                <a:spcPct val="110000"/>
              </a:lnSpc>
              <a:spcAft>
                <a:spcPts val="400"/>
              </a:spcAft>
            </a:pPr>
            <a:r>
              <a:rPr sz="1350" b="0">
                <a:solidFill>
                  <a:srgbClr val="1F2A3A"/>
                </a:solidFill>
                <a:latin typeface="맑은 고딕"/>
                <a:ea typeface="맑은 고딕"/>
                <a:cs typeface="맑은 고딕"/>
              </a:rPr>
              <a:t>기존 스키마는 그대로 두고</a:t>
            </a:r>
          </a:p>
          <a:p>
            <a:pPr algn="ctr">
              <a:lnSpc>
                <a:spcPct val="110000"/>
              </a:lnSpc>
              <a:spcAft>
                <a:spcPts val="400"/>
              </a:spcAft>
            </a:pPr>
            <a:r>
              <a:rPr sz="1350" b="0">
                <a:solidFill>
                  <a:srgbClr val="1F2A3A"/>
                </a:solidFill>
                <a:latin typeface="맑은 고딕"/>
                <a:ea typeface="맑은 고딕"/>
                <a:cs typeface="맑은 고딕"/>
              </a:rPr>
              <a:t>새 설비의 인스턴스와</a:t>
            </a:r>
          </a:p>
          <a:p>
            <a:pPr algn="ctr">
              <a:lnSpc>
                <a:spcPct val="110000"/>
              </a:lnSpc>
              <a:spcAft>
                <a:spcPts val="400"/>
              </a:spcAft>
            </a:pPr>
            <a:r>
              <a:rPr sz="1350" b="0">
                <a:solidFill>
                  <a:srgbClr val="1F2A3A"/>
                </a:solidFill>
                <a:latin typeface="맑은 고딕"/>
                <a:ea typeface="맑은 고딕"/>
                <a:cs typeface="맑은 고딕"/>
              </a:rPr>
              <a:t>식별자를 만든다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잇는다</a:t>
            </a:r>
          </a:p>
          <a:p>
            <a:pPr algn="ctr">
              <a:lnSpc>
                <a:spcPct val="110000"/>
              </a:lnSpc>
              <a:spcAft>
                <a:spcPts val="400"/>
              </a:spcAft>
            </a:pPr>
            <a:r>
              <a:rPr sz="1350" b="0">
                <a:solidFill>
                  <a:srgbClr val="1F2A3A"/>
                </a:solidFill>
                <a:latin typeface="맑은 고딕"/>
                <a:ea typeface="맑은 고딕"/>
                <a:cs typeface="맑은 고딕"/>
              </a:rPr>
              <a:t>두 설비가 함께 쓰는 부품과</a:t>
            </a:r>
          </a:p>
          <a:p>
            <a:pPr algn="ctr">
              <a:lnSpc>
                <a:spcPct val="110000"/>
              </a:lnSpc>
              <a:spcAft>
                <a:spcPts val="400"/>
              </a:spcAft>
            </a:pPr>
            <a:r>
              <a:rPr sz="1350" b="0">
                <a:solidFill>
                  <a:srgbClr val="1F2A3A"/>
                </a:solidFill>
                <a:latin typeface="맑은 고딕"/>
                <a:ea typeface="맑은 고딕"/>
                <a:cs typeface="맑은 고딕"/>
              </a:rPr>
              <a:t>한 구성 요소를 재는 여러 센서를</a:t>
            </a:r>
          </a:p>
          <a:p>
            <a:pPr algn="ctr">
              <a:lnSpc>
                <a:spcPct val="110000"/>
              </a:lnSpc>
              <a:spcAft>
                <a:spcPts val="400"/>
              </a:spcAft>
            </a:pPr>
            <a:r>
              <a:rPr sz="1350" b="0">
                <a:solidFill>
                  <a:srgbClr val="1F2A3A"/>
                </a:solidFill>
                <a:latin typeface="맑은 고딕"/>
                <a:ea typeface="맑은 고딕"/>
                <a:cs typeface="맑은 고딕"/>
              </a:rPr>
              <a:t>관계로 잇는다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git-compare" descr="git-compare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견준다</a:t>
            </a:r>
          </a:p>
          <a:p>
            <a:pPr algn="ctr">
              <a:lnSpc>
                <a:spcPct val="110000"/>
              </a:lnSpc>
              <a:spcAft>
                <a:spcPts val="400"/>
              </a:spcAft>
            </a:pPr>
            <a:r>
              <a:rPr sz="1350" b="0">
                <a:solidFill>
                  <a:srgbClr val="1F2A3A"/>
                </a:solidFill>
                <a:latin typeface="맑은 고딕"/>
                <a:ea typeface="맑은 고딕"/>
                <a:cs typeface="맑은 고딕"/>
              </a:rPr>
              <a:t>같은 질의를 새 설비와</a:t>
            </a:r>
          </a:p>
          <a:p>
            <a:pPr algn="ctr">
              <a:lnSpc>
                <a:spcPct val="110000"/>
              </a:lnSpc>
              <a:spcAft>
                <a:spcPts val="400"/>
              </a:spcAft>
            </a:pPr>
            <a:r>
              <a:rPr sz="1350" b="0">
                <a:solidFill>
                  <a:srgbClr val="1F2A3A"/>
                </a:solidFill>
                <a:latin typeface="맑은 고딕"/>
                <a:ea typeface="맑은 고딕"/>
                <a:cs typeface="맑은 고딕"/>
              </a:rPr>
              <a:t>기존 설비에 실행해</a:t>
            </a:r>
          </a:p>
          <a:p>
            <a:pPr algn="ctr">
              <a:lnSpc>
                <a:spcPct val="110000"/>
              </a:lnSpc>
              <a:spcAft>
                <a:spcPts val="400"/>
              </a:spcAft>
            </a:pPr>
            <a:r>
              <a:rPr sz="1350" b="0">
                <a:solidFill>
                  <a:srgbClr val="1F2A3A"/>
                </a:solidFill>
                <a:latin typeface="맑은 고딕"/>
                <a:ea typeface="맑은 고딕"/>
                <a:cs typeface="맑은 고딕"/>
              </a:rPr>
              <a:t>결과를 나란히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지식에 안전한 작업 절차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SOP에서 전제 조건, 안전 조건, 금지 사항을 뽑아 고장 유형과 조치에 연결한다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SOP의 전제 조건, 안전 조건, 금지 사항이 고장 유형과 조치 방법에 이어진 자료가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앞서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전제와 안전 조건</a:t>
            </a:r>
          </a:p>
          <a:p>
            <a:pPr algn="ctr">
              <a:lnSpc>
                <a:spcPct val="110000"/>
              </a:lnSpc>
              <a:spcAft>
                <a:spcPts val="400"/>
              </a:spcAft>
            </a:pPr>
            <a:r>
              <a:rPr sz="1350" b="0">
                <a:solidFill>
                  <a:srgbClr val="1F2A3A"/>
                </a:solidFill>
                <a:latin typeface="맑은 고딕"/>
                <a:ea typeface="맑은 고딕"/>
                <a:cs typeface="맑은 고딕"/>
              </a:rPr>
              <a:t>시작 전에 성립해야 할</a:t>
            </a:r>
          </a:p>
          <a:p>
            <a:pPr algn="ctr">
              <a:lnSpc>
                <a:spcPct val="110000"/>
              </a:lnSpc>
              <a:spcAft>
                <a:spcPts val="400"/>
              </a:spcAft>
            </a:pPr>
            <a:r>
              <a:rPr sz="1350" b="0">
                <a:solidFill>
                  <a:srgbClr val="1F2A3A"/>
                </a:solidFill>
                <a:latin typeface="맑은 고딕"/>
                <a:ea typeface="맑은 고딕"/>
                <a:cs typeface="맑은 고딕"/>
              </a:rPr>
              <a:t>상태와 먼저 할</a:t>
            </a:r>
          </a:p>
          <a:p>
            <a:pPr algn="ctr">
              <a:lnSpc>
                <a:spcPct val="110000"/>
              </a:lnSpc>
              <a:spcAft>
                <a:spcPts val="400"/>
              </a:spcAft>
            </a:pPr>
            <a:r>
              <a:rPr sz="1350" b="0">
                <a:solidFill>
                  <a:srgbClr val="1F2A3A"/>
                </a:solidFill>
                <a:latin typeface="맑은 고딕"/>
                <a:ea typeface="맑은 고딕"/>
                <a:cs typeface="맑은 고딕"/>
              </a:rPr>
              <a:t>안전 조치를 뽑는다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금지 사항 연결</a:t>
            </a:r>
          </a:p>
          <a:p>
            <a:pPr algn="ctr">
              <a:lnSpc>
                <a:spcPct val="110000"/>
              </a:lnSpc>
              <a:spcAft>
                <a:spcPts val="400"/>
              </a:spcAft>
            </a:pPr>
            <a:r>
              <a:rPr sz="1350" b="0">
                <a:solidFill>
                  <a:srgbClr val="1F2A3A"/>
                </a:solidFill>
                <a:latin typeface="맑은 고딕"/>
                <a:ea typeface="맑은 고딕"/>
                <a:cs typeface="맑은 고딕"/>
              </a:rPr>
              <a:t>하지 않을 일을 뽑아</a:t>
            </a:r>
          </a:p>
          <a:p>
            <a:pPr algn="ctr">
              <a:lnSpc>
                <a:spcPct val="110000"/>
              </a:lnSpc>
              <a:spcAft>
                <a:spcPts val="400"/>
              </a:spcAft>
            </a:pPr>
            <a:r>
              <a:rPr sz="1350" b="0">
                <a:solidFill>
                  <a:srgbClr val="1F2A3A"/>
                </a:solidFill>
                <a:latin typeface="맑은 고딕"/>
                <a:ea typeface="맑은 고딕"/>
                <a:cs typeface="맑은 고딕"/>
              </a:rPr>
              <a:t>조치 방법에</a:t>
            </a:r>
          </a:p>
          <a:p>
            <a:pPr algn="ctr">
              <a:lnSpc>
                <a:spcPct val="110000"/>
              </a:lnSpc>
              <a:spcAft>
                <a:spcPts val="400"/>
              </a:spcAft>
            </a:pPr>
            <a:r>
              <a:rPr sz="1350" b="0">
                <a:solidFill>
                  <a:srgbClr val="1F2A3A"/>
                </a:solidFill>
                <a:latin typeface="맑은 고딕"/>
                <a:ea typeface="맑은 고딕"/>
                <a:cs typeface="맑은 고딕"/>
              </a:rPr>
              <a:t>이어서 남긴다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구조에서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구조에서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클래스와 관계의 정의</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인스턴스의 고유한 값</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자료형</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Type</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칸에 들어갈 값의 종류</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이어지는 상대의 수</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제약</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Constraint</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데이터가 지킬 조건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종류 이름표</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DB에 보내는 요청</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방법의 출처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(a:Asset)-[:MONITORED_BY]-&gt;(c:Component {name: '오일 쿨러'})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이름을 고쳐 다시 넣는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식별자가 sen:ts1이고 이름이 「유온 센서」인 노드가 이미 있으며, 이름을 「온도 센서」로 고쳐 다시 넣으려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있던 노드를 찾아 이름만 고치는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name: '온도 센서'})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name: '온도 센서'})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SET s.name = '온도 센서'</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SET s.name = '온도 센서'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식별자로 찾아 만드는 문장을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화살표는 설비 노드에서 나와 구성 요소 노드로 들어가게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MERGE는 괄호 안에 적은 것으로 먼저 찾는다. 식별자만 적어야 이름이 바뀌어도 같은 노드를 찾는다.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