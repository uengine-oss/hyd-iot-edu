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4회차까지는 판단의 재료인 지식과 규칙을 만들었습니다. 오늘은 그 재료로 실제로 일하는 에이전트를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시간표입니다. 경보가 나고 승인되기까지 108초가 걸렸고, 그 가운데 94초는 사람이 아니라 에이전트가 일한 시간이었습니다. 그동안 에이전트는 원인을 가리고 조치 후보 넷을 견주어 추천안을 냈습니다. 오늘은 이 94초 안에서 일어난 일을 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4회차에 문서에서 지식 후보를 뽑는 데 쓴 LLM이 하는 일은 한 가지입니다. 글을 받아 이어질 글을 만들어 냅니다. 입력 한 번에 출력 한 번이고, 그 사이에 데이터베이스를 읽거나 시스템을 조작하지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LLM만으로는 답하지 못하는 것이 셋 있습니다. 첫째는 지금의 값이며 유온은 시계열 DB에 있고 모델 안에 없습니다. 둘째는 이 공장의 문서이며 HM-8의 기준을 모델은 배운 적이 없습니다. 셋째는 수행이며 조회하고 계산하고 제출하는 일은 글을 만드는 것으로 되지 않습니다. 뒤의 두 방식은 이 빈자리를 메우는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빈자리인 문서를 메우는 방식이 RAG입니다. 질문이 들어오면 먼저 가까운 문서 조각을 찾고, 그 조각을 질문과 함께 모델에 넣습니다. 모델은 배운 적 없는 문서의 내용으로 답할 수 있게 됩니다. 다만 마지막 단계는 여전히 글로 답하는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빈자리인 수행까지 메우는 것이 에이전트입니다. 에이전트는 목표를 받고, 도구를 골라 부르고, 돌아온 결과를 보고 다음에 무엇을 할지 정합니다. 이 일을 목표에 이를 때까지 되풀이합니다. 도구는 모델이 부를 수 있도록 이름과 입력을 정해 둔 기능이며, 쿨러 사건에서는 원인 진단과 생산오더 조회 같은 도구가 쓰였습니다.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요청을 세 방식에 넣어 견줍니다. LLM은 유압 설비에 대한 일반적인 설명을 돌려줍니다. RAG는 관련 문서를 찾아 그 내용을 인용해 설명합니다. 에이전트는 도구로 지금의 값을 읽어 원인을 가리고 후보 넷을 견준 추천안을 제출합니다. 셋을 가르는 것은 답의 근거가 어디에서 오는가와 마지막에 무엇을 하는가이며, 앞의 둘은 글을 내고 에이전트는 산출물을 제출합니다.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뜯어 보면 세 요소가 있습니다. 모델은 앞에서 본 LLM이며 글을 읽고 다음 행동을 정합니다. 도구는 실제로 조회하고 계산해 결과를 돌려줍니다. 실행 고리는 모델과 도구 사이를 목표에 이를 때까지 되풀이해 오가게 하는 틀입니다. 모델이 달라진 것이 아니라 도구와 고리가 더해진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하나는 이 항목들로 정의됩니다. 쿨러 사건을 맡은 냉각 긴급 대응 에이전트의 값입니다. 목표는 무엇을 이루어야 끝나는지를, 도구는 무엇을 쓸 수 있는지를 정합니다. 목표 칸은 에이전트에 적힌 문장을 이 수업의 낱말로 줄여 옮긴 요지입니다. 업무 지침은 에이전트 스킬이라는 파일로 주며, 그 형식은 다음 회차에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부른다는 것이 실제로 어떤 모습인지 쿨러 사건의 기록에서 한 건을 꺼냈습니다. 모델이 한 일은 원인 진단이라는 도구의 이름과, 물음에 적힌 세 값을 글로 적어 낸 것입니다. 지식 그래프와 시계열 DB를 읽은 것은 모델이 아니라 도구이고, 도구가 그 결과를 돌려주었습니다. 모델은 글만 만든다는 앞의 설명과 어긋나지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틀이 실행 고리입니다. 왼쪽부터 요청 해석, 계획, 도구 선택과 호출, 결과 관찰, 종료입니다. 결과를 관찰해 목표에 이르렀으면 종료로 가고, 아직 못 미쳤거나 호출이 뜻대로 되지 않았으면 위의 점선을 따라 계획으로 되돌아갑니다. 이 가운데 결과 관찰에 이은 다음 호출을 쿨러 사건의 기록에서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선택과 호출, 그리고 결과 관찰이 이어지는 장면입니다. 위는 원인 진단이 돌려준 결과의 요지이고, 아래는 5초 뒤에 부른 대안 평가의 물음입니다. 진단에서 읽은 원인과 고장 유형의 식별자가 아래 물음에 그대로 들어가 있습니다. 관찰한 결과가 다음 호출의 입력을 정한다는 것이 이 두 줄에서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운전이라는 추천안 한 건을 만드는 데 쓰인 정보를 출처별로 놓았습니다. 원인 후보는 온톨로지에서, 냉각 효율 46.2 %는 시계열 DB에서, 납기까지 남은 시간은 업무 DB에서, 조치의 단계와 출처는 SOP에서 왔습니다. 네 곳 모두 에이전트가 도구를 불러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정보원은 저마다 다른 물음에 답합니다. 온톨로지는 관계를, 시계열 DB는 그 시각의 측정값을, 업무 DB는 정비와 재고와 납기의 상태를, SOP는 조치를 수행하는 방법을 답합니다. 유온이 지금 몇 도인지를 온톨로지에 물으면 답이 없고, 원인 후보가 무엇인지를 시계열 DB에 물어도 답이 없습니다. 꼬리표를 보면 넷은 둘로 나뉩니다. 온톨로지와 SOP는 문서가 개정될 때만 바뀌고, 시계열 DB와 업무 DB의 값은 계속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 가운데 온톨로지와 SOP는 같은 지식 그래프에 들어 있습니다. 4회차까지 만든 그래프입니다. 에이전트는 고장 유형에서 CAUSES를 거슬러 원인 후보 셋을, MITIGATED_BY를 따라 조치 방법을 얻었습니다. 그래프가 알려 주는 것은 후보까지이며, 셋 가운데 어느 것이 맞는지는 값을 읽어야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DB에서 읽은 값입니다. 에이전트는 설비 이름 하나를 물음으로 넣어 이 설비에 걸린 생산오더를 받았습니다. 납기까지 5.98시간이 남았고 남은 수량은 1,500개입니다. 부하를 낮추는 조치가 납기에서 점수를 잃는 것이 이 값 때문입니다. 출하 대기 로트도 같은 방식으로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물음마다 읽을 곳이 다르므로, 무엇을 어디에서 확인할지를 규칙으로 정해 둡니다. 에이전트에게는 추측하지 말고 도구로 확인하라는 작업 규칙이 주어지며, 무엇을 어디에서 얻을지가 세 갈래로 정해져 있습니다. 지식은 지식 그래프에서, 지금의 값은 원천에서 그때 읽습니다. 규칙 판정은 모델이 직접 하지 않고 판단 도구의 결과를 씁니다. 같은 입력에는 같은 판정이 나와야 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읽은 값에는 신선도라는 기준이 붙습니다. 가로축이 시간이고 오른쪽의 굵은 선이 판단하는 시각입니다. 하늘색 띠가 허용 범위 60초입니다. 쿨러 사건에서 최신 유온은 0.6초 전의 값이어서 그대로 판단에 쓰였습니다. 왼쪽처럼 60초보다 오래된 값밖에 없으면, 그 값으로 판단하지 않고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오래되었거나 읽지 못했는데도 에이전트가 멈추지 않으면 어떻게 되는지를 봅니다. 냉각 효율을 읽지 못했는데 가능성이 가장 큰 원인을 적어 내면, 추천안의 모양은 값을 읽었을 때와 똑같습니다. 승인하는 사람은 그 차이를 알 수 없습니다. 오른쪽처럼 원인을 적지 않고 무엇을 확인하지 못했는지를 내야 모르는 것이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멈춰야 하는 상황은 셋입니다. 위는 근거 부족으로, 값을 얻지 못했거나 얻은 값이 어느 원인에도 맞지 않는 경우입니다. 가운데는 도구 호출 실패로, 다시 시도해도 도구가 오류를 돌려주는 경우입니다. 아래는 권한 제한으로, 일을 하려면 허용되지 않은 도구가 필요한 경우입니다. 셋 모두 에이전트는 지어내지 않고 멈추며, 멈춘 작업은 이유와 함께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부족에는 서로 다른 두 경우가 들어 있습니다. UNKNOWN은 조회에 실패했거나 값이 비어서 맞는지 틀린지를 말할 수 없는 상태입니다. UNSUPPORTED는 값은 읽었지만 어느 원인의 기준에도 맞지 않는 상태입니다. 앞의 것은 값이 들어오면 풀리고, 뒤의 것은 등록된 지식에 없는 원인일 수 있어 사람이 살펴야 합니다. 쿨러 사건의 쿨러 핀 오염은 값을 읽었고 기준에 맞은 SUPPORTED였습니다.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보류에도 정해진 형식이 있습니다. 에이전트는 원인이나 추천 같은 결과 항목을 하나도 채우지 않고, 상태와 이유와 그때까지 모은 증거만 제출합니다. 일부는 채우고 일부는 보류하는 식으로 섞어 내면 받아들여지지 않습니다. 절반만 확인된 추천안이 승인 화면에 올라가는 일을 막기 위해서입니다.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멈춤 조건 가운데 권한 제한을 봅니다. 에이전트마다 부를 수 있는 도구가 허용 목록으로 정해져 있습니다. 목록 밖의 도구를 부르려 하면 실행되지 않고 권한 요청이 되며, 그 요청은 질문이 되어 사람에게 올라갑니다. 마지막 칸은 에이전트에게 주는 지시의 한 문장입니다. 사람이 질문에 답하더라도 그것으로 에이전트의 권한이 넓어지지는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멈추지 않고 끝까지 간 경우에 에이전트가 내는 결과의 형식입니다. 답을 정해진 형식으로 내는 구조화 출력입니다. 추천안은 다섯 항목을 가진 JSON 객체 하나이며, 어떤 항목이 있어야 하는지는 작업마다 미리 정해져 있습니다. 승인 화면은 decision에서 추천과 설명을 읽어 보여 주고, 뒤의 단계는 decision_id로 이 판단을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낸 결과는 시스템이 먼저 검사합니다. 정해진 항목이 빠졌거나 모양이 어긋나면 그 결과는 승인 화면으로 가지 못하고, 거절됐다는 알림과 이유가 에이전트에게 되돌아갑니다. 에이전트는 같은 실행 안에서 고쳐서 다시 냅니다. 이 교정은 두 번까지입니다.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에이전트 하나를 직접 구성합니다. 앞에서 본 항목대로 이름과 목표와 역할을 적고, 쓸 수 있는 읽기 도구 가운데 필요한 것을 고릅니다. 그런 다음 그 에이전트에게 질문하고, 답에 붙은 근거와 호출 기록을 읽습니다. 끝으로 같은 업무 문제를 다음 실습에서 직접 만들 에이전트에 넣을 수 있게, 질문에 쓴 입력을 정리해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Code에서 Claude Code로 진행합니다. 공용 온톨로지의 관계와 제공된 센서 입력을 읽어 후보 원인과 증거, 추가 점검 항목을 내는 에이전트를 만듭니다. 확인되지 않은 원인은 단정하지 않고 가설로 표시해야 합니다. 끝나면 에이전트와, 후보 원인과 점검 항목을 근거와 함께 적은 출력이 파일로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앞에서 만든 에이전트를 그대로 씁니다. 서로 다른 센서 값과 고장 후보를 넣어 후보마다 맞는 증거와 맞지 않는 증거를 견줍니다. 증거가 모자라거나 서로 어긋날 때 에이전트가 원인을 단정하지 않고 추가 확인을 요청하는지를 봅니다. 그런 다음 무엇부터 점검할지의 순서와 그 근거를 보완합니다.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불량 접수 메시지를 받아 후속 업무로 넘기는 작은 에이전트를 만듭니다. 출력은 품질 유형, 추가 확인 항목, 담당 부서, 대응 초안의 정해진 항목을 가진 품질 대응 카드입니다. 원인이 정해지지 않은 접수는 원인을 단정하지 않고 조사 요청으로 넘기는 갈래를 반드시 둡니다.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이름만 다시 확인합니다. 이 넷과 함께 실행 고리, 정보원, 멈춤 조건, 보류, 허용 목록이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기록의 한 장면을 실행 고리의 단계에 대어 보는 문항입니다. 두 호출의 도구가 같은지 다른지, 뒤 호출의 입력이 어디에서 왔는지를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값, 그리고 실패와 값 없음을 구분하는지를 확인하는 문항입니다. 보기마다 무엇을 무엇으로 바꾸어 썼는지를 짚어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에이전트와 사람 사이의 책임 경계를 확인하는 문항입니다. 상황이 급하다는 것이 권한을 바꾸는지, 사람의 답변이 권한을 바꾸는지를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같은 일을 방법을 바꾸어 다시 한 경우에 해당하는 말이며 이 장면과는 다릅니다. 둘째 문항의 1번은 묵은 값을, 2번은 실패를 0으로, 3번은 후보를 확인된 원인으로 바꾸어 쓴 것입니다. 셋째 문항의 4번은 사람에게 물었다는 점에서 그럴듯하지만, 답변이 권한을 바꾸지 않는다는 점에서 틀렸습니다.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16.png"/><Relationship Id="rId6"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9.png"/><Relationship Id="rId4" Type="http://schemas.openxmlformats.org/officeDocument/2006/relationships/image" Target="../media/image16.png"/><Relationship Id="rId5"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41.png"/><Relationship Id="rId6"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43.png"/><Relationship Id="rId5" Type="http://schemas.openxmlformats.org/officeDocument/2006/relationships/image" Target="../media/image31.png"/><Relationship Id="rId6"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4.png"/><Relationship Id="rId4" Type="http://schemas.openxmlformats.org/officeDocument/2006/relationships/image" Target="../media/image25.png"/><Relationship Id="rId5" Type="http://schemas.openxmlformats.org/officeDocument/2006/relationships/image" Target="../media/image45.png"/><Relationship Id="rId6"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5회차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현장 문제를 직접 해결하는</a:t>
            </a:r>
          </a:p>
          <a:p>
            <a:pPr algn="l">
              <a:lnSpc>
                <a:spcPct val="110000"/>
              </a:lnSpc>
            </a:pPr>
            <a:r>
              <a:rPr sz="4000" b="1">
                <a:solidFill>
                  <a:srgbClr val="FFFFFF"/>
                </a:solidFill>
                <a:latin typeface="맑은 고딕"/>
                <a:ea typeface="맑은 고딕"/>
                <a:cs typeface="맑은 고딕"/>
              </a:rPr>
              <a:t>AI 에이전트의 제작</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에이전트가 정보와 도구를 써서 업무를 수행하는 원리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bot" descr="robo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search" descr="list-search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건을 맡은 에이전트가 무엇을 읽고 어떤 순서로 일하며 언제 멈추는지를 실제 기록으로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방식의 구분</a:t>
            </a:r>
          </a:p>
          <a:p>
            <a:pPr algn="l">
              <a:lnSpc>
                <a:spcPct val="110000"/>
              </a:lnSpc>
              <a:spcAft>
                <a:spcPts val="400"/>
              </a:spcAft>
            </a:pPr>
            <a:r>
              <a:rPr sz="1350" b="0">
                <a:solidFill>
                  <a:srgbClr val="1F2A3A"/>
                </a:solidFill>
                <a:latin typeface="맑은 고딕"/>
                <a:ea typeface="맑은 고딕"/>
                <a:cs typeface="맑은 고딕"/>
              </a:rPr>
              <a:t>LLM, RAG, 에이전트가 하는 일의 차이를 같은 요청으로 견주어 설명한다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고리</a:t>
            </a:r>
          </a:p>
          <a:p>
            <a:pPr algn="l">
              <a:lnSpc>
                <a:spcPct val="110000"/>
              </a:lnSpc>
              <a:spcAft>
                <a:spcPts val="400"/>
              </a:spcAft>
            </a:pPr>
            <a:r>
              <a:rPr sz="1350" b="0">
                <a:solidFill>
                  <a:srgbClr val="1F2A3A"/>
                </a:solidFill>
                <a:latin typeface="맑은 고딕"/>
                <a:ea typeface="맑은 고딕"/>
                <a:cs typeface="맑은 고딕"/>
              </a:rPr>
              <a:t>요청 해석에서 종료까지의 단계와, 결과 관찰이 다음 호출을 정하는 장면을 설명한다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정보원과 도구</a:t>
            </a:r>
          </a:p>
          <a:p>
            <a:pPr algn="l">
              <a:lnSpc>
                <a:spcPct val="110000"/>
              </a:lnSpc>
              <a:spcAft>
                <a:spcPts val="400"/>
              </a:spcAft>
            </a:pPr>
            <a:r>
              <a:rPr sz="1350" b="0">
                <a:solidFill>
                  <a:srgbClr val="1F2A3A"/>
                </a:solidFill>
                <a:latin typeface="맑은 고딕"/>
                <a:ea typeface="맑은 고딕"/>
                <a:cs typeface="맑은 고딕"/>
              </a:rPr>
              <a:t>온톨로지, 시계열 DB, 업무 DB, SOP가 답하는 물음을 가르고 지식과 현재값을 구분한다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player-stop" descr="player-stop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멈춤과 보류</a:t>
            </a:r>
          </a:p>
          <a:p>
            <a:pPr algn="l">
              <a:lnSpc>
                <a:spcPct val="110000"/>
              </a:lnSpc>
              <a:spcAft>
                <a:spcPts val="400"/>
              </a:spcAft>
            </a:pPr>
            <a:r>
              <a:rPr sz="1350" b="0">
                <a:solidFill>
                  <a:srgbClr val="1F2A3A"/>
                </a:solidFill>
                <a:latin typeface="맑은 고딕"/>
                <a:ea typeface="맑은 고딕"/>
                <a:cs typeface="맑은 고딕"/>
              </a:rPr>
              <a:t>에이전트가 멈춰야 하는 조건을 들고, 보류할 때 내는 것을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신뢰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질문하는 AI와 일하는 AI: 에이전트의 실행 고리</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정보원과 도구 사용 원리</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나의 첫 업무 에이전트 구성하기</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이상의 원인을 추론하는 에이전트 제작</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여러 증거의 비교와 점검 우선순위 결정</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품질 불량 접수의 후속 업무 연결</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질문하는 AI와 일하는 AI:</a:t>
            </a:r>
          </a:p>
          <a:p>
            <a:pPr algn="l">
              <a:lnSpc>
                <a:spcPct val="110000"/>
              </a:lnSpc>
            </a:pPr>
            <a:r>
              <a:rPr sz="3400" b="1">
                <a:solidFill>
                  <a:srgbClr val="13294B"/>
                </a:solidFill>
                <a:latin typeface="맑은 고딕"/>
                <a:ea typeface="맑은 고딕"/>
                <a:cs typeface="맑은 고딕"/>
              </a:rPr>
              <a:t>에이전트의 실행 고리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한 번 답하는 모델과 목표에 이를 때까지 도구를 쓰며 일하는 에이전트의 차이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승인까지 108초 가운데 에이전트가 일한 94초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94초는 </a:t>
            </a:r>
            <a:r>
              <a:rPr sz="1600" b="1">
                <a:solidFill>
                  <a:srgbClr val="1A6FC4"/>
                </a:solidFill>
                <a:latin typeface="맑은 고딕"/>
                <a:ea typeface="맑은 고딕"/>
                <a:cs typeface="맑은 고딕"/>
              </a:rPr>
              <a:t>에이전트</a:t>
            </a:r>
            <a:r>
              <a:rPr sz="1600" b="0">
                <a:solidFill>
                  <a:srgbClr val="556175"/>
                </a:solidFill>
                <a:latin typeface="맑은 고딕"/>
                <a:ea typeface="맑은 고딕"/>
                <a:cs typeface="맑은 고딕"/>
              </a:rPr>
              <a:t>가 원인을 가리고 조치 후보를 견주어 추천안을 낸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경보에서승인까지.svg" descr="illust_6028816046322501483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 11:13:08</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3117555" y="1674906"/>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원인을 가리고 후보를 견준다</a:t>
            </a:r>
          </a:p>
        </p:txBody>
      </p:sp>
      <p:sp>
        <p:nvSpPr>
          <p:cNvPr id="9" name="TextBox 8"/>
          <p:cNvSpPr txBox="1"/>
          <p:nvPr/>
        </p:nvSpPr>
        <p:spPr>
          <a:xfrm>
            <a:off x="6444951" y="172218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 11:14:42</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10" name="TextBox 9"/>
          <p:cNvSpPr txBox="1"/>
          <p:nvPr/>
        </p:nvSpPr>
        <p:spPr>
          <a:xfrm>
            <a:off x="9019592"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11:14:56</a:t>
            </a:r>
          </a:p>
          <a:p>
            <a:pPr algn="ctr">
              <a:lnSpc>
                <a:spcPct val="110000"/>
              </a:lnSpc>
              <a:spcAft>
                <a:spcPts val="100"/>
              </a:spcAft>
            </a:pPr>
            <a:r>
              <a:rPr sz="1300" b="0">
                <a:solidFill>
                  <a:srgbClr val="556175"/>
                </a:solidFill>
                <a:latin typeface="맑은 고딕"/>
                <a:ea typeface="맑은 고딕"/>
                <a:cs typeface="맑은 고딕"/>
              </a:rPr>
              <a:t>운전원</a:t>
            </a:r>
          </a:p>
        </p:txBody>
      </p:sp>
      <p:sp>
        <p:nvSpPr>
          <p:cNvPr id="11" name="TextBox 10"/>
          <p:cNvSpPr txBox="1"/>
          <p:nvPr/>
        </p:nvSpPr>
        <p:spPr>
          <a:xfrm>
            <a:off x="3368473" y="5409590"/>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94초</a:t>
            </a:r>
          </a:p>
          <a:p>
            <a:pPr algn="ctr">
              <a:lnSpc>
                <a:spcPct val="110000"/>
              </a:lnSpc>
              <a:spcAft>
                <a:spcPts val="100"/>
              </a:spcAft>
            </a:pPr>
            <a:r>
              <a:rPr sz="1300" b="0">
                <a:solidFill>
                  <a:srgbClr val="556175"/>
                </a:solidFill>
                <a:latin typeface="맑은 고딕"/>
                <a:ea typeface="맑은 고딕"/>
                <a:cs typeface="맑은 고딕"/>
              </a:rPr>
              <a:t>에이전트 단계 전체</a:t>
            </a:r>
          </a:p>
        </p:txBody>
      </p:sp>
      <p:sp>
        <p:nvSpPr>
          <p:cNvPr id="12" name="TextBox 11"/>
          <p:cNvSpPr txBox="1"/>
          <p:nvPr/>
        </p:nvSpPr>
        <p:spPr>
          <a:xfrm>
            <a:off x="7950461" y="54095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13초</a:t>
            </a:r>
          </a:p>
          <a:p>
            <a:pPr algn="ctr">
              <a:lnSpc>
                <a:spcPct val="110000"/>
              </a:lnSpc>
              <a:spcAft>
                <a:spcPts val="100"/>
              </a:spcAft>
            </a:pPr>
            <a:r>
              <a:rPr sz="1300" b="0">
                <a:solidFill>
                  <a:srgbClr val="556175"/>
                </a:solidFill>
                <a:latin typeface="맑은 고딕"/>
                <a:ea typeface="맑은 고딕"/>
                <a:cs typeface="맑은 고딕"/>
              </a:rPr>
              <a:t>승인 대기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LLM의 응답 생성: 입력 한 번에 출력 한 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LLM은 받은 글에 이어질 글을 학습한 내용으로 만들어 한 번 답하며, 그 과정에서 바깥의 데이터를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900629"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읽는다</a:t>
            </a:r>
          </a:p>
        </p:txBody>
      </p:sp>
      <p:sp>
        <p:nvSpPr>
          <p:cNvPr id="9" name="Oval 8"/>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message" descr="message_13294B_1.6.png"/>
          <p:cNvPicPr>
            <a:picLocks noChangeAspect="1"/>
          </p:cNvPicPr>
          <p:nvPr/>
        </p:nvPicPr>
        <p:blipFill>
          <a:blip r:embed="rId3"/>
          <a:stretch>
            <a:fillRect/>
          </a:stretch>
        </p:blipFill>
        <p:spPr>
          <a:xfrm>
            <a:off x="2088642" y="3330181"/>
            <a:ext cx="618134" cy="618134"/>
          </a:xfrm>
          <a:prstGeom prst="rect">
            <a:avLst/>
          </a:prstGeom>
        </p:spPr>
      </p:pic>
      <p:sp>
        <p:nvSpPr>
          <p:cNvPr id="11" name="TextBox 10"/>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사람이 적어 넣은 글</a:t>
            </a:r>
          </a:p>
          <a:p>
            <a:pPr algn="ctr">
              <a:lnSpc>
                <a:spcPct val="110000"/>
              </a:lnSpc>
              <a:spcAft>
                <a:spcPts val="400"/>
              </a:spcAft>
            </a:pPr>
            <a:r>
              <a:rPr sz="1300" b="0">
                <a:solidFill>
                  <a:srgbClr val="1F2A3A"/>
                </a:solidFill>
                <a:latin typeface="맑은 고딕"/>
                <a:ea typeface="맑은 고딕"/>
                <a:cs typeface="맑은 고딕"/>
              </a:rPr>
              <a:t>질문, 지시, 참고 자료</a:t>
            </a:r>
          </a:p>
        </p:txBody>
      </p:sp>
      <p:sp>
        <p:nvSpPr>
          <p:cNvPr id="12" name="Chevron 11"/>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6598767"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만든다</a:t>
            </a:r>
          </a:p>
        </p:txBody>
      </p:sp>
      <p:sp>
        <p:nvSpPr>
          <p:cNvPr id="14" name="Oval 13"/>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5" name="아이콘:cpu" descr="cpu_13294B_1.6.png"/>
          <p:cNvPicPr>
            <a:picLocks noChangeAspect="1"/>
          </p:cNvPicPr>
          <p:nvPr/>
        </p:nvPicPr>
        <p:blipFill>
          <a:blip r:embed="rId4"/>
          <a:stretch>
            <a:fillRect/>
          </a:stretch>
        </p:blipFill>
        <p:spPr>
          <a:xfrm>
            <a:off x="5786780" y="3330181"/>
            <a:ext cx="618134" cy="618134"/>
          </a:xfrm>
          <a:prstGeom prst="rect">
            <a:avLst/>
          </a:prstGeom>
        </p:spPr>
      </p:pic>
      <p:sp>
        <p:nvSpPr>
          <p:cNvPr id="16" name="TextBox 15"/>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LLM</a:t>
            </a:r>
          </a:p>
          <a:p>
            <a:pPr algn="ctr">
              <a:lnSpc>
                <a:spcPct val="110000"/>
              </a:lnSpc>
              <a:spcAft>
                <a:spcPts val="400"/>
              </a:spcAft>
            </a:pPr>
            <a:r>
              <a:rPr sz="1300" b="0">
                <a:solidFill>
                  <a:srgbClr val="1F2A3A"/>
                </a:solidFill>
                <a:latin typeface="맑은 고딕"/>
                <a:ea typeface="맑은 고딕"/>
                <a:cs typeface="맑은 고딕"/>
              </a:rPr>
              <a:t>학습한 내용으로</a:t>
            </a:r>
          </a:p>
          <a:p>
            <a:pPr algn="ctr">
              <a:lnSpc>
                <a:spcPct val="110000"/>
              </a:lnSpc>
              <a:spcAft>
                <a:spcPts val="400"/>
              </a:spcAft>
            </a:pPr>
            <a:r>
              <a:rPr sz="1300" b="0">
                <a:solidFill>
                  <a:srgbClr val="1F2A3A"/>
                </a:solidFill>
                <a:latin typeface="맑은 고딕"/>
                <a:ea typeface="맑은 고딕"/>
                <a:cs typeface="맑은 고딕"/>
              </a:rPr>
              <a:t>이어질 글을 만든다</a:t>
            </a:r>
          </a:p>
        </p:txBody>
      </p:sp>
      <p:sp>
        <p:nvSpPr>
          <p:cNvPr id="17" name="Oval 16"/>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9484918" y="3330181"/>
            <a:ext cx="618134" cy="618134"/>
          </a:xfrm>
          <a:prstGeom prst="rect">
            <a:avLst/>
          </a:prstGeom>
        </p:spPr>
      </p:pic>
      <p:sp>
        <p:nvSpPr>
          <p:cNvPr id="19" name="TextBox 18"/>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출력</a:t>
            </a:r>
          </a:p>
          <a:p>
            <a:pPr algn="ctr">
              <a:lnSpc>
                <a:spcPct val="110000"/>
              </a:lnSpc>
              <a:spcAft>
                <a:spcPts val="400"/>
              </a:spcAft>
            </a:pPr>
            <a:r>
              <a:rPr sz="1300" b="0">
                <a:solidFill>
                  <a:srgbClr val="1F2A3A"/>
                </a:solidFill>
                <a:latin typeface="맑은 고딕"/>
                <a:ea typeface="맑은 고딕"/>
                <a:cs typeface="맑은 고딕"/>
              </a:rPr>
              <a:t>글로 된 응답 한 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LLM만으로는 답할 수 없는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유온이 지금 몇 도인가」의 답은 시계열 DB에 있고 모델이 학습한 내용 안에는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유온, 냉각 효율, 운전 모드는 매초 바뀐다</a:t>
            </a:r>
          </a:p>
          <a:p>
            <a:pPr algn="l">
              <a:lnSpc>
                <a:spcPct val="110000"/>
              </a:lnSpc>
              <a:spcAft>
                <a:spcPts val="400"/>
              </a:spcAft>
            </a:pPr>
            <a:r>
              <a:rPr sz="1400" b="0">
                <a:solidFill>
                  <a:srgbClr val="1F2A3A"/>
                </a:solidFill>
                <a:latin typeface="맑은 고딕"/>
                <a:ea typeface="맑은 고딕"/>
                <a:cs typeface="맑은 고딕"/>
              </a:rPr>
              <a:t>• 학습이 끝난 뒤에 생긴 값은 모델 안에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book-2" descr="book-2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 공장의 문서</a:t>
            </a:r>
          </a:p>
          <a:p>
            <a:pPr algn="l">
              <a:lnSpc>
                <a:spcPct val="110000"/>
              </a:lnSpc>
              <a:spcAft>
                <a:spcPts val="400"/>
              </a:spcAft>
            </a:pPr>
            <a:r>
              <a:rPr sz="1400" b="0">
                <a:solidFill>
                  <a:srgbClr val="1F2A3A"/>
                </a:solidFill>
                <a:latin typeface="맑은 고딕"/>
                <a:ea typeface="맑은 고딕"/>
                <a:cs typeface="맑은 고딕"/>
              </a:rPr>
              <a:t>• 매뉴얼 HM-8의 판별 기준과 절차는 공개된 글이 아니다</a:t>
            </a:r>
          </a:p>
          <a:p>
            <a:pPr algn="l">
              <a:lnSpc>
                <a:spcPct val="110000"/>
              </a:lnSpc>
              <a:spcAft>
                <a:spcPts val="400"/>
              </a:spcAft>
            </a:pPr>
            <a:r>
              <a:rPr sz="1400" b="0">
                <a:solidFill>
                  <a:srgbClr val="1F2A3A"/>
                </a:solidFill>
                <a:latin typeface="맑은 고딕"/>
                <a:ea typeface="맑은 고딕"/>
                <a:cs typeface="맑은 고딕"/>
              </a:rPr>
              <a:t>• 일반적인 유압 설비 지식으로 대신 답하게 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수행</a:t>
            </a:r>
          </a:p>
          <a:p>
            <a:pPr algn="l">
              <a:lnSpc>
                <a:spcPct val="110000"/>
              </a:lnSpc>
              <a:spcAft>
                <a:spcPts val="400"/>
              </a:spcAft>
            </a:pPr>
            <a:r>
              <a:rPr sz="1400" b="0">
                <a:solidFill>
                  <a:srgbClr val="1F2A3A"/>
                </a:solidFill>
                <a:latin typeface="맑은 고딕"/>
                <a:ea typeface="맑은 고딕"/>
                <a:cs typeface="맑은 고딕"/>
              </a:rPr>
              <a:t>• 조회, 계산, 제출은 글을 만드는 일이 아니다</a:t>
            </a:r>
          </a:p>
          <a:p>
            <a:pPr algn="l">
              <a:lnSpc>
                <a:spcPct val="110000"/>
              </a:lnSpc>
              <a:spcAft>
                <a:spcPts val="400"/>
              </a:spcAft>
            </a:pPr>
            <a:r>
              <a:rPr sz="1400" b="0">
                <a:solidFill>
                  <a:srgbClr val="1F2A3A"/>
                </a:solidFill>
                <a:latin typeface="맑은 고딕"/>
                <a:ea typeface="맑은 고딕"/>
                <a:cs typeface="맑은 고딕"/>
              </a:rPr>
              <a:t>• 모델은 글을 낼 뿐 다른 시스템에 닿지 못한다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행동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RAG: 문서를 찾아 모델에 함께 읽히는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RAG(Retrieval-Augmented Generation)는 문서 조각을 찾아 모델에 함께 넣어 학습하지 않은 내용으로 답하게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a:t>
            </a:r>
          </a:p>
          <a:p>
            <a:pPr algn="ctr">
              <a:lnSpc>
                <a:spcPct val="110000"/>
              </a:lnSpc>
              <a:spcAft>
                <a:spcPts val="400"/>
              </a:spcAft>
            </a:pPr>
            <a:r>
              <a:rPr sz="1350" b="0">
                <a:solidFill>
                  <a:srgbClr val="1F2A3A"/>
                </a:solidFill>
                <a:latin typeface="맑은 고딕"/>
                <a:ea typeface="맑은 고딕"/>
                <a:cs typeface="맑은 고딕"/>
              </a:rPr>
              <a:t>사람이 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검색</a:t>
            </a:r>
          </a:p>
          <a:p>
            <a:pPr algn="ctr">
              <a:lnSpc>
                <a:spcPct val="110000"/>
              </a:lnSpc>
              <a:spcAft>
                <a:spcPts val="400"/>
              </a:spcAft>
            </a:pPr>
            <a:r>
              <a:rPr sz="1350" b="0">
                <a:solidFill>
                  <a:srgbClr val="1F2A3A"/>
                </a:solidFill>
                <a:latin typeface="맑은 고딕"/>
                <a:ea typeface="맑은 고딕"/>
                <a:cs typeface="맑은 고딕"/>
              </a:rPr>
              <a:t>질문과 뜻이 가까운</a:t>
            </a:r>
          </a:p>
          <a:p>
            <a:pPr algn="ctr">
              <a:lnSpc>
                <a:spcPct val="110000"/>
              </a:lnSpc>
              <a:spcAft>
                <a:spcPts val="400"/>
              </a:spcAft>
            </a:pPr>
            <a:r>
              <a:rPr sz="1350" b="0">
                <a:solidFill>
                  <a:srgbClr val="1F2A3A"/>
                </a:solidFill>
                <a:latin typeface="맑은 고딕"/>
                <a:ea typeface="맑은 고딕"/>
                <a:cs typeface="맑은 고딕"/>
              </a:rPr>
              <a:t>문서 조각을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보강</a:t>
            </a:r>
          </a:p>
          <a:p>
            <a:pPr algn="ctr">
              <a:lnSpc>
                <a:spcPct val="110000"/>
              </a:lnSpc>
              <a:spcAft>
                <a:spcPts val="400"/>
              </a:spcAft>
            </a:pPr>
            <a:r>
              <a:rPr sz="1350" b="0">
                <a:solidFill>
                  <a:srgbClr val="1F2A3A"/>
                </a:solidFill>
                <a:latin typeface="맑은 고딕"/>
                <a:ea typeface="맑은 고딕"/>
                <a:cs typeface="맑은 고딕"/>
              </a:rPr>
              <a:t>찾은 조각을</a:t>
            </a:r>
          </a:p>
          <a:p>
            <a:pPr algn="ctr">
              <a:lnSpc>
                <a:spcPct val="110000"/>
              </a:lnSpc>
              <a:spcAft>
                <a:spcPts val="400"/>
              </a:spcAft>
            </a:pPr>
            <a:r>
              <a:rPr sz="1350" b="0">
                <a:solidFill>
                  <a:srgbClr val="1F2A3A"/>
                </a:solidFill>
                <a:latin typeface="맑은 고딕"/>
                <a:ea typeface="맑은 고딕"/>
                <a:cs typeface="맑은 고딕"/>
              </a:rPr>
              <a:t>질문과 함께</a:t>
            </a:r>
          </a:p>
          <a:p>
            <a:pPr algn="ctr">
              <a:lnSpc>
                <a:spcPct val="110000"/>
              </a:lnSpc>
              <a:spcAft>
                <a:spcPts val="400"/>
              </a:spcAft>
            </a:pPr>
            <a:r>
              <a:rPr sz="1350" b="0">
                <a:solidFill>
                  <a:srgbClr val="1F2A3A"/>
                </a:solidFill>
                <a:latin typeface="맑은 고딕"/>
                <a:ea typeface="맑은 고딕"/>
                <a:cs typeface="맑은 고딕"/>
              </a:rPr>
              <a:t>모델에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message-2" descr="message-2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생성</a:t>
            </a:r>
          </a:p>
          <a:p>
            <a:pPr algn="ctr">
              <a:lnSpc>
                <a:spcPct val="110000"/>
              </a:lnSpc>
              <a:spcAft>
                <a:spcPts val="400"/>
              </a:spcAft>
            </a:pPr>
            <a:r>
              <a:rPr sz="1350" b="0">
                <a:solidFill>
                  <a:srgbClr val="1F2A3A"/>
                </a:solidFill>
                <a:latin typeface="맑은 고딕"/>
                <a:ea typeface="맑은 고딕"/>
                <a:cs typeface="맑은 고딕"/>
              </a:rPr>
              <a:t>모델이 조각을 읽고</a:t>
            </a:r>
          </a:p>
          <a:p>
            <a:pPr algn="ctr">
              <a:lnSpc>
                <a:spcPct val="110000"/>
              </a:lnSpc>
              <a:spcAft>
                <a:spcPts val="400"/>
              </a:spcAft>
            </a:pPr>
            <a:r>
              <a:rPr sz="1350" b="0">
                <a:solidFill>
                  <a:srgbClr val="1F2A3A"/>
                </a:solidFill>
                <a:latin typeface="맑은 고딕"/>
                <a:ea typeface="맑은 고딕"/>
                <a:cs typeface="맑은 고딕"/>
              </a:rPr>
              <a:t>글로 답한다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목표를 받아 도구를 쓰며 끝까지 수행하는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조회하고 계산하고 제출하는 일까지 맡기려면, 모델이 도구를 부르고 그 결과를 보며 다음 행동을 정하게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a:t>
            </a:r>
          </a:p>
          <a:p>
            <a:pPr algn="l">
              <a:lnSpc>
                <a:spcPct val="110000"/>
              </a:lnSpc>
              <a:spcAft>
                <a:spcPts val="200"/>
              </a:spcAft>
            </a:pPr>
            <a:r>
              <a:rPr sz="1150" b="0">
                <a:solidFill>
                  <a:srgbClr val="556175"/>
                </a:solidFill>
                <a:latin typeface="맑은 고딕"/>
                <a:ea typeface="맑은 고딕"/>
                <a:cs typeface="맑은 고딕"/>
              </a:rPr>
              <a:t>AI Agent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목표를 받아 도구를 골라 부르고, 결과를 보고 다음 행동을 정하는 일을 목표에 이를 때까지 되풀이하는 시스템이다.</a:t>
            </a:r>
          </a:p>
          <a:p>
            <a:pPr algn="l">
              <a:lnSpc>
                <a:spcPct val="110000"/>
              </a:lnSpc>
              <a:spcAft>
                <a:spcPts val="300"/>
              </a:spcAft>
            </a:pPr>
            <a:r>
              <a:rPr sz="1400" b="0">
                <a:solidFill>
                  <a:srgbClr val="1F2A3A"/>
                </a:solidFill>
                <a:latin typeface="맑은 고딕"/>
                <a:ea typeface="맑은 고딕"/>
                <a:cs typeface="맑은 고딕"/>
              </a:rPr>
              <a:t>마지막에 내는 것은 답 문장이 아니라 업무 산출물이다.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모델이 이름과 입력을 적어 부를 수 있도록 정해 둔 기능이다.</a:t>
            </a:r>
          </a:p>
          <a:p>
            <a:pPr algn="l">
              <a:lnSpc>
                <a:spcPct val="110000"/>
              </a:lnSpc>
              <a:spcAft>
                <a:spcPts val="300"/>
              </a:spcAft>
            </a:pPr>
            <a:r>
              <a:rPr sz="1400" b="0">
                <a:solidFill>
                  <a:srgbClr val="1F2A3A"/>
                </a:solidFill>
                <a:latin typeface="맑은 고딕"/>
                <a:ea typeface="맑은 고딕"/>
                <a:cs typeface="맑은 고딕"/>
              </a:rPr>
              <a:t>예: 원인 진단, 생산오더 조회, 판단 제출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쿨러 사건의 에이전트</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냉각 긴급 대응 에이전트가 경보 한 건을 받아 원인을 가리고 추천안을 제출했다.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요청에 대한 세 방식의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 조치를 정하라」를 세 방식에 맡기면 돌아오는 것의 모양이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답의 근거와 하는 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돌아오는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LLM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모델이 학습한 내용</a:t>
            </a:r>
          </a:p>
          <a:p>
            <a:pPr algn="l">
              <a:lnSpc>
                <a:spcPct val="110000"/>
              </a:lnSpc>
            </a:pPr>
            <a:r>
              <a:rPr sz="1400" b="0">
                <a:solidFill>
                  <a:srgbClr val="1F2A3A"/>
                </a:solidFill>
                <a:latin typeface="맑은 고딕"/>
                <a:ea typeface="맑은 고딕"/>
                <a:cs typeface="맑은 고딕"/>
              </a:rPr>
              <a:t>이어질 글을 만든다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유압 설비에 대한</a:t>
            </a:r>
          </a:p>
          <a:p>
            <a:pPr algn="l">
              <a:lnSpc>
                <a:spcPct val="110000"/>
              </a:lnSpc>
            </a:pPr>
            <a:r>
              <a:rPr sz="1250" b="1">
                <a:solidFill>
                  <a:srgbClr val="556175"/>
                </a:solidFill>
                <a:latin typeface="맑은 고딕"/>
                <a:ea typeface="맑은 고딕"/>
                <a:cs typeface="맑은 고딕"/>
              </a:rPr>
              <a:t>일반적인 설명</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찾아온 문서 조각</a:t>
            </a:r>
          </a:p>
          <a:p>
            <a:pPr algn="l">
              <a:lnSpc>
                <a:spcPct val="110000"/>
              </a:lnSpc>
            </a:pPr>
            <a:r>
              <a:rPr sz="1400" b="0">
                <a:solidFill>
                  <a:srgbClr val="1F2A3A"/>
                </a:solidFill>
                <a:latin typeface="맑은 고딕"/>
                <a:ea typeface="맑은 고딕"/>
                <a:cs typeface="맑은 고딕"/>
              </a:rPr>
              <a:t>조각을 읽고 글로 답한다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문서를 인용한 설명</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도구가 돌려준 결과</a:t>
            </a:r>
          </a:p>
          <a:p>
            <a:pPr algn="l">
              <a:lnSpc>
                <a:spcPct val="110000"/>
              </a:lnSpc>
            </a:pPr>
            <a:r>
              <a:rPr sz="1400" b="0">
                <a:solidFill>
                  <a:srgbClr val="1F2A3A"/>
                </a:solidFill>
                <a:latin typeface="맑은 고딕"/>
                <a:ea typeface="맑은 고딕"/>
                <a:cs typeface="맑은 고딕"/>
              </a:rPr>
              <a:t>값을 읽어 원인을 가리고 조치 후보 넷을 견주어 제출한다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이 설비의 값으로</a:t>
            </a:r>
          </a:p>
          <a:p>
            <a:pPr algn="l">
              <a:lnSpc>
                <a:spcPct val="110000"/>
              </a:lnSpc>
            </a:pPr>
            <a:r>
              <a:rPr sz="1250" b="1">
                <a:solidFill>
                  <a:srgbClr val="1A6FC4"/>
                </a:solidFill>
                <a:latin typeface="맑은 고딕"/>
                <a:ea typeface="맑은 고딕"/>
                <a:cs typeface="맑은 고딕"/>
              </a:rPr>
              <a:t>만든 추천안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세 요소: 모델, 도구, 실행 고리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모델은 앞에서 본 LLM 그대로이며, 여기에 부를 수 있는 도구와 되풀이하는 실행 고리가 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세요소.svg" descr="illust_2920339353675500372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모델</a:t>
            </a:r>
          </a:p>
          <a:p>
            <a:pPr algn="ctr">
              <a:lnSpc>
                <a:spcPct val="110000"/>
              </a:lnSpc>
              <a:spcAft>
                <a:spcPts val="100"/>
              </a:spcAft>
            </a:pPr>
            <a:r>
              <a:rPr sz="1300" b="0">
                <a:solidFill>
                  <a:srgbClr val="556175"/>
                </a:solidFill>
                <a:latin typeface="맑은 고딕"/>
                <a:ea typeface="맑은 고딕"/>
                <a:cs typeface="맑은 고딕"/>
              </a:rPr>
              <a:t>글을 읽고</a:t>
            </a:r>
          </a:p>
          <a:p>
            <a:pPr algn="ctr">
              <a:lnSpc>
                <a:spcPct val="110000"/>
              </a:lnSpc>
              <a:spcAft>
                <a:spcPts val="100"/>
              </a:spcAft>
            </a:pPr>
            <a:r>
              <a:rPr sz="1300" b="0">
                <a:solidFill>
                  <a:srgbClr val="556175"/>
                </a:solidFill>
                <a:latin typeface="맑은 고딕"/>
                <a:ea typeface="맑은 고딕"/>
                <a:cs typeface="맑은 고딕"/>
              </a:rPr>
              <a:t>다음 행동을 정한다</a:t>
            </a:r>
          </a:p>
        </p:txBody>
      </p:sp>
      <p:sp>
        <p:nvSpPr>
          <p:cNvPr id="8" name="TextBox 7"/>
          <p:cNvSpPr txBox="1"/>
          <p:nvPr/>
        </p:nvSpPr>
        <p:spPr>
          <a:xfrm>
            <a:off x="3848491"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조회하고 계산해</a:t>
            </a:r>
          </a:p>
          <a:p>
            <a:pPr algn="ctr">
              <a:lnSpc>
                <a:spcPct val="110000"/>
              </a:lnSpc>
              <a:spcAft>
                <a:spcPts val="100"/>
              </a:spcAft>
            </a:pPr>
            <a:r>
              <a:rPr sz="1300" b="0">
                <a:solidFill>
                  <a:srgbClr val="556175"/>
                </a:solidFill>
                <a:latin typeface="맑은 고딕"/>
                <a:ea typeface="맑은 고딕"/>
                <a:cs typeface="맑은 고딕"/>
              </a:rPr>
              <a:t>결과를 돌려준다</a:t>
            </a:r>
          </a:p>
        </p:txBody>
      </p:sp>
      <p:sp>
        <p:nvSpPr>
          <p:cNvPr id="9" name="TextBox 8"/>
          <p:cNvSpPr txBox="1"/>
          <p:nvPr/>
        </p:nvSpPr>
        <p:spPr>
          <a:xfrm>
            <a:off x="6619503" y="4653198"/>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고리</a:t>
            </a:r>
          </a:p>
          <a:p>
            <a:pPr algn="ctr">
              <a:lnSpc>
                <a:spcPct val="110000"/>
              </a:lnSpc>
              <a:spcAft>
                <a:spcPts val="100"/>
              </a:spcAft>
            </a:pPr>
            <a:r>
              <a:rPr sz="1300" b="0">
                <a:solidFill>
                  <a:srgbClr val="556175"/>
                </a:solidFill>
                <a:latin typeface="맑은 고딕"/>
                <a:ea typeface="맑은 고딕"/>
                <a:cs typeface="맑은 고딕"/>
              </a:rPr>
              <a:t>목표에 이를 때까지</a:t>
            </a:r>
          </a:p>
          <a:p>
            <a:pPr algn="ctr">
              <a:lnSpc>
                <a:spcPct val="110000"/>
              </a:lnSpc>
              <a:spcAft>
                <a:spcPts val="100"/>
              </a:spcAft>
            </a:pPr>
            <a:r>
              <a:rPr sz="1300" b="0">
                <a:solidFill>
                  <a:srgbClr val="556175"/>
                </a:solidFill>
                <a:latin typeface="맑은 고딕"/>
                <a:ea typeface="맑은 고딕"/>
                <a:cs typeface="맑은 고딕"/>
              </a:rPr>
              <a:t>되풀이한다</a:t>
            </a:r>
          </a:p>
        </p:txBody>
      </p:sp>
      <p:sp>
        <p:nvSpPr>
          <p:cNvPr id="10" name="TextBox 9"/>
          <p:cNvSpPr txBox="1"/>
          <p:nvPr/>
        </p:nvSpPr>
        <p:spPr>
          <a:xfrm>
            <a:off x="9499610" y="465319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하나를 정의하는 항목: 목표, 도구,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모델이라도 목표와 붙여 준 도구와 업무 지침이 다르면 서로 다른 일을 하는 에이전트가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항목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냉각 긴급 대응 에이전트의 값</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정하는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누구인가</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목표</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요지: 쿨러 성능 저하 경보의 원인을 진단하고, 냉각 조치 후보를 규정과 회사 목표로 견주어 추천 하나와 뒤진 대안을 올린다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이루는가</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조회(neo4j), 업무 DB 조회(enterprise), 판단 도구(hyd-dmn)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쓸 수 있는가</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업무 지침</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 cooling-emergency-response</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어떤 순서로 하는가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한 건: 모델이 적는 것과 도구가 돌려주는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부를 도구의 이름과 입력을 글로 적어 낼 뿐이고, 실제 조회는 도구가 수행해 결과를 돌려준다.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(218 ms)</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받음</a:t>
            </a:r>
          </a:p>
          <a:p>
            <a:pPr algn="l">
              <a:lnSpc>
                <a:spcPct val="110000"/>
              </a:lnSpc>
              <a:spcAft>
                <a:spcPts val="200"/>
              </a:spcAft>
            </a:pP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도구의 이름</a:t>
            </a:r>
          </a:p>
          <a:p>
            <a:pPr algn="l">
              <a:lnSpc>
                <a:spcPct val="110000"/>
              </a:lnSpc>
              <a:spcAft>
                <a:spcPts val="400"/>
              </a:spcAft>
            </a:pPr>
            <a:r>
              <a:rPr sz="1400" b="0">
                <a:solidFill>
                  <a:srgbClr val="1F2A3A"/>
                </a:solidFill>
                <a:latin typeface="맑은 고딕"/>
                <a:ea typeface="맑은 고딕"/>
                <a:cs typeface="맑은 고딕"/>
              </a:rPr>
              <a:t>원인 진단. 무엇을 하는 기능인지가 정해져 있다.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물음</a:t>
            </a:r>
          </a:p>
          <a:p>
            <a:pPr algn="l">
              <a:lnSpc>
                <a:spcPct val="110000"/>
              </a:lnSpc>
              <a:spcAft>
                <a:spcPts val="400"/>
              </a:spcAft>
            </a:pPr>
            <a:r>
              <a:rPr sz="1400" b="0">
                <a:solidFill>
                  <a:srgbClr val="1F2A3A"/>
                </a:solidFill>
                <a:latin typeface="맑은 고딕"/>
                <a:ea typeface="맑은 고딕"/>
                <a:cs typeface="맑은 고딕"/>
              </a:rPr>
              <a:t>모델이 적은 입력이다. 설비, 경보의 종류, 경보 번호를 넣었다.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받음</a:t>
            </a:r>
          </a:p>
          <a:p>
            <a:pPr algn="l">
              <a:lnSpc>
                <a:spcPct val="110000"/>
              </a:lnSpc>
              <a:spcAft>
                <a:spcPts val="400"/>
              </a:spcAft>
            </a:pPr>
            <a:r>
              <a:rPr sz="1400" b="0">
                <a:solidFill>
                  <a:srgbClr val="1F2A3A"/>
                </a:solidFill>
                <a:latin typeface="맑은 고딕"/>
                <a:ea typeface="맑은 고딕"/>
                <a:cs typeface="맑은 고딕"/>
              </a:rPr>
              <a:t>도구가 지식 그래프와 시계열 DB를 읽어 돌려준 결과이다.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걸린 시간</a:t>
            </a:r>
          </a:p>
          <a:p>
            <a:pPr algn="l">
              <a:lnSpc>
                <a:spcPct val="110000"/>
              </a:lnSpc>
              <a:spcAft>
                <a:spcPts val="400"/>
              </a:spcAft>
            </a:pPr>
            <a:r>
              <a:rPr sz="1400" b="0">
                <a:solidFill>
                  <a:srgbClr val="1F2A3A"/>
                </a:solidFill>
                <a:latin typeface="맑은 고딕"/>
                <a:ea typeface="맑은 고딕"/>
                <a:cs typeface="맑은 고딕"/>
              </a:rPr>
              <a:t>이 호출 한 번에 218 ms가 걸렸다.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고리: 요청 해석에서 종료까지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고리는 요청 해석, 계획, 도구 선택과 호출, 결과 관찰을 차례로 밟고, 목표에 못 미치면 계획으로 되돌아간다.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실행고리.svg" descr="illust_1969153389985339881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요청 해석</a:t>
            </a:r>
          </a:p>
          <a:p>
            <a:pPr algn="ctr">
              <a:lnSpc>
                <a:spcPct val="110000"/>
              </a:lnSpc>
              <a:spcAft>
                <a:spcPts val="100"/>
              </a:spcAft>
            </a:pPr>
            <a:r>
              <a:rPr sz="1300" b="0">
                <a:solidFill>
                  <a:srgbClr val="556175"/>
                </a:solidFill>
                <a:latin typeface="맑은 고딕"/>
                <a:ea typeface="맑은 고딕"/>
                <a:cs typeface="맑은 고딕"/>
              </a:rPr>
              <a:t>무엇을 받았고</a:t>
            </a:r>
          </a:p>
          <a:p>
            <a:pPr algn="ctr">
              <a:lnSpc>
                <a:spcPct val="110000"/>
              </a:lnSpc>
              <a:spcAft>
                <a:spcPts val="100"/>
              </a:spcAft>
            </a:pPr>
            <a:r>
              <a:rPr sz="1300" b="0">
                <a:solidFill>
                  <a:srgbClr val="556175"/>
                </a:solidFill>
                <a:latin typeface="맑은 고딕"/>
                <a:ea typeface="맑은 고딕"/>
                <a:cs typeface="맑은 고딕"/>
              </a:rPr>
              <a:t>무엇을 내야 하는가</a:t>
            </a:r>
          </a:p>
        </p:txBody>
      </p:sp>
      <p:sp>
        <p:nvSpPr>
          <p:cNvPr id="8" name="TextBox 7"/>
          <p:cNvSpPr txBox="1"/>
          <p:nvPr/>
        </p:nvSpPr>
        <p:spPr>
          <a:xfrm>
            <a:off x="317210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계획</a:t>
            </a:r>
          </a:p>
          <a:p>
            <a:pPr algn="ctr">
              <a:lnSpc>
                <a:spcPct val="110000"/>
              </a:lnSpc>
              <a:spcAft>
                <a:spcPts val="100"/>
              </a:spcAft>
            </a:pPr>
            <a:r>
              <a:rPr sz="1300" b="0">
                <a:solidFill>
                  <a:srgbClr val="556175"/>
                </a:solidFill>
                <a:latin typeface="맑은 고딕"/>
                <a:ea typeface="맑은 고딕"/>
                <a:cs typeface="맑은 고딕"/>
              </a:rPr>
              <a:t>어떤 순서로</a:t>
            </a:r>
          </a:p>
          <a:p>
            <a:pPr algn="ctr">
              <a:lnSpc>
                <a:spcPct val="110000"/>
              </a:lnSpc>
              <a:spcAft>
                <a:spcPts val="100"/>
              </a:spcAft>
            </a:pPr>
            <a:r>
              <a:rPr sz="1300" b="0">
                <a:solidFill>
                  <a:srgbClr val="556175"/>
                </a:solidFill>
                <a:latin typeface="맑은 고딕"/>
                <a:ea typeface="맑은 고딕"/>
                <a:cs typeface="맑은 고딕"/>
              </a:rPr>
              <a:t>할 것인가</a:t>
            </a:r>
          </a:p>
        </p:txBody>
      </p:sp>
      <p:sp>
        <p:nvSpPr>
          <p:cNvPr id="9" name="TextBox 8"/>
          <p:cNvSpPr txBox="1"/>
          <p:nvPr/>
        </p:nvSpPr>
        <p:spPr>
          <a:xfrm>
            <a:off x="5201269" y="4842296"/>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도구 선택 · 호출</a:t>
            </a:r>
          </a:p>
          <a:p>
            <a:pPr algn="ctr">
              <a:lnSpc>
                <a:spcPct val="110000"/>
              </a:lnSpc>
              <a:spcAft>
                <a:spcPts val="100"/>
              </a:spcAft>
            </a:pPr>
            <a:r>
              <a:rPr sz="1300" b="0">
                <a:solidFill>
                  <a:srgbClr val="556175"/>
                </a:solidFill>
                <a:latin typeface="맑은 고딕"/>
                <a:ea typeface="맑은 고딕"/>
                <a:cs typeface="맑은 고딕"/>
              </a:rPr>
              <a:t>어느 도구에</a:t>
            </a:r>
          </a:p>
          <a:p>
            <a:pPr algn="ctr">
              <a:lnSpc>
                <a:spcPct val="110000"/>
              </a:lnSpc>
              <a:spcAft>
                <a:spcPts val="100"/>
              </a:spcAft>
            </a:pPr>
            <a:r>
              <a:rPr sz="1300" b="0">
                <a:solidFill>
                  <a:srgbClr val="556175"/>
                </a:solidFill>
                <a:latin typeface="맑은 고딕"/>
                <a:ea typeface="맑은 고딕"/>
                <a:cs typeface="맑은 고딕"/>
              </a:rPr>
              <a:t>무엇을 물을 것인가</a:t>
            </a:r>
          </a:p>
        </p:txBody>
      </p:sp>
      <p:sp>
        <p:nvSpPr>
          <p:cNvPr id="10" name="TextBox 9"/>
          <p:cNvSpPr txBox="1"/>
          <p:nvPr/>
        </p:nvSpPr>
        <p:spPr>
          <a:xfrm>
            <a:off x="735043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a:p>
            <a:pPr algn="ctr">
              <a:lnSpc>
                <a:spcPct val="110000"/>
              </a:lnSpc>
              <a:spcAft>
                <a:spcPts val="100"/>
              </a:spcAft>
            </a:pPr>
            <a:r>
              <a:rPr sz="1300" b="0">
                <a:solidFill>
                  <a:srgbClr val="556175"/>
                </a:solidFill>
                <a:latin typeface="맑은 고딕"/>
                <a:ea typeface="맑은 고딕"/>
                <a:cs typeface="맑은 고딕"/>
              </a:rPr>
              <a:t>받은 결과로</a:t>
            </a:r>
          </a:p>
          <a:p>
            <a:pPr algn="ctr">
              <a:lnSpc>
                <a:spcPct val="110000"/>
              </a:lnSpc>
              <a:spcAft>
                <a:spcPts val="100"/>
              </a:spcAft>
            </a:pPr>
            <a:r>
              <a:rPr sz="1300" b="0">
                <a:solidFill>
                  <a:srgbClr val="556175"/>
                </a:solidFill>
                <a:latin typeface="맑은 고딕"/>
                <a:ea typeface="맑은 고딕"/>
                <a:cs typeface="맑은 고딕"/>
              </a:rPr>
              <a:t>목표에 이르렀는가</a:t>
            </a:r>
          </a:p>
        </p:txBody>
      </p:sp>
      <p:sp>
        <p:nvSpPr>
          <p:cNvPr id="11" name="TextBox 10"/>
          <p:cNvSpPr txBox="1"/>
          <p:nvPr/>
        </p:nvSpPr>
        <p:spPr>
          <a:xfrm>
            <a:off x="944506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a:t>
            </a:r>
          </a:p>
          <a:p>
            <a:pPr algn="ctr">
              <a:lnSpc>
                <a:spcPct val="110000"/>
              </a:lnSpc>
              <a:spcAft>
                <a:spcPts val="100"/>
              </a:spcAft>
            </a:pPr>
            <a:r>
              <a:rPr sz="1300" b="0">
                <a:solidFill>
                  <a:srgbClr val="556175"/>
                </a:solidFill>
                <a:latin typeface="맑은 고딕"/>
                <a:ea typeface="맑은 고딕"/>
                <a:cs typeface="맑은 고딕"/>
              </a:rPr>
              <a:t>산출물을 제출하고</a:t>
            </a:r>
          </a:p>
          <a:p>
            <a:pPr algn="ctr">
              <a:lnSpc>
                <a:spcPct val="110000"/>
              </a:lnSpc>
              <a:spcAft>
                <a:spcPts val="100"/>
              </a:spcAft>
            </a:pPr>
            <a:r>
              <a:rPr sz="1300" b="0">
                <a:solidFill>
                  <a:srgbClr val="556175"/>
                </a:solidFill>
                <a:latin typeface="맑은 고딕"/>
                <a:ea typeface="맑은 고딕"/>
                <a:cs typeface="맑은 고딕"/>
              </a:rPr>
              <a:t>끝낸다</a:t>
            </a:r>
          </a:p>
        </p:txBody>
      </p:sp>
      <p:sp>
        <p:nvSpPr>
          <p:cNvPr id="12" name="TextBox 11"/>
          <p:cNvSpPr txBox="1"/>
          <p:nvPr/>
        </p:nvSpPr>
        <p:spPr>
          <a:xfrm>
            <a:off x="4001224" y="1911278"/>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재시도와 다음 호출</a:t>
            </a:r>
          </a:p>
          <a:p>
            <a:pPr algn="ctr">
              <a:lnSpc>
                <a:spcPct val="110000"/>
              </a:lnSpc>
              <a:spcAft>
                <a:spcPts val="100"/>
              </a:spcAft>
            </a:pPr>
            <a:r>
              <a:rPr sz="1300" b="0">
                <a:solidFill>
                  <a:srgbClr val="556175"/>
                </a:solidFill>
                <a:latin typeface="맑은 고딕"/>
                <a:ea typeface="맑은 고딕"/>
                <a:cs typeface="맑은 고딕"/>
              </a:rPr>
              <a:t>목표에 못 미쳤으면 계획을 고쳐 다시 부른다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관찰한 결과가 다음 호출의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진단이 돌려준 원인과 고장 유형의 식별자가 대안 평가의 물음에 그대로 들어가, 관찰이 다음 행동을 정했다.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cause:cooler-fin-fouling</a:t>
            </a:r>
          </a:p>
          <a:p>
            <a:pPr algn="l">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fm:cooler-performance-loss</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11:13:23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(807 ms)</a:t>
            </a: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관찰</a:t>
            </a:r>
          </a:p>
          <a:p>
            <a:pPr algn="l">
              <a:lnSpc>
                <a:spcPct val="110000"/>
              </a:lnSpc>
              <a:spcAft>
                <a:spcPts val="400"/>
              </a:spcAft>
            </a:pPr>
            <a:r>
              <a:rPr sz="1400" b="0">
                <a:solidFill>
                  <a:srgbClr val="1F2A3A"/>
                </a:solidFill>
                <a:latin typeface="맑은 고딕"/>
                <a:ea typeface="맑은 고딕"/>
                <a:cs typeface="맑은 고딕"/>
              </a:rPr>
              <a:t>진단의 결과에서 원인 1순위와 고장 유형을 읽었다.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 호출의 입력</a:t>
            </a:r>
          </a:p>
          <a:p>
            <a:pPr algn="l">
              <a:lnSpc>
                <a:spcPct val="110000"/>
              </a:lnSpc>
              <a:spcAft>
                <a:spcPts val="400"/>
              </a:spcAft>
            </a:pPr>
            <a:r>
              <a:rPr sz="1400" b="0">
                <a:solidFill>
                  <a:srgbClr val="1F2A3A"/>
                </a:solidFill>
                <a:latin typeface="맑은 고딕"/>
                <a:ea typeface="맑은 고딕"/>
                <a:cs typeface="맑은 고딕"/>
              </a:rPr>
              <a:t>읽은 두 식별자가 대안 평가의 물음에 들어갔다.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a:t>
            </a:r>
          </a:p>
          <a:p>
            <a:pPr algn="l">
              <a:lnSpc>
                <a:spcPct val="110000"/>
              </a:lnSpc>
              <a:spcAft>
                <a:spcPts val="400"/>
              </a:spcAft>
            </a:pPr>
            <a:r>
              <a:rPr sz="1400" b="0">
                <a:solidFill>
                  <a:srgbClr val="1F2A3A"/>
                </a:solidFill>
                <a:latin typeface="맑은 고딕"/>
                <a:ea typeface="맑은 고딕"/>
                <a:cs typeface="맑은 고딕"/>
              </a:rPr>
              <a:t>cause: 는 원인을, fm: 은 고장 유형을 가리킨다.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에이전트의 정보원과</a:t>
            </a:r>
          </a:p>
          <a:p>
            <a:pPr algn="l">
              <a:lnSpc>
                <a:spcPct val="110000"/>
              </a:lnSpc>
            </a:pPr>
            <a:r>
              <a:rPr sz="3400" b="1">
                <a:solidFill>
                  <a:srgbClr val="13294B"/>
                </a:solidFill>
                <a:latin typeface="맑은 고딕"/>
                <a:ea typeface="맑은 고딕"/>
                <a:cs typeface="맑은 고딕"/>
              </a:rPr>
              <a:t>도구 사용 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물음에 맞는 정보원을 읽고, 근거가 모자라면 지어내지 않고 멈추는 방식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 한 건에 들어간 정보의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한 건에는 원인의 관계, 지금의 측정값, 납기, 작업 절차처럼 서로 다른 곳에서 읽어 온 정보가 함께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정보원.svg" descr="illust_4028360065608945016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후보 셋</a:t>
            </a:r>
          </a:p>
        </p:txBody>
      </p:sp>
      <p:sp>
        <p:nvSpPr>
          <p:cNvPr id="8" name="TextBox 7"/>
          <p:cNvSpPr txBox="1"/>
          <p:nvPr/>
        </p:nvSpPr>
        <p:spPr>
          <a:xfrm>
            <a:off x="706557" y="536231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a:t>
            </a:r>
          </a:p>
          <a:p>
            <a:pPr algn="ctr">
              <a:lnSpc>
                <a:spcPct val="110000"/>
              </a:lnSpc>
              <a:spcAft>
                <a:spcPts val="100"/>
              </a:spcAft>
            </a:pPr>
            <a:r>
              <a:rPr sz="1300" b="0">
                <a:solidFill>
                  <a:srgbClr val="556175"/>
                </a:solidFill>
                <a:latin typeface="맑은 고딕"/>
                <a:ea typeface="맑은 고딕"/>
                <a:cs typeface="맑은 고딕"/>
              </a:rPr>
              <a:t>팬 최대 운전의 단계와 출처</a:t>
            </a:r>
          </a:p>
        </p:txBody>
      </p:sp>
      <p:sp>
        <p:nvSpPr>
          <p:cNvPr id="9" name="TextBox 8"/>
          <p:cNvSpPr txBox="1"/>
          <p:nvPr/>
        </p:nvSpPr>
        <p:spPr>
          <a:xfrm>
            <a:off x="8648669"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0" name="TextBox 9"/>
          <p:cNvSpPr txBox="1"/>
          <p:nvPr/>
        </p:nvSpPr>
        <p:spPr>
          <a:xfrm>
            <a:off x="8648669"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납기까지 5.98시간</a:t>
            </a:r>
          </a:p>
        </p:txBody>
      </p:sp>
      <p:sp>
        <p:nvSpPr>
          <p:cNvPr id="11" name="TextBox 10"/>
          <p:cNvSpPr txBox="1"/>
          <p:nvPr/>
        </p:nvSpPr>
        <p:spPr>
          <a:xfrm>
            <a:off x="4895803" y="4416826"/>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도구를 불러 읽는다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정보원이 답하는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정보원은 답하는 물음이 서로 달라, 물음에 맞지 않는 곳을 읽으면 답이 없거나 낡은 답을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350" b="0">
                <a:solidFill>
                  <a:srgbClr val="1F2A3A"/>
                </a:solidFill>
                <a:latin typeface="맑은 고딕"/>
                <a:ea typeface="맑은 고딕"/>
                <a:cs typeface="맑은 고딕"/>
              </a:rPr>
              <a:t>• 무엇과 무엇이 어떤 관계인가</a:t>
            </a:r>
          </a:p>
          <a:p>
            <a:pPr algn="l">
              <a:lnSpc>
                <a:spcPct val="110000"/>
              </a:lnSpc>
              <a:spcAft>
                <a:spcPts val="400"/>
              </a:spcAft>
            </a:pPr>
            <a:r>
              <a:rPr sz="1350" b="0">
                <a:solidFill>
                  <a:srgbClr val="1F2A3A"/>
                </a:solidFill>
                <a:latin typeface="맑은 고딕"/>
                <a:ea typeface="맑은 고딕"/>
                <a:cs typeface="맑은 고딕"/>
              </a:rPr>
              <a:t>• 설비, 증상, 원인, 조치의 관계를 담는다</a:t>
            </a:r>
          </a:p>
        </p:txBody>
      </p:sp>
      <p:sp>
        <p:nvSpPr>
          <p:cNvPr id="10" name="Rounded Rectangle 9"/>
          <p:cNvSpPr/>
          <p:nvPr/>
        </p:nvSpPr>
        <p:spPr>
          <a:xfrm>
            <a:off x="777240" y="5134356"/>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hart-line" descr="chart-lin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시계열 DB</a:t>
            </a:r>
          </a:p>
          <a:p>
            <a:pPr algn="l">
              <a:lnSpc>
                <a:spcPct val="110000"/>
              </a:lnSpc>
              <a:spcAft>
                <a:spcPts val="400"/>
              </a:spcAft>
            </a:pPr>
            <a:r>
              <a:rPr sz="1350" b="0">
                <a:solidFill>
                  <a:srgbClr val="1F2A3A"/>
                </a:solidFill>
                <a:latin typeface="맑은 고딕"/>
                <a:ea typeface="맑은 고딕"/>
                <a:cs typeface="맑은 고딕"/>
              </a:rPr>
              <a:t>• 그 시각의 값이 얼마였는가</a:t>
            </a:r>
          </a:p>
          <a:p>
            <a:pPr algn="l">
              <a:lnSpc>
                <a:spcPct val="110000"/>
              </a:lnSpc>
              <a:spcAft>
                <a:spcPts val="400"/>
              </a:spcAft>
            </a:pPr>
            <a:r>
              <a:rPr sz="1350" b="0">
                <a:solidFill>
                  <a:srgbClr val="1F2A3A"/>
                </a:solidFill>
                <a:latin typeface="맑은 고딕"/>
                <a:ea typeface="맑은 고딕"/>
                <a:cs typeface="맑은 고딕"/>
              </a:rPr>
              <a:t>• 센서의 측정값을 시간 순서로 쌓는다</a:t>
            </a:r>
          </a:p>
        </p:txBody>
      </p:sp>
      <p:sp>
        <p:nvSpPr>
          <p:cNvPr id="16" name="Rounded Rectangle 15"/>
          <p:cNvSpPr/>
          <p:nvPr/>
        </p:nvSpPr>
        <p:spPr>
          <a:xfrm>
            <a:off x="3619423" y="513435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매초 바뀐다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업무 DB</a:t>
            </a:r>
          </a:p>
          <a:p>
            <a:pPr algn="l">
              <a:lnSpc>
                <a:spcPct val="110000"/>
              </a:lnSpc>
              <a:spcAft>
                <a:spcPts val="400"/>
              </a:spcAft>
            </a:pPr>
            <a:r>
              <a:rPr sz="1350" b="0">
                <a:solidFill>
                  <a:srgbClr val="1F2A3A"/>
                </a:solidFill>
                <a:latin typeface="맑은 고딕"/>
                <a:ea typeface="맑은 고딕"/>
                <a:cs typeface="맑은 고딕"/>
              </a:rPr>
              <a:t>• 정비, 재고, 납기는 어떤 상태인가</a:t>
            </a:r>
          </a:p>
          <a:p>
            <a:pPr algn="l">
              <a:lnSpc>
                <a:spcPct val="110000"/>
              </a:lnSpc>
              <a:spcAft>
                <a:spcPts val="400"/>
              </a:spcAft>
            </a:pPr>
            <a:r>
              <a:rPr sz="1350" b="0">
                <a:solidFill>
                  <a:srgbClr val="1F2A3A"/>
                </a:solidFill>
                <a:latin typeface="맑은 고딕"/>
                <a:ea typeface="맑은 고딕"/>
                <a:cs typeface="맑은 고딕"/>
              </a:rPr>
              <a:t>• 업무 시스템이 남긴 기록을 담는다</a:t>
            </a:r>
          </a:p>
        </p:txBody>
      </p:sp>
      <p:sp>
        <p:nvSpPr>
          <p:cNvPr id="22" name="Rounded Rectangle 21"/>
          <p:cNvSpPr/>
          <p:nvPr/>
        </p:nvSpPr>
        <p:spPr>
          <a:xfrm>
            <a:off x="6461607" y="5134356"/>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 때마다 바뀐다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SOP</a:t>
            </a:r>
          </a:p>
          <a:p>
            <a:pPr algn="l">
              <a:lnSpc>
                <a:spcPct val="110000"/>
              </a:lnSpc>
              <a:spcAft>
                <a:spcPts val="400"/>
              </a:spcAft>
            </a:pPr>
            <a:r>
              <a:rPr sz="1350" b="0">
                <a:solidFill>
                  <a:srgbClr val="1F2A3A"/>
                </a:solidFill>
                <a:latin typeface="맑은 고딕"/>
                <a:ea typeface="맑은 고딕"/>
                <a:cs typeface="맑은 고딕"/>
              </a:rPr>
              <a:t>• 조치를 어떻게 수행하는가</a:t>
            </a:r>
          </a:p>
          <a:p>
            <a:pPr algn="l">
              <a:lnSpc>
                <a:spcPct val="110000"/>
              </a:lnSpc>
              <a:spcAft>
                <a:spcPts val="400"/>
              </a:spcAft>
            </a:pPr>
            <a:r>
              <a:rPr sz="1350" b="0">
                <a:solidFill>
                  <a:srgbClr val="1F2A3A"/>
                </a:solidFill>
                <a:latin typeface="맑은 고딕"/>
                <a:ea typeface="맑은 고딕"/>
                <a:cs typeface="맑은 고딕"/>
              </a:rPr>
              <a:t>• 단계, 승인 역할, 근거 절을 정해 둔다</a:t>
            </a:r>
          </a:p>
        </p:txBody>
      </p:sp>
      <p:sp>
        <p:nvSpPr>
          <p:cNvPr id="28" name="Rounded Rectangle 27"/>
          <p:cNvSpPr/>
          <p:nvPr/>
        </p:nvSpPr>
        <p:spPr>
          <a:xfrm>
            <a:off x="9303791" y="5134356"/>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그래프에서 읽는 것: 원인 후보와 조치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온톨로지의 관계와 SOP는 같은 지식 그래프에 있어, 고장 유형에서 관계를 따라가면 원인 후보와 조치 방법에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92292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04453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오염</a:t>
            </a:r>
          </a:p>
          <a:p>
            <a:pPr algn="ctr">
              <a:lnSpc>
                <a:spcPct val="110000"/>
              </a:lnSpc>
            </a:pPr>
            <a:r>
              <a:rPr sz="1100" b="0">
                <a:solidFill>
                  <a:srgbClr val="556175"/>
                </a:solidFill>
                <a:latin typeface="맑은 고딕"/>
                <a:ea typeface="맑은 고딕"/>
                <a:cs typeface="맑은 고딕"/>
              </a:rPr>
              <a:t>원인</a:t>
            </a:r>
          </a:p>
        </p:txBody>
      </p:sp>
      <p:sp>
        <p:nvSpPr>
          <p:cNvPr id="8" name="Oval 7"/>
          <p:cNvSpPr/>
          <p:nvPr/>
        </p:nvSpPr>
        <p:spPr>
          <a:xfrm>
            <a:off x="429146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41307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구동 불량</a:t>
            </a:r>
          </a:p>
          <a:p>
            <a:pPr algn="ctr">
              <a:lnSpc>
                <a:spcPct val="110000"/>
              </a:lnSpc>
            </a:pPr>
            <a:r>
              <a:rPr sz="1100" b="0">
                <a:solidFill>
                  <a:srgbClr val="556175"/>
                </a:solidFill>
                <a:latin typeface="맑은 고딕"/>
                <a:ea typeface="맑은 고딕"/>
                <a:cs typeface="맑은 고딕"/>
              </a:rPr>
              <a:t>원인</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주변 온도 상승</a:t>
            </a:r>
          </a:p>
          <a:p>
            <a:pPr algn="ctr">
              <a:lnSpc>
                <a:spcPct val="110000"/>
              </a:lnSpc>
            </a:pPr>
            <a:r>
              <a:rPr sz="1100" b="0">
                <a:solidFill>
                  <a:srgbClr val="556175"/>
                </a:solidFill>
                <a:latin typeface="맑은 고딕"/>
                <a:ea typeface="맑은 고딕"/>
                <a:cs typeface="맑은 고딕"/>
              </a:rPr>
              <a:t>원인</a:t>
            </a:r>
          </a:p>
        </p:txBody>
      </p:sp>
      <p:sp>
        <p:nvSpPr>
          <p:cNvPr id="12" name="Oval 11"/>
          <p:cNvSpPr/>
          <p:nvPr/>
        </p:nvSpPr>
        <p:spPr>
          <a:xfrm>
            <a:off x="4291462"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4413077"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성능 상실</a:t>
            </a:r>
          </a:p>
          <a:p>
            <a:pPr algn="ctr">
              <a:lnSpc>
                <a:spcPct val="110000"/>
              </a:lnSpc>
            </a:pPr>
            <a:r>
              <a:rPr sz="1100" b="0">
                <a:solidFill>
                  <a:srgbClr val="556175"/>
                </a:solidFill>
                <a:latin typeface="맑은 고딕"/>
                <a:ea typeface="맑은 고딕"/>
                <a:cs typeface="맑은 고딕"/>
              </a:rPr>
              <a:t>고장 유형</a:t>
            </a:r>
          </a:p>
        </p:txBody>
      </p:sp>
      <p:sp>
        <p:nvSpPr>
          <p:cNvPr id="14" name="Oval 13"/>
          <p:cNvSpPr/>
          <p:nvPr/>
        </p:nvSpPr>
        <p:spPr>
          <a:xfrm>
            <a:off x="9531412"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65302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SOP-COOL-11</a:t>
            </a:r>
          </a:p>
        </p:txBody>
      </p:sp>
      <p:cxnSp>
        <p:nvCxnSpPr>
          <p:cNvPr id="16" name="Connector 15"/>
          <p:cNvCxnSpPr/>
          <p:nvPr/>
        </p:nvCxnSpPr>
        <p:spPr>
          <a:xfrm>
            <a:off x="2475453" y="3103333"/>
            <a:ext cx="1980322" cy="1757835"/>
          </a:xfrm>
          <a:prstGeom prst="line">
            <a:avLst/>
          </a:prstGeom>
          <a:ln w="28575">
            <a:solidFill>
              <a:srgbClr val="13294B"/>
            </a:solidFill>
            <a:tailEnd type="triangle" w="med" len="med"/>
          </a:ln>
        </p:spPr>
      </p:cxnSp>
      <p:sp>
        <p:nvSpPr>
          <p:cNvPr id="17" name="Rounded Rectangle 16"/>
          <p:cNvSpPr/>
          <p:nvPr/>
        </p:nvSpPr>
        <p:spPr>
          <a:xfrm>
            <a:off x="3007903"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3007903" y="3616490"/>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a:off x="5160142" y="3410712"/>
            <a:ext cx="0" cy="1133856"/>
          </a:xfrm>
          <a:prstGeom prst="line">
            <a:avLst/>
          </a:prstGeom>
          <a:ln w="28575">
            <a:solidFill>
              <a:srgbClr val="13294B"/>
            </a:solidFill>
            <a:tailEnd type="triangle" w="med" len="med"/>
          </a:ln>
        </p:spPr>
      </p:cxnSp>
      <p:sp>
        <p:nvSpPr>
          <p:cNvPr id="20" name="Rounded Rectangle 19"/>
          <p:cNvSpPr/>
          <p:nvPr/>
        </p:nvSpPr>
        <p:spPr>
          <a:xfrm>
            <a:off x="5251582" y="3831335"/>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251582" y="3831335"/>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22" name="Connector 21"/>
          <p:cNvCxnSpPr/>
          <p:nvPr/>
        </p:nvCxnSpPr>
        <p:spPr>
          <a:xfrm flipH="1">
            <a:off x="5864508" y="3103333"/>
            <a:ext cx="1980322" cy="1757835"/>
          </a:xfrm>
          <a:prstGeom prst="line">
            <a:avLst/>
          </a:prstGeom>
          <a:ln w="28575">
            <a:solidFill>
              <a:srgbClr val="13294B"/>
            </a:solidFill>
            <a:tailEnd type="triangle" w="med" len="med"/>
          </a:ln>
        </p:spPr>
      </p:cxnSp>
      <p:sp>
        <p:nvSpPr>
          <p:cNvPr id="23" name="Rounded Rectangle 22"/>
          <p:cNvSpPr/>
          <p:nvPr/>
        </p:nvSpPr>
        <p:spPr>
          <a:xfrm>
            <a:off x="6396959"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396959" y="3616490"/>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25" name="Connector 24"/>
          <p:cNvCxnSpPr/>
          <p:nvPr/>
        </p:nvCxnSpPr>
        <p:spPr>
          <a:xfrm>
            <a:off x="6074542" y="5486400"/>
            <a:ext cx="3383718" cy="0"/>
          </a:xfrm>
          <a:prstGeom prst="line">
            <a:avLst/>
          </a:prstGeom>
          <a:ln w="28575">
            <a:solidFill>
              <a:srgbClr val="13294B"/>
            </a:solidFill>
            <a:tailEnd type="triangle" w="med" len="med"/>
          </a:ln>
        </p:spPr>
      </p:cxnSp>
      <p:sp>
        <p:nvSpPr>
          <p:cNvPr id="26" name="Rounded Rectangle 25"/>
          <p:cNvSpPr/>
          <p:nvPr/>
        </p:nvSpPr>
        <p:spPr>
          <a:xfrm>
            <a:off x="6996757" y="51206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996757" y="5120640"/>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DB에서 읽는 것: 설비 밖의 사정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납기와 남은 수량은 설비의 센서로는 알 수 없고 업무 DB에 있으며, 조치가 생산에 주는 영향을 견주는 재료가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p>
          <a:p>
            <a:pPr algn="l">
              <a:lnSpc>
                <a:spcPct val="110000"/>
              </a:lnSpc>
              <a:spcAft>
                <a:spcPts val="200"/>
              </a:spcAft>
            </a:pPr>
            <a:r>
              <a:rPr sz="1300" b="0">
                <a:solidFill>
                  <a:srgbClr val="E8EEF6"/>
                </a:solidFill>
                <a:latin typeface="Consolas"/>
                <a:ea typeface="맑은 고딕"/>
                <a:cs typeface="맑은 고딕"/>
              </a:rPr>
              <a:t>{"result":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system</a:t>
            </a:r>
          </a:p>
          <a:p>
            <a:pPr algn="l">
              <a:lnSpc>
                <a:spcPct val="110000"/>
              </a:lnSpc>
              <a:spcAft>
                <a:spcPts val="400"/>
              </a:spcAft>
            </a:pPr>
            <a:r>
              <a:rPr sz="1400" b="0">
                <a:solidFill>
                  <a:srgbClr val="1F2A3A"/>
                </a:solidFill>
                <a:latin typeface="맑은 고딕"/>
                <a:ea typeface="맑은 고딕"/>
                <a:cs typeface="맑은 고딕"/>
              </a:rPr>
              <a:t>값이 온 업무 시스템이다. 생산 일정을 관리하는 MES이다.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값이다. 납기까지 5.98시간, 남은 수량 1,500개이다.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품질 쪽 조회</a:t>
            </a:r>
          </a:p>
          <a:p>
            <a:pPr algn="l">
              <a:lnSpc>
                <a:spcPct val="110000"/>
              </a:lnSpc>
              <a:spcAft>
                <a:spcPts val="400"/>
              </a:spcAft>
            </a:pPr>
            <a:r>
              <a:rPr sz="1400" b="0">
                <a:solidFill>
                  <a:srgbClr val="1F2A3A"/>
                </a:solidFill>
                <a:latin typeface="맑은 고딕"/>
                <a:ea typeface="맑은 고딕"/>
                <a:cs typeface="맑은 고딕"/>
              </a:rPr>
              <a:t>같은 방식으로 출하 대기 로트 L-0930-A17의 800개를 읽었다.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작업 규칙: 추측 대신 도구로 확인한다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작업 규칙은 지식, 지금의 값, 규칙 판정을 기억으로 채우지 말고 각각 정해진 도구로 확인하라고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 원인 후보, 증거 기준, 조치 방법</a:t>
            </a:r>
          </a:p>
          <a:p>
            <a:pPr algn="l">
              <a:lnSpc>
                <a:spcPct val="110000"/>
              </a:lnSpc>
              <a:spcAft>
                <a:spcPts val="400"/>
              </a:spcAft>
            </a:pPr>
            <a:r>
              <a:rPr sz="1400" b="0">
                <a:solidFill>
                  <a:srgbClr val="1F2A3A"/>
                </a:solidFill>
                <a:latin typeface="맑은 고딕"/>
                <a:ea typeface="맑은 고딕"/>
                <a:cs typeface="맑은 고딕"/>
              </a:rPr>
              <a:t>• 지식 그래프를 조회해 얻는다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 그래프</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activity" descr="activity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센서 값, 납기, 재고</a:t>
            </a:r>
          </a:p>
          <a:p>
            <a:pPr algn="l">
              <a:lnSpc>
                <a:spcPct val="110000"/>
              </a:lnSpc>
              <a:spcAft>
                <a:spcPts val="400"/>
              </a:spcAft>
            </a:pPr>
            <a:r>
              <a:rPr sz="1400" b="0">
                <a:solidFill>
                  <a:srgbClr val="1F2A3A"/>
                </a:solidFill>
                <a:latin typeface="맑은 고딕"/>
                <a:ea typeface="맑은 고딕"/>
                <a:cs typeface="맑은 고딕"/>
              </a:rPr>
              <a:t>• 시계열 DB와 업무 DB에서 그때 읽는다</a:t>
            </a:r>
          </a:p>
        </p:txBody>
      </p:sp>
      <p:sp>
        <p:nvSpPr>
          <p:cNvPr id="16" name="Rounded Rectangle 15"/>
          <p:cNvSpPr/>
          <p:nvPr/>
        </p:nvSpPr>
        <p:spPr>
          <a:xfrm>
            <a:off x="4566818" y="5149850"/>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원천</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규칙 판정</a:t>
            </a:r>
          </a:p>
          <a:p>
            <a:pPr algn="l">
              <a:lnSpc>
                <a:spcPct val="110000"/>
              </a:lnSpc>
              <a:spcAft>
                <a:spcPts val="400"/>
              </a:spcAft>
            </a:pPr>
            <a:r>
              <a:rPr sz="1400" b="0">
                <a:solidFill>
                  <a:srgbClr val="1F2A3A"/>
                </a:solidFill>
                <a:latin typeface="맑은 고딕"/>
                <a:ea typeface="맑은 고딕"/>
                <a:cs typeface="맑은 고딕"/>
              </a:rPr>
              <a:t>• 제외, 감점, 경고의 판정</a:t>
            </a:r>
          </a:p>
          <a:p>
            <a:pPr algn="l">
              <a:lnSpc>
                <a:spcPct val="110000"/>
              </a:lnSpc>
              <a:spcAft>
                <a:spcPts val="400"/>
              </a:spcAft>
            </a:pPr>
            <a:r>
              <a:rPr sz="1400" b="0">
                <a:solidFill>
                  <a:srgbClr val="1F2A3A"/>
                </a:solidFill>
                <a:latin typeface="맑은 고딕"/>
                <a:ea typeface="맑은 고딕"/>
                <a:cs typeface="맑은 고딕"/>
              </a:rPr>
              <a:t>• 모델이 해석하지 않고 판단 도구의 결과를 쓴다</a:t>
            </a:r>
          </a:p>
          <a:p>
            <a:pPr algn="l">
              <a:lnSpc>
                <a:spcPct val="110000"/>
              </a:lnSpc>
              <a:spcAft>
                <a:spcPts val="400"/>
              </a:spcAft>
            </a:pPr>
            <a:r>
              <a:rPr sz="1400" b="0">
                <a:solidFill>
                  <a:srgbClr val="1F2A3A"/>
                </a:solidFill>
                <a:latin typeface="맑은 고딕"/>
                <a:ea typeface="맑은 고딕"/>
                <a:cs typeface="맑은 고딕"/>
              </a:rPr>
              <a:t>• 같은 입력이면 같은 결과가 나온다</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 도구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신선도: 읽은 값이 얼마나 묵었는가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최신 유온은 0.6초 전에 읽은 값이었으며, 60초보다 오래된 값밖에 없었다면 판단은 보류되었을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신선도.svg" descr="illust_4126359175904457029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681397" y="488957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지금</a:t>
            </a:r>
          </a:p>
          <a:p>
            <a:pPr algn="ctr">
              <a:lnSpc>
                <a:spcPct val="110000"/>
              </a:lnSpc>
              <a:spcAft>
                <a:spcPts val="100"/>
              </a:spcAft>
            </a:pPr>
            <a:r>
              <a:rPr sz="1300" b="0">
                <a:solidFill>
                  <a:srgbClr val="556175"/>
                </a:solidFill>
                <a:latin typeface="맑은 고딕"/>
                <a:ea typeface="맑은 고딕"/>
                <a:cs typeface="맑은 고딕"/>
              </a:rPr>
              <a:t>판단하는 시각</a:t>
            </a:r>
          </a:p>
        </p:txBody>
      </p:sp>
      <p:sp>
        <p:nvSpPr>
          <p:cNvPr id="8" name="TextBox 7"/>
          <p:cNvSpPr txBox="1"/>
          <p:nvPr/>
        </p:nvSpPr>
        <p:spPr>
          <a:xfrm>
            <a:off x="6455860" y="4889571"/>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허용 범위 60초</a:t>
            </a:r>
          </a:p>
        </p:txBody>
      </p:sp>
      <p:sp>
        <p:nvSpPr>
          <p:cNvPr id="9" name="TextBox 8"/>
          <p:cNvSpPr txBox="1"/>
          <p:nvPr/>
        </p:nvSpPr>
        <p:spPr>
          <a:xfrm>
            <a:off x="5986752" y="2525847"/>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0.6초 전의 값</a:t>
            </a:r>
          </a:p>
          <a:p>
            <a:pPr algn="ctr">
              <a:lnSpc>
                <a:spcPct val="110000"/>
              </a:lnSpc>
              <a:spcAft>
                <a:spcPts val="100"/>
              </a:spcAft>
            </a:pPr>
            <a:r>
              <a:rPr sz="1300" b="0">
                <a:solidFill>
                  <a:srgbClr val="556175"/>
                </a:solidFill>
                <a:latin typeface="맑은 고딕"/>
                <a:ea typeface="맑은 고딕"/>
                <a:cs typeface="맑은 고딕"/>
              </a:rPr>
              <a:t>판단에 쓴다</a:t>
            </a:r>
          </a:p>
        </p:txBody>
      </p:sp>
      <p:sp>
        <p:nvSpPr>
          <p:cNvPr id="10" name="TextBox 9"/>
          <p:cNvSpPr txBox="1"/>
          <p:nvPr/>
        </p:nvSpPr>
        <p:spPr>
          <a:xfrm>
            <a:off x="3804853" y="25258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60초보다 오래된 값</a:t>
            </a:r>
          </a:p>
          <a:p>
            <a:pPr algn="ctr">
              <a:lnSpc>
                <a:spcPct val="110000"/>
              </a:lnSpc>
              <a:spcAft>
                <a:spcPts val="100"/>
              </a:spcAft>
            </a:pPr>
            <a:r>
              <a:rPr sz="1300" b="0">
                <a:solidFill>
                  <a:srgbClr val="556175"/>
                </a:solidFill>
                <a:latin typeface="맑은 고딕"/>
                <a:ea typeface="맑은 고딕"/>
                <a:cs typeface="맑은 고딕"/>
              </a:rPr>
              <a:t>판단을 보류한다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멈추지 않는 에이전트가 만드는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읽지 못한 채 빈칸을 그럴듯하게 채운 추천안은 겉모습이 같아, 승인하는 사람이 없는 근거를 믿고 결정하게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빈칸을 채워 제출한다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효율을 읽지 못했다</a:t>
            </a:r>
          </a:p>
          <a:p>
            <a:pPr algn="l">
              <a:lnSpc>
                <a:spcPct val="110000"/>
              </a:lnSpc>
              <a:spcAft>
                <a:spcPts val="600"/>
              </a:spcAft>
            </a:pPr>
            <a:r>
              <a:rPr sz="1450" b="0">
                <a:solidFill>
                  <a:srgbClr val="1F2A3A"/>
                </a:solidFill>
                <a:latin typeface="맑은 고딕"/>
                <a:ea typeface="맑은 고딕"/>
                <a:cs typeface="맑은 고딕"/>
              </a:rPr>
              <a:t>• 가능성이 가장 큰 쿨러 핀 오염을 원인으로 적는다</a:t>
            </a:r>
          </a:p>
          <a:p>
            <a:pPr algn="l">
              <a:lnSpc>
                <a:spcPct val="110000"/>
              </a:lnSpc>
              <a:spcAft>
                <a:spcPts val="600"/>
              </a:spcAft>
            </a:pPr>
            <a:r>
              <a:rPr sz="1450" b="0">
                <a:solidFill>
                  <a:srgbClr val="1F2A3A"/>
                </a:solidFill>
                <a:latin typeface="맑은 고딕"/>
                <a:ea typeface="맑은 고딕"/>
                <a:cs typeface="맑은 고딕"/>
              </a:rPr>
              <a:t>• 추천안의 모양은 값을 읽었을 때와 같다</a:t>
            </a:r>
          </a:p>
          <a:p>
            <a:pPr algn="l">
              <a:lnSpc>
                <a:spcPct val="110000"/>
              </a:lnSpc>
              <a:spcAft>
                <a:spcPts val="600"/>
              </a:spcAft>
            </a:pPr>
            <a:r>
              <a:rPr sz="1450" b="0">
                <a:solidFill>
                  <a:srgbClr val="1F2A3A"/>
                </a:solidFill>
                <a:latin typeface="맑은 고딕"/>
                <a:ea typeface="맑은 고딕"/>
                <a:cs typeface="맑은 고딕"/>
              </a:rPr>
              <a:t>• 담당자는 확인된 원인으로 알고 승인한다</a:t>
            </a:r>
          </a:p>
        </p:txBody>
      </p:sp>
      <p:sp>
        <p:nvSpPr>
          <p:cNvPr id="11" name="Rounded Rectangle 10"/>
          <p:cNvSpPr/>
          <p:nvPr/>
        </p:nvSpPr>
        <p:spPr>
          <a:xfrm>
            <a:off x="868680" y="5096002"/>
            <a:ext cx="1981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981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틀려도 드러나지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ayer-stop" descr="player-stop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멈추고 이유를 낸다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효율을 읽지 못했다</a:t>
            </a:r>
          </a:p>
          <a:p>
            <a:pPr algn="l">
              <a:lnSpc>
                <a:spcPct val="110000"/>
              </a:lnSpc>
              <a:spcAft>
                <a:spcPts val="600"/>
              </a:spcAft>
            </a:pPr>
            <a:r>
              <a:rPr sz="1450" b="0">
                <a:solidFill>
                  <a:srgbClr val="1F2A3A"/>
                </a:solidFill>
                <a:latin typeface="맑은 고딕"/>
                <a:ea typeface="맑은 고딕"/>
                <a:cs typeface="맑은 고딕"/>
              </a:rPr>
              <a:t>• 원인을 적지 않고 보류한다</a:t>
            </a:r>
          </a:p>
          <a:p>
            <a:pPr algn="l">
              <a:lnSpc>
                <a:spcPct val="110000"/>
              </a:lnSpc>
              <a:spcAft>
                <a:spcPts val="600"/>
              </a:spcAft>
            </a:pPr>
            <a:r>
              <a:rPr sz="1450" b="0">
                <a:solidFill>
                  <a:srgbClr val="1F2A3A"/>
                </a:solidFill>
                <a:latin typeface="맑은 고딕"/>
                <a:ea typeface="맑은 고딕"/>
                <a:cs typeface="맑은 고딕"/>
              </a:rPr>
              <a:t>• 무엇을 확인하지 못했는지를 적어 낸다</a:t>
            </a:r>
          </a:p>
          <a:p>
            <a:pPr algn="l">
              <a:lnSpc>
                <a:spcPct val="110000"/>
              </a:lnSpc>
              <a:spcAft>
                <a:spcPts val="600"/>
              </a:spcAft>
            </a:pPr>
            <a:r>
              <a:rPr sz="1450" b="0">
                <a:solidFill>
                  <a:srgbClr val="1F2A3A"/>
                </a:solidFill>
                <a:latin typeface="맑은 고딕"/>
                <a:ea typeface="맑은 고딕"/>
                <a:cs typeface="맑은 고딕"/>
              </a:rPr>
              <a:t>• 담당자는 값이 들어온 뒤에 다시 평가시킨다</a:t>
            </a:r>
          </a:p>
        </p:txBody>
      </p:sp>
      <p:sp>
        <p:nvSpPr>
          <p:cNvPr id="18" name="Rounded Rectangle 17"/>
          <p:cNvSpPr/>
          <p:nvPr/>
        </p:nvSpPr>
        <p:spPr>
          <a:xfrm>
            <a:off x="6781647" y="5096002"/>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모르는 것이 드러난다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멈춤 조건 세 가지: 근거 부족, 도구 호출 실패, 권한 제한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멈춰야 하는 때는 근거가 모자랄 때, 도구 호출이 끝내 실패했을 때, 허용되지 않은 일이 필요할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멈춤조건.svg" descr="illust_632331667988771501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450295" y="2714945"/>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부족</a:t>
            </a:r>
          </a:p>
          <a:p>
            <a:pPr algn="ctr">
              <a:lnSpc>
                <a:spcPct val="110000"/>
              </a:lnSpc>
              <a:spcAft>
                <a:spcPts val="100"/>
              </a:spcAft>
            </a:pPr>
            <a:r>
              <a:rPr sz="1300" b="0">
                <a:solidFill>
                  <a:srgbClr val="556175"/>
                </a:solidFill>
                <a:latin typeface="맑은 고딕"/>
                <a:ea typeface="맑은 고딕"/>
                <a:cs typeface="맑은 고딕"/>
              </a:rPr>
              <a:t>값이 없거나 맞는 근거가 없다</a:t>
            </a:r>
          </a:p>
        </p:txBody>
      </p:sp>
      <p:sp>
        <p:nvSpPr>
          <p:cNvPr id="8" name="TextBox 7"/>
          <p:cNvSpPr txBox="1"/>
          <p:nvPr/>
        </p:nvSpPr>
        <p:spPr>
          <a:xfrm>
            <a:off x="3450295" y="427500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 실패</a:t>
            </a:r>
          </a:p>
          <a:p>
            <a:pPr algn="ctr">
              <a:lnSpc>
                <a:spcPct val="110000"/>
              </a:lnSpc>
              <a:spcAft>
                <a:spcPts val="100"/>
              </a:spcAft>
            </a:pPr>
            <a:r>
              <a:rPr sz="1300" b="0">
                <a:solidFill>
                  <a:srgbClr val="556175"/>
                </a:solidFill>
                <a:latin typeface="맑은 고딕"/>
                <a:ea typeface="맑은 고딕"/>
                <a:cs typeface="맑은 고딕"/>
              </a:rPr>
              <a:t>다시 해도 오류가 돌아온다</a:t>
            </a:r>
          </a:p>
        </p:txBody>
      </p:sp>
      <p:sp>
        <p:nvSpPr>
          <p:cNvPr id="9" name="TextBox 8"/>
          <p:cNvSpPr txBox="1"/>
          <p:nvPr/>
        </p:nvSpPr>
        <p:spPr>
          <a:xfrm>
            <a:off x="3450295" y="583506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권한 제한</a:t>
            </a:r>
          </a:p>
          <a:p>
            <a:pPr algn="ctr">
              <a:lnSpc>
                <a:spcPct val="110000"/>
              </a:lnSpc>
              <a:spcAft>
                <a:spcPts val="100"/>
              </a:spcAft>
            </a:pPr>
            <a:r>
              <a:rPr sz="1300" b="0">
                <a:solidFill>
                  <a:srgbClr val="556175"/>
                </a:solidFill>
                <a:latin typeface="맑은 고딕"/>
                <a:ea typeface="맑은 고딕"/>
                <a:cs typeface="맑은 고딕"/>
              </a:rPr>
              <a:t>허용되지 않은 도구이다</a:t>
            </a:r>
          </a:p>
        </p:txBody>
      </p:sp>
      <p:sp>
        <p:nvSpPr>
          <p:cNvPr id="10" name="TextBox 9"/>
          <p:cNvSpPr txBox="1"/>
          <p:nvPr/>
        </p:nvSpPr>
        <p:spPr>
          <a:xfrm>
            <a:off x="6510408" y="2573121"/>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멈춘다</a:t>
            </a:r>
          </a:p>
          <a:p>
            <a:pPr algn="ctr">
              <a:lnSpc>
                <a:spcPct val="110000"/>
              </a:lnSpc>
              <a:spcAft>
                <a:spcPts val="100"/>
              </a:spcAft>
            </a:pPr>
            <a:r>
              <a:rPr sz="1300" b="0">
                <a:solidFill>
                  <a:srgbClr val="556175"/>
                </a:solidFill>
                <a:latin typeface="맑은 고딕"/>
                <a:ea typeface="맑은 고딕"/>
                <a:cs typeface="맑은 고딕"/>
              </a:rPr>
              <a:t>지어내지 않는다</a:t>
            </a:r>
          </a:p>
        </p:txBody>
      </p:sp>
      <p:sp>
        <p:nvSpPr>
          <p:cNvPr id="11" name="TextBox 10"/>
          <p:cNvSpPr txBox="1"/>
          <p:nvPr/>
        </p:nvSpPr>
        <p:spPr>
          <a:xfrm>
            <a:off x="8899587" y="4511375"/>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재평가를 요청하거나</a:t>
            </a:r>
          </a:p>
          <a:p>
            <a:pPr algn="ctr">
              <a:lnSpc>
                <a:spcPct val="110000"/>
              </a:lnSpc>
              <a:spcAft>
                <a:spcPts val="100"/>
              </a:spcAft>
            </a:pPr>
            <a:r>
              <a:rPr sz="1300" b="0">
                <a:solidFill>
                  <a:srgbClr val="556175"/>
                </a:solidFill>
                <a:latin typeface="맑은 고딕"/>
                <a:ea typeface="맑은 고딕"/>
                <a:cs typeface="맑은 고딕"/>
              </a:rPr>
              <a:t>질문에 답하거나 닫는다</a:t>
            </a:r>
          </a:p>
        </p:txBody>
      </p:sp>
      <p:sp>
        <p:nvSpPr>
          <p:cNvPr id="12" name="TextBox 11"/>
          <p:cNvSpPr txBox="1"/>
          <p:nvPr/>
        </p:nvSpPr>
        <p:spPr>
          <a:xfrm>
            <a:off x="1012022" y="446410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근거의 세 가지 상태: SUPPORTED · UNKNOWN · UNSUPPORTED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얻지 못한 것과 값을 얻었으나 맞지 않은 것은 사람이 이어서 할 일이 달라, 근거의 상태를 셋으로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SUPPORTED</a:t>
            </a:r>
          </a:p>
          <a:p>
            <a:pPr algn="l">
              <a:lnSpc>
                <a:spcPct val="110000"/>
              </a:lnSpc>
              <a:spcAft>
                <a:spcPts val="400"/>
              </a:spcAft>
            </a:pPr>
            <a:r>
              <a:rPr sz="1400" b="0">
                <a:solidFill>
                  <a:srgbClr val="1F2A3A"/>
                </a:solidFill>
                <a:latin typeface="맑은 고딕"/>
                <a:ea typeface="맑은 고딕"/>
                <a:cs typeface="맑은 고딕"/>
              </a:rPr>
              <a:t>• 값을 읽었고 기준에 맞았다</a:t>
            </a:r>
          </a:p>
          <a:p>
            <a:pPr algn="l">
              <a:lnSpc>
                <a:spcPct val="110000"/>
              </a:lnSpc>
              <a:spcAft>
                <a:spcPts val="400"/>
              </a:spcAft>
            </a:pPr>
            <a:r>
              <a:rPr sz="1400" b="0">
                <a:solidFill>
                  <a:srgbClr val="1F2A3A"/>
                </a:solidFill>
                <a:latin typeface="맑은 고딕"/>
                <a:ea typeface="맑은 고딕"/>
                <a:cs typeface="맑은 고딕"/>
              </a:rPr>
              <a:t>• 예: 냉각 효율 46.2 %가 기준 70 % 미만이다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확인됨</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zoom-question" descr="zoom-questio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UNKNOWN</a:t>
            </a:r>
          </a:p>
          <a:p>
            <a:pPr algn="l">
              <a:lnSpc>
                <a:spcPct val="110000"/>
              </a:lnSpc>
              <a:spcAft>
                <a:spcPts val="400"/>
              </a:spcAft>
            </a:pPr>
            <a:r>
              <a:rPr sz="1400" b="0">
                <a:solidFill>
                  <a:srgbClr val="1F2A3A"/>
                </a:solidFill>
                <a:latin typeface="맑은 고딕"/>
                <a:ea typeface="맑은 고딕"/>
                <a:cs typeface="맑은 고딕"/>
              </a:rPr>
              <a:t>• 조회에 실패했거나 값이 비었다</a:t>
            </a:r>
          </a:p>
          <a:p>
            <a:pPr algn="l">
              <a:lnSpc>
                <a:spcPct val="110000"/>
              </a:lnSpc>
              <a:spcAft>
                <a:spcPts val="400"/>
              </a:spcAft>
            </a:pPr>
            <a:r>
              <a:rPr sz="1400" b="0">
                <a:solidFill>
                  <a:srgbClr val="1F2A3A"/>
                </a:solidFill>
                <a:latin typeface="맑은 고딕"/>
                <a:ea typeface="맑은 고딕"/>
                <a:cs typeface="맑은 고딕"/>
              </a:rPr>
              <a:t>• 맞는지 틀린지를 말할 수 없다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확인하지 못함</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UNSUPPORTED</a:t>
            </a:r>
          </a:p>
          <a:p>
            <a:pPr algn="l">
              <a:lnSpc>
                <a:spcPct val="110000"/>
              </a:lnSpc>
              <a:spcAft>
                <a:spcPts val="400"/>
              </a:spcAft>
            </a:pPr>
            <a:r>
              <a:rPr sz="1400" b="0">
                <a:solidFill>
                  <a:srgbClr val="1F2A3A"/>
                </a:solidFill>
                <a:latin typeface="맑은 고딕"/>
                <a:ea typeface="맑은 고딕"/>
                <a:cs typeface="맑은 고딕"/>
              </a:rPr>
              <a:t>• 값은 읽었으나 조회한 근거가 모두 기준에 맞지 않았다</a:t>
            </a:r>
          </a:p>
          <a:p>
            <a:pPr algn="l">
              <a:lnSpc>
                <a:spcPct val="110000"/>
              </a:lnSpc>
              <a:spcAft>
                <a:spcPts val="400"/>
              </a:spcAft>
            </a:pPr>
            <a:r>
              <a:rPr sz="1400" b="0">
                <a:solidFill>
                  <a:srgbClr val="1F2A3A"/>
                </a:solidFill>
                <a:latin typeface="맑은 고딕"/>
                <a:ea typeface="맑은 고딕"/>
                <a:cs typeface="맑은 고딕"/>
              </a:rPr>
              <a:t>• 등록된 원인 가운데 맞는 것이 없다</a:t>
            </a:r>
          </a:p>
        </p:txBody>
      </p:sp>
      <p:sp>
        <p:nvSpPr>
          <p:cNvPr id="22" name="Rounded Rectangle 21"/>
          <p:cNvSpPr/>
          <p:nvPr/>
        </p:nvSpPr>
        <p:spPr>
          <a:xfrm>
            <a:off x="8356396" y="5041392"/>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맞는 근거 없음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보류의 형식: 상태, 이유,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보류할 때 에이전트는 결과 항목을 채우지 않고 상태, 이유, 그때까지 모은 증거의 세 가지만 제출한다.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상태</a:t>
            </a:r>
          </a:p>
          <a:p>
            <a:pPr algn="l">
              <a:lnSpc>
                <a:spcPct val="110000"/>
              </a:lnSpc>
              <a:spcAft>
                <a:spcPts val="400"/>
              </a:spcAft>
            </a:pPr>
            <a:r>
              <a:rPr sz="1400" b="0">
                <a:solidFill>
                  <a:srgbClr val="1F2A3A"/>
                </a:solidFill>
                <a:latin typeface="맑은 고딕"/>
                <a:ea typeface="맑은 고딕"/>
                <a:cs typeface="맑은 고딕"/>
              </a:rPr>
              <a:t>UNKNOWN과 UNSUPPORTED 가운데 하나이다</a:t>
            </a:r>
          </a:p>
        </p:txBody>
      </p:sp>
      <p:sp>
        <p:nvSpPr>
          <p:cNvPr id="10" name="Rounded Rectangle 9"/>
          <p:cNvSpPr/>
          <p:nvPr/>
        </p:nvSpPr>
        <p:spPr>
          <a:xfrm>
            <a:off x="777240" y="5149850"/>
            <a:ext cx="841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status</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notes" descr="note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이유</a:t>
            </a:r>
          </a:p>
          <a:p>
            <a:pPr algn="l">
              <a:lnSpc>
                <a:spcPct val="110000"/>
              </a:lnSpc>
              <a:spcAft>
                <a:spcPts val="400"/>
              </a:spcAft>
            </a:pPr>
            <a:r>
              <a:rPr sz="1400" b="0">
                <a:solidFill>
                  <a:srgbClr val="1F2A3A"/>
                </a:solidFill>
                <a:latin typeface="맑은 고딕"/>
                <a:ea typeface="맑은 고딕"/>
                <a:cs typeface="맑은 고딕"/>
              </a:rPr>
              <a:t>• 무엇을 확인하지 못했는지를 사람이 읽을 문장으로 적는다</a:t>
            </a:r>
          </a:p>
          <a:p>
            <a:pPr algn="l">
              <a:lnSpc>
                <a:spcPct val="110000"/>
              </a:lnSpc>
              <a:spcAft>
                <a:spcPts val="400"/>
              </a:spcAft>
            </a:pPr>
            <a:r>
              <a:rPr sz="1400" b="0">
                <a:solidFill>
                  <a:srgbClr val="1F2A3A"/>
                </a:solidFill>
                <a:latin typeface="맑은 고딕"/>
                <a:ea typeface="맑은 고딕"/>
                <a:cs typeface="맑은 고딕"/>
              </a:rPr>
              <a:t>• 예: 「유온의 최신 값이 60초보다 오래되었다」</a:t>
            </a:r>
          </a:p>
        </p:txBody>
      </p:sp>
      <p:sp>
        <p:nvSpPr>
          <p:cNvPr id="16" name="Rounded Rectangle 15"/>
          <p:cNvSpPr/>
          <p:nvPr/>
        </p:nvSpPr>
        <p:spPr>
          <a:xfrm>
            <a:off x="4566818" y="5149850"/>
            <a:ext cx="8412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reason</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증거</a:t>
            </a:r>
          </a:p>
          <a:p>
            <a:pPr algn="l">
              <a:lnSpc>
                <a:spcPct val="110000"/>
              </a:lnSpc>
              <a:spcAft>
                <a:spcPts val="400"/>
              </a:spcAft>
            </a:pPr>
            <a:r>
              <a:rPr sz="1400" b="0">
                <a:solidFill>
                  <a:srgbClr val="1F2A3A"/>
                </a:solidFill>
                <a:latin typeface="맑은 고딕"/>
                <a:ea typeface="맑은 고딕"/>
                <a:cs typeface="맑은 고딕"/>
              </a:rPr>
              <a:t>그때까지 조회해 얻은 것을 담는다</a:t>
            </a:r>
          </a:p>
        </p:txBody>
      </p:sp>
      <p:sp>
        <p:nvSpPr>
          <p:cNvPr id="22" name="Rounded Rectangle 21"/>
          <p:cNvSpPr/>
          <p:nvPr/>
        </p:nvSpPr>
        <p:spPr>
          <a:xfrm>
            <a:off x="8356396" y="5149850"/>
            <a:ext cx="999743"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999743"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evidence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권한 제한: 허용 목록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에이전트가 필요하다고 판단해도 실행되지 않으며, 돌아갈 길을 찾지 않고 사람에게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허용 목록</a:t>
            </a:r>
          </a:p>
          <a:p>
            <a:pPr algn="ctr">
              <a:lnSpc>
                <a:spcPct val="110000"/>
              </a:lnSpc>
              <a:spcAft>
                <a:spcPts val="400"/>
              </a:spcAft>
            </a:pPr>
            <a:r>
              <a:rPr sz="1350" b="0">
                <a:solidFill>
                  <a:srgbClr val="1F2A3A"/>
                </a:solidFill>
                <a:latin typeface="맑은 고딕"/>
                <a:ea typeface="맑은 고딕"/>
                <a:cs typeface="맑은 고딕"/>
              </a:rPr>
              <a:t>에이전트마다</a:t>
            </a:r>
          </a:p>
          <a:p>
            <a:pPr algn="ctr">
              <a:lnSpc>
                <a:spcPct val="110000"/>
              </a:lnSpc>
              <a:spcAft>
                <a:spcPts val="400"/>
              </a:spcAft>
            </a:pPr>
            <a:r>
              <a:rPr sz="1350" b="0">
                <a:solidFill>
                  <a:srgbClr val="1F2A3A"/>
                </a:solidFill>
                <a:latin typeface="맑은 고딕"/>
                <a:ea typeface="맑은 고딕"/>
                <a:cs typeface="맑은 고딕"/>
              </a:rPr>
              <a:t>부를 수 있는 도구가</a:t>
            </a:r>
          </a:p>
          <a:p>
            <a:pPr algn="ctr">
              <a:lnSpc>
                <a:spcPct val="110000"/>
              </a:lnSpc>
              <a:spcAft>
                <a:spcPts val="400"/>
              </a:spcAft>
            </a:pPr>
            <a:r>
              <a:rPr sz="1350" b="0">
                <a:solidFill>
                  <a:srgbClr val="1F2A3A"/>
                </a:solidFill>
                <a:latin typeface="맑은 고딕"/>
                <a:ea typeface="맑은 고딕"/>
                <a:cs typeface="맑은 고딕"/>
              </a:rPr>
              <a:t>정해져 있다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ban" descr="ba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목록 밖의 호출</a:t>
            </a:r>
          </a:p>
          <a:p>
            <a:pPr algn="ctr">
              <a:lnSpc>
                <a:spcPct val="110000"/>
              </a:lnSpc>
              <a:spcAft>
                <a:spcPts val="400"/>
              </a:spcAft>
            </a:pPr>
            <a:r>
              <a:rPr sz="1350" b="0">
                <a:solidFill>
                  <a:srgbClr val="1F2A3A"/>
                </a:solidFill>
                <a:latin typeface="맑은 고딕"/>
                <a:ea typeface="맑은 고딕"/>
                <a:cs typeface="맑은 고딕"/>
              </a:rPr>
              <a:t>실행되지 않고</a:t>
            </a:r>
          </a:p>
          <a:p>
            <a:pPr algn="ctr">
              <a:lnSpc>
                <a:spcPct val="110000"/>
              </a:lnSpc>
              <a:spcAft>
                <a:spcPts val="400"/>
              </a:spcAft>
            </a:pPr>
            <a:r>
              <a:rPr sz="1350" b="0">
                <a:solidFill>
                  <a:srgbClr val="1F2A3A"/>
                </a:solidFill>
                <a:latin typeface="맑은 고딕"/>
                <a:ea typeface="맑은 고딕"/>
                <a:cs typeface="맑은 고딕"/>
              </a:rPr>
              <a:t>권한 요청이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message-question" descr="message-question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사람에게 묻는다</a:t>
            </a:r>
          </a:p>
          <a:p>
            <a:pPr algn="ctr">
              <a:lnSpc>
                <a:spcPct val="110000"/>
              </a:lnSpc>
              <a:spcAft>
                <a:spcPts val="400"/>
              </a:spcAft>
            </a:pPr>
            <a:r>
              <a:rPr sz="1350" b="0">
                <a:solidFill>
                  <a:srgbClr val="1F2A3A"/>
                </a:solidFill>
                <a:latin typeface="맑은 고딕"/>
                <a:ea typeface="맑은 고딕"/>
                <a:cs typeface="맑은 고딕"/>
              </a:rPr>
              <a:t>요청이 질문이 되어</a:t>
            </a:r>
          </a:p>
          <a:p>
            <a:pPr algn="ctr">
              <a:lnSpc>
                <a:spcPct val="110000"/>
              </a:lnSpc>
              <a:spcAft>
                <a:spcPts val="400"/>
              </a:spcAft>
            </a:pPr>
            <a:r>
              <a:rPr sz="1350" b="0">
                <a:solidFill>
                  <a:srgbClr val="1F2A3A"/>
                </a:solidFill>
                <a:latin typeface="맑은 고딕"/>
                <a:ea typeface="맑은 고딕"/>
                <a:cs typeface="맑은 고딕"/>
              </a:rPr>
              <a:t>사람에게 올라간다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바뀌지 않는 것</a:t>
            </a:r>
          </a:p>
          <a:p>
            <a:pPr algn="ctr">
              <a:lnSpc>
                <a:spcPct val="110000"/>
              </a:lnSpc>
              <a:spcAft>
                <a:spcPts val="400"/>
              </a:spcAft>
            </a:pPr>
            <a:r>
              <a:rPr sz="1350" b="0">
                <a:solidFill>
                  <a:srgbClr val="1F2A3A"/>
                </a:solidFill>
                <a:latin typeface="맑은 고딕"/>
                <a:ea typeface="맑은 고딕"/>
                <a:cs typeface="맑은 고딕"/>
              </a:rPr>
              <a:t>「답변은 실행 권한을</a:t>
            </a:r>
          </a:p>
          <a:p>
            <a:pPr algn="ctr">
              <a:lnSpc>
                <a:spcPct val="110000"/>
              </a:lnSpc>
              <a:spcAft>
                <a:spcPts val="400"/>
              </a:spcAft>
            </a:pPr>
            <a:r>
              <a:rPr sz="1350" b="0">
                <a:solidFill>
                  <a:srgbClr val="1F2A3A"/>
                </a:solidFill>
                <a:latin typeface="맑은 고딕"/>
                <a:ea typeface="맑은 고딕"/>
                <a:cs typeface="맑은 고딕"/>
              </a:rPr>
              <a:t>바꾸지 않습니다.」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구조화 출력: 추천안의 다섯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원인, 고장 유형, 진단 안내, 판단, 판단 번호의 다섯 항목을 가진 JSON 객체 하나로 제출된다.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"decision_id": "DEC-1010-002-408b"</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원인과 고장 유형을 지식 그래프의 식별자로 적는다.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guide_card</a:t>
            </a:r>
          </a:p>
          <a:p>
            <a:pPr algn="l">
              <a:lnSpc>
                <a:spcPct val="110000"/>
              </a:lnSpc>
              <a:spcAft>
                <a:spcPts val="400"/>
              </a:spcAft>
            </a:pPr>
            <a:r>
              <a:rPr sz="1400" b="0">
                <a:solidFill>
                  <a:srgbClr val="1F2A3A"/>
                </a:solidFill>
                <a:latin typeface="맑은 고딕"/>
                <a:ea typeface="맑은 고딕"/>
                <a:cs typeface="맑은 고딕"/>
              </a:rPr>
              <a:t>진단의 결과와 권장 조치를 담은 안내이다.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추천하는 조치, 그 이유의 설명, 후보의 순서이다.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제출하고 돌려받은 판단 번호이다.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형식의 검사와 교정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형식이 어긋난 결과는 다음 단계로 넘어가지 못하고, 거절된 이유와 함께 에이전트에게 되돌아가 고쳐진다.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send" descr="send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제출</a:t>
            </a:r>
          </a:p>
          <a:p>
            <a:pPr algn="ctr">
              <a:lnSpc>
                <a:spcPct val="110000"/>
              </a:lnSpc>
              <a:spcAft>
                <a:spcPts val="400"/>
              </a:spcAft>
            </a:pPr>
            <a:r>
              <a:rPr sz="1350" b="0">
                <a:solidFill>
                  <a:srgbClr val="1F2A3A"/>
                </a:solidFill>
                <a:latin typeface="맑은 고딕"/>
                <a:ea typeface="맑은 고딕"/>
                <a:cs typeface="맑은 고딕"/>
              </a:rPr>
              <a:t>에이전트가</a:t>
            </a:r>
          </a:p>
          <a:p>
            <a:pPr algn="ctr">
              <a:lnSpc>
                <a:spcPct val="110000"/>
              </a:lnSpc>
              <a:spcAft>
                <a:spcPts val="400"/>
              </a:spcAft>
            </a:pPr>
            <a:r>
              <a:rPr sz="1350" b="0">
                <a:solidFill>
                  <a:srgbClr val="1F2A3A"/>
                </a:solidFill>
                <a:latin typeface="맑은 고딕"/>
                <a:ea typeface="맑은 고딕"/>
                <a:cs typeface="맑은 고딕"/>
              </a:rPr>
              <a:t>결과 객체를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형식 검사</a:t>
            </a:r>
          </a:p>
          <a:p>
            <a:pPr algn="ctr">
              <a:lnSpc>
                <a:spcPct val="110000"/>
              </a:lnSpc>
              <a:spcAft>
                <a:spcPts val="400"/>
              </a:spcAft>
            </a:pPr>
            <a:r>
              <a:rPr sz="1350" b="0">
                <a:solidFill>
                  <a:srgbClr val="1F2A3A"/>
                </a:solidFill>
                <a:latin typeface="맑은 고딕"/>
                <a:ea typeface="맑은 고딕"/>
                <a:cs typeface="맑은 고딕"/>
              </a:rPr>
              <a:t>정해진 항목과</a:t>
            </a:r>
          </a:p>
          <a:p>
            <a:pPr algn="ctr">
              <a:lnSpc>
                <a:spcPct val="110000"/>
              </a:lnSpc>
              <a:spcAft>
                <a:spcPts val="400"/>
              </a:spcAft>
            </a:pPr>
            <a:r>
              <a:rPr sz="1350" b="0">
                <a:solidFill>
                  <a:srgbClr val="1F2A3A"/>
                </a:solidFill>
                <a:latin typeface="맑은 고딕"/>
                <a:ea typeface="맑은 고딕"/>
                <a:cs typeface="맑은 고딕"/>
              </a:rPr>
              <a:t>맞는지를 시스템이 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arrow-back-up" descr="arrow-back-up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거절과 교정</a:t>
            </a:r>
          </a:p>
          <a:p>
            <a:pPr algn="ctr">
              <a:lnSpc>
                <a:spcPct val="110000"/>
              </a:lnSpc>
              <a:spcAft>
                <a:spcPts val="400"/>
              </a:spcAft>
            </a:pPr>
            <a:r>
              <a:rPr sz="1350" b="0">
                <a:solidFill>
                  <a:srgbClr val="1F2A3A"/>
                </a:solidFill>
                <a:latin typeface="맑은 고딕"/>
                <a:ea typeface="맑은 고딕"/>
                <a:cs typeface="맑은 고딕"/>
              </a:rPr>
              <a:t>「출력 형식 검사에서</a:t>
            </a:r>
          </a:p>
          <a:p>
            <a:pPr algn="ctr">
              <a:lnSpc>
                <a:spcPct val="110000"/>
              </a:lnSpc>
              <a:spcAft>
                <a:spcPts val="400"/>
              </a:spcAft>
            </a:pPr>
            <a:r>
              <a:rPr sz="1350" b="0">
                <a:solidFill>
                  <a:srgbClr val="1F2A3A"/>
                </a:solidFill>
                <a:latin typeface="맑은 고딕"/>
                <a:ea typeface="맑은 고딕"/>
                <a:cs typeface="맑은 고딕"/>
              </a:rPr>
              <a:t>거절됐습니다」를 받고</a:t>
            </a:r>
          </a:p>
          <a:p>
            <a:pPr algn="ctr">
              <a:lnSpc>
                <a:spcPct val="110000"/>
              </a:lnSpc>
              <a:spcAft>
                <a:spcPts val="400"/>
              </a:spcAft>
            </a:pPr>
            <a:r>
              <a:rPr sz="1350" b="0">
                <a:solidFill>
                  <a:srgbClr val="1F2A3A"/>
                </a:solidFill>
                <a:latin typeface="맑은 고딕"/>
                <a:ea typeface="맑은 고딕"/>
                <a:cs typeface="맑은 고딕"/>
              </a:rPr>
              <a:t>고쳐서 다시 낸다</a:t>
            </a:r>
          </a:p>
          <a:p>
            <a:pPr algn="ctr">
              <a:lnSpc>
                <a:spcPct val="110000"/>
              </a:lnSpc>
              <a:spcAft>
                <a:spcPts val="400"/>
              </a:spcAft>
            </a:pPr>
            <a:r>
              <a:rPr sz="1350" b="0">
                <a:solidFill>
                  <a:srgbClr val="1F2A3A"/>
                </a:solidFill>
                <a:latin typeface="맑은 고딕"/>
                <a:ea typeface="맑은 고딕"/>
                <a:cs typeface="맑은 고딕"/>
              </a:rPr>
              <a:t>교정은 두 번까지</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통과</a:t>
            </a:r>
          </a:p>
          <a:p>
            <a:pPr algn="ctr">
              <a:lnSpc>
                <a:spcPct val="110000"/>
              </a:lnSpc>
              <a:spcAft>
                <a:spcPts val="400"/>
              </a:spcAft>
            </a:pPr>
            <a:r>
              <a:rPr sz="1350" b="0">
                <a:solidFill>
                  <a:srgbClr val="1F2A3A"/>
                </a:solidFill>
                <a:latin typeface="맑은 고딕"/>
                <a:ea typeface="맑은 고딕"/>
                <a:cs typeface="맑은 고딕"/>
              </a:rPr>
              <a:t>승인할 담당자에게</a:t>
            </a:r>
          </a:p>
          <a:p>
            <a:pPr algn="ctr">
              <a:lnSpc>
                <a:spcPct val="110000"/>
              </a:lnSpc>
              <a:spcAft>
                <a:spcPts val="400"/>
              </a:spcAft>
            </a:pPr>
            <a:r>
              <a:rPr sz="1350" b="0">
                <a:solidFill>
                  <a:srgbClr val="1F2A3A"/>
                </a:solidFill>
                <a:latin typeface="맑은 고딕"/>
                <a:ea typeface="맑은 고딕"/>
                <a:cs typeface="맑은 고딕"/>
              </a:rPr>
              <a:t>넘어간다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나의 첫 업무 에이전트 구성하기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에이전트의 이름, 목표, 역할, 사용 도구를 정하고 직접 질문한다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구성한 에이전트 하나와, 그 에이전트가 근거와 호출 기록을 붙여 답한 질문 한 건이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에이전트를 구성한다</a:t>
            </a:r>
          </a:p>
          <a:p>
            <a:pPr algn="l">
              <a:lnSpc>
                <a:spcPct val="110000"/>
              </a:lnSpc>
              <a:spcAft>
                <a:spcPts val="400"/>
              </a:spcAft>
            </a:pPr>
            <a:r>
              <a:rPr sz="1400" b="0">
                <a:solidFill>
                  <a:srgbClr val="1F2A3A"/>
                </a:solidFill>
                <a:latin typeface="맑은 고딕"/>
                <a:ea typeface="맑은 고딕"/>
                <a:cs typeface="맑은 고딕"/>
              </a:rPr>
              <a:t>• 이름, 목표, 역할을 적는다</a:t>
            </a:r>
          </a:p>
          <a:p>
            <a:pPr algn="l">
              <a:lnSpc>
                <a:spcPct val="110000"/>
              </a:lnSpc>
              <a:spcAft>
                <a:spcPts val="400"/>
              </a:spcAft>
            </a:pPr>
            <a:r>
              <a:rPr sz="1400" b="0">
                <a:solidFill>
                  <a:srgbClr val="1F2A3A"/>
                </a:solidFill>
                <a:latin typeface="맑은 고딕"/>
                <a:ea typeface="맑은 고딕"/>
                <a:cs typeface="맑은 고딕"/>
              </a:rPr>
              <a:t>• 읽기 도구 가운데 쓸 것을 고른다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구성</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message-question" descr="message-question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질문한다</a:t>
            </a:r>
          </a:p>
          <a:p>
            <a:pPr algn="l">
              <a:lnSpc>
                <a:spcPct val="110000"/>
              </a:lnSpc>
              <a:spcAft>
                <a:spcPts val="400"/>
              </a:spcAft>
            </a:pPr>
            <a:r>
              <a:rPr sz="1400" b="0">
                <a:solidFill>
                  <a:srgbClr val="1F2A3A"/>
                </a:solidFill>
                <a:latin typeface="맑은 고딕"/>
                <a:ea typeface="맑은 고딕"/>
                <a:cs typeface="맑은 고딕"/>
              </a:rPr>
              <a:t>• 구성한 에이전트에게 직접 질문한다</a:t>
            </a:r>
          </a:p>
          <a:p>
            <a:pPr algn="l">
              <a:lnSpc>
                <a:spcPct val="110000"/>
              </a:lnSpc>
              <a:spcAft>
                <a:spcPts val="400"/>
              </a:spcAft>
            </a:pPr>
            <a:r>
              <a:rPr sz="1400" b="0">
                <a:solidFill>
                  <a:srgbClr val="1F2A3A"/>
                </a:solidFill>
                <a:latin typeface="맑은 고딕"/>
                <a:ea typeface="맑은 고딕"/>
                <a:cs typeface="맑은 고딕"/>
              </a:rPr>
              <a:t>• 답에 붙은 근거와 도구 호출 기록을 읽는다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질문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입력을 확보한다</a:t>
            </a:r>
          </a:p>
          <a:p>
            <a:pPr algn="l">
              <a:lnSpc>
                <a:spcPct val="110000"/>
              </a:lnSpc>
              <a:spcAft>
                <a:spcPts val="400"/>
              </a:spcAft>
            </a:pPr>
            <a:r>
              <a:rPr sz="1400" b="0">
                <a:solidFill>
                  <a:srgbClr val="1F2A3A"/>
                </a:solidFill>
                <a:latin typeface="맑은 고딕"/>
                <a:ea typeface="맑은 고딕"/>
                <a:cs typeface="맑은 고딕"/>
              </a:rPr>
              <a:t>같은 업무 문제를 직접 만들 에이전트에 넣을 수 있게 질문에 쓴 입력을 정리해 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입력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이상의 원인을 추론하는 에이전트 제작</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Code로 온톨로지의 관계와 SOP, 센서 입력을 읽어 후보 원인과 점검 항목을 내는 에이전트를 만든다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후보 원인과 추가 점검 항목을 근거와 함께 정해진 항목으로 내는 에이전트와 그 출력이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읽는다</a:t>
            </a:r>
          </a:p>
          <a:p>
            <a:pPr algn="ctr">
              <a:lnSpc>
                <a:spcPct val="110000"/>
              </a:lnSpc>
              <a:spcAft>
                <a:spcPts val="400"/>
              </a:spcAft>
            </a:pPr>
            <a:r>
              <a:rPr sz="1350" b="0">
                <a:solidFill>
                  <a:srgbClr val="1F2A3A"/>
                </a:solidFill>
                <a:latin typeface="맑은 고딕"/>
                <a:ea typeface="맑은 고딕"/>
                <a:cs typeface="맑은 고딕"/>
              </a:rPr>
              <a:t>공용 온톨로지에서</a:t>
            </a:r>
          </a:p>
          <a:p>
            <a:pPr algn="ctr">
              <a:lnSpc>
                <a:spcPct val="110000"/>
              </a:lnSpc>
              <a:spcAft>
                <a:spcPts val="400"/>
              </a:spcAft>
            </a:pPr>
            <a:r>
              <a:rPr sz="1350" b="0">
                <a:solidFill>
                  <a:srgbClr val="1F2A3A"/>
                </a:solidFill>
                <a:latin typeface="맑은 고딕"/>
                <a:ea typeface="맑은 고딕"/>
                <a:cs typeface="맑은 고딕"/>
              </a:rPr>
              <a:t>설비, 센서, 고장 유형,</a:t>
            </a:r>
          </a:p>
          <a:p>
            <a:pPr algn="ctr">
              <a:lnSpc>
                <a:spcPct val="110000"/>
              </a:lnSpc>
              <a:spcAft>
                <a:spcPts val="400"/>
              </a:spcAft>
            </a:pPr>
            <a:r>
              <a:rPr sz="1350" b="0">
                <a:solidFill>
                  <a:srgbClr val="1F2A3A"/>
                </a:solidFill>
                <a:latin typeface="맑은 고딕"/>
                <a:ea typeface="맑은 고딕"/>
                <a:cs typeface="맑은 고딕"/>
              </a:rPr>
              <a:t>SOP의 관계를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chart-line" descr="chart-lin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센서 입력을 댄다</a:t>
            </a:r>
          </a:p>
          <a:p>
            <a:pPr algn="ctr">
              <a:lnSpc>
                <a:spcPct val="110000"/>
              </a:lnSpc>
              <a:spcAft>
                <a:spcPts val="400"/>
              </a:spcAft>
            </a:pPr>
            <a:r>
              <a:rPr sz="1350" b="0">
                <a:solidFill>
                  <a:srgbClr val="1F2A3A"/>
                </a:solidFill>
                <a:latin typeface="맑은 고딕"/>
                <a:ea typeface="맑은 고딕"/>
                <a:cs typeface="맑은 고딕"/>
              </a:rPr>
              <a:t>제공된 센서 입력을</a:t>
            </a:r>
          </a:p>
          <a:p>
            <a:pPr algn="ctr">
              <a:lnSpc>
                <a:spcPct val="110000"/>
              </a:lnSpc>
              <a:spcAft>
                <a:spcPts val="400"/>
              </a:spcAft>
            </a:pPr>
            <a:r>
              <a:rPr sz="1350" b="0">
                <a:solidFill>
                  <a:srgbClr val="1F2A3A"/>
                </a:solidFill>
                <a:latin typeface="맑은 고딕"/>
                <a:ea typeface="맑은 고딕"/>
                <a:cs typeface="맑은 고딕"/>
              </a:rPr>
              <a:t>증거 기준에 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원인을 가른다</a:t>
            </a:r>
          </a:p>
          <a:p>
            <a:pPr algn="ctr">
              <a:lnSpc>
                <a:spcPct val="110000"/>
              </a:lnSpc>
              <a:spcAft>
                <a:spcPts val="400"/>
              </a:spcAft>
            </a:pPr>
            <a:r>
              <a:rPr sz="1350" b="0">
                <a:solidFill>
                  <a:srgbClr val="1F2A3A"/>
                </a:solidFill>
                <a:latin typeface="맑은 고딕"/>
                <a:ea typeface="맑은 고딕"/>
                <a:cs typeface="맑은 고딕"/>
              </a:rPr>
              <a:t>확인된 원인과</a:t>
            </a:r>
          </a:p>
          <a:p>
            <a:pPr algn="ctr">
              <a:lnSpc>
                <a:spcPct val="110000"/>
              </a:lnSpc>
              <a:spcAft>
                <a:spcPts val="400"/>
              </a:spcAft>
            </a:pPr>
            <a:r>
              <a:rPr sz="1350" b="0">
                <a:solidFill>
                  <a:srgbClr val="1F2A3A"/>
                </a:solidFill>
                <a:latin typeface="맑은 고딕"/>
                <a:ea typeface="맑은 고딕"/>
                <a:cs typeface="맑은 고딕"/>
              </a:rPr>
              <a:t>가설을 구분해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점검 항목을 낸다</a:t>
            </a:r>
          </a:p>
          <a:p>
            <a:pPr algn="ctr">
              <a:lnSpc>
                <a:spcPct val="110000"/>
              </a:lnSpc>
              <a:spcAft>
                <a:spcPts val="400"/>
              </a:spcAft>
            </a:pPr>
            <a:r>
              <a:rPr sz="1350" b="0">
                <a:solidFill>
                  <a:srgbClr val="1F2A3A"/>
                </a:solidFill>
                <a:latin typeface="맑은 고딕"/>
                <a:ea typeface="맑은 고딕"/>
                <a:cs typeface="맑은 고딕"/>
              </a:rPr>
              <a:t>추가로 점검할 것을</a:t>
            </a:r>
          </a:p>
          <a:p>
            <a:pPr algn="ctr">
              <a:lnSpc>
                <a:spcPct val="110000"/>
              </a:lnSpc>
              <a:spcAft>
                <a:spcPts val="400"/>
              </a:spcAft>
            </a:pPr>
            <a:r>
              <a:rPr sz="1350" b="0">
                <a:solidFill>
                  <a:srgbClr val="1F2A3A"/>
                </a:solidFill>
                <a:latin typeface="맑은 고딕"/>
                <a:ea typeface="맑은 고딕"/>
                <a:cs typeface="맑은 고딕"/>
              </a:rPr>
              <a:t>근거와 함께</a:t>
            </a:r>
          </a:p>
          <a:p>
            <a:pPr algn="ctr">
              <a:lnSpc>
                <a:spcPct val="110000"/>
              </a:lnSpc>
              <a:spcAft>
                <a:spcPts val="400"/>
              </a:spcAft>
            </a:pPr>
            <a:r>
              <a:rPr sz="1350" b="0">
                <a:solidFill>
                  <a:srgbClr val="1F2A3A"/>
                </a:solidFill>
                <a:latin typeface="맑은 고딕"/>
                <a:ea typeface="맑은 고딕"/>
                <a:cs typeface="맑은 고딕"/>
              </a:rPr>
              <a:t>정해진 항목으로 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여러 증거의 비교와 점검 우선순위 결정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원인 추론 에이전트에 서로 다른 센서 값과 고장 후보를 넣어 점검 순서와 근거를 보완한다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견주는 증거와 보완하는 점검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입력을 바꾸어 넣으면 점검 순서와 근거가 달라지고, 증거가 모자라거나 어긋날 때는 단정 대신 추가 확인 요청이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다른 입력을 넣는다</a:t>
            </a:r>
          </a:p>
          <a:p>
            <a:pPr algn="ctr">
              <a:lnSpc>
                <a:spcPct val="110000"/>
              </a:lnSpc>
              <a:spcAft>
                <a:spcPts val="400"/>
              </a:spcAft>
            </a:pPr>
            <a:r>
              <a:rPr sz="1350" b="0">
                <a:solidFill>
                  <a:srgbClr val="1F2A3A"/>
                </a:solidFill>
                <a:latin typeface="맑은 고딕"/>
                <a:ea typeface="맑은 고딕"/>
                <a:cs typeface="맑은 고딕"/>
              </a:rPr>
              <a:t>서로 다른 센서 값과</a:t>
            </a:r>
          </a:p>
          <a:p>
            <a:pPr algn="ctr">
              <a:lnSpc>
                <a:spcPct val="110000"/>
              </a:lnSpc>
              <a:spcAft>
                <a:spcPts val="400"/>
              </a:spcAft>
            </a:pPr>
            <a:r>
              <a:rPr sz="1350" b="0">
                <a:solidFill>
                  <a:srgbClr val="1F2A3A"/>
                </a:solidFill>
                <a:latin typeface="맑은 고딕"/>
                <a:ea typeface="맑은 고딕"/>
                <a:cs typeface="맑은 고딕"/>
              </a:rPr>
              <a:t>고장 후보를</a:t>
            </a:r>
          </a:p>
          <a:p>
            <a:pPr algn="ctr">
              <a:lnSpc>
                <a:spcPct val="110000"/>
              </a:lnSpc>
              <a:spcAft>
                <a:spcPts val="400"/>
              </a:spcAft>
            </a:pPr>
            <a:r>
              <a:rPr sz="1350" b="0">
                <a:solidFill>
                  <a:srgbClr val="1F2A3A"/>
                </a:solidFill>
                <a:latin typeface="맑은 고딕"/>
                <a:ea typeface="맑은 고딕"/>
                <a:cs typeface="맑은 고딕"/>
              </a:rPr>
              <a:t>에이전트에 넣는다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scale" descr="scal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증거를 견준다</a:t>
            </a:r>
          </a:p>
          <a:p>
            <a:pPr algn="ctr">
              <a:lnSpc>
                <a:spcPct val="110000"/>
              </a:lnSpc>
              <a:spcAft>
                <a:spcPts val="400"/>
              </a:spcAft>
            </a:pPr>
            <a:r>
              <a:rPr sz="1350" b="0">
                <a:solidFill>
                  <a:srgbClr val="1F2A3A"/>
                </a:solidFill>
                <a:latin typeface="맑은 고딕"/>
                <a:ea typeface="맑은 고딕"/>
                <a:cs typeface="맑은 고딕"/>
              </a:rPr>
              <a:t>후보마다 맞는 증거와</a:t>
            </a:r>
          </a:p>
          <a:p>
            <a:pPr algn="ctr">
              <a:lnSpc>
                <a:spcPct val="110000"/>
              </a:lnSpc>
              <a:spcAft>
                <a:spcPts val="400"/>
              </a:spcAft>
            </a:pPr>
            <a:r>
              <a:rPr sz="1350" b="0">
                <a:solidFill>
                  <a:srgbClr val="1F2A3A"/>
                </a:solidFill>
                <a:latin typeface="맑은 고딕"/>
                <a:ea typeface="맑은 고딕"/>
                <a:cs typeface="맑은 고딕"/>
              </a:rPr>
              <a:t>맞지 않는 증거를</a:t>
            </a:r>
          </a:p>
          <a:p>
            <a:pPr algn="ctr">
              <a:lnSpc>
                <a:spcPct val="110000"/>
              </a:lnSpc>
              <a:spcAft>
                <a:spcPts val="400"/>
              </a:spcAft>
            </a:pPr>
            <a:r>
              <a:rPr sz="1350" b="0">
                <a:solidFill>
                  <a:srgbClr val="1F2A3A"/>
                </a:solidFill>
                <a:latin typeface="맑은 고딕"/>
                <a:ea typeface="맑은 고딕"/>
                <a:cs typeface="맑은 고딕"/>
              </a:rPr>
              <a:t>나란히 놓는다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zoom-question" descr="zoom-question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부족과 충돌을 가린다</a:t>
            </a:r>
          </a:p>
          <a:p>
            <a:pPr algn="ctr">
              <a:lnSpc>
                <a:spcPct val="110000"/>
              </a:lnSpc>
              <a:spcAft>
                <a:spcPts val="400"/>
              </a:spcAft>
            </a:pPr>
            <a:r>
              <a:rPr sz="1350" b="0">
                <a:solidFill>
                  <a:srgbClr val="1F2A3A"/>
                </a:solidFill>
                <a:latin typeface="맑은 고딕"/>
                <a:ea typeface="맑은 고딕"/>
                <a:cs typeface="맑은 고딕"/>
              </a:rPr>
              <a:t>증거가 모자라거나</a:t>
            </a:r>
          </a:p>
          <a:p>
            <a:pPr algn="ctr">
              <a:lnSpc>
                <a:spcPct val="110000"/>
              </a:lnSpc>
              <a:spcAft>
                <a:spcPts val="400"/>
              </a:spcAft>
            </a:pPr>
            <a:r>
              <a:rPr sz="1350" b="0">
                <a:solidFill>
                  <a:srgbClr val="1F2A3A"/>
                </a:solidFill>
                <a:latin typeface="맑은 고딕"/>
                <a:ea typeface="맑은 고딕"/>
                <a:cs typeface="맑은 고딕"/>
              </a:rPr>
              <a:t>서로 어긋나면</a:t>
            </a:r>
          </a:p>
          <a:p>
            <a:pPr algn="ctr">
              <a:lnSpc>
                <a:spcPct val="110000"/>
              </a:lnSpc>
              <a:spcAft>
                <a:spcPts val="400"/>
              </a:spcAft>
            </a:pPr>
            <a:r>
              <a:rPr sz="1350" b="0">
                <a:solidFill>
                  <a:srgbClr val="1F2A3A"/>
                </a:solidFill>
                <a:latin typeface="맑은 고딕"/>
                <a:ea typeface="맑은 고딕"/>
                <a:cs typeface="맑은 고딕"/>
              </a:rPr>
              <a:t>추가 확인을 요청한다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점검 순서를 정한다</a:t>
            </a:r>
          </a:p>
          <a:p>
            <a:pPr algn="ctr">
              <a:lnSpc>
                <a:spcPct val="110000"/>
              </a:lnSpc>
              <a:spcAft>
                <a:spcPts val="400"/>
              </a:spcAft>
            </a:pPr>
            <a:r>
              <a:rPr sz="1350" b="0">
                <a:solidFill>
                  <a:srgbClr val="1F2A3A"/>
                </a:solidFill>
                <a:latin typeface="맑은 고딕"/>
                <a:ea typeface="맑은 고딕"/>
                <a:cs typeface="맑은 고딕"/>
              </a:rPr>
              <a:t>먼저 점검할 것부터</a:t>
            </a:r>
          </a:p>
          <a:p>
            <a:pPr algn="ctr">
              <a:lnSpc>
                <a:spcPct val="110000"/>
              </a:lnSpc>
              <a:spcAft>
                <a:spcPts val="400"/>
              </a:spcAft>
            </a:pPr>
            <a:r>
              <a:rPr sz="1350" b="0">
                <a:solidFill>
                  <a:srgbClr val="1F2A3A"/>
                </a:solidFill>
                <a:latin typeface="맑은 고딕"/>
                <a:ea typeface="맑은 고딕"/>
                <a:cs typeface="맑은 고딕"/>
              </a:rPr>
              <a:t>순서를 매기고</a:t>
            </a:r>
          </a:p>
          <a:p>
            <a:pPr algn="ctr">
              <a:lnSpc>
                <a:spcPct val="110000"/>
              </a:lnSpc>
              <a:spcAft>
                <a:spcPts val="400"/>
              </a:spcAft>
            </a:pPr>
            <a:r>
              <a:rPr sz="1350" b="0">
                <a:solidFill>
                  <a:srgbClr val="1F2A3A"/>
                </a:solidFill>
                <a:latin typeface="맑은 고딕"/>
                <a:ea typeface="맑은 고딕"/>
                <a:cs typeface="맑은 고딕"/>
              </a:rPr>
              <a:t>근거를 보완한다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품질 불량 접수의 후속 업무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불량 접수 메시지를 분류해 구조화된 품질 대응 카드를 내는 작은 에이전트를 만든다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출력과 갈라지는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불량 접수 한 건을 품질 유형, 확인 항목, 담당 부서, 대응 초안을 갖춘 품질 대응 카드로 바꾼다.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88311"/>
            <a:ext cx="2567863" cy="300608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89479"/>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843098"/>
            <a:ext cx="424281" cy="424281"/>
          </a:xfrm>
          <a:prstGeom prst="rect">
            <a:avLst/>
          </a:prstGeom>
        </p:spPr>
      </p:pic>
      <p:sp>
        <p:nvSpPr>
          <p:cNvPr id="9" name="TextBox 8"/>
          <p:cNvSpPr txBox="1"/>
          <p:nvPr/>
        </p:nvSpPr>
        <p:spPr>
          <a:xfrm>
            <a:off x="713232"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품질 유형</a:t>
            </a:r>
          </a:p>
          <a:p>
            <a:pPr algn="l">
              <a:lnSpc>
                <a:spcPct val="110000"/>
              </a:lnSpc>
              <a:spcAft>
                <a:spcPts val="400"/>
              </a:spcAft>
            </a:pPr>
            <a:r>
              <a:rPr sz="1350" b="0">
                <a:solidFill>
                  <a:srgbClr val="1F2A3A"/>
                </a:solidFill>
                <a:latin typeface="맑은 고딕"/>
                <a:ea typeface="맑은 고딕"/>
                <a:cs typeface="맑은 고딕"/>
              </a:rPr>
              <a:t>제공된 분류 기준으로 접수 내용의 유형을 정한다</a:t>
            </a:r>
          </a:p>
        </p:txBody>
      </p:sp>
      <p:sp>
        <p:nvSpPr>
          <p:cNvPr id="10" name="Rounded Rectangle 9"/>
          <p:cNvSpPr/>
          <p:nvPr/>
        </p:nvSpPr>
        <p:spPr>
          <a:xfrm>
            <a:off x="777240" y="5064633"/>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646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분류</a:t>
            </a:r>
          </a:p>
        </p:txBody>
      </p:sp>
      <p:sp>
        <p:nvSpPr>
          <p:cNvPr id="12" name="Rounded Rectangle 11"/>
          <p:cNvSpPr/>
          <p:nvPr/>
        </p:nvSpPr>
        <p:spPr>
          <a:xfrm>
            <a:off x="3390823" y="2488311"/>
            <a:ext cx="2567863" cy="300608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89479"/>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843098"/>
            <a:ext cx="424281" cy="424281"/>
          </a:xfrm>
          <a:prstGeom prst="rect">
            <a:avLst/>
          </a:prstGeom>
        </p:spPr>
      </p:pic>
      <p:sp>
        <p:nvSpPr>
          <p:cNvPr id="15" name="TextBox 14"/>
          <p:cNvSpPr txBox="1"/>
          <p:nvPr/>
        </p:nvSpPr>
        <p:spPr>
          <a:xfrm>
            <a:off x="3555415"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추가 확인 항목</a:t>
            </a:r>
          </a:p>
          <a:p>
            <a:pPr algn="l">
              <a:lnSpc>
                <a:spcPct val="110000"/>
              </a:lnSpc>
              <a:spcAft>
                <a:spcPts val="400"/>
              </a:spcAft>
            </a:pPr>
            <a:r>
              <a:rPr sz="1350" b="0">
                <a:solidFill>
                  <a:srgbClr val="1F2A3A"/>
                </a:solidFill>
                <a:latin typeface="맑은 고딕"/>
                <a:ea typeface="맑은 고딕"/>
                <a:cs typeface="맑은 고딕"/>
              </a:rPr>
              <a:t>판단에 모자란 정보를 확인 항목으로 적는다</a:t>
            </a:r>
          </a:p>
        </p:txBody>
      </p:sp>
      <p:sp>
        <p:nvSpPr>
          <p:cNvPr id="16" name="Rounded Rectangle 15"/>
          <p:cNvSpPr/>
          <p:nvPr/>
        </p:nvSpPr>
        <p:spPr>
          <a:xfrm>
            <a:off x="3619423" y="5064633"/>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646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18" name="Rounded Rectangle 17"/>
          <p:cNvSpPr/>
          <p:nvPr/>
        </p:nvSpPr>
        <p:spPr>
          <a:xfrm>
            <a:off x="6233007" y="2488311"/>
            <a:ext cx="2567863" cy="300608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89479"/>
            <a:ext cx="731520" cy="731520"/>
          </a:xfrm>
          <a:prstGeom prst="ellipse">
            <a:avLst/>
          </a:prstGeom>
          <a:solidFill>
            <a:srgbClr val="E7F3FD"/>
          </a:solidFill>
          <a:ln>
            <a:noFill/>
          </a:ln>
        </p:spPr>
        <p:txBody>
          <a:bodyPr rtlCol="0" anchor="ctr"/>
          <a:lstStyle/>
          <a:p>
            <a:pPr algn="ctr"/>
          </a:p>
        </p:txBody>
      </p:sp>
      <p:pic>
        <p:nvPicPr>
          <p:cNvPr id="20" name="아이콘:building-factory-2" descr="building-factory-2_13294B_1.6.png"/>
          <p:cNvPicPr>
            <a:picLocks noChangeAspect="1"/>
          </p:cNvPicPr>
          <p:nvPr/>
        </p:nvPicPr>
        <p:blipFill>
          <a:blip r:embed="rId5"/>
          <a:stretch>
            <a:fillRect/>
          </a:stretch>
        </p:blipFill>
        <p:spPr>
          <a:xfrm>
            <a:off x="6615226" y="2843098"/>
            <a:ext cx="424281" cy="424281"/>
          </a:xfrm>
          <a:prstGeom prst="rect">
            <a:avLst/>
          </a:prstGeom>
        </p:spPr>
      </p:pic>
      <p:sp>
        <p:nvSpPr>
          <p:cNvPr id="21" name="TextBox 20"/>
          <p:cNvSpPr txBox="1"/>
          <p:nvPr/>
        </p:nvSpPr>
        <p:spPr>
          <a:xfrm>
            <a:off x="6397599"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 부서와 대응 초안</a:t>
            </a:r>
          </a:p>
          <a:p>
            <a:pPr algn="l">
              <a:lnSpc>
                <a:spcPct val="110000"/>
              </a:lnSpc>
              <a:spcAft>
                <a:spcPts val="400"/>
              </a:spcAft>
            </a:pPr>
            <a:r>
              <a:rPr sz="1350" b="0">
                <a:solidFill>
                  <a:srgbClr val="1F2A3A"/>
                </a:solidFill>
                <a:latin typeface="맑은 고딕"/>
                <a:ea typeface="맑은 고딕"/>
                <a:cs typeface="맑은 고딕"/>
              </a:rPr>
              <a:t>넘길 부서를 정하고 대응 초안을 쓴다</a:t>
            </a:r>
          </a:p>
        </p:txBody>
      </p:sp>
      <p:sp>
        <p:nvSpPr>
          <p:cNvPr id="22" name="Rounded Rectangle 21"/>
          <p:cNvSpPr/>
          <p:nvPr/>
        </p:nvSpPr>
        <p:spPr>
          <a:xfrm>
            <a:off x="6461607" y="5064633"/>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646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24" name="Rounded Rectangle 23"/>
          <p:cNvSpPr/>
          <p:nvPr/>
        </p:nvSpPr>
        <p:spPr>
          <a:xfrm>
            <a:off x="9075191" y="2488311"/>
            <a:ext cx="2567863" cy="300608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89479"/>
            <a:ext cx="731520" cy="731520"/>
          </a:xfrm>
          <a:prstGeom prst="ellipse">
            <a:avLst/>
          </a:prstGeom>
          <a:solidFill>
            <a:srgbClr val="5CB8F2"/>
          </a:solidFill>
          <a:ln>
            <a:noFill/>
          </a:ln>
        </p:spPr>
        <p:txBody>
          <a:bodyPr rtlCol="0" anchor="ctr"/>
          <a:lstStyle/>
          <a:p>
            <a:pPr algn="ctr"/>
          </a:p>
        </p:txBody>
      </p:sp>
      <p:pic>
        <p:nvPicPr>
          <p:cNvPr id="26" name="아이콘:zoom-question" descr="zoom-question_13294B_1.6.png"/>
          <p:cNvPicPr>
            <a:picLocks noChangeAspect="1"/>
          </p:cNvPicPr>
          <p:nvPr/>
        </p:nvPicPr>
        <p:blipFill>
          <a:blip r:embed="rId6"/>
          <a:stretch>
            <a:fillRect/>
          </a:stretch>
        </p:blipFill>
        <p:spPr>
          <a:xfrm>
            <a:off x="9457410" y="2843098"/>
            <a:ext cx="424281" cy="424281"/>
          </a:xfrm>
          <a:prstGeom prst="rect">
            <a:avLst/>
          </a:prstGeom>
        </p:spPr>
      </p:pic>
      <p:sp>
        <p:nvSpPr>
          <p:cNvPr id="27" name="TextBox 26"/>
          <p:cNvSpPr txBox="1"/>
          <p:nvPr/>
        </p:nvSpPr>
        <p:spPr>
          <a:xfrm>
            <a:off x="9239783"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미확정</a:t>
            </a:r>
          </a:p>
          <a:p>
            <a:pPr algn="l">
              <a:lnSpc>
                <a:spcPct val="110000"/>
              </a:lnSpc>
              <a:spcAft>
                <a:spcPts val="400"/>
              </a:spcAft>
            </a:pPr>
            <a:r>
              <a:rPr sz="1350" b="0">
                <a:solidFill>
                  <a:srgbClr val="1F2A3A"/>
                </a:solidFill>
                <a:latin typeface="맑은 고딕"/>
                <a:ea typeface="맑은 고딕"/>
                <a:cs typeface="맑은 고딕"/>
              </a:rPr>
              <a:t>원인이 정해지지 않았으면 단정하지 않고 조사 요청으로 넘긴다</a:t>
            </a:r>
          </a:p>
        </p:txBody>
      </p:sp>
      <p:sp>
        <p:nvSpPr>
          <p:cNvPr id="28" name="Rounded Rectangle 27"/>
          <p:cNvSpPr/>
          <p:nvPr/>
        </p:nvSpPr>
        <p:spPr>
          <a:xfrm>
            <a:off x="9303791" y="5064633"/>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64633"/>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조사 요청</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회차에서 정식 명칭을 붙인 용어와, 그 용어의 뜻이나 쿨러 사건에서의 예를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뜻 또는 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AI Agent</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에이전트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Tool</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 대안 평가, 판단 제출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Retrieval-Augmented Generation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문서를 찾아 함께 읽히는 방식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근거의 상태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SUPPORTED · UNKNOWN · UNSUPPORTED</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확인됨, 확인하지 못함, 맞는 근거 없음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처리 기록의 한 장면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 진단을 부른 뒤, 그 결과에 든 원인과 고장 유형의 식별자를 넣어 대안 평가를 불렀다.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장면이 보여 주는 실행 고리의 단계는?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요청 해석 — 맡은 업무와 입력을 읽은 것이다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결과 관찰에 이은 다음 호출 — 앞의 결과가 다음 입력을 정했다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재시도 — 뜻대로 되지 않은 호출을 다시 부른 것이다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종료 — 산출물을 제출하고 끝낸 것이다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읽지 못한 값과 묵은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가리려는데 유온의 최신 값은 3분 전의 것이었고, 냉각 효율의 조회는 실패했다.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이때 에이전트의 올바른 동작은?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3분 전의 유온과 판별 기준 70 %를 써서 쿨러 핀 오염으로 제출한다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효율을 0 %로 적고 유온을 가장 많이 내리는 조치를 추천한다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원인 후보에 올라 있는 쿨러 핀 오염을 확인된 원인으로 적는다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원인을 적지 않고, 확인하지 못한 값과 그 이유를 담아 보류한다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허용되지 않은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일을 끝내려면 허용 목록에 없는 도구가 필요하다고 판단했고, 유온은 계속 오르고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이때 일어나야 하는 일은?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허용된 도구를 여럿 조합해 같은 효과를 내는 길을 찾는다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급한 상황이므로 한 번만 실행하고 그 사실을 기록에 남긴다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실행하지 않고 사람에게 묻는다. 답을 받아도 실행 권한은 그대로이다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사람에게 물은 뒤 답을 받으면 그 도구를 직접 실행한다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실행 고리의 단계, 지식과 값의 구분, 권한의 경계를 각각 올바른 기준으로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서로 다른 도구를 이어 불렀고, 앞 호출의 결과가 뒤 호출의 입력이 되었다. 관찰이 다음 행동을 정한 것이다.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묵은 값과 실패한 조회로는 근거가 확인되지 않는다. 채우지 않고 이유와 함께 보류한다.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허용 목록 밖의 도구는 실행되지 않는다. 사람의 답변도 상황의 급함도 실행 권한을 바꾸지 않는다.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