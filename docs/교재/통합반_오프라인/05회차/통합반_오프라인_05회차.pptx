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4회차까지는 판단의 재료인 지식과 규칙을 만들었습니다. 오늘은 그 재료로 실제로 일하는 에이전트를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회차에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관찰에 이은 다음 호출을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4회차까지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값입니다. 에이전트는 설비 이름 하나를 물음으로 넣어 이 설비에 걸린 생산오더를 받았습니다. 납기까지 5.98시간이 남았고 남은 수량은 1,500개입니다. 부하를 낮추는 조치가 납기에서 점수를 잃는 것이 이 값 때문입니다. 출하 대기 로트도 같은 방식으로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물음마다 읽을 곳이 다르므로, 무엇을 어디에서 확인할지를 규칙으로 정해 둡니다.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오래되었거나 읽지 못했는데도 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멈춤 조건 가운데 권한 제한을 봅니다. 에이전트마다 부를 수 있는 도구가 허용 목록으로 정해져 있습니다.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답을 정해진 형식으로 내는 구조화 출력입니다.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낸 결과는 시스템이 먼저 검사합니다. 정해진 항목이 빠졌거나 모양이 어긋나면 그 결과는 승인 화면으로 가지 못하고, 거절됐다는 알림과 이유가 에이전트에게 되돌아갑니다. 에이전트는 같은 실행 안에서 고쳐서 다시 냅니다. 이 교정은 두 번까지입니다.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같은 업무 문제를 다음 실습에서 직접 만들 에이전트에 넣을 수 있게, 질문에 쓴 입력을 정리해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추가 점검 항목을 내는 에이전트를 만듭니다. 확인되지 않은 원인은 단정하지 않고 가설로 표시해야 합니다. 끝나면 에이전트와, 후보 원인과 점검 항목을 근거와 함께 적은 출력이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만든 에이전트를 그대로 씁니다. 서로 다른 센서 값과 고장 후보를 넣어 후보마다 맞는 증거와 맞지 않는 증거를 견줍니다. 증거가 모자라거나 서로 어긋날 때 에이전트가 원인을 단정하지 않고 추가 확인을 요청하는지를 봅니다. 그런 다음 무엇부터 점검할지의 순서와 그 근거를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이름만 다시 확인합니다. 이 넷과 함께 실행 고리, 정보원, 멈춤 조건, 보류,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확인하는 문항입니다. 상황이 급하다는 것이 권한을 바꾸는지, 사람의 답변이 권한을 바꾸는지를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1번은 묵은 값을, 2번은 실패를 0으로, 3번은 후보를 확인된 원인으로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6.png"/><Relationship Id="rId5"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1.png"/><Relationship Id="rId4" Type="http://schemas.openxmlformats.org/officeDocument/2006/relationships/image" Target="../media/image33.png"/><Relationship Id="rId5"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32.png"/><Relationship Id="rId5" Type="http://schemas.openxmlformats.org/officeDocument/2006/relationships/image" Target="../media/image16.png"/><Relationship Id="rId6"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9.png"/><Relationship Id="rId4" Type="http://schemas.openxmlformats.org/officeDocument/2006/relationships/image" Target="../media/image16.png"/><Relationship Id="rId5"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41.png"/><Relationship Id="rId6"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43.png"/><Relationship Id="rId5" Type="http://schemas.openxmlformats.org/officeDocument/2006/relationships/image" Target="../media/image31.png"/><Relationship Id="rId6"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25.png"/><Relationship Id="rId5" Type="http://schemas.openxmlformats.org/officeDocument/2006/relationships/image" Target="../media/image45.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문제를 직접 해결하는</a:t>
            </a:r>
          </a:p>
          <a:p>
            <a:pPr algn="l">
              <a:lnSpc>
                <a:spcPct val="110000"/>
              </a:lnSpc>
            </a:pPr>
            <a:r>
              <a:rPr sz="4000" b="1">
                <a:solidFill>
                  <a:srgbClr val="FFFFFF"/>
                </a:solidFill>
                <a:latin typeface="맑은 고딕"/>
                <a:ea typeface="맑은 고딕"/>
                <a:cs typeface="맑은 고딕"/>
              </a:rPr>
              <a:t>AI 에이전트의 제작</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요청 해석에서 종료까지의 단계와, 결과 관찰이 다음 호출을 정하는 장면을 설명한다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도구</a:t>
            </a:r>
          </a:p>
          <a:p>
            <a:pPr algn="l">
              <a:lnSpc>
                <a:spcPct val="110000"/>
              </a:lnSpc>
              <a:spcAft>
                <a:spcPts val="400"/>
              </a:spcAft>
            </a:pPr>
            <a:r>
              <a:rPr sz="1350" b="0">
                <a:solidFill>
                  <a:srgbClr val="1F2A3A"/>
                </a:solidFill>
                <a:latin typeface="맑은 고딕"/>
                <a:ea typeface="맑은 고딕"/>
                <a:cs typeface="맑은 고딕"/>
              </a:rPr>
              <a:t>온톨로지, 시계열 DB, 업무 DB, SOP가 답하는 물음을 가르고 지식과 현재값을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보류</a:t>
            </a:r>
          </a:p>
          <a:p>
            <a:pPr algn="l">
              <a:lnSpc>
                <a:spcPct val="110000"/>
              </a:lnSpc>
              <a:spcAft>
                <a:spcPts val="400"/>
              </a:spcAft>
            </a:pPr>
            <a:r>
              <a:rPr sz="1350" b="0">
                <a:solidFill>
                  <a:srgbClr val="1F2A3A"/>
                </a:solidFill>
                <a:latin typeface="맑은 고딕"/>
                <a:ea typeface="맑은 고딕"/>
                <a:cs typeface="맑은 고딕"/>
              </a:rPr>
              <a:t>에이전트가 멈춰야 하는 조건을 들고, 보류할 때 내는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질문하는 AI와 일하는 AI: 에이전트의 실행 고리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정보원과 도구 사용 원리</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원인을 추론하는 에이전트 제작</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증거의 비교와 점검 우선순위 결정</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품질 불량 접수의 후속 업무 연결</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질문하는 AI와 일하는 AI:</a:t>
            </a:r>
          </a:p>
          <a:p>
            <a:pPr algn="l">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목표에 이를 때까지 도구를 쓰며 일하는 에이전트의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128527729065247553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RAG(Retrieval-Augmented Generation)는 문서 조각을 찾아 모델에 함께 넣어 학습하지 않은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185207678004067949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583512820201662254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정보원과</a:t>
            </a:r>
          </a:p>
          <a:p>
            <a:pPr algn="l">
              <a:lnSpc>
                <a:spcPct val="110000"/>
              </a:lnSpc>
            </a:pPr>
            <a:r>
              <a:rPr sz="3400" b="1">
                <a:solidFill>
                  <a:srgbClr val="13294B"/>
                </a:solidFill>
                <a:latin typeface="맑은 고딕"/>
                <a:ea typeface="맑은 고딕"/>
                <a:cs typeface="맑은 고딕"/>
              </a:rPr>
              <a:t>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물음에 맞는 정보원을 읽고, 근거가 모자라면 지어내지 않고 멈추는 방식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정보원.svg" descr="illust_106398019252457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Consolas"/>
                <a:ea typeface="맑은 고딕"/>
                <a:cs typeface="맑은 고딕"/>
              </a:rPr>
              <a:t>{"result":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system</a:t>
            </a:r>
          </a:p>
          <a:p>
            <a:pPr algn="l">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품질 쪽 조회</a:t>
            </a:r>
          </a:p>
          <a:p>
            <a:pPr algn="l">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92590291941788859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멈춤조건.svg" descr="illust_83099108713772214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허용 목록</a:t>
            </a:r>
          </a:p>
          <a:p>
            <a:pPr algn="ctr">
              <a:lnSpc>
                <a:spcPct val="110000"/>
              </a:lnSpc>
              <a:spcAft>
                <a:spcPts val="400"/>
              </a:spcAft>
            </a:pPr>
            <a:r>
              <a:rPr sz="1350" b="0">
                <a:solidFill>
                  <a:srgbClr val="1F2A3A"/>
                </a:solidFill>
                <a:latin typeface="맑은 고딕"/>
                <a:ea typeface="맑은 고딕"/>
                <a:cs typeface="맑은 고딕"/>
              </a:rPr>
              <a:t>에이전트마다</a:t>
            </a:r>
          </a:p>
          <a:p>
            <a:pPr algn="ctr">
              <a:lnSpc>
                <a:spcPct val="110000"/>
              </a:lnSpc>
              <a:spcAft>
                <a:spcPts val="400"/>
              </a:spcAft>
            </a:pPr>
            <a:r>
              <a:rPr sz="1350" b="0">
                <a:solidFill>
                  <a:srgbClr val="1F2A3A"/>
                </a:solidFill>
                <a:latin typeface="맑은 고딕"/>
                <a:ea typeface="맑은 고딕"/>
                <a:cs typeface="맑은 고딕"/>
              </a:rPr>
              <a:t>부를 수 있는 도구가</a:t>
            </a:r>
          </a:p>
          <a:p>
            <a:pPr algn="ctr">
              <a:lnSpc>
                <a:spcPct val="110000"/>
              </a:lnSpc>
              <a:spcAft>
                <a:spcPts val="400"/>
              </a:spcAft>
            </a:pPr>
            <a:r>
              <a:rPr sz="13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목록 밖의 호출</a:t>
            </a:r>
          </a:p>
          <a:p>
            <a:pPr algn="ctr">
              <a:lnSpc>
                <a:spcPct val="110000"/>
              </a:lnSpc>
              <a:spcAft>
                <a:spcPts val="400"/>
              </a:spcAft>
            </a:pPr>
            <a:r>
              <a:rPr sz="1350" b="0">
                <a:solidFill>
                  <a:srgbClr val="1F2A3A"/>
                </a:solidFill>
                <a:latin typeface="맑은 고딕"/>
                <a:ea typeface="맑은 고딕"/>
                <a:cs typeface="맑은 고딕"/>
              </a:rPr>
              <a:t>실행되지 않고</a:t>
            </a:r>
          </a:p>
          <a:p>
            <a:pPr algn="ctr">
              <a:lnSpc>
                <a:spcPct val="110000"/>
              </a:lnSpc>
              <a:spcAft>
                <a:spcPts val="400"/>
              </a:spcAft>
            </a:pPr>
            <a:r>
              <a:rPr sz="13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사람에게 묻는다</a:t>
            </a:r>
          </a:p>
          <a:p>
            <a:pPr algn="ctr">
              <a:lnSpc>
                <a:spcPct val="110000"/>
              </a:lnSpc>
              <a:spcAft>
                <a:spcPts val="400"/>
              </a:spcAft>
            </a:pPr>
            <a:r>
              <a:rPr sz="1350" b="0">
                <a:solidFill>
                  <a:srgbClr val="1F2A3A"/>
                </a:solidFill>
                <a:latin typeface="맑은 고딕"/>
                <a:ea typeface="맑은 고딕"/>
                <a:cs typeface="맑은 고딕"/>
              </a:rPr>
              <a:t>요청이 질문이 되어</a:t>
            </a:r>
          </a:p>
          <a:p>
            <a:pPr algn="ctr">
              <a:lnSpc>
                <a:spcPct val="110000"/>
              </a:lnSpc>
              <a:spcAft>
                <a:spcPts val="400"/>
              </a:spcAft>
            </a:pPr>
            <a:r>
              <a:rPr sz="13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바뀌지 않는 것</a:t>
            </a:r>
          </a:p>
          <a:p>
            <a:pPr algn="ctr">
              <a:lnSpc>
                <a:spcPct val="110000"/>
              </a:lnSpc>
              <a:spcAft>
                <a:spcPts val="400"/>
              </a:spcAft>
            </a:pPr>
            <a:r>
              <a:rPr sz="1350" b="0">
                <a:solidFill>
                  <a:srgbClr val="1F2A3A"/>
                </a:solidFill>
                <a:latin typeface="맑은 고딕"/>
                <a:ea typeface="맑은 고딕"/>
                <a:cs typeface="맑은 고딕"/>
              </a:rPr>
              <a:t>「답변은 실행 권한을</a:t>
            </a:r>
          </a:p>
          <a:p>
            <a:pPr algn="ctr">
              <a:lnSpc>
                <a:spcPct val="110000"/>
              </a:lnSpc>
              <a:spcAft>
                <a:spcPts val="400"/>
              </a:spcAft>
            </a:pPr>
            <a:r>
              <a:rPr sz="1350" b="0">
                <a:solidFill>
                  <a:srgbClr val="1F2A3A"/>
                </a:solidFill>
                <a:latin typeface="맑은 고딕"/>
                <a:ea typeface="맑은 고딕"/>
                <a:cs typeface="맑은 고딕"/>
              </a:rPr>
              <a:t>바꾸지 않습니다.」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a:t>
            </a:r>
          </a:p>
          <a:p>
            <a:pPr algn="ctr">
              <a:lnSpc>
                <a:spcPct val="110000"/>
              </a:lnSpc>
              <a:spcAft>
                <a:spcPts val="400"/>
              </a:spcAft>
            </a:pPr>
            <a:r>
              <a:rPr sz="1350" b="0">
                <a:solidFill>
                  <a:srgbClr val="1F2A3A"/>
                </a:solidFill>
                <a:latin typeface="맑은 고딕"/>
                <a:ea typeface="맑은 고딕"/>
                <a:cs typeface="맑은 고딕"/>
              </a:rPr>
              <a:t>에이전트가</a:t>
            </a:r>
          </a:p>
          <a:p>
            <a:pPr algn="ctr">
              <a:lnSpc>
                <a:spcPct val="110000"/>
              </a:lnSpc>
              <a:spcAft>
                <a:spcPts val="400"/>
              </a:spcAft>
            </a:pPr>
            <a:r>
              <a:rPr sz="135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형식 검사</a:t>
            </a:r>
          </a:p>
          <a:p>
            <a:pPr algn="ctr">
              <a:lnSpc>
                <a:spcPct val="110000"/>
              </a:lnSpc>
              <a:spcAft>
                <a:spcPts val="400"/>
              </a:spcAft>
            </a:pPr>
            <a:r>
              <a:rPr sz="1350" b="0">
                <a:solidFill>
                  <a:srgbClr val="1F2A3A"/>
                </a:solidFill>
                <a:latin typeface="맑은 고딕"/>
                <a:ea typeface="맑은 고딕"/>
                <a:cs typeface="맑은 고딕"/>
              </a:rPr>
              <a:t>정해진 항목과</a:t>
            </a:r>
          </a:p>
          <a:p>
            <a:pPr algn="ctr">
              <a:lnSpc>
                <a:spcPct val="110000"/>
              </a:lnSpc>
              <a:spcAft>
                <a:spcPts val="400"/>
              </a:spcAft>
            </a:pPr>
            <a:r>
              <a:rPr sz="135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거절과 교정</a:t>
            </a:r>
          </a:p>
          <a:p>
            <a:pPr algn="ctr">
              <a:lnSpc>
                <a:spcPct val="110000"/>
              </a:lnSpc>
              <a:spcAft>
                <a:spcPts val="400"/>
              </a:spcAft>
            </a:pPr>
            <a:r>
              <a:rPr sz="1350" b="0">
                <a:solidFill>
                  <a:srgbClr val="1F2A3A"/>
                </a:solidFill>
                <a:latin typeface="맑은 고딕"/>
                <a:ea typeface="맑은 고딕"/>
                <a:cs typeface="맑은 고딕"/>
              </a:rPr>
              <a:t>「출력 형식 검사에서</a:t>
            </a:r>
          </a:p>
          <a:p>
            <a:pPr algn="ctr">
              <a:lnSpc>
                <a:spcPct val="110000"/>
              </a:lnSpc>
              <a:spcAft>
                <a:spcPts val="400"/>
              </a:spcAft>
            </a:pPr>
            <a:r>
              <a:rPr sz="1350" b="0">
                <a:solidFill>
                  <a:srgbClr val="1F2A3A"/>
                </a:solidFill>
                <a:latin typeface="맑은 고딕"/>
                <a:ea typeface="맑은 고딕"/>
                <a:cs typeface="맑은 고딕"/>
              </a:rPr>
              <a:t>거절됐습니다」를 받고</a:t>
            </a:r>
          </a:p>
          <a:p>
            <a:pPr algn="ctr">
              <a:lnSpc>
                <a:spcPct val="110000"/>
              </a:lnSpc>
              <a:spcAft>
                <a:spcPts val="400"/>
              </a:spcAft>
            </a:pPr>
            <a:r>
              <a:rPr sz="1350" b="0">
                <a:solidFill>
                  <a:srgbClr val="1F2A3A"/>
                </a:solidFill>
                <a:latin typeface="맑은 고딕"/>
                <a:ea typeface="맑은 고딕"/>
                <a:cs typeface="맑은 고딕"/>
              </a:rPr>
              <a:t>고쳐서 다시 낸다</a:t>
            </a:r>
          </a:p>
          <a:p>
            <a:pPr algn="ctr">
              <a:lnSpc>
                <a:spcPct val="110000"/>
              </a:lnSpc>
              <a:spcAft>
                <a:spcPts val="400"/>
              </a:spcAft>
            </a:pPr>
            <a:r>
              <a:rPr sz="135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통과</a:t>
            </a:r>
          </a:p>
          <a:p>
            <a:pPr algn="ctr">
              <a:lnSpc>
                <a:spcPct val="110000"/>
              </a:lnSpc>
              <a:spcAft>
                <a:spcPts val="400"/>
              </a:spcAft>
            </a:pPr>
            <a:r>
              <a:rPr sz="1350" b="0">
                <a:solidFill>
                  <a:srgbClr val="1F2A3A"/>
                </a:solidFill>
                <a:latin typeface="맑은 고딕"/>
                <a:ea typeface="맑은 고딕"/>
                <a:cs typeface="맑은 고딕"/>
              </a:rPr>
              <a:t>승인할 담당자에게</a:t>
            </a:r>
          </a:p>
          <a:p>
            <a:pPr algn="ctr">
              <a:lnSpc>
                <a:spcPct val="110000"/>
              </a:lnSpc>
              <a:spcAft>
                <a:spcPts val="400"/>
              </a:spcAft>
            </a:pPr>
            <a:r>
              <a:rPr sz="1350" b="0">
                <a:solidFill>
                  <a:srgbClr val="1F2A3A"/>
                </a:solidFill>
                <a:latin typeface="맑은 고딕"/>
                <a:ea typeface="맑은 고딕"/>
                <a:cs typeface="맑은 고딕"/>
              </a:rPr>
              <a:t>넘어간다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입력을 확보한다</a:t>
            </a:r>
          </a:p>
          <a:p>
            <a:pPr algn="l">
              <a:lnSpc>
                <a:spcPct val="110000"/>
              </a:lnSpc>
              <a:spcAft>
                <a:spcPts val="400"/>
              </a:spcAft>
            </a:pPr>
            <a:r>
              <a:rPr sz="1400" b="0">
                <a:solidFill>
                  <a:srgbClr val="1F2A3A"/>
                </a:solidFill>
                <a:latin typeface="맑은 고딕"/>
                <a:ea typeface="맑은 고딕"/>
                <a:cs typeface="맑은 고딕"/>
              </a:rPr>
              <a:t>같은 업무 문제를 직접 만들 에이전트에 넣을 수 있게 질문에 쓴 입력을 정리해 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원인을 추론하는 에이전트 제작</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SOP, 센서 입력을 읽어 후보 원인과 점검 항목을 내는 에이전트를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추가 점검 항목을 근거와 함께 정해진 항목으로 내는 에이전트와 그 출력이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항목을 낸다</a:t>
            </a:r>
          </a:p>
          <a:p>
            <a:pPr algn="ctr">
              <a:lnSpc>
                <a:spcPct val="110000"/>
              </a:lnSpc>
              <a:spcAft>
                <a:spcPts val="400"/>
              </a:spcAft>
            </a:pPr>
            <a:r>
              <a:rPr sz="1350" b="0">
                <a:solidFill>
                  <a:srgbClr val="1F2A3A"/>
                </a:solidFill>
                <a:latin typeface="맑은 고딕"/>
                <a:ea typeface="맑은 고딕"/>
                <a:cs typeface="맑은 고딕"/>
              </a:rPr>
              <a:t>추가로 점검할 것을</a:t>
            </a:r>
          </a:p>
          <a:p>
            <a:pPr algn="ctr">
              <a:lnSpc>
                <a:spcPct val="110000"/>
              </a:lnSpc>
              <a:spcAft>
                <a:spcPts val="400"/>
              </a:spcAft>
            </a:pPr>
            <a:r>
              <a:rPr sz="1350" b="0">
                <a:solidFill>
                  <a:srgbClr val="1F2A3A"/>
                </a:solidFill>
                <a:latin typeface="맑은 고딕"/>
                <a:ea typeface="맑은 고딕"/>
                <a:cs typeface="맑은 고딕"/>
              </a:rPr>
              <a:t>근거와 함께</a:t>
            </a:r>
          </a:p>
          <a:p>
            <a:pPr algn="ctr">
              <a:lnSpc>
                <a:spcPct val="110000"/>
              </a:lnSpc>
              <a:spcAft>
                <a:spcPts val="400"/>
              </a:spcAft>
            </a:pPr>
            <a:r>
              <a:rPr sz="1350" b="0">
                <a:solidFill>
                  <a:srgbClr val="1F2A3A"/>
                </a:solidFill>
                <a:latin typeface="맑은 고딕"/>
                <a:ea typeface="맑은 고딕"/>
                <a:cs typeface="맑은 고딕"/>
              </a:rPr>
              <a:t>정해진 항목으로 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증거의 비교와 점검 우선순위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 추론 에이전트에 서로 다른 센서 값과 고장 후보를 넣어 점검 순서와 근거를 보완한다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증거와 보완하는 점검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입력을 바꾸어 넣으면 점검 순서와 근거가 달라지고, 증거가 모자라거나 어긋날 때는 단정 대신 추가 확인 요청이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입력을 넣는다</a:t>
            </a:r>
          </a:p>
          <a:p>
            <a:pPr algn="ctr">
              <a:lnSpc>
                <a:spcPct val="110000"/>
              </a:lnSpc>
              <a:spcAft>
                <a:spcPts val="400"/>
              </a:spcAft>
            </a:pPr>
            <a:r>
              <a:rPr sz="1350" b="0">
                <a:solidFill>
                  <a:srgbClr val="1F2A3A"/>
                </a:solidFill>
                <a:latin typeface="맑은 고딕"/>
                <a:ea typeface="맑은 고딕"/>
                <a:cs typeface="맑은 고딕"/>
              </a:rPr>
              <a:t>서로 다른 센서 값과</a:t>
            </a:r>
          </a:p>
          <a:p>
            <a:pPr algn="ctr">
              <a:lnSpc>
                <a:spcPct val="110000"/>
              </a:lnSpc>
              <a:spcAft>
                <a:spcPts val="400"/>
              </a:spcAft>
            </a:pPr>
            <a:r>
              <a:rPr sz="1350" b="0">
                <a:solidFill>
                  <a:srgbClr val="1F2A3A"/>
                </a:solidFill>
                <a:latin typeface="맑은 고딕"/>
                <a:ea typeface="맑은 고딕"/>
                <a:cs typeface="맑은 고딕"/>
              </a:rPr>
              <a:t>고장 후보를</a:t>
            </a:r>
          </a:p>
          <a:p>
            <a:pPr algn="ctr">
              <a:lnSpc>
                <a:spcPct val="110000"/>
              </a:lnSpc>
              <a:spcAft>
                <a:spcPts val="400"/>
              </a:spcAft>
            </a:pPr>
            <a:r>
              <a:rPr sz="1350" b="0">
                <a:solidFill>
                  <a:srgbClr val="1F2A3A"/>
                </a:solidFill>
                <a:latin typeface="맑은 고딕"/>
                <a:ea typeface="맑은 고딕"/>
                <a:cs typeface="맑은 고딕"/>
              </a:rPr>
              <a:t>에이전트에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ale" descr="sca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증거를 견준다</a:t>
            </a:r>
          </a:p>
          <a:p>
            <a:pPr algn="ctr">
              <a:lnSpc>
                <a:spcPct val="110000"/>
              </a:lnSpc>
              <a:spcAft>
                <a:spcPts val="400"/>
              </a:spcAft>
            </a:pPr>
            <a:r>
              <a:rPr sz="1350" b="0">
                <a:solidFill>
                  <a:srgbClr val="1F2A3A"/>
                </a:solidFill>
                <a:latin typeface="맑은 고딕"/>
                <a:ea typeface="맑은 고딕"/>
                <a:cs typeface="맑은 고딕"/>
              </a:rPr>
              <a:t>후보마다 맞는 증거와</a:t>
            </a:r>
          </a:p>
          <a:p>
            <a:pPr algn="ctr">
              <a:lnSpc>
                <a:spcPct val="110000"/>
              </a:lnSpc>
              <a:spcAft>
                <a:spcPts val="400"/>
              </a:spcAft>
            </a:pPr>
            <a:r>
              <a:rPr sz="1350" b="0">
                <a:solidFill>
                  <a:srgbClr val="1F2A3A"/>
                </a:solidFill>
                <a:latin typeface="맑은 고딕"/>
                <a:ea typeface="맑은 고딕"/>
                <a:cs typeface="맑은 고딕"/>
              </a:rPr>
              <a:t>맞지 않는 증거를</a:t>
            </a:r>
          </a:p>
          <a:p>
            <a:pPr algn="ctr">
              <a:lnSpc>
                <a:spcPct val="110000"/>
              </a:lnSpc>
              <a:spcAft>
                <a:spcPts val="400"/>
              </a:spcAft>
            </a:pPr>
            <a:r>
              <a:rPr sz="1350" b="0">
                <a:solidFill>
                  <a:srgbClr val="1F2A3A"/>
                </a:solidFill>
                <a:latin typeface="맑은 고딕"/>
                <a:ea typeface="맑은 고딕"/>
                <a:cs typeface="맑은 고딕"/>
              </a:rPr>
              <a:t>나란히 놓는다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zoom-question" descr="zoom-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부족과 충돌을 가린다</a:t>
            </a:r>
          </a:p>
          <a:p>
            <a:pPr algn="ctr">
              <a:lnSpc>
                <a:spcPct val="110000"/>
              </a:lnSpc>
              <a:spcAft>
                <a:spcPts val="400"/>
              </a:spcAft>
            </a:pPr>
            <a:r>
              <a:rPr sz="1350" b="0">
                <a:solidFill>
                  <a:srgbClr val="1F2A3A"/>
                </a:solidFill>
                <a:latin typeface="맑은 고딕"/>
                <a:ea typeface="맑은 고딕"/>
                <a:cs typeface="맑은 고딕"/>
              </a:rPr>
              <a:t>증거가 모자라거나</a:t>
            </a:r>
          </a:p>
          <a:p>
            <a:pPr algn="ctr">
              <a:lnSpc>
                <a:spcPct val="110000"/>
              </a:lnSpc>
              <a:spcAft>
                <a:spcPts val="400"/>
              </a:spcAft>
            </a:pPr>
            <a:r>
              <a:rPr sz="1350" b="0">
                <a:solidFill>
                  <a:srgbClr val="1F2A3A"/>
                </a:solidFill>
                <a:latin typeface="맑은 고딕"/>
                <a:ea typeface="맑은 고딕"/>
                <a:cs typeface="맑은 고딕"/>
              </a:rPr>
              <a:t>서로 어긋나면</a:t>
            </a:r>
          </a:p>
          <a:p>
            <a:pPr algn="ctr">
              <a:lnSpc>
                <a:spcPct val="110000"/>
              </a:lnSpc>
              <a:spcAft>
                <a:spcPts val="400"/>
              </a:spcAft>
            </a:pPr>
            <a:r>
              <a:rPr sz="1350" b="0">
                <a:solidFill>
                  <a:srgbClr val="1F2A3A"/>
                </a:solidFill>
                <a:latin typeface="맑은 고딕"/>
                <a:ea typeface="맑은 고딕"/>
                <a:cs typeface="맑은 고딕"/>
              </a:rPr>
              <a:t>추가 확인을 요청한다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정한다</a:t>
            </a:r>
          </a:p>
          <a:p>
            <a:pPr algn="ctr">
              <a:lnSpc>
                <a:spcPct val="110000"/>
              </a:lnSpc>
              <a:spcAft>
                <a:spcPts val="400"/>
              </a:spcAft>
            </a:pPr>
            <a:r>
              <a:rPr sz="1350" b="0">
                <a:solidFill>
                  <a:srgbClr val="1F2A3A"/>
                </a:solidFill>
                <a:latin typeface="맑은 고딕"/>
                <a:ea typeface="맑은 고딕"/>
                <a:cs typeface="맑은 고딕"/>
              </a:rPr>
              <a:t>먼저 점검할 것부터</a:t>
            </a:r>
          </a:p>
          <a:p>
            <a:pPr algn="ctr">
              <a:lnSpc>
                <a:spcPct val="110000"/>
              </a:lnSpc>
              <a:spcAft>
                <a:spcPts val="400"/>
              </a:spcAft>
            </a:pPr>
            <a:r>
              <a:rPr sz="1350" b="0">
                <a:solidFill>
                  <a:srgbClr val="1F2A3A"/>
                </a:solidFill>
                <a:latin typeface="맑은 고딕"/>
                <a:ea typeface="맑은 고딕"/>
                <a:cs typeface="맑은 고딕"/>
              </a:rPr>
              <a:t>순서를 매기고</a:t>
            </a:r>
          </a:p>
          <a:p>
            <a:pPr algn="ctr">
              <a:lnSpc>
                <a:spcPct val="110000"/>
              </a:lnSpc>
              <a:spcAft>
                <a:spcPts val="400"/>
              </a:spcAft>
            </a:pPr>
            <a:r>
              <a:rPr sz="1350" b="0">
                <a:solidFill>
                  <a:srgbClr val="1F2A3A"/>
                </a:solidFill>
                <a:latin typeface="맑은 고딕"/>
                <a:ea typeface="맑은 고딕"/>
                <a:cs typeface="맑은 고딕"/>
              </a:rPr>
              <a:t>근거를 보완한다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불량 접수 메시지를 분류해 구조화된 품질 대응 카드를 내는 작은 에이전트를 만든다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출력과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불량 접수 한 건을 품질 유형, 확인 항목, 담당 부서, 대응 초안을 갖춘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89479"/>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843098"/>
            <a:ext cx="424281" cy="424281"/>
          </a:xfrm>
          <a:prstGeom prst="rect">
            <a:avLst/>
          </a:prstGeom>
        </p:spPr>
      </p:pic>
      <p:sp>
        <p:nvSpPr>
          <p:cNvPr id="9" name="TextBox 8"/>
          <p:cNvSpPr txBox="1"/>
          <p:nvPr/>
        </p:nvSpPr>
        <p:spPr>
          <a:xfrm>
            <a:off x="713232"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 유형</a:t>
            </a:r>
          </a:p>
          <a:p>
            <a:pPr algn="l">
              <a:lnSpc>
                <a:spcPct val="110000"/>
              </a:lnSpc>
              <a:spcAft>
                <a:spcPts val="400"/>
              </a:spcAft>
            </a:pPr>
            <a:r>
              <a:rPr sz="1350" b="0">
                <a:solidFill>
                  <a:srgbClr val="1F2A3A"/>
                </a:solidFill>
                <a:latin typeface="맑은 고딕"/>
                <a:ea typeface="맑은 고딕"/>
                <a:cs typeface="맑은 고딕"/>
              </a:rPr>
              <a:t>제공된 분류 기준으로 접수 내용의 유형을 정한다</a:t>
            </a:r>
          </a:p>
        </p:txBody>
      </p:sp>
      <p:sp>
        <p:nvSpPr>
          <p:cNvPr id="10" name="Rounded Rectangle 9"/>
          <p:cNvSpPr/>
          <p:nvPr/>
        </p:nvSpPr>
        <p:spPr>
          <a:xfrm>
            <a:off x="777240" y="506463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89479"/>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843098"/>
            <a:ext cx="424281" cy="424281"/>
          </a:xfrm>
          <a:prstGeom prst="rect">
            <a:avLst/>
          </a:prstGeom>
        </p:spPr>
      </p:pic>
      <p:sp>
        <p:nvSpPr>
          <p:cNvPr id="15" name="TextBox 14"/>
          <p:cNvSpPr txBox="1"/>
          <p:nvPr/>
        </p:nvSpPr>
        <p:spPr>
          <a:xfrm>
            <a:off x="3555415"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확인 항목</a:t>
            </a:r>
          </a:p>
          <a:p>
            <a:pPr algn="l">
              <a:lnSpc>
                <a:spcPct val="110000"/>
              </a:lnSpc>
              <a:spcAft>
                <a:spcPts val="400"/>
              </a:spcAft>
            </a:pPr>
            <a:r>
              <a:rPr sz="1350" b="0">
                <a:solidFill>
                  <a:srgbClr val="1F2A3A"/>
                </a:solidFill>
                <a:latin typeface="맑은 고딕"/>
                <a:ea typeface="맑은 고딕"/>
                <a:cs typeface="맑은 고딕"/>
              </a:rPr>
              <a:t>판단에 모자란 정보를 확인 항목으로 적는다</a:t>
            </a:r>
          </a:p>
        </p:txBody>
      </p:sp>
      <p:sp>
        <p:nvSpPr>
          <p:cNvPr id="16" name="Rounded Rectangle 15"/>
          <p:cNvSpPr/>
          <p:nvPr/>
        </p:nvSpPr>
        <p:spPr>
          <a:xfrm>
            <a:off x="3619423" y="506463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89479"/>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843098"/>
            <a:ext cx="424281" cy="424281"/>
          </a:xfrm>
          <a:prstGeom prst="rect">
            <a:avLst/>
          </a:prstGeom>
        </p:spPr>
      </p:pic>
      <p:sp>
        <p:nvSpPr>
          <p:cNvPr id="21" name="TextBox 20"/>
          <p:cNvSpPr txBox="1"/>
          <p:nvPr/>
        </p:nvSpPr>
        <p:spPr>
          <a:xfrm>
            <a:off x="6397599"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 부서와 대응 초안</a:t>
            </a:r>
          </a:p>
          <a:p>
            <a:pPr algn="l">
              <a:lnSpc>
                <a:spcPct val="110000"/>
              </a:lnSpc>
              <a:spcAft>
                <a:spcPts val="400"/>
              </a:spcAft>
            </a:pPr>
            <a:r>
              <a:rPr sz="1350" b="0">
                <a:solidFill>
                  <a:srgbClr val="1F2A3A"/>
                </a:solidFill>
                <a:latin typeface="맑은 고딕"/>
                <a:ea typeface="맑은 고딕"/>
                <a:cs typeface="맑은 고딕"/>
              </a:rPr>
              <a:t>넘길 부서를 정하고 대응 초안을 쓴다</a:t>
            </a:r>
          </a:p>
        </p:txBody>
      </p:sp>
      <p:sp>
        <p:nvSpPr>
          <p:cNvPr id="22" name="Rounded Rectangle 21"/>
          <p:cNvSpPr/>
          <p:nvPr/>
        </p:nvSpPr>
        <p:spPr>
          <a:xfrm>
            <a:off x="6461607" y="506463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488311"/>
            <a:ext cx="2567863" cy="300608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89479"/>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843098"/>
            <a:ext cx="424281" cy="424281"/>
          </a:xfrm>
          <a:prstGeom prst="rect">
            <a:avLst/>
          </a:prstGeom>
        </p:spPr>
      </p:pic>
      <p:sp>
        <p:nvSpPr>
          <p:cNvPr id="27" name="TextBox 26"/>
          <p:cNvSpPr txBox="1"/>
          <p:nvPr/>
        </p:nvSpPr>
        <p:spPr>
          <a:xfrm>
            <a:off x="9239783"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미확정</a:t>
            </a:r>
          </a:p>
          <a:p>
            <a:pPr algn="l">
              <a:lnSpc>
                <a:spcPct val="110000"/>
              </a:lnSpc>
              <a:spcAft>
                <a:spcPts val="400"/>
              </a:spcAft>
            </a:pPr>
            <a:r>
              <a:rPr sz="1350" b="0">
                <a:solidFill>
                  <a:srgbClr val="1F2A3A"/>
                </a:solidFill>
                <a:latin typeface="맑은 고딕"/>
                <a:ea typeface="맑은 고딕"/>
                <a:cs typeface="맑은 고딕"/>
              </a:rPr>
              <a:t>원인이 정해지지 않았으면 단정하지 않고 조사 요청으로 넘긴다</a:t>
            </a:r>
          </a:p>
        </p:txBody>
      </p:sp>
      <p:sp>
        <p:nvSpPr>
          <p:cNvPr id="28" name="Rounded Rectangle 27"/>
          <p:cNvSpPr/>
          <p:nvPr/>
        </p:nvSpPr>
        <p:spPr>
          <a:xfrm>
            <a:off x="9303791" y="5064633"/>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646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그 용어의 뜻이나 쿨러 사건에서의 예를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 또는 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찾아 함께 읽히는 방식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