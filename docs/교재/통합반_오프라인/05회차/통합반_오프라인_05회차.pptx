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4회차까지는 판단의 재료인 지식과 규칙을 만들었습니다. 오늘은 그 재료로 실제로 일하는 에이전트를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업무 지침은 에이전트 스킬이라는 파일로 주며, 그 형식은 다음 회차에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결과 관찰에 이은 다음 호출을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4회차까지 만든 그래프입니다. 에이전트는 고장 유형에서 CAUSES를 거슬러 원인 후보 셋을, MITIGATED_BY를 따라 조치 방법을 얻었습니다. 후보마다 붙은 사전 확률은 아직 값을 보지 않은 상태의 가능성이며, 어느 후보가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DB에서 읽은 값입니다. 에이전트는 설비 이름 하나를 물음으로 넣어 이 설비에 걸린 생산오더를 받았습니다. 납기까지 5.98시간이 남았고 남은 수량은 1,500개입니다. 부하를 낮추는 조치가 납기에서 점수를 잃는 것이 이 값 때문입니다. 출하 대기 로트도 같은 방식으로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물음마다 읽을 곳이 다르므로, 무엇을 어디에서 확인할지를 규칙으로 정해 둡니다.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읽은 값에는 신선도라는 기준이 붙습니다.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오래되었거나 읽지 못했는데도 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둘째인 도구 호출 실패는 다시 해도 오류가 돌아올 때 지어내지 않고 멈추는 것이었고, 여기서는 셋째 멈춤 조건인 권한 제한을 봅니다. 에이전트마다 부를 수 있는 도구가 허용 목록으로 정해져 있습니다. 목록 밖의 도구를 부르려 하면 실행되지 않고 권한 요청이 되며, 그 요청은 질문이 되어 사람에게 올라갑니다. 마지막 칸은 에이전트에게 주는 지시의 한 문장입니다. 사람이 질문에 답하더라도 그것으로 에이전트의 권한이 넓어지지는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멈추지 않고 끝까지 간 경우에 에이전트가 내는 결과의 형식입니다. 답을 정해진 형식으로 내는 구조화 출력입니다.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낸 결과는 시스템이 먼저 검사합니다. 정해진 항목이 빠졌거나 모양이 어긋나면 그 결과는 승인 화면으로 가지 못하고, 거절됐다는 알림과 이유가 에이전트에게 되돌아갑니다. 에이전트는 같은 실행 안에서 고쳐서 다시 냅니다. 이 교정은 두 번까지입니다.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같은 업무 문제를 다음 실습에서 직접 만들 에이전트에 넣을 수 있게, 질문에 쓴 입력을 정리해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추가 점검 항목을 내는 에이전트를 만듭니다. 확인되지 않은 원인은 단정하지 않고 가설로 표시해야 합니다. 끝나면 에이전트와, 후보 원인과 점검 항목을 근거와 함께 적은 출력이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앞에서 만든 에이전트를 그대로 씁니다. 서로 다른 센서 값과 고장 후보를 넣어 후보마다 맞는 증거와 맞지 않는 증거를 견줍니다. 증거가 모자라거나 서로 어긋날 때 에이전트가 원인을 단정하지 않고 추가 확인을 요청하는지를 봅니다. 그런 다음 무엇부터 점검할지의 순서와 그 근거를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불량 접수 메시지를 받아 후속 업무로 넘기는 작은 에이전트를 만듭니다. 출력은 품질 유형, 추가 확인 항목, 담당 부서, 대응 초안의 정해진 항목을 가진 품질 대응 카드입니다. 원인이 정해지지 않은 접수는 원인을 단정하지 않고 조사 요청으로 넘기는 갈래를 반드시 둡니다.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이름만 다시 확인합니다. 이 넷과 함께 실행 고리, 정보원, 멈춤 조건, 보류,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에이전트와 사람 사이의 책임 경계를 확인하는 문항입니다. 상황이 급하다는 것이 권한을 바꾸는지, 사람의 답변이 권한을 바꾸는지를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1번은 묵은 값을, 2번은 실패를 0으로, 3번은 가능성을 확인으로 바꾸어 쓴 것입니다. 셋째 문항의 4번은 사람에게 물었다는 점에서 그럴듯하지만, 답변이 권한을 바꾸지 않는다는 점에서 틀렸습니다.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6.png"/><Relationship Id="rId5"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1.png"/><Relationship Id="rId4" Type="http://schemas.openxmlformats.org/officeDocument/2006/relationships/image" Target="../media/image33.png"/><Relationship Id="rId5"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32.png"/><Relationship Id="rId5" Type="http://schemas.openxmlformats.org/officeDocument/2006/relationships/image" Target="../media/image16.png"/><Relationship Id="rId6"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9.png"/><Relationship Id="rId4" Type="http://schemas.openxmlformats.org/officeDocument/2006/relationships/image" Target="../media/image16.png"/><Relationship Id="rId5"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41.png"/><Relationship Id="rId6"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3.png"/><Relationship Id="rId4" Type="http://schemas.openxmlformats.org/officeDocument/2006/relationships/image" Target="../media/image43.png"/><Relationship Id="rId5" Type="http://schemas.openxmlformats.org/officeDocument/2006/relationships/image" Target="../media/image31.png"/><Relationship Id="rId6" Type="http://schemas.openxmlformats.org/officeDocument/2006/relationships/image" Target="../media/image4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25.png"/><Relationship Id="rId5" Type="http://schemas.openxmlformats.org/officeDocument/2006/relationships/image" Target="../media/image45.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5회차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문제를 직접 해결하는</a:t>
            </a:r>
          </a:p>
          <a:p>
            <a:pPr algn="l">
              <a:lnSpc>
                <a:spcPct val="110000"/>
              </a:lnSpc>
            </a:pPr>
            <a:r>
              <a:rPr sz="4000" b="1">
                <a:solidFill>
                  <a:srgbClr val="FFFFFF"/>
                </a:solidFill>
                <a:latin typeface="맑은 고딕"/>
                <a:ea typeface="맑은 고딕"/>
                <a:cs typeface="맑은 고딕"/>
              </a:rPr>
              <a:t>AI 에이전트의 제작</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실제 기록으로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요청 해석에서 종료까지의 단계와, 결과 관찰이 다음 호출을 정하는 장면을 설명한다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도구</a:t>
            </a:r>
          </a:p>
          <a:p>
            <a:pPr algn="l">
              <a:lnSpc>
                <a:spcPct val="110000"/>
              </a:lnSpc>
              <a:spcAft>
                <a:spcPts val="400"/>
              </a:spcAft>
            </a:pPr>
            <a:r>
              <a:rPr sz="1350" b="0">
                <a:solidFill>
                  <a:srgbClr val="1F2A3A"/>
                </a:solidFill>
                <a:latin typeface="맑은 고딕"/>
                <a:ea typeface="맑은 고딕"/>
                <a:cs typeface="맑은 고딕"/>
              </a:rPr>
              <a:t>온톨로지, 시계열 DB, 업무 DB, SOP가 답하는 물음을 가르고 지식과 현재값을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보류</a:t>
            </a:r>
          </a:p>
          <a:p>
            <a:pPr algn="l">
              <a:lnSpc>
                <a:spcPct val="110000"/>
              </a:lnSpc>
              <a:spcAft>
                <a:spcPts val="400"/>
              </a:spcAft>
            </a:pPr>
            <a:r>
              <a:rPr sz="1350" b="0">
                <a:solidFill>
                  <a:srgbClr val="1F2A3A"/>
                </a:solidFill>
                <a:latin typeface="맑은 고딕"/>
                <a:ea typeface="맑은 고딕"/>
                <a:cs typeface="맑은 고딕"/>
              </a:rPr>
              <a:t>에이전트가 멈춰야 하는 조건을 들고, 보류할 때 내는 것을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질문하는 AI와 일하는 AI: 에이전트의 실행 고리</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정보원과 도구 사용 원리</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나의 첫 업무 에이전트 구성하기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이상의 원인을 추론하는 에이전트 제작</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증거의 비교와 점검 우선순위 결정</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품질 불량 접수의 후속 업무 연결</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질문하는 AI와 일하는 AI:</a:t>
            </a:r>
          </a:p>
          <a:p>
            <a:pPr algn="l">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목표에 이를 때까지 도구를 쓰며 일하는 에이전트의 차이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921101103617163250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RAG(Retrieval-Augmented Generation)는 문서 조각을 찾아 모델에 함께 넣어 학습하지 않은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399163950169370493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190617246343993327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정보원과</a:t>
            </a:r>
          </a:p>
          <a:p>
            <a:pPr algn="l">
              <a:lnSpc>
                <a:spcPct val="110000"/>
              </a:lnSpc>
            </a:pPr>
            <a:r>
              <a:rPr sz="3400" b="1">
                <a:solidFill>
                  <a:srgbClr val="13294B"/>
                </a:solidFill>
                <a:latin typeface="맑은 고딕"/>
                <a:ea typeface="맑은 고딕"/>
                <a:cs typeface="맑은 고딕"/>
              </a:rPr>
              <a:t>도구 사용 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물음에 맞는 정보원을 읽고, 근거가 모자라면 지어내지 않고 멈추는 방식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정보원.svg" descr="illust_175209253604745589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0.6</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0.2</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0.2</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Consolas"/>
                <a:ea typeface="맑은 고딕"/>
                <a:cs typeface="맑은 고딕"/>
              </a:rPr>
              <a:t>{"result":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system</a:t>
            </a:r>
          </a:p>
          <a:p>
            <a:pPr algn="l">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품질 쪽 조회</a:t>
            </a:r>
          </a:p>
          <a:p>
            <a:pPr algn="l">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신선도.svg" descr="illust_42024480682700228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멈춤조건.svg" descr="illust_1126432722587110781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허용 목록</a:t>
            </a:r>
          </a:p>
          <a:p>
            <a:pPr algn="ctr">
              <a:lnSpc>
                <a:spcPct val="110000"/>
              </a:lnSpc>
              <a:spcAft>
                <a:spcPts val="400"/>
              </a:spcAft>
            </a:pPr>
            <a:r>
              <a:rPr sz="1350" b="0">
                <a:solidFill>
                  <a:srgbClr val="1F2A3A"/>
                </a:solidFill>
                <a:latin typeface="맑은 고딕"/>
                <a:ea typeface="맑은 고딕"/>
                <a:cs typeface="맑은 고딕"/>
              </a:rPr>
              <a:t>에이전트마다</a:t>
            </a:r>
          </a:p>
          <a:p>
            <a:pPr algn="ctr">
              <a:lnSpc>
                <a:spcPct val="110000"/>
              </a:lnSpc>
              <a:spcAft>
                <a:spcPts val="400"/>
              </a:spcAft>
            </a:pPr>
            <a:r>
              <a:rPr sz="1350" b="0">
                <a:solidFill>
                  <a:srgbClr val="1F2A3A"/>
                </a:solidFill>
                <a:latin typeface="맑은 고딕"/>
                <a:ea typeface="맑은 고딕"/>
                <a:cs typeface="맑은 고딕"/>
              </a:rPr>
              <a:t>부를 수 있는 도구가</a:t>
            </a:r>
          </a:p>
          <a:p>
            <a:pPr algn="ctr">
              <a:lnSpc>
                <a:spcPct val="110000"/>
              </a:lnSpc>
              <a:spcAft>
                <a:spcPts val="400"/>
              </a:spcAft>
            </a:pPr>
            <a:r>
              <a:rPr sz="13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목록 밖의 호출</a:t>
            </a:r>
          </a:p>
          <a:p>
            <a:pPr algn="ctr">
              <a:lnSpc>
                <a:spcPct val="110000"/>
              </a:lnSpc>
              <a:spcAft>
                <a:spcPts val="400"/>
              </a:spcAft>
            </a:pPr>
            <a:r>
              <a:rPr sz="1350" b="0">
                <a:solidFill>
                  <a:srgbClr val="1F2A3A"/>
                </a:solidFill>
                <a:latin typeface="맑은 고딕"/>
                <a:ea typeface="맑은 고딕"/>
                <a:cs typeface="맑은 고딕"/>
              </a:rPr>
              <a:t>실행되지 않고</a:t>
            </a:r>
          </a:p>
          <a:p>
            <a:pPr algn="ctr">
              <a:lnSpc>
                <a:spcPct val="110000"/>
              </a:lnSpc>
              <a:spcAft>
                <a:spcPts val="400"/>
              </a:spcAft>
            </a:pPr>
            <a:r>
              <a:rPr sz="13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사람에게 묻는다</a:t>
            </a:r>
          </a:p>
          <a:p>
            <a:pPr algn="ctr">
              <a:lnSpc>
                <a:spcPct val="110000"/>
              </a:lnSpc>
              <a:spcAft>
                <a:spcPts val="400"/>
              </a:spcAft>
            </a:pPr>
            <a:r>
              <a:rPr sz="1350" b="0">
                <a:solidFill>
                  <a:srgbClr val="1F2A3A"/>
                </a:solidFill>
                <a:latin typeface="맑은 고딕"/>
                <a:ea typeface="맑은 고딕"/>
                <a:cs typeface="맑은 고딕"/>
              </a:rPr>
              <a:t>요청이 질문이 되어</a:t>
            </a:r>
          </a:p>
          <a:p>
            <a:pPr algn="ctr">
              <a:lnSpc>
                <a:spcPct val="110000"/>
              </a:lnSpc>
              <a:spcAft>
                <a:spcPts val="400"/>
              </a:spcAft>
            </a:pPr>
            <a:r>
              <a:rPr sz="13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바뀌지 않는 것</a:t>
            </a:r>
          </a:p>
          <a:p>
            <a:pPr algn="ctr">
              <a:lnSpc>
                <a:spcPct val="110000"/>
              </a:lnSpc>
              <a:spcAft>
                <a:spcPts val="400"/>
              </a:spcAft>
            </a:pPr>
            <a:r>
              <a:rPr sz="1350" b="0">
                <a:solidFill>
                  <a:srgbClr val="1F2A3A"/>
                </a:solidFill>
                <a:latin typeface="맑은 고딕"/>
                <a:ea typeface="맑은 고딕"/>
                <a:cs typeface="맑은 고딕"/>
              </a:rPr>
              <a:t>「답변은 실행 권한을</a:t>
            </a:r>
          </a:p>
          <a:p>
            <a:pPr algn="ctr">
              <a:lnSpc>
                <a:spcPct val="110000"/>
              </a:lnSpc>
              <a:spcAft>
                <a:spcPts val="400"/>
              </a:spcAft>
            </a:pPr>
            <a:r>
              <a:rPr sz="1350" b="0">
                <a:solidFill>
                  <a:srgbClr val="1F2A3A"/>
                </a:solidFill>
                <a:latin typeface="맑은 고딕"/>
                <a:ea typeface="맑은 고딕"/>
                <a:cs typeface="맑은 고딕"/>
              </a:rPr>
              <a:t>바꾸지 않습니다.」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번호의 다섯 항목을 가진 JSON 객체 하나로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a:t>
            </a:r>
          </a:p>
          <a:p>
            <a:pPr algn="ctr">
              <a:lnSpc>
                <a:spcPct val="110000"/>
              </a:lnSpc>
              <a:spcAft>
                <a:spcPts val="400"/>
              </a:spcAft>
            </a:pPr>
            <a:r>
              <a:rPr sz="1350" b="0">
                <a:solidFill>
                  <a:srgbClr val="1F2A3A"/>
                </a:solidFill>
                <a:latin typeface="맑은 고딕"/>
                <a:ea typeface="맑은 고딕"/>
                <a:cs typeface="맑은 고딕"/>
              </a:rPr>
              <a:t>에이전트가</a:t>
            </a:r>
          </a:p>
          <a:p>
            <a:pPr algn="ctr">
              <a:lnSpc>
                <a:spcPct val="110000"/>
              </a:lnSpc>
              <a:spcAft>
                <a:spcPts val="400"/>
              </a:spcAft>
            </a:pPr>
            <a:r>
              <a:rPr sz="135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형식 검사</a:t>
            </a:r>
          </a:p>
          <a:p>
            <a:pPr algn="ctr">
              <a:lnSpc>
                <a:spcPct val="110000"/>
              </a:lnSpc>
              <a:spcAft>
                <a:spcPts val="400"/>
              </a:spcAft>
            </a:pPr>
            <a:r>
              <a:rPr sz="1350" b="0">
                <a:solidFill>
                  <a:srgbClr val="1F2A3A"/>
                </a:solidFill>
                <a:latin typeface="맑은 고딕"/>
                <a:ea typeface="맑은 고딕"/>
                <a:cs typeface="맑은 고딕"/>
              </a:rPr>
              <a:t>정해진 항목과</a:t>
            </a:r>
          </a:p>
          <a:p>
            <a:pPr algn="ctr">
              <a:lnSpc>
                <a:spcPct val="110000"/>
              </a:lnSpc>
              <a:spcAft>
                <a:spcPts val="400"/>
              </a:spcAft>
            </a:pPr>
            <a:r>
              <a:rPr sz="135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거절과 교정</a:t>
            </a:r>
          </a:p>
          <a:p>
            <a:pPr algn="ctr">
              <a:lnSpc>
                <a:spcPct val="110000"/>
              </a:lnSpc>
              <a:spcAft>
                <a:spcPts val="400"/>
              </a:spcAft>
            </a:pPr>
            <a:r>
              <a:rPr sz="1350" b="0">
                <a:solidFill>
                  <a:srgbClr val="1F2A3A"/>
                </a:solidFill>
                <a:latin typeface="맑은 고딕"/>
                <a:ea typeface="맑은 고딕"/>
                <a:cs typeface="맑은 고딕"/>
              </a:rPr>
              <a:t>「출력 형식 검사에서</a:t>
            </a:r>
          </a:p>
          <a:p>
            <a:pPr algn="ctr">
              <a:lnSpc>
                <a:spcPct val="110000"/>
              </a:lnSpc>
              <a:spcAft>
                <a:spcPts val="400"/>
              </a:spcAft>
            </a:pPr>
            <a:r>
              <a:rPr sz="1350" b="0">
                <a:solidFill>
                  <a:srgbClr val="1F2A3A"/>
                </a:solidFill>
                <a:latin typeface="맑은 고딕"/>
                <a:ea typeface="맑은 고딕"/>
                <a:cs typeface="맑은 고딕"/>
              </a:rPr>
              <a:t>거절됐습니다」를 받고</a:t>
            </a:r>
          </a:p>
          <a:p>
            <a:pPr algn="ctr">
              <a:lnSpc>
                <a:spcPct val="110000"/>
              </a:lnSpc>
              <a:spcAft>
                <a:spcPts val="400"/>
              </a:spcAft>
            </a:pPr>
            <a:r>
              <a:rPr sz="1350" b="0">
                <a:solidFill>
                  <a:srgbClr val="1F2A3A"/>
                </a:solidFill>
                <a:latin typeface="맑은 고딕"/>
                <a:ea typeface="맑은 고딕"/>
                <a:cs typeface="맑은 고딕"/>
              </a:rPr>
              <a:t>고쳐서 다시 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통과</a:t>
            </a:r>
          </a:p>
          <a:p>
            <a:pPr algn="ctr">
              <a:lnSpc>
                <a:spcPct val="110000"/>
              </a:lnSpc>
              <a:spcAft>
                <a:spcPts val="400"/>
              </a:spcAft>
            </a:pPr>
            <a:r>
              <a:rPr sz="1350" b="0">
                <a:solidFill>
                  <a:srgbClr val="1F2A3A"/>
                </a:solidFill>
                <a:latin typeface="맑은 고딕"/>
                <a:ea typeface="맑은 고딕"/>
                <a:cs typeface="맑은 고딕"/>
              </a:rPr>
              <a:t>승인할 담당자에게</a:t>
            </a:r>
          </a:p>
          <a:p>
            <a:pPr algn="ctr">
              <a:lnSpc>
                <a:spcPct val="110000"/>
              </a:lnSpc>
              <a:spcAft>
                <a:spcPts val="400"/>
              </a:spcAft>
            </a:pPr>
            <a:r>
              <a:rPr sz="1350" b="0">
                <a:solidFill>
                  <a:srgbClr val="1F2A3A"/>
                </a:solidFill>
                <a:latin typeface="맑은 고딕"/>
                <a:ea typeface="맑은 고딕"/>
                <a:cs typeface="맑은 고딕"/>
              </a:rPr>
              <a:t>넘어간다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입력을 확보한다</a:t>
            </a:r>
          </a:p>
          <a:p>
            <a:pPr algn="l">
              <a:lnSpc>
                <a:spcPct val="110000"/>
              </a:lnSpc>
              <a:spcAft>
                <a:spcPts val="400"/>
              </a:spcAft>
            </a:pPr>
            <a:r>
              <a:rPr sz="1400" b="0">
                <a:solidFill>
                  <a:srgbClr val="1F2A3A"/>
                </a:solidFill>
                <a:latin typeface="맑은 고딕"/>
                <a:ea typeface="맑은 고딕"/>
                <a:cs typeface="맑은 고딕"/>
              </a:rPr>
              <a:t>같은 업무 문제를 직접 만들 에이전트에 넣을 수 있게 질문에 쓴 입력을 정리해 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원인을 추론하는 에이전트 제작</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SOP, 센서 입력을 읽어 후보 원인과 점검 항목을 내는 에이전트를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추가 점검 항목을 근거와 함께 정해진 항목으로 내는 에이전트와 그 출력이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항목을 낸다</a:t>
            </a:r>
          </a:p>
          <a:p>
            <a:pPr algn="ctr">
              <a:lnSpc>
                <a:spcPct val="110000"/>
              </a:lnSpc>
              <a:spcAft>
                <a:spcPts val="400"/>
              </a:spcAft>
            </a:pPr>
            <a:r>
              <a:rPr sz="1350" b="0">
                <a:solidFill>
                  <a:srgbClr val="1F2A3A"/>
                </a:solidFill>
                <a:latin typeface="맑은 고딕"/>
                <a:ea typeface="맑은 고딕"/>
                <a:cs typeface="맑은 고딕"/>
              </a:rPr>
              <a:t>추가로 점검할 것을</a:t>
            </a:r>
          </a:p>
          <a:p>
            <a:pPr algn="ctr">
              <a:lnSpc>
                <a:spcPct val="110000"/>
              </a:lnSpc>
              <a:spcAft>
                <a:spcPts val="400"/>
              </a:spcAft>
            </a:pPr>
            <a:r>
              <a:rPr sz="1350" b="0">
                <a:solidFill>
                  <a:srgbClr val="1F2A3A"/>
                </a:solidFill>
                <a:latin typeface="맑은 고딕"/>
                <a:ea typeface="맑은 고딕"/>
                <a:cs typeface="맑은 고딕"/>
              </a:rPr>
              <a:t>근거와 함께</a:t>
            </a:r>
          </a:p>
          <a:p>
            <a:pPr algn="ctr">
              <a:lnSpc>
                <a:spcPct val="110000"/>
              </a:lnSpc>
              <a:spcAft>
                <a:spcPts val="400"/>
              </a:spcAft>
            </a:pPr>
            <a:r>
              <a:rPr sz="1350" b="0">
                <a:solidFill>
                  <a:srgbClr val="1F2A3A"/>
                </a:solidFill>
                <a:latin typeface="맑은 고딕"/>
                <a:ea typeface="맑은 고딕"/>
                <a:cs typeface="맑은 고딕"/>
              </a:rPr>
              <a:t>정해진 항목으로 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증거의 비교와 점검 우선순위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원인 추론 에이전트에 서로 다른 센서 값과 고장 후보를 넣어 점검 순서와 근거를 보완한다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증거와 보완하는 점검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입력마다의 점검 순서와 근거, 그리고 증거가 모자라거나 어긋날 때 낸 추가 확인 요청이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다른 입력을 넣는다</a:t>
            </a:r>
          </a:p>
          <a:p>
            <a:pPr algn="ctr">
              <a:lnSpc>
                <a:spcPct val="110000"/>
              </a:lnSpc>
              <a:spcAft>
                <a:spcPts val="400"/>
              </a:spcAft>
            </a:pPr>
            <a:r>
              <a:rPr sz="1350" b="0">
                <a:solidFill>
                  <a:srgbClr val="1F2A3A"/>
                </a:solidFill>
                <a:latin typeface="맑은 고딕"/>
                <a:ea typeface="맑은 고딕"/>
                <a:cs typeface="맑은 고딕"/>
              </a:rPr>
              <a:t>서로 다른 센서 값과</a:t>
            </a:r>
          </a:p>
          <a:p>
            <a:pPr algn="ctr">
              <a:lnSpc>
                <a:spcPct val="110000"/>
              </a:lnSpc>
              <a:spcAft>
                <a:spcPts val="400"/>
              </a:spcAft>
            </a:pPr>
            <a:r>
              <a:rPr sz="1350" b="0">
                <a:solidFill>
                  <a:srgbClr val="1F2A3A"/>
                </a:solidFill>
                <a:latin typeface="맑은 고딕"/>
                <a:ea typeface="맑은 고딕"/>
                <a:cs typeface="맑은 고딕"/>
              </a:rPr>
              <a:t>고장 후보를</a:t>
            </a:r>
          </a:p>
          <a:p>
            <a:pPr algn="ctr">
              <a:lnSpc>
                <a:spcPct val="110000"/>
              </a:lnSpc>
              <a:spcAft>
                <a:spcPts val="400"/>
              </a:spcAft>
            </a:pPr>
            <a:r>
              <a:rPr sz="1350" b="0">
                <a:solidFill>
                  <a:srgbClr val="1F2A3A"/>
                </a:solidFill>
                <a:latin typeface="맑은 고딕"/>
                <a:ea typeface="맑은 고딕"/>
                <a:cs typeface="맑은 고딕"/>
              </a:rPr>
              <a:t>에이전트에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ale" descr="scal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증거를 견준다</a:t>
            </a:r>
          </a:p>
          <a:p>
            <a:pPr algn="ctr">
              <a:lnSpc>
                <a:spcPct val="110000"/>
              </a:lnSpc>
              <a:spcAft>
                <a:spcPts val="400"/>
              </a:spcAft>
            </a:pPr>
            <a:r>
              <a:rPr sz="1350" b="0">
                <a:solidFill>
                  <a:srgbClr val="1F2A3A"/>
                </a:solidFill>
                <a:latin typeface="맑은 고딕"/>
                <a:ea typeface="맑은 고딕"/>
                <a:cs typeface="맑은 고딕"/>
              </a:rPr>
              <a:t>후보마다 맞는 증거와</a:t>
            </a:r>
          </a:p>
          <a:p>
            <a:pPr algn="ctr">
              <a:lnSpc>
                <a:spcPct val="110000"/>
              </a:lnSpc>
              <a:spcAft>
                <a:spcPts val="400"/>
              </a:spcAft>
            </a:pPr>
            <a:r>
              <a:rPr sz="1350" b="0">
                <a:solidFill>
                  <a:srgbClr val="1F2A3A"/>
                </a:solidFill>
                <a:latin typeface="맑은 고딕"/>
                <a:ea typeface="맑은 고딕"/>
                <a:cs typeface="맑은 고딕"/>
              </a:rPr>
              <a:t>맞지 않는 증거를</a:t>
            </a:r>
          </a:p>
          <a:p>
            <a:pPr algn="ctr">
              <a:lnSpc>
                <a:spcPct val="110000"/>
              </a:lnSpc>
              <a:spcAft>
                <a:spcPts val="400"/>
              </a:spcAft>
            </a:pPr>
            <a:r>
              <a:rPr sz="1350" b="0">
                <a:solidFill>
                  <a:srgbClr val="1F2A3A"/>
                </a:solidFill>
                <a:latin typeface="맑은 고딕"/>
                <a:ea typeface="맑은 고딕"/>
                <a:cs typeface="맑은 고딕"/>
              </a:rPr>
              <a:t>나란히 놓는다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zoom-question" descr="zoom-question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부족과 충돌을 가린다</a:t>
            </a:r>
          </a:p>
          <a:p>
            <a:pPr algn="ctr">
              <a:lnSpc>
                <a:spcPct val="110000"/>
              </a:lnSpc>
              <a:spcAft>
                <a:spcPts val="400"/>
              </a:spcAft>
            </a:pPr>
            <a:r>
              <a:rPr sz="1350" b="0">
                <a:solidFill>
                  <a:srgbClr val="1F2A3A"/>
                </a:solidFill>
                <a:latin typeface="맑은 고딕"/>
                <a:ea typeface="맑은 고딕"/>
                <a:cs typeface="맑은 고딕"/>
              </a:rPr>
              <a:t>증거가 모자라거나</a:t>
            </a:r>
          </a:p>
          <a:p>
            <a:pPr algn="ctr">
              <a:lnSpc>
                <a:spcPct val="110000"/>
              </a:lnSpc>
              <a:spcAft>
                <a:spcPts val="400"/>
              </a:spcAft>
            </a:pPr>
            <a:r>
              <a:rPr sz="1350" b="0">
                <a:solidFill>
                  <a:srgbClr val="1F2A3A"/>
                </a:solidFill>
                <a:latin typeface="맑은 고딕"/>
                <a:ea typeface="맑은 고딕"/>
                <a:cs typeface="맑은 고딕"/>
              </a:rPr>
              <a:t>서로 어긋나면</a:t>
            </a:r>
          </a:p>
          <a:p>
            <a:pPr algn="ctr">
              <a:lnSpc>
                <a:spcPct val="110000"/>
              </a:lnSpc>
              <a:spcAft>
                <a:spcPts val="400"/>
              </a:spcAft>
            </a:pPr>
            <a:r>
              <a:rPr sz="1350" b="0">
                <a:solidFill>
                  <a:srgbClr val="1F2A3A"/>
                </a:solidFill>
                <a:latin typeface="맑은 고딕"/>
                <a:ea typeface="맑은 고딕"/>
                <a:cs typeface="맑은 고딕"/>
              </a:rPr>
              <a:t>추가 확인을 요청한다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정한다</a:t>
            </a:r>
          </a:p>
          <a:p>
            <a:pPr algn="ctr">
              <a:lnSpc>
                <a:spcPct val="110000"/>
              </a:lnSpc>
              <a:spcAft>
                <a:spcPts val="400"/>
              </a:spcAft>
            </a:pPr>
            <a:r>
              <a:rPr sz="1350" b="0">
                <a:solidFill>
                  <a:srgbClr val="1F2A3A"/>
                </a:solidFill>
                <a:latin typeface="맑은 고딕"/>
                <a:ea typeface="맑은 고딕"/>
                <a:cs typeface="맑은 고딕"/>
              </a:rPr>
              <a:t>먼저 점검할 것부터</a:t>
            </a:r>
          </a:p>
          <a:p>
            <a:pPr algn="ctr">
              <a:lnSpc>
                <a:spcPct val="110000"/>
              </a:lnSpc>
              <a:spcAft>
                <a:spcPts val="400"/>
              </a:spcAft>
            </a:pPr>
            <a:r>
              <a:rPr sz="1350" b="0">
                <a:solidFill>
                  <a:srgbClr val="1F2A3A"/>
                </a:solidFill>
                <a:latin typeface="맑은 고딕"/>
                <a:ea typeface="맑은 고딕"/>
                <a:cs typeface="맑은 고딕"/>
              </a:rPr>
              <a:t>순서를 매기고</a:t>
            </a:r>
          </a:p>
          <a:p>
            <a:pPr algn="ctr">
              <a:lnSpc>
                <a:spcPct val="110000"/>
              </a:lnSpc>
              <a:spcAft>
                <a:spcPts val="400"/>
              </a:spcAft>
            </a:pPr>
            <a:r>
              <a:rPr sz="1350" b="0">
                <a:solidFill>
                  <a:srgbClr val="1F2A3A"/>
                </a:solidFill>
                <a:latin typeface="맑은 고딕"/>
                <a:ea typeface="맑은 고딕"/>
                <a:cs typeface="맑은 고딕"/>
              </a:rPr>
              <a:t>근거를 보완한다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품질 불량 접수의 후속 업무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불량 접수 메시지를 분류해 구조화된 품질 대응 카드를 내는 작은 에이전트를 만든다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출력과 갈라지는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불량 접수 한 건이 품질 유형, 확인 항목, 담당 부서, 대응 초안을 갖춘 품질 대응 카드로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89479"/>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843098"/>
            <a:ext cx="424281" cy="424281"/>
          </a:xfrm>
          <a:prstGeom prst="rect">
            <a:avLst/>
          </a:prstGeom>
        </p:spPr>
      </p:pic>
      <p:sp>
        <p:nvSpPr>
          <p:cNvPr id="9" name="TextBox 8"/>
          <p:cNvSpPr txBox="1"/>
          <p:nvPr/>
        </p:nvSpPr>
        <p:spPr>
          <a:xfrm>
            <a:off x="713232"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품질 유형</a:t>
            </a:r>
          </a:p>
          <a:p>
            <a:pPr algn="l">
              <a:lnSpc>
                <a:spcPct val="110000"/>
              </a:lnSpc>
              <a:spcAft>
                <a:spcPts val="400"/>
              </a:spcAft>
            </a:pPr>
            <a:r>
              <a:rPr sz="1350" b="0">
                <a:solidFill>
                  <a:srgbClr val="1F2A3A"/>
                </a:solidFill>
                <a:latin typeface="맑은 고딕"/>
                <a:ea typeface="맑은 고딕"/>
                <a:cs typeface="맑은 고딕"/>
              </a:rPr>
              <a:t>제공된 분류 기준으로 접수 내용의 유형을 정한다</a:t>
            </a:r>
          </a:p>
        </p:txBody>
      </p:sp>
      <p:sp>
        <p:nvSpPr>
          <p:cNvPr id="10" name="Rounded Rectangle 9"/>
          <p:cNvSpPr/>
          <p:nvPr/>
        </p:nvSpPr>
        <p:spPr>
          <a:xfrm>
            <a:off x="777240" y="506463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a:t>
            </a:r>
          </a:p>
        </p:txBody>
      </p:sp>
      <p:sp>
        <p:nvSpPr>
          <p:cNvPr id="12" name="Rounded Rectangle 11"/>
          <p:cNvSpPr/>
          <p:nvPr/>
        </p:nvSpPr>
        <p:spPr>
          <a:xfrm>
            <a:off x="3390823"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89479"/>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843098"/>
            <a:ext cx="424281" cy="424281"/>
          </a:xfrm>
          <a:prstGeom prst="rect">
            <a:avLst/>
          </a:prstGeom>
        </p:spPr>
      </p:pic>
      <p:sp>
        <p:nvSpPr>
          <p:cNvPr id="15" name="TextBox 14"/>
          <p:cNvSpPr txBox="1"/>
          <p:nvPr/>
        </p:nvSpPr>
        <p:spPr>
          <a:xfrm>
            <a:off x="3555415"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확인 항목</a:t>
            </a:r>
          </a:p>
          <a:p>
            <a:pPr algn="l">
              <a:lnSpc>
                <a:spcPct val="110000"/>
              </a:lnSpc>
              <a:spcAft>
                <a:spcPts val="400"/>
              </a:spcAft>
            </a:pPr>
            <a:r>
              <a:rPr sz="1350" b="0">
                <a:solidFill>
                  <a:srgbClr val="1F2A3A"/>
                </a:solidFill>
                <a:latin typeface="맑은 고딕"/>
                <a:ea typeface="맑은 고딕"/>
                <a:cs typeface="맑은 고딕"/>
              </a:rPr>
              <a:t>판단에 모자란 정보를 확인 항목으로 적는다</a:t>
            </a:r>
          </a:p>
        </p:txBody>
      </p:sp>
      <p:sp>
        <p:nvSpPr>
          <p:cNvPr id="16" name="Rounded Rectangle 15"/>
          <p:cNvSpPr/>
          <p:nvPr/>
        </p:nvSpPr>
        <p:spPr>
          <a:xfrm>
            <a:off x="3619423" y="506463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8" name="Rounded Rectangle 17"/>
          <p:cNvSpPr/>
          <p:nvPr/>
        </p:nvSpPr>
        <p:spPr>
          <a:xfrm>
            <a:off x="6233007" y="2488311"/>
            <a:ext cx="2567863" cy="300608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89479"/>
            <a:ext cx="731520" cy="731520"/>
          </a:xfrm>
          <a:prstGeom prst="ellipse">
            <a:avLst/>
          </a:prstGeom>
          <a:solidFill>
            <a:srgbClr val="E7F3FD"/>
          </a:solidFill>
          <a:ln>
            <a:noFill/>
          </a:ln>
        </p:spPr>
        <p:txBody>
          <a:bodyPr rtlCol="0" anchor="ctr"/>
          <a:lstStyle/>
          <a:p>
            <a:pPr algn="ctr"/>
          </a:p>
        </p:txBody>
      </p:sp>
      <p:pic>
        <p:nvPicPr>
          <p:cNvPr id="20" name="아이콘:building-factory-2" descr="building-factory-2_13294B_1.6.png"/>
          <p:cNvPicPr>
            <a:picLocks noChangeAspect="1"/>
          </p:cNvPicPr>
          <p:nvPr/>
        </p:nvPicPr>
        <p:blipFill>
          <a:blip r:embed="rId5"/>
          <a:stretch>
            <a:fillRect/>
          </a:stretch>
        </p:blipFill>
        <p:spPr>
          <a:xfrm>
            <a:off x="6615226" y="2843098"/>
            <a:ext cx="424281" cy="424281"/>
          </a:xfrm>
          <a:prstGeom prst="rect">
            <a:avLst/>
          </a:prstGeom>
        </p:spPr>
      </p:pic>
      <p:sp>
        <p:nvSpPr>
          <p:cNvPr id="21" name="TextBox 20"/>
          <p:cNvSpPr txBox="1"/>
          <p:nvPr/>
        </p:nvSpPr>
        <p:spPr>
          <a:xfrm>
            <a:off x="6397599"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 부서와 대응 초안</a:t>
            </a:r>
          </a:p>
          <a:p>
            <a:pPr algn="l">
              <a:lnSpc>
                <a:spcPct val="110000"/>
              </a:lnSpc>
              <a:spcAft>
                <a:spcPts val="400"/>
              </a:spcAft>
            </a:pPr>
            <a:r>
              <a:rPr sz="1350" b="0">
                <a:solidFill>
                  <a:srgbClr val="1F2A3A"/>
                </a:solidFill>
                <a:latin typeface="맑은 고딕"/>
                <a:ea typeface="맑은 고딕"/>
                <a:cs typeface="맑은 고딕"/>
              </a:rPr>
              <a:t>넘길 부서를 정하고 대응 초안을 쓴다</a:t>
            </a:r>
          </a:p>
        </p:txBody>
      </p:sp>
      <p:sp>
        <p:nvSpPr>
          <p:cNvPr id="22" name="Rounded Rectangle 21"/>
          <p:cNvSpPr/>
          <p:nvPr/>
        </p:nvSpPr>
        <p:spPr>
          <a:xfrm>
            <a:off x="6461607" y="506463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646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488311"/>
            <a:ext cx="2567863" cy="300608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89479"/>
            <a:ext cx="731520" cy="731520"/>
          </a:xfrm>
          <a:prstGeom prst="ellipse">
            <a:avLst/>
          </a:prstGeom>
          <a:solidFill>
            <a:srgbClr val="5CB8F2"/>
          </a:solidFill>
          <a:ln>
            <a:noFill/>
          </a:ln>
        </p:spPr>
        <p:txBody>
          <a:bodyPr rtlCol="0" anchor="ctr"/>
          <a:lstStyle/>
          <a:p>
            <a:pPr algn="ctr"/>
          </a:p>
        </p:txBody>
      </p:sp>
      <p:pic>
        <p:nvPicPr>
          <p:cNvPr id="26" name="아이콘:zoom-question" descr="zoom-question_13294B_1.6.png"/>
          <p:cNvPicPr>
            <a:picLocks noChangeAspect="1"/>
          </p:cNvPicPr>
          <p:nvPr/>
        </p:nvPicPr>
        <p:blipFill>
          <a:blip r:embed="rId6"/>
          <a:stretch>
            <a:fillRect/>
          </a:stretch>
        </p:blipFill>
        <p:spPr>
          <a:xfrm>
            <a:off x="9457410" y="2843098"/>
            <a:ext cx="424281" cy="424281"/>
          </a:xfrm>
          <a:prstGeom prst="rect">
            <a:avLst/>
          </a:prstGeom>
        </p:spPr>
      </p:pic>
      <p:sp>
        <p:nvSpPr>
          <p:cNvPr id="27" name="TextBox 26"/>
          <p:cNvSpPr txBox="1"/>
          <p:nvPr/>
        </p:nvSpPr>
        <p:spPr>
          <a:xfrm>
            <a:off x="9239783" y="3512439"/>
            <a:ext cx="2238679" cy="1479041"/>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미확정</a:t>
            </a:r>
          </a:p>
          <a:p>
            <a:pPr algn="l">
              <a:lnSpc>
                <a:spcPct val="110000"/>
              </a:lnSpc>
              <a:spcAft>
                <a:spcPts val="400"/>
              </a:spcAft>
            </a:pPr>
            <a:r>
              <a:rPr sz="1350" b="0">
                <a:solidFill>
                  <a:srgbClr val="1F2A3A"/>
                </a:solidFill>
                <a:latin typeface="맑은 고딕"/>
                <a:ea typeface="맑은 고딕"/>
                <a:cs typeface="맑은 고딕"/>
              </a:rPr>
              <a:t>원인이 정해지지 않았으면 단정하지 않고 조사 요청으로 넘긴다</a:t>
            </a:r>
          </a:p>
        </p:txBody>
      </p:sp>
      <p:sp>
        <p:nvSpPr>
          <p:cNvPr id="28" name="Rounded Rectangle 27"/>
          <p:cNvSpPr/>
          <p:nvPr/>
        </p:nvSpPr>
        <p:spPr>
          <a:xfrm>
            <a:off x="9303791" y="5064633"/>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646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조사 요청</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회차에서 정식 명칭을 붙인 용어와, 그 용어의 뜻이나 쿨러 사건에서의 예를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 또는 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찾아 함께 읽히는 방식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사전 확률이 가장 높은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