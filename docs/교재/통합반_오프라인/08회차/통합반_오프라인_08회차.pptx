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7회차까지는 판단하는 에이전트를 만들고 검증했습니다. 오늘은 그 에이전트의 추천이 사람의 승인과 시스템의 실행을 거쳐 끝난 업무가 되기까지를 프로세스로 정의하고 그립니다. 네 개의 실습에서 설비 이상 대응 프로세스를 직접 그려 실행할 수 있게 연결합니다.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원인을 쿨러 핀 오염으로 가리고 팬 최대 운전을 추천한 시점에서 시작하겠습니다. 추천은 나왔지만 팬은 아직 그대로 돌고 유온도 그대로입니다. 운전원의 승인, 설비로 가는 냉각 명령, 유온을 다시 읽는 재관측, 핀 세척을 위한 작업지시 등록, 결과 보고가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순서까지 에이전트에게 맡기면 되지 않느냐는 생각이 들 수 있습니다. 에이전트는 상황을 읽고 그때마다 판단하는 데 강합니다. 하지만 승인 전에는 명령이 나가지 않는다, 승인은 운전원만 한다는 것은 판단할 일이 아니라 어길 수 없게 정해 둘 일입니다. 이런 순서와 책임은 에이전트의 바깥에 따로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책임을 정해 둔 것이 비즈니스 프로세스입니다. 어떤 결과를 내려고 여러 주체가 하는 작업을 순서대로 이은 묶음이며, 시작하는 사건과 끝나는 조건이 있습니다. 쿨러 성능 저하 경보에서 결과 보고까지가 긴급 대응 프로세스입니다. 이 프로세스가 경보 한 건에 대해 실제로 수행되는 한 건을 포털에서는 처리 건이라고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용어를 구분합니다. Task는 프로세스 안의 작업 하나로, 위쪽 괄호가 가리키는 에이전트의 추천이 그 예입니다. End-to-End는 아래쪽 괄호처럼 경보라는 시작 사건에서 끝까지의 전체이며 우리말로는 종단 간이라고 합니다. 처리 건 한 건의 실제 기록을 보면, 에이전트의 Task가 끝난 시점에는 설비 명령이 없었고 유온도 그대로였습니다. 명령과 유온 51.3도와 작업지시는 End-to-End가 끝난 시점에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정하면 끝나는 것이 아닙니다. 설비가 바뀌고 담당 조직이 바뀌면 순서와 책임자도 고쳐야 합니다. 프로세스를 만들고 운영하고 고쳐 가는 일 전체를 관리하는 방법이 BPM, Business Process Management입니다. BPM이 보는 것은 작업 하나가 아니라 처음부터 끝까지의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프로세스를 문장으로 적어 보았습니다. 틀린 내용은 없지만 읽기가 어렵습니다. 갈림은 문장 속에 흩어져 있고, 재관측과 보고를 누가 하는지는 적혀 있지 않습니다. 마지막 문장은 알림을 보낸 뒤에도 승인을 계속 기다리는지 여기서 끝나는지를 알려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그림으로 적되 도형의 뜻을 약속해 둔 것이 BPMN, Business Process Model and Notation입니다. DMN을 정한 OMG가 정했고 2.0판은 ISO 국제 표준이기도 합니다. 같은 그림을 현업 담당자는 업무를 확인하는 데 쓰고, 소프트웨어는 실행할 설계도로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문장과 같은 내용을 BPMN으로 그린 그림입니다. 왼쪽의 세 칸은 위에서부터 담당자, 에이전트, 시스템입니다. 에이전트 칸의 경보에서 시작해 진단과 제안, 담당자 칸의 운전원 승인을 거쳐 시스템 칸의 냉각 명령, 재관측, 작업지시 등록, 결과 보고로 이어집니다. 갈림이 두 곳이고 끝이 세 곳입니다. 시작 이벤트에 붙은 이름 쿨러 과열 경보는 지금까지 본 쿨러 성능 저하 경보가 도착하는 사건을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원은 이벤트, 곧 프로세스에서 일어나는 사건입니다. 테두리가 가는 원은 프로세스를 여는 시작 이벤트입니다. 안에 봉투가 그려진 것은 메시지를 받으면 여는 메시지 시작 이벤트로, 긴급 대응 프로세스의 쿨러 과열 경보가 이 모양입니다. 테두리가 굵은 원은 한 갈래를 닫는 끝 이벤트이며 긴급 대응 프로세스에는 끝, 거절 종결, 알림의 셋이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모서리가 둥근 사각형은 작업입니다. 프로세스 안에서 수행되는 일을 활동이라고 하고, 그 가운데 더 쪼개지지 않는 단위가 작업입니다. 왼쪽 위에 사람 표식이 있으면 사람이 수행하는 사용자 작업이고, 톱니 표식이 있으면 시스템이 자동으로 수행하는 서비스 작업입니다. 표식이 없는 작업은 누가 수행할지를 실행 전에 따로 지정하며, 에이전트에게 맡길 진단과 제안이 이 모양으로 그려집니다.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요소를 잇는 실선 화살표가 시퀀스 흐름이며 화살표의 방향이 순서입니다. 마름모는 흐름이 갈라지는 게이트웨이이고, 가위표가 그려진 것은 배타 게이트웨이입니다. 배타 게이트웨이는 나가는 선 가운데 조건이 참인 하나로만 흐름을 보냅니다. 운전원 승인 뒤의 승인? 게이트웨이에서 승인이면 냉각 명령으로, 거절이면 결과 보고: 거절로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게이트웨이에서 나가는 선에는 조건이 붙습니다. 승인? 게이트웨이의 승인 쪽 선은 운전원 승인 작업이 낸 approval 값이 승인일 때 참입니다. 유온 정상? 게이트웨이의 예 쪽 선은 재관측이 낸 recovered 값이 참일 때입니다. 어느 조건도 참이 아닐 때 가는 선을 기본 흐름, Default Flow라고 하며 그림에서는 선의 출발 자리에 빗금을 긋습니다.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맡는지는 칸으로 나타냅니다. 바깥 테두리 전체가 풀이며 프로세스에 참여하는 조직이나 시스템 하나를 뜻합니다. 풀 안을 가로로 나눈 칸이 레인이고, 작업이 놓인 레인이 그 작업을 맡는 쪽입니다. 긴급 대응 프로세스는 풀 하나에 담당자, 에이전트, 시스템의 세 레인을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끝나기를 기다리는 동안 생기는 일은 경계 이벤트, Boundary Event로 그립니다. 작업의 테두리에 겹테두리 원을 붙이고, 시계가 그려진 것은 정한 기간이 지나면 발생하는 타이머입니다. 왼쪽의 실선은 중단형으로, 발생하면 붙어 있던 작업을 끊고 다른 가지로 갑니다. 오른쪽의 점선은 비중단형으로, 작업은 그대로 두고 가지를 하나 더 엽니다.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놓았습니다. 운전원 승인 뒤에 승인? 게이트웨이가 있어 승인이면 냉각 명령으로, 거절이면 결과 보고: 거절을 거쳐 거절 종결로 갑니다. 승인 작업의 테두리에는 기한이 10분인 승인 지연 타이머가 붙어 있습니다. 점선의 비중단형이어서 10분이 지나면 알림 가지만 열리고 승인 작업은 계속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건에서 작업을 실제로 맡은 쪽입니다. 진단과 제안은 에이전트가, 승인은 운전원 역할이, 명령과 재관측과 작업지시 등록과 결과 보고는 시스템들이 맡았습니다. 레인의 배치를 보면 설비를 움직이는 냉각 명령 앞에 사람의 승인이 놓여 있습니다. 누가 판단하고 누가 결정하고 누가 실행하는지를 그림이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그림을 그렸다고 업무가 수행되지는 않습니다. 에이전트가 판단을 제출하면 누군가 운전원에게 승인 작업을 놓아야 합니다. 승인의 결과를 게이트웨이에 전해야 하고, 운전원이 한참 뒤에 응답하더라도 어디까지 왔는지를 기억하고 있어야 합니다. 그림을 읽어 이 세 가지를 하는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엔진입니다. 프로세스의 정의를 읽어 작업을 차례로 열고 결과를 넘깁니다. 이렇게 중앙의 한 주체가 전체 순서를 이끄는 방식을 오케스트레이션이라고 합니다. 지휘자가 연주자에게 차례를 알리는 것과 닮았지만, 엔진은 작업의 결과를 받아 다음 작업에 넘기고 기록까지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것을 둘로 구분합니다. 왼쪽의 프로세스 정의는 요소와 선과 조건을 담은 설계도이며 하나뿐입니다. 오른쪽의 프로세스 인스턴스는 그 설계도에 따라 실제로 실행되는 한 건으로, 앞에서 처리 건이라고 부른 것입니다. 경보가 올 때마다 인스턴스가 하나씩 만들어지고, 같은 정의에서 나왔어도 승인으로 끝난 건, 거절로 끝난 건, 승인을 기다리는 건으로 저마다 다르게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고쳤을 때 언제부터 적용되는지 보겠습니다. 고친 정의는 새 판본으로 등록합니다. 등록만으로는 바뀌지 않고, 그 판본을 배포해야 다음 경보부터 그 판본으로 처리 건이 열립니다. 이미 열려 있던 처리 건은 열릴 때의 판본으로 끝까지 가므로, 실행 도중에 규칙이 바뀌는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bpmn.io라는 도구로 작은 승인 절차를 직접 그립니다. 정비 요청으로 시작해 담당자가 확인하고, 승인 여부에 따라 승인 종료와 거절 종결로 갈립니다. 게이트웨이의 두 갈래가 빠짐없이 끝 이벤트에 닿는지를 확인합니다. 끝나면 BPMN 파일 하나가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앞에서 읽은 긴급 대응 프로세스의 중심 흐름을 직접 그립니다. 풀 하나에 담당자, 에이전트, 시스템의 세 레인을 두고, 쿨러 성능 저하 경보의 시작 이벤트에서 진단과 제안, 운전원 승인, 냉각 명령, 재관측, 결과 보고까지를 차례로 잇습니다. 작업을 놓은 레인이 그 작업을 맡는 쪽이 됩니다. 끝나면 이 프로세스의 BPMN 파일이 만들어지고, 셋째 실습에서 여기에 갈림과 타이머를 더합니다.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 실습의 그림에 사람의 결정에 따라 달라지는 경로를 더합니다. 운전원 승인 뒤에 배타 게이트웨이를 놓아 승인과 거절을 가르고, 승인의 갈래가 닿는 끝과 거절의 갈래가 닿는 거절 종결을 따로 둡니다. 승인 작업에는 비중단형 타이머를 붙여 응답이 늦을 때 알림 가지가 열려 알림의 끝에 닿게 합니다. 마지막으로 거절의 갈래를 선을 따라 끝까지 짚어, 냉각 명령으로 이어지는 선이 없는지를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그린 그림을 HYD 포털로 가져와 실행할 수 있게 만듭니다. 어떤 경보가 이 프로세스를 여는지, 작업마다 누가 맡는지, 갈림의 조건과 타이머의 기간이 무엇인지를 정합니다. 사전 검사로 빠진 것이 없는지 확인한 뒤 등록하고 배포합니다. 끝나면 쿨러 경보가 왔을 때 직접 그린 프로세스가 열리게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약어의 정식 명칭을 한곳에 모았습니다. 이 넷과 함께 비즈니스 프로세스, Task와 End-to-End, 이벤트, 게이트웨이, 풀과 레인, 경계 이벤트, 프로세스 엔진과 오케스트레이션, 프로세스 정의와 인스턴스가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설계도와 실행되는 한 건을 구분하는 문항입니다. 경보가 올 때 무엇이 새로 만들어지는지, 그리고 그것들이 서로 어떤 관계인지를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도형의 표식과 놓인 칸과 갈림을 읽는 문항입니다. 톱니 표식이 무엇을 뜻하는지, 배타 게이트웨이가 흐름을 몇 갈래로 보내는지를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추천하는 쪽, 결정하는 쪽, 다음 작업을 여는 쪽이 각각 누구였는지를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정의와 인스턴스를 혼동한 것입니다. 둘째 문항의 2번은 톱니 표식을 사람 표식으로 읽은 것입니다. 셋째 문항의 3번은 결정하는 쪽과 다음 작업을 여는 쪽을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image" Target="../media/image26.png"/><Relationship Id="rId6" Type="http://schemas.openxmlformats.org/officeDocument/2006/relationships/image" Target="../media/image32.png"/><Relationship Id="rId7"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8회차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이상 대응 업무의</a:t>
            </a:r>
          </a:p>
          <a:p>
            <a:pPr algn="l">
              <a:lnSpc>
                <a:spcPct val="110000"/>
              </a:lnSpc>
            </a:pPr>
            <a:r>
              <a:rPr sz="4000" b="1">
                <a:solidFill>
                  <a:srgbClr val="FFFFFF"/>
                </a:solidFill>
                <a:latin typeface="맑은 고딕"/>
                <a:ea typeface="맑은 고딕"/>
                <a:cs typeface="맑은 고딕"/>
              </a:rPr>
              <a:t>프로세스 설계와 실행 준비</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비즈니스 프로세스의 정의, BPMN 표기, 오케스트레이션</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ute" descr="rout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itemap" descr="sitemap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layer-play" descr="player-pla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추천이 끝난 업무가 되기까지의 순서와 책임을 프로세스로 정의하고, BPMN으로 그려 실행할 수 있게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프로세스의 정의</a:t>
            </a:r>
          </a:p>
          <a:p>
            <a:pPr algn="l">
              <a:lnSpc>
                <a:spcPct val="110000"/>
              </a:lnSpc>
              <a:spcAft>
                <a:spcPts val="400"/>
              </a:spcAft>
            </a:pPr>
            <a:r>
              <a:rPr sz="1350" b="0">
                <a:solidFill>
                  <a:srgbClr val="1F2A3A"/>
                </a:solidFill>
                <a:latin typeface="맑은 고딕"/>
                <a:ea typeface="맑은 고딕"/>
                <a:cs typeface="맑은 고딕"/>
              </a:rPr>
              <a:t>• 작업 하나와 종단 간 프로세스를 구분한다</a:t>
            </a:r>
          </a:p>
          <a:p>
            <a:pPr algn="l">
              <a:lnSpc>
                <a:spcPct val="110000"/>
              </a:lnSpc>
              <a:spcAft>
                <a:spcPts val="400"/>
              </a:spcAft>
            </a:pPr>
            <a:r>
              <a:rPr sz="1350" b="0">
                <a:solidFill>
                  <a:srgbClr val="1F2A3A"/>
                </a:solidFill>
                <a:latin typeface="맑은 고딕"/>
                <a:ea typeface="맑은 고딕"/>
                <a:cs typeface="맑은 고딕"/>
              </a:rPr>
              <a:t>• 프로세스와 그것을 관리하는 BPM을 설명한다</a:t>
            </a:r>
          </a:p>
        </p:txBody>
      </p:sp>
      <p:sp>
        <p:nvSpPr>
          <p:cNvPr id="10" name="Rounded Rectangle 9"/>
          <p:cNvSpPr/>
          <p:nvPr/>
        </p:nvSpPr>
        <p:spPr>
          <a:xfrm>
            <a:off x="777240" y="5238940"/>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BPMN 읽기</a:t>
            </a:r>
          </a:p>
          <a:p>
            <a:pPr algn="l">
              <a:lnSpc>
                <a:spcPct val="110000"/>
              </a:lnSpc>
              <a:spcAft>
                <a:spcPts val="400"/>
              </a:spcAft>
            </a:pPr>
            <a:r>
              <a:rPr sz="1350" b="0">
                <a:solidFill>
                  <a:srgbClr val="1F2A3A"/>
                </a:solidFill>
                <a:latin typeface="맑은 고딕"/>
                <a:ea typeface="맑은 고딕"/>
                <a:cs typeface="맑은 고딕"/>
              </a:rPr>
              <a:t>• 이벤트, 작업, 게이트웨이, 레인의 뜻을 그림에서 읽는다</a:t>
            </a:r>
          </a:p>
          <a:p>
            <a:pPr algn="l">
              <a:lnSpc>
                <a:spcPct val="110000"/>
              </a:lnSpc>
              <a:spcAft>
                <a:spcPts val="400"/>
              </a:spcAft>
            </a:pPr>
            <a:r>
              <a:rPr sz="1350" b="0">
                <a:solidFill>
                  <a:srgbClr val="1F2A3A"/>
                </a:solidFill>
                <a:latin typeface="맑은 고딕"/>
                <a:ea typeface="맑은 고딕"/>
                <a:cs typeface="맑은 고딕"/>
              </a:rPr>
              <a:t>• 승인과 거절의 갈림을 따라간다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표기법</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실행의 이해</a:t>
            </a:r>
          </a:p>
          <a:p>
            <a:pPr algn="l">
              <a:lnSpc>
                <a:spcPct val="110000"/>
              </a:lnSpc>
              <a:spcAft>
                <a:spcPts val="400"/>
              </a:spcAft>
            </a:pPr>
            <a:r>
              <a:rPr sz="1350" b="0">
                <a:solidFill>
                  <a:srgbClr val="1F2A3A"/>
                </a:solidFill>
                <a:latin typeface="맑은 고딕"/>
                <a:ea typeface="맑은 고딕"/>
                <a:cs typeface="맑은 고딕"/>
              </a:rPr>
              <a:t>프로세스 엔진과 오케스트레이션, 정의와 인스턴스로 그림이 실행되는 방식을 설명한다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설계와 연결</a:t>
            </a:r>
          </a:p>
          <a:p>
            <a:pPr algn="l">
              <a:lnSpc>
                <a:spcPct val="110000"/>
              </a:lnSpc>
              <a:spcAft>
                <a:spcPts val="400"/>
              </a:spcAft>
            </a:pPr>
            <a:r>
              <a:rPr sz="1350" b="0">
                <a:solidFill>
                  <a:srgbClr val="1F2A3A"/>
                </a:solidFill>
                <a:latin typeface="맑은 고딕"/>
                <a:ea typeface="맑은 고딕"/>
                <a:cs typeface="맑은 고딕"/>
              </a:rPr>
              <a:t>설비 이상 대응 프로세스를 직접 그리고 에이전트, 승인 역할, 시스템에 연결해 배포한다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비즈니스 프로세스: 작업 하나에서 업무 전체로</a:t>
            </a:r>
          </a:p>
        </p:txBody>
      </p:sp>
      <p:sp>
        <p:nvSpPr>
          <p:cNvPr id="6" name="Rounded Rectangle 5"/>
          <p:cNvSpPr/>
          <p:nvPr/>
        </p:nvSpPr>
        <p:spPr>
          <a:xfrm>
            <a:off x="10088575" y="145389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538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95681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96596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96596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BPMN: 프로세스를 그리는 표준 표기법</a:t>
            </a:r>
          </a:p>
        </p:txBody>
      </p:sp>
      <p:sp>
        <p:nvSpPr>
          <p:cNvPr id="11" name="Rounded Rectangle 10"/>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69748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69748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오케스트레이션: 설계한 프로세스의 실행</a:t>
            </a:r>
          </a:p>
        </p:txBody>
      </p:sp>
      <p:sp>
        <p:nvSpPr>
          <p:cNvPr id="16" name="Rounded Rectangle 15"/>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42900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42900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간단한 승인 절차 그리기</a:t>
            </a:r>
          </a:p>
        </p:txBody>
      </p:sp>
      <p:sp>
        <p:nvSpPr>
          <p:cNvPr id="21" name="Rounded Rectangle 2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16052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16052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긴급 대응 프로세스 그리기</a:t>
            </a:r>
          </a:p>
        </p:txBody>
      </p:sp>
      <p:sp>
        <p:nvSpPr>
          <p:cNvPr id="26" name="Rounded Rectangle 2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89204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89204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승인과 거절의 갈림과 지연 알림 더하기</a:t>
            </a:r>
          </a:p>
        </p:txBody>
      </p:sp>
      <p:sp>
        <p:nvSpPr>
          <p:cNvPr id="31" name="Rounded Rectangle 30"/>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3" name="Rectangle 32"/>
          <p:cNvSpPr/>
          <p:nvPr/>
        </p:nvSpPr>
        <p:spPr>
          <a:xfrm>
            <a:off x="548640" y="561441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62356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62356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그린 흐름을 에이전트와 시스템에 연결하기</a:t>
            </a:r>
          </a:p>
        </p:txBody>
      </p:sp>
      <p:sp>
        <p:nvSpPr>
          <p:cNvPr id="36" name="Rounded Rectangle 35"/>
          <p:cNvSpPr/>
          <p:nvPr/>
        </p:nvSpPr>
        <p:spPr>
          <a:xfrm>
            <a:off x="10088575" y="584301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8430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8" name="TextBox 3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비즈니스 프로세스:</a:t>
            </a:r>
          </a:p>
          <a:p>
            <a:pPr algn="l">
              <a:lnSpc>
                <a:spcPct val="110000"/>
              </a:lnSpc>
            </a:pPr>
            <a:r>
              <a:rPr sz="3400" b="1">
                <a:solidFill>
                  <a:srgbClr val="13294B"/>
                </a:solidFill>
                <a:latin typeface="맑은 고딕"/>
                <a:ea typeface="맑은 고딕"/>
                <a:cs typeface="맑은 고딕"/>
              </a:rPr>
              <a:t>작업 하나에서 업무 전체로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추천이 끝난 업무가 되기까지의 순서와 책임을 정하는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추천이 나온 뒤에 남은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추천한 시점에 유온은 그대로이며, 승인에서 결과 보고까지 다섯 가지 일이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남은일_추천뒤.svg" descr="illust_209933612076327369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804742" y="247857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여기까지 끝났다</a:t>
            </a:r>
          </a:p>
        </p:txBody>
      </p:sp>
      <p:sp>
        <p:nvSpPr>
          <p:cNvPr id="16" name="TextBox 15"/>
          <p:cNvSpPr txBox="1"/>
          <p:nvPr/>
        </p:nvSpPr>
        <p:spPr>
          <a:xfrm>
            <a:off x="4595792" y="2384023"/>
            <a:ext cx="436379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남은 일 다섯 가지</a:t>
            </a:r>
          </a:p>
          <a:p>
            <a:pPr algn="ctr">
              <a:lnSpc>
                <a:spcPct val="110000"/>
              </a:lnSpc>
              <a:spcAft>
                <a:spcPts val="100"/>
              </a:spcAft>
            </a:pPr>
            <a:r>
              <a:rPr sz="1100" b="0">
                <a:solidFill>
                  <a:srgbClr val="556175"/>
                </a:solidFill>
                <a:latin typeface="맑은 고딕"/>
                <a:ea typeface="맑은 고딕"/>
                <a:cs typeface="맑은 고딕"/>
              </a:rPr>
              <a:t>아직 실행되지 않았다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상황을 읽고 그때마다 판단하므로, 매번 같은 순서와 빠지지 않는 승인은 에이전트 밖에서 보장해야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원인을 가린다</a:t>
            </a:r>
          </a:p>
          <a:p>
            <a:pPr algn="l">
              <a:lnSpc>
                <a:spcPct val="110000"/>
              </a:lnSpc>
              <a:spcAft>
                <a:spcPts val="600"/>
              </a:spcAft>
            </a:pPr>
            <a:r>
              <a:rPr sz="1450" b="0">
                <a:solidFill>
                  <a:srgbClr val="1F2A3A"/>
                </a:solidFill>
                <a:latin typeface="맑은 고딕"/>
                <a:ea typeface="맑은 고딕"/>
                <a:cs typeface="맑은 고딕"/>
              </a:rPr>
              <a:t>• 조치 후보를 견주어 하나를 추천한다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 전에는 설비 명령이 나가지 않는다</a:t>
            </a:r>
          </a:p>
          <a:p>
            <a:pPr algn="l">
              <a:lnSpc>
                <a:spcPct val="110000"/>
              </a:lnSpc>
              <a:spcAft>
                <a:spcPts val="600"/>
              </a:spcAft>
            </a:pPr>
            <a:r>
              <a:rPr sz="1450" b="0">
                <a:solidFill>
                  <a:srgbClr val="1F2A3A"/>
                </a:solidFill>
                <a:latin typeface="맑은 고딕"/>
                <a:ea typeface="맑은 고딕"/>
                <a:cs typeface="맑은 고딕"/>
              </a:rPr>
              <a:t>• 승인은 정해진 역할만 한다</a:t>
            </a:r>
          </a:p>
          <a:p>
            <a:pPr algn="l">
              <a:lnSpc>
                <a:spcPct val="110000"/>
              </a:lnSpc>
              <a:spcAft>
                <a:spcPts val="600"/>
              </a:spcAft>
            </a:pPr>
            <a:r>
              <a:rPr sz="14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비즈니스 프로세스: 결과를 내기 위한 작업의 순서 있는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비즈니스 프로세스는 정해진 결과를 내려고 여러 주체가 수행하는 작업을 순서대로 이은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비즈니스 프로세스</a:t>
            </a:r>
          </a:p>
          <a:p>
            <a:pPr algn="l">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조직이 어떤 결과를 내기 위해 수행하는 관련 작업의 순서 있는 묶음이다.</a:t>
            </a:r>
          </a:p>
          <a:p>
            <a:pPr algn="l">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긴급 대응 프로세스</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a:lnSpc>
                <a:spcPct val="110000"/>
              </a:lnSpc>
              <a:spcAft>
                <a:spcPts val="300"/>
              </a:spcAft>
            </a:pPr>
            <a:r>
              <a:rPr sz="1400" b="0">
                <a:solidFill>
                  <a:srgbClr val="1F2A3A"/>
                </a:solidFill>
                <a:latin typeface="맑은 고딕"/>
                <a:ea typeface="맑은 고딕"/>
                <a:cs typeface="맑은 고딕"/>
              </a:rPr>
              <a:t>에이전트의 추천,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처리 건</a:t>
            </a:r>
          </a:p>
          <a:p>
            <a:pPr algn="l">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건을 HYD 포털은 처리 건이라고 부른다.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Task와 End-to-End: 작업 하나와 종단 간 전체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Task는 작업 하나이고 End-to-End는 시작 사건에서 최종 결과까지의 전체이며, 업무의 완료는 End-to-End로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남은일_종단.svg" descr="illust_74775164980375546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8" name="TextBox 7"/>
          <p:cNvSpPr txBox="1"/>
          <p:nvPr/>
        </p:nvSpPr>
        <p:spPr>
          <a:xfrm>
            <a:off x="2141155"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a:t>
            </a:r>
          </a:p>
        </p:txBody>
      </p:sp>
      <p:sp>
        <p:nvSpPr>
          <p:cNvPr id="9" name="TextBox 8"/>
          <p:cNvSpPr txBox="1"/>
          <p:nvPr/>
        </p:nvSpPr>
        <p:spPr>
          <a:xfrm>
            <a:off x="3504842"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4868529"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623221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7486808"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8959590"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432371" y="418045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1077479" y="1816729"/>
            <a:ext cx="392741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Task</a:t>
            </a:r>
          </a:p>
          <a:p>
            <a:pPr algn="ctr">
              <a:lnSpc>
                <a:spcPct val="110000"/>
              </a:lnSpc>
              <a:spcAft>
                <a:spcPts val="100"/>
              </a:spcAft>
            </a:pPr>
            <a:r>
              <a:rPr sz="1100" b="0">
                <a:solidFill>
                  <a:srgbClr val="556175"/>
                </a:solidFill>
                <a:latin typeface="맑은 고딕"/>
                <a:ea typeface="맑은 고딕"/>
                <a:cs typeface="맑은 고딕"/>
              </a:rPr>
              <a:t>작업 하나</a:t>
            </a:r>
          </a:p>
          <a:p>
            <a:pPr algn="ctr">
              <a:lnSpc>
                <a:spcPct val="110000"/>
              </a:lnSpc>
              <a:spcAft>
                <a:spcPts val="100"/>
              </a:spcAft>
            </a:pPr>
            <a:r>
              <a:rPr sz="1100" b="0">
                <a:solidFill>
                  <a:srgbClr val="556175"/>
                </a:solidFill>
                <a:latin typeface="맑은 고딕"/>
                <a:ea typeface="맑은 고딕"/>
                <a:cs typeface="맑은 고딕"/>
              </a:rPr>
              <a:t>끝난 시점: 설비 명령 없음, 유온 그대로</a:t>
            </a:r>
          </a:p>
        </p:txBody>
      </p:sp>
      <p:sp>
        <p:nvSpPr>
          <p:cNvPr id="16" name="TextBox 15"/>
          <p:cNvSpPr txBox="1"/>
          <p:nvPr/>
        </p:nvSpPr>
        <p:spPr>
          <a:xfrm>
            <a:off x="2822999" y="5409590"/>
            <a:ext cx="6545697"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End-to-End</a:t>
            </a:r>
          </a:p>
          <a:p>
            <a:pPr algn="ctr">
              <a:lnSpc>
                <a:spcPct val="110000"/>
              </a:lnSpc>
              <a:spcAft>
                <a:spcPts val="100"/>
              </a:spcAft>
            </a:pPr>
            <a:r>
              <a:rPr sz="1100" b="0">
                <a:solidFill>
                  <a:srgbClr val="556175"/>
                </a:solidFill>
                <a:latin typeface="맑은 고딕"/>
                <a:ea typeface="맑은 고딕"/>
                <a:cs typeface="맑은 고딕"/>
              </a:rPr>
              <a:t>시작 사건에서 최종 결과까지</a:t>
            </a:r>
          </a:p>
          <a:p>
            <a:pPr algn="ctr">
              <a:lnSpc>
                <a:spcPct val="110000"/>
              </a:lnSpc>
              <a:spcAft>
                <a:spcPts val="100"/>
              </a:spcAft>
            </a:pPr>
            <a:r>
              <a:rPr sz="1100" b="0">
                <a:solidFill>
                  <a:srgbClr val="556175"/>
                </a:solidFill>
                <a:latin typeface="맑은 고딕"/>
                <a:ea typeface="맑은 고딕"/>
                <a:cs typeface="맑은 고딕"/>
              </a:rPr>
              <a:t>끝난 시점: 명령 CMD-1010-0001-01d1, 유온 51.3 ℃, 작업지시 WO-1010-1198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설비와 조직과 목표가 바뀌면 프로세스도 달라져야 하며,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a:t>
            </a:r>
          </a:p>
          <a:p>
            <a:pPr algn="l">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다루는 대상</a:t>
            </a:r>
          </a:p>
          <a:p>
            <a:pPr algn="l">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BPMN: 프로세스를 그리는</a:t>
            </a:r>
          </a:p>
          <a:p>
            <a:pPr algn="l">
              <a:lnSpc>
                <a:spcPct val="110000"/>
              </a:lnSpc>
            </a:pPr>
            <a:r>
              <a:rPr sz="3400" b="1">
                <a:solidFill>
                  <a:srgbClr val="13294B"/>
                </a:solidFill>
                <a:latin typeface="맑은 고딕"/>
                <a:ea typeface="맑은 고딕"/>
                <a:cs typeface="맑은 고딕"/>
              </a:rPr>
              <a:t>표준 표기법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순서, 갈림, 책임자를 누구나 같은 뜻으로 읽게 하는 도형과 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문장으로 적으면 갈림과 책임자와 기다림이 글 속에 묻혀, 읽는 사람마다 다른 흐름을 떠올린다.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갈림이 묻힌다</a:t>
            </a:r>
          </a:p>
          <a:p>
            <a:pPr algn="l">
              <a:lnSpc>
                <a:spcPct val="110000"/>
              </a:lnSpc>
              <a:spcAft>
                <a:spcPts val="400"/>
              </a:spcAft>
            </a:pPr>
            <a:r>
              <a:rPr sz="1400" b="0">
                <a:solidFill>
                  <a:srgbClr val="1F2A3A"/>
                </a:solidFill>
                <a:latin typeface="맑은 고딕"/>
                <a:ea typeface="맑은 고딕"/>
                <a:cs typeface="맑은 고딕"/>
              </a:rPr>
              <a:t>「~하면」과 「아니면」이</a:t>
            </a:r>
          </a:p>
          <a:p>
            <a:pPr algn="l">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책임자가 묻힌다</a:t>
            </a:r>
          </a:p>
          <a:p>
            <a:pPr algn="l">
              <a:lnSpc>
                <a:spcPct val="110000"/>
              </a:lnSpc>
              <a:spcAft>
                <a:spcPts val="400"/>
              </a:spcAft>
            </a:pPr>
            <a:r>
              <a:rPr sz="1400" b="0">
                <a:solidFill>
                  <a:srgbClr val="1F2A3A"/>
                </a:solidFill>
                <a:latin typeface="맑은 고딕"/>
                <a:ea typeface="맑은 고딕"/>
                <a:cs typeface="맑은 고딕"/>
              </a:rPr>
              <a:t>재관측과 보고를 누가 하는지</a:t>
            </a:r>
          </a:p>
          <a:p>
            <a:pPr algn="l">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다르게 읽힌다</a:t>
            </a:r>
          </a:p>
          <a:p>
            <a:pPr algn="l">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BPMN</a:t>
            </a:r>
          </a:p>
          <a:p>
            <a:pPr algn="l">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읽는 쪽</a:t>
            </a:r>
          </a:p>
          <a:p>
            <a:pPr algn="l">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현업 담당자는 업무를 확인하는 그림으로, 프로세스를 실행하는 소프트웨어는 설계도로 같은 그림을 읽는다.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레인 셋 위에 시작 이벤트 하나, 작업 아홉, 게이트웨이 둘, 끝 이벤트 셋으로 그려진다.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흐름_전체.svg" descr="illust_245099278732312661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8407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무엇으로 시작해 어떻게 끝나는지는 원으로 그린 이벤트가 알려 주고, 테두리의 굵기가 시작과 끝을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이벤트.svg" descr="illust_237526013061757984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Start Event</a:t>
            </a:r>
          </a:p>
          <a:p>
            <a:pPr algn="ctr">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Message Start Event</a:t>
            </a:r>
          </a:p>
          <a:p>
            <a:pPr algn="ctr">
              <a:lnSpc>
                <a:spcPct val="110000"/>
              </a:lnSpc>
              <a:spcAft>
                <a:spcPts val="100"/>
              </a:spcAft>
            </a:pPr>
            <a:r>
              <a:rPr sz="1300" b="0">
                <a:solidFill>
                  <a:srgbClr val="556175"/>
                </a:solidFill>
                <a:latin typeface="맑은 고딕"/>
                <a:ea typeface="맑은 고딕"/>
                <a:cs typeface="맑은 고딕"/>
              </a:rPr>
              <a:t>메시지를 받으면 연다</a:t>
            </a:r>
          </a:p>
          <a:p>
            <a:pPr algn="ctr">
              <a:lnSpc>
                <a:spcPct val="110000"/>
              </a:lnSpc>
              <a:spcAft>
                <a:spcPts val="100"/>
              </a:spcAft>
            </a:pPr>
            <a:r>
              <a:rPr sz="1300" b="0">
                <a:solidFill>
                  <a:srgbClr val="556175"/>
                </a:solidFill>
                <a:latin typeface="맑은 고딕"/>
                <a:ea typeface="맑은 고딕"/>
                <a:cs typeface="맑은 고딕"/>
              </a:rPr>
              <a:t>예: 쿨러 과열 경보 — 쿨러 성능 저하 경보의 도착</a:t>
            </a:r>
          </a:p>
        </p:txBody>
      </p:sp>
      <p:sp>
        <p:nvSpPr>
          <p:cNvPr id="9" name="TextBox 8"/>
          <p:cNvSpPr txBox="1"/>
          <p:nvPr/>
        </p:nvSpPr>
        <p:spPr>
          <a:xfrm>
            <a:off x="8135923" y="4464100"/>
            <a:ext cx="283646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End Event</a:t>
            </a:r>
          </a:p>
          <a:p>
            <a:pPr algn="ctr">
              <a:lnSpc>
                <a:spcPct val="110000"/>
              </a:lnSpc>
              <a:spcAft>
                <a:spcPts val="100"/>
              </a:spcAft>
            </a:pPr>
            <a:r>
              <a:rPr sz="1300" b="0">
                <a:solidFill>
                  <a:srgbClr val="556175"/>
                </a:solidFill>
                <a:latin typeface="맑은 고딕"/>
                <a:ea typeface="맑은 고딕"/>
                <a:cs typeface="맑은 고딕"/>
              </a:rPr>
              <a:t>한 갈래를 닫는 사건</a:t>
            </a:r>
          </a:p>
          <a:p>
            <a:pPr algn="ctr">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 상자의 왼쪽 위 표식을 보면 그 일을 사람이 하는지 시스템이 하는지를 그림만으로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작업종류.svg" descr="illust_8249504461086160684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Task · 표식 없음</a:t>
            </a:r>
          </a:p>
          <a:p>
            <a:pPr algn="ctr">
              <a:lnSpc>
                <a:spcPct val="110000"/>
              </a:lnSpc>
              <a:spcAft>
                <a:spcPts val="100"/>
              </a:spcAft>
            </a:pPr>
            <a:r>
              <a:rPr sz="1300" b="0">
                <a:solidFill>
                  <a:srgbClr val="556175"/>
                </a:solidFill>
                <a:latin typeface="맑은 고딕"/>
                <a:ea typeface="맑은 고딕"/>
                <a:cs typeface="맑은 고딕"/>
              </a:rPr>
              <a:t>맡을 쪽을 실행 전에 지정한다</a:t>
            </a:r>
          </a:p>
          <a:p>
            <a:pPr algn="ctr">
              <a:lnSpc>
                <a:spcPct val="110000"/>
              </a:lnSpc>
              <a:spcAft>
                <a:spcPts val="100"/>
              </a:spcAft>
            </a:pPr>
            <a:r>
              <a:rPr sz="1300" b="0">
                <a:solidFill>
                  <a:srgbClr val="556175"/>
                </a:solidFill>
                <a:latin typeface="맑은 고딕"/>
                <a:ea typeface="맑은 고딕"/>
                <a:cs typeface="맑은 고딕"/>
              </a:rPr>
              <a:t>에이전트에게 맡길 작업이 이 모양이다</a:t>
            </a:r>
          </a:p>
        </p:txBody>
      </p:sp>
      <p:sp>
        <p:nvSpPr>
          <p:cNvPr id="11" name="TextBox 10"/>
          <p:cNvSpPr txBox="1"/>
          <p:nvPr/>
        </p:nvSpPr>
        <p:spPr>
          <a:xfrm>
            <a:off x="4786708" y="4369551"/>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User Task · 사람 표식</a:t>
            </a:r>
          </a:p>
          <a:p>
            <a:pPr algn="ctr">
              <a:lnSpc>
                <a:spcPct val="110000"/>
              </a:lnSpc>
              <a:spcAft>
                <a:spcPts val="100"/>
              </a:spcAft>
            </a:pPr>
            <a:r>
              <a:rPr sz="1300" b="0">
                <a:solidFill>
                  <a:srgbClr val="556175"/>
                </a:solidFill>
                <a:latin typeface="맑은 고딕"/>
                <a:ea typeface="맑은 고딕"/>
                <a:cs typeface="맑은 고딕"/>
              </a:rPr>
              <a:t>사람이 수행하고</a:t>
            </a:r>
          </a:p>
          <a:p>
            <a:pPr algn="ctr">
              <a:lnSpc>
                <a:spcPct val="110000"/>
              </a:lnSpc>
              <a:spcAft>
                <a:spcPts val="100"/>
              </a:spcAft>
            </a:pPr>
            <a:r>
              <a:rPr sz="1300" b="0">
                <a:solidFill>
                  <a:srgbClr val="556175"/>
                </a:solidFill>
                <a:latin typeface="맑은 고딕"/>
                <a:ea typeface="맑은 고딕"/>
                <a:cs typeface="맑은 고딕"/>
              </a:rPr>
              <a:t>끝났음을 알린다</a:t>
            </a:r>
          </a:p>
        </p:txBody>
      </p:sp>
      <p:sp>
        <p:nvSpPr>
          <p:cNvPr id="12" name="TextBox 11"/>
          <p:cNvSpPr txBox="1"/>
          <p:nvPr/>
        </p:nvSpPr>
        <p:spPr>
          <a:xfrm>
            <a:off x="8332294" y="4369551"/>
            <a:ext cx="261827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Service Task · 톱니 표식</a:t>
            </a:r>
          </a:p>
          <a:p>
            <a:pPr algn="ctr">
              <a:lnSpc>
                <a:spcPct val="110000"/>
              </a:lnSpc>
              <a:spcAft>
                <a:spcPts val="100"/>
              </a:spcAft>
            </a:pPr>
            <a:r>
              <a:rPr sz="1300" b="0">
                <a:solidFill>
                  <a:srgbClr val="556175"/>
                </a:solidFill>
                <a:latin typeface="맑은 고딕"/>
                <a:ea typeface="맑은 고딕"/>
                <a:cs typeface="맑은 고딕"/>
              </a:rPr>
              <a:t>시스템이 자동으로 수행한다</a:t>
            </a:r>
          </a:p>
        </p:txBody>
      </p:sp>
      <p:sp>
        <p:nvSpPr>
          <p:cNvPr id="13" name="TextBox 12"/>
          <p:cNvSpPr txBox="1"/>
          <p:nvPr/>
        </p:nvSpPr>
        <p:spPr>
          <a:xfrm>
            <a:off x="1513859" y="1769455"/>
            <a:ext cx="916397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활동(Activity)은 프로세스 안에서 수행되는 일이고, 작업(Task)은 더 쪼개지지 않는 활동이다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게이트웨이.svg" descr="illust_4918724443172084992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시퀀스 흐름</a:t>
            </a:r>
          </a:p>
          <a:p>
            <a:pPr algn="ctr">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Exclusive Gateway</a:t>
            </a:r>
          </a:p>
          <a:p>
            <a:pPr algn="ctr">
              <a:lnSpc>
                <a:spcPct val="110000"/>
              </a:lnSpc>
              <a:spcAft>
                <a:spcPts val="100"/>
              </a:spcAft>
            </a:pPr>
            <a:r>
              <a:rPr sz="1300" b="0">
                <a:solidFill>
                  <a:srgbClr val="556175"/>
                </a:solidFill>
                <a:latin typeface="맑은 고딕"/>
                <a:ea typeface="맑은 고딕"/>
                <a:cs typeface="맑은 고딕"/>
              </a:rPr>
              <a:t>나가는 선 가운데 하나만 고른다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갈림의 조건은 앞 작업이 낸 값을 견주는 식이어서, 같은 값이면 누가 언제 실행해도 같은 갈래로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작업을 누가 맡는지는 글로 적지 않고 칸으로 나타내어, 풀 안의 레인 가운데 작업이 놓인 칸이 곧 맡는 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풀과레인.svg" descr="illust_187969722797179652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풀</a:t>
            </a:r>
          </a:p>
          <a:p>
            <a:pPr algn="ctr">
              <a:lnSpc>
                <a:spcPct val="110000"/>
              </a:lnSpc>
              <a:spcAft>
                <a:spcPts val="100"/>
              </a:spcAft>
            </a:pPr>
            <a:r>
              <a:rPr sz="1300" b="0">
                <a:solidFill>
                  <a:srgbClr val="556175"/>
                </a:solidFill>
                <a:latin typeface="맑은 고딕"/>
                <a:ea typeface="맑은 고딕"/>
                <a:cs typeface="맑은 고딕"/>
              </a:rPr>
              <a:t>Pool</a:t>
            </a:r>
          </a:p>
          <a:p>
            <a:pPr algn="ctr">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레인</a:t>
            </a:r>
          </a:p>
          <a:p>
            <a:pPr algn="ctr">
              <a:lnSpc>
                <a:spcPct val="110000"/>
              </a:lnSpc>
              <a:spcAft>
                <a:spcPts val="100"/>
              </a:spcAft>
            </a:pPr>
            <a:r>
              <a:rPr sz="1300" b="0">
                <a:solidFill>
                  <a:srgbClr val="556175"/>
                </a:solidFill>
                <a:latin typeface="맑은 고딕"/>
                <a:ea typeface="맑은 고딕"/>
                <a:cs typeface="맑은 고딕"/>
              </a:rPr>
              <a:t>Lane</a:t>
            </a:r>
          </a:p>
          <a:p>
            <a:pPr algn="ctr">
              <a:lnSpc>
                <a:spcPct val="110000"/>
              </a:lnSpc>
              <a:spcAft>
                <a:spcPts val="100"/>
              </a:spcAft>
            </a:pPr>
            <a:r>
              <a:rPr sz="1300" b="0">
                <a:solidFill>
                  <a:srgbClr val="556175"/>
                </a:solidFill>
                <a:latin typeface="맑은 고딕"/>
                <a:ea typeface="맑은 고딕"/>
                <a:cs typeface="맑은 고딕"/>
              </a:rPr>
              <a:t>풀 안에서 책임을 나누는 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경계타이머.svg" descr="illust_437951641887700998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중단형</a:t>
            </a:r>
          </a:p>
          <a:p>
            <a:pPr algn="ctr">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비중단형</a:t>
            </a:r>
          </a:p>
          <a:p>
            <a:pPr algn="ctr">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작업을 끊고 다른 가지로 간다</a:t>
            </a:r>
          </a:p>
        </p:txBody>
      </p:sp>
      <p:sp>
        <p:nvSpPr>
          <p:cNvPr id="10" name="TextBox 9"/>
          <p:cNvSpPr txBox="1"/>
          <p:nvPr/>
        </p:nvSpPr>
        <p:spPr>
          <a:xfrm>
            <a:off x="6423132"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작업은 두고 가지를 하나 더 연다</a:t>
            </a:r>
          </a:p>
        </p:txBody>
      </p:sp>
      <p:sp>
        <p:nvSpPr>
          <p:cNvPr id="11" name="TextBox 10"/>
          <p:cNvSpPr txBox="1"/>
          <p:nvPr/>
        </p:nvSpPr>
        <p:spPr>
          <a:xfrm>
            <a:off x="4077591"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승인자리.svg" descr="illust_3095212046329642470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4765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기한 10분 · 비중단형</a:t>
            </a:r>
          </a:p>
        </p:txBody>
      </p:sp>
      <p:sp>
        <p:nvSpPr>
          <p:cNvPr id="14" name="TextBox 13"/>
          <p:cNvSpPr txBox="1"/>
          <p:nvPr/>
        </p:nvSpPr>
        <p:spPr>
          <a:xfrm>
            <a:off x="7732271" y="2667670"/>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SCADA · sys:scada</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CMMS · sys:cmms</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오케스트레이션:</a:t>
            </a:r>
          </a:p>
          <a:p>
            <a:pPr algn="l">
              <a:lnSpc>
                <a:spcPct val="110000"/>
              </a:lnSpc>
            </a:pPr>
            <a:r>
              <a:rPr sz="3400" b="1">
                <a:solidFill>
                  <a:srgbClr val="13294B"/>
                </a:solidFill>
                <a:latin typeface="맑은 고딕"/>
                <a:ea typeface="맑은 고딕"/>
                <a:cs typeface="맑은 고딕"/>
              </a:rPr>
              <a:t>설계한 프로세스의 실행</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그림이 실제 경보에서 한 단계씩 수행되고 기록되는 방식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다음 작업 열기</a:t>
            </a:r>
          </a:p>
          <a:p>
            <a:pPr algn="l">
              <a:lnSpc>
                <a:spcPct val="110000"/>
              </a:lnSpc>
              <a:spcAft>
                <a:spcPts val="400"/>
              </a:spcAft>
            </a:pPr>
            <a:r>
              <a:rPr sz="14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넘기기</a:t>
            </a:r>
          </a:p>
          <a:p>
            <a:pPr algn="l">
              <a:lnSpc>
                <a:spcPct val="110000"/>
              </a:lnSpc>
              <a:spcAft>
                <a:spcPts val="400"/>
              </a:spcAft>
            </a:pPr>
            <a:r>
              <a:rPr sz="14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위치 기억하기</a:t>
            </a:r>
          </a:p>
          <a:p>
            <a:pPr algn="l">
              <a:lnSpc>
                <a:spcPct val="110000"/>
              </a:lnSpc>
              <a:spcAft>
                <a:spcPts val="400"/>
              </a:spcAft>
            </a:pPr>
            <a:r>
              <a:rPr sz="14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엔진</a:t>
            </a:r>
          </a:p>
          <a:p>
            <a:pPr algn="l">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a:lnSpc>
                <a:spcPct val="110000"/>
              </a:lnSpc>
              <a:spcAft>
                <a:spcPts val="300"/>
              </a:spcAft>
            </a:pPr>
            <a:r>
              <a:rPr sz="1400" b="0">
                <a:solidFill>
                  <a:srgbClr val="1F2A3A"/>
                </a:solidFill>
                <a:latin typeface="맑은 고딕"/>
                <a:ea typeface="맑은 고딕"/>
                <a:cs typeface="맑은 고딕"/>
              </a:rPr>
              <a:t>HYD에서는 process 서비스가 이 일을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오케스트레이션</a:t>
            </a:r>
          </a:p>
          <a:p>
            <a:pPr algn="l">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오케스트라의 지휘자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a:lnSpc>
                <a:spcPct val="110000"/>
              </a:lnSpc>
              <a:spcAft>
                <a:spcPts val="300"/>
              </a:spcAft>
            </a:pPr>
            <a:r>
              <a:rPr sz="1400" b="0">
                <a:solidFill>
                  <a:srgbClr val="1F2A3A"/>
                </a:solidFill>
                <a:latin typeface="맑은 고딕"/>
                <a:ea typeface="맑은 고딕"/>
                <a:cs typeface="맑은 고딕"/>
              </a:rPr>
              <a:t>다른 점: 엔진은 차례를 알리는 데 그치지 않고 작업의 결과를 받아 다음 작업에 넘기고 기록한다.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정의와인스턴스.svg" descr="illust_6530329613629442560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정의</a:t>
            </a:r>
          </a:p>
          <a:p>
            <a:pPr algn="ctr">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c3_cooling</a:t>
            </a:r>
          </a:p>
          <a:p>
            <a:pPr algn="ctr">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인스턴스</a:t>
            </a:r>
          </a:p>
          <a:p>
            <a:pPr algn="ctr">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32aca7de… 승인되어 끝남</a:t>
            </a:r>
          </a:p>
        </p:txBody>
      </p:sp>
      <p:sp>
        <p:nvSpPr>
          <p:cNvPr id="11" name="TextBox 10"/>
          <p:cNvSpPr txBox="1"/>
          <p:nvPr/>
        </p:nvSpPr>
        <p:spPr>
          <a:xfrm>
            <a:off x="6968607" y="3792803"/>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968607" y="517321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bede0d2e… 승인 대기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a:t>
            </a:r>
          </a:p>
          <a:p>
            <a:pPr algn="ctr">
              <a:lnSpc>
                <a:spcPct val="110000"/>
              </a:lnSpc>
              <a:spcAft>
                <a:spcPts val="400"/>
              </a:spcAft>
            </a:pPr>
            <a:r>
              <a:rPr sz="1350" b="0">
                <a:solidFill>
                  <a:srgbClr val="1F2A3A"/>
                </a:solidFill>
                <a:latin typeface="맑은 고딕"/>
                <a:ea typeface="맑은 고딕"/>
                <a:cs typeface="맑은 고딕"/>
              </a:rPr>
              <a:t>프로세스 정의를</a:t>
            </a:r>
          </a:p>
          <a:p>
            <a:pPr algn="ctr">
              <a:lnSpc>
                <a:spcPct val="110000"/>
              </a:lnSpc>
              <a:spcAft>
                <a:spcPts val="400"/>
              </a:spcAft>
            </a:pPr>
            <a:r>
              <a:rPr sz="1350" b="0">
                <a:solidFill>
                  <a:srgbClr val="1F2A3A"/>
                </a:solidFill>
                <a:latin typeface="맑은 고딕"/>
                <a:ea typeface="맑은 고딕"/>
                <a:cs typeface="맑은 고딕"/>
              </a:rPr>
              <a:t>새 판본으로 저장한다</a:t>
            </a:r>
          </a:p>
          <a:p>
            <a:pPr algn="ctr">
              <a:lnSpc>
                <a:spcPct val="110000"/>
              </a:lnSpc>
              <a:spcAft>
                <a:spcPts val="400"/>
              </a:spcAft>
            </a:pPr>
            <a:r>
              <a:rPr sz="13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배포</a:t>
            </a:r>
          </a:p>
          <a:p>
            <a:pPr algn="ctr">
              <a:lnSpc>
                <a:spcPct val="110000"/>
              </a:lnSpc>
              <a:spcAft>
                <a:spcPts val="400"/>
              </a:spcAft>
            </a:pPr>
            <a:r>
              <a:rPr sz="1350" b="0">
                <a:solidFill>
                  <a:srgbClr val="1F2A3A"/>
                </a:solidFill>
                <a:latin typeface="맑은 고딕"/>
                <a:ea typeface="맑은 고딕"/>
                <a:cs typeface="맑은 고딕"/>
              </a:rPr>
              <a:t>경보를 받을 판본을</a:t>
            </a:r>
          </a:p>
          <a:p>
            <a:pPr algn="ctr">
              <a:lnSpc>
                <a:spcPct val="110000"/>
              </a:lnSpc>
              <a:spcAft>
                <a:spcPts val="400"/>
              </a:spcAft>
            </a:pPr>
            <a:r>
              <a:rPr sz="13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경보가 오면</a:t>
            </a:r>
          </a:p>
          <a:p>
            <a:pPr algn="ctr">
              <a:lnSpc>
                <a:spcPct val="110000"/>
              </a:lnSpc>
              <a:spcAft>
                <a:spcPts val="400"/>
              </a:spcAft>
            </a:pPr>
            <a:r>
              <a:rPr sz="1350" b="0">
                <a:solidFill>
                  <a:srgbClr val="1F2A3A"/>
                </a:solidFill>
                <a:latin typeface="맑은 고딕"/>
                <a:ea typeface="맑은 고딕"/>
                <a:cs typeface="맑은 고딕"/>
              </a:rPr>
              <a:t>배포된 판본으로</a:t>
            </a:r>
          </a:p>
          <a:p>
            <a:pPr algn="ctr">
              <a:lnSpc>
                <a:spcPct val="110000"/>
              </a:lnSpc>
              <a:spcAft>
                <a:spcPts val="400"/>
              </a:spcAft>
            </a:pPr>
            <a:r>
              <a:rPr sz="13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판본 고정</a:t>
            </a:r>
          </a:p>
          <a:p>
            <a:pPr algn="ctr">
              <a:lnSpc>
                <a:spcPct val="110000"/>
              </a:lnSpc>
              <a:spcAft>
                <a:spcPts val="400"/>
              </a:spcAft>
            </a:pPr>
            <a:r>
              <a:rPr sz="1350" b="0">
                <a:solidFill>
                  <a:srgbClr val="1F2A3A"/>
                </a:solidFill>
                <a:latin typeface="맑은 고딕"/>
                <a:ea typeface="맑은 고딕"/>
                <a:cs typeface="맑은 고딕"/>
              </a:rPr>
              <a:t>열린 처리 건은</a:t>
            </a:r>
          </a:p>
          <a:p>
            <a:pPr algn="ctr">
              <a:lnSpc>
                <a:spcPct val="110000"/>
              </a:lnSpc>
              <a:spcAft>
                <a:spcPts val="400"/>
              </a:spcAft>
            </a:pPr>
            <a:r>
              <a:rPr sz="1350" b="0">
                <a:solidFill>
                  <a:srgbClr val="1F2A3A"/>
                </a:solidFill>
                <a:latin typeface="맑은 고딕"/>
                <a:ea typeface="맑은 고딕"/>
                <a:cs typeface="맑은 고딕"/>
              </a:rPr>
              <a:t>자기 판본으로</a:t>
            </a:r>
          </a:p>
          <a:p>
            <a:pPr algn="ctr">
              <a:lnSpc>
                <a:spcPct val="110000"/>
              </a:lnSpc>
              <a:spcAft>
                <a:spcPts val="400"/>
              </a:spcAft>
            </a:pPr>
            <a:r>
              <a:rPr sz="1350" b="0">
                <a:solidFill>
                  <a:srgbClr val="1F2A3A"/>
                </a:solidFill>
                <a:latin typeface="맑은 고딕"/>
                <a:ea typeface="맑은 고딕"/>
                <a:cs typeface="맑은 고딕"/>
              </a:rPr>
              <a:t>끝까지 간다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간단한 승인 절차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bpmn.io로 정비 요청의 승인 절차를 BPMN으로 그린다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만들어지는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정비 요청에서 승인 종료와 거절 종결까지를 그린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시작</a:t>
            </a:r>
          </a:p>
          <a:p>
            <a:pPr algn="ctr">
              <a:lnSpc>
                <a:spcPct val="110000"/>
              </a:lnSpc>
              <a:spcAft>
                <a:spcPts val="400"/>
              </a:spcAft>
            </a:pPr>
            <a:r>
              <a:rPr sz="1350" b="0">
                <a:solidFill>
                  <a:srgbClr val="1F2A3A"/>
                </a:solidFill>
                <a:latin typeface="맑은 고딕"/>
                <a:ea typeface="맑은 고딕"/>
                <a:cs typeface="맑은 고딕"/>
              </a:rPr>
              <a:t>정비 요청이</a:t>
            </a:r>
          </a:p>
          <a:p>
            <a:pPr algn="ctr">
              <a:lnSpc>
                <a:spcPct val="110000"/>
              </a:lnSpc>
              <a:spcAft>
                <a:spcPts val="400"/>
              </a:spcAft>
            </a:pPr>
            <a:r>
              <a:rPr sz="1350" b="0">
                <a:solidFill>
                  <a:srgbClr val="1F2A3A"/>
                </a:solidFill>
                <a:latin typeface="맑은 고딕"/>
                <a:ea typeface="맑은 고딕"/>
                <a:cs typeface="맑은 고딕"/>
              </a:rPr>
              <a:t>프로세스를 연다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a:t>
            </a:r>
          </a:p>
          <a:p>
            <a:pPr algn="ctr">
              <a:lnSpc>
                <a:spcPct val="110000"/>
              </a:lnSpc>
              <a:spcAft>
                <a:spcPts val="400"/>
              </a:spcAft>
            </a:pPr>
            <a:r>
              <a:rPr sz="1350" b="0">
                <a:solidFill>
                  <a:srgbClr val="1F2A3A"/>
                </a:solidFill>
                <a:latin typeface="맑은 고딕"/>
                <a:ea typeface="맑은 고딕"/>
                <a:cs typeface="맑은 고딕"/>
              </a:rPr>
              <a:t>담당자가</a:t>
            </a:r>
          </a:p>
          <a:p>
            <a:pPr algn="ctr">
              <a:lnSpc>
                <a:spcPct val="110000"/>
              </a:lnSpc>
              <a:spcAft>
                <a:spcPts val="400"/>
              </a:spcAft>
            </a:pPr>
            <a:r>
              <a:rPr sz="1350" b="0">
                <a:solidFill>
                  <a:srgbClr val="1F2A3A"/>
                </a:solidFill>
                <a:latin typeface="맑은 고딕"/>
                <a:ea typeface="맑은 고딕"/>
                <a:cs typeface="맑은 고딕"/>
              </a:rPr>
              <a:t>요청을 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갈림</a:t>
            </a:r>
          </a:p>
          <a:p>
            <a:pPr algn="ctr">
              <a:lnSpc>
                <a:spcPct val="110000"/>
              </a:lnSpc>
              <a:spcAft>
                <a:spcPts val="400"/>
              </a:spcAft>
            </a:pPr>
            <a:r>
              <a:rPr sz="1350" b="0">
                <a:solidFill>
                  <a:srgbClr val="1F2A3A"/>
                </a:solidFill>
                <a:latin typeface="맑은 고딕"/>
                <a:ea typeface="맑은 고딕"/>
                <a:cs typeface="맑은 고딕"/>
              </a:rPr>
              <a:t>승인 여부에 따라</a:t>
            </a:r>
          </a:p>
          <a:p>
            <a:pPr algn="ctr">
              <a:lnSpc>
                <a:spcPct val="110000"/>
              </a:lnSpc>
              <a:spcAft>
                <a:spcPts val="400"/>
              </a:spcAft>
            </a:pPr>
            <a:r>
              <a:rPr sz="1350" b="0">
                <a:solidFill>
                  <a:srgbClr val="1F2A3A"/>
                </a:solidFill>
                <a:latin typeface="맑은 고딕"/>
                <a:ea typeface="맑은 고딕"/>
                <a:cs typeface="맑은 고딕"/>
              </a:rPr>
              <a:t>두 갈래로 나뉜다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두 개의 끝</a:t>
            </a:r>
          </a:p>
          <a:p>
            <a:pPr algn="ctr">
              <a:lnSpc>
                <a:spcPct val="110000"/>
              </a:lnSpc>
              <a:spcAft>
                <a:spcPts val="400"/>
              </a:spcAft>
            </a:pPr>
            <a:r>
              <a:rPr sz="1350" b="0">
                <a:solidFill>
                  <a:srgbClr val="1F2A3A"/>
                </a:solidFill>
                <a:latin typeface="맑은 고딕"/>
                <a:ea typeface="맑은 고딕"/>
                <a:cs typeface="맑은 고딕"/>
              </a:rPr>
              <a:t>승인 종료와</a:t>
            </a:r>
          </a:p>
          <a:p>
            <a:pPr algn="ctr">
              <a:lnSpc>
                <a:spcPct val="110000"/>
              </a:lnSpc>
              <a:spcAft>
                <a:spcPts val="400"/>
              </a:spcAft>
            </a:pPr>
            <a:r>
              <a:rPr sz="1350" b="0">
                <a:solidFill>
                  <a:srgbClr val="1F2A3A"/>
                </a:solidFill>
                <a:latin typeface="맑은 고딕"/>
                <a:ea typeface="맑은 고딕"/>
                <a:cs typeface="맑은 고딕"/>
              </a:rPr>
              <a:t>거절 종결에</a:t>
            </a:r>
          </a:p>
          <a:p>
            <a:pPr algn="ctr">
              <a:lnSpc>
                <a:spcPct val="110000"/>
              </a:lnSpc>
              <a:spcAft>
                <a:spcPts val="400"/>
              </a:spcAft>
            </a:pPr>
            <a:r>
              <a:rPr sz="1350" b="0">
                <a:solidFill>
                  <a:srgbClr val="1F2A3A"/>
                </a:solidFill>
                <a:latin typeface="맑은 고딕"/>
                <a:ea typeface="맑은 고딕"/>
                <a:cs typeface="맑은 고딕"/>
              </a:rPr>
              <a:t>각각 닿는다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긴급 대응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성능 저하 경보에서 결과 보고까지의 작업을 레인별로 놓아 설비 이상 대응의 흐름을 그린다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나누는 레인과 잇는 작업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작업을 세 레인에 나누어 놓으면 경보에서 결과 보고까지 누가 무엇을 맡는지가 그림 한 장에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레인</a:t>
            </a:r>
          </a:p>
          <a:p>
            <a:pPr algn="l">
              <a:lnSpc>
                <a:spcPct val="110000"/>
              </a:lnSpc>
              <a:spcAft>
                <a:spcPts val="400"/>
              </a:spcAft>
            </a:pPr>
            <a:r>
              <a:rPr sz="1400" b="0">
                <a:solidFill>
                  <a:srgbClr val="1F2A3A"/>
                </a:solidFill>
                <a:latin typeface="맑은 고딕"/>
                <a:ea typeface="맑은 고딕"/>
                <a:cs typeface="맑은 고딕"/>
              </a:rPr>
              <a:t>풀 하나에 담당자, 에이전트, 시스템의 세 칸을 둔다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책임</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작업의 순서</a:t>
            </a:r>
          </a:p>
          <a:p>
            <a:pPr algn="l">
              <a:lnSpc>
                <a:spcPct val="110000"/>
              </a:lnSpc>
              <a:spcAft>
                <a:spcPts val="400"/>
              </a:spcAft>
            </a:pPr>
            <a:r>
              <a:rPr sz="1400" b="0">
                <a:solidFill>
                  <a:srgbClr val="1F2A3A"/>
                </a:solidFill>
                <a:latin typeface="맑은 고딕"/>
                <a:ea typeface="맑은 고딕"/>
                <a:cs typeface="맑은 고딕"/>
              </a:rPr>
              <a:t>쿨러 성능 저하 경보의 시작에서 진단과 제안, 운전원 승인, 냉각 명령, 재관측, 결과 보고까지 잇는다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흐름</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400" b="0">
                <a:solidFill>
                  <a:srgbClr val="1F2A3A"/>
                </a:solidFill>
                <a:latin typeface="맑은 고딕"/>
                <a:ea typeface="맑은 고딕"/>
                <a:cs typeface="맑은 고딕"/>
              </a:rPr>
              <a:t>작업마다 맡는 쪽이 정해진 설비 이상 대응 프로세스의 BPMN 파일</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승인과 거절의 갈림과</a:t>
            </a:r>
          </a:p>
          <a:p>
            <a:pPr algn="l">
              <a:lnSpc>
                <a:spcPct val="110000"/>
              </a:lnSpc>
            </a:pPr>
            <a:r>
              <a:rPr sz="3400" b="1">
                <a:solidFill>
                  <a:srgbClr val="13294B"/>
                </a:solidFill>
                <a:latin typeface="맑은 고딕"/>
                <a:ea typeface="맑은 고딕"/>
                <a:cs typeface="맑은 고딕"/>
              </a:rPr>
              <a:t>지연 알림 더하기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승인과 거절의 게이트웨이, 승인 지연 타이머, 갈래마다의 끝 이벤트를 더하고 거절의 경로를 검토한다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요소와 검토하는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갈래에서 냉각 명령에 닿는 선이 하나도 없어야, 승인되지 않은 조치가 설비로 나가지 않는 그림이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갈림</a:t>
            </a:r>
          </a:p>
          <a:p>
            <a:pPr algn="l">
              <a:lnSpc>
                <a:spcPct val="110000"/>
              </a:lnSpc>
              <a:spcAft>
                <a:spcPts val="400"/>
              </a:spcAft>
            </a:pPr>
            <a:r>
              <a:rPr sz="1350" b="0">
                <a:solidFill>
                  <a:srgbClr val="1F2A3A"/>
                </a:solidFill>
                <a:latin typeface="맑은 고딕"/>
                <a:ea typeface="맑은 고딕"/>
                <a:cs typeface="맑은 고딕"/>
              </a:rPr>
              <a:t>운전원 승인 뒤에 승인과 거절을 가르는 배타 게이트웨이를 놓는다</a:t>
            </a:r>
          </a:p>
        </p:txBody>
      </p:sp>
      <p:sp>
        <p:nvSpPr>
          <p:cNvPr id="10" name="Rounded Rectangle 9"/>
          <p:cNvSpPr/>
          <p:nvPr/>
        </p:nvSpPr>
        <p:spPr>
          <a:xfrm>
            <a:off x="777240" y="5029771"/>
            <a:ext cx="11277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게이트웨이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clock" descr="cloc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지연 알림</a:t>
            </a:r>
          </a:p>
          <a:p>
            <a:pPr algn="l">
              <a:lnSpc>
                <a:spcPct val="110000"/>
              </a:lnSpc>
              <a:spcAft>
                <a:spcPts val="400"/>
              </a:spcAft>
            </a:pPr>
            <a:r>
              <a:rPr sz="1350" b="0">
                <a:solidFill>
                  <a:srgbClr val="1F2A3A"/>
                </a:solidFill>
                <a:latin typeface="맑은 고딕"/>
                <a:ea typeface="맑은 고딕"/>
                <a:cs typeface="맑은 고딕"/>
              </a:rPr>
              <a:t>승인 작업에 승인을 끊지 않는 비중단형 타이머와 알림 가지를 붙인다</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타이머</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circle-check" descr="circle-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끝 이벤트</a:t>
            </a:r>
          </a:p>
          <a:p>
            <a:pPr algn="l">
              <a:lnSpc>
                <a:spcPct val="110000"/>
              </a:lnSpc>
              <a:spcAft>
                <a:spcPts val="400"/>
              </a:spcAft>
            </a:pPr>
            <a:r>
              <a:rPr sz="1350" b="0">
                <a:solidFill>
                  <a:srgbClr val="1F2A3A"/>
                </a:solidFill>
                <a:latin typeface="맑은 고딕"/>
                <a:ea typeface="맑은 고딕"/>
                <a:cs typeface="맑은 고딕"/>
              </a:rPr>
              <a:t>끝, 거절 종결, 알림의 세 끝 이벤트를 갈래마다 따로 둔다</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zoom-check" descr="zoom-chec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경로의 검토</a:t>
            </a:r>
          </a:p>
          <a:p>
            <a:pPr algn="l">
              <a:lnSpc>
                <a:spcPct val="110000"/>
              </a:lnSpc>
              <a:spcAft>
                <a:spcPts val="400"/>
              </a:spcAft>
            </a:pPr>
            <a:r>
              <a:rPr sz="1350" b="0">
                <a:solidFill>
                  <a:srgbClr val="1F2A3A"/>
                </a:solidFill>
                <a:latin typeface="맑은 고딕"/>
                <a:ea typeface="맑은 고딕"/>
                <a:cs typeface="맑은 고딕"/>
              </a:rPr>
              <a:t>거절의 갈래를 따라가 냉각 명령에 닿는 선이 없는지 확인한다</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그린 흐름을 에이전트와 시스템에 연결하기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프로세스에 시작 조건과 맡을 쪽을 정해 등록하고 배포한다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배포되는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그린 프로세스가 쿨러 경보를 받도록 등록되고 배포된 상태가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시작 조건</a:t>
            </a:r>
          </a:p>
          <a:p>
            <a:pPr algn="ctr">
              <a:lnSpc>
                <a:spcPct val="110000"/>
              </a:lnSpc>
              <a:spcAft>
                <a:spcPts val="400"/>
              </a:spcAft>
            </a:pPr>
            <a:r>
              <a:rPr sz="1250" b="0">
                <a:solidFill>
                  <a:srgbClr val="1F2A3A"/>
                </a:solidFill>
                <a:latin typeface="맑은 고딕"/>
                <a:ea typeface="맑은 고딕"/>
                <a:cs typeface="맑은 고딕"/>
              </a:rPr>
              <a:t>이 프로세스를 열</a:t>
            </a:r>
          </a:p>
          <a:p>
            <a:pPr algn="ctr">
              <a:lnSpc>
                <a:spcPct val="110000"/>
              </a:lnSpc>
              <a:spcAft>
                <a:spcPts val="400"/>
              </a:spcAft>
            </a:pPr>
            <a:r>
              <a:rPr sz="1250" b="0">
                <a:solidFill>
                  <a:srgbClr val="1F2A3A"/>
                </a:solidFill>
                <a:latin typeface="맑은 고딕"/>
                <a:ea typeface="맑은 고딕"/>
                <a:cs typeface="맑은 고딕"/>
              </a:rPr>
              <a:t>경보를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users" descr="users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맡을 쪽</a:t>
            </a:r>
          </a:p>
          <a:p>
            <a:pPr algn="ctr">
              <a:lnSpc>
                <a:spcPct val="110000"/>
              </a:lnSpc>
              <a:spcAft>
                <a:spcPts val="400"/>
              </a:spcAft>
            </a:pPr>
            <a:r>
              <a:rPr sz="1250" b="0">
                <a:solidFill>
                  <a:srgbClr val="1F2A3A"/>
                </a:solidFill>
                <a:latin typeface="맑은 고딕"/>
                <a:ea typeface="맑은 고딕"/>
                <a:cs typeface="맑은 고딕"/>
              </a:rPr>
              <a:t>작업마다 에이전트,</a:t>
            </a:r>
          </a:p>
          <a:p>
            <a:pPr algn="ctr">
              <a:lnSpc>
                <a:spcPct val="110000"/>
              </a:lnSpc>
              <a:spcAft>
                <a:spcPts val="400"/>
              </a:spcAft>
            </a:pPr>
            <a:r>
              <a:rPr sz="1250" b="0">
                <a:solidFill>
                  <a:srgbClr val="1F2A3A"/>
                </a:solidFill>
                <a:latin typeface="맑은 고딕"/>
                <a:ea typeface="맑은 고딕"/>
                <a:cs typeface="맑은 고딕"/>
              </a:rPr>
              <a:t>운전원 역할,</a:t>
            </a:r>
          </a:p>
          <a:p>
            <a:pPr algn="ctr">
              <a:lnSpc>
                <a:spcPct val="110000"/>
              </a:lnSpc>
              <a:spcAft>
                <a:spcPts val="400"/>
              </a:spcAft>
            </a:pPr>
            <a:r>
              <a:rPr sz="1250" b="0">
                <a:solidFill>
                  <a:srgbClr val="1F2A3A"/>
                </a:solidFill>
                <a:latin typeface="맑은 고딕"/>
                <a:ea typeface="맑은 고딕"/>
                <a:cs typeface="맑은 고딕"/>
              </a:rPr>
              <a:t>시스템을 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조건과 기한</a:t>
            </a:r>
          </a:p>
          <a:p>
            <a:pPr algn="ctr">
              <a:lnSpc>
                <a:spcPct val="110000"/>
              </a:lnSpc>
              <a:spcAft>
                <a:spcPts val="400"/>
              </a:spcAft>
            </a:pPr>
            <a:r>
              <a:rPr sz="1250" b="0">
                <a:solidFill>
                  <a:srgbClr val="1F2A3A"/>
                </a:solidFill>
                <a:latin typeface="맑은 고딕"/>
                <a:ea typeface="맑은 고딕"/>
                <a:cs typeface="맑은 고딕"/>
              </a:rPr>
              <a:t>갈림의 조건과</a:t>
            </a:r>
          </a:p>
          <a:p>
            <a:pPr algn="ctr">
              <a:lnSpc>
                <a:spcPct val="110000"/>
              </a:lnSpc>
              <a:spcAft>
                <a:spcPts val="400"/>
              </a:spcAft>
            </a:pPr>
            <a:r>
              <a:rPr sz="1250" b="0">
                <a:solidFill>
                  <a:srgbClr val="1F2A3A"/>
                </a:solidFill>
                <a:latin typeface="맑은 고딕"/>
                <a:ea typeface="맑은 고딕"/>
                <a:cs typeface="맑은 고딕"/>
              </a:rPr>
              <a:t>타이머의 기간을</a:t>
            </a:r>
          </a:p>
          <a:p>
            <a:pPr algn="ctr">
              <a:lnSpc>
                <a:spcPct val="110000"/>
              </a:lnSpc>
              <a:spcAft>
                <a:spcPts val="400"/>
              </a:spcAft>
            </a:pPr>
            <a:r>
              <a:rPr sz="1250" b="0">
                <a:solidFill>
                  <a:srgbClr val="1F2A3A"/>
                </a:solidFill>
                <a:latin typeface="맑은 고딕"/>
                <a:ea typeface="맑은 고딕"/>
                <a:cs typeface="맑은 고딕"/>
              </a:rPr>
              <a:t>넣는다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사전 검사</a:t>
            </a:r>
          </a:p>
          <a:p>
            <a:pPr algn="ctr">
              <a:lnSpc>
                <a:spcPct val="110000"/>
              </a:lnSpc>
              <a:spcAft>
                <a:spcPts val="400"/>
              </a:spcAft>
            </a:pPr>
            <a:r>
              <a:rPr sz="1250" b="0">
                <a:solidFill>
                  <a:srgbClr val="1F2A3A"/>
                </a:solidFill>
                <a:latin typeface="맑은 고딕"/>
                <a:ea typeface="맑은 고딕"/>
                <a:cs typeface="맑은 고딕"/>
              </a:rPr>
              <a:t>빠진 연결이 없는지</a:t>
            </a:r>
          </a:p>
          <a:p>
            <a:pPr algn="ctr">
              <a:lnSpc>
                <a:spcPct val="110000"/>
              </a:lnSpc>
              <a:spcAft>
                <a:spcPts val="400"/>
              </a:spcAft>
            </a:pPr>
            <a:r>
              <a:rPr sz="1250" b="0">
                <a:solidFill>
                  <a:srgbClr val="1F2A3A"/>
                </a:solidFill>
                <a:latin typeface="맑은 고딕"/>
                <a:ea typeface="맑은 고딕"/>
                <a:cs typeface="맑은 고딕"/>
              </a:rPr>
              <a:t>등록 전에 검사한다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rocket" descr="rocket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등록과 배포</a:t>
            </a:r>
          </a:p>
          <a:p>
            <a:pPr algn="ctr">
              <a:lnSpc>
                <a:spcPct val="110000"/>
              </a:lnSpc>
              <a:spcAft>
                <a:spcPts val="400"/>
              </a:spcAft>
            </a:pPr>
            <a:r>
              <a:rPr sz="1250" b="0">
                <a:solidFill>
                  <a:srgbClr val="1F2A3A"/>
                </a:solidFill>
                <a:latin typeface="맑은 고딕"/>
                <a:ea typeface="맑은 고딕"/>
                <a:cs typeface="맑은 고딕"/>
              </a:rPr>
              <a:t>판본으로 등록하고</a:t>
            </a:r>
          </a:p>
          <a:p>
            <a:pPr algn="ctr">
              <a:lnSpc>
                <a:spcPct val="110000"/>
              </a:lnSpc>
              <a:spcAft>
                <a:spcPts val="400"/>
              </a:spcAft>
            </a:pPr>
            <a:r>
              <a:rPr sz="1250" b="0">
                <a:solidFill>
                  <a:srgbClr val="1F2A3A"/>
                </a:solidFill>
                <a:latin typeface="맑은 고딕"/>
                <a:ea typeface="맑은 고딕"/>
                <a:cs typeface="맑은 고딕"/>
              </a:rPr>
              <a:t>경보를 받도록</a:t>
            </a:r>
          </a:p>
          <a:p>
            <a:pPr algn="ctr">
              <a:lnSpc>
                <a:spcPct val="110000"/>
              </a:lnSpc>
              <a:spcAft>
                <a:spcPts val="400"/>
              </a:spcAft>
            </a:pPr>
            <a:r>
              <a:rPr sz="1250" b="0">
                <a:solidFill>
                  <a:srgbClr val="1F2A3A"/>
                </a:solidFill>
                <a:latin typeface="맑은 고딕"/>
                <a:ea typeface="맑은 고딕"/>
                <a:cs typeface="맑은 고딕"/>
              </a:rPr>
              <a:t>배포한다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약어의 정식 명칭과 그 약어가 프로세스의 설계와 실행에서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Management</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고쳐 가는 관리 방법</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Model and Notation</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그리는 표기 표준</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SCADA</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Supervisory Control and Data Acquisition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명령을 PLC에 전하는 시스템</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CMMS</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Computerized Maintenance Management System</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작업지시를 등록하는 시스템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같은 경보가 두 번 왔을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오전에 쿨러 성능 저하 경보가 두 번 났고, 한 건은 승인되어 끝났으며 다른 한 건은 운전원의 승인을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두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경보가 올 때마다 프로세스 정의가 하나씩 새로 만들어졌다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같은 프로세스 정의에서 인스턴스가 둘 만들어져 따로 진행된다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먼저 끝난 건의 승인이 기다리는 건에도 그대로 적용된다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정의 하나로는 한 건만 진행할 수 있으므로 둘째 건은 열리지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그림에서 읽는 냉각 명령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 그림에서 냉각 명령은 시스템 레인에 놓여 톱니 표식이 있고, 그 앞에 승인? 게이트웨이가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냉각 명령에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명령은 시스템이 수행하는 서비스 작업이며 승인의 갈래에서만 열린다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명령은 운전원이 직접 수행하는 사용자 작업이다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명령은 에이전트가 필요하다고 판단할 때에만 열린다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거절하더라도 냉각 명령을 거쳐 결과 보고에 닿는다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냉각 명령을 시작시키는 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추천해 판단을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운전원이 승인했을 때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정의와 인스턴스의 구분, 그림의 표식과 갈림, 작업을 여는 책임의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정의는 설계도 하나이다. 경보가 올 때마다 그 정의에서 인스턴스가 하나씩 만들어져 따로 진행된다.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톱니 표식은 시스템이 수행하는 서비스 작업이다. 배타 게이트웨이는 조건이 참인 한 갈래로만 흐름을 보낸다.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 운전원은 승인까지 한다.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