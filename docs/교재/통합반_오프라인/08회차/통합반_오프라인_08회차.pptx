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7회차까지는 판단하는 에이전트를 만들고 검증했습니다. 오늘은 그 에이전트의 추천안이 사람의 승인과 시스템의 실행을 거쳐 끝난 업무가 되기까지를 프로세스로 정의하고 그립니다. 네 개의 실습에서 설비 이상 대응 프로세스를 직접 그려 실행할 수 있게 연결합니다.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에이전트가 낸 것, 곧 추천 하나와 대안과 그 이유를 묶은 것이 앞 회차에서 본 추천안입니다. 추천안은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Task는 프로세스 안의 작업 하나로, 위쪽 괄호가 가리키는 에이전트의 추천이 그 예입니다. End-to-End는 아래쪽 괄호처럼 경보라는 시작 사건에서 끝까지의 전체이며 우리말로는 종단 간이라고 합니다. 아래의 값은 긴급 대응 프로세스가 처리한 쿨러 성능 저하 경보 한 건의 기록으로, 7회차까지 본 경보와 같은 종류의 다른 한 건이어서 식별자와 값이 다릅니다. 이 처리 건에서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SCADA는 설비를 감시하고 명령을 PLC에 전하는 시스템이고, CMMS는 정비 작업지시를 관리하는 시스템입니다.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읽은 긴급 대응 프로세스의 중심 흐름을 직접 그립니다. 풀 하나에 담당자, 에이전트, 시스템의 세 레인을 두고, 쿨러 성능 저하 경보의 시작 이벤트에서 진단과 제안, 운전원 승인, 냉각 명령, 재관측, 결과 보고까지를 차례로 잇습니다. 작업을 놓은 레인이 그 작업을 맡는 쪽이 됩니다. 끝나면 이 프로세스의 BPMN 파일이 만들어지고, 셋째 실습에서 여기에 갈림과 타이머를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 실습의 그림에 사람의 결정에 따라 달라지는 경로를 더합니다. 운전원 승인 뒤에 배타 게이트웨이를 놓아 승인과 거절을 가르고, 승인의 갈래가 닿는 끝과 거절의 갈래가 닿는 거절 종결을 따로 둡니다. 승인 작업에는 비중단형 타이머를 붙여 응답이 늦을 때 알림 가지가 열려 알림의 끝에 닿게 합니다. 마지막으로 거절의 갈래를 선을 따라 끝까지 짚어, 냉각 명령으로 이어지는 선이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넷과 함께 비즈니스 프로세스, Task와 End-to-End, 이벤트, 게이트웨이, 풀과 레인, 경계 이벤트, 프로세스 엔진과 오케스트레이션, 프로세스 정의와 인스턴스가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설계도와 실행되는 한 건을 구분하는 문항입니다. 경보가 올 때 무엇이 새로 만들어지는지, 그리고 그것들이 서로 어떤 관계인지를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도형의 표식과 놓인 칸과 갈림을 읽는 문항입니다. 톱니 표식이 무엇을 뜻하는지, 배타 게이트웨이가 흐름을 몇 갈래로 보내는지를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정의와 인스턴스를 혼동한 것입니다. 둘째 문항의 2번은 톱니 표식을 사람 표식으로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8.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28.png"/><Relationship Id="rId5" Type="http://schemas.openxmlformats.org/officeDocument/2006/relationships/image" Target="../media/image26.png"/><Relationship Id="rId6" Type="http://schemas.openxmlformats.org/officeDocument/2006/relationships/image" Target="../media/image32.png"/><Relationship Id="rId7"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8회차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이상 대응 업무의</a:t>
            </a:r>
          </a:p>
          <a:p>
            <a:pPr algn="l">
              <a:lnSpc>
                <a:spcPct val="110000"/>
              </a:lnSpc>
            </a:pPr>
            <a:r>
              <a:rPr sz="4000" b="1">
                <a:solidFill>
                  <a:srgbClr val="FFFFFF"/>
                </a:solidFill>
                <a:latin typeface="맑은 고딕"/>
                <a:ea typeface="맑은 고딕"/>
                <a:cs typeface="맑은 고딕"/>
              </a:rPr>
              <a:t>프로세스 설계와 실행 준비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비즈니스 프로세스의 정의, BPMN 표기, 오케스트레이션</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실행할 수 있게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프로세스와 그것을 관리하는 BPM을 설명한다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프로세스 엔진과 오케스트레이션, 정의와 인스턴스로 그림이 실행되는 방식을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연결</a:t>
            </a:r>
          </a:p>
          <a:p>
            <a:pPr algn="l">
              <a:lnSpc>
                <a:spcPct val="110000"/>
              </a:lnSpc>
              <a:spcAft>
                <a:spcPts val="400"/>
              </a:spcAft>
            </a:pPr>
            <a:r>
              <a:rPr sz="1350" b="0">
                <a:solidFill>
                  <a:srgbClr val="1F2A3A"/>
                </a:solidFill>
                <a:latin typeface="맑은 고딕"/>
                <a:ea typeface="맑은 고딕"/>
                <a:cs typeface="맑은 고딕"/>
              </a:rPr>
              <a:t>설비 이상 대응 프로세스를 직접 그리고 에이전트, 승인 역할, 시스템에 연결해 배포한다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145389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538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95681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9659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9659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69748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69748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42900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42900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간단한 승인 절차 그리기</a:t>
            </a:r>
          </a:p>
        </p:txBody>
      </p:sp>
      <p:sp>
        <p:nvSpPr>
          <p:cNvPr id="21" name="Rounded Rectangle 2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16052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16052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긴급 대응 프로세스 그리기</a:t>
            </a:r>
          </a:p>
        </p:txBody>
      </p:sp>
      <p:sp>
        <p:nvSpPr>
          <p:cNvPr id="26" name="Rounded Rectangle 2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8920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8920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승인과 거절의 갈림과 지연 알림 더하기</a:t>
            </a:r>
          </a:p>
        </p:txBody>
      </p:sp>
      <p:sp>
        <p:nvSpPr>
          <p:cNvPr id="31" name="Rounded Rectangle 30"/>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61441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6235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6235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그린 흐름을 에이전트와 시스템에 연결하기</a:t>
            </a:r>
          </a:p>
        </p:txBody>
      </p:sp>
      <p:sp>
        <p:nvSpPr>
          <p:cNvPr id="36" name="Rounded Rectangle 35"/>
          <p:cNvSpPr/>
          <p:nvPr/>
        </p:nvSpPr>
        <p:spPr>
          <a:xfrm>
            <a:off x="10088575" y="584301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8430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8" name="TextBox 3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추천안이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운전을 권하는 추천안이 나온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471585410803719956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남은일_종단.svg" descr="illust_208952794511174238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
        <p:nvSpPr>
          <p:cNvPr id="17" name="TextBox 16"/>
          <p:cNvSpPr txBox="1"/>
          <p:nvPr/>
        </p:nvSpPr>
        <p:spPr>
          <a:xfrm>
            <a:off x="7186797" y="1769455"/>
            <a:ext cx="392741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이 기록의 처리 건</a:t>
            </a:r>
          </a:p>
          <a:p>
            <a:pPr algn="ctr">
              <a:lnSpc>
                <a:spcPct val="110000"/>
              </a:lnSpc>
              <a:spcAft>
                <a:spcPts val="100"/>
              </a:spcAft>
            </a:pPr>
            <a:r>
              <a:rPr sz="1100" b="0">
                <a:solidFill>
                  <a:srgbClr val="556175"/>
                </a:solidFill>
                <a:latin typeface="맑은 고딕"/>
                <a:ea typeface="맑은 고딕"/>
                <a:cs typeface="맑은 고딕"/>
              </a:rPr>
              <a:t>긴급 대응 프로세스가 처리한</a:t>
            </a:r>
          </a:p>
          <a:p>
            <a:pPr algn="ctr">
              <a:lnSpc>
                <a:spcPct val="110000"/>
              </a:lnSpc>
              <a:spcAft>
                <a:spcPts val="100"/>
              </a:spcAft>
            </a:pPr>
            <a:r>
              <a:rPr sz="1100" b="0">
                <a:solidFill>
                  <a:srgbClr val="556175"/>
                </a:solidFill>
                <a:latin typeface="맑은 고딕"/>
                <a:ea typeface="맑은 고딕"/>
                <a:cs typeface="맑은 고딕"/>
              </a:rPr>
              <a:t>같은 종류의 경보 한 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흐름_전체.svg" descr="illust_436207703201899301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이벤트.svg" descr="illust_805571254182544529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작업종류.svg" descr="illust_883225570831822287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게이트웨이.svg" descr="illust_892062065046799091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풀과레인.svg" descr="illust_888587926717463118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경계타이머.svg" descr="illust_305587341206414651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승인자리.svg" descr="illust_401591839939760821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정의와인스턴스.svg" descr="illust_315836659797864354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성능 저하 경보에서 결과 보고까지의 작업을 레인별로 놓아 설비 이상 대응의 흐름을 그린다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나누는 레인과 잇는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세 레인에 나누어 놓으면 경보에서 결과 보고까지 누가 무엇을 맡는지가 그림 한 장에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레인</a:t>
            </a:r>
          </a:p>
          <a:p>
            <a:pPr algn="l">
              <a:lnSpc>
                <a:spcPct val="110000"/>
              </a:lnSpc>
              <a:spcAft>
                <a:spcPts val="400"/>
              </a:spcAft>
            </a:pPr>
            <a:r>
              <a:rPr sz="1400" b="0">
                <a:solidFill>
                  <a:srgbClr val="1F2A3A"/>
                </a:solidFill>
                <a:latin typeface="맑은 고딕"/>
                <a:ea typeface="맑은 고딕"/>
                <a:cs typeface="맑은 고딕"/>
              </a:rPr>
              <a:t>풀 하나에 담당자, 에이전트, 시스템의 세 칸을 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작업의 순서</a:t>
            </a:r>
          </a:p>
          <a:p>
            <a:pPr algn="l">
              <a:lnSpc>
                <a:spcPct val="110000"/>
              </a:lnSpc>
              <a:spcAft>
                <a:spcPts val="400"/>
              </a:spcAft>
            </a:pPr>
            <a:r>
              <a:rPr sz="1400" b="0">
                <a:solidFill>
                  <a:srgbClr val="1F2A3A"/>
                </a:solidFill>
                <a:latin typeface="맑은 고딕"/>
                <a:ea typeface="맑은 고딕"/>
                <a:cs typeface="맑은 고딕"/>
              </a:rPr>
              <a:t>쿨러 성능 저하 경보의 시작에서 진단과 제안, 운전원 승인, 냉각 명령, 재관측, 결과 보고까지 잇는다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흐름</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400" b="0">
                <a:solidFill>
                  <a:srgbClr val="1F2A3A"/>
                </a:solidFill>
                <a:latin typeface="맑은 고딕"/>
                <a:ea typeface="맑은 고딕"/>
                <a:cs typeface="맑은 고딕"/>
              </a:rPr>
              <a:t>작업마다 맡는 쪽이 정해진 설비 이상 대응 프로세스의 BPMN 파일</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승인과 거절의 갈림과</a:t>
            </a:r>
          </a:p>
          <a:p>
            <a:pPr algn="l">
              <a:lnSpc>
                <a:spcPct val="110000"/>
              </a:lnSpc>
            </a:pPr>
            <a:r>
              <a:rPr sz="3400" b="1">
                <a:solidFill>
                  <a:srgbClr val="13294B"/>
                </a:solidFill>
                <a:latin typeface="맑은 고딕"/>
                <a:ea typeface="맑은 고딕"/>
                <a:cs typeface="맑은 고딕"/>
              </a:rPr>
              <a:t>지연 알림 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게이트웨이, 승인 지연 타이머, 갈래마다의 끝 이벤트를 더하고 거절의 경로를 검토한다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요소와 검토하는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갈래에서 냉각 명령에 닿는 선이 하나도 없어야, 승인되지 않은 조치가 설비로 나가지 않는 그림이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갈림</a:t>
            </a:r>
          </a:p>
          <a:p>
            <a:pPr algn="l">
              <a:lnSpc>
                <a:spcPct val="110000"/>
              </a:lnSpc>
              <a:spcAft>
                <a:spcPts val="400"/>
              </a:spcAft>
            </a:pPr>
            <a:r>
              <a:rPr sz="1350" b="0">
                <a:solidFill>
                  <a:srgbClr val="1F2A3A"/>
                </a:solidFill>
                <a:latin typeface="맑은 고딕"/>
                <a:ea typeface="맑은 고딕"/>
                <a:cs typeface="맑은 고딕"/>
              </a:rPr>
              <a:t>운전원 승인 뒤에 승인과 거절을 가르는 배타 게이트웨이를 놓는다</a:t>
            </a:r>
          </a:p>
        </p:txBody>
      </p:sp>
      <p:sp>
        <p:nvSpPr>
          <p:cNvPr id="10" name="Rounded Rectangle 9"/>
          <p:cNvSpPr/>
          <p:nvPr/>
        </p:nvSpPr>
        <p:spPr>
          <a:xfrm>
            <a:off x="777240" y="5029771"/>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지연 알림</a:t>
            </a:r>
          </a:p>
          <a:p>
            <a:pPr algn="l">
              <a:lnSpc>
                <a:spcPct val="110000"/>
              </a:lnSpc>
              <a:spcAft>
                <a:spcPts val="400"/>
              </a:spcAft>
            </a:pPr>
            <a:r>
              <a:rPr sz="1350" b="0">
                <a:solidFill>
                  <a:srgbClr val="1F2A3A"/>
                </a:solidFill>
                <a:latin typeface="맑은 고딕"/>
                <a:ea typeface="맑은 고딕"/>
                <a:cs typeface="맑은 고딕"/>
              </a:rPr>
              <a:t>승인 작업에 승인을 끊지 않는 비중단형 타이머와 알림 가지를 붙인다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끝 이벤트</a:t>
            </a:r>
          </a:p>
          <a:p>
            <a:pPr algn="l">
              <a:lnSpc>
                <a:spcPct val="110000"/>
              </a:lnSpc>
              <a:spcAft>
                <a:spcPts val="400"/>
              </a:spcAft>
            </a:pPr>
            <a:r>
              <a:rPr sz="1350" b="0">
                <a:solidFill>
                  <a:srgbClr val="1F2A3A"/>
                </a:solidFill>
                <a:latin typeface="맑은 고딕"/>
                <a:ea typeface="맑은 고딕"/>
                <a:cs typeface="맑은 고딕"/>
              </a:rPr>
              <a:t>끝, 거절 종결, 알림의 세 끝 이벤트를 갈래마다 따로 둔다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경로의 검토</a:t>
            </a:r>
          </a:p>
          <a:p>
            <a:pPr algn="l">
              <a:lnSpc>
                <a:spcPct val="110000"/>
              </a:lnSpc>
              <a:spcAft>
                <a:spcPts val="400"/>
              </a:spcAft>
            </a:pPr>
            <a:r>
              <a:rPr sz="1350" b="0">
                <a:solidFill>
                  <a:srgbClr val="1F2A3A"/>
                </a:solidFill>
                <a:latin typeface="맑은 고딕"/>
                <a:ea typeface="맑은 고딕"/>
                <a:cs typeface="맑은 고딕"/>
              </a:rPr>
              <a:t>거절의 갈래를 따라가 냉각 명령에 닿는 선이 없는지 확인한다</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그린 프로세스는 시작 조건과 맡을 쪽을 정해 등록하고 배포해야 쿨러 경보를 받아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판본으로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SCADA</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명령을 PLC에 전하는 시스템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같은 경보가 두 번 왔을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오전에 쿨러 성능 저하 경보가 두 번 났고, 한 건은 승인되어 끝났으며 다른 한 건은 운전원의 승인을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두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경보가 올 때마다 프로세스 정의가 하나씩 새로 만들어졌다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같은 프로세스 정의에서 인스턴스가 둘 만들어져 따로 진행된다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먼저 끝난 건의 승인이 기다리는 건에도 그대로 적용된다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정의 하나로는 한 건만 진행할 수 있으므로 둘째 건은 열리지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그림에서 읽는 냉각 명령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그림에서 냉각 명령은 시스템 레인에 놓여 톱니 표식이 있고, 그 앞에 승인? 게이트웨이가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냉각 명령에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시스템이 수행하는 서비스 작업이며 승인의 갈래에서만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운전원이 직접 수행하는 사용자 작업이다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에이전트가 필요하다고 판단할 때에만 열린다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거절하더라도 냉각 명령을 거쳐 결과 보고에 닿는다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정의와 인스턴스의 구분, 그림의 표식과 갈림,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정의는 설계도 하나이다. 경보가 올 때마다 그 정의에서 인스턴스가 하나씩 만들어져 따로 진행된다.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톱니 표식은 시스템이 수행하는 서비스 작업이다. 배타 게이트웨이는 조건이 참인 한 갈래로만 흐름을 보낸다.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