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경보 뒤의 판단에 왜 지식이 필요한지, 그 지식을 어떻게 적는지를 먼저 정리합니다. 이어지는 네 개의 실습에서 관계도를 그리고, 파일로 적고, 그래프 DB에서 조회하고, 기준 지식과 견주어 보완합니다.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유압 설비 HYD-01에서 쿨러의 냉각 성능이 떨어져 유온 TS1이 오른 사건을 저장된 값으로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계측과 경보 기능이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모자랐던 것을 세 낱말로 나누어 보겠습니다. 수치 그대로가 데이터, 의미가 붙은 것이 정보, 다른 대상과 이어져 판단에 쓸 수 있는 것이 지식입니다. 병원으로 치면 검사 수치, 정상 범위를 벗어났다는 표시, 의사의 진단에 해당합니다. 수치와 진단이 별개의 일이라는 점이 닮았고, 설비에서는 조치를 정할 때 생산 일정까지 함께 따진다는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값은 값을 시간 순서로 쌓는 저장소, 곧 시계열 DB인 TimescaleDB에, 운전 상태는 설비를 제어하는 PLC의 상태 메시지에, 원인 후보와 조치 방법은 설비 매뉴얼에, 생산 일정은 MES에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사람이 머릿속에서 잇는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정의로 돌아가겠습니다. 지금까지 그림에서 본 노드의 종류와 화살표가 네 가지 가운데 종류와 관계입니다. 여기에 속성과 제약이 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관계 그림에는 노드마다 원인 같은 종류와 쿨러 핀 오염 같은 실제 이름이 함께 있었습니다. 먼저 윗줄을 봅니다. 설비, 센서, 증상은 물건 하나가 아니라 종류이고, 설비라는 노드는 HYD-01도 HYD-02도 함께 가리킵니다. 다음으로 아랫줄은 손으로 가리킬 수 있는 대상 하나하나입니다. HYD-01은 설비 가운데 한 대이고 유온 센서 TS1은 센서 가운데 하나이며, 위아래 같은 자리에 놓인 것끼리 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설비 쪽의 대상을 클래스로 나누면 다섯입니다. 위의 점선 상자가 클래스이고 아래 동그라미가 그 인스턴스 하나씩입니다. 다섯 클래스의 정의와 인스턴스는 표로 한 행씩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위에서부터 한 행씩 봅니다. 설비 클래스의 인스턴스는 설비 한 대이고, 구성 요소는 설비를 이루는 쿨러, 팬, 펌프 같은 장치입니다. 센서 클래스의 인스턴스에는 태그가 붙으며, 유온 센서의 태그가 TS1입니다. 상태 변수는 온도, 압력, 진동처럼 설비의 상태를 나타내는 물리량이어서 장치가 아니라 양이라는 점이 앞의 세 클래스와 다릅니다. 부품은 정비할 때 갈아 끼우는 교체품이고 쿨러 코어는 오일 쿨러 안에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클래스는 손에 잡히는 물건에만 쓰는 것이 아닙니다. 관계 그림에 나온 증상과 고장 유형과 원인도 클래스이고, 유온 상승이나 쿨러 핀 오염이 그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속성은 대상이 갖는 값의 칸이고,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인스턴스에 무엇인가를 붙이는 방법은 둘입니다. 값을 붙이면 속성이고, 다른 인스턴스를 가리키면 관계입니다. 이 수업에서는 앞의 것을 속성, 뒤의 것을 관계라고 줄여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쿨러, 센서, 부품, 고장 유형, 조치를 노드로 놓고 관계를 이어 이름을 붙입니다. 다 그린 뒤에는 화살표마다 문장으로 읽어 뜻이 통하는지 확인합니다. 온도 값 하나가 조치로 바로 이어지지 않고 고장 유형을 거친다는 것도 그림에서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그린 관계도를 같은 기준의 파일로 옮기는 실습입니다. 목록의 항목마다 클래스인지 인스턴스인지를 가리고, 인스턴스를 서로 구별할 식별자를 정합니다. 정한 내용을 Claude Code에 요구사항으로 전달해 파일을 만들게 하고, 만들어진 파일이 관계도와 같은 뜻인지 견줍니다. 무엇을 클래스로 두고 무엇을 인스턴스로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보내는 요청을 질의라고 하며, MATCH에는 찾을 모양을, WHERE에는 조건을, RETURN에는 돌려받을 것을 적습니다. 질의를 외우는 것이 아니라 묻고 싶은 것을 노드와 관계의 모양으로 바꾸어 적는 연습입니다. 결과가 예상과 다르면 레이블과 관계 유형의 철자, 화살표의 방향을 먼저 확인합니다. HYD 포털의 지식 지도는 기준으로 제공된 지식 그래프이며, 조회한 결과를 이것과 견주어 같은 곳과 다른 곳을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견준 포털의 지식 지도를 이번에는 내 설계를 고치는 기준으로 씁니다. 내 그래프와 견주어 빠진 관계와 속성, 반대로 적은 방향을 찾습니다. 찾은 차이는 내 파일에서 직접 고칩니다. 고친 schema.json은 남겨 두고 다음 시간에 이어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쓴 용어의 정식 명칭을 한곳에 모았습니다. 뜻은 앞에서 풀었으므로 여기서는 이름과 자리만 확인합니다. 이 가운데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값에서 끝나는 것과 다른 인스턴스로 이어지는 것을 가리는 문항입니다. 단위와 유온 가운데 어느 쪽이 자기 클래스와 인스턴스를 가진 대상이었는지를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경보의 이름만으로 원인을 단정한 것입니다. 둘째 문항의 2번은 CAUSED_BY라는 이름에 방향을 원인에서 고장 유형으로 두어 뜻이 통하지 않습니다. 셋째 문항의 2번은 유온을 속성으로 넣어 계측 대상이 값에서 끝나 버립니다.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7.png"/><Relationship Id="rId6"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7.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6.png"/><Relationship Id="rId5" Type="http://schemas.openxmlformats.org/officeDocument/2006/relationships/image" Target="../media/image42.png"/><Relationship Id="rId6"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12.png"/><Relationship Id="rId5" Type="http://schemas.openxmlformats.org/officeDocument/2006/relationships/image" Target="../media/image45.png"/><Relationship Id="rId6"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7.png"/><Relationship Id="rId5" Type="http://schemas.openxmlformats.org/officeDocument/2006/relationships/image" Target="../media/image8.png"/><Relationship Id="rId6"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1회차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정보를 연결된 지식으로 표현</a:t>
            </a:r>
          </a:p>
          <a:p>
            <a:pPr algn="l">
              <a:lnSpc>
                <a:spcPct val="110000"/>
              </a:lnSpc>
            </a:pPr>
            <a:r>
              <a:rPr sz="4000" b="1">
                <a:solidFill>
                  <a:srgbClr val="FFFFFF"/>
                </a:solidFill>
                <a:latin typeface="맑은 고딕"/>
                <a:ea typeface="맑은 고딕"/>
                <a:cs typeface="맑은 고딕"/>
              </a:rPr>
              <a:t>온톨로지의 필요와 구조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데이터와 지식의 차이, 클래스와 인스턴스, 관계의 방향</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category" descr="category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arrows-right" descr="arrows-righ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뒤의 판단에 필요한 지식을 클래스, 인스턴스, 속성, 관계로 나누어 적고 네 개의 실습에서 직접 표현한다.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지식의 필요</a:t>
            </a:r>
          </a:p>
          <a:p>
            <a:pPr algn="l">
              <a:lnSpc>
                <a:spcPct val="110000"/>
              </a:lnSpc>
              <a:spcAft>
                <a:spcPts val="400"/>
              </a:spcAft>
            </a:pPr>
            <a:r>
              <a:rPr sz="1350" b="0">
                <a:solidFill>
                  <a:srgbClr val="1F2A3A"/>
                </a:solidFill>
                <a:latin typeface="맑은 고딕"/>
                <a:ea typeface="맑은 고딕"/>
                <a:cs typeface="맑은 고딕"/>
              </a:rPr>
              <a:t>경보 뒤의 판단에 값과 정보 말고 지식이 필요한 까닭을 설명한다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필요</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온톨로지의 구성</a:t>
            </a:r>
          </a:p>
          <a:p>
            <a:pPr algn="l">
              <a:lnSpc>
                <a:spcPct val="110000"/>
              </a:lnSpc>
              <a:spcAft>
                <a:spcPts val="400"/>
              </a:spcAft>
            </a:pPr>
            <a:r>
              <a:rPr sz="1350" b="0">
                <a:solidFill>
                  <a:srgbClr val="1F2A3A"/>
                </a:solidFill>
                <a:latin typeface="맑은 고딕"/>
                <a:ea typeface="맑은 고딕"/>
                <a:cs typeface="맑은 고딕"/>
              </a:rPr>
              <a:t>클래스, 인스턴스, 속성, 관계로 설비 정보를 나누어 적는다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개념</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관계의 이름과 방향을 문장으로 읽어 맞는지 가린다</a:t>
            </a:r>
          </a:p>
        </p:txBody>
      </p:sp>
      <p:sp>
        <p:nvSpPr>
          <p:cNvPr id="22" name="Rounded Rectangle 21"/>
          <p:cNvSpPr/>
          <p:nvPr/>
        </p:nvSpPr>
        <p:spPr>
          <a:xfrm>
            <a:off x="6461607" y="523894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직접 표현하기</a:t>
            </a:r>
          </a:p>
          <a:p>
            <a:pPr algn="l">
              <a:lnSpc>
                <a:spcPct val="110000"/>
              </a:lnSpc>
              <a:spcAft>
                <a:spcPts val="400"/>
              </a:spcAft>
            </a:pPr>
            <a:r>
              <a:rPr sz="1350" b="0">
                <a:solidFill>
                  <a:srgbClr val="1F2A3A"/>
                </a:solidFill>
                <a:latin typeface="맑은 고딕"/>
                <a:ea typeface="맑은 고딕"/>
                <a:cs typeface="맑은 고딕"/>
              </a:rPr>
              <a:t>• 관계도를 그리고 파일로 적는다</a:t>
            </a:r>
          </a:p>
          <a:p>
            <a:pPr algn="l">
              <a:lnSpc>
                <a:spcPct val="110000"/>
              </a:lnSpc>
              <a:spcAft>
                <a:spcPts val="400"/>
              </a:spcAft>
            </a:pPr>
            <a:r>
              <a:rPr sz="1350" b="0">
                <a:solidFill>
                  <a:srgbClr val="1F2A3A"/>
                </a:solidFill>
                <a:latin typeface="맑은 고딕"/>
                <a:ea typeface="맑은 고딕"/>
                <a:cs typeface="맑은 고딕"/>
              </a:rPr>
              <a:t>• 그래프 DB에서 조회해 기준 지식과 견주어 보완한다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이상과 원인 · 조치의 관계 그리기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정보를 같은 기준으로 구조화하기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그래프 DB에서 관계를 따라 조회하기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기준 지식과 나의 설계 비교하기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시스템이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원인후보.svg" descr="illust_122169952164320355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의미를 붙이면 정보가 되고, 정보가 다른 대상과 이어져 판단에 쓰일 수 있을 때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ash" descr="hash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데이터</a:t>
            </a:r>
          </a:p>
          <a:p>
            <a:pPr algn="ctr">
              <a:lnSpc>
                <a:spcPct val="110000"/>
              </a:lnSpc>
              <a:spcAft>
                <a:spcPts val="400"/>
              </a:spcAft>
            </a:pPr>
            <a:r>
              <a:rPr sz="1350" b="0">
                <a:solidFill>
                  <a:srgbClr val="1F2A3A"/>
                </a:solidFill>
                <a:latin typeface="맑은 고딕"/>
                <a:ea typeface="맑은 고딕"/>
                <a:cs typeface="맑은 고딕"/>
              </a:rPr>
              <a:t>개별 수치이다</a:t>
            </a:r>
          </a:p>
          <a:p>
            <a:pPr algn="ctr">
              <a:lnSpc>
                <a:spcPct val="110000"/>
              </a:lnSpc>
              <a:spcAft>
                <a:spcPts val="400"/>
              </a:spcAft>
            </a:pPr>
            <a:r>
              <a:rPr sz="1350" b="0">
                <a:solidFill>
                  <a:srgbClr val="1F2A3A"/>
                </a:solidFill>
                <a:latin typeface="맑은 고딕"/>
                <a:ea typeface="맑은 고딕"/>
                <a:cs typeface="맑은 고딕"/>
              </a:rPr>
              <a:t>55.71</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info-circle" descr="info-circle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a:t>
            </a:r>
          </a:p>
          <a:p>
            <a:pPr algn="ctr">
              <a:lnSpc>
                <a:spcPct val="110000"/>
              </a:lnSpc>
              <a:spcAft>
                <a:spcPts val="400"/>
              </a:spcAft>
            </a:pPr>
            <a:r>
              <a:rPr sz="1350" b="0">
                <a:solidFill>
                  <a:srgbClr val="1F2A3A"/>
                </a:solidFill>
                <a:latin typeface="맑은 고딕"/>
                <a:ea typeface="맑은 고딕"/>
                <a:cs typeface="맑은 고딕"/>
              </a:rPr>
              <a:t>수치에 의미를 붙인 것이다</a:t>
            </a:r>
          </a:p>
          <a:p>
            <a:pPr algn="ctr">
              <a:lnSpc>
                <a:spcPct val="110000"/>
              </a:lnSpc>
              <a:spcAft>
                <a:spcPts val="400"/>
              </a:spcAft>
            </a:pPr>
            <a:r>
              <a:rPr sz="1350" b="0">
                <a:solidFill>
                  <a:srgbClr val="1F2A3A"/>
                </a:solidFill>
                <a:latin typeface="맑은 고딕"/>
                <a:ea typeface="맑은 고딕"/>
                <a:cs typeface="맑은 고딕"/>
              </a:rPr>
              <a:t>HYD-01의 유온 TS1이 55.71 ℃로</a:t>
            </a:r>
          </a:p>
          <a:p>
            <a:pPr algn="ctr">
              <a:lnSpc>
                <a:spcPct val="110000"/>
              </a:lnSpc>
              <a:spcAft>
                <a:spcPts val="400"/>
              </a:spcAft>
            </a:pPr>
            <a:r>
              <a:rPr sz="1350" b="0">
                <a:solidFill>
                  <a:srgbClr val="1F2A3A"/>
                </a:solidFill>
                <a:latin typeface="맑은 고딕"/>
                <a:ea typeface="맑은 고딕"/>
                <a:cs typeface="맑은 고딕"/>
              </a:rPr>
              <a:t>기준 55 ℃를 넘었다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bulb" descr="bulb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a:t>
            </a:r>
          </a:p>
          <a:p>
            <a:pPr algn="ctr">
              <a:lnSpc>
                <a:spcPct val="110000"/>
              </a:lnSpc>
              <a:spcAft>
                <a:spcPts val="400"/>
              </a:spcAft>
            </a:pPr>
            <a:r>
              <a:rPr sz="1350" b="0">
                <a:solidFill>
                  <a:srgbClr val="1F2A3A"/>
                </a:solidFill>
                <a:latin typeface="맑은 고딕"/>
                <a:ea typeface="맑은 고딕"/>
                <a:cs typeface="맑은 고딕"/>
              </a:rPr>
              <a:t>판단에 쓸 수 있게 이어진 것이다</a:t>
            </a:r>
          </a:p>
          <a:p>
            <a:pPr algn="ctr">
              <a:lnSpc>
                <a:spcPct val="110000"/>
              </a:lnSpc>
              <a:spcAft>
                <a:spcPts val="400"/>
              </a:spcAft>
            </a:pPr>
            <a:r>
              <a:rPr sz="1350" b="0">
                <a:solidFill>
                  <a:srgbClr val="1F2A3A"/>
                </a:solidFill>
                <a:latin typeface="맑은 고딕"/>
                <a:ea typeface="맑은 고딕"/>
                <a:cs typeface="맑은 고딕"/>
              </a:rPr>
              <a:t>유온 상승과 냉각 효율 저하는</a:t>
            </a:r>
          </a:p>
          <a:p>
            <a:pPr algn="ctr">
              <a:lnSpc>
                <a:spcPct val="110000"/>
              </a:lnSpc>
              <a:spcAft>
                <a:spcPts val="400"/>
              </a:spcAft>
            </a:pPr>
            <a:r>
              <a:rPr sz="1350" b="0">
                <a:solidFill>
                  <a:srgbClr val="1F2A3A"/>
                </a:solidFill>
                <a:latin typeface="맑은 고딕"/>
                <a:ea typeface="맑은 고딕"/>
                <a:cs typeface="맑은 고딕"/>
              </a:rPr>
              <a:t>쿨러의 냉각 성능 상실을 가리킨다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흩어진정보.svg" descr="illust_9131362737099128264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TimescaleDB</a:t>
            </a:r>
          </a:p>
          <a:p>
            <a:pPr algn="ctr">
              <a:lnSpc>
                <a:spcPct val="110000"/>
              </a:lnSpc>
              <a:spcAft>
                <a:spcPts val="100"/>
              </a:spcAft>
            </a:pPr>
            <a:r>
              <a:rPr sz="1300" b="0">
                <a:solidFill>
                  <a:srgbClr val="556175"/>
                </a:solidFill>
                <a:latin typeface="맑은 고딕"/>
                <a:ea typeface="맑은 고딕"/>
                <a:cs typeface="맑은 고딕"/>
              </a:rPr>
              <a:t>시계열 DB · 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728376" y="5244129"/>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Programmable Logic Controller</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HYD는 Neo4j를 쓰고, 질의 언어 Cypher로 조회한다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Neo4j에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노드관계.svg" descr="illust_4577101000910598477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관계.svg" descr="illust_756259032366337786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 본 노드와 관계는 온톨로지의 종류와 관계에 해당하며, 여기에 속성과 제약이 더해져 정의가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종류</a:t>
            </a:r>
          </a:p>
          <a:p>
            <a:pPr algn="l">
              <a:lnSpc>
                <a:spcPct val="110000"/>
              </a:lnSpc>
              <a:spcAft>
                <a:spcPts val="400"/>
              </a:spcAft>
            </a:pPr>
            <a:r>
              <a:rPr sz="1350" b="0">
                <a:solidFill>
                  <a:srgbClr val="1F2A3A"/>
                </a:solidFill>
                <a:latin typeface="맑은 고딕"/>
                <a:ea typeface="맑은 고딕"/>
                <a:cs typeface="맑은 고딕"/>
              </a:rPr>
              <a:t>• 어떤 대상이 있는가를 정한다</a:t>
            </a:r>
          </a:p>
          <a:p>
            <a:pPr algn="l">
              <a:lnSpc>
                <a:spcPct val="110000"/>
              </a:lnSpc>
              <a:spcAft>
                <a:spcPts val="400"/>
              </a:spcAft>
            </a:pPr>
            <a:r>
              <a:rPr sz="1350" b="0">
                <a:solidFill>
                  <a:srgbClr val="1F2A3A"/>
                </a:solidFill>
                <a:latin typeface="맑은 고딕"/>
                <a:ea typeface="맑은 고딕"/>
                <a:cs typeface="맑은 고딕"/>
              </a:rPr>
              <a:t>• 설비, 센서, 증상, 고장 유형, 원인, 조치</a:t>
            </a:r>
          </a:p>
        </p:txBody>
      </p:sp>
      <p:sp>
        <p:nvSpPr>
          <p:cNvPr id="10" name="Rounded Rectangle 9"/>
          <p:cNvSpPr/>
          <p:nvPr/>
        </p:nvSpPr>
        <p:spPr>
          <a:xfrm>
            <a:off x="777240" y="5134356"/>
            <a:ext cx="1621536"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6215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핀 오염 = 원인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djustments-horizontal" descr="adjustments-horizontal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a:t>
            </a:r>
          </a:p>
          <a:p>
            <a:pPr algn="l">
              <a:lnSpc>
                <a:spcPct val="110000"/>
              </a:lnSpc>
              <a:spcAft>
                <a:spcPts val="400"/>
              </a:spcAft>
            </a:pPr>
            <a:r>
              <a:rPr sz="1350" b="0">
                <a:solidFill>
                  <a:srgbClr val="1F2A3A"/>
                </a:solidFill>
                <a:latin typeface="맑은 고딕"/>
                <a:ea typeface="맑은 고딕"/>
                <a:cs typeface="맑은 고딕"/>
              </a:rPr>
              <a:t>• 대상이 갖는 값의 칸을 정한다</a:t>
            </a:r>
          </a:p>
          <a:p>
            <a:pPr algn="l">
              <a:lnSpc>
                <a:spcPct val="110000"/>
              </a:lnSpc>
              <a:spcAft>
                <a:spcPts val="400"/>
              </a:spcAft>
            </a:pPr>
            <a:r>
              <a:rPr sz="1350" b="0">
                <a:solidFill>
                  <a:srgbClr val="1F2A3A"/>
                </a:solidFill>
                <a:latin typeface="맑은 고딕"/>
                <a:ea typeface="맑은 고딕"/>
                <a:cs typeface="맑은 고딕"/>
              </a:rPr>
              <a:t>• 유온이라는 대상의 단위, 정상값, 한계</a:t>
            </a:r>
          </a:p>
        </p:txBody>
      </p:sp>
      <p:sp>
        <p:nvSpPr>
          <p:cNvPr id="16" name="Rounded Rectangle 15"/>
          <p:cNvSpPr/>
          <p:nvPr/>
        </p:nvSpPr>
        <p:spPr>
          <a:xfrm>
            <a:off x="3619423" y="5134356"/>
            <a:ext cx="15880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5880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 · 48 · 65</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a:t>
            </a:r>
          </a:p>
          <a:p>
            <a:pPr algn="l">
              <a:lnSpc>
                <a:spcPct val="110000"/>
              </a:lnSpc>
              <a:spcAft>
                <a:spcPts val="400"/>
              </a:spcAft>
            </a:pPr>
            <a:r>
              <a:rPr sz="1350" b="0">
                <a:solidFill>
                  <a:srgbClr val="1F2A3A"/>
                </a:solidFill>
                <a:latin typeface="맑은 고딕"/>
                <a:ea typeface="맑은 고딕"/>
                <a:cs typeface="맑은 고딕"/>
              </a:rPr>
              <a:t>• 대상 사이의 이름 있는 연결을 정한다</a:t>
            </a:r>
          </a:p>
          <a:p>
            <a:pPr algn="l">
              <a:lnSpc>
                <a:spcPct val="110000"/>
              </a:lnSpc>
              <a:spcAft>
                <a:spcPts val="400"/>
              </a:spcAft>
            </a:pPr>
            <a:r>
              <a:rPr sz="1350" b="0">
                <a:solidFill>
                  <a:srgbClr val="1F2A3A"/>
                </a:solidFill>
                <a:latin typeface="맑은 고딕"/>
                <a:ea typeface="맑은 고딕"/>
                <a:cs typeface="맑은 고딕"/>
              </a:rPr>
              <a:t>• CAUSES, INDICATES, MITIGATED_BY</a:t>
            </a:r>
          </a:p>
        </p:txBody>
      </p:sp>
      <p:sp>
        <p:nvSpPr>
          <p:cNvPr id="22" name="Rounded Rectangle 21"/>
          <p:cNvSpPr/>
          <p:nvPr/>
        </p:nvSpPr>
        <p:spPr>
          <a:xfrm>
            <a:off x="6461607" y="5134356"/>
            <a:ext cx="125272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일으킨다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제약</a:t>
            </a:r>
          </a:p>
          <a:p>
            <a:pPr algn="l">
              <a:lnSpc>
                <a:spcPct val="110000"/>
              </a:lnSpc>
              <a:spcAft>
                <a:spcPts val="400"/>
              </a:spcAft>
            </a:pPr>
            <a:r>
              <a:rPr sz="1350" b="0">
                <a:solidFill>
                  <a:srgbClr val="1F2A3A"/>
                </a:solidFill>
                <a:latin typeface="맑은 고딕"/>
                <a:ea typeface="맑은 고딕"/>
                <a:cs typeface="맑은 고딕"/>
              </a:rPr>
              <a:t>• 지켜야 하는 조건을 정한다</a:t>
            </a:r>
          </a:p>
          <a:p>
            <a:pPr algn="l">
              <a:lnSpc>
                <a:spcPct val="110000"/>
              </a:lnSpc>
              <a:spcAft>
                <a:spcPts val="400"/>
              </a:spcAft>
            </a:pPr>
            <a:r>
              <a:rPr sz="1350" b="0">
                <a:solidFill>
                  <a:srgbClr val="1F2A3A"/>
                </a:solidFill>
                <a:latin typeface="맑은 고딕"/>
                <a:ea typeface="맑은 고딕"/>
                <a:cs typeface="맑은 고딕"/>
              </a:rPr>
              <a:t>• CAUSES는 원인에서 고장 유형으로만 잇는다</a:t>
            </a:r>
          </a:p>
        </p:txBody>
      </p:sp>
      <p:sp>
        <p:nvSpPr>
          <p:cNvPr id="28" name="Rounded Rectangle 27"/>
          <p:cNvSpPr/>
          <p:nvPr/>
        </p:nvSpPr>
        <p:spPr>
          <a:xfrm>
            <a:off x="9303791" y="5134356"/>
            <a:ext cx="1496568"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양 끝의 종류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노드에 함께 적혀 있던 종류와 이름은 대상의 유형(윗줄)과 일이 일어난 실제 대상(아랫줄)으로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유형과대상_0.svg" descr="illust_901721598486707767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2431298"/>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유형</a:t>
            </a:r>
          </a:p>
          <a:p>
            <a:pPr algn="ctr">
              <a:lnSpc>
                <a:spcPct val="110000"/>
              </a:lnSpc>
              <a:spcAft>
                <a:spcPts val="100"/>
              </a:spcAft>
            </a:pPr>
            <a:r>
              <a:rPr sz="1300" b="0">
                <a:solidFill>
                  <a:srgbClr val="556175"/>
                </a:solidFill>
                <a:latin typeface="맑은 고딕"/>
                <a:ea typeface="맑은 고딕"/>
                <a:cs typeface="맑은 고딕"/>
              </a:rPr>
              <a:t>어떤 종류의 대상이</a:t>
            </a:r>
          </a:p>
          <a:p>
            <a:pPr algn="ctr">
              <a:lnSpc>
                <a:spcPct val="110000"/>
              </a:lnSpc>
              <a:spcAft>
                <a:spcPts val="100"/>
              </a:spcAft>
            </a:pPr>
            <a:r>
              <a:rPr sz="1300" b="0">
                <a:solidFill>
                  <a:srgbClr val="556175"/>
                </a:solidFill>
                <a:latin typeface="맑은 고딕"/>
                <a:ea typeface="맑은 고딕"/>
                <a:cs typeface="맑은 고딕"/>
              </a:rPr>
              <a:t>있는가</a:t>
            </a:r>
          </a:p>
        </p:txBody>
      </p:sp>
      <p:sp>
        <p:nvSpPr>
          <p:cNvPr id="8" name="TextBox 7"/>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9" name="TextBox 8"/>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10" name="TextBox 9"/>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11" name="TextBox 10"/>
          <p:cNvSpPr txBox="1"/>
          <p:nvPr/>
        </p:nvSpPr>
        <p:spPr>
          <a:xfrm>
            <a:off x="772014" y="4605924"/>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실제 대상</a:t>
            </a:r>
          </a:p>
          <a:p>
            <a:pPr algn="ctr">
              <a:lnSpc>
                <a:spcPct val="110000"/>
              </a:lnSpc>
              <a:spcAft>
                <a:spcPts val="100"/>
              </a:spcAft>
            </a:pPr>
            <a:r>
              <a:rPr sz="1300" b="0">
                <a:solidFill>
                  <a:srgbClr val="556175"/>
                </a:solidFill>
                <a:latin typeface="맑은 고딕"/>
                <a:ea typeface="맑은 고딕"/>
                <a:cs typeface="맑은 고딕"/>
              </a:rPr>
              <a:t>어느 대상에 무슨 일이</a:t>
            </a:r>
          </a:p>
          <a:p>
            <a:pPr algn="ctr">
              <a:lnSpc>
                <a:spcPct val="110000"/>
              </a:lnSpc>
              <a:spcAft>
                <a:spcPts val="100"/>
              </a:spcAft>
            </a:pPr>
            <a:r>
              <a:rPr sz="1300" b="0">
                <a:solidFill>
                  <a:srgbClr val="556175"/>
                </a:solidFill>
                <a:latin typeface="맑은 고딕"/>
                <a:ea typeface="맑은 고딕"/>
                <a:cs typeface="맑은 고딕"/>
              </a:rPr>
              <a:t>있었는가</a:t>
            </a:r>
          </a:p>
        </p:txBody>
      </p:sp>
      <p:sp>
        <p:nvSpPr>
          <p:cNvPr id="12" name="TextBox 11"/>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3" name="TextBox 12"/>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4" name="TextBox 13"/>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관계 그림에서 노드마다 붙은 「종류」가 이것이다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유압 설비에 관한 대상은 설비, 구성 요소, 센서, 상태 변수, 부품의 다섯 클래스로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설비클래스_0.svg" descr="illust_371805019911213532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 · 설비</a:t>
            </a:r>
          </a:p>
        </p:txBody>
      </p:sp>
      <p:sp>
        <p:nvSpPr>
          <p:cNvPr id="8" name="TextBox 7"/>
          <p:cNvSpPr txBox="1"/>
          <p:nvPr/>
        </p:nvSpPr>
        <p:spPr>
          <a:xfrm>
            <a:off x="2822999" y="1816729"/>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 · 구성 요소</a:t>
            </a:r>
          </a:p>
        </p:txBody>
      </p:sp>
      <p:sp>
        <p:nvSpPr>
          <p:cNvPr id="9" name="TextBox 8"/>
          <p:cNvSpPr txBox="1"/>
          <p:nvPr/>
        </p:nvSpPr>
        <p:spPr>
          <a:xfrm>
            <a:off x="5059445"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 센서</a:t>
            </a:r>
          </a:p>
        </p:txBody>
      </p:sp>
      <p:sp>
        <p:nvSpPr>
          <p:cNvPr id="10" name="TextBox 9"/>
          <p:cNvSpPr txBox="1"/>
          <p:nvPr/>
        </p:nvSpPr>
        <p:spPr>
          <a:xfrm>
            <a:off x="7186797" y="1816729"/>
            <a:ext cx="218189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 · 상태 변수</a:t>
            </a:r>
          </a:p>
        </p:txBody>
      </p:sp>
      <p:sp>
        <p:nvSpPr>
          <p:cNvPr id="11" name="TextBox 10"/>
          <p:cNvSpPr txBox="1"/>
          <p:nvPr/>
        </p:nvSpPr>
        <p:spPr>
          <a:xfrm>
            <a:off x="9423243"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 · 부품</a:t>
            </a:r>
          </a:p>
        </p:txBody>
      </p:sp>
      <p:sp>
        <p:nvSpPr>
          <p:cNvPr id="12" name="TextBox 11"/>
          <p:cNvSpPr txBox="1"/>
          <p:nvPr/>
        </p:nvSpPr>
        <p:spPr>
          <a:xfrm>
            <a:off x="750195"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3" name="TextBox 12"/>
          <p:cNvSpPr txBox="1"/>
          <p:nvPr/>
        </p:nvSpPr>
        <p:spPr>
          <a:xfrm>
            <a:off x="2932094"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4" name="TextBox 13"/>
          <p:cNvSpPr txBox="1"/>
          <p:nvPr/>
        </p:nvSpPr>
        <p:spPr>
          <a:xfrm>
            <a:off x="5113993"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7295892"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16" name="TextBox 15"/>
          <p:cNvSpPr txBox="1"/>
          <p:nvPr/>
        </p:nvSpPr>
        <p:spPr>
          <a:xfrm>
            <a:off x="9477791"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 정의와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클래스의 정의는 그 클래스가 어떤 대상을 인스턴스로 받는지를 한 줄로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클래스</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정의</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인스턴스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Asset · 설비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한 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HYD-01 유압 파워팩</a:t>
            </a:r>
          </a:p>
          <a:p>
            <a:pPr algn="l">
              <a:lnSpc>
                <a:spcPct val="110000"/>
              </a:lnSpc>
            </a:pPr>
            <a:r>
              <a:rPr sz="1250" b="1">
                <a:solidFill>
                  <a:srgbClr val="556175"/>
                </a:solidFill>
                <a:latin typeface="맑은 고딕"/>
                <a:ea typeface="맑은 고딕"/>
                <a:cs typeface="맑은 고딕"/>
              </a:rPr>
              <a:t>asset:hyd-01</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Component · 구성 요소</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이루는 장치: 쿨러, 팬, 주 펌프, 예비 펌프, 모터, 탱크</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오일 쿨러</a:t>
            </a:r>
          </a:p>
          <a:p>
            <a:pPr algn="l">
              <a:lnSpc>
                <a:spcPct val="110000"/>
              </a:lnSpc>
            </a:pPr>
            <a:r>
              <a:rPr sz="1250" b="1">
                <a:solidFill>
                  <a:srgbClr val="556175"/>
                </a:solidFill>
                <a:latin typeface="맑은 고딕"/>
                <a:ea typeface="맑은 고딕"/>
                <a:cs typeface="맑은 고딕"/>
              </a:rPr>
              <a:t>comp:cooler</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Sensor · 센서</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재어 내놓는 계측 채널. 인스턴스에 태그가 붙는다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센서 · 태그 TS1</a:t>
            </a:r>
          </a:p>
          <a:p>
            <a:pPr algn="l">
              <a:lnSpc>
                <a:spcPct val="110000"/>
              </a:lnSpc>
            </a:pPr>
            <a:r>
              <a:rPr sz="1250" b="1">
                <a:solidFill>
                  <a:srgbClr val="556175"/>
                </a:solidFill>
                <a:latin typeface="맑은 고딕"/>
                <a:ea typeface="맑은 고딕"/>
                <a:cs typeface="맑은 고딕"/>
              </a:rPr>
              <a:t>sen:ts1</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StateVariable · 상태 변수</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설비의 물리량</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sv:ts1</a:t>
            </a:r>
          </a:p>
          <a:p>
            <a:pPr algn="l">
              <a:lnSpc>
                <a:spcPct val="110000"/>
              </a:lnSpc>
            </a:pPr>
            <a:r>
              <a:rPr sz="1250" b="1">
                <a:solidFill>
                  <a:srgbClr val="556175"/>
                </a:solidFill>
                <a:latin typeface="맑은 고딕"/>
                <a:ea typeface="맑은 고딕"/>
                <a:cs typeface="맑은 고딕"/>
              </a:rPr>
              <a:t>냉각 효율 sv:ce</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Part · 부품</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갈아 끼우는 교체 부품</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코어</a:t>
            </a:r>
          </a:p>
          <a:p>
            <a:pPr algn="l">
              <a:lnSpc>
                <a:spcPct val="110000"/>
              </a:lnSpc>
            </a:pPr>
            <a:r>
              <a:rPr sz="1250" b="1">
                <a:solidFill>
                  <a:srgbClr val="556175"/>
                </a:solidFill>
                <a:latin typeface="맑은 고딕"/>
                <a:ea typeface="맑은 고딕"/>
                <a:cs typeface="맑은 고딕"/>
              </a:rPr>
              <a:t>part:cooler-core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물건이 아닌 대상의 클래스와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 고장 유형, 원인처럼 물건이 아닌 것도 클래스이며, 유온 상승과 쿨러 핀 오염이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증상</a:t>
            </a:r>
          </a:p>
          <a:p>
            <a:pPr algn="l">
              <a:lnSpc>
                <a:spcPct val="110000"/>
              </a:lnSpc>
              <a:spcAft>
                <a:spcPts val="200"/>
              </a:spcAft>
            </a:pPr>
            <a:r>
              <a:rPr sz="1150" b="0">
                <a:solidFill>
                  <a:srgbClr val="556175"/>
                </a:solidFill>
                <a:latin typeface="맑은 고딕"/>
                <a:ea typeface="맑은 고딕"/>
                <a:cs typeface="맑은 고딕"/>
              </a:rPr>
              <a:t>Symptom</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Symptom의 인스턴스: 유온 상승, 냉각 효율 저하</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고장 유형</a:t>
            </a:r>
          </a:p>
          <a:p>
            <a:pPr algn="l">
              <a:lnSpc>
                <a:spcPct val="110000"/>
              </a:lnSpc>
              <a:spcAft>
                <a:spcPts val="200"/>
              </a:spcAft>
            </a:pPr>
            <a:r>
              <a:rPr sz="1150" b="0">
                <a:solidFill>
                  <a:srgbClr val="556175"/>
                </a:solidFill>
                <a:latin typeface="맑은 고딕"/>
                <a:ea typeface="맑은 고딕"/>
                <a:cs typeface="맑은 고딕"/>
              </a:rPr>
              <a:t>FailureMode</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FailureMode의 인스턴스: 쿨러 냉각 성능 상실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원인</a:t>
            </a:r>
          </a:p>
          <a:p>
            <a:pPr algn="l">
              <a:lnSpc>
                <a:spcPct val="110000"/>
              </a:lnSpc>
              <a:spcAft>
                <a:spcPts val="200"/>
              </a:spcAft>
            </a:pPr>
            <a:r>
              <a:rPr sz="1150" b="0">
                <a:solidFill>
                  <a:srgbClr val="556175"/>
                </a:solidFill>
                <a:latin typeface="맑은 고딕"/>
                <a:ea typeface="맑은 고딕"/>
                <a:cs typeface="맑은 고딕"/>
              </a:rPr>
              <a:t>Cause</a:t>
            </a:r>
          </a:p>
        </p:txBody>
      </p:sp>
      <p:sp>
        <p:nvSpPr>
          <p:cNvPr id="13" name="TextBox 12"/>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Cause의 인스턴스: 쿨러 핀 오염, 팬 구동 불량, 주변 온도 상승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속성_3.svg" descr="illust_255616438773787979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속성은 값에서 끝나고, 관계는 다른 인스턴스로 이어져 질의가 다음 대상으로 넘어가는 길이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orms" descr="form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데이터 속성</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인스턴스에 값을 붙인다</a:t>
            </a:r>
          </a:p>
          <a:p>
            <a:pPr algn="l">
              <a:lnSpc>
                <a:spcPct val="110000"/>
              </a:lnSpc>
              <a:spcAft>
                <a:spcPts val="600"/>
              </a:spcAft>
            </a:pPr>
            <a:r>
              <a:rPr sz="1450" b="0">
                <a:solidFill>
                  <a:srgbClr val="1F2A3A"/>
                </a:solidFill>
                <a:latin typeface="맑은 고딕"/>
                <a:ea typeface="맑은 고딕"/>
                <a:cs typeface="맑은 고딕"/>
              </a:rPr>
              <a:t>• 유온 센서의 tag는 「TS1」이다</a:t>
            </a:r>
          </a:p>
          <a:p>
            <a:pPr algn="l">
              <a:lnSpc>
                <a:spcPct val="110000"/>
              </a:lnSpc>
              <a:spcAft>
                <a:spcPts val="600"/>
              </a:spcAft>
            </a:pPr>
            <a:r>
              <a:rPr sz="1450" b="0">
                <a:solidFill>
                  <a:srgbClr val="1F2A3A"/>
                </a:solidFill>
                <a:latin typeface="맑은 고딕"/>
                <a:ea typeface="맑은 고딕"/>
                <a:cs typeface="맑은 고딕"/>
              </a:rPr>
              <a:t>• 값에서 더 따라갈 곳이 없다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s-right" descr="arrows-righ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객체 간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인스턴스를 다른 인스턴스에 잇는다</a:t>
            </a:r>
          </a:p>
          <a:p>
            <a:pPr algn="l">
              <a:lnSpc>
                <a:spcPct val="110000"/>
              </a:lnSpc>
              <a:spcAft>
                <a:spcPts val="600"/>
              </a:spcAft>
            </a:pPr>
            <a:r>
              <a:rPr sz="1450" b="0">
                <a:solidFill>
                  <a:srgbClr val="1F2A3A"/>
                </a:solidFill>
                <a:latin typeface="맑은 고딕"/>
                <a:ea typeface="맑은 고딕"/>
                <a:cs typeface="맑은 고딕"/>
              </a:rPr>
              <a:t>• 유온 센서는 유온을 읽는다</a:t>
            </a:r>
          </a:p>
          <a:p>
            <a:pPr algn="l">
              <a:lnSpc>
                <a:spcPct val="110000"/>
              </a:lnSpc>
              <a:spcAft>
                <a:spcPts val="600"/>
              </a:spcAft>
            </a:pPr>
            <a:r>
              <a:rPr sz="1450" b="0">
                <a:solidFill>
                  <a:srgbClr val="1F2A3A"/>
                </a:solidFill>
                <a:latin typeface="맑은 고딕"/>
                <a:ea typeface="맑은 고딕"/>
                <a:cs typeface="맑은 고딕"/>
              </a:rPr>
              <a:t>• 관계를 따라 다음 대상으로 넘어간다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센서, 부품, 고장 유형,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쿨러, 센서, 부품, 고장 유형,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258308"/>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a:p>
            <a:pPr algn="l">
              <a:lnSpc>
                <a:spcPct val="110000"/>
              </a:lnSpc>
              <a:spcAft>
                <a:spcPts val="400"/>
              </a:spcAft>
            </a:pPr>
            <a:r>
              <a:rPr sz="1400" b="0">
                <a:solidFill>
                  <a:srgbClr val="1F2A3A"/>
                </a:solidFill>
                <a:latin typeface="맑은 고딕"/>
                <a:ea typeface="맑은 고딕"/>
                <a:cs typeface="맑은 고딕"/>
              </a:rPr>
              <a:t>• 온도 값에서 조치로 곧바로 가는 선이 없음을 확인한다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정보를 같은 기준으로 구조화하기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 센서 목록을 클래스, 인스턴스, 식별자로 나누어 파일로 적는다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구분하고 적는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 센서 목록을 클래스, 인스턴스, 식별자로 구분해 적으면 schema.json과 노드 · 관계의 예제가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목록을 읽는다</a:t>
            </a:r>
          </a:p>
          <a:p>
            <a:pPr algn="l">
              <a:lnSpc>
                <a:spcPct val="110000"/>
              </a:lnSpc>
              <a:spcAft>
                <a:spcPts val="400"/>
              </a:spcAft>
            </a:pPr>
            <a:r>
              <a:rPr sz="1350" b="0">
                <a:solidFill>
                  <a:srgbClr val="1F2A3A"/>
                </a:solidFill>
                <a:latin typeface="맑은 고딕"/>
                <a:ea typeface="맑은 고딕"/>
                <a:cs typeface="맑은 고딕"/>
              </a:rPr>
              <a:t>제공된 설비와 센서 목록의 항목을 하나씩 읽는다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자료</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구분한다</a:t>
            </a:r>
          </a:p>
          <a:p>
            <a:pPr algn="l">
              <a:lnSpc>
                <a:spcPct val="110000"/>
              </a:lnSpc>
              <a:spcAft>
                <a:spcPts val="400"/>
              </a:spcAft>
            </a:pPr>
            <a:r>
              <a:rPr sz="1350" b="0">
                <a:solidFill>
                  <a:srgbClr val="1F2A3A"/>
                </a:solidFill>
                <a:latin typeface="맑은 고딕"/>
                <a:ea typeface="맑은 고딕"/>
                <a:cs typeface="맑은 고딕"/>
              </a:rPr>
              <a:t>• 항목마다 클래스인지 인스턴스인지 가린다</a:t>
            </a:r>
          </a:p>
          <a:p>
            <a:pPr algn="l">
              <a:lnSpc>
                <a:spcPct val="110000"/>
              </a:lnSpc>
              <a:spcAft>
                <a:spcPts val="400"/>
              </a:spcAft>
            </a:pPr>
            <a:r>
              <a:rPr sz="1350" b="0">
                <a:solidFill>
                  <a:srgbClr val="1F2A3A"/>
                </a:solidFill>
                <a:latin typeface="맑은 고딕"/>
                <a:ea typeface="맑은 고딕"/>
                <a:cs typeface="맑은 고딕"/>
              </a:rPr>
              <a:t>• 인스턴스에는 하나뿐인 값인 식별자를 붙인다</a:t>
            </a:r>
          </a:p>
        </p:txBody>
      </p:sp>
      <p:sp>
        <p:nvSpPr>
          <p:cNvPr id="16" name="Rounded Rectangle 15"/>
          <p:cNvSpPr/>
          <p:nvPr/>
        </p:nvSpPr>
        <p:spPr>
          <a:xfrm>
            <a:off x="3619423" y="5134356"/>
            <a:ext cx="16763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클래스 · 인스턴스</a:t>
            </a:r>
          </a:p>
        </p:txBody>
      </p:sp>
      <p:sp>
        <p:nvSpPr>
          <p:cNvPr id="18" name="Rounded Rectangle 17"/>
          <p:cNvSpPr/>
          <p:nvPr/>
        </p:nvSpPr>
        <p:spPr>
          <a:xfrm>
            <a:off x="6233007"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5CB8F2"/>
          </a:solidFill>
          <a:ln>
            <a:noFill/>
          </a:ln>
        </p:spPr>
        <p:txBody>
          <a:bodyPr rtlCol="0" anchor="ctr"/>
          <a:lstStyle/>
          <a:p>
            <a:pPr algn="ctr"/>
          </a:p>
        </p:txBody>
      </p:sp>
      <p:pic>
        <p:nvPicPr>
          <p:cNvPr id="20" name="아이콘:file-code" descr="file-cod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파일로 적는다</a:t>
            </a:r>
          </a:p>
          <a:p>
            <a:pPr algn="l">
              <a:lnSpc>
                <a:spcPct val="110000"/>
              </a:lnSpc>
              <a:spcAft>
                <a:spcPts val="400"/>
              </a:spcAft>
            </a:pPr>
            <a:r>
              <a:rPr sz="1350" b="0">
                <a:solidFill>
                  <a:srgbClr val="1F2A3A"/>
                </a:solidFill>
                <a:latin typeface="맑은 고딕"/>
                <a:ea typeface="맑은 고딕"/>
                <a:cs typeface="맑은 고딕"/>
              </a:rPr>
              <a:t>구분한 결과를 클래스와 관계의 정의를 적는 파일 schema.json과 노드 · 관계의 예제로 적는다</a:t>
            </a:r>
          </a:p>
        </p:txBody>
      </p:sp>
      <p:sp>
        <p:nvSpPr>
          <p:cNvPr id="22" name="Rounded Rectangle 21"/>
          <p:cNvSpPr/>
          <p:nvPr/>
        </p:nvSpPr>
        <p:spPr>
          <a:xfrm>
            <a:off x="6461607" y="513435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파일</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arrows-diff" descr="arrows-diff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관계도와 대조한다</a:t>
            </a:r>
          </a:p>
          <a:p>
            <a:pPr algn="l">
              <a:lnSpc>
                <a:spcPct val="110000"/>
              </a:lnSpc>
              <a:spcAft>
                <a:spcPts val="400"/>
              </a:spcAft>
            </a:pPr>
            <a:r>
              <a:rPr sz="1350" b="0">
                <a:solidFill>
                  <a:srgbClr val="1F2A3A"/>
                </a:solidFill>
                <a:latin typeface="맑은 고딕"/>
                <a:ea typeface="맑은 고딕"/>
                <a:cs typeface="맑은 고딕"/>
              </a:rPr>
              <a:t>앞에서 그린 관계도와 파일의 내용이 같은 뜻인지 견준다</a:t>
            </a:r>
          </a:p>
        </p:txBody>
      </p:sp>
      <p:sp>
        <p:nvSpPr>
          <p:cNvPr id="28" name="Rounded Rectangle 27"/>
          <p:cNvSpPr/>
          <p:nvPr/>
        </p:nvSpPr>
        <p:spPr>
          <a:xfrm>
            <a:off x="9303791" y="5134356"/>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그래프 DB에서 관계를 따라 조회하기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질의 언어 Cypher로 설비에 이어진 센서와 부품을 찾는다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조회하는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설비에 이어진 센서와 부품을 질의로 조회한 결과를 포털의 지식 지도와 견줄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그래프를 읽는다</a:t>
            </a:r>
          </a:p>
          <a:p>
            <a:pPr algn="l">
              <a:lnSpc>
                <a:spcPct val="110000"/>
              </a:lnSpc>
              <a:spcAft>
                <a:spcPts val="400"/>
              </a:spcAft>
            </a:pPr>
            <a:r>
              <a:rPr sz="1350" b="0">
                <a:solidFill>
                  <a:srgbClr val="1F2A3A"/>
                </a:solidFill>
                <a:latin typeface="맑은 고딕"/>
                <a:ea typeface="맑은 고딕"/>
                <a:cs typeface="맑은 고딕"/>
              </a:rPr>
              <a:t>노드의 종류를 나타내는 레이블과 속성, 관계의 유형과 방향을 확인한다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 확인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earch" descr="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단계를 조회한다</a:t>
            </a:r>
          </a:p>
          <a:p>
            <a:pPr algn="l">
              <a:lnSpc>
                <a:spcPct val="110000"/>
              </a:lnSpc>
              <a:spcAft>
                <a:spcPts val="400"/>
              </a:spcAft>
            </a:pPr>
            <a:r>
              <a:rPr sz="1350" b="0">
                <a:solidFill>
                  <a:srgbClr val="1F2A3A"/>
                </a:solidFill>
                <a:latin typeface="맑은 고딕"/>
                <a:ea typeface="맑은 고딕"/>
                <a:cs typeface="맑은 고딕"/>
              </a:rPr>
              <a:t>MATCH, WHERE, RETURN으로 설비에 이어진 센서와 부품을 찾는다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조회</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단계를 조회한다</a:t>
            </a:r>
          </a:p>
          <a:p>
            <a:pPr algn="l">
              <a:lnSpc>
                <a:spcPct val="110000"/>
              </a:lnSpc>
              <a:spcAft>
                <a:spcPts val="400"/>
              </a:spcAft>
            </a:pPr>
            <a:r>
              <a:rPr sz="1350" b="0">
                <a:solidFill>
                  <a:srgbClr val="1F2A3A"/>
                </a:solidFill>
                <a:latin typeface="맑은 고딕"/>
                <a:ea typeface="맑은 고딕"/>
                <a:cs typeface="맑은 고딕"/>
              </a:rPr>
              <a:t>관계를 이어 적어 한 번에 여러 단계를 따라간다</a:t>
            </a:r>
          </a:p>
        </p:txBody>
      </p:sp>
      <p:sp>
        <p:nvSpPr>
          <p:cNvPr id="22" name="Rounded Rectangle 21"/>
          <p:cNvSpPr/>
          <p:nvPr/>
        </p:nvSpPr>
        <p:spPr>
          <a:xfrm>
            <a:off x="6461607" y="513435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 조회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table" descr="tab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지도와 견준다</a:t>
            </a:r>
          </a:p>
          <a:p>
            <a:pPr algn="l">
              <a:lnSpc>
                <a:spcPct val="110000"/>
              </a:lnSpc>
              <a:spcAft>
                <a:spcPts val="400"/>
              </a:spcAft>
            </a:pPr>
            <a:r>
              <a:rPr sz="1350" b="0">
                <a:solidFill>
                  <a:srgbClr val="1F2A3A"/>
                </a:solidFill>
                <a:latin typeface="맑은 고딕"/>
                <a:ea typeface="맑은 고딕"/>
                <a:cs typeface="맑은 고딕"/>
              </a:rPr>
              <a:t>조회 결과를 포털의 지식 지도와 견주어 같은 곳과 다른 곳을 적는다</a:t>
            </a:r>
          </a:p>
        </p:txBody>
      </p:sp>
      <p:sp>
        <p:nvSpPr>
          <p:cNvPr id="28" name="Rounded Rectangle 27"/>
          <p:cNvSpPr/>
          <p:nvPr/>
        </p:nvSpPr>
        <p:spPr>
          <a:xfrm>
            <a:off x="9303791" y="5134356"/>
            <a:ext cx="15239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그래프의 차이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기준 지식과 나의 설계 비교하기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포털의 지식 지도와 견주어 내가 만든 설계의 빠진 부분을 보완한다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비교하고 보완하는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포털의 지식 지도를 기준으로 삼아 견주면 내 설계에서 빠진 관계와 속성, 반대로 적은 방향이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확인</a:t>
            </a:r>
          </a:p>
          <a:p>
            <a:pPr algn="ctr">
              <a:lnSpc>
                <a:spcPct val="110000"/>
              </a:lnSpc>
              <a:spcAft>
                <a:spcPts val="400"/>
              </a:spcAft>
            </a:pPr>
            <a:r>
              <a:rPr sz="1350" b="0">
                <a:solidFill>
                  <a:srgbClr val="1F2A3A"/>
                </a:solidFill>
                <a:latin typeface="맑은 고딕"/>
                <a:ea typeface="맑은 고딕"/>
                <a:cs typeface="맑은 고딕"/>
              </a:rPr>
              <a:t>HYD 포털의</a:t>
            </a:r>
          </a:p>
          <a:p>
            <a:pPr algn="ctr">
              <a:lnSpc>
                <a:spcPct val="110000"/>
              </a:lnSpc>
              <a:spcAft>
                <a:spcPts val="400"/>
              </a:spcAft>
            </a:pPr>
            <a:r>
              <a:rPr sz="1350" b="0">
                <a:solidFill>
                  <a:srgbClr val="1F2A3A"/>
                </a:solidFill>
                <a:latin typeface="맑은 고딕"/>
                <a:ea typeface="맑은 고딕"/>
                <a:cs typeface="맑은 고딕"/>
              </a:rPr>
              <a:t>지식 지도에서</a:t>
            </a:r>
          </a:p>
          <a:p>
            <a:pPr algn="ctr">
              <a:lnSpc>
                <a:spcPct val="110000"/>
              </a:lnSpc>
              <a:spcAft>
                <a:spcPts val="400"/>
              </a:spcAft>
            </a:pPr>
            <a:r>
              <a:rPr sz="1350" b="0">
                <a:solidFill>
                  <a:srgbClr val="1F2A3A"/>
                </a:solidFill>
                <a:latin typeface="맑은 고딕"/>
                <a:ea typeface="맑은 고딕"/>
                <a:cs typeface="맑은 고딕"/>
              </a:rPr>
              <a:t>제공된 관계를</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git-compare" descr="git-compar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차이 찾기</a:t>
            </a:r>
          </a:p>
          <a:p>
            <a:pPr algn="ctr">
              <a:lnSpc>
                <a:spcPct val="110000"/>
              </a:lnSpc>
              <a:spcAft>
                <a:spcPts val="400"/>
              </a:spcAft>
            </a:pPr>
            <a:r>
              <a:rPr sz="1350" b="0">
                <a:solidFill>
                  <a:srgbClr val="1F2A3A"/>
                </a:solidFill>
                <a:latin typeface="맑은 고딕"/>
                <a:ea typeface="맑은 고딕"/>
                <a:cs typeface="맑은 고딕"/>
              </a:rPr>
              <a:t>내 그래프에 없는</a:t>
            </a:r>
          </a:p>
          <a:p>
            <a:pPr algn="ctr">
              <a:lnSpc>
                <a:spcPct val="110000"/>
              </a:lnSpc>
              <a:spcAft>
                <a:spcPts val="400"/>
              </a:spcAft>
            </a:pPr>
            <a:r>
              <a:rPr sz="1350" b="0">
                <a:solidFill>
                  <a:srgbClr val="1F2A3A"/>
                </a:solidFill>
                <a:latin typeface="맑은 고딕"/>
                <a:ea typeface="맑은 고딕"/>
                <a:cs typeface="맑은 고딕"/>
              </a:rPr>
              <a:t>관계와 속성,</a:t>
            </a:r>
          </a:p>
          <a:p>
            <a:pPr algn="ctr">
              <a:lnSpc>
                <a:spcPct val="110000"/>
              </a:lnSpc>
              <a:spcAft>
                <a:spcPts val="400"/>
              </a:spcAft>
            </a:pPr>
            <a:r>
              <a:rPr sz="1350" b="0">
                <a:solidFill>
                  <a:srgbClr val="1F2A3A"/>
                </a:solidFill>
                <a:latin typeface="맑은 고딕"/>
                <a:ea typeface="맑은 고딕"/>
                <a:cs typeface="맑은 고딕"/>
              </a:rPr>
              <a:t>반대로 적은 방향을</a:t>
            </a:r>
          </a:p>
          <a:p>
            <a:pPr algn="ctr">
              <a:lnSpc>
                <a:spcPct val="110000"/>
              </a:lnSpc>
              <a:spcAft>
                <a:spcPts val="400"/>
              </a:spcAft>
            </a:pPr>
            <a:r>
              <a:rPr sz="1350" b="0">
                <a:solidFill>
                  <a:srgbClr val="1F2A3A"/>
                </a:solidFill>
                <a:latin typeface="맑은 고딕"/>
                <a:ea typeface="맑은 고딕"/>
                <a:cs typeface="맑은 고딕"/>
              </a:rPr>
              <a:t>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설계 보완</a:t>
            </a:r>
          </a:p>
          <a:p>
            <a:pPr algn="ctr">
              <a:lnSpc>
                <a:spcPct val="110000"/>
              </a:lnSpc>
              <a:spcAft>
                <a:spcPts val="400"/>
              </a:spcAft>
            </a:pPr>
            <a:r>
              <a:rPr sz="1350" b="0">
                <a:solidFill>
                  <a:srgbClr val="1F2A3A"/>
                </a:solidFill>
                <a:latin typeface="맑은 고딕"/>
                <a:ea typeface="맑은 고딕"/>
                <a:cs typeface="맑은 고딕"/>
              </a:rPr>
              <a:t>찾은 차이를</a:t>
            </a:r>
          </a:p>
          <a:p>
            <a:pPr algn="ctr">
              <a:lnSpc>
                <a:spcPct val="110000"/>
              </a:lnSpc>
              <a:spcAft>
                <a:spcPts val="400"/>
              </a:spcAft>
            </a:pPr>
            <a:r>
              <a:rPr sz="1350" b="0">
                <a:solidFill>
                  <a:srgbClr val="1F2A3A"/>
                </a:solidFill>
                <a:latin typeface="맑은 고딕"/>
                <a:ea typeface="맑은 고딕"/>
                <a:cs typeface="맑은 고딕"/>
              </a:rPr>
              <a:t>내 schema.json에</a:t>
            </a:r>
          </a:p>
          <a:p>
            <a:pPr algn="ctr">
              <a:lnSpc>
                <a:spcPct val="110000"/>
              </a:lnSpc>
              <a:spcAft>
                <a:spcPts val="400"/>
              </a:spcAft>
            </a:pPr>
            <a:r>
              <a:rPr sz="1350" b="0">
                <a:solidFill>
                  <a:srgbClr val="1F2A3A"/>
                </a:solidFill>
                <a:latin typeface="맑은 고딕"/>
                <a:ea typeface="맑은 고딕"/>
                <a:cs typeface="맑은 고딕"/>
              </a:rPr>
              <a:t>고쳐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보존</a:t>
            </a:r>
          </a:p>
          <a:p>
            <a:pPr algn="ctr">
              <a:lnSpc>
                <a:spcPct val="110000"/>
              </a:lnSpc>
              <a:spcAft>
                <a:spcPts val="400"/>
              </a:spcAft>
            </a:pPr>
            <a:r>
              <a:rPr sz="1350" b="0">
                <a:solidFill>
                  <a:srgbClr val="1F2A3A"/>
                </a:solidFill>
                <a:latin typeface="맑은 고딕"/>
                <a:ea typeface="맑은 고딕"/>
                <a:cs typeface="맑은 고딕"/>
              </a:rPr>
              <a:t>고친 파일을 남겨</a:t>
            </a:r>
          </a:p>
          <a:p>
            <a:pPr algn="ctr">
              <a:lnSpc>
                <a:spcPct val="110000"/>
              </a:lnSpc>
              <a:spcAft>
                <a:spcPts val="400"/>
              </a:spcAft>
            </a:pPr>
            <a:r>
              <a:rPr sz="1350" b="0">
                <a:solidFill>
                  <a:srgbClr val="1F2A3A"/>
                </a:solidFill>
                <a:latin typeface="맑은 고딕"/>
                <a:ea typeface="맑은 고딕"/>
                <a:cs typeface="맑은 고딕"/>
              </a:rPr>
              <a:t>다음 시간에</a:t>
            </a:r>
          </a:p>
          <a:p>
            <a:pPr algn="ctr">
              <a:lnSpc>
                <a:spcPct val="110000"/>
              </a:lnSpc>
              <a:spcAft>
                <a:spcPts val="400"/>
              </a:spcAft>
            </a:pPr>
            <a:r>
              <a:rPr sz="1350" b="0">
                <a:solidFill>
                  <a:srgbClr val="1F2A3A"/>
                </a:solidFill>
                <a:latin typeface="맑은 고딕"/>
                <a:ea typeface="맑은 고딕"/>
                <a:cs typeface="맑은 고딕"/>
              </a:rPr>
              <a:t>이어 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용어의 정식 명칭과 그 용어가 설비 지식의 표현에서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지식의 표현에서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Ontology</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대상과 관계의 정의</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Knowledge Graph</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노드와 관계의 지식</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클래스</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Class</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대상의 유형</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Instance</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실제 대상 하나</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속성</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Property</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값을 적는 칸</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PLC</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 상태의 출처</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MES</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생산 일정의 출처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속성으로 둘 것과 관계로 둘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 센서 TS1에 측정 단위 ℃와 그 센서가 재는 대상인 유온을 덧붙여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두 가지를 적는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단위는 센서의 속성으로 적고, 유온은 센서에서 유온 인스턴스로 가는 관계로 잇는다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단위와 유온을 모두 센서의 속성으로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단위와 유온을 모두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단위는 관계로 잇고, 유온은 센서의 속성으로 적는다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경보와 원인, 관계의 이름과 방향, 속성과 관계를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단위처럼 값에서 끝나는 것은 속성으로 둔다. 유온처럼 다른 인스턴스를 가리키는 것은 관계로 잇는다.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