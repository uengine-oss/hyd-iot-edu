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쌓이고,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인터록으로 설비를 세웁니다. HYD에서는 plant-sim이 설비와 PLC의 일을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코드 칸의 위쪽 태그 값을 봅니다. 센서가 잰 값이 태그마다 따로 올라오고, 유온 TS1과 냉각 효율 CE, 토출 압력 PS1과 팬 진동 VS1에는 각각 단위와 정상값이 있습니다. 이 단원은 TS1과 CE를 따라가고 PS1과 VS1은 원인을 가릴 때 다시 나옵니다. 다음으로 아래쪽 운전 상태입니다. 원격 자동 모드로 운전 중이고 팬 속도 60 %, 부하 90 %, 인터록은 통과 상태이며, 이 운전 상태는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비유 제안: 우체국의 사서함. 닮은 점은 받는 사람의 위치를 몰라도 번호만 알면 된다는 것이고, 다른 점은 브로커가 메시지를 보관하지 않고 바로 넘긴다는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비유 제안: 건물의 안내 데스크. 닮은 점은 정해진 창구를 거친다는 것이고, 다른 점은 사람을 들여보내는 것이 아니라 값을 한 방향으로 옮겨 적는다는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비유 제안: 생방송과 녹화본. 닮은 점은 하나는 그 순간에만 전달되고 하나는 나중에 다시 볼 수 있다는 것이고, 다른 점은 로그의 기록도 보존 기간이 지나면 지워진다는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세 장치를 반응하는 온도 순서로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먼저 반응하고, 그다음이 화면의 알람입니다. 마지막 65 ℃의 인터록은 설비를 세워 상태가 TRIP이 되며, 자동으로 풀리지 않고 유온이 55 ℃ 아래로 내려온 뒤 사람이 다시 걸어야 합니다. 인터록에 걸려 설비가 서기 전에 원인을 가리고 조치할 시간을 벌기 위한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cmd-gateway입니다. 명령의 형식, 유효 시간, 승인 기록, PLC의 운전 모드를 확인하고 하나라도 맞지 않으면 그 명령을 버립니다. 승인 기록을 따로 확인하므로 승인 없이 만들어진 명령은 설비에 닿지 못합니다. 다음으로 오른쪽의 PLC입니다. 관문을 지난 명령도 값이 허용 범위 안인지, 인터록에 걸려 있지 않은지를 다시 보며, 이 사건에서는 실행 완료와 인터록 통과라는 응답이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조치가 늦어진 것은 이 구간이 아니라 그 앞의 판단 구간이었습니다.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OT입니다. 설비와 PLC, 브로커, 운전 화면이 있고 멈추지 않는 것과 안전이 먼저여서, IT 쪽이 모두 멈춰도 OT 안의 제어와 운전 화면은 그대로 동작합니다. 다음으로 DMZ에는 올라가는 길을 맡은 connect-ingest와 내려가는 길을 맡은 cmd-gateway 둘뿐이며, IT 서비스가 OT의 브로커와 PLC 명령 경로에 닿는 길은 이 둘뿐입니다. 마지막으로 IT는 기록하고 분석하고 판단하는 영역입니다.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1계층과 2계층을 봅니다. 1계층이 낸 태그 값과 운전 상태를 2계층이 받아 토픽에 실린 메시지로 내며, 한 계층이 낸 것이 다음 계층이 받는 것입니다. 다음으로 3계층은 값을 올리고, 기록하고, 명령을 내리는 세 가지 일을 맡아 DMZ와 IT 두 영역에 걸쳐 있고, 4계층과 5계층이 이 계층의 기록을 읽어 일합니다. 마지막으로 4계층과 5계층은 같은 기록을 읽어 하나는 가공 데이터와 경보를 내고 하나는 값을 표에 저장합니다.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7계층이 지식을 내면 8계층의 에이전트가 그것을 조회해 근거가 붙은 추천안을 내고, 9계층은 승인된 것만 명령으로 만들어 실행한 뒤 기록을 남깁니다.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Claude Code, Python, Docker입니다.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비유 제안: 체온계의 고열 표시. 닮은 점은 열이 난다는 사실은 바로 알지만 어떤 병인지는 진찰해야 안다는 것이고, 다른 점은 이 사건에서는 응급 조치를 고르는 데에도 원인 판단이 먼저 필요했다는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 비유 제안: 병원의 검사 수치, 정상 범위를 벗어났다는 표시, 의사의 진단. 닮은 점은 수치와 진단이 별개의 일이라는 것이고, 다른 점은 설비에서는 조치를 정할 때 생산 일정까지 함께 따진다는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 경보에서 조치까지 컴퓨터는 여섯 종류의 대상을 다섯 관계로 건넜고, 숙련자가 머릿속에서 잇던 화살표가 이것입니다.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43.png"/><Relationship Id="rId7"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1.png"/><Relationship Id="rId6" Type="http://schemas.openxmlformats.org/officeDocument/2006/relationships/image" Target="../media/image41.png"/><Relationship Id="rId7"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3.png"/><Relationship Id="rId4" Type="http://schemas.openxmlformats.org/officeDocument/2006/relationships/image" Target="../media/image43.png"/><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57.png"/><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18.png"/><Relationship Id="rId5" Type="http://schemas.openxmlformats.org/officeDocument/2006/relationships/image" Target="../media/image61.png"/><Relationship Id="rId6" Type="http://schemas.openxmlformats.org/officeDocument/2006/relationships/image" Target="../media/image6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17.png"/><Relationship Id="rId7"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image" Target="../media/image65.png"/><Relationship Id="rId5"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3.png"/><Relationship Id="rId4" Type="http://schemas.openxmlformats.org/officeDocument/2006/relationships/image" Target="../media/image66.png"/><Relationship Id="rId5" Type="http://schemas.openxmlformats.org/officeDocument/2006/relationships/image" Target="../media/image6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6.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24.png"/><Relationship Id="rId4" Type="http://schemas.openxmlformats.org/officeDocument/2006/relationships/image" Target="../media/image6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68.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6.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7.png"/><Relationship Id="rId4" Type="http://schemas.openxmlformats.org/officeDocument/2006/relationships/image" Target="../media/image7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4.png"/><Relationship Id="rId4" Type="http://schemas.openxmlformats.org/officeDocument/2006/relationships/image" Target="../media/image32.png"/><Relationship Id="rId5" Type="http://schemas.openxmlformats.org/officeDocument/2006/relationships/image" Target="../media/image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38.png"/><Relationship Id="rId4" Type="http://schemas.openxmlformats.org/officeDocument/2006/relationships/image" Target="../media/image67.png"/><Relationship Id="rId5" Type="http://schemas.openxmlformats.org/officeDocument/2006/relationships/image" Target="../media/image3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7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0.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5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4.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87.png"/><Relationship Id="rId6"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8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90.png"/><Relationship Id="rId5" Type="http://schemas.openxmlformats.org/officeDocument/2006/relationships/image" Target="../media/image8.png"/><Relationship Id="rId6" Type="http://schemas.openxmlformats.org/officeDocument/2006/relationships/image" Target="../media/image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79.png"/><Relationship Id="rId4" Type="http://schemas.openxmlformats.org/officeDocument/2006/relationships/image" Target="../media/image22.png"/><Relationship Id="rId5" Type="http://schemas.openxmlformats.org/officeDocument/2006/relationships/image" Target="../media/image91.png"/><Relationship Id="rId6" Type="http://schemas.openxmlformats.org/officeDocument/2006/relationships/image" Target="../media/image5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92.png"/><Relationship Id="rId4" Type="http://schemas.openxmlformats.org/officeDocument/2006/relationships/image" Target="../media/image87.png"/><Relationship Id="rId5" Type="http://schemas.openxmlformats.org/officeDocument/2006/relationships/image" Target="../media/image93.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구성요소가 무엇을 받아 무엇을 넘기는지를 적는다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351394334248621053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685690453953744464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HYD는 현장 계측부터 승인과 실행까지를 아홉 기능 계층으로 나누고, 각 계층을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195530485884156473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192310496976887172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유압파워팩.svg" descr="illust_192310496976887172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센서 값을 읽어 설비를 제어하고, 값이 위험 수준에 이르면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plant-sim</a:t>
            </a:r>
          </a:p>
          <a:p>
            <a:pPr algn="l">
              <a:lnSpc>
                <a:spcPct val="110000"/>
              </a:lnSpc>
              <a:spcAft>
                <a:spcPts val="200"/>
              </a:spcAft>
            </a:pPr>
            <a:r>
              <a:rPr sz="1150" b="0">
                <a:solidFill>
                  <a:srgbClr val="556175"/>
                </a:solidFill>
                <a:latin typeface="맑은 고딕"/>
                <a:ea typeface="맑은 고딕"/>
                <a:cs typeface="맑은 고딕"/>
              </a:rPr>
              <a:t>설비 · PLC</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유압 파워팩 3기와 PLC의 동작을 맡는 프로그램이다.</a:t>
            </a:r>
          </a:p>
          <a:p>
            <a:pPr algn="l">
              <a:lnSpc>
                <a:spcPct val="110000"/>
              </a:lnSpc>
              <a:spcAft>
                <a:spcPts val="300"/>
              </a:spcAft>
            </a:pPr>
            <a:r>
              <a:rPr sz="1400" b="0">
                <a:solidFill>
                  <a:srgbClr val="1F2A3A"/>
                </a:solidFill>
                <a:latin typeface="맑은 고딕"/>
                <a:ea typeface="맑은 고딕"/>
                <a:cs typeface="맑은 고딕"/>
              </a:rPr>
              <a:t>이 과정에서 다루는 센서 값과 PLC의 응답은 plant-sim이 만든다.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PLC는 유온, 토출 압력, 팬 진동의 세 값 가운데 하나라도 한계를 벗어나면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65 ℃를 넘으면 정지한다</a:t>
            </a:r>
          </a:p>
        </p:txBody>
      </p:sp>
      <p:sp>
        <p:nvSpPr>
          <p:cNvPr id="10" name="Rounded Rectangle 9"/>
          <p:cNvSpPr/>
          <p:nvPr/>
        </p:nvSpPr>
        <p:spPr>
          <a:xfrm>
            <a:off x="777240" y="4824476"/>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130 bar 아래로 내려가면 정지한다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2.0 mm/s 이상이면 정지한다</a:t>
            </a:r>
          </a:p>
        </p:txBody>
      </p:sp>
      <p:sp>
        <p:nvSpPr>
          <p:cNvPr id="22" name="Rounded Rectangle 21"/>
          <p:cNvSpPr/>
          <p:nvPr/>
        </p:nvSpPr>
        <p:spPr>
          <a:xfrm>
            <a:off x="8356396" y="482447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값과 운전 상태: PLC가 올려 보내는 두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태그 값과 운전 상태를 올려 보내며, 태그 값은 정상값에 견주어야 높고 낮음을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PS1 · VS1</a:t>
            </a:r>
          </a:p>
          <a:p>
            <a:pPr algn="l">
              <a:lnSpc>
                <a:spcPct val="110000"/>
              </a:lnSpc>
              <a:spcAft>
                <a:spcPts val="400"/>
              </a:spcAft>
            </a:pPr>
            <a:r>
              <a:rPr sz="1400" b="0">
                <a:solidFill>
                  <a:srgbClr val="1F2A3A"/>
                </a:solidFill>
                <a:latin typeface="맑은 고딕"/>
                <a:ea typeface="맑은 고딕"/>
                <a:cs typeface="맑은 고딕"/>
              </a:rPr>
              <a:t>토출 압력(펌프가 내보내는 압력)은 정상 182 bar, 팬 진동(쿨러 팬의 떨림)은 정상 0.6 mm/s이다.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 interlock은 인터록에 걸리지 않았으면 PASS이다.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482774195478489732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848487"/>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PLC 쪽에서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받고 싶은 토픽을 브로커에 먼저 등록해 두면, 발행된 메시지를 브로커가 그 구독자에게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PLC 쪽에서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IT는 직접 이어져 있지 않고, 계측값은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의 connect-ingest가 받아 IT로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165055914310002954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connect-ingest는 토픽 경로에 있던 설비와 태그 이름을 본문에 넣어 </a:t>
            </a:r>
            <a:r>
              <a:rPr sz="1600" b="1">
                <a:solidFill>
                  <a:srgbClr val="1A6FC4"/>
                </a:solidFill>
                <a:latin typeface="맑은 고딕"/>
                <a:ea typeface="맑은 고딕"/>
                <a:cs typeface="맑은 고딕"/>
              </a:rPr>
              <a:t>Redpanda</a:t>
            </a:r>
            <a:r>
              <a:rPr sz="1600" b="0">
                <a:solidFill>
                  <a:srgbClr val="556175"/>
                </a:solidFill>
                <a:latin typeface="맑은 고딕"/>
                <a:ea typeface="맑은 고딕"/>
                <a:cs typeface="맑은 고딕"/>
              </a:rPr>
              <a:t>에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55.71은 경보가 난 순간의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설비별 레코드 순서를 지킨다.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Redpanda에 쌓인 값은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저장되고, detector는 같은 값을 읽어 이상을 감지한다.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3_저장감지.svg" descr="illust_126926320924136129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조건이 일정 시간</a:t>
            </a:r>
          </a:p>
          <a:p>
            <a:pPr algn="ctr">
              <a:lnSpc>
                <a:spcPct val="110000"/>
              </a:lnSpc>
              <a:spcAft>
                <a:spcPts val="100"/>
              </a:spcAft>
            </a:pPr>
            <a:r>
              <a:rPr sz="1100" b="0">
                <a:solidFill>
                  <a:srgbClr val="556175"/>
                </a:solidFill>
                <a:latin typeface="맑은 고딕"/>
                <a:ea typeface="맑은 고딕"/>
                <a:cs typeface="맑은 고딕"/>
              </a:rPr>
              <a:t>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표 tag_1s</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TimescaleDB의 표 tag_1s에는 값 하나가 시각, 설비, 태그 이름, 값의 한 행으로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조건은 두 값과 추세를 함께 보고, 그 상태가 일정 시간 이어진 뒤에야 성립해 잠깐 튄 값을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FUXA는 EMQX에서 받은 지금의 값을, Grafana는 TimescaleDB에 쌓인 이력을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순서와 인터록의 리셋: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가장 먼저 반응한다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인터록보다 먼저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상태가 TRIP이 되고 자동으로 풀리지 않는다</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데이터가 어디서 생겨 무엇을 거쳐 무엇으로 바뀌었는지를 되짚는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근거가 경보에 붙어 다닌다.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쌓인다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무엇을 하라는 내용과 함께 누가 승인했는지와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cmd-gateway와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기록은 cmd-gateway가, 범위와 인터록은 PLC가 따로 확인하여 승인 없는 명령이 설비에 닿는 것을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911096"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91109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모두 맞는 명령만 OT로</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2649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264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 더 검사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사건에서 명령은 내려간 뒤 관문과 PLC의 검사를 거쳐 1초 안에 설비에 적용되었다.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설비 명령은 담당자가 승인한 뒤에 process만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149850"/>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14985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영역별 구성요소: OT · DMZ · IT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구성요소를 영역별로 묶으면 OT와 IT가 맡는 일이 갈리고, 두 영역에 함께 닿는 것은 DMZ의 두 서비스뿐임이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8734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OT</a:t>
            </a:r>
          </a:p>
          <a:p>
            <a:pPr algn="l">
              <a:lnSpc>
                <a:spcPct val="110000"/>
              </a:lnSpc>
              <a:spcAft>
                <a:spcPts val="400"/>
              </a:spcAft>
            </a:pPr>
            <a:r>
              <a:rPr sz="1400" b="0">
                <a:solidFill>
                  <a:srgbClr val="1F2A3A"/>
                </a:solidFill>
                <a:latin typeface="맑은 고딕"/>
                <a:ea typeface="맑은 고딕"/>
                <a:cs typeface="맑은 고딕"/>
              </a:rPr>
              <a:t>• 설비 · PLC, 브로커 EMQX, 운전 화면 FUXA</a:t>
            </a:r>
          </a:p>
          <a:p>
            <a:pPr algn="l">
              <a:lnSpc>
                <a:spcPct val="110000"/>
              </a:lnSpc>
              <a:spcAft>
                <a:spcPts val="400"/>
              </a:spcAft>
            </a:pPr>
            <a:r>
              <a:rPr sz="1400" b="0">
                <a:solidFill>
                  <a:srgbClr val="1F2A3A"/>
                </a:solidFill>
                <a:latin typeface="맑은 고딕"/>
                <a:ea typeface="맑은 고딕"/>
                <a:cs typeface="맑은 고딕"/>
              </a:rPr>
              <a:t>• 설비를 직접 감시 · 제어한다</a:t>
            </a:r>
          </a:p>
          <a:p>
            <a:pPr algn="l">
              <a:lnSpc>
                <a:spcPct val="110000"/>
              </a:lnSpc>
              <a:spcAft>
                <a:spcPts val="400"/>
              </a:spcAft>
            </a:pPr>
            <a:r>
              <a:rPr sz="1400" b="0">
                <a:solidFill>
                  <a:srgbClr val="1F2A3A"/>
                </a:solidFill>
                <a:latin typeface="맑은 고딕"/>
                <a:ea typeface="맑은 고딕"/>
                <a:cs typeface="맑은 고딕"/>
              </a:rPr>
              <a:t>• 먼저 지키는 것: 가용성, 안전, 실시간성</a:t>
            </a:r>
          </a:p>
        </p:txBody>
      </p:sp>
      <p:sp>
        <p:nvSpPr>
          <p:cNvPr id="10" name="Rounded Rectangle 9"/>
          <p:cNvSpPr/>
          <p:nvPr/>
        </p:nvSpPr>
        <p:spPr>
          <a:xfrm>
            <a:off x="777240" y="5366766"/>
            <a:ext cx="121919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36676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감시 · 제어</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arrows-up-down" descr="arrows-up-dow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DMZ</a:t>
            </a:r>
          </a:p>
          <a:p>
            <a:pPr algn="l">
              <a:lnSpc>
                <a:spcPct val="110000"/>
              </a:lnSpc>
              <a:spcAft>
                <a:spcPts val="400"/>
              </a:spcAft>
            </a:pPr>
            <a:r>
              <a:rPr sz="1400" b="0">
                <a:solidFill>
                  <a:srgbClr val="1F2A3A"/>
                </a:solidFill>
                <a:latin typeface="맑은 고딕"/>
                <a:ea typeface="맑은 고딕"/>
                <a:cs typeface="맑은 고딕"/>
              </a:rPr>
              <a:t>• 올라가는 길 connect-ingest: OT의 계측값을 IT로 옮기고 OT 쪽으로는 아무것도 쓰지 않는다</a:t>
            </a:r>
          </a:p>
          <a:p>
            <a:pPr algn="l">
              <a:lnSpc>
                <a:spcPct val="110000"/>
              </a:lnSpc>
              <a:spcAft>
                <a:spcPts val="400"/>
              </a:spcAft>
            </a:pPr>
            <a:r>
              <a:rPr sz="1400" b="0">
                <a:solidFill>
                  <a:srgbClr val="1F2A3A"/>
                </a:solidFill>
                <a:latin typeface="맑은 고딕"/>
                <a:ea typeface="맑은 고딕"/>
                <a:cs typeface="맑은 고딕"/>
              </a:rPr>
              <a:t>• 내려가는 길 cmd-gateway: IT의 명령을 검사해 OT로 내보내고 통과하지 못한 명령은 버린다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서비스만</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IT</a:t>
            </a:r>
          </a:p>
          <a:p>
            <a:pPr algn="l">
              <a:lnSpc>
                <a:spcPct val="110000"/>
              </a:lnSpc>
              <a:spcAft>
                <a:spcPts val="400"/>
              </a:spcAft>
            </a:pPr>
            <a:r>
              <a:rPr sz="1400" b="0">
                <a:solidFill>
                  <a:srgbClr val="1F2A3A"/>
                </a:solidFill>
                <a:latin typeface="맑은 고딕"/>
                <a:ea typeface="맑은 고딕"/>
                <a:cs typeface="맑은 고딕"/>
              </a:rPr>
              <a:t>• Redpanda: 순서대로 보관</a:t>
            </a:r>
          </a:p>
          <a:p>
            <a:pPr algn="l">
              <a:lnSpc>
                <a:spcPct val="110000"/>
              </a:lnSpc>
              <a:spcAft>
                <a:spcPts val="400"/>
              </a:spcAft>
            </a:pPr>
            <a:r>
              <a:rPr sz="1400" b="0">
                <a:solidFill>
                  <a:srgbClr val="1F2A3A"/>
                </a:solidFill>
                <a:latin typeface="맑은 고딕"/>
                <a:ea typeface="맑은 고딕"/>
                <a:cs typeface="맑은 고딕"/>
              </a:rPr>
              <a:t>• TimescaleDB: 시각과 함께 저장</a:t>
            </a:r>
          </a:p>
          <a:p>
            <a:pPr algn="l">
              <a:lnSpc>
                <a:spcPct val="110000"/>
              </a:lnSpc>
              <a:spcAft>
                <a:spcPts val="400"/>
              </a:spcAft>
            </a:pPr>
            <a:r>
              <a:rPr sz="1400" b="0">
                <a:solidFill>
                  <a:srgbClr val="1F2A3A"/>
                </a:solidFill>
                <a:latin typeface="맑은 고딕"/>
                <a:ea typeface="맑은 고딕"/>
                <a:cs typeface="맑은 고딕"/>
              </a:rPr>
              <a:t>• detector: 이상 감지</a:t>
            </a:r>
          </a:p>
          <a:p>
            <a:pPr algn="l">
              <a:lnSpc>
                <a:spcPct val="110000"/>
              </a:lnSpc>
              <a:spcAft>
                <a:spcPts val="400"/>
              </a:spcAft>
            </a:pPr>
            <a:r>
              <a:rPr sz="1400" b="0">
                <a:solidFill>
                  <a:srgbClr val="1F2A3A"/>
                </a:solidFill>
                <a:latin typeface="맑은 고딕"/>
                <a:ea typeface="맑은 고딕"/>
                <a:cs typeface="맑은 고딕"/>
              </a:rPr>
              <a:t>• Grafana: 이력과 추세</a:t>
            </a:r>
          </a:p>
        </p:txBody>
      </p:sp>
      <p:sp>
        <p:nvSpPr>
          <p:cNvPr id="22" name="Rounded Rectangle 21"/>
          <p:cNvSpPr/>
          <p:nvPr/>
        </p:nvSpPr>
        <p:spPr>
          <a:xfrm>
            <a:off x="8356396" y="5366766"/>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 · 분석 · 판단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계층_L1-6.svg" descr="illust_792246078741064044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브로커 EMQX가 토픽으로 메시지를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plant-sim: 유압 파워팩 3기와 PLC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1~5가 받는 것과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계층이 낸 것을 다음 계층이 받으며, Layer 5까지는 값을 모으고 이상을 알릴 뿐 원인을 가리지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계층</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것과 내는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1 · 센서 네트워크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설비의 물리량과 PLC가 받아들인 설정값</a:t>
            </a:r>
          </a:p>
          <a:p>
            <a:pPr algn="l">
              <a:lnSpc>
                <a:spcPct val="110000"/>
              </a:lnSpc>
            </a:pPr>
            <a:r>
              <a:rPr sz="1400" b="0">
                <a:solidFill>
                  <a:srgbClr val="1F2A3A"/>
                </a:solidFill>
                <a:latin typeface="맑은 고딕"/>
                <a:ea typeface="맑은 고딕"/>
                <a:cs typeface="맑은 고딕"/>
              </a:rPr>
              <a:t>내는 것: 태그 값과 운전 상태</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값이 생긴다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2 · IoT 미들웨어 · MQTT</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태그 값과 운전 상태</a:t>
            </a:r>
          </a:p>
          <a:p>
            <a:pPr algn="l">
              <a:lnSpc>
                <a:spcPct val="110000"/>
              </a:lnSpc>
            </a:pPr>
            <a:r>
              <a:rPr sz="1400" b="0">
                <a:solidFill>
                  <a:srgbClr val="1F2A3A"/>
                </a:solidFill>
                <a:latin typeface="맑은 고딕"/>
                <a:ea typeface="맑은 고딕"/>
                <a:cs typeface="맑은 고딕"/>
              </a:rPr>
              <a:t>내는 것: 토픽에 실린 MQTT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메시지가 된다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3 · 이벤트 백본</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올린다: connect-ingest가 MQTT 메시지를 레코드로 옮긴다</a:t>
            </a:r>
          </a:p>
          <a:p>
            <a:pPr algn="l">
              <a:lnSpc>
                <a:spcPct val="110000"/>
              </a:lnSpc>
            </a:pPr>
            <a:r>
              <a:rPr sz="1400" b="0">
                <a:solidFill>
                  <a:srgbClr val="1F2A3A"/>
                </a:solidFill>
                <a:latin typeface="맑은 고딕"/>
                <a:ea typeface="맑은 고딕"/>
                <a:cs typeface="맑은 고딕"/>
              </a:rPr>
              <a:t>기록한다: Redpanda가 레코드를 순서대로 보관한다</a:t>
            </a:r>
          </a:p>
          <a:p>
            <a:pPr algn="l">
              <a:lnSpc>
                <a:spcPct val="110000"/>
              </a:lnSpc>
            </a:pPr>
            <a:r>
              <a:rPr sz="1400" b="0">
                <a:solidFill>
                  <a:srgbClr val="1F2A3A"/>
                </a:solidFill>
                <a:latin typeface="맑은 고딕"/>
                <a:ea typeface="맑은 고딕"/>
                <a:cs typeface="맑은 고딕"/>
              </a:rPr>
              <a:t>내린다: cmd-gateway가 검사한 명령만 내보낸다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DMZ와 IT에</a:t>
            </a:r>
          </a:p>
          <a:p>
            <a:pPr algn="l">
              <a:lnSpc>
                <a:spcPct val="110000"/>
              </a:lnSpc>
            </a:pPr>
            <a:r>
              <a:rPr sz="1250" b="1">
                <a:solidFill>
                  <a:srgbClr val="1A6FC4"/>
                </a:solidFill>
                <a:latin typeface="맑은 고딕"/>
                <a:ea typeface="맑은 고딕"/>
                <a:cs typeface="맑은 고딕"/>
              </a:rPr>
              <a:t>걸친다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4 · 스트림 처리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a:t>
            </a:r>
          </a:p>
          <a:p>
            <a:pPr algn="l">
              <a:lnSpc>
                <a:spcPct val="110000"/>
              </a:lnSpc>
            </a:pPr>
            <a:r>
              <a:rPr sz="1400" b="0">
                <a:solidFill>
                  <a:srgbClr val="1F2A3A"/>
                </a:solidFill>
                <a:latin typeface="맑은 고딕"/>
                <a:ea typeface="맑은 고딕"/>
                <a:cs typeface="맑은 고딕"/>
              </a:rPr>
              <a:t>내는 것: 기울기 같은 가공 데이터와 경보</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detector</a:t>
            </a:r>
          </a:p>
          <a:p>
            <a:pPr algn="l">
              <a:lnSpc>
                <a:spcPct val="110000"/>
              </a:lnSpc>
            </a:pPr>
            <a:r>
              <a:rPr sz="1250" b="1">
                <a:solidFill>
                  <a:srgbClr val="556175"/>
                </a:solidFill>
                <a:latin typeface="맑은 고딕"/>
                <a:ea typeface="맑은 고딕"/>
                <a:cs typeface="맑은 고딕"/>
              </a:rPr>
              <a:t>원인을 가리지는</a:t>
            </a:r>
          </a:p>
          <a:p>
            <a:pPr algn="l">
              <a:lnSpc>
                <a:spcPct val="110000"/>
              </a:lnSpc>
            </a:pPr>
            <a:r>
              <a:rPr sz="1250" b="1">
                <a:solidFill>
                  <a:srgbClr val="556175"/>
                </a:solidFill>
                <a:latin typeface="맑은 고딕"/>
                <a:ea typeface="맑은 고딕"/>
                <a:cs typeface="맑은 고딕"/>
              </a:rPr>
              <a:t>않는다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5 · 시계열 저장소</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값과 경보</a:t>
            </a:r>
          </a:p>
          <a:p>
            <a:pPr algn="l">
              <a:lnSpc>
                <a:spcPct val="110000"/>
              </a:lnSpc>
            </a:pPr>
            <a:r>
              <a:rPr sz="1400" b="0">
                <a:solidFill>
                  <a:srgbClr val="1F2A3A"/>
                </a:solidFill>
                <a:latin typeface="맑은 고딕"/>
                <a:ea typeface="맑은 고딕"/>
                <a:cs typeface="맑은 고딕"/>
              </a:rPr>
              <a:t>내는 것: 시각으로 조회할 수 있는 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TimescaleDB</a:t>
            </a:r>
          </a:p>
          <a:p>
            <a:pPr algn="l">
              <a:lnSpc>
                <a:spcPct val="110000"/>
              </a:lnSpc>
            </a:pPr>
            <a:r>
              <a:rPr sz="1250" b="1">
                <a:solidFill>
                  <a:srgbClr val="556175"/>
                </a:solidFill>
                <a:latin typeface="맑은 고딕"/>
                <a:ea typeface="맑은 고딕"/>
                <a:cs typeface="맑은 고딕"/>
              </a:rPr>
              <a:t>판정은</a:t>
            </a:r>
          </a:p>
          <a:p>
            <a:pPr algn="l">
              <a:lnSpc>
                <a:spcPct val="110000"/>
              </a:lnSpc>
            </a:pPr>
            <a:r>
              <a:rPr sz="1250" b="1">
                <a:solidFill>
                  <a:srgbClr val="556175"/>
                </a:solidFill>
                <a:latin typeface="맑은 고딕"/>
                <a:ea typeface="맑은 고딕"/>
                <a:cs typeface="맑은 고딕"/>
              </a:rPr>
              <a:t>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계층_L7-9.svg" descr="illust_719013207243679470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값은 OT에서 DMZ를 거쳐 IT로 올라가 기록되고 감지되며, 승인된 명령만 DMZ의 검사를 거쳐 OT로 내려간다.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058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564206"/>
            <a:ext cx="424281" cy="424281"/>
          </a:xfrm>
          <a:prstGeom prst="rect">
            <a:avLst/>
          </a:prstGeom>
        </p:spPr>
      </p:pic>
      <p:sp>
        <p:nvSpPr>
          <p:cNvPr id="9" name="TextBox 8"/>
          <p:cNvSpPr txBox="1"/>
          <p:nvPr/>
        </p:nvSpPr>
        <p:spPr>
          <a:xfrm>
            <a:off x="713232"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34352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10587"/>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3773043" y="2564206"/>
            <a:ext cx="424281" cy="424281"/>
          </a:xfrm>
          <a:prstGeom prst="rect">
            <a:avLst/>
          </a:prstGeom>
        </p:spPr>
      </p:pic>
      <p:sp>
        <p:nvSpPr>
          <p:cNvPr id="15" name="TextBox 14"/>
          <p:cNvSpPr txBox="1"/>
          <p:nvPr/>
        </p:nvSpPr>
        <p:spPr>
          <a:xfrm>
            <a:off x="3555415"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Claude Code</a:t>
            </a:r>
          </a:p>
          <a:p>
            <a:pPr algn="l">
              <a:lnSpc>
                <a:spcPct val="110000"/>
              </a:lnSpc>
              <a:spcAft>
                <a:spcPts val="400"/>
              </a:spcAft>
            </a:pPr>
            <a:r>
              <a:rPr sz="1350" b="0">
                <a:solidFill>
                  <a:srgbClr val="1F2A3A"/>
                </a:solidFill>
                <a:latin typeface="맑은 고딕"/>
                <a:ea typeface="맑은 고딕"/>
                <a:cs typeface="맑은 고딕"/>
              </a:rPr>
              <a:t>• 터미널에서 동작하는 코딩 에이전트이다</a:t>
            </a:r>
          </a:p>
          <a:p>
            <a:pPr algn="l">
              <a:lnSpc>
                <a:spcPct val="110000"/>
              </a:lnSpc>
              <a:spcAft>
                <a:spcPts val="400"/>
              </a:spcAft>
            </a:pPr>
            <a:r>
              <a:rPr sz="1350" b="0">
                <a:solidFill>
                  <a:srgbClr val="1F2A3A"/>
                </a:solidFill>
                <a:latin typeface="맑은 고딕"/>
                <a:ea typeface="맑은 고딕"/>
                <a:cs typeface="맑은 고딕"/>
              </a:rPr>
              <a:t>• 랩에서 코드를 만들 때 쓴다</a:t>
            </a:r>
          </a:p>
          <a:p>
            <a:pPr algn="l">
              <a:lnSpc>
                <a:spcPct val="110000"/>
              </a:lnSpc>
              <a:spcAft>
                <a:spcPts val="400"/>
              </a:spcAft>
            </a:pPr>
            <a:r>
              <a:rPr sz="1350" b="0">
                <a:solidFill>
                  <a:srgbClr val="1F2A3A"/>
                </a:solidFill>
                <a:latin typeface="맑은 고딕"/>
                <a:ea typeface="맑은 고딕"/>
                <a:cs typeface="맑은 고딕"/>
              </a:rPr>
              <a:t>• HYD 안에서는 에이전트 작업을 수행한다</a:t>
            </a:r>
          </a:p>
        </p:txBody>
      </p:sp>
      <p:sp>
        <p:nvSpPr>
          <p:cNvPr id="16" name="Rounded Rectangle 15"/>
          <p:cNvSpPr/>
          <p:nvPr/>
        </p:nvSpPr>
        <p:spPr>
          <a:xfrm>
            <a:off x="3619423" y="534352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3525"/>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1058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564206"/>
            <a:ext cx="424281" cy="424281"/>
          </a:xfrm>
          <a:prstGeom prst="rect">
            <a:avLst/>
          </a:prstGeom>
        </p:spPr>
      </p:pic>
      <p:sp>
        <p:nvSpPr>
          <p:cNvPr id="21" name="TextBox 20"/>
          <p:cNvSpPr txBox="1"/>
          <p:nvPr/>
        </p:nvSpPr>
        <p:spPr>
          <a:xfrm>
            <a:off x="6397599"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34352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209419"/>
            <a:ext cx="2567863" cy="35638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1058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564206"/>
            <a:ext cx="424281" cy="424281"/>
          </a:xfrm>
          <a:prstGeom prst="rect">
            <a:avLst/>
          </a:prstGeom>
        </p:spPr>
      </p:pic>
      <p:sp>
        <p:nvSpPr>
          <p:cNvPr id="27" name="TextBox 26"/>
          <p:cNvSpPr txBox="1"/>
          <p:nvPr/>
        </p:nvSpPr>
        <p:spPr>
          <a:xfrm>
            <a:off x="9239783"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34352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352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원인후보.svg" descr="illust_712945355943048894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흩어진정보.svg" descr="illust_714095805966580857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노드관계.svg" descr="illust_846695479274432324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관계.svg" descr="illust_322119196147673236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경로_1.svg" descr="illust_706459962025110070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pic>
        <p:nvPicPr>
          <p:cNvPr id="6" name="삽화:경로_2.svg" descr="illust_574121229801086652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증거에 적힌 값을 읽어 원인을 확인한 뒤, 고장 유형에서 MITIGATED_BY를 따라 조치에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경로_3.svg" descr="illust_636530770513899459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있고</a:t>
            </a:r>
          </a:p>
          <a:p>
            <a:pPr algn="ctr">
              <a:lnSpc>
                <a:spcPct val="110000"/>
              </a:lnSpc>
              <a:spcAft>
                <a:spcPts val="100"/>
              </a:spcAft>
            </a:pPr>
            <a:r>
              <a:rPr sz="1300" b="0">
                <a:solidFill>
                  <a:srgbClr val="556175"/>
                </a:solidFill>
                <a:latin typeface="맑은 고딕"/>
                <a:ea typeface="맑은 고딕"/>
                <a:cs typeface="맑은 고딕"/>
              </a:rPr>
              <a:t>잰 값은 TimescaleDB에서 읽는다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그래프의 설비 쪽에는 설비가 어떤 구성 요소로 이루어지고 각 구성 요소를 어느 센서가 재는지가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연결_설비쪽.svg" descr="illust_4371601198327087697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진단과 조치 쪽에는 증상, 고장 유형, 원인, 조치 방법과 그 조치의 근거 문서가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pic>
        <p:nvPicPr>
          <p:cNvPr id="6" name="삽화:연결_진단쪽.svg" descr="illust_1260243073193195861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설비, 센서, 증상, 원인, 조치가 이름과 방향이 있는 관계로 이어진 그림 한 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