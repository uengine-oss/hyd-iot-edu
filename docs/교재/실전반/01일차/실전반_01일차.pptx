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쌓이고,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인터록으로 설비를 세웁니다. HYD에서는 plant-sim이 설비와 PLC의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비유 제안: 우체국의 사서함. 닮은 점은 받는 사람의 위치를 몰라도 번호만 알면 된다는 것이고, 다른 점은 브로커가 메시지를 보관하지 않고 바로 넘긴다는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비유 제안: 건물의 안내 데스크. 닮은 점은 정해진 창구를 거친다는 것이고, 다른 점은 사람을 들여보내는 것이 아니라 값을 한 방향으로 옮겨 적는다는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비유 제안: 생방송과 녹화본. 닮은 점은 하나는 그 순간에만 전달되고 하나는 나중에 다시 볼 수 있다는 것이고, 다른 점은 로그의 기록도 보존 기간이 지나면 지워진다는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조치가 늦어진 것은 이 구간이 아니라 그 앞의 판단 구간이었습니다.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Claude Code, Python, Docker입니다.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비유 제안: 체온계의 고열 표시. 닮은 점은 열이 난다는 사실은 바로 알지만 어떤 병인지는 진찰해야 안다는 것이고, 다른 점은 이 사건에서는 응급 조치를 고르는 데에도 원인 판단이 먼저 필요했다는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비유 제안: 병원의 검사 수치, 정상 범위를 벗어났다는 표시, 의사의 진단. 닮은 점은 수치와 진단이 별개의 일이라는 것이고, 다른 점은 설비에서는 조치를 정할 때 생산 일정까지 함께 따진다는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18.png"/><Relationship Id="rId5" Type="http://schemas.openxmlformats.org/officeDocument/2006/relationships/image" Target="../media/image61.png"/><Relationship Id="rId6" Type="http://schemas.openxmlformats.org/officeDocument/2006/relationships/image" Target="../media/image6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5.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6.png"/><Relationship Id="rId5" Type="http://schemas.openxmlformats.org/officeDocument/2006/relationships/image" Target="../media/image6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6.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68.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6.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7.png"/><Relationship Id="rId4"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4.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7.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7.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8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0.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9.png"/><Relationship Id="rId4" Type="http://schemas.openxmlformats.org/officeDocument/2006/relationships/image" Target="../media/image22.png"/><Relationship Id="rId5" Type="http://schemas.openxmlformats.org/officeDocument/2006/relationships/image" Target="../media/image91.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2.png"/><Relationship Id="rId4" Type="http://schemas.openxmlformats.org/officeDocument/2006/relationships/image" Target="../media/image87.png"/><Relationship Id="rId5" Type="http://schemas.openxmlformats.org/officeDocument/2006/relationships/image" Target="../media/image9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구성요소가 무엇을 받아 무엇을 넘기는지를 적는다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31131961760957630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572808921610500316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492434902458805033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539550459834379072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539550459834379072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plant-sim</a:t>
            </a:r>
          </a:p>
          <a:p>
            <a:pPr algn="l">
              <a:lnSpc>
                <a:spcPct val="110000"/>
              </a:lnSpc>
              <a:spcAft>
                <a:spcPts val="200"/>
              </a:spcAft>
            </a:pPr>
            <a:r>
              <a:rPr sz="1150" b="0">
                <a:solidFill>
                  <a:srgbClr val="556175"/>
                </a:solidFill>
                <a:latin typeface="맑은 고딕"/>
                <a:ea typeface="맑은 고딕"/>
                <a:cs typeface="맑은 고딕"/>
              </a:rPr>
              <a:t>설비 · PLC</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유압 파워팩 3기와 PLC의 동작을 맡는 프로그램이다.</a:t>
            </a:r>
          </a:p>
          <a:p>
            <a:pPr algn="l">
              <a:lnSpc>
                <a:spcPct val="110000"/>
              </a:lnSpc>
              <a:spcAft>
                <a:spcPts val="300"/>
              </a:spcAft>
            </a:pPr>
            <a:r>
              <a:rPr sz="1400" b="0">
                <a:solidFill>
                  <a:srgbClr val="1F2A3A"/>
                </a:solidFill>
                <a:latin typeface="맑은 고딕"/>
                <a:ea typeface="맑은 고딕"/>
                <a:cs typeface="맑은 고딕"/>
              </a:rPr>
              <a:t>이 과정에서 다루는 센서 값과 PLC의 응답은 plant-sim이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태그 값과 운전 상태를 올려 보내며, 태그 값은 정상값에 견주어야 높고 낮음을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196661379077900574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PLC 쪽에서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PLC 쪽에서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221485292686905071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55.71은 경보가 난 순간의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273599861534533329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기록은 cmd-gateway가, 범위와 인터록은 PLC가 따로 확인하여 승인 없는 명령이 설비에 닿는 것을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명령은 내려간 뒤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813733075504314145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브로커 EMQX가 토픽으로 메시지를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plant-sim: 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698331657138648275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Claude Code</a:t>
            </a:r>
          </a:p>
          <a:p>
            <a:pPr algn="l">
              <a:lnSpc>
                <a:spcPct val="110000"/>
              </a:lnSpc>
              <a:spcAft>
                <a:spcPts val="400"/>
              </a:spcAft>
            </a:pPr>
            <a:r>
              <a:rPr sz="1350" b="0">
                <a:solidFill>
                  <a:srgbClr val="1F2A3A"/>
                </a:solidFill>
                <a:latin typeface="맑은 고딕"/>
                <a:ea typeface="맑은 고딕"/>
                <a:cs typeface="맑은 고딕"/>
              </a:rPr>
              <a:t>• 터미널에서 동작하는 코딩 에이전트이다</a:t>
            </a:r>
          </a:p>
          <a:p>
            <a:pPr algn="l">
              <a:lnSpc>
                <a:spcPct val="110000"/>
              </a:lnSpc>
              <a:spcAft>
                <a:spcPts val="400"/>
              </a:spcAft>
            </a:pPr>
            <a:r>
              <a:rPr sz="1350" b="0">
                <a:solidFill>
                  <a:srgbClr val="1F2A3A"/>
                </a:solidFill>
                <a:latin typeface="맑은 고딕"/>
                <a:ea typeface="맑은 고딕"/>
                <a:cs typeface="맑은 고딕"/>
              </a:rPr>
              <a:t>• 랩에서 코드를 만들 때 쓴다</a:t>
            </a:r>
          </a:p>
          <a:p>
            <a:pPr algn="l">
              <a:lnSpc>
                <a:spcPct val="110000"/>
              </a:lnSpc>
              <a:spcAft>
                <a:spcPts val="400"/>
              </a:spcAft>
            </a:pPr>
            <a:r>
              <a:rPr sz="1350" b="0">
                <a:solidFill>
                  <a:srgbClr val="1F2A3A"/>
                </a:solidFill>
                <a:latin typeface="맑은 고딕"/>
                <a:ea typeface="맑은 고딕"/>
                <a:cs typeface="맑은 고딕"/>
              </a:rPr>
              <a:t>• HYD 안에서는 에이전트 작업을 수행한다</a:t>
            </a:r>
          </a:p>
        </p:txBody>
      </p:sp>
      <p:sp>
        <p:nvSpPr>
          <p:cNvPr id="16" name="Rounded Rectangle 15"/>
          <p:cNvSpPr/>
          <p:nvPr/>
        </p:nvSpPr>
        <p:spPr>
          <a:xfrm>
            <a:off x="3619423" y="534352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34352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431362663437397952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798957647317723381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91750337089093820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534601930519034298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470529500321188296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406492363153112826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351265174985404779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5926101478271979034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6932812332551129784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 센서, 증상, 원인, 조치가 이름과 방향이 있는 관계로 이어진 그림 한 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