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이어지는 ProcessGPT 시연에서는 여기까지 배운 구조가 실제 제품에서 어디까지 넓어지는지를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6일차에 긴급 대응 프로세스가 처리한 HYD-01의 쿨러 성능 저하 경보 한 건으로, 1~5일차에 본 경보와 같은 종류이며 식별자와 값은 이 처리 건의 것을 씁니다. 이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DMN 결정표로 적은 판단 규칙과, BSC 관점의 KPI로 정한 성과 기준으로 조치를 견주었고, mes_orders와 qms_lots는 업무 DB에서 생산과 품질의 사정을 읽었습니다. 마지막 submit_decision이 추천안을 제출했습니다. 아래 줄의 재료는 모두 1일차부터 3일차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대상마다 식별자와 code를 정해 둔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1일차와 2일차에 다룬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3일차에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3일차에 추출 결과에서 본 식별자의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추천안 하나로 제출했고 거기에 판단 id가 붙었습니다.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후보 넷이며, 도구 이름의 카드는 이 후보 하나하나를 가리킵니다. 고장 유형에 이어진 SOP 넷이 후보가 되고, 2일차에 DMN 결정표로 적은 판단 규칙과 3일차에 BSC 관점의 KPI로 정한 성과 기준이 순위를 매겼습니다. 같은 종류의 경보를 같은 지식으로 평가했으므로 순위와 점수는 3일차에 본 것과 같습니다. 여기서 볼 것은 오른쪽 칸으로,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규칙과 함께 순위를 매긴 것이 성과 기준입니다. 3일차에 BSC의 관점마다 KPI, 곧 성과 지표를 정해 두었고, 에이전트가 낸 추천안에는 팬 최대 운전이 어느 지표를 올리고 어느 지표를 내리는지가 책임 부서와 함께 실렸습니다. 오른쪽은 앞 장의 두 도구가 업무 DB에서 읽어 온 값으로, 납기가 여섯 시간쯤 남은 OEM 오더와 출하를 기다리는 로트 800개입니다. 지표의 이름은 지식에서, 납기와 로트의 수는 원천에서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추천안 한 건으로 묶여 제출되었고, 판단 id는 이 추천안에 붙은 번호입니다. 원인은 쿨러 핀 오염이고, 근거는 팬 진동이 정상인데 냉각 효율이 46.2 %로 떨어져 있다는 것입니다. 맞지 않은 후보 둘도 함께 적혔습니다. 맨 아래의 출처는 3일차에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추천안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추천안이고, 추천안만으로는 설비에 아무 일도 일어나지 않습니다. 승인은 운전원이 맡고, 그 뒤의 명령과 재관측과 작업지시 등록과 결과 보고는 프로세스 엔진이 SCADA와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4일차부터 7일차까지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추천안을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추천안은 decision이라는 변수가 되어 운전원 승인 단계에 전해집니다. 운전원 승인이 낸 approval은 게이트웨이가 읽고, 재관측이 낸 recovered는 다음 게이트웨이가 읽습니다. 5일차에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추천안이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정기 정비 계획 에이전트 agent:pm-plan이 정비할 시간을 추천하고 설비보전팀장이 승인하면 CMMS에 정비 오더가 등록됩니다. 재고 보충에서는 예비품 구매 에이전트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본 거절의 시나리오를 글로 적어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5일차의 회귀 시험도 쿨러 사건의 경보에서 설비 명령까지의 행동을 되풀이해 확인하는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추천안 한 건을 프로세스에 넘깁니다. 프로세스는 그 추천안을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추천안이 끝난 업무가 되려면 세 가지가 갖추어져야 합니다. 추천안의 근거가 등록된 지식과 읽은 값에 닿아 있어야 하고, 추천안이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수업의 기준 그래프와 섞이지 않도록 따로 둔 이름 공간에 넣어, 답하려던 질문이 조회로 풀리는지를 확인합니다. 2일차와 3일차에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4일차의 멈춤 조건과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 외부 시스템에 쓰는 일처럼 준비된 범위 밖의 작업은 성공한 것으로 적지 않고, 하지 못한 일로 결과 보고에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이 과정에서 지식 그래프와 에이전트와 프로세스를 직접 만들고 포털에서 실행해 보았습니다. 같은 구조가 훨씬 고도화되어 적용된 제품이 ProcessGPT이며, 자신을 기업을 위한 BPMN 기반 멀티 에이전트 오케스트레이션 프레임워크라고 소개합니다. 오케스트레이션은 6일차에 배운 대로 한 주체가 전체 순서를 이끄는 방식이고, 여기서는 일을 맡는 쪽에 전문 에이전트가 여럿 들어갑니다. 셋째 줄은 제품이 내세우는 것으로, 판단 규칙과 승인과 감사 기록처럼 쿨러 사건에서 다룬 것에 말로 프로세스 정의를 만드는 일이 더해져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만든 것을 왼쪽에, 그것이 제품에서 나타나는 자리를 가운데에 놓았습니다. 지식은 제품에서도 그래프에 놓이고, 스키마를 설계하고 문서에서 지식을 추출하는 일은 온톨로지 도구가 맡습니다. 에이전트는 사람과 같은 사용자 목록의 한 행으로 등록되고, 도구는 조직 단위로 등록한 MCP 서버에서 나옵니다. 프로세스 쪽은 이름이 달라져서 처리 건은 프로세스 인스턴스, 단계는 워크아이템이라고 부릅니다. 이름은 달라도 구실이 같으므로 포털에서 처리 건과 단계를 읽던 방법으로 제품의 인스턴스와 워크아이템을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목록이고,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이 과정에서 배운 것이 제품에 그대로 보이는 자리입니다. 프로세스 정의와 인스턴스, 워크아이템의 상태, 에이전트 행, 사람 작업으로 그린 승인은 이름과 뜻까지 같습니다. 오른쪽은 제품에서 더 고도화된 것으로, 말로 설명해 정의를 만드는 길, 하위 프로세스와 다중 인스턴스, 여러 에이전트의 협업과 실행 방식, 문서 색인이 여기에 듭니다. 통제에서는 실패했을 때 끝난 작업을 되돌리는 보상과 프로세스 모델에 대는 감사가, 운영에서는 외부 알림 연동과 확장이 더해집니다. 여기까지 배운 구조가 실제 제품에서는 이만큼 넓고 깊어집니다.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시연에서는 네 가지를 눈여겨봅니다. 지식과 에이전트와 프로세스가 제품에서 어떤 이름으로 나타나는지, 정의 하나에서 열린 인스턴스가 에이전트 작업과 사람 작업으로 어떻게 이어지는지를 먼저 봅니다. 이어서 배운 구조 위에 무엇이 더해졌는지와, 승인과 권한과 감사 추적 같은 통제가 흐름의 어디에 놓이는지를 봅니다. 보고 난 뒤에는 눈앞의 것이 정의인지 인스턴스인지, 지금이 누구의 차례인지, 사람이 결정하는 자리가 어디인지를 가려낼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1일차에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3.png"/><Relationship Id="rId6"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1.png"/><Relationship Id="rId4" Type="http://schemas.openxmlformats.org/officeDocument/2006/relationships/image" Target="../media/image42.png"/><Relationship Id="rId5"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18.png"/><Relationship Id="rId7"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5.png"/><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5.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18.png"/><Relationship Id="rId6" Type="http://schemas.openxmlformats.org/officeDocument/2006/relationships/image" Target="../media/image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 시연</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추천안이 승인과 시스템 실행을 거쳐 끝나기까지 각 장치의 몫을 가린다</a:t>
            </a:r>
          </a:p>
        </p:txBody>
      </p:sp>
      <p:sp>
        <p:nvSpPr>
          <p:cNvPr id="16" name="Rounded Rectangle 15"/>
          <p:cNvSpPr/>
          <p:nvPr/>
        </p:nvSpPr>
        <p:spPr>
          <a:xfrm>
            <a:off x="3619423" y="5134356"/>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제품으로의 확장</a:t>
            </a:r>
          </a:p>
          <a:p>
            <a:pPr algn="l">
              <a:lnSpc>
                <a:spcPct val="110000"/>
              </a:lnSpc>
              <a:spcAft>
                <a:spcPts val="400"/>
              </a:spcAft>
            </a:pPr>
            <a:r>
              <a:rPr sz="1350" b="0">
                <a:solidFill>
                  <a:srgbClr val="1F2A3A"/>
                </a:solidFill>
                <a:latin typeface="맑은 고딕"/>
                <a:ea typeface="맑은 고딕"/>
                <a:cs typeface="맑은 고딕"/>
              </a:rPr>
              <a:t>ProcessGPT 시연에서 배운 구조가 그대로 보이는 자리와 더 고도화된 것을 가려낸다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시연</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추천안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8388264869995295631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95714" y="2194925"/>
            <a:ext cx="7200266"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6일차에 프로세스가 처리한 쿨러 성능 저하 경보 한 건을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1876918478358604576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6~7일차: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4~5일차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1~3일차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4189859300174041968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481242" y="5598688"/>
            <a:ext cx="250918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규칙(DMN)</a:t>
            </a:r>
          </a:p>
          <a:p>
            <a:pPr algn="ctr">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 · 2일차에 다룬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2492566511326724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판단 id 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조치 후보를 판단 규칙과 성과 기준으로 평가한 결과에는 후보마다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3일차에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실린 득과 실: 성과 지표와 업무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조치가 올리고 내리는 성과 지표와 지금의 납기, 품질 사정이 함께 실려 승인하는 사람이 득실을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성과 기준에서 온 득과 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득: 인터록 여유 ↑, 작동유 잔여 수명 ↑</a:t>
            </a:r>
          </a:p>
          <a:p>
            <a:pPr algn="l">
              <a:lnSpc>
                <a:spcPct val="110000"/>
              </a:lnSpc>
              <a:spcAft>
                <a:spcPts val="600"/>
              </a:spcAft>
            </a:pPr>
            <a:r>
              <a:rPr sz="1450" b="0">
                <a:solidFill>
                  <a:srgbClr val="1F2A3A"/>
                </a:solidFill>
                <a:latin typeface="맑은 고딕"/>
                <a:ea typeface="맑은 고딕"/>
                <a:cs typeface="맑은 고딕"/>
              </a:rPr>
              <a:t>• 실: 설비 가동률 ↓, 평균 고장 간격 ↓</a:t>
            </a:r>
          </a:p>
          <a:p>
            <a:pPr algn="l">
              <a:lnSpc>
                <a:spcPct val="110000"/>
              </a:lnSpc>
              <a:spcAft>
                <a:spcPts val="600"/>
              </a:spcAft>
            </a:pPr>
            <a:r>
              <a:rPr sz="1450" b="0">
                <a:solidFill>
                  <a:srgbClr val="1F2A3A"/>
                </a:solidFill>
                <a:latin typeface="맑은 고딕"/>
                <a:ea typeface="맑은 고딕"/>
                <a:cs typeface="맑은 고딕"/>
              </a:rPr>
              <a:t>• 실: 전력 사용량 ↑</a:t>
            </a:r>
          </a:p>
          <a:p>
            <a:pPr algn="l">
              <a:lnSpc>
                <a:spcPct val="110000"/>
              </a:lnSpc>
              <a:spcAft>
                <a:spcPts val="600"/>
              </a:spcAft>
            </a:pPr>
            <a:r>
              <a:rPr sz="1450" b="0">
                <a:solidFill>
                  <a:srgbClr val="1F2A3A"/>
                </a:solidFill>
                <a:latin typeface="맑은 고딕"/>
                <a:ea typeface="맑은 고딕"/>
                <a:cs typeface="맑은 고딕"/>
              </a:rPr>
              <a:t>• 3일차에 BSC의 관점마다 정한 KPI이며 책임 부서가 함께 적힌다</a:t>
            </a:r>
          </a:p>
        </p:txBody>
      </p:sp>
      <p:sp>
        <p:nvSpPr>
          <p:cNvPr id="11" name="Rounded Rectangle 10"/>
          <p:cNvSpPr/>
          <p:nvPr/>
        </p:nvSpPr>
        <p:spPr>
          <a:xfrm>
            <a:off x="868680" y="5246433"/>
            <a:ext cx="11765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BSC · KPI</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DB에서 읽은 사정</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납기: OEM 오더의 납기까지 5.98 h, 늦으면 시간당 120만원</a:t>
            </a:r>
          </a:p>
          <a:p>
            <a:pPr algn="l">
              <a:lnSpc>
                <a:spcPct val="110000"/>
              </a:lnSpc>
              <a:spcAft>
                <a:spcPts val="600"/>
              </a:spcAft>
            </a:pPr>
            <a:r>
              <a:rPr sz="1450" b="0">
                <a:solidFill>
                  <a:srgbClr val="1F2A3A"/>
                </a:solidFill>
                <a:latin typeface="맑은 고딕"/>
                <a:ea typeface="맑은 고딕"/>
                <a:cs typeface="맑은 고딕"/>
              </a:rPr>
              <a:t>• 품질: 출하를 기다리는 로트 800개</a:t>
            </a:r>
          </a:p>
          <a:p>
            <a:pPr algn="l">
              <a:lnSpc>
                <a:spcPct val="110000"/>
              </a:lnSpc>
              <a:spcAft>
                <a:spcPts val="600"/>
              </a:spcAft>
            </a:pPr>
            <a:r>
              <a:rPr sz="1450" b="0">
                <a:solidFill>
                  <a:srgbClr val="1F2A3A"/>
                </a:solidFill>
                <a:latin typeface="맑은 고딕"/>
                <a:ea typeface="맑은 고딕"/>
                <a:cs typeface="맑은 고딕"/>
              </a:rPr>
              <a:t>• mes_orders와 qms_lots가 읽어 온 값이다</a:t>
            </a:r>
          </a:p>
        </p:txBody>
      </p:sp>
      <p:sp>
        <p:nvSpPr>
          <p:cNvPr id="18" name="Rounded Rectangle 17"/>
          <p:cNvSpPr/>
          <p:nvPr/>
        </p:nvSpPr>
        <p:spPr>
          <a:xfrm>
            <a:off x="6781647" y="5246433"/>
            <a:ext cx="1176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 · QMS</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사건선_지식에서판단.svg" descr="illust_5312359500305644689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추천안을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SCADA</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4~5일차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44170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4170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 · 6 · 7일차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장치자리.svg" descr="illust_500283316001299832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추천안을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추천안을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5032153957942930711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5 · 6일차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3일차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6일차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2168257492924056706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추천안이라도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879159827261490834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추천안을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4207886030440901134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1~3일차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4~5일차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6~7일차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추천안의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추천안이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따로 둔 이름 공간에서</a:t>
            </a:r>
          </a:p>
          <a:p>
            <a:pPr algn="ctr">
              <a:lnSpc>
                <a:spcPct val="110000"/>
              </a:lnSpc>
              <a:spcAft>
                <a:spcPts val="400"/>
              </a:spcAft>
            </a:pPr>
            <a:r>
              <a:rPr sz="1350" b="0">
                <a:solidFill>
                  <a:srgbClr val="1F2A3A"/>
                </a:solidFill>
                <a:latin typeface="맑은 고딕"/>
                <a:ea typeface="맑은 고딕"/>
                <a:cs typeface="맑은 고딕"/>
              </a:rPr>
              <a:t>질문이 조회로</a:t>
            </a:r>
          </a:p>
          <a:p>
            <a:pPr algn="ctr">
              <a:lnSpc>
                <a:spcPct val="110000"/>
              </a:lnSpc>
              <a:spcAft>
                <a:spcPts val="400"/>
              </a:spcAft>
            </a:pPr>
            <a:r>
              <a:rPr sz="1350" b="0">
                <a:solidFill>
                  <a:srgbClr val="1F2A3A"/>
                </a:solidFill>
                <a:latin typeface="맑은 고딕"/>
                <a:ea typeface="맑은 고딕"/>
                <a:cs typeface="맑은 고딕"/>
              </a:rPr>
              <a:t>풀리는지 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한 일과 하지 못한</a:t>
            </a:r>
          </a:p>
          <a:p>
            <a:pPr algn="ctr">
              <a:lnSpc>
                <a:spcPct val="110000"/>
              </a:lnSpc>
              <a:spcAft>
                <a:spcPts val="400"/>
              </a:spcAft>
            </a:pPr>
            <a:r>
              <a:rPr sz="1250" b="0">
                <a:solidFill>
                  <a:srgbClr val="1F2A3A"/>
                </a:solidFill>
                <a:latin typeface="맑은 고딕"/>
                <a:ea typeface="맑은 고딕"/>
                <a:cs typeface="맑은 고딕"/>
              </a:rPr>
              <a:t>일을 정리해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지금까지 만든 지식, 에이전트, 프로세스의 구조가 훨씬 고도화되어 적용된 제품을 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6일차의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제품이 내세우는 것</a:t>
            </a:r>
          </a:p>
          <a:p>
            <a:pPr algn="l">
              <a:lnSpc>
                <a:spcPct val="110000"/>
              </a:lnSpc>
              <a:spcAft>
                <a:spcPts val="200"/>
              </a:spcAft>
            </a:pPr>
            <a:r>
              <a:rPr sz="1150" b="0">
                <a:solidFill>
                  <a:srgbClr val="556175"/>
                </a:solidFill>
                <a:latin typeface="맑은 고딕"/>
                <a:ea typeface="맑은 고딕"/>
                <a:cs typeface="맑은 고딕"/>
              </a:rPr>
              <a:t>자연어 정의 · 결정론 · HITL · 감사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업무를 말로 설명해 프로세스 정의를 만들고, 되풀이되는 판단은 규칙으로 옮긴다.</a:t>
            </a:r>
          </a:p>
          <a:p>
            <a:pPr algn="l">
              <a:lnSpc>
                <a:spcPct val="110000"/>
              </a:lnSpc>
              <a:spcAft>
                <a:spcPts val="300"/>
              </a:spcAft>
            </a:pPr>
            <a:r>
              <a:rPr sz="1400" b="0">
                <a:solidFill>
                  <a:srgbClr val="1F2A3A"/>
                </a:solidFill>
                <a:latin typeface="맑은 고딕"/>
                <a:ea typeface="맑은 고딕"/>
                <a:cs typeface="맑은 고딕"/>
              </a:rPr>
              <a:t>사람의 승인을 BPMN의 기본 패턴으로 두고, 실행을 프로세스 모델에 대어 감사한다.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 에이전트, 처리 건은 제품에서도 같은 구실을 하며, 프로세스 쪽은 부르는 이름이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스키마 설계와 문서 추출을 맡는 온톨로지 도구</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단계</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사람에게 맡겨진 워크아이템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사람의 결정</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작업목록.svg" descr="illust_684015283849539986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 더 고도화된 것: 같은 구조, 넓어지는 범위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구조는 제품에 그대로 있고, 제품은 그 위에서 정의, 에이전트, 지식, 통제의 범위를 훨씬 넓힌다.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5181447" cy="472744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182880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1982419"/>
            <a:ext cx="424281" cy="424281"/>
          </a:xfrm>
          <a:prstGeom prst="rect">
            <a:avLst/>
          </a:prstGeom>
        </p:spPr>
      </p:pic>
      <p:sp>
        <p:nvSpPr>
          <p:cNvPr id="9" name="TextBox 8"/>
          <p:cNvSpPr txBox="1"/>
          <p:nvPr/>
        </p:nvSpPr>
        <p:spPr>
          <a:xfrm>
            <a:off x="1691640" y="182880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배운 것이 그대로 보이는 자리</a:t>
            </a:r>
          </a:p>
        </p:txBody>
      </p:sp>
      <p:sp>
        <p:nvSpPr>
          <p:cNvPr id="10" name="TextBox 9"/>
          <p:cNvSpPr txBox="1"/>
          <p:nvPr/>
        </p:nvSpPr>
        <p:spPr>
          <a:xfrm>
            <a:off x="822959" y="2679191"/>
            <a:ext cx="4632807" cy="312724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정의와 인스턴스, 정의 버전과 반영 버전</a:t>
            </a:r>
          </a:p>
          <a:p>
            <a:pPr algn="l">
              <a:lnSpc>
                <a:spcPct val="110000"/>
              </a:lnSpc>
              <a:spcAft>
                <a:spcPts val="600"/>
              </a:spcAft>
            </a:pPr>
            <a:r>
              <a:rPr sz="1450" b="0">
                <a:solidFill>
                  <a:srgbClr val="1F2A3A"/>
                </a:solidFill>
                <a:latin typeface="맑은 고딕"/>
                <a:ea typeface="맑은 고딕"/>
                <a:cs typeface="맑은 고딕"/>
              </a:rPr>
              <a:t>• 워크아이템과 그 상태의 이름과 뜻</a:t>
            </a:r>
          </a:p>
          <a:p>
            <a:pPr algn="l">
              <a:lnSpc>
                <a:spcPct val="110000"/>
              </a:lnSpc>
              <a:spcAft>
                <a:spcPts val="600"/>
              </a:spcAft>
            </a:pPr>
            <a:r>
              <a:rPr sz="1450" b="0">
                <a:solidFill>
                  <a:srgbClr val="1F2A3A"/>
                </a:solidFill>
                <a:latin typeface="맑은 고딕"/>
                <a:ea typeface="맑은 고딕"/>
                <a:cs typeface="맑은 고딕"/>
              </a:rPr>
              <a:t>• 사용자 목록의 에이전트 행과 에이전트 활동의 모양</a:t>
            </a:r>
          </a:p>
          <a:p>
            <a:pPr algn="l">
              <a:lnSpc>
                <a:spcPct val="110000"/>
              </a:lnSpc>
              <a:spcAft>
                <a:spcPts val="600"/>
              </a:spcAft>
            </a:pPr>
            <a:r>
              <a:rPr sz="1450" b="0">
                <a:solidFill>
                  <a:srgbClr val="1F2A3A"/>
                </a:solidFill>
                <a:latin typeface="맑은 고딕"/>
                <a:ea typeface="맑은 고딕"/>
                <a:cs typeface="맑은 고딕"/>
              </a:rPr>
              <a:t>• 승인을 사람 작업으로 두는 자리</a:t>
            </a:r>
          </a:p>
        </p:txBody>
      </p:sp>
      <p:sp>
        <p:nvSpPr>
          <p:cNvPr id="11" name="Rounded Rectangle 10"/>
          <p:cNvSpPr/>
          <p:nvPr/>
        </p:nvSpPr>
        <p:spPr>
          <a:xfrm>
            <a:off x="868680" y="589788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89788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3" name="Rounded Rectangle 12"/>
          <p:cNvSpPr/>
          <p:nvPr/>
        </p:nvSpPr>
        <p:spPr>
          <a:xfrm>
            <a:off x="6461607" y="1627632"/>
            <a:ext cx="5181447" cy="472744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182880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1982419"/>
            <a:ext cx="424281" cy="424281"/>
          </a:xfrm>
          <a:prstGeom prst="rect">
            <a:avLst/>
          </a:prstGeom>
        </p:spPr>
      </p:pic>
      <p:sp>
        <p:nvSpPr>
          <p:cNvPr id="16" name="TextBox 15"/>
          <p:cNvSpPr txBox="1"/>
          <p:nvPr/>
        </p:nvSpPr>
        <p:spPr>
          <a:xfrm>
            <a:off x="7604607" y="182880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제품에서 더 고도화된 것</a:t>
            </a:r>
          </a:p>
        </p:txBody>
      </p:sp>
      <p:sp>
        <p:nvSpPr>
          <p:cNvPr id="17" name="TextBox 16"/>
          <p:cNvSpPr txBox="1"/>
          <p:nvPr/>
        </p:nvSpPr>
        <p:spPr>
          <a:xfrm>
            <a:off x="6735927" y="2679191"/>
            <a:ext cx="4632807" cy="312724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정의: 업무를 말로 설명해 프로세스를 만들고 말로 적은 조건도 평가한다</a:t>
            </a:r>
          </a:p>
          <a:p>
            <a:pPr algn="l">
              <a:lnSpc>
                <a:spcPct val="110000"/>
              </a:lnSpc>
              <a:spcAft>
                <a:spcPts val="600"/>
              </a:spcAft>
            </a:pPr>
            <a:r>
              <a:rPr sz="1450" b="0">
                <a:solidFill>
                  <a:srgbClr val="1F2A3A"/>
                </a:solidFill>
                <a:latin typeface="맑은 고딕"/>
                <a:ea typeface="맑은 고딕"/>
                <a:cs typeface="맑은 고딕"/>
              </a:rPr>
              <a:t>• 요소: 하위 프로세스, 같은 작업을 여러 건 여는 다중 인스턴스</a:t>
            </a:r>
          </a:p>
          <a:p>
            <a:pPr algn="l">
              <a:lnSpc>
                <a:spcPct val="110000"/>
              </a:lnSpc>
              <a:spcAft>
                <a:spcPts val="600"/>
              </a:spcAft>
            </a:pPr>
            <a:r>
              <a:rPr sz="1450" b="0">
                <a:solidFill>
                  <a:srgbClr val="1F2A3A"/>
                </a:solidFill>
                <a:latin typeface="맑은 고딕"/>
                <a:ea typeface="맑은 고딕"/>
                <a:cs typeface="맑은 고딕"/>
              </a:rPr>
              <a:t>• 에이전트: 여러 에이전트의 협업, CrewAI, LangGraph 같은 여러 실행 방식</a:t>
            </a:r>
          </a:p>
          <a:p>
            <a:pPr algn="l">
              <a:lnSpc>
                <a:spcPct val="110000"/>
              </a:lnSpc>
              <a:spcAft>
                <a:spcPts val="600"/>
              </a:spcAft>
            </a:pPr>
            <a:r>
              <a:rPr sz="1450" b="0">
                <a:solidFill>
                  <a:srgbClr val="1F2A3A"/>
                </a:solidFill>
                <a:latin typeface="맑은 고딕"/>
                <a:ea typeface="맑은 고딕"/>
                <a:cs typeface="맑은 고딕"/>
              </a:rPr>
              <a:t>• 지식: 문서를 색인해 검색한다</a:t>
            </a:r>
          </a:p>
          <a:p>
            <a:pPr algn="l">
              <a:lnSpc>
                <a:spcPct val="110000"/>
              </a:lnSpc>
              <a:spcAft>
                <a:spcPts val="600"/>
              </a:spcAft>
            </a:pPr>
            <a:r>
              <a:rPr sz="1450" b="0">
                <a:solidFill>
                  <a:srgbClr val="1F2A3A"/>
                </a:solidFill>
                <a:latin typeface="맑은 고딕"/>
                <a:ea typeface="맑은 고딕"/>
                <a:cs typeface="맑은 고딕"/>
              </a:rPr>
              <a:t>• 통제: 보상 이벤트로 끝난 작업을 되돌리고 프로세스 모델에 대어 감사한다</a:t>
            </a:r>
          </a:p>
          <a:p>
            <a:pPr algn="l">
              <a:lnSpc>
                <a:spcPct val="110000"/>
              </a:lnSpc>
              <a:spcAft>
                <a:spcPts val="600"/>
              </a:spcAft>
            </a:pPr>
            <a:r>
              <a:rPr sz="1450" b="0">
                <a:solidFill>
                  <a:srgbClr val="1F2A3A"/>
                </a:solidFill>
                <a:latin typeface="맑은 고딕"/>
                <a:ea typeface="맑은 고딕"/>
                <a:cs typeface="맑은 고딕"/>
              </a:rPr>
              <a:t>• 운영: 외부 알림 연동, Kubernetes 위의 확장</a:t>
            </a:r>
          </a:p>
        </p:txBody>
      </p:sp>
      <p:sp>
        <p:nvSpPr>
          <p:cNvPr id="18" name="Rounded Rectangle 17"/>
          <p:cNvSpPr/>
          <p:nvPr/>
        </p:nvSpPr>
        <p:spPr>
          <a:xfrm>
            <a:off x="6781647" y="589788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89788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범위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흐름을 포털에서 읽던 방법으로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영역의 이름</a:t>
            </a:r>
          </a:p>
          <a:p>
            <a:pPr algn="l">
              <a:lnSpc>
                <a:spcPct val="110000"/>
              </a:lnSpc>
              <a:spcAft>
                <a:spcPts val="400"/>
              </a:spcAft>
            </a:pPr>
            <a:r>
              <a:rPr sz="13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건의 흐름</a:t>
            </a:r>
          </a:p>
          <a:p>
            <a:pPr algn="l">
              <a:lnSpc>
                <a:spcPct val="110000"/>
              </a:lnSpc>
              <a:spcAft>
                <a:spcPts val="400"/>
              </a:spcAft>
            </a:pPr>
            <a:r>
              <a:rPr sz="13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넓어진 범위</a:t>
            </a:r>
          </a:p>
          <a:p>
            <a:pPr algn="l">
              <a:lnSpc>
                <a:spcPct val="110000"/>
              </a:lnSpc>
              <a:spcAft>
                <a:spcPts val="400"/>
              </a:spcAft>
            </a:pPr>
            <a:r>
              <a:rPr sz="13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고도화</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통제가 놓이는 자리</a:t>
            </a:r>
          </a:p>
          <a:p>
            <a:pPr algn="l">
              <a:lnSpc>
                <a:spcPct val="110000"/>
              </a:lnSpc>
              <a:spcAft>
                <a:spcPts val="400"/>
              </a:spcAft>
            </a:pPr>
            <a:r>
              <a:rPr sz="13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1일차에 만든 학습 노트에 개념, 자료, 산출물, 검증 결과를 이어 기록한다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 참고 자료, 실습 산출물, 검증 결과를 서로 이어 적은 학습 노트는 과정이 끝난 뒤에도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ProcessGPT</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BPMN-based Multi-Agent Orchestration Framework</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시연으로 본 제품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에이전트의 순서와 호출의 조율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