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HYD-01의 쿨러 성능 저하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판단 규칙과 성과 기준으로 조치를 견주었고, mes_orders와 qms_lots는 업무 DB에서 생산과 품질의 사정을 읽었습니다. 마지막 submit_decision이 판단을 제출했습니다. 아래 줄의 재료는 모두 1일차부터 3일차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대상마다 식별자와 code를 정해 둔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1일차와 2일차에 다룬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3일차에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3일차에 추출 결과에서 본 식별자의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판단 하나로 제출했습니다.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카드 넷입니다. 고장 유형에 이어진 SOP 넷이 후보가 되고, 2일차에 DMN 결정표로 적은 판단 규칙과 3일차에 BSC와 KPI로 정한 성과 기준이 순위를 매긴 결과이며, 순위와 점수는 3일차에 본 것과 같습니다. 여기서 볼 것은 오른쪽 칸입니다.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판단 한 건으로 묶여 제출되었습니다. 원인은 쿨러 핀 오염이고, 근거는 팬 진동이 정상인데 냉각 효율이 46.2 %로 떨어져 있다는 것입니다. 맞지 않은 후보 둘도 함께 적혔습니다. 맨 아래의 출처는 3일차에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판단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제안이고, 제안만으로는 설비에 아무 일도 일어나지 않습니다. 승인은 운전원이 맡고, 그 뒤의 명령과 재관측과 작업지시 등록과 결과 보고는 프로세스 엔진이 설비와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4일차부터 7일차까지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조치 카드 묶음을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조치 카드 묶음은 decision이라는 변수가 되어 운전원 승인 단계에 전해집니다. 운전원 승인이 낸 approval은 게이트웨이가 읽고, 재관측이 낸 recovered는 다음 게이트웨이가 읽습니다. 5일차에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정기 정비 계획 에이전트 agent:pm-plan이 정비할 시간을 추천하고 설비보전팀장이 승인하면 CMMS에 정비 오더가 등록됩니다. 재고 보충에서는 예비품 구매 에이전트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본 거절의 시나리오를 글로 적어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5일차의 회귀 시험도 쿨러 사건의 경보에서 설비 명령까지의 행동을 되풀이해 확인하는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판단 한 건을 프로세스에 넘깁니다. 프로세스는 그 판단을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답하려던 질문이 조회로 풀리는지를 확인합니다. 2일차와 3일차에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4일차의 멈춤 조건과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6일차에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판단을 규칙으로 옮기는 일, HITL, 감사 가능성은 쿨러 사건에서 판단 규칙, 승인, 감사 기록으로 다루었습니다. 여러 에이전트의 협업은 쿨러 사건의 에이전트 단계가 한 프로세스 안에서 여럿으로 늘어난 모습입니다.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계층은 이 과정에서 배운 세 영역에 대어 볼 수 있습니다.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추출해 저장하는 일은 ontology-studio라는 도구가 맡습니다. 2일차와 3일차에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세 에이전트인 냉각 긴급 대응 에이전트 agent:cooling, 정기 정비 계획 에이전트 agent:pm-plan, 예비품 구매 에이전트 agent:spare-buy가 그렇게 등록되어 있었습니다.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4일차에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6일차에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요소를 하나씩 보겠습니다. 첫째와 둘째는 사람 승인과 권한입니다. 제품은 사람의 개입을 BPMN의 기본 패턴으로 다루어, 승인을 프로세스 정의의 한 자리로 둡니다. 그러나 자리가 있어도 아무나 승인할 수 있으면 통제가 되지 않습니다. 그래서 승인하려는 쪽이 그 결정에 정해진 역할인지를 검사하고, 아니면 거부해 기록으로 남깁니다. 앞 단원에서 본 승인 역할의 검사가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감사 추적입니다. 누가 무엇을 결정하고 실행했는지를 기록에서 차례로 되짚을 수 있어야 합니다. 제품은 ISO/IEC 19510, 곧 BPMN 2.0의 프로세스 모델에 대어 실행을 감사할 수 있음을 내세웁니다. 기록만 있어서는 그것이 맞는 순서였는지를 알 수 없고, 견줄 정의가 있어야 합니다. 이 과정에서는 처리 건의 시작과 승인의 접수, 전달, 결과 보고가 기록으로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보상으로, 이 과정에서 새로 보는 개념입니다. 작업 셋이 끝난 뒤 넷째에서 실패했다고 하겠습니다.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결정론입니다. 결정론은 같은 입력에 언제나 같은 결과가 나오는 성질을 말합니다. 에이전트의 추론은 상황에 맞게 판단하지만 같은 입력에도 과정과 표현이 달라질 수 있습니다. 그래서 되풀이되는 판단은 DMN이나 코드의 규칙으로 옮겨, 같은 입력에 같은 답이 나오게 합니다. 쿨러 사건에서 조치의 가능 여부를 에이전트가 아니라 판단 규칙이 가린 것이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여섯째와 일곱째는 실행 격리와 비밀입니다. 제품은 MCP 서버 같은 도구 서버를 컨테이너로 나누어 실행한다고 밝힙니다. 컨테이너는 다른 프로그램과 분리된 실행 환경이어서, 한 서버에 문제가 생겨도 다른 서버의 파일이나 실행에 닿지 못합니다. 가운데와 오른쪽의 카드는 4일차에 배운 것으로, 허용 목록, 그리고 설정에는 값 대신 이름만 두고 값은 따로 보관하는 비밀값 관리가 같은 목적의 통제입니다.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여덟째는 변경 통제입니다. 프로세스 정의를 고치면 덮어쓰지 않고 새 버전으로 등록하며, 앞의 버전은 그대로 남습니다. 어느 버전을 쓸지는 반영이라는 단계로 따로 지정합니다. 6일차에 판본과 배포로 배운 것과 같은 구조입니다.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첫날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7.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image" Target="../media/image40.png"/><Relationship Id="rId5"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42.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 Id="rId4" Type="http://schemas.openxmlformats.org/officeDocument/2006/relationships/image" Target="../media/image44.png"/><Relationship Id="rId5"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6.png"/><Relationship Id="rId4" Type="http://schemas.openxmlformats.org/officeDocument/2006/relationships/image" Target="../media/image31.png"/><Relationship Id="rId5" Type="http://schemas.openxmlformats.org/officeDocument/2006/relationships/image" Target="../media/image48.png"/><Relationship Id="rId6"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0.png"/><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8.png"/><Relationship Id="rId6" Type="http://schemas.openxmlformats.org/officeDocument/2006/relationships/image" Target="../media/image6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판단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656105738862314428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2194925"/>
            <a:ext cx="610931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HYD-01의 같은 사건을 처음부터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517757290654270416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6~7일차: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4~5일차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1~3일차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523130938522043647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판단을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972169"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a:t>
            </a:r>
          </a:p>
          <a:p>
            <a:pPr algn="ctr">
              <a:lnSpc>
                <a:spcPct val="110000"/>
              </a:lnSpc>
              <a:spcAft>
                <a:spcPts val="100"/>
              </a:spcAft>
            </a:pPr>
            <a:r>
              <a:rPr sz="1100" b="0">
                <a:solidFill>
                  <a:srgbClr val="556175"/>
                </a:solidFill>
                <a:latin typeface="맑은 고딕"/>
                <a:ea typeface="맑은 고딕"/>
                <a:cs typeface="맑은 고딕"/>
              </a:rPr>
              <a:t>성과 기준</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 · 2일차에 다룬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16914864737681429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판단</a:t>
            </a:r>
          </a:p>
          <a:p>
            <a:pPr algn="ctr">
              <a:lnSpc>
                <a:spcPct val="110000"/>
              </a:lnSpc>
              <a:spcAft>
                <a:spcPts val="400"/>
              </a:spcAft>
            </a:pPr>
            <a:r>
              <a:rPr sz="1300" b="0">
                <a:solidFill>
                  <a:srgbClr val="1F2A3A"/>
                </a:solidFill>
                <a:latin typeface="맑은 고딕"/>
                <a:ea typeface="맑은 고딕"/>
                <a:cs typeface="맑은 고딕"/>
              </a:rPr>
              <a:t>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후보를 판단 규칙과 성과 기준으로 평가한 조치 카드에는 조치마다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3일차에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판단에는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사건선_지식에서판단.svg" descr="illust_636049518670418569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판단을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판단은 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설비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4~5일차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44170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4170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 · 6 · 7일차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판단을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조치 카드 묶음을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판단을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62937819073977525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5 · 6일차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3일차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6일차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511189819467372183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4677463594371292305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묶음을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판단을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504033829916908046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1~3일차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4~5일차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6~7일차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a:t>
            </a:r>
          </a:p>
          <a:p>
            <a:pPr algn="ctr">
              <a:lnSpc>
                <a:spcPct val="110000"/>
              </a:lnSpc>
              <a:spcAft>
                <a:spcPts val="100"/>
              </a:spcAft>
            </a:pPr>
            <a:r>
              <a:rPr sz="1300" b="0">
                <a:solidFill>
                  <a:srgbClr val="556175"/>
                </a:solidFill>
                <a:latin typeface="맑은 고딕"/>
                <a:ea typeface="맑은 고딕"/>
                <a:cs typeface="맑은 고딕"/>
              </a:rPr>
              <a:t>제안 한 건</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문서에서 뽑은 스키마와, 출처와 식별자가 붙은 샘플 인스턴스가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답하려던 질문이</a:t>
            </a:r>
          </a:p>
          <a:p>
            <a:pPr algn="ctr">
              <a:lnSpc>
                <a:spcPct val="110000"/>
              </a:lnSpc>
              <a:spcAft>
                <a:spcPts val="400"/>
              </a:spcAft>
            </a:pPr>
            <a:r>
              <a:rPr sz="1350" b="0">
                <a:solidFill>
                  <a:srgbClr val="1F2A3A"/>
                </a:solidFill>
                <a:latin typeface="맑은 고딕"/>
                <a:ea typeface="맑은 고딕"/>
                <a:cs typeface="맑은 고딕"/>
              </a:rPr>
              <a:t>조회로 풀리는지</a:t>
            </a:r>
          </a:p>
          <a:p>
            <a:pPr algn="ctr">
              <a:lnSpc>
                <a:spcPct val="110000"/>
              </a:lnSpc>
              <a:spcAft>
                <a:spcPts val="400"/>
              </a:spcAft>
            </a:pPr>
            <a:r>
              <a:rPr sz="1350" b="0">
                <a:solidFill>
                  <a:srgbClr val="1F2A3A"/>
                </a:solidFill>
                <a:latin typeface="맑은 고딕"/>
                <a:ea typeface="맑은 고딕"/>
                <a:cs typeface="맑은 고딕"/>
              </a:rPr>
              <a:t>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확인된 정보로만 제안하고 미확인 값과 권한 밖의 작업은 보류하는 작은 에이전트가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결과를 정리해</a:t>
            </a:r>
          </a:p>
          <a:p>
            <a:pPr algn="ctr">
              <a:lnSpc>
                <a:spcPct val="110000"/>
              </a:lnSpc>
              <a:spcAft>
                <a:spcPts val="400"/>
              </a:spcAft>
            </a:pPr>
            <a:r>
              <a:rPr sz="1250" b="0">
                <a:solidFill>
                  <a:srgbClr val="1F2A3A"/>
                </a:solidFill>
                <a:latin typeface="맑은 고딕"/>
                <a:ea typeface="맑은 고딕"/>
                <a:cs typeface="맑은 고딕"/>
              </a:rPr>
              <a:t>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6일차의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쿨러 사건에서 다룬 개념에 닿아 있고,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6일차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2일차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5 · 6일차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6일차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가운데의 세 계층을 이 과정의 프로세스, 지식, 에이전트에 대어 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4183787968226963894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 · 프로세스</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 · 지식</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 ·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추출해 저장하는 일을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 문서에서의 추출, 저장을 맡는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3일차의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세 에이전트</a:t>
            </a:r>
          </a:p>
          <a:p>
            <a:pPr algn="l">
              <a:lnSpc>
                <a:spcPct val="110000"/>
              </a:lnSpc>
              <a:spcAft>
                <a:spcPts val="400"/>
              </a:spcAft>
            </a:pPr>
            <a:r>
              <a:rPr sz="1400" b="0">
                <a:solidFill>
                  <a:srgbClr val="1F2A3A"/>
                </a:solidFill>
                <a:latin typeface="맑은 고딕"/>
                <a:ea typeface="맑은 고딕"/>
                <a:cs typeface="맑은 고딕"/>
              </a:rPr>
              <a:t>세 업무의 에이전트가</a:t>
            </a:r>
          </a:p>
          <a:p>
            <a:pPr algn="l">
              <a:lnSpc>
                <a:spcPct val="110000"/>
              </a:lnSpc>
              <a:spcAft>
                <a:spcPts val="400"/>
              </a:spcAft>
            </a:pPr>
            <a:r>
              <a:rPr sz="1400" b="0">
                <a:solidFill>
                  <a:srgbClr val="1F2A3A"/>
                </a:solidFill>
                <a:latin typeface="맑은 고딕"/>
                <a:ea typeface="맑은 고딕"/>
                <a:cs typeface="맑은 고딕"/>
              </a:rPr>
              <a:t>이 표시로 등록되어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작업목록.svg" descr="illust_15390710560132687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한 에이전트에게 모든 일을 맡기지 않고 전문 영역별로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통제자리.svg" descr="illust_68435423326119494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210037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p:txBody>
      </p:sp>
      <p:sp>
        <p:nvSpPr>
          <p:cNvPr id="8" name="TextBox 7"/>
          <p:cNvSpPr txBox="1"/>
          <p:nvPr/>
        </p:nvSpPr>
        <p:spPr>
          <a:xfrm>
            <a:off x="3286652" y="2100376"/>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정의를 버전으로 남긴다</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기록으로 남긴다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자리가 프로세스에 있어도 승인하는 쪽의 역할을 검사하지 않으면 누구나 승인할 수 있게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사람 승인</a:t>
            </a:r>
          </a:p>
          <a:p>
            <a:pPr algn="l">
              <a:lnSpc>
                <a:spcPct val="110000"/>
              </a:lnSpc>
              <a:spcAft>
                <a:spcPts val="200"/>
              </a:spcAft>
            </a:pPr>
            <a:r>
              <a:rPr sz="1150" b="0">
                <a:solidFill>
                  <a:srgbClr val="556175"/>
                </a:solidFill>
                <a:latin typeface="맑은 고딕"/>
                <a:ea typeface="맑은 고딕"/>
                <a:cs typeface="맑은 고딕"/>
              </a:rPr>
              <a:t>HITL</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사람의 개입을 프로세스 정의의 한 자리로 둔다.</a:t>
            </a:r>
          </a:p>
          <a:p>
            <a:pPr algn="l">
              <a:lnSpc>
                <a:spcPct val="110000"/>
              </a:lnSpc>
              <a:spcAft>
                <a:spcPts val="300"/>
              </a:spcAft>
            </a:pPr>
            <a:r>
              <a:rPr sz="1400" b="0">
                <a:solidFill>
                  <a:srgbClr val="1F2A3A"/>
                </a:solidFill>
                <a:latin typeface="맑은 고딕"/>
                <a:ea typeface="맑은 고딕"/>
                <a:cs typeface="맑은 고딕"/>
              </a:rPr>
              <a:t>제품은 HITL을 BPMN의 기본 패턴으로 다룬다.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권한</a:t>
            </a:r>
          </a:p>
          <a:p>
            <a:pPr algn="l">
              <a:lnSpc>
                <a:spcPct val="110000"/>
              </a:lnSpc>
              <a:spcAft>
                <a:spcPts val="200"/>
              </a:spcAft>
            </a:pPr>
            <a:r>
              <a:rPr sz="1150" b="0">
                <a:solidFill>
                  <a:srgbClr val="556175"/>
                </a:solidFill>
                <a:latin typeface="맑은 고딕"/>
                <a:ea typeface="맑은 고딕"/>
                <a:cs typeface="맑은 고딕"/>
              </a:rPr>
              <a:t>역할 검사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승인하려는 쪽이 그 결정에 정해진 역할인지를 검사한다.</a:t>
            </a:r>
          </a:p>
          <a:p>
            <a:pPr algn="l">
              <a:lnSpc>
                <a:spcPct val="110000"/>
              </a:lnSpc>
              <a:spcAft>
                <a:spcPts val="300"/>
              </a:spcAft>
            </a:pPr>
            <a:r>
              <a:rPr sz="1400" b="0">
                <a:solidFill>
                  <a:srgbClr val="1F2A3A"/>
                </a:solidFill>
                <a:latin typeface="맑은 고딕"/>
                <a:ea typeface="맑은 고딕"/>
                <a:cs typeface="맑은 고딕"/>
              </a:rPr>
              <a:t>역할이 맞지 않는 승인은 받아들이지 않고 기록으로 남긴다.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둘의 관계</a:t>
            </a:r>
          </a:p>
          <a:p>
            <a:pPr algn="l">
              <a:lnSpc>
                <a:spcPct val="110000"/>
              </a:lnSpc>
              <a:spcAft>
                <a:spcPts val="200"/>
              </a:spcAft>
            </a:pPr>
            <a:r>
              <a:rPr sz="1150" b="0">
                <a:solidFill>
                  <a:srgbClr val="556175"/>
                </a:solidFill>
                <a:latin typeface="맑은 고딕"/>
                <a:ea typeface="맑은 고딕"/>
                <a:cs typeface="맑은 고딕"/>
              </a:rPr>
              <a:t>자리와 자격</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 승인은 결정의 자리를, 권한은 그 자리에 설 수 있는 쪽을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과정의 예</a:t>
            </a:r>
          </a:p>
          <a:p>
            <a:pPr algn="l">
              <a:lnSpc>
                <a:spcPct val="110000"/>
              </a:lnSpc>
              <a:spcAft>
                <a:spcPts val="200"/>
              </a:spcAft>
            </a:pPr>
            <a:r>
              <a:rPr sz="1150" b="0">
                <a:solidFill>
                  <a:srgbClr val="556175"/>
                </a:solidFill>
                <a:latin typeface="맑은 고딕"/>
                <a:ea typeface="맑은 고딕"/>
                <a:cs typeface="맑은 고딕"/>
              </a:rPr>
              <a:t>6일차의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건의 시작, 승인의 접수와 전달, 결과 보고가 차례로 기록되었다.</a:t>
            </a:r>
          </a:p>
          <a:p>
            <a:pPr algn="l">
              <a:lnSpc>
                <a:spcPct val="110000"/>
              </a:lnSpc>
              <a:spcAft>
                <a:spcPts val="300"/>
              </a:spcAft>
            </a:pPr>
            <a:r>
              <a:rPr sz="1400" b="0">
                <a:solidFill>
                  <a:srgbClr val="1F2A3A"/>
                </a:solidFill>
                <a:latin typeface="맑은 고딕"/>
                <a:ea typeface="맑은 고딕"/>
                <a:cs typeface="맑은 고딕"/>
              </a:rPr>
              <a:t>판단 id가 승인 기록에 함께 남았다.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보상.svg" descr="illust_1808982939126819834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되풀이되는 판단에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a:t>
            </a:r>
          </a:p>
          <a:p>
            <a:pPr algn="l">
              <a:lnSpc>
                <a:spcPct val="110000"/>
              </a:lnSpc>
              <a:spcAft>
                <a:spcPts val="400"/>
              </a:spcAft>
            </a:pPr>
            <a:r>
              <a:rPr sz="1400" b="0">
                <a:solidFill>
                  <a:srgbClr val="1F2A3A"/>
                </a:solidFill>
                <a:latin typeface="맑은 고딕"/>
                <a:ea typeface="맑은 고딕"/>
                <a:cs typeface="맑은 고딕"/>
              </a:rPr>
              <a:t>• 닿지 못하게 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수 있는 도구를</a:t>
            </a:r>
          </a:p>
          <a:p>
            <a:pPr algn="l">
              <a:lnSpc>
                <a:spcPct val="110000"/>
              </a:lnSpc>
              <a:spcAft>
                <a:spcPts val="400"/>
              </a:spcAft>
            </a:pPr>
            <a:r>
              <a:rPr sz="1400" b="0">
                <a:solidFill>
                  <a:srgbClr val="1F2A3A"/>
                </a:solidFill>
                <a:latin typeface="맑은 고딕"/>
                <a:ea typeface="맑은 고딕"/>
                <a:cs typeface="맑은 고딕"/>
              </a:rPr>
              <a:t>• 허용 목록으로 정한다</a:t>
            </a:r>
          </a:p>
        </p:txBody>
      </p:sp>
      <p:sp>
        <p:nvSpPr>
          <p:cNvPr id="16" name="Rounded Rectangle 15"/>
          <p:cNvSpPr/>
          <p:nvPr/>
        </p:nvSpPr>
        <p:spPr>
          <a:xfrm>
            <a:off x="4566818" y="504139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 목록</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첫날 만든 학습 노트에 개념, 자료, 산출물, 검증 결과를 이어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개념, 참고 자료, 실습 산출물, 검증 결과가 서로 이어진 학습 노트가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ProcessGPT가 하는 일</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