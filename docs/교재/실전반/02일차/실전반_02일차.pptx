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먼저 그 온톨로지를 정의하고 그래프 DB에 넣어 조회하는 방법을 다룹니다. 이어서 그 지식을 바탕으로 조치를 가리는 절차와 규칙을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시간에 본 CAUSES도 다대다였습니다.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 봅니다. 출발점은 클래스가 아니라 질문입니다. 질문에서 클래스와 인스턴스를 가르고, 속성을 정한 뒤, 관계를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괄호 안의 중괄호는 속성 조건이며 글자 값은 작은따옴표로 감쌉니다.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본 설계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도착한 자리에서 시작하겠습니다.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조치를 어떻게 수행하는가부터 봅니다.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여섯 가지가 더 붙습니다. 위에서부터 적용 대상, 전제 조건, 수행 단계, 담당 역할, 안전 조건, 완료 확인 기준, 금지 사항입니다. 일곱 가지가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가운데 절차를 시작하기 전에 정해 두는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나머지 넷도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사람이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현장에서 누군가 설비를 손으로 조작하고 있는데 원격에서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그런 것이 아닙니다. 팬이 이미 얼마나 오래 최대로 돌았는지, 조치를 했을 때 유온이 어디까지 내려갈지도 조치의 가능 여부와 유불리를 바꿉니다. 그러므로 조치를 고르는 쪽은 절차와 함께 지금의 설비 상태를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지금 이 조치를 해도 되는가를 가르는 조건을 봅니다. 그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과열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입력에 여러 행이 함께 맞기도 합니다. 팬이 30시간째 최대로 돌았고 예측 유온이 56도라면 감점 행과 경고 행이 함께 맞습니다. 이것은 잘못이 아니라 실제로 둘 다 해당하는 상황이며, 맞은 행의 출력이 모두 붙어 감점과 경고를 함께 받습니다. 제외 행까지 맞았다면 그 조치는 다른 출력과 관계없이 후보에서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규칙이 맡는 일을 조치 한 건의 흐름으로 잇습니다. 네 후보에 지금의 값을 대면 결정표가 제외와 감점과 경고를 내고, 여러 행이 함께 맞으면 그 출력이 모두 붙습니다. 운전 모드가 원격 자동이면 팬 최대 운전은 후보에 남고, 남은 조치를 어떤 단계로 하고 누가 승인하며 무엇으로 끝났다고 보는지는 SOP가 정합니다. 결정표의 행에는 순서도 승인 역할도 완료 확인 기준도 적히지 않으므로 규칙이 절차를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제공된 작업 기준을 읽고 온도, 압력, 설비 상태에 걸린 허용 기준과 금지 기준을 찾는 데서 시작합니다. 조건마다 무엇을 보는지를 입력으로 정하고, 입력과 연산자와 기준값으로 된 조건에 출력을 붙여 한 행으로 적으며, 허용은 제외되지 않고 후보에 남는다는 뜻입니다. 앞에서 본 것처럼 여러 행이 함께 맞을 수 있으므로, 임계값 조건과 금지 조건이 함께 맞는 경우에는 제외로 두고 맞은 조건을 제외 사유로 적습니다. 결과가 예상과 다르면 연산자가 「넘는다」인지 「이상」인지와 경계값을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말이고, 레이블은 그래프 DB의 말이며, 아래 셋은 조치 기준을 적는 말입니다. 이 아홉 개와 함께 속성, 제약, 별칭, 질의, 운전 모드, 결정표, 입력 데이터, 규칙, 판정이 오늘의 용어입니다. 하나를 골라 자료를 덮고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3번은 팬을 건드리지 않더라도 부하를 낮추는 것이 원격 제어이므로 제외됩니다.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9.png"/><Relationship Id="rId6"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20.png"/><Relationship Id="rId6"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7.png"/><Relationship Id="rId4"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6.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20.png"/><Relationship Id="rId6" Type="http://schemas.openxmlformats.org/officeDocument/2006/relationships/image" Target="../media/image4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8.png"/><Relationship Id="rId4" Type="http://schemas.openxmlformats.org/officeDocument/2006/relationships/image" Target="../media/image5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1.png"/><Relationship Id="rId4" Type="http://schemas.openxmlformats.org/officeDocument/2006/relationships/image" Target="../media/image6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7.png"/><Relationship Id="rId4" Type="http://schemas.openxmlformats.org/officeDocument/2006/relationships/image" Target="../media/image65.png"/><Relationship Id="rId5" Type="http://schemas.openxmlformats.org/officeDocument/2006/relationships/image" Target="../media/image6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7.png"/><Relationship Id="rId4" Type="http://schemas.openxmlformats.org/officeDocument/2006/relationships/image" Target="../media/image58.png"/><Relationship Id="rId5" Type="http://schemas.openxmlformats.org/officeDocument/2006/relationships/image" Target="../media/image6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1.png"/><Relationship Id="rId4" Type="http://schemas.openxmlformats.org/officeDocument/2006/relationships/image" Target="../media/image4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5.png"/><Relationship Id="rId4" Type="http://schemas.openxmlformats.org/officeDocument/2006/relationships/image" Target="../media/image72.png"/><Relationship Id="rId5" Type="http://schemas.openxmlformats.org/officeDocument/2006/relationships/image" Target="../media/image7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7.png"/><Relationship Id="rId4" Type="http://schemas.openxmlformats.org/officeDocument/2006/relationships/image" Target="../media/image45.png"/><Relationship Id="rId5" Type="http://schemas.openxmlformats.org/officeDocument/2006/relationships/image" Target="../media/image78.png"/><Relationship Id="rId6" Type="http://schemas.openxmlformats.org/officeDocument/2006/relationships/image" Target="../media/image6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3.png"/><Relationship Id="rId4" Type="http://schemas.openxmlformats.org/officeDocument/2006/relationships/image" Target="../media/image79.png"/><Relationship Id="rId5" Type="http://schemas.openxmlformats.org/officeDocument/2006/relationships/image" Target="../media/image45.png"/><Relationship Id="rId6" Type="http://schemas.openxmlformats.org/officeDocument/2006/relationships/image" Target="../media/image7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설비의 지식 구조를 만들고</a:t>
            </a:r>
          </a:p>
          <a:p>
            <a:pPr algn="l">
              <a:lnSpc>
                <a:spcPct val="110000"/>
              </a:lnSpc>
            </a:pPr>
            <a:r>
              <a:rPr sz="4000" b="1">
                <a:solidFill>
                  <a:srgbClr val="FFFFFF"/>
                </a:solidFill>
                <a:latin typeface="맑은 고딕"/>
                <a:ea typeface="맑은 고딕"/>
                <a:cs typeface="맑은 고딕"/>
              </a:rPr>
              <a:t>안전한 조치 기준 마련하기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 조치 절차와 판단 규칙</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check" descr="list-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정의해 그래프 DB에서 조회하고, 그 지식을 바탕으로 조치를 허용하거나 제외하는 기준을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현장 정보를 속성과 관계로 나눈다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식별자, 자료형, 필수 여부와 관계의 양 끝을 정의에서 읽는다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MATCH, WHERE, RETURN으로 조회한다</a:t>
            </a:r>
          </a:p>
          <a:p>
            <a:pPr algn="l">
              <a:lnSpc>
                <a:spcPct val="110000"/>
              </a:lnSpc>
              <a:spcAft>
                <a:spcPts val="400"/>
              </a:spcAft>
            </a:pPr>
            <a:r>
              <a:rPr sz="1350" b="0">
                <a:solidFill>
                  <a:srgbClr val="1F2A3A"/>
                </a:solidFill>
                <a:latin typeface="맑은 고딕"/>
                <a:ea typeface="맑은 고딕"/>
                <a:cs typeface="맑은 고딕"/>
              </a:rPr>
              <a:t>• CREATE와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절차와 판단 규칙</a:t>
            </a:r>
          </a:p>
          <a:p>
            <a:pPr algn="l">
              <a:lnSpc>
                <a:spcPct val="110000"/>
              </a:lnSpc>
              <a:spcAft>
                <a:spcPts val="400"/>
              </a:spcAft>
            </a:pPr>
            <a:r>
              <a:rPr sz="1350" b="0">
                <a:solidFill>
                  <a:srgbClr val="1F2A3A"/>
                </a:solidFill>
                <a:latin typeface="맑은 고딕"/>
                <a:ea typeface="맑은 고딕"/>
                <a:cs typeface="맑은 고딕"/>
              </a:rPr>
              <a:t>• 절차가 정하는 것과 규칙이 가리는 것을 구분한다</a:t>
            </a:r>
          </a:p>
          <a:p>
            <a:pPr algn="l">
              <a:lnSpc>
                <a:spcPct val="110000"/>
              </a:lnSpc>
              <a:spcAft>
                <a:spcPts val="400"/>
              </a:spcAft>
            </a:pPr>
            <a:r>
              <a:rPr sz="1350" b="0">
                <a:solidFill>
                  <a:srgbClr val="1F2A3A"/>
                </a:solidFill>
                <a:latin typeface="맑은 고딕"/>
                <a:ea typeface="맑은 고딕"/>
                <a:cs typeface="맑은 고딕"/>
              </a:rPr>
              <a:t>• 조건 문장을 결정표의 행으로 옮긴다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기준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5262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5262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판단 규칙</a:t>
            </a:r>
          </a:p>
        </p:txBody>
      </p:sp>
      <p:sp>
        <p:nvSpPr>
          <p:cNvPr id="21" name="Rounded Rectangle 20"/>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23" name="TextBox 2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2462028603670773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10724643223394031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456242480793937739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속성_3.svg" descr="illust_782595384301991147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설비세대.svg" descr="illust_621177252806426572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한계값.svg" descr="illust_398098453000730653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383613039582479670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카디널리티.svg" descr="illust_739642988132037693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다대다.svg" descr="illust_578060150423690423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여러노드.svg" descr="illust_532626498688411582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연결조건_2.svg" descr="illust_846277791670662105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세 값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조인_1.svg" descr="illust_718061483284706899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조인_2.svg" descr="illust_5242815785208651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속성그래프_3.svg" descr="illust_605201507897494790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표기_3.svg" descr="illust_216397102900325893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 '오일 쿨러'}</a:t>
            </a:r>
          </a:p>
          <a:p>
            <a:pPr algn="l">
              <a:lnSpc>
                <a:spcPct val="110000"/>
              </a:lnSpc>
              <a:spcAft>
                <a:spcPts val="400"/>
              </a:spcAft>
            </a:pPr>
            <a:r>
              <a:rPr sz="1400" b="0">
                <a:solidFill>
                  <a:srgbClr val="1F2A3A"/>
                </a:solidFill>
                <a:latin typeface="맑은 고딕"/>
                <a:ea typeface="맑은 고딕"/>
                <a:cs typeface="맑은 고딕"/>
              </a:rPr>
              <a:t>중괄호는 속성 조건이다. Component 가운데 name 속성이 오일 쿨러인 노드만 가리킨다.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설비 지식의 연결 구조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클래스, 인스턴스, 속성, 관계가 HYD의 지식 그래프에 실제로 어떻게 들어 있는지를 설명할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 설비 하나를 골라 그에 이어진 구성 요소와 센서를 찾아간다</a:t>
            </a:r>
          </a:p>
          <a:p>
            <a:pPr algn="l">
              <a:lnSpc>
                <a:spcPct val="110000"/>
              </a:lnSpc>
              <a:spcAft>
                <a:spcPts val="400"/>
              </a:spcAft>
            </a:pPr>
            <a:r>
              <a:rPr sz="1400" b="0">
                <a:solidFill>
                  <a:srgbClr val="1F2A3A"/>
                </a:solidFill>
                <a:latin typeface="맑은 고딕"/>
                <a:ea typeface="맑은 고딕"/>
                <a:cs typeface="맑은 고딕"/>
              </a:rPr>
              <a:t>• 구성 요소에서 일어나는 고장 유형을 살펴본다</a:t>
            </a:r>
          </a:p>
        </p:txBody>
      </p:sp>
      <p:sp>
        <p:nvSpPr>
          <p:cNvPr id="10" name="Rounded Rectangle 9"/>
          <p:cNvSpPr/>
          <p:nvPr/>
        </p:nvSpPr>
        <p:spPr>
          <a:xfrm>
            <a:off x="777240" y="5041392"/>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6233007"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6461607" y="5041392"/>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041392"/>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289429"/>
            <a:ext cx="2485567" cy="34038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723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625928"/>
            <a:ext cx="424281" cy="424281"/>
          </a:xfrm>
          <a:prstGeom prst="rect">
            <a:avLst/>
          </a:prstGeom>
        </p:spPr>
      </p:pic>
      <p:sp>
        <p:nvSpPr>
          <p:cNvPr id="9" name="TextBox 8"/>
          <p:cNvSpPr txBox="1"/>
          <p:nvPr/>
        </p:nvSpPr>
        <p:spPr>
          <a:xfrm>
            <a:off x="621792"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289429"/>
            <a:ext cx="2485567" cy="34038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472309"/>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625928"/>
            <a:ext cx="424281" cy="424281"/>
          </a:xfrm>
          <a:prstGeom prst="rect">
            <a:avLst/>
          </a:prstGeom>
        </p:spPr>
      </p:pic>
      <p:sp>
        <p:nvSpPr>
          <p:cNvPr id="14" name="TextBox 13"/>
          <p:cNvSpPr txBox="1"/>
          <p:nvPr/>
        </p:nvSpPr>
        <p:spPr>
          <a:xfrm>
            <a:off x="3491407"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289429"/>
            <a:ext cx="2485567" cy="34038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72309"/>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625928"/>
            <a:ext cx="424281" cy="424281"/>
          </a:xfrm>
          <a:prstGeom prst="rect">
            <a:avLst/>
          </a:prstGeom>
        </p:spPr>
      </p:pic>
      <p:sp>
        <p:nvSpPr>
          <p:cNvPr id="19" name="TextBox 18"/>
          <p:cNvSpPr txBox="1"/>
          <p:nvPr/>
        </p:nvSpPr>
        <p:spPr>
          <a:xfrm>
            <a:off x="6361023"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방향을 정한다</a:t>
            </a:r>
          </a:p>
          <a:p>
            <a:pPr algn="ctr">
              <a:lnSpc>
                <a:spcPct val="110000"/>
              </a:lnSpc>
              <a:spcAft>
                <a:spcPts val="400"/>
              </a:spcAft>
            </a:pPr>
            <a:r>
              <a:rPr sz="1350" b="0">
                <a:solidFill>
                  <a:srgbClr val="1F2A3A"/>
                </a:solidFill>
                <a:latin typeface="맑은 고딕"/>
                <a:ea typeface="맑은 고딕"/>
                <a:cs typeface="맑은 고딕"/>
              </a:rPr>
              <a:t>여러 곳에 쓰이는 부품과</a:t>
            </a:r>
          </a:p>
          <a:p>
            <a:pPr algn="ctr">
              <a:lnSpc>
                <a:spcPct val="110000"/>
              </a:lnSpc>
              <a:spcAft>
                <a:spcPts val="400"/>
              </a:spcAft>
            </a:pPr>
            <a:r>
              <a:rPr sz="1350" b="0">
                <a:solidFill>
                  <a:srgbClr val="1F2A3A"/>
                </a:solidFill>
                <a:latin typeface="맑은 고딕"/>
                <a:ea typeface="맑은 고딕"/>
                <a:cs typeface="맑은 고딕"/>
              </a:rPr>
              <a:t>센서가 여럿인 관계를</a:t>
            </a:r>
          </a:p>
          <a:p>
            <a:pPr algn="ctr">
              <a:lnSpc>
                <a:spcPct val="110000"/>
              </a:lnSpc>
              <a:spcAft>
                <a:spcPts val="400"/>
              </a:spcAft>
            </a:pPr>
            <a:r>
              <a:rPr sz="1350" b="0">
                <a:solidFill>
                  <a:srgbClr val="1F2A3A"/>
                </a:solidFill>
                <a:latin typeface="맑은 고딕"/>
                <a:ea typeface="맑은 고딕"/>
                <a:cs typeface="맑은 고딕"/>
              </a:rPr>
              <a:t>포함한다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289429"/>
            <a:ext cx="2485567" cy="34038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472309"/>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625928"/>
            <a:ext cx="424281" cy="424281"/>
          </a:xfrm>
          <a:prstGeom prst="rect">
            <a:avLst/>
          </a:prstGeom>
        </p:spPr>
      </p:pic>
      <p:sp>
        <p:nvSpPr>
          <p:cNvPr id="24" name="TextBox 23"/>
          <p:cNvSpPr txBox="1"/>
          <p:nvPr/>
        </p:nvSpPr>
        <p:spPr>
          <a:xfrm>
            <a:off x="9230639"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식별자가 겹치지 않는지,</a:t>
            </a:r>
          </a:p>
          <a:p>
            <a:pPr algn="ctr">
              <a:lnSpc>
                <a:spcPct val="110000"/>
              </a:lnSpc>
              <a:spcAft>
                <a:spcPts val="400"/>
              </a:spcAft>
            </a:pPr>
            <a:r>
              <a:rPr sz="1350" b="0">
                <a:solidFill>
                  <a:srgbClr val="1F2A3A"/>
                </a:solidFill>
                <a:latin typeface="맑은 고딕"/>
                <a:ea typeface="맑은 고딕"/>
                <a:cs typeface="맑은 고딕"/>
              </a:rPr>
              <a:t>필수 속성이 빠지지</a:t>
            </a:r>
          </a:p>
          <a:p>
            <a:pPr algn="ctr">
              <a:lnSpc>
                <a:spcPct val="110000"/>
              </a:lnSpc>
              <a:spcAft>
                <a:spcPts val="400"/>
              </a:spcAft>
            </a:pPr>
            <a:r>
              <a:rPr sz="1350" b="0">
                <a:solidFill>
                  <a:srgbClr val="1F2A3A"/>
                </a:solidFill>
                <a:latin typeface="맑은 고딕"/>
                <a:ea typeface="맑은 고딕"/>
                <a:cs typeface="맑은 고딕"/>
              </a:rPr>
              <a:t>않았는지 점검하고</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대조한다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설계한 클래스와 인스턴스와 관계가 그래프 DB에 들어가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판단 규칙</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절차가 정하는 순서와 안전 조건, 규칙이 가리는 조치의 가능 여부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조치후보_0.svg" descr="illust_110498384206311226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조치후보_전체.svg" descr="illust_664637147708236266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일곱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여섯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SOP문서_all.svg" descr="illust_498584085277264804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81672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7056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3197144"/>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0" name="TextBox 9"/>
          <p:cNvSpPr txBox="1"/>
          <p:nvPr/>
        </p:nvSpPr>
        <p:spPr>
          <a:xfrm>
            <a:off x="6204942" y="377862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1" name="TextBox 10"/>
          <p:cNvSpPr txBox="1"/>
          <p:nvPr/>
        </p:nvSpPr>
        <p:spPr>
          <a:xfrm>
            <a:off x="6204942" y="447355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2" name="TextBox 11"/>
          <p:cNvSpPr txBox="1"/>
          <p:nvPr/>
        </p:nvSpPr>
        <p:spPr>
          <a:xfrm>
            <a:off x="6204942" y="496048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3" name="TextBox 12"/>
          <p:cNvSpPr txBox="1"/>
          <p:nvPr/>
        </p:nvSpPr>
        <p:spPr>
          <a:xfrm>
            <a:off x="6204942" y="5471047"/>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운전모드_0.svg" descr="illust_758512250386662491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운전모드_3.svg" descr="illust_226644495796976477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현장에서 사람이 설비를 조작하는 동안</a:t>
            </a:r>
          </a:p>
          <a:p>
            <a:pPr algn="ctr">
              <a:lnSpc>
                <a:spcPct val="110000"/>
              </a:lnSpc>
              <a:spcAft>
                <a:spcPts val="100"/>
              </a:spcAft>
            </a:pPr>
            <a:r>
              <a:rPr sz="1300" b="0">
                <a:solidFill>
                  <a:srgbClr val="556175"/>
                </a:solidFill>
                <a:latin typeface="맑은 고딕"/>
                <a:ea typeface="맑은 고딕"/>
                <a:cs typeface="맑은 고딕"/>
              </a:rPr>
              <a:t>원격 명령이 끼어들면 위험하다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가능 여부를 바꾸는 설비 상태의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HM-8에서 조치의 가능 여부나 유불리를 바꾸는 설비의 상태는 운전 모드, 팬의 연속 운전 시간, 조치 후의 예측 유온이다.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400" b="0">
                <a:solidFill>
                  <a:srgbClr val="1F2A3A"/>
                </a:solidFill>
                <a:latin typeface="맑은 고딕"/>
                <a:ea typeface="맑은 고딕"/>
                <a:cs typeface="맑은 고딕"/>
              </a:rPr>
              <a:t>원격 자동이 아니면 원격 조치를 쓰지 않는다</a:t>
            </a:r>
          </a:p>
        </p:txBody>
      </p:sp>
      <p:sp>
        <p:nvSpPr>
          <p:cNvPr id="10" name="Rounded Rectangle 9"/>
          <p:cNvSpPr/>
          <p:nvPr/>
        </p:nvSpPr>
        <p:spPr>
          <a:xfrm>
            <a:off x="777240" y="5149850"/>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400" b="0">
                <a:solidFill>
                  <a:srgbClr val="1F2A3A"/>
                </a:solidFill>
                <a:latin typeface="맑은 고딕"/>
                <a:ea typeface="맑은 고딕"/>
                <a:cs typeface="맑은 고딕"/>
              </a:rPr>
              <a:t>24시간을 넘겼다면 팬 최대 운전을 감점해서 비교한다</a:t>
            </a:r>
          </a:p>
        </p:txBody>
      </p:sp>
      <p:sp>
        <p:nvSpPr>
          <p:cNvPr id="16" name="Rounded Rectangle 15"/>
          <p:cNvSpPr/>
          <p:nvPr/>
        </p:nvSpPr>
        <p:spPr>
          <a:xfrm>
            <a:off x="4566818" y="5149850"/>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 그 조치를 했다면 유온이 머물 값을 조치마다 미리 계산한 것이다</a:t>
            </a:r>
          </a:p>
          <a:p>
            <a:pPr algn="l">
              <a:lnSpc>
                <a:spcPct val="110000"/>
              </a:lnSpc>
              <a:spcAft>
                <a:spcPts val="400"/>
              </a:spcAft>
            </a:pPr>
            <a:r>
              <a:rPr sz="1400" b="0">
                <a:solidFill>
                  <a:srgbClr val="1F2A3A"/>
                </a:solidFill>
                <a:latin typeface="맑은 고딕"/>
                <a:ea typeface="맑은 고딕"/>
                <a:cs typeface="맑은 고딕"/>
              </a:rPr>
              <a:t>• 55 ℃ 이상이면 경보 해제에 실패할 수 있으므로 다른 조치와 비교한다</a:t>
            </a:r>
          </a:p>
        </p:txBody>
      </p:sp>
      <p:sp>
        <p:nvSpPr>
          <p:cNvPr id="22" name="Rounded Rectangle 21"/>
          <p:cNvSpPr/>
          <p:nvPr/>
        </p:nvSpPr>
        <p:spPr>
          <a:xfrm>
            <a:off x="8356396" y="5149850"/>
            <a:ext cx="902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결정표_2.svg" descr="illust_370603090167513699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정표_4.svg" descr="illust_39622457885498289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결정표_6.svg" descr="illust_410875204611015168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수직선_ge.svg" descr="illust_633909729035097048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a:p>
            <a:pPr algn="l">
              <a:lnSpc>
                <a:spcPct val="110000"/>
              </a:lnSpc>
            </a:pPr>
            <a:r>
              <a:rPr sz="1400" b="0">
                <a:solidFill>
                  <a:srgbClr val="1F2A3A"/>
                </a:solidFill>
                <a:latin typeface="맑은 고딕"/>
                <a:ea typeface="맑은 고딕"/>
                <a:cs typeface="맑은 고딕"/>
              </a:rPr>
              <a:t>셋 모두 팬 속도나 펌프 부하를 원격으로 바꾸는 설비 제어이다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과열 한 건</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입력에 여러 행이 함께 맞으면 맞은 행의 출력이 모두 그 조치에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히트_base.svg" descr="illust_328217699437928468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감점과 경고가 함께 붙는다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결정표가 가리는 것과 SOP가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후보에 남을 조치를 가릴 뿐이고, 남은 조치의 수행 단계와 승인 역할과 완료 확인 기준은 </a:t>
            </a:r>
            <a:r>
              <a:rPr sz="1600" b="1">
                <a:solidFill>
                  <a:srgbClr val="1A6FC4"/>
                </a:solidFill>
                <a:latin typeface="맑은 고딕"/>
                <a:ea typeface="맑은 고딕"/>
                <a:cs typeface="맑은 고딕"/>
              </a:rPr>
              <a:t>SOP</a:t>
            </a:r>
            <a:r>
              <a:rPr sz="1600" b="0">
                <a:solidFill>
                  <a:srgbClr val="556175"/>
                </a:solidFill>
                <a:latin typeface="맑은 고딕"/>
                <a:ea typeface="맑은 고딕"/>
                <a:cs typeface="맑은 고딕"/>
              </a:rPr>
              <a:t>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289429"/>
            <a:ext cx="2485567" cy="34038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72309"/>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1579283" y="2625928"/>
            <a:ext cx="424281" cy="424281"/>
          </a:xfrm>
          <a:prstGeom prst="rect">
            <a:avLst/>
          </a:prstGeom>
        </p:spPr>
      </p:pic>
      <p:sp>
        <p:nvSpPr>
          <p:cNvPr id="9" name="TextBox 8"/>
          <p:cNvSpPr txBox="1"/>
          <p:nvPr/>
        </p:nvSpPr>
        <p:spPr>
          <a:xfrm>
            <a:off x="621792"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후보 넷</a:t>
            </a:r>
          </a:p>
          <a:p>
            <a:pPr algn="ctr">
              <a:lnSpc>
                <a:spcPct val="110000"/>
              </a:lnSpc>
              <a:spcAft>
                <a:spcPts val="400"/>
              </a:spcAft>
            </a:pPr>
            <a:r>
              <a:rPr sz="1350" b="0">
                <a:solidFill>
                  <a:srgbClr val="1F2A3A"/>
                </a:solidFill>
                <a:latin typeface="맑은 고딕"/>
                <a:ea typeface="맑은 고딕"/>
                <a:cs typeface="맑은 고딕"/>
              </a:rPr>
              <a:t>쿨러 냉각 성능 상실에</a:t>
            </a:r>
          </a:p>
          <a:p>
            <a:pPr algn="ctr">
              <a:lnSpc>
                <a:spcPct val="110000"/>
              </a:lnSpc>
              <a:spcAft>
                <a:spcPts val="400"/>
              </a:spcAft>
            </a:pPr>
            <a:r>
              <a:rPr sz="1350" b="0">
                <a:solidFill>
                  <a:srgbClr val="1F2A3A"/>
                </a:solidFill>
                <a:latin typeface="맑은 고딕"/>
                <a:ea typeface="맑은 고딕"/>
                <a:cs typeface="맑은 고딕"/>
              </a:rPr>
              <a:t>매뉴얼이 정해 둔</a:t>
            </a:r>
          </a:p>
          <a:p>
            <a:pPr algn="ctr">
              <a:lnSpc>
                <a:spcPct val="110000"/>
              </a:lnSpc>
              <a:spcAft>
                <a:spcPts val="400"/>
              </a:spcAft>
            </a:pPr>
            <a:r>
              <a:rPr sz="1350" b="0">
                <a:solidFill>
                  <a:srgbClr val="1F2A3A"/>
                </a:solidFill>
                <a:latin typeface="맑은 고딕"/>
                <a:ea typeface="맑은 고딕"/>
                <a:cs typeface="맑은 고딕"/>
              </a:rPr>
              <a:t>네 가지 조치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289429"/>
            <a:ext cx="2485567" cy="34038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472309"/>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625928"/>
            <a:ext cx="424281" cy="424281"/>
          </a:xfrm>
          <a:prstGeom prst="rect">
            <a:avLst/>
          </a:prstGeom>
        </p:spPr>
      </p:pic>
      <p:sp>
        <p:nvSpPr>
          <p:cNvPr id="14" name="TextBox 13"/>
          <p:cNvSpPr txBox="1"/>
          <p:nvPr/>
        </p:nvSpPr>
        <p:spPr>
          <a:xfrm>
            <a:off x="3491407"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판정</a:t>
            </a:r>
          </a:p>
          <a:p>
            <a:pPr algn="ctr">
              <a:lnSpc>
                <a:spcPct val="110000"/>
              </a:lnSpc>
              <a:spcAft>
                <a:spcPts val="400"/>
              </a:spcAft>
            </a:pPr>
            <a:r>
              <a:rPr sz="1350" b="0">
                <a:solidFill>
                  <a:srgbClr val="1F2A3A"/>
                </a:solidFill>
                <a:latin typeface="맑은 고딕"/>
                <a:ea typeface="맑은 고딕"/>
                <a:cs typeface="맑은 고딕"/>
              </a:rPr>
              <a:t>plc_mode != REMOTE_AUTO</a:t>
            </a:r>
          </a:p>
          <a:p>
            <a:pPr algn="ctr">
              <a:lnSpc>
                <a:spcPct val="110000"/>
              </a:lnSpc>
              <a:spcAft>
                <a:spcPts val="400"/>
              </a:spcAft>
            </a:pPr>
            <a:r>
              <a:rPr sz="1350" b="0">
                <a:solidFill>
                  <a:srgbClr val="1F2A3A"/>
                </a:solidFill>
                <a:latin typeface="맑은 고딕"/>
                <a:ea typeface="맑은 고딕"/>
                <a:cs typeface="맑은 고딕"/>
              </a:rPr>
              <a:t>→ 제외</a:t>
            </a:r>
          </a:p>
          <a:p>
            <a:pPr algn="ctr">
              <a:lnSpc>
                <a:spcPct val="110000"/>
              </a:lnSpc>
              <a:spcAft>
                <a:spcPts val="400"/>
              </a:spcAft>
            </a:pPr>
            <a:r>
              <a:rPr sz="1350" b="0">
                <a:solidFill>
                  <a:srgbClr val="1F2A3A"/>
                </a:solidFill>
                <a:latin typeface="맑은 고딕"/>
                <a:ea typeface="맑은 고딕"/>
                <a:cs typeface="맑은 고딕"/>
              </a:rPr>
              <a:t>fan100_hours &gt; 24</a:t>
            </a:r>
          </a:p>
          <a:p>
            <a:pPr algn="ctr">
              <a:lnSpc>
                <a:spcPct val="110000"/>
              </a:lnSpc>
              <a:spcAft>
                <a:spcPts val="400"/>
              </a:spcAft>
            </a:pPr>
            <a:r>
              <a:rPr sz="1350" b="0">
                <a:solidFill>
                  <a:srgbClr val="1F2A3A"/>
                </a:solidFill>
                <a:latin typeface="맑은 고딕"/>
                <a:ea typeface="맑은 고딕"/>
                <a:cs typeface="맑은 고딕"/>
              </a:rPr>
              <a:t>→ 감점</a:t>
            </a:r>
          </a:p>
          <a:p>
            <a:pPr algn="ctr">
              <a:lnSpc>
                <a:spcPct val="110000"/>
              </a:lnSpc>
              <a:spcAft>
                <a:spcPts val="400"/>
              </a:spcAft>
            </a:pPr>
            <a:r>
              <a:rPr sz="1350" b="0">
                <a:solidFill>
                  <a:srgbClr val="1F2A3A"/>
                </a:solidFill>
                <a:latin typeface="맑은 고딕"/>
                <a:ea typeface="맑은 고딕"/>
                <a:cs typeface="맑은 고딕"/>
              </a:rPr>
              <a:t>forecast_ts1 &gt;= 55</a:t>
            </a:r>
          </a:p>
          <a:p>
            <a:pPr algn="ctr">
              <a:lnSpc>
                <a:spcPct val="110000"/>
              </a:lnSpc>
              <a:spcAft>
                <a:spcPts val="400"/>
              </a:spcAft>
            </a:pPr>
            <a:r>
              <a:rPr sz="1350" b="0">
                <a:solidFill>
                  <a:srgbClr val="1F2A3A"/>
                </a:solidFill>
                <a:latin typeface="맑은 고딕"/>
                <a:ea typeface="맑은 고딕"/>
                <a:cs typeface="맑은 고딕"/>
              </a:rPr>
              <a:t>→ 경고</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289429"/>
            <a:ext cx="2485567" cy="34038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72309"/>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625928"/>
            <a:ext cx="424281" cy="424281"/>
          </a:xfrm>
          <a:prstGeom prst="rect">
            <a:avLst/>
          </a:prstGeom>
        </p:spPr>
      </p:pic>
      <p:sp>
        <p:nvSpPr>
          <p:cNvPr id="19" name="TextBox 18"/>
          <p:cNvSpPr txBox="1"/>
          <p:nvPr/>
        </p:nvSpPr>
        <p:spPr>
          <a:xfrm>
            <a:off x="6361023"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남은 후보</a:t>
            </a:r>
          </a:p>
          <a:p>
            <a:pPr algn="ctr">
              <a:lnSpc>
                <a:spcPct val="110000"/>
              </a:lnSpc>
              <a:spcAft>
                <a:spcPts val="400"/>
              </a:spcAft>
            </a:pPr>
            <a:r>
              <a:rPr sz="1350" b="0">
                <a:solidFill>
                  <a:srgbClr val="1F2A3A"/>
                </a:solidFill>
                <a:latin typeface="맑은 고딕"/>
                <a:ea typeface="맑은 고딕"/>
                <a:cs typeface="맑은 고딕"/>
              </a:rPr>
              <a:t>예: SOP-COOL-11</a:t>
            </a:r>
          </a:p>
          <a:p>
            <a:pPr algn="ctr">
              <a:lnSpc>
                <a:spcPct val="110000"/>
              </a:lnSpc>
              <a:spcAft>
                <a:spcPts val="400"/>
              </a:spcAft>
            </a:pPr>
            <a:r>
              <a:rPr sz="1350" b="0">
                <a:solidFill>
                  <a:srgbClr val="1F2A3A"/>
                </a:solidFill>
                <a:latin typeface="맑은 고딕"/>
                <a:ea typeface="맑은 고딕"/>
                <a:cs typeface="맑은 고딕"/>
              </a:rPr>
              <a:t>팬 최대 운전</a:t>
            </a:r>
          </a:p>
          <a:p>
            <a:pPr algn="ctr">
              <a:lnSpc>
                <a:spcPct val="110000"/>
              </a:lnSpc>
              <a:spcAft>
                <a:spcPts val="400"/>
              </a:spcAft>
            </a:pPr>
            <a:r>
              <a:rPr sz="1350" b="0">
                <a:solidFill>
                  <a:srgbClr val="1F2A3A"/>
                </a:solidFill>
                <a:latin typeface="맑은 고딕"/>
                <a:ea typeface="맑은 고딕"/>
                <a:cs typeface="맑은 고딕"/>
              </a:rPr>
              <a:t>운전 모드가</a:t>
            </a:r>
          </a:p>
          <a:p>
            <a:pPr algn="ctr">
              <a:lnSpc>
                <a:spcPct val="110000"/>
              </a:lnSpc>
              <a:spcAft>
                <a:spcPts val="400"/>
              </a:spcAft>
            </a:pPr>
            <a:r>
              <a:rPr sz="1350" b="0">
                <a:solidFill>
                  <a:srgbClr val="1F2A3A"/>
                </a:solidFill>
                <a:latin typeface="맑은 고딕"/>
                <a:ea typeface="맑은 고딕"/>
                <a:cs typeface="맑은 고딕"/>
              </a:rPr>
              <a:t>REMOTE_AUTO이면</a:t>
            </a:r>
          </a:p>
          <a:p>
            <a:pPr algn="ctr">
              <a:lnSpc>
                <a:spcPct val="110000"/>
              </a:lnSpc>
              <a:spcAft>
                <a:spcPts val="400"/>
              </a:spcAft>
            </a:pPr>
            <a:r>
              <a:rPr sz="1350" b="0">
                <a:solidFill>
                  <a:srgbClr val="1F2A3A"/>
                </a:solidFill>
                <a:latin typeface="맑은 고딕"/>
                <a:ea typeface="맑은 고딕"/>
                <a:cs typeface="맑은 고딕"/>
              </a:rPr>
              <a:t>후보에 남는다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289429"/>
            <a:ext cx="2485567" cy="34038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472309"/>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625928"/>
            <a:ext cx="424281" cy="424281"/>
          </a:xfrm>
          <a:prstGeom prst="rect">
            <a:avLst/>
          </a:prstGeom>
        </p:spPr>
      </p:pic>
      <p:sp>
        <p:nvSpPr>
          <p:cNvPr id="24" name="TextBox 23"/>
          <p:cNvSpPr txBox="1"/>
          <p:nvPr/>
        </p:nvSpPr>
        <p:spPr>
          <a:xfrm>
            <a:off x="9230639"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SOP의 수행</a:t>
            </a:r>
          </a:p>
          <a:p>
            <a:pPr algn="ctr">
              <a:lnSpc>
                <a:spcPct val="110000"/>
              </a:lnSpc>
              <a:spcAft>
                <a:spcPts val="400"/>
              </a:spcAft>
            </a:pPr>
            <a:r>
              <a:rPr sz="1350" b="0">
                <a:solidFill>
                  <a:srgbClr val="1F2A3A"/>
                </a:solidFill>
                <a:latin typeface="맑은 고딕"/>
                <a:ea typeface="맑은 고딕"/>
                <a:cs typeface="맑은 고딕"/>
              </a:rPr>
              <a:t>단계: 확인, 수행, 판정</a:t>
            </a:r>
          </a:p>
          <a:p>
            <a:pPr algn="ctr">
              <a:lnSpc>
                <a:spcPct val="110000"/>
              </a:lnSpc>
              <a:spcAft>
                <a:spcPts val="400"/>
              </a:spcAft>
            </a:pPr>
            <a:r>
              <a:rPr sz="1350" b="0">
                <a:solidFill>
                  <a:srgbClr val="1F2A3A"/>
                </a:solidFill>
                <a:latin typeface="맑은 고딕"/>
                <a:ea typeface="맑은 고딕"/>
                <a:cs typeface="맑은 고딕"/>
              </a:rPr>
              <a:t>제한: 100 % 연속 운전은</a:t>
            </a:r>
          </a:p>
          <a:p>
            <a:pPr algn="ctr">
              <a:lnSpc>
                <a:spcPct val="110000"/>
              </a:lnSpc>
              <a:spcAft>
                <a:spcPts val="400"/>
              </a:spcAft>
            </a:pPr>
            <a:r>
              <a:rPr sz="1350" b="0">
                <a:solidFill>
                  <a:srgbClr val="1F2A3A"/>
                </a:solidFill>
                <a:latin typeface="맑은 고딕"/>
                <a:ea typeface="맑은 고딕"/>
                <a:cs typeface="맑은 고딕"/>
              </a:rPr>
              <a:t>24시간 이내</a:t>
            </a:r>
          </a:p>
          <a:p>
            <a:pPr algn="ctr">
              <a:lnSpc>
                <a:spcPct val="110000"/>
              </a:lnSpc>
              <a:spcAft>
                <a:spcPts val="400"/>
              </a:spcAft>
            </a:pPr>
            <a:r>
              <a:rPr sz="1350" b="0">
                <a:solidFill>
                  <a:srgbClr val="1F2A3A"/>
                </a:solidFill>
                <a:latin typeface="맑은 고딕"/>
                <a:ea typeface="맑은 고딕"/>
                <a:cs typeface="맑은 고딕"/>
              </a:rPr>
              <a:t>승인: 운전원</a:t>
            </a:r>
          </a:p>
          <a:p>
            <a:pPr algn="ctr">
              <a:lnSpc>
                <a:spcPct val="110000"/>
              </a:lnSpc>
              <a:spcAft>
                <a:spcPts val="400"/>
              </a:spcAft>
            </a:pPr>
            <a:r>
              <a:rPr sz="1350" b="0">
                <a:solidFill>
                  <a:srgbClr val="1F2A3A"/>
                </a:solidFill>
                <a:latin typeface="맑은 고딕"/>
                <a:ea typeface="맑은 고딕"/>
                <a:cs typeface="맑은 고딕"/>
              </a:rPr>
              <a:t>완료: 15분 동안</a:t>
            </a:r>
          </a:p>
          <a:p>
            <a:pPr algn="ctr">
              <a:lnSpc>
                <a:spcPct val="110000"/>
              </a:lnSpc>
              <a:spcAft>
                <a:spcPts val="400"/>
              </a:spcAft>
            </a:pPr>
            <a:r>
              <a:rPr sz="1350" b="0">
                <a:solidFill>
                  <a:srgbClr val="1F2A3A"/>
                </a:solidFill>
                <a:latin typeface="맑은 고딕"/>
                <a:ea typeface="맑은 고딕"/>
                <a:cs typeface="맑은 고딕"/>
              </a:rPr>
              <a:t>TS1이 55 ℃ 미만</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작업 기준으로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작업 기준의 온도 · 압력 · 설비 상태 조건을 결정표의 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작업 기준의 조건이 조치의 허용과 제외를 가르는 결정표로 정리되고 제외 사유가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찾기</a:t>
            </a:r>
          </a:p>
          <a:p>
            <a:pPr algn="ctr">
              <a:lnSpc>
                <a:spcPct val="110000"/>
              </a:lnSpc>
              <a:spcAft>
                <a:spcPts val="400"/>
              </a:spcAft>
            </a:pPr>
            <a:r>
              <a:rPr sz="1350" b="0">
                <a:solidFill>
                  <a:srgbClr val="1F2A3A"/>
                </a:solidFill>
                <a:latin typeface="맑은 고딕"/>
                <a:ea typeface="맑은 고딕"/>
                <a:cs typeface="맑은 고딕"/>
              </a:rPr>
              <a:t>제공된 작업 기준에서</a:t>
            </a:r>
          </a:p>
          <a:p>
            <a:pPr algn="ctr">
              <a:lnSpc>
                <a:spcPct val="110000"/>
              </a:lnSpc>
              <a:spcAft>
                <a:spcPts val="400"/>
              </a:spcAft>
            </a:pPr>
            <a:r>
              <a:rPr sz="1350" b="0">
                <a:solidFill>
                  <a:srgbClr val="1F2A3A"/>
                </a:solidFill>
                <a:latin typeface="맑은 고딕"/>
                <a:ea typeface="맑은 고딕"/>
                <a:cs typeface="맑은 고딕"/>
              </a:rPr>
              <a:t>온도, 압력, 설비 상태의</a:t>
            </a:r>
          </a:p>
          <a:p>
            <a:pPr algn="ctr">
              <a:lnSpc>
                <a:spcPct val="110000"/>
              </a:lnSpc>
              <a:spcAft>
                <a:spcPts val="400"/>
              </a:spcAft>
            </a:pPr>
            <a:r>
              <a:rPr sz="1350" b="0">
                <a:solidFill>
                  <a:srgbClr val="1F2A3A"/>
                </a:solidFill>
                <a:latin typeface="맑은 고딕"/>
                <a:ea typeface="맑은 고딕"/>
                <a:cs typeface="맑은 고딕"/>
              </a:rPr>
              <a:t>허용 기준과</a:t>
            </a:r>
          </a:p>
          <a:p>
            <a:pPr algn="ctr">
              <a:lnSpc>
                <a:spcPct val="110000"/>
              </a:lnSpc>
              <a:spcAft>
                <a:spcPts val="400"/>
              </a:spcAft>
            </a:pPr>
            <a:r>
              <a:rPr sz="1350" b="0">
                <a:solidFill>
                  <a:srgbClr val="1F2A3A"/>
                </a:solidFill>
                <a:latin typeface="맑은 고딕"/>
                <a:ea typeface="맑은 고딕"/>
                <a:cs typeface="맑은 고딕"/>
              </a:rPr>
              <a:t>금지 기준을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auge" descr="gaug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정하기</a:t>
            </a:r>
          </a:p>
          <a:p>
            <a:pPr algn="ctr">
              <a:lnSpc>
                <a:spcPct val="110000"/>
              </a:lnSpc>
              <a:spcAft>
                <a:spcPts val="400"/>
              </a:spcAft>
            </a:pPr>
            <a:r>
              <a:rPr sz="1350" b="0">
                <a:solidFill>
                  <a:srgbClr val="1F2A3A"/>
                </a:solidFill>
                <a:latin typeface="맑은 고딕"/>
                <a:ea typeface="맑은 고딕"/>
                <a:cs typeface="맑은 고딕"/>
              </a:rPr>
              <a:t>조건마다</a:t>
            </a:r>
          </a:p>
          <a:p>
            <a:pPr algn="ctr">
              <a:lnSpc>
                <a:spcPct val="110000"/>
              </a:lnSpc>
              <a:spcAft>
                <a:spcPts val="400"/>
              </a:spcAft>
            </a:pPr>
            <a:r>
              <a:rPr sz="1350" b="0">
                <a:solidFill>
                  <a:srgbClr val="1F2A3A"/>
                </a:solidFill>
                <a:latin typeface="맑은 고딕"/>
                <a:ea typeface="맑은 고딕"/>
                <a:cs typeface="맑은 고딕"/>
              </a:rPr>
              <a:t>무엇을 보는지를</a:t>
            </a:r>
          </a:p>
          <a:p>
            <a:pPr algn="ctr">
              <a:lnSpc>
                <a:spcPct val="110000"/>
              </a:lnSpc>
              <a:spcAft>
                <a:spcPts val="400"/>
              </a:spcAft>
            </a:pPr>
            <a:r>
              <a:rPr sz="1350" b="0">
                <a:solidFill>
                  <a:srgbClr val="1F2A3A"/>
                </a:solidFill>
                <a:latin typeface="맑은 고딕"/>
                <a:ea typeface="맑은 고딕"/>
                <a:cs typeface="맑은 고딕"/>
              </a:rPr>
              <a:t>입력으로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table" descr="tabl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입력, 연산자, 기준값의</a:t>
            </a:r>
          </a:p>
          <a:p>
            <a:pPr algn="ctr">
              <a:lnSpc>
                <a:spcPct val="110000"/>
              </a:lnSpc>
              <a:spcAft>
                <a:spcPts val="400"/>
              </a:spcAft>
            </a:pPr>
            <a:r>
              <a:rPr sz="1350" b="0">
                <a:solidFill>
                  <a:srgbClr val="1F2A3A"/>
                </a:solidFill>
                <a:latin typeface="맑은 고딕"/>
                <a:ea typeface="맑은 고딕"/>
                <a:cs typeface="맑은 고딕"/>
              </a:rPr>
              <a:t>조건에 출력을 붙인다</a:t>
            </a:r>
          </a:p>
          <a:p>
            <a:pPr algn="ctr">
              <a:lnSpc>
                <a:spcPct val="110000"/>
              </a:lnSpc>
              <a:spcAft>
                <a:spcPts val="400"/>
              </a:spcAft>
            </a:pPr>
            <a:r>
              <a:rPr sz="1350" b="0">
                <a:solidFill>
                  <a:srgbClr val="1F2A3A"/>
                </a:solidFill>
                <a:latin typeface="맑은 고딕"/>
                <a:ea typeface="맑은 고딕"/>
                <a:cs typeface="맑은 고딕"/>
              </a:rPr>
              <a:t>허용: 후보에 남는다</a:t>
            </a:r>
          </a:p>
          <a:p>
            <a:pPr algn="ctr">
              <a:lnSpc>
                <a:spcPct val="110000"/>
              </a:lnSpc>
              <a:spcAft>
                <a:spcPts val="400"/>
              </a:spcAft>
            </a:pPr>
            <a:r>
              <a:rPr sz="1350" b="0">
                <a:solidFill>
                  <a:srgbClr val="1F2A3A"/>
                </a:solidFill>
                <a:latin typeface="맑은 고딕"/>
                <a:ea typeface="맑은 고딕"/>
                <a:cs typeface="맑은 고딕"/>
              </a:rPr>
              <a:t>제외: 후보에서 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겹침 기록</a:t>
            </a:r>
          </a:p>
          <a:p>
            <a:pPr algn="ctr">
              <a:lnSpc>
                <a:spcPct val="110000"/>
              </a:lnSpc>
              <a:spcAft>
                <a:spcPts val="400"/>
              </a:spcAft>
            </a:pPr>
            <a:r>
              <a:rPr sz="1350" b="0">
                <a:solidFill>
                  <a:srgbClr val="1F2A3A"/>
                </a:solidFill>
                <a:latin typeface="맑은 고딕"/>
                <a:ea typeface="맑은 고딕"/>
                <a:cs typeface="맑은 고딕"/>
              </a:rPr>
              <a:t>임계값 조건과 금지 조건의</a:t>
            </a:r>
          </a:p>
          <a:p>
            <a:pPr algn="ctr">
              <a:lnSpc>
                <a:spcPct val="110000"/>
              </a:lnSpc>
              <a:spcAft>
                <a:spcPts val="400"/>
              </a:spcAft>
            </a:pPr>
            <a:r>
              <a:rPr sz="1350" b="0">
                <a:solidFill>
                  <a:srgbClr val="1F2A3A"/>
                </a:solidFill>
                <a:latin typeface="맑은 고딕"/>
                <a:ea typeface="맑은 고딕"/>
                <a:cs typeface="맑은 고딕"/>
              </a:rPr>
              <a:t>행이 함께 맞으면</a:t>
            </a:r>
          </a:p>
          <a:p>
            <a:pPr algn="ctr">
              <a:lnSpc>
                <a:spcPct val="110000"/>
              </a:lnSpc>
              <a:spcAft>
                <a:spcPts val="400"/>
              </a:spcAft>
            </a:pPr>
            <a:r>
              <a:rPr sz="1350" b="0">
                <a:solidFill>
                  <a:srgbClr val="1F2A3A"/>
                </a:solidFill>
                <a:latin typeface="맑은 고딕"/>
                <a:ea typeface="맑은 고딕"/>
                <a:cs typeface="맑은 고딕"/>
              </a:rPr>
              <a:t>제외로 두고 맞은 조건을</a:t>
            </a:r>
          </a:p>
          <a:p>
            <a:pPr algn="ctr">
              <a:lnSpc>
                <a:spcPct val="110000"/>
              </a:lnSpc>
              <a:spcAft>
                <a:spcPts val="400"/>
              </a:spcAft>
            </a:pPr>
            <a:r>
              <a:rPr sz="1350" b="0">
                <a:solidFill>
                  <a:srgbClr val="1F2A3A"/>
                </a:solidFill>
                <a:latin typeface="맑은 고딕"/>
                <a:ea typeface="맑은 고딕"/>
                <a:cs typeface="맑은 고딕"/>
              </a:rPr>
              <a:t>제외 사유로 적는다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다섯과 그래프 DB를 쓰는 말 하나, 조치 기준을 적는 말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한 대상에 이어질 수 있는 상대의 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작업의 순서와 기준을 문서로 정해 둔 절차</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Standard Operating Procedure</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DMN</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업무의 의사결정을 정의하는 표기 표준</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Decision Model and Notation</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임계값</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판정이 갈리는 기준값</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Threshold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현장의 수동 조작으로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운전 상태에 따른 조치의 가능 여부를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