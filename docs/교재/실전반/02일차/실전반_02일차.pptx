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경보 뒤의 판단에 지식이 필요하고, 그 지식을 대상과 관계로 적은 것이 온톨로지라는 데까지 왔습니다. 오늘은 먼저 그 온톨로지를 정의하고 그래프 DB에 넣어 조회하는 방법을 다룹니다. 이어서 그 지식을 바탕으로 조치를 가리는 절차와 규칙을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사건을 노드와 관계로 그리면서 노드마다 설비 같은 종류와 HYD-01 같은 실제 이름을 함께 적었습니다.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점선 상자가 센서 클래스입니다. 무엇인가를 재어 값으로 내놓는다는 공통점으로 대상을 묶은 유형이고, 점선은 물건 하나가 아니라 틀이라는 뜻입니다. 오른쪽 맨 위의 sen:ts1이 지난 시간에 따라간 유온 센서이며, sen:ts1은 이 인스턴스를 가리키는 식별자입니다. 다섯 인스턴스는 재는 대상이 달라도 모두 같은 유형에 속합니다. 신청서 양식 하나에 작성된 신청서가 여러 장인 것과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따라간 사건의 대상을 클래스로 나누면 다섯입니다. 위의 점선 상자가 클래스이고 아래 동그라미가 그 인스턴스 하나씩입니다.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헷갈릴 때는 문장에 넣어 봅니다. 오일 쿨러는 구성 요소의 하나이다는 말이 됩니다. 구성 요소는 오일 쿨러의 하나이다는 말이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줄을 가로로 읽습니다. 센서는 클래스이고 유온 센서는 그 인스턴스이며 TS1은 그 인스턴스에 붙은 태그의 값입니다. 둘째 줄도 가로로 짝이 됩니다. 쿨러 팬은 구성 요소의 하나이고 팬 진동은 상태 변수의 하나입니다. VS1과 mm/s와 2.0은 대상이 아니라 팬 진동 센서와 팬 진동에 붙은 값이며, 지난 시간에 본 속성이 이런 값을 담는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속성은 대상이 갖는 값의 칸이라고 했고,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앞에서 값이라고 가른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공장에는 같은 기종의 유압 파워팩이 세 대 있습니다. 생김새와 구조가 같아도 인스턴스는 셋이고, 값이 서로 다릅니다. 어느 설비의 이야기인지는 이 값으로 가려집니다.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형식은 그 값으로 무엇을 할 수 있는지를 정합니다. 한계가 수로 적혀 있어야 잰 값이 한계를 넘었는지 비교할 수 있습니다. 목록은 같은 대상의 다른 이름처럼 값이 여러 개일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다섯을 나란히 놓았습니다. 이름과 단위는 다섯 모두에 있습니다. 단위 없는 물리량은 해석할 수 없으므로 반드시 있어야 하는 속성입니다. 한계는 셋에만 있고 둘에는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 달린 유온 센서가 무엇을 재는지를 유온이라는 글자 값으로 적을 수도 있습니다. 그러나 글자 값에는 정상값 48과 한계 65를 붙일 자리가 없습니다. 그래서 유온을 인스턴스로 두고 센서와는 OBSERVES, 곧 읽는다는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하나를 가운데 놓았습니다. 왼쪽 둘은 오일 쿨러로 들어오는 관계이고 오른쪽 셋은 오일 쿨러에서 나가는 관계입니다. 지난 시간에 고장 유형이 오일 쿨러에서 일어난다고 한 것이 왼쪽 아래의 OCCURS_IN입니다.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 네 가지를 실제 예로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행의 MANIPULATES, 곧 바꾼다는 관계는 일대일이어서 구동기 셋이 상태 변수 셋과 하나씩 짝을 이루고, 한 구동기가 둘을 바꾸지도 한 상태 변수를 두 구동기가 바꾸지도 않습니다. 둘째 행의 HAS_STEP은 조치 방법 하나에서 단계 여럿으로 가는 일대다 관계입니다. 지난 시간에 승인된 팬 최대 운전에는 수행 단계가 셋 있고, 단계 하나는 한 조치 방법에만 속합니다. 셋째 행의 MEMBER_OF는 역할에서 부서로 가는 다대일 관계이며, 지난 시간에 조치를 승인한 운전원은 생산팀에 속합니다. 한 부서에 역할이 여럿 속할 수 있고 역할 하나는 한 부서에만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SUPPLIED_BY, 곧 공급받는다는 관계는 다대다입니다. 펌프 축 씰 키트는 세 공급사가 공급하고, A정밀은 세 부품을 공급합니다. 지난 시간의 CAUSES도 다대다입니다. 고장 유형 하나에 원인이 여럿 붙고, 원인 하나가 여러 고장 유형을 일으킬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적히는지를 센서 클래스로 봅니다. 먼저 이름입니다. 영문 이름 Sensor가 이 클래스를 가리키는 하나뿐인 이름이고, 센서는 사람이 읽는 한글 이름입니다. 다음으로 의미입니다. 센서라는 낱말만 있으면 계기 장치만 가리키는지 계산으로 만든 값도 포함하는지를 사람마다 다르게 읽는데, 계측 채널이라고 적어 두었으므로 냉각 효율도 센서 클래스에 넣을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정의의 마지막 항목이 속성 목록이고, 앞 단원에서 본 센서의 다섯 칸이 한 줄씩 적혀 있습니다. 한 줄은 속성의 이름, 자료형, 필수 여부의 순서입니다. tag 한 줄을 읽으면 이름은 tag, 자료형은 글자, 그리고 반드시 있어야 하는 속성입니다. 앞 단원에서 본 값의 형식과 필수 · 선택이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센서의 tag는 필수 속성입니다. 태그가 없으면 저장소에 쌓인 값 가운데 어느 것이 이 센서의 값인지 찾을 수 없습니다. 필수로 정해 두면 이런 인스턴스를 넣기 전에 가려낼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사람은 유온을 오일 온도라고도 작동유 온도라고도 부릅니다. 이 이름들을 별칭 목록에 적어 둡니다. 어느 말로 물어도 sv:ts1 하나에 닿으므로 같은 대상이 여러 노드로 흩어지지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 단원에서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관계 그림과 온톨로지를 가르는 것이 제약이라고 한 까닭이 여기에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 단원에서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정의를 어떤 순서로 만드는지 봅니다. 출발점은 클래스가 아니라 질문입니다. 질문에서 클래스와 인스턴스를 가르고, 속성을 정한 뒤, 관계를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스키마와 인스턴스를 정했으면 저장할 곳이 필요합니다. 표로 된 데이터베이스가 관계형 DB입니다. 쿨러 코어를 공급하는 곳을 알려면 부품 테이블과 공급사 테이블에서 part_no 값이 같은 행을 찾아 맞추어야 합니다. 이렇게 맞추어 잇는 일을 조인이라고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사실이 그래프 DB에는 노드 셋과 관계 둘로 들어 있습니다. 쿨러 코어 노드에 공급사 노드로 가는 관계가 이미 붙어 있으므로 따라가기만 하면 됩니다. 건너가는 단계가 늘수록 이 차이가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 단원에서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시간에 에이전트가 관계를 따라 원인 후보를 찾은 일도 Cypher 질의를 Neo4j에 보낸 것이었습니다.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괄호 안의 중괄호는 속성 조건이며 글자 값은 작은따옴표로 감쌉니다.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질의에서 출발점을 설비 HYD-01로 옮기고 노드와 관계를 번갈아 이어 적었습니다. 설비에서 구성 요소로, 구성 요소에서 센서로, 센서에서 상태 변수로 세 단계를 건넙니다. 넷째 행을 읽으면 HYD-01의 오일 쿨러는 TS1로 계측되고, 그 센서는 유온을 읽으며, 유온의 한계는 65입니다.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지난 시간에 본 PLC의 인터록 셋이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MONITORED_BY는 구성 요소에서 센서로 향합니다. 반대로 적으면 그런 모양이 그래프에 없으므로 빈 결과가 나옵니다. 오류가 뜨지 않기 때문에 알아차리기 어렵습니다. 결과가 비면 화살표의 방향부터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그림으로 따라간 길을 Cypher로 적었습니다. 먼저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에이전트가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끝의 노드가 있어야 이을 수 있으므로 먼저 찾습니다. 오일 쿨러에서 유온 센서로, 유온 센서에서 유온으로 관계를 만듭니다. 스키마로 정의하고, 인스턴스를 정하고, 이런 질의로 넣는 것이 지식 그래프를 만드는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봅니다. 질의를 외우는 것이 아니라 묻고 싶은 것을 노드와 관계의 모양으로 바꾸어 적는 연습입니다. 결과가 예상과 다르면 레이블과 관계 유형의 철자, 화살표의 방향을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지식 지도에서 같은 지식을 찾아봅니다. 오늘 배운 네 낱말을 화면에서 하나씩 짚어 보는 것이 목적입니다. 지식 지도가 보이는 것은 HYD의 기준 지식 그래프이고, 뒤의 실습에서 직접 만드는 그래프는 실습용으로 분리된 그래프 DB에 들어갑니다. 두 그래프는 서로 다른 환경이어서 한쪽에 넣은 것이 다른 쪽에 나타나지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 단원에서 본 설계 순서를 다른 설비 자료로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단원에서 지식의 구조를 정의하고 그래프 DB에 넣어 조회했습니다. 이제 1일차의 쿨러 사건으로 돌아가, 그 지식으로 무엇을 할지를 정하는 쪽을 봅니다. 1일차에 냉각 효율과 팬 진동과 캐비닛 온도를 대조해 원인이 쿨러 핀 오염이라는 것까지 확인했습니다. 그런데 원인을 알았다고 해서 무엇을 할지가 곧바로 정해지지는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조치를 어떻게 수행하는가부터 봅니다.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앞에서 본 네 후보는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HM-8에는 이 고장에 쓰는 SOP가 다섯 편 있습니다. 앞의 셋은 즉시 완화 조치 절에, 뒤의 둘은 근본 조치 절에 실려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승인된 팬 최대 운전의 원문입니다. 절의 첫 문장, 번호가 붙은 세 단계, 승인을 적은 마지막 줄로 이루어져 있습니다. 짧은 문서이지만 종류가 다른 정보가 섞여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일곱 가지가 더 붙습니다. 위에서부터 적용 대상, 전제 조건, 준비사항, 수행 단계, 담당 역할, 안전 조건, 완료 확인 기준, 금지 사항입니다. 준비사항은 시작하기 전에 갖추어 둘 공구와 자재와 인원을 적는 칸입니다. 구성요소가 매뉴얼의 어느 절에 실려 있는지는 원문과 함께 이어서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 가운데 적용 대상, 전제 조건, 안전 조건의 셋을 매뉴얼의 문장으로 확인합니다. 적용 대상은 이 절차가 오일 쿨러의 냉각 성능 상실이라는 고장에 쓰인다는 것을 정합니다. 전제 조건은 시작하기 전에 성립해 있어야 하는 상태로, 운전 모드가 원격 자동이어야 한다는 문장입니다. 안전 조건은 작업자를 지키려고 먼저 해 두는 조치이며 핀 세척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수행 단계와 거기에 붙는 셋도 원문으로 확인합니다. 수행 단계는 확인, 수행, 판정의 세 단계이고 번호가 곧 순서입니다. 담당 역할은 누가 승인하는지를 정하며, 팬 최대 운전은 운전원이, 설비를 세우는 근본 조치는 설비보전팀장이 승인합니다. 완료 확인 기준은 보는 값과 기준과 시간을 정해 두어서, 15분 동안 유온이 55도 아래로 유지되어야 성공으로 봅니다. 금지 사항은 부하를 60 % 아래로 내리지 않는다, 핀을 고압수로 씻지 않는다처럼 해서는 안 되는 일을 따로 적은 문장입니다.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운전원이 운전 화면에서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운전원이 운전 화면에서, 또는 작업자가 현장 패널에서 설비를 직접 조작하고 있는데 상위 시스템이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모드만 조치의 가능 여부를 바꾸는 것이 아닙니다. 지금 이 조치를 해도 되는가를 가르는 조건은 매뉴얼에 이렇게 문장으로 적혀 있습니다. 조건도 셋이고 결과도 셋이며, 적힌 자리도 서로 다릅니다. 예측 유온은 그 조치를 했다면 유온이 머물 값을 조치마다 미리 계산한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있으면 사람이 그때그때 읽고 떠올려 적용해야 합니다. 급할 때 하나를 놓치기 쉽고, 같은 문장을 사람마다 다르게 읽으며, 무엇을 확인했는지도 남지 않습니다. 조건을 값에 대어 볼 수 있는 형태로 옮겨 둘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한 걸음씩 만들어 보겠습니다. 가장 먼저 정하는 것은 위의 띠에 적힌 물음이며, 표 하나가 답하는 이 물음 하나를 결정이라고 합니다. 다음은 그 물음에 답하려고 무엇을 볼지입니다. 머리줄의 PLC 운전 모드와 팬 100 % 연속 운전 시간이 입력 데이터이고, 영어 이름은 그 항목에 붙인 변수 이름입니다. 머리줄 아래는 아직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머리줄 아래에 첫 행을 채웁니다. 원격 조치는 원격 자동이 아닐 때 쓰지 않는다는 매뉴얼의 문장이 이 행이며, 표의 한 행이 규칙 하나입니다. 행의 왼쪽이 조건이고 오른쪽이 출력입니다. 운전 모드가 원격 자동이 아니다가 조건이고, 세 절차를 제외한다가 출력이며 이 출력을 판정이라고도 부릅니다. 조건이 맞으면 출력을 내고, 맞지 않으면 아무것도 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행은 방금 본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다시 세 부분으로 나뉩니다. 무엇을 보는가가 입력, 어떻게 견주는가가 연산자, 무엇과 견주는가가 기준값입니다. 팬 100 % 연속 운전 시간이 24보다 크다가 그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예측 유온이 55 이상이라는 조건에서 임계값은 55입니다. 연산자가 이상이므로 정확히 55.0도 조건에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출력은 세 가지 판정입니다.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입력에 여러 행이 함께 맞기도 합니다. 팬이 30시간째 최대로 돌았고 예측 유온이 56도라면 감점 행과 경고 행이 함께 맞습니다. 이것은 잘못이 아니라 실제로 둘 다 해당하는 상황이며, 맞은 행의 출력이 모두 붙어 감점과 경고를 함께 받습니다. 제외 행까지 맞았다면 그 조치는 다른 출력과 관계없이 후보에서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규칙이 맡는 일을 조치 한 건의 흐름으로 잇습니다. 네 후보에 지금의 값을 대면 결정표가 제외와 감점과 경고를 내고, 여러 행이 함께 맞으면 그 출력이 모두 붙습니다. 운전 모드가 원격 자동이면 팬 최대 운전은 후보에 남고, 남은 조치를 어떤 단계로 하고 누가 승인하며 무엇으로 끝났다고 보는지는 SOP가 정합니다. 결정표의 행에는 순서도 승인 역할도 완료 확인 기준도 적히지 않으므로 규칙이 절차를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제공된 작업 기준을 읽고 온도, 압력, 설비 상태에 걸린 허용 기준과 금지 기준을 찾는 데서 시작합니다. 조건마다 무엇을 보는지를 입력으로 정하고, 입력과 연산자와 기준값으로 된 조건에 출력을 붙여 한 행으로 적으며, 허용은 제외되지 않고 후보에 남는다는 뜻입니다. 앞에서 본 것처럼 여러 행이 함께 맞을 수 있으므로, 임계값 조건과 금지 조건이 함께 맞는 경우에는 제외로 두고 맞은 조건을 제외 사유로 적습니다. 결과가 예상과 다르면 연산자가 「넘는다」인지 「이상」인지와 경계값을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다섯은 지식을 정의하는 말이고, 레이블은 그래프 DB의 말이며, 아래 셋은 조치 기준을 적는 말입니다. 이 아홉 개와 함께 속성, 제약, 별칭, 질의, 운전 모드, 결정표, 입력 데이터, 규칙, 판정이 오늘의 용어입니다. 하나를 골라 자료를 덮고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대상마다 클래스를 만드는 실수입니다. 둘째 문항의 1번은 방향이 반대이고, 3번은 관계 유형이 다르며, 4번은 둥근 괄호와 대괄호를 바꾸어 썼습니다. 셋째 문항의 3번은 팬을 건드리지 않더라도 부하를 낮추는 것이 원격 제어이므로 제외됩니다.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1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29.png"/><Relationship Id="rId6"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 Id="rId4" Type="http://schemas.openxmlformats.org/officeDocument/2006/relationships/image" Target="../media/image5.png"/><Relationship Id="rId5" Type="http://schemas.openxmlformats.org/officeDocument/2006/relationships/image" Target="../media/image20.png"/><Relationship Id="rId6"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7.png"/><Relationship Id="rId4" Type="http://schemas.openxmlformats.org/officeDocument/2006/relationships/image" Target="../media/image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3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7.png"/><Relationship Id="rId4" Type="http://schemas.openxmlformats.org/officeDocument/2006/relationships/image" Target="../media/image5.png"/><Relationship Id="rId5" Type="http://schemas.openxmlformats.org/officeDocument/2006/relationships/image" Target="../media/image20.png"/><Relationship Id="rId6" Type="http://schemas.openxmlformats.org/officeDocument/2006/relationships/image" Target="../media/image4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9.png"/><Relationship Id="rId4" Type="http://schemas.openxmlformats.org/officeDocument/2006/relationships/image" Target="../media/image6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2.pn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6.png"/><Relationship Id="rId4" Type="http://schemas.openxmlformats.org/officeDocument/2006/relationships/image" Target="../media/image59.png"/><Relationship Id="rId5" Type="http://schemas.openxmlformats.org/officeDocument/2006/relationships/image" Target="../media/image6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2.png"/><Relationship Id="rId4"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2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8.png"/><Relationship Id="rId4" Type="http://schemas.openxmlformats.org/officeDocument/2006/relationships/image" Target="../media/image46.png"/><Relationship Id="rId5" Type="http://schemas.openxmlformats.org/officeDocument/2006/relationships/image" Target="../media/image78.png"/><Relationship Id="rId6" Type="http://schemas.openxmlformats.org/officeDocument/2006/relationships/image" Target="../media/image6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4.png"/><Relationship Id="rId4" Type="http://schemas.openxmlformats.org/officeDocument/2006/relationships/image" Target="../media/image79.png"/><Relationship Id="rId5" Type="http://schemas.openxmlformats.org/officeDocument/2006/relationships/image" Target="../media/image46.png"/><Relationship Id="rId6" Type="http://schemas.openxmlformats.org/officeDocument/2006/relationships/image" Target="../media/image7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2일차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설비의 지식 구조를 만들고</a:t>
            </a:r>
          </a:p>
          <a:p>
            <a:pPr algn="l">
              <a:lnSpc>
                <a:spcPct val="110000"/>
              </a:lnSpc>
            </a:pPr>
            <a:r>
              <a:rPr sz="4000" b="1">
                <a:solidFill>
                  <a:srgbClr val="FFFFFF"/>
                </a:solidFill>
                <a:latin typeface="맑은 고딕"/>
                <a:ea typeface="맑은 고딕"/>
                <a:cs typeface="맑은 고딕"/>
              </a:rPr>
              <a:t>안전한 조치 기준 마련하기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클래스와 인스턴스, 온톨로지 스키마, 그래프 DB와 Cypher, 조치 절차와 판단 규칙</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check" descr="list-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 관한 지식을 정의해 그래프 DB에서 조회하고, 그 지식을 바탕으로 조치를 허용하거나 제외하는 기준을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클래스와 인스턴스</a:t>
            </a:r>
          </a:p>
          <a:p>
            <a:pPr algn="l">
              <a:lnSpc>
                <a:spcPct val="110000"/>
              </a:lnSpc>
              <a:spcAft>
                <a:spcPts val="400"/>
              </a:spcAft>
            </a:pPr>
            <a:r>
              <a:rPr sz="1350" b="0">
                <a:solidFill>
                  <a:srgbClr val="1F2A3A"/>
                </a:solidFill>
                <a:latin typeface="맑은 고딕"/>
                <a:ea typeface="맑은 고딕"/>
                <a:cs typeface="맑은 고딕"/>
              </a:rPr>
              <a:t>• 유형과 실제 대상을 구분한다</a:t>
            </a:r>
          </a:p>
          <a:p>
            <a:pPr algn="l">
              <a:lnSpc>
                <a:spcPct val="110000"/>
              </a:lnSpc>
              <a:spcAft>
                <a:spcPts val="400"/>
              </a:spcAft>
            </a:pPr>
            <a:r>
              <a:rPr sz="1350" b="0">
                <a:solidFill>
                  <a:srgbClr val="1F2A3A"/>
                </a:solidFill>
                <a:latin typeface="맑은 고딕"/>
                <a:ea typeface="맑은 고딕"/>
                <a:cs typeface="맑은 고딕"/>
              </a:rPr>
              <a:t>• 현장 정보를 속성과 관계로 나눈다</a:t>
            </a:r>
          </a:p>
        </p:txBody>
      </p:sp>
      <p:sp>
        <p:nvSpPr>
          <p:cNvPr id="10" name="Rounded Rectangle 9"/>
          <p:cNvSpPr/>
          <p:nvPr/>
        </p:nvSpPr>
        <p:spPr>
          <a:xfrm>
            <a:off x="777240" y="537838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지식의 구조</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스키마</a:t>
            </a:r>
          </a:p>
          <a:p>
            <a:pPr algn="l">
              <a:lnSpc>
                <a:spcPct val="110000"/>
              </a:lnSpc>
              <a:spcAft>
                <a:spcPts val="400"/>
              </a:spcAft>
            </a:pPr>
            <a:r>
              <a:rPr sz="1350" b="0">
                <a:solidFill>
                  <a:srgbClr val="1F2A3A"/>
                </a:solidFill>
                <a:latin typeface="맑은 고딕"/>
                <a:ea typeface="맑은 고딕"/>
                <a:cs typeface="맑은 고딕"/>
              </a:rPr>
              <a:t>식별자, 자료형, 필수 여부와 관계의 양 끝을 정의에서 읽는다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원리</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DB와 Cypher</a:t>
            </a:r>
          </a:p>
          <a:p>
            <a:pPr algn="l">
              <a:lnSpc>
                <a:spcPct val="110000"/>
              </a:lnSpc>
              <a:spcAft>
                <a:spcPts val="400"/>
              </a:spcAft>
            </a:pPr>
            <a:r>
              <a:rPr sz="1350" b="0">
                <a:solidFill>
                  <a:srgbClr val="1F2A3A"/>
                </a:solidFill>
                <a:latin typeface="맑은 고딕"/>
                <a:ea typeface="맑은 고딕"/>
                <a:cs typeface="맑은 고딕"/>
              </a:rPr>
              <a:t>• MATCH, WHERE, RETURN으로 조회한다</a:t>
            </a:r>
          </a:p>
          <a:p>
            <a:pPr algn="l">
              <a:lnSpc>
                <a:spcPct val="110000"/>
              </a:lnSpc>
              <a:spcAft>
                <a:spcPts val="400"/>
              </a:spcAft>
            </a:pPr>
            <a:r>
              <a:rPr sz="1350" b="0">
                <a:solidFill>
                  <a:srgbClr val="1F2A3A"/>
                </a:solidFill>
                <a:latin typeface="맑은 고딕"/>
                <a:ea typeface="맑은 고딕"/>
                <a:cs typeface="맑은 고딕"/>
              </a:rPr>
              <a:t>• CREATE와 MERGE로 만든다</a:t>
            </a:r>
          </a:p>
        </p:txBody>
      </p:sp>
      <p:sp>
        <p:nvSpPr>
          <p:cNvPr id="22" name="Rounded Rectangle 21"/>
          <p:cNvSpPr/>
          <p:nvPr/>
        </p:nvSpPr>
        <p:spPr>
          <a:xfrm>
            <a:off x="6461607" y="537838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절차와 판단 규칙</a:t>
            </a:r>
          </a:p>
          <a:p>
            <a:pPr algn="l">
              <a:lnSpc>
                <a:spcPct val="110000"/>
              </a:lnSpc>
              <a:spcAft>
                <a:spcPts val="400"/>
              </a:spcAft>
            </a:pPr>
            <a:r>
              <a:rPr sz="1350" b="0">
                <a:solidFill>
                  <a:srgbClr val="1F2A3A"/>
                </a:solidFill>
                <a:latin typeface="맑은 고딕"/>
                <a:ea typeface="맑은 고딕"/>
                <a:cs typeface="맑은 고딕"/>
              </a:rPr>
              <a:t>• 절차가 정하는 것과 규칙이 가리는 것을 구분한다</a:t>
            </a:r>
          </a:p>
          <a:p>
            <a:pPr algn="l">
              <a:lnSpc>
                <a:spcPct val="110000"/>
              </a:lnSpc>
              <a:spcAft>
                <a:spcPts val="400"/>
              </a:spcAft>
            </a:pPr>
            <a:r>
              <a:rPr sz="1350" b="0">
                <a:solidFill>
                  <a:srgbClr val="1F2A3A"/>
                </a:solidFill>
                <a:latin typeface="맑은 고딕"/>
                <a:ea typeface="맑은 고딕"/>
                <a:cs typeface="맑은 고딕"/>
              </a:rPr>
              <a:t>• 조건 문장을 결정표의 행으로 옮긴다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기준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클래스와 인스턴스</a:t>
            </a:r>
          </a:p>
        </p:txBody>
      </p:sp>
      <p:sp>
        <p:nvSpPr>
          <p:cNvPr id="6" name="Rounded Rectangle 5"/>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 설계</a:t>
            </a:r>
          </a:p>
        </p:txBody>
      </p:sp>
      <p:sp>
        <p:nvSpPr>
          <p:cNvPr id="11" name="Rounded Rectangle 10"/>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DB와 Cypher</a:t>
            </a:r>
          </a:p>
        </p:txBody>
      </p:sp>
      <p:sp>
        <p:nvSpPr>
          <p:cNvPr id="16" name="Rounded Rectangle 15"/>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5262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5262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절차와 판단 규칙</a:t>
            </a:r>
          </a:p>
        </p:txBody>
      </p:sp>
      <p:sp>
        <p:nvSpPr>
          <p:cNvPr id="21" name="Rounded Rectangle 20"/>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23" name="TextBox 2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클래스와 인스턴스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유형과 실제 대상, 속성과 관계로 나누어 보는 현장 정보의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시간의 관계 그림에서 윗줄은 대상의 유형을, 아랫줄은 일이 일어난 실제 대상을 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유형과대상_0.svg" descr="illust_428044675768029298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지난 시간에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 클래스와 그 인스턴스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클래스 하나에 인스턴스가 다섯 속하며, 센서가 새로 생기면 클래스는 그대로 두고 인스턴스만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클래스인스턴스_3.svg" descr="illust_488578474320818051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10208" y="2242200"/>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클래스(Class)</a:t>
            </a:r>
          </a:p>
          <a:p>
            <a:pPr algn="ctr">
              <a:lnSpc>
                <a:spcPct val="110000"/>
              </a:lnSpc>
              <a:spcAft>
                <a:spcPts val="100"/>
              </a:spcAft>
            </a:pPr>
            <a:r>
              <a:rPr sz="1300" b="0">
                <a:solidFill>
                  <a:srgbClr val="556175"/>
                </a:solidFill>
                <a:latin typeface="맑은 고딕"/>
                <a:ea typeface="맑은 고딕"/>
                <a:cs typeface="맑은 고딕"/>
              </a:rPr>
              <a:t>공통 특성을 가진 대상의 유형</a:t>
            </a:r>
          </a:p>
        </p:txBody>
      </p:sp>
      <p:sp>
        <p:nvSpPr>
          <p:cNvPr id="8" name="TextBox 7"/>
          <p:cNvSpPr txBox="1"/>
          <p:nvPr/>
        </p:nvSpPr>
        <p:spPr>
          <a:xfrm>
            <a:off x="1001113" y="54568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 · 센서</a:t>
            </a:r>
          </a:p>
          <a:p>
            <a:pPr algn="ctr">
              <a:lnSpc>
                <a:spcPct val="110000"/>
              </a:lnSpc>
              <a:spcAft>
                <a:spcPts val="100"/>
              </a:spcAft>
            </a:pPr>
            <a:r>
              <a:rPr sz="1300" b="0">
                <a:solidFill>
                  <a:srgbClr val="556175"/>
                </a:solidFill>
                <a:latin typeface="맑은 고딕"/>
                <a:ea typeface="맑은 고딕"/>
                <a:cs typeface="맑은 고딕"/>
              </a:rPr>
              <a:t>무엇인가를 재어 값으로 내놓는 계측 채널</a:t>
            </a:r>
          </a:p>
        </p:txBody>
      </p:sp>
      <p:sp>
        <p:nvSpPr>
          <p:cNvPr id="9" name="TextBox 8"/>
          <p:cNvSpPr txBox="1"/>
          <p:nvPr/>
        </p:nvSpPr>
        <p:spPr>
          <a:xfrm>
            <a:off x="6390403" y="172218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인스턴스(Instance)</a:t>
            </a:r>
          </a:p>
          <a:p>
            <a:pPr algn="ctr">
              <a:lnSpc>
                <a:spcPct val="110000"/>
              </a:lnSpc>
              <a:spcAft>
                <a:spcPts val="100"/>
              </a:spcAft>
            </a:pPr>
            <a:r>
              <a:rPr sz="1300" b="0">
                <a:solidFill>
                  <a:srgbClr val="556175"/>
                </a:solidFill>
                <a:latin typeface="맑은 고딕"/>
                <a:ea typeface="맑은 고딕"/>
                <a:cs typeface="맑은 고딕"/>
              </a:rPr>
              <a:t>클래스에 속하는 실제 대상 하나</a:t>
            </a:r>
          </a:p>
        </p:txBody>
      </p:sp>
      <p:sp>
        <p:nvSpPr>
          <p:cNvPr id="10" name="TextBox 9"/>
          <p:cNvSpPr txBox="1"/>
          <p:nvPr/>
        </p:nvSpPr>
        <p:spPr>
          <a:xfrm>
            <a:off x="6717688" y="257312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sen:ts1</a:t>
            </a:r>
          </a:p>
          <a:p>
            <a:pPr algn="ctr">
              <a:lnSpc>
                <a:spcPct val="110000"/>
              </a:lnSpc>
              <a:spcAft>
                <a:spcPts val="100"/>
              </a:spcAft>
            </a:pPr>
            <a:r>
              <a:rPr sz="1300" b="0">
                <a:solidFill>
                  <a:srgbClr val="556175"/>
                </a:solidFill>
                <a:latin typeface="맑은 고딕"/>
                <a:ea typeface="맑은 고딕"/>
                <a:cs typeface="맑은 고딕"/>
              </a:rPr>
              <a:t>유온 센서 · 태그 TS1</a:t>
            </a:r>
          </a:p>
        </p:txBody>
      </p:sp>
      <p:sp>
        <p:nvSpPr>
          <p:cNvPr id="11" name="TextBox 10"/>
          <p:cNvSpPr txBox="1"/>
          <p:nvPr/>
        </p:nvSpPr>
        <p:spPr>
          <a:xfrm>
            <a:off x="6717688" y="334369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sen:ce</a:t>
            </a:r>
          </a:p>
          <a:p>
            <a:pPr algn="ctr">
              <a:lnSpc>
                <a:spcPct val="110000"/>
              </a:lnSpc>
              <a:spcAft>
                <a:spcPts val="100"/>
              </a:spcAft>
            </a:pPr>
            <a:r>
              <a:rPr sz="1300" b="0">
                <a:solidFill>
                  <a:srgbClr val="556175"/>
                </a:solidFill>
                <a:latin typeface="맑은 고딕"/>
                <a:ea typeface="맑은 고딕"/>
                <a:cs typeface="맑은 고딕"/>
              </a:rPr>
              <a:t>냉각 효율 · 태그 CE</a:t>
            </a:r>
          </a:p>
        </p:txBody>
      </p:sp>
      <p:sp>
        <p:nvSpPr>
          <p:cNvPr id="12" name="TextBox 11"/>
          <p:cNvSpPr txBox="1"/>
          <p:nvPr/>
        </p:nvSpPr>
        <p:spPr>
          <a:xfrm>
            <a:off x="6717688" y="4118997"/>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sen:ps1</a:t>
            </a:r>
          </a:p>
          <a:p>
            <a:pPr algn="ctr">
              <a:lnSpc>
                <a:spcPct val="110000"/>
              </a:lnSpc>
              <a:spcAft>
                <a:spcPts val="100"/>
              </a:spcAft>
            </a:pPr>
            <a:r>
              <a:rPr sz="1300" b="0">
                <a:solidFill>
                  <a:srgbClr val="556175"/>
                </a:solidFill>
                <a:latin typeface="맑은 고딕"/>
                <a:ea typeface="맑은 고딕"/>
                <a:cs typeface="맑은 고딕"/>
              </a:rPr>
              <a:t>토출 압력 센서 · 태그 PS1</a:t>
            </a:r>
          </a:p>
        </p:txBody>
      </p:sp>
      <p:sp>
        <p:nvSpPr>
          <p:cNvPr id="13" name="TextBox 12"/>
          <p:cNvSpPr txBox="1"/>
          <p:nvPr/>
        </p:nvSpPr>
        <p:spPr>
          <a:xfrm>
            <a:off x="6717688" y="488957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sen:fs1</a:t>
            </a:r>
          </a:p>
          <a:p>
            <a:pPr algn="ctr">
              <a:lnSpc>
                <a:spcPct val="110000"/>
              </a:lnSpc>
              <a:spcAft>
                <a:spcPts val="100"/>
              </a:spcAft>
            </a:pPr>
            <a:r>
              <a:rPr sz="1300" b="0">
                <a:solidFill>
                  <a:srgbClr val="556175"/>
                </a:solidFill>
                <a:latin typeface="맑은 고딕"/>
                <a:ea typeface="맑은 고딕"/>
                <a:cs typeface="맑은 고딕"/>
              </a:rPr>
              <a:t>유량 센서 · 태그 FS1</a:t>
            </a:r>
          </a:p>
        </p:txBody>
      </p:sp>
      <p:sp>
        <p:nvSpPr>
          <p:cNvPr id="14" name="TextBox 13"/>
          <p:cNvSpPr txBox="1"/>
          <p:nvPr/>
        </p:nvSpPr>
        <p:spPr>
          <a:xfrm>
            <a:off x="6717688" y="5664872"/>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sen:vs1</a:t>
            </a:r>
          </a:p>
          <a:p>
            <a:pPr algn="ctr">
              <a:lnSpc>
                <a:spcPct val="110000"/>
              </a:lnSpc>
              <a:spcAft>
                <a:spcPts val="100"/>
              </a:spcAft>
            </a:pPr>
            <a:r>
              <a:rPr sz="1300" b="0">
                <a:solidFill>
                  <a:srgbClr val="556175"/>
                </a:solidFill>
                <a:latin typeface="맑은 고딕"/>
                <a:ea typeface="맑은 고딕"/>
                <a:cs typeface="맑은 고딕"/>
              </a:rPr>
              <a:t>팬 진동 센서 · 태그 VS1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설비클래스_0.svg" descr="illust_535326535823209579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클래스와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어떤 낱말이 클래스인지 인스턴스인지는 「하나이다」라는 문장에 넣어 보면 가려진다.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「A는 B의 하나이다」가 성립하면 A는 인스턴스이고 B는 클래스이다</a:t>
            </a:r>
          </a:p>
        </p:txBody>
      </p:sp>
      <p:sp>
        <p:nvSpPr>
          <p:cNvPr id="8" name="TextBox 7"/>
          <p:cNvSpPr txBox="1"/>
          <p:nvPr/>
        </p:nvSpPr>
        <p:spPr>
          <a:xfrm>
            <a:off x="548640"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오일 쿨러는 구성 요소의 하나이다</a:t>
            </a:r>
          </a:p>
          <a:p>
            <a:pPr algn="l">
              <a:lnSpc>
                <a:spcPct val="110000"/>
              </a:lnSpc>
              <a:spcAft>
                <a:spcPts val="400"/>
              </a:spcAft>
            </a:pPr>
            <a:r>
              <a:rPr sz="1400" b="0">
                <a:solidFill>
                  <a:srgbClr val="1F2A3A"/>
                </a:solidFill>
                <a:latin typeface="맑은 고딕"/>
                <a:ea typeface="맑은 고딕"/>
                <a:cs typeface="맑은 고딕"/>
              </a:rPr>
              <a:t>오일 쿨러 = 인스턴스</a:t>
            </a:r>
          </a:p>
          <a:p>
            <a:pPr algn="l">
              <a:lnSpc>
                <a:spcPct val="110000"/>
              </a:lnSpc>
              <a:spcAft>
                <a:spcPts val="400"/>
              </a:spcAft>
            </a:pPr>
            <a:r>
              <a:rPr sz="1400" b="0">
                <a:solidFill>
                  <a:srgbClr val="1F2A3A"/>
                </a:solidFill>
                <a:latin typeface="맑은 고딕"/>
                <a:ea typeface="맑은 고딕"/>
                <a:cs typeface="맑은 고딕"/>
              </a:rPr>
              <a:t>구성 요소 = 클래스</a:t>
            </a:r>
          </a:p>
        </p:txBody>
      </p:sp>
      <p:sp>
        <p:nvSpPr>
          <p:cNvPr id="9" name="TextBox 8"/>
          <p:cNvSpPr txBox="1"/>
          <p:nvPr/>
        </p:nvSpPr>
        <p:spPr>
          <a:xfrm>
            <a:off x="4338218"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HYD-01은 설비의 하나이다</a:t>
            </a:r>
          </a:p>
          <a:p>
            <a:pPr algn="l">
              <a:lnSpc>
                <a:spcPct val="110000"/>
              </a:lnSpc>
              <a:spcAft>
                <a:spcPts val="400"/>
              </a:spcAft>
            </a:pPr>
            <a:r>
              <a:rPr sz="1400" b="0">
                <a:solidFill>
                  <a:srgbClr val="1F2A3A"/>
                </a:solidFill>
                <a:latin typeface="맑은 고딕"/>
                <a:ea typeface="맑은 고딕"/>
                <a:cs typeface="맑은 고딕"/>
              </a:rPr>
              <a:t>HYD-01 = 인스턴스</a:t>
            </a:r>
          </a:p>
          <a:p>
            <a:pPr algn="l">
              <a:lnSpc>
                <a:spcPct val="110000"/>
              </a:lnSpc>
              <a:spcAft>
                <a:spcPts val="400"/>
              </a:spcAft>
            </a:pPr>
            <a:r>
              <a:rPr sz="1400" b="0">
                <a:solidFill>
                  <a:srgbClr val="1F2A3A"/>
                </a:solidFill>
                <a:latin typeface="맑은 고딕"/>
                <a:ea typeface="맑은 고딕"/>
                <a:cs typeface="맑은 고딕"/>
              </a:rPr>
              <a:t>설비 = 클래스</a:t>
            </a:r>
          </a:p>
        </p:txBody>
      </p:sp>
      <p:sp>
        <p:nvSpPr>
          <p:cNvPr id="10" name="TextBox 9"/>
          <p:cNvSpPr txBox="1"/>
          <p:nvPr/>
        </p:nvSpPr>
        <p:spPr>
          <a:xfrm>
            <a:off x="8127796"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유온은 상태 변수의 하나이다</a:t>
            </a:r>
          </a:p>
          <a:p>
            <a:pPr algn="l">
              <a:lnSpc>
                <a:spcPct val="110000"/>
              </a:lnSpc>
              <a:spcAft>
                <a:spcPts val="400"/>
              </a:spcAft>
            </a:pPr>
            <a:r>
              <a:rPr sz="1400" b="0">
                <a:solidFill>
                  <a:srgbClr val="1F2A3A"/>
                </a:solidFill>
                <a:latin typeface="맑은 고딕"/>
                <a:ea typeface="맑은 고딕"/>
                <a:cs typeface="맑은 고딕"/>
              </a:rPr>
              <a:t>유온 = 인스턴스</a:t>
            </a:r>
          </a:p>
          <a:p>
            <a:pPr algn="l">
              <a:lnSpc>
                <a:spcPct val="110000"/>
              </a:lnSpc>
              <a:spcAft>
                <a:spcPts val="400"/>
              </a:spcAft>
            </a:pPr>
            <a:r>
              <a:rPr sz="1400" b="0">
                <a:solidFill>
                  <a:srgbClr val="1F2A3A"/>
                </a:solidFill>
                <a:latin typeface="맑은 고딕"/>
                <a:ea typeface="맑은 고딕"/>
                <a:cs typeface="맑은 고딕"/>
              </a:rPr>
              <a:t>상태 변수 = 클래스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클래스, 인스턴스,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센서는 클래스, 유온 센서는 그 인스턴스, TS1은 인스턴스에 붙은 값으로 층이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a:t>
            </a:r>
          </a:p>
          <a:p>
            <a:pPr algn="l">
              <a:lnSpc>
                <a:spcPct val="110000"/>
              </a:lnSpc>
              <a:spcAft>
                <a:spcPts val="400"/>
              </a:spcAft>
            </a:pPr>
            <a:r>
              <a:rPr sz="1400" b="0">
                <a:solidFill>
                  <a:srgbClr val="1F2A3A"/>
                </a:solidFill>
                <a:latin typeface="맑은 고딕"/>
                <a:ea typeface="맑은 고딕"/>
                <a:cs typeface="맑은 고딕"/>
              </a:rPr>
              <a:t>• 센서: 유형의 이름이다</a:t>
            </a:r>
          </a:p>
          <a:p>
            <a:pPr algn="l">
              <a:lnSpc>
                <a:spcPct val="110000"/>
              </a:lnSpc>
              <a:spcAft>
                <a:spcPts val="400"/>
              </a:spcAft>
            </a:pPr>
            <a:r>
              <a:rPr sz="1400" b="0">
                <a:solidFill>
                  <a:srgbClr val="1F2A3A"/>
                </a:solidFill>
                <a:latin typeface="맑은 고딕"/>
                <a:ea typeface="맑은 고딕"/>
                <a:cs typeface="맑은 고딕"/>
              </a:rPr>
              <a:t>• 설비 · 구성 요소 · 상태 변수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a:t>
            </a:r>
          </a:p>
          <a:p>
            <a:pPr algn="l">
              <a:lnSpc>
                <a:spcPct val="110000"/>
              </a:lnSpc>
              <a:spcAft>
                <a:spcPts val="400"/>
              </a:spcAft>
            </a:pPr>
            <a:r>
              <a:rPr sz="1400" b="0">
                <a:solidFill>
                  <a:srgbClr val="1F2A3A"/>
                </a:solidFill>
                <a:latin typeface="맑은 고딕"/>
                <a:ea typeface="맑은 고딕"/>
                <a:cs typeface="맑은 고딕"/>
              </a:rPr>
              <a:t>• 유온 센서: 센서의 하나이다</a:t>
            </a:r>
          </a:p>
          <a:p>
            <a:pPr algn="l">
              <a:lnSpc>
                <a:spcPct val="110000"/>
              </a:lnSpc>
              <a:spcAft>
                <a:spcPts val="400"/>
              </a:spcAft>
            </a:pPr>
            <a:r>
              <a:rPr sz="1400" b="0">
                <a:solidFill>
                  <a:srgbClr val="1F2A3A"/>
                </a:solidFill>
                <a:latin typeface="맑은 고딕"/>
                <a:ea typeface="맑은 고딕"/>
                <a:cs typeface="맑은 고딕"/>
              </a:rPr>
              <a:t>• HYD-02 · 쿨러 팬 · 팬 진동</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 TS1: 유온 센서의 태그이다</a:t>
            </a:r>
          </a:p>
          <a:p>
            <a:pPr algn="l">
              <a:lnSpc>
                <a:spcPct val="110000"/>
              </a:lnSpc>
              <a:spcAft>
                <a:spcPts val="400"/>
              </a:spcAft>
            </a:pPr>
            <a:r>
              <a:rPr sz="1400" b="0">
                <a:solidFill>
                  <a:srgbClr val="1F2A3A"/>
                </a:solidFill>
                <a:latin typeface="맑은 고딕"/>
                <a:ea typeface="맑은 고딕"/>
                <a:cs typeface="맑은 고딕"/>
              </a:rPr>
              <a:t>• VS1 · mm/s · 2.0</a:t>
            </a:r>
          </a:p>
        </p:txBody>
      </p:sp>
      <p:sp>
        <p:nvSpPr>
          <p:cNvPr id="22" name="Rounded Rectangle 21"/>
          <p:cNvSpPr/>
          <p:nvPr/>
        </p:nvSpPr>
        <p:spPr>
          <a:xfrm>
            <a:off x="8356396" y="493293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인스턴스에 붙은 값</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속성_3.svg" descr="illust_536478714134146272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기종의 설비 세 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 HYD-02, HYD-03은 설비 클래스의 인스턴스 셋이며 id와 code의 값으로 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설비세대.svg" descr="illust_646113104835648672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295892" y="2053102"/>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 · 설비</a:t>
            </a:r>
          </a:p>
          <a:p>
            <a:pPr algn="ctr">
              <a:lnSpc>
                <a:spcPct val="110000"/>
              </a:lnSpc>
              <a:spcAft>
                <a:spcPts val="100"/>
              </a:spcAft>
            </a:pPr>
            <a:r>
              <a:rPr sz="1300" b="0">
                <a:solidFill>
                  <a:srgbClr val="556175"/>
                </a:solidFill>
                <a:latin typeface="맑은 고딕"/>
                <a:ea typeface="맑은 고딕"/>
                <a:cs typeface="맑은 고딕"/>
              </a:rPr>
              <a:t>클래스</a:t>
            </a:r>
          </a:p>
        </p:txBody>
      </p:sp>
      <p:sp>
        <p:nvSpPr>
          <p:cNvPr id="8" name="TextBox 7"/>
          <p:cNvSpPr txBox="1"/>
          <p:nvPr/>
        </p:nvSpPr>
        <p:spPr>
          <a:xfrm>
            <a:off x="121930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asset:hyd-01</a:t>
            </a:r>
          </a:p>
          <a:p>
            <a:pPr algn="ctr">
              <a:lnSpc>
                <a:spcPct val="110000"/>
              </a:lnSpc>
              <a:spcAft>
                <a:spcPts val="100"/>
              </a:spcAft>
            </a:pPr>
            <a:r>
              <a:rPr sz="1300" b="0">
                <a:solidFill>
                  <a:srgbClr val="556175"/>
                </a:solidFill>
                <a:latin typeface="맑은 고딕"/>
                <a:ea typeface="맑은 고딕"/>
                <a:cs typeface="맑은 고딕"/>
              </a:rPr>
              <a:t>code: HYD-01</a:t>
            </a:r>
          </a:p>
        </p:txBody>
      </p:sp>
      <p:sp>
        <p:nvSpPr>
          <p:cNvPr id="9" name="TextBox 8"/>
          <p:cNvSpPr txBox="1"/>
          <p:nvPr/>
        </p:nvSpPr>
        <p:spPr>
          <a:xfrm>
            <a:off x="467761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asset:hyd-02</a:t>
            </a:r>
          </a:p>
          <a:p>
            <a:pPr algn="ctr">
              <a:lnSpc>
                <a:spcPct val="110000"/>
              </a:lnSpc>
              <a:spcAft>
                <a:spcPts val="100"/>
              </a:spcAft>
            </a:pPr>
            <a:r>
              <a:rPr sz="1300" b="0">
                <a:solidFill>
                  <a:srgbClr val="556175"/>
                </a:solidFill>
                <a:latin typeface="맑은 고딕"/>
                <a:ea typeface="맑은 고딕"/>
                <a:cs typeface="맑은 고딕"/>
              </a:rPr>
              <a:t>code: HYD-02</a:t>
            </a:r>
          </a:p>
        </p:txBody>
      </p:sp>
      <p:sp>
        <p:nvSpPr>
          <p:cNvPr id="10" name="TextBox 9"/>
          <p:cNvSpPr txBox="1"/>
          <p:nvPr/>
        </p:nvSpPr>
        <p:spPr>
          <a:xfrm>
            <a:off x="813592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asset:hyd-03</a:t>
            </a:r>
          </a:p>
          <a:p>
            <a:pPr algn="ctr">
              <a:lnSpc>
                <a:spcPct val="110000"/>
              </a:lnSpc>
              <a:spcAft>
                <a:spcPts val="100"/>
              </a:spcAft>
            </a:pPr>
            <a:r>
              <a:rPr sz="1300" b="0">
                <a:solidFill>
                  <a:srgbClr val="556175"/>
                </a:solidFill>
                <a:latin typeface="맑은 고딕"/>
                <a:ea typeface="맑은 고딕"/>
                <a:cs typeface="맑은 고딕"/>
              </a:rPr>
              <a:t>code: HYD-03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속성값의 네 가지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속성값은 글자, 수, 참 · 거짓, 목록 가운데 하나의 형식을 가지며, 형식이 그 값으로 할 수 있는 일을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letter-case" descr="letter-case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글자</a:t>
            </a:r>
          </a:p>
          <a:p>
            <a:pPr algn="l">
              <a:lnSpc>
                <a:spcPct val="110000"/>
              </a:lnSpc>
              <a:spcAft>
                <a:spcPts val="400"/>
              </a:spcAft>
            </a:pPr>
            <a:r>
              <a:rPr sz="1350" b="0">
                <a:solidFill>
                  <a:srgbClr val="1F2A3A"/>
                </a:solidFill>
                <a:latin typeface="맑은 고딕"/>
                <a:ea typeface="맑은 고딕"/>
                <a:cs typeface="맑은 고딕"/>
              </a:rPr>
              <a:t>• name: 유온 센서</a:t>
            </a:r>
          </a:p>
          <a:p>
            <a:pPr algn="l">
              <a:lnSpc>
                <a:spcPct val="110000"/>
              </a:lnSpc>
              <a:spcAft>
                <a:spcPts val="400"/>
              </a:spcAft>
            </a:pPr>
            <a:r>
              <a:rPr sz="1350" b="0">
                <a:solidFill>
                  <a:srgbClr val="1F2A3A"/>
                </a:solidFill>
                <a:latin typeface="맑은 고딕"/>
                <a:ea typeface="맑은 고딕"/>
                <a:cs typeface="맑은 고딕"/>
              </a:rPr>
              <a:t>• tag: TS1</a:t>
            </a:r>
          </a:p>
        </p:txBody>
      </p:sp>
      <p:sp>
        <p:nvSpPr>
          <p:cNvPr id="10" name="Rounded Rectangle 9"/>
          <p:cNvSpPr/>
          <p:nvPr/>
        </p:nvSpPr>
        <p:spPr>
          <a:xfrm>
            <a:off x="777240" y="4925187"/>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표기</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hash" descr="hash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a:t>
            </a:r>
          </a:p>
          <a:p>
            <a:pPr algn="l">
              <a:lnSpc>
                <a:spcPct val="110000"/>
              </a:lnSpc>
              <a:spcAft>
                <a:spcPts val="400"/>
              </a:spcAft>
            </a:pPr>
            <a:r>
              <a:rPr sz="1350" b="0">
                <a:solidFill>
                  <a:srgbClr val="1F2A3A"/>
                </a:solidFill>
                <a:latin typeface="맑은 고딕"/>
                <a:ea typeface="맑은 고딕"/>
                <a:cs typeface="맑은 고딕"/>
              </a:rPr>
              <a:t>• normal: 48</a:t>
            </a:r>
          </a:p>
          <a:p>
            <a:pPr algn="l">
              <a:lnSpc>
                <a:spcPct val="110000"/>
              </a:lnSpc>
              <a:spcAft>
                <a:spcPts val="400"/>
              </a:spcAft>
            </a:pPr>
            <a:r>
              <a:rPr sz="1350" b="0">
                <a:solidFill>
                  <a:srgbClr val="1F2A3A"/>
                </a:solidFill>
                <a:latin typeface="맑은 고딕"/>
                <a:ea typeface="맑은 고딕"/>
                <a:cs typeface="맑은 고딕"/>
              </a:rPr>
              <a:t>• limit: 65</a:t>
            </a:r>
          </a:p>
        </p:txBody>
      </p:sp>
      <p:sp>
        <p:nvSpPr>
          <p:cNvPr id="16" name="Rounded Rectangle 15"/>
          <p:cNvSpPr/>
          <p:nvPr/>
        </p:nvSpPr>
        <p:spPr>
          <a:xfrm>
            <a:off x="3619423" y="4925187"/>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크기를 비교한다</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toggle-left" descr="toggle-left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 · 거짓</a:t>
            </a:r>
          </a:p>
          <a:p>
            <a:pPr algn="l">
              <a:lnSpc>
                <a:spcPct val="110000"/>
              </a:lnSpc>
              <a:spcAft>
                <a:spcPts val="400"/>
              </a:spcAft>
            </a:pPr>
            <a:r>
              <a:rPr sz="1350" b="0">
                <a:solidFill>
                  <a:srgbClr val="1F2A3A"/>
                </a:solidFill>
                <a:latin typeface="맑은 고딕"/>
                <a:ea typeface="맑은 고딕"/>
                <a:cs typeface="맑은 고딕"/>
              </a:rPr>
              <a:t>virtual: false</a:t>
            </a:r>
          </a:p>
        </p:txBody>
      </p:sp>
      <p:sp>
        <p:nvSpPr>
          <p:cNvPr id="22" name="Rounded Rectangle 21"/>
          <p:cNvSpPr/>
          <p:nvPr/>
        </p:nvSpPr>
        <p:spPr>
          <a:xfrm>
            <a:off x="6461607" y="4925187"/>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둘 가운데 하나</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list" descr="list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a:t>
            </a:r>
          </a:p>
          <a:p>
            <a:pPr algn="l">
              <a:lnSpc>
                <a:spcPct val="110000"/>
              </a:lnSpc>
              <a:spcAft>
                <a:spcPts val="400"/>
              </a:spcAft>
            </a:pPr>
            <a:r>
              <a:rPr sz="1350" b="0">
                <a:solidFill>
                  <a:srgbClr val="1F2A3A"/>
                </a:solidFill>
                <a:latin typeface="맑은 고딕"/>
                <a:ea typeface="맑은 고딕"/>
                <a:cs typeface="맑은 고딕"/>
              </a:rPr>
              <a:t>aliases: 오일 온도, 작동유 온도, TS1</a:t>
            </a:r>
          </a:p>
        </p:txBody>
      </p:sp>
      <p:sp>
        <p:nvSpPr>
          <p:cNvPr id="28" name="Rounded Rectangle 27"/>
          <p:cNvSpPr/>
          <p:nvPr/>
        </p:nvSpPr>
        <p:spPr>
          <a:xfrm>
            <a:off x="9303791" y="492518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값이 여럿</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모든 인스턴스가 가져야 하는 속성과 없어도 되는 속성이 있으며, 상태 변수의 한계는 없어도 되는 속성이다.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한계값.svg" descr="illust_342054505094225605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8" name="TextBox 7"/>
          <p:cNvSpPr txBox="1"/>
          <p:nvPr/>
        </p:nvSpPr>
        <p:spPr>
          <a:xfrm>
            <a:off x="3433930"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토출 압력</a:t>
            </a:r>
          </a:p>
        </p:txBody>
      </p:sp>
      <p:sp>
        <p:nvSpPr>
          <p:cNvPr id="9" name="TextBox 8"/>
          <p:cNvSpPr txBox="1"/>
          <p:nvPr/>
        </p:nvSpPr>
        <p:spPr>
          <a:xfrm>
            <a:off x="5572191"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팬 진동</a:t>
            </a:r>
          </a:p>
        </p:txBody>
      </p:sp>
      <p:sp>
        <p:nvSpPr>
          <p:cNvPr id="10" name="TextBox 9"/>
          <p:cNvSpPr txBox="1"/>
          <p:nvPr/>
        </p:nvSpPr>
        <p:spPr>
          <a:xfrm>
            <a:off x="7710452"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11" name="TextBox 10"/>
          <p:cNvSpPr txBox="1"/>
          <p:nvPr/>
        </p:nvSpPr>
        <p:spPr>
          <a:xfrm>
            <a:off x="9848713"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유량</a:t>
            </a:r>
          </a:p>
        </p:txBody>
      </p:sp>
      <p:sp>
        <p:nvSpPr>
          <p:cNvPr id="12" name="TextBox 11"/>
          <p:cNvSpPr txBox="1"/>
          <p:nvPr/>
        </p:nvSpPr>
        <p:spPr>
          <a:xfrm>
            <a:off x="1001113"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48</a:t>
            </a:r>
          </a:p>
        </p:txBody>
      </p:sp>
      <p:sp>
        <p:nvSpPr>
          <p:cNvPr id="13" name="TextBox 12"/>
          <p:cNvSpPr txBox="1"/>
          <p:nvPr/>
        </p:nvSpPr>
        <p:spPr>
          <a:xfrm>
            <a:off x="3139374"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bar</a:t>
            </a:r>
          </a:p>
          <a:p>
            <a:pPr algn="ctr">
              <a:lnSpc>
                <a:spcPct val="110000"/>
              </a:lnSpc>
              <a:spcAft>
                <a:spcPts val="100"/>
              </a:spcAft>
            </a:pPr>
            <a:r>
              <a:rPr sz="1100" b="0">
                <a:solidFill>
                  <a:srgbClr val="556175"/>
                </a:solidFill>
                <a:latin typeface="맑은 고딕"/>
                <a:ea typeface="맑은 고딕"/>
                <a:cs typeface="맑은 고딕"/>
              </a:rPr>
              <a:t>정상값 182</a:t>
            </a:r>
          </a:p>
        </p:txBody>
      </p:sp>
      <p:sp>
        <p:nvSpPr>
          <p:cNvPr id="14" name="TextBox 13"/>
          <p:cNvSpPr txBox="1"/>
          <p:nvPr/>
        </p:nvSpPr>
        <p:spPr>
          <a:xfrm>
            <a:off x="5277635"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mm/s</a:t>
            </a:r>
          </a:p>
          <a:p>
            <a:pPr algn="ctr">
              <a:lnSpc>
                <a:spcPct val="110000"/>
              </a:lnSpc>
              <a:spcAft>
                <a:spcPts val="100"/>
              </a:spcAft>
            </a:pPr>
            <a:r>
              <a:rPr sz="1100" b="0">
                <a:solidFill>
                  <a:srgbClr val="556175"/>
                </a:solidFill>
                <a:latin typeface="맑은 고딕"/>
                <a:ea typeface="맑은 고딕"/>
                <a:cs typeface="맑은 고딕"/>
              </a:rPr>
              <a:t>정상값 0.6</a:t>
            </a:r>
          </a:p>
        </p:txBody>
      </p:sp>
      <p:sp>
        <p:nvSpPr>
          <p:cNvPr id="15" name="TextBox 14"/>
          <p:cNvSpPr txBox="1"/>
          <p:nvPr/>
        </p:nvSpPr>
        <p:spPr>
          <a:xfrm>
            <a:off x="7415896"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84</a:t>
            </a:r>
          </a:p>
        </p:txBody>
      </p:sp>
      <p:sp>
        <p:nvSpPr>
          <p:cNvPr id="16" name="TextBox 15"/>
          <p:cNvSpPr txBox="1"/>
          <p:nvPr/>
        </p:nvSpPr>
        <p:spPr>
          <a:xfrm>
            <a:off x="9554157"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l/min</a:t>
            </a:r>
          </a:p>
          <a:p>
            <a:pPr algn="ctr">
              <a:lnSpc>
                <a:spcPct val="110000"/>
              </a:lnSpc>
              <a:spcAft>
                <a:spcPts val="100"/>
              </a:spcAft>
            </a:pPr>
            <a:r>
              <a:rPr sz="1100" b="0">
                <a:solidFill>
                  <a:srgbClr val="556175"/>
                </a:solidFill>
                <a:latin typeface="맑은 고딕"/>
                <a:ea typeface="맑은 고딕"/>
                <a:cs typeface="맑은 고딕"/>
              </a:rPr>
              <a:t>정상값 9</a:t>
            </a:r>
          </a:p>
        </p:txBody>
      </p:sp>
      <p:sp>
        <p:nvSpPr>
          <p:cNvPr id="17" name="TextBox 16"/>
          <p:cNvSpPr txBox="1"/>
          <p:nvPr/>
        </p:nvSpPr>
        <p:spPr>
          <a:xfrm>
            <a:off x="1110208"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65</a:t>
            </a:r>
          </a:p>
        </p:txBody>
      </p:sp>
      <p:sp>
        <p:nvSpPr>
          <p:cNvPr id="18" name="TextBox 17"/>
          <p:cNvSpPr txBox="1"/>
          <p:nvPr/>
        </p:nvSpPr>
        <p:spPr>
          <a:xfrm>
            <a:off x="3248469"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130</a:t>
            </a:r>
          </a:p>
        </p:txBody>
      </p:sp>
      <p:sp>
        <p:nvSpPr>
          <p:cNvPr id="19" name="TextBox 18"/>
          <p:cNvSpPr txBox="1"/>
          <p:nvPr/>
        </p:nvSpPr>
        <p:spPr>
          <a:xfrm>
            <a:off x="5386730"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2.0</a:t>
            </a:r>
          </a:p>
        </p:txBody>
      </p:sp>
      <p:sp>
        <p:nvSpPr>
          <p:cNvPr id="20" name="TextBox 19"/>
          <p:cNvSpPr txBox="1"/>
          <p:nvPr/>
        </p:nvSpPr>
        <p:spPr>
          <a:xfrm>
            <a:off x="7524991"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
        <p:nvSpPr>
          <p:cNvPr id="21" name="TextBox 20"/>
          <p:cNvSpPr txBox="1"/>
          <p:nvPr/>
        </p:nvSpPr>
        <p:spPr>
          <a:xfrm>
            <a:off x="9663252"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유온을 값이 아닌 인스턴스로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유온에는 정상값과 한계라는 자기 속성이 있으므로, 값이 아니라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두고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Oval 5"/>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10" name="Oval 9"/>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cxnSp>
        <p:nvCxnSpPr>
          <p:cNvPr id="12" name="Connector 11"/>
          <p:cNvCxnSpPr/>
          <p:nvPr/>
        </p:nvCxnSpPr>
        <p:spPr>
          <a:xfrm>
            <a:off x="2540166" y="3410712"/>
            <a:ext cx="0" cy="1133856"/>
          </a:xfrm>
          <a:prstGeom prst="line">
            <a:avLst/>
          </a:prstGeom>
          <a:ln w="28575">
            <a:solidFill>
              <a:srgbClr val="13294B"/>
            </a:solidFill>
            <a:tailEnd type="triangle" w="med" len="med"/>
          </a:ln>
        </p:spPr>
      </p:cxnSp>
      <p:sp>
        <p:nvSpPr>
          <p:cNvPr id="13" name="Rounded Rectangle 12"/>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4" name="TextBox 13"/>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5" name="Connector 14"/>
          <p:cNvCxnSpPr/>
          <p:nvPr/>
        </p:nvCxnSpPr>
        <p:spPr>
          <a:xfrm>
            <a:off x="3454566" y="5486400"/>
            <a:ext cx="1699449" cy="0"/>
          </a:xfrm>
          <a:prstGeom prst="line">
            <a:avLst/>
          </a:prstGeom>
          <a:ln w="28575">
            <a:solidFill>
              <a:srgbClr val="13294B"/>
            </a:solidFill>
            <a:tailEnd type="triangle" w="med" len="med"/>
          </a:ln>
        </p:spPr>
      </p:cxnSp>
      <p:sp>
        <p:nvSpPr>
          <p:cNvPr id="16" name="Rounded Rectangle 15"/>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748715027059620463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인스턴스의 나가는 관계와 들어오는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오일 쿨러에는 나가는 관계 셋과 들어오는 관계 둘이 있으며, 둘을 함께 보아야 이어진 대상이 모두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440119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503602"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74126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84368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Asset</a:t>
            </a:r>
          </a:p>
        </p:txBody>
      </p:sp>
      <p:sp>
        <p:nvSpPr>
          <p:cNvPr id="10" name="Oval 9"/>
          <p:cNvSpPr/>
          <p:nvPr/>
        </p:nvSpPr>
        <p:spPr>
          <a:xfrm>
            <a:off x="74126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4368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냉각 성능 상실</a:t>
            </a:r>
          </a:p>
          <a:p>
            <a:pPr algn="ctr">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729060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393015"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p:txBody>
      </p:sp>
      <p:sp>
        <p:nvSpPr>
          <p:cNvPr id="14" name="Oval 13"/>
          <p:cNvSpPr/>
          <p:nvPr/>
        </p:nvSpPr>
        <p:spPr>
          <a:xfrm>
            <a:off x="9891073"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993486"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효율</a:t>
            </a:r>
          </a:p>
          <a:p>
            <a:pPr algn="ctr">
              <a:lnSpc>
                <a:spcPct val="110000"/>
              </a:lnSpc>
            </a:pPr>
            <a:r>
              <a:rPr sz="1100" b="0">
                <a:solidFill>
                  <a:srgbClr val="556175"/>
                </a:solidFill>
                <a:latin typeface="맑은 고딕"/>
                <a:ea typeface="맑은 고딕"/>
                <a:cs typeface="맑은 고딕"/>
              </a:rPr>
              <a:t>Sensor</a:t>
            </a:r>
          </a:p>
        </p:txBody>
      </p:sp>
      <p:sp>
        <p:nvSpPr>
          <p:cNvPr id="16" name="Oval 15"/>
          <p:cNvSpPr/>
          <p:nvPr/>
        </p:nvSpPr>
        <p:spPr>
          <a:xfrm>
            <a:off x="729060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393015"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Part</a:t>
            </a:r>
          </a:p>
        </p:txBody>
      </p:sp>
      <p:cxnSp>
        <p:nvCxnSpPr>
          <p:cNvPr id="18" name="Connector 17"/>
          <p:cNvCxnSpPr/>
          <p:nvPr/>
        </p:nvCxnSpPr>
        <p:spPr>
          <a:xfrm>
            <a:off x="2182636" y="2675721"/>
            <a:ext cx="2215171" cy="987892"/>
          </a:xfrm>
          <a:prstGeom prst="line">
            <a:avLst/>
          </a:prstGeom>
          <a:ln w="28575">
            <a:solidFill>
              <a:srgbClr val="13294B"/>
            </a:solidFill>
            <a:tailEnd type="triangle" w="med" len="med"/>
          </a:ln>
        </p:spPr>
      </p:cxnSp>
      <p:sp>
        <p:nvSpPr>
          <p:cNvPr id="19" name="Rounded Rectangle 18"/>
          <p:cNvSpPr/>
          <p:nvPr/>
        </p:nvSpPr>
        <p:spPr>
          <a:xfrm>
            <a:off x="2467152" y="2803907"/>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467152" y="2803907"/>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182636" y="4319098"/>
            <a:ext cx="2215171" cy="987892"/>
          </a:xfrm>
          <a:prstGeom prst="line">
            <a:avLst/>
          </a:prstGeom>
          <a:ln w="28575">
            <a:solidFill>
              <a:srgbClr val="13294B"/>
            </a:solidFill>
            <a:tailEnd type="triangle" w="med" len="med"/>
          </a:ln>
        </p:spPr>
      </p:cxnSp>
      <p:sp>
        <p:nvSpPr>
          <p:cNvPr id="22" name="Rounded Rectangle 21"/>
          <p:cNvSpPr/>
          <p:nvPr/>
        </p:nvSpPr>
        <p:spPr>
          <a:xfrm>
            <a:off x="2680853" y="4447284"/>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680853" y="4447284"/>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5809440" y="2754923"/>
            <a:ext cx="1512067" cy="854153"/>
          </a:xfrm>
          <a:prstGeom prst="line">
            <a:avLst/>
          </a:prstGeom>
          <a:ln w="28575">
            <a:solidFill>
              <a:srgbClr val="13294B"/>
            </a:solidFill>
            <a:tailEnd type="triangle" w="med" len="med"/>
          </a:ln>
        </p:spPr>
      </p:cxnSp>
      <p:sp>
        <p:nvSpPr>
          <p:cNvPr id="25" name="Rounded Rectangle 24"/>
          <p:cNvSpPr/>
          <p:nvPr/>
        </p:nvSpPr>
        <p:spPr>
          <a:xfrm>
            <a:off x="5795829" y="28162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795829" y="28162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5909950" y="3991356"/>
            <a:ext cx="3907971" cy="0"/>
          </a:xfrm>
          <a:prstGeom prst="line">
            <a:avLst/>
          </a:prstGeom>
          <a:ln w="28575">
            <a:solidFill>
              <a:srgbClr val="13294B"/>
            </a:solidFill>
            <a:tailEnd type="triangle" w="med" len="med"/>
          </a:ln>
        </p:spPr>
      </p:cxnSp>
      <p:sp>
        <p:nvSpPr>
          <p:cNvPr id="28" name="Rounded Rectangle 27"/>
          <p:cNvSpPr/>
          <p:nvPr/>
        </p:nvSpPr>
        <p:spPr>
          <a:xfrm>
            <a:off x="709429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09429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5809440" y="4373635"/>
            <a:ext cx="1512067" cy="854153"/>
          </a:xfrm>
          <a:prstGeom prst="line">
            <a:avLst/>
          </a:prstGeom>
          <a:ln w="28575">
            <a:solidFill>
              <a:srgbClr val="13294B"/>
            </a:solidFill>
            <a:tailEnd type="triangle" w="med" len="med"/>
          </a:ln>
        </p:spPr>
      </p:cxnSp>
      <p:sp>
        <p:nvSpPr>
          <p:cNvPr id="31" name="Rounded Rectangle 30"/>
          <p:cNvSpPr/>
          <p:nvPr/>
        </p:nvSpPr>
        <p:spPr>
          <a:xfrm>
            <a:off x="5956105" y="443495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5956105" y="4434951"/>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카디널리티.svg" descr="illust_21565409379355198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일대일 · 일대다 · 다대일: 실제 관계로 견주기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구동기와 상태 변수는 일대일, 조치 방법과 단계는 일대다, 역할과 부서는 다대일로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카디널리티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 예</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관계와 읽는 법</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1:1 일대일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인버터 → 팬 속도</a:t>
            </a:r>
          </a:p>
          <a:p>
            <a:pPr algn="l">
              <a:lnSpc>
                <a:spcPct val="110000"/>
              </a:lnSpc>
            </a:pPr>
            <a:r>
              <a:rPr sz="1400" b="0">
                <a:solidFill>
                  <a:srgbClr val="1F2A3A"/>
                </a:solidFill>
                <a:latin typeface="맑은 고딕"/>
                <a:ea typeface="맑은 고딕"/>
                <a:cs typeface="맑은 고딕"/>
              </a:rPr>
              <a:t>펌프 부하 설정 → 펌프 부하</a:t>
            </a:r>
          </a:p>
          <a:p>
            <a:pPr algn="l">
              <a:lnSpc>
                <a:spcPct val="110000"/>
              </a:lnSpc>
            </a:pPr>
            <a:r>
              <a:rPr sz="1400" b="0">
                <a:solidFill>
                  <a:srgbClr val="1F2A3A"/>
                </a:solidFill>
                <a:latin typeface="맑은 고딕"/>
                <a:ea typeface="맑은 고딕"/>
                <a:cs typeface="맑은 고딕"/>
              </a:rPr>
              <a:t>펌프 전환 밸브 → 운전 펌프 선택</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MANIPULATES</a:t>
            </a:r>
          </a:p>
          <a:p>
            <a:pPr algn="l">
              <a:lnSpc>
                <a:spcPct val="110000"/>
              </a:lnSpc>
            </a:pPr>
            <a:r>
              <a:rPr sz="1250" b="1">
                <a:solidFill>
                  <a:srgbClr val="556175"/>
                </a:solidFill>
                <a:latin typeface="맑은 고딕"/>
                <a:ea typeface="맑은 고딕"/>
                <a:cs typeface="맑은 고딕"/>
              </a:rPr>
              <a:t>구동기 하나에</a:t>
            </a:r>
          </a:p>
          <a:p>
            <a:pPr algn="l">
              <a:lnSpc>
                <a:spcPct val="110000"/>
              </a:lnSpc>
            </a:pPr>
            <a:r>
              <a:rPr sz="1250" b="1">
                <a:solidFill>
                  <a:srgbClr val="556175"/>
                </a:solidFill>
                <a:latin typeface="맑은 고딕"/>
                <a:ea typeface="맑은 고딕"/>
                <a:cs typeface="맑은 고딕"/>
              </a:rPr>
              <a:t>상태 변수 하나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1:N 일대다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단계 1: 운전 모드가 원격 자동인지 확인한다</a:t>
            </a:r>
          </a:p>
          <a:p>
            <a:pPr algn="l">
              <a:lnSpc>
                <a:spcPct val="110000"/>
              </a:lnSpc>
            </a:pPr>
            <a:r>
              <a:rPr sz="1400" b="0">
                <a:solidFill>
                  <a:srgbClr val="1F2A3A"/>
                </a:solidFill>
                <a:latin typeface="맑은 고딕"/>
                <a:ea typeface="맑은 고딕"/>
                <a:cs typeface="맑은 고딕"/>
              </a:rPr>
              <a:t>단계 2: 팬 속도를 100 %로 올린다</a:t>
            </a:r>
          </a:p>
          <a:p>
            <a:pPr algn="l">
              <a:lnSpc>
                <a:spcPct val="110000"/>
              </a:lnSpc>
            </a:pPr>
            <a:r>
              <a:rPr sz="1400" b="0">
                <a:solidFill>
                  <a:srgbClr val="1F2A3A"/>
                </a:solidFill>
                <a:latin typeface="맑은 고딕"/>
                <a:ea typeface="맑은 고딕"/>
                <a:cs typeface="맑은 고딕"/>
              </a:rPr>
              <a:t>단계 3: 15분 동안 다시 관측해 회복을 판정한다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a:t>
            </a:r>
          </a:p>
          <a:p>
            <a:pPr algn="l">
              <a:lnSpc>
                <a:spcPct val="110000"/>
              </a:lnSpc>
            </a:pPr>
            <a:r>
              <a:rPr sz="1250" b="1">
                <a:solidFill>
                  <a:srgbClr val="556175"/>
                </a:solidFill>
                <a:latin typeface="맑은 고딕"/>
                <a:ea typeface="맑은 고딕"/>
                <a:cs typeface="맑은 고딕"/>
              </a:rPr>
              <a:t>조치 방법 하나에</a:t>
            </a:r>
          </a:p>
          <a:p>
            <a:pPr algn="l">
              <a:lnSpc>
                <a:spcPct val="110000"/>
              </a:lnSpc>
            </a:pPr>
            <a:r>
              <a:rPr sz="1250" b="1">
                <a:solidFill>
                  <a:srgbClr val="556175"/>
                </a:solidFill>
                <a:latin typeface="맑은 고딕"/>
                <a:ea typeface="맑은 고딕"/>
                <a:cs typeface="맑은 고딕"/>
              </a:rPr>
              <a:t>단계 여럿</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N:1 다대일</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 생산팀</a:t>
            </a:r>
          </a:p>
          <a:p>
            <a:pPr algn="l">
              <a:lnSpc>
                <a:spcPct val="110000"/>
              </a:lnSpc>
            </a:pPr>
            <a:r>
              <a:rPr sz="1400" b="0">
                <a:solidFill>
                  <a:srgbClr val="1F2A3A"/>
                </a:solidFill>
                <a:latin typeface="맑은 고딕"/>
                <a:ea typeface="맑은 고딕"/>
                <a:cs typeface="맑은 고딕"/>
              </a:rPr>
              <a:t>생산관리자 → 생산팀</a:t>
            </a:r>
          </a:p>
          <a:p>
            <a:pPr algn="l">
              <a:lnSpc>
                <a:spcPct val="110000"/>
              </a:lnSpc>
            </a:pPr>
            <a:r>
              <a:rPr sz="1400" b="0">
                <a:solidFill>
                  <a:srgbClr val="1F2A3A"/>
                </a:solidFill>
                <a:latin typeface="맑은 고딕"/>
                <a:ea typeface="맑은 고딕"/>
                <a:cs typeface="맑은 고딕"/>
              </a:rPr>
              <a:t>설비보전팀장 → 설비보전팀</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MEMBER_OF</a:t>
            </a:r>
          </a:p>
          <a:p>
            <a:pPr algn="l">
              <a:lnSpc>
                <a:spcPct val="110000"/>
              </a:lnSpc>
            </a:pPr>
            <a:r>
              <a:rPr sz="1250" b="1">
                <a:solidFill>
                  <a:srgbClr val="556175"/>
                </a:solidFill>
                <a:latin typeface="맑은 고딕"/>
                <a:ea typeface="맑은 고딕"/>
                <a:cs typeface="맑은 고딕"/>
              </a:rPr>
              <a:t>역할 여럿이</a:t>
            </a:r>
          </a:p>
          <a:p>
            <a:pPr algn="l">
              <a:lnSpc>
                <a:spcPct val="110000"/>
              </a:lnSpc>
            </a:pPr>
            <a:r>
              <a:rPr sz="1250" b="1">
                <a:solidFill>
                  <a:srgbClr val="556175"/>
                </a:solidFill>
                <a:latin typeface="맑은 고딕"/>
                <a:ea typeface="맑은 고딕"/>
                <a:cs typeface="맑은 고딕"/>
              </a:rPr>
              <a:t>부서 하나에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다대다(N:M): 부품과 공급사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하나에 공급사가 여럿, 공급사 하나에 부품이 여럿 이어질 수 있는 SUPPLIED_BY는 다대다 관계이다.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다대다.svg" descr="illust_134563154943595726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651269"/>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SUPPLIED_BY</a:t>
            </a:r>
          </a:p>
        </p:txBody>
      </p:sp>
      <p:sp>
        <p:nvSpPr>
          <p:cNvPr id="8" name="TextBox 7"/>
          <p:cNvSpPr txBox="1"/>
          <p:nvPr/>
        </p:nvSpPr>
        <p:spPr>
          <a:xfrm>
            <a:off x="1350217" y="228947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9" name="TextBox 8"/>
          <p:cNvSpPr txBox="1"/>
          <p:nvPr/>
        </p:nvSpPr>
        <p:spPr>
          <a:xfrm>
            <a:off x="1350217" y="379280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베어링</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0" name="TextBox 9"/>
          <p:cNvSpPr txBox="1"/>
          <p:nvPr/>
        </p:nvSpPr>
        <p:spPr>
          <a:xfrm>
            <a:off x="1350217" y="52914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1" name="TextBox 10"/>
          <p:cNvSpPr txBox="1"/>
          <p:nvPr/>
        </p:nvSpPr>
        <p:spPr>
          <a:xfrm>
            <a:off x="8714126" y="228947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2" name="TextBox 11"/>
          <p:cNvSpPr txBox="1"/>
          <p:nvPr/>
        </p:nvSpPr>
        <p:spPr>
          <a:xfrm>
            <a:off x="8714126" y="379280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3" name="TextBox 12"/>
          <p:cNvSpPr txBox="1"/>
          <p:nvPr/>
        </p:nvSpPr>
        <p:spPr>
          <a:xfrm>
            <a:off x="8714126" y="529140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a:p>
            <a:pPr algn="ctr">
              <a:lnSpc>
                <a:spcPct val="110000"/>
              </a:lnSpc>
              <a:spcAft>
                <a:spcPts val="100"/>
              </a:spcAft>
            </a:pPr>
            <a:r>
              <a:rPr sz="1300" b="0">
                <a:solidFill>
                  <a:srgbClr val="556175"/>
                </a:solidFill>
                <a:latin typeface="맑은 고딕"/>
                <a:ea typeface="맑은 고딕"/>
                <a:cs typeface="맑은 고딕"/>
              </a:rPr>
              <a:t>공급사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 설계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클래스, 속성, 관계, 제약을 일관되게 정의하는 구조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여러노드.svg" descr="illust_733814760436155217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①: 이름과 의미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정의는 하나뿐인 영문 이름과 그 이름이 가리키는 범위를 정하는 의미 문장으로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클래스의 영문 이름이다. 이 클래스를 가리킬 때는 언제나 이 이름을 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label_ko</a:t>
            </a:r>
          </a:p>
          <a:p>
            <a:pPr algn="l">
              <a:lnSpc>
                <a:spcPct val="110000"/>
              </a:lnSpc>
              <a:spcAft>
                <a:spcPts val="400"/>
              </a:spcAft>
            </a:pPr>
            <a:r>
              <a:rPr sz="1400" b="0">
                <a:solidFill>
                  <a:srgbClr val="1F2A3A"/>
                </a:solidFill>
                <a:latin typeface="맑은 고딕"/>
                <a:ea typeface="맑은 고딕"/>
                <a:cs typeface="맑은 고딕"/>
              </a:rPr>
              <a:t>화면과 문서에 보이는 한글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이 클래스가 무엇을 가리키는지를 문장으로 적는다.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「계측 채널」이라고 적었으므로 계기 없이 계산한 냉각 효율도 이 클래스에 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②: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속성이 빠진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속성이 빠진 인스턴스는 스키마에 어긋나며, 그 인스턴스로는 정해진 일을 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속성을 갖춘 센서</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TS1</a:t>
            </a:r>
          </a:p>
          <a:p>
            <a:pPr algn="l">
              <a:lnSpc>
                <a:spcPct val="110000"/>
              </a:lnSpc>
              <a:spcAft>
                <a:spcPts val="600"/>
              </a:spcAft>
            </a:pPr>
            <a:r>
              <a:rPr sz="1450" b="0">
                <a:solidFill>
                  <a:srgbClr val="1F2A3A"/>
                </a:solidFill>
                <a:latin typeface="맑은 고딕"/>
                <a:ea typeface="맑은 고딕"/>
                <a:cs typeface="맑은 고딕"/>
              </a:rPr>
              <a:t>• 태그로 실시간 값을 찾을 수 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맞다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속성이 빠진 센서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(없음)</a:t>
            </a:r>
          </a:p>
          <a:p>
            <a:pPr algn="l">
              <a:lnSpc>
                <a:spcPct val="110000"/>
              </a:lnSpc>
              <a:spcAft>
                <a:spcPts val="600"/>
              </a:spcAft>
            </a:pPr>
            <a:r>
              <a:rPr sz="1450" b="0">
                <a:solidFill>
                  <a:srgbClr val="1F2A3A"/>
                </a:solidFill>
                <a:latin typeface="맑은 고딕"/>
                <a:ea typeface="맑은 고딕"/>
                <a:cs typeface="맑은 고딕"/>
              </a:rPr>
              <a:t>• 어느 값이 이 센서의 값인지 알 수 없다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어긋난다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별칭: 다른 이름으로 같은 대상 찾기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별칭은 같은 대상을 부르는 다른 이름의 목록이며, 질문에 쓰인 말로 대상을 찾는 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질문의 말</a:t>
            </a:r>
          </a:p>
          <a:p>
            <a:pPr algn="ctr">
              <a:lnSpc>
                <a:spcPct val="110000"/>
              </a:lnSpc>
              <a:spcAft>
                <a:spcPts val="400"/>
              </a:spcAft>
            </a:pPr>
            <a:r>
              <a:rPr sz="1350" b="0">
                <a:solidFill>
                  <a:srgbClr val="1F2A3A"/>
                </a:solidFill>
                <a:latin typeface="맑은 고딕"/>
                <a:ea typeface="맑은 고딕"/>
                <a:cs typeface="맑은 고딕"/>
              </a:rPr>
              <a:t>「작동유 온도가</a:t>
            </a:r>
          </a:p>
          <a:p>
            <a:pPr algn="ctr">
              <a:lnSpc>
                <a:spcPct val="110000"/>
              </a:lnSpc>
              <a:spcAft>
                <a:spcPts val="400"/>
              </a:spcAft>
            </a:pPr>
            <a:r>
              <a:rPr sz="1350" b="0">
                <a:solidFill>
                  <a:srgbClr val="1F2A3A"/>
                </a:solidFill>
                <a:latin typeface="맑은 고딕"/>
                <a:ea typeface="맑은 고딕"/>
                <a:cs typeface="맑은 고딕"/>
              </a:rPr>
              <a:t>얼마인가」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list-search" descr="list-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별칭과 대조</a:t>
            </a:r>
          </a:p>
          <a:p>
            <a:pPr algn="ctr">
              <a:lnSpc>
                <a:spcPct val="110000"/>
              </a:lnSpc>
              <a:spcAft>
                <a:spcPts val="400"/>
              </a:spcAft>
            </a:pPr>
            <a:r>
              <a:rPr sz="1350" b="0">
                <a:solidFill>
                  <a:srgbClr val="1F2A3A"/>
                </a:solidFill>
                <a:latin typeface="맑은 고딕"/>
                <a:ea typeface="맑은 고딕"/>
                <a:cs typeface="맑은 고딕"/>
              </a:rPr>
              <a:t>aliases:</a:t>
            </a:r>
          </a:p>
          <a:p>
            <a:pPr algn="ctr">
              <a:lnSpc>
                <a:spcPct val="110000"/>
              </a:lnSpc>
              <a:spcAft>
                <a:spcPts val="400"/>
              </a:spcAft>
            </a:pPr>
            <a:r>
              <a:rPr sz="1350" b="0">
                <a:solidFill>
                  <a:srgbClr val="1F2A3A"/>
                </a:solidFill>
                <a:latin typeface="맑은 고딕"/>
                <a:ea typeface="맑은 고딕"/>
                <a:cs typeface="맑은 고딕"/>
              </a:rPr>
              <a:t>오일 온도,</a:t>
            </a:r>
          </a:p>
          <a:p>
            <a:pPr algn="ctr">
              <a:lnSpc>
                <a:spcPct val="110000"/>
              </a:lnSpc>
              <a:spcAft>
                <a:spcPts val="400"/>
              </a:spcAft>
            </a:pPr>
            <a:r>
              <a:rPr sz="1350" b="0">
                <a:solidFill>
                  <a:srgbClr val="1F2A3A"/>
                </a:solidFill>
                <a:latin typeface="맑은 고딕"/>
                <a:ea typeface="맑은 고딕"/>
                <a:cs typeface="맑은 고딕"/>
              </a:rPr>
              <a:t>작동유 온도, TS1</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target" descr="targe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찾은 대상</a:t>
            </a:r>
          </a:p>
          <a:p>
            <a:pPr algn="ctr">
              <a:lnSpc>
                <a:spcPct val="110000"/>
              </a:lnSpc>
              <a:spcAft>
                <a:spcPts val="400"/>
              </a:spcAft>
            </a:pPr>
            <a:r>
              <a:rPr sz="1350" b="0">
                <a:solidFill>
                  <a:srgbClr val="1F2A3A"/>
                </a:solidFill>
                <a:latin typeface="맑은 고딕"/>
                <a:ea typeface="맑은 고딕"/>
                <a:cs typeface="맑은 고딕"/>
              </a:rPr>
              <a:t>sv:ts1</a:t>
            </a:r>
          </a:p>
          <a:p>
            <a:pPr algn="ctr">
              <a:lnSpc>
                <a:spcPct val="110000"/>
              </a:lnSpc>
              <a:spcAft>
                <a:spcPts val="400"/>
              </a:spcAft>
            </a:pPr>
            <a:r>
              <a:rPr sz="1350" b="0">
                <a:solidFill>
                  <a:srgbClr val="1F2A3A"/>
                </a:solidFill>
                <a:latin typeface="맑은 고딕"/>
                <a:ea typeface="맑은 고딕"/>
                <a:cs typeface="맑은 고딕"/>
              </a:rPr>
              <a:t>유온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연결조건_2.svg" descr="illust_236474024214632107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manipulated, controlled, disturbance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모델을 스키마로 발전시키는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클래스, 속성, 관계의 순서로 정의를 채워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정한다</a:t>
            </a:r>
          </a:p>
          <a:p>
            <a:pPr algn="ctr">
              <a:lnSpc>
                <a:spcPct val="110000"/>
              </a:lnSpc>
              <a:spcAft>
                <a:spcPts val="400"/>
              </a:spcAft>
            </a:pPr>
            <a:r>
              <a:rPr sz="1350" b="0">
                <a:solidFill>
                  <a:srgbClr val="1F2A3A"/>
                </a:solidFill>
                <a:latin typeface="맑은 고딕"/>
                <a:ea typeface="맑은 고딕"/>
                <a:cs typeface="맑은 고딕"/>
              </a:rPr>
              <a:t>이 지식으로</a:t>
            </a:r>
          </a:p>
          <a:p>
            <a:pPr algn="ctr">
              <a:lnSpc>
                <a:spcPct val="110000"/>
              </a:lnSpc>
              <a:spcAft>
                <a:spcPts val="400"/>
              </a:spcAft>
            </a:pPr>
            <a:r>
              <a:rPr sz="1350" b="0">
                <a:solidFill>
                  <a:srgbClr val="1F2A3A"/>
                </a:solidFill>
                <a:latin typeface="맑은 고딕"/>
                <a:ea typeface="맑은 고딕"/>
                <a:cs typeface="맑은 고딕"/>
              </a:rPr>
              <a:t>답할 질문</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클래스와 인스턴스를 나눈다</a:t>
            </a:r>
          </a:p>
          <a:p>
            <a:pPr algn="ctr">
              <a:lnSpc>
                <a:spcPct val="110000"/>
              </a:lnSpc>
              <a:spcAft>
                <a:spcPts val="400"/>
              </a:spcAft>
            </a:pPr>
            <a:r>
              <a:rPr sz="1350" b="0">
                <a:solidFill>
                  <a:srgbClr val="1F2A3A"/>
                </a:solidFill>
                <a:latin typeface="맑은 고딕"/>
                <a:ea typeface="맑은 고딕"/>
                <a:cs typeface="맑은 고딕"/>
              </a:rPr>
              <a:t>유형과</a:t>
            </a:r>
          </a:p>
          <a:p>
            <a:pPr algn="ctr">
              <a:lnSpc>
                <a:spcPct val="110000"/>
              </a:lnSpc>
              <a:spcAft>
                <a:spcPts val="400"/>
              </a:spcAft>
            </a:pPr>
            <a:r>
              <a:rPr sz="1350" b="0">
                <a:solidFill>
                  <a:srgbClr val="1F2A3A"/>
                </a:solidFill>
                <a:latin typeface="맑은 고딕"/>
                <a:ea typeface="맑은 고딕"/>
                <a:cs typeface="맑은 고딕"/>
              </a:rPr>
              <a:t>실제 대상</a:t>
            </a:r>
          </a:p>
        </p:txBody>
      </p:sp>
      <p:sp>
        <p:nvSpPr>
          <p:cNvPr id="17" name="Oval 16"/>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속성을 정한다</a:t>
            </a:r>
          </a:p>
          <a:p>
            <a:pPr algn="ctr">
              <a:lnSpc>
                <a:spcPct val="110000"/>
              </a:lnSpc>
              <a:spcAft>
                <a:spcPts val="400"/>
              </a:spcAft>
            </a:pPr>
            <a:r>
              <a:rPr sz="1350" b="0">
                <a:solidFill>
                  <a:srgbClr val="1F2A3A"/>
                </a:solidFill>
                <a:latin typeface="맑은 고딕"/>
                <a:ea typeface="맑은 고딕"/>
                <a:cs typeface="맑은 고딕"/>
              </a:rPr>
              <a:t>속성명, 자료형,</a:t>
            </a:r>
          </a:p>
          <a:p>
            <a:pPr algn="ctr">
              <a:lnSpc>
                <a:spcPct val="110000"/>
              </a:lnSpc>
              <a:spcAft>
                <a:spcPts val="400"/>
              </a:spcAft>
            </a:pPr>
            <a:r>
              <a:rPr sz="1350" b="0">
                <a:solidFill>
                  <a:srgbClr val="1F2A3A"/>
                </a:solidFill>
                <a:latin typeface="맑은 고딕"/>
                <a:ea typeface="맑은 고딕"/>
                <a:cs typeface="맑은 고딕"/>
              </a:rPr>
              <a:t>식별자, 필수 여부</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정한다</a:t>
            </a:r>
          </a:p>
          <a:p>
            <a:pPr algn="ctr">
              <a:lnSpc>
                <a:spcPct val="110000"/>
              </a:lnSpc>
              <a:spcAft>
                <a:spcPts val="400"/>
              </a:spcAft>
            </a:pPr>
            <a:r>
              <a:rPr sz="1350" b="0">
                <a:solidFill>
                  <a:srgbClr val="1F2A3A"/>
                </a:solidFill>
                <a:latin typeface="맑은 고딕"/>
                <a:ea typeface="맑은 고딕"/>
                <a:cs typeface="맑은 고딕"/>
              </a:rPr>
              <a:t>이름, 방향,</a:t>
            </a:r>
          </a:p>
          <a:p>
            <a:pPr algn="ctr">
              <a:lnSpc>
                <a:spcPct val="110000"/>
              </a:lnSpc>
              <a:spcAft>
                <a:spcPts val="400"/>
              </a:spcAft>
            </a:pPr>
            <a:r>
              <a:rPr sz="1350" b="0">
                <a:solidFill>
                  <a:srgbClr val="1F2A3A"/>
                </a:solidFill>
                <a:latin typeface="맑은 고딕"/>
                <a:ea typeface="맑은 고딕"/>
                <a:cs typeface="맑은 고딕"/>
              </a:rPr>
              <a:t>양 끝 클래스, 카디널리티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그래프 DB와 Cypher</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연결된 지식을 노드와 관계로 저장하고 관계를 따라 조회하는 방법</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관계형 DB: 테이블, 행, 조인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관계형 DB에서 부품의 공급사를 찾으려면 두 테이블에서 part_no 값이 같은 행을 맞추어 이어야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조인_1.svg" descr="illust_610772280868349592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066570"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2615718"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066570"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1" name="TextBox 10"/>
          <p:cNvSpPr txBox="1"/>
          <p:nvPr/>
        </p:nvSpPr>
        <p:spPr>
          <a:xfrm>
            <a:off x="2615718"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
        <p:nvSpPr>
          <p:cNvPr id="12" name="TextBox 11"/>
          <p:cNvSpPr txBox="1"/>
          <p:nvPr/>
        </p:nvSpPr>
        <p:spPr>
          <a:xfrm>
            <a:off x="1066570"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13" name="TextBox 12"/>
          <p:cNvSpPr txBox="1"/>
          <p:nvPr/>
        </p:nvSpPr>
        <p:spPr>
          <a:xfrm>
            <a:off x="2615718"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14" name="TextBox 13"/>
          <p:cNvSpPr txBox="1"/>
          <p:nvPr/>
        </p:nvSpPr>
        <p:spPr>
          <a:xfrm>
            <a:off x="1066570"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sup:a</a:t>
            </a:r>
          </a:p>
        </p:txBody>
      </p:sp>
      <p:sp>
        <p:nvSpPr>
          <p:cNvPr id="15" name="TextBox 14"/>
          <p:cNvSpPr txBox="1"/>
          <p:nvPr/>
        </p:nvSpPr>
        <p:spPr>
          <a:xfrm>
            <a:off x="2615718"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066570"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sup:b</a:t>
            </a:r>
          </a:p>
        </p:txBody>
      </p:sp>
      <p:sp>
        <p:nvSpPr>
          <p:cNvPr id="17" name="TextBox 16"/>
          <p:cNvSpPr txBox="1"/>
          <p:nvPr/>
        </p:nvSpPr>
        <p:spPr>
          <a:xfrm>
            <a:off x="2615718"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8" name="TextBox 1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19" name="TextBox 18"/>
          <p:cNvSpPr txBox="1"/>
          <p:nvPr/>
        </p:nvSpPr>
        <p:spPr>
          <a:xfrm>
            <a:off x="3586663" y="3471336"/>
            <a:ext cx="2290993"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조인(JOIN)</a:t>
            </a:r>
          </a:p>
          <a:p>
            <a:pPr algn="ctr">
              <a:lnSpc>
                <a:spcPct val="110000"/>
              </a:lnSpc>
              <a:spcAft>
                <a:spcPts val="100"/>
              </a:spcAft>
            </a:pPr>
            <a:r>
              <a:rPr sz="1100" b="0">
                <a:solidFill>
                  <a:srgbClr val="556175"/>
                </a:solidFill>
                <a:latin typeface="맑은 고딕"/>
                <a:ea typeface="맑은 고딕"/>
                <a:cs typeface="맑은 고딕"/>
              </a:rPr>
              <a:t>part_no 값이 같은 행끼리</a:t>
            </a:r>
          </a:p>
          <a:p>
            <a:pPr algn="ctr">
              <a:lnSpc>
                <a:spcPct val="110000"/>
              </a:lnSpc>
              <a:spcAft>
                <a:spcPts val="100"/>
              </a:spcAft>
            </a:pPr>
            <a:r>
              <a:rPr sz="1100" b="0">
                <a:solidFill>
                  <a:srgbClr val="556175"/>
                </a:solidFill>
                <a:latin typeface="맑은 고딕"/>
                <a:ea typeface="맑은 고딕"/>
                <a:cs typeface="맑은 고딕"/>
              </a:rPr>
              <a:t>맞추어 잇는다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 저장된 관계를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관계 자체를 데이터로 저장하므로 쿨러 코어에서 SUPPLIED_BY를 따라가면 공급사에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조인_2.svg" descr="illust_32154010185319380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9" name="TextBox 8"/>
          <p:cNvSpPr txBox="1"/>
          <p:nvPr/>
        </p:nvSpPr>
        <p:spPr>
          <a:xfrm>
            <a:off x="7950461" y="2005827"/>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SUPPLIED_BY</a:t>
            </a:r>
          </a:p>
        </p:txBody>
      </p:sp>
      <p:sp>
        <p:nvSpPr>
          <p:cNvPr id="10" name="TextBox 9"/>
          <p:cNvSpPr txBox="1"/>
          <p:nvPr/>
        </p:nvSpPr>
        <p:spPr>
          <a:xfrm>
            <a:off x="6674050" y="4629561"/>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
        <p:nvSpPr>
          <p:cNvPr id="11" name="TextBox 10"/>
          <p:cNvSpPr txBox="1"/>
          <p:nvPr/>
        </p:nvSpPr>
        <p:spPr>
          <a:xfrm>
            <a:off x="9510519" y="349970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A정밀</a:t>
            </a:r>
          </a:p>
          <a:p>
            <a:pPr algn="ctr">
              <a:lnSpc>
                <a:spcPct val="110000"/>
              </a:lnSpc>
              <a:spcAft>
                <a:spcPts val="100"/>
              </a:spcAft>
            </a:pPr>
            <a:r>
              <a:rPr sz="1100" b="0">
                <a:solidFill>
                  <a:srgbClr val="556175"/>
                </a:solidFill>
                <a:latin typeface="맑은 고딕"/>
                <a:ea typeface="맑은 고딕"/>
                <a:cs typeface="맑은 고딕"/>
              </a:rPr>
              <a:t>Supplier</a:t>
            </a:r>
          </a:p>
        </p:txBody>
      </p:sp>
      <p:sp>
        <p:nvSpPr>
          <p:cNvPr id="12" name="TextBox 11"/>
          <p:cNvSpPr txBox="1"/>
          <p:nvPr/>
        </p:nvSpPr>
        <p:spPr>
          <a:xfrm>
            <a:off x="9510519" y="5504139"/>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B-OEM</a:t>
            </a:r>
          </a:p>
          <a:p>
            <a:pPr algn="ctr">
              <a:lnSpc>
                <a:spcPct val="110000"/>
              </a:lnSpc>
              <a:spcAft>
                <a:spcPts val="100"/>
              </a:spcAft>
            </a:pPr>
            <a:r>
              <a:rPr sz="1100" b="0">
                <a:solidFill>
                  <a:srgbClr val="556175"/>
                </a:solidFill>
                <a:latin typeface="맑은 고딕"/>
                <a:ea typeface="맑은 고딕"/>
                <a:cs typeface="맑은 고딕"/>
              </a:rPr>
              <a:t>Supplier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속성그래프_3.svg" descr="illust_2063089425704402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표기_3.svg" descr="illust_627674892355758103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 '오일 쿨러'}</a:t>
            </a:r>
          </a:p>
          <a:p>
            <a:pPr algn="l">
              <a:lnSpc>
                <a:spcPct val="110000"/>
              </a:lnSpc>
              <a:spcAft>
                <a:spcPts val="400"/>
              </a:spcAft>
            </a:pPr>
            <a:r>
              <a:rPr sz="1400" b="0">
                <a:solidFill>
                  <a:srgbClr val="1F2A3A"/>
                </a:solidFill>
                <a:latin typeface="맑은 고딕"/>
                <a:ea typeface="맑은 고딕"/>
                <a:cs typeface="맑은 고딕"/>
              </a:rPr>
              <a:t>중괄호는 속성 조건이다. Component 가운데 name 속성이 오일 쿨러인 노드만 가리킨다.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이어 적어 세 단계를 한 번에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노드와 관계를 번갈아 이어 적으면 설비에서 상태 변수의 한계값까지를 질의 한 번으로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(a:Asset {code: 'HYD-01'})</a:t>
            </a:r>
          </a:p>
          <a:p>
            <a:pPr algn="l">
              <a:lnSpc>
                <a:spcPct val="110000"/>
              </a:lnSpc>
              <a:spcAft>
                <a:spcPts val="200"/>
              </a:spcAft>
            </a:pPr>
            <a:r>
              <a:rPr sz="1300" b="0">
                <a:solidFill>
                  <a:srgbClr val="E8EEF6"/>
                </a:solidFill>
                <a:latin typeface="Consolas"/>
                <a:ea typeface="맑은 고딕"/>
                <a:cs typeface="맑은 고딕"/>
              </a:rPr>
              <a:t>      -[:HAS_COMPONENT]-&gt;(c:Component)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      -[:OBSERVES]-&gt;(v:StateVariable)</a:t>
            </a:r>
          </a:p>
          <a:p>
            <a:pPr algn="l">
              <a:lnSpc>
                <a:spcPct val="110000"/>
              </a:lnSpc>
              <a:spcAft>
                <a:spcPts val="200"/>
              </a:spcAft>
            </a:pPr>
            <a:r>
              <a:rPr sz="1300" b="0">
                <a:solidFill>
                  <a:srgbClr val="E8EEF6"/>
                </a:solidFill>
                <a:latin typeface="Consolas"/>
                <a:ea typeface="맑은 고딕"/>
                <a:cs typeface="맑은 고딕"/>
              </a:rPr>
              <a:t>RETURN c.name,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설비 HYD-01에서 HAS_COMPONENT로 구성 요소에 이르는 첫 단계이다.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이어 적은 부분</a:t>
            </a:r>
          </a:p>
          <a:p>
            <a:pPr algn="l">
              <a:lnSpc>
                <a:spcPct val="110000"/>
              </a:lnSpc>
              <a:spcAft>
                <a:spcPts val="400"/>
              </a:spcAft>
            </a:pPr>
            <a:r>
              <a:rPr sz="1400" b="0">
                <a:solidFill>
                  <a:srgbClr val="1F2A3A"/>
                </a:solidFill>
                <a:latin typeface="맑은 고딕"/>
                <a:ea typeface="맑은 고딕"/>
                <a:cs typeface="맑은 고딕"/>
              </a:rPr>
              <a:t>MONITORED_BY로 센서에, OBSERVES로 상태 변수에 이르는 두 단계이다.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NULL</a:t>
            </a:r>
          </a:p>
          <a:p>
            <a:pPr algn="l">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HYD-01의 구성 요소에 달린 센서가 다섯이므로 다섯 행이다.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방향을 반대로 적었을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관계의 방향을 정의와 반대로 적으면 오류가 나는 것이 아니라 결과가 한 행도 나오지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같은 방향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(c:Component)-[:MONITORED_BY]-&gt;(s:Sensor)</a:t>
            </a:r>
          </a:p>
          <a:p>
            <a:pPr algn="l">
              <a:lnSpc>
                <a:spcPct val="110000"/>
              </a:lnSpc>
              <a:spcAft>
                <a:spcPts val="600"/>
              </a:spcAft>
            </a:pPr>
            <a:r>
              <a:rPr sz="1450" b="0">
                <a:solidFill>
                  <a:srgbClr val="1F2A3A"/>
                </a:solidFill>
                <a:latin typeface="맑은 고딕"/>
                <a:ea typeface="맑은 고딕"/>
                <a:cs typeface="맑은 고딕"/>
              </a:rPr>
              <a:t>• 구성 요소에서 센서로 향한다</a:t>
            </a:r>
          </a:p>
          <a:p>
            <a:pPr algn="l">
              <a:lnSpc>
                <a:spcPct val="110000"/>
              </a:lnSpc>
              <a:spcAft>
                <a:spcPts val="600"/>
              </a:spcAft>
            </a:pPr>
            <a:r>
              <a:rPr sz="1450" b="0">
                <a:solidFill>
                  <a:srgbClr val="1F2A3A"/>
                </a:solidFill>
                <a:latin typeface="맑은 고딕"/>
                <a:ea typeface="맑은 고딕"/>
                <a:cs typeface="맑은 고딕"/>
              </a:rPr>
              <a:t>• 결과: 구성 요소와 센서의 짝 다섯</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다섯 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반대 방향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(s:Sensor)-[:MONITORED_BY]-&gt;(c:Component)</a:t>
            </a:r>
          </a:p>
          <a:p>
            <a:pPr algn="l">
              <a:lnSpc>
                <a:spcPct val="110000"/>
              </a:lnSpc>
              <a:spcAft>
                <a:spcPts val="600"/>
              </a:spcAft>
            </a:pPr>
            <a:r>
              <a:rPr sz="1450" b="0">
                <a:solidFill>
                  <a:srgbClr val="1F2A3A"/>
                </a:solidFill>
                <a:latin typeface="맑은 고딕"/>
                <a:ea typeface="맑은 고딕"/>
                <a:cs typeface="맑은 고딕"/>
              </a:rPr>
              <a:t>• 센서에서 구성 요소로 향한다</a:t>
            </a:r>
          </a:p>
          <a:p>
            <a:pPr algn="l">
              <a:lnSpc>
                <a:spcPct val="110000"/>
              </a:lnSpc>
              <a:spcAft>
                <a:spcPts val="600"/>
              </a:spcAft>
            </a:pPr>
            <a:r>
              <a:rPr sz="1450" b="0">
                <a:solidFill>
                  <a:srgbClr val="1F2A3A"/>
                </a:solidFill>
                <a:latin typeface="맑은 고딕"/>
                <a:ea typeface="맑은 고딕"/>
                <a:cs typeface="맑은 고딕"/>
              </a:rPr>
              <a:t>• 결과: 없음</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0행</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경로질의_2.svg" descr="illust_77640850481911647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MERGE로 관계를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관계는 양 끝의 노드를 MATCH로 먼저 찾은 다음 그 사이에 MERGE로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{id: 'comp:cooler'}),</a:t>
            </a:r>
          </a:p>
          <a:p>
            <a:pPr algn="l">
              <a:lnSpc>
                <a:spcPct val="110000"/>
              </a:lnSpc>
              <a:spcAft>
                <a:spcPts val="200"/>
              </a:spcAft>
            </a:pPr>
            <a:r>
              <a:rPr sz="1300" b="0">
                <a:solidFill>
                  <a:srgbClr val="E8EEF6"/>
                </a:solidFill>
                <a:latin typeface="Consolas"/>
                <a:ea typeface="맑은 고딕"/>
                <a:cs typeface="맑은 고딕"/>
              </a:rPr>
              <a:t>      (s:Sensor {id: 'sen:ts1'}),</a:t>
            </a:r>
          </a:p>
          <a:p>
            <a:pPr algn="l">
              <a:lnSpc>
                <a:spcPct val="110000"/>
              </a:lnSpc>
              <a:spcAft>
                <a:spcPts val="200"/>
              </a:spcAft>
            </a:pPr>
            <a:r>
              <a:rPr sz="1300" b="0">
                <a:solidFill>
                  <a:srgbClr val="E8EEF6"/>
                </a:solidFill>
                <a:latin typeface="Consolas"/>
                <a:ea typeface="맑은 고딕"/>
                <a:cs typeface="맑은 고딕"/>
              </a:rPr>
              <a:t>      (v:StateVariable {id: 'sv:ts1'})</a:t>
            </a:r>
          </a:p>
          <a:p>
            <a:pPr algn="l">
              <a:lnSpc>
                <a:spcPct val="110000"/>
              </a:lnSpc>
              <a:spcAft>
                <a:spcPts val="200"/>
              </a:spcAft>
            </a:pPr>
            <a:r>
              <a:rPr sz="1300" b="0">
                <a:solidFill>
                  <a:srgbClr val="E8EEF6"/>
                </a:solidFill>
                <a:latin typeface="Consolas"/>
                <a:ea typeface="맑은 고딕"/>
                <a:cs typeface="맑은 고딕"/>
              </a:rPr>
              <a:t>MERGE (c)-[:MONITORED_BY]-&gt;(s)</a:t>
            </a:r>
          </a:p>
          <a:p>
            <a:pPr algn="l">
              <a:lnSpc>
                <a:spcPct val="110000"/>
              </a:lnSpc>
              <a:spcAft>
                <a:spcPts val="200"/>
              </a:spcAft>
            </a:pPr>
            <a:r>
              <a:rPr sz="1300" b="0">
                <a:solidFill>
                  <a:srgbClr val="E8EEF6"/>
                </a:solidFill>
                <a:latin typeface="Consolas"/>
                <a:ea typeface="맑은 고딕"/>
                <a:cs typeface="맑은 고딕"/>
              </a:rPr>
              <a:t>MERGE (s)-[:OBSERVES]-&gt;(v)</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이을 노드 셋을 식별자로 찾아 c, s, v라는 변수를 붙인다.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변수로 부른 노드 사이에 관계를 만든다. 이미 있으면 다시 만들지 않는다.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방향</a:t>
            </a:r>
          </a:p>
          <a:p>
            <a:pPr algn="l">
              <a:lnSpc>
                <a:spcPct val="110000"/>
              </a:lnSpc>
              <a:spcAft>
                <a:spcPts val="400"/>
              </a:spcAft>
            </a:pPr>
            <a:r>
              <a:rPr sz="1400" b="0">
                <a:solidFill>
                  <a:srgbClr val="1F2A3A"/>
                </a:solidFill>
                <a:latin typeface="맑은 고딕"/>
                <a:ea typeface="맑은 고딕"/>
                <a:cs typeface="맑은 고딕"/>
              </a:rPr>
              <a:t>화살표는 스키마가 정한 시작 클래스에서 끝 클래스로 향하게 적는다.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Cypher로 필요한 정보를 찾는다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설비에서 구성 요소와 센서까지를 직접 쓴 질의로 조회하고 결과를 그래프와 표로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구성 요소와 센서를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비교한다</a:t>
            </a:r>
          </a:p>
          <a:p>
            <a:pPr algn="l">
              <a:lnSpc>
                <a:spcPct val="110000"/>
              </a:lnSpc>
              <a:spcAft>
                <a:spcPts val="400"/>
              </a:spcAft>
            </a:pPr>
            <a:r>
              <a:rPr sz="1350" b="0">
                <a:solidFill>
                  <a:srgbClr val="1F2A3A"/>
                </a:solidFill>
                <a:latin typeface="맑은 고딕"/>
                <a:ea typeface="맑은 고딕"/>
                <a:cs typeface="맑은 고딕"/>
              </a:rPr>
              <a:t>같은 질의의 결과를 그래프와 표로 번갈아 본다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설비 지식의 연결 구조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지식 지도에서 설비와 이어진 대상을 찾아본다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지도에서 탐색하는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지도에서는 클래스, 인스턴스, 속성, 관계가 HYD의 지식 그래프에 실제로 들어 있는 모습을 질의 없이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설비에서 출발한다</a:t>
            </a:r>
          </a:p>
          <a:p>
            <a:pPr algn="l">
              <a:lnSpc>
                <a:spcPct val="110000"/>
              </a:lnSpc>
              <a:spcAft>
                <a:spcPts val="400"/>
              </a:spcAft>
            </a:pPr>
            <a:r>
              <a:rPr sz="1400" b="0">
                <a:solidFill>
                  <a:srgbClr val="1F2A3A"/>
                </a:solidFill>
                <a:latin typeface="맑은 고딕"/>
                <a:ea typeface="맑은 고딕"/>
                <a:cs typeface="맑은 고딕"/>
              </a:rPr>
              <a:t>• 설비 하나를 골라 그에 이어진 구성 요소와 센서를 찾아간다</a:t>
            </a:r>
          </a:p>
          <a:p>
            <a:pPr algn="l">
              <a:lnSpc>
                <a:spcPct val="110000"/>
              </a:lnSpc>
              <a:spcAft>
                <a:spcPts val="400"/>
              </a:spcAft>
            </a:pPr>
            <a:r>
              <a:rPr sz="1400" b="0">
                <a:solidFill>
                  <a:srgbClr val="1F2A3A"/>
                </a:solidFill>
                <a:latin typeface="맑은 고딕"/>
                <a:ea typeface="맑은 고딕"/>
                <a:cs typeface="맑은 고딕"/>
              </a:rPr>
              <a:t>• 구성 요소에서 일어나는 고장 유형을 살펴본다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탐색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항목 하나를 읽는다</a:t>
            </a:r>
          </a:p>
          <a:p>
            <a:pPr algn="l">
              <a:lnSpc>
                <a:spcPct val="110000"/>
              </a:lnSpc>
              <a:spcAft>
                <a:spcPts val="400"/>
              </a:spcAft>
            </a:pPr>
            <a:r>
              <a:rPr sz="1400" b="0">
                <a:solidFill>
                  <a:srgbClr val="1F2A3A"/>
                </a:solidFill>
                <a:latin typeface="맑은 고딕"/>
                <a:ea typeface="맑은 고딕"/>
                <a:cs typeface="맑은 고딕"/>
              </a:rPr>
              <a:t>• 그 항목의 클래스와 속성을 확인한다</a:t>
            </a:r>
          </a:p>
          <a:p>
            <a:pPr algn="l">
              <a:lnSpc>
                <a:spcPct val="110000"/>
              </a:lnSpc>
              <a:spcAft>
                <a:spcPts val="400"/>
              </a:spcAft>
            </a:pPr>
            <a:r>
              <a:rPr sz="14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149850"/>
            <a:ext cx="176783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 · 속성 ·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그래프를 구분한다</a:t>
            </a:r>
          </a:p>
          <a:p>
            <a:pPr algn="l">
              <a:lnSpc>
                <a:spcPct val="110000"/>
              </a:lnSpc>
              <a:spcAft>
                <a:spcPts val="400"/>
              </a:spcAft>
            </a:pPr>
            <a:r>
              <a:rPr sz="1400" b="0">
                <a:solidFill>
                  <a:srgbClr val="1F2A3A"/>
                </a:solidFill>
                <a:latin typeface="맑은 고딕"/>
                <a:ea typeface="맑은 고딕"/>
                <a:cs typeface="맑은 고딕"/>
              </a:rPr>
              <a:t>• 지식 지도는 HYD의 기준 지식 그래프를 보인다</a:t>
            </a:r>
          </a:p>
          <a:p>
            <a:pPr algn="l">
              <a:lnSpc>
                <a:spcPct val="110000"/>
              </a:lnSpc>
              <a:spcAft>
                <a:spcPts val="400"/>
              </a:spcAft>
            </a:pPr>
            <a:r>
              <a:rPr sz="1400" b="0">
                <a:solidFill>
                  <a:srgbClr val="1F2A3A"/>
                </a:solidFill>
                <a:latin typeface="맑은 고딕"/>
                <a:ea typeface="맑은 고딕"/>
                <a:cs typeface="맑은 고딕"/>
              </a:rPr>
              <a:t>• 직접 만들 그래프는 실습용으로 분리된 그래프 DB에 넣는다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서로 다른 환경</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자료에서 클래스와 속성과 관계를 정의해 스키마와 인스턴스 데이터를 만든다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제공된 설비 자료를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289429"/>
            <a:ext cx="2485567" cy="34038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472309"/>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625928"/>
            <a:ext cx="424281" cy="424281"/>
          </a:xfrm>
          <a:prstGeom prst="rect">
            <a:avLst/>
          </a:prstGeom>
        </p:spPr>
      </p:pic>
      <p:sp>
        <p:nvSpPr>
          <p:cNvPr id="9" name="TextBox 8"/>
          <p:cNvSpPr txBox="1"/>
          <p:nvPr/>
        </p:nvSpPr>
        <p:spPr>
          <a:xfrm>
            <a:off x="621792"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289429"/>
            <a:ext cx="2485567" cy="34038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472309"/>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625928"/>
            <a:ext cx="424281" cy="424281"/>
          </a:xfrm>
          <a:prstGeom prst="rect">
            <a:avLst/>
          </a:prstGeom>
        </p:spPr>
      </p:pic>
      <p:sp>
        <p:nvSpPr>
          <p:cNvPr id="14" name="TextBox 13"/>
          <p:cNvSpPr txBox="1"/>
          <p:nvPr/>
        </p:nvSpPr>
        <p:spPr>
          <a:xfrm>
            <a:off x="3491407"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289429"/>
            <a:ext cx="2485567" cy="34038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472309"/>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625928"/>
            <a:ext cx="424281" cy="424281"/>
          </a:xfrm>
          <a:prstGeom prst="rect">
            <a:avLst/>
          </a:prstGeom>
        </p:spPr>
      </p:pic>
      <p:sp>
        <p:nvSpPr>
          <p:cNvPr id="19" name="TextBox 18"/>
          <p:cNvSpPr txBox="1"/>
          <p:nvPr/>
        </p:nvSpPr>
        <p:spPr>
          <a:xfrm>
            <a:off x="6361023"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방향을 정한다</a:t>
            </a:r>
          </a:p>
          <a:p>
            <a:pPr algn="ctr">
              <a:lnSpc>
                <a:spcPct val="110000"/>
              </a:lnSpc>
              <a:spcAft>
                <a:spcPts val="400"/>
              </a:spcAft>
            </a:pPr>
            <a:r>
              <a:rPr sz="1350" b="0">
                <a:solidFill>
                  <a:srgbClr val="1F2A3A"/>
                </a:solidFill>
                <a:latin typeface="맑은 고딕"/>
                <a:ea typeface="맑은 고딕"/>
                <a:cs typeface="맑은 고딕"/>
              </a:rPr>
              <a:t>여러 곳에 쓰이는 부품과</a:t>
            </a:r>
          </a:p>
          <a:p>
            <a:pPr algn="ctr">
              <a:lnSpc>
                <a:spcPct val="110000"/>
              </a:lnSpc>
              <a:spcAft>
                <a:spcPts val="400"/>
              </a:spcAft>
            </a:pPr>
            <a:r>
              <a:rPr sz="1350" b="0">
                <a:solidFill>
                  <a:srgbClr val="1F2A3A"/>
                </a:solidFill>
                <a:latin typeface="맑은 고딕"/>
                <a:ea typeface="맑은 고딕"/>
                <a:cs typeface="맑은 고딕"/>
              </a:rPr>
              <a:t>센서가 여럿인 관계를</a:t>
            </a:r>
          </a:p>
          <a:p>
            <a:pPr algn="ctr">
              <a:lnSpc>
                <a:spcPct val="110000"/>
              </a:lnSpc>
              <a:spcAft>
                <a:spcPts val="400"/>
              </a:spcAft>
            </a:pPr>
            <a:r>
              <a:rPr sz="1350" b="0">
                <a:solidFill>
                  <a:srgbClr val="1F2A3A"/>
                </a:solidFill>
                <a:latin typeface="맑은 고딕"/>
                <a:ea typeface="맑은 고딕"/>
                <a:cs typeface="맑은 고딕"/>
              </a:rPr>
              <a:t>포함한다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289429"/>
            <a:ext cx="2485567" cy="34038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472309"/>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625928"/>
            <a:ext cx="424281" cy="424281"/>
          </a:xfrm>
          <a:prstGeom prst="rect">
            <a:avLst/>
          </a:prstGeom>
        </p:spPr>
      </p:pic>
      <p:sp>
        <p:nvSpPr>
          <p:cNvPr id="24" name="TextBox 23"/>
          <p:cNvSpPr txBox="1"/>
          <p:nvPr/>
        </p:nvSpPr>
        <p:spPr>
          <a:xfrm>
            <a:off x="9230639"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식별자가 겹치지 않는지,</a:t>
            </a:r>
          </a:p>
          <a:p>
            <a:pPr algn="ctr">
              <a:lnSpc>
                <a:spcPct val="110000"/>
              </a:lnSpc>
              <a:spcAft>
                <a:spcPts val="400"/>
              </a:spcAft>
            </a:pPr>
            <a:r>
              <a:rPr sz="1350" b="0">
                <a:solidFill>
                  <a:srgbClr val="1F2A3A"/>
                </a:solidFill>
                <a:latin typeface="맑은 고딕"/>
                <a:ea typeface="맑은 고딕"/>
                <a:cs typeface="맑은 고딕"/>
              </a:rPr>
              <a:t>필수 속성이 빠지지</a:t>
            </a:r>
          </a:p>
          <a:p>
            <a:pPr algn="ctr">
              <a:lnSpc>
                <a:spcPct val="110000"/>
              </a:lnSpc>
              <a:spcAft>
                <a:spcPts val="400"/>
              </a:spcAft>
            </a:pPr>
            <a:r>
              <a:rPr sz="1350" b="0">
                <a:solidFill>
                  <a:srgbClr val="1F2A3A"/>
                </a:solidFill>
                <a:latin typeface="맑은 고딕"/>
                <a:ea typeface="맑은 고딕"/>
                <a:cs typeface="맑은 고딕"/>
              </a:rPr>
              <a:t>않았는지 점검하고</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대조한다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온톨로지의 그래프 DB 구현과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그래프로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클래스와 인스턴스와 관계를 Cypher로 그래프 DB에 넣으면 설계한 구조가 그래프로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그래프로 확인한다</a:t>
            </a:r>
          </a:p>
          <a:p>
            <a:pPr algn="ctr">
              <a:lnSpc>
                <a:spcPct val="110000"/>
              </a:lnSpc>
              <a:spcAft>
                <a:spcPts val="400"/>
              </a:spcAft>
            </a:pPr>
            <a:r>
              <a:rPr sz="1350" b="0">
                <a:solidFill>
                  <a:srgbClr val="1F2A3A"/>
                </a:solidFill>
                <a:latin typeface="맑은 고딕"/>
                <a:ea typeface="맑은 고딕"/>
                <a:cs typeface="맑은 고딕"/>
              </a:rPr>
              <a:t>Neo4j Browser에서 결과를 그래프로 보고</a:t>
            </a:r>
          </a:p>
          <a:p>
            <a:pPr algn="ctr">
              <a:lnSpc>
                <a:spcPct val="110000"/>
              </a:lnSpc>
              <a:spcAft>
                <a:spcPts val="400"/>
              </a:spcAft>
            </a:pPr>
            <a:r>
              <a:rPr sz="1350" b="0">
                <a:solidFill>
                  <a:srgbClr val="1F2A3A"/>
                </a:solidFill>
                <a:latin typeface="맑은 고딕"/>
                <a:ea typeface="맑은 고딕"/>
                <a:cs typeface="맑은 고딕"/>
              </a:rPr>
              <a:t>설계한 구조대로 이어졌는지 확인한다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 절차와 판단 규칙</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절차가 정하는 순서와 안전 조건, 규칙이 가리는 조치의 가능 여부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사건의 도달점: 확인된 원인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 상승 경보에서 관계를 따라가 원인이 </a:t>
            </a:r>
            <a:r>
              <a:rPr sz="1600" b="1">
                <a:solidFill>
                  <a:srgbClr val="1A6FC4"/>
                </a:solidFill>
                <a:latin typeface="맑은 고딕"/>
                <a:ea typeface="맑은 고딕"/>
                <a:cs typeface="맑은 고딕"/>
              </a:rPr>
              <a:t>쿨러 핀 오염</a:t>
            </a:r>
            <a:r>
              <a:rPr sz="1600" b="0">
                <a:solidFill>
                  <a:srgbClr val="556175"/>
                </a:solidFill>
                <a:latin typeface="맑은 고딕"/>
                <a:ea typeface="맑은 고딕"/>
                <a:cs typeface="맑은 고딕"/>
              </a:rPr>
              <a:t>이라는 데까지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조치후보_0.svg" descr="illust_699734054285110507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7732271" y="366043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일</a:t>
            </a:r>
          </a:p>
          <a:p>
            <a:pPr algn="ctr">
              <a:lnSpc>
                <a:spcPct val="110000"/>
              </a:lnSpc>
              <a:spcAft>
                <a:spcPts val="100"/>
              </a:spcAft>
            </a:pPr>
            <a:r>
              <a:rPr sz="1300" b="0">
                <a:solidFill>
                  <a:srgbClr val="556175"/>
                </a:solidFill>
                <a:latin typeface="맑은 고딕"/>
                <a:ea typeface="맑은 고딕"/>
                <a:cs typeface="맑은 고딕"/>
              </a:rPr>
              <a:t>무엇을 할지는 아직 정해지지 않았다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삽화:조치후보_전체.svg" descr="illust_116854235084791840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p:txBody>
      </p:sp>
      <p:sp>
        <p:nvSpPr>
          <p:cNvPr id="10" name="TextBox 9"/>
          <p:cNvSpPr txBox="1"/>
          <p:nvPr/>
        </p:nvSpPr>
        <p:spPr>
          <a:xfrm>
            <a:off x="8550483" y="3234964"/>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p:txBody>
      </p:sp>
      <p:sp>
        <p:nvSpPr>
          <p:cNvPr id="11" name="TextBox 10"/>
          <p:cNvSpPr txBox="1"/>
          <p:nvPr/>
        </p:nvSpPr>
        <p:spPr>
          <a:xfrm>
            <a:off x="8550483" y="4402643"/>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p:txBody>
      </p:sp>
      <p:sp>
        <p:nvSpPr>
          <p:cNvPr id="12" name="TextBox 11"/>
          <p:cNvSpPr txBox="1"/>
          <p:nvPr/>
        </p:nvSpPr>
        <p:spPr>
          <a:xfrm>
            <a:off x="8550483" y="5565596"/>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앞에서 본 네 후보가 모두 이 매뉴얼의 SOP이다.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냉각 성능 상실에 쓰는 다섯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HM-8은 쿨러 냉각 성능 상실에 대한 다섯 절차를 유온을 당장 내리는 것과 원인을 없애는 것으로 나누어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번호</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SOP-COOL-11</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SOP-COOL-12</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SOP-COOL-13</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SOP-COOL-14</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SOP-COOL-15</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캐비닛 환기 보강</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원문 한 편: SOP-COOL-11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SOP-COOL-11의 원문에는 번호 붙은 세 단계 말고도 절 전체에 걸리는 조건과 승인할 역할이 함께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절의 첫 문장</a:t>
            </a:r>
          </a:p>
          <a:p>
            <a:pPr algn="l">
              <a:lnSpc>
                <a:spcPct val="110000"/>
              </a:lnSpc>
              <a:spcAft>
                <a:spcPts val="400"/>
              </a:spcAft>
            </a:pPr>
            <a:r>
              <a:rPr sz="1400" b="0">
                <a:solidFill>
                  <a:srgbClr val="1F2A3A"/>
                </a:solidFill>
                <a:latin typeface="맑은 고딕"/>
                <a:ea typeface="맑은 고딕"/>
                <a:cs typeface="맑은 고딕"/>
              </a:rPr>
              <a:t>이 절의 모든 SOP에 걸리는 조건이다.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번호가 붙은 단계</a:t>
            </a:r>
          </a:p>
          <a:p>
            <a:pPr algn="l">
              <a:lnSpc>
                <a:spcPct val="110000"/>
              </a:lnSpc>
              <a:spcAft>
                <a:spcPts val="400"/>
              </a:spcAft>
            </a:pPr>
            <a:r>
              <a:rPr sz="1400" b="0">
                <a:solidFill>
                  <a:srgbClr val="1F2A3A"/>
                </a:solidFill>
                <a:latin typeface="맑은 고딕"/>
                <a:ea typeface="맑은 고딕"/>
                <a:cs typeface="맑은 고딕"/>
              </a:rPr>
              <a:t>확인, 수행, 판정의 차례이다.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다른 절을 가리킨다</a:t>
            </a:r>
          </a:p>
          <a:p>
            <a:pPr algn="l">
              <a:lnSpc>
                <a:spcPct val="110000"/>
              </a:lnSpc>
              <a:spcAft>
                <a:spcPts val="400"/>
              </a:spcAft>
            </a:pPr>
            <a:r>
              <a:rPr sz="1400" b="0">
                <a:solidFill>
                  <a:srgbClr val="1F2A3A"/>
                </a:solidFill>
                <a:latin typeface="맑은 고딕"/>
                <a:ea typeface="맑은 고딕"/>
                <a:cs typeface="맑은 고딕"/>
              </a:rPr>
              <a:t>3단계는 판정 기준이 적힌 HM-8.6을 가리킨다.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승인할 역할과 생산에 주는 영향이다.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여덟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일곱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SOP문서_all.svg" descr="illust_8470828399552608030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76000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1383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287095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준비사항</a:t>
            </a:r>
          </a:p>
          <a:p>
            <a:pPr algn="ctr">
              <a:lnSpc>
                <a:spcPct val="110000"/>
              </a:lnSpc>
              <a:spcAft>
                <a:spcPts val="100"/>
              </a:spcAft>
            </a:pPr>
            <a:r>
              <a:rPr sz="1100" b="0">
                <a:solidFill>
                  <a:srgbClr val="556175"/>
                </a:solidFill>
                <a:latin typeface="맑은 고딕"/>
                <a:ea typeface="맑은 고딕"/>
                <a:cs typeface="맑은 고딕"/>
              </a:rPr>
              <a:t>시작 전에 갖출 공구, 자재, 인원</a:t>
            </a:r>
          </a:p>
        </p:txBody>
      </p:sp>
      <p:sp>
        <p:nvSpPr>
          <p:cNvPr id="10" name="TextBox 9"/>
          <p:cNvSpPr txBox="1"/>
          <p:nvPr/>
        </p:nvSpPr>
        <p:spPr>
          <a:xfrm>
            <a:off x="6204942" y="3452426"/>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1" name="TextBox 10"/>
          <p:cNvSpPr txBox="1"/>
          <p:nvPr/>
        </p:nvSpPr>
        <p:spPr>
          <a:xfrm>
            <a:off x="6204942" y="403390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2" name="TextBox 11"/>
          <p:cNvSpPr txBox="1"/>
          <p:nvPr/>
        </p:nvSpPr>
        <p:spPr>
          <a:xfrm>
            <a:off x="6204942" y="461537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3" name="TextBox 12"/>
          <p:cNvSpPr txBox="1"/>
          <p:nvPr/>
        </p:nvSpPr>
        <p:spPr>
          <a:xfrm>
            <a:off x="6204942" y="506921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4" name="TextBox 13"/>
          <p:cNvSpPr txBox="1"/>
          <p:nvPr/>
        </p:nvSpPr>
        <p:spPr>
          <a:xfrm>
            <a:off x="6204942" y="552304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전에 정해 두는 세 가지: 적용 대상 · 전제 조건 ·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 전제 조건, 안전 조건은 절차를 어느 고장에, 어떤 설비 상태에서, 어떤 보호 조치 뒤에 시작하는지를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적용 대상</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안전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정지하고 현장 패널에서 LOCAL로 전환한 뒤 잠금(LOTO)을 건다.」</a:t>
            </a:r>
          </a:p>
          <a:p>
            <a:pPr algn="l">
              <a:lnSpc>
                <a:spcPct val="110000"/>
              </a:lnSpc>
            </a:pPr>
            <a:r>
              <a:rPr sz="1400" b="0">
                <a:solidFill>
                  <a:srgbClr val="1F2A3A"/>
                </a:solidFill>
                <a:latin typeface="맑은 고딕"/>
                <a:ea typeface="맑은 고딕"/>
                <a:cs typeface="맑은 고딕"/>
              </a:rPr>
              <a:t>LOTO(Lockout/Tagout): 전원을 잠그고 표지를 다는 조치</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SOP-COOL-14</a:t>
            </a:r>
          </a:p>
          <a:p>
            <a:pPr algn="l">
              <a:lnSpc>
                <a:spcPct val="110000"/>
              </a:lnSpc>
            </a:pPr>
            <a:r>
              <a:rPr sz="1250" b="1">
                <a:solidFill>
                  <a:srgbClr val="1A6FC4"/>
                </a:solidFill>
                <a:latin typeface="맑은 고딕"/>
                <a:ea typeface="맑은 고딕"/>
                <a:cs typeface="맑은 고딕"/>
              </a:rPr>
              <a:t>1단계</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단계 · 담당 역할 · 완료 확인 기준 · 금지 사항의 원문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단계에는 누가 승인하는지, 무엇으로 끝났다고 보는지, 무엇을 해서는 안 되는지가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 운전 모드가 REMOTE_AUTO인지 확인한다</a:t>
            </a:r>
          </a:p>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3. 15분 재관측으로 회복 판정을 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 역할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운전원.」 — 팬 최대 운전</a:t>
            </a:r>
          </a:p>
          <a:p>
            <a:pPr algn="l">
              <a:lnSpc>
                <a:spcPct val="110000"/>
              </a:lnSpc>
            </a:pPr>
            <a:r>
              <a:rPr sz="1400" b="0">
                <a:solidFill>
                  <a:srgbClr val="1F2A3A"/>
                </a:solidFill>
                <a:latin typeface="맑은 고딕"/>
                <a:ea typeface="맑은 고딕"/>
                <a:cs typeface="맑은 고딕"/>
              </a:rPr>
              <a:t>「승인은 설비보전팀장이 한다.」 — 근본 조치</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a:p>
            <a:pPr algn="l">
              <a:lnSpc>
                <a:spcPct val="110000"/>
              </a:lnSpc>
            </a:pPr>
            <a:r>
              <a:rPr sz="1250" b="1">
                <a:solidFill>
                  <a:srgbClr val="556175"/>
                </a:solidFill>
                <a:latin typeface="맑은 고딕"/>
                <a:ea typeface="맑은 고딕"/>
                <a:cs typeface="맑은 고딕"/>
              </a:rPr>
              <a:t>HM-8.7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확인 기준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「고압수는 쓰지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a:p>
            <a:pPr algn="l">
              <a:lnSpc>
                <a:spcPct val="110000"/>
              </a:lnSpc>
            </a:pPr>
            <a:r>
              <a:rPr sz="1250" b="1">
                <a:solidFill>
                  <a:srgbClr val="556175"/>
                </a:solidFill>
                <a:latin typeface="맑은 고딕"/>
                <a:ea typeface="맑은 고딕"/>
                <a:cs typeface="맑은 고딕"/>
              </a:rPr>
              <a:t>SOP-COOL-14 2단계</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pic>
        <p:nvPicPr>
          <p:cNvPr id="6" name="삽화:운전모드_0.svg" descr="illust_2286543660736912559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운전모드_3.svg" descr="illust_6921619747840628869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사람이 운전 화면이나 현장 패널에서 직접 조작하는 동안</a:t>
            </a:r>
          </a:p>
          <a:p>
            <a:pPr algn="ctr">
              <a:lnSpc>
                <a:spcPct val="110000"/>
              </a:lnSpc>
              <a:spcAft>
                <a:spcPts val="100"/>
              </a:spcAft>
            </a:pPr>
            <a:r>
              <a:rPr sz="1300" b="0">
                <a:solidFill>
                  <a:srgbClr val="556175"/>
                </a:solidFill>
                <a:latin typeface="맑은 고딕"/>
                <a:ea typeface="맑은 고딕"/>
                <a:cs typeface="맑은 고딕"/>
              </a:rPr>
              <a:t>상위 시스템의 명령이 끼어들면 위험하다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111375"/>
            <a:ext cx="6766560" cy="375996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a:p>
            <a:pPr algn="l">
              <a:lnSpc>
                <a:spcPct val="110000"/>
              </a:lnSpc>
              <a:spcAft>
                <a:spcPts val="400"/>
              </a:spcAft>
            </a:pPr>
            <a:r>
              <a:rPr sz="1400" b="0">
                <a:solidFill>
                  <a:srgbClr val="1F2A3A"/>
                </a:solidFill>
                <a:latin typeface="맑은 고딕"/>
                <a:ea typeface="맑은 고딕"/>
                <a:cs typeface="맑은 고딕"/>
              </a:rPr>
              <a:t>예측 유온은 그 조치를 했다면</a:t>
            </a:r>
          </a:p>
          <a:p>
            <a:pPr algn="l">
              <a:lnSpc>
                <a:spcPct val="110000"/>
              </a:lnSpc>
              <a:spcAft>
                <a:spcPts val="400"/>
              </a:spcAft>
            </a:pPr>
            <a:r>
              <a:rPr sz="1400" b="0">
                <a:solidFill>
                  <a:srgbClr val="1F2A3A"/>
                </a:solidFill>
                <a:latin typeface="맑은 고딕"/>
                <a:ea typeface="맑은 고딕"/>
                <a:cs typeface="맑은 고딕"/>
              </a:rPr>
              <a:t>유온이 머물 값을 미리 계산한 것이다.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문장으로만 있는 조건의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문장으로만 있으면 사람이 그때그때 읽고 떠올려야 하므로 빠뜨리거나 다르게 읽기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check" descr="eye-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조건이 여러 절에 흩어져 있어 급할 때 하나를 놓친다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다르게 읽는다</a:t>
            </a:r>
          </a:p>
          <a:p>
            <a:pPr algn="l">
              <a:lnSpc>
                <a:spcPct val="110000"/>
              </a:lnSpc>
              <a:spcAft>
                <a:spcPts val="400"/>
              </a:spcAft>
            </a:pPr>
            <a:r>
              <a:rPr sz="1400" b="0">
                <a:solidFill>
                  <a:srgbClr val="1F2A3A"/>
                </a:solidFill>
                <a:latin typeface="맑은 고딕"/>
                <a:ea typeface="맑은 고딕"/>
                <a:cs typeface="맑은 고딕"/>
              </a:rPr>
              <a:t>「넘겼다면」이 24시간 정각을 포함하는지 사람마다 다르게 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어떤 조건을 확인했고 무엇에 걸렸는지가 기록되지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결정(Decision)과 입력 데이터(InputData)</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표가 답할 물음 하나인 결정과, 그 물음에 답하려고 보는 값의 항목인 입력 데이터를 정하는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결정표_2.svg" descr="illust_651803537259467776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0" name="TextBox 9"/>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1" name="TextBox 10"/>
          <p:cNvSpPr txBox="1"/>
          <p:nvPr/>
        </p:nvSpPr>
        <p:spPr>
          <a:xfrm>
            <a:off x="728376" y="1674906"/>
            <a:ext cx="218189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결정(Decision)</a:t>
            </a:r>
          </a:p>
          <a:p>
            <a:pPr algn="ctr">
              <a:lnSpc>
                <a:spcPct val="110000"/>
              </a:lnSpc>
              <a:spcAft>
                <a:spcPts val="100"/>
              </a:spcAft>
            </a:pPr>
            <a:r>
              <a:rPr sz="1300" b="0">
                <a:solidFill>
                  <a:srgbClr val="556175"/>
                </a:solidFill>
                <a:latin typeface="맑은 고딕"/>
                <a:ea typeface="맑은 고딕"/>
                <a:cs typeface="맑은 고딕"/>
              </a:rPr>
              <a:t>표 하나가 답하는</a:t>
            </a:r>
          </a:p>
          <a:p>
            <a:pPr algn="ctr">
              <a:lnSpc>
                <a:spcPct val="110000"/>
              </a:lnSpc>
              <a:spcAft>
                <a:spcPts val="100"/>
              </a:spcAft>
            </a:pPr>
            <a:r>
              <a:rPr sz="1300" b="0">
                <a:solidFill>
                  <a:srgbClr val="556175"/>
                </a:solidFill>
                <a:latin typeface="맑은 고딕"/>
                <a:ea typeface="맑은 고딕"/>
                <a:cs typeface="맑은 고딕"/>
              </a:rPr>
              <a:t>물음 하나</a:t>
            </a:r>
          </a:p>
        </p:txBody>
      </p:sp>
      <p:sp>
        <p:nvSpPr>
          <p:cNvPr id="12" name="TextBox 11"/>
          <p:cNvSpPr txBox="1"/>
          <p:nvPr/>
        </p:nvSpPr>
        <p:spPr>
          <a:xfrm>
            <a:off x="728376" y="2833131"/>
            <a:ext cx="2181899" cy="825246"/>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데이터(InputData)</a:t>
            </a:r>
          </a:p>
          <a:p>
            <a:pPr algn="ctr">
              <a:lnSpc>
                <a:spcPct val="110000"/>
              </a:lnSpc>
              <a:spcAft>
                <a:spcPts val="100"/>
              </a:spcAft>
            </a:pPr>
            <a:r>
              <a:rPr sz="1300" b="0">
                <a:solidFill>
                  <a:srgbClr val="556175"/>
                </a:solidFill>
                <a:latin typeface="맑은 고딕"/>
                <a:ea typeface="맑은 고딕"/>
                <a:cs typeface="맑은 고딕"/>
              </a:rPr>
              <a:t>판단에 쓰는 값의 항목</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규칙(Rule): 조건과 출력으로 이루어진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 하나가 규칙 한 행이 되고, 그 행은 입력 값을 견주는 조건과 맞을 때 내는 출력으로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결정표_4.svg" descr="illust_5856018425047106714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728376" y="3518611"/>
            <a:ext cx="218189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규칙(Rule)</a:t>
            </a:r>
          </a:p>
          <a:p>
            <a:pPr algn="ctr">
              <a:lnSpc>
                <a:spcPct val="110000"/>
              </a:lnSpc>
              <a:spcAft>
                <a:spcPts val="100"/>
              </a:spcAft>
            </a:pPr>
            <a:r>
              <a:rPr sz="1300" b="0">
                <a:solidFill>
                  <a:srgbClr val="556175"/>
                </a:solidFill>
                <a:latin typeface="맑은 고딕"/>
                <a:ea typeface="맑은 고딕"/>
                <a:cs typeface="맑은 고딕"/>
              </a:rPr>
              <a:t>표의 한 행</a:t>
            </a:r>
          </a:p>
          <a:p>
            <a:pPr algn="ctr">
              <a:lnSpc>
                <a:spcPct val="110000"/>
              </a:lnSpc>
              <a:spcAft>
                <a:spcPts val="100"/>
              </a:spcAft>
            </a:pPr>
            <a:r>
              <a:rPr sz="1300" b="0">
                <a:solidFill>
                  <a:srgbClr val="556175"/>
                </a:solidFill>
                <a:latin typeface="맑은 고딕"/>
                <a:ea typeface="맑은 고딕"/>
                <a:cs typeface="맑은 고딕"/>
              </a:rPr>
              <a:t>조건이 맞으면</a:t>
            </a:r>
          </a:p>
          <a:p>
            <a:pPr algn="ctr">
              <a:lnSpc>
                <a:spcPct val="110000"/>
              </a:lnSpc>
              <a:spcAft>
                <a:spcPts val="100"/>
              </a:spcAft>
            </a:pPr>
            <a:r>
              <a:rPr sz="1300" b="0">
                <a:solidFill>
                  <a:srgbClr val="556175"/>
                </a:solidFill>
                <a:latin typeface="맑은 고딕"/>
                <a:ea typeface="맑은 고딕"/>
                <a:cs typeface="맑은 고딕"/>
              </a:rPr>
              <a:t>출력을 낸다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결정표_6.svg" descr="illust_543117151919371719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조건의 세 부분: 입력, 연산자,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하나는 무엇을 보는가, 어떻게 견주는가, 무엇과 견주는가의 세 부분으로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clock" descr="clock_13294B_1.6.png"/>
          <p:cNvPicPr>
            <a:picLocks noChangeAspect="1"/>
          </p:cNvPicPr>
          <p:nvPr/>
        </p:nvPicPr>
        <p:blipFill>
          <a:blip r:embed="rId3"/>
          <a:stretch>
            <a:fillRect/>
          </a:stretch>
        </p:blipFill>
        <p:spPr>
          <a:xfrm>
            <a:off x="2088642" y="3330181"/>
            <a:ext cx="618134" cy="618134"/>
          </a:xfrm>
          <a:prstGeom prst="rect">
            <a:avLst/>
          </a:prstGeom>
        </p:spPr>
      </p:pic>
      <p:sp>
        <p:nvSpPr>
          <p:cNvPr id="10" name="TextBox 9"/>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무엇을 보는가</a:t>
            </a:r>
          </a:p>
          <a:p>
            <a:pPr algn="ctr">
              <a:lnSpc>
                <a:spcPct val="110000"/>
              </a:lnSpc>
              <a:spcAft>
                <a:spcPts val="400"/>
              </a:spcAft>
            </a:pPr>
            <a:r>
              <a:rPr sz="1300" b="0">
                <a:solidFill>
                  <a:srgbClr val="1F2A3A"/>
                </a:solidFill>
                <a:latin typeface="맑은 고딕"/>
                <a:ea typeface="맑은 고딕"/>
                <a:cs typeface="맑은 고딕"/>
              </a:rPr>
              <a:t>fan100_hours</a:t>
            </a:r>
          </a:p>
        </p:txBody>
      </p:sp>
      <p:sp>
        <p:nvSpPr>
          <p:cNvPr id="11" name="Chevron 10"/>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3" name="아이콘:math-greater" descr="math-greater_13294B_1.6.png"/>
          <p:cNvPicPr>
            <a:picLocks noChangeAspect="1"/>
          </p:cNvPicPr>
          <p:nvPr/>
        </p:nvPicPr>
        <p:blipFill>
          <a:blip r:embed="rId4"/>
          <a:stretch>
            <a:fillRect/>
          </a:stretch>
        </p:blipFill>
        <p:spPr>
          <a:xfrm>
            <a:off x="5786780" y="3330181"/>
            <a:ext cx="618134" cy="618134"/>
          </a:xfrm>
          <a:prstGeom prst="rect">
            <a:avLst/>
          </a:prstGeom>
        </p:spPr>
      </p:pic>
      <p:sp>
        <p:nvSpPr>
          <p:cNvPr id="14" name="TextBox 13"/>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연산자</a:t>
            </a:r>
          </a:p>
          <a:p>
            <a:pPr algn="ctr">
              <a:lnSpc>
                <a:spcPct val="110000"/>
              </a:lnSpc>
              <a:spcAft>
                <a:spcPts val="400"/>
              </a:spcAft>
            </a:pPr>
            <a:r>
              <a:rPr sz="1300" b="0">
                <a:solidFill>
                  <a:srgbClr val="1F2A3A"/>
                </a:solidFill>
                <a:latin typeface="맑은 고딕"/>
                <a:ea typeface="맑은 고딕"/>
                <a:cs typeface="맑은 고딕"/>
              </a:rPr>
              <a:t>어떻게 견주는가</a:t>
            </a:r>
          </a:p>
          <a:p>
            <a:pPr algn="ctr">
              <a:lnSpc>
                <a:spcPct val="110000"/>
              </a:lnSpc>
              <a:spcAft>
                <a:spcPts val="400"/>
              </a:spcAft>
            </a:pPr>
            <a:r>
              <a:rPr sz="1300" b="0">
                <a:solidFill>
                  <a:srgbClr val="1F2A3A"/>
                </a:solidFill>
                <a:latin typeface="맑은 고딕"/>
                <a:ea typeface="맑은 고딕"/>
                <a:cs typeface="맑은 고딕"/>
              </a:rPr>
              <a:t>&gt;</a:t>
            </a:r>
          </a:p>
        </p:txBody>
      </p:sp>
      <p:sp>
        <p:nvSpPr>
          <p:cNvPr id="15" name="Oval 14"/>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6" name="아이콘:number-1" descr="number-1_13294B_1.6.png"/>
          <p:cNvPicPr>
            <a:picLocks noChangeAspect="1"/>
          </p:cNvPicPr>
          <p:nvPr/>
        </p:nvPicPr>
        <p:blipFill>
          <a:blip r:embed="rId5"/>
          <a:stretch>
            <a:fillRect/>
          </a:stretch>
        </p:blipFill>
        <p:spPr>
          <a:xfrm>
            <a:off x="9484918" y="3330181"/>
            <a:ext cx="618134" cy="618134"/>
          </a:xfrm>
          <a:prstGeom prst="rect">
            <a:avLst/>
          </a:prstGeom>
        </p:spPr>
      </p:pic>
      <p:sp>
        <p:nvSpPr>
          <p:cNvPr id="17" name="TextBox 16"/>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기준값</a:t>
            </a:r>
          </a:p>
          <a:p>
            <a:pPr algn="ctr">
              <a:lnSpc>
                <a:spcPct val="110000"/>
              </a:lnSpc>
              <a:spcAft>
                <a:spcPts val="400"/>
              </a:spcAft>
            </a:pPr>
            <a:r>
              <a:rPr sz="1300" b="0">
                <a:solidFill>
                  <a:srgbClr val="1F2A3A"/>
                </a:solidFill>
                <a:latin typeface="맑은 고딕"/>
                <a:ea typeface="맑은 고딕"/>
                <a:cs typeface="맑은 고딕"/>
              </a:rPr>
              <a:t>무엇과 견주는가</a:t>
            </a:r>
          </a:p>
          <a:p>
            <a:pPr algn="ctr">
              <a:lnSpc>
                <a:spcPct val="110000"/>
              </a:lnSpc>
              <a:spcAft>
                <a:spcPts val="400"/>
              </a:spcAft>
            </a:pPr>
            <a:r>
              <a:rPr sz="1300" b="0">
                <a:solidFill>
                  <a:srgbClr val="1F2A3A"/>
                </a:solidFill>
                <a:latin typeface="맑은 고딕"/>
                <a:ea typeface="맑은 고딕"/>
                <a:cs typeface="맑은 고딕"/>
              </a:rPr>
              <a:t>24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임계값: 판정이 갈리는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임계값은 판정이 갈리는 기준값이며, 「이상」으로 적은 조건에서는 기준값 자신도 조건에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수직선_ge.svg" descr="illust_491837648391678789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forecast_ts1 &gt;= 55</a:t>
            </a:r>
          </a:p>
          <a:p>
            <a:pPr algn="ctr">
              <a:lnSpc>
                <a:spcPct val="110000"/>
              </a:lnSpc>
              <a:spcAft>
                <a:spcPts val="100"/>
              </a:spcAft>
            </a:pPr>
            <a:r>
              <a:rPr sz="1300" b="0">
                <a:solidFill>
                  <a:srgbClr val="556175"/>
                </a:solidFill>
                <a:latin typeface="맑은 고딕"/>
                <a:ea typeface="맑은 고딕"/>
                <a:cs typeface="맑은 고딕"/>
              </a:rPr>
              <a:t>조치 후 예측 유온이 55 ℃ 이상</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임계값(Threshold) 55</a:t>
            </a:r>
          </a:p>
          <a:p>
            <a:pPr algn="ctr">
              <a:lnSpc>
                <a:spcPct val="110000"/>
              </a:lnSpc>
              <a:spcAft>
                <a:spcPts val="100"/>
              </a:spcAft>
            </a:pPr>
            <a:r>
              <a:rPr sz="1300" b="0">
                <a:solidFill>
                  <a:srgbClr val="556175"/>
                </a:solidFill>
                <a:latin typeface="맑은 고딕"/>
                <a:ea typeface="맑은 고딕"/>
                <a:cs typeface="맑은 고딕"/>
              </a:rPr>
              <a:t>이 값에서 판정이 갈린다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맞는다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a:p>
            <a:pPr algn="l">
              <a:lnSpc>
                <a:spcPct val="110000"/>
              </a:lnSpc>
            </a:pPr>
            <a:r>
              <a:rPr sz="1400" b="0">
                <a:solidFill>
                  <a:srgbClr val="1F2A3A"/>
                </a:solidFill>
                <a:latin typeface="맑은 고딕"/>
                <a:ea typeface="맑은 고딕"/>
                <a:cs typeface="맑은 고딕"/>
              </a:rPr>
              <a:t>셋 모두 팬 속도나 펌프 부하를 원격으로 바꾸는 설비 제어이다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사건</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여러 행이 함께 맞는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입력에 여러 행이 함께 맞으면 맞은 행의 출력이 모두 그 조치에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히트_base.svg" descr="illust_780276746554332439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041411" y="4275002"/>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두 행이 함께 맞았다</a:t>
            </a:r>
          </a:p>
          <a:p>
            <a:pPr algn="ctr">
              <a:lnSpc>
                <a:spcPct val="110000"/>
              </a:lnSpc>
              <a:spcAft>
                <a:spcPts val="100"/>
              </a:spcAft>
            </a:pPr>
            <a:r>
              <a:rPr sz="1100" b="0">
                <a:solidFill>
                  <a:srgbClr val="556175"/>
                </a:solidFill>
                <a:latin typeface="맑은 고딕"/>
                <a:ea typeface="맑은 고딕"/>
                <a:cs typeface="맑은 고딕"/>
              </a:rPr>
              <a:t>감점과 경고가 함께 붙는다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결정표가 가리는 것과 SOP가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후보에 남을 조치를 가릴 뿐이고, 남은 조치의 수행 단계와 승인 역할과 완료 확인 기준은 </a:t>
            </a:r>
            <a:r>
              <a:rPr sz="1600" b="1">
                <a:solidFill>
                  <a:srgbClr val="1A6FC4"/>
                </a:solidFill>
                <a:latin typeface="맑은 고딕"/>
                <a:ea typeface="맑은 고딕"/>
                <a:cs typeface="맑은 고딕"/>
              </a:rPr>
              <a:t>SOP</a:t>
            </a:r>
            <a:r>
              <a:rPr sz="1600" b="0">
                <a:solidFill>
                  <a:srgbClr val="556175"/>
                </a:solidFill>
                <a:latin typeface="맑은 고딕"/>
                <a:ea typeface="맑은 고딕"/>
                <a:cs typeface="맑은 고딕"/>
              </a:rPr>
              <a:t>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289429"/>
            <a:ext cx="2485567" cy="34038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472309"/>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1579283" y="2625928"/>
            <a:ext cx="424281" cy="424281"/>
          </a:xfrm>
          <a:prstGeom prst="rect">
            <a:avLst/>
          </a:prstGeom>
        </p:spPr>
      </p:pic>
      <p:sp>
        <p:nvSpPr>
          <p:cNvPr id="9" name="TextBox 8"/>
          <p:cNvSpPr txBox="1"/>
          <p:nvPr/>
        </p:nvSpPr>
        <p:spPr>
          <a:xfrm>
            <a:off x="621792"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후보 넷</a:t>
            </a:r>
          </a:p>
          <a:p>
            <a:pPr algn="ctr">
              <a:lnSpc>
                <a:spcPct val="110000"/>
              </a:lnSpc>
              <a:spcAft>
                <a:spcPts val="400"/>
              </a:spcAft>
            </a:pPr>
            <a:r>
              <a:rPr sz="1350" b="0">
                <a:solidFill>
                  <a:srgbClr val="1F2A3A"/>
                </a:solidFill>
                <a:latin typeface="맑은 고딕"/>
                <a:ea typeface="맑은 고딕"/>
                <a:cs typeface="맑은 고딕"/>
              </a:rPr>
              <a:t>쿨러 냉각 성능 상실에</a:t>
            </a:r>
          </a:p>
          <a:p>
            <a:pPr algn="ctr">
              <a:lnSpc>
                <a:spcPct val="110000"/>
              </a:lnSpc>
              <a:spcAft>
                <a:spcPts val="400"/>
              </a:spcAft>
            </a:pPr>
            <a:r>
              <a:rPr sz="1350" b="0">
                <a:solidFill>
                  <a:srgbClr val="1F2A3A"/>
                </a:solidFill>
                <a:latin typeface="맑은 고딕"/>
                <a:ea typeface="맑은 고딕"/>
                <a:cs typeface="맑은 고딕"/>
              </a:rPr>
              <a:t>매뉴얼이 정해 둔</a:t>
            </a:r>
          </a:p>
          <a:p>
            <a:pPr algn="ctr">
              <a:lnSpc>
                <a:spcPct val="110000"/>
              </a:lnSpc>
              <a:spcAft>
                <a:spcPts val="400"/>
              </a:spcAft>
            </a:pPr>
            <a:r>
              <a:rPr sz="1350" b="0">
                <a:solidFill>
                  <a:srgbClr val="1F2A3A"/>
                </a:solidFill>
                <a:latin typeface="맑은 고딕"/>
                <a:ea typeface="맑은 고딕"/>
                <a:cs typeface="맑은 고딕"/>
              </a:rPr>
              <a:t>네 가지 조치</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289429"/>
            <a:ext cx="2485567" cy="34038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472309"/>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2625928"/>
            <a:ext cx="424281" cy="424281"/>
          </a:xfrm>
          <a:prstGeom prst="rect">
            <a:avLst/>
          </a:prstGeom>
        </p:spPr>
      </p:pic>
      <p:sp>
        <p:nvSpPr>
          <p:cNvPr id="14" name="TextBox 13"/>
          <p:cNvSpPr txBox="1"/>
          <p:nvPr/>
        </p:nvSpPr>
        <p:spPr>
          <a:xfrm>
            <a:off x="3491407"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결정표의 판정</a:t>
            </a:r>
          </a:p>
          <a:p>
            <a:pPr algn="ctr">
              <a:lnSpc>
                <a:spcPct val="110000"/>
              </a:lnSpc>
              <a:spcAft>
                <a:spcPts val="400"/>
              </a:spcAft>
            </a:pPr>
            <a:r>
              <a:rPr sz="1350" b="0">
                <a:solidFill>
                  <a:srgbClr val="1F2A3A"/>
                </a:solidFill>
                <a:latin typeface="맑은 고딕"/>
                <a:ea typeface="맑은 고딕"/>
                <a:cs typeface="맑은 고딕"/>
              </a:rPr>
              <a:t>plc_mode != REMOTE_AUTO</a:t>
            </a:r>
          </a:p>
          <a:p>
            <a:pPr algn="ctr">
              <a:lnSpc>
                <a:spcPct val="110000"/>
              </a:lnSpc>
              <a:spcAft>
                <a:spcPts val="400"/>
              </a:spcAft>
            </a:pPr>
            <a:r>
              <a:rPr sz="1350" b="0">
                <a:solidFill>
                  <a:srgbClr val="1F2A3A"/>
                </a:solidFill>
                <a:latin typeface="맑은 고딕"/>
                <a:ea typeface="맑은 고딕"/>
                <a:cs typeface="맑은 고딕"/>
              </a:rPr>
              <a:t>→ 제외</a:t>
            </a:r>
          </a:p>
          <a:p>
            <a:pPr algn="ctr">
              <a:lnSpc>
                <a:spcPct val="110000"/>
              </a:lnSpc>
              <a:spcAft>
                <a:spcPts val="400"/>
              </a:spcAft>
            </a:pPr>
            <a:r>
              <a:rPr sz="1350" b="0">
                <a:solidFill>
                  <a:srgbClr val="1F2A3A"/>
                </a:solidFill>
                <a:latin typeface="맑은 고딕"/>
                <a:ea typeface="맑은 고딕"/>
                <a:cs typeface="맑은 고딕"/>
              </a:rPr>
              <a:t>fan100_hours &gt; 24</a:t>
            </a:r>
          </a:p>
          <a:p>
            <a:pPr algn="ctr">
              <a:lnSpc>
                <a:spcPct val="110000"/>
              </a:lnSpc>
              <a:spcAft>
                <a:spcPts val="400"/>
              </a:spcAft>
            </a:pPr>
            <a:r>
              <a:rPr sz="1350" b="0">
                <a:solidFill>
                  <a:srgbClr val="1F2A3A"/>
                </a:solidFill>
                <a:latin typeface="맑은 고딕"/>
                <a:ea typeface="맑은 고딕"/>
                <a:cs typeface="맑은 고딕"/>
              </a:rPr>
              <a:t>→ 감점</a:t>
            </a:r>
          </a:p>
          <a:p>
            <a:pPr algn="ctr">
              <a:lnSpc>
                <a:spcPct val="110000"/>
              </a:lnSpc>
              <a:spcAft>
                <a:spcPts val="400"/>
              </a:spcAft>
            </a:pPr>
            <a:r>
              <a:rPr sz="1350" b="0">
                <a:solidFill>
                  <a:srgbClr val="1F2A3A"/>
                </a:solidFill>
                <a:latin typeface="맑은 고딕"/>
                <a:ea typeface="맑은 고딕"/>
                <a:cs typeface="맑은 고딕"/>
              </a:rPr>
              <a:t>forecast_ts1 &gt;= 55</a:t>
            </a:r>
          </a:p>
          <a:p>
            <a:pPr algn="ctr">
              <a:lnSpc>
                <a:spcPct val="110000"/>
              </a:lnSpc>
              <a:spcAft>
                <a:spcPts val="400"/>
              </a:spcAft>
            </a:pPr>
            <a:r>
              <a:rPr sz="1350" b="0">
                <a:solidFill>
                  <a:srgbClr val="1F2A3A"/>
                </a:solidFill>
                <a:latin typeface="맑은 고딕"/>
                <a:ea typeface="맑은 고딕"/>
                <a:cs typeface="맑은 고딕"/>
              </a:rPr>
              <a:t>→ 경고</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289429"/>
            <a:ext cx="2485567" cy="34038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472309"/>
            <a:ext cx="731520" cy="731520"/>
          </a:xfrm>
          <a:prstGeom prst="ellipse">
            <a:avLst/>
          </a:prstGeom>
          <a:solidFill>
            <a:srgbClr val="FFFFFF"/>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625928"/>
            <a:ext cx="424281" cy="424281"/>
          </a:xfrm>
          <a:prstGeom prst="rect">
            <a:avLst/>
          </a:prstGeom>
        </p:spPr>
      </p:pic>
      <p:sp>
        <p:nvSpPr>
          <p:cNvPr id="19" name="TextBox 18"/>
          <p:cNvSpPr txBox="1"/>
          <p:nvPr/>
        </p:nvSpPr>
        <p:spPr>
          <a:xfrm>
            <a:off x="6361023"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남은 후보</a:t>
            </a:r>
          </a:p>
          <a:p>
            <a:pPr algn="ctr">
              <a:lnSpc>
                <a:spcPct val="110000"/>
              </a:lnSpc>
              <a:spcAft>
                <a:spcPts val="400"/>
              </a:spcAft>
            </a:pPr>
            <a:r>
              <a:rPr sz="1350" b="0">
                <a:solidFill>
                  <a:srgbClr val="1F2A3A"/>
                </a:solidFill>
                <a:latin typeface="맑은 고딕"/>
                <a:ea typeface="맑은 고딕"/>
                <a:cs typeface="맑은 고딕"/>
              </a:rPr>
              <a:t>예: SOP-COOL-11</a:t>
            </a:r>
          </a:p>
          <a:p>
            <a:pPr algn="ctr">
              <a:lnSpc>
                <a:spcPct val="110000"/>
              </a:lnSpc>
              <a:spcAft>
                <a:spcPts val="400"/>
              </a:spcAft>
            </a:pPr>
            <a:r>
              <a:rPr sz="1350" b="0">
                <a:solidFill>
                  <a:srgbClr val="1F2A3A"/>
                </a:solidFill>
                <a:latin typeface="맑은 고딕"/>
                <a:ea typeface="맑은 고딕"/>
                <a:cs typeface="맑은 고딕"/>
              </a:rPr>
              <a:t>팬 최대 운전</a:t>
            </a:r>
          </a:p>
          <a:p>
            <a:pPr algn="ctr">
              <a:lnSpc>
                <a:spcPct val="110000"/>
              </a:lnSpc>
              <a:spcAft>
                <a:spcPts val="400"/>
              </a:spcAft>
            </a:pPr>
            <a:r>
              <a:rPr sz="1350" b="0">
                <a:solidFill>
                  <a:srgbClr val="1F2A3A"/>
                </a:solidFill>
                <a:latin typeface="맑은 고딕"/>
                <a:ea typeface="맑은 고딕"/>
                <a:cs typeface="맑은 고딕"/>
              </a:rPr>
              <a:t>운전 모드가</a:t>
            </a:r>
          </a:p>
          <a:p>
            <a:pPr algn="ctr">
              <a:lnSpc>
                <a:spcPct val="110000"/>
              </a:lnSpc>
              <a:spcAft>
                <a:spcPts val="400"/>
              </a:spcAft>
            </a:pPr>
            <a:r>
              <a:rPr sz="1350" b="0">
                <a:solidFill>
                  <a:srgbClr val="1F2A3A"/>
                </a:solidFill>
                <a:latin typeface="맑은 고딕"/>
                <a:ea typeface="맑은 고딕"/>
                <a:cs typeface="맑은 고딕"/>
              </a:rPr>
              <a:t>REMOTE_AUTO이면</a:t>
            </a:r>
          </a:p>
          <a:p>
            <a:pPr algn="ctr">
              <a:lnSpc>
                <a:spcPct val="110000"/>
              </a:lnSpc>
              <a:spcAft>
                <a:spcPts val="400"/>
              </a:spcAft>
            </a:pPr>
            <a:r>
              <a:rPr sz="1350" b="0">
                <a:solidFill>
                  <a:srgbClr val="1F2A3A"/>
                </a:solidFill>
                <a:latin typeface="맑은 고딕"/>
                <a:ea typeface="맑은 고딕"/>
                <a:cs typeface="맑은 고딕"/>
              </a:rPr>
              <a:t>후보에 남는다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289429"/>
            <a:ext cx="2485567" cy="34038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472309"/>
            <a:ext cx="731520" cy="731520"/>
          </a:xfrm>
          <a:prstGeom prst="ellipse">
            <a:avLst/>
          </a:prstGeom>
          <a:solidFill>
            <a:srgbClr val="FFFFFF"/>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625928"/>
            <a:ext cx="424281" cy="424281"/>
          </a:xfrm>
          <a:prstGeom prst="rect">
            <a:avLst/>
          </a:prstGeom>
        </p:spPr>
      </p:pic>
      <p:sp>
        <p:nvSpPr>
          <p:cNvPr id="24" name="TextBox 23"/>
          <p:cNvSpPr txBox="1"/>
          <p:nvPr/>
        </p:nvSpPr>
        <p:spPr>
          <a:xfrm>
            <a:off x="9230639"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SOP의 수행</a:t>
            </a:r>
          </a:p>
          <a:p>
            <a:pPr algn="ctr">
              <a:lnSpc>
                <a:spcPct val="110000"/>
              </a:lnSpc>
              <a:spcAft>
                <a:spcPts val="400"/>
              </a:spcAft>
            </a:pPr>
            <a:r>
              <a:rPr sz="1350" b="0">
                <a:solidFill>
                  <a:srgbClr val="1F2A3A"/>
                </a:solidFill>
                <a:latin typeface="맑은 고딕"/>
                <a:ea typeface="맑은 고딕"/>
                <a:cs typeface="맑은 고딕"/>
              </a:rPr>
              <a:t>단계: 확인, 수행, 판정</a:t>
            </a:r>
          </a:p>
          <a:p>
            <a:pPr algn="ctr">
              <a:lnSpc>
                <a:spcPct val="110000"/>
              </a:lnSpc>
              <a:spcAft>
                <a:spcPts val="400"/>
              </a:spcAft>
            </a:pPr>
            <a:r>
              <a:rPr sz="1350" b="0">
                <a:solidFill>
                  <a:srgbClr val="1F2A3A"/>
                </a:solidFill>
                <a:latin typeface="맑은 고딕"/>
                <a:ea typeface="맑은 고딕"/>
                <a:cs typeface="맑은 고딕"/>
              </a:rPr>
              <a:t>제한: 100 % 연속 운전은</a:t>
            </a:r>
          </a:p>
          <a:p>
            <a:pPr algn="ctr">
              <a:lnSpc>
                <a:spcPct val="110000"/>
              </a:lnSpc>
              <a:spcAft>
                <a:spcPts val="400"/>
              </a:spcAft>
            </a:pPr>
            <a:r>
              <a:rPr sz="1350" b="0">
                <a:solidFill>
                  <a:srgbClr val="1F2A3A"/>
                </a:solidFill>
                <a:latin typeface="맑은 고딕"/>
                <a:ea typeface="맑은 고딕"/>
                <a:cs typeface="맑은 고딕"/>
              </a:rPr>
              <a:t>24시간 이내</a:t>
            </a:r>
          </a:p>
          <a:p>
            <a:pPr algn="ctr">
              <a:lnSpc>
                <a:spcPct val="110000"/>
              </a:lnSpc>
              <a:spcAft>
                <a:spcPts val="400"/>
              </a:spcAft>
            </a:pPr>
            <a:r>
              <a:rPr sz="1350" b="0">
                <a:solidFill>
                  <a:srgbClr val="1F2A3A"/>
                </a:solidFill>
                <a:latin typeface="맑은 고딕"/>
                <a:ea typeface="맑은 고딕"/>
                <a:cs typeface="맑은 고딕"/>
              </a:rPr>
              <a:t>승인: 운전원</a:t>
            </a:r>
          </a:p>
          <a:p>
            <a:pPr algn="ctr">
              <a:lnSpc>
                <a:spcPct val="110000"/>
              </a:lnSpc>
              <a:spcAft>
                <a:spcPts val="400"/>
              </a:spcAft>
            </a:pPr>
            <a:r>
              <a:rPr sz="1350" b="0">
                <a:solidFill>
                  <a:srgbClr val="1F2A3A"/>
                </a:solidFill>
                <a:latin typeface="맑은 고딕"/>
                <a:ea typeface="맑은 고딕"/>
                <a:cs typeface="맑은 고딕"/>
              </a:rPr>
              <a:t>완료: 15분 동안</a:t>
            </a:r>
          </a:p>
          <a:p>
            <a:pPr algn="ctr">
              <a:lnSpc>
                <a:spcPct val="110000"/>
              </a:lnSpc>
              <a:spcAft>
                <a:spcPts val="400"/>
              </a:spcAft>
            </a:pPr>
            <a:r>
              <a:rPr sz="1350" b="0">
                <a:solidFill>
                  <a:srgbClr val="1F2A3A"/>
                </a:solidFill>
                <a:latin typeface="맑은 고딕"/>
                <a:ea typeface="맑은 고딕"/>
                <a:cs typeface="맑은 고딕"/>
              </a:rPr>
              <a:t>TS1이 55 ℃ 미만</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작업 기준으로 조치 허용 · 제외 조건표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작업 기준의 온도 · 압력 · 설비 상태 조건을 결정표의 행으로 옮긴다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기준의 조건은 조치의 허용과 제외를 가르는 결정표의 행이 되고, 겹친 행에는 제외 사유가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찾기</a:t>
            </a:r>
          </a:p>
          <a:p>
            <a:pPr algn="ctr">
              <a:lnSpc>
                <a:spcPct val="110000"/>
              </a:lnSpc>
              <a:spcAft>
                <a:spcPts val="400"/>
              </a:spcAft>
            </a:pPr>
            <a:r>
              <a:rPr sz="1350" b="0">
                <a:solidFill>
                  <a:srgbClr val="1F2A3A"/>
                </a:solidFill>
                <a:latin typeface="맑은 고딕"/>
                <a:ea typeface="맑은 고딕"/>
                <a:cs typeface="맑은 고딕"/>
              </a:rPr>
              <a:t>제공된 작업 기준에서</a:t>
            </a:r>
          </a:p>
          <a:p>
            <a:pPr algn="ctr">
              <a:lnSpc>
                <a:spcPct val="110000"/>
              </a:lnSpc>
              <a:spcAft>
                <a:spcPts val="400"/>
              </a:spcAft>
            </a:pPr>
            <a:r>
              <a:rPr sz="1350" b="0">
                <a:solidFill>
                  <a:srgbClr val="1F2A3A"/>
                </a:solidFill>
                <a:latin typeface="맑은 고딕"/>
                <a:ea typeface="맑은 고딕"/>
                <a:cs typeface="맑은 고딕"/>
              </a:rPr>
              <a:t>온도, 압력, 설비 상태의</a:t>
            </a:r>
          </a:p>
          <a:p>
            <a:pPr algn="ctr">
              <a:lnSpc>
                <a:spcPct val="110000"/>
              </a:lnSpc>
              <a:spcAft>
                <a:spcPts val="400"/>
              </a:spcAft>
            </a:pPr>
            <a:r>
              <a:rPr sz="1350" b="0">
                <a:solidFill>
                  <a:srgbClr val="1F2A3A"/>
                </a:solidFill>
                <a:latin typeface="맑은 고딕"/>
                <a:ea typeface="맑은 고딕"/>
                <a:cs typeface="맑은 고딕"/>
              </a:rPr>
              <a:t>허용 기준과</a:t>
            </a:r>
          </a:p>
          <a:p>
            <a:pPr algn="ctr">
              <a:lnSpc>
                <a:spcPct val="110000"/>
              </a:lnSpc>
              <a:spcAft>
                <a:spcPts val="400"/>
              </a:spcAft>
            </a:pPr>
            <a:r>
              <a:rPr sz="1350" b="0">
                <a:solidFill>
                  <a:srgbClr val="1F2A3A"/>
                </a:solidFill>
                <a:latin typeface="맑은 고딕"/>
                <a:ea typeface="맑은 고딕"/>
                <a:cs typeface="맑은 고딕"/>
              </a:rPr>
              <a:t>금지 기준을 찾는다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auge" descr="gaug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 정하기</a:t>
            </a:r>
          </a:p>
          <a:p>
            <a:pPr algn="ctr">
              <a:lnSpc>
                <a:spcPct val="110000"/>
              </a:lnSpc>
              <a:spcAft>
                <a:spcPts val="400"/>
              </a:spcAft>
            </a:pPr>
            <a:r>
              <a:rPr sz="1350" b="0">
                <a:solidFill>
                  <a:srgbClr val="1F2A3A"/>
                </a:solidFill>
                <a:latin typeface="맑은 고딕"/>
                <a:ea typeface="맑은 고딕"/>
                <a:cs typeface="맑은 고딕"/>
              </a:rPr>
              <a:t>조건마다</a:t>
            </a:r>
          </a:p>
          <a:p>
            <a:pPr algn="ctr">
              <a:lnSpc>
                <a:spcPct val="110000"/>
              </a:lnSpc>
              <a:spcAft>
                <a:spcPts val="400"/>
              </a:spcAft>
            </a:pPr>
            <a:r>
              <a:rPr sz="1350" b="0">
                <a:solidFill>
                  <a:srgbClr val="1F2A3A"/>
                </a:solidFill>
                <a:latin typeface="맑은 고딕"/>
                <a:ea typeface="맑은 고딕"/>
                <a:cs typeface="맑은 고딕"/>
              </a:rPr>
              <a:t>무엇을 보는지를</a:t>
            </a:r>
          </a:p>
          <a:p>
            <a:pPr algn="ctr">
              <a:lnSpc>
                <a:spcPct val="110000"/>
              </a:lnSpc>
              <a:spcAft>
                <a:spcPts val="400"/>
              </a:spcAft>
            </a:pPr>
            <a:r>
              <a:rPr sz="1350" b="0">
                <a:solidFill>
                  <a:srgbClr val="1F2A3A"/>
                </a:solidFill>
                <a:latin typeface="맑은 고딕"/>
                <a:ea typeface="맑은 고딕"/>
                <a:cs typeface="맑은 고딕"/>
              </a:rPr>
              <a:t>입력으로 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table" descr="tabl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행으로 옮기기</a:t>
            </a:r>
          </a:p>
          <a:p>
            <a:pPr algn="ctr">
              <a:lnSpc>
                <a:spcPct val="110000"/>
              </a:lnSpc>
              <a:spcAft>
                <a:spcPts val="400"/>
              </a:spcAft>
            </a:pPr>
            <a:r>
              <a:rPr sz="1350" b="0">
                <a:solidFill>
                  <a:srgbClr val="1F2A3A"/>
                </a:solidFill>
                <a:latin typeface="맑은 고딕"/>
                <a:ea typeface="맑은 고딕"/>
                <a:cs typeface="맑은 고딕"/>
              </a:rPr>
              <a:t>입력, 연산자, 기준값의</a:t>
            </a:r>
          </a:p>
          <a:p>
            <a:pPr algn="ctr">
              <a:lnSpc>
                <a:spcPct val="110000"/>
              </a:lnSpc>
              <a:spcAft>
                <a:spcPts val="400"/>
              </a:spcAft>
            </a:pPr>
            <a:r>
              <a:rPr sz="1350" b="0">
                <a:solidFill>
                  <a:srgbClr val="1F2A3A"/>
                </a:solidFill>
                <a:latin typeface="맑은 고딕"/>
                <a:ea typeface="맑은 고딕"/>
                <a:cs typeface="맑은 고딕"/>
              </a:rPr>
              <a:t>조건에 출력을 붙인다</a:t>
            </a:r>
          </a:p>
          <a:p>
            <a:pPr algn="ctr">
              <a:lnSpc>
                <a:spcPct val="110000"/>
              </a:lnSpc>
              <a:spcAft>
                <a:spcPts val="400"/>
              </a:spcAft>
            </a:pPr>
            <a:r>
              <a:rPr sz="1350" b="0">
                <a:solidFill>
                  <a:srgbClr val="1F2A3A"/>
                </a:solidFill>
                <a:latin typeface="맑은 고딕"/>
                <a:ea typeface="맑은 고딕"/>
                <a:cs typeface="맑은 고딕"/>
              </a:rPr>
              <a:t>허용: 후보에 남는다</a:t>
            </a:r>
          </a:p>
          <a:p>
            <a:pPr algn="ctr">
              <a:lnSpc>
                <a:spcPct val="110000"/>
              </a:lnSpc>
              <a:spcAft>
                <a:spcPts val="400"/>
              </a:spcAft>
            </a:pPr>
            <a:r>
              <a:rPr sz="1350" b="0">
                <a:solidFill>
                  <a:srgbClr val="1F2A3A"/>
                </a:solidFill>
                <a:latin typeface="맑은 고딕"/>
                <a:ea typeface="맑은 고딕"/>
                <a:cs typeface="맑은 고딕"/>
              </a:rPr>
              <a:t>제외: 후보에서 뺀다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겹침 기록</a:t>
            </a:r>
          </a:p>
          <a:p>
            <a:pPr algn="ctr">
              <a:lnSpc>
                <a:spcPct val="110000"/>
              </a:lnSpc>
              <a:spcAft>
                <a:spcPts val="400"/>
              </a:spcAft>
            </a:pPr>
            <a:r>
              <a:rPr sz="1350" b="0">
                <a:solidFill>
                  <a:srgbClr val="1F2A3A"/>
                </a:solidFill>
                <a:latin typeface="맑은 고딕"/>
                <a:ea typeface="맑은 고딕"/>
                <a:cs typeface="맑은 고딕"/>
              </a:rPr>
              <a:t>임계값 조건과 금지 조건의</a:t>
            </a:r>
          </a:p>
          <a:p>
            <a:pPr algn="ctr">
              <a:lnSpc>
                <a:spcPct val="110000"/>
              </a:lnSpc>
              <a:spcAft>
                <a:spcPts val="400"/>
              </a:spcAft>
            </a:pPr>
            <a:r>
              <a:rPr sz="1350" b="0">
                <a:solidFill>
                  <a:srgbClr val="1F2A3A"/>
                </a:solidFill>
                <a:latin typeface="맑은 고딕"/>
                <a:ea typeface="맑은 고딕"/>
                <a:cs typeface="맑은 고딕"/>
              </a:rPr>
              <a:t>행이 함께 맞으면</a:t>
            </a:r>
          </a:p>
          <a:p>
            <a:pPr algn="ctr">
              <a:lnSpc>
                <a:spcPct val="110000"/>
              </a:lnSpc>
              <a:spcAft>
                <a:spcPts val="400"/>
              </a:spcAft>
            </a:pPr>
            <a:r>
              <a:rPr sz="1350" b="0">
                <a:solidFill>
                  <a:srgbClr val="1F2A3A"/>
                </a:solidFill>
                <a:latin typeface="맑은 고딕"/>
                <a:ea typeface="맑은 고딕"/>
                <a:cs typeface="맑은 고딕"/>
              </a:rPr>
              <a:t>제외로 두고 맞은 조건을</a:t>
            </a:r>
          </a:p>
          <a:p>
            <a:pPr algn="ctr">
              <a:lnSpc>
                <a:spcPct val="110000"/>
              </a:lnSpc>
              <a:spcAft>
                <a:spcPts val="400"/>
              </a:spcAft>
            </a:pPr>
            <a:r>
              <a:rPr sz="1350" b="0">
                <a:solidFill>
                  <a:srgbClr val="1F2A3A"/>
                </a:solidFill>
                <a:latin typeface="맑은 고딕"/>
                <a:ea typeface="맑은 고딕"/>
                <a:cs typeface="맑은 고딕"/>
              </a:rPr>
              <a:t>제외 사유로 적는다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다섯과 그래프 DB를 쓰는 말 하나, 조치 기준을 적는 말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한 대상에 이어질 수 있는 상대의 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SOP</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작업의 순서와 기준을 문서로 정해 둔 절차</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Standard Operating Procedure</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DMN</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업무의 의사결정을 정의하는 표기 표준</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Decision Model and Notation</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임계값</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판정이 갈리는 기준값</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Threshold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관계의 방향, 운전 상태에 따른 조치의 가능 여부를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