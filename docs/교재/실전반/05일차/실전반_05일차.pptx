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에이전트가 일하는 방식과 에이전트에 붙이는 스킬과 도구 연결을 다루었습니다. 오늘은 그 에이전트를 믿고 쓰기 위한 것, 곧 사람이 결정하는 자리와 요구사항을 적는 명세와 행동을 확인하는 시나리오를 다루고 전체 과정을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에이전트가 추천안을 내기까지의 94초를 보았습니다. 오늘은 그 뒤의 13초에서 시작합니다. 추천안이 올라온 뒤 13초가 지난 11시 14분 56초에 운전원이 승인했습니다. 승인했기 때문에 1초 뒤에 팬 속도 명령이 만들어졌고, 거절했다면 아래 갈래처럼 명령 없이 닫혔을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그 13초에 사람이 있어야 하는지를 봅니다. 왼쪽의 조회와 계산은 틀려도 다시 하면 되고 설비는 그대로입니다. 오른쪽의 설비 명령과 작업지시는 실행하는 순간 현장이 달라지고, 그 결과를 책임질 사람이 있어야 합니다. 첫날 HITL이라는 이름으로 소개한 구조가 이 경계를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자리는 승인 하나만이 아닙니다. 위의 띠는 처리의 구간이고, 아래의 세 장면은 사람이 개입하는 자리입니다. 왼쪽 둘은 에이전트가 일하는 동안에 생깁니다. 에이전트가 필요한 정보가 없어 묻는 경우와, 한도를 넘겨 멈춘 작업을 사람이 닫는 경우입니다.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결정이 무엇을 남기는지를 견줍니다. 처리 건은 경보 하나가 열어 끝날 때까지 이어지는 업무 한 건을 가리킵니다. 쿨러 사건에서는 운전원이 승인했고, 그 순간 시스템이 유온과 운전 모드를 다시 확인한 다음 팬 속도 명령을 만들었습니다. 거절은 사유를 적어야 받아들여지며, 설비 명령도 업무 처리도 만들어지지 않습니다. 결과 보고에는 누가 왜 거절했는지와 명령을 내지 않았다는 사실이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승인합니다. 역할에는 등급이 있고, 승인하려는 사람이 그 역할의 구성원인지와 등급이 충분한지를 시스템이 검사합니다. 조건에 맞지 않는 승인은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결정에는 책임이 따르므로 누가 결정했는지가 남아야 합니다. 승인하는 순간 시스템이 승인한 사람과 역할, 고른 안의 사본, 시각을 적습니다. 이 항목들은 승인을 받은 시스템만 채울 수 있어서, 에이전트가 자기 결과에 승인한 사람을 적어 내더라도 쓰이지 않습니다. 넷째 줄처럼 승인하는 순간의 유온과 운전 모드도 다시 읽어 함께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승인도 거절도 하지 않는 경우가 있습니다. 승인 요청이 올라온 뒤 10분 동안 응답이 없으면 승인 지연 알림이 나갑니다. 알림의 문구는 「승인 대기 중, 승인하거나 거절할 때까지 기다립니다」입니다. 알림이 나가도 승인 작업은 닫히지 않으며, 시스템이 대신 승인하거나 거절하지도 않습니다. 담당자가 뒤늦게 승인하면 정상으로 처리됩니다.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「조회할 대상 설비를 선택해 주세요」라고 묻고 멈췄습니다. 담당자가 HYD-02라고 답하자 에이전트는 처음부터 다시 시작하지 않고 하던 실행을 이어, 업무 DB를 조회해 HYD-02의 결과를 냈습니다. 질문에는 선택지를 붙일 수 있고, 한 질문에 답은 한 번만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질문에는 쓰임의 한계가 있습니다. 왼쪽처럼 요청에서 빠졌고 도구로도 확인할 수 없는 업무 정보는 묻습니다. 오른쪽처럼 도구로 읽을 수 있는 값은 묻지 않고 조회해야 하며, 허용되지 않은 일을 하게 해 달라고 물어서도 안 됩니다. 담당자가 답에 진행하라고 적더라도 그것은 근거가 확인되었다는 뜻도, 조치를 승인했다는 뜻도 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대기를 모아, 현장에서 보류라고 부르는 상황을 나누어 봅니다. 첫째는 담당자가 아직 결정하지 않은 경우이고, 승인 작업이 기다리고 있을 뿐입니다. 둘째는 지난 시간에 본 에이전트의 보류로, 근거가 모자라 에이전트가 결과를 내지 않은 경우입니다. 이때 담당자는 값을 다시 읽어 평가하도록 재평가를 요청하거나 작업을 닫습니다. 셋째는 방금 본 에이전트의 질문이며 담당자가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지점은 멈춘 작업을 닫는 일입니다. 에이전트의 실행에는 한도가 있어서, 실행 시간 1,800초(30분)나 재시도 두 번을 넘긴 작업은 결과 없이 멈춘 채로 남습니다. 그대로 두면 처리 건이 끝나지 않으므로 담당자가 기록을 읽고 사유를 적어 닫습니다. 이렇게 끝난 처리 건은 조치가 완료되어 끝난 처리 건과 구분되도록 사람이 닫았다는 표시가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 Guardrail은 에이전트의 출력이 규칙을 지켰는지를 시스템이 검사하는 장치입니다. 추천안에 대해서는 후보마다 그것을 고른 규칙이 인용되어 있는지,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관문이 하는 일을 구분합니다. 가드레일을 통과한 추천안은 승인을 기다리는 상태가 될 뿐, 승인된 것이 아닙니다. 가드레일은 형식과 규칙을 지켰는지를 보고, 지금 이 조치를 해도 되는지는 보지 않습니다. 왼쪽 아래에 적은 AI의 검토, 곧 에이전트가 자기 결과를 다시 살피는 일이나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모았습니다. 추천안은 가드레일을 지나 승인 역할의 담당자에게 올라가고, 승인과 거절은 누가 무엇을 결정했는지와 함께 기록됩니다. 에이전트가 정보가 모자라 묻거나 한도를 넘겨 멈추는 경우에도 사람이 답하고 닫는 자리가 정해져 있습니다. 이 다섯 가지가 에이전트의 일과 사람의 책임을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승인을 기다리는 처리 건을 직접 결정합니다. 먼저 올라온 추천안과 그 조치의 승인 역할을 확인합니다. 그런 다음 권한이 있는 역할로 승인하거나 사유를 적어 거절하고, 그 결정이 처리 건의 상태를 어떻게 바꾸었는지를 처리 기록에서 읽습니다. 권한이 없는 역할로는 승인이 받아들여지지 않는다는 것도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4일차에 만든 에이전트를 다시 씁니다. 부품 수량이나 긴급 사유나 승인권자가 빠진 요청을 주었을 때, 에이전트가 그 값을 짐작해 확정하지 않고 보류한 채 확인 질문을 내도록 고칩니다. 추가 답변을 받으면 그것을 반영해 같은 요청을 다시 처리하고, 질문 전과 답변 후의 상태를 기록으로 남깁니다. 온톨로지와 SOP는 이미 있는 것을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에이전트는 지금 잘 동작합니다. 여기에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그대로 AI에게 주고 고쳐 달라고 하는 방식이 바이브 코딩, Vibe Coding입니다. 자연어로 요청하고, AI가 쓴 코드를 실행해 보며 다시 요청하는 방식입니다. 시작이 빠르다는 장점이 있습니다. 다만 요청에 적지 않은 부분은 AI가 그 자리에서 정하게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긴급하다는 표시를 결과에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 어느 해석이 맞는지는 요청 문장만으로는 정해지지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모호한 요청으로 고친 결과가 반드시 틀리는 것은 아닙니다. 문제는 틀렸는지를 알 방법이 없다는 데 있습니다. 고친 사람은 대개 왼쪽처럼 새 기능만 실행해 보고, 긴급하다는 표시가 나오면 끝났다고 봅니다. 오른쪽의 세 가지는 무엇이 그대로여야 하는지를 적어 둔 것이 없어서 실행해 볼 생각조차 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자리 가운데 출력 형식이 흔들리면 무슨 일이 생기는지를 봅니다. 에이전트의 결과는 혼자 쓰이지 않습니다. 형식 검사가 정해진 이름의 항목이 있는지를 보고, 승인 화면이 추천 항목을 이름으로 찾아 담당자에게 보이고, 뒤 단계가 판단 번호 항목으로 그 판단을 가리킵니다. 긴급 표시를 넣으면서 이 이름 가운데 하나를 바꾸면 그 뒤의 단계가 모두 읽지 못하게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 Spec-Driven Development입니다. 우리말로는 명세 주도 개발이라고 합니다. 명세, Specification은 만들 것이 무엇을 받아 무엇을 내고 무엇을 하지 않는지를 적은 문서입니다.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차이는 AI를 쓰느냐가 아니라 순서입니다. 바이브 코딩은 요청 문장을 그대로 AI에게 주고, 해석은 AI가 그때그때 정합니다. SDD는 요청을 받으면 명세부터 고치고, 해석은 사람이 명세에서 정합니다. 구현은 두 경우 모두 AI에게 맡길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맨 위의 요구사항은 무엇을 하는지,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 앞에서 본 한 문장에는 이 가운데 요구사항의 일부만 들어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가운데 계약이라는 말부터 풀겠습니다. 계약, Contract는 데이터를 주는 쪽과 받는 쪽이 지키기로 한 항목과 형식입니다. 에이전트는 가운데에 있어서 계약이 둘입니다. 왼쪽의 입력 계약은 처리 건이 에이전트에게 주는 것을, 오른쪽의 출력 계약은 에이전트가 승인 화면과 뒤 단계에 내는 것을 정합니다. 어느 한쪽만 바꾸면 맞은편이 읽지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성능 저하 경보 한 건에서 에이전트가 실제로 받은 입력입니다. 앞에서 본 사건과 같은 유형의 다른 경보여서 경보 번호가 다릅니다. 설비, 경보, 사건 번호의 세 항목이며 유온이나 냉각 효율 같은 값은 들어 있지 않습니다. 그런 값은 에이전트가 도구로 읽어 오므로, 입력 계약은 무엇에 대해 일할지만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 계약은 항목마다 세 가지를 정합니다. 이름, 형식, 그리고 뜻입니다. 추천 항목을 보면 이름은 recommended이고, 형식은 조치 방법의 식별자이며, 뜻은 후보 가운데 1순위입니다. 이렇게 적혀 있으면 긴급 여부를 새 항목으로 더하는 것은 계약을 넓히는 변경이고, recommended의 이름이나 뜻을 바꾸는 것은 계약을 깨는 변경이라는 구분이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금지 조건의 실제 예입니다. 쿨러 사건의 에이전트가 읽는 작업 규칙에는 절대 금지라는 절이 따로 있습니다. 첫째 줄은 설비 명령과 업무 조치의 실행, 그리고 사람 대신 승인하는 일을 금지합니다. 둘째 줄은 지식과 규칙을 고치지 못하게 하고, 셋째 줄은 판단 제출이 승인이나 실행이 아니라는 점을 못 박습니다. 이 절은 원인을 가리고 조치를 견주는 업무의 절차와는 따로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까닭을 봅니다. 요구사항은 해야 할 일이어서 변경 요청이 올 때마다 줄이 늘어납니다. 금지 조건은 어떤 요구가 더해져도 그대로 남습니다. 긴급한 경보를 빨리 처리하라는 요구가 와도, 승인하기 전에는 어떤 조치도 실행하지 않는다는 줄이 명세에 있으면 승인을 건너뛰는 해석은 처음부터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요소인 수용 기준, Acceptance Criteria입니다.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수용 기준이 되는 문장과 되지 못하는 문장을 견줍니다. 왼쪽의 「거절이 잘 처리된다」는 실행해 보아도 잘 된 것인지 아닌지를 사람마다 다르게 봅니다. 오른쪽의 「거절하면 설비 명령이 0건이다」는 실행하고 명령의 수를 세면 참과 거짓이 정해집니다. 수용 기준을 쓸 때에는 이 문장이 세거나 대조해서 판정되는지를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본 승인 단계의 동작은 우연히 그렇게 된 것이 아닙니다. 상황마다 확인되어야 하는 결과가 수용 기준으로 정해져 있고, 검사가 그것을 확인합니다. 승인하면 누가 승인했는지가 기록되고 끝까지 처리됩니다. 거절하면 명령과 업무 처리가 0건입니다. 사유가 없거나 권한이 없는 거절은 받아들여지지 않고, 응답이 없으면 알림만 나가고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정했습니다. 출력 계약은 기존 다섯 항목은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쓴 다음의 순서입니다. 명세를 고치고, 그 명세를 AI에게 함께 주어 구현을 맡깁니다. 구현이 끝나면 수용 기준을 하나씩 실행해 참과 거짓을 가립니다. 거짓이 나왔을 때 구현이 명세와 다르면 구현을 고치고, 명세에 빠진 것이 있었다면 명세를 고칩니다. 어느 쪽이 틀렸는지를 가릴 기준이 문서로 있다는 점이 한 문장만 주었을 때와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구현을 마친 뒤에 할 일입니다. 새 요청만이 아니라 기존 요청도 함께 다시 실행합니다. 기존 요청은 결과가 그대로여야 하고, 새 요청은 명세대로 달라져야 하며, 값을 읽지 못한 경우의 보류처럼 지켜야 할 동작도 그대로여야 합니다. 이때 쓴 입력과 기대 결과를 저장해 두면 이어지는 행동 검증 단원의 재료가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모았습니다. 변경 요청 한 문장에는 지킬 것이 적혀 있지 않습니다. 그래서 구현하기 전에 명세에 요구사항과 계약을 정하고, 하지 않을 일을 금지 조건으로, 다 되었는지를 가를 조건을 수용 기준으로 적습니다. 구현한 뒤에는 기존 요청과 새 요청을 함께 다시 실행합니다. 이렇게 저장한 입력과 기대 결과는 이어지는 행동 검증 단원으로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앞에서 본 상황을 직접 만들어 봅니다. 4일차에 만든 에이전트에 긴급 요청을 분류하는 조건을 모호한 요청으로 더하고, 일반 요청과 긴급 요청을 실행해 결과의 항목과 승인 조건이 고치기 전과 달라진 곳을 찾습니다. 달라진 곳이 없을 수도 있으며, 그때에는 두 버전의 동작을 있는 그대로 견줍니다. 그런 다음 spec.md에 지킬 것과 달라질 것을 적고, 그 명세를 기준으로 고쳐 두 요청을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쉬운 확인은 화면에서 직접 눌러 보는 것입니다. 그러나 승인 단계 하나에도 승인, 거절, 무응답, 권한 없는 요청처럼 경우가 여럿이고, 한 번의 확인은 그 가운데 하나만 봅니다. 조건을 하나 더할 때마다 이 경우들을 모두 다시 확인해야 합니다. 무엇이 맞는 결과인지가 적혀 있지 않으면 확인하는 사람에 따라 판정도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Behavior-Driven Development입니다. 우리말로는 행동 주도 개발이라고 합니다. 기대하는 행동을 누구나 읽을 수 있는 시나리오로 먼저 적고, 그 시나리오를 실행해서 확인합니다. 여기서 행동은 내부의 구현이 아니라 밖에서 관찰할 수 있는 결과를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단원의 SDD와 지금 배우는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시나리오가 어떻게 이어지는지를 봅니다. 입력 계약은 Given과 When에 넣는 입력값이 됩니다. 출력 계약은 결과에 있어야 하는 항목으로, 금지 조건은 일어나지 않아야 하는 일로 Then에 옮겨집니다. 수용 기준은 시나리오 하나하나가 통과하는 것으로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문장으로만 둔 시나리오는 사람이 읽고 손으로 확인해야 해서 되풀이되지 않습니다. 그래서 세 부분을 각각 실행할 수 있는 것으로 옮깁니다. Given은 준비할 입력으로, When은 실행할 행동으로, Then은 견줄 기대값으로 옮깁니다. 실행해서 나온 실제 결과를 기대값과 대조하면 통과와 실패가 갈리고, 실패하면 어느 시나리오가 어긋났는지가 이름으로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승인 단계를 확인하는 실제 시험 한 편입니다. 맨 위의 긴 이름이 곧 시나리오 문장이고, 가운데의 reject_card가 사유를 넣어 거절을 실행하는 When입니다. 아래의 assert 두 줄이 Then입니다. assert는 뒤의 식이 참인지를 확인하는 단언이며, 하나라도 참이 아니면 이 시험은 실패로 기록됩니다.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시험은 확인하는 대상에 따라 네 종류로 나눕니다. 정상 시험은 기본 경로가 끝까지 가는지를 봅니다. 경계 시험은 기준값의 바로 안팎에서 판정이 맞는지를, 예외 시험은 거절과 누락과 오류를 정한 대로 다루는지를 봅니다. 회귀 시험은 무언가를 바꾼 뒤에도 기존 행동이 그대로인지를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 시험의 입력을 고르는 방법이 경계값 분석입니다. 쿨러 사건에서 조치 뒤에 유온을 다시 읽어 회복을 판정하는 기준은 55 ℃ 미만입니다. 실제 사건의 값 51.5 ℃는 기준에서 멀어서, 이 값으로는 기준이 정확히 구현되었는지를 알 수 없습니다. 판정이 갈리는 54.9와 55.0 근처를 넣어 보아야 「미만」을 「이하」로 잘못 만든 실수가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시험은 잘못된 상황에서 기대하는 행동을 확인합니다. 도구가 오류를 돌려주면 실패를 실패로 적고, 값을 0이나 빈 값으로 채워 성공처럼 내지 않아야 합니다. 필요한 값을 읽지 못해 근거가 부족하면 보류하고, 필수 정보가 없으면 확정하지 않고 사람에게 묻습니다. 권한이 없는 요청은 거부되어야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시험할 때에는 한 가지 어려움이 더 있습니다. 같은 쿨러 경보를 두 번 처리한 기록을 견주어 보면, 원인과 추천과 점수는 두 번 모두 같았습니다. 그러나 설명의 문장과 도구를 부른 순서와 걸린 시간은 달랐습니다. 규칙의 판정과 점수는 같은 사실이면 같은 결과를 내는 도구가 계산하고, 문장과 순서는 모델이 그때마다 정하기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달라져도 되는 것과 달라지면 안 되는 것을 먼저 가릅니다. 설명문의 낱말, 도구를 부른 순서, 걸린 시간은 표현 차이이고 허용합니다. 결과 항목이 빠진 것, 승인 없이 쓴 것, 근거 식별자가 없는 카드, 금지된 조치의 추천은 계약 위반이고 한 번이라도 나오면 실패입니다. 이 구분이 없으면 문장이 조금 달라졌다고 실패가 나거나, 항목이 빠졌는데도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아니라 판단의 내용이 맞는지는 판단 채점으로 확인합니다. 사람이 미리 적어 둔 정답표와 에이전트의 판단을 대어 점수를 냅니다. 견주는 것은 원인, 1순위 조치, 금지 조치, 인용한 근거의 네 항목이며, 정해진 비중으로 더해 0점에서 100점 사이의 점수가 됩니다. 설명 문장은 점수에 들어가지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시험이 실패했을 때 무엇을 고칠지를 가르는 표입니다. 스킬에 적힌 단계를 건너뛰거나 설명이 부실하면 프롬프트와 스킬 같은 지침을 봅니다. 판정의 기준값이 맞지 않으면 지식 그래프의 판단 규칙을, 결과 항목이 빠졌거나 기대값이 요구와 다르면 명세를 봅니다. 명세대로 적혀 있는데 다르게 동작하면 코드입니다. 통과시키려고 기대값을 낮추는 것은 수정이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실습은 앞 실습의 spec.md와 같은 에이전트를 그대로 씁니다. 정상, 긴급, 미입력, 거절의 네 경우마다 Given, When, Then과 입력값, 기대 상태를 적습니다. 시나리오를 실행해 실제 출력이 기대값과 어긋난 조건을 확인하고, 어긋난 것이 표현 차이인지 계약 위반인지를 가릅니다. 실제로 실패한 시나리오만 고칠 곳을 가려 고친 뒤, 긴급 조건과 기존 조건이 모두 통과하는지 전체를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 동안 에이전트 하나에 무엇을 더해 왔는지를 한 장에 놓았습니다. 4일차에는 모델에 목표와 도구를 주어 에이전트를 세우고, 수행 방법을 스킬로 적고 도구를 MCP로 연결했습니다. 5일차에는 사람이 개입하는 지점과 명세를 정했고, 그 명세대로 행동하는지를 시나리오로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5일차의 내용을 여덟 물음으로 바꾸었습니다. 위의 다섯은 에이전트를 만드는 물음이고, 아래의 셋은 그 에이전트를 믿고 쓰기 위한 물음입니다. 오른쪽 칸은 쿨러 사건에서 그 답에 해당하는 것입니다. 새 에이전트를 만들 때에도 이 여덟 물음에 차례로 답하면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4일차의 내용을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쓴 근거가 어디에서 왔는지를 되짚습니다. 가능한 원인이 무엇인지는 지식 그래프의 관계에서 읽었습니다. 지금 냉각 효율이 얼마인지는 시계열 DB에서, 걸려 있는 납기가 있는지는 업무 DB에서 판단하는 순간에 읽었습니다.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4일차의 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검사와 승인은 뜻이 다릅니다. 출력 형식의 검사와 가드레일은 결과의 형식이 맞는지, 규칙을 인용했는지, 승인 역할이 붙어 있는지를 시스템이 보는 것이고, 통과해도 상태는 승인 대기입니다. 에이전트의 자기 검토나 다른 에이전트의 검토도 승인이 아닙니다. 승인은 승인 역할의 담당자가 내용과 상황을 보고 내리는 결정이며, 누가 어느 역할로 승인했는지가 결정 기록으로 남습니다. 설비 명령은 이 승인 뒤에만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일차의 용어를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명세와 시나리오를 변경 한 번의 순서로 이었습니다. 요구가 바뀌면 먼저 명세에 새 조건의 계약과 금지 조건과 수용 기준을 적습니다. 그 조건의 시나리오와 기대값을 더한 다음에 지침이나 코드를 고칩니다. 마지막으로 새 시나리오와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출력 계약의 검사와 가드레일과 사람의 승인은 에이전트가 실행될 때마다 작동해서 그 한 건의 잘못된 결과를 막습니다. 시나리오와 판단 채점과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4일차의 실습 넷에서 만든 산출물을 모았습니다. 직접 구성한 에이전트의 답, 점검 계획, SKILL.md와 작업 목록, 여러 서버의 도구를 이어 만든 작업 요약입니다. 형식은 서로 다릅니다. 그러나 확인되지 않은 원인은 가설로, 겹치는 담당자와 없는 기한은 지어내지 않고 표시해 확정하지 않으며, 아는 것에는 근거를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5일차의 실습 넷에서 만든 산출물은 서로 이어집니다. 첫 실습의 승인과 거절은 승인 단계의 시나리오가 되었고, 둘째 실습의 확인 질문은 필수 정보가 빠진 경우의 시나리오가 되었습니다. 셋째 실습의 spec.md는 시나리오의 입력과 기대값이 되었습니다. 마지막 실습의 시나리오와 재검증 기록은 다음에 요구가 바뀔 때의 기준으로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작업 목록은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5일차의 장치를 문제가 생겼을 때 찾아갈 순서로 놓았습니다. 값이 실제와 다르면 호출 기록에서 입력과 응답을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5일차의 내용을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5일차에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5일차를 한 문장으로 줄이면 이렇습니다. 정한 것을 적어 두고, 그대로 행동하는지를 실행으로 확인합니다. 목표와 스킬과 명세가 적어 둔 기준이고, 출력 계약의 검사와 사람의 승인이 실행 중의 방어입니다. 시나리오와 회귀 시험은 요구가 바뀔 때마다 그 기준을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처음부터 끝까지 다섯 칸으로 놓았습니다. 이 가운데 에이전트가 맡은 것은 둘째 칸의 진단과 추천뿐이고, 앞뒤의 칸은 사람과 시스템이 맡습니다. 어떤 일이 어떤 순서로 누구에게 가는지를 정한 것이 업무의 흐름입니다. 다음 시간에는 이 흐름을 그리는 표준 표기법인 BPMN을 쿨러 사건으로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아홉 개와 함께 승인 역할, 결정 기록, 에이전트의 질문, 금지 조건, 시나리오, 표현 차이, 계약 위반, 판단 채점이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문항입니다. 보기마다 그것이 무엇을 확인해 주는지, 실행의 결정까지 포함하는지를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문항입니다. 보기마다 실행한 뒤에 무엇을 세거나 대조하면 참과 거짓이 정해지는지를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표현 차이와 계약 위반을 구분하는 문항입니다. 세 가지 차이 가운데 출력 계약이 정해 둔 것이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두 번 확인했다는 점에서 그럴듯하지만, 두 확인 모두 실행의 결정은 아닙니다. 둘째 문항의 1번은 얼마나 빨라야 하는지가 적혀 있지 않아 판정할 수 없습니다. 셋째 문항의 4번은 표현 차이까지 실패로 센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5.png"/><Relationship Id="rId5"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18.png"/><Relationship Id="rId5" Type="http://schemas.openxmlformats.org/officeDocument/2006/relationships/image" Target="../media/image28.png"/><Relationship Id="rId6"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8.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40.png"/><Relationship Id="rId5" Type="http://schemas.openxmlformats.org/officeDocument/2006/relationships/image" Target="../media/image33.png"/><Relationship Id="rId6"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42.png"/><Relationship Id="rId5"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3.png"/><Relationship Id="rId4" Type="http://schemas.openxmlformats.org/officeDocument/2006/relationships/image" Target="../media/image7.png"/><Relationship Id="rId5" Type="http://schemas.openxmlformats.org/officeDocument/2006/relationships/image" Target="../media/image39.png"/><Relationship Id="rId6" Type="http://schemas.openxmlformats.org/officeDocument/2006/relationships/image" Target="../media/image33.png"/><Relationship Id="rId7"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image" Target="../media/image26.png"/><Relationship Id="rId5"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7.png"/><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29.png"/><Relationship Id="rId6"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3.png"/><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5.png"/><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56.png"/><Relationship Id="rId6" Type="http://schemas.openxmlformats.org/officeDocument/2006/relationships/image" Target="../media/image4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7.png"/><Relationship Id="rId4" Type="http://schemas.openxmlformats.org/officeDocument/2006/relationships/image" Target="../media/image6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33.pn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62.png"/><Relationship Id="rId4" Type="http://schemas.openxmlformats.org/officeDocument/2006/relationships/image" Target="../media/image8.png"/><Relationship Id="rId5" Type="http://schemas.openxmlformats.org/officeDocument/2006/relationships/image" Target="../media/image40.png"/><Relationship Id="rId6" Type="http://schemas.openxmlformats.org/officeDocument/2006/relationships/image" Target="../media/image15.png"/><Relationship Id="rId7" Type="http://schemas.openxmlformats.org/officeDocument/2006/relationships/image" Target="../media/image6.png"/><Relationship Id="rId8" Type="http://schemas.openxmlformats.org/officeDocument/2006/relationships/image" Target="../media/image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4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66.png"/><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40.png"/><Relationship Id="rId4" Type="http://schemas.openxmlformats.org/officeDocument/2006/relationships/image" Target="../media/image7.png"/><Relationship Id="rId5" Type="http://schemas.openxmlformats.org/officeDocument/2006/relationships/image" Target="../media/image61.png"/><Relationship Id="rId6" Type="http://schemas.openxmlformats.org/officeDocument/2006/relationships/image" Target="../media/image5.png"/><Relationship Id="rId7" Type="http://schemas.openxmlformats.org/officeDocument/2006/relationships/image" Target="../media/image62.png"/><Relationship Id="rId8" Type="http://schemas.openxmlformats.org/officeDocument/2006/relationships/image" Target="../media/image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7.png"/><Relationship Id="rId4" Type="http://schemas.openxmlformats.org/officeDocument/2006/relationships/image" Target="../media/image40.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6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5일차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사람의 판단과 명세, 행동 검증으로</a:t>
            </a:r>
          </a:p>
          <a:p>
            <a:pPr algn="l">
              <a:lnSpc>
                <a:spcPct val="110000"/>
              </a:lnSpc>
            </a:pPr>
            <a:r>
              <a:rPr sz="4000" b="1">
                <a:solidFill>
                  <a:srgbClr val="FFFFFF"/>
                </a:solidFill>
                <a:latin typeface="맑은 고딕"/>
                <a:ea typeface="맑은 고딕"/>
                <a:cs typeface="맑은 고딕"/>
              </a:rPr>
              <a:t>높이는 에이전트의 신뢰성</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사람이 개입하는 지점의 설계, 명세 주도 개발, 행동 검증과 에이전트 제작 과정의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text" descr="file-tex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checklist" descr="checklis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추천안을 사람이 결정하는 자리와, 고친 에이전트가 기존 기능을 지키는지를 명세와 시나리오로 확인하는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0600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459621"/>
            <a:ext cx="424281" cy="424281"/>
          </a:xfrm>
          <a:prstGeom prst="rect">
            <a:avLst/>
          </a:prstGeom>
        </p:spPr>
      </p:pic>
      <p:sp>
        <p:nvSpPr>
          <p:cNvPr id="9" name="TextBox 8"/>
          <p:cNvSpPr txBox="1"/>
          <p:nvPr/>
        </p:nvSpPr>
        <p:spPr>
          <a:xfrm>
            <a:off x="713232"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개입 지점과 책임</a:t>
            </a:r>
          </a:p>
          <a:p>
            <a:pPr algn="l">
              <a:lnSpc>
                <a:spcPct val="110000"/>
              </a:lnSpc>
              <a:spcAft>
                <a:spcPts val="400"/>
              </a:spcAft>
            </a:pPr>
            <a:r>
              <a:rPr sz="1350" b="0">
                <a:solidFill>
                  <a:srgbClr val="1F2A3A"/>
                </a:solidFill>
                <a:latin typeface="맑은 고딕"/>
                <a:ea typeface="맑은 고딕"/>
                <a:cs typeface="맑은 고딕"/>
              </a:rPr>
              <a:t>• 승인, 보류, 거절과 에이전트의 질문, 멈춘 작업 닫기가 언제 누구에게 오는지 설명한다</a:t>
            </a:r>
          </a:p>
          <a:p>
            <a:pPr algn="l">
              <a:lnSpc>
                <a:spcPct val="110000"/>
              </a:lnSpc>
              <a:spcAft>
                <a:spcPts val="400"/>
              </a:spcAft>
            </a:pPr>
            <a:r>
              <a:rPr sz="1350" b="0">
                <a:solidFill>
                  <a:srgbClr val="1F2A3A"/>
                </a:solidFill>
                <a:latin typeface="맑은 고딕"/>
                <a:ea typeface="맑은 고딕"/>
                <a:cs typeface="맑은 고딕"/>
              </a:rPr>
              <a:t>• 승인 역할과 결정 기록에 남는 것을 실제 사건에서 짚는다</a:t>
            </a:r>
          </a:p>
        </p:txBody>
      </p:sp>
      <p:sp>
        <p:nvSpPr>
          <p:cNvPr id="10" name="Rounded Rectangle 9"/>
          <p:cNvSpPr/>
          <p:nvPr/>
        </p:nvSpPr>
        <p:spPr>
          <a:xfrm>
            <a:off x="777240" y="5448109"/>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지점</a:t>
            </a:r>
          </a:p>
        </p:txBody>
      </p:sp>
      <p:sp>
        <p:nvSpPr>
          <p:cNvPr id="12" name="Rounded Rectangle 11"/>
          <p:cNvSpPr/>
          <p:nvPr/>
        </p:nvSpPr>
        <p:spPr>
          <a:xfrm>
            <a:off x="3390823"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06002"/>
            <a:ext cx="731520" cy="731520"/>
          </a:xfrm>
          <a:prstGeom prst="ellipse">
            <a:avLst/>
          </a:prstGeom>
          <a:solidFill>
            <a:srgbClr val="E7F3FD"/>
          </a:solidFill>
          <a:ln>
            <a:noFill/>
          </a:ln>
        </p:spPr>
        <p:txBody>
          <a:bodyPr rtlCol="0" anchor="ctr"/>
          <a:lstStyle/>
          <a:p>
            <a:pPr algn="ctr"/>
          </a:p>
        </p:txBody>
      </p:sp>
      <p:pic>
        <p:nvPicPr>
          <p:cNvPr id="14" name="아이콘:shield-check" descr="shield-check_13294B_1.6.png"/>
          <p:cNvPicPr>
            <a:picLocks noChangeAspect="1"/>
          </p:cNvPicPr>
          <p:nvPr/>
        </p:nvPicPr>
        <p:blipFill>
          <a:blip r:embed="rId4"/>
          <a:stretch>
            <a:fillRect/>
          </a:stretch>
        </p:blipFill>
        <p:spPr>
          <a:xfrm>
            <a:off x="3773043" y="2459621"/>
            <a:ext cx="424281" cy="424281"/>
          </a:xfrm>
          <a:prstGeom prst="rect">
            <a:avLst/>
          </a:prstGeom>
        </p:spPr>
      </p:pic>
      <p:sp>
        <p:nvSpPr>
          <p:cNvPr id="15" name="TextBox 14"/>
          <p:cNvSpPr txBox="1"/>
          <p:nvPr/>
        </p:nvSpPr>
        <p:spPr>
          <a:xfrm>
            <a:off x="3555415"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검토와 승인</a:t>
            </a:r>
          </a:p>
          <a:p>
            <a:pPr algn="l">
              <a:lnSpc>
                <a:spcPct val="110000"/>
              </a:lnSpc>
              <a:spcAft>
                <a:spcPts val="400"/>
              </a:spcAft>
            </a:pPr>
            <a:r>
              <a:rPr sz="1350" b="0">
                <a:solidFill>
                  <a:srgbClr val="1F2A3A"/>
                </a:solidFill>
                <a:latin typeface="맑은 고딕"/>
                <a:ea typeface="맑은 고딕"/>
                <a:cs typeface="맑은 고딕"/>
              </a:rPr>
              <a:t>가드레일이나 다른 에이전트의 검토를 사람의 승인과 구분한다</a:t>
            </a:r>
          </a:p>
        </p:txBody>
      </p:sp>
      <p:sp>
        <p:nvSpPr>
          <p:cNvPr id="16" name="Rounded Rectangle 15"/>
          <p:cNvSpPr/>
          <p:nvPr/>
        </p:nvSpPr>
        <p:spPr>
          <a:xfrm>
            <a:off x="3619423" y="5448109"/>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18" name="Rounded Rectangle 17"/>
          <p:cNvSpPr/>
          <p:nvPr/>
        </p:nvSpPr>
        <p:spPr>
          <a:xfrm>
            <a:off x="6233007"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06002"/>
            <a:ext cx="731520" cy="731520"/>
          </a:xfrm>
          <a:prstGeom prst="ellipse">
            <a:avLst/>
          </a:prstGeom>
          <a:solidFill>
            <a:srgbClr val="E7F3FD"/>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6615226" y="2459621"/>
            <a:ext cx="424281" cy="424281"/>
          </a:xfrm>
          <a:prstGeom prst="rect">
            <a:avLst/>
          </a:prstGeom>
        </p:spPr>
      </p:pic>
      <p:sp>
        <p:nvSpPr>
          <p:cNvPr id="21" name="TextBox 20"/>
          <p:cNvSpPr txBox="1"/>
          <p:nvPr/>
        </p:nvSpPr>
        <p:spPr>
          <a:xfrm>
            <a:off x="6397599"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a:t>
            </a:r>
          </a:p>
          <a:p>
            <a:pPr algn="l">
              <a:lnSpc>
                <a:spcPct val="110000"/>
              </a:lnSpc>
              <a:spcAft>
                <a:spcPts val="400"/>
              </a:spcAft>
            </a:pPr>
            <a:r>
              <a:rPr sz="1350" b="0">
                <a:solidFill>
                  <a:srgbClr val="1F2A3A"/>
                </a:solidFill>
                <a:latin typeface="맑은 고딕"/>
                <a:ea typeface="맑은 고딕"/>
                <a:cs typeface="맑은 고딕"/>
              </a:rPr>
              <a:t>변경 요청 한 문장을 입력 계약, 출력 계약, 금지 조건, 수용 기준으로 옮겨 적는다</a:t>
            </a:r>
          </a:p>
        </p:txBody>
      </p:sp>
      <p:sp>
        <p:nvSpPr>
          <p:cNvPr id="22" name="Rounded Rectangle 21"/>
          <p:cNvSpPr/>
          <p:nvPr/>
        </p:nvSpPr>
        <p:spPr>
          <a:xfrm>
            <a:off x="6461607" y="5448109"/>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명세</a:t>
            </a:r>
          </a:p>
        </p:txBody>
      </p:sp>
      <p:sp>
        <p:nvSpPr>
          <p:cNvPr id="24" name="Rounded Rectangle 23"/>
          <p:cNvSpPr/>
          <p:nvPr/>
        </p:nvSpPr>
        <p:spPr>
          <a:xfrm>
            <a:off x="9075191" y="2104834"/>
            <a:ext cx="2567863" cy="377304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06002"/>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6"/>
          <a:stretch>
            <a:fillRect/>
          </a:stretch>
        </p:blipFill>
        <p:spPr>
          <a:xfrm>
            <a:off x="9457410" y="2459621"/>
            <a:ext cx="424281" cy="424281"/>
          </a:xfrm>
          <a:prstGeom prst="rect">
            <a:avLst/>
          </a:prstGeom>
        </p:spPr>
      </p:pic>
      <p:sp>
        <p:nvSpPr>
          <p:cNvPr id="27" name="TextBox 26"/>
          <p:cNvSpPr txBox="1"/>
          <p:nvPr/>
        </p:nvSpPr>
        <p:spPr>
          <a:xfrm>
            <a:off x="9239783"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행동 검증과 정리</a:t>
            </a:r>
          </a:p>
          <a:p>
            <a:pPr algn="l">
              <a:lnSpc>
                <a:spcPct val="110000"/>
              </a:lnSpc>
              <a:spcAft>
                <a:spcPts val="400"/>
              </a:spcAft>
            </a:pPr>
            <a:r>
              <a:rPr sz="1350" b="0">
                <a:solidFill>
                  <a:srgbClr val="1F2A3A"/>
                </a:solidFill>
                <a:latin typeface="맑은 고딕"/>
                <a:ea typeface="맑은 고딕"/>
                <a:cs typeface="맑은 고딕"/>
              </a:rPr>
              <a:t>• 시나리오와 정상, 경계, 예외, 회귀 시험으로 행동을 확인한다</a:t>
            </a:r>
          </a:p>
          <a:p>
            <a:pPr algn="l">
              <a:lnSpc>
                <a:spcPct val="110000"/>
              </a:lnSpc>
              <a:spcAft>
                <a:spcPts val="400"/>
              </a:spcAft>
            </a:pPr>
            <a:r>
              <a:rPr sz="1350" b="0">
                <a:solidFill>
                  <a:srgbClr val="1F2A3A"/>
                </a:solidFill>
                <a:latin typeface="맑은 고딕"/>
                <a:ea typeface="맑은 고딕"/>
                <a:cs typeface="맑은 고딕"/>
              </a:rPr>
              <a:t>• 에이전트를 만들고 믿기까지의 과정을 하나로 정리한다</a:t>
            </a:r>
          </a:p>
        </p:txBody>
      </p:sp>
      <p:sp>
        <p:nvSpPr>
          <p:cNvPr id="28" name="Rounded Rectangle 27"/>
          <p:cNvSpPr/>
          <p:nvPr/>
        </p:nvSpPr>
        <p:spPr>
          <a:xfrm>
            <a:off x="9303791" y="5448109"/>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사람이 개입하는 지점의 설계: 승인, 질문, 닫기</a:t>
            </a:r>
          </a:p>
        </p:txBody>
      </p:sp>
      <p:sp>
        <p:nvSpPr>
          <p:cNvPr id="6" name="Rounded Rectangle 5"/>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 주도 개발: 요구사항 변경과 기존 기능의 보존</a:t>
            </a:r>
          </a:p>
        </p:txBody>
      </p:sp>
      <p:sp>
        <p:nvSpPr>
          <p:cNvPr id="11" name="Rounded Rectangle 10"/>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행동 검증: 시나리오와 회귀 시험</a:t>
            </a:r>
          </a:p>
        </p:txBody>
      </p:sp>
      <p:sp>
        <p:nvSpPr>
          <p:cNvPr id="16" name="Rounded Rectangle 15"/>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Rectangle 17"/>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5262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5262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21" name="Rounded Rectangle 20"/>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23" name="TextBox 2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사람이 개입하는 지점의 설계:</a:t>
            </a:r>
          </a:p>
          <a:p>
            <a:pPr algn="l">
              <a:lnSpc>
                <a:spcPct val="110000"/>
              </a:lnSpc>
            </a:pPr>
            <a:r>
              <a:rPr sz="3400" b="1">
                <a:solidFill>
                  <a:srgbClr val="13294B"/>
                </a:solidFill>
                <a:latin typeface="맑은 고딕"/>
                <a:ea typeface="맑은 고딕"/>
                <a:cs typeface="맑은 고딕"/>
              </a:rPr>
              <a:t>승인, 질문, 닫기</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에이전트의 추천안을 사람이 결정하는 자리와 그 결정이 남기는 기록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나온 뒤의 13초: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올라온 뒤 승인까지의 13초는 담당자가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과 거절 가운데 하나를 고른 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갈림.svg" descr="illust_350932102077546753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담당자</a:t>
            </a:r>
          </a:p>
          <a:p>
            <a:pPr algn="ctr">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 11:14:57</a:t>
            </a:r>
          </a:p>
          <a:p>
            <a:pPr algn="ctr">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자동으로 처리하는 일과 사람이 결정하는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HITL은 자동 처리의 정해진 지점에 사람의 결정을 넣는 방식이며, 설비를 바꾸는 되돌리기 어려운 결정이 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값의 조회, 원인 판정, 후보 비교, 형식 검사</a:t>
            </a:r>
          </a:p>
          <a:p>
            <a:pPr algn="l">
              <a:lnSpc>
                <a:spcPct val="110000"/>
              </a:lnSpc>
              <a:spcAft>
                <a:spcPts val="600"/>
              </a:spcAft>
            </a:pPr>
            <a:r>
              <a:rPr sz="1450" b="0">
                <a:solidFill>
                  <a:srgbClr val="1F2A3A"/>
                </a:solidFill>
                <a:latin typeface="맑은 고딕"/>
                <a:ea typeface="맑은 고딕"/>
                <a:cs typeface="맑은 고딕"/>
              </a:rPr>
              <a:t>• 틀렸으면 다시 실행하면 된다</a:t>
            </a:r>
          </a:p>
          <a:p>
            <a:pPr algn="l">
              <a:lnSpc>
                <a:spcPct val="110000"/>
              </a:lnSpc>
              <a:spcAft>
                <a:spcPts val="600"/>
              </a:spcAft>
            </a:pPr>
            <a:r>
              <a:rPr sz="14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45570"/>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명령과 작업지시처럼 현장을 바꾸는 일</a:t>
            </a:r>
          </a:p>
          <a:p>
            <a:pPr algn="l">
              <a:lnSpc>
                <a:spcPct val="110000"/>
              </a:lnSpc>
              <a:spcAft>
                <a:spcPts val="600"/>
              </a:spcAft>
            </a:pPr>
            <a:r>
              <a:rPr sz="1450" b="0">
                <a:solidFill>
                  <a:srgbClr val="1F2A3A"/>
                </a:solidFill>
                <a:latin typeface="맑은 고딕"/>
                <a:ea typeface="맑은 고딕"/>
                <a:cs typeface="맑은 고딕"/>
              </a:rPr>
              <a:t>• 실행하면 설비의 상태와 생산이 달라진다</a:t>
            </a:r>
          </a:p>
          <a:p>
            <a:pPr algn="l">
              <a:lnSpc>
                <a:spcPct val="110000"/>
              </a:lnSpc>
              <a:spcAft>
                <a:spcPts val="600"/>
              </a:spcAft>
            </a:pPr>
            <a:r>
              <a:rPr sz="1450" b="0">
                <a:solidFill>
                  <a:srgbClr val="1F2A3A"/>
                </a:solidFill>
                <a:latin typeface="맑은 고딕"/>
                <a:ea typeface="맑은 고딕"/>
                <a:cs typeface="맑은 고딕"/>
              </a:rPr>
              <a:t>• 결과를 책임질 사람이 정해져 있어야 한다</a:t>
            </a:r>
          </a:p>
        </p:txBody>
      </p:sp>
      <p:sp>
        <p:nvSpPr>
          <p:cNvPr id="18" name="Rounded Rectangle 17"/>
          <p:cNvSpPr/>
          <p:nvPr/>
        </p:nvSpPr>
        <p:spPr>
          <a:xfrm>
            <a:off x="6781647" y="4945570"/>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세지점.svg" descr="illust_3784579135395691871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a:p>
            <a:pPr algn="ctr">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a:p>
            <a:pPr algn="ctr">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승인과 거절</a:t>
            </a:r>
          </a:p>
          <a:p>
            <a:pPr algn="ctr">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두 결정이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승인하는 순간의 유온과 운전 모드를 다시 확인한다</a:t>
            </a:r>
          </a:p>
          <a:p>
            <a:pPr algn="l">
              <a:lnSpc>
                <a:spcPct val="110000"/>
              </a:lnSpc>
              <a:spcAft>
                <a:spcPts val="600"/>
              </a:spcAft>
            </a:pPr>
            <a:r>
              <a:rPr sz="1450" b="0">
                <a:solidFill>
                  <a:srgbClr val="1F2A3A"/>
                </a:solidFill>
                <a:latin typeface="맑은 고딕"/>
                <a:ea typeface="맑은 고딕"/>
                <a:cs typeface="맑은 고딕"/>
              </a:rPr>
              <a:t>• 1초 뒤에 팬 속도 100 % 명령이 만들어진다</a:t>
            </a:r>
          </a:p>
          <a:p>
            <a:pPr algn="l">
              <a:lnSpc>
                <a:spcPct val="110000"/>
              </a:lnSpc>
              <a:spcAft>
                <a:spcPts val="600"/>
              </a:spcAft>
            </a:pPr>
            <a:r>
              <a:rPr sz="1450" b="0">
                <a:solidFill>
                  <a:srgbClr val="1F2A3A"/>
                </a:solidFill>
                <a:latin typeface="맑은 고딕"/>
                <a:ea typeface="맑은 고딕"/>
                <a:cs typeface="맑은 고딕"/>
              </a:rPr>
              <a:t>• 재관측에서 유온 51.5 ℃, 경보가 해제된다</a:t>
            </a:r>
          </a:p>
          <a:p>
            <a:pPr algn="l">
              <a:lnSpc>
                <a:spcPct val="110000"/>
              </a:lnSpc>
              <a:spcAft>
                <a:spcPts val="600"/>
              </a:spcAft>
            </a:pPr>
            <a:r>
              <a:rPr sz="145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246433"/>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거절하는 사유를 반드시 적는다</a:t>
            </a:r>
          </a:p>
          <a:p>
            <a:pPr algn="l">
              <a:lnSpc>
                <a:spcPct val="110000"/>
              </a:lnSpc>
              <a:spcAft>
                <a:spcPts val="600"/>
              </a:spcAft>
            </a:pPr>
            <a:r>
              <a:rPr sz="1450" b="0">
                <a:solidFill>
                  <a:srgbClr val="1F2A3A"/>
                </a:solidFill>
                <a:latin typeface="맑은 고딕"/>
                <a:ea typeface="맑은 고딕"/>
                <a:cs typeface="맑은 고딕"/>
              </a:rPr>
              <a:t>• 설비 명령과 업무 처리는 한 건도 만들어지지 않는다</a:t>
            </a:r>
          </a:p>
          <a:p>
            <a:pPr algn="l">
              <a:lnSpc>
                <a:spcPct val="110000"/>
              </a:lnSpc>
              <a:spcAft>
                <a:spcPts val="600"/>
              </a:spcAft>
            </a:pPr>
            <a:r>
              <a:rPr sz="1450" b="0">
                <a:solidFill>
                  <a:srgbClr val="1F2A3A"/>
                </a:solidFill>
                <a:latin typeface="맑은 고딕"/>
                <a:ea typeface="맑은 고딕"/>
                <a:cs typeface="맑은 고딕"/>
              </a:rPr>
              <a:t>• 결과 보고: 「담당자가 거절했습니다 — 사유: … 설비 명령은 내지 않았습니다」</a:t>
            </a:r>
          </a:p>
        </p:txBody>
      </p:sp>
      <p:sp>
        <p:nvSpPr>
          <p:cNvPr id="18" name="Rounded Rectangle 17"/>
          <p:cNvSpPr/>
          <p:nvPr/>
        </p:nvSpPr>
        <p:spPr>
          <a:xfrm>
            <a:off x="6781647" y="5246433"/>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승인권자: 조치마다 정해진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승인할 수 있는 사람은 화면을 연 사람이 아니라 그 조치에 정해진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의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조치마다 승인 역할이 있다</a:t>
            </a:r>
          </a:p>
          <a:p>
            <a:pPr algn="l">
              <a:lnSpc>
                <a:spcPct val="110000"/>
              </a:lnSpc>
              <a:spcAft>
                <a:spcPts val="400"/>
              </a:spcAft>
            </a:pPr>
            <a:r>
              <a:rPr sz="1400" b="0">
                <a:solidFill>
                  <a:srgbClr val="1F2A3A"/>
                </a:solidFill>
                <a:latin typeface="맑은 고딕"/>
                <a:ea typeface="맑은 고딕"/>
                <a:cs typeface="맑은 고딕"/>
              </a:rPr>
              <a:t>• 팬 최대 운전: 운전원</a:t>
            </a:r>
          </a:p>
          <a:p>
            <a:pPr algn="l">
              <a:lnSpc>
                <a:spcPct val="110000"/>
              </a:lnSpc>
              <a:spcAft>
                <a:spcPts val="400"/>
              </a:spcAft>
            </a:pPr>
            <a:r>
              <a:rPr sz="14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역할에는 등급이 있다</a:t>
            </a:r>
          </a:p>
          <a:p>
            <a:pPr algn="l">
              <a:lnSpc>
                <a:spcPct val="110000"/>
              </a:lnSpc>
              <a:spcAft>
                <a:spcPts val="400"/>
              </a:spcAft>
            </a:pPr>
            <a:r>
              <a:rPr sz="1400" b="0">
                <a:solidFill>
                  <a:srgbClr val="1F2A3A"/>
                </a:solidFill>
                <a:latin typeface="맑은 고딕"/>
                <a:ea typeface="맑은 고딕"/>
                <a:cs typeface="맑은 고딕"/>
              </a:rPr>
              <a:t>• 운전원 1</a:t>
            </a:r>
          </a:p>
          <a:p>
            <a:pPr algn="l">
              <a:lnSpc>
                <a:spcPct val="110000"/>
              </a:lnSpc>
              <a:spcAft>
                <a:spcPts val="400"/>
              </a:spcAft>
            </a:pPr>
            <a:r>
              <a:rPr sz="1400" b="0">
                <a:solidFill>
                  <a:srgbClr val="1F2A3A"/>
                </a:solidFill>
                <a:latin typeface="맑은 고딕"/>
                <a:ea typeface="맑은 고딕"/>
                <a:cs typeface="맑은 고딕"/>
              </a:rPr>
              <a:t>• 생산관리자 2 · 설비보전팀장 2</a:t>
            </a:r>
          </a:p>
          <a:p>
            <a:pPr algn="l">
              <a:lnSpc>
                <a:spcPct val="110000"/>
              </a:lnSpc>
              <a:spcAft>
                <a:spcPts val="400"/>
              </a:spcAft>
            </a:pPr>
            <a:r>
              <a:rPr sz="1400" b="0">
                <a:solidFill>
                  <a:srgbClr val="1F2A3A"/>
                </a:solidFill>
                <a:latin typeface="맑은 고딕"/>
                <a:ea typeface="맑은 고딕"/>
                <a:cs typeface="맑은 고딕"/>
              </a:rPr>
              <a:t>• 공장장 3</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밖의 승인은 거부된다</a:t>
            </a:r>
          </a:p>
          <a:p>
            <a:pPr algn="l">
              <a:lnSpc>
                <a:spcPct val="110000"/>
              </a:lnSpc>
              <a:spcAft>
                <a:spcPts val="400"/>
              </a:spcAft>
            </a:pPr>
            <a:r>
              <a:rPr sz="1400" b="0">
                <a:solidFill>
                  <a:srgbClr val="1F2A3A"/>
                </a:solidFill>
                <a:latin typeface="맑은 고딕"/>
                <a:ea typeface="맑은 고딕"/>
                <a:cs typeface="맑은 고딕"/>
              </a:rPr>
              <a:t>그 역할의 구성원이 아니거나 등급이 모자라면 승인이 받아들여지지 않는다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 기록: 승인하는 순간에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 기록은 승인을 받은 시스템만 적을 수 있어, 에이전트가 승인한 사람을 스스로 채워 넣는 길이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정해진 방식</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승인한 사람과 역할</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승인을 받은 시스템이 적는다</a:t>
            </a:r>
          </a:p>
          <a:p>
            <a:pPr algn="l">
              <a:lnSpc>
                <a:spcPct val="110000"/>
              </a:lnSpc>
            </a:pPr>
            <a:r>
              <a:rPr sz="1400" b="0">
                <a:solidFill>
                  <a:srgbClr val="1F2A3A"/>
                </a:solidFill>
                <a:latin typeface="맑은 고딕"/>
                <a:ea typeface="맑은 고딕"/>
                <a:cs typeface="맑은 고딕"/>
              </a:rPr>
              <a:t>에이전트의 출력에 같은 항목이 있어도 쓰이지 않는다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고른 안</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승인한 안의 사본이 함께 남는다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팬 최대 운전</a:t>
            </a:r>
          </a:p>
          <a:p>
            <a:pPr algn="l">
              <a:lnSpc>
                <a:spcPct val="110000"/>
              </a:lnSpc>
            </a:pPr>
            <a:r>
              <a:rPr sz="1250" b="1">
                <a:solidFill>
                  <a:srgbClr val="556175"/>
                </a:solidFill>
                <a:latin typeface="맑은 고딕"/>
                <a:ea typeface="맑은 고딕"/>
                <a:cs typeface="맑은 고딕"/>
              </a:rPr>
              <a:t>SOP-COOL-11</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접수된 때</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11:14:56</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순간의 설비 상태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 때의 값이 아니라 승인하는 순간의 값을 다시 읽는다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유온 61.8 ℃</a:t>
            </a:r>
          </a:p>
          <a:p>
            <a:pPr algn="l">
              <a:lnSpc>
                <a:spcPct val="110000"/>
              </a:lnSpc>
            </a:pPr>
            <a:r>
              <a:rPr sz="1250" b="1">
                <a:solidFill>
                  <a:srgbClr val="1A6FC4"/>
                </a:solidFill>
                <a:latin typeface="맑은 고딕"/>
                <a:ea typeface="맑은 고딕"/>
                <a:cs typeface="맑은 고딕"/>
              </a:rPr>
              <a:t>원격 자동, 운전 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응답이 없을 때: 지연 알림과 대기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응답이 없는 승인 작업은 기한 10분 뒤에 지연 알림을 낼 뿐 닫히지 않고 담당자의 결정을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무응답.svg" descr="illust_261912122049630682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73850"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요청</a:t>
            </a:r>
          </a:p>
          <a:p>
            <a:pPr algn="ctr">
              <a:lnSpc>
                <a:spcPct val="110000"/>
              </a:lnSpc>
              <a:spcAft>
                <a:spcPts val="100"/>
              </a:spcAft>
            </a:pPr>
            <a:r>
              <a:rPr sz="1300" b="0">
                <a:solidFill>
                  <a:srgbClr val="556175"/>
                </a:solidFill>
                <a:latin typeface="맑은 고딕"/>
                <a:ea typeface="맑은 고딕"/>
                <a:cs typeface="맑은 고딕"/>
              </a:rPr>
              <a:t>추천안이 올라온다</a:t>
            </a:r>
          </a:p>
        </p:txBody>
      </p:sp>
      <p:sp>
        <p:nvSpPr>
          <p:cNvPr id="8" name="TextBox 7"/>
          <p:cNvSpPr txBox="1"/>
          <p:nvPr/>
        </p:nvSpPr>
        <p:spPr>
          <a:xfrm>
            <a:off x="4863074" y="1674906"/>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지연 알림</a:t>
            </a:r>
          </a:p>
          <a:p>
            <a:pPr algn="ctr">
              <a:lnSpc>
                <a:spcPct val="110000"/>
              </a:lnSpc>
              <a:spcAft>
                <a:spcPts val="100"/>
              </a:spcAft>
            </a:pPr>
            <a:r>
              <a:rPr sz="1300" b="0">
                <a:solidFill>
                  <a:srgbClr val="556175"/>
                </a:solidFill>
                <a:latin typeface="맑은 고딕"/>
                <a:ea typeface="맑은 고딕"/>
                <a:cs typeface="맑은 고딕"/>
              </a:rPr>
              <a:t>기한 10분이 지나면 나간다</a:t>
            </a:r>
          </a:p>
        </p:txBody>
      </p:sp>
      <p:sp>
        <p:nvSpPr>
          <p:cNvPr id="9" name="TextBox 8"/>
          <p:cNvSpPr txBox="1"/>
          <p:nvPr/>
        </p:nvSpPr>
        <p:spPr>
          <a:xfrm>
            <a:off x="8277746"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뒤늦은 승인</a:t>
            </a:r>
          </a:p>
          <a:p>
            <a:pPr algn="ctr">
              <a:lnSpc>
                <a:spcPct val="110000"/>
              </a:lnSpc>
              <a:spcAft>
                <a:spcPts val="100"/>
              </a:spcAft>
            </a:pPr>
            <a:r>
              <a:rPr sz="1300" b="0">
                <a:solidFill>
                  <a:srgbClr val="556175"/>
                </a:solidFill>
                <a:latin typeface="맑은 고딕"/>
                <a:ea typeface="맑은 고딕"/>
                <a:cs typeface="맑은 고딕"/>
              </a:rPr>
              <a:t>정상으로 처리된다</a:t>
            </a:r>
          </a:p>
        </p:txBody>
      </p:sp>
      <p:sp>
        <p:nvSpPr>
          <p:cNvPr id="10" name="TextBox 9"/>
          <p:cNvSpPr txBox="1"/>
          <p:nvPr/>
        </p:nvSpPr>
        <p:spPr>
          <a:xfrm>
            <a:off x="3510297" y="389680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응답 없음</a:t>
            </a:r>
          </a:p>
        </p:txBody>
      </p:sp>
      <p:sp>
        <p:nvSpPr>
          <p:cNvPr id="11" name="TextBox 10"/>
          <p:cNvSpPr txBox="1"/>
          <p:nvPr/>
        </p:nvSpPr>
        <p:spPr>
          <a:xfrm>
            <a:off x="3368473" y="5409590"/>
            <a:ext cx="501836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작업은 열린 채로 기다린다</a:t>
            </a:r>
          </a:p>
          <a:p>
            <a:pPr algn="ctr">
              <a:lnSpc>
                <a:spcPct val="110000"/>
              </a:lnSpc>
              <a:spcAft>
                <a:spcPts val="100"/>
              </a:spcAft>
            </a:pPr>
            <a:r>
              <a:rPr sz="1300" b="0">
                <a:solidFill>
                  <a:srgbClr val="556175"/>
                </a:solidFill>
                <a:latin typeface="맑은 고딕"/>
                <a:ea typeface="맑은 고딕"/>
                <a:cs typeface="맑은 고딕"/>
              </a:rPr>
              <a:t>알림 뒤에도 승인과 거절을 모두 받는다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정보가 없다</a:t>
            </a:r>
          </a:p>
          <a:p>
            <a:pPr algn="ctr">
              <a:lnSpc>
                <a:spcPct val="110000"/>
              </a:lnSpc>
              <a:spcAft>
                <a:spcPts val="400"/>
              </a:spcAft>
            </a:pPr>
            <a:r>
              <a:rPr sz="1350" b="0">
                <a:solidFill>
                  <a:srgbClr val="1F2A3A"/>
                </a:solidFill>
                <a:latin typeface="맑은 고딕"/>
                <a:ea typeface="맑은 고딕"/>
                <a:cs typeface="맑은 고딕"/>
              </a:rPr>
              <a:t>조회할 대상 설비가</a:t>
            </a:r>
          </a:p>
          <a:p>
            <a:pPr algn="ctr">
              <a:lnSpc>
                <a:spcPct val="110000"/>
              </a:lnSpc>
              <a:spcAft>
                <a:spcPts val="400"/>
              </a:spcAft>
            </a:pPr>
            <a:r>
              <a:rPr sz="1350" b="0">
                <a:solidFill>
                  <a:srgbClr val="1F2A3A"/>
                </a:solidFill>
                <a:latin typeface="맑은 고딕"/>
                <a:ea typeface="맑은 고딕"/>
                <a:cs typeface="맑은 고딕"/>
              </a:rPr>
              <a:t>요청에 적혀 있지 않다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묻고 멈춘다</a:t>
            </a:r>
          </a:p>
          <a:p>
            <a:pPr algn="ctr">
              <a:lnSpc>
                <a:spcPct val="110000"/>
              </a:lnSpc>
              <a:spcAft>
                <a:spcPts val="400"/>
              </a:spcAft>
            </a:pPr>
            <a:r>
              <a:rPr sz="1350" b="0">
                <a:solidFill>
                  <a:srgbClr val="1F2A3A"/>
                </a:solidFill>
                <a:latin typeface="맑은 고딕"/>
                <a:ea typeface="맑은 고딕"/>
                <a:cs typeface="맑은 고딕"/>
              </a:rPr>
              <a:t>「조회할 대상 설비를</a:t>
            </a:r>
          </a:p>
          <a:p>
            <a:pPr algn="ctr">
              <a:lnSpc>
                <a:spcPct val="110000"/>
              </a:lnSpc>
              <a:spcAft>
                <a:spcPts val="400"/>
              </a:spcAft>
            </a:pPr>
            <a:r>
              <a:rPr sz="1350" b="0">
                <a:solidFill>
                  <a:srgbClr val="1F2A3A"/>
                </a:solidFill>
                <a:latin typeface="맑은 고딕"/>
                <a:ea typeface="맑은 고딕"/>
                <a:cs typeface="맑은 고딕"/>
              </a:rPr>
              <a:t>선택해 주세요.」</a:t>
            </a:r>
          </a:p>
          <a:p>
            <a:pPr algn="ctr">
              <a:lnSpc>
                <a:spcPct val="110000"/>
              </a:lnSpc>
              <a:spcAft>
                <a:spcPts val="400"/>
              </a:spcAft>
            </a:pPr>
            <a:r>
              <a:rPr sz="13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답한다</a:t>
            </a:r>
          </a:p>
          <a:p>
            <a:pPr algn="ctr">
              <a:lnSpc>
                <a:spcPct val="110000"/>
              </a:lnSpc>
              <a:spcAft>
                <a:spcPts val="400"/>
              </a:spcAft>
            </a:pPr>
            <a:r>
              <a:rPr sz="1350" b="0">
                <a:solidFill>
                  <a:srgbClr val="1F2A3A"/>
                </a:solidFill>
                <a:latin typeface="맑은 고딕"/>
                <a:ea typeface="맑은 고딕"/>
                <a:cs typeface="맑은 고딕"/>
              </a:rPr>
              <a:t>「HYD-02」</a:t>
            </a:r>
          </a:p>
          <a:p>
            <a:pPr algn="ctr">
              <a:lnSpc>
                <a:spcPct val="110000"/>
              </a:lnSpc>
              <a:spcAft>
                <a:spcPts val="400"/>
              </a:spcAft>
            </a:pPr>
            <a:r>
              <a:rPr sz="1350" b="0">
                <a:solidFill>
                  <a:srgbClr val="1F2A3A"/>
                </a:solidFill>
                <a:latin typeface="맑은 고딕"/>
                <a:ea typeface="맑은 고딕"/>
                <a:cs typeface="맑은 고딕"/>
              </a:rPr>
              <a:t>답은 한 번만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이어서 처리한다</a:t>
            </a:r>
          </a:p>
          <a:p>
            <a:pPr algn="ctr">
              <a:lnSpc>
                <a:spcPct val="110000"/>
              </a:lnSpc>
              <a:spcAft>
                <a:spcPts val="400"/>
              </a:spcAft>
            </a:pPr>
            <a:r>
              <a:rPr sz="1350" b="0">
                <a:solidFill>
                  <a:srgbClr val="1F2A3A"/>
                </a:solidFill>
                <a:latin typeface="맑은 고딕"/>
                <a:ea typeface="맑은 고딕"/>
                <a:cs typeface="맑은 고딕"/>
              </a:rPr>
              <a:t>하던 실행을 이어</a:t>
            </a:r>
          </a:p>
          <a:p>
            <a:pPr algn="ctr">
              <a:lnSpc>
                <a:spcPct val="110000"/>
              </a:lnSpc>
              <a:spcAft>
                <a:spcPts val="400"/>
              </a:spcAft>
            </a:pPr>
            <a:r>
              <a:rPr sz="1350" b="0">
                <a:solidFill>
                  <a:srgbClr val="1F2A3A"/>
                </a:solidFill>
                <a:latin typeface="맑은 고딕"/>
                <a:ea typeface="맑은 고딕"/>
                <a:cs typeface="맑은 고딕"/>
              </a:rPr>
              <a:t>업무 DB를 조회하고</a:t>
            </a:r>
          </a:p>
          <a:p>
            <a:pPr algn="ctr">
              <a:lnSpc>
                <a:spcPct val="110000"/>
              </a:lnSpc>
              <a:spcAft>
                <a:spcPts val="400"/>
              </a:spcAft>
            </a:pPr>
            <a:r>
              <a:rPr sz="1350" b="0">
                <a:solidFill>
                  <a:srgbClr val="1F2A3A"/>
                </a:solidFill>
                <a:latin typeface="맑은 고딕"/>
                <a:ea typeface="맑은 고딕"/>
                <a:cs typeface="맑은 고딕"/>
              </a:rPr>
              <a:t>HYD-02의 결과를 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질문으로 얻는 것과 얻지 못하는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담당자의 답은 모자란 업무 정보를 채우는 데에만 쓰이고 근거나 승인을 대신하지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묻는다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 설비, 수량, 사유처럼 요청에서 빠진 업무 정보</a:t>
            </a:r>
          </a:p>
          <a:p>
            <a:pPr algn="l">
              <a:lnSpc>
                <a:spcPct val="110000"/>
              </a:lnSpc>
              <a:spcAft>
                <a:spcPts val="600"/>
              </a:spcAft>
            </a:pPr>
            <a:r>
              <a:rPr sz="1450" b="0">
                <a:solidFill>
                  <a:srgbClr val="1F2A3A"/>
                </a:solidFill>
                <a:latin typeface="맑은 고딕"/>
                <a:ea typeface="맑은 고딕"/>
                <a:cs typeface="맑은 고딕"/>
              </a:rPr>
              <a:t>• 연결된 도구로 조회해도 확인할 수 없는 것</a:t>
            </a:r>
          </a:p>
          <a:p>
            <a:pPr algn="l">
              <a:lnSpc>
                <a:spcPct val="110000"/>
              </a:lnSpc>
              <a:spcAft>
                <a:spcPts val="600"/>
              </a:spcAft>
            </a:pPr>
            <a:r>
              <a:rPr sz="1450" b="0">
                <a:solidFill>
                  <a:srgbClr val="1F2A3A"/>
                </a:solidFill>
                <a:latin typeface="맑은 고딕"/>
                <a:ea typeface="맑은 고딕"/>
                <a:cs typeface="맑은 고딕"/>
              </a:rPr>
              <a:t>• 답을 받으면 그 값을 입력으로 삼아 이어 간다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 정보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묻지 않는다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도구로 읽을 수 있는 값은 묻지 않고 조회한다</a:t>
            </a:r>
          </a:p>
          <a:p>
            <a:pPr algn="l">
              <a:lnSpc>
                <a:spcPct val="110000"/>
              </a:lnSpc>
              <a:spcAft>
                <a:spcPts val="600"/>
              </a:spcAft>
            </a:pPr>
            <a:r>
              <a:rPr sz="1450" b="0">
                <a:solidFill>
                  <a:srgbClr val="1F2A3A"/>
                </a:solidFill>
                <a:latin typeface="맑은 고딕"/>
                <a:ea typeface="맑은 고딕"/>
                <a:cs typeface="맑은 고딕"/>
              </a:rPr>
              <a:t>• 허용되지 않은 도구를 쓰게 해 달라고 묻지 않는다</a:t>
            </a:r>
          </a:p>
          <a:p>
            <a:pPr algn="l">
              <a:lnSpc>
                <a:spcPct val="110000"/>
              </a:lnSpc>
              <a:spcAft>
                <a:spcPts val="600"/>
              </a:spcAft>
            </a:pPr>
            <a:r>
              <a:rPr sz="1450" b="0">
                <a:solidFill>
                  <a:srgbClr val="1F2A3A"/>
                </a:solidFill>
                <a:latin typeface="맑은 고딕"/>
                <a:ea typeface="맑은 고딕"/>
                <a:cs typeface="맑은 고딕"/>
              </a:rPr>
              <a:t>• 작업 규칙: 「사람의 요청을 근거 충족이나 설비 승인으로 간주하지 않습니다.」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근거와 권한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「보류」라는 한 낱말이 결정이 미뤄진 세 가지 다른 상황을 가리키고, 누가 미루었는가에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담당자</a:t>
            </a:r>
          </a:p>
          <a:p>
            <a:pPr algn="l">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재평가를 요청하거나 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한도를 넘겨 멈춘 에이전트 작업은 저절로 끝나지 않아, 담당자가 사유를 적어 닫아야 처리 건이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작업이 멈춘다</a:t>
            </a:r>
          </a:p>
          <a:p>
            <a:pPr algn="ctr">
              <a:lnSpc>
                <a:spcPct val="110000"/>
              </a:lnSpc>
              <a:spcAft>
                <a:spcPts val="400"/>
              </a:spcAft>
            </a:pPr>
            <a:r>
              <a:rPr sz="1350" b="0">
                <a:solidFill>
                  <a:srgbClr val="1F2A3A"/>
                </a:solidFill>
                <a:latin typeface="맑은 고딕"/>
                <a:ea typeface="맑은 고딕"/>
                <a:cs typeface="맑은 고딕"/>
              </a:rPr>
              <a:t>실행 시간 1,800초나 재시도 두 번의 한도를 넘기면 결과 없이 멈춘 상태로 남는다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기록을 읽는다</a:t>
            </a:r>
          </a:p>
          <a:p>
            <a:pPr algn="ctr">
              <a:lnSpc>
                <a:spcPct val="110000"/>
              </a:lnSpc>
              <a:spcAft>
                <a:spcPts val="400"/>
              </a:spcAft>
            </a:pPr>
            <a:r>
              <a:rPr sz="1350" b="0">
                <a:solidFill>
                  <a:srgbClr val="1F2A3A"/>
                </a:solidFill>
                <a:latin typeface="맑은 고딕"/>
                <a:ea typeface="맑은 고딕"/>
                <a:cs typeface="맑은 고딕"/>
              </a:rPr>
              <a:t>어디까지 진행되었고 왜 멈췄는지를 처리 기록에서 확인한다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사유를 적고 닫는다</a:t>
            </a:r>
          </a:p>
          <a:p>
            <a:pPr algn="ctr">
              <a:lnSpc>
                <a:spcPct val="110000"/>
              </a:lnSpc>
              <a:spcAft>
                <a:spcPts val="400"/>
              </a:spcAft>
            </a:pPr>
            <a:r>
              <a:rPr sz="1350" b="0">
                <a:solidFill>
                  <a:srgbClr val="1F2A3A"/>
                </a:solidFill>
                <a:latin typeface="맑은 고딕"/>
                <a:ea typeface="맑은 고딕"/>
                <a:cs typeface="맑은 고딕"/>
              </a:rPr>
              <a:t>닫은 사람과 사유가 기록에 남고, 그 작업은 취소로 표시된다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처리 건이 끝난다</a:t>
            </a:r>
          </a:p>
          <a:p>
            <a:pPr algn="ctr">
              <a:lnSpc>
                <a:spcPct val="110000"/>
              </a:lnSpc>
              <a:spcAft>
                <a:spcPts val="400"/>
              </a:spcAft>
            </a:pPr>
            <a:r>
              <a:rPr sz="1350" b="0">
                <a:solidFill>
                  <a:srgbClr val="1F2A3A"/>
                </a:solidFill>
                <a:latin typeface="맑은 고딕"/>
                <a:ea typeface="맑은 고딕"/>
                <a:cs typeface="맑은 고딕"/>
              </a:rPr>
              <a:t>열려 있는 다른 작업이 없으면 처리 건은 사람이 닫았다는 표시와 함께 끝난다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 추천안이 사람에게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가드레일</a:t>
            </a:r>
          </a:p>
          <a:p>
            <a:pPr algn="l">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에이전트의 출력이 정해진 규칙을 지켰는지를 시스템이 검사하는 장치이다.</a:t>
            </a:r>
          </a:p>
          <a:p>
            <a:pPr algn="l">
              <a:lnSpc>
                <a:spcPct val="110000"/>
              </a:lnSpc>
              <a:spcAft>
                <a:spcPts val="300"/>
              </a:spcAft>
            </a:pPr>
            <a:r>
              <a:rPr sz="1400" b="0">
                <a:solidFill>
                  <a:srgbClr val="1F2A3A"/>
                </a:solidFill>
                <a:latin typeface="맑은 고딕"/>
                <a:ea typeface="맑은 고딕"/>
                <a:cs typeface="맑은 고딕"/>
              </a:rPr>
              <a:t>모델에게 다시 묻는 것이 아니라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추천안에서 검사하는 것</a:t>
            </a:r>
          </a:p>
          <a:p>
            <a:pPr algn="l">
              <a:lnSpc>
                <a:spcPct val="110000"/>
              </a:lnSpc>
              <a:spcAft>
                <a:spcPts val="200"/>
              </a:spcAft>
            </a:pPr>
            <a:r>
              <a:rPr sz="1150" b="0">
                <a:solidFill>
                  <a:srgbClr val="556175"/>
                </a:solidFill>
                <a:latin typeface="맑은 고딕"/>
                <a:ea typeface="맑은 고딕"/>
                <a:cs typeface="맑은 고딕"/>
              </a:rPr>
              <a:t>네 가지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a:lnSpc>
                <a:spcPct val="110000"/>
              </a:lnSpc>
              <a:spcAft>
                <a:spcPts val="300"/>
              </a:spcAft>
            </a:pPr>
            <a:r>
              <a:rPr sz="1400" b="0">
                <a:solidFill>
                  <a:srgbClr val="1F2A3A"/>
                </a:solidFill>
                <a:latin typeface="맑은 고딕"/>
                <a:ea typeface="맑은 고딕"/>
                <a:cs typeface="맑은 고딕"/>
              </a:rPr>
              <a:t>추천이 제외 규칙에 걸려 있지 않은가</a:t>
            </a:r>
          </a:p>
          <a:p>
            <a:pPr algn="l">
              <a:lnSpc>
                <a:spcPct val="110000"/>
              </a:lnSpc>
              <a:spcAft>
                <a:spcPts val="300"/>
              </a:spcAft>
            </a:pPr>
            <a:r>
              <a:rPr sz="1400" b="0">
                <a:solidFill>
                  <a:srgbClr val="1F2A3A"/>
                </a:solidFill>
                <a:latin typeface="맑은 고딕"/>
                <a:ea typeface="맑은 고딕"/>
                <a:cs typeface="맑은 고딕"/>
              </a:rPr>
              <a:t>추천에 승인 역할이 붙어 있는가</a:t>
            </a:r>
          </a:p>
          <a:p>
            <a:pPr algn="l">
              <a:lnSpc>
                <a:spcPct val="110000"/>
              </a:lnSpc>
              <a:spcAft>
                <a:spcPts val="300"/>
              </a:spcAft>
            </a:pPr>
            <a:r>
              <a:rPr sz="1400" b="0">
                <a:solidFill>
                  <a:srgbClr val="1F2A3A"/>
                </a:solidFill>
                <a:latin typeface="맑은 고딕"/>
                <a:ea typeface="맑은 고딕"/>
                <a:cs typeface="맑은 고딕"/>
              </a:rPr>
              <a:t>추천에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어겼을 때</a:t>
            </a:r>
          </a:p>
          <a:p>
            <a:pPr algn="l">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추천안은 제출되지 않고 담당자의 승인 화면에 올라가지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가드레일의 통과와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관문.svg" descr="illust_543501808850479031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가드레일</a:t>
            </a:r>
          </a:p>
          <a:p>
            <a:pPr algn="ctr">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a:t>
            </a:r>
          </a:p>
          <a:p>
            <a:pPr algn="ctr">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제출되지 않는다</a:t>
            </a:r>
          </a:p>
          <a:p>
            <a:pPr algn="ctr">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AI의 검토</a:t>
            </a:r>
          </a:p>
          <a:p>
            <a:pPr algn="ctr">
              <a:lnSpc>
                <a:spcPct val="110000"/>
              </a:lnSpc>
              <a:spcAft>
                <a:spcPts val="100"/>
              </a:spcAft>
            </a:pPr>
            <a:r>
              <a:rPr sz="1300" b="0">
                <a:solidFill>
                  <a:srgbClr val="556175"/>
                </a:solidFill>
                <a:latin typeface="맑은 고딕"/>
                <a:ea typeface="맑은 고딕"/>
                <a:cs typeface="맑은 고딕"/>
              </a:rPr>
              <a:t>에이전트의 자기 검토와</a:t>
            </a:r>
          </a:p>
          <a:p>
            <a:pPr algn="ctr">
              <a:lnSpc>
                <a:spcPct val="110000"/>
              </a:lnSpc>
              <a:spcAft>
                <a:spcPts val="100"/>
              </a:spcAft>
            </a:pPr>
            <a:r>
              <a:rPr sz="1300" b="0">
                <a:solidFill>
                  <a:srgbClr val="556175"/>
                </a:solidFill>
                <a:latin typeface="맑은 고딕"/>
                <a:ea typeface="맑은 고딕"/>
                <a:cs typeface="맑은 고딕"/>
              </a:rPr>
              <a:t>다른 에이전트의 검토도</a:t>
            </a:r>
          </a:p>
          <a:p>
            <a:pPr algn="ctr">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추천안에서 결정 기록까지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 승인과 거절, 결정 기록, 질문, 닫기의 다섯 자리가 에이전트의 일과 사람의 책임을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가드레일</a:t>
            </a:r>
          </a:p>
          <a:p>
            <a:pPr algn="ctr">
              <a:lnSpc>
                <a:spcPct val="110000"/>
              </a:lnSpc>
              <a:spcAft>
                <a:spcPts val="400"/>
              </a:spcAft>
            </a:pPr>
            <a:r>
              <a:rPr sz="1250" b="0">
                <a:solidFill>
                  <a:srgbClr val="1F2A3A"/>
                </a:solidFill>
                <a:latin typeface="맑은 고딕"/>
                <a:ea typeface="맑은 고딕"/>
                <a:cs typeface="맑은 고딕"/>
              </a:rPr>
              <a:t>규칙을 어긴 추천안은</a:t>
            </a:r>
          </a:p>
          <a:p>
            <a:pPr algn="ctr">
              <a:lnSpc>
                <a:spcPct val="110000"/>
              </a:lnSpc>
              <a:spcAft>
                <a:spcPts val="400"/>
              </a:spcAft>
            </a:pPr>
            <a:r>
              <a:rPr sz="1250" b="0">
                <a:solidFill>
                  <a:srgbClr val="1F2A3A"/>
                </a:solidFill>
                <a:latin typeface="맑은 고딕"/>
                <a:ea typeface="맑은 고딕"/>
                <a:cs typeface="맑은 고딕"/>
              </a:rPr>
              <a:t>올라가지 않는다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906141"/>
            <a:ext cx="731520" cy="731520"/>
          </a:xfrm>
          <a:prstGeom prst="ellipse">
            <a:avLst/>
          </a:prstGeom>
          <a:solidFill>
            <a:srgbClr val="5CB8F2"/>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승인과 거절</a:t>
            </a:r>
          </a:p>
          <a:p>
            <a:pPr algn="ctr">
              <a:lnSpc>
                <a:spcPct val="110000"/>
              </a:lnSpc>
              <a:spcAft>
                <a:spcPts val="400"/>
              </a:spcAft>
            </a:pPr>
            <a:r>
              <a:rPr sz="1250" b="0">
                <a:solidFill>
                  <a:srgbClr val="1F2A3A"/>
                </a:solidFill>
                <a:latin typeface="맑은 고딕"/>
                <a:ea typeface="맑은 고딕"/>
                <a:cs typeface="맑은 고딕"/>
              </a:rPr>
              <a:t>승인 역할의 담당자가</a:t>
            </a:r>
          </a:p>
          <a:p>
            <a:pPr algn="ctr">
              <a:lnSpc>
                <a:spcPct val="110000"/>
              </a:lnSpc>
              <a:spcAft>
                <a:spcPts val="400"/>
              </a:spcAft>
            </a:pPr>
            <a:r>
              <a:rPr sz="1250" b="0">
                <a:solidFill>
                  <a:srgbClr val="1F2A3A"/>
                </a:solidFill>
                <a:latin typeface="맑은 고딕"/>
                <a:ea typeface="맑은 고딕"/>
                <a:cs typeface="맑은 고딕"/>
              </a:rPr>
              <a:t>결정한다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906141"/>
            <a:ext cx="731520" cy="731520"/>
          </a:xfrm>
          <a:prstGeom prst="ellipse">
            <a:avLst/>
          </a:prstGeom>
          <a:solidFill>
            <a:srgbClr val="FFFFFF"/>
          </a:solidFill>
          <a:ln>
            <a:noFill/>
          </a:ln>
        </p:spPr>
        <p:txBody>
          <a:bodyPr rtlCol="0" anchor="ctr"/>
          <a:lstStyle/>
          <a:p>
            <a:pPr algn="ctr"/>
          </a:p>
        </p:txBody>
      </p:sp>
      <p:pic>
        <p:nvPicPr>
          <p:cNvPr id="18" name="아이콘:id" descr="id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결정 기록</a:t>
            </a:r>
          </a:p>
          <a:p>
            <a:pPr algn="ctr">
              <a:lnSpc>
                <a:spcPct val="110000"/>
              </a:lnSpc>
              <a:spcAft>
                <a:spcPts val="400"/>
              </a:spcAft>
            </a:pPr>
            <a:r>
              <a:rPr sz="1250" b="0">
                <a:solidFill>
                  <a:srgbClr val="1F2A3A"/>
                </a:solidFill>
                <a:latin typeface="맑은 고딕"/>
                <a:ea typeface="맑은 고딕"/>
                <a:cs typeface="맑은 고딕"/>
              </a:rPr>
              <a:t>누가 무엇을</a:t>
            </a:r>
          </a:p>
          <a:p>
            <a:pPr algn="ctr">
              <a:lnSpc>
                <a:spcPct val="110000"/>
              </a:lnSpc>
              <a:spcAft>
                <a:spcPts val="400"/>
              </a:spcAft>
            </a:pPr>
            <a:r>
              <a:rPr sz="1250" b="0">
                <a:solidFill>
                  <a:srgbClr val="1F2A3A"/>
                </a:solidFill>
                <a:latin typeface="맑은 고딕"/>
                <a:ea typeface="맑은 고딕"/>
                <a:cs typeface="맑은 고딕"/>
              </a:rPr>
              <a:t>승인했는지 남는다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message-question" descr="message-question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질문</a:t>
            </a:r>
          </a:p>
          <a:p>
            <a:pPr algn="ctr">
              <a:lnSpc>
                <a:spcPct val="110000"/>
              </a:lnSpc>
              <a:spcAft>
                <a:spcPts val="400"/>
              </a:spcAft>
            </a:pPr>
            <a:r>
              <a:rPr sz="1250" b="0">
                <a:solidFill>
                  <a:srgbClr val="1F2A3A"/>
                </a:solidFill>
                <a:latin typeface="맑은 고딕"/>
                <a:ea typeface="맑은 고딕"/>
                <a:cs typeface="맑은 고딕"/>
              </a:rPr>
              <a:t>모자란 업무 정보를</a:t>
            </a:r>
          </a:p>
          <a:p>
            <a:pPr algn="ctr">
              <a:lnSpc>
                <a:spcPct val="110000"/>
              </a:lnSpc>
              <a:spcAft>
                <a:spcPts val="400"/>
              </a:spcAft>
            </a:pPr>
            <a:r>
              <a:rPr sz="1250" b="0">
                <a:solidFill>
                  <a:srgbClr val="1F2A3A"/>
                </a:solidFill>
                <a:latin typeface="맑은 고딕"/>
                <a:ea typeface="맑은 고딕"/>
                <a:cs typeface="맑은 고딕"/>
              </a:rPr>
              <a:t>묻고 이어 간다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player-stop" descr="player-stop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닫기</a:t>
            </a:r>
          </a:p>
          <a:p>
            <a:pPr algn="ctr">
              <a:lnSpc>
                <a:spcPct val="110000"/>
              </a:lnSpc>
              <a:spcAft>
                <a:spcPts val="400"/>
              </a:spcAft>
            </a:pPr>
            <a:r>
              <a:rPr sz="1250" b="0">
                <a:solidFill>
                  <a:srgbClr val="1F2A3A"/>
                </a:solidFill>
                <a:latin typeface="맑은 고딕"/>
                <a:ea typeface="맑은 고딕"/>
                <a:cs typeface="맑은 고딕"/>
              </a:rPr>
              <a:t>멈춘 작업을</a:t>
            </a:r>
          </a:p>
          <a:p>
            <a:pPr algn="ctr">
              <a:lnSpc>
                <a:spcPct val="110000"/>
              </a:lnSpc>
              <a:spcAft>
                <a:spcPts val="400"/>
              </a:spcAft>
            </a:pPr>
            <a:r>
              <a:rPr sz="1250" b="0">
                <a:solidFill>
                  <a:srgbClr val="1F2A3A"/>
                </a:solidFill>
                <a:latin typeface="맑은 고딕"/>
                <a:ea typeface="맑은 고딕"/>
                <a:cs typeface="맑은 고딕"/>
              </a:rPr>
              <a:t>사유와 함께 닫는다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승인과 거절이 처리 결과를 바꾸는 과정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포털의 승인 대기 건에서 역할을 확인하고 승인과 거절이 남기는 결과를 견준다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결정하는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내린 승인 또는 거절 한 건과, 그 결정이 처리 건의 상태를 바꾼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 건을 읽는다</a:t>
            </a:r>
          </a:p>
          <a:p>
            <a:pPr algn="l">
              <a:lnSpc>
                <a:spcPct val="110000"/>
              </a:lnSpc>
              <a:spcAft>
                <a:spcPts val="400"/>
              </a:spcAft>
            </a:pPr>
            <a:r>
              <a:rPr sz="1400" b="0">
                <a:solidFill>
                  <a:srgbClr val="1F2A3A"/>
                </a:solidFill>
                <a:latin typeface="맑은 고딕"/>
                <a:ea typeface="맑은 고딕"/>
                <a:cs typeface="맑은 고딕"/>
              </a:rPr>
              <a:t>올라온 추천안과 그 조치의 승인 역할을 확인한다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결정한다</a:t>
            </a:r>
          </a:p>
          <a:p>
            <a:pPr algn="l">
              <a:lnSpc>
                <a:spcPct val="110000"/>
              </a:lnSpc>
              <a:spcAft>
                <a:spcPts val="400"/>
              </a:spcAft>
            </a:pPr>
            <a:r>
              <a:rPr sz="1400" b="0">
                <a:solidFill>
                  <a:srgbClr val="1F2A3A"/>
                </a:solidFill>
                <a:latin typeface="맑은 고딕"/>
                <a:ea typeface="맑은 고딕"/>
                <a:cs typeface="맑은 고딕"/>
              </a:rPr>
              <a:t>권한이 있는 역할로 승인하거나 사유를 적어 거절한다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결과를 견준다</a:t>
            </a:r>
          </a:p>
          <a:p>
            <a:pPr algn="l">
              <a:lnSpc>
                <a:spcPct val="110000"/>
              </a:lnSpc>
              <a:spcAft>
                <a:spcPts val="400"/>
              </a:spcAft>
            </a:pPr>
            <a:r>
              <a:rPr sz="1400" b="0">
                <a:solidFill>
                  <a:srgbClr val="1F2A3A"/>
                </a:solidFill>
                <a:latin typeface="맑은 고딕"/>
                <a:ea typeface="맑은 고딕"/>
                <a:cs typeface="맑은 고딕"/>
              </a:rPr>
              <a:t>• 승인과 거절이 처리 건의 상태를 어떻게 바꾸었는지 처리 기록에서 읽는다</a:t>
            </a:r>
          </a:p>
          <a:p>
            <a:pPr algn="l">
              <a:lnSpc>
                <a:spcPct val="110000"/>
              </a:lnSpc>
              <a:spcAft>
                <a:spcPts val="400"/>
              </a:spcAft>
            </a:pPr>
            <a:r>
              <a:rPr sz="1400" b="0">
                <a:solidFill>
                  <a:srgbClr val="1F2A3A"/>
                </a:solidFill>
                <a:latin typeface="맑은 고딕"/>
                <a:ea typeface="맑은 고딕"/>
                <a:cs typeface="맑은 고딕"/>
              </a:rPr>
              <a:t>• 권한이 없는 역할의 승인이 받아들여지지 않는 것을 확인한다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정보가 부족하면 질문하고</a:t>
            </a:r>
          </a:p>
          <a:p>
            <a:pPr algn="l">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4일차에 만든 에이전트가 빠진 정보를 확정하지 않고 보류한 채 묻고, 답을 받아 업무를 재개하도록 고친다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동작과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빠진 정보를 묻는 확인 질문과, 답변을 반영해 재개한 결과와, 그 전후의 상태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x" descr="file-x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요청을 넣는다</a:t>
            </a:r>
          </a:p>
          <a:p>
            <a:pPr algn="ctr">
              <a:lnSpc>
                <a:spcPct val="110000"/>
              </a:lnSpc>
              <a:spcAft>
                <a:spcPts val="400"/>
              </a:spcAft>
            </a:pPr>
            <a:r>
              <a:rPr sz="1350" b="0">
                <a:solidFill>
                  <a:srgbClr val="1F2A3A"/>
                </a:solidFill>
                <a:latin typeface="맑은 고딕"/>
                <a:ea typeface="맑은 고딕"/>
                <a:cs typeface="맑은 고딕"/>
              </a:rPr>
              <a:t>부품 수량, 긴급 사유,</a:t>
            </a:r>
          </a:p>
          <a:p>
            <a:pPr algn="ctr">
              <a:lnSpc>
                <a:spcPct val="110000"/>
              </a:lnSpc>
              <a:spcAft>
                <a:spcPts val="400"/>
              </a:spcAft>
            </a:pPr>
            <a:r>
              <a:rPr sz="1350" b="0">
                <a:solidFill>
                  <a:srgbClr val="1F2A3A"/>
                </a:solidFill>
                <a:latin typeface="맑은 고딕"/>
                <a:ea typeface="맑은 고딕"/>
                <a:cs typeface="맑은 고딕"/>
              </a:rPr>
              <a:t>승인권자가 빠진</a:t>
            </a:r>
          </a:p>
          <a:p>
            <a:pPr algn="ctr">
              <a:lnSpc>
                <a:spcPct val="110000"/>
              </a:lnSpc>
              <a:spcAft>
                <a:spcPts val="400"/>
              </a:spcAft>
            </a:pPr>
            <a:r>
              <a:rPr sz="1350" b="0">
                <a:solidFill>
                  <a:srgbClr val="1F2A3A"/>
                </a:solidFill>
                <a:latin typeface="맑은 고딕"/>
                <a:ea typeface="맑은 고딕"/>
                <a:cs typeface="맑은 고딕"/>
              </a:rPr>
              <a:t>요청을 준다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보류하고 질문한다</a:t>
            </a:r>
          </a:p>
          <a:p>
            <a:pPr algn="ctr">
              <a:lnSpc>
                <a:spcPct val="110000"/>
              </a:lnSpc>
              <a:spcAft>
                <a:spcPts val="400"/>
              </a:spcAft>
            </a:pPr>
            <a:r>
              <a:rPr sz="1350" b="0">
                <a:solidFill>
                  <a:srgbClr val="1F2A3A"/>
                </a:solidFill>
                <a:latin typeface="맑은 고딕"/>
                <a:ea typeface="맑은 고딕"/>
                <a:cs typeface="맑은 고딕"/>
              </a:rPr>
              <a:t>빠진 값을 확정하지 않고</a:t>
            </a:r>
          </a:p>
          <a:p>
            <a:pPr algn="ctr">
              <a:lnSpc>
                <a:spcPct val="110000"/>
              </a:lnSpc>
              <a:spcAft>
                <a:spcPts val="400"/>
              </a:spcAft>
            </a:pPr>
            <a:r>
              <a:rPr sz="1350" b="0">
                <a:solidFill>
                  <a:srgbClr val="1F2A3A"/>
                </a:solidFill>
                <a:latin typeface="맑은 고딕"/>
                <a:ea typeface="맑은 고딕"/>
                <a:cs typeface="맑은 고딕"/>
              </a:rPr>
              <a:t>보류한 채 확인 질문을 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업무를 재개한다</a:t>
            </a:r>
          </a:p>
          <a:p>
            <a:pPr algn="ctr">
              <a:lnSpc>
                <a:spcPct val="110000"/>
              </a:lnSpc>
              <a:spcAft>
                <a:spcPts val="400"/>
              </a:spcAft>
            </a:pPr>
            <a:r>
              <a:rPr sz="1350" b="0">
                <a:solidFill>
                  <a:srgbClr val="1F2A3A"/>
                </a:solidFill>
                <a:latin typeface="맑은 고딕"/>
                <a:ea typeface="맑은 고딕"/>
                <a:cs typeface="맑은 고딕"/>
              </a:rPr>
              <a:t>추가 답변을 반영해</a:t>
            </a:r>
          </a:p>
          <a:p>
            <a:pPr algn="ctr">
              <a:lnSpc>
                <a:spcPct val="110000"/>
              </a:lnSpc>
              <a:spcAft>
                <a:spcPts val="400"/>
              </a:spcAft>
            </a:pPr>
            <a:r>
              <a:rPr sz="1350" b="0">
                <a:solidFill>
                  <a:srgbClr val="1F2A3A"/>
                </a:solidFill>
                <a:latin typeface="맑은 고딕"/>
                <a:ea typeface="맑은 고딕"/>
                <a:cs typeface="맑은 고딕"/>
              </a:rPr>
              <a:t>같은 요청을</a:t>
            </a:r>
          </a:p>
          <a:p>
            <a:pPr algn="ctr">
              <a:lnSpc>
                <a:spcPct val="110000"/>
              </a:lnSpc>
              <a:spcAft>
                <a:spcPts val="400"/>
              </a:spcAft>
            </a:pPr>
            <a:r>
              <a:rPr sz="1350" b="0">
                <a:solidFill>
                  <a:srgbClr val="1F2A3A"/>
                </a:solidFill>
                <a:latin typeface="맑은 고딕"/>
                <a:ea typeface="맑은 고딕"/>
                <a:cs typeface="맑은 고딕"/>
              </a:rPr>
              <a:t>다시 처리한다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전후를 기록한다</a:t>
            </a:r>
          </a:p>
          <a:p>
            <a:pPr algn="ctr">
              <a:lnSpc>
                <a:spcPct val="110000"/>
              </a:lnSpc>
              <a:spcAft>
                <a:spcPts val="400"/>
              </a:spcAft>
            </a:pPr>
            <a:r>
              <a:rPr sz="1350" b="0">
                <a:solidFill>
                  <a:srgbClr val="1F2A3A"/>
                </a:solidFill>
                <a:latin typeface="맑은 고딕"/>
                <a:ea typeface="맑은 고딕"/>
                <a:cs typeface="맑은 고딕"/>
              </a:rPr>
              <a:t>질문 전과 답변 후의</a:t>
            </a:r>
          </a:p>
          <a:p>
            <a:pPr algn="ctr">
              <a:lnSpc>
                <a:spcPct val="110000"/>
              </a:lnSpc>
              <a:spcAft>
                <a:spcPts val="400"/>
              </a:spcAft>
            </a:pPr>
            <a:r>
              <a:rPr sz="1350" b="0">
                <a:solidFill>
                  <a:srgbClr val="1F2A3A"/>
                </a:solidFill>
                <a:latin typeface="맑은 고딕"/>
                <a:ea typeface="맑은 고딕"/>
                <a:cs typeface="맑은 고딕"/>
              </a:rPr>
              <a:t>상태를 남긴다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명세 주도 개발:</a:t>
            </a:r>
          </a:p>
          <a:p>
            <a:pPr algn="l">
              <a:lnSpc>
                <a:spcPct val="110000"/>
              </a:lnSpc>
            </a:pPr>
            <a:r>
              <a:rPr sz="3400" b="1">
                <a:solidFill>
                  <a:srgbClr val="13294B"/>
                </a:solidFill>
                <a:latin typeface="맑은 고딕"/>
                <a:ea typeface="맑은 고딕"/>
                <a:cs typeface="맑은 고딕"/>
              </a:rPr>
              <a:t>요구사항 변경과 기존 기능의 보존</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에이전트를 고칠 때 달라지는 것과 지킬 것을 구현 전에 정하는 방법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「긴급한 경보는 빨리</a:t>
            </a:r>
          </a:p>
          <a:p>
            <a:pPr algn="ctr">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긴급의 기준</a:t>
            </a:r>
          </a:p>
          <a:p>
            <a:pPr algn="l">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빨라지는 방법</a:t>
            </a:r>
          </a:p>
          <a:p>
            <a:pPr algn="l">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그대로 둘 것</a:t>
            </a:r>
          </a:p>
          <a:p>
            <a:pPr algn="l">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바이브 코딩: 자연어 요청으로 구현을 맡기는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바이브 코딩은 명세 없이 자연어 요청만으로 AI에게 구현을 맡기는 방식이어서, 요청에 없는 부분은 AI가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바이브 코딩</a:t>
            </a:r>
          </a:p>
          <a:p>
            <a:pPr algn="l">
              <a:lnSpc>
                <a:spcPct val="110000"/>
              </a:lnSpc>
              <a:spcAft>
                <a:spcPts val="200"/>
              </a:spcAft>
            </a:pPr>
            <a:r>
              <a:rPr sz="1150" b="0">
                <a:solidFill>
                  <a:srgbClr val="556175"/>
                </a:solidFill>
                <a:latin typeface="맑은 고딕"/>
                <a:ea typeface="맑은 고딕"/>
                <a:cs typeface="맑은 고딕"/>
              </a:rPr>
              <a:t>Vibe Coding</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상세한 명세 없이 자연어로 요청하고, AI가 쓴 코드를 실행해 보며 고쳐 가는 개발 방식이다.</a:t>
            </a:r>
          </a:p>
          <a:p>
            <a:pPr algn="l">
              <a:lnSpc>
                <a:spcPct val="110000"/>
              </a:lnSpc>
              <a:spcAft>
                <a:spcPts val="300"/>
              </a:spcAft>
            </a:pPr>
            <a:r>
              <a:rPr sz="1400" b="0">
                <a:solidFill>
                  <a:srgbClr val="1F2A3A"/>
                </a:solidFill>
                <a:latin typeface="맑은 고딕"/>
                <a:ea typeface="맑은 고딕"/>
                <a:cs typeface="맑은 고딕"/>
              </a:rPr>
              <a:t>시작이 빨라 시제품이나 작은 도구를 만드는 데 알맞다.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요청에 없는 부분</a:t>
            </a:r>
          </a:p>
          <a:p>
            <a:pPr algn="l">
              <a:lnSpc>
                <a:spcPct val="110000"/>
              </a:lnSpc>
              <a:spcAft>
                <a:spcPts val="200"/>
              </a:spcAft>
            </a:pPr>
            <a:r>
              <a:rPr sz="1150" b="0">
                <a:solidFill>
                  <a:srgbClr val="556175"/>
                </a:solidFill>
                <a:latin typeface="맑은 고딕"/>
                <a:ea typeface="맑은 고딕"/>
                <a:cs typeface="맑은 고딕"/>
              </a:rPr>
              <a:t>AI가 채운다</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출력의 형식, 예외의 처리, 기존 기능의 보존처럼 요청에 적지 않은 것은 AI가 그 자리에서 정한다.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세해석.svg" descr="illust_604957887399239429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요청</a:t>
            </a:r>
          </a:p>
          <a:p>
            <a:pPr algn="ctr">
              <a:lnSpc>
                <a:spcPct val="110000"/>
              </a:lnSpc>
              <a:spcAft>
                <a:spcPts val="100"/>
              </a:spcAft>
            </a:pPr>
            <a:r>
              <a:rPr sz="1300" b="0">
                <a:solidFill>
                  <a:srgbClr val="556175"/>
                </a:solidFill>
                <a:latin typeface="맑은 고딕"/>
                <a:ea typeface="맑은 고딕"/>
                <a:cs typeface="맑은 고딕"/>
              </a:rPr>
              <a:t>「긴급한 경보는 빨리</a:t>
            </a:r>
          </a:p>
          <a:p>
            <a:pPr algn="ctr">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형식</a:t>
            </a:r>
          </a:p>
          <a:p>
            <a:pPr algn="ctr">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조건</a:t>
            </a:r>
          </a:p>
          <a:p>
            <a:pPr algn="ctr">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기존 요청의 처리</a:t>
            </a:r>
          </a:p>
          <a:p>
            <a:pPr algn="ctr">
              <a:lnSpc>
                <a:spcPct val="110000"/>
              </a:lnSpc>
              <a:spcAft>
                <a:spcPts val="100"/>
              </a:spcAft>
            </a:pPr>
            <a:r>
              <a:rPr sz="1300" b="0">
                <a:solidFill>
                  <a:srgbClr val="556175"/>
                </a:solidFill>
                <a:latin typeface="맑은 고딕"/>
                <a:ea typeface="맑은 고딕"/>
                <a:cs typeface="맑은 고딕"/>
              </a:rPr>
              <a:t>긴급하지 않은 경보는</a:t>
            </a:r>
          </a:p>
          <a:p>
            <a:pPr algn="ctr">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기능만 실행해 본 확인이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뒤에 새 기능만 실행해 보는 확인으로는 기존 요청과 승인 조건이 달라졌는지가 드러나지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실행해 본 것</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긴급한 경보 한 건을 넣는다</a:t>
            </a:r>
          </a:p>
          <a:p>
            <a:pPr algn="l">
              <a:lnSpc>
                <a:spcPct val="110000"/>
              </a:lnSpc>
              <a:spcAft>
                <a:spcPts val="600"/>
              </a:spcAft>
            </a:pPr>
            <a:r>
              <a:rPr sz="1450" b="0">
                <a:solidFill>
                  <a:srgbClr val="1F2A3A"/>
                </a:solidFill>
                <a:latin typeface="맑은 고딕"/>
                <a:ea typeface="맑은 고딕"/>
                <a:cs typeface="맑은 고딕"/>
              </a:rPr>
              <a:t>• 추천안이 나오고 긴급하다는 표시도 보인다</a:t>
            </a:r>
          </a:p>
          <a:p>
            <a:pPr algn="l">
              <a:lnSpc>
                <a:spcPct val="110000"/>
              </a:lnSpc>
              <a:spcAft>
                <a:spcPts val="600"/>
              </a:spcAft>
            </a:pPr>
            <a:r>
              <a:rPr sz="1450" b="0">
                <a:solidFill>
                  <a:srgbClr val="1F2A3A"/>
                </a:solidFill>
                <a:latin typeface="맑은 고딕"/>
                <a:ea typeface="맑은 고딕"/>
                <a:cs typeface="맑은 고딕"/>
              </a:rPr>
              <a:t>• 요청한 기능은 된 것으로 보인다</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 기능</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eye-off" descr="eye-off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실행해 보지 않은 것</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긴급하지 않은 경보의 결과 항목이 이전과 같은가</a:t>
            </a:r>
          </a:p>
          <a:p>
            <a:pPr algn="l">
              <a:lnSpc>
                <a:spcPct val="110000"/>
              </a:lnSpc>
              <a:spcAft>
                <a:spcPts val="600"/>
              </a:spcAft>
            </a:pPr>
            <a:r>
              <a:rPr sz="1450" b="0">
                <a:solidFill>
                  <a:srgbClr val="1F2A3A"/>
                </a:solidFill>
                <a:latin typeface="맑은 고딕"/>
                <a:ea typeface="맑은 고딕"/>
                <a:cs typeface="맑은 고딕"/>
              </a:rPr>
              <a:t>• 추천안이 여전히 승인을 기다리는가</a:t>
            </a:r>
          </a:p>
          <a:p>
            <a:pPr algn="l">
              <a:lnSpc>
                <a:spcPct val="110000"/>
              </a:lnSpc>
              <a:spcAft>
                <a:spcPts val="600"/>
              </a:spcAft>
            </a:pPr>
            <a:r>
              <a:rPr sz="1450" b="0">
                <a:solidFill>
                  <a:srgbClr val="1F2A3A"/>
                </a:solidFill>
                <a:latin typeface="맑은 고딕"/>
                <a:ea typeface="맑은 고딕"/>
                <a:cs typeface="맑은 고딕"/>
              </a:rPr>
              <a:t>• 하지 않기로 한 일을 여전히 하지 않는가</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기능</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항목의 이름이 바뀌었을 때 뒤 단계에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결과 항목은 형식 검사와 승인 화면과 뒤 단계가 이름으로 읽어, 이름 하나의 변경이 그 뒤의 단계를 함께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ectangle 5"/>
          <p:cNvSpPr/>
          <p:nvPr/>
        </p:nvSpPr>
        <p:spPr>
          <a:xfrm>
            <a:off x="1935441" y="3566096"/>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341081"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braces" descr="braces_13294B_1.6.png"/>
          <p:cNvPicPr>
            <a:picLocks noChangeAspect="1"/>
          </p:cNvPicPr>
          <p:nvPr/>
        </p:nvPicPr>
        <p:blipFill>
          <a:blip r:embed="rId3"/>
          <a:stretch>
            <a:fillRect/>
          </a:stretch>
        </p:blipFill>
        <p:spPr>
          <a:xfrm>
            <a:off x="1626374" y="3330181"/>
            <a:ext cx="618134" cy="618134"/>
          </a:xfrm>
          <a:prstGeom prst="rect">
            <a:avLst/>
          </a:prstGeom>
        </p:spPr>
      </p:pic>
      <p:sp>
        <p:nvSpPr>
          <p:cNvPr id="10" name="TextBox 9"/>
          <p:cNvSpPr txBox="1"/>
          <p:nvPr/>
        </p:nvSpPr>
        <p:spPr>
          <a:xfrm>
            <a:off x="640079"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결과 객체</a:t>
            </a:r>
          </a:p>
          <a:p>
            <a:pPr algn="ctr">
              <a:lnSpc>
                <a:spcPct val="110000"/>
              </a:lnSpc>
              <a:spcAft>
                <a:spcPts val="400"/>
              </a:spcAft>
            </a:pPr>
            <a:r>
              <a:rPr sz="1300" b="0">
                <a:solidFill>
                  <a:srgbClr val="1F2A3A"/>
                </a:solidFill>
                <a:latin typeface="맑은 고딕"/>
                <a:ea typeface="맑은 고딕"/>
                <a:cs typeface="맑은 고딕"/>
              </a:rPr>
              <a:t>에이전트가 낸</a:t>
            </a:r>
          </a:p>
          <a:p>
            <a:pPr algn="ctr">
              <a:lnSpc>
                <a:spcPct val="110000"/>
              </a:lnSpc>
              <a:spcAft>
                <a:spcPts val="400"/>
              </a:spcAft>
            </a:pPr>
            <a:r>
              <a:rPr sz="1300" b="0">
                <a:solidFill>
                  <a:srgbClr val="1F2A3A"/>
                </a:solidFill>
                <a:latin typeface="맑은 고딕"/>
                <a:ea typeface="맑은 고딕"/>
                <a:cs typeface="맑은 고딕"/>
              </a:rPr>
              <a:t>다섯 항목</a:t>
            </a:r>
          </a:p>
        </p:txBody>
      </p:sp>
      <p:sp>
        <p:nvSpPr>
          <p:cNvPr id="11" name="Chevron 10"/>
          <p:cNvSpPr/>
          <p:nvPr/>
        </p:nvSpPr>
        <p:spPr>
          <a:xfrm>
            <a:off x="5976975"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4114685"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399978" y="3330181"/>
            <a:ext cx="618134" cy="618134"/>
          </a:xfrm>
          <a:prstGeom prst="rect">
            <a:avLst/>
          </a:prstGeom>
        </p:spPr>
      </p:pic>
      <p:sp>
        <p:nvSpPr>
          <p:cNvPr id="14" name="TextBox 13"/>
          <p:cNvSpPr txBox="1"/>
          <p:nvPr/>
        </p:nvSpPr>
        <p:spPr>
          <a:xfrm>
            <a:off x="3413683"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형식 검사</a:t>
            </a:r>
          </a:p>
          <a:p>
            <a:pPr algn="ctr">
              <a:lnSpc>
                <a:spcPct val="110000"/>
              </a:lnSpc>
              <a:spcAft>
                <a:spcPts val="400"/>
              </a:spcAft>
            </a:pPr>
            <a:r>
              <a:rPr sz="1300" b="0">
                <a:solidFill>
                  <a:srgbClr val="1F2A3A"/>
                </a:solidFill>
                <a:latin typeface="맑은 고딕"/>
                <a:ea typeface="맑은 고딕"/>
                <a:cs typeface="맑은 고딕"/>
              </a:rPr>
              <a:t>정해진 이름의 항목이</a:t>
            </a:r>
          </a:p>
          <a:p>
            <a:pPr algn="ctr">
              <a:lnSpc>
                <a:spcPct val="110000"/>
              </a:lnSpc>
              <a:spcAft>
                <a:spcPts val="400"/>
              </a:spcAft>
            </a:pPr>
            <a:r>
              <a:rPr sz="1300" b="0">
                <a:solidFill>
                  <a:srgbClr val="1F2A3A"/>
                </a:solidFill>
                <a:latin typeface="맑은 고딕"/>
                <a:ea typeface="맑은 고딕"/>
                <a:cs typeface="맑은 고딕"/>
              </a:rPr>
              <a:t>있는지 본다</a:t>
            </a:r>
          </a:p>
        </p:txBody>
      </p:sp>
      <p:sp>
        <p:nvSpPr>
          <p:cNvPr id="15" name="Chevron 14"/>
          <p:cNvSpPr/>
          <p:nvPr/>
        </p:nvSpPr>
        <p:spPr>
          <a:xfrm>
            <a:off x="8750579"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6888289"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7" name="아이콘:device-desktop" descr="device-desktop_13294B_1.6.png"/>
          <p:cNvPicPr>
            <a:picLocks noChangeAspect="1"/>
          </p:cNvPicPr>
          <p:nvPr/>
        </p:nvPicPr>
        <p:blipFill>
          <a:blip r:embed="rId5"/>
          <a:stretch>
            <a:fillRect/>
          </a:stretch>
        </p:blipFill>
        <p:spPr>
          <a:xfrm>
            <a:off x="7173582" y="3330181"/>
            <a:ext cx="618134" cy="618134"/>
          </a:xfrm>
          <a:prstGeom prst="rect">
            <a:avLst/>
          </a:prstGeom>
        </p:spPr>
      </p:pic>
      <p:sp>
        <p:nvSpPr>
          <p:cNvPr id="18" name="TextBox 17"/>
          <p:cNvSpPr txBox="1"/>
          <p:nvPr/>
        </p:nvSpPr>
        <p:spPr>
          <a:xfrm>
            <a:off x="6187287"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승인 화면</a:t>
            </a:r>
          </a:p>
          <a:p>
            <a:pPr algn="ctr">
              <a:lnSpc>
                <a:spcPct val="110000"/>
              </a:lnSpc>
              <a:spcAft>
                <a:spcPts val="400"/>
              </a:spcAft>
            </a:pPr>
            <a:r>
              <a:rPr sz="1300" b="0">
                <a:solidFill>
                  <a:srgbClr val="1F2A3A"/>
                </a:solidFill>
                <a:latin typeface="맑은 고딕"/>
                <a:ea typeface="맑은 고딕"/>
                <a:cs typeface="맑은 고딕"/>
              </a:rPr>
              <a:t>추천 항목을 이름으로</a:t>
            </a:r>
          </a:p>
          <a:p>
            <a:pPr algn="ctr">
              <a:lnSpc>
                <a:spcPct val="110000"/>
              </a:lnSpc>
              <a:spcAft>
                <a:spcPts val="400"/>
              </a:spcAft>
            </a:pPr>
            <a:r>
              <a:rPr sz="1300" b="0">
                <a:solidFill>
                  <a:srgbClr val="1F2A3A"/>
                </a:solidFill>
                <a:latin typeface="맑은 고딕"/>
                <a:ea typeface="맑은 고딕"/>
                <a:cs typeface="맑은 고딕"/>
              </a:rPr>
              <a:t>찾아 담당자에게 보인다</a:t>
            </a:r>
          </a:p>
        </p:txBody>
      </p:sp>
      <p:sp>
        <p:nvSpPr>
          <p:cNvPr id="19" name="Oval 18"/>
          <p:cNvSpPr/>
          <p:nvPr/>
        </p:nvSpPr>
        <p:spPr>
          <a:xfrm>
            <a:off x="9661893"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settings-automation" descr="settings-automation_13294B_1.6.png"/>
          <p:cNvPicPr>
            <a:picLocks noChangeAspect="1"/>
          </p:cNvPicPr>
          <p:nvPr/>
        </p:nvPicPr>
        <p:blipFill>
          <a:blip r:embed="rId6"/>
          <a:stretch>
            <a:fillRect/>
          </a:stretch>
        </p:blipFill>
        <p:spPr>
          <a:xfrm>
            <a:off x="9947186" y="3330181"/>
            <a:ext cx="618134" cy="618134"/>
          </a:xfrm>
          <a:prstGeom prst="rect">
            <a:avLst/>
          </a:prstGeom>
        </p:spPr>
      </p:pic>
      <p:sp>
        <p:nvSpPr>
          <p:cNvPr id="21" name="TextBox 20"/>
          <p:cNvSpPr txBox="1"/>
          <p:nvPr/>
        </p:nvSpPr>
        <p:spPr>
          <a:xfrm>
            <a:off x="8960891"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뒤 단계</a:t>
            </a:r>
          </a:p>
          <a:p>
            <a:pPr algn="ctr">
              <a:lnSpc>
                <a:spcPct val="110000"/>
              </a:lnSpc>
              <a:spcAft>
                <a:spcPts val="400"/>
              </a:spcAft>
            </a:pPr>
            <a:r>
              <a:rPr sz="1300" b="0">
                <a:solidFill>
                  <a:srgbClr val="1F2A3A"/>
                </a:solidFill>
                <a:latin typeface="맑은 고딕"/>
                <a:ea typeface="맑은 고딕"/>
                <a:cs typeface="맑은 고딕"/>
              </a:rPr>
              <a:t>판단 번호 항목으로</a:t>
            </a:r>
          </a:p>
          <a:p>
            <a:pPr algn="ctr">
              <a:lnSpc>
                <a:spcPct val="110000"/>
              </a:lnSpc>
              <a:spcAft>
                <a:spcPts val="400"/>
              </a:spcAft>
            </a:pPr>
            <a:r>
              <a:rPr sz="1300" b="0">
                <a:solidFill>
                  <a:srgbClr val="1F2A3A"/>
                </a:solidFill>
                <a:latin typeface="맑은 고딕"/>
                <a:ea typeface="맑은 고딕"/>
                <a:cs typeface="맑은 고딕"/>
              </a:rPr>
              <a:t>그 판단을 가리킨다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 명세 주도 개발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SDD</a:t>
            </a:r>
          </a:p>
          <a:p>
            <a:pPr algn="l">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a:lnSpc>
                <a:spcPct val="110000"/>
              </a:lnSpc>
              <a:spcAft>
                <a:spcPts val="300"/>
              </a:spcAft>
            </a:pPr>
            <a:r>
              <a:rPr sz="14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명세</a:t>
            </a:r>
          </a:p>
          <a:p>
            <a:pPr algn="l">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놓이는 곳</a:t>
            </a:r>
          </a:p>
          <a:p>
            <a:pPr algn="l">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요청에서 코드까지의 순서: 바이브 코딩과 SDD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바이브 코딩은 요청에서 곧바로 코드로 가고, SDD는 요청을 명세로 옮긴 다음에 코드로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olt" descr="bol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바이브 코딩</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요청 한 문장을 그대로 AI에게 준다</a:t>
            </a:r>
          </a:p>
          <a:p>
            <a:pPr algn="l">
              <a:lnSpc>
                <a:spcPct val="110000"/>
              </a:lnSpc>
              <a:spcAft>
                <a:spcPts val="600"/>
              </a:spcAft>
            </a:pPr>
            <a:r>
              <a:rPr sz="1450" b="0">
                <a:solidFill>
                  <a:srgbClr val="1F2A3A"/>
                </a:solidFill>
                <a:latin typeface="맑은 고딕"/>
                <a:ea typeface="맑은 고딕"/>
                <a:cs typeface="맑은 고딕"/>
              </a:rPr>
              <a:t>• 해석은 AI가 그때그때 정한다</a:t>
            </a:r>
          </a:p>
          <a:p>
            <a:pPr algn="l">
              <a:lnSpc>
                <a:spcPct val="110000"/>
              </a:lnSpc>
              <a:spcAft>
                <a:spcPts val="600"/>
              </a:spcAft>
            </a:pPr>
            <a:r>
              <a:rPr sz="1450" b="0">
                <a:solidFill>
                  <a:srgbClr val="1F2A3A"/>
                </a:solidFill>
                <a:latin typeface="맑은 고딕"/>
                <a:ea typeface="맑은 고딕"/>
                <a:cs typeface="맑은 고딕"/>
              </a:rPr>
              <a:t>• 실행해 보고 마음에 들지 않으면 다시 요청한다</a:t>
            </a:r>
          </a:p>
          <a:p>
            <a:pPr algn="l">
              <a:lnSpc>
                <a:spcPct val="110000"/>
              </a:lnSpc>
              <a:spcAft>
                <a:spcPts val="600"/>
              </a:spcAft>
            </a:pPr>
            <a:r>
              <a:rPr sz="1450" b="0">
                <a:solidFill>
                  <a:srgbClr val="1F2A3A"/>
                </a:solidFill>
                <a:latin typeface="맑은 고딕"/>
                <a:ea typeface="맑은 고딕"/>
                <a:cs typeface="맑은 고딕"/>
              </a:rPr>
              <a:t>• 무엇이 그대로여야 하는지는 어디에도 남지 않는다</a:t>
            </a:r>
          </a:p>
        </p:txBody>
      </p:sp>
      <p:sp>
        <p:nvSpPr>
          <p:cNvPr id="11" name="Rounded Rectangle 10"/>
          <p:cNvSpPr/>
          <p:nvPr/>
        </p:nvSpPr>
        <p:spPr>
          <a:xfrm>
            <a:off x="868680" y="5096002"/>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요청 → 코드</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요청을 받으면 명세부터 고친다</a:t>
            </a:r>
          </a:p>
          <a:p>
            <a:pPr algn="l">
              <a:lnSpc>
                <a:spcPct val="110000"/>
              </a:lnSpc>
              <a:spcAft>
                <a:spcPts val="600"/>
              </a:spcAft>
            </a:pPr>
            <a:r>
              <a:rPr sz="1450" b="0">
                <a:solidFill>
                  <a:srgbClr val="1F2A3A"/>
                </a:solidFill>
                <a:latin typeface="맑은 고딕"/>
                <a:ea typeface="맑은 고딕"/>
                <a:cs typeface="맑은 고딕"/>
              </a:rPr>
              <a:t>• 해석은 사람이 명세에서 정한다</a:t>
            </a:r>
          </a:p>
          <a:p>
            <a:pPr algn="l">
              <a:lnSpc>
                <a:spcPct val="110000"/>
              </a:lnSpc>
              <a:spcAft>
                <a:spcPts val="600"/>
              </a:spcAft>
            </a:pPr>
            <a:r>
              <a:rPr sz="1450" b="0">
                <a:solidFill>
                  <a:srgbClr val="1F2A3A"/>
                </a:solidFill>
                <a:latin typeface="맑은 고딕"/>
                <a:ea typeface="맑은 고딕"/>
                <a:cs typeface="맑은 고딕"/>
              </a:rPr>
              <a:t>• AI는 명세를 기준으로 구현한다</a:t>
            </a:r>
          </a:p>
          <a:p>
            <a:pPr algn="l">
              <a:lnSpc>
                <a:spcPct val="110000"/>
              </a:lnSpc>
              <a:spcAft>
                <a:spcPts val="600"/>
              </a:spcAft>
            </a:pPr>
            <a:r>
              <a:rPr sz="1450" b="0">
                <a:solidFill>
                  <a:srgbClr val="1F2A3A"/>
                </a:solidFill>
                <a:latin typeface="맑은 고딕"/>
                <a:ea typeface="맑은 고딕"/>
                <a:cs typeface="맑은 고딕"/>
              </a:rPr>
              <a:t>• 달라지는 것과 지킬 것이 문서로 남는다</a:t>
            </a:r>
          </a:p>
        </p:txBody>
      </p:sp>
      <p:sp>
        <p:nvSpPr>
          <p:cNvPr id="18" name="Rounded Rectangle 17"/>
          <p:cNvSpPr/>
          <p:nvPr/>
        </p:nvSpPr>
        <p:spPr>
          <a:xfrm>
            <a:off x="6781647" y="5096002"/>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요청 → 명세 → 코드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명세문서.svg" descr="illust_806954593998030894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요구사항</a:t>
            </a:r>
          </a:p>
          <a:p>
            <a:pPr algn="ctr">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금지 조건</a:t>
            </a:r>
          </a:p>
          <a:p>
            <a:pPr algn="ctr">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수용 기준</a:t>
            </a:r>
          </a:p>
          <a:p>
            <a:pPr algn="ctr">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계약은 주는 쪽과 받는 쪽이 지키기로 한 항목과 형식이며, 에이전트에는 받는 입력과 내는 출력의 두 계약이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계약.svg" descr="illust_8830109299055511902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a:t>
            </a:r>
          </a:p>
          <a:p>
            <a:pPr algn="ctr">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화면과 뒤 단계</a:t>
            </a:r>
          </a:p>
          <a:p>
            <a:pPr algn="ctr">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계약 Contract</a:t>
            </a:r>
          </a:p>
          <a:p>
            <a:pPr algn="ctr">
              <a:lnSpc>
                <a:spcPct val="110000"/>
              </a:lnSpc>
              <a:spcAft>
                <a:spcPts val="100"/>
              </a:spcAft>
            </a:pPr>
            <a:r>
              <a:rPr sz="1300" b="0">
                <a:solidFill>
                  <a:srgbClr val="556175"/>
                </a:solidFill>
                <a:latin typeface="맑은 고딕"/>
                <a:ea typeface="맑은 고딕"/>
                <a:cs typeface="맑은 고딕"/>
              </a:rPr>
              <a:t>한쪽만 바꾸면 다른 쪽이 읽지 못한다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입력 계약의 실제: 쿨러 성능 저하 경보의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경보에서 에이전트가 받는 입력은 설비, 경보, 사건 번호의 세 항목으로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"asset": "HYD-01",</a:t>
            </a:r>
          </a:p>
          <a:p>
            <a:pPr algn="l">
              <a:lnSpc>
                <a:spcPct val="110000"/>
              </a:lnSpc>
              <a:spcAft>
                <a:spcPts val="200"/>
              </a:spcAft>
            </a:pPr>
            <a:r>
              <a:rPr sz="1300" b="0">
                <a:solidFill>
                  <a:srgbClr val="E8EEF6"/>
                </a:solidFill>
                <a:latin typeface="Consolas"/>
                <a:ea typeface="맑은 고딕"/>
                <a:cs typeface="맑은 고딕"/>
              </a:rPr>
              <a:t>  "alert": {</a:t>
            </a:r>
          </a:p>
          <a:p>
            <a:pPr algn="l">
              <a:lnSpc>
                <a:spcPct val="110000"/>
              </a:lnSpc>
              <a:spcAft>
                <a:spcPts val="200"/>
              </a:spcAft>
            </a:pPr>
            <a:r>
              <a:rPr sz="1300" b="0">
                <a:solidFill>
                  <a:srgbClr val="E8EEF6"/>
                </a:solidFill>
                <a:latin typeface="Consolas"/>
                <a:ea typeface="맑은 고딕"/>
                <a:cs typeface="맑은 고딕"/>
              </a:rPr>
              <a:t>    "alertId": "ALT-hyd01-0025-b8ed",</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"incident": "INC-1010-07-0f3d"</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asset</a:t>
            </a:r>
          </a:p>
          <a:p>
            <a:pPr algn="l">
              <a:lnSpc>
                <a:spcPct val="110000"/>
              </a:lnSpc>
              <a:spcAft>
                <a:spcPts val="400"/>
              </a:spcAft>
            </a:pPr>
            <a:r>
              <a:rPr sz="1400" b="0">
                <a:solidFill>
                  <a:srgbClr val="1F2A3A"/>
                </a:solidFill>
                <a:latin typeface="맑은 고딕"/>
                <a:ea typeface="맑은 고딕"/>
                <a:cs typeface="맑은 고딕"/>
              </a:rPr>
              <a:t>대상 설비의 식별자이다.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a:t>
            </a:r>
          </a:p>
          <a:p>
            <a:pPr algn="l">
              <a:lnSpc>
                <a:spcPct val="110000"/>
              </a:lnSpc>
              <a:spcAft>
                <a:spcPts val="400"/>
              </a:spcAft>
            </a:pPr>
            <a:r>
              <a:rPr sz="1400" b="0">
                <a:solidFill>
                  <a:srgbClr val="1F2A3A"/>
                </a:solidFill>
                <a:latin typeface="맑은 고딕"/>
                <a:ea typeface="맑은 고딕"/>
                <a:cs typeface="맑은 고딕"/>
              </a:rPr>
              <a:t>경보 번호와 경보의 유형을 담는다.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incident</a:t>
            </a:r>
          </a:p>
          <a:p>
            <a:pPr algn="l">
              <a:lnSpc>
                <a:spcPct val="110000"/>
              </a:lnSpc>
              <a:spcAft>
                <a:spcPts val="400"/>
              </a:spcAft>
            </a:pPr>
            <a:r>
              <a:rPr sz="1400" b="0">
                <a:solidFill>
                  <a:srgbClr val="1F2A3A"/>
                </a:solidFill>
                <a:latin typeface="맑은 고딕"/>
                <a:ea typeface="맑은 고딕"/>
                <a:cs typeface="맑은 고딕"/>
              </a:rPr>
              <a:t>이 경보가 속한 사건의 번호이다.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정해진 세 항목</a:t>
            </a:r>
          </a:p>
          <a:p>
            <a:pPr algn="l">
              <a:lnSpc>
                <a:spcPct val="110000"/>
              </a:lnSpc>
              <a:spcAft>
                <a:spcPts val="400"/>
              </a:spcAft>
            </a:pPr>
            <a:r>
              <a:rPr sz="1400" b="0">
                <a:solidFill>
                  <a:srgbClr val="1F2A3A"/>
                </a:solidFill>
                <a:latin typeface="맑은 고딕"/>
                <a:ea typeface="맑은 고딕"/>
                <a:cs typeface="맑은 고딕"/>
              </a:rPr>
              <a:t>유온 같은 값은 입력에 없으며 에이전트가 도구로 읽는다.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계약: 항목마다 정하는 이름, 형식, 뜻</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출력 계약에 적힌 이름, 형식, 뜻은 새 항목을 더하는 변경과 기존 항목을 바꾸는 변경을 가르는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형식과 예</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cause · failure_mode</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그래프의 식별자</a:t>
            </a:r>
          </a:p>
          <a:p>
            <a:pPr algn="l">
              <a:lnSpc>
                <a:spcPct val="110000"/>
              </a:lnSpc>
            </a:pPr>
            <a:r>
              <a:rPr sz="1400" b="0">
                <a:solidFill>
                  <a:srgbClr val="1F2A3A"/>
                </a:solidFill>
                <a:latin typeface="맑은 고딕"/>
                <a:ea typeface="맑은 고딕"/>
                <a:cs typeface="맑은 고딕"/>
              </a:rPr>
              <a:t>cause:cooler-fin-fouling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진단한 원인과 고장 유형</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decision.recommended</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방법의 식별자</a:t>
            </a:r>
          </a:p>
          <a:p>
            <a:pPr algn="l">
              <a:lnSpc>
                <a:spcPct val="110000"/>
              </a:lnSpc>
            </a:pPr>
            <a:r>
              <a:rPr sz="1400" b="0">
                <a:solidFill>
                  <a:srgbClr val="1F2A3A"/>
                </a:solidFill>
                <a:latin typeface="맑은 고딕"/>
                <a:ea typeface="맑은 고딕"/>
                <a:cs typeface="맑은 고딕"/>
              </a:rPr>
              <a:t>skill:sop-cool-11</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후보 가운데 1순위로 추천하는 조치</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decision.explanation</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한국어 두세 문장</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추천하는 안, 뒤진 안의 이유</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decision_id</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제출하고 돌려받은 번호</a:t>
            </a:r>
          </a:p>
          <a:p>
            <a:pPr algn="l">
              <a:lnSpc>
                <a:spcPct val="110000"/>
              </a:lnSpc>
            </a:pPr>
            <a:r>
              <a:rPr sz="1400" b="0">
                <a:solidFill>
                  <a:srgbClr val="1F2A3A"/>
                </a:solidFill>
                <a:latin typeface="맑은 고딕"/>
                <a:ea typeface="맑은 고딕"/>
                <a:cs typeface="맑은 고딕"/>
              </a:rPr>
              <a:t>DEC-1010-002-408b</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이 판단을 가리키는 번호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금지 조건의 실제: 작업 규칙의 「절대 금지」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「절대 금지」 절은 에이전트가 하지 않을 일을 업무의 절차와 따로 적어 둔 금지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(PLC </a:t>
            </a:r>
            <a:r>
              <a:rPr sz="1300" b="0">
                <a:solidFill>
                  <a:srgbClr val="E8EEF6"/>
                </a:solidFill>
                <a:latin typeface="맑은 고딕"/>
                <a:ea typeface="맑은 고딕"/>
                <a:cs typeface="맑은 고딕"/>
              </a:rPr>
              <a:t>쓰기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어떤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않습니다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온톨로지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스키마·규칙·스킬의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Neo4j</a:t>
            </a:r>
            <a:r>
              <a:rPr sz="1300" b="0">
                <a:solidFill>
                  <a:srgbClr val="E8EEF6"/>
                </a:solidFill>
                <a:latin typeface="맑은 고딕"/>
                <a:ea typeface="맑은 고딕"/>
                <a:cs typeface="맑은 고딕"/>
              </a:rPr>
              <a:t>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사용합니다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hyd-dmn.submit_decision</a:t>
            </a:r>
            <a:r>
              <a:rPr sz="1300" b="0">
                <a:solidFill>
                  <a:srgbClr val="E8EEF6"/>
                </a:solidFill>
                <a:latin typeface="맑은 고딕"/>
                <a:ea typeface="맑은 고딕"/>
                <a:cs typeface="맑은 고딕"/>
              </a:rPr>
              <a:t>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선택할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카드의</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허용합니다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조치의</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승인이나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첫째 줄</a:t>
            </a:r>
          </a:p>
          <a:p>
            <a:pPr algn="l">
              <a:lnSpc>
                <a:spcPct val="110000"/>
              </a:lnSpc>
              <a:spcAft>
                <a:spcPts val="400"/>
              </a:spcAft>
            </a:pPr>
            <a:r>
              <a:rPr sz="1400" b="0">
                <a:solidFill>
                  <a:srgbClr val="1F2A3A"/>
                </a:solidFill>
                <a:latin typeface="맑은 고딕"/>
                <a:ea typeface="맑은 고딕"/>
                <a:cs typeface="맑은 고딕"/>
              </a:rPr>
              <a:t>설비 명령, 업무 조치의 실행, 승인의 대행을 금지한다.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둘째 줄</a:t>
            </a:r>
          </a:p>
          <a:p>
            <a:pPr algn="l">
              <a:lnSpc>
                <a:spcPct val="110000"/>
              </a:lnSpc>
              <a:spcAft>
                <a:spcPts val="400"/>
              </a:spcAft>
            </a:pPr>
            <a:r>
              <a:rPr sz="1400" b="0">
                <a:solidFill>
                  <a:srgbClr val="1F2A3A"/>
                </a:solidFill>
                <a:latin typeface="맑은 고딕"/>
                <a:ea typeface="맑은 고딕"/>
                <a:cs typeface="맑은 고딕"/>
              </a:rPr>
              <a:t>지식 그래프의 스키마와 규칙, 스킬을 고치지 못하게 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셋째 줄</a:t>
            </a:r>
          </a:p>
          <a:p>
            <a:pPr algn="l">
              <a:lnSpc>
                <a:spcPct val="110000"/>
              </a:lnSpc>
              <a:spcAft>
                <a:spcPts val="400"/>
              </a:spcAft>
            </a:pPr>
            <a:r>
              <a:rPr sz="1400" b="0">
                <a:solidFill>
                  <a:srgbClr val="1F2A3A"/>
                </a:solidFill>
                <a:latin typeface="맑은 고딕"/>
                <a:ea typeface="맑은 고딕"/>
                <a:cs typeface="맑은 고딕"/>
              </a:rPr>
              <a:t>판단 제출은 고를 안을 올리는 일이며 승인도 실행도 아님을 못 박는다.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해야 할 일을 적는다</a:t>
            </a:r>
          </a:p>
          <a:p>
            <a:pPr algn="l">
              <a:lnSpc>
                <a:spcPct val="110000"/>
              </a:lnSpc>
              <a:spcAft>
                <a:spcPts val="600"/>
              </a:spcAft>
            </a:pPr>
            <a:r>
              <a:rPr sz="1450" b="0">
                <a:solidFill>
                  <a:srgbClr val="1F2A3A"/>
                </a:solidFill>
                <a:latin typeface="맑은 고딕"/>
                <a:ea typeface="맑은 고딕"/>
                <a:cs typeface="맑은 고딕"/>
              </a:rPr>
              <a:t>• 변경 요청이 올 때마다 줄이 늘어난다</a:t>
            </a:r>
          </a:p>
          <a:p>
            <a:pPr algn="l">
              <a:lnSpc>
                <a:spcPct val="110000"/>
              </a:lnSpc>
              <a:spcAft>
                <a:spcPts val="600"/>
              </a:spcAft>
            </a:pPr>
            <a:r>
              <a:rPr sz="1450" b="0">
                <a:solidFill>
                  <a:srgbClr val="1F2A3A"/>
                </a:solidFill>
                <a:latin typeface="맑은 고딕"/>
                <a:ea typeface="맑은 고딕"/>
                <a:cs typeface="맑은 고딕"/>
              </a:rPr>
              <a:t>• 예: 원인을 가리고 조치 후보를 견주어 추천안을 낸다</a:t>
            </a:r>
          </a:p>
          <a:p>
            <a:pPr algn="l">
              <a:lnSpc>
                <a:spcPct val="110000"/>
              </a:lnSpc>
              <a:spcAft>
                <a:spcPts val="600"/>
              </a:spcAft>
            </a:pPr>
            <a:r>
              <a:rPr sz="145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396865"/>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어떤 요구가 더해져도 하지 않을 일을 적는다</a:t>
            </a:r>
          </a:p>
          <a:p>
            <a:pPr algn="l">
              <a:lnSpc>
                <a:spcPct val="110000"/>
              </a:lnSpc>
              <a:spcAft>
                <a:spcPts val="600"/>
              </a:spcAft>
            </a:pPr>
            <a:r>
              <a:rPr sz="1450" b="0">
                <a:solidFill>
                  <a:srgbClr val="1F2A3A"/>
                </a:solidFill>
                <a:latin typeface="맑은 고딕"/>
                <a:ea typeface="맑은 고딕"/>
                <a:cs typeface="맑은 고딕"/>
              </a:rPr>
              <a:t>• 변경 요청이 와도 그대로 둔다</a:t>
            </a:r>
          </a:p>
          <a:p>
            <a:pPr algn="l">
              <a:lnSpc>
                <a:spcPct val="110000"/>
              </a:lnSpc>
              <a:spcAft>
                <a:spcPts val="600"/>
              </a:spcAft>
            </a:pPr>
            <a:r>
              <a:rPr sz="1450" b="0">
                <a:solidFill>
                  <a:srgbClr val="1F2A3A"/>
                </a:solidFill>
                <a:latin typeface="맑은 고딕"/>
                <a:ea typeface="맑은 고딕"/>
                <a:cs typeface="맑은 고딕"/>
              </a:rPr>
              <a:t>• 예: 사람이 승인하기 전에는 어떤 조치도 실행하지 않는다</a:t>
            </a:r>
          </a:p>
          <a:p>
            <a:pPr algn="l">
              <a:lnSpc>
                <a:spcPct val="110000"/>
              </a:lnSpc>
              <a:spcAft>
                <a:spcPts val="600"/>
              </a:spcAft>
            </a:pPr>
            <a:r>
              <a:rPr sz="145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396865"/>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수용 기준</a:t>
            </a:r>
          </a:p>
          <a:p>
            <a:pPr algn="l">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적는 내용</a:t>
            </a:r>
          </a:p>
          <a:p>
            <a:pPr algn="l">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쓰이는 때</a:t>
            </a:r>
          </a:p>
          <a:p>
            <a:pPr algn="l">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판정할 수 있는 문장과 판정할 수 없는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「잘 처리된다」 같은 문장은 실행해 보아도 맞았는지 가릴 수 없어, 상황과 기대 결과를 적은 문장으로 바꾸어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판정할 수 없는 문장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「거절이 잘 처리된다」</a:t>
            </a:r>
          </a:p>
          <a:p>
            <a:pPr algn="l">
              <a:lnSpc>
                <a:spcPct val="110000"/>
              </a:lnSpc>
              <a:spcAft>
                <a:spcPts val="600"/>
              </a:spcAft>
            </a:pPr>
            <a:r>
              <a:rPr sz="1450" b="0">
                <a:solidFill>
                  <a:srgbClr val="1F2A3A"/>
                </a:solidFill>
                <a:latin typeface="맑은 고딕"/>
                <a:ea typeface="맑은 고딕"/>
                <a:cs typeface="맑은 고딕"/>
              </a:rPr>
              <a:t>• 「긴급한 경보가 빨리 처리된다」</a:t>
            </a:r>
          </a:p>
          <a:p>
            <a:pPr algn="l">
              <a:lnSpc>
                <a:spcPct val="110000"/>
              </a:lnSpc>
              <a:spcAft>
                <a:spcPts val="600"/>
              </a:spcAft>
            </a:pPr>
            <a:r>
              <a:rPr sz="1450" b="0">
                <a:solidFill>
                  <a:srgbClr val="1F2A3A"/>
                </a:solidFill>
                <a:latin typeface="맑은 고딕"/>
                <a:ea typeface="맑은 고딕"/>
                <a:cs typeface="맑은 고딕"/>
              </a:rPr>
              <a:t>• 실행한 사람마다 판정이 달라진다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모호하다</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checks" descr="checks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판정할 수 있는 문장</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「거절하면 설비 명령이 0건이다」</a:t>
            </a:r>
          </a:p>
          <a:p>
            <a:pPr algn="l">
              <a:lnSpc>
                <a:spcPct val="110000"/>
              </a:lnSpc>
              <a:spcAft>
                <a:spcPts val="600"/>
              </a:spcAft>
            </a:pPr>
            <a:r>
              <a:rPr sz="1450" b="0">
                <a:solidFill>
                  <a:srgbClr val="1F2A3A"/>
                </a:solidFill>
                <a:latin typeface="맑은 고딕"/>
                <a:ea typeface="맑은 고딕"/>
                <a:cs typeface="맑은 고딕"/>
              </a:rPr>
              <a:t>• 「긴급한 경보의 추천안도 승인 대기 상태가 된다」</a:t>
            </a:r>
          </a:p>
          <a:p>
            <a:pPr algn="l">
              <a:lnSpc>
                <a:spcPct val="110000"/>
              </a:lnSpc>
              <a:spcAft>
                <a:spcPts val="600"/>
              </a:spcAft>
            </a:pPr>
            <a:r>
              <a:rPr sz="1450" b="0">
                <a:solidFill>
                  <a:srgbClr val="1F2A3A"/>
                </a:solidFill>
                <a:latin typeface="맑은 고딕"/>
                <a:ea typeface="맑은 고딕"/>
                <a:cs typeface="맑은 고딕"/>
              </a:rPr>
              <a:t>• 누가 실행해도 같은 판정이 나온다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참 또는 거짓</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단계가 지키는 수용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단계의 동작은 상황마다 기대 결과를 적은 수용 기준이 되어 검사로 확인된다.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확인되어야 하는 결과</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권한 있는 담당자가 승인한다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승인한 사람과 역할이 기록되고 처리 건이 끝까지 처리된다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담당자가 사유를 적고 거절한다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명령과 업무 처리가 0건이고 처리 건은 거절로 닫힌다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사유 없이, 또는 권한 없는 역할로 거절한다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요청이 받아들여지지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누락</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담당자가 응답하지 않는다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지연 알림만 나가고 처리 건은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무응답</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요구사항</a:t>
            </a:r>
          </a:p>
          <a:p>
            <a:pPr algn="l">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 계약</a:t>
            </a:r>
          </a:p>
          <a:p>
            <a:pPr algn="l">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금지 조건</a:t>
            </a:r>
          </a:p>
          <a:p>
            <a:pPr algn="l">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수용 기준</a:t>
            </a:r>
          </a:p>
          <a:p>
            <a:pPr algn="l">
              <a:lnSpc>
                <a:spcPct val="110000"/>
              </a:lnSpc>
              <a:spcAft>
                <a:spcPts val="400"/>
              </a:spcAft>
            </a:pPr>
            <a:r>
              <a:rPr sz="140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명세를 기준 문서로 삼는 구현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AI에게 구현을 맡길 때 명세를 함께 주면, 결과가 어긋났을 때 구현과 명세 가운데 고칠 쪽을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달라지는 것과</a:t>
            </a:r>
          </a:p>
          <a:p>
            <a:pPr algn="ctr">
              <a:lnSpc>
                <a:spcPct val="110000"/>
              </a:lnSpc>
              <a:spcAft>
                <a:spcPts val="400"/>
              </a:spcAft>
            </a:pPr>
            <a:r>
              <a:rPr sz="1350" b="0">
                <a:solidFill>
                  <a:srgbClr val="1F2A3A"/>
                </a:solidFill>
                <a:latin typeface="맑은 고딕"/>
                <a:ea typeface="맑은 고딕"/>
                <a:cs typeface="맑은 고딕"/>
              </a:rPr>
              <a:t>지킬 것을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구현을 맡긴다</a:t>
            </a:r>
          </a:p>
          <a:p>
            <a:pPr algn="ctr">
              <a:lnSpc>
                <a:spcPct val="110000"/>
              </a:lnSpc>
              <a:spcAft>
                <a:spcPts val="400"/>
              </a:spcAft>
            </a:pPr>
            <a:r>
              <a:rPr sz="1350" b="0">
                <a:solidFill>
                  <a:srgbClr val="1F2A3A"/>
                </a:solidFill>
                <a:latin typeface="맑은 고딕"/>
                <a:ea typeface="맑은 고딕"/>
                <a:cs typeface="맑은 고딕"/>
              </a:rPr>
              <a:t>명세를 함께 주고</a:t>
            </a:r>
          </a:p>
          <a:p>
            <a:pPr algn="ctr">
              <a:lnSpc>
                <a:spcPct val="110000"/>
              </a:lnSpc>
              <a:spcAft>
                <a:spcPts val="400"/>
              </a:spcAft>
            </a:pPr>
            <a:r>
              <a:rPr sz="1350" b="0">
                <a:solidFill>
                  <a:srgbClr val="1F2A3A"/>
                </a:solidFill>
                <a:latin typeface="맑은 고딕"/>
                <a:ea typeface="맑은 고딕"/>
                <a:cs typeface="맑은 고딕"/>
              </a:rPr>
              <a:t>AI가 코드를 고친다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수용 기준으로 확인한다</a:t>
            </a:r>
          </a:p>
          <a:p>
            <a:pPr algn="ctr">
              <a:lnSpc>
                <a:spcPct val="110000"/>
              </a:lnSpc>
              <a:spcAft>
                <a:spcPts val="400"/>
              </a:spcAft>
            </a:pPr>
            <a:r>
              <a:rPr sz="1350" b="0">
                <a:solidFill>
                  <a:srgbClr val="1F2A3A"/>
                </a:solidFill>
                <a:latin typeface="맑은 고딕"/>
                <a:ea typeface="맑은 고딕"/>
                <a:cs typeface="맑은 고딕"/>
              </a:rPr>
              <a:t>기준마다 실행해</a:t>
            </a:r>
          </a:p>
          <a:p>
            <a:pPr algn="ctr">
              <a:lnSpc>
                <a:spcPct val="110000"/>
              </a:lnSpc>
              <a:spcAft>
                <a:spcPts val="400"/>
              </a:spcAft>
            </a:pPr>
            <a:r>
              <a:rPr sz="1350" b="0">
                <a:solidFill>
                  <a:srgbClr val="1F2A3A"/>
                </a:solidFill>
                <a:latin typeface="맑은 고딕"/>
                <a:ea typeface="맑은 고딕"/>
                <a:cs typeface="맑은 고딕"/>
              </a:rPr>
              <a:t>참과 거짓을 가린다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어긋난 곳을 고친다</a:t>
            </a:r>
          </a:p>
          <a:p>
            <a:pPr algn="ctr">
              <a:lnSpc>
                <a:spcPct val="110000"/>
              </a:lnSpc>
              <a:spcAft>
                <a:spcPts val="400"/>
              </a:spcAft>
            </a:pPr>
            <a:r>
              <a:rPr sz="1350" b="0">
                <a:solidFill>
                  <a:srgbClr val="1F2A3A"/>
                </a:solidFill>
                <a:latin typeface="맑은 고딕"/>
                <a:ea typeface="맑은 고딕"/>
                <a:cs typeface="맑은 고딕"/>
              </a:rPr>
              <a:t>구현이 틀렸으면 구현을,</a:t>
            </a:r>
          </a:p>
          <a:p>
            <a:pPr algn="ctr">
              <a:lnSpc>
                <a:spcPct val="110000"/>
              </a:lnSpc>
              <a:spcAft>
                <a:spcPts val="400"/>
              </a:spcAft>
            </a:pPr>
            <a:r>
              <a:rPr sz="1350" b="0">
                <a:solidFill>
                  <a:srgbClr val="1F2A3A"/>
                </a:solidFill>
                <a:latin typeface="맑은 고딕"/>
                <a:ea typeface="맑은 고딕"/>
                <a:cs typeface="맑은 고딕"/>
              </a:rPr>
              <a:t>명세에 빠진 것이 있으면</a:t>
            </a:r>
          </a:p>
          <a:p>
            <a:pPr algn="ctr">
              <a:lnSpc>
                <a:spcPct val="110000"/>
              </a:lnSpc>
              <a:spcAft>
                <a:spcPts val="400"/>
              </a:spcAft>
            </a:pPr>
            <a:r>
              <a:rPr sz="1350" b="0">
                <a:solidFill>
                  <a:srgbClr val="1F2A3A"/>
                </a:solidFill>
                <a:latin typeface="맑은 고딕"/>
                <a:ea typeface="맑은 고딕"/>
                <a:cs typeface="맑은 고딕"/>
              </a:rPr>
              <a:t>명세를 고친다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변경 뒤의 확인: 기존 요청과 새 요청을 함께 실행한다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변경 뒤에는 기존 요청과 새 요청을 함께 다시 실행하고, 그 입력과 기대 결과를 저장해 다음 검증에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기존 요청</a:t>
            </a:r>
          </a:p>
          <a:p>
            <a:pPr algn="l">
              <a:lnSpc>
                <a:spcPct val="110000"/>
              </a:lnSpc>
              <a:spcAft>
                <a:spcPts val="400"/>
              </a:spcAft>
            </a:pPr>
            <a:r>
              <a:rPr sz="1400" b="0">
                <a:solidFill>
                  <a:srgbClr val="1F2A3A"/>
                </a:solidFill>
                <a:latin typeface="맑은 고딕"/>
                <a:ea typeface="맑은 고딕"/>
                <a:cs typeface="맑은 고딕"/>
              </a:rPr>
              <a:t>• 입력: 긴급하지 않은 경보</a:t>
            </a:r>
          </a:p>
          <a:p>
            <a:pPr algn="l">
              <a:lnSpc>
                <a:spcPct val="110000"/>
              </a:lnSpc>
              <a:spcAft>
                <a:spcPts val="400"/>
              </a:spcAft>
            </a:pPr>
            <a:r>
              <a:rPr sz="1400" b="0">
                <a:solidFill>
                  <a:srgbClr val="1F2A3A"/>
                </a:solidFill>
                <a:latin typeface="맑은 고딕"/>
                <a:ea typeface="맑은 고딕"/>
                <a:cs typeface="맑은 고딕"/>
              </a:rPr>
              <a:t>• 기대: 다섯 항목이 변경 전과 같고 승인 대기가 된다</a:t>
            </a:r>
          </a:p>
        </p:txBody>
      </p:sp>
      <p:sp>
        <p:nvSpPr>
          <p:cNvPr id="10" name="Rounded Rectangle 9"/>
          <p:cNvSpPr/>
          <p:nvPr/>
        </p:nvSpPr>
        <p:spPr>
          <a:xfrm>
            <a:off x="777240" y="5041392"/>
            <a:ext cx="14782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그대로여야 한다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5CB8F2"/>
          </a:solidFill>
          <a:ln>
            <a:noFill/>
          </a:ln>
        </p:spPr>
        <p:txBody>
          <a:bodyPr rtlCol="0" anchor="ctr"/>
          <a:lstStyle/>
          <a:p>
            <a:pPr algn="ctr"/>
          </a:p>
        </p:txBody>
      </p:sp>
      <p:pic>
        <p:nvPicPr>
          <p:cNvPr id="14" name="아이콘:urgent" descr="urgent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새 요청</a:t>
            </a:r>
          </a:p>
          <a:p>
            <a:pPr algn="l">
              <a:lnSpc>
                <a:spcPct val="110000"/>
              </a:lnSpc>
              <a:spcAft>
                <a:spcPts val="400"/>
              </a:spcAft>
            </a:pPr>
            <a:r>
              <a:rPr sz="1400" b="0">
                <a:solidFill>
                  <a:srgbClr val="1F2A3A"/>
                </a:solidFill>
                <a:latin typeface="맑은 고딕"/>
                <a:ea typeface="맑은 고딕"/>
                <a:cs typeface="맑은 고딕"/>
              </a:rPr>
              <a:t>• 입력: 유온 60 ℃ 이상의 경보</a:t>
            </a:r>
          </a:p>
          <a:p>
            <a:pPr algn="l">
              <a:lnSpc>
                <a:spcPct val="110000"/>
              </a:lnSpc>
              <a:spcAft>
                <a:spcPts val="400"/>
              </a:spcAft>
            </a:pPr>
            <a:r>
              <a:rPr sz="1400" b="0">
                <a:solidFill>
                  <a:srgbClr val="1F2A3A"/>
                </a:solidFill>
                <a:latin typeface="맑은 고딕"/>
                <a:ea typeface="맑은 고딕"/>
                <a:cs typeface="맑은 고딕"/>
              </a:rPr>
              <a:t>• 기대: urgent 항목이 더해지고 승인 대기가 된다</a:t>
            </a:r>
          </a:p>
        </p:txBody>
      </p:sp>
      <p:sp>
        <p:nvSpPr>
          <p:cNvPr id="16" name="Rounded Rectangle 15"/>
          <p:cNvSpPr/>
          <p:nvPr/>
        </p:nvSpPr>
        <p:spPr>
          <a:xfrm>
            <a:off x="4566818" y="504139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139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달라져야 한다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player-stop" descr="player-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지켜야 할 경우</a:t>
            </a:r>
          </a:p>
          <a:p>
            <a:pPr algn="l">
              <a:lnSpc>
                <a:spcPct val="110000"/>
              </a:lnSpc>
              <a:spcAft>
                <a:spcPts val="400"/>
              </a:spcAft>
            </a:pPr>
            <a:r>
              <a:rPr sz="1400" b="0">
                <a:solidFill>
                  <a:srgbClr val="1F2A3A"/>
                </a:solidFill>
                <a:latin typeface="맑은 고딕"/>
                <a:ea typeface="맑은 고딕"/>
                <a:cs typeface="맑은 고딕"/>
              </a:rPr>
              <a:t>• 입력: 필수 값을 읽지 못한 경보</a:t>
            </a:r>
          </a:p>
          <a:p>
            <a:pPr algn="l">
              <a:lnSpc>
                <a:spcPct val="110000"/>
              </a:lnSpc>
              <a:spcAft>
                <a:spcPts val="400"/>
              </a:spcAft>
            </a:pPr>
            <a:r>
              <a:rPr sz="1400" b="0">
                <a:solidFill>
                  <a:srgbClr val="1F2A3A"/>
                </a:solidFill>
                <a:latin typeface="맑은 고딕"/>
                <a:ea typeface="맑은 고딕"/>
                <a:cs typeface="맑은 고딕"/>
              </a:rPr>
              <a:t>• 기대: 결과를 채우지 않고 보류한다</a:t>
            </a:r>
          </a:p>
        </p:txBody>
      </p:sp>
      <p:sp>
        <p:nvSpPr>
          <p:cNvPr id="22" name="Rounded Rectangle 21"/>
          <p:cNvSpPr/>
          <p:nvPr/>
        </p:nvSpPr>
        <p:spPr>
          <a:xfrm>
            <a:off x="8356396" y="5041392"/>
            <a:ext cx="14782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그대로여야 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한 문장의 요청에서 확인할 수 있는 변경까지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모호한 요청이 흔들 수 있는 자리를 명세로 정해 두면, 요구가 바뀌어도 기존 기능이 지켜졌는지를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변경 요청</a:t>
            </a:r>
          </a:p>
          <a:p>
            <a:pPr algn="ctr">
              <a:lnSpc>
                <a:spcPct val="110000"/>
              </a:lnSpc>
              <a:spcAft>
                <a:spcPts val="400"/>
              </a:spcAft>
            </a:pPr>
            <a:r>
              <a:rPr sz="1250" b="0">
                <a:solidFill>
                  <a:srgbClr val="1F2A3A"/>
                </a:solidFill>
                <a:latin typeface="맑은 고딕"/>
                <a:ea typeface="맑은 고딕"/>
                <a:cs typeface="맑은 고딕"/>
              </a:rPr>
              <a:t>한 문장에는</a:t>
            </a:r>
          </a:p>
          <a:p>
            <a:pPr algn="ctr">
              <a:lnSpc>
                <a:spcPct val="110000"/>
              </a:lnSpc>
              <a:spcAft>
                <a:spcPts val="400"/>
              </a:spcAft>
            </a:pPr>
            <a:r>
              <a:rPr sz="1250" b="0">
                <a:solidFill>
                  <a:srgbClr val="1F2A3A"/>
                </a:solidFill>
                <a:latin typeface="맑은 고딕"/>
                <a:ea typeface="맑은 고딕"/>
                <a:cs typeface="맑은 고딕"/>
              </a:rPr>
              <a:t>지킬 것이 없다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809303"/>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a:t>
            </a:r>
          </a:p>
          <a:p>
            <a:pPr algn="ctr">
              <a:lnSpc>
                <a:spcPct val="110000"/>
              </a:lnSpc>
              <a:spcAft>
                <a:spcPts val="400"/>
              </a:spcAft>
            </a:pPr>
            <a:r>
              <a:rPr sz="1250" b="0">
                <a:solidFill>
                  <a:srgbClr val="1F2A3A"/>
                </a:solidFill>
                <a:latin typeface="맑은 고딕"/>
                <a:ea typeface="맑은 고딕"/>
                <a:cs typeface="맑은 고딕"/>
              </a:rPr>
              <a:t>요구사항과</a:t>
            </a:r>
          </a:p>
          <a:p>
            <a:pPr algn="ctr">
              <a:lnSpc>
                <a:spcPct val="110000"/>
              </a:lnSpc>
              <a:spcAft>
                <a:spcPts val="400"/>
              </a:spcAft>
            </a:pPr>
            <a:r>
              <a:rPr sz="1250" b="0">
                <a:solidFill>
                  <a:srgbClr val="1F2A3A"/>
                </a:solidFill>
                <a:latin typeface="맑은 고딕"/>
                <a:ea typeface="맑은 고딕"/>
                <a:cs typeface="맑은 고딕"/>
              </a:rPr>
              <a:t>입력 · 출력 계약을</a:t>
            </a:r>
          </a:p>
          <a:p>
            <a:pPr algn="ctr">
              <a:lnSpc>
                <a:spcPct val="110000"/>
              </a:lnSpc>
              <a:spcAft>
                <a:spcPts val="400"/>
              </a:spcAft>
            </a:pPr>
            <a:r>
              <a:rPr sz="1250" b="0">
                <a:solidFill>
                  <a:srgbClr val="1F2A3A"/>
                </a:solidFill>
                <a:latin typeface="맑은 고딕"/>
                <a:ea typeface="맑은 고딕"/>
                <a:cs typeface="맑은 고딕"/>
              </a:rPr>
              <a:t>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forbid" descr="forbid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금지 조건</a:t>
            </a:r>
          </a:p>
          <a:p>
            <a:pPr algn="ctr">
              <a:lnSpc>
                <a:spcPct val="110000"/>
              </a:lnSpc>
              <a:spcAft>
                <a:spcPts val="400"/>
              </a:spcAft>
            </a:pPr>
            <a:r>
              <a:rPr sz="1250" b="0">
                <a:solidFill>
                  <a:srgbClr val="1F2A3A"/>
                </a:solidFill>
                <a:latin typeface="맑은 고딕"/>
                <a:ea typeface="맑은 고딕"/>
                <a:cs typeface="맑은 고딕"/>
              </a:rPr>
              <a:t>어떤 요구에도</a:t>
            </a:r>
          </a:p>
          <a:p>
            <a:pPr algn="ctr">
              <a:lnSpc>
                <a:spcPct val="110000"/>
              </a:lnSpc>
              <a:spcAft>
                <a:spcPts val="400"/>
              </a:spcAft>
            </a:pPr>
            <a:r>
              <a:rPr sz="1250" b="0">
                <a:solidFill>
                  <a:srgbClr val="1F2A3A"/>
                </a:solidFill>
                <a:latin typeface="맑은 고딕"/>
                <a:ea typeface="맑은 고딕"/>
                <a:cs typeface="맑은 고딕"/>
              </a:rPr>
              <a:t>하지 않을 일</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수용 기준</a:t>
            </a:r>
          </a:p>
          <a:p>
            <a:pPr algn="ctr">
              <a:lnSpc>
                <a:spcPct val="110000"/>
              </a:lnSpc>
              <a:spcAft>
                <a:spcPts val="400"/>
              </a:spcAft>
            </a:pPr>
            <a:r>
              <a:rPr sz="1250" b="0">
                <a:solidFill>
                  <a:srgbClr val="1F2A3A"/>
                </a:solidFill>
                <a:latin typeface="맑은 고딕"/>
                <a:ea typeface="맑은 고딕"/>
                <a:cs typeface="맑은 고딕"/>
              </a:rPr>
              <a:t>참과 거짓으로</a:t>
            </a:r>
          </a:p>
          <a:p>
            <a:pPr algn="ctr">
              <a:lnSpc>
                <a:spcPct val="110000"/>
              </a:lnSpc>
              <a:spcAft>
                <a:spcPts val="400"/>
              </a:spcAft>
            </a:pPr>
            <a:r>
              <a:rPr sz="1250" b="0">
                <a:solidFill>
                  <a:srgbClr val="1F2A3A"/>
                </a:solidFill>
                <a:latin typeface="맑은 고딕"/>
                <a:ea typeface="맑은 고딕"/>
                <a:cs typeface="맑은 고딕"/>
              </a:rPr>
              <a:t>가를 수 있는 조건</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809303"/>
            <a:ext cx="731520" cy="731520"/>
          </a:xfrm>
          <a:prstGeom prst="ellipse">
            <a:avLst/>
          </a:prstGeom>
          <a:solidFill>
            <a:srgbClr val="FFFFFF"/>
          </a:solidFill>
          <a:ln>
            <a:noFill/>
          </a:ln>
        </p:spPr>
        <p:txBody>
          <a:bodyPr rtlCol="0" anchor="ctr"/>
          <a:lstStyle/>
          <a:p>
            <a:pPr algn="ctr"/>
          </a:p>
        </p:txBody>
      </p:sp>
      <p:pic>
        <p:nvPicPr>
          <p:cNvPr id="28" name="아이콘:history" descr="history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다시 실행</a:t>
            </a:r>
          </a:p>
          <a:p>
            <a:pPr algn="ctr">
              <a:lnSpc>
                <a:spcPct val="110000"/>
              </a:lnSpc>
              <a:spcAft>
                <a:spcPts val="400"/>
              </a:spcAft>
            </a:pPr>
            <a:r>
              <a:rPr sz="1250" b="0">
                <a:solidFill>
                  <a:srgbClr val="1F2A3A"/>
                </a:solidFill>
                <a:latin typeface="맑은 고딕"/>
                <a:ea typeface="맑은 고딕"/>
                <a:cs typeface="맑은 고딕"/>
              </a:rPr>
              <a:t>기존 요청과 새 요청의</a:t>
            </a:r>
          </a:p>
          <a:p>
            <a:pPr algn="ctr">
              <a:lnSpc>
                <a:spcPct val="110000"/>
              </a:lnSpc>
              <a:spcAft>
                <a:spcPts val="400"/>
              </a:spcAft>
            </a:pPr>
            <a:r>
              <a:rPr sz="1250" b="0">
                <a:solidFill>
                  <a:srgbClr val="1F2A3A"/>
                </a:solidFill>
                <a:latin typeface="맑은 고딕"/>
                <a:ea typeface="맑은 고딕"/>
                <a:cs typeface="맑은 고딕"/>
              </a:rPr>
              <a:t>기대 결과를 저장한다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명세를 갱신해 기존 기능을</a:t>
            </a:r>
          </a:p>
          <a:p>
            <a:pPr algn="l">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긴급 요청 조건을 더해 고치기 전과 출력을 견주고, spec.md를 보완해 기존 제약이 유지되도록 고친다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조건과 보완하는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고치기 전과 뒤의 출력 비교, 두 요청의 차이를 적은 spec.md, 두 요청의 재실행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조건을 더한다</a:t>
            </a:r>
          </a:p>
          <a:p>
            <a:pPr algn="l">
              <a:lnSpc>
                <a:spcPct val="110000"/>
              </a:lnSpc>
              <a:spcAft>
                <a:spcPts val="400"/>
              </a:spcAft>
            </a:pPr>
            <a:r>
              <a:rPr sz="1400" b="0">
                <a:solidFill>
                  <a:srgbClr val="1F2A3A"/>
                </a:solidFill>
                <a:latin typeface="맑은 고딕"/>
                <a:ea typeface="맑은 고딕"/>
                <a:cs typeface="맑은 고딕"/>
              </a:rPr>
              <a:t>기존 에이전트에 긴급 요청을 분류하는 조건을 한두 문장의 모호한 요청으로 추가한다</a:t>
            </a:r>
          </a:p>
        </p:txBody>
      </p:sp>
      <p:sp>
        <p:nvSpPr>
          <p:cNvPr id="10" name="Rounded Rectangle 9"/>
          <p:cNvSpPr/>
          <p:nvPr/>
        </p:nvSpPr>
        <p:spPr>
          <a:xfrm>
            <a:off x="777240" y="536676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git-compare" descr="git-compare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고치기 전과 견준다</a:t>
            </a:r>
          </a:p>
          <a:p>
            <a:pPr algn="l">
              <a:lnSpc>
                <a:spcPct val="110000"/>
              </a:lnSpc>
              <a:spcAft>
                <a:spcPts val="400"/>
              </a:spcAft>
            </a:pPr>
            <a:r>
              <a:rPr sz="1400" b="0">
                <a:solidFill>
                  <a:srgbClr val="1F2A3A"/>
                </a:solidFill>
                <a:latin typeface="맑은 고딕"/>
                <a:ea typeface="맑은 고딕"/>
                <a:cs typeface="맑은 고딕"/>
              </a:rPr>
              <a:t>일반 요청과 긴급 요청을 실행해 결과의 항목과 승인 조건이 고치기 전과 달라진 곳을 찾는다</a:t>
            </a:r>
          </a:p>
        </p:txBody>
      </p:sp>
      <p:sp>
        <p:nvSpPr>
          <p:cNvPr id="16" name="Rounded Rectangle 15"/>
          <p:cNvSpPr/>
          <p:nvPr/>
        </p:nvSpPr>
        <p:spPr>
          <a:xfrm>
            <a:off x="4566818" y="536676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명세를 보완해 고친다</a:t>
            </a:r>
          </a:p>
          <a:p>
            <a:pPr algn="l">
              <a:lnSpc>
                <a:spcPct val="110000"/>
              </a:lnSpc>
              <a:spcAft>
                <a:spcPts val="400"/>
              </a:spcAft>
            </a:pPr>
            <a:r>
              <a:rPr sz="1400" b="0">
                <a:solidFill>
                  <a:srgbClr val="1F2A3A"/>
                </a:solidFill>
                <a:latin typeface="맑은 고딕"/>
                <a:ea typeface="맑은 고딕"/>
                <a:cs typeface="맑은 고딕"/>
              </a:rPr>
              <a:t>• spec.md에 일반 요청과 긴급 요청의 차이, 미입력 시 보류, 승인 없이 확정 금지, 결과 형식, 수용 기준을 적는다</a:t>
            </a:r>
          </a:p>
          <a:p>
            <a:pPr algn="l">
              <a:lnSpc>
                <a:spcPct val="110000"/>
              </a:lnSpc>
              <a:spcAft>
                <a:spcPts val="400"/>
              </a:spcAft>
            </a:pPr>
            <a:r>
              <a:rPr sz="1400" b="0">
                <a:solidFill>
                  <a:srgbClr val="1F2A3A"/>
                </a:solidFill>
                <a:latin typeface="맑은 고딕"/>
                <a:ea typeface="맑은 고딕"/>
                <a:cs typeface="맑은 고딕"/>
              </a:rPr>
              <a:t>• 그 명세대로 고쳐 두 요청을 다시 실행한다</a:t>
            </a:r>
          </a:p>
        </p:txBody>
      </p:sp>
      <p:sp>
        <p:nvSpPr>
          <p:cNvPr id="22" name="Rounded Rectangle 21"/>
          <p:cNvSpPr/>
          <p:nvPr/>
        </p:nvSpPr>
        <p:spPr>
          <a:xfrm>
            <a:off x="8356396" y="536676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행동 검증:</a:t>
            </a:r>
          </a:p>
          <a:p>
            <a:pPr algn="l">
              <a:lnSpc>
                <a:spcPct val="110000"/>
              </a:lnSpc>
            </a:pPr>
            <a:r>
              <a:rPr sz="3400" b="1">
                <a:solidFill>
                  <a:srgbClr val="13294B"/>
                </a:solidFill>
                <a:latin typeface="맑은 고딕"/>
                <a:ea typeface="맑은 고딕"/>
                <a:cs typeface="맑은 고딕"/>
              </a:rPr>
              <a:t>시나리오와 회귀 시험</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기대한 행동을 시나리오로 적고 실행으로 되풀이해 확인하는 방법</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손으로 한 번 확인하는 방식이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화면에서 한 번 눌러 본 확인은 그때의 한 경우에만 해당하며, 요구가 바뀔 때마다 모든 경우를 다시 눌러 보기는 어렵다.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경우가 여럿이다</a:t>
            </a:r>
          </a:p>
          <a:p>
            <a:pPr algn="l">
              <a:lnSpc>
                <a:spcPct val="110000"/>
              </a:lnSpc>
              <a:spcAft>
                <a:spcPts val="400"/>
              </a:spcAft>
            </a:pPr>
            <a:r>
              <a:rPr sz="1400" b="0">
                <a:solidFill>
                  <a:srgbClr val="1F2A3A"/>
                </a:solidFill>
                <a:latin typeface="맑은 고딕"/>
                <a:ea typeface="맑은 고딕"/>
                <a:cs typeface="맑은 고딕"/>
              </a:rPr>
              <a:t>• 승인 단계 하나에도 승인, 거절, 무응답, 권한 없는 요청이 있다</a:t>
            </a:r>
          </a:p>
          <a:p>
            <a:pPr algn="l">
              <a:lnSpc>
                <a:spcPct val="110000"/>
              </a:lnSpc>
              <a:spcAft>
                <a:spcPts val="400"/>
              </a:spcAft>
            </a:pPr>
            <a:r>
              <a:rPr sz="1400" b="0">
                <a:solidFill>
                  <a:srgbClr val="1F2A3A"/>
                </a:solidFill>
                <a:latin typeface="맑은 고딕"/>
                <a:ea typeface="맑은 고딕"/>
                <a:cs typeface="맑은 고딕"/>
              </a:rPr>
              <a:t>• 한 번의 확인은 그 가운데 하나만 본다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빠지는 경우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바뀔 때마다 되풀이된다</a:t>
            </a:r>
          </a:p>
          <a:p>
            <a:pPr algn="l">
              <a:lnSpc>
                <a:spcPct val="110000"/>
              </a:lnSpc>
              <a:spcAft>
                <a:spcPts val="400"/>
              </a:spcAft>
            </a:pPr>
            <a:r>
              <a:rPr sz="1400" b="0">
                <a:solidFill>
                  <a:srgbClr val="1F2A3A"/>
                </a:solidFill>
                <a:latin typeface="맑은 고딕"/>
                <a:ea typeface="맑은 고딕"/>
                <a:cs typeface="맑은 고딕"/>
              </a:rPr>
              <a:t>긴급 조건 하나를 더해도 기존의 경우를 모두 다시 확인해야 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반복의 부담</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user-question" descr="user-ques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기대가 적혀 있지 않다</a:t>
            </a:r>
          </a:p>
          <a:p>
            <a:pPr algn="l">
              <a:lnSpc>
                <a:spcPct val="110000"/>
              </a:lnSpc>
              <a:spcAft>
                <a:spcPts val="400"/>
              </a:spcAft>
            </a:pPr>
            <a:r>
              <a:rPr sz="1400" b="0">
                <a:solidFill>
                  <a:srgbClr val="1F2A3A"/>
                </a:solidFill>
                <a:latin typeface="맑은 고딕"/>
                <a:ea typeface="맑은 고딕"/>
                <a:cs typeface="맑은 고딕"/>
              </a:rPr>
              <a:t>• 무엇이 맞는 결과인지가 확인하는 사람의 기억에 있다</a:t>
            </a:r>
          </a:p>
          <a:p>
            <a:pPr algn="l">
              <a:lnSpc>
                <a:spcPct val="110000"/>
              </a:lnSpc>
              <a:spcAft>
                <a:spcPts val="400"/>
              </a:spcAft>
            </a:pPr>
            <a:r>
              <a:rPr sz="1400" b="0">
                <a:solidFill>
                  <a:srgbClr val="1F2A3A"/>
                </a:solidFill>
                <a:latin typeface="맑은 고딕"/>
                <a:ea typeface="맑은 고딕"/>
                <a:cs typeface="맑은 고딕"/>
              </a:rPr>
              <a:t>• 사람이 바뀌면 판정도 달라진다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기준의 부재</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BDD: 행동을 시나리오로 적고 실행으로 확인하는 개발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BDD는 기대하는 행동을 누구나 읽을 수 있는 시나리오로 적고, 그 시나리오를 실행해 확인하는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BDD</a:t>
            </a:r>
          </a:p>
          <a:p>
            <a:pPr algn="l">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행동</a:t>
            </a:r>
          </a:p>
          <a:p>
            <a:pPr algn="l">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시나리오</a:t>
            </a:r>
          </a:p>
          <a:p>
            <a:pPr algn="l">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pic>
        <p:nvPicPr>
          <p:cNvPr id="6" name="삽화:세부분.svg" descr="illust_9064929493115714254_179174347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Given</a:t>
            </a:r>
          </a:p>
          <a:p>
            <a:pPr algn="ctr">
              <a:lnSpc>
                <a:spcPct val="110000"/>
              </a:lnSpc>
              <a:spcAft>
                <a:spcPts val="100"/>
              </a:spcAft>
            </a:pPr>
            <a:r>
              <a:rPr sz="1300" b="0">
                <a:solidFill>
                  <a:srgbClr val="556175"/>
                </a:solidFill>
                <a:latin typeface="맑은 고딕"/>
                <a:ea typeface="맑은 고딕"/>
                <a:cs typeface="맑은 고딕"/>
              </a:rPr>
              <a:t>전제: 행동이 일어나기 전의 상태</a:t>
            </a:r>
          </a:p>
        </p:txBody>
      </p:sp>
      <p:sp>
        <p:nvSpPr>
          <p:cNvPr id="8" name="TextBox 7"/>
          <p:cNvSpPr txBox="1"/>
          <p:nvPr/>
        </p:nvSpPr>
        <p:spPr>
          <a:xfrm>
            <a:off x="4568518" y="176945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When</a:t>
            </a:r>
          </a:p>
          <a:p>
            <a:pPr algn="ctr">
              <a:lnSpc>
                <a:spcPct val="110000"/>
              </a:lnSpc>
              <a:spcAft>
                <a:spcPts val="100"/>
              </a:spcAft>
            </a:pPr>
            <a:r>
              <a:rPr sz="1300" b="0">
                <a:solidFill>
                  <a:srgbClr val="556175"/>
                </a:solidFill>
                <a:latin typeface="맑은 고딕"/>
                <a:ea typeface="맑은 고딕"/>
                <a:cs typeface="맑은 고딕"/>
              </a:rPr>
              <a:t>행동: 확인하려는 행동 하나</a:t>
            </a:r>
          </a:p>
        </p:txBody>
      </p:sp>
      <p:sp>
        <p:nvSpPr>
          <p:cNvPr id="9" name="TextBox 8"/>
          <p:cNvSpPr txBox="1"/>
          <p:nvPr/>
        </p:nvSpPr>
        <p:spPr>
          <a:xfrm>
            <a:off x="8114104"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Then</a:t>
            </a:r>
          </a:p>
          <a:p>
            <a:pPr algn="ctr">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단계가 열려 있다</a:t>
            </a:r>
          </a:p>
          <a:p>
            <a:pPr algn="ctr">
              <a:lnSpc>
                <a:spcPct val="110000"/>
              </a:lnSpc>
              <a:spcAft>
                <a:spcPts val="100"/>
              </a:spcAft>
            </a:pPr>
            <a:r>
              <a:rPr sz="1300" b="0">
                <a:solidFill>
                  <a:srgbClr val="556175"/>
                </a:solidFill>
                <a:latin typeface="맑은 고딕"/>
                <a:ea typeface="맑은 고딕"/>
                <a:cs typeface="맑은 고딕"/>
              </a:rPr>
              <a:t>추천안이 올라와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사유를 적고 거절한다</a:t>
            </a:r>
          </a:p>
          <a:p>
            <a:pPr algn="ctr">
              <a:lnSpc>
                <a:spcPct val="110000"/>
              </a:lnSpc>
              <a:spcAft>
                <a:spcPts val="100"/>
              </a:spcAft>
            </a:pPr>
            <a:r>
              <a:rPr sz="1300" b="0">
                <a:solidFill>
                  <a:srgbClr val="556175"/>
                </a:solidFill>
                <a:latin typeface="맑은 고딕"/>
                <a:ea typeface="맑은 고딕"/>
                <a:cs typeface="맑은 고딕"/>
              </a:rPr>
              <a:t>승인 권한이 있는 담당자가 한다</a:t>
            </a:r>
          </a:p>
        </p:txBody>
      </p:sp>
      <p:sp>
        <p:nvSpPr>
          <p:cNvPr id="12" name="TextBox 11"/>
          <p:cNvSpPr txBox="1"/>
          <p:nvPr/>
        </p:nvSpPr>
        <p:spPr>
          <a:xfrm>
            <a:off x="8223199"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무엇을 만들고 무엇을 지킬 것인가</a:t>
            </a:r>
          </a:p>
          <a:p>
            <a:pPr algn="l">
              <a:lnSpc>
                <a:spcPct val="110000"/>
              </a:lnSpc>
              <a:spcAft>
                <a:spcPts val="600"/>
              </a:spcAft>
            </a:pPr>
            <a:r>
              <a:rPr sz="1450" b="0">
                <a:solidFill>
                  <a:srgbClr val="1F2A3A"/>
                </a:solidFill>
                <a:latin typeface="맑은 고딕"/>
                <a:ea typeface="맑은 고딕"/>
                <a:cs typeface="맑은 고딕"/>
              </a:rPr>
              <a:t>• 때: 구현하기 전</a:t>
            </a:r>
          </a:p>
          <a:p>
            <a:pPr algn="l">
              <a:lnSpc>
                <a:spcPct val="110000"/>
              </a:lnSpc>
              <a:spcAft>
                <a:spcPts val="600"/>
              </a:spcAft>
            </a:pPr>
            <a:r>
              <a:rPr sz="1450" b="0">
                <a:solidFill>
                  <a:srgbClr val="1F2A3A"/>
                </a:solidFill>
                <a:latin typeface="맑은 고딕"/>
                <a:ea typeface="맑은 고딕"/>
                <a:cs typeface="맑은 고딕"/>
              </a:rPr>
              <a:t>• 남는 것: 명세 문서</a:t>
            </a:r>
          </a:p>
          <a:p>
            <a:pPr algn="l">
              <a:lnSpc>
                <a:spcPct val="110000"/>
              </a:lnSpc>
              <a:spcAft>
                <a:spcPts val="600"/>
              </a:spcAft>
            </a:pPr>
            <a:r>
              <a:rPr sz="14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만든 것이 정한 대로 행동하는가</a:t>
            </a:r>
          </a:p>
          <a:p>
            <a:pPr algn="l">
              <a:lnSpc>
                <a:spcPct val="110000"/>
              </a:lnSpc>
              <a:spcAft>
                <a:spcPts val="600"/>
              </a:spcAft>
            </a:pPr>
            <a:r>
              <a:rPr sz="1450" b="0">
                <a:solidFill>
                  <a:srgbClr val="1F2A3A"/>
                </a:solidFill>
                <a:latin typeface="맑은 고딕"/>
                <a:ea typeface="맑은 고딕"/>
                <a:cs typeface="맑은 고딕"/>
              </a:rPr>
              <a:t>• 때: 구현한 뒤, 그리고 바꿀 때마다</a:t>
            </a:r>
          </a:p>
          <a:p>
            <a:pPr algn="l">
              <a:lnSpc>
                <a:spcPct val="110000"/>
              </a:lnSpc>
              <a:spcAft>
                <a:spcPts val="600"/>
              </a:spcAft>
            </a:pPr>
            <a:r>
              <a:rPr sz="1450" b="0">
                <a:solidFill>
                  <a:srgbClr val="1F2A3A"/>
                </a:solidFill>
                <a:latin typeface="맑은 고딕"/>
                <a:ea typeface="맑은 고딕"/>
                <a:cs typeface="맑은 고딕"/>
              </a:rPr>
              <a:t>• 남는 것: 시나리오와 실행 결과</a:t>
            </a:r>
          </a:p>
          <a:p>
            <a:pPr algn="l">
              <a:lnSpc>
                <a:spcPct val="110000"/>
              </a:lnSpc>
              <a:spcAft>
                <a:spcPts val="600"/>
              </a:spcAft>
            </a:pPr>
            <a:r>
              <a:rPr sz="14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것이 시나리오에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시나리오의 입력과 기대값은 명세에서 오며, 명세의 계약과 금지 조건과 수용 기준은 시나리오의 정해진 자리로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명세에 적은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시나리오에서 놓이는 자리</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입력 계약</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Given과 When에 넣는 입력값</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HYD-01,</a:t>
            </a:r>
          </a:p>
          <a:p>
            <a:pPr algn="l">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출력 계약</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Then: 결과에 있어야 하는 항목</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추천, 판단 번호 등</a:t>
            </a:r>
          </a:p>
          <a:p>
            <a:pPr algn="l">
              <a:lnSpc>
                <a:spcPct val="110000"/>
              </a:lnSpc>
            </a:pPr>
            <a:r>
              <a:rPr sz="1250" b="1">
                <a:solidFill>
                  <a:srgbClr val="556175"/>
                </a:solidFill>
                <a:latin typeface="맑은 고딕"/>
                <a:ea typeface="맑은 고딕"/>
                <a:cs typeface="맑은 고딕"/>
              </a:rPr>
              <a:t>다섯 항목</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조건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Then: 일어나지 않아야 하는 일</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 전에는</a:t>
            </a:r>
          </a:p>
          <a:p>
            <a:pPr algn="l">
              <a:lnSpc>
                <a:spcPct val="110000"/>
              </a:lnSpc>
            </a:pPr>
            <a:r>
              <a:rPr sz="1250" b="1">
                <a:solidFill>
                  <a:srgbClr val="1A6FC4"/>
                </a:solidFill>
                <a:latin typeface="맑은 고딕"/>
                <a:ea typeface="맑은 고딕"/>
                <a:cs typeface="맑은 고딕"/>
              </a:rPr>
              <a:t>설비 명령 0건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 하나하나의 통과</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명령도</a:t>
            </a:r>
          </a:p>
          <a:p>
            <a:pPr algn="l">
              <a:lnSpc>
                <a:spcPct val="110000"/>
              </a:lnSpc>
            </a:pPr>
            <a:r>
              <a:rPr sz="1250" b="1">
                <a:solidFill>
                  <a:srgbClr val="556175"/>
                </a:solidFill>
                <a:latin typeface="맑은 고딕"/>
                <a:ea typeface="맑은 고딕"/>
                <a:cs typeface="맑은 고딕"/>
              </a:rPr>
              <a:t>업무 처리도 없다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시나리오에서 실행 가능한 검증으로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Given은 준비할 입력으로, When은 실행할 행동으로, Then은 견줄 기대값으로 옮겨져 실행 가능한 검증이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시나리오연결.svg" descr="illust_5502099929993074857_179174347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2549484"/>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Given</a:t>
            </a:r>
          </a:p>
          <a:p>
            <a:pPr algn="ctr">
              <a:lnSpc>
                <a:spcPct val="110000"/>
              </a:lnSpc>
              <a:spcAft>
                <a:spcPts val="100"/>
              </a:spcAft>
            </a:pPr>
            <a:r>
              <a:rPr sz="1100" b="0">
                <a:solidFill>
                  <a:srgbClr val="556175"/>
                </a:solidFill>
                <a:latin typeface="맑은 고딕"/>
                <a:ea typeface="맑은 고딕"/>
                <a:cs typeface="맑은 고딕"/>
              </a:rPr>
              <a:t>승인 단계가 열려 있다</a:t>
            </a:r>
          </a:p>
        </p:txBody>
      </p:sp>
      <p:sp>
        <p:nvSpPr>
          <p:cNvPr id="8" name="TextBox 7"/>
          <p:cNvSpPr txBox="1"/>
          <p:nvPr/>
        </p:nvSpPr>
        <p:spPr>
          <a:xfrm>
            <a:off x="1219303" y="3825895"/>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When</a:t>
            </a:r>
          </a:p>
          <a:p>
            <a:pPr algn="ctr">
              <a:lnSpc>
                <a:spcPct val="110000"/>
              </a:lnSpc>
              <a:spcAft>
                <a:spcPts val="100"/>
              </a:spcAft>
            </a:pPr>
            <a:r>
              <a:rPr sz="1100" b="0">
                <a:solidFill>
                  <a:srgbClr val="556175"/>
                </a:solidFill>
                <a:latin typeface="맑은 고딕"/>
                <a:ea typeface="맑은 고딕"/>
                <a:cs typeface="맑은 고딕"/>
              </a:rPr>
              <a:t>사유를 적고 거절한다</a:t>
            </a:r>
          </a:p>
        </p:txBody>
      </p:sp>
      <p:sp>
        <p:nvSpPr>
          <p:cNvPr id="9" name="TextBox 8"/>
          <p:cNvSpPr txBox="1"/>
          <p:nvPr/>
        </p:nvSpPr>
        <p:spPr>
          <a:xfrm>
            <a:off x="1219303" y="5102306"/>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Then</a:t>
            </a:r>
          </a:p>
          <a:p>
            <a:pPr algn="ctr">
              <a:lnSpc>
                <a:spcPct val="110000"/>
              </a:lnSpc>
              <a:spcAft>
                <a:spcPts val="100"/>
              </a:spcAft>
            </a:pPr>
            <a:r>
              <a:rPr sz="1100" b="0">
                <a:solidFill>
                  <a:srgbClr val="556175"/>
                </a:solidFill>
                <a:latin typeface="맑은 고딕"/>
                <a:ea typeface="맑은 고딕"/>
                <a:cs typeface="맑은 고딕"/>
              </a:rPr>
              <a:t>명령 0건, 거절로 종료</a:t>
            </a:r>
          </a:p>
        </p:txBody>
      </p:sp>
      <p:sp>
        <p:nvSpPr>
          <p:cNvPr id="10" name="TextBox 9"/>
          <p:cNvSpPr txBox="1"/>
          <p:nvPr/>
        </p:nvSpPr>
        <p:spPr>
          <a:xfrm>
            <a:off x="5768562" y="2478572"/>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준비할 입력</a:t>
            </a:r>
          </a:p>
          <a:p>
            <a:pPr algn="ctr">
              <a:lnSpc>
                <a:spcPct val="110000"/>
              </a:lnSpc>
              <a:spcAft>
                <a:spcPts val="100"/>
              </a:spcAft>
            </a:pPr>
            <a:r>
              <a:rPr sz="1100" b="0">
                <a:solidFill>
                  <a:srgbClr val="556175"/>
                </a:solidFill>
                <a:latin typeface="맑은 고딕"/>
                <a:ea typeface="맑은 고딕"/>
                <a:cs typeface="맑은 고딕"/>
              </a:rPr>
              <a:t>고정한 경보와 값</a:t>
            </a:r>
          </a:p>
        </p:txBody>
      </p:sp>
      <p:sp>
        <p:nvSpPr>
          <p:cNvPr id="11" name="TextBox 10"/>
          <p:cNvSpPr txBox="1"/>
          <p:nvPr/>
        </p:nvSpPr>
        <p:spPr>
          <a:xfrm>
            <a:off x="4426694" y="43931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실행할 행동</a:t>
            </a:r>
          </a:p>
        </p:txBody>
      </p:sp>
      <p:sp>
        <p:nvSpPr>
          <p:cNvPr id="12" name="TextBox 11"/>
          <p:cNvSpPr txBox="1"/>
          <p:nvPr/>
        </p:nvSpPr>
        <p:spPr>
          <a:xfrm>
            <a:off x="4426694" y="5693237"/>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견줄 기대값</a:t>
            </a:r>
          </a:p>
        </p:txBody>
      </p:sp>
      <p:sp>
        <p:nvSpPr>
          <p:cNvPr id="13" name="TextBox 12"/>
          <p:cNvSpPr txBox="1"/>
          <p:nvPr/>
        </p:nvSpPr>
        <p:spPr>
          <a:xfrm>
            <a:off x="6608593" y="31876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실제 결과</a:t>
            </a:r>
          </a:p>
        </p:txBody>
      </p:sp>
      <p:sp>
        <p:nvSpPr>
          <p:cNvPr id="14" name="TextBox 13"/>
          <p:cNvSpPr txBox="1"/>
          <p:nvPr/>
        </p:nvSpPr>
        <p:spPr>
          <a:xfrm>
            <a:off x="6641322" y="5385953"/>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대조</a:t>
            </a:r>
          </a:p>
          <a:p>
            <a:pPr algn="ctr">
              <a:lnSpc>
                <a:spcPct val="110000"/>
              </a:lnSpc>
              <a:spcAft>
                <a:spcPts val="100"/>
              </a:spcAft>
            </a:pPr>
            <a:r>
              <a:rPr sz="1100" b="0">
                <a:solidFill>
                  <a:srgbClr val="556175"/>
                </a:solidFill>
                <a:latin typeface="맑은 고딕"/>
                <a:ea typeface="맑은 고딕"/>
                <a:cs typeface="맑은 고딕"/>
              </a:rPr>
              <a:t>기대값과 실제 결과</a:t>
            </a:r>
          </a:p>
        </p:txBody>
      </p:sp>
      <p:sp>
        <p:nvSpPr>
          <p:cNvPr id="15" name="TextBox 14"/>
          <p:cNvSpPr txBox="1"/>
          <p:nvPr/>
        </p:nvSpPr>
        <p:spPr>
          <a:xfrm>
            <a:off x="9772347" y="4251365"/>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통과</a:t>
            </a:r>
          </a:p>
        </p:txBody>
      </p:sp>
      <p:sp>
        <p:nvSpPr>
          <p:cNvPr id="16" name="TextBox 15"/>
          <p:cNvSpPr txBox="1"/>
          <p:nvPr/>
        </p:nvSpPr>
        <p:spPr>
          <a:xfrm>
            <a:off x="9390515" y="5754694"/>
            <a:ext cx="207280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실패</a:t>
            </a:r>
          </a:p>
          <a:p>
            <a:pPr algn="ctr">
              <a:lnSpc>
                <a:spcPct val="110000"/>
              </a:lnSpc>
              <a:spcAft>
                <a:spcPts val="100"/>
              </a:spcAft>
            </a:pPr>
            <a:r>
              <a:rPr sz="1100" b="0">
                <a:solidFill>
                  <a:srgbClr val="556175"/>
                </a:solidFill>
                <a:latin typeface="맑은 고딕"/>
                <a:ea typeface="맑은 고딕"/>
                <a:cs typeface="맑은 고딕"/>
              </a:rPr>
              <a:t>어긋난 시나리오의 이름이 남는다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단언: 기대값과 실제 결과를 대어 보는 한 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Then의 한 줄은 시험 코드에서 단언 한 줄이 되고, 단언이 하나라도 어긋나면 그 시험은 실패로 기록된다.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test_rejection_does_nothing_to_plant_</a:t>
            </a:r>
          </a:p>
          <a:p>
            <a:pPr algn="l">
              <a:lnSpc>
                <a:spcPct val="110000"/>
              </a:lnSpc>
              <a:spcAft>
                <a:spcPts val="200"/>
              </a:spcAft>
            </a:pPr>
            <a:r>
              <a:rPr sz="1300" b="0">
                <a:solidFill>
                  <a:srgbClr val="E8EEF6"/>
                </a:solidFill>
                <a:latin typeface="Consolas"/>
                <a:ea typeface="맑은 고딕"/>
                <a:cs typeface="맑은 고딕"/>
              </a:rPr>
              <a:t>    or_business_and_closes_the_case_</a:t>
            </a:r>
          </a:p>
          <a:p>
            <a:pPr algn="l">
              <a:lnSpc>
                <a:spcPct val="110000"/>
              </a:lnSpc>
              <a:spcAft>
                <a:spcPts val="200"/>
              </a:spcAft>
            </a:pPr>
            <a:r>
              <a:rPr sz="1300" b="0">
                <a:solidFill>
                  <a:srgbClr val="E8EEF6"/>
                </a:solidFill>
                <a:latin typeface="Consolas"/>
                <a:ea typeface="맑은 고딕"/>
                <a:cs typeface="맑은 고딕"/>
              </a:rPr>
              <a:t>    as_rejected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reject_card(</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assert out.calls == []</a:t>
            </a:r>
          </a:p>
          <a:p>
            <a:pPr algn="l">
              <a:lnSpc>
                <a:spcPct val="110000"/>
              </a:lnSpc>
              <a:spcAft>
                <a:spcPts val="200"/>
              </a:spcAft>
            </a:pPr>
            <a:r>
              <a:rPr sz="1300" b="0">
                <a:solidFill>
                  <a:srgbClr val="E8EEF6"/>
                </a:solidFill>
                <a:latin typeface="Consolas"/>
                <a:ea typeface="맑은 고딕"/>
                <a:cs typeface="맑은 고딕"/>
              </a:rPr>
              <a:t>assert v["approval"] == "</a:t>
            </a:r>
            <a:r>
              <a:rPr sz="1300" b="0">
                <a:solidFill>
                  <a:srgbClr val="E8EEF6"/>
                </a:solidFill>
                <a:latin typeface="맑은 고딕"/>
                <a:ea typeface="맑은 고딕"/>
                <a:cs typeface="맑은 고딕"/>
              </a:rPr>
              <a:t>반려</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시험 이름</a:t>
            </a:r>
          </a:p>
          <a:p>
            <a:pPr algn="l">
              <a:lnSpc>
                <a:spcPct val="110000"/>
              </a:lnSpc>
              <a:spcAft>
                <a:spcPts val="400"/>
              </a:spcAft>
            </a:pPr>
            <a:r>
              <a:rPr sz="1400" b="0">
                <a:solidFill>
                  <a:srgbClr val="1F2A3A"/>
                </a:solidFill>
                <a:latin typeface="맑은 고딕"/>
                <a:ea typeface="맑은 고딕"/>
                <a:cs typeface="맑은 고딕"/>
              </a:rPr>
              <a:t>거절은 설비와 업무에 아무 일도 하지 않고 처리 건을 거절로 닫는다는 시나리오 문장이다.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reject_card</a:t>
            </a:r>
          </a:p>
          <a:p>
            <a:pPr algn="l">
              <a:lnSpc>
                <a:spcPct val="110000"/>
              </a:lnSpc>
              <a:spcAft>
                <a:spcPts val="400"/>
              </a:spcAft>
            </a:pPr>
            <a:r>
              <a:rPr sz="1400" b="0">
                <a:solidFill>
                  <a:srgbClr val="1F2A3A"/>
                </a:solidFill>
                <a:latin typeface="맑은 고딕"/>
                <a:ea typeface="맑은 고딕"/>
                <a:cs typeface="맑은 고딕"/>
              </a:rPr>
              <a:t>When이다. 사유를 넣어 거절을 실행한다.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assert</a:t>
            </a:r>
          </a:p>
          <a:p>
            <a:pPr algn="l">
              <a:lnSpc>
                <a:spcPct val="110000"/>
              </a:lnSpc>
              <a:spcAft>
                <a:spcPts val="400"/>
              </a:spcAft>
            </a:pPr>
            <a:r>
              <a:rPr sz="1400" b="0">
                <a:solidFill>
                  <a:srgbClr val="1F2A3A"/>
                </a:solidFill>
                <a:latin typeface="맑은 고딕"/>
                <a:ea typeface="맑은 고딕"/>
                <a:cs typeface="맑은 고딕"/>
              </a:rPr>
              <a:t>단언(Assertion)이다. 뒤의 식이 참이 아니면 시험이 실패한다.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두 단언</a:t>
            </a:r>
          </a:p>
          <a:p>
            <a:pPr algn="l">
              <a:lnSpc>
                <a:spcPct val="110000"/>
              </a:lnSpc>
              <a:spcAft>
                <a:spcPts val="400"/>
              </a:spcAft>
            </a:pPr>
            <a:r>
              <a:rPr sz="1400" b="0">
                <a:solidFill>
                  <a:srgbClr val="1F2A3A"/>
                </a:solidFill>
                <a:latin typeface="맑은 고딕"/>
                <a:ea typeface="맑은 고딕"/>
                <a:cs typeface="맑은 고딕"/>
              </a:rPr>
              <a:t>업무 처리를 부른 목록이 비어 있다, 승인 값이 거절을 뜻하는 「반려」이다.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종류의 시험: 정상, 경계, 예외, 회귀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종류는 확인하는 대상이 달라서 정상은 기본 경로를, 경계는 기준값 근처를, 예외는 실패를, 회귀는 변경 뒤를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종류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확인하는 것</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승인 단계의 시나리오</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정상</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기본 경로가 끝까지 가는가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승인하면 처리 건이</a:t>
            </a:r>
          </a:p>
          <a:p>
            <a:pPr algn="l">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기준값의 바로 안팎에서 판정이 맞는가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10분을 넘긴 직후</a:t>
            </a:r>
          </a:p>
          <a:p>
            <a:pPr algn="l">
              <a:lnSpc>
                <a:spcPct val="110000"/>
              </a:lnSpc>
            </a:pPr>
            <a:r>
              <a:rPr sz="1250" b="1">
                <a:solidFill>
                  <a:srgbClr val="556175"/>
                </a:solidFill>
                <a:latin typeface="맑은 고딕"/>
                <a:ea typeface="맑은 고딕"/>
                <a:cs typeface="맑은 고딕"/>
              </a:rPr>
              <a:t>알림만 나가고 기다린다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예외</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누락, 오류를 정한 대로 다루는가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사유 없는 거절은</a:t>
            </a:r>
          </a:p>
          <a:p>
            <a:pPr algn="l">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바꾼 뒤에도 기존 행동이 그대로인가</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긴급 조건을 더한 뒤에도</a:t>
            </a:r>
          </a:p>
          <a:p>
            <a:pPr algn="l">
              <a:lnSpc>
                <a:spcPct val="110000"/>
              </a:lnSpc>
            </a:pPr>
            <a:r>
              <a:rPr sz="1250" b="1">
                <a:solidFill>
                  <a:srgbClr val="1A6FC4"/>
                </a:solidFill>
                <a:latin typeface="맑은 고딕"/>
                <a:ea typeface="맑은 고딕"/>
                <a:cs typeface="맑은 고딕"/>
              </a:rPr>
              <a:t>일반 요청의 결과가 같다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경계값 분석: 기준값의 바로 안쪽과 바깥쪽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회복 기준인 유온 55 ℃ 미만은 54.9 ℃와 55.0 ℃ 사이에서 판정이 갈리며, 경계 시험은 그 두 값을 입력으로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pic>
        <p:nvPicPr>
          <p:cNvPr id="6" name="삽화:경계값.svg" descr="illust_5367220930160539467_179174347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2714945"/>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회복 기준을 충족하는 구간</a:t>
            </a:r>
          </a:p>
          <a:p>
            <a:pPr algn="ctr">
              <a:lnSpc>
                <a:spcPct val="110000"/>
              </a:lnSpc>
              <a:spcAft>
                <a:spcPts val="100"/>
              </a:spcAft>
            </a:pPr>
            <a:r>
              <a:rPr sz="1300" b="0">
                <a:solidFill>
                  <a:srgbClr val="556175"/>
                </a:solidFill>
                <a:latin typeface="맑은 고딕"/>
                <a:ea typeface="맑은 고딕"/>
                <a:cs typeface="맑은 고딕"/>
              </a:rPr>
              <a:t>유온 55 ℃ 미만</a:t>
            </a:r>
          </a:p>
        </p:txBody>
      </p:sp>
      <p:sp>
        <p:nvSpPr>
          <p:cNvPr id="8" name="TextBox 7"/>
          <p:cNvSpPr txBox="1"/>
          <p:nvPr/>
        </p:nvSpPr>
        <p:spPr>
          <a:xfrm>
            <a:off x="7154068" y="219492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기준값</a:t>
            </a:r>
          </a:p>
        </p:txBody>
      </p:sp>
      <p:sp>
        <p:nvSpPr>
          <p:cNvPr id="9" name="TextBox 8"/>
          <p:cNvSpPr txBox="1"/>
          <p:nvPr/>
        </p:nvSpPr>
        <p:spPr>
          <a:xfrm>
            <a:off x="8823221" y="271494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충족하지 않는 구간</a:t>
            </a:r>
          </a:p>
        </p:txBody>
      </p:sp>
      <p:sp>
        <p:nvSpPr>
          <p:cNvPr id="10" name="TextBox 9"/>
          <p:cNvSpPr txBox="1"/>
          <p:nvPr/>
        </p:nvSpPr>
        <p:spPr>
          <a:xfrm>
            <a:off x="2473895" y="4629561"/>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51.5 ℃</a:t>
            </a:r>
          </a:p>
          <a:p>
            <a:pPr algn="ctr">
              <a:lnSpc>
                <a:spcPct val="110000"/>
              </a:lnSpc>
              <a:spcAft>
                <a:spcPts val="100"/>
              </a:spcAft>
            </a:pPr>
            <a:r>
              <a:rPr sz="1300" b="0">
                <a:solidFill>
                  <a:srgbClr val="556175"/>
                </a:solidFill>
                <a:latin typeface="맑은 고딕"/>
                <a:ea typeface="맑은 고딕"/>
                <a:cs typeface="맑은 고딕"/>
              </a:rPr>
              <a:t>실제 사건의 값</a:t>
            </a:r>
          </a:p>
        </p:txBody>
      </p:sp>
      <p:sp>
        <p:nvSpPr>
          <p:cNvPr id="11" name="TextBox 10"/>
          <p:cNvSpPr txBox="1"/>
          <p:nvPr/>
        </p:nvSpPr>
        <p:spPr>
          <a:xfrm>
            <a:off x="5899476" y="4629561"/>
            <a:ext cx="130913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54.9 ℃</a:t>
            </a:r>
          </a:p>
          <a:p>
            <a:pPr algn="ctr">
              <a:lnSpc>
                <a:spcPct val="110000"/>
              </a:lnSpc>
              <a:spcAft>
                <a:spcPts val="100"/>
              </a:spcAft>
            </a:pPr>
            <a:r>
              <a:rPr sz="1300" b="0">
                <a:solidFill>
                  <a:srgbClr val="556175"/>
                </a:solidFill>
                <a:latin typeface="맑은 고딕"/>
                <a:ea typeface="맑은 고딕"/>
                <a:cs typeface="맑은 고딕"/>
              </a:rPr>
              <a:t>기준의 바로 안쪽</a:t>
            </a:r>
          </a:p>
        </p:txBody>
      </p:sp>
      <p:sp>
        <p:nvSpPr>
          <p:cNvPr id="12" name="TextBox 11"/>
          <p:cNvSpPr txBox="1"/>
          <p:nvPr/>
        </p:nvSpPr>
        <p:spPr>
          <a:xfrm>
            <a:off x="7263163" y="4629561"/>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55.0 ℃</a:t>
            </a:r>
          </a:p>
          <a:p>
            <a:pPr algn="ctr">
              <a:lnSpc>
                <a:spcPct val="110000"/>
              </a:lnSpc>
              <a:spcAft>
                <a:spcPts val="100"/>
              </a:spcAft>
            </a:pPr>
            <a:r>
              <a:rPr sz="1300" b="0">
                <a:solidFill>
                  <a:srgbClr val="556175"/>
                </a:solidFill>
                <a:latin typeface="맑은 고딕"/>
                <a:ea typeface="맑은 고딕"/>
                <a:cs typeface="맑은 고딕"/>
              </a:rPr>
              <a:t>기준값</a:t>
            </a:r>
          </a:p>
        </p:txBody>
      </p:sp>
      <p:sp>
        <p:nvSpPr>
          <p:cNvPr id="13" name="TextBox 12"/>
          <p:cNvSpPr txBox="1"/>
          <p:nvPr/>
        </p:nvSpPr>
        <p:spPr>
          <a:xfrm>
            <a:off x="8626850" y="4629561"/>
            <a:ext cx="130913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55.1 ℃</a:t>
            </a:r>
          </a:p>
          <a:p>
            <a:pPr algn="ctr">
              <a:lnSpc>
                <a:spcPct val="110000"/>
              </a:lnSpc>
              <a:spcAft>
                <a:spcPts val="100"/>
              </a:spcAft>
            </a:pPr>
            <a:r>
              <a:rPr sz="1300" b="0">
                <a:solidFill>
                  <a:srgbClr val="556175"/>
                </a:solidFill>
                <a:latin typeface="맑은 고딕"/>
                <a:ea typeface="맑은 고딕"/>
                <a:cs typeface="맑은 고딕"/>
              </a:rPr>
              <a:t>기준의 바로 바깥쪽</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예외 시험: 잘못되었을 때 정한 대로 행동하는가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예외 시험은 일이 잘못되었을 때 실패로 적거나 보류하거나 묻는 것처럼 미리 정한 행동이 나오는지를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19756"/>
            <a:ext cx="731520" cy="731520"/>
          </a:xfrm>
          <a:prstGeom prst="ellipse">
            <a:avLst/>
          </a:prstGeom>
          <a:solidFill>
            <a:srgbClr val="5CB8F2"/>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오류</a:t>
            </a:r>
          </a:p>
          <a:p>
            <a:pPr algn="l">
              <a:lnSpc>
                <a:spcPct val="110000"/>
              </a:lnSpc>
              <a:spcAft>
                <a:spcPts val="400"/>
              </a:spcAft>
            </a:pPr>
            <a:r>
              <a:rPr sz="1350" b="0">
                <a:solidFill>
                  <a:srgbClr val="1F2A3A"/>
                </a:solidFill>
                <a:latin typeface="맑은 고딕"/>
                <a:ea typeface="맑은 고딕"/>
                <a:cs typeface="맑은 고딕"/>
              </a:rPr>
              <a:t>• 도구가 오류를 돌려준다</a:t>
            </a:r>
          </a:p>
          <a:p>
            <a:pPr algn="l">
              <a:lnSpc>
                <a:spcPct val="110000"/>
              </a:lnSpc>
              <a:spcAft>
                <a:spcPts val="400"/>
              </a:spcAft>
            </a:pPr>
            <a:r>
              <a:rPr sz="1350" b="0">
                <a:solidFill>
                  <a:srgbClr val="1F2A3A"/>
                </a:solidFill>
                <a:latin typeface="맑은 고딕"/>
                <a:ea typeface="맑은 고딕"/>
                <a:cs typeface="맑은 고딕"/>
              </a:rPr>
              <a:t>• 기대: 실패로 적고 값을 채우지 않는다</a:t>
            </a:r>
          </a:p>
        </p:txBody>
      </p:sp>
      <p:sp>
        <p:nvSpPr>
          <p:cNvPr id="10" name="Rounded Rectangle 9"/>
          <p:cNvSpPr/>
          <p:nvPr/>
        </p:nvSpPr>
        <p:spPr>
          <a:xfrm>
            <a:off x="777240" y="5134356"/>
            <a:ext cx="132587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3435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실패로 적는다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hand-stop" descr="hand-stop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 부족</a:t>
            </a:r>
          </a:p>
          <a:p>
            <a:pPr algn="l">
              <a:lnSpc>
                <a:spcPct val="110000"/>
              </a:lnSpc>
              <a:spcAft>
                <a:spcPts val="400"/>
              </a:spcAft>
            </a:pPr>
            <a:r>
              <a:rPr sz="1350" b="0">
                <a:solidFill>
                  <a:srgbClr val="1F2A3A"/>
                </a:solidFill>
                <a:latin typeface="맑은 고딕"/>
                <a:ea typeface="맑은 고딕"/>
                <a:cs typeface="맑은 고딕"/>
              </a:rPr>
              <a:t>• 필요한 값을 읽지 못했다</a:t>
            </a:r>
          </a:p>
          <a:p>
            <a:pPr algn="l">
              <a:lnSpc>
                <a:spcPct val="110000"/>
              </a:lnSpc>
              <a:spcAft>
                <a:spcPts val="400"/>
              </a:spcAft>
            </a:pPr>
            <a:r>
              <a:rPr sz="1350" b="0">
                <a:solidFill>
                  <a:srgbClr val="1F2A3A"/>
                </a:solidFill>
                <a:latin typeface="맑은 고딕"/>
                <a:ea typeface="맑은 고딕"/>
                <a:cs typeface="맑은 고딕"/>
              </a:rPr>
              <a:t>• 기대: 원인을 고르지 않고 보류로 낸다</a:t>
            </a:r>
          </a:p>
        </p:txBody>
      </p:sp>
      <p:sp>
        <p:nvSpPr>
          <p:cNvPr id="16" name="Rounded Rectangle 15"/>
          <p:cNvSpPr/>
          <p:nvPr/>
        </p:nvSpPr>
        <p:spPr>
          <a:xfrm>
            <a:off x="3619423" y="5134356"/>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보류한다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help-circle" descr="help-circl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정보 누락</a:t>
            </a:r>
          </a:p>
          <a:p>
            <a:pPr algn="l">
              <a:lnSpc>
                <a:spcPct val="110000"/>
              </a:lnSpc>
              <a:spcAft>
                <a:spcPts val="400"/>
              </a:spcAft>
            </a:pPr>
            <a:r>
              <a:rPr sz="1350" b="0">
                <a:solidFill>
                  <a:srgbClr val="1F2A3A"/>
                </a:solidFill>
                <a:latin typeface="맑은 고딕"/>
                <a:ea typeface="맑은 고딕"/>
                <a:cs typeface="맑은 고딕"/>
              </a:rPr>
              <a:t>• 필요한 정보가 없고 도구로도 확인할 수 없다</a:t>
            </a:r>
          </a:p>
          <a:p>
            <a:pPr algn="l">
              <a:lnSpc>
                <a:spcPct val="110000"/>
              </a:lnSpc>
              <a:spcAft>
                <a:spcPts val="400"/>
              </a:spcAft>
            </a:pPr>
            <a:r>
              <a:rPr sz="1350" b="0">
                <a:solidFill>
                  <a:srgbClr val="1F2A3A"/>
                </a:solidFill>
                <a:latin typeface="맑은 고딕"/>
                <a:ea typeface="맑은 고딕"/>
                <a:cs typeface="맑은 고딕"/>
              </a:rPr>
              <a:t>• 기대: 확정하지 않고 사람에게 묻는다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묻는다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없음</a:t>
            </a:r>
          </a:p>
          <a:p>
            <a:pPr algn="l">
              <a:lnSpc>
                <a:spcPct val="110000"/>
              </a:lnSpc>
              <a:spcAft>
                <a:spcPts val="400"/>
              </a:spcAft>
            </a:pPr>
            <a:r>
              <a:rPr sz="1350" b="0">
                <a:solidFill>
                  <a:srgbClr val="1F2A3A"/>
                </a:solidFill>
                <a:latin typeface="맑은 고딕"/>
                <a:ea typeface="맑은 고딕"/>
                <a:cs typeface="맑은 고딕"/>
              </a:rPr>
              <a:t>• 승인 권한이 없는 역할로 요청한다</a:t>
            </a:r>
          </a:p>
          <a:p>
            <a:pPr algn="l">
              <a:lnSpc>
                <a:spcPct val="110000"/>
              </a:lnSpc>
              <a:spcAft>
                <a:spcPts val="400"/>
              </a:spcAft>
            </a:pPr>
            <a:r>
              <a:rPr sz="1350" b="0">
                <a:solidFill>
                  <a:srgbClr val="1F2A3A"/>
                </a:solidFill>
                <a:latin typeface="맑은 고딕"/>
                <a:ea typeface="맑은 고딕"/>
                <a:cs typeface="맑은 고딕"/>
              </a:rPr>
              <a:t>• 기대: 요청이 거부된다</a:t>
            </a:r>
          </a:p>
        </p:txBody>
      </p:sp>
      <p:sp>
        <p:nvSpPr>
          <p:cNvPr id="28" name="Rounded Rectangle 27"/>
          <p:cNvSpPr/>
          <p:nvPr/>
        </p:nvSpPr>
        <p:spPr>
          <a:xfrm>
            <a:off x="9303791" y="5134356"/>
            <a:ext cx="9753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거부한다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pic>
        <p:nvPicPr>
          <p:cNvPr id="6" name="삽화:회귀.svg" descr="illust_8015491000036182807_179174347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기존 시나리오 넷</a:t>
            </a:r>
          </a:p>
          <a:p>
            <a:pPr algn="ctr">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요구의 변경</a:t>
            </a:r>
          </a:p>
          <a:p>
            <a:pPr algn="ctr">
              <a:lnSpc>
                <a:spcPct val="110000"/>
              </a:lnSpc>
              <a:spcAft>
                <a:spcPts val="100"/>
              </a:spcAft>
            </a:pPr>
            <a:r>
              <a:rPr sz="1300" b="0">
                <a:solidFill>
                  <a:srgbClr val="556175"/>
                </a:solidFill>
                <a:latin typeface="맑은 고딕"/>
                <a:ea typeface="맑은 고딕"/>
                <a:cs typeface="맑은 고딕"/>
              </a:rPr>
              <a:t>명세에 긴급 조건을 더한다</a:t>
            </a:r>
          </a:p>
        </p:txBody>
      </p:sp>
      <p:sp>
        <p:nvSpPr>
          <p:cNvPr id="10" name="TextBox 9"/>
          <p:cNvSpPr txBox="1"/>
          <p:nvPr/>
        </p:nvSpPr>
        <p:spPr>
          <a:xfrm>
            <a:off x="8059556"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110541" y="3329513"/>
            <a:ext cx="141823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회귀 시험</a:t>
            </a:r>
          </a:p>
          <a:p>
            <a:pPr algn="ctr">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110541" y="4511375"/>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입력에도 달라지는 에이전트의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쿨러 경보를 두 번 처리한 기록에서 원인과 추천과 점수는 같았고, 문장과 호출 순서와 걸린 시간은 달랐다.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equal" descr="equal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두 실행에서 같았던 것</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쿨러 핀 오염</a:t>
            </a:r>
          </a:p>
          <a:p>
            <a:pPr algn="l">
              <a:lnSpc>
                <a:spcPct val="110000"/>
              </a:lnSpc>
              <a:spcAft>
                <a:spcPts val="600"/>
              </a:spcAft>
            </a:pPr>
            <a:r>
              <a:rPr sz="1450" b="0">
                <a:solidFill>
                  <a:srgbClr val="1F2A3A"/>
                </a:solidFill>
                <a:latin typeface="맑은 고딕"/>
                <a:ea typeface="맑은 고딕"/>
                <a:cs typeface="맑은 고딕"/>
              </a:rPr>
              <a:t>• 추천: 팬 최대 운전</a:t>
            </a:r>
          </a:p>
          <a:p>
            <a:pPr algn="l">
              <a:lnSpc>
                <a:spcPct val="110000"/>
              </a:lnSpc>
              <a:spcAft>
                <a:spcPts val="600"/>
              </a:spcAft>
            </a:pPr>
            <a:r>
              <a:rPr sz="1450" b="0">
                <a:solidFill>
                  <a:srgbClr val="1F2A3A"/>
                </a:solidFill>
                <a:latin typeface="맑은 고딕"/>
                <a:ea typeface="맑은 고딕"/>
                <a:cs typeface="맑은 고딕"/>
              </a:rPr>
              <a:t>• 점수: 3.38</a:t>
            </a:r>
          </a:p>
          <a:p>
            <a:pPr algn="l">
              <a:lnSpc>
                <a:spcPct val="110000"/>
              </a:lnSpc>
              <a:spcAft>
                <a:spcPts val="600"/>
              </a:spcAft>
            </a:pPr>
            <a:r>
              <a:rPr sz="1450" b="0">
                <a:solidFill>
                  <a:srgbClr val="1F2A3A"/>
                </a:solidFill>
                <a:latin typeface="맑은 고딕"/>
                <a:ea typeface="맑은 고딕"/>
                <a:cs typeface="맑은 고딕"/>
              </a:rPr>
              <a:t>• 까닭: 같은 사실이면 같은 결과를 내는 도구가 계산한다</a:t>
            </a:r>
          </a:p>
        </p:txBody>
      </p:sp>
      <p:sp>
        <p:nvSpPr>
          <p:cNvPr id="11" name="Rounded Rectangle 10"/>
          <p:cNvSpPr/>
          <p:nvPr/>
        </p:nvSpPr>
        <p:spPr>
          <a:xfrm>
            <a:off x="868680" y="5246433"/>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판단의 내용</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arrows-exchange" descr="arrows-exchang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두 실행에서 달랐던 것</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설명의 문장</a:t>
            </a:r>
          </a:p>
          <a:p>
            <a:pPr algn="l">
              <a:lnSpc>
                <a:spcPct val="110000"/>
              </a:lnSpc>
              <a:spcAft>
                <a:spcPts val="600"/>
              </a:spcAft>
            </a:pPr>
            <a:r>
              <a:rPr sz="1450" b="0">
                <a:solidFill>
                  <a:srgbClr val="1F2A3A"/>
                </a:solidFill>
                <a:latin typeface="맑은 고딕"/>
                <a:ea typeface="맑은 고딕"/>
                <a:cs typeface="맑은 고딕"/>
              </a:rPr>
              <a:t>• 도구를 부른 순서</a:t>
            </a:r>
          </a:p>
          <a:p>
            <a:pPr algn="l">
              <a:lnSpc>
                <a:spcPct val="110000"/>
              </a:lnSpc>
              <a:spcAft>
                <a:spcPts val="600"/>
              </a:spcAft>
            </a:pPr>
            <a:r>
              <a:rPr sz="1450" b="0">
                <a:solidFill>
                  <a:srgbClr val="1F2A3A"/>
                </a:solidFill>
                <a:latin typeface="맑은 고딕"/>
                <a:ea typeface="맑은 고딕"/>
                <a:cs typeface="맑은 고딕"/>
              </a:rPr>
              <a:t>• 걸린 시간</a:t>
            </a:r>
          </a:p>
          <a:p>
            <a:pPr algn="l">
              <a:lnSpc>
                <a:spcPct val="110000"/>
              </a:lnSpc>
              <a:spcAft>
                <a:spcPts val="600"/>
              </a:spcAft>
            </a:pPr>
            <a:r>
              <a:rPr sz="1450" b="0">
                <a:solidFill>
                  <a:srgbClr val="1F2A3A"/>
                </a:solidFill>
                <a:latin typeface="맑은 고딕"/>
                <a:ea typeface="맑은 고딕"/>
                <a:cs typeface="맑은 고딕"/>
              </a:rPr>
              <a:t>• 까닭: 모델이 실행할 때마다 새로 정한다</a:t>
            </a:r>
          </a:p>
        </p:txBody>
      </p:sp>
      <p:sp>
        <p:nvSpPr>
          <p:cNvPr id="18" name="Rounded Rectangle 17"/>
          <p:cNvSpPr/>
          <p:nvPr/>
        </p:nvSpPr>
        <p:spPr>
          <a:xfrm>
            <a:off x="6781647" y="5246433"/>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표현과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 차이와 계약 위반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달라져도 되는 표현 차이와 어겨서는 안 되는 계약 위반을 가르지 않으면, 시험이 불필요한 실패를 내거나 실패를 놓친다.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표현 차이</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설명문의 낱말과 말투</a:t>
            </a:r>
          </a:p>
          <a:p>
            <a:pPr algn="l">
              <a:lnSpc>
                <a:spcPct val="110000"/>
              </a:lnSpc>
              <a:spcAft>
                <a:spcPts val="600"/>
              </a:spcAft>
            </a:pPr>
            <a:r>
              <a:rPr sz="1450" b="0">
                <a:solidFill>
                  <a:srgbClr val="1F2A3A"/>
                </a:solidFill>
                <a:latin typeface="맑은 고딕"/>
                <a:ea typeface="맑은 고딕"/>
                <a:cs typeface="맑은 고딕"/>
              </a:rPr>
              <a:t>• 도구를 부른 순서</a:t>
            </a:r>
          </a:p>
          <a:p>
            <a:pPr algn="l">
              <a:lnSpc>
                <a:spcPct val="110000"/>
              </a:lnSpc>
              <a:spcAft>
                <a:spcPts val="600"/>
              </a:spcAft>
            </a:pPr>
            <a:r>
              <a:rPr sz="1450" b="0">
                <a:solidFill>
                  <a:srgbClr val="1F2A3A"/>
                </a:solidFill>
                <a:latin typeface="맑은 고딕"/>
                <a:ea typeface="맑은 고딕"/>
                <a:cs typeface="맑은 고딕"/>
              </a:rPr>
              <a:t>• 걸린 시간</a:t>
            </a:r>
          </a:p>
        </p:txBody>
      </p:sp>
      <p:sp>
        <p:nvSpPr>
          <p:cNvPr id="11" name="Rounded Rectangle 10"/>
          <p:cNvSpPr/>
          <p:nvPr/>
        </p:nvSpPr>
        <p:spPr>
          <a:xfrm>
            <a:off x="868680" y="5096002"/>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허용한다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계약 위반</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결과 항목의 누락</a:t>
            </a:r>
          </a:p>
          <a:p>
            <a:pPr algn="l">
              <a:lnSpc>
                <a:spcPct val="110000"/>
              </a:lnSpc>
              <a:spcAft>
                <a:spcPts val="600"/>
              </a:spcAft>
            </a:pPr>
            <a:r>
              <a:rPr sz="1450" b="0">
                <a:solidFill>
                  <a:srgbClr val="1F2A3A"/>
                </a:solidFill>
                <a:latin typeface="맑은 고딕"/>
                <a:ea typeface="맑은 고딕"/>
                <a:cs typeface="맑은 고딕"/>
              </a:rPr>
              <a:t>• 승인 없는 쓰기</a:t>
            </a:r>
          </a:p>
          <a:p>
            <a:pPr algn="l">
              <a:lnSpc>
                <a:spcPct val="110000"/>
              </a:lnSpc>
              <a:spcAft>
                <a:spcPts val="600"/>
              </a:spcAft>
            </a:pPr>
            <a:r>
              <a:rPr sz="1450" b="0">
                <a:solidFill>
                  <a:srgbClr val="1F2A3A"/>
                </a:solidFill>
                <a:latin typeface="맑은 고딕"/>
                <a:ea typeface="맑은 고딕"/>
                <a:cs typeface="맑은 고딕"/>
              </a:rPr>
              <a:t>• 근거 식별자가 없는 카드</a:t>
            </a:r>
          </a:p>
          <a:p>
            <a:pPr algn="l">
              <a:lnSpc>
                <a:spcPct val="110000"/>
              </a:lnSpc>
              <a:spcAft>
                <a:spcPts val="600"/>
              </a:spcAft>
            </a:pPr>
            <a:r>
              <a:rPr sz="1450" b="0">
                <a:solidFill>
                  <a:srgbClr val="1F2A3A"/>
                </a:solidFill>
                <a:latin typeface="맑은 고딕"/>
                <a:ea typeface="맑은 고딕"/>
                <a:cs typeface="맑은 고딕"/>
              </a:rPr>
              <a:t>• 금지된 조치의 추천</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실패로 센다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채점: 정답표와 견주는 네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판단의 내용은 사람이 적어 둔 정답표와 대어 채점하며, 원인, 1순위 조치, 금지 조치, 근거의 네 항목만 견준다.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채점 항목</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견주는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출력에서 읽는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적중</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에이전트가 고른 원인이 정답표의 원인과 같은가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원인의 식별자</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 허용</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추천한 조치가 정답표가 허용한 조치인가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추천한 조치</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조치 미추천</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빠져야 할 조치를 추천하지 않았는가</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추천한 조치</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 포함률</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정답표의 근거를 얼마나 인용했는가</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인용한 근거의</a:t>
            </a:r>
          </a:p>
          <a:p>
            <a:pPr algn="l">
              <a:lnSpc>
                <a:spcPct val="110000"/>
              </a:lnSpc>
            </a:pPr>
            <a:r>
              <a:rPr sz="1250" b="1">
                <a:solidFill>
                  <a:srgbClr val="556175"/>
                </a:solidFill>
                <a:latin typeface="맑은 고딕"/>
                <a:ea typeface="맑은 고딕"/>
                <a:cs typeface="맑은 고딕"/>
              </a:rPr>
              <a:t>식별자</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점수</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네 항목을 정해진 비중으로 더한다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0 ~ 100점</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실패한 시험에서 고칠 곳 가리기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실패한 시험은 증상에 따라 고칠 곳이 지침, 지식, 명세, 코드로 갈리므로, 원인을 가리기 전에는 아무것도 고치지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실패의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원인이 있는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고치는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단계를 건너뛰거나 설명이 부실하다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지침</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프롬프트,</a:t>
            </a:r>
          </a:p>
          <a:p>
            <a:pPr algn="l">
              <a:lnSpc>
                <a:spcPct val="110000"/>
              </a:lnSpc>
            </a:pPr>
            <a:r>
              <a:rPr sz="1250" b="1">
                <a:solidFill>
                  <a:srgbClr val="556175"/>
                </a:solidFill>
                <a:latin typeface="맑은 고딕"/>
                <a:ea typeface="맑은 고딕"/>
                <a:cs typeface="맑은 고딕"/>
              </a:rPr>
              <a:t>스킬의 절차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판정의 기준값이 맞지 않는다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 그래프의</a:t>
            </a:r>
          </a:p>
          <a:p>
            <a:pPr algn="l">
              <a:lnSpc>
                <a:spcPct val="110000"/>
              </a:lnSpc>
            </a:pPr>
            <a:r>
              <a:rPr sz="1250" b="1">
                <a:solidFill>
                  <a:srgbClr val="556175"/>
                </a:solidFill>
                <a:latin typeface="맑은 고딕"/>
                <a:ea typeface="맑은 고딕"/>
                <a:cs typeface="맑은 고딕"/>
              </a:rPr>
              <a:t>판단 규칙</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항목이 빠졌거나 기대값이 요구와 다르다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1">
                <a:solidFill>
                  <a:srgbClr val="1A6FC4"/>
                </a:solidFill>
                <a:latin typeface="맑은 고딕"/>
                <a:ea typeface="맑은 고딕"/>
                <a:cs typeface="맑은 고딕"/>
              </a:rPr>
              <a:t>명세</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출력 계약,</a:t>
            </a:r>
          </a:p>
          <a:p>
            <a:pPr algn="l">
              <a:lnSpc>
                <a:spcPct val="110000"/>
              </a:lnSpc>
            </a:pPr>
            <a:r>
              <a:rPr sz="1250" b="1">
                <a:solidFill>
                  <a:srgbClr val="556175"/>
                </a:solidFill>
                <a:latin typeface="맑은 고딕"/>
                <a:ea typeface="맑은 고딕"/>
                <a:cs typeface="맑은 고딕"/>
              </a:rPr>
              <a:t>수용 기준</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명세대로 적혀 있는데 다르게 동작한다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코드</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해당 기능의</a:t>
            </a:r>
          </a:p>
          <a:p>
            <a:pPr algn="l">
              <a:lnSpc>
                <a:spcPct val="110000"/>
              </a:lnSpc>
            </a:pPr>
            <a:r>
              <a:rPr sz="1250" b="1">
                <a:solidFill>
                  <a:srgbClr val="556175"/>
                </a:solidFill>
                <a:latin typeface="맑은 고딕"/>
                <a:ea typeface="맑은 고딕"/>
                <a:cs typeface="맑은 고딕"/>
              </a:rPr>
              <a:t>구현</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통과시키려고 기대값을 낮춘다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고칠 곳이 아니다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기대값은</a:t>
            </a:r>
          </a:p>
          <a:p>
            <a:pPr algn="l">
              <a:lnSpc>
                <a:spcPct val="110000"/>
              </a:lnSpc>
            </a:pPr>
            <a:r>
              <a:rPr sz="1250" b="1">
                <a:solidFill>
                  <a:srgbClr val="556175"/>
                </a:solidFill>
                <a:latin typeface="맑은 고딕"/>
                <a:ea typeface="맑은 고딕"/>
                <a:cs typeface="맑은 고딕"/>
              </a:rPr>
              <a:t>명세가 정한다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기존 기능과 추가 기능을 함께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정상, 긴급, 미입력, 거절의 시나리오를 적어 실행하고, 실패를 고친 뒤 기존 기능을 함께 재검증한다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적고 실행하고 고치는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네 경우의 시나리오와 실행 결과, 실패를 고친 기록, 전체를 다시 통과시킨 재검증이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적는다</a:t>
            </a:r>
          </a:p>
          <a:p>
            <a:pPr algn="ctr">
              <a:lnSpc>
                <a:spcPct val="110000"/>
              </a:lnSpc>
              <a:spcAft>
                <a:spcPts val="400"/>
              </a:spcAft>
            </a:pPr>
            <a:r>
              <a:rPr sz="1350" b="0">
                <a:solidFill>
                  <a:srgbClr val="1F2A3A"/>
                </a:solidFill>
                <a:latin typeface="맑은 고딕"/>
                <a:ea typeface="맑은 고딕"/>
                <a:cs typeface="맑은 고딕"/>
              </a:rPr>
              <a:t>정상, 긴급, 미입력, 거절의</a:t>
            </a:r>
          </a:p>
          <a:p>
            <a:pPr algn="ctr">
              <a:lnSpc>
                <a:spcPct val="110000"/>
              </a:lnSpc>
              <a:spcAft>
                <a:spcPts val="400"/>
              </a:spcAft>
            </a:pPr>
            <a:r>
              <a:rPr sz="1350" b="0">
                <a:solidFill>
                  <a:srgbClr val="1F2A3A"/>
                </a:solidFill>
                <a:latin typeface="맑은 고딕"/>
                <a:ea typeface="맑은 고딕"/>
                <a:cs typeface="맑은 고딕"/>
              </a:rPr>
              <a:t>Given · When · Then과</a:t>
            </a:r>
          </a:p>
          <a:p>
            <a:pPr algn="ctr">
              <a:lnSpc>
                <a:spcPct val="110000"/>
              </a:lnSpc>
              <a:spcAft>
                <a:spcPts val="400"/>
              </a:spcAft>
            </a:pPr>
            <a:r>
              <a:rPr sz="1350" b="0">
                <a:solidFill>
                  <a:srgbClr val="1F2A3A"/>
                </a:solidFill>
                <a:latin typeface="맑은 고딕"/>
                <a:ea typeface="맑은 고딕"/>
                <a:cs typeface="맑은 고딕"/>
              </a:rPr>
              <a:t>입력값, 기대 상태를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player-play" descr="player-play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실행한다</a:t>
            </a:r>
          </a:p>
          <a:p>
            <a:pPr algn="ctr">
              <a:lnSpc>
                <a:spcPct val="110000"/>
              </a:lnSpc>
              <a:spcAft>
                <a:spcPts val="400"/>
              </a:spcAft>
            </a:pPr>
            <a:r>
              <a:rPr sz="1350" b="0">
                <a:solidFill>
                  <a:srgbClr val="1F2A3A"/>
                </a:solidFill>
                <a:latin typeface="맑은 고딕"/>
                <a:ea typeface="맑은 고딕"/>
                <a:cs typeface="맑은 고딕"/>
              </a:rPr>
              <a:t>시나리오를 실행해</a:t>
            </a:r>
          </a:p>
          <a:p>
            <a:pPr algn="ctr">
              <a:lnSpc>
                <a:spcPct val="110000"/>
              </a:lnSpc>
              <a:spcAft>
                <a:spcPts val="400"/>
              </a:spcAft>
            </a:pPr>
            <a:r>
              <a:rPr sz="1350" b="0">
                <a:solidFill>
                  <a:srgbClr val="1F2A3A"/>
                </a:solidFill>
                <a:latin typeface="맑은 고딕"/>
                <a:ea typeface="맑은 고딕"/>
                <a:cs typeface="맑은 고딕"/>
              </a:rPr>
              <a:t>실제 출력과 기대값을</a:t>
            </a:r>
          </a:p>
          <a:p>
            <a:pPr algn="ctr">
              <a:lnSpc>
                <a:spcPct val="110000"/>
              </a:lnSpc>
              <a:spcAft>
                <a:spcPts val="400"/>
              </a:spcAft>
            </a:pPr>
            <a:r>
              <a:rPr sz="1350" b="0">
                <a:solidFill>
                  <a:srgbClr val="1F2A3A"/>
                </a:solidFill>
                <a:latin typeface="맑은 고딕"/>
                <a:ea typeface="맑은 고딕"/>
                <a:cs typeface="맑은 고딕"/>
              </a:rPr>
              <a:t>견준다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tool" descr="tool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실패를 고친다</a:t>
            </a:r>
          </a:p>
          <a:p>
            <a:pPr algn="ctr">
              <a:lnSpc>
                <a:spcPct val="110000"/>
              </a:lnSpc>
              <a:spcAft>
                <a:spcPts val="400"/>
              </a:spcAft>
            </a:pPr>
            <a:r>
              <a:rPr sz="1350" b="0">
                <a:solidFill>
                  <a:srgbClr val="1F2A3A"/>
                </a:solidFill>
                <a:latin typeface="맑은 고딕"/>
                <a:ea typeface="맑은 고딕"/>
                <a:cs typeface="맑은 고딕"/>
              </a:rPr>
              <a:t>실제로 실패한 시나리오만</a:t>
            </a:r>
          </a:p>
          <a:p>
            <a:pPr algn="ctr">
              <a:lnSpc>
                <a:spcPct val="110000"/>
              </a:lnSpc>
              <a:spcAft>
                <a:spcPts val="400"/>
              </a:spcAft>
            </a:pPr>
            <a:r>
              <a:rPr sz="1350" b="0">
                <a:solidFill>
                  <a:srgbClr val="1F2A3A"/>
                </a:solidFill>
                <a:latin typeface="맑은 고딕"/>
                <a:ea typeface="맑은 고딕"/>
                <a:cs typeface="맑은 고딕"/>
              </a:rPr>
              <a:t>프롬프트, 명세, 코드 가운데</a:t>
            </a:r>
          </a:p>
          <a:p>
            <a:pPr algn="ctr">
              <a:lnSpc>
                <a:spcPct val="110000"/>
              </a:lnSpc>
              <a:spcAft>
                <a:spcPts val="400"/>
              </a:spcAft>
            </a:pPr>
            <a:r>
              <a:rPr sz="1350" b="0">
                <a:solidFill>
                  <a:srgbClr val="1F2A3A"/>
                </a:solidFill>
                <a:latin typeface="맑은 고딕"/>
                <a:ea typeface="맑은 고딕"/>
                <a:cs typeface="맑은 고딕"/>
              </a:rPr>
              <a:t>고칠 곳을 가려 고친다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repeat" descr="repea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함께 재검증한다</a:t>
            </a:r>
          </a:p>
          <a:p>
            <a:pPr algn="ctr">
              <a:lnSpc>
                <a:spcPct val="110000"/>
              </a:lnSpc>
              <a:spcAft>
                <a:spcPts val="400"/>
              </a:spcAft>
            </a:pPr>
            <a:r>
              <a:rPr sz="1350" b="0">
                <a:solidFill>
                  <a:srgbClr val="1F2A3A"/>
                </a:solidFill>
                <a:latin typeface="맑은 고딕"/>
                <a:ea typeface="맑은 고딕"/>
                <a:cs typeface="맑은 고딕"/>
              </a:rPr>
              <a:t>긴급 조건과 기존 조건이</a:t>
            </a:r>
          </a:p>
          <a:p>
            <a:pPr algn="ctr">
              <a:lnSpc>
                <a:spcPct val="110000"/>
              </a:lnSpc>
              <a:spcAft>
                <a:spcPts val="400"/>
              </a:spcAft>
            </a:pPr>
            <a:r>
              <a:rPr sz="1350" b="0">
                <a:solidFill>
                  <a:srgbClr val="1F2A3A"/>
                </a:solidFill>
                <a:latin typeface="맑은 고딕"/>
                <a:ea typeface="맑은 고딕"/>
                <a:cs typeface="맑은 고딕"/>
              </a:rPr>
              <a:t>모두 통과하는지</a:t>
            </a:r>
          </a:p>
          <a:p>
            <a:pPr algn="ctr">
              <a:lnSpc>
                <a:spcPct val="110000"/>
              </a:lnSpc>
              <a:spcAft>
                <a:spcPts val="400"/>
              </a:spcAft>
            </a:pPr>
            <a:r>
              <a:rPr sz="1350" b="0">
                <a:solidFill>
                  <a:srgbClr val="1F2A3A"/>
                </a:solidFill>
                <a:latin typeface="맑은 고딕"/>
                <a:ea typeface="맑은 고딕"/>
                <a:cs typeface="맑은 고딕"/>
              </a:rPr>
              <a:t>다시 실행한다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제작부터 검증까지의</a:t>
            </a:r>
          </a:p>
          <a:p>
            <a:pPr algn="l">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목표와 도구, 스킬과 연결, 사람의 결정, 명세와 검증을 하나로 잇는다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4일차와 5일차의 흐름: 에이전트 하나에 더해진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모델에 목표와 도구를 주어 에이전트를 세운 뒤, 수행 방법과 연결, 사람의 결정과 명세, 행동의 검증을 차례로 더해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pic>
        <p:nvPicPr>
          <p:cNvPr id="6" name="삽화:더해진것.svg" descr="illust_8745213118352114486_179174347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0111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구성</a:t>
            </a:r>
          </a:p>
          <a:p>
            <a:pPr algn="ctr">
              <a:lnSpc>
                <a:spcPct val="110000"/>
              </a:lnSpc>
              <a:spcAft>
                <a:spcPts val="100"/>
              </a:spcAft>
            </a:pPr>
            <a:r>
              <a:rPr sz="1300" b="0">
                <a:solidFill>
                  <a:srgbClr val="556175"/>
                </a:solidFill>
                <a:latin typeface="맑은 고딕"/>
                <a:ea typeface="맑은 고딕"/>
                <a:cs typeface="맑은 고딕"/>
              </a:rPr>
              <a:t>목표와 도구, 실행 고리, 정보원</a:t>
            </a:r>
          </a:p>
        </p:txBody>
      </p:sp>
      <p:sp>
        <p:nvSpPr>
          <p:cNvPr id="8" name="TextBox 7"/>
          <p:cNvSpPr txBox="1"/>
          <p:nvPr/>
        </p:nvSpPr>
        <p:spPr>
          <a:xfrm>
            <a:off x="791773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스킬과 연결</a:t>
            </a:r>
          </a:p>
          <a:p>
            <a:pPr algn="ctr">
              <a:lnSpc>
                <a:spcPct val="110000"/>
              </a:lnSpc>
              <a:spcAft>
                <a:spcPts val="100"/>
              </a:spcAft>
            </a:pPr>
            <a:r>
              <a:rPr sz="1300" b="0">
                <a:solidFill>
                  <a:srgbClr val="556175"/>
                </a:solidFill>
                <a:latin typeface="맑은 고딕"/>
                <a:ea typeface="맑은 고딕"/>
                <a:cs typeface="맑은 고딕"/>
              </a:rPr>
              <a:t>에이전트 스킬과 MCP, 안전 기준</a:t>
            </a:r>
          </a:p>
        </p:txBody>
      </p:sp>
      <p:sp>
        <p:nvSpPr>
          <p:cNvPr id="9" name="TextBox 8"/>
          <p:cNvSpPr txBox="1"/>
          <p:nvPr/>
        </p:nvSpPr>
        <p:spPr>
          <a:xfrm>
            <a:off x="1001113"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사람의 결정</a:t>
            </a:r>
          </a:p>
          <a:p>
            <a:pPr algn="ctr">
              <a:lnSpc>
                <a:spcPct val="110000"/>
              </a:lnSpc>
              <a:spcAft>
                <a:spcPts val="100"/>
              </a:spcAft>
            </a:pPr>
            <a:r>
              <a:rPr sz="1300" b="0">
                <a:solidFill>
                  <a:srgbClr val="556175"/>
                </a:solidFill>
                <a:latin typeface="맑은 고딕"/>
                <a:ea typeface="맑은 고딕"/>
                <a:cs typeface="맑은 고딕"/>
              </a:rPr>
              <a:t>사람이 개입하는 지점과 명세</a:t>
            </a:r>
          </a:p>
        </p:txBody>
      </p:sp>
      <p:sp>
        <p:nvSpPr>
          <p:cNvPr id="10" name="TextBox 9"/>
          <p:cNvSpPr txBox="1"/>
          <p:nvPr/>
        </p:nvSpPr>
        <p:spPr>
          <a:xfrm>
            <a:off x="7917733" y="4251365"/>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행동 검증</a:t>
            </a:r>
          </a:p>
          <a:p>
            <a:pPr algn="ctr">
              <a:lnSpc>
                <a:spcPct val="110000"/>
              </a:lnSpc>
              <a:spcAft>
                <a:spcPts val="100"/>
              </a:spcAft>
            </a:pPr>
            <a:r>
              <a:rPr sz="1300" b="0">
                <a:solidFill>
                  <a:srgbClr val="556175"/>
                </a:solidFill>
                <a:latin typeface="맑은 고딕"/>
                <a:ea typeface="맑은 고딕"/>
                <a:cs typeface="맑은 고딕"/>
              </a:rPr>
              <a:t>시나리오와 회귀 시험</a:t>
            </a:r>
          </a:p>
        </p:txBody>
      </p:sp>
      <p:sp>
        <p:nvSpPr>
          <p:cNvPr id="11" name="TextBox 10"/>
          <p:cNvSpPr txBox="1"/>
          <p:nvPr/>
        </p:nvSpPr>
        <p:spPr>
          <a:xfrm>
            <a:off x="5332182" y="49368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여덟 물음: 에이전트를 만들고 믿기까지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여덟 물음은 에이전트를 업무에 쓰기 전에 답해 두는 것이며, 위의 다섯은 만드는 일을, 아래의 셋은 믿는 근거를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답이 놓이는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위해 있는가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에이전트의 목표</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진단과 조치 추천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근거로 하는가</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그래프와 두 DB</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효율 46.2 %</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어떤 방법으로 하는가</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스킬</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연결해 쓰는가</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MCP 서버의 도구</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hyd-dmn의 diagnose</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내는가</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출력 계약</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어디서 사람이 결정하는가</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단계</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운전원의 승인</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지키기로 했는가</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전 명령 금지</a:t>
            </a:r>
          </a:p>
        </p:txBody>
      </p:sp>
      <p:sp>
        <p:nvSpPr>
          <p:cNvPr id="38" name="Rounded Rectangle 37"/>
          <p:cNvSpPr/>
          <p:nvPr/>
        </p:nvSpPr>
        <p:spPr>
          <a:xfrm>
            <a:off x="548640" y="5846445"/>
            <a:ext cx="11094415" cy="476631"/>
          </a:xfrm>
          <a:prstGeom prst="roundRect">
            <a:avLst>
              <a:gd name="adj" fmla="val 8000"/>
            </a:avLst>
          </a:prstGeom>
          <a:solidFill>
            <a:srgbClr val="E7F3FD"/>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정한 대로 행동하는가</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시나리오와 회귀 시험</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거절하면 명령 0건</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 한 건 위에 놓은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pic>
        <p:nvPicPr>
          <p:cNvPr id="6" name="삽화:사건위장치.svg" descr="illust_1497912210860234277_179174347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135923" y="2360386"/>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a:p>
            <a:pPr algn="ctr">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방법과 실행 도구 · 4일차</a:t>
            </a:r>
          </a:p>
        </p:txBody>
      </p:sp>
      <p:sp>
        <p:nvSpPr>
          <p:cNvPr id="15" name="TextBox 14"/>
          <p:cNvSpPr txBox="1"/>
          <p:nvPr/>
        </p:nvSpPr>
        <p:spPr>
          <a:xfrm>
            <a:off x="6586774"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검사와 사람의 결정 · 5일차</a:t>
            </a:r>
          </a:p>
        </p:txBody>
      </p:sp>
      <p:sp>
        <p:nvSpPr>
          <p:cNvPr id="16" name="TextBox 15"/>
          <p:cNvSpPr txBox="1"/>
          <p:nvPr/>
        </p:nvSpPr>
        <p:spPr>
          <a:xfrm>
            <a:off x="7295892" y="543322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시나리오와 회귀 시험 · 5일차</a:t>
            </a:r>
          </a:p>
          <a:p>
            <a:pPr algn="ctr">
              <a:lnSpc>
                <a:spcPct val="110000"/>
              </a:lnSpc>
              <a:spcAft>
                <a:spcPts val="100"/>
              </a:spcAft>
            </a:pPr>
            <a:r>
              <a:rPr sz="1300" b="0">
                <a:solidFill>
                  <a:srgbClr val="556175"/>
                </a:solidFill>
                <a:latin typeface="맑은 고딕"/>
                <a:ea typeface="맑은 고딕"/>
                <a:cs typeface="맑은 고딕"/>
              </a:rPr>
              <a:t>경보에서 명령까지의 행동을 되풀이해 확인한다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목표가 없다</a:t>
            </a:r>
          </a:p>
          <a:p>
            <a:pPr algn="l">
              <a:lnSpc>
                <a:spcPct val="110000"/>
              </a:lnSpc>
              <a:spcAft>
                <a:spcPts val="400"/>
              </a:spcAft>
            </a:pPr>
            <a:r>
              <a:rPr sz="1400" b="0">
                <a:solidFill>
                  <a:srgbClr val="1F2A3A"/>
                </a:solidFill>
                <a:latin typeface="맑은 고딕"/>
                <a:ea typeface="맑은 고딕"/>
                <a:cs typeface="맑은 고딕"/>
              </a:rPr>
              <a:t>• 무엇을 이루면 끝나는지가 정해지지 않는다</a:t>
            </a:r>
          </a:p>
          <a:p>
            <a:pPr algn="l">
              <a:lnSpc>
                <a:spcPct val="110000"/>
              </a:lnSpc>
              <a:spcAft>
                <a:spcPts val="400"/>
              </a:spcAft>
            </a:pPr>
            <a:r>
              <a:rPr sz="14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도구가 없다</a:t>
            </a:r>
          </a:p>
          <a:p>
            <a:pPr algn="l">
              <a:lnSpc>
                <a:spcPct val="110000"/>
              </a:lnSpc>
              <a:spcAft>
                <a:spcPts val="400"/>
              </a:spcAft>
            </a:pPr>
            <a:r>
              <a:rPr sz="1400" b="0">
                <a:solidFill>
                  <a:srgbClr val="1F2A3A"/>
                </a:solidFill>
                <a:latin typeface="맑은 고딕"/>
                <a:ea typeface="맑은 고딕"/>
                <a:cs typeface="맑은 고딕"/>
              </a:rPr>
              <a:t>• 유온과 납기 오더 같은 지금의 값을 읽지 못한다</a:t>
            </a:r>
          </a:p>
          <a:p>
            <a:pPr algn="l">
              <a:lnSpc>
                <a:spcPct val="110000"/>
              </a:lnSpc>
              <a:spcAft>
                <a:spcPts val="400"/>
              </a:spcAft>
            </a:pPr>
            <a:r>
              <a:rPr sz="14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 조건이 없다</a:t>
            </a:r>
          </a:p>
          <a:p>
            <a:pPr algn="l">
              <a:lnSpc>
                <a:spcPct val="110000"/>
              </a:lnSpc>
              <a:spcAft>
                <a:spcPts val="400"/>
              </a:spcAft>
            </a:pPr>
            <a:r>
              <a:rPr sz="14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읽은 곳</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사건에서 읽은 것</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가능한 원인은 무엇인가</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핀 오염을 비롯한</a:t>
            </a:r>
          </a:p>
          <a:p>
            <a:pPr algn="l">
              <a:lnSpc>
                <a:spcPct val="110000"/>
              </a:lnSpc>
            </a:pPr>
            <a:r>
              <a:rPr sz="1250" b="1">
                <a:solidFill>
                  <a:srgbClr val="556175"/>
                </a:solidFill>
                <a:latin typeface="맑은 고딕"/>
                <a:ea typeface="맑은 고딕"/>
                <a:cs typeface="맑은 고딕"/>
              </a:rPr>
              <a:t>원인 후보 셋</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 냉각 효율은 얼마인가</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시계열 DB</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46.2 %</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걸려 있는 납기가 있는가</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 DB</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 오더</a:t>
            </a:r>
          </a:p>
          <a:p>
            <a:pPr algn="l">
              <a:lnSpc>
                <a:spcPct val="110000"/>
              </a:lnSpc>
            </a:pPr>
            <a:r>
              <a:rPr sz="1250" b="1">
                <a:solidFill>
                  <a:srgbClr val="556175"/>
                </a:solidFill>
                <a:latin typeface="맑은 고딕"/>
                <a:ea typeface="맑은 고딕"/>
                <a:cs typeface="맑은 고딕"/>
              </a:rPr>
              <a:t>MO-0930-0412</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조치는 어떻게 하는가</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그래프의 SOP</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SOP-COOL-11</a:t>
            </a:r>
          </a:p>
          <a:p>
            <a:pPr algn="l">
              <a:lnSpc>
                <a:spcPct val="110000"/>
              </a:lnSpc>
            </a:pPr>
            <a:r>
              <a:rPr sz="1250" b="1">
                <a:solidFill>
                  <a:srgbClr val="556175"/>
                </a:solidFill>
                <a:latin typeface="맑은 고딕"/>
                <a:ea typeface="맑은 고딕"/>
                <a:cs typeface="맑은 고딕"/>
              </a:rPr>
              <a:t>팬 최대 운전</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부르는 순서를 바꾼다</a:t>
            </a:r>
          </a:p>
          <a:p>
            <a:pPr algn="l">
              <a:lnSpc>
                <a:spcPct val="110000"/>
              </a:lnSpc>
              <a:spcAft>
                <a:spcPts val="600"/>
              </a:spcAft>
            </a:pPr>
            <a:r>
              <a:rPr sz="1450" b="0">
                <a:solidFill>
                  <a:srgbClr val="1F2A3A"/>
                </a:solidFill>
                <a:latin typeface="맑은 고딕"/>
                <a:ea typeface="맑은 고딕"/>
                <a:cs typeface="맑은 고딕"/>
              </a:rPr>
              <a:t>• 근거가 없을 때의 행동을 정한다</a:t>
            </a:r>
          </a:p>
          <a:p>
            <a:pPr algn="l">
              <a:lnSpc>
                <a:spcPct val="110000"/>
              </a:lnSpc>
              <a:spcAft>
                <a:spcPts val="600"/>
              </a:spcAft>
            </a:pPr>
            <a:r>
              <a:rPr sz="145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새 시스템의 값을 읽게 한다</a:t>
            </a:r>
          </a:p>
          <a:p>
            <a:pPr algn="l">
              <a:lnSpc>
                <a:spcPct val="110000"/>
              </a:lnSpc>
              <a:spcAft>
                <a:spcPts val="600"/>
              </a:spcAft>
            </a:pPr>
            <a:r>
              <a:rPr sz="1450" b="0">
                <a:solidFill>
                  <a:srgbClr val="1F2A3A"/>
                </a:solidFill>
                <a:latin typeface="맑은 고딕"/>
                <a:ea typeface="맑은 고딕"/>
                <a:cs typeface="맑은 고딕"/>
              </a:rPr>
              <a:t>• 부를 수 있는 도구의 범위를 좁힌다</a:t>
            </a:r>
          </a:p>
          <a:p>
            <a:pPr algn="l">
              <a:lnSpc>
                <a:spcPct val="110000"/>
              </a:lnSpc>
              <a:spcAft>
                <a:spcPts val="600"/>
              </a:spcAft>
            </a:pPr>
            <a:r>
              <a:rPr sz="1450" b="0">
                <a:solidFill>
                  <a:srgbClr val="1F2A3A"/>
                </a:solidFill>
                <a:latin typeface="맑은 고딕"/>
                <a:ea typeface="맑은 고딕"/>
                <a:cs typeface="맑은 고딕"/>
              </a:rPr>
              <a:t>• 비밀값과 접근 범위를 정한다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검사를 통과했다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무엇이: 출력 형식의 검사, 가드레일, AI의 검토</a:t>
            </a:r>
          </a:p>
          <a:p>
            <a:pPr algn="l">
              <a:lnSpc>
                <a:spcPct val="110000"/>
              </a:lnSpc>
              <a:spcAft>
                <a:spcPts val="600"/>
              </a:spcAft>
            </a:pPr>
            <a:r>
              <a:rPr sz="1450" b="0">
                <a:solidFill>
                  <a:srgbClr val="1F2A3A"/>
                </a:solidFill>
                <a:latin typeface="맑은 고딕"/>
                <a:ea typeface="맑은 고딕"/>
                <a:cs typeface="맑은 고딕"/>
              </a:rPr>
              <a:t>• 무엇을: 결과의 형식, 규칙의 인용, 승인 역할의 유무</a:t>
            </a:r>
          </a:p>
          <a:p>
            <a:pPr algn="l">
              <a:lnSpc>
                <a:spcPct val="110000"/>
              </a:lnSpc>
              <a:spcAft>
                <a:spcPts val="600"/>
              </a:spcAft>
            </a:pPr>
            <a:r>
              <a:rPr sz="1450" b="0">
                <a:solidFill>
                  <a:srgbClr val="1F2A3A"/>
                </a:solidFill>
                <a:latin typeface="맑은 고딕"/>
                <a:ea typeface="맑은 고딕"/>
                <a:cs typeface="맑은 고딕"/>
              </a:rPr>
              <a:t>• 그 뒤의 상태: 승인 대기</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올려도 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승인되었다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누가: 승인 역할의 담당자</a:t>
            </a:r>
          </a:p>
          <a:p>
            <a:pPr algn="l">
              <a:lnSpc>
                <a:spcPct val="110000"/>
              </a:lnSpc>
              <a:spcAft>
                <a:spcPts val="600"/>
              </a:spcAft>
            </a:pPr>
            <a:r>
              <a:rPr sz="1450" b="0">
                <a:solidFill>
                  <a:srgbClr val="1F2A3A"/>
                </a:solidFill>
                <a:latin typeface="맑은 고딕"/>
                <a:ea typeface="맑은 고딕"/>
                <a:cs typeface="맑은 고딕"/>
              </a:rPr>
              <a:t>• 무엇을: 추천의 내용과 지금의 상황</a:t>
            </a:r>
          </a:p>
          <a:p>
            <a:pPr algn="l">
              <a:lnSpc>
                <a:spcPct val="110000"/>
              </a:lnSpc>
              <a:spcAft>
                <a:spcPts val="600"/>
              </a:spcAft>
            </a:pPr>
            <a:r>
              <a:rPr sz="1450" b="0">
                <a:solidFill>
                  <a:srgbClr val="1F2A3A"/>
                </a:solidFill>
                <a:latin typeface="맑은 고딕"/>
                <a:ea typeface="맑은 고딕"/>
                <a:cs typeface="맑은 고딕"/>
              </a:rPr>
              <a:t>• 남는 것: 결정 기록(승인한 사람과 역할)</a:t>
            </a:r>
          </a:p>
        </p:txBody>
      </p:sp>
      <p:sp>
        <p:nvSpPr>
          <p:cNvPr id="18" name="Rounded Rectangle 17"/>
          <p:cNvSpPr/>
          <p:nvPr/>
        </p:nvSpPr>
        <p:spPr>
          <a:xfrm>
            <a:off x="6781647" y="5096002"/>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실행해도 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Oval 5"/>
          <p:cNvSpPr/>
          <p:nvPr/>
        </p:nvSpPr>
        <p:spPr>
          <a:xfrm>
            <a:off x="1704405" y="2215225"/>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2260360" y="2420051"/>
            <a:ext cx="351129" cy="351129"/>
          </a:xfrm>
          <a:prstGeom prst="rect">
            <a:avLst/>
          </a:prstGeom>
        </p:spPr>
      </p:pic>
      <p:sp>
        <p:nvSpPr>
          <p:cNvPr id="8" name="TextBox 7"/>
          <p:cNvSpPr txBox="1"/>
          <p:nvPr/>
        </p:nvSpPr>
        <p:spPr>
          <a:xfrm>
            <a:off x="1806817" y="2800441"/>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명세</a:t>
            </a:r>
          </a:p>
          <a:p>
            <a:pPr algn="ctr">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704405" y="4304446"/>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2260360" y="4509272"/>
            <a:ext cx="351129" cy="351129"/>
          </a:xfrm>
          <a:prstGeom prst="rect">
            <a:avLst/>
          </a:prstGeom>
        </p:spPr>
      </p:pic>
      <p:sp>
        <p:nvSpPr>
          <p:cNvPr id="11" name="TextBox 10"/>
          <p:cNvSpPr txBox="1"/>
          <p:nvPr/>
        </p:nvSpPr>
        <p:spPr>
          <a:xfrm>
            <a:off x="1806817" y="488966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시나리오</a:t>
            </a:r>
          </a:p>
          <a:p>
            <a:pPr algn="ctr">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015935"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571890" y="3464661"/>
            <a:ext cx="351129" cy="351129"/>
          </a:xfrm>
          <a:prstGeom prst="rect">
            <a:avLst/>
          </a:prstGeom>
        </p:spPr>
      </p:pic>
      <p:sp>
        <p:nvSpPr>
          <p:cNvPr id="14" name="TextBox 13"/>
          <p:cNvSpPr txBox="1"/>
          <p:nvPr/>
        </p:nvSpPr>
        <p:spPr>
          <a:xfrm>
            <a:off x="4118347"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에이전트</a:t>
            </a:r>
          </a:p>
          <a:p>
            <a:pPr algn="ctr">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추천안</a:t>
            </a:r>
          </a:p>
          <a:p>
            <a:pPr algn="ctr">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가드레일</a:t>
            </a:r>
          </a:p>
          <a:p>
            <a:pPr algn="ctr">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담당자</a:t>
            </a:r>
          </a:p>
          <a:p>
            <a:pPr algn="ctr">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3144198" y="3266823"/>
            <a:ext cx="869985" cy="393157"/>
          </a:xfrm>
          <a:prstGeom prst="line">
            <a:avLst/>
          </a:prstGeom>
          <a:ln w="28575">
            <a:solidFill>
              <a:srgbClr val="13294B"/>
            </a:solidFill>
            <a:tailEnd type="triangle" w="med" len="med"/>
          </a:ln>
        </p:spPr>
      </p:cxnSp>
      <p:sp>
        <p:nvSpPr>
          <p:cNvPr id="25" name="Rounded Rectangle 24"/>
          <p:cNvSpPr/>
          <p:nvPr/>
        </p:nvSpPr>
        <p:spPr>
          <a:xfrm>
            <a:off x="3054998" y="3097642"/>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3054998" y="3097642"/>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435925" y="3723985"/>
            <a:ext cx="0" cy="507309"/>
          </a:xfrm>
          <a:prstGeom prst="line">
            <a:avLst/>
          </a:prstGeom>
          <a:ln w="28575">
            <a:solidFill>
              <a:srgbClr val="13294B"/>
            </a:solidFill>
            <a:tailEnd type="triangle" w="med" len="med"/>
          </a:ln>
        </p:spPr>
      </p:cxnSp>
      <p:sp>
        <p:nvSpPr>
          <p:cNvPr id="28" name="Rounded Rectangle 27"/>
          <p:cNvSpPr/>
          <p:nvPr/>
        </p:nvSpPr>
        <p:spPr>
          <a:xfrm>
            <a:off x="2527365"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527365"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3144198" y="4322731"/>
            <a:ext cx="869985" cy="393157"/>
          </a:xfrm>
          <a:prstGeom prst="line">
            <a:avLst/>
          </a:prstGeom>
          <a:ln w="28575">
            <a:solidFill>
              <a:srgbClr val="13294B"/>
            </a:solidFill>
            <a:tailEnd type="triangle" w="med" len="med"/>
          </a:ln>
        </p:spPr>
      </p:cxnSp>
      <p:sp>
        <p:nvSpPr>
          <p:cNvPr id="31" name="Rounded Rectangle 30"/>
          <p:cNvSpPr/>
          <p:nvPr/>
        </p:nvSpPr>
        <p:spPr>
          <a:xfrm>
            <a:off x="2908948" y="4153549"/>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908948" y="4153549"/>
            <a:ext cx="13404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524695" y="3991356"/>
            <a:ext cx="922245" cy="0"/>
          </a:xfrm>
          <a:prstGeom prst="line">
            <a:avLst/>
          </a:prstGeom>
          <a:ln w="28575">
            <a:solidFill>
              <a:srgbClr val="13294B"/>
            </a:solidFill>
            <a:tailEnd type="triangle" w="med" len="med"/>
          </a:ln>
        </p:spPr>
      </p:cxnSp>
      <p:sp>
        <p:nvSpPr>
          <p:cNvPr id="34" name="Rounded Rectangle 33"/>
          <p:cNvSpPr/>
          <p:nvPr/>
        </p:nvSpPr>
        <p:spPr>
          <a:xfrm>
            <a:off x="5702607"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02607" y="3625596"/>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730627"/>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새 조건의 계약과 금지 조건, 수용 기준을 적는다</a:t>
            </a:r>
          </a:p>
        </p:txBody>
      </p:sp>
      <p:sp>
        <p:nvSpPr>
          <p:cNvPr id="10" name="Oval 9"/>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730627"/>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더한다</a:t>
            </a:r>
          </a:p>
          <a:p>
            <a:pPr algn="ctr">
              <a:lnSpc>
                <a:spcPct val="110000"/>
              </a:lnSpc>
              <a:spcAft>
                <a:spcPts val="400"/>
              </a:spcAft>
            </a:pPr>
            <a:r>
              <a:rPr sz="1350" b="0">
                <a:solidFill>
                  <a:srgbClr val="1F2A3A"/>
                </a:solidFill>
                <a:latin typeface="맑은 고딕"/>
                <a:ea typeface="맑은 고딕"/>
                <a:cs typeface="맑은 고딕"/>
              </a:rPr>
              <a:t>새 조건의 Given · When · Then과 기대값을 적는다</a:t>
            </a:r>
          </a:p>
        </p:txBody>
      </p:sp>
      <p:sp>
        <p:nvSpPr>
          <p:cNvPr id="13" name="Oval 12"/>
          <p:cNvSpPr/>
          <p:nvPr/>
        </p:nvSpPr>
        <p:spPr>
          <a:xfrm>
            <a:off x="7048309" y="2730627"/>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730627"/>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구현한다</a:t>
            </a:r>
          </a:p>
          <a:p>
            <a:pPr algn="ctr">
              <a:lnSpc>
                <a:spcPct val="110000"/>
              </a:lnSpc>
              <a:spcAft>
                <a:spcPts val="400"/>
              </a:spcAft>
            </a:pPr>
            <a:r>
              <a:rPr sz="1350" b="0">
                <a:solidFill>
                  <a:srgbClr val="1F2A3A"/>
                </a:solidFill>
                <a:latin typeface="맑은 고딕"/>
                <a:ea typeface="맑은 고딕"/>
                <a:cs typeface="맑은 고딕"/>
              </a:rPr>
              <a:t>지침이나 코드를 명세에 맞추어 고친다</a:t>
            </a:r>
          </a:p>
        </p:txBody>
      </p:sp>
      <p:sp>
        <p:nvSpPr>
          <p:cNvPr id="16" name="Oval 15"/>
          <p:cNvSpPr/>
          <p:nvPr/>
        </p:nvSpPr>
        <p:spPr>
          <a:xfrm>
            <a:off x="9821913" y="2730627"/>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730627"/>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전체를 다시 실행한다</a:t>
            </a:r>
          </a:p>
          <a:p>
            <a:pPr algn="ctr">
              <a:lnSpc>
                <a:spcPct val="110000"/>
              </a:lnSpc>
              <a:spcAft>
                <a:spcPts val="400"/>
              </a:spcAft>
            </a:pPr>
            <a:r>
              <a:rPr sz="1350" b="0">
                <a:solidFill>
                  <a:srgbClr val="1F2A3A"/>
                </a:solidFill>
                <a:latin typeface="맑은 고딕"/>
                <a:ea typeface="맑은 고딕"/>
                <a:cs typeface="맑은 고딕"/>
              </a:rPr>
              <a:t>새 시나리오와 기존 시나리오가 모두 통과하는지 확인한다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출력 계약의 검사</a:t>
            </a:r>
          </a:p>
          <a:p>
            <a:pPr algn="l">
              <a:lnSpc>
                <a:spcPct val="110000"/>
              </a:lnSpc>
              <a:spcAft>
                <a:spcPts val="600"/>
              </a:spcAft>
            </a:pPr>
            <a:r>
              <a:rPr sz="1450" b="0">
                <a:solidFill>
                  <a:srgbClr val="1F2A3A"/>
                </a:solidFill>
                <a:latin typeface="맑은 고딕"/>
                <a:ea typeface="맑은 고딕"/>
                <a:cs typeface="맑은 고딕"/>
              </a:rPr>
              <a:t>• 가드레일</a:t>
            </a:r>
          </a:p>
          <a:p>
            <a:pPr algn="l">
              <a:lnSpc>
                <a:spcPct val="110000"/>
              </a:lnSpc>
              <a:spcAft>
                <a:spcPts val="600"/>
              </a:spcAft>
            </a:pPr>
            <a:r>
              <a:rPr sz="1450" b="0">
                <a:solidFill>
                  <a:srgbClr val="1F2A3A"/>
                </a:solidFill>
                <a:latin typeface="맑은 고딕"/>
                <a:ea typeface="맑은 고딕"/>
                <a:cs typeface="맑은 고딕"/>
              </a:rPr>
              <a:t>• 사람의 승인</a:t>
            </a:r>
          </a:p>
          <a:p>
            <a:pPr algn="l">
              <a:lnSpc>
                <a:spcPct val="110000"/>
              </a:lnSpc>
              <a:spcAft>
                <a:spcPts val="600"/>
              </a:spcAft>
            </a:pPr>
            <a:r>
              <a:rPr sz="145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5096002"/>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시나리오의 실행</a:t>
            </a:r>
          </a:p>
          <a:p>
            <a:pPr algn="l">
              <a:lnSpc>
                <a:spcPct val="110000"/>
              </a:lnSpc>
              <a:spcAft>
                <a:spcPts val="600"/>
              </a:spcAft>
            </a:pPr>
            <a:r>
              <a:rPr sz="1450" b="0">
                <a:solidFill>
                  <a:srgbClr val="1F2A3A"/>
                </a:solidFill>
                <a:latin typeface="맑은 고딕"/>
                <a:ea typeface="맑은 고딕"/>
                <a:cs typeface="맑은 고딕"/>
              </a:rPr>
              <a:t>• 판단 채점</a:t>
            </a:r>
          </a:p>
          <a:p>
            <a:pPr algn="l">
              <a:lnSpc>
                <a:spcPct val="110000"/>
              </a:lnSpc>
              <a:spcAft>
                <a:spcPts val="600"/>
              </a:spcAft>
            </a:pPr>
            <a:r>
              <a:rPr sz="1450" b="0">
                <a:solidFill>
                  <a:srgbClr val="1F2A3A"/>
                </a:solidFill>
                <a:latin typeface="맑은 고딕"/>
                <a:ea typeface="맑은 고딕"/>
                <a:cs typeface="맑은 고딕"/>
              </a:rPr>
              <a:t>• 전체 회귀</a:t>
            </a:r>
          </a:p>
          <a:p>
            <a:pPr algn="l">
              <a:lnSpc>
                <a:spcPct val="110000"/>
              </a:lnSpc>
              <a:spcAft>
                <a:spcPts val="600"/>
              </a:spcAft>
            </a:pPr>
            <a:r>
              <a:rPr sz="145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4일차 실습의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4일차 실습의 산출물은 형식이 달라도, 모르는 것은 확정하지 않고 아는 것에는 근거를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구성한 에이전트와 그 답</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질문 한 건</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답에 근거와</a:t>
            </a:r>
          </a:p>
          <a:p>
            <a:pPr algn="l">
              <a:lnSpc>
                <a:spcPct val="110000"/>
              </a:lnSpc>
            </a:pPr>
            <a:r>
              <a:rPr sz="1250" b="1">
                <a:solidFill>
                  <a:srgbClr val="556175"/>
                </a:solidFill>
                <a:latin typeface="맑은 고딕"/>
                <a:ea typeface="맑은 고딕"/>
                <a:cs typeface="맑은 고딕"/>
              </a:rPr>
              <a:t>호출 기록을 붙임</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점검 계획</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온톨로지의 관계와 센서 입력</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확인되지 않은</a:t>
            </a:r>
          </a:p>
          <a:p>
            <a:pPr algn="l">
              <a:lnSpc>
                <a:spcPct val="110000"/>
              </a:lnSpc>
            </a:pPr>
            <a:r>
              <a:rPr sz="1250" b="1">
                <a:solidFill>
                  <a:srgbClr val="556175"/>
                </a:solidFill>
                <a:latin typeface="맑은 고딕"/>
                <a:ea typeface="맑은 고딕"/>
                <a:cs typeface="맑은 고딕"/>
              </a:rPr>
              <a:t>원인은 가설로 표시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SKILL.md와 작업 목록</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담당자가 겹치거나</a:t>
            </a:r>
          </a:p>
          <a:p>
            <a:pPr algn="l">
              <a:lnSpc>
                <a:spcPct val="110000"/>
              </a:lnSpc>
            </a:pPr>
            <a:r>
              <a:rPr sz="1250" b="1">
                <a:solidFill>
                  <a:srgbClr val="556175"/>
                </a:solidFill>
                <a:latin typeface="맑은 고딕"/>
                <a:ea typeface="맑은 고딕"/>
                <a:cs typeface="맑은 고딕"/>
              </a:rPr>
              <a:t>기한이 없으면 표시</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 요약</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파일 내용, 변경 이력, 시간</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서버마다 권한과</a:t>
            </a:r>
          </a:p>
          <a:p>
            <a:pPr algn="l">
              <a:lnSpc>
                <a:spcPct val="110000"/>
              </a:lnSpc>
            </a:pPr>
            <a:r>
              <a:rPr sz="1250" b="1">
                <a:solidFill>
                  <a:srgbClr val="556175"/>
                </a:solidFill>
                <a:latin typeface="맑은 고딕"/>
                <a:ea typeface="맑은 고딕"/>
                <a:cs typeface="맑은 고딕"/>
              </a:rPr>
              <a:t>실패를 견줌</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5일차 실습의 산출물과 그것이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결정과 확인 질문과 명세는 시나리오의 재료가 되었고, 시나리오와 재검증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만든 실습</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쓰이는 곳</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또는 거절 한 건과 처리 기록</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대기 건의 결정</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승인과 거절의</a:t>
            </a:r>
          </a:p>
          <a:p>
            <a:pPr algn="l">
              <a:lnSpc>
                <a:spcPct val="110000"/>
              </a:lnSpc>
            </a:pPr>
            <a:r>
              <a:rPr sz="1250" b="1">
                <a:solidFill>
                  <a:srgbClr val="556175"/>
                </a:solidFill>
                <a:latin typeface="맑은 고딕"/>
                <a:ea typeface="맑은 고딕"/>
                <a:cs typeface="맑은 고딕"/>
              </a:rPr>
              <a:t>시나리오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확인 질문과 재처리 결과</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빠진 정보를 묻고 다시 처리</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필수 정보 누락의</a:t>
            </a:r>
          </a:p>
          <a:p>
            <a:pPr algn="l">
              <a:lnSpc>
                <a:spcPct val="110000"/>
              </a:lnSpc>
            </a:pPr>
            <a:r>
              <a:rPr sz="1250" b="1">
                <a:solidFill>
                  <a:srgbClr val="556175"/>
                </a:solidFill>
                <a:latin typeface="맑은 고딕"/>
                <a:ea typeface="맑은 고딕"/>
                <a:cs typeface="맑은 고딕"/>
              </a:rPr>
              <a:t>시나리오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spec.md와 두 버전의 출력 비교</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요구사항 추가와 명세 보완</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시나리오의</a:t>
            </a:r>
          </a:p>
          <a:p>
            <a:pPr algn="l">
              <a:lnSpc>
                <a:spcPct val="110000"/>
              </a:lnSpc>
            </a:pPr>
            <a:r>
              <a:rPr sz="1250" b="1">
                <a:solidFill>
                  <a:srgbClr val="1A6FC4"/>
                </a:solidFill>
                <a:latin typeface="맑은 고딕"/>
                <a:ea typeface="맑은 고딕"/>
                <a:cs typeface="맑은 고딕"/>
              </a:rPr>
              <a:t>입력과 기대값</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시나리오와 재검증 기록</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기존 기능과 추가 기능의 검증</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다음 변경의</a:t>
            </a:r>
          </a:p>
          <a:p>
            <a:pPr algn="l">
              <a:lnSpc>
                <a:spcPct val="110000"/>
              </a:lnSpc>
            </a:pPr>
            <a:r>
              <a:rPr sz="1250" b="1">
                <a:solidFill>
                  <a:srgbClr val="556175"/>
                </a:solidFill>
                <a:latin typeface="맑은 고딕"/>
                <a:ea typeface="맑은 고딕"/>
                <a:cs typeface="맑은 고딕"/>
              </a:rPr>
              <a:t>회귀 시험</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쪽</a:t>
            </a:r>
          </a:p>
          <a:p>
            <a:pPr algn="l">
              <a:lnSpc>
                <a:spcPct val="110000"/>
              </a:lnSpc>
              <a:spcAft>
                <a:spcPts val="400"/>
              </a:spcAft>
            </a:pPr>
            <a:r>
              <a:rPr sz="1400" b="0">
                <a:solidFill>
                  <a:srgbClr val="1F2A3A"/>
                </a:solidFill>
                <a:latin typeface="맑은 고딕"/>
                <a:ea typeface="맑은 고딕"/>
                <a:cs typeface="맑은 고딕"/>
              </a:rPr>
              <a:t>• 작업 목록은 후속 업무의 담당자가 읽는다</a:t>
            </a:r>
          </a:p>
          <a:p>
            <a:pPr algn="l">
              <a:lnSpc>
                <a:spcPct val="110000"/>
              </a:lnSpc>
              <a:spcAft>
                <a:spcPts val="400"/>
              </a:spcAft>
            </a:pPr>
            <a:r>
              <a:rPr sz="14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149850"/>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a:t>
            </a:r>
          </a:p>
          <a:p>
            <a:pPr algn="l">
              <a:lnSpc>
                <a:spcPct val="110000"/>
              </a:lnSpc>
              <a:spcAft>
                <a:spcPts val="400"/>
              </a:spcAft>
            </a:pPr>
            <a:r>
              <a:rPr sz="1400" b="0">
                <a:solidFill>
                  <a:srgbClr val="1F2A3A"/>
                </a:solidFill>
                <a:latin typeface="맑은 고딕"/>
                <a:ea typeface="맑은 고딕"/>
                <a:cs typeface="맑은 고딕"/>
              </a:rPr>
              <a:t>• 사람이 읽는 것은 문서와 도표로 낸다</a:t>
            </a:r>
          </a:p>
          <a:p>
            <a:pPr algn="l">
              <a:lnSpc>
                <a:spcPct val="110000"/>
              </a:lnSpc>
              <a:spcAft>
                <a:spcPts val="400"/>
              </a:spcAft>
            </a:pPr>
            <a:r>
              <a:rPr sz="140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14985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이어지는 일</a:t>
            </a:r>
          </a:p>
          <a:p>
            <a:pPr algn="l">
              <a:lnSpc>
                <a:spcPct val="110000"/>
              </a:lnSpc>
              <a:spcAft>
                <a:spcPts val="400"/>
              </a:spcAft>
            </a:pPr>
            <a:r>
              <a:rPr sz="1400" b="0">
                <a:solidFill>
                  <a:srgbClr val="1F2A3A"/>
                </a:solidFill>
                <a:latin typeface="맑은 고딕"/>
                <a:ea typeface="맑은 고딕"/>
                <a:cs typeface="맑은 고딕"/>
              </a:rPr>
              <a:t>• 추천안은 승인으로</a:t>
            </a:r>
          </a:p>
          <a:p>
            <a:pPr algn="l">
              <a:lnSpc>
                <a:spcPct val="110000"/>
              </a:lnSpc>
              <a:spcAft>
                <a:spcPts val="400"/>
              </a:spcAft>
            </a:pPr>
            <a:r>
              <a:rPr sz="1400" b="0">
                <a:solidFill>
                  <a:srgbClr val="1F2A3A"/>
                </a:solidFill>
                <a:latin typeface="맑은 고딕"/>
                <a:ea typeface="맑은 고딕"/>
                <a:cs typeface="맑은 고딕"/>
              </a:rPr>
              <a:t>• 점검 계획은 다음 점검 작업으로</a:t>
            </a:r>
          </a:p>
          <a:p>
            <a:pPr algn="l">
              <a:lnSpc>
                <a:spcPct val="110000"/>
              </a:lnSpc>
              <a:spcAft>
                <a:spcPts val="400"/>
              </a:spcAft>
            </a:pPr>
            <a:r>
              <a:rPr sz="1400" b="0">
                <a:solidFill>
                  <a:srgbClr val="1F2A3A"/>
                </a:solidFill>
                <a:latin typeface="맑은 고딕"/>
                <a:ea typeface="맑은 고딕"/>
                <a:cs typeface="맑은 고딕"/>
              </a:rPr>
              <a:t>• 작업 목록은 담당자의 후속 업무로</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배운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호출 기록의 입력과 응답</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5일차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5일차</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목표와 스킬의 절차</a:t>
            </a:r>
          </a:p>
          <a:p>
            <a:pPr algn="l">
              <a:lnSpc>
                <a:spcPct val="110000"/>
              </a:lnSpc>
              <a:spcAft>
                <a:spcPts val="600"/>
              </a:spcAft>
            </a:pPr>
            <a:r>
              <a:rPr sz="1450" b="0">
                <a:solidFill>
                  <a:srgbClr val="1F2A3A"/>
                </a:solidFill>
                <a:latin typeface="맑은 고딕"/>
                <a:ea typeface="맑은 고딕"/>
                <a:cs typeface="맑은 고딕"/>
              </a:rPr>
              <a:t>• 연결할 도구와 권한의 범위</a:t>
            </a:r>
          </a:p>
          <a:p>
            <a:pPr algn="l">
              <a:lnSpc>
                <a:spcPct val="110000"/>
              </a:lnSpc>
              <a:spcAft>
                <a:spcPts val="600"/>
              </a:spcAft>
            </a:pPr>
            <a:r>
              <a:rPr sz="1450" b="0">
                <a:solidFill>
                  <a:srgbClr val="1F2A3A"/>
                </a:solidFill>
                <a:latin typeface="맑은 고딕"/>
                <a:ea typeface="맑은 고딕"/>
                <a:cs typeface="맑은 고딕"/>
              </a:rPr>
              <a:t>• 계약과 금지 조건</a:t>
            </a:r>
          </a:p>
          <a:p>
            <a:pPr algn="l">
              <a:lnSpc>
                <a:spcPct val="110000"/>
              </a:lnSpc>
              <a:spcAft>
                <a:spcPts val="600"/>
              </a:spcAft>
            </a:pPr>
            <a:r>
              <a:rPr sz="145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이번에 부를 도구와 입력</a:t>
            </a:r>
          </a:p>
          <a:p>
            <a:pPr algn="l">
              <a:lnSpc>
                <a:spcPct val="110000"/>
              </a:lnSpc>
              <a:spcAft>
                <a:spcPts val="600"/>
              </a:spcAft>
            </a:pPr>
            <a:r>
              <a:rPr sz="1450" b="0">
                <a:solidFill>
                  <a:srgbClr val="1F2A3A"/>
                </a:solidFill>
                <a:latin typeface="맑은 고딕"/>
                <a:ea typeface="맑은 고딕"/>
                <a:cs typeface="맑은 고딕"/>
              </a:rPr>
              <a:t>• 결과를 보고 고르는 다음 행동</a:t>
            </a:r>
          </a:p>
          <a:p>
            <a:pPr algn="l">
              <a:lnSpc>
                <a:spcPct val="110000"/>
              </a:lnSpc>
              <a:spcAft>
                <a:spcPts val="600"/>
              </a:spcAft>
            </a:pPr>
            <a:r>
              <a:rPr sz="1450" b="0">
                <a:solidFill>
                  <a:srgbClr val="1F2A3A"/>
                </a:solidFill>
                <a:latin typeface="맑은 고딕"/>
                <a:ea typeface="맑은 고딕"/>
                <a:cs typeface="맑은 고딕"/>
              </a:rPr>
              <a:t>• 다시 시도할지, 보류할지</a:t>
            </a:r>
          </a:p>
          <a:p>
            <a:pPr algn="l">
              <a:lnSpc>
                <a:spcPct val="110000"/>
              </a:lnSpc>
              <a:spcAft>
                <a:spcPts val="600"/>
              </a:spcAft>
            </a:pPr>
            <a:r>
              <a:rPr sz="1450" b="0">
                <a:solidFill>
                  <a:srgbClr val="1F2A3A"/>
                </a:solidFill>
                <a:latin typeface="맑은 고딕"/>
                <a:ea typeface="맑은 고딕"/>
                <a:cs typeface="맑은 고딕"/>
              </a:rPr>
              <a:t>• 설명의 문장</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에이전트</a:t>
            </a:r>
          </a:p>
          <a:p>
            <a:pPr algn="ctr">
              <a:lnSpc>
                <a:spcPct val="110000"/>
              </a:lnSpc>
              <a:spcAft>
                <a:spcPts val="400"/>
              </a:spcAft>
            </a:pPr>
            <a:r>
              <a:rPr sz="1200" b="0">
                <a:solidFill>
                  <a:srgbClr val="1F2A3A"/>
                </a:solidFill>
                <a:latin typeface="맑은 고딕"/>
                <a:ea typeface="맑은 고딕"/>
                <a:cs typeface="맑은 고딕"/>
              </a:rPr>
              <a:t>답만 하던 모델이</a:t>
            </a:r>
          </a:p>
          <a:p>
            <a:pPr algn="ctr">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스킬</a:t>
            </a:r>
          </a:p>
          <a:p>
            <a:pPr algn="ctr">
              <a:lnSpc>
                <a:spcPct val="110000"/>
              </a:lnSpc>
              <a:spcAft>
                <a:spcPts val="400"/>
              </a:spcAft>
            </a:pPr>
            <a:r>
              <a:rPr sz="1200" b="0">
                <a:solidFill>
                  <a:srgbClr val="1F2A3A"/>
                </a:solidFill>
                <a:latin typeface="맑은 고딕"/>
                <a:ea typeface="맑은 고딕"/>
                <a:cs typeface="맑은 고딕"/>
              </a:rPr>
              <a:t>실행마다 다르던</a:t>
            </a:r>
          </a:p>
          <a:p>
            <a:pPr algn="ctr">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MCP</a:t>
            </a:r>
          </a:p>
          <a:p>
            <a:pPr algn="ctr">
              <a:lnSpc>
                <a:spcPct val="110000"/>
              </a:lnSpc>
              <a:spcAft>
                <a:spcPts val="400"/>
              </a:spcAft>
            </a:pPr>
            <a:r>
              <a:rPr sz="1200" b="0">
                <a:solidFill>
                  <a:srgbClr val="1F2A3A"/>
                </a:solidFill>
                <a:latin typeface="맑은 고딕"/>
                <a:ea typeface="맑은 고딕"/>
                <a:cs typeface="맑은 고딕"/>
              </a:rPr>
              <a:t>시스템의 값을</a:t>
            </a:r>
          </a:p>
          <a:p>
            <a:pPr algn="ctr">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HITL</a:t>
            </a:r>
          </a:p>
          <a:p>
            <a:pPr algn="ctr">
              <a:lnSpc>
                <a:spcPct val="110000"/>
              </a:lnSpc>
              <a:spcAft>
                <a:spcPts val="400"/>
              </a:spcAft>
            </a:pPr>
            <a:r>
              <a:rPr sz="1200" b="0">
                <a:solidFill>
                  <a:srgbClr val="1F2A3A"/>
                </a:solidFill>
                <a:latin typeface="맑은 고딕"/>
                <a:ea typeface="맑은 고딕"/>
                <a:cs typeface="맑은 고딕"/>
              </a:rPr>
              <a:t>실행의 결정을</a:t>
            </a:r>
          </a:p>
          <a:p>
            <a:pPr algn="ctr">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SDD</a:t>
            </a:r>
          </a:p>
          <a:p>
            <a:pPr algn="ctr">
              <a:lnSpc>
                <a:spcPct val="110000"/>
              </a:lnSpc>
              <a:spcAft>
                <a:spcPts val="400"/>
              </a:spcAft>
            </a:pPr>
            <a:r>
              <a:rPr sz="1200" b="0">
                <a:solidFill>
                  <a:srgbClr val="1F2A3A"/>
                </a:solidFill>
                <a:latin typeface="맑은 고딕"/>
                <a:ea typeface="맑은 고딕"/>
                <a:cs typeface="맑은 고딕"/>
              </a:rPr>
              <a:t>지킬 것을</a:t>
            </a:r>
          </a:p>
          <a:p>
            <a:pPr algn="ctr">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BDD</a:t>
            </a:r>
          </a:p>
          <a:p>
            <a:pPr algn="ctr">
              <a:lnSpc>
                <a:spcPct val="110000"/>
              </a:lnSpc>
              <a:spcAft>
                <a:spcPts val="400"/>
              </a:spcAft>
            </a:pPr>
            <a:r>
              <a:rPr sz="1200" b="0">
                <a:solidFill>
                  <a:srgbClr val="1F2A3A"/>
                </a:solidFill>
                <a:latin typeface="맑은 고딕"/>
                <a:ea typeface="맑은 고딕"/>
                <a:cs typeface="맑은 고딕"/>
              </a:rPr>
              <a:t>적은 대로 하는지</a:t>
            </a:r>
          </a:p>
          <a:p>
            <a:pPr algn="ctr">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믿고 쓸 수 있는 에이전트의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믿고 쓰는 근거는 적어 둔 기준과, 바꿀 때마다 그 기준을 다시 통과한 실행의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671318"/>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671318"/>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정한 것을 적어 두고,</a:t>
            </a:r>
          </a:p>
          <a:p>
            <a:pPr algn="ctr">
              <a:lnSpc>
                <a:spcPct val="110000"/>
              </a:lnSpc>
            </a:pPr>
            <a:r>
              <a:rPr sz="2600" b="1">
                <a:solidFill>
                  <a:srgbClr val="13294B"/>
                </a:solidFill>
                <a:latin typeface="맑은 고딕"/>
                <a:ea typeface="맑은 고딕"/>
                <a:cs typeface="맑은 고딕"/>
              </a:rPr>
              <a:t>그대로 행동하는지 실행으로 확인한다</a:t>
            </a:r>
          </a:p>
        </p:txBody>
      </p:sp>
      <p:sp>
        <p:nvSpPr>
          <p:cNvPr id="8" name="Oval 7"/>
          <p:cNvSpPr/>
          <p:nvPr/>
        </p:nvSpPr>
        <p:spPr>
          <a:xfrm>
            <a:off x="548640" y="4408678"/>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562297"/>
            <a:ext cx="424281" cy="424281"/>
          </a:xfrm>
          <a:prstGeom prst="rect">
            <a:avLst/>
          </a:prstGeom>
        </p:spPr>
      </p:pic>
      <p:sp>
        <p:nvSpPr>
          <p:cNvPr id="10" name="TextBox 9"/>
          <p:cNvSpPr txBox="1"/>
          <p:nvPr/>
        </p:nvSpPr>
        <p:spPr>
          <a:xfrm>
            <a:off x="1371600"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적어 둔 기준</a:t>
            </a:r>
          </a:p>
          <a:p>
            <a:pPr algn="l">
              <a:lnSpc>
                <a:spcPct val="110000"/>
              </a:lnSpc>
              <a:spcAft>
                <a:spcPts val="400"/>
              </a:spcAft>
            </a:pPr>
            <a:r>
              <a:rPr sz="1400" b="0">
                <a:solidFill>
                  <a:srgbClr val="1F2A3A"/>
                </a:solidFill>
                <a:latin typeface="맑은 고딕"/>
                <a:ea typeface="맑은 고딕"/>
                <a:cs typeface="맑은 고딕"/>
              </a:rPr>
              <a:t>목표, 스킬, 명세</a:t>
            </a:r>
          </a:p>
        </p:txBody>
      </p:sp>
      <p:sp>
        <p:nvSpPr>
          <p:cNvPr id="11" name="Oval 10"/>
          <p:cNvSpPr/>
          <p:nvPr/>
        </p:nvSpPr>
        <p:spPr>
          <a:xfrm>
            <a:off x="4338218" y="4408678"/>
            <a:ext cx="731520" cy="731520"/>
          </a:xfrm>
          <a:prstGeom prst="ellipse">
            <a:avLst/>
          </a:prstGeom>
          <a:solidFill>
            <a:srgbClr val="E7F3FD"/>
          </a:solidFill>
          <a:ln>
            <a:noFill/>
          </a:ln>
        </p:spPr>
        <p:txBody>
          <a:bodyPr rtlCol="0" anchor="ctr"/>
          <a:lstStyle/>
          <a:p>
            <a:pPr algn="ctr"/>
          </a:p>
        </p:txBody>
      </p:sp>
      <p:pic>
        <p:nvPicPr>
          <p:cNvPr id="12" name="아이콘:shield-check" descr="shield-check_13294B_1.6.png"/>
          <p:cNvPicPr>
            <a:picLocks noChangeAspect="1"/>
          </p:cNvPicPr>
          <p:nvPr/>
        </p:nvPicPr>
        <p:blipFill>
          <a:blip r:embed="rId4"/>
          <a:stretch>
            <a:fillRect/>
          </a:stretch>
        </p:blipFill>
        <p:spPr>
          <a:xfrm>
            <a:off x="4491837" y="4562297"/>
            <a:ext cx="424281" cy="424281"/>
          </a:xfrm>
          <a:prstGeom prst="rect">
            <a:avLst/>
          </a:prstGeom>
        </p:spPr>
      </p:pic>
      <p:sp>
        <p:nvSpPr>
          <p:cNvPr id="13" name="TextBox 12"/>
          <p:cNvSpPr txBox="1"/>
          <p:nvPr/>
        </p:nvSpPr>
        <p:spPr>
          <a:xfrm>
            <a:off x="5161178"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실행 중의 방어</a:t>
            </a:r>
          </a:p>
          <a:p>
            <a:pPr algn="l">
              <a:lnSpc>
                <a:spcPct val="110000"/>
              </a:lnSpc>
              <a:spcAft>
                <a:spcPts val="400"/>
              </a:spcAft>
            </a:pPr>
            <a:r>
              <a:rPr sz="1400" b="0">
                <a:solidFill>
                  <a:srgbClr val="1F2A3A"/>
                </a:solidFill>
                <a:latin typeface="맑은 고딕"/>
                <a:ea typeface="맑은 고딕"/>
                <a:cs typeface="맑은 고딕"/>
              </a:rPr>
              <a:t>출력 계약의 검사, 사람의 승인</a:t>
            </a:r>
          </a:p>
        </p:txBody>
      </p:sp>
      <p:sp>
        <p:nvSpPr>
          <p:cNvPr id="14" name="Oval 13"/>
          <p:cNvSpPr/>
          <p:nvPr/>
        </p:nvSpPr>
        <p:spPr>
          <a:xfrm>
            <a:off x="8127796" y="4408678"/>
            <a:ext cx="731520" cy="731520"/>
          </a:xfrm>
          <a:prstGeom prst="ellipse">
            <a:avLst/>
          </a:prstGeom>
          <a:solidFill>
            <a:srgbClr val="E7F3FD"/>
          </a:solidFill>
          <a:ln>
            <a:noFill/>
          </a:ln>
        </p:spPr>
        <p:txBody>
          <a:bodyPr rtlCol="0" anchor="ctr"/>
          <a:lstStyle/>
          <a:p>
            <a:pPr algn="ctr"/>
          </a:p>
        </p:txBody>
      </p:sp>
      <p:pic>
        <p:nvPicPr>
          <p:cNvPr id="15" name="아이콘:repeat" descr="repeat_13294B_1.6.png"/>
          <p:cNvPicPr>
            <a:picLocks noChangeAspect="1"/>
          </p:cNvPicPr>
          <p:nvPr/>
        </p:nvPicPr>
        <p:blipFill>
          <a:blip r:embed="rId5"/>
          <a:stretch>
            <a:fillRect/>
          </a:stretch>
        </p:blipFill>
        <p:spPr>
          <a:xfrm>
            <a:off x="8281416" y="4562297"/>
            <a:ext cx="424281" cy="424281"/>
          </a:xfrm>
          <a:prstGeom prst="rect">
            <a:avLst/>
          </a:prstGeom>
        </p:spPr>
      </p:pic>
      <p:sp>
        <p:nvSpPr>
          <p:cNvPr id="16" name="TextBox 15"/>
          <p:cNvSpPr txBox="1"/>
          <p:nvPr/>
        </p:nvSpPr>
        <p:spPr>
          <a:xfrm>
            <a:off x="8950756"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되풀이한 확인</a:t>
            </a:r>
          </a:p>
          <a:p>
            <a:pPr algn="l">
              <a:lnSpc>
                <a:spcPct val="110000"/>
              </a:lnSpc>
              <a:spcAft>
                <a:spcPts val="400"/>
              </a:spcAft>
            </a:pPr>
            <a:r>
              <a:rPr sz="1400" b="0">
                <a:solidFill>
                  <a:srgbClr val="1F2A3A"/>
                </a:solidFill>
                <a:latin typeface="맑은 고딕"/>
                <a:ea typeface="맑은 고딕"/>
                <a:cs typeface="맑은 고딕"/>
              </a:rPr>
              <a:t>시나리오와 회귀 시험</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한 작업에서 업무 전체의 흐름으로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진단과 추천은 업무의 한 구간이며, 업무 전체의 순서와 담당은 업무 흐름의 표준 표기법 BPMN으로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bell" descr="bell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11:13:08</a:t>
            </a:r>
          </a:p>
          <a:p>
            <a:pPr algn="ctr">
              <a:lnSpc>
                <a:spcPct val="110000"/>
              </a:lnSpc>
              <a:spcAft>
                <a:spcPts val="400"/>
              </a:spcAft>
            </a:pPr>
            <a:r>
              <a:rPr sz="1250" b="0">
                <a:solidFill>
                  <a:srgbClr val="1F2A3A"/>
                </a:solidFill>
                <a:latin typeface="맑은 고딕"/>
                <a:ea typeface="맑은 고딕"/>
                <a:cs typeface="맑은 고딕"/>
              </a:rPr>
              <a:t>쿨러 성능 저하</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906141"/>
            <a:ext cx="731520" cy="731520"/>
          </a:xfrm>
          <a:prstGeom prst="ellipse">
            <a:avLst/>
          </a:prstGeom>
          <a:solidFill>
            <a:srgbClr val="5CB8F2"/>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진단과 추천</a:t>
            </a:r>
          </a:p>
          <a:p>
            <a:pPr algn="ctr">
              <a:lnSpc>
                <a:spcPct val="110000"/>
              </a:lnSpc>
              <a:spcAft>
                <a:spcPts val="400"/>
              </a:spcAft>
            </a:pPr>
            <a:r>
              <a:rPr sz="1250" b="0">
                <a:solidFill>
                  <a:srgbClr val="1F2A3A"/>
                </a:solidFill>
                <a:latin typeface="맑은 고딕"/>
                <a:ea typeface="맑은 고딕"/>
                <a:cs typeface="맑은 고딕"/>
              </a:rPr>
              <a:t>에이전트가 맡은 구간</a:t>
            </a:r>
          </a:p>
          <a:p>
            <a:pPr algn="ctr">
              <a:lnSpc>
                <a:spcPct val="110000"/>
              </a:lnSpc>
              <a:spcAft>
                <a:spcPts val="400"/>
              </a:spcAft>
            </a:pPr>
            <a:r>
              <a:rPr sz="1250" b="0">
                <a:solidFill>
                  <a:srgbClr val="1F2A3A"/>
                </a:solidFill>
                <a:latin typeface="맑은 고딕"/>
                <a:ea typeface="맑은 고딕"/>
                <a:cs typeface="맑은 고딕"/>
              </a:rPr>
              <a:t>추천안 한 건</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906141"/>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11:14:56</a:t>
            </a:r>
          </a:p>
          <a:p>
            <a:pPr algn="ctr">
              <a:lnSpc>
                <a:spcPct val="110000"/>
              </a:lnSpc>
              <a:spcAft>
                <a:spcPts val="400"/>
              </a:spcAft>
            </a:pPr>
            <a:r>
              <a:rPr sz="1250" b="0">
                <a:solidFill>
                  <a:srgbClr val="1F2A3A"/>
                </a:solidFill>
                <a:latin typeface="맑은 고딕"/>
                <a:ea typeface="맑은 고딕"/>
                <a:cs typeface="맑은 고딕"/>
              </a:rPr>
              <a:t>운전원</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설비 명령</a:t>
            </a:r>
          </a:p>
          <a:p>
            <a:pPr algn="ctr">
              <a:lnSpc>
                <a:spcPct val="110000"/>
              </a:lnSpc>
              <a:spcAft>
                <a:spcPts val="400"/>
              </a:spcAft>
            </a:pPr>
            <a:r>
              <a:rPr sz="1250" b="0">
                <a:solidFill>
                  <a:srgbClr val="1F2A3A"/>
                </a:solidFill>
                <a:latin typeface="맑은 고딕"/>
                <a:ea typeface="맑은 고딕"/>
                <a:cs typeface="맑은 고딕"/>
              </a:rPr>
              <a:t>11:14:57</a:t>
            </a:r>
          </a:p>
          <a:p>
            <a:pPr algn="ctr">
              <a:lnSpc>
                <a:spcPct val="110000"/>
              </a:lnSpc>
              <a:spcAft>
                <a:spcPts val="400"/>
              </a:spcAft>
            </a:pPr>
            <a:r>
              <a:rPr sz="1250" b="0">
                <a:solidFill>
                  <a:srgbClr val="1F2A3A"/>
                </a:solidFill>
                <a:latin typeface="맑은 고딕"/>
                <a:ea typeface="맑은 고딕"/>
                <a:cs typeface="맑은 고딕"/>
              </a:rPr>
              <a:t>팬 속도 100 %</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clipboard-list" descr="clipboard-list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재관측과 작업지시</a:t>
            </a:r>
          </a:p>
          <a:p>
            <a:pPr algn="ctr">
              <a:lnSpc>
                <a:spcPct val="110000"/>
              </a:lnSpc>
              <a:spcAft>
                <a:spcPts val="400"/>
              </a:spcAft>
            </a:pPr>
            <a:r>
              <a:rPr sz="1250" b="0">
                <a:solidFill>
                  <a:srgbClr val="1F2A3A"/>
                </a:solidFill>
                <a:latin typeface="맑은 고딕"/>
                <a:ea typeface="맑은 고딕"/>
                <a:cs typeface="맑은 고딕"/>
              </a:rPr>
              <a:t>유온 51.5 ℃</a:t>
            </a:r>
          </a:p>
          <a:p>
            <a:pPr algn="ctr">
              <a:lnSpc>
                <a:spcPct val="110000"/>
              </a:lnSpc>
              <a:spcAft>
                <a:spcPts val="400"/>
              </a:spcAft>
            </a:pPr>
            <a:r>
              <a:rPr sz="1250" b="0">
                <a:solidFill>
                  <a:srgbClr val="1F2A3A"/>
                </a:solidFill>
                <a:latin typeface="맑은 고딕"/>
                <a:ea typeface="맑은 고딕"/>
                <a:cs typeface="맑은 고딕"/>
              </a:rPr>
              <a:t>WO-1010-C058</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일차에서 정식 명칭을 붙인 용어와, 그 용어가 에이전트의 신뢰성에서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1"/>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에이전트의 신뢰성에서</a:t>
            </a:r>
          </a:p>
        </p:txBody>
      </p:sp>
      <p:sp>
        <p:nvSpPr>
          <p:cNvPr id="10" name="Rounded Rectangle 9"/>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가드레일</a:t>
            </a:r>
          </a:p>
        </p:txBody>
      </p:sp>
      <p:sp>
        <p:nvSpPr>
          <p:cNvPr id="12" name="TextBox 11"/>
          <p:cNvSpPr txBox="1"/>
          <p:nvPr/>
        </p:nvSpPr>
        <p:spPr>
          <a:xfrm>
            <a:off x="3200400" y="202996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Guardrail</a:t>
            </a:r>
          </a:p>
        </p:txBody>
      </p:sp>
      <p:sp>
        <p:nvSpPr>
          <p:cNvPr id="13" name="TextBox 12"/>
          <p:cNvSpPr txBox="1"/>
          <p:nvPr/>
        </p:nvSpPr>
        <p:spPr>
          <a:xfrm>
            <a:off x="9448495" y="202996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추천안이 승인 대기로 가기 전의 자동 검사</a:t>
            </a:r>
          </a:p>
        </p:txBody>
      </p:sp>
      <p:sp>
        <p:nvSpPr>
          <p:cNvPr id="14" name="Rounded Rectangle 13"/>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1053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바이브 코딩</a:t>
            </a:r>
          </a:p>
        </p:txBody>
      </p:sp>
      <p:sp>
        <p:nvSpPr>
          <p:cNvPr id="16" name="TextBox 15"/>
          <p:cNvSpPr txBox="1"/>
          <p:nvPr/>
        </p:nvSpPr>
        <p:spPr>
          <a:xfrm>
            <a:off x="3200400" y="251053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Vibe Coding</a:t>
            </a:r>
          </a:p>
        </p:txBody>
      </p:sp>
      <p:sp>
        <p:nvSpPr>
          <p:cNvPr id="17" name="TextBox 16"/>
          <p:cNvSpPr txBox="1"/>
          <p:nvPr/>
        </p:nvSpPr>
        <p:spPr>
          <a:xfrm>
            <a:off x="9448495" y="251053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「긴급한 경보는 빨리」 한 문장으로 맡기는 변경</a:t>
            </a:r>
          </a:p>
        </p:txBody>
      </p:sp>
      <p:sp>
        <p:nvSpPr>
          <p:cNvPr id="18" name="Rounded Rectangle 17"/>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299110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SDD</a:t>
            </a:r>
          </a:p>
        </p:txBody>
      </p:sp>
      <p:sp>
        <p:nvSpPr>
          <p:cNvPr id="20" name="TextBox 19"/>
          <p:cNvSpPr txBox="1"/>
          <p:nvPr/>
        </p:nvSpPr>
        <p:spPr>
          <a:xfrm>
            <a:off x="3200400" y="299110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Spec-Driven Development</a:t>
            </a:r>
          </a:p>
        </p:txBody>
      </p:sp>
      <p:sp>
        <p:nvSpPr>
          <p:cNvPr id="21" name="TextBox 20"/>
          <p:cNvSpPr txBox="1"/>
          <p:nvPr/>
        </p:nvSpPr>
        <p:spPr>
          <a:xfrm>
            <a:off x="9448495" y="299110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전에 먼저 고치는 명세</a:t>
            </a:r>
          </a:p>
        </p:txBody>
      </p:sp>
      <p:sp>
        <p:nvSpPr>
          <p:cNvPr id="22" name="Rounded Rectangle 21"/>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47167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계약</a:t>
            </a:r>
          </a:p>
        </p:txBody>
      </p:sp>
      <p:sp>
        <p:nvSpPr>
          <p:cNvPr id="24" name="TextBox 23"/>
          <p:cNvSpPr txBox="1"/>
          <p:nvPr/>
        </p:nvSpPr>
        <p:spPr>
          <a:xfrm>
            <a:off x="3200400" y="347167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Contract</a:t>
            </a:r>
          </a:p>
        </p:txBody>
      </p:sp>
      <p:sp>
        <p:nvSpPr>
          <p:cNvPr id="25" name="TextBox 24"/>
          <p:cNvSpPr txBox="1"/>
          <p:nvPr/>
        </p:nvSpPr>
        <p:spPr>
          <a:xfrm>
            <a:off x="9448495" y="347167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입력 세 항목과 출력 다섯 항목</a:t>
            </a:r>
          </a:p>
        </p:txBody>
      </p:sp>
      <p:sp>
        <p:nvSpPr>
          <p:cNvPr id="26" name="Rounded Rectangle 25"/>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3952239"/>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수용 기준</a:t>
            </a:r>
          </a:p>
        </p:txBody>
      </p:sp>
      <p:sp>
        <p:nvSpPr>
          <p:cNvPr id="28" name="TextBox 27"/>
          <p:cNvSpPr txBox="1"/>
          <p:nvPr/>
        </p:nvSpPr>
        <p:spPr>
          <a:xfrm>
            <a:off x="3200400" y="3952239"/>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Acceptance Criteria</a:t>
            </a:r>
          </a:p>
        </p:txBody>
      </p:sp>
      <p:sp>
        <p:nvSpPr>
          <p:cNvPr id="29" name="TextBox 28"/>
          <p:cNvSpPr txBox="1"/>
          <p:nvPr/>
        </p:nvSpPr>
        <p:spPr>
          <a:xfrm>
            <a:off x="9448495" y="3952239"/>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설비 명령이 0건이다</a:t>
            </a:r>
          </a:p>
        </p:txBody>
      </p:sp>
      <p:sp>
        <p:nvSpPr>
          <p:cNvPr id="30" name="Rounded Rectangle 29"/>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43280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BDD</a:t>
            </a:r>
          </a:p>
        </p:txBody>
      </p:sp>
      <p:sp>
        <p:nvSpPr>
          <p:cNvPr id="32" name="TextBox 31"/>
          <p:cNvSpPr txBox="1"/>
          <p:nvPr/>
        </p:nvSpPr>
        <p:spPr>
          <a:xfrm>
            <a:off x="3200400" y="443280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Behavior-Driven Development</a:t>
            </a:r>
          </a:p>
        </p:txBody>
      </p:sp>
      <p:sp>
        <p:nvSpPr>
          <p:cNvPr id="33" name="TextBox 32"/>
          <p:cNvSpPr txBox="1"/>
          <p:nvPr/>
        </p:nvSpPr>
        <p:spPr>
          <a:xfrm>
            <a:off x="9448495" y="443280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시나리오로 행동 확인</a:t>
            </a:r>
          </a:p>
        </p:txBody>
      </p:sp>
      <p:sp>
        <p:nvSpPr>
          <p:cNvPr id="34" name="Rounded Rectangle 33"/>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491337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단언</a:t>
            </a:r>
          </a:p>
        </p:txBody>
      </p:sp>
      <p:sp>
        <p:nvSpPr>
          <p:cNvPr id="36" name="TextBox 35"/>
          <p:cNvSpPr txBox="1"/>
          <p:nvPr/>
        </p:nvSpPr>
        <p:spPr>
          <a:xfrm>
            <a:off x="3200400" y="491337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Assertion</a:t>
            </a:r>
          </a:p>
        </p:txBody>
      </p:sp>
      <p:sp>
        <p:nvSpPr>
          <p:cNvPr id="37" name="TextBox 36"/>
          <p:cNvSpPr txBox="1"/>
          <p:nvPr/>
        </p:nvSpPr>
        <p:spPr>
          <a:xfrm>
            <a:off x="9448495" y="491337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기대값과 결과의 대조</a:t>
            </a:r>
          </a:p>
        </p:txBody>
      </p:sp>
      <p:sp>
        <p:nvSpPr>
          <p:cNvPr id="38" name="Rounded Rectangle 37"/>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39394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경계값 분석</a:t>
            </a:r>
          </a:p>
        </p:txBody>
      </p:sp>
      <p:sp>
        <p:nvSpPr>
          <p:cNvPr id="40" name="TextBox 39"/>
          <p:cNvSpPr txBox="1"/>
          <p:nvPr/>
        </p:nvSpPr>
        <p:spPr>
          <a:xfrm>
            <a:off x="3200400" y="539394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Boundary Value Analysis</a:t>
            </a:r>
          </a:p>
        </p:txBody>
      </p:sp>
      <p:sp>
        <p:nvSpPr>
          <p:cNvPr id="41" name="TextBox 40"/>
          <p:cNvSpPr txBox="1"/>
          <p:nvPr/>
        </p:nvSpPr>
        <p:spPr>
          <a:xfrm>
            <a:off x="9448495" y="539394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기준값 바로 안팎의 입력</a:t>
            </a:r>
          </a:p>
        </p:txBody>
      </p:sp>
      <p:sp>
        <p:nvSpPr>
          <p:cNvPr id="42" name="Rounded Rectangle 41"/>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43" name="TextBox 42"/>
          <p:cNvSpPr txBox="1"/>
          <p:nvPr/>
        </p:nvSpPr>
        <p:spPr>
          <a:xfrm>
            <a:off x="685800" y="587451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회귀 시험</a:t>
            </a:r>
          </a:p>
        </p:txBody>
      </p:sp>
      <p:sp>
        <p:nvSpPr>
          <p:cNvPr id="44" name="TextBox 43"/>
          <p:cNvSpPr txBox="1"/>
          <p:nvPr/>
        </p:nvSpPr>
        <p:spPr>
          <a:xfrm>
            <a:off x="3200400" y="587451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Regression Test</a:t>
            </a:r>
          </a:p>
        </p:txBody>
      </p:sp>
      <p:sp>
        <p:nvSpPr>
          <p:cNvPr id="45" name="TextBox 44"/>
          <p:cNvSpPr txBox="1"/>
          <p:nvPr/>
        </p:nvSpPr>
        <p:spPr>
          <a:xfrm>
            <a:off x="9448495" y="587451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뒤의 재실행</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검토 에이전트가 낸 문제없다는 의견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통과와 검토 의견이 모두 갖추어졌다는 사실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역할의 담당자가 승인했다는 기록</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두 실행의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경보를 두 번 처리했더니 둘째 실행은 설명 문장과 도구 호출 순서가 달랐고, 결과에 decision_id 항목이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시험이 실패로 세어야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decision_id 항목이 빠진 것</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설명 문장이 첫 실행과 다른 것</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도구를 부른 순서가 다른 것</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가지 모두</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검토와 승인, 판정할 수 있는 문장과 없는 문장, 표현 차이와 계약 위반을 올바르게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문장과 호출 순서는 표현 차이다. 출력 계약이 정한 항목이 빠진 것은 계약 위반이다.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