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일하는 방식과 에이전트에 붙이는 스킬과 도구 연결을 다루었습니다. 오늘은 그 에이전트를 믿고 쓰기 위한 것, 곧 사람이 결정하는 자리와 요구사항을 적는 명세와 행동을 확인하는 시나리오를 다루고 전체 과정을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첫날 HITL이라는 이름으로 소개한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적습니다. 이 항목들은 승인을 받은 시스템만 채울 수 있어서, 에이전트가 자기 결과에 승인한 사람을 적어 내더라도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경우가 있습니다. 승인 요청이 올라온 뒤 10분 동안 응답이 없으면 승인 지연 알림이 나갑니다. 알림의 문구는 「승인 대기 중, 승인하거나 거절할 때까지 기다립니다」입니다. 알림이 나가도 승인 작업은 닫히지 않으며,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왼쪽처럼 요청에서 빠졌고 도구로도 확인할 수 없는 업무 정보는 묻습니다. 오른쪽처럼 도구로 읽을 수 있는 값은 묻지 않고 조회해야 하며, 허용되지 않은 일을 하게 해 달라고 물어서도 안 됩니다. 담당자가 답에 진행하라고 적더라도 그것은 근거가 확인되었다는 뜻도, 조치를 승인했다는 뜻도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지난 시간에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에이전트의 실행에는 한도가 있어서, 실행 시간 1,800초(30분)나 재시도 두 번을 넘긴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모았습니다. 추천안은 가드레일을 지나 승인 역할의 담당자에게 올라가고, 승인과 거절은 누가 무엇을 결정했는지와 함께 기록됩니다. 에이전트가 정보가 모자라 묻거나 한도를 넘겨 멈추는 경우에도 사람이 답하고 닫는 자리가 정해져 있습니다. 이 다섯 가지가 에이전트의 일과 사람의 책임을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직접 결정합니다. 먼저 올라온 추천안과 그 조치의 승인 역할을 확인합니다. 그런 다음 권한이 있는 역할로 승인하거나 사유를 적어 거절하고, 그 결정이 처리 건의 상태를 어떻게 바꾸었는지를 처리 기록에서 읽습니다. 권한이 없는 역할로는 승인이 받아들여지지 않는다는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4일차에 만든 에이전트를 다시 씁니다. 부품 수량이나 긴급 사유나 승인권자가 빠진 요청을 주었을 때, 에이전트가 그 값을 짐작해 확정하지 않고 보류한 채 확인 질문을 내도록 고칩니다. 추가 답변을 받으면 그것을 반영해 같은 요청을 다시 처리하고,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 Vibe Coding입니다. 자연어로 요청하고, AI가 쓴 코드를 실행해 보며 다시 요청하는 방식입니다. 시작이 빠르다는 장점이 있습니다. 다만 요청에 적지 않은 부분은 AI가 그 자리에서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긴급하다는 표시가 나오면 끝났다고 봅니다. 오른쪽의 세 가지는 무엇이 그대로여야 하는지를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자리 가운데 출력 형식이 흔들리면 무슨 일이 생기는지를 봅니다. 에이전트의 결과는 혼자 쓰이지 않습니다. 형식 검사가 정해진 이름의 항목이 있는지를 보고, 승인 화면이 추천 항목을 이름으로 찾아 담당자에게 보이고, 뒤 단계가 판단 번호 항목으로 그 판단을 가리킵니다. 긴급 표시를 넣으면서 이 이름 가운데 하나를 바꾸면 그 뒤의 단계가 모두 읽지 못하게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앞에서 본 사건과 같은 유형의 다른 경보여서 경보 번호가 다릅니다. 설비, 경보, 사건 번호의 세 항목이며 유온이나 냉각 효율 같은 값은 들어 있지 않습니다. 그런 값은 에이전트가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항목마다 세 가지를 정합니다. 이름, 형식, 그리고 뜻입니다. 추천 항목을 보면 이름은 recommended이고, 형식은 조치 방법의 식별자이며, 뜻은 후보 가운데 1순위입니다. 이렇게 적혀 있으면 긴급 여부를 새 항목으로 더하는 것은 계약을 넓히는 변경이고, recommended의 이름이나 뜻을 바꾸는 것은 계약을 깨는 변경이라는 구분이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금지 조건의 실제 예입니다. 쿨러 사건의 에이전트가 읽는 작업 규칙에는 절대 금지라는 절이 따로 있습니다. 첫째 줄은 설비 명령과 업무 조치의 실행, 그리고 사람 대신 승인하는 일을 금지합니다. 둘째 줄은 지식과 규칙을 고치지 못하게 하고, 셋째 줄은 판단 제출이 승인이나 실행이 아니라는 점을 못 박습니다. 이 절은 원인을 가리고 조치를 견주는 업무의 절차와는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기준이 되는 문장과 되지 못하는 문장을 견줍니다. 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이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승인 단계의 동작은 우연히 그렇게 된 것이 아닙니다. 상황마다 확인되어야 하는 결과가 수용 기준으로 정해져 있고, 검사가 그것을 확인합니다. 승인하면 누가 승인했는지가 기록되고 끝까지 처리됩니다. 거절하면 명령과 업무 처리가 0건입니다. 사유가 없거나 권한이 없는 거절은 받아들여지지 않고, 응답이 없으면 알림만 나가고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다음의 순서입니다. 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 할 일입니다.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이어지는 행동 검증 단원의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변경 요청 한 문장에는 지킬 것이 적혀 있지 않습니다. 그래서 구현하기 전에 명세에 요구사항과 계약을 정하고, 하지 않을 일을 금지 조건으로, 다 되었는지를 가를 조건을 수용 기준으로 적습니다. 구현한 뒤에는 기존 요청과 새 요청을 함께 다시 실행합니다. 이렇게 저장한 입력과 기대 결과는 이어지는 행동 검증 단원으로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본 상황을 직접 만들어 봅니다. 4일차에 만든 에이전트에 긴급 요청을 분류하는 조건을 모호한 요청으로 더하고, 일반 요청과 긴급 요청을 실행해 결과의 항목과 승인 조건이 고치기 전과 달라진 곳을 찾습니다. 달라진 곳이 없을 수도 있으며, 그때에는 두 버전의 동작을 있는 그대로 견줍니다. 그런 다음 spec.md에 지킬 것과 달라질 것을 적고, 그 명세를 기준으로 고쳐 두 요청을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SDD와 지금 배우는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필요한 값을 읽지 못해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같은 쿨러 경보를 두 번 처리한 기록을 견주어 보면, 원인과 추천과 점수는 두 번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카드,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앞 실습의 spec.md와 같은 에이전트를 그대로 씁니다. 정상, 긴급, 미입력, 거절의 네 경우마다 Given, When, Then과 입력값, 기대 상태를 적습니다. 시나리오를 실행해 실제 출력이 기대값과 어긋난 조건을 확인하고, 어긋난 것이 표현 차이인지 계약 위반인지를 가릅니다. 실제로 실패한 시나리오만 고칠 곳을 가려 고친 뒤, 긴급 조건과 기존 조건이 모두 통과하는지 전체를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 동안 에이전트 하나에 무엇을 더해 왔는지를 한 장에 놓았습니다. 4일차에는 모델에 목표와 도구를 주어 에이전트를 세우고, 수행 방법을 스킬로 적고 도구를 MCP로 연결했습니다. 5일차에는 사람이 개입하는 지점과 명세를 정했고,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출력 형식의 검사와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명세와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실습 넷에서 만든 산출물을 모았습니다. 직접 구성한 에이전트의 답, 점검 계획, SKILL.md와 작업 목록, 여러 서버의 도구를 이어 만든 작업 요약입니다. 형식은 서로 다릅니다. 그러나 확인되지 않은 원인은 가설로, 겹치는 담당자와 없는 기한은 지어내지 않고 표시해 확정하지 않으며, 아는 것에는 근거를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실습 넷에서 만든 산출물은 서로 이어집니다. 첫 실습의 승인과 거절은 승인 단계의 시나리오가 되었고, 둘째 실습의 확인 질문은 필수 정보가 빠진 경우의 시나리오가 되었습니다. 셋째 실습의 spec.md는 시나리오의 입력과 기대값이 되었습니다. 마지막 실습의 시나리오와 재검증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장치를 문제가 생겼을 때 찾아갈 순서로 놓았습니다. 값이 실제와 다르면 호출 기록에서 입력과 응답을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내용을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처음부터 끝까지 다섯 칸으로 놓았습니다. 이 가운데 에이전트가 맡은 것은 둘째 칸의 진단과 추천뿐이고, 앞뒤의 칸은 사람과 시스템이 맡습니다. 어떤 일이 어떤 순서로 누구에게 가는지를 정한 것이 업무의 흐름입니다. 다음 시간에는 이 흐름을 그리는 표준 표기법인 BPMN을 쿨러 사건으로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아홉 개와 함께 승인 역할, 결정 기록, 에이전트의 질문, 금지 조건, 시나리오, 표현 차이, 계약 위반, 판단 채점이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4번은 표현 차이까지 실패로 센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18.png"/><Relationship Id="rId7"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7.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5.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8.png"/><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33.png"/><Relationship Id="rId6"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7.png"/><Relationship Id="rId5" Type="http://schemas.openxmlformats.org/officeDocument/2006/relationships/image" Target="../media/image39.png"/><Relationship Id="rId6" Type="http://schemas.openxmlformats.org/officeDocument/2006/relationships/image" Target="../media/image33.png"/><Relationship Id="rId7"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 Id="rId4" Type="http://schemas.openxmlformats.org/officeDocument/2006/relationships/image" Target="../media/image26.png"/><Relationship Id="rId5"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29.png"/><Relationship Id="rId6"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3.png"/><Relationship Id="rId4"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5.pn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56.png"/><Relationship Id="rId6" Type="http://schemas.openxmlformats.org/officeDocument/2006/relationships/image" Target="../media/image4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png"/><Relationship Id="rId4" Type="http://schemas.openxmlformats.org/officeDocument/2006/relationships/image" Target="../media/image6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3.png"/><Relationship Id="rId4" Type="http://schemas.openxmlformats.org/officeDocument/2006/relationships/image" Target="../media/image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png"/><Relationship Id="rId4" Type="http://schemas.openxmlformats.org/officeDocument/2006/relationships/image" Target="../media/image8.png"/><Relationship Id="rId5" Type="http://schemas.openxmlformats.org/officeDocument/2006/relationships/image" Target="../media/image40.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png"/><Relationship Id="rId4"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6.png"/><Relationship Id="rId4" Type="http://schemas.openxmlformats.org/officeDocument/2006/relationships/image" Target="../media/image4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40.png"/><Relationship Id="rId4" Type="http://schemas.openxmlformats.org/officeDocument/2006/relationships/image" Target="../media/image7.png"/><Relationship Id="rId5" Type="http://schemas.openxmlformats.org/officeDocument/2006/relationships/image" Target="../media/image61.png"/><Relationship Id="rId6" Type="http://schemas.openxmlformats.org/officeDocument/2006/relationships/image" Target="../media/image5.png"/><Relationship Id="rId7" Type="http://schemas.openxmlformats.org/officeDocument/2006/relationships/image" Target="../media/image62.png"/><Relationship Id="rId8" Type="http://schemas.openxmlformats.org/officeDocument/2006/relationships/image" Target="../media/image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7.png"/><Relationship Id="rId4" Type="http://schemas.openxmlformats.org/officeDocument/2006/relationships/image" Target="../media/image40.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5일차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판단과 명세, 행동 검증으로</a:t>
            </a:r>
          </a:p>
          <a:p>
            <a:pPr algn="l">
              <a:lnSpc>
                <a:spcPct val="110000"/>
              </a:lnSpc>
            </a:pPr>
            <a:r>
              <a:rPr sz="4000" b="1">
                <a:solidFill>
                  <a:srgbClr val="FFFFFF"/>
                </a:solidFill>
                <a:latin typeface="맑은 고딕"/>
                <a:ea typeface="맑은 고딕"/>
                <a:cs typeface="맑은 고딕"/>
              </a:rPr>
              <a:t>높이는 에이전트의 신뢰성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사람이 개입하는 지점의 설계, 명세 주도 개발, 행동 검증과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추천안을 사람이 결정하는 자리와, 고친 에이전트가 기존 기능을 지키는지를 명세와 시나리오로 확인하는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0600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59621"/>
            <a:ext cx="424281" cy="424281"/>
          </a:xfrm>
          <a:prstGeom prst="rect">
            <a:avLst/>
          </a:prstGeom>
        </p:spPr>
      </p:pic>
      <p:sp>
        <p:nvSpPr>
          <p:cNvPr id="9" name="TextBox 8"/>
          <p:cNvSpPr txBox="1"/>
          <p:nvPr/>
        </p:nvSpPr>
        <p:spPr>
          <a:xfrm>
            <a:off x="713232"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개입 지점과 책임</a:t>
            </a:r>
          </a:p>
          <a:p>
            <a:pPr algn="l">
              <a:lnSpc>
                <a:spcPct val="110000"/>
              </a:lnSpc>
              <a:spcAft>
                <a:spcPts val="400"/>
              </a:spcAft>
            </a:pPr>
            <a:r>
              <a:rPr sz="1350" b="0">
                <a:solidFill>
                  <a:srgbClr val="1F2A3A"/>
                </a:solidFill>
                <a:latin typeface="맑은 고딕"/>
                <a:ea typeface="맑은 고딕"/>
                <a:cs typeface="맑은 고딕"/>
              </a:rPr>
              <a:t>• 승인, 보류, 거절과 에이전트의 질문, 멈춘 작업 닫기가 언제 누구에게 오는지 설명한다</a:t>
            </a:r>
          </a:p>
          <a:p>
            <a:pPr algn="l">
              <a:lnSpc>
                <a:spcPct val="110000"/>
              </a:lnSpc>
              <a:spcAft>
                <a:spcPts val="400"/>
              </a:spcAft>
            </a:pPr>
            <a:r>
              <a:rPr sz="1350" b="0">
                <a:solidFill>
                  <a:srgbClr val="1F2A3A"/>
                </a:solidFill>
                <a:latin typeface="맑은 고딕"/>
                <a:ea typeface="맑은 고딕"/>
                <a:cs typeface="맑은 고딕"/>
              </a:rPr>
              <a:t>• 승인 역할과 결정 기록에 남는 것을 실제 사건에서 짚는다</a:t>
            </a:r>
          </a:p>
        </p:txBody>
      </p:sp>
      <p:sp>
        <p:nvSpPr>
          <p:cNvPr id="10" name="Rounded Rectangle 9"/>
          <p:cNvSpPr/>
          <p:nvPr/>
        </p:nvSpPr>
        <p:spPr>
          <a:xfrm>
            <a:off x="777240" y="544810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지점</a:t>
            </a:r>
          </a:p>
        </p:txBody>
      </p:sp>
      <p:sp>
        <p:nvSpPr>
          <p:cNvPr id="12" name="Rounded Rectangle 11"/>
          <p:cNvSpPr/>
          <p:nvPr/>
        </p:nvSpPr>
        <p:spPr>
          <a:xfrm>
            <a:off x="3390823"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06002"/>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3773043" y="2459621"/>
            <a:ext cx="424281" cy="424281"/>
          </a:xfrm>
          <a:prstGeom prst="rect">
            <a:avLst/>
          </a:prstGeom>
        </p:spPr>
      </p:pic>
      <p:sp>
        <p:nvSpPr>
          <p:cNvPr id="15" name="TextBox 14"/>
          <p:cNvSpPr txBox="1"/>
          <p:nvPr/>
        </p:nvSpPr>
        <p:spPr>
          <a:xfrm>
            <a:off x="3555415"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a:t>
            </a:r>
          </a:p>
          <a:p>
            <a:pPr algn="l">
              <a:lnSpc>
                <a:spcPct val="110000"/>
              </a:lnSpc>
              <a:spcAft>
                <a:spcPts val="400"/>
              </a:spcAft>
            </a:pPr>
            <a:r>
              <a:rPr sz="1350" b="0">
                <a:solidFill>
                  <a:srgbClr val="1F2A3A"/>
                </a:solidFill>
                <a:latin typeface="맑은 고딕"/>
                <a:ea typeface="맑은 고딕"/>
                <a:cs typeface="맑은 고딕"/>
              </a:rPr>
              <a:t>가드레일이나 다른 에이전트의 검토를 사람의 승인과 구분한다</a:t>
            </a:r>
          </a:p>
        </p:txBody>
      </p:sp>
      <p:sp>
        <p:nvSpPr>
          <p:cNvPr id="16" name="Rounded Rectangle 15"/>
          <p:cNvSpPr/>
          <p:nvPr/>
        </p:nvSpPr>
        <p:spPr>
          <a:xfrm>
            <a:off x="3619423" y="544810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8" name="Rounded Rectangle 17"/>
          <p:cNvSpPr/>
          <p:nvPr/>
        </p:nvSpPr>
        <p:spPr>
          <a:xfrm>
            <a:off x="6233007"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06002"/>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459621"/>
            <a:ext cx="424281" cy="424281"/>
          </a:xfrm>
          <a:prstGeom prst="rect">
            <a:avLst/>
          </a:prstGeom>
        </p:spPr>
      </p:pic>
      <p:sp>
        <p:nvSpPr>
          <p:cNvPr id="21" name="TextBox 20"/>
          <p:cNvSpPr txBox="1"/>
          <p:nvPr/>
        </p:nvSpPr>
        <p:spPr>
          <a:xfrm>
            <a:off x="6397599"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22" name="Rounded Rectangle 21"/>
          <p:cNvSpPr/>
          <p:nvPr/>
        </p:nvSpPr>
        <p:spPr>
          <a:xfrm>
            <a:off x="6461607" y="544810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
        <p:nvSpPr>
          <p:cNvPr id="24" name="Rounded Rectangle 23"/>
          <p:cNvSpPr/>
          <p:nvPr/>
        </p:nvSpPr>
        <p:spPr>
          <a:xfrm>
            <a:off x="9075191" y="2104834"/>
            <a:ext cx="2567863" cy="377304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06002"/>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459621"/>
            <a:ext cx="424281" cy="424281"/>
          </a:xfrm>
          <a:prstGeom prst="rect">
            <a:avLst/>
          </a:prstGeom>
        </p:spPr>
      </p:pic>
      <p:sp>
        <p:nvSpPr>
          <p:cNvPr id="27" name="TextBox 26"/>
          <p:cNvSpPr txBox="1"/>
          <p:nvPr/>
        </p:nvSpPr>
        <p:spPr>
          <a:xfrm>
            <a:off x="9239783"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검증과 정리</a:t>
            </a:r>
          </a:p>
          <a:p>
            <a:pPr algn="l">
              <a:lnSpc>
                <a:spcPct val="110000"/>
              </a:lnSpc>
              <a:spcAft>
                <a:spcPts val="400"/>
              </a:spcAft>
            </a:pPr>
            <a:r>
              <a:rPr sz="1350" b="0">
                <a:solidFill>
                  <a:srgbClr val="1F2A3A"/>
                </a:solidFill>
                <a:latin typeface="맑은 고딕"/>
                <a:ea typeface="맑은 고딕"/>
                <a:cs typeface="맑은 고딕"/>
              </a:rPr>
              <a:t>• 시나리오와 정상, 경계, 예외, 회귀 시험으로 행동을 확인한다</a:t>
            </a:r>
          </a:p>
          <a:p>
            <a:pPr algn="l">
              <a:lnSpc>
                <a:spcPct val="110000"/>
              </a:lnSpc>
              <a:spcAft>
                <a:spcPts val="400"/>
              </a:spcAft>
            </a:pPr>
            <a:r>
              <a:rPr sz="1350" b="0">
                <a:solidFill>
                  <a:srgbClr val="1F2A3A"/>
                </a:solidFill>
                <a:latin typeface="맑은 고딕"/>
                <a:ea typeface="맑은 고딕"/>
                <a:cs typeface="맑은 고딕"/>
              </a:rPr>
              <a:t>• 에이전트를 만들고 믿기까지의 과정을 하나로 정리한다</a:t>
            </a:r>
          </a:p>
        </p:txBody>
      </p:sp>
      <p:sp>
        <p:nvSpPr>
          <p:cNvPr id="28" name="Rounded Rectangle 27"/>
          <p:cNvSpPr/>
          <p:nvPr/>
        </p:nvSpPr>
        <p:spPr>
          <a:xfrm>
            <a:off x="9303791" y="544810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746145805578335510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546022413315790078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 기록: 승인하는 순간에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 기록은 승인을 받은 시스템만 적을 수 있어, 에이전트가 승인한 사람을 스스로 채워 넣는 길이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승인을 받은 시스템이 적는다</a:t>
            </a:r>
          </a:p>
          <a:p>
            <a:pPr algn="l">
              <a:lnSpc>
                <a:spcPct val="110000"/>
              </a:lnSpc>
            </a:pPr>
            <a:r>
              <a:rPr sz="1400" b="0">
                <a:solidFill>
                  <a:srgbClr val="1F2A3A"/>
                </a:solidFill>
                <a:latin typeface="맑은 고딕"/>
                <a:ea typeface="맑은 고딕"/>
                <a:cs typeface="맑은 고딕"/>
              </a:rPr>
              <a:t>에이전트의 출력에 같은 항목이 있어도 쓰이지 않는다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안의 사본이 함께 남는다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팬 최대 운전</a:t>
            </a:r>
          </a:p>
          <a:p>
            <a:pPr algn="l">
              <a:lnSpc>
                <a:spcPct val="110000"/>
              </a:lnSpc>
            </a:pPr>
            <a:r>
              <a:rPr sz="1250" b="1">
                <a:solidFill>
                  <a:srgbClr val="556175"/>
                </a:solidFill>
                <a:latin typeface="맑은 고딕"/>
                <a:ea typeface="맑은 고딕"/>
                <a:cs typeface="맑은 고딕"/>
              </a:rPr>
              <a:t>SOP-COOL-11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접수된 때</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순간의 설비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때의 값이 아니라 승인하는 순간의 값을 다시 읽는다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유온 61.8 ℃</a:t>
            </a:r>
          </a:p>
          <a:p>
            <a:pPr algn="l">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무응답.svg" descr="illust_3970937309776104402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요청</a:t>
            </a:r>
          </a:p>
          <a:p>
            <a:pPr algn="ctr">
              <a:lnSpc>
                <a:spcPct val="110000"/>
              </a:lnSpc>
              <a:spcAft>
                <a:spcPts val="100"/>
              </a:spcAft>
            </a:pPr>
            <a:r>
              <a:rPr sz="1300" b="0">
                <a:solidFill>
                  <a:srgbClr val="556175"/>
                </a:solidFill>
                <a:latin typeface="맑은 고딕"/>
                <a:ea typeface="맑은 고딕"/>
                <a:cs typeface="맑은 고딕"/>
              </a:rPr>
              <a:t>추천안이 올라온다</a:t>
            </a:r>
          </a:p>
        </p:txBody>
      </p:sp>
      <p:sp>
        <p:nvSpPr>
          <p:cNvPr id="8" name="TextBox 7"/>
          <p:cNvSpPr txBox="1"/>
          <p:nvPr/>
        </p:nvSpPr>
        <p:spPr>
          <a:xfrm>
            <a:off x="4863074"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지연 알림</a:t>
            </a:r>
          </a:p>
          <a:p>
            <a:pPr algn="ctr">
              <a:lnSpc>
                <a:spcPct val="110000"/>
              </a:lnSpc>
              <a:spcAft>
                <a:spcPts val="100"/>
              </a:spcAft>
            </a:pPr>
            <a:r>
              <a:rPr sz="1300" b="0">
                <a:solidFill>
                  <a:srgbClr val="556175"/>
                </a:solidFill>
                <a:latin typeface="맑은 고딕"/>
                <a:ea typeface="맑은 고딕"/>
                <a:cs typeface="맑은 고딕"/>
              </a:rPr>
              <a:t>기한 10분이 지나면 나간다</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뒤늦은 승인</a:t>
            </a:r>
          </a:p>
          <a:p>
            <a:pPr algn="ctr">
              <a:lnSpc>
                <a:spcPct val="110000"/>
              </a:lnSpc>
              <a:spcAft>
                <a:spcPts val="100"/>
              </a:spcAft>
            </a:pPr>
            <a:r>
              <a:rPr sz="1300" b="0">
                <a:solidFill>
                  <a:srgbClr val="556175"/>
                </a:solidFill>
                <a:latin typeface="맑은 고딕"/>
                <a:ea typeface="맑은 고딕"/>
                <a:cs typeface="맑은 고딕"/>
              </a:rPr>
              <a:t>정상으로 처리된다</a:t>
            </a:r>
          </a:p>
        </p:txBody>
      </p:sp>
      <p:sp>
        <p:nvSpPr>
          <p:cNvPr id="10" name="TextBox 9"/>
          <p:cNvSpPr txBox="1"/>
          <p:nvPr/>
        </p:nvSpPr>
        <p:spPr>
          <a:xfrm>
            <a:off x="3510297" y="389680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작업은 열린 채로 기다린다</a:t>
            </a:r>
          </a:p>
          <a:p>
            <a:pPr algn="ctr">
              <a:lnSpc>
                <a:spcPct val="110000"/>
              </a:lnSpc>
              <a:spcAft>
                <a:spcPts val="100"/>
              </a:spcAft>
            </a:pPr>
            <a:r>
              <a:rPr sz="1300" b="0">
                <a:solidFill>
                  <a:srgbClr val="556175"/>
                </a:solidFill>
                <a:latin typeface="맑은 고딕"/>
                <a:ea typeface="맑은 고딕"/>
                <a:cs typeface="맑은 고딕"/>
              </a:rPr>
              <a:t>알림 뒤에도 승인과 거절을 모두 받는다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질문으로 얻는 것과 얻지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담당자의 답은 모자란 업무 정보를 채우는 데에만 쓰이고 근거나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 설비, 수량, 사유처럼 요청에서 빠진 업무 정보</a:t>
            </a:r>
          </a:p>
          <a:p>
            <a:pPr algn="l">
              <a:lnSpc>
                <a:spcPct val="110000"/>
              </a:lnSpc>
              <a:spcAft>
                <a:spcPts val="600"/>
              </a:spcAft>
            </a:pPr>
            <a:r>
              <a:rPr sz="1450" b="0">
                <a:solidFill>
                  <a:srgbClr val="1F2A3A"/>
                </a:solidFill>
                <a:latin typeface="맑은 고딕"/>
                <a:ea typeface="맑은 고딕"/>
                <a:cs typeface="맑은 고딕"/>
              </a:rPr>
              <a:t>• 연결된 도구로 조회해도 확인할 수 없는 것</a:t>
            </a:r>
          </a:p>
          <a:p>
            <a:pPr algn="l">
              <a:lnSpc>
                <a:spcPct val="110000"/>
              </a:lnSpc>
              <a:spcAft>
                <a:spcPts val="600"/>
              </a:spcAft>
            </a:pPr>
            <a:r>
              <a:rPr sz="1450" b="0">
                <a:solidFill>
                  <a:srgbClr val="1F2A3A"/>
                </a:solidFill>
                <a:latin typeface="맑은 고딕"/>
                <a:ea typeface="맑은 고딕"/>
                <a:cs typeface="맑은 고딕"/>
              </a:rPr>
              <a:t>• 답을 받으면 그 값을 입력으로 삼아 이어 간다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도구로 읽을 수 있는 값은 묻지 않고 조회한다</a:t>
            </a:r>
          </a:p>
          <a:p>
            <a:pPr algn="l">
              <a:lnSpc>
                <a:spcPct val="110000"/>
              </a:lnSpc>
              <a:spcAft>
                <a:spcPts val="600"/>
              </a:spcAft>
            </a:pPr>
            <a:r>
              <a:rPr sz="1450" b="0">
                <a:solidFill>
                  <a:srgbClr val="1F2A3A"/>
                </a:solidFill>
                <a:latin typeface="맑은 고딕"/>
                <a:ea typeface="맑은 고딕"/>
                <a:cs typeface="맑은 고딕"/>
              </a:rPr>
              <a:t>• 허용되지 않은 도구를 쓰게 해 달라고 묻지 않는다</a:t>
            </a:r>
          </a:p>
          <a:p>
            <a:pPr algn="l">
              <a:lnSpc>
                <a:spcPct val="110000"/>
              </a:lnSpc>
              <a:spcAft>
                <a:spcPts val="600"/>
              </a:spcAft>
            </a:pPr>
            <a:r>
              <a:rPr sz="1450" b="0">
                <a:solidFill>
                  <a:srgbClr val="1F2A3A"/>
                </a:solidFill>
                <a:latin typeface="맑은 고딕"/>
                <a:ea typeface="맑은 고딕"/>
                <a:cs typeface="맑은 고딕"/>
              </a:rPr>
              <a:t>• 작업 규칙: 「사람의 요청을 근거 충족이나 설비 승인으로 간주하지 않습니다.」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근거와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재시도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관문.svg" descr="illust_381737980687381106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추천안에서 결정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 승인과 거절, 결정 기록, 질문, 닫기의 다섯 자리가 에이전트의 일과 사람의 책임을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가드레일</a:t>
            </a:r>
          </a:p>
          <a:p>
            <a:pPr algn="ctr">
              <a:lnSpc>
                <a:spcPct val="110000"/>
              </a:lnSpc>
              <a:spcAft>
                <a:spcPts val="400"/>
              </a:spcAft>
            </a:pPr>
            <a:r>
              <a:rPr sz="1250" b="0">
                <a:solidFill>
                  <a:srgbClr val="1F2A3A"/>
                </a:solidFill>
                <a:latin typeface="맑은 고딕"/>
                <a:ea typeface="맑은 고딕"/>
                <a:cs typeface="맑은 고딕"/>
              </a:rPr>
              <a:t>규칙을 어긴 추천안은</a:t>
            </a:r>
          </a:p>
          <a:p>
            <a:pPr algn="ctr">
              <a:lnSpc>
                <a:spcPct val="110000"/>
              </a:lnSpc>
              <a:spcAft>
                <a:spcPts val="400"/>
              </a:spcAft>
            </a:pPr>
            <a:r>
              <a:rPr sz="1250" b="0">
                <a:solidFill>
                  <a:srgbClr val="1F2A3A"/>
                </a:solidFill>
                <a:latin typeface="맑은 고딕"/>
                <a:ea typeface="맑은 고딕"/>
                <a:cs typeface="맑은 고딕"/>
              </a:rPr>
              <a:t>올라가지 않는다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승인과 거절</a:t>
            </a:r>
          </a:p>
          <a:p>
            <a:pPr algn="ctr">
              <a:lnSpc>
                <a:spcPct val="110000"/>
              </a:lnSpc>
              <a:spcAft>
                <a:spcPts val="400"/>
              </a:spcAft>
            </a:pPr>
            <a:r>
              <a:rPr sz="1250" b="0">
                <a:solidFill>
                  <a:srgbClr val="1F2A3A"/>
                </a:solidFill>
                <a:latin typeface="맑은 고딕"/>
                <a:ea typeface="맑은 고딕"/>
                <a:cs typeface="맑은 고딕"/>
              </a:rPr>
              <a:t>승인 역할의 담당자가</a:t>
            </a:r>
          </a:p>
          <a:p>
            <a:pPr algn="ctr">
              <a:lnSpc>
                <a:spcPct val="110000"/>
              </a:lnSpc>
              <a:spcAft>
                <a:spcPts val="400"/>
              </a:spcAft>
            </a:pPr>
            <a:r>
              <a:rPr sz="1250" b="0">
                <a:solidFill>
                  <a:srgbClr val="1F2A3A"/>
                </a:solidFill>
                <a:latin typeface="맑은 고딕"/>
                <a:ea typeface="맑은 고딕"/>
                <a:cs typeface="맑은 고딕"/>
              </a:rPr>
              <a:t>결정한다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id" descr="id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기록</a:t>
            </a:r>
          </a:p>
          <a:p>
            <a:pPr algn="ctr">
              <a:lnSpc>
                <a:spcPct val="110000"/>
              </a:lnSpc>
              <a:spcAft>
                <a:spcPts val="400"/>
              </a:spcAft>
            </a:pPr>
            <a:r>
              <a:rPr sz="1250" b="0">
                <a:solidFill>
                  <a:srgbClr val="1F2A3A"/>
                </a:solidFill>
                <a:latin typeface="맑은 고딕"/>
                <a:ea typeface="맑은 고딕"/>
                <a:cs typeface="맑은 고딕"/>
              </a:rPr>
              <a:t>누가 무엇을</a:t>
            </a:r>
          </a:p>
          <a:p>
            <a:pPr algn="ctr">
              <a:lnSpc>
                <a:spcPct val="110000"/>
              </a:lnSpc>
              <a:spcAft>
                <a:spcPts val="400"/>
              </a:spcAft>
            </a:pPr>
            <a:r>
              <a:rPr sz="1250" b="0">
                <a:solidFill>
                  <a:srgbClr val="1F2A3A"/>
                </a:solidFill>
                <a:latin typeface="맑은 고딕"/>
                <a:ea typeface="맑은 고딕"/>
                <a:cs typeface="맑은 고딕"/>
              </a:rPr>
              <a:t>승인했는지 남는다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message-question" descr="message-ques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질문</a:t>
            </a:r>
          </a:p>
          <a:p>
            <a:pPr algn="ctr">
              <a:lnSpc>
                <a:spcPct val="110000"/>
              </a:lnSpc>
              <a:spcAft>
                <a:spcPts val="400"/>
              </a:spcAft>
            </a:pPr>
            <a:r>
              <a:rPr sz="1250" b="0">
                <a:solidFill>
                  <a:srgbClr val="1F2A3A"/>
                </a:solidFill>
                <a:latin typeface="맑은 고딕"/>
                <a:ea typeface="맑은 고딕"/>
                <a:cs typeface="맑은 고딕"/>
              </a:rPr>
              <a:t>모자란 업무 정보를</a:t>
            </a:r>
          </a:p>
          <a:p>
            <a:pPr algn="ctr">
              <a:lnSpc>
                <a:spcPct val="110000"/>
              </a:lnSpc>
              <a:spcAft>
                <a:spcPts val="400"/>
              </a:spcAft>
            </a:pPr>
            <a:r>
              <a:rPr sz="1250" b="0">
                <a:solidFill>
                  <a:srgbClr val="1F2A3A"/>
                </a:solidFill>
                <a:latin typeface="맑은 고딕"/>
                <a:ea typeface="맑은 고딕"/>
                <a:cs typeface="맑은 고딕"/>
              </a:rPr>
              <a:t>묻고 이어 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player-stop" descr="player-stop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닫기</a:t>
            </a:r>
          </a:p>
          <a:p>
            <a:pPr algn="ctr">
              <a:lnSpc>
                <a:spcPct val="110000"/>
              </a:lnSpc>
              <a:spcAft>
                <a:spcPts val="400"/>
              </a:spcAft>
            </a:pPr>
            <a:r>
              <a:rPr sz="1250" b="0">
                <a:solidFill>
                  <a:srgbClr val="1F2A3A"/>
                </a:solidFill>
                <a:latin typeface="맑은 고딕"/>
                <a:ea typeface="맑은 고딕"/>
                <a:cs typeface="맑은 고딕"/>
              </a:rPr>
              <a:t>멈춘 작업을</a:t>
            </a:r>
          </a:p>
          <a:p>
            <a:pPr algn="ctr">
              <a:lnSpc>
                <a:spcPct val="110000"/>
              </a:lnSpc>
              <a:spcAft>
                <a:spcPts val="400"/>
              </a:spcAft>
            </a:pPr>
            <a:r>
              <a:rPr sz="1250" b="0">
                <a:solidFill>
                  <a:srgbClr val="1F2A3A"/>
                </a:solidFill>
                <a:latin typeface="맑은 고딕"/>
                <a:ea typeface="맑은 고딕"/>
                <a:cs typeface="맑은 고딕"/>
              </a:rPr>
              <a:t>사유와 함께 닫는다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거절이 처리 결과를 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역할을 확인하고 승인과 거절이 남기는 결과를 견준다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결정하는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내린 승인 또는 거절 한 건과, 그 결정이 처리 건의 상태를 바꾼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조치의 승인 역할을 확인한다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결정한다</a:t>
            </a:r>
          </a:p>
          <a:p>
            <a:pPr algn="l">
              <a:lnSpc>
                <a:spcPct val="110000"/>
              </a:lnSpc>
              <a:spcAft>
                <a:spcPts val="400"/>
              </a:spcAft>
            </a:pPr>
            <a:r>
              <a:rPr sz="1400" b="0">
                <a:solidFill>
                  <a:srgbClr val="1F2A3A"/>
                </a:solidFill>
                <a:latin typeface="맑은 고딕"/>
                <a:ea typeface="맑은 고딕"/>
                <a:cs typeface="맑은 고딕"/>
              </a:rPr>
              <a:t>권한이 있는 역할로 승인하거나 사유를 적어 거절한다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견준다</a:t>
            </a:r>
          </a:p>
          <a:p>
            <a:pPr algn="l">
              <a:lnSpc>
                <a:spcPct val="110000"/>
              </a:lnSpc>
              <a:spcAft>
                <a:spcPts val="400"/>
              </a:spcAft>
            </a:pPr>
            <a:r>
              <a:rPr sz="1400" b="0">
                <a:solidFill>
                  <a:srgbClr val="1F2A3A"/>
                </a:solidFill>
                <a:latin typeface="맑은 고딕"/>
                <a:ea typeface="맑은 고딕"/>
                <a:cs typeface="맑은 고딕"/>
              </a:rPr>
              <a:t>• 승인과 거절이 처리 건의 상태를 어떻게 바꾸었는지 처리 기록에서 읽는다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4일차에 만든 에이전트가 빠진 정보를 확정하지 않고 보류한 채 묻고, 답을 받아 업무를 재개하도록 고친다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답변을 반영해 재개한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보류하고 질문한다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보류한 채 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업무를 재개한다</a:t>
            </a:r>
          </a:p>
          <a:p>
            <a:pPr algn="ctr">
              <a:lnSpc>
                <a:spcPct val="110000"/>
              </a:lnSpc>
              <a:spcAft>
                <a:spcPts val="400"/>
              </a:spcAft>
            </a:pPr>
            <a:r>
              <a:rPr sz="1350" b="0">
                <a:solidFill>
                  <a:srgbClr val="1F2A3A"/>
                </a:solidFill>
                <a:latin typeface="맑은 고딕"/>
                <a:ea typeface="맑은 고딕"/>
                <a:cs typeface="맑은 고딕"/>
              </a:rPr>
              <a:t>추가 답변을 반영해</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바이브 코딩</a:t>
            </a:r>
          </a:p>
          <a:p>
            <a:pPr algn="l">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요청에 없는 부분</a:t>
            </a:r>
          </a:p>
          <a:p>
            <a:pPr algn="l">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세해석.svg" descr="illust_421957477160437760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긴급한 경보 한 건을 넣는다</a:t>
            </a:r>
          </a:p>
          <a:p>
            <a:pPr algn="l">
              <a:lnSpc>
                <a:spcPct val="110000"/>
              </a:lnSpc>
              <a:spcAft>
                <a:spcPts val="600"/>
              </a:spcAft>
            </a:pPr>
            <a:r>
              <a:rPr sz="1450" b="0">
                <a:solidFill>
                  <a:srgbClr val="1F2A3A"/>
                </a:solidFill>
                <a:latin typeface="맑은 고딕"/>
                <a:ea typeface="맑은 고딕"/>
                <a:cs typeface="맑은 고딕"/>
              </a:rPr>
              <a:t>• 추천안이 나오고 긴급하다는 표시도 보인다</a:t>
            </a:r>
          </a:p>
          <a:p>
            <a:pPr algn="l">
              <a:lnSpc>
                <a:spcPct val="110000"/>
              </a:lnSpc>
              <a:spcAft>
                <a:spcPts val="600"/>
              </a:spcAft>
            </a:pPr>
            <a:r>
              <a:rPr sz="145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긴급하지 않은 경보의 결과 항목이 이전과 같은가</a:t>
            </a:r>
          </a:p>
          <a:p>
            <a:pPr algn="l">
              <a:lnSpc>
                <a:spcPct val="110000"/>
              </a:lnSpc>
              <a:spcAft>
                <a:spcPts val="600"/>
              </a:spcAft>
            </a:pPr>
            <a:r>
              <a:rPr sz="1450" b="0">
                <a:solidFill>
                  <a:srgbClr val="1F2A3A"/>
                </a:solidFill>
                <a:latin typeface="맑은 고딕"/>
                <a:ea typeface="맑은 고딕"/>
                <a:cs typeface="맑은 고딕"/>
              </a:rPr>
              <a:t>• 추천안이 여전히 승인을 기다리는가</a:t>
            </a:r>
          </a:p>
          <a:p>
            <a:pPr algn="l">
              <a:lnSpc>
                <a:spcPct val="110000"/>
              </a:lnSpc>
              <a:spcAft>
                <a:spcPts val="600"/>
              </a:spcAft>
            </a:pPr>
            <a:r>
              <a:rPr sz="145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항목의 이름이 바뀌었을 때 뒤 단계에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 항목은 형식 검사와 승인 화면과 뒤 단계가 이름으로 읽어, 이름 하나의 변경이 그 뒤의 단계를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결과 객체</a:t>
            </a:r>
          </a:p>
          <a:p>
            <a:pPr algn="ctr">
              <a:lnSpc>
                <a:spcPct val="110000"/>
              </a:lnSpc>
              <a:spcAft>
                <a:spcPts val="400"/>
              </a:spcAft>
            </a:pPr>
            <a:r>
              <a:rPr sz="1300" b="0">
                <a:solidFill>
                  <a:srgbClr val="1F2A3A"/>
                </a:solidFill>
                <a:latin typeface="맑은 고딕"/>
                <a:ea typeface="맑은 고딕"/>
                <a:cs typeface="맑은 고딕"/>
              </a:rPr>
              <a:t>에이전트가 낸</a:t>
            </a:r>
          </a:p>
          <a:p>
            <a:pPr algn="ctr">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형식 검사</a:t>
            </a:r>
          </a:p>
          <a:p>
            <a:pPr algn="ctr">
              <a:lnSpc>
                <a:spcPct val="110000"/>
              </a:lnSpc>
              <a:spcAft>
                <a:spcPts val="400"/>
              </a:spcAft>
            </a:pPr>
            <a:r>
              <a:rPr sz="1300" b="0">
                <a:solidFill>
                  <a:srgbClr val="1F2A3A"/>
                </a:solidFill>
                <a:latin typeface="맑은 고딕"/>
                <a:ea typeface="맑은 고딕"/>
                <a:cs typeface="맑은 고딕"/>
              </a:rPr>
              <a:t>정해진 이름의 항목이</a:t>
            </a:r>
          </a:p>
          <a:p>
            <a:pPr algn="ctr">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7" name="아이콘:device-desktop" descr="device-desktop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 화면</a:t>
            </a:r>
          </a:p>
          <a:p>
            <a:pPr algn="ctr">
              <a:lnSpc>
                <a:spcPct val="110000"/>
              </a:lnSpc>
              <a:spcAft>
                <a:spcPts val="400"/>
              </a:spcAft>
            </a:pPr>
            <a:r>
              <a:rPr sz="1300" b="0">
                <a:solidFill>
                  <a:srgbClr val="1F2A3A"/>
                </a:solidFill>
                <a:latin typeface="맑은 고딕"/>
                <a:ea typeface="맑은 고딕"/>
                <a:cs typeface="맑은 고딕"/>
              </a:rPr>
              <a:t>추천 항목을 이름으로</a:t>
            </a:r>
          </a:p>
          <a:p>
            <a:pPr algn="ctr">
              <a:lnSpc>
                <a:spcPct val="110000"/>
              </a:lnSpc>
              <a:spcAft>
                <a:spcPts val="400"/>
              </a:spcAft>
            </a:pPr>
            <a:r>
              <a:rPr sz="1300" b="0">
                <a:solidFill>
                  <a:srgbClr val="1F2A3A"/>
                </a:solidFill>
                <a:latin typeface="맑은 고딕"/>
                <a:ea typeface="맑은 고딕"/>
                <a:cs typeface="맑은 고딕"/>
              </a:rPr>
              <a:t>찾아 담당자에게 보인다</a:t>
            </a:r>
          </a:p>
        </p:txBody>
      </p:sp>
      <p:sp>
        <p:nvSpPr>
          <p:cNvPr id="19" name="Oval 18"/>
          <p:cNvSpPr/>
          <p:nvPr/>
        </p:nvSpPr>
        <p:spPr>
          <a:xfrm>
            <a:off x="9661893"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ettings-automation" descr="settings-automation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뒤 단계</a:t>
            </a:r>
          </a:p>
          <a:p>
            <a:pPr algn="ctr">
              <a:lnSpc>
                <a:spcPct val="110000"/>
              </a:lnSpc>
              <a:spcAft>
                <a:spcPts val="400"/>
              </a:spcAft>
            </a:pPr>
            <a:r>
              <a:rPr sz="1300" b="0">
                <a:solidFill>
                  <a:srgbClr val="1F2A3A"/>
                </a:solidFill>
                <a:latin typeface="맑은 고딕"/>
                <a:ea typeface="맑은 고딕"/>
                <a:cs typeface="맑은 고딕"/>
              </a:rPr>
              <a:t>판단 번호 항목으로</a:t>
            </a:r>
          </a:p>
          <a:p>
            <a:pPr algn="ctr">
              <a:lnSpc>
                <a:spcPct val="110000"/>
              </a:lnSpc>
              <a:spcAft>
                <a:spcPts val="400"/>
              </a:spcAft>
            </a:pPr>
            <a:r>
              <a:rPr sz="1300" b="0">
                <a:solidFill>
                  <a:srgbClr val="1F2A3A"/>
                </a:solidFill>
                <a:latin typeface="맑은 고딕"/>
                <a:ea typeface="맑은 고딕"/>
                <a:cs typeface="맑은 고딕"/>
              </a:rPr>
              <a:t>그 판단을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 한 문장을 그대로 AI에게 준다</a:t>
            </a:r>
          </a:p>
          <a:p>
            <a:pPr algn="l">
              <a:lnSpc>
                <a:spcPct val="110000"/>
              </a:lnSpc>
              <a:spcAft>
                <a:spcPts val="600"/>
              </a:spcAft>
            </a:pPr>
            <a:r>
              <a:rPr sz="1450" b="0">
                <a:solidFill>
                  <a:srgbClr val="1F2A3A"/>
                </a:solidFill>
                <a:latin typeface="맑은 고딕"/>
                <a:ea typeface="맑은 고딕"/>
                <a:cs typeface="맑은 고딕"/>
              </a:rPr>
              <a:t>• 해석은 AI가 그때그때 정한다</a:t>
            </a:r>
          </a:p>
          <a:p>
            <a:pPr algn="l">
              <a:lnSpc>
                <a:spcPct val="110000"/>
              </a:lnSpc>
              <a:spcAft>
                <a:spcPts val="600"/>
              </a:spcAft>
            </a:pPr>
            <a:r>
              <a:rPr sz="1450" b="0">
                <a:solidFill>
                  <a:srgbClr val="1F2A3A"/>
                </a:solidFill>
                <a:latin typeface="맑은 고딕"/>
                <a:ea typeface="맑은 고딕"/>
                <a:cs typeface="맑은 고딕"/>
              </a:rPr>
              <a:t>• 실행해 보고 마음에 들지 않으면 다시 요청한다</a:t>
            </a:r>
          </a:p>
          <a:p>
            <a:pPr algn="l">
              <a:lnSpc>
                <a:spcPct val="110000"/>
              </a:lnSpc>
              <a:spcAft>
                <a:spcPts val="600"/>
              </a:spcAft>
            </a:pPr>
            <a:r>
              <a:rPr sz="1450" b="0">
                <a:solidFill>
                  <a:srgbClr val="1F2A3A"/>
                </a:solidFill>
                <a:latin typeface="맑은 고딕"/>
                <a:ea typeface="맑은 고딕"/>
                <a:cs typeface="맑은 고딕"/>
              </a:rPr>
              <a:t>• 무엇이 그대로여야 하는지는 어디에도 남지 않는다</a:t>
            </a:r>
          </a:p>
        </p:txBody>
      </p:sp>
      <p:sp>
        <p:nvSpPr>
          <p:cNvPr id="11" name="Rounded Rectangle 10"/>
          <p:cNvSpPr/>
          <p:nvPr/>
        </p:nvSpPr>
        <p:spPr>
          <a:xfrm>
            <a:off x="868680" y="5096002"/>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요청을 받으면 명세부터 고친다</a:t>
            </a:r>
          </a:p>
          <a:p>
            <a:pPr algn="l">
              <a:lnSpc>
                <a:spcPct val="110000"/>
              </a:lnSpc>
              <a:spcAft>
                <a:spcPts val="600"/>
              </a:spcAft>
            </a:pPr>
            <a:r>
              <a:rPr sz="1450" b="0">
                <a:solidFill>
                  <a:srgbClr val="1F2A3A"/>
                </a:solidFill>
                <a:latin typeface="맑은 고딕"/>
                <a:ea typeface="맑은 고딕"/>
                <a:cs typeface="맑은 고딕"/>
              </a:rPr>
              <a:t>• 해석은 사람이 명세에서 정한다</a:t>
            </a:r>
          </a:p>
          <a:p>
            <a:pPr algn="l">
              <a:lnSpc>
                <a:spcPct val="110000"/>
              </a:lnSpc>
              <a:spcAft>
                <a:spcPts val="600"/>
              </a:spcAft>
            </a:pPr>
            <a:r>
              <a:rPr sz="1450" b="0">
                <a:solidFill>
                  <a:srgbClr val="1F2A3A"/>
                </a:solidFill>
                <a:latin typeface="맑은 고딕"/>
                <a:ea typeface="맑은 고딕"/>
                <a:cs typeface="맑은 고딕"/>
              </a:rPr>
              <a:t>• AI는 명세를 기준으로 구현한다</a:t>
            </a:r>
          </a:p>
          <a:p>
            <a:pPr algn="l">
              <a:lnSpc>
                <a:spcPct val="110000"/>
              </a:lnSpc>
              <a:spcAft>
                <a:spcPts val="600"/>
              </a:spcAft>
            </a:pPr>
            <a:r>
              <a:rPr sz="14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096002"/>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명세문서.svg" descr="illust_393215192714838971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계약.svg" descr="illust_453000328621323918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경보에서 에이전트가 받는 입력은 설비, 경보, 사건 번호의 세 항목으로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"alert": {</a:t>
            </a:r>
          </a:p>
          <a:p>
            <a:pPr algn="l">
              <a:lnSpc>
                <a:spcPct val="110000"/>
              </a:lnSpc>
              <a:spcAft>
                <a:spcPts val="200"/>
              </a:spcAft>
            </a:pPr>
            <a:r>
              <a:rPr sz="1300" b="0">
                <a:solidFill>
                  <a:srgbClr val="E8EEF6"/>
                </a:solidFill>
                <a:latin typeface="Consolas"/>
                <a:ea typeface="맑은 고딕"/>
                <a:cs typeface="맑은 고딕"/>
              </a:rPr>
              <a:t>    "alertId": "ALT-hyd01-0025-b8ed",</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"incident": "INC-1010-07-0f3d"</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a:t>
            </a:r>
          </a:p>
          <a:p>
            <a:pPr algn="l">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a:t>
            </a:r>
          </a:p>
          <a:p>
            <a:pPr algn="l">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incident</a:t>
            </a:r>
          </a:p>
          <a:p>
            <a:pPr algn="l">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정해진 세 항목</a:t>
            </a:r>
          </a:p>
          <a:p>
            <a:pPr algn="l">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출력 계약에 적힌 이름, 형식, 뜻은 새 항목을 더하는 변경과 기존 항목을 바꾸는 변경을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cause · failure_mode</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식별자</a:t>
            </a:r>
          </a:p>
          <a:p>
            <a:pPr algn="l">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진단한 원인과 고장 유형</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decision.recommended</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방법의 식별자</a:t>
            </a:r>
          </a:p>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후보 가운데 1순위로 추천하는 조치</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decision.explanation</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한국어 두세 문장</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추천하는 안, 뒤진 안의 이유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decision_id</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제출하고 돌려받은 번호</a:t>
            </a:r>
          </a:p>
          <a:p>
            <a:pPr algn="l">
              <a:lnSpc>
                <a:spcPct val="110000"/>
              </a:lnSpc>
            </a:pPr>
            <a:r>
              <a:rPr sz="1400" b="0">
                <a:solidFill>
                  <a:srgbClr val="1F2A3A"/>
                </a:solidFill>
                <a:latin typeface="맑은 고딕"/>
                <a:ea typeface="맑은 고딕"/>
                <a:cs typeface="맑은 고딕"/>
              </a:rPr>
              <a:t>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첫째 줄</a:t>
            </a:r>
          </a:p>
          <a:p>
            <a:pPr algn="l">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둘째 줄</a:t>
            </a:r>
          </a:p>
          <a:p>
            <a:pPr algn="l">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셋째 줄</a:t>
            </a:r>
          </a:p>
          <a:p>
            <a:pPr algn="l">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「거절이 잘 처리된다」</a:t>
            </a:r>
          </a:p>
          <a:p>
            <a:pPr algn="l">
              <a:lnSpc>
                <a:spcPct val="110000"/>
              </a:lnSpc>
              <a:spcAft>
                <a:spcPts val="600"/>
              </a:spcAft>
            </a:pPr>
            <a:r>
              <a:rPr sz="1450" b="0">
                <a:solidFill>
                  <a:srgbClr val="1F2A3A"/>
                </a:solidFill>
                <a:latin typeface="맑은 고딕"/>
                <a:ea typeface="맑은 고딕"/>
                <a:cs typeface="맑은 고딕"/>
              </a:rPr>
              <a:t>• 「긴급한 경보가 빨리 처리된다」</a:t>
            </a:r>
          </a:p>
          <a:p>
            <a:pPr algn="l">
              <a:lnSpc>
                <a:spcPct val="110000"/>
              </a:lnSpc>
              <a:spcAft>
                <a:spcPts val="600"/>
              </a:spcAft>
            </a:pPr>
            <a:r>
              <a:rPr sz="145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「거절하면 설비 명령이 0건이다」</a:t>
            </a:r>
          </a:p>
          <a:p>
            <a:pPr algn="l">
              <a:lnSpc>
                <a:spcPct val="110000"/>
              </a:lnSpc>
              <a:spcAft>
                <a:spcPts val="600"/>
              </a:spcAft>
            </a:pPr>
            <a:r>
              <a:rPr sz="1450" b="0">
                <a:solidFill>
                  <a:srgbClr val="1F2A3A"/>
                </a:solidFill>
                <a:latin typeface="맑은 고딕"/>
                <a:ea typeface="맑은 고딕"/>
                <a:cs typeface="맑은 고딕"/>
              </a:rPr>
              <a:t>• 「긴급한 경보의 추천안도 승인 대기 상태가 된다」</a:t>
            </a:r>
          </a:p>
          <a:p>
            <a:pPr algn="l">
              <a:lnSpc>
                <a:spcPct val="110000"/>
              </a:lnSpc>
              <a:spcAft>
                <a:spcPts val="600"/>
              </a:spcAft>
            </a:pPr>
            <a:r>
              <a:rPr sz="145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동작은 상황마다 기대 결과를 적은 수용 기준이 되어 검사로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명령과 업무 처리가 0건이고 처리 건은 거절로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무응답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달라지는 것과</a:t>
            </a:r>
          </a:p>
          <a:p>
            <a:pPr algn="ctr">
              <a:lnSpc>
                <a:spcPct val="110000"/>
              </a:lnSpc>
              <a:spcAft>
                <a:spcPts val="400"/>
              </a:spcAft>
            </a:pPr>
            <a:r>
              <a:rPr sz="13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구현을 맡긴다</a:t>
            </a:r>
          </a:p>
          <a:p>
            <a:pPr algn="ctr">
              <a:lnSpc>
                <a:spcPct val="110000"/>
              </a:lnSpc>
              <a:spcAft>
                <a:spcPts val="400"/>
              </a:spcAft>
            </a:pPr>
            <a:r>
              <a:rPr sz="1350" b="0">
                <a:solidFill>
                  <a:srgbClr val="1F2A3A"/>
                </a:solidFill>
                <a:latin typeface="맑은 고딕"/>
                <a:ea typeface="맑은 고딕"/>
                <a:cs typeface="맑은 고딕"/>
              </a:rPr>
              <a:t>명세를 함께 주고</a:t>
            </a:r>
          </a:p>
          <a:p>
            <a:pPr algn="ctr">
              <a:lnSpc>
                <a:spcPct val="110000"/>
              </a:lnSpc>
              <a:spcAft>
                <a:spcPts val="400"/>
              </a:spcAft>
            </a:pPr>
            <a:r>
              <a:rPr sz="13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수용 기준으로 확인한다</a:t>
            </a:r>
          </a:p>
          <a:p>
            <a:pPr algn="ctr">
              <a:lnSpc>
                <a:spcPct val="110000"/>
              </a:lnSpc>
              <a:spcAft>
                <a:spcPts val="400"/>
              </a:spcAft>
            </a:pPr>
            <a:r>
              <a:rPr sz="1350" b="0">
                <a:solidFill>
                  <a:srgbClr val="1F2A3A"/>
                </a:solidFill>
                <a:latin typeface="맑은 고딕"/>
                <a:ea typeface="맑은 고딕"/>
                <a:cs typeface="맑은 고딕"/>
              </a:rPr>
              <a:t>기준마다 실행해</a:t>
            </a:r>
          </a:p>
          <a:p>
            <a:pPr algn="ctr">
              <a:lnSpc>
                <a:spcPct val="110000"/>
              </a:lnSpc>
              <a:spcAft>
                <a:spcPts val="400"/>
              </a:spcAft>
            </a:pPr>
            <a:r>
              <a:rPr sz="13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어긋난 곳을 고친다</a:t>
            </a:r>
          </a:p>
          <a:p>
            <a:pPr algn="ctr">
              <a:lnSpc>
                <a:spcPct val="110000"/>
              </a:lnSpc>
              <a:spcAft>
                <a:spcPts val="400"/>
              </a:spcAft>
            </a:pPr>
            <a:r>
              <a:rPr sz="1350" b="0">
                <a:solidFill>
                  <a:srgbClr val="1F2A3A"/>
                </a:solidFill>
                <a:latin typeface="맑은 고딕"/>
                <a:ea typeface="맑은 고딕"/>
                <a:cs typeface="맑은 고딕"/>
              </a:rPr>
              <a:t>구현이 틀렸으면 구현을,</a:t>
            </a:r>
          </a:p>
          <a:p>
            <a:pPr algn="ctr">
              <a:lnSpc>
                <a:spcPct val="110000"/>
              </a:lnSpc>
              <a:spcAft>
                <a:spcPts val="400"/>
              </a:spcAft>
            </a:pPr>
            <a:r>
              <a:rPr sz="1350" b="0">
                <a:solidFill>
                  <a:srgbClr val="1F2A3A"/>
                </a:solidFill>
                <a:latin typeface="맑은 고딕"/>
                <a:ea typeface="맑은 고딕"/>
                <a:cs typeface="맑은 고딕"/>
              </a:rPr>
              <a:t>명세에 빠진 것이 있으면</a:t>
            </a:r>
          </a:p>
          <a:p>
            <a:pPr algn="ctr">
              <a:lnSpc>
                <a:spcPct val="110000"/>
              </a:lnSpc>
              <a:spcAft>
                <a:spcPts val="400"/>
              </a:spcAft>
            </a:pPr>
            <a:r>
              <a:rPr sz="1350" b="0">
                <a:solidFill>
                  <a:srgbClr val="1F2A3A"/>
                </a:solidFill>
                <a:latin typeface="맑은 고딕"/>
                <a:ea typeface="맑은 고딕"/>
                <a:cs typeface="맑은 고딕"/>
              </a:rPr>
              <a:t>명세를 고친다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요청</a:t>
            </a:r>
          </a:p>
          <a:p>
            <a:pPr algn="l">
              <a:lnSpc>
                <a:spcPct val="110000"/>
              </a:lnSpc>
              <a:spcAft>
                <a:spcPts val="400"/>
              </a:spcAft>
            </a:pPr>
            <a:r>
              <a:rPr sz="1400" b="0">
                <a:solidFill>
                  <a:srgbClr val="1F2A3A"/>
                </a:solidFill>
                <a:latin typeface="맑은 고딕"/>
                <a:ea typeface="맑은 고딕"/>
                <a:cs typeface="맑은 고딕"/>
              </a:rPr>
              <a:t>• 입력: 긴급하지 않은 경보</a:t>
            </a:r>
          </a:p>
          <a:p>
            <a:pPr algn="l">
              <a:lnSpc>
                <a:spcPct val="110000"/>
              </a:lnSpc>
              <a:spcAft>
                <a:spcPts val="400"/>
              </a:spcAft>
            </a:pPr>
            <a:r>
              <a:rPr sz="14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04139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새 요청</a:t>
            </a:r>
          </a:p>
          <a:p>
            <a:pPr algn="l">
              <a:lnSpc>
                <a:spcPct val="110000"/>
              </a:lnSpc>
              <a:spcAft>
                <a:spcPts val="400"/>
              </a:spcAft>
            </a:pPr>
            <a:r>
              <a:rPr sz="1400" b="0">
                <a:solidFill>
                  <a:srgbClr val="1F2A3A"/>
                </a:solidFill>
                <a:latin typeface="맑은 고딕"/>
                <a:ea typeface="맑은 고딕"/>
                <a:cs typeface="맑은 고딕"/>
              </a:rPr>
              <a:t>• 입력: 유온 60 ℃ 이상의 경보</a:t>
            </a:r>
          </a:p>
          <a:p>
            <a:pPr algn="l">
              <a:lnSpc>
                <a:spcPct val="110000"/>
              </a:lnSpc>
              <a:spcAft>
                <a:spcPts val="400"/>
              </a:spcAft>
            </a:pPr>
            <a:r>
              <a:rPr sz="14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지켜야 할 경우</a:t>
            </a:r>
          </a:p>
          <a:p>
            <a:pPr algn="l">
              <a:lnSpc>
                <a:spcPct val="110000"/>
              </a:lnSpc>
              <a:spcAft>
                <a:spcPts val="400"/>
              </a:spcAft>
            </a:pPr>
            <a:r>
              <a:rPr sz="1400" b="0">
                <a:solidFill>
                  <a:srgbClr val="1F2A3A"/>
                </a:solidFill>
                <a:latin typeface="맑은 고딕"/>
                <a:ea typeface="맑은 고딕"/>
                <a:cs typeface="맑은 고딕"/>
              </a:rPr>
              <a:t>• 입력: 필수 값을 읽지 못한 경보</a:t>
            </a:r>
          </a:p>
          <a:p>
            <a:pPr algn="l">
              <a:lnSpc>
                <a:spcPct val="110000"/>
              </a:lnSpc>
              <a:spcAft>
                <a:spcPts val="400"/>
              </a:spcAft>
            </a:pPr>
            <a:r>
              <a:rPr sz="14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041392"/>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한 문장의 요청에서 확인할 수 있는 변경까지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모호한 요청이 흔들 수 있는 자리를 명세로 정해 두면, 요구가 바뀌어도 기존 기능이 지켜졌는지를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변경 요청</a:t>
            </a:r>
          </a:p>
          <a:p>
            <a:pPr algn="ctr">
              <a:lnSpc>
                <a:spcPct val="110000"/>
              </a:lnSpc>
              <a:spcAft>
                <a:spcPts val="400"/>
              </a:spcAft>
            </a:pPr>
            <a:r>
              <a:rPr sz="1250" b="0">
                <a:solidFill>
                  <a:srgbClr val="1F2A3A"/>
                </a:solidFill>
                <a:latin typeface="맑은 고딕"/>
                <a:ea typeface="맑은 고딕"/>
                <a:cs typeface="맑은 고딕"/>
              </a:rPr>
              <a:t>한 문장에는</a:t>
            </a:r>
          </a:p>
          <a:p>
            <a:pPr algn="ctr">
              <a:lnSpc>
                <a:spcPct val="110000"/>
              </a:lnSpc>
              <a:spcAft>
                <a:spcPts val="400"/>
              </a:spcAft>
            </a:pPr>
            <a:r>
              <a:rPr sz="1250" b="0">
                <a:solidFill>
                  <a:srgbClr val="1F2A3A"/>
                </a:solidFill>
                <a:latin typeface="맑은 고딕"/>
                <a:ea typeface="맑은 고딕"/>
                <a:cs typeface="맑은 고딕"/>
              </a:rPr>
              <a:t>지킬 것이 없다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809303"/>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요구사항과</a:t>
            </a:r>
          </a:p>
          <a:p>
            <a:pPr algn="ctr">
              <a:lnSpc>
                <a:spcPct val="110000"/>
              </a:lnSpc>
              <a:spcAft>
                <a:spcPts val="400"/>
              </a:spcAft>
            </a:pPr>
            <a:r>
              <a:rPr sz="1250" b="0">
                <a:solidFill>
                  <a:srgbClr val="1F2A3A"/>
                </a:solidFill>
                <a:latin typeface="맑은 고딕"/>
                <a:ea typeface="맑은 고딕"/>
                <a:cs typeface="맑은 고딕"/>
              </a:rPr>
              <a:t>입력 · 출력 계약을</a:t>
            </a:r>
          </a:p>
          <a:p>
            <a:pPr algn="ctr">
              <a:lnSpc>
                <a:spcPct val="110000"/>
              </a:lnSpc>
              <a:spcAft>
                <a:spcPts val="400"/>
              </a:spcAft>
            </a:pPr>
            <a:r>
              <a:rPr sz="1250" b="0">
                <a:solidFill>
                  <a:srgbClr val="1F2A3A"/>
                </a:solidFill>
                <a:latin typeface="맑은 고딕"/>
                <a:ea typeface="맑은 고딕"/>
                <a:cs typeface="맑은 고딕"/>
              </a:rPr>
              <a:t>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forbid" descr="forbid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금지 조건</a:t>
            </a:r>
          </a:p>
          <a:p>
            <a:pPr algn="ctr">
              <a:lnSpc>
                <a:spcPct val="110000"/>
              </a:lnSpc>
              <a:spcAft>
                <a:spcPts val="400"/>
              </a:spcAft>
            </a:pPr>
            <a:r>
              <a:rPr sz="1250" b="0">
                <a:solidFill>
                  <a:srgbClr val="1F2A3A"/>
                </a:solidFill>
                <a:latin typeface="맑은 고딕"/>
                <a:ea typeface="맑은 고딕"/>
                <a:cs typeface="맑은 고딕"/>
              </a:rPr>
              <a:t>어떤 요구에도</a:t>
            </a:r>
          </a:p>
          <a:p>
            <a:pPr algn="ctr">
              <a:lnSpc>
                <a:spcPct val="110000"/>
              </a:lnSpc>
              <a:spcAft>
                <a:spcPts val="400"/>
              </a:spcAft>
            </a:pPr>
            <a:r>
              <a:rPr sz="1250" b="0">
                <a:solidFill>
                  <a:srgbClr val="1F2A3A"/>
                </a:solidFill>
                <a:latin typeface="맑은 고딕"/>
                <a:ea typeface="맑은 고딕"/>
                <a:cs typeface="맑은 고딕"/>
              </a:rPr>
              <a:t>하지 않을 일</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수용 기준</a:t>
            </a:r>
          </a:p>
          <a:p>
            <a:pPr algn="ctr">
              <a:lnSpc>
                <a:spcPct val="110000"/>
              </a:lnSpc>
              <a:spcAft>
                <a:spcPts val="400"/>
              </a:spcAft>
            </a:pPr>
            <a:r>
              <a:rPr sz="1250" b="0">
                <a:solidFill>
                  <a:srgbClr val="1F2A3A"/>
                </a:solidFill>
                <a:latin typeface="맑은 고딕"/>
                <a:ea typeface="맑은 고딕"/>
                <a:cs typeface="맑은 고딕"/>
              </a:rPr>
              <a:t>참과 거짓으로</a:t>
            </a:r>
          </a:p>
          <a:p>
            <a:pPr algn="ctr">
              <a:lnSpc>
                <a:spcPct val="110000"/>
              </a:lnSpc>
              <a:spcAft>
                <a:spcPts val="400"/>
              </a:spcAft>
            </a:pPr>
            <a:r>
              <a:rPr sz="1250" b="0">
                <a:solidFill>
                  <a:srgbClr val="1F2A3A"/>
                </a:solidFill>
                <a:latin typeface="맑은 고딕"/>
                <a:ea typeface="맑은 고딕"/>
                <a:cs typeface="맑은 고딕"/>
              </a:rPr>
              <a:t>가를 수 있는 조건</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a:t>
            </a:r>
          </a:p>
          <a:p>
            <a:pPr algn="ctr">
              <a:lnSpc>
                <a:spcPct val="110000"/>
              </a:lnSpc>
              <a:spcAft>
                <a:spcPts val="400"/>
              </a:spcAft>
            </a:pPr>
            <a:r>
              <a:rPr sz="1250" b="0">
                <a:solidFill>
                  <a:srgbClr val="1F2A3A"/>
                </a:solidFill>
                <a:latin typeface="맑은 고딕"/>
                <a:ea typeface="맑은 고딕"/>
                <a:cs typeface="맑은 고딕"/>
              </a:rPr>
              <a:t>기존 요청과 새 요청의</a:t>
            </a:r>
          </a:p>
          <a:p>
            <a:pPr algn="ctr">
              <a:lnSpc>
                <a:spcPct val="110000"/>
              </a:lnSpc>
              <a:spcAft>
                <a:spcPts val="400"/>
              </a:spcAft>
            </a:pPr>
            <a:r>
              <a:rPr sz="1250" b="0">
                <a:solidFill>
                  <a:srgbClr val="1F2A3A"/>
                </a:solidFill>
                <a:latin typeface="맑은 고딕"/>
                <a:ea typeface="맑은 고딕"/>
                <a:cs typeface="맑은 고딕"/>
              </a:rPr>
              <a:t>기대 결과를 저장한다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긴급 요청 조건을 더해 고치기 전과 출력을 견주고, spec.md를 보완해 기존 제약이 유지되도록 고친다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조건과 보완하는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고치기 전과 뒤의 출력 비교, 두 요청의 차이를 적은 spec.md, 두 요청의 재실행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조건을 더한다</a:t>
            </a:r>
          </a:p>
          <a:p>
            <a:pPr algn="l">
              <a:lnSpc>
                <a:spcPct val="110000"/>
              </a:lnSpc>
              <a:spcAft>
                <a:spcPts val="400"/>
              </a:spcAft>
            </a:pPr>
            <a:r>
              <a:rPr sz="1400" b="0">
                <a:solidFill>
                  <a:srgbClr val="1F2A3A"/>
                </a:solidFill>
                <a:latin typeface="맑은 고딕"/>
                <a:ea typeface="맑은 고딕"/>
                <a:cs typeface="맑은 고딕"/>
              </a:rPr>
              <a:t>기존 에이전트에 긴급 요청을 분류하는 조건을 한두 문장의 모호한 요청으로 추가한다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git-compare" descr="git-compare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고치기 전과 견준다</a:t>
            </a:r>
          </a:p>
          <a:p>
            <a:pPr algn="l">
              <a:lnSpc>
                <a:spcPct val="110000"/>
              </a:lnSpc>
              <a:spcAft>
                <a:spcPts val="400"/>
              </a:spcAft>
            </a:pPr>
            <a:r>
              <a:rPr sz="1400" b="0">
                <a:solidFill>
                  <a:srgbClr val="1F2A3A"/>
                </a:solidFill>
                <a:latin typeface="맑은 고딕"/>
                <a:ea typeface="맑은 고딕"/>
                <a:cs typeface="맑은 고딕"/>
              </a:rPr>
              <a:t>일반 요청과 긴급 요청을 실행해 결과의 항목과 승인 조건이 고치기 전과 달라진 곳을 찾는다</a:t>
            </a:r>
          </a:p>
        </p:txBody>
      </p:sp>
      <p:sp>
        <p:nvSpPr>
          <p:cNvPr id="16" name="Rounded Rectangle 15"/>
          <p:cNvSpPr/>
          <p:nvPr/>
        </p:nvSpPr>
        <p:spPr>
          <a:xfrm>
            <a:off x="4566818" y="536676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명세를 보완해 고친다</a:t>
            </a:r>
          </a:p>
          <a:p>
            <a:pPr algn="l">
              <a:lnSpc>
                <a:spcPct val="110000"/>
              </a:lnSpc>
              <a:spcAft>
                <a:spcPts val="400"/>
              </a:spcAft>
            </a:pPr>
            <a:r>
              <a:rPr sz="1400" b="0">
                <a:solidFill>
                  <a:srgbClr val="1F2A3A"/>
                </a:solidFill>
                <a:latin typeface="맑은 고딕"/>
                <a:ea typeface="맑은 고딕"/>
                <a:cs typeface="맑은 고딕"/>
              </a:rPr>
              <a:t>• spec.md에 일반 요청과 긴급 요청의 차이, 미입력 시 보류, 승인 없이 확정 금지, 결과 형식, 수용 기준을 적는다</a:t>
            </a:r>
          </a:p>
          <a:p>
            <a:pPr algn="l">
              <a:lnSpc>
                <a:spcPct val="110000"/>
              </a:lnSpc>
              <a:spcAft>
                <a:spcPts val="400"/>
              </a:spcAft>
            </a:pPr>
            <a:r>
              <a:rPr sz="1400" b="0">
                <a:solidFill>
                  <a:srgbClr val="1F2A3A"/>
                </a:solidFill>
                <a:latin typeface="맑은 고딕"/>
                <a:ea typeface="맑은 고딕"/>
                <a:cs typeface="맑은 고딕"/>
              </a:rPr>
              <a:t>• 그 명세대로 고쳐 두 요청을 다시 실행한다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세부분.svg" descr="illust_334333600477345323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시나리오연결.svg" descr="illust_1501711245790940908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긴급 조건을 더한 뒤에도</a:t>
            </a:r>
          </a:p>
          <a:p>
            <a:pPr algn="l">
              <a:lnSpc>
                <a:spcPct val="110000"/>
              </a:lnSpc>
            </a:pPr>
            <a:r>
              <a:rPr sz="1250" b="1">
                <a:solidFill>
                  <a:srgbClr val="1A6FC4"/>
                </a:solidFill>
                <a:latin typeface="맑은 고딕"/>
                <a:ea typeface="맑은 고딕"/>
                <a:cs typeface="맑은 고딕"/>
              </a:rPr>
              <a:t>일반 요청의 결과가 같다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경계값.svg" descr="illust_2260699002881653923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필요한 값을 읽지 못했다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pic>
        <p:nvPicPr>
          <p:cNvPr id="6" name="삽화:회귀.svg" descr="illust_8476717877266469838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쿨러 경보를 두 번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카드</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기존 기능과 추가 기능을 함께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미입력, 거절의 시나리오를 적어 실행하고, 실패를 고친 뒤 기존 기능을 함께 재검증한다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적고 실행하고 고치는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네 경우의 시나리오와 실행 결과, 실패를 고친 기록, 전체를 다시 통과시킨 재검증이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적는다</a:t>
            </a:r>
          </a:p>
          <a:p>
            <a:pPr algn="ctr">
              <a:lnSpc>
                <a:spcPct val="110000"/>
              </a:lnSpc>
              <a:spcAft>
                <a:spcPts val="400"/>
              </a:spcAft>
            </a:pPr>
            <a:r>
              <a:rPr sz="1350" b="0">
                <a:solidFill>
                  <a:srgbClr val="1F2A3A"/>
                </a:solidFill>
                <a:latin typeface="맑은 고딕"/>
                <a:ea typeface="맑은 고딕"/>
                <a:cs typeface="맑은 고딕"/>
              </a:rPr>
              <a:t>정상, 긴급, 미입력, 거절의</a:t>
            </a:r>
          </a:p>
          <a:p>
            <a:pPr algn="ctr">
              <a:lnSpc>
                <a:spcPct val="110000"/>
              </a:lnSpc>
              <a:spcAft>
                <a:spcPts val="400"/>
              </a:spcAft>
            </a:pPr>
            <a:r>
              <a:rPr sz="1350" b="0">
                <a:solidFill>
                  <a:srgbClr val="1F2A3A"/>
                </a:solidFill>
                <a:latin typeface="맑은 고딕"/>
                <a:ea typeface="맑은 고딕"/>
                <a:cs typeface="맑은 고딕"/>
              </a:rPr>
              <a:t>Given · When · Then과</a:t>
            </a:r>
          </a:p>
          <a:p>
            <a:pPr algn="ctr">
              <a:lnSpc>
                <a:spcPct val="110000"/>
              </a:lnSpc>
              <a:spcAft>
                <a:spcPts val="400"/>
              </a:spcAft>
            </a:pPr>
            <a:r>
              <a:rPr sz="1350" b="0">
                <a:solidFill>
                  <a:srgbClr val="1F2A3A"/>
                </a:solidFill>
                <a:latin typeface="맑은 고딕"/>
                <a:ea typeface="맑은 고딕"/>
                <a:cs typeface="맑은 고딕"/>
              </a:rPr>
              <a:t>입력값, 기대 상태를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실행한다</a:t>
            </a:r>
          </a:p>
          <a:p>
            <a:pPr algn="ctr">
              <a:lnSpc>
                <a:spcPct val="110000"/>
              </a:lnSpc>
              <a:spcAft>
                <a:spcPts val="400"/>
              </a:spcAft>
            </a:pPr>
            <a:r>
              <a:rPr sz="1350" b="0">
                <a:solidFill>
                  <a:srgbClr val="1F2A3A"/>
                </a:solidFill>
                <a:latin typeface="맑은 고딕"/>
                <a:ea typeface="맑은 고딕"/>
                <a:cs typeface="맑은 고딕"/>
              </a:rPr>
              <a:t>시나리오를 실행해</a:t>
            </a:r>
          </a:p>
          <a:p>
            <a:pPr algn="ctr">
              <a:lnSpc>
                <a:spcPct val="110000"/>
              </a:lnSpc>
              <a:spcAft>
                <a:spcPts val="400"/>
              </a:spcAft>
            </a:pPr>
            <a:r>
              <a:rPr sz="1350" b="0">
                <a:solidFill>
                  <a:srgbClr val="1F2A3A"/>
                </a:solidFill>
                <a:latin typeface="맑은 고딕"/>
                <a:ea typeface="맑은 고딕"/>
                <a:cs typeface="맑은 고딕"/>
              </a:rPr>
              <a:t>실제 출력과 기대값을</a:t>
            </a:r>
          </a:p>
          <a:p>
            <a:pPr algn="ctr">
              <a:lnSpc>
                <a:spcPct val="110000"/>
              </a:lnSpc>
              <a:spcAft>
                <a:spcPts val="400"/>
              </a:spcAft>
            </a:pPr>
            <a:r>
              <a:rPr sz="1350" b="0">
                <a:solidFill>
                  <a:srgbClr val="1F2A3A"/>
                </a:solidFill>
                <a:latin typeface="맑은 고딕"/>
                <a:ea typeface="맑은 고딕"/>
                <a:cs typeface="맑은 고딕"/>
              </a:rPr>
              <a:t>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tool" descr="too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고친다</a:t>
            </a:r>
          </a:p>
          <a:p>
            <a:pPr algn="ctr">
              <a:lnSpc>
                <a:spcPct val="110000"/>
              </a:lnSpc>
              <a:spcAft>
                <a:spcPts val="400"/>
              </a:spcAft>
            </a:pPr>
            <a:r>
              <a:rPr sz="1350" b="0">
                <a:solidFill>
                  <a:srgbClr val="1F2A3A"/>
                </a:solidFill>
                <a:latin typeface="맑은 고딕"/>
                <a:ea typeface="맑은 고딕"/>
                <a:cs typeface="맑은 고딕"/>
              </a:rPr>
              <a:t>실제로 실패한 시나리오만</a:t>
            </a:r>
          </a:p>
          <a:p>
            <a:pPr algn="ctr">
              <a:lnSpc>
                <a:spcPct val="110000"/>
              </a:lnSpc>
              <a:spcAft>
                <a:spcPts val="400"/>
              </a:spcAft>
            </a:pPr>
            <a:r>
              <a:rPr sz="1350" b="0">
                <a:solidFill>
                  <a:srgbClr val="1F2A3A"/>
                </a:solidFill>
                <a:latin typeface="맑은 고딕"/>
                <a:ea typeface="맑은 고딕"/>
                <a:cs typeface="맑은 고딕"/>
              </a:rPr>
              <a:t>프롬프트, 명세, 코드 가운데</a:t>
            </a:r>
          </a:p>
          <a:p>
            <a:pPr algn="ctr">
              <a:lnSpc>
                <a:spcPct val="110000"/>
              </a:lnSpc>
              <a:spcAft>
                <a:spcPts val="400"/>
              </a:spcAft>
            </a:pPr>
            <a:r>
              <a:rPr sz="1350" b="0">
                <a:solidFill>
                  <a:srgbClr val="1F2A3A"/>
                </a:solidFill>
                <a:latin typeface="맑은 고딕"/>
                <a:ea typeface="맑은 고딕"/>
                <a:cs typeface="맑은 고딕"/>
              </a:rPr>
              <a:t>고칠 곳을 가려 고친다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함께 재검증한다</a:t>
            </a:r>
          </a:p>
          <a:p>
            <a:pPr algn="ctr">
              <a:lnSpc>
                <a:spcPct val="110000"/>
              </a:lnSpc>
              <a:spcAft>
                <a:spcPts val="400"/>
              </a:spcAft>
            </a:pPr>
            <a:r>
              <a:rPr sz="1350" b="0">
                <a:solidFill>
                  <a:srgbClr val="1F2A3A"/>
                </a:solidFill>
                <a:latin typeface="맑은 고딕"/>
                <a:ea typeface="맑은 고딕"/>
                <a:cs typeface="맑은 고딕"/>
              </a:rPr>
              <a:t>긴급 조건과 기존 조건이</a:t>
            </a:r>
          </a:p>
          <a:p>
            <a:pPr algn="ctr">
              <a:lnSpc>
                <a:spcPct val="110000"/>
              </a:lnSpc>
              <a:spcAft>
                <a:spcPts val="400"/>
              </a:spcAft>
            </a:pPr>
            <a:r>
              <a:rPr sz="1350" b="0">
                <a:solidFill>
                  <a:srgbClr val="1F2A3A"/>
                </a:solidFill>
                <a:latin typeface="맑은 고딕"/>
                <a:ea typeface="맑은 고딕"/>
                <a:cs typeface="맑은 고딕"/>
              </a:rPr>
              <a:t>모두 통과하는지</a:t>
            </a:r>
          </a:p>
          <a:p>
            <a:pPr algn="ctr">
              <a:lnSpc>
                <a:spcPct val="110000"/>
              </a:lnSpc>
              <a:spcAft>
                <a:spcPts val="400"/>
              </a:spcAft>
            </a:pPr>
            <a:r>
              <a:rPr sz="1350" b="0">
                <a:solidFill>
                  <a:srgbClr val="1F2A3A"/>
                </a:solidFill>
                <a:latin typeface="맑은 고딕"/>
                <a:ea typeface="맑은 고딕"/>
                <a:cs typeface="맑은 고딕"/>
              </a:rPr>
              <a:t>다시 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4일차와 5일차의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더해진것.svg" descr="illust_2302743145450186854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구성</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스킬과 연결</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사람의 결정</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행동 검증</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pic>
        <p:nvPicPr>
          <p:cNvPr id="6" name="삽화:사건위장치.svg" descr="illust_15293259418834845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4일차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5일차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5일차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출력 형식의 검사,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 실습의 산출물은 형식이 달라도, 모르는 것은 확정하지 않고 아는 것에는 근거를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구성한 에이전트와 그 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질문 한 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답에 근거와</a:t>
            </a:r>
          </a:p>
          <a:p>
            <a:pPr algn="l">
              <a:lnSpc>
                <a:spcPct val="110000"/>
              </a:lnSpc>
            </a:pPr>
            <a:r>
              <a:rPr sz="1250" b="1">
                <a:solidFill>
                  <a:srgbClr val="556175"/>
                </a:solidFill>
                <a:latin typeface="맑은 고딕"/>
                <a:ea typeface="맑은 고딕"/>
                <a:cs typeface="맑은 고딕"/>
              </a:rPr>
              <a:t>호출 기록을 붙임</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SKILL.md와 작업 목록</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담당자가 겹치거나</a:t>
            </a:r>
          </a:p>
          <a:p>
            <a:pPr algn="l">
              <a:lnSpc>
                <a:spcPct val="110000"/>
              </a:lnSpc>
            </a:pPr>
            <a:r>
              <a:rPr sz="1250" b="1">
                <a:solidFill>
                  <a:srgbClr val="556175"/>
                </a:solidFill>
                <a:latin typeface="맑은 고딕"/>
                <a:ea typeface="맑은 고딕"/>
                <a:cs typeface="맑은 고딕"/>
              </a:rPr>
              <a:t>기한이 없으면 표시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요약</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파일 내용, 변경 이력, 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서버마다 권한과</a:t>
            </a:r>
          </a:p>
          <a:p>
            <a:pPr algn="l">
              <a:lnSpc>
                <a:spcPct val="110000"/>
              </a:lnSpc>
            </a:pPr>
            <a:r>
              <a:rPr sz="1250" b="1">
                <a:solidFill>
                  <a:srgbClr val="556175"/>
                </a:solidFill>
                <a:latin typeface="맑은 고딕"/>
                <a:ea typeface="맑은 고딕"/>
                <a:cs typeface="맑은 고딕"/>
              </a:rPr>
              <a:t>실패를 견줌</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결정과 확인 질문과 명세는 시나리오의 재료가 되었고, 시나리오와 재검증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또는 거절 한 건과 처리 기록</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대기 건의 결정</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승인과 거절의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재처리 결과</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빠진 정보를 묻고 다시 처리</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필수 정보 누락의</a:t>
            </a:r>
          </a:p>
          <a:p>
            <a:pPr algn="l">
              <a:lnSpc>
                <a:spcPct val="110000"/>
              </a:lnSpc>
            </a:pPr>
            <a:r>
              <a:rPr sz="1250" b="1">
                <a:solidFill>
                  <a:srgbClr val="556175"/>
                </a:solidFill>
                <a:latin typeface="맑은 고딕"/>
                <a:ea typeface="맑은 고딕"/>
                <a:cs typeface="맑은 고딕"/>
              </a:rPr>
              <a:t>시나리오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두 버전의 출력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요구사항 추가와 명세 보완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재검증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기존 기능과 추가 기능의 검증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후속 업무의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추천안은 승인으로</a:t>
            </a:r>
          </a:p>
          <a:p>
            <a:pPr algn="l">
              <a:lnSpc>
                <a:spcPct val="110000"/>
              </a:lnSpc>
              <a:spcAft>
                <a:spcPts val="400"/>
              </a:spcAft>
            </a:pPr>
            <a:r>
              <a:rPr sz="1400" b="0">
                <a:solidFill>
                  <a:srgbClr val="1F2A3A"/>
                </a:solidFill>
                <a:latin typeface="맑은 고딕"/>
                <a:ea typeface="맑은 고딕"/>
                <a:cs typeface="맑은 고딕"/>
              </a:rPr>
              <a:t>• 점검 계획은 다음 점검 작업으로</a:t>
            </a:r>
          </a:p>
          <a:p>
            <a:pPr algn="l">
              <a:lnSpc>
                <a:spcPct val="110000"/>
              </a:lnSpc>
              <a:spcAft>
                <a:spcPts val="400"/>
              </a:spcAft>
            </a:pPr>
            <a:r>
              <a:rPr sz="1400" b="0">
                <a:solidFill>
                  <a:srgbClr val="1F2A3A"/>
                </a:solidFill>
                <a:latin typeface="맑은 고딕"/>
                <a:ea typeface="맑은 고딕"/>
                <a:cs typeface="맑은 고딕"/>
              </a:rPr>
              <a:t>• 작업 목록은 담당자의 후속 업무로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5일차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한 작업에서 업무 전체의 흐름으로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진단과 추천은 업무의 한 구간이며, 업무 전체의 순서와 담당은 업무 흐름의 표준 표기법 BPMN으로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11:13:08</a:t>
            </a:r>
          </a:p>
          <a:p>
            <a:pPr algn="ctr">
              <a:lnSpc>
                <a:spcPct val="110000"/>
              </a:lnSpc>
              <a:spcAft>
                <a:spcPts val="400"/>
              </a:spcAft>
            </a:pPr>
            <a:r>
              <a:rPr sz="1250" b="0">
                <a:solidFill>
                  <a:srgbClr val="1F2A3A"/>
                </a:solidFill>
                <a:latin typeface="맑은 고딕"/>
                <a:ea typeface="맑은 고딕"/>
                <a:cs typeface="맑은 고딕"/>
              </a:rPr>
              <a:t>쿨러 성능 저하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진단과 추천</a:t>
            </a:r>
          </a:p>
          <a:p>
            <a:pPr algn="ctr">
              <a:lnSpc>
                <a:spcPct val="110000"/>
              </a:lnSpc>
              <a:spcAft>
                <a:spcPts val="400"/>
              </a:spcAft>
            </a:pPr>
            <a:r>
              <a:rPr sz="1250" b="0">
                <a:solidFill>
                  <a:srgbClr val="1F2A3A"/>
                </a:solidFill>
                <a:latin typeface="맑은 고딕"/>
                <a:ea typeface="맑은 고딕"/>
                <a:cs typeface="맑은 고딕"/>
              </a:rPr>
              <a:t>에이전트가 맡은 구간</a:t>
            </a:r>
          </a:p>
          <a:p>
            <a:pPr algn="ctr">
              <a:lnSpc>
                <a:spcPct val="110000"/>
              </a:lnSpc>
              <a:spcAft>
                <a:spcPts val="400"/>
              </a:spcAft>
            </a:pPr>
            <a:r>
              <a:rPr sz="1250" b="0">
                <a:solidFill>
                  <a:srgbClr val="1F2A3A"/>
                </a:solidFill>
                <a:latin typeface="맑은 고딕"/>
                <a:ea typeface="맑은 고딕"/>
                <a:cs typeface="맑은 고딕"/>
              </a:rPr>
              <a:t>추천안 한 건</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11:14:56</a:t>
            </a:r>
          </a:p>
          <a:p>
            <a:pPr algn="ctr">
              <a:lnSpc>
                <a:spcPct val="110000"/>
              </a:lnSpc>
              <a:spcAft>
                <a:spcPts val="400"/>
              </a:spcAft>
            </a:pPr>
            <a:r>
              <a:rPr sz="1250" b="0">
                <a:solidFill>
                  <a:srgbClr val="1F2A3A"/>
                </a:solidFill>
                <a:latin typeface="맑은 고딕"/>
                <a:ea typeface="맑은 고딕"/>
                <a:cs typeface="맑은 고딕"/>
              </a:rPr>
              <a:t>운전원</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설비 명령</a:t>
            </a:r>
          </a:p>
          <a:p>
            <a:pPr algn="ctr">
              <a:lnSpc>
                <a:spcPct val="110000"/>
              </a:lnSpc>
              <a:spcAft>
                <a:spcPts val="400"/>
              </a:spcAft>
            </a:pPr>
            <a:r>
              <a:rPr sz="1250" b="0">
                <a:solidFill>
                  <a:srgbClr val="1F2A3A"/>
                </a:solidFill>
                <a:latin typeface="맑은 고딕"/>
                <a:ea typeface="맑은 고딕"/>
                <a:cs typeface="맑은 고딕"/>
              </a:rPr>
              <a:t>11:14:57</a:t>
            </a:r>
          </a:p>
          <a:p>
            <a:pPr algn="ctr">
              <a:lnSpc>
                <a:spcPct val="110000"/>
              </a:lnSpc>
              <a:spcAft>
                <a:spcPts val="400"/>
              </a:spcAft>
            </a:pPr>
            <a:r>
              <a:rPr sz="1250" b="0">
                <a:solidFill>
                  <a:srgbClr val="1F2A3A"/>
                </a:solidFill>
                <a:latin typeface="맑은 고딕"/>
                <a:ea typeface="맑은 고딕"/>
                <a:cs typeface="맑은 고딕"/>
              </a:rPr>
              <a:t>팬 속도 100 %</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clipboard-list" descr="clipboard-list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작업지시</a:t>
            </a:r>
          </a:p>
          <a:p>
            <a:pPr algn="ctr">
              <a:lnSpc>
                <a:spcPct val="110000"/>
              </a:lnSpc>
              <a:spcAft>
                <a:spcPts val="400"/>
              </a:spcAft>
            </a:pPr>
            <a:r>
              <a:rPr sz="1250" b="0">
                <a:solidFill>
                  <a:srgbClr val="1F2A3A"/>
                </a:solidFill>
                <a:latin typeface="맑은 고딕"/>
                <a:ea typeface="맑은 고딕"/>
                <a:cs typeface="맑은 고딕"/>
              </a:rPr>
              <a:t>유온 51.5 ℃</a:t>
            </a:r>
          </a:p>
          <a:p>
            <a:pPr algn="ctr">
              <a:lnSpc>
                <a:spcPct val="110000"/>
              </a:lnSpc>
              <a:spcAft>
                <a:spcPts val="400"/>
              </a:spcAft>
            </a:pPr>
            <a:r>
              <a:rPr sz="1250" b="0">
                <a:solidFill>
                  <a:srgbClr val="1F2A3A"/>
                </a:solidFill>
                <a:latin typeface="맑은 고딕"/>
                <a:ea typeface="맑은 고딕"/>
                <a:cs typeface="맑은 고딕"/>
              </a:rPr>
              <a:t>WO-1010-C058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에이전트의 신뢰성에서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에이전트의 신뢰성에서</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가드레일</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Guardrail</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바이브 코딩</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Vibe Coding</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「긴급한 경보는 빨리」 한 문장으로 맡기는 변경</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SDD</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Spec-Driven Development</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계약</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Contract</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세 항목과 출력 다섯 항목</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수용 기준</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Acceptance Criteria</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BDD</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Behavior-Driven Development</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단언</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Assertion</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경계값 분석</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Boundary Value Analysis</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회귀 시험</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Regression Test</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경보를 두 번 처리했더니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판정할 수 있는 문장과 없는 문장, 표현 차이와 계약 위반을 올바르게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