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추천이 사람의 승인과 시스템의 실행을 거쳐 끝난 업무가 되기까지를 다룹니다. 이론 세 단원을 마친 뒤 일곱 개의 실습에서 프로세스를 직접 그리고, 연결해 배포하고,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일차에서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앞 일차에서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 이 경보는 앞 일차에서 본 것과 같은 종류의 경보 한 건이며, 이 일차의 처리 건 기록은 모두 이 경보에서 열린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추천안만으로는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실제로 하는 일을 이 과정의 활동과 짝지었습니다. 분석에서는 업무의 시작 조건과 책임자와 완료 조건을 가려내고, 설계에서는 그것을 그림으로 그립니다. 실행에서는 그림을 등록하고 배포해 실제 경보에서 수행되게 하고, 모니터링에서는 처리 건을 지켜봅니다. 개선에서는 고친 흐름을 다시 등록합니다.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지식과 값을 읽어 원인을 가리고 조치를 추천하는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BPMN 그림을 그리는 도구인 bpmn.io의 기본 사용법을 익힙니다. 앞에서 읽은 이벤트, 작업, 게이트웨이를 그림에 놓고 시퀀스 흐름으로 이은 뒤, 놓은 요소를 고치고 속성을 확인합니다. 그린 그림은 .bpmn 파일로 저장하고 다시 불러옵니다. 이어지는 실습에서 그리는 프로세스도 이 형식의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bpmn.io로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본문에서 읽은 긴급 대응 프로세스의 기본 순서를 직접 그립니다. 레인은 작업마다 두지 않고 에이전트, 담당자, 시스템의 역할별로 셋을 둡니다. 에이전트 레인의 경보에서 시작해 진단과 제안, 담당자 레인의 운전원 승인, 시스템 레인의 냉각 명령과 재관측과 결과 보고를 시퀀스 흐름으로 잇습니다. 승인과 거절의 갈림은 다음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 실습에서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거절한 경우에 냉각 명령으로 가는 선이 없는지, 알림 가지가 승인 작업을 끊지 않는지를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직접 그린 BPMN 파일을 HYD로 가져와 실행에 필요한 것을 잇습니다. 왼쪽은 그림이 이미 정해 둔 것으로, 작업의 순서와 갈림, 레인, 작업의 종류입니다. 오른쪽은 그림에 적혀 있지 않아 이 실습에서 잇는 것입니다. 시작 이벤트에는 쿨러 성능 저하 경보를, 진단과 제안에는 기존 에이전트를, 운전원 승인에는 운전원 역할을, 냉각 명령과 재관측과 결과 보고에는 그 일을 수행할 시스템 단계를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 실습에서 연결한 흐름을 사전 검사에 넣습니다. 검사 결과에서 맡을 쪽이 빠진 작업과 조건이 빠진 갈림을 찾아 고치고 다시 검사합니다. 검사를 통과하면 정의를 판본으로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png"/><Relationship Id="rId4" Type="http://schemas.openxmlformats.org/officeDocument/2006/relationships/image" Target="../media/image32.png"/><Relationship Id="rId5"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37.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47.png"/><Relationship Id="rId6"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7.png"/><Relationship Id="rId4" Type="http://schemas.openxmlformats.org/officeDocument/2006/relationships/image" Target="../media/image49.png"/><Relationship Id="rId5" Type="http://schemas.openxmlformats.org/officeDocument/2006/relationships/image" Target="../media/image5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44.png"/><Relationship Id="rId6" Type="http://schemas.openxmlformats.org/officeDocument/2006/relationships/image" Target="../media/image4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png"/><Relationship Id="rId4" Type="http://schemas.openxmlformats.org/officeDocument/2006/relationships/image" Target="../media/image54.png"/><Relationship Id="rId5" Type="http://schemas.openxmlformats.org/officeDocument/2006/relationships/image" Target="../media/image18.png"/><Relationship Id="rId6" Type="http://schemas.openxmlformats.org/officeDocument/2006/relationships/image" Target="../media/image3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설계에서 검증까지</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HYD에 연결하고 배포한 뒤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880856810148466717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35911"/>
            <a:ext cx="1911644" cy="33108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8791"/>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72410"/>
            <a:ext cx="424281" cy="424281"/>
          </a:xfrm>
          <a:prstGeom prst="rect">
            <a:avLst/>
          </a:prstGeom>
        </p:spPr>
      </p:pic>
      <p:sp>
        <p:nvSpPr>
          <p:cNvPr id="9" name="TextBox 8"/>
          <p:cNvSpPr txBox="1"/>
          <p:nvPr/>
        </p:nvSpPr>
        <p:spPr>
          <a:xfrm>
            <a:off x="62179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추천안을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35911"/>
            <a:ext cx="1911644" cy="33108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8791"/>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72410"/>
            <a:ext cx="424281" cy="424281"/>
          </a:xfrm>
          <a:prstGeom prst="rect">
            <a:avLst/>
          </a:prstGeom>
        </p:spPr>
      </p:pic>
      <p:sp>
        <p:nvSpPr>
          <p:cNvPr id="14" name="TextBox 13"/>
          <p:cNvSpPr txBox="1"/>
          <p:nvPr/>
        </p:nvSpPr>
        <p:spPr>
          <a:xfrm>
            <a:off x="2917484"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35911"/>
            <a:ext cx="1911644" cy="33108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8791"/>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72410"/>
            <a:ext cx="424281" cy="424281"/>
          </a:xfrm>
          <a:prstGeom prst="rect">
            <a:avLst/>
          </a:prstGeom>
        </p:spPr>
      </p:pic>
      <p:sp>
        <p:nvSpPr>
          <p:cNvPr id="19" name="TextBox 18"/>
          <p:cNvSpPr txBox="1"/>
          <p:nvPr/>
        </p:nvSpPr>
        <p:spPr>
          <a:xfrm>
            <a:off x="5213177"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35911"/>
            <a:ext cx="1911644" cy="33108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8791"/>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72410"/>
            <a:ext cx="424281" cy="424281"/>
          </a:xfrm>
          <a:prstGeom prst="rect">
            <a:avLst/>
          </a:prstGeom>
        </p:spPr>
      </p:pic>
      <p:sp>
        <p:nvSpPr>
          <p:cNvPr id="24" name="TextBox 23"/>
          <p:cNvSpPr txBox="1"/>
          <p:nvPr/>
        </p:nvSpPr>
        <p:spPr>
          <a:xfrm>
            <a:off x="7508869"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Computerized Maintenance</a:t>
            </a:r>
          </a:p>
          <a:p>
            <a:pPr algn="ctr">
              <a:lnSpc>
                <a:spcPct val="110000"/>
              </a:lnSpc>
              <a:spcAft>
                <a:spcPts val="400"/>
              </a:spcAft>
            </a:pPr>
            <a:r>
              <a:rPr sz="1250" b="0">
                <a:solidFill>
                  <a:srgbClr val="1F2A3A"/>
                </a:solidFill>
                <a:latin typeface="맑은 고딕"/>
                <a:ea typeface="맑은 고딕"/>
                <a:cs typeface="맑은 고딕"/>
              </a:rPr>
              <a:t>Management System</a:t>
            </a:r>
          </a:p>
          <a:p>
            <a:pPr algn="ctr">
              <a:lnSpc>
                <a:spcPct val="110000"/>
              </a:lnSpc>
              <a:spcAft>
                <a:spcPts val="400"/>
              </a:spcAft>
            </a:pPr>
            <a:r>
              <a:rPr sz="1250" b="0">
                <a:solidFill>
                  <a:srgbClr val="1F2A3A"/>
                </a:solidFill>
                <a:latin typeface="맑은 고딕"/>
                <a:ea typeface="맑은 고딕"/>
                <a:cs typeface="맑은 고딕"/>
              </a:rPr>
              <a:t>정비를 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35911"/>
            <a:ext cx="1911644" cy="33108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518791"/>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72410"/>
            <a:ext cx="424281" cy="424281"/>
          </a:xfrm>
          <a:prstGeom prst="rect">
            <a:avLst/>
          </a:prstGeom>
        </p:spPr>
      </p:pic>
      <p:sp>
        <p:nvSpPr>
          <p:cNvPr id="29" name="TextBox 28"/>
          <p:cNvSpPr txBox="1"/>
          <p:nvPr/>
        </p:nvSpPr>
        <p:spPr>
          <a:xfrm>
            <a:off x="980456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남은일_종단.svg" descr="illust_706473542161627176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경보 한 건</a:t>
            </a:r>
          </a:p>
          <a:p>
            <a:pPr algn="l">
              <a:lnSpc>
                <a:spcPct val="110000"/>
              </a:lnSpc>
              <a:spcAft>
                <a:spcPts val="400"/>
              </a:spcAft>
            </a:pPr>
            <a:r>
              <a:rPr sz="1400" b="0">
                <a:solidFill>
                  <a:srgbClr val="1F2A3A"/>
                </a:solidFill>
                <a:latin typeface="맑은 고딕"/>
                <a:ea typeface="맑은 고딕"/>
                <a:cs typeface="맑은 고딕"/>
              </a:rPr>
              <a:t>긴급 대응 프로세스가 처리한</a:t>
            </a:r>
          </a:p>
          <a:p>
            <a:pPr algn="l">
              <a:lnSpc>
                <a:spcPct val="110000"/>
              </a:lnSpc>
              <a:spcAft>
                <a:spcPts val="400"/>
              </a:spcAft>
            </a:pPr>
            <a:r>
              <a:rPr sz="1400" b="0">
                <a:solidFill>
                  <a:srgbClr val="1F2A3A"/>
                </a:solidFill>
                <a:latin typeface="맑은 고딕"/>
                <a:ea typeface="맑은 고딕"/>
                <a:cs typeface="맑은 고딕"/>
              </a:rPr>
              <a:t>같은 종류의 경보 한 건이다.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추천안만으로는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BPM주기.svg" descr="illust_415767504074616512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단계의 일은 이 과정에서 프로세스를 그리고, 등록해 실행하고, 처리 건을 지켜보는 활동에 대응한다.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대응 업무의 정리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 그리기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등록과 배포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 추적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 판본의 등록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현재와목표.svg" descr="illust_404061696629757267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요소묶음.svg" descr="illust_413053564380079449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흐름_전체.svg" descr="illust_156183817022904456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이벤트.svg" descr="illust_699494691854222702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작업종류.svg" descr="illust_807283400181904915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게이트웨이.svg" descr="illust_545473920605070314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풀과레인.svg" descr="illust_697902191215076601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메시지흐름.svg" descr="illust_571239500668310768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경계타이머.svg" descr="illust_480639443816525912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승인자리.svg" descr="illust_235084895825188859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정의와인스턴스.svg" descr="illust_507901580455858854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흐름_토큰_승인대기.svg" descr="illust_268305557702298452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흐름_토큰_둘.svg" descr="illust_866630968401479205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추천안(추천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설계 도구의 기본 사용법 익히기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bpmn.io에서 요소를 배치하고 연결해 .bpmn 파일로 저장하고 불러온다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다루는 기능과 만들어지는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bpmn.io에서 요소를 놓고 이어 만든 그림은 .bpmn 파일 하나로 저장되고, 그 파일을 불러오면 같은 그림이 다시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square-plus" descr="square-plus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배치</a:t>
            </a:r>
          </a:p>
          <a:p>
            <a:pPr algn="ctr">
              <a:lnSpc>
                <a:spcPct val="110000"/>
              </a:lnSpc>
              <a:spcAft>
                <a:spcPts val="400"/>
              </a:spcAft>
            </a:pPr>
            <a:r>
              <a:rPr sz="1250" b="0">
                <a:solidFill>
                  <a:srgbClr val="1F2A3A"/>
                </a:solidFill>
                <a:latin typeface="맑은 고딕"/>
                <a:ea typeface="맑은 고딕"/>
                <a:cs typeface="맑은 고딕"/>
              </a:rPr>
              <a:t>이벤트, 작업,</a:t>
            </a:r>
          </a:p>
          <a:p>
            <a:pPr algn="ctr">
              <a:lnSpc>
                <a:spcPct val="110000"/>
              </a:lnSpc>
              <a:spcAft>
                <a:spcPts val="400"/>
              </a:spcAft>
            </a:pPr>
            <a:r>
              <a:rPr sz="1250" b="0">
                <a:solidFill>
                  <a:srgbClr val="1F2A3A"/>
                </a:solidFill>
                <a:latin typeface="맑은 고딕"/>
                <a:ea typeface="맑은 고딕"/>
                <a:cs typeface="맑은 고딕"/>
              </a:rPr>
              <a:t>게이트웨이를</a:t>
            </a:r>
          </a:p>
          <a:p>
            <a:pPr algn="ctr">
              <a:lnSpc>
                <a:spcPct val="110000"/>
              </a:lnSpc>
              <a:spcAft>
                <a:spcPts val="400"/>
              </a:spcAft>
            </a:pPr>
            <a:r>
              <a:rPr sz="1250" b="0">
                <a:solidFill>
                  <a:srgbClr val="1F2A3A"/>
                </a:solidFill>
                <a:latin typeface="맑은 고딕"/>
                <a:ea typeface="맑은 고딕"/>
                <a:cs typeface="맑은 고딕"/>
              </a:rPr>
              <a:t>그림에 놓는다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line" descr="line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놓은 요소를</a:t>
            </a:r>
          </a:p>
          <a:p>
            <a:pPr algn="ctr">
              <a:lnSpc>
                <a:spcPct val="110000"/>
              </a:lnSpc>
              <a:spcAft>
                <a:spcPts val="400"/>
              </a:spcAft>
            </a:pPr>
            <a:r>
              <a:rPr sz="1250" b="0">
                <a:solidFill>
                  <a:srgbClr val="1F2A3A"/>
                </a:solidFill>
                <a:latin typeface="맑은 고딕"/>
                <a:ea typeface="맑은 고딕"/>
                <a:cs typeface="맑은 고딕"/>
              </a:rPr>
              <a:t>시퀀스 흐름으로</a:t>
            </a:r>
          </a:p>
          <a:p>
            <a:pPr algn="ctr">
              <a:lnSpc>
                <a:spcPct val="110000"/>
              </a:lnSpc>
              <a:spcAft>
                <a:spcPts val="400"/>
              </a:spcAft>
            </a:pPr>
            <a:r>
              <a:rPr sz="1250" b="0">
                <a:solidFill>
                  <a:srgbClr val="1F2A3A"/>
                </a:solidFill>
                <a:latin typeface="맑은 고딕"/>
                <a:ea typeface="맑은 고딕"/>
                <a:cs typeface="맑은 고딕"/>
              </a:rPr>
              <a:t>잇는다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수정과 속성</a:t>
            </a:r>
          </a:p>
          <a:p>
            <a:pPr algn="ctr">
              <a:lnSpc>
                <a:spcPct val="110000"/>
              </a:lnSpc>
              <a:spcAft>
                <a:spcPts val="400"/>
              </a:spcAft>
            </a:pPr>
            <a:r>
              <a:rPr sz="1250" b="0">
                <a:solidFill>
                  <a:srgbClr val="1F2A3A"/>
                </a:solidFill>
                <a:latin typeface="맑은 고딕"/>
                <a:ea typeface="맑은 고딕"/>
                <a:cs typeface="맑은 고딕"/>
              </a:rPr>
              <a:t>놓은 요소를 고치고</a:t>
            </a:r>
          </a:p>
          <a:p>
            <a:pPr algn="ctr">
              <a:lnSpc>
                <a:spcPct val="110000"/>
              </a:lnSpc>
              <a:spcAft>
                <a:spcPts val="400"/>
              </a:spcAft>
            </a:pPr>
            <a:r>
              <a:rPr sz="1250" b="0">
                <a:solidFill>
                  <a:srgbClr val="1F2A3A"/>
                </a:solidFill>
                <a:latin typeface="맑은 고딕"/>
                <a:ea typeface="맑은 고딕"/>
                <a:cs typeface="맑은 고딕"/>
              </a:rPr>
              <a:t>속성을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device-floppy" descr="device-floppy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저장</a:t>
            </a:r>
          </a:p>
          <a:p>
            <a:pPr algn="ctr">
              <a:lnSpc>
                <a:spcPct val="110000"/>
              </a:lnSpc>
              <a:spcAft>
                <a:spcPts val="400"/>
              </a:spcAft>
            </a:pPr>
            <a:r>
              <a:rPr sz="1250" b="0">
                <a:solidFill>
                  <a:srgbClr val="1F2A3A"/>
                </a:solidFill>
                <a:latin typeface="맑은 고딕"/>
                <a:ea typeface="맑은 고딕"/>
                <a:cs typeface="맑은 고딕"/>
              </a:rPr>
              <a:t>그린 그림을</a:t>
            </a:r>
          </a:p>
          <a:p>
            <a:pPr algn="ctr">
              <a:lnSpc>
                <a:spcPct val="110000"/>
              </a:lnSpc>
              <a:spcAft>
                <a:spcPts val="400"/>
              </a:spcAft>
            </a:pPr>
            <a:r>
              <a:rPr sz="1250" b="0">
                <a:solidFill>
                  <a:srgbClr val="1F2A3A"/>
                </a:solidFill>
                <a:latin typeface="맑은 고딕"/>
                <a:ea typeface="맑은 고딕"/>
                <a:cs typeface="맑은 고딕"/>
              </a:rPr>
              <a:t>.bpmn 파일로</a:t>
            </a:r>
          </a:p>
          <a:p>
            <a:pPr algn="ctr">
              <a:lnSpc>
                <a:spcPct val="110000"/>
              </a:lnSpc>
              <a:spcAft>
                <a:spcPts val="400"/>
              </a:spcAft>
            </a:pPr>
            <a:r>
              <a:rPr sz="1250" b="0">
                <a:solidFill>
                  <a:srgbClr val="1F2A3A"/>
                </a:solidFill>
                <a:latin typeface="맑은 고딕"/>
                <a:ea typeface="맑은 고딕"/>
                <a:cs typeface="맑은 고딕"/>
              </a:rPr>
              <a:t>저장한다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older-open" descr="folder-open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불러오기</a:t>
            </a:r>
          </a:p>
          <a:p>
            <a:pPr algn="ctr">
              <a:lnSpc>
                <a:spcPct val="110000"/>
              </a:lnSpc>
              <a:spcAft>
                <a:spcPts val="400"/>
              </a:spcAft>
            </a:pPr>
            <a:r>
              <a:rPr sz="1250" b="0">
                <a:solidFill>
                  <a:srgbClr val="1F2A3A"/>
                </a:solidFill>
                <a:latin typeface="맑은 고딕"/>
                <a:ea typeface="맑은 고딕"/>
                <a:cs typeface="맑은 고딕"/>
              </a:rPr>
              <a:t>저장한 파일을</a:t>
            </a:r>
          </a:p>
          <a:p>
            <a:pPr algn="ctr">
              <a:lnSpc>
                <a:spcPct val="110000"/>
              </a:lnSpc>
              <a:spcAft>
                <a:spcPts val="400"/>
              </a:spcAft>
            </a:pPr>
            <a:r>
              <a:rPr sz="1250" b="0">
                <a:solidFill>
                  <a:srgbClr val="1F2A3A"/>
                </a:solidFill>
                <a:latin typeface="맑은 고딕"/>
                <a:ea typeface="맑은 고딕"/>
                <a:cs typeface="맑은 고딕"/>
              </a:rPr>
              <a:t>다시 열어</a:t>
            </a:r>
          </a:p>
          <a:p>
            <a:pPr algn="ctr">
              <a:lnSpc>
                <a:spcPct val="110000"/>
              </a:lnSpc>
              <a:spcAft>
                <a:spcPts val="400"/>
              </a:spcAft>
            </a:pPr>
            <a:r>
              <a:rPr sz="1250" b="0">
                <a:solidFill>
                  <a:srgbClr val="1F2A3A"/>
                </a:solidFill>
                <a:latin typeface="맑은 고딕"/>
                <a:ea typeface="맑은 고딕"/>
                <a:cs typeface="맑은 고딕"/>
              </a:rPr>
              <a:t>그림을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역할별 레인을 갖춘 설비 이상 대응의 흐름을 그린다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쿨러 경보에서 결과 보고까지의 작업이 역할별 레인에 놓여 이어진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진단과 제안</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효과를 다시 확인하는 재관측과 결과 보고를 그 뒤에 잇는다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명령과 확인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조건과 예외를 반영한</a:t>
            </a:r>
          </a:p>
          <a:p>
            <a:pPr algn="l">
              <a:lnSpc>
                <a:spcPct val="110000"/>
              </a:lnSpc>
            </a:pPr>
            <a:r>
              <a:rPr sz="3400" b="1">
                <a:solidFill>
                  <a:srgbClr val="13294B"/>
                </a:solidFill>
                <a:latin typeface="맑은 고딕"/>
                <a:ea typeface="맑은 고딕"/>
                <a:cs typeface="맑은 고딕"/>
              </a:rPr>
              <a:t>안전한 흐름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거절 종결, 승인 지연 알림을 더한다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실습에서 더하는 갈림과 타이머는 거절과 무응답의 경우에 설비 명령이 나가지 않게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가므로 거절하면 명령이 실행되지 않는다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종결</a:t>
            </a:r>
          </a:p>
          <a:p>
            <a:pPr algn="l">
              <a:lnSpc>
                <a:spcPct val="110000"/>
              </a:lnSpc>
              <a:spcAft>
                <a:spcPts val="400"/>
              </a:spcAft>
            </a:pPr>
            <a:r>
              <a:rPr sz="1400" b="0">
                <a:solidFill>
                  <a:srgbClr val="1F2A3A"/>
                </a:solidFill>
                <a:latin typeface="맑은 고딕"/>
                <a:ea typeface="맑은 고딕"/>
                <a:cs typeface="맑은 고딕"/>
              </a:rPr>
              <a:t>거절 쪽 선은 결과 보고: 거절을 거쳐 따로 둔 끝 이벤트에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알림이 나가도 승인 작업은 취소되지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HYD로 가져와 시작 조건과 맡을 쪽을 정한다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그림에는 순서와 갈림만 있으므로, 시작 이벤트를 열 경보와 작업마다 수행할 쪽을 HYD에서 이어야 실행할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그림이 정해 둔 것</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작업의 순서와 갈림</a:t>
            </a:r>
          </a:p>
          <a:p>
            <a:pPr algn="l">
              <a:lnSpc>
                <a:spcPct val="110000"/>
              </a:lnSpc>
              <a:spcAft>
                <a:spcPts val="600"/>
              </a:spcAft>
            </a:pPr>
            <a:r>
              <a:rPr sz="1450" b="0">
                <a:solidFill>
                  <a:srgbClr val="1F2A3A"/>
                </a:solidFill>
                <a:latin typeface="맑은 고딕"/>
                <a:ea typeface="맑은 고딕"/>
                <a:cs typeface="맑은 고딕"/>
              </a:rPr>
              <a:t>• 작업이 놓인 레인</a:t>
            </a:r>
          </a:p>
          <a:p>
            <a:pPr algn="l">
              <a:lnSpc>
                <a:spcPct val="110000"/>
              </a:lnSpc>
              <a:spcAft>
                <a:spcPts val="600"/>
              </a:spcAft>
            </a:pPr>
            <a:r>
              <a:rPr sz="1450" b="0">
                <a:solidFill>
                  <a:srgbClr val="1F2A3A"/>
                </a:solidFill>
                <a:latin typeface="맑은 고딕"/>
                <a:ea typeface="맑은 고딕"/>
                <a:cs typeface="맑은 고딕"/>
              </a:rPr>
              <a:t>• 사용자 작업과 서비스 작업의 구분</a:t>
            </a:r>
          </a:p>
        </p:txBody>
      </p:sp>
      <p:sp>
        <p:nvSpPr>
          <p:cNvPr id="11" name="Rounded Rectangle 10"/>
          <p:cNvSpPr/>
          <p:nvPr/>
        </p:nvSpPr>
        <p:spPr>
          <a:xfrm>
            <a:off x="868680" y="5396865"/>
            <a:ext cx="1094232"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BPMN 파일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 실습에서 잇는 것</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시작 이벤트를 여는 쿨러 성능 저하 경보</a:t>
            </a:r>
          </a:p>
          <a:p>
            <a:pPr algn="l">
              <a:lnSpc>
                <a:spcPct val="110000"/>
              </a:lnSpc>
              <a:spcAft>
                <a:spcPts val="600"/>
              </a:spcAft>
            </a:pPr>
            <a:r>
              <a:rPr sz="1450" b="0">
                <a:solidFill>
                  <a:srgbClr val="1F2A3A"/>
                </a:solidFill>
                <a:latin typeface="맑은 고딕"/>
                <a:ea typeface="맑은 고딕"/>
                <a:cs typeface="맑은 고딕"/>
              </a:rPr>
              <a:t>• 진단과 제안을 수행할 기존의 냉각 긴급 대응 에이전트</a:t>
            </a:r>
          </a:p>
          <a:p>
            <a:pPr algn="l">
              <a:lnSpc>
                <a:spcPct val="110000"/>
              </a:lnSpc>
              <a:spcAft>
                <a:spcPts val="600"/>
              </a:spcAft>
            </a:pPr>
            <a:r>
              <a:rPr sz="1450" b="0">
                <a:solidFill>
                  <a:srgbClr val="1F2A3A"/>
                </a:solidFill>
                <a:latin typeface="맑은 고딕"/>
                <a:ea typeface="맑은 고딕"/>
                <a:cs typeface="맑은 고딕"/>
              </a:rPr>
              <a:t>• 승인을 맡을 운전원 역할</a:t>
            </a:r>
          </a:p>
          <a:p>
            <a:pPr algn="l">
              <a:lnSpc>
                <a:spcPct val="110000"/>
              </a:lnSpc>
              <a:spcAft>
                <a:spcPts val="600"/>
              </a:spcAft>
            </a:pPr>
            <a:r>
              <a:rPr sz="1450" b="0">
                <a:solidFill>
                  <a:srgbClr val="1F2A3A"/>
                </a:solidFill>
                <a:latin typeface="맑은 고딕"/>
                <a:ea typeface="맑은 고딕"/>
                <a:cs typeface="맑은 고딕"/>
              </a:rPr>
              <a:t>• 냉각 명령, 재관측, 결과 보고를 수행할 시스템 단계</a:t>
            </a:r>
          </a:p>
        </p:txBody>
      </p:sp>
      <p:sp>
        <p:nvSpPr>
          <p:cNvPr id="18" name="Rounded Rectangle 17"/>
          <p:cNvSpPr/>
          <p:nvPr/>
        </p:nvSpPr>
        <p:spPr>
          <a:xfrm>
            <a:off x="6781647" y="5396865"/>
            <a:ext cx="145694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56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HYD에서의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연결 오류를 검사하고 배포하기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검사에서 잡히는 누락을 고치고 통과한 정의를 등록하고 배포한다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누락과 배포되는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사전 검사는 맡을 쪽이 빠진 작업과 조건이 빠진 갈림을 등록 전에 잡아내며, 이를 고쳐 통과한 정의를 등록하고 배포한다.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연결한 흐름에</a:t>
            </a:r>
          </a:p>
          <a:p>
            <a:pPr algn="ctr">
              <a:lnSpc>
                <a:spcPct val="110000"/>
              </a:lnSpc>
              <a:spcAft>
                <a:spcPts val="400"/>
              </a:spcAft>
            </a:pPr>
            <a:r>
              <a:rPr sz="1350" b="0">
                <a:solidFill>
                  <a:srgbClr val="1F2A3A"/>
                </a:solidFill>
                <a:latin typeface="맑은 고딕"/>
                <a:ea typeface="맑은 고딕"/>
                <a:cs typeface="맑은 고딕"/>
              </a:rPr>
              <a:t>빠진 것이 없는지</a:t>
            </a:r>
          </a:p>
          <a:p>
            <a:pPr algn="ctr">
              <a:lnSpc>
                <a:spcPct val="110000"/>
              </a:lnSpc>
              <a:spcAft>
                <a:spcPts val="400"/>
              </a:spcAft>
            </a:pPr>
            <a:r>
              <a:rPr sz="1350" b="0">
                <a:solidFill>
                  <a:srgbClr val="1F2A3A"/>
                </a:solidFill>
                <a:latin typeface="맑은 고딕"/>
                <a:ea typeface="맑은 고딕"/>
                <a:cs typeface="맑은 고딕"/>
              </a:rPr>
              <a:t>등록 전에 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빠진 연결과 조건을</a:t>
            </a:r>
          </a:p>
          <a:p>
            <a:pPr algn="ctr">
              <a:lnSpc>
                <a:spcPct val="110000"/>
              </a:lnSpc>
              <a:spcAft>
                <a:spcPts val="400"/>
              </a:spcAft>
            </a:pPr>
            <a:r>
              <a:rPr sz="1350" b="0">
                <a:solidFill>
                  <a:srgbClr val="1F2A3A"/>
                </a:solidFill>
                <a:latin typeface="맑은 고딕"/>
                <a:ea typeface="맑은 고딕"/>
                <a:cs typeface="맑은 고딕"/>
              </a:rPr>
              <a:t>채우고</a:t>
            </a:r>
          </a:p>
          <a:p>
            <a:pPr algn="ctr">
              <a:lnSpc>
                <a:spcPct val="110000"/>
              </a:lnSpc>
              <a:spcAft>
                <a:spcPts val="400"/>
              </a:spcAft>
            </a:pPr>
            <a:r>
              <a:rPr sz="1350" b="0">
                <a:solidFill>
                  <a:srgbClr val="1F2A3A"/>
                </a:solidFill>
                <a:latin typeface="맑은 고딕"/>
                <a:ea typeface="맑은 고딕"/>
                <a:cs typeface="맑은 고딕"/>
              </a:rPr>
              <a:t>다시 검사한다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cket" descr="rocke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등록과 배포</a:t>
            </a:r>
          </a:p>
          <a:p>
            <a:pPr algn="ctr">
              <a:lnSpc>
                <a:spcPct val="110000"/>
              </a:lnSpc>
              <a:spcAft>
                <a:spcPts val="400"/>
              </a:spcAft>
            </a:pPr>
            <a:r>
              <a:rPr sz="1350" b="0">
                <a:solidFill>
                  <a:srgbClr val="1F2A3A"/>
                </a:solidFill>
                <a:latin typeface="맑은 고딕"/>
                <a:ea typeface="맑은 고딕"/>
                <a:cs typeface="맑은 고딕"/>
              </a:rPr>
              <a:t>검사를 통과한 정의를</a:t>
            </a:r>
          </a:p>
          <a:p>
            <a:pPr algn="ctr">
              <a:lnSpc>
                <a:spcPct val="110000"/>
              </a:lnSpc>
              <a:spcAft>
                <a:spcPts val="400"/>
              </a:spcAft>
            </a:pPr>
            <a:r>
              <a:rPr sz="1350" b="0">
                <a:solidFill>
                  <a:srgbClr val="1F2A3A"/>
                </a:solidFill>
                <a:latin typeface="맑은 고딕"/>
                <a:ea typeface="맑은 고딕"/>
                <a:cs typeface="맑은 고딕"/>
              </a:rPr>
              <a:t>판본으로 등록하고</a:t>
            </a:r>
          </a:p>
          <a:p>
            <a:pPr algn="ctr">
              <a:lnSpc>
                <a:spcPct val="110000"/>
              </a:lnSpc>
              <a:spcAft>
                <a:spcPts val="400"/>
              </a:spcAft>
            </a:pPr>
            <a:r>
              <a:rPr sz="1350" b="0">
                <a:solidFill>
                  <a:srgbClr val="1F2A3A"/>
                </a:solidFill>
                <a:latin typeface="맑은 고딕"/>
                <a:ea typeface="맑은 고딕"/>
                <a:cs typeface="맑은 고딕"/>
              </a:rPr>
              <a:t>경보를 받도록 배포한다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