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판단하는 에이전트를 만들고 검증했습니다. 오늘은 그 에이전트의 추천이 사람의 승인과 시스템의 실행을 거쳐 끝난 업무가 되기까지를 다룹니다. 이론 세 단원을 마친 뒤 일곱 개의 실습에서 프로세스를 직접 그리고, 연결해 배포하고,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추천은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다섯 가지를 누가 하는지 보겠습니다. 승인은 운전원이, 냉각 명령은 SCADA가, 재관측과 결과 보고는 process 서비스가, 작업지시 등록은 CMMS가 맡습니다. CMMS는 Computerized Maintenance Management System, 곧 설비 보전 관리 시스템입니다. 다섯 가지는 맡는 쪽이 서로 다르고, 앞의 일이 끝나야 다음 일을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용어를 구분합니다. Task는 프로세스 안의 작업 하나로, 위쪽 괄호가 가리키는 에이전트의 추천이 그 예입니다. End-to-End는 아래쪽 괄호처럼 경보라는 시작 사건에서 끝까지의 전체이며 우리말로는 종단 간이라고 합니다. 처리 건 한 건의 실제 기록을 보면,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정의하려면 다섯 가지를 정해야 합니다. 무엇이 일어나면 시작하는지, 시작할 때 무엇을 받는지, 끝났을 때 무엇이 남는지, 작업마다 누가 맡는지, 무엇으로 끝났다고 보는지입니다. 오른쪽 열은 긴급 대응 프로세스의 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첫째와 둘째, 시작 조건과 입력입니다. 긴급 대응 프로세스를 여는 것은 사람의 조작이 아니라 경보 메시지입니다. pattern이 쿨러 성능 저하인 경보가 도착하면 처리 건이 열리고, 설비와 경보의 식별자가 입력으로 실려 뒤의 작업들이 읽습니다. 같은 경보로 처리 건이 두 번 열리지는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책임자입니다. 프로세스는 작업마다 맡는 쪽을 정하는데, 사람의 이름이 아니라 운전원 같은 역할로 정합니다. 근무자가 바뀌어도 프로세스는 그대로 두기 위해서입니다. 사람만 책임자가 되는 것도 아니어서 에이전트와 시스템도 작업을 맡습니다. 작업마다 맡는 쪽이 하나로 정해져 있으므로 지금 누구의 차례인지가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완료 조건입니다.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에이전트에게 맡길 수 없다고 한 것이 프로세스에서 어떻게 지켜지는지 확인합니다. 냉각 명령 작업은 승인 작업이 승인으로 끝나야 열리므로 추천만으로는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BPM은 다섯 단계를 되풀이합니다. 위에서 시계 방향으로, 지금의 업무를 조사하는 분석, 바꿀 흐름을 그리는 설계, 그린 대로 수행하는 실행, 수행 결과를 지켜보는 모니터링, 문제를 찾아 고치는 개선입니다. 개선에서 고친 내용이 다시 분석의 대상이 되므로 고리 모양이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단계에서 실제로 하는 일을 이 과정의 활동과 짝지었습니다. 분석에서는 업무의 시작 조건과 책임자와 완료 조건을 가려내고, 설계에서는 그것을 그림으로 그립니다. 실행에서는 그림을 등록하고 배포해 실제 경보에서 수행되게 하고, 모니터링에서는 처리 건을 지켜봅니다. 개선에서는 고친 흐름을 다시 등록합니다.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쓰는 두 낱말입니다. AS-IS는 지금 일하는 방식을 있는 그대로 그린 것이고, TO-BE는 바꾸려는 방식을 그린 것입니다. 위 줄은 프로세스가 정의되어 있지 않은 현장에서 흔히 볼 수 있는 AS-IS의 예로, 경보를 본 운전원이 전화로 보전 담당을 찾습니다. 아래 줄은 같은 업무를 프로세스로 옮긴 TO-BE입니다.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BPMN의 도형은 세 묶음으로 나누어 읽습니다. 왼쪽의 흐름 객체는 일어나는 일로, 원은 이벤트, 모서리가 둥근 사각형은 작업, 마름모는 게이트웨이입니다. 가운데의 연결 객체는 그것들을 잇는 선이며 실선과 점선의 뜻이 다릅니다. 오른쪽의 스윔레인은 누가 맡는지를 나누는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참여자가 둘이면 풀도 둘을 그립니다. 풀 안에서 작업의 순서를 잇는 선은 실선의 시퀀스 흐름입니다. 풀과 풀 사이에서 오가는 것은 점선의 메시지 흐름으로 그리며, 출발 쪽에 작은 원이 있고 화살촉이 비어 있습니다. 그림은 설비를 운영하는 조직이 공급사에 발주서를 보내고 납기 회신을 받는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판단을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10분 동안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 단원에서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역할의 작업함에 놓고 사람의 응답을 기다립니다. 서비스 작업이면 SCADA나 CMMS 같은 시스템을 호출하고 처리 결과를 받습니다. 에이전트 단계이면 지정된 에이전트에게 맡기고 판단이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처리 건이 실제로 지나간 순서입니다. 지식과 값을 읽어 원인을 가리고 조치를 추천하는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기록으로 남습니다. 누가 무엇을 결정했는지를 나중에 확인하려고 남기는 이런 기록을 감사 기록, Audit Log라고 합니다. 처리 건이 열릴 때, 승인이 접수되고 다음 단계로 전달될 때, 결과 보고가 나갈 때마다 한 줄씩 남습니다. 승인할 역할이 아닌 쪽이 승인을 시도해 거부된 일도 DECISION_DENIED로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BPMN 그림을 그리는 도구인 bpmn.io의 기본 사용법을 익힙니다. 앞에서 읽은 이벤트, 작업, 게이트웨이를 그림에 놓고 시퀀스 흐름으로 이은 뒤, 놓은 요소를 고치고 속성을 확인합니다. 그린 그림은 .bpmn 파일로 저장하고 다시 불러옵니다. 이어지는 실습에서 그리는 프로세스도 이 형식의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bpmn.io로 작은 승인 절차를 직접 그립니다. 정비 요청으로 시작해 담당자가 확인하고, 승인 여부에 따라 승인 종료와 거절 종결로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본문에서 읽은 긴급 대응 프로세스의 기본 순서를 직접 그립니다. 레인은 작업마다 두지 않고 에이전트, 담당자, 시스템의 역할별로 셋을 둡니다. 에이전트 레인의 경보에서 시작해 진단과 제안, 담당자 레인의 운전원 승인, 시스템 레인의 냉각 명령과 재관측과 결과 보고를 시퀀스 흐름으로 잇습니다. 승인과 거절의 갈림은 다음 실습에서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 실습에서 그린 긴급 대응 프로세스에 승인과 예외의 처리를 더합니다. 운전원 승인 뒤에 배타 게이트웨이를 두어 승인이면 냉각 명령으로, 거절이면 결과 보고: 거절을 거쳐 거절 종결로 가게 합니다. 운전원 승인에는 승인 지연 타이머를 비중단형으로 붙입니다. 거절한 경우에 냉각 명령으로 가는 선이 없는지, 알림 가지가 승인 작업을 끊지 않는지를 그림에서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직접 그린 BPMN 파일을 HYD로 가져와 실행에 필요한 것을 잇습니다. 왼쪽은 그림이 이미 정해 둔 것으로, 작업의 순서와 갈림, 레인, 작업의 종류입니다. 오른쪽은 그림에 적혀 있지 않아 이 실습에서 잇는 것입니다. 시작 이벤트에는 쿨러 성능 저하 경보를, 진단과 제안에는 기존 에이전트를, 운전원 승인에는 운전원 역할을, 냉각 명령과 재관측과 결과 보고에는 그 일을 수행할 시스템 단계를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 실습에서 연결한 흐름을 사전 검사에 넣습니다. 검사 결과에서 맡을 쪽이 빠진 작업과 조건이 빠진 갈림을 찾아 고치고 다시 검사합니다. 검사를 통과하면 정의를 판본으로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배포한 프로세스를 실제로 실행합니다. 쿨러 열화를 일으켜 처리 건이 열리는 것을 보고, 에이전트의 판단 뒤 운전원 승인에서 기다리는 상태를 확인합니다. 승인한 뒤에는 명령과 재관측을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셋과 함께 비즈니스 프로세스, Task와 End-to-End, AS-IS와 TO-BE, 이벤트, 게이트웨이, 풀과 레인, 경계 이벤트, 프로세스 정의와 인스턴스, 토큰, 프로세스 변수, 감사 기록이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문항입니다. 승인 지연 타이머가 중단형인지 비중단형인지, 그리고 처리 건의 상태가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2번은 COMPLETED를 성공으로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7.png"/><Relationship Id="rId4" Type="http://schemas.openxmlformats.org/officeDocument/2006/relationships/image" Target="../media/image32.png"/><Relationship Id="rId5"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0.png"/><Relationship Id="rId4" Type="http://schemas.openxmlformats.org/officeDocument/2006/relationships/image" Target="../media/image37.png"/><Relationship Id="rId5"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8.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1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47.png"/><Relationship Id="rId6"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4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7.png"/><Relationship Id="rId4" Type="http://schemas.openxmlformats.org/officeDocument/2006/relationships/image" Target="../media/image49.png"/><Relationship Id="rId5" Type="http://schemas.openxmlformats.org/officeDocument/2006/relationships/image" Target="../media/image5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44.png"/><Relationship Id="rId6" Type="http://schemas.openxmlformats.org/officeDocument/2006/relationships/image" Target="../media/image4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png"/><Relationship Id="rId4" Type="http://schemas.openxmlformats.org/officeDocument/2006/relationships/image" Target="../media/image54.png"/><Relationship Id="rId5" Type="http://schemas.openxmlformats.org/officeDocument/2006/relationships/image" Target="../media/image18.png"/><Relationship Id="rId6" Type="http://schemas.openxmlformats.org/officeDocument/2006/relationships/image" Target="../media/image3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6일차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AI와 사람이 함께 일하는</a:t>
            </a:r>
          </a:p>
          <a:p>
            <a:pPr algn="l">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추천을 끝난 업무로 잇는 프로세스의 정의, 표기, 실행</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끝난 업무가 되기까지의 순서와 책임을 프로세스로 정의하고, BPMN으로 그려 실행하는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시작 조건, 입력, 출력, 책임자, 완료 조건을 가려낸다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정의와 인스턴스, 토큰, 변수로 실행 중인 프로세스의 상태를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설계에서 검증까지</a:t>
            </a:r>
          </a:p>
          <a:p>
            <a:pPr algn="l">
              <a:lnSpc>
                <a:spcPct val="110000"/>
              </a:lnSpc>
              <a:spcAft>
                <a:spcPts val="400"/>
              </a:spcAft>
            </a:pPr>
            <a:r>
              <a:rPr sz="1350" b="0">
                <a:solidFill>
                  <a:srgbClr val="1F2A3A"/>
                </a:solidFill>
                <a:latin typeface="맑은 고딕"/>
                <a:ea typeface="맑은 고딕"/>
                <a:cs typeface="맑은 고딕"/>
              </a:rPr>
              <a:t>긴급 대응 프로세스를 직접 그려 HYD에 연결하고 배포한 뒤 처리 건의 기록을 읽는다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추천한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71158346977495069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남은 일은 운전원, SCADA, CMMS처럼 서로 다른 쪽이 맡으며, 저마다 앞의 결과를 받아야 시작할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a:t>
            </a:r>
          </a:p>
          <a:p>
            <a:pPr algn="ctr">
              <a:lnSpc>
                <a:spcPct val="110000"/>
              </a:lnSpc>
              <a:spcAft>
                <a:spcPts val="400"/>
              </a:spcAft>
            </a:pPr>
            <a:r>
              <a:rPr sz="1250" b="0">
                <a:solidFill>
                  <a:srgbClr val="1F2A3A"/>
                </a:solidFill>
                <a:latin typeface="맑은 고딕"/>
                <a:ea typeface="맑은 고딕"/>
                <a:cs typeface="맑은 고딕"/>
              </a:rPr>
              <a:t>추천을 검토해</a:t>
            </a:r>
          </a:p>
          <a:p>
            <a:pPr algn="ctr">
              <a:lnSpc>
                <a:spcPct val="110000"/>
              </a:lnSpc>
              <a:spcAft>
                <a:spcPts val="400"/>
              </a:spcAft>
            </a:pPr>
            <a:r>
              <a:rPr sz="12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냉각 명령</a:t>
            </a:r>
          </a:p>
          <a:p>
            <a:pPr algn="ctr">
              <a:lnSpc>
                <a:spcPct val="110000"/>
              </a:lnSpc>
              <a:spcAft>
                <a:spcPts val="400"/>
              </a:spcAft>
            </a:pPr>
            <a:r>
              <a:rPr sz="1250" b="0">
                <a:solidFill>
                  <a:srgbClr val="1F2A3A"/>
                </a:solidFill>
                <a:latin typeface="맑은 고딕"/>
                <a:ea typeface="맑은 고딕"/>
                <a:cs typeface="맑은 고딕"/>
              </a:rPr>
              <a:t>SCADA</a:t>
            </a:r>
          </a:p>
          <a:p>
            <a:pPr algn="ctr">
              <a:lnSpc>
                <a:spcPct val="110000"/>
              </a:lnSpc>
              <a:spcAft>
                <a:spcPts val="400"/>
              </a:spcAft>
            </a:pPr>
            <a:r>
              <a:rPr sz="1250" b="0">
                <a:solidFill>
                  <a:srgbClr val="1F2A3A"/>
                </a:solidFill>
                <a:latin typeface="맑은 고딕"/>
                <a:ea typeface="맑은 고딕"/>
                <a:cs typeface="맑은 고딕"/>
              </a:rPr>
              <a:t>승인된 조치대로</a:t>
            </a:r>
          </a:p>
          <a:p>
            <a:pPr algn="ctr">
              <a:lnSpc>
                <a:spcPct val="110000"/>
              </a:lnSpc>
              <a:spcAft>
                <a:spcPts val="400"/>
              </a:spcAft>
            </a:pPr>
            <a:r>
              <a:rPr sz="1250" b="0">
                <a:solidFill>
                  <a:srgbClr val="1F2A3A"/>
                </a:solidFill>
                <a:latin typeface="맑은 고딕"/>
                <a:ea typeface="맑은 고딕"/>
                <a:cs typeface="맑은 고딕"/>
              </a:rPr>
              <a:t>PLC에 명령을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유온이 55 ℃ 미만으로</a:t>
            </a:r>
          </a:p>
          <a:p>
            <a:pPr algn="ctr">
              <a:lnSpc>
                <a:spcPct val="110000"/>
              </a:lnSpc>
              <a:spcAft>
                <a:spcPts val="400"/>
              </a:spcAft>
            </a:pPr>
            <a:r>
              <a:rPr sz="1250" b="0">
                <a:solidFill>
                  <a:srgbClr val="1F2A3A"/>
                </a:solidFill>
                <a:latin typeface="맑은 고딕"/>
                <a:ea typeface="맑은 고딕"/>
                <a:cs typeface="맑은 고딕"/>
              </a:rPr>
              <a:t>회복했는지 판정한다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 등록</a:t>
            </a:r>
          </a:p>
          <a:p>
            <a:pPr algn="ctr">
              <a:lnSpc>
                <a:spcPct val="110000"/>
              </a:lnSpc>
              <a:spcAft>
                <a:spcPts val="400"/>
              </a:spcAft>
            </a:pPr>
            <a:r>
              <a:rPr sz="1250" b="0">
                <a:solidFill>
                  <a:srgbClr val="1F2A3A"/>
                </a:solidFill>
                <a:latin typeface="맑은 고딕"/>
                <a:ea typeface="맑은 고딕"/>
                <a:cs typeface="맑은 고딕"/>
              </a:rPr>
              <a:t>CMMS</a:t>
            </a:r>
          </a:p>
          <a:p>
            <a:pPr algn="ctr">
              <a:lnSpc>
                <a:spcPct val="110000"/>
              </a:lnSpc>
              <a:spcAft>
                <a:spcPts val="400"/>
              </a:spcAft>
            </a:pPr>
            <a:r>
              <a:rPr sz="1250" b="0">
                <a:solidFill>
                  <a:srgbClr val="1F2A3A"/>
                </a:solidFill>
                <a:latin typeface="맑은 고딕"/>
                <a:ea typeface="맑은 고딕"/>
                <a:cs typeface="맑은 고딕"/>
              </a:rPr>
              <a:t>원인을 없앨 정비를</a:t>
            </a:r>
          </a:p>
          <a:p>
            <a:pPr algn="ctr">
              <a:lnSpc>
                <a:spcPct val="110000"/>
              </a:lnSpc>
              <a:spcAft>
                <a:spcPts val="400"/>
              </a:spcAft>
            </a:pPr>
            <a:r>
              <a:rPr sz="1250" b="0">
                <a:solidFill>
                  <a:srgbClr val="1F2A3A"/>
                </a:solidFill>
                <a:latin typeface="맑은 고딕"/>
                <a:ea typeface="맑은 고딕"/>
                <a:cs typeface="맑은 고딕"/>
              </a:rPr>
              <a:t>작업지시로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처리한 내용과</a:t>
            </a:r>
          </a:p>
          <a:p>
            <a:pPr algn="ctr">
              <a:lnSpc>
                <a:spcPct val="110000"/>
              </a:lnSpc>
              <a:spcAft>
                <a:spcPts val="400"/>
              </a:spcAft>
            </a:pPr>
            <a:r>
              <a:rPr sz="1250" b="0">
                <a:solidFill>
                  <a:srgbClr val="1F2A3A"/>
                </a:solidFill>
                <a:latin typeface="맑은 고딕"/>
                <a:ea typeface="맑은 고딕"/>
                <a:cs typeface="맑은 고딕"/>
              </a:rPr>
              <a:t>결과를 정리해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남은일_종단.svg" descr="illust_620864735857789661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프로세스를 정의하는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정의하는 일은 시작 조건, 입력, 출력, 책임자, 완료 조건의 다섯 가지를 실행 전에 정해 두는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 이벤트에 닿는다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COOLER_DEGRADATION인</a:t>
            </a:r>
          </a:p>
          <a:p>
            <a:pPr algn="l">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alertId</a:t>
            </a:r>
          </a:p>
          <a:p>
            <a:pPr algn="l">
              <a:lnSpc>
                <a:spcPct val="110000"/>
              </a:lnSpc>
              <a:spcAft>
                <a:spcPts val="400"/>
              </a:spcAft>
            </a:pPr>
            <a:r>
              <a:rPr sz="1400" b="0">
                <a:solidFill>
                  <a:srgbClr val="1F2A3A"/>
                </a:solidFill>
                <a:latin typeface="맑은 고딕"/>
                <a:ea typeface="맑은 고딕"/>
                <a:cs typeface="맑은 고딕"/>
              </a:rPr>
              <a:t>설비와 경보의 식별자가</a:t>
            </a:r>
          </a:p>
          <a:p>
            <a:pPr algn="l">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경보에 한 건</a:t>
            </a:r>
          </a:p>
          <a:p>
            <a:pPr algn="l">
              <a:lnSpc>
                <a:spcPct val="110000"/>
              </a:lnSpc>
              <a:spcAft>
                <a:spcPts val="400"/>
              </a:spcAft>
            </a:pPr>
            <a:r>
              <a:rPr sz="1400" b="0">
                <a:solidFill>
                  <a:srgbClr val="1F2A3A"/>
                </a:solidFill>
                <a:latin typeface="맑은 고딕"/>
                <a:ea typeface="맑은 고딕"/>
                <a:cs typeface="맑은 고딕"/>
              </a:rPr>
              <a:t>같은 경보로 처리 건이</a:t>
            </a:r>
          </a:p>
          <a:p>
            <a:pPr algn="l">
              <a:lnSpc>
                <a:spcPct val="110000"/>
              </a:lnSpc>
              <a:spcAft>
                <a:spcPts val="400"/>
              </a:spcAft>
            </a:pPr>
            <a:r>
              <a:rPr sz="1400" b="0">
                <a:solidFill>
                  <a:srgbClr val="1F2A3A"/>
                </a:solidFill>
                <a:latin typeface="맑은 고딕"/>
                <a:ea typeface="맑은 고딕"/>
                <a:cs typeface="맑은 고딕"/>
              </a:rPr>
              <a:t>두 번 열리지 않는다.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책임자는 사람의 이름이 아니라 역할로 정하며, 사람뿐 아니라 에이전트와 시스템도 작업의 책임자가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역할로 정한다</a:t>
            </a:r>
          </a:p>
          <a:p>
            <a:pPr algn="l">
              <a:lnSpc>
                <a:spcPct val="110000"/>
              </a:lnSpc>
              <a:spcAft>
                <a:spcPts val="400"/>
              </a:spcAft>
            </a:pPr>
            <a:r>
              <a:rPr sz="1400" b="0">
                <a:solidFill>
                  <a:srgbClr val="1F2A3A"/>
                </a:solidFill>
                <a:latin typeface="맑은 고딕"/>
                <a:ea typeface="맑은 고딕"/>
                <a:cs typeface="맑은 고딕"/>
              </a:rPr>
              <a:t>• 책임자를 사람의 이름이 아니라 운전원 같은 역할로 적는다</a:t>
            </a:r>
          </a:p>
          <a:p>
            <a:pPr algn="l">
              <a:lnSpc>
                <a:spcPct val="110000"/>
              </a:lnSpc>
              <a:spcAft>
                <a:spcPts val="400"/>
              </a:spcAft>
            </a:pPr>
            <a:r>
              <a:rPr sz="1400" b="0">
                <a:solidFill>
                  <a:srgbClr val="1F2A3A"/>
                </a:solidFill>
                <a:latin typeface="맑은 고딕"/>
                <a:ea typeface="맑은 고딕"/>
                <a:cs typeface="맑은 고딕"/>
              </a:rPr>
              <a:t>• 근무자가 바뀌어도 프로세스는 그대로 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사람만이 아니다</a:t>
            </a:r>
          </a:p>
          <a:p>
            <a:pPr algn="l">
              <a:lnSpc>
                <a:spcPct val="110000"/>
              </a:lnSpc>
              <a:spcAft>
                <a:spcPts val="400"/>
              </a:spcAft>
            </a:pPr>
            <a:r>
              <a:rPr sz="1400" b="0">
                <a:solidFill>
                  <a:srgbClr val="1F2A3A"/>
                </a:solidFill>
                <a:latin typeface="맑은 고딕"/>
                <a:ea typeface="맑은 고딕"/>
                <a:cs typeface="맑은 고딕"/>
              </a:rPr>
              <a:t>• 에이전트와 시스템도 작업을 맡는 책임자이다</a:t>
            </a:r>
          </a:p>
          <a:p>
            <a:pPr algn="l">
              <a:lnSpc>
                <a:spcPct val="110000"/>
              </a:lnSpc>
              <a:spcAft>
                <a:spcPts val="400"/>
              </a:spcAft>
            </a:pPr>
            <a:r>
              <a:rPr sz="1400" b="0">
                <a:solidFill>
                  <a:srgbClr val="1F2A3A"/>
                </a:solidFill>
                <a:latin typeface="맑은 고딕"/>
                <a:ea typeface="맑은 고딕"/>
                <a:cs typeface="맑은 고딕"/>
              </a:rPr>
              <a:t>• 판단, 결정, 실행이 서로 다른 쪽에 놓인다</a:t>
            </a:r>
          </a:p>
        </p:txBody>
      </p:sp>
      <p:sp>
        <p:nvSpPr>
          <p:cNvPr id="16" name="Rounded Rectangle 15"/>
          <p:cNvSpPr/>
          <p:nvPr/>
        </p:nvSpPr>
        <p:spPr>
          <a:xfrm>
            <a:off x="4566818" y="5149850"/>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작업마다 하나</a:t>
            </a:r>
          </a:p>
          <a:p>
            <a:pPr algn="l">
              <a:lnSpc>
                <a:spcPct val="110000"/>
              </a:lnSpc>
              <a:spcAft>
                <a:spcPts val="400"/>
              </a:spcAft>
            </a:pPr>
            <a:r>
              <a:rPr sz="1400" b="0">
                <a:solidFill>
                  <a:srgbClr val="1F2A3A"/>
                </a:solidFill>
                <a:latin typeface="맑은 고딕"/>
                <a:ea typeface="맑은 고딕"/>
                <a:cs typeface="맑은 고딕"/>
              </a:rPr>
              <a:t>작업마다 맡는 쪽이 하나로 정해져 있어 지금 누구의 차례인지가 분명하다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BPM은 분석, 설계, 실행, 모니터링, 개선의 다섯 단계를 되풀이하며, 개선의 결과는 다음 분석의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BPM주기.svg" descr="illust_883798628901621727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분석</a:t>
            </a:r>
          </a:p>
          <a:p>
            <a:pPr algn="ctr">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설계</a:t>
            </a:r>
          </a:p>
          <a:p>
            <a:pPr algn="ctr">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a:t>
            </a:r>
          </a:p>
          <a:p>
            <a:pPr algn="ctr">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모니터링</a:t>
            </a:r>
          </a:p>
          <a:p>
            <a:pPr algn="ctr">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개선</a:t>
            </a:r>
          </a:p>
          <a:p>
            <a:pPr algn="ctr">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단계의 일은 이 과정에서 프로세스를 그리고, 등록해 실행하고, 처리 건을 지켜보는 활동에 대응한다.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업무를 읽어 시작 조건, 책임자, 완료 조건을 가려낸다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경보 대응 업무의 정리</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 그리기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등록과 배포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건마다 단계의 담당, 대기,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 추적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 판본의 등록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현재와목표.svg" descr="illust_868312292620066581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AS-IS</a:t>
            </a:r>
          </a:p>
          <a:p>
            <a:pPr algn="ctr">
              <a:lnSpc>
                <a:spcPct val="110000"/>
              </a:lnSpc>
              <a:spcAft>
                <a:spcPts val="100"/>
              </a:spcAft>
            </a:pPr>
            <a:r>
              <a:rPr sz="1300" b="0">
                <a:solidFill>
                  <a:srgbClr val="556175"/>
                </a:solidFill>
                <a:latin typeface="맑은 고딕"/>
                <a:ea typeface="맑은 고딕"/>
                <a:cs typeface="맑은 고딕"/>
              </a:rPr>
              <a:t>지금의 방식</a:t>
            </a:r>
          </a:p>
          <a:p>
            <a:pPr algn="ctr">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TO-BE</a:t>
            </a:r>
          </a:p>
          <a:p>
            <a:pPr algn="ctr">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BPMN의 도형은 일어나는 일을 나타내는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요소묶음.svg" descr="illust_325294448849661424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흐름 객체</a:t>
            </a:r>
          </a:p>
          <a:p>
            <a:pPr algn="ctr">
              <a:lnSpc>
                <a:spcPct val="110000"/>
              </a:lnSpc>
              <a:spcAft>
                <a:spcPts val="100"/>
              </a:spcAft>
            </a:pPr>
            <a:r>
              <a:rPr sz="1300" b="0">
                <a:solidFill>
                  <a:srgbClr val="556175"/>
                </a:solidFill>
                <a:latin typeface="맑은 고딕"/>
                <a:ea typeface="맑은 고딕"/>
                <a:cs typeface="맑은 고딕"/>
              </a:rPr>
              <a:t>일어나는 일</a:t>
            </a:r>
          </a:p>
        </p:txBody>
      </p:sp>
      <p:sp>
        <p:nvSpPr>
          <p:cNvPr id="8" name="TextBox 7"/>
          <p:cNvSpPr txBox="1"/>
          <p:nvPr/>
        </p:nvSpPr>
        <p:spPr>
          <a:xfrm>
            <a:off x="5354001" y="2384023"/>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연결 객체</a:t>
            </a:r>
          </a:p>
          <a:p>
            <a:pPr algn="ctr">
              <a:lnSpc>
                <a:spcPct val="110000"/>
              </a:lnSpc>
              <a:spcAft>
                <a:spcPts val="100"/>
              </a:spcAft>
            </a:pPr>
            <a:r>
              <a:rPr sz="1300" b="0">
                <a:solidFill>
                  <a:srgbClr val="556175"/>
                </a:solidFill>
                <a:latin typeface="맑은 고딕"/>
                <a:ea typeface="맑은 고딕"/>
                <a:cs typeface="맑은 고딕"/>
              </a:rPr>
              <a:t>잇는 선</a:t>
            </a:r>
          </a:p>
        </p:txBody>
      </p:sp>
      <p:sp>
        <p:nvSpPr>
          <p:cNvPr id="9" name="TextBox 8"/>
          <p:cNvSpPr txBox="1"/>
          <p:nvPr/>
        </p:nvSpPr>
        <p:spPr>
          <a:xfrm>
            <a:off x="8321384" y="2384023"/>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스윔레인</a:t>
            </a:r>
          </a:p>
          <a:p>
            <a:pPr algn="ctr">
              <a:lnSpc>
                <a:spcPct val="110000"/>
              </a:lnSpc>
              <a:spcAft>
                <a:spcPts val="100"/>
              </a:spcAft>
            </a:pPr>
            <a:r>
              <a:rPr sz="1300" b="0">
                <a:solidFill>
                  <a:srgbClr val="556175"/>
                </a:solidFill>
                <a:latin typeface="맑은 고딕"/>
                <a:ea typeface="맑은 고딕"/>
                <a:cs typeface="맑은 고딕"/>
              </a:rPr>
              <a:t>맡는 쪽</a:t>
            </a:r>
          </a:p>
        </p:txBody>
      </p:sp>
      <p:sp>
        <p:nvSpPr>
          <p:cNvPr id="10" name="TextBox 9"/>
          <p:cNvSpPr txBox="1"/>
          <p:nvPr/>
        </p:nvSpPr>
        <p:spPr>
          <a:xfrm>
            <a:off x="957475"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흐름_전체.svg" descr="illust_836435288346494129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이벤트.svg" descr="illust_547428462007433475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작업종류.svg" descr="illust_411166979273386803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게이트웨이.svg" descr="illust_466444213635394102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풀과레인.svg" descr="illust_450100540143834443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메시지흐름.svg" descr="illust_98315602843526731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403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흐름</a:t>
            </a:r>
          </a:p>
          <a:p>
            <a:pPr algn="ctr">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경계타이머.svg" descr="illust_720909885780248791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승인자리.svg" descr="illust_515852969898701393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정의와인스턴스.svg" descr="illust_715040179827331904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흐름_토큰_승인대기.svg" descr="illust_524918450307493203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흐름_토큰_둘.svg" descr="illust_653448870438141482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승인된 조치 방법 chosen_skill은 운전원 승인이, work_order는 작업지시 등록이 만들었다.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역할의 작업함에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판단이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쿨러 핀 오염</a:t>
            </a:r>
          </a:p>
          <a:p>
            <a:pPr algn="l">
              <a:lnSpc>
                <a:spcPct val="110000"/>
              </a:lnSpc>
            </a:pPr>
            <a:r>
              <a:rPr sz="1250" b="1">
                <a:solidFill>
                  <a:srgbClr val="556175"/>
                </a:solidFill>
                <a:latin typeface="맑은 고딕"/>
                <a:ea typeface="맑은 고딕"/>
                <a:cs typeface="맑은 고딕"/>
              </a:rPr>
              <a:t>추천 SOP-COOL-11</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 조치와 대안</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a:t>
            </a:r>
          </a:p>
          <a:p>
            <a:pPr algn="l">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CMD-1010-0001-01d1</a:t>
            </a:r>
          </a:p>
          <a:p>
            <a:pPr algn="l">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51.3 ℃</a:t>
            </a:r>
          </a:p>
          <a:p>
            <a:pPr algn="l">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WO-1010-1198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정상 · 경보 해제</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감사 기록은 누가 무엇을 결정했는지를 나중에 확인하려고 남기는 기록이며, 처리 건의 시작과 승인과 종결이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11" name="TextBox 10"/>
          <p:cNvSpPr txBox="1"/>
          <p:nvPr/>
        </p:nvSpPr>
        <p:spPr>
          <a:xfrm>
            <a:off x="3200400" y="2029968"/>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4" name="TextBox 13"/>
          <p:cNvSpPr txBox="1"/>
          <p:nvPr/>
        </p:nvSpPr>
        <p:spPr>
          <a:xfrm>
            <a:off x="3200400" y="2894990"/>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7" name="TextBox 16"/>
          <p:cNvSpPr txBox="1"/>
          <p:nvPr/>
        </p:nvSpPr>
        <p:spPr>
          <a:xfrm>
            <a:off x="3200400" y="3760012"/>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4625035"/>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Rounded Rectangle 20"/>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23" name="TextBox 22"/>
          <p:cNvSpPr txBox="1"/>
          <p:nvPr/>
        </p:nvSpPr>
        <p:spPr>
          <a:xfrm>
            <a:off x="3200400" y="5490057"/>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업무 설계 도구의 기본 사용법 익히기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bpmn.io에서 요소를 배치하고 연결해 .bpmn 파일로 저장하고 불러온다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다루는 기능과 만들어지는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bpmn.io에서 요소를 놓고 이어 만든 그림이 .bpmn 파일 하나로 저장되고 다시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square-plus" descr="square-plus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배치</a:t>
            </a:r>
          </a:p>
          <a:p>
            <a:pPr algn="ctr">
              <a:lnSpc>
                <a:spcPct val="110000"/>
              </a:lnSpc>
              <a:spcAft>
                <a:spcPts val="400"/>
              </a:spcAft>
            </a:pPr>
            <a:r>
              <a:rPr sz="1250" b="0">
                <a:solidFill>
                  <a:srgbClr val="1F2A3A"/>
                </a:solidFill>
                <a:latin typeface="맑은 고딕"/>
                <a:ea typeface="맑은 고딕"/>
                <a:cs typeface="맑은 고딕"/>
              </a:rPr>
              <a:t>이벤트, 작업,</a:t>
            </a:r>
          </a:p>
          <a:p>
            <a:pPr algn="ctr">
              <a:lnSpc>
                <a:spcPct val="110000"/>
              </a:lnSpc>
              <a:spcAft>
                <a:spcPts val="400"/>
              </a:spcAft>
            </a:pPr>
            <a:r>
              <a:rPr sz="1250" b="0">
                <a:solidFill>
                  <a:srgbClr val="1F2A3A"/>
                </a:solidFill>
                <a:latin typeface="맑은 고딕"/>
                <a:ea typeface="맑은 고딕"/>
                <a:cs typeface="맑은 고딕"/>
              </a:rPr>
              <a:t>게이트웨이를</a:t>
            </a:r>
          </a:p>
          <a:p>
            <a:pPr algn="ctr">
              <a:lnSpc>
                <a:spcPct val="110000"/>
              </a:lnSpc>
              <a:spcAft>
                <a:spcPts val="400"/>
              </a:spcAft>
            </a:pPr>
            <a:r>
              <a:rPr sz="1250" b="0">
                <a:solidFill>
                  <a:srgbClr val="1F2A3A"/>
                </a:solidFill>
                <a:latin typeface="맑은 고딕"/>
                <a:ea typeface="맑은 고딕"/>
                <a:cs typeface="맑은 고딕"/>
              </a:rPr>
              <a:t>그림에 놓는다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line" descr="line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놓은 요소를</a:t>
            </a:r>
          </a:p>
          <a:p>
            <a:pPr algn="ctr">
              <a:lnSpc>
                <a:spcPct val="110000"/>
              </a:lnSpc>
              <a:spcAft>
                <a:spcPts val="400"/>
              </a:spcAft>
            </a:pPr>
            <a:r>
              <a:rPr sz="1250" b="0">
                <a:solidFill>
                  <a:srgbClr val="1F2A3A"/>
                </a:solidFill>
                <a:latin typeface="맑은 고딕"/>
                <a:ea typeface="맑은 고딕"/>
                <a:cs typeface="맑은 고딕"/>
              </a:rPr>
              <a:t>시퀀스 흐름으로</a:t>
            </a:r>
          </a:p>
          <a:p>
            <a:pPr algn="ctr">
              <a:lnSpc>
                <a:spcPct val="110000"/>
              </a:lnSpc>
              <a:spcAft>
                <a:spcPts val="400"/>
              </a:spcAft>
            </a:pPr>
            <a:r>
              <a:rPr sz="1250" b="0">
                <a:solidFill>
                  <a:srgbClr val="1F2A3A"/>
                </a:solidFill>
                <a:latin typeface="맑은 고딕"/>
                <a:ea typeface="맑은 고딕"/>
                <a:cs typeface="맑은 고딕"/>
              </a:rPr>
              <a:t>잇는다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수정과 속성</a:t>
            </a:r>
          </a:p>
          <a:p>
            <a:pPr algn="ctr">
              <a:lnSpc>
                <a:spcPct val="110000"/>
              </a:lnSpc>
              <a:spcAft>
                <a:spcPts val="400"/>
              </a:spcAft>
            </a:pPr>
            <a:r>
              <a:rPr sz="1250" b="0">
                <a:solidFill>
                  <a:srgbClr val="1F2A3A"/>
                </a:solidFill>
                <a:latin typeface="맑은 고딕"/>
                <a:ea typeface="맑은 고딕"/>
                <a:cs typeface="맑은 고딕"/>
              </a:rPr>
              <a:t>놓은 요소를 고치고</a:t>
            </a:r>
          </a:p>
          <a:p>
            <a:pPr algn="ctr">
              <a:lnSpc>
                <a:spcPct val="110000"/>
              </a:lnSpc>
              <a:spcAft>
                <a:spcPts val="400"/>
              </a:spcAft>
            </a:pPr>
            <a:r>
              <a:rPr sz="1250" b="0">
                <a:solidFill>
                  <a:srgbClr val="1F2A3A"/>
                </a:solidFill>
                <a:latin typeface="맑은 고딕"/>
                <a:ea typeface="맑은 고딕"/>
                <a:cs typeface="맑은 고딕"/>
              </a:rPr>
              <a:t>속성을 확인한다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device-floppy" descr="device-floppy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저장</a:t>
            </a:r>
          </a:p>
          <a:p>
            <a:pPr algn="ctr">
              <a:lnSpc>
                <a:spcPct val="110000"/>
              </a:lnSpc>
              <a:spcAft>
                <a:spcPts val="400"/>
              </a:spcAft>
            </a:pPr>
            <a:r>
              <a:rPr sz="1250" b="0">
                <a:solidFill>
                  <a:srgbClr val="1F2A3A"/>
                </a:solidFill>
                <a:latin typeface="맑은 고딕"/>
                <a:ea typeface="맑은 고딕"/>
                <a:cs typeface="맑은 고딕"/>
              </a:rPr>
              <a:t>그린 그림을</a:t>
            </a:r>
          </a:p>
          <a:p>
            <a:pPr algn="ctr">
              <a:lnSpc>
                <a:spcPct val="110000"/>
              </a:lnSpc>
              <a:spcAft>
                <a:spcPts val="400"/>
              </a:spcAft>
            </a:pPr>
            <a:r>
              <a:rPr sz="1250" b="0">
                <a:solidFill>
                  <a:srgbClr val="1F2A3A"/>
                </a:solidFill>
                <a:latin typeface="맑은 고딕"/>
                <a:ea typeface="맑은 고딕"/>
                <a:cs typeface="맑은 고딕"/>
              </a:rPr>
              <a:t>.bpmn 파일로</a:t>
            </a:r>
          </a:p>
          <a:p>
            <a:pPr algn="ctr">
              <a:lnSpc>
                <a:spcPct val="110000"/>
              </a:lnSpc>
              <a:spcAft>
                <a:spcPts val="400"/>
              </a:spcAft>
            </a:pPr>
            <a:r>
              <a:rPr sz="1250" b="0">
                <a:solidFill>
                  <a:srgbClr val="1F2A3A"/>
                </a:solidFill>
                <a:latin typeface="맑은 고딕"/>
                <a:ea typeface="맑은 고딕"/>
                <a:cs typeface="맑은 고딕"/>
              </a:rPr>
              <a:t>저장한다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older-open" descr="folder-open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불러오기</a:t>
            </a:r>
          </a:p>
          <a:p>
            <a:pPr algn="ctr">
              <a:lnSpc>
                <a:spcPct val="110000"/>
              </a:lnSpc>
              <a:spcAft>
                <a:spcPts val="400"/>
              </a:spcAft>
            </a:pPr>
            <a:r>
              <a:rPr sz="1250" b="0">
                <a:solidFill>
                  <a:srgbClr val="1F2A3A"/>
                </a:solidFill>
                <a:latin typeface="맑은 고딕"/>
                <a:ea typeface="맑은 고딕"/>
                <a:cs typeface="맑은 고딕"/>
              </a:rPr>
              <a:t>저장한 파일을</a:t>
            </a:r>
          </a:p>
          <a:p>
            <a:pPr algn="ctr">
              <a:lnSpc>
                <a:spcPct val="110000"/>
              </a:lnSpc>
              <a:spcAft>
                <a:spcPts val="400"/>
              </a:spcAft>
            </a:pPr>
            <a:r>
              <a:rPr sz="1250" b="0">
                <a:solidFill>
                  <a:srgbClr val="1F2A3A"/>
                </a:solidFill>
                <a:latin typeface="맑은 고딕"/>
                <a:ea typeface="맑은 고딕"/>
                <a:cs typeface="맑은 고딕"/>
              </a:rPr>
              <a:t>다시 열어</a:t>
            </a:r>
          </a:p>
          <a:p>
            <a:pPr algn="ctr">
              <a:lnSpc>
                <a:spcPct val="110000"/>
              </a:lnSpc>
              <a:spcAft>
                <a:spcPts val="400"/>
              </a:spcAft>
            </a:pPr>
            <a:r>
              <a:rPr sz="1250" b="0">
                <a:solidFill>
                  <a:srgbClr val="1F2A3A"/>
                </a:solidFill>
                <a:latin typeface="맑은 고딕"/>
                <a:ea typeface="맑은 고딕"/>
                <a:cs typeface="맑은 고딕"/>
              </a:rPr>
              <a:t>그림을 확인한다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거절 종결까지를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거절 종결에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역할별 레인을 갖춘 설비 이상 대응의 흐름을 그린다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레인과 작업의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쿨러 경보에서 결과 보고까지의 작업이 역할별 레인에 놓여 이어진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레인</a:t>
            </a:r>
          </a:p>
          <a:p>
            <a:pPr algn="l">
              <a:lnSpc>
                <a:spcPct val="110000"/>
              </a:lnSpc>
              <a:spcAft>
                <a:spcPts val="400"/>
              </a:spcAft>
            </a:pPr>
            <a:r>
              <a:rPr sz="1400" b="0">
                <a:solidFill>
                  <a:srgbClr val="1F2A3A"/>
                </a:solidFill>
                <a:latin typeface="맑은 고딕"/>
                <a:ea typeface="맑은 고딕"/>
                <a:cs typeface="맑은 고딕"/>
              </a:rPr>
              <a:t>• 쿨러 경보를 받는 메시지 시작 이벤트를 둔다</a:t>
            </a:r>
          </a:p>
          <a:p>
            <a:pPr algn="l">
              <a:lnSpc>
                <a:spcPct val="110000"/>
              </a:lnSpc>
              <a:spcAft>
                <a:spcPts val="400"/>
              </a:spcAft>
            </a:pPr>
            <a:r>
              <a:rPr sz="1400" b="0">
                <a:solidFill>
                  <a:srgbClr val="1F2A3A"/>
                </a:solidFill>
                <a:latin typeface="맑은 고딕"/>
                <a:ea typeface="맑은 고딕"/>
                <a:cs typeface="맑은 고딕"/>
              </a:rPr>
              <a:t>• 원인 진단과 조치 제안을 표식 없는 작업으로 그린다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진단과 제안</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레인</a:t>
            </a:r>
          </a:p>
          <a:p>
            <a:pPr algn="l">
              <a:lnSpc>
                <a:spcPct val="110000"/>
              </a:lnSpc>
              <a:spcAft>
                <a:spcPts val="400"/>
              </a:spcAft>
            </a:pPr>
            <a:r>
              <a:rPr sz="1400" b="0">
                <a:solidFill>
                  <a:srgbClr val="1F2A3A"/>
                </a:solidFill>
                <a:latin typeface="맑은 고딕"/>
                <a:ea typeface="맑은 고딕"/>
                <a:cs typeface="맑은 고딕"/>
              </a:rPr>
              <a:t>• 운전원 승인을 사용자 작업으로 그린다</a:t>
            </a:r>
          </a:p>
          <a:p>
            <a:pPr algn="l">
              <a:lnSpc>
                <a:spcPct val="110000"/>
              </a:lnSpc>
              <a:spcAft>
                <a:spcPts val="400"/>
              </a:spcAft>
            </a:pPr>
            <a:r>
              <a:rPr sz="1400" b="0">
                <a:solidFill>
                  <a:srgbClr val="1F2A3A"/>
                </a:solidFill>
                <a:latin typeface="맑은 고딕"/>
                <a:ea typeface="맑은 고딕"/>
                <a:cs typeface="맑은 고딕"/>
              </a:rPr>
              <a:t>• 에이전트의 제안 뒤, 냉각 명령 앞에 놓는다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rver" descr="server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레인</a:t>
            </a:r>
          </a:p>
          <a:p>
            <a:pPr algn="l">
              <a:lnSpc>
                <a:spcPct val="110000"/>
              </a:lnSpc>
              <a:spcAft>
                <a:spcPts val="400"/>
              </a:spcAft>
            </a:pPr>
            <a:r>
              <a:rPr sz="1400" b="0">
                <a:solidFill>
                  <a:srgbClr val="1F2A3A"/>
                </a:solidFill>
                <a:latin typeface="맑은 고딕"/>
                <a:ea typeface="맑은 고딕"/>
                <a:cs typeface="맑은 고딕"/>
              </a:rPr>
              <a:t>• PLC로 가는 냉각 명령을 서비스 작업으로 그린다</a:t>
            </a:r>
          </a:p>
          <a:p>
            <a:pPr algn="l">
              <a:lnSpc>
                <a:spcPct val="110000"/>
              </a:lnSpc>
              <a:spcAft>
                <a:spcPts val="400"/>
              </a:spcAft>
            </a:pPr>
            <a:r>
              <a:rPr sz="1400" b="0">
                <a:solidFill>
                  <a:srgbClr val="1F2A3A"/>
                </a:solidFill>
                <a:latin typeface="맑은 고딕"/>
                <a:ea typeface="맑은 고딕"/>
                <a:cs typeface="맑은 고딕"/>
              </a:rPr>
              <a:t>• 효과를 다시 확인하는 재관측과 결과 보고를 그 뒤에 잇는다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명령과 확인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조건과 예외를 반영한</a:t>
            </a:r>
          </a:p>
          <a:p>
            <a:pPr algn="l">
              <a:lnSpc>
                <a:spcPct val="110000"/>
              </a:lnSpc>
            </a:pPr>
            <a:r>
              <a:rPr sz="3400" b="1">
                <a:solidFill>
                  <a:srgbClr val="13294B"/>
                </a:solidFill>
                <a:latin typeface="맑은 고딕"/>
                <a:ea typeface="맑은 고딕"/>
                <a:cs typeface="맑은 고딕"/>
              </a:rPr>
              <a:t>안전한 흐름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갈림, 거절 종결, 승인 지연 알림을 더한다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갈림, 끝, 지연 알림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실습에서 더하는 갈림과 타이머는 거절과 무응답의 경우에 설비 명령이 나가지 않게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갈림</a:t>
            </a:r>
          </a:p>
          <a:p>
            <a:pPr algn="l">
              <a:lnSpc>
                <a:spcPct val="110000"/>
              </a:lnSpc>
              <a:spcAft>
                <a:spcPts val="400"/>
              </a:spcAft>
            </a:pPr>
            <a:r>
              <a:rPr sz="1400" b="0">
                <a:solidFill>
                  <a:srgbClr val="1F2A3A"/>
                </a:solidFill>
                <a:latin typeface="맑은 고딕"/>
                <a:ea typeface="맑은 고딕"/>
                <a:cs typeface="맑은 고딕"/>
              </a:rPr>
              <a:t>• 운전원 승인 뒤에 배타 게이트웨이를 둔다</a:t>
            </a:r>
          </a:p>
          <a:p>
            <a:pPr algn="l">
              <a:lnSpc>
                <a:spcPct val="110000"/>
              </a:lnSpc>
              <a:spcAft>
                <a:spcPts val="400"/>
              </a:spcAft>
            </a:pPr>
            <a:r>
              <a:rPr sz="1400" b="0">
                <a:solidFill>
                  <a:srgbClr val="1F2A3A"/>
                </a:solidFill>
                <a:latin typeface="맑은 고딕"/>
                <a:ea typeface="맑은 고딕"/>
                <a:cs typeface="맑은 고딕"/>
              </a:rPr>
              <a:t>• 승인 쪽 선만 냉각 명령으로 가므로 거절하면 명령이 실행되지 않는다</a:t>
            </a:r>
          </a:p>
        </p:txBody>
      </p:sp>
      <p:sp>
        <p:nvSpPr>
          <p:cNvPr id="10" name="Rounded Rectangle 9"/>
          <p:cNvSpPr/>
          <p:nvPr/>
        </p:nvSpPr>
        <p:spPr>
          <a:xfrm>
            <a:off x="777240" y="5149850"/>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lag" descr="flag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종결</a:t>
            </a:r>
          </a:p>
          <a:p>
            <a:pPr algn="l">
              <a:lnSpc>
                <a:spcPct val="110000"/>
              </a:lnSpc>
              <a:spcAft>
                <a:spcPts val="400"/>
              </a:spcAft>
            </a:pPr>
            <a:r>
              <a:rPr sz="1400" b="0">
                <a:solidFill>
                  <a:srgbClr val="1F2A3A"/>
                </a:solidFill>
                <a:latin typeface="맑은 고딕"/>
                <a:ea typeface="맑은 고딕"/>
                <a:cs typeface="맑은 고딕"/>
              </a:rPr>
              <a:t>거절 쪽 선은 결과 보고: 거절을 거쳐 따로 둔 끝 이벤트에 닿는다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 이벤트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지연 알림</a:t>
            </a:r>
          </a:p>
          <a:p>
            <a:pPr algn="l">
              <a:lnSpc>
                <a:spcPct val="110000"/>
              </a:lnSpc>
              <a:spcAft>
                <a:spcPts val="400"/>
              </a:spcAft>
            </a:pPr>
            <a:r>
              <a:rPr sz="1400" b="0">
                <a:solidFill>
                  <a:srgbClr val="1F2A3A"/>
                </a:solidFill>
                <a:latin typeface="맑은 고딕"/>
                <a:ea typeface="맑은 고딕"/>
                <a:cs typeface="맑은 고딕"/>
              </a:rPr>
              <a:t>• 운전원 승인에 비중단형 타이머를 붙여 알림 가지를 연다</a:t>
            </a:r>
          </a:p>
          <a:p>
            <a:pPr algn="l">
              <a:lnSpc>
                <a:spcPct val="110000"/>
              </a:lnSpc>
              <a:spcAft>
                <a:spcPts val="400"/>
              </a:spcAft>
            </a:pPr>
            <a:r>
              <a:rPr sz="1400" b="0">
                <a:solidFill>
                  <a:srgbClr val="1F2A3A"/>
                </a:solidFill>
                <a:latin typeface="맑은 고딕"/>
                <a:ea typeface="맑은 고딕"/>
                <a:cs typeface="맑은 고딕"/>
              </a:rPr>
              <a:t>• 알림이 나가도 승인 작업은 취소되지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HYD로 가져와 시작 조건과 맡을 쪽을 정한다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그린 프로세스의 시작 이벤트와 작업마다 그것을 열 경보와 수행할 쪽이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그림이 정해 둔 것</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작업의 순서와 갈림</a:t>
            </a:r>
          </a:p>
          <a:p>
            <a:pPr algn="l">
              <a:lnSpc>
                <a:spcPct val="110000"/>
              </a:lnSpc>
              <a:spcAft>
                <a:spcPts val="600"/>
              </a:spcAft>
            </a:pPr>
            <a:r>
              <a:rPr sz="1450" b="0">
                <a:solidFill>
                  <a:srgbClr val="1F2A3A"/>
                </a:solidFill>
                <a:latin typeface="맑은 고딕"/>
                <a:ea typeface="맑은 고딕"/>
                <a:cs typeface="맑은 고딕"/>
              </a:rPr>
              <a:t>• 작업이 놓인 레인</a:t>
            </a:r>
          </a:p>
          <a:p>
            <a:pPr algn="l">
              <a:lnSpc>
                <a:spcPct val="110000"/>
              </a:lnSpc>
              <a:spcAft>
                <a:spcPts val="600"/>
              </a:spcAft>
            </a:pPr>
            <a:r>
              <a:rPr sz="1450" b="0">
                <a:solidFill>
                  <a:srgbClr val="1F2A3A"/>
                </a:solidFill>
                <a:latin typeface="맑은 고딕"/>
                <a:ea typeface="맑은 고딕"/>
                <a:cs typeface="맑은 고딕"/>
              </a:rPr>
              <a:t>• 사용자 작업과 서비스 작업의 구분</a:t>
            </a:r>
          </a:p>
        </p:txBody>
      </p:sp>
      <p:sp>
        <p:nvSpPr>
          <p:cNvPr id="11" name="Rounded Rectangle 10"/>
          <p:cNvSpPr/>
          <p:nvPr/>
        </p:nvSpPr>
        <p:spPr>
          <a:xfrm>
            <a:off x="868680" y="5396865"/>
            <a:ext cx="1094232"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094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BPMN 파일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 실습에서 잇는 것</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시작 이벤트를 여는 쿨러 성능 저하 경보</a:t>
            </a:r>
          </a:p>
          <a:p>
            <a:pPr algn="l">
              <a:lnSpc>
                <a:spcPct val="110000"/>
              </a:lnSpc>
              <a:spcAft>
                <a:spcPts val="600"/>
              </a:spcAft>
            </a:pPr>
            <a:r>
              <a:rPr sz="1450" b="0">
                <a:solidFill>
                  <a:srgbClr val="1F2A3A"/>
                </a:solidFill>
                <a:latin typeface="맑은 고딕"/>
                <a:ea typeface="맑은 고딕"/>
                <a:cs typeface="맑은 고딕"/>
              </a:rPr>
              <a:t>• 진단과 제안을 수행할 기존의 냉각 긴급 대응 에이전트</a:t>
            </a:r>
          </a:p>
          <a:p>
            <a:pPr algn="l">
              <a:lnSpc>
                <a:spcPct val="110000"/>
              </a:lnSpc>
              <a:spcAft>
                <a:spcPts val="600"/>
              </a:spcAft>
            </a:pPr>
            <a:r>
              <a:rPr sz="1450" b="0">
                <a:solidFill>
                  <a:srgbClr val="1F2A3A"/>
                </a:solidFill>
                <a:latin typeface="맑은 고딕"/>
                <a:ea typeface="맑은 고딕"/>
                <a:cs typeface="맑은 고딕"/>
              </a:rPr>
              <a:t>• 승인을 맡을 운전원 역할</a:t>
            </a:r>
          </a:p>
          <a:p>
            <a:pPr algn="l">
              <a:lnSpc>
                <a:spcPct val="110000"/>
              </a:lnSpc>
              <a:spcAft>
                <a:spcPts val="600"/>
              </a:spcAft>
            </a:pPr>
            <a:r>
              <a:rPr sz="1450" b="0">
                <a:solidFill>
                  <a:srgbClr val="1F2A3A"/>
                </a:solidFill>
                <a:latin typeface="맑은 고딕"/>
                <a:ea typeface="맑은 고딕"/>
                <a:cs typeface="맑은 고딕"/>
              </a:rPr>
              <a:t>• 냉각 명령, 재관측, 결과 보고를 수행할 시스템 단계</a:t>
            </a:r>
          </a:p>
        </p:txBody>
      </p:sp>
      <p:sp>
        <p:nvSpPr>
          <p:cNvPr id="18" name="Rounded Rectangle 17"/>
          <p:cNvSpPr/>
          <p:nvPr/>
        </p:nvSpPr>
        <p:spPr>
          <a:xfrm>
            <a:off x="6781647" y="5396865"/>
            <a:ext cx="145694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56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HYD에서의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연결 오류를 검사하고 배포하기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사전 검사에서 잡히는 누락을 고치고 통과한 정의를 등록하고 배포한다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누락과 배포되는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사전 검사는 맡을 쪽이 빠진 작업과 조건이 빠진 갈림을 등록 전에 잡아내며, 이를 고쳐 통과한 정의를 등록하고 배포한다.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사전 검사</a:t>
            </a:r>
          </a:p>
          <a:p>
            <a:pPr algn="ctr">
              <a:lnSpc>
                <a:spcPct val="110000"/>
              </a:lnSpc>
              <a:spcAft>
                <a:spcPts val="400"/>
              </a:spcAft>
            </a:pPr>
            <a:r>
              <a:rPr sz="1350" b="0">
                <a:solidFill>
                  <a:srgbClr val="1F2A3A"/>
                </a:solidFill>
                <a:latin typeface="맑은 고딕"/>
                <a:ea typeface="맑은 고딕"/>
                <a:cs typeface="맑은 고딕"/>
              </a:rPr>
              <a:t>연결한 흐름에</a:t>
            </a:r>
          </a:p>
          <a:p>
            <a:pPr algn="ctr">
              <a:lnSpc>
                <a:spcPct val="110000"/>
              </a:lnSpc>
              <a:spcAft>
                <a:spcPts val="400"/>
              </a:spcAft>
            </a:pPr>
            <a:r>
              <a:rPr sz="1350" b="0">
                <a:solidFill>
                  <a:srgbClr val="1F2A3A"/>
                </a:solidFill>
                <a:latin typeface="맑은 고딕"/>
                <a:ea typeface="맑은 고딕"/>
                <a:cs typeface="맑은 고딕"/>
              </a:rPr>
              <a:t>빠진 것이 없는지</a:t>
            </a:r>
          </a:p>
          <a:p>
            <a:pPr algn="ctr">
              <a:lnSpc>
                <a:spcPct val="110000"/>
              </a:lnSpc>
              <a:spcAft>
                <a:spcPts val="400"/>
              </a:spcAft>
            </a:pPr>
            <a:r>
              <a:rPr sz="1350" b="0">
                <a:solidFill>
                  <a:srgbClr val="1F2A3A"/>
                </a:solidFill>
                <a:latin typeface="맑은 고딕"/>
                <a:ea typeface="맑은 고딕"/>
                <a:cs typeface="맑은 고딕"/>
              </a:rPr>
              <a:t>등록 전에 검사한다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누락의 확인</a:t>
            </a:r>
          </a:p>
          <a:p>
            <a:pPr algn="ctr">
              <a:lnSpc>
                <a:spcPct val="110000"/>
              </a:lnSpc>
              <a:spcAft>
                <a:spcPts val="400"/>
              </a:spcAft>
            </a:pPr>
            <a:r>
              <a:rPr sz="1350" b="0">
                <a:solidFill>
                  <a:srgbClr val="1F2A3A"/>
                </a:solidFill>
                <a:latin typeface="맑은 고딕"/>
                <a:ea typeface="맑은 고딕"/>
                <a:cs typeface="맑은 고딕"/>
              </a:rPr>
              <a:t>맡을 쪽이 빠진 작업과</a:t>
            </a:r>
          </a:p>
          <a:p>
            <a:pPr algn="ctr">
              <a:lnSpc>
                <a:spcPct val="110000"/>
              </a:lnSpc>
              <a:spcAft>
                <a:spcPts val="400"/>
              </a:spcAft>
            </a:pPr>
            <a:r>
              <a:rPr sz="1350" b="0">
                <a:solidFill>
                  <a:srgbClr val="1F2A3A"/>
                </a:solidFill>
                <a:latin typeface="맑은 고딕"/>
                <a:ea typeface="맑은 고딕"/>
                <a:cs typeface="맑은 고딕"/>
              </a:rPr>
              <a:t>조건이 빠진 갈림을</a:t>
            </a:r>
          </a:p>
          <a:p>
            <a:pPr algn="ctr">
              <a:lnSpc>
                <a:spcPct val="110000"/>
              </a:lnSpc>
              <a:spcAft>
                <a:spcPts val="400"/>
              </a:spcAft>
            </a:pPr>
            <a:r>
              <a:rPr sz="1350" b="0">
                <a:solidFill>
                  <a:srgbClr val="1F2A3A"/>
                </a:solidFill>
                <a:latin typeface="맑은 고딕"/>
                <a:ea typeface="맑은 고딕"/>
                <a:cs typeface="맑은 고딕"/>
              </a:rPr>
              <a:t>검사 결과에서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수정</a:t>
            </a:r>
          </a:p>
          <a:p>
            <a:pPr algn="ctr">
              <a:lnSpc>
                <a:spcPct val="110000"/>
              </a:lnSpc>
              <a:spcAft>
                <a:spcPts val="400"/>
              </a:spcAft>
            </a:pPr>
            <a:r>
              <a:rPr sz="1350" b="0">
                <a:solidFill>
                  <a:srgbClr val="1F2A3A"/>
                </a:solidFill>
                <a:latin typeface="맑은 고딕"/>
                <a:ea typeface="맑은 고딕"/>
                <a:cs typeface="맑은 고딕"/>
              </a:rPr>
              <a:t>빠진 연결과 조건을</a:t>
            </a:r>
          </a:p>
          <a:p>
            <a:pPr algn="ctr">
              <a:lnSpc>
                <a:spcPct val="110000"/>
              </a:lnSpc>
              <a:spcAft>
                <a:spcPts val="400"/>
              </a:spcAft>
            </a:pPr>
            <a:r>
              <a:rPr sz="1350" b="0">
                <a:solidFill>
                  <a:srgbClr val="1F2A3A"/>
                </a:solidFill>
                <a:latin typeface="맑은 고딕"/>
                <a:ea typeface="맑은 고딕"/>
                <a:cs typeface="맑은 고딕"/>
              </a:rPr>
              <a:t>채우고</a:t>
            </a:r>
          </a:p>
          <a:p>
            <a:pPr algn="ctr">
              <a:lnSpc>
                <a:spcPct val="110000"/>
              </a:lnSpc>
              <a:spcAft>
                <a:spcPts val="400"/>
              </a:spcAft>
            </a:pPr>
            <a:r>
              <a:rPr sz="1350" b="0">
                <a:solidFill>
                  <a:srgbClr val="1F2A3A"/>
                </a:solidFill>
                <a:latin typeface="맑은 고딕"/>
                <a:ea typeface="맑은 고딕"/>
                <a:cs typeface="맑은 고딕"/>
              </a:rPr>
              <a:t>다시 검사한다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cket" descr="rocke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등록과 배포</a:t>
            </a:r>
          </a:p>
          <a:p>
            <a:pPr algn="ctr">
              <a:lnSpc>
                <a:spcPct val="110000"/>
              </a:lnSpc>
              <a:spcAft>
                <a:spcPts val="400"/>
              </a:spcAft>
            </a:pPr>
            <a:r>
              <a:rPr sz="1350" b="0">
                <a:solidFill>
                  <a:srgbClr val="1F2A3A"/>
                </a:solidFill>
                <a:latin typeface="맑은 고딕"/>
                <a:ea typeface="맑은 고딕"/>
                <a:cs typeface="맑은 고딕"/>
              </a:rPr>
              <a:t>검사를 통과한 정의를</a:t>
            </a:r>
          </a:p>
          <a:p>
            <a:pPr algn="ctr">
              <a:lnSpc>
                <a:spcPct val="110000"/>
              </a:lnSpc>
              <a:spcAft>
                <a:spcPts val="400"/>
              </a:spcAft>
            </a:pPr>
            <a:r>
              <a:rPr sz="1350" b="0">
                <a:solidFill>
                  <a:srgbClr val="1F2A3A"/>
                </a:solidFill>
                <a:latin typeface="맑은 고딕"/>
                <a:ea typeface="맑은 고딕"/>
                <a:cs typeface="맑은 고딕"/>
              </a:rPr>
              <a:t>판본으로 등록하고</a:t>
            </a:r>
          </a:p>
          <a:p>
            <a:pPr algn="ctr">
              <a:lnSpc>
                <a:spcPct val="110000"/>
              </a:lnSpc>
              <a:spcAft>
                <a:spcPts val="400"/>
              </a:spcAft>
            </a:pPr>
            <a:r>
              <a:rPr sz="1350" b="0">
                <a:solidFill>
                  <a:srgbClr val="1F2A3A"/>
                </a:solidFill>
                <a:latin typeface="맑은 고딕"/>
                <a:ea typeface="맑은 고딕"/>
                <a:cs typeface="맑은 고딕"/>
              </a:rPr>
              <a:t>경보를 받도록 배포한다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 한 건과 그 처리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35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350" b="0">
                <a:solidFill>
                  <a:srgbClr val="1F2A3A"/>
                </a:solidFill>
                <a:latin typeface="맑은 고딕"/>
                <a:ea typeface="맑은 고딕"/>
                <a:cs typeface="맑은 고딕"/>
              </a:rPr>
              <a:t>에이전트의 판단 뒤 운전원 승인에서 기다리는 상태를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350" b="0">
                <a:solidFill>
                  <a:srgbClr val="1F2A3A"/>
                </a:solidFill>
                <a:latin typeface="맑은 고딕"/>
                <a:ea typeface="맑은 고딕"/>
                <a:cs typeface="맑은 고딕"/>
              </a:rPr>
              <a:t>승인 뒤 명령, 재관측을 거쳐 닿은 끝 이벤트와 결과를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left" descr="arrows-right-lef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흐름의 비교</a:t>
            </a:r>
          </a:p>
          <a:p>
            <a:pPr algn="l">
              <a:lnSpc>
                <a:spcPct val="110000"/>
              </a:lnSpc>
              <a:spcAft>
                <a:spcPts val="400"/>
              </a:spcAft>
            </a:pPr>
            <a:r>
              <a:rPr sz="1350" b="0">
                <a:solidFill>
                  <a:srgbClr val="1F2A3A"/>
                </a:solidFill>
                <a:latin typeface="맑은 고딕"/>
                <a:ea typeface="맑은 고딕"/>
                <a:cs typeface="맑은 고딕"/>
              </a:rPr>
              <a:t>직접 배포한 흐름과 처음부터 배포되어 있던 흐름이 어떻게 다른지 견준다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추천해 판단을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