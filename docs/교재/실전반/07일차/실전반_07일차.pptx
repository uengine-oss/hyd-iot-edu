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지난 시간에는 긴급 대응 프로세스 하나를 정의하고 그려서 실행했습니다. 오늘은 그 설계를 정비와 구매 업무에 다시 쓰는 방법을 다루고, 네 개의 실습에서 두 프로세스를 직접 그려 실행합니다. 마지막에는 프로세스 영역 전체를 정리합니다. 이 네 가지를 자료 없이 자신의 말로 설명할 수 있는지가 오늘의 기준입니다.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지난 시간에 쿨러 성능 저하 경보를 긴급 대응 프로세스로 끝까지 처리했습니다. 그런데 공장의 업무는 설비 경보만이 아닙니다. HYD-02는 운전시간이 1,950시간에 이르러 정기 점검이 도래했고, HYD-03에 쓰는 펌프 축 씰 키트는 가용 재고가 1개뿐입니다. 이 두 업무에는 아직 프로세스가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업무를 같은 네 가지 물음으로 견주어 보겠습니다. 무엇으로 시작하는가, 어느 에이전트가 판단하는가, 누가 승인하는가, 승인 뒤에 어느 시스템이 실행하는가입니다. 에이전트는 냉각 긴급 대응 에이전트, 정기 정비 계획 에이전트, 예비품 구매 에이전트로 서로 다르고, 추천 하나와 대안과 그 이유를 묶어 내는 추천안의 내용도 냉각 조치, 정비할 시점, 발주안으로 다릅니다. 그런데 에이전트가 제안하고 사람이 승인하고 시스템이 처리해 보고하는 순서는 세 업무가 같습니다. ERP는 구매와 재고를 관리하는 전사적 자원 관리 시스템입니다.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가지 가운데 시작 조건부터 보겠습니다. 긴급 대응의 시작 조건은 센서 값의 규칙이었습니다. 유온이 55도를 넘고 냉각 효율이 70 % 아래이며 유온이 오르는 중일 때 경보가 났습니다. 정기 점검과 재고 보충은 센서가 아니라 업무 시스템에 쌓인 데이터가 기준에 닿을 때 시작합니다. 운전시간이 점검 주기에 가까워지거나, 가용 재고가 재주문점보다 적어질 때입니다.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정기 점검의 시작 조건입니다. 정기 점검은 고장이 난 뒤에 고치는 것이 아니라 운전시간을 기준으로 미리 하는 예방 정비, 영어로 Preventive Maintenance입니다. HYD-02의 점검 주기는 2,000시간이고, 준비할 시간을 두려고 50시간 앞인 1,950시간에 도래 경보가 납니다. 경보 패턴 PM_DUE의 PM이 예방 정비의 약어입니다.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재고 보충의 시작 조건입니다. 창고에는 펌프 축 씰 키트가 3개 있지만 2개는 예정된 정비에 쓰기로 예약되어 있어, 새로 쓸 수 있는 가용 재고는 1개입니다. 재주문점은 재고가 이 수량 아래로 내려가면 다시 주문해야 하는 기준이며 여기서는 2개입니다. 가용 재고 1개가 재주문점 2개보다 적으므로 재고 부족 경보가 납니다. 목표 재고 7개까지 채우는 데 필요한 수량은 6개입니다.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달라지는 네 가지를 보았으니 이제 같은 것을 보겠습니다. 위에서부터 긴급 대응, 정기 점검, 재고 보충의 뼈대입니다. 세 줄 모두 경보로 시작해 에이전트가 제안하고, 사람이 승인하거나 거절하고, 시스템이 처리한 뒤 결과를 보고합니다. 하늘색 띠 안의 승인 작업과 갈림은 세 줄이 같은 자리, 같은 모양이어서 같은 승인 블록이라고 적었습니다. 달라지는 것은 띠의 오른쪽에 이어지는 시스템 작업의 수와 내용입니다.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이렇게 여러 곳에서 되풀이되는 구조를 패턴이라고 합니다. 한 번 풀어서 검증해 둔 구조를 다음에도 다시 쓰는 것입니다. 세 프로세스에 똑같이 들어 있는 승인의 자리, 곧 승인 작업과 갈림과 지연 타이머와 거절의 결과 보고를 묶어 이 수업에서는 승인 블록이라고 부르겠습니다. 패턴을 다시 쓰면 긴급 대응에서 이미 확인한 거절과 무응답의 경로가 새 프로세스에도 그대로 들어갑니다.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지난 시간에 읽은 승인을 받는 자리의 그림입니다. 하늘색으로 칠한 일곱 요소, 곧 승인 작업, 승인 지연 타이머, 승인 지연 알림, 승인? 게이트웨이, 결과 보고: 거절, 그리고 끝 이벤트 둘은 세 프로세스에서 식별자까지 같습니다. 기한 10분과 승인의 조건도 같습니다. 파란 점선으로 표시한 두 자리만 바뀝니다. 하나는 승인 역할이고, 다른 하나는 승인 뒤에 이어지는 첫 작업입니다.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승인 블록을 다시 써서 그린 정기 점검 프로세스입니다. 하늘색 요소는 긴급 대응 프로세스의 승인 블록과 같고, 승인 역할만 설비보전팀장으로 바뀌었습니다. 새로 그린 것은 흰 요소 넷입니다. 정기 점검 요청이라는 시작 이벤트, 에이전트의 정비 계획 제안, 그리고 승인 뒤의 정비 오더 등록 · 공지 메일과 결과 보고입니다. 작업은 여섯, 게이트웨이는 하나, 끝 이벤트는 셋입니다.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재고 보충 프로세스도 같은 방법으로 그립니다. 하늘색 승인 블록은 그대로이고 승인 역할이 구매 담당입니다. 승인 뒤에는 ERP 발주 · 공급사 메일, 입고 · 재고 반영, 결과 보고의 세 작업이 이어집니다. 정기 점검보다 시스템 작업이 하나 많아 작업은 일곱입니다. 두 그림을 견주면 승인 블록의 오른쪽에 무엇을 잇느냐만 다릅니다.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그림에서 얻는 설계 원리를 정리합니다. 변하지 않는 것, 곧 작업의 순서와 승인 블록과 예외 경로는 그림의 구조로 남깁니다. 업무마다 변하는 것은 그림을 실행할 수 있게 연결할 때 값으로 넣습니다. 어떤 경보 패턴이 여는지, 어느 에이전트에게 무슨 지시문으로 맡기는지, 승인 역할이 무엇인지, 승인 뒤에 어느 시스템을 부르는지가 그 값입니다.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예외 경로를 설계할 때 생각할 것을 보겠습니다. 거절하면 처리 건은 거절 종결에 닿아 닫힙니다. 하지만 업무의 원인까지 사라진 것은 아닙니다. 설비보전팀장이 정비 계획을 거절해도 정기 점검은 여전히 도래해 있고, 구매 담당이 발주안을 거절해도 재고는 여전히 부족합니다. 그래서 거절 경로의 결과 보고에는 무엇을 하지 않았는지를 적어, 남은 일이 있다는 것을 읽는 사람이 알 수 있게 합니다.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작업을 누구에게 맡길지도 같은 원리를 따릅니다. 여러 정보를 읽고 저울질해야 하는 일은 에이전트에게 맡깁니다. 결과에 책임이 따르는 결정은 그 책임을 질 역할의 사람에게 맡깁니다. 한번 정해지면 그대로 수행하면 되는 등록과 통지와 보고는 시스템에 맡깁니다. 그리고 정비 오더나 발주처럼 실제로 효과를 내는 작업은 승인의 갈림 뒤에 놓습니다.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프로세스가 셋이 되면 정의와 인스턴스와 배포가 어떻게 되는지 보겠습니다. 프로세스 정의가 셋이고, 셋 다 배포되어 있습니다. 경보가 도착하면 그 패턴을 시작 조건으로 가진 정의에서 인스턴스가 열립니다. PM_DUE 경보는 정기 점검 프로세스의 처리 건을, SPARE_BELOW_MIN 경보는 재고 보충 프로세스의 처리 건을 엽니다. 처리 건의 식별자 앞부분이 그 처리 건이 나온 정의입니다.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구조가 같으면 읽는 법도 같아집니다. 어느 프로세스에서든 승인을 기다리는 처리 건은 RUNNING이고 승인 작업이 열려 있습니다. 승인 지연 알림이 나간 뒤에도 마찬가지입니다. 거절하면 COMPLETED이면서 끝 이벤트가 E_rejected이고 결과 보고는 거절이며, 기록에 남는 결과 값은 거절을 뜻하는 반려입니다. 승인되어 끝나면 E_end에 닿고, 결과 보고의 결과는 긴급 대응과 정기 점검에서는 정상, 재고 보충에서는 입고 완료입니다. 에이전트 작업이 오류나 한도 초과로 멈추면 처리 건은 RUNNING으로 남습니다. 담당자가 사유를 적어 닫으면 처리 건은 COMPLETED가 되지만, 끝 이벤트의 자리에 사람이 닫았다는 표시가 남고 결과 보고는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실습에서는 정기 점검 프로세스를 직접 그립니다. 정기 점검 도래로 시작해 정비 계획 에이전트의 제안 작업으로 잇습니다. 승인을 받는 자리는 지난 시간에 그린 것과 같은 모양으로 놓고 승인 역할만 설비보전팀장으로 합니다. 승인 뒤에는 정비 오더 등록과 공지 메일을 한 작업으로, 그 뒤에 결과 보고를 놓습니다. 끝나면 이 프로세스의 BPMN 파일이 만들어집니다.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둘째 실습에서는 그린 프로세스를 실제 업무로 실행합니다. 정기 점검 도래의 경보 패턴, 정비 계획 에이전트, 설비보전팀장 역할, CMMS와 공지 작업을 연결하고, 사전 검사를 거쳐 등록하고 배포합니다. 정기 점검이 도래하면 처리 건이 열리고 에이전트의 추천안이 승인을 기다립니다. 같은 정기 점검을 승인한 경우와 거절한 경우로 나누어, 승인하면 정비 오더와 생산팀 공지와 종료 기록이 남고 거절하면 오더가 만들어지지 않는 차이를 처리 건에서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셋째 실습에서는 재고 보충 프로세스를 그립니다. 재고 부족으로 시작해 구매 에이전트가 수량과 공급사를 제안하고, 구매 담당이 승인하거나 거절합니다. 승인 뒤에는 ERP 발주와 공급사 메일을 한 작업으로 그리고, 입고와 재고 반영, 결과 보고를 잇습니다. 끝나면 작업 일곱을 갖춘 BPMN 파일이 만들어집니다.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실습에서는 재고 보충 프로세스를 실행합니다. 재고 부족의 경보 패턴과 구매 에이전트, 구매 담당 역할, ERP와 통지와 입고 반영 작업을 연결해 검사하고 등록하고 배포합니다. 재고가 부족하면 처리 건이 열리고 발주안이 승인을 기다립니다. 승인한 뒤 발주와 공급사 통지와 입고가 처리되어 가용 재고가 7개가 되었는지, 그리고 종료 기록이 남았는지를 확인합니다. 거절한 처리 건에서는 발주가 만들어지지 않고 가용 재고가 그대로인 것도 함께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프로세스 영역에서 다룬 것을 한 표로 모았습니다. 먼저 추천이 끝난 업무가 되려면 정해 두어야 하는 것을 비즈니스 프로세스로 정의했습니다. 그 정의를 BPMN으로 그렸고, 프로세스 엔진이 그림대로 실행해 처리 건과 기록을 남기는 것을 보았습니다. 오늘은 그 설계를 정기 점검과 재고 보충에 다시 썼습니다. 이 단원에서는 세 업무의 처리 건을 처음부터 끝까지 되짚습니다.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프로세스의 그림에 쓰인 기호는 일곱 가지입니다. 경보가 도착하면 여는 메시지 시작 이벤트, 에이전트에게 맡기는 작업, 사람이 수행하는 사용자 작업, 시스템이 수행하는 서비스 작업이 있습니다. 승인과 거절을 가르는 배타 게이트웨이, 승인 지연을 알리는 비중단형 경계 타이머, 갈래를 닫는 끝 이벤트가 나머지입니다. 세 그림은 작업과 게이트웨이의 수만 다르고 시작 이벤트 하나, 경계 타이머 하나, 끝 이벤트 셋은 같습니다.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업무를 되짚는 데 쓸 틀입니다. 처리 건 한 건은 다섯 자리를 지납니다. 사건이 경보로 도착하는 시작 이벤트, 에이전트의 판단, 사람의 승인 또는 거절, 시스템의 처리, 그리고 종료 기록입니다. 사람이 거절하면 아래의 선처럼 시스템의 처리를 지나지 않고 종료 기록으로 가며, 세 업무 모두에서 거절된 추천안은 설비 명령도 정비 오더도 발주도 만들지 않고 닫혔습니다. 세 업무의 처리 건을 이 다섯 자리로 되짚습니다.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 자리 사이에 무엇이 건너가는지를 보겠습니다. 시작 이벤트는 경보의 내용, 곧 설비와 경보 패턴을 에이전트에게 넘깁니다. 에이전트는 추천과 대안을 추천안으로 내고, 사람은 그 가운데 승인한 내용을 냅니다. 시스템은 승인된 내용만 받아 실행하고 그 결과를 결과 보고에 넘깁니다. 앞 자리가 낸 것이 없으면 다음 자리는 일할 수 없고, 이렇게 건너가는 값이 지난 시간에 본 프로세스 변수입니다.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긴급 대응의 처리 건입니다. 쿨러 성능 저하 경보가 처리 건을 열었고, 에이전트가 원인을 쿨러 핀 오염으로 가려 팬 최대 운전을 추천했습니다. 운전원이 추천안을 승인하자 팬 속도 100 % 명령이 나갔고, 유온이 51.3도로 내려간 것을 확인한 뒤 작업지시가 등록되었습니다. 처리 건은 끝 이벤트 E_end에 닿았고 결과 보고의 결과는 정상입니다.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정기 점검의 처리 건입니다. HYD-02의 운전시간이 1,950시간에 이르러 도래 경보가 처리 건을 열었습니다. 정기 정비 계획 에이전트는 야간 정비 시간에 정비하자고 제안했고, 설비보전팀장이 승인했습니다. 승인 뒤 CMMS에 정비 오더가 등록되고 생산팀에 공지 메일이 나갔습니다. 설비 명령은 없지만 다섯 자리는 긴급 대응과 같습니다.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정기 점검의 처리 건에서 정기 정비 계획 에이전트가 낸 추천안의 속입니다. 후보는 넷이었고, 이번 예정된 정비 시간에 한 대만 정비하는 안이 추천이며 이것이 앞 장의 야간 정비 시간입니다. 지금 바로 세우는 안은 납기가 스무 시간 남은 생산 오더 때문에 감점되어 대안으로 남았습니다. 미루는 안과 두 대를 묶는 안은 판단 규칙이 제외했습니다. 설비보전팀장은 추천만이 아니라 지는 대안과 제외된 까닭까지 보고 승인했습니다.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재고 보충의 처리 건입니다. 씰 키트의 가용 재고가 1개로 재주문점보다 적어 경보가 처리 건을 열었습니다. 예비품 구매 에이전트는 6개를 공급사 B-OEM에 330만원으로 발주하자고 제안했고, 구매 담당이 승인했습니다. ERP에 발주가 등록되고 공급사에 통지된 뒤 입고가 확인되어 가용 재고가 7개가 되었습니다. 결과 보고의 결과는 입고 완료입니다.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재고 보충의 처리 건에서 예비품 구매 에이전트가 낸 추천안입니다. 후보는 공급사 셋에 대한 발주안이었습니다. 가장 싼 C트레이딩은 승인 공급사가 아니어서 판단 규칙이 제외했고, A정밀은 값이 싸고 납기가 빠르지만 불량률이 10 %를 넘어 전수 검사 비용을 더해 견주었습니다. 추천은 금액이 가장 큰 순정 공급사 B-OEM이었고, 구매 담당은 이 비교를 보고 승인했습니다.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단원을 열 때 본 세 사건이 끝난 모습입니다. 긴급 대응은 유온이 51.3도로 내려가 기준 55도 아래가 되었고 작업지시가 남았습니다. 정기 점검은 정비 오더가 등록되고 생산팀에 공지가 나갔습니다. 재고 보충은 씰 키트 6개가 입고되어 검수에 합격했고 가용 재고가 7개가 되었습니다. 세 건 모두 끝 이벤트 E_end에 닿았으며, 결과 보고의 결과는 정상과 입고 완료입니다.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긴급 대응 처리 건에 남은 식별자를 순서대로 놓았습니다. 작업지시 WO-1010-1198에서 거슬러 올라가면, 그것이 어느 설비 명령 뒤에 등록되었고, 그 명령을 누가 승인했으며, 승인된 추천안이 어느 판단 id의 것이었는지, 그 판단이 어느 경보에서 시작되었는지를 차례로 찾을 수 있습니다. 끝난 업무의 종료 기록이 뜻하는 것은 이렇게 추천안과 결정과 실행이 한 줄로 이어져 남는다는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과정의 세 영역이 어떻게 이어지는지를 다시 봅니다. 1일차부터 3일차까지 만든 온톨로지는 원인과 증거와 조치와 규칙이라는 지식을 정하고, 현재 값이 어디에 있는지를 알려 줍니다. 4일차와 5일차에 다룬 에이전트는 그 지식과 값을 읽어 추천과 대안을 제안합니다. 지난 시간과 오늘 다룬 프로세스는 그 추천안을 순서와 책임과 승인과 실행과 기록으로 완결합니다.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에이전트에 연결된 도구 서버의 목록입니다. 세 에이전트 모두 지식 그래프와 판단 규칙을 읽습니다. 앞 영역에서 만든 온톨로지가 긴급 대응뿐 아니라 정비와 구매의 판단에도 재료가 된다는 뜻입니다. 다른 것은 업무 데이터로, 정기 정비 계획 에이전트는 정비 쪽을, 예비품 구매 에이전트는 구매 쪽을 읽습니다. 프로세스에서 승인 블록을 다시 쓴 것처럼 지식도 여러 업무가 함께 씁니다.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연결을 값 하나로 따라가 보겠습니다. 2일차에 조치 방법으로 적어 둔 SOP-COOL-11 팬 최대 운전이 출발점입니다. 6일차에 프로세스가 처리한 경보 한 건에서 에이전트가 이 조치를 지식 그래프에서 읽어 추천했고, 운전원이 승인했습니다. 프로세스가 승인된 조치를 팬 속도 100 % 명령으로 실행했고, 재관측에서 유온 51.3도를 확인했습니다. 지식에 적힌 한 줄이 세 영역을 지나 설비의 상태를 바꾸었습니다.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셋이 저마다 필요한 이유는 하나씩 빼 보면 분명해집니다. 지식이 없으면 에이전트가 읽을 곳이 없어 추천안의 근거를 되짚을 수 없습니다. 에이전트가 없으면 경보가 올 때마다 사람이 지식과 값을 찾아 직접 견주어야 합니다. 프로세스가 없으면 추천이 나와도 누가 승인하고 누가 실행할지가 정해져 있지 않고, 진행과 결과가 한곳에 남지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AI와 사람이 함께 일한다는 말의 뜻을 세 업무에서 확인합니다. AI 에이전트는 지식과 데이터를 읽고 후보를 견주어 제안하는 데까지 맡았습니다. 설비 명령이나 발주 같은 처리는 하지 않았습니다. 사람의 일은 세 가지였습니다. 순서와 승인 역할과 예외 경로를 프로세스로 정하는 일, 추천안을 승인하거나 거절하는 일, 그리고 기록과 지표를 읽어 프로세스를 고치는 일입니다.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프로세스는 한 번 설계하고 끝나는 것이 아닙니다. 세 업무의 처리 건은 단계마다 시각과 승인과 결과 보고를 남겼습니다. 이 기록을 여러 건 모으면 단계마다 걸린 시간과 거절의 비율 같은 지표가 나옵니다. 그 지표에서 승인 대기가 길거나 거절이 많은 자리가 보이면 정의를 고치고, 새 판본으로 배포해 다음 경보부터 적용합니다. 지난 시간에 본 BPM의 분석, 설계, 실행, 모니터링, 개선이 이렇게 한 바퀴를 돕니다.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프로세스 영역의 용어를 한 그림으로 잇습니다. 경보가 도착하면 배포된 프로세스 정의에서 처리 건, 곧 프로세스 인스턴스가 만들어집니다. 처리 건은 정의의 순서대로 단계를 차례로 엽니다. 단계는 출력을 프로세스 변수로 남기고, 마지막에는 결과 보고가 결말을 적습니다. 오늘 본 세 업무는 이 그림의 아래 왼쪽, 프로세스 정의만 서로 달랐습니다.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업무를 되짚으며 쓴 다섯 자리는 새 업무를 설계할 때의 물음이 됩니다. 어떤 사건으로 시작하는가, 에이전트가 무엇을 읽어 무엇을 제안하는가, 어느 역할이 결정하는가, 어느 시스템이 실행하는가, 무엇이 남으면 끝났다고 보는가입니다. 지식이 판단의 재료가 되고, 에이전트가 제안하고, 사람이 결정하고, 프로세스가 그 결정을 실행과 기록으로 잇는 구조는 어느 업무에서나 같습니다. 다음 시간에는 여러분 각자의 주제를 놓고 이 물음에 답해 봅니다.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새로 나온 약어와 용어의 정식 명칭을 한곳에 모았습니다. 이 넷과 함께 승인 블록과 가용 재고가 오늘의 용어입니다. 하나를 골라 자료를 덮고 자신의 문장으로 써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처리 건의 기록으로 업무의 상황을 읽는 문항입니다. 처리 건이 닫혔다는 것과 그 업무의 원인이 해결되었다는 것이 같은지를 생각해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설계에서 그대로 두는 것과 바꾸는 것을 구분하는 문항입니다. 승인 블록의 요소와 기한과 조건 가운데 세 프로세스에서 같았던 것이 무엇이고, 바뀐 자리가 어디였는지를 떠올려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누가 무엇을 맡는지, 책임의 경계를 묻는 문항입니다. 에이전트가 맡은 일과 사람이 맡은 일이 무엇이었는지, 그리고 효과를 내는 작업을 어디에 두었는지를 떠올려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정답보다 판단 기준이 중요합니다. 첫 문항의 1번은 처리 건의 종결과 업무 원인의 해결을 혼동한 것입니다. 둘째 문항의 1번과 2번과 3번은 세 프로세스에서 같게 둔 것입니다. 셋째 문항의 4번은 사람이 결정하지 않은 채 효과가 나가게 하는 설계입니다.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0.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8.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24.png"/><Relationship Id="rId4" Type="http://schemas.openxmlformats.org/officeDocument/2006/relationships/image" Target="../media/image6.png"/><Relationship Id="rId5" Type="http://schemas.openxmlformats.org/officeDocument/2006/relationships/image" Target="../media/image22.png"/><Relationship Id="rId6" Type="http://schemas.openxmlformats.org/officeDocument/2006/relationships/image" Target="../media/image2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9.png"/><Relationship Id="rId4" Type="http://schemas.openxmlformats.org/officeDocument/2006/relationships/image" Target="../media/image26.png"/><Relationship Id="rId5" Type="http://schemas.openxmlformats.org/officeDocument/2006/relationships/image" Target="../media/image24.png"/><Relationship Id="rId6" Type="http://schemas.openxmlformats.org/officeDocument/2006/relationships/image" Target="../media/image2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24.png"/><Relationship Id="rId4" Type="http://schemas.openxmlformats.org/officeDocument/2006/relationships/image" Target="../media/image6.png"/><Relationship Id="rId5" Type="http://schemas.openxmlformats.org/officeDocument/2006/relationships/image" Target="../media/image22.png"/><Relationship Id="rId6" Type="http://schemas.openxmlformats.org/officeDocument/2006/relationships/image" Target="../media/image2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19.png"/><Relationship Id="rId4" Type="http://schemas.openxmlformats.org/officeDocument/2006/relationships/image" Target="../media/image26.png"/><Relationship Id="rId5" Type="http://schemas.openxmlformats.org/officeDocument/2006/relationships/image" Target="../media/image24.png"/><Relationship Id="rId6" Type="http://schemas.openxmlformats.org/officeDocument/2006/relationships/image" Target="../media/image27.png"/><Relationship Id="rId7" Type="http://schemas.openxmlformats.org/officeDocument/2006/relationships/image" Target="../media/image2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2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2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3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10.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22.png"/><Relationship Id="rId7" Type="http://schemas.openxmlformats.org/officeDocument/2006/relationships/image" Target="../media/image2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11.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22.png"/><Relationship Id="rId7" Type="http://schemas.openxmlformats.org/officeDocument/2006/relationships/image" Target="../media/image2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27.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22.png"/><Relationship Id="rId7" Type="http://schemas.openxmlformats.org/officeDocument/2006/relationships/image" Target="../media/image2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3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3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33.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34.png"/><Relationship Id="rId7" Type="http://schemas.openxmlformats.org/officeDocument/2006/relationships/image" Target="../media/image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33.png"/><Relationship Id="rId4" Type="http://schemas.openxmlformats.org/officeDocument/2006/relationships/image" Target="../media/image20.png"/><Relationship Id="rId5" Type="http://schemas.openxmlformats.org/officeDocument/2006/relationships/image" Target="../media/image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20.png"/><Relationship Id="rId4" Type="http://schemas.openxmlformats.org/officeDocument/2006/relationships/image" Target="../media/image2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24.png"/><Relationship Id="rId4" Type="http://schemas.openxmlformats.org/officeDocument/2006/relationships/image" Target="../media/image35.png"/><Relationship Id="rId5" Type="http://schemas.openxmlformats.org/officeDocument/2006/relationships/image" Target="../media/image36.png"/><Relationship Id="rId6" Type="http://schemas.openxmlformats.org/officeDocument/2006/relationships/image" Target="../media/image37.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457200" y="841248"/>
            <a:ext cx="8229600" cy="457200"/>
          </a:xfrm>
          <a:prstGeom prst="rect">
            <a:avLst/>
          </a:prstGeom>
          <a:noFill/>
        </p:spPr>
        <p:txBody>
          <a:bodyPr wrap="square" anchor="t"/>
          <a:lstStyle/>
          <a:p>
            <a:pPr algn="l">
              <a:lnSpc>
                <a:spcPct val="110000"/>
              </a:lnSpc>
            </a:pPr>
            <a:r>
              <a:rPr sz="2000" b="1">
                <a:solidFill>
                  <a:srgbClr val="8FCFF8"/>
                </a:solidFill>
                <a:latin typeface="맑은 고딕"/>
                <a:ea typeface="맑은 고딕"/>
                <a:cs typeface="맑은 고딕"/>
              </a:rPr>
              <a:t>경남대학교 피지컬AI 사관학교</a:t>
            </a:r>
          </a:p>
        </p:txBody>
      </p:sp>
      <p:sp>
        <p:nvSpPr>
          <p:cNvPr id="3" name="Rectangle 2"/>
          <p:cNvSpPr/>
          <p:nvPr/>
        </p:nvSpPr>
        <p:spPr>
          <a:xfrm>
            <a:off x="548640" y="13167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1700784"/>
            <a:ext cx="7863840" cy="420624"/>
          </a:xfrm>
          <a:prstGeom prst="rect">
            <a:avLst/>
          </a:prstGeom>
          <a:noFill/>
        </p:spPr>
        <p:txBody>
          <a:bodyPr wrap="square" anchor="t"/>
          <a:lstStyle/>
          <a:p>
            <a:pPr algn="l">
              <a:lnSpc>
                <a:spcPct val="110000"/>
              </a:lnSpc>
            </a:pPr>
            <a:r>
              <a:rPr sz="1800" b="1">
                <a:solidFill>
                  <a:srgbClr val="8FCFF8"/>
                </a:solidFill>
                <a:latin typeface="맑은 고딕"/>
                <a:ea typeface="맑은 고딕"/>
                <a:cs typeface="맑은 고딕"/>
              </a:rPr>
              <a:t>실전반 7일차</a:t>
            </a:r>
          </a:p>
        </p:txBody>
      </p:sp>
      <p:sp>
        <p:nvSpPr>
          <p:cNvPr id="5" name="TextBox 4"/>
          <p:cNvSpPr txBox="1"/>
          <p:nvPr/>
        </p:nvSpPr>
        <p:spPr>
          <a:xfrm>
            <a:off x="457200" y="2395728"/>
            <a:ext cx="8412480" cy="1920240"/>
          </a:xfrm>
          <a:prstGeom prst="rect">
            <a:avLst/>
          </a:prstGeom>
          <a:noFill/>
        </p:spPr>
        <p:txBody>
          <a:bodyPr wrap="square" anchor="t"/>
          <a:lstStyle/>
          <a:p>
            <a:pPr algn="l">
              <a:lnSpc>
                <a:spcPct val="110000"/>
              </a:lnSpc>
            </a:pPr>
            <a:r>
              <a:rPr sz="4000" b="1">
                <a:solidFill>
                  <a:srgbClr val="FFFFFF"/>
                </a:solidFill>
                <a:latin typeface="맑은 고딕"/>
                <a:ea typeface="맑은 고딕"/>
                <a:cs typeface="맑은 고딕"/>
              </a:rPr>
              <a:t>정비와 구매 업무의 연결</a:t>
            </a:r>
          </a:p>
          <a:p>
            <a:pPr algn="l">
              <a:lnSpc>
                <a:spcPct val="110000"/>
              </a:lnSpc>
            </a:pPr>
            <a:r>
              <a:rPr sz="4000" b="1">
                <a:solidFill>
                  <a:srgbClr val="FFFFFF"/>
                </a:solidFill>
                <a:latin typeface="맑은 고딕"/>
                <a:ea typeface="맑은 고딕"/>
                <a:cs typeface="맑은 고딕"/>
              </a:rPr>
              <a:t>프로세스 실행 결과의 검증</a:t>
            </a:r>
          </a:p>
        </p:txBody>
      </p:sp>
      <p:sp>
        <p:nvSpPr>
          <p:cNvPr id="6" name="TextBox 5"/>
          <p:cNvSpPr txBox="1"/>
          <p:nvPr/>
        </p:nvSpPr>
        <p:spPr>
          <a:xfrm>
            <a:off x="457200" y="4407408"/>
            <a:ext cx="8412480" cy="731520"/>
          </a:xfrm>
          <a:prstGeom prst="rect">
            <a:avLst/>
          </a:prstGeom>
          <a:noFill/>
        </p:spPr>
        <p:txBody>
          <a:bodyPr wrap="square" anchor="t"/>
          <a:lstStyle/>
          <a:p>
            <a:pPr algn="l">
              <a:lnSpc>
                <a:spcPct val="110000"/>
              </a:lnSpc>
            </a:pPr>
            <a:r>
              <a:rPr sz="1900" b="0">
                <a:solidFill>
                  <a:srgbClr val="C6D0DE"/>
                </a:solidFill>
                <a:latin typeface="맑은 고딕"/>
                <a:ea typeface="맑은 고딕"/>
                <a:cs typeface="맑은 고딕"/>
              </a:rPr>
              <a:t>승인 패턴의 재사용과 세 업무의 전체 흐름 정리</a:t>
            </a:r>
          </a:p>
        </p:txBody>
      </p:sp>
      <p:pic>
        <p:nvPicPr>
          <p:cNvPr id="7" name="로고:uEngine" descr="logo-uengine_FFFFFF_None.png"/>
          <p:cNvPicPr>
            <a:picLocks noChangeAspect="1"/>
          </p:cNvPicPr>
          <p:nvPr/>
        </p:nvPicPr>
        <p:blipFill>
          <a:blip r:embed="rId2"/>
          <a:stretch>
            <a:fillRect/>
          </a:stretch>
        </p:blipFill>
        <p:spPr>
          <a:xfrm>
            <a:off x="7315200" y="5669280"/>
            <a:ext cx="1325880" cy="275115"/>
          </a:xfrm>
          <a:prstGeom prst="rect">
            <a:avLst/>
          </a:prstGeom>
        </p:spPr>
      </p:pic>
      <p:sp>
        <p:nvSpPr>
          <p:cNvPr id="8" name="Rectangle 7"/>
          <p:cNvSpPr/>
          <p:nvPr/>
        </p:nvSpPr>
        <p:spPr>
          <a:xfrm>
            <a:off x="9464040" y="1188719"/>
            <a:ext cx="1188720" cy="1188720"/>
          </a:xfrm>
          <a:prstGeom prst="rect">
            <a:avLst/>
          </a:prstGeom>
          <a:solidFill>
            <a:srgbClr val="243D66"/>
          </a:solidFill>
          <a:ln>
            <a:noFill/>
          </a:ln>
        </p:spPr>
        <p:txBody>
          <a:bodyPr rtlCol="0" anchor="ctr"/>
          <a:lstStyle/>
          <a:p>
            <a:pPr algn="ctr"/>
          </a:p>
        </p:txBody>
      </p:sp>
      <p:pic>
        <p:nvPicPr>
          <p:cNvPr id="9" name="아이콘:repeat" descr="repeat_5CB8F2_1.5.png"/>
          <p:cNvPicPr>
            <a:picLocks noChangeAspect="1"/>
          </p:cNvPicPr>
          <p:nvPr/>
        </p:nvPicPr>
        <p:blipFill>
          <a:blip r:embed="rId3"/>
          <a:stretch>
            <a:fillRect/>
          </a:stretch>
        </p:blipFill>
        <p:spPr>
          <a:xfrm>
            <a:off x="9701784" y="1426463"/>
            <a:ext cx="713232" cy="713232"/>
          </a:xfrm>
          <a:prstGeom prst="rect">
            <a:avLst/>
          </a:prstGeom>
        </p:spPr>
      </p:pic>
      <p:sp>
        <p:nvSpPr>
          <p:cNvPr id="10" name="Down Arrow 9"/>
          <p:cNvSpPr/>
          <p:nvPr/>
        </p:nvSpPr>
        <p:spPr>
          <a:xfrm>
            <a:off x="9902952" y="2450591"/>
            <a:ext cx="310896" cy="310896"/>
          </a:xfrm>
          <a:prstGeom prst="downArrow">
            <a:avLst/>
          </a:prstGeom>
          <a:solidFill>
            <a:srgbClr val="5CB8F2"/>
          </a:solidFill>
          <a:ln>
            <a:noFill/>
          </a:ln>
        </p:spPr>
        <p:txBody>
          <a:bodyPr rtlCol="0" anchor="ctr"/>
          <a:lstStyle/>
          <a:p>
            <a:pPr algn="ctr"/>
          </a:p>
        </p:txBody>
      </p:sp>
      <p:sp>
        <p:nvSpPr>
          <p:cNvPr id="11" name="Rectangle 10"/>
          <p:cNvSpPr/>
          <p:nvPr/>
        </p:nvSpPr>
        <p:spPr>
          <a:xfrm>
            <a:off x="9464040" y="2834639"/>
            <a:ext cx="1188720" cy="1188720"/>
          </a:xfrm>
          <a:prstGeom prst="rect">
            <a:avLst/>
          </a:prstGeom>
          <a:solidFill>
            <a:srgbClr val="243D66"/>
          </a:solidFill>
          <a:ln>
            <a:noFill/>
          </a:ln>
        </p:spPr>
        <p:txBody>
          <a:bodyPr rtlCol="0" anchor="ctr"/>
          <a:lstStyle/>
          <a:p>
            <a:pPr algn="ctr"/>
          </a:p>
        </p:txBody>
      </p:sp>
      <p:pic>
        <p:nvPicPr>
          <p:cNvPr id="12" name="아이콘:tool" descr="tool_5CB8F2_1.5.png"/>
          <p:cNvPicPr>
            <a:picLocks noChangeAspect="1"/>
          </p:cNvPicPr>
          <p:nvPr/>
        </p:nvPicPr>
        <p:blipFill>
          <a:blip r:embed="rId4"/>
          <a:stretch>
            <a:fillRect/>
          </a:stretch>
        </p:blipFill>
        <p:spPr>
          <a:xfrm>
            <a:off x="9701784" y="3072383"/>
            <a:ext cx="713232" cy="713232"/>
          </a:xfrm>
          <a:prstGeom prst="rect">
            <a:avLst/>
          </a:prstGeom>
        </p:spPr>
      </p:pic>
      <p:sp>
        <p:nvSpPr>
          <p:cNvPr id="13" name="Down Arrow 12"/>
          <p:cNvSpPr/>
          <p:nvPr/>
        </p:nvSpPr>
        <p:spPr>
          <a:xfrm>
            <a:off x="9902952" y="4096511"/>
            <a:ext cx="310896" cy="310896"/>
          </a:xfrm>
          <a:prstGeom prst="downArrow">
            <a:avLst/>
          </a:prstGeom>
          <a:solidFill>
            <a:srgbClr val="5CB8F2"/>
          </a:solidFill>
          <a:ln>
            <a:noFill/>
          </a:ln>
        </p:spPr>
        <p:txBody>
          <a:bodyPr rtlCol="0" anchor="ctr"/>
          <a:lstStyle/>
          <a:p>
            <a:pPr algn="ctr"/>
          </a:p>
        </p:txBody>
      </p:sp>
      <p:sp>
        <p:nvSpPr>
          <p:cNvPr id="14" name="Rectangle 13"/>
          <p:cNvSpPr/>
          <p:nvPr/>
        </p:nvSpPr>
        <p:spPr>
          <a:xfrm>
            <a:off x="9464040" y="4480560"/>
            <a:ext cx="1188720" cy="1188720"/>
          </a:xfrm>
          <a:prstGeom prst="rect">
            <a:avLst/>
          </a:prstGeom>
          <a:solidFill>
            <a:srgbClr val="5CB8F2"/>
          </a:solidFill>
          <a:ln>
            <a:noFill/>
          </a:ln>
        </p:spPr>
        <p:txBody>
          <a:bodyPr rtlCol="0" anchor="ctr"/>
          <a:lstStyle/>
          <a:p>
            <a:pPr algn="ctr"/>
          </a:p>
        </p:txBody>
      </p:sp>
      <p:pic>
        <p:nvPicPr>
          <p:cNvPr id="15" name="아이콘:package" descr="package_13294B_1.5.png"/>
          <p:cNvPicPr>
            <a:picLocks noChangeAspect="1"/>
          </p:cNvPicPr>
          <p:nvPr/>
        </p:nvPicPr>
        <p:blipFill>
          <a:blip r:embed="rId5"/>
          <a:stretch>
            <a:fillRect/>
          </a:stretch>
        </p:blipFill>
        <p:spPr>
          <a:xfrm>
            <a:off x="9701784" y="4718304"/>
            <a:ext cx="713232" cy="7132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학습목표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긴급 대응 프로세스의 설계를 정비와 구매 업무에 다시 쓰고, 세 업무의 전체 흐름을 기록으로 설명한다.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a:t>
            </a:r>
          </a:p>
        </p:txBody>
      </p:sp>
      <p:sp>
        <p:nvSpPr>
          <p:cNvPr id="6" name="Rounded Rectangle 5"/>
          <p:cNvSpPr/>
          <p:nvPr/>
        </p:nvSpPr>
        <p:spPr>
          <a:xfrm>
            <a:off x="548640"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19756"/>
            <a:ext cx="731520" cy="731520"/>
          </a:xfrm>
          <a:prstGeom prst="ellipse">
            <a:avLst/>
          </a:prstGeom>
          <a:solidFill>
            <a:srgbClr val="E7F3FD"/>
          </a:solidFill>
          <a:ln>
            <a:noFill/>
          </a:ln>
        </p:spPr>
        <p:txBody>
          <a:bodyPr rtlCol="0" anchor="ctr"/>
          <a:lstStyle/>
          <a:p>
            <a:pPr algn="ctr"/>
          </a:p>
        </p:txBody>
      </p:sp>
      <p:pic>
        <p:nvPicPr>
          <p:cNvPr id="8" name="아이콘:arrows-split-2" descr="arrows-split-2_13294B_1.6.png"/>
          <p:cNvPicPr>
            <a:picLocks noChangeAspect="1"/>
          </p:cNvPicPr>
          <p:nvPr/>
        </p:nvPicPr>
        <p:blipFill>
          <a:blip r:embed="rId3"/>
          <a:stretch>
            <a:fillRect/>
          </a:stretch>
        </p:blipFill>
        <p:spPr>
          <a:xfrm>
            <a:off x="930859" y="2773375"/>
            <a:ext cx="424281" cy="424281"/>
          </a:xfrm>
          <a:prstGeom prst="rect">
            <a:avLst/>
          </a:prstGeom>
        </p:spPr>
      </p:pic>
      <p:sp>
        <p:nvSpPr>
          <p:cNvPr id="9" name="TextBox 8"/>
          <p:cNvSpPr txBox="1"/>
          <p:nvPr/>
        </p:nvSpPr>
        <p:spPr>
          <a:xfrm>
            <a:off x="713232"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세 업무의 비교</a:t>
            </a:r>
          </a:p>
          <a:p>
            <a:pPr algn="l">
              <a:lnSpc>
                <a:spcPct val="110000"/>
              </a:lnSpc>
              <a:spcAft>
                <a:spcPts val="400"/>
              </a:spcAft>
            </a:pPr>
            <a:r>
              <a:rPr sz="1350" b="0">
                <a:solidFill>
                  <a:srgbClr val="1F2A3A"/>
                </a:solidFill>
                <a:latin typeface="맑은 고딕"/>
                <a:ea typeface="맑은 고딕"/>
                <a:cs typeface="맑은 고딕"/>
              </a:rPr>
              <a:t>설비 경보, 정기 점검 도래, 재고 부족의 시작 조건과 에이전트, 승인자, 실행 시스템을 견준다</a:t>
            </a:r>
          </a:p>
        </p:txBody>
      </p:sp>
      <p:sp>
        <p:nvSpPr>
          <p:cNvPr id="10" name="Rounded Rectangle 9"/>
          <p:cNvSpPr/>
          <p:nvPr/>
        </p:nvSpPr>
        <p:spPr>
          <a:xfrm>
            <a:off x="777240" y="5134356"/>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비교</a:t>
            </a:r>
          </a:p>
        </p:txBody>
      </p:sp>
      <p:sp>
        <p:nvSpPr>
          <p:cNvPr id="12" name="Rounded Rectangle 11"/>
          <p:cNvSpPr/>
          <p:nvPr/>
        </p:nvSpPr>
        <p:spPr>
          <a:xfrm>
            <a:off x="3390823"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619756"/>
            <a:ext cx="731520" cy="731520"/>
          </a:xfrm>
          <a:prstGeom prst="ellipse">
            <a:avLst/>
          </a:prstGeom>
          <a:solidFill>
            <a:srgbClr val="E7F3FD"/>
          </a:solidFill>
          <a:ln>
            <a:noFill/>
          </a:ln>
        </p:spPr>
        <p:txBody>
          <a:bodyPr rtlCol="0" anchor="ctr"/>
          <a:lstStyle/>
          <a:p>
            <a:pPr algn="ctr"/>
          </a:p>
        </p:txBody>
      </p:sp>
      <p:pic>
        <p:nvPicPr>
          <p:cNvPr id="14" name="아이콘:repeat" descr="repeat_13294B_1.6.png"/>
          <p:cNvPicPr>
            <a:picLocks noChangeAspect="1"/>
          </p:cNvPicPr>
          <p:nvPr/>
        </p:nvPicPr>
        <p:blipFill>
          <a:blip r:embed="rId4"/>
          <a:stretch>
            <a:fillRect/>
          </a:stretch>
        </p:blipFill>
        <p:spPr>
          <a:xfrm>
            <a:off x="3773043" y="2773375"/>
            <a:ext cx="424281" cy="424281"/>
          </a:xfrm>
          <a:prstGeom prst="rect">
            <a:avLst/>
          </a:prstGeom>
        </p:spPr>
      </p:pic>
      <p:sp>
        <p:nvSpPr>
          <p:cNvPr id="15" name="TextBox 14"/>
          <p:cNvSpPr txBox="1"/>
          <p:nvPr/>
        </p:nvSpPr>
        <p:spPr>
          <a:xfrm>
            <a:off x="3555415"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패턴의 재사용</a:t>
            </a:r>
          </a:p>
          <a:p>
            <a:pPr algn="l">
              <a:lnSpc>
                <a:spcPct val="110000"/>
              </a:lnSpc>
              <a:spcAft>
                <a:spcPts val="400"/>
              </a:spcAft>
            </a:pPr>
            <a:r>
              <a:rPr sz="1350" b="0">
                <a:solidFill>
                  <a:srgbClr val="1F2A3A"/>
                </a:solidFill>
                <a:latin typeface="맑은 고딕"/>
                <a:ea typeface="맑은 고딕"/>
                <a:cs typeface="맑은 고딕"/>
              </a:rPr>
              <a:t>승인 블록은 그대로 두고 달라지는 자리만 정해 정비와 구매 프로세스를 그려 실행한다</a:t>
            </a:r>
          </a:p>
        </p:txBody>
      </p:sp>
      <p:sp>
        <p:nvSpPr>
          <p:cNvPr id="16" name="Rounded Rectangle 15"/>
          <p:cNvSpPr/>
          <p:nvPr/>
        </p:nvSpPr>
        <p:spPr>
          <a:xfrm>
            <a:off x="3619423" y="5134356"/>
            <a:ext cx="1219199"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134356"/>
            <a:ext cx="12191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설계 · 실습</a:t>
            </a:r>
          </a:p>
        </p:txBody>
      </p:sp>
      <p:sp>
        <p:nvSpPr>
          <p:cNvPr id="18" name="Rounded Rectangle 17"/>
          <p:cNvSpPr/>
          <p:nvPr/>
        </p:nvSpPr>
        <p:spPr>
          <a:xfrm>
            <a:off x="6233007"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619756"/>
            <a:ext cx="731520" cy="731520"/>
          </a:xfrm>
          <a:prstGeom prst="ellipse">
            <a:avLst/>
          </a:prstGeom>
          <a:solidFill>
            <a:srgbClr val="E7F3FD"/>
          </a:solidFill>
          <a:ln>
            <a:noFill/>
          </a:ln>
        </p:spPr>
        <p:txBody>
          <a:bodyPr rtlCol="0" anchor="ctr"/>
          <a:lstStyle/>
          <a:p>
            <a:pPr algn="ctr"/>
          </a:p>
        </p:txBody>
      </p:sp>
      <p:pic>
        <p:nvPicPr>
          <p:cNvPr id="20" name="아이콘:eye" descr="eye_13294B_1.6.png"/>
          <p:cNvPicPr>
            <a:picLocks noChangeAspect="1"/>
          </p:cNvPicPr>
          <p:nvPr/>
        </p:nvPicPr>
        <p:blipFill>
          <a:blip r:embed="rId5"/>
          <a:stretch>
            <a:fillRect/>
          </a:stretch>
        </p:blipFill>
        <p:spPr>
          <a:xfrm>
            <a:off x="6615226" y="2773375"/>
            <a:ext cx="424281" cy="424281"/>
          </a:xfrm>
          <a:prstGeom prst="rect">
            <a:avLst/>
          </a:prstGeom>
        </p:spPr>
      </p:pic>
      <p:sp>
        <p:nvSpPr>
          <p:cNvPr id="21" name="TextBox 20"/>
          <p:cNvSpPr txBox="1"/>
          <p:nvPr/>
        </p:nvSpPr>
        <p:spPr>
          <a:xfrm>
            <a:off x="6397599"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결과 읽기</a:t>
            </a:r>
          </a:p>
          <a:p>
            <a:pPr algn="l">
              <a:lnSpc>
                <a:spcPct val="110000"/>
              </a:lnSpc>
              <a:spcAft>
                <a:spcPts val="400"/>
              </a:spcAft>
            </a:pPr>
            <a:r>
              <a:rPr sz="1350" b="0">
                <a:solidFill>
                  <a:srgbClr val="1F2A3A"/>
                </a:solidFill>
                <a:latin typeface="맑은 고딕"/>
                <a:ea typeface="맑은 고딕"/>
                <a:cs typeface="맑은 고딕"/>
              </a:rPr>
              <a:t>승인 대기, 승인, 거절, 사람이 닫은 경우를 처리 건의 상태와 끝 이벤트로 가려 읽는다</a:t>
            </a:r>
          </a:p>
        </p:txBody>
      </p:sp>
      <p:sp>
        <p:nvSpPr>
          <p:cNvPr id="22" name="Rounded Rectangle 21"/>
          <p:cNvSpPr/>
          <p:nvPr/>
        </p:nvSpPr>
        <p:spPr>
          <a:xfrm>
            <a:off x="6461607" y="5134356"/>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검증</a:t>
            </a:r>
          </a:p>
        </p:txBody>
      </p:sp>
      <p:sp>
        <p:nvSpPr>
          <p:cNvPr id="24" name="Rounded Rectangle 23"/>
          <p:cNvSpPr/>
          <p:nvPr/>
        </p:nvSpPr>
        <p:spPr>
          <a:xfrm>
            <a:off x="9075191" y="2418588"/>
            <a:ext cx="2567863" cy="314553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619756"/>
            <a:ext cx="731520" cy="731520"/>
          </a:xfrm>
          <a:prstGeom prst="ellipse">
            <a:avLst/>
          </a:prstGeom>
          <a:solidFill>
            <a:srgbClr val="5CB8F2"/>
          </a:solidFill>
          <a:ln>
            <a:noFill/>
          </a:ln>
        </p:spPr>
        <p:txBody>
          <a:bodyPr rtlCol="0" anchor="ctr"/>
          <a:lstStyle/>
          <a:p>
            <a:pPr algn="ctr"/>
          </a:p>
        </p:txBody>
      </p:sp>
      <p:pic>
        <p:nvPicPr>
          <p:cNvPr id="26" name="아이콘:route" descr="route_13294B_1.6.png"/>
          <p:cNvPicPr>
            <a:picLocks noChangeAspect="1"/>
          </p:cNvPicPr>
          <p:nvPr/>
        </p:nvPicPr>
        <p:blipFill>
          <a:blip r:embed="rId6"/>
          <a:stretch>
            <a:fillRect/>
          </a:stretch>
        </p:blipFill>
        <p:spPr>
          <a:xfrm>
            <a:off x="9457410" y="2773375"/>
            <a:ext cx="424281" cy="424281"/>
          </a:xfrm>
          <a:prstGeom prst="rect">
            <a:avLst/>
          </a:prstGeom>
        </p:spPr>
      </p:pic>
      <p:sp>
        <p:nvSpPr>
          <p:cNvPr id="27" name="TextBox 26"/>
          <p:cNvSpPr txBox="1"/>
          <p:nvPr/>
        </p:nvSpPr>
        <p:spPr>
          <a:xfrm>
            <a:off x="9239783"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전체 흐름의 정리</a:t>
            </a:r>
          </a:p>
          <a:p>
            <a:pPr algn="l">
              <a:lnSpc>
                <a:spcPct val="110000"/>
              </a:lnSpc>
              <a:spcAft>
                <a:spcPts val="400"/>
              </a:spcAft>
            </a:pPr>
            <a:r>
              <a:rPr sz="1350" b="0">
                <a:solidFill>
                  <a:srgbClr val="1F2A3A"/>
                </a:solidFill>
                <a:latin typeface="맑은 고딕"/>
                <a:ea typeface="맑은 고딕"/>
                <a:cs typeface="맑은 고딕"/>
              </a:rPr>
              <a:t>온톨로지, 에이전트, 프로세스가 처리 건 한 건에서 이어지는 과정을 설명한다</a:t>
            </a:r>
          </a:p>
        </p:txBody>
      </p:sp>
      <p:sp>
        <p:nvSpPr>
          <p:cNvPr id="28" name="Rounded Rectangle 27"/>
          <p:cNvSpPr/>
          <p:nvPr/>
        </p:nvSpPr>
        <p:spPr>
          <a:xfrm>
            <a:off x="9303791" y="5134356"/>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정리</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목차</a:t>
            </a:r>
          </a:p>
        </p:txBody>
      </p:sp>
      <p:sp>
        <p:nvSpPr>
          <p:cNvPr id="3" name="Rectangle 2"/>
          <p:cNvSpPr/>
          <p:nvPr/>
        </p:nvSpPr>
        <p:spPr>
          <a:xfrm>
            <a:off x="548640" y="1097280"/>
            <a:ext cx="11094415" cy="18288"/>
          </a:xfrm>
          <a:prstGeom prst="rect">
            <a:avLst/>
          </a:prstGeom>
          <a:solidFill>
            <a:srgbClr val="D3D9E1"/>
          </a:solidFill>
          <a:ln>
            <a:noFill/>
          </a:ln>
        </p:spPr>
        <p:txBody>
          <a:bodyPr rtlCol="0" anchor="ctr"/>
          <a:lstStyle/>
          <a:p>
            <a:pPr algn="ctr"/>
          </a:p>
        </p:txBody>
      </p:sp>
      <p:sp>
        <p:nvSpPr>
          <p:cNvPr id="4" name="TextBox 3"/>
          <p:cNvSpPr txBox="1"/>
          <p:nvPr/>
        </p:nvSpPr>
        <p:spPr>
          <a:xfrm>
            <a:off x="548640" y="3063239"/>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01</a:t>
            </a:r>
          </a:p>
        </p:txBody>
      </p:sp>
      <p:sp>
        <p:nvSpPr>
          <p:cNvPr id="5" name="TextBox 4"/>
          <p:cNvSpPr txBox="1"/>
          <p:nvPr/>
        </p:nvSpPr>
        <p:spPr>
          <a:xfrm>
            <a:off x="1417319" y="3063239"/>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프로세스 설계의 재사용: 세 가지 업무와 하나의 패턴</a:t>
            </a:r>
          </a:p>
        </p:txBody>
      </p:sp>
      <p:sp>
        <p:nvSpPr>
          <p:cNvPr id="6" name="Rounded Rectangle 5"/>
          <p:cNvSpPr/>
          <p:nvPr/>
        </p:nvSpPr>
        <p:spPr>
          <a:xfrm>
            <a:off x="10088575" y="3282695"/>
            <a:ext cx="1371600" cy="292608"/>
          </a:xfrm>
          <a:prstGeom prst="roundRect">
            <a:avLst>
              <a:gd name="adj" fmla="val 50000"/>
            </a:avLst>
          </a:prstGeom>
          <a:solidFill>
            <a:srgbClr val="D3D9E1"/>
          </a:solidFill>
          <a:ln>
            <a:noFill/>
          </a:ln>
        </p:spPr>
        <p:txBody>
          <a:bodyPr rtlCol="0" anchor="ctr"/>
          <a:lstStyle/>
          <a:p>
            <a:pPr algn="ctr"/>
          </a:p>
        </p:txBody>
      </p:sp>
      <p:sp>
        <p:nvSpPr>
          <p:cNvPr id="7" name="TextBox 6"/>
          <p:cNvSpPr txBox="1"/>
          <p:nvPr/>
        </p:nvSpPr>
        <p:spPr>
          <a:xfrm>
            <a:off x="10088575" y="328269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 · 실습</a:t>
            </a:r>
          </a:p>
        </p:txBody>
      </p:sp>
      <p:sp>
        <p:nvSpPr>
          <p:cNvPr id="8" name="Rectangle 7"/>
          <p:cNvSpPr/>
          <p:nvPr/>
        </p:nvSpPr>
        <p:spPr>
          <a:xfrm>
            <a:off x="548640" y="3785615"/>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548640" y="3794759"/>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02</a:t>
            </a:r>
          </a:p>
        </p:txBody>
      </p:sp>
      <p:sp>
        <p:nvSpPr>
          <p:cNvPr id="10" name="TextBox 9"/>
          <p:cNvSpPr txBox="1"/>
          <p:nvPr/>
        </p:nvSpPr>
        <p:spPr>
          <a:xfrm>
            <a:off x="1417319" y="3794759"/>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AI와 사람이 함께 수행하는 업무 흐름의 정리</a:t>
            </a:r>
          </a:p>
        </p:txBody>
      </p:sp>
      <p:sp>
        <p:nvSpPr>
          <p:cNvPr id="11" name="Rounded Rectangle 10"/>
          <p:cNvSpPr/>
          <p:nvPr/>
        </p:nvSpPr>
        <p:spPr>
          <a:xfrm>
            <a:off x="10088575" y="4014215"/>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10088575" y="401421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a:t>
            </a:r>
          </a:p>
        </p:txBody>
      </p:sp>
      <p:sp>
        <p:nvSpPr>
          <p:cNvPr id="13" name="TextBox 12"/>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01</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프로세스 설계의 재사용:</a:t>
            </a:r>
          </a:p>
          <a:p>
            <a:pPr algn="l">
              <a:lnSpc>
                <a:spcPct val="110000"/>
              </a:lnSpc>
            </a:pPr>
            <a:r>
              <a:rPr sz="3400" b="1">
                <a:solidFill>
                  <a:srgbClr val="13294B"/>
                </a:solidFill>
                <a:latin typeface="맑은 고딕"/>
                <a:ea typeface="맑은 고딕"/>
                <a:cs typeface="맑은 고딕"/>
              </a:rPr>
              <a:t>세 가지 업무와 하나의 패턴</a:t>
            </a:r>
          </a:p>
        </p:txBody>
      </p:sp>
      <p:sp>
        <p:nvSpPr>
          <p:cNvPr id="6" name="Rounded Rectangle 5"/>
          <p:cNvSpPr/>
          <p:nvPr/>
        </p:nvSpPr>
        <p:spPr>
          <a:xfrm>
            <a:off x="3108960" y="4160520"/>
            <a:ext cx="1290319"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1290319"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 · 실습</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달라지는 것은 값으로 정하고 같은 것은 구조로 다시 쓰는 설계</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긴급 대응 뒤에 기다리는 두 가지 업무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쿨러 경보를 처리한 뒤에도 HYD-02에는 정기 점검이 도래해 있고 HYD-03의 예비품 재고는 기준 아래로 내려가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a:t>
            </a:r>
          </a:p>
        </p:txBody>
      </p:sp>
      <p:pic>
        <p:nvPicPr>
          <p:cNvPr id="6" name="삽화:세시작.svg" descr="illust_8141876567404953159_179174371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35656" y="4889571"/>
            <a:ext cx="305465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설비 경보</a:t>
            </a:r>
          </a:p>
          <a:p>
            <a:pPr algn="ctr">
              <a:lnSpc>
                <a:spcPct val="110000"/>
              </a:lnSpc>
              <a:spcAft>
                <a:spcPts val="100"/>
              </a:spcAft>
            </a:pPr>
            <a:r>
              <a:rPr sz="1300" b="0">
                <a:solidFill>
                  <a:srgbClr val="556175"/>
                </a:solidFill>
                <a:latin typeface="맑은 고딕"/>
                <a:ea typeface="맑은 고딕"/>
                <a:cs typeface="맑은 고딕"/>
              </a:rPr>
              <a:t>HYD-01 · 유온이 오르고 냉각 효율이 떨어졌다</a:t>
            </a:r>
          </a:p>
        </p:txBody>
      </p:sp>
      <p:sp>
        <p:nvSpPr>
          <p:cNvPr id="8" name="TextBox 7"/>
          <p:cNvSpPr txBox="1"/>
          <p:nvPr/>
        </p:nvSpPr>
        <p:spPr>
          <a:xfrm>
            <a:off x="4513970" y="4889571"/>
            <a:ext cx="305465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정기 점검 도래</a:t>
            </a:r>
          </a:p>
          <a:p>
            <a:pPr algn="ctr">
              <a:lnSpc>
                <a:spcPct val="110000"/>
              </a:lnSpc>
              <a:spcAft>
                <a:spcPts val="100"/>
              </a:spcAft>
            </a:pPr>
            <a:r>
              <a:rPr sz="1300" b="0">
                <a:solidFill>
                  <a:srgbClr val="556175"/>
                </a:solidFill>
                <a:latin typeface="맑은 고딕"/>
                <a:ea typeface="맑은 고딕"/>
                <a:cs typeface="맑은 고딕"/>
              </a:rPr>
              <a:t>HYD-02 · 운전시간 1,950 h, 점검 주기 2,000 h</a:t>
            </a:r>
          </a:p>
        </p:txBody>
      </p:sp>
      <p:sp>
        <p:nvSpPr>
          <p:cNvPr id="9" name="TextBox 8"/>
          <p:cNvSpPr txBox="1"/>
          <p:nvPr/>
        </p:nvSpPr>
        <p:spPr>
          <a:xfrm>
            <a:off x="8092285" y="4889571"/>
            <a:ext cx="305465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재고 부족</a:t>
            </a:r>
          </a:p>
          <a:p>
            <a:pPr algn="ctr">
              <a:lnSpc>
                <a:spcPct val="110000"/>
              </a:lnSpc>
              <a:spcAft>
                <a:spcPts val="100"/>
              </a:spcAft>
            </a:pPr>
            <a:r>
              <a:rPr sz="1300" b="0">
                <a:solidFill>
                  <a:srgbClr val="556175"/>
                </a:solidFill>
                <a:latin typeface="맑은 고딕"/>
                <a:ea typeface="맑은 고딕"/>
                <a:cs typeface="맑은 고딕"/>
              </a:rPr>
              <a:t>HYD-03 · 펌프 축 씰 키트의 가용 재고 1개</a:t>
            </a:r>
          </a:p>
        </p:txBody>
      </p:sp>
      <p:sp>
        <p:nvSpPr>
          <p:cNvPr id="10" name="TextBox 9"/>
          <p:cNvSpPr txBox="1"/>
          <p:nvPr/>
        </p:nvSpPr>
        <p:spPr>
          <a:xfrm>
            <a:off x="935656" y="5882335"/>
            <a:ext cx="3054658"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긴급 대응 프로세스가 있다</a:t>
            </a:r>
          </a:p>
        </p:txBody>
      </p:sp>
      <p:sp>
        <p:nvSpPr>
          <p:cNvPr id="11" name="TextBox 10"/>
          <p:cNvSpPr txBox="1"/>
          <p:nvPr/>
        </p:nvSpPr>
        <p:spPr>
          <a:xfrm>
            <a:off x="4513970" y="5882335"/>
            <a:ext cx="305465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프로세스가 아직 없다</a:t>
            </a:r>
          </a:p>
        </p:txBody>
      </p:sp>
      <p:sp>
        <p:nvSpPr>
          <p:cNvPr id="12" name="TextBox 11"/>
          <p:cNvSpPr txBox="1"/>
          <p:nvPr/>
        </p:nvSpPr>
        <p:spPr>
          <a:xfrm>
            <a:off x="8092285" y="5882335"/>
            <a:ext cx="305465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프로세스가 아직 없다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세 업무에서 달라지는 네 가지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업무는 시작 조건, 에이전트의 판단, 승인자, 실행 시스템이 다르고, 추천안이 승인을 거쳐 처리로 가는 순서는 같다.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a:t>
            </a:r>
          </a:p>
        </p:txBody>
      </p:sp>
      <p:sp>
        <p:nvSpPr>
          <p:cNvPr id="6" name="Rounded Rectangle 5"/>
          <p:cNvSpPr/>
          <p:nvPr/>
        </p:nvSpPr>
        <p:spPr>
          <a:xfrm>
            <a:off x="548640" y="2489200"/>
            <a:ext cx="3515258" cy="300431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TextBox 6"/>
          <p:cNvSpPr txBox="1"/>
          <p:nvPr/>
        </p:nvSpPr>
        <p:spPr>
          <a:xfrm>
            <a:off x="713232" y="2690368"/>
            <a:ext cx="3186074" cy="230022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긴급 대응</a:t>
            </a:r>
          </a:p>
          <a:p>
            <a:pPr algn="l">
              <a:lnSpc>
                <a:spcPct val="110000"/>
              </a:lnSpc>
              <a:spcAft>
                <a:spcPts val="400"/>
              </a:spcAft>
            </a:pPr>
            <a:r>
              <a:rPr sz="1400" b="0">
                <a:solidFill>
                  <a:srgbClr val="1F2A3A"/>
                </a:solidFill>
                <a:latin typeface="맑은 고딕"/>
                <a:ea typeface="맑은 고딕"/>
                <a:cs typeface="맑은 고딕"/>
              </a:rPr>
              <a:t>• 시작: 쿨러 성능 저하 경보</a:t>
            </a:r>
          </a:p>
          <a:p>
            <a:pPr algn="l">
              <a:lnSpc>
                <a:spcPct val="110000"/>
              </a:lnSpc>
              <a:spcAft>
                <a:spcPts val="400"/>
              </a:spcAft>
            </a:pPr>
            <a:r>
              <a:rPr sz="1400" b="0">
                <a:solidFill>
                  <a:srgbClr val="1F2A3A"/>
                </a:solidFill>
                <a:latin typeface="맑은 고딕"/>
                <a:ea typeface="맑은 고딕"/>
                <a:cs typeface="맑은 고딕"/>
              </a:rPr>
              <a:t>• 에이전트: 원인을 진단하고 냉각 조치 후보를 견주어 추천한다</a:t>
            </a:r>
          </a:p>
          <a:p>
            <a:pPr algn="l">
              <a:lnSpc>
                <a:spcPct val="110000"/>
              </a:lnSpc>
              <a:spcAft>
                <a:spcPts val="400"/>
              </a:spcAft>
            </a:pPr>
            <a:r>
              <a:rPr sz="1400" b="0">
                <a:solidFill>
                  <a:srgbClr val="1F2A3A"/>
                </a:solidFill>
                <a:latin typeface="맑은 고딕"/>
                <a:ea typeface="맑은 고딕"/>
                <a:cs typeface="맑은 고딕"/>
              </a:rPr>
              <a:t>• 승인자: 운전원</a:t>
            </a:r>
          </a:p>
          <a:p>
            <a:pPr algn="l">
              <a:lnSpc>
                <a:spcPct val="110000"/>
              </a:lnSpc>
              <a:spcAft>
                <a:spcPts val="400"/>
              </a:spcAft>
            </a:pPr>
            <a:r>
              <a:rPr sz="1400" b="0">
                <a:solidFill>
                  <a:srgbClr val="1F2A3A"/>
                </a:solidFill>
                <a:latin typeface="맑은 고딕"/>
                <a:ea typeface="맑은 고딕"/>
                <a:cs typeface="맑은 고딕"/>
              </a:rPr>
              <a:t>• 실행: SCADA, CMMS</a:t>
            </a:r>
          </a:p>
        </p:txBody>
      </p:sp>
      <p:sp>
        <p:nvSpPr>
          <p:cNvPr id="8" name="Rounded Rectangle 7"/>
          <p:cNvSpPr/>
          <p:nvPr/>
        </p:nvSpPr>
        <p:spPr>
          <a:xfrm>
            <a:off x="777240" y="5063744"/>
            <a:ext cx="917448" cy="292608"/>
          </a:xfrm>
          <a:prstGeom prst="roundRect">
            <a:avLst>
              <a:gd name="adj" fmla="val 50000"/>
            </a:avLst>
          </a:prstGeom>
          <a:solidFill>
            <a:srgbClr val="D3D9E1"/>
          </a:solidFill>
          <a:ln>
            <a:noFill/>
          </a:ln>
        </p:spPr>
        <p:txBody>
          <a:bodyPr rtlCol="0" anchor="ctr"/>
          <a:lstStyle/>
          <a:p>
            <a:pPr algn="ctr"/>
          </a:p>
        </p:txBody>
      </p:sp>
      <p:sp>
        <p:nvSpPr>
          <p:cNvPr id="9" name="TextBox 8"/>
          <p:cNvSpPr txBox="1"/>
          <p:nvPr/>
        </p:nvSpPr>
        <p:spPr>
          <a:xfrm>
            <a:off x="777240" y="5063744"/>
            <a:ext cx="91744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HYD-01</a:t>
            </a:r>
          </a:p>
        </p:txBody>
      </p:sp>
      <p:sp>
        <p:nvSpPr>
          <p:cNvPr id="10" name="Rounded Rectangle 9"/>
          <p:cNvSpPr/>
          <p:nvPr/>
        </p:nvSpPr>
        <p:spPr>
          <a:xfrm>
            <a:off x="4338218" y="2489200"/>
            <a:ext cx="3515258" cy="300431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1" name="TextBox 10"/>
          <p:cNvSpPr txBox="1"/>
          <p:nvPr/>
        </p:nvSpPr>
        <p:spPr>
          <a:xfrm>
            <a:off x="4502810" y="2690368"/>
            <a:ext cx="3186074" cy="230022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정기 점검</a:t>
            </a:r>
          </a:p>
          <a:p>
            <a:pPr algn="l">
              <a:lnSpc>
                <a:spcPct val="110000"/>
              </a:lnSpc>
              <a:spcAft>
                <a:spcPts val="400"/>
              </a:spcAft>
            </a:pPr>
            <a:r>
              <a:rPr sz="1400" b="0">
                <a:solidFill>
                  <a:srgbClr val="1F2A3A"/>
                </a:solidFill>
                <a:latin typeface="맑은 고딕"/>
                <a:ea typeface="맑은 고딕"/>
                <a:cs typeface="맑은 고딕"/>
              </a:rPr>
              <a:t>• 시작: 정기 점검 도래 경보</a:t>
            </a:r>
          </a:p>
          <a:p>
            <a:pPr algn="l">
              <a:lnSpc>
                <a:spcPct val="110000"/>
              </a:lnSpc>
              <a:spcAft>
                <a:spcPts val="400"/>
              </a:spcAft>
            </a:pPr>
            <a:r>
              <a:rPr sz="1400" b="0">
                <a:solidFill>
                  <a:srgbClr val="1F2A3A"/>
                </a:solidFill>
                <a:latin typeface="맑은 고딕"/>
                <a:ea typeface="맑은 고딕"/>
                <a:cs typeface="맑은 고딕"/>
              </a:rPr>
              <a:t>• 에이전트: 운전시간, 생산 오더, 정비 인원, 예비품을 저울질해 정비할 시점을 제안한다</a:t>
            </a:r>
          </a:p>
          <a:p>
            <a:pPr algn="l">
              <a:lnSpc>
                <a:spcPct val="110000"/>
              </a:lnSpc>
              <a:spcAft>
                <a:spcPts val="400"/>
              </a:spcAft>
            </a:pPr>
            <a:r>
              <a:rPr sz="1400" b="0">
                <a:solidFill>
                  <a:srgbClr val="1F2A3A"/>
                </a:solidFill>
                <a:latin typeface="맑은 고딕"/>
                <a:ea typeface="맑은 고딕"/>
                <a:cs typeface="맑은 고딕"/>
              </a:rPr>
              <a:t>• 승인자: 설비보전팀장</a:t>
            </a:r>
          </a:p>
          <a:p>
            <a:pPr algn="l">
              <a:lnSpc>
                <a:spcPct val="110000"/>
              </a:lnSpc>
              <a:spcAft>
                <a:spcPts val="400"/>
              </a:spcAft>
            </a:pPr>
            <a:r>
              <a:rPr sz="1400" b="0">
                <a:solidFill>
                  <a:srgbClr val="1F2A3A"/>
                </a:solidFill>
                <a:latin typeface="맑은 고딕"/>
                <a:ea typeface="맑은 고딕"/>
                <a:cs typeface="맑은 고딕"/>
              </a:rPr>
              <a:t>• 실행: CMMS, 메일</a:t>
            </a:r>
          </a:p>
        </p:txBody>
      </p:sp>
      <p:sp>
        <p:nvSpPr>
          <p:cNvPr id="12" name="Rounded Rectangle 11"/>
          <p:cNvSpPr/>
          <p:nvPr/>
        </p:nvSpPr>
        <p:spPr>
          <a:xfrm>
            <a:off x="4566818" y="5063744"/>
            <a:ext cx="917448" cy="292608"/>
          </a:xfrm>
          <a:prstGeom prst="roundRect">
            <a:avLst>
              <a:gd name="adj" fmla="val 50000"/>
            </a:avLst>
          </a:prstGeom>
          <a:solidFill>
            <a:srgbClr val="D3D9E1"/>
          </a:solidFill>
          <a:ln>
            <a:noFill/>
          </a:ln>
        </p:spPr>
        <p:txBody>
          <a:bodyPr rtlCol="0" anchor="ctr"/>
          <a:lstStyle/>
          <a:p>
            <a:pPr algn="ctr"/>
          </a:p>
        </p:txBody>
      </p:sp>
      <p:sp>
        <p:nvSpPr>
          <p:cNvPr id="13" name="TextBox 12"/>
          <p:cNvSpPr txBox="1"/>
          <p:nvPr/>
        </p:nvSpPr>
        <p:spPr>
          <a:xfrm>
            <a:off x="4566818" y="5063744"/>
            <a:ext cx="91744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HYD-02</a:t>
            </a:r>
          </a:p>
        </p:txBody>
      </p:sp>
      <p:sp>
        <p:nvSpPr>
          <p:cNvPr id="14" name="Rounded Rectangle 13"/>
          <p:cNvSpPr/>
          <p:nvPr/>
        </p:nvSpPr>
        <p:spPr>
          <a:xfrm>
            <a:off x="8127796" y="2489200"/>
            <a:ext cx="3515258" cy="300431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5" name="TextBox 14"/>
          <p:cNvSpPr txBox="1"/>
          <p:nvPr/>
        </p:nvSpPr>
        <p:spPr>
          <a:xfrm>
            <a:off x="8292388" y="2690368"/>
            <a:ext cx="3186074" cy="230022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재고 보충</a:t>
            </a:r>
          </a:p>
          <a:p>
            <a:pPr algn="l">
              <a:lnSpc>
                <a:spcPct val="110000"/>
              </a:lnSpc>
              <a:spcAft>
                <a:spcPts val="400"/>
              </a:spcAft>
            </a:pPr>
            <a:r>
              <a:rPr sz="1400" b="0">
                <a:solidFill>
                  <a:srgbClr val="1F2A3A"/>
                </a:solidFill>
                <a:latin typeface="맑은 고딕"/>
                <a:ea typeface="맑은 고딕"/>
                <a:cs typeface="맑은 고딕"/>
              </a:rPr>
              <a:t>• 시작: 재고 부족 경보</a:t>
            </a:r>
          </a:p>
          <a:p>
            <a:pPr algn="l">
              <a:lnSpc>
                <a:spcPct val="110000"/>
              </a:lnSpc>
              <a:spcAft>
                <a:spcPts val="400"/>
              </a:spcAft>
            </a:pPr>
            <a:r>
              <a:rPr sz="1400" b="0">
                <a:solidFill>
                  <a:srgbClr val="1F2A3A"/>
                </a:solidFill>
                <a:latin typeface="맑은 고딕"/>
                <a:ea typeface="맑은 고딕"/>
                <a:cs typeface="맑은 고딕"/>
              </a:rPr>
              <a:t>• 에이전트: 필요량을 정하고 공급사를 금액, 납기, 품질, 회사 규정으로 비교한다</a:t>
            </a:r>
          </a:p>
          <a:p>
            <a:pPr algn="l">
              <a:lnSpc>
                <a:spcPct val="110000"/>
              </a:lnSpc>
              <a:spcAft>
                <a:spcPts val="400"/>
              </a:spcAft>
            </a:pPr>
            <a:r>
              <a:rPr sz="1400" b="0">
                <a:solidFill>
                  <a:srgbClr val="1F2A3A"/>
                </a:solidFill>
                <a:latin typeface="맑은 고딕"/>
                <a:ea typeface="맑은 고딕"/>
                <a:cs typeface="맑은 고딕"/>
              </a:rPr>
              <a:t>• 승인자: 구매 담당</a:t>
            </a:r>
          </a:p>
          <a:p>
            <a:pPr algn="l">
              <a:lnSpc>
                <a:spcPct val="110000"/>
              </a:lnSpc>
              <a:spcAft>
                <a:spcPts val="400"/>
              </a:spcAft>
            </a:pPr>
            <a:r>
              <a:rPr sz="1400" b="0">
                <a:solidFill>
                  <a:srgbClr val="1F2A3A"/>
                </a:solidFill>
                <a:latin typeface="맑은 고딕"/>
                <a:ea typeface="맑은 고딕"/>
                <a:cs typeface="맑은 고딕"/>
              </a:rPr>
              <a:t>• 실행: ERP(Enterprise Resource Planning), 메일</a:t>
            </a:r>
          </a:p>
        </p:txBody>
      </p:sp>
      <p:sp>
        <p:nvSpPr>
          <p:cNvPr id="16" name="Rounded Rectangle 15"/>
          <p:cNvSpPr/>
          <p:nvPr/>
        </p:nvSpPr>
        <p:spPr>
          <a:xfrm>
            <a:off x="8356396" y="5063744"/>
            <a:ext cx="917448" cy="292608"/>
          </a:xfrm>
          <a:prstGeom prst="roundRect">
            <a:avLst>
              <a:gd name="adj" fmla="val 50000"/>
            </a:avLst>
          </a:prstGeom>
          <a:solidFill>
            <a:srgbClr val="5CB8F2"/>
          </a:solidFill>
          <a:ln>
            <a:noFill/>
          </a:ln>
        </p:spPr>
        <p:txBody>
          <a:bodyPr rtlCol="0" anchor="ctr"/>
          <a:lstStyle/>
          <a:p>
            <a:pPr algn="ctr"/>
          </a:p>
        </p:txBody>
      </p:sp>
      <p:sp>
        <p:nvSpPr>
          <p:cNvPr id="17" name="TextBox 16"/>
          <p:cNvSpPr txBox="1"/>
          <p:nvPr/>
        </p:nvSpPr>
        <p:spPr>
          <a:xfrm>
            <a:off x="8356396" y="5063744"/>
            <a:ext cx="91744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HYD-03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시작 조건: 센서 값의 규칙과 업무 데이터의 규칙</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긴급 대응은 센서 값의 규칙이, 정기 점검과 재고 보충은 업무 시스템에 쌓인 데이터의 규칙이 프로세스를 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30678"/>
            <a:ext cx="731520" cy="731520"/>
          </a:xfrm>
          <a:prstGeom prst="ellipse">
            <a:avLst/>
          </a:prstGeom>
          <a:solidFill>
            <a:srgbClr val="FFFFFF"/>
          </a:solidFill>
          <a:ln>
            <a:noFill/>
          </a:ln>
        </p:spPr>
        <p:txBody>
          <a:bodyPr rtlCol="0" anchor="ctr"/>
          <a:lstStyle/>
          <a:p>
            <a:pPr algn="ctr"/>
          </a:p>
        </p:txBody>
      </p:sp>
      <p:pic>
        <p:nvPicPr>
          <p:cNvPr id="8" name="아이콘:bell-ringing" descr="bell-ringing_13294B_1.6.png"/>
          <p:cNvPicPr>
            <a:picLocks noChangeAspect="1"/>
          </p:cNvPicPr>
          <p:nvPr/>
        </p:nvPicPr>
        <p:blipFill>
          <a:blip r:embed="rId3"/>
          <a:stretch>
            <a:fillRect/>
          </a:stretch>
        </p:blipFill>
        <p:spPr>
          <a:xfrm>
            <a:off x="976579" y="2784297"/>
            <a:ext cx="424281" cy="424281"/>
          </a:xfrm>
          <a:prstGeom prst="rect">
            <a:avLst/>
          </a:prstGeom>
        </p:spPr>
      </p:pic>
      <p:sp>
        <p:nvSpPr>
          <p:cNvPr id="9" name="TextBox 8"/>
          <p:cNvSpPr txBox="1"/>
          <p:nvPr/>
        </p:nvSpPr>
        <p:spPr>
          <a:xfrm>
            <a:off x="1691640"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센서 값의 규칙</a:t>
            </a:r>
          </a:p>
        </p:txBody>
      </p:sp>
      <p:sp>
        <p:nvSpPr>
          <p:cNvPr id="10" name="TextBox 9"/>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읽는 값: 유온 TS1, 냉각 효율 CE</a:t>
            </a:r>
          </a:p>
          <a:p>
            <a:pPr algn="l">
              <a:lnSpc>
                <a:spcPct val="110000"/>
              </a:lnSpc>
              <a:spcAft>
                <a:spcPts val="600"/>
              </a:spcAft>
            </a:pPr>
            <a:r>
              <a:rPr sz="1450" b="0">
                <a:solidFill>
                  <a:srgbClr val="1F2A3A"/>
                </a:solidFill>
                <a:latin typeface="맑은 고딕"/>
                <a:ea typeface="맑은 고딕"/>
                <a:cs typeface="맑은 고딕"/>
              </a:rPr>
              <a:t>• 규칙: TS1 &gt; 55 and CE &lt; 70 and slope(TS1) &gt; 0</a:t>
            </a:r>
          </a:p>
          <a:p>
            <a:pPr algn="l">
              <a:lnSpc>
                <a:spcPct val="110000"/>
              </a:lnSpc>
              <a:spcAft>
                <a:spcPts val="600"/>
              </a:spcAft>
            </a:pPr>
            <a:r>
              <a:rPr sz="1450" b="0">
                <a:solidFill>
                  <a:srgbClr val="1F2A3A"/>
                </a:solidFill>
                <a:latin typeface="맑은 고딕"/>
                <a:ea typeface="맑은 고딕"/>
                <a:cs typeface="맑은 고딕"/>
              </a:rPr>
              <a:t>• 경보 패턴: COOLER_DEGRADATION</a:t>
            </a:r>
          </a:p>
        </p:txBody>
      </p:sp>
      <p:sp>
        <p:nvSpPr>
          <p:cNvPr id="11" name="Rounded Rectangle 10"/>
          <p:cNvSpPr/>
          <p:nvPr/>
        </p:nvSpPr>
        <p:spPr>
          <a:xfrm>
            <a:off x="868680" y="5096002"/>
            <a:ext cx="10210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96002"/>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긴급 대응</a:t>
            </a:r>
          </a:p>
        </p:txBody>
      </p:sp>
      <p:sp>
        <p:nvSpPr>
          <p:cNvPr id="13" name="Rounded Rectangle 12"/>
          <p:cNvSpPr/>
          <p:nvPr/>
        </p:nvSpPr>
        <p:spPr>
          <a:xfrm>
            <a:off x="6461607" y="2429509"/>
            <a:ext cx="5181447" cy="312369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30678"/>
            <a:ext cx="731520" cy="731520"/>
          </a:xfrm>
          <a:prstGeom prst="ellipse">
            <a:avLst/>
          </a:prstGeom>
          <a:solidFill>
            <a:srgbClr val="5CB8F2"/>
          </a:solidFill>
          <a:ln>
            <a:noFill/>
          </a:ln>
        </p:spPr>
        <p:txBody>
          <a:bodyPr rtlCol="0" anchor="ctr"/>
          <a:lstStyle/>
          <a:p>
            <a:pPr algn="ctr"/>
          </a:p>
        </p:txBody>
      </p:sp>
      <p:pic>
        <p:nvPicPr>
          <p:cNvPr id="15" name="아이콘:calendar" descr="calendar_13294B_1.6.png"/>
          <p:cNvPicPr>
            <a:picLocks noChangeAspect="1"/>
          </p:cNvPicPr>
          <p:nvPr/>
        </p:nvPicPr>
        <p:blipFill>
          <a:blip r:embed="rId4"/>
          <a:stretch>
            <a:fillRect/>
          </a:stretch>
        </p:blipFill>
        <p:spPr>
          <a:xfrm>
            <a:off x="6889546" y="2784297"/>
            <a:ext cx="424281" cy="424281"/>
          </a:xfrm>
          <a:prstGeom prst="rect">
            <a:avLst/>
          </a:prstGeom>
        </p:spPr>
      </p:pic>
      <p:sp>
        <p:nvSpPr>
          <p:cNvPr id="16" name="TextBox 15"/>
          <p:cNvSpPr txBox="1"/>
          <p:nvPr/>
        </p:nvSpPr>
        <p:spPr>
          <a:xfrm>
            <a:off x="7604607"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업무 데이터의 규칙</a:t>
            </a:r>
          </a:p>
        </p:txBody>
      </p:sp>
      <p:sp>
        <p:nvSpPr>
          <p:cNvPr id="17" name="TextBox 16"/>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읽는 값: 설비의 운전시간, 예비품의 재고</a:t>
            </a:r>
          </a:p>
          <a:p>
            <a:pPr algn="l">
              <a:lnSpc>
                <a:spcPct val="110000"/>
              </a:lnSpc>
              <a:spcAft>
                <a:spcPts val="600"/>
              </a:spcAft>
            </a:pPr>
            <a:r>
              <a:rPr sz="1450" b="0">
                <a:solidFill>
                  <a:srgbClr val="1F2A3A"/>
                </a:solidFill>
                <a:latin typeface="맑은 고딕"/>
                <a:ea typeface="맑은 고딕"/>
                <a:cs typeface="맑은 고딕"/>
              </a:rPr>
              <a:t>• 규칙: 운전시간이 점검 주기에 가까워진다, 가용 재고가 재주문점보다 적다</a:t>
            </a:r>
          </a:p>
          <a:p>
            <a:pPr algn="l">
              <a:lnSpc>
                <a:spcPct val="110000"/>
              </a:lnSpc>
              <a:spcAft>
                <a:spcPts val="600"/>
              </a:spcAft>
            </a:pPr>
            <a:r>
              <a:rPr sz="1450" b="0">
                <a:solidFill>
                  <a:srgbClr val="1F2A3A"/>
                </a:solidFill>
                <a:latin typeface="맑은 고딕"/>
                <a:ea typeface="맑은 고딕"/>
                <a:cs typeface="맑은 고딕"/>
              </a:rPr>
              <a:t>• 경보 패턴: PM_DUE, SPARE_BELOW_MIN</a:t>
            </a:r>
          </a:p>
        </p:txBody>
      </p:sp>
      <p:sp>
        <p:nvSpPr>
          <p:cNvPr id="18" name="Rounded Rectangle 17"/>
          <p:cNvSpPr/>
          <p:nvPr/>
        </p:nvSpPr>
        <p:spPr>
          <a:xfrm>
            <a:off x="6781647" y="5096002"/>
            <a:ext cx="192024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96002"/>
            <a:ext cx="192024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정기 점검 · 재고 보충</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정기 점검 도래: 운전시간이 주기에 가까워진 사건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정기 점검은 운전시간을 기준으로 미리 하는 예방 정비이며, 주기 2,000 h보다 50 h 앞선 1,950 h에 도래 경보가 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a:t>
            </a:r>
          </a:p>
        </p:txBody>
      </p:sp>
      <p:pic>
        <p:nvPicPr>
          <p:cNvPr id="6" name="삽화:운전시간.svg" descr="illust_4785132132801811037_179174371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02927" y="3187689"/>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운전시간</a:t>
            </a:r>
          </a:p>
          <a:p>
            <a:pPr algn="ctr">
              <a:lnSpc>
                <a:spcPct val="110000"/>
              </a:lnSpc>
              <a:spcAft>
                <a:spcPts val="100"/>
              </a:spcAft>
            </a:pPr>
            <a:r>
              <a:rPr sz="1300" b="0">
                <a:solidFill>
                  <a:srgbClr val="556175"/>
                </a:solidFill>
                <a:latin typeface="맑은 고딕"/>
                <a:ea typeface="맑은 고딕"/>
                <a:cs typeface="맑은 고딕"/>
              </a:rPr>
              <a:t>마지막 정기 점검 뒤의 운전</a:t>
            </a:r>
          </a:p>
        </p:txBody>
      </p:sp>
      <p:sp>
        <p:nvSpPr>
          <p:cNvPr id="8" name="TextBox 7"/>
          <p:cNvSpPr txBox="1"/>
          <p:nvPr/>
        </p:nvSpPr>
        <p:spPr>
          <a:xfrm>
            <a:off x="4023043" y="2289474"/>
            <a:ext cx="196370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1,950 h</a:t>
            </a:r>
          </a:p>
          <a:p>
            <a:pPr algn="ctr">
              <a:lnSpc>
                <a:spcPct val="110000"/>
              </a:lnSpc>
              <a:spcAft>
                <a:spcPts val="100"/>
              </a:spcAft>
            </a:pPr>
            <a:r>
              <a:rPr sz="1300" b="0">
                <a:solidFill>
                  <a:srgbClr val="556175"/>
                </a:solidFill>
                <a:latin typeface="맑은 고딕"/>
                <a:ea typeface="맑은 고딕"/>
                <a:cs typeface="맑은 고딕"/>
              </a:rPr>
              <a:t>도래 경보 PM_DUE</a:t>
            </a:r>
          </a:p>
        </p:txBody>
      </p:sp>
      <p:sp>
        <p:nvSpPr>
          <p:cNvPr id="9" name="TextBox 8"/>
          <p:cNvSpPr txBox="1"/>
          <p:nvPr/>
        </p:nvSpPr>
        <p:spPr>
          <a:xfrm>
            <a:off x="8768673" y="2289474"/>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2,000 h</a:t>
            </a:r>
          </a:p>
          <a:p>
            <a:pPr algn="ctr">
              <a:lnSpc>
                <a:spcPct val="110000"/>
              </a:lnSpc>
              <a:spcAft>
                <a:spcPts val="100"/>
              </a:spcAft>
            </a:pPr>
            <a:r>
              <a:rPr sz="1300" b="0">
                <a:solidFill>
                  <a:srgbClr val="556175"/>
                </a:solidFill>
                <a:latin typeface="맑은 고딕"/>
                <a:ea typeface="맑은 고딕"/>
                <a:cs typeface="맑은 고딕"/>
              </a:rPr>
              <a:t>정기 점검 주기</a:t>
            </a:r>
          </a:p>
        </p:txBody>
      </p:sp>
      <p:sp>
        <p:nvSpPr>
          <p:cNvPr id="10" name="TextBox 9"/>
          <p:cNvSpPr txBox="1"/>
          <p:nvPr/>
        </p:nvSpPr>
        <p:spPr>
          <a:xfrm>
            <a:off x="5954024" y="5220492"/>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사전 알림 50 h</a:t>
            </a:r>
          </a:p>
          <a:p>
            <a:pPr algn="ctr">
              <a:lnSpc>
                <a:spcPct val="110000"/>
              </a:lnSpc>
              <a:spcAft>
                <a:spcPts val="100"/>
              </a:spcAft>
            </a:pPr>
            <a:r>
              <a:rPr sz="1300" b="0">
                <a:solidFill>
                  <a:srgbClr val="556175"/>
                </a:solidFill>
                <a:latin typeface="맑은 고딕"/>
                <a:ea typeface="맑은 고딕"/>
                <a:cs typeface="맑은 고딕"/>
              </a:rPr>
              <a:t>2,000 - 50 = 1,950 h</a:t>
            </a:r>
          </a:p>
        </p:txBody>
      </p:sp>
      <p:sp>
        <p:nvSpPr>
          <p:cNvPr id="11" name="TextBox 10"/>
          <p:cNvSpPr txBox="1"/>
          <p:nvPr/>
        </p:nvSpPr>
        <p:spPr>
          <a:xfrm>
            <a:off x="902927" y="5220492"/>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예방 정비</a:t>
            </a:r>
          </a:p>
          <a:p>
            <a:pPr algn="ctr">
              <a:lnSpc>
                <a:spcPct val="110000"/>
              </a:lnSpc>
              <a:spcAft>
                <a:spcPts val="100"/>
              </a:spcAft>
            </a:pPr>
            <a:r>
              <a:rPr sz="1300" b="0">
                <a:solidFill>
                  <a:srgbClr val="556175"/>
                </a:solidFill>
                <a:latin typeface="맑은 고딕"/>
                <a:ea typeface="맑은 고딕"/>
                <a:cs typeface="맑은 고딕"/>
              </a:rPr>
              <a:t>Preventive Maintenance · PM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재고 부족: 가용 재고가 재주문점 아래로 내려간 사건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재고는 예약분을 뺀 가용 재고로 판단하며, 씰 키트의 가용 1개가 재주문점 2개보다 적어 재고 부족 경보가 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a:t>
            </a:r>
          </a:p>
        </p:txBody>
      </p:sp>
      <p:pic>
        <p:nvPicPr>
          <p:cNvPr id="6" name="삽화:재고.svg" descr="illust_4589866147008531048_179174371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59290" y="2431298"/>
            <a:ext cx="174551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현재고 3</a:t>
            </a:r>
          </a:p>
          <a:p>
            <a:pPr algn="ctr">
              <a:lnSpc>
                <a:spcPct val="110000"/>
              </a:lnSpc>
              <a:spcAft>
                <a:spcPts val="100"/>
              </a:spcAft>
            </a:pPr>
            <a:r>
              <a:rPr sz="1100" b="0">
                <a:solidFill>
                  <a:srgbClr val="556175"/>
                </a:solidFill>
                <a:latin typeface="맑은 고딕"/>
                <a:ea typeface="맑은 고딕"/>
                <a:cs typeface="맑은 고딕"/>
              </a:rPr>
              <a:t>창고에 있는 수량</a:t>
            </a:r>
          </a:p>
        </p:txBody>
      </p:sp>
      <p:sp>
        <p:nvSpPr>
          <p:cNvPr id="8" name="TextBox 7"/>
          <p:cNvSpPr txBox="1"/>
          <p:nvPr/>
        </p:nvSpPr>
        <p:spPr>
          <a:xfrm>
            <a:off x="6314037" y="2431298"/>
            <a:ext cx="261827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정비 예약 2</a:t>
            </a:r>
          </a:p>
          <a:p>
            <a:pPr algn="ctr">
              <a:lnSpc>
                <a:spcPct val="110000"/>
              </a:lnSpc>
              <a:spcAft>
                <a:spcPts val="100"/>
              </a:spcAft>
            </a:pPr>
            <a:r>
              <a:rPr sz="1100" b="0">
                <a:solidFill>
                  <a:srgbClr val="556175"/>
                </a:solidFill>
                <a:latin typeface="맑은 고딕"/>
                <a:ea typeface="맑은 고딕"/>
                <a:cs typeface="맑은 고딕"/>
              </a:rPr>
              <a:t>예정된 정비에 쓰기로 잡아 둔 수량</a:t>
            </a:r>
          </a:p>
        </p:txBody>
      </p:sp>
      <p:sp>
        <p:nvSpPr>
          <p:cNvPr id="9" name="TextBox 8"/>
          <p:cNvSpPr txBox="1"/>
          <p:nvPr/>
        </p:nvSpPr>
        <p:spPr>
          <a:xfrm>
            <a:off x="750195" y="4653198"/>
            <a:ext cx="1963709"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가용 재고 1</a:t>
            </a:r>
          </a:p>
          <a:p>
            <a:pPr algn="ctr">
              <a:lnSpc>
                <a:spcPct val="110000"/>
              </a:lnSpc>
              <a:spcAft>
                <a:spcPts val="100"/>
              </a:spcAft>
            </a:pPr>
            <a:r>
              <a:rPr sz="1100" b="0">
                <a:solidFill>
                  <a:srgbClr val="556175"/>
                </a:solidFill>
                <a:latin typeface="맑은 고딕"/>
                <a:ea typeface="맑은 고딕"/>
                <a:cs typeface="맑은 고딕"/>
              </a:rPr>
              <a:t>현재고 3 - 정비 예약 2</a:t>
            </a:r>
          </a:p>
        </p:txBody>
      </p:sp>
      <p:sp>
        <p:nvSpPr>
          <p:cNvPr id="10" name="TextBox 9"/>
          <p:cNvSpPr txBox="1"/>
          <p:nvPr/>
        </p:nvSpPr>
        <p:spPr>
          <a:xfrm>
            <a:off x="4104864" y="3707709"/>
            <a:ext cx="174551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재주문점 2</a:t>
            </a:r>
          </a:p>
          <a:p>
            <a:pPr algn="ctr">
              <a:lnSpc>
                <a:spcPct val="110000"/>
              </a:lnSpc>
              <a:spcAft>
                <a:spcPts val="100"/>
              </a:spcAft>
            </a:pPr>
            <a:r>
              <a:rPr sz="1100" b="0">
                <a:solidFill>
                  <a:srgbClr val="556175"/>
                </a:solidFill>
                <a:latin typeface="맑은 고딕"/>
                <a:ea typeface="맑은 고딕"/>
                <a:cs typeface="맑은 고딕"/>
              </a:rPr>
              <a:t>Reorder Point</a:t>
            </a:r>
          </a:p>
        </p:txBody>
      </p:sp>
      <p:sp>
        <p:nvSpPr>
          <p:cNvPr id="11" name="TextBox 10"/>
          <p:cNvSpPr txBox="1"/>
          <p:nvPr/>
        </p:nvSpPr>
        <p:spPr>
          <a:xfrm>
            <a:off x="9695980" y="3896807"/>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목표 재고 7</a:t>
            </a:r>
          </a:p>
        </p:txBody>
      </p:sp>
      <p:sp>
        <p:nvSpPr>
          <p:cNvPr id="12" name="TextBox 11"/>
          <p:cNvSpPr txBox="1"/>
          <p:nvPr/>
        </p:nvSpPr>
        <p:spPr>
          <a:xfrm>
            <a:off x="4612156" y="5929609"/>
            <a:ext cx="5018367"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필요 수량 6 = 목표 재고 7 - 가용 재고 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세 프로세스의 같은 뼈대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프로세스를 나란히 놓으면 에이전트의 제안, 사람의 승인과 거절, 시스템의 처리, 결과 보고라는 뼈대가 같다.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10</a:t>
            </a:r>
          </a:p>
        </p:txBody>
      </p:sp>
      <p:pic>
        <p:nvPicPr>
          <p:cNvPr id="6" name="삽화:세흐름_나란히.svg" descr="illust_1288324656185082599_179174371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3346654" y="1745818"/>
            <a:ext cx="218189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같은 승인 블록</a:t>
            </a:r>
          </a:p>
        </p:txBody>
      </p:sp>
      <p:sp>
        <p:nvSpPr>
          <p:cNvPr id="8" name="TextBox 7"/>
          <p:cNvSpPr txBox="1"/>
          <p:nvPr/>
        </p:nvSpPr>
        <p:spPr>
          <a:xfrm>
            <a:off x="1732049" y="2171288"/>
            <a:ext cx="1265501"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원인 진단 · 조치 제안</a:t>
            </a:r>
          </a:p>
        </p:txBody>
      </p:sp>
      <p:sp>
        <p:nvSpPr>
          <p:cNvPr id="9" name="TextBox 8"/>
          <p:cNvSpPr txBox="1"/>
          <p:nvPr/>
        </p:nvSpPr>
        <p:spPr>
          <a:xfrm>
            <a:off x="3499387" y="2289474"/>
            <a:ext cx="1156406"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운전원 승인</a:t>
            </a:r>
          </a:p>
        </p:txBody>
      </p:sp>
      <p:sp>
        <p:nvSpPr>
          <p:cNvPr id="10" name="TextBox 9"/>
          <p:cNvSpPr txBox="1"/>
          <p:nvPr/>
        </p:nvSpPr>
        <p:spPr>
          <a:xfrm>
            <a:off x="5921295" y="2289474"/>
            <a:ext cx="1047311"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냉각 명령</a:t>
            </a:r>
          </a:p>
        </p:txBody>
      </p:sp>
      <p:sp>
        <p:nvSpPr>
          <p:cNvPr id="11" name="TextBox 10"/>
          <p:cNvSpPr txBox="1"/>
          <p:nvPr/>
        </p:nvSpPr>
        <p:spPr>
          <a:xfrm>
            <a:off x="7154068" y="2289474"/>
            <a:ext cx="1047311"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재관측</a:t>
            </a:r>
          </a:p>
        </p:txBody>
      </p:sp>
      <p:sp>
        <p:nvSpPr>
          <p:cNvPr id="12" name="TextBox 11"/>
          <p:cNvSpPr txBox="1"/>
          <p:nvPr/>
        </p:nvSpPr>
        <p:spPr>
          <a:xfrm>
            <a:off x="8386841" y="2171288"/>
            <a:ext cx="1047311"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작업지시 등록</a:t>
            </a:r>
          </a:p>
        </p:txBody>
      </p:sp>
      <p:sp>
        <p:nvSpPr>
          <p:cNvPr id="13" name="TextBox 12"/>
          <p:cNvSpPr txBox="1"/>
          <p:nvPr/>
        </p:nvSpPr>
        <p:spPr>
          <a:xfrm>
            <a:off x="9630523" y="2289474"/>
            <a:ext cx="1047311"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a:t>
            </a:r>
          </a:p>
        </p:txBody>
      </p:sp>
      <p:sp>
        <p:nvSpPr>
          <p:cNvPr id="14" name="TextBox 13"/>
          <p:cNvSpPr txBox="1"/>
          <p:nvPr/>
        </p:nvSpPr>
        <p:spPr>
          <a:xfrm>
            <a:off x="1732049" y="3778620"/>
            <a:ext cx="1265501"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정비 계획 제안</a:t>
            </a:r>
          </a:p>
        </p:txBody>
      </p:sp>
      <p:sp>
        <p:nvSpPr>
          <p:cNvPr id="15" name="TextBox 14"/>
          <p:cNvSpPr txBox="1"/>
          <p:nvPr/>
        </p:nvSpPr>
        <p:spPr>
          <a:xfrm>
            <a:off x="3412111" y="3660434"/>
            <a:ext cx="1374596"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설비보전팀장 승인</a:t>
            </a:r>
          </a:p>
        </p:txBody>
      </p:sp>
      <p:sp>
        <p:nvSpPr>
          <p:cNvPr id="16" name="TextBox 15"/>
          <p:cNvSpPr txBox="1"/>
          <p:nvPr/>
        </p:nvSpPr>
        <p:spPr>
          <a:xfrm>
            <a:off x="5834019" y="3660434"/>
            <a:ext cx="1221863"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정비 오더와 공지</a:t>
            </a:r>
          </a:p>
        </p:txBody>
      </p:sp>
      <p:sp>
        <p:nvSpPr>
          <p:cNvPr id="17" name="TextBox 16"/>
          <p:cNvSpPr txBox="1"/>
          <p:nvPr/>
        </p:nvSpPr>
        <p:spPr>
          <a:xfrm>
            <a:off x="7154068" y="3778620"/>
            <a:ext cx="1047311"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a:t>
            </a:r>
          </a:p>
        </p:txBody>
      </p:sp>
      <p:sp>
        <p:nvSpPr>
          <p:cNvPr id="18" name="TextBox 17"/>
          <p:cNvSpPr txBox="1"/>
          <p:nvPr/>
        </p:nvSpPr>
        <p:spPr>
          <a:xfrm>
            <a:off x="1732049" y="5267766"/>
            <a:ext cx="1265501"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발주안 제안</a:t>
            </a:r>
          </a:p>
        </p:txBody>
      </p:sp>
      <p:sp>
        <p:nvSpPr>
          <p:cNvPr id="19" name="TextBox 18"/>
          <p:cNvSpPr txBox="1"/>
          <p:nvPr/>
        </p:nvSpPr>
        <p:spPr>
          <a:xfrm>
            <a:off x="3521206" y="5149580"/>
            <a:ext cx="1156406"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구매 담당 승인</a:t>
            </a:r>
          </a:p>
        </p:txBody>
      </p:sp>
      <p:sp>
        <p:nvSpPr>
          <p:cNvPr id="20" name="TextBox 19"/>
          <p:cNvSpPr txBox="1"/>
          <p:nvPr/>
        </p:nvSpPr>
        <p:spPr>
          <a:xfrm>
            <a:off x="5834019" y="5149580"/>
            <a:ext cx="1221863"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ERP 발주와 통지</a:t>
            </a:r>
          </a:p>
        </p:txBody>
      </p:sp>
      <p:sp>
        <p:nvSpPr>
          <p:cNvPr id="21" name="TextBox 20"/>
          <p:cNvSpPr txBox="1"/>
          <p:nvPr/>
        </p:nvSpPr>
        <p:spPr>
          <a:xfrm>
            <a:off x="7066792" y="5149580"/>
            <a:ext cx="1221863"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입고와 재고 반영</a:t>
            </a:r>
          </a:p>
        </p:txBody>
      </p:sp>
      <p:sp>
        <p:nvSpPr>
          <p:cNvPr id="22" name="TextBox 21"/>
          <p:cNvSpPr txBox="1"/>
          <p:nvPr/>
        </p:nvSpPr>
        <p:spPr>
          <a:xfrm>
            <a:off x="8386841" y="5267766"/>
            <a:ext cx="1047311"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패턴: 되풀이되는 문제에 다시 쓰는 검증된 구조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되풀이되는 설계 문제를 한 번 풀어 검증해 둔 구조를 패턴이라 하며, 승인을 받는 자리의 요소 묶음이 그 예이다.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11</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패턴</a:t>
            </a:r>
          </a:p>
          <a:p>
            <a:pPr algn="l">
              <a:lnSpc>
                <a:spcPct val="110000"/>
              </a:lnSpc>
              <a:spcAft>
                <a:spcPts val="200"/>
              </a:spcAft>
            </a:pPr>
            <a:r>
              <a:rPr sz="1150" b="0">
                <a:solidFill>
                  <a:srgbClr val="556175"/>
                </a:solidFill>
                <a:latin typeface="맑은 고딕"/>
                <a:ea typeface="맑은 고딕"/>
                <a:cs typeface="맑은 고딕"/>
              </a:rPr>
              <a:t>Pattern</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여러 곳에서 되풀이되는 설계 문제에 다시 쓸 수 있게 다듬어 둔 구조이다.</a:t>
            </a:r>
          </a:p>
          <a:p>
            <a:pPr algn="l">
              <a:lnSpc>
                <a:spcPct val="110000"/>
              </a:lnSpc>
              <a:spcAft>
                <a:spcPts val="300"/>
              </a:spcAft>
            </a:pPr>
            <a:r>
              <a:rPr sz="1400" b="0">
                <a:solidFill>
                  <a:srgbClr val="1F2A3A"/>
                </a:solidFill>
                <a:latin typeface="맑은 고딕"/>
                <a:ea typeface="맑은 고딕"/>
                <a:cs typeface="맑은 고딕"/>
              </a:rPr>
              <a:t>새 프로세스는 패턴을 가져와 달라지는 부분만 정한다.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승인 블록</a:t>
            </a:r>
          </a:p>
          <a:p>
            <a:pPr algn="l">
              <a:lnSpc>
                <a:spcPct val="110000"/>
              </a:lnSpc>
              <a:spcAft>
                <a:spcPts val="200"/>
              </a:spcAft>
            </a:pPr>
            <a:r>
              <a:rPr sz="1150" b="0">
                <a:solidFill>
                  <a:srgbClr val="556175"/>
                </a:solidFill>
                <a:latin typeface="맑은 고딕"/>
                <a:ea typeface="맑은 고딕"/>
                <a:cs typeface="맑은 고딕"/>
              </a:rPr>
              <a:t>승인의 패턴</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승인 작업, 승인과 거절의 갈림, 승인 지연 타이머와 알림, 거절의 결과 보고와 끝 이벤트를 묶은 것이다.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재사용</a:t>
            </a:r>
          </a:p>
          <a:p>
            <a:pPr algn="l">
              <a:lnSpc>
                <a:spcPct val="110000"/>
              </a:lnSpc>
              <a:spcAft>
                <a:spcPts val="200"/>
              </a:spcAft>
            </a:pPr>
            <a:r>
              <a:rPr sz="1150" b="0">
                <a:solidFill>
                  <a:srgbClr val="556175"/>
                </a:solidFill>
                <a:latin typeface="맑은 고딕"/>
                <a:ea typeface="맑은 고딕"/>
                <a:cs typeface="맑은 고딕"/>
              </a:rPr>
              <a:t>Reuse</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검증된 구조를 고치지 않고 다른 프로세스에 다시 쓰는 일이다.</a:t>
            </a:r>
          </a:p>
          <a:p>
            <a:pPr algn="l">
              <a:lnSpc>
                <a:spcPct val="110000"/>
              </a:lnSpc>
              <a:spcAft>
                <a:spcPts val="300"/>
              </a:spcAft>
            </a:pPr>
            <a:r>
              <a:rPr sz="1400" b="0">
                <a:solidFill>
                  <a:srgbClr val="1F2A3A"/>
                </a:solidFill>
                <a:latin typeface="맑은 고딕"/>
                <a:ea typeface="맑은 고딕"/>
                <a:cs typeface="맑은 고딕"/>
              </a:rPr>
              <a:t>한 번 확인한 예외 경로가 새 프로세스에도 그대로 들어간다.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승인 블록: 같은 일곱 요소와 바뀌는 두 자리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승인 블록은 요소 일곱 개와 기한과 갈림의 조건이 세 프로세스에서 같고, 승인 역할과 승인 뒤의 첫 작업만 바뀐다.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12</a:t>
            </a:r>
          </a:p>
        </p:txBody>
      </p:sp>
      <p:pic>
        <p:nvPicPr>
          <p:cNvPr id="6" name="삽화:승인블록_자리.svg" descr="illust_1253979401244194265_179174371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153846" y="2809494"/>
            <a:ext cx="152732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제안 작업</a:t>
            </a:r>
          </a:p>
        </p:txBody>
      </p:sp>
      <p:sp>
        <p:nvSpPr>
          <p:cNvPr id="8" name="TextBox 7"/>
          <p:cNvSpPr txBox="1"/>
          <p:nvPr/>
        </p:nvSpPr>
        <p:spPr>
          <a:xfrm>
            <a:off x="3859401" y="2714945"/>
            <a:ext cx="1418234"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작업</a:t>
            </a:r>
          </a:p>
          <a:p>
            <a:pPr algn="ctr">
              <a:lnSpc>
                <a:spcPct val="110000"/>
              </a:lnSpc>
              <a:spcAft>
                <a:spcPts val="100"/>
              </a:spcAft>
            </a:pPr>
            <a:r>
              <a:rPr sz="1100" b="0">
                <a:solidFill>
                  <a:srgbClr val="556175"/>
                </a:solidFill>
                <a:latin typeface="맑은 고딕"/>
                <a:ea typeface="맑은 고딕"/>
                <a:cs typeface="맑은 고딕"/>
              </a:rPr>
              <a:t>T_approve</a:t>
            </a:r>
          </a:p>
        </p:txBody>
      </p:sp>
      <p:sp>
        <p:nvSpPr>
          <p:cNvPr id="9" name="TextBox 8"/>
          <p:cNvSpPr txBox="1"/>
          <p:nvPr/>
        </p:nvSpPr>
        <p:spPr>
          <a:xfrm>
            <a:off x="6586774" y="1816729"/>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a:t>
            </a:r>
          </a:p>
          <a:p>
            <a:pPr algn="ctr">
              <a:lnSpc>
                <a:spcPct val="110000"/>
              </a:lnSpc>
              <a:spcAft>
                <a:spcPts val="100"/>
              </a:spcAft>
            </a:pPr>
            <a:r>
              <a:rPr sz="1100" b="0">
                <a:solidFill>
                  <a:srgbClr val="556175"/>
                </a:solidFill>
                <a:latin typeface="맑은 고딕"/>
                <a:ea typeface="맑은 고딕"/>
                <a:cs typeface="맑은 고딕"/>
              </a:rPr>
              <a:t>G_approved</a:t>
            </a:r>
          </a:p>
        </p:txBody>
      </p:sp>
      <p:sp>
        <p:nvSpPr>
          <p:cNvPr id="10" name="TextBox 9"/>
          <p:cNvSpPr txBox="1"/>
          <p:nvPr/>
        </p:nvSpPr>
        <p:spPr>
          <a:xfrm>
            <a:off x="8899587" y="2644033"/>
            <a:ext cx="1854614" cy="678053"/>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승인 뒤의 첫 작업</a:t>
            </a:r>
          </a:p>
          <a:p>
            <a:pPr algn="ctr">
              <a:lnSpc>
                <a:spcPct val="110000"/>
              </a:lnSpc>
              <a:spcAft>
                <a:spcPts val="100"/>
              </a:spcAft>
            </a:pPr>
            <a:r>
              <a:rPr sz="1100" b="0">
                <a:solidFill>
                  <a:srgbClr val="556175"/>
                </a:solidFill>
                <a:latin typeface="맑은 고딕"/>
                <a:ea typeface="맑은 고딕"/>
                <a:cs typeface="맑은 고딕"/>
              </a:rPr>
              <a:t>냉각 명령 · 정비 오더 · 발주</a:t>
            </a:r>
          </a:p>
        </p:txBody>
      </p:sp>
      <p:sp>
        <p:nvSpPr>
          <p:cNvPr id="11" name="TextBox 10"/>
          <p:cNvSpPr txBox="1"/>
          <p:nvPr/>
        </p:nvSpPr>
        <p:spPr>
          <a:xfrm>
            <a:off x="8114104" y="5007757"/>
            <a:ext cx="152732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 거절</a:t>
            </a:r>
          </a:p>
          <a:p>
            <a:pPr algn="ctr">
              <a:lnSpc>
                <a:spcPct val="110000"/>
              </a:lnSpc>
              <a:spcAft>
                <a:spcPts val="100"/>
              </a:spcAft>
            </a:pPr>
            <a:r>
              <a:rPr sz="1100" b="0">
                <a:solidFill>
                  <a:srgbClr val="556175"/>
                </a:solidFill>
                <a:latin typeface="맑은 고딕"/>
                <a:ea typeface="맑은 고딕"/>
                <a:cs typeface="맑은 고딕"/>
              </a:rPr>
              <a:t>R_rejected</a:t>
            </a:r>
          </a:p>
        </p:txBody>
      </p:sp>
      <p:sp>
        <p:nvSpPr>
          <p:cNvPr id="12" name="TextBox 11"/>
          <p:cNvSpPr txBox="1"/>
          <p:nvPr/>
        </p:nvSpPr>
        <p:spPr>
          <a:xfrm>
            <a:off x="2659356" y="5007757"/>
            <a:ext cx="152732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지연 알림</a:t>
            </a:r>
          </a:p>
          <a:p>
            <a:pPr algn="ctr">
              <a:lnSpc>
                <a:spcPct val="110000"/>
              </a:lnSpc>
              <a:spcAft>
                <a:spcPts val="100"/>
              </a:spcAft>
            </a:pPr>
            <a:r>
              <a:rPr sz="1100" b="0">
                <a:solidFill>
                  <a:srgbClr val="556175"/>
                </a:solidFill>
                <a:latin typeface="맑은 고딕"/>
                <a:ea typeface="맑은 고딕"/>
                <a:cs typeface="맑은 고딕"/>
              </a:rPr>
              <a:t>T_notice</a:t>
            </a:r>
          </a:p>
        </p:txBody>
      </p:sp>
      <p:sp>
        <p:nvSpPr>
          <p:cNvPr id="13" name="TextBox 12"/>
          <p:cNvSpPr txBox="1"/>
          <p:nvPr/>
        </p:nvSpPr>
        <p:spPr>
          <a:xfrm>
            <a:off x="5419458" y="3754983"/>
            <a:ext cx="152732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지연</a:t>
            </a:r>
          </a:p>
          <a:p>
            <a:pPr algn="ctr">
              <a:lnSpc>
                <a:spcPct val="110000"/>
              </a:lnSpc>
              <a:spcAft>
                <a:spcPts val="100"/>
              </a:spcAft>
            </a:pPr>
            <a:r>
              <a:rPr sz="1100" b="0">
                <a:solidFill>
                  <a:srgbClr val="556175"/>
                </a:solidFill>
                <a:latin typeface="맑은 고딕"/>
                <a:ea typeface="맑은 고딕"/>
                <a:cs typeface="맑은 고딕"/>
              </a:rPr>
              <a:t>B_overdue · 10분</a:t>
            </a:r>
          </a:p>
        </p:txBody>
      </p:sp>
      <p:sp>
        <p:nvSpPr>
          <p:cNvPr id="14" name="TextBox 13"/>
          <p:cNvSpPr txBox="1"/>
          <p:nvPr/>
        </p:nvSpPr>
        <p:spPr>
          <a:xfrm>
            <a:off x="7732271" y="2644033"/>
            <a:ext cx="87275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a:t>
            </a:r>
          </a:p>
        </p:txBody>
      </p:sp>
      <p:sp>
        <p:nvSpPr>
          <p:cNvPr id="15" name="TextBox 14"/>
          <p:cNvSpPr txBox="1"/>
          <p:nvPr/>
        </p:nvSpPr>
        <p:spPr>
          <a:xfrm>
            <a:off x="7350439" y="3093140"/>
            <a:ext cx="1636424"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approval == '승인'</a:t>
            </a:r>
          </a:p>
        </p:txBody>
      </p:sp>
      <p:sp>
        <p:nvSpPr>
          <p:cNvPr id="16" name="TextBox 15"/>
          <p:cNvSpPr txBox="1"/>
          <p:nvPr/>
        </p:nvSpPr>
        <p:spPr>
          <a:xfrm>
            <a:off x="7077702" y="4227728"/>
            <a:ext cx="65456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거절</a:t>
            </a:r>
          </a:p>
        </p:txBody>
      </p:sp>
      <p:sp>
        <p:nvSpPr>
          <p:cNvPr id="17" name="TextBox 16"/>
          <p:cNvSpPr txBox="1"/>
          <p:nvPr/>
        </p:nvSpPr>
        <p:spPr>
          <a:xfrm>
            <a:off x="10405098" y="5598688"/>
            <a:ext cx="109094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거절 종결</a:t>
            </a:r>
          </a:p>
          <a:p>
            <a:pPr algn="ctr">
              <a:lnSpc>
                <a:spcPct val="110000"/>
              </a:lnSpc>
              <a:spcAft>
                <a:spcPts val="100"/>
              </a:spcAft>
            </a:pPr>
            <a:r>
              <a:rPr sz="1100" b="0">
                <a:solidFill>
                  <a:srgbClr val="556175"/>
                </a:solidFill>
                <a:latin typeface="맑은 고딕"/>
                <a:ea typeface="맑은 고딕"/>
                <a:cs typeface="맑은 고딕"/>
              </a:rPr>
              <a:t>E_rejected</a:t>
            </a:r>
          </a:p>
        </p:txBody>
      </p:sp>
      <p:sp>
        <p:nvSpPr>
          <p:cNvPr id="18" name="TextBox 17"/>
          <p:cNvSpPr txBox="1"/>
          <p:nvPr/>
        </p:nvSpPr>
        <p:spPr>
          <a:xfrm>
            <a:off x="935656" y="5598688"/>
            <a:ext cx="87275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알림</a:t>
            </a:r>
          </a:p>
          <a:p>
            <a:pPr algn="ctr">
              <a:lnSpc>
                <a:spcPct val="110000"/>
              </a:lnSpc>
              <a:spcAft>
                <a:spcPts val="100"/>
              </a:spcAft>
            </a:pPr>
            <a:r>
              <a:rPr sz="1100" b="0">
                <a:solidFill>
                  <a:srgbClr val="556175"/>
                </a:solidFill>
                <a:latin typeface="맑은 고딕"/>
                <a:ea typeface="맑은 고딕"/>
                <a:cs typeface="맑은 고딕"/>
              </a:rPr>
              <a:t>E_notice</a:t>
            </a:r>
          </a:p>
        </p:txBody>
      </p:sp>
      <p:sp>
        <p:nvSpPr>
          <p:cNvPr id="19" name="TextBox 18"/>
          <p:cNvSpPr txBox="1"/>
          <p:nvPr/>
        </p:nvSpPr>
        <p:spPr>
          <a:xfrm>
            <a:off x="2932094" y="1627632"/>
            <a:ext cx="3272848"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승인 역할</a:t>
            </a:r>
          </a:p>
          <a:p>
            <a:pPr algn="ctr">
              <a:lnSpc>
                <a:spcPct val="110000"/>
              </a:lnSpc>
              <a:spcAft>
                <a:spcPts val="100"/>
              </a:spcAft>
            </a:pPr>
            <a:r>
              <a:rPr sz="1100" b="0">
                <a:solidFill>
                  <a:srgbClr val="556175"/>
                </a:solidFill>
                <a:latin typeface="맑은 고딕"/>
                <a:ea typeface="맑은 고딕"/>
                <a:cs typeface="맑은 고딕"/>
              </a:rPr>
              <a:t>운전원 · 설비보전팀장 · 구매 담당</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정기 점검 프로세스의 BPMN 그림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정기 점검 프로세스는 승인 블록을 그대로 쓰고, 시작 이벤트와 제안 작업과 승인 뒤의 작업 둘만 새로 그린 것이다.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13</a:t>
            </a:r>
          </a:p>
        </p:txBody>
      </p:sp>
      <p:pic>
        <p:nvPicPr>
          <p:cNvPr id="6" name="삽화:흐름_정기점검.svg" descr="illust_7505691705944426730_179174371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95647" y="2218563"/>
            <a:ext cx="87275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담당자</a:t>
            </a:r>
          </a:p>
        </p:txBody>
      </p:sp>
      <p:sp>
        <p:nvSpPr>
          <p:cNvPr id="8" name="TextBox 7"/>
          <p:cNvSpPr txBox="1"/>
          <p:nvPr/>
        </p:nvSpPr>
        <p:spPr>
          <a:xfrm>
            <a:off x="695647" y="3282238"/>
            <a:ext cx="87275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에이전트</a:t>
            </a:r>
          </a:p>
        </p:txBody>
      </p:sp>
      <p:sp>
        <p:nvSpPr>
          <p:cNvPr id="9" name="TextBox 8"/>
          <p:cNvSpPr txBox="1"/>
          <p:nvPr/>
        </p:nvSpPr>
        <p:spPr>
          <a:xfrm>
            <a:off x="695647" y="5125943"/>
            <a:ext cx="87275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시스템</a:t>
            </a:r>
          </a:p>
        </p:txBody>
      </p:sp>
      <p:sp>
        <p:nvSpPr>
          <p:cNvPr id="10" name="TextBox 9"/>
          <p:cNvSpPr txBox="1"/>
          <p:nvPr/>
        </p:nvSpPr>
        <p:spPr>
          <a:xfrm>
            <a:off x="1415674" y="3499701"/>
            <a:ext cx="1156406"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정기 점검 요청</a:t>
            </a:r>
          </a:p>
        </p:txBody>
      </p:sp>
      <p:sp>
        <p:nvSpPr>
          <p:cNvPr id="11" name="TextBox 10"/>
          <p:cNvSpPr txBox="1"/>
          <p:nvPr/>
        </p:nvSpPr>
        <p:spPr>
          <a:xfrm>
            <a:off x="2282979" y="3022229"/>
            <a:ext cx="1352777"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정비 계획 제안</a:t>
            </a:r>
          </a:p>
        </p:txBody>
      </p:sp>
      <p:sp>
        <p:nvSpPr>
          <p:cNvPr id="12" name="TextBox 11"/>
          <p:cNvSpPr txBox="1"/>
          <p:nvPr/>
        </p:nvSpPr>
        <p:spPr>
          <a:xfrm>
            <a:off x="3444840" y="1840367"/>
            <a:ext cx="1330958"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설비보전팀장 승인</a:t>
            </a:r>
          </a:p>
        </p:txBody>
      </p:sp>
      <p:sp>
        <p:nvSpPr>
          <p:cNvPr id="13" name="TextBox 12"/>
          <p:cNvSpPr txBox="1"/>
          <p:nvPr/>
        </p:nvSpPr>
        <p:spPr>
          <a:xfrm>
            <a:off x="4808527" y="1651269"/>
            <a:ext cx="76366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a:t>
            </a:r>
          </a:p>
        </p:txBody>
      </p:sp>
      <p:sp>
        <p:nvSpPr>
          <p:cNvPr id="14" name="TextBox 13"/>
          <p:cNvSpPr txBox="1"/>
          <p:nvPr/>
        </p:nvSpPr>
        <p:spPr>
          <a:xfrm>
            <a:off x="4513970" y="2785856"/>
            <a:ext cx="545474"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지연</a:t>
            </a:r>
          </a:p>
        </p:txBody>
      </p:sp>
      <p:sp>
        <p:nvSpPr>
          <p:cNvPr id="15" name="TextBox 14"/>
          <p:cNvSpPr txBox="1"/>
          <p:nvPr/>
        </p:nvSpPr>
        <p:spPr>
          <a:xfrm>
            <a:off x="4623065" y="4085904"/>
            <a:ext cx="130913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정비 오더 · 공지 메일</a:t>
            </a:r>
          </a:p>
        </p:txBody>
      </p:sp>
      <p:sp>
        <p:nvSpPr>
          <p:cNvPr id="16" name="TextBox 15"/>
          <p:cNvSpPr txBox="1"/>
          <p:nvPr/>
        </p:nvSpPr>
        <p:spPr>
          <a:xfrm>
            <a:off x="7088611" y="4199363"/>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a:t>
            </a:r>
          </a:p>
        </p:txBody>
      </p:sp>
      <p:sp>
        <p:nvSpPr>
          <p:cNvPr id="17" name="TextBox 16"/>
          <p:cNvSpPr txBox="1"/>
          <p:nvPr/>
        </p:nvSpPr>
        <p:spPr>
          <a:xfrm>
            <a:off x="9455972" y="3825895"/>
            <a:ext cx="54547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끝</a:t>
            </a:r>
          </a:p>
        </p:txBody>
      </p:sp>
      <p:sp>
        <p:nvSpPr>
          <p:cNvPr id="18" name="TextBox 17"/>
          <p:cNvSpPr txBox="1"/>
          <p:nvPr/>
        </p:nvSpPr>
        <p:spPr>
          <a:xfrm>
            <a:off x="5474006" y="4941573"/>
            <a:ext cx="109094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 거절</a:t>
            </a:r>
          </a:p>
        </p:txBody>
      </p:sp>
      <p:sp>
        <p:nvSpPr>
          <p:cNvPr id="19" name="TextBox 18"/>
          <p:cNvSpPr txBox="1"/>
          <p:nvPr/>
        </p:nvSpPr>
        <p:spPr>
          <a:xfrm>
            <a:off x="3968496" y="4941573"/>
            <a:ext cx="981854"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지연 알림</a:t>
            </a:r>
          </a:p>
        </p:txBody>
      </p:sp>
      <p:sp>
        <p:nvSpPr>
          <p:cNvPr id="20" name="TextBox 19"/>
          <p:cNvSpPr txBox="1"/>
          <p:nvPr/>
        </p:nvSpPr>
        <p:spPr>
          <a:xfrm>
            <a:off x="6204942" y="5882335"/>
            <a:ext cx="98185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거절 종결</a:t>
            </a:r>
          </a:p>
        </p:txBody>
      </p:sp>
      <p:sp>
        <p:nvSpPr>
          <p:cNvPr id="21" name="TextBox 20"/>
          <p:cNvSpPr txBox="1"/>
          <p:nvPr/>
        </p:nvSpPr>
        <p:spPr>
          <a:xfrm>
            <a:off x="3510297" y="5882335"/>
            <a:ext cx="65456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알림</a:t>
            </a:r>
          </a:p>
        </p:txBody>
      </p:sp>
      <p:sp>
        <p:nvSpPr>
          <p:cNvPr id="22" name="TextBox 21"/>
          <p:cNvSpPr txBox="1"/>
          <p:nvPr/>
        </p:nvSpPr>
        <p:spPr>
          <a:xfrm>
            <a:off x="7623176" y="4842296"/>
            <a:ext cx="3491038" cy="678053"/>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새로 그린 것</a:t>
            </a:r>
          </a:p>
          <a:p>
            <a:pPr algn="ctr">
              <a:lnSpc>
                <a:spcPct val="110000"/>
              </a:lnSpc>
              <a:spcAft>
                <a:spcPts val="100"/>
              </a:spcAft>
            </a:pPr>
            <a:r>
              <a:rPr sz="1100" b="0">
                <a:solidFill>
                  <a:srgbClr val="556175"/>
                </a:solidFill>
                <a:latin typeface="맑은 고딕"/>
                <a:ea typeface="맑은 고딕"/>
                <a:cs typeface="맑은 고딕"/>
              </a:rPr>
              <a:t>시작 이벤트, 정비 계획 제안, 정비 오더 등록 · 공지 메일, 결과 보고</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재고 보충 프로세스의 BPMN 그림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재고 보충 프로세스도 같은 승인 블록 뒤에 발주, 입고와 재고 반영, 결과 보고의 세 작업을 이어 작업 일곱으로 완성된다.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14</a:t>
            </a:r>
          </a:p>
        </p:txBody>
      </p:sp>
      <p:pic>
        <p:nvPicPr>
          <p:cNvPr id="6" name="삽화:흐름_재고보충.svg" descr="illust_1921942848382756195_179174371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95647" y="2218563"/>
            <a:ext cx="87275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담당자</a:t>
            </a:r>
          </a:p>
        </p:txBody>
      </p:sp>
      <p:sp>
        <p:nvSpPr>
          <p:cNvPr id="8" name="TextBox 7"/>
          <p:cNvSpPr txBox="1"/>
          <p:nvPr/>
        </p:nvSpPr>
        <p:spPr>
          <a:xfrm>
            <a:off x="695647" y="3282238"/>
            <a:ext cx="87275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에이전트</a:t>
            </a:r>
          </a:p>
        </p:txBody>
      </p:sp>
      <p:sp>
        <p:nvSpPr>
          <p:cNvPr id="9" name="TextBox 8"/>
          <p:cNvSpPr txBox="1"/>
          <p:nvPr/>
        </p:nvSpPr>
        <p:spPr>
          <a:xfrm>
            <a:off x="695647" y="5125943"/>
            <a:ext cx="87275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시스템</a:t>
            </a:r>
          </a:p>
        </p:txBody>
      </p:sp>
      <p:sp>
        <p:nvSpPr>
          <p:cNvPr id="10" name="TextBox 9"/>
          <p:cNvSpPr txBox="1"/>
          <p:nvPr/>
        </p:nvSpPr>
        <p:spPr>
          <a:xfrm>
            <a:off x="1415674" y="3499701"/>
            <a:ext cx="1156406"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재고 보충 요청</a:t>
            </a:r>
          </a:p>
        </p:txBody>
      </p:sp>
      <p:sp>
        <p:nvSpPr>
          <p:cNvPr id="11" name="TextBox 10"/>
          <p:cNvSpPr txBox="1"/>
          <p:nvPr/>
        </p:nvSpPr>
        <p:spPr>
          <a:xfrm>
            <a:off x="2282979" y="3022229"/>
            <a:ext cx="1352777"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발주안 제안</a:t>
            </a:r>
          </a:p>
        </p:txBody>
      </p:sp>
      <p:sp>
        <p:nvSpPr>
          <p:cNvPr id="12" name="TextBox 11"/>
          <p:cNvSpPr txBox="1"/>
          <p:nvPr/>
        </p:nvSpPr>
        <p:spPr>
          <a:xfrm>
            <a:off x="3444840" y="2015282"/>
            <a:ext cx="133095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구매 담당 승인</a:t>
            </a:r>
          </a:p>
        </p:txBody>
      </p:sp>
      <p:sp>
        <p:nvSpPr>
          <p:cNvPr id="13" name="TextBox 12"/>
          <p:cNvSpPr txBox="1"/>
          <p:nvPr/>
        </p:nvSpPr>
        <p:spPr>
          <a:xfrm>
            <a:off x="4808527" y="1651269"/>
            <a:ext cx="76366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a:t>
            </a:r>
          </a:p>
        </p:txBody>
      </p:sp>
      <p:sp>
        <p:nvSpPr>
          <p:cNvPr id="14" name="TextBox 13"/>
          <p:cNvSpPr txBox="1"/>
          <p:nvPr/>
        </p:nvSpPr>
        <p:spPr>
          <a:xfrm>
            <a:off x="4513970" y="2785856"/>
            <a:ext cx="545474"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지연</a:t>
            </a:r>
          </a:p>
        </p:txBody>
      </p:sp>
      <p:sp>
        <p:nvSpPr>
          <p:cNvPr id="15" name="TextBox 14"/>
          <p:cNvSpPr txBox="1"/>
          <p:nvPr/>
        </p:nvSpPr>
        <p:spPr>
          <a:xfrm>
            <a:off x="4623065" y="4085904"/>
            <a:ext cx="130913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ERP 발주 · 공급사 메일</a:t>
            </a:r>
          </a:p>
        </p:txBody>
      </p:sp>
      <p:sp>
        <p:nvSpPr>
          <p:cNvPr id="16" name="TextBox 15"/>
          <p:cNvSpPr txBox="1"/>
          <p:nvPr/>
        </p:nvSpPr>
        <p:spPr>
          <a:xfrm>
            <a:off x="6728598" y="4199363"/>
            <a:ext cx="109094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입고 · 재고 반영</a:t>
            </a:r>
          </a:p>
        </p:txBody>
      </p:sp>
      <p:sp>
        <p:nvSpPr>
          <p:cNvPr id="17" name="TextBox 16"/>
          <p:cNvSpPr txBox="1"/>
          <p:nvPr/>
        </p:nvSpPr>
        <p:spPr>
          <a:xfrm>
            <a:off x="8725035" y="4199363"/>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a:t>
            </a:r>
          </a:p>
        </p:txBody>
      </p:sp>
      <p:sp>
        <p:nvSpPr>
          <p:cNvPr id="18" name="TextBox 17"/>
          <p:cNvSpPr txBox="1"/>
          <p:nvPr/>
        </p:nvSpPr>
        <p:spPr>
          <a:xfrm>
            <a:off x="10645107" y="3825895"/>
            <a:ext cx="54547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끝</a:t>
            </a:r>
          </a:p>
        </p:txBody>
      </p:sp>
      <p:sp>
        <p:nvSpPr>
          <p:cNvPr id="19" name="TextBox 18"/>
          <p:cNvSpPr txBox="1"/>
          <p:nvPr/>
        </p:nvSpPr>
        <p:spPr>
          <a:xfrm>
            <a:off x="5474006" y="4941573"/>
            <a:ext cx="109094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 거절</a:t>
            </a:r>
          </a:p>
        </p:txBody>
      </p:sp>
      <p:sp>
        <p:nvSpPr>
          <p:cNvPr id="20" name="TextBox 19"/>
          <p:cNvSpPr txBox="1"/>
          <p:nvPr/>
        </p:nvSpPr>
        <p:spPr>
          <a:xfrm>
            <a:off x="3968496" y="4941573"/>
            <a:ext cx="981854"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지연 알림</a:t>
            </a:r>
          </a:p>
        </p:txBody>
      </p:sp>
      <p:sp>
        <p:nvSpPr>
          <p:cNvPr id="21" name="TextBox 20"/>
          <p:cNvSpPr txBox="1"/>
          <p:nvPr/>
        </p:nvSpPr>
        <p:spPr>
          <a:xfrm>
            <a:off x="6204942" y="5882335"/>
            <a:ext cx="98185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거절 종결</a:t>
            </a:r>
          </a:p>
        </p:txBody>
      </p:sp>
      <p:sp>
        <p:nvSpPr>
          <p:cNvPr id="22" name="TextBox 21"/>
          <p:cNvSpPr txBox="1"/>
          <p:nvPr/>
        </p:nvSpPr>
        <p:spPr>
          <a:xfrm>
            <a:off x="3510297" y="5882335"/>
            <a:ext cx="65456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알림</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구조로 남기는 것과 값으로 정하는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변하지 않는 순서와 예외 경로는 그림의 구조로 남기고, 업무마다 변하는 것은 그림을 연결할 때 넣는 값으로 빼 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15</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30678"/>
            <a:ext cx="731520" cy="731520"/>
          </a:xfrm>
          <a:prstGeom prst="ellipse">
            <a:avLst/>
          </a:prstGeom>
          <a:solidFill>
            <a:srgbClr val="FFFFFF"/>
          </a:solidFill>
          <a:ln>
            <a:noFill/>
          </a:ln>
        </p:spPr>
        <p:txBody>
          <a:bodyPr rtlCol="0" anchor="ctr"/>
          <a:lstStyle/>
          <a:p>
            <a:pPr algn="ctr"/>
          </a:p>
        </p:txBody>
      </p:sp>
      <p:pic>
        <p:nvPicPr>
          <p:cNvPr id="8" name="아이콘:sitemap" descr="sitemap_13294B_1.6.png"/>
          <p:cNvPicPr>
            <a:picLocks noChangeAspect="1"/>
          </p:cNvPicPr>
          <p:nvPr/>
        </p:nvPicPr>
        <p:blipFill>
          <a:blip r:embed="rId3"/>
          <a:stretch>
            <a:fillRect/>
          </a:stretch>
        </p:blipFill>
        <p:spPr>
          <a:xfrm>
            <a:off x="976579" y="2784297"/>
            <a:ext cx="424281" cy="424281"/>
          </a:xfrm>
          <a:prstGeom prst="rect">
            <a:avLst/>
          </a:prstGeom>
        </p:spPr>
      </p:pic>
      <p:sp>
        <p:nvSpPr>
          <p:cNvPr id="9" name="TextBox 8"/>
          <p:cNvSpPr txBox="1"/>
          <p:nvPr/>
        </p:nvSpPr>
        <p:spPr>
          <a:xfrm>
            <a:off x="1691640"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그림의 구조</a:t>
            </a:r>
          </a:p>
        </p:txBody>
      </p:sp>
      <p:sp>
        <p:nvSpPr>
          <p:cNvPr id="10" name="TextBox 9"/>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제안, 승인 또는 거절, 처리, 결과 보고의 순서</a:t>
            </a:r>
          </a:p>
          <a:p>
            <a:pPr algn="l">
              <a:lnSpc>
                <a:spcPct val="110000"/>
              </a:lnSpc>
              <a:spcAft>
                <a:spcPts val="600"/>
              </a:spcAft>
            </a:pPr>
            <a:r>
              <a:rPr sz="1450" b="0">
                <a:solidFill>
                  <a:srgbClr val="1F2A3A"/>
                </a:solidFill>
                <a:latin typeface="맑은 고딕"/>
                <a:ea typeface="맑은 고딕"/>
                <a:cs typeface="맑은 고딕"/>
              </a:rPr>
              <a:t>• 승인 블록의 일곱 요소</a:t>
            </a:r>
          </a:p>
          <a:p>
            <a:pPr algn="l">
              <a:lnSpc>
                <a:spcPct val="110000"/>
              </a:lnSpc>
              <a:spcAft>
                <a:spcPts val="600"/>
              </a:spcAft>
            </a:pPr>
            <a:r>
              <a:rPr sz="1450" b="0">
                <a:solidFill>
                  <a:srgbClr val="1F2A3A"/>
                </a:solidFill>
                <a:latin typeface="맑은 고딕"/>
                <a:ea typeface="맑은 고딕"/>
                <a:cs typeface="맑은 고딕"/>
              </a:rPr>
              <a:t>• 거절과 무응답의 경로</a:t>
            </a:r>
          </a:p>
        </p:txBody>
      </p:sp>
      <p:sp>
        <p:nvSpPr>
          <p:cNvPr id="11" name="Rounded Rectangle 10"/>
          <p:cNvSpPr/>
          <p:nvPr/>
        </p:nvSpPr>
        <p:spPr>
          <a:xfrm>
            <a:off x="868680" y="5096002"/>
            <a:ext cx="1325879"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96002"/>
            <a:ext cx="132587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변하지 않는다</a:t>
            </a:r>
          </a:p>
        </p:txBody>
      </p:sp>
      <p:sp>
        <p:nvSpPr>
          <p:cNvPr id="13" name="Rounded Rectangle 12"/>
          <p:cNvSpPr/>
          <p:nvPr/>
        </p:nvSpPr>
        <p:spPr>
          <a:xfrm>
            <a:off x="6461607" y="2429509"/>
            <a:ext cx="5181447" cy="312369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30678"/>
            <a:ext cx="731520" cy="731520"/>
          </a:xfrm>
          <a:prstGeom prst="ellipse">
            <a:avLst/>
          </a:prstGeom>
          <a:solidFill>
            <a:srgbClr val="5CB8F2"/>
          </a:solidFill>
          <a:ln>
            <a:noFill/>
          </a:ln>
        </p:spPr>
        <p:txBody>
          <a:bodyPr rtlCol="0" anchor="ctr"/>
          <a:lstStyle/>
          <a:p>
            <a:pPr algn="ctr"/>
          </a:p>
        </p:txBody>
      </p:sp>
      <p:pic>
        <p:nvPicPr>
          <p:cNvPr id="15" name="아이콘:pencil" descr="pencil_13294B_1.6.png"/>
          <p:cNvPicPr>
            <a:picLocks noChangeAspect="1"/>
          </p:cNvPicPr>
          <p:nvPr/>
        </p:nvPicPr>
        <p:blipFill>
          <a:blip r:embed="rId4"/>
          <a:stretch>
            <a:fillRect/>
          </a:stretch>
        </p:blipFill>
        <p:spPr>
          <a:xfrm>
            <a:off x="6889546" y="2784297"/>
            <a:ext cx="424281" cy="424281"/>
          </a:xfrm>
          <a:prstGeom prst="rect">
            <a:avLst/>
          </a:prstGeom>
        </p:spPr>
      </p:pic>
      <p:sp>
        <p:nvSpPr>
          <p:cNvPr id="16" name="TextBox 15"/>
          <p:cNvSpPr txBox="1"/>
          <p:nvPr/>
        </p:nvSpPr>
        <p:spPr>
          <a:xfrm>
            <a:off x="7604607"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연결할 때 넣는 값</a:t>
            </a:r>
          </a:p>
        </p:txBody>
      </p:sp>
      <p:sp>
        <p:nvSpPr>
          <p:cNvPr id="17" name="TextBox 16"/>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프로세스를 여는 경보 패턴</a:t>
            </a:r>
          </a:p>
          <a:p>
            <a:pPr algn="l">
              <a:lnSpc>
                <a:spcPct val="110000"/>
              </a:lnSpc>
              <a:spcAft>
                <a:spcPts val="600"/>
              </a:spcAft>
            </a:pPr>
            <a:r>
              <a:rPr sz="1450" b="0">
                <a:solidFill>
                  <a:srgbClr val="1F2A3A"/>
                </a:solidFill>
                <a:latin typeface="맑은 고딕"/>
                <a:ea typeface="맑은 고딕"/>
                <a:cs typeface="맑은 고딕"/>
              </a:rPr>
              <a:t>• 제안 작업을 맡을 에이전트와 지시문</a:t>
            </a:r>
          </a:p>
          <a:p>
            <a:pPr algn="l">
              <a:lnSpc>
                <a:spcPct val="110000"/>
              </a:lnSpc>
              <a:spcAft>
                <a:spcPts val="600"/>
              </a:spcAft>
            </a:pPr>
            <a:r>
              <a:rPr sz="1450" b="0">
                <a:solidFill>
                  <a:srgbClr val="1F2A3A"/>
                </a:solidFill>
                <a:latin typeface="맑은 고딕"/>
                <a:ea typeface="맑은 고딕"/>
                <a:cs typeface="맑은 고딕"/>
              </a:rPr>
              <a:t>• 승인 역할</a:t>
            </a:r>
          </a:p>
          <a:p>
            <a:pPr algn="l">
              <a:lnSpc>
                <a:spcPct val="110000"/>
              </a:lnSpc>
              <a:spcAft>
                <a:spcPts val="600"/>
              </a:spcAft>
            </a:pPr>
            <a:r>
              <a:rPr sz="1450" b="0">
                <a:solidFill>
                  <a:srgbClr val="1F2A3A"/>
                </a:solidFill>
                <a:latin typeface="맑은 고딕"/>
                <a:ea typeface="맑은 고딕"/>
                <a:cs typeface="맑은 고딕"/>
              </a:rPr>
              <a:t>• 승인 뒤의 작업이 부를 시스템과 메일의 내용</a:t>
            </a:r>
          </a:p>
        </p:txBody>
      </p:sp>
      <p:sp>
        <p:nvSpPr>
          <p:cNvPr id="18" name="Rounded Rectangle 17"/>
          <p:cNvSpPr/>
          <p:nvPr/>
        </p:nvSpPr>
        <p:spPr>
          <a:xfrm>
            <a:off x="6781647" y="5096002"/>
            <a:ext cx="14782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96002"/>
            <a:ext cx="14782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업무마다 다르다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거절 경로의 설계: 하지 않은 일을 밝히는 결과 보고</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거절하면 처리 건은 닫혀도 점검 도래와 재고 부족은 그대로 남으므로, 거절의 결과 보고는 하지 않은 일을 밝혀 적는다.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16</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프로세스</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거절했을 때의 결과 보고</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닫힌 뒤의 상태</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긴급 대응</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「설비 명령은 내지 않았습니다」</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냉각 조치가</a:t>
            </a:r>
          </a:p>
          <a:p>
            <a:pPr algn="l">
              <a:lnSpc>
                <a:spcPct val="110000"/>
              </a:lnSpc>
            </a:pPr>
            <a:r>
              <a:rPr sz="1250" b="1">
                <a:solidFill>
                  <a:srgbClr val="556175"/>
                </a:solidFill>
                <a:latin typeface="맑은 고딕"/>
                <a:ea typeface="맑은 고딕"/>
                <a:cs typeface="맑은 고딕"/>
              </a:rPr>
              <a:t>이루어지지 않았다</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정기 점검</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「정비 오더를 내지 않았습니다」</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정기 점검 도래</a:t>
            </a:r>
          </a:p>
          <a:p>
            <a:pPr algn="l">
              <a:lnSpc>
                <a:spcPct val="110000"/>
              </a:lnSpc>
            </a:pPr>
            <a:r>
              <a:rPr sz="1250" b="1">
                <a:solidFill>
                  <a:srgbClr val="556175"/>
                </a:solidFill>
                <a:latin typeface="맑은 고딕"/>
                <a:ea typeface="맑은 고딕"/>
                <a:cs typeface="맑은 고딕"/>
              </a:rPr>
              <a:t>표시가 남는다</a:t>
            </a:r>
          </a:p>
        </p:txBody>
      </p:sp>
      <p:sp>
        <p:nvSpPr>
          <p:cNvPr id="18" name="Rounded Rectangle 17"/>
          <p:cNvSpPr/>
          <p:nvPr/>
        </p:nvSpPr>
        <p:spPr>
          <a:xfrm>
            <a:off x="548640" y="4681727"/>
            <a:ext cx="11094415" cy="850392"/>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재고 보충</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「발주하지 않았습니다」</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재고 보충 필요</a:t>
            </a:r>
          </a:p>
          <a:p>
            <a:pPr algn="l">
              <a:lnSpc>
                <a:spcPct val="110000"/>
              </a:lnSpc>
            </a:pPr>
            <a:r>
              <a:rPr sz="1250" b="1">
                <a:solidFill>
                  <a:srgbClr val="1A6FC4"/>
                </a:solidFill>
                <a:latin typeface="맑은 고딕"/>
                <a:ea typeface="맑은 고딕"/>
                <a:cs typeface="맑은 고딕"/>
              </a:rPr>
              <a:t>표시가 남는다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역할 배분: 에이전트, 사람, 시스템에 맡기는 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여러 정보를 저울질하는 일은 에이전트에, 책임이 따르는 결정은 사람에, 정해진 처리와 기록은 시스템에 맡긴다.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17</a:t>
            </a:r>
          </a:p>
        </p:txBody>
      </p:sp>
      <p:sp>
        <p:nvSpPr>
          <p:cNvPr id="6" name="Rounded Rectangle 5"/>
          <p:cNvSpPr/>
          <p:nvPr/>
        </p:nvSpPr>
        <p:spPr>
          <a:xfrm>
            <a:off x="548640"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19756"/>
            <a:ext cx="731520" cy="731520"/>
          </a:xfrm>
          <a:prstGeom prst="ellipse">
            <a:avLst/>
          </a:prstGeom>
          <a:solidFill>
            <a:srgbClr val="E7F3FD"/>
          </a:solidFill>
          <a:ln>
            <a:noFill/>
          </a:ln>
        </p:spPr>
        <p:txBody>
          <a:bodyPr rtlCol="0" anchor="ctr"/>
          <a:lstStyle/>
          <a:p>
            <a:pPr algn="ctr"/>
          </a:p>
        </p:txBody>
      </p:sp>
      <p:pic>
        <p:nvPicPr>
          <p:cNvPr id="8" name="아이콘:robot" descr="robot_13294B_1.6.png"/>
          <p:cNvPicPr>
            <a:picLocks noChangeAspect="1"/>
          </p:cNvPicPr>
          <p:nvPr/>
        </p:nvPicPr>
        <p:blipFill>
          <a:blip r:embed="rId3"/>
          <a:stretch>
            <a:fillRect/>
          </a:stretch>
        </p:blipFill>
        <p:spPr>
          <a:xfrm>
            <a:off x="930859" y="2773375"/>
            <a:ext cx="424281" cy="424281"/>
          </a:xfrm>
          <a:prstGeom prst="rect">
            <a:avLst/>
          </a:prstGeom>
        </p:spPr>
      </p:pic>
      <p:sp>
        <p:nvSpPr>
          <p:cNvPr id="9" name="TextBox 8"/>
          <p:cNvSpPr txBox="1"/>
          <p:nvPr/>
        </p:nvSpPr>
        <p:spPr>
          <a:xfrm>
            <a:off x="713232"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에이전트</a:t>
            </a:r>
          </a:p>
          <a:p>
            <a:pPr algn="l">
              <a:lnSpc>
                <a:spcPct val="110000"/>
              </a:lnSpc>
              <a:spcAft>
                <a:spcPts val="400"/>
              </a:spcAft>
            </a:pPr>
            <a:r>
              <a:rPr sz="1350" b="0">
                <a:solidFill>
                  <a:srgbClr val="1F2A3A"/>
                </a:solidFill>
                <a:latin typeface="맑은 고딕"/>
                <a:ea typeface="맑은 고딕"/>
                <a:cs typeface="맑은 고딕"/>
              </a:rPr>
              <a:t>• 지식과 현재 값을 읽어 후보를 견준다</a:t>
            </a:r>
          </a:p>
          <a:p>
            <a:pPr algn="l">
              <a:lnSpc>
                <a:spcPct val="110000"/>
              </a:lnSpc>
              <a:spcAft>
                <a:spcPts val="400"/>
              </a:spcAft>
            </a:pPr>
            <a:r>
              <a:rPr sz="1350" b="0">
                <a:solidFill>
                  <a:srgbClr val="1F2A3A"/>
                </a:solidFill>
                <a:latin typeface="맑은 고딕"/>
                <a:ea typeface="맑은 고딕"/>
                <a:cs typeface="맑은 고딕"/>
              </a:rPr>
              <a:t>• 예: 정비할 시점, 발주 수량과 공급사</a:t>
            </a:r>
          </a:p>
        </p:txBody>
      </p:sp>
      <p:sp>
        <p:nvSpPr>
          <p:cNvPr id="10" name="Rounded Rectangle 9"/>
          <p:cNvSpPr/>
          <p:nvPr/>
        </p:nvSpPr>
        <p:spPr>
          <a:xfrm>
            <a:off x="777240" y="5134356"/>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제안</a:t>
            </a:r>
          </a:p>
        </p:txBody>
      </p:sp>
      <p:sp>
        <p:nvSpPr>
          <p:cNvPr id="12" name="Rounded Rectangle 11"/>
          <p:cNvSpPr/>
          <p:nvPr/>
        </p:nvSpPr>
        <p:spPr>
          <a:xfrm>
            <a:off x="3390823"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619756"/>
            <a:ext cx="731520" cy="731520"/>
          </a:xfrm>
          <a:prstGeom prst="ellipse">
            <a:avLst/>
          </a:prstGeom>
          <a:solidFill>
            <a:srgbClr val="E7F3FD"/>
          </a:solidFill>
          <a:ln>
            <a:noFill/>
          </a:ln>
        </p:spPr>
        <p:txBody>
          <a:bodyPr rtlCol="0" anchor="ctr"/>
          <a:lstStyle/>
          <a:p>
            <a:pPr algn="ctr"/>
          </a:p>
        </p:txBody>
      </p:sp>
      <p:pic>
        <p:nvPicPr>
          <p:cNvPr id="14" name="아이콘:user-check" descr="user-check_13294B_1.6.png"/>
          <p:cNvPicPr>
            <a:picLocks noChangeAspect="1"/>
          </p:cNvPicPr>
          <p:nvPr/>
        </p:nvPicPr>
        <p:blipFill>
          <a:blip r:embed="rId4"/>
          <a:stretch>
            <a:fillRect/>
          </a:stretch>
        </p:blipFill>
        <p:spPr>
          <a:xfrm>
            <a:off x="3773043" y="2773375"/>
            <a:ext cx="424281" cy="424281"/>
          </a:xfrm>
          <a:prstGeom prst="rect">
            <a:avLst/>
          </a:prstGeom>
        </p:spPr>
      </p:pic>
      <p:sp>
        <p:nvSpPr>
          <p:cNvPr id="15" name="TextBox 14"/>
          <p:cNvSpPr txBox="1"/>
          <p:nvPr/>
        </p:nvSpPr>
        <p:spPr>
          <a:xfrm>
            <a:off x="3555415"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사람</a:t>
            </a:r>
          </a:p>
          <a:p>
            <a:pPr algn="l">
              <a:lnSpc>
                <a:spcPct val="110000"/>
              </a:lnSpc>
              <a:spcAft>
                <a:spcPts val="400"/>
              </a:spcAft>
            </a:pPr>
            <a:r>
              <a:rPr sz="1350" b="0">
                <a:solidFill>
                  <a:srgbClr val="1F2A3A"/>
                </a:solidFill>
                <a:latin typeface="맑은 고딕"/>
                <a:ea typeface="맑은 고딕"/>
                <a:cs typeface="맑은 고딕"/>
              </a:rPr>
              <a:t>• 추천안을 검토해 승인하거나 거절한다</a:t>
            </a:r>
          </a:p>
          <a:p>
            <a:pPr algn="l">
              <a:lnSpc>
                <a:spcPct val="110000"/>
              </a:lnSpc>
              <a:spcAft>
                <a:spcPts val="400"/>
              </a:spcAft>
            </a:pPr>
            <a:r>
              <a:rPr sz="1350" b="0">
                <a:solidFill>
                  <a:srgbClr val="1F2A3A"/>
                </a:solidFill>
                <a:latin typeface="맑은 고딕"/>
                <a:ea typeface="맑은 고딕"/>
                <a:cs typeface="맑은 고딕"/>
              </a:rPr>
              <a:t>• 예: 설비보전팀장, 구매 담당</a:t>
            </a:r>
          </a:p>
        </p:txBody>
      </p:sp>
      <p:sp>
        <p:nvSpPr>
          <p:cNvPr id="16" name="Rounded Rectangle 15"/>
          <p:cNvSpPr/>
          <p:nvPr/>
        </p:nvSpPr>
        <p:spPr>
          <a:xfrm>
            <a:off x="3619423" y="5134356"/>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결정</a:t>
            </a:r>
          </a:p>
        </p:txBody>
      </p:sp>
      <p:sp>
        <p:nvSpPr>
          <p:cNvPr id="18" name="Rounded Rectangle 17"/>
          <p:cNvSpPr/>
          <p:nvPr/>
        </p:nvSpPr>
        <p:spPr>
          <a:xfrm>
            <a:off x="6233007"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619756"/>
            <a:ext cx="731520" cy="731520"/>
          </a:xfrm>
          <a:prstGeom prst="ellipse">
            <a:avLst/>
          </a:prstGeom>
          <a:solidFill>
            <a:srgbClr val="E7F3FD"/>
          </a:solidFill>
          <a:ln>
            <a:noFill/>
          </a:ln>
        </p:spPr>
        <p:txBody>
          <a:bodyPr rtlCol="0" anchor="ctr"/>
          <a:lstStyle/>
          <a:p>
            <a:pPr algn="ctr"/>
          </a:p>
        </p:txBody>
      </p:sp>
      <p:pic>
        <p:nvPicPr>
          <p:cNvPr id="20" name="아이콘:settings" descr="settings_13294B_1.6.png"/>
          <p:cNvPicPr>
            <a:picLocks noChangeAspect="1"/>
          </p:cNvPicPr>
          <p:nvPr/>
        </p:nvPicPr>
        <p:blipFill>
          <a:blip r:embed="rId5"/>
          <a:stretch>
            <a:fillRect/>
          </a:stretch>
        </p:blipFill>
        <p:spPr>
          <a:xfrm>
            <a:off x="6615226" y="2773375"/>
            <a:ext cx="424281" cy="424281"/>
          </a:xfrm>
          <a:prstGeom prst="rect">
            <a:avLst/>
          </a:prstGeom>
        </p:spPr>
      </p:pic>
      <p:sp>
        <p:nvSpPr>
          <p:cNvPr id="21" name="TextBox 20"/>
          <p:cNvSpPr txBox="1"/>
          <p:nvPr/>
        </p:nvSpPr>
        <p:spPr>
          <a:xfrm>
            <a:off x="6397599"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시스템</a:t>
            </a:r>
          </a:p>
          <a:p>
            <a:pPr algn="l">
              <a:lnSpc>
                <a:spcPct val="110000"/>
              </a:lnSpc>
              <a:spcAft>
                <a:spcPts val="400"/>
              </a:spcAft>
            </a:pPr>
            <a:r>
              <a:rPr sz="1350" b="0">
                <a:solidFill>
                  <a:srgbClr val="1F2A3A"/>
                </a:solidFill>
                <a:latin typeface="맑은 고딕"/>
                <a:ea typeface="맑은 고딕"/>
                <a:cs typeface="맑은 고딕"/>
              </a:rPr>
              <a:t>• 승인된 내용을 정해진 대로 실행한다</a:t>
            </a:r>
          </a:p>
          <a:p>
            <a:pPr algn="l">
              <a:lnSpc>
                <a:spcPct val="110000"/>
              </a:lnSpc>
              <a:spcAft>
                <a:spcPts val="400"/>
              </a:spcAft>
            </a:pPr>
            <a:r>
              <a:rPr sz="1350" b="0">
                <a:solidFill>
                  <a:srgbClr val="1F2A3A"/>
                </a:solidFill>
                <a:latin typeface="맑은 고딕"/>
                <a:ea typeface="맑은 고딕"/>
                <a:cs typeface="맑은 고딕"/>
              </a:rPr>
              <a:t>• 예: 정비 오더 등록, 발주, 입고 확인</a:t>
            </a:r>
          </a:p>
        </p:txBody>
      </p:sp>
      <p:sp>
        <p:nvSpPr>
          <p:cNvPr id="22" name="Rounded Rectangle 21"/>
          <p:cNvSpPr/>
          <p:nvPr/>
        </p:nvSpPr>
        <p:spPr>
          <a:xfrm>
            <a:off x="6461607" y="5134356"/>
            <a:ext cx="1219199"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134356"/>
            <a:ext cx="12191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실행 · 기록</a:t>
            </a:r>
          </a:p>
        </p:txBody>
      </p:sp>
      <p:sp>
        <p:nvSpPr>
          <p:cNvPr id="24" name="Rounded Rectangle 23"/>
          <p:cNvSpPr/>
          <p:nvPr/>
        </p:nvSpPr>
        <p:spPr>
          <a:xfrm>
            <a:off x="9075191" y="2418588"/>
            <a:ext cx="2567863" cy="314553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619756"/>
            <a:ext cx="731520" cy="731520"/>
          </a:xfrm>
          <a:prstGeom prst="ellipse">
            <a:avLst/>
          </a:prstGeom>
          <a:solidFill>
            <a:srgbClr val="5CB8F2"/>
          </a:solidFill>
          <a:ln>
            <a:noFill/>
          </a:ln>
        </p:spPr>
        <p:txBody>
          <a:bodyPr rtlCol="0" anchor="ctr"/>
          <a:lstStyle/>
          <a:p>
            <a:pPr algn="ctr"/>
          </a:p>
        </p:txBody>
      </p:sp>
      <p:pic>
        <p:nvPicPr>
          <p:cNvPr id="26" name="아이콘:lock" descr="lock_13294B_1.6.png"/>
          <p:cNvPicPr>
            <a:picLocks noChangeAspect="1"/>
          </p:cNvPicPr>
          <p:nvPr/>
        </p:nvPicPr>
        <p:blipFill>
          <a:blip r:embed="rId6"/>
          <a:stretch>
            <a:fillRect/>
          </a:stretch>
        </p:blipFill>
        <p:spPr>
          <a:xfrm>
            <a:off x="9457410" y="2773375"/>
            <a:ext cx="424281" cy="424281"/>
          </a:xfrm>
          <a:prstGeom prst="rect">
            <a:avLst/>
          </a:prstGeom>
        </p:spPr>
      </p:pic>
      <p:sp>
        <p:nvSpPr>
          <p:cNvPr id="27" name="TextBox 26"/>
          <p:cNvSpPr txBox="1"/>
          <p:nvPr/>
        </p:nvSpPr>
        <p:spPr>
          <a:xfrm>
            <a:off x="9239783"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배치의 원칙</a:t>
            </a:r>
          </a:p>
          <a:p>
            <a:pPr algn="l">
              <a:lnSpc>
                <a:spcPct val="110000"/>
              </a:lnSpc>
              <a:spcAft>
                <a:spcPts val="400"/>
              </a:spcAft>
            </a:pPr>
            <a:r>
              <a:rPr sz="1350" b="0">
                <a:solidFill>
                  <a:srgbClr val="1F2A3A"/>
                </a:solidFill>
                <a:latin typeface="맑은 고딕"/>
                <a:ea typeface="맑은 고딕"/>
                <a:cs typeface="맑은 고딕"/>
              </a:rPr>
              <a:t>설비와 업무에 효과를 내는 작업은 승인의 갈림 뒤에 둔다</a:t>
            </a:r>
          </a:p>
        </p:txBody>
      </p:sp>
      <p:sp>
        <p:nvSpPr>
          <p:cNvPr id="28" name="Rounded Rectangle 27"/>
          <p:cNvSpPr/>
          <p:nvPr/>
        </p:nvSpPr>
        <p:spPr>
          <a:xfrm>
            <a:off x="9303791" y="5134356"/>
            <a:ext cx="1219199"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134356"/>
            <a:ext cx="12191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승인 뒤 실행</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프로세스 정의가 셋일 때: 경보 패턴이 정의를 고른다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정의가 셋으로 늘어도 경보의 패턴이 인스턴스를 열 정의를 고르고, 처리 건은 자기 정의의 순서대로 따로 진행된다.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18</a:t>
            </a:r>
          </a:p>
        </p:txBody>
      </p:sp>
      <p:sp>
        <p:nvSpPr>
          <p:cNvPr id="6" name="Rounded Rectangle 5"/>
          <p:cNvSpPr/>
          <p:nvPr/>
        </p:nvSpPr>
        <p:spPr>
          <a:xfrm>
            <a:off x="548640" y="1627632"/>
            <a:ext cx="2936138" cy="4727448"/>
          </a:xfrm>
          <a:prstGeom prst="roundRect">
            <a:avLst>
              <a:gd name="adj" fmla="val 3000"/>
            </a:avLst>
          </a:prstGeom>
          <a:solidFill>
            <a:srgbClr val="F3F6F9"/>
          </a:solidFill>
          <a:ln>
            <a:noFill/>
          </a:ln>
        </p:spPr>
        <p:txBody>
          <a:bodyPr rtlCol="0" anchor="ctr"/>
          <a:lstStyle/>
          <a:p>
            <a:pPr algn="ctr"/>
          </a:p>
        </p:txBody>
      </p:sp>
      <p:sp>
        <p:nvSpPr>
          <p:cNvPr id="7" name="TextBox 6"/>
          <p:cNvSpPr txBox="1"/>
          <p:nvPr/>
        </p:nvSpPr>
        <p:spPr>
          <a:xfrm>
            <a:off x="548640" y="1673352"/>
            <a:ext cx="2936138" cy="365760"/>
          </a:xfrm>
          <a:prstGeom prst="rect">
            <a:avLst/>
          </a:prstGeom>
          <a:noFill/>
        </p:spPr>
        <p:txBody>
          <a:bodyPr wrap="square" anchor="ctr"/>
          <a:lstStyle/>
          <a:p>
            <a:pPr algn="ctr">
              <a:lnSpc>
                <a:spcPct val="110000"/>
              </a:lnSpc>
            </a:pPr>
            <a:r>
              <a:rPr sz="1400" b="1">
                <a:solidFill>
                  <a:srgbClr val="1A6FC4"/>
                </a:solidFill>
                <a:latin typeface="맑은 고딕"/>
                <a:ea typeface="맑은 고딕"/>
                <a:cs typeface="맑은 고딕"/>
              </a:rPr>
              <a:t>경보 패턴</a:t>
            </a:r>
          </a:p>
        </p:txBody>
      </p:sp>
      <p:sp>
        <p:nvSpPr>
          <p:cNvPr id="8" name="Rounded Rectangle 7"/>
          <p:cNvSpPr/>
          <p:nvPr/>
        </p:nvSpPr>
        <p:spPr>
          <a:xfrm>
            <a:off x="731520" y="2084832"/>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9" name="TextBox 8"/>
          <p:cNvSpPr txBox="1"/>
          <p:nvPr/>
        </p:nvSpPr>
        <p:spPr>
          <a:xfrm>
            <a:off x="777240" y="2084832"/>
            <a:ext cx="2478938" cy="1155192"/>
          </a:xfrm>
          <a:prstGeom prst="rect">
            <a:avLst/>
          </a:prstGeom>
          <a:noFill/>
        </p:spPr>
        <p:txBody>
          <a:bodyPr wrap="square" anchor="ctr"/>
          <a:lstStyle/>
          <a:p>
            <a:pPr algn="ctr">
              <a:lnSpc>
                <a:spcPct val="110000"/>
              </a:lnSpc>
              <a:spcAft>
                <a:spcPts val="100"/>
              </a:spcAft>
            </a:pPr>
            <a:r>
              <a:rPr sz="1450" b="1">
                <a:solidFill>
                  <a:srgbClr val="13294B"/>
                </a:solidFill>
                <a:latin typeface="맑은 고딕"/>
                <a:ea typeface="맑은 고딕"/>
                <a:cs typeface="맑은 고딕"/>
              </a:rPr>
              <a:t>COOLER_DEGRADATION</a:t>
            </a:r>
          </a:p>
          <a:p>
            <a:pPr algn="ctr">
              <a:lnSpc>
                <a:spcPct val="110000"/>
              </a:lnSpc>
              <a:spcAft>
                <a:spcPts val="100"/>
              </a:spcAft>
            </a:pPr>
            <a:r>
              <a:rPr sz="1150" b="0">
                <a:solidFill>
                  <a:srgbClr val="556175"/>
                </a:solidFill>
                <a:latin typeface="맑은 고딕"/>
                <a:ea typeface="맑은 고딕"/>
                <a:cs typeface="맑은 고딕"/>
              </a:rPr>
              <a:t>쿨러 성능 저하</a:t>
            </a:r>
          </a:p>
        </p:txBody>
      </p:sp>
      <p:sp>
        <p:nvSpPr>
          <p:cNvPr id="10" name="Rounded Rectangle 9"/>
          <p:cNvSpPr/>
          <p:nvPr/>
        </p:nvSpPr>
        <p:spPr>
          <a:xfrm>
            <a:off x="731520" y="3587496"/>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11" name="TextBox 10"/>
          <p:cNvSpPr txBox="1"/>
          <p:nvPr/>
        </p:nvSpPr>
        <p:spPr>
          <a:xfrm>
            <a:off x="777240" y="3587496"/>
            <a:ext cx="2478938" cy="1155192"/>
          </a:xfrm>
          <a:prstGeom prst="rect">
            <a:avLst/>
          </a:prstGeom>
          <a:noFill/>
        </p:spPr>
        <p:txBody>
          <a:bodyPr wrap="square" anchor="ctr"/>
          <a:lstStyle/>
          <a:p>
            <a:pPr algn="ctr">
              <a:lnSpc>
                <a:spcPct val="110000"/>
              </a:lnSpc>
              <a:spcAft>
                <a:spcPts val="100"/>
              </a:spcAft>
            </a:pPr>
            <a:r>
              <a:rPr sz="1450" b="1">
                <a:solidFill>
                  <a:srgbClr val="13294B"/>
                </a:solidFill>
                <a:latin typeface="맑은 고딕"/>
                <a:ea typeface="맑은 고딕"/>
                <a:cs typeface="맑은 고딕"/>
              </a:rPr>
              <a:t>PM_DUE</a:t>
            </a:r>
          </a:p>
          <a:p>
            <a:pPr algn="ctr">
              <a:lnSpc>
                <a:spcPct val="110000"/>
              </a:lnSpc>
              <a:spcAft>
                <a:spcPts val="100"/>
              </a:spcAft>
            </a:pPr>
            <a:r>
              <a:rPr sz="1150" b="0">
                <a:solidFill>
                  <a:srgbClr val="556175"/>
                </a:solidFill>
                <a:latin typeface="맑은 고딕"/>
                <a:ea typeface="맑은 고딕"/>
                <a:cs typeface="맑은 고딕"/>
              </a:rPr>
              <a:t>정기 점검 도래</a:t>
            </a:r>
          </a:p>
        </p:txBody>
      </p:sp>
      <p:sp>
        <p:nvSpPr>
          <p:cNvPr id="12" name="Rounded Rectangle 11"/>
          <p:cNvSpPr/>
          <p:nvPr/>
        </p:nvSpPr>
        <p:spPr>
          <a:xfrm>
            <a:off x="731520" y="5090160"/>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13" name="TextBox 12"/>
          <p:cNvSpPr txBox="1"/>
          <p:nvPr/>
        </p:nvSpPr>
        <p:spPr>
          <a:xfrm>
            <a:off x="777240" y="5090160"/>
            <a:ext cx="2478938" cy="1155192"/>
          </a:xfrm>
          <a:prstGeom prst="rect">
            <a:avLst/>
          </a:prstGeom>
          <a:noFill/>
        </p:spPr>
        <p:txBody>
          <a:bodyPr wrap="square" anchor="ctr"/>
          <a:lstStyle/>
          <a:p>
            <a:pPr algn="ctr">
              <a:lnSpc>
                <a:spcPct val="110000"/>
              </a:lnSpc>
              <a:spcAft>
                <a:spcPts val="100"/>
              </a:spcAft>
            </a:pPr>
            <a:r>
              <a:rPr sz="1450" b="1">
                <a:solidFill>
                  <a:srgbClr val="13294B"/>
                </a:solidFill>
                <a:latin typeface="맑은 고딕"/>
                <a:ea typeface="맑은 고딕"/>
                <a:cs typeface="맑은 고딕"/>
              </a:rPr>
              <a:t>SPARE_BELOW_MIN</a:t>
            </a:r>
          </a:p>
          <a:p>
            <a:pPr algn="ctr">
              <a:lnSpc>
                <a:spcPct val="110000"/>
              </a:lnSpc>
              <a:spcAft>
                <a:spcPts val="100"/>
              </a:spcAft>
            </a:pPr>
            <a:r>
              <a:rPr sz="1150" b="0">
                <a:solidFill>
                  <a:srgbClr val="556175"/>
                </a:solidFill>
                <a:latin typeface="맑은 고딕"/>
                <a:ea typeface="맑은 고딕"/>
                <a:cs typeface="맑은 고딕"/>
              </a:rPr>
              <a:t>재고 부족</a:t>
            </a:r>
          </a:p>
        </p:txBody>
      </p:sp>
      <p:sp>
        <p:nvSpPr>
          <p:cNvPr id="14" name="Rounded Rectangle 13"/>
          <p:cNvSpPr/>
          <p:nvPr/>
        </p:nvSpPr>
        <p:spPr>
          <a:xfrm>
            <a:off x="4627778" y="1627632"/>
            <a:ext cx="2936138" cy="4727448"/>
          </a:xfrm>
          <a:prstGeom prst="roundRect">
            <a:avLst>
              <a:gd name="adj" fmla="val 3000"/>
            </a:avLst>
          </a:prstGeom>
          <a:solidFill>
            <a:srgbClr val="F3F6F9"/>
          </a:solidFill>
          <a:ln>
            <a:noFill/>
          </a:ln>
        </p:spPr>
        <p:txBody>
          <a:bodyPr rtlCol="0" anchor="ctr"/>
          <a:lstStyle/>
          <a:p>
            <a:pPr algn="ctr"/>
          </a:p>
        </p:txBody>
      </p:sp>
      <p:sp>
        <p:nvSpPr>
          <p:cNvPr id="15" name="TextBox 14"/>
          <p:cNvSpPr txBox="1"/>
          <p:nvPr/>
        </p:nvSpPr>
        <p:spPr>
          <a:xfrm>
            <a:off x="4627778" y="1673352"/>
            <a:ext cx="2936138" cy="365760"/>
          </a:xfrm>
          <a:prstGeom prst="rect">
            <a:avLst/>
          </a:prstGeom>
          <a:noFill/>
        </p:spPr>
        <p:txBody>
          <a:bodyPr wrap="square" anchor="ctr"/>
          <a:lstStyle/>
          <a:p>
            <a:pPr algn="ctr">
              <a:lnSpc>
                <a:spcPct val="110000"/>
              </a:lnSpc>
            </a:pPr>
            <a:r>
              <a:rPr sz="1400" b="1">
                <a:solidFill>
                  <a:srgbClr val="1A6FC4"/>
                </a:solidFill>
                <a:latin typeface="맑은 고딕"/>
                <a:ea typeface="맑은 고딕"/>
                <a:cs typeface="맑은 고딕"/>
              </a:rPr>
              <a:t>배포된 프로세스 정의</a:t>
            </a:r>
          </a:p>
        </p:txBody>
      </p:sp>
      <p:sp>
        <p:nvSpPr>
          <p:cNvPr id="16" name="Rounded Rectangle 15"/>
          <p:cNvSpPr/>
          <p:nvPr/>
        </p:nvSpPr>
        <p:spPr>
          <a:xfrm>
            <a:off x="4810658" y="2084832"/>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17" name="TextBox 16"/>
          <p:cNvSpPr txBox="1"/>
          <p:nvPr/>
        </p:nvSpPr>
        <p:spPr>
          <a:xfrm>
            <a:off x="4856378" y="2084832"/>
            <a:ext cx="2478938" cy="1155192"/>
          </a:xfrm>
          <a:prstGeom prst="rect">
            <a:avLst/>
          </a:prstGeom>
          <a:noFill/>
        </p:spPr>
        <p:txBody>
          <a:bodyPr wrap="square" anchor="ctr"/>
          <a:lstStyle/>
          <a:p>
            <a:pPr algn="ctr">
              <a:lnSpc>
                <a:spcPct val="110000"/>
              </a:lnSpc>
              <a:spcAft>
                <a:spcPts val="100"/>
              </a:spcAft>
            </a:pPr>
            <a:r>
              <a:rPr sz="1450" b="1">
                <a:solidFill>
                  <a:srgbClr val="13294B"/>
                </a:solidFill>
                <a:latin typeface="맑은 고딕"/>
                <a:ea typeface="맑은 고딕"/>
                <a:cs typeface="맑은 고딕"/>
              </a:rPr>
              <a:t>c3_cooling</a:t>
            </a:r>
          </a:p>
          <a:p>
            <a:pPr algn="ctr">
              <a:lnSpc>
                <a:spcPct val="110000"/>
              </a:lnSpc>
              <a:spcAft>
                <a:spcPts val="100"/>
              </a:spcAft>
            </a:pPr>
            <a:r>
              <a:rPr sz="1150" b="0">
                <a:solidFill>
                  <a:srgbClr val="556175"/>
                </a:solidFill>
                <a:latin typeface="맑은 고딕"/>
                <a:ea typeface="맑은 고딕"/>
                <a:cs typeface="맑은 고딕"/>
              </a:rPr>
              <a:t>긴급 대응 프로세스</a:t>
            </a:r>
          </a:p>
        </p:txBody>
      </p:sp>
      <p:sp>
        <p:nvSpPr>
          <p:cNvPr id="18" name="Rounded Rectangle 17"/>
          <p:cNvSpPr/>
          <p:nvPr/>
        </p:nvSpPr>
        <p:spPr>
          <a:xfrm>
            <a:off x="4810658" y="3587496"/>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19" name="TextBox 18"/>
          <p:cNvSpPr txBox="1"/>
          <p:nvPr/>
        </p:nvSpPr>
        <p:spPr>
          <a:xfrm>
            <a:off x="4856378" y="3587496"/>
            <a:ext cx="2478938" cy="1155192"/>
          </a:xfrm>
          <a:prstGeom prst="rect">
            <a:avLst/>
          </a:prstGeom>
          <a:noFill/>
        </p:spPr>
        <p:txBody>
          <a:bodyPr wrap="square" anchor="ctr"/>
          <a:lstStyle/>
          <a:p>
            <a:pPr algn="ctr">
              <a:lnSpc>
                <a:spcPct val="110000"/>
              </a:lnSpc>
              <a:spcAft>
                <a:spcPts val="100"/>
              </a:spcAft>
            </a:pPr>
            <a:r>
              <a:rPr sz="1450" b="1">
                <a:solidFill>
                  <a:srgbClr val="13294B"/>
                </a:solidFill>
                <a:latin typeface="맑은 고딕"/>
                <a:ea typeface="맑은 고딕"/>
                <a:cs typeface="맑은 고딕"/>
              </a:rPr>
              <a:t>c3_pm</a:t>
            </a:r>
          </a:p>
          <a:p>
            <a:pPr algn="ctr">
              <a:lnSpc>
                <a:spcPct val="110000"/>
              </a:lnSpc>
              <a:spcAft>
                <a:spcPts val="100"/>
              </a:spcAft>
            </a:pPr>
            <a:r>
              <a:rPr sz="1150" b="0">
                <a:solidFill>
                  <a:srgbClr val="556175"/>
                </a:solidFill>
                <a:latin typeface="맑은 고딕"/>
                <a:ea typeface="맑은 고딕"/>
                <a:cs typeface="맑은 고딕"/>
              </a:rPr>
              <a:t>정기 점검 프로세스</a:t>
            </a:r>
          </a:p>
        </p:txBody>
      </p:sp>
      <p:sp>
        <p:nvSpPr>
          <p:cNvPr id="20" name="Rounded Rectangle 19"/>
          <p:cNvSpPr/>
          <p:nvPr/>
        </p:nvSpPr>
        <p:spPr>
          <a:xfrm>
            <a:off x="4810658" y="5090160"/>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21" name="TextBox 20"/>
          <p:cNvSpPr txBox="1"/>
          <p:nvPr/>
        </p:nvSpPr>
        <p:spPr>
          <a:xfrm>
            <a:off x="4856378" y="5090160"/>
            <a:ext cx="2478938" cy="1155192"/>
          </a:xfrm>
          <a:prstGeom prst="rect">
            <a:avLst/>
          </a:prstGeom>
          <a:noFill/>
        </p:spPr>
        <p:txBody>
          <a:bodyPr wrap="square" anchor="ctr"/>
          <a:lstStyle/>
          <a:p>
            <a:pPr algn="ctr">
              <a:lnSpc>
                <a:spcPct val="110000"/>
              </a:lnSpc>
              <a:spcAft>
                <a:spcPts val="100"/>
              </a:spcAft>
            </a:pPr>
            <a:r>
              <a:rPr sz="1450" b="1">
                <a:solidFill>
                  <a:srgbClr val="13294B"/>
                </a:solidFill>
                <a:latin typeface="맑은 고딕"/>
                <a:ea typeface="맑은 고딕"/>
                <a:cs typeface="맑은 고딕"/>
              </a:rPr>
              <a:t>c3_spare</a:t>
            </a:r>
          </a:p>
          <a:p>
            <a:pPr algn="ctr">
              <a:lnSpc>
                <a:spcPct val="110000"/>
              </a:lnSpc>
              <a:spcAft>
                <a:spcPts val="100"/>
              </a:spcAft>
            </a:pPr>
            <a:r>
              <a:rPr sz="1150" b="0">
                <a:solidFill>
                  <a:srgbClr val="556175"/>
                </a:solidFill>
                <a:latin typeface="맑은 고딕"/>
                <a:ea typeface="맑은 고딕"/>
                <a:cs typeface="맑은 고딕"/>
              </a:rPr>
              <a:t>재고 보충 프로세스</a:t>
            </a:r>
          </a:p>
        </p:txBody>
      </p:sp>
      <p:sp>
        <p:nvSpPr>
          <p:cNvPr id="22" name="Rounded Rectangle 21"/>
          <p:cNvSpPr/>
          <p:nvPr/>
        </p:nvSpPr>
        <p:spPr>
          <a:xfrm>
            <a:off x="8706916" y="1627632"/>
            <a:ext cx="2936138" cy="4727448"/>
          </a:xfrm>
          <a:prstGeom prst="roundRect">
            <a:avLst>
              <a:gd name="adj" fmla="val 3000"/>
            </a:avLst>
          </a:prstGeom>
          <a:solidFill>
            <a:srgbClr val="F3F6F9"/>
          </a:solidFill>
          <a:ln>
            <a:noFill/>
          </a:ln>
        </p:spPr>
        <p:txBody>
          <a:bodyPr rtlCol="0" anchor="ctr"/>
          <a:lstStyle/>
          <a:p>
            <a:pPr algn="ctr"/>
          </a:p>
        </p:txBody>
      </p:sp>
      <p:sp>
        <p:nvSpPr>
          <p:cNvPr id="23" name="TextBox 22"/>
          <p:cNvSpPr txBox="1"/>
          <p:nvPr/>
        </p:nvSpPr>
        <p:spPr>
          <a:xfrm>
            <a:off x="8706916" y="1673352"/>
            <a:ext cx="2936138" cy="365760"/>
          </a:xfrm>
          <a:prstGeom prst="rect">
            <a:avLst/>
          </a:prstGeom>
          <a:noFill/>
        </p:spPr>
        <p:txBody>
          <a:bodyPr wrap="square" anchor="ctr"/>
          <a:lstStyle/>
          <a:p>
            <a:pPr algn="ctr">
              <a:lnSpc>
                <a:spcPct val="110000"/>
              </a:lnSpc>
            </a:pPr>
            <a:r>
              <a:rPr sz="1400" b="1">
                <a:solidFill>
                  <a:srgbClr val="1A6FC4"/>
                </a:solidFill>
                <a:latin typeface="맑은 고딕"/>
                <a:ea typeface="맑은 고딕"/>
                <a:cs typeface="맑은 고딕"/>
              </a:rPr>
              <a:t>처리 건</a:t>
            </a:r>
          </a:p>
        </p:txBody>
      </p:sp>
      <p:sp>
        <p:nvSpPr>
          <p:cNvPr id="24" name="Rounded Rectangle 23"/>
          <p:cNvSpPr/>
          <p:nvPr/>
        </p:nvSpPr>
        <p:spPr>
          <a:xfrm>
            <a:off x="8889796" y="2084832"/>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25" name="TextBox 24"/>
          <p:cNvSpPr txBox="1"/>
          <p:nvPr/>
        </p:nvSpPr>
        <p:spPr>
          <a:xfrm>
            <a:off x="8935516" y="2084832"/>
            <a:ext cx="2478938" cy="1155192"/>
          </a:xfrm>
          <a:prstGeom prst="rect">
            <a:avLst/>
          </a:prstGeom>
          <a:noFill/>
        </p:spPr>
        <p:txBody>
          <a:bodyPr wrap="square" anchor="ctr"/>
          <a:lstStyle/>
          <a:p>
            <a:pPr algn="ctr">
              <a:lnSpc>
                <a:spcPct val="110000"/>
              </a:lnSpc>
              <a:spcAft>
                <a:spcPts val="100"/>
              </a:spcAft>
            </a:pPr>
            <a:r>
              <a:rPr sz="1450" b="1">
                <a:solidFill>
                  <a:srgbClr val="13294B"/>
                </a:solidFill>
                <a:latin typeface="맑은 고딕"/>
                <a:ea typeface="맑은 고딕"/>
                <a:cs typeface="맑은 고딕"/>
              </a:rPr>
              <a:t>c3_cooling.32aca7de…</a:t>
            </a:r>
          </a:p>
          <a:p>
            <a:pPr algn="ctr">
              <a:lnSpc>
                <a:spcPct val="110000"/>
              </a:lnSpc>
              <a:spcAft>
                <a:spcPts val="100"/>
              </a:spcAft>
            </a:pPr>
            <a:r>
              <a:rPr sz="1150" b="0">
                <a:solidFill>
                  <a:srgbClr val="556175"/>
                </a:solidFill>
                <a:latin typeface="맑은 고딕"/>
                <a:ea typeface="맑은 고딕"/>
                <a:cs typeface="맑은 고딕"/>
              </a:rPr>
              <a:t>HYD-01의 처리 건</a:t>
            </a:r>
          </a:p>
        </p:txBody>
      </p:sp>
      <p:sp>
        <p:nvSpPr>
          <p:cNvPr id="26" name="Rounded Rectangle 25"/>
          <p:cNvSpPr/>
          <p:nvPr/>
        </p:nvSpPr>
        <p:spPr>
          <a:xfrm>
            <a:off x="8889796" y="3587496"/>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27" name="TextBox 26"/>
          <p:cNvSpPr txBox="1"/>
          <p:nvPr/>
        </p:nvSpPr>
        <p:spPr>
          <a:xfrm>
            <a:off x="8935516" y="3587496"/>
            <a:ext cx="2478938" cy="1155192"/>
          </a:xfrm>
          <a:prstGeom prst="rect">
            <a:avLst/>
          </a:prstGeom>
          <a:noFill/>
        </p:spPr>
        <p:txBody>
          <a:bodyPr wrap="square" anchor="ctr"/>
          <a:lstStyle/>
          <a:p>
            <a:pPr algn="ctr">
              <a:lnSpc>
                <a:spcPct val="110000"/>
              </a:lnSpc>
              <a:spcAft>
                <a:spcPts val="100"/>
              </a:spcAft>
            </a:pPr>
            <a:r>
              <a:rPr sz="1450" b="1">
                <a:solidFill>
                  <a:srgbClr val="13294B"/>
                </a:solidFill>
                <a:latin typeface="맑은 고딕"/>
                <a:ea typeface="맑은 고딕"/>
                <a:cs typeface="맑은 고딕"/>
              </a:rPr>
              <a:t>c3_pm.28d73c7a…</a:t>
            </a:r>
          </a:p>
          <a:p>
            <a:pPr algn="ctr">
              <a:lnSpc>
                <a:spcPct val="110000"/>
              </a:lnSpc>
              <a:spcAft>
                <a:spcPts val="100"/>
              </a:spcAft>
            </a:pPr>
            <a:r>
              <a:rPr sz="1150" b="0">
                <a:solidFill>
                  <a:srgbClr val="556175"/>
                </a:solidFill>
                <a:latin typeface="맑은 고딕"/>
                <a:ea typeface="맑은 고딕"/>
                <a:cs typeface="맑은 고딕"/>
              </a:rPr>
              <a:t>HYD-02의 처리 건</a:t>
            </a:r>
          </a:p>
        </p:txBody>
      </p:sp>
      <p:sp>
        <p:nvSpPr>
          <p:cNvPr id="28" name="Rounded Rectangle 27"/>
          <p:cNvSpPr/>
          <p:nvPr/>
        </p:nvSpPr>
        <p:spPr>
          <a:xfrm>
            <a:off x="8889796" y="5090160"/>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29" name="TextBox 28"/>
          <p:cNvSpPr txBox="1"/>
          <p:nvPr/>
        </p:nvSpPr>
        <p:spPr>
          <a:xfrm>
            <a:off x="8935516" y="5090160"/>
            <a:ext cx="2478938" cy="1155192"/>
          </a:xfrm>
          <a:prstGeom prst="rect">
            <a:avLst/>
          </a:prstGeom>
          <a:noFill/>
        </p:spPr>
        <p:txBody>
          <a:bodyPr wrap="square" anchor="ctr"/>
          <a:lstStyle/>
          <a:p>
            <a:pPr algn="ctr">
              <a:lnSpc>
                <a:spcPct val="110000"/>
              </a:lnSpc>
              <a:spcAft>
                <a:spcPts val="100"/>
              </a:spcAft>
            </a:pPr>
            <a:r>
              <a:rPr sz="1450" b="1">
                <a:solidFill>
                  <a:srgbClr val="13294B"/>
                </a:solidFill>
                <a:latin typeface="맑은 고딕"/>
                <a:ea typeface="맑은 고딕"/>
                <a:cs typeface="맑은 고딕"/>
              </a:rPr>
              <a:t>c3_spare.8b48bf5f…</a:t>
            </a:r>
          </a:p>
          <a:p>
            <a:pPr algn="ctr">
              <a:lnSpc>
                <a:spcPct val="110000"/>
              </a:lnSpc>
              <a:spcAft>
                <a:spcPts val="100"/>
              </a:spcAft>
            </a:pPr>
            <a:r>
              <a:rPr sz="1150" b="0">
                <a:solidFill>
                  <a:srgbClr val="556175"/>
                </a:solidFill>
                <a:latin typeface="맑은 고딕"/>
                <a:ea typeface="맑은 고딕"/>
                <a:cs typeface="맑은 고딕"/>
              </a:rPr>
              <a:t>HYD-03의 처리 건</a:t>
            </a:r>
          </a:p>
        </p:txBody>
      </p:sp>
      <p:cxnSp>
        <p:nvCxnSpPr>
          <p:cNvPr id="30" name="Connector 29"/>
          <p:cNvCxnSpPr/>
          <p:nvPr/>
        </p:nvCxnSpPr>
        <p:spPr>
          <a:xfrm>
            <a:off x="3301898" y="2516124"/>
            <a:ext cx="1508760" cy="0"/>
          </a:xfrm>
          <a:prstGeom prst="line">
            <a:avLst/>
          </a:prstGeom>
          <a:ln w="19050">
            <a:solidFill>
              <a:srgbClr val="13294B"/>
            </a:solidFill>
            <a:tailEnd type="triangle" w="med" len="med"/>
          </a:ln>
        </p:spPr>
      </p:cxnSp>
      <p:sp>
        <p:nvSpPr>
          <p:cNvPr id="31" name="TextBox 30"/>
          <p:cNvSpPr txBox="1"/>
          <p:nvPr/>
        </p:nvSpPr>
        <p:spPr>
          <a:xfrm>
            <a:off x="3164738" y="2223516"/>
            <a:ext cx="1783079" cy="274320"/>
          </a:xfrm>
          <a:prstGeom prst="rect">
            <a:avLst/>
          </a:prstGeom>
          <a:noFill/>
        </p:spPr>
        <p:txBody>
          <a:bodyPr wrap="square" anchor="ctr"/>
          <a:lstStyle/>
          <a:p>
            <a:pPr algn="ctr">
              <a:lnSpc>
                <a:spcPct val="110000"/>
              </a:lnSpc>
            </a:pPr>
            <a:r>
              <a:rPr sz="1050" b="1">
                <a:solidFill>
                  <a:srgbClr val="13294B"/>
                </a:solidFill>
                <a:latin typeface="맑은 고딕"/>
                <a:ea typeface="맑은 고딕"/>
                <a:cs typeface="맑은 고딕"/>
              </a:rPr>
              <a:t>연다</a:t>
            </a:r>
          </a:p>
        </p:txBody>
      </p:sp>
      <p:cxnSp>
        <p:nvCxnSpPr>
          <p:cNvPr id="32" name="Connector 31"/>
          <p:cNvCxnSpPr/>
          <p:nvPr/>
        </p:nvCxnSpPr>
        <p:spPr>
          <a:xfrm>
            <a:off x="3301898" y="4018788"/>
            <a:ext cx="1508760" cy="0"/>
          </a:xfrm>
          <a:prstGeom prst="line">
            <a:avLst/>
          </a:prstGeom>
          <a:ln w="19050">
            <a:solidFill>
              <a:srgbClr val="13294B"/>
            </a:solidFill>
            <a:tailEnd type="triangle" w="med" len="med"/>
          </a:ln>
        </p:spPr>
      </p:cxnSp>
      <p:sp>
        <p:nvSpPr>
          <p:cNvPr id="33" name="TextBox 32"/>
          <p:cNvSpPr txBox="1"/>
          <p:nvPr/>
        </p:nvSpPr>
        <p:spPr>
          <a:xfrm>
            <a:off x="3164738" y="3726180"/>
            <a:ext cx="1783079" cy="274320"/>
          </a:xfrm>
          <a:prstGeom prst="rect">
            <a:avLst/>
          </a:prstGeom>
          <a:noFill/>
        </p:spPr>
        <p:txBody>
          <a:bodyPr wrap="square" anchor="ctr"/>
          <a:lstStyle/>
          <a:p>
            <a:pPr algn="ctr">
              <a:lnSpc>
                <a:spcPct val="110000"/>
              </a:lnSpc>
            </a:pPr>
            <a:r>
              <a:rPr sz="1050" b="1">
                <a:solidFill>
                  <a:srgbClr val="13294B"/>
                </a:solidFill>
                <a:latin typeface="맑은 고딕"/>
                <a:ea typeface="맑은 고딕"/>
                <a:cs typeface="맑은 고딕"/>
              </a:rPr>
              <a:t>연다</a:t>
            </a:r>
          </a:p>
        </p:txBody>
      </p:sp>
      <p:cxnSp>
        <p:nvCxnSpPr>
          <p:cNvPr id="34" name="Connector 33"/>
          <p:cNvCxnSpPr/>
          <p:nvPr/>
        </p:nvCxnSpPr>
        <p:spPr>
          <a:xfrm>
            <a:off x="3301898" y="5521452"/>
            <a:ext cx="1508760" cy="0"/>
          </a:xfrm>
          <a:prstGeom prst="line">
            <a:avLst/>
          </a:prstGeom>
          <a:ln w="19050">
            <a:solidFill>
              <a:srgbClr val="13294B"/>
            </a:solidFill>
            <a:tailEnd type="triangle" w="med" len="med"/>
          </a:ln>
        </p:spPr>
      </p:cxnSp>
      <p:sp>
        <p:nvSpPr>
          <p:cNvPr id="35" name="TextBox 34"/>
          <p:cNvSpPr txBox="1"/>
          <p:nvPr/>
        </p:nvSpPr>
        <p:spPr>
          <a:xfrm>
            <a:off x="3164738" y="5228844"/>
            <a:ext cx="1783079" cy="274320"/>
          </a:xfrm>
          <a:prstGeom prst="rect">
            <a:avLst/>
          </a:prstGeom>
          <a:noFill/>
        </p:spPr>
        <p:txBody>
          <a:bodyPr wrap="square" anchor="ctr"/>
          <a:lstStyle/>
          <a:p>
            <a:pPr algn="ctr">
              <a:lnSpc>
                <a:spcPct val="110000"/>
              </a:lnSpc>
            </a:pPr>
            <a:r>
              <a:rPr sz="1050" b="1">
                <a:solidFill>
                  <a:srgbClr val="13294B"/>
                </a:solidFill>
                <a:latin typeface="맑은 고딕"/>
                <a:ea typeface="맑은 고딕"/>
                <a:cs typeface="맑은 고딕"/>
              </a:rPr>
              <a:t>연다</a:t>
            </a:r>
          </a:p>
        </p:txBody>
      </p:sp>
      <p:cxnSp>
        <p:nvCxnSpPr>
          <p:cNvPr id="36" name="Connector 35"/>
          <p:cNvCxnSpPr/>
          <p:nvPr/>
        </p:nvCxnSpPr>
        <p:spPr>
          <a:xfrm>
            <a:off x="7381036" y="2516124"/>
            <a:ext cx="1508760" cy="0"/>
          </a:xfrm>
          <a:prstGeom prst="line">
            <a:avLst/>
          </a:prstGeom>
          <a:ln w="19050">
            <a:solidFill>
              <a:srgbClr val="13294B"/>
            </a:solidFill>
            <a:tailEnd type="triangle" w="med" len="med"/>
          </a:ln>
        </p:spPr>
      </p:cxnSp>
      <p:sp>
        <p:nvSpPr>
          <p:cNvPr id="37" name="TextBox 36"/>
          <p:cNvSpPr txBox="1"/>
          <p:nvPr/>
        </p:nvSpPr>
        <p:spPr>
          <a:xfrm>
            <a:off x="7243876" y="2223516"/>
            <a:ext cx="1783079" cy="274320"/>
          </a:xfrm>
          <a:prstGeom prst="rect">
            <a:avLst/>
          </a:prstGeom>
          <a:noFill/>
        </p:spPr>
        <p:txBody>
          <a:bodyPr wrap="square" anchor="ctr"/>
          <a:lstStyle/>
          <a:p>
            <a:pPr algn="ctr">
              <a:lnSpc>
                <a:spcPct val="110000"/>
              </a:lnSpc>
            </a:pPr>
            <a:r>
              <a:rPr sz="1050" b="1">
                <a:solidFill>
                  <a:srgbClr val="13294B"/>
                </a:solidFill>
                <a:latin typeface="맑은 고딕"/>
                <a:ea typeface="맑은 고딕"/>
                <a:cs typeface="맑은 고딕"/>
              </a:rPr>
              <a:t>인스턴스</a:t>
            </a:r>
          </a:p>
        </p:txBody>
      </p:sp>
      <p:cxnSp>
        <p:nvCxnSpPr>
          <p:cNvPr id="38" name="Connector 37"/>
          <p:cNvCxnSpPr/>
          <p:nvPr/>
        </p:nvCxnSpPr>
        <p:spPr>
          <a:xfrm>
            <a:off x="7381036" y="4018788"/>
            <a:ext cx="1508760" cy="0"/>
          </a:xfrm>
          <a:prstGeom prst="line">
            <a:avLst/>
          </a:prstGeom>
          <a:ln w="19050">
            <a:solidFill>
              <a:srgbClr val="13294B"/>
            </a:solidFill>
            <a:tailEnd type="triangle" w="med" len="med"/>
          </a:ln>
        </p:spPr>
      </p:cxnSp>
      <p:sp>
        <p:nvSpPr>
          <p:cNvPr id="39" name="TextBox 38"/>
          <p:cNvSpPr txBox="1"/>
          <p:nvPr/>
        </p:nvSpPr>
        <p:spPr>
          <a:xfrm>
            <a:off x="7243876" y="3726180"/>
            <a:ext cx="1783079" cy="274320"/>
          </a:xfrm>
          <a:prstGeom prst="rect">
            <a:avLst/>
          </a:prstGeom>
          <a:noFill/>
        </p:spPr>
        <p:txBody>
          <a:bodyPr wrap="square" anchor="ctr"/>
          <a:lstStyle/>
          <a:p>
            <a:pPr algn="ctr">
              <a:lnSpc>
                <a:spcPct val="110000"/>
              </a:lnSpc>
            </a:pPr>
            <a:r>
              <a:rPr sz="1050" b="1">
                <a:solidFill>
                  <a:srgbClr val="13294B"/>
                </a:solidFill>
                <a:latin typeface="맑은 고딕"/>
                <a:ea typeface="맑은 고딕"/>
                <a:cs typeface="맑은 고딕"/>
              </a:rPr>
              <a:t>인스턴스</a:t>
            </a:r>
          </a:p>
        </p:txBody>
      </p:sp>
      <p:cxnSp>
        <p:nvCxnSpPr>
          <p:cNvPr id="40" name="Connector 39"/>
          <p:cNvCxnSpPr/>
          <p:nvPr/>
        </p:nvCxnSpPr>
        <p:spPr>
          <a:xfrm>
            <a:off x="7381036" y="5521452"/>
            <a:ext cx="1508760" cy="0"/>
          </a:xfrm>
          <a:prstGeom prst="line">
            <a:avLst/>
          </a:prstGeom>
          <a:ln w="19050">
            <a:solidFill>
              <a:srgbClr val="13294B"/>
            </a:solidFill>
            <a:tailEnd type="triangle" w="med" len="med"/>
          </a:ln>
        </p:spPr>
      </p:cxnSp>
      <p:sp>
        <p:nvSpPr>
          <p:cNvPr id="41" name="TextBox 40"/>
          <p:cNvSpPr txBox="1"/>
          <p:nvPr/>
        </p:nvSpPr>
        <p:spPr>
          <a:xfrm>
            <a:off x="7243876" y="5228844"/>
            <a:ext cx="1783079" cy="274320"/>
          </a:xfrm>
          <a:prstGeom prst="rect">
            <a:avLst/>
          </a:prstGeom>
          <a:noFill/>
        </p:spPr>
        <p:txBody>
          <a:bodyPr wrap="square" anchor="ctr"/>
          <a:lstStyle/>
          <a:p>
            <a:pPr algn="ctr">
              <a:lnSpc>
                <a:spcPct val="110000"/>
              </a:lnSpc>
            </a:pPr>
            <a:r>
              <a:rPr sz="1050" b="1">
                <a:solidFill>
                  <a:srgbClr val="13294B"/>
                </a:solidFill>
                <a:latin typeface="맑은 고딕"/>
                <a:ea typeface="맑은 고딕"/>
                <a:cs typeface="맑은 고딕"/>
              </a:rPr>
              <a:t>인스턴스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대기와 완료: 세 프로세스에서 같은 방법으로 읽는다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프로세스 어디서나 승인 대기는 처리 건의 상태 RUNNING으로, 종결은 끝 이벤트와 결과 보고의 결과로 읽는다.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19</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경우</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처리 건의 상태와 끝 이벤트</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결과 보고</a:t>
            </a:r>
          </a:p>
        </p:txBody>
      </p:sp>
      <p:sp>
        <p:nvSpPr>
          <p:cNvPr id="10" name="Rounded Rectangle 9"/>
          <p:cNvSpPr/>
          <p:nvPr/>
        </p:nvSpPr>
        <p:spPr>
          <a:xfrm>
            <a:off x="548640" y="2061972"/>
            <a:ext cx="11094415" cy="656843"/>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승인 대기</a:t>
            </a:r>
          </a:p>
        </p:txBody>
      </p:sp>
      <p:sp>
        <p:nvSpPr>
          <p:cNvPr id="12" name="TextBox 11"/>
          <p:cNvSpPr txBox="1"/>
          <p:nvPr/>
        </p:nvSpPr>
        <p:spPr>
          <a:xfrm>
            <a:off x="3200400" y="2029968"/>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RUNNING · 승인 작업이 IN_PROGRESS</a:t>
            </a:r>
          </a:p>
        </p:txBody>
      </p:sp>
      <p:sp>
        <p:nvSpPr>
          <p:cNvPr id="13" name="TextBox 12"/>
          <p:cNvSpPr txBox="1"/>
          <p:nvPr/>
        </p:nvSpPr>
        <p:spPr>
          <a:xfrm>
            <a:off x="9448495" y="2029968"/>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아직 없다</a:t>
            </a:r>
          </a:p>
        </p:txBody>
      </p:sp>
      <p:sp>
        <p:nvSpPr>
          <p:cNvPr id="14" name="Rounded Rectangle 13"/>
          <p:cNvSpPr/>
          <p:nvPr/>
        </p:nvSpPr>
        <p:spPr>
          <a:xfrm>
            <a:off x="548640" y="2782824"/>
            <a:ext cx="11094415" cy="656843"/>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750820"/>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응답 없음</a:t>
            </a:r>
          </a:p>
        </p:txBody>
      </p:sp>
      <p:sp>
        <p:nvSpPr>
          <p:cNvPr id="16" name="TextBox 15"/>
          <p:cNvSpPr txBox="1"/>
          <p:nvPr/>
        </p:nvSpPr>
        <p:spPr>
          <a:xfrm>
            <a:off x="3200400" y="2750820"/>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RUNNING · 알림이 나간 뒤에도 승인 작업은 열려 있다</a:t>
            </a:r>
          </a:p>
        </p:txBody>
      </p:sp>
      <p:sp>
        <p:nvSpPr>
          <p:cNvPr id="17" name="TextBox 16"/>
          <p:cNvSpPr txBox="1"/>
          <p:nvPr/>
        </p:nvSpPr>
        <p:spPr>
          <a:xfrm>
            <a:off x="9448495" y="2750820"/>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승인 지연</a:t>
            </a:r>
          </a:p>
        </p:txBody>
      </p:sp>
      <p:sp>
        <p:nvSpPr>
          <p:cNvPr id="18" name="Rounded Rectangle 17"/>
          <p:cNvSpPr/>
          <p:nvPr/>
        </p:nvSpPr>
        <p:spPr>
          <a:xfrm>
            <a:off x="548640" y="3503676"/>
            <a:ext cx="11094415" cy="656843"/>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471672"/>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거절</a:t>
            </a:r>
          </a:p>
        </p:txBody>
      </p:sp>
      <p:sp>
        <p:nvSpPr>
          <p:cNvPr id="20" name="TextBox 19"/>
          <p:cNvSpPr txBox="1"/>
          <p:nvPr/>
        </p:nvSpPr>
        <p:spPr>
          <a:xfrm>
            <a:off x="3200400" y="3471672"/>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COMPLETED · E_rejected</a:t>
            </a:r>
          </a:p>
        </p:txBody>
      </p:sp>
      <p:sp>
        <p:nvSpPr>
          <p:cNvPr id="21" name="TextBox 20"/>
          <p:cNvSpPr txBox="1"/>
          <p:nvPr/>
        </p:nvSpPr>
        <p:spPr>
          <a:xfrm>
            <a:off x="9448495" y="3471672"/>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거절</a:t>
            </a:r>
          </a:p>
          <a:p>
            <a:pPr algn="l">
              <a:lnSpc>
                <a:spcPct val="110000"/>
              </a:lnSpc>
            </a:pPr>
            <a:r>
              <a:rPr sz="1250" b="1">
                <a:solidFill>
                  <a:srgbClr val="556175"/>
                </a:solidFill>
                <a:latin typeface="맑은 고딕"/>
                <a:ea typeface="맑은 고딕"/>
                <a:cs typeface="맑은 고딕"/>
              </a:rPr>
              <a:t>(기록의 값은 반려)</a:t>
            </a:r>
          </a:p>
        </p:txBody>
      </p:sp>
      <p:sp>
        <p:nvSpPr>
          <p:cNvPr id="22" name="Rounded Rectangle 21"/>
          <p:cNvSpPr/>
          <p:nvPr/>
        </p:nvSpPr>
        <p:spPr>
          <a:xfrm>
            <a:off x="548640" y="4224528"/>
            <a:ext cx="11094415" cy="656843"/>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192524"/>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승인: 긴급 대응, 정기 점검</a:t>
            </a:r>
          </a:p>
        </p:txBody>
      </p:sp>
      <p:sp>
        <p:nvSpPr>
          <p:cNvPr id="24" name="TextBox 23"/>
          <p:cNvSpPr txBox="1"/>
          <p:nvPr/>
        </p:nvSpPr>
        <p:spPr>
          <a:xfrm>
            <a:off x="3200400" y="4192524"/>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COMPLETED · E_end</a:t>
            </a:r>
          </a:p>
        </p:txBody>
      </p:sp>
      <p:sp>
        <p:nvSpPr>
          <p:cNvPr id="25" name="TextBox 24"/>
          <p:cNvSpPr txBox="1"/>
          <p:nvPr/>
        </p:nvSpPr>
        <p:spPr>
          <a:xfrm>
            <a:off x="9448495" y="4192524"/>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정상</a:t>
            </a:r>
          </a:p>
        </p:txBody>
      </p:sp>
      <p:sp>
        <p:nvSpPr>
          <p:cNvPr id="26" name="Rounded Rectangle 25"/>
          <p:cNvSpPr/>
          <p:nvPr/>
        </p:nvSpPr>
        <p:spPr>
          <a:xfrm>
            <a:off x="548640" y="4945380"/>
            <a:ext cx="11094415" cy="656843"/>
          </a:xfrm>
          <a:prstGeom prst="roundRect">
            <a:avLst>
              <a:gd name="adj" fmla="val 8000"/>
            </a:avLst>
          </a:prstGeom>
          <a:solidFill>
            <a:srgbClr val="E7F3FD"/>
          </a:solidFill>
          <a:ln>
            <a:noFill/>
          </a:ln>
        </p:spPr>
        <p:txBody>
          <a:bodyPr rtlCol="0" anchor="ctr"/>
          <a:lstStyle/>
          <a:p>
            <a:pPr algn="ctr"/>
          </a:p>
        </p:txBody>
      </p:sp>
      <p:sp>
        <p:nvSpPr>
          <p:cNvPr id="27" name="TextBox 26"/>
          <p:cNvSpPr txBox="1"/>
          <p:nvPr/>
        </p:nvSpPr>
        <p:spPr>
          <a:xfrm>
            <a:off x="685800" y="4913376"/>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승인: 재고 보충</a:t>
            </a:r>
          </a:p>
        </p:txBody>
      </p:sp>
      <p:sp>
        <p:nvSpPr>
          <p:cNvPr id="28" name="TextBox 27"/>
          <p:cNvSpPr txBox="1"/>
          <p:nvPr/>
        </p:nvSpPr>
        <p:spPr>
          <a:xfrm>
            <a:off x="3200400" y="4913376"/>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COMPLETED · E_end</a:t>
            </a:r>
          </a:p>
        </p:txBody>
      </p:sp>
      <p:sp>
        <p:nvSpPr>
          <p:cNvPr id="29" name="TextBox 28"/>
          <p:cNvSpPr txBox="1"/>
          <p:nvPr/>
        </p:nvSpPr>
        <p:spPr>
          <a:xfrm>
            <a:off x="9448495" y="4913376"/>
            <a:ext cx="2103120" cy="720851"/>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입고 완료</a:t>
            </a:r>
          </a:p>
        </p:txBody>
      </p:sp>
      <p:sp>
        <p:nvSpPr>
          <p:cNvPr id="30" name="Rounded Rectangle 29"/>
          <p:cNvSpPr/>
          <p:nvPr/>
        </p:nvSpPr>
        <p:spPr>
          <a:xfrm>
            <a:off x="548640" y="5666232"/>
            <a:ext cx="11094415" cy="656843"/>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5634228"/>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오류나 한도 초과로 멈춰 사람이 닫음</a:t>
            </a:r>
          </a:p>
        </p:txBody>
      </p:sp>
      <p:sp>
        <p:nvSpPr>
          <p:cNvPr id="32" name="TextBox 31"/>
          <p:cNvSpPr txBox="1"/>
          <p:nvPr/>
        </p:nvSpPr>
        <p:spPr>
          <a:xfrm>
            <a:off x="3200400" y="5634228"/>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COMPLETED · 사람이 닫았다는 표시</a:t>
            </a:r>
          </a:p>
        </p:txBody>
      </p:sp>
      <p:sp>
        <p:nvSpPr>
          <p:cNvPr id="33" name="TextBox 32"/>
          <p:cNvSpPr txBox="1"/>
          <p:nvPr/>
        </p:nvSpPr>
        <p:spPr>
          <a:xfrm>
            <a:off x="9448495" y="5634228"/>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없다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정기 점검 프로세스 그리기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정기 점검 도래에서 정비 오더와 공지까지의 흐름을 bpmn.io로 그린다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정기 점검 프로세스: 그리는 요소와 완성되는 파일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정기 점검 프로세스는 승인 블록을 그대로 두고 시작과 제안 작업, 승인 뒤의 작업만 새로 그려 BPMN 파일로 완성한다.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21</a:t>
            </a:r>
          </a:p>
        </p:txBody>
      </p:sp>
      <p:sp>
        <p:nvSpPr>
          <p:cNvPr id="6" name="Rounded Rectangle 5"/>
          <p:cNvSpPr/>
          <p:nvPr/>
        </p:nvSpPr>
        <p:spPr>
          <a:xfrm>
            <a:off x="548640"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19756"/>
            <a:ext cx="731520" cy="731520"/>
          </a:xfrm>
          <a:prstGeom prst="ellipse">
            <a:avLst/>
          </a:prstGeom>
          <a:solidFill>
            <a:srgbClr val="E7F3FD"/>
          </a:solidFill>
          <a:ln>
            <a:noFill/>
          </a:ln>
        </p:spPr>
        <p:txBody>
          <a:bodyPr rtlCol="0" anchor="ctr"/>
          <a:lstStyle/>
          <a:p>
            <a:pPr algn="ctr"/>
          </a:p>
        </p:txBody>
      </p:sp>
      <p:pic>
        <p:nvPicPr>
          <p:cNvPr id="8" name="아이콘:player-play" descr="player-play_13294B_1.6.png"/>
          <p:cNvPicPr>
            <a:picLocks noChangeAspect="1"/>
          </p:cNvPicPr>
          <p:nvPr/>
        </p:nvPicPr>
        <p:blipFill>
          <a:blip r:embed="rId3"/>
          <a:stretch>
            <a:fillRect/>
          </a:stretch>
        </p:blipFill>
        <p:spPr>
          <a:xfrm>
            <a:off x="930859" y="2773375"/>
            <a:ext cx="424281" cy="424281"/>
          </a:xfrm>
          <a:prstGeom prst="rect">
            <a:avLst/>
          </a:prstGeom>
        </p:spPr>
      </p:pic>
      <p:sp>
        <p:nvSpPr>
          <p:cNvPr id="9" name="TextBox 8"/>
          <p:cNvSpPr txBox="1"/>
          <p:nvPr/>
        </p:nvSpPr>
        <p:spPr>
          <a:xfrm>
            <a:off x="713232"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시작과 제안</a:t>
            </a:r>
          </a:p>
          <a:p>
            <a:pPr algn="l">
              <a:lnSpc>
                <a:spcPct val="110000"/>
              </a:lnSpc>
              <a:spcAft>
                <a:spcPts val="400"/>
              </a:spcAft>
            </a:pPr>
            <a:r>
              <a:rPr sz="1350" b="0">
                <a:solidFill>
                  <a:srgbClr val="1F2A3A"/>
                </a:solidFill>
                <a:latin typeface="맑은 고딕"/>
                <a:ea typeface="맑은 고딕"/>
                <a:cs typeface="맑은 고딕"/>
              </a:rPr>
              <a:t>정기 점검 도래로 시작해 정비 계획 에이전트의 제안 작업으로 잇는다</a:t>
            </a:r>
          </a:p>
        </p:txBody>
      </p:sp>
      <p:sp>
        <p:nvSpPr>
          <p:cNvPr id="10" name="Rounded Rectangle 9"/>
          <p:cNvSpPr/>
          <p:nvPr/>
        </p:nvSpPr>
        <p:spPr>
          <a:xfrm>
            <a:off x="777240" y="5134356"/>
            <a:ext cx="11734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34356"/>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새로 그린다</a:t>
            </a:r>
          </a:p>
        </p:txBody>
      </p:sp>
      <p:sp>
        <p:nvSpPr>
          <p:cNvPr id="12" name="Rounded Rectangle 11"/>
          <p:cNvSpPr/>
          <p:nvPr/>
        </p:nvSpPr>
        <p:spPr>
          <a:xfrm>
            <a:off x="3390823"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619756"/>
            <a:ext cx="731520" cy="731520"/>
          </a:xfrm>
          <a:prstGeom prst="ellipse">
            <a:avLst/>
          </a:prstGeom>
          <a:solidFill>
            <a:srgbClr val="E7F3FD"/>
          </a:solidFill>
          <a:ln>
            <a:noFill/>
          </a:ln>
        </p:spPr>
        <p:txBody>
          <a:bodyPr rtlCol="0" anchor="ctr"/>
          <a:lstStyle/>
          <a:p>
            <a:pPr algn="ctr"/>
          </a:p>
        </p:txBody>
      </p:sp>
      <p:pic>
        <p:nvPicPr>
          <p:cNvPr id="14" name="아이콘:repeat" descr="repeat_13294B_1.6.png"/>
          <p:cNvPicPr>
            <a:picLocks noChangeAspect="1"/>
          </p:cNvPicPr>
          <p:nvPr/>
        </p:nvPicPr>
        <p:blipFill>
          <a:blip r:embed="rId4"/>
          <a:stretch>
            <a:fillRect/>
          </a:stretch>
        </p:blipFill>
        <p:spPr>
          <a:xfrm>
            <a:off x="3773043" y="2773375"/>
            <a:ext cx="424281" cy="424281"/>
          </a:xfrm>
          <a:prstGeom prst="rect">
            <a:avLst/>
          </a:prstGeom>
        </p:spPr>
      </p:pic>
      <p:sp>
        <p:nvSpPr>
          <p:cNvPr id="15" name="TextBox 14"/>
          <p:cNvSpPr txBox="1"/>
          <p:nvPr/>
        </p:nvSpPr>
        <p:spPr>
          <a:xfrm>
            <a:off x="3555415"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승인 블록</a:t>
            </a:r>
          </a:p>
          <a:p>
            <a:pPr algn="l">
              <a:lnSpc>
                <a:spcPct val="110000"/>
              </a:lnSpc>
              <a:spcAft>
                <a:spcPts val="400"/>
              </a:spcAft>
            </a:pPr>
            <a:r>
              <a:rPr sz="1350" b="0">
                <a:solidFill>
                  <a:srgbClr val="1F2A3A"/>
                </a:solidFill>
                <a:latin typeface="맑은 고딕"/>
                <a:ea typeface="맑은 고딕"/>
                <a:cs typeface="맑은 고딕"/>
              </a:rPr>
              <a:t>설비보전팀장의 승인과 거절, 승인 지연 타이머를 지난 시간의 그림과 같은 모양으로 놓는다</a:t>
            </a:r>
          </a:p>
        </p:txBody>
      </p:sp>
      <p:sp>
        <p:nvSpPr>
          <p:cNvPr id="16" name="Rounded Rectangle 15"/>
          <p:cNvSpPr/>
          <p:nvPr/>
        </p:nvSpPr>
        <p:spPr>
          <a:xfrm>
            <a:off x="3619423" y="5134356"/>
            <a:ext cx="10210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134356"/>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다시 쓴다</a:t>
            </a:r>
          </a:p>
        </p:txBody>
      </p:sp>
      <p:sp>
        <p:nvSpPr>
          <p:cNvPr id="18" name="Rounded Rectangle 17"/>
          <p:cNvSpPr/>
          <p:nvPr/>
        </p:nvSpPr>
        <p:spPr>
          <a:xfrm>
            <a:off x="6233007"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619756"/>
            <a:ext cx="731520" cy="731520"/>
          </a:xfrm>
          <a:prstGeom prst="ellipse">
            <a:avLst/>
          </a:prstGeom>
          <a:solidFill>
            <a:srgbClr val="E7F3FD"/>
          </a:solidFill>
          <a:ln>
            <a:noFill/>
          </a:ln>
        </p:spPr>
        <p:txBody>
          <a:bodyPr rtlCol="0" anchor="ctr"/>
          <a:lstStyle/>
          <a:p>
            <a:pPr algn="ctr"/>
          </a:p>
        </p:txBody>
      </p:sp>
      <p:pic>
        <p:nvPicPr>
          <p:cNvPr id="20" name="아이콘:settings" descr="settings_13294B_1.6.png"/>
          <p:cNvPicPr>
            <a:picLocks noChangeAspect="1"/>
          </p:cNvPicPr>
          <p:nvPr/>
        </p:nvPicPr>
        <p:blipFill>
          <a:blip r:embed="rId5"/>
          <a:stretch>
            <a:fillRect/>
          </a:stretch>
        </p:blipFill>
        <p:spPr>
          <a:xfrm>
            <a:off x="6615226" y="2773375"/>
            <a:ext cx="424281" cy="424281"/>
          </a:xfrm>
          <a:prstGeom prst="rect">
            <a:avLst/>
          </a:prstGeom>
        </p:spPr>
      </p:pic>
      <p:sp>
        <p:nvSpPr>
          <p:cNvPr id="21" name="TextBox 20"/>
          <p:cNvSpPr txBox="1"/>
          <p:nvPr/>
        </p:nvSpPr>
        <p:spPr>
          <a:xfrm>
            <a:off x="6397599"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승인 뒤의 작업</a:t>
            </a:r>
          </a:p>
          <a:p>
            <a:pPr algn="l">
              <a:lnSpc>
                <a:spcPct val="110000"/>
              </a:lnSpc>
              <a:spcAft>
                <a:spcPts val="400"/>
              </a:spcAft>
            </a:pPr>
            <a:r>
              <a:rPr sz="1350" b="0">
                <a:solidFill>
                  <a:srgbClr val="1F2A3A"/>
                </a:solidFill>
                <a:latin typeface="맑은 고딕"/>
                <a:ea typeface="맑은 고딕"/>
                <a:cs typeface="맑은 고딕"/>
              </a:rPr>
              <a:t>정비 오더 등록 · 공지 메일(한 작업)과 결과 보고를 시스템 레인에 놓는다</a:t>
            </a:r>
          </a:p>
        </p:txBody>
      </p:sp>
      <p:sp>
        <p:nvSpPr>
          <p:cNvPr id="22" name="Rounded Rectangle 21"/>
          <p:cNvSpPr/>
          <p:nvPr/>
        </p:nvSpPr>
        <p:spPr>
          <a:xfrm>
            <a:off x="6461607" y="5134356"/>
            <a:ext cx="117348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134356"/>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새로 그린다</a:t>
            </a:r>
          </a:p>
        </p:txBody>
      </p:sp>
      <p:sp>
        <p:nvSpPr>
          <p:cNvPr id="24" name="Rounded Rectangle 23"/>
          <p:cNvSpPr/>
          <p:nvPr/>
        </p:nvSpPr>
        <p:spPr>
          <a:xfrm>
            <a:off x="9075191" y="2418588"/>
            <a:ext cx="2567863" cy="314553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619756"/>
            <a:ext cx="731520" cy="731520"/>
          </a:xfrm>
          <a:prstGeom prst="ellipse">
            <a:avLst/>
          </a:prstGeom>
          <a:solidFill>
            <a:srgbClr val="5CB8F2"/>
          </a:solidFill>
          <a:ln>
            <a:noFill/>
          </a:ln>
        </p:spPr>
        <p:txBody>
          <a:bodyPr rtlCol="0" anchor="ctr"/>
          <a:lstStyle/>
          <a:p>
            <a:pPr algn="ctr"/>
          </a:p>
        </p:txBody>
      </p:sp>
      <p:pic>
        <p:nvPicPr>
          <p:cNvPr id="26" name="아이콘:file-text" descr="file-text_13294B_1.6.png"/>
          <p:cNvPicPr>
            <a:picLocks noChangeAspect="1"/>
          </p:cNvPicPr>
          <p:nvPr/>
        </p:nvPicPr>
        <p:blipFill>
          <a:blip r:embed="rId6"/>
          <a:stretch>
            <a:fillRect/>
          </a:stretch>
        </p:blipFill>
        <p:spPr>
          <a:xfrm>
            <a:off x="9457410" y="2773375"/>
            <a:ext cx="424281" cy="424281"/>
          </a:xfrm>
          <a:prstGeom prst="rect">
            <a:avLst/>
          </a:prstGeom>
        </p:spPr>
      </p:pic>
      <p:sp>
        <p:nvSpPr>
          <p:cNvPr id="27" name="TextBox 26"/>
          <p:cNvSpPr txBox="1"/>
          <p:nvPr/>
        </p:nvSpPr>
        <p:spPr>
          <a:xfrm>
            <a:off x="9239783"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완성되는 것</a:t>
            </a:r>
          </a:p>
          <a:p>
            <a:pPr algn="l">
              <a:lnSpc>
                <a:spcPct val="110000"/>
              </a:lnSpc>
              <a:spcAft>
                <a:spcPts val="400"/>
              </a:spcAft>
            </a:pPr>
            <a:r>
              <a:rPr sz="1350" b="0">
                <a:solidFill>
                  <a:srgbClr val="1F2A3A"/>
                </a:solidFill>
                <a:latin typeface="맑은 고딕"/>
                <a:ea typeface="맑은 고딕"/>
                <a:cs typeface="맑은 고딕"/>
              </a:rPr>
              <a:t>작업 여섯, 게이트웨이 하나, 끝 이벤트 셋을 갖춘 BPMN 파일</a:t>
            </a:r>
          </a:p>
        </p:txBody>
      </p:sp>
      <p:sp>
        <p:nvSpPr>
          <p:cNvPr id="28" name="Rounded Rectangle 27"/>
          <p:cNvSpPr/>
          <p:nvPr/>
        </p:nvSpPr>
        <p:spPr>
          <a:xfrm>
            <a:off x="9303791" y="5134356"/>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결과물</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정기 점검 프로세스 실행하기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그린 프로세스를 정비 계획 에이전트와 CMMS에 연결해 배포하고 실행한다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정기 점검 프로세스: 연결하는 것과 남는 기록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승인한 처리 건에는 정비 오더와 공지가, 거절한 처리 건에는 오더 없는 종료 기록이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23</a:t>
            </a:r>
          </a:p>
        </p:txBody>
      </p:sp>
      <p:sp>
        <p:nvSpPr>
          <p:cNvPr id="6" name="Rounded Rectangle 5"/>
          <p:cNvSpPr/>
          <p:nvPr/>
        </p:nvSpPr>
        <p:spPr>
          <a:xfrm>
            <a:off x="548640" y="2498598"/>
            <a:ext cx="2485567" cy="2985515"/>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681478"/>
            <a:ext cx="731520" cy="731520"/>
          </a:xfrm>
          <a:prstGeom prst="ellipse">
            <a:avLst/>
          </a:prstGeom>
          <a:solidFill>
            <a:srgbClr val="FFFFFF"/>
          </a:solidFill>
          <a:ln>
            <a:noFill/>
          </a:ln>
        </p:spPr>
        <p:txBody>
          <a:bodyPr rtlCol="0" anchor="ctr"/>
          <a:lstStyle/>
          <a:p>
            <a:pPr algn="ctr"/>
          </a:p>
        </p:txBody>
      </p:sp>
      <p:pic>
        <p:nvPicPr>
          <p:cNvPr id="8" name="아이콘:pencil" descr="pencil_13294B_1.6.png"/>
          <p:cNvPicPr>
            <a:picLocks noChangeAspect="1"/>
          </p:cNvPicPr>
          <p:nvPr/>
        </p:nvPicPr>
        <p:blipFill>
          <a:blip r:embed="rId3"/>
          <a:stretch>
            <a:fillRect/>
          </a:stretch>
        </p:blipFill>
        <p:spPr>
          <a:xfrm>
            <a:off x="1579283" y="2835097"/>
            <a:ext cx="424281" cy="424281"/>
          </a:xfrm>
          <a:prstGeom prst="rect">
            <a:avLst/>
          </a:prstGeom>
        </p:spPr>
      </p:pic>
      <p:sp>
        <p:nvSpPr>
          <p:cNvPr id="9" name="TextBox 8"/>
          <p:cNvSpPr txBox="1"/>
          <p:nvPr/>
        </p:nvSpPr>
        <p:spPr>
          <a:xfrm>
            <a:off x="621792"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연결</a:t>
            </a:r>
          </a:p>
          <a:p>
            <a:pPr algn="ctr">
              <a:lnSpc>
                <a:spcPct val="110000"/>
              </a:lnSpc>
              <a:spcAft>
                <a:spcPts val="400"/>
              </a:spcAft>
            </a:pPr>
            <a:r>
              <a:rPr sz="1350" b="0">
                <a:solidFill>
                  <a:srgbClr val="1F2A3A"/>
                </a:solidFill>
                <a:latin typeface="맑은 고딕"/>
                <a:ea typeface="맑은 고딕"/>
                <a:cs typeface="맑은 고딕"/>
              </a:rPr>
              <a:t>경보 패턴 PM_DUE,</a:t>
            </a:r>
          </a:p>
          <a:p>
            <a:pPr algn="ctr">
              <a:lnSpc>
                <a:spcPct val="110000"/>
              </a:lnSpc>
              <a:spcAft>
                <a:spcPts val="400"/>
              </a:spcAft>
            </a:pPr>
            <a:r>
              <a:rPr sz="1350" b="0">
                <a:solidFill>
                  <a:srgbClr val="1F2A3A"/>
                </a:solidFill>
                <a:latin typeface="맑은 고딕"/>
                <a:ea typeface="맑은 고딕"/>
                <a:cs typeface="맑은 고딕"/>
              </a:rPr>
              <a:t>정비 계획 에이전트,</a:t>
            </a:r>
          </a:p>
          <a:p>
            <a:pPr algn="ctr">
              <a:lnSpc>
                <a:spcPct val="110000"/>
              </a:lnSpc>
              <a:spcAft>
                <a:spcPts val="400"/>
              </a:spcAft>
            </a:pPr>
            <a:r>
              <a:rPr sz="1350" b="0">
                <a:solidFill>
                  <a:srgbClr val="1F2A3A"/>
                </a:solidFill>
                <a:latin typeface="맑은 고딕"/>
                <a:ea typeface="맑은 고딕"/>
                <a:cs typeface="맑은 고딕"/>
              </a:rPr>
              <a:t>설비보전팀장 역할,</a:t>
            </a:r>
          </a:p>
          <a:p>
            <a:pPr algn="ctr">
              <a:lnSpc>
                <a:spcPct val="110000"/>
              </a:lnSpc>
              <a:spcAft>
                <a:spcPts val="400"/>
              </a:spcAft>
            </a:pPr>
            <a:r>
              <a:rPr sz="1350" b="0">
                <a:solidFill>
                  <a:srgbClr val="1F2A3A"/>
                </a:solidFill>
                <a:latin typeface="맑은 고딕"/>
                <a:ea typeface="맑은 고딕"/>
                <a:cs typeface="맑은 고딕"/>
              </a:rPr>
              <a:t>CMMS와 공지 작업</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498598"/>
            <a:ext cx="2485567" cy="2985515"/>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681478"/>
            <a:ext cx="731520" cy="731520"/>
          </a:xfrm>
          <a:prstGeom prst="ellipse">
            <a:avLst/>
          </a:prstGeom>
          <a:solidFill>
            <a:srgbClr val="FFFFFF"/>
          </a:solidFill>
          <a:ln>
            <a:noFill/>
          </a:ln>
        </p:spPr>
        <p:txBody>
          <a:bodyPr rtlCol="0" anchor="ctr"/>
          <a:lstStyle/>
          <a:p>
            <a:pPr algn="ctr"/>
          </a:p>
        </p:txBody>
      </p:sp>
      <p:pic>
        <p:nvPicPr>
          <p:cNvPr id="13" name="아이콘:rocket" descr="rocket_13294B_1.6.png"/>
          <p:cNvPicPr>
            <a:picLocks noChangeAspect="1"/>
          </p:cNvPicPr>
          <p:nvPr/>
        </p:nvPicPr>
        <p:blipFill>
          <a:blip r:embed="rId4"/>
          <a:stretch>
            <a:fillRect/>
          </a:stretch>
        </p:blipFill>
        <p:spPr>
          <a:xfrm>
            <a:off x="4448898" y="2835097"/>
            <a:ext cx="424281" cy="424281"/>
          </a:xfrm>
          <a:prstGeom prst="rect">
            <a:avLst/>
          </a:prstGeom>
        </p:spPr>
      </p:pic>
      <p:sp>
        <p:nvSpPr>
          <p:cNvPr id="14" name="TextBox 13"/>
          <p:cNvSpPr txBox="1"/>
          <p:nvPr/>
        </p:nvSpPr>
        <p:spPr>
          <a:xfrm>
            <a:off x="3491407"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검사와 배포</a:t>
            </a:r>
          </a:p>
          <a:p>
            <a:pPr algn="ctr">
              <a:lnSpc>
                <a:spcPct val="110000"/>
              </a:lnSpc>
              <a:spcAft>
                <a:spcPts val="400"/>
              </a:spcAft>
            </a:pPr>
            <a:r>
              <a:rPr sz="1350" b="0">
                <a:solidFill>
                  <a:srgbClr val="1F2A3A"/>
                </a:solidFill>
                <a:latin typeface="맑은 고딕"/>
                <a:ea typeface="맑은 고딕"/>
                <a:cs typeface="맑은 고딕"/>
              </a:rPr>
              <a:t>사전 검사를 거쳐</a:t>
            </a:r>
          </a:p>
          <a:p>
            <a:pPr algn="ctr">
              <a:lnSpc>
                <a:spcPct val="110000"/>
              </a:lnSpc>
              <a:spcAft>
                <a:spcPts val="400"/>
              </a:spcAft>
            </a:pPr>
            <a:r>
              <a:rPr sz="1350" b="0">
                <a:solidFill>
                  <a:srgbClr val="1F2A3A"/>
                </a:solidFill>
                <a:latin typeface="맑은 고딕"/>
                <a:ea typeface="맑은 고딕"/>
                <a:cs typeface="맑은 고딕"/>
              </a:rPr>
              <a:t>등록하고 배포한다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498598"/>
            <a:ext cx="2485567" cy="2985515"/>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681478"/>
            <a:ext cx="731520" cy="731520"/>
          </a:xfrm>
          <a:prstGeom prst="ellipse">
            <a:avLst/>
          </a:prstGeom>
          <a:solidFill>
            <a:srgbClr val="FFFFFF"/>
          </a:solidFill>
          <a:ln>
            <a:noFill/>
          </a:ln>
        </p:spPr>
        <p:txBody>
          <a:bodyPr rtlCol="0" anchor="ctr"/>
          <a:lstStyle/>
          <a:p>
            <a:pPr algn="ctr"/>
          </a:p>
        </p:txBody>
      </p:sp>
      <p:pic>
        <p:nvPicPr>
          <p:cNvPr id="18" name="아이콘:player-play" descr="player-play_13294B_1.6.png"/>
          <p:cNvPicPr>
            <a:picLocks noChangeAspect="1"/>
          </p:cNvPicPr>
          <p:nvPr/>
        </p:nvPicPr>
        <p:blipFill>
          <a:blip r:embed="rId5"/>
          <a:stretch>
            <a:fillRect/>
          </a:stretch>
        </p:blipFill>
        <p:spPr>
          <a:xfrm>
            <a:off x="7318514" y="2835097"/>
            <a:ext cx="424281" cy="424281"/>
          </a:xfrm>
          <a:prstGeom prst="rect">
            <a:avLst/>
          </a:prstGeom>
        </p:spPr>
      </p:pic>
      <p:sp>
        <p:nvSpPr>
          <p:cNvPr id="19" name="TextBox 18"/>
          <p:cNvSpPr txBox="1"/>
          <p:nvPr/>
        </p:nvSpPr>
        <p:spPr>
          <a:xfrm>
            <a:off x="6361023"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실행</a:t>
            </a:r>
          </a:p>
          <a:p>
            <a:pPr algn="ctr">
              <a:lnSpc>
                <a:spcPct val="110000"/>
              </a:lnSpc>
              <a:spcAft>
                <a:spcPts val="400"/>
              </a:spcAft>
            </a:pPr>
            <a:r>
              <a:rPr sz="1350" b="0">
                <a:solidFill>
                  <a:srgbClr val="1F2A3A"/>
                </a:solidFill>
                <a:latin typeface="맑은 고딕"/>
                <a:ea typeface="맑은 고딕"/>
                <a:cs typeface="맑은 고딕"/>
              </a:rPr>
              <a:t>정기 점검 도래로</a:t>
            </a:r>
          </a:p>
          <a:p>
            <a:pPr algn="ctr">
              <a:lnSpc>
                <a:spcPct val="110000"/>
              </a:lnSpc>
              <a:spcAft>
                <a:spcPts val="400"/>
              </a:spcAft>
            </a:pPr>
            <a:r>
              <a:rPr sz="1350" b="0">
                <a:solidFill>
                  <a:srgbClr val="1F2A3A"/>
                </a:solidFill>
                <a:latin typeface="맑은 고딕"/>
                <a:ea typeface="맑은 고딕"/>
                <a:cs typeface="맑은 고딕"/>
              </a:rPr>
              <a:t>처리 건이 열리고</a:t>
            </a:r>
          </a:p>
          <a:p>
            <a:pPr algn="ctr">
              <a:lnSpc>
                <a:spcPct val="110000"/>
              </a:lnSpc>
              <a:spcAft>
                <a:spcPts val="400"/>
              </a:spcAft>
            </a:pPr>
            <a:r>
              <a:rPr sz="1350" b="0">
                <a:solidFill>
                  <a:srgbClr val="1F2A3A"/>
                </a:solidFill>
                <a:latin typeface="맑은 고딕"/>
                <a:ea typeface="맑은 고딕"/>
                <a:cs typeface="맑은 고딕"/>
              </a:rPr>
              <a:t>추천안이 승인을 기다린다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498598"/>
            <a:ext cx="2485567" cy="2985515"/>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2" name="Oval 21"/>
          <p:cNvSpPr/>
          <p:nvPr/>
        </p:nvSpPr>
        <p:spPr>
          <a:xfrm>
            <a:off x="10034511" y="2681478"/>
            <a:ext cx="731520" cy="731520"/>
          </a:xfrm>
          <a:prstGeom prst="ellipse">
            <a:avLst/>
          </a:prstGeom>
          <a:solidFill>
            <a:srgbClr val="5CB8F2"/>
          </a:solidFill>
          <a:ln>
            <a:noFill/>
          </a:ln>
        </p:spPr>
        <p:txBody>
          <a:bodyPr rtlCol="0" anchor="ctr"/>
          <a:lstStyle/>
          <a:p>
            <a:pPr algn="ctr"/>
          </a:p>
        </p:txBody>
      </p:sp>
      <p:pic>
        <p:nvPicPr>
          <p:cNvPr id="23" name="아이콘:file-text" descr="file-text_13294B_1.6.png"/>
          <p:cNvPicPr>
            <a:picLocks noChangeAspect="1"/>
          </p:cNvPicPr>
          <p:nvPr/>
        </p:nvPicPr>
        <p:blipFill>
          <a:blip r:embed="rId6"/>
          <a:stretch>
            <a:fillRect/>
          </a:stretch>
        </p:blipFill>
        <p:spPr>
          <a:xfrm>
            <a:off x="10188130" y="2835097"/>
            <a:ext cx="424281" cy="424281"/>
          </a:xfrm>
          <a:prstGeom prst="rect">
            <a:avLst/>
          </a:prstGeom>
        </p:spPr>
      </p:pic>
      <p:sp>
        <p:nvSpPr>
          <p:cNvPr id="24" name="TextBox 23"/>
          <p:cNvSpPr txBox="1"/>
          <p:nvPr/>
        </p:nvSpPr>
        <p:spPr>
          <a:xfrm>
            <a:off x="9230639"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승인과 거절</a:t>
            </a:r>
          </a:p>
          <a:p>
            <a:pPr algn="ctr">
              <a:lnSpc>
                <a:spcPct val="110000"/>
              </a:lnSpc>
              <a:spcAft>
                <a:spcPts val="400"/>
              </a:spcAft>
            </a:pPr>
            <a:r>
              <a:rPr sz="1350" b="0">
                <a:solidFill>
                  <a:srgbClr val="1F2A3A"/>
                </a:solidFill>
                <a:latin typeface="맑은 고딕"/>
                <a:ea typeface="맑은 고딕"/>
                <a:cs typeface="맑은 고딕"/>
              </a:rPr>
              <a:t>승인: 정비 오더와</a:t>
            </a:r>
          </a:p>
          <a:p>
            <a:pPr algn="ctr">
              <a:lnSpc>
                <a:spcPct val="110000"/>
              </a:lnSpc>
              <a:spcAft>
                <a:spcPts val="400"/>
              </a:spcAft>
            </a:pPr>
            <a:r>
              <a:rPr sz="1350" b="0">
                <a:solidFill>
                  <a:srgbClr val="1F2A3A"/>
                </a:solidFill>
                <a:latin typeface="맑은 고딕"/>
                <a:ea typeface="맑은 고딕"/>
                <a:cs typeface="맑은 고딕"/>
              </a:rPr>
              <a:t>생산팀 공지</a:t>
            </a:r>
          </a:p>
          <a:p>
            <a:pPr algn="ctr">
              <a:lnSpc>
                <a:spcPct val="110000"/>
              </a:lnSpc>
              <a:spcAft>
                <a:spcPts val="400"/>
              </a:spcAft>
            </a:pPr>
            <a:r>
              <a:rPr sz="1350" b="0">
                <a:solidFill>
                  <a:srgbClr val="1F2A3A"/>
                </a:solidFill>
                <a:latin typeface="맑은 고딕"/>
                <a:ea typeface="맑은 고딕"/>
                <a:cs typeface="맑은 고딕"/>
              </a:rPr>
              <a:t>거절: 오더 없이</a:t>
            </a:r>
          </a:p>
          <a:p>
            <a:pPr algn="ctr">
              <a:lnSpc>
                <a:spcPct val="110000"/>
              </a:lnSpc>
              <a:spcAft>
                <a:spcPts val="400"/>
              </a:spcAft>
            </a:pPr>
            <a:r>
              <a:rPr sz="1350" b="0">
                <a:solidFill>
                  <a:srgbClr val="1F2A3A"/>
                </a:solidFill>
                <a:latin typeface="맑은 고딕"/>
                <a:ea typeface="맑은 고딕"/>
                <a:cs typeface="맑은 고딕"/>
              </a:rPr>
              <a:t>거절로 종료</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재고 보충 프로세스 그리기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재고 부족에서 발주와 입고까지의 흐름을 bpmn.io로 그린다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재고 보충 프로세스: 그리는 요소와 완성되는 파일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재고 보충 프로세스의 BPMN 파일은 같은 승인 블록 뒤에 발주에서 입고와 재고 반영까지를 이어 그려 완성한다.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25</a:t>
            </a:r>
          </a:p>
        </p:txBody>
      </p:sp>
      <p:sp>
        <p:nvSpPr>
          <p:cNvPr id="6" name="Rounded Rectangle 5"/>
          <p:cNvSpPr/>
          <p:nvPr/>
        </p:nvSpPr>
        <p:spPr>
          <a:xfrm>
            <a:off x="548640"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19756"/>
            <a:ext cx="731520" cy="731520"/>
          </a:xfrm>
          <a:prstGeom prst="ellipse">
            <a:avLst/>
          </a:prstGeom>
          <a:solidFill>
            <a:srgbClr val="E7F3FD"/>
          </a:solidFill>
          <a:ln>
            <a:noFill/>
          </a:ln>
        </p:spPr>
        <p:txBody>
          <a:bodyPr rtlCol="0" anchor="ctr"/>
          <a:lstStyle/>
          <a:p>
            <a:pPr algn="ctr"/>
          </a:p>
        </p:txBody>
      </p:sp>
      <p:pic>
        <p:nvPicPr>
          <p:cNvPr id="8" name="아이콘:player-play" descr="player-play_13294B_1.6.png"/>
          <p:cNvPicPr>
            <a:picLocks noChangeAspect="1"/>
          </p:cNvPicPr>
          <p:nvPr/>
        </p:nvPicPr>
        <p:blipFill>
          <a:blip r:embed="rId3"/>
          <a:stretch>
            <a:fillRect/>
          </a:stretch>
        </p:blipFill>
        <p:spPr>
          <a:xfrm>
            <a:off x="930859" y="2773375"/>
            <a:ext cx="424281" cy="424281"/>
          </a:xfrm>
          <a:prstGeom prst="rect">
            <a:avLst/>
          </a:prstGeom>
        </p:spPr>
      </p:pic>
      <p:sp>
        <p:nvSpPr>
          <p:cNvPr id="9" name="TextBox 8"/>
          <p:cNvSpPr txBox="1"/>
          <p:nvPr/>
        </p:nvSpPr>
        <p:spPr>
          <a:xfrm>
            <a:off x="713232"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시작과 제안</a:t>
            </a:r>
          </a:p>
          <a:p>
            <a:pPr algn="l">
              <a:lnSpc>
                <a:spcPct val="110000"/>
              </a:lnSpc>
              <a:spcAft>
                <a:spcPts val="400"/>
              </a:spcAft>
            </a:pPr>
            <a:r>
              <a:rPr sz="1350" b="0">
                <a:solidFill>
                  <a:srgbClr val="1F2A3A"/>
                </a:solidFill>
                <a:latin typeface="맑은 고딕"/>
                <a:ea typeface="맑은 고딕"/>
                <a:cs typeface="맑은 고딕"/>
              </a:rPr>
              <a:t>재고 부족으로 시작해 구매 에이전트가 수량과 공급사를 제안하는 작업으로 잇는다</a:t>
            </a:r>
          </a:p>
        </p:txBody>
      </p:sp>
      <p:sp>
        <p:nvSpPr>
          <p:cNvPr id="10" name="Rounded Rectangle 9"/>
          <p:cNvSpPr/>
          <p:nvPr/>
        </p:nvSpPr>
        <p:spPr>
          <a:xfrm>
            <a:off x="777240" y="5134356"/>
            <a:ext cx="11734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34356"/>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새로 그린다</a:t>
            </a:r>
          </a:p>
        </p:txBody>
      </p:sp>
      <p:sp>
        <p:nvSpPr>
          <p:cNvPr id="12" name="Rounded Rectangle 11"/>
          <p:cNvSpPr/>
          <p:nvPr/>
        </p:nvSpPr>
        <p:spPr>
          <a:xfrm>
            <a:off x="3390823"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619756"/>
            <a:ext cx="731520" cy="731520"/>
          </a:xfrm>
          <a:prstGeom prst="ellipse">
            <a:avLst/>
          </a:prstGeom>
          <a:solidFill>
            <a:srgbClr val="E7F3FD"/>
          </a:solidFill>
          <a:ln>
            <a:noFill/>
          </a:ln>
        </p:spPr>
        <p:txBody>
          <a:bodyPr rtlCol="0" anchor="ctr"/>
          <a:lstStyle/>
          <a:p>
            <a:pPr algn="ctr"/>
          </a:p>
        </p:txBody>
      </p:sp>
      <p:pic>
        <p:nvPicPr>
          <p:cNvPr id="14" name="아이콘:repeat" descr="repeat_13294B_1.6.png"/>
          <p:cNvPicPr>
            <a:picLocks noChangeAspect="1"/>
          </p:cNvPicPr>
          <p:nvPr/>
        </p:nvPicPr>
        <p:blipFill>
          <a:blip r:embed="rId4"/>
          <a:stretch>
            <a:fillRect/>
          </a:stretch>
        </p:blipFill>
        <p:spPr>
          <a:xfrm>
            <a:off x="3773043" y="2773375"/>
            <a:ext cx="424281" cy="424281"/>
          </a:xfrm>
          <a:prstGeom prst="rect">
            <a:avLst/>
          </a:prstGeom>
        </p:spPr>
      </p:pic>
      <p:sp>
        <p:nvSpPr>
          <p:cNvPr id="15" name="TextBox 14"/>
          <p:cNvSpPr txBox="1"/>
          <p:nvPr/>
        </p:nvSpPr>
        <p:spPr>
          <a:xfrm>
            <a:off x="3555415"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승인 블록</a:t>
            </a:r>
          </a:p>
          <a:p>
            <a:pPr algn="l">
              <a:lnSpc>
                <a:spcPct val="110000"/>
              </a:lnSpc>
              <a:spcAft>
                <a:spcPts val="400"/>
              </a:spcAft>
            </a:pPr>
            <a:r>
              <a:rPr sz="1350" b="0">
                <a:solidFill>
                  <a:srgbClr val="1F2A3A"/>
                </a:solidFill>
                <a:latin typeface="맑은 고딕"/>
                <a:ea typeface="맑은 고딕"/>
                <a:cs typeface="맑은 고딕"/>
              </a:rPr>
              <a:t>구매 담당의 승인과 거절, 승인 지연 타이머를 같은 모양으로 놓는다</a:t>
            </a:r>
          </a:p>
        </p:txBody>
      </p:sp>
      <p:sp>
        <p:nvSpPr>
          <p:cNvPr id="16" name="Rounded Rectangle 15"/>
          <p:cNvSpPr/>
          <p:nvPr/>
        </p:nvSpPr>
        <p:spPr>
          <a:xfrm>
            <a:off x="3619423" y="5134356"/>
            <a:ext cx="10210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134356"/>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다시 쓴다</a:t>
            </a:r>
          </a:p>
        </p:txBody>
      </p:sp>
      <p:sp>
        <p:nvSpPr>
          <p:cNvPr id="18" name="Rounded Rectangle 17"/>
          <p:cNvSpPr/>
          <p:nvPr/>
        </p:nvSpPr>
        <p:spPr>
          <a:xfrm>
            <a:off x="6233007"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619756"/>
            <a:ext cx="731520" cy="731520"/>
          </a:xfrm>
          <a:prstGeom prst="ellipse">
            <a:avLst/>
          </a:prstGeom>
          <a:solidFill>
            <a:srgbClr val="E7F3FD"/>
          </a:solidFill>
          <a:ln>
            <a:noFill/>
          </a:ln>
        </p:spPr>
        <p:txBody>
          <a:bodyPr rtlCol="0" anchor="ctr"/>
          <a:lstStyle/>
          <a:p>
            <a:pPr algn="ctr"/>
          </a:p>
        </p:txBody>
      </p:sp>
      <p:pic>
        <p:nvPicPr>
          <p:cNvPr id="20" name="아이콘:settings" descr="settings_13294B_1.6.png"/>
          <p:cNvPicPr>
            <a:picLocks noChangeAspect="1"/>
          </p:cNvPicPr>
          <p:nvPr/>
        </p:nvPicPr>
        <p:blipFill>
          <a:blip r:embed="rId5"/>
          <a:stretch>
            <a:fillRect/>
          </a:stretch>
        </p:blipFill>
        <p:spPr>
          <a:xfrm>
            <a:off x="6615226" y="2773375"/>
            <a:ext cx="424281" cy="424281"/>
          </a:xfrm>
          <a:prstGeom prst="rect">
            <a:avLst/>
          </a:prstGeom>
        </p:spPr>
      </p:pic>
      <p:sp>
        <p:nvSpPr>
          <p:cNvPr id="21" name="TextBox 20"/>
          <p:cNvSpPr txBox="1"/>
          <p:nvPr/>
        </p:nvSpPr>
        <p:spPr>
          <a:xfrm>
            <a:off x="6397599"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승인 뒤의 작업</a:t>
            </a:r>
          </a:p>
          <a:p>
            <a:pPr algn="l">
              <a:lnSpc>
                <a:spcPct val="110000"/>
              </a:lnSpc>
              <a:spcAft>
                <a:spcPts val="400"/>
              </a:spcAft>
            </a:pPr>
            <a:r>
              <a:rPr sz="1350" b="0">
                <a:solidFill>
                  <a:srgbClr val="1F2A3A"/>
                </a:solidFill>
                <a:latin typeface="맑은 고딕"/>
                <a:ea typeface="맑은 고딕"/>
                <a:cs typeface="맑은 고딕"/>
              </a:rPr>
              <a:t>ERP 발주 · 공급사 메일(한 작업), 입고 · 재고 반영, 결과 보고를 차례로 잇는다</a:t>
            </a:r>
          </a:p>
        </p:txBody>
      </p:sp>
      <p:sp>
        <p:nvSpPr>
          <p:cNvPr id="22" name="Rounded Rectangle 21"/>
          <p:cNvSpPr/>
          <p:nvPr/>
        </p:nvSpPr>
        <p:spPr>
          <a:xfrm>
            <a:off x="6461607" y="5134356"/>
            <a:ext cx="117348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134356"/>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새로 그린다</a:t>
            </a:r>
          </a:p>
        </p:txBody>
      </p:sp>
      <p:sp>
        <p:nvSpPr>
          <p:cNvPr id="24" name="Rounded Rectangle 23"/>
          <p:cNvSpPr/>
          <p:nvPr/>
        </p:nvSpPr>
        <p:spPr>
          <a:xfrm>
            <a:off x="9075191" y="2418588"/>
            <a:ext cx="2567863" cy="314553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619756"/>
            <a:ext cx="731520" cy="731520"/>
          </a:xfrm>
          <a:prstGeom prst="ellipse">
            <a:avLst/>
          </a:prstGeom>
          <a:solidFill>
            <a:srgbClr val="5CB8F2"/>
          </a:solidFill>
          <a:ln>
            <a:noFill/>
          </a:ln>
        </p:spPr>
        <p:txBody>
          <a:bodyPr rtlCol="0" anchor="ctr"/>
          <a:lstStyle/>
          <a:p>
            <a:pPr algn="ctr"/>
          </a:p>
        </p:txBody>
      </p:sp>
      <p:pic>
        <p:nvPicPr>
          <p:cNvPr id="26" name="아이콘:file-text" descr="file-text_13294B_1.6.png"/>
          <p:cNvPicPr>
            <a:picLocks noChangeAspect="1"/>
          </p:cNvPicPr>
          <p:nvPr/>
        </p:nvPicPr>
        <p:blipFill>
          <a:blip r:embed="rId6"/>
          <a:stretch>
            <a:fillRect/>
          </a:stretch>
        </p:blipFill>
        <p:spPr>
          <a:xfrm>
            <a:off x="9457410" y="2773375"/>
            <a:ext cx="424281" cy="424281"/>
          </a:xfrm>
          <a:prstGeom prst="rect">
            <a:avLst/>
          </a:prstGeom>
        </p:spPr>
      </p:pic>
      <p:sp>
        <p:nvSpPr>
          <p:cNvPr id="27" name="TextBox 26"/>
          <p:cNvSpPr txBox="1"/>
          <p:nvPr/>
        </p:nvSpPr>
        <p:spPr>
          <a:xfrm>
            <a:off x="9239783"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완성되는 것</a:t>
            </a:r>
          </a:p>
          <a:p>
            <a:pPr algn="l">
              <a:lnSpc>
                <a:spcPct val="110000"/>
              </a:lnSpc>
              <a:spcAft>
                <a:spcPts val="400"/>
              </a:spcAft>
            </a:pPr>
            <a:r>
              <a:rPr sz="1350" b="0">
                <a:solidFill>
                  <a:srgbClr val="1F2A3A"/>
                </a:solidFill>
                <a:latin typeface="맑은 고딕"/>
                <a:ea typeface="맑은 고딕"/>
                <a:cs typeface="맑은 고딕"/>
              </a:rPr>
              <a:t>작업 일곱, 게이트웨이 하나, 끝 이벤트 셋을 갖춘 BPMN 파일</a:t>
            </a:r>
          </a:p>
        </p:txBody>
      </p:sp>
      <p:sp>
        <p:nvSpPr>
          <p:cNvPr id="28" name="Rounded Rectangle 27"/>
          <p:cNvSpPr/>
          <p:nvPr/>
        </p:nvSpPr>
        <p:spPr>
          <a:xfrm>
            <a:off x="9303791" y="5134356"/>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결과물</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재고 보충 프로세스 실행하기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그린 프로세스를 구매 에이전트와 ERP에 연결해 배포하고 실행한다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재고 보충 프로세스: 연결하는 것과 남는 기록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승인한 처리 건에는 발주와 입고의 기록이, 거절한 처리 건에는 발주 없이 닫힌 기록이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27</a:t>
            </a:r>
          </a:p>
        </p:txBody>
      </p:sp>
      <p:sp>
        <p:nvSpPr>
          <p:cNvPr id="6" name="Rounded Rectangle 5"/>
          <p:cNvSpPr/>
          <p:nvPr/>
        </p:nvSpPr>
        <p:spPr>
          <a:xfrm>
            <a:off x="548640" y="2529586"/>
            <a:ext cx="1911644" cy="2923539"/>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138702" y="2712466"/>
            <a:ext cx="731520" cy="731520"/>
          </a:xfrm>
          <a:prstGeom prst="ellipse">
            <a:avLst/>
          </a:prstGeom>
          <a:solidFill>
            <a:srgbClr val="FFFFFF"/>
          </a:solidFill>
          <a:ln>
            <a:noFill/>
          </a:ln>
        </p:spPr>
        <p:txBody>
          <a:bodyPr rtlCol="0" anchor="ctr"/>
          <a:lstStyle/>
          <a:p>
            <a:pPr algn="ctr"/>
          </a:p>
        </p:txBody>
      </p:sp>
      <p:pic>
        <p:nvPicPr>
          <p:cNvPr id="8" name="아이콘:pencil" descr="pencil_13294B_1.6.png"/>
          <p:cNvPicPr>
            <a:picLocks noChangeAspect="1"/>
          </p:cNvPicPr>
          <p:nvPr/>
        </p:nvPicPr>
        <p:blipFill>
          <a:blip r:embed="rId3"/>
          <a:stretch>
            <a:fillRect/>
          </a:stretch>
        </p:blipFill>
        <p:spPr>
          <a:xfrm>
            <a:off x="1292321" y="2866085"/>
            <a:ext cx="424281" cy="424281"/>
          </a:xfrm>
          <a:prstGeom prst="rect">
            <a:avLst/>
          </a:prstGeom>
        </p:spPr>
      </p:pic>
      <p:sp>
        <p:nvSpPr>
          <p:cNvPr id="9" name="TextBox 8"/>
          <p:cNvSpPr txBox="1"/>
          <p:nvPr/>
        </p:nvSpPr>
        <p:spPr>
          <a:xfrm>
            <a:off x="621792" y="3517138"/>
            <a:ext cx="1765340" cy="186283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연결</a:t>
            </a:r>
          </a:p>
          <a:p>
            <a:pPr algn="ctr">
              <a:lnSpc>
                <a:spcPct val="110000"/>
              </a:lnSpc>
              <a:spcAft>
                <a:spcPts val="400"/>
              </a:spcAft>
            </a:pPr>
            <a:r>
              <a:rPr sz="1250" b="0">
                <a:solidFill>
                  <a:srgbClr val="1F2A3A"/>
                </a:solidFill>
                <a:latin typeface="맑은 고딕"/>
                <a:ea typeface="맑은 고딕"/>
                <a:cs typeface="맑은 고딕"/>
              </a:rPr>
              <a:t>경보 패턴</a:t>
            </a:r>
          </a:p>
          <a:p>
            <a:pPr algn="ctr">
              <a:lnSpc>
                <a:spcPct val="110000"/>
              </a:lnSpc>
              <a:spcAft>
                <a:spcPts val="400"/>
              </a:spcAft>
            </a:pPr>
            <a:r>
              <a:rPr sz="1250" b="0">
                <a:solidFill>
                  <a:srgbClr val="1F2A3A"/>
                </a:solidFill>
                <a:latin typeface="맑은 고딕"/>
                <a:ea typeface="맑은 고딕"/>
                <a:cs typeface="맑은 고딕"/>
              </a:rPr>
              <a:t>SPARE_BELOW_MIN,</a:t>
            </a:r>
          </a:p>
          <a:p>
            <a:pPr algn="ctr">
              <a:lnSpc>
                <a:spcPct val="110000"/>
              </a:lnSpc>
              <a:spcAft>
                <a:spcPts val="400"/>
              </a:spcAft>
            </a:pPr>
            <a:r>
              <a:rPr sz="1250" b="0">
                <a:solidFill>
                  <a:srgbClr val="1F2A3A"/>
                </a:solidFill>
                <a:latin typeface="맑은 고딕"/>
                <a:ea typeface="맑은 고딕"/>
                <a:cs typeface="맑은 고딕"/>
              </a:rPr>
              <a:t>구매 에이전트,</a:t>
            </a:r>
          </a:p>
          <a:p>
            <a:pPr algn="ctr">
              <a:lnSpc>
                <a:spcPct val="110000"/>
              </a:lnSpc>
              <a:spcAft>
                <a:spcPts val="400"/>
              </a:spcAft>
            </a:pPr>
            <a:r>
              <a:rPr sz="1250" b="0">
                <a:solidFill>
                  <a:srgbClr val="1F2A3A"/>
                </a:solidFill>
                <a:latin typeface="맑은 고딕"/>
                <a:ea typeface="맑은 고딕"/>
                <a:cs typeface="맑은 고딕"/>
              </a:rPr>
              <a:t>구매 담당 역할</a:t>
            </a:r>
          </a:p>
        </p:txBody>
      </p:sp>
      <p:sp>
        <p:nvSpPr>
          <p:cNvPr id="10" name="Right Arrow 9"/>
          <p:cNvSpPr/>
          <p:nvPr/>
        </p:nvSpPr>
        <p:spPr>
          <a:xfrm>
            <a:off x="2524292"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2844332" y="2529586"/>
            <a:ext cx="1911644" cy="2923539"/>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3434394" y="2712466"/>
            <a:ext cx="731520" cy="731520"/>
          </a:xfrm>
          <a:prstGeom prst="ellipse">
            <a:avLst/>
          </a:prstGeom>
          <a:solidFill>
            <a:srgbClr val="FFFFFF"/>
          </a:solidFill>
          <a:ln>
            <a:noFill/>
          </a:ln>
        </p:spPr>
        <p:txBody>
          <a:bodyPr rtlCol="0" anchor="ctr"/>
          <a:lstStyle/>
          <a:p>
            <a:pPr algn="ctr"/>
          </a:p>
        </p:txBody>
      </p:sp>
      <p:pic>
        <p:nvPicPr>
          <p:cNvPr id="13" name="아이콘:rocket" descr="rocket_13294B_1.6.png"/>
          <p:cNvPicPr>
            <a:picLocks noChangeAspect="1"/>
          </p:cNvPicPr>
          <p:nvPr/>
        </p:nvPicPr>
        <p:blipFill>
          <a:blip r:embed="rId4"/>
          <a:stretch>
            <a:fillRect/>
          </a:stretch>
        </p:blipFill>
        <p:spPr>
          <a:xfrm>
            <a:off x="3588014" y="2866085"/>
            <a:ext cx="424281" cy="424281"/>
          </a:xfrm>
          <a:prstGeom prst="rect">
            <a:avLst/>
          </a:prstGeom>
        </p:spPr>
      </p:pic>
      <p:sp>
        <p:nvSpPr>
          <p:cNvPr id="14" name="TextBox 13"/>
          <p:cNvSpPr txBox="1"/>
          <p:nvPr/>
        </p:nvSpPr>
        <p:spPr>
          <a:xfrm>
            <a:off x="2917484" y="3517138"/>
            <a:ext cx="1765340" cy="186283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검사와 배포</a:t>
            </a:r>
          </a:p>
          <a:p>
            <a:pPr algn="ctr">
              <a:lnSpc>
                <a:spcPct val="110000"/>
              </a:lnSpc>
              <a:spcAft>
                <a:spcPts val="400"/>
              </a:spcAft>
            </a:pPr>
            <a:r>
              <a:rPr sz="1250" b="0">
                <a:solidFill>
                  <a:srgbClr val="1F2A3A"/>
                </a:solidFill>
                <a:latin typeface="맑은 고딕"/>
                <a:ea typeface="맑은 고딕"/>
                <a:cs typeface="맑은 고딕"/>
              </a:rPr>
              <a:t>사전 검사를 거쳐</a:t>
            </a:r>
          </a:p>
          <a:p>
            <a:pPr algn="ctr">
              <a:lnSpc>
                <a:spcPct val="110000"/>
              </a:lnSpc>
              <a:spcAft>
                <a:spcPts val="400"/>
              </a:spcAft>
            </a:pPr>
            <a:r>
              <a:rPr sz="1250" b="0">
                <a:solidFill>
                  <a:srgbClr val="1F2A3A"/>
                </a:solidFill>
                <a:latin typeface="맑은 고딕"/>
                <a:ea typeface="맑은 고딕"/>
                <a:cs typeface="맑은 고딕"/>
              </a:rPr>
              <a:t>등록하고 배포한다</a:t>
            </a:r>
          </a:p>
        </p:txBody>
      </p:sp>
      <p:sp>
        <p:nvSpPr>
          <p:cNvPr id="15" name="Right Arrow 14"/>
          <p:cNvSpPr/>
          <p:nvPr/>
        </p:nvSpPr>
        <p:spPr>
          <a:xfrm>
            <a:off x="4819985"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5140025" y="2529586"/>
            <a:ext cx="1911644" cy="2923539"/>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5730087" y="2712466"/>
            <a:ext cx="731520" cy="731520"/>
          </a:xfrm>
          <a:prstGeom prst="ellipse">
            <a:avLst/>
          </a:prstGeom>
          <a:solidFill>
            <a:srgbClr val="FFFFFF"/>
          </a:solidFill>
          <a:ln>
            <a:noFill/>
          </a:ln>
        </p:spPr>
        <p:txBody>
          <a:bodyPr rtlCol="0" anchor="ctr"/>
          <a:lstStyle/>
          <a:p>
            <a:pPr algn="ctr"/>
          </a:p>
        </p:txBody>
      </p:sp>
      <p:pic>
        <p:nvPicPr>
          <p:cNvPr id="18" name="아이콘:player-play" descr="player-play_13294B_1.6.png"/>
          <p:cNvPicPr>
            <a:picLocks noChangeAspect="1"/>
          </p:cNvPicPr>
          <p:nvPr/>
        </p:nvPicPr>
        <p:blipFill>
          <a:blip r:embed="rId5"/>
          <a:stretch>
            <a:fillRect/>
          </a:stretch>
        </p:blipFill>
        <p:spPr>
          <a:xfrm>
            <a:off x="5883706" y="2866085"/>
            <a:ext cx="424281" cy="424281"/>
          </a:xfrm>
          <a:prstGeom prst="rect">
            <a:avLst/>
          </a:prstGeom>
        </p:spPr>
      </p:pic>
      <p:sp>
        <p:nvSpPr>
          <p:cNvPr id="19" name="TextBox 18"/>
          <p:cNvSpPr txBox="1"/>
          <p:nvPr/>
        </p:nvSpPr>
        <p:spPr>
          <a:xfrm>
            <a:off x="5213177" y="3517138"/>
            <a:ext cx="1765340" cy="186283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실행</a:t>
            </a:r>
          </a:p>
          <a:p>
            <a:pPr algn="ctr">
              <a:lnSpc>
                <a:spcPct val="110000"/>
              </a:lnSpc>
              <a:spcAft>
                <a:spcPts val="400"/>
              </a:spcAft>
            </a:pPr>
            <a:r>
              <a:rPr sz="1250" b="0">
                <a:solidFill>
                  <a:srgbClr val="1F2A3A"/>
                </a:solidFill>
                <a:latin typeface="맑은 고딕"/>
                <a:ea typeface="맑은 고딕"/>
                <a:cs typeface="맑은 고딕"/>
              </a:rPr>
              <a:t>재고 부족으로</a:t>
            </a:r>
          </a:p>
          <a:p>
            <a:pPr algn="ctr">
              <a:lnSpc>
                <a:spcPct val="110000"/>
              </a:lnSpc>
              <a:spcAft>
                <a:spcPts val="400"/>
              </a:spcAft>
            </a:pPr>
            <a:r>
              <a:rPr sz="1250" b="0">
                <a:solidFill>
                  <a:srgbClr val="1F2A3A"/>
                </a:solidFill>
                <a:latin typeface="맑은 고딕"/>
                <a:ea typeface="맑은 고딕"/>
                <a:cs typeface="맑은 고딕"/>
              </a:rPr>
              <a:t>처리 건이 열리고</a:t>
            </a:r>
          </a:p>
          <a:p>
            <a:pPr algn="ctr">
              <a:lnSpc>
                <a:spcPct val="110000"/>
              </a:lnSpc>
              <a:spcAft>
                <a:spcPts val="400"/>
              </a:spcAft>
            </a:pPr>
            <a:r>
              <a:rPr sz="1250" b="0">
                <a:solidFill>
                  <a:srgbClr val="1F2A3A"/>
                </a:solidFill>
                <a:latin typeface="맑은 고딕"/>
                <a:ea typeface="맑은 고딕"/>
                <a:cs typeface="맑은 고딕"/>
              </a:rPr>
              <a:t>발주안이 승인을 기다린다</a:t>
            </a:r>
          </a:p>
        </p:txBody>
      </p:sp>
      <p:sp>
        <p:nvSpPr>
          <p:cNvPr id="20" name="Right Arrow 19"/>
          <p:cNvSpPr/>
          <p:nvPr/>
        </p:nvSpPr>
        <p:spPr>
          <a:xfrm>
            <a:off x="711567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7435717" y="2529586"/>
            <a:ext cx="1911644" cy="2923539"/>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8025780" y="2712466"/>
            <a:ext cx="731520" cy="731520"/>
          </a:xfrm>
          <a:prstGeom prst="ellipse">
            <a:avLst/>
          </a:prstGeom>
          <a:solidFill>
            <a:srgbClr val="FFFFFF"/>
          </a:solidFill>
          <a:ln>
            <a:noFill/>
          </a:ln>
        </p:spPr>
        <p:txBody>
          <a:bodyPr rtlCol="0" anchor="ctr"/>
          <a:lstStyle/>
          <a:p>
            <a:pPr algn="ctr"/>
          </a:p>
        </p:txBody>
      </p:sp>
      <p:pic>
        <p:nvPicPr>
          <p:cNvPr id="23" name="아이콘:package" descr="package_13294B_1.6.png"/>
          <p:cNvPicPr>
            <a:picLocks noChangeAspect="1"/>
          </p:cNvPicPr>
          <p:nvPr/>
        </p:nvPicPr>
        <p:blipFill>
          <a:blip r:embed="rId6"/>
          <a:stretch>
            <a:fillRect/>
          </a:stretch>
        </p:blipFill>
        <p:spPr>
          <a:xfrm>
            <a:off x="8179399" y="2866085"/>
            <a:ext cx="424281" cy="424281"/>
          </a:xfrm>
          <a:prstGeom prst="rect">
            <a:avLst/>
          </a:prstGeom>
        </p:spPr>
      </p:pic>
      <p:sp>
        <p:nvSpPr>
          <p:cNvPr id="24" name="TextBox 23"/>
          <p:cNvSpPr txBox="1"/>
          <p:nvPr/>
        </p:nvSpPr>
        <p:spPr>
          <a:xfrm>
            <a:off x="7508869" y="3517138"/>
            <a:ext cx="1765340" cy="186283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승인 뒤</a:t>
            </a:r>
          </a:p>
          <a:p>
            <a:pPr algn="ctr">
              <a:lnSpc>
                <a:spcPct val="110000"/>
              </a:lnSpc>
              <a:spcAft>
                <a:spcPts val="400"/>
              </a:spcAft>
            </a:pPr>
            <a:r>
              <a:rPr sz="1250" b="0">
                <a:solidFill>
                  <a:srgbClr val="1F2A3A"/>
                </a:solidFill>
                <a:latin typeface="맑은 고딕"/>
                <a:ea typeface="맑은 고딕"/>
                <a:cs typeface="맑은 고딕"/>
              </a:rPr>
              <a:t>ERP 발주,</a:t>
            </a:r>
          </a:p>
          <a:p>
            <a:pPr algn="ctr">
              <a:lnSpc>
                <a:spcPct val="110000"/>
              </a:lnSpc>
              <a:spcAft>
                <a:spcPts val="400"/>
              </a:spcAft>
            </a:pPr>
            <a:r>
              <a:rPr sz="1250" b="0">
                <a:solidFill>
                  <a:srgbClr val="1F2A3A"/>
                </a:solidFill>
                <a:latin typeface="맑은 고딕"/>
                <a:ea typeface="맑은 고딕"/>
                <a:cs typeface="맑은 고딕"/>
              </a:rPr>
              <a:t>공급사 통지,</a:t>
            </a:r>
          </a:p>
          <a:p>
            <a:pPr algn="ctr">
              <a:lnSpc>
                <a:spcPct val="110000"/>
              </a:lnSpc>
              <a:spcAft>
                <a:spcPts val="400"/>
              </a:spcAft>
            </a:pPr>
            <a:r>
              <a:rPr sz="1250" b="0">
                <a:solidFill>
                  <a:srgbClr val="1F2A3A"/>
                </a:solidFill>
                <a:latin typeface="맑은 고딕"/>
                <a:ea typeface="맑은 고딕"/>
                <a:cs typeface="맑은 고딕"/>
              </a:rPr>
              <a:t>입고와 재고 반영</a:t>
            </a:r>
          </a:p>
        </p:txBody>
      </p:sp>
      <p:sp>
        <p:nvSpPr>
          <p:cNvPr id="25" name="Right Arrow 24"/>
          <p:cNvSpPr/>
          <p:nvPr/>
        </p:nvSpPr>
        <p:spPr>
          <a:xfrm>
            <a:off x="9411370" y="3854196"/>
            <a:ext cx="256031" cy="274320"/>
          </a:xfrm>
          <a:prstGeom prst="rightArrow">
            <a:avLst/>
          </a:prstGeom>
          <a:solidFill>
            <a:srgbClr val="13294B"/>
          </a:solidFill>
          <a:ln>
            <a:noFill/>
          </a:ln>
        </p:spPr>
        <p:txBody>
          <a:bodyPr rtlCol="0" anchor="ctr"/>
          <a:lstStyle/>
          <a:p>
            <a:pPr algn="ctr"/>
          </a:p>
        </p:txBody>
      </p:sp>
      <p:sp>
        <p:nvSpPr>
          <p:cNvPr id="26" name="Rounded Rectangle 25"/>
          <p:cNvSpPr/>
          <p:nvPr/>
        </p:nvSpPr>
        <p:spPr>
          <a:xfrm>
            <a:off x="9731410" y="2529586"/>
            <a:ext cx="1911644" cy="2923539"/>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7" name="Oval 26"/>
          <p:cNvSpPr/>
          <p:nvPr/>
        </p:nvSpPr>
        <p:spPr>
          <a:xfrm>
            <a:off x="10321472" y="2712466"/>
            <a:ext cx="731520" cy="731520"/>
          </a:xfrm>
          <a:prstGeom prst="ellipse">
            <a:avLst/>
          </a:prstGeom>
          <a:solidFill>
            <a:srgbClr val="5CB8F2"/>
          </a:solidFill>
          <a:ln>
            <a:noFill/>
          </a:ln>
        </p:spPr>
        <p:txBody>
          <a:bodyPr rtlCol="0" anchor="ctr"/>
          <a:lstStyle/>
          <a:p>
            <a:pPr algn="ctr"/>
          </a:p>
        </p:txBody>
      </p:sp>
      <p:pic>
        <p:nvPicPr>
          <p:cNvPr id="28" name="아이콘:file-text" descr="file-text_13294B_1.6.png"/>
          <p:cNvPicPr>
            <a:picLocks noChangeAspect="1"/>
          </p:cNvPicPr>
          <p:nvPr/>
        </p:nvPicPr>
        <p:blipFill>
          <a:blip r:embed="rId7"/>
          <a:stretch>
            <a:fillRect/>
          </a:stretch>
        </p:blipFill>
        <p:spPr>
          <a:xfrm>
            <a:off x="10475092" y="2866085"/>
            <a:ext cx="424281" cy="424281"/>
          </a:xfrm>
          <a:prstGeom prst="rect">
            <a:avLst/>
          </a:prstGeom>
        </p:spPr>
      </p:pic>
      <p:sp>
        <p:nvSpPr>
          <p:cNvPr id="29" name="TextBox 28"/>
          <p:cNvSpPr txBox="1"/>
          <p:nvPr/>
        </p:nvSpPr>
        <p:spPr>
          <a:xfrm>
            <a:off x="9804562" y="3517138"/>
            <a:ext cx="1765340" cy="186283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종료 기록</a:t>
            </a:r>
          </a:p>
          <a:p>
            <a:pPr algn="ctr">
              <a:lnSpc>
                <a:spcPct val="110000"/>
              </a:lnSpc>
              <a:spcAft>
                <a:spcPts val="400"/>
              </a:spcAft>
            </a:pPr>
            <a:r>
              <a:rPr sz="1250" b="0">
                <a:solidFill>
                  <a:srgbClr val="1F2A3A"/>
                </a:solidFill>
                <a:latin typeface="맑은 고딕"/>
                <a:ea typeface="맑은 고딕"/>
                <a:cs typeface="맑은 고딕"/>
              </a:rPr>
              <a:t>승인: 가용 재고</a:t>
            </a:r>
          </a:p>
          <a:p>
            <a:pPr algn="ctr">
              <a:lnSpc>
                <a:spcPct val="110000"/>
              </a:lnSpc>
              <a:spcAft>
                <a:spcPts val="400"/>
              </a:spcAft>
            </a:pPr>
            <a:r>
              <a:rPr sz="1250" b="0">
                <a:solidFill>
                  <a:srgbClr val="1F2A3A"/>
                </a:solidFill>
                <a:latin typeface="맑은 고딕"/>
                <a:ea typeface="맑은 고딕"/>
                <a:cs typeface="맑은 고딕"/>
              </a:rPr>
              <a:t>1개에서 7개,</a:t>
            </a:r>
          </a:p>
          <a:p>
            <a:pPr algn="ctr">
              <a:lnSpc>
                <a:spcPct val="110000"/>
              </a:lnSpc>
              <a:spcAft>
                <a:spcPts val="400"/>
              </a:spcAft>
            </a:pPr>
            <a:r>
              <a:rPr sz="1250" b="0">
                <a:solidFill>
                  <a:srgbClr val="1F2A3A"/>
                </a:solidFill>
                <a:latin typeface="맑은 고딕"/>
                <a:ea typeface="맑은 고딕"/>
                <a:cs typeface="맑은 고딕"/>
              </a:rPr>
              <a:t>입고 완료</a:t>
            </a:r>
          </a:p>
          <a:p>
            <a:pPr algn="ctr">
              <a:lnSpc>
                <a:spcPct val="110000"/>
              </a:lnSpc>
              <a:spcAft>
                <a:spcPts val="400"/>
              </a:spcAft>
            </a:pPr>
            <a:r>
              <a:rPr sz="1250" b="0">
                <a:solidFill>
                  <a:srgbClr val="1F2A3A"/>
                </a:solidFill>
                <a:latin typeface="맑은 고딕"/>
                <a:ea typeface="맑은 고딕"/>
                <a:cs typeface="맑은 고딕"/>
              </a:rPr>
              <a:t>거절: 발주 없이 종료</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02</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AI와 사람이 함께 수행하는</a:t>
            </a:r>
          </a:p>
          <a:p>
            <a:pPr algn="l">
              <a:lnSpc>
                <a:spcPct val="110000"/>
              </a:lnSpc>
            </a:pPr>
            <a:r>
              <a:rPr sz="3400" b="1">
                <a:solidFill>
                  <a:srgbClr val="13294B"/>
                </a:solidFill>
                <a:latin typeface="맑은 고딕"/>
                <a:ea typeface="맑은 고딕"/>
                <a:cs typeface="맑은 고딕"/>
              </a:rPr>
              <a:t>업무 흐름의 정리</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세 업무의 처리 건을 되짚고 지식, 에이전트, 프로세스를 잇는다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프로세스 영역에서 다룬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프로세스 영역에서는 프로세스를 정의하고 그려서 실행했으며, 같은 패턴으로 정비와 구매까지 넓혔다.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29</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다룬 것</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답한 물음</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남은 결과물</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비즈니스 프로세스</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추천이 업무의 완료로 이어지려면 무엇을 정해야 하는가</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시작 조건에서</a:t>
            </a:r>
          </a:p>
          <a:p>
            <a:pPr algn="l">
              <a:lnSpc>
                <a:spcPct val="110000"/>
              </a:lnSpc>
            </a:pPr>
            <a:r>
              <a:rPr sz="1250" b="1">
                <a:solidFill>
                  <a:srgbClr val="556175"/>
                </a:solidFill>
                <a:latin typeface="맑은 고딕"/>
                <a:ea typeface="맑은 고딕"/>
                <a:cs typeface="맑은 고딕"/>
              </a:rPr>
              <a:t>완료 조건까지의 정의</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BPMN</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그 정의를 누구나 같은 뜻으로 읽게 하려면 어떻게 그리는가</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긴급 대응 프로세스의</a:t>
            </a:r>
          </a:p>
          <a:p>
            <a:pPr algn="l">
              <a:lnSpc>
                <a:spcPct val="110000"/>
              </a:lnSpc>
            </a:pPr>
            <a:r>
              <a:rPr sz="1250" b="1">
                <a:solidFill>
                  <a:srgbClr val="556175"/>
                </a:solidFill>
                <a:latin typeface="맑은 고딕"/>
                <a:ea typeface="맑은 고딕"/>
                <a:cs typeface="맑은 고딕"/>
              </a:rPr>
              <a:t>그림</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오케스트레이션</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그림대로 작업을 열고 진행을 기억하는 것은 무엇인가</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처리 건과 그 기록</a:t>
            </a:r>
          </a:p>
        </p:txBody>
      </p:sp>
      <p:sp>
        <p:nvSpPr>
          <p:cNvPr id="22" name="Rounded Rectangle 21"/>
          <p:cNvSpPr/>
          <p:nvPr/>
        </p:nvSpPr>
        <p:spPr>
          <a:xfrm>
            <a:off x="548640" y="5138927"/>
            <a:ext cx="11094415" cy="850392"/>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설계의 재사용</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다른 업무에도 같은 원리를 쓰려면 무엇을 남기고 무엇을 바꾸는가</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정기 점검, 재고 보충</a:t>
            </a:r>
          </a:p>
          <a:p>
            <a:pPr algn="l">
              <a:lnSpc>
                <a:spcPct val="110000"/>
              </a:lnSpc>
            </a:pPr>
            <a:r>
              <a:rPr sz="1250" b="1">
                <a:solidFill>
                  <a:srgbClr val="1A6FC4"/>
                </a:solidFill>
                <a:latin typeface="맑은 고딕"/>
                <a:ea typeface="맑은 고딕"/>
                <a:cs typeface="맑은 고딕"/>
              </a:rPr>
              <a:t>프로세스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세 그림을 그리는 데 쓴 BPMN 요소</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프로세스는 일곱 가지 기호만으로 그려져, 이 기호를 읽으면 세 업무의 순서와 책임과 예외 경로를 따라갈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30</a:t>
            </a:r>
          </a:p>
        </p:txBody>
      </p:sp>
      <p:pic>
        <p:nvPicPr>
          <p:cNvPr id="6" name="삽화:요소_복습.svg" descr="illust_6662642318904048888_179174371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66559" y="3849532"/>
            <a:ext cx="1472781" cy="1026668"/>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메시지 시작 이벤트</a:t>
            </a:r>
          </a:p>
          <a:p>
            <a:pPr algn="ctr">
              <a:lnSpc>
                <a:spcPct val="110000"/>
              </a:lnSpc>
              <a:spcAft>
                <a:spcPts val="100"/>
              </a:spcAft>
            </a:pPr>
            <a:r>
              <a:rPr sz="1300" b="0">
                <a:solidFill>
                  <a:srgbClr val="556175"/>
                </a:solidFill>
                <a:latin typeface="맑은 고딕"/>
                <a:ea typeface="맑은 고딕"/>
                <a:cs typeface="맑은 고딕"/>
              </a:rPr>
              <a:t>경보가 도착하면 연다</a:t>
            </a:r>
          </a:p>
        </p:txBody>
      </p:sp>
      <p:sp>
        <p:nvSpPr>
          <p:cNvPr id="8" name="TextBox 7"/>
          <p:cNvSpPr txBox="1"/>
          <p:nvPr/>
        </p:nvSpPr>
        <p:spPr>
          <a:xfrm>
            <a:off x="2293888" y="3849532"/>
            <a:ext cx="1472781"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작업</a:t>
            </a:r>
          </a:p>
          <a:p>
            <a:pPr algn="ctr">
              <a:lnSpc>
                <a:spcPct val="110000"/>
              </a:lnSpc>
              <a:spcAft>
                <a:spcPts val="100"/>
              </a:spcAft>
            </a:pPr>
            <a:r>
              <a:rPr sz="1300" b="0">
                <a:solidFill>
                  <a:srgbClr val="556175"/>
                </a:solidFill>
                <a:latin typeface="맑은 고딕"/>
                <a:ea typeface="맑은 고딕"/>
                <a:cs typeface="맑은 고딕"/>
              </a:rPr>
              <a:t>에이전트의 제안</a:t>
            </a:r>
          </a:p>
        </p:txBody>
      </p:sp>
      <p:sp>
        <p:nvSpPr>
          <p:cNvPr id="9" name="TextBox 8"/>
          <p:cNvSpPr txBox="1"/>
          <p:nvPr/>
        </p:nvSpPr>
        <p:spPr>
          <a:xfrm>
            <a:off x="3821217" y="3849532"/>
            <a:ext cx="1472781"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사용자 작업</a:t>
            </a:r>
          </a:p>
          <a:p>
            <a:pPr algn="ctr">
              <a:lnSpc>
                <a:spcPct val="110000"/>
              </a:lnSpc>
              <a:spcAft>
                <a:spcPts val="100"/>
              </a:spcAft>
            </a:pPr>
            <a:r>
              <a:rPr sz="1300" b="0">
                <a:solidFill>
                  <a:srgbClr val="556175"/>
                </a:solidFill>
                <a:latin typeface="맑은 고딕"/>
                <a:ea typeface="맑은 고딕"/>
                <a:cs typeface="맑은 고딕"/>
              </a:rPr>
              <a:t>사람의 승인</a:t>
            </a:r>
          </a:p>
        </p:txBody>
      </p:sp>
      <p:sp>
        <p:nvSpPr>
          <p:cNvPr id="10" name="TextBox 9"/>
          <p:cNvSpPr txBox="1"/>
          <p:nvPr/>
        </p:nvSpPr>
        <p:spPr>
          <a:xfrm>
            <a:off x="5348547" y="3849532"/>
            <a:ext cx="1472781"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서비스 작업</a:t>
            </a:r>
          </a:p>
          <a:p>
            <a:pPr algn="ctr">
              <a:lnSpc>
                <a:spcPct val="110000"/>
              </a:lnSpc>
              <a:spcAft>
                <a:spcPts val="100"/>
              </a:spcAft>
            </a:pPr>
            <a:r>
              <a:rPr sz="1300" b="0">
                <a:solidFill>
                  <a:srgbClr val="556175"/>
                </a:solidFill>
                <a:latin typeface="맑은 고딕"/>
                <a:ea typeface="맑은 고딕"/>
                <a:cs typeface="맑은 고딕"/>
              </a:rPr>
              <a:t>시스템의 처리와 결과 보고</a:t>
            </a:r>
          </a:p>
        </p:txBody>
      </p:sp>
      <p:sp>
        <p:nvSpPr>
          <p:cNvPr id="11" name="TextBox 10"/>
          <p:cNvSpPr txBox="1"/>
          <p:nvPr/>
        </p:nvSpPr>
        <p:spPr>
          <a:xfrm>
            <a:off x="6875876" y="3849532"/>
            <a:ext cx="1472781" cy="1026668"/>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배타 게이트웨이</a:t>
            </a:r>
          </a:p>
          <a:p>
            <a:pPr algn="ctr">
              <a:lnSpc>
                <a:spcPct val="110000"/>
              </a:lnSpc>
              <a:spcAft>
                <a:spcPts val="100"/>
              </a:spcAft>
            </a:pPr>
            <a:r>
              <a:rPr sz="1300" b="0">
                <a:solidFill>
                  <a:srgbClr val="556175"/>
                </a:solidFill>
                <a:latin typeface="맑은 고딕"/>
                <a:ea typeface="맑은 고딕"/>
                <a:cs typeface="맑은 고딕"/>
              </a:rPr>
              <a:t>승인과 거절의 갈림</a:t>
            </a:r>
          </a:p>
        </p:txBody>
      </p:sp>
      <p:sp>
        <p:nvSpPr>
          <p:cNvPr id="12" name="TextBox 11"/>
          <p:cNvSpPr txBox="1"/>
          <p:nvPr/>
        </p:nvSpPr>
        <p:spPr>
          <a:xfrm>
            <a:off x="8403205" y="3849532"/>
            <a:ext cx="1472781" cy="825246"/>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비중단형 경계 타이머</a:t>
            </a:r>
          </a:p>
          <a:p>
            <a:pPr algn="ctr">
              <a:lnSpc>
                <a:spcPct val="110000"/>
              </a:lnSpc>
              <a:spcAft>
                <a:spcPts val="100"/>
              </a:spcAft>
            </a:pPr>
            <a:r>
              <a:rPr sz="1300" b="0">
                <a:solidFill>
                  <a:srgbClr val="556175"/>
                </a:solidFill>
                <a:latin typeface="맑은 고딕"/>
                <a:ea typeface="맑은 고딕"/>
                <a:cs typeface="맑은 고딕"/>
              </a:rPr>
              <a:t>승인 지연의 알림</a:t>
            </a:r>
          </a:p>
        </p:txBody>
      </p:sp>
      <p:sp>
        <p:nvSpPr>
          <p:cNvPr id="13" name="TextBox 12"/>
          <p:cNvSpPr txBox="1"/>
          <p:nvPr/>
        </p:nvSpPr>
        <p:spPr>
          <a:xfrm>
            <a:off x="9930535" y="3849532"/>
            <a:ext cx="1472781"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끝 이벤트</a:t>
            </a:r>
          </a:p>
          <a:p>
            <a:pPr algn="ctr">
              <a:lnSpc>
                <a:spcPct val="110000"/>
              </a:lnSpc>
              <a:spcAft>
                <a:spcPts val="100"/>
              </a:spcAft>
            </a:pPr>
            <a:r>
              <a:rPr sz="1300" b="0">
                <a:solidFill>
                  <a:srgbClr val="556175"/>
                </a:solidFill>
                <a:latin typeface="맑은 고딕"/>
                <a:ea typeface="맑은 고딕"/>
                <a:cs typeface="맑은 고딕"/>
              </a:rPr>
              <a:t>끝, 거절 종결, 알림</a:t>
            </a:r>
          </a:p>
        </p:txBody>
      </p:sp>
      <p:sp>
        <p:nvSpPr>
          <p:cNvPr id="14" name="TextBox 13"/>
          <p:cNvSpPr txBox="1"/>
          <p:nvPr/>
        </p:nvSpPr>
        <p:spPr>
          <a:xfrm>
            <a:off x="1732049" y="5504139"/>
            <a:ext cx="261827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긴급 대응</a:t>
            </a:r>
          </a:p>
          <a:p>
            <a:pPr algn="ctr">
              <a:lnSpc>
                <a:spcPct val="110000"/>
              </a:lnSpc>
              <a:spcAft>
                <a:spcPts val="100"/>
              </a:spcAft>
            </a:pPr>
            <a:r>
              <a:rPr sz="1300" b="0">
                <a:solidFill>
                  <a:srgbClr val="556175"/>
                </a:solidFill>
                <a:latin typeface="맑은 고딕"/>
                <a:ea typeface="맑은 고딕"/>
                <a:cs typeface="맑은 고딕"/>
              </a:rPr>
              <a:t>작업 9 · 게이트웨이 2</a:t>
            </a:r>
          </a:p>
        </p:txBody>
      </p:sp>
      <p:sp>
        <p:nvSpPr>
          <p:cNvPr id="15" name="TextBox 14"/>
          <p:cNvSpPr txBox="1"/>
          <p:nvPr/>
        </p:nvSpPr>
        <p:spPr>
          <a:xfrm>
            <a:off x="4786708" y="5504139"/>
            <a:ext cx="261827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정기 점검</a:t>
            </a:r>
          </a:p>
          <a:p>
            <a:pPr algn="ctr">
              <a:lnSpc>
                <a:spcPct val="110000"/>
              </a:lnSpc>
              <a:spcAft>
                <a:spcPts val="100"/>
              </a:spcAft>
            </a:pPr>
            <a:r>
              <a:rPr sz="1300" b="0">
                <a:solidFill>
                  <a:srgbClr val="556175"/>
                </a:solidFill>
                <a:latin typeface="맑은 고딕"/>
                <a:ea typeface="맑은 고딕"/>
                <a:cs typeface="맑은 고딕"/>
              </a:rPr>
              <a:t>작업 6 · 게이트웨이 1</a:t>
            </a:r>
          </a:p>
        </p:txBody>
      </p:sp>
      <p:sp>
        <p:nvSpPr>
          <p:cNvPr id="16" name="TextBox 15"/>
          <p:cNvSpPr txBox="1"/>
          <p:nvPr/>
        </p:nvSpPr>
        <p:spPr>
          <a:xfrm>
            <a:off x="7841366" y="5504139"/>
            <a:ext cx="261827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재고 보충</a:t>
            </a:r>
          </a:p>
          <a:p>
            <a:pPr algn="ctr">
              <a:lnSpc>
                <a:spcPct val="110000"/>
              </a:lnSpc>
              <a:spcAft>
                <a:spcPts val="100"/>
              </a:spcAft>
            </a:pPr>
            <a:r>
              <a:rPr sz="1300" b="0">
                <a:solidFill>
                  <a:srgbClr val="556175"/>
                </a:solidFill>
                <a:latin typeface="맑은 고딕"/>
                <a:ea typeface="맑은 고딕"/>
                <a:cs typeface="맑은 고딕"/>
              </a:rPr>
              <a:t>작업 7 · 게이트웨이 1</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처리 건이 지나는 다섯 자리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어느 업무든 승인된 처리 건은 시작 이벤트, 에이전트의 판단, 사람의 승인, 시스템의 처리, 종료 기록을 차례로 지난다.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31</a:t>
            </a:r>
          </a:p>
        </p:txBody>
      </p:sp>
      <p:pic>
        <p:nvPicPr>
          <p:cNvPr id="6" name="삽화:다섯자리.svg" descr="illust_8553891043291061113_179174371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37471" y="1769455"/>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시작 이벤트</a:t>
            </a:r>
          </a:p>
          <a:p>
            <a:pPr algn="ctr">
              <a:lnSpc>
                <a:spcPct val="110000"/>
              </a:lnSpc>
              <a:spcAft>
                <a:spcPts val="100"/>
              </a:spcAft>
            </a:pPr>
            <a:r>
              <a:rPr sz="1300" b="0">
                <a:solidFill>
                  <a:srgbClr val="556175"/>
                </a:solidFill>
                <a:latin typeface="맑은 고딕"/>
                <a:ea typeface="맑은 고딕"/>
                <a:cs typeface="맑은 고딕"/>
              </a:rPr>
              <a:t>사건이 경보로 도착한다</a:t>
            </a:r>
          </a:p>
        </p:txBody>
      </p:sp>
      <p:sp>
        <p:nvSpPr>
          <p:cNvPr id="8" name="TextBox 7"/>
          <p:cNvSpPr txBox="1"/>
          <p:nvPr/>
        </p:nvSpPr>
        <p:spPr>
          <a:xfrm>
            <a:off x="2975732" y="1769455"/>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에이전트의 판단</a:t>
            </a:r>
          </a:p>
          <a:p>
            <a:pPr algn="ctr">
              <a:lnSpc>
                <a:spcPct val="110000"/>
              </a:lnSpc>
              <a:spcAft>
                <a:spcPts val="100"/>
              </a:spcAft>
            </a:pPr>
            <a:r>
              <a:rPr sz="1300" b="0">
                <a:solidFill>
                  <a:srgbClr val="556175"/>
                </a:solidFill>
                <a:latin typeface="맑은 고딕"/>
                <a:ea typeface="맑은 고딕"/>
                <a:cs typeface="맑은 고딕"/>
              </a:rPr>
              <a:t>읽고 견주어 제안한다</a:t>
            </a:r>
          </a:p>
        </p:txBody>
      </p:sp>
      <p:sp>
        <p:nvSpPr>
          <p:cNvPr id="9" name="TextBox 8"/>
          <p:cNvSpPr txBox="1"/>
          <p:nvPr/>
        </p:nvSpPr>
        <p:spPr>
          <a:xfrm>
            <a:off x="5059445" y="1769455"/>
            <a:ext cx="2072804"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사람의 승인 · 거절</a:t>
            </a:r>
          </a:p>
          <a:p>
            <a:pPr algn="ctr">
              <a:lnSpc>
                <a:spcPct val="110000"/>
              </a:lnSpc>
              <a:spcAft>
                <a:spcPts val="100"/>
              </a:spcAft>
            </a:pPr>
            <a:r>
              <a:rPr sz="1300" b="0">
                <a:solidFill>
                  <a:srgbClr val="556175"/>
                </a:solidFill>
                <a:latin typeface="맑은 고딕"/>
                <a:ea typeface="맑은 고딕"/>
                <a:cs typeface="맑은 고딕"/>
              </a:rPr>
              <a:t>정해진 역할이 결정한다</a:t>
            </a:r>
          </a:p>
        </p:txBody>
      </p:sp>
      <p:sp>
        <p:nvSpPr>
          <p:cNvPr id="10" name="TextBox 9"/>
          <p:cNvSpPr txBox="1"/>
          <p:nvPr/>
        </p:nvSpPr>
        <p:spPr>
          <a:xfrm>
            <a:off x="7252254" y="1769455"/>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시스템의 처리</a:t>
            </a:r>
          </a:p>
          <a:p>
            <a:pPr algn="ctr">
              <a:lnSpc>
                <a:spcPct val="110000"/>
              </a:lnSpc>
              <a:spcAft>
                <a:spcPts val="100"/>
              </a:spcAft>
            </a:pPr>
            <a:r>
              <a:rPr sz="1300" b="0">
                <a:solidFill>
                  <a:srgbClr val="556175"/>
                </a:solidFill>
                <a:latin typeface="맑은 고딕"/>
                <a:ea typeface="맑은 고딕"/>
                <a:cs typeface="맑은 고딕"/>
              </a:rPr>
              <a:t>승인된 내용을 실행한다</a:t>
            </a:r>
          </a:p>
        </p:txBody>
      </p:sp>
      <p:sp>
        <p:nvSpPr>
          <p:cNvPr id="11" name="TextBox 10"/>
          <p:cNvSpPr txBox="1"/>
          <p:nvPr/>
        </p:nvSpPr>
        <p:spPr>
          <a:xfrm>
            <a:off x="9390515" y="1769455"/>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종료 기록</a:t>
            </a:r>
          </a:p>
          <a:p>
            <a:pPr algn="ctr">
              <a:lnSpc>
                <a:spcPct val="110000"/>
              </a:lnSpc>
              <a:spcAft>
                <a:spcPts val="100"/>
              </a:spcAft>
            </a:pPr>
            <a:r>
              <a:rPr sz="1300" b="0">
                <a:solidFill>
                  <a:srgbClr val="556175"/>
                </a:solidFill>
                <a:latin typeface="맑은 고딕"/>
                <a:ea typeface="맑은 고딕"/>
                <a:cs typeface="맑은 고딕"/>
              </a:rPr>
              <a:t>끝 이벤트와 결과 보고</a:t>
            </a:r>
          </a:p>
        </p:txBody>
      </p:sp>
      <p:sp>
        <p:nvSpPr>
          <p:cNvPr id="12" name="TextBox 11"/>
          <p:cNvSpPr txBox="1"/>
          <p:nvPr/>
        </p:nvSpPr>
        <p:spPr>
          <a:xfrm>
            <a:off x="5615829" y="5409590"/>
            <a:ext cx="5236557"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거절</a:t>
            </a:r>
          </a:p>
          <a:p>
            <a:pPr algn="ctr">
              <a:lnSpc>
                <a:spcPct val="110000"/>
              </a:lnSpc>
              <a:spcAft>
                <a:spcPts val="100"/>
              </a:spcAft>
            </a:pPr>
            <a:r>
              <a:rPr sz="1300" b="0">
                <a:solidFill>
                  <a:srgbClr val="556175"/>
                </a:solidFill>
                <a:latin typeface="맑은 고딕"/>
                <a:ea typeface="맑은 고딕"/>
                <a:cs typeface="맑은 고딕"/>
              </a:rPr>
              <a:t>시스템의 처리를 지나지 않고 종료 기록으로 간다</a:t>
            </a:r>
          </a:p>
          <a:p>
            <a:pPr algn="ctr">
              <a:lnSpc>
                <a:spcPct val="110000"/>
              </a:lnSpc>
              <a:spcAft>
                <a:spcPts val="100"/>
              </a:spcAft>
            </a:pPr>
            <a:r>
              <a:rPr sz="1300" b="0">
                <a:solidFill>
                  <a:srgbClr val="556175"/>
                </a:solidFill>
                <a:latin typeface="맑은 고딕"/>
                <a:ea typeface="맑은 고딕"/>
                <a:cs typeface="맑은 고딕"/>
              </a:rPr>
              <a:t>세 업무 모두 거절된 추천안은 시스템의 실행 없이 닫혔다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한 처리 건 안에서 주고받는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다섯 자리는 앞 자리가 낸 것을 받아 일하므로, 경보는 추천안이 되고 추천안은 승인된 내용이 되어 기록으로 이어진다.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32</a:t>
            </a:r>
          </a:p>
        </p:txBody>
      </p:sp>
      <p:pic>
        <p:nvPicPr>
          <p:cNvPr id="6" name="삽화:주고받는것.svg" descr="illust_803601862498136657_179174371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81108" y="1627632"/>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시작 이벤트</a:t>
            </a:r>
          </a:p>
        </p:txBody>
      </p:sp>
      <p:sp>
        <p:nvSpPr>
          <p:cNvPr id="8" name="TextBox 7"/>
          <p:cNvSpPr txBox="1"/>
          <p:nvPr/>
        </p:nvSpPr>
        <p:spPr>
          <a:xfrm>
            <a:off x="3106645" y="1627632"/>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에이전트</a:t>
            </a:r>
          </a:p>
        </p:txBody>
      </p:sp>
      <p:sp>
        <p:nvSpPr>
          <p:cNvPr id="9" name="TextBox 8"/>
          <p:cNvSpPr txBox="1"/>
          <p:nvPr/>
        </p:nvSpPr>
        <p:spPr>
          <a:xfrm>
            <a:off x="5332182" y="1627632"/>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사람</a:t>
            </a:r>
          </a:p>
        </p:txBody>
      </p:sp>
      <p:sp>
        <p:nvSpPr>
          <p:cNvPr id="10" name="TextBox 9"/>
          <p:cNvSpPr txBox="1"/>
          <p:nvPr/>
        </p:nvSpPr>
        <p:spPr>
          <a:xfrm>
            <a:off x="7557719" y="1627632"/>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시스템</a:t>
            </a:r>
          </a:p>
        </p:txBody>
      </p:sp>
      <p:sp>
        <p:nvSpPr>
          <p:cNvPr id="11" name="TextBox 10"/>
          <p:cNvSpPr txBox="1"/>
          <p:nvPr/>
        </p:nvSpPr>
        <p:spPr>
          <a:xfrm>
            <a:off x="9783256" y="1627632"/>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결과 보고</a:t>
            </a:r>
          </a:p>
        </p:txBody>
      </p:sp>
      <p:sp>
        <p:nvSpPr>
          <p:cNvPr id="12" name="TextBox 11"/>
          <p:cNvSpPr txBox="1"/>
          <p:nvPr/>
        </p:nvSpPr>
        <p:spPr>
          <a:xfrm>
            <a:off x="1252031" y="3707709"/>
            <a:ext cx="2836468" cy="1383029"/>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경보의 내용</a:t>
            </a:r>
          </a:p>
          <a:p>
            <a:pPr algn="ctr">
              <a:lnSpc>
                <a:spcPct val="110000"/>
              </a:lnSpc>
              <a:spcAft>
                <a:spcPts val="100"/>
              </a:spcAft>
            </a:pPr>
            <a:r>
              <a:rPr sz="1300" b="0">
                <a:solidFill>
                  <a:srgbClr val="556175"/>
                </a:solidFill>
                <a:latin typeface="맑은 고딕"/>
                <a:ea typeface="맑은 고딕"/>
                <a:cs typeface="맑은 고딕"/>
              </a:rPr>
              <a:t>설비와 경보 패턴</a:t>
            </a:r>
          </a:p>
          <a:p>
            <a:pPr algn="ctr">
              <a:lnSpc>
                <a:spcPct val="110000"/>
              </a:lnSpc>
              <a:spcAft>
                <a:spcPts val="100"/>
              </a:spcAft>
            </a:pPr>
            <a:r>
              <a:rPr sz="1300" b="0">
                <a:solidFill>
                  <a:srgbClr val="556175"/>
                </a:solidFill>
                <a:latin typeface="맑은 고딕"/>
                <a:ea typeface="맑은 고딕"/>
                <a:cs typeface="맑은 고딕"/>
              </a:rPr>
              <a:t>HYD-01 · COOLER_DEGRADATION</a:t>
            </a:r>
          </a:p>
          <a:p>
            <a:pPr algn="ctr">
              <a:lnSpc>
                <a:spcPct val="110000"/>
              </a:lnSpc>
              <a:spcAft>
                <a:spcPts val="100"/>
              </a:spcAft>
            </a:pPr>
            <a:r>
              <a:rPr sz="1300" b="0">
                <a:solidFill>
                  <a:srgbClr val="556175"/>
                </a:solidFill>
                <a:latin typeface="맑은 고딕"/>
                <a:ea typeface="맑은 고딕"/>
                <a:cs typeface="맑은 고딕"/>
              </a:rPr>
              <a:t>HYD-02 · PM_DUE</a:t>
            </a:r>
          </a:p>
          <a:p>
            <a:pPr algn="ctr">
              <a:lnSpc>
                <a:spcPct val="110000"/>
              </a:lnSpc>
              <a:spcAft>
                <a:spcPts val="100"/>
              </a:spcAft>
            </a:pPr>
            <a:r>
              <a:rPr sz="1300" b="0">
                <a:solidFill>
                  <a:srgbClr val="556175"/>
                </a:solidFill>
                <a:latin typeface="맑은 고딕"/>
                <a:ea typeface="맑은 고딕"/>
                <a:cs typeface="맑은 고딕"/>
              </a:rPr>
              <a:t>씰 키트 · SPARE_BELOW_MIN</a:t>
            </a:r>
          </a:p>
        </p:txBody>
      </p:sp>
      <p:sp>
        <p:nvSpPr>
          <p:cNvPr id="13" name="TextBox 12"/>
          <p:cNvSpPr txBox="1"/>
          <p:nvPr/>
        </p:nvSpPr>
        <p:spPr>
          <a:xfrm>
            <a:off x="3673939" y="3707709"/>
            <a:ext cx="2618278" cy="1181608"/>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추천안</a:t>
            </a:r>
          </a:p>
          <a:p>
            <a:pPr algn="ctr">
              <a:lnSpc>
                <a:spcPct val="110000"/>
              </a:lnSpc>
              <a:spcAft>
                <a:spcPts val="100"/>
              </a:spcAft>
            </a:pPr>
            <a:r>
              <a:rPr sz="1300" b="0">
                <a:solidFill>
                  <a:srgbClr val="556175"/>
                </a:solidFill>
                <a:latin typeface="맑은 고딕"/>
                <a:ea typeface="맑은 고딕"/>
                <a:cs typeface="맑은 고딕"/>
              </a:rPr>
              <a:t>추천과 대안, 그 근거</a:t>
            </a:r>
          </a:p>
          <a:p>
            <a:pPr algn="ctr">
              <a:lnSpc>
                <a:spcPct val="110000"/>
              </a:lnSpc>
              <a:spcAft>
                <a:spcPts val="100"/>
              </a:spcAft>
            </a:pPr>
            <a:r>
              <a:rPr sz="1300" b="0">
                <a:solidFill>
                  <a:srgbClr val="556175"/>
                </a:solidFill>
                <a:latin typeface="맑은 고딕"/>
                <a:ea typeface="맑은 고딕"/>
                <a:cs typeface="맑은 고딕"/>
              </a:rPr>
              <a:t>냉각 조치: 팬 최대 운전</a:t>
            </a:r>
          </a:p>
          <a:p>
            <a:pPr algn="ctr">
              <a:lnSpc>
                <a:spcPct val="110000"/>
              </a:lnSpc>
              <a:spcAft>
                <a:spcPts val="100"/>
              </a:spcAft>
            </a:pPr>
            <a:r>
              <a:rPr sz="1300" b="0">
                <a:solidFill>
                  <a:srgbClr val="556175"/>
                </a:solidFill>
                <a:latin typeface="맑은 고딕"/>
                <a:ea typeface="맑은 고딕"/>
                <a:cs typeface="맑은 고딕"/>
              </a:rPr>
              <a:t>정비 시점: 야간 정비 시간</a:t>
            </a:r>
          </a:p>
          <a:p>
            <a:pPr algn="ctr">
              <a:lnSpc>
                <a:spcPct val="110000"/>
              </a:lnSpc>
              <a:spcAft>
                <a:spcPts val="100"/>
              </a:spcAft>
            </a:pPr>
            <a:r>
              <a:rPr sz="1300" b="0">
                <a:solidFill>
                  <a:srgbClr val="556175"/>
                </a:solidFill>
                <a:latin typeface="맑은 고딕"/>
                <a:ea typeface="맑은 고딕"/>
                <a:cs typeface="맑은 고딕"/>
              </a:rPr>
              <a:t>발주안: 6개 · 공급사 · 금액</a:t>
            </a:r>
          </a:p>
        </p:txBody>
      </p:sp>
      <p:sp>
        <p:nvSpPr>
          <p:cNvPr id="14" name="TextBox 13"/>
          <p:cNvSpPr txBox="1"/>
          <p:nvPr/>
        </p:nvSpPr>
        <p:spPr>
          <a:xfrm>
            <a:off x="5899476" y="3707709"/>
            <a:ext cx="2618278" cy="1181608"/>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승인된 내용</a:t>
            </a:r>
          </a:p>
          <a:p>
            <a:pPr algn="ctr">
              <a:lnSpc>
                <a:spcPct val="110000"/>
              </a:lnSpc>
              <a:spcAft>
                <a:spcPts val="100"/>
              </a:spcAft>
            </a:pPr>
            <a:r>
              <a:rPr sz="1300" b="0">
                <a:solidFill>
                  <a:srgbClr val="556175"/>
                </a:solidFill>
                <a:latin typeface="맑은 고딕"/>
                <a:ea typeface="맑은 고딕"/>
                <a:cs typeface="맑은 고딕"/>
              </a:rPr>
              <a:t>승인한 역할과 승인된 추천안</a:t>
            </a:r>
          </a:p>
          <a:p>
            <a:pPr algn="ctr">
              <a:lnSpc>
                <a:spcPct val="110000"/>
              </a:lnSpc>
              <a:spcAft>
                <a:spcPts val="100"/>
              </a:spcAft>
            </a:pPr>
            <a:r>
              <a:rPr sz="1300" b="0">
                <a:solidFill>
                  <a:srgbClr val="556175"/>
                </a:solidFill>
                <a:latin typeface="맑은 고딕"/>
                <a:ea typeface="맑은 고딕"/>
                <a:cs typeface="맑은 고딕"/>
              </a:rPr>
              <a:t>운전원 · 팬 속도 100 %</a:t>
            </a:r>
          </a:p>
          <a:p>
            <a:pPr algn="ctr">
              <a:lnSpc>
                <a:spcPct val="110000"/>
              </a:lnSpc>
              <a:spcAft>
                <a:spcPts val="100"/>
              </a:spcAft>
            </a:pPr>
            <a:r>
              <a:rPr sz="1300" b="0">
                <a:solidFill>
                  <a:srgbClr val="556175"/>
                </a:solidFill>
                <a:latin typeface="맑은 고딕"/>
                <a:ea typeface="맑은 고딕"/>
                <a:cs typeface="맑은 고딕"/>
              </a:rPr>
              <a:t>설비보전팀장 · 정비 시점</a:t>
            </a:r>
          </a:p>
          <a:p>
            <a:pPr algn="ctr">
              <a:lnSpc>
                <a:spcPct val="110000"/>
              </a:lnSpc>
              <a:spcAft>
                <a:spcPts val="100"/>
              </a:spcAft>
            </a:pPr>
            <a:r>
              <a:rPr sz="1300" b="0">
                <a:solidFill>
                  <a:srgbClr val="556175"/>
                </a:solidFill>
                <a:latin typeface="맑은 고딕"/>
                <a:ea typeface="맑은 고딕"/>
                <a:cs typeface="맑은 고딕"/>
              </a:rPr>
              <a:t>구매 담당 · 수량과 공급사</a:t>
            </a:r>
          </a:p>
        </p:txBody>
      </p:sp>
      <p:sp>
        <p:nvSpPr>
          <p:cNvPr id="15" name="TextBox 14"/>
          <p:cNvSpPr txBox="1"/>
          <p:nvPr/>
        </p:nvSpPr>
        <p:spPr>
          <a:xfrm>
            <a:off x="8125013" y="3707709"/>
            <a:ext cx="2618278" cy="1181608"/>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처리의 결과</a:t>
            </a:r>
          </a:p>
          <a:p>
            <a:pPr algn="ctr">
              <a:lnSpc>
                <a:spcPct val="110000"/>
              </a:lnSpc>
              <a:spcAft>
                <a:spcPts val="100"/>
              </a:spcAft>
            </a:pPr>
            <a:r>
              <a:rPr sz="1300" b="0">
                <a:solidFill>
                  <a:srgbClr val="556175"/>
                </a:solidFill>
                <a:latin typeface="맑은 고딕"/>
                <a:ea typeface="맑은 고딕"/>
                <a:cs typeface="맑은 고딕"/>
              </a:rPr>
              <a:t>업무 시스템에 남은 기록</a:t>
            </a:r>
          </a:p>
          <a:p>
            <a:pPr algn="ctr">
              <a:lnSpc>
                <a:spcPct val="110000"/>
              </a:lnSpc>
              <a:spcAft>
                <a:spcPts val="100"/>
              </a:spcAft>
            </a:pPr>
            <a:r>
              <a:rPr sz="1300" b="0">
                <a:solidFill>
                  <a:srgbClr val="556175"/>
                </a:solidFill>
                <a:latin typeface="맑은 고딕"/>
                <a:ea typeface="맑은 고딕"/>
                <a:cs typeface="맑은 고딕"/>
              </a:rPr>
              <a:t>설비 명령과 작업지시</a:t>
            </a:r>
          </a:p>
          <a:p>
            <a:pPr algn="ctr">
              <a:lnSpc>
                <a:spcPct val="110000"/>
              </a:lnSpc>
              <a:spcAft>
                <a:spcPts val="100"/>
              </a:spcAft>
            </a:pPr>
            <a:r>
              <a:rPr sz="1300" b="0">
                <a:solidFill>
                  <a:srgbClr val="556175"/>
                </a:solidFill>
                <a:latin typeface="맑은 고딕"/>
                <a:ea typeface="맑은 고딕"/>
                <a:cs typeface="맑은 고딕"/>
              </a:rPr>
              <a:t>정비 오더와 공지</a:t>
            </a:r>
          </a:p>
          <a:p>
            <a:pPr algn="ctr">
              <a:lnSpc>
                <a:spcPct val="110000"/>
              </a:lnSpc>
              <a:spcAft>
                <a:spcPts val="100"/>
              </a:spcAft>
            </a:pPr>
            <a:r>
              <a:rPr sz="1300" b="0">
                <a:solidFill>
                  <a:srgbClr val="556175"/>
                </a:solidFill>
                <a:latin typeface="맑은 고딕"/>
                <a:ea typeface="맑은 고딕"/>
                <a:cs typeface="맑은 고딕"/>
              </a:rPr>
              <a:t>발주와 입고</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긴급 대응 처리 건의 다섯 자리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긴급 대응 처리 건은 쿨러 성능 저하 경보에서 열려, 운전원의 승인 뒤 팬 명령과 작업지시를 남기고 정상으로 끝났다.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33</a:t>
            </a:r>
          </a:p>
        </p:txBody>
      </p:sp>
      <p:sp>
        <p:nvSpPr>
          <p:cNvPr id="6" name="Rectangle 5"/>
          <p:cNvSpPr/>
          <p:nvPr/>
        </p:nvSpPr>
        <p:spPr>
          <a:xfrm>
            <a:off x="1658081" y="3566096"/>
            <a:ext cx="8875532" cy="146304"/>
          </a:xfrm>
          <a:prstGeom prst="rect">
            <a:avLst/>
          </a:prstGeom>
          <a:solidFill>
            <a:srgbClr val="5CB8F2"/>
          </a:solidFill>
          <a:ln>
            <a:noFill/>
          </a:ln>
        </p:spPr>
        <p:txBody>
          <a:bodyPr rtlCol="0" anchor="ctr"/>
          <a:lstStyle/>
          <a:p>
            <a:pPr algn="ctr"/>
          </a:p>
        </p:txBody>
      </p:sp>
      <p:sp>
        <p:nvSpPr>
          <p:cNvPr id="7" name="Chevron 6"/>
          <p:cNvSpPr/>
          <p:nvPr/>
        </p:nvSpPr>
        <p:spPr>
          <a:xfrm>
            <a:off x="2648651" y="3456368"/>
            <a:ext cx="237744" cy="365760"/>
          </a:xfrm>
          <a:prstGeom prst="chevron">
            <a:avLst/>
          </a:prstGeom>
          <a:solidFill>
            <a:srgbClr val="13294B"/>
          </a:solidFill>
          <a:ln>
            <a:noFill/>
          </a:ln>
        </p:spPr>
        <p:txBody>
          <a:bodyPr rtlCol="0" anchor="ctr"/>
          <a:lstStyle/>
          <a:p>
            <a:pPr algn="ctr"/>
          </a:p>
        </p:txBody>
      </p:sp>
      <p:sp>
        <p:nvSpPr>
          <p:cNvPr id="8" name="Oval 7"/>
          <p:cNvSpPr/>
          <p:nvPr/>
        </p:nvSpPr>
        <p:spPr>
          <a:xfrm>
            <a:off x="1081171" y="3062338"/>
            <a:ext cx="1153819" cy="1153819"/>
          </a:xfrm>
          <a:prstGeom prst="ellipse">
            <a:avLst/>
          </a:prstGeom>
          <a:solidFill>
            <a:srgbClr val="FFFFFF"/>
          </a:solidFill>
          <a:ln w="28575">
            <a:solidFill>
              <a:srgbClr val="13294B"/>
            </a:solidFill>
          </a:ln>
        </p:spPr>
        <p:txBody>
          <a:bodyPr rtlCol="0" anchor="ctr"/>
          <a:lstStyle/>
          <a:p>
            <a:pPr algn="ctr"/>
          </a:p>
        </p:txBody>
      </p:sp>
      <p:pic>
        <p:nvPicPr>
          <p:cNvPr id="9" name="아이콘:bell-ringing" descr="bell-ringing_13294B_1.6.png"/>
          <p:cNvPicPr>
            <a:picLocks noChangeAspect="1"/>
          </p:cNvPicPr>
          <p:nvPr/>
        </p:nvPicPr>
        <p:blipFill>
          <a:blip r:embed="rId3"/>
          <a:stretch>
            <a:fillRect/>
          </a:stretch>
        </p:blipFill>
        <p:spPr>
          <a:xfrm>
            <a:off x="1358088" y="3339255"/>
            <a:ext cx="599985" cy="599985"/>
          </a:xfrm>
          <a:prstGeom prst="rect">
            <a:avLst/>
          </a:prstGeom>
        </p:spPr>
      </p:pic>
      <p:sp>
        <p:nvSpPr>
          <p:cNvPr id="10" name="TextBox 9"/>
          <p:cNvSpPr txBox="1"/>
          <p:nvPr/>
        </p:nvSpPr>
        <p:spPr>
          <a:xfrm>
            <a:off x="640079" y="4353318"/>
            <a:ext cx="2036003"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시작 이벤트</a:t>
            </a:r>
          </a:p>
          <a:p>
            <a:pPr algn="ctr">
              <a:lnSpc>
                <a:spcPct val="110000"/>
              </a:lnSpc>
              <a:spcAft>
                <a:spcPts val="400"/>
              </a:spcAft>
            </a:pPr>
            <a:r>
              <a:rPr sz="1300" b="0">
                <a:solidFill>
                  <a:srgbClr val="1F2A3A"/>
                </a:solidFill>
                <a:latin typeface="맑은 고딕"/>
                <a:ea typeface="맑은 고딕"/>
                <a:cs typeface="맑은 고딕"/>
              </a:rPr>
              <a:t>쿨러 성능 저하 경보</a:t>
            </a:r>
          </a:p>
          <a:p>
            <a:pPr algn="ctr">
              <a:lnSpc>
                <a:spcPct val="110000"/>
              </a:lnSpc>
              <a:spcAft>
                <a:spcPts val="400"/>
              </a:spcAft>
            </a:pPr>
            <a:r>
              <a:rPr sz="1300" b="0">
                <a:solidFill>
                  <a:srgbClr val="1F2A3A"/>
                </a:solidFill>
                <a:latin typeface="맑은 고딕"/>
                <a:ea typeface="맑은 고딕"/>
                <a:cs typeface="맑은 고딕"/>
              </a:rPr>
              <a:t>ALT-hyd01-0026-767a</a:t>
            </a:r>
          </a:p>
        </p:txBody>
      </p:sp>
      <p:sp>
        <p:nvSpPr>
          <p:cNvPr id="11" name="Chevron 10"/>
          <p:cNvSpPr/>
          <p:nvPr/>
        </p:nvSpPr>
        <p:spPr>
          <a:xfrm>
            <a:off x="4867534" y="3456368"/>
            <a:ext cx="237744" cy="365760"/>
          </a:xfrm>
          <a:prstGeom prst="chevron">
            <a:avLst/>
          </a:prstGeom>
          <a:solidFill>
            <a:srgbClr val="13294B"/>
          </a:solidFill>
          <a:ln>
            <a:noFill/>
          </a:ln>
        </p:spPr>
        <p:txBody>
          <a:bodyPr rtlCol="0" anchor="ctr"/>
          <a:lstStyle/>
          <a:p>
            <a:pPr algn="ctr"/>
          </a:p>
        </p:txBody>
      </p:sp>
      <p:sp>
        <p:nvSpPr>
          <p:cNvPr id="12" name="Oval 11"/>
          <p:cNvSpPr/>
          <p:nvPr/>
        </p:nvSpPr>
        <p:spPr>
          <a:xfrm>
            <a:off x="3300054" y="3062338"/>
            <a:ext cx="1153819" cy="1153819"/>
          </a:xfrm>
          <a:prstGeom prst="ellipse">
            <a:avLst/>
          </a:prstGeom>
          <a:solidFill>
            <a:srgbClr val="FFFFFF"/>
          </a:solidFill>
          <a:ln w="28575">
            <a:solidFill>
              <a:srgbClr val="13294B"/>
            </a:solidFill>
          </a:ln>
        </p:spPr>
        <p:txBody>
          <a:bodyPr rtlCol="0" anchor="ctr"/>
          <a:lstStyle/>
          <a:p>
            <a:pPr algn="ctr"/>
          </a:p>
        </p:txBody>
      </p:sp>
      <p:pic>
        <p:nvPicPr>
          <p:cNvPr id="13" name="아이콘:robot" descr="robot_13294B_1.6.png"/>
          <p:cNvPicPr>
            <a:picLocks noChangeAspect="1"/>
          </p:cNvPicPr>
          <p:nvPr/>
        </p:nvPicPr>
        <p:blipFill>
          <a:blip r:embed="rId4"/>
          <a:stretch>
            <a:fillRect/>
          </a:stretch>
        </p:blipFill>
        <p:spPr>
          <a:xfrm>
            <a:off x="3576971" y="3339255"/>
            <a:ext cx="599985" cy="599985"/>
          </a:xfrm>
          <a:prstGeom prst="rect">
            <a:avLst/>
          </a:prstGeom>
        </p:spPr>
      </p:pic>
      <p:sp>
        <p:nvSpPr>
          <p:cNvPr id="14" name="TextBox 13"/>
          <p:cNvSpPr txBox="1"/>
          <p:nvPr/>
        </p:nvSpPr>
        <p:spPr>
          <a:xfrm>
            <a:off x="2858963" y="4353318"/>
            <a:ext cx="2036003"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에이전트의 판단</a:t>
            </a:r>
          </a:p>
          <a:p>
            <a:pPr algn="ctr">
              <a:lnSpc>
                <a:spcPct val="110000"/>
              </a:lnSpc>
              <a:spcAft>
                <a:spcPts val="400"/>
              </a:spcAft>
            </a:pPr>
            <a:r>
              <a:rPr sz="1300" b="0">
                <a:solidFill>
                  <a:srgbClr val="1F2A3A"/>
                </a:solidFill>
                <a:latin typeface="맑은 고딕"/>
                <a:ea typeface="맑은 고딕"/>
                <a:cs typeface="맑은 고딕"/>
              </a:rPr>
              <a:t>원인 쿨러 핀 오염</a:t>
            </a:r>
          </a:p>
          <a:p>
            <a:pPr algn="ctr">
              <a:lnSpc>
                <a:spcPct val="110000"/>
              </a:lnSpc>
              <a:spcAft>
                <a:spcPts val="400"/>
              </a:spcAft>
            </a:pPr>
            <a:r>
              <a:rPr sz="1300" b="0">
                <a:solidFill>
                  <a:srgbClr val="1F2A3A"/>
                </a:solidFill>
                <a:latin typeface="맑은 고딕"/>
                <a:ea typeface="맑은 고딕"/>
                <a:cs typeface="맑은 고딕"/>
              </a:rPr>
              <a:t>추천 팬 최대 운전</a:t>
            </a:r>
          </a:p>
        </p:txBody>
      </p:sp>
      <p:sp>
        <p:nvSpPr>
          <p:cNvPr id="15" name="Chevron 14"/>
          <p:cNvSpPr/>
          <p:nvPr/>
        </p:nvSpPr>
        <p:spPr>
          <a:xfrm>
            <a:off x="7086417" y="3456368"/>
            <a:ext cx="237744" cy="365760"/>
          </a:xfrm>
          <a:prstGeom prst="chevron">
            <a:avLst/>
          </a:prstGeom>
          <a:solidFill>
            <a:srgbClr val="13294B"/>
          </a:solidFill>
          <a:ln>
            <a:noFill/>
          </a:ln>
        </p:spPr>
        <p:txBody>
          <a:bodyPr rtlCol="0" anchor="ctr"/>
          <a:lstStyle/>
          <a:p>
            <a:pPr algn="ctr"/>
          </a:p>
        </p:txBody>
      </p:sp>
      <p:sp>
        <p:nvSpPr>
          <p:cNvPr id="16" name="Oval 15"/>
          <p:cNvSpPr/>
          <p:nvPr/>
        </p:nvSpPr>
        <p:spPr>
          <a:xfrm>
            <a:off x="5518938" y="3062338"/>
            <a:ext cx="1153819" cy="1153819"/>
          </a:xfrm>
          <a:prstGeom prst="ellipse">
            <a:avLst/>
          </a:prstGeom>
          <a:solidFill>
            <a:srgbClr val="5CB8F2"/>
          </a:solidFill>
          <a:ln w="28575">
            <a:solidFill>
              <a:srgbClr val="13294B"/>
            </a:solidFill>
          </a:ln>
        </p:spPr>
        <p:txBody>
          <a:bodyPr rtlCol="0" anchor="ctr"/>
          <a:lstStyle/>
          <a:p>
            <a:pPr algn="ctr"/>
          </a:p>
        </p:txBody>
      </p:sp>
      <p:pic>
        <p:nvPicPr>
          <p:cNvPr id="17" name="아이콘:user-check" descr="user-check_13294B_1.6.png"/>
          <p:cNvPicPr>
            <a:picLocks noChangeAspect="1"/>
          </p:cNvPicPr>
          <p:nvPr/>
        </p:nvPicPr>
        <p:blipFill>
          <a:blip r:embed="rId5"/>
          <a:stretch>
            <a:fillRect/>
          </a:stretch>
        </p:blipFill>
        <p:spPr>
          <a:xfrm>
            <a:off x="5795854" y="3339255"/>
            <a:ext cx="599985" cy="599985"/>
          </a:xfrm>
          <a:prstGeom prst="rect">
            <a:avLst/>
          </a:prstGeom>
        </p:spPr>
      </p:pic>
      <p:sp>
        <p:nvSpPr>
          <p:cNvPr id="18" name="TextBox 17"/>
          <p:cNvSpPr txBox="1"/>
          <p:nvPr/>
        </p:nvSpPr>
        <p:spPr>
          <a:xfrm>
            <a:off x="5077846" y="4353318"/>
            <a:ext cx="2036003"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운전원 승인</a:t>
            </a:r>
          </a:p>
          <a:p>
            <a:pPr algn="ctr">
              <a:lnSpc>
                <a:spcPct val="110000"/>
              </a:lnSpc>
              <a:spcAft>
                <a:spcPts val="400"/>
              </a:spcAft>
            </a:pPr>
            <a:r>
              <a:rPr sz="1300" b="0">
                <a:solidFill>
                  <a:srgbClr val="1F2A3A"/>
                </a:solidFill>
                <a:latin typeface="맑은 고딕"/>
                <a:ea typeface="맑은 고딕"/>
                <a:cs typeface="맑은 고딕"/>
              </a:rPr>
              <a:t>추천안 승인</a:t>
            </a:r>
          </a:p>
          <a:p>
            <a:pPr algn="ctr">
              <a:lnSpc>
                <a:spcPct val="110000"/>
              </a:lnSpc>
              <a:spcAft>
                <a:spcPts val="400"/>
              </a:spcAft>
            </a:pPr>
            <a:r>
              <a:rPr sz="1300" b="0">
                <a:solidFill>
                  <a:srgbClr val="1F2A3A"/>
                </a:solidFill>
                <a:latin typeface="맑은 고딕"/>
                <a:ea typeface="맑은 고딕"/>
                <a:cs typeface="맑은 고딕"/>
              </a:rPr>
              <a:t>팬 속도 100 %</a:t>
            </a:r>
          </a:p>
        </p:txBody>
      </p:sp>
      <p:sp>
        <p:nvSpPr>
          <p:cNvPr id="19" name="Chevron 18"/>
          <p:cNvSpPr/>
          <p:nvPr/>
        </p:nvSpPr>
        <p:spPr>
          <a:xfrm>
            <a:off x="9305300" y="3456368"/>
            <a:ext cx="237744" cy="365760"/>
          </a:xfrm>
          <a:prstGeom prst="chevron">
            <a:avLst/>
          </a:prstGeom>
          <a:solidFill>
            <a:srgbClr val="13294B"/>
          </a:solidFill>
          <a:ln>
            <a:noFill/>
          </a:ln>
        </p:spPr>
        <p:txBody>
          <a:bodyPr rtlCol="0" anchor="ctr"/>
          <a:lstStyle/>
          <a:p>
            <a:pPr algn="ctr"/>
          </a:p>
        </p:txBody>
      </p:sp>
      <p:sp>
        <p:nvSpPr>
          <p:cNvPr id="20" name="Oval 19"/>
          <p:cNvSpPr/>
          <p:nvPr/>
        </p:nvSpPr>
        <p:spPr>
          <a:xfrm>
            <a:off x="7737821" y="3062338"/>
            <a:ext cx="1153819" cy="1153819"/>
          </a:xfrm>
          <a:prstGeom prst="ellipse">
            <a:avLst/>
          </a:prstGeom>
          <a:solidFill>
            <a:srgbClr val="FFFFFF"/>
          </a:solidFill>
          <a:ln w="28575">
            <a:solidFill>
              <a:srgbClr val="13294B"/>
            </a:solidFill>
          </a:ln>
        </p:spPr>
        <p:txBody>
          <a:bodyPr rtlCol="0" anchor="ctr"/>
          <a:lstStyle/>
          <a:p>
            <a:pPr algn="ctr"/>
          </a:p>
        </p:txBody>
      </p:sp>
      <p:pic>
        <p:nvPicPr>
          <p:cNvPr id="21" name="아이콘:settings" descr="settings_13294B_1.6.png"/>
          <p:cNvPicPr>
            <a:picLocks noChangeAspect="1"/>
          </p:cNvPicPr>
          <p:nvPr/>
        </p:nvPicPr>
        <p:blipFill>
          <a:blip r:embed="rId6"/>
          <a:stretch>
            <a:fillRect/>
          </a:stretch>
        </p:blipFill>
        <p:spPr>
          <a:xfrm>
            <a:off x="8014737" y="3339255"/>
            <a:ext cx="599985" cy="599985"/>
          </a:xfrm>
          <a:prstGeom prst="rect">
            <a:avLst/>
          </a:prstGeom>
        </p:spPr>
      </p:pic>
      <p:sp>
        <p:nvSpPr>
          <p:cNvPr id="22" name="TextBox 21"/>
          <p:cNvSpPr txBox="1"/>
          <p:nvPr/>
        </p:nvSpPr>
        <p:spPr>
          <a:xfrm>
            <a:off x="7296729" y="4353318"/>
            <a:ext cx="2036003"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시스템의 처리</a:t>
            </a:r>
          </a:p>
          <a:p>
            <a:pPr algn="ctr">
              <a:lnSpc>
                <a:spcPct val="110000"/>
              </a:lnSpc>
              <a:spcAft>
                <a:spcPts val="400"/>
              </a:spcAft>
            </a:pPr>
            <a:r>
              <a:rPr sz="1300" b="0">
                <a:solidFill>
                  <a:srgbClr val="1F2A3A"/>
                </a:solidFill>
                <a:latin typeface="맑은 고딕"/>
                <a:ea typeface="맑은 고딕"/>
                <a:cs typeface="맑은 고딕"/>
              </a:rPr>
              <a:t>CMD-1010-0001-01d1</a:t>
            </a:r>
          </a:p>
          <a:p>
            <a:pPr algn="ctr">
              <a:lnSpc>
                <a:spcPct val="110000"/>
              </a:lnSpc>
              <a:spcAft>
                <a:spcPts val="400"/>
              </a:spcAft>
            </a:pPr>
            <a:r>
              <a:rPr sz="1300" b="0">
                <a:solidFill>
                  <a:srgbClr val="1F2A3A"/>
                </a:solidFill>
                <a:latin typeface="맑은 고딕"/>
                <a:ea typeface="맑은 고딕"/>
                <a:cs typeface="맑은 고딕"/>
              </a:rPr>
              <a:t>WO-1010-1198</a:t>
            </a:r>
          </a:p>
        </p:txBody>
      </p:sp>
      <p:sp>
        <p:nvSpPr>
          <p:cNvPr id="23" name="Oval 22"/>
          <p:cNvSpPr/>
          <p:nvPr/>
        </p:nvSpPr>
        <p:spPr>
          <a:xfrm>
            <a:off x="9956704" y="3062338"/>
            <a:ext cx="1153819" cy="1153819"/>
          </a:xfrm>
          <a:prstGeom prst="ellipse">
            <a:avLst/>
          </a:prstGeom>
          <a:solidFill>
            <a:srgbClr val="FFFFFF"/>
          </a:solidFill>
          <a:ln w="28575">
            <a:solidFill>
              <a:srgbClr val="13294B"/>
            </a:solidFill>
          </a:ln>
        </p:spPr>
        <p:txBody>
          <a:bodyPr rtlCol="0" anchor="ctr"/>
          <a:lstStyle/>
          <a:p>
            <a:pPr algn="ctr"/>
          </a:p>
        </p:txBody>
      </p:sp>
      <p:pic>
        <p:nvPicPr>
          <p:cNvPr id="24" name="아이콘:file-text" descr="file-text_13294B_1.6.png"/>
          <p:cNvPicPr>
            <a:picLocks noChangeAspect="1"/>
          </p:cNvPicPr>
          <p:nvPr/>
        </p:nvPicPr>
        <p:blipFill>
          <a:blip r:embed="rId7"/>
          <a:stretch>
            <a:fillRect/>
          </a:stretch>
        </p:blipFill>
        <p:spPr>
          <a:xfrm>
            <a:off x="10233620" y="3339255"/>
            <a:ext cx="599985" cy="599985"/>
          </a:xfrm>
          <a:prstGeom prst="rect">
            <a:avLst/>
          </a:prstGeom>
        </p:spPr>
      </p:pic>
      <p:sp>
        <p:nvSpPr>
          <p:cNvPr id="25" name="TextBox 24"/>
          <p:cNvSpPr txBox="1"/>
          <p:nvPr/>
        </p:nvSpPr>
        <p:spPr>
          <a:xfrm>
            <a:off x="9515612" y="4353318"/>
            <a:ext cx="2036003"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종료 기록</a:t>
            </a:r>
          </a:p>
          <a:p>
            <a:pPr algn="ctr">
              <a:lnSpc>
                <a:spcPct val="110000"/>
              </a:lnSpc>
              <a:spcAft>
                <a:spcPts val="400"/>
              </a:spcAft>
            </a:pPr>
            <a:r>
              <a:rPr sz="1300" b="0">
                <a:solidFill>
                  <a:srgbClr val="1F2A3A"/>
                </a:solidFill>
                <a:latin typeface="맑은 고딕"/>
                <a:ea typeface="맑은 고딕"/>
                <a:cs typeface="맑은 고딕"/>
              </a:rPr>
              <a:t>E_end · 정상</a:t>
            </a:r>
          </a:p>
          <a:p>
            <a:pPr algn="ctr">
              <a:lnSpc>
                <a:spcPct val="110000"/>
              </a:lnSpc>
              <a:spcAft>
                <a:spcPts val="400"/>
              </a:spcAft>
            </a:pPr>
            <a:r>
              <a:rPr sz="1300" b="0">
                <a:solidFill>
                  <a:srgbClr val="1F2A3A"/>
                </a:solidFill>
                <a:latin typeface="맑은 고딕"/>
                <a:ea typeface="맑은 고딕"/>
                <a:cs typeface="맑은 고딕"/>
              </a:rPr>
              <a:t>유온 51.3 ℃</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정기 점검 처리 건의 다섯 자리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정기 점검에서는 도래 경보가 처리 건을 열었고, 승인된 정비 시점이 정비 오더와 생산팀 공지가 되었다.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34</a:t>
            </a:r>
          </a:p>
        </p:txBody>
      </p:sp>
      <p:sp>
        <p:nvSpPr>
          <p:cNvPr id="6" name="Rectangle 5"/>
          <p:cNvSpPr/>
          <p:nvPr/>
        </p:nvSpPr>
        <p:spPr>
          <a:xfrm>
            <a:off x="1658081" y="3465385"/>
            <a:ext cx="8875532" cy="146304"/>
          </a:xfrm>
          <a:prstGeom prst="rect">
            <a:avLst/>
          </a:prstGeom>
          <a:solidFill>
            <a:srgbClr val="5CB8F2"/>
          </a:solidFill>
          <a:ln>
            <a:noFill/>
          </a:ln>
        </p:spPr>
        <p:txBody>
          <a:bodyPr rtlCol="0" anchor="ctr"/>
          <a:lstStyle/>
          <a:p>
            <a:pPr algn="ctr"/>
          </a:p>
        </p:txBody>
      </p:sp>
      <p:sp>
        <p:nvSpPr>
          <p:cNvPr id="7" name="Chevron 6"/>
          <p:cNvSpPr/>
          <p:nvPr/>
        </p:nvSpPr>
        <p:spPr>
          <a:xfrm>
            <a:off x="2648651" y="3355657"/>
            <a:ext cx="237744" cy="365760"/>
          </a:xfrm>
          <a:prstGeom prst="chevron">
            <a:avLst/>
          </a:prstGeom>
          <a:solidFill>
            <a:srgbClr val="13294B"/>
          </a:solidFill>
          <a:ln>
            <a:noFill/>
          </a:ln>
        </p:spPr>
        <p:txBody>
          <a:bodyPr rtlCol="0" anchor="ctr"/>
          <a:lstStyle/>
          <a:p>
            <a:pPr algn="ctr"/>
          </a:p>
        </p:txBody>
      </p:sp>
      <p:sp>
        <p:nvSpPr>
          <p:cNvPr id="8" name="Oval 7"/>
          <p:cNvSpPr/>
          <p:nvPr/>
        </p:nvSpPr>
        <p:spPr>
          <a:xfrm>
            <a:off x="1081171" y="2961627"/>
            <a:ext cx="1153819" cy="1153819"/>
          </a:xfrm>
          <a:prstGeom prst="ellipse">
            <a:avLst/>
          </a:prstGeom>
          <a:solidFill>
            <a:srgbClr val="FFFFFF"/>
          </a:solidFill>
          <a:ln w="28575">
            <a:solidFill>
              <a:srgbClr val="13294B"/>
            </a:solidFill>
          </a:ln>
        </p:spPr>
        <p:txBody>
          <a:bodyPr rtlCol="0" anchor="ctr"/>
          <a:lstStyle/>
          <a:p>
            <a:pPr algn="ctr"/>
          </a:p>
        </p:txBody>
      </p:sp>
      <p:pic>
        <p:nvPicPr>
          <p:cNvPr id="9" name="아이콘:calendar" descr="calendar_13294B_1.6.png"/>
          <p:cNvPicPr>
            <a:picLocks noChangeAspect="1"/>
          </p:cNvPicPr>
          <p:nvPr/>
        </p:nvPicPr>
        <p:blipFill>
          <a:blip r:embed="rId3"/>
          <a:stretch>
            <a:fillRect/>
          </a:stretch>
        </p:blipFill>
        <p:spPr>
          <a:xfrm>
            <a:off x="1358088" y="3238544"/>
            <a:ext cx="599985" cy="599985"/>
          </a:xfrm>
          <a:prstGeom prst="rect">
            <a:avLst/>
          </a:prstGeom>
        </p:spPr>
      </p:pic>
      <p:sp>
        <p:nvSpPr>
          <p:cNvPr id="10" name="TextBox 9"/>
          <p:cNvSpPr txBox="1"/>
          <p:nvPr/>
        </p:nvSpPr>
        <p:spPr>
          <a:xfrm>
            <a:off x="640079" y="4252607"/>
            <a:ext cx="2036003" cy="1134236"/>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시작 이벤트</a:t>
            </a:r>
          </a:p>
          <a:p>
            <a:pPr algn="ctr">
              <a:lnSpc>
                <a:spcPct val="110000"/>
              </a:lnSpc>
              <a:spcAft>
                <a:spcPts val="400"/>
              </a:spcAft>
            </a:pPr>
            <a:r>
              <a:rPr sz="1300" b="0">
                <a:solidFill>
                  <a:srgbClr val="1F2A3A"/>
                </a:solidFill>
                <a:latin typeface="맑은 고딕"/>
                <a:ea typeface="맑은 고딕"/>
                <a:cs typeface="맑은 고딕"/>
              </a:rPr>
              <a:t>정기 점검 도래</a:t>
            </a:r>
          </a:p>
          <a:p>
            <a:pPr algn="ctr">
              <a:lnSpc>
                <a:spcPct val="110000"/>
              </a:lnSpc>
              <a:spcAft>
                <a:spcPts val="400"/>
              </a:spcAft>
            </a:pPr>
            <a:r>
              <a:rPr sz="1300" b="0">
                <a:solidFill>
                  <a:srgbClr val="1F2A3A"/>
                </a:solidFill>
                <a:latin typeface="맑은 고딕"/>
                <a:ea typeface="맑은 고딕"/>
                <a:cs typeface="맑은 고딕"/>
              </a:rPr>
              <a:t>HYD-02 · PM_DUE</a:t>
            </a:r>
          </a:p>
        </p:txBody>
      </p:sp>
      <p:sp>
        <p:nvSpPr>
          <p:cNvPr id="11" name="Chevron 10"/>
          <p:cNvSpPr/>
          <p:nvPr/>
        </p:nvSpPr>
        <p:spPr>
          <a:xfrm>
            <a:off x="4867534" y="3355657"/>
            <a:ext cx="237744" cy="365760"/>
          </a:xfrm>
          <a:prstGeom prst="chevron">
            <a:avLst/>
          </a:prstGeom>
          <a:solidFill>
            <a:srgbClr val="13294B"/>
          </a:solidFill>
          <a:ln>
            <a:noFill/>
          </a:ln>
        </p:spPr>
        <p:txBody>
          <a:bodyPr rtlCol="0" anchor="ctr"/>
          <a:lstStyle/>
          <a:p>
            <a:pPr algn="ctr"/>
          </a:p>
        </p:txBody>
      </p:sp>
      <p:sp>
        <p:nvSpPr>
          <p:cNvPr id="12" name="Oval 11"/>
          <p:cNvSpPr/>
          <p:nvPr/>
        </p:nvSpPr>
        <p:spPr>
          <a:xfrm>
            <a:off x="3300054" y="2961627"/>
            <a:ext cx="1153819" cy="1153819"/>
          </a:xfrm>
          <a:prstGeom prst="ellipse">
            <a:avLst/>
          </a:prstGeom>
          <a:solidFill>
            <a:srgbClr val="FFFFFF"/>
          </a:solidFill>
          <a:ln w="28575">
            <a:solidFill>
              <a:srgbClr val="13294B"/>
            </a:solidFill>
          </a:ln>
        </p:spPr>
        <p:txBody>
          <a:bodyPr rtlCol="0" anchor="ctr"/>
          <a:lstStyle/>
          <a:p>
            <a:pPr algn="ctr"/>
          </a:p>
        </p:txBody>
      </p:sp>
      <p:pic>
        <p:nvPicPr>
          <p:cNvPr id="13" name="아이콘:robot" descr="robot_13294B_1.6.png"/>
          <p:cNvPicPr>
            <a:picLocks noChangeAspect="1"/>
          </p:cNvPicPr>
          <p:nvPr/>
        </p:nvPicPr>
        <p:blipFill>
          <a:blip r:embed="rId4"/>
          <a:stretch>
            <a:fillRect/>
          </a:stretch>
        </p:blipFill>
        <p:spPr>
          <a:xfrm>
            <a:off x="3576971" y="3238544"/>
            <a:ext cx="599985" cy="599985"/>
          </a:xfrm>
          <a:prstGeom prst="rect">
            <a:avLst/>
          </a:prstGeom>
        </p:spPr>
      </p:pic>
      <p:sp>
        <p:nvSpPr>
          <p:cNvPr id="14" name="TextBox 13"/>
          <p:cNvSpPr txBox="1"/>
          <p:nvPr/>
        </p:nvSpPr>
        <p:spPr>
          <a:xfrm>
            <a:off x="2858963" y="4252607"/>
            <a:ext cx="2036003" cy="1134236"/>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에이전트의 판단</a:t>
            </a:r>
          </a:p>
          <a:p>
            <a:pPr algn="ctr">
              <a:lnSpc>
                <a:spcPct val="110000"/>
              </a:lnSpc>
              <a:spcAft>
                <a:spcPts val="400"/>
              </a:spcAft>
            </a:pPr>
            <a:r>
              <a:rPr sz="1300" b="0">
                <a:solidFill>
                  <a:srgbClr val="1F2A3A"/>
                </a:solidFill>
                <a:latin typeface="맑은 고딕"/>
                <a:ea typeface="맑은 고딕"/>
                <a:cs typeface="맑은 고딕"/>
              </a:rPr>
              <a:t>추천안의 정비 시점</a:t>
            </a:r>
          </a:p>
          <a:p>
            <a:pPr algn="ctr">
              <a:lnSpc>
                <a:spcPct val="110000"/>
              </a:lnSpc>
              <a:spcAft>
                <a:spcPts val="400"/>
              </a:spcAft>
            </a:pPr>
            <a:r>
              <a:rPr sz="1300" b="0">
                <a:solidFill>
                  <a:srgbClr val="1F2A3A"/>
                </a:solidFill>
                <a:latin typeface="맑은 고딕"/>
                <a:ea typeface="맑은 고딕"/>
                <a:cs typeface="맑은 고딕"/>
              </a:rPr>
              <a:t>야간 정비 시간</a:t>
            </a:r>
          </a:p>
        </p:txBody>
      </p:sp>
      <p:sp>
        <p:nvSpPr>
          <p:cNvPr id="15" name="Chevron 14"/>
          <p:cNvSpPr/>
          <p:nvPr/>
        </p:nvSpPr>
        <p:spPr>
          <a:xfrm>
            <a:off x="7086417" y="3355657"/>
            <a:ext cx="237744" cy="365760"/>
          </a:xfrm>
          <a:prstGeom prst="chevron">
            <a:avLst/>
          </a:prstGeom>
          <a:solidFill>
            <a:srgbClr val="13294B"/>
          </a:solidFill>
          <a:ln>
            <a:noFill/>
          </a:ln>
        </p:spPr>
        <p:txBody>
          <a:bodyPr rtlCol="0" anchor="ctr"/>
          <a:lstStyle/>
          <a:p>
            <a:pPr algn="ctr"/>
          </a:p>
        </p:txBody>
      </p:sp>
      <p:sp>
        <p:nvSpPr>
          <p:cNvPr id="16" name="Oval 15"/>
          <p:cNvSpPr/>
          <p:nvPr/>
        </p:nvSpPr>
        <p:spPr>
          <a:xfrm>
            <a:off x="5518938" y="2961627"/>
            <a:ext cx="1153819" cy="1153819"/>
          </a:xfrm>
          <a:prstGeom prst="ellipse">
            <a:avLst/>
          </a:prstGeom>
          <a:solidFill>
            <a:srgbClr val="5CB8F2"/>
          </a:solidFill>
          <a:ln w="28575">
            <a:solidFill>
              <a:srgbClr val="13294B"/>
            </a:solidFill>
          </a:ln>
        </p:spPr>
        <p:txBody>
          <a:bodyPr rtlCol="0" anchor="ctr"/>
          <a:lstStyle/>
          <a:p>
            <a:pPr algn="ctr"/>
          </a:p>
        </p:txBody>
      </p:sp>
      <p:pic>
        <p:nvPicPr>
          <p:cNvPr id="17" name="아이콘:user-check" descr="user-check_13294B_1.6.png"/>
          <p:cNvPicPr>
            <a:picLocks noChangeAspect="1"/>
          </p:cNvPicPr>
          <p:nvPr/>
        </p:nvPicPr>
        <p:blipFill>
          <a:blip r:embed="rId5"/>
          <a:stretch>
            <a:fillRect/>
          </a:stretch>
        </p:blipFill>
        <p:spPr>
          <a:xfrm>
            <a:off x="5795854" y="3238544"/>
            <a:ext cx="599985" cy="599985"/>
          </a:xfrm>
          <a:prstGeom prst="rect">
            <a:avLst/>
          </a:prstGeom>
        </p:spPr>
      </p:pic>
      <p:sp>
        <p:nvSpPr>
          <p:cNvPr id="18" name="TextBox 17"/>
          <p:cNvSpPr txBox="1"/>
          <p:nvPr/>
        </p:nvSpPr>
        <p:spPr>
          <a:xfrm>
            <a:off x="5077846" y="4252607"/>
            <a:ext cx="2036003" cy="1134236"/>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설비보전팀장 승인</a:t>
            </a:r>
          </a:p>
          <a:p>
            <a:pPr algn="ctr">
              <a:lnSpc>
                <a:spcPct val="110000"/>
              </a:lnSpc>
              <a:spcAft>
                <a:spcPts val="400"/>
              </a:spcAft>
            </a:pPr>
            <a:r>
              <a:rPr sz="1300" b="0">
                <a:solidFill>
                  <a:srgbClr val="1F2A3A"/>
                </a:solidFill>
                <a:latin typeface="맑은 고딕"/>
                <a:ea typeface="맑은 고딕"/>
                <a:cs typeface="맑은 고딕"/>
              </a:rPr>
              <a:t>추천안의 정비 시점을</a:t>
            </a:r>
          </a:p>
          <a:p>
            <a:pPr algn="ctr">
              <a:lnSpc>
                <a:spcPct val="110000"/>
              </a:lnSpc>
              <a:spcAft>
                <a:spcPts val="400"/>
              </a:spcAft>
            </a:pPr>
            <a:r>
              <a:rPr sz="1300" b="0">
                <a:solidFill>
                  <a:srgbClr val="1F2A3A"/>
                </a:solidFill>
                <a:latin typeface="맑은 고딕"/>
                <a:ea typeface="맑은 고딕"/>
                <a:cs typeface="맑은 고딕"/>
              </a:rPr>
              <a:t>승인</a:t>
            </a:r>
          </a:p>
        </p:txBody>
      </p:sp>
      <p:sp>
        <p:nvSpPr>
          <p:cNvPr id="19" name="Chevron 18"/>
          <p:cNvSpPr/>
          <p:nvPr/>
        </p:nvSpPr>
        <p:spPr>
          <a:xfrm>
            <a:off x="9305300" y="3355657"/>
            <a:ext cx="237744" cy="365760"/>
          </a:xfrm>
          <a:prstGeom prst="chevron">
            <a:avLst/>
          </a:prstGeom>
          <a:solidFill>
            <a:srgbClr val="13294B"/>
          </a:solidFill>
          <a:ln>
            <a:noFill/>
          </a:ln>
        </p:spPr>
        <p:txBody>
          <a:bodyPr rtlCol="0" anchor="ctr"/>
          <a:lstStyle/>
          <a:p>
            <a:pPr algn="ctr"/>
          </a:p>
        </p:txBody>
      </p:sp>
      <p:sp>
        <p:nvSpPr>
          <p:cNvPr id="20" name="Oval 19"/>
          <p:cNvSpPr/>
          <p:nvPr/>
        </p:nvSpPr>
        <p:spPr>
          <a:xfrm>
            <a:off x="7737821" y="2961627"/>
            <a:ext cx="1153819" cy="1153819"/>
          </a:xfrm>
          <a:prstGeom prst="ellipse">
            <a:avLst/>
          </a:prstGeom>
          <a:solidFill>
            <a:srgbClr val="FFFFFF"/>
          </a:solidFill>
          <a:ln w="28575">
            <a:solidFill>
              <a:srgbClr val="13294B"/>
            </a:solidFill>
          </a:ln>
        </p:spPr>
        <p:txBody>
          <a:bodyPr rtlCol="0" anchor="ctr"/>
          <a:lstStyle/>
          <a:p>
            <a:pPr algn="ctr"/>
          </a:p>
        </p:txBody>
      </p:sp>
      <p:pic>
        <p:nvPicPr>
          <p:cNvPr id="21" name="아이콘:settings" descr="settings_13294B_1.6.png"/>
          <p:cNvPicPr>
            <a:picLocks noChangeAspect="1"/>
          </p:cNvPicPr>
          <p:nvPr/>
        </p:nvPicPr>
        <p:blipFill>
          <a:blip r:embed="rId6"/>
          <a:stretch>
            <a:fillRect/>
          </a:stretch>
        </p:blipFill>
        <p:spPr>
          <a:xfrm>
            <a:off x="8014737" y="3238544"/>
            <a:ext cx="599985" cy="599985"/>
          </a:xfrm>
          <a:prstGeom prst="rect">
            <a:avLst/>
          </a:prstGeom>
        </p:spPr>
      </p:pic>
      <p:sp>
        <p:nvSpPr>
          <p:cNvPr id="22" name="TextBox 21"/>
          <p:cNvSpPr txBox="1"/>
          <p:nvPr/>
        </p:nvSpPr>
        <p:spPr>
          <a:xfrm>
            <a:off x="7296729" y="4252607"/>
            <a:ext cx="2036003" cy="1134236"/>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시스템의 처리</a:t>
            </a:r>
          </a:p>
          <a:p>
            <a:pPr algn="ctr">
              <a:lnSpc>
                <a:spcPct val="110000"/>
              </a:lnSpc>
              <a:spcAft>
                <a:spcPts val="400"/>
              </a:spcAft>
            </a:pPr>
            <a:r>
              <a:rPr sz="1300" b="0">
                <a:solidFill>
                  <a:srgbClr val="1F2A3A"/>
                </a:solidFill>
                <a:latin typeface="맑은 고딕"/>
                <a:ea typeface="맑은 고딕"/>
                <a:cs typeface="맑은 고딕"/>
              </a:rPr>
              <a:t>정비 오더 WO-1010-5DDD</a:t>
            </a:r>
          </a:p>
          <a:p>
            <a:pPr algn="ctr">
              <a:lnSpc>
                <a:spcPct val="110000"/>
              </a:lnSpc>
              <a:spcAft>
                <a:spcPts val="400"/>
              </a:spcAft>
            </a:pPr>
            <a:r>
              <a:rPr sz="1300" b="0">
                <a:solidFill>
                  <a:srgbClr val="1F2A3A"/>
                </a:solidFill>
                <a:latin typeface="맑은 고딕"/>
                <a:ea typeface="맑은 고딕"/>
                <a:cs typeface="맑은 고딕"/>
              </a:rPr>
              <a:t>생산팀 공지 메일</a:t>
            </a:r>
          </a:p>
        </p:txBody>
      </p:sp>
      <p:sp>
        <p:nvSpPr>
          <p:cNvPr id="23" name="Oval 22"/>
          <p:cNvSpPr/>
          <p:nvPr/>
        </p:nvSpPr>
        <p:spPr>
          <a:xfrm>
            <a:off x="9956704" y="2961627"/>
            <a:ext cx="1153819" cy="1153819"/>
          </a:xfrm>
          <a:prstGeom prst="ellipse">
            <a:avLst/>
          </a:prstGeom>
          <a:solidFill>
            <a:srgbClr val="FFFFFF"/>
          </a:solidFill>
          <a:ln w="28575">
            <a:solidFill>
              <a:srgbClr val="13294B"/>
            </a:solidFill>
          </a:ln>
        </p:spPr>
        <p:txBody>
          <a:bodyPr rtlCol="0" anchor="ctr"/>
          <a:lstStyle/>
          <a:p>
            <a:pPr algn="ctr"/>
          </a:p>
        </p:txBody>
      </p:sp>
      <p:pic>
        <p:nvPicPr>
          <p:cNvPr id="24" name="아이콘:file-text" descr="file-text_13294B_1.6.png"/>
          <p:cNvPicPr>
            <a:picLocks noChangeAspect="1"/>
          </p:cNvPicPr>
          <p:nvPr/>
        </p:nvPicPr>
        <p:blipFill>
          <a:blip r:embed="rId7"/>
          <a:stretch>
            <a:fillRect/>
          </a:stretch>
        </p:blipFill>
        <p:spPr>
          <a:xfrm>
            <a:off x="10233620" y="3238544"/>
            <a:ext cx="599985" cy="599985"/>
          </a:xfrm>
          <a:prstGeom prst="rect">
            <a:avLst/>
          </a:prstGeom>
        </p:spPr>
      </p:pic>
      <p:sp>
        <p:nvSpPr>
          <p:cNvPr id="25" name="TextBox 24"/>
          <p:cNvSpPr txBox="1"/>
          <p:nvPr/>
        </p:nvSpPr>
        <p:spPr>
          <a:xfrm>
            <a:off x="9515612" y="4252607"/>
            <a:ext cx="2036003" cy="1134236"/>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종료 기록</a:t>
            </a:r>
          </a:p>
          <a:p>
            <a:pPr algn="ctr">
              <a:lnSpc>
                <a:spcPct val="110000"/>
              </a:lnSpc>
              <a:spcAft>
                <a:spcPts val="400"/>
              </a:spcAft>
            </a:pPr>
            <a:r>
              <a:rPr sz="1300" b="0">
                <a:solidFill>
                  <a:srgbClr val="1F2A3A"/>
                </a:solidFill>
                <a:latin typeface="맑은 고딕"/>
                <a:ea typeface="맑은 고딕"/>
                <a:cs typeface="맑은 고딕"/>
              </a:rPr>
              <a:t>E_end · 정상</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정기 점검의 추천안: 추천, 대안, 제외된 후보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정기 점검의 추천안에는 추천 하나와 함께, 득실에서 진 대안과 판단 규칙이 제외한 후보가 그 까닭과 함께 실렸다.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35</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후보</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판정의 까닭</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판정</a:t>
            </a:r>
          </a:p>
        </p:txBody>
      </p:sp>
      <p:sp>
        <p:nvSpPr>
          <p:cNvPr id="10" name="Rounded Rectangle 9"/>
          <p:cNvSpPr/>
          <p:nvPr/>
        </p:nvSpPr>
        <p:spPr>
          <a:xfrm>
            <a:off x="548640" y="2395727"/>
            <a:ext cx="11094415" cy="850392"/>
          </a:xfrm>
          <a:prstGeom prst="roundRect">
            <a:avLst>
              <a:gd name="adj" fmla="val 8000"/>
            </a:avLst>
          </a:prstGeom>
          <a:solidFill>
            <a:srgbClr val="E7F3FD"/>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이번 예정된 정비 시간에 단독 시행</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가동률과 생산량을 지키고 보전비만 든다</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추천</a:t>
            </a:r>
          </a:p>
          <a:p>
            <a:pPr algn="l">
              <a:lnSpc>
                <a:spcPct val="110000"/>
              </a:lnSpc>
            </a:pPr>
            <a:r>
              <a:rPr sz="1250" b="1">
                <a:solidFill>
                  <a:srgbClr val="1A6FC4"/>
                </a:solidFill>
                <a:latin typeface="맑은 고딕"/>
                <a:ea typeface="맑은 고딕"/>
                <a:cs typeface="맑은 고딕"/>
              </a:rPr>
              <a:t>점수 +1.73</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지금 바로 정지하고 시행</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납기가 24시간 안인 생산 오더가 있어 오더 손실을 감점한다</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대안</a:t>
            </a:r>
          </a:p>
          <a:p>
            <a:pPr algn="l">
              <a:lnSpc>
                <a:spcPct val="110000"/>
              </a:lnSpc>
            </a:pPr>
            <a:r>
              <a:rPr sz="1250" b="1">
                <a:solidFill>
                  <a:srgbClr val="556175"/>
                </a:solidFill>
                <a:latin typeface="맑은 고딕"/>
                <a:ea typeface="맑은 고딕"/>
                <a:cs typeface="맑은 고딕"/>
              </a:rPr>
              <a:t>점수 -3.35</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그다음 예정된 정비 시간으로 미루기</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그때의 운전시간이 2,200 h를 넘으므로 미루지 않는다</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제외</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같은 기종 두 대 묶어 시행</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씰 키트가 2개 이상 있어야 하는데 가용 재고가 1개이다</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제외</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재고 보충 처리 건의 다섯 자리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재고 보충에서 구매 담당이 승인한 발주안은 발주와 입고로 처리되어, 1개이던 가용 재고가 7개로 올라갔다.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36</a:t>
            </a:r>
          </a:p>
        </p:txBody>
      </p:sp>
      <p:sp>
        <p:nvSpPr>
          <p:cNvPr id="6" name="Rectangle 5"/>
          <p:cNvSpPr/>
          <p:nvPr/>
        </p:nvSpPr>
        <p:spPr>
          <a:xfrm>
            <a:off x="1658081" y="3566096"/>
            <a:ext cx="8875532" cy="146304"/>
          </a:xfrm>
          <a:prstGeom prst="rect">
            <a:avLst/>
          </a:prstGeom>
          <a:solidFill>
            <a:srgbClr val="5CB8F2"/>
          </a:solidFill>
          <a:ln>
            <a:noFill/>
          </a:ln>
        </p:spPr>
        <p:txBody>
          <a:bodyPr rtlCol="0" anchor="ctr"/>
          <a:lstStyle/>
          <a:p>
            <a:pPr algn="ctr"/>
          </a:p>
        </p:txBody>
      </p:sp>
      <p:sp>
        <p:nvSpPr>
          <p:cNvPr id="7" name="Chevron 6"/>
          <p:cNvSpPr/>
          <p:nvPr/>
        </p:nvSpPr>
        <p:spPr>
          <a:xfrm>
            <a:off x="2648651" y="3456368"/>
            <a:ext cx="237744" cy="365760"/>
          </a:xfrm>
          <a:prstGeom prst="chevron">
            <a:avLst/>
          </a:prstGeom>
          <a:solidFill>
            <a:srgbClr val="13294B"/>
          </a:solidFill>
          <a:ln>
            <a:noFill/>
          </a:ln>
        </p:spPr>
        <p:txBody>
          <a:bodyPr rtlCol="0" anchor="ctr"/>
          <a:lstStyle/>
          <a:p>
            <a:pPr algn="ctr"/>
          </a:p>
        </p:txBody>
      </p:sp>
      <p:sp>
        <p:nvSpPr>
          <p:cNvPr id="8" name="Oval 7"/>
          <p:cNvSpPr/>
          <p:nvPr/>
        </p:nvSpPr>
        <p:spPr>
          <a:xfrm>
            <a:off x="1081171" y="3062338"/>
            <a:ext cx="1153819" cy="1153819"/>
          </a:xfrm>
          <a:prstGeom prst="ellipse">
            <a:avLst/>
          </a:prstGeom>
          <a:solidFill>
            <a:srgbClr val="FFFFFF"/>
          </a:solidFill>
          <a:ln w="28575">
            <a:solidFill>
              <a:srgbClr val="13294B"/>
            </a:solidFill>
          </a:ln>
        </p:spPr>
        <p:txBody>
          <a:bodyPr rtlCol="0" anchor="ctr"/>
          <a:lstStyle/>
          <a:p>
            <a:pPr algn="ctr"/>
          </a:p>
        </p:txBody>
      </p:sp>
      <p:pic>
        <p:nvPicPr>
          <p:cNvPr id="9" name="아이콘:package" descr="package_13294B_1.6.png"/>
          <p:cNvPicPr>
            <a:picLocks noChangeAspect="1"/>
          </p:cNvPicPr>
          <p:nvPr/>
        </p:nvPicPr>
        <p:blipFill>
          <a:blip r:embed="rId3"/>
          <a:stretch>
            <a:fillRect/>
          </a:stretch>
        </p:blipFill>
        <p:spPr>
          <a:xfrm>
            <a:off x="1358088" y="3339255"/>
            <a:ext cx="599985" cy="599985"/>
          </a:xfrm>
          <a:prstGeom prst="rect">
            <a:avLst/>
          </a:prstGeom>
        </p:spPr>
      </p:pic>
      <p:sp>
        <p:nvSpPr>
          <p:cNvPr id="10" name="TextBox 9"/>
          <p:cNvSpPr txBox="1"/>
          <p:nvPr/>
        </p:nvSpPr>
        <p:spPr>
          <a:xfrm>
            <a:off x="640079" y="4353318"/>
            <a:ext cx="2036003"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시작 이벤트</a:t>
            </a:r>
          </a:p>
          <a:p>
            <a:pPr algn="ctr">
              <a:lnSpc>
                <a:spcPct val="110000"/>
              </a:lnSpc>
              <a:spcAft>
                <a:spcPts val="400"/>
              </a:spcAft>
            </a:pPr>
            <a:r>
              <a:rPr sz="1300" b="0">
                <a:solidFill>
                  <a:srgbClr val="1F2A3A"/>
                </a:solidFill>
                <a:latin typeface="맑은 고딕"/>
                <a:ea typeface="맑은 고딕"/>
                <a:cs typeface="맑은 고딕"/>
              </a:rPr>
              <a:t>재고 부족</a:t>
            </a:r>
          </a:p>
          <a:p>
            <a:pPr algn="ctr">
              <a:lnSpc>
                <a:spcPct val="110000"/>
              </a:lnSpc>
              <a:spcAft>
                <a:spcPts val="400"/>
              </a:spcAft>
            </a:pPr>
            <a:r>
              <a:rPr sz="1300" b="0">
                <a:solidFill>
                  <a:srgbClr val="1F2A3A"/>
                </a:solidFill>
                <a:latin typeface="맑은 고딕"/>
                <a:ea typeface="맑은 고딕"/>
                <a:cs typeface="맑은 고딕"/>
              </a:rPr>
              <a:t>씰 키트 가용 1개</a:t>
            </a:r>
          </a:p>
        </p:txBody>
      </p:sp>
      <p:sp>
        <p:nvSpPr>
          <p:cNvPr id="11" name="Chevron 10"/>
          <p:cNvSpPr/>
          <p:nvPr/>
        </p:nvSpPr>
        <p:spPr>
          <a:xfrm>
            <a:off x="4867534" y="3456368"/>
            <a:ext cx="237744" cy="365760"/>
          </a:xfrm>
          <a:prstGeom prst="chevron">
            <a:avLst/>
          </a:prstGeom>
          <a:solidFill>
            <a:srgbClr val="13294B"/>
          </a:solidFill>
          <a:ln>
            <a:noFill/>
          </a:ln>
        </p:spPr>
        <p:txBody>
          <a:bodyPr rtlCol="0" anchor="ctr"/>
          <a:lstStyle/>
          <a:p>
            <a:pPr algn="ctr"/>
          </a:p>
        </p:txBody>
      </p:sp>
      <p:sp>
        <p:nvSpPr>
          <p:cNvPr id="12" name="Oval 11"/>
          <p:cNvSpPr/>
          <p:nvPr/>
        </p:nvSpPr>
        <p:spPr>
          <a:xfrm>
            <a:off x="3300054" y="3062338"/>
            <a:ext cx="1153819" cy="1153819"/>
          </a:xfrm>
          <a:prstGeom prst="ellipse">
            <a:avLst/>
          </a:prstGeom>
          <a:solidFill>
            <a:srgbClr val="FFFFFF"/>
          </a:solidFill>
          <a:ln w="28575">
            <a:solidFill>
              <a:srgbClr val="13294B"/>
            </a:solidFill>
          </a:ln>
        </p:spPr>
        <p:txBody>
          <a:bodyPr rtlCol="0" anchor="ctr"/>
          <a:lstStyle/>
          <a:p>
            <a:pPr algn="ctr"/>
          </a:p>
        </p:txBody>
      </p:sp>
      <p:pic>
        <p:nvPicPr>
          <p:cNvPr id="13" name="아이콘:robot" descr="robot_13294B_1.6.png"/>
          <p:cNvPicPr>
            <a:picLocks noChangeAspect="1"/>
          </p:cNvPicPr>
          <p:nvPr/>
        </p:nvPicPr>
        <p:blipFill>
          <a:blip r:embed="rId4"/>
          <a:stretch>
            <a:fillRect/>
          </a:stretch>
        </p:blipFill>
        <p:spPr>
          <a:xfrm>
            <a:off x="3576971" y="3339255"/>
            <a:ext cx="599985" cy="599985"/>
          </a:xfrm>
          <a:prstGeom prst="rect">
            <a:avLst/>
          </a:prstGeom>
        </p:spPr>
      </p:pic>
      <p:sp>
        <p:nvSpPr>
          <p:cNvPr id="14" name="TextBox 13"/>
          <p:cNvSpPr txBox="1"/>
          <p:nvPr/>
        </p:nvSpPr>
        <p:spPr>
          <a:xfrm>
            <a:off x="2858963" y="4353318"/>
            <a:ext cx="2036003"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에이전트의 판단</a:t>
            </a:r>
          </a:p>
          <a:p>
            <a:pPr algn="ctr">
              <a:lnSpc>
                <a:spcPct val="110000"/>
              </a:lnSpc>
              <a:spcAft>
                <a:spcPts val="400"/>
              </a:spcAft>
            </a:pPr>
            <a:r>
              <a:rPr sz="1300" b="0">
                <a:solidFill>
                  <a:srgbClr val="1F2A3A"/>
                </a:solidFill>
                <a:latin typeface="맑은 고딕"/>
                <a:ea typeface="맑은 고딕"/>
                <a:cs typeface="맑은 고딕"/>
              </a:rPr>
              <a:t>6개 · 공급사 B-OEM</a:t>
            </a:r>
          </a:p>
          <a:p>
            <a:pPr algn="ctr">
              <a:lnSpc>
                <a:spcPct val="110000"/>
              </a:lnSpc>
              <a:spcAft>
                <a:spcPts val="400"/>
              </a:spcAft>
            </a:pPr>
            <a:r>
              <a:rPr sz="1300" b="0">
                <a:solidFill>
                  <a:srgbClr val="1F2A3A"/>
                </a:solidFill>
                <a:latin typeface="맑은 고딕"/>
                <a:ea typeface="맑은 고딕"/>
                <a:cs typeface="맑은 고딕"/>
              </a:rPr>
              <a:t>330만원</a:t>
            </a:r>
          </a:p>
        </p:txBody>
      </p:sp>
      <p:sp>
        <p:nvSpPr>
          <p:cNvPr id="15" name="Chevron 14"/>
          <p:cNvSpPr/>
          <p:nvPr/>
        </p:nvSpPr>
        <p:spPr>
          <a:xfrm>
            <a:off x="7086417" y="3456368"/>
            <a:ext cx="237744" cy="365760"/>
          </a:xfrm>
          <a:prstGeom prst="chevron">
            <a:avLst/>
          </a:prstGeom>
          <a:solidFill>
            <a:srgbClr val="13294B"/>
          </a:solidFill>
          <a:ln>
            <a:noFill/>
          </a:ln>
        </p:spPr>
        <p:txBody>
          <a:bodyPr rtlCol="0" anchor="ctr"/>
          <a:lstStyle/>
          <a:p>
            <a:pPr algn="ctr"/>
          </a:p>
        </p:txBody>
      </p:sp>
      <p:sp>
        <p:nvSpPr>
          <p:cNvPr id="16" name="Oval 15"/>
          <p:cNvSpPr/>
          <p:nvPr/>
        </p:nvSpPr>
        <p:spPr>
          <a:xfrm>
            <a:off x="5518938" y="3062338"/>
            <a:ext cx="1153819" cy="1153819"/>
          </a:xfrm>
          <a:prstGeom prst="ellipse">
            <a:avLst/>
          </a:prstGeom>
          <a:solidFill>
            <a:srgbClr val="5CB8F2"/>
          </a:solidFill>
          <a:ln w="28575">
            <a:solidFill>
              <a:srgbClr val="13294B"/>
            </a:solidFill>
          </a:ln>
        </p:spPr>
        <p:txBody>
          <a:bodyPr rtlCol="0" anchor="ctr"/>
          <a:lstStyle/>
          <a:p>
            <a:pPr algn="ctr"/>
          </a:p>
        </p:txBody>
      </p:sp>
      <p:pic>
        <p:nvPicPr>
          <p:cNvPr id="17" name="아이콘:user-check" descr="user-check_13294B_1.6.png"/>
          <p:cNvPicPr>
            <a:picLocks noChangeAspect="1"/>
          </p:cNvPicPr>
          <p:nvPr/>
        </p:nvPicPr>
        <p:blipFill>
          <a:blip r:embed="rId5"/>
          <a:stretch>
            <a:fillRect/>
          </a:stretch>
        </p:blipFill>
        <p:spPr>
          <a:xfrm>
            <a:off x="5795854" y="3339255"/>
            <a:ext cx="599985" cy="599985"/>
          </a:xfrm>
          <a:prstGeom prst="rect">
            <a:avLst/>
          </a:prstGeom>
        </p:spPr>
      </p:pic>
      <p:sp>
        <p:nvSpPr>
          <p:cNvPr id="18" name="TextBox 17"/>
          <p:cNvSpPr txBox="1"/>
          <p:nvPr/>
        </p:nvSpPr>
        <p:spPr>
          <a:xfrm>
            <a:off x="5077846" y="4353318"/>
            <a:ext cx="2036003"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구매 담당 승인</a:t>
            </a:r>
          </a:p>
          <a:p>
            <a:pPr algn="ctr">
              <a:lnSpc>
                <a:spcPct val="110000"/>
              </a:lnSpc>
              <a:spcAft>
                <a:spcPts val="400"/>
              </a:spcAft>
            </a:pPr>
            <a:r>
              <a:rPr sz="1300" b="0">
                <a:solidFill>
                  <a:srgbClr val="1F2A3A"/>
                </a:solidFill>
                <a:latin typeface="맑은 고딕"/>
                <a:ea typeface="맑은 고딕"/>
                <a:cs typeface="맑은 고딕"/>
              </a:rPr>
              <a:t>발주안을 승인</a:t>
            </a:r>
          </a:p>
        </p:txBody>
      </p:sp>
      <p:sp>
        <p:nvSpPr>
          <p:cNvPr id="19" name="Chevron 18"/>
          <p:cNvSpPr/>
          <p:nvPr/>
        </p:nvSpPr>
        <p:spPr>
          <a:xfrm>
            <a:off x="9305300" y="3456368"/>
            <a:ext cx="237744" cy="365760"/>
          </a:xfrm>
          <a:prstGeom prst="chevron">
            <a:avLst/>
          </a:prstGeom>
          <a:solidFill>
            <a:srgbClr val="13294B"/>
          </a:solidFill>
          <a:ln>
            <a:noFill/>
          </a:ln>
        </p:spPr>
        <p:txBody>
          <a:bodyPr rtlCol="0" anchor="ctr"/>
          <a:lstStyle/>
          <a:p>
            <a:pPr algn="ctr"/>
          </a:p>
        </p:txBody>
      </p:sp>
      <p:sp>
        <p:nvSpPr>
          <p:cNvPr id="20" name="Oval 19"/>
          <p:cNvSpPr/>
          <p:nvPr/>
        </p:nvSpPr>
        <p:spPr>
          <a:xfrm>
            <a:off x="7737821" y="3062338"/>
            <a:ext cx="1153819" cy="1153819"/>
          </a:xfrm>
          <a:prstGeom prst="ellipse">
            <a:avLst/>
          </a:prstGeom>
          <a:solidFill>
            <a:srgbClr val="FFFFFF"/>
          </a:solidFill>
          <a:ln w="28575">
            <a:solidFill>
              <a:srgbClr val="13294B"/>
            </a:solidFill>
          </a:ln>
        </p:spPr>
        <p:txBody>
          <a:bodyPr rtlCol="0" anchor="ctr"/>
          <a:lstStyle/>
          <a:p>
            <a:pPr algn="ctr"/>
          </a:p>
        </p:txBody>
      </p:sp>
      <p:pic>
        <p:nvPicPr>
          <p:cNvPr id="21" name="아이콘:settings" descr="settings_13294B_1.6.png"/>
          <p:cNvPicPr>
            <a:picLocks noChangeAspect="1"/>
          </p:cNvPicPr>
          <p:nvPr/>
        </p:nvPicPr>
        <p:blipFill>
          <a:blip r:embed="rId6"/>
          <a:stretch>
            <a:fillRect/>
          </a:stretch>
        </p:blipFill>
        <p:spPr>
          <a:xfrm>
            <a:off x="8014737" y="3339255"/>
            <a:ext cx="599985" cy="599985"/>
          </a:xfrm>
          <a:prstGeom prst="rect">
            <a:avLst/>
          </a:prstGeom>
        </p:spPr>
      </p:pic>
      <p:sp>
        <p:nvSpPr>
          <p:cNvPr id="22" name="TextBox 21"/>
          <p:cNvSpPr txBox="1"/>
          <p:nvPr/>
        </p:nvSpPr>
        <p:spPr>
          <a:xfrm>
            <a:off x="7296729" y="4353318"/>
            <a:ext cx="2036003"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시스템의 처리</a:t>
            </a:r>
          </a:p>
          <a:p>
            <a:pPr algn="ctr">
              <a:lnSpc>
                <a:spcPct val="110000"/>
              </a:lnSpc>
              <a:spcAft>
                <a:spcPts val="400"/>
              </a:spcAft>
            </a:pPr>
            <a:r>
              <a:rPr sz="1300" b="0">
                <a:solidFill>
                  <a:srgbClr val="1F2A3A"/>
                </a:solidFill>
                <a:latin typeface="맑은 고딕"/>
                <a:ea typeface="맑은 고딕"/>
                <a:cs typeface="맑은 고딕"/>
              </a:rPr>
              <a:t>발주 PR-1010-83F3</a:t>
            </a:r>
          </a:p>
          <a:p>
            <a:pPr algn="ctr">
              <a:lnSpc>
                <a:spcPct val="110000"/>
              </a:lnSpc>
              <a:spcAft>
                <a:spcPts val="400"/>
              </a:spcAft>
            </a:pPr>
            <a:r>
              <a:rPr sz="1300" b="0">
                <a:solidFill>
                  <a:srgbClr val="1F2A3A"/>
                </a:solidFill>
                <a:latin typeface="맑은 고딕"/>
                <a:ea typeface="맑은 고딕"/>
                <a:cs typeface="맑은 고딕"/>
              </a:rPr>
              <a:t>입고 GR-1010-4EE3</a:t>
            </a:r>
          </a:p>
        </p:txBody>
      </p:sp>
      <p:sp>
        <p:nvSpPr>
          <p:cNvPr id="23" name="Oval 22"/>
          <p:cNvSpPr/>
          <p:nvPr/>
        </p:nvSpPr>
        <p:spPr>
          <a:xfrm>
            <a:off x="9956704" y="3062338"/>
            <a:ext cx="1153819" cy="1153819"/>
          </a:xfrm>
          <a:prstGeom prst="ellipse">
            <a:avLst/>
          </a:prstGeom>
          <a:solidFill>
            <a:srgbClr val="FFFFFF"/>
          </a:solidFill>
          <a:ln w="28575">
            <a:solidFill>
              <a:srgbClr val="13294B"/>
            </a:solidFill>
          </a:ln>
        </p:spPr>
        <p:txBody>
          <a:bodyPr rtlCol="0" anchor="ctr"/>
          <a:lstStyle/>
          <a:p>
            <a:pPr algn="ctr"/>
          </a:p>
        </p:txBody>
      </p:sp>
      <p:pic>
        <p:nvPicPr>
          <p:cNvPr id="24" name="아이콘:file-text" descr="file-text_13294B_1.6.png"/>
          <p:cNvPicPr>
            <a:picLocks noChangeAspect="1"/>
          </p:cNvPicPr>
          <p:nvPr/>
        </p:nvPicPr>
        <p:blipFill>
          <a:blip r:embed="rId7"/>
          <a:stretch>
            <a:fillRect/>
          </a:stretch>
        </p:blipFill>
        <p:spPr>
          <a:xfrm>
            <a:off x="10233620" y="3339255"/>
            <a:ext cx="599985" cy="599985"/>
          </a:xfrm>
          <a:prstGeom prst="rect">
            <a:avLst/>
          </a:prstGeom>
        </p:spPr>
      </p:pic>
      <p:sp>
        <p:nvSpPr>
          <p:cNvPr id="25" name="TextBox 24"/>
          <p:cNvSpPr txBox="1"/>
          <p:nvPr/>
        </p:nvSpPr>
        <p:spPr>
          <a:xfrm>
            <a:off x="9515612" y="4353318"/>
            <a:ext cx="2036003"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종료 기록</a:t>
            </a:r>
          </a:p>
          <a:p>
            <a:pPr algn="ctr">
              <a:lnSpc>
                <a:spcPct val="110000"/>
              </a:lnSpc>
              <a:spcAft>
                <a:spcPts val="400"/>
              </a:spcAft>
            </a:pPr>
            <a:r>
              <a:rPr sz="1300" b="0">
                <a:solidFill>
                  <a:srgbClr val="1F2A3A"/>
                </a:solidFill>
                <a:latin typeface="맑은 고딕"/>
                <a:ea typeface="맑은 고딕"/>
                <a:cs typeface="맑은 고딕"/>
              </a:rPr>
              <a:t>E_end · 입고 완료</a:t>
            </a:r>
          </a:p>
          <a:p>
            <a:pPr algn="ctr">
              <a:lnSpc>
                <a:spcPct val="110000"/>
              </a:lnSpc>
              <a:spcAft>
                <a:spcPts val="400"/>
              </a:spcAft>
            </a:pPr>
            <a:r>
              <a:rPr sz="1300" b="0">
                <a:solidFill>
                  <a:srgbClr val="1F2A3A"/>
                </a:solidFill>
                <a:latin typeface="맑은 고딕"/>
                <a:ea typeface="맑은 고딕"/>
                <a:cs typeface="맑은 고딕"/>
              </a:rPr>
              <a:t>가용 재고 7개</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재고 보충의 추천안: 공급사 셋의 비교</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재고 보충의 추천안은 공급사 셋을 금액, 납기, 불량률, 회사 규정으로 견주어 가장 싼 곳이 아닌 순정 공급사를 추천했다.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37</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공급사</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씰 키트 6개의 금액 · 납기 · 불량률</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판정</a:t>
            </a:r>
          </a:p>
        </p:txBody>
      </p:sp>
      <p:sp>
        <p:nvSpPr>
          <p:cNvPr id="10" name="Rounded Rectangle 9"/>
          <p:cNvSpPr/>
          <p:nvPr/>
        </p:nvSpPr>
        <p:spPr>
          <a:xfrm>
            <a:off x="548640" y="2852927"/>
            <a:ext cx="11094415" cy="850392"/>
          </a:xfrm>
          <a:prstGeom prst="roundRect">
            <a:avLst>
              <a:gd name="adj" fmla="val 8000"/>
            </a:avLst>
          </a:prstGeom>
          <a:solidFill>
            <a:srgbClr val="E7F3FD"/>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B-OEM (순정)</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330만원 · 5일 · 2 %</a:t>
            </a:r>
          </a:p>
          <a:p>
            <a:pPr algn="l">
              <a:lnSpc>
                <a:spcPct val="110000"/>
              </a:lnSpc>
            </a:pPr>
            <a:r>
              <a:rPr sz="1400" b="0">
                <a:solidFill>
                  <a:srgbClr val="1F2A3A"/>
                </a:solidFill>
                <a:latin typeface="맑은 고딕"/>
                <a:ea typeface="맑은 고딕"/>
                <a:cs typeface="맑은 고딕"/>
              </a:rPr>
              <a:t>부품 품질에서 앞선다</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추천</a:t>
            </a:r>
          </a:p>
          <a:p>
            <a:pPr algn="l">
              <a:lnSpc>
                <a:spcPct val="110000"/>
              </a:lnSpc>
            </a:pPr>
            <a:r>
              <a:rPr sz="1250" b="1">
                <a:solidFill>
                  <a:srgbClr val="1A6FC4"/>
                </a:solidFill>
                <a:latin typeface="맑은 고딕"/>
                <a:ea typeface="맑은 고딕"/>
                <a:cs typeface="맑은 고딕"/>
              </a:rPr>
              <a:t>점수 +2.82</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A정밀 (대체 승인)</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210만원 · 2일 · 12 %</a:t>
            </a:r>
          </a:p>
          <a:p>
            <a:pPr algn="l">
              <a:lnSpc>
                <a:spcPct val="110000"/>
              </a:lnSpc>
            </a:pPr>
            <a:r>
              <a:rPr sz="1400" b="0">
                <a:solidFill>
                  <a:srgbClr val="1F2A3A"/>
                </a:solidFill>
                <a:latin typeface="맑은 고딕"/>
                <a:ea typeface="맑은 고딕"/>
                <a:cs typeface="맑은 고딕"/>
              </a:rPr>
              <a:t>불량률이 10 %를 넘어 전수 검사 비용을 더해 견준다</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대안</a:t>
            </a:r>
          </a:p>
          <a:p>
            <a:pPr algn="l">
              <a:lnSpc>
                <a:spcPct val="110000"/>
              </a:lnSpc>
            </a:pPr>
            <a:r>
              <a:rPr sz="1250" b="1">
                <a:solidFill>
                  <a:srgbClr val="556175"/>
                </a:solidFill>
                <a:latin typeface="맑은 고딕"/>
                <a:ea typeface="맑은 고딕"/>
                <a:cs typeface="맑은 고딕"/>
              </a:rPr>
              <a:t>점수 +1.32</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C트레이딩 (비승인)</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120만원 · 1일 · 30 %</a:t>
            </a:r>
          </a:p>
          <a:p>
            <a:pPr algn="l">
              <a:lnSpc>
                <a:spcPct val="110000"/>
              </a:lnSpc>
            </a:pPr>
            <a:r>
              <a:rPr sz="1400" b="0">
                <a:solidFill>
                  <a:srgbClr val="1F2A3A"/>
                </a:solidFill>
                <a:latin typeface="맑은 고딕"/>
                <a:ea typeface="맑은 고딕"/>
                <a:cs typeface="맑은 고딕"/>
              </a:rPr>
              <a:t>승인 공급사가 아니어서 핵심 부품은 살 수 없다</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제외</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세 업무가 끝난 모습: 종료 기록과 달라진 상태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종료 기록의 끝 이벤트와 결과 보고는 유온의 회복, 등록된 정비 오더, 채워진 재고라는 달라진 상태를 가리킨다.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38</a:t>
            </a:r>
          </a:p>
        </p:txBody>
      </p:sp>
      <p:pic>
        <p:nvPicPr>
          <p:cNvPr id="6" name="삽화:세종료.svg" descr="illust_8589226067637688089_179174371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26561" y="4889571"/>
            <a:ext cx="327284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긴급 대응</a:t>
            </a:r>
          </a:p>
          <a:p>
            <a:pPr algn="ctr">
              <a:lnSpc>
                <a:spcPct val="110000"/>
              </a:lnSpc>
              <a:spcAft>
                <a:spcPts val="100"/>
              </a:spcAft>
            </a:pPr>
            <a:r>
              <a:rPr sz="1300" b="0">
                <a:solidFill>
                  <a:srgbClr val="556175"/>
                </a:solidFill>
                <a:latin typeface="맑은 고딕"/>
                <a:ea typeface="맑은 고딕"/>
                <a:cs typeface="맑은 고딕"/>
              </a:rPr>
              <a:t>유온 51.3 ℃ · 기준 55 ℃ 미만</a:t>
            </a:r>
          </a:p>
          <a:p>
            <a:pPr algn="ctr">
              <a:lnSpc>
                <a:spcPct val="110000"/>
              </a:lnSpc>
              <a:spcAft>
                <a:spcPts val="100"/>
              </a:spcAft>
            </a:pPr>
            <a:r>
              <a:rPr sz="1300" b="0">
                <a:solidFill>
                  <a:srgbClr val="556175"/>
                </a:solidFill>
                <a:latin typeface="맑은 고딕"/>
                <a:ea typeface="맑은 고딕"/>
                <a:cs typeface="맑은 고딕"/>
              </a:rPr>
              <a:t>작업지시 WO-1010-1198</a:t>
            </a:r>
          </a:p>
        </p:txBody>
      </p:sp>
      <p:sp>
        <p:nvSpPr>
          <p:cNvPr id="8" name="TextBox 7"/>
          <p:cNvSpPr txBox="1"/>
          <p:nvPr/>
        </p:nvSpPr>
        <p:spPr>
          <a:xfrm>
            <a:off x="4404875" y="4889571"/>
            <a:ext cx="327284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정기 점검</a:t>
            </a:r>
          </a:p>
          <a:p>
            <a:pPr algn="ctr">
              <a:lnSpc>
                <a:spcPct val="110000"/>
              </a:lnSpc>
              <a:spcAft>
                <a:spcPts val="100"/>
              </a:spcAft>
            </a:pPr>
            <a:r>
              <a:rPr sz="1300" b="0">
                <a:solidFill>
                  <a:srgbClr val="556175"/>
                </a:solidFill>
                <a:latin typeface="맑은 고딕"/>
                <a:ea typeface="맑은 고딕"/>
                <a:cs typeface="맑은 고딕"/>
              </a:rPr>
              <a:t>정비 오더 WO-1010-5DDD</a:t>
            </a:r>
          </a:p>
          <a:p>
            <a:pPr algn="ctr">
              <a:lnSpc>
                <a:spcPct val="110000"/>
              </a:lnSpc>
              <a:spcAft>
                <a:spcPts val="100"/>
              </a:spcAft>
            </a:pPr>
            <a:r>
              <a:rPr sz="1300" b="0">
                <a:solidFill>
                  <a:srgbClr val="556175"/>
                </a:solidFill>
                <a:latin typeface="맑은 고딕"/>
                <a:ea typeface="맑은 고딕"/>
                <a:cs typeface="맑은 고딕"/>
              </a:rPr>
              <a:t>생산팀에 공지 메일</a:t>
            </a:r>
          </a:p>
        </p:txBody>
      </p:sp>
      <p:sp>
        <p:nvSpPr>
          <p:cNvPr id="9" name="TextBox 8"/>
          <p:cNvSpPr txBox="1"/>
          <p:nvPr/>
        </p:nvSpPr>
        <p:spPr>
          <a:xfrm>
            <a:off x="7983190" y="4889571"/>
            <a:ext cx="327284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재고 보충</a:t>
            </a:r>
          </a:p>
          <a:p>
            <a:pPr algn="ctr">
              <a:lnSpc>
                <a:spcPct val="110000"/>
              </a:lnSpc>
              <a:spcAft>
                <a:spcPts val="100"/>
              </a:spcAft>
            </a:pPr>
            <a:r>
              <a:rPr sz="1300" b="0">
                <a:solidFill>
                  <a:srgbClr val="556175"/>
                </a:solidFill>
                <a:latin typeface="맑은 고딕"/>
                <a:ea typeface="맑은 고딕"/>
                <a:cs typeface="맑은 고딕"/>
              </a:rPr>
              <a:t>씰 키트 6개 입고 · 검수 합격</a:t>
            </a:r>
          </a:p>
          <a:p>
            <a:pPr algn="ctr">
              <a:lnSpc>
                <a:spcPct val="110000"/>
              </a:lnSpc>
              <a:spcAft>
                <a:spcPts val="100"/>
              </a:spcAft>
            </a:pPr>
            <a:r>
              <a:rPr sz="1300" b="0">
                <a:solidFill>
                  <a:srgbClr val="556175"/>
                </a:solidFill>
                <a:latin typeface="맑은 고딕"/>
                <a:ea typeface="맑은 고딕"/>
                <a:cs typeface="맑은 고딕"/>
              </a:rPr>
              <a:t>가용 재고 1개에서 7개로</a:t>
            </a:r>
          </a:p>
        </p:txBody>
      </p:sp>
      <p:sp>
        <p:nvSpPr>
          <p:cNvPr id="10" name="TextBox 9"/>
          <p:cNvSpPr txBox="1"/>
          <p:nvPr/>
        </p:nvSpPr>
        <p:spPr>
          <a:xfrm>
            <a:off x="935656" y="5929609"/>
            <a:ext cx="3054658"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E_end · 정상</a:t>
            </a:r>
          </a:p>
        </p:txBody>
      </p:sp>
      <p:sp>
        <p:nvSpPr>
          <p:cNvPr id="11" name="TextBox 10"/>
          <p:cNvSpPr txBox="1"/>
          <p:nvPr/>
        </p:nvSpPr>
        <p:spPr>
          <a:xfrm>
            <a:off x="4513970" y="5929609"/>
            <a:ext cx="3054658"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E_end · 정상</a:t>
            </a:r>
          </a:p>
        </p:txBody>
      </p:sp>
      <p:sp>
        <p:nvSpPr>
          <p:cNvPr id="12" name="TextBox 11"/>
          <p:cNvSpPr txBox="1"/>
          <p:nvPr/>
        </p:nvSpPr>
        <p:spPr>
          <a:xfrm>
            <a:off x="8092285" y="5929609"/>
            <a:ext cx="3054658"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E_end · 입고 완료</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처리 건 한 건을 잇는 식별자</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경보, 판단, 승인, 명령, 작업지시가 식별자로 이어져 있어 끝난 업무를 추천안과 승인까지 거슬러 읽을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39</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ALT-hyd01-0026-767a    </a:t>
            </a:r>
            <a:r>
              <a:rPr sz="1300" b="0">
                <a:solidFill>
                  <a:srgbClr val="E8EEF6"/>
                </a:solidFill>
                <a:latin typeface="맑은 고딕"/>
                <a:ea typeface="맑은 고딕"/>
                <a:cs typeface="맑은 고딕"/>
              </a:rPr>
              <a:t>경보</a:t>
            </a:r>
          </a:p>
          <a:p>
            <a:pPr algn="l">
              <a:lnSpc>
                <a:spcPct val="110000"/>
              </a:lnSpc>
              <a:spcAft>
                <a:spcPts val="200"/>
              </a:spcAft>
            </a:pPr>
            <a:r>
              <a:rPr sz="1300" b="0">
                <a:solidFill>
                  <a:srgbClr val="E8EEF6"/>
                </a:solidFill>
                <a:latin typeface="Consolas"/>
                <a:ea typeface="맑은 고딕"/>
                <a:cs typeface="맑은 고딕"/>
              </a:rPr>
              <a:t>c3_cooling.32aca7de    </a:t>
            </a:r>
            <a:r>
              <a:rPr sz="1300" b="0">
                <a:solidFill>
                  <a:srgbClr val="E8EEF6"/>
                </a:solidFill>
                <a:latin typeface="맑은 고딕"/>
                <a:ea typeface="맑은 고딕"/>
                <a:cs typeface="맑은 고딕"/>
              </a:rPr>
              <a:t>처리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건</a:t>
            </a:r>
          </a:p>
          <a:p>
            <a:pPr algn="l">
              <a:lnSpc>
                <a:spcPct val="110000"/>
              </a:lnSpc>
              <a:spcAft>
                <a:spcPts val="200"/>
              </a:spcAft>
            </a:pPr>
            <a:r>
              <a:rPr sz="1300" b="0">
                <a:solidFill>
                  <a:srgbClr val="E8EEF6"/>
                </a:solidFill>
                <a:latin typeface="Consolas"/>
                <a:ea typeface="맑은 고딕"/>
                <a:cs typeface="맑은 고딕"/>
              </a:rPr>
              <a:t>DEC-1010-058-88a6      </a:t>
            </a:r>
            <a:r>
              <a:rPr sz="1300" b="0">
                <a:solidFill>
                  <a:srgbClr val="E8EEF6"/>
                </a:solidFill>
                <a:latin typeface="맑은 고딕"/>
                <a:ea typeface="맑은 고딕"/>
                <a:cs typeface="맑은 고딕"/>
              </a:rPr>
              <a:t>판단</a:t>
            </a:r>
          </a:p>
          <a:p>
            <a:pPr algn="l">
              <a:lnSpc>
                <a:spcPct val="110000"/>
              </a:lnSpc>
              <a:spcAft>
                <a:spcPts val="200"/>
              </a:spcAft>
            </a:pPr>
            <a:r>
              <a:rPr sz="1300" b="0">
                <a:solidFill>
                  <a:srgbClr val="E8EEF6"/>
                </a:solidFill>
                <a:latin typeface="Consolas"/>
                <a:ea typeface="맑은 고딕"/>
                <a:cs typeface="맑은 고딕"/>
              </a:rPr>
              <a:t>role:operator          </a:t>
            </a:r>
            <a:r>
              <a:rPr sz="1300" b="0">
                <a:solidFill>
                  <a:srgbClr val="E8EEF6"/>
                </a:solidFill>
                <a:latin typeface="맑은 고딕"/>
                <a:ea typeface="맑은 고딕"/>
                <a:cs typeface="맑은 고딕"/>
              </a:rPr>
              <a:t>승인</a:t>
            </a:r>
          </a:p>
          <a:p>
            <a:pPr algn="l">
              <a:lnSpc>
                <a:spcPct val="110000"/>
              </a:lnSpc>
              <a:spcAft>
                <a:spcPts val="200"/>
              </a:spcAft>
            </a:pPr>
            <a:r>
              <a:rPr sz="1300" b="0">
                <a:solidFill>
                  <a:srgbClr val="E8EEF6"/>
                </a:solidFill>
                <a:latin typeface="Consolas"/>
                <a:ea typeface="맑은 고딕"/>
                <a:cs typeface="맑은 고딕"/>
              </a:rPr>
              <a:t>CMD-1010-0001-01d1     </a:t>
            </a:r>
            <a:r>
              <a:rPr sz="1300" b="0">
                <a:solidFill>
                  <a:srgbClr val="E8EEF6"/>
                </a:solidFill>
                <a:latin typeface="맑은 고딕"/>
                <a:ea typeface="맑은 고딕"/>
                <a:cs typeface="맑은 고딕"/>
              </a:rPr>
              <a:t>설비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명령</a:t>
            </a:r>
          </a:p>
          <a:p>
            <a:pPr algn="l">
              <a:lnSpc>
                <a:spcPct val="110000"/>
              </a:lnSpc>
              <a:spcAft>
                <a:spcPts val="200"/>
              </a:spcAft>
            </a:pPr>
            <a:r>
              <a:rPr sz="1300" b="0">
                <a:solidFill>
                  <a:srgbClr val="E8EEF6"/>
                </a:solidFill>
                <a:latin typeface="Consolas"/>
                <a:ea typeface="맑은 고딕"/>
                <a:cs typeface="맑은 고딕"/>
              </a:rPr>
              <a:t>WO-1010-1198           </a:t>
            </a:r>
            <a:r>
              <a:rPr sz="1300" b="0">
                <a:solidFill>
                  <a:srgbClr val="E8EEF6"/>
                </a:solidFill>
                <a:latin typeface="맑은 고딕"/>
                <a:ea typeface="맑은 고딕"/>
                <a:cs typeface="맑은 고딕"/>
              </a:rPr>
              <a:t>작업지시</a:t>
            </a:r>
          </a:p>
          <a:p>
            <a:pPr algn="l">
              <a:lnSpc>
                <a:spcPct val="110000"/>
              </a:lnSpc>
              <a:spcAft>
                <a:spcPts val="200"/>
              </a:spcAft>
            </a:pPr>
            <a:r>
              <a:rPr sz="1300" b="0">
                <a:solidFill>
                  <a:srgbClr val="E8EEF6"/>
                </a:solidFill>
                <a:latin typeface="Consolas"/>
                <a:ea typeface="맑은 고딕"/>
                <a:cs typeface="맑은 고딕"/>
              </a:rPr>
              <a:t>E_end                  </a:t>
            </a:r>
            <a:r>
              <a:rPr sz="1300" b="0">
                <a:solidFill>
                  <a:srgbClr val="E8EEF6"/>
                </a:solidFill>
                <a:latin typeface="맑은 고딕"/>
                <a:ea typeface="맑은 고딕"/>
                <a:cs typeface="맑은 고딕"/>
              </a:rPr>
              <a:t>끝</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이벤트</a:t>
            </a:r>
          </a:p>
        </p:txBody>
      </p:sp>
      <p:sp>
        <p:nvSpPr>
          <p:cNvPr id="8" name="TextBox 7"/>
          <p:cNvSpPr txBox="1"/>
          <p:nvPr/>
        </p:nvSpPr>
        <p:spPr>
          <a:xfrm>
            <a:off x="7635240" y="232829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추천안의 근거</a:t>
            </a:r>
          </a:p>
          <a:p>
            <a:pPr algn="l">
              <a:lnSpc>
                <a:spcPct val="110000"/>
              </a:lnSpc>
              <a:spcAft>
                <a:spcPts val="400"/>
              </a:spcAft>
            </a:pPr>
            <a:r>
              <a:rPr sz="1400" b="0">
                <a:solidFill>
                  <a:srgbClr val="1F2A3A"/>
                </a:solidFill>
                <a:latin typeface="맑은 고딕"/>
                <a:ea typeface="맑은 고딕"/>
                <a:cs typeface="맑은 고딕"/>
              </a:rPr>
              <a:t>판단 id로 에이전트가</a:t>
            </a:r>
          </a:p>
          <a:p>
            <a:pPr algn="l">
              <a:lnSpc>
                <a:spcPct val="110000"/>
              </a:lnSpc>
              <a:spcAft>
                <a:spcPts val="400"/>
              </a:spcAft>
            </a:pPr>
            <a:r>
              <a:rPr sz="1400" b="0">
                <a:solidFill>
                  <a:srgbClr val="1F2A3A"/>
                </a:solidFill>
                <a:latin typeface="맑은 고딕"/>
                <a:ea typeface="맑은 고딕"/>
                <a:cs typeface="맑은 고딕"/>
              </a:rPr>
              <a:t>낸 원인과 추천을 찾는다.</a:t>
            </a:r>
          </a:p>
        </p:txBody>
      </p:sp>
      <p:sp>
        <p:nvSpPr>
          <p:cNvPr id="9" name="TextBox 8"/>
          <p:cNvSpPr txBox="1"/>
          <p:nvPr/>
        </p:nvSpPr>
        <p:spPr>
          <a:xfrm>
            <a:off x="7635240" y="343700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결정의 책임</a:t>
            </a:r>
          </a:p>
          <a:p>
            <a:pPr algn="l">
              <a:lnSpc>
                <a:spcPct val="110000"/>
              </a:lnSpc>
              <a:spcAft>
                <a:spcPts val="400"/>
              </a:spcAft>
            </a:pPr>
            <a:r>
              <a:rPr sz="1400" b="0">
                <a:solidFill>
                  <a:srgbClr val="1F2A3A"/>
                </a:solidFill>
                <a:latin typeface="맑은 고딕"/>
                <a:ea typeface="맑은 고딕"/>
                <a:cs typeface="맑은 고딕"/>
              </a:rPr>
              <a:t>승인 기록에 승인한 역할과</a:t>
            </a:r>
          </a:p>
          <a:p>
            <a:pPr algn="l">
              <a:lnSpc>
                <a:spcPct val="110000"/>
              </a:lnSpc>
              <a:spcAft>
                <a:spcPts val="400"/>
              </a:spcAft>
            </a:pPr>
            <a:r>
              <a:rPr sz="1400" b="0">
                <a:solidFill>
                  <a:srgbClr val="1F2A3A"/>
                </a:solidFill>
                <a:latin typeface="맑은 고딕"/>
                <a:ea typeface="맑은 고딕"/>
                <a:cs typeface="맑은 고딕"/>
              </a:rPr>
              <a:t>판단의 식별자가 남는다.</a:t>
            </a:r>
          </a:p>
        </p:txBody>
      </p:sp>
      <p:sp>
        <p:nvSpPr>
          <p:cNvPr id="10" name="TextBox 9"/>
          <p:cNvSpPr txBox="1"/>
          <p:nvPr/>
        </p:nvSpPr>
        <p:spPr>
          <a:xfrm>
            <a:off x="7635240" y="454571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실행의 결과</a:t>
            </a:r>
          </a:p>
          <a:p>
            <a:pPr algn="l">
              <a:lnSpc>
                <a:spcPct val="110000"/>
              </a:lnSpc>
              <a:spcAft>
                <a:spcPts val="400"/>
              </a:spcAft>
            </a:pPr>
            <a:r>
              <a:rPr sz="1400" b="0">
                <a:solidFill>
                  <a:srgbClr val="1F2A3A"/>
                </a:solidFill>
                <a:latin typeface="맑은 고딕"/>
                <a:ea typeface="맑은 고딕"/>
                <a:cs typeface="맑은 고딕"/>
              </a:rPr>
              <a:t>명령과 작업지시의 번호가</a:t>
            </a:r>
          </a:p>
          <a:p>
            <a:pPr algn="l">
              <a:lnSpc>
                <a:spcPct val="110000"/>
              </a:lnSpc>
              <a:spcAft>
                <a:spcPts val="400"/>
              </a:spcAft>
            </a:pPr>
            <a:r>
              <a:rPr sz="1400" b="0">
                <a:solidFill>
                  <a:srgbClr val="1F2A3A"/>
                </a:solidFill>
                <a:latin typeface="맑은 고딕"/>
                <a:ea typeface="맑은 고딕"/>
                <a:cs typeface="맑은 고딕"/>
              </a:rPr>
              <a:t>업무 시스템의 기록을 가리킨다.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온톨로지, 에이전트, 프로세스의 연결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온톨로지가 판단의 재료를 정하고, 에이전트가 그것을 읽어 제안하며, 프로세스가 추천안을 끝난 업무로 잇는다.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40</a:t>
            </a:r>
          </a:p>
        </p:txBody>
      </p:sp>
      <p:pic>
        <p:nvPicPr>
          <p:cNvPr id="6" name="삽화:세층연결.svg" descr="illust_5867195685462896020_179174371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77468" y="5267766"/>
            <a:ext cx="327284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온톨로지</a:t>
            </a:r>
          </a:p>
          <a:p>
            <a:pPr algn="ctr">
              <a:lnSpc>
                <a:spcPct val="110000"/>
              </a:lnSpc>
              <a:spcAft>
                <a:spcPts val="100"/>
              </a:spcAft>
            </a:pPr>
            <a:r>
              <a:rPr sz="1300" b="0">
                <a:solidFill>
                  <a:srgbClr val="556175"/>
                </a:solidFill>
                <a:latin typeface="맑은 고딕"/>
                <a:ea typeface="맑은 고딕"/>
                <a:cs typeface="맑은 고딕"/>
              </a:rPr>
              <a:t>원인, 증거, 조치, 규칙의 지식과 값이 놓인 자리를 정한다</a:t>
            </a:r>
          </a:p>
        </p:txBody>
      </p:sp>
      <p:sp>
        <p:nvSpPr>
          <p:cNvPr id="8" name="TextBox 7"/>
          <p:cNvSpPr txBox="1"/>
          <p:nvPr/>
        </p:nvSpPr>
        <p:spPr>
          <a:xfrm>
            <a:off x="4459423" y="5267766"/>
            <a:ext cx="2727373"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에이전트</a:t>
            </a:r>
          </a:p>
          <a:p>
            <a:pPr algn="ctr">
              <a:lnSpc>
                <a:spcPct val="110000"/>
              </a:lnSpc>
              <a:spcAft>
                <a:spcPts val="100"/>
              </a:spcAft>
            </a:pPr>
            <a:r>
              <a:rPr sz="1300" b="0">
                <a:solidFill>
                  <a:srgbClr val="556175"/>
                </a:solidFill>
                <a:latin typeface="맑은 고딕"/>
                <a:ea typeface="맑은 고딕"/>
                <a:cs typeface="맑은 고딕"/>
              </a:rPr>
              <a:t>지식과 현재 값을 읽어 추천과 대안을 제안한다</a:t>
            </a:r>
          </a:p>
        </p:txBody>
      </p:sp>
      <p:sp>
        <p:nvSpPr>
          <p:cNvPr id="9" name="TextBox 8"/>
          <p:cNvSpPr txBox="1"/>
          <p:nvPr/>
        </p:nvSpPr>
        <p:spPr>
          <a:xfrm>
            <a:off x="7704998" y="5267766"/>
            <a:ext cx="3600133"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프로세스</a:t>
            </a:r>
          </a:p>
          <a:p>
            <a:pPr algn="ctr">
              <a:lnSpc>
                <a:spcPct val="110000"/>
              </a:lnSpc>
              <a:spcAft>
                <a:spcPts val="100"/>
              </a:spcAft>
            </a:pPr>
            <a:r>
              <a:rPr sz="1300" b="0">
                <a:solidFill>
                  <a:srgbClr val="556175"/>
                </a:solidFill>
                <a:latin typeface="맑은 고딕"/>
                <a:ea typeface="맑은 고딕"/>
                <a:cs typeface="맑은 고딕"/>
              </a:rPr>
              <a:t>추천안을 순서, 책임, 승인, 실행, 기록으로 완결한다</a:t>
            </a:r>
          </a:p>
        </p:txBody>
      </p:sp>
      <p:sp>
        <p:nvSpPr>
          <p:cNvPr id="10" name="TextBox 9"/>
          <p:cNvSpPr txBox="1"/>
          <p:nvPr/>
        </p:nvSpPr>
        <p:spPr>
          <a:xfrm>
            <a:off x="1650228" y="1722180"/>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1~3일차</a:t>
            </a:r>
          </a:p>
        </p:txBody>
      </p:sp>
      <p:sp>
        <p:nvSpPr>
          <p:cNvPr id="11" name="TextBox 10"/>
          <p:cNvSpPr txBox="1"/>
          <p:nvPr/>
        </p:nvSpPr>
        <p:spPr>
          <a:xfrm>
            <a:off x="5059445" y="1722180"/>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4~5일차</a:t>
            </a:r>
          </a:p>
        </p:txBody>
      </p:sp>
      <p:sp>
        <p:nvSpPr>
          <p:cNvPr id="12" name="TextBox 11"/>
          <p:cNvSpPr txBox="1"/>
          <p:nvPr/>
        </p:nvSpPr>
        <p:spPr>
          <a:xfrm>
            <a:off x="8741400" y="1722180"/>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6~7일차</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세 에이전트가 읽는 곳: 같은 지식과 다른 업무 데이터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에이전트는 모두 지식 그래프와 판단 규칙을 읽고, 업무 데이터만 업무에 따라 서로 다른 곳을 읽는다.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41</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에이전트</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함께 읽는 것</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따로 읽는 업무 데이터</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냉각 긴급 대응 에이전트</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지식 그래프 neo4j · 판단 규칙 hyd-dmn</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enterprise</a:t>
            </a:r>
          </a:p>
          <a:p>
            <a:pPr algn="l">
              <a:lnSpc>
                <a:spcPct val="110000"/>
              </a:lnSpc>
            </a:pPr>
            <a:r>
              <a:rPr sz="1250" b="1">
                <a:solidFill>
                  <a:srgbClr val="556175"/>
                </a:solidFill>
                <a:latin typeface="맑은 고딕"/>
                <a:ea typeface="맑은 고딕"/>
                <a:cs typeface="맑은 고딕"/>
              </a:rPr>
              <a:t>생산 오더, 품질 로트</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정기 정비 계획 에이전트</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지식 그래프 neo4j · 판단 규칙 hyd-dmn</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enterprise-maint</a:t>
            </a:r>
          </a:p>
          <a:p>
            <a:pPr algn="l">
              <a:lnSpc>
                <a:spcPct val="110000"/>
              </a:lnSpc>
            </a:pPr>
            <a:r>
              <a:rPr sz="1250" b="1">
                <a:solidFill>
                  <a:srgbClr val="556175"/>
                </a:solidFill>
                <a:latin typeface="맑은 고딕"/>
                <a:ea typeface="맑은 고딕"/>
                <a:cs typeface="맑은 고딕"/>
              </a:rPr>
              <a:t>정비 업무의 데이터</a:t>
            </a:r>
          </a:p>
        </p:txBody>
      </p:sp>
      <p:sp>
        <p:nvSpPr>
          <p:cNvPr id="18" name="Rounded Rectangle 17"/>
          <p:cNvSpPr/>
          <p:nvPr/>
        </p:nvSpPr>
        <p:spPr>
          <a:xfrm>
            <a:off x="548640" y="4681727"/>
            <a:ext cx="11094415" cy="850392"/>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예비품 구매 에이전트</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지식 그래프 neo4j · 판단 규칙 hyd-dmn</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enterprise-purchase</a:t>
            </a:r>
          </a:p>
          <a:p>
            <a:pPr algn="l">
              <a:lnSpc>
                <a:spcPct val="110000"/>
              </a:lnSpc>
            </a:pPr>
            <a:r>
              <a:rPr sz="1250" b="1">
                <a:solidFill>
                  <a:srgbClr val="1A6FC4"/>
                </a:solidFill>
                <a:latin typeface="맑은 고딕"/>
                <a:ea typeface="맑은 고딕"/>
                <a:cs typeface="맑은 고딕"/>
              </a:rPr>
              <a:t>구매 업무의 데이터</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지식 한 줄이 끝난 업무가 되기까지: 팬 최대 운전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조치 SOP-COOL-11은 에이전트의 추천, 운전원의 승인, 팬 명령을 거쳐 유온 51.3 ℃라는 결과가 되었다.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42</a:t>
            </a:r>
          </a:p>
        </p:txBody>
      </p:sp>
      <p:sp>
        <p:nvSpPr>
          <p:cNvPr id="6" name="Rounded Rectangle 5"/>
          <p:cNvSpPr/>
          <p:nvPr/>
        </p:nvSpPr>
        <p:spPr>
          <a:xfrm>
            <a:off x="548640" y="2626423"/>
            <a:ext cx="1911644" cy="2729864"/>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138702" y="2809303"/>
            <a:ext cx="731520" cy="731520"/>
          </a:xfrm>
          <a:prstGeom prst="ellipse">
            <a:avLst/>
          </a:prstGeom>
          <a:solidFill>
            <a:srgbClr val="FFFFFF"/>
          </a:solidFill>
          <a:ln>
            <a:noFill/>
          </a:ln>
        </p:spPr>
        <p:txBody>
          <a:bodyPr rtlCol="0" anchor="ctr"/>
          <a:lstStyle/>
          <a:p>
            <a:pPr algn="ctr"/>
          </a:p>
        </p:txBody>
      </p:sp>
      <p:pic>
        <p:nvPicPr>
          <p:cNvPr id="8" name="아이콘:topology-star-3" descr="topology-star-3_13294B_1.6.png"/>
          <p:cNvPicPr>
            <a:picLocks noChangeAspect="1"/>
          </p:cNvPicPr>
          <p:nvPr/>
        </p:nvPicPr>
        <p:blipFill>
          <a:blip r:embed="rId3"/>
          <a:stretch>
            <a:fillRect/>
          </a:stretch>
        </p:blipFill>
        <p:spPr>
          <a:xfrm>
            <a:off x="1292321" y="2962922"/>
            <a:ext cx="424281" cy="424281"/>
          </a:xfrm>
          <a:prstGeom prst="rect">
            <a:avLst/>
          </a:prstGeom>
        </p:spPr>
      </p:pic>
      <p:sp>
        <p:nvSpPr>
          <p:cNvPr id="9" name="TextBox 8"/>
          <p:cNvSpPr txBox="1"/>
          <p:nvPr/>
        </p:nvSpPr>
        <p:spPr>
          <a:xfrm>
            <a:off x="621792"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지식</a:t>
            </a:r>
          </a:p>
          <a:p>
            <a:pPr algn="ctr">
              <a:lnSpc>
                <a:spcPct val="110000"/>
              </a:lnSpc>
              <a:spcAft>
                <a:spcPts val="400"/>
              </a:spcAft>
            </a:pPr>
            <a:r>
              <a:rPr sz="1250" b="0">
                <a:solidFill>
                  <a:srgbClr val="1F2A3A"/>
                </a:solidFill>
                <a:latin typeface="맑은 고딕"/>
                <a:ea typeface="맑은 고딕"/>
                <a:cs typeface="맑은 고딕"/>
              </a:rPr>
              <a:t>조치 SOP-COOL-11</a:t>
            </a:r>
          </a:p>
          <a:p>
            <a:pPr algn="ctr">
              <a:lnSpc>
                <a:spcPct val="110000"/>
              </a:lnSpc>
              <a:spcAft>
                <a:spcPts val="400"/>
              </a:spcAft>
            </a:pPr>
            <a:r>
              <a:rPr sz="1250" b="0">
                <a:solidFill>
                  <a:srgbClr val="1F2A3A"/>
                </a:solidFill>
                <a:latin typeface="맑은 고딕"/>
                <a:ea typeface="맑은 고딕"/>
                <a:cs typeface="맑은 고딕"/>
              </a:rPr>
              <a:t>팬 최대 운전이</a:t>
            </a:r>
          </a:p>
          <a:p>
            <a:pPr algn="ctr">
              <a:lnSpc>
                <a:spcPct val="110000"/>
              </a:lnSpc>
              <a:spcAft>
                <a:spcPts val="400"/>
              </a:spcAft>
            </a:pPr>
            <a:r>
              <a:rPr sz="1250" b="0">
                <a:solidFill>
                  <a:srgbClr val="1F2A3A"/>
                </a:solidFill>
                <a:latin typeface="맑은 고딕"/>
                <a:ea typeface="맑은 고딕"/>
                <a:cs typeface="맑은 고딕"/>
              </a:rPr>
              <a:t>지식 그래프에 있다</a:t>
            </a:r>
          </a:p>
        </p:txBody>
      </p:sp>
      <p:sp>
        <p:nvSpPr>
          <p:cNvPr id="10" name="Right Arrow 9"/>
          <p:cNvSpPr/>
          <p:nvPr/>
        </p:nvSpPr>
        <p:spPr>
          <a:xfrm>
            <a:off x="2524292"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2844332" y="2626423"/>
            <a:ext cx="1911644" cy="2729864"/>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3434394" y="2809303"/>
            <a:ext cx="731520" cy="731520"/>
          </a:xfrm>
          <a:prstGeom prst="ellipse">
            <a:avLst/>
          </a:prstGeom>
          <a:solidFill>
            <a:srgbClr val="FFFFFF"/>
          </a:solidFill>
          <a:ln>
            <a:noFill/>
          </a:ln>
        </p:spPr>
        <p:txBody>
          <a:bodyPr rtlCol="0" anchor="ctr"/>
          <a:lstStyle/>
          <a:p>
            <a:pPr algn="ctr"/>
          </a:p>
        </p:txBody>
      </p:sp>
      <p:pic>
        <p:nvPicPr>
          <p:cNvPr id="13" name="아이콘:robot" descr="robot_13294B_1.6.png"/>
          <p:cNvPicPr>
            <a:picLocks noChangeAspect="1"/>
          </p:cNvPicPr>
          <p:nvPr/>
        </p:nvPicPr>
        <p:blipFill>
          <a:blip r:embed="rId4"/>
          <a:stretch>
            <a:fillRect/>
          </a:stretch>
        </p:blipFill>
        <p:spPr>
          <a:xfrm>
            <a:off x="3588014" y="2962922"/>
            <a:ext cx="424281" cy="424281"/>
          </a:xfrm>
          <a:prstGeom prst="rect">
            <a:avLst/>
          </a:prstGeom>
        </p:spPr>
      </p:pic>
      <p:sp>
        <p:nvSpPr>
          <p:cNvPr id="14" name="TextBox 13"/>
          <p:cNvSpPr txBox="1"/>
          <p:nvPr/>
        </p:nvSpPr>
        <p:spPr>
          <a:xfrm>
            <a:off x="2917484"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제안</a:t>
            </a:r>
          </a:p>
          <a:p>
            <a:pPr algn="ctr">
              <a:lnSpc>
                <a:spcPct val="110000"/>
              </a:lnSpc>
              <a:spcAft>
                <a:spcPts val="400"/>
              </a:spcAft>
            </a:pPr>
            <a:r>
              <a:rPr sz="1250" b="0">
                <a:solidFill>
                  <a:srgbClr val="1F2A3A"/>
                </a:solidFill>
                <a:latin typeface="맑은 고딕"/>
                <a:ea typeface="맑은 고딕"/>
                <a:cs typeface="맑은 고딕"/>
              </a:rPr>
              <a:t>에이전트가 원인을</a:t>
            </a:r>
          </a:p>
          <a:p>
            <a:pPr algn="ctr">
              <a:lnSpc>
                <a:spcPct val="110000"/>
              </a:lnSpc>
              <a:spcAft>
                <a:spcPts val="400"/>
              </a:spcAft>
            </a:pPr>
            <a:r>
              <a:rPr sz="1250" b="0">
                <a:solidFill>
                  <a:srgbClr val="1F2A3A"/>
                </a:solidFill>
                <a:latin typeface="맑은 고딕"/>
                <a:ea typeface="맑은 고딕"/>
                <a:cs typeface="맑은 고딕"/>
              </a:rPr>
              <a:t>쿨러 핀 오염으로</a:t>
            </a:r>
          </a:p>
          <a:p>
            <a:pPr algn="ctr">
              <a:lnSpc>
                <a:spcPct val="110000"/>
              </a:lnSpc>
              <a:spcAft>
                <a:spcPts val="400"/>
              </a:spcAft>
            </a:pPr>
            <a:r>
              <a:rPr sz="1250" b="0">
                <a:solidFill>
                  <a:srgbClr val="1F2A3A"/>
                </a:solidFill>
                <a:latin typeface="맑은 고딕"/>
                <a:ea typeface="맑은 고딕"/>
                <a:cs typeface="맑은 고딕"/>
              </a:rPr>
              <a:t>가려 추천한다</a:t>
            </a:r>
          </a:p>
        </p:txBody>
      </p:sp>
      <p:sp>
        <p:nvSpPr>
          <p:cNvPr id="15" name="Right Arrow 14"/>
          <p:cNvSpPr/>
          <p:nvPr/>
        </p:nvSpPr>
        <p:spPr>
          <a:xfrm>
            <a:off x="4819985"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5140025" y="2626423"/>
            <a:ext cx="1911644" cy="2729864"/>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5730087" y="2809303"/>
            <a:ext cx="731520" cy="731520"/>
          </a:xfrm>
          <a:prstGeom prst="ellipse">
            <a:avLst/>
          </a:prstGeom>
          <a:solidFill>
            <a:srgbClr val="FFFFFF"/>
          </a:solidFill>
          <a:ln>
            <a:noFill/>
          </a:ln>
        </p:spPr>
        <p:txBody>
          <a:bodyPr rtlCol="0" anchor="ctr"/>
          <a:lstStyle/>
          <a:p>
            <a:pPr algn="ctr"/>
          </a:p>
        </p:txBody>
      </p:sp>
      <p:pic>
        <p:nvPicPr>
          <p:cNvPr id="18" name="아이콘:user-check" descr="user-check_13294B_1.6.png"/>
          <p:cNvPicPr>
            <a:picLocks noChangeAspect="1"/>
          </p:cNvPicPr>
          <p:nvPr/>
        </p:nvPicPr>
        <p:blipFill>
          <a:blip r:embed="rId5"/>
          <a:stretch>
            <a:fillRect/>
          </a:stretch>
        </p:blipFill>
        <p:spPr>
          <a:xfrm>
            <a:off x="5883706" y="2962922"/>
            <a:ext cx="424281" cy="424281"/>
          </a:xfrm>
          <a:prstGeom prst="rect">
            <a:avLst/>
          </a:prstGeom>
        </p:spPr>
      </p:pic>
      <p:sp>
        <p:nvSpPr>
          <p:cNvPr id="19" name="TextBox 18"/>
          <p:cNvSpPr txBox="1"/>
          <p:nvPr/>
        </p:nvSpPr>
        <p:spPr>
          <a:xfrm>
            <a:off x="5213177"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승인</a:t>
            </a:r>
          </a:p>
          <a:p>
            <a:pPr algn="ctr">
              <a:lnSpc>
                <a:spcPct val="110000"/>
              </a:lnSpc>
              <a:spcAft>
                <a:spcPts val="400"/>
              </a:spcAft>
            </a:pPr>
            <a:r>
              <a:rPr sz="1250" b="0">
                <a:solidFill>
                  <a:srgbClr val="1F2A3A"/>
                </a:solidFill>
                <a:latin typeface="맑은 고딕"/>
                <a:ea typeface="맑은 고딕"/>
                <a:cs typeface="맑은 고딕"/>
              </a:rPr>
              <a:t>운전원이</a:t>
            </a:r>
          </a:p>
          <a:p>
            <a:pPr algn="ctr">
              <a:lnSpc>
                <a:spcPct val="110000"/>
              </a:lnSpc>
              <a:spcAft>
                <a:spcPts val="400"/>
              </a:spcAft>
            </a:pPr>
            <a:r>
              <a:rPr sz="1250" b="0">
                <a:solidFill>
                  <a:srgbClr val="1F2A3A"/>
                </a:solidFill>
                <a:latin typeface="맑은 고딕"/>
                <a:ea typeface="맑은 고딕"/>
                <a:cs typeface="맑은 고딕"/>
              </a:rPr>
              <a:t>추천안을 승인한다</a:t>
            </a:r>
          </a:p>
        </p:txBody>
      </p:sp>
      <p:sp>
        <p:nvSpPr>
          <p:cNvPr id="20" name="Right Arrow 19"/>
          <p:cNvSpPr/>
          <p:nvPr/>
        </p:nvSpPr>
        <p:spPr>
          <a:xfrm>
            <a:off x="711567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7435717" y="2626423"/>
            <a:ext cx="1911644" cy="2729864"/>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8025780" y="2809303"/>
            <a:ext cx="731520" cy="731520"/>
          </a:xfrm>
          <a:prstGeom prst="ellipse">
            <a:avLst/>
          </a:prstGeom>
          <a:solidFill>
            <a:srgbClr val="FFFFFF"/>
          </a:solidFill>
          <a:ln>
            <a:noFill/>
          </a:ln>
        </p:spPr>
        <p:txBody>
          <a:bodyPr rtlCol="0" anchor="ctr"/>
          <a:lstStyle/>
          <a:p>
            <a:pPr algn="ctr"/>
          </a:p>
        </p:txBody>
      </p:sp>
      <p:pic>
        <p:nvPicPr>
          <p:cNvPr id="23" name="아이콘:send" descr="send_13294B_1.6.png"/>
          <p:cNvPicPr>
            <a:picLocks noChangeAspect="1"/>
          </p:cNvPicPr>
          <p:nvPr/>
        </p:nvPicPr>
        <p:blipFill>
          <a:blip r:embed="rId6"/>
          <a:stretch>
            <a:fillRect/>
          </a:stretch>
        </p:blipFill>
        <p:spPr>
          <a:xfrm>
            <a:off x="8179399" y="2962922"/>
            <a:ext cx="424281" cy="424281"/>
          </a:xfrm>
          <a:prstGeom prst="rect">
            <a:avLst/>
          </a:prstGeom>
        </p:spPr>
      </p:pic>
      <p:sp>
        <p:nvSpPr>
          <p:cNvPr id="24" name="TextBox 23"/>
          <p:cNvSpPr txBox="1"/>
          <p:nvPr/>
        </p:nvSpPr>
        <p:spPr>
          <a:xfrm>
            <a:off x="7508869"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실행</a:t>
            </a:r>
          </a:p>
          <a:p>
            <a:pPr algn="ctr">
              <a:lnSpc>
                <a:spcPct val="110000"/>
              </a:lnSpc>
              <a:spcAft>
                <a:spcPts val="400"/>
              </a:spcAft>
            </a:pPr>
            <a:r>
              <a:rPr sz="1250" b="0">
                <a:solidFill>
                  <a:srgbClr val="1F2A3A"/>
                </a:solidFill>
                <a:latin typeface="맑은 고딕"/>
                <a:ea typeface="맑은 고딕"/>
                <a:cs typeface="맑은 고딕"/>
              </a:rPr>
              <a:t>프로세스가</a:t>
            </a:r>
          </a:p>
          <a:p>
            <a:pPr algn="ctr">
              <a:lnSpc>
                <a:spcPct val="110000"/>
              </a:lnSpc>
              <a:spcAft>
                <a:spcPts val="400"/>
              </a:spcAft>
            </a:pPr>
            <a:r>
              <a:rPr sz="1250" b="0">
                <a:solidFill>
                  <a:srgbClr val="1F2A3A"/>
                </a:solidFill>
                <a:latin typeface="맑은 고딕"/>
                <a:ea typeface="맑은 고딕"/>
                <a:cs typeface="맑은 고딕"/>
              </a:rPr>
              <a:t>팬 속도 100 %</a:t>
            </a:r>
          </a:p>
          <a:p>
            <a:pPr algn="ctr">
              <a:lnSpc>
                <a:spcPct val="110000"/>
              </a:lnSpc>
              <a:spcAft>
                <a:spcPts val="400"/>
              </a:spcAft>
            </a:pPr>
            <a:r>
              <a:rPr sz="1250" b="0">
                <a:solidFill>
                  <a:srgbClr val="1F2A3A"/>
                </a:solidFill>
                <a:latin typeface="맑은 고딕"/>
                <a:ea typeface="맑은 고딕"/>
                <a:cs typeface="맑은 고딕"/>
              </a:rPr>
              <a:t>명령을 낸다</a:t>
            </a:r>
          </a:p>
        </p:txBody>
      </p:sp>
      <p:sp>
        <p:nvSpPr>
          <p:cNvPr id="25" name="Right Arrow 24"/>
          <p:cNvSpPr/>
          <p:nvPr/>
        </p:nvSpPr>
        <p:spPr>
          <a:xfrm>
            <a:off x="9411370" y="3854196"/>
            <a:ext cx="256031" cy="274320"/>
          </a:xfrm>
          <a:prstGeom prst="rightArrow">
            <a:avLst/>
          </a:prstGeom>
          <a:solidFill>
            <a:srgbClr val="13294B"/>
          </a:solidFill>
          <a:ln>
            <a:noFill/>
          </a:ln>
        </p:spPr>
        <p:txBody>
          <a:bodyPr rtlCol="0" anchor="ctr"/>
          <a:lstStyle/>
          <a:p>
            <a:pPr algn="ctr"/>
          </a:p>
        </p:txBody>
      </p:sp>
      <p:sp>
        <p:nvSpPr>
          <p:cNvPr id="26" name="Rounded Rectangle 25"/>
          <p:cNvSpPr/>
          <p:nvPr/>
        </p:nvSpPr>
        <p:spPr>
          <a:xfrm>
            <a:off x="9731410" y="2626423"/>
            <a:ext cx="1911644" cy="2729864"/>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7" name="Oval 26"/>
          <p:cNvSpPr/>
          <p:nvPr/>
        </p:nvSpPr>
        <p:spPr>
          <a:xfrm>
            <a:off x="10321472" y="2809303"/>
            <a:ext cx="731520" cy="731520"/>
          </a:xfrm>
          <a:prstGeom prst="ellipse">
            <a:avLst/>
          </a:prstGeom>
          <a:solidFill>
            <a:srgbClr val="5CB8F2"/>
          </a:solidFill>
          <a:ln>
            <a:noFill/>
          </a:ln>
        </p:spPr>
        <p:txBody>
          <a:bodyPr rtlCol="0" anchor="ctr"/>
          <a:lstStyle/>
          <a:p>
            <a:pPr algn="ctr"/>
          </a:p>
        </p:txBody>
      </p:sp>
      <p:pic>
        <p:nvPicPr>
          <p:cNvPr id="28" name="아이콘:eye" descr="eye_13294B_1.6.png"/>
          <p:cNvPicPr>
            <a:picLocks noChangeAspect="1"/>
          </p:cNvPicPr>
          <p:nvPr/>
        </p:nvPicPr>
        <p:blipFill>
          <a:blip r:embed="rId7"/>
          <a:stretch>
            <a:fillRect/>
          </a:stretch>
        </p:blipFill>
        <p:spPr>
          <a:xfrm>
            <a:off x="10475092" y="2962922"/>
            <a:ext cx="424281" cy="424281"/>
          </a:xfrm>
          <a:prstGeom prst="rect">
            <a:avLst/>
          </a:prstGeom>
        </p:spPr>
      </p:pic>
      <p:sp>
        <p:nvSpPr>
          <p:cNvPr id="29" name="TextBox 28"/>
          <p:cNvSpPr txBox="1"/>
          <p:nvPr/>
        </p:nvSpPr>
        <p:spPr>
          <a:xfrm>
            <a:off x="9804562"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결과</a:t>
            </a:r>
          </a:p>
          <a:p>
            <a:pPr algn="ctr">
              <a:lnSpc>
                <a:spcPct val="110000"/>
              </a:lnSpc>
              <a:spcAft>
                <a:spcPts val="400"/>
              </a:spcAft>
            </a:pPr>
            <a:r>
              <a:rPr sz="1250" b="0">
                <a:solidFill>
                  <a:srgbClr val="1F2A3A"/>
                </a:solidFill>
                <a:latin typeface="맑은 고딕"/>
                <a:ea typeface="맑은 고딕"/>
                <a:cs typeface="맑은 고딕"/>
              </a:rPr>
              <a:t>재관측 유온 51.3 ℃</a:t>
            </a:r>
          </a:p>
          <a:p>
            <a:pPr algn="ctr">
              <a:lnSpc>
                <a:spcPct val="110000"/>
              </a:lnSpc>
              <a:spcAft>
                <a:spcPts val="400"/>
              </a:spcAft>
            </a:pPr>
            <a:r>
              <a:rPr sz="1250" b="0">
                <a:solidFill>
                  <a:srgbClr val="1F2A3A"/>
                </a:solidFill>
                <a:latin typeface="맑은 고딕"/>
                <a:ea typeface="맑은 고딕"/>
                <a:cs typeface="맑은 고딕"/>
              </a:rPr>
              <a:t>기준 55 ℃ 미만</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셋 가운데 하나가 빠질 때</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지식이 빠지면 추천안에 근거가 없고, 에이전트가 빠지면 사람이 견주며, 프로세스가 빠지면 실행에 닿지 못한다.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43</a:t>
            </a:r>
          </a:p>
        </p:txBody>
      </p:sp>
      <p:sp>
        <p:nvSpPr>
          <p:cNvPr id="6" name="Rounded Rectangle 5"/>
          <p:cNvSpPr/>
          <p:nvPr/>
        </p:nvSpPr>
        <p:spPr>
          <a:xfrm>
            <a:off x="548640"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04262"/>
            <a:ext cx="731520" cy="731520"/>
          </a:xfrm>
          <a:prstGeom prst="ellipse">
            <a:avLst/>
          </a:prstGeom>
          <a:solidFill>
            <a:srgbClr val="E7F3FD"/>
          </a:solidFill>
          <a:ln>
            <a:noFill/>
          </a:ln>
        </p:spPr>
        <p:txBody>
          <a:bodyPr rtlCol="0" anchor="ctr"/>
          <a:lstStyle/>
          <a:p>
            <a:pPr algn="ctr"/>
          </a:p>
        </p:txBody>
      </p:sp>
      <p:pic>
        <p:nvPicPr>
          <p:cNvPr id="8" name="아이콘:topology-star-3" descr="topology-star-3_13294B_1.6.png"/>
          <p:cNvPicPr>
            <a:picLocks noChangeAspect="1"/>
          </p:cNvPicPr>
          <p:nvPr/>
        </p:nvPicPr>
        <p:blipFill>
          <a:blip r:embed="rId3"/>
          <a:stretch>
            <a:fillRect/>
          </a:stretch>
        </p:blipFill>
        <p:spPr>
          <a:xfrm>
            <a:off x="930859" y="2757881"/>
            <a:ext cx="424281" cy="424281"/>
          </a:xfrm>
          <a:prstGeom prst="rect">
            <a:avLst/>
          </a:prstGeom>
        </p:spPr>
      </p:pic>
      <p:sp>
        <p:nvSpPr>
          <p:cNvPr id="9" name="TextBox 8"/>
          <p:cNvSpPr txBox="1"/>
          <p:nvPr/>
        </p:nvSpPr>
        <p:spPr>
          <a:xfrm>
            <a:off x="713232"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지식이 없을 때</a:t>
            </a:r>
          </a:p>
          <a:p>
            <a:pPr algn="l">
              <a:lnSpc>
                <a:spcPct val="110000"/>
              </a:lnSpc>
              <a:spcAft>
                <a:spcPts val="400"/>
              </a:spcAft>
            </a:pPr>
            <a:r>
              <a:rPr sz="1400" b="0">
                <a:solidFill>
                  <a:srgbClr val="1F2A3A"/>
                </a:solidFill>
                <a:latin typeface="맑은 고딕"/>
                <a:ea typeface="맑은 고딕"/>
                <a:cs typeface="맑은 고딕"/>
              </a:rPr>
              <a:t>• 원인 후보와 조치와 규칙을 읽을 곳이 없다</a:t>
            </a:r>
          </a:p>
          <a:p>
            <a:pPr algn="l">
              <a:lnSpc>
                <a:spcPct val="110000"/>
              </a:lnSpc>
              <a:spcAft>
                <a:spcPts val="400"/>
              </a:spcAft>
            </a:pPr>
            <a:r>
              <a:rPr sz="1400" b="0">
                <a:solidFill>
                  <a:srgbClr val="1F2A3A"/>
                </a:solidFill>
                <a:latin typeface="맑은 고딕"/>
                <a:ea typeface="맑은 고딕"/>
                <a:cs typeface="맑은 고딕"/>
              </a:rPr>
              <a:t>• 추천안이 무엇에 근거했는지 되짚을 수 없다</a:t>
            </a:r>
          </a:p>
        </p:txBody>
      </p:sp>
      <p:sp>
        <p:nvSpPr>
          <p:cNvPr id="10" name="Rounded Rectangle 9"/>
          <p:cNvSpPr/>
          <p:nvPr/>
        </p:nvSpPr>
        <p:spPr>
          <a:xfrm>
            <a:off x="777240" y="5149850"/>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근거</a:t>
            </a:r>
          </a:p>
        </p:txBody>
      </p:sp>
      <p:sp>
        <p:nvSpPr>
          <p:cNvPr id="12" name="Rounded Rectangle 11"/>
          <p:cNvSpPr/>
          <p:nvPr/>
        </p:nvSpPr>
        <p:spPr>
          <a:xfrm>
            <a:off x="4338218"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604262"/>
            <a:ext cx="731520" cy="731520"/>
          </a:xfrm>
          <a:prstGeom prst="ellipse">
            <a:avLst/>
          </a:prstGeom>
          <a:solidFill>
            <a:srgbClr val="E7F3FD"/>
          </a:solidFill>
          <a:ln>
            <a:noFill/>
          </a:ln>
        </p:spPr>
        <p:txBody>
          <a:bodyPr rtlCol="0" anchor="ctr"/>
          <a:lstStyle/>
          <a:p>
            <a:pPr algn="ctr"/>
          </a:p>
        </p:txBody>
      </p:sp>
      <p:pic>
        <p:nvPicPr>
          <p:cNvPr id="14" name="아이콘:robot" descr="robot_13294B_1.6.png"/>
          <p:cNvPicPr>
            <a:picLocks noChangeAspect="1"/>
          </p:cNvPicPr>
          <p:nvPr/>
        </p:nvPicPr>
        <p:blipFill>
          <a:blip r:embed="rId4"/>
          <a:stretch>
            <a:fillRect/>
          </a:stretch>
        </p:blipFill>
        <p:spPr>
          <a:xfrm>
            <a:off x="4720437" y="2757881"/>
            <a:ext cx="424281" cy="424281"/>
          </a:xfrm>
          <a:prstGeom prst="rect">
            <a:avLst/>
          </a:prstGeom>
        </p:spPr>
      </p:pic>
      <p:sp>
        <p:nvSpPr>
          <p:cNvPr id="15" name="TextBox 14"/>
          <p:cNvSpPr txBox="1"/>
          <p:nvPr/>
        </p:nvSpPr>
        <p:spPr>
          <a:xfrm>
            <a:off x="4502810"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에이전트가 없을 때</a:t>
            </a:r>
          </a:p>
          <a:p>
            <a:pPr algn="l">
              <a:lnSpc>
                <a:spcPct val="110000"/>
              </a:lnSpc>
              <a:spcAft>
                <a:spcPts val="400"/>
              </a:spcAft>
            </a:pPr>
            <a:r>
              <a:rPr sz="1400" b="0">
                <a:solidFill>
                  <a:srgbClr val="1F2A3A"/>
                </a:solidFill>
                <a:latin typeface="맑은 고딕"/>
                <a:ea typeface="맑은 고딕"/>
                <a:cs typeface="맑은 고딕"/>
              </a:rPr>
              <a:t>경보가 올 때마다 사람이 지식과 값을 찾아 후보를 견주어야 한다</a:t>
            </a:r>
          </a:p>
        </p:txBody>
      </p:sp>
      <p:sp>
        <p:nvSpPr>
          <p:cNvPr id="16" name="Rounded Rectangle 15"/>
          <p:cNvSpPr/>
          <p:nvPr/>
        </p:nvSpPr>
        <p:spPr>
          <a:xfrm>
            <a:off x="4566818" y="5149850"/>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판단</a:t>
            </a:r>
          </a:p>
        </p:txBody>
      </p:sp>
      <p:sp>
        <p:nvSpPr>
          <p:cNvPr id="18" name="Rounded Rectangle 17"/>
          <p:cNvSpPr/>
          <p:nvPr/>
        </p:nvSpPr>
        <p:spPr>
          <a:xfrm>
            <a:off x="8127796" y="2403094"/>
            <a:ext cx="3515258" cy="317652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604262"/>
            <a:ext cx="731520" cy="731520"/>
          </a:xfrm>
          <a:prstGeom prst="ellipse">
            <a:avLst/>
          </a:prstGeom>
          <a:solidFill>
            <a:srgbClr val="5CB8F2"/>
          </a:solidFill>
          <a:ln>
            <a:noFill/>
          </a:ln>
        </p:spPr>
        <p:txBody>
          <a:bodyPr rtlCol="0" anchor="ctr"/>
          <a:lstStyle/>
          <a:p>
            <a:pPr algn="ctr"/>
          </a:p>
        </p:txBody>
      </p:sp>
      <p:pic>
        <p:nvPicPr>
          <p:cNvPr id="20" name="아이콘:route" descr="route_13294B_1.6.png"/>
          <p:cNvPicPr>
            <a:picLocks noChangeAspect="1"/>
          </p:cNvPicPr>
          <p:nvPr/>
        </p:nvPicPr>
        <p:blipFill>
          <a:blip r:embed="rId5"/>
          <a:stretch>
            <a:fillRect/>
          </a:stretch>
        </p:blipFill>
        <p:spPr>
          <a:xfrm>
            <a:off x="8510016" y="2757881"/>
            <a:ext cx="424281" cy="424281"/>
          </a:xfrm>
          <a:prstGeom prst="rect">
            <a:avLst/>
          </a:prstGeom>
        </p:spPr>
      </p:pic>
      <p:sp>
        <p:nvSpPr>
          <p:cNvPr id="21" name="TextBox 20"/>
          <p:cNvSpPr txBox="1"/>
          <p:nvPr/>
        </p:nvSpPr>
        <p:spPr>
          <a:xfrm>
            <a:off x="8292388"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프로세스가 없을 때</a:t>
            </a:r>
          </a:p>
          <a:p>
            <a:pPr algn="l">
              <a:lnSpc>
                <a:spcPct val="110000"/>
              </a:lnSpc>
              <a:spcAft>
                <a:spcPts val="400"/>
              </a:spcAft>
            </a:pPr>
            <a:r>
              <a:rPr sz="1400" b="0">
                <a:solidFill>
                  <a:srgbClr val="1F2A3A"/>
                </a:solidFill>
                <a:latin typeface="맑은 고딕"/>
                <a:ea typeface="맑은 고딕"/>
                <a:cs typeface="맑은 고딕"/>
              </a:rPr>
              <a:t>• 추천이 나와도 누가 승인하고 누가 실행할지가 정해져 있지 않다</a:t>
            </a:r>
          </a:p>
          <a:p>
            <a:pPr algn="l">
              <a:lnSpc>
                <a:spcPct val="110000"/>
              </a:lnSpc>
              <a:spcAft>
                <a:spcPts val="400"/>
              </a:spcAft>
            </a:pPr>
            <a:r>
              <a:rPr sz="1400" b="0">
                <a:solidFill>
                  <a:srgbClr val="1F2A3A"/>
                </a:solidFill>
                <a:latin typeface="맑은 고딕"/>
                <a:ea typeface="맑은 고딕"/>
                <a:cs typeface="맑은 고딕"/>
              </a:rPr>
              <a:t>• 진행과 결과가 한곳에 남지 않는다</a:t>
            </a:r>
          </a:p>
        </p:txBody>
      </p:sp>
      <p:sp>
        <p:nvSpPr>
          <p:cNvPr id="22" name="Rounded Rectangle 21"/>
          <p:cNvSpPr/>
          <p:nvPr/>
        </p:nvSpPr>
        <p:spPr>
          <a:xfrm>
            <a:off x="8356396" y="5149850"/>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완결</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AI가 맡은 일과 사람이 맡은 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업무에서 AI는 읽고 견주어 제안했고, 사람은 프로세스를 설계하고 추천안을 승인하거나 거절했다.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44</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robot" descr="robot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AI 에이전트</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지식 그래프와 업무 데이터를 읽는다</a:t>
            </a:r>
          </a:p>
          <a:p>
            <a:pPr algn="l">
              <a:lnSpc>
                <a:spcPct val="110000"/>
              </a:lnSpc>
              <a:spcAft>
                <a:spcPts val="600"/>
              </a:spcAft>
            </a:pPr>
            <a:r>
              <a:rPr sz="1450" b="0">
                <a:solidFill>
                  <a:srgbClr val="1F2A3A"/>
                </a:solidFill>
                <a:latin typeface="맑은 고딕"/>
                <a:ea typeface="맑은 고딕"/>
                <a:cs typeface="맑은 고딕"/>
              </a:rPr>
              <a:t>• 후보를 견주어 추천과 대안을 낸다</a:t>
            </a:r>
          </a:p>
          <a:p>
            <a:pPr algn="l">
              <a:lnSpc>
                <a:spcPct val="110000"/>
              </a:lnSpc>
              <a:spcAft>
                <a:spcPts val="600"/>
              </a:spcAft>
            </a:pPr>
            <a:r>
              <a:rPr sz="1450" b="0">
                <a:solidFill>
                  <a:srgbClr val="1F2A3A"/>
                </a:solidFill>
                <a:latin typeface="맑은 고딕"/>
                <a:ea typeface="맑은 고딕"/>
                <a:cs typeface="맑은 고딕"/>
              </a:rPr>
              <a:t>• 설비 명령과 업무 처리는 하지 않는다</a:t>
            </a:r>
          </a:p>
        </p:txBody>
      </p:sp>
      <p:sp>
        <p:nvSpPr>
          <p:cNvPr id="11" name="Rounded Rectangle 10"/>
          <p:cNvSpPr/>
          <p:nvPr/>
        </p:nvSpPr>
        <p:spPr>
          <a:xfrm>
            <a:off x="868680" y="4945570"/>
            <a:ext cx="9753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9753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제안까지</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user-check" descr="user-check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사람</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순서, 승인 역할, 예외 경로를 프로세스로 정한다</a:t>
            </a:r>
          </a:p>
          <a:p>
            <a:pPr algn="l">
              <a:lnSpc>
                <a:spcPct val="110000"/>
              </a:lnSpc>
              <a:spcAft>
                <a:spcPts val="600"/>
              </a:spcAft>
            </a:pPr>
            <a:r>
              <a:rPr sz="1450" b="0">
                <a:solidFill>
                  <a:srgbClr val="1F2A3A"/>
                </a:solidFill>
                <a:latin typeface="맑은 고딕"/>
                <a:ea typeface="맑은 고딕"/>
                <a:cs typeface="맑은 고딕"/>
              </a:rPr>
              <a:t>• 추천안을 승인하거나 거절한다</a:t>
            </a:r>
          </a:p>
          <a:p>
            <a:pPr algn="l">
              <a:lnSpc>
                <a:spcPct val="110000"/>
              </a:lnSpc>
              <a:spcAft>
                <a:spcPts val="600"/>
              </a:spcAft>
            </a:pPr>
            <a:r>
              <a:rPr sz="1450" b="0">
                <a:solidFill>
                  <a:srgbClr val="1F2A3A"/>
                </a:solidFill>
                <a:latin typeface="맑은 고딕"/>
                <a:ea typeface="맑은 고딕"/>
                <a:cs typeface="맑은 고딕"/>
              </a:rPr>
              <a:t>• 기록과 지표를 읽어 프로세스를 고친다</a:t>
            </a:r>
          </a:p>
        </p:txBody>
      </p:sp>
      <p:sp>
        <p:nvSpPr>
          <p:cNvPr id="18" name="Rounded Rectangle 17"/>
          <p:cNvSpPr/>
          <p:nvPr/>
        </p:nvSpPr>
        <p:spPr>
          <a:xfrm>
            <a:off x="6781647" y="4945570"/>
            <a:ext cx="176783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76783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설계 · 결정 · 개선</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실행 기록이 다음 설계의 입력이 된다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처리 건의 기록에서 지표를 얻어 고칠 자리를 찾고, 고친 정의를 새 판본으로 배포하면 다음 경보부터 적용된다.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45</a:t>
            </a:r>
          </a:p>
        </p:txBody>
      </p:sp>
      <p:sp>
        <p:nvSpPr>
          <p:cNvPr id="6" name="Rounded Rectangle 5"/>
          <p:cNvSpPr/>
          <p:nvPr/>
        </p:nvSpPr>
        <p:spPr>
          <a:xfrm>
            <a:off x="548640" y="2707767"/>
            <a:ext cx="2485567" cy="2567177"/>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890647"/>
            <a:ext cx="731520" cy="731520"/>
          </a:xfrm>
          <a:prstGeom prst="ellipse">
            <a:avLst/>
          </a:prstGeom>
          <a:solidFill>
            <a:srgbClr val="FFFFFF"/>
          </a:solidFill>
          <a:ln>
            <a:noFill/>
          </a:ln>
        </p:spPr>
        <p:txBody>
          <a:bodyPr rtlCol="0" anchor="ctr"/>
          <a:lstStyle/>
          <a:p>
            <a:pPr algn="ctr"/>
          </a:p>
        </p:txBody>
      </p:sp>
      <p:pic>
        <p:nvPicPr>
          <p:cNvPr id="8" name="아이콘:player-play" descr="player-play_13294B_1.6.png"/>
          <p:cNvPicPr>
            <a:picLocks noChangeAspect="1"/>
          </p:cNvPicPr>
          <p:nvPr/>
        </p:nvPicPr>
        <p:blipFill>
          <a:blip r:embed="rId3"/>
          <a:stretch>
            <a:fillRect/>
          </a:stretch>
        </p:blipFill>
        <p:spPr>
          <a:xfrm>
            <a:off x="1579283" y="3044266"/>
            <a:ext cx="424281" cy="424281"/>
          </a:xfrm>
          <a:prstGeom prst="rect">
            <a:avLst/>
          </a:prstGeom>
        </p:spPr>
      </p:pic>
      <p:sp>
        <p:nvSpPr>
          <p:cNvPr id="9" name="TextBox 8"/>
          <p:cNvSpPr txBox="1"/>
          <p:nvPr/>
        </p:nvSpPr>
        <p:spPr>
          <a:xfrm>
            <a:off x="621792" y="3695319"/>
            <a:ext cx="2339263" cy="1506473"/>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실행</a:t>
            </a:r>
          </a:p>
          <a:p>
            <a:pPr algn="ctr">
              <a:lnSpc>
                <a:spcPct val="110000"/>
              </a:lnSpc>
              <a:spcAft>
                <a:spcPts val="400"/>
              </a:spcAft>
            </a:pPr>
            <a:r>
              <a:rPr sz="1350" b="0">
                <a:solidFill>
                  <a:srgbClr val="1F2A3A"/>
                </a:solidFill>
                <a:latin typeface="맑은 고딕"/>
                <a:ea typeface="맑은 고딕"/>
                <a:cs typeface="맑은 고딕"/>
              </a:rPr>
              <a:t>경보가 처리 건을 열고</a:t>
            </a:r>
          </a:p>
          <a:p>
            <a:pPr algn="ctr">
              <a:lnSpc>
                <a:spcPct val="110000"/>
              </a:lnSpc>
              <a:spcAft>
                <a:spcPts val="400"/>
              </a:spcAft>
            </a:pPr>
            <a:r>
              <a:rPr sz="1350" b="0">
                <a:solidFill>
                  <a:srgbClr val="1F2A3A"/>
                </a:solidFill>
                <a:latin typeface="맑은 고딕"/>
                <a:ea typeface="맑은 고딕"/>
                <a:cs typeface="맑은 고딕"/>
              </a:rPr>
              <a:t>끝 이벤트에 닿는다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707767"/>
            <a:ext cx="2485567" cy="2567177"/>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890647"/>
            <a:ext cx="731520" cy="731520"/>
          </a:xfrm>
          <a:prstGeom prst="ellipse">
            <a:avLst/>
          </a:prstGeom>
          <a:solidFill>
            <a:srgbClr val="FFFFFF"/>
          </a:solidFill>
          <a:ln>
            <a:noFill/>
          </a:ln>
        </p:spPr>
        <p:txBody>
          <a:bodyPr rtlCol="0" anchor="ctr"/>
          <a:lstStyle/>
          <a:p>
            <a:pPr algn="ctr"/>
          </a:p>
        </p:txBody>
      </p:sp>
      <p:pic>
        <p:nvPicPr>
          <p:cNvPr id="13" name="아이콘:history" descr="history_13294B_1.6.png"/>
          <p:cNvPicPr>
            <a:picLocks noChangeAspect="1"/>
          </p:cNvPicPr>
          <p:nvPr/>
        </p:nvPicPr>
        <p:blipFill>
          <a:blip r:embed="rId4"/>
          <a:stretch>
            <a:fillRect/>
          </a:stretch>
        </p:blipFill>
        <p:spPr>
          <a:xfrm>
            <a:off x="4448898" y="3044266"/>
            <a:ext cx="424281" cy="424281"/>
          </a:xfrm>
          <a:prstGeom prst="rect">
            <a:avLst/>
          </a:prstGeom>
        </p:spPr>
      </p:pic>
      <p:sp>
        <p:nvSpPr>
          <p:cNvPr id="14" name="TextBox 13"/>
          <p:cNvSpPr txBox="1"/>
          <p:nvPr/>
        </p:nvSpPr>
        <p:spPr>
          <a:xfrm>
            <a:off x="3491407" y="3695319"/>
            <a:ext cx="2339263" cy="1506473"/>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기록</a:t>
            </a:r>
          </a:p>
          <a:p>
            <a:pPr algn="ctr">
              <a:lnSpc>
                <a:spcPct val="110000"/>
              </a:lnSpc>
              <a:spcAft>
                <a:spcPts val="400"/>
              </a:spcAft>
            </a:pPr>
            <a:r>
              <a:rPr sz="1350" b="0">
                <a:solidFill>
                  <a:srgbClr val="1F2A3A"/>
                </a:solidFill>
                <a:latin typeface="맑은 고딕"/>
                <a:ea typeface="맑은 고딕"/>
                <a:cs typeface="맑은 고딕"/>
              </a:rPr>
              <a:t>단계의 시각, 승인,</a:t>
            </a:r>
          </a:p>
          <a:p>
            <a:pPr algn="ctr">
              <a:lnSpc>
                <a:spcPct val="110000"/>
              </a:lnSpc>
              <a:spcAft>
                <a:spcPts val="400"/>
              </a:spcAft>
            </a:pPr>
            <a:r>
              <a:rPr sz="1350" b="0">
                <a:solidFill>
                  <a:srgbClr val="1F2A3A"/>
                </a:solidFill>
                <a:latin typeface="맑은 고딕"/>
                <a:ea typeface="맑은 고딕"/>
                <a:cs typeface="맑은 고딕"/>
              </a:rPr>
              <a:t>결과 보고가 남는다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707767"/>
            <a:ext cx="2485567" cy="2567177"/>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890647"/>
            <a:ext cx="731520" cy="731520"/>
          </a:xfrm>
          <a:prstGeom prst="ellipse">
            <a:avLst/>
          </a:prstGeom>
          <a:solidFill>
            <a:srgbClr val="FFFFFF"/>
          </a:solidFill>
          <a:ln>
            <a:noFill/>
          </a:ln>
        </p:spPr>
        <p:txBody>
          <a:bodyPr rtlCol="0" anchor="ctr"/>
          <a:lstStyle/>
          <a:p>
            <a:pPr algn="ctr"/>
          </a:p>
        </p:txBody>
      </p:sp>
      <p:pic>
        <p:nvPicPr>
          <p:cNvPr id="18" name="아이콘:chart-bar" descr="chart-bar_13294B_1.6.png"/>
          <p:cNvPicPr>
            <a:picLocks noChangeAspect="1"/>
          </p:cNvPicPr>
          <p:nvPr/>
        </p:nvPicPr>
        <p:blipFill>
          <a:blip r:embed="rId5"/>
          <a:stretch>
            <a:fillRect/>
          </a:stretch>
        </p:blipFill>
        <p:spPr>
          <a:xfrm>
            <a:off x="7318514" y="3044266"/>
            <a:ext cx="424281" cy="424281"/>
          </a:xfrm>
          <a:prstGeom prst="rect">
            <a:avLst/>
          </a:prstGeom>
        </p:spPr>
      </p:pic>
      <p:sp>
        <p:nvSpPr>
          <p:cNvPr id="19" name="TextBox 18"/>
          <p:cNvSpPr txBox="1"/>
          <p:nvPr/>
        </p:nvSpPr>
        <p:spPr>
          <a:xfrm>
            <a:off x="6361023" y="3695319"/>
            <a:ext cx="2339263" cy="1506473"/>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지표</a:t>
            </a:r>
          </a:p>
          <a:p>
            <a:pPr algn="ctr">
              <a:lnSpc>
                <a:spcPct val="110000"/>
              </a:lnSpc>
              <a:spcAft>
                <a:spcPts val="400"/>
              </a:spcAft>
            </a:pPr>
            <a:r>
              <a:rPr sz="1350" b="0">
                <a:solidFill>
                  <a:srgbClr val="1F2A3A"/>
                </a:solidFill>
                <a:latin typeface="맑은 고딕"/>
                <a:ea typeface="맑은 고딕"/>
                <a:cs typeface="맑은 고딕"/>
              </a:rPr>
              <a:t>걸린 시간과 거절의 비율</a:t>
            </a:r>
          </a:p>
          <a:p>
            <a:pPr algn="ctr">
              <a:lnSpc>
                <a:spcPct val="110000"/>
              </a:lnSpc>
              <a:spcAft>
                <a:spcPts val="400"/>
              </a:spcAft>
            </a:pPr>
            <a:r>
              <a:rPr sz="1350" b="0">
                <a:solidFill>
                  <a:srgbClr val="1F2A3A"/>
                </a:solidFill>
                <a:latin typeface="맑은 고딕"/>
                <a:ea typeface="맑은 고딕"/>
                <a:cs typeface="맑은 고딕"/>
              </a:rPr>
              <a:t>같은 수로 요약한다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707767"/>
            <a:ext cx="2485567" cy="2567177"/>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2" name="Oval 21"/>
          <p:cNvSpPr/>
          <p:nvPr/>
        </p:nvSpPr>
        <p:spPr>
          <a:xfrm>
            <a:off x="10034511" y="2890647"/>
            <a:ext cx="731520" cy="731520"/>
          </a:xfrm>
          <a:prstGeom prst="ellipse">
            <a:avLst/>
          </a:prstGeom>
          <a:solidFill>
            <a:srgbClr val="5CB8F2"/>
          </a:solidFill>
          <a:ln>
            <a:noFill/>
          </a:ln>
        </p:spPr>
        <p:txBody>
          <a:bodyPr rtlCol="0" anchor="ctr"/>
          <a:lstStyle/>
          <a:p>
            <a:pPr algn="ctr"/>
          </a:p>
        </p:txBody>
      </p:sp>
      <p:pic>
        <p:nvPicPr>
          <p:cNvPr id="23" name="아이콘:versions" descr="versions_13294B_1.6.png"/>
          <p:cNvPicPr>
            <a:picLocks noChangeAspect="1"/>
          </p:cNvPicPr>
          <p:nvPr/>
        </p:nvPicPr>
        <p:blipFill>
          <a:blip r:embed="rId6"/>
          <a:stretch>
            <a:fillRect/>
          </a:stretch>
        </p:blipFill>
        <p:spPr>
          <a:xfrm>
            <a:off x="10188130" y="3044266"/>
            <a:ext cx="424281" cy="424281"/>
          </a:xfrm>
          <a:prstGeom prst="rect">
            <a:avLst/>
          </a:prstGeom>
        </p:spPr>
      </p:pic>
      <p:sp>
        <p:nvSpPr>
          <p:cNvPr id="24" name="TextBox 23"/>
          <p:cNvSpPr txBox="1"/>
          <p:nvPr/>
        </p:nvSpPr>
        <p:spPr>
          <a:xfrm>
            <a:off x="9230639" y="3695319"/>
            <a:ext cx="2339263" cy="1506473"/>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개선</a:t>
            </a:r>
          </a:p>
          <a:p>
            <a:pPr algn="ctr">
              <a:lnSpc>
                <a:spcPct val="110000"/>
              </a:lnSpc>
              <a:spcAft>
                <a:spcPts val="400"/>
              </a:spcAft>
            </a:pPr>
            <a:r>
              <a:rPr sz="1350" b="0">
                <a:solidFill>
                  <a:srgbClr val="1F2A3A"/>
                </a:solidFill>
                <a:latin typeface="맑은 고딕"/>
                <a:ea typeface="맑은 고딕"/>
                <a:cs typeface="맑은 고딕"/>
              </a:rPr>
              <a:t>정의를 고쳐</a:t>
            </a:r>
          </a:p>
          <a:p>
            <a:pPr algn="ctr">
              <a:lnSpc>
                <a:spcPct val="110000"/>
              </a:lnSpc>
              <a:spcAft>
                <a:spcPts val="400"/>
              </a:spcAft>
            </a:pPr>
            <a:r>
              <a:rPr sz="1350" b="0">
                <a:solidFill>
                  <a:srgbClr val="1F2A3A"/>
                </a:solidFill>
                <a:latin typeface="맑은 고딕"/>
                <a:ea typeface="맑은 고딕"/>
                <a:cs typeface="맑은 고딕"/>
              </a:rPr>
              <a:t>새 판본으로 배포한다</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프로세스 영역의 용어가 이어지는 모습</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경보가 배포된 프로세스 정의에서 처리 건을 열고, 처리 건은 단계와 프로세스 변수와 결과 보고를 기록으로 남긴다.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46</a:t>
            </a:r>
          </a:p>
        </p:txBody>
      </p:sp>
      <p:sp>
        <p:nvSpPr>
          <p:cNvPr id="6" name="Oval 5"/>
          <p:cNvSpPr/>
          <p:nvPr/>
        </p:nvSpPr>
        <p:spPr>
          <a:xfrm>
            <a:off x="548639" y="1790852"/>
            <a:ext cx="1463040" cy="1463040"/>
          </a:xfrm>
          <a:prstGeom prst="ellipse">
            <a:avLst/>
          </a:prstGeom>
          <a:solidFill>
            <a:srgbClr val="E7F3FD"/>
          </a:solidFill>
          <a:ln w="25400">
            <a:solidFill>
              <a:srgbClr val="5CB8F2"/>
            </a:solidFill>
          </a:ln>
        </p:spPr>
        <p:txBody>
          <a:bodyPr rtlCol="0" anchor="ctr"/>
          <a:lstStyle/>
          <a:p>
            <a:pPr algn="ctr"/>
          </a:p>
        </p:txBody>
      </p:sp>
      <p:sp>
        <p:nvSpPr>
          <p:cNvPr id="7" name="TextBox 6"/>
          <p:cNvSpPr txBox="1"/>
          <p:nvPr/>
        </p:nvSpPr>
        <p:spPr>
          <a:xfrm>
            <a:off x="651052" y="2068830"/>
            <a:ext cx="1258214" cy="907084"/>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경보</a:t>
            </a:r>
          </a:p>
          <a:p>
            <a:pPr algn="ctr">
              <a:lnSpc>
                <a:spcPct val="110000"/>
              </a:lnSpc>
            </a:pPr>
            <a:r>
              <a:rPr sz="1100" b="0">
                <a:solidFill>
                  <a:srgbClr val="556175"/>
                </a:solidFill>
                <a:latin typeface="맑은 고딕"/>
                <a:ea typeface="맑은 고딕"/>
                <a:cs typeface="맑은 고딕"/>
              </a:rPr>
              <a:t>시작 이벤트</a:t>
            </a:r>
          </a:p>
        </p:txBody>
      </p:sp>
      <p:sp>
        <p:nvSpPr>
          <p:cNvPr id="8" name="Oval 7"/>
          <p:cNvSpPr/>
          <p:nvPr/>
        </p:nvSpPr>
        <p:spPr>
          <a:xfrm>
            <a:off x="3823307" y="4728819"/>
            <a:ext cx="1463040" cy="1463040"/>
          </a:xfrm>
          <a:prstGeom prst="ellipse">
            <a:avLst/>
          </a:prstGeom>
          <a:solidFill>
            <a:srgbClr val="E7F3FD"/>
          </a:solidFill>
          <a:ln w="25400">
            <a:solidFill>
              <a:srgbClr val="5CB8F2"/>
            </a:solidFill>
          </a:ln>
        </p:spPr>
        <p:txBody>
          <a:bodyPr rtlCol="0" anchor="ctr"/>
          <a:lstStyle/>
          <a:p>
            <a:pPr algn="ctr"/>
          </a:p>
        </p:txBody>
      </p:sp>
      <p:sp>
        <p:nvSpPr>
          <p:cNvPr id="9" name="TextBox 8"/>
          <p:cNvSpPr txBox="1"/>
          <p:nvPr/>
        </p:nvSpPr>
        <p:spPr>
          <a:xfrm>
            <a:off x="3925720" y="5006797"/>
            <a:ext cx="1258214" cy="907084"/>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프로세스 정의</a:t>
            </a:r>
          </a:p>
          <a:p>
            <a:pPr algn="ctr">
              <a:lnSpc>
                <a:spcPct val="110000"/>
              </a:lnSpc>
            </a:pPr>
            <a:r>
              <a:rPr sz="1100" b="0">
                <a:solidFill>
                  <a:srgbClr val="556175"/>
                </a:solidFill>
                <a:latin typeface="맑은 고딕"/>
                <a:ea typeface="맑은 고딕"/>
                <a:cs typeface="맑은 고딕"/>
              </a:rPr>
              <a:t>BPMN 그림과 연결 값</a:t>
            </a:r>
          </a:p>
        </p:txBody>
      </p:sp>
      <p:sp>
        <p:nvSpPr>
          <p:cNvPr id="10" name="Oval 9"/>
          <p:cNvSpPr/>
          <p:nvPr/>
        </p:nvSpPr>
        <p:spPr>
          <a:xfrm>
            <a:off x="3823307" y="1790852"/>
            <a:ext cx="1463040" cy="1463040"/>
          </a:xfrm>
          <a:prstGeom prst="ellipse">
            <a:avLst/>
          </a:prstGeom>
          <a:solidFill>
            <a:srgbClr val="5CB8F2"/>
          </a:solidFill>
          <a:ln w="25400">
            <a:solidFill>
              <a:srgbClr val="13294B"/>
            </a:solidFill>
          </a:ln>
        </p:spPr>
        <p:txBody>
          <a:bodyPr rtlCol="0" anchor="ctr"/>
          <a:lstStyle/>
          <a:p>
            <a:pPr algn="ctr"/>
          </a:p>
        </p:txBody>
      </p:sp>
      <p:sp>
        <p:nvSpPr>
          <p:cNvPr id="11" name="TextBox 10"/>
          <p:cNvSpPr txBox="1"/>
          <p:nvPr/>
        </p:nvSpPr>
        <p:spPr>
          <a:xfrm>
            <a:off x="3925720" y="2068830"/>
            <a:ext cx="1258214" cy="907084"/>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처리 건</a:t>
            </a:r>
          </a:p>
          <a:p>
            <a:pPr algn="ctr">
              <a:lnSpc>
                <a:spcPct val="110000"/>
              </a:lnSpc>
            </a:pPr>
            <a:r>
              <a:rPr sz="1100" b="0">
                <a:solidFill>
                  <a:srgbClr val="556175"/>
                </a:solidFill>
                <a:latin typeface="맑은 고딕"/>
                <a:ea typeface="맑은 고딕"/>
                <a:cs typeface="맑은 고딕"/>
              </a:rPr>
              <a:t>프로세스 인스턴스</a:t>
            </a:r>
          </a:p>
        </p:txBody>
      </p:sp>
      <p:sp>
        <p:nvSpPr>
          <p:cNvPr id="12" name="Oval 11"/>
          <p:cNvSpPr/>
          <p:nvPr/>
        </p:nvSpPr>
        <p:spPr>
          <a:xfrm>
            <a:off x="7097975" y="1790852"/>
            <a:ext cx="1463040" cy="1463040"/>
          </a:xfrm>
          <a:prstGeom prst="ellipse">
            <a:avLst/>
          </a:prstGeom>
          <a:solidFill>
            <a:srgbClr val="E7F3FD"/>
          </a:solidFill>
          <a:ln w="25400">
            <a:solidFill>
              <a:srgbClr val="5CB8F2"/>
            </a:solidFill>
          </a:ln>
        </p:spPr>
        <p:txBody>
          <a:bodyPr rtlCol="0" anchor="ctr"/>
          <a:lstStyle/>
          <a:p>
            <a:pPr algn="ctr"/>
          </a:p>
        </p:txBody>
      </p:sp>
      <p:sp>
        <p:nvSpPr>
          <p:cNvPr id="13" name="TextBox 12"/>
          <p:cNvSpPr txBox="1"/>
          <p:nvPr/>
        </p:nvSpPr>
        <p:spPr>
          <a:xfrm>
            <a:off x="7200387" y="2068830"/>
            <a:ext cx="1258214" cy="907084"/>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단계</a:t>
            </a:r>
          </a:p>
          <a:p>
            <a:pPr algn="ctr">
              <a:lnSpc>
                <a:spcPct val="110000"/>
              </a:lnSpc>
            </a:pPr>
            <a:r>
              <a:rPr sz="1100" b="0">
                <a:solidFill>
                  <a:srgbClr val="556175"/>
                </a:solidFill>
                <a:latin typeface="맑은 고딕"/>
                <a:ea typeface="맑은 고딕"/>
                <a:cs typeface="맑은 고딕"/>
              </a:rPr>
              <a:t>작업의 실행</a:t>
            </a:r>
          </a:p>
        </p:txBody>
      </p:sp>
      <p:sp>
        <p:nvSpPr>
          <p:cNvPr id="14" name="Oval 13"/>
          <p:cNvSpPr/>
          <p:nvPr/>
        </p:nvSpPr>
        <p:spPr>
          <a:xfrm>
            <a:off x="7097975" y="4728819"/>
            <a:ext cx="1463040" cy="1463040"/>
          </a:xfrm>
          <a:prstGeom prst="ellipse">
            <a:avLst/>
          </a:prstGeom>
          <a:solidFill>
            <a:srgbClr val="E7F3FD"/>
          </a:solidFill>
          <a:ln w="25400">
            <a:solidFill>
              <a:srgbClr val="5CB8F2"/>
            </a:solidFill>
          </a:ln>
        </p:spPr>
        <p:txBody>
          <a:bodyPr rtlCol="0" anchor="ctr"/>
          <a:lstStyle/>
          <a:p>
            <a:pPr algn="ctr"/>
          </a:p>
        </p:txBody>
      </p:sp>
      <p:sp>
        <p:nvSpPr>
          <p:cNvPr id="15" name="TextBox 14"/>
          <p:cNvSpPr txBox="1"/>
          <p:nvPr/>
        </p:nvSpPr>
        <p:spPr>
          <a:xfrm>
            <a:off x="7200387" y="5006797"/>
            <a:ext cx="1258214" cy="907084"/>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프로세스 변수</a:t>
            </a:r>
          </a:p>
          <a:p>
            <a:pPr algn="ctr">
              <a:lnSpc>
                <a:spcPct val="110000"/>
              </a:lnSpc>
            </a:pPr>
            <a:r>
              <a:rPr sz="1100" b="0">
                <a:solidFill>
                  <a:srgbClr val="556175"/>
                </a:solidFill>
                <a:latin typeface="맑은 고딕"/>
                <a:ea typeface="맑은 고딕"/>
                <a:cs typeface="맑은 고딕"/>
              </a:rPr>
              <a:t>작업의 출력</a:t>
            </a:r>
          </a:p>
        </p:txBody>
      </p:sp>
      <p:sp>
        <p:nvSpPr>
          <p:cNvPr id="16" name="Oval 15"/>
          <p:cNvSpPr/>
          <p:nvPr/>
        </p:nvSpPr>
        <p:spPr>
          <a:xfrm>
            <a:off x="10180015" y="1790852"/>
            <a:ext cx="1463040" cy="1463040"/>
          </a:xfrm>
          <a:prstGeom prst="ellipse">
            <a:avLst/>
          </a:prstGeom>
          <a:solidFill>
            <a:srgbClr val="E7F3FD"/>
          </a:solidFill>
          <a:ln w="25400">
            <a:solidFill>
              <a:srgbClr val="5CB8F2"/>
            </a:solidFill>
          </a:ln>
        </p:spPr>
        <p:txBody>
          <a:bodyPr rtlCol="0" anchor="ctr"/>
          <a:lstStyle/>
          <a:p>
            <a:pPr algn="ctr"/>
          </a:p>
        </p:txBody>
      </p:sp>
      <p:sp>
        <p:nvSpPr>
          <p:cNvPr id="17" name="TextBox 16"/>
          <p:cNvSpPr txBox="1"/>
          <p:nvPr/>
        </p:nvSpPr>
        <p:spPr>
          <a:xfrm>
            <a:off x="10282428" y="2068830"/>
            <a:ext cx="1258214" cy="907084"/>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결과 보고</a:t>
            </a:r>
          </a:p>
          <a:p>
            <a:pPr algn="ctr">
              <a:lnSpc>
                <a:spcPct val="110000"/>
              </a:lnSpc>
            </a:pPr>
            <a:r>
              <a:rPr sz="1100" b="0">
                <a:solidFill>
                  <a:srgbClr val="556175"/>
                </a:solidFill>
                <a:latin typeface="맑은 고딕"/>
                <a:ea typeface="맑은 고딕"/>
                <a:cs typeface="맑은 고딕"/>
              </a:rPr>
              <a:t>종료 기록</a:t>
            </a:r>
          </a:p>
        </p:txBody>
      </p:sp>
      <p:cxnSp>
        <p:nvCxnSpPr>
          <p:cNvPr id="18" name="Connector 17"/>
          <p:cNvCxnSpPr/>
          <p:nvPr/>
        </p:nvCxnSpPr>
        <p:spPr>
          <a:xfrm>
            <a:off x="2057400" y="2522372"/>
            <a:ext cx="1692755" cy="0"/>
          </a:xfrm>
          <a:prstGeom prst="line">
            <a:avLst/>
          </a:prstGeom>
          <a:ln w="28575">
            <a:solidFill>
              <a:srgbClr val="13294B"/>
            </a:solidFill>
            <a:tailEnd type="triangle" w="med" len="med"/>
          </a:ln>
        </p:spPr>
      </p:cxnSp>
      <p:sp>
        <p:nvSpPr>
          <p:cNvPr id="19" name="Rounded Rectangle 18"/>
          <p:cNvSpPr/>
          <p:nvPr/>
        </p:nvSpPr>
        <p:spPr>
          <a:xfrm>
            <a:off x="2620567" y="2156612"/>
            <a:ext cx="566420"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0" name="TextBox 19"/>
          <p:cNvSpPr txBox="1"/>
          <p:nvPr/>
        </p:nvSpPr>
        <p:spPr>
          <a:xfrm>
            <a:off x="2620567" y="2156612"/>
            <a:ext cx="566420"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연다</a:t>
            </a:r>
          </a:p>
        </p:txBody>
      </p:sp>
      <p:cxnSp>
        <p:nvCxnSpPr>
          <p:cNvPr id="21" name="Connector 20"/>
          <p:cNvCxnSpPr/>
          <p:nvPr/>
        </p:nvCxnSpPr>
        <p:spPr>
          <a:xfrm flipV="1">
            <a:off x="4554827" y="3327044"/>
            <a:ext cx="0" cy="1356055"/>
          </a:xfrm>
          <a:prstGeom prst="line">
            <a:avLst/>
          </a:prstGeom>
          <a:ln w="28575">
            <a:solidFill>
              <a:srgbClr val="13294B"/>
            </a:solidFill>
            <a:tailEnd type="triangle" w="med" len="med"/>
          </a:ln>
        </p:spPr>
      </p:cxnSp>
      <p:sp>
        <p:nvSpPr>
          <p:cNvPr id="22" name="Rounded Rectangle 21"/>
          <p:cNvSpPr/>
          <p:nvPr/>
        </p:nvSpPr>
        <p:spPr>
          <a:xfrm>
            <a:off x="4646267" y="3858768"/>
            <a:ext cx="1486535"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3" name="TextBox 22"/>
          <p:cNvSpPr txBox="1"/>
          <p:nvPr/>
        </p:nvSpPr>
        <p:spPr>
          <a:xfrm>
            <a:off x="4646267" y="3858768"/>
            <a:ext cx="1486535"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인스턴스를 만든다</a:t>
            </a:r>
          </a:p>
        </p:txBody>
      </p:sp>
      <p:cxnSp>
        <p:nvCxnSpPr>
          <p:cNvPr id="24" name="Connector 23"/>
          <p:cNvCxnSpPr/>
          <p:nvPr/>
        </p:nvCxnSpPr>
        <p:spPr>
          <a:xfrm>
            <a:off x="5332067" y="2522372"/>
            <a:ext cx="1692756" cy="0"/>
          </a:xfrm>
          <a:prstGeom prst="line">
            <a:avLst/>
          </a:prstGeom>
          <a:ln w="28575">
            <a:solidFill>
              <a:srgbClr val="13294B"/>
            </a:solidFill>
            <a:tailEnd type="triangle" w="med" len="med"/>
          </a:ln>
        </p:spPr>
      </p:cxnSp>
      <p:sp>
        <p:nvSpPr>
          <p:cNvPr id="25" name="Rounded Rectangle 24"/>
          <p:cNvSpPr/>
          <p:nvPr/>
        </p:nvSpPr>
        <p:spPr>
          <a:xfrm>
            <a:off x="5654252" y="2156612"/>
            <a:ext cx="1048385"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6" name="TextBox 25"/>
          <p:cNvSpPr txBox="1"/>
          <p:nvPr/>
        </p:nvSpPr>
        <p:spPr>
          <a:xfrm>
            <a:off x="5654252" y="2156612"/>
            <a:ext cx="1048385"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차례로 연다</a:t>
            </a:r>
          </a:p>
        </p:txBody>
      </p:sp>
      <p:cxnSp>
        <p:nvCxnSpPr>
          <p:cNvPr id="27" name="Connector 26"/>
          <p:cNvCxnSpPr/>
          <p:nvPr/>
        </p:nvCxnSpPr>
        <p:spPr>
          <a:xfrm>
            <a:off x="7829495" y="3299612"/>
            <a:ext cx="0" cy="1356055"/>
          </a:xfrm>
          <a:prstGeom prst="line">
            <a:avLst/>
          </a:prstGeom>
          <a:ln w="28575">
            <a:solidFill>
              <a:srgbClr val="13294B"/>
            </a:solidFill>
            <a:tailEnd type="triangle" w="med" len="med"/>
          </a:ln>
        </p:spPr>
      </p:cxnSp>
      <p:sp>
        <p:nvSpPr>
          <p:cNvPr id="28" name="Rounded Rectangle 27"/>
          <p:cNvSpPr/>
          <p:nvPr/>
        </p:nvSpPr>
        <p:spPr>
          <a:xfrm>
            <a:off x="7920935" y="3831335"/>
            <a:ext cx="1194435"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9" name="TextBox 28"/>
          <p:cNvSpPr txBox="1"/>
          <p:nvPr/>
        </p:nvSpPr>
        <p:spPr>
          <a:xfrm>
            <a:off x="7920935" y="3831335"/>
            <a:ext cx="1194435"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출력을 남긴다</a:t>
            </a:r>
          </a:p>
        </p:txBody>
      </p:sp>
      <p:cxnSp>
        <p:nvCxnSpPr>
          <p:cNvPr id="30" name="Connector 29"/>
          <p:cNvCxnSpPr/>
          <p:nvPr/>
        </p:nvCxnSpPr>
        <p:spPr>
          <a:xfrm>
            <a:off x="8606735" y="2522372"/>
            <a:ext cx="1500128" cy="0"/>
          </a:xfrm>
          <a:prstGeom prst="line">
            <a:avLst/>
          </a:prstGeom>
          <a:ln w="28575">
            <a:solidFill>
              <a:srgbClr val="13294B"/>
            </a:solidFill>
            <a:tailEnd type="triangle" w="med" len="med"/>
          </a:ln>
        </p:spPr>
      </p:cxnSp>
      <p:sp>
        <p:nvSpPr>
          <p:cNvPr id="31" name="Rounded Rectangle 30"/>
          <p:cNvSpPr/>
          <p:nvPr/>
        </p:nvSpPr>
        <p:spPr>
          <a:xfrm>
            <a:off x="8759581" y="2156612"/>
            <a:ext cx="1194435"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32" name="TextBox 31"/>
          <p:cNvSpPr txBox="1"/>
          <p:nvPr/>
        </p:nvSpPr>
        <p:spPr>
          <a:xfrm>
            <a:off x="8759581" y="2156612"/>
            <a:ext cx="1194435"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결말을 적는다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새 업무를 프로세스로 옮길 때의 다섯 물음</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새 업무를 프로세스로 옮기는 일은 처리 건이 지나는 다섯 자리에 무엇을 놓을지를 묻는 데서 시작한다.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47</a:t>
            </a:r>
          </a:p>
        </p:txBody>
      </p:sp>
      <p:sp>
        <p:nvSpPr>
          <p:cNvPr id="6" name="Rectangle 5"/>
          <p:cNvSpPr/>
          <p:nvPr/>
        </p:nvSpPr>
        <p:spPr>
          <a:xfrm>
            <a:off x="1658081" y="3053715"/>
            <a:ext cx="8875532" cy="36576"/>
          </a:xfrm>
          <a:prstGeom prst="rect">
            <a:avLst/>
          </a:prstGeom>
          <a:solidFill>
            <a:srgbClr val="D3D9E1"/>
          </a:solidFill>
          <a:ln>
            <a:noFill/>
          </a:ln>
        </p:spPr>
        <p:txBody>
          <a:bodyPr rtlCol="0" anchor="ctr"/>
          <a:lstStyle/>
          <a:p>
            <a:pPr algn="ctr"/>
          </a:p>
        </p:txBody>
      </p:sp>
      <p:sp>
        <p:nvSpPr>
          <p:cNvPr id="7" name="Oval 6"/>
          <p:cNvSpPr/>
          <p:nvPr/>
        </p:nvSpPr>
        <p:spPr>
          <a:xfrm>
            <a:off x="1223741" y="2637663"/>
            <a:ext cx="868680" cy="868680"/>
          </a:xfrm>
          <a:prstGeom prst="ellipse">
            <a:avLst/>
          </a:prstGeom>
          <a:solidFill>
            <a:srgbClr val="FFFFFF"/>
          </a:solidFill>
          <a:ln w="25400">
            <a:solidFill>
              <a:srgbClr val="13294B"/>
            </a:solidFill>
          </a:ln>
        </p:spPr>
        <p:txBody>
          <a:bodyPr rtlCol="0" anchor="ctr"/>
          <a:lstStyle/>
          <a:p>
            <a:pPr algn="ctr"/>
          </a:p>
        </p:txBody>
      </p:sp>
      <p:sp>
        <p:nvSpPr>
          <p:cNvPr id="8" name="TextBox 7"/>
          <p:cNvSpPr txBox="1"/>
          <p:nvPr/>
        </p:nvSpPr>
        <p:spPr>
          <a:xfrm>
            <a:off x="1223741" y="2637663"/>
            <a:ext cx="868680" cy="86868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1</a:t>
            </a:r>
          </a:p>
        </p:txBody>
      </p:sp>
      <p:sp>
        <p:nvSpPr>
          <p:cNvPr id="9" name="TextBox 8"/>
          <p:cNvSpPr txBox="1"/>
          <p:nvPr/>
        </p:nvSpPr>
        <p:spPr>
          <a:xfrm>
            <a:off x="621791" y="3689223"/>
            <a:ext cx="2072579" cy="1655825"/>
          </a:xfrm>
          <a:prstGeom prst="rect">
            <a:avLst/>
          </a:prstGeom>
          <a:noFill/>
        </p:spPr>
        <p:txBody>
          <a:bodyPr wrap="square" anchor="t"/>
          <a:lstStyle/>
          <a:p>
            <a:pPr algn="ctr">
              <a:lnSpc>
                <a:spcPct val="110000"/>
              </a:lnSpc>
              <a:spcAft>
                <a:spcPts val="400"/>
              </a:spcAft>
            </a:pPr>
            <a:r>
              <a:rPr sz="1600" b="1">
                <a:solidFill>
                  <a:srgbClr val="13294B"/>
                </a:solidFill>
                <a:latin typeface="맑은 고딕"/>
                <a:ea typeface="맑은 고딕"/>
                <a:cs typeface="맑은 고딕"/>
              </a:rPr>
              <a:t>시작 이벤트</a:t>
            </a:r>
          </a:p>
          <a:p>
            <a:pPr algn="ctr">
              <a:lnSpc>
                <a:spcPct val="110000"/>
              </a:lnSpc>
              <a:spcAft>
                <a:spcPts val="400"/>
              </a:spcAft>
            </a:pPr>
            <a:r>
              <a:rPr sz="1300" b="0">
                <a:solidFill>
                  <a:srgbClr val="1F2A3A"/>
                </a:solidFill>
                <a:latin typeface="맑은 고딕"/>
                <a:ea typeface="맑은 고딕"/>
                <a:cs typeface="맑은 고딕"/>
              </a:rPr>
              <a:t>어떤 사건이 일어나면 이 업무가 시작되는가</a:t>
            </a:r>
          </a:p>
        </p:txBody>
      </p:sp>
      <p:sp>
        <p:nvSpPr>
          <p:cNvPr id="10" name="Oval 9"/>
          <p:cNvSpPr/>
          <p:nvPr/>
        </p:nvSpPr>
        <p:spPr>
          <a:xfrm>
            <a:off x="3442624" y="2637663"/>
            <a:ext cx="868680" cy="868680"/>
          </a:xfrm>
          <a:prstGeom prst="ellipse">
            <a:avLst/>
          </a:prstGeom>
          <a:solidFill>
            <a:srgbClr val="FFFFFF"/>
          </a:solidFill>
          <a:ln w="25400">
            <a:solidFill>
              <a:srgbClr val="13294B"/>
            </a:solidFill>
          </a:ln>
        </p:spPr>
        <p:txBody>
          <a:bodyPr rtlCol="0" anchor="ctr"/>
          <a:lstStyle/>
          <a:p>
            <a:pPr algn="ctr"/>
          </a:p>
        </p:txBody>
      </p:sp>
      <p:sp>
        <p:nvSpPr>
          <p:cNvPr id="11" name="TextBox 10"/>
          <p:cNvSpPr txBox="1"/>
          <p:nvPr/>
        </p:nvSpPr>
        <p:spPr>
          <a:xfrm>
            <a:off x="3442624" y="2637663"/>
            <a:ext cx="868680" cy="86868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2</a:t>
            </a:r>
          </a:p>
        </p:txBody>
      </p:sp>
      <p:sp>
        <p:nvSpPr>
          <p:cNvPr id="12" name="TextBox 11"/>
          <p:cNvSpPr txBox="1"/>
          <p:nvPr/>
        </p:nvSpPr>
        <p:spPr>
          <a:xfrm>
            <a:off x="2840675" y="3689223"/>
            <a:ext cx="2072579" cy="1655825"/>
          </a:xfrm>
          <a:prstGeom prst="rect">
            <a:avLst/>
          </a:prstGeom>
          <a:noFill/>
        </p:spPr>
        <p:txBody>
          <a:bodyPr wrap="square" anchor="t"/>
          <a:lstStyle/>
          <a:p>
            <a:pPr algn="ctr">
              <a:lnSpc>
                <a:spcPct val="110000"/>
              </a:lnSpc>
              <a:spcAft>
                <a:spcPts val="400"/>
              </a:spcAft>
            </a:pPr>
            <a:r>
              <a:rPr sz="1600" b="1">
                <a:solidFill>
                  <a:srgbClr val="13294B"/>
                </a:solidFill>
                <a:latin typeface="맑은 고딕"/>
                <a:ea typeface="맑은 고딕"/>
                <a:cs typeface="맑은 고딕"/>
              </a:rPr>
              <a:t>에이전트의 판단</a:t>
            </a:r>
          </a:p>
          <a:p>
            <a:pPr algn="ctr">
              <a:lnSpc>
                <a:spcPct val="110000"/>
              </a:lnSpc>
              <a:spcAft>
                <a:spcPts val="400"/>
              </a:spcAft>
            </a:pPr>
            <a:r>
              <a:rPr sz="1300" b="0">
                <a:solidFill>
                  <a:srgbClr val="1F2A3A"/>
                </a:solidFill>
                <a:latin typeface="맑은 고딕"/>
                <a:ea typeface="맑은 고딕"/>
                <a:cs typeface="맑은 고딕"/>
              </a:rPr>
              <a:t>무엇을 읽어 무엇을 제안하게 할 것인가</a:t>
            </a:r>
          </a:p>
        </p:txBody>
      </p:sp>
      <p:sp>
        <p:nvSpPr>
          <p:cNvPr id="13" name="Oval 12"/>
          <p:cNvSpPr/>
          <p:nvPr/>
        </p:nvSpPr>
        <p:spPr>
          <a:xfrm>
            <a:off x="5661507" y="2637663"/>
            <a:ext cx="868680" cy="868680"/>
          </a:xfrm>
          <a:prstGeom prst="ellipse">
            <a:avLst/>
          </a:prstGeom>
          <a:solidFill>
            <a:srgbClr val="FFFFFF"/>
          </a:solidFill>
          <a:ln w="25400">
            <a:solidFill>
              <a:srgbClr val="13294B"/>
            </a:solidFill>
          </a:ln>
        </p:spPr>
        <p:txBody>
          <a:bodyPr rtlCol="0" anchor="ctr"/>
          <a:lstStyle/>
          <a:p>
            <a:pPr algn="ctr"/>
          </a:p>
        </p:txBody>
      </p:sp>
      <p:sp>
        <p:nvSpPr>
          <p:cNvPr id="14" name="TextBox 13"/>
          <p:cNvSpPr txBox="1"/>
          <p:nvPr/>
        </p:nvSpPr>
        <p:spPr>
          <a:xfrm>
            <a:off x="5661507" y="2637663"/>
            <a:ext cx="868680" cy="86868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3</a:t>
            </a:r>
          </a:p>
        </p:txBody>
      </p:sp>
      <p:sp>
        <p:nvSpPr>
          <p:cNvPr id="15" name="TextBox 14"/>
          <p:cNvSpPr txBox="1"/>
          <p:nvPr/>
        </p:nvSpPr>
        <p:spPr>
          <a:xfrm>
            <a:off x="5059558" y="3689223"/>
            <a:ext cx="2072579" cy="1655825"/>
          </a:xfrm>
          <a:prstGeom prst="rect">
            <a:avLst/>
          </a:prstGeom>
          <a:noFill/>
        </p:spPr>
        <p:txBody>
          <a:bodyPr wrap="square" anchor="t"/>
          <a:lstStyle/>
          <a:p>
            <a:pPr algn="ctr">
              <a:lnSpc>
                <a:spcPct val="110000"/>
              </a:lnSpc>
              <a:spcAft>
                <a:spcPts val="400"/>
              </a:spcAft>
            </a:pPr>
            <a:r>
              <a:rPr sz="1600" b="1">
                <a:solidFill>
                  <a:srgbClr val="13294B"/>
                </a:solidFill>
                <a:latin typeface="맑은 고딕"/>
                <a:ea typeface="맑은 고딕"/>
                <a:cs typeface="맑은 고딕"/>
              </a:rPr>
              <a:t>사람의 승인</a:t>
            </a:r>
          </a:p>
          <a:p>
            <a:pPr algn="ctr">
              <a:lnSpc>
                <a:spcPct val="110000"/>
              </a:lnSpc>
              <a:spcAft>
                <a:spcPts val="400"/>
              </a:spcAft>
            </a:pPr>
            <a:r>
              <a:rPr sz="1300" b="0">
                <a:solidFill>
                  <a:srgbClr val="1F2A3A"/>
                </a:solidFill>
                <a:latin typeface="맑은 고딕"/>
                <a:ea typeface="맑은 고딕"/>
                <a:cs typeface="맑은 고딕"/>
              </a:rPr>
              <a:t>어느 역할이 결정하며 거절과 무응답은 어떻게 닫는가</a:t>
            </a:r>
          </a:p>
        </p:txBody>
      </p:sp>
      <p:sp>
        <p:nvSpPr>
          <p:cNvPr id="16" name="Oval 15"/>
          <p:cNvSpPr/>
          <p:nvPr/>
        </p:nvSpPr>
        <p:spPr>
          <a:xfrm>
            <a:off x="7880390" y="2637663"/>
            <a:ext cx="868680" cy="868680"/>
          </a:xfrm>
          <a:prstGeom prst="ellipse">
            <a:avLst/>
          </a:prstGeom>
          <a:solidFill>
            <a:srgbClr val="FFFFFF"/>
          </a:solidFill>
          <a:ln w="25400">
            <a:solidFill>
              <a:srgbClr val="13294B"/>
            </a:solidFill>
          </a:ln>
        </p:spPr>
        <p:txBody>
          <a:bodyPr rtlCol="0" anchor="ctr"/>
          <a:lstStyle/>
          <a:p>
            <a:pPr algn="ctr"/>
          </a:p>
        </p:txBody>
      </p:sp>
      <p:sp>
        <p:nvSpPr>
          <p:cNvPr id="17" name="TextBox 16"/>
          <p:cNvSpPr txBox="1"/>
          <p:nvPr/>
        </p:nvSpPr>
        <p:spPr>
          <a:xfrm>
            <a:off x="7880390" y="2637663"/>
            <a:ext cx="868680" cy="86868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4</a:t>
            </a:r>
          </a:p>
        </p:txBody>
      </p:sp>
      <p:sp>
        <p:nvSpPr>
          <p:cNvPr id="18" name="TextBox 17"/>
          <p:cNvSpPr txBox="1"/>
          <p:nvPr/>
        </p:nvSpPr>
        <p:spPr>
          <a:xfrm>
            <a:off x="7278441" y="3689223"/>
            <a:ext cx="2072579" cy="1655825"/>
          </a:xfrm>
          <a:prstGeom prst="rect">
            <a:avLst/>
          </a:prstGeom>
          <a:noFill/>
        </p:spPr>
        <p:txBody>
          <a:bodyPr wrap="square" anchor="t"/>
          <a:lstStyle/>
          <a:p>
            <a:pPr algn="ctr">
              <a:lnSpc>
                <a:spcPct val="110000"/>
              </a:lnSpc>
              <a:spcAft>
                <a:spcPts val="400"/>
              </a:spcAft>
            </a:pPr>
            <a:r>
              <a:rPr sz="1600" b="1">
                <a:solidFill>
                  <a:srgbClr val="13294B"/>
                </a:solidFill>
                <a:latin typeface="맑은 고딕"/>
                <a:ea typeface="맑은 고딕"/>
                <a:cs typeface="맑은 고딕"/>
              </a:rPr>
              <a:t>시스템의 처리</a:t>
            </a:r>
          </a:p>
          <a:p>
            <a:pPr algn="ctr">
              <a:lnSpc>
                <a:spcPct val="110000"/>
              </a:lnSpc>
              <a:spcAft>
                <a:spcPts val="400"/>
              </a:spcAft>
            </a:pPr>
            <a:r>
              <a:rPr sz="1300" b="0">
                <a:solidFill>
                  <a:srgbClr val="1F2A3A"/>
                </a:solidFill>
                <a:latin typeface="맑은 고딕"/>
                <a:ea typeface="맑은 고딕"/>
                <a:cs typeface="맑은 고딕"/>
              </a:rPr>
              <a:t>승인된 내용을 어느 시스템이 실행하고 기록하는가</a:t>
            </a:r>
          </a:p>
        </p:txBody>
      </p:sp>
      <p:sp>
        <p:nvSpPr>
          <p:cNvPr id="19" name="Oval 18"/>
          <p:cNvSpPr/>
          <p:nvPr/>
        </p:nvSpPr>
        <p:spPr>
          <a:xfrm>
            <a:off x="10099273" y="2637663"/>
            <a:ext cx="868680" cy="868680"/>
          </a:xfrm>
          <a:prstGeom prst="ellipse">
            <a:avLst/>
          </a:prstGeom>
          <a:solidFill>
            <a:srgbClr val="FFFFFF"/>
          </a:solidFill>
          <a:ln w="25400">
            <a:solidFill>
              <a:srgbClr val="13294B"/>
            </a:solidFill>
          </a:ln>
        </p:spPr>
        <p:txBody>
          <a:bodyPr rtlCol="0" anchor="ctr"/>
          <a:lstStyle/>
          <a:p>
            <a:pPr algn="ctr"/>
          </a:p>
        </p:txBody>
      </p:sp>
      <p:sp>
        <p:nvSpPr>
          <p:cNvPr id="20" name="TextBox 19"/>
          <p:cNvSpPr txBox="1"/>
          <p:nvPr/>
        </p:nvSpPr>
        <p:spPr>
          <a:xfrm>
            <a:off x="10099273" y="2637663"/>
            <a:ext cx="868680" cy="86868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5</a:t>
            </a:r>
          </a:p>
        </p:txBody>
      </p:sp>
      <p:sp>
        <p:nvSpPr>
          <p:cNvPr id="21" name="TextBox 20"/>
          <p:cNvSpPr txBox="1"/>
          <p:nvPr/>
        </p:nvSpPr>
        <p:spPr>
          <a:xfrm>
            <a:off x="9497324" y="3689223"/>
            <a:ext cx="2072579" cy="1655825"/>
          </a:xfrm>
          <a:prstGeom prst="rect">
            <a:avLst/>
          </a:prstGeom>
          <a:noFill/>
        </p:spPr>
        <p:txBody>
          <a:bodyPr wrap="square" anchor="t"/>
          <a:lstStyle/>
          <a:p>
            <a:pPr algn="ctr">
              <a:lnSpc>
                <a:spcPct val="110000"/>
              </a:lnSpc>
              <a:spcAft>
                <a:spcPts val="400"/>
              </a:spcAft>
            </a:pPr>
            <a:r>
              <a:rPr sz="1600" b="1">
                <a:solidFill>
                  <a:srgbClr val="13294B"/>
                </a:solidFill>
                <a:latin typeface="맑은 고딕"/>
                <a:ea typeface="맑은 고딕"/>
                <a:cs typeface="맑은 고딕"/>
              </a:rPr>
              <a:t>종료 기록</a:t>
            </a:r>
          </a:p>
          <a:p>
            <a:pPr algn="ctr">
              <a:lnSpc>
                <a:spcPct val="110000"/>
              </a:lnSpc>
              <a:spcAft>
                <a:spcPts val="400"/>
              </a:spcAft>
            </a:pPr>
            <a:r>
              <a:rPr sz="1300" b="0">
                <a:solidFill>
                  <a:srgbClr val="1F2A3A"/>
                </a:solidFill>
                <a:latin typeface="맑은 고딕"/>
                <a:ea typeface="맑은 고딕"/>
                <a:cs typeface="맑은 고딕"/>
              </a:rPr>
              <a:t>무엇이 남으면 이 업무가 끝났다고 보는가</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오늘 다룬 핵심 개념과 주요 용어 정리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약어와 용어의 정식 명칭, 그리고 그것이 세 업무의 프로세스에서 맡은 자리를 모은다.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48</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용어</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정식 명칭</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프로세스에서</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ERP</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Enterprise Resource Planning</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재고 보충의 실행 시스템</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PM</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Preventive Maintenance</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정기 점검의 경보 패턴 PM_DUE</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패턴</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Pattern</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세 프로세스가 함께 쓴 승인 블록</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재주문점</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Reorder Point</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재고 보충의 시작 조건</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Review Quiz: 핵심 흐름 되짚어보기</a:t>
            </a:r>
          </a:p>
        </p:txBody>
      </p:sp>
      <p:sp>
        <p:nvSpPr>
          <p:cNvPr id="5" name="TextBox 4"/>
          <p:cNvSpPr txBox="1"/>
          <p:nvPr/>
        </p:nvSpPr>
        <p:spPr>
          <a:xfrm>
            <a:off x="731520" y="41605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배운 내용을 바탕으로 정답을 맞춰보세요.</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1. 거절로 닫힌 재고 보충 처리 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재고 보충 처리 건의 상태가 COMPLETED이고, 닿은 끝 이벤트는 E_rejected이다.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50</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이 처리 건이 닫힌 뒤의 상황으로 옳은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처리 건이 끝났으므로 씰 키트의 재고 부족도 해결되었다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발주는 만들어지지 않았고 재고 보충이 필요한 상태는 그대로 남아 있다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발주는 나갔지만 입고만 이루어지지 않았다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승인 지연 타이머가 처리 건을 자동으로 닫았다</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2. 승인 블록을 다시 쓸 때 바뀌는 자리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긴급 대응 프로세스의 승인 블록을 가져와 재고 보충 프로세스를 그리려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51</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승인 블록에서 재고 보충에 맞게 바꾸는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승인 지연 타이머의 기한 10분</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승인과 거절을 가르는 게이트웨이의 조건</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거절했을 때 닿는 끝 이벤트</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승인 역할과 승인 뒤에 이어지는 첫 작업</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3. 승인을 생략하자는 의견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정비 계획 에이전트의 추천안이 대부분 적절했으므로 승인 작업을 빼고 정비 오더를 바로 등록하자는 의견이 나왔다.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52</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이 의견에 대한 판단으로 옳은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추천안이 정확하다면 승인 작업을 빼고 추천안대로 바로 등록한다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승인 작업을 서비스 작업으로 바꾸어 시스템이 대신 승인하게 한다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정비 오더는 효과를 내는 작업이므로 설비보전팀장의 승인 뒤에 둔다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승인 지연 타이머를 중단형으로 바꾸어 기한이 지나면 자동으로 등록한다</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정답과 판단 기준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문항은 닫힌 처리 건의 해석, 다시 쓰는 구조와 바뀌는 자리, 에이전트와 사람의 책임 경계를 바르게 읽는지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53</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문항</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판단 기준</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정답</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1</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거절하면 처리 건은 닫히지만 발주는 만들어지지 않는다. 재고 부족은 그대로 남는다.</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2번</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2</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승인 블록의 요소와 기한과 조건은 그대로 쓴다. 승인 역할과 승인 뒤의 첫 작업만 바꾼다.</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4번</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3</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에이전트는 제안까지 한다. 효과를 내는 작업은 책임질 역할의 승인 뒤에 둔다.</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3번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