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판단의 재료인 지식과 규칙을 만들었습니다. 오늘은 그 재료로 실제로 일하는 에이전트를 다룹니다. 에이전트가 일하는 과정, 정보원과 멈춤 조건, 일하는 방법을 적어 두는 스킬, 도구를 잇는 연결의 순서로 진행합니다.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1일차에 본 사건의 시간표입니다. 경보가 나고 승인되기까지 108초가 걸렸고, 그 가운데 94초는 사람이 아니라 에이전트가 일한 시간이었습니다. 그동안 에이전트는 원인을 가리고 조치 후보 넷을 견주어 추천안을 냈습니다. 오늘은 이 94초 안에서 일어난 일을 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시간에 문서에서 지식 후보를 뽑는 데 쓴 LLM이 하는 일은 한 가지입니다. 글을 받아 이어질 글을 만들어 냅니다. 입력 한 번에 출력 한 번이고, 그 사이에 데이터베이스를 읽거나 시스템을 조작하지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LLM만으로는 답하지 못하는 것이 셋 있습니다. 첫째는 지금의 값이며 유온은 시계열 DB에 있고 모델 안에 없습니다. 둘째는 이 공장의 문서이며 HM-8의 기준을 모델은 배운 적이 없습니다. 셋째는 수행이며 조회하고 계산하고 제출하는 일은 글을 만드는 것으로 되지 않습니다. 뒤의 두 방식은 이 빈자리를 메우는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빈자리인 문서를 메우는 방식이 RAG, Retrieval-Augmented Generation입니다. 질문이 들어오면 먼저 가까운 문서 조각을 찾고, 그 조각을 질문과 함께 모델에 넣습니다. 모델은 배운 적 없는 문서의 내용으로 답할 수 있게 됩니다. 다만 마지막 단계는 여전히 글로 답하는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빈자리인 수행까지 메우는 것이 에이전트입니다. 에이전트는 목표를 받고, 도구를 골라 부르고, 돌아온 결과를 보고 다음에 무엇을 할지 정합니다. 이 일을 목표에 이를 때까지 되풀이합니다. 도구는 모델이 부를 수 있도록 이름과 입력을 정해 둔 기능이며, 쿨러 사건에서는 원인 진단과 생산오더 조회 같은 도구가 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요청을 세 방식에 넣어 견줍니다. LLM은 유압 설비에 대한 일반적인 설명을 돌려줍니다. RAG는 관련 문서를 찾아 그 내용을 인용해 설명합니다. 에이전트는 도구로 지금의 값을 읽어 원인을 가리고 후보 넷을 견준 추천안을 제출합니다. 셋을 가르는 것은 답의 근거가 어디에서 오는가와 마지막에 무엇을 하는가이며, 앞의 둘은 글을 내고 에이전트는 산출물을 제출합니다.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뜯어 보면 세 요소가 있습니다. 모델은 앞에서 본 LLM이며 글을 읽고 다음 행동을 정합니다. 도구는 실제로 조회하고 계산해 결과를 돌려줍니다. 실행 고리는 모델과 도구 사이를 목표에 이를 때까지 되풀이해 오가게 하는 틀입니다. 모델이 달라진 것이 아니라 도구와 고리가 더해진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하나는 이 항목들로 정의됩니다. 쿨러 사건을 맡은 냉각 긴급 대응 에이전트의 값입니다. 목표는 무엇을 이루어야 끝나는지를, 도구는 무엇을 쓸 수 있는지를 정합니다. 목표 칸은 에이전트에 적힌 문장을 이 수업의 낱말로 줄여 옮긴 요지입니다. 업무 지침은 에이전트 스킬이라는 파일로 주며, 그 형식은 뒤의 에이전트 스킬 단원에서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부른다는 것이 실제로 어떤 모습인지 쿨러 사건의 기록에서 한 건을 꺼냈습니다. 모델이 한 일은 원인 진단이라는 도구의 이름과, 물음에 적힌 세 값을 글로 적어 낸 것입니다. 지식 그래프와 시계열 DB를 읽은 것은 모델이 아니라 도구이고, 도구가 그 결과를 돌려주었습니다. 모델은 글만 만든다는 앞의 설명과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틀이 실행 고리입니다. 왼쪽부터 요청 해석, 계획, 도구 선택과 호출, 결과 관찰, 종료입니다. 결과를 관찰해 목표에 이르렀으면 종료로 가고, 아직 못 미쳤거나 호출이 뜻대로 되지 않았으면 위의 점선을 따라 계획으로 되돌아갑니다. 이 가운데 계획, 결과 관찰, 재시도를 쿨러 사건의 기록에서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가리고 조치를 추천하라」는 목표는 그대로는 수행할 수 없으므로 도구 호출의 순서로 풀어야 합니다. 그것이 계획입니다. 쿨러 사건에서는 업무 지침에 다섯 단계가 적혀 있었고 에이전트는 이를 뼈대로 삼았습니다. 다만 지침은 뼈대일 뿐이어서, 실제로 어떤 값을 넣고 결과를 어떻게 읽을지는 그때마다 에이전트가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선택과 호출, 그리고 결과 관찰이 이어지는 장면입니다. 위는 원인 진단이 돌려준 결과의 요지이고, 아래는 5초 뒤에 부른 대안 평가의 물음입니다. 진단에서 읽은 원인과 고장 유형의 식별자가 아래 물음에 그대로 들어가 있습니다. 관찰한 결과가 다음 호출의 입력을 정한다는 것이 이 두 줄에서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고리가 되돌아가는 장면입니다. 대안 평가가 돌려준 결과는 12만 자가 넘어 그대로 쓰기에는 너무 길었습니다. 에이전트는 이를 알아차리고 순위와 규정 판정만 간추리겠다고 계획을 고쳤으며, 6초 뒤에는 필요한 항목만 좁혀 다시 뽑겠다고 했습니다. 따옴표 안은 에이전트가 기록에 남긴 말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업무 산출물입니다. 쿨러 사건의 추천안에는 네 가지가 들어 있습니다. 진단한 원인, 추천하는 조치 하나, 뒤진 대안 셋, 그리고 그렇게 판단한 이유와 판단 번호입니다. 대안이 왜 뒤졌는지까지 함께 내므로 담당자는 추천 하나만이 아니라 견준 과정을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운전이라는 추천안 한 건을 만드는 데 쓰인 정보를 출처별로 놓았습니다. 원인 후보는 온톨로지에서, 냉각 효율 46.2 %는 시계열 DB에서, 납기까지 남은 시간은 업무 DB에서, 조치의 단계와 출처는 SOP에서 왔습니다. 네 곳 모두 에이전트가 도구를 불러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정보원은 저마다 다른 물음에 답합니다. 온톨로지는 관계를, 시계열 DB는 그 시각의 측정값을, 업무 DB는 정비와 재고와 납기의 상태를, SOP는 조치를 수행하는 방법을 답합니다. 유온이 지금 몇 도인지를 온톨로지에 물으면 답이 없고, 원인 후보가 무엇인지를 시계열 DB에 물어도 답이 없습니다. 꼬리표를 보면 넷은 둘로 나뉩니다. 온톨로지와 SOP는 문서가 개정될 때만 바뀌고, 시계열 DB와 업무 DB의 값은 계속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지금의 값을 섞지 않게 하는 장치는 규칙입니다. 에이전트에게는 추측하지 말고 도구로 확인하라는 작업 규칙이 주어지며, 무엇을 어디에서 얻을지가 세 갈래로 정해져 있습니다. 지식은 지식 그래프에서, 지금의 값은 원천에서 그때 읽습니다. 규칙 판정은 모델이 직접 하지 않고 판단 도구의 결과를 씁니다. 같은 입력에는 같은 판정이 나와야 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멈추지 않으면 어떻게 되는지를 봅니다. 냉각 효율을 읽지 못했는데 가능성이 가장 큰 원인을 적어 내면, 추천안의 모양은 값을 읽었을 때와 똑같습니다. 승인하는 사람은 그 차이를 알 수 없습니다. 오른쪽처럼 원인을 적지 않고 무엇을 확인하지 못했는지를 내야 모르는 것이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상황은 셋입니다. 위는 근거 부족으로, 값을 얻지 못했거나 얻은 값이 어느 원인에도 맞지 않는 경우입니다. 가운데는 도구 호출 실패로, 다시 시도해도 도구가 오류를 돌려주는 경우입니다. 아래는 권한 제한으로, 일을 하려면 허용되지 않은 도구가 필요한 경우입니다. 셋 모두 에이전트는 지어내지 않고 멈추며, 멈춘 작업은 이유와 함께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부족에는 서로 다른 두 경우가 들어 있습니다. UNKNOWN은 조회에 실패했거나 값이 비어서 맞는지 틀린지를 말할 수 없는 상태입니다. UNSUPPORTED는 값은 읽었지만 어느 원인의 기준에도 맞지 않는 상태입니다. 앞의 것은 값이 들어오면 풀리고, 뒤의 것은 등록된 지식에 없는 원인일 수 있어 사람이 살펴야 합니다. 쿨러 사건의 쿨러 핀 오염은 값을 읽었고 기준에 맞은 SUPPORTED였습니다.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멈춤 조건인 도구 호출 실패입니다. 중요한 것은 실패와 값 없음의 구분입니다. 예비품 재고를 조회해 0행이 돌아왔다면 재고가 없다는 답이고, 조회가 실패했다면 재고를 모른다는 뜻입니다. 실패를 0으로 적으면 모르는 일이 없는 일로 바뀝니다. 그래서 다시 시도해도 끝내 실패하면 실패했다고 그대로 적고, 그 값 없이는 판단할 수 없으면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결과와 함께 과정도 남습니다. 위의 상자가 처리 기록이며, 에이전트의 말과 도구 호출이 시각 순서로 한 줄씩 쌓입니다. 그 가운데 도구 호출 한 줄을 아래에 펼쳤습니다. 언제, 어느 도구에, 무엇을 물어, 무엇을 받았고, 얼마나 걸렸는지의 다섯 칸입니다. 입력과 출력이 모두 남으므로 추천안에 적힌 값이 어느 호출에서 왔는지를 찾아갈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기록은 결과가 이상해 보일 때 쓰입니다. 추천안의 값 하나가 의심스러우면 그 값을 돌려준 호출을 기록에서 찾습니다. 출력이 그 값이 맞다면 다음은 입력입니다. 엉뚱한 설비나 틀린 원인을 넣지 않았는지를 봅니다. 입력도 옳다면 문제는 도구나 그 뒤의 데이터에 있고, 입력이 틀렸다면 호출 사이의 말에서 에이전트가 왜 그렇게 했는지를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에이전트 하나를 직접 구성합니다. 앞에서 본 항목대로 이름과 목표와 역할을 적고, 쓸 수 있는 읽기 도구 가운데 필요한 것을 고릅니다. 그런 다음 그 에이전트에게 질문하고, 답에 붙은 근거와 호출 기록을 읽습니다. 끝으로 쿨러 사건을 맡은 기준 에이전트와 무엇이 다른지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Code에서 Claude Code로 진행합니다. 공용 온톨로지의 관계와 제공된 센서 입력을 읽어 후보 원인과 증거, 다음 점검 순서를 내는 에이전트를 구성합니다. 여러 센서의 증거를 함께 견주어 후보를 가립니다. 확인되지 않은 원인은 단정하지 않고 가설로 표시해야 합니다. 끝나면 점검 계획과 그 계획에 쓴 근거가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에이전트에게 목표와 도구만 주었다고 해 보겠습니다. 쿨러 경보를 맡은 에이전트 앞에는 판단 도구 16개와 업무 DB 도구 14개가 놓여 있습니다. 무엇부터 부를지, 어떤 순서로 부를지, 근거가 없을 때 어떻게 할지, 무엇을 내고 끝낼지를 그때마다 스스로 정해야 합니다. 같은 경보라도 실행할 때마다 과정과 결과의 모양이 달라질 수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사람의 작업에서는 이 문제를 절차를 문서로 정해 두어 풀었습니다. 에이전트에게도 같은 방법을 씁니다. 부를 도구의 순서와 근거가 없을 때의 행동과 결과의 모양을 한 번 적어 두고, 에이전트가 일을 시작할 때 먼저 읽게 합니다. 그림에서 에이전트 위에 놓인 문서가 수행 방법을 적은 지침입니다.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적어 둔 지침을 에이전트 스킬, Agent Skill이라고 합니다. 스킬의 본체는 SKILL.md라는 파일 하나이고, 스킬 이름과 같은 폴더 안에 놓입니다. HYD에서 쿨러 성능 저하 경보에 쓰는 스킬의 이름은 cooling-emergency-response입니다.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스킬이 실제로 놓이는 자리입니다. 에이전트는 실행마다 작업 폴더 하나를 받고, 그 안에 이번 일의 입력과 배정된 스킬과 결과를 쓸 자리가 있습니다. 쿨러 경보의 실행 기록은 「배정된 스킬 1개를 작업 폴더에 넣고 실행합니다」라는 줄로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실제로 읽은 SKILL.md의 앞부분입니다. 줄 세 개짜리 구분선 사이가 머리말이고, 이름과 설명 두 항목이 들어 있습니다. 그 아래 본문은 경보 한 건에서 원인을 진단하고 조치 후보를 비교해 추천 카드와 대안을 올린다는 요약으로 시작합니다. 원문의 「추천 카드」가 곧 추천안이고, 「쿨러 과열 경보」는 쿨러 성능 저하 경보를 가리킵니다. 마지막 두 줄은 이 스킬이 조회와 계산까지만 한다는 범위의 한계입니다.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머리말의 두 항목은 하는 일이 다릅니다. name은 스킬을 가리키는 식별자여서 쓸 수 있는 글자가 정해져 있고 폴더 이름과 같아야 합니다. description은 이 스킬을 언제 쓰는지를 알려 주는 한 줄이며, 스킬의 호출 조건이 이 자리에 적힙니다. 그래서 설명이 모호하면 스킬이 엉뚱한 일에 쓰이거나 필요한 일에 쓰이지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파일의 절차 부분입니다. 다섯 단계이고 번호가 곧 순서입니다. 1단계는 입력을 읽을 자리를 가리키고, 2단계와 4단계와 5단계에는 부를 도구의 이름과 넘길 값이 그대로 적혀 있습니다. 2단계의 끝에는 근거가 없을 때 원인을 지어내지 말고 보류로 내라는 지침이 붙어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원문에서 본 것을 여섯 가지로 묶으면 이렇습니다. 위에서부터 호출 조건, 작업 목적, 입력, 예외 지침, 순서, 출력입니다. 호출 조건은 머리말의 description이, 작업 목적은 본문의 첫 문단이 맡습니다. 입력과 예외 지침과 순서는 절차 안에 들어 있고, 출력은 맨 아래 결과 절이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지침이 실제로 쓰이는 장면입니다. 진단 도구의 응답에는 withheld라는 항목이 있습니다. 이 값이 false이면 원인 1순위가 정해져 다음 단계로 넘어갑니다. true이면 근거를 확인하지 못했다는 뜻이고, 스킬은 이때 원인을 지어내지 말고 보류로 내라고 적어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위는 SKILL.md의 결과 절이고 아래는 에이전트가 실제로 쓴 출력 파일입니다. 구조화 출력의 다섯 항목은 이 결과 절이 이름을 정해 둔 것이어서, 사람에게 승인을 받는 다음 단계가 실행마다 같은 이름으로 값을 읽습니다. 추천 값 skill:sop-cool-11은 팬 최대 운전을 가리키는 식별자입니다. 이 파일은 같은 스킬로 처리한 같은 종류의 다른 쿨러 경보 한 건의 기록이어서, 판단 번호가 앞에서 본 사건의 것과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사건 안에 절차가 둘 쓰였습니다. 왼쪽 구간에서는 에이전트가 스킬을 읽고 조회와 계산을 해서 추천안을 냈습니다. 운전원이 팬 최대 운전을 승인한 뒤의 오른쪽 구간에서는 SOP-COOL-11이 설비에 할 일, 곧 팬 속도를 100 %로 올리는 작업을 정했습니다. 두 절차가 쓰인 때는 사람의 승인을 사이에 두고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 다 절차를 적은 문서이지만 읽는 이와 적는 내용이 다릅니다. SOP는 현장 작업자가 읽고, 설비를 다루는 순서와 안전 조건과 금지 사항을 적습니다. 에이전트 스킬은 에이전트가 읽고, 부를 도구와 순서와 결과의 모양을 적습니다. SOP의 단계는 설비를 바꾸고, 스킬의 단계는 정보를 얻어 판단을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원문에는 HYD-01도, 쿨러 핀 오염도, SOP-COOL-11도 적혀 있지 않았습니다. 설비와 경보 번호는 입력 파일에서 읽고, 원인과 조치 후보는 도구가 지식 그래프에서 읽어 주며, 냉각 효율과 납기 같은 값은 도구가 조회 시점에 가져옵니다. 스킬에 남는 것은 방법뿐이어서, 설비나 경보가 달라져도 같은 스킬이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재사용이 실제로 일어난 모습입니다. 왼쪽의 스킬 한 편이 번호가 다른 두 쿨러 경보에 쓰였습니다. 두 실행은 같은 절차를 따랐고 저마다 판단 하나씩을 제출했습니다. 다음 경보가 와도 같은 스킬이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방법을 프롬프트에 직접 적어 줄 수도 있습니다. 다만 프롬프트는 그 실행 한 번에 쓰이고 끝나며, 다음에 같은 일을 시키려면 다시 써야 합니다. 스킬은 이름으로 보관되어 여러 에이전트와 여러 실행에 붙고, 한곳을 고치면 모두에 반영됩니다. 가르는 기준은 이 일을 다음에도 같은 방법으로 해야 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스킬을 직접 쓸 때 지킬 것을 넷으로 줄였습니다. description에는 어떤 요청에 쓰는 스킬인지를 한 줄로 밝힙니다. 절차의 도구 이름은 실제 도구 목록에서 그대로 옮겨 적습니다. 근거가 없을 때 지어내지 않도록 행동을 정해 두고, 결과 항목의 이름은 다음 단계가 읽는 이름이므로 바꾸지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스킬을 직접 씁니다. 예제 회의록에서 결정사항과 담당자와 기한을 뽑는 SKILL.md를 작성합니다. 담당자가 겹치는 항목과 기한이 적혀 있지 않은 항목은 지어내지 않고 겹침과 미정으로 표시하도록 예외 지침을 넣습니다. 그 스킬로 만든 작업 목록을 회의록과 대조해 검토하면 요약이 아니라 다음 행동이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 절차의 2단계를 다시 보겠습니다. 이 한 줄에는 이름이 셋 들어 있습니다. hyd-dmn은 도구를 내주는 프로그램이고, diagnose는 그 프로그램이 내주는 도구이며, 괄호 안은 넘길 값입니다. 스킬은 이 이름들을 적어 둔 글일 뿐이어서, 실제로 원인을 진단하는 일은 스킬 밖에서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판단에 쓸 지식과 값은 지식 그래프, 시계열 DB, 업무 DB에 나뉘어 있고 시스템마다 접속하는 방법이 다릅니다. 왼쪽처럼 애플리케이션마다 시스템마다 연결을 따로 만들면 셋과 셋 사이에 연결이 아홉 개 필요합니다. 오른쪽처럼 가운데에 표준을 두면 애플리케이션도 시스템도 표준에 한 번씩만 맞추면 됩니다. 시스템이 하나 늘어도 고칠 곳이 한 군데입니다.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표준이 MCP, Model Context Protocol입니다. AI 애플리케이션이 외부의 도구와 데이터에 연결하는 방식을 정한 개방형 프로토콜입니다. 메시지는 JSON-RPC 2.0이라는 형식으로 주고받습니다. 규격 단자에 견줄 수 있지만, 꽂기만 하면 되는 단자와 달리 연결한 뒤에 무엇을 할 수 있는지를 묻고 답하는 절차가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MCP의 구성요소는 넷입니다. 왼쪽의 큰 구획이 호스트이고, 그 안에 모델과 클라이언트가 있습니다. 클라이언트는 서버 하나와 일대일로 연결되므로 서버가 셋이면 클라이언트도 셋입니다. 서버는 뒤에 있는 시스템의 기능을 도구로 내주며, 그림의 톱니바퀴가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구성요소의 정의와 HYD에서 그 자리에 있는 것을 짝지었습니다. 호스트는 에이전트를 실행하는 Claude Code입니다. 클라이언트는 호스트 안에서 서버마다 하나씩 생기는 연결입니다. 서버는 neo4j, hyd-dmn, enterprise이고, 도구는 그 서버들이 내주는 diagnose나 mes_orders 같은 기능입니다.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서버가 주고받는 메시지를 위에서 아래로 시간 순서대로 그렸습니다. 먼저 initialize로 연결을 열고 규약의 판과 서버 정보를 확인합니다. 다음에 tools/list로 도구 목록을 묻고, 서버는 도구 16개의 이름과 설명과 입력 스키마를 돌려줍니다. 모델이 그 가운데 diagnose를 고르면 클라이언트가 tools/call로 호출하고 결과를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목록에 든 항목 하나를 그대로 옮겼습니다. 구매 쪽 업무 DB 서버가 내주는 part_quotes라는 도구입니다. 이름과 설명과 입력 스키마가 있고, 모델은 이 설명을 읽고 지금 이 도구를 부를지를 정합니다. 그래서 도구의 설명은 사람이 읽는 주석이 아니라 모델의 선택을 좌우하는 글입니다.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 서버의 mes_orders를 HYD-01로 불렀을 때 돌아온 응답입니다. 여기서 볼 것은 값 자체가 아니라 값을 싸고 있는 응답의 모양입니다. 맨 앞의 result가 성공 여부를 알리고, document 안에 값을 읽은 시각 as_of가 들어 있습니다. facts는 판단에 바로 쓰는 값만 추린 자리이고 records는 업무 DB에서 읽은 원래의 행입니다. 납기까지 5.98시간이라는 값은 이 모양에 담겨 돌아온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번에 관여하는 넷의 몫을 나누어 보겠습니다. 모델이 하는 일은 어느 도구를 어떤 값으로 부르겠다는 요청을 내는 데까지입니다. 호스트가 그 요청을 받아 허용된 도구인지 확인하고, 클라이언트가 서버에 전달하며, 실행은 서버가 합니다. 모델과 실행 사이에 호스트가 있으므로 도구의 사용을 호스트에서 가릴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클라이언트와 서버를 잇는 방식은 둘입니다. 왼쪽의 stdio는 호스트가 서버 프로그램을 하위 프로세스로 직접 띄우고, 표준 입력과 표준 출력으로 메시지를 주고받습니다. 서버가 호스트와 같은 PC에서 돕니다. 오른쪽의 Streamable HTTP는 서버가 먼저 떠 있고 클라이언트가 주소로 접속하는 방식이어서, 여러 클라이언트가 한 서버를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MCP의 역할을 나란히 놓겠습니다. 스킬은 수행 방법을 적은 글이어서 스스로는 아무것도 실행하지 않습니다. MCP는 도구를 내주고 호출을 받는 연결이며, 순서는 정하지 않습니다. 스킬이 diagnose로 원인을 얻으라고 적고, hyd-dmn 서버가 그 diagnose를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연결하면 에이전트가 할 수 있는 일이 늘고, 잘못했을 때 생기는 일도 함께 늘어납니다. 읽는 도구는 시스템을 바꾸지 않으므로 잘못 불러도 다시 부르면 됩니다. 쓰는 도구는 기록을 바꾸거나 메일을 내보내므로 한 번 실행되면 되돌리기 어렵습니다. 그래서 연결의 안전 기준은 이 둘을 가르는 데서 시작합니다.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정의의 annotations에서 본 readOnlyHint가 읽기 전용 표시입니다. hyd-dmn 서버의 도구 16개 가운데 15개가 true이고, 판단을 제출하는 submit_decision 하나만 false입니다. 업무 DB 서버의 도구 14개는 모두 true입니다. 다만 이 표시는 서버가 스스로 적은 값이어서, 연결하는 쪽은 표시만 믿지 않고 한 번 더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HYD 포털에 서버를 직접 등록하면 그 서버의 도구는 세 겹을 지나야 에이전트에 닿습니다. 첫째 겹은 도구가 스스로 다는 표시입니다. 둘째 겹은 연결 검사이며, 서버에 실제로 연결해 도구 목록을 받고 읽기 표시가 있으면서 이름도 쓰기를 뜻하지 않는 도구만 통과시킵니다. 표시가 false이거나 아예 없는 도구는 여기서 걸러집니다. 셋째 겹은 허용 목록이고, 통과한 도구의 이름만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제한의 기준이 되는 허용 목록의 실제 내용입니다. 지식 그래프 쪽은 조회 도구 둘의 이름만 올라 있습니다. 별표는 그 서버의 도구 전부를 뜻하며, 미리 검사해 둔 기준 서버에만 씁니다. 학생이 새로 등록한 서버는 별표를 쓰지 않고 읽기로 인정된 도구의 이름만 하나씩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값이 없는 것과 조회에 실패한 것은 에이전트의 멈춤 조건에서 이미 구분했고, 위의 두 줄이 그것입니다. 도구를 연결해 쓰면 경우가 둘 더 생깁니다. 정해진 시간 안에 응답하지 못한 호출은 오류로 돌아오므로 실패로 적고, 응답이 잘렸을 때는 읽지 못한 범위를 밝힙니다. 어느 경우에도 0이나 빈 값으로 바꾸어 적지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포털에서 쓰는 MCP와 내 PC의 Claude Code에서 쓰는 MCP는 규약이 같고 운영 방식이 다릅니다. 포털은 여러 사람이 함께 쓰므로 등록과 연결 검사를 거치고 읽기 도구만 허용합니다. 로컬에서는 설정 파일에 서버를 적고, 도구를 쓸 때 사용자가 직접 허용합니다. 로컬에서는 안전 기준을 지키는 일이 사용자 자신의 몫이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실습은 두 곳에서 진행합니다. 먼저 HYD 포털에서 업무 DB 서버의 연결 상태를 확인하고 읽기 도구를 불러 봅니다. 다음으로 VS Code의 Claude Code에 파일시스템, Git, 시간 서버를 연결하고 접근 권한을 서버별로 정합니다. 파일 내용과 변경 이력과 시간을 한 요청에서 이어 불러 작업 요약을 만든 뒤, 서버마다 허용된 일과 호출이 실패했을 때의 모습을 견줍니다. 포털과 로컬의 연결 방식이 어떻게 다른지도 이 실습에서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여덟 개와 함께 실행 고리, 정보원, 멈춤 조건, 실행 기록, 호스트, 클라이언트, 서버, 도구, 입력 스키마, 허용 목록이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기록의 한 장면을 실행 고리의 단계에 대어 보는 문항입니다. 두 호출의 도구가 같은지 다른지, 뒤 호출의 입력이 어디에서 왔는지를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스킬과 도구의 역할을 구분하는 문항입니다. 스킬에 방법이 적혀 있는데도 실행되지 않았다면 무엇이 빠졌는지를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읽기와 쓰기의 경계를 누가 정하는지를 묻는 문항입니다. 세 도구가 연결 검사에서 각각 어떻게 판정되는지를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같은 일을 방법을 바꾸어 다시 한 경우에 해당하는 말이며 이 장면과는 다릅니다. 둘째 문항의 1번과 2번은 스킬을 고치는 일이어서 빠진 연결을 채우지 못합니다. 셋째 문항의 2번은 표시가 없는 도구를 읽기로 본 것이며, 표시가 없으면 읽는 도구인지 알 수 없으므로 거절됩니다.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1.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12.png"/><Relationship Id="rId6"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7.png"/><Relationship Id="rId4" Type="http://schemas.openxmlformats.org/officeDocument/2006/relationships/image" Target="../media/image16.png"/><Relationship Id="rId5"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46.png"/><Relationship Id="rId6"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9.png"/><Relationship Id="rId4" Type="http://schemas.openxmlformats.org/officeDocument/2006/relationships/image" Target="../media/image30.png"/><Relationship Id="rId5" Type="http://schemas.openxmlformats.org/officeDocument/2006/relationships/image" Target="../media/image38.png"/><Relationship Id="rId6"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1.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43.png"/><Relationship Id="rId6" Type="http://schemas.openxmlformats.org/officeDocument/2006/relationships/image" Target="../media/image5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60.png"/><Relationship Id="rId5" Type="http://schemas.openxmlformats.org/officeDocument/2006/relationships/image" Target="../media/image3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7.png"/><Relationship Id="rId4" Type="http://schemas.openxmlformats.org/officeDocument/2006/relationships/image" Target="../media/image67.png"/><Relationship Id="rId5" Type="http://schemas.openxmlformats.org/officeDocument/2006/relationships/image" Target="../media/image8.png"/><Relationship Id="rId6" Type="http://schemas.openxmlformats.org/officeDocument/2006/relationships/image" Target="../media/image6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5.png"/><Relationship Id="rId4" Type="http://schemas.openxmlformats.org/officeDocument/2006/relationships/image" Target="../media/image2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6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70.png"/><Relationship Id="rId6" Type="http://schemas.openxmlformats.org/officeDocument/2006/relationships/image" Target="../media/image4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4일차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업무를 수행하는 에이전트와</a:t>
            </a:r>
          </a:p>
          <a:p>
            <a:pPr algn="l">
              <a:lnSpc>
                <a:spcPct val="110000"/>
              </a:lnSpc>
            </a:pPr>
            <a:r>
              <a:rPr sz="4000" b="1">
                <a:solidFill>
                  <a:srgbClr val="FFFFFF"/>
                </a:solidFill>
                <a:latin typeface="맑은 고딕"/>
                <a:ea typeface="맑은 고딕"/>
                <a:cs typeface="맑은 고딕"/>
              </a:rPr>
              <a:t>재사용 지침, 외부 시스템 연결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도구를 쓰며 목표까지 일하는 에이전트의 구조, 업무 지침의 재사용, 외부 시스템 연결의 표준과 안전 기준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ug-connected" descr="plug-connected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쓰는 에이전트가 일하는 과정과, 그 일을 지침으로 남기고 외부 시스템에 안전하게 잇는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repeat" descr="repeat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방식과 실행 고리</a:t>
            </a:r>
          </a:p>
          <a:p>
            <a:pPr algn="l">
              <a:lnSpc>
                <a:spcPct val="110000"/>
              </a:lnSpc>
              <a:spcAft>
                <a:spcPts val="400"/>
              </a:spcAft>
            </a:pPr>
            <a:r>
              <a:rPr sz="1350" b="0">
                <a:solidFill>
                  <a:srgbClr val="1F2A3A"/>
                </a:solidFill>
                <a:latin typeface="맑은 고딕"/>
                <a:ea typeface="맑은 고딕"/>
                <a:cs typeface="맑은 고딕"/>
              </a:rPr>
              <a:t>• 한 번 답하는 모델과 에이전트의 차이를 같은 요청으로 견준다</a:t>
            </a:r>
          </a:p>
          <a:p>
            <a:pPr algn="l">
              <a:lnSpc>
                <a:spcPct val="110000"/>
              </a:lnSpc>
              <a:spcAft>
                <a:spcPts val="400"/>
              </a:spcAft>
            </a:pPr>
            <a:r>
              <a:rPr sz="1350" b="0">
                <a:solidFill>
                  <a:srgbClr val="1F2A3A"/>
                </a:solidFill>
                <a:latin typeface="맑은 고딕"/>
                <a:ea typeface="맑은 고딕"/>
                <a:cs typeface="맑은 고딕"/>
              </a:rPr>
              <a:t>• 실행 고리의 단계를 처리 기록에서 짚는다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정보원과 멈춤 조건</a:t>
            </a:r>
          </a:p>
          <a:p>
            <a:pPr algn="l">
              <a:lnSpc>
                <a:spcPct val="110000"/>
              </a:lnSpc>
              <a:spcAft>
                <a:spcPts val="400"/>
              </a:spcAft>
            </a:pPr>
            <a:r>
              <a:rPr sz="1350" b="0">
                <a:solidFill>
                  <a:srgbClr val="1F2A3A"/>
                </a:solidFill>
                <a:latin typeface="맑은 고딕"/>
                <a:ea typeface="맑은 고딕"/>
                <a:cs typeface="맑은 고딕"/>
              </a:rPr>
              <a:t>• 정보원이 답하는 물음을 가르고 근거가 모자랄 때 멈추는 조건을 든다</a:t>
            </a:r>
          </a:p>
          <a:p>
            <a:pPr algn="l">
              <a:lnSpc>
                <a:spcPct val="110000"/>
              </a:lnSpc>
              <a:spcAft>
                <a:spcPts val="400"/>
              </a:spcAft>
            </a:pPr>
            <a:r>
              <a:rPr sz="1350" b="0">
                <a:solidFill>
                  <a:srgbClr val="1F2A3A"/>
                </a:solidFill>
                <a:latin typeface="맑은 고딕"/>
                <a:ea typeface="맑은 고딕"/>
                <a:cs typeface="맑은 고딕"/>
              </a:rPr>
              <a:t>• 실패했을 때 실행 기록에서 확인할 것을 설명한다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file-text" descr="file-text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스킬</a:t>
            </a:r>
          </a:p>
          <a:p>
            <a:pPr algn="l">
              <a:lnSpc>
                <a:spcPct val="110000"/>
              </a:lnSpc>
              <a:spcAft>
                <a:spcPts val="400"/>
              </a:spcAft>
            </a:pPr>
            <a:r>
              <a:rPr sz="1350" b="0">
                <a:solidFill>
                  <a:srgbClr val="1F2A3A"/>
                </a:solidFill>
                <a:latin typeface="맑은 고딕"/>
                <a:ea typeface="맑은 고딕"/>
                <a:cs typeface="맑은 고딕"/>
              </a:rPr>
              <a:t>• 스킬 파일이 정하는 호출 조건, 입력, 절차, 출력을 원문에서 짚는다</a:t>
            </a:r>
          </a:p>
          <a:p>
            <a:pPr algn="l">
              <a:lnSpc>
                <a:spcPct val="110000"/>
              </a:lnSpc>
              <a:spcAft>
                <a:spcPts val="400"/>
              </a:spcAft>
            </a:pPr>
            <a:r>
              <a:rPr sz="1350" b="0">
                <a:solidFill>
                  <a:srgbClr val="1F2A3A"/>
                </a:solidFill>
                <a:latin typeface="맑은 고딕"/>
                <a:ea typeface="맑은 고딕"/>
                <a:cs typeface="맑은 고딕"/>
              </a:rPr>
              <a:t>• 현장의 SOP와 구분한다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방법</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plug-connected" descr="plug-connected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외부 시스템 연결</a:t>
            </a:r>
          </a:p>
          <a:p>
            <a:pPr algn="l">
              <a:lnSpc>
                <a:spcPct val="110000"/>
              </a:lnSpc>
              <a:spcAft>
                <a:spcPts val="400"/>
              </a:spcAft>
            </a:pPr>
            <a:r>
              <a:rPr sz="1350" b="0">
                <a:solidFill>
                  <a:srgbClr val="1F2A3A"/>
                </a:solidFill>
                <a:latin typeface="맑은 고딕"/>
                <a:ea typeface="맑은 고딕"/>
                <a:cs typeface="맑은 고딕"/>
              </a:rPr>
              <a:t>• 호스트, 클라이언트, 서버, 도구의 관계를 설명한다</a:t>
            </a:r>
          </a:p>
          <a:p>
            <a:pPr algn="l">
              <a:lnSpc>
                <a:spcPct val="110000"/>
              </a:lnSpc>
              <a:spcAft>
                <a:spcPts val="400"/>
              </a:spcAft>
            </a:pPr>
            <a:r>
              <a:rPr sz="1350" b="0">
                <a:solidFill>
                  <a:srgbClr val="1F2A3A"/>
                </a:solidFill>
                <a:latin typeface="맑은 고딕"/>
                <a:ea typeface="맑은 고딕"/>
                <a:cs typeface="맑은 고딕"/>
              </a:rPr>
              <a:t>• 읽기와 쓰기 권한, 포털과 로컬 설정의 차이를 가른다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일하는 에이전트의 실행 고리와 정보원 · 도구 사용 원리</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스킬: 재사용하는 업무 수행 지침</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MCP: 외부 시스템 연결과 도구 연결의 안전 기준</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일하는 에이전트의 실행 고리와</a:t>
            </a:r>
          </a:p>
          <a:p>
            <a:pPr algn="l">
              <a:lnSpc>
                <a:spcPct val="110000"/>
              </a:lnSpc>
            </a:pPr>
            <a:r>
              <a:rPr sz="3400" b="1">
                <a:solidFill>
                  <a:srgbClr val="13294B"/>
                </a:solidFill>
                <a:latin typeface="맑은 고딕"/>
                <a:ea typeface="맑은 고딕"/>
                <a:cs typeface="맑은 고딕"/>
              </a:rPr>
              <a:t>정보원 · 도구 사용 원리</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도구를 쓰며 일하는 에이전트의 실행 순서와, 읽는 정보원과 멈추는 조건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승인까지 108초 가운데 에이전트가 일한 94초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견주어 추천안을 낸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1991314023078336147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 11:13:08</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원인을 가리고 후보를 견준다</a:t>
            </a:r>
          </a:p>
        </p:txBody>
      </p:sp>
      <p:sp>
        <p:nvSpPr>
          <p:cNvPr id="9" name="TextBox 8"/>
          <p:cNvSpPr txBox="1"/>
          <p:nvPr/>
        </p:nvSpPr>
        <p:spPr>
          <a:xfrm>
            <a:off x="6444951" y="172218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 11:14:42</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11:14:56</a:t>
            </a:r>
          </a:p>
          <a:p>
            <a:pPr algn="ctr">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94초</a:t>
            </a:r>
          </a:p>
          <a:p>
            <a:pPr algn="ctr">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13초</a:t>
            </a:r>
          </a:p>
          <a:p>
            <a:pPr algn="ctr">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LLM의 응답 생성: 입력 한 번에 출력 한 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LLM은 받은 글에 이어질 글을 학습한 내용으로 만들어 한 번 답하며, 그 과정에서 바깥의 데이터를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330181"/>
            <a:ext cx="618134" cy="618134"/>
          </a:xfrm>
          <a:prstGeom prst="rect">
            <a:avLst/>
          </a:prstGeom>
        </p:spPr>
      </p:pic>
      <p:sp>
        <p:nvSpPr>
          <p:cNvPr id="11" name="TextBox 10"/>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사람이 적어 넣은 글</a:t>
            </a:r>
          </a:p>
          <a:p>
            <a:pPr algn="ctr">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330181"/>
            <a:ext cx="618134" cy="618134"/>
          </a:xfrm>
          <a:prstGeom prst="rect">
            <a:avLst/>
          </a:prstGeom>
        </p:spPr>
      </p:pic>
      <p:sp>
        <p:nvSpPr>
          <p:cNvPr id="16" name="TextBox 15"/>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LLM</a:t>
            </a:r>
          </a:p>
          <a:p>
            <a:pPr algn="ctr">
              <a:lnSpc>
                <a:spcPct val="110000"/>
              </a:lnSpc>
              <a:spcAft>
                <a:spcPts val="400"/>
              </a:spcAft>
            </a:pPr>
            <a:r>
              <a:rPr sz="1300" b="0">
                <a:solidFill>
                  <a:srgbClr val="1F2A3A"/>
                </a:solidFill>
                <a:latin typeface="맑은 고딕"/>
                <a:ea typeface="맑은 고딕"/>
                <a:cs typeface="맑은 고딕"/>
              </a:rPr>
              <a:t>학습한 내용으로</a:t>
            </a:r>
          </a:p>
          <a:p>
            <a:pPr algn="ctr">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330181"/>
            <a:ext cx="618134" cy="618134"/>
          </a:xfrm>
          <a:prstGeom prst="rect">
            <a:avLst/>
          </a:prstGeom>
        </p:spPr>
      </p:pic>
      <p:sp>
        <p:nvSpPr>
          <p:cNvPr id="19" name="TextBox 18"/>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출력</a:t>
            </a:r>
          </a:p>
          <a:p>
            <a:pPr algn="ctr">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LLM만으로는 답할 수 없는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유온이 지금 몇 도인가」의 답은 시계열 DB에 있고 모델이 학습한 내용 안에는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유온, 냉각 효율, 운전 모드는 매초 바뀐다</a:t>
            </a:r>
          </a:p>
          <a:p>
            <a:pPr algn="l">
              <a:lnSpc>
                <a:spcPct val="110000"/>
              </a:lnSpc>
              <a:spcAft>
                <a:spcPts val="400"/>
              </a:spcAft>
            </a:pPr>
            <a:r>
              <a:rPr sz="14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 공장의 문서</a:t>
            </a:r>
          </a:p>
          <a:p>
            <a:pPr algn="l">
              <a:lnSpc>
                <a:spcPct val="110000"/>
              </a:lnSpc>
              <a:spcAft>
                <a:spcPts val="400"/>
              </a:spcAft>
            </a:pPr>
            <a:r>
              <a:rPr sz="1400" b="0">
                <a:solidFill>
                  <a:srgbClr val="1F2A3A"/>
                </a:solidFill>
                <a:latin typeface="맑은 고딕"/>
                <a:ea typeface="맑은 고딕"/>
                <a:cs typeface="맑은 고딕"/>
              </a:rPr>
              <a:t>• 매뉴얼 HM-8의 판별 기준과 절차는 공개된 글이 아니다</a:t>
            </a:r>
          </a:p>
          <a:p>
            <a:pPr algn="l">
              <a:lnSpc>
                <a:spcPct val="110000"/>
              </a:lnSpc>
              <a:spcAft>
                <a:spcPts val="400"/>
              </a:spcAft>
            </a:pPr>
            <a:r>
              <a:rPr sz="1400" b="0">
                <a:solidFill>
                  <a:srgbClr val="1F2A3A"/>
                </a:solidFill>
                <a:latin typeface="맑은 고딕"/>
                <a:ea typeface="맑은 고딕"/>
                <a:cs typeface="맑은 고딕"/>
              </a:rPr>
              <a:t>• 일반적인 유압 설비 지식으로 대신 답하게 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수행</a:t>
            </a:r>
          </a:p>
          <a:p>
            <a:pPr algn="l">
              <a:lnSpc>
                <a:spcPct val="110000"/>
              </a:lnSpc>
              <a:spcAft>
                <a:spcPts val="400"/>
              </a:spcAft>
            </a:pPr>
            <a:r>
              <a:rPr sz="1400" b="0">
                <a:solidFill>
                  <a:srgbClr val="1F2A3A"/>
                </a:solidFill>
                <a:latin typeface="맑은 고딕"/>
                <a:ea typeface="맑은 고딕"/>
                <a:cs typeface="맑은 고딕"/>
              </a:rPr>
              <a:t>• 조회, 계산, 제출은 글을 만드는 일이 아니다</a:t>
            </a:r>
          </a:p>
          <a:p>
            <a:pPr algn="l">
              <a:lnSpc>
                <a:spcPct val="110000"/>
              </a:lnSpc>
              <a:spcAft>
                <a:spcPts val="400"/>
              </a:spcAft>
            </a:pPr>
            <a:r>
              <a:rPr sz="1400" b="0">
                <a:solidFill>
                  <a:srgbClr val="1F2A3A"/>
                </a:solidFill>
                <a:latin typeface="맑은 고딕"/>
                <a:ea typeface="맑은 고딕"/>
                <a:cs typeface="맑은 고딕"/>
              </a:rPr>
              <a:t>• 모델은 글을 낼 뿐 다른 시스템에 닿지 못한다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RAG(Retrieval-Augmented Generation): 문서를 찾아 읽히는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RAG는 질문과 가까운 문서 조각을 찾아 모델에 함께 넣어, 모델이 학습하지 않은 문서의 내용으로 답하게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a:t>
            </a:r>
          </a:p>
          <a:p>
            <a:pPr algn="ctr">
              <a:lnSpc>
                <a:spcPct val="110000"/>
              </a:lnSpc>
              <a:spcAft>
                <a:spcPts val="400"/>
              </a:spcAft>
            </a:pPr>
            <a:r>
              <a:rPr sz="13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검색</a:t>
            </a:r>
          </a:p>
          <a:p>
            <a:pPr algn="ctr">
              <a:lnSpc>
                <a:spcPct val="110000"/>
              </a:lnSpc>
              <a:spcAft>
                <a:spcPts val="400"/>
              </a:spcAft>
            </a:pPr>
            <a:r>
              <a:rPr sz="1350" b="0">
                <a:solidFill>
                  <a:srgbClr val="1F2A3A"/>
                </a:solidFill>
                <a:latin typeface="맑은 고딕"/>
                <a:ea typeface="맑은 고딕"/>
                <a:cs typeface="맑은 고딕"/>
              </a:rPr>
              <a:t>질문과 뜻이 가까운</a:t>
            </a:r>
          </a:p>
          <a:p>
            <a:pPr algn="ctr">
              <a:lnSpc>
                <a:spcPct val="110000"/>
              </a:lnSpc>
              <a:spcAft>
                <a:spcPts val="400"/>
              </a:spcAft>
            </a:pPr>
            <a:r>
              <a:rPr sz="13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보강</a:t>
            </a:r>
          </a:p>
          <a:p>
            <a:pPr algn="ctr">
              <a:lnSpc>
                <a:spcPct val="110000"/>
              </a:lnSpc>
              <a:spcAft>
                <a:spcPts val="400"/>
              </a:spcAft>
            </a:pPr>
            <a:r>
              <a:rPr sz="1350" b="0">
                <a:solidFill>
                  <a:srgbClr val="1F2A3A"/>
                </a:solidFill>
                <a:latin typeface="맑은 고딕"/>
                <a:ea typeface="맑은 고딕"/>
                <a:cs typeface="맑은 고딕"/>
              </a:rPr>
              <a:t>찾은 조각을</a:t>
            </a:r>
          </a:p>
          <a:p>
            <a:pPr algn="ctr">
              <a:lnSpc>
                <a:spcPct val="110000"/>
              </a:lnSpc>
              <a:spcAft>
                <a:spcPts val="400"/>
              </a:spcAft>
            </a:pPr>
            <a:r>
              <a:rPr sz="1350" b="0">
                <a:solidFill>
                  <a:srgbClr val="1F2A3A"/>
                </a:solidFill>
                <a:latin typeface="맑은 고딕"/>
                <a:ea typeface="맑은 고딕"/>
                <a:cs typeface="맑은 고딕"/>
              </a:rPr>
              <a:t>질문과 함께</a:t>
            </a:r>
          </a:p>
          <a:p>
            <a:pPr algn="ctr">
              <a:lnSpc>
                <a:spcPct val="110000"/>
              </a:lnSpc>
              <a:spcAft>
                <a:spcPts val="400"/>
              </a:spcAft>
            </a:pPr>
            <a:r>
              <a:rPr sz="13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생성</a:t>
            </a:r>
          </a:p>
          <a:p>
            <a:pPr algn="ctr">
              <a:lnSpc>
                <a:spcPct val="110000"/>
              </a:lnSpc>
              <a:spcAft>
                <a:spcPts val="400"/>
              </a:spcAft>
            </a:pPr>
            <a:r>
              <a:rPr sz="1350" b="0">
                <a:solidFill>
                  <a:srgbClr val="1F2A3A"/>
                </a:solidFill>
                <a:latin typeface="맑은 고딕"/>
                <a:ea typeface="맑은 고딕"/>
                <a:cs typeface="맑은 고딕"/>
              </a:rPr>
              <a:t>모델이 조각을 읽고</a:t>
            </a:r>
          </a:p>
          <a:p>
            <a:pPr algn="ctr">
              <a:lnSpc>
                <a:spcPct val="110000"/>
              </a:lnSpc>
              <a:spcAft>
                <a:spcPts val="400"/>
              </a:spcAft>
            </a:pPr>
            <a:r>
              <a:rPr sz="1350" b="0">
                <a:solidFill>
                  <a:srgbClr val="1F2A3A"/>
                </a:solidFill>
                <a:latin typeface="맑은 고딕"/>
                <a:ea typeface="맑은 고딕"/>
                <a:cs typeface="맑은 고딕"/>
              </a:rPr>
              <a:t>글로 답한다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목표를 받아 도구를 쓰며 끝까지 수행하는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a:t>
            </a:r>
          </a:p>
          <a:p>
            <a:pPr algn="l">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목표에 이를 때까지 되풀이하는 시스템이다.</a:t>
            </a:r>
          </a:p>
          <a:p>
            <a:pPr algn="l">
              <a:lnSpc>
                <a:spcPct val="110000"/>
              </a:lnSpc>
              <a:spcAft>
                <a:spcPts val="300"/>
              </a:spcAft>
            </a:pPr>
            <a:r>
              <a:rPr sz="1400" b="0">
                <a:solidFill>
                  <a:srgbClr val="1F2A3A"/>
                </a:solidFill>
                <a:latin typeface="맑은 고딕"/>
                <a:ea typeface="맑은 고딕"/>
                <a:cs typeface="맑은 고딕"/>
              </a:rPr>
              <a:t>마지막에 내는 것은 답 문장이 아니라 업무 산출물이다.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쿨러 사건의 에이전트</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요청에 대한 세 방식의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 조치를 정하라」를 세 방식에 맡기면 돌아오는 것의 모양이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모델이 학습한 내용</a:t>
            </a:r>
          </a:p>
          <a:p>
            <a:pPr algn="l">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유압 설비에 대한</a:t>
            </a:r>
          </a:p>
          <a:p>
            <a:pPr algn="l">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찾아온 문서 조각</a:t>
            </a:r>
          </a:p>
          <a:p>
            <a:pPr algn="l">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도구가 돌려준 결과</a:t>
            </a:r>
          </a:p>
          <a:p>
            <a:pPr algn="l">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이 설비의 값으로</a:t>
            </a:r>
          </a:p>
          <a:p>
            <a:pPr algn="l">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세 요소: 모델, 도구, 실행 고리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모델은 앞에서 본 LLM 그대로이며, 여기에 부를 수 있는 도구와 되풀이하는 실행 고리가 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세요소.svg" descr="illust_7737860841121890697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모델</a:t>
            </a:r>
          </a:p>
          <a:p>
            <a:pPr algn="ctr">
              <a:lnSpc>
                <a:spcPct val="110000"/>
              </a:lnSpc>
              <a:spcAft>
                <a:spcPts val="100"/>
              </a:spcAft>
            </a:pPr>
            <a:r>
              <a:rPr sz="1300" b="0">
                <a:solidFill>
                  <a:srgbClr val="556175"/>
                </a:solidFill>
                <a:latin typeface="맑은 고딕"/>
                <a:ea typeface="맑은 고딕"/>
                <a:cs typeface="맑은 고딕"/>
              </a:rPr>
              <a:t>글을 읽고</a:t>
            </a:r>
          </a:p>
          <a:p>
            <a:pPr algn="ctr">
              <a:lnSpc>
                <a:spcPct val="110000"/>
              </a:lnSpc>
              <a:spcAft>
                <a:spcPts val="100"/>
              </a:spcAft>
            </a:pPr>
            <a:r>
              <a:rPr sz="1300" b="0">
                <a:solidFill>
                  <a:srgbClr val="556175"/>
                </a:solidFill>
                <a:latin typeface="맑은 고딕"/>
                <a:ea typeface="맑은 고딕"/>
                <a:cs typeface="맑은 고딕"/>
              </a:rPr>
              <a:t>다음 행동을 정한다</a:t>
            </a:r>
          </a:p>
        </p:txBody>
      </p:sp>
      <p:sp>
        <p:nvSpPr>
          <p:cNvPr id="8" name="TextBox 7"/>
          <p:cNvSpPr txBox="1"/>
          <p:nvPr/>
        </p:nvSpPr>
        <p:spPr>
          <a:xfrm>
            <a:off x="3848491"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조회하고 계산해</a:t>
            </a:r>
          </a:p>
          <a:p>
            <a:pPr algn="ctr">
              <a:lnSpc>
                <a:spcPct val="110000"/>
              </a:lnSpc>
              <a:spcAft>
                <a:spcPts val="100"/>
              </a:spcAft>
            </a:pPr>
            <a:r>
              <a:rPr sz="1300" b="0">
                <a:solidFill>
                  <a:srgbClr val="556175"/>
                </a:solidFill>
                <a:latin typeface="맑은 고딕"/>
                <a:ea typeface="맑은 고딕"/>
                <a:cs typeface="맑은 고딕"/>
              </a:rPr>
              <a:t>결과를 돌려준다</a:t>
            </a:r>
          </a:p>
        </p:txBody>
      </p:sp>
      <p:sp>
        <p:nvSpPr>
          <p:cNvPr id="9" name="TextBox 8"/>
          <p:cNvSpPr txBox="1"/>
          <p:nvPr/>
        </p:nvSpPr>
        <p:spPr>
          <a:xfrm>
            <a:off x="6619503" y="4653198"/>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고리</a:t>
            </a:r>
          </a:p>
          <a:p>
            <a:pPr algn="ctr">
              <a:lnSpc>
                <a:spcPct val="110000"/>
              </a:lnSpc>
              <a:spcAft>
                <a:spcPts val="100"/>
              </a:spcAft>
            </a:pPr>
            <a:r>
              <a:rPr sz="1300" b="0">
                <a:solidFill>
                  <a:srgbClr val="556175"/>
                </a:solidFill>
                <a:latin typeface="맑은 고딕"/>
                <a:ea typeface="맑은 고딕"/>
                <a:cs typeface="맑은 고딕"/>
              </a:rPr>
              <a:t>목표에 이를 때까지</a:t>
            </a:r>
          </a:p>
          <a:p>
            <a:pPr algn="ctr">
              <a:lnSpc>
                <a:spcPct val="110000"/>
              </a:lnSpc>
              <a:spcAft>
                <a:spcPts val="100"/>
              </a:spcAft>
            </a:pPr>
            <a:r>
              <a:rPr sz="1300" b="0">
                <a:solidFill>
                  <a:srgbClr val="556175"/>
                </a:solidFill>
                <a:latin typeface="맑은 고딕"/>
                <a:ea typeface="맑은 고딕"/>
                <a:cs typeface="맑은 고딕"/>
              </a:rPr>
              <a:t>되풀이한다</a:t>
            </a:r>
          </a:p>
        </p:txBody>
      </p:sp>
      <p:sp>
        <p:nvSpPr>
          <p:cNvPr id="10" name="TextBox 9"/>
          <p:cNvSpPr txBox="1"/>
          <p:nvPr/>
        </p:nvSpPr>
        <p:spPr>
          <a:xfrm>
            <a:off x="9499610" y="465319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하나를 정의하는 항목: 목표, 도구,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모델이라도 목표와 붙여 준 도구와 업무 지침이 다르면 서로 다른 일을 하는 에이전트가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냉각 긴급 대응 에이전트의 값</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정하는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누구인가</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목표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요지: 쿨러 성능 저하 경보의 원인을 진단하고, 냉각 조치 후보를 규정과 회사 목표로 견주어 추천 하나와 뒤진 대안을 올린다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이루는가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조회(neo4j), 업무 DB 조회(enterprise), 판단 도구(hyd-dmn)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쓸 수 있는가</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지침</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 cooling-emergency-response</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어떤 순서로 하는가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부를 도구의 이름과 입력을 글로 적어 낼 뿐이고, 실제 조회는 도구가 수행해 결과를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도구의 이름</a:t>
            </a:r>
          </a:p>
          <a:p>
            <a:pPr algn="l">
              <a:lnSpc>
                <a:spcPct val="110000"/>
              </a:lnSpc>
              <a:spcAft>
                <a:spcPts val="400"/>
              </a:spcAft>
            </a:pPr>
            <a:r>
              <a:rPr sz="140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a:t>
            </a:r>
          </a:p>
          <a:p>
            <a:pPr algn="l">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받음</a:t>
            </a:r>
          </a:p>
          <a:p>
            <a:pPr algn="l">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걸린 시간</a:t>
            </a:r>
          </a:p>
          <a:p>
            <a:pPr algn="l">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고리는 요청 해석, 계획, 도구 선택과 호출, 결과 관찰을 차례로 밟고, 목표에 못 미치면 계획으로 되돌아간다.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실행고리.svg" descr="illust_7884194467108141090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요청 해석</a:t>
            </a:r>
          </a:p>
          <a:p>
            <a:pPr algn="ctr">
              <a:lnSpc>
                <a:spcPct val="110000"/>
              </a:lnSpc>
              <a:spcAft>
                <a:spcPts val="100"/>
              </a:spcAft>
            </a:pPr>
            <a:r>
              <a:rPr sz="1300" b="0">
                <a:solidFill>
                  <a:srgbClr val="556175"/>
                </a:solidFill>
                <a:latin typeface="맑은 고딕"/>
                <a:ea typeface="맑은 고딕"/>
                <a:cs typeface="맑은 고딕"/>
              </a:rPr>
              <a:t>무엇을 받았고</a:t>
            </a:r>
          </a:p>
          <a:p>
            <a:pPr algn="ctr">
              <a:lnSpc>
                <a:spcPct val="110000"/>
              </a:lnSpc>
              <a:spcAft>
                <a:spcPts val="100"/>
              </a:spcAft>
            </a:pPr>
            <a:r>
              <a:rPr sz="1300" b="0">
                <a:solidFill>
                  <a:srgbClr val="556175"/>
                </a:solidFill>
                <a:latin typeface="맑은 고딕"/>
                <a:ea typeface="맑은 고딕"/>
                <a:cs typeface="맑은 고딕"/>
              </a:rPr>
              <a:t>무엇을 내야 하는가</a:t>
            </a:r>
          </a:p>
        </p:txBody>
      </p:sp>
      <p:sp>
        <p:nvSpPr>
          <p:cNvPr id="8" name="TextBox 7"/>
          <p:cNvSpPr txBox="1"/>
          <p:nvPr/>
        </p:nvSpPr>
        <p:spPr>
          <a:xfrm>
            <a:off x="317210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계획</a:t>
            </a:r>
          </a:p>
          <a:p>
            <a:pPr algn="ctr">
              <a:lnSpc>
                <a:spcPct val="110000"/>
              </a:lnSpc>
              <a:spcAft>
                <a:spcPts val="100"/>
              </a:spcAft>
            </a:pPr>
            <a:r>
              <a:rPr sz="1300" b="0">
                <a:solidFill>
                  <a:srgbClr val="556175"/>
                </a:solidFill>
                <a:latin typeface="맑은 고딕"/>
                <a:ea typeface="맑은 고딕"/>
                <a:cs typeface="맑은 고딕"/>
              </a:rPr>
              <a:t>어떤 순서로</a:t>
            </a:r>
          </a:p>
          <a:p>
            <a:pPr algn="ctr">
              <a:lnSpc>
                <a:spcPct val="110000"/>
              </a:lnSpc>
              <a:spcAft>
                <a:spcPts val="100"/>
              </a:spcAft>
            </a:pPr>
            <a:r>
              <a:rPr sz="1300" b="0">
                <a:solidFill>
                  <a:srgbClr val="556175"/>
                </a:solidFill>
                <a:latin typeface="맑은 고딕"/>
                <a:ea typeface="맑은 고딕"/>
                <a:cs typeface="맑은 고딕"/>
              </a:rPr>
              <a:t>할 것인가</a:t>
            </a:r>
          </a:p>
        </p:txBody>
      </p:sp>
      <p:sp>
        <p:nvSpPr>
          <p:cNvPr id="9" name="TextBox 8"/>
          <p:cNvSpPr txBox="1"/>
          <p:nvPr/>
        </p:nvSpPr>
        <p:spPr>
          <a:xfrm>
            <a:off x="5201269" y="4842296"/>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 선택 · 호출</a:t>
            </a:r>
          </a:p>
          <a:p>
            <a:pPr algn="ctr">
              <a:lnSpc>
                <a:spcPct val="110000"/>
              </a:lnSpc>
              <a:spcAft>
                <a:spcPts val="100"/>
              </a:spcAft>
            </a:pPr>
            <a:r>
              <a:rPr sz="1300" b="0">
                <a:solidFill>
                  <a:srgbClr val="556175"/>
                </a:solidFill>
                <a:latin typeface="맑은 고딕"/>
                <a:ea typeface="맑은 고딕"/>
                <a:cs typeface="맑은 고딕"/>
              </a:rPr>
              <a:t>어느 도구에</a:t>
            </a:r>
          </a:p>
          <a:p>
            <a:pPr algn="ctr">
              <a:lnSpc>
                <a:spcPct val="110000"/>
              </a:lnSpc>
              <a:spcAft>
                <a:spcPts val="100"/>
              </a:spcAft>
            </a:pPr>
            <a:r>
              <a:rPr sz="1300" b="0">
                <a:solidFill>
                  <a:srgbClr val="556175"/>
                </a:solidFill>
                <a:latin typeface="맑은 고딕"/>
                <a:ea typeface="맑은 고딕"/>
                <a:cs typeface="맑은 고딕"/>
              </a:rPr>
              <a:t>무엇을 물을 것인가</a:t>
            </a:r>
          </a:p>
        </p:txBody>
      </p:sp>
      <p:sp>
        <p:nvSpPr>
          <p:cNvPr id="10" name="TextBox 9"/>
          <p:cNvSpPr txBox="1"/>
          <p:nvPr/>
        </p:nvSpPr>
        <p:spPr>
          <a:xfrm>
            <a:off x="735043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a:p>
            <a:pPr algn="ctr">
              <a:lnSpc>
                <a:spcPct val="110000"/>
              </a:lnSpc>
              <a:spcAft>
                <a:spcPts val="100"/>
              </a:spcAft>
            </a:pPr>
            <a:r>
              <a:rPr sz="1300" b="0">
                <a:solidFill>
                  <a:srgbClr val="556175"/>
                </a:solidFill>
                <a:latin typeface="맑은 고딕"/>
                <a:ea typeface="맑은 고딕"/>
                <a:cs typeface="맑은 고딕"/>
              </a:rPr>
              <a:t>받은 결과로</a:t>
            </a:r>
          </a:p>
          <a:p>
            <a:pPr algn="ctr">
              <a:lnSpc>
                <a:spcPct val="110000"/>
              </a:lnSpc>
              <a:spcAft>
                <a:spcPts val="100"/>
              </a:spcAft>
            </a:pPr>
            <a:r>
              <a:rPr sz="1300" b="0">
                <a:solidFill>
                  <a:srgbClr val="556175"/>
                </a:solidFill>
                <a:latin typeface="맑은 고딕"/>
                <a:ea typeface="맑은 고딕"/>
                <a:cs typeface="맑은 고딕"/>
              </a:rPr>
              <a:t>목표에 이르렀는가</a:t>
            </a:r>
          </a:p>
        </p:txBody>
      </p:sp>
      <p:sp>
        <p:nvSpPr>
          <p:cNvPr id="11" name="TextBox 10"/>
          <p:cNvSpPr txBox="1"/>
          <p:nvPr/>
        </p:nvSpPr>
        <p:spPr>
          <a:xfrm>
            <a:off x="944506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a:t>
            </a:r>
          </a:p>
          <a:p>
            <a:pPr algn="ctr">
              <a:lnSpc>
                <a:spcPct val="110000"/>
              </a:lnSpc>
              <a:spcAft>
                <a:spcPts val="100"/>
              </a:spcAft>
            </a:pPr>
            <a:r>
              <a:rPr sz="1300" b="0">
                <a:solidFill>
                  <a:srgbClr val="556175"/>
                </a:solidFill>
                <a:latin typeface="맑은 고딕"/>
                <a:ea typeface="맑은 고딕"/>
                <a:cs typeface="맑은 고딕"/>
              </a:rPr>
              <a:t>산출물을 제출하고</a:t>
            </a:r>
          </a:p>
          <a:p>
            <a:pPr algn="ctr">
              <a:lnSpc>
                <a:spcPct val="110000"/>
              </a:lnSpc>
              <a:spcAft>
                <a:spcPts val="100"/>
              </a:spcAft>
            </a:pPr>
            <a:r>
              <a:rPr sz="1300" b="0">
                <a:solidFill>
                  <a:srgbClr val="556175"/>
                </a:solidFill>
                <a:latin typeface="맑은 고딕"/>
                <a:ea typeface="맑은 고딕"/>
                <a:cs typeface="맑은 고딕"/>
              </a:rPr>
              <a:t>끝낸다</a:t>
            </a:r>
          </a:p>
        </p:txBody>
      </p:sp>
      <p:sp>
        <p:nvSpPr>
          <p:cNvPr id="12" name="TextBox 11"/>
          <p:cNvSpPr txBox="1"/>
          <p:nvPr/>
        </p:nvSpPr>
        <p:spPr>
          <a:xfrm>
            <a:off x="4001224" y="1911278"/>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재시도와 다음 호출</a:t>
            </a:r>
          </a:p>
          <a:p>
            <a:pPr algn="ctr">
              <a:lnSpc>
                <a:spcPct val="110000"/>
              </a:lnSpc>
              <a:spcAft>
                <a:spcPts val="100"/>
              </a:spcAft>
            </a:pPr>
            <a:r>
              <a:rPr sz="1300" b="0">
                <a:solidFill>
                  <a:srgbClr val="556175"/>
                </a:solidFill>
                <a:latin typeface="맑은 고딕"/>
                <a:ea typeface="맑은 고딕"/>
                <a:cs typeface="맑은 고딕"/>
              </a:rPr>
              <a:t>목표에 못 미쳤으면 계획을 고쳐 다시 부른다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계획: 목표를 도구 호출의 순서로 푼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계획은 목표를 도구 호출의 순서로 풀어 놓은 것이며, 쿨러 사건에서는 업무 지침의 다섯 단계가 그 뼈대였다.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ectangle 5"/>
          <p:cNvSpPr/>
          <p:nvPr/>
        </p:nvSpPr>
        <p:spPr>
          <a:xfrm>
            <a:off x="1658081" y="3154426"/>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738374"/>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440911" y="2955544"/>
            <a:ext cx="434340" cy="434340"/>
          </a:xfrm>
          <a:prstGeom prst="rect">
            <a:avLst/>
          </a:prstGeom>
        </p:spPr>
      </p:pic>
      <p:sp>
        <p:nvSpPr>
          <p:cNvPr id="9" name="Oval 8"/>
          <p:cNvSpPr/>
          <p:nvPr/>
        </p:nvSpPr>
        <p:spPr>
          <a:xfrm>
            <a:off x="1818101" y="2692654"/>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입력 확인</a:t>
            </a:r>
          </a:p>
          <a:p>
            <a:pPr algn="ctr">
              <a:lnSpc>
                <a:spcPct val="110000"/>
              </a:lnSpc>
              <a:spcAft>
                <a:spcPts val="400"/>
              </a:spcAft>
            </a:pPr>
            <a:r>
              <a:rPr sz="1300" b="0">
                <a:solidFill>
                  <a:srgbClr val="1F2A3A"/>
                </a:solidFill>
                <a:latin typeface="맑은 고딕"/>
                <a:ea typeface="맑은 고딕"/>
                <a:cs typeface="맑은 고딕"/>
              </a:rPr>
              <a:t>설비, 경보의 종류,</a:t>
            </a:r>
          </a:p>
          <a:p>
            <a:pPr algn="ctr">
              <a:lnSpc>
                <a:spcPct val="110000"/>
              </a:lnSpc>
              <a:spcAft>
                <a:spcPts val="400"/>
              </a:spcAft>
            </a:pPr>
            <a:r>
              <a:rPr sz="1300" b="0">
                <a:solidFill>
                  <a:srgbClr val="1F2A3A"/>
                </a:solidFill>
                <a:latin typeface="맑은 고딕"/>
                <a:ea typeface="맑은 고딕"/>
                <a:cs typeface="맑은 고딕"/>
              </a:rPr>
              <a:t>경보 번호를 읽는다</a:t>
            </a:r>
          </a:p>
        </p:txBody>
      </p:sp>
      <p:sp>
        <p:nvSpPr>
          <p:cNvPr id="12" name="Oval 11"/>
          <p:cNvSpPr/>
          <p:nvPr/>
        </p:nvSpPr>
        <p:spPr>
          <a:xfrm>
            <a:off x="3442624" y="2738374"/>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3659794" y="2955544"/>
            <a:ext cx="434340" cy="434340"/>
          </a:xfrm>
          <a:prstGeom prst="rect">
            <a:avLst/>
          </a:prstGeom>
        </p:spPr>
      </p:pic>
      <p:sp>
        <p:nvSpPr>
          <p:cNvPr id="14" name="Oval 13"/>
          <p:cNvSpPr/>
          <p:nvPr/>
        </p:nvSpPr>
        <p:spPr>
          <a:xfrm>
            <a:off x="4036984" y="2692654"/>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원인 진단</a:t>
            </a:r>
          </a:p>
          <a:p>
            <a:pPr algn="ctr">
              <a:lnSpc>
                <a:spcPct val="110000"/>
              </a:lnSpc>
              <a:spcAft>
                <a:spcPts val="400"/>
              </a:spcAft>
            </a:pPr>
            <a:r>
              <a:rPr sz="1300" b="0">
                <a:solidFill>
                  <a:srgbClr val="1F2A3A"/>
                </a:solidFill>
                <a:latin typeface="맑은 고딕"/>
                <a:ea typeface="맑은 고딕"/>
                <a:cs typeface="맑은 고딕"/>
              </a:rPr>
              <a:t>원인 1순위와</a:t>
            </a:r>
          </a:p>
          <a:p>
            <a:pPr algn="ctr">
              <a:lnSpc>
                <a:spcPct val="110000"/>
              </a:lnSpc>
              <a:spcAft>
                <a:spcPts val="400"/>
              </a:spcAft>
            </a:pPr>
            <a:r>
              <a:rPr sz="1300" b="0">
                <a:solidFill>
                  <a:srgbClr val="1F2A3A"/>
                </a:solidFill>
                <a:latin typeface="맑은 고딕"/>
                <a:ea typeface="맑은 고딕"/>
                <a:cs typeface="맑은 고딕"/>
              </a:rPr>
              <a:t>고장 유형을 얻는다</a:t>
            </a:r>
          </a:p>
        </p:txBody>
      </p:sp>
      <p:sp>
        <p:nvSpPr>
          <p:cNvPr id="17" name="Oval 16"/>
          <p:cNvSpPr/>
          <p:nvPr/>
        </p:nvSpPr>
        <p:spPr>
          <a:xfrm>
            <a:off x="5661507" y="2738374"/>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calendar-time" descr="calendar-time_13294B_1.6.png"/>
          <p:cNvPicPr>
            <a:picLocks noChangeAspect="1"/>
          </p:cNvPicPr>
          <p:nvPr/>
        </p:nvPicPr>
        <p:blipFill>
          <a:blip r:embed="rId5"/>
          <a:stretch>
            <a:fillRect/>
          </a:stretch>
        </p:blipFill>
        <p:spPr>
          <a:xfrm>
            <a:off x="5878677" y="2955544"/>
            <a:ext cx="434340" cy="434340"/>
          </a:xfrm>
          <a:prstGeom prst="rect">
            <a:avLst/>
          </a:prstGeom>
        </p:spPr>
      </p:pic>
      <p:sp>
        <p:nvSpPr>
          <p:cNvPr id="19" name="Oval 18"/>
          <p:cNvSpPr/>
          <p:nvPr/>
        </p:nvSpPr>
        <p:spPr>
          <a:xfrm>
            <a:off x="6255867" y="2692654"/>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업무 값 확인</a:t>
            </a:r>
          </a:p>
          <a:p>
            <a:pPr algn="ctr">
              <a:lnSpc>
                <a:spcPct val="110000"/>
              </a:lnSpc>
              <a:spcAft>
                <a:spcPts val="400"/>
              </a:spcAft>
            </a:pPr>
            <a:r>
              <a:rPr sz="1300" b="0">
                <a:solidFill>
                  <a:srgbClr val="1F2A3A"/>
                </a:solidFill>
                <a:latin typeface="맑은 고딕"/>
                <a:ea typeface="맑은 고딕"/>
                <a:cs typeface="맑은 고딕"/>
              </a:rPr>
              <a:t>납기 오더와</a:t>
            </a:r>
          </a:p>
          <a:p>
            <a:pPr algn="ctr">
              <a:lnSpc>
                <a:spcPct val="110000"/>
              </a:lnSpc>
              <a:spcAft>
                <a:spcPts val="400"/>
              </a:spcAft>
            </a:pPr>
            <a:r>
              <a:rPr sz="1300" b="0">
                <a:solidFill>
                  <a:srgbClr val="1F2A3A"/>
                </a:solidFill>
                <a:latin typeface="맑은 고딕"/>
                <a:ea typeface="맑은 고딕"/>
                <a:cs typeface="맑은 고딕"/>
              </a:rPr>
              <a:t>출하 대기 로트를 본다</a:t>
            </a:r>
          </a:p>
        </p:txBody>
      </p:sp>
      <p:sp>
        <p:nvSpPr>
          <p:cNvPr id="22" name="Oval 21"/>
          <p:cNvSpPr/>
          <p:nvPr/>
        </p:nvSpPr>
        <p:spPr>
          <a:xfrm>
            <a:off x="7880390" y="2738374"/>
            <a:ext cx="868680" cy="86868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097560" y="2955544"/>
            <a:ext cx="434340" cy="434340"/>
          </a:xfrm>
          <a:prstGeom prst="rect">
            <a:avLst/>
          </a:prstGeom>
        </p:spPr>
      </p:pic>
      <p:sp>
        <p:nvSpPr>
          <p:cNvPr id="24" name="Oval 23"/>
          <p:cNvSpPr/>
          <p:nvPr/>
        </p:nvSpPr>
        <p:spPr>
          <a:xfrm>
            <a:off x="8474750" y="2692654"/>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대안 평가</a:t>
            </a:r>
          </a:p>
          <a:p>
            <a:pPr algn="ctr">
              <a:lnSpc>
                <a:spcPct val="110000"/>
              </a:lnSpc>
              <a:spcAft>
                <a:spcPts val="400"/>
              </a:spcAft>
            </a:pPr>
            <a:r>
              <a:rPr sz="1300" b="0">
                <a:solidFill>
                  <a:srgbClr val="1F2A3A"/>
                </a:solidFill>
                <a:latin typeface="맑은 고딕"/>
                <a:ea typeface="맑은 고딕"/>
                <a:cs typeface="맑은 고딕"/>
              </a:rPr>
              <a:t>후보의 규정 판정,</a:t>
            </a:r>
          </a:p>
          <a:p>
            <a:pPr algn="ctr">
              <a:lnSpc>
                <a:spcPct val="110000"/>
              </a:lnSpc>
              <a:spcAft>
                <a:spcPts val="400"/>
              </a:spcAft>
            </a:pPr>
            <a:r>
              <a:rPr sz="1300" b="0">
                <a:solidFill>
                  <a:srgbClr val="1F2A3A"/>
                </a:solidFill>
                <a:latin typeface="맑은 고딕"/>
                <a:ea typeface="맑은 고딕"/>
                <a:cs typeface="맑은 고딕"/>
              </a:rPr>
              <a:t>예측 유온, 순위를 본다</a:t>
            </a:r>
          </a:p>
        </p:txBody>
      </p:sp>
      <p:sp>
        <p:nvSpPr>
          <p:cNvPr id="27" name="Oval 26"/>
          <p:cNvSpPr/>
          <p:nvPr/>
        </p:nvSpPr>
        <p:spPr>
          <a:xfrm>
            <a:off x="10099273" y="2738374"/>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send" descr="send_13294B_1.6.png"/>
          <p:cNvPicPr>
            <a:picLocks noChangeAspect="1"/>
          </p:cNvPicPr>
          <p:nvPr/>
        </p:nvPicPr>
        <p:blipFill>
          <a:blip r:embed="rId7"/>
          <a:stretch>
            <a:fillRect/>
          </a:stretch>
        </p:blipFill>
        <p:spPr>
          <a:xfrm>
            <a:off x="10316443" y="2955544"/>
            <a:ext cx="434340" cy="434340"/>
          </a:xfrm>
          <a:prstGeom prst="rect">
            <a:avLst/>
          </a:prstGeom>
        </p:spPr>
      </p:pic>
      <p:sp>
        <p:nvSpPr>
          <p:cNvPr id="29" name="Oval 28"/>
          <p:cNvSpPr/>
          <p:nvPr/>
        </p:nvSpPr>
        <p:spPr>
          <a:xfrm>
            <a:off x="10693633" y="2692654"/>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판단 제출</a:t>
            </a:r>
          </a:p>
          <a:p>
            <a:pPr algn="ctr">
              <a:lnSpc>
                <a:spcPct val="110000"/>
              </a:lnSpc>
              <a:spcAft>
                <a:spcPts val="400"/>
              </a:spcAft>
            </a:pPr>
            <a:r>
              <a:rPr sz="1300" b="0">
                <a:solidFill>
                  <a:srgbClr val="1F2A3A"/>
                </a:solidFill>
                <a:latin typeface="맑은 고딕"/>
                <a:ea typeface="맑은 고딕"/>
                <a:cs typeface="맑은 고딕"/>
              </a:rPr>
              <a:t>추천안을 제출하고</a:t>
            </a:r>
          </a:p>
          <a:p>
            <a:pPr algn="ctr">
              <a:lnSpc>
                <a:spcPct val="110000"/>
              </a:lnSpc>
              <a:spcAft>
                <a:spcPts val="400"/>
              </a:spcAft>
            </a:pPr>
            <a:r>
              <a:rPr sz="1300" b="0">
                <a:solidFill>
                  <a:srgbClr val="1F2A3A"/>
                </a:solidFill>
                <a:latin typeface="맑은 고딕"/>
                <a:ea typeface="맑은 고딕"/>
                <a:cs typeface="맑은 고딕"/>
              </a:rPr>
              <a:t>판단 번호를 받는다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 ms)</a:t>
            </a: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관찰</a:t>
            </a:r>
          </a:p>
          <a:p>
            <a:pPr algn="l">
              <a:lnSpc>
                <a:spcPct val="110000"/>
              </a:lnSpc>
              <a:spcAft>
                <a:spcPts val="400"/>
              </a:spcAft>
            </a:pPr>
            <a:r>
              <a:rPr sz="14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 호출의 입력</a:t>
            </a:r>
          </a:p>
          <a:p>
            <a:pPr algn="l">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a:t>
            </a:r>
          </a:p>
          <a:p>
            <a:pPr algn="l">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재시도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대안 평가가 돌려준 결과가 128,466자로 길자, 에이전트는 필요한 항목만 좁혀 다시 뽑는 쪽으로 계획을 고쳤다.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관찰</a:t>
            </a:r>
          </a:p>
          <a:p>
            <a:pPr algn="ctr">
              <a:lnSpc>
                <a:spcPct val="110000"/>
              </a:lnSpc>
              <a:spcAft>
                <a:spcPts val="400"/>
              </a:spcAft>
            </a:pPr>
            <a:r>
              <a:rPr sz="1350" b="0">
                <a:solidFill>
                  <a:srgbClr val="1F2A3A"/>
                </a:solidFill>
                <a:latin typeface="맑은 고딕"/>
                <a:ea typeface="맑은 고딕"/>
                <a:cs typeface="맑은 고딕"/>
              </a:rPr>
              <a:t>11:13:23</a:t>
            </a:r>
          </a:p>
          <a:p>
            <a:pPr algn="ctr">
              <a:lnSpc>
                <a:spcPct val="110000"/>
              </a:lnSpc>
              <a:spcAft>
                <a:spcPts val="400"/>
              </a:spcAft>
            </a:pPr>
            <a:r>
              <a:rPr sz="1350" b="0">
                <a:solidFill>
                  <a:srgbClr val="1F2A3A"/>
                </a:solidFill>
                <a:latin typeface="맑은 고딕"/>
                <a:ea typeface="맑은 고딕"/>
                <a:cs typeface="맑은 고딕"/>
              </a:rPr>
              <a:t>대안 평가의 결과가</a:t>
            </a:r>
          </a:p>
          <a:p>
            <a:pPr algn="ctr">
              <a:lnSpc>
                <a:spcPct val="110000"/>
              </a:lnSpc>
              <a:spcAft>
                <a:spcPts val="400"/>
              </a:spcAft>
            </a:pPr>
            <a:r>
              <a:rPr sz="1350" b="0">
                <a:solidFill>
                  <a:srgbClr val="1F2A3A"/>
                </a:solidFill>
                <a:latin typeface="맑은 고딕"/>
                <a:ea typeface="맑은 고딕"/>
                <a:cs typeface="맑은 고딕"/>
              </a:rPr>
              <a:t>128,466자이다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계획 수정</a:t>
            </a:r>
          </a:p>
          <a:p>
            <a:pPr algn="ctr">
              <a:lnSpc>
                <a:spcPct val="110000"/>
              </a:lnSpc>
              <a:spcAft>
                <a:spcPts val="400"/>
              </a:spcAft>
            </a:pPr>
            <a:r>
              <a:rPr sz="1350" b="0">
                <a:solidFill>
                  <a:srgbClr val="1F2A3A"/>
                </a:solidFill>
                <a:latin typeface="맑은 고딕"/>
                <a:ea typeface="맑은 고딕"/>
                <a:cs typeface="맑은 고딕"/>
              </a:rPr>
              <a:t>11:13:40</a:t>
            </a:r>
          </a:p>
          <a:p>
            <a:pPr algn="ctr">
              <a:lnSpc>
                <a:spcPct val="110000"/>
              </a:lnSpc>
              <a:spcAft>
                <a:spcPts val="400"/>
              </a:spcAft>
            </a:pPr>
            <a:r>
              <a:rPr sz="1350" b="0">
                <a:solidFill>
                  <a:srgbClr val="1F2A3A"/>
                </a:solidFill>
                <a:latin typeface="맑은 고딕"/>
                <a:ea typeface="맑은 고딕"/>
                <a:cs typeface="맑은 고딕"/>
              </a:rPr>
              <a:t>「순위와 규정 판정만</a:t>
            </a:r>
          </a:p>
          <a:p>
            <a:pPr algn="ctr">
              <a:lnSpc>
                <a:spcPct val="110000"/>
              </a:lnSpc>
              <a:spcAft>
                <a:spcPts val="400"/>
              </a:spcAft>
            </a:pPr>
            <a:r>
              <a:rPr sz="1350" b="0">
                <a:solidFill>
                  <a:srgbClr val="1F2A3A"/>
                </a:solidFill>
                <a:latin typeface="맑은 고딕"/>
                <a:ea typeface="맑은 고딕"/>
                <a:cs typeface="맑은 고딕"/>
              </a:rPr>
              <a:t>간추려 보겠습니다.」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재시도</a:t>
            </a:r>
          </a:p>
          <a:p>
            <a:pPr algn="ctr">
              <a:lnSpc>
                <a:spcPct val="110000"/>
              </a:lnSpc>
              <a:spcAft>
                <a:spcPts val="400"/>
              </a:spcAft>
            </a:pPr>
            <a:r>
              <a:rPr sz="1350" b="0">
                <a:solidFill>
                  <a:srgbClr val="1F2A3A"/>
                </a:solidFill>
                <a:latin typeface="맑은 고딕"/>
                <a:ea typeface="맑은 고딕"/>
                <a:cs typeface="맑은 고딕"/>
              </a:rPr>
              <a:t>11:13:46</a:t>
            </a:r>
          </a:p>
          <a:p>
            <a:pPr algn="ctr">
              <a:lnSpc>
                <a:spcPct val="110000"/>
              </a:lnSpc>
              <a:spcAft>
                <a:spcPts val="400"/>
              </a:spcAft>
            </a:pPr>
            <a:r>
              <a:rPr sz="1350" b="0">
                <a:solidFill>
                  <a:srgbClr val="1F2A3A"/>
                </a:solidFill>
                <a:latin typeface="맑은 고딕"/>
                <a:ea typeface="맑은 고딕"/>
                <a:cs typeface="맑은 고딕"/>
              </a:rPr>
              <a:t>「필요한 항목만 좁혀</a:t>
            </a:r>
          </a:p>
          <a:p>
            <a:pPr algn="ctr">
              <a:lnSpc>
                <a:spcPct val="110000"/>
              </a:lnSpc>
              <a:spcAft>
                <a:spcPts val="400"/>
              </a:spcAft>
            </a:pPr>
            <a:r>
              <a:rPr sz="1350" b="0">
                <a:solidFill>
                  <a:srgbClr val="1F2A3A"/>
                </a:solidFill>
                <a:latin typeface="맑은 고딕"/>
                <a:ea typeface="맑은 고딕"/>
                <a:cs typeface="맑은 고딕"/>
              </a:rPr>
              <a:t>다시 뽑겠습니다.」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사건의 업무 산출물: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에이전트가 낸 산출물은 원인, 추천 하나, 뒤진 대안 셋과 그 이유를 한데 묶은 추천안이다.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350" b="0">
                <a:solidFill>
                  <a:srgbClr val="1F2A3A"/>
                </a:solidFill>
                <a:latin typeface="맑은 고딕"/>
                <a:ea typeface="맑은 고딕"/>
                <a:cs typeface="맑은 고딕"/>
              </a:rPr>
              <a:t>• 쿨러 핀 오염</a:t>
            </a:r>
          </a:p>
          <a:p>
            <a:pPr algn="l">
              <a:lnSpc>
                <a:spcPct val="110000"/>
              </a:lnSpc>
              <a:spcAft>
                <a:spcPts val="400"/>
              </a:spcAft>
            </a:pPr>
            <a:r>
              <a:rPr sz="1350" b="0">
                <a:solidFill>
                  <a:srgbClr val="1F2A3A"/>
                </a:solidFill>
                <a:latin typeface="맑은 고딕"/>
                <a:ea typeface="맑은 고딕"/>
                <a:cs typeface="맑은 고딕"/>
              </a:rPr>
              <a:t>• 고장 유형은 쿨러 냉각 성능 상실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진단</a:t>
            </a:r>
          </a:p>
        </p:txBody>
      </p:sp>
      <p:sp>
        <p:nvSpPr>
          <p:cNvPr id="12" name="Rounded Rectangle 11"/>
          <p:cNvSpPr/>
          <p:nvPr/>
        </p:nvSpPr>
        <p:spPr>
          <a:xfrm>
            <a:off x="3390823"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5CB8F2"/>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a:t>
            </a:r>
          </a:p>
          <a:p>
            <a:pPr algn="l">
              <a:lnSpc>
                <a:spcPct val="110000"/>
              </a:lnSpc>
              <a:spcAft>
                <a:spcPts val="400"/>
              </a:spcAft>
            </a:pPr>
            <a:r>
              <a:rPr sz="1350" b="0">
                <a:solidFill>
                  <a:srgbClr val="1F2A3A"/>
                </a:solidFill>
                <a:latin typeface="맑은 고딕"/>
                <a:ea typeface="맑은 고딕"/>
                <a:cs typeface="맑은 고딕"/>
              </a:rPr>
              <a:t>• 팬 최대 운전 · SOP-COOL-11</a:t>
            </a:r>
          </a:p>
          <a:p>
            <a:pPr algn="l">
              <a:lnSpc>
                <a:spcPct val="110000"/>
              </a:lnSpc>
              <a:spcAft>
                <a:spcPts val="400"/>
              </a:spcAft>
            </a:pPr>
            <a:r>
              <a:rPr sz="1350" b="0">
                <a:solidFill>
                  <a:srgbClr val="1F2A3A"/>
                </a:solidFill>
                <a:latin typeface="맑은 고딕"/>
                <a:ea typeface="맑은 고딕"/>
                <a:cs typeface="맑은 고딕"/>
              </a:rPr>
              <a:t>• 점수 3.38</a:t>
            </a:r>
          </a:p>
        </p:txBody>
      </p:sp>
      <p:sp>
        <p:nvSpPr>
          <p:cNvPr id="16" name="Rounded Rectangle 15"/>
          <p:cNvSpPr/>
          <p:nvPr/>
        </p:nvSpPr>
        <p:spPr>
          <a:xfrm>
            <a:off x="3619423" y="5238940"/>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1순위</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뒤진 대안</a:t>
            </a:r>
          </a:p>
          <a:p>
            <a:pPr algn="l">
              <a:lnSpc>
                <a:spcPct val="110000"/>
              </a:lnSpc>
              <a:spcAft>
                <a:spcPts val="400"/>
              </a:spcAft>
            </a:pPr>
            <a:r>
              <a:rPr sz="1350" b="0">
                <a:solidFill>
                  <a:srgbClr val="1F2A3A"/>
                </a:solidFill>
                <a:latin typeface="맑은 고딕"/>
                <a:ea typeface="맑은 고딕"/>
                <a:cs typeface="맑은 고딕"/>
              </a:rPr>
              <a:t>• 부하 70 %와 야간 핀 세척 2.75</a:t>
            </a:r>
          </a:p>
          <a:p>
            <a:pPr algn="l">
              <a:lnSpc>
                <a:spcPct val="110000"/>
              </a:lnSpc>
              <a:spcAft>
                <a:spcPts val="400"/>
              </a:spcAft>
            </a:pPr>
            <a:r>
              <a:rPr sz="1350" b="0">
                <a:solidFill>
                  <a:srgbClr val="1F2A3A"/>
                </a:solidFill>
                <a:latin typeface="맑은 고딕"/>
                <a:ea typeface="맑은 고딕"/>
                <a:cs typeface="맑은 고딕"/>
              </a:rPr>
              <a:t>• 팬 최대 운전과 부하 80 % 2.75</a:t>
            </a:r>
          </a:p>
          <a:p>
            <a:pPr algn="l">
              <a:lnSpc>
                <a:spcPct val="110000"/>
              </a:lnSpc>
              <a:spcAft>
                <a:spcPts val="400"/>
              </a:spcAft>
            </a:pPr>
            <a:r>
              <a:rPr sz="1350" b="0">
                <a:solidFill>
                  <a:srgbClr val="1F2A3A"/>
                </a:solidFill>
                <a:latin typeface="맑은 고딕"/>
                <a:ea typeface="맑은 고딕"/>
                <a:cs typeface="맑은 고딕"/>
              </a:rPr>
              <a:t>• 쿨러 핀 세척 -1.58</a:t>
            </a:r>
          </a:p>
        </p:txBody>
      </p:sp>
      <p:sp>
        <p:nvSpPr>
          <p:cNvPr id="22" name="Rounded Rectangle 21"/>
          <p:cNvSpPr/>
          <p:nvPr/>
        </p:nvSpPr>
        <p:spPr>
          <a:xfrm>
            <a:off x="6461607" y="5238940"/>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대안 셋</a:t>
            </a:r>
          </a:p>
        </p:txBody>
      </p:sp>
      <p:sp>
        <p:nvSpPr>
          <p:cNvPr id="24" name="Rounded Rectangle 23"/>
          <p:cNvSpPr/>
          <p:nvPr/>
        </p:nvSpPr>
        <p:spPr>
          <a:xfrm>
            <a:off x="9075191"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E7F3FD"/>
          </a:solidFill>
          <a:ln>
            <a:noFill/>
          </a:ln>
        </p:spPr>
        <p:txBody>
          <a:bodyPr rtlCol="0" anchor="ctr"/>
          <a:lstStyle/>
          <a:p>
            <a:pPr algn="ctr"/>
          </a:p>
        </p:txBody>
      </p:sp>
      <p:pic>
        <p:nvPicPr>
          <p:cNvPr id="26" name="아이콘:id" descr="id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설명과 번호</a:t>
            </a:r>
          </a:p>
          <a:p>
            <a:pPr algn="l">
              <a:lnSpc>
                <a:spcPct val="110000"/>
              </a:lnSpc>
              <a:spcAft>
                <a:spcPts val="400"/>
              </a:spcAft>
            </a:pPr>
            <a:r>
              <a:rPr sz="1350" b="0">
                <a:solidFill>
                  <a:srgbClr val="1F2A3A"/>
                </a:solidFill>
                <a:latin typeface="맑은 고딕"/>
                <a:ea typeface="맑은 고딕"/>
                <a:cs typeface="맑은 고딕"/>
              </a:rPr>
              <a:t>• 추천이 앞서고 대안이 뒤지는 이유</a:t>
            </a:r>
          </a:p>
          <a:p>
            <a:pPr algn="l">
              <a:lnSpc>
                <a:spcPct val="110000"/>
              </a:lnSpc>
              <a:spcAft>
                <a:spcPts val="400"/>
              </a:spcAft>
            </a:pPr>
            <a:r>
              <a:rPr sz="1350" b="0">
                <a:solidFill>
                  <a:srgbClr val="1F2A3A"/>
                </a:solidFill>
                <a:latin typeface="맑은 고딕"/>
                <a:ea typeface="맑은 고딕"/>
                <a:cs typeface="맑은 고딕"/>
              </a:rPr>
              <a:t>• 판단 번호 DEC-1010-002-408b</a:t>
            </a:r>
          </a:p>
        </p:txBody>
      </p:sp>
      <p:sp>
        <p:nvSpPr>
          <p:cNvPr id="28" name="Rounded Rectangle 27"/>
          <p:cNvSpPr/>
          <p:nvPr/>
        </p:nvSpPr>
        <p:spPr>
          <a:xfrm>
            <a:off x="9303791" y="5238940"/>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한 건에는 원인의 관계, 지금의 측정값, 납기, 작업 절차처럼 서로 다른 곳에서 읽어 온 정보가 함께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pic>
        <p:nvPicPr>
          <p:cNvPr id="6" name="삽화:정보원.svg" descr="illust_3009937387162041502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a:t>
            </a:r>
          </a:p>
          <a:p>
            <a:pPr algn="ctr">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도구를 불러 읽는다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정보원이 답하는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정보원은 답하는 물음이 서로 달라, 물음에 맞지 않는 곳을 읽으면 답이 없거나 낡은 답을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350" b="0">
                <a:solidFill>
                  <a:srgbClr val="1F2A3A"/>
                </a:solidFill>
                <a:latin typeface="맑은 고딕"/>
                <a:ea typeface="맑은 고딕"/>
                <a:cs typeface="맑은 고딕"/>
              </a:rPr>
              <a:t>• 무엇과 무엇이 어떤 관계인가</a:t>
            </a:r>
          </a:p>
          <a:p>
            <a:pPr algn="l">
              <a:lnSpc>
                <a:spcPct val="110000"/>
              </a:lnSpc>
              <a:spcAft>
                <a:spcPts val="400"/>
              </a:spcAft>
            </a:pPr>
            <a:r>
              <a:rPr sz="1350" b="0">
                <a:solidFill>
                  <a:srgbClr val="1F2A3A"/>
                </a:solidFill>
                <a:latin typeface="맑은 고딕"/>
                <a:ea typeface="맑은 고딕"/>
                <a:cs typeface="맑은 고딕"/>
              </a:rPr>
              <a:t>• 설비, 증상, 원인, 조치의 관계를 담는다</a:t>
            </a:r>
          </a:p>
        </p:txBody>
      </p:sp>
      <p:sp>
        <p:nvSpPr>
          <p:cNvPr id="10" name="Rounded Rectangle 9"/>
          <p:cNvSpPr/>
          <p:nvPr/>
        </p:nvSpPr>
        <p:spPr>
          <a:xfrm>
            <a:off x="777240" y="5134356"/>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hart-line" descr="chart-lin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시계열 DB</a:t>
            </a:r>
          </a:p>
          <a:p>
            <a:pPr algn="l">
              <a:lnSpc>
                <a:spcPct val="110000"/>
              </a:lnSpc>
              <a:spcAft>
                <a:spcPts val="400"/>
              </a:spcAft>
            </a:pPr>
            <a:r>
              <a:rPr sz="1350" b="0">
                <a:solidFill>
                  <a:srgbClr val="1F2A3A"/>
                </a:solidFill>
                <a:latin typeface="맑은 고딕"/>
                <a:ea typeface="맑은 고딕"/>
                <a:cs typeface="맑은 고딕"/>
              </a:rPr>
              <a:t>• 그 시각의 값이 얼마였는가</a:t>
            </a:r>
          </a:p>
          <a:p>
            <a:pPr algn="l">
              <a:lnSpc>
                <a:spcPct val="110000"/>
              </a:lnSpc>
              <a:spcAft>
                <a:spcPts val="400"/>
              </a:spcAft>
            </a:pPr>
            <a:r>
              <a:rPr sz="1350" b="0">
                <a:solidFill>
                  <a:srgbClr val="1F2A3A"/>
                </a:solidFill>
                <a:latin typeface="맑은 고딕"/>
                <a:ea typeface="맑은 고딕"/>
                <a:cs typeface="맑은 고딕"/>
              </a:rPr>
              <a:t>• 센서의 측정값을 시간 순서로 쌓는다</a:t>
            </a:r>
          </a:p>
        </p:txBody>
      </p:sp>
      <p:sp>
        <p:nvSpPr>
          <p:cNvPr id="16" name="Rounded Rectangle 15"/>
          <p:cNvSpPr/>
          <p:nvPr/>
        </p:nvSpPr>
        <p:spPr>
          <a:xfrm>
            <a:off x="3619423" y="513435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매초 바뀐다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업무 DB</a:t>
            </a:r>
          </a:p>
          <a:p>
            <a:pPr algn="l">
              <a:lnSpc>
                <a:spcPct val="110000"/>
              </a:lnSpc>
              <a:spcAft>
                <a:spcPts val="400"/>
              </a:spcAft>
            </a:pPr>
            <a:r>
              <a:rPr sz="1350" b="0">
                <a:solidFill>
                  <a:srgbClr val="1F2A3A"/>
                </a:solidFill>
                <a:latin typeface="맑은 고딕"/>
                <a:ea typeface="맑은 고딕"/>
                <a:cs typeface="맑은 고딕"/>
              </a:rPr>
              <a:t>• 정비, 재고, 납기는 어떤 상태인가</a:t>
            </a:r>
          </a:p>
          <a:p>
            <a:pPr algn="l">
              <a:lnSpc>
                <a:spcPct val="110000"/>
              </a:lnSpc>
              <a:spcAft>
                <a:spcPts val="400"/>
              </a:spcAft>
            </a:pPr>
            <a:r>
              <a:rPr sz="1350" b="0">
                <a:solidFill>
                  <a:srgbClr val="1F2A3A"/>
                </a:solidFill>
                <a:latin typeface="맑은 고딕"/>
                <a:ea typeface="맑은 고딕"/>
                <a:cs typeface="맑은 고딕"/>
              </a:rPr>
              <a:t>• 업무 시스템이 남긴 기록을 담는다</a:t>
            </a:r>
          </a:p>
        </p:txBody>
      </p:sp>
      <p:sp>
        <p:nvSpPr>
          <p:cNvPr id="22" name="Rounded Rectangle 21"/>
          <p:cNvSpPr/>
          <p:nvPr/>
        </p:nvSpPr>
        <p:spPr>
          <a:xfrm>
            <a:off x="6461607" y="5134356"/>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때마다 바뀐다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SOP</a:t>
            </a:r>
          </a:p>
          <a:p>
            <a:pPr algn="l">
              <a:lnSpc>
                <a:spcPct val="110000"/>
              </a:lnSpc>
              <a:spcAft>
                <a:spcPts val="400"/>
              </a:spcAft>
            </a:pPr>
            <a:r>
              <a:rPr sz="1350" b="0">
                <a:solidFill>
                  <a:srgbClr val="1F2A3A"/>
                </a:solidFill>
                <a:latin typeface="맑은 고딕"/>
                <a:ea typeface="맑은 고딕"/>
                <a:cs typeface="맑은 고딕"/>
              </a:rPr>
              <a:t>• 조치를 어떻게 수행하는가</a:t>
            </a:r>
          </a:p>
          <a:p>
            <a:pPr algn="l">
              <a:lnSpc>
                <a:spcPct val="110000"/>
              </a:lnSpc>
              <a:spcAft>
                <a:spcPts val="400"/>
              </a:spcAft>
            </a:pPr>
            <a:r>
              <a:rPr sz="1350" b="0">
                <a:solidFill>
                  <a:srgbClr val="1F2A3A"/>
                </a:solidFill>
                <a:latin typeface="맑은 고딕"/>
                <a:ea typeface="맑은 고딕"/>
                <a:cs typeface="맑은 고딕"/>
              </a:rPr>
              <a:t>• 단계, 승인 역할, 근거 절을 정해 둔다</a:t>
            </a:r>
          </a:p>
        </p:txBody>
      </p:sp>
      <p:sp>
        <p:nvSpPr>
          <p:cNvPr id="28" name="Rounded Rectangle 27"/>
          <p:cNvSpPr/>
          <p:nvPr/>
        </p:nvSpPr>
        <p:spPr>
          <a:xfrm>
            <a:off x="9303791" y="5134356"/>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작업 규칙: 추측 대신 도구로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작업 규칙은 지식, 지금의 값, 규칙 판정을 기억으로 채우지 말고 각각 정해진 도구로 확인하라고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 원인 후보, 증거 기준, 조치 방법</a:t>
            </a:r>
          </a:p>
          <a:p>
            <a:pPr algn="l">
              <a:lnSpc>
                <a:spcPct val="110000"/>
              </a:lnSpc>
              <a:spcAft>
                <a:spcPts val="400"/>
              </a:spcAft>
            </a:pPr>
            <a:r>
              <a:rPr sz="1400" b="0">
                <a:solidFill>
                  <a:srgbClr val="1F2A3A"/>
                </a:solidFill>
                <a:latin typeface="맑은 고딕"/>
                <a:ea typeface="맑은 고딕"/>
                <a:cs typeface="맑은 고딕"/>
              </a:rPr>
              <a:t>• 지식 그래프를 조회해 얻는다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 그래프</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activity" descr="activity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센서 값, 납기, 재고</a:t>
            </a:r>
          </a:p>
          <a:p>
            <a:pPr algn="l">
              <a:lnSpc>
                <a:spcPct val="110000"/>
              </a:lnSpc>
              <a:spcAft>
                <a:spcPts val="400"/>
              </a:spcAft>
            </a:pPr>
            <a:r>
              <a:rPr sz="1400" b="0">
                <a:solidFill>
                  <a:srgbClr val="1F2A3A"/>
                </a:solidFill>
                <a:latin typeface="맑은 고딕"/>
                <a:ea typeface="맑은 고딕"/>
                <a:cs typeface="맑은 고딕"/>
              </a:rPr>
              <a:t>• 시계열 DB와 업무 DB에서 그때 읽는다</a:t>
            </a:r>
          </a:p>
        </p:txBody>
      </p:sp>
      <p:sp>
        <p:nvSpPr>
          <p:cNvPr id="16" name="Rounded Rectangle 15"/>
          <p:cNvSpPr/>
          <p:nvPr/>
        </p:nvSpPr>
        <p:spPr>
          <a:xfrm>
            <a:off x="4566818" y="5149850"/>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원천</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규칙 판정</a:t>
            </a:r>
          </a:p>
          <a:p>
            <a:pPr algn="l">
              <a:lnSpc>
                <a:spcPct val="110000"/>
              </a:lnSpc>
              <a:spcAft>
                <a:spcPts val="400"/>
              </a:spcAft>
            </a:pPr>
            <a:r>
              <a:rPr sz="1400" b="0">
                <a:solidFill>
                  <a:srgbClr val="1F2A3A"/>
                </a:solidFill>
                <a:latin typeface="맑은 고딕"/>
                <a:ea typeface="맑은 고딕"/>
                <a:cs typeface="맑은 고딕"/>
              </a:rPr>
              <a:t>• 제외, 감점, 경고의 판정</a:t>
            </a:r>
          </a:p>
          <a:p>
            <a:pPr algn="l">
              <a:lnSpc>
                <a:spcPct val="110000"/>
              </a:lnSpc>
              <a:spcAft>
                <a:spcPts val="400"/>
              </a:spcAft>
            </a:pPr>
            <a:r>
              <a:rPr sz="1400" b="0">
                <a:solidFill>
                  <a:srgbClr val="1F2A3A"/>
                </a:solidFill>
                <a:latin typeface="맑은 고딕"/>
                <a:ea typeface="맑은 고딕"/>
                <a:cs typeface="맑은 고딕"/>
              </a:rPr>
              <a:t>• 모델이 해석하지 않고 판단 도구의 결과를 쓴다</a:t>
            </a:r>
          </a:p>
          <a:p>
            <a:pPr algn="l">
              <a:lnSpc>
                <a:spcPct val="110000"/>
              </a:lnSpc>
              <a:spcAft>
                <a:spcPts val="400"/>
              </a:spcAft>
            </a:pPr>
            <a:r>
              <a:rPr sz="1400" b="0">
                <a:solidFill>
                  <a:srgbClr val="1F2A3A"/>
                </a:solidFill>
                <a:latin typeface="맑은 고딕"/>
                <a:ea typeface="맑은 고딕"/>
                <a:cs typeface="맑은 고딕"/>
              </a:rPr>
              <a:t>• 같은 입력이면 같은 결과가 나온다</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도구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멈추지 않는 에이전트가 만드는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읽지 못한 채 빈칸을 그럴듯하게 채운 추천안은 겉모습이 같아, 승인하는 사람이 없는 근거를 믿고 결정하게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빈칸을 채워 제출한다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가능성이 가장 큰 쿨러 핀 오염을 원인으로 적는다</a:t>
            </a:r>
          </a:p>
          <a:p>
            <a:pPr algn="l">
              <a:lnSpc>
                <a:spcPct val="110000"/>
              </a:lnSpc>
              <a:spcAft>
                <a:spcPts val="600"/>
              </a:spcAft>
            </a:pPr>
            <a:r>
              <a:rPr sz="1450" b="0">
                <a:solidFill>
                  <a:srgbClr val="1F2A3A"/>
                </a:solidFill>
                <a:latin typeface="맑은 고딕"/>
                <a:ea typeface="맑은 고딕"/>
                <a:cs typeface="맑은 고딕"/>
              </a:rPr>
              <a:t>• 추천안의 모양은 값을 읽었을 때와 같다</a:t>
            </a:r>
          </a:p>
          <a:p>
            <a:pPr algn="l">
              <a:lnSpc>
                <a:spcPct val="110000"/>
              </a:lnSpc>
              <a:spcAft>
                <a:spcPts val="600"/>
              </a:spcAft>
            </a:pPr>
            <a:r>
              <a:rPr sz="1450" b="0">
                <a:solidFill>
                  <a:srgbClr val="1F2A3A"/>
                </a:solidFill>
                <a:latin typeface="맑은 고딕"/>
                <a:ea typeface="맑은 고딕"/>
                <a:cs typeface="맑은 고딕"/>
              </a:rPr>
              <a:t>• 담당자는 확인된 원인으로 알고 승인한다</a:t>
            </a:r>
          </a:p>
        </p:txBody>
      </p:sp>
      <p:sp>
        <p:nvSpPr>
          <p:cNvPr id="11" name="Rounded Rectangle 10"/>
          <p:cNvSpPr/>
          <p:nvPr/>
        </p:nvSpPr>
        <p:spPr>
          <a:xfrm>
            <a:off x="868680" y="5096002"/>
            <a:ext cx="1981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틀려도 드러나지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ayer-stop" descr="player-stop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멈추고 이유를 낸다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원인을 적지 않고 보류한다</a:t>
            </a:r>
          </a:p>
          <a:p>
            <a:pPr algn="l">
              <a:lnSpc>
                <a:spcPct val="110000"/>
              </a:lnSpc>
              <a:spcAft>
                <a:spcPts val="600"/>
              </a:spcAft>
            </a:pPr>
            <a:r>
              <a:rPr sz="1450" b="0">
                <a:solidFill>
                  <a:srgbClr val="1F2A3A"/>
                </a:solidFill>
                <a:latin typeface="맑은 고딕"/>
                <a:ea typeface="맑은 고딕"/>
                <a:cs typeface="맑은 고딕"/>
              </a:rPr>
              <a:t>• 무엇을 확인하지 못했는지를 적어 낸다</a:t>
            </a:r>
          </a:p>
          <a:p>
            <a:pPr algn="l">
              <a:lnSpc>
                <a:spcPct val="110000"/>
              </a:lnSpc>
              <a:spcAft>
                <a:spcPts val="600"/>
              </a:spcAft>
            </a:pPr>
            <a:r>
              <a:rPr sz="1450" b="0">
                <a:solidFill>
                  <a:srgbClr val="1F2A3A"/>
                </a:solidFill>
                <a:latin typeface="맑은 고딕"/>
                <a:ea typeface="맑은 고딕"/>
                <a:cs typeface="맑은 고딕"/>
              </a:rPr>
              <a:t>• 담당자는 값이 들어온 뒤에 다시 평가시킨다</a:t>
            </a:r>
          </a:p>
        </p:txBody>
      </p:sp>
      <p:sp>
        <p:nvSpPr>
          <p:cNvPr id="18" name="Rounded Rectangle 17"/>
          <p:cNvSpPr/>
          <p:nvPr/>
        </p:nvSpPr>
        <p:spPr>
          <a:xfrm>
            <a:off x="6781647" y="5096002"/>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모르는 것이 드러난다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멈춤 조건 세 가지: 근거 부족, 도구 호출 실패, 권한 제한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멈춰야 하는 때는 근거가 모자랄 때, 도구 호출이 끝내 실패했을 때, 허용되지 않은 일이 필요할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멈춤조건.svg" descr="illust_4054337200068825811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부족</a:t>
            </a:r>
          </a:p>
          <a:p>
            <a:pPr algn="ctr">
              <a:lnSpc>
                <a:spcPct val="110000"/>
              </a:lnSpc>
              <a:spcAft>
                <a:spcPts val="100"/>
              </a:spcAft>
            </a:pPr>
            <a:r>
              <a:rPr sz="1300" b="0">
                <a:solidFill>
                  <a:srgbClr val="556175"/>
                </a:solidFill>
                <a:latin typeface="맑은 고딕"/>
                <a:ea typeface="맑은 고딕"/>
                <a:cs typeface="맑은 고딕"/>
              </a:rPr>
              <a:t>값이 없거나 맞는 근거가 없다</a:t>
            </a:r>
          </a:p>
        </p:txBody>
      </p:sp>
      <p:sp>
        <p:nvSpPr>
          <p:cNvPr id="8" name="TextBox 7"/>
          <p:cNvSpPr txBox="1"/>
          <p:nvPr/>
        </p:nvSpPr>
        <p:spPr>
          <a:xfrm>
            <a:off x="3450295" y="427500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 실패</a:t>
            </a:r>
          </a:p>
          <a:p>
            <a:pPr algn="ctr">
              <a:lnSpc>
                <a:spcPct val="110000"/>
              </a:lnSpc>
              <a:spcAft>
                <a:spcPts val="100"/>
              </a:spcAft>
            </a:pPr>
            <a:r>
              <a:rPr sz="1300" b="0">
                <a:solidFill>
                  <a:srgbClr val="556175"/>
                </a:solidFill>
                <a:latin typeface="맑은 고딕"/>
                <a:ea typeface="맑은 고딕"/>
                <a:cs typeface="맑은 고딕"/>
              </a:rPr>
              <a:t>다시 해도 오류가 돌아온다</a:t>
            </a:r>
          </a:p>
        </p:txBody>
      </p:sp>
      <p:sp>
        <p:nvSpPr>
          <p:cNvPr id="9" name="TextBox 8"/>
          <p:cNvSpPr txBox="1"/>
          <p:nvPr/>
        </p:nvSpPr>
        <p:spPr>
          <a:xfrm>
            <a:off x="3450295" y="583506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권한 제한</a:t>
            </a:r>
          </a:p>
          <a:p>
            <a:pPr algn="ctr">
              <a:lnSpc>
                <a:spcPct val="110000"/>
              </a:lnSpc>
              <a:spcAft>
                <a:spcPts val="100"/>
              </a:spcAft>
            </a:pPr>
            <a:r>
              <a:rPr sz="1300" b="0">
                <a:solidFill>
                  <a:srgbClr val="556175"/>
                </a:solidFill>
                <a:latin typeface="맑은 고딕"/>
                <a:ea typeface="맑은 고딕"/>
                <a:cs typeface="맑은 고딕"/>
              </a:rPr>
              <a:t>허용되지 않은 도구이다</a:t>
            </a:r>
          </a:p>
        </p:txBody>
      </p:sp>
      <p:sp>
        <p:nvSpPr>
          <p:cNvPr id="10" name="TextBox 9"/>
          <p:cNvSpPr txBox="1"/>
          <p:nvPr/>
        </p:nvSpPr>
        <p:spPr>
          <a:xfrm>
            <a:off x="6510408" y="2573121"/>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멈춘다</a:t>
            </a:r>
          </a:p>
          <a:p>
            <a:pPr algn="ctr">
              <a:lnSpc>
                <a:spcPct val="110000"/>
              </a:lnSpc>
              <a:spcAft>
                <a:spcPts val="100"/>
              </a:spcAft>
            </a:pPr>
            <a:r>
              <a:rPr sz="1300" b="0">
                <a:solidFill>
                  <a:srgbClr val="556175"/>
                </a:solidFill>
                <a:latin typeface="맑은 고딕"/>
                <a:ea typeface="맑은 고딕"/>
                <a:cs typeface="맑은 고딕"/>
              </a:rPr>
              <a:t>지어내지 않는다</a:t>
            </a:r>
          </a:p>
        </p:txBody>
      </p:sp>
      <p:sp>
        <p:nvSpPr>
          <p:cNvPr id="11" name="TextBox 10"/>
          <p:cNvSpPr txBox="1"/>
          <p:nvPr/>
        </p:nvSpPr>
        <p:spPr>
          <a:xfrm>
            <a:off x="8899587" y="4511375"/>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재평가를 요청하거나</a:t>
            </a:r>
          </a:p>
          <a:p>
            <a:pPr algn="ctr">
              <a:lnSpc>
                <a:spcPct val="110000"/>
              </a:lnSpc>
              <a:spcAft>
                <a:spcPts val="100"/>
              </a:spcAft>
            </a:pPr>
            <a:r>
              <a:rPr sz="1300" b="0">
                <a:solidFill>
                  <a:srgbClr val="556175"/>
                </a:solidFill>
                <a:latin typeface="맑은 고딕"/>
                <a:ea typeface="맑은 고딕"/>
                <a:cs typeface="맑은 고딕"/>
              </a:rPr>
              <a:t>질문에 답하거나 닫는다</a:t>
            </a:r>
          </a:p>
        </p:txBody>
      </p:sp>
      <p:sp>
        <p:nvSpPr>
          <p:cNvPr id="12" name="TextBox 11"/>
          <p:cNvSpPr txBox="1"/>
          <p:nvPr/>
        </p:nvSpPr>
        <p:spPr>
          <a:xfrm>
            <a:off x="1012022" y="446410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얻지 못한 것과 값을 얻었으나 맞지 않은 것은 사람이 이어서 할 일이 달라, 근거의 상태를 셋으로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SUPPORTED</a:t>
            </a:r>
          </a:p>
          <a:p>
            <a:pPr algn="l">
              <a:lnSpc>
                <a:spcPct val="110000"/>
              </a:lnSpc>
              <a:spcAft>
                <a:spcPts val="400"/>
              </a:spcAft>
            </a:pPr>
            <a:r>
              <a:rPr sz="1400" b="0">
                <a:solidFill>
                  <a:srgbClr val="1F2A3A"/>
                </a:solidFill>
                <a:latin typeface="맑은 고딕"/>
                <a:ea typeface="맑은 고딕"/>
                <a:cs typeface="맑은 고딕"/>
              </a:rPr>
              <a:t>• 값을 읽었고 기준에 맞았다</a:t>
            </a:r>
          </a:p>
          <a:p>
            <a:pPr algn="l">
              <a:lnSpc>
                <a:spcPct val="110000"/>
              </a:lnSpc>
              <a:spcAft>
                <a:spcPts val="400"/>
              </a:spcAft>
            </a:pPr>
            <a:r>
              <a:rPr sz="1400" b="0">
                <a:solidFill>
                  <a:srgbClr val="1F2A3A"/>
                </a:solidFill>
                <a:latin typeface="맑은 고딕"/>
                <a:ea typeface="맑은 고딕"/>
                <a:cs typeface="맑은 고딕"/>
              </a:rPr>
              <a:t>• 예: 냉각 효율 46.2 %가 기준 70 % 미만이다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확인됨</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UNKNOWN</a:t>
            </a:r>
          </a:p>
          <a:p>
            <a:pPr algn="l">
              <a:lnSpc>
                <a:spcPct val="110000"/>
              </a:lnSpc>
              <a:spcAft>
                <a:spcPts val="400"/>
              </a:spcAft>
            </a:pPr>
            <a:r>
              <a:rPr sz="1400" b="0">
                <a:solidFill>
                  <a:srgbClr val="1F2A3A"/>
                </a:solidFill>
                <a:latin typeface="맑은 고딕"/>
                <a:ea typeface="맑은 고딕"/>
                <a:cs typeface="맑은 고딕"/>
              </a:rPr>
              <a:t>• 조회에 실패했거나 값이 비었다</a:t>
            </a:r>
          </a:p>
          <a:p>
            <a:pPr algn="l">
              <a:lnSpc>
                <a:spcPct val="110000"/>
              </a:lnSpc>
              <a:spcAft>
                <a:spcPts val="400"/>
              </a:spcAft>
            </a:pPr>
            <a:r>
              <a:rPr sz="14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UNSUPPORTED</a:t>
            </a:r>
          </a:p>
          <a:p>
            <a:pPr algn="l">
              <a:lnSpc>
                <a:spcPct val="110000"/>
              </a:lnSpc>
              <a:spcAft>
                <a:spcPts val="400"/>
              </a:spcAft>
            </a:pPr>
            <a:r>
              <a:rPr sz="1400" b="0">
                <a:solidFill>
                  <a:srgbClr val="1F2A3A"/>
                </a:solidFill>
                <a:latin typeface="맑은 고딕"/>
                <a:ea typeface="맑은 고딕"/>
                <a:cs typeface="맑은 고딕"/>
              </a:rPr>
              <a:t>• 값은 읽었으나 조회한 근거가 모두 기준에 맞지 않았다</a:t>
            </a:r>
          </a:p>
          <a:p>
            <a:pPr algn="l">
              <a:lnSpc>
                <a:spcPct val="110000"/>
              </a:lnSpc>
              <a:spcAft>
                <a:spcPts val="400"/>
              </a:spcAft>
            </a:pPr>
            <a:r>
              <a:rPr sz="14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5041392"/>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실패: 실패와 값 없음의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조회에 실패한 것과 조회해 보니 0건인 것을 구분하지 않으면, 재고를 읽지 못한 일이 재고가 없다는 사실로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 없음</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조회는 성공했고 결과가 0행이다</a:t>
            </a:r>
          </a:p>
          <a:p>
            <a:pPr algn="l">
              <a:lnSpc>
                <a:spcPct val="110000"/>
              </a:lnSpc>
              <a:spcAft>
                <a:spcPts val="600"/>
              </a:spcAft>
            </a:pPr>
            <a:r>
              <a:rPr sz="1450" b="0">
                <a:solidFill>
                  <a:srgbClr val="1F2A3A"/>
                </a:solidFill>
                <a:latin typeface="맑은 고딕"/>
                <a:ea typeface="맑은 고딕"/>
                <a:cs typeface="맑은 고딕"/>
              </a:rPr>
              <a:t>• 「없다」는 답이다</a:t>
            </a:r>
          </a:p>
          <a:p>
            <a:pPr algn="l">
              <a:lnSpc>
                <a:spcPct val="110000"/>
              </a:lnSpc>
              <a:spcAft>
                <a:spcPts val="600"/>
              </a:spcAft>
            </a:pPr>
            <a:r>
              <a:rPr sz="1450" b="0">
                <a:solidFill>
                  <a:srgbClr val="1F2A3A"/>
                </a:solidFill>
                <a:latin typeface="맑은 고딕"/>
                <a:ea typeface="맑은 고딕"/>
                <a:cs typeface="맑은 고딕"/>
              </a:rPr>
              <a:t>• 0행이라고 그대로 적는다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있다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실패</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 자체가 되지 않았다</a:t>
            </a:r>
          </a:p>
          <a:p>
            <a:pPr algn="l">
              <a:lnSpc>
                <a:spcPct val="110000"/>
              </a:lnSpc>
              <a:spcAft>
                <a:spcPts val="600"/>
              </a:spcAft>
            </a:pPr>
            <a:r>
              <a:rPr sz="1450" b="0">
                <a:solidFill>
                  <a:srgbClr val="1F2A3A"/>
                </a:solidFill>
                <a:latin typeface="맑은 고딕"/>
                <a:ea typeface="맑은 고딕"/>
                <a:cs typeface="맑은 고딕"/>
              </a:rPr>
              <a:t>• 「모른다」는 뜻이다</a:t>
            </a:r>
          </a:p>
          <a:p>
            <a:pPr algn="l">
              <a:lnSpc>
                <a:spcPct val="110000"/>
              </a:lnSpc>
              <a:spcAft>
                <a:spcPts val="600"/>
              </a:spcAft>
            </a:pPr>
            <a:r>
              <a:rPr sz="1450" b="0">
                <a:solidFill>
                  <a:srgbClr val="1F2A3A"/>
                </a:solidFill>
                <a:latin typeface="맑은 고딕"/>
                <a:ea typeface="맑은 고딕"/>
                <a:cs typeface="맑은 고딕"/>
              </a:rPr>
              <a:t>• 작업 규칙: 「실패를 0이나 빈 값으로 바꿔 성공처럼 제출하지 않습니다.」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없다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기록의 도구 호출 한 줄은 시각, 도구, 입력, 출력, 걸린 시간의 다섯 칸으로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기록한줄.svg" descr="illust_2105670430746232572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68473" y="3707709"/>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a:t>
            </a:r>
          </a:p>
          <a:p>
            <a:pPr algn="ctr">
              <a:lnSpc>
                <a:spcPct val="110000"/>
              </a:lnSpc>
              <a:spcAft>
                <a:spcPts val="100"/>
              </a:spcAft>
            </a:pPr>
            <a:r>
              <a:rPr sz="1300" b="0">
                <a:solidFill>
                  <a:srgbClr val="556175"/>
                </a:solidFill>
                <a:latin typeface="맑은 고딕"/>
                <a:ea typeface="맑은 고딕"/>
                <a:cs typeface="맑은 고딕"/>
              </a:rPr>
              <a:t>에이전트의 말과 도구 호출이 시각 순서로 쌓인다</a:t>
            </a:r>
          </a:p>
        </p:txBody>
      </p:sp>
      <p:sp>
        <p:nvSpPr>
          <p:cNvPr id="8" name="TextBox 7"/>
          <p:cNvSpPr txBox="1"/>
          <p:nvPr/>
        </p:nvSpPr>
        <p:spPr>
          <a:xfrm>
            <a:off x="1448402" y="4558649"/>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시각</a:t>
            </a:r>
          </a:p>
          <a:p>
            <a:pPr algn="ctr">
              <a:lnSpc>
                <a:spcPct val="110000"/>
              </a:lnSpc>
              <a:spcAft>
                <a:spcPts val="100"/>
              </a:spcAft>
            </a:pPr>
            <a:r>
              <a:rPr sz="1300" b="0">
                <a:solidFill>
                  <a:srgbClr val="556175"/>
                </a:solidFill>
                <a:latin typeface="맑은 고딕"/>
                <a:ea typeface="맑은 고딕"/>
                <a:cs typeface="맑은 고딕"/>
              </a:rPr>
              <a:t>11:13:18</a:t>
            </a:r>
          </a:p>
        </p:txBody>
      </p:sp>
      <p:sp>
        <p:nvSpPr>
          <p:cNvPr id="9" name="TextBox 8"/>
          <p:cNvSpPr txBox="1"/>
          <p:nvPr/>
        </p:nvSpPr>
        <p:spPr>
          <a:xfrm>
            <a:off x="2855727"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원인 진단</a:t>
            </a:r>
          </a:p>
        </p:txBody>
      </p:sp>
      <p:sp>
        <p:nvSpPr>
          <p:cNvPr id="10" name="TextBox 9"/>
          <p:cNvSpPr txBox="1"/>
          <p:nvPr/>
        </p:nvSpPr>
        <p:spPr>
          <a:xfrm>
            <a:off x="4797617" y="4558649"/>
            <a:ext cx="250918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물음 (입력)</a:t>
            </a:r>
          </a:p>
          <a:p>
            <a:pPr algn="ctr">
              <a:lnSpc>
                <a:spcPct val="110000"/>
              </a:lnSpc>
              <a:spcAft>
                <a:spcPts val="100"/>
              </a:spcAft>
            </a:pPr>
            <a:r>
              <a:rPr sz="1300" b="0">
                <a:solidFill>
                  <a:srgbClr val="556175"/>
                </a:solidFill>
                <a:latin typeface="맑은 고딕"/>
                <a:ea typeface="맑은 고딕"/>
                <a:cs typeface="맑은 고딕"/>
              </a:rPr>
              <a:t>설비 HYD-01,</a:t>
            </a:r>
          </a:p>
          <a:p>
            <a:pPr algn="ctr">
              <a:lnSpc>
                <a:spcPct val="110000"/>
              </a:lnSpc>
              <a:spcAft>
                <a:spcPts val="100"/>
              </a:spcAft>
            </a:pPr>
            <a:r>
              <a:rPr sz="1300" b="0">
                <a:solidFill>
                  <a:srgbClr val="556175"/>
                </a:solidFill>
                <a:latin typeface="맑은 고딕"/>
                <a:ea typeface="맑은 고딕"/>
                <a:cs typeface="맑은 고딕"/>
              </a:rPr>
              <a:t>경보의 종류, 경보 번호</a:t>
            </a:r>
          </a:p>
        </p:txBody>
      </p:sp>
      <p:sp>
        <p:nvSpPr>
          <p:cNvPr id="11" name="TextBox 10"/>
          <p:cNvSpPr txBox="1"/>
          <p:nvPr/>
        </p:nvSpPr>
        <p:spPr>
          <a:xfrm>
            <a:off x="7470443" y="4558649"/>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받음 (출력)</a:t>
            </a:r>
          </a:p>
          <a:p>
            <a:pPr algn="ctr">
              <a:lnSpc>
                <a:spcPct val="110000"/>
              </a:lnSpc>
              <a:spcAft>
                <a:spcPts val="100"/>
              </a:spcAft>
            </a:pPr>
            <a:r>
              <a:rPr sz="1300" b="0">
                <a:solidFill>
                  <a:srgbClr val="556175"/>
                </a:solidFill>
                <a:latin typeface="맑은 고딕"/>
                <a:ea typeface="맑은 고딕"/>
                <a:cs typeface="맑은 고딕"/>
              </a:rPr>
              <a:t>원문 13,763자 (JSON)</a:t>
            </a:r>
          </a:p>
        </p:txBody>
      </p:sp>
      <p:sp>
        <p:nvSpPr>
          <p:cNvPr id="12" name="TextBox 11"/>
          <p:cNvSpPr txBox="1"/>
          <p:nvPr/>
        </p:nvSpPr>
        <p:spPr>
          <a:xfrm>
            <a:off x="9685071" y="4558649"/>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걸린 시간</a:t>
            </a:r>
          </a:p>
          <a:p>
            <a:pPr algn="ctr">
              <a:lnSpc>
                <a:spcPct val="110000"/>
              </a:lnSpc>
              <a:spcAft>
                <a:spcPts val="100"/>
              </a:spcAft>
            </a:pPr>
            <a:r>
              <a:rPr sz="1300" b="0">
                <a:solidFill>
                  <a:srgbClr val="556175"/>
                </a:solidFill>
                <a:latin typeface="맑은 고딕"/>
                <a:ea typeface="맑은 고딕"/>
                <a:cs typeface="맑은 고딕"/>
              </a:rPr>
              <a:t>218 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기록의 쓰임: 결과에서 호출로 거슬러 올라가기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이상해 보일 때는 결과의 값에서 그 값을 돌려준 호출의 출력으로, 다시 그 호출의 입력으로 거슬러 올라간다.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lipboard-list" descr="clipboard-list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결과의 값</a:t>
            </a:r>
          </a:p>
          <a:p>
            <a:pPr algn="ctr">
              <a:lnSpc>
                <a:spcPct val="110000"/>
              </a:lnSpc>
              <a:spcAft>
                <a:spcPts val="400"/>
              </a:spcAft>
            </a:pPr>
            <a:r>
              <a:rPr sz="1350" b="0">
                <a:solidFill>
                  <a:srgbClr val="1F2A3A"/>
                </a:solidFill>
                <a:latin typeface="맑은 고딕"/>
                <a:ea typeface="맑은 고딕"/>
                <a:cs typeface="맑은 고딕"/>
              </a:rPr>
              <a:t>추천안에서</a:t>
            </a:r>
          </a:p>
          <a:p>
            <a:pPr algn="ctr">
              <a:lnSpc>
                <a:spcPct val="110000"/>
              </a:lnSpc>
              <a:spcAft>
                <a:spcPts val="400"/>
              </a:spcAft>
            </a:pPr>
            <a:r>
              <a:rPr sz="1350" b="0">
                <a:solidFill>
                  <a:srgbClr val="1F2A3A"/>
                </a:solidFill>
                <a:latin typeface="맑은 고딕"/>
                <a:ea typeface="맑은 고딕"/>
                <a:cs typeface="맑은 고딕"/>
              </a:rPr>
              <a:t>의심스러운 값을 고른다</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호출의 출력</a:t>
            </a:r>
          </a:p>
          <a:p>
            <a:pPr algn="ctr">
              <a:lnSpc>
                <a:spcPct val="110000"/>
              </a:lnSpc>
              <a:spcAft>
                <a:spcPts val="400"/>
              </a:spcAft>
            </a:pPr>
            <a:r>
              <a:rPr sz="1350" b="0">
                <a:solidFill>
                  <a:srgbClr val="1F2A3A"/>
                </a:solidFill>
                <a:latin typeface="맑은 고딕"/>
                <a:ea typeface="맑은 고딕"/>
                <a:cs typeface="맑은 고딕"/>
              </a:rPr>
              <a:t>그 값을 돌려준 호출을</a:t>
            </a:r>
          </a:p>
          <a:p>
            <a:pPr algn="ctr">
              <a:lnSpc>
                <a:spcPct val="110000"/>
              </a:lnSpc>
              <a:spcAft>
                <a:spcPts val="400"/>
              </a:spcAft>
            </a:pPr>
            <a:r>
              <a:rPr sz="1350" b="0">
                <a:solidFill>
                  <a:srgbClr val="1F2A3A"/>
                </a:solidFill>
                <a:latin typeface="맑은 고딕"/>
                <a:ea typeface="맑은 고딕"/>
                <a:cs typeface="맑은 고딕"/>
              </a:rPr>
              <a:t>기록에서 찾는다</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호출의 입력</a:t>
            </a:r>
          </a:p>
          <a:p>
            <a:pPr algn="ctr">
              <a:lnSpc>
                <a:spcPct val="110000"/>
              </a:lnSpc>
              <a:spcAft>
                <a:spcPts val="400"/>
              </a:spcAft>
            </a:pPr>
            <a:r>
              <a:rPr sz="1350" b="0">
                <a:solidFill>
                  <a:srgbClr val="1F2A3A"/>
                </a:solidFill>
                <a:latin typeface="맑은 고딕"/>
                <a:ea typeface="맑은 고딕"/>
                <a:cs typeface="맑은 고딕"/>
              </a:rPr>
              <a:t>도구에 넣은 물음이</a:t>
            </a:r>
          </a:p>
          <a:p>
            <a:pPr algn="ctr">
              <a:lnSpc>
                <a:spcPct val="110000"/>
              </a:lnSpc>
              <a:spcAft>
                <a:spcPts val="400"/>
              </a:spcAft>
            </a:pPr>
            <a:r>
              <a:rPr sz="1350" b="0">
                <a:solidFill>
                  <a:srgbClr val="1F2A3A"/>
                </a:solidFill>
                <a:latin typeface="맑은 고딕"/>
                <a:ea typeface="맑은 고딕"/>
                <a:cs typeface="맑은 고딕"/>
              </a:rPr>
              <a:t>옳았는지를 본다</a:t>
            </a:r>
          </a:p>
        </p:txBody>
      </p:sp>
      <p:sp>
        <p:nvSpPr>
          <p:cNvPr id="22" name="Oval 21"/>
          <p:cNvSpPr/>
          <p:nvPr/>
        </p:nvSpPr>
        <p:spPr>
          <a:xfrm>
            <a:off x="9821913" y="2730627"/>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file-search" descr="file-search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 사이의 말</a:t>
            </a:r>
          </a:p>
          <a:p>
            <a:pPr algn="ctr">
              <a:lnSpc>
                <a:spcPct val="110000"/>
              </a:lnSpc>
              <a:spcAft>
                <a:spcPts val="400"/>
              </a:spcAft>
            </a:pPr>
            <a:r>
              <a:rPr sz="1350" b="0">
                <a:solidFill>
                  <a:srgbClr val="1F2A3A"/>
                </a:solidFill>
                <a:latin typeface="맑은 고딕"/>
                <a:ea typeface="맑은 고딕"/>
                <a:cs typeface="맑은 고딕"/>
              </a:rPr>
              <a:t>에이전트가 그 도구를</a:t>
            </a:r>
          </a:p>
          <a:p>
            <a:pPr algn="ctr">
              <a:lnSpc>
                <a:spcPct val="110000"/>
              </a:lnSpc>
              <a:spcAft>
                <a:spcPts val="400"/>
              </a:spcAft>
            </a:pPr>
            <a:r>
              <a:rPr sz="1350" b="0">
                <a:solidFill>
                  <a:srgbClr val="1F2A3A"/>
                </a:solidFill>
                <a:latin typeface="맑은 고딕"/>
                <a:ea typeface="맑은 고딕"/>
                <a:cs typeface="맑은 고딕"/>
              </a:rPr>
              <a:t>부른 까닭을 읽는다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에이전트의 이름, 목표, 역할, 사용 도구를 정하고 직접 질문한다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구성한 에이전트 하나와, 그 에이전트가 근거와 호출 기록을 붙여 답한 질문 한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에이전트를 구성한다</a:t>
            </a:r>
          </a:p>
          <a:p>
            <a:pPr algn="l">
              <a:lnSpc>
                <a:spcPct val="110000"/>
              </a:lnSpc>
              <a:spcAft>
                <a:spcPts val="400"/>
              </a:spcAft>
            </a:pPr>
            <a:r>
              <a:rPr sz="1400" b="0">
                <a:solidFill>
                  <a:srgbClr val="1F2A3A"/>
                </a:solidFill>
                <a:latin typeface="맑은 고딕"/>
                <a:ea typeface="맑은 고딕"/>
                <a:cs typeface="맑은 고딕"/>
              </a:rPr>
              <a:t>• 이름, 목표, 역할을 적는다</a:t>
            </a:r>
          </a:p>
          <a:p>
            <a:pPr algn="l">
              <a:lnSpc>
                <a:spcPct val="110000"/>
              </a:lnSpc>
              <a:spcAft>
                <a:spcPts val="400"/>
              </a:spcAft>
            </a:pPr>
            <a:r>
              <a:rPr sz="1400" b="0">
                <a:solidFill>
                  <a:srgbClr val="1F2A3A"/>
                </a:solidFill>
                <a:latin typeface="맑은 고딕"/>
                <a:ea typeface="맑은 고딕"/>
                <a:cs typeface="맑은 고딕"/>
              </a:rPr>
              <a:t>• 읽기 도구 가운데 쓸 것을 고른다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구성</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질문한다</a:t>
            </a:r>
          </a:p>
          <a:p>
            <a:pPr algn="l">
              <a:lnSpc>
                <a:spcPct val="110000"/>
              </a:lnSpc>
              <a:spcAft>
                <a:spcPts val="400"/>
              </a:spcAft>
            </a:pPr>
            <a:r>
              <a:rPr sz="1400" b="0">
                <a:solidFill>
                  <a:srgbClr val="1F2A3A"/>
                </a:solidFill>
                <a:latin typeface="맑은 고딕"/>
                <a:ea typeface="맑은 고딕"/>
                <a:cs typeface="맑은 고딕"/>
              </a:rPr>
              <a:t>• 구성한 에이전트에게 직접 질문한다</a:t>
            </a:r>
          </a:p>
          <a:p>
            <a:pPr algn="l">
              <a:lnSpc>
                <a:spcPct val="110000"/>
              </a:lnSpc>
              <a:spcAft>
                <a:spcPts val="400"/>
              </a:spcAft>
            </a:pPr>
            <a:r>
              <a:rPr sz="14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질문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 에이전트와 견준다</a:t>
            </a:r>
          </a:p>
          <a:p>
            <a:pPr algn="l">
              <a:lnSpc>
                <a:spcPct val="110000"/>
              </a:lnSpc>
              <a:spcAft>
                <a:spcPts val="400"/>
              </a:spcAft>
            </a:pPr>
            <a:r>
              <a:rPr sz="1400" b="0">
                <a:solidFill>
                  <a:srgbClr val="1F2A3A"/>
                </a:solidFill>
                <a:latin typeface="맑은 고딕"/>
                <a:ea typeface="맑은 고딕"/>
                <a:cs typeface="맑은 고딕"/>
              </a:rPr>
              <a:t>냉각 긴급 대응 에이전트와 목표, 역할, 도구, 답이 어떻게 다른지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이상의 원인 추론과 점검 순서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Code로 온톨로지의 관계와 센서 입력을 읽어 점검 계획을 내는 에이전트를 구성한다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후보 원인과 증거, 다음 점검 순서를 담은 점검 계획과 그 계획에 쓴 근거가 파일로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읽는다</a:t>
            </a:r>
          </a:p>
          <a:p>
            <a:pPr algn="ctr">
              <a:lnSpc>
                <a:spcPct val="110000"/>
              </a:lnSpc>
              <a:spcAft>
                <a:spcPts val="400"/>
              </a:spcAft>
            </a:pPr>
            <a:r>
              <a:rPr sz="1350" b="0">
                <a:solidFill>
                  <a:srgbClr val="1F2A3A"/>
                </a:solidFill>
                <a:latin typeface="맑은 고딕"/>
                <a:ea typeface="맑은 고딕"/>
                <a:cs typeface="맑은 고딕"/>
              </a:rPr>
              <a:t>공용 온톨로지에서</a:t>
            </a:r>
          </a:p>
          <a:p>
            <a:pPr algn="ctr">
              <a:lnSpc>
                <a:spcPct val="110000"/>
              </a:lnSpc>
              <a:spcAft>
                <a:spcPts val="400"/>
              </a:spcAft>
            </a:pPr>
            <a:r>
              <a:rPr sz="1350" b="0">
                <a:solidFill>
                  <a:srgbClr val="1F2A3A"/>
                </a:solidFill>
                <a:latin typeface="맑은 고딕"/>
                <a:ea typeface="맑은 고딕"/>
                <a:cs typeface="맑은 고딕"/>
              </a:rPr>
              <a:t>설비, 센서, 고장 유형,</a:t>
            </a:r>
          </a:p>
          <a:p>
            <a:pPr algn="ctr">
              <a:lnSpc>
                <a:spcPct val="110000"/>
              </a:lnSpc>
              <a:spcAft>
                <a:spcPts val="400"/>
              </a:spcAft>
            </a:pPr>
            <a:r>
              <a:rPr sz="1350" b="0">
                <a:solidFill>
                  <a:srgbClr val="1F2A3A"/>
                </a:solidFill>
                <a:latin typeface="맑은 고딕"/>
                <a:ea typeface="맑은 고딕"/>
                <a:cs typeface="맑은 고딕"/>
              </a:rPr>
              <a:t>SOP의 관계를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센서 입력을 댄다</a:t>
            </a:r>
          </a:p>
          <a:p>
            <a:pPr algn="ctr">
              <a:lnSpc>
                <a:spcPct val="110000"/>
              </a:lnSpc>
              <a:spcAft>
                <a:spcPts val="400"/>
              </a:spcAft>
            </a:pPr>
            <a:r>
              <a:rPr sz="1350" b="0">
                <a:solidFill>
                  <a:srgbClr val="1F2A3A"/>
                </a:solidFill>
                <a:latin typeface="맑은 고딕"/>
                <a:ea typeface="맑은 고딕"/>
                <a:cs typeface="맑은 고딕"/>
              </a:rPr>
              <a:t>제공된 센서 입력을</a:t>
            </a:r>
          </a:p>
          <a:p>
            <a:pPr algn="ctr">
              <a:lnSpc>
                <a:spcPct val="110000"/>
              </a:lnSpc>
              <a:spcAft>
                <a:spcPts val="400"/>
              </a:spcAft>
            </a:pPr>
            <a:r>
              <a:rPr sz="1350" b="0">
                <a:solidFill>
                  <a:srgbClr val="1F2A3A"/>
                </a:solidFill>
                <a:latin typeface="맑은 고딕"/>
                <a:ea typeface="맑은 고딕"/>
                <a:cs typeface="맑은 고딕"/>
              </a:rPr>
              <a:t>증거 기준에 대고</a:t>
            </a:r>
          </a:p>
          <a:p>
            <a:pPr algn="ctr">
              <a:lnSpc>
                <a:spcPct val="110000"/>
              </a:lnSpc>
              <a:spcAft>
                <a:spcPts val="400"/>
              </a:spcAft>
            </a:pPr>
            <a:r>
              <a:rPr sz="1350" b="0">
                <a:solidFill>
                  <a:srgbClr val="1F2A3A"/>
                </a:solidFill>
                <a:latin typeface="맑은 고딕"/>
                <a:ea typeface="맑은 고딕"/>
                <a:cs typeface="맑은 고딕"/>
              </a:rPr>
              <a:t>여러 센서의 증거를</a:t>
            </a:r>
          </a:p>
          <a:p>
            <a:pPr algn="ctr">
              <a:lnSpc>
                <a:spcPct val="110000"/>
              </a:lnSpc>
              <a:spcAft>
                <a:spcPts val="400"/>
              </a:spcAft>
            </a:pPr>
            <a:r>
              <a:rPr sz="1350" b="0">
                <a:solidFill>
                  <a:srgbClr val="1F2A3A"/>
                </a:solidFill>
                <a:latin typeface="맑은 고딕"/>
                <a:ea typeface="맑은 고딕"/>
                <a:cs typeface="맑은 고딕"/>
              </a:rPr>
              <a:t>함께 견준다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원인을 가른다</a:t>
            </a:r>
          </a:p>
          <a:p>
            <a:pPr algn="ctr">
              <a:lnSpc>
                <a:spcPct val="110000"/>
              </a:lnSpc>
              <a:spcAft>
                <a:spcPts val="400"/>
              </a:spcAft>
            </a:pPr>
            <a:r>
              <a:rPr sz="1350" b="0">
                <a:solidFill>
                  <a:srgbClr val="1F2A3A"/>
                </a:solidFill>
                <a:latin typeface="맑은 고딕"/>
                <a:ea typeface="맑은 고딕"/>
                <a:cs typeface="맑은 고딕"/>
              </a:rPr>
              <a:t>확인된 원인과</a:t>
            </a:r>
          </a:p>
          <a:p>
            <a:pPr algn="ctr">
              <a:lnSpc>
                <a:spcPct val="110000"/>
              </a:lnSpc>
              <a:spcAft>
                <a:spcPts val="400"/>
              </a:spcAft>
            </a:pPr>
            <a:r>
              <a:rPr sz="1350" b="0">
                <a:solidFill>
                  <a:srgbClr val="1F2A3A"/>
                </a:solidFill>
                <a:latin typeface="맑은 고딕"/>
                <a:ea typeface="맑은 고딕"/>
                <a:cs typeface="맑은 고딕"/>
              </a:rPr>
              <a:t>가설을 구분해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점검 순서를 낸다</a:t>
            </a:r>
          </a:p>
          <a:p>
            <a:pPr algn="ctr">
              <a:lnSpc>
                <a:spcPct val="110000"/>
              </a:lnSpc>
              <a:spcAft>
                <a:spcPts val="400"/>
              </a:spcAft>
            </a:pPr>
            <a:r>
              <a:rPr sz="1350" b="0">
                <a:solidFill>
                  <a:srgbClr val="1F2A3A"/>
                </a:solidFill>
                <a:latin typeface="맑은 고딕"/>
                <a:ea typeface="맑은 고딕"/>
                <a:cs typeface="맑은 고딕"/>
              </a:rPr>
              <a:t>다음에 점검할 것을</a:t>
            </a:r>
          </a:p>
          <a:p>
            <a:pPr algn="ctr">
              <a:lnSpc>
                <a:spcPct val="110000"/>
              </a:lnSpc>
              <a:spcAft>
                <a:spcPts val="400"/>
              </a:spcAft>
            </a:pPr>
            <a:r>
              <a:rPr sz="1350" b="0">
                <a:solidFill>
                  <a:srgbClr val="1F2A3A"/>
                </a:solidFill>
                <a:latin typeface="맑은 고딕"/>
                <a:ea typeface="맑은 고딕"/>
                <a:cs typeface="맑은 고딕"/>
              </a:rPr>
              <a:t>순서대로 적고</a:t>
            </a:r>
          </a:p>
          <a:p>
            <a:pPr algn="ctr">
              <a:lnSpc>
                <a:spcPct val="110000"/>
              </a:lnSpc>
              <a:spcAft>
                <a:spcPts val="400"/>
              </a:spcAft>
            </a:pPr>
            <a:r>
              <a:rPr sz="1350" b="0">
                <a:solidFill>
                  <a:srgbClr val="1F2A3A"/>
                </a:solidFill>
                <a:latin typeface="맑은 고딕"/>
                <a:ea typeface="맑은 고딕"/>
                <a:cs typeface="맑은 고딕"/>
              </a:rPr>
              <a:t>근거와 함께 저장한다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스킬:</a:t>
            </a:r>
          </a:p>
          <a:p>
            <a:pPr algn="l">
              <a:lnSpc>
                <a:spcPct val="110000"/>
              </a:lnSpc>
            </a:pPr>
            <a:r>
              <a:rPr sz="3400" b="1">
                <a:solidFill>
                  <a:srgbClr val="13294B"/>
                </a:solidFill>
                <a:latin typeface="맑은 고딕"/>
                <a:ea typeface="맑은 고딕"/>
                <a:cs typeface="맑은 고딕"/>
              </a:rPr>
              <a:t>재사용하는 업무 수행 지침</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에이전트가 일하는 순서와 결과의 모양을 지침으로 정해 두는 방법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목표와 도구만 받은 에이전트가 실행마다 정해야 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방법이 정해져 있지 않으면 어느 도구를 어떤 순서로 부르고 무엇을 낼지를 에이전트가 실행할 때마다 새로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tools" descr="tools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무엇부터 부를 것인가</a:t>
            </a:r>
          </a:p>
          <a:p>
            <a:pPr algn="l">
              <a:lnSpc>
                <a:spcPct val="110000"/>
              </a:lnSpc>
              <a:spcAft>
                <a:spcPts val="400"/>
              </a:spcAft>
            </a:pPr>
            <a:r>
              <a:rPr sz="1350" b="0">
                <a:solidFill>
                  <a:srgbClr val="1F2A3A"/>
                </a:solidFill>
                <a:latin typeface="맑은 고딕"/>
                <a:ea typeface="맑은 고딕"/>
                <a:cs typeface="맑은 고딕"/>
              </a:rPr>
              <a:t>• 판단 도구가 16개, 업무 DB 도구가 14개다</a:t>
            </a:r>
          </a:p>
          <a:p>
            <a:pPr algn="l">
              <a:lnSpc>
                <a:spcPct val="110000"/>
              </a:lnSpc>
              <a:spcAft>
                <a:spcPts val="400"/>
              </a:spcAft>
            </a:pPr>
            <a:r>
              <a:rPr sz="1350" b="0">
                <a:solidFill>
                  <a:srgbClr val="1F2A3A"/>
                </a:solidFill>
                <a:latin typeface="맑은 고딕"/>
                <a:ea typeface="맑은 고딕"/>
                <a:cs typeface="맑은 고딕"/>
              </a:rPr>
              <a:t>• 첫 호출부터 고를 것이 많다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 선택</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어떤 순서로 부를 것인가</a:t>
            </a:r>
          </a:p>
          <a:p>
            <a:pPr algn="l">
              <a:lnSpc>
                <a:spcPct val="110000"/>
              </a:lnSpc>
              <a:spcAft>
                <a:spcPts val="400"/>
              </a:spcAft>
            </a:pPr>
            <a:r>
              <a:rPr sz="1350" b="0">
                <a:solidFill>
                  <a:srgbClr val="1F2A3A"/>
                </a:solidFill>
                <a:latin typeface="맑은 고딕"/>
                <a:ea typeface="맑은 고딕"/>
                <a:cs typeface="맑은 고딕"/>
              </a:rPr>
              <a:t>• 원인을 알기 전에는 조치 후보를 비교할 수 없다</a:t>
            </a:r>
          </a:p>
          <a:p>
            <a:pPr algn="l">
              <a:lnSpc>
                <a:spcPct val="110000"/>
              </a:lnSpc>
              <a:spcAft>
                <a:spcPts val="400"/>
              </a:spcAft>
            </a:pPr>
            <a:r>
              <a:rPr sz="1350" b="0">
                <a:solidFill>
                  <a:srgbClr val="1F2A3A"/>
                </a:solidFill>
                <a:latin typeface="맑은 고딕"/>
                <a:ea typeface="맑은 고딕"/>
                <a:cs typeface="맑은 고딕"/>
              </a:rPr>
              <a:t>• 순서가 바뀌면 빠지는 근거가 생긴다</a:t>
            </a:r>
          </a:p>
        </p:txBody>
      </p:sp>
      <p:sp>
        <p:nvSpPr>
          <p:cNvPr id="16" name="Rounded Rectangle 15"/>
          <p:cNvSpPr/>
          <p:nvPr/>
        </p:nvSpPr>
        <p:spPr>
          <a:xfrm>
            <a:off x="3619423" y="537838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근거가 없으면 어떻게 할 것인가</a:t>
            </a:r>
          </a:p>
          <a:p>
            <a:pPr algn="l">
              <a:lnSpc>
                <a:spcPct val="110000"/>
              </a:lnSpc>
              <a:spcAft>
                <a:spcPts val="400"/>
              </a:spcAft>
            </a:pPr>
            <a:r>
              <a:rPr sz="1350" b="0">
                <a:solidFill>
                  <a:srgbClr val="1F2A3A"/>
                </a:solidFill>
                <a:latin typeface="맑은 고딕"/>
                <a:ea typeface="맑은 고딕"/>
                <a:cs typeface="맑은 고딕"/>
              </a:rPr>
              <a:t>값을 읽지 못한 채 원인을 고르면 지어낸 판단이 된다</a:t>
            </a:r>
          </a:p>
        </p:txBody>
      </p:sp>
      <p:sp>
        <p:nvSpPr>
          <p:cNvPr id="22" name="Rounded Rectangle 21"/>
          <p:cNvSpPr/>
          <p:nvPr/>
        </p:nvSpPr>
        <p:spPr>
          <a:xfrm>
            <a:off x="6461607" y="537838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file-check" descr="file-check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무엇을 내고 끝낼 것인가</a:t>
            </a:r>
          </a:p>
          <a:p>
            <a:pPr algn="l">
              <a:lnSpc>
                <a:spcPct val="110000"/>
              </a:lnSpc>
              <a:spcAft>
                <a:spcPts val="400"/>
              </a:spcAft>
            </a:pPr>
            <a:r>
              <a:rPr sz="1350" b="0">
                <a:solidFill>
                  <a:srgbClr val="1F2A3A"/>
                </a:solidFill>
                <a:latin typeface="맑은 고딕"/>
                <a:ea typeface="맑은 고딕"/>
                <a:cs typeface="맑은 고딕"/>
              </a:rPr>
              <a:t>결과의 모양이 실행마다 다르면 다음 단계가 그 결과를 읽지 못한다</a:t>
            </a:r>
          </a:p>
        </p:txBody>
      </p:sp>
      <p:sp>
        <p:nvSpPr>
          <p:cNvPr id="28" name="Rounded Rectangle 27"/>
          <p:cNvSpPr/>
          <p:nvPr/>
        </p:nvSpPr>
        <p:spPr>
          <a:xfrm>
            <a:off x="9303791" y="537838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수행 방법을 지침으로 정해 실행 앞에 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방법을 한 번 적어 두고 에이전트가 일을 시작할 때 읽게 하면, 같은 종류의 일은 같은 순서로 수행된다.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고리_1.svg" descr="illust_2832138323920466169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465319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495714" y="484229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681286" y="330587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681286" y="44877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p:txBody>
      </p:sp>
      <p:sp>
        <p:nvSpPr>
          <p:cNvPr id="11" name="TextBox 10"/>
          <p:cNvSpPr txBox="1"/>
          <p:nvPr/>
        </p:nvSpPr>
        <p:spPr>
          <a:xfrm>
            <a:off x="9532338" y="247857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그래프</a:t>
            </a:r>
          </a:p>
        </p:txBody>
      </p:sp>
      <p:sp>
        <p:nvSpPr>
          <p:cNvPr id="12" name="TextBox 11"/>
          <p:cNvSpPr txBox="1"/>
          <p:nvPr/>
        </p:nvSpPr>
        <p:spPr>
          <a:xfrm>
            <a:off x="9532338" y="384953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3" name="TextBox 12"/>
          <p:cNvSpPr txBox="1"/>
          <p:nvPr/>
        </p:nvSpPr>
        <p:spPr>
          <a:xfrm>
            <a:off x="9532338" y="5220492"/>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4" name="TextBox 13"/>
          <p:cNvSpPr txBox="1"/>
          <p:nvPr/>
        </p:nvSpPr>
        <p:spPr>
          <a:xfrm>
            <a:off x="5004898" y="559868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5" name="TextBox 14"/>
          <p:cNvSpPr txBox="1"/>
          <p:nvPr/>
        </p:nvSpPr>
        <p:spPr>
          <a:xfrm>
            <a:off x="4786708" y="1864004"/>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수행 방법을 적은 지침</a:t>
            </a:r>
          </a:p>
          <a:p>
            <a:pPr algn="ctr">
              <a:lnSpc>
                <a:spcPct val="110000"/>
              </a:lnSpc>
              <a:spcAft>
                <a:spcPts val="100"/>
              </a:spcAft>
            </a:pPr>
            <a:r>
              <a:rPr sz="1300" b="0">
                <a:solidFill>
                  <a:srgbClr val="556175"/>
                </a:solidFill>
                <a:latin typeface="맑은 고딕"/>
                <a:ea typeface="맑은 고딕"/>
                <a:cs typeface="맑은 고딕"/>
              </a:rPr>
              <a:t>순서, 예외, 결과의 모양</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스킬: 이름을 붙여 재사용하는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스킬은 특정한 일을 수행하는 방법을 적어 이름을 붙여 둔 지침 묶음이며, 에이전트가 필요할 때 불러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 스킬</a:t>
            </a:r>
          </a:p>
          <a:p>
            <a:pPr algn="l">
              <a:lnSpc>
                <a:spcPct val="110000"/>
              </a:lnSpc>
              <a:spcAft>
                <a:spcPts val="200"/>
              </a:spcAft>
            </a:pPr>
            <a:r>
              <a:rPr sz="1150" b="0">
                <a:solidFill>
                  <a:srgbClr val="556175"/>
                </a:solidFill>
                <a:latin typeface="맑은 고딕"/>
                <a:ea typeface="맑은 고딕"/>
                <a:cs typeface="맑은 고딕"/>
              </a:rPr>
              <a:t>Agent Skill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에이전트가 특정한 일을 수행하는 방법을 적어 둔 지침 묶음이다.</a:t>
            </a:r>
          </a:p>
          <a:p>
            <a:pPr algn="l">
              <a:lnSpc>
                <a:spcPct val="110000"/>
              </a:lnSpc>
              <a:spcAft>
                <a:spcPts val="300"/>
              </a:spcAft>
            </a:pPr>
            <a:r>
              <a:rPr sz="1400" b="0">
                <a:solidFill>
                  <a:srgbClr val="1F2A3A"/>
                </a:solidFill>
                <a:latin typeface="맑은 고딕"/>
                <a:ea typeface="맑은 고딕"/>
                <a:cs typeface="맑은 고딕"/>
              </a:rPr>
              <a:t>이름이 있어 여러 실행에 되풀이해 쓰인다.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SKILL.md</a:t>
            </a:r>
          </a:p>
          <a:p>
            <a:pPr algn="l">
              <a:lnSpc>
                <a:spcPct val="110000"/>
              </a:lnSpc>
              <a:spcAft>
                <a:spcPts val="200"/>
              </a:spcAft>
            </a:pPr>
            <a:r>
              <a:rPr sz="1150" b="0">
                <a:solidFill>
                  <a:srgbClr val="556175"/>
                </a:solidFill>
                <a:latin typeface="맑은 고딕"/>
                <a:ea typeface="맑은 고딕"/>
                <a:cs typeface="맑은 고딕"/>
              </a:rPr>
              <a:t>스킬 파일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스킬의 본체가 되는 파일이다.</a:t>
            </a:r>
          </a:p>
          <a:p>
            <a:pPr algn="l">
              <a:lnSpc>
                <a:spcPct val="110000"/>
              </a:lnSpc>
              <a:spcAft>
                <a:spcPts val="300"/>
              </a:spcAft>
            </a:pPr>
            <a:r>
              <a:rPr sz="1400" b="0">
                <a:solidFill>
                  <a:srgbClr val="1F2A3A"/>
                </a:solidFill>
                <a:latin typeface="맑은 고딕"/>
                <a:ea typeface="맑은 고딕"/>
                <a:cs typeface="맑은 고딕"/>
              </a:rPr>
              <a:t>스킬 이름과 같은 폴더에 놓이며 머리말과 본문으로 이루어진다.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스킬</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 쓰는 스킬의 이름은 cooling-emergency-response이다.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놓이는 자리: 작업 폴더의 스킬 폴더</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이름과 같은 폴더에 든 SKILL.md 한 파일이며, 실행이 시작될 때 에이전트의 작업 폴더에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작업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폴더</a:t>
            </a:r>
          </a:p>
          <a:p>
            <a:pPr algn="l">
              <a:lnSpc>
                <a:spcPct val="110000"/>
              </a:lnSpc>
              <a:spcAft>
                <a:spcPts val="200"/>
              </a:spcAft>
            </a:pPr>
            <a:r>
              <a:rPr sz="1300" b="0">
                <a:solidFill>
                  <a:srgbClr val="E8EEF6"/>
                </a:solidFill>
                <a:latin typeface="Consolas"/>
                <a:ea typeface="맑은 고딕"/>
                <a:cs typeface="맑은 고딕"/>
              </a:rPr>
              <a:t>  context/</a:t>
            </a:r>
          </a:p>
          <a:p>
            <a:pPr algn="l">
              <a:lnSpc>
                <a:spcPct val="110000"/>
              </a:lnSpc>
              <a:spcAft>
                <a:spcPts val="200"/>
              </a:spcAft>
            </a:pPr>
            <a:r>
              <a:rPr sz="1300" b="0">
                <a:solidFill>
                  <a:srgbClr val="E8EEF6"/>
                </a:solidFill>
                <a:latin typeface="Consolas"/>
                <a:ea typeface="맑은 고딕"/>
                <a:cs typeface="맑은 고딕"/>
              </a:rPr>
              <a:t>    task.json</a:t>
            </a:r>
          </a:p>
          <a:p>
            <a:pPr algn="l">
              <a:lnSpc>
                <a:spcPct val="110000"/>
              </a:lnSpc>
              <a:spcAft>
                <a:spcPts val="200"/>
              </a:spcAft>
            </a:pPr>
            <a:r>
              <a:rPr sz="1300" b="0">
                <a:solidFill>
                  <a:srgbClr val="E8EEF6"/>
                </a:solidFill>
                <a:latin typeface="Consolas"/>
                <a:ea typeface="맑은 고딕"/>
                <a:cs typeface="맑은 고딕"/>
              </a:rPr>
              <a:t>  .claude/skills/</a:t>
            </a:r>
          </a:p>
          <a:p>
            <a:pPr algn="l">
              <a:lnSpc>
                <a:spcPct val="110000"/>
              </a:lnSpc>
              <a:spcAft>
                <a:spcPts val="200"/>
              </a:spcAft>
            </a:pPr>
            <a:r>
              <a:rPr sz="1300" b="0">
                <a:solidFill>
                  <a:srgbClr val="E8EEF6"/>
                </a:solidFill>
                <a:latin typeface="Consolas"/>
                <a:ea typeface="맑은 고딕"/>
                <a:cs typeface="맑은 고딕"/>
              </a:rPr>
              <a:t>    cooling-emergency-response/</a:t>
            </a:r>
          </a:p>
          <a:p>
            <a:pPr algn="l">
              <a:lnSpc>
                <a:spcPct val="110000"/>
              </a:lnSpc>
              <a:spcAft>
                <a:spcPts val="200"/>
              </a:spcAft>
            </a:pPr>
            <a:r>
              <a:rPr sz="1300" b="0">
                <a:solidFill>
                  <a:srgbClr val="E8EEF6"/>
                </a:solidFill>
                <a:latin typeface="Consolas"/>
                <a:ea typeface="맑은 고딕"/>
                <a:cs typeface="맑은 고딕"/>
              </a:rPr>
              <a:t>      SKILL.md</a:t>
            </a:r>
          </a:p>
          <a:p>
            <a:pPr algn="l">
              <a:lnSpc>
                <a:spcPct val="110000"/>
              </a:lnSpc>
              <a:spcAft>
                <a:spcPts val="200"/>
              </a:spcAft>
            </a:pPr>
            <a:r>
              <a:rPr sz="1300" b="0">
                <a:solidFill>
                  <a:srgbClr val="E8EEF6"/>
                </a:solidFill>
                <a:latin typeface="Consolas"/>
                <a:ea typeface="맑은 고딕"/>
                <a:cs typeface="맑은 고딕"/>
              </a:rPr>
              <a:t>  output/</a:t>
            </a:r>
          </a:p>
          <a:p>
            <a:pPr algn="l">
              <a:lnSpc>
                <a:spcPct val="110000"/>
              </a:lnSpc>
              <a:spcAft>
                <a:spcPts val="200"/>
              </a:spcAft>
            </a:pPr>
            <a:r>
              <a:rPr sz="1300" b="0">
                <a:solidFill>
                  <a:srgbClr val="E8EEF6"/>
                </a:solidFill>
                <a:latin typeface="Consolas"/>
                <a:ea typeface="맑은 고딕"/>
                <a:cs typeface="맑은 고딕"/>
              </a:rPr>
              <a:t>    result.json</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작업 폴더</a:t>
            </a:r>
          </a:p>
          <a:p>
            <a:pPr algn="l">
              <a:lnSpc>
                <a:spcPct val="110000"/>
              </a:lnSpc>
              <a:spcAft>
                <a:spcPts val="400"/>
              </a:spcAft>
            </a:pPr>
            <a:r>
              <a:rPr sz="1400" b="0">
                <a:solidFill>
                  <a:srgbClr val="1F2A3A"/>
                </a:solidFill>
                <a:latin typeface="맑은 고딕"/>
                <a:ea typeface="맑은 고딕"/>
                <a:cs typeface="맑은 고딕"/>
              </a:rPr>
              <a:t>에이전트가 한 번의 실행 동안 쓰는 전용 폴더이다.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context/task.json</a:t>
            </a:r>
          </a:p>
          <a:p>
            <a:pPr algn="l">
              <a:lnSpc>
                <a:spcPct val="110000"/>
              </a:lnSpc>
              <a:spcAft>
                <a:spcPts val="400"/>
              </a:spcAft>
            </a:pPr>
            <a:r>
              <a:rPr sz="1400" b="0">
                <a:solidFill>
                  <a:srgbClr val="1F2A3A"/>
                </a:solidFill>
                <a:latin typeface="맑은 고딕"/>
                <a:ea typeface="맑은 고딕"/>
                <a:cs typeface="맑은 고딕"/>
              </a:rPr>
              <a:t>이번에 맡은 일의 입력이 들어 있다.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스킬 폴더</a:t>
            </a:r>
          </a:p>
          <a:p>
            <a:pPr algn="l">
              <a:lnSpc>
                <a:spcPct val="110000"/>
              </a:lnSpc>
              <a:spcAft>
                <a:spcPts val="400"/>
              </a:spcAft>
            </a:pPr>
            <a:r>
              <a:rPr sz="1400" b="0">
                <a:solidFill>
                  <a:srgbClr val="1F2A3A"/>
                </a:solidFill>
                <a:latin typeface="맑은 고딕"/>
                <a:ea typeface="맑은 고딕"/>
                <a:cs typeface="맑은 고딕"/>
              </a:rPr>
              <a:t>배정된 스킬이 폴더째 놓인다. 폴더 이름이 곧 스킬 이름이다.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output/result.json</a:t>
            </a:r>
          </a:p>
          <a:p>
            <a:pPr algn="l">
              <a:lnSpc>
                <a:spcPct val="110000"/>
              </a:lnSpc>
              <a:spcAft>
                <a:spcPts val="400"/>
              </a:spcAft>
            </a:pPr>
            <a:r>
              <a:rPr sz="1400" b="0">
                <a:solidFill>
                  <a:srgbClr val="1F2A3A"/>
                </a:solidFill>
                <a:latin typeface="맑은 고딕"/>
                <a:ea typeface="맑은 고딕"/>
                <a:cs typeface="맑은 고딕"/>
              </a:rPr>
              <a:t>에이전트가 결과를 써 넣는 파일이다.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①: 머리말과 요약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SKILL.md는 이름과 쓰임을 적은 머리말로 시작해, 맡는 일과 그 범위의 한계를 밝히는 요약으로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name: cooling-emergency-response</a:t>
            </a:r>
          </a:p>
          <a:p>
            <a:pPr algn="l">
              <a:lnSpc>
                <a:spcPct val="110000"/>
              </a:lnSpc>
              <a:spcAft>
                <a:spcPts val="200"/>
              </a:spcAft>
            </a:pPr>
            <a:r>
              <a:rPr sz="1300" b="0">
                <a:solidFill>
                  <a:srgbClr val="E8EEF6"/>
                </a:solidFill>
                <a:latin typeface="Consolas"/>
                <a:ea typeface="맑은 고딕"/>
                <a:cs typeface="맑은 고딕"/>
              </a:rPr>
              <a:t>description: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p>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(COOLER_DEGRADATION)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건에서</a:t>
            </a:r>
          </a:p>
          <a:p>
            <a:pPr algn="l">
              <a:lnSpc>
                <a:spcPct val="110000"/>
              </a:lnSpc>
              <a:spcAft>
                <a:spcPts val="200"/>
              </a:spcAft>
            </a:pP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비교해</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장과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올린다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계산만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스킬의 이름이다. 폴더 이름과 같다.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어떤 경우에 쓰는 스킬인지를 한 줄로 적는다.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요약 문단</a:t>
            </a:r>
          </a:p>
          <a:p>
            <a:pPr algn="l">
              <a:lnSpc>
                <a:spcPct val="110000"/>
              </a:lnSpc>
              <a:spcAft>
                <a:spcPts val="400"/>
              </a:spcAft>
            </a:pPr>
            <a:r>
              <a:rPr sz="1400" b="0">
                <a:solidFill>
                  <a:srgbClr val="1F2A3A"/>
                </a:solidFill>
                <a:latin typeface="맑은 고딕"/>
                <a:ea typeface="맑은 고딕"/>
                <a:cs typeface="맑은 고딕"/>
              </a:rPr>
              <a:t>경보 한 건에서 무엇을 하고 무엇을 내는지를 밝힌다.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범위의 한계</a:t>
            </a:r>
          </a:p>
          <a:p>
            <a:pPr algn="l">
              <a:lnSpc>
                <a:spcPct val="110000"/>
              </a:lnSpc>
              <a:spcAft>
                <a:spcPts val="400"/>
              </a:spcAft>
            </a:pPr>
            <a:r>
              <a:rPr sz="1400" b="0">
                <a:solidFill>
                  <a:srgbClr val="1F2A3A"/>
                </a:solidFill>
                <a:latin typeface="맑은 고딕"/>
                <a:ea typeface="맑은 고딕"/>
                <a:cs typeface="맑은 고딕"/>
              </a:rPr>
              <a:t>조회와 계산까지만 하고 설비 명령은 내지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머리말의 name과 description: 스킬을 고르는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머리말의 설명을 보고 지금 맡은 일에 맞는 스킬인지를 가린 뒤에 본문을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name</a:t>
            </a:r>
          </a:p>
          <a:p>
            <a:pPr algn="l">
              <a:lnSpc>
                <a:spcPct val="110000"/>
              </a:lnSpc>
              <a:spcAft>
                <a:spcPts val="200"/>
              </a:spcAft>
            </a:pPr>
            <a:r>
              <a:rPr sz="1150" b="0">
                <a:solidFill>
                  <a:srgbClr val="556175"/>
                </a:solidFill>
                <a:latin typeface="맑은 고딕"/>
                <a:ea typeface="맑은 고딕"/>
                <a:cs typeface="맑은 고딕"/>
              </a:rPr>
              <a:t>스킬의 식별자</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영문 소문자, 숫자, 하이픈으로 쓰며 64자를 넘지 않는다.</a:t>
            </a:r>
          </a:p>
          <a:p>
            <a:pPr algn="l">
              <a:lnSpc>
                <a:spcPct val="110000"/>
              </a:lnSpc>
              <a:spcAft>
                <a:spcPts val="300"/>
              </a:spcAft>
            </a:pPr>
            <a:r>
              <a:rPr sz="1400" b="0">
                <a:solidFill>
                  <a:srgbClr val="1F2A3A"/>
                </a:solidFill>
                <a:latin typeface="맑은 고딕"/>
                <a:ea typeface="맑은 고딕"/>
                <a:cs typeface="맑은 고딕"/>
              </a:rPr>
              <a:t>스킬 폴더의 이름과 같아야 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description</a:t>
            </a:r>
          </a:p>
          <a:p>
            <a:pPr algn="l">
              <a:lnSpc>
                <a:spcPct val="110000"/>
              </a:lnSpc>
              <a:spcAft>
                <a:spcPts val="200"/>
              </a:spcAft>
            </a:pPr>
            <a:r>
              <a:rPr sz="1150" b="0">
                <a:solidFill>
                  <a:srgbClr val="556175"/>
                </a:solidFill>
                <a:latin typeface="맑은 고딕"/>
                <a:ea typeface="맑은 고딕"/>
                <a:cs typeface="맑은 고딕"/>
              </a:rPr>
              <a:t>호출 조건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요청에 이 스킬을 쓰는지를 적는 한 줄이다.</a:t>
            </a:r>
          </a:p>
          <a:p>
            <a:pPr algn="l">
              <a:lnSpc>
                <a:spcPct val="110000"/>
              </a:lnSpc>
              <a:spcAft>
                <a:spcPts val="300"/>
              </a:spcAft>
            </a:pPr>
            <a:r>
              <a:rPr sz="1400" b="0">
                <a:solidFill>
                  <a:srgbClr val="1F2A3A"/>
                </a:solidFill>
                <a:latin typeface="맑은 고딕"/>
                <a:ea typeface="맑은 고딕"/>
                <a:cs typeface="맑은 고딕"/>
              </a:rPr>
              <a:t>에이전트는 이 줄을 보고 스킬을 쓸지 정한 뒤 본문을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설명이 모호할 때</a:t>
            </a:r>
          </a:p>
          <a:p>
            <a:pPr algn="l">
              <a:lnSpc>
                <a:spcPct val="110000"/>
              </a:lnSpc>
              <a:spcAft>
                <a:spcPts val="200"/>
              </a:spcAft>
            </a:pPr>
            <a:r>
              <a:rPr sz="1150" b="0">
                <a:solidFill>
                  <a:srgbClr val="556175"/>
                </a:solidFill>
                <a:latin typeface="맑은 고딕"/>
                <a:ea typeface="맑은 고딕"/>
                <a:cs typeface="맑은 고딕"/>
              </a:rPr>
              <a:t>흔한 실수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맞는 일에 스킬이 쓰이지 않거나, 맞지 않는 일에 스킬이 쓰인다.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 원문 ②: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도구의 이름과 넘길 값이 절차에 그대로 적혀 있어, 에이전트는 무엇을 어떤 순서로 부를지를 추측하지 않아도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a:t>
            </a:r>
          </a:p>
          <a:p>
            <a:pPr algn="l">
              <a:lnSpc>
                <a:spcPct val="110000"/>
              </a:lnSpc>
              <a:spcAft>
                <a:spcPts val="200"/>
              </a:spcAft>
            </a:pPr>
            <a:r>
              <a:rPr sz="1300" b="0">
                <a:solidFill>
                  <a:srgbClr val="E8EEF6"/>
                </a:solidFill>
                <a:latin typeface="Consolas"/>
                <a:ea typeface="맑은 고딕"/>
                <a:cs typeface="맑은 고딕"/>
              </a:rPr>
              <a:t>1. context/task.json </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입력에서</a:t>
            </a:r>
            <a:r>
              <a:rPr sz="1300" b="0">
                <a:solidFill>
                  <a:srgbClr val="E8EEF6"/>
                </a:solidFill>
                <a:latin typeface="Consolas"/>
                <a:ea typeface="맑은 고딕"/>
                <a:cs typeface="맑은 고딕"/>
              </a:rPr>
              <a:t> asset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pattern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alert.alertId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incident </a:t>
            </a:r>
            <a:r>
              <a:rPr sz="1300" b="0">
                <a:solidFill>
                  <a:srgbClr val="E8EEF6"/>
                </a:solidFill>
                <a:latin typeface="맑은 고딕"/>
                <a:ea typeface="맑은 고딕"/>
                <a:cs typeface="맑은 고딕"/>
              </a:rPr>
              <a:t>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2. hyd-dmn diagnose(asset, pattern, alert_id)</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가이드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withheld </a:t>
            </a:r>
            <a:r>
              <a:rPr sz="1300" b="0">
                <a:solidFill>
                  <a:srgbClr val="E8EEF6"/>
                </a:solidFill>
                <a:latin typeface="맑은 고딕"/>
                <a:ea typeface="맑은 고딕"/>
                <a:cs typeface="맑은 고딕"/>
              </a:rPr>
              <a:t>이면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지어내지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말고</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3. </a:t>
            </a:r>
            <a:r>
              <a:rPr sz="1300" b="0">
                <a:solidFill>
                  <a:srgbClr val="E8EEF6"/>
                </a:solidFill>
                <a:latin typeface="맑은 고딕"/>
                <a:ea typeface="맑은 고딕"/>
                <a:cs typeface="맑은 고딕"/>
              </a:rPr>
              <a:t>필요하면</a:t>
            </a:r>
            <a:r>
              <a:rPr sz="1300" b="0">
                <a:solidFill>
                  <a:srgbClr val="E8EEF6"/>
                </a:solidFill>
                <a:latin typeface="Consolas"/>
                <a:ea typeface="맑은 고딕"/>
                <a:cs typeface="맑은 고딕"/>
              </a:rPr>
              <a:t> enterprise </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납기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로트를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확인한다</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조회만</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4. hyd-dmn evaluate_cards(asset, pattern,</a:t>
            </a:r>
          </a:p>
          <a:p>
            <a:pPr algn="l">
              <a:lnSpc>
                <a:spcPct val="110000"/>
              </a:lnSpc>
              <a:spcAft>
                <a:spcPts val="200"/>
              </a:spcAft>
            </a:pPr>
            <a:r>
              <a:rPr sz="1300" b="0">
                <a:solidFill>
                  <a:srgbClr val="E8EEF6"/>
                </a:solidFill>
                <a:latin typeface="Consolas"/>
                <a:ea typeface="맑은 고딕"/>
                <a:cs typeface="맑은 고딕"/>
              </a:rPr>
              <a:t>   cause,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5. hyd-dmn submit_decision(</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id </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decision_id </a:t>
            </a:r>
            <a:r>
              <a:rPr sz="1300" b="0">
                <a:solidFill>
                  <a:srgbClr val="E8EEF6"/>
                </a:solidFill>
                <a:latin typeface="맑은 고딕"/>
                <a:ea typeface="맑은 고딕"/>
                <a:cs typeface="맑은 고딕"/>
              </a:rPr>
              <a:t>다</a:t>
            </a: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1단계</a:t>
            </a:r>
          </a:p>
          <a:p>
            <a:pPr algn="l">
              <a:lnSpc>
                <a:spcPct val="110000"/>
              </a:lnSpc>
              <a:spcAft>
                <a:spcPts val="400"/>
              </a:spcAft>
            </a:pPr>
            <a:r>
              <a:rPr sz="1400" b="0">
                <a:solidFill>
                  <a:srgbClr val="1F2A3A"/>
                </a:solidFill>
                <a:latin typeface="맑은 고딕"/>
                <a:ea typeface="맑은 고딕"/>
                <a:cs typeface="맑은 고딕"/>
              </a:rPr>
              <a:t>입력을 읽을 파일과 읽을 항목을 가리킨다.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 · 4 · 5단계</a:t>
            </a:r>
          </a:p>
          <a:p>
            <a:pPr algn="l">
              <a:lnSpc>
                <a:spcPct val="110000"/>
              </a:lnSpc>
              <a:spcAft>
                <a:spcPts val="400"/>
              </a:spcAft>
            </a:pPr>
            <a:r>
              <a:rPr sz="1400" b="0">
                <a:solidFill>
                  <a:srgbClr val="1F2A3A"/>
                </a:solidFill>
                <a:latin typeface="맑은 고딕"/>
                <a:ea typeface="맑은 고딕"/>
                <a:cs typeface="맑은 고딕"/>
              </a:rPr>
              <a:t>도구의 이름과 넘길 값을 그대로 적는다.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2단계의 끝</a:t>
            </a:r>
          </a:p>
          <a:p>
            <a:pPr algn="l">
              <a:lnSpc>
                <a:spcPct val="110000"/>
              </a:lnSpc>
              <a:spcAft>
                <a:spcPts val="400"/>
              </a:spcAft>
            </a:pPr>
            <a:r>
              <a:rPr sz="1400" b="0">
                <a:solidFill>
                  <a:srgbClr val="1F2A3A"/>
                </a:solidFill>
                <a:latin typeface="맑은 고딕"/>
                <a:ea typeface="맑은 고딕"/>
                <a:cs typeface="맑은 고딕"/>
              </a:rPr>
              <a:t>근거가 없을 때의 행동을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3단계</a:t>
            </a:r>
          </a:p>
          <a:p>
            <a:pPr algn="l">
              <a:lnSpc>
                <a:spcPct val="110000"/>
              </a:lnSpc>
              <a:spcAft>
                <a:spcPts val="400"/>
              </a:spcAft>
            </a:pPr>
            <a:r>
              <a:rPr sz="1400" b="0">
                <a:solidFill>
                  <a:srgbClr val="1F2A3A"/>
                </a:solidFill>
                <a:latin typeface="맑은 고딕"/>
                <a:ea typeface="맑은 고딕"/>
                <a:cs typeface="맑은 고딕"/>
              </a:rPr>
              <a:t>「필요하면」과 「조회만」으로 범위를 정한다.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SKILL.md가 정하는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 한 편은 언제 쓰고, 무엇을 받으며, 막히면 어떻게 하고, 어떤 순서로 해서 무엇을 내는지를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스킬문서.svg" descr="illust_178202921739155465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68607" y="188291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 조건</a:t>
            </a:r>
          </a:p>
          <a:p>
            <a:pPr algn="ctr">
              <a:lnSpc>
                <a:spcPct val="110000"/>
              </a:lnSpc>
              <a:spcAft>
                <a:spcPts val="100"/>
              </a:spcAft>
            </a:pPr>
            <a:r>
              <a:rPr sz="1300" b="0">
                <a:solidFill>
                  <a:srgbClr val="556175"/>
                </a:solidFill>
                <a:latin typeface="맑은 고딕"/>
                <a:ea typeface="맑은 고딕"/>
                <a:cs typeface="맑은 고딕"/>
              </a:rPr>
              <a:t>description이 맡는다</a:t>
            </a:r>
          </a:p>
        </p:txBody>
      </p:sp>
      <p:sp>
        <p:nvSpPr>
          <p:cNvPr id="8" name="TextBox 7"/>
          <p:cNvSpPr txBox="1"/>
          <p:nvPr/>
        </p:nvSpPr>
        <p:spPr>
          <a:xfrm>
            <a:off x="6968607" y="275276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목적</a:t>
            </a:r>
          </a:p>
          <a:p>
            <a:pPr algn="ctr">
              <a:lnSpc>
                <a:spcPct val="110000"/>
              </a:lnSpc>
              <a:spcAft>
                <a:spcPts val="100"/>
              </a:spcAft>
            </a:pPr>
            <a:r>
              <a:rPr sz="1300" b="0">
                <a:solidFill>
                  <a:srgbClr val="556175"/>
                </a:solidFill>
                <a:latin typeface="맑은 고딕"/>
                <a:ea typeface="맑은 고딕"/>
                <a:cs typeface="맑은 고딕"/>
              </a:rPr>
              <a:t>본문 첫 문단이 밝힌다</a:t>
            </a:r>
          </a:p>
        </p:txBody>
      </p:sp>
      <p:sp>
        <p:nvSpPr>
          <p:cNvPr id="9" name="TextBox 8"/>
          <p:cNvSpPr txBox="1"/>
          <p:nvPr/>
        </p:nvSpPr>
        <p:spPr>
          <a:xfrm>
            <a:off x="6968607" y="333896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1단계가 읽을 자리를 가리킨다</a:t>
            </a:r>
          </a:p>
        </p:txBody>
      </p:sp>
      <p:sp>
        <p:nvSpPr>
          <p:cNvPr id="10" name="TextBox 9"/>
          <p:cNvSpPr txBox="1"/>
          <p:nvPr/>
        </p:nvSpPr>
        <p:spPr>
          <a:xfrm>
            <a:off x="6968607" y="3901534"/>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예외 지침</a:t>
            </a:r>
          </a:p>
          <a:p>
            <a:pPr algn="ctr">
              <a:lnSpc>
                <a:spcPct val="110000"/>
              </a:lnSpc>
              <a:spcAft>
                <a:spcPts val="100"/>
              </a:spcAft>
            </a:pPr>
            <a:r>
              <a:rPr sz="1300" b="0">
                <a:solidFill>
                  <a:srgbClr val="556175"/>
                </a:solidFill>
                <a:latin typeface="맑은 고딕"/>
                <a:ea typeface="맑은 고딕"/>
                <a:cs typeface="맑은 고딕"/>
              </a:rPr>
              <a:t>해당 단계 안에 적는다</a:t>
            </a:r>
          </a:p>
        </p:txBody>
      </p:sp>
      <p:sp>
        <p:nvSpPr>
          <p:cNvPr id="11" name="TextBox 10"/>
          <p:cNvSpPr txBox="1"/>
          <p:nvPr/>
        </p:nvSpPr>
        <p:spPr>
          <a:xfrm>
            <a:off x="6968607" y="448301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순서</a:t>
            </a:r>
          </a:p>
          <a:p>
            <a:pPr algn="ctr">
              <a:lnSpc>
                <a:spcPct val="110000"/>
              </a:lnSpc>
              <a:spcAft>
                <a:spcPts val="100"/>
              </a:spcAft>
            </a:pPr>
            <a:r>
              <a:rPr sz="1300" b="0">
                <a:solidFill>
                  <a:srgbClr val="556175"/>
                </a:solidFill>
                <a:latin typeface="맑은 고딕"/>
                <a:ea typeface="맑은 고딕"/>
                <a:cs typeface="맑은 고딕"/>
              </a:rPr>
              <a:t>단계의 번호가 호출의 차례다</a:t>
            </a:r>
          </a:p>
        </p:txBody>
      </p:sp>
      <p:sp>
        <p:nvSpPr>
          <p:cNvPr id="12" name="TextBox 11"/>
          <p:cNvSpPr txBox="1"/>
          <p:nvPr/>
        </p:nvSpPr>
        <p:spPr>
          <a:xfrm>
            <a:off x="6968607" y="5428500"/>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a:t>
            </a:r>
          </a:p>
          <a:p>
            <a:pPr algn="ctr">
              <a:lnSpc>
                <a:spcPct val="110000"/>
              </a:lnSpc>
              <a:spcAft>
                <a:spcPts val="100"/>
              </a:spcAft>
            </a:pPr>
            <a:r>
              <a:rPr sz="1300" b="0">
                <a:solidFill>
                  <a:srgbClr val="556175"/>
                </a:solidFill>
                <a:latin typeface="맑은 고딕"/>
                <a:ea typeface="맑은 고딕"/>
                <a:cs typeface="맑은 고딕"/>
              </a:rPr>
              <a:t>결과 절이 항목 이름을 정한다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예외 지침: 근거가 없을 때 지어내지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 도구가 근거를 확인하지 못했다고 답하면, 스킬은 원인을 고르지 말고 판단을 보류로 내라고 지시한다.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확인된 응답</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false이다</a:t>
            </a:r>
          </a:p>
          <a:p>
            <a:pPr algn="l">
              <a:lnSpc>
                <a:spcPct val="110000"/>
              </a:lnSpc>
              <a:spcAft>
                <a:spcPts val="600"/>
              </a:spcAft>
            </a:pPr>
            <a:r>
              <a:rPr sz="1450" b="0">
                <a:solidFill>
                  <a:srgbClr val="1F2A3A"/>
                </a:solidFill>
                <a:latin typeface="맑은 고딕"/>
                <a:ea typeface="맑은 고딕"/>
                <a:cs typeface="맑은 고딕"/>
              </a:rPr>
              <a:t>• 원인 1순위가 정해진다 — 쿨러 핀 오염</a:t>
            </a:r>
          </a:p>
          <a:p>
            <a:pPr algn="l">
              <a:lnSpc>
                <a:spcPct val="110000"/>
              </a:lnSpc>
              <a:spcAft>
                <a:spcPts val="600"/>
              </a:spcAft>
            </a:pPr>
            <a:r>
              <a:rPr sz="1450" b="0">
                <a:solidFill>
                  <a:srgbClr val="1F2A3A"/>
                </a:solidFill>
                <a:latin typeface="맑은 고딕"/>
                <a:ea typeface="맑은 고딕"/>
                <a:cs typeface="맑은 고딕"/>
              </a:rPr>
              <a:t>• 절차의 다음 단계로 넘어간다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진행</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hand-stop" descr="hand-sto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근거가 확인되지 않은 응답</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응답의 withheld가 true이다</a:t>
            </a:r>
          </a:p>
          <a:p>
            <a:pPr algn="l">
              <a:lnSpc>
                <a:spcPct val="110000"/>
              </a:lnSpc>
              <a:spcAft>
                <a:spcPts val="600"/>
              </a:spcAft>
            </a:pPr>
            <a:r>
              <a:rPr sz="1450" b="0">
                <a:solidFill>
                  <a:srgbClr val="1F2A3A"/>
                </a:solidFill>
                <a:latin typeface="맑은 고딕"/>
                <a:ea typeface="맑은 고딕"/>
                <a:cs typeface="맑은 고딕"/>
              </a:rPr>
              <a:t>• 값이 오래되었거나 증거가 원인과 맞지 않는다</a:t>
            </a:r>
          </a:p>
          <a:p>
            <a:pPr algn="l">
              <a:lnSpc>
                <a:spcPct val="110000"/>
              </a:lnSpc>
              <a:spcAft>
                <a:spcPts val="600"/>
              </a:spcAft>
            </a:pPr>
            <a:r>
              <a:rPr sz="1450" b="0">
                <a:solidFill>
                  <a:srgbClr val="1F2A3A"/>
                </a:solidFill>
                <a:latin typeface="맑은 고딕"/>
                <a:ea typeface="맑은 고딕"/>
                <a:cs typeface="맑은 고딕"/>
              </a:rPr>
              <a:t>• 원인을 고르지 않고 보류로 낸다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 절이 정한 항목과 실제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다음 단계가 값을 항목의 이름으로 읽기 때문에, 결과 절은 내놓을 다섯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129282"/>
            <a:ext cx="6766560" cy="372414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66442"/>
            <a:ext cx="6400800" cy="344982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p>
          <a:p>
            <a:pPr algn="l">
              <a:lnSpc>
                <a:spcPct val="110000"/>
              </a:lnSpc>
              <a:spcAft>
                <a:spcPts val="200"/>
              </a:spcAft>
            </a:pPr>
            <a:r>
              <a:rPr sz="1300" b="0">
                <a:solidFill>
                  <a:srgbClr val="E8EEF6"/>
                </a:solidFill>
                <a:latin typeface="Consolas"/>
                <a:ea typeface="맑은 고딕"/>
                <a:cs typeface="맑은 고딕"/>
              </a:rPr>
              <a:t>cause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failure_mode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guide_card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decision{recommended, explanation, order}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decision_id</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output/result.json</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원인은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오염입니다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"decision_id": "DEC-1010-056-0972" }</a:t>
            </a:r>
          </a:p>
        </p:txBody>
      </p:sp>
      <p:sp>
        <p:nvSpPr>
          <p:cNvPr id="8" name="TextBox 7"/>
          <p:cNvSpPr txBox="1"/>
          <p:nvPr/>
        </p:nvSpPr>
        <p:spPr>
          <a:xfrm>
            <a:off x="7635240" y="2129282"/>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 절</a:t>
            </a:r>
          </a:p>
          <a:p>
            <a:pPr algn="l">
              <a:lnSpc>
                <a:spcPct val="110000"/>
              </a:lnSpc>
              <a:spcAft>
                <a:spcPts val="400"/>
              </a:spcAft>
            </a:pPr>
            <a:r>
              <a:rPr sz="1400" b="0">
                <a:solidFill>
                  <a:srgbClr val="1F2A3A"/>
                </a:solidFill>
                <a:latin typeface="맑은 고딕"/>
                <a:ea typeface="맑은 고딕"/>
                <a:cs typeface="맑은 고딕"/>
              </a:rPr>
              <a:t>내놓을 항목의 이름을 정한다.</a:t>
            </a:r>
          </a:p>
        </p:txBody>
      </p:sp>
      <p:sp>
        <p:nvSpPr>
          <p:cNvPr id="9" name="TextBox 8"/>
          <p:cNvSpPr txBox="1"/>
          <p:nvPr/>
        </p:nvSpPr>
        <p:spPr>
          <a:xfrm>
            <a:off x="7635240" y="3060318"/>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지식 그래프의 식별자를 그대로 낸다.</a:t>
            </a:r>
          </a:p>
        </p:txBody>
      </p:sp>
      <p:sp>
        <p:nvSpPr>
          <p:cNvPr id="10" name="TextBox 9"/>
          <p:cNvSpPr txBox="1"/>
          <p:nvPr/>
        </p:nvSpPr>
        <p:spPr>
          <a:xfrm>
            <a:off x="7635240" y="3991356"/>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추천한 조치, 설명, 후보의 순위이다.</a:t>
            </a:r>
          </a:p>
        </p:txBody>
      </p:sp>
      <p:sp>
        <p:nvSpPr>
          <p:cNvPr id="11" name="TextBox 10"/>
          <p:cNvSpPr txBox="1"/>
          <p:nvPr/>
        </p:nvSpPr>
        <p:spPr>
          <a:xfrm>
            <a:off x="7635240" y="4922393"/>
            <a:ext cx="4007815" cy="931037"/>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제출한 판단에 붙은 번호이다.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사건에 쓰인 두 절차: 에이전트 스킬과 SOP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 한 건에서 에이전트 스킬은 경보부터 승인 전까지 쓰였고, SOP는 승인 뒤의 작업에 쓰였다.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두절차.svg" descr="illust_3014631881648218132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593899" y="2360386"/>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스킬이 이끄는 구간</a:t>
            </a:r>
          </a:p>
          <a:p>
            <a:pPr algn="ctr">
              <a:lnSpc>
                <a:spcPct val="110000"/>
              </a:lnSpc>
              <a:spcAft>
                <a:spcPts val="100"/>
              </a:spcAft>
            </a:pPr>
            <a:r>
              <a:rPr sz="1300" b="0">
                <a:solidFill>
                  <a:srgbClr val="556175"/>
                </a:solidFill>
                <a:latin typeface="맑은 고딕"/>
                <a:ea typeface="맑은 고딕"/>
                <a:cs typeface="맑은 고딕"/>
              </a:rPr>
              <a:t>승인 전: 조회, 계산, 판단의 제출</a:t>
            </a:r>
          </a:p>
        </p:txBody>
      </p:sp>
      <p:sp>
        <p:nvSpPr>
          <p:cNvPr id="8" name="TextBox 7"/>
          <p:cNvSpPr txBox="1"/>
          <p:nvPr/>
        </p:nvSpPr>
        <p:spPr>
          <a:xfrm>
            <a:off x="8746854" y="2360386"/>
            <a:ext cx="250918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SOP가 정한 구간</a:t>
            </a:r>
          </a:p>
          <a:p>
            <a:pPr algn="ctr">
              <a:lnSpc>
                <a:spcPct val="110000"/>
              </a:lnSpc>
              <a:spcAft>
                <a:spcPts val="100"/>
              </a:spcAft>
            </a:pPr>
            <a:r>
              <a:rPr sz="1300" b="0">
                <a:solidFill>
                  <a:srgbClr val="556175"/>
                </a:solidFill>
                <a:latin typeface="맑은 고딕"/>
                <a:ea typeface="맑은 고딕"/>
                <a:cs typeface="맑은 고딕"/>
              </a:rPr>
              <a:t>승인 뒤: 설비에 하는 작업</a:t>
            </a:r>
          </a:p>
        </p:txBody>
      </p:sp>
      <p:sp>
        <p:nvSpPr>
          <p:cNvPr id="9" name="TextBox 8"/>
          <p:cNvSpPr txBox="1"/>
          <p:nvPr/>
        </p:nvSpPr>
        <p:spPr>
          <a:xfrm>
            <a:off x="859290" y="470047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10" name="TextBox 9"/>
          <p:cNvSpPr txBox="1"/>
          <p:nvPr/>
        </p:nvSpPr>
        <p:spPr>
          <a:xfrm>
            <a:off x="2572080"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SKILL.md</a:t>
            </a:r>
          </a:p>
        </p:txBody>
      </p:sp>
      <p:sp>
        <p:nvSpPr>
          <p:cNvPr id="11" name="TextBox 10"/>
          <p:cNvSpPr txBox="1"/>
          <p:nvPr/>
        </p:nvSpPr>
        <p:spPr>
          <a:xfrm>
            <a:off x="3990315"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2" name="TextBox 11"/>
          <p:cNvSpPr txBox="1"/>
          <p:nvPr/>
        </p:nvSpPr>
        <p:spPr>
          <a:xfrm>
            <a:off x="5255816" y="479502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3" name="TextBox 12"/>
          <p:cNvSpPr txBox="1"/>
          <p:nvPr/>
        </p:nvSpPr>
        <p:spPr>
          <a:xfrm>
            <a:off x="6892240" y="479502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운전원의 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4" name="TextBox 13"/>
          <p:cNvSpPr txBox="1"/>
          <p:nvPr/>
        </p:nvSpPr>
        <p:spPr>
          <a:xfrm>
            <a:off x="8408660" y="479502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SOP-COOL-11</a:t>
            </a:r>
          </a:p>
        </p:txBody>
      </p:sp>
      <p:sp>
        <p:nvSpPr>
          <p:cNvPr id="15" name="TextBox 14"/>
          <p:cNvSpPr txBox="1"/>
          <p:nvPr/>
        </p:nvSpPr>
        <p:spPr>
          <a:xfrm>
            <a:off x="10012356" y="479502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100 %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에이전트 스킬: 읽는 이와 적는 내용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현장 작업자가 읽는 설비 작업의 절차이고, 에이전트 스킬은 에이전트가 읽는 조회와 판단의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현장 작업자</a:t>
            </a:r>
          </a:p>
          <a:p>
            <a:pPr algn="l">
              <a:lnSpc>
                <a:spcPct val="110000"/>
              </a:lnSpc>
              <a:spcAft>
                <a:spcPts val="600"/>
              </a:spcAft>
            </a:pPr>
            <a:r>
              <a:rPr sz="1450" b="0">
                <a:solidFill>
                  <a:srgbClr val="1F2A3A"/>
                </a:solidFill>
                <a:latin typeface="맑은 고딕"/>
                <a:ea typeface="맑은 고딕"/>
                <a:cs typeface="맑은 고딕"/>
              </a:rPr>
              <a:t>• 적는 것: 설비를 다루는 순서, 안전 조건, 금지 사항</a:t>
            </a:r>
          </a:p>
          <a:p>
            <a:pPr algn="l">
              <a:lnSpc>
                <a:spcPct val="110000"/>
              </a:lnSpc>
              <a:spcAft>
                <a:spcPts val="600"/>
              </a:spcAft>
            </a:pPr>
            <a:r>
              <a:rPr sz="1450" b="0">
                <a:solidFill>
                  <a:srgbClr val="1F2A3A"/>
                </a:solidFill>
                <a:latin typeface="맑은 고딕"/>
                <a:ea typeface="맑은 고딕"/>
                <a:cs typeface="맑은 고딕"/>
              </a:rPr>
              <a:t>• 형식: 설비 매뉴얼의 한 절</a:t>
            </a:r>
          </a:p>
          <a:p>
            <a:pPr algn="l">
              <a:lnSpc>
                <a:spcPct val="110000"/>
              </a:lnSpc>
              <a:spcAft>
                <a:spcPts val="600"/>
              </a:spcAft>
            </a:pPr>
            <a:r>
              <a:rPr sz="1450" b="0">
                <a:solidFill>
                  <a:srgbClr val="1F2A3A"/>
                </a:solidFill>
                <a:latin typeface="맑은 고딕"/>
                <a:ea typeface="맑은 고딕"/>
                <a:cs typeface="맑은 고딕"/>
              </a:rPr>
              <a:t>• 예: SOP-COOL-11 — 「팬 속도를 100 %로 올린다」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설비에 하는 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스킬</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이: 에이전트</a:t>
            </a:r>
          </a:p>
          <a:p>
            <a:pPr algn="l">
              <a:lnSpc>
                <a:spcPct val="110000"/>
              </a:lnSpc>
              <a:spcAft>
                <a:spcPts val="600"/>
              </a:spcAft>
            </a:pPr>
            <a:r>
              <a:rPr sz="1450" b="0">
                <a:solidFill>
                  <a:srgbClr val="1F2A3A"/>
                </a:solidFill>
                <a:latin typeface="맑은 고딕"/>
                <a:ea typeface="맑은 고딕"/>
                <a:cs typeface="맑은 고딕"/>
              </a:rPr>
              <a:t>• 적는 것: 부를 도구와 순서, 근거가 없을 때의 행동, 결과의 모양</a:t>
            </a:r>
          </a:p>
          <a:p>
            <a:pPr algn="l">
              <a:lnSpc>
                <a:spcPct val="110000"/>
              </a:lnSpc>
              <a:spcAft>
                <a:spcPts val="600"/>
              </a:spcAft>
            </a:pPr>
            <a:r>
              <a:rPr sz="1450" b="0">
                <a:solidFill>
                  <a:srgbClr val="1F2A3A"/>
                </a:solidFill>
                <a:latin typeface="맑은 고딕"/>
                <a:ea typeface="맑은 고딕"/>
                <a:cs typeface="맑은 고딕"/>
              </a:rPr>
              <a:t>• 형식: 머리말과 본문을 가진 SKILL.md</a:t>
            </a:r>
          </a:p>
          <a:p>
            <a:pPr algn="l">
              <a:lnSpc>
                <a:spcPct val="110000"/>
              </a:lnSpc>
              <a:spcAft>
                <a:spcPts val="600"/>
              </a:spcAft>
            </a:pPr>
            <a:r>
              <a:rPr sz="1450" b="0">
                <a:solidFill>
                  <a:srgbClr val="1F2A3A"/>
                </a:solidFill>
                <a:latin typeface="맑은 고딕"/>
                <a:ea typeface="맑은 고딕"/>
                <a:cs typeface="맑은 고딕"/>
              </a:rPr>
              <a:t>• 예: cooling-emergency-response — 「diagnose로 원인 1순위를 얻는다」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정보로 하는 일</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스킬에 적힌 것과 입력 · 도구에서 얻는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사건마다 달라지는 대상과 값은 입력과 도구에서 얻으므로, 스킬에는 사건이 달라져도 변하지 않는 방법만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경보의 실제 내용</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얻는 곳</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방법</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도구를 부르는 순서, 보류의 조건, 결과 항목의 이름</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스킬</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대상과 사건</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HYD-01, COOLER_DEGRADATION, 경보 번호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입력 파일</a:t>
            </a:r>
          </a:p>
          <a:p>
            <a:pPr algn="l">
              <a:lnSpc>
                <a:spcPct val="110000"/>
              </a:lnSpc>
            </a:pPr>
            <a:r>
              <a:rPr sz="1250" b="1">
                <a:solidFill>
                  <a:srgbClr val="556175"/>
                </a:solidFill>
                <a:latin typeface="맑은 고딕"/>
                <a:ea typeface="맑은 고딕"/>
                <a:cs typeface="맑은 고딕"/>
              </a:rPr>
              <a:t>context/task.json</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원인과 조치 후보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오염, 팬 최대 운전을 비롯한 네 후보</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지식 그래프에서 읽는다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지금의 값</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효율 46.2 %, 납기까지 5.98시간</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a:t>
            </a:r>
          </a:p>
          <a:p>
            <a:pPr algn="l">
              <a:lnSpc>
                <a:spcPct val="110000"/>
              </a:lnSpc>
            </a:pPr>
            <a:r>
              <a:rPr sz="1250" b="1">
                <a:solidFill>
                  <a:srgbClr val="556175"/>
                </a:solidFill>
                <a:latin typeface="맑은 고딕"/>
                <a:ea typeface="맑은 고딕"/>
                <a:cs typeface="맑은 고딕"/>
              </a:rPr>
              <a:t>조회 시점에 읽는다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스킬, 다른 경보: 두 번의 실행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번호가 다른 두 쿨러 경보가 같은 스킬 한 편으로 처리되어 저마다 판단 하나씩을 제출했다.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pic>
        <p:nvPicPr>
          <p:cNvPr id="6" name="삽화:재사용.svg" descr="illust_606774381474678408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4984120"/>
            <a:ext cx="2618278"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cooling-emergency-response</a:t>
            </a:r>
          </a:p>
          <a:p>
            <a:pPr algn="ctr">
              <a:lnSpc>
                <a:spcPct val="110000"/>
              </a:lnSpc>
              <a:spcAft>
                <a:spcPts val="100"/>
              </a:spcAft>
            </a:pPr>
            <a:r>
              <a:rPr sz="1300" b="0">
                <a:solidFill>
                  <a:srgbClr val="556175"/>
                </a:solidFill>
                <a:latin typeface="맑은 고딕"/>
                <a:ea typeface="맑은 고딕"/>
                <a:cs typeface="맑은 고딕"/>
              </a:rPr>
              <a:t>스킬 한 편</a:t>
            </a:r>
          </a:p>
        </p:txBody>
      </p:sp>
      <p:sp>
        <p:nvSpPr>
          <p:cNvPr id="8" name="TextBox 7"/>
          <p:cNvSpPr txBox="1"/>
          <p:nvPr/>
        </p:nvSpPr>
        <p:spPr>
          <a:xfrm>
            <a:off x="4404875"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첫째 경보</a:t>
            </a:r>
          </a:p>
          <a:p>
            <a:pPr algn="ctr">
              <a:lnSpc>
                <a:spcPct val="110000"/>
              </a:lnSpc>
              <a:spcAft>
                <a:spcPts val="100"/>
              </a:spcAft>
            </a:pPr>
            <a:r>
              <a:rPr sz="1300" b="0">
                <a:solidFill>
                  <a:srgbClr val="556175"/>
                </a:solidFill>
                <a:latin typeface="맑은 고딕"/>
                <a:ea typeface="맑은 고딕"/>
                <a:cs typeface="맑은 고딕"/>
              </a:rPr>
              <a:t>ALT-hyd01-0014-e0a1</a:t>
            </a:r>
          </a:p>
        </p:txBody>
      </p:sp>
      <p:sp>
        <p:nvSpPr>
          <p:cNvPr id="9" name="TextBox 8"/>
          <p:cNvSpPr txBox="1"/>
          <p:nvPr/>
        </p:nvSpPr>
        <p:spPr>
          <a:xfrm>
            <a:off x="8408660" y="2989137"/>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DEC-1010-002-408b</a:t>
            </a:r>
          </a:p>
        </p:txBody>
      </p:sp>
      <p:sp>
        <p:nvSpPr>
          <p:cNvPr id="10" name="TextBox 9"/>
          <p:cNvSpPr txBox="1"/>
          <p:nvPr/>
        </p:nvSpPr>
        <p:spPr>
          <a:xfrm>
            <a:off x="4404875"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둘째 경보</a:t>
            </a:r>
          </a:p>
          <a:p>
            <a:pPr algn="ctr">
              <a:lnSpc>
                <a:spcPct val="110000"/>
              </a:lnSpc>
              <a:spcAft>
                <a:spcPts val="100"/>
              </a:spcAft>
            </a:pPr>
            <a:r>
              <a:rPr sz="1300" b="0">
                <a:solidFill>
                  <a:srgbClr val="556175"/>
                </a:solidFill>
                <a:latin typeface="맑은 고딕"/>
                <a:ea typeface="맑은 고딕"/>
                <a:cs typeface="맑은 고딕"/>
              </a:rPr>
              <a:t>ALT-hyd01-0025-b8ed</a:t>
            </a:r>
          </a:p>
        </p:txBody>
      </p:sp>
      <p:sp>
        <p:nvSpPr>
          <p:cNvPr id="11" name="TextBox 10"/>
          <p:cNvSpPr txBox="1"/>
          <p:nvPr/>
        </p:nvSpPr>
        <p:spPr>
          <a:xfrm>
            <a:off x="8408660" y="4445191"/>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판단 제출</a:t>
            </a:r>
          </a:p>
          <a:p>
            <a:pPr algn="ctr">
              <a:lnSpc>
                <a:spcPct val="110000"/>
              </a:lnSpc>
              <a:spcAft>
                <a:spcPts val="100"/>
              </a:spcAft>
            </a:pPr>
            <a:r>
              <a:rPr sz="1300" b="0">
                <a:solidFill>
                  <a:srgbClr val="556175"/>
                </a:solidFill>
                <a:latin typeface="맑은 고딕"/>
                <a:ea typeface="맑은 고딕"/>
                <a:cs typeface="맑은 고딕"/>
              </a:rPr>
              <a:t>DEC-1010-056-0972</a:t>
            </a:r>
          </a:p>
        </p:txBody>
      </p:sp>
      <p:sp>
        <p:nvSpPr>
          <p:cNvPr id="12" name="TextBox 11"/>
          <p:cNvSpPr txBox="1"/>
          <p:nvPr/>
        </p:nvSpPr>
        <p:spPr>
          <a:xfrm>
            <a:off x="4459423" y="590124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경보</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번의 프롬프트와 재사용하는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프롬프트는 그 실행 한 번에 쓰이고 끝나지만, 스킬은 이름으로 보관되어 여러 에이전트와 여러 실행에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 번의 프롬프트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그 실행에만 쓰인다</a:t>
            </a:r>
          </a:p>
          <a:p>
            <a:pPr algn="l">
              <a:lnSpc>
                <a:spcPct val="110000"/>
              </a:lnSpc>
              <a:spcAft>
                <a:spcPts val="600"/>
              </a:spcAft>
            </a:pPr>
            <a:r>
              <a:rPr sz="1450" b="0">
                <a:solidFill>
                  <a:srgbClr val="1F2A3A"/>
                </a:solidFill>
                <a:latin typeface="맑은 고딕"/>
                <a:ea typeface="맑은 고딕"/>
                <a:cs typeface="맑은 고딕"/>
              </a:rPr>
              <a:t>• 이름이 없어 다시 찾아 쓰기 어렵다</a:t>
            </a:r>
          </a:p>
          <a:p>
            <a:pPr algn="l">
              <a:lnSpc>
                <a:spcPct val="110000"/>
              </a:lnSpc>
              <a:spcAft>
                <a:spcPts val="600"/>
              </a:spcAft>
            </a:pPr>
            <a:r>
              <a:rPr sz="1450" b="0">
                <a:solidFill>
                  <a:srgbClr val="1F2A3A"/>
                </a:solidFill>
                <a:latin typeface="맑은 고딕"/>
                <a:ea typeface="맑은 고딕"/>
                <a:cs typeface="맑은 고딕"/>
              </a:rPr>
              <a:t>• 쓸 때마다 내용이 조금씩 달라진다</a:t>
            </a:r>
          </a:p>
          <a:p>
            <a:pPr algn="l">
              <a:lnSpc>
                <a:spcPct val="110000"/>
              </a:lnSpc>
              <a:spcAft>
                <a:spcPts val="600"/>
              </a:spcAft>
            </a:pPr>
            <a:r>
              <a:rPr sz="1450" b="0">
                <a:solidFill>
                  <a:srgbClr val="1F2A3A"/>
                </a:solidFill>
                <a:latin typeface="맑은 고딕"/>
                <a:ea typeface="맑은 고딕"/>
                <a:cs typeface="맑은 고딕"/>
              </a:rPr>
              <a:t>• 맞는 일: 한 번 묻고 끝나는 요청</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일회성</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이름으로 보관되어 실행마다 다시 쓰인다</a:t>
            </a:r>
          </a:p>
          <a:p>
            <a:pPr algn="l">
              <a:lnSpc>
                <a:spcPct val="110000"/>
              </a:lnSpc>
              <a:spcAft>
                <a:spcPts val="600"/>
              </a:spcAft>
            </a:pPr>
            <a:r>
              <a:rPr sz="1450" b="0">
                <a:solidFill>
                  <a:srgbClr val="1F2A3A"/>
                </a:solidFill>
                <a:latin typeface="맑은 고딕"/>
                <a:ea typeface="맑은 고딕"/>
                <a:cs typeface="맑은 고딕"/>
              </a:rPr>
              <a:t>• 여러 에이전트에 붙일 수 있다</a:t>
            </a:r>
          </a:p>
          <a:p>
            <a:pPr algn="l">
              <a:lnSpc>
                <a:spcPct val="110000"/>
              </a:lnSpc>
              <a:spcAft>
                <a:spcPts val="600"/>
              </a:spcAft>
            </a:pPr>
            <a:r>
              <a:rPr sz="1450" b="0">
                <a:solidFill>
                  <a:srgbClr val="1F2A3A"/>
                </a:solidFill>
                <a:latin typeface="맑은 고딕"/>
                <a:ea typeface="맑은 고딕"/>
                <a:cs typeface="맑은 고딕"/>
              </a:rPr>
              <a:t>• 한곳을 고치면 붙어 있는 모든 곳에 반영된다</a:t>
            </a:r>
          </a:p>
          <a:p>
            <a:pPr algn="l">
              <a:lnSpc>
                <a:spcPct val="110000"/>
              </a:lnSpc>
              <a:spcAft>
                <a:spcPts val="600"/>
              </a:spcAft>
            </a:pPr>
            <a:r>
              <a:rPr sz="1450" b="0">
                <a:solidFill>
                  <a:srgbClr val="1F2A3A"/>
                </a:solidFill>
                <a:latin typeface="맑은 고딕"/>
                <a:ea typeface="맑은 고딕"/>
                <a:cs typeface="맑은 고딕"/>
              </a:rPr>
              <a:t>• 맞는 일: 같은 방법으로 되풀이하는 업무</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재사용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스킬을 쓸 때 지키는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쓸 때를 한 줄로 밝히고, 도구 이름은 목록에서 옮겨 적으며, 막혔을 때의 행동과 결과 항목의 이름을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description</a:t>
            </a:r>
          </a:p>
          <a:p>
            <a:pPr algn="l">
              <a:lnSpc>
                <a:spcPct val="110000"/>
              </a:lnSpc>
              <a:spcAft>
                <a:spcPts val="400"/>
              </a:spcAft>
            </a:pPr>
            <a:r>
              <a:rPr sz="1350" b="0">
                <a:solidFill>
                  <a:srgbClr val="1F2A3A"/>
                </a:solidFill>
                <a:latin typeface="맑은 고딕"/>
                <a:ea typeface="맑은 고딕"/>
                <a:cs typeface="맑은 고딕"/>
              </a:rPr>
              <a:t>어떤 요청 한 건에서 무엇을 내는 스킬인지를 한 줄로 적는다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쓸 때</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list-search" descr="list-search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 이름</a:t>
            </a:r>
          </a:p>
          <a:p>
            <a:pPr algn="l">
              <a:lnSpc>
                <a:spcPct val="110000"/>
              </a:lnSpc>
              <a:spcAft>
                <a:spcPts val="400"/>
              </a:spcAft>
            </a:pPr>
            <a:r>
              <a:rPr sz="1350" b="0">
                <a:solidFill>
                  <a:srgbClr val="1F2A3A"/>
                </a:solidFill>
                <a:latin typeface="맑은 고딕"/>
                <a:ea typeface="맑은 고딕"/>
                <a:cs typeface="맑은 고딕"/>
              </a:rPr>
              <a:t>• 도구 목록에 있는 이름을 그대로 옮겨 적는다</a:t>
            </a:r>
          </a:p>
          <a:p>
            <a:pPr algn="l">
              <a:lnSpc>
                <a:spcPct val="110000"/>
              </a:lnSpc>
              <a:spcAft>
                <a:spcPts val="400"/>
              </a:spcAft>
            </a:pPr>
            <a:r>
              <a:rPr sz="1350" b="0">
                <a:solidFill>
                  <a:srgbClr val="1F2A3A"/>
                </a:solidFill>
                <a:latin typeface="맑은 고딕"/>
                <a:ea typeface="맑은 고딕"/>
                <a:cs typeface="맑은 고딕"/>
              </a:rPr>
              <a:t>• 없는 이름을 지어내지 않는다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막혔을 때</a:t>
            </a:r>
          </a:p>
          <a:p>
            <a:pPr algn="l">
              <a:lnSpc>
                <a:spcPct val="110000"/>
              </a:lnSpc>
              <a:spcAft>
                <a:spcPts val="400"/>
              </a:spcAft>
            </a:pPr>
            <a:r>
              <a:rPr sz="1350" b="0">
                <a:solidFill>
                  <a:srgbClr val="1F2A3A"/>
                </a:solidFill>
                <a:latin typeface="맑은 고딕"/>
                <a:ea typeface="맑은 고딕"/>
                <a:cs typeface="맑은 고딕"/>
              </a:rPr>
              <a:t>근거나 남는 후보가 없으면 지어내지 않고 그대로 내게 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예외</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orms" descr="forms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항목</a:t>
            </a:r>
          </a:p>
          <a:p>
            <a:pPr algn="l">
              <a:lnSpc>
                <a:spcPct val="110000"/>
              </a:lnSpc>
              <a:spcAft>
                <a:spcPts val="400"/>
              </a:spcAft>
            </a:pPr>
            <a:r>
              <a:rPr sz="1350" b="0">
                <a:solidFill>
                  <a:srgbClr val="1F2A3A"/>
                </a:solidFill>
                <a:latin typeface="맑은 고딕"/>
                <a:ea typeface="맑은 고딕"/>
                <a:cs typeface="맑은 고딕"/>
              </a:rPr>
              <a:t>다음 단계가 읽는 항목의 이름을 정해 두고 바꾸지 않는다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출력</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회의 내용을 후속 업무로 바꾸는 스킬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회의록에서 결정사항, 담당자, 기한을 뽑는 SKILL.md를 작성한다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쓰는 스킬과 만들어지는 작업 목록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결과물은 직접 쓴 SKILL.md와, 그 스킬이 회의록에서 만들어 낸 작업 목록이다.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스킬 작성</a:t>
            </a:r>
          </a:p>
          <a:p>
            <a:pPr algn="l">
              <a:lnSpc>
                <a:spcPct val="110000"/>
              </a:lnSpc>
              <a:spcAft>
                <a:spcPts val="400"/>
              </a:spcAft>
            </a:pPr>
            <a:r>
              <a:rPr sz="1400" b="0">
                <a:solidFill>
                  <a:srgbClr val="1F2A3A"/>
                </a:solidFill>
                <a:latin typeface="맑은 고딕"/>
                <a:ea typeface="맑은 고딕"/>
                <a:cs typeface="맑은 고딕"/>
              </a:rPr>
              <a:t>회의록에서 결정사항, 담당자, 기한을 뽑는 절차와 결과의 모양을 적는다</a:t>
            </a:r>
          </a:p>
        </p:txBody>
      </p:sp>
      <p:sp>
        <p:nvSpPr>
          <p:cNvPr id="10" name="Rounded Rectangle 9"/>
          <p:cNvSpPr/>
          <p:nvPr/>
        </p:nvSpPr>
        <p:spPr>
          <a:xfrm>
            <a:off x="777240" y="5149850"/>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SKILL.md</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help-circle" descr="help-circl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예외 지침</a:t>
            </a:r>
          </a:p>
          <a:p>
            <a:pPr algn="l">
              <a:lnSpc>
                <a:spcPct val="110000"/>
              </a:lnSpc>
              <a:spcAft>
                <a:spcPts val="400"/>
              </a:spcAft>
            </a:pPr>
            <a:r>
              <a:rPr sz="1400" b="0">
                <a:solidFill>
                  <a:srgbClr val="1F2A3A"/>
                </a:solidFill>
                <a:latin typeface="맑은 고딕"/>
                <a:ea typeface="맑은 고딕"/>
                <a:cs typeface="맑은 고딕"/>
              </a:rPr>
              <a:t>• 담당자가 겹치는 항목과 기한이 없는 항목은 지어내지 않고</a:t>
            </a:r>
          </a:p>
          <a:p>
            <a:pPr algn="l">
              <a:lnSpc>
                <a:spcPct val="110000"/>
              </a:lnSpc>
              <a:spcAft>
                <a:spcPts val="400"/>
              </a:spcAft>
            </a:pPr>
            <a:r>
              <a:rPr sz="1400" b="0">
                <a:solidFill>
                  <a:srgbClr val="1F2A3A"/>
                </a:solidFill>
                <a:latin typeface="맑은 고딕"/>
                <a:ea typeface="맑은 고딕"/>
                <a:cs typeface="맑은 고딕"/>
              </a:rPr>
              <a:t>• 겹침과 「미정」으로 표시하게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미정</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 목록</a:t>
            </a:r>
          </a:p>
          <a:p>
            <a:pPr algn="l">
              <a:lnSpc>
                <a:spcPct val="110000"/>
              </a:lnSpc>
              <a:spcAft>
                <a:spcPts val="400"/>
              </a:spcAft>
            </a:pPr>
            <a:r>
              <a:rPr sz="1400" b="0">
                <a:solidFill>
                  <a:srgbClr val="1F2A3A"/>
                </a:solidFill>
                <a:latin typeface="맑은 고딕"/>
                <a:ea typeface="맑은 고딕"/>
                <a:cs typeface="맑은 고딕"/>
              </a:rPr>
              <a:t>Markdown으로 기록하고 회의록 원문과 대조해 검토한다</a:t>
            </a:r>
          </a:p>
        </p:txBody>
      </p:sp>
      <p:sp>
        <p:nvSpPr>
          <p:cNvPr id="22" name="Rounded Rectangle 21"/>
          <p:cNvSpPr/>
          <p:nvPr/>
        </p:nvSpPr>
        <p:spPr>
          <a:xfrm>
            <a:off x="8356396" y="5149850"/>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MCP: 외부 시스템 연결과</a:t>
            </a:r>
          </a:p>
          <a:p>
            <a:pPr algn="l">
              <a:lnSpc>
                <a:spcPct val="110000"/>
              </a:lnSpc>
            </a:pPr>
            <a:r>
              <a:rPr sz="3400" b="1">
                <a:solidFill>
                  <a:srgbClr val="13294B"/>
                </a:solidFill>
                <a:latin typeface="맑은 고딕"/>
                <a:ea typeface="맑은 고딕"/>
                <a:cs typeface="맑은 고딕"/>
              </a:rPr>
              <a:t>도구 연결의 안전 기준</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외부 시스템의 기능을 도구로 부르는 표준과 그 도구를 연결할 때 지키는 기준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스킬의 절차가 가리키는 것: 스킬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절차 2단계의 diagnose는 스킬 안에 든 기능이 아니라, 스킬 밖의 프로그램이 내주는 도구의 이름이다.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791460"/>
            <a:ext cx="11094415" cy="9144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791460"/>
            <a:ext cx="10545775" cy="9144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hyd-dmn diagnose(asset, pattern, alert_id)</a:t>
            </a:r>
          </a:p>
        </p:txBody>
      </p:sp>
      <p:sp>
        <p:nvSpPr>
          <p:cNvPr id="8" name="Oval 7"/>
          <p:cNvSpPr/>
          <p:nvPr/>
        </p:nvSpPr>
        <p:spPr>
          <a:xfrm>
            <a:off x="548640" y="4071620"/>
            <a:ext cx="731520" cy="731520"/>
          </a:xfrm>
          <a:prstGeom prst="ellipse">
            <a:avLst/>
          </a:prstGeom>
          <a:solidFill>
            <a:srgbClr val="E7F3FD"/>
          </a:solidFill>
          <a:ln>
            <a:noFill/>
          </a:ln>
        </p:spPr>
        <p:txBody>
          <a:bodyPr rtlCol="0" anchor="ctr"/>
          <a:lstStyle/>
          <a:p>
            <a:pPr algn="ctr"/>
          </a:p>
        </p:txBody>
      </p:sp>
      <p:pic>
        <p:nvPicPr>
          <p:cNvPr id="9" name="아이콘:server" descr="server_13294B_1.6.png"/>
          <p:cNvPicPr>
            <a:picLocks noChangeAspect="1"/>
          </p:cNvPicPr>
          <p:nvPr/>
        </p:nvPicPr>
        <p:blipFill>
          <a:blip r:embed="rId3"/>
          <a:stretch>
            <a:fillRect/>
          </a:stretch>
        </p:blipFill>
        <p:spPr>
          <a:xfrm>
            <a:off x="702259" y="4225239"/>
            <a:ext cx="424281" cy="424281"/>
          </a:xfrm>
          <a:prstGeom prst="rect">
            <a:avLst/>
          </a:prstGeom>
        </p:spPr>
      </p:pic>
      <p:sp>
        <p:nvSpPr>
          <p:cNvPr id="10" name="TextBox 9"/>
          <p:cNvSpPr txBox="1"/>
          <p:nvPr/>
        </p:nvSpPr>
        <p:spPr>
          <a:xfrm>
            <a:off x="1371600"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hyd-dmn</a:t>
            </a:r>
          </a:p>
          <a:p>
            <a:pPr algn="l">
              <a:lnSpc>
                <a:spcPct val="110000"/>
              </a:lnSpc>
              <a:spcAft>
                <a:spcPts val="400"/>
              </a:spcAft>
            </a:pPr>
            <a:r>
              <a:rPr sz="1400" b="0">
                <a:solidFill>
                  <a:srgbClr val="1F2A3A"/>
                </a:solidFill>
                <a:latin typeface="맑은 고딕"/>
                <a:ea typeface="맑은 고딕"/>
                <a:cs typeface="맑은 고딕"/>
              </a:rPr>
              <a:t>도구를 내주는 프로그램이다</a:t>
            </a:r>
          </a:p>
          <a:p>
            <a:pPr algn="l">
              <a:lnSpc>
                <a:spcPct val="110000"/>
              </a:lnSpc>
              <a:spcAft>
                <a:spcPts val="400"/>
              </a:spcAft>
            </a:pPr>
            <a:r>
              <a:rPr sz="1400" b="0">
                <a:solidFill>
                  <a:srgbClr val="1F2A3A"/>
                </a:solidFill>
                <a:latin typeface="맑은 고딕"/>
                <a:ea typeface="맑은 고딕"/>
                <a:cs typeface="맑은 고딕"/>
              </a:rPr>
              <a:t>원인 진단은 여기서 실행된다</a:t>
            </a:r>
          </a:p>
        </p:txBody>
      </p:sp>
      <p:sp>
        <p:nvSpPr>
          <p:cNvPr id="11" name="Oval 10"/>
          <p:cNvSpPr/>
          <p:nvPr/>
        </p:nvSpPr>
        <p:spPr>
          <a:xfrm>
            <a:off x="4338218" y="4071620"/>
            <a:ext cx="731520" cy="731520"/>
          </a:xfrm>
          <a:prstGeom prst="ellipse">
            <a:avLst/>
          </a:prstGeom>
          <a:solidFill>
            <a:srgbClr val="E7F3FD"/>
          </a:solidFill>
          <a:ln>
            <a:noFill/>
          </a:ln>
        </p:spPr>
        <p:txBody>
          <a:bodyPr rtlCol="0" anchor="ctr"/>
          <a:lstStyle/>
          <a:p>
            <a:pPr algn="ctr"/>
          </a:p>
        </p:txBody>
      </p:sp>
      <p:pic>
        <p:nvPicPr>
          <p:cNvPr id="12" name="아이콘:tool" descr="tool_13294B_1.6.png"/>
          <p:cNvPicPr>
            <a:picLocks noChangeAspect="1"/>
          </p:cNvPicPr>
          <p:nvPr/>
        </p:nvPicPr>
        <p:blipFill>
          <a:blip r:embed="rId4"/>
          <a:stretch>
            <a:fillRect/>
          </a:stretch>
        </p:blipFill>
        <p:spPr>
          <a:xfrm>
            <a:off x="4491837" y="4225239"/>
            <a:ext cx="424281" cy="424281"/>
          </a:xfrm>
          <a:prstGeom prst="rect">
            <a:avLst/>
          </a:prstGeom>
        </p:spPr>
      </p:pic>
      <p:sp>
        <p:nvSpPr>
          <p:cNvPr id="13" name="TextBox 12"/>
          <p:cNvSpPr txBox="1"/>
          <p:nvPr/>
        </p:nvSpPr>
        <p:spPr>
          <a:xfrm>
            <a:off x="5161178"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diagnose</a:t>
            </a:r>
          </a:p>
          <a:p>
            <a:pPr algn="l">
              <a:lnSpc>
                <a:spcPct val="110000"/>
              </a:lnSpc>
              <a:spcAft>
                <a:spcPts val="400"/>
              </a:spcAft>
            </a:pPr>
            <a:r>
              <a:rPr sz="1400" b="0">
                <a:solidFill>
                  <a:srgbClr val="1F2A3A"/>
                </a:solidFill>
                <a:latin typeface="맑은 고딕"/>
                <a:ea typeface="맑은 고딕"/>
                <a:cs typeface="맑은 고딕"/>
              </a:rPr>
              <a:t>그 프로그램이 내주는 도구의 이름이다</a:t>
            </a:r>
          </a:p>
        </p:txBody>
      </p:sp>
      <p:sp>
        <p:nvSpPr>
          <p:cNvPr id="14" name="Oval 13"/>
          <p:cNvSpPr/>
          <p:nvPr/>
        </p:nvSpPr>
        <p:spPr>
          <a:xfrm>
            <a:off x="8127796" y="4071620"/>
            <a:ext cx="731520" cy="731520"/>
          </a:xfrm>
          <a:prstGeom prst="ellipse">
            <a:avLst/>
          </a:prstGeom>
          <a:solidFill>
            <a:srgbClr val="E7F3FD"/>
          </a:solidFill>
          <a:ln>
            <a:noFill/>
          </a:ln>
        </p:spPr>
        <p:txBody>
          <a:bodyPr rtlCol="0" anchor="ctr"/>
          <a:lstStyle/>
          <a:p>
            <a:pPr algn="ctr"/>
          </a:p>
        </p:txBody>
      </p:sp>
      <p:pic>
        <p:nvPicPr>
          <p:cNvPr id="15" name="아이콘:braces" descr="braces_13294B_1.6.png"/>
          <p:cNvPicPr>
            <a:picLocks noChangeAspect="1"/>
          </p:cNvPicPr>
          <p:nvPr/>
        </p:nvPicPr>
        <p:blipFill>
          <a:blip r:embed="rId5"/>
          <a:stretch>
            <a:fillRect/>
          </a:stretch>
        </p:blipFill>
        <p:spPr>
          <a:xfrm>
            <a:off x="8281416" y="4225239"/>
            <a:ext cx="424281" cy="424281"/>
          </a:xfrm>
          <a:prstGeom prst="rect">
            <a:avLst/>
          </a:prstGeom>
        </p:spPr>
      </p:pic>
      <p:sp>
        <p:nvSpPr>
          <p:cNvPr id="16" name="TextBox 15"/>
          <p:cNvSpPr txBox="1"/>
          <p:nvPr/>
        </p:nvSpPr>
        <p:spPr>
          <a:xfrm>
            <a:off x="8950756" y="40259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asset, pattern, alert_id</a:t>
            </a:r>
          </a:p>
          <a:p>
            <a:pPr algn="l">
              <a:lnSpc>
                <a:spcPct val="110000"/>
              </a:lnSpc>
              <a:spcAft>
                <a:spcPts val="400"/>
              </a:spcAft>
            </a:pPr>
            <a:r>
              <a:rPr sz="1400" b="0">
                <a:solidFill>
                  <a:srgbClr val="1F2A3A"/>
                </a:solidFill>
                <a:latin typeface="맑은 고딕"/>
                <a:ea typeface="맑은 고딕"/>
                <a:cs typeface="맑은 고딕"/>
              </a:rPr>
              <a:t>도구에 넘길 값의 이름이다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시스템마다 따로 잇는 방식과 표준을 거치는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애플리케이션과 시스템을 하나씩 따로 이으면 연결의 수가 둘의 곱으로 늘고, 표준이 있으면 양쪽이 한 번씩만 맞춘다.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pic>
        <p:nvPicPr>
          <p:cNvPr id="6" name="삽화:연결의수.svg" descr="illust_3489470320328222699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따로 잇는 방식</a:t>
            </a:r>
          </a:p>
          <a:p>
            <a:pPr algn="ctr">
              <a:lnSpc>
                <a:spcPct val="110000"/>
              </a:lnSpc>
              <a:spcAft>
                <a:spcPts val="100"/>
              </a:spcAft>
            </a:pPr>
            <a:r>
              <a:rPr sz="1300" b="0">
                <a:solidFill>
                  <a:srgbClr val="556175"/>
                </a:solidFill>
                <a:latin typeface="맑은 고딕"/>
                <a:ea typeface="맑은 고딕"/>
                <a:cs typeface="맑은 고딕"/>
              </a:rPr>
              <a:t>애플리케이션 3 × 시스템 3 = 연결 9</a:t>
            </a:r>
          </a:p>
        </p:txBody>
      </p:sp>
      <p:sp>
        <p:nvSpPr>
          <p:cNvPr id="8" name="TextBox 7"/>
          <p:cNvSpPr txBox="1"/>
          <p:nvPr/>
        </p:nvSpPr>
        <p:spPr>
          <a:xfrm>
            <a:off x="6532227" y="1674906"/>
            <a:ext cx="458198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표준을 거치는 방식</a:t>
            </a:r>
          </a:p>
          <a:p>
            <a:pPr algn="ctr">
              <a:lnSpc>
                <a:spcPct val="110000"/>
              </a:lnSpc>
              <a:spcAft>
                <a:spcPts val="100"/>
              </a:spcAft>
            </a:pPr>
            <a:r>
              <a:rPr sz="1300" b="0">
                <a:solidFill>
                  <a:srgbClr val="556175"/>
                </a:solidFill>
                <a:latin typeface="맑은 고딕"/>
                <a:ea typeface="맑은 고딕"/>
                <a:cs typeface="맑은 고딕"/>
              </a:rPr>
              <a:t>양쪽이 표준에 한 번씩만 맞춘다</a:t>
            </a:r>
          </a:p>
        </p:txBody>
      </p:sp>
      <p:sp>
        <p:nvSpPr>
          <p:cNvPr id="9" name="TextBox 8"/>
          <p:cNvSpPr txBox="1"/>
          <p:nvPr/>
        </p:nvSpPr>
        <p:spPr>
          <a:xfrm>
            <a:off x="772014"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0" name="TextBox 9"/>
          <p:cNvSpPr txBox="1"/>
          <p:nvPr/>
        </p:nvSpPr>
        <p:spPr>
          <a:xfrm>
            <a:off x="4153957"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6226761" y="583506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 애플리케이션</a:t>
            </a:r>
          </a:p>
        </p:txBody>
      </p:sp>
      <p:sp>
        <p:nvSpPr>
          <p:cNvPr id="12" name="TextBox 11"/>
          <p:cNvSpPr txBox="1"/>
          <p:nvPr/>
        </p:nvSpPr>
        <p:spPr>
          <a:xfrm>
            <a:off x="8168651" y="5905972"/>
            <a:ext cx="152732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표준 규약</a:t>
            </a:r>
          </a:p>
        </p:txBody>
      </p:sp>
      <p:sp>
        <p:nvSpPr>
          <p:cNvPr id="13" name="TextBox 12"/>
          <p:cNvSpPr txBox="1"/>
          <p:nvPr/>
        </p:nvSpPr>
        <p:spPr>
          <a:xfrm>
            <a:off x="9783256" y="583506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 AI 애플리케이션과 외부 도구를 잇는 개방형 프로토콜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MCP는 AI 애플리케이션이 외부의 도구와 데이터에 연결하는 방식을 하나로 정한 개방형 프로토콜이다.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MCP</a:t>
            </a:r>
          </a:p>
          <a:p>
            <a:pPr algn="l">
              <a:lnSpc>
                <a:spcPct val="110000"/>
              </a:lnSpc>
              <a:spcAft>
                <a:spcPts val="200"/>
              </a:spcAft>
            </a:pPr>
            <a:r>
              <a:rPr sz="1150" b="0">
                <a:solidFill>
                  <a:srgbClr val="556175"/>
                </a:solidFill>
                <a:latin typeface="맑은 고딕"/>
                <a:ea typeface="맑은 고딕"/>
                <a:cs typeface="맑은 고딕"/>
              </a:rPr>
              <a:t>Model Context Protocol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AI 애플리케이션이 외부 도구와 데이터에 연결하는 방식을 정한 개방형 프로토콜이다.</a:t>
            </a:r>
          </a:p>
          <a:p>
            <a:pPr algn="l">
              <a:lnSpc>
                <a:spcPct val="110000"/>
              </a:lnSpc>
              <a:spcAft>
                <a:spcPts val="300"/>
              </a:spcAft>
            </a:pPr>
            <a:r>
              <a:rPr sz="1400" b="0">
                <a:solidFill>
                  <a:srgbClr val="1F2A3A"/>
                </a:solidFill>
                <a:latin typeface="맑은 고딕"/>
                <a:ea typeface="맑은 고딕"/>
                <a:cs typeface="맑은 고딕"/>
              </a:rPr>
              <a:t>이 규약에 맞춘 서버는 규약을 따르는 어느 애플리케이션에도 붙는다.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JSON-RPC 2.0</a:t>
            </a:r>
          </a:p>
          <a:p>
            <a:pPr algn="l">
              <a:lnSpc>
                <a:spcPct val="110000"/>
              </a:lnSpc>
              <a:spcAft>
                <a:spcPts val="200"/>
              </a:spcAft>
            </a:pPr>
            <a:r>
              <a:rPr sz="1150" b="0">
                <a:solidFill>
                  <a:srgbClr val="556175"/>
                </a:solidFill>
                <a:latin typeface="맑은 고딕"/>
                <a:ea typeface="맑은 고딕"/>
                <a:cs typeface="맑은 고딕"/>
              </a:rPr>
              <a:t>JSON Remote Procedure Call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MCP가 메시지를 주고받는 형식이다.</a:t>
            </a:r>
          </a:p>
          <a:p>
            <a:pPr algn="l">
              <a:lnSpc>
                <a:spcPct val="110000"/>
              </a:lnSpc>
              <a:spcAft>
                <a:spcPts val="300"/>
              </a:spcAft>
            </a:pPr>
            <a:r>
              <a:rPr sz="1400" b="0">
                <a:solidFill>
                  <a:srgbClr val="1F2A3A"/>
                </a:solidFill>
                <a:latin typeface="맑은 고딕"/>
                <a:ea typeface="맑은 고딕"/>
                <a:cs typeface="맑은 고딕"/>
              </a:rPr>
              <a:t>요청에는 부를 기능의 이름과 넘길 값이, 응답에는 결과나 오류가 담긴다.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a:t>
            </a:r>
          </a:p>
          <a:p>
            <a:pPr algn="l">
              <a:lnSpc>
                <a:spcPct val="110000"/>
              </a:lnSpc>
              <a:spcAft>
                <a:spcPts val="200"/>
              </a:spcAft>
            </a:pPr>
            <a:r>
              <a:rPr sz="1150" b="0">
                <a:solidFill>
                  <a:srgbClr val="556175"/>
                </a:solidFill>
                <a:latin typeface="맑은 고딕"/>
                <a:ea typeface="맑은 고딕"/>
                <a:cs typeface="맑은 고딕"/>
              </a:rPr>
              <a:t>규격 단자</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규격이 같은 단자처럼, 만든 곳이 달라도 규약이 같으면 연결된다.</a:t>
            </a:r>
          </a:p>
          <a:p>
            <a:pPr algn="l">
              <a:lnSpc>
                <a:spcPct val="110000"/>
              </a:lnSpc>
              <a:spcAft>
                <a:spcPts val="300"/>
              </a:spcAft>
            </a:pPr>
            <a:r>
              <a:rPr sz="1400" b="0">
                <a:solidFill>
                  <a:srgbClr val="1F2A3A"/>
                </a:solidFill>
                <a:latin typeface="맑은 고딕"/>
                <a:ea typeface="맑은 고딕"/>
                <a:cs typeface="맑은 고딕"/>
              </a:rPr>
              <a:t>다른 점: 연결한 뒤에 무엇을 할 수 있는지를 서로 묻고 답한다.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네 구성요소: 호스트, 클라이언트, 서버,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호스트는 서버마다 클라이언트를 하나씩 두어 연결하고, 서버는 뒤에 있는 시스템의 기능을 도구로 내준다.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MCP구성.svg" descr="illust_920843799496758100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42936" y="1722180"/>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호스트</a:t>
            </a:r>
          </a:p>
          <a:p>
            <a:pPr algn="ctr">
              <a:lnSpc>
                <a:spcPct val="110000"/>
              </a:lnSpc>
              <a:spcAft>
                <a:spcPts val="100"/>
              </a:spcAft>
            </a:pPr>
            <a:r>
              <a:rPr sz="1100" b="0">
                <a:solidFill>
                  <a:srgbClr val="556175"/>
                </a:solidFill>
                <a:latin typeface="맑은 고딕"/>
                <a:ea typeface="맑은 고딕"/>
                <a:cs typeface="맑은 고딕"/>
              </a:rPr>
              <a:t>모델과 클라이언트를 가진 애플리케이션</a:t>
            </a:r>
          </a:p>
        </p:txBody>
      </p:sp>
      <p:sp>
        <p:nvSpPr>
          <p:cNvPr id="8" name="TextBox 7"/>
          <p:cNvSpPr txBox="1"/>
          <p:nvPr/>
        </p:nvSpPr>
        <p:spPr>
          <a:xfrm>
            <a:off x="6390403" y="1722180"/>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서버</a:t>
            </a:r>
          </a:p>
          <a:p>
            <a:pPr algn="ctr">
              <a:lnSpc>
                <a:spcPct val="110000"/>
              </a:lnSpc>
              <a:spcAft>
                <a:spcPts val="100"/>
              </a:spcAft>
            </a:pPr>
            <a:r>
              <a:rPr sz="1100" b="0">
                <a:solidFill>
                  <a:srgbClr val="556175"/>
                </a:solidFill>
                <a:latin typeface="맑은 고딕"/>
                <a:ea typeface="맑은 고딕"/>
                <a:cs typeface="맑은 고딕"/>
              </a:rPr>
              <a:t>시스템의 기능을 도구로 내주는 프로그램</a:t>
            </a:r>
          </a:p>
        </p:txBody>
      </p:sp>
      <p:sp>
        <p:nvSpPr>
          <p:cNvPr id="9" name="TextBox 8"/>
          <p:cNvSpPr txBox="1"/>
          <p:nvPr/>
        </p:nvSpPr>
        <p:spPr>
          <a:xfrm>
            <a:off x="9783256" y="186400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022932" y="4842296"/>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모델</a:t>
            </a:r>
          </a:p>
          <a:p>
            <a:pPr algn="ctr">
              <a:lnSpc>
                <a:spcPct val="110000"/>
              </a:lnSpc>
              <a:spcAft>
                <a:spcPts val="100"/>
              </a:spcAft>
            </a:pPr>
            <a:r>
              <a:rPr sz="1100" b="0">
                <a:solidFill>
                  <a:srgbClr val="556175"/>
                </a:solidFill>
                <a:latin typeface="맑은 고딕"/>
                <a:ea typeface="맑은 고딕"/>
                <a:cs typeface="맑은 고딕"/>
              </a:rPr>
              <a:t>부를 도구를 고른다</a:t>
            </a:r>
          </a:p>
        </p:txBody>
      </p:sp>
      <p:sp>
        <p:nvSpPr>
          <p:cNvPr id="11" name="TextBox 10"/>
          <p:cNvSpPr txBox="1"/>
          <p:nvPr/>
        </p:nvSpPr>
        <p:spPr>
          <a:xfrm>
            <a:off x="4153957" y="2407660"/>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클라이언트</a:t>
            </a:r>
          </a:p>
        </p:txBody>
      </p:sp>
      <p:sp>
        <p:nvSpPr>
          <p:cNvPr id="12" name="TextBox 11"/>
          <p:cNvSpPr txBox="1"/>
          <p:nvPr/>
        </p:nvSpPr>
        <p:spPr>
          <a:xfrm>
            <a:off x="6554046" y="3480791"/>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neo4j · 조회 도구</a:t>
            </a:r>
          </a:p>
        </p:txBody>
      </p:sp>
      <p:sp>
        <p:nvSpPr>
          <p:cNvPr id="13" name="TextBox 12"/>
          <p:cNvSpPr txBox="1"/>
          <p:nvPr/>
        </p:nvSpPr>
        <p:spPr>
          <a:xfrm>
            <a:off x="6554046" y="4709928"/>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hyd-dmn · 도구 16개</a:t>
            </a:r>
          </a:p>
        </p:txBody>
      </p:sp>
      <p:sp>
        <p:nvSpPr>
          <p:cNvPr id="14" name="TextBox 13"/>
          <p:cNvSpPr txBox="1"/>
          <p:nvPr/>
        </p:nvSpPr>
        <p:spPr>
          <a:xfrm>
            <a:off x="6554046" y="5929609"/>
            <a:ext cx="294556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enterprise · 도구 14개</a:t>
            </a:r>
          </a:p>
        </p:txBody>
      </p:sp>
      <p:sp>
        <p:nvSpPr>
          <p:cNvPr id="15" name="TextBox 14"/>
          <p:cNvSpPr txBox="1"/>
          <p:nvPr/>
        </p:nvSpPr>
        <p:spPr>
          <a:xfrm>
            <a:off x="9728709" y="3353150"/>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p:txBody>
      </p:sp>
      <p:sp>
        <p:nvSpPr>
          <p:cNvPr id="16" name="TextBox 15"/>
          <p:cNvSpPr txBox="1"/>
          <p:nvPr/>
        </p:nvSpPr>
        <p:spPr>
          <a:xfrm>
            <a:off x="9728709" y="4582287"/>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판단 엔진</a:t>
            </a:r>
          </a:p>
        </p:txBody>
      </p:sp>
      <p:sp>
        <p:nvSpPr>
          <p:cNvPr id="17" name="TextBox 16"/>
          <p:cNvSpPr txBox="1"/>
          <p:nvPr/>
        </p:nvSpPr>
        <p:spPr>
          <a:xfrm>
            <a:off x="9728709" y="5811423"/>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구성요소의 정의와 HYD의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HYD에서는 에이전트를 실행하는 Claude Code가 호스트의 자리에, 시스템 앞에 놓인 프로그램들이 서버의 자리에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호스트</a:t>
            </a:r>
          </a:p>
          <a:p>
            <a:pPr algn="l">
              <a:lnSpc>
                <a:spcPct val="110000"/>
              </a:lnSpc>
              <a:spcAft>
                <a:spcPts val="200"/>
              </a:spcAft>
            </a:pPr>
            <a:r>
              <a:rPr sz="1150" b="0">
                <a:solidFill>
                  <a:srgbClr val="556175"/>
                </a:solidFill>
                <a:latin typeface="맑은 고딕"/>
                <a:ea typeface="맑은 고딕"/>
                <a:cs typeface="맑은 고딕"/>
              </a:rPr>
              <a:t>Host</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모델을 가지고 사용자의 일을 수행하는 애플리케이션이다. 클라이언트를 만들고 관리한다.</a:t>
            </a:r>
          </a:p>
          <a:p>
            <a:pPr algn="l">
              <a:lnSpc>
                <a:spcPct val="110000"/>
              </a:lnSpc>
              <a:spcAft>
                <a:spcPts val="300"/>
              </a:spcAft>
            </a:pPr>
            <a:r>
              <a:rPr sz="1400" b="0">
                <a:solidFill>
                  <a:srgbClr val="1F2A3A"/>
                </a:solidFill>
                <a:latin typeface="맑은 고딕"/>
                <a:ea typeface="맑은 고딕"/>
                <a:cs typeface="맑은 고딕"/>
              </a:rPr>
              <a:t>HYD: 에이전트를 실행하는 Claude Code</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클라이언트</a:t>
            </a:r>
          </a:p>
          <a:p>
            <a:pPr algn="l">
              <a:lnSpc>
                <a:spcPct val="110000"/>
              </a:lnSpc>
              <a:spcAft>
                <a:spcPts val="200"/>
              </a:spcAft>
            </a:pPr>
            <a:r>
              <a:rPr sz="1150" b="0">
                <a:solidFill>
                  <a:srgbClr val="556175"/>
                </a:solidFill>
                <a:latin typeface="맑은 고딕"/>
                <a:ea typeface="맑은 고딕"/>
                <a:cs typeface="맑은 고딕"/>
              </a:rPr>
              <a:t>Client</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호스트 안에서 서버 하나와 일대일로 연결을 유지한다.</a:t>
            </a:r>
          </a:p>
          <a:p>
            <a:pPr algn="l">
              <a:lnSpc>
                <a:spcPct val="110000"/>
              </a:lnSpc>
              <a:spcAft>
                <a:spcPts val="300"/>
              </a:spcAft>
            </a:pPr>
            <a:r>
              <a:rPr sz="1400" b="0">
                <a:solidFill>
                  <a:srgbClr val="1F2A3A"/>
                </a:solidFill>
                <a:latin typeface="맑은 고딕"/>
                <a:ea typeface="맑은 고딕"/>
                <a:cs typeface="맑은 고딕"/>
              </a:rPr>
              <a:t>HYD: 연결한 서버의 수만큼 생긴다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서버</a:t>
            </a:r>
          </a:p>
          <a:p>
            <a:pPr algn="l">
              <a:lnSpc>
                <a:spcPct val="110000"/>
              </a:lnSpc>
              <a:spcAft>
                <a:spcPts val="200"/>
              </a:spcAft>
            </a:pPr>
            <a:r>
              <a:rPr sz="1150" b="0">
                <a:solidFill>
                  <a:srgbClr val="556175"/>
                </a:solidFill>
                <a:latin typeface="맑은 고딕"/>
                <a:ea typeface="맑은 고딕"/>
                <a:cs typeface="맑은 고딕"/>
              </a:rPr>
              <a:t>Server</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시스템의 기능을 도구로 내주는 프로그램이다.</a:t>
            </a:r>
          </a:p>
          <a:p>
            <a:pPr algn="l">
              <a:lnSpc>
                <a:spcPct val="110000"/>
              </a:lnSpc>
              <a:spcAft>
                <a:spcPts val="300"/>
              </a:spcAft>
            </a:pPr>
            <a:r>
              <a:rPr sz="1400" b="0">
                <a:solidFill>
                  <a:srgbClr val="1F2A3A"/>
                </a:solidFill>
                <a:latin typeface="맑은 고딕"/>
                <a:ea typeface="맑은 고딕"/>
                <a:cs typeface="맑은 고딕"/>
              </a:rPr>
              <a:t>HYD: neo4j, hyd-dmn, enterprise</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내주는 호출할 수 있는 기능이다. 이름, 설명, 입력 스키마를 가진다.</a:t>
            </a:r>
          </a:p>
          <a:p>
            <a:pPr algn="l">
              <a:lnSpc>
                <a:spcPct val="110000"/>
              </a:lnSpc>
              <a:spcAft>
                <a:spcPts val="300"/>
              </a:spcAft>
            </a:pPr>
            <a:r>
              <a:rPr sz="1400" b="0">
                <a:solidFill>
                  <a:srgbClr val="1F2A3A"/>
                </a:solidFill>
                <a:latin typeface="맑은 고딕"/>
                <a:ea typeface="맑은 고딕"/>
                <a:cs typeface="맑은 고딕"/>
              </a:rPr>
              <a:t>HYD: diagnose, evaluate_cards, mes_orders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목록의 발견과 호출: tools/list와 tools/call</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도구를 호출하기 전에 클라이언트는 서버에 목록을 먼저 물어, 어떤 도구가 있고 무엇을 넘겨야 하는지를 알아낸다.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pic>
        <p:nvPicPr>
          <p:cNvPr id="6" name="삽화:목록호출.svg" descr="illust_3570915006056810553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350328" y="200582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8" name="TextBox 7"/>
          <p:cNvSpPr txBox="1"/>
          <p:nvPr/>
        </p:nvSpPr>
        <p:spPr>
          <a:xfrm>
            <a:off x="9423243" y="2005827"/>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hyd-dmn</a:t>
            </a:r>
          </a:p>
        </p:txBody>
      </p:sp>
      <p:sp>
        <p:nvSpPr>
          <p:cNvPr id="9" name="TextBox 8"/>
          <p:cNvSpPr txBox="1"/>
          <p:nvPr/>
        </p:nvSpPr>
        <p:spPr>
          <a:xfrm>
            <a:off x="1132027" y="309314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연결</a:t>
            </a:r>
          </a:p>
        </p:txBody>
      </p:sp>
      <p:sp>
        <p:nvSpPr>
          <p:cNvPr id="10" name="TextBox 9"/>
          <p:cNvSpPr txBox="1"/>
          <p:nvPr/>
        </p:nvSpPr>
        <p:spPr>
          <a:xfrm>
            <a:off x="1132027" y="422772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발견</a:t>
            </a:r>
          </a:p>
        </p:txBody>
      </p:sp>
      <p:sp>
        <p:nvSpPr>
          <p:cNvPr id="11" name="TextBox 10"/>
          <p:cNvSpPr txBox="1"/>
          <p:nvPr/>
        </p:nvSpPr>
        <p:spPr>
          <a:xfrm>
            <a:off x="1132027" y="535286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호출</a:t>
            </a:r>
          </a:p>
        </p:txBody>
      </p:sp>
      <p:sp>
        <p:nvSpPr>
          <p:cNvPr id="12" name="TextBox 11"/>
          <p:cNvSpPr txBox="1"/>
          <p:nvPr/>
        </p:nvSpPr>
        <p:spPr>
          <a:xfrm>
            <a:off x="4186685" y="2790584"/>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initialize</a:t>
            </a:r>
          </a:p>
        </p:txBody>
      </p:sp>
      <p:sp>
        <p:nvSpPr>
          <p:cNvPr id="13" name="TextBox 12"/>
          <p:cNvSpPr txBox="1"/>
          <p:nvPr/>
        </p:nvSpPr>
        <p:spPr>
          <a:xfrm>
            <a:off x="3859401" y="3282238"/>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규약의 판 2025-06-18, 서버 이름 hyd-dmn</a:t>
            </a:r>
          </a:p>
        </p:txBody>
      </p:sp>
      <p:sp>
        <p:nvSpPr>
          <p:cNvPr id="14" name="TextBox 13"/>
          <p:cNvSpPr txBox="1"/>
          <p:nvPr/>
        </p:nvSpPr>
        <p:spPr>
          <a:xfrm>
            <a:off x="4186685" y="3920444"/>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tools/list</a:t>
            </a:r>
          </a:p>
        </p:txBody>
      </p:sp>
      <p:sp>
        <p:nvSpPr>
          <p:cNvPr id="15" name="TextBox 14"/>
          <p:cNvSpPr txBox="1"/>
          <p:nvPr/>
        </p:nvSpPr>
        <p:spPr>
          <a:xfrm>
            <a:off x="3859401" y="4407371"/>
            <a:ext cx="501836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16개의 이름, 설명, 입력 스키마</a:t>
            </a:r>
          </a:p>
        </p:txBody>
      </p:sp>
      <p:sp>
        <p:nvSpPr>
          <p:cNvPr id="16" name="TextBox 15"/>
          <p:cNvSpPr txBox="1"/>
          <p:nvPr/>
        </p:nvSpPr>
        <p:spPr>
          <a:xfrm>
            <a:off x="4186685" y="5045576"/>
            <a:ext cx="436379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tools/call</a:t>
            </a:r>
            <a:r>
              <a:rPr sz="1600" b="1">
                <a:solidFill>
                  <a:srgbClr val="13294B"/>
                </a:solidFill>
                <a:latin typeface="맑은 고딕"/>
                <a:ea typeface="맑은 고딕"/>
                <a:cs typeface="맑은 고딕"/>
              </a:rPr>
              <a:t> — diagnose와 입력</a:t>
            </a:r>
          </a:p>
        </p:txBody>
      </p:sp>
      <p:sp>
        <p:nvSpPr>
          <p:cNvPr id="17" name="TextBox 16"/>
          <p:cNvSpPr txBox="1"/>
          <p:nvPr/>
        </p:nvSpPr>
        <p:spPr>
          <a:xfrm>
            <a:off x="4186685" y="5537231"/>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정의 한 건: part_quotes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모델이 도구를 부를지 정할 때 읽는 것은 도구 목록의 항목에 든 이름과 설명과 입력 스키마이다.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207768"/>
            <a:ext cx="6766560" cy="3567175"/>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344928"/>
            <a:ext cx="6400800" cy="3292856"/>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"part_quotes",</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견적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단가</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만원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리드타임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공급사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"input_schema": {</a:t>
            </a:r>
          </a:p>
          <a:p>
            <a:pPr algn="l">
              <a:lnSpc>
                <a:spcPct val="110000"/>
              </a:lnSpc>
              <a:spcAft>
                <a:spcPts val="200"/>
              </a:spcAft>
            </a:pPr>
            <a:r>
              <a:rPr sz="1300" b="0">
                <a:solidFill>
                  <a:srgbClr val="E8EEF6"/>
                </a:solidFill>
                <a:latin typeface="Consolas"/>
                <a:ea typeface="맑은 고딕"/>
                <a:cs typeface="맑은 고딕"/>
              </a:rPr>
              <a:t>    "type": "object",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"part": {</a:t>
            </a:r>
          </a:p>
          <a:p>
            <a:pPr algn="l">
              <a:lnSpc>
                <a:spcPct val="110000"/>
              </a:lnSpc>
              <a:spcAft>
                <a:spcPts val="200"/>
              </a:spcAft>
            </a:pPr>
            <a:r>
              <a:rPr sz="1300" b="0">
                <a:solidFill>
                  <a:srgbClr val="E8EEF6"/>
                </a:solidFill>
                <a:latin typeface="Consolas"/>
                <a:ea typeface="맑은 고딕"/>
                <a:cs typeface="맑은 고딕"/>
              </a:rPr>
              <a:t>        "type": "string",</a:t>
            </a:r>
          </a:p>
          <a:p>
            <a:pPr algn="l">
              <a:lnSpc>
                <a:spcPct val="110000"/>
              </a:lnSpc>
              <a:spcAft>
                <a:spcPts val="200"/>
              </a:spcAft>
            </a:pPr>
            <a:r>
              <a:rPr sz="1300" b="0">
                <a:solidFill>
                  <a:srgbClr val="E8EEF6"/>
                </a:solidFill>
                <a:latin typeface="Consolas"/>
                <a:ea typeface="맑은 고딕"/>
                <a:cs typeface="맑은 고딕"/>
              </a:rPr>
              <a:t>        "default": "P-PMP-SEAL",</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부품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 } },</a:t>
            </a:r>
          </a:p>
          <a:p>
            <a:pPr algn="l">
              <a:lnSpc>
                <a:spcPct val="110000"/>
              </a:lnSpc>
              <a:spcAft>
                <a:spcPts val="200"/>
              </a:spcAft>
            </a:pPr>
            <a:r>
              <a:rPr sz="1300" b="0">
                <a:solidFill>
                  <a:srgbClr val="E8EEF6"/>
                </a:solidFill>
                <a:latin typeface="Consolas"/>
                <a:ea typeface="맑은 고딕"/>
                <a:cs typeface="맑은 고딕"/>
              </a:rPr>
              <a:t>  "annotations": { "readOnlyHint": true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207768"/>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name</a:t>
            </a:r>
          </a:p>
          <a:p>
            <a:pPr algn="l">
              <a:lnSpc>
                <a:spcPct val="110000"/>
              </a:lnSpc>
              <a:spcAft>
                <a:spcPts val="400"/>
              </a:spcAft>
            </a:pPr>
            <a:r>
              <a:rPr sz="1400" b="0">
                <a:solidFill>
                  <a:srgbClr val="1F2A3A"/>
                </a:solidFill>
                <a:latin typeface="맑은 고딕"/>
                <a:ea typeface="맑은 고딕"/>
                <a:cs typeface="맑은 고딕"/>
              </a:rPr>
              <a:t>호출할 때 쓰는 도구의 이름이다.</a:t>
            </a:r>
          </a:p>
        </p:txBody>
      </p:sp>
      <p:sp>
        <p:nvSpPr>
          <p:cNvPr id="9" name="TextBox 8"/>
          <p:cNvSpPr txBox="1"/>
          <p:nvPr/>
        </p:nvSpPr>
        <p:spPr>
          <a:xfrm>
            <a:off x="7635240" y="3099561"/>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description</a:t>
            </a:r>
          </a:p>
          <a:p>
            <a:pPr algn="l">
              <a:lnSpc>
                <a:spcPct val="110000"/>
              </a:lnSpc>
              <a:spcAft>
                <a:spcPts val="400"/>
              </a:spcAft>
            </a:pPr>
            <a:r>
              <a:rPr sz="1400" b="0">
                <a:solidFill>
                  <a:srgbClr val="1F2A3A"/>
                </a:solidFill>
                <a:latin typeface="맑은 고딕"/>
                <a:ea typeface="맑은 고딕"/>
                <a:cs typeface="맑은 고딕"/>
              </a:rPr>
              <a:t>모델이 읽고 부를지를 정하는 글이다.</a:t>
            </a:r>
          </a:p>
        </p:txBody>
      </p:sp>
      <p:sp>
        <p:nvSpPr>
          <p:cNvPr id="10" name="TextBox 9"/>
          <p:cNvSpPr txBox="1"/>
          <p:nvPr/>
        </p:nvSpPr>
        <p:spPr>
          <a:xfrm>
            <a:off x="7635240" y="3991356"/>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input_schema</a:t>
            </a:r>
          </a:p>
          <a:p>
            <a:pPr algn="l">
              <a:lnSpc>
                <a:spcPct val="110000"/>
              </a:lnSpc>
              <a:spcAft>
                <a:spcPts val="400"/>
              </a:spcAft>
            </a:pPr>
            <a:r>
              <a:rPr sz="1400" b="0">
                <a:solidFill>
                  <a:srgbClr val="1F2A3A"/>
                </a:solidFill>
                <a:latin typeface="맑은 고딕"/>
                <a:ea typeface="맑은 고딕"/>
                <a:cs typeface="맑은 고딕"/>
              </a:rPr>
              <a:t>넘길 값의 이름, 형, 기본값을 정한다.</a:t>
            </a:r>
          </a:p>
        </p:txBody>
      </p:sp>
      <p:sp>
        <p:nvSpPr>
          <p:cNvPr id="11" name="TextBox 10"/>
          <p:cNvSpPr txBox="1"/>
          <p:nvPr/>
        </p:nvSpPr>
        <p:spPr>
          <a:xfrm>
            <a:off x="7635240" y="4883150"/>
            <a:ext cx="4007815" cy="891793"/>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annotations</a:t>
            </a:r>
          </a:p>
          <a:p>
            <a:pPr algn="l">
              <a:lnSpc>
                <a:spcPct val="110000"/>
              </a:lnSpc>
              <a:spcAft>
                <a:spcPts val="400"/>
              </a:spcAft>
            </a:pPr>
            <a:r>
              <a:rPr sz="1400" b="0">
                <a:solidFill>
                  <a:srgbClr val="1F2A3A"/>
                </a:solidFill>
                <a:latin typeface="맑은 고딕"/>
                <a:ea typeface="맑은 고딕"/>
                <a:cs typeface="맑은 고딕"/>
              </a:rPr>
              <a:t>읽기 전용인지 같은 표시가 붙는다.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한 건의 응답: mes_orders</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mes_orders의 응답은 성공 여부, 읽은 시각, 판단에 쓸 값이 저마다의 자리에 담긴 JSON이다.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"as_of": "2026-10-10T15:19:07</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p>
          <a:p>
            <a:pPr algn="l">
              <a:lnSpc>
                <a:spcPct val="110000"/>
              </a:lnSpc>
              <a:spcAft>
                <a:spcPts val="200"/>
              </a:spcAft>
            </a:pPr>
            <a:r>
              <a:rPr sz="1300" b="0">
                <a:solidFill>
                  <a:srgbClr val="E8EEF6"/>
                </a:solidFill>
                <a:latin typeface="Consolas"/>
                <a:ea typeface="맑은 고딕"/>
                <a:cs typeface="맑은 고딕"/>
              </a:rPr>
              <a:t>    "records": [ { "asset": "HYD-01",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result</a:t>
            </a:r>
          </a:p>
          <a:p>
            <a:pPr algn="l">
              <a:lnSpc>
                <a:spcPct val="110000"/>
              </a:lnSpc>
              <a:spcAft>
                <a:spcPts val="400"/>
              </a:spcAft>
            </a:pPr>
            <a:r>
              <a:rPr sz="1400" b="0">
                <a:solidFill>
                  <a:srgbClr val="1F2A3A"/>
                </a:solidFill>
                <a:latin typeface="맑은 고딕"/>
                <a:ea typeface="맑은 고딕"/>
                <a:cs typeface="맑은 고딕"/>
              </a:rPr>
              <a:t>호출이 성공했는지를 먼저 알린다. 실패하면 error가 온다.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as_of</a:t>
            </a:r>
          </a:p>
          <a:p>
            <a:pPr algn="l">
              <a:lnSpc>
                <a:spcPct val="110000"/>
              </a:lnSpc>
              <a:spcAft>
                <a:spcPts val="400"/>
              </a:spcAft>
            </a:pPr>
            <a:r>
              <a:rPr sz="1400" b="0">
                <a:solidFill>
                  <a:srgbClr val="1F2A3A"/>
                </a:solidFill>
                <a:latin typeface="맑은 고딕"/>
                <a:ea typeface="맑은 고딕"/>
                <a:cs typeface="맑은 고딕"/>
              </a:rPr>
              <a:t>값을 읽은 시각이다.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값만 추린 자리이다.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records</a:t>
            </a:r>
          </a:p>
          <a:p>
            <a:pPr algn="l">
              <a:lnSpc>
                <a:spcPct val="110000"/>
              </a:lnSpc>
              <a:spcAft>
                <a:spcPts val="400"/>
              </a:spcAft>
            </a:pPr>
            <a:r>
              <a:rPr sz="1400" b="0">
                <a:solidFill>
                  <a:srgbClr val="1F2A3A"/>
                </a:solidFill>
                <a:latin typeface="맑은 고딕"/>
                <a:ea typeface="맑은 고딕"/>
                <a:cs typeface="맑은 고딕"/>
              </a:rPr>
              <a:t>업무 DB에서 읽은 원래의 행이다.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호출 요청과 실행의 분리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도구를 직접 실행하지 않고 부를 도구와 값을 요청으로 내며, 호스트가 그 요청을 확인해 서버에 전달한다.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모델</a:t>
            </a:r>
          </a:p>
          <a:p>
            <a:pPr algn="ctr">
              <a:lnSpc>
                <a:spcPct val="110000"/>
              </a:lnSpc>
              <a:spcAft>
                <a:spcPts val="400"/>
              </a:spcAft>
            </a:pPr>
            <a:r>
              <a:rPr sz="1350" b="0">
                <a:solidFill>
                  <a:srgbClr val="1F2A3A"/>
                </a:solidFill>
                <a:latin typeface="맑은 고딕"/>
                <a:ea typeface="맑은 고딕"/>
                <a:cs typeface="맑은 고딕"/>
              </a:rPr>
              <a:t>부를 도구의 이름과</a:t>
            </a:r>
          </a:p>
          <a:p>
            <a:pPr algn="ctr">
              <a:lnSpc>
                <a:spcPct val="110000"/>
              </a:lnSpc>
              <a:spcAft>
                <a:spcPts val="400"/>
              </a:spcAft>
            </a:pPr>
            <a:r>
              <a:rPr sz="1350" b="0">
                <a:solidFill>
                  <a:srgbClr val="1F2A3A"/>
                </a:solidFill>
                <a:latin typeface="맑은 고딕"/>
                <a:ea typeface="맑은 고딕"/>
                <a:cs typeface="맑은 고딕"/>
              </a:rPr>
              <a:t>입력을 요청으로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890647"/>
            <a:ext cx="731520" cy="731520"/>
          </a:xfrm>
          <a:prstGeom prst="ellipse">
            <a:avLst/>
          </a:prstGeom>
          <a:solidFill>
            <a:srgbClr val="5CB8F2"/>
          </a:solidFill>
          <a:ln>
            <a:noFill/>
          </a:ln>
        </p:spPr>
        <p:txBody>
          <a:bodyPr rtlCol="0" anchor="ctr"/>
          <a:lstStyle/>
          <a:p>
            <a:pPr algn="ctr"/>
          </a:p>
        </p:txBody>
      </p:sp>
      <p:pic>
        <p:nvPicPr>
          <p:cNvPr id="13" name="아이콘:shield-check" descr="shield-check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호스트</a:t>
            </a:r>
          </a:p>
          <a:p>
            <a:pPr algn="ctr">
              <a:lnSpc>
                <a:spcPct val="110000"/>
              </a:lnSpc>
              <a:spcAft>
                <a:spcPts val="400"/>
              </a:spcAft>
            </a:pPr>
            <a:r>
              <a:rPr sz="1350" b="0">
                <a:solidFill>
                  <a:srgbClr val="1F2A3A"/>
                </a:solidFill>
                <a:latin typeface="맑은 고딕"/>
                <a:ea typeface="맑은 고딕"/>
                <a:cs typeface="맑은 고딕"/>
              </a:rPr>
              <a:t>허용된 도구인지</a:t>
            </a:r>
          </a:p>
          <a:p>
            <a:pPr algn="ctr">
              <a:lnSpc>
                <a:spcPct val="110000"/>
              </a:lnSpc>
              <a:spcAft>
                <a:spcPts val="400"/>
              </a:spcAft>
            </a:pPr>
            <a:r>
              <a:rPr sz="1350" b="0">
                <a:solidFill>
                  <a:srgbClr val="1F2A3A"/>
                </a:solidFill>
                <a:latin typeface="맑은 고딕"/>
                <a:ea typeface="맑은 고딕"/>
                <a:cs typeface="맑은 고딕"/>
              </a:rPr>
              <a:t>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plug-connected" descr="plug-connected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클라이언트</a:t>
            </a:r>
          </a:p>
          <a:p>
            <a:pPr algn="ctr">
              <a:lnSpc>
                <a:spcPct val="110000"/>
              </a:lnSpc>
              <a:spcAft>
                <a:spcPts val="400"/>
              </a:spcAft>
            </a:pPr>
            <a:r>
              <a:rPr sz="1350" b="0">
                <a:solidFill>
                  <a:srgbClr val="1F2A3A"/>
                </a:solidFill>
                <a:latin typeface="맑은 고딕"/>
                <a:ea typeface="맑은 고딕"/>
                <a:cs typeface="맑은 고딕"/>
              </a:rPr>
              <a:t>tools/call로</a:t>
            </a:r>
          </a:p>
          <a:p>
            <a:pPr algn="ctr">
              <a:lnSpc>
                <a:spcPct val="110000"/>
              </a:lnSpc>
              <a:spcAft>
                <a:spcPts val="400"/>
              </a:spcAft>
            </a:pPr>
            <a:r>
              <a:rPr sz="1350" b="0">
                <a:solidFill>
                  <a:srgbClr val="1F2A3A"/>
                </a:solidFill>
                <a:latin typeface="맑은 고딕"/>
                <a:ea typeface="맑은 고딕"/>
                <a:cs typeface="맑은 고딕"/>
              </a:rPr>
              <a:t>서버에 전달한다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890647"/>
            <a:ext cx="731520" cy="731520"/>
          </a:xfrm>
          <a:prstGeom prst="ellipse">
            <a:avLst/>
          </a:prstGeom>
          <a:solidFill>
            <a:srgbClr val="FFFFFF"/>
          </a:solidFill>
          <a:ln>
            <a:noFill/>
          </a:ln>
        </p:spPr>
        <p:txBody>
          <a:bodyPr rtlCol="0" anchor="ctr"/>
          <a:lstStyle/>
          <a:p>
            <a:pPr algn="ctr"/>
          </a:p>
        </p:txBody>
      </p:sp>
      <p:pic>
        <p:nvPicPr>
          <p:cNvPr id="23" name="아이콘:server" descr="server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a:t>
            </a:r>
          </a:p>
          <a:p>
            <a:pPr algn="ctr">
              <a:lnSpc>
                <a:spcPct val="110000"/>
              </a:lnSpc>
              <a:spcAft>
                <a:spcPts val="400"/>
              </a:spcAft>
            </a:pPr>
            <a:r>
              <a:rPr sz="1350" b="0">
                <a:solidFill>
                  <a:srgbClr val="1F2A3A"/>
                </a:solidFill>
                <a:latin typeface="맑은 고딕"/>
                <a:ea typeface="맑은 고딕"/>
                <a:cs typeface="맑은 고딕"/>
              </a:rPr>
              <a:t>도구를 실행하고</a:t>
            </a:r>
          </a:p>
          <a:p>
            <a:pPr algn="ctr">
              <a:lnSpc>
                <a:spcPct val="110000"/>
              </a:lnSpc>
              <a:spcAft>
                <a:spcPts val="400"/>
              </a:spcAft>
            </a:pPr>
            <a:r>
              <a:rPr sz="1350" b="0">
                <a:solidFill>
                  <a:srgbClr val="1F2A3A"/>
                </a:solidFill>
                <a:latin typeface="맑은 고딕"/>
                <a:ea typeface="맑은 고딕"/>
                <a:cs typeface="맑은 고딕"/>
              </a:rPr>
              <a:t>응답을 돌려준다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연결 방식 두 가지: stdio와 Streamable HTTP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서버를 내 PC에서 하위 프로세스로 띄워 쓰면 stdio이고, 이미 떠 있는 서버에 주소로 접속하면 Streamable HTTP이다.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pic>
        <p:nvPicPr>
          <p:cNvPr id="6" name="삽화:연결방식.svg" descr="illust_3232858478547518504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722180"/>
            <a:ext cx="501836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stdio (standard input/output)</a:t>
            </a:r>
          </a:p>
          <a:p>
            <a:pPr algn="ctr">
              <a:lnSpc>
                <a:spcPct val="110000"/>
              </a:lnSpc>
              <a:spcAft>
                <a:spcPts val="100"/>
              </a:spcAft>
            </a:pPr>
            <a:r>
              <a:rPr sz="1300" b="0">
                <a:solidFill>
                  <a:srgbClr val="556175"/>
                </a:solidFill>
                <a:latin typeface="맑은 고딕"/>
                <a:ea typeface="맑은 고딕"/>
                <a:cs typeface="맑은 고딕"/>
              </a:rPr>
              <a:t>호스트가 서버를 하위 프로세스로 띄운다</a:t>
            </a:r>
          </a:p>
        </p:txBody>
      </p:sp>
      <p:sp>
        <p:nvSpPr>
          <p:cNvPr id="8" name="TextBox 7"/>
          <p:cNvSpPr txBox="1"/>
          <p:nvPr/>
        </p:nvSpPr>
        <p:spPr>
          <a:xfrm>
            <a:off x="6575865" y="1722180"/>
            <a:ext cx="458198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Streamable HTTP</a:t>
            </a:r>
          </a:p>
          <a:p>
            <a:pPr algn="ctr">
              <a:lnSpc>
                <a:spcPct val="110000"/>
              </a:lnSpc>
              <a:spcAft>
                <a:spcPts val="100"/>
              </a:spcAft>
            </a:pPr>
            <a:r>
              <a:rPr sz="1300" b="0">
                <a:solidFill>
                  <a:srgbClr val="556175"/>
                </a:solidFill>
                <a:latin typeface="맑은 고딕"/>
                <a:ea typeface="맑은 고딕"/>
                <a:cs typeface="맑은 고딕"/>
              </a:rPr>
              <a:t>떠 있는 서버에 주소로 접속한다</a:t>
            </a:r>
          </a:p>
        </p:txBody>
      </p:sp>
      <p:sp>
        <p:nvSpPr>
          <p:cNvPr id="9" name="TextBox 8"/>
          <p:cNvSpPr txBox="1"/>
          <p:nvPr/>
        </p:nvSpPr>
        <p:spPr>
          <a:xfrm>
            <a:off x="1426583" y="441682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0" name="TextBox 9"/>
          <p:cNvSpPr txBox="1"/>
          <p:nvPr/>
        </p:nvSpPr>
        <p:spPr>
          <a:xfrm>
            <a:off x="3673939" y="4416826"/>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 프로세스</a:t>
            </a:r>
          </a:p>
        </p:txBody>
      </p:sp>
      <p:sp>
        <p:nvSpPr>
          <p:cNvPr id="11" name="TextBox 10"/>
          <p:cNvSpPr txBox="1"/>
          <p:nvPr/>
        </p:nvSpPr>
        <p:spPr>
          <a:xfrm>
            <a:off x="2670266" y="3282238"/>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입력</a:t>
            </a:r>
          </a:p>
        </p:txBody>
      </p:sp>
      <p:sp>
        <p:nvSpPr>
          <p:cNvPr id="12" name="TextBox 11"/>
          <p:cNvSpPr txBox="1"/>
          <p:nvPr/>
        </p:nvSpPr>
        <p:spPr>
          <a:xfrm>
            <a:off x="2670266" y="4204091"/>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표준 출력</a:t>
            </a:r>
          </a:p>
        </p:txBody>
      </p:sp>
      <p:sp>
        <p:nvSpPr>
          <p:cNvPr id="13" name="TextBox 12"/>
          <p:cNvSpPr txBox="1"/>
          <p:nvPr/>
        </p:nvSpPr>
        <p:spPr>
          <a:xfrm>
            <a:off x="1404764" y="5527776"/>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PC 안에서 주고받는다</a:t>
            </a:r>
          </a:p>
        </p:txBody>
      </p:sp>
      <p:sp>
        <p:nvSpPr>
          <p:cNvPr id="14" name="TextBox 13"/>
          <p:cNvSpPr txBox="1"/>
          <p:nvPr/>
        </p:nvSpPr>
        <p:spPr>
          <a:xfrm>
            <a:off x="6652231" y="3187689"/>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5" name="TextBox 14"/>
          <p:cNvSpPr txBox="1"/>
          <p:nvPr/>
        </p:nvSpPr>
        <p:spPr>
          <a:xfrm>
            <a:off x="6652231" y="52110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클라이언트</a:t>
            </a:r>
          </a:p>
        </p:txBody>
      </p:sp>
      <p:sp>
        <p:nvSpPr>
          <p:cNvPr id="16" name="TextBox 15"/>
          <p:cNvSpPr txBox="1"/>
          <p:nvPr/>
        </p:nvSpPr>
        <p:spPr>
          <a:xfrm>
            <a:off x="9325058" y="4818659"/>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서버</a:t>
            </a:r>
          </a:p>
          <a:p>
            <a:pPr algn="ctr">
              <a:lnSpc>
                <a:spcPct val="110000"/>
              </a:lnSpc>
              <a:spcAft>
                <a:spcPts val="100"/>
              </a:spcAft>
            </a:pPr>
            <a:r>
              <a:rPr sz="1300" b="0">
                <a:solidFill>
                  <a:srgbClr val="556175"/>
                </a:solidFill>
                <a:latin typeface="맑은 고딕"/>
                <a:ea typeface="맑은 고딕"/>
                <a:cs typeface="맑은 고딕"/>
              </a:rPr>
              <a:t>HTTP 요청을 받아 응답한다</a:t>
            </a:r>
          </a:p>
        </p:txBody>
      </p:sp>
      <p:sp>
        <p:nvSpPr>
          <p:cNvPr id="17" name="TextBox 16"/>
          <p:cNvSpPr txBox="1"/>
          <p:nvPr/>
        </p:nvSpPr>
        <p:spPr>
          <a:xfrm>
            <a:off x="6532227" y="5787786"/>
            <a:ext cx="4800177"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여러 클라이언트가 한 서버를 함께 쓴다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수행 방법과 실행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무엇을 어떤 순서로 할지를 적은 글이고, MCP는 그 글에 적힌 도구를 실제로 부를 수 있게 이어 주는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수행 방법을 적은 지침이다</a:t>
            </a:r>
          </a:p>
          <a:p>
            <a:pPr algn="l">
              <a:lnSpc>
                <a:spcPct val="110000"/>
              </a:lnSpc>
              <a:spcAft>
                <a:spcPts val="600"/>
              </a:spcAft>
            </a:pPr>
            <a:r>
              <a:rPr sz="1450" b="0">
                <a:solidFill>
                  <a:srgbClr val="1F2A3A"/>
                </a:solidFill>
                <a:latin typeface="맑은 고딕"/>
                <a:ea typeface="맑은 고딕"/>
                <a:cs typeface="맑은 고딕"/>
              </a:rPr>
              <a:t>• 사람이 읽고 고칠 수 있는 글이다</a:t>
            </a:r>
          </a:p>
          <a:p>
            <a:pPr algn="l">
              <a:lnSpc>
                <a:spcPct val="110000"/>
              </a:lnSpc>
              <a:spcAft>
                <a:spcPts val="600"/>
              </a:spcAft>
            </a:pPr>
            <a:r>
              <a:rPr sz="1450" b="0">
                <a:solidFill>
                  <a:srgbClr val="1F2A3A"/>
                </a:solidFill>
                <a:latin typeface="맑은 고딕"/>
                <a:ea typeface="맑은 고딕"/>
                <a:cs typeface="맑은 고딕"/>
              </a:rPr>
              <a:t>• 스스로는 아무것도 실행하지 않는다</a:t>
            </a:r>
          </a:p>
          <a:p>
            <a:pPr algn="l">
              <a:lnSpc>
                <a:spcPct val="110000"/>
              </a:lnSpc>
              <a:spcAft>
                <a:spcPts val="600"/>
              </a:spcAft>
            </a:pPr>
            <a:r>
              <a:rPr sz="1450" b="0">
                <a:solidFill>
                  <a:srgbClr val="1F2A3A"/>
                </a:solidFill>
                <a:latin typeface="맑은 고딕"/>
                <a:ea typeface="맑은 고딕"/>
                <a:cs typeface="맑은 고딕"/>
              </a:rPr>
              <a:t>• 예: 「diagnose로 원인 1순위를 얻는다」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MCP</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내주고 호출을 받는 연결이다</a:t>
            </a:r>
          </a:p>
          <a:p>
            <a:pPr algn="l">
              <a:lnSpc>
                <a:spcPct val="110000"/>
              </a:lnSpc>
              <a:spcAft>
                <a:spcPts val="600"/>
              </a:spcAft>
            </a:pPr>
            <a:r>
              <a:rPr sz="1450" b="0">
                <a:solidFill>
                  <a:srgbClr val="1F2A3A"/>
                </a:solidFill>
                <a:latin typeface="맑은 고딕"/>
                <a:ea typeface="맑은 고딕"/>
                <a:cs typeface="맑은 고딕"/>
              </a:rPr>
              <a:t>• 서버라는 프로그램이 실제로 일을 한다</a:t>
            </a:r>
          </a:p>
          <a:p>
            <a:pPr algn="l">
              <a:lnSpc>
                <a:spcPct val="110000"/>
              </a:lnSpc>
              <a:spcAft>
                <a:spcPts val="600"/>
              </a:spcAft>
            </a:pPr>
            <a:r>
              <a:rPr sz="1450" b="0">
                <a:solidFill>
                  <a:srgbClr val="1F2A3A"/>
                </a:solidFill>
                <a:latin typeface="맑은 고딕"/>
                <a:ea typeface="맑은 고딕"/>
                <a:cs typeface="맑은 고딕"/>
              </a:rPr>
              <a:t>• 어떤 순서로 부를지는 정하지 않는다</a:t>
            </a:r>
          </a:p>
          <a:p>
            <a:pPr algn="l">
              <a:lnSpc>
                <a:spcPct val="110000"/>
              </a:lnSpc>
              <a:spcAft>
                <a:spcPts val="600"/>
              </a:spcAft>
            </a:pPr>
            <a:r>
              <a:rPr sz="1450" b="0">
                <a:solidFill>
                  <a:srgbClr val="1F2A3A"/>
                </a:solidFill>
                <a:latin typeface="맑은 고딕"/>
                <a:ea typeface="맑은 고딕"/>
                <a:cs typeface="맑은 고딕"/>
              </a:rPr>
              <a:t>• 예: hyd-dmn 서버가 diagnose를 실행해 응답한다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읽는 도구와 쓰는 도구: 잘못 불렀을 때의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읽는 도구를 잘못 부르면 답이 틀리는 데서 그치지만, 쓰는 도구를 잘못 부르면 기록이 바뀌거나 메일이 나간다.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읽는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바꾸지 않는다</a:t>
            </a:r>
          </a:p>
          <a:p>
            <a:pPr algn="l">
              <a:lnSpc>
                <a:spcPct val="110000"/>
              </a:lnSpc>
              <a:spcAft>
                <a:spcPts val="600"/>
              </a:spcAft>
            </a:pPr>
            <a:r>
              <a:rPr sz="1450" b="0">
                <a:solidFill>
                  <a:srgbClr val="1F2A3A"/>
                </a:solidFill>
                <a:latin typeface="맑은 고딕"/>
                <a:ea typeface="맑은 고딕"/>
                <a:cs typeface="맑은 고딕"/>
              </a:rPr>
              <a:t>• 잘못 불렀으면 다시 부르면 된다</a:t>
            </a:r>
          </a:p>
          <a:p>
            <a:pPr algn="l">
              <a:lnSpc>
                <a:spcPct val="110000"/>
              </a:lnSpc>
              <a:spcAft>
                <a:spcPts val="600"/>
              </a:spcAft>
            </a:pPr>
            <a:r>
              <a:rPr sz="1450" b="0">
                <a:solidFill>
                  <a:srgbClr val="1F2A3A"/>
                </a:solidFill>
                <a:latin typeface="맑은 고딕"/>
                <a:ea typeface="맑은 고딕"/>
                <a:cs typeface="맑은 고딕"/>
              </a:rPr>
              <a:t>• 예: mes_orders — 납기 오더를 조회한다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encil" descr="pencil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쓰는 도구</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시스템의 상태를 바꾸거나 밖으로 내보낸다</a:t>
            </a:r>
          </a:p>
          <a:p>
            <a:pPr algn="l">
              <a:lnSpc>
                <a:spcPct val="110000"/>
              </a:lnSpc>
              <a:spcAft>
                <a:spcPts val="600"/>
              </a:spcAft>
            </a:pPr>
            <a:r>
              <a:rPr sz="1450" b="0">
                <a:solidFill>
                  <a:srgbClr val="1F2A3A"/>
                </a:solidFill>
                <a:latin typeface="맑은 고딕"/>
                <a:ea typeface="맑은 고딕"/>
                <a:cs typeface="맑은 고딕"/>
              </a:rPr>
              <a:t>• 한 번 실행되면 되돌리기 어렵다</a:t>
            </a:r>
          </a:p>
          <a:p>
            <a:pPr algn="l">
              <a:lnSpc>
                <a:spcPct val="110000"/>
              </a:lnSpc>
              <a:spcAft>
                <a:spcPts val="600"/>
              </a:spcAft>
            </a:pPr>
            <a:r>
              <a:rPr sz="1450" b="0">
                <a:solidFill>
                  <a:srgbClr val="1F2A3A"/>
                </a:solidFill>
                <a:latin typeface="맑은 고딕"/>
                <a:ea typeface="맑은 고딕"/>
                <a:cs typeface="맑은 고딕"/>
              </a:rPr>
              <a:t>• 예: send_mail — 메일을 보낸다</a:t>
            </a:r>
          </a:p>
        </p:txBody>
      </p:sp>
      <p:sp>
        <p:nvSpPr>
          <p:cNvPr id="18" name="Rounded Rectangle 17"/>
          <p:cNvSpPr/>
          <p:nvPr/>
        </p:nvSpPr>
        <p:spPr>
          <a:xfrm>
            <a:off x="6781647" y="494557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 발송</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readOnlyHint: 도구가 스스로 다는 읽기 전용 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readOnlyHint는 도구가 읽기만 하는지를 서버가 스스로 적은 표시여서, 연결하는 쪽이 한 번 더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readOnlyHint</a:t>
            </a:r>
          </a:p>
          <a:p>
            <a:pPr algn="l">
              <a:lnSpc>
                <a:spcPct val="110000"/>
              </a:lnSpc>
              <a:spcAft>
                <a:spcPts val="200"/>
              </a:spcAft>
            </a:pPr>
            <a:r>
              <a:rPr sz="1150" b="0">
                <a:solidFill>
                  <a:srgbClr val="556175"/>
                </a:solidFill>
                <a:latin typeface="맑은 고딕"/>
                <a:ea typeface="맑은 고딕"/>
                <a:cs typeface="맑은 고딕"/>
              </a:rPr>
              <a:t>읽기 전용 표시</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도구 정의의 annotations에 붙는 표시이다.</a:t>
            </a:r>
          </a:p>
          <a:p>
            <a:pPr algn="l">
              <a:lnSpc>
                <a:spcPct val="110000"/>
              </a:lnSpc>
              <a:spcAft>
                <a:spcPts val="300"/>
              </a:spcAft>
            </a:pPr>
            <a:r>
              <a:rPr sz="1400" b="0">
                <a:solidFill>
                  <a:srgbClr val="1F2A3A"/>
                </a:solidFill>
                <a:latin typeface="맑은 고딕"/>
                <a:ea typeface="맑은 고딕"/>
                <a:cs typeface="맑은 고딕"/>
              </a:rPr>
              <a:t>true이면 시스템을 바꾸지 않는 도구라는 뜻이다.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hyd-dmn의 도구</a:t>
            </a:r>
          </a:p>
          <a:p>
            <a:pPr algn="l">
              <a:lnSpc>
                <a:spcPct val="110000"/>
              </a:lnSpc>
              <a:spcAft>
                <a:spcPts val="200"/>
              </a:spcAft>
            </a:pPr>
            <a:r>
              <a:rPr sz="1150" b="0">
                <a:solidFill>
                  <a:srgbClr val="556175"/>
                </a:solidFill>
                <a:latin typeface="맑은 고딕"/>
                <a:ea typeface="맑은 고딕"/>
                <a:cs typeface="맑은 고딕"/>
              </a:rPr>
              <a:t>판단 도구</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16개 가운데 15개가 true이다.</a:t>
            </a:r>
          </a:p>
          <a:p>
            <a:pPr algn="l">
              <a:lnSpc>
                <a:spcPct val="110000"/>
              </a:lnSpc>
              <a:spcAft>
                <a:spcPts val="300"/>
              </a:spcAft>
            </a:pPr>
            <a:r>
              <a:rPr sz="1400" b="0">
                <a:solidFill>
                  <a:srgbClr val="1F2A3A"/>
                </a:solidFill>
                <a:latin typeface="맑은 고딕"/>
                <a:ea typeface="맑은 고딕"/>
                <a:cs typeface="맑은 고딕"/>
              </a:rPr>
              <a:t>submit_decision 하나만 false이다.</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enterprise의 도구</a:t>
            </a:r>
          </a:p>
          <a:p>
            <a:pPr algn="l">
              <a:lnSpc>
                <a:spcPct val="110000"/>
              </a:lnSpc>
              <a:spcAft>
                <a:spcPts val="200"/>
              </a:spcAft>
            </a:pPr>
            <a:r>
              <a:rPr sz="1150" b="0">
                <a:solidFill>
                  <a:srgbClr val="556175"/>
                </a:solidFill>
                <a:latin typeface="맑은 고딕"/>
                <a:ea typeface="맑은 고딕"/>
                <a:cs typeface="맑은 고딕"/>
              </a:rPr>
              <a:t>업무 DB 도구</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14개가 모두 true이다.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표시의 성격</a:t>
            </a:r>
          </a:p>
          <a:p>
            <a:pPr algn="l">
              <a:lnSpc>
                <a:spcPct val="110000"/>
              </a:lnSpc>
              <a:spcAft>
                <a:spcPts val="200"/>
              </a:spcAft>
            </a:pPr>
            <a:r>
              <a:rPr sz="1150" b="0">
                <a:solidFill>
                  <a:srgbClr val="556175"/>
                </a:solidFill>
                <a:latin typeface="맑은 고딕"/>
                <a:ea typeface="맑은 고딕"/>
                <a:cs typeface="맑은 고딕"/>
              </a:rPr>
              <a:t>힌트</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서버가 스스로 적은 값이다.</a:t>
            </a:r>
          </a:p>
          <a:p>
            <a:pPr algn="l">
              <a:lnSpc>
                <a:spcPct val="110000"/>
              </a:lnSpc>
              <a:spcAft>
                <a:spcPts val="300"/>
              </a:spcAft>
            </a:pPr>
            <a:r>
              <a:rPr sz="1400" b="0">
                <a:solidFill>
                  <a:srgbClr val="1F2A3A"/>
                </a:solidFill>
                <a:latin typeface="맑은 고딕"/>
                <a:ea typeface="맑은 고딕"/>
                <a:cs typeface="맑은 고딕"/>
              </a:rPr>
              <a:t>연결하는 쪽은 표시만 믿지 않고 이름까지 본다.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등록한 서버의 도구가 지나는 세 겹</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학생이 등록한 서버의 도구는 표시, 연결 검사, 허용 목록의 세 겹을 모두 지나야 에이전트가 부를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pic>
        <p:nvPicPr>
          <p:cNvPr id="6" name="삽화:세겹.svg" descr="illust_8052279441430447801_1791735675.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04753" y="1674906"/>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 도구의 표시</a:t>
            </a:r>
          </a:p>
          <a:p>
            <a:pPr algn="ctr">
              <a:lnSpc>
                <a:spcPct val="110000"/>
              </a:lnSpc>
              <a:spcAft>
                <a:spcPts val="100"/>
              </a:spcAft>
            </a:pPr>
            <a:r>
              <a:rPr sz="1300" b="0">
                <a:solidFill>
                  <a:srgbClr val="556175"/>
                </a:solidFill>
                <a:latin typeface="맑은 고딕"/>
                <a:ea typeface="맑은 고딕"/>
                <a:cs typeface="맑은 고딕"/>
              </a:rPr>
              <a:t>서버가 readOnlyHint를 단다</a:t>
            </a:r>
          </a:p>
        </p:txBody>
      </p:sp>
      <p:sp>
        <p:nvSpPr>
          <p:cNvPr id="8" name="TextBox 7"/>
          <p:cNvSpPr txBox="1"/>
          <p:nvPr/>
        </p:nvSpPr>
        <p:spPr>
          <a:xfrm>
            <a:off x="3979405" y="167490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 연결 검사</a:t>
            </a:r>
          </a:p>
          <a:p>
            <a:pPr algn="ctr">
              <a:lnSpc>
                <a:spcPct val="110000"/>
              </a:lnSpc>
              <a:spcAft>
                <a:spcPts val="100"/>
              </a:spcAft>
            </a:pPr>
            <a:r>
              <a:rPr sz="1300" b="0">
                <a:solidFill>
                  <a:srgbClr val="556175"/>
                </a:solidFill>
                <a:latin typeface="맑은 고딕"/>
                <a:ea typeface="맑은 고딕"/>
                <a:cs typeface="맑은 고딕"/>
              </a:rPr>
              <a:t>실제로 연결해 본다</a:t>
            </a:r>
          </a:p>
        </p:txBody>
      </p:sp>
      <p:sp>
        <p:nvSpPr>
          <p:cNvPr id="9" name="TextBox 8"/>
          <p:cNvSpPr txBox="1"/>
          <p:nvPr/>
        </p:nvSpPr>
        <p:spPr>
          <a:xfrm>
            <a:off x="6259490" y="167490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 허용 목록</a:t>
            </a:r>
          </a:p>
          <a:p>
            <a:pPr algn="ctr">
              <a:lnSpc>
                <a:spcPct val="110000"/>
              </a:lnSpc>
              <a:spcAft>
                <a:spcPts val="100"/>
              </a:spcAft>
            </a:pPr>
            <a:r>
              <a:rPr sz="1300" b="0">
                <a:solidFill>
                  <a:srgbClr val="556175"/>
                </a:solidFill>
                <a:latin typeface="맑은 고딕"/>
                <a:ea typeface="맑은 고딕"/>
                <a:cs typeface="맑은 고딕"/>
              </a:rPr>
              <a:t>통과한 이름만 오른다</a:t>
            </a:r>
          </a:p>
        </p:txBody>
      </p:sp>
      <p:sp>
        <p:nvSpPr>
          <p:cNvPr id="10" name="TextBox 9"/>
          <p:cNvSpPr txBox="1"/>
          <p:nvPr/>
        </p:nvSpPr>
        <p:spPr>
          <a:xfrm>
            <a:off x="1213848" y="328223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part_quotes · true</a:t>
            </a:r>
          </a:p>
        </p:txBody>
      </p:sp>
      <p:sp>
        <p:nvSpPr>
          <p:cNvPr id="11" name="TextBox 10"/>
          <p:cNvSpPr txBox="1"/>
          <p:nvPr/>
        </p:nvSpPr>
        <p:spPr>
          <a:xfrm>
            <a:off x="1213848" y="4511375"/>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send_mail · false</a:t>
            </a:r>
          </a:p>
        </p:txBody>
      </p:sp>
      <p:sp>
        <p:nvSpPr>
          <p:cNvPr id="12" name="TextBox 11"/>
          <p:cNvSpPr txBox="1"/>
          <p:nvPr/>
        </p:nvSpPr>
        <p:spPr>
          <a:xfrm>
            <a:off x="1213848" y="5716874"/>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표시가 없는 도구</a:t>
            </a:r>
          </a:p>
        </p:txBody>
      </p:sp>
      <p:sp>
        <p:nvSpPr>
          <p:cNvPr id="13" name="TextBox 12"/>
          <p:cNvSpPr txBox="1"/>
          <p:nvPr/>
        </p:nvSpPr>
        <p:spPr>
          <a:xfrm>
            <a:off x="9499610" y="4653198"/>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목록의 도구만 부른다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허용 목록: 에이전트가 부를 수 있는 도구의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사람의 허락 없이는 실행되지 않으므로, 이 목록이 에이전트가 쓰는 도구의 범위가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허용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목록</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mcp__neo4j__get_neo4j_schema</a:t>
            </a:r>
          </a:p>
          <a:p>
            <a:pPr algn="l">
              <a:lnSpc>
                <a:spcPct val="110000"/>
              </a:lnSpc>
              <a:spcAft>
                <a:spcPts val="200"/>
              </a:spcAft>
            </a:pPr>
            <a:r>
              <a:rPr sz="1300" b="0">
                <a:solidFill>
                  <a:srgbClr val="E8EEF6"/>
                </a:solidFill>
                <a:latin typeface="Consolas"/>
                <a:ea typeface="맑은 고딕"/>
                <a:cs typeface="맑은 고딕"/>
              </a:rPr>
              <a:t>mcp__neo4j__read_neo4j_cypher</a:t>
            </a:r>
          </a:p>
          <a:p>
            <a:pPr algn="l">
              <a:lnSpc>
                <a:spcPct val="110000"/>
              </a:lnSpc>
              <a:spcAft>
                <a:spcPts val="200"/>
              </a:spcAft>
            </a:pPr>
            <a:r>
              <a:rPr sz="1300" b="0">
                <a:solidFill>
                  <a:srgbClr val="E8EEF6"/>
                </a:solidFill>
                <a:latin typeface="Consolas"/>
                <a:ea typeface="맑은 고딕"/>
                <a:cs typeface="맑은 고딕"/>
              </a:rPr>
              <a:t>mcp__hyd-dmn__*</a:t>
            </a:r>
          </a:p>
          <a:p>
            <a:pPr algn="l">
              <a:lnSpc>
                <a:spcPct val="110000"/>
              </a:lnSpc>
              <a:spcAft>
                <a:spcPts val="200"/>
              </a:spcAft>
            </a:pPr>
            <a:r>
              <a:rPr sz="1300" b="0">
                <a:solidFill>
                  <a:srgbClr val="E8EEF6"/>
                </a:solidFill>
                <a:latin typeface="Consolas"/>
                <a:ea typeface="맑은 고딕"/>
                <a:cs typeface="맑은 고딕"/>
              </a:rPr>
              <a:t>mcp__enterprise__*</a:t>
            </a:r>
          </a:p>
          <a:p>
            <a:pPr algn="l">
              <a:lnSpc>
                <a:spcPct val="110000"/>
              </a:lnSpc>
              <a:spcAft>
                <a:spcPts val="200"/>
              </a:spcAft>
            </a:pPr>
            <a:r>
              <a:rPr sz="1300" b="0">
                <a:solidFill>
                  <a:srgbClr val="E8EEF6"/>
                </a:solidFill>
                <a:latin typeface="Consolas"/>
                <a:ea typeface="맑은 고딕"/>
                <a:cs typeface="맑은 고딕"/>
              </a:rPr>
              <a:t>mcp__enterprise-maint__*</a:t>
            </a:r>
          </a:p>
          <a:p>
            <a:pPr algn="l">
              <a:lnSpc>
                <a:spcPct val="110000"/>
              </a:lnSpc>
              <a:spcAft>
                <a:spcPts val="200"/>
              </a:spcAft>
            </a:pPr>
            <a:r>
              <a:rPr sz="1300" b="0">
                <a:solidFill>
                  <a:srgbClr val="E8EEF6"/>
                </a:solidFill>
                <a:latin typeface="Consolas"/>
                <a:ea typeface="맑은 고딕"/>
                <a:cs typeface="맑은 고딕"/>
              </a:rPr>
              <a:t>mcp__enterprise-purchase__*</a:t>
            </a:r>
          </a:p>
          <a:p>
            <a:pPr algn="l">
              <a:lnSpc>
                <a:spcPct val="110000"/>
              </a:lnSpc>
              <a:spcAft>
                <a:spcPts val="200"/>
              </a:spcAft>
            </a:pPr>
            <a:r>
              <a:rPr sz="1300" b="0">
                <a:solidFill>
                  <a:srgbClr val="E8EEF6"/>
                </a:solidFill>
                <a:latin typeface="Consolas"/>
                <a:ea typeface="맑은 고딕"/>
                <a:cs typeface="맑은 고딕"/>
              </a:rPr>
              <a:t>Read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Glob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Grep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a:t>
            </a:r>
          </a:p>
        </p:txBody>
      </p:sp>
      <p:sp>
        <p:nvSpPr>
          <p:cNvPr id="8" name="TextBox 7"/>
          <p:cNvSpPr txBox="1"/>
          <p:nvPr/>
        </p:nvSpPr>
        <p:spPr>
          <a:xfrm>
            <a:off x="7635240" y="2099310"/>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neo4j</a:t>
            </a:r>
          </a:p>
          <a:p>
            <a:pPr algn="l">
              <a:lnSpc>
                <a:spcPct val="110000"/>
              </a:lnSpc>
              <a:spcAft>
                <a:spcPts val="400"/>
              </a:spcAft>
            </a:pPr>
            <a:r>
              <a:rPr sz="1400" b="0">
                <a:solidFill>
                  <a:srgbClr val="1F2A3A"/>
                </a:solidFill>
                <a:latin typeface="맑은 고딕"/>
                <a:ea typeface="맑은 고딕"/>
                <a:cs typeface="맑은 고딕"/>
              </a:rPr>
              <a:t>조회 도구 둘의 이름만 올린다.</a:t>
            </a:r>
          </a:p>
        </p:txBody>
      </p:sp>
      <p:sp>
        <p:nvSpPr>
          <p:cNvPr id="9" name="TextBox 8"/>
          <p:cNvSpPr txBox="1"/>
          <p:nvPr/>
        </p:nvSpPr>
        <p:spPr>
          <a:xfrm>
            <a:off x="7635240" y="3045332"/>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별표</a:t>
            </a:r>
          </a:p>
          <a:p>
            <a:pPr algn="l">
              <a:lnSpc>
                <a:spcPct val="110000"/>
              </a:lnSpc>
              <a:spcAft>
                <a:spcPts val="400"/>
              </a:spcAft>
            </a:pPr>
            <a:r>
              <a:rPr sz="1400" b="0">
                <a:solidFill>
                  <a:srgbClr val="1F2A3A"/>
                </a:solidFill>
                <a:latin typeface="맑은 고딕"/>
                <a:ea typeface="맑은 고딕"/>
                <a:cs typeface="맑은 고딕"/>
              </a:rPr>
              <a:t>그 서버가 내주는 도구 전부를 뜻한다.</a:t>
            </a:r>
          </a:p>
        </p:txBody>
      </p:sp>
      <p:sp>
        <p:nvSpPr>
          <p:cNvPr id="10" name="TextBox 9"/>
          <p:cNvSpPr txBox="1"/>
          <p:nvPr/>
        </p:nvSpPr>
        <p:spPr>
          <a:xfrm>
            <a:off x="7635240" y="3991356"/>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학생이 등록한 서버</a:t>
            </a:r>
          </a:p>
          <a:p>
            <a:pPr algn="l">
              <a:lnSpc>
                <a:spcPct val="110000"/>
              </a:lnSpc>
              <a:spcAft>
                <a:spcPts val="400"/>
              </a:spcAft>
            </a:pPr>
            <a:r>
              <a:rPr sz="1400" b="0">
                <a:solidFill>
                  <a:srgbClr val="1F2A3A"/>
                </a:solidFill>
                <a:latin typeface="맑은 고딕"/>
                <a:ea typeface="맑은 고딕"/>
                <a:cs typeface="맑은 고딕"/>
              </a:rPr>
              <a:t>읽기로 인정된 도구의 이름만 오른다. 설정을 고치면 다시 검사한다.</a:t>
            </a:r>
          </a:p>
        </p:txBody>
      </p:sp>
      <p:sp>
        <p:nvSpPr>
          <p:cNvPr id="11" name="TextBox 10"/>
          <p:cNvSpPr txBox="1"/>
          <p:nvPr/>
        </p:nvSpPr>
        <p:spPr>
          <a:xfrm>
            <a:off x="7635240" y="4937379"/>
            <a:ext cx="4007815" cy="94602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Read · Skill</a:t>
            </a:r>
          </a:p>
          <a:p>
            <a:pPr algn="l">
              <a:lnSpc>
                <a:spcPct val="110000"/>
              </a:lnSpc>
              <a:spcAft>
                <a:spcPts val="400"/>
              </a:spcAft>
            </a:pPr>
            <a:r>
              <a:rPr sz="1400" b="0">
                <a:solidFill>
                  <a:srgbClr val="1F2A3A"/>
                </a:solidFill>
                <a:latin typeface="맑은 고딕"/>
                <a:ea typeface="맑은 고딕"/>
                <a:cs typeface="맑은 고딕"/>
              </a:rPr>
              <a:t>파일 읽기, 스킬 읽기 같은 호스트의 도구이다.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값이 없는 것, 실패한 것, 잘린 것의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 없음과 실패의 구분에 더해, 시간을 넘긴 응답과 잘린 응답도 결과에 적는 법이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응답의 모양</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결과에 적는 법</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없다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ok이고 결과가 0행이다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「없음」을 사실로 적는다</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호출이 실패했다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result가 error이고</a:t>
            </a:r>
          </a:p>
          <a:p>
            <a:pPr algn="l">
              <a:lnSpc>
                <a:spcPct val="110000"/>
              </a:lnSpc>
            </a:pPr>
            <a:r>
              <a:rPr sz="1400" b="0">
                <a:solidFill>
                  <a:srgbClr val="1F2A3A"/>
                </a:solidFill>
                <a:latin typeface="맑은 고딕"/>
                <a:ea typeface="맑은 고딕"/>
                <a:cs typeface="맑은 고딕"/>
              </a:rPr>
              <a:t>사유가 message에 담겨 온다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실패로 적는다</a:t>
            </a:r>
          </a:p>
          <a:p>
            <a:pPr algn="l">
              <a:lnSpc>
                <a:spcPct val="110000"/>
              </a:lnSpc>
            </a:pPr>
            <a:r>
              <a:rPr sz="1250" b="1">
                <a:solidFill>
                  <a:srgbClr val="556175"/>
                </a:solidFill>
                <a:latin typeface="맑은 고딕"/>
                <a:ea typeface="맑은 고딕"/>
                <a:cs typeface="맑은 고딕"/>
              </a:rPr>
              <a:t>0이나 빈 값으로 바꾸지 않는다</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시간이 넘었다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정해진 시간 안에 응답하지 못해</a:t>
            </a:r>
          </a:p>
          <a:p>
            <a:pPr algn="l">
              <a:lnSpc>
                <a:spcPct val="110000"/>
              </a:lnSpc>
            </a:pPr>
            <a:r>
              <a:rPr sz="1400" b="0">
                <a:solidFill>
                  <a:srgbClr val="1F2A3A"/>
                </a:solidFill>
                <a:latin typeface="맑은 고딕"/>
                <a:ea typeface="맑은 고딕"/>
                <a:cs typeface="맑은 고딕"/>
              </a:rPr>
              <a:t>오류로 돌아온다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실패로 적는다</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응답이 잘렸다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본문의 일부만 오거나</a:t>
            </a:r>
          </a:p>
          <a:p>
            <a:pPr algn="l">
              <a:lnSpc>
                <a:spcPct val="110000"/>
              </a:lnSpc>
            </a:pPr>
            <a:r>
              <a:rPr sz="1400" b="0">
                <a:solidFill>
                  <a:srgbClr val="1F2A3A"/>
                </a:solidFill>
                <a:latin typeface="맑은 고딕"/>
                <a:ea typeface="맑은 고딕"/>
                <a:cs typeface="맑은 고딕"/>
              </a:rPr>
              <a:t>본문이 전달되지 않는다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읽지 못한 범위를 밝힌다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포털과 로컬 개발 도구의 연결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포털은 등록과 연결 검사를 거쳐 서버를 붙이고, 로컬의 Claude Code는 설정 파일의 서버를 사용자가 허용해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 포털</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로컬의 Claude Code</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서버를 적는 곳</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포털의 도구 등록 화면</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 폴더의 설정 파일 .mcp.json</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도구의 허용</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연결 검사에서 읽기로 인정된 도구만</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사용자가 대화 중에 허용한다</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비밀값</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설정에는 값 대신 이름만 적고 값은 따로 보관한다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내 PC의 환경변수와 설정 파일</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서버가 도는 곳</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stdio는 에이전트를 실행하는 PC</a:t>
            </a:r>
          </a:p>
          <a:p>
            <a:pPr algn="l">
              <a:lnSpc>
                <a:spcPct val="110000"/>
              </a:lnSpc>
            </a:pPr>
            <a:r>
              <a:rPr sz="1400" b="0">
                <a:solidFill>
                  <a:srgbClr val="1F2A3A"/>
                </a:solidFill>
                <a:latin typeface="맑은 고딕"/>
                <a:ea typeface="맑은 고딕"/>
                <a:cs typeface="맑은 고딕"/>
              </a:rPr>
              <a:t>HTTP는 서버 쪽</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내 PC</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HYD 내부 도구와 로컬 MCP 서버의 연결과 조합</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HYD의 읽기 도구를 확인하고 Claude Code에 파일시스템, Git, 시간 서버를 연결해 조합한다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것과 조합해 만드는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서버의 도구를 이어 불러 만든 작업 요약 한 건과, 서버별 권한 · 실패를 견준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server" descr="server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읽기 도구 확인</a:t>
            </a:r>
          </a:p>
          <a:p>
            <a:pPr algn="ctr">
              <a:lnSpc>
                <a:spcPct val="110000"/>
              </a:lnSpc>
              <a:spcAft>
                <a:spcPts val="400"/>
              </a:spcAft>
            </a:pPr>
            <a:r>
              <a:rPr sz="1350" b="0">
                <a:solidFill>
                  <a:srgbClr val="1F2A3A"/>
                </a:solidFill>
                <a:latin typeface="맑은 고딕"/>
                <a:ea typeface="맑은 고딕"/>
                <a:cs typeface="맑은 고딕"/>
              </a:rPr>
              <a:t>HYD에 등록된</a:t>
            </a:r>
          </a:p>
          <a:p>
            <a:pPr algn="ctr">
              <a:lnSpc>
                <a:spcPct val="110000"/>
              </a:lnSpc>
              <a:spcAft>
                <a:spcPts val="400"/>
              </a:spcAft>
            </a:pPr>
            <a:r>
              <a:rPr sz="1350" b="0">
                <a:solidFill>
                  <a:srgbClr val="1F2A3A"/>
                </a:solidFill>
                <a:latin typeface="맑은 고딕"/>
                <a:ea typeface="맑은 고딕"/>
                <a:cs typeface="맑은 고딕"/>
              </a:rPr>
              <a:t>업무 DB 서버의</a:t>
            </a:r>
          </a:p>
          <a:p>
            <a:pPr algn="ctr">
              <a:lnSpc>
                <a:spcPct val="110000"/>
              </a:lnSpc>
              <a:spcAft>
                <a:spcPts val="400"/>
              </a:spcAft>
            </a:pPr>
            <a:r>
              <a:rPr sz="1350" b="0">
                <a:solidFill>
                  <a:srgbClr val="1F2A3A"/>
                </a:solidFill>
                <a:latin typeface="맑은 고딕"/>
                <a:ea typeface="맑은 고딕"/>
                <a:cs typeface="맑은 고딕"/>
              </a:rPr>
              <a:t>연결 상태를 보고</a:t>
            </a:r>
          </a:p>
          <a:p>
            <a:pPr algn="ctr">
              <a:lnSpc>
                <a:spcPct val="110000"/>
              </a:lnSpc>
              <a:spcAft>
                <a:spcPts val="400"/>
              </a:spcAft>
            </a:pPr>
            <a:r>
              <a:rPr sz="1350" b="0">
                <a:solidFill>
                  <a:srgbClr val="1F2A3A"/>
                </a:solidFill>
                <a:latin typeface="맑은 고딕"/>
                <a:ea typeface="맑은 고딕"/>
                <a:cs typeface="맑은 고딕"/>
              </a:rPr>
              <a:t>읽기 도구를 부른다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plug-connected" descr="plug-connected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서버마다 연결</a:t>
            </a:r>
          </a:p>
          <a:p>
            <a:pPr algn="ctr">
              <a:lnSpc>
                <a:spcPct val="110000"/>
              </a:lnSpc>
              <a:spcAft>
                <a:spcPts val="400"/>
              </a:spcAft>
            </a:pPr>
            <a:r>
              <a:rPr sz="1350" b="0">
                <a:solidFill>
                  <a:srgbClr val="1F2A3A"/>
                </a:solidFill>
                <a:latin typeface="맑은 고딕"/>
                <a:ea typeface="맑은 고딕"/>
                <a:cs typeface="맑은 고딕"/>
              </a:rPr>
              <a:t>Claude Code에</a:t>
            </a:r>
          </a:p>
          <a:p>
            <a:pPr algn="ctr">
              <a:lnSpc>
                <a:spcPct val="110000"/>
              </a:lnSpc>
              <a:spcAft>
                <a:spcPts val="400"/>
              </a:spcAft>
            </a:pPr>
            <a:r>
              <a:rPr sz="1350" b="0">
                <a:solidFill>
                  <a:srgbClr val="1F2A3A"/>
                </a:solidFill>
                <a:latin typeface="맑은 고딕"/>
                <a:ea typeface="맑은 고딕"/>
                <a:cs typeface="맑은 고딕"/>
              </a:rPr>
              <a:t>파일시스템, Git,</a:t>
            </a:r>
          </a:p>
          <a:p>
            <a:pPr algn="ctr">
              <a:lnSpc>
                <a:spcPct val="110000"/>
              </a:lnSpc>
              <a:spcAft>
                <a:spcPts val="400"/>
              </a:spcAft>
            </a:pPr>
            <a:r>
              <a:rPr sz="1350" b="0">
                <a:solidFill>
                  <a:srgbClr val="1F2A3A"/>
                </a:solidFill>
                <a:latin typeface="맑은 고딕"/>
                <a:ea typeface="맑은 고딕"/>
                <a:cs typeface="맑은 고딕"/>
              </a:rPr>
              <a:t>시간 서버를 연결하고</a:t>
            </a:r>
          </a:p>
          <a:p>
            <a:pPr algn="ctr">
              <a:lnSpc>
                <a:spcPct val="110000"/>
              </a:lnSpc>
              <a:spcAft>
                <a:spcPts val="400"/>
              </a:spcAft>
            </a:pPr>
            <a:r>
              <a:rPr sz="1350" b="0">
                <a:solidFill>
                  <a:srgbClr val="1F2A3A"/>
                </a:solidFill>
                <a:latin typeface="맑은 고딕"/>
                <a:ea typeface="맑은 고딕"/>
                <a:cs typeface="맑은 고딕"/>
              </a:rPr>
              <a:t>접근 권한을 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681478"/>
            <a:ext cx="731520" cy="731520"/>
          </a:xfrm>
          <a:prstGeom prst="ellipse">
            <a:avLst/>
          </a:prstGeom>
          <a:solidFill>
            <a:srgbClr val="5CB8F2"/>
          </a:solidFill>
          <a:ln>
            <a:noFill/>
          </a:ln>
        </p:spPr>
        <p:txBody>
          <a:bodyPr rtlCol="0" anchor="ctr"/>
          <a:lstStyle/>
          <a:p>
            <a:pPr algn="ctr"/>
          </a:p>
        </p:txBody>
      </p:sp>
      <p:pic>
        <p:nvPicPr>
          <p:cNvPr id="18" name="아이콘:route" descr="route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한 요청에서 조합</a:t>
            </a:r>
          </a:p>
          <a:p>
            <a:pPr algn="ctr">
              <a:lnSpc>
                <a:spcPct val="110000"/>
              </a:lnSpc>
              <a:spcAft>
                <a:spcPts val="400"/>
              </a:spcAft>
            </a:pPr>
            <a:r>
              <a:rPr sz="1350" b="0">
                <a:solidFill>
                  <a:srgbClr val="1F2A3A"/>
                </a:solidFill>
                <a:latin typeface="맑은 고딕"/>
                <a:ea typeface="맑은 고딕"/>
                <a:cs typeface="맑은 고딕"/>
              </a:rPr>
              <a:t>파일 내용, 변경 이력,</a:t>
            </a:r>
          </a:p>
          <a:p>
            <a:pPr algn="ctr">
              <a:lnSpc>
                <a:spcPct val="110000"/>
              </a:lnSpc>
              <a:spcAft>
                <a:spcPts val="400"/>
              </a:spcAft>
            </a:pPr>
            <a:r>
              <a:rPr sz="1350" b="0">
                <a:solidFill>
                  <a:srgbClr val="1F2A3A"/>
                </a:solidFill>
                <a:latin typeface="맑은 고딕"/>
                <a:ea typeface="맑은 고딕"/>
                <a:cs typeface="맑은 고딕"/>
              </a:rPr>
              <a:t>시간을 이어 불러</a:t>
            </a:r>
          </a:p>
          <a:p>
            <a:pPr algn="ctr">
              <a:lnSpc>
                <a:spcPct val="110000"/>
              </a:lnSpc>
              <a:spcAft>
                <a:spcPts val="400"/>
              </a:spcAft>
            </a:pPr>
            <a:r>
              <a:rPr sz="1350" b="0">
                <a:solidFill>
                  <a:srgbClr val="1F2A3A"/>
                </a:solidFill>
                <a:latin typeface="맑은 고딕"/>
                <a:ea typeface="맑은 고딕"/>
                <a:cs typeface="맑은 고딕"/>
              </a:rPr>
              <a:t>작업 요약을 만든다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git-compare" descr="git-compare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권한과 실패의 비교</a:t>
            </a:r>
          </a:p>
          <a:p>
            <a:pPr algn="ctr">
              <a:lnSpc>
                <a:spcPct val="110000"/>
              </a:lnSpc>
              <a:spcAft>
                <a:spcPts val="400"/>
              </a:spcAft>
            </a:pPr>
            <a:r>
              <a:rPr sz="1350" b="0">
                <a:solidFill>
                  <a:srgbClr val="1F2A3A"/>
                </a:solidFill>
                <a:latin typeface="맑은 고딕"/>
                <a:ea typeface="맑은 고딕"/>
                <a:cs typeface="맑은 고딕"/>
              </a:rPr>
              <a:t>서버마다 허용된 일과</a:t>
            </a:r>
          </a:p>
          <a:p>
            <a:pPr algn="ctr">
              <a:lnSpc>
                <a:spcPct val="110000"/>
              </a:lnSpc>
              <a:spcAft>
                <a:spcPts val="400"/>
              </a:spcAft>
            </a:pPr>
            <a:r>
              <a:rPr sz="1350" b="0">
                <a:solidFill>
                  <a:srgbClr val="1F2A3A"/>
                </a:solidFill>
                <a:latin typeface="맑은 고딕"/>
                <a:ea typeface="맑은 고딕"/>
                <a:cs typeface="맑은 고딕"/>
              </a:rPr>
              <a:t>호출이 실패했을 때의</a:t>
            </a:r>
          </a:p>
          <a:p>
            <a:pPr algn="ctr">
              <a:lnSpc>
                <a:spcPct val="110000"/>
              </a:lnSpc>
              <a:spcAft>
                <a:spcPts val="400"/>
              </a:spcAft>
            </a:pPr>
            <a:r>
              <a:rPr sz="1350" b="0">
                <a:solidFill>
                  <a:srgbClr val="1F2A3A"/>
                </a:solidFill>
                <a:latin typeface="맑은 고딕"/>
                <a:ea typeface="맑은 고딕"/>
                <a:cs typeface="맑은 고딕"/>
              </a:rPr>
              <a:t>모습을 견준다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일차에서 정식 명칭을 붙인 용어와, 그 용어가 에이전트와 도구 연결에서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에이전트와 도구 연결에서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RAG</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Retrieval-Augmented Generation</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에이전트와 견준 답변 방식</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에이전트</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AI Agent</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에이전트</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근거의 상태</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SUPPORTED · UNKNOWN · UNSUPPORTED</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확인됨, 확인하지 못함, 맞는 근거 없음</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SKILL.md</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Agent Skill의 파일</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수행 방법을 적은 지침</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MCP</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Model Context Protocol</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호스트와 서버를 잇는 규약</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JSON-RPC</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JSON Remote Procedure Call</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MCP 메시지의 형식</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stdio</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input/output</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호스트가 띄운 서버와의 연결 방식</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readOnlyHint</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전용 표시</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 검사와 허용 목록의 기준</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스킬에 적힌 조회가 실행되지 않은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스킬에 납기 오더를 확인하라는 단계가 있는데도 값을 받지 못했고, 연결된 서버는 neo4j와 hyd-dmn뿐이다.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mes_orders의 입력 스키마를 옮겨 적는다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description을 더 자세히 고쳐 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에이전트에 업무 DB 서버 enterprise를 연결한다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 목록에서 hyd-dmn의 도구를 뺀다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등록한 서버에서 에이전트가 쓸 수 있는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새로 등록한 서버의 도구 목록이 read_rows(표시 true), update_row(false), export(표시 없음)이다.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허용 목록에 오르는 도구는?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 하나</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read_rows와 export</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세 도구 모두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오르는 도구가 없다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실행 고리의 단계, 스킬과 도구의 역할, 읽기와 쓰기의 경계를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스킬은 방법을 적은 글이고 실행은 서버가 한다. 서버가 연결되지 않으면 그 값을 받지 못한다.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읽기 표시가 있는 도구만 읽기로 인정된다. 표시가 없는 도구도 거절된다.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