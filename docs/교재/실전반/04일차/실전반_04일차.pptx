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에이전트가 일하는 과정, 정보원과 멈춤 조건, 일하는 방법을 적어 두는 스킬, 도구를 잇는 연결의 순서로 진행합니다.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Retrieval-Augmented Generation입니다.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뒤의 에이전트 스킬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계획, 결과 관찰, 재시도를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지금의 값을 섞지 않게 하는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여러 센서의 증거를 함께 견주어 후보를 가립니다.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겹치는 항목과 기한이 적혀 있지 않은 항목은 지어내지 않고 겹침과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두 곳에서 진행합니다. 먼저 HYD 포털에서 업무 DB 서버의 연결 상태를 확인하고 읽기 도구를 불러 봅니다. 다음으로 VS Code의 Claude Code에 파일시스템, Git, 시간 서버를 연결하고 접근 권한을 서버별로 정합니다. 파일 내용과 변경 이력과 시간을 한 요청에서 이어 불러 작업 요약을 만든 뒤, 서버마다 허용된 일과 호출이 실패했을 때의 모습을 견줍니다. 포털과 로컬의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여덟 개와 함께 실행 고리, 정보원, 멈춤 조건, 실행 기록,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1번과 2번은 스킬을 고치는 일이어서 빠진 연결을 채우지 못합니다.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2.png"/><Relationship Id="rId6"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7.png"/><Relationship Id="rId4" Type="http://schemas.openxmlformats.org/officeDocument/2006/relationships/image" Target="../media/image16.png"/><Relationship Id="rId5"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6.png"/><Relationship Id="rId6"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9.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5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5.png"/><Relationship Id="rId4"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0.png"/><Relationship Id="rId4"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3.png"/><Relationship Id="rId6" Type="http://schemas.openxmlformats.org/officeDocument/2006/relationships/image" Target="../media/image5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60.png"/><Relationship Id="rId5" Type="http://schemas.openxmlformats.org/officeDocument/2006/relationships/image" Target="../media/image3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7.png"/><Relationship Id="rId4" Type="http://schemas.openxmlformats.org/officeDocument/2006/relationships/image" Target="../media/image67.png"/><Relationship Id="rId5" Type="http://schemas.openxmlformats.org/officeDocument/2006/relationships/image" Target="../media/image8.png"/><Relationship Id="rId6" Type="http://schemas.openxmlformats.org/officeDocument/2006/relationships/image" Target="../media/image6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png"/><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5.png"/><Relationship Id="rId4" Type="http://schemas.openxmlformats.org/officeDocument/2006/relationships/image" Target="../media/image2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0.png"/><Relationship Id="rId6"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업무를 수행하는 에이전트와</a:t>
            </a:r>
          </a:p>
          <a:p>
            <a:pPr algn="l">
              <a:lnSpc>
                <a:spcPct val="110000"/>
              </a:lnSpc>
            </a:pPr>
            <a:r>
              <a:rPr sz="4000" b="1">
                <a:solidFill>
                  <a:srgbClr val="FFFFFF"/>
                </a:solidFill>
                <a:latin typeface="맑은 고딕"/>
                <a:ea typeface="맑은 고딕"/>
                <a:cs typeface="맑은 고딕"/>
              </a:rPr>
              <a:t>재사용 지침, 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도구를 쓰며 목표까지 일하는 에이전트의 구조, 업무 지침의 재사용, 외부 시스템 연결의 표준과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ug-connected" descr="plug-connecte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쓰는 에이전트가 일하는 과정과, 그 일을 지침으로 남기고 외부 시스템에 안전하게 잇는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방식과 실행 고리</a:t>
            </a:r>
          </a:p>
          <a:p>
            <a:pPr algn="l">
              <a:lnSpc>
                <a:spcPct val="110000"/>
              </a:lnSpc>
              <a:spcAft>
                <a:spcPts val="400"/>
              </a:spcAft>
            </a:pPr>
            <a:r>
              <a:rPr sz="1350" b="0">
                <a:solidFill>
                  <a:srgbClr val="1F2A3A"/>
                </a:solidFill>
                <a:latin typeface="맑은 고딕"/>
                <a:ea typeface="맑은 고딕"/>
                <a:cs typeface="맑은 고딕"/>
              </a:rPr>
              <a:t>• 한 번 답하는 모델과 에이전트의 차이를 같은 요청으로 견준다</a:t>
            </a:r>
          </a:p>
          <a:p>
            <a:pPr algn="l">
              <a:lnSpc>
                <a:spcPct val="110000"/>
              </a:lnSpc>
              <a:spcAft>
                <a:spcPts val="400"/>
              </a:spcAft>
            </a:pPr>
            <a:r>
              <a:rPr sz="1350" b="0">
                <a:solidFill>
                  <a:srgbClr val="1F2A3A"/>
                </a:solidFill>
                <a:latin typeface="맑은 고딕"/>
                <a:ea typeface="맑은 고딕"/>
                <a:cs typeface="맑은 고딕"/>
              </a:rPr>
              <a:t>• 실행 고리의 단계를 처리 기록에서 짚는다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멈춤 조건</a:t>
            </a:r>
          </a:p>
          <a:p>
            <a:pPr algn="l">
              <a:lnSpc>
                <a:spcPct val="110000"/>
              </a:lnSpc>
              <a:spcAft>
                <a:spcPts val="400"/>
              </a:spcAft>
            </a:pPr>
            <a:r>
              <a:rPr sz="1350" b="0">
                <a:solidFill>
                  <a:srgbClr val="1F2A3A"/>
                </a:solidFill>
                <a:latin typeface="맑은 고딕"/>
                <a:ea typeface="맑은 고딕"/>
                <a:cs typeface="맑은 고딕"/>
              </a:rPr>
              <a:t>• 정보원이 답하는 물음을 가르고 근거가 모자랄 때 멈추는 조건을 든다</a:t>
            </a:r>
          </a:p>
          <a:p>
            <a:pPr algn="l">
              <a:lnSpc>
                <a:spcPct val="110000"/>
              </a:lnSpc>
              <a:spcAft>
                <a:spcPts val="400"/>
              </a:spcAft>
            </a:pPr>
            <a:r>
              <a:rPr sz="1350" b="0">
                <a:solidFill>
                  <a:srgbClr val="1F2A3A"/>
                </a:solidFill>
                <a:latin typeface="맑은 고딕"/>
                <a:ea typeface="맑은 고딕"/>
                <a:cs typeface="맑은 고딕"/>
              </a:rPr>
              <a:t>• 실패했을 때 실행 기록에서 확인할 것을 설명한다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파일이 정하는 호출 조건, 입력, 절차, 출력을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plug-connected" descr="plug-connected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외부 시스템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읽기와 쓰기 권한, 포털과 로컬 설정의 차이를 가른다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일하는 에이전트의 실행 고리와 정보원 · 도구 사용 원리</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외부 시스템 연결과 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일하는 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도구를 쓰며 일하는 에이전트의 실행 순서와, 읽는 정보원과 멈추는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315107892672232514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RAG(Retrieval-Augmented Generation): 문서를 찾아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915284956130958164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85733393108311680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정보원.svg" descr="illust_161314865347859668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606029669141510380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기록한줄.svg" descr="illust_326807500476725192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 답이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대고</a:t>
            </a:r>
          </a:p>
          <a:p>
            <a:pPr algn="ctr">
              <a:lnSpc>
                <a:spcPct val="110000"/>
              </a:lnSpc>
              <a:spcAft>
                <a:spcPts val="400"/>
              </a:spcAft>
            </a:pPr>
            <a:r>
              <a:rPr sz="1350" b="0">
                <a:solidFill>
                  <a:srgbClr val="1F2A3A"/>
                </a:solidFill>
                <a:latin typeface="맑은 고딕"/>
                <a:ea typeface="맑은 고딕"/>
                <a:cs typeface="맑은 고딕"/>
              </a:rPr>
              <a:t>여러 센서의 증거를</a:t>
            </a:r>
          </a:p>
          <a:p>
            <a:pPr algn="ctr">
              <a:lnSpc>
                <a:spcPct val="110000"/>
              </a:lnSpc>
              <a:spcAft>
                <a:spcPts val="400"/>
              </a:spcAft>
            </a:pPr>
            <a:r>
              <a:rPr sz="1350" b="0">
                <a:solidFill>
                  <a:srgbClr val="1F2A3A"/>
                </a:solidFill>
                <a:latin typeface="맑은 고딕"/>
                <a:ea typeface="맑은 고딕"/>
                <a:cs typeface="맑은 고딕"/>
              </a:rPr>
              <a:t>함께 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고리_1.svg" descr="illust_894702771051003956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스킬문서.svg" descr="illust_646354304094866588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두절차.svg" descr="illust_869162429317266544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재사용.svg" descr="illust_159676636295540586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 담당자가 겹치는 항목과 기한이 없는 항목은 지어내지 않고</a:t>
            </a:r>
          </a:p>
          <a:p>
            <a:pPr algn="l">
              <a:lnSpc>
                <a:spcPct val="110000"/>
              </a:lnSpc>
              <a:spcAft>
                <a:spcPts val="400"/>
              </a:spcAft>
            </a:pPr>
            <a:r>
              <a:rPr sz="1400" b="0">
                <a:solidFill>
                  <a:srgbClr val="1F2A3A"/>
                </a:solidFill>
                <a:latin typeface="맑은 고딕"/>
                <a:ea typeface="맑은 고딕"/>
                <a:cs typeface="맑은 고딕"/>
              </a:rPr>
              <a:t>• 겹침과 「미정」으로 표시하게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기록하고 회의록 원문과 대조해 검토한다</a:t>
            </a:r>
          </a:p>
        </p:txBody>
      </p:sp>
      <p:sp>
        <p:nvSpPr>
          <p:cNvPr id="22" name="Rounded Rectangle 21"/>
          <p:cNvSpPr/>
          <p:nvPr/>
        </p:nvSpPr>
        <p:spPr>
          <a:xfrm>
            <a:off x="8356396" y="514985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외부 시스템 연결과</a:t>
            </a:r>
          </a:p>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외부 시스템의 기능을 도구로 부르는 표준과 그 도구를 연결할 때 지키는 기준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연결의수.svg" descr="illust_16968935260544280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pic>
        <p:nvPicPr>
          <p:cNvPr id="6" name="삽화:MCP구성.svg" descr="illust_89768308713485910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목록호출.svg" descr="illust_665890601458121846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연결방식.svg" descr="illust_206373103461291643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세겹.svg" descr="illust_765885225492198721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설정에는 값 대신 이름만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내부 도구와 로컬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읽기 도구를 확인하고 Claude Code에 파일시스템, Git, 시간 서버를 연결해 조합한다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조합해 만드는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여러 서버의 도구를 이어 불러 만든 작업 요약과 서버별 권한 · 실패를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확인</a:t>
            </a:r>
          </a:p>
          <a:p>
            <a:pPr algn="ctr">
              <a:lnSpc>
                <a:spcPct val="110000"/>
              </a:lnSpc>
              <a:spcAft>
                <a:spcPts val="400"/>
              </a:spcAft>
            </a:pPr>
            <a:r>
              <a:rPr sz="1350" b="0">
                <a:solidFill>
                  <a:srgbClr val="1F2A3A"/>
                </a:solidFill>
                <a:latin typeface="맑은 고딕"/>
                <a:ea typeface="맑은 고딕"/>
                <a:cs typeface="맑은 고딕"/>
              </a:rPr>
              <a:t>HYD에 등록된</a:t>
            </a:r>
          </a:p>
          <a:p>
            <a:pPr algn="ctr">
              <a:lnSpc>
                <a:spcPct val="110000"/>
              </a:lnSpc>
              <a:spcAft>
                <a:spcPts val="400"/>
              </a:spcAft>
            </a:pPr>
            <a:r>
              <a:rPr sz="1350" b="0">
                <a:solidFill>
                  <a:srgbClr val="1F2A3A"/>
                </a:solidFill>
                <a:latin typeface="맑은 고딕"/>
                <a:ea typeface="맑은 고딕"/>
                <a:cs typeface="맑은 고딕"/>
              </a:rPr>
              <a:t>업무 DB 서버의</a:t>
            </a:r>
          </a:p>
          <a:p>
            <a:pPr algn="ctr">
              <a:lnSpc>
                <a:spcPct val="110000"/>
              </a:lnSpc>
              <a:spcAft>
                <a:spcPts val="400"/>
              </a:spcAft>
            </a:pPr>
            <a:r>
              <a:rPr sz="1350" b="0">
                <a:solidFill>
                  <a:srgbClr val="1F2A3A"/>
                </a:solidFill>
                <a:latin typeface="맑은 고딕"/>
                <a:ea typeface="맑은 고딕"/>
                <a:cs typeface="맑은 고딕"/>
              </a:rPr>
              <a:t>연결 상태를 보고</a:t>
            </a:r>
          </a:p>
          <a:p>
            <a:pPr algn="ctr">
              <a:lnSpc>
                <a:spcPct val="110000"/>
              </a:lnSpc>
              <a:spcAft>
                <a:spcPts val="400"/>
              </a:spcAft>
            </a:pPr>
            <a:r>
              <a:rPr sz="1350" b="0">
                <a:solidFill>
                  <a:srgbClr val="1F2A3A"/>
                </a:solidFill>
                <a:latin typeface="맑은 고딕"/>
                <a:ea typeface="맑은 고딕"/>
                <a:cs typeface="맑은 고딕"/>
              </a:rPr>
              <a:t>읽기 도구를 부른다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서버마다 연결</a:t>
            </a:r>
          </a:p>
          <a:p>
            <a:pPr algn="ctr">
              <a:lnSpc>
                <a:spcPct val="110000"/>
              </a:lnSpc>
              <a:spcAft>
                <a:spcPts val="400"/>
              </a:spcAft>
            </a:pPr>
            <a:r>
              <a:rPr sz="1350" b="0">
                <a:solidFill>
                  <a:srgbClr val="1F2A3A"/>
                </a:solidFill>
                <a:latin typeface="맑은 고딕"/>
                <a:ea typeface="맑은 고딕"/>
                <a:cs typeface="맑은 고딕"/>
              </a:rPr>
              <a:t>Claude Code에</a:t>
            </a:r>
          </a:p>
          <a:p>
            <a:pPr algn="ctr">
              <a:lnSpc>
                <a:spcPct val="110000"/>
              </a:lnSpc>
              <a:spcAft>
                <a:spcPts val="400"/>
              </a:spcAft>
            </a:pPr>
            <a:r>
              <a:rPr sz="1350" b="0">
                <a:solidFill>
                  <a:srgbClr val="1F2A3A"/>
                </a:solidFill>
                <a:latin typeface="맑은 고딕"/>
                <a:ea typeface="맑은 고딕"/>
                <a:cs typeface="맑은 고딕"/>
              </a:rPr>
              <a:t>파일시스템, Git,</a:t>
            </a:r>
          </a:p>
          <a:p>
            <a:pPr algn="ctr">
              <a:lnSpc>
                <a:spcPct val="110000"/>
              </a:lnSpc>
              <a:spcAft>
                <a:spcPts val="400"/>
              </a:spcAft>
            </a:pPr>
            <a:r>
              <a:rPr sz="1350" b="0">
                <a:solidFill>
                  <a:srgbClr val="1F2A3A"/>
                </a:solidFill>
                <a:latin typeface="맑은 고딕"/>
                <a:ea typeface="맑은 고딕"/>
                <a:cs typeface="맑은 고딕"/>
              </a:rPr>
              <a:t>시간 서버를 연결하고</a:t>
            </a:r>
          </a:p>
          <a:p>
            <a:pPr algn="ctr">
              <a:lnSpc>
                <a:spcPct val="110000"/>
              </a:lnSpc>
              <a:spcAft>
                <a:spcPts val="400"/>
              </a:spcAft>
            </a:pPr>
            <a:r>
              <a:rPr sz="1350" b="0">
                <a:solidFill>
                  <a:srgbClr val="1F2A3A"/>
                </a:solidFill>
                <a:latin typeface="맑은 고딕"/>
                <a:ea typeface="맑은 고딕"/>
                <a:cs typeface="맑은 고딕"/>
              </a:rPr>
              <a:t>접근 권한을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route" descr="rout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요청에서 조합</a:t>
            </a:r>
          </a:p>
          <a:p>
            <a:pPr algn="ctr">
              <a:lnSpc>
                <a:spcPct val="110000"/>
              </a:lnSpc>
              <a:spcAft>
                <a:spcPts val="400"/>
              </a:spcAft>
            </a:pPr>
            <a:r>
              <a:rPr sz="1350" b="0">
                <a:solidFill>
                  <a:srgbClr val="1F2A3A"/>
                </a:solidFill>
                <a:latin typeface="맑은 고딕"/>
                <a:ea typeface="맑은 고딕"/>
                <a:cs typeface="맑은 고딕"/>
              </a:rPr>
              <a:t>파일 내용, 변경 이력,</a:t>
            </a:r>
          </a:p>
          <a:p>
            <a:pPr algn="ctr">
              <a:lnSpc>
                <a:spcPct val="110000"/>
              </a:lnSpc>
              <a:spcAft>
                <a:spcPts val="400"/>
              </a:spcAft>
            </a:pPr>
            <a:r>
              <a:rPr sz="1350" b="0">
                <a:solidFill>
                  <a:srgbClr val="1F2A3A"/>
                </a:solidFill>
                <a:latin typeface="맑은 고딕"/>
                <a:ea typeface="맑은 고딕"/>
                <a:cs typeface="맑은 고딕"/>
              </a:rPr>
              <a:t>시간을 이어 불러</a:t>
            </a:r>
          </a:p>
          <a:p>
            <a:pPr algn="ctr">
              <a:lnSpc>
                <a:spcPct val="110000"/>
              </a:lnSpc>
              <a:spcAft>
                <a:spcPts val="400"/>
              </a:spcAft>
            </a:pPr>
            <a:r>
              <a:rPr sz="1350" b="0">
                <a:solidFill>
                  <a:srgbClr val="1F2A3A"/>
                </a:solidFill>
                <a:latin typeface="맑은 고딕"/>
                <a:ea typeface="맑은 고딕"/>
                <a:cs typeface="맑은 고딕"/>
              </a:rPr>
              <a:t>작업 요약을 만든다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git-compare" descr="git-compare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권한과 실패의 비교</a:t>
            </a:r>
          </a:p>
          <a:p>
            <a:pPr algn="ctr">
              <a:lnSpc>
                <a:spcPct val="110000"/>
              </a:lnSpc>
              <a:spcAft>
                <a:spcPts val="400"/>
              </a:spcAft>
            </a:pPr>
            <a:r>
              <a:rPr sz="1350" b="0">
                <a:solidFill>
                  <a:srgbClr val="1F2A3A"/>
                </a:solidFill>
                <a:latin typeface="맑은 고딕"/>
                <a:ea typeface="맑은 고딕"/>
                <a:cs typeface="맑은 고딕"/>
              </a:rPr>
              <a:t>서버마다 허용된 일과</a:t>
            </a:r>
          </a:p>
          <a:p>
            <a:pPr algn="ctr">
              <a:lnSpc>
                <a:spcPct val="110000"/>
              </a:lnSpc>
              <a:spcAft>
                <a:spcPts val="400"/>
              </a:spcAft>
            </a:pPr>
            <a:r>
              <a:rPr sz="1350" b="0">
                <a:solidFill>
                  <a:srgbClr val="1F2A3A"/>
                </a:solidFill>
                <a:latin typeface="맑은 고딕"/>
                <a:ea typeface="맑은 고딕"/>
                <a:cs typeface="맑은 고딕"/>
              </a:rPr>
              <a:t>호출이 실패했을 때의</a:t>
            </a:r>
          </a:p>
          <a:p>
            <a:pPr algn="ctr">
              <a:lnSpc>
                <a:spcPct val="110000"/>
              </a:lnSpc>
              <a:spcAft>
                <a:spcPts val="400"/>
              </a:spcAft>
            </a:pPr>
            <a:r>
              <a:rPr sz="1350" b="0">
                <a:solidFill>
                  <a:srgbClr val="1F2A3A"/>
                </a:solidFill>
                <a:latin typeface="맑은 고딕"/>
                <a:ea typeface="맑은 고딕"/>
                <a:cs typeface="맑은 고딕"/>
              </a:rPr>
              <a:t>모습을 견준다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에이전트와 도구 연결에서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에이전트와 도구 연결에서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RAG</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에이전트와 견준 답변 방식</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에이전트</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근거의 상태</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SKILL.md</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MCP</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JSON-RPC</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stdio</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readOnlyHint</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스킬과 도구의 역할, 읽기와 쓰기의 경계를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