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판단의 재료인 지식과 규칙을 만들었습니다. 오늘은 그 재료로 실제로 일하는 에이전트를 다룹니다. 에이전트가 일하는 과정, 정보원과 멈춤 조건, 일하는 방법을 적어 두는 스킬, 도구를 잇는 연결의 순서로 진행합니다.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첫날에 본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 문서에서 지식 후보를 뽑는 데 쓴 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 Retrieval-Augmented Generation입니다.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업무 지침은 에이전트 스킬이라는 파일로 주며, 그 형식은 뒤의 에이전트 스킬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가운데 계획, 결과 관찰, 재시도를 쿨러 사건의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가리고 조치를 추천하라」는 목표는 그대로는 수행할 수 없으므로 도구 호출의 순서로 풀어야 합니다. 그것이 계획입니다. 쿨러 사건에서는 업무 지침에 다섯 단계가 적혀 있었고 에이전트는 이를 뼈대로 삼았습니다. 다만 지침은 뼈대일 뿐이어서, 실제로 어떤 값을 넣고 결과를 어떻게 읽을지는 그때마다 에이전트가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고리가 되돌아가는 장면입니다. 대안 평가가 돌려준 결과는 12만 자가 넘어 그대로 쓰기에는 너무 길었습니다. 에이전트는 이를 알아차리고 순위와 규정 판정만 간추리겠다고 계획을 고쳤으며, 6초 뒤에는 필요한 항목만 좁혀 다시 뽑겠다고 했습니다. 따옴표 안은 에이전트가 기록에 남긴 말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업무 산출물입니다. 쿨러 사건의 추천안에는 네 가지가 들어 있습니다. 진단한 원인, 추천하는 조치 하나, 뒤진 대안 셋, 그리고 그렇게 판단한 이유와 판단 번호입니다. 대안이 왜 뒤졌는지까지 함께 내므로 담당자는 추천 하나만이 아니라 견준 과정을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정보원은 저마다 다른 물음에 답합니다. 온톨로지는 관계를, 시계열 DB는 그 시각의 측정값을, 업무 DB는 정비와 재고와 납기의 상태를, SOP는 조치를 수행하는 방법을 답합니다. 유온이 지금 몇 도인지를 온톨로지에 물으면 답이 없고, 원인 후보가 무엇인지를 시계열 DB에 물어도 답이 없습니다. 꼬리표를 보면 넷은 둘로 나뉩니다. 온톨로지와 SOP는 문서가 개정될 때만 바뀌고, 시계열 DB와 업무 DB의 값은 계속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지금의 값을 섞지 않게 하는 장치는 규칙입니다. 에이전트에게는 추측하지 말고 도구로 확인하라는 작업 규칙이 주어지며, 무엇을 어디에서 얻을지가 세 갈래로 정해져 있습니다. 지식은 지식 그래프에서, 지금의 값은 원천에서 그때 읽습니다. 규칙 판정은 모델이 직접 하지 않고 판단 도구의 결과를 씁니다. 같은 입력에는 같은 판정이 나와야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멈추지 않으면 어떻게 되는지를 봅니다. 냉각 효율을 읽지 못했는데 가능성이 가장 큰 원인을 적어 내면, 추천안의 모양은 값을 읽었을 때와 똑같습니다. 승인하는 사람은 그 차이를 알 수 없습니다. 오른쪽처럼 원인을 적지 않고 무엇을 확인하지 못했는지를 내야 모르는 것이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결과와 함께 과정도 남습니다. 위의 상자가 처리 기록이며, 에이전트의 말과 도구 호출이 시각 순서로 한 줄씩 쌓입니다. 그 가운데 도구 호출 한 줄을 아래에 펼쳤습니다. 언제, 어느 도구에, 무엇을 물어, 무엇을 받았고, 얼마나 걸렸는지의 다섯 칸입니다. 입력과 출력이 모두 남으므로 추천안에 적힌 값이 어느 호출에서 왔는지를 찾아갈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기록은 결과가 이상해 보일 때 쓰입니다. 추천안의 값 하나가 의심스러우면 그 값을 돌려준 호출을 기록에서 찾습니다. 출력이 그 값이 맞다면 다음은 입력입니다. 엉뚱한 설비나 틀린 원인을 넣지 않았는지를 봅니다. 입력도 옳다면 문제는 도구나 그 뒤의 데이터에 있고, 입력이 틀렸다면 호출 사이의 말에서 에이전트가 왜 그렇게 했는지를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쿨러 사건을 맡은 기준 에이전트와 무엇이 다른지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Code에서 Claude Code로 진행합니다. 공용 온톨로지의 관계와 제공된 센서 입력을 읽어 후보 원인과 증거, 다음 점검 순서를 내는 에이전트를 구성합니다. 여러 센서의 증거를 함께 견주어 후보를 가립니다. 확인되지 않은 원인은 단정하지 않고 가설로 표시해야 합니다. 끝나면 점검 계획과 그 계획에 쓴 근거가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에이전트 위에 놓인 문서가 수행 방법을 적은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과열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스킬이 실제로 놓이는 자리입니다. 에이전트는 실행마다 작업 폴더 하나를 받고, 그 안에 이번 일의 입력과 배정된 스킬과 결과를 쓸 자리가 있습니다. 쿨러 경보의 실행 기록은 「배정된 스킬 1개를 작업 폴더에 넣고 실행합니다」라는 줄로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두 항목은 하는 일이 다릅니다. name은 스킬을 가리키는 식별자여서 쓸 수 있는 글자가 정해져 있고 폴더 이름과 같아야 합니다. description은 이 스킬을 언제 쓰는지를 알려 주는 한 줄이며, 스킬의 호출 조건이 이 자리에 적힙니다. 그래서 설명이 모호하면 스킬이 엉뚱한 일에 쓰이거나 필요한 일에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지침이 실제로 쓰이는 장면입니다. 진단 도구의 응답에는 withheld라는 항목이 있습니다. 이 값이 false이면 원인 1순위가 정해져 다음 단계로 넘어갑니다. true이면 근거를 확인하지 못했다는 뜻이고, 스킬은 이때 원인을 지어내지 말고 보류로 내라고 적어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결과 절에 적힌 다섯 항목이 출력의 최상위 항목과 하나씩 맞습니다. 항목의 이름이 정해져 있어서 사람에게 승인을 받는 다음 단계가 실행마다 같은 이름으로 값을 읽습니다. 추천 값 skill:sop-cool-11은 팬 최대 운전을 가리키는 식별자입니다.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원문에는 HYD-01도, 쿨러 핀 오염도, SOP-COOL-11도 적혀 있지 않았습니다. 설비와 경보 번호는 입력 파일에서 읽고, 원인과 조치 후보는 도구가 지식 그래프에서 읽어 주며, 냉각 효율과 납기 같은 값은 도구가 조회 시점에 가져옵니다. 스킬에 남는 것은 방법뿐이어서, 설비나 경보가 달라져도 같은 스킬이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재사용이 실제로 일어난 모습입니다. 왼쪽의 스킬 한 편이 번호가 다른 두 쿨러 경보에 쓰였습니다. 두 실행은 같은 절차를 따랐고 저마다 판단 하나씩을 제출했습니다. 다음 경보가 와도 같은 스킬이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프롬프트에 직접 적어 줄 수도 있습니다. 다만 프롬프트는 그 실행 한 번에 쓰이고 끝나며, 다음에 같은 일을 시키려면 다시 써야 합니다. 스킬은 이름으로 보관되어 여러 에이전트와 여러 실행에 붙고, 한곳을 고치면 모두에 반영됩니다. 가르는 기준은 이 일을 다음에도 같은 방법으로 해야 하는가입니다.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스킬을 직접 쓸 때 지킬 것을 넷으로 줄였습니다. description에는 어떤 요청에 쓰는 스킬인지를 한 줄로 밝힙니다. 절차의 도구 이름은 실제 도구 목록에서 그대로 옮겨 적습니다. 근거가 없을 때 지어내지 않도록 행동을 정해 두고, 결과 항목의 이름은 다음 단계가 읽는 이름이므로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담당자가 겹치는 항목과 기한이 적혀 있지 않은 항목은 지어내지 않고 겹침과 미정으로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맨 앞의 result가 성공 여부를 알리고, document 안에 읽은 시각과 값이 들어 있습니다. facts는 판단에 바로 쓰는 값이고 records는 업무 DB에서 읽은 원래의 행입니다. 납기 오더 MO-0930-0412가 5.98시간 남았다는 값이 여기서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넷의 몫을 나누어 보겠습니다. 모델이 하는 일은 어느 도구를 어떤 값으로 부르겠다는 요청을 내는 데까지입니다. 호스트가 그 요청을 받아 허용된 도구인지 확인하고, 클라이언트가 서버에 전달하며, 실행은 서버가 합니다.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주는 허용 목록의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응답의 네 가지 경우를 구분합니다. 조회가 성공했는데 결과가 0행이면 「없음」이 사실입니다. 호출이 실패했거나 정해진 시간을 넘겼으면 값이 있는지 없는지를 알 수 없으므로 실패로 적어야 합니다. 실패를 0이나 빈 값으로 바꾸면 재고가 없다는 틀린 사실이 판단에 들어갑니다. 응답이 잘렸을 때는 읽지 못한 범위를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포털에서 쓰는 MCP와 내 PC의 Claude Code에서 쓰는 MCP는 규약이 같고 운영 방식이 다릅니다. 포털은 여러 사람이 함께 쓰므로 등록과 연결 검사를 거치고 읽기 도구만 허용합니다. 로컬에서는 설정 파일에 서버를 적고, 도구를 쓸 때 사용자가 직접 허용합니다. 로컬에서는 안전 기준을 지키는 일이 사용자 자신의 몫이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실습은 두 곳에서 진행합니다. 먼저 HYD 포털에서 업무 DB 서버의 연결 상태를 확인하고 읽기 도구를 불러 봅니다. 다음으로 VS Code의 Claude Code에 파일시스템, Git, 시간 서버를 연결하고 접근 권한을 서버별로 정합니다. 파일 내용과 변경 이력과 시간을 한 요청에서 이어 불러 작업 요약을 만든 뒤, 서버마다 허용된 일과 호출이 실패했을 때의 모습을 견줍니다. 포털과 로컬의 연결 방식이 어떻게 다른지도 이 실습에서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여덟 개와 함께 실행 고리, 정보원, 멈춤 조건, 실행 기록, 호스트, 클라이언트, 서버, 도구, 입력 스키마, 허용 목록이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같은 일을 방법을 바꾸어 다시 한 경우에 해당하는 말이며 이 장면과는 다릅니다. 둘째 문항의 1번과 2번은 스킬을 고치는 일이어서 빠진 연결을 채우지 못합니다.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3.png"/><Relationship Id="rId4" Type="http://schemas.openxmlformats.org/officeDocument/2006/relationships/image" Target="../media/image37.png"/><Relationship Id="rId5"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12.png"/><Relationship Id="rId6"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7.png"/><Relationship Id="rId4" Type="http://schemas.openxmlformats.org/officeDocument/2006/relationships/image" Target="../media/image16.png"/><Relationship Id="rId5" Type="http://schemas.openxmlformats.org/officeDocument/2006/relationships/image" Target="../media/image4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46.png"/><Relationship Id="rId6"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9.png"/><Relationship Id="rId4" Type="http://schemas.openxmlformats.org/officeDocument/2006/relationships/image" Target="../media/image30.png"/><Relationship Id="rId5" Type="http://schemas.openxmlformats.org/officeDocument/2006/relationships/image" Target="../media/image38.png"/><Relationship Id="rId6" Type="http://schemas.openxmlformats.org/officeDocument/2006/relationships/image" Target="../media/image5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5.png"/><Relationship Id="rId4" Type="http://schemas.openxmlformats.org/officeDocument/2006/relationships/image" Target="../media/image4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0.png"/><Relationship Id="rId4" Type="http://schemas.openxmlformats.org/officeDocument/2006/relationships/image" Target="../media/image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43.png"/><Relationship Id="rId6" Type="http://schemas.openxmlformats.org/officeDocument/2006/relationships/image" Target="../media/image5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7.png"/><Relationship Id="rId4" Type="http://schemas.openxmlformats.org/officeDocument/2006/relationships/image" Target="../media/image60.png"/><Relationship Id="rId5" Type="http://schemas.openxmlformats.org/officeDocument/2006/relationships/image" Target="../media/image3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47.png"/><Relationship Id="rId4" Type="http://schemas.openxmlformats.org/officeDocument/2006/relationships/image" Target="../media/image67.png"/><Relationship Id="rId5" Type="http://schemas.openxmlformats.org/officeDocument/2006/relationships/image" Target="../media/image8.png"/><Relationship Id="rId6" Type="http://schemas.openxmlformats.org/officeDocument/2006/relationships/image" Target="../media/image6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png"/><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25.png"/><Relationship Id="rId4" Type="http://schemas.openxmlformats.org/officeDocument/2006/relationships/image" Target="../media/image2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0.png"/><Relationship Id="rId6" Type="http://schemas.openxmlformats.org/officeDocument/2006/relationships/image" Target="../media/image4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4일차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업무를 수행하는 에이전트와</a:t>
            </a:r>
          </a:p>
          <a:p>
            <a:pPr algn="l">
              <a:lnSpc>
                <a:spcPct val="110000"/>
              </a:lnSpc>
            </a:pPr>
            <a:r>
              <a:rPr sz="4000" b="1">
                <a:solidFill>
                  <a:srgbClr val="FFFFFF"/>
                </a:solidFill>
                <a:latin typeface="맑은 고딕"/>
                <a:ea typeface="맑은 고딕"/>
                <a:cs typeface="맑은 고딕"/>
              </a:rPr>
              <a:t>재사용 지침, 외부 시스템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도구를 쓰며 목표까지 일하는 에이전트의 구조, 업무 지침의 재사용, 외부 시스템 연결의 표준과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text" descr="file-tex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ug-connected" descr="plug-connected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쓰는 에이전트가 일하는 과정과, 그 일을 지침으로 남기고 외부 시스템에 안전하게 잇는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방식과 실행 고리</a:t>
            </a:r>
          </a:p>
          <a:p>
            <a:pPr algn="l">
              <a:lnSpc>
                <a:spcPct val="110000"/>
              </a:lnSpc>
              <a:spcAft>
                <a:spcPts val="400"/>
              </a:spcAft>
            </a:pPr>
            <a:r>
              <a:rPr sz="1350" b="0">
                <a:solidFill>
                  <a:srgbClr val="1F2A3A"/>
                </a:solidFill>
                <a:latin typeface="맑은 고딕"/>
                <a:ea typeface="맑은 고딕"/>
                <a:cs typeface="맑은 고딕"/>
              </a:rPr>
              <a:t>• 한 번 답하는 모델과 에이전트의 차이를 같은 요청으로 견준다</a:t>
            </a:r>
          </a:p>
          <a:p>
            <a:pPr algn="l">
              <a:lnSpc>
                <a:spcPct val="110000"/>
              </a:lnSpc>
              <a:spcAft>
                <a:spcPts val="400"/>
              </a:spcAft>
            </a:pPr>
            <a:r>
              <a:rPr sz="1350" b="0">
                <a:solidFill>
                  <a:srgbClr val="1F2A3A"/>
                </a:solidFill>
                <a:latin typeface="맑은 고딕"/>
                <a:ea typeface="맑은 고딕"/>
                <a:cs typeface="맑은 고딕"/>
              </a:rPr>
              <a:t>• 실행 고리의 단계를 처리 기록에서 짚는다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멈춤 조건</a:t>
            </a:r>
          </a:p>
          <a:p>
            <a:pPr algn="l">
              <a:lnSpc>
                <a:spcPct val="110000"/>
              </a:lnSpc>
              <a:spcAft>
                <a:spcPts val="400"/>
              </a:spcAft>
            </a:pPr>
            <a:r>
              <a:rPr sz="1350" b="0">
                <a:solidFill>
                  <a:srgbClr val="1F2A3A"/>
                </a:solidFill>
                <a:latin typeface="맑은 고딕"/>
                <a:ea typeface="맑은 고딕"/>
                <a:cs typeface="맑은 고딕"/>
              </a:rPr>
              <a:t>• 정보원이 답하는 물음을 가르고 근거가 모자랄 때 멈추는 조건을 든다</a:t>
            </a:r>
          </a:p>
          <a:p>
            <a:pPr algn="l">
              <a:lnSpc>
                <a:spcPct val="110000"/>
              </a:lnSpc>
              <a:spcAft>
                <a:spcPts val="400"/>
              </a:spcAft>
            </a:pPr>
            <a:r>
              <a:rPr sz="1350" b="0">
                <a:solidFill>
                  <a:srgbClr val="1F2A3A"/>
                </a:solidFill>
                <a:latin typeface="맑은 고딕"/>
                <a:ea typeface="맑은 고딕"/>
                <a:cs typeface="맑은 고딕"/>
              </a:rPr>
              <a:t>• 실패했을 때 실행 기록에서 확인할 것을 설명한다</a:t>
            </a:r>
          </a:p>
        </p:txBody>
      </p:sp>
      <p:sp>
        <p:nvSpPr>
          <p:cNvPr id="16" name="Rounded Rectangle 15"/>
          <p:cNvSpPr/>
          <p:nvPr/>
        </p:nvSpPr>
        <p:spPr>
          <a:xfrm>
            <a:off x="3619423" y="534352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파일이 정하는 호출 조건, 입력, 절차, 출력을 원문에서 짚는다</a:t>
            </a:r>
          </a:p>
          <a:p>
            <a:pPr algn="l">
              <a:lnSpc>
                <a:spcPct val="110000"/>
              </a:lnSpc>
              <a:spcAft>
                <a:spcPts val="400"/>
              </a:spcAft>
            </a:pPr>
            <a:r>
              <a:rPr sz="1350" b="0">
                <a:solidFill>
                  <a:srgbClr val="1F2A3A"/>
                </a:solidFill>
                <a:latin typeface="맑은 고딕"/>
                <a:ea typeface="맑은 고딕"/>
                <a:cs typeface="맑은 고딕"/>
              </a:rPr>
              <a:t>• 현장의 SOP와 구분한다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plug-connected" descr="plug-connected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외부 시스템 연결</a:t>
            </a:r>
          </a:p>
          <a:p>
            <a:pPr algn="l">
              <a:lnSpc>
                <a:spcPct val="110000"/>
              </a:lnSpc>
              <a:spcAft>
                <a:spcPts val="400"/>
              </a:spcAft>
            </a:pPr>
            <a:r>
              <a:rPr sz="1350" b="0">
                <a:solidFill>
                  <a:srgbClr val="1F2A3A"/>
                </a:solidFill>
                <a:latin typeface="맑은 고딕"/>
                <a:ea typeface="맑은 고딕"/>
                <a:cs typeface="맑은 고딕"/>
              </a:rPr>
              <a:t>• 호스트, 클라이언트, 서버, 도구의 관계를 설명한다</a:t>
            </a:r>
          </a:p>
          <a:p>
            <a:pPr algn="l">
              <a:lnSpc>
                <a:spcPct val="110000"/>
              </a:lnSpc>
              <a:spcAft>
                <a:spcPts val="400"/>
              </a:spcAft>
            </a:pPr>
            <a:r>
              <a:rPr sz="1350" b="0">
                <a:solidFill>
                  <a:srgbClr val="1F2A3A"/>
                </a:solidFill>
                <a:latin typeface="맑은 고딕"/>
                <a:ea typeface="맑은 고딕"/>
                <a:cs typeface="맑은 고딕"/>
              </a:rPr>
              <a:t>• 읽기와 쓰기 권한, 포털과 로컬 설정의 차이를 가른다</a:t>
            </a:r>
          </a:p>
        </p:txBody>
      </p:sp>
      <p:sp>
        <p:nvSpPr>
          <p:cNvPr id="28" name="Rounded Rectangle 27"/>
          <p:cNvSpPr/>
          <p:nvPr/>
        </p:nvSpPr>
        <p:spPr>
          <a:xfrm>
            <a:off x="9303791" y="534352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일하는 에이전트의 실행 고리와 정보원 · 도구 사용 원리</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외부 시스템 연결과 도구 연결의 안전 기준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일하는 에이전트의 실행 고리와</a:t>
            </a:r>
          </a:p>
          <a:p>
            <a:pPr algn="l">
              <a:lnSpc>
                <a:spcPct val="110000"/>
              </a:lnSpc>
            </a:pPr>
            <a:r>
              <a:rPr sz="3400" b="1">
                <a:solidFill>
                  <a:srgbClr val="13294B"/>
                </a:solidFill>
                <a:latin typeface="맑은 고딕"/>
                <a:ea typeface="맑은 고딕"/>
                <a:cs typeface="맑은 고딕"/>
              </a:rPr>
              <a:t>정보원 · 도구 사용 원리</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도구를 쓰며 일하는 에이전트의 실행 순서와, 읽는 정보원과 멈추는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6979831260010377243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RAG(Retrieval-Augmented Generation): 문서를 찾아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RAG는 질문과 가까운 문서 조각을 찾아 모델에 함께 넣어, 모델이 학습하지 않은 문서의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세요소.svg" descr="illust_7435296956249524559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실행고리.svg" descr="illust_6014198067275793459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계획: 목표를 도구 호출의 순서로 푼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계획은 목표를 도구 호출의 순서로 풀어 놓은 것이며, 쿨러 사건에서는 업무 지침의 다섯 단계가 그 뼈대였다.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ectangle 5"/>
          <p:cNvSpPr/>
          <p:nvPr/>
        </p:nvSpPr>
        <p:spPr>
          <a:xfrm>
            <a:off x="1658081" y="3154426"/>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73837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440911" y="2955544"/>
            <a:ext cx="434340" cy="434340"/>
          </a:xfrm>
          <a:prstGeom prst="rect">
            <a:avLst/>
          </a:prstGeom>
        </p:spPr>
      </p:pic>
      <p:sp>
        <p:nvSpPr>
          <p:cNvPr id="9" name="Oval 8"/>
          <p:cNvSpPr/>
          <p:nvPr/>
        </p:nvSpPr>
        <p:spPr>
          <a:xfrm>
            <a:off x="1818101" y="2692654"/>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1818101"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입력 확인</a:t>
            </a:r>
          </a:p>
          <a:p>
            <a:pPr algn="ctr">
              <a:lnSpc>
                <a:spcPct val="110000"/>
              </a:lnSpc>
              <a:spcAft>
                <a:spcPts val="400"/>
              </a:spcAft>
            </a:pPr>
            <a:r>
              <a:rPr sz="1300" b="0">
                <a:solidFill>
                  <a:srgbClr val="1F2A3A"/>
                </a:solidFill>
                <a:latin typeface="맑은 고딕"/>
                <a:ea typeface="맑은 고딕"/>
                <a:cs typeface="맑은 고딕"/>
              </a:rPr>
              <a:t>설비, 경보의 종류,</a:t>
            </a:r>
          </a:p>
          <a:p>
            <a:pPr algn="ctr">
              <a:lnSpc>
                <a:spcPct val="110000"/>
              </a:lnSpc>
              <a:spcAft>
                <a:spcPts val="400"/>
              </a:spcAft>
            </a:pPr>
            <a:r>
              <a:rPr sz="1300" b="0">
                <a:solidFill>
                  <a:srgbClr val="1F2A3A"/>
                </a:solidFill>
                <a:latin typeface="맑은 고딕"/>
                <a:ea typeface="맑은 고딕"/>
                <a:cs typeface="맑은 고딕"/>
              </a:rPr>
              <a:t>경보 번호를 읽는다</a:t>
            </a:r>
          </a:p>
        </p:txBody>
      </p:sp>
      <p:sp>
        <p:nvSpPr>
          <p:cNvPr id="12" name="Oval 11"/>
          <p:cNvSpPr/>
          <p:nvPr/>
        </p:nvSpPr>
        <p:spPr>
          <a:xfrm>
            <a:off x="3442624"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3659794" y="2955544"/>
            <a:ext cx="434340" cy="434340"/>
          </a:xfrm>
          <a:prstGeom prst="rect">
            <a:avLst/>
          </a:prstGeom>
        </p:spPr>
      </p:pic>
      <p:sp>
        <p:nvSpPr>
          <p:cNvPr id="14" name="Oval 13"/>
          <p:cNvSpPr/>
          <p:nvPr/>
        </p:nvSpPr>
        <p:spPr>
          <a:xfrm>
            <a:off x="4036984" y="2692654"/>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036984"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2840675"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원인 진단</a:t>
            </a:r>
          </a:p>
          <a:p>
            <a:pPr algn="ctr">
              <a:lnSpc>
                <a:spcPct val="110000"/>
              </a:lnSpc>
              <a:spcAft>
                <a:spcPts val="400"/>
              </a:spcAft>
            </a:pPr>
            <a:r>
              <a:rPr sz="1300" b="0">
                <a:solidFill>
                  <a:srgbClr val="1F2A3A"/>
                </a:solidFill>
                <a:latin typeface="맑은 고딕"/>
                <a:ea typeface="맑은 고딕"/>
                <a:cs typeface="맑은 고딕"/>
              </a:rPr>
              <a:t>원인 1순위와</a:t>
            </a:r>
          </a:p>
          <a:p>
            <a:pPr algn="ctr">
              <a:lnSpc>
                <a:spcPct val="110000"/>
              </a:lnSpc>
              <a:spcAft>
                <a:spcPts val="400"/>
              </a:spcAft>
            </a:pPr>
            <a:r>
              <a:rPr sz="1300" b="0">
                <a:solidFill>
                  <a:srgbClr val="1F2A3A"/>
                </a:solidFill>
                <a:latin typeface="맑은 고딕"/>
                <a:ea typeface="맑은 고딕"/>
                <a:cs typeface="맑은 고딕"/>
              </a:rPr>
              <a:t>고장 유형을 얻는다</a:t>
            </a:r>
          </a:p>
        </p:txBody>
      </p:sp>
      <p:sp>
        <p:nvSpPr>
          <p:cNvPr id="17" name="Oval 16"/>
          <p:cNvSpPr/>
          <p:nvPr/>
        </p:nvSpPr>
        <p:spPr>
          <a:xfrm>
            <a:off x="5661507"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5878677" y="2955544"/>
            <a:ext cx="434340" cy="434340"/>
          </a:xfrm>
          <a:prstGeom prst="rect">
            <a:avLst/>
          </a:prstGeom>
        </p:spPr>
      </p:pic>
      <p:sp>
        <p:nvSpPr>
          <p:cNvPr id="19" name="Oval 18"/>
          <p:cNvSpPr/>
          <p:nvPr/>
        </p:nvSpPr>
        <p:spPr>
          <a:xfrm>
            <a:off x="6255867" y="2692654"/>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6255867"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5059558"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업무 값 확인</a:t>
            </a:r>
          </a:p>
          <a:p>
            <a:pPr algn="ctr">
              <a:lnSpc>
                <a:spcPct val="110000"/>
              </a:lnSpc>
              <a:spcAft>
                <a:spcPts val="400"/>
              </a:spcAft>
            </a:pPr>
            <a:r>
              <a:rPr sz="1300" b="0">
                <a:solidFill>
                  <a:srgbClr val="1F2A3A"/>
                </a:solidFill>
                <a:latin typeface="맑은 고딕"/>
                <a:ea typeface="맑은 고딕"/>
                <a:cs typeface="맑은 고딕"/>
              </a:rPr>
              <a:t>납기 오더와</a:t>
            </a:r>
          </a:p>
          <a:p>
            <a:pPr algn="ctr">
              <a:lnSpc>
                <a:spcPct val="110000"/>
              </a:lnSpc>
              <a:spcAft>
                <a:spcPts val="400"/>
              </a:spcAft>
            </a:pPr>
            <a:r>
              <a:rPr sz="1300" b="0">
                <a:solidFill>
                  <a:srgbClr val="1F2A3A"/>
                </a:solidFill>
                <a:latin typeface="맑은 고딕"/>
                <a:ea typeface="맑은 고딕"/>
                <a:cs typeface="맑은 고딕"/>
              </a:rPr>
              <a:t>출하 대기 로트를 본다</a:t>
            </a:r>
          </a:p>
        </p:txBody>
      </p:sp>
      <p:sp>
        <p:nvSpPr>
          <p:cNvPr id="22" name="Oval 21"/>
          <p:cNvSpPr/>
          <p:nvPr/>
        </p:nvSpPr>
        <p:spPr>
          <a:xfrm>
            <a:off x="7880390" y="2738374"/>
            <a:ext cx="868680" cy="86868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097560" y="2955544"/>
            <a:ext cx="434340" cy="434340"/>
          </a:xfrm>
          <a:prstGeom prst="rect">
            <a:avLst/>
          </a:prstGeom>
        </p:spPr>
      </p:pic>
      <p:sp>
        <p:nvSpPr>
          <p:cNvPr id="24" name="Oval 23"/>
          <p:cNvSpPr/>
          <p:nvPr/>
        </p:nvSpPr>
        <p:spPr>
          <a:xfrm>
            <a:off x="8474750" y="2692654"/>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8474750"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727844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대안 평가</a:t>
            </a:r>
          </a:p>
          <a:p>
            <a:pPr algn="ctr">
              <a:lnSpc>
                <a:spcPct val="110000"/>
              </a:lnSpc>
              <a:spcAft>
                <a:spcPts val="400"/>
              </a:spcAft>
            </a:pPr>
            <a:r>
              <a:rPr sz="1300" b="0">
                <a:solidFill>
                  <a:srgbClr val="1F2A3A"/>
                </a:solidFill>
                <a:latin typeface="맑은 고딕"/>
                <a:ea typeface="맑은 고딕"/>
                <a:cs typeface="맑은 고딕"/>
              </a:rPr>
              <a:t>후보의 규정 판정,</a:t>
            </a:r>
          </a:p>
          <a:p>
            <a:pPr algn="ctr">
              <a:lnSpc>
                <a:spcPct val="110000"/>
              </a:lnSpc>
              <a:spcAft>
                <a:spcPts val="400"/>
              </a:spcAft>
            </a:pPr>
            <a:r>
              <a:rPr sz="1300" b="0">
                <a:solidFill>
                  <a:srgbClr val="1F2A3A"/>
                </a:solidFill>
                <a:latin typeface="맑은 고딕"/>
                <a:ea typeface="맑은 고딕"/>
                <a:cs typeface="맑은 고딕"/>
              </a:rPr>
              <a:t>예측 유온, 순위를 본다</a:t>
            </a:r>
          </a:p>
        </p:txBody>
      </p:sp>
      <p:sp>
        <p:nvSpPr>
          <p:cNvPr id="27" name="Oval 26"/>
          <p:cNvSpPr/>
          <p:nvPr/>
        </p:nvSpPr>
        <p:spPr>
          <a:xfrm>
            <a:off x="10099273" y="2738374"/>
            <a:ext cx="868680" cy="868680"/>
          </a:xfrm>
          <a:prstGeom prst="ellipse">
            <a:avLst/>
          </a:prstGeom>
          <a:solidFill>
            <a:srgbClr val="FFFFFF"/>
          </a:solidFill>
          <a:ln w="25400">
            <a:solidFill>
              <a:srgbClr val="13294B"/>
            </a:solidFill>
          </a:ln>
        </p:spPr>
        <p:txBody>
          <a:bodyPr rtlCol="0" anchor="ctr"/>
          <a:lstStyle/>
          <a:p>
            <a:pPr algn="ctr"/>
          </a:p>
        </p:txBody>
      </p:sp>
      <p:pic>
        <p:nvPicPr>
          <p:cNvPr id="28" name="아이콘:send" descr="send_13294B_1.6.png"/>
          <p:cNvPicPr>
            <a:picLocks noChangeAspect="1"/>
          </p:cNvPicPr>
          <p:nvPr/>
        </p:nvPicPr>
        <p:blipFill>
          <a:blip r:embed="rId7"/>
          <a:stretch>
            <a:fillRect/>
          </a:stretch>
        </p:blipFill>
        <p:spPr>
          <a:xfrm>
            <a:off x="10316443" y="2955544"/>
            <a:ext cx="434340" cy="434340"/>
          </a:xfrm>
          <a:prstGeom prst="rect">
            <a:avLst/>
          </a:prstGeom>
        </p:spPr>
      </p:pic>
      <p:sp>
        <p:nvSpPr>
          <p:cNvPr id="29" name="Oval 28"/>
          <p:cNvSpPr/>
          <p:nvPr/>
        </p:nvSpPr>
        <p:spPr>
          <a:xfrm>
            <a:off x="10693633" y="2692654"/>
            <a:ext cx="347472" cy="347472"/>
          </a:xfrm>
          <a:prstGeom prst="ellipse">
            <a:avLst/>
          </a:prstGeom>
          <a:solidFill>
            <a:srgbClr val="13294B"/>
          </a:solidFill>
          <a:ln>
            <a:noFill/>
          </a:ln>
        </p:spPr>
        <p:txBody>
          <a:bodyPr rtlCol="0" anchor="ctr"/>
          <a:lstStyle/>
          <a:p>
            <a:pPr algn="ctr"/>
          </a:p>
        </p:txBody>
      </p:sp>
      <p:sp>
        <p:nvSpPr>
          <p:cNvPr id="30" name="TextBox 29"/>
          <p:cNvSpPr txBox="1"/>
          <p:nvPr/>
        </p:nvSpPr>
        <p:spPr>
          <a:xfrm>
            <a:off x="10693633"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5</a:t>
            </a:r>
          </a:p>
        </p:txBody>
      </p:sp>
      <p:sp>
        <p:nvSpPr>
          <p:cNvPr id="31" name="TextBox 30"/>
          <p:cNvSpPr txBox="1"/>
          <p:nvPr/>
        </p:nvSpPr>
        <p:spPr>
          <a:xfrm>
            <a:off x="9497324"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판단 제출</a:t>
            </a:r>
          </a:p>
          <a:p>
            <a:pPr algn="ctr">
              <a:lnSpc>
                <a:spcPct val="110000"/>
              </a:lnSpc>
              <a:spcAft>
                <a:spcPts val="400"/>
              </a:spcAft>
            </a:pPr>
            <a:r>
              <a:rPr sz="1300" b="0">
                <a:solidFill>
                  <a:srgbClr val="1F2A3A"/>
                </a:solidFill>
                <a:latin typeface="맑은 고딕"/>
                <a:ea typeface="맑은 고딕"/>
                <a:cs typeface="맑은 고딕"/>
              </a:rPr>
              <a:t>추천안을 제출하고</a:t>
            </a:r>
          </a:p>
          <a:p>
            <a:pPr algn="ctr">
              <a:lnSpc>
                <a:spcPct val="110000"/>
              </a:lnSpc>
              <a:spcAft>
                <a:spcPts val="400"/>
              </a:spcAft>
            </a:pPr>
            <a:r>
              <a:rPr sz="1300" b="0">
                <a:solidFill>
                  <a:srgbClr val="1F2A3A"/>
                </a:solidFill>
                <a:latin typeface="맑은 고딕"/>
                <a:ea typeface="맑은 고딕"/>
                <a:cs typeface="맑은 고딕"/>
              </a:rPr>
              <a:t>판단 번호를 받는다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재시도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대안 평가가 돌려준 결과가 128,466자로 길자, 에이전트는 필요한 항목만 좁혀 다시 뽑는 쪽으로 계획을 고쳤다.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관찰</a:t>
            </a:r>
          </a:p>
          <a:p>
            <a:pPr algn="ctr">
              <a:lnSpc>
                <a:spcPct val="110000"/>
              </a:lnSpc>
              <a:spcAft>
                <a:spcPts val="400"/>
              </a:spcAft>
            </a:pPr>
            <a:r>
              <a:rPr sz="1350" b="0">
                <a:solidFill>
                  <a:srgbClr val="1F2A3A"/>
                </a:solidFill>
                <a:latin typeface="맑은 고딕"/>
                <a:ea typeface="맑은 고딕"/>
                <a:cs typeface="맑은 고딕"/>
              </a:rPr>
              <a:t>11:13:23</a:t>
            </a:r>
          </a:p>
          <a:p>
            <a:pPr algn="ctr">
              <a:lnSpc>
                <a:spcPct val="110000"/>
              </a:lnSpc>
              <a:spcAft>
                <a:spcPts val="400"/>
              </a:spcAft>
            </a:pPr>
            <a:r>
              <a:rPr sz="1350" b="0">
                <a:solidFill>
                  <a:srgbClr val="1F2A3A"/>
                </a:solidFill>
                <a:latin typeface="맑은 고딕"/>
                <a:ea typeface="맑은 고딕"/>
                <a:cs typeface="맑은 고딕"/>
              </a:rPr>
              <a:t>대안 평가의 결과가</a:t>
            </a:r>
          </a:p>
          <a:p>
            <a:pPr algn="ctr">
              <a:lnSpc>
                <a:spcPct val="110000"/>
              </a:lnSpc>
              <a:spcAft>
                <a:spcPts val="400"/>
              </a:spcAft>
            </a:pPr>
            <a:r>
              <a:rPr sz="1350" b="0">
                <a:solidFill>
                  <a:srgbClr val="1F2A3A"/>
                </a:solidFill>
                <a:latin typeface="맑은 고딕"/>
                <a:ea typeface="맑은 고딕"/>
                <a:cs typeface="맑은 고딕"/>
              </a:rPr>
              <a:t>128,466자이다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계획 수정</a:t>
            </a:r>
          </a:p>
          <a:p>
            <a:pPr algn="ctr">
              <a:lnSpc>
                <a:spcPct val="110000"/>
              </a:lnSpc>
              <a:spcAft>
                <a:spcPts val="400"/>
              </a:spcAft>
            </a:pPr>
            <a:r>
              <a:rPr sz="1350" b="0">
                <a:solidFill>
                  <a:srgbClr val="1F2A3A"/>
                </a:solidFill>
                <a:latin typeface="맑은 고딕"/>
                <a:ea typeface="맑은 고딕"/>
                <a:cs typeface="맑은 고딕"/>
              </a:rPr>
              <a:t>11:13:40</a:t>
            </a:r>
          </a:p>
          <a:p>
            <a:pPr algn="ctr">
              <a:lnSpc>
                <a:spcPct val="110000"/>
              </a:lnSpc>
              <a:spcAft>
                <a:spcPts val="400"/>
              </a:spcAft>
            </a:pPr>
            <a:r>
              <a:rPr sz="1350" b="0">
                <a:solidFill>
                  <a:srgbClr val="1F2A3A"/>
                </a:solidFill>
                <a:latin typeface="맑은 고딕"/>
                <a:ea typeface="맑은 고딕"/>
                <a:cs typeface="맑은 고딕"/>
              </a:rPr>
              <a:t>「순위와 규정 판정만</a:t>
            </a:r>
          </a:p>
          <a:p>
            <a:pPr algn="ctr">
              <a:lnSpc>
                <a:spcPct val="110000"/>
              </a:lnSpc>
              <a:spcAft>
                <a:spcPts val="400"/>
              </a:spcAft>
            </a:pPr>
            <a:r>
              <a:rPr sz="1350" b="0">
                <a:solidFill>
                  <a:srgbClr val="1F2A3A"/>
                </a:solidFill>
                <a:latin typeface="맑은 고딕"/>
                <a:ea typeface="맑은 고딕"/>
                <a:cs typeface="맑은 고딕"/>
              </a:rPr>
              <a:t>간추려 보겠습니다.」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재시도</a:t>
            </a:r>
          </a:p>
          <a:p>
            <a:pPr algn="ctr">
              <a:lnSpc>
                <a:spcPct val="110000"/>
              </a:lnSpc>
              <a:spcAft>
                <a:spcPts val="400"/>
              </a:spcAft>
            </a:pPr>
            <a:r>
              <a:rPr sz="1350" b="0">
                <a:solidFill>
                  <a:srgbClr val="1F2A3A"/>
                </a:solidFill>
                <a:latin typeface="맑은 고딕"/>
                <a:ea typeface="맑은 고딕"/>
                <a:cs typeface="맑은 고딕"/>
              </a:rPr>
              <a:t>11:13:46</a:t>
            </a:r>
          </a:p>
          <a:p>
            <a:pPr algn="ctr">
              <a:lnSpc>
                <a:spcPct val="110000"/>
              </a:lnSpc>
              <a:spcAft>
                <a:spcPts val="400"/>
              </a:spcAft>
            </a:pPr>
            <a:r>
              <a:rPr sz="1350" b="0">
                <a:solidFill>
                  <a:srgbClr val="1F2A3A"/>
                </a:solidFill>
                <a:latin typeface="맑은 고딕"/>
                <a:ea typeface="맑은 고딕"/>
                <a:cs typeface="맑은 고딕"/>
              </a:rPr>
              <a:t>「필요한 항목만 좁혀</a:t>
            </a:r>
          </a:p>
          <a:p>
            <a:pPr algn="ctr">
              <a:lnSpc>
                <a:spcPct val="110000"/>
              </a:lnSpc>
              <a:spcAft>
                <a:spcPts val="400"/>
              </a:spcAft>
            </a:pPr>
            <a:r>
              <a:rPr sz="1350" b="0">
                <a:solidFill>
                  <a:srgbClr val="1F2A3A"/>
                </a:solidFill>
                <a:latin typeface="맑은 고딕"/>
                <a:ea typeface="맑은 고딕"/>
                <a:cs typeface="맑은 고딕"/>
              </a:rPr>
              <a:t>다시 뽑겠습니다.」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사건의 업무 산출물: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에이전트가 낸 산출물은 원인, 추천 하나, 뒤진 대안 셋과 그 이유를 한데 묶은 추천안이다.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350" b="0">
                <a:solidFill>
                  <a:srgbClr val="1F2A3A"/>
                </a:solidFill>
                <a:latin typeface="맑은 고딕"/>
                <a:ea typeface="맑은 고딕"/>
                <a:cs typeface="맑은 고딕"/>
              </a:rPr>
              <a:t>• 쿨러 핀 오염</a:t>
            </a:r>
          </a:p>
          <a:p>
            <a:pPr algn="l">
              <a:lnSpc>
                <a:spcPct val="110000"/>
              </a:lnSpc>
              <a:spcAft>
                <a:spcPts val="400"/>
              </a:spcAft>
            </a:pPr>
            <a:r>
              <a:rPr sz="1350" b="0">
                <a:solidFill>
                  <a:srgbClr val="1F2A3A"/>
                </a:solidFill>
                <a:latin typeface="맑은 고딕"/>
                <a:ea typeface="맑은 고딕"/>
                <a:cs typeface="맑은 고딕"/>
              </a:rPr>
              <a:t>• 고장 유형은 쿨러 냉각 성능 상실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a:t>
            </a:r>
          </a:p>
        </p:txBody>
      </p:sp>
      <p:sp>
        <p:nvSpPr>
          <p:cNvPr id="12" name="Rounded Rectangle 11"/>
          <p:cNvSpPr/>
          <p:nvPr/>
        </p:nvSpPr>
        <p:spPr>
          <a:xfrm>
            <a:off x="3390823"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5CB8F2"/>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a:t>
            </a:r>
          </a:p>
          <a:p>
            <a:pPr algn="l">
              <a:lnSpc>
                <a:spcPct val="110000"/>
              </a:lnSpc>
              <a:spcAft>
                <a:spcPts val="400"/>
              </a:spcAft>
            </a:pPr>
            <a:r>
              <a:rPr sz="1350" b="0">
                <a:solidFill>
                  <a:srgbClr val="1F2A3A"/>
                </a:solidFill>
                <a:latin typeface="맑은 고딕"/>
                <a:ea typeface="맑은 고딕"/>
                <a:cs typeface="맑은 고딕"/>
              </a:rPr>
              <a:t>• 팬 최대 운전 · SOP-COOL-11</a:t>
            </a:r>
          </a:p>
          <a:p>
            <a:pPr algn="l">
              <a:lnSpc>
                <a:spcPct val="110000"/>
              </a:lnSpc>
              <a:spcAft>
                <a:spcPts val="400"/>
              </a:spcAft>
            </a:pPr>
            <a:r>
              <a:rPr sz="1350" b="0">
                <a:solidFill>
                  <a:srgbClr val="1F2A3A"/>
                </a:solidFill>
                <a:latin typeface="맑은 고딕"/>
                <a:ea typeface="맑은 고딕"/>
                <a:cs typeface="맑은 고딕"/>
              </a:rPr>
              <a:t>• 점수 3.38</a:t>
            </a:r>
          </a:p>
        </p:txBody>
      </p:sp>
      <p:sp>
        <p:nvSpPr>
          <p:cNvPr id="16" name="Rounded Rectangle 15"/>
          <p:cNvSpPr/>
          <p:nvPr/>
        </p:nvSpPr>
        <p:spPr>
          <a:xfrm>
            <a:off x="3619423" y="523894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1순위</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뒤진 대안</a:t>
            </a:r>
          </a:p>
          <a:p>
            <a:pPr algn="l">
              <a:lnSpc>
                <a:spcPct val="110000"/>
              </a:lnSpc>
              <a:spcAft>
                <a:spcPts val="400"/>
              </a:spcAft>
            </a:pPr>
            <a:r>
              <a:rPr sz="1350" b="0">
                <a:solidFill>
                  <a:srgbClr val="1F2A3A"/>
                </a:solidFill>
                <a:latin typeface="맑은 고딕"/>
                <a:ea typeface="맑은 고딕"/>
                <a:cs typeface="맑은 고딕"/>
              </a:rPr>
              <a:t>• 부하 70 %와 야간 핀 세척 2.75</a:t>
            </a:r>
          </a:p>
          <a:p>
            <a:pPr algn="l">
              <a:lnSpc>
                <a:spcPct val="110000"/>
              </a:lnSpc>
              <a:spcAft>
                <a:spcPts val="400"/>
              </a:spcAft>
            </a:pPr>
            <a:r>
              <a:rPr sz="1350" b="0">
                <a:solidFill>
                  <a:srgbClr val="1F2A3A"/>
                </a:solidFill>
                <a:latin typeface="맑은 고딕"/>
                <a:ea typeface="맑은 고딕"/>
                <a:cs typeface="맑은 고딕"/>
              </a:rPr>
              <a:t>• 팬 최대 운전과 부하 80 % 2.75</a:t>
            </a:r>
          </a:p>
          <a:p>
            <a:pPr algn="l">
              <a:lnSpc>
                <a:spcPct val="110000"/>
              </a:lnSpc>
              <a:spcAft>
                <a:spcPts val="400"/>
              </a:spcAft>
            </a:pPr>
            <a:r>
              <a:rPr sz="1350" b="0">
                <a:solidFill>
                  <a:srgbClr val="1F2A3A"/>
                </a:solidFill>
                <a:latin typeface="맑은 고딕"/>
                <a:ea typeface="맑은 고딕"/>
                <a:cs typeface="맑은 고딕"/>
              </a:rPr>
              <a:t>• 쿨러 핀 세척 -1.58</a:t>
            </a:r>
          </a:p>
        </p:txBody>
      </p:sp>
      <p:sp>
        <p:nvSpPr>
          <p:cNvPr id="22" name="Rounded Rectangle 21"/>
          <p:cNvSpPr/>
          <p:nvPr/>
        </p:nvSpPr>
        <p:spPr>
          <a:xfrm>
            <a:off x="6461607" y="5238940"/>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대안 셋</a:t>
            </a:r>
          </a:p>
        </p:txBody>
      </p:sp>
      <p:sp>
        <p:nvSpPr>
          <p:cNvPr id="24" name="Rounded Rectangle 23"/>
          <p:cNvSpPr/>
          <p:nvPr/>
        </p:nvSpPr>
        <p:spPr>
          <a:xfrm>
            <a:off x="9075191"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E7F3FD"/>
          </a:solidFill>
          <a:ln>
            <a:noFill/>
          </a:ln>
        </p:spPr>
        <p:txBody>
          <a:bodyPr rtlCol="0" anchor="ctr"/>
          <a:lstStyle/>
          <a:p>
            <a:pPr algn="ctr"/>
          </a:p>
        </p:txBody>
      </p:sp>
      <p:pic>
        <p:nvPicPr>
          <p:cNvPr id="26" name="아이콘:id" descr="id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설명과 번호</a:t>
            </a:r>
          </a:p>
          <a:p>
            <a:pPr algn="l">
              <a:lnSpc>
                <a:spcPct val="110000"/>
              </a:lnSpc>
              <a:spcAft>
                <a:spcPts val="400"/>
              </a:spcAft>
            </a:pPr>
            <a:r>
              <a:rPr sz="1350" b="0">
                <a:solidFill>
                  <a:srgbClr val="1F2A3A"/>
                </a:solidFill>
                <a:latin typeface="맑은 고딕"/>
                <a:ea typeface="맑은 고딕"/>
                <a:cs typeface="맑은 고딕"/>
              </a:rPr>
              <a:t>• 추천이 앞서고 대안이 뒤지는 이유</a:t>
            </a:r>
          </a:p>
          <a:p>
            <a:pPr algn="l">
              <a:lnSpc>
                <a:spcPct val="110000"/>
              </a:lnSpc>
              <a:spcAft>
                <a:spcPts val="400"/>
              </a:spcAft>
            </a:pPr>
            <a:r>
              <a:rPr sz="1350" b="0">
                <a:solidFill>
                  <a:srgbClr val="1F2A3A"/>
                </a:solidFill>
                <a:latin typeface="맑은 고딕"/>
                <a:ea typeface="맑은 고딕"/>
                <a:cs typeface="맑은 고딕"/>
              </a:rPr>
              <a:t>• 판단 번호 DEC-1010-002-408b</a:t>
            </a:r>
          </a:p>
        </p:txBody>
      </p:sp>
      <p:sp>
        <p:nvSpPr>
          <p:cNvPr id="28" name="Rounded Rectangle 27"/>
          <p:cNvSpPr/>
          <p:nvPr/>
        </p:nvSpPr>
        <p:spPr>
          <a:xfrm>
            <a:off x="9303791" y="5238940"/>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정보원.svg" descr="illust_4625031545110011487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350" b="0">
                <a:solidFill>
                  <a:srgbClr val="1F2A3A"/>
                </a:solidFill>
                <a:latin typeface="맑은 고딕"/>
                <a:ea typeface="맑은 고딕"/>
                <a:cs typeface="맑은 고딕"/>
              </a:rPr>
              <a:t>• 무엇과 무엇이 어떤 관계인가</a:t>
            </a:r>
          </a:p>
          <a:p>
            <a:pPr algn="l">
              <a:lnSpc>
                <a:spcPct val="110000"/>
              </a:lnSpc>
              <a:spcAft>
                <a:spcPts val="400"/>
              </a:spcAft>
            </a:pPr>
            <a:r>
              <a:rPr sz="13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134356"/>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시계열 DB</a:t>
            </a:r>
          </a:p>
          <a:p>
            <a:pPr algn="l">
              <a:lnSpc>
                <a:spcPct val="110000"/>
              </a:lnSpc>
              <a:spcAft>
                <a:spcPts val="400"/>
              </a:spcAft>
            </a:pPr>
            <a:r>
              <a:rPr sz="1350" b="0">
                <a:solidFill>
                  <a:srgbClr val="1F2A3A"/>
                </a:solidFill>
                <a:latin typeface="맑은 고딕"/>
                <a:ea typeface="맑은 고딕"/>
                <a:cs typeface="맑은 고딕"/>
              </a:rPr>
              <a:t>• 그 시각의 값이 얼마였는가</a:t>
            </a:r>
          </a:p>
          <a:p>
            <a:pPr algn="l">
              <a:lnSpc>
                <a:spcPct val="110000"/>
              </a:lnSpc>
              <a:spcAft>
                <a:spcPts val="400"/>
              </a:spcAft>
            </a:pPr>
            <a:r>
              <a:rPr sz="13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매초 바뀐다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DB</a:t>
            </a:r>
          </a:p>
          <a:p>
            <a:pPr algn="l">
              <a:lnSpc>
                <a:spcPct val="110000"/>
              </a:lnSpc>
              <a:spcAft>
                <a:spcPts val="400"/>
              </a:spcAft>
            </a:pPr>
            <a:r>
              <a:rPr sz="1350" b="0">
                <a:solidFill>
                  <a:srgbClr val="1F2A3A"/>
                </a:solidFill>
                <a:latin typeface="맑은 고딕"/>
                <a:ea typeface="맑은 고딕"/>
                <a:cs typeface="맑은 고딕"/>
              </a:rPr>
              <a:t>• 정비, 재고, 납기는 어떤 상태인가</a:t>
            </a:r>
          </a:p>
          <a:p>
            <a:pPr algn="l">
              <a:lnSpc>
                <a:spcPct val="110000"/>
              </a:lnSpc>
              <a:spcAft>
                <a:spcPts val="400"/>
              </a:spcAft>
            </a:pPr>
            <a:r>
              <a:rPr sz="1350" b="0">
                <a:solidFill>
                  <a:srgbClr val="1F2A3A"/>
                </a:solidFill>
                <a:latin typeface="맑은 고딕"/>
                <a:ea typeface="맑은 고딕"/>
                <a:cs typeface="맑은 고딕"/>
              </a:rPr>
              <a:t>• 업무 시스템이 남긴 기록을 담는다</a:t>
            </a:r>
          </a:p>
        </p:txBody>
      </p:sp>
      <p:sp>
        <p:nvSpPr>
          <p:cNvPr id="22" name="Rounded Rectangle 21"/>
          <p:cNvSpPr/>
          <p:nvPr/>
        </p:nvSpPr>
        <p:spPr>
          <a:xfrm>
            <a:off x="6461607" y="5134356"/>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350" b="0">
                <a:solidFill>
                  <a:srgbClr val="1F2A3A"/>
                </a:solidFill>
                <a:latin typeface="맑은 고딕"/>
                <a:ea typeface="맑은 고딕"/>
                <a:cs typeface="맑은 고딕"/>
              </a:rPr>
              <a:t>• 조치를 어떻게 수행하는가</a:t>
            </a:r>
          </a:p>
          <a:p>
            <a:pPr algn="l">
              <a:lnSpc>
                <a:spcPct val="110000"/>
              </a:lnSpc>
              <a:spcAft>
                <a:spcPts val="400"/>
              </a:spcAft>
            </a:pPr>
            <a:r>
              <a:rPr sz="13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134356"/>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작업 규칙은 지식, 지금의 값, 규칙 판정을 기억으로 채우지 말고 각각 정해진 도구로 확인하라고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 원인 후보, 증거 기준, 조치 방법</a:t>
            </a:r>
          </a:p>
          <a:p>
            <a:pPr algn="l">
              <a:lnSpc>
                <a:spcPct val="110000"/>
              </a:lnSpc>
              <a:spcAft>
                <a:spcPts val="400"/>
              </a:spcAft>
            </a:pPr>
            <a:r>
              <a:rPr sz="14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센서 값, 납기, 재고</a:t>
            </a:r>
          </a:p>
          <a:p>
            <a:pPr algn="l">
              <a:lnSpc>
                <a:spcPct val="110000"/>
              </a:lnSpc>
              <a:spcAft>
                <a:spcPts val="400"/>
              </a:spcAft>
            </a:pPr>
            <a:r>
              <a:rPr sz="1400" b="0">
                <a:solidFill>
                  <a:srgbClr val="1F2A3A"/>
                </a:solidFill>
                <a:latin typeface="맑은 고딕"/>
                <a:ea typeface="맑은 고딕"/>
                <a:cs typeface="맑은 고딕"/>
              </a:rPr>
              <a:t>• 시계열 DB와 업무 DB에서 그때 읽는다</a:t>
            </a:r>
          </a:p>
        </p:txBody>
      </p:sp>
      <p:sp>
        <p:nvSpPr>
          <p:cNvPr id="16" name="Rounded Rectangle 15"/>
          <p:cNvSpPr/>
          <p:nvPr/>
        </p:nvSpPr>
        <p:spPr>
          <a:xfrm>
            <a:off x="4566818" y="514985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규칙 판정</a:t>
            </a:r>
          </a:p>
          <a:p>
            <a:pPr algn="l">
              <a:lnSpc>
                <a:spcPct val="110000"/>
              </a:lnSpc>
              <a:spcAft>
                <a:spcPts val="400"/>
              </a:spcAft>
            </a:pPr>
            <a:r>
              <a:rPr sz="1400" b="0">
                <a:solidFill>
                  <a:srgbClr val="1F2A3A"/>
                </a:solidFill>
                <a:latin typeface="맑은 고딕"/>
                <a:ea typeface="맑은 고딕"/>
                <a:cs typeface="맑은 고딕"/>
              </a:rPr>
              <a:t>• 제외, 감점, 경고의 판정</a:t>
            </a:r>
          </a:p>
          <a:p>
            <a:pPr algn="l">
              <a:lnSpc>
                <a:spcPct val="110000"/>
              </a:lnSpc>
              <a:spcAft>
                <a:spcPts val="400"/>
              </a:spcAft>
            </a:pPr>
            <a:r>
              <a:rPr sz="1400" b="0">
                <a:solidFill>
                  <a:srgbClr val="1F2A3A"/>
                </a:solidFill>
                <a:latin typeface="맑은 고딕"/>
                <a:ea typeface="맑은 고딕"/>
                <a:cs typeface="맑은 고딕"/>
              </a:rPr>
              <a:t>• 모델이 해석하지 않고 판단 도구의 결과를 쓴다</a:t>
            </a:r>
          </a:p>
          <a:p>
            <a:pPr algn="l">
              <a:lnSpc>
                <a:spcPct val="110000"/>
              </a:lnSpc>
              <a:spcAft>
                <a:spcPts val="400"/>
              </a:spcAft>
            </a:pPr>
            <a:r>
              <a:rPr sz="1400" b="0">
                <a:solidFill>
                  <a:srgbClr val="1F2A3A"/>
                </a:solidFill>
                <a:latin typeface="맑은 고딕"/>
                <a:ea typeface="맑은 고딕"/>
                <a:cs typeface="맑은 고딕"/>
              </a:rPr>
              <a:t>• 같은 입력이면 같은 결과가 나온다</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가능성이 가장 큰 쿨러 핀 오염을 원인으로 적는다</a:t>
            </a:r>
          </a:p>
          <a:p>
            <a:pPr algn="l">
              <a:lnSpc>
                <a:spcPct val="110000"/>
              </a:lnSpc>
              <a:spcAft>
                <a:spcPts val="600"/>
              </a:spcAft>
            </a:pPr>
            <a:r>
              <a:rPr sz="1450" b="0">
                <a:solidFill>
                  <a:srgbClr val="1F2A3A"/>
                </a:solidFill>
                <a:latin typeface="맑은 고딕"/>
                <a:ea typeface="맑은 고딕"/>
                <a:cs typeface="맑은 고딕"/>
              </a:rPr>
              <a:t>• 추천안의 모양은 값을 읽었을 때와 같다</a:t>
            </a:r>
          </a:p>
          <a:p>
            <a:pPr algn="l">
              <a:lnSpc>
                <a:spcPct val="110000"/>
              </a:lnSpc>
              <a:spcAft>
                <a:spcPts val="600"/>
              </a:spcAft>
            </a:pPr>
            <a:r>
              <a:rPr sz="14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096002"/>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원인을 적지 않고 보류한다</a:t>
            </a:r>
          </a:p>
          <a:p>
            <a:pPr algn="l">
              <a:lnSpc>
                <a:spcPct val="110000"/>
              </a:lnSpc>
              <a:spcAft>
                <a:spcPts val="600"/>
              </a:spcAft>
            </a:pPr>
            <a:r>
              <a:rPr sz="1450" b="0">
                <a:solidFill>
                  <a:srgbClr val="1F2A3A"/>
                </a:solidFill>
                <a:latin typeface="맑은 고딕"/>
                <a:ea typeface="맑은 고딕"/>
                <a:cs typeface="맑은 고딕"/>
              </a:rPr>
              <a:t>• 무엇을 확인하지 못했는지를 적어 낸다</a:t>
            </a:r>
          </a:p>
          <a:p>
            <a:pPr algn="l">
              <a:lnSpc>
                <a:spcPct val="110000"/>
              </a:lnSpc>
              <a:spcAft>
                <a:spcPts val="600"/>
              </a:spcAft>
            </a:pPr>
            <a:r>
              <a:rPr sz="14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096002"/>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멈춤조건.svg" descr="illust_8798636293324463071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기록의 도구 호출 한 줄은 시각, 도구, 입력, 출력, 걸린 시간의 다섯 칸으로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기록한줄.svg" descr="illust_1182785529526408849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68473" y="3707709"/>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a:t>
            </a:r>
          </a:p>
          <a:p>
            <a:pPr algn="ctr">
              <a:lnSpc>
                <a:spcPct val="110000"/>
              </a:lnSpc>
              <a:spcAft>
                <a:spcPts val="100"/>
              </a:spcAft>
            </a:pPr>
            <a:r>
              <a:rPr sz="1300" b="0">
                <a:solidFill>
                  <a:srgbClr val="556175"/>
                </a:solidFill>
                <a:latin typeface="맑은 고딕"/>
                <a:ea typeface="맑은 고딕"/>
                <a:cs typeface="맑은 고딕"/>
              </a:rPr>
              <a:t>에이전트의 말과 도구 호출이 시각 순서로 쌓인다</a:t>
            </a:r>
          </a:p>
        </p:txBody>
      </p:sp>
      <p:sp>
        <p:nvSpPr>
          <p:cNvPr id="8" name="TextBox 7"/>
          <p:cNvSpPr txBox="1"/>
          <p:nvPr/>
        </p:nvSpPr>
        <p:spPr>
          <a:xfrm>
            <a:off x="1448402" y="4558649"/>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시각</a:t>
            </a:r>
          </a:p>
          <a:p>
            <a:pPr algn="ctr">
              <a:lnSpc>
                <a:spcPct val="110000"/>
              </a:lnSpc>
              <a:spcAft>
                <a:spcPts val="100"/>
              </a:spcAft>
            </a:pPr>
            <a:r>
              <a:rPr sz="1300" b="0">
                <a:solidFill>
                  <a:srgbClr val="556175"/>
                </a:solidFill>
                <a:latin typeface="맑은 고딕"/>
                <a:ea typeface="맑은 고딕"/>
                <a:cs typeface="맑은 고딕"/>
              </a:rPr>
              <a:t>11:13:18</a:t>
            </a:r>
          </a:p>
        </p:txBody>
      </p:sp>
      <p:sp>
        <p:nvSpPr>
          <p:cNvPr id="9" name="TextBox 8"/>
          <p:cNvSpPr txBox="1"/>
          <p:nvPr/>
        </p:nvSpPr>
        <p:spPr>
          <a:xfrm>
            <a:off x="2855727"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원인 진단</a:t>
            </a:r>
          </a:p>
        </p:txBody>
      </p:sp>
      <p:sp>
        <p:nvSpPr>
          <p:cNvPr id="10" name="TextBox 9"/>
          <p:cNvSpPr txBox="1"/>
          <p:nvPr/>
        </p:nvSpPr>
        <p:spPr>
          <a:xfrm>
            <a:off x="4797617" y="4558649"/>
            <a:ext cx="250918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물음 (입력)</a:t>
            </a:r>
          </a:p>
          <a:p>
            <a:pPr algn="ctr">
              <a:lnSpc>
                <a:spcPct val="110000"/>
              </a:lnSpc>
              <a:spcAft>
                <a:spcPts val="100"/>
              </a:spcAft>
            </a:pPr>
            <a:r>
              <a:rPr sz="1300" b="0">
                <a:solidFill>
                  <a:srgbClr val="556175"/>
                </a:solidFill>
                <a:latin typeface="맑은 고딕"/>
                <a:ea typeface="맑은 고딕"/>
                <a:cs typeface="맑은 고딕"/>
              </a:rPr>
              <a:t>설비 HYD-01,</a:t>
            </a:r>
          </a:p>
          <a:p>
            <a:pPr algn="ctr">
              <a:lnSpc>
                <a:spcPct val="110000"/>
              </a:lnSpc>
              <a:spcAft>
                <a:spcPts val="100"/>
              </a:spcAft>
            </a:pPr>
            <a:r>
              <a:rPr sz="1300" b="0">
                <a:solidFill>
                  <a:srgbClr val="556175"/>
                </a:solidFill>
                <a:latin typeface="맑은 고딕"/>
                <a:ea typeface="맑은 고딕"/>
                <a:cs typeface="맑은 고딕"/>
              </a:rPr>
              <a:t>경보의 종류, 경보 번호</a:t>
            </a:r>
          </a:p>
        </p:txBody>
      </p:sp>
      <p:sp>
        <p:nvSpPr>
          <p:cNvPr id="11" name="TextBox 10"/>
          <p:cNvSpPr txBox="1"/>
          <p:nvPr/>
        </p:nvSpPr>
        <p:spPr>
          <a:xfrm>
            <a:off x="7470443" y="4558649"/>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받음 (출력)</a:t>
            </a:r>
          </a:p>
          <a:p>
            <a:pPr algn="ctr">
              <a:lnSpc>
                <a:spcPct val="110000"/>
              </a:lnSpc>
              <a:spcAft>
                <a:spcPts val="100"/>
              </a:spcAft>
            </a:pPr>
            <a:r>
              <a:rPr sz="1300" b="0">
                <a:solidFill>
                  <a:srgbClr val="556175"/>
                </a:solidFill>
                <a:latin typeface="맑은 고딕"/>
                <a:ea typeface="맑은 고딕"/>
                <a:cs typeface="맑은 고딕"/>
              </a:rPr>
              <a:t>원문 13,763자 (JSON)</a:t>
            </a:r>
          </a:p>
        </p:txBody>
      </p:sp>
      <p:sp>
        <p:nvSpPr>
          <p:cNvPr id="12" name="TextBox 11"/>
          <p:cNvSpPr txBox="1"/>
          <p:nvPr/>
        </p:nvSpPr>
        <p:spPr>
          <a:xfrm>
            <a:off x="9685071" y="4558649"/>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걸린 시간</a:t>
            </a:r>
          </a:p>
          <a:p>
            <a:pPr algn="ctr">
              <a:lnSpc>
                <a:spcPct val="110000"/>
              </a:lnSpc>
              <a:spcAft>
                <a:spcPts val="100"/>
              </a:spcAft>
            </a:pPr>
            <a:r>
              <a:rPr sz="1300" b="0">
                <a:solidFill>
                  <a:srgbClr val="556175"/>
                </a:solidFill>
                <a:latin typeface="맑은 고딕"/>
                <a:ea typeface="맑은 고딕"/>
                <a:cs typeface="맑은 고딕"/>
              </a:rPr>
              <a:t>218 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기록의 쓰임: 결과에서 호출로 거슬러 올라가기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이상해 보일 때는 결과의 값에서 그 값을 돌려준 호출의 출력으로, 다시 그 호출의 입력으로 거슬러 올라간다.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ipboard-list" descr="clipboard-list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결과의 값</a:t>
            </a:r>
          </a:p>
          <a:p>
            <a:pPr algn="ctr">
              <a:lnSpc>
                <a:spcPct val="110000"/>
              </a:lnSpc>
              <a:spcAft>
                <a:spcPts val="400"/>
              </a:spcAft>
            </a:pPr>
            <a:r>
              <a:rPr sz="1350" b="0">
                <a:solidFill>
                  <a:srgbClr val="1F2A3A"/>
                </a:solidFill>
                <a:latin typeface="맑은 고딕"/>
                <a:ea typeface="맑은 고딕"/>
                <a:cs typeface="맑은 고딕"/>
              </a:rPr>
              <a:t>추천안에서</a:t>
            </a:r>
          </a:p>
          <a:p>
            <a:pPr algn="ctr">
              <a:lnSpc>
                <a:spcPct val="110000"/>
              </a:lnSpc>
              <a:spcAft>
                <a:spcPts val="400"/>
              </a:spcAft>
            </a:pPr>
            <a:r>
              <a:rPr sz="1350" b="0">
                <a:solidFill>
                  <a:srgbClr val="1F2A3A"/>
                </a:solidFill>
                <a:latin typeface="맑은 고딕"/>
                <a:ea typeface="맑은 고딕"/>
                <a:cs typeface="맑은 고딕"/>
              </a:rPr>
              <a:t>의심스러운 값을 고른다</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zoom-check" descr="zoom-check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출력</a:t>
            </a:r>
          </a:p>
          <a:p>
            <a:pPr algn="ctr">
              <a:lnSpc>
                <a:spcPct val="110000"/>
              </a:lnSpc>
              <a:spcAft>
                <a:spcPts val="400"/>
              </a:spcAft>
            </a:pPr>
            <a:r>
              <a:rPr sz="1350" b="0">
                <a:solidFill>
                  <a:srgbClr val="1F2A3A"/>
                </a:solidFill>
                <a:latin typeface="맑은 고딕"/>
                <a:ea typeface="맑은 고딕"/>
                <a:cs typeface="맑은 고딕"/>
              </a:rPr>
              <a:t>그 값을 돌려준 호출을</a:t>
            </a:r>
          </a:p>
          <a:p>
            <a:pPr algn="ctr">
              <a:lnSpc>
                <a:spcPct val="110000"/>
              </a:lnSpc>
              <a:spcAft>
                <a:spcPts val="400"/>
              </a:spcAft>
            </a:pPr>
            <a:r>
              <a:rPr sz="1350" b="0">
                <a:solidFill>
                  <a:srgbClr val="1F2A3A"/>
                </a:solidFill>
                <a:latin typeface="맑은 고딕"/>
                <a:ea typeface="맑은 고딕"/>
                <a:cs typeface="맑은 고딕"/>
              </a:rPr>
              <a:t>기록에서 찾는다</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입력</a:t>
            </a:r>
          </a:p>
          <a:p>
            <a:pPr algn="ctr">
              <a:lnSpc>
                <a:spcPct val="110000"/>
              </a:lnSpc>
              <a:spcAft>
                <a:spcPts val="400"/>
              </a:spcAft>
            </a:pPr>
            <a:r>
              <a:rPr sz="1350" b="0">
                <a:solidFill>
                  <a:srgbClr val="1F2A3A"/>
                </a:solidFill>
                <a:latin typeface="맑은 고딕"/>
                <a:ea typeface="맑은 고딕"/>
                <a:cs typeface="맑은 고딕"/>
              </a:rPr>
              <a:t>도구에 넣은 물음이</a:t>
            </a:r>
          </a:p>
          <a:p>
            <a:pPr algn="ctr">
              <a:lnSpc>
                <a:spcPct val="110000"/>
              </a:lnSpc>
              <a:spcAft>
                <a:spcPts val="400"/>
              </a:spcAft>
            </a:pPr>
            <a:r>
              <a:rPr sz="1350" b="0">
                <a:solidFill>
                  <a:srgbClr val="1F2A3A"/>
                </a:solidFill>
                <a:latin typeface="맑은 고딕"/>
                <a:ea typeface="맑은 고딕"/>
                <a:cs typeface="맑은 고딕"/>
              </a:rPr>
              <a:t>옳았는지를 본다</a:t>
            </a:r>
          </a:p>
        </p:txBody>
      </p:sp>
      <p:sp>
        <p:nvSpPr>
          <p:cNvPr id="22" name="Oval 21"/>
          <p:cNvSpPr/>
          <p:nvPr/>
        </p:nvSpPr>
        <p:spPr>
          <a:xfrm>
            <a:off x="9821913" y="2730627"/>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file-search" descr="file-search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 사이의 말</a:t>
            </a:r>
          </a:p>
          <a:p>
            <a:pPr algn="ctr">
              <a:lnSpc>
                <a:spcPct val="110000"/>
              </a:lnSpc>
              <a:spcAft>
                <a:spcPts val="400"/>
              </a:spcAft>
            </a:pPr>
            <a:r>
              <a:rPr sz="1350" b="0">
                <a:solidFill>
                  <a:srgbClr val="1F2A3A"/>
                </a:solidFill>
                <a:latin typeface="맑은 고딕"/>
                <a:ea typeface="맑은 고딕"/>
                <a:cs typeface="맑은 고딕"/>
              </a:rPr>
              <a:t>에이전트가 그 도구를</a:t>
            </a:r>
          </a:p>
          <a:p>
            <a:pPr algn="ctr">
              <a:lnSpc>
                <a:spcPct val="110000"/>
              </a:lnSpc>
              <a:spcAft>
                <a:spcPts val="400"/>
              </a:spcAft>
            </a:pPr>
            <a:r>
              <a:rPr sz="1350" b="0">
                <a:solidFill>
                  <a:srgbClr val="1F2A3A"/>
                </a:solidFill>
                <a:latin typeface="맑은 고딕"/>
                <a:ea typeface="맑은 고딕"/>
                <a:cs typeface="맑은 고딕"/>
              </a:rPr>
              <a:t>부른 까닭을 읽는다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 에이전트와 견준다</a:t>
            </a:r>
          </a:p>
          <a:p>
            <a:pPr algn="l">
              <a:lnSpc>
                <a:spcPct val="110000"/>
              </a:lnSpc>
              <a:spcAft>
                <a:spcPts val="400"/>
              </a:spcAft>
            </a:pPr>
            <a:r>
              <a:rPr sz="1400" b="0">
                <a:solidFill>
                  <a:srgbClr val="1F2A3A"/>
                </a:solidFill>
                <a:latin typeface="맑은 고딕"/>
                <a:ea typeface="맑은 고딕"/>
                <a:cs typeface="맑은 고딕"/>
              </a:rPr>
              <a:t>냉각 긴급 대응 에이전트와 목표, 역할, 도구, 답이 어떻게 다른지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온톨로지의 관계와 센서 입력을 읽어 점검 계획을 내는 에이전트를 구성한다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후보 원인과 증거, 다음 점검 순서를 담은 점검 계획과 그 계획에 쓴 근거가 파일로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대고</a:t>
            </a:r>
          </a:p>
          <a:p>
            <a:pPr algn="ctr">
              <a:lnSpc>
                <a:spcPct val="110000"/>
              </a:lnSpc>
              <a:spcAft>
                <a:spcPts val="400"/>
              </a:spcAft>
            </a:pPr>
            <a:r>
              <a:rPr sz="1350" b="0">
                <a:solidFill>
                  <a:srgbClr val="1F2A3A"/>
                </a:solidFill>
                <a:latin typeface="맑은 고딕"/>
                <a:ea typeface="맑은 고딕"/>
                <a:cs typeface="맑은 고딕"/>
              </a:rPr>
              <a:t>여러 센서의 증거를</a:t>
            </a:r>
          </a:p>
          <a:p>
            <a:pPr algn="ctr">
              <a:lnSpc>
                <a:spcPct val="110000"/>
              </a:lnSpc>
              <a:spcAft>
                <a:spcPts val="400"/>
              </a:spcAft>
            </a:pPr>
            <a:r>
              <a:rPr sz="1350" b="0">
                <a:solidFill>
                  <a:srgbClr val="1F2A3A"/>
                </a:solidFill>
                <a:latin typeface="맑은 고딕"/>
                <a:ea typeface="맑은 고딕"/>
                <a:cs typeface="맑은 고딕"/>
              </a:rPr>
              <a:t>함께 견준다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낸다</a:t>
            </a:r>
          </a:p>
          <a:p>
            <a:pPr algn="ctr">
              <a:lnSpc>
                <a:spcPct val="110000"/>
              </a:lnSpc>
              <a:spcAft>
                <a:spcPts val="400"/>
              </a:spcAft>
            </a:pPr>
            <a:r>
              <a:rPr sz="1350" b="0">
                <a:solidFill>
                  <a:srgbClr val="1F2A3A"/>
                </a:solidFill>
                <a:latin typeface="맑은 고딕"/>
                <a:ea typeface="맑은 고딕"/>
                <a:cs typeface="맑은 고딕"/>
              </a:rPr>
              <a:t>다음에 점검할 것을</a:t>
            </a:r>
          </a:p>
          <a:p>
            <a:pPr algn="ctr">
              <a:lnSpc>
                <a:spcPct val="110000"/>
              </a:lnSpc>
              <a:spcAft>
                <a:spcPts val="400"/>
              </a:spcAft>
            </a:pPr>
            <a:r>
              <a:rPr sz="1350" b="0">
                <a:solidFill>
                  <a:srgbClr val="1F2A3A"/>
                </a:solidFill>
                <a:latin typeface="맑은 고딕"/>
                <a:ea typeface="맑은 고딕"/>
                <a:cs typeface="맑은 고딕"/>
              </a:rPr>
              <a:t>순서대로 적고</a:t>
            </a:r>
          </a:p>
          <a:p>
            <a:pPr algn="ctr">
              <a:lnSpc>
                <a:spcPct val="110000"/>
              </a:lnSpc>
              <a:spcAft>
                <a:spcPts val="400"/>
              </a:spcAft>
            </a:pPr>
            <a:r>
              <a:rPr sz="1350" b="0">
                <a:solidFill>
                  <a:srgbClr val="1F2A3A"/>
                </a:solidFill>
                <a:latin typeface="맑은 고딕"/>
                <a:ea typeface="맑은 고딕"/>
                <a:cs typeface="맑은 고딕"/>
              </a:rPr>
              <a:t>근거와 함께 저장한다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고리_1.svg" descr="illust_160834396955460212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과열 경보에 쓰는 스킬의 이름은 cooling-emergency-response이다.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이름과 같은 폴더에 든 SKILL.md 한 파일이며, 실행이 시작될 때 에이전트의 작업 폴더에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작업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폴더</a:t>
            </a:r>
          </a:p>
          <a:p>
            <a:pPr algn="l">
              <a:lnSpc>
                <a:spcPct val="110000"/>
              </a:lnSpc>
              <a:spcAft>
                <a:spcPts val="200"/>
              </a:spcAft>
            </a:pPr>
            <a:r>
              <a:rPr sz="1300" b="0">
                <a:solidFill>
                  <a:srgbClr val="E8EEF6"/>
                </a:solidFill>
                <a:latin typeface="Consolas"/>
                <a:ea typeface="맑은 고딕"/>
                <a:cs typeface="맑은 고딕"/>
              </a:rPr>
              <a:t>  context/</a:t>
            </a:r>
          </a:p>
          <a:p>
            <a:pPr algn="l">
              <a:lnSpc>
                <a:spcPct val="110000"/>
              </a:lnSpc>
              <a:spcAft>
                <a:spcPts val="200"/>
              </a:spcAft>
            </a:pPr>
            <a:r>
              <a:rPr sz="1300" b="0">
                <a:solidFill>
                  <a:srgbClr val="E8EEF6"/>
                </a:solidFill>
                <a:latin typeface="Consolas"/>
                <a:ea typeface="맑은 고딕"/>
                <a:cs typeface="맑은 고딕"/>
              </a:rPr>
              <a:t>    task.json</a:t>
            </a:r>
          </a:p>
          <a:p>
            <a:pPr algn="l">
              <a:lnSpc>
                <a:spcPct val="110000"/>
              </a:lnSpc>
              <a:spcAft>
                <a:spcPts val="200"/>
              </a:spcAft>
            </a:pPr>
            <a:r>
              <a:rPr sz="1300" b="0">
                <a:solidFill>
                  <a:srgbClr val="E8EEF6"/>
                </a:solidFill>
                <a:latin typeface="Consolas"/>
                <a:ea typeface="맑은 고딕"/>
                <a:cs typeface="맑은 고딕"/>
              </a:rPr>
              <a:t>  .claude/skills/</a:t>
            </a:r>
          </a:p>
          <a:p>
            <a:pPr algn="l">
              <a:lnSpc>
                <a:spcPct val="110000"/>
              </a:lnSpc>
              <a:spcAft>
                <a:spcPts val="200"/>
              </a:spcAft>
            </a:pPr>
            <a:r>
              <a:rPr sz="1300" b="0">
                <a:solidFill>
                  <a:srgbClr val="E8EEF6"/>
                </a:solidFill>
                <a:latin typeface="Consolas"/>
                <a:ea typeface="맑은 고딕"/>
                <a:cs typeface="맑은 고딕"/>
              </a:rPr>
              <a:t>    cooling-emergency-response/</a:t>
            </a:r>
          </a:p>
          <a:p>
            <a:pPr algn="l">
              <a:lnSpc>
                <a:spcPct val="110000"/>
              </a:lnSpc>
              <a:spcAft>
                <a:spcPts val="200"/>
              </a:spcAft>
            </a:pPr>
            <a:r>
              <a:rPr sz="1300" b="0">
                <a:solidFill>
                  <a:srgbClr val="E8EEF6"/>
                </a:solidFill>
                <a:latin typeface="Consolas"/>
                <a:ea typeface="맑은 고딕"/>
                <a:cs typeface="맑은 고딕"/>
              </a:rPr>
              <a:t>      SKILL.md</a:t>
            </a:r>
          </a:p>
          <a:p>
            <a:pPr algn="l">
              <a:lnSpc>
                <a:spcPct val="110000"/>
              </a:lnSpc>
              <a:spcAft>
                <a:spcPts val="200"/>
              </a:spcAft>
            </a:pPr>
            <a:r>
              <a:rPr sz="1300" b="0">
                <a:solidFill>
                  <a:srgbClr val="E8EEF6"/>
                </a:solidFill>
                <a:latin typeface="Consolas"/>
                <a:ea typeface="맑은 고딕"/>
                <a:cs typeface="맑은 고딕"/>
              </a:rPr>
              <a:t>  output/</a:t>
            </a:r>
          </a:p>
          <a:p>
            <a:pPr algn="l">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작업 폴더</a:t>
            </a:r>
          </a:p>
          <a:p>
            <a:pPr algn="l">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context/task.json</a:t>
            </a:r>
          </a:p>
          <a:p>
            <a:pPr algn="l">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스킬 폴더</a:t>
            </a:r>
          </a:p>
          <a:p>
            <a:pPr algn="l">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output/result.json</a:t>
            </a:r>
          </a:p>
          <a:p>
            <a:pPr algn="l">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머리말의 설명을 보고 지금 맡은 일에 맞는 스킬인지를 가린 뒤에 본문을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name</a:t>
            </a:r>
          </a:p>
          <a:p>
            <a:pPr algn="l">
              <a:lnSpc>
                <a:spcPct val="110000"/>
              </a:lnSpc>
              <a:spcAft>
                <a:spcPts val="200"/>
              </a:spcAft>
            </a:pPr>
            <a:r>
              <a:rPr sz="1150" b="0">
                <a:solidFill>
                  <a:srgbClr val="556175"/>
                </a:solidFill>
                <a:latin typeface="맑은 고딕"/>
                <a:ea typeface="맑은 고딕"/>
                <a:cs typeface="맑은 고딕"/>
              </a:rPr>
              <a:t>스킬의 식별자</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영문 소문자, 숫자, 하이픈으로 쓰며 64자를 넘지 않는다.</a:t>
            </a:r>
          </a:p>
          <a:p>
            <a:pPr algn="l">
              <a:lnSpc>
                <a:spcPct val="110000"/>
              </a:lnSpc>
              <a:spcAft>
                <a:spcPts val="300"/>
              </a:spcAft>
            </a:pPr>
            <a:r>
              <a:rPr sz="1400" b="0">
                <a:solidFill>
                  <a:srgbClr val="1F2A3A"/>
                </a:solidFill>
                <a:latin typeface="맑은 고딕"/>
                <a:ea typeface="맑은 고딕"/>
                <a:cs typeface="맑은 고딕"/>
              </a:rPr>
              <a:t>스킬 폴더의 이름과 같아야 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description</a:t>
            </a:r>
          </a:p>
          <a:p>
            <a:pPr algn="l">
              <a:lnSpc>
                <a:spcPct val="110000"/>
              </a:lnSpc>
              <a:spcAft>
                <a:spcPts val="200"/>
              </a:spcAft>
            </a:pPr>
            <a:r>
              <a:rPr sz="1150" b="0">
                <a:solidFill>
                  <a:srgbClr val="556175"/>
                </a:solidFill>
                <a:latin typeface="맑은 고딕"/>
                <a:ea typeface="맑은 고딕"/>
                <a:cs typeface="맑은 고딕"/>
              </a:rPr>
              <a:t>호출 조건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요청에 이 스킬을 쓰는지를 적는 한 줄이다.</a:t>
            </a:r>
          </a:p>
          <a:p>
            <a:pPr algn="l">
              <a:lnSpc>
                <a:spcPct val="110000"/>
              </a:lnSpc>
              <a:spcAft>
                <a:spcPts val="300"/>
              </a:spcAft>
            </a:pPr>
            <a:r>
              <a:rPr sz="1400" b="0">
                <a:solidFill>
                  <a:srgbClr val="1F2A3A"/>
                </a:solidFill>
                <a:latin typeface="맑은 고딕"/>
                <a:ea typeface="맑은 고딕"/>
                <a:cs typeface="맑은 고딕"/>
              </a:rPr>
              <a:t>에이전트는 이 줄을 보고 스킬을 쓸지 정한 뒤 본문을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설명이 모호할 때</a:t>
            </a:r>
          </a:p>
          <a:p>
            <a:pPr algn="l">
              <a:lnSpc>
                <a:spcPct val="110000"/>
              </a:lnSpc>
              <a:spcAft>
                <a:spcPts val="200"/>
              </a:spcAft>
            </a:pPr>
            <a:r>
              <a:rPr sz="1150" b="0">
                <a:solidFill>
                  <a:srgbClr val="556175"/>
                </a:solidFill>
                <a:latin typeface="맑은 고딕"/>
                <a:ea typeface="맑은 고딕"/>
                <a:cs typeface="맑은 고딕"/>
              </a:rPr>
              <a:t>흔한 실수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맞는 일에 스킬이 쓰이지 않거나, 맞지 않는 일에 스킬이 쓰인다.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스킬문서.svg" descr="illust_2345657924756600675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false이다</a:t>
            </a:r>
          </a:p>
          <a:p>
            <a:pPr algn="l">
              <a:lnSpc>
                <a:spcPct val="110000"/>
              </a:lnSpc>
              <a:spcAft>
                <a:spcPts val="600"/>
              </a:spcAft>
            </a:pPr>
            <a:r>
              <a:rPr sz="1450" b="0">
                <a:solidFill>
                  <a:srgbClr val="1F2A3A"/>
                </a:solidFill>
                <a:latin typeface="맑은 고딕"/>
                <a:ea typeface="맑은 고딕"/>
                <a:cs typeface="맑은 고딕"/>
              </a:rPr>
              <a:t>• 원인 1순위가 정해진다 — 쿨러 핀 오염</a:t>
            </a:r>
          </a:p>
          <a:p>
            <a:pPr algn="l">
              <a:lnSpc>
                <a:spcPct val="110000"/>
              </a:lnSpc>
              <a:spcAft>
                <a:spcPts val="600"/>
              </a:spcAft>
            </a:pPr>
            <a:r>
              <a:rPr sz="145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true이다</a:t>
            </a:r>
          </a:p>
          <a:p>
            <a:pPr algn="l">
              <a:lnSpc>
                <a:spcPct val="110000"/>
              </a:lnSpc>
              <a:spcAft>
                <a:spcPts val="600"/>
              </a:spcAft>
            </a:pPr>
            <a:r>
              <a:rPr sz="1450" b="0">
                <a:solidFill>
                  <a:srgbClr val="1F2A3A"/>
                </a:solidFill>
                <a:latin typeface="맑은 고딕"/>
                <a:ea typeface="맑은 고딕"/>
                <a:cs typeface="맑은 고딕"/>
              </a:rPr>
              <a:t>• 값이 오래되었거나 증거가 원인과 맞지 않는다</a:t>
            </a:r>
          </a:p>
          <a:p>
            <a:pPr algn="l">
              <a:lnSpc>
                <a:spcPct val="110000"/>
              </a:lnSpc>
              <a:spcAft>
                <a:spcPts val="600"/>
              </a:spcAft>
            </a:pPr>
            <a:r>
              <a:rPr sz="145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두절차.svg" descr="illust_311885158203077392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사건마다 달라지는 대상과 값은 입력과 도구에서 얻으므로, 스킬에는 사건이 달라져도 변하지 않는 방법만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경보의 실제 내용</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얻는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방법</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도구를 부르는 순서, 보류의 조건, 결과 항목의 이름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스킬</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대상과 사건</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 COOLER_DEGRADATION, 경보 번호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파일</a:t>
            </a:r>
          </a:p>
          <a:p>
            <a:pPr algn="l">
              <a:lnSpc>
                <a:spcPct val="110000"/>
              </a:lnSpc>
            </a:pPr>
            <a:r>
              <a:rPr sz="1250" b="1">
                <a:solidFill>
                  <a:srgbClr val="556175"/>
                </a:solidFill>
                <a:latin typeface="맑은 고딕"/>
                <a:ea typeface="맑은 고딕"/>
                <a:cs typeface="맑은 고딕"/>
              </a:rPr>
              <a:t>context/task.json</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조치 후보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 팬 최대 운전을 비롯한 네 후보</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지식 그래프에서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지금의 값</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46.2 %, 납기까지 5.98시간</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조회 시점에 읽는다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pic>
        <p:nvPicPr>
          <p:cNvPr id="6" name="삽화:재사용.svg" descr="illust_290110200471837866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cooling-emergency-response</a:t>
            </a:r>
          </a:p>
          <a:p>
            <a:pPr algn="ctr">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첫째 경보</a:t>
            </a:r>
          </a:p>
          <a:p>
            <a:pPr algn="ctr">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둘째 경보</a:t>
            </a:r>
          </a:p>
          <a:p>
            <a:pPr algn="ctr">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프롬프트는 그 실행 한 번에 쓰이고 끝나지만, 스킬은 이름으로 보관되어 여러 에이전트와 여러 실행에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번의 프롬프트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실행에만 쓰인다</a:t>
            </a:r>
          </a:p>
          <a:p>
            <a:pPr algn="l">
              <a:lnSpc>
                <a:spcPct val="110000"/>
              </a:lnSpc>
              <a:spcAft>
                <a:spcPts val="600"/>
              </a:spcAft>
            </a:pPr>
            <a:r>
              <a:rPr sz="1450" b="0">
                <a:solidFill>
                  <a:srgbClr val="1F2A3A"/>
                </a:solidFill>
                <a:latin typeface="맑은 고딕"/>
                <a:ea typeface="맑은 고딕"/>
                <a:cs typeface="맑은 고딕"/>
              </a:rPr>
              <a:t>• 이름이 없어 다시 찾아 쓰기 어렵다</a:t>
            </a:r>
          </a:p>
          <a:p>
            <a:pPr algn="l">
              <a:lnSpc>
                <a:spcPct val="110000"/>
              </a:lnSpc>
              <a:spcAft>
                <a:spcPts val="600"/>
              </a:spcAft>
            </a:pPr>
            <a:r>
              <a:rPr sz="1450" b="0">
                <a:solidFill>
                  <a:srgbClr val="1F2A3A"/>
                </a:solidFill>
                <a:latin typeface="맑은 고딕"/>
                <a:ea typeface="맑은 고딕"/>
                <a:cs typeface="맑은 고딕"/>
              </a:rPr>
              <a:t>• 쓸 때마다 내용이 조금씩 달라진다</a:t>
            </a:r>
          </a:p>
          <a:p>
            <a:pPr algn="l">
              <a:lnSpc>
                <a:spcPct val="110000"/>
              </a:lnSpc>
              <a:spcAft>
                <a:spcPts val="600"/>
              </a:spcAft>
            </a:pPr>
            <a:r>
              <a:rPr sz="1450" b="0">
                <a:solidFill>
                  <a:srgbClr val="1F2A3A"/>
                </a:solidFill>
                <a:latin typeface="맑은 고딕"/>
                <a:ea typeface="맑은 고딕"/>
                <a:cs typeface="맑은 고딕"/>
              </a:rPr>
              <a:t>• 맞는 일: 한 번 묻고 끝나는 요청</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일회성</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이름으로 보관되어 실행마다 다시 쓰인다</a:t>
            </a:r>
          </a:p>
          <a:p>
            <a:pPr algn="l">
              <a:lnSpc>
                <a:spcPct val="110000"/>
              </a:lnSpc>
              <a:spcAft>
                <a:spcPts val="600"/>
              </a:spcAft>
            </a:pPr>
            <a:r>
              <a:rPr sz="1450" b="0">
                <a:solidFill>
                  <a:srgbClr val="1F2A3A"/>
                </a:solidFill>
                <a:latin typeface="맑은 고딕"/>
                <a:ea typeface="맑은 고딕"/>
                <a:cs typeface="맑은 고딕"/>
              </a:rPr>
              <a:t>• 여러 에이전트에 붙일 수 있다</a:t>
            </a:r>
          </a:p>
          <a:p>
            <a:pPr algn="l">
              <a:lnSpc>
                <a:spcPct val="110000"/>
              </a:lnSpc>
              <a:spcAft>
                <a:spcPts val="600"/>
              </a:spcAft>
            </a:pPr>
            <a:r>
              <a:rPr sz="1450" b="0">
                <a:solidFill>
                  <a:srgbClr val="1F2A3A"/>
                </a:solidFill>
                <a:latin typeface="맑은 고딕"/>
                <a:ea typeface="맑은 고딕"/>
                <a:cs typeface="맑은 고딕"/>
              </a:rPr>
              <a:t>• 한곳을 고치면 붙어 있는 모든 곳에 반영된다</a:t>
            </a:r>
          </a:p>
          <a:p>
            <a:pPr algn="l">
              <a:lnSpc>
                <a:spcPct val="110000"/>
              </a:lnSpc>
              <a:spcAft>
                <a:spcPts val="600"/>
              </a:spcAft>
            </a:pPr>
            <a:r>
              <a:rPr sz="1450" b="0">
                <a:solidFill>
                  <a:srgbClr val="1F2A3A"/>
                </a:solidFill>
                <a:latin typeface="맑은 고딕"/>
                <a:ea typeface="맑은 고딕"/>
                <a:cs typeface="맑은 고딕"/>
              </a:rPr>
              <a:t>• 맞는 일: 같은 방법으로 되풀이하는 업무</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쓸 때를 한 줄로 밝히고, 도구 이름은 목록에서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description</a:t>
            </a:r>
          </a:p>
          <a:p>
            <a:pPr algn="l">
              <a:lnSpc>
                <a:spcPct val="110000"/>
              </a:lnSpc>
              <a:spcAft>
                <a:spcPts val="400"/>
              </a:spcAft>
            </a:pPr>
            <a:r>
              <a:rPr sz="13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이름</a:t>
            </a:r>
          </a:p>
          <a:p>
            <a:pPr algn="l">
              <a:lnSpc>
                <a:spcPct val="110000"/>
              </a:lnSpc>
              <a:spcAft>
                <a:spcPts val="400"/>
              </a:spcAft>
            </a:pPr>
            <a:r>
              <a:rPr sz="1350" b="0">
                <a:solidFill>
                  <a:srgbClr val="1F2A3A"/>
                </a:solidFill>
                <a:latin typeface="맑은 고딕"/>
                <a:ea typeface="맑은 고딕"/>
                <a:cs typeface="맑은 고딕"/>
              </a:rPr>
              <a:t>• 도구 목록에 있는 이름을 그대로 옮겨 적는다</a:t>
            </a:r>
          </a:p>
          <a:p>
            <a:pPr algn="l">
              <a:lnSpc>
                <a:spcPct val="110000"/>
              </a:lnSpc>
              <a:spcAft>
                <a:spcPts val="400"/>
              </a:spcAft>
            </a:pPr>
            <a:r>
              <a:rPr sz="13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막혔을 때</a:t>
            </a:r>
          </a:p>
          <a:p>
            <a:pPr algn="l">
              <a:lnSpc>
                <a:spcPct val="110000"/>
              </a:lnSpc>
              <a:spcAft>
                <a:spcPts val="400"/>
              </a:spcAft>
            </a:pPr>
            <a:r>
              <a:rPr sz="13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항목</a:t>
            </a:r>
          </a:p>
          <a:p>
            <a:pPr algn="l">
              <a:lnSpc>
                <a:spcPct val="110000"/>
              </a:lnSpc>
              <a:spcAft>
                <a:spcPts val="400"/>
              </a:spcAft>
            </a:pPr>
            <a:r>
              <a:rPr sz="13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쓴 SKILL.md와, 그 스킬이 회의록에서 만들어 낸 작업 목록이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 담당자가 겹치는 항목과 기한이 없는 항목은 지어내지 않고</a:t>
            </a:r>
          </a:p>
          <a:p>
            <a:pPr algn="l">
              <a:lnSpc>
                <a:spcPct val="110000"/>
              </a:lnSpc>
              <a:spcAft>
                <a:spcPts val="400"/>
              </a:spcAft>
            </a:pPr>
            <a:r>
              <a:rPr sz="1400" b="0">
                <a:solidFill>
                  <a:srgbClr val="1F2A3A"/>
                </a:solidFill>
                <a:latin typeface="맑은 고딕"/>
                <a:ea typeface="맑은 고딕"/>
                <a:cs typeface="맑은 고딕"/>
              </a:rPr>
              <a:t>• 겹침과 「미정」으로 표시하게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Markdown으로 기록하고 회의록 원문과 대조해 검토한다</a:t>
            </a:r>
          </a:p>
        </p:txBody>
      </p:sp>
      <p:sp>
        <p:nvSpPr>
          <p:cNvPr id="22" name="Rounded Rectangle 21"/>
          <p:cNvSpPr/>
          <p:nvPr/>
        </p:nvSpPr>
        <p:spPr>
          <a:xfrm>
            <a:off x="8356396" y="514985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외부 시스템 연결과</a:t>
            </a:r>
          </a:p>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외부 시스템의 기능을 도구로 부르는 표준과 그 도구를 연결할 때 지키는 기준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연결의수.svg" descr="illust_1324640135924186181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pic>
        <p:nvPicPr>
          <p:cNvPr id="6" name="삽화:MCP구성.svg" descr="illust_705004109571083673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pic>
        <p:nvPicPr>
          <p:cNvPr id="6" name="삽화:목록호출.svg" descr="illust_445598889038457410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p>
          <a:p>
            <a:pPr algn="l">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result</a:t>
            </a:r>
          </a:p>
          <a:p>
            <a:pPr algn="l">
              <a:lnSpc>
                <a:spcPct val="110000"/>
              </a:lnSpc>
              <a:spcAft>
                <a:spcPts val="400"/>
              </a:spcAft>
            </a:pPr>
            <a:r>
              <a:rPr sz="1400" b="0">
                <a:solidFill>
                  <a:srgbClr val="1F2A3A"/>
                </a:solidFill>
                <a:latin typeface="맑은 고딕"/>
                <a:ea typeface="맑은 고딕"/>
                <a:cs typeface="맑은 고딕"/>
              </a:rPr>
              <a:t>호출이 성공했는지를 먼저 알린다.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as_of</a:t>
            </a:r>
          </a:p>
          <a:p>
            <a:pPr algn="l">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records</a:t>
            </a:r>
          </a:p>
          <a:p>
            <a:pPr algn="l">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요청과 실행의 분리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도구를 직접 실행하지 않고 부를 도구와 값을 요청으로 내며, 호스트가 그 요청을 확인해 서버에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모델</a:t>
            </a:r>
          </a:p>
          <a:p>
            <a:pPr algn="ctr">
              <a:lnSpc>
                <a:spcPct val="110000"/>
              </a:lnSpc>
              <a:spcAft>
                <a:spcPts val="400"/>
              </a:spcAft>
            </a:pPr>
            <a:r>
              <a:rPr sz="1350" b="0">
                <a:solidFill>
                  <a:srgbClr val="1F2A3A"/>
                </a:solidFill>
                <a:latin typeface="맑은 고딕"/>
                <a:ea typeface="맑은 고딕"/>
                <a:cs typeface="맑은 고딕"/>
              </a:rPr>
              <a:t>부를 도구의 이름과</a:t>
            </a:r>
          </a:p>
          <a:p>
            <a:pPr algn="ctr">
              <a:lnSpc>
                <a:spcPct val="110000"/>
              </a:lnSpc>
              <a:spcAft>
                <a:spcPts val="400"/>
              </a:spcAft>
            </a:pPr>
            <a:r>
              <a:rPr sz="1350" b="0">
                <a:solidFill>
                  <a:srgbClr val="1F2A3A"/>
                </a:solidFill>
                <a:latin typeface="맑은 고딕"/>
                <a:ea typeface="맑은 고딕"/>
                <a:cs typeface="맑은 고딕"/>
              </a:rPr>
              <a:t>입력을 요청으로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호스트</a:t>
            </a:r>
          </a:p>
          <a:p>
            <a:pPr algn="ctr">
              <a:lnSpc>
                <a:spcPct val="110000"/>
              </a:lnSpc>
              <a:spcAft>
                <a:spcPts val="400"/>
              </a:spcAft>
            </a:pPr>
            <a:r>
              <a:rPr sz="1350" b="0">
                <a:solidFill>
                  <a:srgbClr val="1F2A3A"/>
                </a:solidFill>
                <a:latin typeface="맑은 고딕"/>
                <a:ea typeface="맑은 고딕"/>
                <a:cs typeface="맑은 고딕"/>
              </a:rPr>
              <a:t>허용된 도구인지</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plug-connected" descr="plug-connecte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클라이언트</a:t>
            </a:r>
          </a:p>
          <a:p>
            <a:pPr algn="ctr">
              <a:lnSpc>
                <a:spcPct val="110000"/>
              </a:lnSpc>
              <a:spcAft>
                <a:spcPts val="400"/>
              </a:spcAft>
            </a:pPr>
            <a:r>
              <a:rPr sz="1350" b="0">
                <a:solidFill>
                  <a:srgbClr val="1F2A3A"/>
                </a:solidFill>
                <a:latin typeface="맑은 고딕"/>
                <a:ea typeface="맑은 고딕"/>
                <a:cs typeface="맑은 고딕"/>
              </a:rPr>
              <a:t>tools/call로</a:t>
            </a:r>
          </a:p>
          <a:p>
            <a:pPr algn="ctr">
              <a:lnSpc>
                <a:spcPct val="110000"/>
              </a:lnSpc>
              <a:spcAft>
                <a:spcPts val="400"/>
              </a:spcAft>
            </a:pPr>
            <a:r>
              <a:rPr sz="1350" b="0">
                <a:solidFill>
                  <a:srgbClr val="1F2A3A"/>
                </a:solidFill>
                <a:latin typeface="맑은 고딕"/>
                <a:ea typeface="맑은 고딕"/>
                <a:cs typeface="맑은 고딕"/>
              </a:rPr>
              <a:t>서버에 전달한다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server" descr="server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a:t>
            </a:r>
          </a:p>
          <a:p>
            <a:pPr algn="ctr">
              <a:lnSpc>
                <a:spcPct val="110000"/>
              </a:lnSpc>
              <a:spcAft>
                <a:spcPts val="400"/>
              </a:spcAft>
            </a:pPr>
            <a:r>
              <a:rPr sz="1350" b="0">
                <a:solidFill>
                  <a:srgbClr val="1F2A3A"/>
                </a:solidFill>
                <a:latin typeface="맑은 고딕"/>
                <a:ea typeface="맑은 고딕"/>
                <a:cs typeface="맑은 고딕"/>
              </a:rPr>
              <a:t>도구를 실행하고</a:t>
            </a:r>
          </a:p>
          <a:p>
            <a:pPr algn="ctr">
              <a:lnSpc>
                <a:spcPct val="110000"/>
              </a:lnSpc>
              <a:spcAft>
                <a:spcPts val="400"/>
              </a:spcAft>
            </a:pPr>
            <a:r>
              <a:rPr sz="1350" b="0">
                <a:solidFill>
                  <a:srgbClr val="1F2A3A"/>
                </a:solidFill>
                <a:latin typeface="맑은 고딕"/>
                <a:ea typeface="맑은 고딕"/>
                <a:cs typeface="맑은 고딕"/>
              </a:rPr>
              <a:t>응답을 돌려준다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pic>
        <p:nvPicPr>
          <p:cNvPr id="6" name="삽화:연결방식.svg" descr="illust_189176701665774204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pic>
        <p:nvPicPr>
          <p:cNvPr id="6" name="삽화:세겹.svg" descr="illust_146249740573779470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mcp__neo4j__get_neo4j_schema</a:t>
            </a:r>
          </a:p>
          <a:p>
            <a:pPr algn="l">
              <a:lnSpc>
                <a:spcPct val="110000"/>
              </a:lnSpc>
              <a:spcAft>
                <a:spcPts val="200"/>
              </a:spcAft>
            </a:pPr>
            <a:r>
              <a:rPr sz="1300" b="0">
                <a:solidFill>
                  <a:srgbClr val="E8EEF6"/>
                </a:solidFill>
                <a:latin typeface="Consolas"/>
                <a:ea typeface="맑은 고딕"/>
                <a:cs typeface="맑은 고딕"/>
              </a:rPr>
              <a:t>mcp__neo4j__read_neo4j_cypher</a:t>
            </a:r>
          </a:p>
          <a:p>
            <a:pPr algn="l">
              <a:lnSpc>
                <a:spcPct val="110000"/>
              </a:lnSpc>
              <a:spcAft>
                <a:spcPts val="200"/>
              </a:spcAft>
            </a:pPr>
            <a:r>
              <a:rPr sz="1300" b="0">
                <a:solidFill>
                  <a:srgbClr val="E8EEF6"/>
                </a:solidFill>
                <a:latin typeface="Consolas"/>
                <a:ea typeface="맑은 고딕"/>
                <a:cs typeface="맑은 고딕"/>
              </a:rPr>
              <a:t>mcp__hyd-dmn__*</a:t>
            </a:r>
          </a:p>
          <a:p>
            <a:pPr algn="l">
              <a:lnSpc>
                <a:spcPct val="110000"/>
              </a:lnSpc>
              <a:spcAft>
                <a:spcPts val="200"/>
              </a:spcAft>
            </a:pPr>
            <a:r>
              <a:rPr sz="1300" b="0">
                <a:solidFill>
                  <a:srgbClr val="E8EEF6"/>
                </a:solidFill>
                <a:latin typeface="Consolas"/>
                <a:ea typeface="맑은 고딕"/>
                <a:cs typeface="맑은 고딕"/>
              </a:rPr>
              <a:t>mcp__enterprise__*</a:t>
            </a:r>
          </a:p>
          <a:p>
            <a:pPr algn="l">
              <a:lnSpc>
                <a:spcPct val="110000"/>
              </a:lnSpc>
              <a:spcAft>
                <a:spcPts val="200"/>
              </a:spcAft>
            </a:pPr>
            <a:r>
              <a:rPr sz="1300" b="0">
                <a:solidFill>
                  <a:srgbClr val="E8EEF6"/>
                </a:solidFill>
                <a:latin typeface="Consolas"/>
                <a:ea typeface="맑은 고딕"/>
                <a:cs typeface="맑은 고딕"/>
              </a:rPr>
              <a:t>mcp__enterprise-maint__*</a:t>
            </a:r>
          </a:p>
          <a:p>
            <a:pPr algn="l">
              <a:lnSpc>
                <a:spcPct val="110000"/>
              </a:lnSpc>
              <a:spcAft>
                <a:spcPts val="200"/>
              </a:spcAft>
            </a:pPr>
            <a:r>
              <a:rPr sz="1300" b="0">
                <a:solidFill>
                  <a:srgbClr val="E8EEF6"/>
                </a:solidFill>
                <a:latin typeface="Consolas"/>
                <a:ea typeface="맑은 고딕"/>
                <a:cs typeface="맑은 고딕"/>
              </a:rPr>
              <a:t>mcp__enterprise-purchase__*</a:t>
            </a:r>
          </a:p>
          <a:p>
            <a:pPr algn="l">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neo4j</a:t>
            </a:r>
          </a:p>
          <a:p>
            <a:pPr algn="l">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별표</a:t>
            </a:r>
          </a:p>
          <a:p>
            <a:pPr algn="l">
              <a:lnSpc>
                <a:spcPct val="110000"/>
              </a:lnSpc>
              <a:spcAft>
                <a:spcPts val="400"/>
              </a:spcAft>
            </a:pPr>
            <a:r>
              <a:rPr sz="1400" b="0">
                <a:solidFill>
                  <a:srgbClr val="1F2A3A"/>
                </a:solidFill>
                <a:latin typeface="맑은 고딕"/>
                <a:ea typeface="맑은 고딕"/>
                <a:cs typeface="맑은 고딕"/>
              </a:rPr>
              <a:t>그 서버가 내주는 도구 전부를 뜻한다.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학생이 등록한 서버</a:t>
            </a:r>
          </a:p>
          <a:p>
            <a:pPr algn="l">
              <a:lnSpc>
                <a:spcPct val="110000"/>
              </a:lnSpc>
              <a:spcAft>
                <a:spcPts val="400"/>
              </a:spcAft>
            </a:pPr>
            <a:r>
              <a:rPr sz="1400" b="0">
                <a:solidFill>
                  <a:srgbClr val="1F2A3A"/>
                </a:solidFill>
                <a:latin typeface="맑은 고딕"/>
                <a:ea typeface="맑은 고딕"/>
                <a:cs typeface="맑은 고딕"/>
              </a:rPr>
              <a:t>읽기로 인정된 도구의 이름만 오른다. 설정을 고치면 다시 검사한다.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Read · Skill</a:t>
            </a:r>
          </a:p>
          <a:p>
            <a:pPr algn="l">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것을 0이나 빈 값으로 바꾸어 내면, 값이 없다는 틀린 사실이 판단에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a:p>
            <a:pPr algn="l">
              <a:lnSpc>
                <a:spcPct val="110000"/>
              </a:lnSpc>
            </a:pPr>
            <a:r>
              <a:rPr sz="1250" b="1">
                <a:solidFill>
                  <a:srgbClr val="1A6FC4"/>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포털과 로컬 개발 도구의 연결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포털은 등록과 연결 검사를 거쳐 서버를 붙이고, 로컬의 Claude Code는 설정 파일의 서버를 사용자가 허용해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 포털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로컬의 Claude Code</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서버를 적는 곳</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포털의 도구 등록 화면</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 폴더의 설정 파일 .mcp.json</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도구의 허용</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연결 검사에서 읽기로 인정된 도구만</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사용자가 대화 중에 허용한다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비밀값</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설정에는 값 대신 이름만 적고 값은 따로 보관한다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내 PC의 환경변수와 설정 파일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서버가 도는 곳</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stdio는 에이전트를 실행하는 PC</a:t>
            </a:r>
          </a:p>
          <a:p>
            <a:pPr algn="l">
              <a:lnSpc>
                <a:spcPct val="110000"/>
              </a:lnSpc>
            </a:pPr>
            <a:r>
              <a:rPr sz="1400" b="0">
                <a:solidFill>
                  <a:srgbClr val="1F2A3A"/>
                </a:solidFill>
                <a:latin typeface="맑은 고딕"/>
                <a:ea typeface="맑은 고딕"/>
                <a:cs typeface="맑은 고딕"/>
              </a:rPr>
              <a:t>HTTP는 서버 쪽</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내 PC</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내부 도구와 로컬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읽기 도구를 확인하고 Claude Code에 파일시스템, Git, 시간 서버를 연결해 조합한다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조합해 만드는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여러 서버의 도구를 이어 불러 만든 작업 요약과 서버별 권한 · 실패를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확인</a:t>
            </a:r>
          </a:p>
          <a:p>
            <a:pPr algn="ctr">
              <a:lnSpc>
                <a:spcPct val="110000"/>
              </a:lnSpc>
              <a:spcAft>
                <a:spcPts val="400"/>
              </a:spcAft>
            </a:pPr>
            <a:r>
              <a:rPr sz="1350" b="0">
                <a:solidFill>
                  <a:srgbClr val="1F2A3A"/>
                </a:solidFill>
                <a:latin typeface="맑은 고딕"/>
                <a:ea typeface="맑은 고딕"/>
                <a:cs typeface="맑은 고딕"/>
              </a:rPr>
              <a:t>HYD에 등록된</a:t>
            </a:r>
          </a:p>
          <a:p>
            <a:pPr algn="ctr">
              <a:lnSpc>
                <a:spcPct val="110000"/>
              </a:lnSpc>
              <a:spcAft>
                <a:spcPts val="400"/>
              </a:spcAft>
            </a:pPr>
            <a:r>
              <a:rPr sz="1350" b="0">
                <a:solidFill>
                  <a:srgbClr val="1F2A3A"/>
                </a:solidFill>
                <a:latin typeface="맑은 고딕"/>
                <a:ea typeface="맑은 고딕"/>
                <a:cs typeface="맑은 고딕"/>
              </a:rPr>
              <a:t>업무 DB 서버의</a:t>
            </a:r>
          </a:p>
          <a:p>
            <a:pPr algn="ctr">
              <a:lnSpc>
                <a:spcPct val="110000"/>
              </a:lnSpc>
              <a:spcAft>
                <a:spcPts val="400"/>
              </a:spcAft>
            </a:pPr>
            <a:r>
              <a:rPr sz="1350" b="0">
                <a:solidFill>
                  <a:srgbClr val="1F2A3A"/>
                </a:solidFill>
                <a:latin typeface="맑은 고딕"/>
                <a:ea typeface="맑은 고딕"/>
                <a:cs typeface="맑은 고딕"/>
              </a:rPr>
              <a:t>연결 상태를 보고</a:t>
            </a:r>
          </a:p>
          <a:p>
            <a:pPr algn="ctr">
              <a:lnSpc>
                <a:spcPct val="110000"/>
              </a:lnSpc>
              <a:spcAft>
                <a:spcPts val="400"/>
              </a:spcAft>
            </a:pPr>
            <a:r>
              <a:rPr sz="1350" b="0">
                <a:solidFill>
                  <a:srgbClr val="1F2A3A"/>
                </a:solidFill>
                <a:latin typeface="맑은 고딕"/>
                <a:ea typeface="맑은 고딕"/>
                <a:cs typeface="맑은 고딕"/>
              </a:rPr>
              <a:t>읽기 도구를 부른다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서버마다 연결</a:t>
            </a:r>
          </a:p>
          <a:p>
            <a:pPr algn="ctr">
              <a:lnSpc>
                <a:spcPct val="110000"/>
              </a:lnSpc>
              <a:spcAft>
                <a:spcPts val="400"/>
              </a:spcAft>
            </a:pPr>
            <a:r>
              <a:rPr sz="1350" b="0">
                <a:solidFill>
                  <a:srgbClr val="1F2A3A"/>
                </a:solidFill>
                <a:latin typeface="맑은 고딕"/>
                <a:ea typeface="맑은 고딕"/>
                <a:cs typeface="맑은 고딕"/>
              </a:rPr>
              <a:t>Claude Code에</a:t>
            </a:r>
          </a:p>
          <a:p>
            <a:pPr algn="ctr">
              <a:lnSpc>
                <a:spcPct val="110000"/>
              </a:lnSpc>
              <a:spcAft>
                <a:spcPts val="400"/>
              </a:spcAft>
            </a:pPr>
            <a:r>
              <a:rPr sz="1350" b="0">
                <a:solidFill>
                  <a:srgbClr val="1F2A3A"/>
                </a:solidFill>
                <a:latin typeface="맑은 고딕"/>
                <a:ea typeface="맑은 고딕"/>
                <a:cs typeface="맑은 고딕"/>
              </a:rPr>
              <a:t>파일시스템, Git,</a:t>
            </a:r>
          </a:p>
          <a:p>
            <a:pPr algn="ctr">
              <a:lnSpc>
                <a:spcPct val="110000"/>
              </a:lnSpc>
              <a:spcAft>
                <a:spcPts val="400"/>
              </a:spcAft>
            </a:pPr>
            <a:r>
              <a:rPr sz="1350" b="0">
                <a:solidFill>
                  <a:srgbClr val="1F2A3A"/>
                </a:solidFill>
                <a:latin typeface="맑은 고딕"/>
                <a:ea typeface="맑은 고딕"/>
                <a:cs typeface="맑은 고딕"/>
              </a:rPr>
              <a:t>시간 서버를 연결하고</a:t>
            </a:r>
          </a:p>
          <a:p>
            <a:pPr algn="ctr">
              <a:lnSpc>
                <a:spcPct val="110000"/>
              </a:lnSpc>
              <a:spcAft>
                <a:spcPts val="400"/>
              </a:spcAft>
            </a:pPr>
            <a:r>
              <a:rPr sz="1350" b="0">
                <a:solidFill>
                  <a:srgbClr val="1F2A3A"/>
                </a:solidFill>
                <a:latin typeface="맑은 고딕"/>
                <a:ea typeface="맑은 고딕"/>
                <a:cs typeface="맑은 고딕"/>
              </a:rPr>
              <a:t>접근 권한을 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route" descr="route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한 요청에서 조합</a:t>
            </a:r>
          </a:p>
          <a:p>
            <a:pPr algn="ctr">
              <a:lnSpc>
                <a:spcPct val="110000"/>
              </a:lnSpc>
              <a:spcAft>
                <a:spcPts val="400"/>
              </a:spcAft>
            </a:pPr>
            <a:r>
              <a:rPr sz="1350" b="0">
                <a:solidFill>
                  <a:srgbClr val="1F2A3A"/>
                </a:solidFill>
                <a:latin typeface="맑은 고딕"/>
                <a:ea typeface="맑은 고딕"/>
                <a:cs typeface="맑은 고딕"/>
              </a:rPr>
              <a:t>파일 내용, 변경 이력,</a:t>
            </a:r>
          </a:p>
          <a:p>
            <a:pPr algn="ctr">
              <a:lnSpc>
                <a:spcPct val="110000"/>
              </a:lnSpc>
              <a:spcAft>
                <a:spcPts val="400"/>
              </a:spcAft>
            </a:pPr>
            <a:r>
              <a:rPr sz="1350" b="0">
                <a:solidFill>
                  <a:srgbClr val="1F2A3A"/>
                </a:solidFill>
                <a:latin typeface="맑은 고딕"/>
                <a:ea typeface="맑은 고딕"/>
                <a:cs typeface="맑은 고딕"/>
              </a:rPr>
              <a:t>시간을 이어 불러</a:t>
            </a:r>
          </a:p>
          <a:p>
            <a:pPr algn="ctr">
              <a:lnSpc>
                <a:spcPct val="110000"/>
              </a:lnSpc>
              <a:spcAft>
                <a:spcPts val="400"/>
              </a:spcAft>
            </a:pPr>
            <a:r>
              <a:rPr sz="1350" b="0">
                <a:solidFill>
                  <a:srgbClr val="1F2A3A"/>
                </a:solidFill>
                <a:latin typeface="맑은 고딕"/>
                <a:ea typeface="맑은 고딕"/>
                <a:cs typeface="맑은 고딕"/>
              </a:rPr>
              <a:t>작업 요약을 만든다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git-compare" descr="git-compare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권한과 실패의 비교</a:t>
            </a:r>
          </a:p>
          <a:p>
            <a:pPr algn="ctr">
              <a:lnSpc>
                <a:spcPct val="110000"/>
              </a:lnSpc>
              <a:spcAft>
                <a:spcPts val="400"/>
              </a:spcAft>
            </a:pPr>
            <a:r>
              <a:rPr sz="1350" b="0">
                <a:solidFill>
                  <a:srgbClr val="1F2A3A"/>
                </a:solidFill>
                <a:latin typeface="맑은 고딕"/>
                <a:ea typeface="맑은 고딕"/>
                <a:cs typeface="맑은 고딕"/>
              </a:rPr>
              <a:t>서버마다 허용된 일과</a:t>
            </a:r>
          </a:p>
          <a:p>
            <a:pPr algn="ctr">
              <a:lnSpc>
                <a:spcPct val="110000"/>
              </a:lnSpc>
              <a:spcAft>
                <a:spcPts val="400"/>
              </a:spcAft>
            </a:pPr>
            <a:r>
              <a:rPr sz="1350" b="0">
                <a:solidFill>
                  <a:srgbClr val="1F2A3A"/>
                </a:solidFill>
                <a:latin typeface="맑은 고딕"/>
                <a:ea typeface="맑은 고딕"/>
                <a:cs typeface="맑은 고딕"/>
              </a:rPr>
              <a:t>호출이 실패했을 때의</a:t>
            </a:r>
          </a:p>
          <a:p>
            <a:pPr algn="ctr">
              <a:lnSpc>
                <a:spcPct val="110000"/>
              </a:lnSpc>
              <a:spcAft>
                <a:spcPts val="400"/>
              </a:spcAft>
            </a:pPr>
            <a:r>
              <a:rPr sz="1350" b="0">
                <a:solidFill>
                  <a:srgbClr val="1F2A3A"/>
                </a:solidFill>
                <a:latin typeface="맑은 고딕"/>
                <a:ea typeface="맑은 고딕"/>
                <a:cs typeface="맑은 고딕"/>
              </a:rPr>
              <a:t>모습을 견준다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그 용어가 에이전트와 도구 연결에서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에이전트와 도구 연결에서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RAG</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에이전트와 견준 답변 방식</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에이전트</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근거의 상태</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SKILL.md</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MCP</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JSON-RPC</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stdio</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readOnlyHint</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연결 검사를 통과한 서버의 도구가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실행 고리의 단계, 스킬과 도구의 역할, 읽기와 쓰기의 경계를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