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2일차까지 지식을 담을 구조를 설계했고 조치 절차와 판단 규칙을 그 구조에 이었습니다. 오늘은 규칙을 통과한 후보를 성과로 견주는 기준과, 그 지식이 문서에서 어떻게 들어오는지를 다룹니다. 마지막에는 세 일차의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후보 가운데 어느 것이 더 나은가를 따집니다. 지난 사건에서는 설비가 원격 자동이었고 팬은 60 %로 돌고 있었으므로 제외된 후보가 없었습니다. 그래프의 값은 2일차에 본 조치 후 예측 유온, 곧 후보마다 조치를 했을 때 유온이 어디에 머물지를 계산한 값이며, 가장 낮은 것은 44.6도, 가장 높은 것은 62.5도입니다. 그런데 1순위는 5도나 덜 내리는 팬 최대 운전이었고 유온을 가장 많이 내리는 조치는 1순위가 아니었습니다. 순위를 가른 기준이 유온 하나가 아니라는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후보는 2일차에 본 제외 규칙을 통과했고, 지금부터는 통과한 후보끼리 견줍니다. 제외 규칙과 견주는 기준은 성격이 다릅니다. 2일차의 세 판정 가운데 제외는 왼쪽에, 후보에 남기는 감점과 경고는 오른쪽에 놓입니다. 왼쪽의 규칙은 통과 아니면 제외이고, 걸린 조치는 다른 면에서 아무리 좋아도 되살아나지 않습니다. 오른쪽의 기준은 더 낫다, 덜 낫다의 문제여서 한쪽의 손해를 다른 쪽의 이득으로 메울 수 있습니다. 칸마다 마지막 줄이 둘을 섞었을 때의 잘못입니다.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왼쪽처럼 이익 하나로만 보면 문제가 있습니다. 이익은 일이 다 끝난 뒤에 나오는 숫자여서 보았을 때는 이미 손쓸 시간이 지났습니다. 오른쪽처럼 여러 관점에서 함께 보는 틀이 BSC, Balanced Scorecard이고 균형 성과표라고 옮깁니다. 재무, 고객, 내부 프로세스, 학습과 성장의 네 관점마다 목표와 지표를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관점을 위에서 아래로 봅니다. 재무 관점은 결과가 돈으로 어떻게 나타나는가를 보며 목표는 영업이익 확대와 원가 절감입니다. 고객 관점은 고객에게 무엇을 지키는가를 보며 목표는 납기 신뢰와 품질 신뢰입니다. 내부 프로세스 관점은 그 약속을 지키려면 안에서 무엇을 잘 운영해야 하는가를 보며, 유온을 다루는 쿨러 사건이 이 관점에 놓입니다. 학습과 성장 관점의 목표는 현장 판단 지식 축적으로,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있어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있습니다. 목표가 먼저이고 KPI는 그 목표를 재는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KPI에는 무엇을 어떻게 재는지의 정의가 있어야 합니다. 인터록 여유로 보겠습니다. 인터록 여유는 유온 한계 65도에서 그 기간의 최고 유온을 뺀 값입니다. 인터록에 얼마나 가까이 갔는지를 숫자 하나로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조치인 팬 최대 운전과 부하 80 %가 성과에 닿는 길을 따라가 보겠습니다. 조치는 성과 지표를 직접 바꾸지 않고 설비의 값을 바꾸며, 이 조치는 팬 속도를 올리고 펌프 부하를 내립니다. 팬 속도를 올리면 냉각이 늘어 유온이 내려가고, 부하를 내려도 발열이 줄어 유온이 내려갑니다. 두 길이 유온에서 만나므로 이 조치가 유온을 가장 많이 내리고, 유온이 내려가면 인터록 여유가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 다른 쪽으로도 영향을 줍니다. 위쪽을 보면 팬 속도를 올릴 때 전력 사용량이 늘어나므로 에너지 효율이라는 목표에는 불리합니다. 아래쪽을 보면 펌프 부하를 내릴 때 생산량이 줄고 납기 준수율이 낮아지므로 납기 신뢰라는 목표에 불리합니다. 가운데의 인터록 여유만 이롭습니다. 조치 하나가 한 목표에는 이롭고 다른 목표에는 해로운 것을 성과의 상충이라고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저울질의 실제 결과입니다. 네 후보에 점수가 매겨졌고 팬 최대 운전이 가장 높았습니다. 부하를 낮추는 두 조치는 유온을 더 내리는데도 점수가 낮습니다. 이 둘은 점수가 +2.75로 같아서 순위도 공동 2순위로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부하를 낮추는 두 조치를 1순위와 견준 내역입니다. 유온을 더 내려서 0.26점을 얻었으나, 부하를 낮추면 생산이 줄어 납기에서 0.67점, 성과 지표에서 0.22점을 잃었습니다. 예측 유온에서 얻는 점수에는 상한이 있어 두 조치가 같은 값을 받았고, 잃은 것도 같아서 두 조치의 점수가 같습니다. 오른쪽의 쿨러 핀 세척은 원인을 없애는 조치인데 4순위입니다. 예측 유온이 62.5도로 경보 기준을 넘고, 경고가 붙었으며, 품질에서도 깎였습니다. 그래서 지난 사건에서는 먼저 팬 최대 운전으로 유온을 내리고 핀 세척은 뒤에 이어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좋은 조치는 조치 자체에 정해져 있지 않습니다. 긴급 오더가 없었다면 납기에서 잃을 것이 없으므로 유온을 더 내리는 조치가 올라왔을 것입니다. 상황과 기준이 순위를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달랐으리라고 했습니다. 그것을 실제로 계산해 보는 방법이 What-if 분석입니다. 먼저 왼쪽의 원본에서 판단 한 건에 쓰인 후보와 규칙과 입력 값을 그대로 가져와 사본을 만듭니다. 다음으로 사본 안에서 값 하나를 바꿉니다. 납기까지 남은 시간을 늘려 보거나 위약금을 올려 보거나 전력 단가를 바꾸어 보며,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오른쪽의 두 결과부터 봅니다. 위가 지금의 값으로 계산한 기준 결과이고 아래가 가정값으로 다시 계산한 시험 결과이며, 둘을 나란히 놓으면 그 값이 순위에 얼마나 영향을 주는지가 보입니다. 가정값을 조금씩 바꾸다 보면 1순위가 달라지는 지점이 나오고 그 값이 순위의 경계값입니다. 지금의 값이 경계값에서 멀면 추천은 튼튼하고, 가까우면 값이 조금만 달라져도 뒤집힙니다. 왼쪽의 원본은 읽기만 하므로 가정값을 넣어 보았다고 실제 값이 바뀌지는 않습니다. 이 결과는 넣은 가정과 예측에 기댄 계산이므로, 실제 효과는 조치 뒤의 재관측으로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2일차에 만든 허용 · 제외 조건표를 실제로 평가하는 작은 판정 기능을 만듭니다. 온도, 압력, 운전 상태를 조합한 입력을 더해 가며 판정을 확인합니다. 확인할 경우는 넷으로, 정상 조건, 기준값 부근의 값, 여러 행이 함께 맞는 경우, 그리고 모든 후보가 제외되는 경우입니다. 마지막 경우에 억지로 하나를 추천하지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시연에서 추천안에는 원인과 조치와 출처가 함께 나왔습니다. 이 셋은 처음부터 지식 그래프에 있던 것이 아니라 쿨러 팬 정비 매뉴얼 HM-8에서 왔습니다. 이 단원에서는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이 단원의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문서의 문장을 등록된 지식으로 바꾸는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넣는다는 점은 같지만 넣는 것과 남는 것이 다릅니다. 왼쪽은 2일차에 한 일로, 설계한 스키마에 맞춰 직접 정리한 예시 인스턴스를 Cypher로 넣고 저장된 결과가 설계와 같은지를 조회해 확인했습니다. 오른쪽은 사람이 정리한 목록이 아니라 매뉴얼 원문이 입력이며, 추출한 후보를 원문과 대조하고 사람이 검토해 승인한 것만 넣습니다. 맨 아래 줄을 견주면 왼쪽은 내용의 출처를 넣은 사람만 알고, 오른쪽은 근거가 된 원문과 검토한 사람이 지식과 함께 남습니다. 이 차이를 만드는 것이 이어서 볼 일곱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2일차에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매뉴얼은 절로 나뉘고 절 안에 절차가 있으며 절차는 단계로 이루어집니다. 왼쪽이 쿨러 사건에서 추천된 팬 최대 운전의 원문입니다. 맨 윗줄이 절, 가운데 제목이 절차, 번호가 붙은 세 줄이 단계입니다. 제목과 번호만 보고도 셋을 가를 수 있으므로 이 구조를 먼저 가려 둡니다.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단계에서 구조를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답이 긴 문장이면 그 답을 다시 사람이 읽어야 합니다. 가운데처럼 항목과 형식을 정해 주면 프로그램이 받아 처리할 수 있고, 그 형식으로 JSON을 씁니다. 오른쪽의 형식 검사는 숫자 자리에 숫자가 있는지까지만 봅니다. 그 숫자가 맞는지는 뒤의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위가 원문이고 아래가 모델이 낸 원인 한 건이며, 이름과 값의 쌍을 중괄호로 묶은 이 형식이 JSON입니다. 먼저 위의 세 줄을 봅니다. 식별자와 이름과 별칭은 2일차에 배운 그대로입니다. 다음으로 prior는 문장에 있던 사전 확률, 곧 매뉴얼이 이 원인을 얼마나 흔하다고 보는지를 적은 값이고 맨 아래의 section은 근거가 된 절입니다. 그 사이의 failure_mode와 parts는 이 원인이 이어질 대상을 식별자로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점선으로 그린 하늘색 원이 새 후보이고 나머지 셋은 이미 등록된 대상입니다. 새 고장 유형은 처음부터 기존의 증상과 구성 요소에 이어진 채로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형식 검사를 통과합니다. 위의 둘부터 봅니다. 조건 문장이 통째로 빠지면 결과에는 틀린 글자가 하나도 없고, 단위만 바뀌면 숫자 자리에 숫자가 있으므로 프로그램이 이상을 찾지 못합니다. 셋째는 관계를 틀리게 잇는 오류입니다. ADDRESSES는 조치 방법이 어느 원인에 듣는지를 적는 관계인데, 매뉴얼은 핀 세척을 쿨러 핀 오염에만 이었습니다. 넷째는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들어가므로, 어느 지식이 어느 문서의 것인지가 남아 개정 때 그 문서의 지식만 바꿀 수 있습니다.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1일차에는 조치 방법과 근거 문서 사이를 화살표 하나로 보았는데, 펼치면 단계와 절이 그 사이에 있습니다. 다음으로 아래의 후보 선택 규칙은 고장 유형이 쿨러 냉각 성능 상실이면 완화 조치 셋을 후보로 올리는 판단 규칙이며, 이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2일차의 결정표에서 기준은 표에 적혀 있었고 운전 모드와 연속 운전 시간 같은 입력 값은 그때 대어 보았습니다. 같은 구분을 지식 그래프 전체에 적용한 것입니다.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지식 그래프에 넣지 않는다면 판단할 때 그 값을 어디에서 읽을지는 적어 두어야 합니다. 업무 데이터베이스의 값은 표와 열의 위치로 가리키고, 이 위치를 입력 데이터로 등록합니다.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한 문장으로 줄인 것입니다. 이 세 가지가 갖추어진 지식이라야 판단의 근거로 쓸 수 있습니다. 이제 이 과정을 직접 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2일차에 만든 설비 모델과 조치 ·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칸부터 봅니다. 1일차의 결과물은 손으로 그린 관계 그림이었고, 2일차에 그 그림에 클래스와 식별자라는 틀이 생겼습니다. 셋째 칸에서는 2일차의 조치 방법과 판단 규칙에 3일차의 성과 지표가 더해져 같은 그래프에 이어졌고, 넷째 칸에서는 3일차의 인제스천으로 문서에서 온 원인과 증거가 출처와 함께 더해졌습니다. 칸마다 하늘색으로 칠한 부분이 그 단계에서 새로 더해진 것이며,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2일차의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2일차가 받은 것은 설비 자료와 답할 질문이었고, 스키마 설계는 클래스가 아니라 질문에서 출발했습니다. 질문이 정해져야 무엇을 넣고 무엇을 넣지 않을지가 갈립니다. 둘째 줄의 스키마가 첫 결과물로, 1일차의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점선 상자 줄이 첫 결과물인 스키마이고 아래의 원 줄이 둘째 결과물인 인스턴스 데이터입니다. 아래 줄의 대상마다 식별자가 있고, 관계는 위 줄의 스키마가 정한 이름과 방향으로만 놓였습니다. 왼쪽의 HYD-01에서 오일 쿨러, 유온 센서, 유온까지 관계를 따라가면 2일차가 처음에 정한 질문의 답인 센서와 한계값 65도가 나옵니다. Cypher로 조회한 것이 이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2일차에 SOP의 구성요소로 본 것 가운데 셋이 이 결과물의 입력입니다. 첫 행에서 SOP 한 편이 조치 방법 노드 하나가 되고 번호가 붙은 줄이 작업 단계가 되었습니다. 둘째 행의 금지는 부하를 60 % 아래로 내리지 못한다는 조치의 한계로 남았습니다. 셋째 행의 전제 조건은 2일차에 DMN의 결정표에서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3일차의 첫 결과물은 성과 지표와, 조치가 그 지표에 닿는 길입니다. 왼쪽의 조치 후보에서 출발해 팬 속도와 펌프 부하라는 설비의 값을 거쳐 오른쪽의 세 지표에 이릅니다. 인터록 여유는 무재해 운전을, 전력 사용량은 에너지 효율을 재는 내부 프로세스 관점의 지표이고, 납기 준수율은 납기 신뢰를 재는 고객 관점의 지표입니다. 한 조치가 한 지표에는 이롭고 다른 지표에는 불리하므로, 규칙을 통과한 후보끼리는 이 지표로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2일차에는 지식이 들어갈 자리를 만들었고, 인제스천 단원에서는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걸음입니다. 경보에서 고장 유형까지는 2일차의 스키마가 정한 관계를 따라갔고, 원인 후보와 그 기준은 3일차에 매뉴얼에서 들어온 지식이며, 기준에 댄 값은 그 순간 원천에서 읽었습니다. 넷째 걸음에서 2일차의 판단 규칙과 3일차의 성과 기준이 후보를 가려 순서를 정했고, 마지막에 문서의 절과 인용이 근거로 붙었습니다. 다섯 걸음 전체의 밑그림은 1일차의 관계 그림입니다. 1일차의 사건에서 에이전트가 94초 동안 한 일이 이것이었고, 그것이 가능했던 것은 세 일차의 결과물이 미리 쌓여 있었기 때문입니다. 넷째 걸음의 순위는 성과 단원에서 본 그대로이므로 다시 펴지 않고, 나머지 걸음을 하나씩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후보마다의 증거 기준은 모두 매뉴얼 HM-8.4에서 추출해 검토한 지식입니다. 기준 70이 원문과 다르게 옮겨졌다면 판단은 그 틀린 기준으로 원인을 가립니다. 에이전트는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계기 셋이 그 순간에 시계열 DB에서 읽은 값이고, 오른쪽의 원인마다 적힌 기준이 매뉴얼에서 온 지식입니다. 맨 위부터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1일차의 시연에서는 추천에 근거가 붙어 나온다는 정도로 보고 지나간 화면입니다. 지금은 줄마다 그것이 어디에서 왔는지를 말할 수 있습니다. 추천안에 이른 길은 2일차의 스키마가 정한 관계를 따라온 경로이고, 후보로 고른 규칙은 이 고장 유형에 쓸 수 있는 조치를 후보로 올린 판단 규칙이며, 출처는 인제스천에서 조치 방법의 단계에 이어 둔 매뉴얼의 절입니다. 담당자는 이 세 가지를 보고 승인할지를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맨 위의 점선 상자는 원인이 고장 유형을 CAUSES로 가리킨다는 정의이고, 가운데는 그 정의에 맞추어 들어간 쿨러 핀 오염과 쿨러 냉각 성능 상실, 그리고 증거 기준입니다. 위의 둘은 지식 그래프에 있고 맨 아래의 값은 지식 그래프 밖의 원천에 있어, 판단하는 순간에 파란 점선을 따라 읽습니다. 왼쪽에 적힌 것이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첫 행처럼 따라갈 관계가 없어 답이 나오지 않으면 스키마의 정의를 봅니다. 둘째 행처럼 기준이 매뉴얼과 다르면 인용을 따라 문서로 가서 인스턴스 데이터를 고칩니다. 셋째 행처럼 숫자가 실제와 다르면 값의 출처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2일차에 본 감점 규칙과 그 근거 문장을 나란히 놓았습니다.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감점 규칙에서 오른쪽으로 가면 근거가 나옵니다. 규칙은 DERIVED_FROM으로 매뉴얼 8.8절을 가리키고 그 절은 PART_OF로 문서 HM-8에 속합니다. 아래로 가면 값의 자리가 나옵니다. 규칙이 TESTS로 검사하는 입력 데이터가 연속 운전 시간이고, 그 값은 판단할 때 원천에서 읽습니다. 그래서 규칙 하나에서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개정되어 24시간이라는 기준이 바뀐다고 해 봅니다. 문서 식별자는 그대로 두고 새 판본을 올린 뒤, 바뀐 절을 DERIVED_FROM으로 가리키는 규칙을 찾으면 고칠 대상이 나옵니다. 고친 내용은 처음 넣을 때와 같이 검토를 거쳐 적재하고 적재 기록을 남깁니다. 규칙만 있고 근거가 없으면 어느 규칙을 고쳐야 하는지 찾을 수 없으므로,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주는 것 셋입니다. 지식 그래프는 따라갈 길과 댈 근거를, 판단 규칙은 정해 둔 판정을,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1일차에 AI에게 그대로 물으면 답의 근거를 확인할 수 없다고 했습니다. 그 문제에 대한 답이 이 구분입니다. 왼쪽의 사실과 기준은 사람이 검토해 지식 그래프와 규칙에 정해 두고, 오른쪽의 조회와 종합만 에이전트에게 맡깁니다. 그래서 에이전트가 낸 추천은 어느 지식과 어느 값에서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일차의 내용을 한 문장으로 줄인 것입니다. 근거가 있는 판단이 뜻하는 것이 이것입니다.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위의 셋이 성과 평가의 용어이고 아래의 다섯이 인제스천의 용어입니다. 이 여덟 개와 함께 전략 목표, 가정값, 경계값, 원천 자료, 매핑, 판본이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제외와 순위를 혼동한 답으로, 이 조치는 규칙에 걸리지 않고 후보에 남아 있었습니다. 둘째 문항의 1번이 틀린 이유는 형식 검사와 인용 대조가 내용의 누락까지 잡아 주지는 않기 때문입니다. 셋째 문항에서는 매초 바뀌는 평균값만 값이고 나머지 셋은 문서가 개정될 때만 바뀌는 지식입니다.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5.png"/><Relationship Id="rId5"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5.png"/><Relationship Id="rId4" Type="http://schemas.openxmlformats.org/officeDocument/2006/relationships/image" Target="../media/image14.png"/><Relationship Id="rId5" Type="http://schemas.openxmlformats.org/officeDocument/2006/relationships/image" Target="../media/image26.png"/><Relationship Id="rId6"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1.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3.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5.png"/><Relationship Id="rId4" Type="http://schemas.openxmlformats.org/officeDocument/2006/relationships/image" Target="../media/image31.png"/><Relationship Id="rId5"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7.png"/><Relationship Id="rId4" Type="http://schemas.openxmlformats.org/officeDocument/2006/relationships/image" Target="../media/image14.png"/><Relationship Id="rId5" Type="http://schemas.openxmlformats.org/officeDocument/2006/relationships/image" Target="../media/image44.png"/><Relationship Id="rId6" Type="http://schemas.openxmlformats.org/officeDocument/2006/relationships/image" Target="../media/image4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7.png"/><Relationship Id="rId4" Type="http://schemas.openxmlformats.org/officeDocument/2006/relationships/image" Target="../media/image44.png"/><Relationship Id="rId5" Type="http://schemas.openxmlformats.org/officeDocument/2006/relationships/image" Target="../media/image48.png"/><Relationship Id="rId6" Type="http://schemas.openxmlformats.org/officeDocument/2006/relationships/image" Target="../media/image30.png"/><Relationship Id="rId7" Type="http://schemas.openxmlformats.org/officeDocument/2006/relationships/image" Target="../media/image4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0.png"/><Relationship Id="rId4" Type="http://schemas.openxmlformats.org/officeDocument/2006/relationships/image" Target="../media/image5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1.png"/><Relationship Id="rId4" Type="http://schemas.openxmlformats.org/officeDocument/2006/relationships/image" Target="../media/image37.png"/><Relationship Id="rId5" Type="http://schemas.openxmlformats.org/officeDocument/2006/relationships/image" Target="../media/image3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41.png"/><Relationship Id="rId5" Type="http://schemas.openxmlformats.org/officeDocument/2006/relationships/image" Target="../media/image33.png"/><Relationship Id="rId6" Type="http://schemas.openxmlformats.org/officeDocument/2006/relationships/image" Target="../media/image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1.png"/><Relationship Id="rId4" Type="http://schemas.openxmlformats.org/officeDocument/2006/relationships/image" Target="../media/image38.png"/><Relationship Id="rId5" Type="http://schemas.openxmlformats.org/officeDocument/2006/relationships/image" Target="../media/image53.png"/><Relationship Id="rId6" Type="http://schemas.openxmlformats.org/officeDocument/2006/relationships/image" Target="../media/image3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8.png"/><Relationship Id="rId4" Type="http://schemas.openxmlformats.org/officeDocument/2006/relationships/image" Target="../media/image32.png"/><Relationship Id="rId5" Type="http://schemas.openxmlformats.org/officeDocument/2006/relationships/image" Target="../media/image50.png"/><Relationship Id="rId6" Type="http://schemas.openxmlformats.org/officeDocument/2006/relationships/image" Target="../media/image49.png"/><Relationship Id="rId7" Type="http://schemas.openxmlformats.org/officeDocument/2006/relationships/image" Target="../media/image5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1.png"/><Relationship Id="rId4" Type="http://schemas.openxmlformats.org/officeDocument/2006/relationships/image" Target="../media/image4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49.png"/><Relationship Id="rId4" Type="http://schemas.openxmlformats.org/officeDocument/2006/relationships/image" Target="../media/image48.png"/><Relationship Id="rId5" Type="http://schemas.openxmlformats.org/officeDocument/2006/relationships/image" Target="../media/image30.png"/><Relationship Id="rId6" Type="http://schemas.openxmlformats.org/officeDocument/2006/relationships/image" Target="../media/image6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31.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4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2.png"/><Relationship Id="rId4" Type="http://schemas.openxmlformats.org/officeDocument/2006/relationships/image" Target="../media/image49.png"/><Relationship Id="rId5" Type="http://schemas.openxmlformats.org/officeDocument/2006/relationships/image" Target="../media/image6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3.png"/><Relationship Id="rId4" Type="http://schemas.openxmlformats.org/officeDocument/2006/relationships/image" Target="../media/image6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8.png"/><Relationship Id="rId4" Type="http://schemas.openxmlformats.org/officeDocument/2006/relationships/image" Target="../media/image59.png"/><Relationship Id="rId5"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3일차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조치의 성과 비교와</a:t>
            </a:r>
          </a:p>
          <a:p>
            <a:pPr algn="l">
              <a:lnSpc>
                <a:spcPct val="110000"/>
              </a:lnSpc>
            </a:pPr>
            <a:r>
              <a:rPr sz="4000" b="1">
                <a:solidFill>
                  <a:srgbClr val="FFFFFF"/>
                </a:solidFill>
                <a:latin typeface="맑은 고딕"/>
                <a:ea typeface="맑은 고딕"/>
                <a:cs typeface="맑은 고딕"/>
              </a:rPr>
              <a:t>현장 자료에서 만드는 판단 근거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성과 기준으로 조치를 견주고 매뉴얼의 문장을 출처를 가진 지식으로 등록하는 과정</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scale" descr="scal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import" descr="file-impor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통과한 조치를 성과로 견주는 기준과, 판단의 근거가 되는 지식이 문서에서 들어오는 과정을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scale" descr="sca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조치의 성과 평가</a:t>
            </a:r>
          </a:p>
          <a:p>
            <a:pPr algn="l">
              <a:lnSpc>
                <a:spcPct val="110000"/>
              </a:lnSpc>
              <a:spcAft>
                <a:spcPts val="400"/>
              </a:spcAft>
            </a:pPr>
            <a:r>
              <a:rPr sz="1350" b="0">
                <a:solidFill>
                  <a:srgbClr val="1F2A3A"/>
                </a:solidFill>
                <a:latin typeface="맑은 고딕"/>
                <a:ea typeface="맑은 고딕"/>
                <a:cs typeface="맑은 고딕"/>
              </a:rPr>
              <a:t>규칙을 통과한 후보를 생산, 품질, 에너지, 비용의 성과로 견주는 이유를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가정값과 순위</a:t>
            </a:r>
          </a:p>
          <a:p>
            <a:pPr algn="l">
              <a:lnSpc>
                <a:spcPct val="110000"/>
              </a:lnSpc>
              <a:spcAft>
                <a:spcPts val="400"/>
              </a:spcAft>
            </a:pPr>
            <a:r>
              <a:rPr sz="1350" b="0">
                <a:solidFill>
                  <a:srgbClr val="1F2A3A"/>
                </a:solidFill>
                <a:latin typeface="맑은 고딕"/>
                <a:ea typeface="맑은 고딕"/>
                <a:cs typeface="맑은 고딕"/>
              </a:rPr>
              <a:t>가정값을 바꾸어 다시 계산해 순위가 달라지는 조건을 확인한다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가정과 결과</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file-import" descr="file-impor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문서가 추출, 대조, 검토, 승인을 거쳐 출처를 가진 지식으로 등록되는 단계를 설명한다</a:t>
            </a:r>
          </a:p>
        </p:txBody>
      </p:sp>
      <p:sp>
        <p:nvSpPr>
          <p:cNvPr id="22" name="Rounded Rectangle 21"/>
          <p:cNvSpPr/>
          <p:nvPr/>
        </p:nvSpPr>
        <p:spPr>
          <a:xfrm>
            <a:off x="6461607" y="5134356"/>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문서에서 지식으로</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과정의 정리</a:t>
            </a:r>
          </a:p>
          <a:p>
            <a:pPr algn="l">
              <a:lnSpc>
                <a:spcPct val="110000"/>
              </a:lnSpc>
              <a:spcAft>
                <a:spcPts val="400"/>
              </a:spcAft>
            </a:pPr>
            <a:r>
              <a:rPr sz="1350" b="0">
                <a:solidFill>
                  <a:srgbClr val="1F2A3A"/>
                </a:solidFill>
                <a:latin typeface="맑은 고딕"/>
                <a:ea typeface="맑은 고딕"/>
                <a:cs typeface="맑은 고딕"/>
              </a:rPr>
              <a:t>온톨로지의 필요성에서 출처까지, 세 일차의 결과물이 판단에 쓰인 자리를 짚는다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성과 관점의 조치 평가</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성과 관점의 조치 평가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 가운데 더 나은 조치를 가리는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44.6 ℃까지 내리는 조치가 1순위가 아니었다는 것은 순위를 가른 기준이 유온 하나가 아님을 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℃이지만 1순위가 아니다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a:t>
            </a:r>
          </a:p>
          <a:p>
            <a:pPr algn="l">
              <a:lnSpc>
                <a:spcPct val="110000"/>
              </a:lnSpc>
              <a:spcAft>
                <a:spcPts val="400"/>
              </a:spcAft>
            </a:pPr>
            <a:r>
              <a:rPr sz="1400" b="0">
                <a:solidFill>
                  <a:srgbClr val="1F2A3A"/>
                </a:solidFill>
                <a:latin typeface="맑은 고딕"/>
                <a:ea typeface="맑은 고딕"/>
                <a:cs typeface="맑은 고딕"/>
              </a:rPr>
              <a:t>62.5 ℃</a:t>
            </a:r>
          </a:p>
        </p:txBody>
      </p:sp>
      <p:sp>
        <p:nvSpPr>
          <p:cNvPr id="16" name="Oval 15"/>
          <p:cNvSpPr/>
          <p:nvPr/>
        </p:nvSpPr>
        <p:spPr>
          <a:xfrm>
            <a:off x="8138160" y="5193792"/>
            <a:ext cx="347472" cy="347472"/>
          </a:xfrm>
          <a:prstGeom prst="ellipse">
            <a:avLst/>
          </a:prstGeom>
          <a:solidFill>
            <a:srgbClr val="5CB8F2"/>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제외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a:lnSpc>
                <a:spcPct val="110000"/>
              </a:lnSpc>
              <a:spcAft>
                <a:spcPts val="600"/>
              </a:spcAft>
            </a:pPr>
            <a:r>
              <a:rPr sz="1450" b="0">
                <a:solidFill>
                  <a:srgbClr val="1F2A3A"/>
                </a:solidFill>
                <a:latin typeface="맑은 고딕"/>
                <a:ea typeface="맑은 고딕"/>
                <a:cs typeface="맑은 고딕"/>
              </a:rPr>
              <a:t>• 섞었을 때: 안전 조건을 점수에 넣으면 다른 점수가 높을 때 위험한 조치가 1순위가 되어 넘으면 안 되는 선이 무너진다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득실에 감점과 경고를 함께 본다</a:t>
            </a:r>
          </a:p>
          <a:p>
            <a:pPr algn="l">
              <a:lnSpc>
                <a:spcPct val="110000"/>
              </a:lnSpc>
              <a:spcAft>
                <a:spcPts val="600"/>
              </a:spcAft>
            </a:pPr>
            <a:r>
              <a:rPr sz="1450" b="0">
                <a:solidFill>
                  <a:srgbClr val="1F2A3A"/>
                </a:solidFill>
                <a:latin typeface="맑은 고딕"/>
                <a:ea typeface="맑은 고딕"/>
                <a:cs typeface="맑은 고딕"/>
              </a:rPr>
              <a:t>• 섞었을 때: 견줄 값을 제외 조건에 넣으면 비용이 조금만 들어도 빠져 고를 조치가 남지 않는다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숫자만 볼 때의 문제와 BSC(Balanced Scorecard)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이익 같은 재무 숫자는 일이 끝난 뒤에야 나오며, BSC는 그 결과를 만드는 원인까지 여러 관점에서 함께 보게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55472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BSC: 여러 관점에서 함께 본다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BSC(Balanced Scorecard, 균형 성과표)는 성과를 재무 하나가 아니라 네 관점에서 균형 있게 보는 성과 관리의 틀이다</a:t>
            </a:r>
          </a:p>
          <a:p>
            <a:pPr algn="l">
              <a:lnSpc>
                <a:spcPct val="110000"/>
              </a:lnSpc>
              <a:spcAft>
                <a:spcPts val="600"/>
              </a:spcAft>
            </a:pPr>
            <a:r>
              <a:rPr sz="1450" b="0">
                <a:solidFill>
                  <a:srgbClr val="1F2A3A"/>
                </a:solidFill>
                <a:latin typeface="맑은 고딕"/>
                <a:ea typeface="맑은 고딕"/>
                <a:cs typeface="맑은 고딕"/>
              </a:rPr>
              <a:t>• 관점마다 이루려는 목표와 그것을 재는 지표를 둔다</a:t>
            </a:r>
          </a:p>
          <a:p>
            <a:pPr algn="l">
              <a:lnSpc>
                <a:spcPct val="110000"/>
              </a:lnSpc>
              <a:spcAft>
                <a:spcPts val="600"/>
              </a:spcAft>
            </a:pPr>
            <a:r>
              <a:rPr sz="1450" b="0">
                <a:solidFill>
                  <a:srgbClr val="1F2A3A"/>
                </a:solidFill>
                <a:latin typeface="맑은 고딕"/>
                <a:ea typeface="맑은 고딕"/>
                <a:cs typeface="맑은 고딕"/>
              </a:rPr>
              <a:t>• 납기와 품질, 설비와 안전까지 보아 결과가 나오기 전에 손을 쓴다</a:t>
            </a:r>
          </a:p>
          <a:p>
            <a:pPr algn="l">
              <a:lnSpc>
                <a:spcPct val="110000"/>
              </a:lnSpc>
              <a:spcAft>
                <a:spcPts val="600"/>
              </a:spcAft>
            </a:pPr>
            <a:r>
              <a:rPr sz="1450" b="0">
                <a:solidFill>
                  <a:srgbClr val="1F2A3A"/>
                </a:solidFill>
                <a:latin typeface="맑은 고딕"/>
                <a:ea typeface="맑은 고딕"/>
                <a:cs typeface="맑은 고딕"/>
              </a:rPr>
              <a:t>• 캐플런과 노턴이 제안했다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BSC의 네 관점과 HYD의 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관점은 각각 돈, 고객, 운영, 축적을 묻고, HYD의 여덟 목표는 이 네 물음 아래에 나뉘어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관점 (Perspective)</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보는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HYD의 목표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재무 (Financial)</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결과가 돈으로 어떻게 나타나는가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영업이익 확대</a:t>
            </a:r>
          </a:p>
          <a:p>
            <a:pPr algn="l">
              <a:lnSpc>
                <a:spcPct val="110000"/>
              </a:lnSpc>
            </a:pPr>
            <a:r>
              <a:rPr sz="1250" b="1">
                <a:solidFill>
                  <a:srgbClr val="556175"/>
                </a:solidFill>
                <a:latin typeface="맑은 고딕"/>
                <a:ea typeface="맑은 고딕"/>
                <a:cs typeface="맑은 고딕"/>
              </a:rPr>
              <a:t>원가 절감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고객 (Customer)</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고객에게 무엇을 지키는가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신뢰</a:t>
            </a:r>
          </a:p>
          <a:p>
            <a:pPr algn="l">
              <a:lnSpc>
                <a:spcPct val="110000"/>
              </a:lnSpc>
            </a:pPr>
            <a:r>
              <a:rPr sz="1250" b="1">
                <a:solidFill>
                  <a:srgbClr val="556175"/>
                </a:solidFill>
                <a:latin typeface="맑은 고딕"/>
                <a:ea typeface="맑은 고딕"/>
                <a:cs typeface="맑은 고딕"/>
              </a:rPr>
              <a:t>품질 신뢰</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내부 프로세스 (Internal Process)</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잘 운영해야 하는가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 가용성 확보</a:t>
            </a:r>
          </a:p>
          <a:p>
            <a:pPr algn="l">
              <a:lnSpc>
                <a:spcPct val="110000"/>
              </a:lnSpc>
            </a:pPr>
            <a:r>
              <a:rPr sz="1250" b="1">
                <a:solidFill>
                  <a:srgbClr val="1A6FC4"/>
                </a:solidFill>
                <a:latin typeface="맑은 고딕"/>
                <a:ea typeface="맑은 고딕"/>
                <a:cs typeface="맑은 고딕"/>
              </a:rPr>
              <a:t>무재해 운전</a:t>
            </a:r>
          </a:p>
          <a:p>
            <a:pPr algn="l">
              <a:lnSpc>
                <a:spcPct val="110000"/>
              </a:lnSpc>
            </a:pPr>
            <a:r>
              <a:rPr sz="1250" b="1">
                <a:solidFill>
                  <a:srgbClr val="1A6FC4"/>
                </a:solidFill>
                <a:latin typeface="맑은 고딕"/>
                <a:ea typeface="맑은 고딕"/>
                <a:cs typeface="맑은 고딕"/>
              </a:rPr>
              <a:t>에너지 효율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학습과 성장 (Learning and Growth)</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쌓아야 계속 나아지는가</a:t>
            </a:r>
          </a:p>
          <a:p>
            <a:pPr algn="l">
              <a:lnSpc>
                <a:spcPct val="110000"/>
              </a:lnSpc>
            </a:pPr>
            <a:r>
              <a:rPr sz="1400" b="0">
                <a:solidFill>
                  <a:srgbClr val="1F2A3A"/>
                </a:solidFill>
                <a:latin typeface="맑은 고딕"/>
                <a:ea typeface="맑은 고딕"/>
                <a:cs typeface="맑은 고딕"/>
              </a:rPr>
              <a:t>사람의 판단과 그 이유를 남겨 다음 판단에 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 목표는 방향을 말로 정할 뿐 달성 정도를 알려 주지 않으며, 그 정도는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 (Strategic Objective)</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조직이 이루려는 상태를 문장으로 적은 것이다</a:t>
            </a:r>
          </a:p>
          <a:p>
            <a:pPr algn="l">
              <a:lnSpc>
                <a:spcPct val="110000"/>
              </a:lnSpc>
              <a:spcAft>
                <a:spcPts val="600"/>
              </a:spcAft>
            </a:pPr>
            <a:r>
              <a:rPr sz="1450" b="0">
                <a:solidFill>
                  <a:srgbClr val="1F2A3A"/>
                </a:solidFill>
                <a:latin typeface="맑은 고딕"/>
                <a:ea typeface="맑은 고딕"/>
                <a:cs typeface="맑은 고딕"/>
              </a:rPr>
              <a:t>• 방향을 정하지만 얼마나 이루었는지는 말해 주지 않는다</a:t>
            </a:r>
          </a:p>
          <a:p>
            <a:pPr algn="l">
              <a:lnSpc>
                <a:spcPct val="110000"/>
              </a:lnSpc>
              <a:spcAft>
                <a:spcPts val="600"/>
              </a:spcAft>
            </a:pPr>
            <a:r>
              <a:rPr sz="1450" b="0">
                <a:solidFill>
                  <a:srgbClr val="1F2A3A"/>
                </a:solidFill>
                <a:latin typeface="맑은 고딕"/>
                <a:ea typeface="맑은 고딕"/>
                <a:cs typeface="맑은 고딕"/>
              </a:rPr>
              <a:t>• 예: 무재해 운전 — 인터록 한계를 넘지 않는다, 금액과 맞바꾸지 않는다 (내부 프로세스 관점)</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 (핵심 성과 지표)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목표를 얼마나 이루었는지를 수치로 재는 지표이다</a:t>
            </a:r>
          </a:p>
          <a:p>
            <a:pPr algn="l">
              <a:lnSpc>
                <a:spcPct val="110000"/>
              </a:lnSpc>
              <a:spcAft>
                <a:spcPts val="600"/>
              </a:spcAft>
            </a:pPr>
            <a:r>
              <a:rPr sz="1450" b="0">
                <a:solidFill>
                  <a:srgbClr val="1F2A3A"/>
                </a:solidFill>
                <a:latin typeface="맑은 고딕"/>
                <a:ea typeface="맑은 고딕"/>
                <a:cs typeface="맑은 고딕"/>
              </a:rPr>
              <a:t>• 무재해 운전의 KPI: 인터록 여유 — 유온이 인터록 한계까지 얼마나 남았는가 (℃)</a:t>
            </a:r>
          </a:p>
          <a:p>
            <a:pPr algn="l">
              <a:lnSpc>
                <a:spcPct val="110000"/>
              </a:lnSpc>
              <a:spcAft>
                <a:spcPts val="600"/>
              </a:spcAft>
            </a:pPr>
            <a:r>
              <a:rPr sz="1450" b="0">
                <a:solidFill>
                  <a:srgbClr val="1F2A3A"/>
                </a:solidFill>
                <a:latin typeface="맑은 고딕"/>
                <a:ea typeface="맑은 고딕"/>
                <a:cs typeface="맑은 고딕"/>
              </a:rPr>
              <a:t>• 납기 신뢰의 KPI: 납기 준수율 — 약속한 납기를 지킨 비율 (%)</a:t>
            </a:r>
          </a:p>
          <a:p>
            <a:pPr algn="l">
              <a:lnSpc>
                <a:spcPct val="110000"/>
              </a:lnSpc>
              <a:spcAft>
                <a:spcPts val="600"/>
              </a:spcAft>
            </a:pPr>
            <a:r>
              <a:rPr sz="1450" b="0">
                <a:solidFill>
                  <a:srgbClr val="1F2A3A"/>
                </a:solidFill>
                <a:latin typeface="맑은 고딕"/>
                <a:ea typeface="맑은 고딕"/>
                <a:cs typeface="맑은 고딕"/>
              </a:rPr>
              <a:t>• KPI는 목표를 재는 수단이다</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정의: 인터록 여유는 무엇을 재는가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지표에는 무엇을 어떻게 재는지의 정의가 있어야 하며, 인터록 여유는 유온 한계에서 기간 중 최고 유온을 뺀 값이다.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인터록여유_1.svg" descr="illust_8507709441046142423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7786819" y="299859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기간 중 최고 유온</a:t>
            </a:r>
          </a:p>
        </p:txBody>
      </p:sp>
      <p:sp>
        <p:nvSpPr>
          <p:cNvPr id="9" name="TextBox 8"/>
          <p:cNvSpPr txBox="1"/>
          <p:nvPr/>
        </p:nvSpPr>
        <p:spPr>
          <a:xfrm>
            <a:off x="7983190" y="5125943"/>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한계에서 최고 유온을 뺀 값</a:t>
            </a:r>
          </a:p>
        </p:txBody>
      </p:sp>
      <p:sp>
        <p:nvSpPr>
          <p:cNvPr id="10" name="TextBox 9"/>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1" name="TextBox 10"/>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2" name="TextBox 11"/>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3" name="TextBox 12"/>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4" name="TextBox 13"/>
          <p:cNvSpPr txBox="1"/>
          <p:nvPr/>
        </p:nvSpPr>
        <p:spPr>
          <a:xfrm>
            <a:off x="1404764" y="191127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a:t>
            </a:r>
          </a:p>
          <a:p>
            <a:pPr algn="ctr">
              <a:lnSpc>
                <a:spcPct val="110000"/>
              </a:lnSpc>
              <a:spcAft>
                <a:spcPts val="100"/>
              </a:spcAft>
            </a:pPr>
            <a:r>
              <a:rPr sz="1300" b="0">
                <a:solidFill>
                  <a:srgbClr val="556175"/>
                </a:solidFill>
                <a:latin typeface="맑은 고딕"/>
                <a:ea typeface="맑은 고딕"/>
                <a:cs typeface="맑은 고딕"/>
              </a:rPr>
              <a:t>무엇을 어떻게 재는가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조치가 성과에 닿는 길: 설비의 값, 유온,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조치가 바꾸는 것은 성과 지표가 아니라 설비의 값이며, 팬 속도와 펌프 부하의 변화가 유온을 거쳐 인터록 여유에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성과경로_2.svg" descr="illust_2913283201321713373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100 %로 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80 %로 내린다</a:t>
            </a:r>
          </a:p>
        </p:txBody>
      </p:sp>
      <p:sp>
        <p:nvSpPr>
          <p:cNvPr id="10" name="TextBox 9"/>
          <p:cNvSpPr txBox="1"/>
          <p:nvPr/>
        </p:nvSpPr>
        <p:spPr>
          <a:xfrm>
            <a:off x="5932205" y="4227728"/>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두 길이 모두 내린다</a:t>
            </a:r>
          </a:p>
        </p:txBody>
      </p:sp>
      <p:sp>
        <p:nvSpPr>
          <p:cNvPr id="11" name="TextBox 10"/>
          <p:cNvSpPr txBox="1"/>
          <p:nvPr/>
        </p:nvSpPr>
        <p:spPr>
          <a:xfrm>
            <a:off x="8615940" y="422772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가장 크게 늘어난다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한 목표에는 이롭고 다른 목표에는 해로운 것이 성과의 상충이며, 조치 선택은 그 득실의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성과경로_5.svg" descr="illust_529087855459927057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 · 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 · 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 · 불리하다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순위: 쿨러 사건의 네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실제 점수에서는 생산을 그대로 두는 팬 최대 운전이 1순위였고, 부하를 낮추는 두 후보는 점수가 같았다.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순위와 조치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점수</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+3.38</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-1.58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후보가 1순위에 뒤진 까닭: 항목별 득실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부하를 낮춘 조치는 유온에서 얻은 것보다 납기에서 더 잃었고, 쿨러 핀 세척은 지금의 유온을 내리지 못해 뒤졌다.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rending-down" descr="trending-down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부하를 낮추는 두 조치</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1순위와 견준 점수이며 두 조치의 내역이 같다</a:t>
            </a:r>
          </a:p>
          <a:p>
            <a:pPr algn="l">
              <a:lnSpc>
                <a:spcPct val="110000"/>
              </a:lnSpc>
              <a:spcAft>
                <a:spcPts val="600"/>
              </a:spcAft>
            </a:pPr>
            <a:r>
              <a:rPr sz="1450" b="0">
                <a:solidFill>
                  <a:srgbClr val="1F2A3A"/>
                </a:solidFill>
                <a:latin typeface="맑은 고딕"/>
                <a:ea typeface="맑은 고딕"/>
                <a:cs typeface="맑은 고딕"/>
              </a:rPr>
              <a:t>• 얻은 것 +0.26: 예측 유온, 유온을 더 내린다</a:t>
            </a:r>
          </a:p>
          <a:p>
            <a:pPr algn="l">
              <a:lnSpc>
                <a:spcPct val="110000"/>
              </a:lnSpc>
              <a:spcAft>
                <a:spcPts val="600"/>
              </a:spcAft>
            </a:pPr>
            <a:r>
              <a:rPr sz="1450" b="0">
                <a:solidFill>
                  <a:srgbClr val="1F2A3A"/>
                </a:solidFill>
                <a:latin typeface="맑은 고딕"/>
                <a:ea typeface="맑은 고딕"/>
                <a:cs typeface="맑은 고딕"/>
              </a:rPr>
              <a:t>• 이 점수에는 상한이 있어 47.7 ℃와 44.6 ℃가 같은 값을 받았다</a:t>
            </a:r>
          </a:p>
          <a:p>
            <a:pPr algn="l">
              <a:lnSpc>
                <a:spcPct val="110000"/>
              </a:lnSpc>
              <a:spcAft>
                <a:spcPts val="600"/>
              </a:spcAft>
            </a:pPr>
            <a:r>
              <a:rPr sz="1450" b="0">
                <a:solidFill>
                  <a:srgbClr val="1F2A3A"/>
                </a:solidFill>
                <a:latin typeface="맑은 고딕"/>
                <a:ea typeface="맑은 고딕"/>
                <a:cs typeface="맑은 고딕"/>
              </a:rPr>
              <a:t>• 잃은 것 -0.89: 납기 -0.67과 성과 지표 -0.22</a:t>
            </a:r>
          </a:p>
          <a:p>
            <a:pPr algn="l">
              <a:lnSpc>
                <a:spcPct val="110000"/>
              </a:lnSpc>
              <a:spcAft>
                <a:spcPts val="600"/>
              </a:spcAft>
            </a:pPr>
            <a:r>
              <a:rPr sz="1450" b="0">
                <a:solidFill>
                  <a:srgbClr val="1F2A3A"/>
                </a:solidFill>
                <a:latin typeface="맑은 고딕"/>
                <a:ea typeface="맑은 고딕"/>
                <a:cs typeface="맑은 고딕"/>
              </a:rPr>
              <a:t>• 생산이 줄어 긴급 오더의 납기가 어려워진다</a:t>
            </a:r>
          </a:p>
        </p:txBody>
      </p:sp>
      <p:sp>
        <p:nvSpPr>
          <p:cNvPr id="11" name="Rounded Rectangle 10"/>
          <p:cNvSpPr/>
          <p:nvPr/>
        </p:nvSpPr>
        <p:spPr>
          <a:xfrm>
            <a:off x="868680" y="5396865"/>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잃은 것이 더 크다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4순위: 쿨러 핀 세척</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없애지만 지금의 유온을 내리지 못한다</a:t>
            </a:r>
          </a:p>
          <a:p>
            <a:pPr algn="l">
              <a:lnSpc>
                <a:spcPct val="110000"/>
              </a:lnSpc>
              <a:spcAft>
                <a:spcPts val="600"/>
              </a:spcAft>
            </a:pPr>
            <a:r>
              <a:rPr sz="1450" b="0">
                <a:solidFill>
                  <a:srgbClr val="1F2A3A"/>
                </a:solidFill>
                <a:latin typeface="맑은 고딕"/>
                <a:ea typeface="맑은 고딕"/>
                <a:cs typeface="맑은 고딕"/>
              </a:rPr>
              <a:t>• 예측 유온 62.5 ℃로 경보 기준 55 ℃를 넘는다</a:t>
            </a:r>
          </a:p>
          <a:p>
            <a:pPr algn="l">
              <a:lnSpc>
                <a:spcPct val="110000"/>
              </a:lnSpc>
              <a:spcAft>
                <a:spcPts val="600"/>
              </a:spcAft>
            </a:pPr>
            <a:r>
              <a:rPr sz="1450" b="0">
                <a:solidFill>
                  <a:srgbClr val="1F2A3A"/>
                </a:solidFill>
                <a:latin typeface="맑은 고딕"/>
                <a:ea typeface="맑은 고딕"/>
                <a:cs typeface="맑은 고딕"/>
              </a:rPr>
              <a:t>• 「경보 해제에 실패할 수 있으므로 다른 조치와 비교하라」는 경고가 붙었다 (HM-8.6)</a:t>
            </a:r>
          </a:p>
          <a:p>
            <a:pPr algn="l">
              <a:lnSpc>
                <a:spcPct val="110000"/>
              </a:lnSpc>
              <a:spcAft>
                <a:spcPts val="600"/>
              </a:spcAft>
            </a:pPr>
            <a:r>
              <a:rPr sz="1450" b="0">
                <a:solidFill>
                  <a:srgbClr val="1F2A3A"/>
                </a:solidFill>
                <a:latin typeface="맑은 고딕"/>
                <a:ea typeface="맑은 고딕"/>
                <a:cs typeface="맑은 고딕"/>
              </a:rPr>
              <a:t>• 뜨거운 상태로 만든 제품의 품질 문제로 점수가 깎였다</a:t>
            </a:r>
          </a:p>
        </p:txBody>
      </p:sp>
      <p:sp>
        <p:nvSpPr>
          <p:cNvPr id="18" name="Rounded Rectangle 17"/>
          <p:cNvSpPr/>
          <p:nvPr/>
        </p:nvSpPr>
        <p:spPr>
          <a:xfrm>
            <a:off x="6781647" y="5396865"/>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 경고 · 품질</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가장 좋은 조치는 상황과 기준이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가장 좋은 조치는 조치 자체에 정해져 있지 않고 그때의 상황과 견주는 기준에 따라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상황이 달라지면 순위가 달라진다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calendar-time" descr="calendar-time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상황</a:t>
            </a:r>
          </a:p>
          <a:p>
            <a:pPr algn="l">
              <a:lnSpc>
                <a:spcPct val="110000"/>
              </a:lnSpc>
              <a:spcAft>
                <a:spcPts val="400"/>
              </a:spcAft>
            </a:pPr>
            <a:r>
              <a:rPr sz="1400" b="0">
                <a:solidFill>
                  <a:srgbClr val="1F2A3A"/>
                </a:solidFill>
                <a:latin typeface="맑은 고딕"/>
                <a:ea typeface="맑은 고딕"/>
                <a:cs typeface="맑은 고딕"/>
              </a:rPr>
              <a:t>긴급 오더의 납기가</a:t>
            </a:r>
          </a:p>
          <a:p>
            <a:pPr algn="l">
              <a:lnSpc>
                <a:spcPct val="110000"/>
              </a:lnSpc>
              <a:spcAft>
                <a:spcPts val="400"/>
              </a:spcAft>
            </a:pPr>
            <a:r>
              <a:rPr sz="1400" b="0">
                <a:solidFill>
                  <a:srgbClr val="1F2A3A"/>
                </a:solidFill>
                <a:latin typeface="맑은 고딕"/>
                <a:ea typeface="맑은 고딕"/>
                <a:cs typeface="맑은 고딕"/>
              </a:rPr>
              <a:t>약 6시간 남아 있었다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scale" descr="scale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납기에서 잃는 것을</a:t>
            </a:r>
          </a:p>
          <a:p>
            <a:pPr algn="l">
              <a:lnSpc>
                <a:spcPct val="110000"/>
              </a:lnSpc>
              <a:spcAft>
                <a:spcPts val="400"/>
              </a:spcAft>
            </a:pPr>
            <a:r>
              <a:rPr sz="1400" b="0">
                <a:solidFill>
                  <a:srgbClr val="1F2A3A"/>
                </a:solidFill>
                <a:latin typeface="맑은 고딕"/>
                <a:ea typeface="맑은 고딕"/>
                <a:cs typeface="맑은 고딕"/>
              </a:rPr>
              <a:t>크게 쳤다</a:t>
            </a:r>
          </a:p>
        </p:txBody>
      </p:sp>
      <p:sp>
        <p:nvSpPr>
          <p:cNvPr id="14" name="Oval 13"/>
          <p:cNvSpPr/>
          <p:nvPr/>
        </p:nvSpPr>
        <p:spPr>
          <a:xfrm>
            <a:off x="8127796" y="4071620"/>
            <a:ext cx="731520" cy="731520"/>
          </a:xfrm>
          <a:prstGeom prst="ellipse">
            <a:avLst/>
          </a:prstGeom>
          <a:solidFill>
            <a:srgbClr val="5CB8F2"/>
          </a:solidFill>
          <a:ln>
            <a:noFill/>
          </a:ln>
        </p:spPr>
        <p:txBody>
          <a:bodyPr rtlCol="0" anchor="ctr"/>
          <a:lstStyle/>
          <a:p>
            <a:pPr algn="ctr"/>
          </a:p>
        </p:txBody>
      </p:sp>
      <p:pic>
        <p:nvPicPr>
          <p:cNvPr id="15" name="아이콘:trophy" descr="trophy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생산을 지키는</a:t>
            </a:r>
          </a:p>
          <a:p>
            <a:pPr algn="l">
              <a:lnSpc>
                <a:spcPct val="110000"/>
              </a:lnSpc>
              <a:spcAft>
                <a:spcPts val="400"/>
              </a:spcAft>
            </a:pPr>
            <a:r>
              <a:rPr sz="1400" b="0">
                <a:solidFill>
                  <a:srgbClr val="1F2A3A"/>
                </a:solidFill>
                <a:latin typeface="맑은 고딕"/>
                <a:ea typeface="맑은 고딕"/>
                <a:cs typeface="맑은 고딕"/>
              </a:rPr>
              <a:t>팬 최대 운전이 1순위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판단 한 건을 사본으로 떠서 그 안의 값을 가정값으로 바꾸어, 조건이 달랐을 때의 순위를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가정분석_2.svg" descr="illust_1872347850263892038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2904820" y="5645962"/>
            <a:ext cx="392741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사본에서 실제와 다르게 바꾸어 넣는 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
        <p:nvSpPr>
          <p:cNvPr id="10" name="TextBox 9"/>
          <p:cNvSpPr txBox="1"/>
          <p:nvPr/>
        </p:nvSpPr>
        <p:spPr>
          <a:xfrm>
            <a:off x="7404987" y="5645962"/>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What-if 분석</a:t>
            </a:r>
          </a:p>
          <a:p>
            <a:pPr algn="ctr">
              <a:lnSpc>
                <a:spcPct val="110000"/>
              </a:lnSpc>
              <a:spcAft>
                <a:spcPts val="100"/>
              </a:spcAft>
            </a:pPr>
            <a:r>
              <a:rPr sz="1300" b="0">
                <a:solidFill>
                  <a:srgbClr val="556175"/>
                </a:solidFill>
                <a:latin typeface="맑은 고딕"/>
                <a:ea typeface="맑은 고딕"/>
                <a:cs typeface="맑은 고딕"/>
              </a:rPr>
              <a:t>조건이 달랐다면 어떻게 되는지를</a:t>
            </a:r>
          </a:p>
          <a:p>
            <a:pPr algn="ctr">
              <a:lnSpc>
                <a:spcPct val="110000"/>
              </a:lnSpc>
              <a:spcAft>
                <a:spcPts val="100"/>
              </a:spcAft>
            </a:pPr>
            <a:r>
              <a:rPr sz="1300" b="0">
                <a:solidFill>
                  <a:srgbClr val="556175"/>
                </a:solidFill>
                <a:latin typeface="맑은 고딕"/>
                <a:ea typeface="맑은 고딕"/>
                <a:cs typeface="맑은 고딕"/>
              </a:rPr>
              <a:t>계산해 보는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기준 결과와 시험 결과, 순위의 경계값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가정값을 바꾸다가 1순위가 달라지는 값이 순위의 경계값이며, 이 계산은 원본을 읽기만 하고 바꾸지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가정분석_5.svg" descr="illust_7554753954985713393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761104" y="5645962"/>
            <a:ext cx="229099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읽기만 한다</a:t>
            </a:r>
          </a:p>
          <a:p>
            <a:pPr algn="ctr">
              <a:lnSpc>
                <a:spcPct val="110000"/>
              </a:lnSpc>
              <a:spcAft>
                <a:spcPts val="100"/>
              </a:spcAft>
            </a:pPr>
            <a:r>
              <a:rPr sz="1300" b="0">
                <a:solidFill>
                  <a:srgbClr val="556175"/>
                </a:solidFill>
                <a:latin typeface="맑은 고딕"/>
                <a:ea typeface="맑은 고딕"/>
                <a:cs typeface="맑은 고딕"/>
              </a:rPr>
              <a:t>원본의 값은 그대로 남는다</a:t>
            </a:r>
          </a:p>
        </p:txBody>
      </p:sp>
      <p:sp>
        <p:nvSpPr>
          <p:cNvPr id="9" name="TextBox 8"/>
          <p:cNvSpPr txBox="1"/>
          <p:nvPr/>
        </p:nvSpPr>
        <p:spPr>
          <a:xfrm>
            <a:off x="3668484" y="1816729"/>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한 건의 사본</a:t>
            </a:r>
          </a:p>
        </p:txBody>
      </p:sp>
      <p:sp>
        <p:nvSpPr>
          <p:cNvPr id="10" name="TextBox 9"/>
          <p:cNvSpPr txBox="1"/>
          <p:nvPr/>
        </p:nvSpPr>
        <p:spPr>
          <a:xfrm>
            <a:off x="3668484" y="5645962"/>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사본의 계산에만 쓰인다</a:t>
            </a:r>
          </a:p>
        </p:txBody>
      </p:sp>
      <p:sp>
        <p:nvSpPr>
          <p:cNvPr id="11" name="TextBox 10"/>
          <p:cNvSpPr txBox="1"/>
          <p:nvPr/>
        </p:nvSpPr>
        <p:spPr>
          <a:xfrm>
            <a:off x="7426805" y="162763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기준 결과</a:t>
            </a:r>
          </a:p>
          <a:p>
            <a:pPr algn="ctr">
              <a:lnSpc>
                <a:spcPct val="110000"/>
              </a:lnSpc>
              <a:spcAft>
                <a:spcPts val="100"/>
              </a:spcAft>
            </a:pPr>
            <a:r>
              <a:rPr sz="1300" b="0">
                <a:solidFill>
                  <a:srgbClr val="556175"/>
                </a:solidFill>
                <a:latin typeface="맑은 고딕"/>
                <a:ea typeface="맑은 고딕"/>
                <a:cs typeface="맑은 고딕"/>
              </a:rPr>
              <a:t>지금의 값으로 계산한 순위</a:t>
            </a:r>
          </a:p>
        </p:txBody>
      </p:sp>
      <p:sp>
        <p:nvSpPr>
          <p:cNvPr id="12" name="TextBox 11"/>
          <p:cNvSpPr txBox="1"/>
          <p:nvPr/>
        </p:nvSpPr>
        <p:spPr>
          <a:xfrm>
            <a:off x="7426805" y="5598688"/>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시험 결과</a:t>
            </a:r>
          </a:p>
          <a:p>
            <a:pPr algn="ctr">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3" name="TextBox 12"/>
          <p:cNvSpPr txBox="1"/>
          <p:nvPr/>
        </p:nvSpPr>
        <p:spPr>
          <a:xfrm>
            <a:off x="10099632" y="3518611"/>
            <a:ext cx="1418234" cy="102666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순위의 경계값</a:t>
            </a:r>
          </a:p>
          <a:p>
            <a:pPr algn="ctr">
              <a:lnSpc>
                <a:spcPct val="110000"/>
              </a:lnSpc>
              <a:spcAft>
                <a:spcPts val="100"/>
              </a:spcAft>
            </a:pPr>
            <a:r>
              <a:rPr sz="1300" b="0">
                <a:solidFill>
                  <a:srgbClr val="556175"/>
                </a:solidFill>
                <a:latin typeface="맑은 고딕"/>
                <a:ea typeface="맑은 고딕"/>
                <a:cs typeface="맑은 고딕"/>
              </a:rPr>
              <a:t>1순위가 바뀌는</a:t>
            </a:r>
          </a:p>
          <a:p>
            <a:pPr algn="ctr">
              <a:lnSpc>
                <a:spcPct val="110000"/>
              </a:lnSpc>
              <a:spcAft>
                <a:spcPts val="100"/>
              </a:spcAft>
            </a:pPr>
            <a:r>
              <a:rPr sz="1300" b="0">
                <a:solidFill>
                  <a:srgbClr val="556175"/>
                </a:solidFill>
                <a:latin typeface="맑은 고딕"/>
                <a:ea typeface="맑은 고딕"/>
                <a:cs typeface="맑은 고딕"/>
              </a:rPr>
              <a:t>가정값</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실습의 결과물은 같은 이상 상황에 운전 조건과 성과 기준을 달리한 판단 결과를 나란히 견준 기록이다.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입력 값으로 조치를 가르고 남은 후보를 비교해 선택 이유를 보여 주는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남고 순위가 매겨진다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기준값 부근</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행 일치</a:t>
            </a:r>
          </a:p>
          <a:p>
            <a:pPr algn="l">
              <a:lnSpc>
                <a:spcPct val="110000"/>
              </a:lnSpc>
              <a:spcAft>
                <a:spcPts val="400"/>
              </a:spcAft>
            </a:pPr>
            <a:r>
              <a:rPr sz="1350" b="0">
                <a:solidFill>
                  <a:srgbClr val="1F2A3A"/>
                </a:solidFill>
                <a:latin typeface="맑은 고딕"/>
                <a:ea typeface="맑은 고딕"/>
                <a:cs typeface="맑은 고딕"/>
              </a:rPr>
              <a:t>• 감점 행과 경고 행이 함께 맞는 입력이다</a:t>
            </a:r>
          </a:p>
          <a:p>
            <a:pPr algn="l">
              <a:lnSpc>
                <a:spcPct val="110000"/>
              </a:lnSpc>
              <a:spcAft>
                <a:spcPts val="400"/>
              </a:spcAft>
            </a:pPr>
            <a:r>
              <a:rPr sz="1350" b="0">
                <a:solidFill>
                  <a:srgbClr val="1F2A3A"/>
                </a:solidFill>
                <a:latin typeface="맑은 고딕"/>
                <a:ea typeface="맑은 고딕"/>
                <a:cs typeface="맑은 고딕"/>
              </a:rPr>
              <a:t>• 맞은 행의 출력이 모두 붙는지 확인한다</a:t>
            </a:r>
          </a:p>
        </p:txBody>
      </p:sp>
      <p:sp>
        <p:nvSpPr>
          <p:cNvPr id="22" name="Rounded Rectangle 21"/>
          <p:cNvSpPr/>
          <p:nvPr/>
        </p:nvSpPr>
        <p:spPr>
          <a:xfrm>
            <a:off x="6461607" y="5134356"/>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추천을 내지 않고 제외 사유를 보여 주어야 한다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흔하며, 최근 30초 냉각 효율 평균이 70 % 미만이고 팬이 정상이면 핀 오염으로 판정한다고 적혀 있다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냉각 효율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인스턴스의 적재와 문서 인제스천의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넣은 인스턴스와 달리 문서에서 들여온 지식은 근거 원문과 검토 기록이 남아야 판단의 근거로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database-import" descr="database-impor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2일차의 예시 인스턴스 적재</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설계한 스키마에 맞춰 사람이 정리한 예시 인스턴스와 관계</a:t>
            </a:r>
          </a:p>
          <a:p>
            <a:pPr algn="l">
              <a:lnSpc>
                <a:spcPct val="110000"/>
              </a:lnSpc>
              <a:spcAft>
                <a:spcPts val="600"/>
              </a:spcAft>
            </a:pPr>
            <a:r>
              <a:rPr sz="1450" b="0">
                <a:solidFill>
                  <a:srgbClr val="1F2A3A"/>
                </a:solidFill>
                <a:latin typeface="맑은 고딕"/>
                <a:ea typeface="맑은 고딕"/>
                <a:cs typeface="맑은 고딕"/>
              </a:rPr>
              <a:t>• 넣는 방법: Cypher 문으로 그래프 DB에 직접 적재한다</a:t>
            </a:r>
          </a:p>
          <a:p>
            <a:pPr algn="l">
              <a:lnSpc>
                <a:spcPct val="110000"/>
              </a:lnSpc>
              <a:spcAft>
                <a:spcPts val="600"/>
              </a:spcAft>
            </a:pPr>
            <a:r>
              <a:rPr sz="1450" b="0">
                <a:solidFill>
                  <a:srgbClr val="1F2A3A"/>
                </a:solidFill>
                <a:latin typeface="맑은 고딕"/>
                <a:ea typeface="맑은 고딕"/>
                <a:cs typeface="맑은 고딕"/>
              </a:rPr>
              <a:t>• 확인: 저장된 노드와 관계가 설계한 것과 같은지 조회해 본다</a:t>
            </a:r>
          </a:p>
          <a:p>
            <a:pPr algn="l">
              <a:lnSpc>
                <a:spcPct val="110000"/>
              </a:lnSpc>
              <a:spcAft>
                <a:spcPts val="600"/>
              </a:spcAft>
            </a:pPr>
            <a:r>
              <a:rPr sz="1450" b="0">
                <a:solidFill>
                  <a:srgbClr val="1F2A3A"/>
                </a:solidFill>
                <a:latin typeface="맑은 고딕"/>
                <a:ea typeface="맑은 고딕"/>
                <a:cs typeface="맑은 고딕"/>
              </a:rPr>
              <a:t>• 내용이 어디에서 왔는지는 넣은 사람이 안다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직접 정해 넣는다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file-import" descr="file-impor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 인제스천</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매뉴얼 원문에서 추출한 지식 후보</a:t>
            </a:r>
          </a:p>
          <a:p>
            <a:pPr algn="l">
              <a:lnSpc>
                <a:spcPct val="110000"/>
              </a:lnSpc>
              <a:spcAft>
                <a:spcPts val="600"/>
              </a:spcAft>
            </a:pPr>
            <a:r>
              <a:rPr sz="1450" b="0">
                <a:solidFill>
                  <a:srgbClr val="1F2A3A"/>
                </a:solidFill>
                <a:latin typeface="맑은 고딕"/>
                <a:ea typeface="맑은 고딕"/>
                <a:cs typeface="맑은 고딕"/>
              </a:rPr>
              <a:t>• 넣는 방법: 스키마와 식별자에 맞추고 원문 대조, 사람 검토, 승인을 거친 것만 적재한다</a:t>
            </a:r>
          </a:p>
          <a:p>
            <a:pPr algn="l">
              <a:lnSpc>
                <a:spcPct val="110000"/>
              </a:lnSpc>
              <a:spcAft>
                <a:spcPts val="600"/>
              </a:spcAft>
            </a:pPr>
            <a:r>
              <a:rPr sz="1450" b="0">
                <a:solidFill>
                  <a:srgbClr val="1F2A3A"/>
                </a:solidFill>
                <a:latin typeface="맑은 고딕"/>
                <a:ea typeface="맑은 고딕"/>
                <a:cs typeface="맑은 고딕"/>
              </a:rPr>
              <a:t>• 확인: 지식마다 근거가 된 원문 구간과 검토한 사람이 기록된다</a:t>
            </a:r>
          </a:p>
          <a:p>
            <a:pPr algn="l">
              <a:lnSpc>
                <a:spcPct val="110000"/>
              </a:lnSpc>
              <a:spcAft>
                <a:spcPts val="600"/>
              </a:spcAft>
            </a:pPr>
            <a:r>
              <a:rPr sz="1450" b="0">
                <a:solidFill>
                  <a:srgbClr val="1F2A3A"/>
                </a:solidFill>
                <a:latin typeface="맑은 고딕"/>
                <a:ea typeface="맑은 고딕"/>
                <a:cs typeface="맑은 고딕"/>
              </a:rPr>
              <a:t>• 손으로 옮기면 느리고 빠뜨리며 개정 때마다 되풀이되므로 정해진 과정으로 둔다</a:t>
            </a:r>
          </a:p>
        </p:txBody>
      </p:sp>
      <p:sp>
        <p:nvSpPr>
          <p:cNvPr id="18" name="Rounded Rectangle 17"/>
          <p:cNvSpPr/>
          <p:nvPr/>
        </p:nvSpPr>
        <p:spPr>
          <a:xfrm>
            <a:off x="6781647" y="5547296"/>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검토해 출처와 함께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인제스천_전체.svg" descr="illust_3068552927606686532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2단계 문서 내용 분석: 절, 절차,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절과 절차의 제목과 번호 단계를 가려 두어야 추출한 지식이 원문의 어느 자리에서 나왔는지를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a:t>
            </a:r>
          </a:p>
          <a:p>
            <a:pPr algn="l">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절차</a:t>
            </a:r>
          </a:p>
          <a:p>
            <a:pPr algn="l">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a:t>
            </a:r>
          </a:p>
          <a:p>
            <a:pPr algn="l">
              <a:lnSpc>
                <a:spcPct val="110000"/>
              </a:lnSpc>
              <a:spcAft>
                <a:spcPts val="400"/>
              </a:spcAft>
            </a:pPr>
            <a:r>
              <a:rPr sz="1400" b="0">
                <a:solidFill>
                  <a:srgbClr val="1F2A3A"/>
                </a:solidFill>
                <a:latin typeface="맑은 고딕"/>
                <a:ea typeface="맑은 고딕"/>
                <a:cs typeface="맑은 고딕"/>
              </a:rPr>
              <a:t>번호가 붙은 세 줄. 순서가 있는 단계가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받는다</a:t>
            </a:r>
          </a:p>
          <a:p>
            <a:pPr algn="l">
              <a:lnSpc>
                <a:spcPct val="110000"/>
              </a:lnSpc>
              <a:spcAft>
                <a:spcPts val="400"/>
              </a:spcAft>
            </a:pPr>
            <a:r>
              <a:rPr sz="1400" b="0">
                <a:solidFill>
                  <a:srgbClr val="1F2A3A"/>
                </a:solidFill>
                <a:latin typeface="맑은 고딕"/>
                <a:ea typeface="맑은 고딕"/>
                <a:cs typeface="맑은 고딕"/>
              </a:rPr>
              <a:t>• 「이 문서에 따르면 원인은 핀 오염으로 보이며…」</a:t>
            </a:r>
          </a:p>
          <a:p>
            <a:pPr algn="l">
              <a:lnSpc>
                <a:spcPct val="110000"/>
              </a:lnSpc>
              <a:spcAft>
                <a:spcPts val="400"/>
              </a:spcAft>
            </a:pPr>
            <a:r>
              <a:rPr sz="1400" b="0">
                <a:solidFill>
                  <a:srgbClr val="1F2A3A"/>
                </a:solidFill>
                <a:latin typeface="맑은 고딕"/>
                <a:ea typeface="맑은 고딕"/>
                <a:cs typeface="맑은 고딕"/>
              </a:rPr>
              <a:t>• 사람이 다시 읽어야 한다</a:t>
            </a:r>
          </a:p>
        </p:txBody>
      </p:sp>
      <p:sp>
        <p:nvSpPr>
          <p:cNvPr id="10" name="Rounded Rectangle 9"/>
          <p:cNvSpPr/>
          <p:nvPr/>
        </p:nvSpPr>
        <p:spPr>
          <a:xfrm>
            <a:off x="777240" y="536676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구조화 출력</a:t>
            </a:r>
          </a:p>
          <a:p>
            <a:pPr algn="l">
              <a:lnSpc>
                <a:spcPct val="110000"/>
              </a:lnSpc>
              <a:spcAft>
                <a:spcPts val="400"/>
              </a:spcAft>
            </a:pPr>
            <a:r>
              <a:rPr sz="1400" b="0">
                <a:solidFill>
                  <a:srgbClr val="1F2A3A"/>
                </a:solidFill>
                <a:latin typeface="맑은 고딕"/>
                <a:ea typeface="맑은 고딕"/>
                <a:cs typeface="맑은 고딕"/>
              </a:rPr>
              <a:t>• Structured Output. 이름, 식별자, 근거 절 같은 항목이 정해져 있어 프로그램이 그대로 읽어 다음 단계로 넘긴다</a:t>
            </a:r>
          </a:p>
          <a:p>
            <a:pPr algn="l">
              <a:lnSpc>
                <a:spcPct val="110000"/>
              </a:lnSpc>
              <a:spcAft>
                <a:spcPts val="400"/>
              </a:spcAft>
            </a:pPr>
            <a:r>
              <a:rPr sz="1400" b="0">
                <a:solidFill>
                  <a:srgbClr val="1F2A3A"/>
                </a:solidFill>
                <a:latin typeface="맑은 고딕"/>
                <a:ea typeface="맑은 고딕"/>
                <a:cs typeface="맑은 고딕"/>
              </a:rPr>
              <a:t>• 형식은 JSON(JavaScript Object Notation)이다</a:t>
            </a:r>
          </a:p>
        </p:txBody>
      </p:sp>
      <p:sp>
        <p:nvSpPr>
          <p:cNvPr id="16" name="Rounded Rectangle 15"/>
          <p:cNvSpPr/>
          <p:nvPr/>
        </p:nvSpPr>
        <p:spPr>
          <a:xfrm>
            <a:off x="4566818" y="5366766"/>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 검사</a:t>
            </a:r>
          </a:p>
          <a:p>
            <a:pPr algn="l">
              <a:lnSpc>
                <a:spcPct val="110000"/>
              </a:lnSpc>
              <a:spcAft>
                <a:spcPts val="400"/>
              </a:spcAft>
            </a:pPr>
            <a:r>
              <a:rPr sz="1400" b="0">
                <a:solidFill>
                  <a:srgbClr val="1F2A3A"/>
                </a:solidFill>
                <a:latin typeface="맑은 고딕"/>
                <a:ea typeface="맑은 고딕"/>
                <a:cs typeface="맑은 고딕"/>
              </a:rPr>
              <a:t>• 항목이 빠졌거나 형식이 어긋나면 걸러 내고 모델에게 다시 요청한다</a:t>
            </a:r>
          </a:p>
          <a:p>
            <a:pPr algn="l">
              <a:lnSpc>
                <a:spcPct val="110000"/>
              </a:lnSpc>
              <a:spcAft>
                <a:spcPts val="400"/>
              </a:spcAft>
            </a:pPr>
            <a:r>
              <a:rPr sz="1400" b="0">
                <a:solidFill>
                  <a:srgbClr val="1F2A3A"/>
                </a:solidFill>
                <a:latin typeface="맑은 고딕"/>
                <a:ea typeface="맑은 고딕"/>
                <a:cs typeface="맑은 고딕"/>
              </a:rPr>
              <a:t>• 0.6이 원문의 값과 같은지는 형식 검사로 알 수 없다</a:t>
            </a:r>
          </a:p>
        </p:txBody>
      </p:sp>
      <p:sp>
        <p:nvSpPr>
          <p:cNvPr id="22" name="Rounded Rectangle 21"/>
          <p:cNvSpPr/>
          <p:nvPr/>
        </p:nvSpPr>
        <p:spPr>
          <a:xfrm>
            <a:off x="8356396" y="536676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결과 읽기: 식별자, 값, 연결, 근거 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문장 하나에 섞여 있던 이름, 값, 연결, 근거가 항목으로 나뉘어야 그대로 노드와 속성과 관계가 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"id": "cause:cooler-fin-fouling",</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"prior": 0.6,</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"parts": ["part:cooler-core"],</a:t>
            </a:r>
          </a:p>
          <a:p>
            <a:pPr algn="l">
              <a:lnSpc>
                <a:spcPct val="110000"/>
              </a:lnSpc>
              <a:spcAft>
                <a:spcPts val="200"/>
              </a:spcAft>
            </a:pPr>
            <a:r>
              <a:rPr sz="1300" b="0">
                <a:solidFill>
                  <a:srgbClr val="E8EEF6"/>
                </a:solidFill>
                <a:latin typeface="Consolas"/>
                <a:ea typeface="맑은 고딕"/>
                <a:cs typeface="맑은 고딕"/>
              </a:rPr>
              <a:t>  "section": "HM-8.4"</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a:t>
            </a:r>
          </a:p>
          <a:p>
            <a:pPr algn="l">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id · name · aliases</a:t>
            </a:r>
          </a:p>
          <a:p>
            <a:pPr algn="l">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prior · section</a:t>
            </a:r>
          </a:p>
          <a:p>
            <a:pPr algn="l">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이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failure_mode · parts</a:t>
            </a:r>
          </a:p>
          <a:p>
            <a:pPr algn="l">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한문장.svg" descr="illust_8507764297434476851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저하</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구성 요소 · 등록된 대상</a:t>
            </a:r>
          </a:p>
        </p:txBody>
      </p:sp>
      <p:sp>
        <p:nvSpPr>
          <p:cNvPr id="12" name="TextBox 11"/>
          <p:cNvSpPr txBox="1"/>
          <p:nvPr/>
        </p:nvSpPr>
        <p:spPr>
          <a:xfrm>
            <a:off x="3368473" y="3778620"/>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ADDRESSES(듣는 원인)로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인용.svg" descr="illust_7292907426804533229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인제스천_6.svg" descr="illust_4347644211597323371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적재묶음_사슬.svg" descr="illust_2142718894692588577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입력데이터_자리.svg" descr="illust_4785749671649903377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02단원 정리: 문장이 지식이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문서의 문장은 인용이 붙고 사람이 검토했을 때 지식이 되며, 그 지식은 값을 담지 않고 값이 있는 자리를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문장은 인용과 검토를 거쳐 지식이 되고,</a:t>
            </a:r>
          </a:p>
          <a:p>
            <a:pPr algn="ctr">
              <a:lnSpc>
                <a:spcPct val="110000"/>
              </a:lnSpc>
            </a:pPr>
            <a:r>
              <a:rPr sz="2600" b="1">
                <a:solidFill>
                  <a:srgbClr val="13294B"/>
                </a:solidFill>
                <a:latin typeface="맑은 고딕"/>
                <a:ea typeface="맑은 고딕"/>
                <a:cs typeface="맑은 고딕"/>
              </a:rPr>
              <a:t>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quote" descr="quot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인용</a:t>
            </a:r>
          </a:p>
          <a:p>
            <a:pPr algn="l">
              <a:lnSpc>
                <a:spcPct val="110000"/>
              </a:lnSpc>
              <a:spcAft>
                <a:spcPts val="400"/>
              </a:spcAft>
            </a:pPr>
            <a:r>
              <a:rPr sz="1400" b="0">
                <a:solidFill>
                  <a:srgbClr val="1F2A3A"/>
                </a:solidFill>
                <a:latin typeface="맑은 고딕"/>
                <a:ea typeface="맑은 고딕"/>
                <a:cs typeface="맑은 고딕"/>
              </a:rPr>
              <a:t>지식마다 원문의 구간이 붙는다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검토</a:t>
            </a:r>
          </a:p>
          <a:p>
            <a:pPr algn="l">
              <a:lnSpc>
                <a:spcPct val="110000"/>
              </a:lnSpc>
              <a:spcAft>
                <a:spcPts val="400"/>
              </a:spcAft>
            </a:pPr>
            <a:r>
              <a:rPr sz="1400" b="0">
                <a:solidFill>
                  <a:srgbClr val="1F2A3A"/>
                </a:solidFill>
                <a:latin typeface="맑은 고딕"/>
                <a:ea typeface="맑은 고딕"/>
                <a:cs typeface="맑은 고딕"/>
              </a:rPr>
              <a:t>사람이 원문과 대조해 승인한 것만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지식에는 값의 자리만 적고 값은 원천에서 읽는다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바이브 코딩으로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실습의 결과물은 문서 식별자, 원문 구간, 인용문이 붙은 검토용 구조화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작업 단계, 단위, 금지 조건, 개정 사항을 확인한다</a:t>
            </a:r>
          </a:p>
        </p:txBody>
      </p:sp>
      <p:sp>
        <p:nvSpPr>
          <p:cNvPr id="10" name="Rounded Rectangle 9"/>
          <p:cNvSpPr/>
          <p:nvPr/>
        </p:nvSpPr>
        <p:spPr>
          <a:xfrm>
            <a:off x="777240" y="525830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message-chatbot" descr="message-chatbot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AI에게 원인, 조치, 수행 조건을 스키마의 클래스에 맞춰 뽑게 한다</a:t>
            </a:r>
          </a:p>
          <a:p>
            <a:pPr algn="l">
              <a:lnSpc>
                <a:spcPct val="110000"/>
              </a:lnSpc>
              <a:spcAft>
                <a:spcPts val="400"/>
              </a:spcAft>
            </a:pPr>
            <a:r>
              <a:rPr sz="1400" b="0">
                <a:solidFill>
                  <a:srgbClr val="1F2A3A"/>
                </a:solidFill>
                <a:latin typeface="맑은 고딕"/>
                <a:ea typeface="맑은 고딕"/>
                <a:cs typeface="맑은 고딕"/>
              </a:rPr>
              <a:t>• JSON 형식으로, 후보마다 문서 식별자, 쪽, 원문 인용을 함께 내게 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구조화 출력</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긍정 · 부정이 뒤바뀐 조건을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258308"/>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앞서 만든 그래프에 문서에서 온 지식을 더하면 고장 유형에서 원문 출처까지가 한 번의 조회로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바이브 코딩으로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일차의 결과물이 하나의 지식 그래프로 쌓이는 순서와 그 쓰임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일차의 흐름: 한 그래프가 자라는 네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일차는 하나의 지식 그래프가 필요성, 구조, 조치와 판단, 문서의 지식의 네 단계로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네일차_흐름.svg" descr="illust_7429775050631453754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필요 (1일차)</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구조 (2일차)</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(2 · 3일차)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근거 (3일차)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1일차의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1일차는 네 곳에 흩어진 정보를 노드와 이름 붙은 관계로 꺼내 적었고,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관계.svg" descr="illust_6468548514182957752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2일차의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pic>
        <p:nvPicPr>
          <p:cNvPr id="6" name="삽화:두층_3.svg" descr="illust_7018067902198820006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질문의 답이 나오는 길</a:t>
            </a:r>
          </a:p>
          <a:p>
            <a:pPr algn="ctr">
              <a:lnSpc>
                <a:spcPct val="110000"/>
              </a:lnSpc>
              <a:spcAft>
                <a:spcPts val="100"/>
              </a:spcAft>
            </a:pPr>
            <a:r>
              <a:rPr sz="1100" b="0">
                <a:solidFill>
                  <a:srgbClr val="556175"/>
                </a:solidFill>
                <a:latin typeface="맑은 고딕"/>
                <a:ea typeface="맑은 고딕"/>
                <a:cs typeface="맑은 고딕"/>
              </a:rPr>
              <a:t>오일 쿨러를 재는 센서와 그 한계값은 아래 줄의 관계를 따라가면 나온다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결과물 ① 스키마</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결과물 ② 인스턴스 데이터</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③ ④: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금지 사항은 펌프 부하의 하한 60 %로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부하는 60 % 아래로 내리지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①: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3일차의 첫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삽화:성과경로_5.svg" descr="illust_5290878554599270576_17917696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에너지 효율</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무재해 운전</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신뢰</a:t>
            </a:r>
          </a:p>
          <a:p>
            <a:pPr algn="ctr">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②: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3일차의 인제스천은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세 일차의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앞선 일차의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2일차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2 · 3일차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2일차와 3일차의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경로_3.svg" descr="illust_7716702693942635831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3일차의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pic>
        <p:nvPicPr>
          <p:cNvPr id="6" name="삽화:원인후보.svg" descr="illust_258795632092844855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98543"/>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46.2 %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진동 0.575 mm/s</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캐비닛 온도 28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기준: 냉각 효율 평균 70 % 미만,</a:t>
            </a:r>
          </a:p>
          <a:p>
            <a:pPr algn="ctr">
              <a:lnSpc>
                <a:spcPct val="110000"/>
              </a:lnSpc>
              <a:spcAft>
                <a:spcPts val="100"/>
              </a:spcAft>
            </a:pPr>
            <a:r>
              <a:rPr sz="1300" b="0">
                <a:solidFill>
                  <a:srgbClr val="556175"/>
                </a:solidFill>
                <a:latin typeface="맑은 고딕"/>
                <a:ea typeface="맑은 고딕"/>
                <a:cs typeface="맑은 고딕"/>
              </a:rPr>
              <a:t>팬 진동 평균 0.9 mm/s 미만</a:t>
            </a:r>
          </a:p>
          <a:p>
            <a:pPr algn="ctr">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기준: 팬 진동 평균 0.9 mm/s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원천에 있다</a:t>
            </a:r>
          </a:p>
          <a:p>
            <a:pPr algn="ctr">
              <a:lnSpc>
                <a:spcPct val="110000"/>
              </a:lnSpc>
              <a:spcAft>
                <a:spcPts val="100"/>
              </a:spcAft>
            </a:pPr>
            <a:r>
              <a:rPr sz="1300" b="0">
                <a:solidFill>
                  <a:srgbClr val="556175"/>
                </a:solidFill>
                <a:latin typeface="맑은 고딕"/>
                <a:ea typeface="맑은 고딕"/>
                <a:cs typeface="맑은 고딕"/>
              </a:rPr>
              <a:t>판단하는 순간에 시계열 DB에서 읽는다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일차의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세층.svg" descr="illust_610874005366639608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스키마</a:t>
            </a:r>
          </a:p>
          <a:p>
            <a:pPr algn="ctr">
              <a:lnSpc>
                <a:spcPct val="110000"/>
              </a:lnSpc>
              <a:spcAft>
                <a:spcPts val="100"/>
              </a:spcAft>
            </a:pPr>
            <a:r>
              <a:rPr sz="1100" b="0">
                <a:solidFill>
                  <a:srgbClr val="556175"/>
                </a:solidFill>
                <a:latin typeface="맑은 고딕"/>
                <a:ea typeface="맑은 고딕"/>
                <a:cs typeface="맑은 고딕"/>
              </a:rPr>
              <a:t>지식의 구조</a:t>
            </a:r>
          </a:p>
          <a:p>
            <a:pPr algn="ctr">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 데이터</a:t>
            </a:r>
          </a:p>
          <a:p>
            <a:pPr algn="ctr">
              <a:lnSpc>
                <a:spcPct val="110000"/>
              </a:lnSpc>
              <a:spcAft>
                <a:spcPts val="100"/>
              </a:spcAft>
            </a:pPr>
            <a:r>
              <a:rPr sz="1100" b="0">
                <a:solidFill>
                  <a:srgbClr val="556175"/>
                </a:solidFill>
                <a:latin typeface="맑은 고딕"/>
                <a:ea typeface="맑은 고딕"/>
                <a:cs typeface="맑은 고딕"/>
              </a:rPr>
              <a:t>지식</a:t>
            </a:r>
          </a:p>
          <a:p>
            <a:pPr algn="ctr">
              <a:lnSpc>
                <a:spcPct val="110000"/>
              </a:lnSpc>
              <a:spcAft>
                <a:spcPts val="100"/>
              </a:spcAft>
            </a:pPr>
            <a:r>
              <a:rPr sz="1100" b="0">
                <a:solidFill>
                  <a:srgbClr val="556175"/>
                </a:solidFill>
                <a:latin typeface="맑은 고딕"/>
                <a:ea typeface="맑은 고딕"/>
                <a:cs typeface="맑은 고딕"/>
              </a:rPr>
              <a:t>근거 문서가 개정될 때 바뀐다</a:t>
            </a:r>
          </a:p>
        </p:txBody>
      </p:sp>
      <p:sp>
        <p:nvSpPr>
          <p:cNvPr id="9" name="TextBox 8"/>
          <p:cNvSpPr txBox="1"/>
          <p:nvPr/>
        </p:nvSpPr>
        <p:spPr>
          <a:xfrm>
            <a:off x="761104" y="5125943"/>
            <a:ext cx="207280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값</a:t>
            </a:r>
          </a:p>
          <a:p>
            <a:pPr algn="ctr">
              <a:lnSpc>
                <a:spcPct val="110000"/>
              </a:lnSpc>
              <a:spcAft>
                <a:spcPts val="100"/>
              </a:spcAft>
            </a:pPr>
            <a:r>
              <a:rPr sz="1100" b="0">
                <a:solidFill>
                  <a:srgbClr val="556175"/>
                </a:solidFill>
                <a:latin typeface="맑은 고딕"/>
                <a:ea typeface="맑은 고딕"/>
                <a:cs typeface="맑은 고딕"/>
              </a:rPr>
              <a:t>실제 데이터</a:t>
            </a:r>
          </a:p>
          <a:p>
            <a:pPr algn="ctr">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FailureMode</a:t>
            </a:r>
          </a:p>
          <a:p>
            <a:pPr algn="ctr">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a:t>
            </a:r>
          </a:p>
          <a:p>
            <a:pPr algn="ctr">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a:t>
            </a:r>
          </a:p>
          <a:p>
            <a:pPr algn="ctr">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564844"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납기까지 5.98시간</a:t>
            </a:r>
          </a:p>
          <a:p>
            <a:pPr algn="ctr">
              <a:lnSpc>
                <a:spcPct val="110000"/>
              </a:lnSpc>
              <a:spcAft>
                <a:spcPts val="100"/>
              </a:spcAft>
            </a:pPr>
            <a:r>
              <a:rPr sz="1100" b="0">
                <a:solidFill>
                  <a:srgbClr val="556175"/>
                </a:solidFill>
                <a:latin typeface="맑은 고딕"/>
                <a:ea typeface="맑은 고딕"/>
                <a:cs typeface="맑은 고딕"/>
              </a:rPr>
              <a:t>MES</a:t>
            </a:r>
          </a:p>
        </p:txBody>
      </p:sp>
      <p:sp>
        <p:nvSpPr>
          <p:cNvPr id="19" name="TextBox 18"/>
          <p:cNvSpPr txBox="1"/>
          <p:nvPr/>
        </p:nvSpPr>
        <p:spPr>
          <a:xfrm>
            <a:off x="6117666"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모드 원격 자동</a:t>
            </a:r>
          </a:p>
          <a:p>
            <a:pPr algn="ctr">
              <a:lnSpc>
                <a:spcPct val="110000"/>
              </a:lnSpc>
              <a:spcAft>
                <a:spcPts val="100"/>
              </a:spcAft>
            </a:pPr>
            <a:r>
              <a:rPr sz="1100" b="0">
                <a:solidFill>
                  <a:srgbClr val="556175"/>
                </a:solidFill>
                <a:latin typeface="맑은 고딕"/>
                <a:ea typeface="맑은 고딕"/>
                <a:cs typeface="맑은 고딕"/>
              </a:rPr>
              <a:t>PLC</a:t>
            </a:r>
          </a:p>
        </p:txBody>
      </p:sp>
      <p:sp>
        <p:nvSpPr>
          <p:cNvPr id="20" name="TextBox 19"/>
          <p:cNvSpPr txBox="1"/>
          <p:nvPr/>
        </p:nvSpPr>
        <p:spPr>
          <a:xfrm>
            <a:off x="8659578"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46.2 %</a:t>
            </a:r>
          </a:p>
          <a:p>
            <a:pPr algn="ctr">
              <a:lnSpc>
                <a:spcPct val="110000"/>
              </a:lnSpc>
              <a:spcAft>
                <a:spcPts val="100"/>
              </a:spcAft>
            </a:pPr>
            <a:r>
              <a:rPr sz="1100" b="0">
                <a:solidFill>
                  <a:srgbClr val="556175"/>
                </a:solidFill>
                <a:latin typeface="맑은 고딕"/>
                <a:ea typeface="맑은 고딕"/>
                <a:cs typeface="맑은 고딕"/>
              </a:rPr>
              <a:t>시계열 DB</a:t>
            </a:r>
          </a:p>
        </p:txBody>
      </p:sp>
      <p:sp>
        <p:nvSpPr>
          <p:cNvPr id="21" name="TextBox 20"/>
          <p:cNvSpPr txBox="1"/>
          <p:nvPr/>
        </p:nvSpPr>
        <p:spPr>
          <a:xfrm>
            <a:off x="6750417" y="460592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판단하는 순간에 읽는다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값의 출처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쿨러 성능 저하 경보에서 등록된 원인 후보 셋에 이르고, 추천에 매뉴얼 HM-8.5를 출처로 낸다</a:t>
            </a:r>
          </a:p>
        </p:txBody>
      </p:sp>
      <p:sp>
        <p:nvSpPr>
          <p:cNvPr id="10" name="Rounded Rectangle 9"/>
          <p:cNvSpPr/>
          <p:nvPr/>
        </p:nvSpPr>
        <p:spPr>
          <a:xfrm>
            <a:off x="777240" y="5149850"/>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값을 읽어 조건과 비교하므로 같은 조건에서 같은 판정이 나오고, 걸린 규칙과 근거가 결과에 남는다</a:t>
            </a:r>
          </a:p>
        </p:txBody>
      </p:sp>
      <p:sp>
        <p:nvSpPr>
          <p:cNvPr id="16" name="Rounded Rectangle 15"/>
          <p:cNvSpPr/>
          <p:nvPr/>
        </p:nvSpPr>
        <p:spPr>
          <a:xfrm>
            <a:off x="4566818" y="5149850"/>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149850"/>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정식 명칭을 처음 붙인 용어가 성과 평가와 인제스천에서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맡은 자리</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BSC</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성과를 보는 네 관점</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KPI</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What-if 분석</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What-if Analysis</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가정값으로 다시 계산</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인제스천</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LLM</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구조화 출력</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Output</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정해진 형식의 후보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JSON</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구조화 출력의 형식</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인용</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1순위가 아니었다.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규칙과 성과의 비교, 형식과 내용, 지식과 값을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