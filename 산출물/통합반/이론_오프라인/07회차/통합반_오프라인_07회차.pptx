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제목 → 부제 → 아이콘 셋(질문 · 명세 · 검증)</a:t>
            </a:r>
          </a:p>
          <a:p>
            <a:r>
              <a:t>· 지난 회차까지 만든 점검 요청 기능에 두 일이 생긴다: 필요한 정보가 빠진 요청, 「긴급한 건 표시해 달라」는 새 요구</a:t>
            </a:r>
          </a:p>
          <a:p>
            <a:r>
              <a:t>· 네 교시: 이론 50분 → 질문 · 답변 · 재개와 작성 · 검토 → 변경을 명세하고 구현 → 행동 검증과 인수인계 결과</a:t>
            </a:r>
          </a:p>
          <a:p>
            <a:r>
              <a:t>· 이론은 온라인 7 · 8회차 교재의 장에서 오늘 실습에 쓰는 것만</a:t>
            </a:r>
          </a:p>
          <a:p>
            <a:r>
              <a:t>[다음] 학습목표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 → 넷째 카드 강조</a:t>
            </a:r>
          </a:p>
          <a:p>
            <a:r>
              <a:t>· 1 질문과 승인: 부품 수량을 물어 답을 받는 것과 조치를 승인하는 것은 다른 권한 → 2교시</a:t>
            </a:r>
          </a:p>
          <a:p>
            <a:r>
              <a:t>· 2 명세: 한 문장 요구는 여러 뜻으로 읽힌다 → 무엇을 받아 무엇을 내고 무엇을 하지 않는지, 끝났음을 가르는 기준 → 3교시 spec.md</a:t>
            </a:r>
          </a:p>
          <a:p>
            <a:r>
              <a:t>· 3 Given · When · Then: 전제 · 행동 · 기대 결과, 「적절히」가 아니라 실행 결과로 가릴 수 있는 문장</a:t>
            </a:r>
          </a:p>
          <a:p>
            <a:r>
              <a:t>· 4 기존 기능 보존: 새 기능만 돌려 보면 일반 요청이 깨진 것을 놓친다 → 4교시</a:t>
            </a:r>
          </a:p>
          <a:p>
            <a:r>
              <a:t>[다음] 목차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네 줄 위에서 아래로</a:t>
            </a:r>
          </a:p>
          <a:p>
            <a:r>
              <a:t>· 01 승인 · 거절 · 대기와, 일하는 도중의 질문</a:t>
            </a:r>
          </a:p>
          <a:p>
            <a:r>
              <a:t>· 02 「빨리 처리」 한 문장이 낳는 세 해석, 명세의 다섯 항목, 수용 기준</a:t>
            </a:r>
          </a:p>
          <a:p>
            <a:r>
              <a:t>· 03 명세를 행동 사례로 적는 법</a:t>
            </a:r>
          </a:p>
          <a:p>
            <a:r>
              <a:t>· 04 명세 예시와 변경 뒤 확인, 네 종류의 시험, 표현 차이와 계약 위반</a:t>
            </a:r>
          </a:p>
          <a:p>
            <a:r>
              <a:t>[다음] 사람이 결정하는 자리와 에이전트의 질문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추천안이 나오면 누가 무엇을 정하고, 아무도 안 정하면 어떻게 되나. 일하는 도중 정보가 없으면?</a:t>
            </a:r>
          </a:p>
          <a:p>
            <a:r>
              <a:t>· 2교시에 점검 요청이 부족한 정보만 묻고 같은 요청의 답으로 다시 이어지게 만든다</a:t>
            </a:r>
          </a:p>
          <a:p>
            <a:r>
              <a:t>[다음] HITL(Human-in-the-Loop): 자동 처리와 사람의 결정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자동으로 처리한다 → 오른쪽 강조한 사람이 결정한다, 각 칸 끝 줄</a:t>
            </a:r>
          </a:p>
          <a:p>
            <a:r>
              <a:t>· 왼쪽(에이전트 · 시스템): 값 조회, 원인 판정, 후보 비교, 형식 검사. 오른쪽(승인 역할의 담당자): 그 추천을 실제 조치로 넘길지 결정</a:t>
            </a:r>
          </a:p>
          <a:p>
            <a:r>
              <a:t>· 가르는 까닭 = 틀렸을 때의 영향과 책임이 다르다</a:t>
            </a:r>
          </a:p>
          <a:p>
            <a:r>
              <a:t>· 조회 · 계산은 다시 해 볼 수 있지만 틀린 결과로 결정하면 뒤 조치도 잘못된다. 읽기 도구도 정보 노출 · 실행 기록 · 비용이 남는다 → 「자동 처리 = 영향 없음」이 아니다</a:t>
            </a:r>
          </a:p>
          <a:p>
            <a:r>
              <a:t>· 팬 속도 변경 · 정비 지시는 설비와 업무 상태를 바꾼다. 뒤늦게 취소해도 지난 운전 시간 · 투입한 작업은 못 없앤다 → 추천과 실행 사이에 담당자가 판단할 자리</a:t>
            </a:r>
          </a:p>
          <a:p>
            <a:r>
              <a:t>· HITL(Human-in-the-Loop) = 자동화 과정에 사람의 확인 · 결정을 넣는 방식. 승인뿐 아니라 빠진 정보에 답하거나 결과를 바로잡는 형태도</a:t>
            </a:r>
          </a:p>
          <a:p>
            <a:r>
              <a:t>· 버튼을 누른다고 결정의 품질이 보장되지 않는다: 근거를 볼 수 있어야 하고, 다른 안을 고르거나 거절할 권한과 시간도 있어야 → 검토할 수 있는 형태로 넘기는 것까지가 구조의 역할</a:t>
            </a:r>
          </a:p>
          <a:p>
            <a:r>
              <a:t>[다음] 승인과 거절이 남기는 결과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강조한 승인(쿨러 사건 실제 기록) → 오른쪽 거절, 따옴표 문장, 각 칸 끝 줄</a:t>
            </a:r>
          </a:p>
          <a:p>
            <a:r>
              <a:t>· 처리 건 = 시작부터 종료까지 상태와 기록을 묶어 관리하는 업무 한 건(쿨러 사례는 경보 하나로 열림)</a:t>
            </a:r>
          </a:p>
          <a:p>
            <a:r>
              <a:t>· 승인: 승인 후 현재 조건 검사도 통과 → 1초 뒤 팬 속도 100 % 명령 → 재관측에서 유온 51.5 ℃(회복 기준 55 ℃ 아래) · 경보 해제 → 작업지시 WO-1010-C058 등록</a:t>
            </a:r>
          </a:p>
          <a:p>
            <a:r>
              <a:t>· 거절: 사유를 꼭 적어야 받아들여진다(비면 거절 자체가 안 됨). 접수되면 설비 명령 · 후속 업무 · 메일 0건</a:t>
            </a:r>
          </a:p>
          <a:p>
            <a:r>
              <a:t>· 0건은 실행 · 발송이 없다는 뜻이지 기록이 없다는 뜻이 아니다 — 거절 사유와 상태 변경은 기록. 결과 보고: 「담당자가 거절했습니다 — 사유: … 설비 명령은 내지 않았습니다」</a:t>
            </a:r>
          </a:p>
          <a:p>
            <a:r>
              <a:t>· 처리 건과 사건은 반려로 닫힌다(거절의 기록 값). 그렇다고 물리적 고장이 해결된 건 아니다 → 거절로 끝났다는 기록과 설비의 실제 상태는 구별</a:t>
            </a:r>
          </a:p>
          <a:p>
            <a:r>
              <a:t>· 거절도 누가 왜 실행하지 않기로 했는지가 남는 결정</a:t>
            </a:r>
          </a:p>
          <a:p>
            <a:r>
              <a:t>[다음] 에이전트의 질문: 묻고, 답을 받아, 이어서 처리한다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흐름 네 칸 왼쪽부터: 정보가 없다 → 강조한 묻고 멈춘다 → 담당자가 답한다 → 이어서 처리한다</a:t>
            </a:r>
          </a:p>
          <a:p>
            <a:r>
              <a:t>· 요청에 조회할 대상 설비가 빠졌고, 후보가 여럿이라 도구로 조회해도 어느 설비인지 정할 수 없었다</a:t>
            </a:r>
          </a:p>
          <a:p>
            <a:r>
              <a:t>· 에이전트는 짐작하지 않았다(잘못 고른 채 결과를 내면 담당자가 엉뚱한 설비의 근거로 결정) → 「조회할 대상 설비를 선택해 주세요」, 선택지 HYD-02 · HYD-03을 붙여 묻고 멈춤. 질문 = 결과 대신 내는 요청</a:t>
            </a:r>
          </a:p>
          <a:p>
            <a:r>
              <a:t>· 담당자가 HYD-02 선택. 한 질문에 답은 한 번(이미 답한 질문에 또 답하면 안 받음)</a:t>
            </a:r>
          </a:p>
          <a:p>
            <a:r>
              <a:t>· 같은 대화의 문맥을 이어 업무 DB를 조회하고 HYD-02의 결과를 냈다. 프로그램 실행 위치를 그대로 복원하는 게 아니라 시스템이 답을 넣어 에이전트를 다시 실행 → 지시(「응답을 반영해 중단된 지점부터 계속, 끝낸 작업은 다시 하지 말라」)만으로 중복 작업이 절대 없다고 보장 못 한다</a:t>
            </a:r>
          </a:p>
          <a:p>
            <a:r>
              <a:t>· 언제나 묻는 건 아니다: 묻는 조건이 정해져 있고, 같은 상황에서도 모델에 따라 묻지 않고 끝낸 기록이 있다</a:t>
            </a:r>
          </a:p>
          <a:p>
            <a:r>
              <a:t>[다음] 질문으로 채우는 것과 바꾸지 못하는 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묻는다 → 오른쪽 강조한 바꾸지 못한다, 오른쪽 따옴표 두 줄</a:t>
            </a:r>
          </a:p>
          <a:p>
            <a:r>
              <a:t>· 물어도 되는 것: 대상 설비 · 수량 · 사유처럼 요청에서 빠진 업무 정보. 단, 연결된 도구로 조회해도 확인할 수 없는 것. 답은 그 빈칸을 채우는 입력</a:t>
            </a:r>
          </a:p>
          <a:p>
            <a:r>
              <a:t>· 묻지 않는 것: 도구로 읽을 수 있는 값(지금 유온은 사람에게 묻지 않고 조회)</a:t>
            </a:r>
          </a:p>
          <a:p>
            <a:r>
              <a:t>· 작업 지시 원문: 「도구 접근 거절이나 설비 조치 승인 우회에는 쓰지 마세요」, 「답변은 실행 권한을 바꾸지 않습니다」</a:t>
            </a:r>
          </a:p>
          <a:p>
            <a:r>
              <a:t>· 이 문장은 에이전트 지침이고, 실제 허용 여부는 서버의 권한 검사와 별도 승인 경로가 통제 → 허용 안 된 도구를 쓰게 해 달라고 묻고 사람이 괜찮다고 답해도 권한은 그대로</a:t>
            </a:r>
          </a:p>
          <a:p>
            <a:r>
              <a:t>· 담당자가 답에 「진행해도 된다」고 적어도 승인이 아니다 — 빈칸을 채운 답일 뿐, 승인은 승인 단계에서 따로</a:t>
            </a:r>
          </a:p>
          <a:p>
            <a:r>
              <a:t>[다음] 「보류」가 가리키는 세 가지 상황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줄: 응답 없음 → 에이전트의 보류 → 강조한 에이전트의 질문, 가운데 「미룬 쪽과 까닭」 열</a:t>
            </a:r>
          </a:p>
          <a:p>
            <a:r>
              <a:t>· 기다림을 흔히 보류라 부르지만 이 시스템엔 사람이 누르는 보류 버튼이 따로 없다 → 보류라 부를 상황이 셋, 누가 미뤘느냐에 따라 할 일이 다르다</a:t>
            </a:r>
          </a:p>
          <a:p>
            <a:r>
              <a:t>· 응답 없음: 담당자가 아직 결정 안 함 → 승인하거나 거절</a:t>
            </a:r>
          </a:p>
          <a:p>
            <a:r>
              <a:t>· 에이전트의 보류: 근거가 모자라 결과를 내지 않고 멈춤(값이 묵었거나 못 읽음) → 빠진 근거와 멈춘 사유를 확인하고, 지원되는 재처리 경로로 새 값을 읽어 다시 판단하거나 닫는다. 모든 대기 상태에 같은 재평가 버튼이 있다는 뜻은 아니다</a:t>
            </a:r>
          </a:p>
          <a:p>
            <a:r>
              <a:t>· 에이전트의 질문: 필수 업무 정보가 없어 묻고 기다림 → 답한다</a:t>
            </a:r>
          </a:p>
          <a:p>
            <a:r>
              <a:t>· 「보류 중」을 들으면 누가 왜 미뤘는지부터</a:t>
            </a:r>
          </a:p>
          <a:p>
            <a:r>
              <a:t>· 단원 답: 추천안이 오르면 승인 역할 담당자가 승인 · 거절, 아무도 결정 안 하면 알림만 나가고 기다린다. 여기에 일하는 도중의 질문과 멈춘 작업 닫기까지 세 자리</a:t>
            </a:r>
          </a:p>
          <a:p>
            <a:r>
              <a:t>[다음] 바뀐 요구를 명세로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잘 동작하는 에이전트에 「긴급한 건 빨리 처리되게」 한 줄이 오면 무엇부터 하나</a:t>
            </a:r>
          </a:p>
          <a:p>
            <a:r>
              <a:t>· 3교시에 같은 점검 요청 프로젝트의 spec.md에 긴급 표시를 명세하고 구현한다</a:t>
            </a:r>
          </a:p>
          <a:p>
            <a:r>
              <a:t>[다음] 잘 동작하는 에이전트에 붙은 새 요구 한 문장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강조 문장 → 아래 세 칸(물음표 아이콘)</a:t>
            </a:r>
          </a:p>
          <a:p>
            <a:r>
              <a:t>· 「긴급한 경보는 빨리 처리되게 해 주세요」 — 경보 → 원인 → 추천안 → 승인 대기 흐름의 어디를 바꾸라는 걸까</a:t>
            </a:r>
          </a:p>
          <a:p>
            <a:r>
              <a:t>· 뜻은 알 것 같아도 구현하려면 정해지지 않은 것 셋(문장에 적혀 있지 않다는 물음표)</a:t>
            </a:r>
          </a:p>
          <a:p>
            <a:r>
              <a:t>· 긴급의 기준: 어떤 경보가 긴급한지 없다. 사람마다 떠올리는 경보가 다를 수 있다</a:t>
            </a:r>
          </a:p>
          <a:p>
            <a:r>
              <a:t>· 빨라지는 방법: 무엇을 바꿔 빠르게 할지 받는 쪽에 맡겨졌다</a:t>
            </a:r>
          </a:p>
          <a:p>
            <a:r>
              <a:t>· 그대로 둘 것: 건드리면 안 되는 것이 언급되지 않았다 — 가장 무겁다. 요청자에겐 너무 당연해서 안 적은 것(승인 없이 설비를 움직이면 안 된다, 승인 역할 검사, 거절하면 명령이 안 나감) → 받는 쪽은 그 당연한 것까지 구현할 수 있는 형태로 풀어야</a:t>
            </a:r>
          </a:p>
          <a:p>
            <a:r>
              <a:t>[다음] 한 문장의 세 가지 해석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변경 요청 말풍선 → 오른쪽 세 갈래(출력 형식 → 강조한 승인 조건 → 기존 요청의 처리), 갈래 끝 그림</a:t>
            </a:r>
          </a:p>
          <a:p>
            <a:r>
              <a:t>· 출력 형식: 결과에 긴급 표시만 더할 수도, 기존 항목의 이름 · 뜻까지 바꿀 수도(결과 문서의 줄 하나가 달라진 그림)</a:t>
            </a:r>
          </a:p>
          <a:p>
            <a:r>
              <a:t>· 승인 조건(사람을 건너뛰는 길 그림): 「빨리」를 승인을 기다리지 말라로, 또는 승인 역할을 낮추라로 읽을 수 있다 → 등급 경계가 무너진다(설비를 세우는 핀 세척을 급하다고 운전원이 승인)</a:t>
            </a:r>
          </a:p>
          <a:p>
            <a:r>
              <a:t>· 기존 요청의 처리: 긴급하지 않은 경보는 이전과 같은 결과여야 하는데 고치는 김에 달라질 수 있다</a:t>
            </a:r>
          </a:p>
          <a:p>
            <a:r>
              <a:t>· 셋은 실제로 일어난 일이 아니라 일어날 수 있는 해석. 셋 다 터무니없지 않아 요청 문장만으로 어느 쪽인지 못 정한다</a:t>
            </a:r>
          </a:p>
          <a:p>
            <a:r>
              <a:t>· 특히 승인 조건은 공들여 본 관문을 구현을 잘못 바꾸면 훼손할 수 있는 자리. 다만 HYD는 승인 없는 실행 경로를 등록 단계에서도 검사하므로 모호한 요청 하나로 곧바로 우회되진 않는다</a:t>
            </a:r>
          </a:p>
          <a:p>
            <a:r>
              <a:t>[다음] 새 기능만 실행해 본 확인이 놓치는 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실행해 본 것(눈) → 오른쪽 강조한 실행해 보지 않은 것(빗금 그은 눈), 각 칸 끝 줄</a:t>
            </a:r>
          </a:p>
          <a:p>
            <a:r>
              <a:t>· 고친 뒤 돌려 보기는 한다. 모호한 요청으로 고쳤다고 꼭 틀리는 것도 아니다 — 문제는 무엇을 돌려 보느냐</a:t>
            </a:r>
          </a:p>
          <a:p>
            <a:r>
              <a:t>· 실행해 본 것: 긴급 경보 한 건 → 추천안과 긴급 표시가 보인다 → 요청한 기능은 된 것 같아 대개 여기서 끝</a:t>
            </a:r>
          </a:p>
          <a:p>
            <a:r>
              <a:t>· 실행해 보지 않은 것: 긴급하지 않은 경보의 결과 항목이 이전과 같나, 추천안이 여전히 승인을 기다리나, 하지 않기로 한 일을 여전히 안 하나 → 앞의 세 갈래와 그대로 겹친다</a:t>
            </a:r>
          </a:p>
          <a:p>
            <a:r>
              <a:t>· 왼쪽은 요청 문장에 적혀 있었고 오른쪽은 없었다 → 무엇이 그대로여야 하는지 적어 둔 곳이 없으니 실행해 볼 생각조차 못 한다</a:t>
            </a:r>
          </a:p>
          <a:p>
            <a:r>
              <a:t>· 새 기능이 된다 ≠ 기존 기능이 그대로다 → 따로 확인할 일</a:t>
            </a:r>
          </a:p>
          <a:p>
            <a:r>
              <a:t>[다음] SDD(Spec-Driven Development)와 명세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강조한 SDD 정의 → 명세 → 놓이는 곳(spec.md)</a:t>
            </a:r>
          </a:p>
          <a:p>
            <a:r>
              <a:t>· SDD(Spec-Driven Development, 명세 주도 개발) = 요구사항, 입력과 출력의 계약, 금지 조건, 수용 기준을 구현 전에 명세로 정하는 개발 방식. 구현도 확인도 그 명세가 기준</a:t>
            </a:r>
          </a:p>
          <a:p>
            <a:r>
              <a:t>· 수용 기준은 뒤에서 따로, 계약 · 금지 조건은 명세 예시에서</a:t>
            </a:r>
          </a:p>
          <a:p>
            <a:r>
              <a:t>· 명세 = 만들 것이 무엇을 받아 무엇을 내고 무엇을 하지 않는지 적은 문서. 사람과 AI가 같은 문서를 본다 — 사람은 무엇이 맞는지 판단, AI는 받아서 구현</a:t>
            </a:r>
          </a:p>
          <a:p>
            <a:r>
              <a:t>· 놓이는 곳: 프로젝트 안 spec.md 같은 파일로 코드와 함께 변경 관리. 파일 이름이나 다섯 항목 틀이 모든 SDD 도구의 공통 의무는 아니다(이 수업에서 쓸 구성). 3교시 실습에서 쓸 파일도 이 이름</a:t>
            </a:r>
          </a:p>
          <a:p>
            <a:r>
              <a:t>[다음] 명세에 적는 다섯 가지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명세 문서 그림의 다섯 구획 → 오른쪽 이름표 위에서부터, 강조한 금지 조건 · 수용 기준</a:t>
            </a:r>
          </a:p>
          <a:p>
            <a:r>
              <a:t>· 요구사항: 무엇을 하는지, 이번에 무엇이 달라지는지</a:t>
            </a:r>
          </a:p>
          <a:p>
            <a:r>
              <a:t>· 입력 계약: 어떤 입력을 어떤 형식으로 받나. 출력 계약: 어떤 항목을 어떤 형식으로 내나</a:t>
            </a:r>
          </a:p>
          <a:p>
            <a:r>
              <a:t>· 금지 조건: 어떤 요구가 더해져도 하지 않을 일</a:t>
            </a:r>
          </a:p>
          <a:p>
            <a:r>
              <a:t>· 수용 기준: 무엇이 확인되면 다 된 것으로 보나</a:t>
            </a:r>
          </a:p>
          <a:p>
            <a:r>
              <a:t>· 묻는 건 단순: 무엇을 하나, 받나, 내나, 안 하나, 언제 끝났다고 보나</a:t>
            </a:r>
          </a:p>
          <a:p>
            <a:r>
              <a:t>· 「긴급 경보를 빨리」 요청엔 요구사항의 일부뿐. 가장 무거운 빈칸 「그대로 둘 것」은 입력 · 출력 계약에도 적고 금지 조건 · 수용 기준에서도 확인 → 그래서 두 이름을 굵게 강조</a:t>
            </a:r>
          </a:p>
          <a:p>
            <a:r>
              <a:t>[다음] 수용 기준: 다 되었는지를 가르는 조건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강조한 첫째 줄 수용 기준(Acceptance Criteria) → 적는 내용 → 쓰이는 때, 오른쪽 꼬리표</a:t>
            </a:r>
          </a:p>
          <a:p>
            <a:r>
              <a:t>· 수용 기준 = 구현이 요구를 채웠다고 받아들이는 조건. 쉽게: 무엇을 보고 다 됐다고 말할 건가</a:t>
            </a:r>
          </a:p>
          <a:p>
            <a:r>
              <a:t>· 핵심은 첫째 줄 둘째 문장: 실행해 보고 참 · 거짓을 가를 수 있는 문장으로. 기준이 없으면 만든 사람이 「된 것 같다」면 끝, 있으면 문장이 하나하나 참이어야 끝</a:t>
            </a:r>
          </a:p>
          <a:p>
            <a:r>
              <a:t>· 적는 내용: 어떤 상황에서 어떤 결과가 나와야 하는지, 한 문장에 하나씩</a:t>
            </a:r>
          </a:p>
          <a:p>
            <a:r>
              <a:t>· 쓰이는 때: 구현 전엔 무엇을 만들지의 기준, 구현 뒤엔 다 됐는지 확인 항목 — 같은 문장이 두 번 일한다</a:t>
            </a:r>
          </a:p>
          <a:p>
            <a:r>
              <a:t>· 그래서 구현 전에 적는다. 뒤에 적으면 나온 결과에 기준을 맞추게 돼 잘못된 결과도 정답으로 인정할 위험. 이미 구현한 뒤라도 원래 요구와 근거로 기준을 세울 수 있지만 현재 결과를 그대로 정답으로 옮겨 적지 않는다</a:t>
            </a:r>
          </a:p>
          <a:p>
            <a:r>
              <a:t>[다음] 판정할 수 있는 문장과 판정할 수 없는 문장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판정할 수 없는 문장(모호하다) → 오른쪽 강조한 판정할 수 있는 문장(참 또는 거짓)</a:t>
            </a:r>
          </a:p>
          <a:p>
            <a:r>
              <a:t>· 왼쪽: 「거절이 잘 처리된다」 「긴급한 경보가 빨리 처리된다」 — 그럴듯하지만 「잘」은 어느 정도, 「빨리」는 얼마? 판정 기준이 없어 실행한 사람마다 판정이 갈린다</a:t>
            </a:r>
          </a:p>
          <a:p>
            <a:r>
              <a:t>· 오른쪽: 「거절하면 설비 명령이 0건이다」 — 실행 뒤 명령 수를 센다, 0이면 참 · 하나라도 있으면 거짓. 「긴급한 경보의 추천안도 승인 대기 상태가 된다」 — 처리 건의 상태를 대조</a:t>
            </a:r>
          </a:p>
          <a:p>
            <a:r>
              <a:t>· 같은 입력과 조건에서 같은 항목을 확인하면 판정이 일관된다</a:t>
            </a:r>
          </a:p>
          <a:p>
            <a:r>
              <a:t>· 오른쪽 문장엔 숫자나 상태 이름처럼 세거나 견줄 대상이 들어 있다</a:t>
            </a:r>
          </a:p>
          <a:p>
            <a:r>
              <a:t>· 써 본 뒤 자문: 무엇을 세면 되지? 무엇을 무엇과 견주면 되지? 답이 없으면 상황과 기대 결과로 다시 쓴다</a:t>
            </a:r>
          </a:p>
          <a:p>
            <a:r>
              <a:t>[다음] 기대 행동의 시나리오: Given · When · Then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명세대로 만들었다는 것을 무엇으로 보이나</a:t>
            </a:r>
          </a:p>
          <a:p>
            <a:r>
              <a:t>· 4교시에 정상 · 정보 누락 · 변경 요구의 기대 결과를 Given · When · Then으로 적어 실제 출력과 비교한다</a:t>
            </a:r>
          </a:p>
          <a:p>
            <a:r>
              <a:t>[다음] BDD: 행동을 시나리오로 적고 실행으로 확인하는 방식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강조한 첫 줄 BDD(Behavior-Driven Development) → 행동 → 시나리오, 오른쪽 영문 꼬리표</a:t>
            </a:r>
          </a:p>
          <a:p>
            <a:r>
              <a:t>· BDD(행동 주도 개발): 업무를 아는 사람과 개발 · 검증하는 사람이 구체적 사례를 놓고 필요한 행동을 함께 정한다. 기대를 맞추고 → 사례를 시나리오로 → 실행 가능한 검증에 연결</a:t>
            </a:r>
          </a:p>
          <a:p>
            <a:r>
              <a:t>· 예: 「거절한다」는 말만 같아도 한 사람은 승인 화면만 닫힌다고, 다른 사람은 처리 건까지 종료된다고 생각할 수 있다. 「명령은 몇 건, 처리 상태는 무엇」으로 물으면 차이가 드러난다 → 코드를 만든 뒤에야 다른 기대를 발견하는 일을 줄인다</a:t>
            </a:r>
          </a:p>
          <a:p>
            <a:r>
              <a:t>· 행동: 시스템 밖에서 관찰할 수 있는 결과. 어떤 함수를 썼느냐보다 거절했을 때 설비 명령이 안 생기고 사유가 남는지</a:t>
            </a:r>
          </a:p>
          <a:p>
            <a:r>
              <a:t>· 시나리오: 한 상황에서 기대하는 행동 하나를 전제 · 행동 · 기대 결과로 적은 글</a:t>
            </a:r>
          </a:p>
          <a:p>
            <a:r>
              <a:t>· 이 회차는 이미 정리한 명세에서 시나리오를 만든다. 실제 개발에선 시나리오를 논의하다 빠진 요구를 찾아 명세를 보완하기도 한다</a:t>
            </a:r>
          </a:p>
          <a:p>
            <a:r>
              <a:t>[다음] Given · When · Then: 시나리오의 세 부분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그림 위 세 칸(Given · 강조한 When · Then) → 아래 세 칸 거절 사례</a:t>
            </a:r>
          </a:p>
          <a:p>
            <a:r>
              <a:t>· 세 부분으로 나누면 무엇을 준비하고 무엇을 확인할지 보인다</a:t>
            </a:r>
          </a:p>
          <a:p>
            <a:r>
              <a:t>· Given(전제): 추천안이 올라와 승인 단계가 열려 있다</a:t>
            </a:r>
          </a:p>
          <a:p>
            <a:r>
              <a:t>· When(행동): 승인 권한이 있는 담당자가 사유를 적어 거절</a:t>
            </a:r>
          </a:p>
          <a:p>
            <a:r>
              <a:t>· Then(기대 결과): 설비 명령과 후속 업무 처리가 없고, 처리 건은 거절로 닫힌다. 하나의 거절 행동에도 확인할 결과는 여럿</a:t>
            </a:r>
          </a:p>
          <a:p>
            <a:r>
              <a:t>· 시나리오마다 한 가지 업무 행동에 초점을 맞추면 실패 때 원인을 찾기 쉽다. 여러 단계 시나리오가 금지는 아니고, 준비 단계와 확인할 행동을 섞지 않고 무엇을 판단하려는지 드러내는 게 핵심</a:t>
            </a:r>
          </a:p>
          <a:p>
            <a:r>
              <a:t>[다음] 시나리오 한 편: 승인 단계의 거절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코드 Feature → Scenario → Given · When · Then · And, 오른쪽 요소 → 강조한 Then · And</a:t>
            </a:r>
          </a:p>
          <a:p>
            <a:r>
              <a:t>· 앞의 거절을 구조가 보이는 글로 적은 예: 맨 위 기능 이름, 그 아래 시나리오 이름, 이어서 전제 · 행동 · 기대 결과</a:t>
            </a:r>
          </a:p>
          <a:p>
            <a:r>
              <a:t>· 이 서식의 이름이 Gherkin. Given은 승인 단계가 열린 상태까지, When은 거절 하나뿐</a:t>
            </a:r>
          </a:p>
          <a:p>
            <a:r>
              <a:t>· And: 앞줄과 같은 부분을 잇는다. 명령이 없다 + 업무 처리도 없다 + 거절로 닫힌다</a:t>
            </a:r>
          </a:p>
          <a:p>
            <a:r>
              <a:t>· 볼 점: 하지 않아야 할 일도 기대 결과로 적는다 → 금지 조건이 지켜지는지 확인</a:t>
            </a:r>
          </a:p>
          <a:p>
            <a:r>
              <a:t>· Gherkin은 BDD에서 널리 쓰는 표현 방법. 서식을 썼다고 자동 시험이 완성되진 않고 실행 · 대조를 맡을 코드에 연결해야 한다</a:t>
            </a:r>
          </a:p>
          <a:p>
            <a:r>
              <a:t>[다음] Then의 조건: 실행 결과로 가릴 수 있는 사실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가릴 수 없는 Then(읽는 사람마다 다르다) → 오른쪽 강조한 가릴 수 있는 Then(실행 결과로 가려진다)</a:t>
            </a:r>
          </a:p>
          <a:p>
            <a:r>
              <a:t>· Then을 어떻게 적느냐에 시나리오의 쓸모가 갈린다</a:t>
            </a:r>
          </a:p>
          <a:p>
            <a:r>
              <a:t>· 왼쪽: 적절히 처리한다, 설비에 영향을 주지 않는다, 잘 알린다 — 틀린 말은 아니지만 통과 · 실패를 정할 수 없다(「적절」의 기준이 사람마다 다름)</a:t>
            </a:r>
          </a:p>
          <a:p>
            <a:r>
              <a:t>· 오른쪽: 설비 명령 0건, 업무 처리 0건, 거절로 닫히고 사유가 남아 있다 — 건수를 세거나 상태 · 값을 읽으면 바로 가려진다</a:t>
            </a:r>
          </a:p>
          <a:p>
            <a:r>
              <a:t>· 수용 기준을 판정할 수 있는 문장으로 적은 것과 같다. 「영향을 주지 않는다」를 쓰고 싶으면 그 영향이 무엇으로 나타나는지 찾아 「명령 0건」으로 바꿔 적는다</a:t>
            </a:r>
          </a:p>
          <a:p>
            <a:r>
              <a:t>· 주의: 명령 0건은 검사한 명령 생성 경로에 관한 결과. 설비의 모든 물리적 영향이 없었다는 뜻으로 넓혀 읽지 않는다. 확인할 업무 처리 · 발송 · 상태 기록의 범위를 함께 정한다</a:t>
            </a:r>
          </a:p>
          <a:p>
            <a:r>
              <a:t>[다음] 새 기능과 기존 기능을 함께 확인하기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긴급 표시가 잘 나왔다면 일반 요청의 결과와 승인 대기는 그대로인가</a:t>
            </a:r>
          </a:p>
          <a:p>
            <a:r>
              <a:t>· 명세 예시 → 변경 뒤 세 입력 → 네 종류의 시험 → 표현 차이와 계약 위반</a:t>
            </a:r>
          </a:p>
          <a:p>
            <a:r>
              <a:t>[다음] 명세로 다시 쓴 변경 요청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명세 예시의 제목 → 다섯 구획 위에서부터 → 오른쪽 짚을 점, 강조한 금지 조건</a:t>
            </a:r>
          </a:p>
          <a:p>
            <a:r>
              <a:t>· 범위: 긴급 여부 표시를 더하는 작은 변경으로 합의한 교육용 예. 처리 속도를 실제로 높이는 요구까지 완성한 것은 아님</a:t>
            </a:r>
          </a:p>
          <a:p>
            <a:r>
              <a:t>· 요구사항: 긴급 = 판단할 때 읽은 유효한 TS1(유온)의 최근 120초 평균이 60 ℃ 이상인 쿨러 성능 저하 경보. 값 없음 · 신선도 실패 · 표본 부족이면 판정 불가(null)와 보류 사유. 운전 화면의 유온 높음 경고는 60 ℃ 초과 → 정확히 60 ℃에서 둘이 다름. 인터록 선보다 낮아 멈추기 전에 먼저 움직이자는 기준. 「판단할 때 읽은 값」인 까닭: 쿨러 사건은 경보 때 60 ℃ 아래, 승인 때 다시 읽은 값은 60 ℃ 위 → 시점에 따라 분류가 달라진다(실제 기록에 긴급 항목이 있었다는 뜻은 아님)</a:t>
            </a:r>
          </a:p>
          <a:p>
            <a:r>
              <a:t>· 입력 계약: 설비 · 경보 · 사건 번호 세 항목 그대로, 유온은 판단 때 도구로 읽는다</a:t>
            </a:r>
          </a:p>
          <a:p>
            <a:r>
              <a:t>· 출력 계약: 기존 다섯 항목 이름 · 형식 · 뜻 유지 + urgent(일반 false, 긴급 true, 판정 불가 null). 받는 쪽의 추가 항목 허용과 출력 검사를 먼저 확인</a:t>
            </a:r>
          </a:p>
          <a:p>
            <a:r>
              <a:t>· 금지 조건: 긴급도 승인 전 실행 금지, 필수 값을 못 읽어도 짐작해 채우지 않음(「빨리」를 「있는 값으로라도 채워」로 읽지 않게)</a:t>
            </a:r>
          </a:p>
          <a:p>
            <a:r>
              <a:t>· 수용 기준: 고정 입력 · 조회 자료에서 일반 경보 기존 의미 · 처리 결과 유지, 긴급 추천안도 승인 대기, 필수 값 실패 시 결과 없이 보류</a:t>
            </a:r>
          </a:p>
          <a:p>
            <a:r>
              <a:t>· 앞에서 갈린 세 갈래(출력 형식 · 승인 조건 · 기존 요청)가 출력 계약 · 금지 조건 · 수용 기준에서 정해졌다 — 해석은 AI가 아니라 명세가. 처리 시간 단축은 줄일 구간 · 승인 대기 처리를 별도 합의</a:t>
            </a:r>
          </a:p>
          <a:p>
            <a:r>
              <a:t>[다음] 변경 뒤의 확인: 기존 요청과 새 요청을 함께 실행한다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세 카드 왼쪽부터, 강조한 가운데 새 요청 → 카드 아래 꼬리표(그대로 · 달라져야 · 그대로)</a:t>
            </a:r>
          </a:p>
          <a:p>
            <a:r>
              <a:t>· 고친 뒤엔 새 요청만이 아니라 기존 요청도 함께 실행</a:t>
            </a:r>
          </a:p>
          <a:p>
            <a:r>
              <a:t>· 기존 요청: 긴급하지 않은 경보. 같은 입력 · 고정 조회 자료에서 기존 항목의 의미 · 처리 결과 유지, urgent=false, 승인 대기</a:t>
            </a:r>
          </a:p>
          <a:p>
            <a:r>
              <a:t>· 새 요청: 판단할 때 유효한 TS1 120초 평균이 60 ℃ 이상인 경보. urgent=true이고 그래도 승인 대기 — 긴급해도 승인을 건너뛰지 않는다</a:t>
            </a:r>
          </a:p>
          <a:p>
            <a:r>
              <a:t>· 필수 값이 없는 경우: 결과를 채우지 않고 보류. 지어내지 않는 규칙은 긴급이든 아니든 같다</a:t>
            </a:r>
          </a:p>
          <a:p>
            <a:r>
              <a:t>· 출처는 모두 앞의 명세: 첫 카드 = 수용 기준 첫 줄, 가운데 = 요구사항의 긴급 기준 + 수용 기준 둘째 줄, 셋째 = 금지 조건 둘째 줄 + 수용 기준 셋째 줄</a:t>
            </a:r>
          </a:p>
          <a:p>
            <a:r>
              <a:t>· 달라져야 하는 건 하나뿐, 둘은 그대로여야 한다 — 새 기능만 돌리면 바로 이 쪽을 놓친다</a:t>
            </a:r>
          </a:p>
          <a:p>
            <a:r>
              <a:t>· 입력 · 기대 결과 · 조회 자료 · 비교 항목을 저장. 판단 번호 · 시각처럼 실행마다 바뀌는 값은 글자 그대로 같아야 하는 값과 비교 규칙을 나눈다. 60 ℃ 바로 아래와 정확히 60 ℃를 넣으면 경계 조건 확인</a:t>
            </a:r>
          </a:p>
          <a:p>
            <a:r>
              <a:t>[다음] 네 종류의 시험: 정상, 경계, 예외, 회귀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왼쪽 종류 칸 네 줄 → 확인하는 것 → 쿨러 사건의 예, 강조한 회귀</a:t>
            </a:r>
          </a:p>
          <a:p>
            <a:r>
              <a:t>· 확인하는 대상에 따라 넷으로 나누면 중요한 갈래를 고르기 쉽다</a:t>
            </a:r>
          </a:p>
          <a:p>
            <a:r>
              <a:t>· 정상: 기본 경로가 끝까지 가는가. 승인 · 실행 조건 충족 시 처리 건이 끝까지 처리</a:t>
            </a:r>
          </a:p>
          <a:p>
            <a:r>
              <a:t>· 경계: 기준값 바로 안팎에서 판정이 맞는가. 조치 뒤 유온을 다시 읽어 회복을 판정하는데 이 실습 설비의 회복 기준은 55 ℃ 미만 → 재관측 55.0 ℃는 회복으로 보지 않아야</a:t>
            </a:r>
          </a:p>
          <a:p>
            <a:r>
              <a:t>· 예외: 거절 · 누락 · 오류처럼 정상 경로를 벗어났을 때 정한 대로 다루나. 사유 없는 거절은 받지 않음</a:t>
            </a:r>
          </a:p>
          <a:p>
            <a:r>
              <a:t>· 회귀: 바꾼 뒤에도 기존 행동이 그대로인가. 긴급 조건을 더한 뒤에도 거절하면 명령 0건</a:t>
            </a:r>
          </a:p>
          <a:p>
            <a:r>
              <a:t>· 넷은 같은 결이 아니다: 앞 셋은 「무엇을」 확인하나, 회귀는 「언제」 확인하나에 가깝다 → 회귀 시험의 내용은 대개 이미 있던 정상 · 경계 · 예외 시험. 정상은 앞의 승인 시나리오가 예이니 나머지 셋을 차례로</a:t>
            </a:r>
          </a:p>
          <a:p>
            <a:r>
              <a:t>[다음] 경계값 분석: 기준값의 바로 안쪽과 바깥쪽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그림 수평선 왼쪽 회복 구간(55 ℃ 미만) → 기준값 → 오른쪽 충족하지 않는 구간/아래 네 점: 51.5(실제 사건) → 강조한 54.9 · 55.0 → 55.1</a:t>
            </a:r>
          </a:p>
          <a:p>
            <a:r>
              <a:t>· 경계 시험은 판정이 갈리는 지점을 집중해 본다. 55 ℃보다 낮아야 충족, 정확히 55 ℃면 충족 안 함</a:t>
            </a:r>
          </a:p>
          <a:p>
            <a:r>
              <a:t>· 실제 사건 값 약 52 ℃(51.5)는 회복 구간 안. 그 한 번으로는 기준 바로 옆의 판정을 모른다 — 「미만」을 「이하」로 잘못 구현해도 안쪽 값에선 같은 결과</a:t>
            </a:r>
          </a:p>
          <a:p>
            <a:r>
              <a:t>· 그래서 소수 첫째 자리 예로 54.9 · 55.0 · 55.1을 비교. 54.9만 충족해야 한다. 바로 아래와 기준 자체를 견주면 등호 오류를, 위쪽 값으로 반대 구간을 확인</a:t>
            </a:r>
          </a:p>
          <a:p>
            <a:r>
              <a:t>· 0.1 ℃ 간격은 모든 센서의 공통 기준이 아니다. 실제 자료의 정밀도와 시스템이 다루는 단위에 맞춰 시험 값을 고른다</a:t>
            </a:r>
          </a:p>
          <a:p>
            <a:r>
              <a:t>· 예상과 다르면 비교 연산만이 아니라 단위 변환 · 반올림 · 읽은 값 자체도 의심. 기준에서 먼 값 하나보다 경계를 나눠 보는 이유</a:t>
            </a:r>
          </a:p>
          <a:p>
            <a:r>
              <a:t>[다음] 회귀 시험: 변경 뒤에 다시 실행하는 기존 시나리오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그림 왼쪽 변경 전(기존 시나리오 넷) → 가운데 화살표 요구의 변경(긴급 조건) → 오른쪽 변경 후, 맨 아래 새 시나리오 → 파란 괄호 강조한 회귀 시험</a:t>
            </a:r>
          </a:p>
          <a:p>
            <a:r>
              <a:t>· 회귀 시험 = 무언가를 바꾼 뒤 기존 시나리오를 다시 실행하는 시험</a:t>
            </a:r>
          </a:p>
          <a:p>
            <a:r>
              <a:t>· 변경 전: 승인 · 거절 · 무응답 · 사유 없는 요청 시나리오 넷이 통과한 상태. 명세에 긴급 조건이 더해진다</a:t>
            </a:r>
          </a:p>
          <a:p>
            <a:r>
              <a:t>· 변경 후 새 시나리오(긴급 조건)가 하나 는다. 새 것만 돌려 통과하면 긴급 조건이 동작하는 건 알지만 거절 · 무응답 행동이 그대로인지는 모른다</a:t>
            </a:r>
          </a:p>
          <a:p>
            <a:r>
              <a:t>· 그래서 기존 넷도 전부 다시 실행. 「회귀」는 되돌아간다는 뜻 — 변경이 기존 행동에 의도하지 않은 영향을 냈는지 찾는다. 바꾼 곳만 확인해서는 못 잡는다</a:t>
            </a:r>
          </a:p>
          <a:p>
            <a:r>
              <a:t>[다음] 표현 차이와 계약 위반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허용할 수 있는 차이(조건 안에서 허용) → 오른쪽 강조한 계약 위반(별도 실패로 기록)</a:t>
            </a:r>
          </a:p>
          <a:p>
            <a:r>
              <a:t>· 시험을 만들기 전에 달라도 되는 것과 지켜야 하는 것을 가른다</a:t>
            </a:r>
          </a:p>
          <a:p>
            <a:r>
              <a:t>· 설명 문장: 같은 사실을 다른 낱말로 전할 수 있다. 글자가 다르다고 실패로 세면 의미가 맞는 결과까지 탈락. 대신 근거와 결론은 확인</a:t>
            </a:r>
          </a:p>
          <a:p>
            <a:r>
              <a:t>· 조회 순서 · 소요 시간: 독립적인 조회의 순서는 바뀔 수 있지만 승인 전에 실행하거나 오래된 값을 최신처럼 쓰면 안 된다. 처리 시간 기준이 있으면 그것도 지킨다 → 의존 관계 · 권한 · 시간 조건 안에서만 허용</a:t>
            </a:r>
          </a:p>
          <a:p>
            <a:r>
              <a:t>· 계약 위반: 필수 결과 항목 누락, 승인 전 설비 · 업무 조치 실행, 요구한 근거 누락, 금지 조치 추천 — 한 번이라도 나오면 따로 실패로 남김. 판단 제출이나 진행 기록 쓰기까지 승인 위반으로 세지는 않는다 → 금지한 행동의 범위를 정확히 적는다</a:t>
            </a:r>
          </a:p>
          <a:p>
            <a:r>
              <a:t>· 너무 엄격(글자 대조)하면 의미 있는 차이를 놓치고, 너무 느슨하면 계약 위반을 놓친다 → 형식 · 의미 · 실제 행동 조건을 나눠 검사. 명세에서 빠진 중요한 조건을 발견하면 기준을 보완할 문제로</a:t>
            </a:r>
          </a:p>
          <a:p>
            <a:r>
              <a:t>[다음] 오늘의 실습과 남길 결과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줄: 교시 → 실습 → 남길 결과, 강조한 4교시</a:t>
            </a:r>
          </a:p>
          <a:p>
            <a:r>
              <a:t>· 2교시: 포털의 승인 · 거절 상태를 확인한 뒤 점검 요청 시작본에서, 도구로 읽을 수 있는 것은 먼저 읽고 부족한 것만 묻고 같은 요청의 답으로 재개. 작성 · 검토 시작본에 원자료 대조 기준, AI 검토와 사람 승인은 다르다</a:t>
            </a:r>
          </a:p>
          <a:p>
            <a:r>
              <a:t>· 3교시: 긴급 표시의 입력 · 조건 · 출력 · 금지 사항을 spec.md로, 시간 구간 · 단위 · 경계값 · 누락 처리까지 정하고 AI와 구현. 일반 요청과 변경 요청을 비교해 근거 · 미확인 · 승인 조건 유지</a:t>
            </a:r>
          </a:p>
          <a:p>
            <a:r>
              <a:t>· 4교시: 정상 · 정보 누락 · 변경 요구의 Given · When · Then을 실제 출력과 비교, 제공 센서 · 정비 · 부품 자료로 완료 · 미완료 · 다음 조치 · 근거 시각의 인수인계 결과</a:t>
            </a:r>
          </a:p>
          <a:p>
            <a:r>
              <a:t>· 진행은 실습마다 핸즈온 가이드를 따른다. 다음 회차에 검증한 작업을 사람의 승인과 함께 BPMN으로 그린다</a:t>
            </a:r>
          </a:p>
          <a:p>
            <a:r>
              <a:t>[다음] 실습으로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2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167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00784"/>
            <a:ext cx="78638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통합반 오프라인 7회차 · 사람 확인 · 명세 · 검증으로 결과 완성하기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8"/>
            <a:ext cx="84124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질문 · 승인 · 명세와</a:t>
            </a:r>
          </a:p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행동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07408"/>
            <a:ext cx="8412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900" b="0">
                <a:solidFill>
                  <a:srgbClr val="C6D0DE"/>
                </a:solidFill>
                <a:latin typeface="맑은 고딕"/>
                <a:ea typeface="맑은 고딕"/>
                <a:cs typeface="맑은 고딕"/>
              </a:rPr>
              <a:t>누락 입력과 바뀐 요구를 다루면서, 사람의 승인과 기존 동작이 지켜지는지 확인한다</a:t>
            </a:r>
          </a:p>
        </p:txBody>
      </p:sp>
      <p:pic>
        <p:nvPicPr>
          <p:cNvPr id="7" name="로고:uEngine" descr="logo-uengine_FFFFFF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669280"/>
            <a:ext cx="1325880" cy="27511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464040" y="118871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message-question" descr="message-question_5CB8F2_1.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784" y="1426463"/>
            <a:ext cx="713232" cy="713232"/>
          </a:xfrm>
          <a:prstGeom prst="rect">
            <a:avLst/>
          </a:prstGeom>
        </p:spPr>
      </p:pic>
      <p:sp>
        <p:nvSpPr>
          <p:cNvPr id="10" name="Down Arrow 9"/>
          <p:cNvSpPr/>
          <p:nvPr/>
        </p:nvSpPr>
        <p:spPr>
          <a:xfrm>
            <a:off x="9902952" y="245059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64040" y="283463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file-text" descr="file-text_5CB8F2_1.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3072383"/>
            <a:ext cx="713232" cy="713232"/>
          </a:xfrm>
          <a:prstGeom prst="rect">
            <a:avLst/>
          </a:prstGeom>
        </p:spPr>
      </p:pic>
      <p:sp>
        <p:nvSpPr>
          <p:cNvPr id="13" name="Down Arrow 12"/>
          <p:cNvSpPr/>
          <p:nvPr/>
        </p:nvSpPr>
        <p:spPr>
          <a:xfrm>
            <a:off x="9902952" y="409651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64040" y="4480560"/>
            <a:ext cx="1188720" cy="1188720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checks" descr="checks_13294B_1.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1784" y="4718304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정보 확인 질문과 사람의 승인을 가르고, 바뀐 요구를 명세로 적은 뒤, 기대 행동과 기존 기능 보존을 함께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6680"/>
            <a:ext cx="2567863" cy="36893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4784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message-question" descr="message-question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501468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70809"/>
            <a:ext cx="2238679" cy="216230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질문과 승인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빠진 정보는 묻고 잇는다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답변은 승인이 아니다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06263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06263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146680"/>
            <a:ext cx="2567863" cy="36893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34784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file-text" descr="file-tex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501468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170809"/>
            <a:ext cx="2238679" cy="216230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명세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입력 · 출력 · 금지를 적는다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판정할 수 있는 수용 기준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406263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406263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146680"/>
            <a:ext cx="2567863" cy="36893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34784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list-check" descr="list-check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501468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170809"/>
            <a:ext cx="2238679" cy="216230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Given · When · Then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기대 행동을 시나리오로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실행 결과로 가릴 Then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406263"/>
            <a:ext cx="9753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406263"/>
            <a:ext cx="9753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시나리오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146680"/>
            <a:ext cx="2567863" cy="36893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347849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repeat" descr="repeat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501468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170809"/>
            <a:ext cx="2238679" cy="216230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기존 기능 보존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새 요청과 기존 요청을 함께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경계 · 예외 · 회귀를 시험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406263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406263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3172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233172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사람이 결정하는 자리와 에이전트의 질문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88575" y="255117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8575" y="255117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5409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063239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3063239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바뀐 요구를 명세로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88575" y="328269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8575" y="328269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85615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379476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기대 행동의 시나리오: Given · When · Then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88575" y="401421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88575" y="401421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1713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52628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452628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새 기능과 기존 기능을 함께 확인하기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88575" y="47457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8575" y="474573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사람이 결정하는 자리와 에이전트의 질문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추천안 뒤의 승인 · 거절 · 대기와, 정보가 모자랄 때의 질문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HITL(Human-in-the-Loop): 자동 처리와 사람의 결정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HITL은 자동화 과정에 사람의 확인과 결정을 넣으며, HYD는 추천과 실행 사이에 책임 있는 승인 단계를 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33459"/>
            <a:ext cx="5181447" cy="2915793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734627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settings-automation" descr="settings-automation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888246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734627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자동으로 처리한다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585019"/>
            <a:ext cx="4632807" cy="13155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8595" indent="-188595">
              <a:lnSpc>
                <a:spcPct val="110000"/>
              </a:lnSpc>
              <a:spcAft>
                <a:spcPts val="6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값의 조회, 원인 판정, 후보 비교, 형식 검사</a:t>
            </a:r>
          </a:p>
          <a:p>
            <a:pPr algn="l" eaLnBrk="0" marL="188595" indent="-188595">
              <a:lnSpc>
                <a:spcPct val="110000"/>
              </a:lnSpc>
              <a:spcAft>
                <a:spcPts val="6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재시도 전 결과의 영향도 확인한다</a:t>
            </a:r>
          </a:p>
          <a:p>
            <a:pPr algn="l" eaLnBrk="0" marL="188595" indent="-188595">
              <a:lnSpc>
                <a:spcPct val="110000"/>
              </a:lnSpc>
              <a:spcAft>
                <a:spcPts val="6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조회에도 정보 노출 · 비용이 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992052"/>
            <a:ext cx="16306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992052"/>
            <a:ext cx="1630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에이전트와 시스템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533459"/>
            <a:ext cx="5181447" cy="2915793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734627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user-check" descr="user-che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888246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734627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사람이 결정한다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585019"/>
            <a:ext cx="4632807" cy="13155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88595" indent="-188595">
              <a:lnSpc>
                <a:spcPct val="110000"/>
              </a:lnSpc>
              <a:spcAft>
                <a:spcPts val="6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 명령, 작업지시처럼 현장을 바꾸는 일</a:t>
            </a:r>
          </a:p>
          <a:p>
            <a:pPr algn="l" eaLnBrk="0" marL="188595" indent="-188595">
              <a:lnSpc>
                <a:spcPct val="110000"/>
              </a:lnSpc>
              <a:spcAft>
                <a:spcPts val="6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실행하면 설비의 상태와 생산이 달라진다</a:t>
            </a:r>
          </a:p>
          <a:p>
            <a:pPr algn="l" eaLnBrk="0" marL="188595" indent="-188595">
              <a:lnSpc>
                <a:spcPct val="110000"/>
              </a:lnSpc>
              <a:spcAft>
                <a:spcPts val="6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결과를 책임질 역할이 정해져 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4992052"/>
            <a:ext cx="16763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4992052"/>
            <a:ext cx="16763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역할의 담당자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승인과 거절이 남기는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사례는 승인과 현재 조건 검사를 거쳐 실행됐고, 거절 경로는 조치 없이 거절 기록(값은 반려)을 남긴다.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3505"/>
            <a:ext cx="5181447" cy="369570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34467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circle-check" descr="circle-che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49829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3446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95065"/>
            <a:ext cx="4632807" cy="20955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1초 뒤 팬 속도 100 % 명령이 나간다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재관측에서 유온 51.5 ℃, 경보가 해제된다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작업지시 WO-1010-C058이 등록된다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382006"/>
            <a:ext cx="16306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82006"/>
            <a:ext cx="1630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명령이 만들어진다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143505"/>
            <a:ext cx="5181447" cy="36957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34467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ban" descr="ban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498293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3446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거절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195065"/>
            <a:ext cx="4632807" cy="20955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사유를 적어야 거절이 받아들여진다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조치 명령 · 후속 업무 · 메일은 0건이다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「담당자가 거절했습니다 — 사유: … 설비 명령은 내지 않았습니다」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382006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382006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명령 없이 닫힌다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에이전트의 질문: 묻고, 답을 받아, 이어서 처리한다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필수 업무 정보를 도구로 확인할 수 없으면 질문하고, 답을 받은 뒤 같은 대화의 문맥으로 재개한다.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87854"/>
            <a:ext cx="2485567" cy="3207004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25663" y="257073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zoom-question" descr="zoom-question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283" y="272435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" y="3375406"/>
            <a:ext cx="2339263" cy="214629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정보가 없다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조회할 대상 설비가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요청에 없고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도구로도 정할 수 없다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98215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18255" y="2387854"/>
            <a:ext cx="2485567" cy="3207004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95279" y="257073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message-question" descr="message-question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898" y="2724353"/>
            <a:ext cx="424281" cy="4242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91407" y="3375406"/>
            <a:ext cx="2339263" cy="214629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묻고 멈춘다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「조회할 대상 설비를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선택해 주세요.」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선택지: HYD-02, HYD-03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67831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87871" y="2387854"/>
            <a:ext cx="2485567" cy="3207004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64895" y="257073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아이콘:user-check" descr="user-check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8514" y="2724353"/>
            <a:ext cx="424281" cy="4242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61023" y="3375406"/>
            <a:ext cx="2339263" cy="214629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담당자가 답한다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「HYD-02」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한 질문에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답은 한 번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37447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57487" y="2387854"/>
            <a:ext cx="2485567" cy="3207004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34511" y="257073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아이콘:player-play" descr="player-play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8130" y="2724353"/>
            <a:ext cx="424281" cy="42428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230639" y="3375406"/>
            <a:ext cx="2339263" cy="214629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이어서 처리한다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답을 반영해 재실행하여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업무 DB를 조회하고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HYD-02의 결과를 낸다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질문으로 채우는 것과 바꾸지 못하는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업무 정보의 답은 승인이나 도구 권한을 대신하지 않으며, 실제 권한은 시스템이 별도로 검사한다.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62873"/>
            <a:ext cx="5181447" cy="3656965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364041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message-question" descr="message-question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517660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364041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묻는다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214433"/>
            <a:ext cx="4632807" cy="205676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대상 설비, 수량, 사유처럼 요청에서 빠진 업무 정보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연결된 도구로 조회해도 확인할 수 없는 것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답은 그 값을 채우는 입력이 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362638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62638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 정보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162873"/>
            <a:ext cx="5181447" cy="3656965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364041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lock" descr="lo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517660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364041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바꾸지 못한다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214433"/>
            <a:ext cx="4632807" cy="205676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도구로 읽을 수 있는 값은 묻지 않고 조회한다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「도구 접근 거절이나 설비 조치 승인 우회에는 쓰지 마세요」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「답변은 실행 권한을 바꾸지 않습니다」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362638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362638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권한과 승인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「보류」가 가리키는 세 가지 상황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HYD의 기다림과 멈춤은 원인이 다르므로, 상태와 사유를 읽고 지원되는 처리 경로를 고른다.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상황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미룬 쪽과 까닭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담당자가 할 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응답 없음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담당자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아직 승인도 거절도 하지 않았다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승인하거나 거절한다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에이전트의 보류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근거가 모자라 결과를 내지 않고 멈췄다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근거를 확인해 재처리하거나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닫는다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에이전트의 질문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필수 업무 정보가 없어 묻고 기다린다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질문에 답한다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바뀐 요구를 명세로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한 문장 요구의 여러 해석을 구현 전에 명세로 정한다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잘 동작하는 에이전트에 붙은 새 요구 한 문장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한 문장으로 온 변경 요청에는 바뀌면 안 되는 것이 적혀 있지 않다.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2860"/>
            <a:ext cx="11094415" cy="1371600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562860"/>
            <a:ext cx="1054577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「긴급한 경보는 빨리</a:t>
            </a:r>
          </a:p>
          <a:p>
            <a:pPr algn="ctr" eaLnBrk="0">
              <a:lnSpc>
                <a:spcPct val="110000"/>
              </a:lnSpc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처리되게 해 주세요.」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430022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help-circle" descr="help-circl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4453839"/>
            <a:ext cx="424281" cy="4242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4254500"/>
            <a:ext cx="2692298" cy="13025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긴급의 기준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어떤 경보가 긴급한지 정하지 않았다</a:t>
            </a:r>
          </a:p>
        </p:txBody>
      </p:sp>
      <p:sp>
        <p:nvSpPr>
          <p:cNvPr id="11" name="Oval 10"/>
          <p:cNvSpPr/>
          <p:nvPr/>
        </p:nvSpPr>
        <p:spPr>
          <a:xfrm>
            <a:off x="4338218" y="430022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help-circle" descr="help-circl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1837" y="4453839"/>
            <a:ext cx="424281" cy="42428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61178" y="4254500"/>
            <a:ext cx="2692298" cy="13025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빨라지는 방법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무엇을 바꾸어 빠르게 할지는 맡겨져 있다</a:t>
            </a:r>
          </a:p>
        </p:txBody>
      </p:sp>
      <p:sp>
        <p:nvSpPr>
          <p:cNvPr id="14" name="Oval 13"/>
          <p:cNvSpPr/>
          <p:nvPr/>
        </p:nvSpPr>
        <p:spPr>
          <a:xfrm>
            <a:off x="8127796" y="430022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help-circle" descr="help-circl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1416" y="4453839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950756" y="4254500"/>
            <a:ext cx="2692298" cy="13025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그대로 둘 것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건드리면 안 되는 것은 언급이 없다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한 문장의 세 가지 해석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「빨리 처리」 한마디는 출력 형식, 승인 조건, 기존 요청의 처리 가운데 어느 것을 바꾸라는 뜻으로도 읽힌다.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pic>
        <p:nvPicPr>
          <p:cNvPr id="6" name="삽화:세해석.svg" descr="illust_7909206226142081163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1100" y="1911278"/>
            <a:ext cx="2727373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변경 요청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「긴급한 경보는 빨리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처리되게 해 주세요.」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2227" y="1958553"/>
            <a:ext cx="4800177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출력 형식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긴급 표시의 추가 ·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기존 항목의 이름과 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2227" y="3565885"/>
            <a:ext cx="4800177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승인 조건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 대기의 생략 ·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승인하는 역할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2227" y="5173218"/>
            <a:ext cx="4800177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기존 요청의 처리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긴급하지 않은 경보의 결과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새 기능만 실행해 본 확인이 놓치는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고친 뒤에 새 기능만 실행해 보는 확인으로는 기존 요청과 승인 조건이 달라졌는지가 드러나지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8321"/>
            <a:ext cx="5181447" cy="284607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769489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eye" descr="ey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923108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769489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실행해 본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619881"/>
            <a:ext cx="4632807" cy="124587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긴급한 경보 한 건을 넣는다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추천안이 나오고 긴급하다는 표시도 보인다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요청한 기능은 된 것으로 보인다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957191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957191"/>
            <a:ext cx="868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새 기능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568321"/>
            <a:ext cx="5181447" cy="284607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769489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eye-off" descr="eye-off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923108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769489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실행해 보지 않은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619881"/>
            <a:ext cx="4632807" cy="124587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긴급하지 않은 경보의 결과 항목이 이전과 같은가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추천안이 여전히 승인을 기다리는가</a:t>
            </a:r>
          </a:p>
          <a:p>
            <a:pPr algn="l" eaLnBrk="0" marL="171450" indent="-171450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하지 않기로 한 일을 여전히 하지 않는가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4957191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4957191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기존 기능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SDD(Spec-Driven Development)와 명세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SDD는 무엇을 만들고 지킬지 명세로 정하고 구현과 검증의 기준으로 삼으며, 세부 문서 형식은 도구마다 다를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339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SDD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Spec-Driven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9339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요구사항, 입력과 출력의 계약, 금지 조건, 수용 기준을 구현 전에 명세로 정하는 개발 방식이다.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구현과 확인은 그 명세를 기준으로 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964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055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명세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Specification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3055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만들 것이 무엇을 받아 무엇을 내고 무엇을 하지 않는지를 적은 문서이다.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사람과 AI가 같은 문서를 기준으로 삼는다.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80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771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놓이는 곳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spec.md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46771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수업은 spec.md를 코드와 함께 관리한다. 파일 이름 자체가 공통 표준은 아니다.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명세에 적는 다섯 가지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 수업의 명세에는 요구사항, 입력 · 출력 계약, 금지 조건, 수용 기준을 함께 적어 해석과 확인의 기준을 남긴다.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pic>
        <p:nvPicPr>
          <p:cNvPr id="6" name="삽화:명세문서.svg" descr="illust_5550042618378991944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04942" y="2242200"/>
            <a:ext cx="5236557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할 일과 이번에 달라지는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04942" y="2974954"/>
            <a:ext cx="5236557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 계약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받는 입력의 항목과 형식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04942" y="3778620"/>
            <a:ext cx="5236557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출력 계약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내는 결과의 항목과 형식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4942" y="4605924"/>
            <a:ext cx="5236557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금지 조건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어떤 요구가 더해져도 하지 않을 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4942" y="5456864"/>
            <a:ext cx="5236557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수용 기준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다 되었다고 볼 조건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수용 기준: 다 되었는지를 가르는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수용 기준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은 구현이 끝났는지를 참과 거짓으로 가를 수 있게 적은 조건이다.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339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수용 기준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Acceptance Criteria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9339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구현이 요구를 채웠다고 받아들이는 조건이다.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실행해 보고 참인지 거짓인지를 가를 수 있는 문장으로 적는다.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964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055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적는 내용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상황과 기대 결과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3055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어떤 상황에서 어떤 결과가 나와야 하는지를 한 문장에 하나씩 적는다.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80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771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쓰이는 때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구현 전과 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46771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구현 전에는 무엇을 만들지의 기준이 되고, 구현 뒤에는 다 되었는지를 확인하는 항목이 된다.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판정할 수 있는 문장과 판정할 수 없는 문장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「잘 처리된다」 같은 문장은 실행해 보아도 맞았는지 가릴 수 없어, 상황과 기대 결과를 적은 문장으로 바꾸어 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3505"/>
            <a:ext cx="5181447" cy="3695700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344674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zoom-question" descr="zoom-question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49829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3446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판정할 수 없는 문장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95065"/>
            <a:ext cx="4632807" cy="20955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「거절이 잘 처리된다」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「긴급한 경보가 빨리 처리된다」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실행한 사람마다 판정이 달라진다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382006"/>
            <a:ext cx="9753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82006"/>
            <a:ext cx="9753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모호하다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143505"/>
            <a:ext cx="5181447" cy="3695700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34467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checks" descr="checks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498293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344674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판정할 수 있는 문장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195065"/>
            <a:ext cx="4632807" cy="20955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「거절하면 설비 명령이 0건이다」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「긴급한 경보의 추천안도 승인 대기 상태가 된다」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같은 입력과 조건에서 같은 항목을 확인한다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382006"/>
            <a:ext cx="12191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382006"/>
            <a:ext cx="12191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참 또는 거짓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기대 행동의 시나리오:</a:t>
            </a:r>
          </a:p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Given · When · Then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명세에 적은 것을 전제 · 행동 · 기대 결과의 시나리오로 적어 실행 결과로 가린다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BDD: 행동을 시나리오로 적고 실행으로 확인하는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BDD는 구체적인 행동 사례로 기대를 함께 정하고, 시나리오를 실행 가능한 검증에 연결한다.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339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BDD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Behavior-Driven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9339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업무 · 개발 · 검증 관점에서 사례를 논의하고 기대를 맞춘다.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시나리오로 정리하고 실행 가능한 검증에 연결한다.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964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055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행동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Behavior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3055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정해진 상황에서 시스템이 내놓는, 밖에서 관찰할 수 있는 결과이다.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예: 거절하면 설비 명령이 만들어지지 않는다.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80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771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시나리오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Scenario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46771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한 가지 상황에서 기대하는 행동 하나를 적은 글이다.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전제, 행동, 기대 결과의 세 부분으로 쓴다.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Given · When · Then: 시나리오의 세 부분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시나리오를 전제 Given, 행동 When, 기대 결과 Then으로 나누어 적으면 준비할 것과 확인할 것이 갈린다.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pic>
        <p:nvPicPr>
          <p:cNvPr id="6" name="삽화:세부분.svg" descr="illust_6407221486129844875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22932" y="1769455"/>
            <a:ext cx="305465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Given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전제: 행동 전의 상태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68518" y="1769455"/>
            <a:ext cx="305465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When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행동: 확인할 행동 하나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4104" y="1769455"/>
            <a:ext cx="305465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Then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기대 결과: 관찰할 수 있는 사실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2027" y="4653198"/>
            <a:ext cx="283646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단계가 열려 있다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추천안 · 승인 대기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7613" y="4653198"/>
            <a:ext cx="283646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사유를 적고 거절한다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 권한이 있는 담당자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3199" y="4653198"/>
            <a:ext cx="283646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명령도 업무 처리도 없다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처리 건 · 거절 종료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시나리오 한 편: 승인 단계의 거절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거절의 시나리오는 Then에 일어나지 않아야 할 일까지 적어, 금지 조건이 지켜지는지를 확인하게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82394"/>
            <a:ext cx="6766560" cy="4217924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9554"/>
            <a:ext cx="6400800" cy="39436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Feature: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단계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Scenario: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담당자가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추천을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거절한다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Given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에이전트가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추천안을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내어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단계가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열려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있다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When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권한이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있는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담당자가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사유를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적고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거절한다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Then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설비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명령이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만들어지지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않는다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And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업무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처리가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일어나지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않는다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And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처리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건이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거절로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닫힌다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882394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서식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기능(Feature) 아래에 시나리오를 Given · When · Then · And로 적는 이 서식의 이름이 </a:t>
            </a:r>
            <a:r>
              <a:rPr sz="14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Gherkin</a:t>
            </a: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936875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Given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 단계가 열린 상태까지가 전제이다.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When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행동은 거절 하나뿐이다.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045837"/>
            <a:ext cx="4007815" cy="105448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Then · And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기대 결과를 한 줄에 하나씩 적는다. And는 앞줄과 같은 부분을 잇는다.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Then의 조건: 실행 결과로 가릴 수 있는 사실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Then을 「적절히 처리한다」처럼 적으면 통과와 실패를 가를 수 없어서, 세거나 읽어 낼 수 있는 사실로 적는다.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21839"/>
            <a:ext cx="5181447" cy="2939034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723007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help-circle" descr="help-circl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876626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723007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가릴 수 없는 Then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573399"/>
            <a:ext cx="4632807" cy="1338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거절을 적절히 처리한다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설비에 영향을 주지 않는다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담당자에게 잘 알린다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003673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003673"/>
            <a:ext cx="18288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읽는 사람마다 다르다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521839"/>
            <a:ext cx="5181447" cy="2939034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723007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eye" descr="ey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876626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723007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가릴 수 있는 Then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573399"/>
            <a:ext cx="4632807" cy="1338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 명령이 0건이다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업무 처리가 0건이다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처리 건이 거절로 닫히고 사유가 남아 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003673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003673"/>
            <a:ext cx="18288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실행 결과로 가려진다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새 기능과 기존 기능을 함께 확인하기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바뀐 기능을 기존 요청과 함께 실행하고, 경계 · 예외 · 회귀를 시험한다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명세로 다시 쓴 변경 요청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긴급 여부 표시를 추가하는 교육용 예시이며, 실제 처리 시간을 줄이는 요구는 별도로 정의해야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65478"/>
            <a:ext cx="6766560" cy="4651755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02638"/>
            <a:ext cx="6400800" cy="43774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예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긴급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표시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속도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개선은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별도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-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긴급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판단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유효한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TS1 120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초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평균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60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℃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이상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-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없음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신선도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실패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표본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부족은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판정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불가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입력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계약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-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설비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경보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사건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번호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출력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계약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-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다섯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항목의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형식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뜻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- urgent: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일반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false,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긴급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true,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판정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불가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null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-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소비자의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항목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허용을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먼저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금지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-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실행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금지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-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필수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금지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수용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-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같은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입력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자료에서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의미와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동작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-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긴급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추천안도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대기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-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필수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값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실패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없이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보류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665478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어떤 경보가 긴급한가: 잴 때 · 구간 · 수치로 정했다. 교육용은 120초 평균 60 ℃ 이상, 실제 경고는 60 ℃ 초과다.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28417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입력 · 출력 계약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입력과 기존 의미는 유지하고 항목 하나를 더한다. 소비자의 허용 범위를 확인한다.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금지 조건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승인을 건너뛰는가: 건너뛰지 않고, 모르는 값을 짐작하지도 않는다.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54295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수용 기준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고정한 입력 · 조회 자료로 기존 동작과 긴급 여부, 보류를 확인한다.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변경 뒤의 확인: 기존 요청과 새 요청을 함께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기존 · 긴급 · 누락 사례를 같은 입력과 조회 자료로 확인하고, 실행마다 바뀌는 번호 · 시각은 비교 규칙을 나눈다.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0079"/>
            <a:ext cx="3515258" cy="316255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611247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history" descr="history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764866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434207"/>
            <a:ext cx="3186074" cy="163550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기존 요청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입력: 긴급하지 않은 경보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기대: 기존 의미 · 동작 유지, urgent=false, 승인 대기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142865"/>
            <a:ext cx="14782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142865"/>
            <a:ext cx="14782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그대로여야 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410079"/>
            <a:ext cx="3515258" cy="316255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611247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urgent" descr="urgen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764866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434207"/>
            <a:ext cx="3186074" cy="163550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새 요청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입력: 판단 때 TS1 120초 평균이 60 ℃ 이상인 경보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기대: urgent=true이고 승인 대기가 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142865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142865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달라져야 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410079"/>
            <a:ext cx="3515258" cy="316255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611247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player-stop" descr="player-stop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764866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434207"/>
            <a:ext cx="3186074" cy="163550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필수 값이 없는 경우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입력: 필수 값을 읽지 못한 경보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기대: 결과를 채우지 않고 보류한다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142865"/>
            <a:ext cx="14782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142865"/>
            <a:ext cx="14782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그대로여야 한다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네 종류의 시험: 정상, 경계, 예외, 회귀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네 종류는 확인하는 대상이 달라서 정상은 기본 경로를, 경계는 기준값 근처를, 예외는 실패를, 회귀는 변경 뒤를 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종류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확인하는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쿨러 사건의 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기본 경로가 끝까지 가는가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 · 실행 조건 충족 시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끝까지 처리된다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기준값의 바로 안팎에서 판정이 맞는가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재관측 유온 55.0 ℃는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회복으로 보지 않는다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예외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거절, 누락, 오류를 정한 대로 다루는가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사유 없는 거절은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받아들여지지 않는다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회귀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바꾼 뒤에도 기존 행동이 그대로인가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긴급 조건을 더한 뒤에도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거절하면 명령 0건이다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경계값 분석: 기준값의 바로 안쪽과 바깥쪽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소수 첫째 자리 시험 입력으로 유온 55 ℃ 미만의 경계를 아래 · 기준 · 위에서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  <p:pic>
        <p:nvPicPr>
          <p:cNvPr id="6" name="삽화:경계값.svg" descr="illust_3108598919381481557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32094" y="2714945"/>
            <a:ext cx="370922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회복 기준을 충족하는 구간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유온 55 ℃ 미만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54068" y="2194925"/>
            <a:ext cx="152732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기준값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221" y="2714945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충족하지 않는 구간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73895" y="4629561"/>
            <a:ext cx="1418234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51.5 ℃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실제 사건의 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9476" y="4629561"/>
            <a:ext cx="130913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54.9 ℃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바로 안쪽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3163" y="4629561"/>
            <a:ext cx="130913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55.0 ℃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기준값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6850" y="4629561"/>
            <a:ext cx="130913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55.1 ℃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바로 바깥쪽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회귀 시험: 변경 뒤에 다시 실행하는 기존 시나리오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변경 뒤 새 조건과 기존 시나리오를 함께 실행해 의도하지 않은 영향을 찾는다.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pic>
        <p:nvPicPr>
          <p:cNvPr id="6" name="삽화:회귀.svg" descr="illust_7641802578603548372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62963" y="2242200"/>
            <a:ext cx="174551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변경 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2049" y="5007757"/>
            <a:ext cx="327284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기존 시나리오 넷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 · 거절 · 무응답 · 사유 없음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8518" y="4180453"/>
            <a:ext cx="2072804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요구의 변경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긴급 조건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59556" y="2242200"/>
            <a:ext cx="174551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변경 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455" y="3329513"/>
            <a:ext cx="130913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회귀 시험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455" y="4511375"/>
            <a:ext cx="130913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새 시나리오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표현 차이와 계약 위반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설명의 의미와 근거, 도구의 권한 · 선행 조건 · 시간 기준을 지키는 범위에서 과정의 차이를 허용한다.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21052"/>
            <a:ext cx="5181447" cy="3340608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52222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message-2" descr="message-2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675839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522220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허용할 수 있는 차이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72611"/>
            <a:ext cx="4632807" cy="17404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같은 사실을 전하는 낱말과 말투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의존 관계를 지키는 조회 순서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정한 시간 기준 안의 소요 시간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204460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204460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조건 안에서 허용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321052"/>
            <a:ext cx="5181447" cy="3340608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522220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alert-triangle" descr="alert-triangl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675839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522220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계약 위반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372611"/>
            <a:ext cx="4632807" cy="17404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필수 결과 항목 누락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승인 전 설비 · 업무 조치 실행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요구한 근거 누락</a:t>
            </a:r>
          </a:p>
          <a:p>
            <a:pPr algn="l" eaLnBrk="0" marL="205740" indent="-205740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금지된 조치 추천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204460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204460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별도 실패로 기록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오늘의 실습과 남길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이론 뒤 세 교시는 질문 · 답변 · 재개를 구현하고, 변경을 명세해 구현한 뒤, 행동을 검증하고 인수인계 결과를 만든다.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교시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남길 결과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2교시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질문 · 답변 · 재개를 구현하고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작성 · 검토 결과 비교하기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요청으로 재개,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AI 검토와 승인의 구분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3교시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변경 요구를 명세하고 기능 구현하기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spec.md와 구현,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기존 조건 유지 확인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4교시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행동을 검증하고 인수인계 결과 만들기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시나리오와 실제 출력,</a:t>
            </a:r>
          </a:p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원자료와 대조한 인수인계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