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셋(흐름 · 역할 · 지연)</a:t>
            </a:r>
          </a:p>
          <a:p>
            <a:r>
              <a:t>· 지난 회차까지 에이전트 하나가 맡은 일을 만들고 검증했다 → 오늘은 그 결과가 승인 · 명령 · 확인 · 보고로 이어지는 업무 전체를 그린다</a:t>
            </a:r>
          </a:p>
          <a:p>
            <a:r>
              <a:t>· 네 교시: 이론 50분 → 기본 승인 흐름에서 설비 대응 흐름으로 → 승인 · 거절 · 지연 경로 → 등록된 실행 연결과 비교</a:t>
            </a:r>
          </a:p>
          <a:p>
            <a:r>
              <a:t>· 이론은 온라인 9회차 교재의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프로세스와 BPMN: 추천안이 나와도 승인 · 냉각 명령 · 재관측 · 작업지시 · 보고가 남는다 → 누구나 같은 뜻으로 읽는 그림</a:t>
            </a:r>
          </a:p>
          <a:p>
            <a:r>
              <a:t>· 2 이벤트 · 작업 · 분기: 2교시에 기본 승인 흐름을 그리고 설비 대응으로 확장</a:t>
            </a:r>
          </a:p>
          <a:p>
            <a:r>
              <a:t>· 3 레인과 지연 알림: 에이전트 · 사람 · 시스템의 칸, 승인을 취소하지 않는 알림 → 3교시</a:t>
            </a:r>
          </a:p>
          <a:p>
            <a:r>
              <a:t>· 4 실행 연결: 그림은 설계도, 엔진이 읽어 작업을 연다. 거절로 닫힌 것과 승인을 기다리는 것은 다른 상태 → 4교시 비교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남은 다섯 가지 일, 프로세스와 처리 건, 표기 표준과 긴급 대응의 그림</a:t>
            </a:r>
          </a:p>
          <a:p>
            <a:r>
              <a:t>· 02 흐름을 여닫는 사건, 작업의 종류, 갈림과 조건</a:t>
            </a:r>
          </a:p>
          <a:p>
            <a:r>
              <a:t>· 03 누가 맡나, 기다리는 동안의 알림, 같은 그림의 세 경로</a:t>
            </a:r>
          </a:p>
          <a:p>
            <a:r>
              <a:t>· 04 엔진이 작업을 여는 법, 승인 대기와 거절 종결</a:t>
            </a:r>
          </a:p>
          <a:p>
            <a:r>
              <a:t>[다음] 추천안 뒤의 업무와 BPMN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에이전트가 추천안을 냈다 — 업무가 끝났나, 무엇이 남았고 누가 잇나</a:t>
            </a:r>
          </a:p>
          <a:p>
            <a:r>
              <a:t>· 남은 일 → 프로세스와 처리 건 → BPMN 표준과 요소 → 긴급 대응의 전체 그림</a:t>
            </a:r>
          </a:p>
          <a:p>
            <a:r>
              <a:t>[다음] 추천안 뒤에 남은 다섯 가지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한 줄 그림: 진한 경보 · 추천 → 회색 칸을 오른쪽으로</a:t>
            </a:r>
          </a:p>
          <a:p>
            <a:r>
              <a:t>· 추천안이 나온 시점에는 경보 · 추천 두 칸만 끝났다. 냉각 명령은 아직 안 나갔다</a:t>
            </a:r>
          </a:p>
          <a:p>
            <a:r>
              <a:t>· 쿨러 사건: 승인하던 순간의 유온이 경보 때보다 더 올라 있었다 — 추천안이 화면에 머무는 동안에도 설비는 기다려 주지 않는다</a:t>
            </a:r>
          </a:p>
          <a:p>
            <a:r>
              <a:t>· 남은 일: 운전원 승인 → 냉각 명령(팬 100 %) → 재관측(유온 회복 확인) → 작업지시 등록(근본 조치 핀 세척, 팬 최대 운전은 완화 조치) → 결과 보고</a:t>
            </a:r>
          </a:p>
          <a:p>
            <a:r>
              <a:t>· 에이전트가 한 일은 앞쪽 일부. 뒤의 실행과 확인이 이어져야 결과를 안다</a:t>
            </a:r>
          </a:p>
          <a:p>
            <a:r>
              <a:t>[다음] 비즈니스 프로세스와 처리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HYD 예 → 셋째 줄 처리 건</a:t>
            </a:r>
          </a:p>
          <a:p>
            <a:r>
              <a:t>· 비즈니스 프로세스(Business Process): 원하는 결과를 내기 위해 관련된 작업과 흐름을 정한 묶음. 시작하는 사건과 끝났다고 보는 조건이 있다 — 작업 목록이 아니다</a:t>
            </a:r>
          </a:p>
          <a:p>
            <a:r>
              <a:t>· 긴급 대응 프로세스: 쿨러 성능 저하 경보에서 시작해 결과 보고로 끝남, 추천안 · 승인 · 명령 · 기록이 한 순서로</a:t>
            </a:r>
          </a:p>
          <a:p>
            <a:r>
              <a:t>· 처리 건: 경보 한 건에 대해 틀이 실제로 한 번 수행되는 것. 쿨러 사건 = 처리 건 하나</a:t>
            </a:r>
          </a:p>
          <a:p>
            <a:r>
              <a:t>· 틀은 하나라 정해 둔 조건 · 책임대로 진행되고, 건은 경보마다 따로 열려 진행과 결말을 건마다 본다</a:t>
            </a:r>
          </a:p>
          <a:p>
            <a:r>
              <a:t>[다음] BPMN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정한 곳 → 셋째 줄 읽는 쪽</a:t>
            </a:r>
          </a:p>
          <a:p>
            <a:r>
              <a:t>· BPMN(Business Process Model and Notation): 도형 모양과 선 종류마다 뜻을 정한 업무 프로세스 표기 표준</a:t>
            </a:r>
          </a:p>
          <a:p>
            <a:r>
              <a:t>· DMN을 정한 OMG가 관리, BPMN 2.0은 국제 표준 ISO/IEC 19510</a:t>
            </a:r>
          </a:p>
          <a:p>
            <a:r>
              <a:t>· 현업은 순서 · 책임을 확인하고, 구현자는 같은 모델에서 실행할 흐름(지원 요소 · 조건 · 연결)을 검토</a:t>
            </a:r>
          </a:p>
          <a:p>
            <a:r>
              <a:t>· 모든 BPMN 그림이 바로 실행되지는 않는다: 설명용 모델과 실행용 모델, 제품마다 지원 범위</a:t>
            </a:r>
          </a:p>
          <a:p>
            <a:r>
              <a:t>· HYD: 편집기에서 그린 파일을 가져와 지원 범위 검사 + 에이전트 · 시스템 연결 → 실행 정의. 실습은 이렇게 등록된 기준 흐름과 내 그림을 견준다</a:t>
            </a:r>
          </a:p>
          <a:p>
            <a:r>
              <a:t>[다음] BPMN 요소의 세 묶음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흐름 객체 → 가운데 연결 객체 → 오른쪽 스윔레인</a:t>
            </a:r>
          </a:p>
          <a:p>
            <a:r>
              <a:t>· 흐름 객체(Flow Objects): 일어나는 일. 원 = 이벤트, 둥근 사각형 = 작업, 마름모 = 게이트웨이</a:t>
            </a:r>
          </a:p>
          <a:p>
            <a:r>
              <a:t>· 연결 객체(Connecting Objects): 잇는 선. 실선 화살표(시퀀스 흐름)와 끝이 빈 점선 화살표(메시지 흐름)는 뜻이 다르다</a:t>
            </a:r>
          </a:p>
          <a:p>
            <a:r>
              <a:t>· 스윔레인(Swimlanes): 누가 맡는지 나누는 칸(풀과 레인)</a:t>
            </a:r>
          </a:p>
          <a:p>
            <a:r>
              <a:t>· 표준에는 데이터 · 주석 묶음도 있지만 흐름을 읽는 데는 이 셋</a:t>
            </a:r>
          </a:p>
          <a:p>
            <a:r>
              <a:t>· 다음 단원: 흐름 객체와 실선, 그다음 단원: 칸과 타이머</a:t>
            </a:r>
          </a:p>
          <a:p>
            <a:r>
              <a:t>[다음] 긴급 대응 프로세스의 BPMN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 이름(담당자 · 에이전트 · 시스템) → 봉투 원(시작) → 진단 · 제안 → 위로 운전원 승인 → 「승인?」 → 아래 시스템 칸 → 「유온 정상?」 → 끝들. 학생이 화살표를 눈으로 따라갈 시간(약 10초)</a:t>
            </a:r>
          </a:p>
          <a:p>
            <a:r>
              <a:t>· 시작: 쿨러 과열 경보(= 쿨러 성능 저하 경보 도착)</a:t>
            </a:r>
          </a:p>
          <a:p>
            <a:r>
              <a:t>· 「승인?」 = 승인 여부 게이트웨이: 승인은 냉각 명령 → 재관측 → 「유온 정상?」 = 유온 정상 여부 게이트웨이 → 정상이면 작업지시 · 정상 보고, 아니면 미달 보고</a:t>
            </a:r>
          </a:p>
          <a:p>
            <a:r>
              <a:t>· 다른 갈래: 승인 여부 게이트웨이에서 오른쪽으로 나갔다 내려가는 선(거절), 운전원 승인 테두리의 작은 시계에서 나가는 선(지연 알림) — 뒤에서</a:t>
            </a:r>
          </a:p>
          <a:p>
            <a:r>
              <a:t>· 갈림 둘, 끝 셋</a:t>
            </a:r>
          </a:p>
          <a:p>
            <a:r>
              <a:t>[다음] 이벤트 · 작업 · 게이트웨이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그림의 원 · 둥근 사각형 · 마름모는 각각 무엇을 약속하나</a:t>
            </a:r>
          </a:p>
          <a:p>
            <a:r>
              <a:t>· 2교시에 bpmn.io로 시작 → 요청 확인 → 승인 또는 반려 → 종료를 그린다</a:t>
            </a:r>
          </a:p>
          <a:p>
            <a:r>
              <a:t>[다음] 이벤트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원 셋의 테두리를 왼쪽부터 견주기</a:t>
            </a:r>
          </a:p>
          <a:p>
            <a:r>
              <a:t>· 시작 이벤트(Start Event): 가는 테두리, 프로세스를 여는 사건</a:t>
            </a:r>
          </a:p>
          <a:p>
            <a:r>
              <a:t>· 메시지 시작 이벤트(Message Start Event): 안에 봉투, 메시지를 받으면 연다 — 쿨러 과열 경보(시작 조건이 원 하나로)</a:t>
            </a:r>
          </a:p>
          <a:p>
            <a:r>
              <a:t>· 끝 이벤트(End Event): 굵은 테두리, 한 갈래를 닫는 사건. 긴급 대응에는 끝 · 거절 종결 · 알림 셋</a:t>
            </a:r>
          </a:p>
          <a:p>
            <a:r>
              <a:t>· 일반 끝 이벤트는 도착한 갈래만 마친다: 알림 갈래가 끝나도 승인이 남으면 처리 건은 안 끝남</a:t>
            </a:r>
          </a:p>
          <a:p>
            <a:r>
              <a:t>· 정상과 미달은 같은 끝으로 모인다 → 어떤 끝 + 결과 보고를 함께 읽는다</a:t>
            </a:r>
          </a:p>
          <a:p>
            <a:r>
              <a:t>[다음] 작업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상자 셋의 왼쪽 위 표식: 가운데 → 오른쪽 → 왼쪽</a:t>
            </a:r>
          </a:p>
          <a:p>
            <a:r>
              <a:t>· 작업(Task): 그 모델에서 내부 절차를 더 펼치지 않는 활동 단위. 실제로 더 작은 행동이 없다는 뜻은 아니다</a:t>
            </a:r>
          </a:p>
          <a:p>
            <a:r>
              <a:t>· 사용자 작업(User Task, 사람 표식): 운전원 승인 — 전체 그림에서 하나뿐, 사람이 결정하는 자리를 바로 찾는다</a:t>
            </a:r>
          </a:p>
          <a:p>
            <a:r>
              <a:t>· 서비스 작업(Service Task, 톱니 표식): 냉각 명령, 시스템이 자동 수행</a:t>
            </a:r>
          </a:p>
          <a:p>
            <a:r>
              <a:t>· 표식 없는 작업: 원인 진단 · 냉각 조치 제안. BPMN 표준에 에이전트 작업 요소가 없어, HYD는 표식 없는 작업으로 그리고 맡을 에이전트는 연결할 때 정한다 — 4교시 실습에서 매핑 자료로</a:t>
            </a:r>
          </a:p>
          <a:p>
            <a:r>
              <a:t>[다음] 시퀀스 흐름과 배타 게이트웨이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운전원 승인 → 실선 화살표 → 가위표 마름모 → 위쪽 냉각 명령 · 아래쪽 거절 보고</a:t>
            </a:r>
          </a:p>
          <a:p>
            <a:r>
              <a:t>· 시퀀스 흐름(Sequence Flow): 작업을 잇는 실선 화살표, 방향 = 순서</a:t>
            </a:r>
          </a:p>
          <a:p>
            <a:r>
              <a:t>· 게이트웨이: 흐름이 갈라지거나 합쳐지는 지점. 배타 게이트웨이(Exclusive Gateway, 가위표): 조건이 참인 한 갈래로만</a:t>
            </a:r>
          </a:p>
          <a:p>
            <a:r>
              <a:t>· 승인이면 냉각 명령, 거절이면 거절 보고 — 동시에 양쪽으로 가지 않는다</a:t>
            </a:r>
          </a:p>
          <a:p>
            <a:r>
              <a:t>· 조건 없는 선을 한 작업에서 두 갈래로 뽑으면 두 경로가 함께 진행될 수 있다. 표준에는 조건부 시퀀스 흐름도 있지만, HYD는 마름모 없이 갈라진 흐름을 등록받지 않는다</a:t>
            </a:r>
          </a:p>
          <a:p>
            <a:r>
              <a:t>[다음] 갈림의 조건과 기본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오른쪽 열(조건)</a:t>
            </a:r>
          </a:p>
          <a:p>
            <a:r>
              <a:t>· 승인? → 냉각 명령: approval == '승인'(운전원 승인이 낸 값)</a:t>
            </a:r>
          </a:p>
          <a:p>
            <a:r>
              <a:t>· 유온 정상? → 작업지시 등록: recovered == True(재관측이 낸 값)</a:t>
            </a:r>
          </a:p>
          <a:p>
            <a:r>
              <a:t>· 둘째 · 넷째 줄 = 기본 흐름(Default Flow): 어느 조건도 참이 아닐 때 가는 선, 출발 자리에 짧은 빗금</a:t>
            </a:r>
          </a:p>
          <a:p>
            <a:r>
              <a:t>· 갈림은 앞 작업의 값을 견주는 식으로 정한다. 누가 해석하거나 모델에게 맡기지 않는다 → 같은 정의 · 같은 값이면 같은 갈래, 기록으로 설명 가능</a:t>
            </a:r>
          </a:p>
          <a:p>
            <a:r>
              <a:t>· 기본 흐름이 없는데 조건이 다 거짓이면 흐름이 멈추고 사유가 남는다. 조건이 동시에 참일 수 있는지도 본다. 기본 흐름은 누락 입력을 정상으로 처리하는 장치가 아니다</a:t>
            </a:r>
          </a:p>
          <a:p>
            <a:r>
              <a:t>· 판단은 에이전트, 갈림은 정해진 조건</a:t>
            </a:r>
          </a:p>
          <a:p>
            <a:r>
              <a:t>[다음] 레인 · 경계 타이머 · 승인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운전원이 10분 동안 답하지 않으면 그 승인은 취소되나</a:t>
            </a:r>
          </a:p>
          <a:p>
            <a:r>
              <a:t>· 3교시에 승인 · 거절 경로를 잇고 승인 작업을 취소하지 않는 지연 알림을 더한다</a:t>
            </a:r>
          </a:p>
          <a:p>
            <a:r>
              <a:t>[다음] 풀과 레인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바깥 테두리(풀) → 안의 칸(레인) 셋 → 칸마다 놓인 작업</a:t>
            </a:r>
          </a:p>
          <a:p>
            <a:r>
              <a:t>· 풀(Pool): 참여자 하나의 영역(조직 · 시스템)</a:t>
            </a:r>
          </a:p>
          <a:p>
            <a:r>
              <a:t>· 레인(Lane): 풀 안 활동을 묶는 칸, 여기서는 담당 역할. 진단 → 에이전트, 승인 → 담당자, 냉각 명령 → 시스템</a:t>
            </a:r>
          </a:p>
          <a:p>
            <a:r>
              <a:t>· 레인의 기준은 모델을 만드는 사람이 정한다. 상자를 옮겨도 실제 권한 · 담당 시스템은 바뀌지 않는다</a:t>
            </a:r>
          </a:p>
          <a:p>
            <a:r>
              <a:t>· HYD: 칸 이름이 역할 이름과 맞으면 연결을 제안하고 사람이 바꿀 수 있다, 레인과 담당의 어긋남도 검사</a:t>
            </a:r>
          </a:p>
          <a:p>
            <a:r>
              <a:t>· 같은 풀 안은 레인이 달라도 시퀀스 흐름, 다른 풀 사이는 메시지 흐름</a:t>
            </a:r>
          </a:p>
          <a:p>
            <a:r>
              <a:t>[다음] 사람, 에이전트, 시스템의 책임 배치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줄, 가운데 열(맡는 쪽) → 오른쪽 열(레인)</a:t>
            </a:r>
          </a:p>
          <a:p>
            <a:r>
              <a:t>· 원인 진단 · 냉각 조치 제안: 냉각 긴급 대응 에이전트(agent:cooling), 에이전트 레인</a:t>
            </a:r>
          </a:p>
          <a:p>
            <a:r>
              <a:t>· 운전원 승인: 운전원 역할(role:operator), 담당자 레인</a:t>
            </a:r>
          </a:p>
          <a:p>
            <a:r>
              <a:t>· 냉각 명령 SCADA, 재관측 · 결과 보고 프로세스(처리를 이끄는 시스템), 작업지시 등록 CMMS — 모두 시스템 레인</a:t>
            </a:r>
          </a:p>
          <a:p>
            <a:r>
              <a:t>· 판단은 에이전트, 결정은 담당자, 실행과 기록은 시스템. 냉각 명령 앞에 반드시 사람의 승인 — 추천과 실행의 책임 경계가 칸으로</a:t>
            </a:r>
          </a:p>
          <a:p>
            <a:r>
              <a:t>· 실제 연결과 권한이 그 배치를 따르는지 확인</a:t>
            </a:r>
          </a:p>
          <a:p>
            <a:r>
              <a:t>[다음] 경계 이벤트와 타이머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두 그림 모두 작업 아래 테두리의 시계 원 → 왼쪽(실선 겹테두리) → 오른쪽(점선 겹테두리)</a:t>
            </a:r>
          </a:p>
          <a:p>
            <a:r>
              <a:t>· 경계 이벤트: 작업 테두리에 붙어, 그 작업이 진행 중일 때만 살아 있다. 작업이 기한 안에 끝나면 함께 거둬진다</a:t>
            </a:r>
          </a:p>
          <a:p>
            <a:r>
              <a:t>· 타이머: 정한 기간이 지나면 발생</a:t>
            </a:r>
          </a:p>
          <a:p>
            <a:r>
              <a:t>· 중단형(Interrupting, 실선): 작업을 끊고 다른 가지로 → 위 작업이 흐리고 가위표</a:t>
            </a:r>
          </a:p>
          <a:p>
            <a:r>
              <a:t>· 비중단형(Non-interrupting, 점선): 작업은 그대로 두고 가지를 하나 더 → 위 작업이 진한 채</a:t>
            </a:r>
          </a:p>
          <a:p>
            <a:r>
              <a:t>· 실선이냐 점선이냐가 「알림 뒤에도 기다리나」의 답</a:t>
            </a:r>
          </a:p>
          <a:p>
            <a:r>
              <a:t>· HYD 가져오기는 작업의 경계 타이머만 지원, 흐름 중간의 타이머는 받지 않는다 → 실습도 테두리에</a:t>
            </a:r>
          </a:p>
          <a:p>
            <a:r>
              <a:t>[다음] 승인을 받는 자리의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운전원 승인 → 「승인?」 → 오른쪽 냉각 명령 · 아래 거절 보고 → 거절 종결 → 승인 테두리의 「승인 지연」 → 왼쪽 아래 알림</a:t>
            </a:r>
          </a:p>
          <a:p>
            <a:r>
              <a:t>· 승인이면 냉각 명령, 거절이면 거절 보고 → 거절 종결</a:t>
            </a:r>
          </a:p>
          <a:p>
            <a:r>
              <a:t>· 승인 지연: 비중단형 경계 타이머, 기한 10분. PT10M = 기간 표기 국제 표준(P 기간, T 뒤 10M = 10분). 매핑 자료에도 이 꼴</a:t>
            </a:r>
          </a:p>
          <a:p>
            <a:r>
              <a:t>· 기한이 지나면 승인 지연 알림 가지만 열리고 승인 작업은 계속 기다린다 = 완료 조건의 「응답 없음」</a:t>
            </a:r>
          </a:p>
          <a:p>
            <a:r>
              <a:t>· 실선이었다면 10분에 승인 작업이 끊겨 운전원이 더 이상 승인할 수 없다</a:t>
            </a:r>
          </a:p>
          <a:p>
            <a:r>
              <a:t>· 실선도 틀린 설계가 아니다: HYD에 원래 들어 있던 다른 설비 이상 대응 흐름은 10분이 지나면 작업을 끊고 상급자를 부른다. 결정을 넘길지, 같은 사람을 기다릴지는 설계자가 정한다</a:t>
            </a:r>
          </a:p>
          <a:p>
            <a:r>
              <a:t>[다음] 같은 그림 위의 세 가지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왼쪽부터, 카드마다 꼬리표(닿는 끝)</a:t>
            </a:r>
          </a:p>
          <a:p>
            <a:r>
              <a:t>· 승인 · 회복: 냉각 명령 → 재관측 → 유온 정상 여부 → 작업지시 등록 → 정상 보고 → 「끝」(쿨러 사건)</a:t>
            </a:r>
          </a:p>
          <a:p>
            <a:r>
              <a:t>· 거절: 승인 여부 게이트웨이 → 거절 보고 → 「거절 종결」, 냉각 명령 선은 지나지 않는다</a:t>
            </a:r>
          </a:p>
          <a:p>
            <a:r>
              <a:t>· 응답 없음: 승인 지연 타이머 → 알림 → 「알림」, 운전원 승인은 열린 채</a:t>
            </a:r>
          </a:p>
          <a:p>
            <a:r>
              <a:t>· 끝 이벤트 셋과 세 경로가 짝. 다만 알림에 닿아도 승인 작업이 열려 있어 처리 건 전체는 안 끝남</a:t>
            </a:r>
          </a:p>
          <a:p>
            <a:r>
              <a:t>· 그림 하나에 갈림과 끝을 모두 담아 처리 건마다 어떤 경로를 지났는지 설명</a:t>
            </a:r>
          </a:p>
          <a:p>
            <a:r>
              <a:t>[다음] 그림에서 실행으로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그림을 그렸으면 그대로 일이 진행되나, 승인을 기다리는 처리 건과 거절로 닫힌 처리 건은 무엇이 다른가</a:t>
            </a:r>
          </a:p>
          <a:p>
            <a:r>
              <a:t>· 4교시에 내 그림의 작업마다 대응하는 실행 기능을 표시한다</a:t>
            </a:r>
          </a:p>
          <a:p>
            <a:r>
              <a:t>[다음] 그림만으로는 일어나지 않는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다음 작업 열기(순서): 추천안이 제출되면 운전원 앞에 승인 작업을 놓는다</a:t>
            </a:r>
          </a:p>
          <a:p>
            <a:r>
              <a:t>· 결과 넘기기(데이터): 승인 결과를 승인 여부 게이트웨이에, 재관측 판정을 다음 갈림에</a:t>
            </a:r>
          </a:p>
          <a:p>
            <a:r>
              <a:t>· 위치 기억하기(상태): 운전원이 한참 뒤 응답해도 어디까지 왔는지 잊지 않는다</a:t>
            </a:r>
          </a:p>
          <a:p>
            <a:r>
              <a:t>· 사람이 챙기면 AS-IS로 돌아간다 → 그림을 읽고 대신 해 줄 실행 주체가 필요</a:t>
            </a:r>
          </a:p>
          <a:p>
            <a:r>
              <a:t>[다음] 프로세스 엔진과 오케스트레이션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프로세스 엔진 → 둘째 줄 오케스트레이션 → 셋째 줄 비유</a:t>
            </a:r>
          </a:p>
          <a:p>
            <a:r>
              <a:t>· 프로세스 엔진(Process Engine): 프로세스 정의를 읽어 그대로 실행하는 소프트웨어. 작업을 차례로 열고 재관측 · 결과 보고까지 맡는 쪽</a:t>
            </a:r>
          </a:p>
          <a:p>
            <a:r>
              <a:t>· 오케스트레이션(Orchestration): 중앙의 조정자가 작업 순서와 호출을 이끄는 방식. 각자는 자기 작업만, 다음 차례는 엔진 → 진행 위치와 누가 무엇을 했는지를 한 곳에서</a:t>
            </a:r>
          </a:p>
          <a:p>
            <a:r>
              <a:t>· 비유 지휘자: 닮은 점 연주자는 자기 악기만 · 차례는 지휘자, 다른 점 엔진은 결과를 받아 넘기고 기록까지</a:t>
            </a:r>
          </a:p>
          <a:p>
            <a:r>
              <a:t>· 중앙 = 조정 책임이 한곳, 컴퓨터 한 대라는 뜻은 아니다. 연결 시스템 실패 시 멈추거나 대응 경로로, 진행 상태 · 실패 이유 · 재처리 기준이 남아야</a:t>
            </a:r>
          </a:p>
          <a:p>
            <a:r>
              <a:t>[다음] 작업의 종류에 따라 엔진이 기다리는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사용자 작업(운전원 승인): 담당 역할의 작업함에 놓고 승인 · 거절을 기다린다</a:t>
            </a:r>
          </a:p>
          <a:p>
            <a:r>
              <a:t>· 서비스 작업(냉각 명령 · 재관측 · 작업지시 등록): 엔진이 시스템을 호출, 결과와 완료 조건 확인. 호출 실패 · 결과 누락을 성공으로 넘기지 않는다</a:t>
            </a:r>
          </a:p>
          <a:p>
            <a:r>
              <a:t>· 에이전트 단계(원인 진단 · 냉각 조치 제안): 지정된 에이전트에게 맡기고 추천안 제출을 기다린다. 에이전트가 다음 작업을 직접 열지 않는다 — 제출 · 검사 뒤 엔진이 연다. 제출과 진행을 따로 기록</a:t>
            </a:r>
          </a:p>
          <a:p>
            <a:r>
              <a:t>· 어느 경우든 작업이 끝나야 토큰이 넘어간다. 승인도 역할 확인 + 다음 단계로 전달된 뒤에야 냉각 명령, 전달 실패면 넘어가지 않는다</a:t>
            </a:r>
          </a:p>
          <a:p>
            <a:r>
              <a:t>[다음] 승인 대기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기록 맨 위 status → 둘째 줄 current_activity_ids → 아래 단계 상태 다섯 줄</a:t>
            </a:r>
          </a:p>
          <a:p>
            <a:r>
              <a:t>· 쿨러 사건과 같은 정의에서 열렸지만 운전원이 한동안 응답하지 않은 다른 처리 건</a:t>
            </a:r>
          </a:p>
          <a:p>
            <a:r>
              <a:t>· RUNNING: 아직 안 끝남. 열린 단계 T_approve(운전원 승인) = 토큰의 자리</a:t>
            </a:r>
          </a:p>
          <a:p>
            <a:r>
              <a:t>· 단계: 그림의 작업이 이 처리 건에서 실제로 실행되는 자리. T_agent DONE, T_approve IN_PROGRESS, 나머지 TODO</a:t>
            </a:r>
          </a:p>
          <a:p>
            <a:r>
              <a:t>· 닿지 않은 단계도 처음부터 기록에 있다(열릴 때 미리 만든다) → 남은 일까지 보인다</a:t>
            </a:r>
          </a:p>
          <a:p>
            <a:r>
              <a:t>· 승인 대기는 오류가 아니라 정상 실행 상태. 다만 담당자 부재 · 알림 실패로 길어졌는지는 따로</a:t>
            </a:r>
          </a:p>
          <a:p>
            <a:r>
              <a:t>[다음] COMPLETED는 성공을 뜻하지 않는다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두 칸의 맨 위 줄(status) 견주기 → 아래 줄들 → 왼쪽 칸 마지막 줄</a:t>
            </a:r>
          </a:p>
          <a:p>
            <a:r>
              <a:t>· 둘 다 COMPLETED</a:t>
            </a:r>
          </a:p>
          <a:p>
            <a:r>
              <a:t>· 승인된 처리 건: end_event E_end, 정상 보고, 설비 명령 1건</a:t>
            </a:r>
          </a:p>
          <a:p>
            <a:r>
              <a:t>· 거절된 처리 건: E_rejected(거절 종결), 거절 보고(기록의 값은 반려), 설비 명령 없음, 냉각 명령 · 재관측 · 작업지시 등록은 CANCELLED</a:t>
            </a:r>
          </a:p>
          <a:p>
            <a:r>
              <a:t>· COMPLETED = 실행이 끝났다는 뜻일 뿐, 업무 결과는 닿은 끝 이벤트와 결과 보고로</a:t>
            </a:r>
          </a:p>
          <a:p>
            <a:r>
              <a:t>· 승인했는데 회복 미달이어도 끝 이벤트는 E_end — 결과 보고가 정상인지 미달인지로 구분</a:t>
            </a:r>
          </a:p>
          <a:p>
            <a:r>
              <a:t>[다음] 오늘의 실습과 남길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교시 → 실습 → 남길 결과, 강조한 4교시</a:t>
            </a:r>
          </a:p>
          <a:p>
            <a:r>
              <a:t>· 2교시: bpmn.io에서 시작 → 요청 확인 → 승인 또는 반려 → 종료, 이어 쿨러 경보 → 원인 분석 · 조치 제안 → 운전원 승인 → 설비 명령 → 효과 확인 → 보고로 넓히고 역할별 레인에</a:t>
            </a:r>
          </a:p>
          <a:p>
            <a:r>
              <a:t>· 3교시: 승인 · 거절 분기와 각 끝 경로, 거절 경로가 설비 명령으로 가지 않는지, 승인 작업을 취소하지 않는 지연 알림 타이머</a:t>
            </a:r>
          </a:p>
          <a:p>
            <a:r>
              <a:t>· 4교시: 내 그림을 포털에 등록된 기준 흐름과 비교(여기서 기준 흐름 = 강사가 배포해 둔 수업 흐름 「냉각 긴급 대응」과 그 제공 매핑). 시작 이벤트 · 에이전트 · 운전원 승인 · 설비 명령 · 재관측의 연결을 찾아 내 작업마다 표시</a:t>
            </a:r>
          </a:p>
          <a:p>
            <a:r>
              <a:t>· 진행은 실습마다 핸즈온 가이드를 따른다. 다음 회차에 등록된 흐름을 실행해 이 그림과 실제 처리 이력을 대조한다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8회차 · 설비 대응 프로세스를 설계하고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BPMN 역할 · 분기 · 지연과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작업의 결과가 다음 작업으로 넘어가는 조건과 담당 역할을 그림으로 분명히 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ute" descr="route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users" descr="users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ock" descr="clo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뒤의 일을 BPMN으로 그려 분기 · 역할 · 지연을 읽고, 그림의 작업이 실행에 이어지는 길을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429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oute" descr="rou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965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프로세스와 BPMN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 뒤의 일을 잇는다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요소 세 묶음을 읽는다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429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git-branch" descr="git-bran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9656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· 작업 · 분기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시작과 끝, 작업의 종류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여부의 갈림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429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s" descr="us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9656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레인과 지연 알림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누가 맡는지 칸으로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기다리는 동안의 알림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429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96565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연결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엔진이 작업을 연다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거절과 대기를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뒤의 업무와 BPMN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· 작업 · 게이트웨이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 · 경계 타이머 · 승인 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그림에서 실행으로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뒤의 업무와 BPMN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추천안이 끝난 업무가 되기까지 남은 일을, 누구나 같은 뜻으로 읽는 그림으로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뒤에 남은 다섯 가지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추천안을 만든 뒤에도 승인, 냉각 명령, 효과 확인, 작업지시와 결과 보고가 남아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삽화:남은일_추천뒤.svg" descr="illust_54783955421981392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8373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060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5747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9434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100 %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121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유온의 회복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8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0495" y="4180453"/>
            <a:ext cx="130913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23276" y="4180453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프로세스와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비즈니스 프로세스는 원하는 결과를 내기 위해 관련된 작업과 흐름을 정한 묶음이다.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Business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조직이 원하는 결과를 내기 위해 관련된 작업과 흐름을 정한 묶음이다.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시작하는 사건이 있고 끝났다고 보는 조건이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성능 저하 경보에서 시작해 결과 보고로 끝난다.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추천안, 운전원의 승인, 시스템의 명령과 기록이 한 순서로 이어진다.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실행되는 한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경보 한 건에 대해 실제로 수행되는 한 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사건은 긴급 대응 프로세스의 처리 건 하나로 진행되었다.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BPMN: 업무 프로세스의 표기 표준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BPMN은 업무 프로세스를 누구나 같은 뜻으로 읽도록 도형과 선의 의미를 정해 둔 표기 표준이다.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Business Process Model and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프로세스를 그림으로 나타내는 표기 표준이다.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도형의 모양과 선의 종류마다 뜻이 정해져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정한 곳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국제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DMN을 정한 OMG가 정했고, BPMN 2.0은 국제 표준 ISO/IEC 19510이기도 하다.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사람과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현업은 업무 흐름을 확인하고, 구현자는 지원 요소·조건·실행 연결을 검증한다.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 요소의 세 묶음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BPMN의 기본 도형은 일어나는 일인 흐름 객체, 그것을 잇는 연결 객체, 맡는 쪽을 나누는 스윔레인으로 묶인다.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6" name="삽화:요소묶음.svg" descr="illust_835608929609715293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8396" y="2384023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흐름 객체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Flow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5812" y="2384023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 객체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Connecting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384" y="2384023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스윔레인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Swimlanes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475" y="4511375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3890" y="4511375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030" y="4511375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게이트웨이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91" y="3754983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시퀀스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2191" y="5078669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메시지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7764" y="5125943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풀과 레인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 프로세스의 BPMN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대응 프로세스를 BPMN으로 그리면 문장에 묻혀 있던 맡는 쪽과 갈림 둘, 끝 셋이 레인 셋 위의 도형으로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흐름_전체.svg" descr="illust_202564281627367379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647" y="2218563"/>
            <a:ext cx="87275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47" y="3282238"/>
            <a:ext cx="87275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47" y="5137762"/>
            <a:ext cx="87275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5674" y="3476064"/>
            <a:ext cx="1156406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과열 경보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2979" y="2870950"/>
            <a:ext cx="1352777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4844" y="2027101"/>
            <a:ext cx="120004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8527" y="1674906"/>
            <a:ext cx="76366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3970" y="2785856"/>
            <a:ext cx="54547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6703" y="4199363"/>
            <a:ext cx="120004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4033" y="4199363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6797" y="3648616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정상?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7751" y="4081177"/>
            <a:ext cx="98185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7799" y="4081177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정상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982" y="4941573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미달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4006" y="4941573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거절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4941573"/>
            <a:ext cx="98185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 알림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· 작업 · 게이트웨이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흐름을 여닫는 사건, 작업의 종류, 승인 여부의 갈림과 조건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이벤트: 프로세스를 여는 사건과 닫는 사건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시작 이벤트는 흐름을 열고 일반 끝 이벤트는 도착한 갈래를 마치며, 전체 종료는 남은 흐름도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삽화:이벤트.svg" descr="illust_781089731535851170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303" y="4464100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시작 이벤트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Start Event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프로세스를 여는 사건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9423" y="4464100"/>
            <a:ext cx="3272848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메시지 시작 이벤트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Message Start Event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메시지를 받으면 연다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예: 쿨러 과열 경보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5923" y="4464100"/>
            <a:ext cx="2836468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끝 이벤트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End Event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갈래를 닫는 사건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예: 끝, 거절 종결, 알림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작업: 사용자 작업과 서비스 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Task는 해당 모델에서 내부 절차를 더 펼치지 않은 활동이며, 표식은 작업의 종류를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작업종류.svg" descr="illust_300183282547149787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9312" y="3187689"/>
            <a:ext cx="2181899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3993" y="3282238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578" y="3282238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932" y="4369551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 · 표식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6708" y="436955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사용자 작업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User Task · 사람 표식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2294" y="436955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서비스 작업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Service Task · 톱니 표식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시퀀스 흐름과 배타 게이트웨이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순서는 실선 화살표인 시퀀스 흐름으로 잇고, 갈림은 조건이 참인 한 갈래만 고르는 배타 게이트웨이로 그린다.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6" name="삽화:게이트웨이.svg" descr="illust_3580267831801923855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8407" y="3069503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0341" y="1911278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221" y="3069503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126" y="5244129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거절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4960" y="2714945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584" y="4913208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0283" y="3329513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시퀀스 흐름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Sequence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79" y="4558649"/>
            <a:ext cx="349103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배타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Exclusive Gateway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갈림의 조건과 기본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정의의 조건식과 같은 변수 값으로 갈림을 판단하고, 맞는 조건이 없으면 기본 흐름을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게이트웨이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나가는 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→ 냉각 명령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approval == '승인'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 → 결과 보고: 거절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기본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정상?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 → 작업지시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recovered ==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정상?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아니오 → 결과 보고: 미달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기본 흐름(Default Flow)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 · 경계 타이머 · 승인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누가 맡는지를 칸으로, 기다리는 동안 생기는 일을 테두리의 타이머로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풀과 레인: 참여자와 책임의 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풀은 참여자를 나타내고 레인은 활동을 구분하며, 이 사례에서는 레인의 역할과 실제 수행 주체를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pic>
        <p:nvPicPr>
          <p:cNvPr id="6" name="삽화:풀과레인.svg" descr="illust_40982683746213484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73873" y="2880405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3873" y="4275002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3873" y="5645962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2147" y="3731346"/>
            <a:ext cx="1636424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2240" y="2478572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9601" y="5267766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948" y="2005827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Pool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참여자 하나의 영역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9423" y="4936845"/>
            <a:ext cx="327284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레인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Lane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사례의 역할 구분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사람, 에이전트, 시스템의 책임 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판단은 에이전트 레인에, 결정은 담당자 레인에, 실행과 기록은 시스템 레인에 놓여 설비 명령 앞에 사람의 승인이 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맡는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 에이전트 · agent:cooling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역할 · role:operator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 · sys:scada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· sys:process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· sys:cmms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· sys:process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 이벤트와 타이머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작업이 끝나기를 기다리는 동안 생기는 일은 테두리에 붙인 경계 이벤트로 그리고, 기간의 경과는 타이머로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pic>
        <p:nvPicPr>
          <p:cNvPr id="6" name="삽화:경계타이머.svg" descr="illust_799737351334859316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6574" y="2313111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중단형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Interrupting · 실선 겹테두리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1322" y="2313111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비중단형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Non-interrupting · 점선 겹테두리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384" y="4747747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끊긴 작업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132" y="4747747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계속되는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7591" y="5244129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2338" y="5244129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추가 작업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승인을 받는 자리의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작업에는 승인과 거절을 가르는 게이트웨이와, 응답이 늦을 때 알림 가지를 여는 비중단형 타이머가 함께 붙는다.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승인자리.svg" descr="illust_396108150349941022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3846" y="2714945"/>
            <a:ext cx="152732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8496" y="2809494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860" y="2135832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0506" y="2809494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4104" y="5102306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거절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9356" y="5102306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1277" y="3754983"/>
            <a:ext cx="141823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지연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비중단형 · PT10M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2271" y="2632214"/>
            <a:ext cx="87275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702" y="4227728"/>
            <a:ext cx="65456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5098" y="5598688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종결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656" y="5598688"/>
            <a:ext cx="87275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그림 위의 세 가지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승인·회복, 거절, 지연 알림의 경로를 구별하고 알림 뒤에도 남아 있는 승인 대기를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승인·회복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승인? 게이트웨이에서 냉각 명령으로 간다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재관측과 유온 정상? 게이트웨이를 지난다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 등록, 결과 보고: 정상을 거친다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승인? 게이트웨이에서 결과 보고: 거절로 간다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명령으로 가는 선은 지나지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종결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hourglass" descr="hourglas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지연 타이머가 승인 지연 알림을 연다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운전원 승인은 열린 채로 남는다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그림에서 실행으로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그림의 작업이 실행에 이어지는 길과, 승인 대기 · 거절 종결의 차이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그림만으로는 일어나지 않는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BPMN 그림은 설계도여서, 그림대로 다음 작업을 열고 결과를 넘기고 진행 위치를 기억하는 실행 주체가 따로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layer-play" descr="player-pla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881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작업 열기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제출이 끝나면 운전원에게 승인 작업을 놓는다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196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1962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arrows-right-left" descr="arrows-right-lef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8810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넘기기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승인의 결과를 게이트웨이에, 재관측의 판정을 다음 갈림에 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196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1962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3448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ap-pin" descr="map-pi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881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위치 기억하기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승인을 기다리는 동안 어디까지 왔는지를 잊지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196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1962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엔진과 오케스트레이션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 엔진이 정의를 읽어 작업을 차례로 열며, 한 주체가 전체 순서를 이끄는 이 방식이 오케스트레이션이다.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프로세스의 정의를 읽어 그대로 실행하는 소프트웨어이다.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HYD에서는 이 엔진이 정의의 조건에 따라 경보로 열린 처리 건의 진행을 관리한다.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중앙의 조정자가 작업의 순서와 호출을 이끄는 방식이다.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사람, 에이전트, 시스템은 자기 작업만 하고 다음 차례는 엔진이 정한다.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오케스트라의 지휘자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연주자는 자기 악기만 맡고 들어올 차례는 지휘자가 알린다.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엔진은 작업의 결과를 받아 다음 작업에 넘기고 기록한다.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작업의 종류에 따라 엔진이 기다리는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엔진은 작업의 종류에 따라 사람의 응답, 시스템의 처리 결과, 에이전트의 제출을 기다린 뒤 토큰을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-check" descr="user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7893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사용자 작업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운전원 승인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 역할의 작업함에 놓인다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승인하거나 거절하면 끝난다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8793"/>
            <a:ext cx="1075944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8793"/>
            <a:ext cx="107594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User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ettings" descr="setting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7893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서비스 작업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명령, 재관측, 작업지시 등록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엔진이 해당 시스템을 호출한다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결과와 완료 조건을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28793"/>
            <a:ext cx="1313687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28793"/>
            <a:ext cx="13136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Service 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2531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7893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단계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진단 · 냉각 조치 제안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지정된 에이전트에게 맡겨진다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정해진 결과 제출·검사 뒤 진행한다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28793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28793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대기: 토큰이 사용자 작업에 머문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대기는 멈춤이나 오류가 아니라, 토큰이 사용자 작업에 머물러 사람의 결정을 기다리는 정상적인 실행 상태이다.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"status": "RUNNING",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"current_activity_ids": ["T_approve"]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T_agent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T_approve   IN_PROGRESS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T_cmd       TODO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T_reobs     TODO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T_wo        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건의 상태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끝나지 않았으므로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열려 있는 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토큰이 있는 곳이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T_approve, 운전원 승인이다.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그림의 작업 하나가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건마다 단계 하나가 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COMPLETED는 성공을 뜻하지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거절로 닫힌 처리 건도 상태는 COMPLETED이므로, 업무의 결과는 닿은 끝 이벤트와 결과 보고의 내용으로 판단한다.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처리 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status: COMPLETED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end_event: E_end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 보고: 정상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명령: 1건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회복에 미달해도 end_event는 E_end이고 결과 보고가 미달이 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거절된 처리 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status: COMPLETED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end_event: E_rejected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 보고: 거절(기록의 값은 반려)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명령: 없음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명령, 재관측, 작업지시 등록은 CANCELLED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종결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오늘의 실습과 남길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이론 뒤 세 교시는 설비 대응 흐름을 그리고, 세 경로를 완성한 뒤, 등록된 실행 연결과 비교한다.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기본 승인 흐름에서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대응 흐름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레인에 배치한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대응 흐름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· 거절 · 지연 경로 완성하기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거절의 끝과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취소하지 않는 알림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BPMN과 등록된 실행 연결 비교하기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작업별 실행 기능 표시,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그림과 실행 정의 구분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