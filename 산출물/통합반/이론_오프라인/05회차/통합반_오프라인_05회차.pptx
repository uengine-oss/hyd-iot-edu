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셋(에이전트 · 도구 · 멈춤)</a:t>
            </a:r>
          </a:p>
          <a:p>
            <a:r>
              <a:t>· 네 회차 동안 만든 설비 모델 · 판단 규칙 · 문서 지식 → 오늘부터 그 지식을 읽고 일하는 쪽</a:t>
            </a:r>
          </a:p>
          <a:p>
            <a:r>
              <a:t>· 네 교시: 이론 50분 → 원인 · 점검 에이전트 → 품질 접수 에이전트 → 센서 시각화와 결과 검증</a:t>
            </a:r>
          </a:p>
          <a:p>
            <a:r>
              <a:t>· 이론은 온라인 5회차 교재의 장에서 오늘 실습에 쓰는 것만</a:t>
            </a:r>
          </a:p>
          <a:p>
            <a:r>
              <a:t>[다음] 학습목표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넷째 카드 강조</a:t>
            </a:r>
          </a:p>
          <a:p>
            <a:r>
              <a:t>· 1 역할과 활용: 같은 구조로 원인 점검 · 품질 접수 · 시각화 · 회의 후속 · 퀴즈를 할 수 있다 — 무엇이 달라지나</a:t>
            </a:r>
          </a:p>
          <a:p>
            <a:r>
              <a:t>· 2 실행 고리: 해석 → 계획 → 호출 → 관찰 → 종료, 쿨러 사건의 실제 기록으로</a:t>
            </a:r>
          </a:p>
          <a:p>
            <a:r>
              <a:t>· 3 지식과 현재값: 설비 지식은 그래프에, 지금 값은 원천에서 판단하는 순간에</a:t>
            </a:r>
          </a:p>
          <a:p>
            <a:r>
              <a:t>· 4 멈춤 조건: 끝까지 하는 것보다 멈추는 것이 맞는 때 → 2 · 3교시에 만드는 에이전트가 이 조건을 지키는지 4교시에 검토</a:t>
            </a:r>
          </a:p>
          <a:p>
            <a:r>
              <a:t>[다음] 목차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네 줄 위에서 아래로</a:t>
            </a:r>
          </a:p>
          <a:p>
            <a:r>
              <a:t>· 01 쿨러 사건에서 에이전트가 맡은 94초, 세 방식의 차이, 활용마다 달라지는 것</a:t>
            </a:r>
          </a:p>
          <a:p>
            <a:r>
              <a:t>· 02 그 94초를 기록으로: 관찰이 다음 행동을, 끝은 추천안 제출</a:t>
            </a:r>
          </a:p>
          <a:p>
            <a:r>
              <a:t>· 03 어디서 무엇을 읽나, 기준과 값을 섞지 않는 법</a:t>
            </a:r>
          </a:p>
          <a:p>
            <a:r>
              <a:t>· 04 근거 부족 · 호출 실패 · 권한 밖에서 멈추고 보류하는 형식</a:t>
            </a:r>
          </a:p>
          <a:p>
            <a:r>
              <a:t>[다음] 에이전트의 자리와 활용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경보에서 승인까지 108초 중 누가 무엇을 했나, 질문에 답하는 AI와 일을 맡는 AI는 무엇이 다른가</a:t>
            </a:r>
          </a:p>
          <a:p>
            <a:r>
              <a:t>· 끝에서 오늘 만들 세 에이전트(원인 점검 · 품질 접수 · 시각화)가 같은 구조에서 어떻게 갈리는지</a:t>
            </a:r>
          </a:p>
          <a:p>
            <a:r>
              <a:t>[다음] 경보에서 승인까지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그림 왼쪽 경보 → 가운데 강조한 에이전트(둘레 원호) → 추천안(겹친 카드) → 오른쪽 승인, 아래 시간 축 두 구간</a:t>
            </a:r>
          </a:p>
          <a:p>
            <a:r>
              <a:t>· 경보 11:13:08 → 승인 11:14:56, 2분이 채 안 됨(108초)</a:t>
            </a:r>
          </a:p>
          <a:p>
            <a:r>
              <a:t>· 진한 긴 구간 약 94초 = 에이전트 단계 전체. 원호 = 한 번에 끝내지 않고 여러 번 오가며 일했다는 표시</a:t>
            </a:r>
          </a:p>
          <a:p>
            <a:r>
              <a:t>· 결과 추천안 11:14:42 = 추천 하나 + 대안 셋(겹친 카드)</a:t>
            </a:r>
          </a:p>
          <a:p>
            <a:r>
              <a:t>· 옅은 짧은 구간 약 13초 = 추천안 뒤 운전원이 승인하기까지</a:t>
            </a:r>
          </a:p>
          <a:p>
            <a:r>
              <a:t>· 비율이 말하는 것: 원인을 찾고 후보를 견주는 긴 준비는 에이전트, 사람은 준비된 추천안을 보고 승인할지 정하는 데 모였다(마지막 결정은 사람)</a:t>
            </a:r>
          </a:p>
          <a:p>
            <a:r>
              <a:t>· 이 회차가 들여다볼 것 = 그 긴 준비 구간</a:t>
            </a:r>
          </a:p>
          <a:p>
            <a:r>
              <a:t>[다음] 연결한 기능이 다른 세 구성의 비교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줄: 모델만 → 문서 RAG 예 → 강조한 HYD 에이전트 예, 오른쪽 열은 마지막에</a:t>
            </a:r>
          </a:p>
          <a:p>
            <a:r>
              <a:t>· 같은 요청: HYD-01 쿨러 성능 저하 경보에 조치를 정하라</a:t>
            </a:r>
          </a:p>
          <a:p>
            <a:r>
              <a:t>· 생각할 시간(약 15초): 오른쪽을 보기 전에 각 방식이 무엇을 돌려줄지 근거의 출처로 예상</a:t>
            </a:r>
          </a:p>
          <a:p>
            <a:r>
              <a:t>· 모델만: 학습한 내용 → 유압 설비에 대한 일반 설명(「쿨러 성능이 떨어지면 이런 걸 점검한다」)</a:t>
            </a:r>
          </a:p>
          <a:p>
            <a:r>
              <a:t>· 문서 RAG: 찾아온 문서 조각 → 매뉴얼을 인용한 설명(이 공장 문서 반영). 문서만 제공했으니 지금 유온은 확인 못 함(현재 값을 조회해 주는 구성이면 달라짐)</a:t>
            </a:r>
          </a:p>
          <a:p>
            <a:r>
              <a:t>· 에이전트: 도구가 돌려준 결과 → 지금 값을 읽어 원인을 가리고 조치 후보 넷을 견주어 제출 → 이 설비의 값으로 만든 추천안</a:t>
            </a:r>
          </a:p>
          <a:p>
            <a:r>
              <a:t>· 위 두 줄도 원리 · 절차 이해엔 쓸모. 다만 지금 경보에 승인할지 정할 재료로는 모자람</a:t>
            </a:r>
          </a:p>
          <a:p>
            <a:r>
              <a:t>· 세 세대의 대체가 아니라 함께 쓰는 요소: 모델은 응답, RAG는 검색한 근거, 에이전트는 다음 행동 결정. 필요한 것은 답의 길이가 아니라 확인할 근거와 수행할 일로 정한다</a:t>
            </a:r>
          </a:p>
          <a:p>
            <a:r>
              <a:t>[다음] 에이전트의 세 요소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말풍선 모델 → 가운데 도구 → 강조한 실행 고리(원호와 스패너) → 등호 오른쪽 에이전트</a:t>
            </a:r>
          </a:p>
          <a:p>
            <a:r>
              <a:t>· 이 수업의 LLM 기반 에이전트 = 모델 + 도구 + 실행 고리. 모델은 앞의 LLM 그대로</a:t>
            </a:r>
          </a:p>
          <a:p>
            <a:r>
              <a:t>· 모델: 글을 읽고 다음 행동을 정한다</a:t>
            </a:r>
          </a:p>
          <a:p>
            <a:r>
              <a:t>· 도구: 지식 그래프 · 시계열 DB · 표를 실제로 조회 · 계산해 결과를 돌려준다</a:t>
            </a:r>
          </a:p>
          <a:p>
            <a:r>
              <a:t>· 실행 고리: 모델과 도구 사이를 도구 결과에 따라 다음 호출이나 종료를 정하도록 이어 주는 틀</a:t>
            </a:r>
          </a:p>
          <a:p>
            <a:r>
              <a:t>· 모델이 더 똑똑해진 게 아니라 모델 둘레에 도구와 고리가 붙은 것</a:t>
            </a:r>
          </a:p>
          <a:p>
            <a:r>
              <a:t>· 그래서 에이전트를 평가할 땐 모델만 보지 않는다: 어떤 도구를 쓸 수 있고 고리가 어떻게 도는지가 결과를 함께 정한다</a:t>
            </a:r>
          </a:p>
          <a:p>
            <a:r>
              <a:t>[다음] 에이전트를 정의하는 항목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강조한 냉각 긴급 대응 에이전트 → 오른쪽 예비품 구매 에이전트, 줄마다 목표 → 도구 → 업무 지침</a:t>
            </a:r>
          </a:p>
          <a:p>
            <a:r>
              <a:t>· 목표 = 무엇을 이뤄야 일이 끝나나. 왼쪽: 쿨러 경보의 원인 진단 → 냉각 추천안, 오른쪽: 재고 이탈 경보의 필요량 · 공급사(금액 · 납기 · 품질) 비교 → 발주 추천안</a:t>
            </a:r>
          </a:p>
          <a:p>
            <a:r>
              <a:t>· 화살표 끝이 둘 다 「마지막에 올릴 것」 → 무엇을 내야 하는지가 목표에 있어야 에이전트가 언제 끝났는지 안다</a:t>
            </a:r>
          </a:p>
          <a:p>
            <a:r>
              <a:t>· 도구: 왼쪽은 설비 지식 · 현재 상태 · 조치 평가, 오른쪽은 재고 · 공급사 조건 비교 조회. 같은 서버의 도구를 공유해도 필요한 기능은 다를 수 있다 — 화면은 쓰임 비교, 개별 호출 허용 여부는 등록된 권한 목록에서 따로</a:t>
            </a:r>
          </a:p>
          <a:p>
            <a:r>
              <a:t>· 업무 지침 = 어떤 순서로 일할지 적어 둔 것, 에이전트 스킬이라는 파일로 준다(모양은 다음 회차에)</a:t>
            </a:r>
          </a:p>
          <a:p>
            <a:r>
              <a:t>· 목표 · 도구 · 지침이 다르면 같은 모델도 전혀 다른 일을 하는 에이전트. 실습에서도 이 셋을 정한다</a:t>
            </a:r>
          </a:p>
          <a:p>
            <a:r>
              <a:t>[다음] 목적 · 입력 · 결과가 다른 에이전트 활용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여섯 줄: 강조한 원인 점검 → 품질 접수 → 센서 분석 · 시각화 → 회의 후속 업무 → 자기 자료 퀴즈 → 작성 · 검토 협업, 가운데 입력과 도구 → 오른쪽 결과와 확인할 것</a:t>
            </a:r>
          </a:p>
          <a:p>
            <a:r>
              <a:t>· 원인 점검: 설비 그래프 · 센서 값을 조회 함수로 → 원인 후보 · 점검 순서. 묵은 값 · 도구 오류는 확인 필요로 남긴다</a:t>
            </a:r>
          </a:p>
          <a:p>
            <a:r>
              <a:t>· 품질 접수: 입력이 사람이 쓴 접수 글 → 품질 대응 카드. 원인을 단정하거나 담당자를 지어내지 않았는지</a:t>
            </a:r>
          </a:p>
          <a:p>
            <a:r>
              <a:t>· 센서 분석: 시계열을 도표로 그리고 이상 구간 요약. 함께 변한 값을 원인으로 단정하지 않았는지</a:t>
            </a:r>
          </a:p>
          <a:p>
            <a:r>
              <a:t>· 회의 후속(결정 · 담당 · 기한 목록, 없는 담당 · 기한은 미정), 자기 자료 퀴즈(문항 · 채점 · 원문 근거, 근거가 모자라면 보류), 작성 · 검토 협업(초안 · 검토 의견 · 수정본, 최종 승인은 사람)</a:t>
            </a:r>
          </a:p>
          <a:p>
            <a:r>
              <a:t>· 모든 일에 에이전트가 필요한 건 아니다: 같은 표를 같은 방식으로 집계 · 도표는 정해진 코드(워크플로)로 충분. 표현이 제각각인 글 해석 · 분류나 결과를 보고 다음 조회를 골라야 할 때 쓸모</a:t>
            </a:r>
          </a:p>
          <a:p>
            <a:r>
              <a:t>· 할 수 있는 범위는 연결한 도구 · 자료, 허용한 권한, 결과를 확인할 기준이 정한다 → 오른쪽 칸이 줄마다 다른 까닭</a:t>
            </a:r>
          </a:p>
          <a:p>
            <a:r>
              <a:t>[다음] 실행 고리와 업무 산출물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에이전트는 다음에 무엇을 할지 무엇을 보고 정하나, 언제 끝났다고 아나</a:t>
            </a:r>
          </a:p>
          <a:p>
            <a:r>
              <a:t>· 2교시 원인 · 점검 에이전트가 이 고리를 그대로 만든다</a:t>
            </a:r>
          </a:p>
          <a:p>
            <a:r>
              <a:t>[다음] 실행 고리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다섯 원 왼쪽부터: 요청 해석 → 계획 → 강조한 도구 선택 · 호출 → 결과 관찰 → 종료, 위쪽 곡선 화살표(재시도와 다음 호출)</a:t>
            </a:r>
          </a:p>
          <a:p>
            <a:r>
              <a:t>· 실행 고리(Agent Loop) = 에이전트를 설명할 때 널리 쓰는 틀</a:t>
            </a:r>
          </a:p>
          <a:p>
            <a:r>
              <a:t>· 요청 해석: 무엇을 받았고 무엇을 내야 하나. 계획: 어떤 순서로. 호출: 어느 도구에 무엇을 물을지 정해 부른다. 관찰: 결과를 보고 목표에 이르렀나 판단</a:t>
            </a:r>
          </a:p>
          <a:p>
            <a:r>
              <a:t>· 목표에 이르면 종료(산출물 제출). 못 미쳤거나 호출이 뜻대로 안 됐으면 근거 · 권한이 있을 때 곡선 화살표로 계획에 돌아가 고쳐 다시. 필수 근거가 없거나 한도를 넘으면 목표를 못 이뤄도 이유를 남기고 멈춘다</a:t>
            </a:r>
          </a:p>
          <a:p>
            <a:r>
              <a:t>· 고리를 고리답게 만드는 건 관찰(돋보기): 없으면 결과가 비었든 틀렸든 처음 계획을 밀고 간다</a:t>
            </a:r>
          </a:p>
          <a:p>
            <a:r>
              <a:t>· 쿨러 사건(원 아래 작은 글씨): 해석 = 업무 · 입력 · 결과 형식 받기, 계획 = 지침의 다섯 단계, 호출 = 원인 진단 · 대안 평가, 관찰 = 원인 1순위 · 결과의 크기, 종료 = 판단 제출 · 결과 파일</a:t>
            </a:r>
          </a:p>
          <a:p>
            <a:r>
              <a:t>[다음] 실제 기록 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위쪽 원인 진단 결과 두 줄 → 아래쪽 대안 평가 물음, 원인 줄 값을 눈으로 따라 내려가기 → 오른쪽 넷째 설명</a:t>
            </a:r>
          </a:p>
          <a:p>
            <a:r>
              <a:t>· 진단 결과(긴 결과 중 두 줄): 원인 1순위 쿨러 핀 오염, 고장 유형 쿨러 냉각 성능 상실 — 지식 그래프 식별자, 앞머리로 원인 · 고장 유형이 나뉜다</a:t>
            </a:r>
          </a:p>
          <a:p>
            <a:r>
              <a:t>· 5초 뒤(11:13:23) 대안 평가 물음의 원인 칸 · 고장 유형 칸에 받은 값이 그대로 → 자기 말로 바꾸지 않고 받은 값을 넘겼다 = 관찰한 결과가 다음 호출의 입력</a:t>
            </a:r>
          </a:p>
          <a:p>
            <a:r>
              <a:t>· 두 호출을 잇는 건 모델의 기억이 아니라 앞 호출이 돌려준 값 → 대안 평가가 어떤 원인을 바탕으로 했는지가 기록에 그대로 남는다</a:t>
            </a:r>
          </a:p>
          <a:p>
            <a:r>
              <a:t>· 계획 셋째(업무 값 확인)가 기록에 없다? 이 실행은 업무 값 조회를 따로 부르지 않았다 — 대안 평가 도구가 납기 같은 업무 값을 평가 안에서 직접 읽었다. 단계가 빠진 게 아니라 다른 도구 안에서 채워졌다</a:t>
            </a:r>
          </a:p>
          <a:p>
            <a:r>
              <a:t>[다음] 실제 기록 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맨 윗줄 판단 제출과 받은 번호 → 제출 끝 · 결과 파일 작성 → 맨 아래 주석 두 줄(단계 끝 · 걸린 시간)</a:t>
            </a:r>
          </a:p>
          <a:p>
            <a:r>
              <a:t>· 에이전트 단계는 답 문장이 아니라 추천안 제출로 끝났다</a:t>
            </a:r>
          </a:p>
          <a:p>
            <a:r>
              <a:t>· 판단 제출(11:13:53, 494 ms): 추천안을 제출하는 도구 호출, 판단 번호(DEC-1010-002-408b)를 돌려받음. 시작 45초쯤</a:t>
            </a:r>
          </a:p>
          <a:p>
            <a:r>
              <a:t>· 판단 번호는 뒤에 만들어지는 작업지시에도 그대로 기록 → 정비 기록에서 번호 하나로 어느 경보, 어떤 근거의 판단인지 거슬러 간다</a:t>
            </a:r>
          </a:p>
          <a:p>
            <a:r>
              <a:t>· 그다음 제출이 끝났다고 적고 정해진 형식의 결과 파일을 작업 공간에 씀 → 11:14:42 단계 끝, 11:13:09부터 1분 34초(맨 아래 두 줄은 기록 원문이 아니라 구간 주석)</a:t>
            </a:r>
          </a:p>
          <a:p>
            <a:r>
              <a:t>· 제출 응답과 단계 끝 사이 간격을 전부 파일 작성에 썼다고는 이 기록만으로 말 못 한다. 확인할 것: 제출 접수와 최종 결과 저장은 서로 다른 완료 항목</a:t>
            </a:r>
          </a:p>
          <a:p>
            <a:r>
              <a:t>· 1분 반의 순서 정리: 지침 읽어 요청 해석 → 다섯 단계 계획 → 진단 · 평가 호출 → 큰 결과에 읽는 법 변경 설명 → 제출과 결과 저장으로 끝</a:t>
            </a:r>
          </a:p>
          <a:p>
            <a:r>
              <a:t>[다음] 쿨러 사건의 업무 산출물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줄: 원인 → 강조한 추천 → 뒤진 대안 셋 → 설명과 번호, 오른쪽 순위 · 점수</a:t>
            </a:r>
          </a:p>
          <a:p>
            <a:r>
              <a:t>· 원인: 쿨러 핀 오염, 고장 유형 쿨러 냉각 성능 상실(진단 결과)</a:t>
            </a:r>
          </a:p>
          <a:p>
            <a:r>
              <a:t>· 추천: 팬 최대 운전(SOP-COOL-11), 1순위 3.38</a:t>
            </a:r>
          </a:p>
          <a:p>
            <a:r>
              <a:t>· 뒤진 대안: 부하 70 % + 야간 핀 세척, 팬 최대 + 부하 80 % → 같은 점수 2.75로 공동 2순위. 쿨러 핀 세척 4순위 -1.58 — 조치 후보를 견줄 때 나온 결과 그대로</a:t>
            </a:r>
          </a:p>
          <a:p>
            <a:r>
              <a:t>· 원인을 없애는 조치가 왜 꼴찌? 핀 세척은 작업지시를 내서 사람이 하는 일이라 지금 오르는 유온을 당장 내리지 못해서</a:t>
            </a:r>
          </a:p>
          <a:p>
            <a:r>
              <a:t>· 설명과 번호: 추천이 앞서고 대안이 뒤지는 이유 + 판단 번호</a:t>
            </a:r>
          </a:p>
          <a:p>
            <a:r>
              <a:t>· 대안이 왜 뒤졌는지까지 함께 낸다 → 담당자는 추천 하나가 아니라 무엇과 견주어 왜 이 안인지 보고 결정</a:t>
            </a:r>
          </a:p>
          <a:p>
            <a:r>
              <a:t>[다음] 정보원과 지식 · 현재값의 구분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지난 네 회차에 만든 지식은 에이전트에게 무엇을 주고, 무엇은 주지 못하나</a:t>
            </a:r>
          </a:p>
          <a:p>
            <a:r>
              <a:t>· 4교시 센서 시각화에서 관측 시각과 조회 기간을 함께 표시하는 까닭</a:t>
            </a:r>
          </a:p>
          <a:p>
            <a:r>
              <a:t>[다음] 네 정보원이 답하는 물음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네 장: 온톨로지 → 시계열 DB → 업무 DB → 강조한 SOP, 카드마다 첫 줄 물음과 꼬리표(바뀌는 때)</a:t>
            </a:r>
          </a:p>
          <a:p>
            <a:r>
              <a:t>· 물음에 맞지 않는 곳을 읽으면 답이 없거나 낡은 답</a:t>
            </a:r>
          </a:p>
          <a:p>
            <a:r>
              <a:t>· 온톨로지: 무엇과 무엇이 어떤 관계인가(설비 · 증상 · 원인 · 조치). 시계열 DB: 그 시각의 값이 얼마였나(측정값을 시간 순서로)</a:t>
            </a:r>
          </a:p>
          <a:p>
            <a:r>
              <a:t>· 업무 DB: 정비 · 재고 · 납기는 어떤 상태인가. SOP: 조치를 어떻게 수행하나(단계 · 승인 역할 · 근거 절)</a:t>
            </a:r>
          </a:p>
          <a:p>
            <a:r>
              <a:t>· 엉뚱한 곳에 물으면: 유온 현재값을 온톨로지에서만 찾으면 값이 없고, 원인 후보를 시계열 DB에 물어도 답이 없다</a:t>
            </a:r>
          </a:p>
          <a:p>
            <a:r>
              <a:t>· 낡은 답: 계속 바뀌는 값을 잘 안 바뀌는 쪽(예: 재고 수량을 문서에)에 적어 두고 읽을 때 → 문서가 개정될 때까지 숫자가 그대로. 그래서 지식 쪽엔 값이 아니라 값을 읽을 자리를 적는다</a:t>
            </a:r>
          </a:p>
          <a:p>
            <a:r>
              <a:t>· 꼬리표: 온톨로지 · SOP는 검토 · 개정 때 갱신, 시계열 DB는 계속, 업무 DB는 업무 때마다 → 뒤의 지식 · 값 구분에 다시 쓴다</a:t>
            </a:r>
          </a:p>
          <a:p>
            <a:r>
              <a:t>[다음] 지식 그래프에서 읽는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아래 가운데 강조한 고장 유형 → 위 원인 셋에서 모이는 화살표와 사전 확률 → 오른쪽 아래 조치 방법, 선 옆 관계 이름</a:t>
            </a:r>
          </a:p>
          <a:p>
            <a:r>
              <a:t>· 온톨로지와 SOP는 같은 지식 그래프(포털의 그래프)</a:t>
            </a:r>
          </a:p>
          <a:p>
            <a:r>
              <a:t>· 원인 셋(핀 오염 · 팬 구동 불량 · 주변 온도 상승) → 냉각 성능 상실 「일으킨다」, 냉각 성능 상실 → 팬 최대 운전 「완화한다」</a:t>
            </a:r>
          </a:p>
          <a:p>
            <a:r>
              <a:t>· 진단 도구는 고장 유형에서 원인 관계를 거슬러 후보 셋을, 완화 관계를 따라 조치 방법을 얻었다</a:t>
            </a:r>
          </a:p>
          <a:p>
            <a:r>
              <a:t>· 쓸모: 경보는 어떤 고장이 의심되는지까지만 → 관계를 거슬러 가면 확인할 원인 목록이 바로 나와 에이전트가 짐작으로 늘어놓지 않는다. 매뉴얼에서 뽑아 사람이 검토 · 등록한 지식 → 모델이 설명한 후보도 이 도구 결과와 맞는지 확인</a:t>
            </a:r>
          </a:p>
          <a:p>
            <a:r>
              <a:t>· 사전 확률(핀 오염 0.6, 나머지 0.2) = 매뉴얼이 그 원인을 얼마나 흔하다고 보는지 옮긴 값</a:t>
            </a:r>
          </a:p>
          <a:p>
            <a:r>
              <a:t>· 흔하다 ≠ 이번 사건의 원인. 그래프는 후보와 흔한 정도까지 → 이번 원인을 가르려면 값을 읽어야 한다</a:t>
            </a:r>
          </a:p>
          <a:p>
            <a:r>
              <a:t>[다음] 지식과 현재값을 섞는 두 가지 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기준을 값처럼 → 오른쪽 강조한 묵은 값을 지금처럼, 따옴표 안이 틀린 문장</a:t>
            </a:r>
          </a:p>
          <a:p>
            <a:r>
              <a:t>· 왼쪽 「냉각 효율은 70 %이다」: 70은 매뉴얼의 판별 기준이지 잰 값이 아니다(잰 값은 46.2 %)</a:t>
            </a:r>
          </a:p>
          <a:p>
            <a:r>
              <a:t>· 이 혼동이 판단을 바꾸는 길: 70을 잰 값으로 알고 기준(70 미만)에 대면 70은 70 미만이 아니라 「효율 낮음」 증거가 안 맞음 → 핀 오염을 받치던 증거 하나가 엉뚱하게 사라진다</a:t>
            </a:r>
          </a:p>
          <a:p>
            <a:r>
              <a:t>· 오른쪽 「유온은 55.71 ℃이므로 한계까지 여유가 있다」: 경보 순간 읽은 값. 승인 순간 유온은 61.8 ℃ → 한 번 읽은 값을 한참 뒤에도 지금처럼 썼다. 여유가 꽤 줄어 있었는데 여유가 있다고 믿으면 덜 급한 조치로 흐른다</a:t>
            </a:r>
          </a:p>
          <a:p>
            <a:r>
              <a:t>· 두 문장 다 숫자가 있어 그럴듯하고 읽는 사람이 알아차리기 어렵다 → 사람이 잡길 기다리지 말고 에이전트가 처음부터 하지 않게 막는다</a:t>
            </a:r>
          </a:p>
          <a:p>
            <a:r>
              <a:t>[다음] 신선도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굵은 세로선(판단 시점) → 왼쪽 띠(허용 범위 60초) → 강조한 0.6초 전 관측값 → 왼쪽 멈춤 표지(60초보다 오래된 값)</a:t>
            </a:r>
          </a:p>
          <a:p>
            <a:r>
              <a:t>· 조회 성공 ≠ 지금 상태를 읽음: 센서가 멈췄다면 DB엔 오래전 값이 마지막 값으로 남아 있을 수 있다</a:t>
            </a:r>
          </a:p>
          <a:p>
            <a:r>
              <a:t>· 신선도 = 조회 버튼을 누른 때가 아니라 값이 관측 · 기록된 시각이 판단 시점에서 얼마나 오래됐나</a:t>
            </a:r>
          </a:p>
          <a:p>
            <a:r>
              <a:t>· HYD의 이 검사: 최신 유온의 관측 시각이 60초 안쪽인가. 60초는 이 시스템 설정이지 모든 설비의 공통 기준이 아니다 — 공정 변화 속도와 값의 쓰임에 맞춰 정한다</a:t>
            </a:r>
          </a:p>
          <a:p>
            <a:r>
              <a:t>· 쿨러 사건: 최신 유온이 1초도 안 된 값(0.6초) → 통과. 60초보다 오래된 값만 있었다면 판단 보류. 수집 상태 · 시각 이상도 함께 확인(최신 행을 찾았다는 것만으론 부족)</a:t>
            </a:r>
          </a:p>
          <a:p>
            <a:r>
              <a:t>· 통과한 값도 시간이 지나면 오래된다: 조사 · 평가가 길어지면 중요한 실행 전에 다시 확인. 다만 이 화면은 한 검사 시점의 결과 — 모든 제출 · 승인 순간에 자동 재검사됐다고 이 기록만으로 말 못 한다. 업무 설계 때 어느 단계에서 다시 확인할지도 정한다</a:t>
            </a:r>
          </a:p>
          <a:p>
            <a:r>
              <a:t>[다음] 멈추거나 물을 조건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값을 못 읽었는데도 추천안이 그럴듯하게 나왔다면 무엇이 문제인가</a:t>
            </a:r>
          </a:p>
          <a:p>
            <a:r>
              <a:t>· 2 · 3교시 에이전트가 미확인을 가설로, 빠진 정보를 조사 요청으로 남기는지 4교시에 검토</a:t>
            </a:r>
          </a:p>
          <a:p>
            <a:r>
              <a:t>[다음] 멈추지 않는 에이전트가 만드는 결과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빈칸을 채워 제출 → 오른쪽 강조한 멈추고 이유를 냄, 각 칸 끝 줄</a:t>
            </a:r>
          </a:p>
          <a:p>
            <a:r>
              <a:t>· 같은 상황: 냉각 효율을 읽지 못했다</a:t>
            </a:r>
          </a:p>
          <a:p>
            <a:r>
              <a:t>· 왼쪽: 사전 확률이 가장 큰 핀 오염을 원인으로 적어 냄(흔하다는 값만 믿고). 모양은 값을 읽었을 때와 똑같아 담당자는 확인된 원인으로 알고 승인 → 틀려도 드러나지 않는다</a:t>
            </a:r>
          </a:p>
          <a:p>
            <a:r>
              <a:t>· 원인이 다르면 맞는 조치도 다르다: 핀 오염이면 핀 세척, 팬이 덜 돌면 팬 점검 → 틀린 원인 위의 추천안은 엉뚱한 정비로</a:t>
            </a:r>
          </a:p>
          <a:p>
            <a:r>
              <a:t>· 오른쪽: 원인을 적지 않고 보류, 무엇을 확인 못 했는지 적어 냄 → 담당자가 값이 들어온 뒤 다시 평가시킨다. 모르는 게 모른다는 모습 그대로 드러난다</a:t>
            </a:r>
          </a:p>
          <a:p>
            <a:r>
              <a:t>· 멈춤은 일을 못 한 게 아니라 승인자가 없는 근거를 믿고 결정하지 않게 하는 일 → 언제 멈출지 미리 정해 둔다</a:t>
            </a:r>
          </a:p>
          <a:p>
            <a:r>
              <a:t>[다음] 멈춤 조건 세 가지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에이전트에서 세 갈래: 근거 부족(빈 저장소) → 도구 호출 실패(가위표 도구) → 권한 제한(자물쇠) → 모두 지나는 강조한 멈춤 표지 → 오른쪽 사람</a:t>
            </a:r>
          </a:p>
          <a:p>
            <a:r>
              <a:t>· 근거 부족: 값을 못 얻었거나, 얻은 값이 어느 원인의 기준에도 안 맞음(빈 값 · 불일치)</a:t>
            </a:r>
          </a:p>
          <a:p>
            <a:r>
              <a:t>· 도구 호출 실패: 다시 시도해도 도구가 오류를 돌려줌</a:t>
            </a:r>
          </a:p>
          <a:p>
            <a:r>
              <a:t>· 권한 제한: 일을 끝내려면 허용 목록 밖의 도구가 필요</a:t>
            </a:r>
          </a:p>
          <a:p>
            <a:r>
              <a:t>· 세 갈래 모두 멈춤 표지 → 지어내지 않고 멈춘다 → 사람에게: 다시 평가시키거나, 에이전트의 질문에 답하거나, 작업을 닫는다</a:t>
            </a:r>
          </a:p>
          <a:p>
            <a:r>
              <a:t>· 공통점: 근거를 갖고 끝까지 갈 수 없다 → 할 일은 그럴듯한 결과가 아니라 이유와 함께 사람에게 넘기기</a:t>
            </a:r>
          </a:p>
          <a:p>
            <a:r>
              <a:t>[다음] 근거의 세 가지 상태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세 장: SUPPORTED → 강조한 UNKNOWN → UNSUPPORTED, 카드 끝 줄</a:t>
            </a:r>
          </a:p>
          <a:p>
            <a:r>
              <a:t>· 근거 부족엔 서로 다른 두 경우가 있어 근거 상태를 셋으로 적는다</a:t>
            </a:r>
          </a:p>
          <a:p>
            <a:r>
              <a:t>· SUPPORTED(근거 지지): 필요한 값을 읽었고 등록 기준에 맞음. 냉각 효율 46.2 % &lt; 70 %는 그중 한 조건 — 핀 오염 판정은 팬 진동 등 필요한 증거와 함께. 지지 = 이 지식 모델 · 기준 안의 판정이지 현장의 모든 원인을 배제했다는 뜻은 아니다</a:t>
            </a:r>
          </a:p>
          <a:p>
            <a:r>
              <a:t>· UNKNOWN(확인 못 함): 조회 실패 · 값이 빔 → 맞다고도 틀리다고도 못 함. 결정표에서 값 없는 조건을 통과로 치지 않은 것과 같은 생각</a:t>
            </a:r>
          </a:p>
          <a:p>
            <a:r>
              <a:t>· UNSUPPORTED(맞는 근거 없음): 값은 읽었는데 조회한 근거가 모두 기준에 안 맞음 → 등록된 원인 중 맞는 게 없다</a:t>
            </a:r>
          </a:p>
          <a:p>
            <a:r>
              <a:t>· 둘을 나누는 까닭 = 사람이 이어서 할 일이 다르다: UNKNOWN은 값이 들어오면 재평가, UNSUPPORTED는 그래프에 없는 원인일 수 있어 사람이 직접 살핀다</a:t>
            </a:r>
          </a:p>
          <a:p>
            <a:r>
              <a:t>[다음] 보류의 형식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보류 객체의 세 칸(상태 · 이유 · 증거) → 아래 「함께 낼 수 없는 것」, 오른쪽 강조한 이유</a:t>
            </a:r>
          </a:p>
          <a:p>
            <a:r>
              <a:t>· 보류할 때 내는 형식이 정해져 있다: 에이전트 지시에 적힌 형식 그대로, 항목은 셋뿐</a:t>
            </a:r>
          </a:p>
          <a:p>
            <a:r>
              <a:t>· 상태: UNKNOWN(확인 못 함)과 UNSUPPORTED(맞는 근거 없음) 중 하나</a:t>
            </a:r>
          </a:p>
          <a:p>
            <a:r>
              <a:t>· 이유: 무엇을 확인 못 했는지 사람이 읽을 문장(예: 유온의 최신 값이 60초보다 오래되었다). 보류된 작업은 사람이 받으니 읽고 바로 할 일을 알 수 있게</a:t>
            </a:r>
          </a:p>
          <a:p>
            <a:r>
              <a:t>· 증거: 그때까지 조회해 얻은 실제 근거. 멈췄다고 버리지 않는다 → 재평가 때 무엇이 확인됐고 무엇이 비었는지 한눈에</a:t>
            </a:r>
          </a:p>
          <a:p>
            <a:r>
              <a:t>· 원인 · 고장 유형 · 판단 같은 결과 항목은 보류와 함께 낼 수 없다 — 섞어 내면 거절</a:t>
            </a:r>
          </a:p>
          <a:p>
            <a:r>
              <a:t>· 막지 않으면 일부만 채운 결과가 절반만 확인된 추천안으로 승인 화면에 오른다 → 보류는 결과를 하나도 채우지 않고 이유와 근거만</a:t>
            </a:r>
          </a:p>
          <a:p>
            <a:r>
              <a:t>[다음] 조회 실패 · 일치하는 기록 없음 · 수량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일치하는 기록 없음 → 오른쪽 강조한 실패, 제목 끝의 수량 0</a:t>
            </a:r>
          </a:p>
          <a:p>
            <a:r>
              <a:t>· 도구 오류와 「조회는 됐지만 찾은 행이 없음」을 같은 빈칸으로 처리하면 확인 못 한 일을 없는 일로 바꾼다</a:t>
            </a:r>
          </a:p>
          <a:p>
            <a:r>
              <a:t>· 예비품 재고 조회 예. 일치하는 기록 없음(0행): 조회 성공, 그 조회 범위 안에 조건에 맞는 기록이 없다는 사실뿐. 실제 재고 0으로 단정 못 한다(창고 · 품목 조건을 잘못 넣었거나 아직 등록 안 됐을 수도)</a:t>
            </a:r>
          </a:p>
          <a:p>
            <a:r>
              <a:t>· 수량 0: 재고 행을 찾았고 그 수량이 0 → 기록상 수량 0이라는 답. 어느 창고 · 어느 시점 기록인지 맞아야 답으로 쓴다</a:t>
            </a:r>
          </a:p>
          <a:p>
            <a:r>
              <a:t>· 실패: 수량도, 기록 유무도 확인 못 함 = 「모른다」. 0으로 바꾸면 읽지 못한 재고를 없다고 믿고 새로 발주할 수도</a:t>
            </a:r>
          </a:p>
          <a:p>
            <a:r>
              <a:t>· 작업 규칙: 실패를 0이나 빈 값으로 바꿔 성공처럼 제출하지 않는다 → 셋을 그대로 남기고, 필수 값을 끝내 확인 못 하면 보류</a:t>
            </a:r>
          </a:p>
          <a:p>
            <a:r>
              <a:t>[다음] 권한 제한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네 칸: 허용 목록 → 목록 밖의 호출 → 강조한 사람에게 묻는다 → 바뀌지 않는 것</a:t>
            </a:r>
          </a:p>
          <a:p>
            <a:r>
              <a:t>· HYD는 에이전트의 도구 호출을 허용 목록으로 제한(에이전트마다 부를 수 있는 도구가 정해져 있다)</a:t>
            </a:r>
          </a:p>
          <a:p>
            <a:r>
              <a:t>· 목록 밖의 도구를 부르려 하면 실행되지 않고 권한 요청 → 질문이 되어 사람에게 올라간다. 꼭 필요하다고 판단했어도 마찬가지</a:t>
            </a:r>
          </a:p>
          <a:p>
            <a:r>
              <a:t>· 지시의 한 문장 「답변은 실행 권한을 바꾸지 않습니다」: 사람이 답해도 권한이 넓어지지 않는다</a:t>
            </a:r>
          </a:p>
          <a:p>
            <a:r>
              <a:t>· 까닭: 무엇을 부를 수 있는지는 에이전트를 정의할 때 업무에 필요한 기능 · 권한을 미리 검토해 등록한 것. 실행 중 질문과 답으로 바뀌면 목록이 의미 없어진다 → 권한을 넓히는 건 에이전트 정의를 고치는 일</a:t>
            </a:r>
          </a:p>
          <a:p>
            <a:r>
              <a:t>· 해서는 안 되는 일: 허용된 도구를 엮어 막힌 일을 돌아가기. 사람에게 묻는 질문을 도구 거절이나 승인을 피해 가는 데 쓰지 말라고 지시에 적혀 있다</a:t>
            </a:r>
          </a:p>
          <a:p>
            <a:r>
              <a:t>· 단원 답: 근거 부족 · 호출 실패 · 권한 밖, 어느 경우든 결과를 채우지 않고 멈춰 이유와 근거를 붙여 사람에게</a:t>
            </a:r>
          </a:p>
          <a:p>
            <a:r>
              <a:t>[다음] 기준이 지지한 원인과 가설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함께 변한 값으로 단정 → 오른쪽 강조한 증거 기준에 대어 봄, 각 칸 끝 줄</a:t>
            </a:r>
          </a:p>
          <a:p>
            <a:r>
              <a:t>· 두 값이 함께 변했다는 것만으로 원인을 정하지 않는다</a:t>
            </a:r>
          </a:p>
          <a:p>
            <a:r>
              <a:t>· 왼쪽: 유온이 오르는 동안 냉각 효율이 떨어졌다 → 「쿨러가 원인」. 그런데 팬 구동 불량 · 주변 온도 상승에서도 유온 상승은 나타난다(같은 경보에 원인 후보가 셋이었던 까닭)</a:t>
            </a:r>
          </a:p>
          <a:p>
            <a:r>
              <a:t>· 오른쪽: 등록된 증거 기준과 비교 — 냉각 효율 낮음, 팬 진동 0.575 mm/s &lt; 0.9(이 진동 기준에선 정상 범위), 캐비닛 온도 28 ℃ &lt; 35 ℃ → 이 지식 모델의 후보 중 쿨러 핀 오염이 지지된다. 팬 진동이 낮다고 팬의 모든 문제가 없음을 증명한 건 아니다</a:t>
            </a:r>
          </a:p>
          <a:p>
            <a:r>
              <a:t>· 「확인된 원인」도 이 판정 범위 안에서: 관측값을 기준과 비교해 가설을 좁힌 것이지 모든 현장 원인을 확인한 최종 조사와 같지 않다 → 중요한 조치는 현장 점검과 승인 절차로</a:t>
            </a:r>
          </a:p>
          <a:p>
            <a:r>
              <a:t>· 값을 못 읽어 지우지도 확인하지도 못한 후보는 가설로 표시</a:t>
            </a:r>
          </a:p>
          <a:p>
            <a:r>
              <a:t>· 정리: 등록 기준이 지지한 것과 가설을 나눠 적어야 사람이 확인하고 승인할 수 있다</a:t>
            </a:r>
          </a:p>
          <a:p>
            <a:r>
              <a:t>[다음] 오늘의 실습과 남길 결과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줄: 교시 → 실습 → 남길 결과, 강조한 4교시</a:t>
            </a:r>
          </a:p>
          <a:p>
            <a:r>
              <a:t>· 2교시: 포털 에이전트의 목표 · 도구 · 근거를 확인한 뒤, VS Code에서 설비 · 센서 · 고장 · SOP 관계와 센서 입력을 읽어 원인 후보 · 증거 · 다음 점검 순서를 내는 에이전트. 확인 안 된 원인은 가설로</a:t>
            </a:r>
          </a:p>
          <a:p>
            <a:r>
              <a:t>· 3교시: 같은 실행 구조로 품질 접수 메시지와 분류 기준 → 유형 · 추가 확인 · 담당 부서 · 대응 초안. 표현이 다른 접수, 정보가 빠진 접수에서 단정 대신 조사 요청을 남기나</a:t>
            </a:r>
          </a:p>
          <a:p>
            <a:r>
              <a:t>· 4교시: 센서 CSV의 시간 · 온도 · 압력 변화를 그려 이상 구간을 찾고 관련 태그 · 조회 기간과 함께, 세 결과에서 근거와 미확인이 갈리는지</a:t>
            </a:r>
          </a:p>
          <a:p>
            <a:r>
              <a:t>· 진행은 실습마다 핸즈온 가이드를 따른다. 다음 회차에 반복 작업의 지침을 스킬로 만들고 파일 · Git · 시간 도구를 조합한다</a:t>
            </a:r>
          </a:p>
          <a:p>
            <a:r>
              <a:t>[다음] 실습으로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통합반 오프라인 5회차 · 서로 다른 일을 하는 에이전트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에이전트의 근거 · 도구와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종료 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구축한 지식을 근거로 도구를 골라 쓰고, 근거가 모자라면 멈추는 에이전트의 원리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robot" descr="robot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plug-connected" descr="plug-connected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hand-stop" descr="hand-stop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활용마다 다른 에이전트의 입력 · 도구 · 결과를 견주고, 실행 고리와 정보원을 짚은 뒤, 멈추거나 물을 조건을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1343"/>
            <a:ext cx="2567863" cy="32400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572511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git-compare" descr="git-compar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72613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95471"/>
            <a:ext cx="2238679" cy="17129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역할과 활용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LLM · RAG · 에이전트를 가른다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활용마다 입력 · 결과를 견준다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18160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8160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371343"/>
            <a:ext cx="2567863" cy="32400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572511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repeat" descr="repea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726131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395471"/>
            <a:ext cx="2238679" cy="17129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고리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관찰이 다음 호출을 정한다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제출로 끝나는 산출물을 읽는다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18160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18160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371343"/>
            <a:ext cx="2567863" cy="32400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572511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database" descr="databas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726131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395471"/>
            <a:ext cx="2238679" cy="17129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지식과 현재값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물음에 맞는 정보원을 고른다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기준과 지금 값을 섞지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18160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18160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371343"/>
            <a:ext cx="2567863" cy="32400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572511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hand-stop" descr="hand-stop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726131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395471"/>
            <a:ext cx="2238679" cy="17129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멈춤 조건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멈출 세 경우를 가린다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가설은 가설로 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18160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18160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멈춤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23317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에이전트의 자리와 활용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25511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5511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540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6323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06323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고리와 업무 산출물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32826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32826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8561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7947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정보원과 지식 · 현재값의 구분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40142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40142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52628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멈추거나 물을 조건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745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7457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에이전트의 자리와 활용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사건에서 에이전트가 맡은 구간과, 목적마다 달라지는 활용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경보에서 승인까지: 에이전트가 맡은 구간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경보에서 승인까지 108초 가운데 약 94초는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에이전트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 원인을 가리고 조치 후보를 견준 시간이었다.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pic>
        <p:nvPicPr>
          <p:cNvPr id="6" name="삽화:경보에서승인까지.svg" descr="illust_296614431074477941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0195" y="1722180"/>
            <a:ext cx="196370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11:13:08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성능 저하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17555" y="1674906"/>
            <a:ext cx="305465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긴급 대응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4951" y="1722180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 11:14:42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 하나와 대안 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9592" y="1722180"/>
            <a:ext cx="196370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11:14:56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8473" y="5409590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약 94초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 단계 전체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0461" y="5409590"/>
            <a:ext cx="174551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약 13초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대기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연결한 기능이 다른 세 구성의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모델 · RAG · 에이전트는 함께 구성할 수 있으며, 제공한 근거와 연결한 도구에 따라 결과가 달라진다.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답의 근거와 하는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돌아오는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모델만 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근거: 모델이 학습한 내용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이어질 글을 만든다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유압 설비에 대한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일반적인 설명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 RAG 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근거: 찾아온 문서 조각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조각을 읽고 글로 답한다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문서를 인용한 설명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 에이전트 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근거: 도구가 돌려준 결과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값을 읽어 원인을 가리고 조치 후보 넷을 견주어 제출한다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이 설비의 값으로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만든 추천안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에이전트의 세 요소: 모델 · 도구 · 실행 고리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 수업의 LLM 기반 에이전트는 모델에 도구와 실행 고리를 연결해, 결과에 따라 다음 행동을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pic>
        <p:nvPicPr>
          <p:cNvPr id="6" name="삽화:세요소.svg" descr="illust_528013563658796988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0203" y="4653198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8491" y="4653198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9503" y="4653198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실행 고리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Agent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9610" y="4653198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에이전트를 정의하는 항목: 목표 · 도구 · 업무 지침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목표 · 사용하는 도구 · 지침에 따라 맡는 일이 달라지며, 실행 권한은 별도로 제한한다.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62873"/>
            <a:ext cx="5181447" cy="3656965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64041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긴급 대응 에이전트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14433"/>
            <a:ext cx="4632807" cy="20567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목표: 쿨러 경보의 원인 진단 → 냉각 추천안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도구: 지식 그래프 조회 · 업무 DB 조회 · 판단 도구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업무 지침: cooling-emergency-response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62638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62638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사건을 맡음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162873"/>
            <a:ext cx="5181447" cy="3656965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364041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예비품 구매 에이전트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214433"/>
            <a:ext cx="4632807" cy="20567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목표: 재고 이탈 경보의 필요량 · 공급사 비교 → 발주 추천안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도구: 지식 그래프 조회 · 판단 도구 · 구매 업무 조회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업무 지침: spare-purchase-planning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362638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362638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다른 경보를 맡음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목적 · 입력 · 결과가 다른 에이전트 활용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실행 구조라도 맡긴 목적과 연결한 자료 · 도구에 따라 결과와 확인할 기준이 달라진다.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활용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입력과 도구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결과와 확인할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점검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그래프 · 센서 값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조회 함수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원인 후보 · 점검 순서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묵은 값 · 도구 오류는 확인 필요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품질 접수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불량 접수 글 · 분류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품질 대응 카드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단정 · 담당자 지어내기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센서 분석 · 시각화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 시계열 · 도표 생성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도표와 이상 구간 요약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함께 변한 값을 원인으로 단정하지 않음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회의 후속 업무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회의록 · 작업 지침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결정 · 담당 · 기한의 작업 목록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없는 담당 · 기한은 미정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자기 자료 퀴즈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자기 학습노트 · 읽기 연결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문항 · 채점 · 원문 근거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근거가 모자라면 보류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작성 · 검토 협업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요청과 원자료 · 작성과 검토 역할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초안 · 검토 의견 · 수정본</a:t>
            </a:r>
          </a:p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최종 승인은 사람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고리와 업무 산출물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해석 · 계획 · 호출 · 관찰을 이어 가다 제출로 끝나는 고리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고리: 요청 해석에서 종료까지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해석 · 계획 · 호출 · 관찰을 이어 가되, 완료 조건 또는 근거 · 권한 · 시간의 멈춤 조건에서 종료한다.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pic>
        <p:nvPicPr>
          <p:cNvPr id="6" name="삽화:실행고리.svg" descr="illust_5462182364650228371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7479" y="4842296"/>
            <a:ext cx="1854614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요청 해석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업무 · 입력 ·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결과 형식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2102" y="4842296"/>
            <a:ext cx="1854614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계획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지침의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다섯 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1269" y="4842296"/>
            <a:ext cx="1963709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도구 선택 · 호출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진단 ·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대안 평가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0439" y="4842296"/>
            <a:ext cx="1854614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관찰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1순위 ·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결과의 크기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062" y="4842296"/>
            <a:ext cx="1854614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종료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제출 ·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결과 파일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1224" y="1911278"/>
            <a:ext cx="436379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재시도와 다음 호출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실제 기록 ②: 관찰한 결과가 다음 호출의 입력이 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진단이 돌려준 원인과 고장 유형의 식별자가 대안 평가의 물음에 그대로 들어가, 관찰이 다음 행동을 정했다.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11:13:18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진단이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돌려준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것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순위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cause:cooler-fin-fouling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fm:cooler-performance-loss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11:13:23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평가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(807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ms)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물음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{"asset": "HYD-01",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"cause": "cause:cooler-fin-fouling",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"pattern": "COOLER_DEGRADATION",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"failure_mode":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"fm:cooler-performance-loss"}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진단의 결과에서 원인 1순위와 고장 유형을 읽었다.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호출의 입력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읽은 두 식별자가 대안 평가의 물음에 들어갔다.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cause: 는 원인을, fm: 은 고장 유형을 가리킨다.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값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실행은 업무 값 조회를 따로 부르지 않았다. 대안 평가가 납기 같은 업무 값을 평가 안에서 읽었다.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실제 기록 ④: 종료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 단계는 답 문장이 아니라 추천안의 제출로 끝났고, 돌려받은 판단 번호가 뒤의 단계로 이어진다.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8291"/>
            <a:ext cx="6766560" cy="3326129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5451"/>
            <a:ext cx="6400800" cy="305181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11:13:53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제출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(494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ms)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받음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DEC-1010-002-408b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11:14:38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제출이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끝났습니다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파일을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스크립트로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작성합니다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11:14:42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에이전트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단계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끝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          11:13:09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34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32829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제출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추천안을 제출하는 도구 호출이다. 판단 번호가 돌아왔다.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43700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번호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뒤에 만들어진 작업지시에도 이 번호가 기록된다.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54571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단계 끝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정해진 형식의 결과를 남기고 1분 34초 만에 끝났다.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사건의 업무 산출물: 추천안에 담긴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사건에서 에이전트가 낸 산출물은 원인, 추천 하나, 뒤진 대안 셋과 그 이유를 한데 묶은 추천안이다.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순위 · 점수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고장 유형: 쿨러 냉각 성능 상실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진단 결과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 · SOP-COOL-11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1순위 · 3.38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뒤진 대안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부하 70 %와 야간 핀 세척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운전과 부하 80 %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세척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공동 2순위 · 2.75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공동 2순위 · 2.75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4순위 · -1.58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설명과 번호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추천이 앞서고 대안이 뒤지는 이유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 번호 DEC-1010-002-408b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정보원과 지식 · 현재값의 구분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네 정보원이 답하는 물음과, 기준 · 지난 값을 지금 값처럼 쓰지 않는 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네 정보원이 답하는 물음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네 정보원은 답하는 물음이 서로 달라, 물음에 맞지 않는 곳을 읽으면 답이 없거나 낡은 답을 얻는다.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77668"/>
            <a:ext cx="2567863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883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opology-star-3" descr="topology-star-3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3245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20179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무엇과 무엇이 어떤 관계인가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설비, 증상, 원인, 조치의 관계를 담는다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75275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75275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검토·개정 때 갱신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77668"/>
            <a:ext cx="2567863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7883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chart-line" descr="chart-lin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532456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20179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시계열 DB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그 시각의 값이 얼마였는가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센서의 측정값을 시간 순서로 쌓는다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375275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375275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계속 바뀐다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77668"/>
            <a:ext cx="2567863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7883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table" descr="tabl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532456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20179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DB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정비, 재고, 납기는 어떤 상태인가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업무 시스템의 기록을 담는다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375275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375275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때마다 바뀐다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77668"/>
            <a:ext cx="2567863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7883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list-check" descr="list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532456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20179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조치를 어떻게 수행하는가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단계, 승인 역할, 근거 절을 정해 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375275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375275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검토·개정 때 갱신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그래프에서 읽는 것: 원인 후보와 조치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온톨로지의 관계와 SOP는 같은 지식 그래프에 있어, 고장 유형에서 관계를 따라가면 원인 후보와 조치 방법에 닿는다.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Oval 5"/>
          <p:cNvSpPr/>
          <p:nvPr/>
        </p:nvSpPr>
        <p:spPr>
          <a:xfrm>
            <a:off x="922922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4537" y="1957730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  <a:p>
            <a:pPr algn="ct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· 사전 확률 0.6</a:t>
            </a:r>
          </a:p>
        </p:txBody>
      </p:sp>
      <p:sp>
        <p:nvSpPr>
          <p:cNvPr id="8" name="Oval 7"/>
          <p:cNvSpPr/>
          <p:nvPr/>
        </p:nvSpPr>
        <p:spPr>
          <a:xfrm>
            <a:off x="4291462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3077" y="1957730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구동 불량</a:t>
            </a:r>
          </a:p>
          <a:p>
            <a:pPr algn="ct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· 사전 확률 0.2</a:t>
            </a:r>
          </a:p>
        </p:txBody>
      </p:sp>
      <p:sp>
        <p:nvSpPr>
          <p:cNvPr id="10" name="Oval 9"/>
          <p:cNvSpPr/>
          <p:nvPr/>
        </p:nvSpPr>
        <p:spPr>
          <a:xfrm>
            <a:off x="7660001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81617" y="1957730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주변 온도 상승</a:t>
            </a:r>
          </a:p>
          <a:p>
            <a:pPr algn="ct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· 사전 확률 0.2</a:t>
            </a:r>
          </a:p>
        </p:txBody>
      </p:sp>
      <p:sp>
        <p:nvSpPr>
          <p:cNvPr id="12" name="Oval 11"/>
          <p:cNvSpPr/>
          <p:nvPr/>
        </p:nvSpPr>
        <p:spPr>
          <a:xfrm>
            <a:off x="4291462" y="4617720"/>
            <a:ext cx="1737360" cy="173736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3077" y="4947818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성능 상실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고장 유형</a:t>
            </a:r>
          </a:p>
        </p:txBody>
      </p:sp>
      <p:sp>
        <p:nvSpPr>
          <p:cNvPr id="14" name="Oval 13"/>
          <p:cNvSpPr/>
          <p:nvPr/>
        </p:nvSpPr>
        <p:spPr>
          <a:xfrm>
            <a:off x="9531412" y="4617720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53028" y="4947818"/>
            <a:ext cx="1494129" cy="107716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 방법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75453" y="3103333"/>
            <a:ext cx="1980322" cy="1757835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17" name="Rounded Rectangle 16"/>
          <p:cNvSpPr/>
          <p:nvPr/>
        </p:nvSpPr>
        <p:spPr>
          <a:xfrm>
            <a:off x="3007903" y="3616490"/>
            <a:ext cx="91542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07903" y="3616490"/>
            <a:ext cx="915421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60142" y="3410712"/>
            <a:ext cx="0" cy="1133856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0" name="Rounded Rectangle 19"/>
          <p:cNvSpPr/>
          <p:nvPr/>
        </p:nvSpPr>
        <p:spPr>
          <a:xfrm>
            <a:off x="5251582" y="3831335"/>
            <a:ext cx="91542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1582" y="3831335"/>
            <a:ext cx="915421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5864508" y="3103333"/>
            <a:ext cx="1980322" cy="1757835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3" name="Rounded Rectangle 22"/>
          <p:cNvSpPr/>
          <p:nvPr/>
        </p:nvSpPr>
        <p:spPr>
          <a:xfrm>
            <a:off x="6396959" y="3616490"/>
            <a:ext cx="91542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6959" y="3616490"/>
            <a:ext cx="915421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74542" y="5486400"/>
            <a:ext cx="3383718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6996757" y="5120640"/>
            <a:ext cx="153928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6757" y="5120640"/>
            <a:ext cx="153928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MITIGATED_BY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지식과 현재값을 섞는 두 가지 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기준을 지금의 값처럼 말하는 것과 읽어 둔 값을 계속 쓰는 것, 두 혼동 모두 그럴듯한 문장으로 나타난다.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8321"/>
            <a:ext cx="5181447" cy="284607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76948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book-2" descr="book-2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92310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76948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기준을 값처럼 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619881"/>
            <a:ext cx="4632807" cy="124587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「냉각 효율은 70 %이다」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70은 매뉴얼의 판별 기준이며 잰 값이 아니다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잰 값은 46.2 %였다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957191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57191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지식을 값으로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568321"/>
            <a:ext cx="5181447" cy="284607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76948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history" descr="history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923108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76948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묵은 값을 지금의 값처럼 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619881"/>
            <a:ext cx="4632807" cy="124587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「유온은 55.71 ℃이므로 한계까지 여유가 있다」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55.71은 경보 순간에 읽은 값이다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순간의 값은 61.8 ℃였다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4957191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4957191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지난 값을 지금으로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신선도: 관측된 값이 얼마나 오래됐는가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방금 조회했어도 오래된 관측값일 수 있으므로, HYD는 관측 시각과 수집 상태를 검사한다.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pic>
        <p:nvPicPr>
          <p:cNvPr id="6" name="삽화:신선도.svg" descr="illust_311691370201162502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1397" y="4889571"/>
            <a:ext cx="174551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지금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판단하는 시각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860" y="4889571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허용 범위 60초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6752" y="2525847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0.6초 전 관측값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최신 유온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4853" y="2525847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60초보다 오래된 값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보류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멈추거나 물을 조건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 부족 · 호출 실패 · 권한 밖에서 멈추고, 가설은 가설로 남긴다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멈추지 않는 에이전트가 만드는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값을 읽지 못한 채 빈칸을 그럴듯하게 채운 추천안은 겉모습이 같아, 승인하는 사람이 없는 근거를 믿고 결정하게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62873"/>
            <a:ext cx="5181447" cy="3656965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64041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alert-triangle" descr="alert-triangl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517660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6404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빈칸을 채워 제출한다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14433"/>
            <a:ext cx="4632807" cy="20567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냉각 효율을 읽지 못했다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사전 확률이 가장 큰 쿨러 핀 오염을 원인으로 적는다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추천안의 모양은 값을 읽었을 때와 같다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담당자는 확인된 원인으로 알고 승인한다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62638"/>
            <a:ext cx="19811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62638"/>
            <a:ext cx="1981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틀려도 드러나지 않는다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62873"/>
            <a:ext cx="5181447" cy="3656965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64041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player-stop" descr="player-stop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517660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6404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멈추고 이유를 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214433"/>
            <a:ext cx="4632807" cy="20567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냉각 효율을 읽지 못했다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원인을 적지 않고 보류한다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무엇을 확인하지 못했는지를 적어 낸다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담당자는 값이 들어온 뒤에 다시 평가시킨다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62638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62638"/>
            <a:ext cx="18288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모르는 것이 드러난다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멈춤 조건 세 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대표적인 멈춤 조건은 근거가 모자랄 때, 도구 호출이 끝내 실패할 때, 허용되지 않은 일이 필요할 때다.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pic>
        <p:nvPicPr>
          <p:cNvPr id="6" name="삽화:멈춤조건.svg" descr="illust_457820399975135422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50295" y="2714945"/>
            <a:ext cx="283646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부족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빈 값 · 불일치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59401" y="4109542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호출 실패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오류 응답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0295" y="5835060"/>
            <a:ext cx="283646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권한 제한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허용 목록 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408" y="2573121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멈춤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9587" y="4511375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재평가 · 답변 · 닫기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2022" y="4464100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근거의 세 가지 상태: SUPPORTED · UNKNOWN · UNSUPPORTED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등록된 후보와 증거 기준 안에서 지지되는 후보 · 미확인 · 지지 근거 없음을 구분한다.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54427"/>
            <a:ext cx="3515258" cy="367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5559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ircle-check" descr="circle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0921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78556"/>
            <a:ext cx="3186074" cy="2146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SUPPORTED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필요한 값을 읽었고 등록 기준에 맞았다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냉각 효율 46.2 % &lt; 70 %는 증거 중 하나다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9851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9851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지지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54427"/>
            <a:ext cx="3515258" cy="367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5559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zoom-question" descr="zoom-questio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509215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78556"/>
            <a:ext cx="3186074" cy="2146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UNKNOWN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조회에 실패했거나 값이 비었다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맞는지 틀린지를 말할 수 없다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398516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398516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확인하지 못함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54427"/>
            <a:ext cx="3515258" cy="367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5559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ban" descr="ba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509215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78556"/>
            <a:ext cx="3186074" cy="2146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UNSUPPORTED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값은 읽었으나 조회한 근거가 모두 기준에 맞지 않았다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등록된 원인 가운데 맞는 것이 없다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3985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3985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맞는 근거 없음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보류의 형식: 상태 · 이유 · 증거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보류할 때 에이전트는 결과 항목을 채우지 않고, 상태 · 이유 · 그때까지 모은 증거만 담은 객체 하나를 제출한다.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99310"/>
            <a:ext cx="6766560" cy="3784091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36470"/>
            <a:ext cx="6400800" cy="350977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보류할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내는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객체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하나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{"__deferred__": 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"status": "UNKNOWN",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"reason":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실제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"evidence": {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} }}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함께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없는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것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cause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failure_mode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decision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099310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status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UNKNOWN과 UNSUPPORTED 가운데 하나이다.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045332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reason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무엇을 확인하지 못했는지를 사람이 읽을 문장으로 적는다.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그때까지 조회해 얻은 실제 근거를 담는다.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37379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섞어 내기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 항목과 보류를 함께 내면 거절된다.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 실패 · 일치하는 기록 없음 · 수량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0행은 조회 조건에 맞는 기록이 없다는 뜻이며, 기록된 수량 0이나 조회 실패와 구분해야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222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ircle-check" descr="circle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7583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일치하는 기록 없음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조회는 성공했고 결과가 0행이다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조건에 맞는 기록을 찾지 못했다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실제 재고 0으로 단정하지 않는다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04460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04460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 범위 안의 결과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2222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alert-triangle" descr="alert-triangl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758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조회 자체가 되지 않았다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「모른다」는 뜻이다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작업 규칙: 「실패를 0이나 빈 값으로 바꿔 성공처럼 제출하지 않습니다.」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0446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0446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답이 없다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권한 제한: 허용 목록 밖의 도구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허용 목록에 없는 도구는 에이전트가 필요하다고 판단해도 실행되지 않으며, 돌아갈 길을 찾지 않고 사람에게 묻는다.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87854"/>
            <a:ext cx="2485567" cy="3207004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25663" y="257073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list-check" descr="list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283" y="272435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375406"/>
            <a:ext cx="2339263" cy="214629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허용 목록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Allowlist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에이전트마다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부를 수 있는 도구가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정해져 있다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8255" y="2387854"/>
            <a:ext cx="2485567" cy="3207004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5279" y="257073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ban" descr="ba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898" y="2724353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91407" y="3375406"/>
            <a:ext cx="2339263" cy="214629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목록 밖의 호출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실행되지 않고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권한 요청이 된다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7871" y="2387854"/>
            <a:ext cx="2485567" cy="3207004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64895" y="257073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message-question" descr="message-questio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514" y="2724353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1023" y="3375406"/>
            <a:ext cx="2339263" cy="214629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사람에게 묻는다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요청이 질문이 되어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사람에게 올라간다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57487" y="2387854"/>
            <a:ext cx="2485567" cy="3207004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34511" y="257073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lock" descr="lo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130" y="2724353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30639" y="3375406"/>
            <a:ext cx="2339263" cy="214629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바뀌지 않는 것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「답변은 실행 권한을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바꾸지 않습니다.」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기준이 지지한 원인과 가설: 판정의 범위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함께 변한 값만으로 단정하지 않고 등록 기준으로 후보를 좁히며, 미확인은 가설로 남긴다.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82241"/>
            <a:ext cx="5181447" cy="361823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8340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hart-dots" descr="chart-dot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53702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8340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함께 변한 값으로 단정한다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33801"/>
            <a:ext cx="4632807" cy="2018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유온이 오르는 동안 냉각 효율이 떨어졌다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「쿨러가 원인이다」라고 적는다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구동 불량이나 주변 온도 상승에서도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유온 상승이 나타날 수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43271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43271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82241"/>
            <a:ext cx="5181447" cy="361823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8340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zoom-check" descr="zoom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537028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8340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증거 기준에 대어 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233801"/>
            <a:ext cx="4632807" cy="2018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진동 0.575 mm/s는 기준 0.9 미만이므로 이 진동 기준에서는 정상 범위다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캐비닛 온도 28 ℃는 기준 35 ℃에 못 미친다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모델에서는 쿨러 핀 오염이 지지된다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확인하지 못한 후보는 가설로 표시한다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43271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43271"/>
            <a:ext cx="18288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확인과 가설을 가른다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오늘의 실습과 남길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이론 뒤 세 교시는 원인 · 점검 에이전트를 만들고, 그 구조를 품질 접수에 옮긴 뒤, 시각화와 결과를 검증한다.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남길 결과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원인과 점검 순서 에이전트 만들기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후보 · 증거 · 점검 순서,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가설 표시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3교시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품질 접수 후속 업무 에이전트 만들기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품질 대응 카드와 근거,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조사 요청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4교시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 시각화와 에이전트 결과 검증하기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이상 구간 도표,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근거와 미확인의 구분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